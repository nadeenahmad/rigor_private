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Lst>
  <p:sldSz cy="6858000" cx="12192000"/>
  <p:notesSz cx="6858000" cy="12192000"/>
  <p:embeddedFontLst>
    <p:embeddedFont>
      <p:font typeface="IBM Plex Sans"/>
      <p:regular r:id="rId28"/>
      <p:bold r:id="rId29"/>
      <p:italic r:id="rId30"/>
      <p:boldItalic r:id="rId31"/>
    </p:embeddedFont>
    <p:embeddedFont>
      <p:font typeface="IBM Plex Mono"/>
      <p:regular r:id="rId32"/>
      <p:bold r:id="rId33"/>
      <p:italic r:id="rId34"/>
      <p:boldItalic r:id="rId3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6" roundtripDataSignature="AMtx7miSAKVMm4+QvifYUYUK20LMzWgfy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font" Target="fonts/IBMPlexSans-regular.fntdata"/><Relationship Id="rId29" Type="http://schemas.openxmlformats.org/officeDocument/2006/relationships/font" Target="fonts/IBMPlexSans-bold.fntdata"/><Relationship Id="rId30" Type="http://schemas.openxmlformats.org/officeDocument/2006/relationships/font" Target="fonts/IBMPlexSans-italic.fntdata"/><Relationship Id="rId31" Type="http://schemas.openxmlformats.org/officeDocument/2006/relationships/font" Target="fonts/IBMPlexSans-boldItalic.fntdata"/><Relationship Id="rId32" Type="http://schemas.openxmlformats.org/officeDocument/2006/relationships/font" Target="fonts/IBMPlexMono-regular.fntdata"/><Relationship Id="rId33" Type="http://schemas.openxmlformats.org/officeDocument/2006/relationships/font" Target="fonts/IBMPlexMono-bold.fntdata"/><Relationship Id="rId34" Type="http://schemas.openxmlformats.org/officeDocument/2006/relationships/font" Target="fonts/IBMPlexMono-italic.fntdata"/><Relationship Id="rId35" Type="http://schemas.openxmlformats.org/officeDocument/2006/relationships/font" Target="fonts/IBMPlexMono-boldItalic.fntdata"/><Relationship Id="rId36"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1pPr>
            <a:lvl2pPr lvl="1"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2pPr>
            <a:lvl3pPr lvl="2"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3pPr>
            <a:lvl4pPr lvl="3"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4pPr>
            <a:lvl5pPr lvl="4"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5pPr>
            <a:lvl6pPr lvl="5"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6pPr>
            <a:lvl7pPr lvl="6"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7pPr>
            <a:lvl8pPr lvl="7"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8pPr>
            <a:lvl9pPr lvl="8"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1pPr>
            <a:lvl2pPr lvl="1"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2pPr>
            <a:lvl3pPr lvl="2"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3pPr>
            <a:lvl4pPr lvl="3"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4pPr>
            <a:lvl5pPr lvl="4"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5pPr>
            <a:lvl6pPr lvl="5"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6pPr>
            <a:lvl7pPr lvl="6"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7pPr>
            <a:lvl8pPr lvl="7"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8pPr>
            <a:lvl9pPr lvl="8"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1pPr>
            <a:lvl2pPr indent="-228600" lvl="1" marL="91440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2pPr>
            <a:lvl3pPr indent="-228600" lvl="2" marL="137160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3pPr>
            <a:lvl4pPr indent="-228600" lvl="3" marL="182880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4pPr>
            <a:lvl5pPr indent="-228600" lvl="4" marL="228600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5pPr>
            <a:lvl6pPr indent="-228600" lvl="5" marL="274320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6pPr>
            <a:lvl7pPr indent="-228600" lvl="6" marL="320040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7pPr>
            <a:lvl8pPr indent="-228600" lvl="7" marL="365760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8pPr>
            <a:lvl9pPr indent="-228600" lvl="8" marL="411480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1pPr>
            <a:lvl2pPr lvl="1"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2pPr>
            <a:lvl3pPr lvl="2"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3pPr>
            <a:lvl4pPr lvl="3"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4pPr>
            <a:lvl5pPr lvl="4"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5pPr>
            <a:lvl6pPr lvl="5"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6pPr>
            <a:lvl7pPr lvl="6"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7pPr>
            <a:lvl8pPr lvl="7"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8pPr>
            <a:lvl9pPr lvl="8"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IBM Plex Sans"/>
                <a:ea typeface="IBM Plex Sans"/>
                <a:cs typeface="IBM Plex Sans"/>
                <a:sym typeface="IBM Plex Sans"/>
              </a:rPr>
              <a:t>‹#›</a:t>
            </a:fld>
            <a:endParaRPr b="0" i="0" sz="1200" u="none" cap="none" strike="noStrike">
              <a:solidFill>
                <a:schemeClr val="dk1"/>
              </a:solidFill>
              <a:latin typeface="IBM Plex Sans"/>
              <a:ea typeface="IBM Plex Sans"/>
              <a:cs typeface="IBM Plex Sans"/>
              <a:sym typeface="IBM Plex Sans"/>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 name="Shape 16"/>
        <p:cNvGrpSpPr/>
        <p:nvPr/>
      </p:nvGrpSpPr>
      <p:grpSpPr>
        <a:xfrm>
          <a:off x="0" y="0"/>
          <a:ext cx="0" cy="0"/>
          <a:chOff x="0" y="0"/>
          <a:chExt cx="0" cy="0"/>
        </a:xfrm>
      </p:grpSpPr>
      <p:sp>
        <p:nvSpPr>
          <p:cNvPr id="17" name="Google Shape;17;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 name="Google Shape;18;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IBM Plex Sans"/>
                <a:ea typeface="IBM Plex Sans"/>
                <a:cs typeface="IBM Plex Sans"/>
                <a:sym typeface="IBM Plex Sans"/>
              </a:rPr>
              <a:t>[0:00–0:25]  SPOKEN SCRIPT (52 words)</a:t>
            </a:r>
            <a:endParaRPr/>
          </a:p>
          <a:p>
            <a:pPr indent="0" lvl="0" marL="0" rtl="0" algn="l">
              <a:spcBef>
                <a:spcPts val="0"/>
              </a:spcBef>
              <a:spcAft>
                <a:spcPts val="0"/>
              </a:spcAft>
              <a:buNone/>
            </a:pPr>
            <a:r>
              <a:rPr lang="en-US" sz="1200">
                <a:solidFill>
                  <a:schemeClr val="dk1"/>
                </a:solidFill>
                <a:latin typeface="IBM Plex Sans"/>
                <a:ea typeface="IBM Plex Sans"/>
                <a:cs typeface="IBM Plex Sans"/>
                <a:sym typeface="IBM Plex Sans"/>
              </a:rPr>
              <a:t>Good morning, I’m Nadeen Fathallah. Relational databases are excellent at representing how information is stored and linked. But a schema rarely tells us the full meaning of the data. RIGOR asks whether we can turn those structures into semantically useful OWL ontologies, without asking experts to model every table by hand.</a:t>
            </a:r>
            <a:endParaRPr/>
          </a:p>
          <a:p>
            <a:pPr indent="0" lvl="0" marL="0" rtl="0" algn="l">
              <a:spcBef>
                <a:spcPts val="0"/>
              </a:spcBef>
              <a:spcAft>
                <a:spcPts val="0"/>
              </a:spcAft>
              <a:buNone/>
            </a:pPr>
            <a:r>
              <a:t/>
            </a:r>
            <a:endParaRPr sz="1200">
              <a:solidFill>
                <a:schemeClr val="dk1"/>
              </a:solidFill>
              <a:latin typeface="IBM Plex Sans"/>
              <a:ea typeface="IBM Plex Sans"/>
              <a:cs typeface="IBM Plex Sans"/>
              <a:sym typeface="IBM Plex Sans"/>
            </a:endParaRPr>
          </a:p>
          <a:p>
            <a:pPr indent="0" lvl="0" marL="0" rtl="0" algn="l">
              <a:spcBef>
                <a:spcPts val="0"/>
              </a:spcBef>
              <a:spcAft>
                <a:spcPts val="0"/>
              </a:spcAft>
              <a:buNone/>
            </a:pPr>
            <a:r>
              <a:rPr lang="en-US" sz="1200">
                <a:solidFill>
                  <a:schemeClr val="dk1"/>
                </a:solidFill>
                <a:latin typeface="IBM Plex Sans"/>
                <a:ea typeface="IBM Plex Sans"/>
                <a:cs typeface="IBM Plex Sans"/>
                <a:sym typeface="IBM Plex Sans"/>
              </a:rPr>
              <a:t>PRESENTER / POINTER: State the thesis calmly. Do not read author affiliations.</a:t>
            </a:r>
            <a:endParaRPr/>
          </a:p>
          <a:p>
            <a:pPr indent="0" lvl="0" marL="0" rtl="0" algn="l">
              <a:spcBef>
                <a:spcPts val="0"/>
              </a:spcBef>
              <a:spcAft>
                <a:spcPts val="0"/>
              </a:spcAft>
              <a:buNone/>
            </a:pPr>
            <a:r>
              <a:rPr lang="en-US" sz="1200">
                <a:solidFill>
                  <a:schemeClr val="dk1"/>
                </a:solidFill>
                <a:latin typeface="IBM Plex Sans"/>
                <a:ea typeface="IBM Plex Sans"/>
                <a:cs typeface="IBM Plex Sans"/>
                <a:sym typeface="IBM Plex Sans"/>
              </a:rPr>
              <a:t>AUDIENCE TAKEAWAY: We need semantic meaning beyond SQL structure.</a:t>
            </a:r>
            <a:endParaRPr/>
          </a:p>
          <a:p>
            <a:pPr indent="0" lvl="0" marL="0" rtl="0" algn="l">
              <a:spcBef>
                <a:spcPts val="0"/>
              </a:spcBef>
              <a:spcAft>
                <a:spcPts val="0"/>
              </a:spcAft>
              <a:buNone/>
            </a:pPr>
            <a:r>
              <a:rPr lang="en-US" sz="1200">
                <a:solidFill>
                  <a:schemeClr val="dk1"/>
                </a:solidFill>
                <a:latin typeface="IBM Plex Sans"/>
                <a:ea typeface="IBM Plex Sans"/>
                <a:cs typeface="IBM Plex Sans"/>
                <a:sym typeface="IBM Plex Sans"/>
              </a:rPr>
              <a:t>SOURCE AND SCOPE: Paper §1; this is the paper’s high-level motivation.</a:t>
            </a:r>
            <a:endParaRPr/>
          </a:p>
          <a:p>
            <a:pPr indent="0" lvl="0" marL="0" rtl="0" algn="l">
              <a:spcBef>
                <a:spcPts val="0"/>
              </a:spcBef>
              <a:spcAft>
                <a:spcPts val="0"/>
              </a:spcAft>
              <a:buNone/>
            </a:pPr>
            <a:r>
              <a:rPr lang="en-US" sz="1200">
                <a:solidFill>
                  <a:schemeClr val="dk1"/>
                </a:solidFill>
                <a:latin typeface="IBM Plex Sans"/>
                <a:ea typeface="IBM Plex Sans"/>
                <a:cs typeface="IBM Plex Sans"/>
                <a:sym typeface="IBM Plex Sans"/>
              </a:rPr>
              <a:t>Timing targets include normal visual pauses; verify with a recorded rehearsal.</a:t>
            </a:r>
            <a:endParaRPr/>
          </a:p>
        </p:txBody>
      </p:sp>
      <p:sp>
        <p:nvSpPr>
          <p:cNvPr id="19" name="Google Shape;19;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 name="Shape 29"/>
        <p:cNvGrpSpPr/>
        <p:nvPr/>
      </p:nvGrpSpPr>
      <p:grpSpPr>
        <a:xfrm>
          <a:off x="0" y="0"/>
          <a:ext cx="0" cy="0"/>
          <a:chOff x="0" y="0"/>
          <a:chExt cx="0" cy="0"/>
        </a:xfrm>
      </p:grpSpPr>
      <p:sp>
        <p:nvSpPr>
          <p:cNvPr id="30" name="Google Shape;30;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txBody>
          <a:bodyPr/>
          <a:p/>
        </p:txBody>
      </p:sp>
      <p:sp>
        <p:nvSpPr>
          <p:cNvPr id="31" name="Google Shape;31;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[0:25–1:10]  SPOKEN SCRIPT (91 words)</a:t>
            </a:r>
          </a:p>
          <a:p>
            <a:r>
              <a:t>Imagine inheriting a clinical database. In this schema excerpt, admission.patient_id references PatientData.patient_id; the arrow connects those two columns directly. Both tables have additional fields omitted. But look at the attributes beneath it. What is BM_DEP? What does an ECOG score mean? The schema does not answer. And those are precisely the meanings an ontology-based query or integrated knowledge graph would need. This table is illustrative, assembled from examples in the paper, not a literal evaluation table. Our problem is not reading the SQL: it is recovering intended domain semantics while respecting the structure we can trust.</a:t>
            </a:r>
          </a:p>
          <a:p/>
          <a:p>
            <a:r>
              <a:t>PRESENTER / POINTER: Point to FK first, then BM_DEP and ecog_stage. Pause briefly for the audience to wonder.</a:t>
            </a:r>
          </a:p>
          <a:p>
            <a:r>
              <a:t>AUDIENCE TAKEAWAY: The schema knows storage and links, not full clinical semantics.</a:t>
            </a:r>
          </a:p>
          <a:p>
            <a:r>
              <a:t>SOURCE AND SCOPE: Illustrative table assembled from examples in paper §3.2 and §3.4—not actual trial output.</a:t>
            </a:r>
          </a:p>
          <a:p>
            <a:r>
              <a:t>Timing targets include normal visual pauses; verify with a recorded rehearsal.</a:t>
            </a:r>
          </a:p>
        </p:txBody>
      </p:sp>
      <p:sp>
        <p:nvSpPr>
          <p:cNvPr id="32" name="Google Shape;32;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 name="Google Shape;72;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IBM Plex Sans"/>
                <a:ea typeface="IBM Plex Sans"/>
                <a:cs typeface="IBM Plex Sans"/>
                <a:sym typeface="IBM Plex Sans"/>
              </a:rPr>
              <a:t>[1:10–2:05]  SPOKEN SCRIPT (87 words)</a:t>
            </a:r>
            <a:endParaRPr/>
          </a:p>
          <a:p>
            <a:pPr indent="0" lvl="0" marL="0" rtl="0" algn="l">
              <a:spcBef>
                <a:spcPts val="0"/>
              </a:spcBef>
              <a:spcAft>
                <a:spcPts val="0"/>
              </a:spcAft>
              <a:buNone/>
            </a:pPr>
            <a:r>
              <a:rPr lang="en-US" sz="1200">
                <a:solidFill>
                  <a:schemeClr val="dk1"/>
                </a:solidFill>
                <a:latin typeface="IBM Plex Sans"/>
                <a:ea typeface="IBM Plex Sans"/>
                <a:cs typeface="IBM Plex Sans"/>
                <a:sym typeface="IBM Plex Sans"/>
              </a:rPr>
              <a:t>Here is the target. Admission becomes a class linked to PatientData by an object property, rather than treating patient_id as just an integer. BM_DEP receives the label Bone Marrow Depression; ecog_stage gets an explanation of its clinical values; and provenance ties ontology elements back to their sources. The right-hand side is illustrative. Such a model supports concept-based access and makes information easier to interpret and reuse. Notice the tension: we want to add meaning, but cannot afford to lose the foreign key or columns along the way.</a:t>
            </a:r>
            <a:endParaRPr/>
          </a:p>
          <a:p>
            <a:pPr indent="0" lvl="0" marL="0" rtl="0" algn="l">
              <a:spcBef>
                <a:spcPts val="0"/>
              </a:spcBef>
              <a:spcAft>
                <a:spcPts val="0"/>
              </a:spcAft>
              <a:buNone/>
            </a:pPr>
            <a:r>
              <a:t/>
            </a:r>
            <a:endParaRPr sz="1200">
              <a:solidFill>
                <a:schemeClr val="dk1"/>
              </a:solidFill>
              <a:latin typeface="IBM Plex Sans"/>
              <a:ea typeface="IBM Plex Sans"/>
              <a:cs typeface="IBM Plex Sans"/>
              <a:sym typeface="IBM Plex Sans"/>
            </a:endParaRPr>
          </a:p>
          <a:p>
            <a:pPr indent="0" lvl="0" marL="0" rtl="0" algn="l">
              <a:spcBef>
                <a:spcPts val="0"/>
              </a:spcBef>
              <a:spcAft>
                <a:spcPts val="0"/>
              </a:spcAft>
              <a:buNone/>
            </a:pPr>
            <a:r>
              <a:rPr lang="en-US" sz="1200">
                <a:solidFill>
                  <a:schemeClr val="dk1"/>
                </a:solidFill>
                <a:latin typeface="IBM Plex Sans"/>
                <a:ea typeface="IBM Plex Sans"/>
                <a:cs typeface="IBM Plex Sans"/>
                <a:sym typeface="IBM Plex Sans"/>
              </a:rPr>
              <a:t>PRESENTER / POINTER: Trace input to class/relation, then labels, values, provenance; pause on the complete right panel.</a:t>
            </a:r>
            <a:endParaRPr/>
          </a:p>
          <a:p>
            <a:pPr indent="0" lvl="0" marL="0" rtl="0" algn="l">
              <a:spcBef>
                <a:spcPts val="0"/>
              </a:spcBef>
              <a:spcAft>
                <a:spcPts val="0"/>
              </a:spcAft>
              <a:buNone/>
            </a:pPr>
            <a:r>
              <a:rPr lang="en-US" sz="1200">
                <a:solidFill>
                  <a:schemeClr val="dk1"/>
                </a:solidFill>
                <a:latin typeface="IBM Plex Sans"/>
                <a:ea typeface="IBM Plex Sans"/>
                <a:cs typeface="IBM Plex Sans"/>
                <a:sym typeface="IBM Plex Sans"/>
              </a:rPr>
              <a:t>AUDIENCE TAKEAWAY: The goal is a linked, annotated, traceable ontology without losing structural fidelity.</a:t>
            </a:r>
            <a:endParaRPr/>
          </a:p>
          <a:p>
            <a:pPr indent="0" lvl="0" marL="0" rtl="0" algn="l">
              <a:spcBef>
                <a:spcPts val="0"/>
              </a:spcBef>
              <a:spcAft>
                <a:spcPts val="0"/>
              </a:spcAft>
              <a:buNone/>
            </a:pPr>
            <a:r>
              <a:rPr lang="en-US" sz="1200">
                <a:solidFill>
                  <a:schemeClr val="dk1"/>
                </a:solidFill>
                <a:latin typeface="IBM Plex Sans"/>
                <a:ea typeface="IBM Plex Sans"/>
                <a:cs typeface="IBM Plex Sans"/>
                <a:sym typeface="IBM Plex Sans"/>
              </a:rPr>
              <a:t>SOURCE AND SCOPE: Illustrative target based on paper §3; no claim that this is a captured run.</a:t>
            </a:r>
            <a:endParaRPr/>
          </a:p>
          <a:p>
            <a:pPr indent="0" lvl="0" marL="0" rtl="0" algn="l">
              <a:spcBef>
                <a:spcPts val="0"/>
              </a:spcBef>
              <a:spcAft>
                <a:spcPts val="0"/>
              </a:spcAft>
              <a:buNone/>
            </a:pPr>
            <a:r>
              <a:rPr lang="en-US" sz="1200">
                <a:solidFill>
                  <a:schemeClr val="dk1"/>
                </a:solidFill>
                <a:latin typeface="IBM Plex Sans"/>
                <a:ea typeface="IBM Plex Sans"/>
                <a:cs typeface="IBM Plex Sans"/>
                <a:sym typeface="IBM Plex Sans"/>
              </a:rPr>
              <a:t>Timing targets include normal visual pauses; verify with a recorded rehearsal.</a:t>
            </a:r>
            <a:endParaRPr/>
          </a:p>
        </p:txBody>
      </p:sp>
      <p:sp>
        <p:nvSpPr>
          <p:cNvPr id="73" name="Google Shape;73;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6" name="Google Shape;106;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IBM Plex Sans"/>
                <a:ea typeface="IBM Plex Sans"/>
                <a:cs typeface="IBM Plex Sans"/>
                <a:sym typeface="IBM Plex Sans"/>
              </a:rPr>
              <a:t>[2:05–2:50]  SPOKEN SCRIPT (78 words)</a:t>
            </a:r>
            <a:endParaRPr/>
          </a:p>
          <a:p>
            <a:pPr indent="0" lvl="0" marL="0" rtl="0" algn="l">
              <a:spcBef>
                <a:spcPts val="0"/>
              </a:spcBef>
              <a:spcAft>
                <a:spcPts val="0"/>
              </a:spcAft>
              <a:buNone/>
            </a:pPr>
            <a:r>
              <a:rPr lang="en-US" sz="1200">
                <a:solidFill>
                  <a:schemeClr val="dk1"/>
                </a:solidFill>
                <a:latin typeface="IBM Plex Sans"/>
                <a:ea typeface="IBM Plex Sans"/>
                <a:cs typeface="IBM Plex Sans"/>
                <a:sym typeface="IBM Plex Sans"/>
              </a:rPr>
              <a:t>Existing approaches each solve half of that challenge. A deterministic mapping respects explicit tables, columns, and foreign keys, but does not infer clinical meaning or useful hierarchies. An LLM can propose labels and relationships, but can omit fields or model a foreign key incorrectly. Neither alone gives us both fidelity and semantic enrichment across an interconnected schema. Our question is: can we use the database as a structural anchor, while adding grounded domain knowledge automatically? Here is how.</a:t>
            </a:r>
            <a:endParaRPr/>
          </a:p>
          <a:p>
            <a:pPr indent="0" lvl="0" marL="0" rtl="0" algn="l">
              <a:spcBef>
                <a:spcPts val="0"/>
              </a:spcBef>
              <a:spcAft>
                <a:spcPts val="0"/>
              </a:spcAft>
              <a:buNone/>
            </a:pPr>
            <a:r>
              <a:t/>
            </a:r>
            <a:endParaRPr sz="1200">
              <a:solidFill>
                <a:schemeClr val="dk1"/>
              </a:solidFill>
              <a:latin typeface="IBM Plex Sans"/>
              <a:ea typeface="IBM Plex Sans"/>
              <a:cs typeface="IBM Plex Sans"/>
              <a:sym typeface="IBM Plex Sans"/>
            </a:endParaRPr>
          </a:p>
          <a:p>
            <a:pPr indent="0" lvl="0" marL="0" rtl="0" algn="l">
              <a:spcBef>
                <a:spcPts val="0"/>
              </a:spcBef>
              <a:spcAft>
                <a:spcPts val="0"/>
              </a:spcAft>
              <a:buNone/>
            </a:pPr>
            <a:r>
              <a:rPr lang="en-US" sz="1200">
                <a:solidFill>
                  <a:schemeClr val="dk1"/>
                </a:solidFill>
                <a:latin typeface="IBM Plex Sans"/>
                <a:ea typeface="IBM Plex Sans"/>
                <a:cs typeface="IBM Plex Sans"/>
                <a:sym typeface="IBM Plex Sans"/>
              </a:rPr>
              <a:t>PRESENTER / POINTER: Contrast left and right in one pass; land on the research question.</a:t>
            </a:r>
            <a:endParaRPr/>
          </a:p>
          <a:p>
            <a:pPr indent="0" lvl="0" marL="0" rtl="0" algn="l">
              <a:spcBef>
                <a:spcPts val="0"/>
              </a:spcBef>
              <a:spcAft>
                <a:spcPts val="0"/>
              </a:spcAft>
              <a:buNone/>
            </a:pPr>
            <a:r>
              <a:rPr lang="en-US" sz="1200">
                <a:solidFill>
                  <a:schemeClr val="dk1"/>
                </a:solidFill>
                <a:latin typeface="IBM Plex Sans"/>
                <a:ea typeface="IBM Plex Sans"/>
                <a:cs typeface="IBM Plex Sans"/>
                <a:sym typeface="IBM Plex Sans"/>
              </a:rPr>
              <a:t>AUDIENCE TAKEAWAY: Rules and LLMs have complementary strengths and different weaknesses.</a:t>
            </a:r>
            <a:endParaRPr/>
          </a:p>
          <a:p>
            <a:pPr indent="0" lvl="0" marL="0" rtl="0" algn="l">
              <a:spcBef>
                <a:spcPts val="0"/>
              </a:spcBef>
              <a:spcAft>
                <a:spcPts val="0"/>
              </a:spcAft>
              <a:buNone/>
            </a:pPr>
            <a:r>
              <a:rPr lang="en-US" sz="1200">
                <a:solidFill>
                  <a:schemeClr val="dk1"/>
                </a:solidFill>
                <a:latin typeface="IBM Plex Sans"/>
                <a:ea typeface="IBM Plex Sans"/>
                <a:cs typeface="IBM Plex Sans"/>
                <a:sym typeface="IBM Plex Sans"/>
              </a:rPr>
              <a:t>SOURCE AND SCOPE: Paper §1–2 and §4.5; mapping approaches are not all equivalent.</a:t>
            </a:r>
            <a:endParaRPr/>
          </a:p>
          <a:p>
            <a:pPr indent="0" lvl="0" marL="0" rtl="0" algn="l">
              <a:spcBef>
                <a:spcPts val="0"/>
              </a:spcBef>
              <a:spcAft>
                <a:spcPts val="0"/>
              </a:spcAft>
              <a:buNone/>
            </a:pPr>
            <a:r>
              <a:rPr lang="en-US" sz="1200">
                <a:solidFill>
                  <a:schemeClr val="dk1"/>
                </a:solidFill>
                <a:latin typeface="IBM Plex Sans"/>
                <a:ea typeface="IBM Plex Sans"/>
                <a:cs typeface="IBM Plex Sans"/>
                <a:sym typeface="IBM Plex Sans"/>
              </a:rPr>
              <a:t>Timing targets include normal visual pauses; verify with a recorded rehearsal.</a:t>
            </a:r>
            <a:endParaRPr/>
          </a:p>
        </p:txBody>
      </p:sp>
      <p:sp>
        <p:nvSpPr>
          <p:cNvPr id="107" name="Google Shape;107;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8" name="Google Shape;128;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IBM Plex Sans"/>
                <a:ea typeface="IBM Plex Sans"/>
                <a:cs typeface="IBM Plex Sans"/>
                <a:sym typeface="IBM Plex Sans"/>
              </a:rPr>
              <a:t>[2:50–3:15]  SPOKEN SCRIPT (57 words)</a:t>
            </a:r>
            <a:endParaRPr/>
          </a:p>
          <a:p>
            <a:pPr indent="0" lvl="0" marL="0" rtl="0" algn="l">
              <a:spcBef>
                <a:spcPts val="0"/>
              </a:spcBef>
              <a:spcAft>
                <a:spcPts val="0"/>
              </a:spcAft>
              <a:buNone/>
            </a:pPr>
            <a:r>
              <a:rPr lang="en-US" sz="1200">
                <a:solidFill>
                  <a:schemeClr val="dk1"/>
                </a:solidFill>
                <a:latin typeface="IBM Plex Sans"/>
                <a:ea typeface="IBM Plex Sans"/>
                <a:cs typeface="IBM Plex Sans"/>
                <a:sym typeface="IBM Plex Sans"/>
              </a:rPr>
              <a:t>Let’s build the solution on this same admission table. We begin with a schema and want an ontology that preserves the relationship to PatientData, explains coded values, and remains traceable to the source. RIGOR does this table by table. We will construct the pipeline in six moves, starting with one question: which table should come first?</a:t>
            </a:r>
            <a:endParaRPr/>
          </a:p>
          <a:p>
            <a:pPr indent="0" lvl="0" marL="0" rtl="0" algn="l">
              <a:spcBef>
                <a:spcPts val="0"/>
              </a:spcBef>
              <a:spcAft>
                <a:spcPts val="0"/>
              </a:spcAft>
              <a:buNone/>
            </a:pPr>
            <a:r>
              <a:t/>
            </a:r>
            <a:endParaRPr sz="1200">
              <a:solidFill>
                <a:schemeClr val="dk1"/>
              </a:solidFill>
              <a:latin typeface="IBM Plex Sans"/>
              <a:ea typeface="IBM Plex Sans"/>
              <a:cs typeface="IBM Plex Sans"/>
              <a:sym typeface="IBM Plex Sans"/>
            </a:endParaRPr>
          </a:p>
          <a:p>
            <a:pPr indent="0" lvl="0" marL="0" rtl="0" algn="l">
              <a:spcBef>
                <a:spcPts val="0"/>
              </a:spcBef>
              <a:spcAft>
                <a:spcPts val="0"/>
              </a:spcAft>
              <a:buNone/>
            </a:pPr>
            <a:r>
              <a:rPr lang="en-US" sz="1200">
                <a:solidFill>
                  <a:schemeClr val="dk1"/>
                </a:solidFill>
                <a:latin typeface="IBM Plex Sans"/>
                <a:ea typeface="IBM Plex Sans"/>
                <a:cs typeface="IBM Plex Sans"/>
                <a:sym typeface="IBM Plex Sans"/>
              </a:rPr>
              <a:t>PRESENTER / POINTER: Indicate the input/output panels; invite the audience into the next six decisions.</a:t>
            </a:r>
            <a:endParaRPr/>
          </a:p>
          <a:p>
            <a:pPr indent="0" lvl="0" marL="0" rtl="0" algn="l">
              <a:spcBef>
                <a:spcPts val="0"/>
              </a:spcBef>
              <a:spcAft>
                <a:spcPts val="0"/>
              </a:spcAft>
              <a:buNone/>
            </a:pPr>
            <a:r>
              <a:rPr lang="en-US" sz="1200">
                <a:solidFill>
                  <a:schemeClr val="dk1"/>
                </a:solidFill>
                <a:latin typeface="IBM Plex Sans"/>
                <a:ea typeface="IBM Plex Sans"/>
                <a:cs typeface="IBM Plex Sans"/>
                <a:sym typeface="IBM Plex Sans"/>
              </a:rPr>
              <a:t>AUDIENCE TAKEAWAY: We will build RIGOR around the same example.</a:t>
            </a:r>
            <a:endParaRPr/>
          </a:p>
          <a:p>
            <a:pPr indent="0" lvl="0" marL="0" rtl="0" algn="l">
              <a:spcBef>
                <a:spcPts val="0"/>
              </a:spcBef>
              <a:spcAft>
                <a:spcPts val="0"/>
              </a:spcAft>
              <a:buNone/>
            </a:pPr>
            <a:r>
              <a:rPr lang="en-US" sz="1200">
                <a:solidFill>
                  <a:schemeClr val="dk1"/>
                </a:solidFill>
                <a:latin typeface="IBM Plex Sans"/>
                <a:ea typeface="IBM Plex Sans"/>
                <a:cs typeface="IBM Plex Sans"/>
                <a:sym typeface="IBM Plex Sans"/>
              </a:rPr>
              <a:t>SOURCE AND SCOPE: Paper §3.1 and Fig. 1; example illustrative.</a:t>
            </a:r>
            <a:endParaRPr/>
          </a:p>
          <a:p>
            <a:pPr indent="0" lvl="0" marL="0" rtl="0" algn="l">
              <a:spcBef>
                <a:spcPts val="0"/>
              </a:spcBef>
              <a:spcAft>
                <a:spcPts val="0"/>
              </a:spcAft>
              <a:buNone/>
            </a:pPr>
            <a:r>
              <a:rPr lang="en-US" sz="1200">
                <a:solidFill>
                  <a:schemeClr val="dk1"/>
                </a:solidFill>
                <a:latin typeface="IBM Plex Sans"/>
                <a:ea typeface="IBM Plex Sans"/>
                <a:cs typeface="IBM Plex Sans"/>
                <a:sym typeface="IBM Plex Sans"/>
              </a:rPr>
              <a:t>Timing targets include normal visual pauses; verify with a recorded rehearsal.</a:t>
            </a:r>
            <a:endParaRPr/>
          </a:p>
        </p:txBody>
      </p:sp>
      <p:sp>
        <p:nvSpPr>
          <p:cNvPr id="129" name="Google Shape;129;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7" name="Google Shape;167;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IBM Plex Sans"/>
                <a:ea typeface="IBM Plex Sans"/>
                <a:cs typeface="IBM Plex Sans"/>
                <a:sym typeface="IBM Plex Sans"/>
              </a:rPr>
              <a:t>[3:15–3:50]  SPOKEN SCRIPT (66 words)</a:t>
            </a:r>
            <a:endParaRPr/>
          </a:p>
          <a:p>
            <a:pPr indent="0" lvl="0" marL="0" rtl="0" algn="l">
              <a:spcBef>
                <a:spcPts val="0"/>
              </a:spcBef>
              <a:spcAft>
                <a:spcPts val="0"/>
              </a:spcAft>
              <a:buNone/>
            </a:pPr>
            <a:r>
              <a:rPr lang="en-US" sz="1200">
                <a:solidFill>
                  <a:schemeClr val="dk1"/>
                </a:solidFill>
                <a:latin typeface="IBM Plex Sans"/>
                <a:ea typeface="IBM Plex Sans"/>
                <a:cs typeface="IBM Plex Sans"/>
                <a:sym typeface="IBM Plex Sans"/>
              </a:rPr>
              <a:t>Admission references PatientData, so RIGOR processes PatientData first. Across a database, it uses a foreign-key-guided breadth-first order: a table is taken once the tables it depends on have been processed. By the time we reach Admission, PatientData is already in the core ontology. We can reuse that class, rather than generating an incompatible second version. The output of this step is an ordered sequence of tables.</a:t>
            </a:r>
            <a:endParaRPr/>
          </a:p>
          <a:p>
            <a:pPr indent="0" lvl="0" marL="0" rtl="0" algn="l">
              <a:spcBef>
                <a:spcPts val="0"/>
              </a:spcBef>
              <a:spcAft>
                <a:spcPts val="0"/>
              </a:spcAft>
              <a:buNone/>
            </a:pPr>
            <a:r>
              <a:t/>
            </a:r>
            <a:endParaRPr sz="1200">
              <a:solidFill>
                <a:schemeClr val="dk1"/>
              </a:solidFill>
              <a:latin typeface="IBM Plex Sans"/>
              <a:ea typeface="IBM Plex Sans"/>
              <a:cs typeface="IBM Plex Sans"/>
              <a:sym typeface="IBM Plex Sans"/>
            </a:endParaRPr>
          </a:p>
          <a:p>
            <a:pPr indent="0" lvl="0" marL="0" rtl="0" algn="l">
              <a:spcBef>
                <a:spcPts val="0"/>
              </a:spcBef>
              <a:spcAft>
                <a:spcPts val="0"/>
              </a:spcAft>
              <a:buNone/>
            </a:pPr>
            <a:r>
              <a:rPr lang="en-US" sz="1200">
                <a:solidFill>
                  <a:schemeClr val="dk1"/>
                </a:solidFill>
                <a:latin typeface="IBM Plex Sans"/>
                <a:ea typeface="IBM Plex Sans"/>
                <a:cs typeface="IBM Plex Sans"/>
                <a:sym typeface="IBM Plex Sans"/>
              </a:rPr>
              <a:t>PRESENTER / POINTER: Follow foreign-key arrows; show why PatientData precedes admission.</a:t>
            </a:r>
            <a:endParaRPr/>
          </a:p>
          <a:p>
            <a:pPr indent="0" lvl="0" marL="0" rtl="0" algn="l">
              <a:spcBef>
                <a:spcPts val="0"/>
              </a:spcBef>
              <a:spcAft>
                <a:spcPts val="0"/>
              </a:spcAft>
              <a:buNone/>
            </a:pPr>
            <a:r>
              <a:rPr lang="en-US" sz="1200">
                <a:solidFill>
                  <a:schemeClr val="dk1"/>
                </a:solidFill>
                <a:latin typeface="IBM Plex Sans"/>
                <a:ea typeface="IBM Plex Sans"/>
                <a:cs typeface="IBM Plex Sans"/>
                <a:sym typeface="IBM Plex Sans"/>
              </a:rPr>
              <a:t>AUDIENCE TAKEAWAY: Foreign-key traversal makes prior conceptual context available.</a:t>
            </a:r>
            <a:endParaRPr/>
          </a:p>
          <a:p>
            <a:pPr indent="0" lvl="0" marL="0" rtl="0" algn="l">
              <a:spcBef>
                <a:spcPts val="0"/>
              </a:spcBef>
              <a:spcAft>
                <a:spcPts val="0"/>
              </a:spcAft>
              <a:buNone/>
            </a:pPr>
            <a:r>
              <a:rPr lang="en-US" sz="1200">
                <a:solidFill>
                  <a:schemeClr val="dk1"/>
                </a:solidFill>
                <a:latin typeface="IBM Plex Sans"/>
                <a:ea typeface="IBM Plex Sans"/>
                <a:cs typeface="IBM Plex Sans"/>
                <a:sym typeface="IBM Plex Sans"/>
              </a:rPr>
              <a:t>SOURCE AND SCOPE: Paper §3.1–3.2; FK-guided breadth-first order.</a:t>
            </a:r>
            <a:endParaRPr/>
          </a:p>
          <a:p>
            <a:pPr indent="0" lvl="0" marL="0" rtl="0" algn="l">
              <a:spcBef>
                <a:spcPts val="0"/>
              </a:spcBef>
              <a:spcAft>
                <a:spcPts val="0"/>
              </a:spcAft>
              <a:buNone/>
            </a:pPr>
            <a:r>
              <a:rPr lang="en-US" sz="1200">
                <a:solidFill>
                  <a:schemeClr val="dk1"/>
                </a:solidFill>
                <a:latin typeface="IBM Plex Sans"/>
                <a:ea typeface="IBM Plex Sans"/>
                <a:cs typeface="IBM Plex Sans"/>
                <a:sym typeface="IBM Plex Sans"/>
              </a:rPr>
              <a:t>Timing targets include normal visual pauses; verify with a recorded rehearsal.</a:t>
            </a:r>
            <a:endParaRPr/>
          </a:p>
        </p:txBody>
      </p:sp>
      <p:sp>
        <p:nvSpPr>
          <p:cNvPr id="168" name="Google Shape;168;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txBody>
          <a:bodyPr/>
          <a:p/>
        </p:txBody>
      </p:sp>
      <p:sp>
        <p:nvSpPr>
          <p:cNvPr id="209" name="Google Shape;209;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[3:50–4:40]  SPOKEN SCRIPT</a:t>
            </a:r>
          </a:p>
          <a:p>
            <a:r>
              <a:t>Now we create a deterministic ontology fragment, before involving an LLM. Direct Mapping transforms the cleaned admission table: the table becomes an OWL class, its ordinary columns become data properties, and its foreign key is represented by an object property linked to PatientData. This guarantees that each column of the cleaned schema is represented in the initial draft. Notice the scope of that guarantee: it applies to the seed, not automatically to the final LLM-enriched ontology. That distinction is important when we later measure final column coverage.</a:t>
            </a:r>
          </a:p>
          <a:p/>
          <a:p>
            <a:r>
              <a:t>AUDIENCE TAKEAWAY</a:t>
            </a:r>
          </a:p>
          <a:p>
            <a:r>
              <a:t>The deterministic direct mapping DMᵣ anchors generation and guarantees coverage of the cleaned schema at the seed stage.</a:t>
            </a:r>
          </a:p>
          <a:p>
            <a:r>
              <a:t>SOURCE: RIGOR paper §3.2, Algorithm 1.</a:t>
            </a:r>
          </a:p>
        </p:txBody>
      </p:sp>
      <p:sp>
        <p:nvSpPr>
          <p:cNvPr id="210" name="Google Shape;210;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4" name="Google Shape;254;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IBM Plex Sans"/>
                <a:ea typeface="IBM Plex Sans"/>
                <a:cs typeface="IBM Plex Sans"/>
                <a:sym typeface="IBM Plex Sans"/>
              </a:rPr>
              <a:t>[4:40–5:25]  SPOKEN SCRIPT (81 words)</a:t>
            </a:r>
            <a:endParaRPr/>
          </a:p>
          <a:p>
            <a:pPr indent="0" lvl="0" marL="0" rtl="0" algn="l">
              <a:spcBef>
                <a:spcPts val="0"/>
              </a:spcBef>
              <a:spcAft>
                <a:spcPts val="0"/>
              </a:spcAft>
              <a:buNone/>
            </a:pPr>
            <a:r>
              <a:rPr lang="en-US" sz="1200">
                <a:solidFill>
                  <a:schemeClr val="dk1"/>
                </a:solidFill>
                <a:latin typeface="IBM Plex Sans"/>
                <a:ea typeface="IBM Plex Sans"/>
                <a:cs typeface="IBM Plex Sans"/>
                <a:sym typeface="IBM Plex Sans"/>
              </a:rPr>
              <a:t>How do we give that draft meaning? We retrieve from three places. Documentation explains BM_DEP and ECOG values. External domain ontologies supply candidates for established vocabulary links. And the growing core tells us which classes and identifiers have already been accepted, including PatientData. For each table, RIGOR embeds a query derived from its names and foreign-key targets, retrieving the top three matches per source. The third source is the distinctive one: results of earlier iterations become evidence for what comes next.</a:t>
            </a:r>
            <a:endParaRPr/>
          </a:p>
          <a:p>
            <a:pPr indent="0" lvl="0" marL="0" rtl="0" algn="l">
              <a:spcBef>
                <a:spcPts val="0"/>
              </a:spcBef>
              <a:spcAft>
                <a:spcPts val="0"/>
              </a:spcAft>
              <a:buNone/>
            </a:pPr>
            <a:r>
              <a:t/>
            </a:r>
            <a:endParaRPr sz="1200">
              <a:solidFill>
                <a:schemeClr val="dk1"/>
              </a:solidFill>
              <a:latin typeface="IBM Plex Sans"/>
              <a:ea typeface="IBM Plex Sans"/>
              <a:cs typeface="IBM Plex Sans"/>
              <a:sym typeface="IBM Plex Sans"/>
            </a:endParaRPr>
          </a:p>
          <a:p>
            <a:pPr indent="0" lvl="0" marL="0" rtl="0" algn="l">
              <a:spcBef>
                <a:spcPts val="0"/>
              </a:spcBef>
              <a:spcAft>
                <a:spcPts val="0"/>
              </a:spcAft>
              <a:buNone/>
            </a:pPr>
            <a:r>
              <a:rPr lang="en-US" sz="1200">
                <a:solidFill>
                  <a:schemeClr val="dk1"/>
                </a:solidFill>
                <a:latin typeface="IBM Plex Sans"/>
                <a:ea typeface="IBM Plex Sans"/>
                <a:cs typeface="IBM Plex Sans"/>
                <a:sym typeface="IBM Plex Sans"/>
              </a:rPr>
              <a:t>PRESENTER / POINTER: Walk the three sources slowly; emphasize the core ontology grows.</a:t>
            </a:r>
            <a:endParaRPr/>
          </a:p>
          <a:p>
            <a:pPr indent="0" lvl="0" marL="0" rtl="0" algn="l">
              <a:spcBef>
                <a:spcPts val="0"/>
              </a:spcBef>
              <a:spcAft>
                <a:spcPts val="0"/>
              </a:spcAft>
              <a:buNone/>
            </a:pPr>
            <a:r>
              <a:rPr lang="en-US" sz="1200">
                <a:solidFill>
                  <a:schemeClr val="dk1"/>
                </a:solidFill>
                <a:latin typeface="IBM Plex Sans"/>
                <a:ea typeface="IBM Plex Sans"/>
                <a:cs typeface="IBM Plex Sans"/>
                <a:sym typeface="IBM Plex Sans"/>
              </a:rPr>
              <a:t>AUDIENCE TAKEAWAY: Three retrieval sources provide domain meaning and reusable context.</a:t>
            </a:r>
            <a:endParaRPr/>
          </a:p>
          <a:p>
            <a:pPr indent="0" lvl="0" marL="0" rtl="0" algn="l">
              <a:spcBef>
                <a:spcPts val="0"/>
              </a:spcBef>
              <a:spcAft>
                <a:spcPts val="0"/>
              </a:spcAft>
              <a:buNone/>
            </a:pPr>
            <a:r>
              <a:rPr lang="en-US" sz="1200">
                <a:solidFill>
                  <a:schemeClr val="dk1"/>
                </a:solidFill>
                <a:latin typeface="IBM Plex Sans"/>
                <a:ea typeface="IBM Plex Sans"/>
                <a:cs typeface="IBM Plex Sans"/>
                <a:sym typeface="IBM Plex Sans"/>
              </a:rPr>
              <a:t>SOURCE AND SCOPE: Paper §3.3; all-MiniLM-L6-v2, FAISS, k=3 per source.</a:t>
            </a:r>
            <a:endParaRPr/>
          </a:p>
          <a:p>
            <a:pPr indent="0" lvl="0" marL="0" rtl="0" algn="l">
              <a:spcBef>
                <a:spcPts val="0"/>
              </a:spcBef>
              <a:spcAft>
                <a:spcPts val="0"/>
              </a:spcAft>
              <a:buNone/>
            </a:pPr>
            <a:r>
              <a:rPr lang="en-US" sz="1200">
                <a:solidFill>
                  <a:schemeClr val="dk1"/>
                </a:solidFill>
                <a:latin typeface="IBM Plex Sans"/>
                <a:ea typeface="IBM Plex Sans"/>
                <a:cs typeface="IBM Plex Sans"/>
                <a:sym typeface="IBM Plex Sans"/>
              </a:rPr>
              <a:t>Timing targets include normal visual pauses; verify with a recorded rehearsal.</a:t>
            </a:r>
            <a:endParaRPr/>
          </a:p>
        </p:txBody>
      </p:sp>
      <p:sp>
        <p:nvSpPr>
          <p:cNvPr id="255" name="Google Shape;255;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txBody>
          <a:bodyPr/>
          <a:p/>
        </p:txBody>
      </p:sp>
      <p:sp>
        <p:nvSpPr>
          <p:cNvPr id="297" name="Google Shape;297;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[5:25–6:15] SPOKEN SCRIPT</a:t>
            </a:r>
          </a:p>
          <a:p>
            <a:r>
              <a:t>The generator receives the direct mapping and retrieved context. The panel now uses the same format in every row: ontology term, generated statement, and the evidence informing it. The schema grounds the Admission-to-PatientData relation; documentation explains BM_DEP and the ECOG codes. For ECOG, the LLM records the code meanings in an rdfs:comment. Notice the separate provenance statement: prov:wasDerivedFrom traces the ontology element to its source database column, not to the document retrieved during generation. If a suitable external concept is found, RIGOR can additionally align to that vocabulary. This is an illustrative fragment, not a logged model output.</a:t>
            </a:r>
          </a:p>
          <a:p/>
          <a:p>
            <a:r>
              <a:t>AUDIENCE TAKEAWAY</a:t>
            </a:r>
          </a:p>
          <a:p>
            <a:r>
              <a:t>Each row is an ontology contribution; context-source labels are explanatory, while prov:wasDerivedFrom is formal database-schema provenance.</a:t>
            </a:r>
          </a:p>
          <a:p/>
          <a:p>
            <a:r>
              <a:t>SOURCE AND SCOPE</a:t>
            </a:r>
          </a:p>
          <a:p>
            <a:r>
              <a:t>Paper §3.3–3.4; illustrative example, no asserted external alignment.</a:t>
            </a:r>
          </a:p>
          <a:p/>
        </p:txBody>
      </p:sp>
      <p:sp>
        <p:nvSpPr>
          <p:cNvPr id="298" name="Google Shape;298;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txBody>
          <a:bodyPr/>
          <a:p/>
        </p:txBody>
      </p:sp>
      <p:sp>
        <p:nvSpPr>
          <p:cNvPr id="336" name="Google Shape;336;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[6:15–7:15]  SPOKEN SCRIPT</a:t>
            </a:r>
          </a:p>
          <a:p>
            <a:r>
              <a:t>Why do we need validation rather than trusting a plausible-looking answer? Consider two hypothetical errors. First, the model might reverse the meanings of ECOG zero and five. That comment could be perfectly valid OWL syntax, so a graph-level constraint check alone would not catch the clinical mistake. A Judge-LLM can compare it with retrieved documentation. Second, the model could treat patient_id as a data property, ignoring the foreign-key relationship. Deterministic graph checks can flag that structural error. RIGOR uses both kinds of checks, returning problems for correction with a limited retry budget before fallback. These examples illustrate the purpose of validation; they are not observed RIGOR outputs.</a:t>
            </a:r>
          </a:p>
          <a:p/>
          <a:p>
            <a:r>
              <a:t>AUDIENCE TAKEAWAY</a:t>
            </a:r>
          </a:p>
          <a:p>
            <a:r>
              <a:t>Semantic review and deterministic graph validation complement one another; neither guarantees all errors will be caught.</a:t>
            </a:r>
          </a:p>
          <a:p>
            <a:r>
              <a:t>SOURCE: paper §3.5, Judge-LLM prompt appendix; examples explicitly hypothetical.</a:t>
            </a:r>
          </a:p>
        </p:txBody>
      </p:sp>
      <p:sp>
        <p:nvSpPr>
          <p:cNvPr id="337" name="Google Shape;337;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8" name="Google Shape;378;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IBM Plex Sans"/>
                <a:ea typeface="IBM Plex Sans"/>
                <a:cs typeface="IBM Plex Sans"/>
                <a:sym typeface="IBM Plex Sans"/>
              </a:rPr>
              <a:t>[7:15–7:55]  SPOKEN SCRIPT (64 words)</a:t>
            </a:r>
            <a:endParaRPr/>
          </a:p>
          <a:p>
            <a:pPr indent="0" lvl="0" marL="0" rtl="0" algn="l">
              <a:spcBef>
                <a:spcPts val="0"/>
              </a:spcBef>
              <a:spcAft>
                <a:spcPts val="0"/>
              </a:spcAft>
              <a:buNone/>
            </a:pPr>
            <a:r>
              <a:rPr lang="en-US" sz="1200">
                <a:solidFill>
                  <a:schemeClr val="dk1"/>
                </a:solidFill>
                <a:latin typeface="IBM Plex Sans"/>
                <a:ea typeface="IBM Plex Sans"/>
                <a:cs typeface="IBM Plex Sans"/>
                <a:sym typeface="IBM Plex Sans"/>
              </a:rPr>
              <a:t>Now we merge the refined delta with the ontology built so far. PatientData was already there; Admission, its properties, annotations, and provenance now join it, reusing established identifiers. Merging is an axiom-set union. Then we move to the next table. The important moment is this: the expanded ontology becomes retrieval context for the next iteration. The model does not start from scratch every time.</a:t>
            </a:r>
            <a:endParaRPr/>
          </a:p>
          <a:p>
            <a:pPr indent="0" lvl="0" marL="0" rtl="0" algn="l">
              <a:spcBef>
                <a:spcPts val="0"/>
              </a:spcBef>
              <a:spcAft>
                <a:spcPts val="0"/>
              </a:spcAft>
              <a:buNone/>
            </a:pPr>
            <a:r>
              <a:t/>
            </a:r>
            <a:endParaRPr sz="1200">
              <a:solidFill>
                <a:schemeClr val="dk1"/>
              </a:solidFill>
              <a:latin typeface="IBM Plex Sans"/>
              <a:ea typeface="IBM Plex Sans"/>
              <a:cs typeface="IBM Plex Sans"/>
              <a:sym typeface="IBM Plex Sans"/>
            </a:endParaRPr>
          </a:p>
          <a:p>
            <a:pPr indent="0" lvl="0" marL="0" rtl="0" algn="l">
              <a:spcBef>
                <a:spcPts val="0"/>
              </a:spcBef>
              <a:spcAft>
                <a:spcPts val="0"/>
              </a:spcAft>
              <a:buNone/>
            </a:pPr>
            <a:r>
              <a:rPr lang="en-US" sz="1200">
                <a:solidFill>
                  <a:schemeClr val="dk1"/>
                </a:solidFill>
                <a:latin typeface="IBM Plex Sans"/>
                <a:ea typeface="IBM Plex Sans"/>
                <a:cs typeface="IBM Plex Sans"/>
                <a:sym typeface="IBM Plex Sans"/>
              </a:rPr>
              <a:t>PRESENTER / POINTER: Trace core + delta → expanded core → feedback to retrieval.</a:t>
            </a:r>
            <a:endParaRPr/>
          </a:p>
          <a:p>
            <a:pPr indent="0" lvl="0" marL="0" rtl="0" algn="l">
              <a:spcBef>
                <a:spcPts val="0"/>
              </a:spcBef>
              <a:spcAft>
                <a:spcPts val="0"/>
              </a:spcAft>
              <a:buNone/>
            </a:pPr>
            <a:r>
              <a:rPr lang="en-US" sz="1200">
                <a:solidFill>
                  <a:schemeClr val="dk1"/>
                </a:solidFill>
                <a:latin typeface="IBM Plex Sans"/>
                <a:ea typeface="IBM Plex Sans"/>
                <a:cs typeface="IBM Plex Sans"/>
                <a:sym typeface="IBM Plex Sans"/>
              </a:rPr>
              <a:t>AUDIENCE TAKEAWAY: The growing ontology is both the output and an input to the next step.</a:t>
            </a:r>
            <a:endParaRPr/>
          </a:p>
          <a:p>
            <a:pPr indent="0" lvl="0" marL="0" rtl="0" algn="l">
              <a:spcBef>
                <a:spcPts val="0"/>
              </a:spcBef>
              <a:spcAft>
                <a:spcPts val="0"/>
              </a:spcAft>
              <a:buNone/>
            </a:pPr>
            <a:r>
              <a:rPr lang="en-US" sz="1200">
                <a:solidFill>
                  <a:schemeClr val="dk1"/>
                </a:solidFill>
                <a:latin typeface="IBM Plex Sans"/>
                <a:ea typeface="IBM Plex Sans"/>
                <a:cs typeface="IBM Plex Sans"/>
                <a:sym typeface="IBM Plex Sans"/>
              </a:rPr>
              <a:t>SOURCE AND SCOPE: Paper §3.6; axiom union and IRI reuse.</a:t>
            </a:r>
            <a:endParaRPr/>
          </a:p>
          <a:p>
            <a:pPr indent="0" lvl="0" marL="0" rtl="0" algn="l">
              <a:spcBef>
                <a:spcPts val="0"/>
              </a:spcBef>
              <a:spcAft>
                <a:spcPts val="0"/>
              </a:spcAft>
              <a:buNone/>
            </a:pPr>
            <a:r>
              <a:rPr lang="en-US" sz="1200">
                <a:solidFill>
                  <a:schemeClr val="dk1"/>
                </a:solidFill>
                <a:latin typeface="IBM Plex Sans"/>
                <a:ea typeface="IBM Plex Sans"/>
                <a:cs typeface="IBM Plex Sans"/>
                <a:sym typeface="IBM Plex Sans"/>
              </a:rPr>
              <a:t>Timing targets include normal visual pauses; verify with a recorded rehearsal.</a:t>
            </a:r>
            <a:endParaRPr/>
          </a:p>
        </p:txBody>
      </p:sp>
      <p:sp>
        <p:nvSpPr>
          <p:cNvPr id="379" name="Google Shape;379;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1" name="Google Shape;421;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IBM Plex Sans"/>
                <a:ea typeface="IBM Plex Sans"/>
                <a:cs typeface="IBM Plex Sans"/>
                <a:sym typeface="IBM Plex Sans"/>
              </a:rPr>
              <a:t>[7:55–8:07]  SPOKEN SCRIPT (19 words)</a:t>
            </a:r>
            <a:endParaRPr/>
          </a:p>
          <a:p>
            <a:pPr indent="0" lvl="0" marL="0" rtl="0" algn="l">
              <a:spcBef>
                <a:spcPts val="0"/>
              </a:spcBef>
              <a:spcAft>
                <a:spcPts val="0"/>
              </a:spcAft>
              <a:buNone/>
            </a:pPr>
            <a:r>
              <a:rPr lang="en-US" sz="1200">
                <a:solidFill>
                  <a:schemeClr val="dk1"/>
                </a:solidFill>
                <a:latin typeface="IBM Plex Sans"/>
                <a:ea typeface="IBM Plex Sans"/>
                <a:cs typeface="IBM Plex Sans"/>
                <a:sym typeface="IBM Plex Sans"/>
              </a:rPr>
              <a:t>First, the database determines the order: process parent tables before dependent tables. In our example, PatientData comes before admission.</a:t>
            </a:r>
            <a:endParaRPr/>
          </a:p>
          <a:p>
            <a:pPr indent="0" lvl="0" marL="0" rtl="0" algn="l">
              <a:spcBef>
                <a:spcPts val="0"/>
              </a:spcBef>
              <a:spcAft>
                <a:spcPts val="0"/>
              </a:spcAft>
              <a:buNone/>
            </a:pPr>
            <a:r>
              <a:t/>
            </a:r>
            <a:endParaRPr sz="1200">
              <a:solidFill>
                <a:schemeClr val="dk1"/>
              </a:solidFill>
              <a:latin typeface="IBM Plex Sans"/>
              <a:ea typeface="IBM Plex Sans"/>
              <a:cs typeface="IBM Plex Sans"/>
              <a:sym typeface="IBM Plex Sans"/>
            </a:endParaRPr>
          </a:p>
          <a:p>
            <a:pPr indent="0" lvl="0" marL="0" rtl="0" algn="l">
              <a:spcBef>
                <a:spcPts val="0"/>
              </a:spcBef>
              <a:spcAft>
                <a:spcPts val="0"/>
              </a:spcAft>
              <a:buNone/>
            </a:pPr>
            <a:r>
              <a:rPr lang="en-US" sz="1200">
                <a:solidFill>
                  <a:schemeClr val="dk1"/>
                </a:solidFill>
                <a:latin typeface="IBM Plex Sans"/>
                <a:ea typeface="IBM Plex Sans"/>
                <a:cs typeface="IBM Plex Sans"/>
                <a:sym typeface="IBM Plex Sans"/>
              </a:rPr>
              <a:t>PRESENTER CUE</a:t>
            </a:r>
            <a:endParaRPr/>
          </a:p>
          <a:p>
            <a:pPr indent="0" lvl="0" marL="0" rtl="0" algn="l">
              <a:spcBef>
                <a:spcPts val="0"/>
              </a:spcBef>
              <a:spcAft>
                <a:spcPts val="0"/>
              </a:spcAft>
              <a:buNone/>
            </a:pPr>
            <a:r>
              <a:rPr lang="en-US" sz="1200">
                <a:solidFill>
                  <a:schemeClr val="dk1"/>
                </a:solidFill>
                <a:latin typeface="IBM Plex Sans"/>
                <a:ea typeface="IBM Plex Sans"/>
                <a:cs typeface="IBM Plex Sans"/>
                <a:sym typeface="IBM Plex Sans"/>
              </a:rPr>
              <a:t>This is a cumulative reveal of the paper’s Figure 1, faithfully preserving its components and edges. Refer to the earlier method slide shown in the footer. Do not re-explain the full step: reconnect it to the full architecture.</a:t>
            </a:r>
            <a:endParaRPr/>
          </a:p>
          <a:p>
            <a:pPr indent="0" lvl="0" marL="0" rtl="0" algn="l">
              <a:spcBef>
                <a:spcPts val="0"/>
              </a:spcBef>
              <a:spcAft>
                <a:spcPts val="0"/>
              </a:spcAft>
              <a:buNone/>
            </a:pPr>
            <a:r>
              <a:t/>
            </a:r>
            <a:endParaRPr sz="1200">
              <a:solidFill>
                <a:schemeClr val="dk1"/>
              </a:solidFill>
              <a:latin typeface="IBM Plex Sans"/>
              <a:ea typeface="IBM Plex Sans"/>
              <a:cs typeface="IBM Plex Sans"/>
              <a:sym typeface="IBM Plex Sans"/>
            </a:endParaRPr>
          </a:p>
          <a:p>
            <a:pPr indent="0" lvl="0" marL="0" rtl="0" algn="l">
              <a:spcBef>
                <a:spcPts val="0"/>
              </a:spcBef>
              <a:spcAft>
                <a:spcPts val="0"/>
              </a:spcAft>
              <a:buNone/>
            </a:pPr>
            <a:r>
              <a:rPr lang="en-US" sz="1200">
                <a:solidFill>
                  <a:schemeClr val="dk1"/>
                </a:solidFill>
                <a:latin typeface="IBM Plex Sans"/>
                <a:ea typeface="IBM Plex Sans"/>
                <a:cs typeface="IBM Plex Sans"/>
                <a:sym typeface="IBM Plex Sans"/>
              </a:rPr>
              <a:t>AUDIENCE TAKEAWAY</a:t>
            </a:r>
            <a:endParaRPr/>
          </a:p>
          <a:p>
            <a:pPr indent="0" lvl="0" marL="0" rtl="0" algn="l">
              <a:spcBef>
                <a:spcPts val="0"/>
              </a:spcBef>
              <a:spcAft>
                <a:spcPts val="0"/>
              </a:spcAft>
              <a:buNone/>
            </a:pPr>
            <a:r>
              <a:rPr lang="en-US" sz="1200">
                <a:solidFill>
                  <a:schemeClr val="dk1"/>
                </a:solidFill>
                <a:latin typeface="IBM Plex Sans"/>
                <a:ea typeface="IBM Plex Sans"/>
                <a:cs typeface="IBM Plex Sans"/>
                <a:sym typeface="IBM Plex Sans"/>
              </a:rPr>
              <a:t>Foreign-key order gives context from parents.</a:t>
            </a:r>
            <a:endParaRPr/>
          </a:p>
        </p:txBody>
      </p:sp>
      <p:sp>
        <p:nvSpPr>
          <p:cNvPr id="422" name="Google Shape;422;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8" name="Google Shape;458;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IBM Plex Sans"/>
                <a:ea typeface="IBM Plex Sans"/>
                <a:cs typeface="IBM Plex Sans"/>
                <a:sym typeface="IBM Plex Sans"/>
              </a:rPr>
              <a:t>[8:07–8:21]  SPOKEN SCRIPT (21 words)</a:t>
            </a:r>
            <a:endParaRPr/>
          </a:p>
          <a:p>
            <a:pPr indent="0" lvl="0" marL="0" rtl="0" algn="l">
              <a:spcBef>
                <a:spcPts val="0"/>
              </a:spcBef>
              <a:spcAft>
                <a:spcPts val="0"/>
              </a:spcAft>
              <a:buNone/>
            </a:pPr>
            <a:r>
              <a:rPr lang="en-US" sz="1200">
                <a:solidFill>
                  <a:schemeClr val="dk1"/>
                </a:solidFill>
                <a:latin typeface="IBM Plex Sans"/>
                <a:ea typeface="IBM Plex Sans"/>
                <a:cs typeface="IBM Plex Sans"/>
                <a:sym typeface="IBM Plex Sans"/>
              </a:rPr>
              <a:t>Next, each table receives a deterministic OWL seed. This is the structural anchor that the generative model must enrich, not invent.</a:t>
            </a:r>
            <a:endParaRPr/>
          </a:p>
          <a:p>
            <a:pPr indent="0" lvl="0" marL="0" rtl="0" algn="l">
              <a:spcBef>
                <a:spcPts val="0"/>
              </a:spcBef>
              <a:spcAft>
                <a:spcPts val="0"/>
              </a:spcAft>
              <a:buNone/>
            </a:pPr>
            <a:r>
              <a:t/>
            </a:r>
            <a:endParaRPr sz="1200">
              <a:solidFill>
                <a:schemeClr val="dk1"/>
              </a:solidFill>
              <a:latin typeface="IBM Plex Sans"/>
              <a:ea typeface="IBM Plex Sans"/>
              <a:cs typeface="IBM Plex Sans"/>
              <a:sym typeface="IBM Plex Sans"/>
            </a:endParaRPr>
          </a:p>
          <a:p>
            <a:pPr indent="0" lvl="0" marL="0" rtl="0" algn="l">
              <a:spcBef>
                <a:spcPts val="0"/>
              </a:spcBef>
              <a:spcAft>
                <a:spcPts val="0"/>
              </a:spcAft>
              <a:buNone/>
            </a:pPr>
            <a:r>
              <a:rPr lang="en-US" sz="1200">
                <a:solidFill>
                  <a:schemeClr val="dk1"/>
                </a:solidFill>
                <a:latin typeface="IBM Plex Sans"/>
                <a:ea typeface="IBM Plex Sans"/>
                <a:cs typeface="IBM Plex Sans"/>
                <a:sym typeface="IBM Plex Sans"/>
              </a:rPr>
              <a:t>PRESENTER CUE</a:t>
            </a:r>
            <a:endParaRPr/>
          </a:p>
          <a:p>
            <a:pPr indent="0" lvl="0" marL="0" rtl="0" algn="l">
              <a:spcBef>
                <a:spcPts val="0"/>
              </a:spcBef>
              <a:spcAft>
                <a:spcPts val="0"/>
              </a:spcAft>
              <a:buNone/>
            </a:pPr>
            <a:r>
              <a:rPr lang="en-US" sz="1200">
                <a:solidFill>
                  <a:schemeClr val="dk1"/>
                </a:solidFill>
                <a:latin typeface="IBM Plex Sans"/>
                <a:ea typeface="IBM Plex Sans"/>
                <a:cs typeface="IBM Plex Sans"/>
                <a:sym typeface="IBM Plex Sans"/>
              </a:rPr>
              <a:t>This is a cumulative reveal of the paper’s Figure 1, faithfully preserving its components and edges. Refer to the earlier method slide shown in the footer. Do not re-explain the full step: reconnect it to the full architecture.</a:t>
            </a:r>
            <a:endParaRPr/>
          </a:p>
          <a:p>
            <a:pPr indent="0" lvl="0" marL="0" rtl="0" algn="l">
              <a:spcBef>
                <a:spcPts val="0"/>
              </a:spcBef>
              <a:spcAft>
                <a:spcPts val="0"/>
              </a:spcAft>
              <a:buNone/>
            </a:pPr>
            <a:r>
              <a:t/>
            </a:r>
            <a:endParaRPr sz="1200">
              <a:solidFill>
                <a:schemeClr val="dk1"/>
              </a:solidFill>
              <a:latin typeface="IBM Plex Sans"/>
              <a:ea typeface="IBM Plex Sans"/>
              <a:cs typeface="IBM Plex Sans"/>
              <a:sym typeface="IBM Plex Sans"/>
            </a:endParaRPr>
          </a:p>
          <a:p>
            <a:pPr indent="0" lvl="0" marL="0" rtl="0" algn="l">
              <a:spcBef>
                <a:spcPts val="0"/>
              </a:spcBef>
              <a:spcAft>
                <a:spcPts val="0"/>
              </a:spcAft>
              <a:buNone/>
            </a:pPr>
            <a:r>
              <a:rPr lang="en-US" sz="1200">
                <a:solidFill>
                  <a:schemeClr val="dk1"/>
                </a:solidFill>
                <a:latin typeface="IBM Plex Sans"/>
                <a:ea typeface="IBM Plex Sans"/>
                <a:cs typeface="IBM Plex Sans"/>
                <a:sym typeface="IBM Plex Sans"/>
              </a:rPr>
              <a:t>AUDIENCE TAKEAWAY</a:t>
            </a:r>
            <a:endParaRPr/>
          </a:p>
          <a:p>
            <a:pPr indent="0" lvl="0" marL="0" rtl="0" algn="l">
              <a:spcBef>
                <a:spcPts val="0"/>
              </a:spcBef>
              <a:spcAft>
                <a:spcPts val="0"/>
              </a:spcAft>
              <a:buNone/>
            </a:pPr>
            <a:r>
              <a:rPr lang="en-US" sz="1200">
                <a:solidFill>
                  <a:schemeClr val="dk1"/>
                </a:solidFill>
                <a:latin typeface="IBM Plex Sans"/>
                <a:ea typeface="IBM Plex Sans"/>
                <a:cs typeface="IBM Plex Sans"/>
                <a:sym typeface="IBM Plex Sans"/>
              </a:rPr>
              <a:t>Direct mapping provides the structural anchor.</a:t>
            </a:r>
            <a:endParaRPr/>
          </a:p>
        </p:txBody>
      </p:sp>
      <p:sp>
        <p:nvSpPr>
          <p:cNvPr id="459" name="Google Shape;459;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3" name="Google Shape;503;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IBM Plex Sans"/>
                <a:ea typeface="IBM Plex Sans"/>
                <a:cs typeface="IBM Plex Sans"/>
                <a:sym typeface="IBM Plex Sans"/>
              </a:rPr>
              <a:t>[8:21–8:39]  SPOKEN SCRIPT (23 words)</a:t>
            </a:r>
            <a:endParaRPr/>
          </a:p>
          <a:p>
            <a:pPr indent="0" lvl="0" marL="0" rtl="0" algn="l">
              <a:spcBef>
                <a:spcPts val="0"/>
              </a:spcBef>
              <a:spcAft>
                <a:spcPts val="0"/>
              </a:spcAft>
              <a:buNone/>
            </a:pPr>
            <a:r>
              <a:rPr lang="en-US" sz="1200">
                <a:solidFill>
                  <a:schemeClr val="dk1"/>
                </a:solidFill>
                <a:latin typeface="IBM Plex Sans"/>
                <a:ea typeface="IBM Plex Sans"/>
                <a:cs typeface="IBM Plex Sans"/>
                <a:sym typeface="IBM Plex Sans"/>
              </a:rPr>
              <a:t>Now add three retrieval channels: domain ontologies for alignments, documentation for encoded meanings, and the ontology already built for consistency and IRI reuse.</a:t>
            </a:r>
            <a:endParaRPr/>
          </a:p>
          <a:p>
            <a:pPr indent="0" lvl="0" marL="0" rtl="0" algn="l">
              <a:spcBef>
                <a:spcPts val="0"/>
              </a:spcBef>
              <a:spcAft>
                <a:spcPts val="0"/>
              </a:spcAft>
              <a:buNone/>
            </a:pPr>
            <a:r>
              <a:t/>
            </a:r>
            <a:endParaRPr sz="1200">
              <a:solidFill>
                <a:schemeClr val="dk1"/>
              </a:solidFill>
              <a:latin typeface="IBM Plex Sans"/>
              <a:ea typeface="IBM Plex Sans"/>
              <a:cs typeface="IBM Plex Sans"/>
              <a:sym typeface="IBM Plex Sans"/>
            </a:endParaRPr>
          </a:p>
          <a:p>
            <a:pPr indent="0" lvl="0" marL="0" rtl="0" algn="l">
              <a:spcBef>
                <a:spcPts val="0"/>
              </a:spcBef>
              <a:spcAft>
                <a:spcPts val="0"/>
              </a:spcAft>
              <a:buNone/>
            </a:pPr>
            <a:r>
              <a:rPr lang="en-US" sz="1200">
                <a:solidFill>
                  <a:schemeClr val="dk1"/>
                </a:solidFill>
                <a:latin typeface="IBM Plex Sans"/>
                <a:ea typeface="IBM Plex Sans"/>
                <a:cs typeface="IBM Plex Sans"/>
                <a:sym typeface="IBM Plex Sans"/>
              </a:rPr>
              <a:t>PRESENTER CUE</a:t>
            </a:r>
            <a:endParaRPr/>
          </a:p>
          <a:p>
            <a:pPr indent="0" lvl="0" marL="0" rtl="0" algn="l">
              <a:spcBef>
                <a:spcPts val="0"/>
              </a:spcBef>
              <a:spcAft>
                <a:spcPts val="0"/>
              </a:spcAft>
              <a:buNone/>
            </a:pPr>
            <a:r>
              <a:rPr lang="en-US" sz="1200">
                <a:solidFill>
                  <a:schemeClr val="dk1"/>
                </a:solidFill>
                <a:latin typeface="IBM Plex Sans"/>
                <a:ea typeface="IBM Plex Sans"/>
                <a:cs typeface="IBM Plex Sans"/>
                <a:sym typeface="IBM Plex Sans"/>
              </a:rPr>
              <a:t>This is a cumulative reveal of the paper’s Figure 1, faithfully preserving its components and edges. Refer to the earlier method slide shown in the footer. Do not re-explain the full step: reconnect it to the full architecture.</a:t>
            </a:r>
            <a:endParaRPr/>
          </a:p>
          <a:p>
            <a:pPr indent="0" lvl="0" marL="0" rtl="0" algn="l">
              <a:spcBef>
                <a:spcPts val="0"/>
              </a:spcBef>
              <a:spcAft>
                <a:spcPts val="0"/>
              </a:spcAft>
              <a:buNone/>
            </a:pPr>
            <a:r>
              <a:t/>
            </a:r>
            <a:endParaRPr sz="1200">
              <a:solidFill>
                <a:schemeClr val="dk1"/>
              </a:solidFill>
              <a:latin typeface="IBM Plex Sans"/>
              <a:ea typeface="IBM Plex Sans"/>
              <a:cs typeface="IBM Plex Sans"/>
              <a:sym typeface="IBM Plex Sans"/>
            </a:endParaRPr>
          </a:p>
          <a:p>
            <a:pPr indent="0" lvl="0" marL="0" rtl="0" algn="l">
              <a:spcBef>
                <a:spcPts val="0"/>
              </a:spcBef>
              <a:spcAft>
                <a:spcPts val="0"/>
              </a:spcAft>
              <a:buNone/>
            </a:pPr>
            <a:r>
              <a:rPr lang="en-US" sz="1200">
                <a:solidFill>
                  <a:schemeClr val="dk1"/>
                </a:solidFill>
                <a:latin typeface="IBM Plex Sans"/>
                <a:ea typeface="IBM Plex Sans"/>
                <a:cs typeface="IBM Plex Sans"/>
                <a:sym typeface="IBM Plex Sans"/>
              </a:rPr>
              <a:t>AUDIENCE TAKEAWAY</a:t>
            </a:r>
            <a:endParaRPr/>
          </a:p>
          <a:p>
            <a:pPr indent="0" lvl="0" marL="0" rtl="0" algn="l">
              <a:spcBef>
                <a:spcPts val="0"/>
              </a:spcBef>
              <a:spcAft>
                <a:spcPts val="0"/>
              </a:spcAft>
              <a:buNone/>
            </a:pPr>
            <a:r>
              <a:rPr lang="en-US" sz="1200">
                <a:solidFill>
                  <a:schemeClr val="dk1"/>
                </a:solidFill>
                <a:latin typeface="IBM Plex Sans"/>
                <a:ea typeface="IBM Plex Sans"/>
                <a:cs typeface="IBM Plex Sans"/>
                <a:sym typeface="IBM Plex Sans"/>
              </a:rPr>
              <a:t>Three retrieval sources give complementary semantics.</a:t>
            </a:r>
            <a:endParaRPr/>
          </a:p>
        </p:txBody>
      </p:sp>
      <p:sp>
        <p:nvSpPr>
          <p:cNvPr id="504" name="Google Shape;504;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2" name="Shape 572"/>
        <p:cNvGrpSpPr/>
        <p:nvPr/>
      </p:nvGrpSpPr>
      <p:grpSpPr>
        <a:xfrm>
          <a:off x="0" y="0"/>
          <a:ext cx="0" cy="0"/>
          <a:chOff x="0" y="0"/>
          <a:chExt cx="0" cy="0"/>
        </a:xfrm>
      </p:grpSpPr>
      <p:sp>
        <p:nvSpPr>
          <p:cNvPr id="573" name="Google Shape;573;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4" name="Google Shape;574;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IBM Plex Sans"/>
                <a:ea typeface="IBM Plex Sans"/>
                <a:cs typeface="IBM Plex Sans"/>
                <a:sym typeface="IBM Plex Sans"/>
              </a:rPr>
              <a:t>[8:39–8:53]  SPOKEN SCRIPT (21 words)</a:t>
            </a:r>
            <a:endParaRPr/>
          </a:p>
          <a:p>
            <a:pPr indent="0" lvl="0" marL="0" rtl="0" algn="l">
              <a:spcBef>
                <a:spcPts val="0"/>
              </a:spcBef>
              <a:spcAft>
                <a:spcPts val="0"/>
              </a:spcAft>
              <a:buNone/>
            </a:pPr>
            <a:r>
              <a:rPr lang="en-US" sz="1200">
                <a:solidFill>
                  <a:schemeClr val="dk1"/>
                </a:solidFill>
                <a:latin typeface="IBM Plex Sans"/>
                <a:ea typeface="IBM Plex Sans"/>
                <a:cs typeface="IBM Plex Sans"/>
                <a:sym typeface="IBM Plex Sans"/>
              </a:rPr>
              <a:t>The Gen-LLM receives both the direct mapping and that context. It produces a delta ontology containing the semantic enrichment and provenance.</a:t>
            </a:r>
            <a:endParaRPr/>
          </a:p>
          <a:p>
            <a:pPr indent="0" lvl="0" marL="0" rtl="0" algn="l">
              <a:spcBef>
                <a:spcPts val="0"/>
              </a:spcBef>
              <a:spcAft>
                <a:spcPts val="0"/>
              </a:spcAft>
              <a:buNone/>
            </a:pPr>
            <a:r>
              <a:t/>
            </a:r>
            <a:endParaRPr sz="1200">
              <a:solidFill>
                <a:schemeClr val="dk1"/>
              </a:solidFill>
              <a:latin typeface="IBM Plex Sans"/>
              <a:ea typeface="IBM Plex Sans"/>
              <a:cs typeface="IBM Plex Sans"/>
              <a:sym typeface="IBM Plex Sans"/>
            </a:endParaRPr>
          </a:p>
          <a:p>
            <a:pPr indent="0" lvl="0" marL="0" rtl="0" algn="l">
              <a:spcBef>
                <a:spcPts val="0"/>
              </a:spcBef>
              <a:spcAft>
                <a:spcPts val="0"/>
              </a:spcAft>
              <a:buNone/>
            </a:pPr>
            <a:r>
              <a:rPr lang="en-US" sz="1200">
                <a:solidFill>
                  <a:schemeClr val="dk1"/>
                </a:solidFill>
                <a:latin typeface="IBM Plex Sans"/>
                <a:ea typeface="IBM Plex Sans"/>
                <a:cs typeface="IBM Plex Sans"/>
                <a:sym typeface="IBM Plex Sans"/>
              </a:rPr>
              <a:t>PRESENTER CUE</a:t>
            </a:r>
            <a:endParaRPr/>
          </a:p>
          <a:p>
            <a:pPr indent="0" lvl="0" marL="0" rtl="0" algn="l">
              <a:spcBef>
                <a:spcPts val="0"/>
              </a:spcBef>
              <a:spcAft>
                <a:spcPts val="0"/>
              </a:spcAft>
              <a:buNone/>
            </a:pPr>
            <a:r>
              <a:rPr lang="en-US" sz="1200">
                <a:solidFill>
                  <a:schemeClr val="dk1"/>
                </a:solidFill>
                <a:latin typeface="IBM Plex Sans"/>
                <a:ea typeface="IBM Plex Sans"/>
                <a:cs typeface="IBM Plex Sans"/>
                <a:sym typeface="IBM Plex Sans"/>
              </a:rPr>
              <a:t>This is a cumulative reveal of the paper’s Figure 1, faithfully preserving its components and edges. Refer to the earlier method slide shown in the footer. Do not re-explain the full step: reconnect it to the full architecture.</a:t>
            </a:r>
            <a:endParaRPr/>
          </a:p>
          <a:p>
            <a:pPr indent="0" lvl="0" marL="0" rtl="0" algn="l">
              <a:spcBef>
                <a:spcPts val="0"/>
              </a:spcBef>
              <a:spcAft>
                <a:spcPts val="0"/>
              </a:spcAft>
              <a:buNone/>
            </a:pPr>
            <a:r>
              <a:t/>
            </a:r>
            <a:endParaRPr sz="1200">
              <a:solidFill>
                <a:schemeClr val="dk1"/>
              </a:solidFill>
              <a:latin typeface="IBM Plex Sans"/>
              <a:ea typeface="IBM Plex Sans"/>
              <a:cs typeface="IBM Plex Sans"/>
              <a:sym typeface="IBM Plex Sans"/>
            </a:endParaRPr>
          </a:p>
          <a:p>
            <a:pPr indent="0" lvl="0" marL="0" rtl="0" algn="l">
              <a:spcBef>
                <a:spcPts val="0"/>
              </a:spcBef>
              <a:spcAft>
                <a:spcPts val="0"/>
              </a:spcAft>
              <a:buNone/>
            </a:pPr>
            <a:r>
              <a:rPr lang="en-US" sz="1200">
                <a:solidFill>
                  <a:schemeClr val="dk1"/>
                </a:solidFill>
                <a:latin typeface="IBM Plex Sans"/>
                <a:ea typeface="IBM Plex Sans"/>
                <a:cs typeface="IBM Plex Sans"/>
                <a:sym typeface="IBM Plex Sans"/>
              </a:rPr>
              <a:t>AUDIENCE TAKEAWAY</a:t>
            </a:r>
            <a:endParaRPr/>
          </a:p>
          <a:p>
            <a:pPr indent="0" lvl="0" marL="0" rtl="0" algn="l">
              <a:spcBef>
                <a:spcPts val="0"/>
              </a:spcBef>
              <a:spcAft>
                <a:spcPts val="0"/>
              </a:spcAft>
              <a:buNone/>
            </a:pPr>
            <a:r>
              <a:rPr lang="en-US" sz="1200">
                <a:solidFill>
                  <a:schemeClr val="dk1"/>
                </a:solidFill>
                <a:latin typeface="IBM Plex Sans"/>
                <a:ea typeface="IBM Plex Sans"/>
                <a:cs typeface="IBM Plex Sans"/>
                <a:sym typeface="IBM Plex Sans"/>
              </a:rPr>
              <a:t>The LLM produces a delta grounded in direct mapping and context.</a:t>
            </a:r>
            <a:endParaRPr/>
          </a:p>
        </p:txBody>
      </p:sp>
      <p:sp>
        <p:nvSpPr>
          <p:cNvPr id="575" name="Google Shape;575;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1" name="Shape 661"/>
        <p:cNvGrpSpPr/>
        <p:nvPr/>
      </p:nvGrpSpPr>
      <p:grpSpPr>
        <a:xfrm>
          <a:off x="0" y="0"/>
          <a:ext cx="0" cy="0"/>
          <a:chOff x="0" y="0"/>
          <a:chExt cx="0" cy="0"/>
        </a:xfrm>
      </p:grpSpPr>
      <p:sp>
        <p:nvSpPr>
          <p:cNvPr id="662" name="Google Shape;662;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3" name="Google Shape;663;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IBM Plex Sans"/>
                <a:ea typeface="IBM Plex Sans"/>
                <a:cs typeface="IBM Plex Sans"/>
                <a:sym typeface="IBM Plex Sans"/>
              </a:rPr>
              <a:t>[8:53–9:07]  SPOKEN SCRIPT (21 words)</a:t>
            </a:r>
            <a:endParaRPr/>
          </a:p>
          <a:p>
            <a:pPr indent="0" lvl="0" marL="0" rtl="0" algn="l">
              <a:spcBef>
                <a:spcPts val="0"/>
              </a:spcBef>
              <a:spcAft>
                <a:spcPts val="0"/>
              </a:spcAft>
              <a:buNone/>
            </a:pPr>
            <a:r>
              <a:rPr lang="en-US" sz="1200">
                <a:solidFill>
                  <a:schemeClr val="dk1"/>
                </a:solidFill>
                <a:latin typeface="IBM Plex Sans"/>
                <a:ea typeface="IBM Plex Sans"/>
                <a:cs typeface="IBM Plex Sans"/>
                <a:sym typeface="IBM Plex Sans"/>
              </a:rPr>
              <a:t>Before a delta can join the core, a Judge-LLM assesses it and deterministic graph checks enforce structural constraints. Problems trigger correction.</a:t>
            </a:r>
            <a:endParaRPr/>
          </a:p>
          <a:p>
            <a:pPr indent="0" lvl="0" marL="0" rtl="0" algn="l">
              <a:spcBef>
                <a:spcPts val="0"/>
              </a:spcBef>
              <a:spcAft>
                <a:spcPts val="0"/>
              </a:spcAft>
              <a:buNone/>
            </a:pPr>
            <a:r>
              <a:t/>
            </a:r>
            <a:endParaRPr sz="1200">
              <a:solidFill>
                <a:schemeClr val="dk1"/>
              </a:solidFill>
              <a:latin typeface="IBM Plex Sans"/>
              <a:ea typeface="IBM Plex Sans"/>
              <a:cs typeface="IBM Plex Sans"/>
              <a:sym typeface="IBM Plex Sans"/>
            </a:endParaRPr>
          </a:p>
          <a:p>
            <a:pPr indent="0" lvl="0" marL="0" rtl="0" algn="l">
              <a:spcBef>
                <a:spcPts val="0"/>
              </a:spcBef>
              <a:spcAft>
                <a:spcPts val="0"/>
              </a:spcAft>
              <a:buNone/>
            </a:pPr>
            <a:r>
              <a:rPr lang="en-US" sz="1200">
                <a:solidFill>
                  <a:schemeClr val="dk1"/>
                </a:solidFill>
                <a:latin typeface="IBM Plex Sans"/>
                <a:ea typeface="IBM Plex Sans"/>
                <a:cs typeface="IBM Plex Sans"/>
                <a:sym typeface="IBM Plex Sans"/>
              </a:rPr>
              <a:t>PRESENTER CUE</a:t>
            </a:r>
            <a:endParaRPr/>
          </a:p>
          <a:p>
            <a:pPr indent="0" lvl="0" marL="0" rtl="0" algn="l">
              <a:spcBef>
                <a:spcPts val="0"/>
              </a:spcBef>
              <a:spcAft>
                <a:spcPts val="0"/>
              </a:spcAft>
              <a:buNone/>
            </a:pPr>
            <a:r>
              <a:rPr lang="en-US" sz="1200">
                <a:solidFill>
                  <a:schemeClr val="dk1"/>
                </a:solidFill>
                <a:latin typeface="IBM Plex Sans"/>
                <a:ea typeface="IBM Plex Sans"/>
                <a:cs typeface="IBM Plex Sans"/>
                <a:sym typeface="IBM Plex Sans"/>
              </a:rPr>
              <a:t>This is a cumulative reveal of the paper’s Figure 1, faithfully preserving its components and edges. Refer to the earlier method slide shown in the footer. Do not re-explain the full step: reconnect it to the full architecture.</a:t>
            </a:r>
            <a:endParaRPr/>
          </a:p>
          <a:p>
            <a:pPr indent="0" lvl="0" marL="0" rtl="0" algn="l">
              <a:spcBef>
                <a:spcPts val="0"/>
              </a:spcBef>
              <a:spcAft>
                <a:spcPts val="0"/>
              </a:spcAft>
              <a:buNone/>
            </a:pPr>
            <a:r>
              <a:t/>
            </a:r>
            <a:endParaRPr sz="1200">
              <a:solidFill>
                <a:schemeClr val="dk1"/>
              </a:solidFill>
              <a:latin typeface="IBM Plex Sans"/>
              <a:ea typeface="IBM Plex Sans"/>
              <a:cs typeface="IBM Plex Sans"/>
              <a:sym typeface="IBM Plex Sans"/>
            </a:endParaRPr>
          </a:p>
          <a:p>
            <a:pPr indent="0" lvl="0" marL="0" rtl="0" algn="l">
              <a:spcBef>
                <a:spcPts val="0"/>
              </a:spcBef>
              <a:spcAft>
                <a:spcPts val="0"/>
              </a:spcAft>
              <a:buNone/>
            </a:pPr>
            <a:r>
              <a:rPr lang="en-US" sz="1200">
                <a:solidFill>
                  <a:schemeClr val="dk1"/>
                </a:solidFill>
                <a:latin typeface="IBM Plex Sans"/>
                <a:ea typeface="IBM Plex Sans"/>
                <a:cs typeface="IBM Plex Sans"/>
                <a:sym typeface="IBM Plex Sans"/>
              </a:rPr>
              <a:t>AUDIENCE TAKEAWAY</a:t>
            </a:r>
            <a:endParaRPr/>
          </a:p>
          <a:p>
            <a:pPr indent="0" lvl="0" marL="0" rtl="0" algn="l">
              <a:spcBef>
                <a:spcPts val="0"/>
              </a:spcBef>
              <a:spcAft>
                <a:spcPts val="0"/>
              </a:spcAft>
              <a:buNone/>
            </a:pPr>
            <a:r>
              <a:rPr lang="en-US" sz="1200">
                <a:solidFill>
                  <a:schemeClr val="dk1"/>
                </a:solidFill>
                <a:latin typeface="IBM Plex Sans"/>
                <a:ea typeface="IBM Plex Sans"/>
                <a:cs typeface="IBM Plex Sans"/>
                <a:sym typeface="IBM Plex Sans"/>
              </a:rPr>
              <a:t>Validation occurs before integration.</a:t>
            </a:r>
            <a:endParaRPr/>
          </a:p>
        </p:txBody>
      </p:sp>
      <p:sp>
        <p:nvSpPr>
          <p:cNvPr id="664" name="Google Shape;664;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4" name="Shape 754"/>
        <p:cNvGrpSpPr/>
        <p:nvPr/>
      </p:nvGrpSpPr>
      <p:grpSpPr>
        <a:xfrm>
          <a:off x="0" y="0"/>
          <a:ext cx="0" cy="0"/>
          <a:chOff x="0" y="0"/>
          <a:chExt cx="0" cy="0"/>
        </a:xfrm>
      </p:grpSpPr>
      <p:sp>
        <p:nvSpPr>
          <p:cNvPr id="755" name="Google Shape;755;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txBody>
          <a:bodyPr/>
          <a:p/>
        </p:txBody>
      </p:sp>
      <p:sp>
        <p:nvSpPr>
          <p:cNvPr id="756" name="Google Shape;756;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[9:07–9:22]  SPOKEN SCRIPT (23 words)</a:t>
            </a:r>
          </a:p>
          <a:p>
            <a:r>
              <a:t>Only a validated fragment is integrated. Follow the green return arrow from Integration (i) back into the growing core retrieval source (e), for the next table. The core ontology grows, and becomes retrieval context for the next table. That feedback loop completes RIGOR.</a:t>
            </a:r>
          </a:p>
          <a:p/>
          <a:p>
            <a:r>
              <a:t>PRESENTER CUE</a:t>
            </a:r>
          </a:p>
          <a:p>
            <a:r>
              <a:t>This is a cumulative reveal of the paper’s Figure 1, faithfully preserving its components and edges. Refer to the earlier method slide shown in the footer. Do not re-explain the full step: reconnect it to the full architecture.</a:t>
            </a:r>
          </a:p>
          <a:p/>
          <a:p>
            <a:r>
              <a:t>AUDIENCE TAKEAWAY</a:t>
            </a:r>
          </a:p>
          <a:p>
            <a:r>
              <a:t>The growing core is both the evolving output and a retrieval source.</a:t>
            </a:r>
          </a:p>
        </p:txBody>
      </p:sp>
      <p:sp>
        <p:nvSpPr>
          <p:cNvPr id="757" name="Google Shape;757;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9" name="Shape 859"/>
        <p:cNvGrpSpPr/>
        <p:nvPr/>
      </p:nvGrpSpPr>
      <p:grpSpPr>
        <a:xfrm>
          <a:off x="0" y="0"/>
          <a:ext cx="0" cy="0"/>
          <a:chOff x="0" y="0"/>
          <a:chExt cx="0" cy="0"/>
        </a:xfrm>
      </p:grpSpPr>
      <p:sp>
        <p:nvSpPr>
          <p:cNvPr id="860" name="Google Shape;860;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1" name="Google Shape;861;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IBM Plex Sans"/>
                <a:ea typeface="IBM Plex Sans"/>
                <a:cs typeface="IBM Plex Sans"/>
                <a:sym typeface="IBM Plex Sans"/>
              </a:rPr>
              <a:t>[9:22–10:07]  SPOKEN SCRIPT (73 words)</a:t>
            </a:r>
            <a:endParaRPr/>
          </a:p>
          <a:p>
            <a:pPr indent="0" lvl="0" marL="0" rtl="0" algn="l">
              <a:spcBef>
                <a:spcPts val="0"/>
              </a:spcBef>
              <a:spcAft>
                <a:spcPts val="0"/>
              </a:spcAft>
              <a:buNone/>
            </a:pPr>
            <a:r>
              <a:rPr lang="en-US" sz="1200">
                <a:solidFill>
                  <a:schemeClr val="dk1"/>
                </a:solidFill>
                <a:latin typeface="IBM Plex Sans"/>
                <a:ea typeface="IBM Plex Sans"/>
                <a:cs typeface="IBM Plex Sans"/>
                <a:sym typeface="IBM Plex Sans"/>
              </a:rPr>
              <a:t>We evaluated three databases: a specialist liver-cancer registry, the larger eICU schema, and Chinook, a music-store database. We compared deterministic mapping, a zero-shot LLM baseline, one-pass retrieval-augmented generation, and RIGOR. Three generator models across the LLM methods, plus one deterministic mapping per dataset, yielded thirty ontologies. We assessed ontology structure and pitfalls, gathered independent LLM and human judgments, and tested mapping fidelity on BURR. This comparison does not separately isolate every RIGOR component.</a:t>
            </a:r>
            <a:endParaRPr/>
          </a:p>
          <a:p>
            <a:pPr indent="0" lvl="0" marL="0" rtl="0" algn="l">
              <a:spcBef>
                <a:spcPts val="0"/>
              </a:spcBef>
              <a:spcAft>
                <a:spcPts val="0"/>
              </a:spcAft>
              <a:buNone/>
            </a:pPr>
            <a:r>
              <a:t/>
            </a:r>
            <a:endParaRPr sz="1200">
              <a:solidFill>
                <a:schemeClr val="dk1"/>
              </a:solidFill>
              <a:latin typeface="IBM Plex Sans"/>
              <a:ea typeface="IBM Plex Sans"/>
              <a:cs typeface="IBM Plex Sans"/>
              <a:sym typeface="IBM Plex Sans"/>
            </a:endParaRPr>
          </a:p>
          <a:p>
            <a:pPr indent="0" lvl="0" marL="0" rtl="0" algn="l">
              <a:spcBef>
                <a:spcPts val="0"/>
              </a:spcBef>
              <a:spcAft>
                <a:spcPts val="0"/>
              </a:spcAft>
              <a:buNone/>
            </a:pPr>
            <a:r>
              <a:rPr lang="en-US" sz="1200">
                <a:solidFill>
                  <a:schemeClr val="dk1"/>
                </a:solidFill>
                <a:latin typeface="IBM Plex Sans"/>
                <a:ea typeface="IBM Plex Sans"/>
                <a:cs typeface="IBM Plex Sans"/>
                <a:sym typeface="IBM Plex Sans"/>
              </a:rPr>
              <a:t>PRESENTER / POINTER: Tour datasets, then comparison spectrum. Do not read every number.</a:t>
            </a:r>
            <a:endParaRPr/>
          </a:p>
          <a:p>
            <a:pPr indent="0" lvl="0" marL="0" rtl="0" algn="l">
              <a:spcBef>
                <a:spcPts val="0"/>
              </a:spcBef>
              <a:spcAft>
                <a:spcPts val="0"/>
              </a:spcAft>
              <a:buNone/>
            </a:pPr>
            <a:r>
              <a:rPr lang="en-US" sz="1200">
                <a:solidFill>
                  <a:schemeClr val="dk1"/>
                </a:solidFill>
                <a:latin typeface="IBM Plex Sans"/>
                <a:ea typeface="IBM Plex Sans"/>
                <a:cs typeface="IBM Plex Sans"/>
                <a:sym typeface="IBM Plex Sans"/>
              </a:rPr>
              <a:t>AUDIENCE TAKEAWAY: The study tests distinct datasets, models and comparison methods.</a:t>
            </a:r>
            <a:endParaRPr/>
          </a:p>
          <a:p>
            <a:pPr indent="0" lvl="0" marL="0" rtl="0" algn="l">
              <a:spcBef>
                <a:spcPts val="0"/>
              </a:spcBef>
              <a:spcAft>
                <a:spcPts val="0"/>
              </a:spcAft>
              <a:buNone/>
            </a:pPr>
            <a:r>
              <a:rPr lang="en-US" sz="1200">
                <a:solidFill>
                  <a:schemeClr val="dk1"/>
                </a:solidFill>
                <a:latin typeface="IBM Plex Sans"/>
                <a:ea typeface="IBM Plex Sans"/>
                <a:cs typeface="IBM Plex Sans"/>
                <a:sym typeface="IBM Plex Sans"/>
              </a:rPr>
              <a:t>SOURCE AND SCOPE: Paper §4.1–4.6. Ontologies = 3 models × 3 methods × 3 databases + 3 direct-mapped.</a:t>
            </a:r>
            <a:endParaRPr/>
          </a:p>
          <a:p>
            <a:pPr indent="0" lvl="0" marL="0" rtl="0" algn="l">
              <a:spcBef>
                <a:spcPts val="0"/>
              </a:spcBef>
              <a:spcAft>
                <a:spcPts val="0"/>
              </a:spcAft>
              <a:buNone/>
            </a:pPr>
            <a:r>
              <a:rPr lang="en-US" sz="1200">
                <a:solidFill>
                  <a:schemeClr val="dk1"/>
                </a:solidFill>
                <a:latin typeface="IBM Plex Sans"/>
                <a:ea typeface="IBM Plex Sans"/>
                <a:cs typeface="IBM Plex Sans"/>
                <a:sym typeface="IBM Plex Sans"/>
              </a:rPr>
              <a:t>Timing targets include normal visual pauses; verify with a recorded rehearsal.</a:t>
            </a:r>
            <a:endParaRPr/>
          </a:p>
        </p:txBody>
      </p:sp>
      <p:sp>
        <p:nvSpPr>
          <p:cNvPr id="862" name="Google Shape;862;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8" name="Shape 908"/>
        <p:cNvGrpSpPr/>
        <p:nvPr/>
      </p:nvGrpSpPr>
      <p:grpSpPr>
        <a:xfrm>
          <a:off x="0" y="0"/>
          <a:ext cx="0" cy="0"/>
          <a:chOff x="0" y="0"/>
          <a:chExt cx="0" cy="0"/>
        </a:xfrm>
      </p:grpSpPr>
      <p:sp>
        <p:nvSpPr>
          <p:cNvPr id="909" name="Google Shape;909;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10" name="Google Shape;910;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IBM Plex Sans"/>
                <a:ea typeface="IBM Plex Sans"/>
                <a:cs typeface="IBM Plex Sans"/>
                <a:sym typeface="IBM Plex Sans"/>
              </a:rPr>
              <a:t>[10:07–11:02]  SPOKEN SCRIPT (80 words)</a:t>
            </a:r>
            <a:endParaRPr/>
          </a:p>
          <a:p>
            <a:pPr indent="0" lvl="0" marL="0" rtl="0" algn="l">
              <a:spcBef>
                <a:spcPts val="0"/>
              </a:spcBef>
              <a:spcAft>
                <a:spcPts val="0"/>
              </a:spcAft>
              <a:buNone/>
            </a:pPr>
            <a:r>
              <a:rPr lang="en-US" sz="1200">
                <a:solidFill>
                  <a:schemeClr val="dk1"/>
                </a:solidFill>
                <a:latin typeface="IBM Plex Sans"/>
                <a:ea typeface="IBM Plex Sans"/>
                <a:cs typeface="IBM Plex Sans"/>
                <a:sym typeface="IBM Plex Sans"/>
              </a:rPr>
              <a:t>First, what do ontology experts think? Ten experts reviewed anonymized outputs for four representative medical tables. They ranked RIGOR first in twenty-eight of forty rankings—seventy percent—with statistically significant agreement across raters. They especially valued domain enrichment, clarity, and completeness. Separately, GPT-5.4 evaluated Claude-generated fragments for all fifty-eight tables, using five competency questions per table, and ranked RIGOR first in all fifty-eight. The human sample is limited, and LLM judgments cannot replace it; together, they offer complementary evidence.</a:t>
            </a:r>
            <a:endParaRPr/>
          </a:p>
          <a:p>
            <a:pPr indent="0" lvl="0" marL="0" rtl="0" algn="l">
              <a:spcBef>
                <a:spcPts val="0"/>
              </a:spcBef>
              <a:spcAft>
                <a:spcPts val="0"/>
              </a:spcAft>
              <a:buNone/>
            </a:pPr>
            <a:r>
              <a:t/>
            </a:r>
            <a:endParaRPr sz="1200">
              <a:solidFill>
                <a:schemeClr val="dk1"/>
              </a:solidFill>
              <a:latin typeface="IBM Plex Sans"/>
              <a:ea typeface="IBM Plex Sans"/>
              <a:cs typeface="IBM Plex Sans"/>
              <a:sym typeface="IBM Plex Sans"/>
            </a:endParaRPr>
          </a:p>
          <a:p>
            <a:pPr indent="0" lvl="0" marL="0" rtl="0" algn="l">
              <a:spcBef>
                <a:spcPts val="0"/>
              </a:spcBef>
              <a:spcAft>
                <a:spcPts val="0"/>
              </a:spcAft>
              <a:buNone/>
            </a:pPr>
            <a:r>
              <a:rPr lang="en-US" sz="1200">
                <a:solidFill>
                  <a:schemeClr val="dk1"/>
                </a:solidFill>
                <a:latin typeface="IBM Plex Sans"/>
                <a:ea typeface="IBM Plex Sans"/>
                <a:cs typeface="IBM Plex Sans"/>
                <a:sym typeface="IBM Plex Sans"/>
              </a:rPr>
              <a:t>PRESENTER / POINTER: Pause for the 70% headline, then comparison bars; explain LLM judge as corroboration.</a:t>
            </a:r>
            <a:endParaRPr/>
          </a:p>
          <a:p>
            <a:pPr indent="0" lvl="0" marL="0" rtl="0" algn="l">
              <a:spcBef>
                <a:spcPts val="0"/>
              </a:spcBef>
              <a:spcAft>
                <a:spcPts val="0"/>
              </a:spcAft>
              <a:buNone/>
            </a:pPr>
            <a:r>
              <a:rPr lang="en-US" sz="1200">
                <a:solidFill>
                  <a:schemeClr val="dk1"/>
                </a:solidFill>
                <a:latin typeface="IBM Plex Sans"/>
                <a:ea typeface="IBM Plex Sans"/>
                <a:cs typeface="IBM Plex Sans"/>
                <a:sym typeface="IBM Plex Sans"/>
              </a:rPr>
              <a:t>AUDIENCE TAKEAWAY: Human and independent LLM evaluations favor RIGOR on the assessed fragments.</a:t>
            </a:r>
            <a:endParaRPr/>
          </a:p>
          <a:p>
            <a:pPr indent="0" lvl="0" marL="0" rtl="0" algn="l">
              <a:spcBef>
                <a:spcPts val="0"/>
              </a:spcBef>
              <a:spcAft>
                <a:spcPts val="0"/>
              </a:spcAft>
              <a:buNone/>
            </a:pPr>
            <a:r>
              <a:rPr lang="en-US" sz="1200">
                <a:solidFill>
                  <a:schemeClr val="dk1"/>
                </a:solidFill>
                <a:latin typeface="IBM Plex Sans"/>
                <a:ea typeface="IBM Plex Sans"/>
                <a:cs typeface="IBM Plex Sans"/>
                <a:sym typeface="IBM Plex Sans"/>
              </a:rPr>
              <a:t>SOURCE AND SCOPE: Paper Table 1, §4.6–4.7; 4 expert-evaluated medical tables; 58 table-based LLM ranks only Claude outputs.</a:t>
            </a:r>
            <a:endParaRPr/>
          </a:p>
          <a:p>
            <a:pPr indent="0" lvl="0" marL="0" rtl="0" algn="l">
              <a:spcBef>
                <a:spcPts val="0"/>
              </a:spcBef>
              <a:spcAft>
                <a:spcPts val="0"/>
              </a:spcAft>
              <a:buNone/>
            </a:pPr>
            <a:r>
              <a:rPr lang="en-US" sz="1200">
                <a:solidFill>
                  <a:schemeClr val="dk1"/>
                </a:solidFill>
                <a:latin typeface="IBM Plex Sans"/>
                <a:ea typeface="IBM Plex Sans"/>
                <a:cs typeface="IBM Plex Sans"/>
                <a:sym typeface="IBM Plex Sans"/>
              </a:rPr>
              <a:t>Timing targets include normal visual pauses; verify with a recorded rehearsal.</a:t>
            </a:r>
            <a:endParaRPr/>
          </a:p>
        </p:txBody>
      </p:sp>
      <p:sp>
        <p:nvSpPr>
          <p:cNvPr id="911" name="Google Shape;911;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1" name="Shape 941"/>
        <p:cNvGrpSpPr/>
        <p:nvPr/>
      </p:nvGrpSpPr>
      <p:grpSpPr>
        <a:xfrm>
          <a:off x="0" y="0"/>
          <a:ext cx="0" cy="0"/>
          <a:chOff x="0" y="0"/>
          <a:chExt cx="0" cy="0"/>
        </a:xfrm>
      </p:grpSpPr>
      <p:sp>
        <p:nvSpPr>
          <p:cNvPr id="942" name="Google Shape;942;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txBody>
          <a:bodyPr/>
          <a:p/>
        </p:txBody>
      </p:sp>
      <p:sp>
        <p:nvSpPr>
          <p:cNvPr id="943" name="Google Shape;943;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[11:02–11:57] SPOKEN SCRIPT</a:t>
            </a:r>
          </a:p>
          <a:p>
            <a:r>
              <a:t>The OOPS! pitfall scanner gives us a much broader comparison than a single illustrative case. Here are the three databases, and four methods. For each LLM method, numbers are Claude, Mistral, and DeepSeek. Across every one of the nine matched model-and-database comparisons, RIGOR has fewer findings than the non-iterative approach. On Chinook, it has zero findings with all three models. We should interpret this correctly: a substantial portion of the reduction comes from missing annotations, which RIGOR explicitly adds, and critical P19 findings remain in three runs.</a:t>
            </a:r>
          </a:p>
          <a:p>
            <a:r>
              <a:t>PRESENTER CUE: Explain the column convention once, emphasize 9 out of 9, then Chinook; do not read every cell.</a:t>
            </a:r>
          </a:p>
          <a:p>
            <a:r>
              <a:t>SOURCE: Paper Table 7, OOPS! findings.</a:t>
            </a:r>
          </a:p>
        </p:txBody>
      </p:sp>
      <p:sp>
        <p:nvSpPr>
          <p:cNvPr id="944" name="Google Shape;944;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0" name="Shape 970"/>
        <p:cNvGrpSpPr/>
        <p:nvPr/>
      </p:nvGrpSpPr>
      <p:grpSpPr>
        <a:xfrm>
          <a:off x="0" y="0"/>
          <a:ext cx="0" cy="0"/>
          <a:chOff x="0" y="0"/>
          <a:chExt cx="0" cy="0"/>
        </a:xfrm>
      </p:grpSpPr>
      <p:sp>
        <p:nvSpPr>
          <p:cNvPr id="971" name="Google Shape;971;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txBody>
          <a:bodyPr/>
          <a:p/>
        </p:txBody>
      </p:sp>
      <p:sp>
        <p:nvSpPr>
          <p:cNvPr id="972" name="Google Shape;972;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[11:57–12:52]  SPOKEN SCRIPT</a:t>
            </a:r>
          </a:p>
          <a:p>
            <a:r>
              <a:t>Finally, BURR tests mapping fidelity against a gold standard, rather than subjective ontology quality. This is its ISWC database: nine tables, 46 columns, and 11 foreign keys. Here are all the methods compared, by name: W3C-Mapper/Ontop, RDB2Onto, OntoGenix, and RIGOR. For class, relation, and attribute mappings, RIGOR achieves the highest F1: 0.73, 0.67, and 0.52. These mappings are recovered by exporting RIGOR's source-provenance annotations as D2RQ. This is one scenario using Claude, so it does not establish universal superiority, but it supports the claim that semantic enrichment need not destroy schema correspondence.</a:t>
            </a:r>
          </a:p>
          <a:p/>
          <a:p>
            <a:r>
              <a:t>AUDIENCE TAKEAWAY</a:t>
            </a:r>
          </a:p>
          <a:p>
            <a:r>
              <a:t>RIGOR leads all three mapping categories among four explicitly named compared systems on the single BURR ISWC scenario.</a:t>
            </a:r>
          </a:p>
          <a:p>
            <a:r>
              <a:t>SOURCE: paper Table 13, Strategy 8, §4.6–4.7.</a:t>
            </a:r>
          </a:p>
        </p:txBody>
      </p:sp>
      <p:sp>
        <p:nvSpPr>
          <p:cNvPr id="973" name="Google Shape;973;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8" name="Shape 1008"/>
        <p:cNvGrpSpPr/>
        <p:nvPr/>
      </p:nvGrpSpPr>
      <p:grpSpPr>
        <a:xfrm>
          <a:off x="0" y="0"/>
          <a:ext cx="0" cy="0"/>
          <a:chOff x="0" y="0"/>
          <a:chExt cx="0" cy="0"/>
        </a:xfrm>
      </p:grpSpPr>
      <p:sp>
        <p:nvSpPr>
          <p:cNvPr id="1009" name="Google Shape;1009;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10" name="Google Shape;1010;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IBM Plex Sans"/>
                <a:ea typeface="IBM Plex Sans"/>
                <a:cs typeface="IBM Plex Sans"/>
                <a:sym typeface="IBM Plex Sans"/>
              </a:rPr>
              <a:t>[12:52–13:40]  SPOKEN SCRIPT (77 words)</a:t>
            </a:r>
            <a:endParaRPr/>
          </a:p>
          <a:p>
            <a:pPr indent="0" lvl="0" marL="0" rtl="0" algn="l">
              <a:spcBef>
                <a:spcPts val="0"/>
              </a:spcBef>
              <a:spcAft>
                <a:spcPts val="0"/>
              </a:spcAft>
              <a:buNone/>
            </a:pPr>
            <a:r>
              <a:rPr lang="en-US" sz="1200">
                <a:solidFill>
                  <a:schemeClr val="dk1"/>
                </a:solidFill>
                <a:latin typeface="IBM Plex Sans"/>
                <a:ea typeface="IBM Plex Sans"/>
                <a:cs typeface="IBM Plex Sans"/>
                <a:sym typeface="IBM Plex Sans"/>
              </a:rPr>
              <a:t>Two challenges remain. First, the deterministic seed covers the cleaned schema, but enrichment does not always preserve every column; our embedding-based coverage proxy ranges from 0.77 to 1.00. Second, validation still misses some modeling pitfalls, and disjointness is rare. These suggest feeding validator feedback into generation, using instance-level signals where documentation is weak, and incorporating symbolic reasoning. We have not yet measured downstream OBDA or knowledge-graph tasks, and the expert study covers only four tables.</a:t>
            </a:r>
            <a:endParaRPr/>
          </a:p>
          <a:p>
            <a:pPr indent="0" lvl="0" marL="0" rtl="0" algn="l">
              <a:spcBef>
                <a:spcPts val="0"/>
              </a:spcBef>
              <a:spcAft>
                <a:spcPts val="0"/>
              </a:spcAft>
              <a:buNone/>
            </a:pPr>
            <a:r>
              <a:t/>
            </a:r>
            <a:endParaRPr sz="1200">
              <a:solidFill>
                <a:schemeClr val="dk1"/>
              </a:solidFill>
              <a:latin typeface="IBM Plex Sans"/>
              <a:ea typeface="IBM Plex Sans"/>
              <a:cs typeface="IBM Plex Sans"/>
              <a:sym typeface="IBM Plex Sans"/>
            </a:endParaRPr>
          </a:p>
          <a:p>
            <a:pPr indent="0" lvl="0" marL="0" rtl="0" algn="l">
              <a:spcBef>
                <a:spcPts val="0"/>
              </a:spcBef>
              <a:spcAft>
                <a:spcPts val="0"/>
              </a:spcAft>
              <a:buNone/>
            </a:pPr>
            <a:r>
              <a:rPr lang="en-US" sz="1200">
                <a:solidFill>
                  <a:schemeClr val="dk1"/>
                </a:solidFill>
                <a:latin typeface="IBM Plex Sans"/>
                <a:ea typeface="IBM Plex Sans"/>
                <a:cs typeface="IBM Plex Sans"/>
                <a:sym typeface="IBM Plex Sans"/>
              </a:rPr>
              <a:t>PRESENTER / POINTER: Two cards only. Avoid enumerating every supplementary limitation.</a:t>
            </a:r>
            <a:endParaRPr/>
          </a:p>
          <a:p>
            <a:pPr indent="0" lvl="0" marL="0" rtl="0" algn="l">
              <a:spcBef>
                <a:spcPts val="0"/>
              </a:spcBef>
              <a:spcAft>
                <a:spcPts val="0"/>
              </a:spcAft>
              <a:buNone/>
            </a:pPr>
            <a:r>
              <a:rPr lang="en-US" sz="1200">
                <a:solidFill>
                  <a:schemeClr val="dk1"/>
                </a:solidFill>
                <a:latin typeface="IBM Plex Sans"/>
                <a:ea typeface="IBM Plex Sans"/>
                <a:cs typeface="IBM Plex Sans"/>
                <a:sym typeface="IBM Plex Sans"/>
              </a:rPr>
              <a:t>AUDIENCE TAKEAWAY: Final fidelity and semantic validation remain open work.</a:t>
            </a:r>
            <a:endParaRPr/>
          </a:p>
          <a:p>
            <a:pPr indent="0" lvl="0" marL="0" rtl="0" algn="l">
              <a:spcBef>
                <a:spcPts val="0"/>
              </a:spcBef>
              <a:spcAft>
                <a:spcPts val="0"/>
              </a:spcAft>
              <a:buNone/>
            </a:pPr>
            <a:r>
              <a:rPr lang="en-US" sz="1200">
                <a:solidFill>
                  <a:schemeClr val="dk1"/>
                </a:solidFill>
                <a:latin typeface="IBM Plex Sans"/>
                <a:ea typeface="IBM Plex Sans"/>
                <a:cs typeface="IBM Plex Sans"/>
                <a:sym typeface="IBM Plex Sans"/>
              </a:rPr>
              <a:t>SOURCE AND SCOPE: Paper §5 limitations and §4.7 evaluation; future steps grounded in conclusion.</a:t>
            </a:r>
            <a:endParaRPr/>
          </a:p>
          <a:p>
            <a:pPr indent="0" lvl="0" marL="0" rtl="0" algn="l">
              <a:spcBef>
                <a:spcPts val="0"/>
              </a:spcBef>
              <a:spcAft>
                <a:spcPts val="0"/>
              </a:spcAft>
              <a:buNone/>
            </a:pPr>
            <a:r>
              <a:rPr lang="en-US" sz="1200">
                <a:solidFill>
                  <a:schemeClr val="dk1"/>
                </a:solidFill>
                <a:latin typeface="IBM Plex Sans"/>
                <a:ea typeface="IBM Plex Sans"/>
                <a:cs typeface="IBM Plex Sans"/>
                <a:sym typeface="IBM Plex Sans"/>
              </a:rPr>
              <a:t>Timing targets include normal visual pauses; verify with a recorded rehearsal.</a:t>
            </a:r>
            <a:endParaRPr/>
          </a:p>
        </p:txBody>
      </p:sp>
      <p:sp>
        <p:nvSpPr>
          <p:cNvPr id="1011" name="Google Shape;1011;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1" name="Shape 1031"/>
        <p:cNvGrpSpPr/>
        <p:nvPr/>
      </p:nvGrpSpPr>
      <p:grpSpPr>
        <a:xfrm>
          <a:off x="0" y="0"/>
          <a:ext cx="0" cy="0"/>
          <a:chOff x="0" y="0"/>
          <a:chExt cx="0" cy="0"/>
        </a:xfrm>
      </p:grpSpPr>
      <p:sp>
        <p:nvSpPr>
          <p:cNvPr id="1032" name="Google Shape;1032;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txBody>
          <a:bodyPr/>
          <a:p/>
        </p:txBody>
      </p:sp>
      <p:sp>
        <p:nvSpPr>
          <p:cNvPr id="1033" name="Google Shape;1033;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[13:40–14:18] SPOKEN SCRIPT</a:t>
            </a:r>
          </a:p>
          <a:p>
            <a:r>
              <a:t>To close, RIGOR starts from the structure of a relational database and produces a semantically enriched ontology, iteratively and with validation before integration. The schema provides the structural anchor, retrieval supplies meaning, and the growing ontology helps guide subsequent tables. Thank you for your attention. I would be happy to take questions; the paper and code are available using the QR codes, and you can contact me by email.</a:t>
            </a:r>
          </a:p>
          <a:p/>
          <a:p>
            <a:r>
              <a:t>PRESENTER CUE</a:t>
            </a:r>
          </a:p>
          <a:p>
            <a:r>
              <a:t>Finish speaking before 14:30. Leave this slide projected throughout questions. QR images are preserved from the original deck.</a:t>
            </a:r>
          </a:p>
          <a:p>
            <a:r>
              <a:t>SOURCE: conceptual recap from the RIGOR paper and user-provided contact address.</a:t>
            </a:r>
          </a:p>
        </p:txBody>
      </p:sp>
      <p:sp>
        <p:nvSpPr>
          <p:cNvPr id="1034" name="Google Shape;1034;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bg>
      <p:bgPr>
        <a:solidFill>
          <a:srgbClr val="F2F4F7"/>
        </a:solidFill>
      </p:bgPr>
    </p:bg>
    <p:spTree>
      <p:nvGrpSpPr>
        <p:cNvPr id="12" name="Shape 12"/>
        <p:cNvGrpSpPr/>
        <p:nvPr/>
      </p:nvGrpSpPr>
      <p:grpSpPr>
        <a:xfrm>
          <a:off x="0" y="0"/>
          <a:ext cx="0" cy="0"/>
          <a:chOff x="0" y="0"/>
          <a:chExt cx="0" cy="0"/>
        </a:xfrm>
      </p:grpSpPr>
      <p:sp>
        <p:nvSpPr>
          <p:cNvPr id="13" name="Google Shape;13;p25"/>
          <p:cNvSpPr txBox="1"/>
          <p:nvPr>
            <p:ph type="title"/>
          </p:nvPr>
        </p:nvSpPr>
        <p:spPr>
          <a:xfrm>
            <a:off x="812800" y="1153120"/>
            <a:ext cx="10566400" cy="39112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111A28"/>
              </a:buClr>
              <a:buSzPts val="2800"/>
              <a:buFont typeface="IBM Plex Sans"/>
              <a:buNone/>
              <a:defRPr sz="2800">
                <a:solidFill>
                  <a:srgbClr val="111A28"/>
                </a:solidFill>
                <a:latin typeface="IBM Plex Sans"/>
                <a:ea typeface="IBM Plex Sans"/>
                <a:cs typeface="IBM Plex Sans"/>
                <a:sym typeface="IBM Plex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 name="Google Shape;14;p25"/>
          <p:cNvSpPr txBox="1"/>
          <p:nvPr>
            <p:ph idx="1" type="body"/>
          </p:nvPr>
        </p:nvSpPr>
        <p:spPr>
          <a:xfrm>
            <a:off x="812800" y="1849041"/>
            <a:ext cx="10566400" cy="4196159"/>
          </a:xfrm>
          <a:prstGeom prst="rect">
            <a:avLst/>
          </a:prstGeom>
          <a:noFill/>
          <a:ln>
            <a:noFill/>
          </a:ln>
        </p:spPr>
        <p:txBody>
          <a:bodyPr anchorCtr="0" anchor="t" bIns="0" lIns="0" spcFirstLastPara="1" rIns="0" wrap="square" tIns="0">
            <a:noAutofit/>
          </a:bodyPr>
          <a:lstStyle>
            <a:lvl1pPr indent="-228600" lvl="0" marL="457200" algn="l">
              <a:lnSpc>
                <a:spcPct val="140000"/>
              </a:lnSpc>
              <a:spcBef>
                <a:spcPts val="320"/>
              </a:spcBef>
              <a:spcAft>
                <a:spcPts val="0"/>
              </a:spcAft>
              <a:buClr>
                <a:srgbClr val="111A28"/>
              </a:buClr>
              <a:buSzPts val="1600"/>
              <a:buNone/>
              <a:defRPr sz="1600">
                <a:solidFill>
                  <a:srgbClr val="111A28"/>
                </a:solidFill>
                <a:latin typeface="IBM Plex Sans"/>
                <a:ea typeface="IBM Plex Sans"/>
                <a:cs typeface="IBM Plex Sans"/>
                <a:sym typeface="IBM Plex Sans"/>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5" name="Shape 15"/>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4F7"/>
        </a:solidFill>
      </p:bgPr>
    </p:bg>
    <p:spTree>
      <p:nvGrpSpPr>
        <p:cNvPr id="9" name="Shape 9"/>
        <p:cNvGrpSpPr/>
        <p:nvPr/>
      </p:nvGrpSpPr>
      <p:grpSpPr>
        <a:xfrm>
          <a:off x="0" y="0"/>
          <a:ext cx="0" cy="0"/>
          <a:chOff x="0" y="0"/>
          <a:chExt cx="0" cy="0"/>
        </a:xfrm>
      </p:grpSpPr>
      <p:sp>
        <p:nvSpPr>
          <p:cNvPr id="10" name="Google Shape;10;p24"/>
          <p:cNvSpPr txBox="1"/>
          <p:nvPr>
            <p:ph type="title"/>
          </p:nvPr>
        </p:nvSpPr>
        <p:spPr>
          <a:xfrm>
            <a:off x="812800" y="1153120"/>
            <a:ext cx="10566400" cy="391120"/>
          </a:xfrm>
          <a:prstGeom prst="rect">
            <a:avLst/>
          </a:prstGeom>
          <a:noFill/>
          <a:ln>
            <a:noFill/>
          </a:ln>
        </p:spPr>
        <p:txBody>
          <a:bodyPr anchorCtr="0" anchor="t" bIns="0" lIns="0" spcFirstLastPara="1" rIns="0" wrap="square" tIns="0">
            <a:noAutofit/>
          </a:bodyPr>
          <a:lstStyle>
            <a:lvl1pPr lvl="0" marR="0" rtl="0" algn="l">
              <a:lnSpc>
                <a:spcPct val="115000"/>
              </a:lnSpc>
              <a:spcBef>
                <a:spcPts val="0"/>
              </a:spcBef>
              <a:spcAft>
                <a:spcPts val="0"/>
              </a:spcAft>
              <a:buClr>
                <a:srgbClr val="111A28"/>
              </a:buClr>
              <a:buSzPts val="2800"/>
              <a:buFont typeface="IBM Plex Sans"/>
              <a:buNone/>
              <a:defRPr b="0" i="0" sz="2800" u="none" cap="none" strike="noStrike">
                <a:solidFill>
                  <a:srgbClr val="111A28"/>
                </a:solidFill>
                <a:latin typeface="IBM Plex Sans"/>
                <a:ea typeface="IBM Plex Sans"/>
                <a:cs typeface="IBM Plex Sans"/>
                <a:sym typeface="IBM Plex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24"/>
          <p:cNvSpPr txBox="1"/>
          <p:nvPr>
            <p:ph idx="1" type="body"/>
          </p:nvPr>
        </p:nvSpPr>
        <p:spPr>
          <a:xfrm>
            <a:off x="812800" y="1849041"/>
            <a:ext cx="10566400" cy="4196159"/>
          </a:xfrm>
          <a:prstGeom prst="rect">
            <a:avLst/>
          </a:prstGeom>
          <a:noFill/>
          <a:ln>
            <a:noFill/>
          </a:ln>
        </p:spPr>
        <p:txBody>
          <a:bodyPr anchorCtr="0" anchor="t" bIns="0" lIns="0" spcFirstLastPara="1" rIns="0" wrap="square" tIns="0">
            <a:noAutofit/>
          </a:bodyPr>
          <a:lstStyle>
            <a:lvl1pPr indent="-228600" lvl="0" marL="457200" marR="0" rtl="0" algn="l">
              <a:lnSpc>
                <a:spcPct val="140000"/>
              </a:lnSpc>
              <a:spcBef>
                <a:spcPts val="320"/>
              </a:spcBef>
              <a:spcAft>
                <a:spcPts val="0"/>
              </a:spcAft>
              <a:buClr>
                <a:srgbClr val="111A28"/>
              </a:buClr>
              <a:buSzPts val="1600"/>
              <a:buFont typeface="Arial"/>
              <a:buNone/>
              <a:defRPr b="0" i="0" sz="1600" u="none" cap="none" strike="noStrike">
                <a:solidFill>
                  <a:srgbClr val="111A28"/>
                </a:solidFill>
                <a:latin typeface="IBM Plex Sans"/>
                <a:ea typeface="IBM Plex Sans"/>
                <a:cs typeface="IBM Plex Sans"/>
                <a:sym typeface="IBM Plex Sans"/>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IBM Plex Sans"/>
                <a:ea typeface="IBM Plex Sans"/>
                <a:cs typeface="IBM Plex Sans"/>
                <a:sym typeface="IBM Plex Sans"/>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IBM Plex Sans"/>
                <a:ea typeface="IBM Plex Sans"/>
                <a:cs typeface="IBM Plex Sans"/>
                <a:sym typeface="IBM Plex Sans"/>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IBM Plex Sans"/>
                <a:ea typeface="IBM Plex Sans"/>
                <a:cs typeface="IBM Plex Sans"/>
                <a:sym typeface="IBM Plex Sans"/>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IBM Plex Sans"/>
                <a:ea typeface="IBM Plex Sans"/>
                <a:cs typeface="IBM Plex Sans"/>
                <a:sym typeface="IBM Plex Sans"/>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IBM Plex Sans"/>
                <a:ea typeface="IBM Plex Sans"/>
                <a:cs typeface="IBM Plex Sans"/>
                <a:sym typeface="IBM Plex Sans"/>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IBM Plex Sans"/>
                <a:ea typeface="IBM Plex Sans"/>
                <a:cs typeface="IBM Plex Sans"/>
                <a:sym typeface="IBM Plex Sans"/>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IBM Plex Sans"/>
                <a:ea typeface="IBM Plex Sans"/>
                <a:cs typeface="IBM Plex Sans"/>
                <a:sym typeface="IBM Plex Sans"/>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IBM Plex Sans"/>
                <a:ea typeface="IBM Plex Sans"/>
                <a:cs typeface="IBM Plex Sans"/>
                <a:sym typeface="IBM Plex Sans"/>
              </a:defRPr>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2.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1726"/>
        </a:solidFill>
      </p:bgPr>
    </p:bg>
    <p:spTree>
      <p:nvGrpSpPr>
        <p:cNvPr id="20" name="Shape 20"/>
        <p:cNvGrpSpPr/>
        <p:nvPr/>
      </p:nvGrpSpPr>
      <p:grpSpPr>
        <a:xfrm>
          <a:off x="0" y="0"/>
          <a:ext cx="0" cy="0"/>
          <a:chOff x="0" y="0"/>
          <a:chExt cx="0" cy="0"/>
        </a:xfrm>
      </p:grpSpPr>
      <p:sp>
        <p:nvSpPr>
          <p:cNvPr id="21" name="Google Shape;21;p1"/>
          <p:cNvSpPr txBox="1"/>
          <p:nvPr/>
        </p:nvSpPr>
        <p:spPr>
          <a:xfrm>
            <a:off x="795528" y="585216"/>
            <a:ext cx="8869680" cy="310896"/>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i="0" lang="en-US" sz="1400" u="none" cap="none" strike="noStrike">
                <a:solidFill>
                  <a:srgbClr val="F4A261"/>
                </a:solidFill>
                <a:latin typeface="IBM Plex Mono"/>
                <a:ea typeface="IBM Plex Mono"/>
                <a:cs typeface="IBM Plex Mono"/>
                <a:sym typeface="IBM Plex Mono"/>
              </a:rPr>
              <a:t>ISWC 2026  /  RESEARCH PAPER</a:t>
            </a:r>
            <a:endParaRPr/>
          </a:p>
        </p:txBody>
      </p:sp>
      <p:sp>
        <p:nvSpPr>
          <p:cNvPr id="22" name="Google Shape;22;p1"/>
          <p:cNvSpPr txBox="1"/>
          <p:nvPr/>
        </p:nvSpPr>
        <p:spPr>
          <a:xfrm>
            <a:off x="795528" y="2267692"/>
            <a:ext cx="7955400" cy="1523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3300" u="none" cap="none" strike="noStrike">
                <a:solidFill>
                  <a:srgbClr val="EDF1F6"/>
                </a:solidFill>
                <a:latin typeface="IBM Plex Sans"/>
                <a:ea typeface="IBM Plex Sans"/>
                <a:cs typeface="IBM Plex Sans"/>
                <a:sym typeface="IBM Plex Sans"/>
              </a:rPr>
              <a:t>Retrieval-Augmented</a:t>
            </a:r>
            <a:endParaRPr/>
          </a:p>
          <a:p>
            <a:pPr indent="0" lvl="0" marL="0" marR="0" rtl="0" algn="l">
              <a:lnSpc>
                <a:spcPct val="100000"/>
              </a:lnSpc>
              <a:spcBef>
                <a:spcPts val="0"/>
              </a:spcBef>
              <a:spcAft>
                <a:spcPts val="0"/>
              </a:spcAft>
              <a:buNone/>
            </a:pPr>
            <a:r>
              <a:rPr b="1" i="0" lang="en-US" sz="3300" u="none" cap="none" strike="noStrike">
                <a:solidFill>
                  <a:srgbClr val="EDF1F6"/>
                </a:solidFill>
                <a:latin typeface="IBM Plex Sans"/>
                <a:ea typeface="IBM Plex Sans"/>
                <a:cs typeface="IBM Plex Sans"/>
                <a:sym typeface="IBM Plex Sans"/>
              </a:rPr>
              <a:t>Generation of Ontologies</a:t>
            </a:r>
            <a:endParaRPr/>
          </a:p>
          <a:p>
            <a:pPr indent="0" lvl="0" marL="0" marR="0" rtl="0" algn="l">
              <a:lnSpc>
                <a:spcPct val="100000"/>
              </a:lnSpc>
              <a:spcBef>
                <a:spcPts val="0"/>
              </a:spcBef>
              <a:spcAft>
                <a:spcPts val="0"/>
              </a:spcAft>
              <a:buNone/>
            </a:pPr>
            <a:r>
              <a:rPr b="1" i="0" lang="en-US" sz="3300" u="none" cap="none" strike="noStrike">
                <a:solidFill>
                  <a:srgbClr val="EDF1F6"/>
                </a:solidFill>
                <a:latin typeface="IBM Plex Sans"/>
                <a:ea typeface="IBM Plex Sans"/>
                <a:cs typeface="IBM Plex Sans"/>
                <a:sym typeface="IBM Plex Sans"/>
              </a:rPr>
              <a:t>from Relati</a:t>
            </a:r>
            <a:r>
              <a:rPr b="1" i="0" lang="en-US" sz="3300" u="none" cap="none" strike="noStrike">
                <a:solidFill>
                  <a:srgbClr val="EDF1F6"/>
                </a:solidFill>
                <a:latin typeface="IBM Plex Sans"/>
                <a:ea typeface="IBM Plex Sans"/>
                <a:cs typeface="IBM Plex Sans"/>
                <a:sym typeface="IBM Plex Sans"/>
              </a:rPr>
              <a:t>o</a:t>
            </a:r>
            <a:r>
              <a:rPr b="1" i="0" lang="en-US" sz="3300" u="none" cap="none" strike="noStrike">
                <a:solidFill>
                  <a:srgbClr val="EDF1F6"/>
                </a:solidFill>
                <a:latin typeface="IBM Plex Sans"/>
                <a:ea typeface="IBM Plex Sans"/>
                <a:cs typeface="IBM Plex Sans"/>
                <a:sym typeface="IBM Plex Sans"/>
              </a:rPr>
              <a:t>nal Databases</a:t>
            </a:r>
            <a:endParaRPr/>
          </a:p>
        </p:txBody>
      </p:sp>
      <p:sp>
        <p:nvSpPr>
          <p:cNvPr id="23" name="Google Shape;23;p1"/>
          <p:cNvSpPr txBox="1"/>
          <p:nvPr/>
        </p:nvSpPr>
        <p:spPr>
          <a:xfrm>
            <a:off x="795463" y="5359389"/>
            <a:ext cx="8869800" cy="6156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600" u="none" cap="none" strike="noStrike">
                <a:solidFill>
                  <a:schemeClr val="lt1"/>
                </a:solidFill>
                <a:latin typeface="IBM Plex Sans"/>
                <a:ea typeface="IBM Plex Sans"/>
                <a:cs typeface="IBM Plex Sans"/>
                <a:sym typeface="IBM Plex Sans"/>
              </a:rPr>
              <a:t>Nadeen Fathallah</a:t>
            </a:r>
            <a:r>
              <a:rPr b="0" i="0" lang="en-US" sz="1600" u="none" cap="none" strike="noStrike">
                <a:solidFill>
                  <a:schemeClr val="lt1"/>
                </a:solidFill>
                <a:latin typeface="IBM Plex Sans"/>
                <a:ea typeface="IBM Plex Sans"/>
                <a:cs typeface="IBM Plex Sans"/>
                <a:sym typeface="IBM Plex Sans"/>
              </a:rPr>
              <a:t>¹ · Mojtaba Nayyeri¹ · Athish A Yogi¹ · Ratan Bahadur Thapa¹ · Hans-Michael Tautenhahn³ · Anton Schnurpel³ · Steffen Staab¹,²</a:t>
            </a:r>
            <a:endParaRPr sz="1600">
              <a:solidFill>
                <a:schemeClr val="lt1"/>
              </a:solidFill>
            </a:endParaRPr>
          </a:p>
        </p:txBody>
      </p:sp>
      <p:sp>
        <p:nvSpPr>
          <p:cNvPr id="24" name="Google Shape;24;p1"/>
          <p:cNvSpPr txBox="1"/>
          <p:nvPr/>
        </p:nvSpPr>
        <p:spPr>
          <a:xfrm>
            <a:off x="695411" y="6109694"/>
            <a:ext cx="10835700" cy="2463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0" i="0" lang="en-US" sz="1600" u="none" cap="none" strike="noStrike">
                <a:solidFill>
                  <a:schemeClr val="lt1"/>
                </a:solidFill>
                <a:latin typeface="IBM Plex Sans"/>
                <a:ea typeface="IBM Plex Sans"/>
                <a:cs typeface="IBM Plex Sans"/>
                <a:sym typeface="IBM Plex Sans"/>
              </a:rPr>
              <a:t>¹ University of Stuttgart   ·   ² University of Southampton   ·   ³ Universitätsklinikum Leipzig</a:t>
            </a:r>
            <a:endParaRPr sz="1600">
              <a:solidFill>
                <a:schemeClr val="lt1"/>
              </a:solidFill>
            </a:endParaRPr>
          </a:p>
        </p:txBody>
      </p:sp>
      <p:sp>
        <p:nvSpPr>
          <p:cNvPr id="25" name="Google Shape;25;p1"/>
          <p:cNvSpPr txBox="1"/>
          <p:nvPr/>
        </p:nvSpPr>
        <p:spPr>
          <a:xfrm>
            <a:off x="795528" y="6482195"/>
            <a:ext cx="10698600" cy="2463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lang="en-US" sz="1600">
                <a:solidFill>
                  <a:schemeClr val="lt1"/>
                </a:solidFill>
                <a:latin typeface="IBM Plex Mono"/>
                <a:ea typeface="IBM Plex Mono"/>
                <a:cs typeface="IBM Plex Mono"/>
                <a:sym typeface="IBM Plex Mono"/>
              </a:rPr>
              <a:t>Paper: </a:t>
            </a:r>
            <a:r>
              <a:rPr b="0" i="0" lang="en-US" sz="1600" u="none" cap="none" strike="noStrike">
                <a:solidFill>
                  <a:schemeClr val="lt1"/>
                </a:solidFill>
                <a:latin typeface="IBM Plex Mono"/>
                <a:ea typeface="IBM Plex Mono"/>
                <a:cs typeface="IBM Plex Mono"/>
                <a:sym typeface="IBM Plex Mono"/>
              </a:rPr>
              <a:t>arXiv:2506.01232  ·  Code</a:t>
            </a:r>
            <a:r>
              <a:rPr lang="en-US" sz="1600">
                <a:solidFill>
                  <a:schemeClr val="lt1"/>
                </a:solidFill>
                <a:latin typeface="IBM Plex Mono"/>
                <a:ea typeface="IBM Plex Mono"/>
                <a:cs typeface="IBM Plex Mono"/>
                <a:sym typeface="IBM Plex Mono"/>
              </a:rPr>
              <a:t>: </a:t>
            </a:r>
            <a:r>
              <a:rPr b="0" i="0" lang="en-US" sz="1600" u="none" cap="none" strike="noStrike">
                <a:solidFill>
                  <a:schemeClr val="lt1"/>
                </a:solidFill>
                <a:latin typeface="IBM Plex Mono"/>
                <a:ea typeface="IBM Plex Mono"/>
                <a:cs typeface="IBM Plex Mono"/>
                <a:sym typeface="IBM Plex Mono"/>
              </a:rPr>
              <a:t>github.com/NadeenAhmad/RIGOR</a:t>
            </a:r>
            <a:endParaRPr sz="1600">
              <a:solidFill>
                <a:schemeClr val="lt1"/>
              </a:solidFill>
            </a:endParaRPr>
          </a:p>
        </p:txBody>
      </p:sp>
      <p:pic>
        <p:nvPicPr>
          <p:cNvPr descr="Motif: rows of a database table linked to nodes of a graph; one highlighted row links to a highlighted node" id="26" name="Google Shape;26;p1"/>
          <p:cNvPicPr preferRelativeResize="0"/>
          <p:nvPr/>
        </p:nvPicPr>
        <p:blipFill rotWithShape="1">
          <a:blip r:embed="rId3">
            <a:alphaModFix/>
          </a:blip>
          <a:srcRect b="0" l="0" r="0" t="0"/>
          <a:stretch/>
        </p:blipFill>
        <p:spPr>
          <a:xfrm>
            <a:off x="6721972" y="793871"/>
            <a:ext cx="4433648" cy="3965047"/>
          </a:xfrm>
          <a:prstGeom prst="rect">
            <a:avLst/>
          </a:prstGeom>
          <a:noFill/>
          <a:ln>
            <a:noFill/>
          </a:ln>
        </p:spPr>
      </p:pic>
      <p:sp>
        <p:nvSpPr>
          <p:cNvPr id="27" name="Google Shape;27;p1"/>
          <p:cNvSpPr txBox="1"/>
          <p:nvPr/>
        </p:nvSpPr>
        <p:spPr>
          <a:xfrm>
            <a:off x="6350050" y="4377934"/>
            <a:ext cx="2943000" cy="271200"/>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None/>
            </a:pPr>
            <a:r>
              <a:rPr lang="en-US" sz="1761">
                <a:solidFill>
                  <a:schemeClr val="lt1"/>
                </a:solidFill>
                <a:latin typeface="IBM Plex Mono"/>
                <a:ea typeface="IBM Plex Mono"/>
                <a:cs typeface="IBM Plex Mono"/>
                <a:sym typeface="IBM Plex Mono"/>
              </a:rPr>
              <a:t>Relational Database</a:t>
            </a:r>
            <a:endParaRPr sz="1761">
              <a:solidFill>
                <a:schemeClr val="lt1"/>
              </a:solidFill>
            </a:endParaRPr>
          </a:p>
        </p:txBody>
      </p:sp>
      <p:sp>
        <p:nvSpPr>
          <p:cNvPr id="28" name="Google Shape;28;p1"/>
          <p:cNvSpPr txBox="1"/>
          <p:nvPr/>
        </p:nvSpPr>
        <p:spPr>
          <a:xfrm>
            <a:off x="9011081" y="4649040"/>
            <a:ext cx="2943000" cy="271200"/>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None/>
            </a:pPr>
            <a:r>
              <a:rPr lang="en-US" sz="1761">
                <a:solidFill>
                  <a:schemeClr val="lt1"/>
                </a:solidFill>
                <a:latin typeface="IBM Plex Mono"/>
                <a:ea typeface="IBM Plex Mono"/>
                <a:cs typeface="IBM Plex Mono"/>
                <a:sym typeface="IBM Plex Mono"/>
              </a:rPr>
              <a:t>Ontology</a:t>
            </a:r>
            <a:endParaRPr sz="1761">
              <a:solidFill>
                <a:schemeClr val="lt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1726"/>
        </a:solidFill>
      </p:bgPr>
    </p:bg>
    <p:spTree>
      <p:nvGrpSpPr>
        <p:cNvPr id="33" name="Shape 33"/>
        <p:cNvGrpSpPr/>
        <p:nvPr/>
      </p:nvGrpSpPr>
      <p:grpSpPr>
        <a:xfrm>
          <a:off x="0" y="0"/>
          <a:ext cx="0" cy="0"/>
          <a:chOff x="0" y="0"/>
          <a:chExt cx="0" cy="0"/>
        </a:xfrm>
      </p:grpSpPr>
      <p:sp>
        <p:nvSpPr>
          <p:cNvPr id="34" name="Google Shape;34;p2"/>
          <p:cNvSpPr txBox="1"/>
          <p:nvPr/>
        </p:nvSpPr>
        <p:spPr>
          <a:xfrm>
            <a:off x="804672" y="521207"/>
            <a:ext cx="10789920" cy="310896"/>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i="0" lang="en-US" sz="1400" u="none" cap="none" strike="noStrike">
                <a:solidFill>
                  <a:srgbClr val="F4A261"/>
                </a:solidFill>
                <a:latin typeface="IBM Plex Mono"/>
                <a:ea typeface="IBM Plex Mono"/>
                <a:cs typeface="IBM Plex Mono"/>
                <a:sym typeface="IBM Plex Mono"/>
              </a:rPr>
              <a:t>MOTIVATION  /  ILLUSTRATIVE CLINICAL EXAMPLE</a:t>
            </a:r>
            <a:endParaRPr/>
          </a:p>
        </p:txBody>
      </p:sp>
      <p:sp>
        <p:nvSpPr>
          <p:cNvPr id="35" name="Google Shape;35;p2"/>
          <p:cNvSpPr txBox="1"/>
          <p:nvPr/>
        </p:nvSpPr>
        <p:spPr>
          <a:xfrm>
            <a:off x="804672" y="932688"/>
            <a:ext cx="10762488" cy="89611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3000" u="none" cap="none" strike="noStrike">
                <a:solidFill>
                  <a:srgbClr val="EDF1F6"/>
                </a:solidFill>
                <a:latin typeface="IBM Plex Sans"/>
                <a:ea typeface="IBM Plex Sans"/>
                <a:cs typeface="IBM Plex Sans"/>
                <a:sym typeface="IBM Plex Sans"/>
              </a:rPr>
              <a:t>A database can tell us how data is stored.</a:t>
            </a:r>
            <a:endParaRPr/>
          </a:p>
          <a:p>
            <a:pPr indent="0" lvl="0" marL="0" marR="0" rtl="0" algn="l">
              <a:lnSpc>
                <a:spcPct val="100000"/>
              </a:lnSpc>
              <a:spcBef>
                <a:spcPts val="0"/>
              </a:spcBef>
              <a:spcAft>
                <a:spcPts val="0"/>
              </a:spcAft>
              <a:buNone/>
            </a:pPr>
            <a:r>
              <a:rPr b="1" i="0" lang="en-US" sz="3000" u="none" cap="none" strike="noStrike">
                <a:solidFill>
                  <a:srgbClr val="EDF1F6"/>
                </a:solidFill>
                <a:latin typeface="IBM Plex Sans"/>
                <a:ea typeface="IBM Plex Sans"/>
                <a:cs typeface="IBM Plex Sans"/>
                <a:sym typeface="IBM Plex Sans"/>
              </a:rPr>
              <a:t>Can it tell us what the data means?</a:t>
            </a:r>
            <a:endParaRPr/>
          </a:p>
        </p:txBody>
      </p:sp>
      <p:sp>
        <p:nvSpPr>
          <p:cNvPr id="36" name="Google Shape;36;p2"/>
          <p:cNvSpPr/>
          <p:nvPr/>
        </p:nvSpPr>
        <p:spPr>
          <a:xfrm>
            <a:off x="804672" y="2048256"/>
            <a:ext cx="5486400" cy="3273552"/>
          </a:xfrm>
          <a:prstGeom prst="roundRect">
            <a:avLst>
              <a:gd fmla="val 10000" name="adj"/>
            </a:avLst>
          </a:prstGeom>
          <a:solidFill>
            <a:srgbClr val="18273E"/>
          </a:solidFill>
          <a:ln cap="flat" cmpd="sng" w="12700">
            <a:solidFill>
              <a:srgbClr val="263A5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BM Plex Sans"/>
              <a:ea typeface="IBM Plex Sans"/>
              <a:cs typeface="IBM Plex Sans"/>
              <a:sym typeface="IBM Plex Sans"/>
            </a:endParaRPr>
          </a:p>
        </p:txBody>
      </p:sp>
      <p:sp>
        <p:nvSpPr>
          <p:cNvPr id="37" name="Google Shape;37;p2"/>
          <p:cNvSpPr txBox="1"/>
          <p:nvPr/>
        </p:nvSpPr>
        <p:spPr>
          <a:xfrm>
            <a:off x="1069848" y="2276856"/>
            <a:ext cx="4928616" cy="27432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i="0" lang="en-US" sz="1500" u="none" cap="none" strike="noStrike">
                <a:solidFill>
                  <a:srgbClr val="9AA6B8"/>
                </a:solidFill>
                <a:latin typeface="IBM Plex Mono"/>
                <a:ea typeface="IBM Plex Mono"/>
                <a:cs typeface="IBM Plex Mono"/>
                <a:sym typeface="IBM Plex Mono"/>
              </a:rPr>
              <a:t>RELATIONAL SCHEMA · EXCERPT</a:t>
            </a:r>
            <a:endParaRPr/>
          </a:p>
        </p:txBody>
      </p:sp>
      <p:sp>
        <p:nvSpPr>
          <p:cNvPr id="50" name="Google Shape;50;p2"/>
          <p:cNvSpPr txBox="1"/>
          <p:nvPr/>
        </p:nvSpPr>
        <p:spPr>
          <a:xfrm>
            <a:off x="6665976" y="2176272"/>
            <a:ext cx="4809744" cy="292608"/>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i="0" lang="en-US" sz="1520" u="none" cap="none" strike="noStrike">
                <a:solidFill>
                  <a:srgbClr val="9AA6B8"/>
                </a:solidFill>
                <a:latin typeface="IBM Plex Mono"/>
                <a:ea typeface="IBM Plex Mono"/>
                <a:cs typeface="IBM Plex Mono"/>
                <a:sym typeface="IBM Plex Mono"/>
              </a:rPr>
              <a:t>WHAT WE STILL NEED TO UNDERSTAND</a:t>
            </a:r>
            <a:endParaRPr/>
          </a:p>
        </p:txBody>
      </p:sp>
      <p:sp>
        <p:nvSpPr>
          <p:cNvPr id="51" name="Google Shape;51;p2"/>
          <p:cNvSpPr/>
          <p:nvPr/>
        </p:nvSpPr>
        <p:spPr>
          <a:xfrm>
            <a:off x="6684264" y="2642616"/>
            <a:ext cx="4718304" cy="795528"/>
          </a:xfrm>
          <a:prstGeom prst="roundRect">
            <a:avLst>
              <a:gd fmla="val 10000" name="adj"/>
            </a:avLst>
          </a:prstGeom>
          <a:solidFill>
            <a:srgbClr val="21314A"/>
          </a:solidFill>
          <a:ln cap="flat" cmpd="sng" w="12700">
            <a:solidFill>
              <a:srgbClr val="263A5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BM Plex Sans"/>
              <a:ea typeface="IBM Plex Sans"/>
              <a:cs typeface="IBM Plex Sans"/>
              <a:sym typeface="IBM Plex Sans"/>
            </a:endParaRPr>
          </a:p>
        </p:txBody>
      </p:sp>
      <p:sp>
        <p:nvSpPr>
          <p:cNvPr id="52" name="Google Shape;52;p2"/>
          <p:cNvSpPr/>
          <p:nvPr/>
        </p:nvSpPr>
        <p:spPr>
          <a:xfrm>
            <a:off x="6858000" y="2880360"/>
            <a:ext cx="310896" cy="310896"/>
          </a:xfrm>
          <a:prstGeom prst="ellipse">
            <a:avLst/>
          </a:prstGeom>
          <a:solidFill>
            <a:srgbClr val="263A56"/>
          </a:solidFill>
          <a:ln cap="flat" cmpd="sng" w="12700">
            <a:solidFill>
              <a:srgbClr val="7799F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BM Plex Sans"/>
              <a:ea typeface="IBM Plex Sans"/>
              <a:cs typeface="IBM Plex Sans"/>
              <a:sym typeface="IBM Plex Sans"/>
            </a:endParaRPr>
          </a:p>
        </p:txBody>
      </p:sp>
      <p:sp>
        <p:nvSpPr>
          <p:cNvPr id="53" name="Google Shape;53;p2"/>
          <p:cNvSpPr txBox="1"/>
          <p:nvPr/>
        </p:nvSpPr>
        <p:spPr>
          <a:xfrm>
            <a:off x="6894576" y="2880360"/>
            <a:ext cx="310896" cy="256032"/>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None/>
            </a:pPr>
            <a:r>
              <a:rPr b="1" i="0" lang="en-US" sz="1400" u="none" cap="none" strike="noStrike">
                <a:solidFill>
                  <a:srgbClr val="7799F0"/>
                </a:solidFill>
                <a:latin typeface="IBM Plex Mono"/>
                <a:ea typeface="IBM Plex Mono"/>
                <a:cs typeface="IBM Plex Mono"/>
                <a:sym typeface="IBM Plex Mono"/>
              </a:rPr>
              <a:t>01</a:t>
            </a:r>
            <a:endParaRPr/>
          </a:p>
        </p:txBody>
      </p:sp>
      <p:sp>
        <p:nvSpPr>
          <p:cNvPr id="54" name="Google Shape;54;p2"/>
          <p:cNvSpPr txBox="1"/>
          <p:nvPr/>
        </p:nvSpPr>
        <p:spPr>
          <a:xfrm>
            <a:off x="7324344" y="2761488"/>
            <a:ext cx="1408176"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1500" u="none" cap="none" strike="noStrike">
                <a:solidFill>
                  <a:srgbClr val="F4A261"/>
                </a:solidFill>
                <a:latin typeface="IBM Plex Mono"/>
                <a:ea typeface="IBM Plex Mono"/>
                <a:cs typeface="IBM Plex Mono"/>
                <a:sym typeface="IBM Plex Mono"/>
              </a:rPr>
              <a:t>patient_id</a:t>
            </a:r>
            <a:endParaRPr/>
          </a:p>
        </p:txBody>
      </p:sp>
      <p:sp>
        <p:nvSpPr>
          <p:cNvPr id="55" name="Google Shape;55;p2"/>
          <p:cNvSpPr txBox="1"/>
          <p:nvPr/>
        </p:nvSpPr>
        <p:spPr>
          <a:xfrm>
            <a:off x="8677656" y="2752344"/>
            <a:ext cx="2596896" cy="557784"/>
          </a:xfrm>
          <a:prstGeom prst="rect">
            <a:avLst/>
          </a:prstGeom>
          <a:noFill/>
          <a:ln>
            <a:noFill/>
          </a:ln>
        </p:spPr>
        <p:txBody>
          <a:bodyPr anchorCtr="0" anchor="ctr" bIns="0" lIns="0" spcFirstLastPara="1" rIns="0" wrap="none" tIns="0">
            <a:spAutoFit/>
          </a:bodyPr>
          <a:lstStyle/>
          <a:p>
            <a:pPr indent="0" lvl="0" marL="0" marR="0" rtl="0" algn="l">
              <a:lnSpc>
                <a:spcPct val="100000"/>
              </a:lnSpc>
              <a:spcBef>
                <a:spcPts val="0"/>
              </a:spcBef>
              <a:spcAft>
                <a:spcPts val="0"/>
              </a:spcAft>
              <a:buNone/>
            </a:pPr>
            <a:r>
              <a:rPr sz="1450">
                <a:solidFill>
                  <a:srgbClr val="EDF1F6"/>
                </a:solidFill>
                <a:latin typeface="IBM Plex Sans"/>
              </a:rPr>
              <a:t>How do we represent the link</a:t>
            </a:r>
            <a:endParaRPr/>
          </a:p>
          <a:p>
            <a:pPr algn="l">
              <a:spcBef>
                <a:spcPts val="0"/>
              </a:spcBef>
              <a:spcAft>
                <a:spcPts val="0"/>
              </a:spcAft>
            </a:pPr>
            <a:r>
              <a:rPr sz="1450">
                <a:solidFill>
                  <a:srgbClr val="EDF1F6"/>
                </a:solidFill>
                <a:latin typeface="IBM Plex Sans"/>
              </a:rPr>
              <a:t>from an admission to its patient?</a:t>
            </a:r>
          </a:p>
        </p:txBody>
      </p:sp>
      <p:sp>
        <p:nvSpPr>
          <p:cNvPr id="56" name="Google Shape;56;p2"/>
          <p:cNvSpPr/>
          <p:nvPr/>
        </p:nvSpPr>
        <p:spPr>
          <a:xfrm>
            <a:off x="6684264" y="3557016"/>
            <a:ext cx="4718304" cy="795528"/>
          </a:xfrm>
          <a:prstGeom prst="roundRect">
            <a:avLst>
              <a:gd fmla="val 10000" name="adj"/>
            </a:avLst>
          </a:prstGeom>
          <a:solidFill>
            <a:srgbClr val="21314A"/>
          </a:solidFill>
          <a:ln cap="flat" cmpd="sng" w="12700">
            <a:solidFill>
              <a:srgbClr val="263A5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BM Plex Sans"/>
              <a:ea typeface="IBM Plex Sans"/>
              <a:cs typeface="IBM Plex Sans"/>
              <a:sym typeface="IBM Plex Sans"/>
            </a:endParaRPr>
          </a:p>
        </p:txBody>
      </p:sp>
      <p:sp>
        <p:nvSpPr>
          <p:cNvPr id="57" name="Google Shape;57;p2"/>
          <p:cNvSpPr/>
          <p:nvPr/>
        </p:nvSpPr>
        <p:spPr>
          <a:xfrm>
            <a:off x="6858000" y="3794760"/>
            <a:ext cx="310896" cy="310896"/>
          </a:xfrm>
          <a:prstGeom prst="ellipse">
            <a:avLst/>
          </a:prstGeom>
          <a:solidFill>
            <a:srgbClr val="263A56"/>
          </a:solidFill>
          <a:ln cap="flat" cmpd="sng" w="12700">
            <a:solidFill>
              <a:srgbClr val="7799F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BM Plex Sans"/>
              <a:ea typeface="IBM Plex Sans"/>
              <a:cs typeface="IBM Plex Sans"/>
              <a:sym typeface="IBM Plex Sans"/>
            </a:endParaRPr>
          </a:p>
        </p:txBody>
      </p:sp>
      <p:sp>
        <p:nvSpPr>
          <p:cNvPr id="58" name="Google Shape;58;p2"/>
          <p:cNvSpPr txBox="1"/>
          <p:nvPr/>
        </p:nvSpPr>
        <p:spPr>
          <a:xfrm>
            <a:off x="6894576" y="3794760"/>
            <a:ext cx="310896" cy="256032"/>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None/>
            </a:pPr>
            <a:r>
              <a:rPr b="1" i="0" lang="en-US" sz="1400" u="none" cap="none" strike="noStrike">
                <a:solidFill>
                  <a:srgbClr val="7799F0"/>
                </a:solidFill>
                <a:latin typeface="IBM Plex Mono"/>
                <a:ea typeface="IBM Plex Mono"/>
                <a:cs typeface="IBM Plex Mono"/>
                <a:sym typeface="IBM Plex Mono"/>
              </a:rPr>
              <a:t>02</a:t>
            </a:r>
            <a:endParaRPr/>
          </a:p>
        </p:txBody>
      </p:sp>
      <p:sp>
        <p:nvSpPr>
          <p:cNvPr id="59" name="Google Shape;59;p2"/>
          <p:cNvSpPr txBox="1"/>
          <p:nvPr/>
        </p:nvSpPr>
        <p:spPr>
          <a:xfrm>
            <a:off x="7324344" y="3675888"/>
            <a:ext cx="1408176"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1500" u="none" cap="none" strike="noStrike">
                <a:solidFill>
                  <a:srgbClr val="F4A261"/>
                </a:solidFill>
                <a:latin typeface="IBM Plex Mono"/>
                <a:ea typeface="IBM Plex Mono"/>
                <a:cs typeface="IBM Plex Mono"/>
                <a:sym typeface="IBM Plex Mono"/>
              </a:rPr>
              <a:t>BM_DEP</a:t>
            </a:r>
            <a:endParaRPr/>
          </a:p>
        </p:txBody>
      </p:sp>
      <p:sp>
        <p:nvSpPr>
          <p:cNvPr id="60" name="Google Shape;60;p2"/>
          <p:cNvSpPr txBox="1"/>
          <p:nvPr/>
        </p:nvSpPr>
        <p:spPr>
          <a:xfrm>
            <a:off x="8695944" y="3639312"/>
            <a:ext cx="2514600" cy="57607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sz="1500" u="none" cap="none" strike="noStrike">
                <a:solidFill>
                  <a:srgbClr val="EDF1F6"/>
                </a:solidFill>
                <a:latin typeface="IBM Plex Sans"/>
                <a:ea typeface="IBM Plex Sans"/>
                <a:cs typeface="IBM Plex Sans"/>
                <a:sym typeface="IBM Plex Sans"/>
              </a:rPr>
              <a:t>Which clinical concept</a:t>
            </a:r>
            <a:endParaRPr/>
          </a:p>
          <a:p>
            <a:pPr indent="0" lvl="0" marL="0" marR="0" rtl="0" algn="l">
              <a:lnSpc>
                <a:spcPct val="100000"/>
              </a:lnSpc>
              <a:spcBef>
                <a:spcPts val="0"/>
              </a:spcBef>
              <a:spcAft>
                <a:spcPts val="0"/>
              </a:spcAft>
              <a:buNone/>
            </a:pPr>
            <a:r>
              <a:rPr b="0" i="0" lang="en-US" sz="1500" u="none" cap="none" strike="noStrike">
                <a:solidFill>
                  <a:srgbClr val="EDF1F6"/>
                </a:solidFill>
                <a:latin typeface="IBM Plex Sans"/>
                <a:ea typeface="IBM Plex Sans"/>
                <a:cs typeface="IBM Plex Sans"/>
                <a:sym typeface="IBM Plex Sans"/>
              </a:rPr>
              <a:t>does this abbreviation mean?</a:t>
            </a:r>
            <a:endParaRPr/>
          </a:p>
        </p:txBody>
      </p:sp>
      <p:sp>
        <p:nvSpPr>
          <p:cNvPr id="61" name="Google Shape;61;p2"/>
          <p:cNvSpPr/>
          <p:nvPr/>
        </p:nvSpPr>
        <p:spPr>
          <a:xfrm>
            <a:off x="6684264" y="4471416"/>
            <a:ext cx="4718304" cy="795528"/>
          </a:xfrm>
          <a:prstGeom prst="roundRect">
            <a:avLst>
              <a:gd fmla="val 10000" name="adj"/>
            </a:avLst>
          </a:prstGeom>
          <a:solidFill>
            <a:srgbClr val="21314A"/>
          </a:solidFill>
          <a:ln cap="flat" cmpd="sng" w="12700">
            <a:solidFill>
              <a:srgbClr val="263A5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BM Plex Sans"/>
              <a:ea typeface="IBM Plex Sans"/>
              <a:cs typeface="IBM Plex Sans"/>
              <a:sym typeface="IBM Plex Sans"/>
            </a:endParaRPr>
          </a:p>
        </p:txBody>
      </p:sp>
      <p:sp>
        <p:nvSpPr>
          <p:cNvPr id="62" name="Google Shape;62;p2"/>
          <p:cNvSpPr/>
          <p:nvPr/>
        </p:nvSpPr>
        <p:spPr>
          <a:xfrm>
            <a:off x="6858000" y="4709160"/>
            <a:ext cx="310896" cy="310896"/>
          </a:xfrm>
          <a:prstGeom prst="ellipse">
            <a:avLst/>
          </a:prstGeom>
          <a:solidFill>
            <a:srgbClr val="263A56"/>
          </a:solidFill>
          <a:ln cap="flat" cmpd="sng" w="12700">
            <a:solidFill>
              <a:srgbClr val="7799F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BM Plex Sans"/>
              <a:ea typeface="IBM Plex Sans"/>
              <a:cs typeface="IBM Plex Sans"/>
              <a:sym typeface="IBM Plex Sans"/>
            </a:endParaRPr>
          </a:p>
        </p:txBody>
      </p:sp>
      <p:sp>
        <p:nvSpPr>
          <p:cNvPr id="63" name="Google Shape;63;p2"/>
          <p:cNvSpPr txBox="1"/>
          <p:nvPr/>
        </p:nvSpPr>
        <p:spPr>
          <a:xfrm>
            <a:off x="6894576" y="4709160"/>
            <a:ext cx="310896" cy="256032"/>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None/>
            </a:pPr>
            <a:r>
              <a:rPr b="1" i="0" lang="en-US" sz="1400" u="none" cap="none" strike="noStrike">
                <a:solidFill>
                  <a:srgbClr val="7799F0"/>
                </a:solidFill>
                <a:latin typeface="IBM Plex Mono"/>
                <a:ea typeface="IBM Plex Mono"/>
                <a:cs typeface="IBM Plex Mono"/>
                <a:sym typeface="IBM Plex Mono"/>
              </a:rPr>
              <a:t>03</a:t>
            </a:r>
            <a:endParaRPr/>
          </a:p>
        </p:txBody>
      </p:sp>
      <p:sp>
        <p:nvSpPr>
          <p:cNvPr id="64" name="Google Shape;64;p2"/>
          <p:cNvSpPr txBox="1"/>
          <p:nvPr/>
        </p:nvSpPr>
        <p:spPr>
          <a:xfrm>
            <a:off x="7324344" y="4590288"/>
            <a:ext cx="1408176"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1500" u="none" cap="none" strike="noStrike">
                <a:solidFill>
                  <a:srgbClr val="F4A261"/>
                </a:solidFill>
                <a:latin typeface="IBM Plex Mono"/>
                <a:ea typeface="IBM Plex Mono"/>
                <a:cs typeface="IBM Plex Mono"/>
                <a:sym typeface="IBM Plex Mono"/>
              </a:rPr>
              <a:t>ecog_stage</a:t>
            </a:r>
            <a:endParaRPr/>
          </a:p>
        </p:txBody>
      </p:sp>
      <p:sp>
        <p:nvSpPr>
          <p:cNvPr id="65" name="Google Shape;65;p2"/>
          <p:cNvSpPr txBox="1"/>
          <p:nvPr/>
        </p:nvSpPr>
        <p:spPr>
          <a:xfrm>
            <a:off x="8695944" y="4553712"/>
            <a:ext cx="2514600" cy="57607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sz="1500" u="none" cap="none" strike="noStrike">
                <a:solidFill>
                  <a:srgbClr val="EDF1F6"/>
                </a:solidFill>
                <a:latin typeface="IBM Plex Sans"/>
                <a:ea typeface="IBM Plex Sans"/>
                <a:cs typeface="IBM Plex Sans"/>
                <a:sym typeface="IBM Plex Sans"/>
              </a:rPr>
              <a:t>What do the encoded</a:t>
            </a:r>
            <a:endParaRPr/>
          </a:p>
          <a:p>
            <a:pPr indent="0" lvl="0" marL="0" marR="0" rtl="0" algn="l">
              <a:lnSpc>
                <a:spcPct val="100000"/>
              </a:lnSpc>
              <a:spcBef>
                <a:spcPts val="0"/>
              </a:spcBef>
              <a:spcAft>
                <a:spcPts val="0"/>
              </a:spcAft>
              <a:buNone/>
            </a:pPr>
            <a:r>
              <a:rPr b="0" i="0" lang="en-US" sz="1500" u="none" cap="none" strike="noStrike">
                <a:solidFill>
                  <a:srgbClr val="EDF1F6"/>
                </a:solidFill>
                <a:latin typeface="IBM Plex Sans"/>
                <a:ea typeface="IBM Plex Sans"/>
                <a:cs typeface="IBM Plex Sans"/>
                <a:sym typeface="IBM Plex Sans"/>
              </a:rPr>
              <a:t>score values mean?</a:t>
            </a:r>
            <a:endParaRPr/>
          </a:p>
        </p:txBody>
      </p:sp>
      <p:sp>
        <p:nvSpPr>
          <p:cNvPr id="66" name="Google Shape;66;p2"/>
          <p:cNvSpPr txBox="1"/>
          <p:nvPr/>
        </p:nvSpPr>
        <p:spPr>
          <a:xfrm>
            <a:off x="804672" y="5632704"/>
            <a:ext cx="10588752" cy="32918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1600" u="none" cap="none" strike="noStrike">
                <a:solidFill>
                  <a:srgbClr val="EDF1F6"/>
                </a:solidFill>
                <a:latin typeface="IBM Plex Sans"/>
                <a:ea typeface="IBM Plex Sans"/>
                <a:cs typeface="IBM Plex Sans"/>
                <a:sym typeface="IBM Plex Sans"/>
              </a:rPr>
              <a:t>Those meanings matter for ontology-based access, knowledge graphs and integration.</a:t>
            </a:r>
            <a:endParaRPr/>
          </a:p>
        </p:txBody>
      </p:sp>
      <p:sp>
        <p:nvSpPr>
          <p:cNvPr id="67" name="Google Shape;67;p2"/>
          <p:cNvSpPr txBox="1"/>
          <p:nvPr/>
        </p:nvSpPr>
        <p:spPr>
          <a:xfrm>
            <a:off x="4992624" y="3218688"/>
            <a:ext cx="704088" cy="29260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50" u="none" cap="none" strike="noStrike">
                <a:solidFill>
                  <a:srgbClr val="C9D2DE"/>
                </a:solidFill>
                <a:latin typeface="IBM Plex Mono"/>
                <a:ea typeface="IBM Plex Mono"/>
                <a:cs typeface="IBM Plex Mono"/>
                <a:sym typeface="IBM Plex Mono"/>
              </a:rPr>
              <a:t>FK</a:t>
            </a:r>
            <a:endParaRPr/>
          </a:p>
        </p:txBody>
      </p:sp>
      <p:sp>
        <p:nvSpPr>
          <p:cNvPr id="68" name="Google Shape;68;p2"/>
          <p:cNvSpPr txBox="1"/>
          <p:nvPr/>
        </p:nvSpPr>
        <p:spPr>
          <a:xfrm>
            <a:off x="4992624" y="3575304"/>
            <a:ext cx="704088" cy="29260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550">
                <a:solidFill>
                  <a:srgbClr val="C9D2DE"/>
                </a:solidFill>
                <a:latin typeface="IBM Plex Mono"/>
                <a:ea typeface="IBM Plex Mono"/>
                <a:cs typeface="IBM Plex Mono"/>
                <a:sym typeface="IBM Plex Mono"/>
              </a:rPr>
              <a:t>INT</a:t>
            </a:r>
            <a:endParaRPr/>
          </a:p>
        </p:txBody>
      </p:sp>
      <p:sp>
        <p:nvSpPr>
          <p:cNvPr id="69" name="Google Shape;69;p2"/>
          <p:cNvSpPr txBox="1"/>
          <p:nvPr/>
        </p:nvSpPr>
        <p:spPr>
          <a:xfrm>
            <a:off x="4992624" y="3931920"/>
            <a:ext cx="704088" cy="29260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550">
                <a:solidFill>
                  <a:srgbClr val="C9D2DE"/>
                </a:solidFill>
                <a:latin typeface="IBM Plex Mono"/>
                <a:ea typeface="IBM Plex Mono"/>
                <a:cs typeface="IBM Plex Mono"/>
                <a:sym typeface="IBM Plex Mono"/>
              </a:rPr>
              <a:t>INT</a:t>
            </a:r>
            <a:endParaRPr/>
          </a:p>
        </p:txBody>
      </p:sp>
      <p:sp>
        <p:nvSpPr>
          <p:cNvPr id="70" name="Rounded Rectangle 69"/>
          <p:cNvSpPr/>
          <p:nvPr/>
        </p:nvSpPr>
        <p:spPr>
          <a:xfrm>
            <a:off x="1051560" y="2660904"/>
            <a:ext cx="1883664" cy="1673352"/>
          </a:xfrm>
          <a:prstGeom prst="roundRect">
            <a:avLst/>
          </a:prstGeom>
          <a:solidFill>
            <a:srgbClr val="263A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ounded Rectangle 70"/>
          <p:cNvSpPr/>
          <p:nvPr/>
        </p:nvSpPr>
        <p:spPr>
          <a:xfrm>
            <a:off x="3383280" y="2660904"/>
            <a:ext cx="2615184" cy="1673352"/>
          </a:xfrm>
          <a:prstGeom prst="roundRect">
            <a:avLst/>
          </a:prstGeom>
          <a:solidFill>
            <a:srgbClr val="263A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1197864" y="2770632"/>
            <a:ext cx="1655064" cy="292608"/>
          </a:xfrm>
          <a:prstGeom prst="rect">
            <a:avLst/>
          </a:prstGeom>
          <a:noFill/>
        </p:spPr>
        <p:txBody>
          <a:bodyPr wrap="square" lIns="0" rIns="0" tIns="0" bIns="0" anchor="ctr">
            <a:spAutoFit/>
          </a:bodyPr>
          <a:lstStyle/>
          <a:p>
            <a:pPr algn="l"/>
            <a:r>
              <a:rPr sz="1900" b="1">
                <a:solidFill>
                  <a:srgbClr val="EBEFF5"/>
                </a:solidFill>
                <a:latin typeface="Aptos"/>
              </a:rPr>
              <a:t>PatientData</a:t>
            </a:r>
          </a:p>
        </p:txBody>
      </p:sp>
      <p:sp>
        <p:nvSpPr>
          <p:cNvPr id="73" name="TextBox 72"/>
          <p:cNvSpPr txBox="1"/>
          <p:nvPr/>
        </p:nvSpPr>
        <p:spPr>
          <a:xfrm>
            <a:off x="3547872" y="2770632"/>
            <a:ext cx="2267712" cy="292608"/>
          </a:xfrm>
          <a:prstGeom prst="rect">
            <a:avLst/>
          </a:prstGeom>
          <a:noFill/>
        </p:spPr>
        <p:txBody>
          <a:bodyPr wrap="square" lIns="0" rIns="0" tIns="0" bIns="0" anchor="ctr">
            <a:spAutoFit/>
          </a:bodyPr>
          <a:lstStyle/>
          <a:p>
            <a:pPr algn="l"/>
            <a:r>
              <a:rPr sz="2200" b="1">
                <a:solidFill>
                  <a:srgbClr val="EBEFF5"/>
                </a:solidFill>
                <a:latin typeface="Aptos"/>
              </a:rPr>
              <a:t>admission</a:t>
            </a:r>
          </a:p>
        </p:txBody>
      </p:sp>
      <p:cxnSp>
        <p:nvCxnSpPr>
          <p:cNvPr id="74" name="Connector 73"/>
          <p:cNvCxnSpPr/>
          <p:nvPr/>
        </p:nvCxnSpPr>
        <p:spPr>
          <a:xfrm>
            <a:off x="1188720" y="3154680"/>
            <a:ext cx="1609344" cy="0"/>
          </a:xfrm>
          <a:prstGeom prst="line">
            <a:avLst/>
          </a:prstGeom>
          <a:ln w="12700">
            <a:solidFill>
              <a:srgbClr val="8899B2"/>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a:off x="3529584" y="3154680"/>
            <a:ext cx="2313432" cy="0"/>
          </a:xfrm>
          <a:prstGeom prst="line">
            <a:avLst/>
          </a:prstGeom>
          <a:ln w="12700">
            <a:solidFill>
              <a:srgbClr val="8899B2"/>
            </a:solidFill>
          </a:ln>
        </p:spPr>
        <p:style>
          <a:lnRef idx="2">
            <a:schemeClr val="accent1"/>
          </a:lnRef>
          <a:fillRef idx="0">
            <a:schemeClr val="accent1"/>
          </a:fillRef>
          <a:effectRef idx="1">
            <a:schemeClr val="accent1"/>
          </a:effectRef>
          <a:fontRef idx="minor">
            <a:schemeClr val="tx1"/>
          </a:fontRef>
        </p:style>
      </p:cxnSp>
      <p:sp>
        <p:nvSpPr>
          <p:cNvPr id="76" name="TextBox 75"/>
          <p:cNvSpPr txBox="1"/>
          <p:nvPr/>
        </p:nvSpPr>
        <p:spPr>
          <a:xfrm>
            <a:off x="1197864" y="3264408"/>
            <a:ext cx="1097280" cy="237744"/>
          </a:xfrm>
          <a:prstGeom prst="rect">
            <a:avLst/>
          </a:prstGeom>
          <a:noFill/>
        </p:spPr>
        <p:txBody>
          <a:bodyPr wrap="square" lIns="0" rIns="0" tIns="0" bIns="0" anchor="ctr">
            <a:spAutoFit/>
          </a:bodyPr>
          <a:lstStyle/>
          <a:p>
            <a:pPr algn="l"/>
            <a:r>
              <a:rPr sz="1500" b="0">
                <a:solidFill>
                  <a:srgbClr val="EBEFF5"/>
                </a:solidFill>
                <a:latin typeface="Aptos"/>
              </a:rPr>
              <a:t>patient_id</a:t>
            </a:r>
          </a:p>
        </p:txBody>
      </p:sp>
      <p:sp>
        <p:nvSpPr>
          <p:cNvPr id="77" name="TextBox 76"/>
          <p:cNvSpPr txBox="1"/>
          <p:nvPr/>
        </p:nvSpPr>
        <p:spPr>
          <a:xfrm>
            <a:off x="2468880" y="3264408"/>
            <a:ext cx="301752" cy="237744"/>
          </a:xfrm>
          <a:prstGeom prst="rect">
            <a:avLst/>
          </a:prstGeom>
          <a:noFill/>
        </p:spPr>
        <p:txBody>
          <a:bodyPr wrap="square" lIns="0" rIns="0" tIns="0" bIns="0" anchor="ctr">
            <a:spAutoFit/>
          </a:bodyPr>
          <a:lstStyle/>
          <a:p>
            <a:pPr algn="l"/>
            <a:r>
              <a:rPr sz="1400" b="0">
                <a:solidFill>
                  <a:srgbClr val="AEBCCF"/>
                </a:solidFill>
                <a:latin typeface="Aptos"/>
              </a:rPr>
              <a:t>PK</a:t>
            </a:r>
          </a:p>
        </p:txBody>
      </p:sp>
      <p:sp>
        <p:nvSpPr>
          <p:cNvPr id="78" name="TextBox 77"/>
          <p:cNvSpPr txBox="1"/>
          <p:nvPr/>
        </p:nvSpPr>
        <p:spPr>
          <a:xfrm>
            <a:off x="3547872" y="3264408"/>
            <a:ext cx="1417320" cy="237744"/>
          </a:xfrm>
          <a:prstGeom prst="rect">
            <a:avLst/>
          </a:prstGeom>
          <a:noFill/>
        </p:spPr>
        <p:txBody>
          <a:bodyPr wrap="square" lIns="0" rIns="0" tIns="0" bIns="0" anchor="ctr">
            <a:spAutoFit/>
          </a:bodyPr>
          <a:lstStyle/>
          <a:p>
            <a:pPr algn="l"/>
            <a:r>
              <a:rPr sz="1600" b="1">
                <a:solidFill>
                  <a:srgbClr val="FFA057"/>
                </a:solidFill>
                <a:latin typeface="Aptos"/>
              </a:rPr>
              <a:t>patient_id</a:t>
            </a:r>
          </a:p>
        </p:txBody>
      </p:sp>
      <p:sp>
        <p:nvSpPr>
          <p:cNvPr id="79" name="TextBox 78"/>
          <p:cNvSpPr txBox="1"/>
          <p:nvPr/>
        </p:nvSpPr>
        <p:spPr>
          <a:xfrm>
            <a:off x="5294376" y="3264408"/>
            <a:ext cx="457200" cy="237744"/>
          </a:xfrm>
          <a:prstGeom prst="rect">
            <a:avLst/>
          </a:prstGeom>
          <a:noFill/>
        </p:spPr>
        <p:txBody>
          <a:bodyPr wrap="square" lIns="0" rIns="0" tIns="0" bIns="0" anchor="ctr">
            <a:spAutoFit/>
          </a:bodyPr>
          <a:lstStyle/>
          <a:p>
            <a:pPr algn="l"/>
            <a:r>
              <a:rPr sz="1500" b="0">
                <a:solidFill>
                  <a:srgbClr val="AEBCCF"/>
                </a:solidFill>
                <a:latin typeface="Aptos"/>
              </a:rPr>
              <a:t>FK</a:t>
            </a:r>
          </a:p>
        </p:txBody>
      </p:sp>
      <p:sp>
        <p:nvSpPr>
          <p:cNvPr id="80" name="TextBox 79"/>
          <p:cNvSpPr txBox="1"/>
          <p:nvPr/>
        </p:nvSpPr>
        <p:spPr>
          <a:xfrm>
            <a:off x="3547872" y="3611880"/>
            <a:ext cx="1417320" cy="237744"/>
          </a:xfrm>
          <a:prstGeom prst="rect">
            <a:avLst/>
          </a:prstGeom>
          <a:noFill/>
        </p:spPr>
        <p:txBody>
          <a:bodyPr wrap="square" lIns="0" rIns="0" tIns="0" bIns="0" anchor="ctr">
            <a:spAutoFit/>
          </a:bodyPr>
          <a:lstStyle/>
          <a:p>
            <a:pPr algn="l"/>
            <a:r>
              <a:rPr sz="1600" b="1">
                <a:solidFill>
                  <a:srgbClr val="FFA057"/>
                </a:solidFill>
                <a:latin typeface="Aptos"/>
              </a:rPr>
              <a:t>BM_DEP</a:t>
            </a:r>
          </a:p>
        </p:txBody>
      </p:sp>
      <p:sp>
        <p:nvSpPr>
          <p:cNvPr id="81" name="TextBox 80"/>
          <p:cNvSpPr txBox="1"/>
          <p:nvPr/>
        </p:nvSpPr>
        <p:spPr>
          <a:xfrm>
            <a:off x="5294376" y="3611880"/>
            <a:ext cx="457200" cy="237744"/>
          </a:xfrm>
          <a:prstGeom prst="rect">
            <a:avLst/>
          </a:prstGeom>
          <a:noFill/>
        </p:spPr>
        <p:txBody>
          <a:bodyPr wrap="square" lIns="0" rIns="0" tIns="0" bIns="0" anchor="ctr">
            <a:spAutoFit/>
          </a:bodyPr>
          <a:lstStyle/>
          <a:p>
            <a:pPr algn="l"/>
            <a:r>
              <a:rPr sz="1500" b="0">
                <a:solidFill>
                  <a:srgbClr val="AEBCCF"/>
                </a:solidFill>
                <a:latin typeface="Aptos"/>
              </a:rPr>
              <a:t>INT</a:t>
            </a:r>
          </a:p>
        </p:txBody>
      </p:sp>
      <p:sp>
        <p:nvSpPr>
          <p:cNvPr id="82" name="TextBox 81"/>
          <p:cNvSpPr txBox="1"/>
          <p:nvPr/>
        </p:nvSpPr>
        <p:spPr>
          <a:xfrm>
            <a:off x="3547872" y="3959352"/>
            <a:ext cx="1417320" cy="237744"/>
          </a:xfrm>
          <a:prstGeom prst="rect">
            <a:avLst/>
          </a:prstGeom>
          <a:noFill/>
        </p:spPr>
        <p:txBody>
          <a:bodyPr wrap="square" lIns="0" rIns="0" tIns="0" bIns="0" anchor="ctr">
            <a:spAutoFit/>
          </a:bodyPr>
          <a:lstStyle/>
          <a:p>
            <a:pPr algn="l"/>
            <a:r>
              <a:rPr sz="1500" b="1">
                <a:solidFill>
                  <a:srgbClr val="FFA057"/>
                </a:solidFill>
                <a:latin typeface="Aptos"/>
              </a:rPr>
              <a:t>ecog_stage</a:t>
            </a:r>
          </a:p>
        </p:txBody>
      </p:sp>
      <p:sp>
        <p:nvSpPr>
          <p:cNvPr id="83" name="TextBox 82"/>
          <p:cNvSpPr txBox="1"/>
          <p:nvPr/>
        </p:nvSpPr>
        <p:spPr>
          <a:xfrm>
            <a:off x="5294376" y="3959352"/>
            <a:ext cx="457200" cy="237744"/>
          </a:xfrm>
          <a:prstGeom prst="rect">
            <a:avLst/>
          </a:prstGeom>
          <a:noFill/>
        </p:spPr>
        <p:txBody>
          <a:bodyPr wrap="square" lIns="0" rIns="0" tIns="0" bIns="0" anchor="ctr">
            <a:spAutoFit/>
          </a:bodyPr>
          <a:lstStyle/>
          <a:p>
            <a:pPr algn="l"/>
            <a:r>
              <a:rPr sz="1500" b="0">
                <a:solidFill>
                  <a:srgbClr val="AEBCCF"/>
                </a:solidFill>
                <a:latin typeface="Aptos"/>
              </a:rPr>
              <a:t>INT</a:t>
            </a:r>
          </a:p>
        </p:txBody>
      </p:sp>
      <p:cxnSp>
        <p:nvCxnSpPr>
          <p:cNvPr id="85" name="Connector 84"/>
          <p:cNvCxnSpPr/>
          <p:nvPr/>
        </p:nvCxnSpPr>
        <p:spPr>
          <a:xfrm flipH="1">
            <a:off x="2907792" y="3401568"/>
            <a:ext cx="466344" cy="0"/>
          </a:xfrm>
          <a:prstGeom prst="line">
            <a:avLst/>
          </a:prstGeom>
          <a:ln w="31750">
            <a:solidFill>
              <a:srgbClr val="7799F0"/>
            </a:solidFill>
          </a:ln>
        </p:spPr>
        <p:style>
          <a:lnRef idx="2">
            <a:schemeClr val="accent1"/>
          </a:lnRef>
          <a:fillRef idx="0">
            <a:schemeClr val="accent1"/>
          </a:fillRef>
          <a:effectRef idx="1">
            <a:schemeClr val="accent1"/>
          </a:effectRef>
          <a:fontRef idx="minor">
            <a:schemeClr val="tx1"/>
          </a:fontRef>
        </p:style>
      </p:cxnSp>
      <p:sp>
        <p:nvSpPr>
          <p:cNvPr id="86" name="Isosceles Triangle 85"/>
          <p:cNvSpPr/>
          <p:nvPr/>
        </p:nvSpPr>
        <p:spPr>
          <a:xfrm rot="16200000">
            <a:off x="2825496" y="3328416"/>
            <a:ext cx="155448" cy="146304"/>
          </a:xfrm>
          <a:prstGeom prst="triangle">
            <a:avLst/>
          </a:prstGeom>
          <a:solidFill>
            <a:srgbClr val="7799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1097280" y="4892040"/>
            <a:ext cx="4937760" cy="274320"/>
          </a:xfrm>
          <a:prstGeom prst="rect">
            <a:avLst/>
          </a:prstGeom>
          <a:noFill/>
        </p:spPr>
        <p:txBody>
          <a:bodyPr wrap="none" lIns="0" rIns="0" tIns="0" bIns="0" anchor="ctr">
            <a:spAutoFit/>
          </a:bodyPr>
          <a:lstStyle/>
          <a:p>
            <a:pPr algn="l"/>
            <a:r>
              <a:rPr sz="1320" b="0">
                <a:solidFill>
                  <a:srgbClr val="EBEFF5"/>
                </a:solidFill>
                <a:latin typeface="Aptos"/>
              </a:rPr>
              <a:t>Illustrative fields. The FK links an admission to a patient.</a:t>
            </a:r>
          </a:p>
        </p:txBody>
      </p:sp>
      <p:sp>
        <p:nvSpPr>
          <p:cNvPr id="89" name="PatientData age label"/>
          <p:cNvSpPr txBox="1"/>
          <p:nvPr/>
        </p:nvSpPr>
        <p:spPr>
          <a:xfrm>
            <a:off x="1197864" y="3611880"/>
            <a:ext cx="1106424" cy="246888"/>
          </a:xfrm>
          <a:prstGeom prst="rect">
            <a:avLst/>
          </a:prstGeom>
          <a:noFill/>
        </p:spPr>
        <p:txBody>
          <a:bodyPr wrap="none" lIns="0" rIns="0" tIns="0" bIns="0">
            <a:spAutoFit/>
          </a:bodyPr>
          <a:lstStyle/>
          <a:p>
            <a:pPr algn="l"/>
            <a:r>
              <a:rPr sz="1500" b="0">
                <a:solidFill>
                  <a:srgbClr val="EBEFF5"/>
                </a:solidFill>
                <a:latin typeface="Aptos"/>
              </a:rPr>
              <a:t>age</a:t>
            </a:r>
          </a:p>
        </p:txBody>
      </p:sp>
      <p:sp>
        <p:nvSpPr>
          <p:cNvPr id="90" name="PatientData age datatype"/>
          <p:cNvSpPr txBox="1"/>
          <p:nvPr/>
        </p:nvSpPr>
        <p:spPr>
          <a:xfrm>
            <a:off x="2441448" y="3611880"/>
            <a:ext cx="420624" cy="246888"/>
          </a:xfrm>
          <a:prstGeom prst="rect">
            <a:avLst/>
          </a:prstGeom>
          <a:noFill/>
        </p:spPr>
        <p:txBody>
          <a:bodyPr wrap="none" lIns="0" rIns="0" tIns="0" bIns="0">
            <a:spAutoFit/>
          </a:bodyPr>
          <a:lstStyle/>
          <a:p>
            <a:pPr algn="l"/>
            <a:r>
              <a:rPr sz="1350" b="0">
                <a:solidFill>
                  <a:srgbClr val="AEBCCF"/>
                </a:solidFill>
                <a:latin typeface="Aptos"/>
              </a:rPr>
              <a:t>INT</a:t>
            </a:r>
          </a:p>
        </p:txBody>
      </p:sp>
      <p:sp>
        <p:nvSpPr>
          <p:cNvPr id="91" name="PatientData gender label"/>
          <p:cNvSpPr txBox="1"/>
          <p:nvPr/>
        </p:nvSpPr>
        <p:spPr>
          <a:xfrm>
            <a:off x="1197864" y="3959352"/>
            <a:ext cx="1106424" cy="246888"/>
          </a:xfrm>
          <a:prstGeom prst="rect">
            <a:avLst/>
          </a:prstGeom>
          <a:noFill/>
        </p:spPr>
        <p:txBody>
          <a:bodyPr wrap="none" lIns="0" rIns="0" tIns="0" bIns="0">
            <a:spAutoFit/>
          </a:bodyPr>
          <a:lstStyle/>
          <a:p>
            <a:pPr algn="l"/>
            <a:r>
              <a:rPr sz="1500" b="0">
                <a:solidFill>
                  <a:srgbClr val="EBEFF5"/>
                </a:solidFill>
                <a:latin typeface="Aptos"/>
              </a:rPr>
              <a:t>gender</a:t>
            </a:r>
          </a:p>
        </p:txBody>
      </p:sp>
      <p:sp>
        <p:nvSpPr>
          <p:cNvPr id="92" name="PatientData gender datatype"/>
          <p:cNvSpPr txBox="1"/>
          <p:nvPr/>
        </p:nvSpPr>
        <p:spPr>
          <a:xfrm>
            <a:off x="2441448" y="3959352"/>
            <a:ext cx="420624" cy="246888"/>
          </a:xfrm>
          <a:prstGeom prst="rect">
            <a:avLst/>
          </a:prstGeom>
          <a:noFill/>
        </p:spPr>
        <p:txBody>
          <a:bodyPr wrap="none" lIns="0" rIns="0" tIns="0" bIns="0">
            <a:spAutoFit/>
          </a:bodyPr>
          <a:lstStyle/>
          <a:p>
            <a:pPr algn="l"/>
            <a:r>
              <a:rPr sz="1350" b="0">
                <a:solidFill>
                  <a:srgbClr val="AEBCCF"/>
                </a:solidFill>
                <a:latin typeface="Aptos"/>
              </a:rPr>
              <a:t>TEXT</a:t>
            </a: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1726"/>
        </a:solidFill>
      </p:bgPr>
    </p:bg>
    <p:spTree>
      <p:nvGrpSpPr>
        <p:cNvPr id="74" name="Shape 74"/>
        <p:cNvGrpSpPr/>
        <p:nvPr/>
      </p:nvGrpSpPr>
      <p:grpSpPr>
        <a:xfrm>
          <a:off x="0" y="0"/>
          <a:ext cx="0" cy="0"/>
          <a:chOff x="0" y="0"/>
          <a:chExt cx="0" cy="0"/>
        </a:xfrm>
      </p:grpSpPr>
      <p:sp>
        <p:nvSpPr>
          <p:cNvPr id="75" name="Google Shape;75;p3"/>
          <p:cNvSpPr txBox="1"/>
          <p:nvPr/>
        </p:nvSpPr>
        <p:spPr>
          <a:xfrm>
            <a:off x="804672" y="521207"/>
            <a:ext cx="10698480" cy="310896"/>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i="0" lang="en-US" sz="1400">
                <a:solidFill>
                  <a:srgbClr val="F4A261"/>
                </a:solidFill>
                <a:latin typeface="IBM Plex Mono"/>
                <a:ea typeface="IBM Plex Mono"/>
                <a:cs typeface="IBM Plex Mono"/>
                <a:sym typeface="IBM Plex Mono"/>
              </a:rPr>
              <a:t>WHAT WE WANT TO BUILD</a:t>
            </a:r>
            <a:endParaRPr/>
          </a:p>
        </p:txBody>
      </p:sp>
      <p:sp>
        <p:nvSpPr>
          <p:cNvPr id="76" name="Google Shape;76;p3"/>
          <p:cNvSpPr txBox="1"/>
          <p:nvPr/>
        </p:nvSpPr>
        <p:spPr>
          <a:xfrm>
            <a:off x="804672" y="923544"/>
            <a:ext cx="10789920" cy="8686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3100">
                <a:solidFill>
                  <a:srgbClr val="EDF1F6"/>
                </a:solidFill>
                <a:latin typeface="IBM Plex Sans"/>
                <a:ea typeface="IBM Plex Sans"/>
                <a:cs typeface="IBM Plex Sans"/>
                <a:sym typeface="IBM Plex Sans"/>
              </a:rPr>
              <a:t>Not just a cleaner schema.</a:t>
            </a:r>
            <a:endParaRPr/>
          </a:p>
          <a:p>
            <a:pPr indent="0" lvl="0" marL="0" marR="0" rtl="0" algn="l">
              <a:lnSpc>
                <a:spcPct val="100000"/>
              </a:lnSpc>
              <a:spcBef>
                <a:spcPts val="0"/>
              </a:spcBef>
              <a:spcAft>
                <a:spcPts val="0"/>
              </a:spcAft>
              <a:buNone/>
            </a:pPr>
            <a:r>
              <a:rPr b="1" i="0" lang="en-US" sz="3100">
                <a:solidFill>
                  <a:srgbClr val="EDF1F6"/>
                </a:solidFill>
                <a:latin typeface="IBM Plex Sans"/>
                <a:ea typeface="IBM Plex Sans"/>
                <a:cs typeface="IBM Plex Sans"/>
                <a:sym typeface="IBM Plex Sans"/>
              </a:rPr>
              <a:t>A usable semantic model.</a:t>
            </a:r>
            <a:endParaRPr/>
          </a:p>
        </p:txBody>
      </p:sp>
      <p:sp>
        <p:nvSpPr>
          <p:cNvPr id="77" name="Google Shape;77;p3"/>
          <p:cNvSpPr/>
          <p:nvPr/>
        </p:nvSpPr>
        <p:spPr>
          <a:xfrm>
            <a:off x="804672" y="2029968"/>
            <a:ext cx="2971800" cy="3264408"/>
          </a:xfrm>
          <a:prstGeom prst="roundRect">
            <a:avLst>
              <a:gd fmla="val 10000" name="adj"/>
            </a:avLst>
          </a:prstGeom>
          <a:solidFill>
            <a:srgbClr val="18273E"/>
          </a:solidFill>
          <a:ln cap="flat" cmpd="sng" w="12700">
            <a:solidFill>
              <a:srgbClr val="263A5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78" name="Google Shape;78;p3"/>
          <p:cNvSpPr txBox="1"/>
          <p:nvPr/>
        </p:nvSpPr>
        <p:spPr>
          <a:xfrm>
            <a:off x="1024128" y="2267712"/>
            <a:ext cx="2514600" cy="27432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i="0" lang="en-US" sz="1520">
                <a:solidFill>
                  <a:srgbClr val="9AA6B8"/>
                </a:solidFill>
                <a:latin typeface="IBM Plex Mono"/>
                <a:ea typeface="IBM Plex Mono"/>
                <a:cs typeface="IBM Plex Mono"/>
                <a:sym typeface="IBM Plex Mono"/>
              </a:rPr>
              <a:t>INPUT  /  TABLE</a:t>
            </a:r>
            <a:endParaRPr/>
          </a:p>
        </p:txBody>
      </p:sp>
      <p:sp>
        <p:nvSpPr>
          <p:cNvPr id="79" name="Google Shape;79;p3"/>
          <p:cNvSpPr txBox="1"/>
          <p:nvPr/>
        </p:nvSpPr>
        <p:spPr>
          <a:xfrm>
            <a:off x="1024128" y="2706624"/>
            <a:ext cx="2514600" cy="33832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100">
                <a:solidFill>
                  <a:srgbClr val="EDF1F6"/>
                </a:solidFill>
                <a:latin typeface="IBM Plex Sans"/>
                <a:ea typeface="IBM Plex Sans"/>
                <a:cs typeface="IBM Plex Sans"/>
                <a:sym typeface="IBM Plex Sans"/>
              </a:rPr>
              <a:t>admission</a:t>
            </a:r>
            <a:endParaRPr/>
          </a:p>
        </p:txBody>
      </p:sp>
      <p:cxnSp>
        <p:nvCxnSpPr>
          <p:cNvPr id="80" name="Google Shape;80;p3"/>
          <p:cNvCxnSpPr/>
          <p:nvPr/>
        </p:nvCxnSpPr>
        <p:spPr>
          <a:xfrm>
            <a:off x="1033271" y="3154680"/>
            <a:ext cx="2441449" cy="0"/>
          </a:xfrm>
          <a:prstGeom prst="straightConnector1">
            <a:avLst/>
          </a:prstGeom>
          <a:noFill/>
          <a:ln cap="flat" cmpd="sng" w="19050">
            <a:solidFill>
              <a:srgbClr val="7F8CA1"/>
            </a:solidFill>
            <a:prstDash val="solid"/>
            <a:miter lim="8000"/>
            <a:headEnd len="sm" w="sm" type="none"/>
            <a:tailEnd len="sm" w="sm" type="none"/>
          </a:ln>
        </p:spPr>
      </p:cxnSp>
      <p:sp>
        <p:nvSpPr>
          <p:cNvPr id="81" name="Google Shape;81;p3"/>
          <p:cNvSpPr txBox="1"/>
          <p:nvPr/>
        </p:nvSpPr>
        <p:spPr>
          <a:xfrm>
            <a:off x="1014984" y="3355848"/>
            <a:ext cx="2523744" cy="30175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sz="1500">
                <a:solidFill>
                  <a:srgbClr val="C9D2DE"/>
                </a:solidFill>
                <a:latin typeface="IBM Plex Mono"/>
                <a:ea typeface="IBM Plex Mono"/>
                <a:cs typeface="IBM Plex Mono"/>
                <a:sym typeface="IBM Plex Mono"/>
              </a:rPr>
              <a:t>patient_id   FK</a:t>
            </a:r>
            <a:endParaRPr/>
          </a:p>
        </p:txBody>
      </p:sp>
      <p:sp>
        <p:nvSpPr>
          <p:cNvPr id="82" name="Google Shape;82;p3"/>
          <p:cNvSpPr txBox="1"/>
          <p:nvPr/>
        </p:nvSpPr>
        <p:spPr>
          <a:xfrm>
            <a:off x="1014984" y="3758184"/>
            <a:ext cx="2523744" cy="30175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sz="1500">
                <a:solidFill>
                  <a:srgbClr val="C9D2DE"/>
                </a:solidFill>
                <a:latin typeface="IBM Plex Mono"/>
                <a:ea typeface="IBM Plex Mono"/>
                <a:cs typeface="IBM Plex Mono"/>
                <a:sym typeface="IBM Plex Mono"/>
              </a:rPr>
              <a:t>BM_DEP       INT</a:t>
            </a:r>
            <a:endParaRPr/>
          </a:p>
        </p:txBody>
      </p:sp>
      <p:sp>
        <p:nvSpPr>
          <p:cNvPr id="83" name="Google Shape;83;p3"/>
          <p:cNvSpPr txBox="1"/>
          <p:nvPr/>
        </p:nvSpPr>
        <p:spPr>
          <a:xfrm>
            <a:off x="1014984" y="4160520"/>
            <a:ext cx="2523744" cy="30175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sz="1500">
                <a:solidFill>
                  <a:srgbClr val="C9D2DE"/>
                </a:solidFill>
                <a:latin typeface="IBM Plex Mono"/>
                <a:ea typeface="IBM Plex Mono"/>
                <a:cs typeface="IBM Plex Mono"/>
                <a:sym typeface="IBM Plex Mono"/>
              </a:rPr>
              <a:t>ecog_stage   INT</a:t>
            </a:r>
            <a:endParaRPr/>
          </a:p>
        </p:txBody>
      </p:sp>
      <p:sp>
        <p:nvSpPr>
          <p:cNvPr id="84" name="Google Shape;84;p3"/>
          <p:cNvSpPr txBox="1"/>
          <p:nvPr/>
        </p:nvSpPr>
        <p:spPr>
          <a:xfrm>
            <a:off x="1024128" y="4873752"/>
            <a:ext cx="2487168" cy="292608"/>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0" lang="en-US" sz="1550">
                <a:solidFill>
                  <a:srgbClr val="7F8CA1"/>
                </a:solidFill>
                <a:latin typeface="IBM Plex Sans"/>
                <a:ea typeface="IBM Plex Sans"/>
                <a:cs typeface="IBM Plex Sans"/>
                <a:sym typeface="IBM Plex Sans"/>
              </a:rPr>
              <a:t>SQL structure</a:t>
            </a:r>
            <a:endParaRPr/>
          </a:p>
        </p:txBody>
      </p:sp>
      <p:sp>
        <p:nvSpPr>
          <p:cNvPr id="85" name="Google Shape;85;p3"/>
          <p:cNvSpPr/>
          <p:nvPr/>
        </p:nvSpPr>
        <p:spPr>
          <a:xfrm>
            <a:off x="3977639" y="3328416"/>
            <a:ext cx="566928" cy="429768"/>
          </a:xfrm>
          <a:prstGeom prst="rightArrow">
            <a:avLst>
              <a:gd fmla="val 50000" name="adj1"/>
              <a:gd fmla="val 50000" name="adj2"/>
            </a:avLst>
          </a:prstGeom>
          <a:solidFill>
            <a:srgbClr val="4D71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86" name="Google Shape;86;p3"/>
          <p:cNvSpPr/>
          <p:nvPr/>
        </p:nvSpPr>
        <p:spPr>
          <a:xfrm>
            <a:off x="4754880" y="2029968"/>
            <a:ext cx="6656832" cy="3264408"/>
          </a:xfrm>
          <a:prstGeom prst="roundRect">
            <a:avLst>
              <a:gd fmla="val 10000" name="adj"/>
            </a:avLst>
          </a:prstGeom>
          <a:solidFill>
            <a:srgbClr val="21314A"/>
          </a:solidFill>
          <a:ln cap="flat" cmpd="sng" w="17775">
            <a:solidFill>
              <a:srgbClr val="7799F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87" name="Google Shape;87;p3"/>
          <p:cNvSpPr txBox="1"/>
          <p:nvPr/>
        </p:nvSpPr>
        <p:spPr>
          <a:xfrm>
            <a:off x="5038344" y="2249424"/>
            <a:ext cx="6044184" cy="27432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i="0" lang="en-US" sz="1600">
                <a:solidFill>
                  <a:srgbClr val="7799F0"/>
                </a:solidFill>
                <a:latin typeface="IBM Plex Mono"/>
                <a:ea typeface="IBM Plex Mono"/>
                <a:cs typeface="IBM Plex Mono"/>
                <a:sym typeface="IBM Plex Mono"/>
              </a:rPr>
              <a:t>TARGET  /  ILLUSTRATIVE OWL FRAGMENT</a:t>
            </a:r>
            <a:endParaRPr/>
          </a:p>
        </p:txBody>
      </p:sp>
      <p:sp>
        <p:nvSpPr>
          <p:cNvPr id="88" name="Google Shape;88;p3"/>
          <p:cNvSpPr/>
          <p:nvPr/>
        </p:nvSpPr>
        <p:spPr>
          <a:xfrm>
            <a:off x="5093208" y="2688336"/>
            <a:ext cx="2103120" cy="630936"/>
          </a:xfrm>
          <a:prstGeom prst="roundRect">
            <a:avLst>
              <a:gd fmla="val 10000" name="adj"/>
            </a:avLst>
          </a:prstGeom>
          <a:solidFill>
            <a:srgbClr val="263A56"/>
          </a:solidFill>
          <a:ln cap="flat" cmpd="sng" w="12700">
            <a:solidFill>
              <a:srgbClr val="7799F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89" name="Google Shape;89;p3"/>
          <p:cNvSpPr txBox="1"/>
          <p:nvPr/>
        </p:nvSpPr>
        <p:spPr>
          <a:xfrm>
            <a:off x="5248656" y="2852928"/>
            <a:ext cx="1746504" cy="265176"/>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a:solidFill>
                  <a:srgbClr val="EDF1F6"/>
                </a:solidFill>
                <a:latin typeface="IBM Plex Sans"/>
                <a:ea typeface="IBM Plex Sans"/>
                <a:cs typeface="IBM Plex Sans"/>
                <a:sym typeface="IBM Plex Sans"/>
              </a:rPr>
              <a:t>Admission</a:t>
            </a:r>
            <a:endParaRPr/>
          </a:p>
        </p:txBody>
      </p:sp>
      <p:sp>
        <p:nvSpPr>
          <p:cNvPr id="90" name="Google Shape;90;p3"/>
          <p:cNvSpPr/>
          <p:nvPr/>
        </p:nvSpPr>
        <p:spPr>
          <a:xfrm>
            <a:off x="9253728" y="2688336"/>
            <a:ext cx="1828800" cy="630936"/>
          </a:xfrm>
          <a:prstGeom prst="roundRect">
            <a:avLst>
              <a:gd fmla="val 10000" name="adj"/>
            </a:avLst>
          </a:prstGeom>
          <a:solidFill>
            <a:srgbClr val="263A56"/>
          </a:solidFill>
          <a:ln cap="flat" cmpd="sng" w="12700">
            <a:solidFill>
              <a:srgbClr val="7799F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91" name="Google Shape;91;p3"/>
          <p:cNvSpPr txBox="1"/>
          <p:nvPr/>
        </p:nvSpPr>
        <p:spPr>
          <a:xfrm>
            <a:off x="9354312" y="2852928"/>
            <a:ext cx="1645920" cy="265176"/>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1800">
                <a:solidFill>
                  <a:srgbClr val="EDF1F6"/>
                </a:solidFill>
                <a:latin typeface="IBM Plex Sans"/>
                <a:ea typeface="IBM Plex Sans"/>
                <a:cs typeface="IBM Plex Sans"/>
                <a:sym typeface="IBM Plex Sans"/>
              </a:rPr>
              <a:t>PatientData</a:t>
            </a:r>
            <a:endParaRPr/>
          </a:p>
        </p:txBody>
      </p:sp>
      <p:cxnSp>
        <p:nvCxnSpPr>
          <p:cNvPr id="92" name="Google Shape;92;p3"/>
          <p:cNvCxnSpPr/>
          <p:nvPr/>
        </p:nvCxnSpPr>
        <p:spPr>
          <a:xfrm>
            <a:off x="7278624" y="2990088"/>
            <a:ext cx="1865376" cy="0"/>
          </a:xfrm>
          <a:prstGeom prst="straightConnector1">
            <a:avLst/>
          </a:prstGeom>
          <a:noFill/>
          <a:ln cap="flat" cmpd="sng" w="31750">
            <a:solidFill>
              <a:srgbClr val="F4A261"/>
            </a:solidFill>
            <a:prstDash val="solid"/>
            <a:miter lim="8000"/>
            <a:headEnd len="sm" w="sm" type="none"/>
            <a:tailEnd len="med" w="med" type="triangle"/>
          </a:ln>
        </p:spPr>
      </p:cxnSp>
      <p:sp>
        <p:nvSpPr>
          <p:cNvPr id="93" name="Google Shape;93;p3"/>
          <p:cNvSpPr/>
          <p:nvPr/>
        </p:nvSpPr>
        <p:spPr>
          <a:xfrm>
            <a:off x="7388352" y="2587752"/>
            <a:ext cx="1591056" cy="329184"/>
          </a:xfrm>
          <a:prstGeom prst="roundRect">
            <a:avLst>
              <a:gd fmla="val 10000" name="adj"/>
            </a:avLst>
          </a:prstGeom>
          <a:solidFill>
            <a:srgbClr val="18273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94" name="Google Shape;94;p3"/>
          <p:cNvSpPr txBox="1"/>
          <p:nvPr/>
        </p:nvSpPr>
        <p:spPr>
          <a:xfrm>
            <a:off x="7278624" y="2642616"/>
            <a:ext cx="1783080" cy="228600"/>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None/>
            </a:pPr>
            <a:r>
              <a:rPr b="1" i="0" lang="en-US" sz="1400">
                <a:solidFill>
                  <a:srgbClr val="F4A261"/>
                </a:solidFill>
                <a:latin typeface="IBM Plex Mono"/>
                <a:ea typeface="IBM Plex Mono"/>
                <a:cs typeface="IBM Plex Mono"/>
                <a:sym typeface="IBM Plex Mono"/>
              </a:rPr>
              <a:t>hasPatientData</a:t>
            </a:r>
            <a:endParaRPr/>
          </a:p>
        </p:txBody>
      </p:sp>
      <p:sp>
        <p:nvSpPr>
          <p:cNvPr id="95" name="Google Shape;95;p3"/>
          <p:cNvSpPr/>
          <p:nvPr/>
        </p:nvSpPr>
        <p:spPr>
          <a:xfrm>
            <a:off x="5093208" y="3575304"/>
            <a:ext cx="5989320" cy="448056"/>
          </a:xfrm>
          <a:prstGeom prst="roundRect">
            <a:avLst>
              <a:gd fmla="val 10000" name="adj"/>
            </a:avLst>
          </a:prstGeom>
          <a:solidFill>
            <a:srgbClr val="263A5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96" name="Google Shape;96;p3"/>
          <p:cNvSpPr txBox="1"/>
          <p:nvPr/>
        </p:nvSpPr>
        <p:spPr>
          <a:xfrm>
            <a:off x="5257800" y="3685032"/>
            <a:ext cx="1097280" cy="237744"/>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i="0" lang="en-US" sz="1400">
                <a:solidFill>
                  <a:srgbClr val="7799F0"/>
                </a:solidFill>
                <a:latin typeface="IBM Plex Mono"/>
                <a:ea typeface="IBM Plex Mono"/>
                <a:cs typeface="IBM Plex Mono"/>
                <a:sym typeface="IBM Plex Mono"/>
              </a:rPr>
              <a:t>BM_DEP</a:t>
            </a:r>
            <a:endParaRPr/>
          </a:p>
        </p:txBody>
      </p:sp>
      <p:sp>
        <p:nvSpPr>
          <p:cNvPr id="97" name="Google Shape;97;p3"/>
          <p:cNvSpPr txBox="1"/>
          <p:nvPr/>
        </p:nvSpPr>
        <p:spPr>
          <a:xfrm>
            <a:off x="6419088" y="3685032"/>
            <a:ext cx="4553712" cy="27432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0" i="0" lang="en-US" sz="1550">
                <a:solidFill>
                  <a:srgbClr val="EDF1F6"/>
                </a:solidFill>
                <a:latin typeface="IBM Plex Mono"/>
                <a:ea typeface="IBM Plex Mono"/>
                <a:cs typeface="IBM Plex Mono"/>
                <a:sym typeface="IBM Plex Mono"/>
              </a:rPr>
              <a:t>rdfs:label  "Bone Marrow Depression"</a:t>
            </a:r>
            <a:endParaRPr/>
          </a:p>
        </p:txBody>
      </p:sp>
      <p:sp>
        <p:nvSpPr>
          <p:cNvPr id="98" name="Google Shape;98;p3"/>
          <p:cNvSpPr/>
          <p:nvPr/>
        </p:nvSpPr>
        <p:spPr>
          <a:xfrm>
            <a:off x="5093208" y="4133087"/>
            <a:ext cx="5989320" cy="448056"/>
          </a:xfrm>
          <a:prstGeom prst="roundRect">
            <a:avLst>
              <a:gd fmla="val 10000" name="adj"/>
            </a:avLst>
          </a:prstGeom>
          <a:solidFill>
            <a:srgbClr val="263A5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99" name="Google Shape;99;p3"/>
          <p:cNvSpPr txBox="1"/>
          <p:nvPr/>
        </p:nvSpPr>
        <p:spPr>
          <a:xfrm>
            <a:off x="5257800" y="4242816"/>
            <a:ext cx="1527048" cy="2286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i="0" lang="en-US" sz="1400">
                <a:solidFill>
                  <a:srgbClr val="7799F0"/>
                </a:solidFill>
                <a:latin typeface="IBM Plex Mono"/>
                <a:ea typeface="IBM Plex Mono"/>
                <a:cs typeface="IBM Plex Mono"/>
                <a:sym typeface="IBM Plex Mono"/>
              </a:rPr>
              <a:t>ecog_stage</a:t>
            </a:r>
            <a:endParaRPr/>
          </a:p>
        </p:txBody>
      </p:sp>
      <p:sp>
        <p:nvSpPr>
          <p:cNvPr id="100" name="Google Shape;100;p3"/>
          <p:cNvSpPr txBox="1"/>
          <p:nvPr/>
        </p:nvSpPr>
        <p:spPr>
          <a:xfrm>
            <a:off x="6830568" y="4206240"/>
            <a:ext cx="4096512" cy="310896"/>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0" lang="en-US" sz="1550">
                <a:solidFill>
                  <a:srgbClr val="EDF1F6"/>
                </a:solidFill>
                <a:latin typeface="IBM Plex Sans"/>
                <a:ea typeface="IBM Plex Sans"/>
                <a:cs typeface="IBM Plex Sans"/>
                <a:sym typeface="IBM Plex Sans"/>
              </a:rPr>
              <a:t>ECOG scale: 0 (fully active) → 5 (dead)</a:t>
            </a:r>
            <a:endParaRPr/>
          </a:p>
        </p:txBody>
      </p:sp>
      <p:sp>
        <p:nvSpPr>
          <p:cNvPr id="101" name="Google Shape;101;p3"/>
          <p:cNvSpPr txBox="1"/>
          <p:nvPr/>
        </p:nvSpPr>
        <p:spPr>
          <a:xfrm>
            <a:off x="5239512" y="4800600"/>
            <a:ext cx="5669280" cy="27432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0" i="0" lang="en-US" sz="1550">
                <a:solidFill>
                  <a:srgbClr val="C9D2DE"/>
                </a:solidFill>
                <a:latin typeface="IBM Plex Sans"/>
                <a:ea typeface="IBM Plex Sans"/>
                <a:cs typeface="IBM Plex Sans"/>
                <a:sym typeface="IBM Plex Sans"/>
              </a:rPr>
              <a:t>+ source provenance for classes and properties</a:t>
            </a:r>
            <a:endParaRPr/>
          </a:p>
        </p:txBody>
      </p:sp>
      <p:sp>
        <p:nvSpPr>
          <p:cNvPr id="102" name="Google Shape;102;p3"/>
          <p:cNvSpPr/>
          <p:nvPr/>
        </p:nvSpPr>
        <p:spPr>
          <a:xfrm>
            <a:off x="804672" y="5522976"/>
            <a:ext cx="10607040" cy="429768"/>
          </a:xfrm>
          <a:prstGeom prst="roundRect">
            <a:avLst>
              <a:gd fmla="val 10000" name="adj"/>
            </a:avLst>
          </a:prstGeom>
          <a:solidFill>
            <a:srgbClr val="21314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103" name="Google Shape;103;p3"/>
          <p:cNvSpPr txBox="1"/>
          <p:nvPr/>
        </p:nvSpPr>
        <p:spPr>
          <a:xfrm>
            <a:off x="996696" y="5596128"/>
            <a:ext cx="10104120" cy="27432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lang="en-US" sz="1550">
                <a:solidFill>
                  <a:srgbClr val="F4A261"/>
                </a:solidFill>
                <a:latin typeface="IBM Plex Sans"/>
                <a:ea typeface="IBM Plex Sans"/>
                <a:cs typeface="IBM Plex Sans"/>
                <a:sym typeface="IBM Plex Sans"/>
              </a:rPr>
              <a:t>WHAT THIS ENABLES   </a:t>
            </a:r>
            <a:r>
              <a:rPr b="0" lang="en-US" sz="1550">
                <a:solidFill>
                  <a:srgbClr val="EDF1F6"/>
                </a:solidFill>
                <a:latin typeface="IBM Plex Sans"/>
                <a:ea typeface="IBM Plex Sans"/>
                <a:cs typeface="IBM Plex Sans"/>
                <a:sym typeface="IBM Plex Sans"/>
              </a:rPr>
              <a:t>Concept-based access  ·  KG population  ·  Cross-system interoperability</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4F7"/>
        </a:solidFill>
      </p:bgPr>
    </p:bg>
    <p:spTree>
      <p:nvGrpSpPr>
        <p:cNvPr id="108" name="Shape 108"/>
        <p:cNvGrpSpPr/>
        <p:nvPr/>
      </p:nvGrpSpPr>
      <p:grpSpPr>
        <a:xfrm>
          <a:off x="0" y="0"/>
          <a:ext cx="0" cy="0"/>
          <a:chOff x="0" y="0"/>
          <a:chExt cx="0" cy="0"/>
        </a:xfrm>
      </p:grpSpPr>
      <p:sp>
        <p:nvSpPr>
          <p:cNvPr id="109" name="Google Shape;109;p4"/>
          <p:cNvSpPr txBox="1"/>
          <p:nvPr/>
        </p:nvSpPr>
        <p:spPr>
          <a:xfrm>
            <a:off x="804672" y="521207"/>
            <a:ext cx="10607040" cy="310896"/>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i="0" lang="en-US" sz="1400">
                <a:solidFill>
                  <a:srgbClr val="4D71DE"/>
                </a:solidFill>
                <a:latin typeface="IBM Plex Mono"/>
                <a:ea typeface="IBM Plex Mono"/>
                <a:cs typeface="IBM Plex Mono"/>
                <a:sym typeface="IBM Plex Mono"/>
              </a:rPr>
              <a:t>THE RESEARCH GAP</a:t>
            </a:r>
            <a:endParaRPr/>
          </a:p>
        </p:txBody>
      </p:sp>
      <p:sp>
        <p:nvSpPr>
          <p:cNvPr id="110" name="Google Shape;110;p4"/>
          <p:cNvSpPr txBox="1"/>
          <p:nvPr/>
        </p:nvSpPr>
        <p:spPr>
          <a:xfrm>
            <a:off x="804672" y="960120"/>
            <a:ext cx="10689336" cy="7132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800">
                <a:solidFill>
                  <a:srgbClr val="111A28"/>
                </a:solidFill>
                <a:latin typeface="IBM Plex Sans"/>
                <a:ea typeface="IBM Plex Sans"/>
                <a:cs typeface="IBM Plex Sans"/>
                <a:sym typeface="IBM Plex Sans"/>
              </a:rPr>
              <a:t>Two partial solutions. Neither solves the whole problem.</a:t>
            </a:r>
            <a:endParaRPr/>
          </a:p>
        </p:txBody>
      </p:sp>
      <p:sp>
        <p:nvSpPr>
          <p:cNvPr id="111" name="Google Shape;111;p4"/>
          <p:cNvSpPr/>
          <p:nvPr/>
        </p:nvSpPr>
        <p:spPr>
          <a:xfrm>
            <a:off x="804672" y="1920240"/>
            <a:ext cx="5148072" cy="2523744"/>
          </a:xfrm>
          <a:prstGeom prst="roundRect">
            <a:avLst>
              <a:gd fmla="val 10000" name="adj"/>
            </a:avLst>
          </a:prstGeom>
          <a:solidFill>
            <a:srgbClr val="FFFFFF"/>
          </a:solidFill>
          <a:ln cap="flat" cmpd="sng" w="12700">
            <a:solidFill>
              <a:srgbClr val="DFE5ED"/>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112" name="Google Shape;112;p4"/>
          <p:cNvSpPr/>
          <p:nvPr/>
        </p:nvSpPr>
        <p:spPr>
          <a:xfrm>
            <a:off x="804672" y="1920240"/>
            <a:ext cx="5148072" cy="64008"/>
          </a:xfrm>
          <a:prstGeom prst="rect">
            <a:avLst/>
          </a:prstGeom>
          <a:solidFill>
            <a:srgbClr val="4D71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113" name="Google Shape;113;p4"/>
          <p:cNvSpPr txBox="1"/>
          <p:nvPr/>
        </p:nvSpPr>
        <p:spPr>
          <a:xfrm>
            <a:off x="1069848" y="2130552"/>
            <a:ext cx="4654296" cy="310896"/>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i="0" lang="en-US" sz="1550">
                <a:solidFill>
                  <a:srgbClr val="4D71DE"/>
                </a:solidFill>
                <a:latin typeface="IBM Plex Mono"/>
                <a:ea typeface="IBM Plex Mono"/>
                <a:cs typeface="IBM Plex Mono"/>
                <a:sym typeface="IBM Plex Mono"/>
              </a:rPr>
              <a:t>SCHEMA-FIRST RULES</a:t>
            </a:r>
            <a:endParaRPr/>
          </a:p>
        </p:txBody>
      </p:sp>
      <p:sp>
        <p:nvSpPr>
          <p:cNvPr id="114" name="Google Shape;114;p4"/>
          <p:cNvSpPr txBox="1"/>
          <p:nvPr/>
        </p:nvSpPr>
        <p:spPr>
          <a:xfrm>
            <a:off x="1069848" y="2587752"/>
            <a:ext cx="4645152" cy="32004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100">
                <a:solidFill>
                  <a:srgbClr val="111A28"/>
                </a:solidFill>
                <a:latin typeface="IBM Plex Sans"/>
                <a:ea typeface="IBM Plex Sans"/>
                <a:cs typeface="IBM Plex Sans"/>
                <a:sym typeface="IBM Plex Sans"/>
              </a:rPr>
              <a:t>Preserve the structure</a:t>
            </a:r>
            <a:endParaRPr/>
          </a:p>
        </p:txBody>
      </p:sp>
      <p:sp>
        <p:nvSpPr>
          <p:cNvPr id="115" name="Google Shape;115;p4"/>
          <p:cNvSpPr txBox="1"/>
          <p:nvPr/>
        </p:nvSpPr>
        <p:spPr>
          <a:xfrm>
            <a:off x="1069848" y="3072384"/>
            <a:ext cx="4526280" cy="5394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700">
                <a:solidFill>
                  <a:srgbClr val="111A28"/>
                </a:solidFill>
                <a:latin typeface="IBM Plex Sans"/>
                <a:ea typeface="IBM Plex Sans"/>
                <a:cs typeface="IBM Plex Sans"/>
                <a:sym typeface="IBM Plex Sans"/>
              </a:rPr>
              <a:t>Tables, columns and foreign keys can be mapped systematically.</a:t>
            </a:r>
            <a:endParaRPr/>
          </a:p>
        </p:txBody>
      </p:sp>
      <p:sp>
        <p:nvSpPr>
          <p:cNvPr id="116" name="Google Shape;116;p4"/>
          <p:cNvSpPr txBox="1"/>
          <p:nvPr/>
        </p:nvSpPr>
        <p:spPr>
          <a:xfrm>
            <a:off x="1069848" y="3895344"/>
            <a:ext cx="4617720" cy="32004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sz="1600">
                <a:solidFill>
                  <a:srgbClr val="5D6879"/>
                </a:solidFill>
                <a:latin typeface="IBM Plex Sans"/>
                <a:ea typeface="IBM Plex Sans"/>
                <a:cs typeface="IBM Plex Sans"/>
                <a:sym typeface="IBM Plex Sans"/>
              </a:rPr>
              <a:t>But implicit domain semantics remain missing.</a:t>
            </a:r>
            <a:endParaRPr/>
          </a:p>
        </p:txBody>
      </p:sp>
      <p:sp>
        <p:nvSpPr>
          <p:cNvPr id="117" name="Google Shape;117;p4"/>
          <p:cNvSpPr/>
          <p:nvPr/>
        </p:nvSpPr>
        <p:spPr>
          <a:xfrm>
            <a:off x="6208776" y="1920240"/>
            <a:ext cx="5184648" cy="2523744"/>
          </a:xfrm>
          <a:prstGeom prst="roundRect">
            <a:avLst>
              <a:gd fmla="val 10000" name="adj"/>
            </a:avLst>
          </a:prstGeom>
          <a:solidFill>
            <a:srgbClr val="FFFFFF"/>
          </a:solidFill>
          <a:ln cap="flat" cmpd="sng" w="12700">
            <a:solidFill>
              <a:srgbClr val="DFE5ED"/>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118" name="Google Shape;118;p4"/>
          <p:cNvSpPr/>
          <p:nvPr/>
        </p:nvSpPr>
        <p:spPr>
          <a:xfrm>
            <a:off x="6208776" y="1920240"/>
            <a:ext cx="5184648" cy="64008"/>
          </a:xfrm>
          <a:prstGeom prst="rect">
            <a:avLst/>
          </a:prstGeom>
          <a:solidFill>
            <a:srgbClr val="F4A26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119" name="Google Shape;119;p4"/>
          <p:cNvSpPr txBox="1"/>
          <p:nvPr/>
        </p:nvSpPr>
        <p:spPr>
          <a:xfrm>
            <a:off x="6473952" y="2130552"/>
            <a:ext cx="4645152" cy="310896"/>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i="0" lang="en-US" sz="1550">
                <a:solidFill>
                  <a:srgbClr val="D68B4B"/>
                </a:solidFill>
                <a:latin typeface="IBM Plex Mono"/>
                <a:ea typeface="IBM Plex Mono"/>
                <a:cs typeface="IBM Plex Mono"/>
                <a:sym typeface="IBM Plex Mono"/>
              </a:rPr>
              <a:t>LLM-FIRST GENERATION</a:t>
            </a:r>
            <a:endParaRPr/>
          </a:p>
        </p:txBody>
      </p:sp>
      <p:sp>
        <p:nvSpPr>
          <p:cNvPr id="120" name="Google Shape;120;p4"/>
          <p:cNvSpPr txBox="1"/>
          <p:nvPr/>
        </p:nvSpPr>
        <p:spPr>
          <a:xfrm>
            <a:off x="6473952" y="2587752"/>
            <a:ext cx="4608576" cy="32004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100">
                <a:solidFill>
                  <a:srgbClr val="111A28"/>
                </a:solidFill>
                <a:latin typeface="IBM Plex Sans"/>
                <a:ea typeface="IBM Plex Sans"/>
                <a:cs typeface="IBM Plex Sans"/>
                <a:sym typeface="IBM Plex Sans"/>
              </a:rPr>
              <a:t>Suggest the meaning</a:t>
            </a:r>
            <a:endParaRPr/>
          </a:p>
        </p:txBody>
      </p:sp>
      <p:sp>
        <p:nvSpPr>
          <p:cNvPr id="121" name="Google Shape;121;p4"/>
          <p:cNvSpPr txBox="1"/>
          <p:nvPr/>
        </p:nvSpPr>
        <p:spPr>
          <a:xfrm>
            <a:off x="6473952" y="3072384"/>
            <a:ext cx="4553712" cy="5394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700">
                <a:solidFill>
                  <a:srgbClr val="111A28"/>
                </a:solidFill>
                <a:latin typeface="IBM Plex Sans"/>
                <a:ea typeface="IBM Plex Sans"/>
                <a:cs typeface="IBM Plex Sans"/>
                <a:sym typeface="IBM Plex Sans"/>
              </a:rPr>
              <a:t>Labels, concepts and plausible relationships can be proposed.</a:t>
            </a:r>
            <a:endParaRPr/>
          </a:p>
        </p:txBody>
      </p:sp>
      <p:sp>
        <p:nvSpPr>
          <p:cNvPr id="122" name="Google Shape;122;p4"/>
          <p:cNvSpPr txBox="1"/>
          <p:nvPr/>
        </p:nvSpPr>
        <p:spPr>
          <a:xfrm>
            <a:off x="6473952" y="3895344"/>
            <a:ext cx="4663440" cy="32004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sz="1600">
                <a:solidFill>
                  <a:srgbClr val="5D6879"/>
                </a:solidFill>
                <a:latin typeface="IBM Plex Sans"/>
                <a:ea typeface="IBM Plex Sans"/>
                <a:cs typeface="IBM Plex Sans"/>
                <a:sym typeface="IBM Plex Sans"/>
              </a:rPr>
              <a:t>But elements may be omitted or modeled incorrectly.</a:t>
            </a:r>
            <a:endParaRPr/>
          </a:p>
        </p:txBody>
      </p:sp>
      <p:sp>
        <p:nvSpPr>
          <p:cNvPr id="123" name="Google Shape;123;p4"/>
          <p:cNvSpPr/>
          <p:nvPr/>
        </p:nvSpPr>
        <p:spPr>
          <a:xfrm>
            <a:off x="804672" y="4745736"/>
            <a:ext cx="10588752" cy="960120"/>
          </a:xfrm>
          <a:prstGeom prst="roundRect">
            <a:avLst>
              <a:gd fmla="val 10000" name="adj"/>
            </a:avLst>
          </a:prstGeom>
          <a:solidFill>
            <a:srgbClr val="E4EB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124" name="Google Shape;124;p4"/>
          <p:cNvSpPr txBox="1"/>
          <p:nvPr/>
        </p:nvSpPr>
        <p:spPr>
          <a:xfrm>
            <a:off x="1051560" y="4919472"/>
            <a:ext cx="2039112" cy="310896"/>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i="0" lang="en-US" sz="1550">
                <a:solidFill>
                  <a:srgbClr val="4D71DE"/>
                </a:solidFill>
                <a:latin typeface="IBM Plex Mono"/>
                <a:ea typeface="IBM Plex Mono"/>
                <a:cs typeface="IBM Plex Mono"/>
                <a:sym typeface="IBM Plex Mono"/>
              </a:rPr>
              <a:t>OUR QUESTION</a:t>
            </a:r>
            <a:endParaRPr/>
          </a:p>
        </p:txBody>
      </p:sp>
      <p:sp>
        <p:nvSpPr>
          <p:cNvPr id="125" name="Google Shape;125;p4"/>
          <p:cNvSpPr txBox="1"/>
          <p:nvPr/>
        </p:nvSpPr>
        <p:spPr>
          <a:xfrm>
            <a:off x="2907792" y="4864608"/>
            <a:ext cx="8156448" cy="667512"/>
          </a:xfrm>
          <a:prstGeom prst="rect">
            <a:avLst/>
          </a:prstGeom>
          <a:noFill/>
          <a:ln>
            <a:noFill/>
          </a:ln>
        </p:spPr>
        <p:txBody>
          <a:bodyPr anchorCtr="0" anchor="ctr" bIns="0" lIns="0" spcFirstLastPara="1" rIns="0" wrap="square" tIns="0">
            <a:spAutoFit/>
          </a:bodyPr>
          <a:lstStyle/>
          <a:p>
            <a:pPr indent="0" lvl="0" marL="0" marR="0" rtl="0" algn="l">
              <a:lnSpc>
                <a:spcPct val="107000"/>
              </a:lnSpc>
              <a:spcBef>
                <a:spcPts val="0"/>
              </a:spcBef>
              <a:spcAft>
                <a:spcPts val="0"/>
              </a:spcAft>
              <a:buNone/>
            </a:pPr>
            <a:r>
              <a:rPr b="1" lang="en-US" sz="1800">
                <a:solidFill>
                  <a:srgbClr val="111A28"/>
                </a:solidFill>
                <a:latin typeface="IBM Plex Sans"/>
                <a:ea typeface="IBM Plex Sans"/>
                <a:cs typeface="IBM Plex Sans"/>
                <a:sym typeface="IBM Plex Sans"/>
              </a:rPr>
              <a:t>Can we preserve schema fidelity </a:t>
            </a:r>
            <a:r>
              <a:rPr b="1" lang="en-US" sz="1800">
                <a:solidFill>
                  <a:srgbClr val="4D71DE"/>
                </a:solidFill>
                <a:latin typeface="IBM Plex Sans"/>
                <a:ea typeface="IBM Plex Sans"/>
                <a:cs typeface="IBM Plex Sans"/>
                <a:sym typeface="IBM Plex Sans"/>
              </a:rPr>
              <a:t>and</a:t>
            </a:r>
            <a:r>
              <a:rPr b="1" lang="en-US" sz="1800">
                <a:solidFill>
                  <a:srgbClr val="111A28"/>
                </a:solidFill>
                <a:latin typeface="IBM Plex Sans"/>
                <a:ea typeface="IBM Plex Sans"/>
                <a:cs typeface="IBM Plex Sans"/>
                <a:sym typeface="IBM Plex Sans"/>
              </a:rPr>
              <a:t> add domain semantics,</a:t>
            </a:r>
            <a:br>
              <a:rPr b="1" lang="en-US" sz="1800">
                <a:solidFill>
                  <a:srgbClr val="111A28"/>
                </a:solidFill>
                <a:latin typeface="IBM Plex Sans"/>
                <a:ea typeface="IBM Plex Sans"/>
                <a:cs typeface="IBM Plex Sans"/>
                <a:sym typeface="IBM Plex Sans"/>
              </a:rPr>
            </a:br>
            <a:r>
              <a:rPr b="1" lang="en-US" sz="1800">
                <a:solidFill>
                  <a:srgbClr val="111A28"/>
                </a:solidFill>
                <a:latin typeface="IBM Plex Sans"/>
                <a:ea typeface="IBM Plex Sans"/>
                <a:cs typeface="IBM Plex Sans"/>
                <a:sym typeface="IBM Plex Sans"/>
              </a:rPr>
              <a:t>across the full database—without expert intervention during generation?</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1726"/>
        </a:solidFill>
      </p:bgPr>
    </p:bg>
    <p:spTree>
      <p:nvGrpSpPr>
        <p:cNvPr id="130" name="Shape 130"/>
        <p:cNvGrpSpPr/>
        <p:nvPr/>
      </p:nvGrpSpPr>
      <p:grpSpPr>
        <a:xfrm>
          <a:off x="0" y="0"/>
          <a:ext cx="0" cy="0"/>
          <a:chOff x="0" y="0"/>
          <a:chExt cx="0" cy="0"/>
        </a:xfrm>
      </p:grpSpPr>
      <p:sp>
        <p:nvSpPr>
          <p:cNvPr id="131" name="Google Shape;131;p5"/>
          <p:cNvSpPr txBox="1"/>
          <p:nvPr/>
        </p:nvSpPr>
        <p:spPr>
          <a:xfrm>
            <a:off x="822960" y="521207"/>
            <a:ext cx="10789920" cy="310896"/>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i="0" lang="en-US" sz="1400">
                <a:solidFill>
                  <a:srgbClr val="F4A261"/>
                </a:solidFill>
                <a:latin typeface="IBM Plex Mono"/>
                <a:ea typeface="IBM Plex Mono"/>
                <a:cs typeface="IBM Plex Mono"/>
                <a:sym typeface="IBM Plex Mono"/>
              </a:rPr>
              <a:t>OUR ANSWER  /  RIGOR</a:t>
            </a:r>
            <a:endParaRPr/>
          </a:p>
        </p:txBody>
      </p:sp>
      <p:sp>
        <p:nvSpPr>
          <p:cNvPr id="132" name="Google Shape;132;p5"/>
          <p:cNvSpPr txBox="1"/>
          <p:nvPr/>
        </p:nvSpPr>
        <p:spPr>
          <a:xfrm>
            <a:off x="804672" y="978408"/>
            <a:ext cx="10625328" cy="66751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3100">
                <a:solidFill>
                  <a:srgbClr val="EDF1F6"/>
                </a:solidFill>
                <a:latin typeface="IBM Plex Sans"/>
                <a:ea typeface="IBM Plex Sans"/>
                <a:cs typeface="IBM Plex Sans"/>
                <a:sym typeface="IBM Plex Sans"/>
              </a:rPr>
              <a:t>Build the ontology one table at a time.</a:t>
            </a:r>
            <a:endParaRPr/>
          </a:p>
        </p:txBody>
      </p:sp>
      <p:sp>
        <p:nvSpPr>
          <p:cNvPr id="133" name="Google Shape;133;p5"/>
          <p:cNvSpPr txBox="1"/>
          <p:nvPr/>
        </p:nvSpPr>
        <p:spPr>
          <a:xfrm>
            <a:off x="804672" y="1673352"/>
            <a:ext cx="10634472" cy="4297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sz="1900">
                <a:solidFill>
                  <a:srgbClr val="C9D2DE"/>
                </a:solidFill>
                <a:latin typeface="IBM Plex Sans"/>
                <a:ea typeface="IBM Plex Sans"/>
                <a:cs typeface="IBM Plex Sans"/>
                <a:sym typeface="IBM Plex Sans"/>
              </a:rPr>
              <a:t>We will construct the answer to our admission example, together.</a:t>
            </a:r>
            <a:endParaRPr/>
          </a:p>
        </p:txBody>
      </p:sp>
      <p:sp>
        <p:nvSpPr>
          <p:cNvPr id="134" name="Google Shape;134;p5"/>
          <p:cNvSpPr/>
          <p:nvPr/>
        </p:nvSpPr>
        <p:spPr>
          <a:xfrm>
            <a:off x="813816" y="2441448"/>
            <a:ext cx="3026664" cy="2267712"/>
          </a:xfrm>
          <a:prstGeom prst="roundRect">
            <a:avLst>
              <a:gd fmla="val 10000" name="adj"/>
            </a:avLst>
          </a:prstGeom>
          <a:solidFill>
            <a:srgbClr val="18273E"/>
          </a:solidFill>
          <a:ln cap="flat" cmpd="sng" w="12700">
            <a:solidFill>
              <a:srgbClr val="263A5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135" name="Google Shape;135;p5"/>
          <p:cNvSpPr txBox="1"/>
          <p:nvPr/>
        </p:nvSpPr>
        <p:spPr>
          <a:xfrm>
            <a:off x="1033271" y="2651760"/>
            <a:ext cx="2606040" cy="283464"/>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i="0" lang="en-US" sz="1520">
                <a:solidFill>
                  <a:srgbClr val="9AA6B8"/>
                </a:solidFill>
                <a:latin typeface="IBM Plex Mono"/>
                <a:ea typeface="IBM Plex Mono"/>
                <a:cs typeface="IBM Plex Mono"/>
                <a:sym typeface="IBM Plex Mono"/>
              </a:rPr>
              <a:t>WHAT WE HAVE</a:t>
            </a:r>
            <a:endParaRPr/>
          </a:p>
        </p:txBody>
      </p:sp>
      <p:sp>
        <p:nvSpPr>
          <p:cNvPr id="136" name="Google Shape;136;p5"/>
          <p:cNvSpPr txBox="1"/>
          <p:nvPr/>
        </p:nvSpPr>
        <p:spPr>
          <a:xfrm>
            <a:off x="1042415" y="3072384"/>
            <a:ext cx="2542032" cy="30175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300">
                <a:solidFill>
                  <a:srgbClr val="EDF1F6"/>
                </a:solidFill>
                <a:latin typeface="IBM Plex Sans"/>
                <a:ea typeface="IBM Plex Sans"/>
                <a:cs typeface="IBM Plex Sans"/>
                <a:sym typeface="IBM Plex Sans"/>
              </a:rPr>
              <a:t>admission</a:t>
            </a:r>
            <a:endParaRPr/>
          </a:p>
        </p:txBody>
      </p:sp>
      <p:cxnSp>
        <p:nvCxnSpPr>
          <p:cNvPr id="137" name="Google Shape;137;p5"/>
          <p:cNvCxnSpPr/>
          <p:nvPr/>
        </p:nvCxnSpPr>
        <p:spPr>
          <a:xfrm>
            <a:off x="1033271" y="3456432"/>
            <a:ext cx="2542033" cy="0"/>
          </a:xfrm>
          <a:prstGeom prst="straightConnector1">
            <a:avLst/>
          </a:prstGeom>
          <a:noFill/>
          <a:ln cap="flat" cmpd="sng" w="19050">
            <a:solidFill>
              <a:srgbClr val="7F8CA1"/>
            </a:solidFill>
            <a:prstDash val="solid"/>
            <a:miter lim="8000"/>
            <a:headEnd len="sm" w="sm" type="none"/>
            <a:tailEnd len="sm" w="sm" type="none"/>
          </a:ln>
        </p:spPr>
      </p:cxnSp>
      <p:sp>
        <p:nvSpPr>
          <p:cNvPr id="138" name="Google Shape;138;p5"/>
          <p:cNvSpPr txBox="1"/>
          <p:nvPr/>
        </p:nvSpPr>
        <p:spPr>
          <a:xfrm>
            <a:off x="1033271" y="3611880"/>
            <a:ext cx="2596896" cy="24688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sz="1500">
                <a:solidFill>
                  <a:srgbClr val="C9D2DE"/>
                </a:solidFill>
                <a:latin typeface="IBM Plex Mono"/>
                <a:ea typeface="IBM Plex Mono"/>
                <a:cs typeface="IBM Plex Mono"/>
                <a:sym typeface="IBM Plex Mono"/>
              </a:rPr>
              <a:t>patient_id   FK</a:t>
            </a:r>
            <a:endParaRPr/>
          </a:p>
        </p:txBody>
      </p:sp>
      <p:sp>
        <p:nvSpPr>
          <p:cNvPr id="139" name="Google Shape;139;p5"/>
          <p:cNvSpPr txBox="1"/>
          <p:nvPr/>
        </p:nvSpPr>
        <p:spPr>
          <a:xfrm>
            <a:off x="1033271" y="3904487"/>
            <a:ext cx="2596896" cy="24688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sz="1500">
                <a:solidFill>
                  <a:srgbClr val="C9D2DE"/>
                </a:solidFill>
                <a:latin typeface="IBM Plex Mono"/>
                <a:ea typeface="IBM Plex Mono"/>
                <a:cs typeface="IBM Plex Mono"/>
                <a:sym typeface="IBM Plex Mono"/>
              </a:rPr>
              <a:t>BM_DEP       INT</a:t>
            </a:r>
            <a:endParaRPr/>
          </a:p>
        </p:txBody>
      </p:sp>
      <p:sp>
        <p:nvSpPr>
          <p:cNvPr id="140" name="Google Shape;140;p5"/>
          <p:cNvSpPr txBox="1"/>
          <p:nvPr/>
        </p:nvSpPr>
        <p:spPr>
          <a:xfrm>
            <a:off x="1033271" y="4187952"/>
            <a:ext cx="2596896" cy="24688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sz="1500">
                <a:solidFill>
                  <a:srgbClr val="C9D2DE"/>
                </a:solidFill>
                <a:latin typeface="IBM Plex Mono"/>
                <a:ea typeface="IBM Plex Mono"/>
                <a:cs typeface="IBM Plex Mono"/>
                <a:sym typeface="IBM Plex Mono"/>
              </a:rPr>
              <a:t>ecog_stage   INT</a:t>
            </a:r>
            <a:endParaRPr/>
          </a:p>
        </p:txBody>
      </p:sp>
      <p:sp>
        <p:nvSpPr>
          <p:cNvPr id="141" name="Google Shape;141;p5"/>
          <p:cNvSpPr/>
          <p:nvPr/>
        </p:nvSpPr>
        <p:spPr>
          <a:xfrm>
            <a:off x="4123944" y="3282696"/>
            <a:ext cx="557784" cy="457200"/>
          </a:xfrm>
          <a:prstGeom prst="rightArrow">
            <a:avLst>
              <a:gd fmla="val 50000" name="adj1"/>
              <a:gd fmla="val 50000" name="adj2"/>
            </a:avLst>
          </a:prstGeom>
          <a:solidFill>
            <a:srgbClr val="F4A26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142" name="Google Shape;142;p5"/>
          <p:cNvSpPr/>
          <p:nvPr/>
        </p:nvSpPr>
        <p:spPr>
          <a:xfrm>
            <a:off x="5020056" y="2441448"/>
            <a:ext cx="6391656" cy="2267712"/>
          </a:xfrm>
          <a:prstGeom prst="roundRect">
            <a:avLst>
              <a:gd fmla="val 10000" name="adj"/>
            </a:avLst>
          </a:prstGeom>
          <a:solidFill>
            <a:srgbClr val="21314A"/>
          </a:solidFill>
          <a:ln cap="flat" cmpd="sng" w="15225">
            <a:solidFill>
              <a:srgbClr val="7799F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143" name="Google Shape;143;p5"/>
          <p:cNvSpPr txBox="1"/>
          <p:nvPr/>
        </p:nvSpPr>
        <p:spPr>
          <a:xfrm>
            <a:off x="5257800" y="2642616"/>
            <a:ext cx="5843016" cy="283464"/>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i="0" lang="en-US" sz="1520">
                <a:solidFill>
                  <a:srgbClr val="7799F0"/>
                </a:solidFill>
                <a:latin typeface="IBM Plex Mono"/>
                <a:ea typeface="IBM Plex Mono"/>
                <a:cs typeface="IBM Plex Mono"/>
                <a:sym typeface="IBM Plex Mono"/>
              </a:rPr>
              <a:t>WHAT WE WANT</a:t>
            </a:r>
            <a:endParaRPr/>
          </a:p>
        </p:txBody>
      </p:sp>
      <p:sp>
        <p:nvSpPr>
          <p:cNvPr id="144" name="Google Shape;144;p5"/>
          <p:cNvSpPr/>
          <p:nvPr/>
        </p:nvSpPr>
        <p:spPr>
          <a:xfrm>
            <a:off x="5266944" y="3063240"/>
            <a:ext cx="2157984" cy="493776"/>
          </a:xfrm>
          <a:prstGeom prst="roundRect">
            <a:avLst>
              <a:gd fmla="val 10000" name="adj"/>
            </a:avLst>
          </a:prstGeom>
          <a:solidFill>
            <a:srgbClr val="263A56"/>
          </a:solidFill>
          <a:ln cap="flat" cmpd="sng" w="12700">
            <a:solidFill>
              <a:srgbClr val="7799F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145" name="Google Shape;145;p5"/>
          <p:cNvSpPr txBox="1"/>
          <p:nvPr/>
        </p:nvSpPr>
        <p:spPr>
          <a:xfrm>
            <a:off x="5468112" y="3182112"/>
            <a:ext cx="1783080" cy="219456"/>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1800">
                <a:solidFill>
                  <a:srgbClr val="EDF1F6"/>
                </a:solidFill>
                <a:latin typeface="IBM Plex Sans"/>
                <a:ea typeface="IBM Plex Sans"/>
                <a:cs typeface="IBM Plex Sans"/>
                <a:sym typeface="IBM Plex Sans"/>
              </a:rPr>
              <a:t>Admission</a:t>
            </a:r>
            <a:endParaRPr/>
          </a:p>
        </p:txBody>
      </p:sp>
      <p:sp>
        <p:nvSpPr>
          <p:cNvPr id="146" name="Google Shape;146;p5"/>
          <p:cNvSpPr/>
          <p:nvPr/>
        </p:nvSpPr>
        <p:spPr>
          <a:xfrm>
            <a:off x="9189720" y="3063240"/>
            <a:ext cx="1938528" cy="493776"/>
          </a:xfrm>
          <a:prstGeom prst="roundRect">
            <a:avLst>
              <a:gd fmla="val 10000" name="adj"/>
            </a:avLst>
          </a:prstGeom>
          <a:solidFill>
            <a:srgbClr val="263A56"/>
          </a:solidFill>
          <a:ln cap="flat" cmpd="sng" w="12700">
            <a:solidFill>
              <a:srgbClr val="7799F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147" name="Google Shape;147;p5"/>
          <p:cNvSpPr txBox="1"/>
          <p:nvPr/>
        </p:nvSpPr>
        <p:spPr>
          <a:xfrm>
            <a:off x="9317736" y="3182112"/>
            <a:ext cx="1682496" cy="219456"/>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1700">
                <a:solidFill>
                  <a:srgbClr val="EDF1F6"/>
                </a:solidFill>
                <a:latin typeface="IBM Plex Sans"/>
                <a:ea typeface="IBM Plex Sans"/>
                <a:cs typeface="IBM Plex Sans"/>
                <a:sym typeface="IBM Plex Sans"/>
              </a:rPr>
              <a:t>PatientData</a:t>
            </a:r>
            <a:endParaRPr/>
          </a:p>
        </p:txBody>
      </p:sp>
      <p:cxnSp>
        <p:nvCxnSpPr>
          <p:cNvPr id="148" name="Google Shape;148;p5"/>
          <p:cNvCxnSpPr/>
          <p:nvPr/>
        </p:nvCxnSpPr>
        <p:spPr>
          <a:xfrm>
            <a:off x="7452360" y="3310128"/>
            <a:ext cx="1664208" cy="0"/>
          </a:xfrm>
          <a:prstGeom prst="straightConnector1">
            <a:avLst/>
          </a:prstGeom>
          <a:noFill/>
          <a:ln cap="flat" cmpd="sng" w="30475">
            <a:solidFill>
              <a:srgbClr val="F4A261"/>
            </a:solidFill>
            <a:prstDash val="solid"/>
            <a:miter lim="8000"/>
            <a:headEnd len="sm" w="sm" type="none"/>
            <a:tailEnd len="med" w="med" type="triangle"/>
          </a:ln>
        </p:spPr>
      </p:cxnSp>
      <p:sp>
        <p:nvSpPr>
          <p:cNvPr id="149" name="Google Shape;149;p5"/>
          <p:cNvSpPr txBox="1"/>
          <p:nvPr/>
        </p:nvSpPr>
        <p:spPr>
          <a:xfrm>
            <a:off x="7470648" y="2980944"/>
            <a:ext cx="1810512" cy="2286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i="0" lang="en-US" sz="1400">
                <a:solidFill>
                  <a:srgbClr val="F4A261"/>
                </a:solidFill>
                <a:latin typeface="IBM Plex Mono"/>
                <a:ea typeface="IBM Plex Mono"/>
                <a:cs typeface="IBM Plex Mono"/>
                <a:sym typeface="IBM Plex Mono"/>
              </a:rPr>
              <a:t>hasPatientData</a:t>
            </a:r>
            <a:endParaRPr/>
          </a:p>
        </p:txBody>
      </p:sp>
      <p:sp>
        <p:nvSpPr>
          <p:cNvPr id="150" name="Google Shape;150;p5"/>
          <p:cNvSpPr txBox="1"/>
          <p:nvPr/>
        </p:nvSpPr>
        <p:spPr>
          <a:xfrm>
            <a:off x="5330952" y="3785615"/>
            <a:ext cx="5586984" cy="265176"/>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sz="1700">
                <a:solidFill>
                  <a:srgbClr val="EDF1F6"/>
                </a:solidFill>
                <a:latin typeface="IBM Plex Sans"/>
                <a:ea typeface="IBM Plex Sans"/>
                <a:cs typeface="IBM Plex Sans"/>
                <a:sym typeface="IBM Plex Sans"/>
              </a:rPr>
              <a:t>+ meaningful labels   + encoded values</a:t>
            </a:r>
            <a:endParaRPr/>
          </a:p>
        </p:txBody>
      </p:sp>
      <p:sp>
        <p:nvSpPr>
          <p:cNvPr id="151" name="Google Shape;151;p5"/>
          <p:cNvSpPr txBox="1"/>
          <p:nvPr/>
        </p:nvSpPr>
        <p:spPr>
          <a:xfrm>
            <a:off x="5330952" y="4151376"/>
            <a:ext cx="5586984"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sz="1650">
                <a:solidFill>
                  <a:srgbClr val="C9D2DE"/>
                </a:solidFill>
                <a:latin typeface="IBM Plex Sans"/>
                <a:ea typeface="IBM Plex Sans"/>
                <a:cs typeface="IBM Plex Sans"/>
                <a:sym typeface="IBM Plex Sans"/>
              </a:rPr>
              <a:t>+ provenance   + justified axioms / links</a:t>
            </a:r>
            <a:endParaRPr/>
          </a:p>
        </p:txBody>
      </p:sp>
      <p:sp>
        <p:nvSpPr>
          <p:cNvPr id="152" name="Google Shape;152;p5"/>
          <p:cNvSpPr txBox="1"/>
          <p:nvPr/>
        </p:nvSpPr>
        <p:spPr>
          <a:xfrm>
            <a:off x="859536" y="5020056"/>
            <a:ext cx="10460736" cy="4297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1800">
                <a:solidFill>
                  <a:srgbClr val="EDF1F6"/>
                </a:solidFill>
                <a:latin typeface="IBM Plex Sans"/>
                <a:ea typeface="IBM Plex Sans"/>
                <a:cs typeface="IBM Plex Sans"/>
                <a:sym typeface="IBM Plex Sans"/>
              </a:rPr>
              <a:t>We need to preserve structure, discover meaning, and prevent mistakes—at database scale.</a:t>
            </a:r>
            <a:endParaRPr/>
          </a:p>
        </p:txBody>
      </p:sp>
      <p:sp>
        <p:nvSpPr>
          <p:cNvPr id="153" name="Google Shape;153;p5"/>
          <p:cNvSpPr/>
          <p:nvPr/>
        </p:nvSpPr>
        <p:spPr>
          <a:xfrm>
            <a:off x="804672" y="5797296"/>
            <a:ext cx="1645920" cy="310896"/>
          </a:xfrm>
          <a:prstGeom prst="roundRect">
            <a:avLst>
              <a:gd fmla="val 10000" name="adj"/>
            </a:avLst>
          </a:prstGeom>
          <a:solidFill>
            <a:srgbClr val="18273E"/>
          </a:solidFill>
          <a:ln cap="flat" cmpd="sng" w="12700">
            <a:solidFill>
              <a:srgbClr val="263A5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154" name="Google Shape;154;p5"/>
          <p:cNvSpPr txBox="1"/>
          <p:nvPr/>
        </p:nvSpPr>
        <p:spPr>
          <a:xfrm>
            <a:off x="859536" y="5833872"/>
            <a:ext cx="1527048" cy="246888"/>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i="0" lang="en-US" sz="1400">
                <a:solidFill>
                  <a:srgbClr val="7F8CA1"/>
                </a:solidFill>
                <a:latin typeface="IBM Plex Mono"/>
                <a:ea typeface="IBM Plex Mono"/>
                <a:cs typeface="IBM Plex Mono"/>
                <a:sym typeface="IBM Plex Mono"/>
              </a:rPr>
              <a:t>1  ORDER</a:t>
            </a:r>
            <a:endParaRPr/>
          </a:p>
        </p:txBody>
      </p:sp>
      <p:sp>
        <p:nvSpPr>
          <p:cNvPr id="155" name="Google Shape;155;p5"/>
          <p:cNvSpPr/>
          <p:nvPr/>
        </p:nvSpPr>
        <p:spPr>
          <a:xfrm>
            <a:off x="2642615" y="5797296"/>
            <a:ext cx="1645920" cy="310896"/>
          </a:xfrm>
          <a:prstGeom prst="roundRect">
            <a:avLst>
              <a:gd fmla="val 10000" name="adj"/>
            </a:avLst>
          </a:prstGeom>
          <a:solidFill>
            <a:srgbClr val="18273E"/>
          </a:solidFill>
          <a:ln cap="flat" cmpd="sng" w="12700">
            <a:solidFill>
              <a:srgbClr val="263A5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156" name="Google Shape;156;p5"/>
          <p:cNvSpPr txBox="1"/>
          <p:nvPr/>
        </p:nvSpPr>
        <p:spPr>
          <a:xfrm>
            <a:off x="2697479" y="5833872"/>
            <a:ext cx="1527048" cy="246888"/>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i="0" lang="en-US" sz="1400">
                <a:solidFill>
                  <a:srgbClr val="7F8CA1"/>
                </a:solidFill>
                <a:latin typeface="IBM Plex Mono"/>
                <a:ea typeface="IBM Plex Mono"/>
                <a:cs typeface="IBM Plex Mono"/>
                <a:sym typeface="IBM Plex Mono"/>
              </a:rPr>
              <a:t>2  SEED</a:t>
            </a:r>
            <a:endParaRPr/>
          </a:p>
        </p:txBody>
      </p:sp>
      <p:sp>
        <p:nvSpPr>
          <p:cNvPr id="157" name="Google Shape;157;p5"/>
          <p:cNvSpPr/>
          <p:nvPr/>
        </p:nvSpPr>
        <p:spPr>
          <a:xfrm>
            <a:off x="4480559" y="5797296"/>
            <a:ext cx="1645920" cy="310896"/>
          </a:xfrm>
          <a:prstGeom prst="roundRect">
            <a:avLst>
              <a:gd fmla="val 10000" name="adj"/>
            </a:avLst>
          </a:prstGeom>
          <a:solidFill>
            <a:srgbClr val="18273E"/>
          </a:solidFill>
          <a:ln cap="flat" cmpd="sng" w="12700">
            <a:solidFill>
              <a:srgbClr val="263A5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158" name="Google Shape;158;p5"/>
          <p:cNvSpPr txBox="1"/>
          <p:nvPr/>
        </p:nvSpPr>
        <p:spPr>
          <a:xfrm>
            <a:off x="4535423" y="5833872"/>
            <a:ext cx="1527048" cy="246888"/>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i="0" lang="en-US" sz="1400">
                <a:solidFill>
                  <a:srgbClr val="7F8CA1"/>
                </a:solidFill>
                <a:latin typeface="IBM Plex Mono"/>
                <a:ea typeface="IBM Plex Mono"/>
                <a:cs typeface="IBM Plex Mono"/>
                <a:sym typeface="IBM Plex Mono"/>
              </a:rPr>
              <a:t>3  RETRIEVE</a:t>
            </a:r>
            <a:endParaRPr/>
          </a:p>
        </p:txBody>
      </p:sp>
      <p:sp>
        <p:nvSpPr>
          <p:cNvPr id="159" name="Google Shape;159;p5"/>
          <p:cNvSpPr/>
          <p:nvPr/>
        </p:nvSpPr>
        <p:spPr>
          <a:xfrm>
            <a:off x="6318503" y="5797296"/>
            <a:ext cx="1645920" cy="310896"/>
          </a:xfrm>
          <a:prstGeom prst="roundRect">
            <a:avLst>
              <a:gd fmla="val 10000" name="adj"/>
            </a:avLst>
          </a:prstGeom>
          <a:solidFill>
            <a:srgbClr val="18273E"/>
          </a:solidFill>
          <a:ln cap="flat" cmpd="sng" w="12700">
            <a:solidFill>
              <a:srgbClr val="263A5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160" name="Google Shape;160;p5"/>
          <p:cNvSpPr txBox="1"/>
          <p:nvPr/>
        </p:nvSpPr>
        <p:spPr>
          <a:xfrm>
            <a:off x="6373367" y="5833872"/>
            <a:ext cx="1527048" cy="246888"/>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i="0" lang="en-US" sz="1400">
                <a:solidFill>
                  <a:srgbClr val="7F8CA1"/>
                </a:solidFill>
                <a:latin typeface="IBM Plex Mono"/>
                <a:ea typeface="IBM Plex Mono"/>
                <a:cs typeface="IBM Plex Mono"/>
                <a:sym typeface="IBM Plex Mono"/>
              </a:rPr>
              <a:t>4  GENERATE</a:t>
            </a:r>
            <a:endParaRPr/>
          </a:p>
        </p:txBody>
      </p:sp>
      <p:sp>
        <p:nvSpPr>
          <p:cNvPr id="161" name="Google Shape;161;p5"/>
          <p:cNvSpPr/>
          <p:nvPr/>
        </p:nvSpPr>
        <p:spPr>
          <a:xfrm>
            <a:off x="8156448" y="5797296"/>
            <a:ext cx="1645920" cy="310896"/>
          </a:xfrm>
          <a:prstGeom prst="roundRect">
            <a:avLst>
              <a:gd fmla="val 10000" name="adj"/>
            </a:avLst>
          </a:prstGeom>
          <a:solidFill>
            <a:srgbClr val="18273E"/>
          </a:solidFill>
          <a:ln cap="flat" cmpd="sng" w="12700">
            <a:solidFill>
              <a:srgbClr val="263A5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162" name="Google Shape;162;p5"/>
          <p:cNvSpPr txBox="1"/>
          <p:nvPr/>
        </p:nvSpPr>
        <p:spPr>
          <a:xfrm>
            <a:off x="8211312" y="5833872"/>
            <a:ext cx="1527048" cy="246888"/>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i="0" lang="en-US" sz="1400">
                <a:solidFill>
                  <a:srgbClr val="7F8CA1"/>
                </a:solidFill>
                <a:latin typeface="IBM Plex Mono"/>
                <a:ea typeface="IBM Plex Mono"/>
                <a:cs typeface="IBM Plex Mono"/>
                <a:sym typeface="IBM Plex Mono"/>
              </a:rPr>
              <a:t>5  VALIDATE</a:t>
            </a:r>
            <a:endParaRPr/>
          </a:p>
        </p:txBody>
      </p:sp>
      <p:sp>
        <p:nvSpPr>
          <p:cNvPr id="163" name="Google Shape;163;p5"/>
          <p:cNvSpPr/>
          <p:nvPr/>
        </p:nvSpPr>
        <p:spPr>
          <a:xfrm>
            <a:off x="9994392" y="5797296"/>
            <a:ext cx="1645920" cy="310896"/>
          </a:xfrm>
          <a:prstGeom prst="roundRect">
            <a:avLst>
              <a:gd fmla="val 10000" name="adj"/>
            </a:avLst>
          </a:prstGeom>
          <a:solidFill>
            <a:srgbClr val="18273E"/>
          </a:solidFill>
          <a:ln cap="flat" cmpd="sng" w="12700">
            <a:solidFill>
              <a:srgbClr val="263A5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164" name="Google Shape;164;p5"/>
          <p:cNvSpPr txBox="1"/>
          <p:nvPr/>
        </p:nvSpPr>
        <p:spPr>
          <a:xfrm>
            <a:off x="10049256" y="5833872"/>
            <a:ext cx="1527048" cy="246888"/>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i="0" lang="en-US" sz="1400">
                <a:solidFill>
                  <a:srgbClr val="7F8CA1"/>
                </a:solidFill>
                <a:latin typeface="IBM Plex Mono"/>
                <a:ea typeface="IBM Plex Mono"/>
                <a:cs typeface="IBM Plex Mono"/>
                <a:sym typeface="IBM Plex Mono"/>
              </a:rPr>
              <a:t>6  MERGE</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4F7"/>
        </a:solidFill>
      </p:bgPr>
    </p:bg>
    <p:spTree>
      <p:nvGrpSpPr>
        <p:cNvPr id="169" name="Shape 169"/>
        <p:cNvGrpSpPr/>
        <p:nvPr/>
      </p:nvGrpSpPr>
      <p:grpSpPr>
        <a:xfrm>
          <a:off x="0" y="0"/>
          <a:ext cx="0" cy="0"/>
          <a:chOff x="0" y="0"/>
          <a:chExt cx="0" cy="0"/>
        </a:xfrm>
      </p:grpSpPr>
      <p:sp>
        <p:nvSpPr>
          <p:cNvPr id="170" name="Google Shape;170;p6"/>
          <p:cNvSpPr txBox="1"/>
          <p:nvPr/>
        </p:nvSpPr>
        <p:spPr>
          <a:xfrm>
            <a:off x="795528" y="448056"/>
            <a:ext cx="10789920" cy="310896"/>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i="0" lang="en-US" sz="1400">
                <a:solidFill>
                  <a:srgbClr val="4D71DE"/>
                </a:solidFill>
                <a:latin typeface="IBM Plex Mono"/>
                <a:ea typeface="IBM Plex Mono"/>
                <a:cs typeface="IBM Plex Mono"/>
                <a:sym typeface="IBM Plex Mono"/>
              </a:rPr>
              <a:t>STEP 1 / ORDER</a:t>
            </a:r>
            <a:endParaRPr/>
          </a:p>
        </p:txBody>
      </p:sp>
      <p:sp>
        <p:nvSpPr>
          <p:cNvPr id="171" name="Google Shape;171;p6"/>
          <p:cNvSpPr txBox="1"/>
          <p:nvPr/>
        </p:nvSpPr>
        <p:spPr>
          <a:xfrm>
            <a:off x="795528" y="850392"/>
            <a:ext cx="10835640" cy="685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800">
                <a:solidFill>
                  <a:srgbClr val="111A28"/>
                </a:solidFill>
                <a:latin typeface="IBM Plex Sans"/>
                <a:ea typeface="IBM Plex Sans"/>
                <a:cs typeface="IBM Plex Sans"/>
                <a:sym typeface="IBM Plex Sans"/>
              </a:rPr>
              <a:t>To understand this table, build its parent first.</a:t>
            </a:r>
            <a:endParaRPr/>
          </a:p>
        </p:txBody>
      </p:sp>
      <p:sp>
        <p:nvSpPr>
          <p:cNvPr id="172" name="Google Shape;172;p6"/>
          <p:cNvSpPr txBox="1"/>
          <p:nvPr/>
        </p:nvSpPr>
        <p:spPr>
          <a:xfrm>
            <a:off x="795528" y="1609344"/>
            <a:ext cx="10607040" cy="34747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sz="1600">
                <a:solidFill>
                  <a:srgbClr val="5D6879"/>
                </a:solidFill>
                <a:latin typeface="IBM Plex Sans"/>
                <a:ea typeface="IBM Plex Sans"/>
                <a:cs typeface="IBM Plex Sans"/>
                <a:sym typeface="IBM Plex Sans"/>
              </a:rPr>
              <a:t>We follow foreign-key dependencies, so known concepts are available when needed.</a:t>
            </a:r>
            <a:endParaRPr/>
          </a:p>
        </p:txBody>
      </p:sp>
      <p:sp>
        <p:nvSpPr>
          <p:cNvPr id="173" name="Google Shape;173;p6"/>
          <p:cNvSpPr/>
          <p:nvPr/>
        </p:nvSpPr>
        <p:spPr>
          <a:xfrm>
            <a:off x="822960" y="2130552"/>
            <a:ext cx="4910328" cy="2569464"/>
          </a:xfrm>
          <a:prstGeom prst="roundRect">
            <a:avLst>
              <a:gd fmla="val 10000" name="adj"/>
            </a:avLst>
          </a:prstGeom>
          <a:solidFill>
            <a:srgbClr val="FFFFFF"/>
          </a:solidFill>
          <a:ln cap="flat" cmpd="sng" w="12700">
            <a:solidFill>
              <a:srgbClr val="DFE5ED"/>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174" name="Google Shape;174;p6"/>
          <p:cNvSpPr txBox="1"/>
          <p:nvPr/>
        </p:nvSpPr>
        <p:spPr>
          <a:xfrm>
            <a:off x="1069848" y="2313432"/>
            <a:ext cx="4480560" cy="283464"/>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i="0" lang="en-US" sz="1520">
                <a:solidFill>
                  <a:srgbClr val="4D71DE"/>
                </a:solidFill>
                <a:latin typeface="IBM Plex Mono"/>
                <a:ea typeface="IBM Plex Mono"/>
                <a:cs typeface="IBM Plex Mono"/>
                <a:sym typeface="IBM Plex Mono"/>
              </a:rPr>
              <a:t>DATABASE DEPENDENCIES</a:t>
            </a:r>
            <a:endParaRPr/>
          </a:p>
        </p:txBody>
      </p:sp>
      <p:sp>
        <p:nvSpPr>
          <p:cNvPr id="175" name="Google Shape;175;p6"/>
          <p:cNvSpPr/>
          <p:nvPr/>
        </p:nvSpPr>
        <p:spPr>
          <a:xfrm>
            <a:off x="1143000" y="2816352"/>
            <a:ext cx="1874519" cy="850392"/>
          </a:xfrm>
          <a:prstGeom prst="roundRect">
            <a:avLst>
              <a:gd fmla="val 10000" name="adj"/>
            </a:avLst>
          </a:prstGeom>
          <a:solidFill>
            <a:srgbClr val="E4EBFF"/>
          </a:solidFill>
          <a:ln cap="flat" cmpd="sng" w="12700">
            <a:solidFill>
              <a:srgbClr val="4D71D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176" name="Google Shape;176;p6"/>
          <p:cNvSpPr txBox="1"/>
          <p:nvPr/>
        </p:nvSpPr>
        <p:spPr>
          <a:xfrm>
            <a:off x="1280160" y="2944368"/>
            <a:ext cx="1609344" cy="23774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1900">
                <a:solidFill>
                  <a:srgbClr val="111A28"/>
                </a:solidFill>
                <a:latin typeface="IBM Plex Sans"/>
                <a:ea typeface="IBM Plex Sans"/>
                <a:cs typeface="IBM Plex Sans"/>
                <a:sym typeface="IBM Plex Sans"/>
              </a:rPr>
              <a:t>PatientData</a:t>
            </a:r>
            <a:endParaRPr/>
          </a:p>
        </p:txBody>
      </p:sp>
      <p:sp>
        <p:nvSpPr>
          <p:cNvPr id="177" name="Google Shape;177;p6"/>
          <p:cNvSpPr txBox="1"/>
          <p:nvPr/>
        </p:nvSpPr>
        <p:spPr>
          <a:xfrm>
            <a:off x="1280160" y="3227832"/>
            <a:ext cx="1673352" cy="246888"/>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0" lang="en-US" sz="1400">
                <a:solidFill>
                  <a:srgbClr val="5D6879"/>
                </a:solidFill>
                <a:latin typeface="IBM Plex Sans"/>
                <a:ea typeface="IBM Plex Sans"/>
                <a:cs typeface="IBM Plex Sans"/>
                <a:sym typeface="IBM Plex Sans"/>
              </a:rPr>
              <a:t>No FKs</a:t>
            </a:r>
            <a:endParaRPr/>
          </a:p>
        </p:txBody>
      </p:sp>
      <p:sp>
        <p:nvSpPr>
          <p:cNvPr id="178" name="Google Shape;178;p6"/>
          <p:cNvSpPr/>
          <p:nvPr/>
        </p:nvSpPr>
        <p:spPr>
          <a:xfrm>
            <a:off x="3758184" y="2816352"/>
            <a:ext cx="1709928" cy="850392"/>
          </a:xfrm>
          <a:prstGeom prst="roundRect">
            <a:avLst>
              <a:gd fmla="val 10000" name="adj"/>
            </a:avLst>
          </a:prstGeom>
          <a:solidFill>
            <a:srgbClr val="F2F4F7"/>
          </a:solidFill>
          <a:ln cap="flat" cmpd="sng" w="12700">
            <a:solidFill>
              <a:srgbClr val="D68B4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179" name="Google Shape;179;p6"/>
          <p:cNvSpPr txBox="1"/>
          <p:nvPr/>
        </p:nvSpPr>
        <p:spPr>
          <a:xfrm>
            <a:off x="3904487" y="2944368"/>
            <a:ext cx="1444752" cy="2286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1900">
                <a:solidFill>
                  <a:srgbClr val="111A28"/>
                </a:solidFill>
                <a:latin typeface="IBM Plex Sans"/>
                <a:ea typeface="IBM Plex Sans"/>
                <a:cs typeface="IBM Plex Sans"/>
                <a:sym typeface="IBM Plex Sans"/>
              </a:rPr>
              <a:t>admission</a:t>
            </a:r>
            <a:endParaRPr/>
          </a:p>
        </p:txBody>
      </p:sp>
      <p:sp>
        <p:nvSpPr>
          <p:cNvPr id="180" name="Google Shape;180;p6"/>
          <p:cNvSpPr txBox="1"/>
          <p:nvPr/>
        </p:nvSpPr>
        <p:spPr>
          <a:xfrm>
            <a:off x="3895344" y="3227832"/>
            <a:ext cx="1499616" cy="246888"/>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0" i="0" lang="en-US" sz="1400">
                <a:solidFill>
                  <a:srgbClr val="5D6879"/>
                </a:solidFill>
                <a:latin typeface="IBM Plex Mono"/>
                <a:ea typeface="IBM Plex Mono"/>
                <a:cs typeface="IBM Plex Mono"/>
                <a:sym typeface="IBM Plex Mono"/>
              </a:rPr>
              <a:t>patient_id FK</a:t>
            </a:r>
            <a:endParaRPr/>
          </a:p>
        </p:txBody>
      </p:sp>
      <p:cxnSp>
        <p:nvCxnSpPr>
          <p:cNvPr id="181" name="Google Shape;181;p6"/>
          <p:cNvCxnSpPr/>
          <p:nvPr/>
        </p:nvCxnSpPr>
        <p:spPr>
          <a:xfrm rot="10800000">
            <a:off x="3099816" y="3255264"/>
            <a:ext cx="594360" cy="0"/>
          </a:xfrm>
          <a:prstGeom prst="straightConnector1">
            <a:avLst/>
          </a:prstGeom>
          <a:noFill/>
          <a:ln cap="flat" cmpd="sng" w="30475">
            <a:solidFill>
              <a:srgbClr val="F4A261"/>
            </a:solidFill>
            <a:prstDash val="solid"/>
            <a:miter lim="8000"/>
            <a:headEnd len="sm" w="sm" type="none"/>
            <a:tailEnd len="med" w="med" type="triangle"/>
          </a:ln>
        </p:spPr>
      </p:cxnSp>
      <p:sp>
        <p:nvSpPr>
          <p:cNvPr id="182" name="Google Shape;182;p6"/>
          <p:cNvSpPr txBox="1"/>
          <p:nvPr/>
        </p:nvSpPr>
        <p:spPr>
          <a:xfrm>
            <a:off x="2350008" y="3877056"/>
            <a:ext cx="1874519" cy="283464"/>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None/>
            </a:pPr>
            <a:r>
              <a:rPr b="0" lang="en-US" sz="1400">
                <a:solidFill>
                  <a:srgbClr val="5D6879"/>
                </a:solidFill>
                <a:latin typeface="IBM Plex Sans"/>
                <a:ea typeface="IBM Plex Sans"/>
                <a:cs typeface="IBM Plex Sans"/>
                <a:sym typeface="IBM Plex Sans"/>
              </a:rPr>
              <a:t>FK points to parent</a:t>
            </a:r>
            <a:endParaRPr/>
          </a:p>
        </p:txBody>
      </p:sp>
      <p:sp>
        <p:nvSpPr>
          <p:cNvPr id="183" name="Google Shape;183;p6"/>
          <p:cNvSpPr/>
          <p:nvPr/>
        </p:nvSpPr>
        <p:spPr>
          <a:xfrm>
            <a:off x="5961888" y="2130552"/>
            <a:ext cx="5376672" cy="2569464"/>
          </a:xfrm>
          <a:prstGeom prst="roundRect">
            <a:avLst>
              <a:gd fmla="val 10000" name="adj"/>
            </a:avLst>
          </a:prstGeom>
          <a:solidFill>
            <a:srgbClr val="FFFFFF"/>
          </a:solidFill>
          <a:ln cap="flat" cmpd="sng" w="12700">
            <a:solidFill>
              <a:srgbClr val="DFE5ED"/>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184" name="Google Shape;184;p6"/>
          <p:cNvSpPr txBox="1"/>
          <p:nvPr/>
        </p:nvSpPr>
        <p:spPr>
          <a:xfrm>
            <a:off x="6208776" y="2313432"/>
            <a:ext cx="4837176" cy="283464"/>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i="0" lang="en-US" sz="1520">
                <a:solidFill>
                  <a:srgbClr val="4D71DE"/>
                </a:solidFill>
                <a:latin typeface="IBM Plex Mono"/>
                <a:ea typeface="IBM Plex Mono"/>
                <a:cs typeface="IBM Plex Mono"/>
                <a:sym typeface="IBM Plex Mono"/>
              </a:rPr>
              <a:t>PROCESSING ORDER  /  OUTPUT</a:t>
            </a:r>
            <a:endParaRPr/>
          </a:p>
        </p:txBody>
      </p:sp>
      <p:sp>
        <p:nvSpPr>
          <p:cNvPr id="185" name="Google Shape;185;p6"/>
          <p:cNvSpPr/>
          <p:nvPr/>
        </p:nvSpPr>
        <p:spPr>
          <a:xfrm>
            <a:off x="6300216" y="2807208"/>
            <a:ext cx="1901952" cy="1051560"/>
          </a:xfrm>
          <a:prstGeom prst="roundRect">
            <a:avLst>
              <a:gd fmla="val 10000" name="adj"/>
            </a:avLst>
          </a:prstGeom>
          <a:solidFill>
            <a:srgbClr val="E4EBFF"/>
          </a:solidFill>
          <a:ln cap="flat" cmpd="sng" w="12700">
            <a:solidFill>
              <a:srgbClr val="4D71D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186" name="Google Shape;186;p6"/>
          <p:cNvSpPr txBox="1"/>
          <p:nvPr/>
        </p:nvSpPr>
        <p:spPr>
          <a:xfrm>
            <a:off x="6455664" y="2971800"/>
            <a:ext cx="1554480" cy="237744"/>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i="0" lang="en-US" sz="1400">
                <a:solidFill>
                  <a:srgbClr val="4D71DE"/>
                </a:solidFill>
                <a:latin typeface="IBM Plex Mono"/>
                <a:ea typeface="IBM Plex Mono"/>
                <a:cs typeface="IBM Plex Mono"/>
                <a:sym typeface="IBM Plex Mono"/>
              </a:rPr>
              <a:t>t = 1</a:t>
            </a:r>
            <a:endParaRPr/>
          </a:p>
        </p:txBody>
      </p:sp>
      <p:sp>
        <p:nvSpPr>
          <p:cNvPr id="187" name="Google Shape;187;p6"/>
          <p:cNvSpPr txBox="1"/>
          <p:nvPr/>
        </p:nvSpPr>
        <p:spPr>
          <a:xfrm>
            <a:off x="6446520" y="3255264"/>
            <a:ext cx="1563624" cy="2286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1800">
                <a:solidFill>
                  <a:srgbClr val="111A28"/>
                </a:solidFill>
                <a:latin typeface="IBM Plex Sans"/>
                <a:ea typeface="IBM Plex Sans"/>
                <a:cs typeface="IBM Plex Sans"/>
                <a:sym typeface="IBM Plex Sans"/>
              </a:rPr>
              <a:t>PatientData</a:t>
            </a:r>
            <a:endParaRPr/>
          </a:p>
        </p:txBody>
      </p:sp>
      <p:cxnSp>
        <p:nvCxnSpPr>
          <p:cNvPr id="188" name="Google Shape;188;p6"/>
          <p:cNvCxnSpPr/>
          <p:nvPr/>
        </p:nvCxnSpPr>
        <p:spPr>
          <a:xfrm>
            <a:off x="8311896" y="3310128"/>
            <a:ext cx="420624" cy="0"/>
          </a:xfrm>
          <a:prstGeom prst="straightConnector1">
            <a:avLst/>
          </a:prstGeom>
          <a:noFill/>
          <a:ln cap="flat" cmpd="sng" w="31750">
            <a:solidFill>
              <a:srgbClr val="4D71DE"/>
            </a:solidFill>
            <a:prstDash val="solid"/>
            <a:miter lim="8000"/>
            <a:headEnd len="sm" w="sm" type="none"/>
            <a:tailEnd len="med" w="med" type="triangle"/>
          </a:ln>
        </p:spPr>
      </p:cxnSp>
      <p:sp>
        <p:nvSpPr>
          <p:cNvPr id="189" name="Google Shape;189;p6"/>
          <p:cNvSpPr/>
          <p:nvPr/>
        </p:nvSpPr>
        <p:spPr>
          <a:xfrm>
            <a:off x="8833104" y="2807208"/>
            <a:ext cx="2112264" cy="1051560"/>
          </a:xfrm>
          <a:prstGeom prst="roundRect">
            <a:avLst>
              <a:gd fmla="val 10000" name="adj"/>
            </a:avLst>
          </a:prstGeom>
          <a:solidFill>
            <a:srgbClr val="F2F4F7"/>
          </a:solidFill>
          <a:ln cap="flat" cmpd="sng" w="12700">
            <a:solidFill>
              <a:srgbClr val="D68B4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190" name="Google Shape;190;p6"/>
          <p:cNvSpPr txBox="1"/>
          <p:nvPr/>
        </p:nvSpPr>
        <p:spPr>
          <a:xfrm>
            <a:off x="8988552" y="2971800"/>
            <a:ext cx="1764792" cy="237744"/>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i="0" lang="en-US" sz="1400">
                <a:solidFill>
                  <a:srgbClr val="D68B4B"/>
                </a:solidFill>
                <a:latin typeface="IBM Plex Mono"/>
                <a:ea typeface="IBM Plex Mono"/>
                <a:cs typeface="IBM Plex Mono"/>
                <a:sym typeface="IBM Plex Mono"/>
              </a:rPr>
              <a:t>t = 2</a:t>
            </a:r>
            <a:endParaRPr/>
          </a:p>
        </p:txBody>
      </p:sp>
      <p:sp>
        <p:nvSpPr>
          <p:cNvPr id="191" name="Google Shape;191;p6"/>
          <p:cNvSpPr txBox="1"/>
          <p:nvPr/>
        </p:nvSpPr>
        <p:spPr>
          <a:xfrm>
            <a:off x="8988552" y="3255264"/>
            <a:ext cx="1764792" cy="2286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1800">
                <a:solidFill>
                  <a:srgbClr val="111A28"/>
                </a:solidFill>
                <a:latin typeface="IBM Plex Sans"/>
                <a:ea typeface="IBM Plex Sans"/>
                <a:cs typeface="IBM Plex Sans"/>
                <a:sym typeface="IBM Plex Sans"/>
              </a:rPr>
              <a:t>admission</a:t>
            </a:r>
            <a:endParaRPr/>
          </a:p>
        </p:txBody>
      </p:sp>
      <p:sp>
        <p:nvSpPr>
          <p:cNvPr id="192" name="Google Shape;192;p6"/>
          <p:cNvSpPr txBox="1"/>
          <p:nvPr/>
        </p:nvSpPr>
        <p:spPr>
          <a:xfrm>
            <a:off x="6190488" y="4133087"/>
            <a:ext cx="4882896" cy="38404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1500">
                <a:solidFill>
                  <a:srgbClr val="111A28"/>
                </a:solidFill>
                <a:latin typeface="IBM Plex Sans"/>
                <a:ea typeface="IBM Plex Sans"/>
                <a:cs typeface="IBM Plex Sans"/>
                <a:sym typeface="IBM Plex Sans"/>
              </a:rPr>
              <a:t>Before generating Admission, PatientData already exists in the core ontology.</a:t>
            </a:r>
            <a:endParaRPr/>
          </a:p>
        </p:txBody>
      </p:sp>
      <p:sp>
        <p:nvSpPr>
          <p:cNvPr id="193" name="Google Shape;193;p6"/>
          <p:cNvSpPr/>
          <p:nvPr/>
        </p:nvSpPr>
        <p:spPr>
          <a:xfrm>
            <a:off x="822960" y="4956048"/>
            <a:ext cx="10515600" cy="475488"/>
          </a:xfrm>
          <a:prstGeom prst="roundRect">
            <a:avLst>
              <a:gd fmla="val 10000" name="adj"/>
            </a:avLst>
          </a:prstGeom>
          <a:solidFill>
            <a:srgbClr val="E4EB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194" name="Google Shape;194;p6"/>
          <p:cNvSpPr txBox="1"/>
          <p:nvPr/>
        </p:nvSpPr>
        <p:spPr>
          <a:xfrm>
            <a:off x="1014984" y="5056632"/>
            <a:ext cx="10168128" cy="246888"/>
          </a:xfrm>
          <a:prstGeom prst="rect">
            <a:avLst/>
          </a:prstGeom>
          <a:noFill/>
          <a:ln>
            <a:noFill/>
          </a:ln>
        </p:spPr>
        <p:txBody>
          <a:bodyPr anchorCtr="0" anchor="ctr" bIns="0" lIns="0" spcFirstLastPara="1" rIns="0" wrap="square" tIns="0">
            <a:spAutoFit/>
          </a:bodyPr>
          <a:lstStyle/>
          <a:p>
            <a:pPr indent="0" lvl="0" marL="0" marR="0" rtl="0" algn="l">
              <a:lnSpc>
                <a:spcPct val="107000"/>
              </a:lnSpc>
              <a:spcBef>
                <a:spcPts val="0"/>
              </a:spcBef>
              <a:spcAft>
                <a:spcPts val="0"/>
              </a:spcAft>
              <a:buNone/>
            </a:pPr>
            <a:r>
              <a:rPr b="1" lang="en-US" sz="1500">
                <a:solidFill>
                  <a:srgbClr val="4D71DE"/>
                </a:solidFill>
                <a:latin typeface="IBM Plex Sans"/>
                <a:ea typeface="IBM Plex Sans"/>
                <a:cs typeface="IBM Plex Sans"/>
                <a:sym typeface="IBM Plex Sans"/>
              </a:rPr>
              <a:t>WHY IT MATTERS   </a:t>
            </a:r>
            <a:r>
              <a:rPr b="0" lang="en-US" sz="1500">
                <a:solidFill>
                  <a:srgbClr val="111A28"/>
                </a:solidFill>
                <a:latin typeface="IBM Plex Sans"/>
                <a:ea typeface="IBM Plex Sans"/>
                <a:cs typeface="IBM Plex Sans"/>
                <a:sym typeface="IBM Plex Sans"/>
              </a:rPr>
              <a:t>The next fragment can reuse known classes and IRIs instead of inventing duplicates.</a:t>
            </a:r>
            <a:endParaRPr/>
          </a:p>
        </p:txBody>
      </p:sp>
      <p:sp>
        <p:nvSpPr>
          <p:cNvPr id="195" name="Google Shape;195;p6"/>
          <p:cNvSpPr/>
          <p:nvPr/>
        </p:nvSpPr>
        <p:spPr>
          <a:xfrm>
            <a:off x="804672" y="5797296"/>
            <a:ext cx="1645920" cy="310896"/>
          </a:xfrm>
          <a:prstGeom prst="roundRect">
            <a:avLst>
              <a:gd fmla="val 10000" name="adj"/>
            </a:avLst>
          </a:prstGeom>
          <a:solidFill>
            <a:srgbClr val="E4EBFF"/>
          </a:solidFill>
          <a:ln cap="flat" cmpd="sng" w="12700">
            <a:solidFill>
              <a:srgbClr val="DFE5ED"/>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196" name="Google Shape;196;p6"/>
          <p:cNvSpPr txBox="1"/>
          <p:nvPr/>
        </p:nvSpPr>
        <p:spPr>
          <a:xfrm>
            <a:off x="859536" y="5833872"/>
            <a:ext cx="1527048" cy="246888"/>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i="0" lang="en-US" sz="1400">
                <a:solidFill>
                  <a:srgbClr val="F4A261"/>
                </a:solidFill>
                <a:latin typeface="IBM Plex Mono"/>
                <a:ea typeface="IBM Plex Mono"/>
                <a:cs typeface="IBM Plex Mono"/>
                <a:sym typeface="IBM Plex Mono"/>
              </a:rPr>
              <a:t>1  ORDER</a:t>
            </a:r>
            <a:endParaRPr/>
          </a:p>
        </p:txBody>
      </p:sp>
      <p:sp>
        <p:nvSpPr>
          <p:cNvPr id="197" name="Google Shape;197;p6"/>
          <p:cNvSpPr/>
          <p:nvPr/>
        </p:nvSpPr>
        <p:spPr>
          <a:xfrm>
            <a:off x="2642615" y="5797296"/>
            <a:ext cx="1645920" cy="310896"/>
          </a:xfrm>
          <a:prstGeom prst="roundRect">
            <a:avLst>
              <a:gd fmla="val 10000" name="adj"/>
            </a:avLst>
          </a:prstGeom>
          <a:solidFill>
            <a:srgbClr val="FFFFFF"/>
          </a:solidFill>
          <a:ln cap="flat" cmpd="sng" w="12700">
            <a:solidFill>
              <a:srgbClr val="DFE5ED"/>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198" name="Google Shape;198;p6"/>
          <p:cNvSpPr txBox="1"/>
          <p:nvPr/>
        </p:nvSpPr>
        <p:spPr>
          <a:xfrm>
            <a:off x="2697479" y="5833872"/>
            <a:ext cx="1527048" cy="246888"/>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i="0" lang="en-US" sz="1400">
                <a:solidFill>
                  <a:srgbClr val="5D6879"/>
                </a:solidFill>
                <a:latin typeface="IBM Plex Mono"/>
                <a:ea typeface="IBM Plex Mono"/>
                <a:cs typeface="IBM Plex Mono"/>
                <a:sym typeface="IBM Plex Mono"/>
              </a:rPr>
              <a:t>2  SEED</a:t>
            </a:r>
            <a:endParaRPr/>
          </a:p>
        </p:txBody>
      </p:sp>
      <p:sp>
        <p:nvSpPr>
          <p:cNvPr id="199" name="Google Shape;199;p6"/>
          <p:cNvSpPr/>
          <p:nvPr/>
        </p:nvSpPr>
        <p:spPr>
          <a:xfrm>
            <a:off x="4480559" y="5797296"/>
            <a:ext cx="1645920" cy="310896"/>
          </a:xfrm>
          <a:prstGeom prst="roundRect">
            <a:avLst>
              <a:gd fmla="val 10000" name="adj"/>
            </a:avLst>
          </a:prstGeom>
          <a:solidFill>
            <a:srgbClr val="FFFFFF"/>
          </a:solidFill>
          <a:ln cap="flat" cmpd="sng" w="12700">
            <a:solidFill>
              <a:srgbClr val="DFE5ED"/>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200" name="Google Shape;200;p6"/>
          <p:cNvSpPr txBox="1"/>
          <p:nvPr/>
        </p:nvSpPr>
        <p:spPr>
          <a:xfrm>
            <a:off x="4535423" y="5833872"/>
            <a:ext cx="1527048" cy="246888"/>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i="0" lang="en-US" sz="1400">
                <a:solidFill>
                  <a:srgbClr val="5D6879"/>
                </a:solidFill>
                <a:latin typeface="IBM Plex Mono"/>
                <a:ea typeface="IBM Plex Mono"/>
                <a:cs typeface="IBM Plex Mono"/>
                <a:sym typeface="IBM Plex Mono"/>
              </a:rPr>
              <a:t>3  RETRIEVE</a:t>
            </a:r>
            <a:endParaRPr/>
          </a:p>
        </p:txBody>
      </p:sp>
      <p:sp>
        <p:nvSpPr>
          <p:cNvPr id="201" name="Google Shape;201;p6"/>
          <p:cNvSpPr/>
          <p:nvPr/>
        </p:nvSpPr>
        <p:spPr>
          <a:xfrm>
            <a:off x="6318503" y="5797296"/>
            <a:ext cx="1645920" cy="310896"/>
          </a:xfrm>
          <a:prstGeom prst="roundRect">
            <a:avLst>
              <a:gd fmla="val 10000" name="adj"/>
            </a:avLst>
          </a:prstGeom>
          <a:solidFill>
            <a:srgbClr val="FFFFFF"/>
          </a:solidFill>
          <a:ln cap="flat" cmpd="sng" w="12700">
            <a:solidFill>
              <a:srgbClr val="DFE5ED"/>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202" name="Google Shape;202;p6"/>
          <p:cNvSpPr txBox="1"/>
          <p:nvPr/>
        </p:nvSpPr>
        <p:spPr>
          <a:xfrm>
            <a:off x="6373367" y="5833872"/>
            <a:ext cx="1527048" cy="246888"/>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i="0" lang="en-US" sz="1400">
                <a:solidFill>
                  <a:srgbClr val="5D6879"/>
                </a:solidFill>
                <a:latin typeface="IBM Plex Mono"/>
                <a:ea typeface="IBM Plex Mono"/>
                <a:cs typeface="IBM Plex Mono"/>
                <a:sym typeface="IBM Plex Mono"/>
              </a:rPr>
              <a:t>4  GENERATE</a:t>
            </a:r>
            <a:endParaRPr/>
          </a:p>
        </p:txBody>
      </p:sp>
      <p:sp>
        <p:nvSpPr>
          <p:cNvPr id="203" name="Google Shape;203;p6"/>
          <p:cNvSpPr/>
          <p:nvPr/>
        </p:nvSpPr>
        <p:spPr>
          <a:xfrm>
            <a:off x="8156448" y="5797296"/>
            <a:ext cx="1645920" cy="310896"/>
          </a:xfrm>
          <a:prstGeom prst="roundRect">
            <a:avLst>
              <a:gd fmla="val 10000" name="adj"/>
            </a:avLst>
          </a:prstGeom>
          <a:solidFill>
            <a:srgbClr val="FFFFFF"/>
          </a:solidFill>
          <a:ln cap="flat" cmpd="sng" w="12700">
            <a:solidFill>
              <a:srgbClr val="DFE5ED"/>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204" name="Google Shape;204;p6"/>
          <p:cNvSpPr txBox="1"/>
          <p:nvPr/>
        </p:nvSpPr>
        <p:spPr>
          <a:xfrm>
            <a:off x="8211312" y="5833872"/>
            <a:ext cx="1527048" cy="246888"/>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i="0" lang="en-US" sz="1400">
                <a:solidFill>
                  <a:srgbClr val="5D6879"/>
                </a:solidFill>
                <a:latin typeface="IBM Plex Mono"/>
                <a:ea typeface="IBM Plex Mono"/>
                <a:cs typeface="IBM Plex Mono"/>
                <a:sym typeface="IBM Plex Mono"/>
              </a:rPr>
              <a:t>5  VALIDATE</a:t>
            </a:r>
            <a:endParaRPr/>
          </a:p>
        </p:txBody>
      </p:sp>
      <p:sp>
        <p:nvSpPr>
          <p:cNvPr id="205" name="Google Shape;205;p6"/>
          <p:cNvSpPr/>
          <p:nvPr/>
        </p:nvSpPr>
        <p:spPr>
          <a:xfrm>
            <a:off x="9994392" y="5797296"/>
            <a:ext cx="1645920" cy="310896"/>
          </a:xfrm>
          <a:prstGeom prst="roundRect">
            <a:avLst>
              <a:gd fmla="val 10000" name="adj"/>
            </a:avLst>
          </a:prstGeom>
          <a:solidFill>
            <a:srgbClr val="FFFFFF"/>
          </a:solidFill>
          <a:ln cap="flat" cmpd="sng" w="12700">
            <a:solidFill>
              <a:srgbClr val="DFE5ED"/>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206" name="Google Shape;206;p6"/>
          <p:cNvSpPr txBox="1"/>
          <p:nvPr/>
        </p:nvSpPr>
        <p:spPr>
          <a:xfrm>
            <a:off x="10049256" y="5833872"/>
            <a:ext cx="1527048" cy="246888"/>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i="0" lang="en-US" sz="1400">
                <a:solidFill>
                  <a:srgbClr val="5D6879"/>
                </a:solidFill>
                <a:latin typeface="IBM Plex Mono"/>
                <a:ea typeface="IBM Plex Mono"/>
                <a:cs typeface="IBM Plex Mono"/>
                <a:sym typeface="IBM Plex Mono"/>
              </a:rPr>
              <a:t>6  MERGE</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4F7"/>
        </a:solidFill>
      </p:bgPr>
    </p:bg>
    <p:spTree>
      <p:nvGrpSpPr>
        <p:cNvPr id="211" name="Shape 211"/>
        <p:cNvGrpSpPr/>
        <p:nvPr/>
      </p:nvGrpSpPr>
      <p:grpSpPr>
        <a:xfrm>
          <a:off x="0" y="0"/>
          <a:ext cx="0" cy="0"/>
          <a:chOff x="0" y="0"/>
          <a:chExt cx="0" cy="0"/>
        </a:xfrm>
      </p:grpSpPr>
      <p:sp>
        <p:nvSpPr>
          <p:cNvPr id="212" name="Google Shape;212;p7"/>
          <p:cNvSpPr txBox="1"/>
          <p:nvPr/>
        </p:nvSpPr>
        <p:spPr>
          <a:xfrm>
            <a:off x="795528" y="448056"/>
            <a:ext cx="10789920" cy="310896"/>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i="0" lang="en-US" sz="1400">
                <a:solidFill>
                  <a:srgbClr val="4D71DE"/>
                </a:solidFill>
                <a:latin typeface="IBM Plex Mono"/>
                <a:ea typeface="IBM Plex Mono"/>
                <a:cs typeface="IBM Plex Mono"/>
                <a:sym typeface="IBM Plex Mono"/>
              </a:rPr>
              <a:t>STEP 2 / SEED</a:t>
            </a:r>
            <a:endParaRPr/>
          </a:p>
        </p:txBody>
      </p:sp>
      <p:sp>
        <p:nvSpPr>
          <p:cNvPr id="213" name="Google Shape;213;p7"/>
          <p:cNvSpPr txBox="1"/>
          <p:nvPr/>
        </p:nvSpPr>
        <p:spPr>
          <a:xfrm>
            <a:off x="795528" y="850392"/>
            <a:ext cx="10835640" cy="685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800">
                <a:solidFill>
                  <a:srgbClr val="111A28"/>
                </a:solidFill>
                <a:latin typeface="IBM Plex Sans"/>
                <a:ea typeface="IBM Plex Sans"/>
                <a:cs typeface="IBM Plex Sans"/>
                <a:sym typeface="IBM Plex Sans"/>
              </a:rPr>
              <a:t>Guarantee schema coverage before LLM enrichment.</a:t>
            </a:r>
            <a:endParaRPr/>
          </a:p>
        </p:txBody>
      </p:sp>
      <p:sp>
        <p:nvSpPr>
          <p:cNvPr id="214" name="Google Shape;214;p7"/>
          <p:cNvSpPr txBox="1"/>
          <p:nvPr/>
        </p:nvSpPr>
        <p:spPr>
          <a:xfrm>
            <a:off x="795528" y="1609344"/>
            <a:ext cx="10607040" cy="34747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sz="1600">
                <a:solidFill>
                  <a:srgbClr val="5D6879"/>
                </a:solidFill>
                <a:latin typeface="IBM Plex Sans"/>
                <a:ea typeface="IBM Plex Sans"/>
                <a:cs typeface="IBM Plex Sans"/>
                <a:sym typeface="IBM Plex Sans"/>
              </a:rPr>
              <a:t>Direct Mapping (DMᵣ) represents every column in the cleaned table before generation.</a:t>
            </a:r>
            <a:endParaRPr/>
          </a:p>
        </p:txBody>
      </p:sp>
      <p:sp>
        <p:nvSpPr>
          <p:cNvPr id="215" name="Google Shape;215;p7"/>
          <p:cNvSpPr/>
          <p:nvPr/>
        </p:nvSpPr>
        <p:spPr>
          <a:xfrm>
            <a:off x="813816" y="2048256"/>
            <a:ext cx="3685032" cy="2926080"/>
          </a:xfrm>
          <a:prstGeom prst="roundRect">
            <a:avLst>
              <a:gd fmla="val 10000" name="adj"/>
            </a:avLst>
          </a:prstGeom>
          <a:solidFill>
            <a:srgbClr val="FFFFFF"/>
          </a:solidFill>
          <a:ln cap="flat" cmpd="sng" w="12700">
            <a:solidFill>
              <a:srgbClr val="DFE5ED"/>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216" name="Google Shape;216;p7"/>
          <p:cNvSpPr txBox="1"/>
          <p:nvPr/>
        </p:nvSpPr>
        <p:spPr>
          <a:xfrm>
            <a:off x="1042415" y="2203704"/>
            <a:ext cx="3264408" cy="292608"/>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i="0" lang="en-US" sz="1700">
                <a:solidFill>
                  <a:srgbClr val="4D71DE"/>
                </a:solidFill>
                <a:latin typeface="IBM Plex Mono"/>
                <a:ea typeface="IBM Plex Mono"/>
                <a:cs typeface="IBM Plex Mono"/>
                <a:sym typeface="IBM Plex Mono"/>
              </a:rPr>
              <a:t>INPUT  /  admission (excerpt)</a:t>
            </a:r>
            <a:endParaRPr/>
          </a:p>
        </p:txBody>
      </p:sp>
      <p:sp>
        <p:nvSpPr>
          <p:cNvPr id="217" name="Google Shape;217;p7"/>
          <p:cNvSpPr/>
          <p:nvPr/>
        </p:nvSpPr>
        <p:spPr>
          <a:xfrm>
            <a:off x="1060704" y="2752344"/>
            <a:ext cx="3154680" cy="448056"/>
          </a:xfrm>
          <a:prstGeom prst="roundRect">
            <a:avLst>
              <a:gd fmla="val 10000" name="adj"/>
            </a:avLst>
          </a:prstGeom>
          <a:solidFill>
            <a:srgbClr val="F2F4F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218" name="Google Shape;218;p7"/>
          <p:cNvSpPr txBox="1"/>
          <p:nvPr/>
        </p:nvSpPr>
        <p:spPr>
          <a:xfrm>
            <a:off x="1188720" y="2852927"/>
            <a:ext cx="1417320" cy="219456"/>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1570">
                <a:solidFill>
                  <a:srgbClr val="111A28"/>
                </a:solidFill>
                <a:latin typeface="IBM Plex Mono"/>
                <a:ea typeface="IBM Plex Mono"/>
                <a:cs typeface="IBM Plex Mono"/>
                <a:sym typeface="IBM Plex Mono"/>
              </a:rPr>
              <a:t>patient_id</a:t>
            </a:r>
            <a:endParaRPr/>
          </a:p>
        </p:txBody>
      </p:sp>
      <p:sp>
        <p:nvSpPr>
          <p:cNvPr id="219" name="Google Shape;219;p7"/>
          <p:cNvSpPr txBox="1"/>
          <p:nvPr/>
        </p:nvSpPr>
        <p:spPr>
          <a:xfrm>
            <a:off x="2615184" y="2834639"/>
            <a:ext cx="1490472" cy="246888"/>
          </a:xfrm>
          <a:prstGeom prst="rect">
            <a:avLst/>
          </a:prstGeom>
          <a:noFill/>
          <a:ln>
            <a:noFill/>
          </a:ln>
        </p:spPr>
        <p:txBody>
          <a:bodyPr anchorCtr="0" anchor="ctr" bIns="0" lIns="0" spcFirstLastPara="1" rIns="0" wrap="square" tIns="0">
            <a:spAutoFit/>
          </a:bodyPr>
          <a:lstStyle/>
          <a:p>
            <a:pPr indent="0" lvl="0" marL="0" marR="0" rtl="0" algn="r">
              <a:lnSpc>
                <a:spcPct val="105000"/>
              </a:lnSpc>
              <a:spcBef>
                <a:spcPts val="0"/>
              </a:spcBef>
              <a:spcAft>
                <a:spcPts val="0"/>
              </a:spcAft>
              <a:buNone/>
            </a:pPr>
            <a:r>
              <a:rPr b="0" i="0" lang="en-US" sz="1400">
                <a:solidFill>
                  <a:srgbClr val="5D6879"/>
                </a:solidFill>
                <a:latin typeface="IBM Plex Mono"/>
                <a:ea typeface="IBM Plex Mono"/>
                <a:cs typeface="IBM Plex Mono"/>
                <a:sym typeface="IBM Plex Mono"/>
              </a:rPr>
              <a:t>FK → PatientData</a:t>
            </a:r>
            <a:endParaRPr/>
          </a:p>
        </p:txBody>
      </p:sp>
      <p:sp>
        <p:nvSpPr>
          <p:cNvPr id="220" name="Google Shape;220;p7"/>
          <p:cNvSpPr/>
          <p:nvPr/>
        </p:nvSpPr>
        <p:spPr>
          <a:xfrm>
            <a:off x="1060704" y="3319272"/>
            <a:ext cx="3154680" cy="448056"/>
          </a:xfrm>
          <a:prstGeom prst="roundRect">
            <a:avLst>
              <a:gd fmla="val 10000" name="adj"/>
            </a:avLst>
          </a:prstGeom>
          <a:solidFill>
            <a:srgbClr val="F2F4F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221" name="Google Shape;221;p7"/>
          <p:cNvSpPr txBox="1"/>
          <p:nvPr/>
        </p:nvSpPr>
        <p:spPr>
          <a:xfrm>
            <a:off x="1188720" y="3419856"/>
            <a:ext cx="1417320" cy="219456"/>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1570">
                <a:solidFill>
                  <a:srgbClr val="111A28"/>
                </a:solidFill>
                <a:latin typeface="IBM Plex Mono"/>
                <a:ea typeface="IBM Plex Mono"/>
                <a:cs typeface="IBM Plex Mono"/>
                <a:sym typeface="IBM Plex Mono"/>
              </a:rPr>
              <a:t>BM_DEP</a:t>
            </a:r>
            <a:endParaRPr/>
          </a:p>
        </p:txBody>
      </p:sp>
      <p:sp>
        <p:nvSpPr>
          <p:cNvPr id="222" name="Google Shape;222;p7"/>
          <p:cNvSpPr txBox="1"/>
          <p:nvPr/>
        </p:nvSpPr>
        <p:spPr>
          <a:xfrm>
            <a:off x="2615184" y="3401568"/>
            <a:ext cx="1490472" cy="246888"/>
          </a:xfrm>
          <a:prstGeom prst="rect">
            <a:avLst/>
          </a:prstGeom>
          <a:noFill/>
          <a:ln>
            <a:noFill/>
          </a:ln>
        </p:spPr>
        <p:txBody>
          <a:bodyPr anchorCtr="0" anchor="ctr" bIns="0" lIns="0" spcFirstLastPara="1" rIns="0" wrap="square" tIns="0">
            <a:spAutoFit/>
          </a:bodyPr>
          <a:lstStyle/>
          <a:p>
            <a:pPr indent="0" lvl="0" marL="0" marR="0" rtl="0" algn="r">
              <a:lnSpc>
                <a:spcPct val="105000"/>
              </a:lnSpc>
              <a:spcBef>
                <a:spcPts val="0"/>
              </a:spcBef>
              <a:spcAft>
                <a:spcPts val="0"/>
              </a:spcAft>
              <a:buNone/>
            </a:pPr>
            <a:r>
              <a:rPr b="0" i="0" lang="en-US" sz="1400">
                <a:solidFill>
                  <a:srgbClr val="5D6879"/>
                </a:solidFill>
                <a:latin typeface="IBM Plex Mono"/>
                <a:ea typeface="IBM Plex Mono"/>
                <a:cs typeface="IBM Plex Mono"/>
                <a:sym typeface="IBM Plex Mono"/>
              </a:rPr>
              <a:t>INT</a:t>
            </a:r>
            <a:endParaRPr/>
          </a:p>
        </p:txBody>
      </p:sp>
      <p:sp>
        <p:nvSpPr>
          <p:cNvPr id="223" name="Google Shape;223;p7"/>
          <p:cNvSpPr/>
          <p:nvPr/>
        </p:nvSpPr>
        <p:spPr>
          <a:xfrm>
            <a:off x="1060704" y="3886200"/>
            <a:ext cx="3154680" cy="448056"/>
          </a:xfrm>
          <a:prstGeom prst="roundRect">
            <a:avLst>
              <a:gd fmla="val 10000" name="adj"/>
            </a:avLst>
          </a:prstGeom>
          <a:solidFill>
            <a:srgbClr val="F2F4F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224" name="Google Shape;224;p7"/>
          <p:cNvSpPr txBox="1"/>
          <p:nvPr/>
        </p:nvSpPr>
        <p:spPr>
          <a:xfrm>
            <a:off x="1188720" y="3986784"/>
            <a:ext cx="1417320" cy="219456"/>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1570">
                <a:solidFill>
                  <a:srgbClr val="111A28"/>
                </a:solidFill>
                <a:latin typeface="IBM Plex Mono"/>
                <a:ea typeface="IBM Plex Mono"/>
                <a:cs typeface="IBM Plex Mono"/>
                <a:sym typeface="IBM Plex Mono"/>
              </a:rPr>
              <a:t>ecog_stage</a:t>
            </a:r>
            <a:endParaRPr/>
          </a:p>
        </p:txBody>
      </p:sp>
      <p:sp>
        <p:nvSpPr>
          <p:cNvPr id="225" name="Google Shape;225;p7"/>
          <p:cNvSpPr txBox="1"/>
          <p:nvPr/>
        </p:nvSpPr>
        <p:spPr>
          <a:xfrm>
            <a:off x="2615184" y="3968496"/>
            <a:ext cx="1490472" cy="246888"/>
          </a:xfrm>
          <a:prstGeom prst="rect">
            <a:avLst/>
          </a:prstGeom>
          <a:noFill/>
          <a:ln>
            <a:noFill/>
          </a:ln>
        </p:spPr>
        <p:txBody>
          <a:bodyPr anchorCtr="0" anchor="ctr" bIns="0" lIns="0" spcFirstLastPara="1" rIns="0" wrap="square" tIns="0">
            <a:spAutoFit/>
          </a:bodyPr>
          <a:lstStyle/>
          <a:p>
            <a:pPr indent="0" lvl="0" marL="0" marR="0" rtl="0" algn="r">
              <a:lnSpc>
                <a:spcPct val="105000"/>
              </a:lnSpc>
              <a:spcBef>
                <a:spcPts val="0"/>
              </a:spcBef>
              <a:spcAft>
                <a:spcPts val="0"/>
              </a:spcAft>
              <a:buNone/>
            </a:pPr>
            <a:r>
              <a:rPr b="0" i="0" lang="en-US" sz="1400">
                <a:solidFill>
                  <a:srgbClr val="5D6879"/>
                </a:solidFill>
                <a:latin typeface="IBM Plex Mono"/>
                <a:ea typeface="IBM Plex Mono"/>
                <a:cs typeface="IBM Plex Mono"/>
                <a:sym typeface="IBM Plex Mono"/>
              </a:rPr>
              <a:t>INT</a:t>
            </a:r>
            <a:endParaRPr/>
          </a:p>
        </p:txBody>
      </p:sp>
      <p:sp>
        <p:nvSpPr>
          <p:cNvPr id="226" name="Google Shape;226;p7"/>
          <p:cNvSpPr txBox="1"/>
          <p:nvPr/>
        </p:nvSpPr>
        <p:spPr>
          <a:xfrm>
            <a:off x="1088136" y="4645152"/>
            <a:ext cx="3209544" cy="292608"/>
          </a:xfrm>
          <a:prstGeom prst="rect">
            <a:avLst/>
          </a:prstGeom>
          <a:noFill/>
          <a:ln>
            <a:noFill/>
          </a:ln>
        </p:spPr>
        <p:txBody>
          <a:bodyPr anchorCtr="0" anchor="ctr" bIns="0" lIns="0" spcFirstLastPara="1" rIns="0" wrap="square" tIns="0">
            <a:spAutoFit/>
          </a:bodyPr>
          <a:lstStyle/>
          <a:p>
            <a:pPr indent="0" lvl="0" marL="0" marR="0" rtl="0" algn="l">
              <a:lnSpc>
                <a:spcPct val="106000"/>
              </a:lnSpc>
              <a:spcBef>
                <a:spcPts val="0"/>
              </a:spcBef>
              <a:spcAft>
                <a:spcPts val="0"/>
              </a:spcAft>
              <a:buNone/>
            </a:pPr>
            <a:r>
              <a:rPr b="0" lang="en-US" sz="1400">
                <a:solidFill>
                  <a:srgbClr val="5D6879"/>
                </a:solidFill>
                <a:latin typeface="IBM Plex Sans"/>
                <a:ea typeface="IBM Plex Sans"/>
                <a:cs typeface="IBM Plex Sans"/>
                <a:sym typeface="IBM Plex Sans"/>
              </a:rPr>
              <a:t>Other columns are also mapped.</a:t>
            </a:r>
            <a:endParaRPr/>
          </a:p>
        </p:txBody>
      </p:sp>
      <p:sp>
        <p:nvSpPr>
          <p:cNvPr id="227" name="Google Shape;227;p7"/>
          <p:cNvSpPr/>
          <p:nvPr/>
        </p:nvSpPr>
        <p:spPr>
          <a:xfrm>
            <a:off x="4672584" y="3255264"/>
            <a:ext cx="612648" cy="475488"/>
          </a:xfrm>
          <a:prstGeom prst="rightArrow">
            <a:avLst>
              <a:gd fmla="val 50000" name="adj1"/>
              <a:gd fmla="val 50000" name="adj2"/>
            </a:avLst>
          </a:prstGeom>
          <a:solidFill>
            <a:srgbClr val="4D71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228" name="Google Shape;228;p7"/>
          <p:cNvSpPr/>
          <p:nvPr/>
        </p:nvSpPr>
        <p:spPr>
          <a:xfrm>
            <a:off x="5458968" y="2048256"/>
            <a:ext cx="5879592" cy="2926080"/>
          </a:xfrm>
          <a:prstGeom prst="roundRect">
            <a:avLst>
              <a:gd fmla="val 10000" name="adj"/>
            </a:avLst>
          </a:prstGeom>
          <a:solidFill>
            <a:srgbClr val="FFFFFF"/>
          </a:solidFill>
          <a:ln cap="flat" cmpd="sng" w="19050">
            <a:solidFill>
              <a:srgbClr val="4D71D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229" name="Google Shape;229;p7"/>
          <p:cNvSpPr txBox="1"/>
          <p:nvPr/>
        </p:nvSpPr>
        <p:spPr>
          <a:xfrm>
            <a:off x="5669280" y="2203704"/>
            <a:ext cx="5321808" cy="292608"/>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i="0" lang="en-US" sz="1700">
                <a:solidFill>
                  <a:srgbClr val="4D71DE"/>
                </a:solidFill>
                <a:latin typeface="IBM Plex Mono"/>
                <a:ea typeface="IBM Plex Mono"/>
                <a:cs typeface="IBM Plex Mono"/>
                <a:sym typeface="IBM Plex Mono"/>
              </a:rPr>
              <a:t>OUTPUT  /  DMr (excerpt) — NO LLM</a:t>
            </a:r>
            <a:endParaRPr/>
          </a:p>
        </p:txBody>
      </p:sp>
      <p:sp>
        <p:nvSpPr>
          <p:cNvPr id="230" name="Google Shape;230;p7"/>
          <p:cNvSpPr/>
          <p:nvPr/>
        </p:nvSpPr>
        <p:spPr>
          <a:xfrm>
            <a:off x="5733288" y="2660904"/>
            <a:ext cx="5266944" cy="402336"/>
          </a:xfrm>
          <a:prstGeom prst="roundRect">
            <a:avLst>
              <a:gd fmla="val 10000" name="adj"/>
            </a:avLst>
          </a:prstGeom>
          <a:solidFill>
            <a:srgbClr val="E4EB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231" name="Google Shape;231;p7"/>
          <p:cNvSpPr txBox="1"/>
          <p:nvPr/>
        </p:nvSpPr>
        <p:spPr>
          <a:xfrm>
            <a:off x="5870448" y="2752344"/>
            <a:ext cx="4837176" cy="21031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1600">
                <a:solidFill>
                  <a:srgbClr val="111A28"/>
                </a:solidFill>
                <a:latin typeface="IBM Plex Mono"/>
                <a:ea typeface="IBM Plex Mono"/>
                <a:cs typeface="IBM Plex Mono"/>
                <a:sym typeface="IBM Plex Mono"/>
              </a:rPr>
              <a:t>Class   Admission</a:t>
            </a:r>
            <a:endParaRPr/>
          </a:p>
        </p:txBody>
      </p:sp>
      <p:sp>
        <p:nvSpPr>
          <p:cNvPr id="232" name="Google Shape;232;p7"/>
          <p:cNvSpPr/>
          <p:nvPr/>
        </p:nvSpPr>
        <p:spPr>
          <a:xfrm>
            <a:off x="5733288" y="3172968"/>
            <a:ext cx="5266944" cy="484632"/>
          </a:xfrm>
          <a:prstGeom prst="roundRect">
            <a:avLst>
              <a:gd fmla="val 10000" name="adj"/>
            </a:avLst>
          </a:prstGeom>
          <a:solidFill>
            <a:srgbClr val="F2F4F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233" name="Google Shape;233;p7"/>
          <p:cNvSpPr txBox="1"/>
          <p:nvPr/>
        </p:nvSpPr>
        <p:spPr>
          <a:xfrm>
            <a:off x="5852160" y="3291840"/>
            <a:ext cx="4919472" cy="2286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sz="1500">
                <a:solidFill>
                  <a:srgbClr val="111A28"/>
                </a:solidFill>
                <a:latin typeface="IBM Plex Mono"/>
                <a:ea typeface="IBM Plex Mono"/>
                <a:cs typeface="IBM Plex Mono"/>
                <a:sym typeface="IBM Plex Mono"/>
              </a:rPr>
              <a:t>ObjectProperty   patient_id  →  PatientData</a:t>
            </a:r>
            <a:endParaRPr/>
          </a:p>
        </p:txBody>
      </p:sp>
      <p:sp>
        <p:nvSpPr>
          <p:cNvPr id="234" name="Google Shape;234;p7"/>
          <p:cNvSpPr/>
          <p:nvPr/>
        </p:nvSpPr>
        <p:spPr>
          <a:xfrm>
            <a:off x="5733288" y="3749039"/>
            <a:ext cx="5266944" cy="484632"/>
          </a:xfrm>
          <a:prstGeom prst="roundRect">
            <a:avLst>
              <a:gd fmla="val 10000" name="adj"/>
            </a:avLst>
          </a:prstGeom>
          <a:solidFill>
            <a:srgbClr val="F2F4F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235" name="Google Shape;235;p7"/>
          <p:cNvSpPr txBox="1"/>
          <p:nvPr/>
        </p:nvSpPr>
        <p:spPr>
          <a:xfrm>
            <a:off x="5852160" y="3877056"/>
            <a:ext cx="4919472" cy="2286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sz="1500">
                <a:solidFill>
                  <a:srgbClr val="111A28"/>
                </a:solidFill>
                <a:latin typeface="IBM Plex Mono"/>
                <a:ea typeface="IBM Plex Mono"/>
                <a:cs typeface="IBM Plex Mono"/>
                <a:sym typeface="IBM Plex Mono"/>
              </a:rPr>
              <a:t>DataProperty     BM_DEP      →  xsd:integer</a:t>
            </a:r>
            <a:endParaRPr/>
          </a:p>
        </p:txBody>
      </p:sp>
      <p:sp>
        <p:nvSpPr>
          <p:cNvPr id="236" name="Google Shape;236;p7"/>
          <p:cNvSpPr/>
          <p:nvPr/>
        </p:nvSpPr>
        <p:spPr>
          <a:xfrm>
            <a:off x="5733288" y="4315968"/>
            <a:ext cx="5266944" cy="484632"/>
          </a:xfrm>
          <a:prstGeom prst="roundRect">
            <a:avLst>
              <a:gd fmla="val 10000" name="adj"/>
            </a:avLst>
          </a:prstGeom>
          <a:solidFill>
            <a:srgbClr val="F2F4F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237" name="Google Shape;237;p7"/>
          <p:cNvSpPr txBox="1"/>
          <p:nvPr/>
        </p:nvSpPr>
        <p:spPr>
          <a:xfrm>
            <a:off x="5852160" y="4443984"/>
            <a:ext cx="4919472" cy="2286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sz="1500">
                <a:solidFill>
                  <a:srgbClr val="111A28"/>
                </a:solidFill>
                <a:latin typeface="IBM Plex Mono"/>
                <a:ea typeface="IBM Plex Mono"/>
                <a:cs typeface="IBM Plex Mono"/>
                <a:sym typeface="IBM Plex Mono"/>
              </a:rPr>
              <a:t>DataProperty     ecog_stage  →  xsd:integer</a:t>
            </a:r>
            <a:endParaRPr/>
          </a:p>
        </p:txBody>
      </p:sp>
      <p:sp>
        <p:nvSpPr>
          <p:cNvPr id="238" name="Google Shape;238;p7"/>
          <p:cNvSpPr/>
          <p:nvPr/>
        </p:nvSpPr>
        <p:spPr>
          <a:xfrm>
            <a:off x="822960" y="5166360"/>
            <a:ext cx="10515600" cy="365760"/>
          </a:xfrm>
          <a:prstGeom prst="roundRect">
            <a:avLst>
              <a:gd fmla="val 10000" name="adj"/>
            </a:avLst>
          </a:prstGeom>
          <a:solidFill>
            <a:srgbClr val="E4EB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239" name="Google Shape;239;p7"/>
          <p:cNvSpPr txBox="1"/>
          <p:nvPr/>
        </p:nvSpPr>
        <p:spPr>
          <a:xfrm>
            <a:off x="1024128" y="5248656"/>
            <a:ext cx="10131552" cy="237744"/>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lang="en-US" sz="1550">
                <a:solidFill>
                  <a:srgbClr val="4D71DE"/>
                </a:solidFill>
                <a:latin typeface="IBM Plex Sans"/>
                <a:ea typeface="IBM Plex Sans"/>
                <a:cs typeface="IBM Plex Sans"/>
                <a:sym typeface="IBM Plex Sans"/>
              </a:rPr>
              <a:t>GUARANTEE   Every cleaned-schema column is represented in the deterministic seed.</a:t>
            </a:r>
            <a:r>
              <a:rPr b="0" lang="en-US" sz="1550">
                <a:solidFill>
                  <a:srgbClr val="111A28"/>
                </a:solidFill>
                <a:latin typeface="IBM Plex Sans"/>
                <a:ea typeface="IBM Plex Sans"/>
                <a:cs typeface="IBM Plex Sans"/>
                <a:sym typeface="IBM Plex Sans"/>
              </a:rPr>
              <a:t/>
            </a:r>
            <a:endParaRPr/>
          </a:p>
        </p:txBody>
      </p:sp>
      <p:sp>
        <p:nvSpPr>
          <p:cNvPr id="240" name="Google Shape;240;p7"/>
          <p:cNvSpPr/>
          <p:nvPr/>
        </p:nvSpPr>
        <p:spPr>
          <a:xfrm>
            <a:off x="804672" y="5797296"/>
            <a:ext cx="1645920" cy="310896"/>
          </a:xfrm>
          <a:prstGeom prst="roundRect">
            <a:avLst>
              <a:gd fmla="val 10000" name="adj"/>
            </a:avLst>
          </a:prstGeom>
          <a:solidFill>
            <a:srgbClr val="E4EBFF"/>
          </a:solidFill>
          <a:ln cap="flat" cmpd="sng" w="12700">
            <a:solidFill>
              <a:srgbClr val="DFE5ED"/>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241" name="Google Shape;241;p7"/>
          <p:cNvSpPr txBox="1"/>
          <p:nvPr/>
        </p:nvSpPr>
        <p:spPr>
          <a:xfrm>
            <a:off x="859536" y="5833872"/>
            <a:ext cx="1527048" cy="246888"/>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i="0" lang="en-US" sz="1400">
                <a:solidFill>
                  <a:srgbClr val="7799F0"/>
                </a:solidFill>
                <a:latin typeface="IBM Plex Mono"/>
                <a:ea typeface="IBM Plex Mono"/>
                <a:cs typeface="IBM Plex Mono"/>
                <a:sym typeface="IBM Plex Mono"/>
              </a:rPr>
              <a:t>1  ORDER</a:t>
            </a:r>
            <a:endParaRPr/>
          </a:p>
        </p:txBody>
      </p:sp>
      <p:sp>
        <p:nvSpPr>
          <p:cNvPr id="242" name="Google Shape;242;p7"/>
          <p:cNvSpPr/>
          <p:nvPr/>
        </p:nvSpPr>
        <p:spPr>
          <a:xfrm>
            <a:off x="2642615" y="5797296"/>
            <a:ext cx="1645920" cy="310896"/>
          </a:xfrm>
          <a:prstGeom prst="roundRect">
            <a:avLst>
              <a:gd fmla="val 10000" name="adj"/>
            </a:avLst>
          </a:prstGeom>
          <a:solidFill>
            <a:srgbClr val="E4EBFF"/>
          </a:solidFill>
          <a:ln cap="flat" cmpd="sng" w="12700">
            <a:solidFill>
              <a:srgbClr val="DFE5ED"/>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243" name="Google Shape;243;p7"/>
          <p:cNvSpPr txBox="1"/>
          <p:nvPr/>
        </p:nvSpPr>
        <p:spPr>
          <a:xfrm>
            <a:off x="2697479" y="5833872"/>
            <a:ext cx="1527048" cy="246888"/>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i="0" lang="en-US" sz="1400">
                <a:solidFill>
                  <a:srgbClr val="F4A261"/>
                </a:solidFill>
                <a:latin typeface="IBM Plex Mono"/>
                <a:ea typeface="IBM Plex Mono"/>
                <a:cs typeface="IBM Plex Mono"/>
                <a:sym typeface="IBM Plex Mono"/>
              </a:rPr>
              <a:t>2  SEED</a:t>
            </a:r>
            <a:endParaRPr/>
          </a:p>
        </p:txBody>
      </p:sp>
      <p:sp>
        <p:nvSpPr>
          <p:cNvPr id="244" name="Google Shape;244;p7"/>
          <p:cNvSpPr/>
          <p:nvPr/>
        </p:nvSpPr>
        <p:spPr>
          <a:xfrm>
            <a:off x="4480559" y="5797296"/>
            <a:ext cx="1645920" cy="310896"/>
          </a:xfrm>
          <a:prstGeom prst="roundRect">
            <a:avLst>
              <a:gd fmla="val 10000" name="adj"/>
            </a:avLst>
          </a:prstGeom>
          <a:solidFill>
            <a:srgbClr val="FFFFFF"/>
          </a:solidFill>
          <a:ln cap="flat" cmpd="sng" w="12700">
            <a:solidFill>
              <a:srgbClr val="DFE5ED"/>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245" name="Google Shape;245;p7"/>
          <p:cNvSpPr txBox="1"/>
          <p:nvPr/>
        </p:nvSpPr>
        <p:spPr>
          <a:xfrm>
            <a:off x="4535423" y="5833872"/>
            <a:ext cx="1527048" cy="246888"/>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i="0" lang="en-US" sz="1400">
                <a:solidFill>
                  <a:srgbClr val="5D6879"/>
                </a:solidFill>
                <a:latin typeface="IBM Plex Mono"/>
                <a:ea typeface="IBM Plex Mono"/>
                <a:cs typeface="IBM Plex Mono"/>
                <a:sym typeface="IBM Plex Mono"/>
              </a:rPr>
              <a:t>3  RETRIEVE</a:t>
            </a:r>
            <a:endParaRPr/>
          </a:p>
        </p:txBody>
      </p:sp>
      <p:sp>
        <p:nvSpPr>
          <p:cNvPr id="246" name="Google Shape;246;p7"/>
          <p:cNvSpPr/>
          <p:nvPr/>
        </p:nvSpPr>
        <p:spPr>
          <a:xfrm>
            <a:off x="6318503" y="5797296"/>
            <a:ext cx="1645920" cy="310896"/>
          </a:xfrm>
          <a:prstGeom prst="roundRect">
            <a:avLst>
              <a:gd fmla="val 10000" name="adj"/>
            </a:avLst>
          </a:prstGeom>
          <a:solidFill>
            <a:srgbClr val="FFFFFF"/>
          </a:solidFill>
          <a:ln cap="flat" cmpd="sng" w="12700">
            <a:solidFill>
              <a:srgbClr val="DFE5ED"/>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247" name="Google Shape;247;p7"/>
          <p:cNvSpPr txBox="1"/>
          <p:nvPr/>
        </p:nvSpPr>
        <p:spPr>
          <a:xfrm>
            <a:off x="6373367" y="5833872"/>
            <a:ext cx="1527048" cy="246888"/>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i="0" lang="en-US" sz="1400">
                <a:solidFill>
                  <a:srgbClr val="5D6879"/>
                </a:solidFill>
                <a:latin typeface="IBM Plex Mono"/>
                <a:ea typeface="IBM Plex Mono"/>
                <a:cs typeface="IBM Plex Mono"/>
                <a:sym typeface="IBM Plex Mono"/>
              </a:rPr>
              <a:t>4  GENERATE</a:t>
            </a:r>
            <a:endParaRPr/>
          </a:p>
        </p:txBody>
      </p:sp>
      <p:sp>
        <p:nvSpPr>
          <p:cNvPr id="248" name="Google Shape;248;p7"/>
          <p:cNvSpPr/>
          <p:nvPr/>
        </p:nvSpPr>
        <p:spPr>
          <a:xfrm>
            <a:off x="8156448" y="5797296"/>
            <a:ext cx="1645920" cy="310896"/>
          </a:xfrm>
          <a:prstGeom prst="roundRect">
            <a:avLst>
              <a:gd fmla="val 10000" name="adj"/>
            </a:avLst>
          </a:prstGeom>
          <a:solidFill>
            <a:srgbClr val="FFFFFF"/>
          </a:solidFill>
          <a:ln cap="flat" cmpd="sng" w="12700">
            <a:solidFill>
              <a:srgbClr val="DFE5ED"/>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249" name="Google Shape;249;p7"/>
          <p:cNvSpPr txBox="1"/>
          <p:nvPr/>
        </p:nvSpPr>
        <p:spPr>
          <a:xfrm>
            <a:off x="8211312" y="5833872"/>
            <a:ext cx="1527048" cy="246888"/>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i="0" lang="en-US" sz="1400">
                <a:solidFill>
                  <a:srgbClr val="5D6879"/>
                </a:solidFill>
                <a:latin typeface="IBM Plex Mono"/>
                <a:ea typeface="IBM Plex Mono"/>
                <a:cs typeface="IBM Plex Mono"/>
                <a:sym typeface="IBM Plex Mono"/>
              </a:rPr>
              <a:t>5  VALIDATE</a:t>
            </a:r>
            <a:endParaRPr/>
          </a:p>
        </p:txBody>
      </p:sp>
      <p:sp>
        <p:nvSpPr>
          <p:cNvPr id="250" name="Google Shape;250;p7"/>
          <p:cNvSpPr/>
          <p:nvPr/>
        </p:nvSpPr>
        <p:spPr>
          <a:xfrm>
            <a:off x="9994392" y="5797296"/>
            <a:ext cx="1645920" cy="310896"/>
          </a:xfrm>
          <a:prstGeom prst="roundRect">
            <a:avLst>
              <a:gd fmla="val 10000" name="adj"/>
            </a:avLst>
          </a:prstGeom>
          <a:solidFill>
            <a:srgbClr val="FFFFFF"/>
          </a:solidFill>
          <a:ln cap="flat" cmpd="sng" w="12700">
            <a:solidFill>
              <a:srgbClr val="DFE5ED"/>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251" name="Google Shape;251;p7"/>
          <p:cNvSpPr txBox="1"/>
          <p:nvPr/>
        </p:nvSpPr>
        <p:spPr>
          <a:xfrm>
            <a:off x="10049256" y="5833872"/>
            <a:ext cx="1527048" cy="246888"/>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i="0" lang="en-US" sz="1400">
                <a:solidFill>
                  <a:srgbClr val="5D6879"/>
                </a:solidFill>
                <a:latin typeface="IBM Plex Mono"/>
                <a:ea typeface="IBM Plex Mono"/>
                <a:cs typeface="IBM Plex Mono"/>
                <a:sym typeface="IBM Plex Mono"/>
              </a:rPr>
              <a:t>6  MERGE</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4F7"/>
        </a:solidFill>
      </p:bgPr>
    </p:bg>
    <p:spTree>
      <p:nvGrpSpPr>
        <p:cNvPr id="256" name="Shape 256"/>
        <p:cNvGrpSpPr/>
        <p:nvPr/>
      </p:nvGrpSpPr>
      <p:grpSpPr>
        <a:xfrm>
          <a:off x="0" y="0"/>
          <a:ext cx="0" cy="0"/>
          <a:chOff x="0" y="0"/>
          <a:chExt cx="0" cy="0"/>
        </a:xfrm>
      </p:grpSpPr>
      <p:sp>
        <p:nvSpPr>
          <p:cNvPr id="257" name="Google Shape;257;p8"/>
          <p:cNvSpPr txBox="1"/>
          <p:nvPr/>
        </p:nvSpPr>
        <p:spPr>
          <a:xfrm>
            <a:off x="795528" y="448056"/>
            <a:ext cx="10789920" cy="310896"/>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i="0" lang="en-US" sz="1400">
                <a:solidFill>
                  <a:srgbClr val="4D71DE"/>
                </a:solidFill>
                <a:latin typeface="IBM Plex Mono"/>
                <a:ea typeface="IBM Plex Mono"/>
                <a:cs typeface="IBM Plex Mono"/>
                <a:sym typeface="IBM Plex Mono"/>
              </a:rPr>
              <a:t>STEP 3 / RETRIEVE</a:t>
            </a:r>
            <a:endParaRPr/>
          </a:p>
        </p:txBody>
      </p:sp>
      <p:sp>
        <p:nvSpPr>
          <p:cNvPr id="258" name="Google Shape;258;p8"/>
          <p:cNvSpPr txBox="1"/>
          <p:nvPr/>
        </p:nvSpPr>
        <p:spPr>
          <a:xfrm>
            <a:off x="795528" y="850392"/>
            <a:ext cx="10835640" cy="685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800">
                <a:solidFill>
                  <a:srgbClr val="111A28"/>
                </a:solidFill>
                <a:latin typeface="IBM Plex Sans"/>
                <a:ea typeface="IBM Plex Sans"/>
                <a:cs typeface="IBM Plex Sans"/>
                <a:sym typeface="IBM Plex Sans"/>
              </a:rPr>
              <a:t>The draft is structurally faithful—but what does it mean?</a:t>
            </a:r>
            <a:endParaRPr/>
          </a:p>
        </p:txBody>
      </p:sp>
      <p:sp>
        <p:nvSpPr>
          <p:cNvPr id="259" name="Google Shape;259;p8"/>
          <p:cNvSpPr txBox="1"/>
          <p:nvPr/>
        </p:nvSpPr>
        <p:spPr>
          <a:xfrm>
            <a:off x="795528" y="1609344"/>
            <a:ext cx="10607040" cy="34747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sz="1600">
                <a:solidFill>
                  <a:srgbClr val="5D6879"/>
                </a:solidFill>
                <a:latin typeface="IBM Plex Sans"/>
                <a:ea typeface="IBM Plex Sans"/>
                <a:cs typeface="IBM Plex Sans"/>
                <a:sym typeface="IBM Plex Sans"/>
              </a:rPr>
              <a:t>RIGOR gathers a small context package from three complementary sources.</a:t>
            </a:r>
            <a:endParaRPr/>
          </a:p>
        </p:txBody>
      </p:sp>
      <p:sp>
        <p:nvSpPr>
          <p:cNvPr id="260" name="Google Shape;260;p8"/>
          <p:cNvSpPr/>
          <p:nvPr/>
        </p:nvSpPr>
        <p:spPr>
          <a:xfrm>
            <a:off x="822960" y="2185416"/>
            <a:ext cx="3319272" cy="2514600"/>
          </a:xfrm>
          <a:prstGeom prst="roundRect">
            <a:avLst>
              <a:gd fmla="val 10000" name="adj"/>
            </a:avLst>
          </a:prstGeom>
          <a:solidFill>
            <a:srgbClr val="FFFFFF"/>
          </a:solidFill>
          <a:ln cap="flat" cmpd="sng" w="12700">
            <a:solidFill>
              <a:srgbClr val="DFE5ED"/>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261" name="Google Shape;261;p8"/>
          <p:cNvSpPr/>
          <p:nvPr/>
        </p:nvSpPr>
        <p:spPr>
          <a:xfrm>
            <a:off x="822960" y="2185416"/>
            <a:ext cx="3319272" cy="64008"/>
          </a:xfrm>
          <a:prstGeom prst="rect">
            <a:avLst/>
          </a:prstGeom>
          <a:solidFill>
            <a:srgbClr val="4D71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262" name="Google Shape;262;p8"/>
          <p:cNvSpPr txBox="1"/>
          <p:nvPr/>
        </p:nvSpPr>
        <p:spPr>
          <a:xfrm>
            <a:off x="1005840" y="2395728"/>
            <a:ext cx="2999232" cy="301752"/>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i="0" lang="en-US" sz="1520">
                <a:solidFill>
                  <a:srgbClr val="4D71DE"/>
                </a:solidFill>
                <a:latin typeface="IBM Plex Mono"/>
                <a:ea typeface="IBM Plex Mono"/>
                <a:cs typeface="IBM Plex Mono"/>
                <a:sym typeface="IBM Plex Mono"/>
              </a:rPr>
              <a:t>1  DOCUMENTATION</a:t>
            </a:r>
            <a:endParaRPr/>
          </a:p>
        </p:txBody>
      </p:sp>
      <p:sp>
        <p:nvSpPr>
          <p:cNvPr id="263" name="Google Shape;263;p8"/>
          <p:cNvSpPr txBox="1"/>
          <p:nvPr/>
        </p:nvSpPr>
        <p:spPr>
          <a:xfrm>
            <a:off x="1005840" y="2807208"/>
            <a:ext cx="2990088" cy="53035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730">
                <a:solidFill>
                  <a:srgbClr val="111A28"/>
                </a:solidFill>
                <a:latin typeface="IBM Plex Sans"/>
                <a:ea typeface="IBM Plex Sans"/>
                <a:cs typeface="IBM Plex Sans"/>
                <a:sym typeface="IBM Plex Sans"/>
              </a:rPr>
              <a:t>What do column names mean?</a:t>
            </a:r>
            <a:endParaRPr/>
          </a:p>
        </p:txBody>
      </p:sp>
      <p:sp>
        <p:nvSpPr>
          <p:cNvPr id="264" name="Google Shape;264;p8"/>
          <p:cNvSpPr/>
          <p:nvPr/>
        </p:nvSpPr>
        <p:spPr>
          <a:xfrm>
            <a:off x="996696" y="3483864"/>
            <a:ext cx="2962656" cy="557784"/>
          </a:xfrm>
          <a:prstGeom prst="roundRect">
            <a:avLst>
              <a:gd fmla="val 10000" name="adj"/>
            </a:avLst>
          </a:prstGeom>
          <a:solidFill>
            <a:srgbClr val="F2F4F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265" name="Google Shape;265;p8"/>
          <p:cNvSpPr txBox="1"/>
          <p:nvPr/>
        </p:nvSpPr>
        <p:spPr>
          <a:xfrm>
            <a:off x="1124712" y="3511296"/>
            <a:ext cx="2706624" cy="548640"/>
          </a:xfrm>
          <a:prstGeom prst="rect">
            <a:avLst/>
          </a:prstGeom>
          <a:noFill/>
          <a:ln>
            <a:noFill/>
          </a:ln>
        </p:spPr>
        <p:txBody>
          <a:bodyPr anchorCtr="0" anchor="t" bIns="0" lIns="0" spcFirstLastPara="1" rIns="0" wrap="square" tIns="0">
            <a:spAutoFit/>
          </a:bodyPr>
          <a:lstStyle/>
          <a:p>
            <a:pPr indent="0" lvl="0" marL="0" marR="0" rtl="0" algn="l">
              <a:lnSpc>
                <a:spcPct val="106000"/>
              </a:lnSpc>
              <a:spcBef>
                <a:spcPts val="0"/>
              </a:spcBef>
              <a:spcAft>
                <a:spcPts val="0"/>
              </a:spcAft>
              <a:buNone/>
            </a:pPr>
            <a:r>
              <a:rPr b="0" lang="en-US" sz="1520">
                <a:solidFill>
                  <a:srgbClr val="111A28"/>
                </a:solidFill>
                <a:latin typeface="IBM Plex Sans"/>
                <a:ea typeface="IBM Plex Sans"/>
                <a:cs typeface="IBM Plex Sans"/>
                <a:sym typeface="IBM Plex Sans"/>
              </a:rPr>
              <a:t>BM_DEP → Bone Marrow</a:t>
            </a:r>
            <a:endParaRPr/>
          </a:p>
          <a:p>
            <a:pPr indent="0" lvl="0" marL="0" marR="0" rtl="0" algn="l">
              <a:lnSpc>
                <a:spcPct val="106000"/>
              </a:lnSpc>
              <a:spcBef>
                <a:spcPts val="0"/>
              </a:spcBef>
              <a:spcAft>
                <a:spcPts val="0"/>
              </a:spcAft>
              <a:buNone/>
            </a:pPr>
            <a:r>
              <a:rPr b="0" lang="en-US" sz="1520">
                <a:solidFill>
                  <a:srgbClr val="111A28"/>
                </a:solidFill>
                <a:latin typeface="IBM Plex Sans"/>
                <a:ea typeface="IBM Plex Sans"/>
                <a:cs typeface="IBM Plex Sans"/>
                <a:sym typeface="IBM Plex Sans"/>
              </a:rPr>
              <a:t>Depression</a:t>
            </a:r>
            <a:endParaRPr/>
          </a:p>
        </p:txBody>
      </p:sp>
      <p:sp>
        <p:nvSpPr>
          <p:cNvPr id="266" name="Google Shape;266;p8"/>
          <p:cNvSpPr txBox="1"/>
          <p:nvPr/>
        </p:nvSpPr>
        <p:spPr>
          <a:xfrm>
            <a:off x="1005840" y="4261104"/>
            <a:ext cx="2944368" cy="292608"/>
          </a:xfrm>
          <a:prstGeom prst="rect">
            <a:avLst/>
          </a:prstGeom>
          <a:noFill/>
          <a:ln>
            <a:noFill/>
          </a:ln>
        </p:spPr>
        <p:txBody>
          <a:bodyPr anchorCtr="0" anchor="ctr" bIns="0" lIns="0" spcFirstLastPara="1" rIns="0" wrap="square" tIns="0">
            <a:spAutoFit/>
          </a:bodyPr>
          <a:lstStyle/>
          <a:p>
            <a:pPr indent="0" lvl="0" marL="0" marR="0" rtl="0" algn="l">
              <a:lnSpc>
                <a:spcPct val="106000"/>
              </a:lnSpc>
              <a:spcBef>
                <a:spcPts val="0"/>
              </a:spcBef>
              <a:spcAft>
                <a:spcPts val="0"/>
              </a:spcAft>
              <a:buNone/>
            </a:pPr>
            <a:r>
              <a:rPr b="0" lang="en-US" sz="1550">
                <a:solidFill>
                  <a:srgbClr val="5D6879"/>
                </a:solidFill>
                <a:latin typeface="IBM Plex Sans"/>
                <a:ea typeface="IBM Plex Sans"/>
                <a:cs typeface="IBM Plex Sans"/>
                <a:sym typeface="IBM Plex Sans"/>
              </a:rPr>
              <a:t>Defines cryptic names</a:t>
            </a:r>
            <a:endParaRPr/>
          </a:p>
        </p:txBody>
      </p:sp>
      <p:sp>
        <p:nvSpPr>
          <p:cNvPr id="267" name="Google Shape;267;p8"/>
          <p:cNvSpPr/>
          <p:nvPr/>
        </p:nvSpPr>
        <p:spPr>
          <a:xfrm>
            <a:off x="4416552" y="2185416"/>
            <a:ext cx="3319272" cy="2514600"/>
          </a:xfrm>
          <a:prstGeom prst="roundRect">
            <a:avLst>
              <a:gd fmla="val 10000" name="adj"/>
            </a:avLst>
          </a:prstGeom>
          <a:solidFill>
            <a:srgbClr val="FFFFFF"/>
          </a:solidFill>
          <a:ln cap="flat" cmpd="sng" w="12700">
            <a:solidFill>
              <a:srgbClr val="DFE5ED"/>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268" name="Google Shape;268;p8"/>
          <p:cNvSpPr/>
          <p:nvPr/>
        </p:nvSpPr>
        <p:spPr>
          <a:xfrm>
            <a:off x="4416552" y="2185416"/>
            <a:ext cx="3319272" cy="64008"/>
          </a:xfrm>
          <a:prstGeom prst="rect">
            <a:avLst/>
          </a:prstGeom>
          <a:solidFill>
            <a:srgbClr val="D68B4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269" name="Google Shape;269;p8"/>
          <p:cNvSpPr txBox="1"/>
          <p:nvPr/>
        </p:nvSpPr>
        <p:spPr>
          <a:xfrm>
            <a:off x="4599432" y="2395728"/>
            <a:ext cx="2999232" cy="301752"/>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i="0" lang="en-US" sz="1520">
                <a:solidFill>
                  <a:srgbClr val="D68B4B"/>
                </a:solidFill>
                <a:latin typeface="IBM Plex Mono"/>
                <a:ea typeface="IBM Plex Mono"/>
                <a:cs typeface="IBM Plex Mono"/>
                <a:sym typeface="IBM Plex Mono"/>
              </a:rPr>
              <a:t>2  EXTERNAL ONTOLOGIES</a:t>
            </a:r>
            <a:endParaRPr/>
          </a:p>
        </p:txBody>
      </p:sp>
      <p:sp>
        <p:nvSpPr>
          <p:cNvPr id="270" name="Google Shape;270;p8"/>
          <p:cNvSpPr txBox="1"/>
          <p:nvPr/>
        </p:nvSpPr>
        <p:spPr>
          <a:xfrm>
            <a:off x="4599432" y="2807208"/>
            <a:ext cx="2990088" cy="53035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730">
                <a:solidFill>
                  <a:srgbClr val="111A28"/>
                </a:solidFill>
                <a:latin typeface="IBM Plex Sans"/>
                <a:ea typeface="IBM Plex Sans"/>
                <a:cs typeface="IBM Plex Sans"/>
                <a:sym typeface="IBM Plex Sans"/>
              </a:rPr>
              <a:t>Which domain concepts exist?</a:t>
            </a:r>
            <a:endParaRPr/>
          </a:p>
        </p:txBody>
      </p:sp>
      <p:sp>
        <p:nvSpPr>
          <p:cNvPr id="271" name="Google Shape;271;p8"/>
          <p:cNvSpPr/>
          <p:nvPr/>
        </p:nvSpPr>
        <p:spPr>
          <a:xfrm>
            <a:off x="4590288" y="3483864"/>
            <a:ext cx="2962656" cy="557784"/>
          </a:xfrm>
          <a:prstGeom prst="roundRect">
            <a:avLst>
              <a:gd fmla="val 10000" name="adj"/>
            </a:avLst>
          </a:prstGeom>
          <a:solidFill>
            <a:srgbClr val="F2F4F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272" name="Google Shape;272;p8"/>
          <p:cNvSpPr txBox="1"/>
          <p:nvPr/>
        </p:nvSpPr>
        <p:spPr>
          <a:xfrm>
            <a:off x="4718304" y="3520440"/>
            <a:ext cx="2706624" cy="557784"/>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0" lang="en-US" sz="1520">
                <a:solidFill>
                  <a:srgbClr val="111A28"/>
                </a:solidFill>
                <a:latin typeface="IBM Plex Sans"/>
                <a:ea typeface="IBM Plex Sans"/>
                <a:cs typeface="IBM Plex Sans"/>
                <a:sym typeface="IBM Plex Sans"/>
              </a:rPr>
              <a:t>ICD-10 · Disease Ontology</a:t>
            </a:r>
            <a:endParaRPr/>
          </a:p>
          <a:p>
            <a:pPr indent="0" lvl="0" marL="0" marR="0" rtl="0" algn="l">
              <a:lnSpc>
                <a:spcPct val="105000"/>
              </a:lnSpc>
              <a:spcBef>
                <a:spcPts val="0"/>
              </a:spcBef>
              <a:spcAft>
                <a:spcPts val="0"/>
              </a:spcAft>
              <a:buNone/>
            </a:pPr>
            <a:r>
              <a:rPr b="0" lang="en-US" sz="1520">
                <a:solidFill>
                  <a:srgbClr val="111A28"/>
                </a:solidFill>
                <a:latin typeface="IBM Plex Sans"/>
                <a:ea typeface="IBM Plex Sans"/>
                <a:cs typeface="IBM Plex Sans"/>
                <a:sym typeface="IBM Plex Sans"/>
              </a:rPr>
              <a:t>Cell and nutrition ontologies</a:t>
            </a:r>
            <a:endParaRPr/>
          </a:p>
        </p:txBody>
      </p:sp>
      <p:sp>
        <p:nvSpPr>
          <p:cNvPr id="273" name="Google Shape;273;p8"/>
          <p:cNvSpPr txBox="1"/>
          <p:nvPr/>
        </p:nvSpPr>
        <p:spPr>
          <a:xfrm>
            <a:off x="4599432" y="4215384"/>
            <a:ext cx="2944368" cy="36576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0" lang="en-US" sz="1550">
                <a:solidFill>
                  <a:srgbClr val="5D6879"/>
                </a:solidFill>
                <a:latin typeface="IBM Plex Sans"/>
                <a:ea typeface="IBM Plex Sans"/>
                <a:cs typeface="IBM Plex Sans"/>
                <a:sym typeface="IBM Plex Sans"/>
              </a:rPr>
              <a:t>Suggests established concepts</a:t>
            </a:r>
            <a:endParaRPr/>
          </a:p>
        </p:txBody>
      </p:sp>
      <p:sp>
        <p:nvSpPr>
          <p:cNvPr id="274" name="Google Shape;274;p8"/>
          <p:cNvSpPr/>
          <p:nvPr/>
        </p:nvSpPr>
        <p:spPr>
          <a:xfrm>
            <a:off x="8010144" y="2185416"/>
            <a:ext cx="3319272" cy="2514600"/>
          </a:xfrm>
          <a:prstGeom prst="roundRect">
            <a:avLst>
              <a:gd fmla="val 10000" name="adj"/>
            </a:avLst>
          </a:prstGeom>
          <a:solidFill>
            <a:srgbClr val="FFFFFF"/>
          </a:solidFill>
          <a:ln cap="flat" cmpd="sng" w="12700">
            <a:solidFill>
              <a:srgbClr val="DFE5ED"/>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275" name="Google Shape;275;p8"/>
          <p:cNvSpPr/>
          <p:nvPr/>
        </p:nvSpPr>
        <p:spPr>
          <a:xfrm>
            <a:off x="8010144" y="2185416"/>
            <a:ext cx="3319272" cy="64008"/>
          </a:xfrm>
          <a:prstGeom prst="rect">
            <a:avLst/>
          </a:prstGeom>
          <a:solidFill>
            <a:srgbClr val="4D71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276" name="Google Shape;276;p8"/>
          <p:cNvSpPr txBox="1"/>
          <p:nvPr/>
        </p:nvSpPr>
        <p:spPr>
          <a:xfrm>
            <a:off x="8193023" y="2395728"/>
            <a:ext cx="2999232" cy="301752"/>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i="0" lang="en-US" sz="1520">
                <a:solidFill>
                  <a:srgbClr val="4D71DE"/>
                </a:solidFill>
                <a:latin typeface="IBM Plex Mono"/>
                <a:ea typeface="IBM Plex Mono"/>
                <a:cs typeface="IBM Plex Mono"/>
                <a:sym typeface="IBM Plex Mono"/>
              </a:rPr>
              <a:t>3  GROWING CORE</a:t>
            </a:r>
            <a:endParaRPr/>
          </a:p>
        </p:txBody>
      </p:sp>
      <p:sp>
        <p:nvSpPr>
          <p:cNvPr id="277" name="Google Shape;277;p8"/>
          <p:cNvSpPr txBox="1"/>
          <p:nvPr/>
        </p:nvSpPr>
        <p:spPr>
          <a:xfrm>
            <a:off x="8193023" y="2807208"/>
            <a:ext cx="2990088" cy="53035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730">
                <a:solidFill>
                  <a:srgbClr val="111A28"/>
                </a:solidFill>
                <a:latin typeface="IBM Plex Sans"/>
                <a:ea typeface="IBM Plex Sans"/>
                <a:cs typeface="IBM Plex Sans"/>
                <a:sym typeface="IBM Plex Sans"/>
              </a:rPr>
              <a:t>What have we already defined?</a:t>
            </a:r>
            <a:endParaRPr/>
          </a:p>
        </p:txBody>
      </p:sp>
      <p:sp>
        <p:nvSpPr>
          <p:cNvPr id="278" name="Google Shape;278;p8"/>
          <p:cNvSpPr/>
          <p:nvPr/>
        </p:nvSpPr>
        <p:spPr>
          <a:xfrm>
            <a:off x="8183879" y="3483864"/>
            <a:ext cx="2962656" cy="557784"/>
          </a:xfrm>
          <a:prstGeom prst="roundRect">
            <a:avLst>
              <a:gd fmla="val 10000" name="adj"/>
            </a:avLst>
          </a:prstGeom>
          <a:solidFill>
            <a:srgbClr val="F2F4F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279" name="Google Shape;279;p8"/>
          <p:cNvSpPr txBox="1"/>
          <p:nvPr/>
        </p:nvSpPr>
        <p:spPr>
          <a:xfrm>
            <a:off x="8311896" y="3520440"/>
            <a:ext cx="2706624" cy="557784"/>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0" lang="en-US" sz="1520">
                <a:solidFill>
                  <a:srgbClr val="111A28"/>
                </a:solidFill>
                <a:latin typeface="IBM Plex Sans"/>
                <a:ea typeface="IBM Plex Sans"/>
                <a:cs typeface="IBM Plex Sans"/>
                <a:sym typeface="IBM Plex Sans"/>
              </a:rPr>
              <a:t>PatientData + previously</a:t>
            </a:r>
            <a:endParaRPr/>
          </a:p>
          <a:p>
            <a:pPr indent="0" lvl="0" marL="0" marR="0" rtl="0" algn="l">
              <a:lnSpc>
                <a:spcPct val="105000"/>
              </a:lnSpc>
              <a:spcBef>
                <a:spcPts val="0"/>
              </a:spcBef>
              <a:spcAft>
                <a:spcPts val="0"/>
              </a:spcAft>
              <a:buNone/>
            </a:pPr>
            <a:r>
              <a:rPr b="0" lang="en-US" sz="1520">
                <a:solidFill>
                  <a:srgbClr val="111A28"/>
                </a:solidFill>
                <a:latin typeface="IBM Plex Sans"/>
                <a:ea typeface="IBM Plex Sans"/>
                <a:cs typeface="IBM Plex Sans"/>
                <a:sym typeface="IBM Plex Sans"/>
              </a:rPr>
              <a:t>accepted ontology terms</a:t>
            </a:r>
            <a:endParaRPr/>
          </a:p>
        </p:txBody>
      </p:sp>
      <p:sp>
        <p:nvSpPr>
          <p:cNvPr id="280" name="Google Shape;280;p8"/>
          <p:cNvSpPr txBox="1"/>
          <p:nvPr/>
        </p:nvSpPr>
        <p:spPr>
          <a:xfrm>
            <a:off x="8193023" y="4215384"/>
            <a:ext cx="2944368" cy="36576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0" lang="en-US" sz="1550">
                <a:solidFill>
                  <a:srgbClr val="5D6879"/>
                </a:solidFill>
                <a:latin typeface="IBM Plex Sans"/>
                <a:ea typeface="IBM Plex Sans"/>
                <a:cs typeface="IBM Plex Sans"/>
                <a:sym typeface="IBM Plex Sans"/>
              </a:rPr>
              <a:t>Reuses established concepts</a:t>
            </a:r>
            <a:endParaRPr/>
          </a:p>
        </p:txBody>
      </p:sp>
      <p:sp>
        <p:nvSpPr>
          <p:cNvPr id="281" name="Google Shape;281;p8"/>
          <p:cNvSpPr/>
          <p:nvPr/>
        </p:nvSpPr>
        <p:spPr>
          <a:xfrm>
            <a:off x="832104" y="4965192"/>
            <a:ext cx="10469880" cy="521207"/>
          </a:xfrm>
          <a:prstGeom prst="roundRect">
            <a:avLst>
              <a:gd fmla="val 10000" name="adj"/>
            </a:avLst>
          </a:prstGeom>
          <a:solidFill>
            <a:srgbClr val="E4EB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282" name="Google Shape;282;p8"/>
          <p:cNvSpPr txBox="1"/>
          <p:nvPr/>
        </p:nvSpPr>
        <p:spPr>
          <a:xfrm>
            <a:off x="1033271" y="5074920"/>
            <a:ext cx="10076688" cy="301752"/>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lang="en-US" sz="1550">
                <a:solidFill>
                  <a:srgbClr val="4D71DE"/>
                </a:solidFill>
                <a:latin typeface="IBM Plex Sans"/>
                <a:ea typeface="IBM Plex Sans"/>
                <a:cs typeface="IBM Plex Sans"/>
                <a:sym typeface="IBM Plex Sans"/>
              </a:rPr>
              <a:t>ONE RETRIEVAL QUERY PER TABLE   </a:t>
            </a:r>
            <a:r>
              <a:rPr b="0" lang="en-US" sz="1550">
                <a:solidFill>
                  <a:srgbClr val="111A28"/>
                </a:solidFill>
                <a:latin typeface="IBM Plex Sans"/>
                <a:ea typeface="IBM Plex Sans"/>
                <a:cs typeface="IBM Plex Sans"/>
                <a:sym typeface="IBM Plex Sans"/>
              </a:rPr>
              <a:t>table + columns + FK targets  →  top-3 per source</a:t>
            </a:r>
            <a:endParaRPr/>
          </a:p>
        </p:txBody>
      </p:sp>
      <p:sp>
        <p:nvSpPr>
          <p:cNvPr id="283" name="Google Shape;283;p8"/>
          <p:cNvSpPr/>
          <p:nvPr/>
        </p:nvSpPr>
        <p:spPr>
          <a:xfrm>
            <a:off x="804672" y="5797296"/>
            <a:ext cx="1645920" cy="310896"/>
          </a:xfrm>
          <a:prstGeom prst="roundRect">
            <a:avLst>
              <a:gd fmla="val 10000" name="adj"/>
            </a:avLst>
          </a:prstGeom>
          <a:solidFill>
            <a:srgbClr val="E4EBFF"/>
          </a:solidFill>
          <a:ln cap="flat" cmpd="sng" w="12700">
            <a:solidFill>
              <a:srgbClr val="DFE5ED"/>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284" name="Google Shape;284;p8"/>
          <p:cNvSpPr txBox="1"/>
          <p:nvPr/>
        </p:nvSpPr>
        <p:spPr>
          <a:xfrm>
            <a:off x="859536" y="5833872"/>
            <a:ext cx="1527048" cy="246888"/>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i="0" lang="en-US" sz="1400">
                <a:solidFill>
                  <a:srgbClr val="7799F0"/>
                </a:solidFill>
                <a:latin typeface="IBM Plex Mono"/>
                <a:ea typeface="IBM Plex Mono"/>
                <a:cs typeface="IBM Plex Mono"/>
                <a:sym typeface="IBM Plex Mono"/>
              </a:rPr>
              <a:t>1  ORDER</a:t>
            </a:r>
            <a:endParaRPr/>
          </a:p>
        </p:txBody>
      </p:sp>
      <p:sp>
        <p:nvSpPr>
          <p:cNvPr id="285" name="Google Shape;285;p8"/>
          <p:cNvSpPr/>
          <p:nvPr/>
        </p:nvSpPr>
        <p:spPr>
          <a:xfrm>
            <a:off x="2642615" y="5797296"/>
            <a:ext cx="1645920" cy="310896"/>
          </a:xfrm>
          <a:prstGeom prst="roundRect">
            <a:avLst>
              <a:gd fmla="val 10000" name="adj"/>
            </a:avLst>
          </a:prstGeom>
          <a:solidFill>
            <a:srgbClr val="E4EBFF"/>
          </a:solidFill>
          <a:ln cap="flat" cmpd="sng" w="12700">
            <a:solidFill>
              <a:srgbClr val="DFE5ED"/>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286" name="Google Shape;286;p8"/>
          <p:cNvSpPr txBox="1"/>
          <p:nvPr/>
        </p:nvSpPr>
        <p:spPr>
          <a:xfrm>
            <a:off x="2697479" y="5833872"/>
            <a:ext cx="1527048" cy="246888"/>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i="0" lang="en-US" sz="1400">
                <a:solidFill>
                  <a:srgbClr val="7799F0"/>
                </a:solidFill>
                <a:latin typeface="IBM Plex Mono"/>
                <a:ea typeface="IBM Plex Mono"/>
                <a:cs typeface="IBM Plex Mono"/>
                <a:sym typeface="IBM Plex Mono"/>
              </a:rPr>
              <a:t>2  SEED</a:t>
            </a:r>
            <a:endParaRPr/>
          </a:p>
        </p:txBody>
      </p:sp>
      <p:sp>
        <p:nvSpPr>
          <p:cNvPr id="287" name="Google Shape;287;p8"/>
          <p:cNvSpPr/>
          <p:nvPr/>
        </p:nvSpPr>
        <p:spPr>
          <a:xfrm>
            <a:off x="4480559" y="5797296"/>
            <a:ext cx="1645920" cy="310896"/>
          </a:xfrm>
          <a:prstGeom prst="roundRect">
            <a:avLst>
              <a:gd fmla="val 10000" name="adj"/>
            </a:avLst>
          </a:prstGeom>
          <a:solidFill>
            <a:srgbClr val="E4EBFF"/>
          </a:solidFill>
          <a:ln cap="flat" cmpd="sng" w="12700">
            <a:solidFill>
              <a:srgbClr val="DFE5ED"/>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288" name="Google Shape;288;p8"/>
          <p:cNvSpPr txBox="1"/>
          <p:nvPr/>
        </p:nvSpPr>
        <p:spPr>
          <a:xfrm>
            <a:off x="4535423" y="5833872"/>
            <a:ext cx="1527048" cy="246888"/>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i="0" lang="en-US" sz="1400">
                <a:solidFill>
                  <a:srgbClr val="F4A261"/>
                </a:solidFill>
                <a:latin typeface="IBM Plex Mono"/>
                <a:ea typeface="IBM Plex Mono"/>
                <a:cs typeface="IBM Plex Mono"/>
                <a:sym typeface="IBM Plex Mono"/>
              </a:rPr>
              <a:t>3  RETRIEVE</a:t>
            </a:r>
            <a:endParaRPr/>
          </a:p>
        </p:txBody>
      </p:sp>
      <p:sp>
        <p:nvSpPr>
          <p:cNvPr id="289" name="Google Shape;289;p8"/>
          <p:cNvSpPr/>
          <p:nvPr/>
        </p:nvSpPr>
        <p:spPr>
          <a:xfrm>
            <a:off x="6318503" y="5797296"/>
            <a:ext cx="1645920" cy="310896"/>
          </a:xfrm>
          <a:prstGeom prst="roundRect">
            <a:avLst>
              <a:gd fmla="val 10000" name="adj"/>
            </a:avLst>
          </a:prstGeom>
          <a:solidFill>
            <a:srgbClr val="FFFFFF"/>
          </a:solidFill>
          <a:ln cap="flat" cmpd="sng" w="12700">
            <a:solidFill>
              <a:srgbClr val="DFE5ED"/>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290" name="Google Shape;290;p8"/>
          <p:cNvSpPr txBox="1"/>
          <p:nvPr/>
        </p:nvSpPr>
        <p:spPr>
          <a:xfrm>
            <a:off x="6373367" y="5833872"/>
            <a:ext cx="1527048" cy="246888"/>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i="0" lang="en-US" sz="1400">
                <a:solidFill>
                  <a:srgbClr val="5D6879"/>
                </a:solidFill>
                <a:latin typeface="IBM Plex Mono"/>
                <a:ea typeface="IBM Plex Mono"/>
                <a:cs typeface="IBM Plex Mono"/>
                <a:sym typeface="IBM Plex Mono"/>
              </a:rPr>
              <a:t>4  GENERATE</a:t>
            </a:r>
            <a:endParaRPr/>
          </a:p>
        </p:txBody>
      </p:sp>
      <p:sp>
        <p:nvSpPr>
          <p:cNvPr id="291" name="Google Shape;291;p8"/>
          <p:cNvSpPr/>
          <p:nvPr/>
        </p:nvSpPr>
        <p:spPr>
          <a:xfrm>
            <a:off x="8156448" y="5797296"/>
            <a:ext cx="1645920" cy="310896"/>
          </a:xfrm>
          <a:prstGeom prst="roundRect">
            <a:avLst>
              <a:gd fmla="val 10000" name="adj"/>
            </a:avLst>
          </a:prstGeom>
          <a:solidFill>
            <a:srgbClr val="FFFFFF"/>
          </a:solidFill>
          <a:ln cap="flat" cmpd="sng" w="12700">
            <a:solidFill>
              <a:srgbClr val="DFE5ED"/>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292" name="Google Shape;292;p8"/>
          <p:cNvSpPr txBox="1"/>
          <p:nvPr/>
        </p:nvSpPr>
        <p:spPr>
          <a:xfrm>
            <a:off x="8211312" y="5833872"/>
            <a:ext cx="1527048" cy="246888"/>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i="0" lang="en-US" sz="1400">
                <a:solidFill>
                  <a:srgbClr val="5D6879"/>
                </a:solidFill>
                <a:latin typeface="IBM Plex Mono"/>
                <a:ea typeface="IBM Plex Mono"/>
                <a:cs typeface="IBM Plex Mono"/>
                <a:sym typeface="IBM Plex Mono"/>
              </a:rPr>
              <a:t>5  VALIDATE</a:t>
            </a:r>
            <a:endParaRPr/>
          </a:p>
        </p:txBody>
      </p:sp>
      <p:sp>
        <p:nvSpPr>
          <p:cNvPr id="293" name="Google Shape;293;p8"/>
          <p:cNvSpPr/>
          <p:nvPr/>
        </p:nvSpPr>
        <p:spPr>
          <a:xfrm>
            <a:off x="9994392" y="5797296"/>
            <a:ext cx="1645920" cy="310896"/>
          </a:xfrm>
          <a:prstGeom prst="roundRect">
            <a:avLst>
              <a:gd fmla="val 10000" name="adj"/>
            </a:avLst>
          </a:prstGeom>
          <a:solidFill>
            <a:srgbClr val="FFFFFF"/>
          </a:solidFill>
          <a:ln cap="flat" cmpd="sng" w="12700">
            <a:solidFill>
              <a:srgbClr val="DFE5ED"/>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294" name="Google Shape;294;p8"/>
          <p:cNvSpPr txBox="1"/>
          <p:nvPr/>
        </p:nvSpPr>
        <p:spPr>
          <a:xfrm>
            <a:off x="10049256" y="5833872"/>
            <a:ext cx="1527048" cy="246888"/>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i="0" lang="en-US" sz="1400">
                <a:solidFill>
                  <a:srgbClr val="5D6879"/>
                </a:solidFill>
                <a:latin typeface="IBM Plex Mono"/>
                <a:ea typeface="IBM Plex Mono"/>
                <a:cs typeface="IBM Plex Mono"/>
                <a:sym typeface="IBM Plex Mono"/>
              </a:rPr>
              <a:t>6  MERGE</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1726"/>
        </a:solidFill>
      </p:bgPr>
    </p:bg>
    <p:spTree>
      <p:nvGrpSpPr>
        <p:cNvPr id="299" name="Shape 299"/>
        <p:cNvGrpSpPr/>
        <p:nvPr/>
      </p:nvGrpSpPr>
      <p:grpSpPr>
        <a:xfrm>
          <a:off x="0" y="0"/>
          <a:ext cx="0" cy="0"/>
          <a:chOff x="0" y="0"/>
          <a:chExt cx="0" cy="0"/>
        </a:xfrm>
      </p:grpSpPr>
      <p:sp>
        <p:nvSpPr>
          <p:cNvPr id="300" name="Google Shape;300;p9"/>
          <p:cNvSpPr txBox="1"/>
          <p:nvPr/>
        </p:nvSpPr>
        <p:spPr>
          <a:xfrm>
            <a:off x="804672" y="448056"/>
            <a:ext cx="10716768" cy="310896"/>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i="0" lang="en-US" sz="1400">
                <a:solidFill>
                  <a:srgbClr val="F4A261"/>
                </a:solidFill>
                <a:latin typeface="IBM Plex Mono"/>
                <a:ea typeface="IBM Plex Mono"/>
                <a:cs typeface="IBM Plex Mono"/>
                <a:sym typeface="IBM Plex Mono"/>
              </a:rPr>
              <a:t>STEP 4 / GENERATE</a:t>
            </a:r>
            <a:endParaRPr/>
          </a:p>
        </p:txBody>
      </p:sp>
      <p:sp>
        <p:nvSpPr>
          <p:cNvPr id="301" name="Google Shape;301;p9"/>
          <p:cNvSpPr txBox="1"/>
          <p:nvPr/>
        </p:nvSpPr>
        <p:spPr>
          <a:xfrm>
            <a:off x="804672" y="859536"/>
            <a:ext cx="10716768" cy="6949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800">
                <a:solidFill>
                  <a:srgbClr val="EDF1F6"/>
                </a:solidFill>
                <a:latin typeface="IBM Plex Sans"/>
                <a:ea typeface="IBM Plex Sans"/>
                <a:cs typeface="IBM Plex Sans"/>
                <a:sym typeface="IBM Plex Sans"/>
              </a:rPr>
              <a:t>The LLM enriches a schema-grounded draft.</a:t>
            </a:r>
            <a:endParaRPr/>
          </a:p>
        </p:txBody>
      </p:sp>
      <p:sp>
        <p:nvSpPr>
          <p:cNvPr id="302" name="Google Shape;302;p9"/>
          <p:cNvSpPr txBox="1"/>
          <p:nvPr/>
        </p:nvSpPr>
        <p:spPr>
          <a:xfrm>
            <a:off x="804672" y="1609344"/>
            <a:ext cx="10607040" cy="32004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sz="1600">
                <a:solidFill>
                  <a:srgbClr val="C9D2DE"/>
                </a:solidFill>
                <a:latin typeface="IBM Plex Sans"/>
                <a:ea typeface="IBM Plex Sans"/>
                <a:cs typeface="IBM Plex Sans"/>
                <a:sym typeface="IBM Plex Sans"/>
              </a:rPr>
              <a:t>One prompt combines the direct mapping, retrieved context, and enrichment instructions.</a:t>
            </a:r>
            <a:endParaRPr/>
          </a:p>
        </p:txBody>
      </p:sp>
      <p:sp>
        <p:nvSpPr>
          <p:cNvPr id="322" name="Google Shape;322;p9"/>
          <p:cNvSpPr/>
          <p:nvPr/>
        </p:nvSpPr>
        <p:spPr>
          <a:xfrm>
            <a:off x="804672" y="5797296"/>
            <a:ext cx="1645920" cy="310896"/>
          </a:xfrm>
          <a:prstGeom prst="roundRect">
            <a:avLst>
              <a:gd fmla="val 10000" name="adj"/>
            </a:avLst>
          </a:prstGeom>
          <a:solidFill>
            <a:srgbClr val="21314A"/>
          </a:solidFill>
          <a:ln cap="flat" cmpd="sng" w="12700">
            <a:solidFill>
              <a:srgbClr val="263A5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323" name="Google Shape;323;p9"/>
          <p:cNvSpPr txBox="1"/>
          <p:nvPr/>
        </p:nvSpPr>
        <p:spPr>
          <a:xfrm>
            <a:off x="859536" y="5833872"/>
            <a:ext cx="1527048" cy="246888"/>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i="0" lang="en-US" sz="1400">
                <a:solidFill>
                  <a:srgbClr val="7799F0"/>
                </a:solidFill>
                <a:latin typeface="IBM Plex Mono"/>
                <a:ea typeface="IBM Plex Mono"/>
                <a:cs typeface="IBM Plex Mono"/>
                <a:sym typeface="IBM Plex Mono"/>
              </a:rPr>
              <a:t>1  ORDER</a:t>
            </a:r>
            <a:endParaRPr/>
          </a:p>
        </p:txBody>
      </p:sp>
      <p:sp>
        <p:nvSpPr>
          <p:cNvPr id="324" name="Google Shape;324;p9"/>
          <p:cNvSpPr/>
          <p:nvPr/>
        </p:nvSpPr>
        <p:spPr>
          <a:xfrm>
            <a:off x="2642615" y="5797296"/>
            <a:ext cx="1645920" cy="310896"/>
          </a:xfrm>
          <a:prstGeom prst="roundRect">
            <a:avLst>
              <a:gd fmla="val 10000" name="adj"/>
            </a:avLst>
          </a:prstGeom>
          <a:solidFill>
            <a:srgbClr val="21314A"/>
          </a:solidFill>
          <a:ln cap="flat" cmpd="sng" w="12700">
            <a:solidFill>
              <a:srgbClr val="263A5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325" name="Google Shape;325;p9"/>
          <p:cNvSpPr txBox="1"/>
          <p:nvPr/>
        </p:nvSpPr>
        <p:spPr>
          <a:xfrm>
            <a:off x="2697479" y="5833872"/>
            <a:ext cx="1527048" cy="246888"/>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i="0" lang="en-US" sz="1400">
                <a:solidFill>
                  <a:srgbClr val="7799F0"/>
                </a:solidFill>
                <a:latin typeface="IBM Plex Mono"/>
                <a:ea typeface="IBM Plex Mono"/>
                <a:cs typeface="IBM Plex Mono"/>
                <a:sym typeface="IBM Plex Mono"/>
              </a:rPr>
              <a:t>2  SEED</a:t>
            </a:r>
            <a:endParaRPr/>
          </a:p>
        </p:txBody>
      </p:sp>
      <p:sp>
        <p:nvSpPr>
          <p:cNvPr id="326" name="Google Shape;326;p9"/>
          <p:cNvSpPr/>
          <p:nvPr/>
        </p:nvSpPr>
        <p:spPr>
          <a:xfrm>
            <a:off x="4480559" y="5797296"/>
            <a:ext cx="1645920" cy="310896"/>
          </a:xfrm>
          <a:prstGeom prst="roundRect">
            <a:avLst>
              <a:gd fmla="val 10000" name="adj"/>
            </a:avLst>
          </a:prstGeom>
          <a:solidFill>
            <a:srgbClr val="21314A"/>
          </a:solidFill>
          <a:ln cap="flat" cmpd="sng" w="12700">
            <a:solidFill>
              <a:srgbClr val="263A5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327" name="Google Shape;327;p9"/>
          <p:cNvSpPr txBox="1"/>
          <p:nvPr/>
        </p:nvSpPr>
        <p:spPr>
          <a:xfrm>
            <a:off x="4535423" y="5833872"/>
            <a:ext cx="1527048" cy="246888"/>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i="0" lang="en-US" sz="1400">
                <a:solidFill>
                  <a:srgbClr val="7799F0"/>
                </a:solidFill>
                <a:latin typeface="IBM Plex Mono"/>
                <a:ea typeface="IBM Plex Mono"/>
                <a:cs typeface="IBM Plex Mono"/>
                <a:sym typeface="IBM Plex Mono"/>
              </a:rPr>
              <a:t>3  RETRIEVE</a:t>
            </a:r>
            <a:endParaRPr/>
          </a:p>
        </p:txBody>
      </p:sp>
      <p:sp>
        <p:nvSpPr>
          <p:cNvPr id="328" name="Google Shape;328;p9"/>
          <p:cNvSpPr/>
          <p:nvPr/>
        </p:nvSpPr>
        <p:spPr>
          <a:xfrm>
            <a:off x="6318503" y="5797296"/>
            <a:ext cx="1645920" cy="310896"/>
          </a:xfrm>
          <a:prstGeom prst="roundRect">
            <a:avLst>
              <a:gd fmla="val 10000" name="adj"/>
            </a:avLst>
          </a:prstGeom>
          <a:solidFill>
            <a:srgbClr val="21314A"/>
          </a:solidFill>
          <a:ln cap="flat" cmpd="sng" w="12700">
            <a:solidFill>
              <a:srgbClr val="263A5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329" name="Google Shape;329;p9"/>
          <p:cNvSpPr txBox="1"/>
          <p:nvPr/>
        </p:nvSpPr>
        <p:spPr>
          <a:xfrm>
            <a:off x="6373367" y="5833872"/>
            <a:ext cx="1527048" cy="246888"/>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i="0" lang="en-US" sz="1400">
                <a:solidFill>
                  <a:srgbClr val="F4A261"/>
                </a:solidFill>
                <a:latin typeface="IBM Plex Mono"/>
                <a:ea typeface="IBM Plex Mono"/>
                <a:cs typeface="IBM Plex Mono"/>
                <a:sym typeface="IBM Plex Mono"/>
              </a:rPr>
              <a:t>4  GENERATE</a:t>
            </a:r>
            <a:endParaRPr/>
          </a:p>
        </p:txBody>
      </p:sp>
      <p:sp>
        <p:nvSpPr>
          <p:cNvPr id="330" name="Google Shape;330;p9"/>
          <p:cNvSpPr/>
          <p:nvPr/>
        </p:nvSpPr>
        <p:spPr>
          <a:xfrm>
            <a:off x="8156448" y="5797296"/>
            <a:ext cx="1645920" cy="310896"/>
          </a:xfrm>
          <a:prstGeom prst="roundRect">
            <a:avLst>
              <a:gd fmla="val 10000" name="adj"/>
            </a:avLst>
          </a:prstGeom>
          <a:solidFill>
            <a:srgbClr val="18273E"/>
          </a:solidFill>
          <a:ln cap="flat" cmpd="sng" w="12700">
            <a:solidFill>
              <a:srgbClr val="263A5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331" name="Google Shape;331;p9"/>
          <p:cNvSpPr txBox="1"/>
          <p:nvPr/>
        </p:nvSpPr>
        <p:spPr>
          <a:xfrm>
            <a:off x="8211312" y="5833872"/>
            <a:ext cx="1527048" cy="246888"/>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i="0" lang="en-US" sz="1400">
                <a:solidFill>
                  <a:srgbClr val="7F8CA1"/>
                </a:solidFill>
                <a:latin typeface="IBM Plex Mono"/>
                <a:ea typeface="IBM Plex Mono"/>
                <a:cs typeface="IBM Plex Mono"/>
                <a:sym typeface="IBM Plex Mono"/>
              </a:rPr>
              <a:t>5  VALIDATE</a:t>
            </a:r>
            <a:endParaRPr/>
          </a:p>
        </p:txBody>
      </p:sp>
      <p:sp>
        <p:nvSpPr>
          <p:cNvPr id="332" name="Google Shape;332;p9"/>
          <p:cNvSpPr/>
          <p:nvPr/>
        </p:nvSpPr>
        <p:spPr>
          <a:xfrm>
            <a:off x="9994392" y="5797296"/>
            <a:ext cx="1645920" cy="310896"/>
          </a:xfrm>
          <a:prstGeom prst="roundRect">
            <a:avLst>
              <a:gd fmla="val 10000" name="adj"/>
            </a:avLst>
          </a:prstGeom>
          <a:solidFill>
            <a:srgbClr val="18273E"/>
          </a:solidFill>
          <a:ln cap="flat" cmpd="sng" w="12700">
            <a:solidFill>
              <a:srgbClr val="263A5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333" name="Google Shape;333;p9"/>
          <p:cNvSpPr txBox="1"/>
          <p:nvPr/>
        </p:nvSpPr>
        <p:spPr>
          <a:xfrm>
            <a:off x="10049256" y="5833872"/>
            <a:ext cx="1527048" cy="246888"/>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i="0" lang="en-US" sz="1400">
                <a:solidFill>
                  <a:srgbClr val="7F8CA1"/>
                </a:solidFill>
                <a:latin typeface="IBM Plex Mono"/>
                <a:ea typeface="IBM Plex Mono"/>
                <a:cs typeface="IBM Plex Mono"/>
                <a:sym typeface="IBM Plex Mono"/>
              </a:rPr>
              <a:t>6  MERGE</a:t>
            </a:r>
            <a:endParaRPr/>
          </a:p>
        </p:txBody>
      </p:sp>
      <p:sp>
        <p:nvSpPr>
          <p:cNvPr id="334" name="Rounded Rectangle 333"/>
          <p:cNvSpPr/>
          <p:nvPr/>
        </p:nvSpPr>
        <p:spPr>
          <a:xfrm>
            <a:off x="795528" y="2148840"/>
            <a:ext cx="2971800" cy="3273552"/>
          </a:xfrm>
          <a:prstGeom prst="roundRect">
            <a:avLst/>
          </a:prstGeom>
          <a:solidFill>
            <a:srgbClr val="1A2B45"/>
          </a:solidFill>
          <a:ln w="13970">
            <a:solidFill>
              <a:srgbClr val="384F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5" name="TextBox 334"/>
          <p:cNvSpPr txBox="1"/>
          <p:nvPr/>
        </p:nvSpPr>
        <p:spPr>
          <a:xfrm>
            <a:off x="1005840" y="2313432"/>
            <a:ext cx="2468880" cy="310896"/>
          </a:xfrm>
          <a:prstGeom prst="rect">
            <a:avLst/>
          </a:prstGeom>
          <a:noFill/>
        </p:spPr>
        <p:txBody>
          <a:bodyPr wrap="square" lIns="0" rIns="0" tIns="0" bIns="0" anchor="ctr">
            <a:spAutoFit/>
          </a:bodyPr>
          <a:lstStyle/>
          <a:p>
            <a:r>
              <a:rPr sz="1500" b="1">
                <a:solidFill>
                  <a:srgbClr val="B5C3D8"/>
                </a:solidFill>
                <a:latin typeface="IBM Plex Mono"/>
              </a:rPr>
              <a:t>BEFORE / DMᵣ</a:t>
            </a:r>
          </a:p>
        </p:txBody>
      </p:sp>
      <p:sp>
        <p:nvSpPr>
          <p:cNvPr id="336" name="TextBox 335"/>
          <p:cNvSpPr txBox="1"/>
          <p:nvPr/>
        </p:nvSpPr>
        <p:spPr>
          <a:xfrm>
            <a:off x="1014984" y="2852928"/>
            <a:ext cx="2468880" cy="365760"/>
          </a:xfrm>
          <a:prstGeom prst="rect">
            <a:avLst/>
          </a:prstGeom>
          <a:noFill/>
        </p:spPr>
        <p:txBody>
          <a:bodyPr wrap="square" lIns="0" rIns="0" tIns="0" bIns="0" anchor="ctr">
            <a:spAutoFit/>
          </a:bodyPr>
          <a:lstStyle/>
          <a:p>
            <a:r>
              <a:rPr sz="1900" b="1">
                <a:solidFill>
                  <a:srgbClr val="EAF1FA"/>
                </a:solidFill>
                <a:latin typeface="IBM Plex Mono"/>
              </a:rPr>
              <a:t>Class: Admission</a:t>
            </a:r>
          </a:p>
        </p:txBody>
      </p:sp>
      <p:sp>
        <p:nvSpPr>
          <p:cNvPr id="337" name="TextBox 336"/>
          <p:cNvSpPr txBox="1"/>
          <p:nvPr/>
        </p:nvSpPr>
        <p:spPr>
          <a:xfrm>
            <a:off x="1005840" y="3401568"/>
            <a:ext cx="2633472" cy="274320"/>
          </a:xfrm>
          <a:prstGeom prst="rect">
            <a:avLst/>
          </a:prstGeom>
          <a:noFill/>
        </p:spPr>
        <p:txBody>
          <a:bodyPr wrap="square" lIns="0" rIns="0" tIns="0" bIns="0" anchor="ctr">
            <a:spAutoFit/>
          </a:bodyPr>
          <a:lstStyle/>
          <a:p>
            <a:r>
              <a:rPr sz="1360" b="0">
                <a:solidFill>
                  <a:srgbClr val="B5C3D8"/>
                </a:solidFill>
                <a:latin typeface="IBM Plex Mono"/>
              </a:rPr>
              <a:t>patient_id  → PatientData</a:t>
            </a:r>
          </a:p>
        </p:txBody>
      </p:sp>
      <p:sp>
        <p:nvSpPr>
          <p:cNvPr id="338" name="TextBox 337"/>
          <p:cNvSpPr txBox="1"/>
          <p:nvPr/>
        </p:nvSpPr>
        <p:spPr>
          <a:xfrm>
            <a:off x="1005840" y="3840480"/>
            <a:ext cx="2633472" cy="274320"/>
          </a:xfrm>
          <a:prstGeom prst="rect">
            <a:avLst/>
          </a:prstGeom>
          <a:noFill/>
        </p:spPr>
        <p:txBody>
          <a:bodyPr wrap="square" lIns="0" rIns="0" tIns="0" bIns="0" anchor="ctr">
            <a:spAutoFit/>
          </a:bodyPr>
          <a:lstStyle/>
          <a:p>
            <a:r>
              <a:rPr sz="1360" b="0">
                <a:solidFill>
                  <a:srgbClr val="B5C3D8"/>
                </a:solidFill>
                <a:latin typeface="IBM Plex Mono"/>
              </a:rPr>
              <a:t>BM_DEP      → integer</a:t>
            </a:r>
          </a:p>
        </p:txBody>
      </p:sp>
      <p:sp>
        <p:nvSpPr>
          <p:cNvPr id="339" name="TextBox 338"/>
          <p:cNvSpPr txBox="1"/>
          <p:nvPr/>
        </p:nvSpPr>
        <p:spPr>
          <a:xfrm>
            <a:off x="1005840" y="4279392"/>
            <a:ext cx="2633472" cy="274320"/>
          </a:xfrm>
          <a:prstGeom prst="rect">
            <a:avLst/>
          </a:prstGeom>
          <a:noFill/>
        </p:spPr>
        <p:txBody>
          <a:bodyPr wrap="square" lIns="0" rIns="0" tIns="0" bIns="0" anchor="ctr">
            <a:spAutoFit/>
          </a:bodyPr>
          <a:lstStyle/>
          <a:p>
            <a:r>
              <a:rPr sz="1360" b="0">
                <a:solidFill>
                  <a:srgbClr val="B5C3D8"/>
                </a:solidFill>
                <a:latin typeface="IBM Plex Mono"/>
              </a:rPr>
              <a:t>ecog_stage  → integer</a:t>
            </a:r>
          </a:p>
        </p:txBody>
      </p:sp>
      <p:sp>
        <p:nvSpPr>
          <p:cNvPr id="340" name="TextBox 339"/>
          <p:cNvSpPr txBox="1"/>
          <p:nvPr/>
        </p:nvSpPr>
        <p:spPr>
          <a:xfrm>
            <a:off x="1005840" y="4846320"/>
            <a:ext cx="2560320" cy="393192"/>
          </a:xfrm>
          <a:prstGeom prst="rect">
            <a:avLst/>
          </a:prstGeom>
          <a:noFill/>
        </p:spPr>
        <p:txBody>
          <a:bodyPr wrap="square" lIns="0" rIns="0" tIns="0" bIns="0" anchor="ctr">
            <a:spAutoFit/>
          </a:bodyPr>
          <a:lstStyle/>
          <a:p>
            <a:r>
              <a:rPr sz="1300" b="0">
                <a:solidFill>
                  <a:srgbClr val="B5C3D8"/>
                </a:solidFill>
                <a:latin typeface="IBM Plex Sans"/>
              </a:rPr>
              <a:t>Structure only.
Meaning remains implicit.</a:t>
            </a:r>
          </a:p>
        </p:txBody>
      </p:sp>
      <p:sp>
        <p:nvSpPr>
          <p:cNvPr id="341" name="Chevron 340"/>
          <p:cNvSpPr/>
          <p:nvPr/>
        </p:nvSpPr>
        <p:spPr>
          <a:xfrm>
            <a:off x="3968496" y="3447288"/>
            <a:ext cx="603504" cy="429768"/>
          </a:xfrm>
          <a:prstGeom prst="chevron">
            <a:avLst/>
          </a:prstGeom>
          <a:solidFill>
            <a:srgbClr val="FF9F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2" name="TextBox 341"/>
          <p:cNvSpPr txBox="1"/>
          <p:nvPr/>
        </p:nvSpPr>
        <p:spPr>
          <a:xfrm>
            <a:off x="3858768" y="3913632"/>
            <a:ext cx="832104" cy="320040"/>
          </a:xfrm>
          <a:prstGeom prst="rect">
            <a:avLst/>
          </a:prstGeom>
          <a:noFill/>
        </p:spPr>
        <p:txBody>
          <a:bodyPr wrap="square" lIns="0" rIns="0" tIns="0" bIns="0" anchor="ctr">
            <a:spAutoFit/>
          </a:bodyPr>
          <a:lstStyle/>
          <a:p>
            <a:pPr algn="ctr"/>
            <a:r>
              <a:rPr sz="1200" b="1">
                <a:solidFill>
                  <a:srgbClr val="FF9F52"/>
                </a:solidFill>
                <a:latin typeface="IBM Plex Mono"/>
              </a:rPr>
              <a:t>Gen-LLM</a:t>
            </a:r>
          </a:p>
        </p:txBody>
      </p:sp>
      <p:sp>
        <p:nvSpPr>
          <p:cNvPr id="343" name="Rounded Rectangle 342"/>
          <p:cNvSpPr/>
          <p:nvPr/>
        </p:nvSpPr>
        <p:spPr>
          <a:xfrm>
            <a:off x="4736592" y="2148840"/>
            <a:ext cx="6565392" cy="3273552"/>
          </a:xfrm>
          <a:prstGeom prst="roundRect">
            <a:avLst/>
          </a:prstGeom>
          <a:solidFill>
            <a:srgbClr val="233754"/>
          </a:solidFill>
          <a:ln w="13970">
            <a:solidFill>
              <a:srgbClr val="7AA1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2" name="Rectangle 361"/>
          <p:cNvSpPr/>
          <p:nvPr/>
        </p:nvSpPr>
        <p:spPr>
          <a:xfrm>
            <a:off x="859536" y="5504688"/>
            <a:ext cx="10396728" cy="210312"/>
          </a:xfrm>
          <a:prstGeom prst="rect">
            <a:avLst/>
          </a:prstGeom>
          <a:solidFill>
            <a:srgbClr val="0E17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3" name="TextBox 362"/>
          <p:cNvSpPr txBox="1"/>
          <p:nvPr/>
        </p:nvSpPr>
        <p:spPr>
          <a:xfrm>
            <a:off x="914400" y="5495544"/>
            <a:ext cx="10259568" cy="228600"/>
          </a:xfrm>
          <a:prstGeom prst="rect">
            <a:avLst/>
          </a:prstGeom>
          <a:noFill/>
        </p:spPr>
        <p:txBody>
          <a:bodyPr wrap="square" lIns="0" rIns="0" tIns="0" bIns="0" anchor="ctr">
            <a:spAutoFit/>
          </a:bodyPr>
          <a:lstStyle/>
          <a:p>
            <a:r>
              <a:rPr sz="1100">
                <a:solidFill>
                  <a:srgbClr val="B5C3D8"/>
                </a:solidFill>
                <a:latin typeface="IBM Plex Sans"/>
              </a:rPr>
              <a:t>Source tags show context used; provenance traces the source column. External alignments are conditional.</a:t>
            </a:r>
          </a:p>
        </p:txBody>
      </p:sp>
      <p:sp>
        <p:nvSpPr>
          <p:cNvPr id="364" name="TextBox 363"/>
          <p:cNvSpPr txBox="1"/>
          <p:nvPr/>
        </p:nvSpPr>
        <p:spPr>
          <a:xfrm>
            <a:off x="4946904" y="2313432"/>
            <a:ext cx="6016752" cy="274320"/>
          </a:xfrm>
          <a:prstGeom prst="rect">
            <a:avLst/>
          </a:prstGeom>
          <a:noFill/>
        </p:spPr>
        <p:txBody>
          <a:bodyPr wrap="square" lIns="0" rIns="0" tIns="0" bIns="0" anchor="ctr">
            <a:spAutoFit/>
          </a:bodyPr>
          <a:lstStyle/>
          <a:p>
            <a:pPr algn="l">
              <a:spcBef>
                <a:spcPts val="0"/>
              </a:spcBef>
              <a:spcAft>
                <a:spcPts val="0"/>
              </a:spcAft>
            </a:pPr>
            <a:r>
              <a:rPr sz="1450" b="1">
                <a:solidFill>
                  <a:srgbClr val="7AA1F4"/>
                </a:solidFill>
                <a:latin typeface="IBM Plex Mono"/>
              </a:rPr>
              <a:t>AFTER  /  ENRICHED ΔOᵣ  (illustrative)</a:t>
            </a:r>
          </a:p>
        </p:txBody>
      </p:sp>
      <p:sp>
        <p:nvSpPr>
          <p:cNvPr id="365" name="Rectangle 364"/>
          <p:cNvSpPr/>
          <p:nvPr/>
        </p:nvSpPr>
        <p:spPr>
          <a:xfrm>
            <a:off x="4937760" y="2697480"/>
            <a:ext cx="6117336" cy="9144"/>
          </a:xfrm>
          <a:prstGeom prst="rect">
            <a:avLst/>
          </a:prstGeom>
          <a:solidFill>
            <a:srgbClr val="546B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6" name="TextBox 365"/>
          <p:cNvSpPr txBox="1"/>
          <p:nvPr/>
        </p:nvSpPr>
        <p:spPr>
          <a:xfrm>
            <a:off x="4956048" y="2788920"/>
            <a:ext cx="1234440" cy="173736"/>
          </a:xfrm>
          <a:prstGeom prst="rect">
            <a:avLst/>
          </a:prstGeom>
          <a:noFill/>
        </p:spPr>
        <p:txBody>
          <a:bodyPr wrap="square" lIns="0" rIns="0" tIns="0" bIns="0" anchor="ctr">
            <a:spAutoFit/>
          </a:bodyPr>
          <a:lstStyle/>
          <a:p>
            <a:pPr algn="l">
              <a:spcBef>
                <a:spcPts val="0"/>
              </a:spcBef>
              <a:spcAft>
                <a:spcPts val="0"/>
              </a:spcAft>
            </a:pPr>
            <a:r>
              <a:rPr sz="1010" b="1">
                <a:solidFill>
                  <a:srgbClr val="B5C3D8"/>
                </a:solidFill>
                <a:latin typeface="IBM Plex Mono"/>
              </a:rPr>
              <a:t>ONTOLOGY TERM</a:t>
            </a:r>
          </a:p>
        </p:txBody>
      </p:sp>
      <p:sp>
        <p:nvSpPr>
          <p:cNvPr id="367" name="TextBox 366"/>
          <p:cNvSpPr txBox="1"/>
          <p:nvPr/>
        </p:nvSpPr>
        <p:spPr>
          <a:xfrm>
            <a:off x="6455664" y="2788920"/>
            <a:ext cx="3410712" cy="173736"/>
          </a:xfrm>
          <a:prstGeom prst="rect">
            <a:avLst/>
          </a:prstGeom>
          <a:noFill/>
        </p:spPr>
        <p:txBody>
          <a:bodyPr wrap="square" lIns="0" rIns="0" tIns="0" bIns="0" anchor="ctr">
            <a:spAutoFit/>
          </a:bodyPr>
          <a:lstStyle/>
          <a:p>
            <a:pPr algn="l">
              <a:spcBef>
                <a:spcPts val="0"/>
              </a:spcBef>
              <a:spcAft>
                <a:spcPts val="0"/>
              </a:spcAft>
            </a:pPr>
            <a:r>
              <a:rPr sz="1010" b="1">
                <a:solidFill>
                  <a:srgbClr val="B5C3D8"/>
                </a:solidFill>
                <a:latin typeface="IBM Plex Mono"/>
              </a:rPr>
              <a:t>GENERATED STATEMENT</a:t>
            </a:r>
          </a:p>
        </p:txBody>
      </p:sp>
      <p:sp>
        <p:nvSpPr>
          <p:cNvPr id="368" name="TextBox 367"/>
          <p:cNvSpPr txBox="1"/>
          <p:nvPr/>
        </p:nvSpPr>
        <p:spPr>
          <a:xfrm>
            <a:off x="9994392" y="2788920"/>
            <a:ext cx="1033271" cy="173736"/>
          </a:xfrm>
          <a:prstGeom prst="rect">
            <a:avLst/>
          </a:prstGeom>
          <a:noFill/>
        </p:spPr>
        <p:txBody>
          <a:bodyPr wrap="square" lIns="0" rIns="0" tIns="0" bIns="0" anchor="ctr">
            <a:spAutoFit/>
          </a:bodyPr>
          <a:lstStyle/>
          <a:p>
            <a:pPr algn="l">
              <a:spcBef>
                <a:spcPts val="0"/>
              </a:spcBef>
              <a:spcAft>
                <a:spcPts val="0"/>
              </a:spcAft>
            </a:pPr>
            <a:r>
              <a:rPr sz="1010" b="1">
                <a:solidFill>
                  <a:srgbClr val="B5C3D8"/>
                </a:solidFill>
                <a:latin typeface="IBM Plex Mono"/>
              </a:rPr>
              <a:t>EVIDENCE</a:t>
            </a:r>
          </a:p>
        </p:txBody>
      </p:sp>
      <p:sp>
        <p:nvSpPr>
          <p:cNvPr id="369" name="Rectangle 368"/>
          <p:cNvSpPr/>
          <p:nvPr/>
        </p:nvSpPr>
        <p:spPr>
          <a:xfrm>
            <a:off x="4937760" y="2999232"/>
            <a:ext cx="6117336" cy="9144"/>
          </a:xfrm>
          <a:prstGeom prst="rect">
            <a:avLst/>
          </a:prstGeom>
          <a:solidFill>
            <a:srgbClr val="546B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0" name="TextBox 369"/>
          <p:cNvSpPr txBox="1"/>
          <p:nvPr/>
        </p:nvSpPr>
        <p:spPr>
          <a:xfrm>
            <a:off x="4965192" y="3072384"/>
            <a:ext cx="1399032" cy="320040"/>
          </a:xfrm>
          <a:prstGeom prst="rect">
            <a:avLst/>
          </a:prstGeom>
          <a:noFill/>
        </p:spPr>
        <p:txBody>
          <a:bodyPr wrap="square" lIns="0" rIns="0" tIns="0" bIns="0" anchor="ctr">
            <a:spAutoFit/>
          </a:bodyPr>
          <a:lstStyle/>
          <a:p>
            <a:pPr algn="l">
              <a:spcBef>
                <a:spcPts val="0"/>
              </a:spcBef>
              <a:spcAft>
                <a:spcPts val="0"/>
              </a:spcAft>
            </a:pPr>
            <a:r>
              <a:rPr sz="1240" b="1">
                <a:solidFill>
                  <a:srgbClr val="7AA1F4"/>
                </a:solidFill>
                <a:latin typeface="IBM Plex Mono"/>
              </a:rPr>
              <a:t>hasPatientData</a:t>
            </a:r>
          </a:p>
        </p:txBody>
      </p:sp>
      <p:sp>
        <p:nvSpPr>
          <p:cNvPr id="371" name="TextBox 370"/>
          <p:cNvSpPr txBox="1"/>
          <p:nvPr/>
        </p:nvSpPr>
        <p:spPr>
          <a:xfrm>
            <a:off x="6455664" y="3044952"/>
            <a:ext cx="3383280" cy="374904"/>
          </a:xfrm>
          <a:prstGeom prst="rect">
            <a:avLst/>
          </a:prstGeom>
          <a:noFill/>
        </p:spPr>
        <p:txBody>
          <a:bodyPr wrap="square" lIns="0" rIns="0" tIns="0" bIns="0" anchor="ctr">
            <a:spAutoFit/>
          </a:bodyPr>
          <a:lstStyle/>
          <a:p>
            <a:pPr algn="l">
              <a:spcBef>
                <a:spcPts val="0"/>
              </a:spcBef>
              <a:spcAft>
                <a:spcPts val="0"/>
              </a:spcAft>
            </a:pPr>
            <a:r>
              <a:rPr sz="1250" b="0">
                <a:solidFill>
                  <a:srgbClr val="EAF1FA"/>
                </a:solidFill>
                <a:latin typeface="IBM Plex Sans"/>
              </a:rPr>
              <a:t>ObjectProperty: Admission → PatientData</a:t>
            </a:r>
          </a:p>
        </p:txBody>
      </p:sp>
      <p:sp>
        <p:nvSpPr>
          <p:cNvPr id="372" name="Rounded Rectangle 371"/>
          <p:cNvSpPr/>
          <p:nvPr/>
        </p:nvSpPr>
        <p:spPr>
          <a:xfrm>
            <a:off x="9994392" y="3081528"/>
            <a:ext cx="1051560" cy="283464"/>
          </a:xfrm>
          <a:prstGeom prst="roundRect">
            <a:avLst/>
          </a:prstGeom>
          <a:solidFill>
            <a:srgbClr val="132038"/>
          </a:solidFill>
          <a:ln w="11430">
            <a:solidFill>
              <a:srgbClr val="7AA1F4"/>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80" b="1">
                <a:solidFill>
                  <a:srgbClr val="7AA1F4"/>
                </a:solidFill>
                <a:latin typeface="IBM Plex Mono"/>
              </a:rPr>
              <a:t>SCHEMA</a:t>
            </a:r>
          </a:p>
        </p:txBody>
      </p:sp>
      <p:sp>
        <p:nvSpPr>
          <p:cNvPr id="373" name="Rectangle 372"/>
          <p:cNvSpPr/>
          <p:nvPr/>
        </p:nvSpPr>
        <p:spPr>
          <a:xfrm>
            <a:off x="4937760" y="3465576"/>
            <a:ext cx="6117336" cy="9144"/>
          </a:xfrm>
          <a:prstGeom prst="rect">
            <a:avLst/>
          </a:prstGeom>
          <a:solidFill>
            <a:srgbClr val="546B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4" name="TextBox 373"/>
          <p:cNvSpPr txBox="1"/>
          <p:nvPr/>
        </p:nvSpPr>
        <p:spPr>
          <a:xfrm>
            <a:off x="4965192" y="3547872"/>
            <a:ext cx="1371600" cy="274320"/>
          </a:xfrm>
          <a:prstGeom prst="rect">
            <a:avLst/>
          </a:prstGeom>
          <a:noFill/>
        </p:spPr>
        <p:txBody>
          <a:bodyPr wrap="square" lIns="0" rIns="0" tIns="0" bIns="0" anchor="ctr">
            <a:spAutoFit/>
          </a:bodyPr>
          <a:lstStyle/>
          <a:p>
            <a:pPr algn="l">
              <a:spcBef>
                <a:spcPts val="0"/>
              </a:spcBef>
              <a:spcAft>
                <a:spcPts val="0"/>
              </a:spcAft>
            </a:pPr>
            <a:r>
              <a:rPr sz="1340" b="1">
                <a:solidFill>
                  <a:srgbClr val="7AA1F4"/>
                </a:solidFill>
                <a:latin typeface="IBM Plex Mono"/>
              </a:rPr>
              <a:t>BM_DEP</a:t>
            </a:r>
          </a:p>
        </p:txBody>
      </p:sp>
      <p:sp>
        <p:nvSpPr>
          <p:cNvPr id="375" name="TextBox 374"/>
          <p:cNvSpPr txBox="1"/>
          <p:nvPr/>
        </p:nvSpPr>
        <p:spPr>
          <a:xfrm>
            <a:off x="6455664" y="3511296"/>
            <a:ext cx="3410712" cy="365760"/>
          </a:xfrm>
          <a:prstGeom prst="rect">
            <a:avLst/>
          </a:prstGeom>
          <a:noFill/>
        </p:spPr>
        <p:txBody>
          <a:bodyPr wrap="square" lIns="0" rIns="0" tIns="0" bIns="0" anchor="ctr">
            <a:spAutoFit/>
          </a:bodyPr>
          <a:lstStyle/>
          <a:p>
            <a:pPr algn="l">
              <a:spcBef>
                <a:spcPts val="0"/>
              </a:spcBef>
              <a:spcAft>
                <a:spcPts val="0"/>
              </a:spcAft>
            </a:pPr>
            <a:r>
              <a:rPr sz="1240" b="0">
                <a:solidFill>
                  <a:srgbClr val="EAF1FA"/>
                </a:solidFill>
                <a:latin typeface="IBM Plex Sans"/>
              </a:rPr>
              <a:t>rdfs:label "Bone Marrow Depression"</a:t>
            </a:r>
          </a:p>
        </p:txBody>
      </p:sp>
      <p:sp>
        <p:nvSpPr>
          <p:cNvPr id="376" name="Rounded Rectangle 375"/>
          <p:cNvSpPr/>
          <p:nvPr/>
        </p:nvSpPr>
        <p:spPr>
          <a:xfrm>
            <a:off x="9994392" y="3538728"/>
            <a:ext cx="1051560" cy="283464"/>
          </a:xfrm>
          <a:prstGeom prst="roundRect">
            <a:avLst/>
          </a:prstGeom>
          <a:solidFill>
            <a:srgbClr val="132038"/>
          </a:solidFill>
          <a:ln w="11430">
            <a:solidFill>
              <a:srgbClr val="FF9F52"/>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80" b="1">
                <a:solidFill>
                  <a:srgbClr val="FF9F52"/>
                </a:solidFill>
                <a:latin typeface="IBM Plex Mono"/>
              </a:rPr>
              <a:t>DOCS</a:t>
            </a:r>
          </a:p>
        </p:txBody>
      </p:sp>
      <p:sp>
        <p:nvSpPr>
          <p:cNvPr id="377" name="Rectangle 376"/>
          <p:cNvSpPr/>
          <p:nvPr/>
        </p:nvSpPr>
        <p:spPr>
          <a:xfrm>
            <a:off x="4937760" y="3922776"/>
            <a:ext cx="6117336" cy="9144"/>
          </a:xfrm>
          <a:prstGeom prst="rect">
            <a:avLst/>
          </a:prstGeom>
          <a:solidFill>
            <a:srgbClr val="546B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8" name="TextBox 377"/>
          <p:cNvSpPr txBox="1"/>
          <p:nvPr/>
        </p:nvSpPr>
        <p:spPr>
          <a:xfrm>
            <a:off x="4965192" y="4069080"/>
            <a:ext cx="1371600" cy="320040"/>
          </a:xfrm>
          <a:prstGeom prst="rect">
            <a:avLst/>
          </a:prstGeom>
          <a:noFill/>
        </p:spPr>
        <p:txBody>
          <a:bodyPr wrap="square" lIns="0" rIns="0" tIns="0" bIns="0" anchor="ctr">
            <a:spAutoFit/>
          </a:bodyPr>
          <a:lstStyle/>
          <a:p>
            <a:pPr algn="l">
              <a:spcBef>
                <a:spcPts val="0"/>
              </a:spcBef>
              <a:spcAft>
                <a:spcPts val="0"/>
              </a:spcAft>
            </a:pPr>
            <a:r>
              <a:rPr sz="1300" b="1">
                <a:solidFill>
                  <a:srgbClr val="7AA1F4"/>
                </a:solidFill>
                <a:latin typeface="IBM Plex Mono"/>
              </a:rPr>
              <a:t>ecog_stage</a:t>
            </a:r>
          </a:p>
        </p:txBody>
      </p:sp>
      <p:sp>
        <p:nvSpPr>
          <p:cNvPr id="379" name="TextBox 378"/>
          <p:cNvSpPr txBox="1"/>
          <p:nvPr/>
        </p:nvSpPr>
        <p:spPr>
          <a:xfrm>
            <a:off x="6455664" y="3986784"/>
            <a:ext cx="3401568" cy="758952"/>
          </a:xfrm>
          <a:prstGeom prst="rect">
            <a:avLst/>
          </a:prstGeom>
          <a:noFill/>
        </p:spPr>
        <p:txBody>
          <a:bodyPr wrap="square" lIns="0" rIns="0" tIns="0" bIns="0" anchor="ctr">
            <a:spAutoFit/>
          </a:bodyPr>
          <a:lstStyle/>
          <a:p>
            <a:pPr algn="l">
              <a:spcBef>
                <a:spcPts val="0"/>
              </a:spcBef>
              <a:spcAft>
                <a:spcPts val="0"/>
              </a:spcAft>
            </a:pPr>
            <a:r>
              <a:rPr sz="1170" b="0">
                <a:solidFill>
                  <a:srgbClr val="EAF1FA"/>
                </a:solidFill>
                <a:latin typeface="IBM Plex Sans"/>
              </a:rPr>
              <a:t>rdfs:comment  ECOG 0 = fully active; 1 = limited strenuous activity;</a:t>
            </a:r>
          </a:p>
          <a:p>
            <a:pPr algn="l">
              <a:spcBef>
                <a:spcPts val="0"/>
              </a:spcBef>
              <a:spcAft>
                <a:spcPts val="0"/>
              </a:spcAft>
            </a:pPr>
            <a:r>
              <a:rPr sz="1170" b="0">
                <a:solidFill>
                  <a:srgbClr val="EAF1FA"/>
                </a:solidFill>
                <a:latin typeface="IBM Plex Sans"/>
              </a:rPr>
              <a:t>2 = ambulatory; 3 = limited self-care; 4 = disabled; 5 = dead</a:t>
            </a:r>
          </a:p>
        </p:txBody>
      </p:sp>
      <p:sp>
        <p:nvSpPr>
          <p:cNvPr id="380" name="Rounded Rectangle 379"/>
          <p:cNvSpPr/>
          <p:nvPr/>
        </p:nvSpPr>
        <p:spPr>
          <a:xfrm>
            <a:off x="9994392" y="4105656"/>
            <a:ext cx="1051560" cy="283464"/>
          </a:xfrm>
          <a:prstGeom prst="roundRect">
            <a:avLst/>
          </a:prstGeom>
          <a:solidFill>
            <a:srgbClr val="132038"/>
          </a:solidFill>
          <a:ln w="11430">
            <a:solidFill>
              <a:srgbClr val="FF9F52"/>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80" b="1">
                <a:solidFill>
                  <a:srgbClr val="FF9F52"/>
                </a:solidFill>
                <a:latin typeface="IBM Plex Mono"/>
              </a:rPr>
              <a:t>DOCS</a:t>
            </a:r>
          </a:p>
        </p:txBody>
      </p:sp>
      <p:sp>
        <p:nvSpPr>
          <p:cNvPr id="381" name="Rectangle 380"/>
          <p:cNvSpPr/>
          <p:nvPr/>
        </p:nvSpPr>
        <p:spPr>
          <a:xfrm>
            <a:off x="4937760" y="4754880"/>
            <a:ext cx="6117336" cy="9144"/>
          </a:xfrm>
          <a:prstGeom prst="rect">
            <a:avLst/>
          </a:prstGeom>
          <a:solidFill>
            <a:srgbClr val="546B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2" name="TextBox 381"/>
          <p:cNvSpPr txBox="1"/>
          <p:nvPr/>
        </p:nvSpPr>
        <p:spPr>
          <a:xfrm>
            <a:off x="4965192" y="4846320"/>
            <a:ext cx="1371600" cy="301752"/>
          </a:xfrm>
          <a:prstGeom prst="rect">
            <a:avLst/>
          </a:prstGeom>
          <a:noFill/>
        </p:spPr>
        <p:txBody>
          <a:bodyPr wrap="square" lIns="0" rIns="0" tIns="0" bIns="0" anchor="ctr">
            <a:spAutoFit/>
          </a:bodyPr>
          <a:lstStyle/>
          <a:p>
            <a:pPr algn="l">
              <a:spcBef>
                <a:spcPts val="0"/>
              </a:spcBef>
              <a:spcAft>
                <a:spcPts val="0"/>
              </a:spcAft>
            </a:pPr>
            <a:r>
              <a:rPr sz="1300" b="1">
                <a:solidFill>
                  <a:srgbClr val="7AA1F4"/>
                </a:solidFill>
                <a:latin typeface="IBM Plex Mono"/>
              </a:rPr>
              <a:t>ecog_stage</a:t>
            </a:r>
          </a:p>
        </p:txBody>
      </p:sp>
      <p:sp>
        <p:nvSpPr>
          <p:cNvPr id="383" name="TextBox 382"/>
          <p:cNvSpPr txBox="1"/>
          <p:nvPr/>
        </p:nvSpPr>
        <p:spPr>
          <a:xfrm>
            <a:off x="6455664" y="4809744"/>
            <a:ext cx="3447288" cy="393192"/>
          </a:xfrm>
          <a:prstGeom prst="rect">
            <a:avLst/>
          </a:prstGeom>
          <a:noFill/>
        </p:spPr>
        <p:txBody>
          <a:bodyPr wrap="square" lIns="0" rIns="0" tIns="0" bIns="0" anchor="ctr">
            <a:spAutoFit/>
          </a:bodyPr>
          <a:lstStyle/>
          <a:p>
            <a:pPr algn="l">
              <a:spcBef>
                <a:spcPts val="0"/>
              </a:spcBef>
              <a:spcAft>
                <a:spcPts val="0"/>
              </a:spcAft>
            </a:pPr>
            <a:r>
              <a:rPr sz="1200" b="0">
                <a:solidFill>
                  <a:srgbClr val="EAF1FA"/>
                </a:solidFill>
                <a:latin typeface="IBM Plex Mono"/>
              </a:rPr>
              <a:t>prov:wasDerivedFrom &lt;…/admission/ecog_stage&gt;</a:t>
            </a:r>
          </a:p>
        </p:txBody>
      </p:sp>
      <p:sp>
        <p:nvSpPr>
          <p:cNvPr id="384" name="Rounded Rectangle 383"/>
          <p:cNvSpPr/>
          <p:nvPr/>
        </p:nvSpPr>
        <p:spPr>
          <a:xfrm>
            <a:off x="9994392" y="4855464"/>
            <a:ext cx="1051560" cy="283464"/>
          </a:xfrm>
          <a:prstGeom prst="roundRect">
            <a:avLst/>
          </a:prstGeom>
          <a:solidFill>
            <a:srgbClr val="132038"/>
          </a:solidFill>
          <a:ln w="11430">
            <a:solidFill>
              <a:srgbClr val="7AA1F4"/>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80" b="1">
                <a:solidFill>
                  <a:srgbClr val="7AA1F4"/>
                </a:solidFill>
                <a:latin typeface="IBM Plex Mono"/>
              </a:rPr>
              <a:t>SCHEMA</a:t>
            </a: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4F7"/>
        </a:solidFill>
      </p:bgPr>
    </p:bg>
    <p:spTree>
      <p:nvGrpSpPr>
        <p:cNvPr id="338" name="Shape 338"/>
        <p:cNvGrpSpPr/>
        <p:nvPr/>
      </p:nvGrpSpPr>
      <p:grpSpPr>
        <a:xfrm>
          <a:off x="0" y="0"/>
          <a:ext cx="0" cy="0"/>
          <a:chOff x="0" y="0"/>
          <a:chExt cx="0" cy="0"/>
        </a:xfrm>
      </p:grpSpPr>
      <p:sp>
        <p:nvSpPr>
          <p:cNvPr id="339" name="Google Shape;339;p10"/>
          <p:cNvSpPr txBox="1"/>
          <p:nvPr/>
        </p:nvSpPr>
        <p:spPr>
          <a:xfrm>
            <a:off x="795528" y="448056"/>
            <a:ext cx="10789920" cy="310896"/>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i="0" lang="en-US" sz="1400">
                <a:solidFill>
                  <a:srgbClr val="4D71DE"/>
                </a:solidFill>
                <a:latin typeface="IBM Plex Mono"/>
                <a:ea typeface="IBM Plex Mono"/>
                <a:cs typeface="IBM Plex Mono"/>
                <a:sym typeface="IBM Plex Mono"/>
              </a:rPr>
              <a:t>STEP 5 / VALIDATE</a:t>
            </a:r>
            <a:endParaRPr/>
          </a:p>
        </p:txBody>
      </p:sp>
      <p:sp>
        <p:nvSpPr>
          <p:cNvPr id="340" name="Google Shape;340;p10"/>
          <p:cNvSpPr txBox="1"/>
          <p:nvPr/>
        </p:nvSpPr>
        <p:spPr>
          <a:xfrm>
            <a:off x="795528" y="850392"/>
            <a:ext cx="10835640" cy="685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800">
                <a:solidFill>
                  <a:srgbClr val="111A28"/>
                </a:solidFill>
                <a:latin typeface="IBM Plex Sans"/>
                <a:ea typeface="IBM Plex Sans"/>
                <a:cs typeface="IBM Plex Sans"/>
                <a:sym typeface="IBM Plex Sans"/>
              </a:rPr>
              <a:t>Why validate? Some errors are plausible—and still wrong.</a:t>
            </a:r>
            <a:endParaRPr/>
          </a:p>
        </p:txBody>
      </p:sp>
      <p:sp>
        <p:nvSpPr>
          <p:cNvPr id="341" name="Google Shape;341;p10"/>
          <p:cNvSpPr txBox="1"/>
          <p:nvPr/>
        </p:nvSpPr>
        <p:spPr>
          <a:xfrm>
            <a:off x="795528" y="1609344"/>
            <a:ext cx="10607040" cy="34747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sz="1600">
                <a:solidFill>
                  <a:srgbClr val="5D6879"/>
                </a:solidFill>
                <a:latin typeface="IBM Plex Sans"/>
                <a:ea typeface="IBM Plex Sans"/>
                <a:cs typeface="IBM Plex Sans"/>
                <a:sym typeface="IBM Plex Sans"/>
              </a:rPr>
              <a:t>Semantic errors and structural errors require complementary checks before merging.</a:t>
            </a:r>
            <a:endParaRPr/>
          </a:p>
        </p:txBody>
      </p:sp>
      <p:sp>
        <p:nvSpPr>
          <p:cNvPr id="364" name="Google Shape;364;p10"/>
          <p:cNvSpPr/>
          <p:nvPr/>
        </p:nvSpPr>
        <p:spPr>
          <a:xfrm>
            <a:off x="804672" y="5797296"/>
            <a:ext cx="1645920" cy="310896"/>
          </a:xfrm>
          <a:prstGeom prst="roundRect">
            <a:avLst>
              <a:gd fmla="val 10000" name="adj"/>
            </a:avLst>
          </a:prstGeom>
          <a:solidFill>
            <a:srgbClr val="E4EBFF"/>
          </a:solidFill>
          <a:ln cap="flat" cmpd="sng" w="12700">
            <a:solidFill>
              <a:srgbClr val="DFE5ED"/>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365" name="Google Shape;365;p10"/>
          <p:cNvSpPr txBox="1"/>
          <p:nvPr/>
        </p:nvSpPr>
        <p:spPr>
          <a:xfrm>
            <a:off x="859536" y="5833872"/>
            <a:ext cx="1527048" cy="246888"/>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i="0" lang="en-US" sz="1400">
                <a:solidFill>
                  <a:srgbClr val="7799F0"/>
                </a:solidFill>
                <a:latin typeface="IBM Plex Mono"/>
                <a:ea typeface="IBM Plex Mono"/>
                <a:cs typeface="IBM Plex Mono"/>
                <a:sym typeface="IBM Plex Mono"/>
              </a:rPr>
              <a:t>1  ORDER</a:t>
            </a:r>
            <a:endParaRPr/>
          </a:p>
        </p:txBody>
      </p:sp>
      <p:sp>
        <p:nvSpPr>
          <p:cNvPr id="366" name="Google Shape;366;p10"/>
          <p:cNvSpPr/>
          <p:nvPr/>
        </p:nvSpPr>
        <p:spPr>
          <a:xfrm>
            <a:off x="2642615" y="5797296"/>
            <a:ext cx="1645920" cy="310896"/>
          </a:xfrm>
          <a:prstGeom prst="roundRect">
            <a:avLst>
              <a:gd fmla="val 10000" name="adj"/>
            </a:avLst>
          </a:prstGeom>
          <a:solidFill>
            <a:srgbClr val="E4EBFF"/>
          </a:solidFill>
          <a:ln cap="flat" cmpd="sng" w="12700">
            <a:solidFill>
              <a:srgbClr val="DFE5ED"/>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367" name="Google Shape;367;p10"/>
          <p:cNvSpPr txBox="1"/>
          <p:nvPr/>
        </p:nvSpPr>
        <p:spPr>
          <a:xfrm>
            <a:off x="2697479" y="5833872"/>
            <a:ext cx="1527048" cy="246888"/>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i="0" lang="en-US" sz="1400">
                <a:solidFill>
                  <a:srgbClr val="7799F0"/>
                </a:solidFill>
                <a:latin typeface="IBM Plex Mono"/>
                <a:ea typeface="IBM Plex Mono"/>
                <a:cs typeface="IBM Plex Mono"/>
                <a:sym typeface="IBM Plex Mono"/>
              </a:rPr>
              <a:t>2  SEED</a:t>
            </a:r>
            <a:endParaRPr/>
          </a:p>
        </p:txBody>
      </p:sp>
      <p:sp>
        <p:nvSpPr>
          <p:cNvPr id="368" name="Google Shape;368;p10"/>
          <p:cNvSpPr/>
          <p:nvPr/>
        </p:nvSpPr>
        <p:spPr>
          <a:xfrm>
            <a:off x="4480559" y="5797296"/>
            <a:ext cx="1645920" cy="310896"/>
          </a:xfrm>
          <a:prstGeom prst="roundRect">
            <a:avLst>
              <a:gd fmla="val 10000" name="adj"/>
            </a:avLst>
          </a:prstGeom>
          <a:solidFill>
            <a:srgbClr val="E4EBFF"/>
          </a:solidFill>
          <a:ln cap="flat" cmpd="sng" w="12700">
            <a:solidFill>
              <a:srgbClr val="DFE5ED"/>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369" name="Google Shape;369;p10"/>
          <p:cNvSpPr txBox="1"/>
          <p:nvPr/>
        </p:nvSpPr>
        <p:spPr>
          <a:xfrm>
            <a:off x="4535423" y="5833872"/>
            <a:ext cx="1527048" cy="246888"/>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i="0" lang="en-US" sz="1400">
                <a:solidFill>
                  <a:srgbClr val="7799F0"/>
                </a:solidFill>
                <a:latin typeface="IBM Plex Mono"/>
                <a:ea typeface="IBM Plex Mono"/>
                <a:cs typeface="IBM Plex Mono"/>
                <a:sym typeface="IBM Plex Mono"/>
              </a:rPr>
              <a:t>3  RETRIEVE</a:t>
            </a:r>
            <a:endParaRPr/>
          </a:p>
        </p:txBody>
      </p:sp>
      <p:sp>
        <p:nvSpPr>
          <p:cNvPr id="370" name="Google Shape;370;p10"/>
          <p:cNvSpPr/>
          <p:nvPr/>
        </p:nvSpPr>
        <p:spPr>
          <a:xfrm>
            <a:off x="6318503" y="5797296"/>
            <a:ext cx="1645920" cy="310896"/>
          </a:xfrm>
          <a:prstGeom prst="roundRect">
            <a:avLst>
              <a:gd fmla="val 10000" name="adj"/>
            </a:avLst>
          </a:prstGeom>
          <a:solidFill>
            <a:srgbClr val="E4EBFF"/>
          </a:solidFill>
          <a:ln cap="flat" cmpd="sng" w="12700">
            <a:solidFill>
              <a:srgbClr val="DFE5ED"/>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371" name="Google Shape;371;p10"/>
          <p:cNvSpPr txBox="1"/>
          <p:nvPr/>
        </p:nvSpPr>
        <p:spPr>
          <a:xfrm>
            <a:off x="6373367" y="5833872"/>
            <a:ext cx="1527048" cy="246888"/>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i="0" lang="en-US" sz="1400">
                <a:solidFill>
                  <a:srgbClr val="7799F0"/>
                </a:solidFill>
                <a:latin typeface="IBM Plex Mono"/>
                <a:ea typeface="IBM Plex Mono"/>
                <a:cs typeface="IBM Plex Mono"/>
                <a:sym typeface="IBM Plex Mono"/>
              </a:rPr>
              <a:t>4  GENERATE</a:t>
            </a:r>
            <a:endParaRPr/>
          </a:p>
        </p:txBody>
      </p:sp>
      <p:sp>
        <p:nvSpPr>
          <p:cNvPr id="372" name="Google Shape;372;p10"/>
          <p:cNvSpPr/>
          <p:nvPr/>
        </p:nvSpPr>
        <p:spPr>
          <a:xfrm>
            <a:off x="8156448" y="5797296"/>
            <a:ext cx="1645920" cy="310896"/>
          </a:xfrm>
          <a:prstGeom prst="roundRect">
            <a:avLst>
              <a:gd fmla="val 10000" name="adj"/>
            </a:avLst>
          </a:prstGeom>
          <a:solidFill>
            <a:srgbClr val="E4EBFF"/>
          </a:solidFill>
          <a:ln cap="flat" cmpd="sng" w="12700">
            <a:solidFill>
              <a:srgbClr val="DFE5ED"/>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373" name="Google Shape;373;p10"/>
          <p:cNvSpPr txBox="1"/>
          <p:nvPr/>
        </p:nvSpPr>
        <p:spPr>
          <a:xfrm>
            <a:off x="8211312" y="5833872"/>
            <a:ext cx="1527048" cy="246888"/>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i="0" lang="en-US" sz="1400">
                <a:solidFill>
                  <a:srgbClr val="F4A261"/>
                </a:solidFill>
                <a:latin typeface="IBM Plex Mono"/>
                <a:ea typeface="IBM Plex Mono"/>
                <a:cs typeface="IBM Plex Mono"/>
                <a:sym typeface="IBM Plex Mono"/>
              </a:rPr>
              <a:t>5  VALIDATE</a:t>
            </a:r>
            <a:endParaRPr/>
          </a:p>
        </p:txBody>
      </p:sp>
      <p:sp>
        <p:nvSpPr>
          <p:cNvPr id="374" name="Google Shape;374;p10"/>
          <p:cNvSpPr/>
          <p:nvPr/>
        </p:nvSpPr>
        <p:spPr>
          <a:xfrm>
            <a:off x="9994392" y="5797296"/>
            <a:ext cx="1645920" cy="310896"/>
          </a:xfrm>
          <a:prstGeom prst="roundRect">
            <a:avLst>
              <a:gd fmla="val 10000" name="adj"/>
            </a:avLst>
          </a:prstGeom>
          <a:solidFill>
            <a:srgbClr val="FFFFFF"/>
          </a:solidFill>
          <a:ln cap="flat" cmpd="sng" w="12700">
            <a:solidFill>
              <a:srgbClr val="DFE5ED"/>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375" name="Google Shape;375;p10"/>
          <p:cNvSpPr txBox="1"/>
          <p:nvPr/>
        </p:nvSpPr>
        <p:spPr>
          <a:xfrm>
            <a:off x="10049256" y="5833872"/>
            <a:ext cx="1527048" cy="246888"/>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i="0" lang="en-US" sz="1400">
                <a:solidFill>
                  <a:srgbClr val="5D6879"/>
                </a:solidFill>
                <a:latin typeface="IBM Plex Mono"/>
                <a:ea typeface="IBM Plex Mono"/>
                <a:cs typeface="IBM Plex Mono"/>
                <a:sym typeface="IBM Plex Mono"/>
              </a:rPr>
              <a:t>6  MERGE</a:t>
            </a:r>
            <a:endParaRPr/>
          </a:p>
        </p:txBody>
      </p:sp>
      <p:sp>
        <p:nvSpPr>
          <p:cNvPr id="376" name="Rounded Rectangle 375"/>
          <p:cNvSpPr/>
          <p:nvPr/>
        </p:nvSpPr>
        <p:spPr>
          <a:xfrm>
            <a:off x="832104" y="2148840"/>
            <a:ext cx="5193792" cy="2468880"/>
          </a:xfrm>
          <a:prstGeom prst="roundRect">
            <a:avLst/>
          </a:prstGeom>
          <a:solidFill>
            <a:srgbClr val="FFFFFF"/>
          </a:solidFill>
          <a:ln w="12700">
            <a:solidFill>
              <a:srgbClr val="DA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7" name="Rounded Rectangle 376"/>
          <p:cNvSpPr/>
          <p:nvPr/>
        </p:nvSpPr>
        <p:spPr>
          <a:xfrm>
            <a:off x="6172200" y="2148840"/>
            <a:ext cx="5193792" cy="2468880"/>
          </a:xfrm>
          <a:prstGeom prst="roundRect">
            <a:avLst/>
          </a:prstGeom>
          <a:solidFill>
            <a:srgbClr val="FFFFFF"/>
          </a:solidFill>
          <a:ln w="12700">
            <a:solidFill>
              <a:srgbClr val="DA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8" name="TextBox 377"/>
          <p:cNvSpPr txBox="1"/>
          <p:nvPr/>
        </p:nvSpPr>
        <p:spPr>
          <a:xfrm>
            <a:off x="1060704" y="2331720"/>
            <a:ext cx="4626864" cy="274320"/>
          </a:xfrm>
          <a:prstGeom prst="rect">
            <a:avLst/>
          </a:prstGeom>
          <a:noFill/>
        </p:spPr>
        <p:txBody>
          <a:bodyPr wrap="square" lIns="0" rIns="0" tIns="0" bIns="0" anchor="ctr">
            <a:spAutoFit/>
          </a:bodyPr>
          <a:lstStyle/>
          <a:p>
            <a:r>
              <a:rPr sz="1600" b="1">
                <a:solidFill>
                  <a:srgbClr val="5279E7"/>
                </a:solidFill>
                <a:latin typeface="IBM Plex Mono"/>
              </a:rPr>
              <a:t>SEMANTIC ERROR · JUDGE-LLM</a:t>
            </a:r>
          </a:p>
        </p:txBody>
      </p:sp>
      <p:sp>
        <p:nvSpPr>
          <p:cNvPr id="379" name="TextBox 378"/>
          <p:cNvSpPr txBox="1"/>
          <p:nvPr/>
        </p:nvSpPr>
        <p:spPr>
          <a:xfrm>
            <a:off x="1069848" y="2834640"/>
            <a:ext cx="4617720" cy="274320"/>
          </a:xfrm>
          <a:prstGeom prst="rect">
            <a:avLst/>
          </a:prstGeom>
          <a:noFill/>
        </p:spPr>
        <p:txBody>
          <a:bodyPr wrap="square" lIns="0" rIns="0" tIns="0" bIns="0" anchor="ctr">
            <a:spAutoFit/>
          </a:bodyPr>
          <a:lstStyle/>
          <a:p>
            <a:r>
              <a:rPr sz="1430" b="0">
                <a:solidFill>
                  <a:srgbClr val="5C697D"/>
                </a:solidFill>
                <a:latin typeface="IBM Plex Sans"/>
              </a:rPr>
              <a:t>Generated ECOG documentation:</a:t>
            </a:r>
          </a:p>
        </p:txBody>
      </p:sp>
      <p:sp>
        <p:nvSpPr>
          <p:cNvPr id="380" name="Rectangle 379"/>
          <p:cNvSpPr/>
          <p:nvPr/>
        </p:nvSpPr>
        <p:spPr>
          <a:xfrm>
            <a:off x="1069848" y="3191256"/>
            <a:ext cx="4562856" cy="374904"/>
          </a:xfrm>
          <a:prstGeom prst="rect">
            <a:avLst/>
          </a:prstGeom>
          <a:solidFill>
            <a:srgbClr val="FFEC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1" name="TextBox 380"/>
          <p:cNvSpPr txBox="1"/>
          <p:nvPr/>
        </p:nvSpPr>
        <p:spPr>
          <a:xfrm>
            <a:off x="1188720" y="3227832"/>
            <a:ext cx="4270248" cy="274320"/>
          </a:xfrm>
          <a:prstGeom prst="rect">
            <a:avLst/>
          </a:prstGeom>
          <a:noFill/>
        </p:spPr>
        <p:txBody>
          <a:bodyPr wrap="square" lIns="0" rIns="0" tIns="0" bIns="0" anchor="ctr">
            <a:spAutoFit/>
          </a:bodyPr>
          <a:lstStyle/>
          <a:p>
            <a:r>
              <a:rPr sz="1600" b="1">
                <a:solidFill>
                  <a:srgbClr val="AA3737"/>
                </a:solidFill>
                <a:latin typeface="IBM Plex Sans"/>
              </a:rPr>
              <a:t>“0 = dead, 5 = fully active”</a:t>
            </a:r>
          </a:p>
        </p:txBody>
      </p:sp>
      <p:sp>
        <p:nvSpPr>
          <p:cNvPr id="382" name="TextBox 381"/>
          <p:cNvSpPr txBox="1"/>
          <p:nvPr/>
        </p:nvSpPr>
        <p:spPr>
          <a:xfrm>
            <a:off x="1069848" y="3675887"/>
            <a:ext cx="4572000" cy="621792"/>
          </a:xfrm>
          <a:prstGeom prst="rect">
            <a:avLst/>
          </a:prstGeom>
          <a:noFill/>
        </p:spPr>
        <p:txBody>
          <a:bodyPr wrap="square" lIns="0" rIns="0" tIns="0" bIns="0" anchor="ctr">
            <a:spAutoFit/>
          </a:bodyPr>
          <a:lstStyle/>
          <a:p>
            <a:r>
              <a:rPr sz="1330" b="0">
                <a:solidFill>
                  <a:srgbClr val="111B2B"/>
                </a:solidFill>
                <a:latin typeface="IBM Plex Sans"/>
              </a:rPr>
              <a:t>The ontology may be syntactically valid,
but contradicts the retrieved clinical scale.</a:t>
            </a:r>
          </a:p>
        </p:txBody>
      </p:sp>
      <p:sp>
        <p:nvSpPr>
          <p:cNvPr id="383" name="TextBox 382"/>
          <p:cNvSpPr txBox="1"/>
          <p:nvPr/>
        </p:nvSpPr>
        <p:spPr>
          <a:xfrm>
            <a:off x="6400800" y="2331720"/>
            <a:ext cx="4572000" cy="274320"/>
          </a:xfrm>
          <a:prstGeom prst="rect">
            <a:avLst/>
          </a:prstGeom>
          <a:noFill/>
        </p:spPr>
        <p:txBody>
          <a:bodyPr wrap="square" lIns="0" rIns="0" tIns="0" bIns="0" anchor="ctr">
            <a:spAutoFit/>
          </a:bodyPr>
          <a:lstStyle/>
          <a:p>
            <a:r>
              <a:rPr sz="1540" b="1">
                <a:solidFill>
                  <a:srgbClr val="5279E7"/>
                </a:solidFill>
                <a:latin typeface="IBM Plex Mono"/>
              </a:rPr>
              <a:t>STRUCTURAL ERROR · GRAPH CHECKS</a:t>
            </a:r>
          </a:p>
        </p:txBody>
      </p:sp>
      <p:sp>
        <p:nvSpPr>
          <p:cNvPr id="384" name="TextBox 383"/>
          <p:cNvSpPr txBox="1"/>
          <p:nvPr/>
        </p:nvSpPr>
        <p:spPr>
          <a:xfrm>
            <a:off x="6400800" y="2834640"/>
            <a:ext cx="4572000" cy="274320"/>
          </a:xfrm>
          <a:prstGeom prst="rect">
            <a:avLst/>
          </a:prstGeom>
          <a:noFill/>
        </p:spPr>
        <p:txBody>
          <a:bodyPr wrap="square" lIns="0" rIns="0" tIns="0" bIns="0" anchor="ctr">
            <a:spAutoFit/>
          </a:bodyPr>
          <a:lstStyle/>
          <a:p>
            <a:r>
              <a:rPr sz="1430" b="0">
                <a:solidFill>
                  <a:srgbClr val="5C697D"/>
                </a:solidFill>
                <a:latin typeface="IBM Plex Sans"/>
              </a:rPr>
              <a:t>Generated foreign-key property:</a:t>
            </a:r>
          </a:p>
        </p:txBody>
      </p:sp>
      <p:sp>
        <p:nvSpPr>
          <p:cNvPr id="385" name="Rectangle 384"/>
          <p:cNvSpPr/>
          <p:nvPr/>
        </p:nvSpPr>
        <p:spPr>
          <a:xfrm>
            <a:off x="6400800" y="3191256"/>
            <a:ext cx="4572000" cy="374904"/>
          </a:xfrm>
          <a:prstGeom prst="rect">
            <a:avLst/>
          </a:prstGeom>
          <a:solidFill>
            <a:srgbClr val="FFEC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6" name="TextBox 385"/>
          <p:cNvSpPr txBox="1"/>
          <p:nvPr/>
        </p:nvSpPr>
        <p:spPr>
          <a:xfrm>
            <a:off x="6537960" y="3227832"/>
            <a:ext cx="4242816" cy="274320"/>
          </a:xfrm>
          <a:prstGeom prst="rect">
            <a:avLst/>
          </a:prstGeom>
          <a:noFill/>
        </p:spPr>
        <p:txBody>
          <a:bodyPr wrap="square" lIns="0" rIns="0" tIns="0" bIns="0" anchor="ctr">
            <a:spAutoFit/>
          </a:bodyPr>
          <a:lstStyle/>
          <a:p>
            <a:r>
              <a:rPr sz="1570" b="1">
                <a:solidFill>
                  <a:srgbClr val="AA3737"/>
                </a:solidFill>
                <a:latin typeface="IBM Plex Sans"/>
              </a:rPr>
              <a:t>patient_id → DataProperty</a:t>
            </a:r>
          </a:p>
        </p:txBody>
      </p:sp>
      <p:sp>
        <p:nvSpPr>
          <p:cNvPr id="387" name="TextBox 386"/>
          <p:cNvSpPr txBox="1"/>
          <p:nvPr/>
        </p:nvSpPr>
        <p:spPr>
          <a:xfrm>
            <a:off x="6400800" y="3675887"/>
            <a:ext cx="4572000" cy="621792"/>
          </a:xfrm>
          <a:prstGeom prst="rect">
            <a:avLst/>
          </a:prstGeom>
          <a:noFill/>
        </p:spPr>
        <p:txBody>
          <a:bodyPr wrap="square" lIns="0" rIns="0" tIns="0" bIns="0" anchor="ctr">
            <a:spAutoFit/>
          </a:bodyPr>
          <a:lstStyle/>
          <a:p>
            <a:r>
              <a:rPr sz="1330" b="0">
                <a:solidFill>
                  <a:srgbClr val="111B2B"/>
                </a:solidFill>
                <a:latin typeface="IBM Plex Sans"/>
              </a:rPr>
              <a:t>The schema identifies patient_id as an FK;
it requires an object-property link.</a:t>
            </a:r>
          </a:p>
        </p:txBody>
      </p:sp>
      <p:sp>
        <p:nvSpPr>
          <p:cNvPr id="388" name="Rounded Rectangle 387"/>
          <p:cNvSpPr/>
          <p:nvPr/>
        </p:nvSpPr>
        <p:spPr>
          <a:xfrm>
            <a:off x="841248" y="4718304"/>
            <a:ext cx="10515600" cy="658368"/>
          </a:xfrm>
          <a:prstGeom prst="roundRect">
            <a:avLst/>
          </a:prstGeom>
          <a:solidFill>
            <a:srgbClr val="E3EAFC"/>
          </a:solidFill>
          <a:ln w="8890">
            <a:solidFill>
              <a:srgbClr val="C4D3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9" name="TextBox 388"/>
          <p:cNvSpPr txBox="1"/>
          <p:nvPr/>
        </p:nvSpPr>
        <p:spPr>
          <a:xfrm>
            <a:off x="1024128" y="4800600"/>
            <a:ext cx="9985248" cy="237744"/>
          </a:xfrm>
          <a:prstGeom prst="rect">
            <a:avLst/>
          </a:prstGeom>
          <a:noFill/>
        </p:spPr>
        <p:txBody>
          <a:bodyPr wrap="square" lIns="0" rIns="0" tIns="0" bIns="0" anchor="ctr">
            <a:spAutoFit/>
          </a:bodyPr>
          <a:lstStyle/>
          <a:p>
            <a:r>
              <a:rPr sz="1470" b="1">
                <a:solidFill>
                  <a:srgbClr val="111B2B"/>
                </a:solidFill>
                <a:latin typeface="IBM Plex Sans"/>
              </a:rPr>
              <a:t>CORRECTION   ECOG 0 = fully active; 5 = dead     |     patient_id: ObjectProperty → PatientData</a:t>
            </a:r>
          </a:p>
        </p:txBody>
      </p:sp>
      <p:sp>
        <p:nvSpPr>
          <p:cNvPr id="390" name="TextBox 389"/>
          <p:cNvSpPr txBox="1"/>
          <p:nvPr/>
        </p:nvSpPr>
        <p:spPr>
          <a:xfrm>
            <a:off x="1024128" y="5120640"/>
            <a:ext cx="10021824" cy="201168"/>
          </a:xfrm>
          <a:prstGeom prst="rect">
            <a:avLst/>
          </a:prstGeom>
          <a:noFill/>
        </p:spPr>
        <p:txBody>
          <a:bodyPr wrap="square" lIns="0" rIns="0" tIns="0" bIns="0" anchor="ctr">
            <a:spAutoFit/>
          </a:bodyPr>
          <a:lstStyle/>
          <a:p>
            <a:r>
              <a:rPr sz="1230" b="0">
                <a:solidFill>
                  <a:srgbClr val="5C697D"/>
                </a:solidFill>
                <a:latin typeface="IBM Plex Sans"/>
              </a:rPr>
              <a:t>Issues → generator correction (up to 2 retries) → graph validation → accepted fragment or fallback</a:t>
            </a: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4F7"/>
        </a:solidFill>
      </p:bgPr>
    </p:bg>
    <p:spTree>
      <p:nvGrpSpPr>
        <p:cNvPr id="380" name="Shape 380"/>
        <p:cNvGrpSpPr/>
        <p:nvPr/>
      </p:nvGrpSpPr>
      <p:grpSpPr>
        <a:xfrm>
          <a:off x="0" y="0"/>
          <a:ext cx="0" cy="0"/>
          <a:chOff x="0" y="0"/>
          <a:chExt cx="0" cy="0"/>
        </a:xfrm>
      </p:grpSpPr>
      <p:sp>
        <p:nvSpPr>
          <p:cNvPr id="381" name="Google Shape;381;p11"/>
          <p:cNvSpPr txBox="1"/>
          <p:nvPr/>
        </p:nvSpPr>
        <p:spPr>
          <a:xfrm>
            <a:off x="795528" y="448056"/>
            <a:ext cx="10789920" cy="310896"/>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i="0" lang="en-US" sz="1400">
                <a:solidFill>
                  <a:srgbClr val="4D71DE"/>
                </a:solidFill>
                <a:latin typeface="IBM Plex Mono"/>
                <a:ea typeface="IBM Plex Mono"/>
                <a:cs typeface="IBM Plex Mono"/>
                <a:sym typeface="IBM Plex Mono"/>
              </a:rPr>
              <a:t>STEP 6 / MERGE</a:t>
            </a:r>
            <a:endParaRPr/>
          </a:p>
        </p:txBody>
      </p:sp>
      <p:sp>
        <p:nvSpPr>
          <p:cNvPr id="382" name="Google Shape;382;p11"/>
          <p:cNvSpPr txBox="1"/>
          <p:nvPr/>
        </p:nvSpPr>
        <p:spPr>
          <a:xfrm>
            <a:off x="795528" y="850392"/>
            <a:ext cx="10835640" cy="685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800">
                <a:solidFill>
                  <a:srgbClr val="111A28"/>
                </a:solidFill>
                <a:latin typeface="IBM Plex Sans"/>
                <a:ea typeface="IBM Plex Sans"/>
                <a:cs typeface="IBM Plex Sans"/>
                <a:sym typeface="IBM Plex Sans"/>
              </a:rPr>
              <a:t>The ontology we built now helps build the next part.</a:t>
            </a:r>
            <a:endParaRPr/>
          </a:p>
        </p:txBody>
      </p:sp>
      <p:sp>
        <p:nvSpPr>
          <p:cNvPr id="383" name="Google Shape;383;p11"/>
          <p:cNvSpPr txBox="1"/>
          <p:nvPr/>
        </p:nvSpPr>
        <p:spPr>
          <a:xfrm>
            <a:off x="795528" y="1609344"/>
            <a:ext cx="10607040" cy="34747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sz="1600">
                <a:solidFill>
                  <a:srgbClr val="5D6879"/>
                </a:solidFill>
                <a:latin typeface="IBM Plex Sans"/>
                <a:ea typeface="IBM Plex Sans"/>
                <a:cs typeface="IBM Plex Sans"/>
                <a:sym typeface="IBM Plex Sans"/>
              </a:rPr>
              <a:t>Integrate the refined fragment; use the expanded core as retrieval context.</a:t>
            </a:r>
            <a:endParaRPr/>
          </a:p>
        </p:txBody>
      </p:sp>
      <p:sp>
        <p:nvSpPr>
          <p:cNvPr id="384" name="Google Shape;384;p11"/>
          <p:cNvSpPr/>
          <p:nvPr/>
        </p:nvSpPr>
        <p:spPr>
          <a:xfrm>
            <a:off x="813816" y="2139696"/>
            <a:ext cx="3017520" cy="2542032"/>
          </a:xfrm>
          <a:prstGeom prst="roundRect">
            <a:avLst>
              <a:gd fmla="val 10000" name="adj"/>
            </a:avLst>
          </a:prstGeom>
          <a:solidFill>
            <a:srgbClr val="FFFFFF"/>
          </a:solidFill>
          <a:ln cap="flat" cmpd="sng" w="12700">
            <a:solidFill>
              <a:srgbClr val="DFE5ED"/>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385" name="Google Shape;385;p11"/>
          <p:cNvSpPr txBox="1"/>
          <p:nvPr/>
        </p:nvSpPr>
        <p:spPr>
          <a:xfrm>
            <a:off x="1069848" y="2304288"/>
            <a:ext cx="2578608" cy="301752"/>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i="0" lang="en-US" sz="1520">
                <a:solidFill>
                  <a:srgbClr val="4D71DE"/>
                </a:solidFill>
                <a:latin typeface="IBM Plex Mono"/>
                <a:ea typeface="IBM Plex Mono"/>
                <a:cs typeface="IBM Plex Mono"/>
                <a:sym typeface="IBM Plex Mono"/>
              </a:rPr>
              <a:t>EXISTING CORE  O₁</a:t>
            </a:r>
            <a:endParaRPr/>
          </a:p>
        </p:txBody>
      </p:sp>
      <p:sp>
        <p:nvSpPr>
          <p:cNvPr id="386" name="Google Shape;386;p11"/>
          <p:cNvSpPr/>
          <p:nvPr/>
        </p:nvSpPr>
        <p:spPr>
          <a:xfrm>
            <a:off x="1408176" y="3017520"/>
            <a:ext cx="1847088" cy="630936"/>
          </a:xfrm>
          <a:prstGeom prst="roundRect">
            <a:avLst>
              <a:gd fmla="val 10000" name="adj"/>
            </a:avLst>
          </a:prstGeom>
          <a:solidFill>
            <a:srgbClr val="E4EBFF"/>
          </a:solidFill>
          <a:ln cap="flat" cmpd="sng" w="12700">
            <a:solidFill>
              <a:srgbClr val="4D71D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387" name="Google Shape;387;p11"/>
          <p:cNvSpPr txBox="1"/>
          <p:nvPr/>
        </p:nvSpPr>
        <p:spPr>
          <a:xfrm>
            <a:off x="1563624" y="3182112"/>
            <a:ext cx="1536192" cy="23774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1800">
                <a:solidFill>
                  <a:srgbClr val="111A28"/>
                </a:solidFill>
                <a:latin typeface="IBM Plex Sans"/>
                <a:ea typeface="IBM Plex Sans"/>
                <a:cs typeface="IBM Plex Sans"/>
                <a:sym typeface="IBM Plex Sans"/>
              </a:rPr>
              <a:t>PatientData</a:t>
            </a:r>
            <a:endParaRPr/>
          </a:p>
        </p:txBody>
      </p:sp>
      <p:sp>
        <p:nvSpPr>
          <p:cNvPr id="388" name="Google Shape;388;p11"/>
          <p:cNvSpPr txBox="1"/>
          <p:nvPr/>
        </p:nvSpPr>
        <p:spPr>
          <a:xfrm>
            <a:off x="1380744" y="4005072"/>
            <a:ext cx="2029968" cy="274320"/>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None/>
            </a:pPr>
            <a:r>
              <a:rPr b="0" i="0" lang="en-US" sz="1550">
                <a:solidFill>
                  <a:srgbClr val="5D6879"/>
                </a:solidFill>
                <a:latin typeface="IBM Plex Sans"/>
                <a:ea typeface="IBM Plex Sans"/>
                <a:cs typeface="IBM Plex Sans"/>
                <a:sym typeface="IBM Plex Sans"/>
              </a:rPr>
              <a:t>already validated</a:t>
            </a:r>
            <a:endParaRPr/>
          </a:p>
        </p:txBody>
      </p:sp>
      <p:sp>
        <p:nvSpPr>
          <p:cNvPr id="389" name="Google Shape;389;p11"/>
          <p:cNvSpPr txBox="1"/>
          <p:nvPr/>
        </p:nvSpPr>
        <p:spPr>
          <a:xfrm>
            <a:off x="3968496" y="3108960"/>
            <a:ext cx="365760" cy="521207"/>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3500">
                <a:solidFill>
                  <a:srgbClr val="4D71DE"/>
                </a:solidFill>
                <a:latin typeface="IBM Plex Sans"/>
                <a:ea typeface="IBM Plex Sans"/>
                <a:cs typeface="IBM Plex Sans"/>
                <a:sym typeface="IBM Plex Sans"/>
              </a:rPr>
              <a:t>+</a:t>
            </a:r>
            <a:endParaRPr/>
          </a:p>
        </p:txBody>
      </p:sp>
      <p:sp>
        <p:nvSpPr>
          <p:cNvPr id="390" name="Google Shape;390;p11"/>
          <p:cNvSpPr/>
          <p:nvPr/>
        </p:nvSpPr>
        <p:spPr>
          <a:xfrm>
            <a:off x="4471416" y="2139696"/>
            <a:ext cx="2944368" cy="2542032"/>
          </a:xfrm>
          <a:prstGeom prst="roundRect">
            <a:avLst>
              <a:gd fmla="val 10000" name="adj"/>
            </a:avLst>
          </a:prstGeom>
          <a:solidFill>
            <a:srgbClr val="FFFFFF"/>
          </a:solidFill>
          <a:ln cap="flat" cmpd="sng" w="12700">
            <a:solidFill>
              <a:srgbClr val="D68B4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391" name="Google Shape;391;p11"/>
          <p:cNvSpPr txBox="1"/>
          <p:nvPr/>
        </p:nvSpPr>
        <p:spPr>
          <a:xfrm>
            <a:off x="4700016" y="2304288"/>
            <a:ext cx="2551176" cy="301752"/>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i="0" lang="en-US" sz="1520">
                <a:solidFill>
                  <a:srgbClr val="D68B4B"/>
                </a:solidFill>
                <a:latin typeface="IBM Plex Mono"/>
                <a:ea typeface="IBM Plex Mono"/>
                <a:cs typeface="IBM Plex Mono"/>
                <a:sym typeface="IBM Plex Mono"/>
              </a:rPr>
              <a:t>REFINED DELTA  ΔOadmission</a:t>
            </a:r>
            <a:endParaRPr/>
          </a:p>
        </p:txBody>
      </p:sp>
      <p:sp>
        <p:nvSpPr>
          <p:cNvPr id="392" name="Google Shape;392;p11"/>
          <p:cNvSpPr/>
          <p:nvPr/>
        </p:nvSpPr>
        <p:spPr>
          <a:xfrm>
            <a:off x="4956048" y="3017520"/>
            <a:ext cx="1956816" cy="630936"/>
          </a:xfrm>
          <a:prstGeom prst="roundRect">
            <a:avLst>
              <a:gd fmla="val 10000" name="adj"/>
            </a:avLst>
          </a:prstGeom>
          <a:solidFill>
            <a:srgbClr val="F2F4F7"/>
          </a:solidFill>
          <a:ln cap="flat" cmpd="sng" w="12700">
            <a:solidFill>
              <a:srgbClr val="D68B4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393" name="Google Shape;393;p11"/>
          <p:cNvSpPr txBox="1"/>
          <p:nvPr/>
        </p:nvSpPr>
        <p:spPr>
          <a:xfrm>
            <a:off x="5175504" y="3172968"/>
            <a:ext cx="1563624" cy="23774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1800">
                <a:solidFill>
                  <a:srgbClr val="111A28"/>
                </a:solidFill>
                <a:latin typeface="IBM Plex Sans"/>
                <a:ea typeface="IBM Plex Sans"/>
                <a:cs typeface="IBM Plex Sans"/>
                <a:sym typeface="IBM Plex Sans"/>
              </a:rPr>
              <a:t>Admission</a:t>
            </a:r>
            <a:endParaRPr/>
          </a:p>
        </p:txBody>
      </p:sp>
      <p:sp>
        <p:nvSpPr>
          <p:cNvPr id="394" name="Google Shape;394;p11"/>
          <p:cNvSpPr txBox="1"/>
          <p:nvPr/>
        </p:nvSpPr>
        <p:spPr>
          <a:xfrm>
            <a:off x="4645152" y="3968496"/>
            <a:ext cx="2633472" cy="310896"/>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None/>
            </a:pPr>
            <a:r>
              <a:rPr b="0" lang="en-US" sz="1550">
                <a:solidFill>
                  <a:srgbClr val="5D6879"/>
                </a:solidFill>
                <a:latin typeface="IBM Plex Sans"/>
                <a:ea typeface="IBM Plex Sans"/>
                <a:cs typeface="IBM Plex Sans"/>
                <a:sym typeface="IBM Plex Sans"/>
              </a:rPr>
              <a:t>Relations · labels · provenance</a:t>
            </a:r>
            <a:endParaRPr/>
          </a:p>
        </p:txBody>
      </p:sp>
      <p:cxnSp>
        <p:nvCxnSpPr>
          <p:cNvPr id="395" name="Google Shape;395;p11"/>
          <p:cNvCxnSpPr/>
          <p:nvPr/>
        </p:nvCxnSpPr>
        <p:spPr>
          <a:xfrm>
            <a:off x="7552944" y="3310128"/>
            <a:ext cx="502920" cy="0"/>
          </a:xfrm>
          <a:prstGeom prst="straightConnector1">
            <a:avLst/>
          </a:prstGeom>
          <a:noFill/>
          <a:ln cap="flat" cmpd="sng" w="31750">
            <a:solidFill>
              <a:srgbClr val="4D71DE"/>
            </a:solidFill>
            <a:prstDash val="solid"/>
            <a:miter lim="8000"/>
            <a:headEnd len="sm" w="sm" type="none"/>
            <a:tailEnd len="med" w="med" type="triangle"/>
          </a:ln>
        </p:spPr>
      </p:cxnSp>
      <p:sp>
        <p:nvSpPr>
          <p:cNvPr id="396" name="Google Shape;396;p11"/>
          <p:cNvSpPr/>
          <p:nvPr/>
        </p:nvSpPr>
        <p:spPr>
          <a:xfrm>
            <a:off x="8220456" y="2139696"/>
            <a:ext cx="3191256" cy="2542032"/>
          </a:xfrm>
          <a:prstGeom prst="roundRect">
            <a:avLst>
              <a:gd fmla="val 10000" name="adj"/>
            </a:avLst>
          </a:prstGeom>
          <a:solidFill>
            <a:srgbClr val="FFFFFF"/>
          </a:solidFill>
          <a:ln cap="flat" cmpd="sng" w="17775">
            <a:solidFill>
              <a:srgbClr val="4D71D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397" name="Google Shape;397;p11"/>
          <p:cNvSpPr txBox="1"/>
          <p:nvPr/>
        </p:nvSpPr>
        <p:spPr>
          <a:xfrm>
            <a:off x="8476488" y="2304288"/>
            <a:ext cx="2724912" cy="301752"/>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i="0" lang="en-US" sz="1520">
                <a:solidFill>
                  <a:srgbClr val="4D71DE"/>
                </a:solidFill>
                <a:latin typeface="IBM Plex Mono"/>
                <a:ea typeface="IBM Plex Mono"/>
                <a:cs typeface="IBM Plex Mono"/>
                <a:sym typeface="IBM Plex Mono"/>
              </a:rPr>
              <a:t>EXPANDED CORE  O₂</a:t>
            </a:r>
            <a:endParaRPr/>
          </a:p>
        </p:txBody>
      </p:sp>
      <p:sp>
        <p:nvSpPr>
          <p:cNvPr id="398" name="Google Shape;398;p11"/>
          <p:cNvSpPr/>
          <p:nvPr/>
        </p:nvSpPr>
        <p:spPr>
          <a:xfrm>
            <a:off x="8375904" y="2926080"/>
            <a:ext cx="1234440" cy="521207"/>
          </a:xfrm>
          <a:prstGeom prst="roundRect">
            <a:avLst>
              <a:gd fmla="val 10000" name="adj"/>
            </a:avLst>
          </a:prstGeom>
          <a:solidFill>
            <a:srgbClr val="E4EBFF"/>
          </a:solidFill>
          <a:ln cap="flat" cmpd="sng" w="12700">
            <a:solidFill>
              <a:srgbClr val="4D71D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399" name="Google Shape;399;p11"/>
          <p:cNvSpPr txBox="1"/>
          <p:nvPr/>
        </p:nvSpPr>
        <p:spPr>
          <a:xfrm>
            <a:off x="8485632" y="3072384"/>
            <a:ext cx="1033271" cy="246888"/>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i="0" lang="en-US" sz="1400">
                <a:solidFill>
                  <a:srgbClr val="111A28"/>
                </a:solidFill>
                <a:latin typeface="IBM Plex Sans"/>
                <a:ea typeface="IBM Plex Sans"/>
                <a:cs typeface="IBM Plex Sans"/>
                <a:sym typeface="IBM Plex Sans"/>
              </a:rPr>
              <a:t>Admission</a:t>
            </a:r>
            <a:endParaRPr/>
          </a:p>
        </p:txBody>
      </p:sp>
      <p:sp>
        <p:nvSpPr>
          <p:cNvPr id="400" name="Google Shape;400;p11"/>
          <p:cNvSpPr/>
          <p:nvPr/>
        </p:nvSpPr>
        <p:spPr>
          <a:xfrm>
            <a:off x="10003536" y="2926080"/>
            <a:ext cx="1271016" cy="521207"/>
          </a:xfrm>
          <a:prstGeom prst="roundRect">
            <a:avLst>
              <a:gd fmla="val 10000" name="adj"/>
            </a:avLst>
          </a:prstGeom>
          <a:solidFill>
            <a:srgbClr val="E4EBFF"/>
          </a:solidFill>
          <a:ln cap="flat" cmpd="sng" w="12700">
            <a:solidFill>
              <a:srgbClr val="4D71D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401" name="Google Shape;401;p11"/>
          <p:cNvSpPr txBox="1"/>
          <p:nvPr/>
        </p:nvSpPr>
        <p:spPr>
          <a:xfrm>
            <a:off x="10094976" y="3072384"/>
            <a:ext cx="1106424" cy="246888"/>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i="0" lang="en-US" sz="1400">
                <a:solidFill>
                  <a:srgbClr val="111A28"/>
                </a:solidFill>
                <a:latin typeface="IBM Plex Sans"/>
                <a:ea typeface="IBM Plex Sans"/>
                <a:cs typeface="IBM Plex Sans"/>
                <a:sym typeface="IBM Plex Sans"/>
              </a:rPr>
              <a:t>PatientData</a:t>
            </a:r>
            <a:endParaRPr/>
          </a:p>
        </p:txBody>
      </p:sp>
      <p:cxnSp>
        <p:nvCxnSpPr>
          <p:cNvPr id="402" name="Google Shape;402;p11"/>
          <p:cNvCxnSpPr/>
          <p:nvPr/>
        </p:nvCxnSpPr>
        <p:spPr>
          <a:xfrm>
            <a:off x="9637776" y="3182112"/>
            <a:ext cx="320040" cy="0"/>
          </a:xfrm>
          <a:prstGeom prst="straightConnector1">
            <a:avLst/>
          </a:prstGeom>
          <a:noFill/>
          <a:ln cap="flat" cmpd="sng" w="29200">
            <a:solidFill>
              <a:srgbClr val="F4A261"/>
            </a:solidFill>
            <a:prstDash val="solid"/>
            <a:miter lim="8000"/>
            <a:headEnd len="sm" w="sm" type="none"/>
            <a:tailEnd len="med" w="med" type="triangle"/>
          </a:ln>
        </p:spPr>
      </p:cxnSp>
      <p:sp>
        <p:nvSpPr>
          <p:cNvPr id="403" name="Google Shape;403;p11"/>
          <p:cNvSpPr txBox="1"/>
          <p:nvPr/>
        </p:nvSpPr>
        <p:spPr>
          <a:xfrm>
            <a:off x="9473184" y="3547872"/>
            <a:ext cx="1609344" cy="246888"/>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None/>
            </a:pPr>
            <a:r>
              <a:rPr b="1" i="0" lang="en-US" sz="1400">
                <a:solidFill>
                  <a:srgbClr val="D68B4B"/>
                </a:solidFill>
                <a:latin typeface="IBM Plex Mono"/>
                <a:ea typeface="IBM Plex Mono"/>
                <a:cs typeface="IBM Plex Mono"/>
                <a:sym typeface="IBM Plex Mono"/>
              </a:rPr>
              <a:t>hasPatientData</a:t>
            </a:r>
            <a:endParaRPr/>
          </a:p>
        </p:txBody>
      </p:sp>
      <p:sp>
        <p:nvSpPr>
          <p:cNvPr id="404" name="Google Shape;404;p11"/>
          <p:cNvSpPr txBox="1"/>
          <p:nvPr/>
        </p:nvSpPr>
        <p:spPr>
          <a:xfrm>
            <a:off x="8513064" y="4151376"/>
            <a:ext cx="2697480" cy="27432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0" i="0" lang="en-US" sz="1550">
                <a:solidFill>
                  <a:srgbClr val="5D6879"/>
                </a:solidFill>
                <a:latin typeface="IBM Plex Sans"/>
                <a:ea typeface="IBM Plex Sans"/>
                <a:cs typeface="IBM Plex Sans"/>
                <a:sym typeface="IBM Plex Sans"/>
              </a:rPr>
              <a:t>+ enriched annotations</a:t>
            </a:r>
            <a:endParaRPr/>
          </a:p>
        </p:txBody>
      </p:sp>
      <p:sp>
        <p:nvSpPr>
          <p:cNvPr id="405" name="Google Shape;405;p11"/>
          <p:cNvSpPr/>
          <p:nvPr/>
        </p:nvSpPr>
        <p:spPr>
          <a:xfrm>
            <a:off x="822960" y="4892040"/>
            <a:ext cx="10561320" cy="594360"/>
          </a:xfrm>
          <a:prstGeom prst="roundRect">
            <a:avLst>
              <a:gd fmla="val 10000" name="adj"/>
            </a:avLst>
          </a:prstGeom>
          <a:solidFill>
            <a:srgbClr val="E4EB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406" name="Google Shape;406;p11"/>
          <p:cNvSpPr txBox="1"/>
          <p:nvPr/>
        </p:nvSpPr>
        <p:spPr>
          <a:xfrm>
            <a:off x="1024128" y="5038344"/>
            <a:ext cx="10131552" cy="265176"/>
          </a:xfrm>
          <a:prstGeom prst="rect">
            <a:avLst/>
          </a:prstGeom>
          <a:noFill/>
          <a:ln>
            <a:noFill/>
          </a:ln>
        </p:spPr>
        <p:txBody>
          <a:bodyPr anchorCtr="0" anchor="ctr" bIns="0" lIns="0" spcFirstLastPara="1" rIns="0" wrap="square" tIns="0">
            <a:spAutoFit/>
          </a:bodyPr>
          <a:lstStyle/>
          <a:p>
            <a:pPr indent="0" lvl="0" marL="0" marR="0" rtl="0" algn="l">
              <a:lnSpc>
                <a:spcPct val="107000"/>
              </a:lnSpc>
              <a:spcBef>
                <a:spcPts val="0"/>
              </a:spcBef>
              <a:spcAft>
                <a:spcPts val="0"/>
              </a:spcAft>
              <a:buNone/>
            </a:pPr>
            <a:r>
              <a:rPr b="1" lang="en-US" sz="1600">
                <a:solidFill>
                  <a:srgbClr val="4D71DE"/>
                </a:solidFill>
                <a:latin typeface="IBM Plex Sans"/>
                <a:ea typeface="IBM Plex Sans"/>
                <a:cs typeface="IBM Plex Sans"/>
                <a:sym typeface="IBM Plex Sans"/>
              </a:rPr>
              <a:t>THE LOOP   </a:t>
            </a:r>
            <a:r>
              <a:rPr b="0" lang="en-US" sz="1600">
                <a:solidFill>
                  <a:srgbClr val="111A28"/>
                </a:solidFill>
                <a:latin typeface="IBM Plex Sans"/>
                <a:ea typeface="IBM Plex Sans"/>
                <a:cs typeface="IBM Plex Sans"/>
                <a:sym typeface="IBM Plex Sans"/>
              </a:rPr>
              <a:t>O₂ becomes a retrieval source for the next table → a coherent ontology grows.</a:t>
            </a:r>
            <a:endParaRPr/>
          </a:p>
        </p:txBody>
      </p:sp>
      <p:sp>
        <p:nvSpPr>
          <p:cNvPr id="407" name="Google Shape;407;p11"/>
          <p:cNvSpPr/>
          <p:nvPr/>
        </p:nvSpPr>
        <p:spPr>
          <a:xfrm>
            <a:off x="804672" y="5797296"/>
            <a:ext cx="1645920" cy="310896"/>
          </a:xfrm>
          <a:prstGeom prst="roundRect">
            <a:avLst>
              <a:gd fmla="val 10000" name="adj"/>
            </a:avLst>
          </a:prstGeom>
          <a:solidFill>
            <a:srgbClr val="E4EBFF"/>
          </a:solidFill>
          <a:ln cap="flat" cmpd="sng" w="12700">
            <a:solidFill>
              <a:srgbClr val="DFE5ED"/>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408" name="Google Shape;408;p11"/>
          <p:cNvSpPr txBox="1"/>
          <p:nvPr/>
        </p:nvSpPr>
        <p:spPr>
          <a:xfrm>
            <a:off x="859536" y="5833872"/>
            <a:ext cx="1527048" cy="246888"/>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i="0" lang="en-US" sz="1400">
                <a:solidFill>
                  <a:srgbClr val="7799F0"/>
                </a:solidFill>
                <a:latin typeface="IBM Plex Mono"/>
                <a:ea typeface="IBM Plex Mono"/>
                <a:cs typeface="IBM Plex Mono"/>
                <a:sym typeface="IBM Plex Mono"/>
              </a:rPr>
              <a:t>1  ORDER</a:t>
            </a:r>
            <a:endParaRPr/>
          </a:p>
        </p:txBody>
      </p:sp>
      <p:sp>
        <p:nvSpPr>
          <p:cNvPr id="409" name="Google Shape;409;p11"/>
          <p:cNvSpPr/>
          <p:nvPr/>
        </p:nvSpPr>
        <p:spPr>
          <a:xfrm>
            <a:off x="2642615" y="5797296"/>
            <a:ext cx="1645920" cy="310896"/>
          </a:xfrm>
          <a:prstGeom prst="roundRect">
            <a:avLst>
              <a:gd fmla="val 10000" name="adj"/>
            </a:avLst>
          </a:prstGeom>
          <a:solidFill>
            <a:srgbClr val="E4EBFF"/>
          </a:solidFill>
          <a:ln cap="flat" cmpd="sng" w="12700">
            <a:solidFill>
              <a:srgbClr val="DFE5ED"/>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410" name="Google Shape;410;p11"/>
          <p:cNvSpPr txBox="1"/>
          <p:nvPr/>
        </p:nvSpPr>
        <p:spPr>
          <a:xfrm>
            <a:off x="2697479" y="5833872"/>
            <a:ext cx="1527048" cy="246888"/>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i="0" lang="en-US" sz="1400">
                <a:solidFill>
                  <a:srgbClr val="7799F0"/>
                </a:solidFill>
                <a:latin typeface="IBM Plex Mono"/>
                <a:ea typeface="IBM Plex Mono"/>
                <a:cs typeface="IBM Plex Mono"/>
                <a:sym typeface="IBM Plex Mono"/>
              </a:rPr>
              <a:t>2  SEED</a:t>
            </a:r>
            <a:endParaRPr/>
          </a:p>
        </p:txBody>
      </p:sp>
      <p:sp>
        <p:nvSpPr>
          <p:cNvPr id="411" name="Google Shape;411;p11"/>
          <p:cNvSpPr/>
          <p:nvPr/>
        </p:nvSpPr>
        <p:spPr>
          <a:xfrm>
            <a:off x="4480559" y="5797296"/>
            <a:ext cx="1645920" cy="310896"/>
          </a:xfrm>
          <a:prstGeom prst="roundRect">
            <a:avLst>
              <a:gd fmla="val 10000" name="adj"/>
            </a:avLst>
          </a:prstGeom>
          <a:solidFill>
            <a:srgbClr val="E4EBFF"/>
          </a:solidFill>
          <a:ln cap="flat" cmpd="sng" w="12700">
            <a:solidFill>
              <a:srgbClr val="DFE5ED"/>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412" name="Google Shape;412;p11"/>
          <p:cNvSpPr txBox="1"/>
          <p:nvPr/>
        </p:nvSpPr>
        <p:spPr>
          <a:xfrm>
            <a:off x="4535423" y="5833872"/>
            <a:ext cx="1527048" cy="246888"/>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i="0" lang="en-US" sz="1400">
                <a:solidFill>
                  <a:srgbClr val="7799F0"/>
                </a:solidFill>
                <a:latin typeface="IBM Plex Mono"/>
                <a:ea typeface="IBM Plex Mono"/>
                <a:cs typeface="IBM Plex Mono"/>
                <a:sym typeface="IBM Plex Mono"/>
              </a:rPr>
              <a:t>3  RETRIEVE</a:t>
            </a:r>
            <a:endParaRPr/>
          </a:p>
        </p:txBody>
      </p:sp>
      <p:sp>
        <p:nvSpPr>
          <p:cNvPr id="413" name="Google Shape;413;p11"/>
          <p:cNvSpPr/>
          <p:nvPr/>
        </p:nvSpPr>
        <p:spPr>
          <a:xfrm>
            <a:off x="6318503" y="5797296"/>
            <a:ext cx="1645920" cy="310896"/>
          </a:xfrm>
          <a:prstGeom prst="roundRect">
            <a:avLst>
              <a:gd fmla="val 10000" name="adj"/>
            </a:avLst>
          </a:prstGeom>
          <a:solidFill>
            <a:srgbClr val="E4EBFF"/>
          </a:solidFill>
          <a:ln cap="flat" cmpd="sng" w="12700">
            <a:solidFill>
              <a:srgbClr val="DFE5ED"/>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414" name="Google Shape;414;p11"/>
          <p:cNvSpPr txBox="1"/>
          <p:nvPr/>
        </p:nvSpPr>
        <p:spPr>
          <a:xfrm>
            <a:off x="6373367" y="5833872"/>
            <a:ext cx="1527048" cy="246888"/>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i="0" lang="en-US" sz="1400">
                <a:solidFill>
                  <a:srgbClr val="7799F0"/>
                </a:solidFill>
                <a:latin typeface="IBM Plex Mono"/>
                <a:ea typeface="IBM Plex Mono"/>
                <a:cs typeface="IBM Plex Mono"/>
                <a:sym typeface="IBM Plex Mono"/>
              </a:rPr>
              <a:t>4  GENERATE</a:t>
            </a:r>
            <a:endParaRPr/>
          </a:p>
        </p:txBody>
      </p:sp>
      <p:sp>
        <p:nvSpPr>
          <p:cNvPr id="415" name="Google Shape;415;p11"/>
          <p:cNvSpPr/>
          <p:nvPr/>
        </p:nvSpPr>
        <p:spPr>
          <a:xfrm>
            <a:off x="8156448" y="5797296"/>
            <a:ext cx="1645920" cy="310896"/>
          </a:xfrm>
          <a:prstGeom prst="roundRect">
            <a:avLst>
              <a:gd fmla="val 10000" name="adj"/>
            </a:avLst>
          </a:prstGeom>
          <a:solidFill>
            <a:srgbClr val="E4EBFF"/>
          </a:solidFill>
          <a:ln cap="flat" cmpd="sng" w="12700">
            <a:solidFill>
              <a:srgbClr val="DFE5ED"/>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416" name="Google Shape;416;p11"/>
          <p:cNvSpPr txBox="1"/>
          <p:nvPr/>
        </p:nvSpPr>
        <p:spPr>
          <a:xfrm>
            <a:off x="8211312" y="5833872"/>
            <a:ext cx="1527048" cy="246888"/>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i="0" lang="en-US" sz="1400">
                <a:solidFill>
                  <a:srgbClr val="7799F0"/>
                </a:solidFill>
                <a:latin typeface="IBM Plex Mono"/>
                <a:ea typeface="IBM Plex Mono"/>
                <a:cs typeface="IBM Plex Mono"/>
                <a:sym typeface="IBM Plex Mono"/>
              </a:rPr>
              <a:t>5  VALIDATE</a:t>
            </a:r>
            <a:endParaRPr/>
          </a:p>
        </p:txBody>
      </p:sp>
      <p:sp>
        <p:nvSpPr>
          <p:cNvPr id="417" name="Google Shape;417;p11"/>
          <p:cNvSpPr/>
          <p:nvPr/>
        </p:nvSpPr>
        <p:spPr>
          <a:xfrm>
            <a:off x="9994392" y="5797296"/>
            <a:ext cx="1645920" cy="310896"/>
          </a:xfrm>
          <a:prstGeom prst="roundRect">
            <a:avLst>
              <a:gd fmla="val 10000" name="adj"/>
            </a:avLst>
          </a:prstGeom>
          <a:solidFill>
            <a:srgbClr val="E4EBFF"/>
          </a:solidFill>
          <a:ln cap="flat" cmpd="sng" w="12700">
            <a:solidFill>
              <a:srgbClr val="DFE5ED"/>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418" name="Google Shape;418;p11"/>
          <p:cNvSpPr txBox="1"/>
          <p:nvPr/>
        </p:nvSpPr>
        <p:spPr>
          <a:xfrm>
            <a:off x="10049256" y="5833872"/>
            <a:ext cx="1527048" cy="246888"/>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i="0" lang="en-US" sz="1400">
                <a:solidFill>
                  <a:srgbClr val="F4A261"/>
                </a:solidFill>
                <a:latin typeface="IBM Plex Mono"/>
                <a:ea typeface="IBM Plex Mono"/>
                <a:cs typeface="IBM Plex Mono"/>
                <a:sym typeface="IBM Plex Mono"/>
              </a:rPr>
              <a:t>6  MERGE</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427"/>
        </a:solidFill>
      </p:bgPr>
    </p:bg>
    <p:spTree>
      <p:nvGrpSpPr>
        <p:cNvPr id="423" name="Shape 423"/>
        <p:cNvGrpSpPr/>
        <p:nvPr/>
      </p:nvGrpSpPr>
      <p:grpSpPr>
        <a:xfrm>
          <a:off x="0" y="0"/>
          <a:ext cx="0" cy="0"/>
          <a:chOff x="0" y="0"/>
          <a:chExt cx="0" cy="0"/>
        </a:xfrm>
      </p:grpSpPr>
      <p:sp>
        <p:nvSpPr>
          <p:cNvPr id="424" name="Google Shape;424;p12"/>
          <p:cNvSpPr txBox="1"/>
          <p:nvPr/>
        </p:nvSpPr>
        <p:spPr>
          <a:xfrm>
            <a:off x="512064" y="320040"/>
            <a:ext cx="6675120" cy="301752"/>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500">
                <a:solidFill>
                  <a:srgbClr val="F9AB5E"/>
                </a:solidFill>
                <a:latin typeface="Arial"/>
                <a:ea typeface="Arial"/>
                <a:cs typeface="Arial"/>
                <a:sym typeface="Arial"/>
              </a:rPr>
              <a:t>RIGOR  /  REASSEMBLING THE ARCHITECTURE</a:t>
            </a:r>
            <a:endParaRPr/>
          </a:p>
        </p:txBody>
      </p:sp>
      <p:sp>
        <p:nvSpPr>
          <p:cNvPr id="425" name="Google Shape;425;p12"/>
          <p:cNvSpPr txBox="1"/>
          <p:nvPr/>
        </p:nvSpPr>
        <p:spPr>
          <a:xfrm>
            <a:off x="512064" y="685800"/>
            <a:ext cx="10881360" cy="475488"/>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2900">
                <a:solidFill>
                  <a:srgbClr val="F7F9FD"/>
                </a:solidFill>
                <a:latin typeface="Arial"/>
                <a:ea typeface="Arial"/>
                <a:cs typeface="Arial"/>
                <a:sym typeface="Arial"/>
              </a:rPr>
              <a:t>1. Follow the foreign keys</a:t>
            </a:r>
            <a:endParaRPr/>
          </a:p>
        </p:txBody>
      </p:sp>
      <p:sp>
        <p:nvSpPr>
          <p:cNvPr id="426" name="Google Shape;426;p12"/>
          <p:cNvSpPr txBox="1"/>
          <p:nvPr/>
        </p:nvSpPr>
        <p:spPr>
          <a:xfrm>
            <a:off x="512064" y="1271016"/>
            <a:ext cx="10607040" cy="310896"/>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US" sz="1600">
                <a:solidFill>
                  <a:srgbClr val="C7D4E8"/>
                </a:solidFill>
                <a:latin typeface="Arial"/>
                <a:ea typeface="Arial"/>
                <a:cs typeface="Arial"/>
                <a:sym typeface="Arial"/>
              </a:rPr>
              <a:t>Paper Fig. 1(a)  ·  Start where the foreign-key dependencies begin.</a:t>
            </a:r>
            <a:endParaRPr/>
          </a:p>
        </p:txBody>
      </p:sp>
      <p:sp>
        <p:nvSpPr>
          <p:cNvPr id="427" name="Google Shape;427;p12"/>
          <p:cNvSpPr/>
          <p:nvPr/>
        </p:nvSpPr>
        <p:spPr>
          <a:xfrm>
            <a:off x="9692640" y="356616"/>
            <a:ext cx="274320" cy="64008"/>
          </a:xfrm>
          <a:prstGeom prst="rect">
            <a:avLst/>
          </a:prstGeom>
          <a:solidFill>
            <a:srgbClr val="F9AB5E"/>
          </a:solidFill>
          <a:ln cap="flat" cmpd="sng" w="9525">
            <a:solidFill>
              <a:srgbClr val="F9AB5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428" name="Google Shape;428;p12"/>
          <p:cNvSpPr/>
          <p:nvPr/>
        </p:nvSpPr>
        <p:spPr>
          <a:xfrm>
            <a:off x="10049256" y="356616"/>
            <a:ext cx="274320" cy="64008"/>
          </a:xfrm>
          <a:prstGeom prst="rect">
            <a:avLst/>
          </a:prstGeom>
          <a:solidFill>
            <a:srgbClr val="455B7A"/>
          </a:solidFill>
          <a:ln cap="flat" cmpd="sng" w="9525">
            <a:solidFill>
              <a:srgbClr val="455B7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429" name="Google Shape;429;p12"/>
          <p:cNvSpPr/>
          <p:nvPr/>
        </p:nvSpPr>
        <p:spPr>
          <a:xfrm>
            <a:off x="10405872" y="356616"/>
            <a:ext cx="274320" cy="64008"/>
          </a:xfrm>
          <a:prstGeom prst="rect">
            <a:avLst/>
          </a:prstGeom>
          <a:solidFill>
            <a:srgbClr val="455B7A"/>
          </a:solidFill>
          <a:ln cap="flat" cmpd="sng" w="9525">
            <a:solidFill>
              <a:srgbClr val="455B7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430" name="Google Shape;430;p12"/>
          <p:cNvSpPr/>
          <p:nvPr/>
        </p:nvSpPr>
        <p:spPr>
          <a:xfrm>
            <a:off x="10762488" y="356616"/>
            <a:ext cx="274320" cy="64008"/>
          </a:xfrm>
          <a:prstGeom prst="rect">
            <a:avLst/>
          </a:prstGeom>
          <a:solidFill>
            <a:srgbClr val="455B7A"/>
          </a:solidFill>
          <a:ln cap="flat" cmpd="sng" w="9525">
            <a:solidFill>
              <a:srgbClr val="455B7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431" name="Google Shape;431;p12"/>
          <p:cNvSpPr/>
          <p:nvPr/>
        </p:nvSpPr>
        <p:spPr>
          <a:xfrm>
            <a:off x="11119104" y="356616"/>
            <a:ext cx="274320" cy="64008"/>
          </a:xfrm>
          <a:prstGeom prst="rect">
            <a:avLst/>
          </a:prstGeom>
          <a:solidFill>
            <a:srgbClr val="455B7A"/>
          </a:solidFill>
          <a:ln cap="flat" cmpd="sng" w="9525">
            <a:solidFill>
              <a:srgbClr val="455B7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432" name="Google Shape;432;p12"/>
          <p:cNvSpPr/>
          <p:nvPr/>
        </p:nvSpPr>
        <p:spPr>
          <a:xfrm>
            <a:off x="11475720" y="356616"/>
            <a:ext cx="274320" cy="64008"/>
          </a:xfrm>
          <a:prstGeom prst="rect">
            <a:avLst/>
          </a:prstGeom>
          <a:solidFill>
            <a:srgbClr val="455B7A"/>
          </a:solidFill>
          <a:ln cap="flat" cmpd="sng" w="9525">
            <a:solidFill>
              <a:srgbClr val="455B7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433" name="Google Shape;433;p12"/>
          <p:cNvSpPr/>
          <p:nvPr/>
        </p:nvSpPr>
        <p:spPr>
          <a:xfrm>
            <a:off x="438912" y="1792224"/>
            <a:ext cx="11301984" cy="4187952"/>
          </a:xfrm>
          <a:prstGeom prst="roundRect">
            <a:avLst>
              <a:gd fmla="val 16667" name="adj"/>
            </a:avLst>
          </a:prstGeom>
          <a:solidFill>
            <a:srgbClr val="132641"/>
          </a:solidFill>
          <a:ln cap="flat" cmpd="sng" w="12700">
            <a:solidFill>
              <a:srgbClr val="304C7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434" name="Google Shape;434;p12"/>
          <p:cNvSpPr txBox="1"/>
          <p:nvPr/>
        </p:nvSpPr>
        <p:spPr>
          <a:xfrm>
            <a:off x="566928" y="6208776"/>
            <a:ext cx="10881360" cy="292608"/>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550">
                <a:solidFill>
                  <a:srgbClr val="F7F9FD"/>
                </a:solidFill>
                <a:latin typeface="Arial"/>
                <a:ea typeface="Arial"/>
                <a:cs typeface="Arial"/>
                <a:sym typeface="Arial"/>
              </a:rPr>
              <a:t>Recall slide 6  •  Parent tables must exist before their dependent tables are processed.</a:t>
            </a:r>
            <a:endParaRPr/>
          </a:p>
        </p:txBody>
      </p:sp>
      <p:sp>
        <p:nvSpPr>
          <p:cNvPr id="435" name="Google Shape;435;p12"/>
          <p:cNvSpPr txBox="1"/>
          <p:nvPr/>
        </p:nvSpPr>
        <p:spPr>
          <a:xfrm>
            <a:off x="10917936" y="6519672"/>
            <a:ext cx="804672" cy="182880"/>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r>
              <a:rPr b="0" lang="en-US" sz="1400">
                <a:solidFill>
                  <a:srgbClr val="C7D4E8"/>
                </a:solidFill>
                <a:latin typeface="Arial"/>
                <a:ea typeface="Arial"/>
                <a:cs typeface="Arial"/>
                <a:sym typeface="Arial"/>
              </a:rPr>
              <a:t>1 / 6</a:t>
            </a:r>
            <a:endParaRPr/>
          </a:p>
        </p:txBody>
      </p:sp>
      <p:cxnSp>
        <p:nvCxnSpPr>
          <p:cNvPr id="436" name="Google Shape;436;p12"/>
          <p:cNvCxnSpPr/>
          <p:nvPr/>
        </p:nvCxnSpPr>
        <p:spPr>
          <a:xfrm>
            <a:off x="1792224" y="3831336"/>
            <a:ext cx="164592" cy="0"/>
          </a:xfrm>
          <a:prstGeom prst="straightConnector1">
            <a:avLst/>
          </a:prstGeom>
          <a:noFill/>
          <a:ln cap="flat" cmpd="sng" w="38100">
            <a:solidFill>
              <a:srgbClr val="84ADF7"/>
            </a:solidFill>
            <a:prstDash val="solid"/>
            <a:miter lim="8000"/>
            <a:headEnd len="sm" w="sm" type="none"/>
            <a:tailEnd len="sm" w="sm" type="none"/>
          </a:ln>
        </p:spPr>
      </p:cxnSp>
      <p:sp>
        <p:nvSpPr>
          <p:cNvPr id="437" name="Google Shape;437;p12"/>
          <p:cNvSpPr/>
          <p:nvPr/>
        </p:nvSpPr>
        <p:spPr>
          <a:xfrm rot="5400000">
            <a:off x="1892808" y="3767328"/>
            <a:ext cx="128016" cy="128016"/>
          </a:xfrm>
          <a:prstGeom prst="triangle">
            <a:avLst>
              <a:gd fmla="val 50000" name="adj"/>
            </a:avLst>
          </a:prstGeom>
          <a:solidFill>
            <a:srgbClr val="84ADF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438" name="Google Shape;438;p12"/>
          <p:cNvSpPr/>
          <p:nvPr/>
        </p:nvSpPr>
        <p:spPr>
          <a:xfrm>
            <a:off x="621792" y="3282696"/>
            <a:ext cx="1170432" cy="1133856"/>
          </a:xfrm>
          <a:prstGeom prst="roundRect">
            <a:avLst>
              <a:gd fmla="val 16667" name="adj"/>
            </a:avLst>
          </a:prstGeom>
          <a:solidFill>
            <a:srgbClr val="193548"/>
          </a:solidFill>
          <a:ln cap="flat" cmpd="sng" w="25400">
            <a:solidFill>
              <a:srgbClr val="F9AB5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439" name="Google Shape;439;p12"/>
          <p:cNvSpPr/>
          <p:nvPr/>
        </p:nvSpPr>
        <p:spPr>
          <a:xfrm>
            <a:off x="740664" y="3447288"/>
            <a:ext cx="256032" cy="402336"/>
          </a:xfrm>
          <a:prstGeom prst="rect">
            <a:avLst/>
          </a:prstGeom>
          <a:solidFill>
            <a:srgbClr val="2E5369"/>
          </a:solidFill>
          <a:ln cap="flat" cmpd="sng" w="10150">
            <a:solidFill>
              <a:srgbClr val="8DE1B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cxnSp>
        <p:nvCxnSpPr>
          <p:cNvPr id="440" name="Google Shape;440;p12"/>
          <p:cNvCxnSpPr/>
          <p:nvPr/>
        </p:nvCxnSpPr>
        <p:spPr>
          <a:xfrm>
            <a:off x="781812" y="3566160"/>
            <a:ext cx="169164" cy="0"/>
          </a:xfrm>
          <a:prstGeom prst="straightConnector1">
            <a:avLst/>
          </a:prstGeom>
          <a:noFill/>
          <a:ln cap="flat" cmpd="sng" w="9525">
            <a:solidFill>
              <a:srgbClr val="C7D4E8"/>
            </a:solidFill>
            <a:prstDash val="solid"/>
            <a:miter lim="8000"/>
            <a:headEnd len="sm" w="sm" type="none"/>
            <a:tailEnd len="sm" w="sm" type="none"/>
          </a:ln>
        </p:spPr>
      </p:cxnSp>
      <p:cxnSp>
        <p:nvCxnSpPr>
          <p:cNvPr id="441" name="Google Shape;441;p12"/>
          <p:cNvCxnSpPr/>
          <p:nvPr/>
        </p:nvCxnSpPr>
        <p:spPr>
          <a:xfrm>
            <a:off x="781812" y="3648456"/>
            <a:ext cx="169164" cy="0"/>
          </a:xfrm>
          <a:prstGeom prst="straightConnector1">
            <a:avLst/>
          </a:prstGeom>
          <a:noFill/>
          <a:ln cap="flat" cmpd="sng" w="9525">
            <a:solidFill>
              <a:srgbClr val="C7D4E8"/>
            </a:solidFill>
            <a:prstDash val="solid"/>
            <a:miter lim="8000"/>
            <a:headEnd len="sm" w="sm" type="none"/>
            <a:tailEnd len="sm" w="sm" type="none"/>
          </a:ln>
        </p:spPr>
      </p:cxnSp>
      <p:sp>
        <p:nvSpPr>
          <p:cNvPr id="442" name="Google Shape;442;p12"/>
          <p:cNvSpPr/>
          <p:nvPr/>
        </p:nvSpPr>
        <p:spPr>
          <a:xfrm>
            <a:off x="1051560" y="3447288"/>
            <a:ext cx="256032" cy="402336"/>
          </a:xfrm>
          <a:prstGeom prst="rect">
            <a:avLst/>
          </a:prstGeom>
          <a:solidFill>
            <a:srgbClr val="2E5369"/>
          </a:solidFill>
          <a:ln cap="flat" cmpd="sng" w="10150">
            <a:solidFill>
              <a:srgbClr val="8DE1B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cxnSp>
        <p:nvCxnSpPr>
          <p:cNvPr id="443" name="Google Shape;443;p12"/>
          <p:cNvCxnSpPr/>
          <p:nvPr/>
        </p:nvCxnSpPr>
        <p:spPr>
          <a:xfrm>
            <a:off x="1092708" y="3566160"/>
            <a:ext cx="169164" cy="0"/>
          </a:xfrm>
          <a:prstGeom prst="straightConnector1">
            <a:avLst/>
          </a:prstGeom>
          <a:noFill/>
          <a:ln cap="flat" cmpd="sng" w="9525">
            <a:solidFill>
              <a:srgbClr val="C7D4E8"/>
            </a:solidFill>
            <a:prstDash val="solid"/>
            <a:miter lim="8000"/>
            <a:headEnd len="sm" w="sm" type="none"/>
            <a:tailEnd len="sm" w="sm" type="none"/>
          </a:ln>
        </p:spPr>
      </p:cxnSp>
      <p:cxnSp>
        <p:nvCxnSpPr>
          <p:cNvPr id="444" name="Google Shape;444;p12"/>
          <p:cNvCxnSpPr/>
          <p:nvPr/>
        </p:nvCxnSpPr>
        <p:spPr>
          <a:xfrm>
            <a:off x="1092708" y="3648456"/>
            <a:ext cx="169164" cy="0"/>
          </a:xfrm>
          <a:prstGeom prst="straightConnector1">
            <a:avLst/>
          </a:prstGeom>
          <a:noFill/>
          <a:ln cap="flat" cmpd="sng" w="9525">
            <a:solidFill>
              <a:srgbClr val="C7D4E8"/>
            </a:solidFill>
            <a:prstDash val="solid"/>
            <a:miter lim="8000"/>
            <a:headEnd len="sm" w="sm" type="none"/>
            <a:tailEnd len="sm" w="sm" type="none"/>
          </a:ln>
        </p:spPr>
      </p:cxnSp>
      <p:sp>
        <p:nvSpPr>
          <p:cNvPr id="445" name="Google Shape;445;p12"/>
          <p:cNvSpPr/>
          <p:nvPr/>
        </p:nvSpPr>
        <p:spPr>
          <a:xfrm>
            <a:off x="1362456" y="3447288"/>
            <a:ext cx="256032" cy="402336"/>
          </a:xfrm>
          <a:prstGeom prst="rect">
            <a:avLst/>
          </a:prstGeom>
          <a:solidFill>
            <a:srgbClr val="2E5369"/>
          </a:solidFill>
          <a:ln cap="flat" cmpd="sng" w="10150">
            <a:solidFill>
              <a:srgbClr val="8DE1B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cxnSp>
        <p:nvCxnSpPr>
          <p:cNvPr id="446" name="Google Shape;446;p12"/>
          <p:cNvCxnSpPr/>
          <p:nvPr/>
        </p:nvCxnSpPr>
        <p:spPr>
          <a:xfrm>
            <a:off x="1403604" y="3566160"/>
            <a:ext cx="169164" cy="0"/>
          </a:xfrm>
          <a:prstGeom prst="straightConnector1">
            <a:avLst/>
          </a:prstGeom>
          <a:noFill/>
          <a:ln cap="flat" cmpd="sng" w="9525">
            <a:solidFill>
              <a:srgbClr val="C7D4E8"/>
            </a:solidFill>
            <a:prstDash val="solid"/>
            <a:miter lim="8000"/>
            <a:headEnd len="sm" w="sm" type="none"/>
            <a:tailEnd len="sm" w="sm" type="none"/>
          </a:ln>
        </p:spPr>
      </p:cxnSp>
      <p:cxnSp>
        <p:nvCxnSpPr>
          <p:cNvPr id="447" name="Google Shape;447;p12"/>
          <p:cNvCxnSpPr/>
          <p:nvPr/>
        </p:nvCxnSpPr>
        <p:spPr>
          <a:xfrm>
            <a:off x="1403604" y="3648456"/>
            <a:ext cx="169164" cy="0"/>
          </a:xfrm>
          <a:prstGeom prst="straightConnector1">
            <a:avLst/>
          </a:prstGeom>
          <a:noFill/>
          <a:ln cap="flat" cmpd="sng" w="9525">
            <a:solidFill>
              <a:srgbClr val="C7D4E8"/>
            </a:solidFill>
            <a:prstDash val="solid"/>
            <a:miter lim="8000"/>
            <a:headEnd len="sm" w="sm" type="none"/>
            <a:tailEnd len="sm" w="sm" type="none"/>
          </a:ln>
        </p:spPr>
      </p:cxnSp>
      <p:sp>
        <p:nvSpPr>
          <p:cNvPr id="448" name="Google Shape;448;p12"/>
          <p:cNvSpPr txBox="1"/>
          <p:nvPr/>
        </p:nvSpPr>
        <p:spPr>
          <a:xfrm>
            <a:off x="630936" y="3941063"/>
            <a:ext cx="1152144" cy="283464"/>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US" sz="1400">
                <a:solidFill>
                  <a:srgbClr val="F7F9FD"/>
                </a:solidFill>
                <a:latin typeface="Arial"/>
                <a:ea typeface="Arial"/>
                <a:cs typeface="Arial"/>
                <a:sym typeface="Arial"/>
              </a:rPr>
              <a:t>Schema S</a:t>
            </a:r>
            <a:endParaRPr/>
          </a:p>
        </p:txBody>
      </p:sp>
      <p:sp>
        <p:nvSpPr>
          <p:cNvPr id="449" name="Google Shape;449;p12"/>
          <p:cNvSpPr txBox="1"/>
          <p:nvPr/>
        </p:nvSpPr>
        <p:spPr>
          <a:xfrm>
            <a:off x="1490472" y="3072384"/>
            <a:ext cx="384048" cy="2286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400">
                <a:solidFill>
                  <a:srgbClr val="F9AB5E"/>
                </a:solidFill>
                <a:latin typeface="Arial"/>
                <a:ea typeface="Arial"/>
                <a:cs typeface="Arial"/>
                <a:sym typeface="Arial"/>
              </a:rPr>
              <a:t>(a)</a:t>
            </a:r>
            <a:endParaRPr/>
          </a:p>
        </p:txBody>
      </p:sp>
      <p:sp>
        <p:nvSpPr>
          <p:cNvPr id="450" name="Google Shape;450;p12"/>
          <p:cNvSpPr/>
          <p:nvPr/>
        </p:nvSpPr>
        <p:spPr>
          <a:xfrm>
            <a:off x="1956816" y="3483864"/>
            <a:ext cx="1444752" cy="694944"/>
          </a:xfrm>
          <a:prstGeom prst="roundRect">
            <a:avLst>
              <a:gd fmla="val 16667" name="adj"/>
            </a:avLst>
          </a:prstGeom>
          <a:solidFill>
            <a:srgbClr val="3D495F"/>
          </a:solidFill>
          <a:ln cap="flat" cmpd="sng" w="29200">
            <a:solidFill>
              <a:srgbClr val="F9AB5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451" name="Google Shape;451;p12"/>
          <p:cNvSpPr txBox="1"/>
          <p:nvPr/>
        </p:nvSpPr>
        <p:spPr>
          <a:xfrm>
            <a:off x="2039112" y="3602736"/>
            <a:ext cx="1280160" cy="246888"/>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US" sz="1550">
                <a:solidFill>
                  <a:srgbClr val="F7F9FD"/>
                </a:solidFill>
                <a:latin typeface="Arial"/>
                <a:ea typeface="Arial"/>
                <a:cs typeface="Arial"/>
                <a:sym typeface="Arial"/>
              </a:rPr>
              <a:t>Iterate</a:t>
            </a:r>
            <a:endParaRPr/>
          </a:p>
        </p:txBody>
      </p:sp>
      <p:sp>
        <p:nvSpPr>
          <p:cNvPr id="452" name="Google Shape;452;p12"/>
          <p:cNvSpPr txBox="1"/>
          <p:nvPr/>
        </p:nvSpPr>
        <p:spPr>
          <a:xfrm>
            <a:off x="2048256" y="3877056"/>
            <a:ext cx="1261872" cy="256032"/>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0" lang="en-US" sz="1400">
                <a:solidFill>
                  <a:srgbClr val="C7D4E8"/>
                </a:solidFill>
                <a:latin typeface="Arial"/>
                <a:ea typeface="Arial"/>
                <a:cs typeface="Arial"/>
                <a:sym typeface="Arial"/>
              </a:rPr>
              <a:t>FK-BFS</a:t>
            </a:r>
            <a:endParaRPr/>
          </a:p>
        </p:txBody>
      </p:sp>
      <p:sp>
        <p:nvSpPr>
          <p:cNvPr id="453" name="Google Shape;453;p12"/>
          <p:cNvSpPr/>
          <p:nvPr/>
        </p:nvSpPr>
        <p:spPr>
          <a:xfrm>
            <a:off x="7059168" y="3118104"/>
            <a:ext cx="4114800" cy="1591056"/>
          </a:xfrm>
          <a:prstGeom prst="roundRect">
            <a:avLst>
              <a:gd fmla="val 16667" name="adj"/>
            </a:avLst>
          </a:prstGeom>
          <a:solidFill>
            <a:srgbClr val="253B57"/>
          </a:solidFill>
          <a:ln cap="flat" cmpd="sng" w="20300">
            <a:solidFill>
              <a:srgbClr val="F9AB5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454" name="Google Shape;454;p12"/>
          <p:cNvSpPr txBox="1"/>
          <p:nvPr/>
        </p:nvSpPr>
        <p:spPr>
          <a:xfrm>
            <a:off x="7315200" y="3374136"/>
            <a:ext cx="3639312" cy="27432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700">
                <a:solidFill>
                  <a:srgbClr val="F9AB5E"/>
                </a:solidFill>
                <a:latin typeface="Arial"/>
                <a:ea typeface="Arial"/>
                <a:cs typeface="Arial"/>
                <a:sym typeface="Arial"/>
              </a:rPr>
              <a:t>WHY THIS ORDER?</a:t>
            </a:r>
            <a:endParaRPr/>
          </a:p>
        </p:txBody>
      </p:sp>
      <p:sp>
        <p:nvSpPr>
          <p:cNvPr id="455" name="Google Shape;455;p12"/>
          <p:cNvSpPr txBox="1"/>
          <p:nvPr/>
        </p:nvSpPr>
        <p:spPr>
          <a:xfrm>
            <a:off x="7315200" y="3730752"/>
            <a:ext cx="3657600" cy="713232"/>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US" sz="1800">
                <a:solidFill>
                  <a:srgbClr val="F7F9FD"/>
                </a:solidFill>
                <a:latin typeface="Arial"/>
                <a:ea typeface="Arial"/>
                <a:cs typeface="Arial"/>
                <a:sym typeface="Arial"/>
              </a:rPr>
              <a:t>PatientData is processed before admission, so later generation can reuse an existing class.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427"/>
        </a:solidFill>
      </p:bgPr>
    </p:bg>
    <p:spTree>
      <p:nvGrpSpPr>
        <p:cNvPr id="460" name="Shape 460"/>
        <p:cNvGrpSpPr/>
        <p:nvPr/>
      </p:nvGrpSpPr>
      <p:grpSpPr>
        <a:xfrm>
          <a:off x="0" y="0"/>
          <a:ext cx="0" cy="0"/>
          <a:chOff x="0" y="0"/>
          <a:chExt cx="0" cy="0"/>
        </a:xfrm>
      </p:grpSpPr>
      <p:sp>
        <p:nvSpPr>
          <p:cNvPr id="461" name="Google Shape;461;p13"/>
          <p:cNvSpPr txBox="1"/>
          <p:nvPr/>
        </p:nvSpPr>
        <p:spPr>
          <a:xfrm>
            <a:off x="512064" y="320040"/>
            <a:ext cx="6675120" cy="301752"/>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500">
                <a:solidFill>
                  <a:srgbClr val="F9AB5E"/>
                </a:solidFill>
                <a:latin typeface="Arial"/>
                <a:ea typeface="Arial"/>
                <a:cs typeface="Arial"/>
                <a:sym typeface="Arial"/>
              </a:rPr>
              <a:t>RIGOR  /  REASSEMBLING THE ARCHITECTURE</a:t>
            </a:r>
            <a:endParaRPr/>
          </a:p>
        </p:txBody>
      </p:sp>
      <p:sp>
        <p:nvSpPr>
          <p:cNvPr id="462" name="Google Shape;462;p13"/>
          <p:cNvSpPr txBox="1"/>
          <p:nvPr/>
        </p:nvSpPr>
        <p:spPr>
          <a:xfrm>
            <a:off x="512064" y="685800"/>
            <a:ext cx="10881360" cy="475488"/>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2900">
                <a:solidFill>
                  <a:srgbClr val="F7F9FD"/>
                </a:solidFill>
                <a:latin typeface="Arial"/>
                <a:ea typeface="Arial"/>
                <a:cs typeface="Arial"/>
                <a:sym typeface="Arial"/>
              </a:rPr>
              <a:t>2. Anchor generation in the schema</a:t>
            </a:r>
            <a:endParaRPr/>
          </a:p>
        </p:txBody>
      </p:sp>
      <p:sp>
        <p:nvSpPr>
          <p:cNvPr id="463" name="Google Shape;463;p13"/>
          <p:cNvSpPr txBox="1"/>
          <p:nvPr/>
        </p:nvSpPr>
        <p:spPr>
          <a:xfrm>
            <a:off x="512064" y="1271016"/>
            <a:ext cx="10607040" cy="310896"/>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US" sz="1600">
                <a:solidFill>
                  <a:srgbClr val="C7D4E8"/>
                </a:solidFill>
                <a:latin typeface="Arial"/>
                <a:ea typeface="Arial"/>
                <a:cs typeface="Arial"/>
                <a:sym typeface="Arial"/>
              </a:rPr>
              <a:t>Paper Fig. 1(b)  ·  The schema-grounded branch feeds the generation step.</a:t>
            </a:r>
            <a:endParaRPr/>
          </a:p>
        </p:txBody>
      </p:sp>
      <p:sp>
        <p:nvSpPr>
          <p:cNvPr id="464" name="Google Shape;464;p13"/>
          <p:cNvSpPr/>
          <p:nvPr/>
        </p:nvSpPr>
        <p:spPr>
          <a:xfrm>
            <a:off x="9692640" y="356616"/>
            <a:ext cx="274320" cy="64008"/>
          </a:xfrm>
          <a:prstGeom prst="rect">
            <a:avLst/>
          </a:prstGeom>
          <a:solidFill>
            <a:srgbClr val="F9AB5E"/>
          </a:solidFill>
          <a:ln cap="flat" cmpd="sng" w="9525">
            <a:solidFill>
              <a:srgbClr val="F9AB5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465" name="Google Shape;465;p13"/>
          <p:cNvSpPr/>
          <p:nvPr/>
        </p:nvSpPr>
        <p:spPr>
          <a:xfrm>
            <a:off x="10049256" y="356616"/>
            <a:ext cx="274320" cy="64008"/>
          </a:xfrm>
          <a:prstGeom prst="rect">
            <a:avLst/>
          </a:prstGeom>
          <a:solidFill>
            <a:srgbClr val="F9AB5E"/>
          </a:solidFill>
          <a:ln cap="flat" cmpd="sng" w="9525">
            <a:solidFill>
              <a:srgbClr val="F9AB5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466" name="Google Shape;466;p13"/>
          <p:cNvSpPr/>
          <p:nvPr/>
        </p:nvSpPr>
        <p:spPr>
          <a:xfrm>
            <a:off x="10405872" y="356616"/>
            <a:ext cx="274320" cy="64008"/>
          </a:xfrm>
          <a:prstGeom prst="rect">
            <a:avLst/>
          </a:prstGeom>
          <a:solidFill>
            <a:srgbClr val="455B7A"/>
          </a:solidFill>
          <a:ln cap="flat" cmpd="sng" w="9525">
            <a:solidFill>
              <a:srgbClr val="455B7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467" name="Google Shape;467;p13"/>
          <p:cNvSpPr/>
          <p:nvPr/>
        </p:nvSpPr>
        <p:spPr>
          <a:xfrm>
            <a:off x="10762488" y="356616"/>
            <a:ext cx="274320" cy="64008"/>
          </a:xfrm>
          <a:prstGeom prst="rect">
            <a:avLst/>
          </a:prstGeom>
          <a:solidFill>
            <a:srgbClr val="455B7A"/>
          </a:solidFill>
          <a:ln cap="flat" cmpd="sng" w="9525">
            <a:solidFill>
              <a:srgbClr val="455B7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468" name="Google Shape;468;p13"/>
          <p:cNvSpPr/>
          <p:nvPr/>
        </p:nvSpPr>
        <p:spPr>
          <a:xfrm>
            <a:off x="11119104" y="356616"/>
            <a:ext cx="274320" cy="64008"/>
          </a:xfrm>
          <a:prstGeom prst="rect">
            <a:avLst/>
          </a:prstGeom>
          <a:solidFill>
            <a:srgbClr val="455B7A"/>
          </a:solidFill>
          <a:ln cap="flat" cmpd="sng" w="9525">
            <a:solidFill>
              <a:srgbClr val="455B7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469" name="Google Shape;469;p13"/>
          <p:cNvSpPr/>
          <p:nvPr/>
        </p:nvSpPr>
        <p:spPr>
          <a:xfrm>
            <a:off x="11475720" y="356616"/>
            <a:ext cx="274320" cy="64008"/>
          </a:xfrm>
          <a:prstGeom prst="rect">
            <a:avLst/>
          </a:prstGeom>
          <a:solidFill>
            <a:srgbClr val="455B7A"/>
          </a:solidFill>
          <a:ln cap="flat" cmpd="sng" w="9525">
            <a:solidFill>
              <a:srgbClr val="455B7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470" name="Google Shape;470;p13"/>
          <p:cNvSpPr/>
          <p:nvPr/>
        </p:nvSpPr>
        <p:spPr>
          <a:xfrm>
            <a:off x="438912" y="1792224"/>
            <a:ext cx="11301984" cy="4187952"/>
          </a:xfrm>
          <a:prstGeom prst="roundRect">
            <a:avLst>
              <a:gd fmla="val 16667" name="adj"/>
            </a:avLst>
          </a:prstGeom>
          <a:solidFill>
            <a:srgbClr val="132641"/>
          </a:solidFill>
          <a:ln cap="flat" cmpd="sng" w="12700">
            <a:solidFill>
              <a:srgbClr val="304C7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471" name="Google Shape;471;p13"/>
          <p:cNvSpPr txBox="1"/>
          <p:nvPr/>
        </p:nvSpPr>
        <p:spPr>
          <a:xfrm>
            <a:off x="566928" y="6208776"/>
            <a:ext cx="10881360" cy="292608"/>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550">
                <a:solidFill>
                  <a:srgbClr val="F7F9FD"/>
                </a:solidFill>
                <a:latin typeface="Arial"/>
                <a:ea typeface="Arial"/>
                <a:cs typeface="Arial"/>
                <a:sym typeface="Arial"/>
              </a:rPr>
              <a:t>Recall slide 7  •  The deterministic seed covers the cleaned table before LLM enrichment.</a:t>
            </a:r>
            <a:endParaRPr/>
          </a:p>
        </p:txBody>
      </p:sp>
      <p:sp>
        <p:nvSpPr>
          <p:cNvPr id="472" name="Google Shape;472;p13"/>
          <p:cNvSpPr txBox="1"/>
          <p:nvPr/>
        </p:nvSpPr>
        <p:spPr>
          <a:xfrm>
            <a:off x="10917936" y="6519672"/>
            <a:ext cx="804672" cy="182880"/>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r>
              <a:rPr b="0" lang="en-US" sz="1400">
                <a:solidFill>
                  <a:srgbClr val="C7D4E8"/>
                </a:solidFill>
                <a:latin typeface="Arial"/>
                <a:ea typeface="Arial"/>
                <a:cs typeface="Arial"/>
                <a:sym typeface="Arial"/>
              </a:rPr>
              <a:t>2 / 6</a:t>
            </a:r>
            <a:endParaRPr/>
          </a:p>
        </p:txBody>
      </p:sp>
      <p:cxnSp>
        <p:nvCxnSpPr>
          <p:cNvPr id="473" name="Google Shape;473;p13"/>
          <p:cNvCxnSpPr/>
          <p:nvPr/>
        </p:nvCxnSpPr>
        <p:spPr>
          <a:xfrm>
            <a:off x="1792224" y="3831336"/>
            <a:ext cx="164592" cy="0"/>
          </a:xfrm>
          <a:prstGeom prst="straightConnector1">
            <a:avLst/>
          </a:prstGeom>
          <a:noFill/>
          <a:ln cap="flat" cmpd="sng" w="38100">
            <a:solidFill>
              <a:srgbClr val="84ADF7"/>
            </a:solidFill>
            <a:prstDash val="solid"/>
            <a:miter lim="8000"/>
            <a:headEnd len="sm" w="sm" type="none"/>
            <a:tailEnd len="sm" w="sm" type="none"/>
          </a:ln>
        </p:spPr>
      </p:cxnSp>
      <p:sp>
        <p:nvSpPr>
          <p:cNvPr id="474" name="Google Shape;474;p13"/>
          <p:cNvSpPr/>
          <p:nvPr/>
        </p:nvSpPr>
        <p:spPr>
          <a:xfrm rot="5400000">
            <a:off x="1892808" y="3767328"/>
            <a:ext cx="128016" cy="128016"/>
          </a:xfrm>
          <a:prstGeom prst="triangle">
            <a:avLst>
              <a:gd fmla="val 50000" name="adj"/>
            </a:avLst>
          </a:prstGeom>
          <a:solidFill>
            <a:srgbClr val="84ADF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cxnSp>
        <p:nvCxnSpPr>
          <p:cNvPr id="475" name="Google Shape;475;p13"/>
          <p:cNvCxnSpPr/>
          <p:nvPr/>
        </p:nvCxnSpPr>
        <p:spPr>
          <a:xfrm>
            <a:off x="3401568" y="3794760"/>
            <a:ext cx="100584" cy="0"/>
          </a:xfrm>
          <a:prstGeom prst="straightConnector1">
            <a:avLst/>
          </a:prstGeom>
          <a:noFill/>
          <a:ln cap="flat" cmpd="sng" w="29200">
            <a:solidFill>
              <a:srgbClr val="84ADF7"/>
            </a:solidFill>
            <a:prstDash val="solid"/>
            <a:miter lim="8000"/>
            <a:headEnd len="sm" w="sm" type="none"/>
            <a:tailEnd len="sm" w="sm" type="none"/>
          </a:ln>
        </p:spPr>
      </p:cxnSp>
      <p:cxnSp>
        <p:nvCxnSpPr>
          <p:cNvPr id="476" name="Google Shape;476;p13"/>
          <p:cNvCxnSpPr/>
          <p:nvPr/>
        </p:nvCxnSpPr>
        <p:spPr>
          <a:xfrm rot="10800000">
            <a:off x="3502152" y="2523744"/>
            <a:ext cx="0" cy="1271016"/>
          </a:xfrm>
          <a:prstGeom prst="straightConnector1">
            <a:avLst/>
          </a:prstGeom>
          <a:noFill/>
          <a:ln cap="flat" cmpd="sng" w="29200">
            <a:solidFill>
              <a:srgbClr val="84ADF7"/>
            </a:solidFill>
            <a:prstDash val="solid"/>
            <a:miter lim="8000"/>
            <a:headEnd len="sm" w="sm" type="none"/>
            <a:tailEnd len="sm" w="sm" type="none"/>
          </a:ln>
        </p:spPr>
      </p:cxnSp>
      <p:cxnSp>
        <p:nvCxnSpPr>
          <p:cNvPr id="477" name="Google Shape;477;p13"/>
          <p:cNvCxnSpPr/>
          <p:nvPr/>
        </p:nvCxnSpPr>
        <p:spPr>
          <a:xfrm>
            <a:off x="3502152" y="2523744"/>
            <a:ext cx="265176" cy="0"/>
          </a:xfrm>
          <a:prstGeom prst="straightConnector1">
            <a:avLst/>
          </a:prstGeom>
          <a:noFill/>
          <a:ln cap="flat" cmpd="sng" w="29200">
            <a:solidFill>
              <a:srgbClr val="84ADF7"/>
            </a:solidFill>
            <a:prstDash val="solid"/>
            <a:miter lim="8000"/>
            <a:headEnd len="sm" w="sm" type="none"/>
            <a:tailEnd len="sm" w="sm" type="none"/>
          </a:ln>
        </p:spPr>
      </p:cxnSp>
      <p:sp>
        <p:nvSpPr>
          <p:cNvPr id="478" name="Google Shape;478;p13"/>
          <p:cNvSpPr/>
          <p:nvPr/>
        </p:nvSpPr>
        <p:spPr>
          <a:xfrm rot="5400000">
            <a:off x="3703320" y="2459736"/>
            <a:ext cx="128016" cy="128016"/>
          </a:xfrm>
          <a:prstGeom prst="triangle">
            <a:avLst>
              <a:gd fmla="val 50000" name="adj"/>
            </a:avLst>
          </a:prstGeom>
          <a:solidFill>
            <a:srgbClr val="84ADF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479" name="Google Shape;479;p13"/>
          <p:cNvSpPr/>
          <p:nvPr/>
        </p:nvSpPr>
        <p:spPr>
          <a:xfrm>
            <a:off x="621792" y="3282696"/>
            <a:ext cx="1170432" cy="1133856"/>
          </a:xfrm>
          <a:prstGeom prst="roundRect">
            <a:avLst>
              <a:gd fmla="val 16667" name="adj"/>
            </a:avLst>
          </a:prstGeom>
          <a:solidFill>
            <a:srgbClr val="193548"/>
          </a:solidFill>
          <a:ln cap="flat" cmpd="sng" w="15225">
            <a:solidFill>
              <a:srgbClr val="435E84"/>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480" name="Google Shape;480;p13"/>
          <p:cNvSpPr/>
          <p:nvPr/>
        </p:nvSpPr>
        <p:spPr>
          <a:xfrm>
            <a:off x="740664" y="3447288"/>
            <a:ext cx="256032" cy="402336"/>
          </a:xfrm>
          <a:prstGeom prst="rect">
            <a:avLst/>
          </a:prstGeom>
          <a:solidFill>
            <a:srgbClr val="2E5369"/>
          </a:solidFill>
          <a:ln cap="flat" cmpd="sng" w="10150">
            <a:solidFill>
              <a:srgbClr val="8DE1B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cxnSp>
        <p:nvCxnSpPr>
          <p:cNvPr id="481" name="Google Shape;481;p13"/>
          <p:cNvCxnSpPr/>
          <p:nvPr/>
        </p:nvCxnSpPr>
        <p:spPr>
          <a:xfrm>
            <a:off x="781812" y="3566160"/>
            <a:ext cx="169164" cy="0"/>
          </a:xfrm>
          <a:prstGeom prst="straightConnector1">
            <a:avLst/>
          </a:prstGeom>
          <a:noFill/>
          <a:ln cap="flat" cmpd="sng" w="9525">
            <a:solidFill>
              <a:srgbClr val="C7D4E8"/>
            </a:solidFill>
            <a:prstDash val="solid"/>
            <a:miter lim="8000"/>
            <a:headEnd len="sm" w="sm" type="none"/>
            <a:tailEnd len="sm" w="sm" type="none"/>
          </a:ln>
        </p:spPr>
      </p:cxnSp>
      <p:cxnSp>
        <p:nvCxnSpPr>
          <p:cNvPr id="482" name="Google Shape;482;p13"/>
          <p:cNvCxnSpPr/>
          <p:nvPr/>
        </p:nvCxnSpPr>
        <p:spPr>
          <a:xfrm>
            <a:off x="781812" y="3648456"/>
            <a:ext cx="169164" cy="0"/>
          </a:xfrm>
          <a:prstGeom prst="straightConnector1">
            <a:avLst/>
          </a:prstGeom>
          <a:noFill/>
          <a:ln cap="flat" cmpd="sng" w="9525">
            <a:solidFill>
              <a:srgbClr val="C7D4E8"/>
            </a:solidFill>
            <a:prstDash val="solid"/>
            <a:miter lim="8000"/>
            <a:headEnd len="sm" w="sm" type="none"/>
            <a:tailEnd len="sm" w="sm" type="none"/>
          </a:ln>
        </p:spPr>
      </p:cxnSp>
      <p:sp>
        <p:nvSpPr>
          <p:cNvPr id="483" name="Google Shape;483;p13"/>
          <p:cNvSpPr/>
          <p:nvPr/>
        </p:nvSpPr>
        <p:spPr>
          <a:xfrm>
            <a:off x="1051560" y="3447288"/>
            <a:ext cx="256032" cy="402336"/>
          </a:xfrm>
          <a:prstGeom prst="rect">
            <a:avLst/>
          </a:prstGeom>
          <a:solidFill>
            <a:srgbClr val="2E5369"/>
          </a:solidFill>
          <a:ln cap="flat" cmpd="sng" w="10150">
            <a:solidFill>
              <a:srgbClr val="8DE1B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cxnSp>
        <p:nvCxnSpPr>
          <p:cNvPr id="484" name="Google Shape;484;p13"/>
          <p:cNvCxnSpPr/>
          <p:nvPr/>
        </p:nvCxnSpPr>
        <p:spPr>
          <a:xfrm>
            <a:off x="1092708" y="3566160"/>
            <a:ext cx="169164" cy="0"/>
          </a:xfrm>
          <a:prstGeom prst="straightConnector1">
            <a:avLst/>
          </a:prstGeom>
          <a:noFill/>
          <a:ln cap="flat" cmpd="sng" w="9525">
            <a:solidFill>
              <a:srgbClr val="C7D4E8"/>
            </a:solidFill>
            <a:prstDash val="solid"/>
            <a:miter lim="8000"/>
            <a:headEnd len="sm" w="sm" type="none"/>
            <a:tailEnd len="sm" w="sm" type="none"/>
          </a:ln>
        </p:spPr>
      </p:cxnSp>
      <p:cxnSp>
        <p:nvCxnSpPr>
          <p:cNvPr id="485" name="Google Shape;485;p13"/>
          <p:cNvCxnSpPr/>
          <p:nvPr/>
        </p:nvCxnSpPr>
        <p:spPr>
          <a:xfrm>
            <a:off x="1092708" y="3648456"/>
            <a:ext cx="169164" cy="0"/>
          </a:xfrm>
          <a:prstGeom prst="straightConnector1">
            <a:avLst/>
          </a:prstGeom>
          <a:noFill/>
          <a:ln cap="flat" cmpd="sng" w="9525">
            <a:solidFill>
              <a:srgbClr val="C7D4E8"/>
            </a:solidFill>
            <a:prstDash val="solid"/>
            <a:miter lim="8000"/>
            <a:headEnd len="sm" w="sm" type="none"/>
            <a:tailEnd len="sm" w="sm" type="none"/>
          </a:ln>
        </p:spPr>
      </p:cxnSp>
      <p:sp>
        <p:nvSpPr>
          <p:cNvPr id="486" name="Google Shape;486;p13"/>
          <p:cNvSpPr/>
          <p:nvPr/>
        </p:nvSpPr>
        <p:spPr>
          <a:xfrm>
            <a:off x="1362456" y="3447288"/>
            <a:ext cx="256032" cy="402336"/>
          </a:xfrm>
          <a:prstGeom prst="rect">
            <a:avLst/>
          </a:prstGeom>
          <a:solidFill>
            <a:srgbClr val="2E5369"/>
          </a:solidFill>
          <a:ln cap="flat" cmpd="sng" w="10150">
            <a:solidFill>
              <a:srgbClr val="8DE1B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cxnSp>
        <p:nvCxnSpPr>
          <p:cNvPr id="487" name="Google Shape;487;p13"/>
          <p:cNvCxnSpPr/>
          <p:nvPr/>
        </p:nvCxnSpPr>
        <p:spPr>
          <a:xfrm>
            <a:off x="1403604" y="3566160"/>
            <a:ext cx="169164" cy="0"/>
          </a:xfrm>
          <a:prstGeom prst="straightConnector1">
            <a:avLst/>
          </a:prstGeom>
          <a:noFill/>
          <a:ln cap="flat" cmpd="sng" w="9525">
            <a:solidFill>
              <a:srgbClr val="C7D4E8"/>
            </a:solidFill>
            <a:prstDash val="solid"/>
            <a:miter lim="8000"/>
            <a:headEnd len="sm" w="sm" type="none"/>
            <a:tailEnd len="sm" w="sm" type="none"/>
          </a:ln>
        </p:spPr>
      </p:cxnSp>
      <p:cxnSp>
        <p:nvCxnSpPr>
          <p:cNvPr id="488" name="Google Shape;488;p13"/>
          <p:cNvCxnSpPr/>
          <p:nvPr/>
        </p:nvCxnSpPr>
        <p:spPr>
          <a:xfrm>
            <a:off x="1403604" y="3648456"/>
            <a:ext cx="169164" cy="0"/>
          </a:xfrm>
          <a:prstGeom prst="straightConnector1">
            <a:avLst/>
          </a:prstGeom>
          <a:noFill/>
          <a:ln cap="flat" cmpd="sng" w="9525">
            <a:solidFill>
              <a:srgbClr val="C7D4E8"/>
            </a:solidFill>
            <a:prstDash val="solid"/>
            <a:miter lim="8000"/>
            <a:headEnd len="sm" w="sm" type="none"/>
            <a:tailEnd len="sm" w="sm" type="none"/>
          </a:ln>
        </p:spPr>
      </p:cxnSp>
      <p:sp>
        <p:nvSpPr>
          <p:cNvPr id="489" name="Google Shape;489;p13"/>
          <p:cNvSpPr txBox="1"/>
          <p:nvPr/>
        </p:nvSpPr>
        <p:spPr>
          <a:xfrm>
            <a:off x="630936" y="3941063"/>
            <a:ext cx="1152144" cy="283464"/>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US" sz="1400">
                <a:solidFill>
                  <a:srgbClr val="F7F9FD"/>
                </a:solidFill>
                <a:latin typeface="Arial"/>
                <a:ea typeface="Arial"/>
                <a:cs typeface="Arial"/>
                <a:sym typeface="Arial"/>
              </a:rPr>
              <a:t>Schema S</a:t>
            </a:r>
            <a:endParaRPr/>
          </a:p>
        </p:txBody>
      </p:sp>
      <p:sp>
        <p:nvSpPr>
          <p:cNvPr id="490" name="Google Shape;490;p13"/>
          <p:cNvSpPr txBox="1"/>
          <p:nvPr/>
        </p:nvSpPr>
        <p:spPr>
          <a:xfrm>
            <a:off x="1490472" y="3072384"/>
            <a:ext cx="384048" cy="2286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400">
                <a:solidFill>
                  <a:srgbClr val="C7D4E8"/>
                </a:solidFill>
                <a:latin typeface="Arial"/>
                <a:ea typeface="Arial"/>
                <a:cs typeface="Arial"/>
                <a:sym typeface="Arial"/>
              </a:rPr>
              <a:t>(a)</a:t>
            </a:r>
            <a:endParaRPr/>
          </a:p>
        </p:txBody>
      </p:sp>
      <p:sp>
        <p:nvSpPr>
          <p:cNvPr id="491" name="Google Shape;491;p13"/>
          <p:cNvSpPr/>
          <p:nvPr/>
        </p:nvSpPr>
        <p:spPr>
          <a:xfrm>
            <a:off x="1956816" y="3483864"/>
            <a:ext cx="1444752" cy="694944"/>
          </a:xfrm>
          <a:prstGeom prst="roundRect">
            <a:avLst>
              <a:gd fmla="val 16667" name="adj"/>
            </a:avLst>
          </a:prstGeom>
          <a:solidFill>
            <a:srgbClr val="1F3957"/>
          </a:solidFill>
          <a:ln cap="flat" cmpd="sng" w="16500">
            <a:solidFill>
              <a:srgbClr val="84ADF7"/>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492" name="Google Shape;492;p13"/>
          <p:cNvSpPr txBox="1"/>
          <p:nvPr/>
        </p:nvSpPr>
        <p:spPr>
          <a:xfrm>
            <a:off x="2039112" y="3602736"/>
            <a:ext cx="1280160" cy="246888"/>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US" sz="1550">
                <a:solidFill>
                  <a:srgbClr val="F7F9FD"/>
                </a:solidFill>
                <a:latin typeface="Arial"/>
                <a:ea typeface="Arial"/>
                <a:cs typeface="Arial"/>
                <a:sym typeface="Arial"/>
              </a:rPr>
              <a:t>Iterate</a:t>
            </a:r>
            <a:endParaRPr/>
          </a:p>
        </p:txBody>
      </p:sp>
      <p:sp>
        <p:nvSpPr>
          <p:cNvPr id="493" name="Google Shape;493;p13"/>
          <p:cNvSpPr txBox="1"/>
          <p:nvPr/>
        </p:nvSpPr>
        <p:spPr>
          <a:xfrm>
            <a:off x="2048256" y="3877056"/>
            <a:ext cx="1261872" cy="256032"/>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0" lang="en-US" sz="1400">
                <a:solidFill>
                  <a:srgbClr val="C7D4E8"/>
                </a:solidFill>
                <a:latin typeface="Arial"/>
                <a:ea typeface="Arial"/>
                <a:cs typeface="Arial"/>
                <a:sym typeface="Arial"/>
              </a:rPr>
              <a:t>FK-BFS</a:t>
            </a:r>
            <a:endParaRPr/>
          </a:p>
        </p:txBody>
      </p:sp>
      <p:sp>
        <p:nvSpPr>
          <p:cNvPr id="494" name="Google Shape;494;p13"/>
          <p:cNvSpPr/>
          <p:nvPr/>
        </p:nvSpPr>
        <p:spPr>
          <a:xfrm>
            <a:off x="3776472" y="2148840"/>
            <a:ext cx="2103120" cy="758952"/>
          </a:xfrm>
          <a:prstGeom prst="roundRect">
            <a:avLst>
              <a:gd fmla="val 16667" name="adj"/>
            </a:avLst>
          </a:prstGeom>
          <a:solidFill>
            <a:srgbClr val="3D495F"/>
          </a:solidFill>
          <a:ln cap="flat" cmpd="sng" w="29200">
            <a:solidFill>
              <a:srgbClr val="F9AB5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495" name="Google Shape;495;p13"/>
          <p:cNvSpPr txBox="1"/>
          <p:nvPr/>
        </p:nvSpPr>
        <p:spPr>
          <a:xfrm>
            <a:off x="3849624" y="1938528"/>
            <a:ext cx="384048" cy="2286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400">
                <a:solidFill>
                  <a:srgbClr val="F9AB5E"/>
                </a:solidFill>
                <a:latin typeface="Arial"/>
                <a:ea typeface="Arial"/>
                <a:cs typeface="Arial"/>
                <a:sym typeface="Arial"/>
              </a:rPr>
              <a:t>(b)</a:t>
            </a:r>
            <a:endParaRPr/>
          </a:p>
        </p:txBody>
      </p:sp>
      <p:sp>
        <p:nvSpPr>
          <p:cNvPr id="496" name="Google Shape;496;p13"/>
          <p:cNvSpPr txBox="1"/>
          <p:nvPr/>
        </p:nvSpPr>
        <p:spPr>
          <a:xfrm>
            <a:off x="3858768" y="2267712"/>
            <a:ext cx="1938527" cy="246888"/>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US" sz="1550">
                <a:solidFill>
                  <a:srgbClr val="F7F9FD"/>
                </a:solidFill>
                <a:latin typeface="Arial"/>
                <a:ea typeface="Arial"/>
                <a:cs typeface="Arial"/>
                <a:sym typeface="Arial"/>
              </a:rPr>
              <a:t>Direct mapping</a:t>
            </a:r>
            <a:endParaRPr/>
          </a:p>
        </p:txBody>
      </p:sp>
      <p:sp>
        <p:nvSpPr>
          <p:cNvPr id="497" name="Google Shape;497;p13"/>
          <p:cNvSpPr txBox="1"/>
          <p:nvPr/>
        </p:nvSpPr>
        <p:spPr>
          <a:xfrm>
            <a:off x="3867911" y="2542032"/>
            <a:ext cx="1920239" cy="32004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0" lang="en-US" sz="1400">
                <a:solidFill>
                  <a:srgbClr val="C7D4E8"/>
                </a:solidFill>
                <a:latin typeface="Arial"/>
                <a:ea typeface="Arial"/>
                <a:cs typeface="Arial"/>
                <a:sym typeface="Arial"/>
              </a:rPr>
              <a:t>OWL seed DMᵣ</a:t>
            </a:r>
            <a:endParaRPr/>
          </a:p>
        </p:txBody>
      </p:sp>
      <p:sp>
        <p:nvSpPr>
          <p:cNvPr id="498" name="Google Shape;498;p13"/>
          <p:cNvSpPr/>
          <p:nvPr/>
        </p:nvSpPr>
        <p:spPr>
          <a:xfrm>
            <a:off x="7059168" y="3118104"/>
            <a:ext cx="4114800" cy="1591056"/>
          </a:xfrm>
          <a:prstGeom prst="roundRect">
            <a:avLst>
              <a:gd fmla="val 16667" name="adj"/>
            </a:avLst>
          </a:prstGeom>
          <a:solidFill>
            <a:srgbClr val="253B57"/>
          </a:solidFill>
          <a:ln cap="flat" cmpd="sng" w="20300">
            <a:solidFill>
              <a:srgbClr val="F9AB5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499" name="Google Shape;499;p13"/>
          <p:cNvSpPr txBox="1"/>
          <p:nvPr/>
        </p:nvSpPr>
        <p:spPr>
          <a:xfrm>
            <a:off x="7315200" y="3355848"/>
            <a:ext cx="3611880" cy="237744"/>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800">
                <a:solidFill>
                  <a:srgbClr val="F9AB5E"/>
                </a:solidFill>
                <a:latin typeface="Arial"/>
                <a:ea typeface="Arial"/>
                <a:cs typeface="Arial"/>
                <a:sym typeface="Arial"/>
              </a:rPr>
              <a:t>WHY SEED FIRST?</a:t>
            </a:r>
            <a:endParaRPr/>
          </a:p>
        </p:txBody>
      </p:sp>
      <p:sp>
        <p:nvSpPr>
          <p:cNvPr id="500" name="Google Shape;500;p13"/>
          <p:cNvSpPr txBox="1"/>
          <p:nvPr/>
        </p:nvSpPr>
        <p:spPr>
          <a:xfrm>
            <a:off x="7315200" y="3721608"/>
            <a:ext cx="3593592" cy="758952"/>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US" sz="1700">
                <a:solidFill>
                  <a:srgbClr val="F7F9FD"/>
                </a:solidFill>
                <a:latin typeface="Arial"/>
                <a:ea typeface="Arial"/>
                <a:cs typeface="Arial"/>
                <a:sym typeface="Arial"/>
              </a:rPr>
              <a:t>Tables, columns and foreign keys are represented before semantic enrichment.</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427"/>
        </a:solidFill>
      </p:bgPr>
    </p:bg>
    <p:spTree>
      <p:nvGrpSpPr>
        <p:cNvPr id="505" name="Shape 505"/>
        <p:cNvGrpSpPr/>
        <p:nvPr/>
      </p:nvGrpSpPr>
      <p:grpSpPr>
        <a:xfrm>
          <a:off x="0" y="0"/>
          <a:ext cx="0" cy="0"/>
          <a:chOff x="0" y="0"/>
          <a:chExt cx="0" cy="0"/>
        </a:xfrm>
      </p:grpSpPr>
      <p:sp>
        <p:nvSpPr>
          <p:cNvPr id="506" name="Google Shape;506;p14"/>
          <p:cNvSpPr txBox="1"/>
          <p:nvPr/>
        </p:nvSpPr>
        <p:spPr>
          <a:xfrm>
            <a:off x="512064" y="320040"/>
            <a:ext cx="6675120" cy="301752"/>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500">
                <a:solidFill>
                  <a:srgbClr val="F9AB5E"/>
                </a:solidFill>
                <a:latin typeface="Arial"/>
                <a:ea typeface="Arial"/>
                <a:cs typeface="Arial"/>
                <a:sym typeface="Arial"/>
              </a:rPr>
              <a:t>RIGOR  /  REASSEMBLING THE ARCHITECTURE</a:t>
            </a:r>
            <a:endParaRPr/>
          </a:p>
        </p:txBody>
      </p:sp>
      <p:sp>
        <p:nvSpPr>
          <p:cNvPr id="507" name="Google Shape;507;p14"/>
          <p:cNvSpPr txBox="1"/>
          <p:nvPr/>
        </p:nvSpPr>
        <p:spPr>
          <a:xfrm>
            <a:off x="512064" y="685800"/>
            <a:ext cx="10881360" cy="475488"/>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2900">
                <a:solidFill>
                  <a:srgbClr val="F7F9FD"/>
                </a:solidFill>
                <a:latin typeface="Arial"/>
                <a:ea typeface="Arial"/>
                <a:cs typeface="Arial"/>
                <a:sym typeface="Arial"/>
              </a:rPr>
              <a:t>3. Retrieve the missing semantics</a:t>
            </a:r>
            <a:endParaRPr/>
          </a:p>
        </p:txBody>
      </p:sp>
      <p:sp>
        <p:nvSpPr>
          <p:cNvPr id="508" name="Google Shape;508;p14"/>
          <p:cNvSpPr txBox="1"/>
          <p:nvPr/>
        </p:nvSpPr>
        <p:spPr>
          <a:xfrm>
            <a:off x="512064" y="1271016"/>
            <a:ext cx="10607040" cy="310896"/>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US" sz="1600">
                <a:solidFill>
                  <a:srgbClr val="C7D4E8"/>
                </a:solidFill>
                <a:latin typeface="Arial"/>
                <a:ea typeface="Arial"/>
                <a:cs typeface="Arial"/>
                <a:sym typeface="Arial"/>
              </a:rPr>
              <a:t>Paper Fig. 1(c–e)  ·  Context is retrieved independently from three sources.</a:t>
            </a:r>
            <a:endParaRPr/>
          </a:p>
        </p:txBody>
      </p:sp>
      <p:sp>
        <p:nvSpPr>
          <p:cNvPr id="509" name="Google Shape;509;p14"/>
          <p:cNvSpPr/>
          <p:nvPr/>
        </p:nvSpPr>
        <p:spPr>
          <a:xfrm>
            <a:off x="9692640" y="356616"/>
            <a:ext cx="274320" cy="64008"/>
          </a:xfrm>
          <a:prstGeom prst="rect">
            <a:avLst/>
          </a:prstGeom>
          <a:solidFill>
            <a:srgbClr val="F9AB5E"/>
          </a:solidFill>
          <a:ln cap="flat" cmpd="sng" w="9525">
            <a:solidFill>
              <a:srgbClr val="F9AB5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510" name="Google Shape;510;p14"/>
          <p:cNvSpPr/>
          <p:nvPr/>
        </p:nvSpPr>
        <p:spPr>
          <a:xfrm>
            <a:off x="10049256" y="356616"/>
            <a:ext cx="274320" cy="64008"/>
          </a:xfrm>
          <a:prstGeom prst="rect">
            <a:avLst/>
          </a:prstGeom>
          <a:solidFill>
            <a:srgbClr val="F9AB5E"/>
          </a:solidFill>
          <a:ln cap="flat" cmpd="sng" w="9525">
            <a:solidFill>
              <a:srgbClr val="F9AB5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511" name="Google Shape;511;p14"/>
          <p:cNvSpPr/>
          <p:nvPr/>
        </p:nvSpPr>
        <p:spPr>
          <a:xfrm>
            <a:off x="10405872" y="356616"/>
            <a:ext cx="274320" cy="64008"/>
          </a:xfrm>
          <a:prstGeom prst="rect">
            <a:avLst/>
          </a:prstGeom>
          <a:solidFill>
            <a:srgbClr val="F9AB5E"/>
          </a:solidFill>
          <a:ln cap="flat" cmpd="sng" w="9525">
            <a:solidFill>
              <a:srgbClr val="F9AB5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512" name="Google Shape;512;p14"/>
          <p:cNvSpPr/>
          <p:nvPr/>
        </p:nvSpPr>
        <p:spPr>
          <a:xfrm>
            <a:off x="10762488" y="356616"/>
            <a:ext cx="274320" cy="64008"/>
          </a:xfrm>
          <a:prstGeom prst="rect">
            <a:avLst/>
          </a:prstGeom>
          <a:solidFill>
            <a:srgbClr val="455B7A"/>
          </a:solidFill>
          <a:ln cap="flat" cmpd="sng" w="9525">
            <a:solidFill>
              <a:srgbClr val="455B7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513" name="Google Shape;513;p14"/>
          <p:cNvSpPr/>
          <p:nvPr/>
        </p:nvSpPr>
        <p:spPr>
          <a:xfrm>
            <a:off x="11119104" y="356616"/>
            <a:ext cx="274320" cy="64008"/>
          </a:xfrm>
          <a:prstGeom prst="rect">
            <a:avLst/>
          </a:prstGeom>
          <a:solidFill>
            <a:srgbClr val="455B7A"/>
          </a:solidFill>
          <a:ln cap="flat" cmpd="sng" w="9525">
            <a:solidFill>
              <a:srgbClr val="455B7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514" name="Google Shape;514;p14"/>
          <p:cNvSpPr/>
          <p:nvPr/>
        </p:nvSpPr>
        <p:spPr>
          <a:xfrm>
            <a:off x="11475720" y="356616"/>
            <a:ext cx="274320" cy="64008"/>
          </a:xfrm>
          <a:prstGeom prst="rect">
            <a:avLst/>
          </a:prstGeom>
          <a:solidFill>
            <a:srgbClr val="455B7A"/>
          </a:solidFill>
          <a:ln cap="flat" cmpd="sng" w="9525">
            <a:solidFill>
              <a:srgbClr val="455B7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515" name="Google Shape;515;p14"/>
          <p:cNvSpPr/>
          <p:nvPr/>
        </p:nvSpPr>
        <p:spPr>
          <a:xfrm>
            <a:off x="438912" y="1792224"/>
            <a:ext cx="11301984" cy="4187952"/>
          </a:xfrm>
          <a:prstGeom prst="roundRect">
            <a:avLst>
              <a:gd fmla="val 16667" name="adj"/>
            </a:avLst>
          </a:prstGeom>
          <a:solidFill>
            <a:srgbClr val="132641"/>
          </a:solidFill>
          <a:ln cap="flat" cmpd="sng" w="12700">
            <a:solidFill>
              <a:srgbClr val="304C7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516" name="Google Shape;516;p14"/>
          <p:cNvSpPr txBox="1"/>
          <p:nvPr/>
        </p:nvSpPr>
        <p:spPr>
          <a:xfrm>
            <a:off x="566928" y="6208776"/>
            <a:ext cx="10881360" cy="292608"/>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550">
                <a:solidFill>
                  <a:srgbClr val="F7F9FD"/>
                </a:solidFill>
                <a:latin typeface="Arial"/>
                <a:ea typeface="Arial"/>
                <a:cs typeface="Arial"/>
                <a:sym typeface="Arial"/>
              </a:rPr>
              <a:t>Recall slide 8  •  Three sources feed generation: external ontologies, documentation, and core.</a:t>
            </a:r>
            <a:endParaRPr/>
          </a:p>
        </p:txBody>
      </p:sp>
      <p:sp>
        <p:nvSpPr>
          <p:cNvPr id="517" name="Google Shape;517;p14"/>
          <p:cNvSpPr txBox="1"/>
          <p:nvPr/>
        </p:nvSpPr>
        <p:spPr>
          <a:xfrm>
            <a:off x="10917936" y="6519672"/>
            <a:ext cx="804672" cy="182880"/>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r>
              <a:rPr b="0" lang="en-US" sz="1400">
                <a:solidFill>
                  <a:srgbClr val="C7D4E8"/>
                </a:solidFill>
                <a:latin typeface="Arial"/>
                <a:ea typeface="Arial"/>
                <a:cs typeface="Arial"/>
                <a:sym typeface="Arial"/>
              </a:rPr>
              <a:t>3 / 6</a:t>
            </a:r>
            <a:endParaRPr/>
          </a:p>
        </p:txBody>
      </p:sp>
      <p:cxnSp>
        <p:nvCxnSpPr>
          <p:cNvPr id="518" name="Google Shape;518;p14"/>
          <p:cNvCxnSpPr/>
          <p:nvPr/>
        </p:nvCxnSpPr>
        <p:spPr>
          <a:xfrm>
            <a:off x="1792224" y="3831336"/>
            <a:ext cx="164592" cy="0"/>
          </a:xfrm>
          <a:prstGeom prst="straightConnector1">
            <a:avLst/>
          </a:prstGeom>
          <a:noFill/>
          <a:ln cap="flat" cmpd="sng" w="38100">
            <a:solidFill>
              <a:srgbClr val="84ADF7"/>
            </a:solidFill>
            <a:prstDash val="solid"/>
            <a:miter lim="8000"/>
            <a:headEnd len="sm" w="sm" type="none"/>
            <a:tailEnd len="sm" w="sm" type="none"/>
          </a:ln>
        </p:spPr>
      </p:cxnSp>
      <p:sp>
        <p:nvSpPr>
          <p:cNvPr id="519" name="Google Shape;519;p14"/>
          <p:cNvSpPr/>
          <p:nvPr/>
        </p:nvSpPr>
        <p:spPr>
          <a:xfrm rot="5400000">
            <a:off x="1892808" y="3767328"/>
            <a:ext cx="128016" cy="128016"/>
          </a:xfrm>
          <a:prstGeom prst="triangle">
            <a:avLst>
              <a:gd fmla="val 50000" name="adj"/>
            </a:avLst>
          </a:prstGeom>
          <a:solidFill>
            <a:srgbClr val="84ADF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cxnSp>
        <p:nvCxnSpPr>
          <p:cNvPr id="520" name="Google Shape;520;p14"/>
          <p:cNvCxnSpPr/>
          <p:nvPr/>
        </p:nvCxnSpPr>
        <p:spPr>
          <a:xfrm>
            <a:off x="3401568" y="3794760"/>
            <a:ext cx="100584" cy="0"/>
          </a:xfrm>
          <a:prstGeom prst="straightConnector1">
            <a:avLst/>
          </a:prstGeom>
          <a:noFill/>
          <a:ln cap="flat" cmpd="sng" w="29200">
            <a:solidFill>
              <a:srgbClr val="84ADF7"/>
            </a:solidFill>
            <a:prstDash val="solid"/>
            <a:miter lim="8000"/>
            <a:headEnd len="sm" w="sm" type="none"/>
            <a:tailEnd len="sm" w="sm" type="none"/>
          </a:ln>
        </p:spPr>
      </p:cxnSp>
      <p:cxnSp>
        <p:nvCxnSpPr>
          <p:cNvPr id="521" name="Google Shape;521;p14"/>
          <p:cNvCxnSpPr/>
          <p:nvPr/>
        </p:nvCxnSpPr>
        <p:spPr>
          <a:xfrm rot="10800000">
            <a:off x="3502152" y="2523744"/>
            <a:ext cx="0" cy="1271016"/>
          </a:xfrm>
          <a:prstGeom prst="straightConnector1">
            <a:avLst/>
          </a:prstGeom>
          <a:noFill/>
          <a:ln cap="flat" cmpd="sng" w="29200">
            <a:solidFill>
              <a:srgbClr val="84ADF7"/>
            </a:solidFill>
            <a:prstDash val="solid"/>
            <a:miter lim="8000"/>
            <a:headEnd len="sm" w="sm" type="none"/>
            <a:tailEnd len="sm" w="sm" type="none"/>
          </a:ln>
        </p:spPr>
      </p:cxnSp>
      <p:cxnSp>
        <p:nvCxnSpPr>
          <p:cNvPr id="522" name="Google Shape;522;p14"/>
          <p:cNvCxnSpPr/>
          <p:nvPr/>
        </p:nvCxnSpPr>
        <p:spPr>
          <a:xfrm>
            <a:off x="3502152" y="2523744"/>
            <a:ext cx="265176" cy="0"/>
          </a:xfrm>
          <a:prstGeom prst="straightConnector1">
            <a:avLst/>
          </a:prstGeom>
          <a:noFill/>
          <a:ln cap="flat" cmpd="sng" w="29200">
            <a:solidFill>
              <a:srgbClr val="84ADF7"/>
            </a:solidFill>
            <a:prstDash val="solid"/>
            <a:miter lim="8000"/>
            <a:headEnd len="sm" w="sm" type="none"/>
            <a:tailEnd len="sm" w="sm" type="none"/>
          </a:ln>
        </p:spPr>
      </p:cxnSp>
      <p:sp>
        <p:nvSpPr>
          <p:cNvPr id="523" name="Google Shape;523;p14"/>
          <p:cNvSpPr/>
          <p:nvPr/>
        </p:nvSpPr>
        <p:spPr>
          <a:xfrm rot="5400000">
            <a:off x="3703320" y="2459736"/>
            <a:ext cx="128016" cy="128016"/>
          </a:xfrm>
          <a:prstGeom prst="triangle">
            <a:avLst>
              <a:gd fmla="val 50000" name="adj"/>
            </a:avLst>
          </a:prstGeom>
          <a:solidFill>
            <a:srgbClr val="84ADF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cxnSp>
        <p:nvCxnSpPr>
          <p:cNvPr id="524" name="Google Shape;524;p14"/>
          <p:cNvCxnSpPr/>
          <p:nvPr/>
        </p:nvCxnSpPr>
        <p:spPr>
          <a:xfrm>
            <a:off x="3401568" y="3931920"/>
            <a:ext cx="118872" cy="0"/>
          </a:xfrm>
          <a:prstGeom prst="straightConnector1">
            <a:avLst/>
          </a:prstGeom>
          <a:noFill/>
          <a:ln cap="flat" cmpd="sng" w="26650">
            <a:solidFill>
              <a:srgbClr val="84ADF7"/>
            </a:solidFill>
            <a:prstDash val="solid"/>
            <a:miter lim="8000"/>
            <a:headEnd len="sm" w="sm" type="none"/>
            <a:tailEnd len="sm" w="sm" type="none"/>
          </a:ln>
        </p:spPr>
      </p:cxnSp>
      <p:cxnSp>
        <p:nvCxnSpPr>
          <p:cNvPr id="525" name="Google Shape;525;p14"/>
          <p:cNvCxnSpPr/>
          <p:nvPr/>
        </p:nvCxnSpPr>
        <p:spPr>
          <a:xfrm rot="10800000">
            <a:off x="3520440" y="3621024"/>
            <a:ext cx="0" cy="310896"/>
          </a:xfrm>
          <a:prstGeom prst="straightConnector1">
            <a:avLst/>
          </a:prstGeom>
          <a:noFill/>
          <a:ln cap="flat" cmpd="sng" w="26650">
            <a:solidFill>
              <a:srgbClr val="84ADF7"/>
            </a:solidFill>
            <a:prstDash val="solid"/>
            <a:miter lim="8000"/>
            <a:headEnd len="sm" w="sm" type="none"/>
            <a:tailEnd len="sm" w="sm" type="none"/>
          </a:ln>
        </p:spPr>
      </p:cxnSp>
      <p:cxnSp>
        <p:nvCxnSpPr>
          <p:cNvPr id="526" name="Google Shape;526;p14"/>
          <p:cNvCxnSpPr/>
          <p:nvPr/>
        </p:nvCxnSpPr>
        <p:spPr>
          <a:xfrm>
            <a:off x="3520440" y="3621024"/>
            <a:ext cx="256032" cy="0"/>
          </a:xfrm>
          <a:prstGeom prst="straightConnector1">
            <a:avLst/>
          </a:prstGeom>
          <a:noFill/>
          <a:ln cap="flat" cmpd="sng" w="26650">
            <a:solidFill>
              <a:srgbClr val="84ADF7"/>
            </a:solidFill>
            <a:prstDash val="solid"/>
            <a:miter lim="8000"/>
            <a:headEnd len="sm" w="sm" type="none"/>
            <a:tailEnd len="sm" w="sm" type="none"/>
          </a:ln>
        </p:spPr>
      </p:cxnSp>
      <p:sp>
        <p:nvSpPr>
          <p:cNvPr id="527" name="Google Shape;527;p14"/>
          <p:cNvSpPr/>
          <p:nvPr/>
        </p:nvSpPr>
        <p:spPr>
          <a:xfrm rot="5400000">
            <a:off x="3712463" y="3557016"/>
            <a:ext cx="128016" cy="128016"/>
          </a:xfrm>
          <a:prstGeom prst="triangle">
            <a:avLst>
              <a:gd fmla="val 50000" name="adj"/>
            </a:avLst>
          </a:prstGeom>
          <a:solidFill>
            <a:srgbClr val="84ADF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cxnSp>
        <p:nvCxnSpPr>
          <p:cNvPr id="528" name="Google Shape;528;p14"/>
          <p:cNvCxnSpPr/>
          <p:nvPr/>
        </p:nvCxnSpPr>
        <p:spPr>
          <a:xfrm>
            <a:off x="3401568" y="3931920"/>
            <a:ext cx="118872" cy="0"/>
          </a:xfrm>
          <a:prstGeom prst="straightConnector1">
            <a:avLst/>
          </a:prstGeom>
          <a:noFill/>
          <a:ln cap="flat" cmpd="sng" w="26650">
            <a:solidFill>
              <a:srgbClr val="84ADF7"/>
            </a:solidFill>
            <a:prstDash val="solid"/>
            <a:miter lim="8000"/>
            <a:headEnd len="sm" w="sm" type="none"/>
            <a:tailEnd len="sm" w="sm" type="none"/>
          </a:ln>
        </p:spPr>
      </p:cxnSp>
      <p:cxnSp>
        <p:nvCxnSpPr>
          <p:cNvPr id="529" name="Google Shape;529;p14"/>
          <p:cNvCxnSpPr/>
          <p:nvPr/>
        </p:nvCxnSpPr>
        <p:spPr>
          <a:xfrm>
            <a:off x="3520440" y="3931920"/>
            <a:ext cx="0" cy="384048"/>
          </a:xfrm>
          <a:prstGeom prst="straightConnector1">
            <a:avLst/>
          </a:prstGeom>
          <a:noFill/>
          <a:ln cap="flat" cmpd="sng" w="26650">
            <a:solidFill>
              <a:srgbClr val="84ADF7"/>
            </a:solidFill>
            <a:prstDash val="solid"/>
            <a:miter lim="8000"/>
            <a:headEnd len="sm" w="sm" type="none"/>
            <a:tailEnd len="sm" w="sm" type="none"/>
          </a:ln>
        </p:spPr>
      </p:cxnSp>
      <p:cxnSp>
        <p:nvCxnSpPr>
          <p:cNvPr id="530" name="Google Shape;530;p14"/>
          <p:cNvCxnSpPr/>
          <p:nvPr/>
        </p:nvCxnSpPr>
        <p:spPr>
          <a:xfrm>
            <a:off x="3520440" y="4315968"/>
            <a:ext cx="256032" cy="0"/>
          </a:xfrm>
          <a:prstGeom prst="straightConnector1">
            <a:avLst/>
          </a:prstGeom>
          <a:noFill/>
          <a:ln cap="flat" cmpd="sng" w="26650">
            <a:solidFill>
              <a:srgbClr val="84ADF7"/>
            </a:solidFill>
            <a:prstDash val="solid"/>
            <a:miter lim="8000"/>
            <a:headEnd len="sm" w="sm" type="none"/>
            <a:tailEnd len="sm" w="sm" type="none"/>
          </a:ln>
        </p:spPr>
      </p:cxnSp>
      <p:sp>
        <p:nvSpPr>
          <p:cNvPr id="531" name="Google Shape;531;p14"/>
          <p:cNvSpPr/>
          <p:nvPr/>
        </p:nvSpPr>
        <p:spPr>
          <a:xfrm rot="5400000">
            <a:off x="3712463" y="4251959"/>
            <a:ext cx="128016" cy="128016"/>
          </a:xfrm>
          <a:prstGeom prst="triangle">
            <a:avLst>
              <a:gd fmla="val 50000" name="adj"/>
            </a:avLst>
          </a:prstGeom>
          <a:solidFill>
            <a:srgbClr val="84ADF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cxnSp>
        <p:nvCxnSpPr>
          <p:cNvPr id="532" name="Google Shape;532;p14"/>
          <p:cNvCxnSpPr/>
          <p:nvPr/>
        </p:nvCxnSpPr>
        <p:spPr>
          <a:xfrm>
            <a:off x="3401568" y="3931920"/>
            <a:ext cx="118872" cy="0"/>
          </a:xfrm>
          <a:prstGeom prst="straightConnector1">
            <a:avLst/>
          </a:prstGeom>
          <a:noFill/>
          <a:ln cap="flat" cmpd="sng" w="26650">
            <a:solidFill>
              <a:srgbClr val="84ADF7"/>
            </a:solidFill>
            <a:prstDash val="solid"/>
            <a:miter lim="8000"/>
            <a:headEnd len="sm" w="sm" type="none"/>
            <a:tailEnd len="sm" w="sm" type="none"/>
          </a:ln>
        </p:spPr>
      </p:cxnSp>
      <p:cxnSp>
        <p:nvCxnSpPr>
          <p:cNvPr id="533" name="Google Shape;533;p14"/>
          <p:cNvCxnSpPr/>
          <p:nvPr/>
        </p:nvCxnSpPr>
        <p:spPr>
          <a:xfrm>
            <a:off x="3520440" y="3931920"/>
            <a:ext cx="0" cy="1078992"/>
          </a:xfrm>
          <a:prstGeom prst="straightConnector1">
            <a:avLst/>
          </a:prstGeom>
          <a:noFill/>
          <a:ln cap="flat" cmpd="sng" w="26650">
            <a:solidFill>
              <a:srgbClr val="84ADF7"/>
            </a:solidFill>
            <a:prstDash val="solid"/>
            <a:miter lim="8000"/>
            <a:headEnd len="sm" w="sm" type="none"/>
            <a:tailEnd len="sm" w="sm" type="none"/>
          </a:ln>
        </p:spPr>
      </p:cxnSp>
      <p:cxnSp>
        <p:nvCxnSpPr>
          <p:cNvPr id="534" name="Google Shape;534;p14"/>
          <p:cNvCxnSpPr/>
          <p:nvPr/>
        </p:nvCxnSpPr>
        <p:spPr>
          <a:xfrm>
            <a:off x="3520440" y="5010912"/>
            <a:ext cx="256032" cy="0"/>
          </a:xfrm>
          <a:prstGeom prst="straightConnector1">
            <a:avLst/>
          </a:prstGeom>
          <a:noFill/>
          <a:ln cap="flat" cmpd="sng" w="26650">
            <a:solidFill>
              <a:srgbClr val="84ADF7"/>
            </a:solidFill>
            <a:prstDash val="solid"/>
            <a:miter lim="8000"/>
            <a:headEnd len="sm" w="sm" type="none"/>
            <a:tailEnd len="sm" w="sm" type="none"/>
          </a:ln>
        </p:spPr>
      </p:cxnSp>
      <p:sp>
        <p:nvSpPr>
          <p:cNvPr id="535" name="Google Shape;535;p14"/>
          <p:cNvSpPr/>
          <p:nvPr/>
        </p:nvSpPr>
        <p:spPr>
          <a:xfrm rot="5400000">
            <a:off x="3712463" y="4946904"/>
            <a:ext cx="128016" cy="128016"/>
          </a:xfrm>
          <a:prstGeom prst="triangle">
            <a:avLst>
              <a:gd fmla="val 50000" name="adj"/>
            </a:avLst>
          </a:prstGeom>
          <a:solidFill>
            <a:srgbClr val="84ADF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536" name="Google Shape;536;p14"/>
          <p:cNvSpPr/>
          <p:nvPr/>
        </p:nvSpPr>
        <p:spPr>
          <a:xfrm>
            <a:off x="621792" y="3282696"/>
            <a:ext cx="1170432" cy="1133856"/>
          </a:xfrm>
          <a:prstGeom prst="roundRect">
            <a:avLst>
              <a:gd fmla="val 16667" name="adj"/>
            </a:avLst>
          </a:prstGeom>
          <a:solidFill>
            <a:srgbClr val="193548"/>
          </a:solidFill>
          <a:ln cap="flat" cmpd="sng" w="15225">
            <a:solidFill>
              <a:srgbClr val="435E84"/>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537" name="Google Shape;537;p14"/>
          <p:cNvSpPr/>
          <p:nvPr/>
        </p:nvSpPr>
        <p:spPr>
          <a:xfrm>
            <a:off x="740664" y="3447288"/>
            <a:ext cx="256032" cy="402336"/>
          </a:xfrm>
          <a:prstGeom prst="rect">
            <a:avLst/>
          </a:prstGeom>
          <a:solidFill>
            <a:srgbClr val="2E5369"/>
          </a:solidFill>
          <a:ln cap="flat" cmpd="sng" w="10150">
            <a:solidFill>
              <a:srgbClr val="8DE1B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cxnSp>
        <p:nvCxnSpPr>
          <p:cNvPr id="538" name="Google Shape;538;p14"/>
          <p:cNvCxnSpPr/>
          <p:nvPr/>
        </p:nvCxnSpPr>
        <p:spPr>
          <a:xfrm>
            <a:off x="781812" y="3566160"/>
            <a:ext cx="169164" cy="0"/>
          </a:xfrm>
          <a:prstGeom prst="straightConnector1">
            <a:avLst/>
          </a:prstGeom>
          <a:noFill/>
          <a:ln cap="flat" cmpd="sng" w="9525">
            <a:solidFill>
              <a:srgbClr val="C7D4E8"/>
            </a:solidFill>
            <a:prstDash val="solid"/>
            <a:miter lim="8000"/>
            <a:headEnd len="sm" w="sm" type="none"/>
            <a:tailEnd len="sm" w="sm" type="none"/>
          </a:ln>
        </p:spPr>
      </p:cxnSp>
      <p:cxnSp>
        <p:nvCxnSpPr>
          <p:cNvPr id="539" name="Google Shape;539;p14"/>
          <p:cNvCxnSpPr/>
          <p:nvPr/>
        </p:nvCxnSpPr>
        <p:spPr>
          <a:xfrm>
            <a:off x="781812" y="3648456"/>
            <a:ext cx="169164" cy="0"/>
          </a:xfrm>
          <a:prstGeom prst="straightConnector1">
            <a:avLst/>
          </a:prstGeom>
          <a:noFill/>
          <a:ln cap="flat" cmpd="sng" w="9525">
            <a:solidFill>
              <a:srgbClr val="C7D4E8"/>
            </a:solidFill>
            <a:prstDash val="solid"/>
            <a:miter lim="8000"/>
            <a:headEnd len="sm" w="sm" type="none"/>
            <a:tailEnd len="sm" w="sm" type="none"/>
          </a:ln>
        </p:spPr>
      </p:cxnSp>
      <p:sp>
        <p:nvSpPr>
          <p:cNvPr id="540" name="Google Shape;540;p14"/>
          <p:cNvSpPr/>
          <p:nvPr/>
        </p:nvSpPr>
        <p:spPr>
          <a:xfrm>
            <a:off x="1051560" y="3447288"/>
            <a:ext cx="256032" cy="402336"/>
          </a:xfrm>
          <a:prstGeom prst="rect">
            <a:avLst/>
          </a:prstGeom>
          <a:solidFill>
            <a:srgbClr val="2E5369"/>
          </a:solidFill>
          <a:ln cap="flat" cmpd="sng" w="10150">
            <a:solidFill>
              <a:srgbClr val="8DE1B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cxnSp>
        <p:nvCxnSpPr>
          <p:cNvPr id="541" name="Google Shape;541;p14"/>
          <p:cNvCxnSpPr/>
          <p:nvPr/>
        </p:nvCxnSpPr>
        <p:spPr>
          <a:xfrm>
            <a:off x="1092708" y="3566160"/>
            <a:ext cx="169164" cy="0"/>
          </a:xfrm>
          <a:prstGeom prst="straightConnector1">
            <a:avLst/>
          </a:prstGeom>
          <a:noFill/>
          <a:ln cap="flat" cmpd="sng" w="9525">
            <a:solidFill>
              <a:srgbClr val="C7D4E8"/>
            </a:solidFill>
            <a:prstDash val="solid"/>
            <a:miter lim="8000"/>
            <a:headEnd len="sm" w="sm" type="none"/>
            <a:tailEnd len="sm" w="sm" type="none"/>
          </a:ln>
        </p:spPr>
      </p:cxnSp>
      <p:cxnSp>
        <p:nvCxnSpPr>
          <p:cNvPr id="542" name="Google Shape;542;p14"/>
          <p:cNvCxnSpPr/>
          <p:nvPr/>
        </p:nvCxnSpPr>
        <p:spPr>
          <a:xfrm>
            <a:off x="1092708" y="3648456"/>
            <a:ext cx="169164" cy="0"/>
          </a:xfrm>
          <a:prstGeom prst="straightConnector1">
            <a:avLst/>
          </a:prstGeom>
          <a:noFill/>
          <a:ln cap="flat" cmpd="sng" w="9525">
            <a:solidFill>
              <a:srgbClr val="C7D4E8"/>
            </a:solidFill>
            <a:prstDash val="solid"/>
            <a:miter lim="8000"/>
            <a:headEnd len="sm" w="sm" type="none"/>
            <a:tailEnd len="sm" w="sm" type="none"/>
          </a:ln>
        </p:spPr>
      </p:cxnSp>
      <p:sp>
        <p:nvSpPr>
          <p:cNvPr id="543" name="Google Shape;543;p14"/>
          <p:cNvSpPr/>
          <p:nvPr/>
        </p:nvSpPr>
        <p:spPr>
          <a:xfrm>
            <a:off x="1362456" y="3447288"/>
            <a:ext cx="256032" cy="402336"/>
          </a:xfrm>
          <a:prstGeom prst="rect">
            <a:avLst/>
          </a:prstGeom>
          <a:solidFill>
            <a:srgbClr val="2E5369"/>
          </a:solidFill>
          <a:ln cap="flat" cmpd="sng" w="10150">
            <a:solidFill>
              <a:srgbClr val="8DE1B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cxnSp>
        <p:nvCxnSpPr>
          <p:cNvPr id="544" name="Google Shape;544;p14"/>
          <p:cNvCxnSpPr/>
          <p:nvPr/>
        </p:nvCxnSpPr>
        <p:spPr>
          <a:xfrm>
            <a:off x="1403604" y="3566160"/>
            <a:ext cx="169164" cy="0"/>
          </a:xfrm>
          <a:prstGeom prst="straightConnector1">
            <a:avLst/>
          </a:prstGeom>
          <a:noFill/>
          <a:ln cap="flat" cmpd="sng" w="9525">
            <a:solidFill>
              <a:srgbClr val="C7D4E8"/>
            </a:solidFill>
            <a:prstDash val="solid"/>
            <a:miter lim="8000"/>
            <a:headEnd len="sm" w="sm" type="none"/>
            <a:tailEnd len="sm" w="sm" type="none"/>
          </a:ln>
        </p:spPr>
      </p:cxnSp>
      <p:cxnSp>
        <p:nvCxnSpPr>
          <p:cNvPr id="545" name="Google Shape;545;p14"/>
          <p:cNvCxnSpPr/>
          <p:nvPr/>
        </p:nvCxnSpPr>
        <p:spPr>
          <a:xfrm>
            <a:off x="1403604" y="3648456"/>
            <a:ext cx="169164" cy="0"/>
          </a:xfrm>
          <a:prstGeom prst="straightConnector1">
            <a:avLst/>
          </a:prstGeom>
          <a:noFill/>
          <a:ln cap="flat" cmpd="sng" w="9525">
            <a:solidFill>
              <a:srgbClr val="C7D4E8"/>
            </a:solidFill>
            <a:prstDash val="solid"/>
            <a:miter lim="8000"/>
            <a:headEnd len="sm" w="sm" type="none"/>
            <a:tailEnd len="sm" w="sm" type="none"/>
          </a:ln>
        </p:spPr>
      </p:cxnSp>
      <p:sp>
        <p:nvSpPr>
          <p:cNvPr id="546" name="Google Shape;546;p14"/>
          <p:cNvSpPr txBox="1"/>
          <p:nvPr/>
        </p:nvSpPr>
        <p:spPr>
          <a:xfrm>
            <a:off x="630936" y="3941063"/>
            <a:ext cx="1152144" cy="283464"/>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US" sz="1400">
                <a:solidFill>
                  <a:srgbClr val="F7F9FD"/>
                </a:solidFill>
                <a:latin typeface="Arial"/>
                <a:ea typeface="Arial"/>
                <a:cs typeface="Arial"/>
                <a:sym typeface="Arial"/>
              </a:rPr>
              <a:t>Schema S</a:t>
            </a:r>
            <a:endParaRPr/>
          </a:p>
        </p:txBody>
      </p:sp>
      <p:sp>
        <p:nvSpPr>
          <p:cNvPr id="547" name="Google Shape;547;p14"/>
          <p:cNvSpPr txBox="1"/>
          <p:nvPr/>
        </p:nvSpPr>
        <p:spPr>
          <a:xfrm>
            <a:off x="1490472" y="3072384"/>
            <a:ext cx="384048" cy="2286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400">
                <a:solidFill>
                  <a:srgbClr val="C7D4E8"/>
                </a:solidFill>
                <a:latin typeface="Arial"/>
                <a:ea typeface="Arial"/>
                <a:cs typeface="Arial"/>
                <a:sym typeface="Arial"/>
              </a:rPr>
              <a:t>(a)</a:t>
            </a:r>
            <a:endParaRPr/>
          </a:p>
        </p:txBody>
      </p:sp>
      <p:sp>
        <p:nvSpPr>
          <p:cNvPr id="548" name="Google Shape;548;p14"/>
          <p:cNvSpPr/>
          <p:nvPr/>
        </p:nvSpPr>
        <p:spPr>
          <a:xfrm>
            <a:off x="1956816" y="3483864"/>
            <a:ext cx="1444752" cy="694944"/>
          </a:xfrm>
          <a:prstGeom prst="roundRect">
            <a:avLst>
              <a:gd fmla="val 16667" name="adj"/>
            </a:avLst>
          </a:prstGeom>
          <a:solidFill>
            <a:srgbClr val="1F3957"/>
          </a:solidFill>
          <a:ln cap="flat" cmpd="sng" w="16500">
            <a:solidFill>
              <a:srgbClr val="84ADF7"/>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549" name="Google Shape;549;p14"/>
          <p:cNvSpPr txBox="1"/>
          <p:nvPr/>
        </p:nvSpPr>
        <p:spPr>
          <a:xfrm>
            <a:off x="2039112" y="3602736"/>
            <a:ext cx="1280160" cy="246888"/>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US" sz="1550">
                <a:solidFill>
                  <a:srgbClr val="F7F9FD"/>
                </a:solidFill>
                <a:latin typeface="Arial"/>
                <a:ea typeface="Arial"/>
                <a:cs typeface="Arial"/>
                <a:sym typeface="Arial"/>
              </a:rPr>
              <a:t>Iterate</a:t>
            </a:r>
            <a:endParaRPr/>
          </a:p>
        </p:txBody>
      </p:sp>
      <p:sp>
        <p:nvSpPr>
          <p:cNvPr id="550" name="Google Shape;550;p14"/>
          <p:cNvSpPr txBox="1"/>
          <p:nvPr/>
        </p:nvSpPr>
        <p:spPr>
          <a:xfrm>
            <a:off x="2048256" y="3877056"/>
            <a:ext cx="1261872" cy="256032"/>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0" lang="en-US" sz="1400">
                <a:solidFill>
                  <a:srgbClr val="C7D4E8"/>
                </a:solidFill>
                <a:latin typeface="Arial"/>
                <a:ea typeface="Arial"/>
                <a:cs typeface="Arial"/>
                <a:sym typeface="Arial"/>
              </a:rPr>
              <a:t>FK-BFS</a:t>
            </a:r>
            <a:endParaRPr/>
          </a:p>
        </p:txBody>
      </p:sp>
      <p:sp>
        <p:nvSpPr>
          <p:cNvPr id="551" name="Google Shape;551;p14"/>
          <p:cNvSpPr/>
          <p:nvPr/>
        </p:nvSpPr>
        <p:spPr>
          <a:xfrm>
            <a:off x="3776472" y="2148840"/>
            <a:ext cx="2103120" cy="758952"/>
          </a:xfrm>
          <a:prstGeom prst="roundRect">
            <a:avLst>
              <a:gd fmla="val 16667" name="adj"/>
            </a:avLst>
          </a:prstGeom>
          <a:solidFill>
            <a:srgbClr val="1F3957"/>
          </a:solidFill>
          <a:ln cap="flat" cmpd="sng" w="16500">
            <a:solidFill>
              <a:srgbClr val="84ADF7"/>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552" name="Google Shape;552;p14"/>
          <p:cNvSpPr txBox="1"/>
          <p:nvPr/>
        </p:nvSpPr>
        <p:spPr>
          <a:xfrm>
            <a:off x="3849624" y="1938528"/>
            <a:ext cx="384048" cy="2286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400">
                <a:solidFill>
                  <a:srgbClr val="C7D4E8"/>
                </a:solidFill>
                <a:latin typeface="Arial"/>
                <a:ea typeface="Arial"/>
                <a:cs typeface="Arial"/>
                <a:sym typeface="Arial"/>
              </a:rPr>
              <a:t>(b)</a:t>
            </a:r>
            <a:endParaRPr/>
          </a:p>
        </p:txBody>
      </p:sp>
      <p:sp>
        <p:nvSpPr>
          <p:cNvPr id="553" name="Google Shape;553;p14"/>
          <p:cNvSpPr txBox="1"/>
          <p:nvPr/>
        </p:nvSpPr>
        <p:spPr>
          <a:xfrm>
            <a:off x="3858768" y="2267712"/>
            <a:ext cx="1938527" cy="246888"/>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US" sz="1550">
                <a:solidFill>
                  <a:srgbClr val="F7F9FD"/>
                </a:solidFill>
                <a:latin typeface="Arial"/>
                <a:ea typeface="Arial"/>
                <a:cs typeface="Arial"/>
                <a:sym typeface="Arial"/>
              </a:rPr>
              <a:t>Direct mapping</a:t>
            </a:r>
            <a:endParaRPr/>
          </a:p>
        </p:txBody>
      </p:sp>
      <p:sp>
        <p:nvSpPr>
          <p:cNvPr id="554" name="Google Shape;554;p14"/>
          <p:cNvSpPr txBox="1"/>
          <p:nvPr/>
        </p:nvSpPr>
        <p:spPr>
          <a:xfrm>
            <a:off x="3867911" y="2542032"/>
            <a:ext cx="1920239" cy="32004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0" lang="en-US" sz="1400">
                <a:solidFill>
                  <a:srgbClr val="C7D4E8"/>
                </a:solidFill>
                <a:latin typeface="Arial"/>
                <a:ea typeface="Arial"/>
                <a:cs typeface="Arial"/>
                <a:sym typeface="Arial"/>
              </a:rPr>
              <a:t>OWL seed DMᵣ</a:t>
            </a:r>
            <a:endParaRPr/>
          </a:p>
        </p:txBody>
      </p:sp>
      <p:sp>
        <p:nvSpPr>
          <p:cNvPr id="555" name="Google Shape;555;p14"/>
          <p:cNvSpPr/>
          <p:nvPr/>
        </p:nvSpPr>
        <p:spPr>
          <a:xfrm>
            <a:off x="3630168" y="3063240"/>
            <a:ext cx="3218688" cy="2432304"/>
          </a:xfrm>
          <a:prstGeom prst="roundRect">
            <a:avLst>
              <a:gd fmla="val 16667" name="adj"/>
            </a:avLst>
          </a:prstGeom>
          <a:solidFill>
            <a:srgbClr val="18314C"/>
          </a:solidFill>
          <a:ln cap="flat" cmpd="sng" w="25400">
            <a:solidFill>
              <a:srgbClr val="F9AB5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556" name="Google Shape;556;p14"/>
          <p:cNvSpPr txBox="1"/>
          <p:nvPr/>
        </p:nvSpPr>
        <p:spPr>
          <a:xfrm>
            <a:off x="3758184" y="3099816"/>
            <a:ext cx="2990088" cy="210312"/>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US" sz="1400">
                <a:solidFill>
                  <a:srgbClr val="F9AB5E"/>
                </a:solidFill>
                <a:latin typeface="Arial"/>
                <a:ea typeface="Arial"/>
                <a:cs typeface="Arial"/>
                <a:sym typeface="Arial"/>
              </a:rPr>
              <a:t>RETRIEVAL  •  top-k per source</a:t>
            </a:r>
            <a:endParaRPr/>
          </a:p>
        </p:txBody>
      </p:sp>
      <p:sp>
        <p:nvSpPr>
          <p:cNvPr id="557" name="Google Shape;557;p14"/>
          <p:cNvSpPr/>
          <p:nvPr/>
        </p:nvSpPr>
        <p:spPr>
          <a:xfrm>
            <a:off x="3776472" y="3383280"/>
            <a:ext cx="2980944" cy="603504"/>
          </a:xfrm>
          <a:prstGeom prst="roundRect">
            <a:avLst>
              <a:gd fmla="val 16667" name="adj"/>
            </a:avLst>
          </a:prstGeom>
          <a:solidFill>
            <a:srgbClr val="334D66"/>
          </a:solidFill>
          <a:ln cap="flat" cmpd="sng" w="15225">
            <a:solidFill>
              <a:srgbClr val="F9AB5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558" name="Google Shape;558;p14"/>
          <p:cNvSpPr txBox="1"/>
          <p:nvPr/>
        </p:nvSpPr>
        <p:spPr>
          <a:xfrm>
            <a:off x="3877056" y="3415284"/>
            <a:ext cx="365760" cy="192024"/>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400">
                <a:solidFill>
                  <a:srgbClr val="F9AB5E"/>
                </a:solidFill>
                <a:latin typeface="Arial"/>
                <a:ea typeface="Arial"/>
                <a:cs typeface="Arial"/>
                <a:sym typeface="Arial"/>
              </a:rPr>
              <a:t>(c)</a:t>
            </a:r>
            <a:endParaRPr/>
          </a:p>
        </p:txBody>
      </p:sp>
      <p:sp>
        <p:nvSpPr>
          <p:cNvPr id="559" name="Google Shape;559;p14"/>
          <p:cNvSpPr txBox="1"/>
          <p:nvPr/>
        </p:nvSpPr>
        <p:spPr>
          <a:xfrm>
            <a:off x="4224528" y="3396996"/>
            <a:ext cx="2404872" cy="283464"/>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500">
                <a:solidFill>
                  <a:srgbClr val="F7F9FD"/>
                </a:solidFill>
                <a:latin typeface="Arial"/>
                <a:ea typeface="Arial"/>
                <a:cs typeface="Arial"/>
                <a:sym typeface="Arial"/>
              </a:rPr>
              <a:t>External ontologies</a:t>
            </a:r>
            <a:endParaRPr/>
          </a:p>
        </p:txBody>
      </p:sp>
      <p:sp>
        <p:nvSpPr>
          <p:cNvPr id="560" name="Google Shape;560;p14"/>
          <p:cNvSpPr txBox="1"/>
          <p:nvPr/>
        </p:nvSpPr>
        <p:spPr>
          <a:xfrm>
            <a:off x="4224528" y="3703320"/>
            <a:ext cx="2404872" cy="201168"/>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US" sz="1400">
                <a:solidFill>
                  <a:srgbClr val="C7D4E8"/>
                </a:solidFill>
                <a:latin typeface="Arial"/>
                <a:ea typeface="Arial"/>
                <a:cs typeface="Arial"/>
                <a:sym typeface="Arial"/>
              </a:rPr>
              <a:t>Domain alignments</a:t>
            </a:r>
            <a:endParaRPr/>
          </a:p>
        </p:txBody>
      </p:sp>
      <p:sp>
        <p:nvSpPr>
          <p:cNvPr id="561" name="Google Shape;561;p14"/>
          <p:cNvSpPr/>
          <p:nvPr/>
        </p:nvSpPr>
        <p:spPr>
          <a:xfrm>
            <a:off x="3776472" y="4087368"/>
            <a:ext cx="2980944" cy="603504"/>
          </a:xfrm>
          <a:prstGeom prst="roundRect">
            <a:avLst>
              <a:gd fmla="val 16667" name="adj"/>
            </a:avLst>
          </a:prstGeom>
          <a:solidFill>
            <a:srgbClr val="334D66"/>
          </a:solidFill>
          <a:ln cap="flat" cmpd="sng" w="15225">
            <a:solidFill>
              <a:srgbClr val="F9AB5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562" name="Google Shape;562;p14"/>
          <p:cNvSpPr txBox="1"/>
          <p:nvPr/>
        </p:nvSpPr>
        <p:spPr>
          <a:xfrm>
            <a:off x="3877056" y="4119372"/>
            <a:ext cx="365760" cy="192024"/>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400">
                <a:solidFill>
                  <a:srgbClr val="F9AB5E"/>
                </a:solidFill>
                <a:latin typeface="Arial"/>
                <a:ea typeface="Arial"/>
                <a:cs typeface="Arial"/>
                <a:sym typeface="Arial"/>
              </a:rPr>
              <a:t>(d)</a:t>
            </a:r>
            <a:endParaRPr/>
          </a:p>
        </p:txBody>
      </p:sp>
      <p:sp>
        <p:nvSpPr>
          <p:cNvPr id="563" name="Google Shape;563;p14"/>
          <p:cNvSpPr txBox="1"/>
          <p:nvPr/>
        </p:nvSpPr>
        <p:spPr>
          <a:xfrm>
            <a:off x="4224528" y="4101084"/>
            <a:ext cx="2404872" cy="283464"/>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500">
                <a:solidFill>
                  <a:srgbClr val="F7F9FD"/>
                </a:solidFill>
                <a:latin typeface="Arial"/>
                <a:ea typeface="Arial"/>
                <a:cs typeface="Arial"/>
                <a:sym typeface="Arial"/>
              </a:rPr>
              <a:t>Documentation</a:t>
            </a:r>
            <a:endParaRPr/>
          </a:p>
        </p:txBody>
      </p:sp>
      <p:sp>
        <p:nvSpPr>
          <p:cNvPr id="564" name="Google Shape;564;p14"/>
          <p:cNvSpPr txBox="1"/>
          <p:nvPr/>
        </p:nvSpPr>
        <p:spPr>
          <a:xfrm>
            <a:off x="4224528" y="4407408"/>
            <a:ext cx="2404872" cy="201168"/>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US" sz="1400">
                <a:solidFill>
                  <a:srgbClr val="C7D4E8"/>
                </a:solidFill>
                <a:latin typeface="Arial"/>
                <a:ea typeface="Arial"/>
                <a:cs typeface="Arial"/>
                <a:sym typeface="Arial"/>
              </a:rPr>
              <a:t>Cryptic fields and codes</a:t>
            </a:r>
            <a:endParaRPr/>
          </a:p>
        </p:txBody>
      </p:sp>
      <p:sp>
        <p:nvSpPr>
          <p:cNvPr id="565" name="Google Shape;565;p14"/>
          <p:cNvSpPr/>
          <p:nvPr/>
        </p:nvSpPr>
        <p:spPr>
          <a:xfrm>
            <a:off x="3776472" y="4791456"/>
            <a:ext cx="2980944" cy="603504"/>
          </a:xfrm>
          <a:prstGeom prst="roundRect">
            <a:avLst>
              <a:gd fmla="val 16667" name="adj"/>
            </a:avLst>
          </a:prstGeom>
          <a:solidFill>
            <a:srgbClr val="334D66"/>
          </a:solidFill>
          <a:ln cap="flat" cmpd="sng" w="15225">
            <a:solidFill>
              <a:srgbClr val="F9AB5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566" name="Google Shape;566;p14"/>
          <p:cNvSpPr txBox="1"/>
          <p:nvPr/>
        </p:nvSpPr>
        <p:spPr>
          <a:xfrm>
            <a:off x="3877056" y="4823460"/>
            <a:ext cx="365760" cy="192024"/>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400">
                <a:solidFill>
                  <a:srgbClr val="F9AB5E"/>
                </a:solidFill>
                <a:latin typeface="Arial"/>
                <a:ea typeface="Arial"/>
                <a:cs typeface="Arial"/>
                <a:sym typeface="Arial"/>
              </a:rPr>
              <a:t>(e)</a:t>
            </a:r>
            <a:endParaRPr/>
          </a:p>
        </p:txBody>
      </p:sp>
      <p:sp>
        <p:nvSpPr>
          <p:cNvPr id="567" name="Google Shape;567;p14"/>
          <p:cNvSpPr txBox="1"/>
          <p:nvPr/>
        </p:nvSpPr>
        <p:spPr>
          <a:xfrm>
            <a:off x="4224528" y="4805172"/>
            <a:ext cx="2404872" cy="283464"/>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500">
                <a:solidFill>
                  <a:srgbClr val="F7F9FD"/>
                </a:solidFill>
                <a:latin typeface="Arial"/>
                <a:ea typeface="Arial"/>
                <a:cs typeface="Arial"/>
                <a:sym typeface="Arial"/>
              </a:rPr>
              <a:t>Growing core ontology</a:t>
            </a:r>
            <a:endParaRPr/>
          </a:p>
        </p:txBody>
      </p:sp>
      <p:sp>
        <p:nvSpPr>
          <p:cNvPr id="568" name="Google Shape;568;p14"/>
          <p:cNvSpPr txBox="1"/>
          <p:nvPr/>
        </p:nvSpPr>
        <p:spPr>
          <a:xfrm>
            <a:off x="4224528" y="5111496"/>
            <a:ext cx="2404872" cy="201168"/>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US" sz="1400">
                <a:solidFill>
                  <a:srgbClr val="C7D4E8"/>
                </a:solidFill>
                <a:latin typeface="Arial"/>
                <a:ea typeface="Arial"/>
                <a:cs typeface="Arial"/>
                <a:sym typeface="Arial"/>
              </a:rPr>
              <a:t>Reuse validated IRIs</a:t>
            </a:r>
            <a:endParaRPr/>
          </a:p>
        </p:txBody>
      </p:sp>
      <p:sp>
        <p:nvSpPr>
          <p:cNvPr id="569" name="Google Shape;569;p14"/>
          <p:cNvSpPr/>
          <p:nvPr/>
        </p:nvSpPr>
        <p:spPr>
          <a:xfrm>
            <a:off x="7141464" y="3127248"/>
            <a:ext cx="4059936" cy="1746504"/>
          </a:xfrm>
          <a:prstGeom prst="roundRect">
            <a:avLst>
              <a:gd fmla="val 16667" name="adj"/>
            </a:avLst>
          </a:prstGeom>
          <a:solidFill>
            <a:srgbClr val="253B57"/>
          </a:solidFill>
          <a:ln cap="flat" cmpd="sng" w="20300">
            <a:solidFill>
              <a:srgbClr val="F9AB5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570" name="Google Shape;570;p14"/>
          <p:cNvSpPr txBox="1"/>
          <p:nvPr/>
        </p:nvSpPr>
        <p:spPr>
          <a:xfrm>
            <a:off x="7388352" y="3355848"/>
            <a:ext cx="3621024" cy="283464"/>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700">
                <a:solidFill>
                  <a:srgbClr val="F9AB5E"/>
                </a:solidFill>
                <a:latin typeface="Arial"/>
                <a:ea typeface="Arial"/>
                <a:cs typeface="Arial"/>
                <a:sym typeface="Arial"/>
              </a:rPr>
              <a:t>THREE SOURCES, THREE ROLES</a:t>
            </a:r>
            <a:endParaRPr/>
          </a:p>
        </p:txBody>
      </p:sp>
      <p:sp>
        <p:nvSpPr>
          <p:cNvPr id="571" name="Google Shape;571;p14"/>
          <p:cNvSpPr txBox="1"/>
          <p:nvPr/>
        </p:nvSpPr>
        <p:spPr>
          <a:xfrm>
            <a:off x="7388352" y="3749039"/>
            <a:ext cx="3621024" cy="850392"/>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US" sz="1900">
                <a:solidFill>
                  <a:srgbClr val="F7F9FD"/>
                </a:solidFill>
                <a:latin typeface="Arial"/>
                <a:ea typeface="Arial"/>
                <a:cs typeface="Arial"/>
                <a:sym typeface="Arial"/>
              </a:rPr>
              <a:t>Domain reuse   •   Meaning of codes</a:t>
            </a:r>
            <a:br>
              <a:rPr b="0" lang="en-US" sz="1900">
                <a:solidFill>
                  <a:srgbClr val="F7F9FD"/>
                </a:solidFill>
                <a:latin typeface="Arial"/>
                <a:ea typeface="Arial"/>
                <a:cs typeface="Arial"/>
                <a:sym typeface="Arial"/>
              </a:rPr>
            </a:br>
            <a:r>
              <a:rPr b="0" lang="en-US" sz="1900">
                <a:solidFill>
                  <a:srgbClr val="F7F9FD"/>
                </a:solidFill>
                <a:latin typeface="Arial"/>
                <a:ea typeface="Arial"/>
                <a:cs typeface="Arial"/>
                <a:sym typeface="Arial"/>
              </a:rPr>
              <a:t>Cross-table coherence</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427"/>
        </a:solidFill>
      </p:bgPr>
    </p:bg>
    <p:spTree>
      <p:nvGrpSpPr>
        <p:cNvPr id="576" name="Shape 576"/>
        <p:cNvGrpSpPr/>
        <p:nvPr/>
      </p:nvGrpSpPr>
      <p:grpSpPr>
        <a:xfrm>
          <a:off x="0" y="0"/>
          <a:ext cx="0" cy="0"/>
          <a:chOff x="0" y="0"/>
          <a:chExt cx="0" cy="0"/>
        </a:xfrm>
      </p:grpSpPr>
      <p:sp>
        <p:nvSpPr>
          <p:cNvPr id="577" name="Google Shape;577;p15"/>
          <p:cNvSpPr txBox="1"/>
          <p:nvPr/>
        </p:nvSpPr>
        <p:spPr>
          <a:xfrm>
            <a:off x="512064" y="320040"/>
            <a:ext cx="6675120" cy="301752"/>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500">
                <a:solidFill>
                  <a:srgbClr val="F9AB5E"/>
                </a:solidFill>
                <a:latin typeface="Arial"/>
                <a:ea typeface="Arial"/>
                <a:cs typeface="Arial"/>
                <a:sym typeface="Arial"/>
              </a:rPr>
              <a:t>RIGOR  /  REASSEMBLING THE ARCHITECTURE</a:t>
            </a:r>
            <a:endParaRPr/>
          </a:p>
        </p:txBody>
      </p:sp>
      <p:sp>
        <p:nvSpPr>
          <p:cNvPr id="578" name="Google Shape;578;p15"/>
          <p:cNvSpPr txBox="1"/>
          <p:nvPr/>
        </p:nvSpPr>
        <p:spPr>
          <a:xfrm>
            <a:off x="512064" y="685800"/>
            <a:ext cx="10881360" cy="475488"/>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2900">
                <a:solidFill>
                  <a:srgbClr val="F7F9FD"/>
                </a:solidFill>
                <a:latin typeface="Arial"/>
                <a:ea typeface="Arial"/>
                <a:cs typeface="Arial"/>
                <a:sym typeface="Arial"/>
              </a:rPr>
              <a:t>4. Generate a delta ontology</a:t>
            </a:r>
            <a:endParaRPr/>
          </a:p>
        </p:txBody>
      </p:sp>
      <p:sp>
        <p:nvSpPr>
          <p:cNvPr id="579" name="Google Shape;579;p15"/>
          <p:cNvSpPr txBox="1"/>
          <p:nvPr/>
        </p:nvSpPr>
        <p:spPr>
          <a:xfrm>
            <a:off x="512064" y="1271016"/>
            <a:ext cx="10607040" cy="310896"/>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US" sz="1600">
                <a:solidFill>
                  <a:srgbClr val="C7D4E8"/>
                </a:solidFill>
                <a:latin typeface="Arial"/>
                <a:ea typeface="Arial"/>
                <a:cs typeface="Arial"/>
                <a:sym typeface="Arial"/>
              </a:rPr>
              <a:t>Paper Fig. 1(f–g)  ·  The Gen-LLM receives the seed and retrieved context.</a:t>
            </a:r>
            <a:endParaRPr/>
          </a:p>
        </p:txBody>
      </p:sp>
      <p:sp>
        <p:nvSpPr>
          <p:cNvPr id="580" name="Google Shape;580;p15"/>
          <p:cNvSpPr/>
          <p:nvPr/>
        </p:nvSpPr>
        <p:spPr>
          <a:xfrm>
            <a:off x="9692640" y="356616"/>
            <a:ext cx="274320" cy="64008"/>
          </a:xfrm>
          <a:prstGeom prst="rect">
            <a:avLst/>
          </a:prstGeom>
          <a:solidFill>
            <a:srgbClr val="F9AB5E"/>
          </a:solidFill>
          <a:ln cap="flat" cmpd="sng" w="9525">
            <a:solidFill>
              <a:srgbClr val="F9AB5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581" name="Google Shape;581;p15"/>
          <p:cNvSpPr/>
          <p:nvPr/>
        </p:nvSpPr>
        <p:spPr>
          <a:xfrm>
            <a:off x="10049256" y="356616"/>
            <a:ext cx="274320" cy="64008"/>
          </a:xfrm>
          <a:prstGeom prst="rect">
            <a:avLst/>
          </a:prstGeom>
          <a:solidFill>
            <a:srgbClr val="F9AB5E"/>
          </a:solidFill>
          <a:ln cap="flat" cmpd="sng" w="9525">
            <a:solidFill>
              <a:srgbClr val="F9AB5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582" name="Google Shape;582;p15"/>
          <p:cNvSpPr/>
          <p:nvPr/>
        </p:nvSpPr>
        <p:spPr>
          <a:xfrm>
            <a:off x="10405872" y="356616"/>
            <a:ext cx="274320" cy="64008"/>
          </a:xfrm>
          <a:prstGeom prst="rect">
            <a:avLst/>
          </a:prstGeom>
          <a:solidFill>
            <a:srgbClr val="F9AB5E"/>
          </a:solidFill>
          <a:ln cap="flat" cmpd="sng" w="9525">
            <a:solidFill>
              <a:srgbClr val="F9AB5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583" name="Google Shape;583;p15"/>
          <p:cNvSpPr/>
          <p:nvPr/>
        </p:nvSpPr>
        <p:spPr>
          <a:xfrm>
            <a:off x="10762488" y="356616"/>
            <a:ext cx="274320" cy="64008"/>
          </a:xfrm>
          <a:prstGeom prst="rect">
            <a:avLst/>
          </a:prstGeom>
          <a:solidFill>
            <a:srgbClr val="F9AB5E"/>
          </a:solidFill>
          <a:ln cap="flat" cmpd="sng" w="9525">
            <a:solidFill>
              <a:srgbClr val="F9AB5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584" name="Google Shape;584;p15"/>
          <p:cNvSpPr/>
          <p:nvPr/>
        </p:nvSpPr>
        <p:spPr>
          <a:xfrm>
            <a:off x="11119104" y="356616"/>
            <a:ext cx="274320" cy="64008"/>
          </a:xfrm>
          <a:prstGeom prst="rect">
            <a:avLst/>
          </a:prstGeom>
          <a:solidFill>
            <a:srgbClr val="455B7A"/>
          </a:solidFill>
          <a:ln cap="flat" cmpd="sng" w="9525">
            <a:solidFill>
              <a:srgbClr val="455B7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585" name="Google Shape;585;p15"/>
          <p:cNvSpPr/>
          <p:nvPr/>
        </p:nvSpPr>
        <p:spPr>
          <a:xfrm>
            <a:off x="11475720" y="356616"/>
            <a:ext cx="274320" cy="64008"/>
          </a:xfrm>
          <a:prstGeom prst="rect">
            <a:avLst/>
          </a:prstGeom>
          <a:solidFill>
            <a:srgbClr val="455B7A"/>
          </a:solidFill>
          <a:ln cap="flat" cmpd="sng" w="9525">
            <a:solidFill>
              <a:srgbClr val="455B7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586" name="Google Shape;586;p15"/>
          <p:cNvSpPr/>
          <p:nvPr/>
        </p:nvSpPr>
        <p:spPr>
          <a:xfrm>
            <a:off x="438912" y="1792224"/>
            <a:ext cx="11301984" cy="4187952"/>
          </a:xfrm>
          <a:prstGeom prst="roundRect">
            <a:avLst>
              <a:gd fmla="val 16667" name="adj"/>
            </a:avLst>
          </a:prstGeom>
          <a:solidFill>
            <a:srgbClr val="132641"/>
          </a:solidFill>
          <a:ln cap="flat" cmpd="sng" w="12700">
            <a:solidFill>
              <a:srgbClr val="304C7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587" name="Google Shape;587;p15"/>
          <p:cNvSpPr txBox="1"/>
          <p:nvPr/>
        </p:nvSpPr>
        <p:spPr>
          <a:xfrm>
            <a:off x="566928" y="6208776"/>
            <a:ext cx="10881360" cy="292608"/>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550">
                <a:solidFill>
                  <a:srgbClr val="F7F9FD"/>
                </a:solidFill>
                <a:latin typeface="Arial"/>
                <a:ea typeface="Arial"/>
                <a:cs typeface="Arial"/>
                <a:sym typeface="Arial"/>
              </a:rPr>
              <a:t>Recall slide 9  •  The Gen-LLM enriches the structural seed; the output is a delta ontology.</a:t>
            </a:r>
            <a:endParaRPr/>
          </a:p>
        </p:txBody>
      </p:sp>
      <p:sp>
        <p:nvSpPr>
          <p:cNvPr id="588" name="Google Shape;588;p15"/>
          <p:cNvSpPr txBox="1"/>
          <p:nvPr/>
        </p:nvSpPr>
        <p:spPr>
          <a:xfrm>
            <a:off x="10917936" y="6519672"/>
            <a:ext cx="804672" cy="182880"/>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r>
              <a:rPr b="0" lang="en-US" sz="1400">
                <a:solidFill>
                  <a:srgbClr val="C7D4E8"/>
                </a:solidFill>
                <a:latin typeface="Arial"/>
                <a:ea typeface="Arial"/>
                <a:cs typeface="Arial"/>
                <a:sym typeface="Arial"/>
              </a:rPr>
              <a:t>4 / 6</a:t>
            </a:r>
            <a:endParaRPr/>
          </a:p>
        </p:txBody>
      </p:sp>
      <p:cxnSp>
        <p:nvCxnSpPr>
          <p:cNvPr id="589" name="Google Shape;589;p15"/>
          <p:cNvCxnSpPr/>
          <p:nvPr/>
        </p:nvCxnSpPr>
        <p:spPr>
          <a:xfrm>
            <a:off x="1792224" y="3831336"/>
            <a:ext cx="164592" cy="0"/>
          </a:xfrm>
          <a:prstGeom prst="straightConnector1">
            <a:avLst/>
          </a:prstGeom>
          <a:noFill/>
          <a:ln cap="flat" cmpd="sng" w="38100">
            <a:solidFill>
              <a:srgbClr val="84ADF7"/>
            </a:solidFill>
            <a:prstDash val="solid"/>
            <a:miter lim="8000"/>
            <a:headEnd len="sm" w="sm" type="none"/>
            <a:tailEnd len="sm" w="sm" type="none"/>
          </a:ln>
        </p:spPr>
      </p:cxnSp>
      <p:sp>
        <p:nvSpPr>
          <p:cNvPr id="590" name="Google Shape;590;p15"/>
          <p:cNvSpPr/>
          <p:nvPr/>
        </p:nvSpPr>
        <p:spPr>
          <a:xfrm rot="5400000">
            <a:off x="1892808" y="3767328"/>
            <a:ext cx="128016" cy="128016"/>
          </a:xfrm>
          <a:prstGeom prst="triangle">
            <a:avLst>
              <a:gd fmla="val 50000" name="adj"/>
            </a:avLst>
          </a:prstGeom>
          <a:solidFill>
            <a:srgbClr val="84ADF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cxnSp>
        <p:nvCxnSpPr>
          <p:cNvPr id="591" name="Google Shape;591;p15"/>
          <p:cNvCxnSpPr/>
          <p:nvPr/>
        </p:nvCxnSpPr>
        <p:spPr>
          <a:xfrm>
            <a:off x="3401568" y="3794760"/>
            <a:ext cx="100584" cy="0"/>
          </a:xfrm>
          <a:prstGeom prst="straightConnector1">
            <a:avLst/>
          </a:prstGeom>
          <a:noFill/>
          <a:ln cap="flat" cmpd="sng" w="29200">
            <a:solidFill>
              <a:srgbClr val="84ADF7"/>
            </a:solidFill>
            <a:prstDash val="solid"/>
            <a:miter lim="8000"/>
            <a:headEnd len="sm" w="sm" type="none"/>
            <a:tailEnd len="sm" w="sm" type="none"/>
          </a:ln>
        </p:spPr>
      </p:cxnSp>
      <p:cxnSp>
        <p:nvCxnSpPr>
          <p:cNvPr id="592" name="Google Shape;592;p15"/>
          <p:cNvCxnSpPr/>
          <p:nvPr/>
        </p:nvCxnSpPr>
        <p:spPr>
          <a:xfrm rot="10800000">
            <a:off x="3502152" y="2523744"/>
            <a:ext cx="0" cy="1271016"/>
          </a:xfrm>
          <a:prstGeom prst="straightConnector1">
            <a:avLst/>
          </a:prstGeom>
          <a:noFill/>
          <a:ln cap="flat" cmpd="sng" w="29200">
            <a:solidFill>
              <a:srgbClr val="84ADF7"/>
            </a:solidFill>
            <a:prstDash val="solid"/>
            <a:miter lim="8000"/>
            <a:headEnd len="sm" w="sm" type="none"/>
            <a:tailEnd len="sm" w="sm" type="none"/>
          </a:ln>
        </p:spPr>
      </p:cxnSp>
      <p:cxnSp>
        <p:nvCxnSpPr>
          <p:cNvPr id="593" name="Google Shape;593;p15"/>
          <p:cNvCxnSpPr/>
          <p:nvPr/>
        </p:nvCxnSpPr>
        <p:spPr>
          <a:xfrm>
            <a:off x="3502152" y="2523744"/>
            <a:ext cx="265176" cy="0"/>
          </a:xfrm>
          <a:prstGeom prst="straightConnector1">
            <a:avLst/>
          </a:prstGeom>
          <a:noFill/>
          <a:ln cap="flat" cmpd="sng" w="29200">
            <a:solidFill>
              <a:srgbClr val="84ADF7"/>
            </a:solidFill>
            <a:prstDash val="solid"/>
            <a:miter lim="8000"/>
            <a:headEnd len="sm" w="sm" type="none"/>
            <a:tailEnd len="sm" w="sm" type="none"/>
          </a:ln>
        </p:spPr>
      </p:cxnSp>
      <p:sp>
        <p:nvSpPr>
          <p:cNvPr id="594" name="Google Shape;594;p15"/>
          <p:cNvSpPr/>
          <p:nvPr/>
        </p:nvSpPr>
        <p:spPr>
          <a:xfrm rot="5400000">
            <a:off x="3703320" y="2459736"/>
            <a:ext cx="128016" cy="128016"/>
          </a:xfrm>
          <a:prstGeom prst="triangle">
            <a:avLst>
              <a:gd fmla="val 50000" name="adj"/>
            </a:avLst>
          </a:prstGeom>
          <a:solidFill>
            <a:srgbClr val="84ADF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cxnSp>
        <p:nvCxnSpPr>
          <p:cNvPr id="595" name="Google Shape;595;p15"/>
          <p:cNvCxnSpPr/>
          <p:nvPr/>
        </p:nvCxnSpPr>
        <p:spPr>
          <a:xfrm>
            <a:off x="3401568" y="3931920"/>
            <a:ext cx="118872" cy="0"/>
          </a:xfrm>
          <a:prstGeom prst="straightConnector1">
            <a:avLst/>
          </a:prstGeom>
          <a:noFill/>
          <a:ln cap="flat" cmpd="sng" w="26650">
            <a:solidFill>
              <a:srgbClr val="84ADF7"/>
            </a:solidFill>
            <a:prstDash val="solid"/>
            <a:miter lim="8000"/>
            <a:headEnd len="sm" w="sm" type="none"/>
            <a:tailEnd len="sm" w="sm" type="none"/>
          </a:ln>
        </p:spPr>
      </p:cxnSp>
      <p:cxnSp>
        <p:nvCxnSpPr>
          <p:cNvPr id="596" name="Google Shape;596;p15"/>
          <p:cNvCxnSpPr/>
          <p:nvPr/>
        </p:nvCxnSpPr>
        <p:spPr>
          <a:xfrm rot="10800000">
            <a:off x="3520440" y="3621024"/>
            <a:ext cx="0" cy="310896"/>
          </a:xfrm>
          <a:prstGeom prst="straightConnector1">
            <a:avLst/>
          </a:prstGeom>
          <a:noFill/>
          <a:ln cap="flat" cmpd="sng" w="26650">
            <a:solidFill>
              <a:srgbClr val="84ADF7"/>
            </a:solidFill>
            <a:prstDash val="solid"/>
            <a:miter lim="8000"/>
            <a:headEnd len="sm" w="sm" type="none"/>
            <a:tailEnd len="sm" w="sm" type="none"/>
          </a:ln>
        </p:spPr>
      </p:cxnSp>
      <p:cxnSp>
        <p:nvCxnSpPr>
          <p:cNvPr id="597" name="Google Shape;597;p15"/>
          <p:cNvCxnSpPr/>
          <p:nvPr/>
        </p:nvCxnSpPr>
        <p:spPr>
          <a:xfrm>
            <a:off x="3520440" y="3621024"/>
            <a:ext cx="256032" cy="0"/>
          </a:xfrm>
          <a:prstGeom prst="straightConnector1">
            <a:avLst/>
          </a:prstGeom>
          <a:noFill/>
          <a:ln cap="flat" cmpd="sng" w="26650">
            <a:solidFill>
              <a:srgbClr val="84ADF7"/>
            </a:solidFill>
            <a:prstDash val="solid"/>
            <a:miter lim="8000"/>
            <a:headEnd len="sm" w="sm" type="none"/>
            <a:tailEnd len="sm" w="sm" type="none"/>
          </a:ln>
        </p:spPr>
      </p:cxnSp>
      <p:sp>
        <p:nvSpPr>
          <p:cNvPr id="598" name="Google Shape;598;p15"/>
          <p:cNvSpPr/>
          <p:nvPr/>
        </p:nvSpPr>
        <p:spPr>
          <a:xfrm rot="5400000">
            <a:off x="3712463" y="3557016"/>
            <a:ext cx="128016" cy="128016"/>
          </a:xfrm>
          <a:prstGeom prst="triangle">
            <a:avLst>
              <a:gd fmla="val 50000" name="adj"/>
            </a:avLst>
          </a:prstGeom>
          <a:solidFill>
            <a:srgbClr val="84ADF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cxnSp>
        <p:nvCxnSpPr>
          <p:cNvPr id="599" name="Google Shape;599;p15"/>
          <p:cNvCxnSpPr/>
          <p:nvPr/>
        </p:nvCxnSpPr>
        <p:spPr>
          <a:xfrm>
            <a:off x="3401568" y="3931920"/>
            <a:ext cx="118872" cy="0"/>
          </a:xfrm>
          <a:prstGeom prst="straightConnector1">
            <a:avLst/>
          </a:prstGeom>
          <a:noFill/>
          <a:ln cap="flat" cmpd="sng" w="26650">
            <a:solidFill>
              <a:srgbClr val="84ADF7"/>
            </a:solidFill>
            <a:prstDash val="solid"/>
            <a:miter lim="8000"/>
            <a:headEnd len="sm" w="sm" type="none"/>
            <a:tailEnd len="sm" w="sm" type="none"/>
          </a:ln>
        </p:spPr>
      </p:cxnSp>
      <p:cxnSp>
        <p:nvCxnSpPr>
          <p:cNvPr id="600" name="Google Shape;600;p15"/>
          <p:cNvCxnSpPr/>
          <p:nvPr/>
        </p:nvCxnSpPr>
        <p:spPr>
          <a:xfrm>
            <a:off x="3520440" y="3931920"/>
            <a:ext cx="0" cy="384048"/>
          </a:xfrm>
          <a:prstGeom prst="straightConnector1">
            <a:avLst/>
          </a:prstGeom>
          <a:noFill/>
          <a:ln cap="flat" cmpd="sng" w="26650">
            <a:solidFill>
              <a:srgbClr val="84ADF7"/>
            </a:solidFill>
            <a:prstDash val="solid"/>
            <a:miter lim="8000"/>
            <a:headEnd len="sm" w="sm" type="none"/>
            <a:tailEnd len="sm" w="sm" type="none"/>
          </a:ln>
        </p:spPr>
      </p:cxnSp>
      <p:cxnSp>
        <p:nvCxnSpPr>
          <p:cNvPr id="601" name="Google Shape;601;p15"/>
          <p:cNvCxnSpPr/>
          <p:nvPr/>
        </p:nvCxnSpPr>
        <p:spPr>
          <a:xfrm>
            <a:off x="3520440" y="4315968"/>
            <a:ext cx="256032" cy="0"/>
          </a:xfrm>
          <a:prstGeom prst="straightConnector1">
            <a:avLst/>
          </a:prstGeom>
          <a:noFill/>
          <a:ln cap="flat" cmpd="sng" w="26650">
            <a:solidFill>
              <a:srgbClr val="84ADF7"/>
            </a:solidFill>
            <a:prstDash val="solid"/>
            <a:miter lim="8000"/>
            <a:headEnd len="sm" w="sm" type="none"/>
            <a:tailEnd len="sm" w="sm" type="none"/>
          </a:ln>
        </p:spPr>
      </p:cxnSp>
      <p:sp>
        <p:nvSpPr>
          <p:cNvPr id="602" name="Google Shape;602;p15"/>
          <p:cNvSpPr/>
          <p:nvPr/>
        </p:nvSpPr>
        <p:spPr>
          <a:xfrm rot="5400000">
            <a:off x="3712463" y="4251959"/>
            <a:ext cx="128016" cy="128016"/>
          </a:xfrm>
          <a:prstGeom prst="triangle">
            <a:avLst>
              <a:gd fmla="val 50000" name="adj"/>
            </a:avLst>
          </a:prstGeom>
          <a:solidFill>
            <a:srgbClr val="84ADF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cxnSp>
        <p:nvCxnSpPr>
          <p:cNvPr id="603" name="Google Shape;603;p15"/>
          <p:cNvCxnSpPr/>
          <p:nvPr/>
        </p:nvCxnSpPr>
        <p:spPr>
          <a:xfrm>
            <a:off x="3401568" y="3931920"/>
            <a:ext cx="118872" cy="0"/>
          </a:xfrm>
          <a:prstGeom prst="straightConnector1">
            <a:avLst/>
          </a:prstGeom>
          <a:noFill/>
          <a:ln cap="flat" cmpd="sng" w="26650">
            <a:solidFill>
              <a:srgbClr val="84ADF7"/>
            </a:solidFill>
            <a:prstDash val="solid"/>
            <a:miter lim="8000"/>
            <a:headEnd len="sm" w="sm" type="none"/>
            <a:tailEnd len="sm" w="sm" type="none"/>
          </a:ln>
        </p:spPr>
      </p:cxnSp>
      <p:cxnSp>
        <p:nvCxnSpPr>
          <p:cNvPr id="604" name="Google Shape;604;p15"/>
          <p:cNvCxnSpPr/>
          <p:nvPr/>
        </p:nvCxnSpPr>
        <p:spPr>
          <a:xfrm>
            <a:off x="3520440" y="3931920"/>
            <a:ext cx="0" cy="1078992"/>
          </a:xfrm>
          <a:prstGeom prst="straightConnector1">
            <a:avLst/>
          </a:prstGeom>
          <a:noFill/>
          <a:ln cap="flat" cmpd="sng" w="26650">
            <a:solidFill>
              <a:srgbClr val="84ADF7"/>
            </a:solidFill>
            <a:prstDash val="solid"/>
            <a:miter lim="8000"/>
            <a:headEnd len="sm" w="sm" type="none"/>
            <a:tailEnd len="sm" w="sm" type="none"/>
          </a:ln>
        </p:spPr>
      </p:cxnSp>
      <p:cxnSp>
        <p:nvCxnSpPr>
          <p:cNvPr id="605" name="Google Shape;605;p15"/>
          <p:cNvCxnSpPr/>
          <p:nvPr/>
        </p:nvCxnSpPr>
        <p:spPr>
          <a:xfrm>
            <a:off x="3520440" y="5010912"/>
            <a:ext cx="256032" cy="0"/>
          </a:xfrm>
          <a:prstGeom prst="straightConnector1">
            <a:avLst/>
          </a:prstGeom>
          <a:noFill/>
          <a:ln cap="flat" cmpd="sng" w="26650">
            <a:solidFill>
              <a:srgbClr val="84ADF7"/>
            </a:solidFill>
            <a:prstDash val="solid"/>
            <a:miter lim="8000"/>
            <a:headEnd len="sm" w="sm" type="none"/>
            <a:tailEnd len="sm" w="sm" type="none"/>
          </a:ln>
        </p:spPr>
      </p:cxnSp>
      <p:sp>
        <p:nvSpPr>
          <p:cNvPr id="606" name="Google Shape;606;p15"/>
          <p:cNvSpPr/>
          <p:nvPr/>
        </p:nvSpPr>
        <p:spPr>
          <a:xfrm rot="5400000">
            <a:off x="3712463" y="4946904"/>
            <a:ext cx="128016" cy="128016"/>
          </a:xfrm>
          <a:prstGeom prst="triangle">
            <a:avLst>
              <a:gd fmla="val 50000" name="adj"/>
            </a:avLst>
          </a:prstGeom>
          <a:solidFill>
            <a:srgbClr val="84ADF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cxnSp>
        <p:nvCxnSpPr>
          <p:cNvPr id="607" name="Google Shape;607;p15"/>
          <p:cNvCxnSpPr/>
          <p:nvPr/>
        </p:nvCxnSpPr>
        <p:spPr>
          <a:xfrm>
            <a:off x="5879592" y="2505456"/>
            <a:ext cx="1874520" cy="0"/>
          </a:xfrm>
          <a:prstGeom prst="straightConnector1">
            <a:avLst/>
          </a:prstGeom>
          <a:noFill/>
          <a:ln cap="flat" cmpd="sng" w="29200">
            <a:solidFill>
              <a:srgbClr val="84ADF7"/>
            </a:solidFill>
            <a:prstDash val="solid"/>
            <a:miter lim="8000"/>
            <a:headEnd len="sm" w="sm" type="none"/>
            <a:tailEnd len="sm" w="sm" type="none"/>
          </a:ln>
        </p:spPr>
      </p:cxnSp>
      <p:cxnSp>
        <p:nvCxnSpPr>
          <p:cNvPr id="608" name="Google Shape;608;p15"/>
          <p:cNvCxnSpPr/>
          <p:nvPr/>
        </p:nvCxnSpPr>
        <p:spPr>
          <a:xfrm>
            <a:off x="7754112" y="2505456"/>
            <a:ext cx="0" cy="1133856"/>
          </a:xfrm>
          <a:prstGeom prst="straightConnector1">
            <a:avLst/>
          </a:prstGeom>
          <a:noFill/>
          <a:ln cap="flat" cmpd="sng" w="29200">
            <a:solidFill>
              <a:srgbClr val="84ADF7"/>
            </a:solidFill>
            <a:prstDash val="solid"/>
            <a:miter lim="8000"/>
            <a:headEnd len="sm" w="sm" type="none"/>
            <a:tailEnd len="sm" w="sm" type="none"/>
          </a:ln>
        </p:spPr>
      </p:cxnSp>
      <p:sp>
        <p:nvSpPr>
          <p:cNvPr id="609" name="Google Shape;609;p15"/>
          <p:cNvSpPr/>
          <p:nvPr/>
        </p:nvSpPr>
        <p:spPr>
          <a:xfrm rot="10800000">
            <a:off x="7690104" y="3575304"/>
            <a:ext cx="128016" cy="128016"/>
          </a:xfrm>
          <a:prstGeom prst="triangle">
            <a:avLst>
              <a:gd fmla="val 50000" name="adj"/>
            </a:avLst>
          </a:prstGeom>
          <a:solidFill>
            <a:srgbClr val="84ADF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cxnSp>
        <p:nvCxnSpPr>
          <p:cNvPr id="610" name="Google Shape;610;p15"/>
          <p:cNvCxnSpPr/>
          <p:nvPr/>
        </p:nvCxnSpPr>
        <p:spPr>
          <a:xfrm>
            <a:off x="6757416" y="3621024"/>
            <a:ext cx="146304" cy="0"/>
          </a:xfrm>
          <a:prstGeom prst="straightConnector1">
            <a:avLst/>
          </a:prstGeom>
          <a:noFill/>
          <a:ln cap="flat" cmpd="sng" w="26650">
            <a:solidFill>
              <a:srgbClr val="84ADF7"/>
            </a:solidFill>
            <a:prstDash val="solid"/>
            <a:miter lim="8000"/>
            <a:headEnd len="sm" w="sm" type="none"/>
            <a:tailEnd len="sm" w="sm" type="none"/>
          </a:ln>
        </p:spPr>
      </p:cxnSp>
      <p:cxnSp>
        <p:nvCxnSpPr>
          <p:cNvPr id="611" name="Google Shape;611;p15"/>
          <p:cNvCxnSpPr/>
          <p:nvPr/>
        </p:nvCxnSpPr>
        <p:spPr>
          <a:xfrm>
            <a:off x="6903720" y="3621024"/>
            <a:ext cx="0" cy="448056"/>
          </a:xfrm>
          <a:prstGeom prst="straightConnector1">
            <a:avLst/>
          </a:prstGeom>
          <a:noFill/>
          <a:ln cap="flat" cmpd="sng" w="26650">
            <a:solidFill>
              <a:srgbClr val="84ADF7"/>
            </a:solidFill>
            <a:prstDash val="solid"/>
            <a:miter lim="8000"/>
            <a:headEnd len="sm" w="sm" type="none"/>
            <a:tailEnd len="sm" w="sm" type="none"/>
          </a:ln>
        </p:spPr>
      </p:cxnSp>
      <p:cxnSp>
        <p:nvCxnSpPr>
          <p:cNvPr id="612" name="Google Shape;612;p15"/>
          <p:cNvCxnSpPr/>
          <p:nvPr/>
        </p:nvCxnSpPr>
        <p:spPr>
          <a:xfrm>
            <a:off x="6903720" y="4069080"/>
            <a:ext cx="228600" cy="0"/>
          </a:xfrm>
          <a:prstGeom prst="straightConnector1">
            <a:avLst/>
          </a:prstGeom>
          <a:noFill/>
          <a:ln cap="flat" cmpd="sng" w="26650">
            <a:solidFill>
              <a:srgbClr val="84ADF7"/>
            </a:solidFill>
            <a:prstDash val="solid"/>
            <a:miter lim="8000"/>
            <a:headEnd len="sm" w="sm" type="none"/>
            <a:tailEnd len="sm" w="sm" type="none"/>
          </a:ln>
        </p:spPr>
      </p:cxnSp>
      <p:sp>
        <p:nvSpPr>
          <p:cNvPr id="613" name="Google Shape;613;p15"/>
          <p:cNvSpPr/>
          <p:nvPr/>
        </p:nvSpPr>
        <p:spPr>
          <a:xfrm rot="5400000">
            <a:off x="7068312" y="4005072"/>
            <a:ext cx="128016" cy="128016"/>
          </a:xfrm>
          <a:prstGeom prst="triangle">
            <a:avLst>
              <a:gd fmla="val 50000" name="adj"/>
            </a:avLst>
          </a:prstGeom>
          <a:solidFill>
            <a:srgbClr val="84ADF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cxnSp>
        <p:nvCxnSpPr>
          <p:cNvPr id="614" name="Google Shape;614;p15"/>
          <p:cNvCxnSpPr/>
          <p:nvPr/>
        </p:nvCxnSpPr>
        <p:spPr>
          <a:xfrm flipH="1" rot="10800000">
            <a:off x="6757416" y="4069080"/>
            <a:ext cx="374904" cy="256032"/>
          </a:xfrm>
          <a:prstGeom prst="straightConnector1">
            <a:avLst/>
          </a:prstGeom>
          <a:noFill/>
          <a:ln cap="flat" cmpd="sng" w="26650">
            <a:solidFill>
              <a:srgbClr val="84ADF7"/>
            </a:solidFill>
            <a:prstDash val="solid"/>
            <a:miter lim="8000"/>
            <a:headEnd len="sm" w="sm" type="none"/>
            <a:tailEnd len="sm" w="sm" type="none"/>
          </a:ln>
        </p:spPr>
      </p:cxnSp>
      <p:sp>
        <p:nvSpPr>
          <p:cNvPr id="615" name="Google Shape;615;p15"/>
          <p:cNvSpPr/>
          <p:nvPr/>
        </p:nvSpPr>
        <p:spPr>
          <a:xfrm rot="5400000">
            <a:off x="7068312" y="4005072"/>
            <a:ext cx="128016" cy="128016"/>
          </a:xfrm>
          <a:prstGeom prst="triangle">
            <a:avLst>
              <a:gd fmla="val 50000" name="adj"/>
            </a:avLst>
          </a:prstGeom>
          <a:solidFill>
            <a:srgbClr val="84ADF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cxnSp>
        <p:nvCxnSpPr>
          <p:cNvPr id="616" name="Google Shape;616;p15"/>
          <p:cNvCxnSpPr/>
          <p:nvPr/>
        </p:nvCxnSpPr>
        <p:spPr>
          <a:xfrm>
            <a:off x="6757416" y="5020056"/>
            <a:ext cx="146304" cy="0"/>
          </a:xfrm>
          <a:prstGeom prst="straightConnector1">
            <a:avLst/>
          </a:prstGeom>
          <a:noFill/>
          <a:ln cap="flat" cmpd="sng" w="26650">
            <a:solidFill>
              <a:srgbClr val="84ADF7"/>
            </a:solidFill>
            <a:prstDash val="solid"/>
            <a:miter lim="8000"/>
            <a:headEnd len="sm" w="sm" type="none"/>
            <a:tailEnd len="sm" w="sm" type="none"/>
          </a:ln>
        </p:spPr>
      </p:cxnSp>
      <p:cxnSp>
        <p:nvCxnSpPr>
          <p:cNvPr id="617" name="Google Shape;617;p15"/>
          <p:cNvCxnSpPr/>
          <p:nvPr/>
        </p:nvCxnSpPr>
        <p:spPr>
          <a:xfrm rot="10800000">
            <a:off x="6903720" y="4069080"/>
            <a:ext cx="0" cy="950976"/>
          </a:xfrm>
          <a:prstGeom prst="straightConnector1">
            <a:avLst/>
          </a:prstGeom>
          <a:noFill/>
          <a:ln cap="flat" cmpd="sng" w="26650">
            <a:solidFill>
              <a:srgbClr val="84ADF7"/>
            </a:solidFill>
            <a:prstDash val="solid"/>
            <a:miter lim="8000"/>
            <a:headEnd len="sm" w="sm" type="none"/>
            <a:tailEnd len="sm" w="sm" type="none"/>
          </a:ln>
        </p:spPr>
      </p:cxnSp>
      <p:cxnSp>
        <p:nvCxnSpPr>
          <p:cNvPr id="618" name="Google Shape;618;p15"/>
          <p:cNvCxnSpPr/>
          <p:nvPr/>
        </p:nvCxnSpPr>
        <p:spPr>
          <a:xfrm>
            <a:off x="6903720" y="4069080"/>
            <a:ext cx="228600" cy="0"/>
          </a:xfrm>
          <a:prstGeom prst="straightConnector1">
            <a:avLst/>
          </a:prstGeom>
          <a:noFill/>
          <a:ln cap="flat" cmpd="sng" w="26650">
            <a:solidFill>
              <a:srgbClr val="84ADF7"/>
            </a:solidFill>
            <a:prstDash val="solid"/>
            <a:miter lim="8000"/>
            <a:headEnd len="sm" w="sm" type="none"/>
            <a:tailEnd len="sm" w="sm" type="none"/>
          </a:ln>
        </p:spPr>
      </p:cxnSp>
      <p:sp>
        <p:nvSpPr>
          <p:cNvPr id="619" name="Google Shape;619;p15"/>
          <p:cNvSpPr/>
          <p:nvPr/>
        </p:nvSpPr>
        <p:spPr>
          <a:xfrm rot="5400000">
            <a:off x="7068312" y="4005072"/>
            <a:ext cx="128016" cy="128016"/>
          </a:xfrm>
          <a:prstGeom prst="triangle">
            <a:avLst>
              <a:gd fmla="val 50000" name="adj"/>
            </a:avLst>
          </a:prstGeom>
          <a:solidFill>
            <a:srgbClr val="84ADF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620" name="Google Shape;620;p15"/>
          <p:cNvSpPr/>
          <p:nvPr/>
        </p:nvSpPr>
        <p:spPr>
          <a:xfrm>
            <a:off x="621792" y="3282696"/>
            <a:ext cx="1170432" cy="1133856"/>
          </a:xfrm>
          <a:prstGeom prst="roundRect">
            <a:avLst>
              <a:gd fmla="val 16667" name="adj"/>
            </a:avLst>
          </a:prstGeom>
          <a:solidFill>
            <a:srgbClr val="193548"/>
          </a:solidFill>
          <a:ln cap="flat" cmpd="sng" w="15225">
            <a:solidFill>
              <a:srgbClr val="435E84"/>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621" name="Google Shape;621;p15"/>
          <p:cNvSpPr/>
          <p:nvPr/>
        </p:nvSpPr>
        <p:spPr>
          <a:xfrm>
            <a:off x="740664" y="3447288"/>
            <a:ext cx="256032" cy="402336"/>
          </a:xfrm>
          <a:prstGeom prst="rect">
            <a:avLst/>
          </a:prstGeom>
          <a:solidFill>
            <a:srgbClr val="2E5369"/>
          </a:solidFill>
          <a:ln cap="flat" cmpd="sng" w="10150">
            <a:solidFill>
              <a:srgbClr val="8DE1B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cxnSp>
        <p:nvCxnSpPr>
          <p:cNvPr id="622" name="Google Shape;622;p15"/>
          <p:cNvCxnSpPr/>
          <p:nvPr/>
        </p:nvCxnSpPr>
        <p:spPr>
          <a:xfrm>
            <a:off x="781812" y="3566160"/>
            <a:ext cx="169164" cy="0"/>
          </a:xfrm>
          <a:prstGeom prst="straightConnector1">
            <a:avLst/>
          </a:prstGeom>
          <a:noFill/>
          <a:ln cap="flat" cmpd="sng" w="9525">
            <a:solidFill>
              <a:srgbClr val="C7D4E8"/>
            </a:solidFill>
            <a:prstDash val="solid"/>
            <a:miter lim="8000"/>
            <a:headEnd len="sm" w="sm" type="none"/>
            <a:tailEnd len="sm" w="sm" type="none"/>
          </a:ln>
        </p:spPr>
      </p:cxnSp>
      <p:cxnSp>
        <p:nvCxnSpPr>
          <p:cNvPr id="623" name="Google Shape;623;p15"/>
          <p:cNvCxnSpPr/>
          <p:nvPr/>
        </p:nvCxnSpPr>
        <p:spPr>
          <a:xfrm>
            <a:off x="781812" y="3648456"/>
            <a:ext cx="169164" cy="0"/>
          </a:xfrm>
          <a:prstGeom prst="straightConnector1">
            <a:avLst/>
          </a:prstGeom>
          <a:noFill/>
          <a:ln cap="flat" cmpd="sng" w="9525">
            <a:solidFill>
              <a:srgbClr val="C7D4E8"/>
            </a:solidFill>
            <a:prstDash val="solid"/>
            <a:miter lim="8000"/>
            <a:headEnd len="sm" w="sm" type="none"/>
            <a:tailEnd len="sm" w="sm" type="none"/>
          </a:ln>
        </p:spPr>
      </p:cxnSp>
      <p:sp>
        <p:nvSpPr>
          <p:cNvPr id="624" name="Google Shape;624;p15"/>
          <p:cNvSpPr/>
          <p:nvPr/>
        </p:nvSpPr>
        <p:spPr>
          <a:xfrm>
            <a:off x="1051560" y="3447288"/>
            <a:ext cx="256032" cy="402336"/>
          </a:xfrm>
          <a:prstGeom prst="rect">
            <a:avLst/>
          </a:prstGeom>
          <a:solidFill>
            <a:srgbClr val="2E5369"/>
          </a:solidFill>
          <a:ln cap="flat" cmpd="sng" w="10150">
            <a:solidFill>
              <a:srgbClr val="8DE1B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cxnSp>
        <p:nvCxnSpPr>
          <p:cNvPr id="625" name="Google Shape;625;p15"/>
          <p:cNvCxnSpPr/>
          <p:nvPr/>
        </p:nvCxnSpPr>
        <p:spPr>
          <a:xfrm>
            <a:off x="1092708" y="3566160"/>
            <a:ext cx="169164" cy="0"/>
          </a:xfrm>
          <a:prstGeom prst="straightConnector1">
            <a:avLst/>
          </a:prstGeom>
          <a:noFill/>
          <a:ln cap="flat" cmpd="sng" w="9525">
            <a:solidFill>
              <a:srgbClr val="C7D4E8"/>
            </a:solidFill>
            <a:prstDash val="solid"/>
            <a:miter lim="8000"/>
            <a:headEnd len="sm" w="sm" type="none"/>
            <a:tailEnd len="sm" w="sm" type="none"/>
          </a:ln>
        </p:spPr>
      </p:cxnSp>
      <p:cxnSp>
        <p:nvCxnSpPr>
          <p:cNvPr id="626" name="Google Shape;626;p15"/>
          <p:cNvCxnSpPr/>
          <p:nvPr/>
        </p:nvCxnSpPr>
        <p:spPr>
          <a:xfrm>
            <a:off x="1092708" y="3648456"/>
            <a:ext cx="169164" cy="0"/>
          </a:xfrm>
          <a:prstGeom prst="straightConnector1">
            <a:avLst/>
          </a:prstGeom>
          <a:noFill/>
          <a:ln cap="flat" cmpd="sng" w="9525">
            <a:solidFill>
              <a:srgbClr val="C7D4E8"/>
            </a:solidFill>
            <a:prstDash val="solid"/>
            <a:miter lim="8000"/>
            <a:headEnd len="sm" w="sm" type="none"/>
            <a:tailEnd len="sm" w="sm" type="none"/>
          </a:ln>
        </p:spPr>
      </p:cxnSp>
      <p:sp>
        <p:nvSpPr>
          <p:cNvPr id="627" name="Google Shape;627;p15"/>
          <p:cNvSpPr/>
          <p:nvPr/>
        </p:nvSpPr>
        <p:spPr>
          <a:xfrm>
            <a:off x="1362456" y="3447288"/>
            <a:ext cx="256032" cy="402336"/>
          </a:xfrm>
          <a:prstGeom prst="rect">
            <a:avLst/>
          </a:prstGeom>
          <a:solidFill>
            <a:srgbClr val="2E5369"/>
          </a:solidFill>
          <a:ln cap="flat" cmpd="sng" w="10150">
            <a:solidFill>
              <a:srgbClr val="8DE1B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cxnSp>
        <p:nvCxnSpPr>
          <p:cNvPr id="628" name="Google Shape;628;p15"/>
          <p:cNvCxnSpPr/>
          <p:nvPr/>
        </p:nvCxnSpPr>
        <p:spPr>
          <a:xfrm>
            <a:off x="1403604" y="3566160"/>
            <a:ext cx="169164" cy="0"/>
          </a:xfrm>
          <a:prstGeom prst="straightConnector1">
            <a:avLst/>
          </a:prstGeom>
          <a:noFill/>
          <a:ln cap="flat" cmpd="sng" w="9525">
            <a:solidFill>
              <a:srgbClr val="C7D4E8"/>
            </a:solidFill>
            <a:prstDash val="solid"/>
            <a:miter lim="8000"/>
            <a:headEnd len="sm" w="sm" type="none"/>
            <a:tailEnd len="sm" w="sm" type="none"/>
          </a:ln>
        </p:spPr>
      </p:cxnSp>
      <p:cxnSp>
        <p:nvCxnSpPr>
          <p:cNvPr id="629" name="Google Shape;629;p15"/>
          <p:cNvCxnSpPr/>
          <p:nvPr/>
        </p:nvCxnSpPr>
        <p:spPr>
          <a:xfrm>
            <a:off x="1403604" y="3648456"/>
            <a:ext cx="169164" cy="0"/>
          </a:xfrm>
          <a:prstGeom prst="straightConnector1">
            <a:avLst/>
          </a:prstGeom>
          <a:noFill/>
          <a:ln cap="flat" cmpd="sng" w="9525">
            <a:solidFill>
              <a:srgbClr val="C7D4E8"/>
            </a:solidFill>
            <a:prstDash val="solid"/>
            <a:miter lim="8000"/>
            <a:headEnd len="sm" w="sm" type="none"/>
            <a:tailEnd len="sm" w="sm" type="none"/>
          </a:ln>
        </p:spPr>
      </p:cxnSp>
      <p:sp>
        <p:nvSpPr>
          <p:cNvPr id="630" name="Google Shape;630;p15"/>
          <p:cNvSpPr txBox="1"/>
          <p:nvPr/>
        </p:nvSpPr>
        <p:spPr>
          <a:xfrm>
            <a:off x="630936" y="3941063"/>
            <a:ext cx="1152144" cy="283464"/>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US" sz="1400">
                <a:solidFill>
                  <a:srgbClr val="F7F9FD"/>
                </a:solidFill>
                <a:latin typeface="Arial"/>
                <a:ea typeface="Arial"/>
                <a:cs typeface="Arial"/>
                <a:sym typeface="Arial"/>
              </a:rPr>
              <a:t>Schema S</a:t>
            </a:r>
            <a:endParaRPr/>
          </a:p>
        </p:txBody>
      </p:sp>
      <p:sp>
        <p:nvSpPr>
          <p:cNvPr id="631" name="Google Shape;631;p15"/>
          <p:cNvSpPr txBox="1"/>
          <p:nvPr/>
        </p:nvSpPr>
        <p:spPr>
          <a:xfrm>
            <a:off x="1490472" y="3072384"/>
            <a:ext cx="384048" cy="2286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400">
                <a:solidFill>
                  <a:srgbClr val="C7D4E8"/>
                </a:solidFill>
                <a:latin typeface="Arial"/>
                <a:ea typeface="Arial"/>
                <a:cs typeface="Arial"/>
                <a:sym typeface="Arial"/>
              </a:rPr>
              <a:t>(a)</a:t>
            </a:r>
            <a:endParaRPr/>
          </a:p>
        </p:txBody>
      </p:sp>
      <p:sp>
        <p:nvSpPr>
          <p:cNvPr id="632" name="Google Shape;632;p15"/>
          <p:cNvSpPr/>
          <p:nvPr/>
        </p:nvSpPr>
        <p:spPr>
          <a:xfrm>
            <a:off x="1956816" y="3483864"/>
            <a:ext cx="1444752" cy="694944"/>
          </a:xfrm>
          <a:prstGeom prst="roundRect">
            <a:avLst>
              <a:gd fmla="val 16667" name="adj"/>
            </a:avLst>
          </a:prstGeom>
          <a:solidFill>
            <a:srgbClr val="1F3957"/>
          </a:solidFill>
          <a:ln cap="flat" cmpd="sng" w="16500">
            <a:solidFill>
              <a:srgbClr val="84ADF7"/>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633" name="Google Shape;633;p15"/>
          <p:cNvSpPr txBox="1"/>
          <p:nvPr/>
        </p:nvSpPr>
        <p:spPr>
          <a:xfrm>
            <a:off x="2039112" y="3602736"/>
            <a:ext cx="1280160" cy="246888"/>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US" sz="1550">
                <a:solidFill>
                  <a:srgbClr val="F7F9FD"/>
                </a:solidFill>
                <a:latin typeface="Arial"/>
                <a:ea typeface="Arial"/>
                <a:cs typeface="Arial"/>
                <a:sym typeface="Arial"/>
              </a:rPr>
              <a:t>Iterate</a:t>
            </a:r>
            <a:endParaRPr/>
          </a:p>
        </p:txBody>
      </p:sp>
      <p:sp>
        <p:nvSpPr>
          <p:cNvPr id="634" name="Google Shape;634;p15"/>
          <p:cNvSpPr txBox="1"/>
          <p:nvPr/>
        </p:nvSpPr>
        <p:spPr>
          <a:xfrm>
            <a:off x="2048256" y="3877056"/>
            <a:ext cx="1261872" cy="256032"/>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0" lang="en-US" sz="1400">
                <a:solidFill>
                  <a:srgbClr val="C7D4E8"/>
                </a:solidFill>
                <a:latin typeface="Arial"/>
                <a:ea typeface="Arial"/>
                <a:cs typeface="Arial"/>
                <a:sym typeface="Arial"/>
              </a:rPr>
              <a:t>FK-BFS</a:t>
            </a:r>
            <a:endParaRPr/>
          </a:p>
        </p:txBody>
      </p:sp>
      <p:sp>
        <p:nvSpPr>
          <p:cNvPr id="635" name="Google Shape;635;p15"/>
          <p:cNvSpPr/>
          <p:nvPr/>
        </p:nvSpPr>
        <p:spPr>
          <a:xfrm>
            <a:off x="3776472" y="2148840"/>
            <a:ext cx="2103120" cy="758952"/>
          </a:xfrm>
          <a:prstGeom prst="roundRect">
            <a:avLst>
              <a:gd fmla="val 16667" name="adj"/>
            </a:avLst>
          </a:prstGeom>
          <a:solidFill>
            <a:srgbClr val="1F3957"/>
          </a:solidFill>
          <a:ln cap="flat" cmpd="sng" w="16500">
            <a:solidFill>
              <a:srgbClr val="84ADF7"/>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636" name="Google Shape;636;p15"/>
          <p:cNvSpPr txBox="1"/>
          <p:nvPr/>
        </p:nvSpPr>
        <p:spPr>
          <a:xfrm>
            <a:off x="3849624" y="1938528"/>
            <a:ext cx="384048" cy="2286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400">
                <a:solidFill>
                  <a:srgbClr val="C7D4E8"/>
                </a:solidFill>
                <a:latin typeface="Arial"/>
                <a:ea typeface="Arial"/>
                <a:cs typeface="Arial"/>
                <a:sym typeface="Arial"/>
              </a:rPr>
              <a:t>(b)</a:t>
            </a:r>
            <a:endParaRPr/>
          </a:p>
        </p:txBody>
      </p:sp>
      <p:sp>
        <p:nvSpPr>
          <p:cNvPr id="637" name="Google Shape;637;p15"/>
          <p:cNvSpPr txBox="1"/>
          <p:nvPr/>
        </p:nvSpPr>
        <p:spPr>
          <a:xfrm>
            <a:off x="3858768" y="2267712"/>
            <a:ext cx="1938527" cy="246888"/>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US" sz="1550">
                <a:solidFill>
                  <a:srgbClr val="F7F9FD"/>
                </a:solidFill>
                <a:latin typeface="Arial"/>
                <a:ea typeface="Arial"/>
                <a:cs typeface="Arial"/>
                <a:sym typeface="Arial"/>
              </a:rPr>
              <a:t>Direct mapping</a:t>
            </a:r>
            <a:endParaRPr/>
          </a:p>
        </p:txBody>
      </p:sp>
      <p:sp>
        <p:nvSpPr>
          <p:cNvPr id="638" name="Google Shape;638;p15"/>
          <p:cNvSpPr txBox="1"/>
          <p:nvPr/>
        </p:nvSpPr>
        <p:spPr>
          <a:xfrm>
            <a:off x="3867911" y="2542032"/>
            <a:ext cx="1920239" cy="32004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0" lang="en-US" sz="1400">
                <a:solidFill>
                  <a:srgbClr val="C7D4E8"/>
                </a:solidFill>
                <a:latin typeface="Arial"/>
                <a:ea typeface="Arial"/>
                <a:cs typeface="Arial"/>
                <a:sym typeface="Arial"/>
              </a:rPr>
              <a:t>OWL seed DMᵣ</a:t>
            </a:r>
            <a:endParaRPr/>
          </a:p>
        </p:txBody>
      </p:sp>
      <p:sp>
        <p:nvSpPr>
          <p:cNvPr id="639" name="Google Shape;639;p15"/>
          <p:cNvSpPr/>
          <p:nvPr/>
        </p:nvSpPr>
        <p:spPr>
          <a:xfrm>
            <a:off x="3630168" y="3063240"/>
            <a:ext cx="3218688" cy="2432304"/>
          </a:xfrm>
          <a:prstGeom prst="roundRect">
            <a:avLst>
              <a:gd fmla="val 16667" name="adj"/>
            </a:avLst>
          </a:prstGeom>
          <a:solidFill>
            <a:srgbClr val="18314C"/>
          </a:solidFill>
          <a:ln cap="flat" cmpd="sng" w="15225">
            <a:solidFill>
              <a:srgbClr val="435E84"/>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640" name="Google Shape;640;p15"/>
          <p:cNvSpPr txBox="1"/>
          <p:nvPr/>
        </p:nvSpPr>
        <p:spPr>
          <a:xfrm>
            <a:off x="3758184" y="3099816"/>
            <a:ext cx="2990088" cy="210312"/>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US" sz="1400">
                <a:solidFill>
                  <a:srgbClr val="C7D4E8"/>
                </a:solidFill>
                <a:latin typeface="Arial"/>
                <a:ea typeface="Arial"/>
                <a:cs typeface="Arial"/>
                <a:sym typeface="Arial"/>
              </a:rPr>
              <a:t>RETRIEVAL  •  top-k per source</a:t>
            </a:r>
            <a:endParaRPr/>
          </a:p>
        </p:txBody>
      </p:sp>
      <p:sp>
        <p:nvSpPr>
          <p:cNvPr id="641" name="Google Shape;641;p15"/>
          <p:cNvSpPr/>
          <p:nvPr/>
        </p:nvSpPr>
        <p:spPr>
          <a:xfrm>
            <a:off x="3776472" y="3383280"/>
            <a:ext cx="2980944" cy="603504"/>
          </a:xfrm>
          <a:prstGeom prst="roundRect">
            <a:avLst>
              <a:gd fmla="val 16667" name="adj"/>
            </a:avLst>
          </a:prstGeom>
          <a:solidFill>
            <a:srgbClr val="1F3957"/>
          </a:solidFill>
          <a:ln cap="flat" cmpd="sng" w="15225">
            <a:solidFill>
              <a:srgbClr val="84ADF7"/>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642" name="Google Shape;642;p15"/>
          <p:cNvSpPr txBox="1"/>
          <p:nvPr/>
        </p:nvSpPr>
        <p:spPr>
          <a:xfrm>
            <a:off x="3877056" y="3415284"/>
            <a:ext cx="365760" cy="192024"/>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400">
                <a:solidFill>
                  <a:srgbClr val="F9AB5E"/>
                </a:solidFill>
                <a:latin typeface="Arial"/>
                <a:ea typeface="Arial"/>
                <a:cs typeface="Arial"/>
                <a:sym typeface="Arial"/>
              </a:rPr>
              <a:t>(c)</a:t>
            </a:r>
            <a:endParaRPr/>
          </a:p>
        </p:txBody>
      </p:sp>
      <p:sp>
        <p:nvSpPr>
          <p:cNvPr id="643" name="Google Shape;643;p15"/>
          <p:cNvSpPr txBox="1"/>
          <p:nvPr/>
        </p:nvSpPr>
        <p:spPr>
          <a:xfrm>
            <a:off x="4224528" y="3396996"/>
            <a:ext cx="2404872" cy="283464"/>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500">
                <a:solidFill>
                  <a:srgbClr val="F7F9FD"/>
                </a:solidFill>
                <a:latin typeface="Arial"/>
                <a:ea typeface="Arial"/>
                <a:cs typeface="Arial"/>
                <a:sym typeface="Arial"/>
              </a:rPr>
              <a:t>External ontologies</a:t>
            </a:r>
            <a:endParaRPr/>
          </a:p>
        </p:txBody>
      </p:sp>
      <p:sp>
        <p:nvSpPr>
          <p:cNvPr id="644" name="Google Shape;644;p15"/>
          <p:cNvSpPr txBox="1"/>
          <p:nvPr/>
        </p:nvSpPr>
        <p:spPr>
          <a:xfrm>
            <a:off x="4224528" y="3703320"/>
            <a:ext cx="2404872" cy="201168"/>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US" sz="1400">
                <a:solidFill>
                  <a:srgbClr val="C7D4E8"/>
                </a:solidFill>
                <a:latin typeface="Arial"/>
                <a:ea typeface="Arial"/>
                <a:cs typeface="Arial"/>
                <a:sym typeface="Arial"/>
              </a:rPr>
              <a:t>Domain alignments</a:t>
            </a:r>
            <a:endParaRPr/>
          </a:p>
        </p:txBody>
      </p:sp>
      <p:sp>
        <p:nvSpPr>
          <p:cNvPr id="645" name="Google Shape;645;p15"/>
          <p:cNvSpPr/>
          <p:nvPr/>
        </p:nvSpPr>
        <p:spPr>
          <a:xfrm>
            <a:off x="3776472" y="4087368"/>
            <a:ext cx="2980944" cy="603504"/>
          </a:xfrm>
          <a:prstGeom prst="roundRect">
            <a:avLst>
              <a:gd fmla="val 16667" name="adj"/>
            </a:avLst>
          </a:prstGeom>
          <a:solidFill>
            <a:srgbClr val="1F3957"/>
          </a:solidFill>
          <a:ln cap="flat" cmpd="sng" w="15225">
            <a:solidFill>
              <a:srgbClr val="84ADF7"/>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646" name="Google Shape;646;p15"/>
          <p:cNvSpPr txBox="1"/>
          <p:nvPr/>
        </p:nvSpPr>
        <p:spPr>
          <a:xfrm>
            <a:off x="3877056" y="4119372"/>
            <a:ext cx="365760" cy="192024"/>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400">
                <a:solidFill>
                  <a:srgbClr val="F9AB5E"/>
                </a:solidFill>
                <a:latin typeface="Arial"/>
                <a:ea typeface="Arial"/>
                <a:cs typeface="Arial"/>
                <a:sym typeface="Arial"/>
              </a:rPr>
              <a:t>(d)</a:t>
            </a:r>
            <a:endParaRPr/>
          </a:p>
        </p:txBody>
      </p:sp>
      <p:sp>
        <p:nvSpPr>
          <p:cNvPr id="647" name="Google Shape;647;p15"/>
          <p:cNvSpPr txBox="1"/>
          <p:nvPr/>
        </p:nvSpPr>
        <p:spPr>
          <a:xfrm>
            <a:off x="4224528" y="4101084"/>
            <a:ext cx="2404872" cy="283464"/>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500">
                <a:solidFill>
                  <a:srgbClr val="F7F9FD"/>
                </a:solidFill>
                <a:latin typeface="Arial"/>
                <a:ea typeface="Arial"/>
                <a:cs typeface="Arial"/>
                <a:sym typeface="Arial"/>
              </a:rPr>
              <a:t>Documentation</a:t>
            </a:r>
            <a:endParaRPr/>
          </a:p>
        </p:txBody>
      </p:sp>
      <p:sp>
        <p:nvSpPr>
          <p:cNvPr id="648" name="Google Shape;648;p15"/>
          <p:cNvSpPr txBox="1"/>
          <p:nvPr/>
        </p:nvSpPr>
        <p:spPr>
          <a:xfrm>
            <a:off x="4224528" y="4407408"/>
            <a:ext cx="2404872" cy="201168"/>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US" sz="1400">
                <a:solidFill>
                  <a:srgbClr val="C7D4E8"/>
                </a:solidFill>
                <a:latin typeface="Arial"/>
                <a:ea typeface="Arial"/>
                <a:cs typeface="Arial"/>
                <a:sym typeface="Arial"/>
              </a:rPr>
              <a:t>Cryptic fields and codes</a:t>
            </a:r>
            <a:endParaRPr/>
          </a:p>
        </p:txBody>
      </p:sp>
      <p:sp>
        <p:nvSpPr>
          <p:cNvPr id="649" name="Google Shape;649;p15"/>
          <p:cNvSpPr/>
          <p:nvPr/>
        </p:nvSpPr>
        <p:spPr>
          <a:xfrm>
            <a:off x="3776472" y="4791456"/>
            <a:ext cx="2980944" cy="603504"/>
          </a:xfrm>
          <a:prstGeom prst="roundRect">
            <a:avLst>
              <a:gd fmla="val 16667" name="adj"/>
            </a:avLst>
          </a:prstGeom>
          <a:solidFill>
            <a:srgbClr val="1F3957"/>
          </a:solidFill>
          <a:ln cap="flat" cmpd="sng" w="15225">
            <a:solidFill>
              <a:srgbClr val="84ADF7"/>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650" name="Google Shape;650;p15"/>
          <p:cNvSpPr txBox="1"/>
          <p:nvPr/>
        </p:nvSpPr>
        <p:spPr>
          <a:xfrm>
            <a:off x="3877056" y="4823460"/>
            <a:ext cx="365760" cy="192024"/>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400">
                <a:solidFill>
                  <a:srgbClr val="F9AB5E"/>
                </a:solidFill>
                <a:latin typeface="Arial"/>
                <a:ea typeface="Arial"/>
                <a:cs typeface="Arial"/>
                <a:sym typeface="Arial"/>
              </a:rPr>
              <a:t>(e)</a:t>
            </a:r>
            <a:endParaRPr/>
          </a:p>
        </p:txBody>
      </p:sp>
      <p:sp>
        <p:nvSpPr>
          <p:cNvPr id="651" name="Google Shape;651;p15"/>
          <p:cNvSpPr txBox="1"/>
          <p:nvPr/>
        </p:nvSpPr>
        <p:spPr>
          <a:xfrm>
            <a:off x="4224528" y="4805172"/>
            <a:ext cx="2404872" cy="283464"/>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500">
                <a:solidFill>
                  <a:srgbClr val="F7F9FD"/>
                </a:solidFill>
                <a:latin typeface="Arial"/>
                <a:ea typeface="Arial"/>
                <a:cs typeface="Arial"/>
                <a:sym typeface="Arial"/>
              </a:rPr>
              <a:t>Growing core ontology</a:t>
            </a:r>
            <a:endParaRPr/>
          </a:p>
        </p:txBody>
      </p:sp>
      <p:sp>
        <p:nvSpPr>
          <p:cNvPr id="652" name="Google Shape;652;p15"/>
          <p:cNvSpPr txBox="1"/>
          <p:nvPr/>
        </p:nvSpPr>
        <p:spPr>
          <a:xfrm>
            <a:off x="4224528" y="5111496"/>
            <a:ext cx="2404872" cy="201168"/>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US" sz="1400">
                <a:solidFill>
                  <a:srgbClr val="C7D4E8"/>
                </a:solidFill>
                <a:latin typeface="Arial"/>
                <a:ea typeface="Arial"/>
                <a:cs typeface="Arial"/>
                <a:sym typeface="Arial"/>
              </a:rPr>
              <a:t>Reuse validated IRIs</a:t>
            </a:r>
            <a:endParaRPr/>
          </a:p>
        </p:txBody>
      </p:sp>
      <p:sp>
        <p:nvSpPr>
          <p:cNvPr id="653" name="Google Shape;653;p15"/>
          <p:cNvSpPr/>
          <p:nvPr/>
        </p:nvSpPr>
        <p:spPr>
          <a:xfrm>
            <a:off x="7150608" y="3666744"/>
            <a:ext cx="1335024" cy="822960"/>
          </a:xfrm>
          <a:prstGeom prst="roundRect">
            <a:avLst>
              <a:gd fmla="val 16667" name="adj"/>
            </a:avLst>
          </a:prstGeom>
          <a:solidFill>
            <a:srgbClr val="3D495F"/>
          </a:solidFill>
          <a:ln cap="flat" cmpd="sng" w="29200">
            <a:solidFill>
              <a:srgbClr val="F9AB5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654" name="Google Shape;654;p15"/>
          <p:cNvSpPr txBox="1"/>
          <p:nvPr/>
        </p:nvSpPr>
        <p:spPr>
          <a:xfrm>
            <a:off x="7223760" y="3456432"/>
            <a:ext cx="384048" cy="2286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400">
                <a:solidFill>
                  <a:srgbClr val="F9AB5E"/>
                </a:solidFill>
                <a:latin typeface="Arial"/>
                <a:ea typeface="Arial"/>
                <a:cs typeface="Arial"/>
                <a:sym typeface="Arial"/>
              </a:rPr>
              <a:t>(f)</a:t>
            </a:r>
            <a:endParaRPr/>
          </a:p>
        </p:txBody>
      </p:sp>
      <p:sp>
        <p:nvSpPr>
          <p:cNvPr id="655" name="Google Shape;655;p15"/>
          <p:cNvSpPr txBox="1"/>
          <p:nvPr/>
        </p:nvSpPr>
        <p:spPr>
          <a:xfrm>
            <a:off x="7232904" y="3785615"/>
            <a:ext cx="1170432" cy="246888"/>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US" sz="1550">
                <a:solidFill>
                  <a:srgbClr val="F7F9FD"/>
                </a:solidFill>
                <a:latin typeface="Arial"/>
                <a:ea typeface="Arial"/>
                <a:cs typeface="Arial"/>
                <a:sym typeface="Arial"/>
              </a:rPr>
              <a:t>Gen-LLM</a:t>
            </a:r>
            <a:endParaRPr/>
          </a:p>
        </p:txBody>
      </p:sp>
      <p:sp>
        <p:nvSpPr>
          <p:cNvPr id="656" name="Google Shape;656;p15"/>
          <p:cNvSpPr txBox="1"/>
          <p:nvPr/>
        </p:nvSpPr>
        <p:spPr>
          <a:xfrm>
            <a:off x="7242048" y="4059935"/>
            <a:ext cx="1152144" cy="384048"/>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0" lang="en-US" sz="1400">
                <a:solidFill>
                  <a:srgbClr val="C7D4E8"/>
                </a:solidFill>
                <a:latin typeface="Arial"/>
                <a:ea typeface="Arial"/>
                <a:cs typeface="Arial"/>
                <a:sym typeface="Arial"/>
              </a:rPr>
              <a:t>creates ΔOᵣ</a:t>
            </a:r>
            <a:endParaRPr/>
          </a:p>
        </p:txBody>
      </p:sp>
      <p:sp>
        <p:nvSpPr>
          <p:cNvPr id="657" name="Google Shape;657;p15"/>
          <p:cNvSpPr txBox="1"/>
          <p:nvPr/>
        </p:nvSpPr>
        <p:spPr>
          <a:xfrm>
            <a:off x="8586216" y="3648456"/>
            <a:ext cx="713232" cy="246888"/>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400">
                <a:solidFill>
                  <a:srgbClr val="F9AB5E"/>
                </a:solidFill>
                <a:latin typeface="Arial"/>
                <a:ea typeface="Arial"/>
                <a:cs typeface="Arial"/>
                <a:sym typeface="Arial"/>
              </a:rPr>
              <a:t>(g) ΔOᵣ</a:t>
            </a:r>
            <a:endParaRPr/>
          </a:p>
        </p:txBody>
      </p:sp>
      <p:sp>
        <p:nvSpPr>
          <p:cNvPr id="658" name="Google Shape;658;p15"/>
          <p:cNvSpPr/>
          <p:nvPr/>
        </p:nvSpPr>
        <p:spPr>
          <a:xfrm>
            <a:off x="9208008" y="3355848"/>
            <a:ext cx="2176272" cy="1325880"/>
          </a:xfrm>
          <a:prstGeom prst="roundRect">
            <a:avLst>
              <a:gd fmla="val 16667" name="adj"/>
            </a:avLst>
          </a:prstGeom>
          <a:solidFill>
            <a:srgbClr val="253B57"/>
          </a:solidFill>
          <a:ln cap="flat" cmpd="sng" w="20300">
            <a:solidFill>
              <a:srgbClr val="F9AB5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659" name="Google Shape;659;p15"/>
          <p:cNvSpPr txBox="1"/>
          <p:nvPr/>
        </p:nvSpPr>
        <p:spPr>
          <a:xfrm>
            <a:off x="9400032" y="3547872"/>
            <a:ext cx="1783080" cy="265176"/>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550">
                <a:solidFill>
                  <a:srgbClr val="F9AB5E"/>
                </a:solidFill>
                <a:latin typeface="Arial"/>
                <a:ea typeface="Arial"/>
                <a:cs typeface="Arial"/>
                <a:sym typeface="Arial"/>
              </a:rPr>
              <a:t>DELTA ONTOLOGY</a:t>
            </a:r>
            <a:endParaRPr/>
          </a:p>
        </p:txBody>
      </p:sp>
      <p:sp>
        <p:nvSpPr>
          <p:cNvPr id="660" name="Google Shape;660;p15"/>
          <p:cNvSpPr txBox="1"/>
          <p:nvPr/>
        </p:nvSpPr>
        <p:spPr>
          <a:xfrm>
            <a:off x="9400032" y="3886200"/>
            <a:ext cx="1764792" cy="630936"/>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US" sz="1600">
                <a:solidFill>
                  <a:srgbClr val="F7F9FD"/>
                </a:solidFill>
                <a:latin typeface="Arial"/>
                <a:ea typeface="Arial"/>
                <a:cs typeface="Arial"/>
                <a:sym typeface="Arial"/>
              </a:rPr>
              <a:t>Semantic axioms + provenance</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427"/>
        </a:solidFill>
      </p:bgPr>
    </p:bg>
    <p:spTree>
      <p:nvGrpSpPr>
        <p:cNvPr id="665" name="Shape 665"/>
        <p:cNvGrpSpPr/>
        <p:nvPr/>
      </p:nvGrpSpPr>
      <p:grpSpPr>
        <a:xfrm>
          <a:off x="0" y="0"/>
          <a:ext cx="0" cy="0"/>
          <a:chOff x="0" y="0"/>
          <a:chExt cx="0" cy="0"/>
        </a:xfrm>
      </p:grpSpPr>
      <p:sp>
        <p:nvSpPr>
          <p:cNvPr id="666" name="Google Shape;666;p16"/>
          <p:cNvSpPr txBox="1"/>
          <p:nvPr/>
        </p:nvSpPr>
        <p:spPr>
          <a:xfrm>
            <a:off x="512064" y="320040"/>
            <a:ext cx="6675120" cy="301752"/>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500">
                <a:solidFill>
                  <a:srgbClr val="F9AB5E"/>
                </a:solidFill>
                <a:latin typeface="Arial"/>
                <a:ea typeface="Arial"/>
                <a:cs typeface="Arial"/>
                <a:sym typeface="Arial"/>
              </a:rPr>
              <a:t>RIGOR  /  REASSEMBLING THE ARCHITECTURE</a:t>
            </a:r>
            <a:endParaRPr/>
          </a:p>
        </p:txBody>
      </p:sp>
      <p:sp>
        <p:nvSpPr>
          <p:cNvPr id="667" name="Google Shape;667;p16"/>
          <p:cNvSpPr txBox="1"/>
          <p:nvPr/>
        </p:nvSpPr>
        <p:spPr>
          <a:xfrm>
            <a:off x="512064" y="685800"/>
            <a:ext cx="10881360" cy="475488"/>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2900">
                <a:solidFill>
                  <a:srgbClr val="F7F9FD"/>
                </a:solidFill>
                <a:latin typeface="Arial"/>
                <a:ea typeface="Arial"/>
                <a:cs typeface="Arial"/>
                <a:sym typeface="Arial"/>
              </a:rPr>
              <a:t>5. Validate before integration</a:t>
            </a:r>
            <a:endParaRPr/>
          </a:p>
        </p:txBody>
      </p:sp>
      <p:sp>
        <p:nvSpPr>
          <p:cNvPr id="668" name="Google Shape;668;p16"/>
          <p:cNvSpPr txBox="1"/>
          <p:nvPr/>
        </p:nvSpPr>
        <p:spPr>
          <a:xfrm>
            <a:off x="512064" y="1271016"/>
            <a:ext cx="10607040" cy="310896"/>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US" sz="1600">
                <a:solidFill>
                  <a:srgbClr val="C7D4E8"/>
                </a:solidFill>
                <a:latin typeface="Arial"/>
                <a:ea typeface="Arial"/>
                <a:cs typeface="Arial"/>
                <a:sym typeface="Arial"/>
              </a:rPr>
              <a:t>Paper Fig. 1(h)  ·  Validate and refine each delta before it joins the core.</a:t>
            </a:r>
            <a:endParaRPr/>
          </a:p>
        </p:txBody>
      </p:sp>
      <p:sp>
        <p:nvSpPr>
          <p:cNvPr id="669" name="Google Shape;669;p16"/>
          <p:cNvSpPr/>
          <p:nvPr/>
        </p:nvSpPr>
        <p:spPr>
          <a:xfrm>
            <a:off x="9692640" y="356616"/>
            <a:ext cx="274320" cy="64008"/>
          </a:xfrm>
          <a:prstGeom prst="rect">
            <a:avLst/>
          </a:prstGeom>
          <a:solidFill>
            <a:srgbClr val="F9AB5E"/>
          </a:solidFill>
          <a:ln cap="flat" cmpd="sng" w="9525">
            <a:solidFill>
              <a:srgbClr val="F9AB5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670" name="Google Shape;670;p16"/>
          <p:cNvSpPr/>
          <p:nvPr/>
        </p:nvSpPr>
        <p:spPr>
          <a:xfrm>
            <a:off x="10049256" y="356616"/>
            <a:ext cx="274320" cy="64008"/>
          </a:xfrm>
          <a:prstGeom prst="rect">
            <a:avLst/>
          </a:prstGeom>
          <a:solidFill>
            <a:srgbClr val="F9AB5E"/>
          </a:solidFill>
          <a:ln cap="flat" cmpd="sng" w="9525">
            <a:solidFill>
              <a:srgbClr val="F9AB5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671" name="Google Shape;671;p16"/>
          <p:cNvSpPr/>
          <p:nvPr/>
        </p:nvSpPr>
        <p:spPr>
          <a:xfrm>
            <a:off x="10405872" y="356616"/>
            <a:ext cx="274320" cy="64008"/>
          </a:xfrm>
          <a:prstGeom prst="rect">
            <a:avLst/>
          </a:prstGeom>
          <a:solidFill>
            <a:srgbClr val="F9AB5E"/>
          </a:solidFill>
          <a:ln cap="flat" cmpd="sng" w="9525">
            <a:solidFill>
              <a:srgbClr val="F9AB5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672" name="Google Shape;672;p16"/>
          <p:cNvSpPr/>
          <p:nvPr/>
        </p:nvSpPr>
        <p:spPr>
          <a:xfrm>
            <a:off x="10762488" y="356616"/>
            <a:ext cx="274320" cy="64008"/>
          </a:xfrm>
          <a:prstGeom prst="rect">
            <a:avLst/>
          </a:prstGeom>
          <a:solidFill>
            <a:srgbClr val="F9AB5E"/>
          </a:solidFill>
          <a:ln cap="flat" cmpd="sng" w="9525">
            <a:solidFill>
              <a:srgbClr val="F9AB5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673" name="Google Shape;673;p16"/>
          <p:cNvSpPr/>
          <p:nvPr/>
        </p:nvSpPr>
        <p:spPr>
          <a:xfrm>
            <a:off x="11119104" y="356616"/>
            <a:ext cx="274320" cy="64008"/>
          </a:xfrm>
          <a:prstGeom prst="rect">
            <a:avLst/>
          </a:prstGeom>
          <a:solidFill>
            <a:srgbClr val="F9AB5E"/>
          </a:solidFill>
          <a:ln cap="flat" cmpd="sng" w="9525">
            <a:solidFill>
              <a:srgbClr val="F9AB5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674" name="Google Shape;674;p16"/>
          <p:cNvSpPr/>
          <p:nvPr/>
        </p:nvSpPr>
        <p:spPr>
          <a:xfrm>
            <a:off x="11475720" y="356616"/>
            <a:ext cx="274320" cy="64008"/>
          </a:xfrm>
          <a:prstGeom prst="rect">
            <a:avLst/>
          </a:prstGeom>
          <a:solidFill>
            <a:srgbClr val="455B7A"/>
          </a:solidFill>
          <a:ln cap="flat" cmpd="sng" w="9525">
            <a:solidFill>
              <a:srgbClr val="455B7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675" name="Google Shape;675;p16"/>
          <p:cNvSpPr/>
          <p:nvPr/>
        </p:nvSpPr>
        <p:spPr>
          <a:xfrm>
            <a:off x="438912" y="1792224"/>
            <a:ext cx="11301984" cy="4187952"/>
          </a:xfrm>
          <a:prstGeom prst="roundRect">
            <a:avLst>
              <a:gd fmla="val 16667" name="adj"/>
            </a:avLst>
          </a:prstGeom>
          <a:solidFill>
            <a:srgbClr val="132641"/>
          </a:solidFill>
          <a:ln cap="flat" cmpd="sng" w="12700">
            <a:solidFill>
              <a:srgbClr val="304C7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676" name="Google Shape;676;p16"/>
          <p:cNvSpPr txBox="1"/>
          <p:nvPr/>
        </p:nvSpPr>
        <p:spPr>
          <a:xfrm>
            <a:off x="566928" y="6208776"/>
            <a:ext cx="10881360" cy="292608"/>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550">
                <a:solidFill>
                  <a:srgbClr val="F7F9FD"/>
                </a:solidFill>
                <a:latin typeface="Arial"/>
                <a:ea typeface="Arial"/>
                <a:cs typeface="Arial"/>
                <a:sym typeface="Arial"/>
              </a:rPr>
              <a:t>Recall slide 10  •  Reject or correct errors before allowing a fragment into the core ontology.</a:t>
            </a:r>
            <a:endParaRPr/>
          </a:p>
        </p:txBody>
      </p:sp>
      <p:sp>
        <p:nvSpPr>
          <p:cNvPr id="677" name="Google Shape;677;p16"/>
          <p:cNvSpPr txBox="1"/>
          <p:nvPr/>
        </p:nvSpPr>
        <p:spPr>
          <a:xfrm>
            <a:off x="10917936" y="6519672"/>
            <a:ext cx="804672" cy="182880"/>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r>
              <a:rPr b="0" lang="en-US" sz="1400">
                <a:solidFill>
                  <a:srgbClr val="C7D4E8"/>
                </a:solidFill>
                <a:latin typeface="Arial"/>
                <a:ea typeface="Arial"/>
                <a:cs typeface="Arial"/>
                <a:sym typeface="Arial"/>
              </a:rPr>
              <a:t>5 / 6</a:t>
            </a:r>
            <a:endParaRPr/>
          </a:p>
        </p:txBody>
      </p:sp>
      <p:cxnSp>
        <p:nvCxnSpPr>
          <p:cNvPr id="678" name="Google Shape;678;p16"/>
          <p:cNvCxnSpPr/>
          <p:nvPr/>
        </p:nvCxnSpPr>
        <p:spPr>
          <a:xfrm>
            <a:off x="1792224" y="3831336"/>
            <a:ext cx="164592" cy="0"/>
          </a:xfrm>
          <a:prstGeom prst="straightConnector1">
            <a:avLst/>
          </a:prstGeom>
          <a:noFill/>
          <a:ln cap="flat" cmpd="sng" w="38100">
            <a:solidFill>
              <a:srgbClr val="84ADF7"/>
            </a:solidFill>
            <a:prstDash val="solid"/>
            <a:miter lim="8000"/>
            <a:headEnd len="sm" w="sm" type="none"/>
            <a:tailEnd len="sm" w="sm" type="none"/>
          </a:ln>
        </p:spPr>
      </p:cxnSp>
      <p:sp>
        <p:nvSpPr>
          <p:cNvPr id="679" name="Google Shape;679;p16"/>
          <p:cNvSpPr/>
          <p:nvPr/>
        </p:nvSpPr>
        <p:spPr>
          <a:xfrm rot="5400000">
            <a:off x="1892808" y="3767328"/>
            <a:ext cx="128016" cy="128016"/>
          </a:xfrm>
          <a:prstGeom prst="triangle">
            <a:avLst>
              <a:gd fmla="val 50000" name="adj"/>
            </a:avLst>
          </a:prstGeom>
          <a:solidFill>
            <a:srgbClr val="84ADF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cxnSp>
        <p:nvCxnSpPr>
          <p:cNvPr id="680" name="Google Shape;680;p16"/>
          <p:cNvCxnSpPr/>
          <p:nvPr/>
        </p:nvCxnSpPr>
        <p:spPr>
          <a:xfrm>
            <a:off x="3401568" y="3794760"/>
            <a:ext cx="100584" cy="0"/>
          </a:xfrm>
          <a:prstGeom prst="straightConnector1">
            <a:avLst/>
          </a:prstGeom>
          <a:noFill/>
          <a:ln cap="flat" cmpd="sng" w="29200">
            <a:solidFill>
              <a:srgbClr val="84ADF7"/>
            </a:solidFill>
            <a:prstDash val="solid"/>
            <a:miter lim="8000"/>
            <a:headEnd len="sm" w="sm" type="none"/>
            <a:tailEnd len="sm" w="sm" type="none"/>
          </a:ln>
        </p:spPr>
      </p:cxnSp>
      <p:cxnSp>
        <p:nvCxnSpPr>
          <p:cNvPr id="681" name="Google Shape;681;p16"/>
          <p:cNvCxnSpPr/>
          <p:nvPr/>
        </p:nvCxnSpPr>
        <p:spPr>
          <a:xfrm rot="10800000">
            <a:off x="3502152" y="2523744"/>
            <a:ext cx="0" cy="1271016"/>
          </a:xfrm>
          <a:prstGeom prst="straightConnector1">
            <a:avLst/>
          </a:prstGeom>
          <a:noFill/>
          <a:ln cap="flat" cmpd="sng" w="29200">
            <a:solidFill>
              <a:srgbClr val="84ADF7"/>
            </a:solidFill>
            <a:prstDash val="solid"/>
            <a:miter lim="8000"/>
            <a:headEnd len="sm" w="sm" type="none"/>
            <a:tailEnd len="sm" w="sm" type="none"/>
          </a:ln>
        </p:spPr>
      </p:cxnSp>
      <p:cxnSp>
        <p:nvCxnSpPr>
          <p:cNvPr id="682" name="Google Shape;682;p16"/>
          <p:cNvCxnSpPr/>
          <p:nvPr/>
        </p:nvCxnSpPr>
        <p:spPr>
          <a:xfrm>
            <a:off x="3502152" y="2523744"/>
            <a:ext cx="265176" cy="0"/>
          </a:xfrm>
          <a:prstGeom prst="straightConnector1">
            <a:avLst/>
          </a:prstGeom>
          <a:noFill/>
          <a:ln cap="flat" cmpd="sng" w="29200">
            <a:solidFill>
              <a:srgbClr val="84ADF7"/>
            </a:solidFill>
            <a:prstDash val="solid"/>
            <a:miter lim="8000"/>
            <a:headEnd len="sm" w="sm" type="none"/>
            <a:tailEnd len="sm" w="sm" type="none"/>
          </a:ln>
        </p:spPr>
      </p:cxnSp>
      <p:sp>
        <p:nvSpPr>
          <p:cNvPr id="683" name="Google Shape;683;p16"/>
          <p:cNvSpPr/>
          <p:nvPr/>
        </p:nvSpPr>
        <p:spPr>
          <a:xfrm rot="5400000">
            <a:off x="3703320" y="2459736"/>
            <a:ext cx="128016" cy="128016"/>
          </a:xfrm>
          <a:prstGeom prst="triangle">
            <a:avLst>
              <a:gd fmla="val 50000" name="adj"/>
            </a:avLst>
          </a:prstGeom>
          <a:solidFill>
            <a:srgbClr val="84ADF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cxnSp>
        <p:nvCxnSpPr>
          <p:cNvPr id="684" name="Google Shape;684;p16"/>
          <p:cNvCxnSpPr/>
          <p:nvPr/>
        </p:nvCxnSpPr>
        <p:spPr>
          <a:xfrm>
            <a:off x="3401568" y="3931920"/>
            <a:ext cx="118872" cy="0"/>
          </a:xfrm>
          <a:prstGeom prst="straightConnector1">
            <a:avLst/>
          </a:prstGeom>
          <a:noFill/>
          <a:ln cap="flat" cmpd="sng" w="26650">
            <a:solidFill>
              <a:srgbClr val="84ADF7"/>
            </a:solidFill>
            <a:prstDash val="solid"/>
            <a:miter lim="8000"/>
            <a:headEnd len="sm" w="sm" type="none"/>
            <a:tailEnd len="sm" w="sm" type="none"/>
          </a:ln>
        </p:spPr>
      </p:cxnSp>
      <p:cxnSp>
        <p:nvCxnSpPr>
          <p:cNvPr id="685" name="Google Shape;685;p16"/>
          <p:cNvCxnSpPr/>
          <p:nvPr/>
        </p:nvCxnSpPr>
        <p:spPr>
          <a:xfrm rot="10800000">
            <a:off x="3520440" y="3621024"/>
            <a:ext cx="0" cy="310896"/>
          </a:xfrm>
          <a:prstGeom prst="straightConnector1">
            <a:avLst/>
          </a:prstGeom>
          <a:noFill/>
          <a:ln cap="flat" cmpd="sng" w="26650">
            <a:solidFill>
              <a:srgbClr val="84ADF7"/>
            </a:solidFill>
            <a:prstDash val="solid"/>
            <a:miter lim="8000"/>
            <a:headEnd len="sm" w="sm" type="none"/>
            <a:tailEnd len="sm" w="sm" type="none"/>
          </a:ln>
        </p:spPr>
      </p:cxnSp>
      <p:cxnSp>
        <p:nvCxnSpPr>
          <p:cNvPr id="686" name="Google Shape;686;p16"/>
          <p:cNvCxnSpPr/>
          <p:nvPr/>
        </p:nvCxnSpPr>
        <p:spPr>
          <a:xfrm>
            <a:off x="3520440" y="3621024"/>
            <a:ext cx="256032" cy="0"/>
          </a:xfrm>
          <a:prstGeom prst="straightConnector1">
            <a:avLst/>
          </a:prstGeom>
          <a:noFill/>
          <a:ln cap="flat" cmpd="sng" w="26650">
            <a:solidFill>
              <a:srgbClr val="84ADF7"/>
            </a:solidFill>
            <a:prstDash val="solid"/>
            <a:miter lim="8000"/>
            <a:headEnd len="sm" w="sm" type="none"/>
            <a:tailEnd len="sm" w="sm" type="none"/>
          </a:ln>
        </p:spPr>
      </p:cxnSp>
      <p:sp>
        <p:nvSpPr>
          <p:cNvPr id="687" name="Google Shape;687;p16"/>
          <p:cNvSpPr/>
          <p:nvPr/>
        </p:nvSpPr>
        <p:spPr>
          <a:xfrm rot="5400000">
            <a:off x="3712463" y="3557016"/>
            <a:ext cx="128016" cy="128016"/>
          </a:xfrm>
          <a:prstGeom prst="triangle">
            <a:avLst>
              <a:gd fmla="val 50000" name="adj"/>
            </a:avLst>
          </a:prstGeom>
          <a:solidFill>
            <a:srgbClr val="84ADF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cxnSp>
        <p:nvCxnSpPr>
          <p:cNvPr id="688" name="Google Shape;688;p16"/>
          <p:cNvCxnSpPr/>
          <p:nvPr/>
        </p:nvCxnSpPr>
        <p:spPr>
          <a:xfrm>
            <a:off x="3401568" y="3931920"/>
            <a:ext cx="118872" cy="0"/>
          </a:xfrm>
          <a:prstGeom prst="straightConnector1">
            <a:avLst/>
          </a:prstGeom>
          <a:noFill/>
          <a:ln cap="flat" cmpd="sng" w="26650">
            <a:solidFill>
              <a:srgbClr val="84ADF7"/>
            </a:solidFill>
            <a:prstDash val="solid"/>
            <a:miter lim="8000"/>
            <a:headEnd len="sm" w="sm" type="none"/>
            <a:tailEnd len="sm" w="sm" type="none"/>
          </a:ln>
        </p:spPr>
      </p:cxnSp>
      <p:cxnSp>
        <p:nvCxnSpPr>
          <p:cNvPr id="689" name="Google Shape;689;p16"/>
          <p:cNvCxnSpPr/>
          <p:nvPr/>
        </p:nvCxnSpPr>
        <p:spPr>
          <a:xfrm>
            <a:off x="3520440" y="3931920"/>
            <a:ext cx="0" cy="384048"/>
          </a:xfrm>
          <a:prstGeom prst="straightConnector1">
            <a:avLst/>
          </a:prstGeom>
          <a:noFill/>
          <a:ln cap="flat" cmpd="sng" w="26650">
            <a:solidFill>
              <a:srgbClr val="84ADF7"/>
            </a:solidFill>
            <a:prstDash val="solid"/>
            <a:miter lim="8000"/>
            <a:headEnd len="sm" w="sm" type="none"/>
            <a:tailEnd len="sm" w="sm" type="none"/>
          </a:ln>
        </p:spPr>
      </p:cxnSp>
      <p:cxnSp>
        <p:nvCxnSpPr>
          <p:cNvPr id="690" name="Google Shape;690;p16"/>
          <p:cNvCxnSpPr/>
          <p:nvPr/>
        </p:nvCxnSpPr>
        <p:spPr>
          <a:xfrm>
            <a:off x="3520440" y="4315968"/>
            <a:ext cx="256032" cy="0"/>
          </a:xfrm>
          <a:prstGeom prst="straightConnector1">
            <a:avLst/>
          </a:prstGeom>
          <a:noFill/>
          <a:ln cap="flat" cmpd="sng" w="26650">
            <a:solidFill>
              <a:srgbClr val="84ADF7"/>
            </a:solidFill>
            <a:prstDash val="solid"/>
            <a:miter lim="8000"/>
            <a:headEnd len="sm" w="sm" type="none"/>
            <a:tailEnd len="sm" w="sm" type="none"/>
          </a:ln>
        </p:spPr>
      </p:cxnSp>
      <p:sp>
        <p:nvSpPr>
          <p:cNvPr id="691" name="Google Shape;691;p16"/>
          <p:cNvSpPr/>
          <p:nvPr/>
        </p:nvSpPr>
        <p:spPr>
          <a:xfrm rot="5400000">
            <a:off x="3712463" y="4251959"/>
            <a:ext cx="128016" cy="128016"/>
          </a:xfrm>
          <a:prstGeom prst="triangle">
            <a:avLst>
              <a:gd fmla="val 50000" name="adj"/>
            </a:avLst>
          </a:prstGeom>
          <a:solidFill>
            <a:srgbClr val="84ADF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cxnSp>
        <p:nvCxnSpPr>
          <p:cNvPr id="692" name="Google Shape;692;p16"/>
          <p:cNvCxnSpPr/>
          <p:nvPr/>
        </p:nvCxnSpPr>
        <p:spPr>
          <a:xfrm>
            <a:off x="3401568" y="3931920"/>
            <a:ext cx="118872" cy="0"/>
          </a:xfrm>
          <a:prstGeom prst="straightConnector1">
            <a:avLst/>
          </a:prstGeom>
          <a:noFill/>
          <a:ln cap="flat" cmpd="sng" w="26650">
            <a:solidFill>
              <a:srgbClr val="84ADF7"/>
            </a:solidFill>
            <a:prstDash val="solid"/>
            <a:miter lim="8000"/>
            <a:headEnd len="sm" w="sm" type="none"/>
            <a:tailEnd len="sm" w="sm" type="none"/>
          </a:ln>
        </p:spPr>
      </p:cxnSp>
      <p:cxnSp>
        <p:nvCxnSpPr>
          <p:cNvPr id="693" name="Google Shape;693;p16"/>
          <p:cNvCxnSpPr/>
          <p:nvPr/>
        </p:nvCxnSpPr>
        <p:spPr>
          <a:xfrm>
            <a:off x="3520440" y="3931920"/>
            <a:ext cx="0" cy="1078992"/>
          </a:xfrm>
          <a:prstGeom prst="straightConnector1">
            <a:avLst/>
          </a:prstGeom>
          <a:noFill/>
          <a:ln cap="flat" cmpd="sng" w="26650">
            <a:solidFill>
              <a:srgbClr val="84ADF7"/>
            </a:solidFill>
            <a:prstDash val="solid"/>
            <a:miter lim="8000"/>
            <a:headEnd len="sm" w="sm" type="none"/>
            <a:tailEnd len="sm" w="sm" type="none"/>
          </a:ln>
        </p:spPr>
      </p:cxnSp>
      <p:cxnSp>
        <p:nvCxnSpPr>
          <p:cNvPr id="694" name="Google Shape;694;p16"/>
          <p:cNvCxnSpPr/>
          <p:nvPr/>
        </p:nvCxnSpPr>
        <p:spPr>
          <a:xfrm>
            <a:off x="3520440" y="5010912"/>
            <a:ext cx="256032" cy="0"/>
          </a:xfrm>
          <a:prstGeom prst="straightConnector1">
            <a:avLst/>
          </a:prstGeom>
          <a:noFill/>
          <a:ln cap="flat" cmpd="sng" w="26650">
            <a:solidFill>
              <a:srgbClr val="84ADF7"/>
            </a:solidFill>
            <a:prstDash val="solid"/>
            <a:miter lim="8000"/>
            <a:headEnd len="sm" w="sm" type="none"/>
            <a:tailEnd len="sm" w="sm" type="none"/>
          </a:ln>
        </p:spPr>
      </p:cxnSp>
      <p:sp>
        <p:nvSpPr>
          <p:cNvPr id="695" name="Google Shape;695;p16"/>
          <p:cNvSpPr/>
          <p:nvPr/>
        </p:nvSpPr>
        <p:spPr>
          <a:xfrm rot="5400000">
            <a:off x="3712463" y="4946904"/>
            <a:ext cx="128016" cy="128016"/>
          </a:xfrm>
          <a:prstGeom prst="triangle">
            <a:avLst>
              <a:gd fmla="val 50000" name="adj"/>
            </a:avLst>
          </a:prstGeom>
          <a:solidFill>
            <a:srgbClr val="84ADF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cxnSp>
        <p:nvCxnSpPr>
          <p:cNvPr id="696" name="Google Shape;696;p16"/>
          <p:cNvCxnSpPr/>
          <p:nvPr/>
        </p:nvCxnSpPr>
        <p:spPr>
          <a:xfrm>
            <a:off x="5879592" y="2505456"/>
            <a:ext cx="1874520" cy="0"/>
          </a:xfrm>
          <a:prstGeom prst="straightConnector1">
            <a:avLst/>
          </a:prstGeom>
          <a:noFill/>
          <a:ln cap="flat" cmpd="sng" w="29200">
            <a:solidFill>
              <a:srgbClr val="84ADF7"/>
            </a:solidFill>
            <a:prstDash val="solid"/>
            <a:miter lim="8000"/>
            <a:headEnd len="sm" w="sm" type="none"/>
            <a:tailEnd len="sm" w="sm" type="none"/>
          </a:ln>
        </p:spPr>
      </p:cxnSp>
      <p:cxnSp>
        <p:nvCxnSpPr>
          <p:cNvPr id="697" name="Google Shape;697;p16"/>
          <p:cNvCxnSpPr/>
          <p:nvPr/>
        </p:nvCxnSpPr>
        <p:spPr>
          <a:xfrm>
            <a:off x="7754112" y="2505456"/>
            <a:ext cx="0" cy="1133856"/>
          </a:xfrm>
          <a:prstGeom prst="straightConnector1">
            <a:avLst/>
          </a:prstGeom>
          <a:noFill/>
          <a:ln cap="flat" cmpd="sng" w="29200">
            <a:solidFill>
              <a:srgbClr val="84ADF7"/>
            </a:solidFill>
            <a:prstDash val="solid"/>
            <a:miter lim="8000"/>
            <a:headEnd len="sm" w="sm" type="none"/>
            <a:tailEnd len="sm" w="sm" type="none"/>
          </a:ln>
        </p:spPr>
      </p:cxnSp>
      <p:sp>
        <p:nvSpPr>
          <p:cNvPr id="698" name="Google Shape;698;p16"/>
          <p:cNvSpPr/>
          <p:nvPr/>
        </p:nvSpPr>
        <p:spPr>
          <a:xfrm rot="10800000">
            <a:off x="7690104" y="3575304"/>
            <a:ext cx="128016" cy="128016"/>
          </a:xfrm>
          <a:prstGeom prst="triangle">
            <a:avLst>
              <a:gd fmla="val 50000" name="adj"/>
            </a:avLst>
          </a:prstGeom>
          <a:solidFill>
            <a:srgbClr val="84ADF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cxnSp>
        <p:nvCxnSpPr>
          <p:cNvPr id="699" name="Google Shape;699;p16"/>
          <p:cNvCxnSpPr/>
          <p:nvPr/>
        </p:nvCxnSpPr>
        <p:spPr>
          <a:xfrm>
            <a:off x="6757416" y="3621024"/>
            <a:ext cx="146304" cy="0"/>
          </a:xfrm>
          <a:prstGeom prst="straightConnector1">
            <a:avLst/>
          </a:prstGeom>
          <a:noFill/>
          <a:ln cap="flat" cmpd="sng" w="26650">
            <a:solidFill>
              <a:srgbClr val="84ADF7"/>
            </a:solidFill>
            <a:prstDash val="solid"/>
            <a:miter lim="8000"/>
            <a:headEnd len="sm" w="sm" type="none"/>
            <a:tailEnd len="sm" w="sm" type="none"/>
          </a:ln>
        </p:spPr>
      </p:cxnSp>
      <p:cxnSp>
        <p:nvCxnSpPr>
          <p:cNvPr id="700" name="Google Shape;700;p16"/>
          <p:cNvCxnSpPr/>
          <p:nvPr/>
        </p:nvCxnSpPr>
        <p:spPr>
          <a:xfrm>
            <a:off x="6903720" y="3621024"/>
            <a:ext cx="0" cy="448056"/>
          </a:xfrm>
          <a:prstGeom prst="straightConnector1">
            <a:avLst/>
          </a:prstGeom>
          <a:noFill/>
          <a:ln cap="flat" cmpd="sng" w="26650">
            <a:solidFill>
              <a:srgbClr val="84ADF7"/>
            </a:solidFill>
            <a:prstDash val="solid"/>
            <a:miter lim="8000"/>
            <a:headEnd len="sm" w="sm" type="none"/>
            <a:tailEnd len="sm" w="sm" type="none"/>
          </a:ln>
        </p:spPr>
      </p:cxnSp>
      <p:cxnSp>
        <p:nvCxnSpPr>
          <p:cNvPr id="701" name="Google Shape;701;p16"/>
          <p:cNvCxnSpPr/>
          <p:nvPr/>
        </p:nvCxnSpPr>
        <p:spPr>
          <a:xfrm>
            <a:off x="6903720" y="4069080"/>
            <a:ext cx="228600" cy="0"/>
          </a:xfrm>
          <a:prstGeom prst="straightConnector1">
            <a:avLst/>
          </a:prstGeom>
          <a:noFill/>
          <a:ln cap="flat" cmpd="sng" w="26650">
            <a:solidFill>
              <a:srgbClr val="84ADF7"/>
            </a:solidFill>
            <a:prstDash val="solid"/>
            <a:miter lim="8000"/>
            <a:headEnd len="sm" w="sm" type="none"/>
            <a:tailEnd len="sm" w="sm" type="none"/>
          </a:ln>
        </p:spPr>
      </p:cxnSp>
      <p:sp>
        <p:nvSpPr>
          <p:cNvPr id="702" name="Google Shape;702;p16"/>
          <p:cNvSpPr/>
          <p:nvPr/>
        </p:nvSpPr>
        <p:spPr>
          <a:xfrm rot="5400000">
            <a:off x="7068312" y="4005072"/>
            <a:ext cx="128016" cy="128016"/>
          </a:xfrm>
          <a:prstGeom prst="triangle">
            <a:avLst>
              <a:gd fmla="val 50000" name="adj"/>
            </a:avLst>
          </a:prstGeom>
          <a:solidFill>
            <a:srgbClr val="84ADF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cxnSp>
        <p:nvCxnSpPr>
          <p:cNvPr id="703" name="Google Shape;703;p16"/>
          <p:cNvCxnSpPr/>
          <p:nvPr/>
        </p:nvCxnSpPr>
        <p:spPr>
          <a:xfrm flipH="1" rot="10800000">
            <a:off x="6757416" y="4069080"/>
            <a:ext cx="374904" cy="256032"/>
          </a:xfrm>
          <a:prstGeom prst="straightConnector1">
            <a:avLst/>
          </a:prstGeom>
          <a:noFill/>
          <a:ln cap="flat" cmpd="sng" w="26650">
            <a:solidFill>
              <a:srgbClr val="84ADF7"/>
            </a:solidFill>
            <a:prstDash val="solid"/>
            <a:miter lim="8000"/>
            <a:headEnd len="sm" w="sm" type="none"/>
            <a:tailEnd len="sm" w="sm" type="none"/>
          </a:ln>
        </p:spPr>
      </p:cxnSp>
      <p:sp>
        <p:nvSpPr>
          <p:cNvPr id="704" name="Google Shape;704;p16"/>
          <p:cNvSpPr/>
          <p:nvPr/>
        </p:nvSpPr>
        <p:spPr>
          <a:xfrm rot="5400000">
            <a:off x="7068312" y="4005072"/>
            <a:ext cx="128016" cy="128016"/>
          </a:xfrm>
          <a:prstGeom prst="triangle">
            <a:avLst>
              <a:gd fmla="val 50000" name="adj"/>
            </a:avLst>
          </a:prstGeom>
          <a:solidFill>
            <a:srgbClr val="84ADF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cxnSp>
        <p:nvCxnSpPr>
          <p:cNvPr id="705" name="Google Shape;705;p16"/>
          <p:cNvCxnSpPr/>
          <p:nvPr/>
        </p:nvCxnSpPr>
        <p:spPr>
          <a:xfrm>
            <a:off x="6757416" y="5020056"/>
            <a:ext cx="146304" cy="0"/>
          </a:xfrm>
          <a:prstGeom prst="straightConnector1">
            <a:avLst/>
          </a:prstGeom>
          <a:noFill/>
          <a:ln cap="flat" cmpd="sng" w="26650">
            <a:solidFill>
              <a:srgbClr val="84ADF7"/>
            </a:solidFill>
            <a:prstDash val="solid"/>
            <a:miter lim="8000"/>
            <a:headEnd len="sm" w="sm" type="none"/>
            <a:tailEnd len="sm" w="sm" type="none"/>
          </a:ln>
        </p:spPr>
      </p:cxnSp>
      <p:cxnSp>
        <p:nvCxnSpPr>
          <p:cNvPr id="706" name="Google Shape;706;p16"/>
          <p:cNvCxnSpPr/>
          <p:nvPr/>
        </p:nvCxnSpPr>
        <p:spPr>
          <a:xfrm rot="10800000">
            <a:off x="6903720" y="4069080"/>
            <a:ext cx="0" cy="950976"/>
          </a:xfrm>
          <a:prstGeom prst="straightConnector1">
            <a:avLst/>
          </a:prstGeom>
          <a:noFill/>
          <a:ln cap="flat" cmpd="sng" w="26650">
            <a:solidFill>
              <a:srgbClr val="84ADF7"/>
            </a:solidFill>
            <a:prstDash val="solid"/>
            <a:miter lim="8000"/>
            <a:headEnd len="sm" w="sm" type="none"/>
            <a:tailEnd len="sm" w="sm" type="none"/>
          </a:ln>
        </p:spPr>
      </p:cxnSp>
      <p:cxnSp>
        <p:nvCxnSpPr>
          <p:cNvPr id="707" name="Google Shape;707;p16"/>
          <p:cNvCxnSpPr/>
          <p:nvPr/>
        </p:nvCxnSpPr>
        <p:spPr>
          <a:xfrm>
            <a:off x="6903720" y="4069080"/>
            <a:ext cx="228600" cy="0"/>
          </a:xfrm>
          <a:prstGeom prst="straightConnector1">
            <a:avLst/>
          </a:prstGeom>
          <a:noFill/>
          <a:ln cap="flat" cmpd="sng" w="26650">
            <a:solidFill>
              <a:srgbClr val="84ADF7"/>
            </a:solidFill>
            <a:prstDash val="solid"/>
            <a:miter lim="8000"/>
            <a:headEnd len="sm" w="sm" type="none"/>
            <a:tailEnd len="sm" w="sm" type="none"/>
          </a:ln>
        </p:spPr>
      </p:cxnSp>
      <p:sp>
        <p:nvSpPr>
          <p:cNvPr id="708" name="Google Shape;708;p16"/>
          <p:cNvSpPr/>
          <p:nvPr/>
        </p:nvSpPr>
        <p:spPr>
          <a:xfrm rot="5400000">
            <a:off x="7068312" y="4005072"/>
            <a:ext cx="128016" cy="128016"/>
          </a:xfrm>
          <a:prstGeom prst="triangle">
            <a:avLst>
              <a:gd fmla="val 50000" name="adj"/>
            </a:avLst>
          </a:prstGeom>
          <a:solidFill>
            <a:srgbClr val="84ADF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cxnSp>
        <p:nvCxnSpPr>
          <p:cNvPr id="709" name="Google Shape;709;p16"/>
          <p:cNvCxnSpPr/>
          <p:nvPr/>
        </p:nvCxnSpPr>
        <p:spPr>
          <a:xfrm>
            <a:off x="8485632" y="4059936"/>
            <a:ext cx="868680" cy="0"/>
          </a:xfrm>
          <a:prstGeom prst="straightConnector1">
            <a:avLst/>
          </a:prstGeom>
          <a:noFill/>
          <a:ln cap="flat" cmpd="sng" w="38100">
            <a:solidFill>
              <a:srgbClr val="F9AB5E"/>
            </a:solidFill>
            <a:prstDash val="solid"/>
            <a:miter lim="8000"/>
            <a:headEnd len="sm" w="sm" type="none"/>
            <a:tailEnd len="sm" w="sm" type="none"/>
          </a:ln>
        </p:spPr>
      </p:cxnSp>
      <p:sp>
        <p:nvSpPr>
          <p:cNvPr id="710" name="Google Shape;710;p16"/>
          <p:cNvSpPr/>
          <p:nvPr/>
        </p:nvSpPr>
        <p:spPr>
          <a:xfrm rot="5400000">
            <a:off x="9290304" y="3995928"/>
            <a:ext cx="128016" cy="128016"/>
          </a:xfrm>
          <a:prstGeom prst="triangle">
            <a:avLst>
              <a:gd fmla="val 50000" name="adj"/>
            </a:avLst>
          </a:prstGeom>
          <a:solidFill>
            <a:srgbClr val="F9AB5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711" name="Google Shape;711;p16"/>
          <p:cNvSpPr/>
          <p:nvPr/>
        </p:nvSpPr>
        <p:spPr>
          <a:xfrm>
            <a:off x="621792" y="3282696"/>
            <a:ext cx="1170432" cy="1133856"/>
          </a:xfrm>
          <a:prstGeom prst="roundRect">
            <a:avLst>
              <a:gd fmla="val 16667" name="adj"/>
            </a:avLst>
          </a:prstGeom>
          <a:solidFill>
            <a:srgbClr val="193548"/>
          </a:solidFill>
          <a:ln cap="flat" cmpd="sng" w="15225">
            <a:solidFill>
              <a:srgbClr val="435E84"/>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712" name="Google Shape;712;p16"/>
          <p:cNvSpPr/>
          <p:nvPr/>
        </p:nvSpPr>
        <p:spPr>
          <a:xfrm>
            <a:off x="740664" y="3447288"/>
            <a:ext cx="256032" cy="402336"/>
          </a:xfrm>
          <a:prstGeom prst="rect">
            <a:avLst/>
          </a:prstGeom>
          <a:solidFill>
            <a:srgbClr val="2E5369"/>
          </a:solidFill>
          <a:ln cap="flat" cmpd="sng" w="10150">
            <a:solidFill>
              <a:srgbClr val="8DE1B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cxnSp>
        <p:nvCxnSpPr>
          <p:cNvPr id="713" name="Google Shape;713;p16"/>
          <p:cNvCxnSpPr/>
          <p:nvPr/>
        </p:nvCxnSpPr>
        <p:spPr>
          <a:xfrm>
            <a:off x="781812" y="3566160"/>
            <a:ext cx="169164" cy="0"/>
          </a:xfrm>
          <a:prstGeom prst="straightConnector1">
            <a:avLst/>
          </a:prstGeom>
          <a:noFill/>
          <a:ln cap="flat" cmpd="sng" w="9525">
            <a:solidFill>
              <a:srgbClr val="C7D4E8"/>
            </a:solidFill>
            <a:prstDash val="solid"/>
            <a:miter lim="8000"/>
            <a:headEnd len="sm" w="sm" type="none"/>
            <a:tailEnd len="sm" w="sm" type="none"/>
          </a:ln>
        </p:spPr>
      </p:cxnSp>
      <p:cxnSp>
        <p:nvCxnSpPr>
          <p:cNvPr id="714" name="Google Shape;714;p16"/>
          <p:cNvCxnSpPr/>
          <p:nvPr/>
        </p:nvCxnSpPr>
        <p:spPr>
          <a:xfrm>
            <a:off x="781812" y="3648456"/>
            <a:ext cx="169164" cy="0"/>
          </a:xfrm>
          <a:prstGeom prst="straightConnector1">
            <a:avLst/>
          </a:prstGeom>
          <a:noFill/>
          <a:ln cap="flat" cmpd="sng" w="9525">
            <a:solidFill>
              <a:srgbClr val="C7D4E8"/>
            </a:solidFill>
            <a:prstDash val="solid"/>
            <a:miter lim="8000"/>
            <a:headEnd len="sm" w="sm" type="none"/>
            <a:tailEnd len="sm" w="sm" type="none"/>
          </a:ln>
        </p:spPr>
      </p:cxnSp>
      <p:sp>
        <p:nvSpPr>
          <p:cNvPr id="715" name="Google Shape;715;p16"/>
          <p:cNvSpPr/>
          <p:nvPr/>
        </p:nvSpPr>
        <p:spPr>
          <a:xfrm>
            <a:off x="1051560" y="3447288"/>
            <a:ext cx="256032" cy="402336"/>
          </a:xfrm>
          <a:prstGeom prst="rect">
            <a:avLst/>
          </a:prstGeom>
          <a:solidFill>
            <a:srgbClr val="2E5369"/>
          </a:solidFill>
          <a:ln cap="flat" cmpd="sng" w="10150">
            <a:solidFill>
              <a:srgbClr val="8DE1B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cxnSp>
        <p:nvCxnSpPr>
          <p:cNvPr id="716" name="Google Shape;716;p16"/>
          <p:cNvCxnSpPr/>
          <p:nvPr/>
        </p:nvCxnSpPr>
        <p:spPr>
          <a:xfrm>
            <a:off x="1092708" y="3566160"/>
            <a:ext cx="169164" cy="0"/>
          </a:xfrm>
          <a:prstGeom prst="straightConnector1">
            <a:avLst/>
          </a:prstGeom>
          <a:noFill/>
          <a:ln cap="flat" cmpd="sng" w="9525">
            <a:solidFill>
              <a:srgbClr val="C7D4E8"/>
            </a:solidFill>
            <a:prstDash val="solid"/>
            <a:miter lim="8000"/>
            <a:headEnd len="sm" w="sm" type="none"/>
            <a:tailEnd len="sm" w="sm" type="none"/>
          </a:ln>
        </p:spPr>
      </p:cxnSp>
      <p:cxnSp>
        <p:nvCxnSpPr>
          <p:cNvPr id="717" name="Google Shape;717;p16"/>
          <p:cNvCxnSpPr/>
          <p:nvPr/>
        </p:nvCxnSpPr>
        <p:spPr>
          <a:xfrm>
            <a:off x="1092708" y="3648456"/>
            <a:ext cx="169164" cy="0"/>
          </a:xfrm>
          <a:prstGeom prst="straightConnector1">
            <a:avLst/>
          </a:prstGeom>
          <a:noFill/>
          <a:ln cap="flat" cmpd="sng" w="9525">
            <a:solidFill>
              <a:srgbClr val="C7D4E8"/>
            </a:solidFill>
            <a:prstDash val="solid"/>
            <a:miter lim="8000"/>
            <a:headEnd len="sm" w="sm" type="none"/>
            <a:tailEnd len="sm" w="sm" type="none"/>
          </a:ln>
        </p:spPr>
      </p:cxnSp>
      <p:sp>
        <p:nvSpPr>
          <p:cNvPr id="718" name="Google Shape;718;p16"/>
          <p:cNvSpPr/>
          <p:nvPr/>
        </p:nvSpPr>
        <p:spPr>
          <a:xfrm>
            <a:off x="1362456" y="3447288"/>
            <a:ext cx="256032" cy="402336"/>
          </a:xfrm>
          <a:prstGeom prst="rect">
            <a:avLst/>
          </a:prstGeom>
          <a:solidFill>
            <a:srgbClr val="2E5369"/>
          </a:solidFill>
          <a:ln cap="flat" cmpd="sng" w="10150">
            <a:solidFill>
              <a:srgbClr val="8DE1B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cxnSp>
        <p:nvCxnSpPr>
          <p:cNvPr id="719" name="Google Shape;719;p16"/>
          <p:cNvCxnSpPr/>
          <p:nvPr/>
        </p:nvCxnSpPr>
        <p:spPr>
          <a:xfrm>
            <a:off x="1403604" y="3566160"/>
            <a:ext cx="169164" cy="0"/>
          </a:xfrm>
          <a:prstGeom prst="straightConnector1">
            <a:avLst/>
          </a:prstGeom>
          <a:noFill/>
          <a:ln cap="flat" cmpd="sng" w="9525">
            <a:solidFill>
              <a:srgbClr val="C7D4E8"/>
            </a:solidFill>
            <a:prstDash val="solid"/>
            <a:miter lim="8000"/>
            <a:headEnd len="sm" w="sm" type="none"/>
            <a:tailEnd len="sm" w="sm" type="none"/>
          </a:ln>
        </p:spPr>
      </p:cxnSp>
      <p:cxnSp>
        <p:nvCxnSpPr>
          <p:cNvPr id="720" name="Google Shape;720;p16"/>
          <p:cNvCxnSpPr/>
          <p:nvPr/>
        </p:nvCxnSpPr>
        <p:spPr>
          <a:xfrm>
            <a:off x="1403604" y="3648456"/>
            <a:ext cx="169164" cy="0"/>
          </a:xfrm>
          <a:prstGeom prst="straightConnector1">
            <a:avLst/>
          </a:prstGeom>
          <a:noFill/>
          <a:ln cap="flat" cmpd="sng" w="9525">
            <a:solidFill>
              <a:srgbClr val="C7D4E8"/>
            </a:solidFill>
            <a:prstDash val="solid"/>
            <a:miter lim="8000"/>
            <a:headEnd len="sm" w="sm" type="none"/>
            <a:tailEnd len="sm" w="sm" type="none"/>
          </a:ln>
        </p:spPr>
      </p:cxnSp>
      <p:sp>
        <p:nvSpPr>
          <p:cNvPr id="721" name="Google Shape;721;p16"/>
          <p:cNvSpPr txBox="1"/>
          <p:nvPr/>
        </p:nvSpPr>
        <p:spPr>
          <a:xfrm>
            <a:off x="630936" y="3941063"/>
            <a:ext cx="1152144" cy="283464"/>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US" sz="1400">
                <a:solidFill>
                  <a:srgbClr val="F7F9FD"/>
                </a:solidFill>
                <a:latin typeface="Arial"/>
                <a:ea typeface="Arial"/>
                <a:cs typeface="Arial"/>
                <a:sym typeface="Arial"/>
              </a:rPr>
              <a:t>Schema S</a:t>
            </a:r>
            <a:endParaRPr/>
          </a:p>
        </p:txBody>
      </p:sp>
      <p:sp>
        <p:nvSpPr>
          <p:cNvPr id="722" name="Google Shape;722;p16"/>
          <p:cNvSpPr txBox="1"/>
          <p:nvPr/>
        </p:nvSpPr>
        <p:spPr>
          <a:xfrm>
            <a:off x="1490472" y="3072384"/>
            <a:ext cx="384048" cy="2286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400">
                <a:solidFill>
                  <a:srgbClr val="C7D4E8"/>
                </a:solidFill>
                <a:latin typeface="Arial"/>
                <a:ea typeface="Arial"/>
                <a:cs typeface="Arial"/>
                <a:sym typeface="Arial"/>
              </a:rPr>
              <a:t>(a)</a:t>
            </a:r>
            <a:endParaRPr/>
          </a:p>
        </p:txBody>
      </p:sp>
      <p:sp>
        <p:nvSpPr>
          <p:cNvPr id="723" name="Google Shape;723;p16"/>
          <p:cNvSpPr/>
          <p:nvPr/>
        </p:nvSpPr>
        <p:spPr>
          <a:xfrm>
            <a:off x="1956816" y="3483864"/>
            <a:ext cx="1444752" cy="694944"/>
          </a:xfrm>
          <a:prstGeom prst="roundRect">
            <a:avLst>
              <a:gd fmla="val 16667" name="adj"/>
            </a:avLst>
          </a:prstGeom>
          <a:solidFill>
            <a:srgbClr val="1F3957"/>
          </a:solidFill>
          <a:ln cap="flat" cmpd="sng" w="16500">
            <a:solidFill>
              <a:srgbClr val="84ADF7"/>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724" name="Google Shape;724;p16"/>
          <p:cNvSpPr txBox="1"/>
          <p:nvPr/>
        </p:nvSpPr>
        <p:spPr>
          <a:xfrm>
            <a:off x="2039112" y="3602736"/>
            <a:ext cx="1280160" cy="246888"/>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US" sz="1550">
                <a:solidFill>
                  <a:srgbClr val="F7F9FD"/>
                </a:solidFill>
                <a:latin typeface="Arial"/>
                <a:ea typeface="Arial"/>
                <a:cs typeface="Arial"/>
                <a:sym typeface="Arial"/>
              </a:rPr>
              <a:t>Iterate</a:t>
            </a:r>
            <a:endParaRPr/>
          </a:p>
        </p:txBody>
      </p:sp>
      <p:sp>
        <p:nvSpPr>
          <p:cNvPr id="725" name="Google Shape;725;p16"/>
          <p:cNvSpPr txBox="1"/>
          <p:nvPr/>
        </p:nvSpPr>
        <p:spPr>
          <a:xfrm>
            <a:off x="2048256" y="3877056"/>
            <a:ext cx="1261872" cy="256032"/>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0" lang="en-US" sz="1400">
                <a:solidFill>
                  <a:srgbClr val="C7D4E8"/>
                </a:solidFill>
                <a:latin typeface="Arial"/>
                <a:ea typeface="Arial"/>
                <a:cs typeface="Arial"/>
                <a:sym typeface="Arial"/>
              </a:rPr>
              <a:t>FK-BFS</a:t>
            </a:r>
            <a:endParaRPr/>
          </a:p>
        </p:txBody>
      </p:sp>
      <p:sp>
        <p:nvSpPr>
          <p:cNvPr id="726" name="Google Shape;726;p16"/>
          <p:cNvSpPr/>
          <p:nvPr/>
        </p:nvSpPr>
        <p:spPr>
          <a:xfrm>
            <a:off x="3776472" y="2148840"/>
            <a:ext cx="2103120" cy="758952"/>
          </a:xfrm>
          <a:prstGeom prst="roundRect">
            <a:avLst>
              <a:gd fmla="val 16667" name="adj"/>
            </a:avLst>
          </a:prstGeom>
          <a:solidFill>
            <a:srgbClr val="1F3957"/>
          </a:solidFill>
          <a:ln cap="flat" cmpd="sng" w="16500">
            <a:solidFill>
              <a:srgbClr val="84ADF7"/>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727" name="Google Shape;727;p16"/>
          <p:cNvSpPr txBox="1"/>
          <p:nvPr/>
        </p:nvSpPr>
        <p:spPr>
          <a:xfrm>
            <a:off x="3849624" y="1938528"/>
            <a:ext cx="384048" cy="2286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400">
                <a:solidFill>
                  <a:srgbClr val="C7D4E8"/>
                </a:solidFill>
                <a:latin typeface="Arial"/>
                <a:ea typeface="Arial"/>
                <a:cs typeface="Arial"/>
                <a:sym typeface="Arial"/>
              </a:rPr>
              <a:t>(b)</a:t>
            </a:r>
            <a:endParaRPr/>
          </a:p>
        </p:txBody>
      </p:sp>
      <p:sp>
        <p:nvSpPr>
          <p:cNvPr id="728" name="Google Shape;728;p16"/>
          <p:cNvSpPr txBox="1"/>
          <p:nvPr/>
        </p:nvSpPr>
        <p:spPr>
          <a:xfrm>
            <a:off x="3858768" y="2267712"/>
            <a:ext cx="1938527" cy="246888"/>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US" sz="1550">
                <a:solidFill>
                  <a:srgbClr val="F7F9FD"/>
                </a:solidFill>
                <a:latin typeface="Arial"/>
                <a:ea typeface="Arial"/>
                <a:cs typeface="Arial"/>
                <a:sym typeface="Arial"/>
              </a:rPr>
              <a:t>Direct mapping</a:t>
            </a:r>
            <a:endParaRPr/>
          </a:p>
        </p:txBody>
      </p:sp>
      <p:sp>
        <p:nvSpPr>
          <p:cNvPr id="729" name="Google Shape;729;p16"/>
          <p:cNvSpPr txBox="1"/>
          <p:nvPr/>
        </p:nvSpPr>
        <p:spPr>
          <a:xfrm>
            <a:off x="3867911" y="2542032"/>
            <a:ext cx="1920239" cy="32004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0" lang="en-US" sz="1400">
                <a:solidFill>
                  <a:srgbClr val="C7D4E8"/>
                </a:solidFill>
                <a:latin typeface="Arial"/>
                <a:ea typeface="Arial"/>
                <a:cs typeface="Arial"/>
                <a:sym typeface="Arial"/>
              </a:rPr>
              <a:t>OWL seed DMᵣ</a:t>
            </a:r>
            <a:endParaRPr/>
          </a:p>
        </p:txBody>
      </p:sp>
      <p:sp>
        <p:nvSpPr>
          <p:cNvPr id="730" name="Google Shape;730;p16"/>
          <p:cNvSpPr/>
          <p:nvPr/>
        </p:nvSpPr>
        <p:spPr>
          <a:xfrm>
            <a:off x="3630168" y="3063240"/>
            <a:ext cx="3218688" cy="2432304"/>
          </a:xfrm>
          <a:prstGeom prst="roundRect">
            <a:avLst>
              <a:gd fmla="val 16667" name="adj"/>
            </a:avLst>
          </a:prstGeom>
          <a:solidFill>
            <a:srgbClr val="18314C"/>
          </a:solidFill>
          <a:ln cap="flat" cmpd="sng" w="15225">
            <a:solidFill>
              <a:srgbClr val="435E84"/>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731" name="Google Shape;731;p16"/>
          <p:cNvSpPr txBox="1"/>
          <p:nvPr/>
        </p:nvSpPr>
        <p:spPr>
          <a:xfrm>
            <a:off x="3758184" y="3099816"/>
            <a:ext cx="2990088" cy="210312"/>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US" sz="1400">
                <a:solidFill>
                  <a:srgbClr val="C7D4E8"/>
                </a:solidFill>
                <a:latin typeface="Arial"/>
                <a:ea typeface="Arial"/>
                <a:cs typeface="Arial"/>
                <a:sym typeface="Arial"/>
              </a:rPr>
              <a:t>RETRIEVAL  •  top-k per source</a:t>
            </a:r>
            <a:endParaRPr/>
          </a:p>
        </p:txBody>
      </p:sp>
      <p:sp>
        <p:nvSpPr>
          <p:cNvPr id="732" name="Google Shape;732;p16"/>
          <p:cNvSpPr/>
          <p:nvPr/>
        </p:nvSpPr>
        <p:spPr>
          <a:xfrm>
            <a:off x="3776472" y="3383280"/>
            <a:ext cx="2980944" cy="603504"/>
          </a:xfrm>
          <a:prstGeom prst="roundRect">
            <a:avLst>
              <a:gd fmla="val 16667" name="adj"/>
            </a:avLst>
          </a:prstGeom>
          <a:solidFill>
            <a:srgbClr val="1F3957"/>
          </a:solidFill>
          <a:ln cap="flat" cmpd="sng" w="15225">
            <a:solidFill>
              <a:srgbClr val="84ADF7"/>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733" name="Google Shape;733;p16"/>
          <p:cNvSpPr txBox="1"/>
          <p:nvPr/>
        </p:nvSpPr>
        <p:spPr>
          <a:xfrm>
            <a:off x="3877056" y="3415284"/>
            <a:ext cx="365760" cy="192024"/>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400">
                <a:solidFill>
                  <a:srgbClr val="F9AB5E"/>
                </a:solidFill>
                <a:latin typeface="Arial"/>
                <a:ea typeface="Arial"/>
                <a:cs typeface="Arial"/>
                <a:sym typeface="Arial"/>
              </a:rPr>
              <a:t>(c)</a:t>
            </a:r>
            <a:endParaRPr/>
          </a:p>
        </p:txBody>
      </p:sp>
      <p:sp>
        <p:nvSpPr>
          <p:cNvPr id="734" name="Google Shape;734;p16"/>
          <p:cNvSpPr txBox="1"/>
          <p:nvPr/>
        </p:nvSpPr>
        <p:spPr>
          <a:xfrm>
            <a:off x="4224528" y="3396996"/>
            <a:ext cx="2404872" cy="283464"/>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500">
                <a:solidFill>
                  <a:srgbClr val="F7F9FD"/>
                </a:solidFill>
                <a:latin typeface="Arial"/>
                <a:ea typeface="Arial"/>
                <a:cs typeface="Arial"/>
                <a:sym typeface="Arial"/>
              </a:rPr>
              <a:t>External ontologies</a:t>
            </a:r>
            <a:endParaRPr/>
          </a:p>
        </p:txBody>
      </p:sp>
      <p:sp>
        <p:nvSpPr>
          <p:cNvPr id="735" name="Google Shape;735;p16"/>
          <p:cNvSpPr txBox="1"/>
          <p:nvPr/>
        </p:nvSpPr>
        <p:spPr>
          <a:xfrm>
            <a:off x="4224528" y="3703320"/>
            <a:ext cx="2404872" cy="201168"/>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US" sz="1400">
                <a:solidFill>
                  <a:srgbClr val="C7D4E8"/>
                </a:solidFill>
                <a:latin typeface="Arial"/>
                <a:ea typeface="Arial"/>
                <a:cs typeface="Arial"/>
                <a:sym typeface="Arial"/>
              </a:rPr>
              <a:t>Domain alignments</a:t>
            </a:r>
            <a:endParaRPr/>
          </a:p>
        </p:txBody>
      </p:sp>
      <p:sp>
        <p:nvSpPr>
          <p:cNvPr id="736" name="Google Shape;736;p16"/>
          <p:cNvSpPr/>
          <p:nvPr/>
        </p:nvSpPr>
        <p:spPr>
          <a:xfrm>
            <a:off x="3776472" y="4087368"/>
            <a:ext cx="2980944" cy="603504"/>
          </a:xfrm>
          <a:prstGeom prst="roundRect">
            <a:avLst>
              <a:gd fmla="val 16667" name="adj"/>
            </a:avLst>
          </a:prstGeom>
          <a:solidFill>
            <a:srgbClr val="1F3957"/>
          </a:solidFill>
          <a:ln cap="flat" cmpd="sng" w="15225">
            <a:solidFill>
              <a:srgbClr val="84ADF7"/>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737" name="Google Shape;737;p16"/>
          <p:cNvSpPr txBox="1"/>
          <p:nvPr/>
        </p:nvSpPr>
        <p:spPr>
          <a:xfrm>
            <a:off x="3877056" y="4119372"/>
            <a:ext cx="365760" cy="192024"/>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400">
                <a:solidFill>
                  <a:srgbClr val="F9AB5E"/>
                </a:solidFill>
                <a:latin typeface="Arial"/>
                <a:ea typeface="Arial"/>
                <a:cs typeface="Arial"/>
                <a:sym typeface="Arial"/>
              </a:rPr>
              <a:t>(d)</a:t>
            </a:r>
            <a:endParaRPr/>
          </a:p>
        </p:txBody>
      </p:sp>
      <p:sp>
        <p:nvSpPr>
          <p:cNvPr id="738" name="Google Shape;738;p16"/>
          <p:cNvSpPr txBox="1"/>
          <p:nvPr/>
        </p:nvSpPr>
        <p:spPr>
          <a:xfrm>
            <a:off x="4224528" y="4101084"/>
            <a:ext cx="2404872" cy="283464"/>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500">
                <a:solidFill>
                  <a:srgbClr val="F7F9FD"/>
                </a:solidFill>
                <a:latin typeface="Arial"/>
                <a:ea typeface="Arial"/>
                <a:cs typeface="Arial"/>
                <a:sym typeface="Arial"/>
              </a:rPr>
              <a:t>Documentation</a:t>
            </a:r>
            <a:endParaRPr/>
          </a:p>
        </p:txBody>
      </p:sp>
      <p:sp>
        <p:nvSpPr>
          <p:cNvPr id="739" name="Google Shape;739;p16"/>
          <p:cNvSpPr txBox="1"/>
          <p:nvPr/>
        </p:nvSpPr>
        <p:spPr>
          <a:xfrm>
            <a:off x="4224528" y="4407408"/>
            <a:ext cx="2404872" cy="201168"/>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US" sz="1400">
                <a:solidFill>
                  <a:srgbClr val="C7D4E8"/>
                </a:solidFill>
                <a:latin typeface="Arial"/>
                <a:ea typeface="Arial"/>
                <a:cs typeface="Arial"/>
                <a:sym typeface="Arial"/>
              </a:rPr>
              <a:t>Cryptic fields and codes</a:t>
            </a:r>
            <a:endParaRPr/>
          </a:p>
        </p:txBody>
      </p:sp>
      <p:sp>
        <p:nvSpPr>
          <p:cNvPr id="740" name="Google Shape;740;p16"/>
          <p:cNvSpPr/>
          <p:nvPr/>
        </p:nvSpPr>
        <p:spPr>
          <a:xfrm>
            <a:off x="3776472" y="4791456"/>
            <a:ext cx="2980944" cy="603504"/>
          </a:xfrm>
          <a:prstGeom prst="roundRect">
            <a:avLst>
              <a:gd fmla="val 16667" name="adj"/>
            </a:avLst>
          </a:prstGeom>
          <a:solidFill>
            <a:srgbClr val="1F3957"/>
          </a:solidFill>
          <a:ln cap="flat" cmpd="sng" w="15225">
            <a:solidFill>
              <a:srgbClr val="84ADF7"/>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741" name="Google Shape;741;p16"/>
          <p:cNvSpPr txBox="1"/>
          <p:nvPr/>
        </p:nvSpPr>
        <p:spPr>
          <a:xfrm>
            <a:off x="3877056" y="4823460"/>
            <a:ext cx="365760" cy="192024"/>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400">
                <a:solidFill>
                  <a:srgbClr val="F9AB5E"/>
                </a:solidFill>
                <a:latin typeface="Arial"/>
                <a:ea typeface="Arial"/>
                <a:cs typeface="Arial"/>
                <a:sym typeface="Arial"/>
              </a:rPr>
              <a:t>(e)</a:t>
            </a:r>
            <a:endParaRPr/>
          </a:p>
        </p:txBody>
      </p:sp>
      <p:sp>
        <p:nvSpPr>
          <p:cNvPr id="742" name="Google Shape;742;p16"/>
          <p:cNvSpPr txBox="1"/>
          <p:nvPr/>
        </p:nvSpPr>
        <p:spPr>
          <a:xfrm>
            <a:off x="4224528" y="4805172"/>
            <a:ext cx="2404872" cy="283464"/>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500">
                <a:solidFill>
                  <a:srgbClr val="F7F9FD"/>
                </a:solidFill>
                <a:latin typeface="Arial"/>
                <a:ea typeface="Arial"/>
                <a:cs typeface="Arial"/>
                <a:sym typeface="Arial"/>
              </a:rPr>
              <a:t>Growing core ontology</a:t>
            </a:r>
            <a:endParaRPr/>
          </a:p>
        </p:txBody>
      </p:sp>
      <p:sp>
        <p:nvSpPr>
          <p:cNvPr id="743" name="Google Shape;743;p16"/>
          <p:cNvSpPr txBox="1"/>
          <p:nvPr/>
        </p:nvSpPr>
        <p:spPr>
          <a:xfrm>
            <a:off x="4224528" y="5111496"/>
            <a:ext cx="2404872" cy="201168"/>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US" sz="1400">
                <a:solidFill>
                  <a:srgbClr val="C7D4E8"/>
                </a:solidFill>
                <a:latin typeface="Arial"/>
                <a:ea typeface="Arial"/>
                <a:cs typeface="Arial"/>
                <a:sym typeface="Arial"/>
              </a:rPr>
              <a:t>Reuse validated IRIs</a:t>
            </a:r>
            <a:endParaRPr/>
          </a:p>
        </p:txBody>
      </p:sp>
      <p:sp>
        <p:nvSpPr>
          <p:cNvPr id="744" name="Google Shape;744;p16"/>
          <p:cNvSpPr/>
          <p:nvPr/>
        </p:nvSpPr>
        <p:spPr>
          <a:xfrm>
            <a:off x="7150608" y="3666744"/>
            <a:ext cx="1335024" cy="822960"/>
          </a:xfrm>
          <a:prstGeom prst="roundRect">
            <a:avLst>
              <a:gd fmla="val 16667" name="adj"/>
            </a:avLst>
          </a:prstGeom>
          <a:solidFill>
            <a:srgbClr val="1F3957"/>
          </a:solidFill>
          <a:ln cap="flat" cmpd="sng" w="16500">
            <a:solidFill>
              <a:srgbClr val="84ADF7"/>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745" name="Google Shape;745;p16"/>
          <p:cNvSpPr txBox="1"/>
          <p:nvPr/>
        </p:nvSpPr>
        <p:spPr>
          <a:xfrm>
            <a:off x="7223760" y="3456432"/>
            <a:ext cx="384048" cy="2286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400">
                <a:solidFill>
                  <a:srgbClr val="C7D4E8"/>
                </a:solidFill>
                <a:latin typeface="Arial"/>
                <a:ea typeface="Arial"/>
                <a:cs typeface="Arial"/>
                <a:sym typeface="Arial"/>
              </a:rPr>
              <a:t>(f)</a:t>
            </a:r>
            <a:endParaRPr/>
          </a:p>
        </p:txBody>
      </p:sp>
      <p:sp>
        <p:nvSpPr>
          <p:cNvPr id="746" name="Google Shape;746;p16"/>
          <p:cNvSpPr txBox="1"/>
          <p:nvPr/>
        </p:nvSpPr>
        <p:spPr>
          <a:xfrm>
            <a:off x="7232904" y="3785615"/>
            <a:ext cx="1170432" cy="246888"/>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US" sz="1550">
                <a:solidFill>
                  <a:srgbClr val="F7F9FD"/>
                </a:solidFill>
                <a:latin typeface="Arial"/>
                <a:ea typeface="Arial"/>
                <a:cs typeface="Arial"/>
                <a:sym typeface="Arial"/>
              </a:rPr>
              <a:t>Gen-LLM</a:t>
            </a:r>
            <a:endParaRPr/>
          </a:p>
        </p:txBody>
      </p:sp>
      <p:sp>
        <p:nvSpPr>
          <p:cNvPr id="747" name="Google Shape;747;p16"/>
          <p:cNvSpPr txBox="1"/>
          <p:nvPr/>
        </p:nvSpPr>
        <p:spPr>
          <a:xfrm>
            <a:off x="7242048" y="4059935"/>
            <a:ext cx="1152144" cy="384048"/>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0" lang="en-US" sz="1400">
                <a:solidFill>
                  <a:srgbClr val="C7D4E8"/>
                </a:solidFill>
                <a:latin typeface="Arial"/>
                <a:ea typeface="Arial"/>
                <a:cs typeface="Arial"/>
                <a:sym typeface="Arial"/>
              </a:rPr>
              <a:t>creates ΔOᵣ</a:t>
            </a:r>
            <a:endParaRPr/>
          </a:p>
        </p:txBody>
      </p:sp>
      <p:sp>
        <p:nvSpPr>
          <p:cNvPr id="748" name="Google Shape;748;p16"/>
          <p:cNvSpPr txBox="1"/>
          <p:nvPr/>
        </p:nvSpPr>
        <p:spPr>
          <a:xfrm>
            <a:off x="8586216" y="3648456"/>
            <a:ext cx="713232" cy="246888"/>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400">
                <a:solidFill>
                  <a:srgbClr val="F9AB5E"/>
                </a:solidFill>
                <a:latin typeface="Arial"/>
                <a:ea typeface="Arial"/>
                <a:cs typeface="Arial"/>
                <a:sym typeface="Arial"/>
              </a:rPr>
              <a:t>(g) ΔOᵣ</a:t>
            </a:r>
            <a:endParaRPr/>
          </a:p>
        </p:txBody>
      </p:sp>
      <p:sp>
        <p:nvSpPr>
          <p:cNvPr id="749" name="Google Shape;749;p16"/>
          <p:cNvSpPr/>
          <p:nvPr/>
        </p:nvSpPr>
        <p:spPr>
          <a:xfrm>
            <a:off x="9354312" y="3502152"/>
            <a:ext cx="2121408" cy="1115568"/>
          </a:xfrm>
          <a:prstGeom prst="roundRect">
            <a:avLst>
              <a:gd fmla="val 16667" name="adj"/>
            </a:avLst>
          </a:prstGeom>
          <a:solidFill>
            <a:srgbClr val="3D495F"/>
          </a:solidFill>
          <a:ln cap="flat" cmpd="sng" w="29200">
            <a:solidFill>
              <a:srgbClr val="F9AB5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750" name="Google Shape;750;p16"/>
          <p:cNvSpPr txBox="1"/>
          <p:nvPr/>
        </p:nvSpPr>
        <p:spPr>
          <a:xfrm>
            <a:off x="9427464" y="3291840"/>
            <a:ext cx="384048" cy="2286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400">
                <a:solidFill>
                  <a:srgbClr val="F9AB5E"/>
                </a:solidFill>
                <a:latin typeface="Arial"/>
                <a:ea typeface="Arial"/>
                <a:cs typeface="Arial"/>
                <a:sym typeface="Arial"/>
              </a:rPr>
              <a:t>(h)</a:t>
            </a:r>
            <a:endParaRPr/>
          </a:p>
        </p:txBody>
      </p:sp>
      <p:sp>
        <p:nvSpPr>
          <p:cNvPr id="751" name="Google Shape;751;p16"/>
          <p:cNvSpPr txBox="1"/>
          <p:nvPr/>
        </p:nvSpPr>
        <p:spPr>
          <a:xfrm>
            <a:off x="9436608" y="3621024"/>
            <a:ext cx="1956815" cy="246888"/>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US" sz="1550">
                <a:solidFill>
                  <a:srgbClr val="F7F9FD"/>
                </a:solidFill>
                <a:latin typeface="Arial"/>
                <a:ea typeface="Arial"/>
                <a:cs typeface="Arial"/>
                <a:sym typeface="Arial"/>
              </a:rPr>
              <a:t>Validate + refine</a:t>
            </a:r>
            <a:endParaRPr/>
          </a:p>
        </p:txBody>
      </p:sp>
      <p:sp>
        <p:nvSpPr>
          <p:cNvPr id="752" name="Google Shape;752;p16"/>
          <p:cNvSpPr txBox="1"/>
          <p:nvPr/>
        </p:nvSpPr>
        <p:spPr>
          <a:xfrm>
            <a:off x="9445752" y="3895344"/>
            <a:ext cx="1938527" cy="676656"/>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0" lang="en-US" sz="1400">
                <a:solidFill>
                  <a:srgbClr val="C7D4E8"/>
                </a:solidFill>
                <a:latin typeface="Arial"/>
                <a:ea typeface="Arial"/>
                <a:cs typeface="Arial"/>
                <a:sym typeface="Arial"/>
              </a:rPr>
              <a:t>Judge-LLM + rules</a:t>
            </a:r>
            <a:endParaRPr/>
          </a:p>
        </p:txBody>
      </p:sp>
      <p:sp>
        <p:nvSpPr>
          <p:cNvPr id="753" name="Google Shape;753;p16"/>
          <p:cNvSpPr txBox="1"/>
          <p:nvPr/>
        </p:nvSpPr>
        <p:spPr>
          <a:xfrm>
            <a:off x="9326880" y="4992624"/>
            <a:ext cx="2194560" cy="621792"/>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0" lang="en-US" sz="1550">
                <a:solidFill>
                  <a:srgbClr val="F9AB5E"/>
                </a:solidFill>
                <a:latin typeface="Arial"/>
                <a:ea typeface="Arial"/>
                <a:cs typeface="Arial"/>
                <a:sym typeface="Arial"/>
              </a:rPr>
              <a:t>Next: integrate</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427"/>
        </a:solidFill>
      </p:bgPr>
    </p:bg>
    <p:spTree>
      <p:nvGrpSpPr>
        <p:cNvPr id="758" name="Shape 758"/>
        <p:cNvGrpSpPr/>
        <p:nvPr/>
      </p:nvGrpSpPr>
      <p:grpSpPr>
        <a:xfrm>
          <a:off x="0" y="0"/>
          <a:ext cx="0" cy="0"/>
          <a:chOff x="0" y="0"/>
          <a:chExt cx="0" cy="0"/>
        </a:xfrm>
      </p:grpSpPr>
      <p:sp>
        <p:nvSpPr>
          <p:cNvPr id="759" name="Google Shape;759;p17"/>
          <p:cNvSpPr txBox="1"/>
          <p:nvPr/>
        </p:nvSpPr>
        <p:spPr>
          <a:xfrm>
            <a:off x="512064" y="320040"/>
            <a:ext cx="6675120" cy="301752"/>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500">
                <a:solidFill>
                  <a:srgbClr val="F9AB5E"/>
                </a:solidFill>
                <a:latin typeface="Arial"/>
                <a:ea typeface="Arial"/>
                <a:cs typeface="Arial"/>
                <a:sym typeface="Arial"/>
              </a:rPr>
              <a:t>RIGOR  /  REASSEMBLING THE ARCHITECTURE</a:t>
            </a:r>
            <a:endParaRPr/>
          </a:p>
        </p:txBody>
      </p:sp>
      <p:sp>
        <p:nvSpPr>
          <p:cNvPr id="760" name="Google Shape;760;p17"/>
          <p:cNvSpPr txBox="1"/>
          <p:nvPr/>
        </p:nvSpPr>
        <p:spPr>
          <a:xfrm>
            <a:off x="512064" y="685800"/>
            <a:ext cx="10881360" cy="475488"/>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2900">
                <a:solidFill>
                  <a:srgbClr val="F7F9FD"/>
                </a:solidFill>
                <a:latin typeface="Arial"/>
                <a:ea typeface="Arial"/>
                <a:cs typeface="Arial"/>
                <a:sym typeface="Arial"/>
              </a:rPr>
              <a:t>6. Integrate and reuse the growing core</a:t>
            </a:r>
            <a:endParaRPr/>
          </a:p>
        </p:txBody>
      </p:sp>
      <p:sp>
        <p:nvSpPr>
          <p:cNvPr id="761" name="Google Shape;761;p17"/>
          <p:cNvSpPr txBox="1"/>
          <p:nvPr/>
        </p:nvSpPr>
        <p:spPr>
          <a:xfrm>
            <a:off x="512064" y="1271016"/>
            <a:ext cx="10607040" cy="310896"/>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US" sz="1600">
                <a:solidFill>
                  <a:srgbClr val="C7D4E8"/>
                </a:solidFill>
                <a:latin typeface="Arial"/>
                <a:ea typeface="Arial"/>
                <a:cs typeface="Arial"/>
                <a:sym typeface="Arial"/>
              </a:rPr>
              <a:t>Paper Fig. 1(i)  ·  The growing core feeds the next generation iteration.</a:t>
            </a:r>
            <a:endParaRPr/>
          </a:p>
        </p:txBody>
      </p:sp>
      <p:sp>
        <p:nvSpPr>
          <p:cNvPr id="762" name="Google Shape;762;p17"/>
          <p:cNvSpPr/>
          <p:nvPr/>
        </p:nvSpPr>
        <p:spPr>
          <a:xfrm>
            <a:off x="9692640" y="356616"/>
            <a:ext cx="274320" cy="64008"/>
          </a:xfrm>
          <a:prstGeom prst="rect">
            <a:avLst/>
          </a:prstGeom>
          <a:solidFill>
            <a:srgbClr val="F9AB5E"/>
          </a:solidFill>
          <a:ln cap="flat" cmpd="sng" w="9525">
            <a:solidFill>
              <a:srgbClr val="F9AB5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763" name="Google Shape;763;p17"/>
          <p:cNvSpPr/>
          <p:nvPr/>
        </p:nvSpPr>
        <p:spPr>
          <a:xfrm>
            <a:off x="10049256" y="356616"/>
            <a:ext cx="274320" cy="64008"/>
          </a:xfrm>
          <a:prstGeom prst="rect">
            <a:avLst/>
          </a:prstGeom>
          <a:solidFill>
            <a:srgbClr val="F9AB5E"/>
          </a:solidFill>
          <a:ln cap="flat" cmpd="sng" w="9525">
            <a:solidFill>
              <a:srgbClr val="F9AB5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764" name="Google Shape;764;p17"/>
          <p:cNvSpPr/>
          <p:nvPr/>
        </p:nvSpPr>
        <p:spPr>
          <a:xfrm>
            <a:off x="10405872" y="356616"/>
            <a:ext cx="274320" cy="64008"/>
          </a:xfrm>
          <a:prstGeom prst="rect">
            <a:avLst/>
          </a:prstGeom>
          <a:solidFill>
            <a:srgbClr val="F9AB5E"/>
          </a:solidFill>
          <a:ln cap="flat" cmpd="sng" w="9525">
            <a:solidFill>
              <a:srgbClr val="F9AB5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765" name="Google Shape;765;p17"/>
          <p:cNvSpPr/>
          <p:nvPr/>
        </p:nvSpPr>
        <p:spPr>
          <a:xfrm>
            <a:off x="10762488" y="356616"/>
            <a:ext cx="274320" cy="64008"/>
          </a:xfrm>
          <a:prstGeom prst="rect">
            <a:avLst/>
          </a:prstGeom>
          <a:solidFill>
            <a:srgbClr val="F9AB5E"/>
          </a:solidFill>
          <a:ln cap="flat" cmpd="sng" w="9525">
            <a:solidFill>
              <a:srgbClr val="F9AB5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766" name="Google Shape;766;p17"/>
          <p:cNvSpPr/>
          <p:nvPr/>
        </p:nvSpPr>
        <p:spPr>
          <a:xfrm>
            <a:off x="11119104" y="356616"/>
            <a:ext cx="274320" cy="64008"/>
          </a:xfrm>
          <a:prstGeom prst="rect">
            <a:avLst/>
          </a:prstGeom>
          <a:solidFill>
            <a:srgbClr val="F9AB5E"/>
          </a:solidFill>
          <a:ln cap="flat" cmpd="sng" w="9525">
            <a:solidFill>
              <a:srgbClr val="F9AB5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767" name="Google Shape;767;p17"/>
          <p:cNvSpPr/>
          <p:nvPr/>
        </p:nvSpPr>
        <p:spPr>
          <a:xfrm>
            <a:off x="11475720" y="356616"/>
            <a:ext cx="274320" cy="64008"/>
          </a:xfrm>
          <a:prstGeom prst="rect">
            <a:avLst/>
          </a:prstGeom>
          <a:solidFill>
            <a:srgbClr val="F9AB5E"/>
          </a:solidFill>
          <a:ln cap="flat" cmpd="sng" w="9525">
            <a:solidFill>
              <a:srgbClr val="F9AB5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768" name="Google Shape;768;p17"/>
          <p:cNvSpPr/>
          <p:nvPr/>
        </p:nvSpPr>
        <p:spPr>
          <a:xfrm>
            <a:off x="438912" y="1792224"/>
            <a:ext cx="11301984" cy="4187952"/>
          </a:xfrm>
          <a:prstGeom prst="roundRect">
            <a:avLst>
              <a:gd fmla="val 16667" name="adj"/>
            </a:avLst>
          </a:prstGeom>
          <a:solidFill>
            <a:srgbClr val="132641"/>
          </a:solidFill>
          <a:ln cap="flat" cmpd="sng" w="12700">
            <a:solidFill>
              <a:srgbClr val="304C7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769" name="Google Shape;769;p17"/>
          <p:cNvSpPr txBox="1"/>
          <p:nvPr/>
        </p:nvSpPr>
        <p:spPr>
          <a:xfrm>
            <a:off x="566928" y="6208776"/>
            <a:ext cx="10881360" cy="292608"/>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550">
                <a:solidFill>
                  <a:srgbClr val="F7F9FD"/>
                </a:solidFill>
                <a:latin typeface="Arial"/>
                <a:ea typeface="Arial"/>
                <a:cs typeface="Arial"/>
                <a:sym typeface="Arial"/>
              </a:rPr>
              <a:t>Recall slide 11  •  The validated result becomes context for generating the next table.</a:t>
            </a:r>
            <a:endParaRPr/>
          </a:p>
        </p:txBody>
      </p:sp>
      <p:sp>
        <p:nvSpPr>
          <p:cNvPr id="770" name="Google Shape;770;p17"/>
          <p:cNvSpPr txBox="1"/>
          <p:nvPr/>
        </p:nvSpPr>
        <p:spPr>
          <a:xfrm>
            <a:off x="10917936" y="6519672"/>
            <a:ext cx="804672" cy="182880"/>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r>
              <a:rPr b="0" lang="en-US" sz="1400">
                <a:solidFill>
                  <a:srgbClr val="C7D4E8"/>
                </a:solidFill>
                <a:latin typeface="Arial"/>
                <a:ea typeface="Arial"/>
                <a:cs typeface="Arial"/>
                <a:sym typeface="Arial"/>
              </a:rPr>
              <a:t>6 / 6</a:t>
            </a:r>
            <a:endParaRPr/>
          </a:p>
        </p:txBody>
      </p:sp>
      <p:cxnSp>
        <p:nvCxnSpPr>
          <p:cNvPr id="771" name="Google Shape;771;p17"/>
          <p:cNvCxnSpPr/>
          <p:nvPr/>
        </p:nvCxnSpPr>
        <p:spPr>
          <a:xfrm>
            <a:off x="1792224" y="3831336"/>
            <a:ext cx="164592" cy="0"/>
          </a:xfrm>
          <a:prstGeom prst="straightConnector1">
            <a:avLst/>
          </a:prstGeom>
          <a:noFill/>
          <a:ln cap="flat" cmpd="sng" w="38100">
            <a:solidFill>
              <a:srgbClr val="84ADF7"/>
            </a:solidFill>
            <a:prstDash val="solid"/>
            <a:miter lim="8000"/>
            <a:headEnd len="sm" w="sm" type="none"/>
            <a:tailEnd len="sm" w="sm" type="none"/>
          </a:ln>
        </p:spPr>
      </p:cxnSp>
      <p:sp>
        <p:nvSpPr>
          <p:cNvPr id="772" name="Google Shape;772;p17"/>
          <p:cNvSpPr/>
          <p:nvPr/>
        </p:nvSpPr>
        <p:spPr>
          <a:xfrm rot="5400000">
            <a:off x="1892808" y="3767328"/>
            <a:ext cx="128016" cy="128016"/>
          </a:xfrm>
          <a:prstGeom prst="triangle">
            <a:avLst>
              <a:gd fmla="val 50000" name="adj"/>
            </a:avLst>
          </a:prstGeom>
          <a:solidFill>
            <a:srgbClr val="84ADF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cxnSp>
        <p:nvCxnSpPr>
          <p:cNvPr id="773" name="Google Shape;773;p17"/>
          <p:cNvCxnSpPr/>
          <p:nvPr/>
        </p:nvCxnSpPr>
        <p:spPr>
          <a:xfrm>
            <a:off x="3401568" y="3794760"/>
            <a:ext cx="100584" cy="0"/>
          </a:xfrm>
          <a:prstGeom prst="straightConnector1">
            <a:avLst/>
          </a:prstGeom>
          <a:noFill/>
          <a:ln cap="flat" cmpd="sng" w="29200">
            <a:solidFill>
              <a:srgbClr val="84ADF7"/>
            </a:solidFill>
            <a:prstDash val="solid"/>
            <a:miter lim="8000"/>
            <a:headEnd len="sm" w="sm" type="none"/>
            <a:tailEnd len="sm" w="sm" type="none"/>
          </a:ln>
        </p:spPr>
      </p:cxnSp>
      <p:cxnSp>
        <p:nvCxnSpPr>
          <p:cNvPr id="774" name="Google Shape;774;p17"/>
          <p:cNvCxnSpPr/>
          <p:nvPr/>
        </p:nvCxnSpPr>
        <p:spPr>
          <a:xfrm rot="10800000">
            <a:off x="3502152" y="2523744"/>
            <a:ext cx="0" cy="1271016"/>
          </a:xfrm>
          <a:prstGeom prst="straightConnector1">
            <a:avLst/>
          </a:prstGeom>
          <a:noFill/>
          <a:ln cap="flat" cmpd="sng" w="29200">
            <a:solidFill>
              <a:srgbClr val="84ADF7"/>
            </a:solidFill>
            <a:prstDash val="solid"/>
            <a:miter lim="8000"/>
            <a:headEnd len="sm" w="sm" type="none"/>
            <a:tailEnd len="sm" w="sm" type="none"/>
          </a:ln>
        </p:spPr>
      </p:cxnSp>
      <p:cxnSp>
        <p:nvCxnSpPr>
          <p:cNvPr id="775" name="Google Shape;775;p17"/>
          <p:cNvCxnSpPr/>
          <p:nvPr/>
        </p:nvCxnSpPr>
        <p:spPr>
          <a:xfrm>
            <a:off x="3502152" y="2523744"/>
            <a:ext cx="265176" cy="0"/>
          </a:xfrm>
          <a:prstGeom prst="straightConnector1">
            <a:avLst/>
          </a:prstGeom>
          <a:noFill/>
          <a:ln cap="flat" cmpd="sng" w="29200">
            <a:solidFill>
              <a:srgbClr val="84ADF7"/>
            </a:solidFill>
            <a:prstDash val="solid"/>
            <a:miter lim="8000"/>
            <a:headEnd len="sm" w="sm" type="none"/>
            <a:tailEnd len="sm" w="sm" type="none"/>
          </a:ln>
        </p:spPr>
      </p:cxnSp>
      <p:sp>
        <p:nvSpPr>
          <p:cNvPr id="776" name="Google Shape;776;p17"/>
          <p:cNvSpPr/>
          <p:nvPr/>
        </p:nvSpPr>
        <p:spPr>
          <a:xfrm rot="5400000">
            <a:off x="3703320" y="2459736"/>
            <a:ext cx="128016" cy="128016"/>
          </a:xfrm>
          <a:prstGeom prst="triangle">
            <a:avLst>
              <a:gd fmla="val 50000" name="adj"/>
            </a:avLst>
          </a:prstGeom>
          <a:solidFill>
            <a:srgbClr val="84ADF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cxnSp>
        <p:nvCxnSpPr>
          <p:cNvPr id="777" name="Google Shape;777;p17"/>
          <p:cNvCxnSpPr/>
          <p:nvPr/>
        </p:nvCxnSpPr>
        <p:spPr>
          <a:xfrm>
            <a:off x="3401568" y="3931920"/>
            <a:ext cx="118872" cy="0"/>
          </a:xfrm>
          <a:prstGeom prst="straightConnector1">
            <a:avLst/>
          </a:prstGeom>
          <a:noFill/>
          <a:ln cap="flat" cmpd="sng" w="26650">
            <a:solidFill>
              <a:srgbClr val="84ADF7"/>
            </a:solidFill>
            <a:prstDash val="solid"/>
            <a:miter lim="8000"/>
            <a:headEnd len="sm" w="sm" type="none"/>
            <a:tailEnd len="sm" w="sm" type="none"/>
          </a:ln>
        </p:spPr>
      </p:cxnSp>
      <p:cxnSp>
        <p:nvCxnSpPr>
          <p:cNvPr id="778" name="Google Shape;778;p17"/>
          <p:cNvCxnSpPr/>
          <p:nvPr/>
        </p:nvCxnSpPr>
        <p:spPr>
          <a:xfrm rot="10800000">
            <a:off x="3520440" y="3621024"/>
            <a:ext cx="0" cy="310896"/>
          </a:xfrm>
          <a:prstGeom prst="straightConnector1">
            <a:avLst/>
          </a:prstGeom>
          <a:noFill/>
          <a:ln cap="flat" cmpd="sng" w="26650">
            <a:solidFill>
              <a:srgbClr val="84ADF7"/>
            </a:solidFill>
            <a:prstDash val="solid"/>
            <a:miter lim="8000"/>
            <a:headEnd len="sm" w="sm" type="none"/>
            <a:tailEnd len="sm" w="sm" type="none"/>
          </a:ln>
        </p:spPr>
      </p:cxnSp>
      <p:cxnSp>
        <p:nvCxnSpPr>
          <p:cNvPr id="779" name="Google Shape;779;p17"/>
          <p:cNvCxnSpPr/>
          <p:nvPr/>
        </p:nvCxnSpPr>
        <p:spPr>
          <a:xfrm>
            <a:off x="3520440" y="3621024"/>
            <a:ext cx="256032" cy="0"/>
          </a:xfrm>
          <a:prstGeom prst="straightConnector1">
            <a:avLst/>
          </a:prstGeom>
          <a:noFill/>
          <a:ln cap="flat" cmpd="sng" w="26650">
            <a:solidFill>
              <a:srgbClr val="84ADF7"/>
            </a:solidFill>
            <a:prstDash val="solid"/>
            <a:miter lim="8000"/>
            <a:headEnd len="sm" w="sm" type="none"/>
            <a:tailEnd len="sm" w="sm" type="none"/>
          </a:ln>
        </p:spPr>
      </p:cxnSp>
      <p:sp>
        <p:nvSpPr>
          <p:cNvPr id="780" name="Google Shape;780;p17"/>
          <p:cNvSpPr/>
          <p:nvPr/>
        </p:nvSpPr>
        <p:spPr>
          <a:xfrm rot="5400000">
            <a:off x="3712463" y="3557016"/>
            <a:ext cx="128016" cy="128016"/>
          </a:xfrm>
          <a:prstGeom prst="triangle">
            <a:avLst>
              <a:gd fmla="val 50000" name="adj"/>
            </a:avLst>
          </a:prstGeom>
          <a:solidFill>
            <a:srgbClr val="84ADF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cxnSp>
        <p:nvCxnSpPr>
          <p:cNvPr id="781" name="Google Shape;781;p17"/>
          <p:cNvCxnSpPr/>
          <p:nvPr/>
        </p:nvCxnSpPr>
        <p:spPr>
          <a:xfrm>
            <a:off x="3401568" y="3931920"/>
            <a:ext cx="118872" cy="0"/>
          </a:xfrm>
          <a:prstGeom prst="straightConnector1">
            <a:avLst/>
          </a:prstGeom>
          <a:noFill/>
          <a:ln cap="flat" cmpd="sng" w="26650">
            <a:solidFill>
              <a:srgbClr val="84ADF7"/>
            </a:solidFill>
            <a:prstDash val="solid"/>
            <a:miter lim="8000"/>
            <a:headEnd len="sm" w="sm" type="none"/>
            <a:tailEnd len="sm" w="sm" type="none"/>
          </a:ln>
        </p:spPr>
      </p:cxnSp>
      <p:cxnSp>
        <p:nvCxnSpPr>
          <p:cNvPr id="782" name="Google Shape;782;p17"/>
          <p:cNvCxnSpPr/>
          <p:nvPr/>
        </p:nvCxnSpPr>
        <p:spPr>
          <a:xfrm>
            <a:off x="3520440" y="3931920"/>
            <a:ext cx="0" cy="384048"/>
          </a:xfrm>
          <a:prstGeom prst="straightConnector1">
            <a:avLst/>
          </a:prstGeom>
          <a:noFill/>
          <a:ln cap="flat" cmpd="sng" w="26650">
            <a:solidFill>
              <a:srgbClr val="84ADF7"/>
            </a:solidFill>
            <a:prstDash val="solid"/>
            <a:miter lim="8000"/>
            <a:headEnd len="sm" w="sm" type="none"/>
            <a:tailEnd len="sm" w="sm" type="none"/>
          </a:ln>
        </p:spPr>
      </p:cxnSp>
      <p:cxnSp>
        <p:nvCxnSpPr>
          <p:cNvPr id="783" name="Google Shape;783;p17"/>
          <p:cNvCxnSpPr/>
          <p:nvPr/>
        </p:nvCxnSpPr>
        <p:spPr>
          <a:xfrm>
            <a:off x="3520440" y="4315968"/>
            <a:ext cx="256032" cy="0"/>
          </a:xfrm>
          <a:prstGeom prst="straightConnector1">
            <a:avLst/>
          </a:prstGeom>
          <a:noFill/>
          <a:ln cap="flat" cmpd="sng" w="26650">
            <a:solidFill>
              <a:srgbClr val="84ADF7"/>
            </a:solidFill>
            <a:prstDash val="solid"/>
            <a:miter lim="8000"/>
            <a:headEnd len="sm" w="sm" type="none"/>
            <a:tailEnd len="sm" w="sm" type="none"/>
          </a:ln>
        </p:spPr>
      </p:cxnSp>
      <p:sp>
        <p:nvSpPr>
          <p:cNvPr id="784" name="Google Shape;784;p17"/>
          <p:cNvSpPr/>
          <p:nvPr/>
        </p:nvSpPr>
        <p:spPr>
          <a:xfrm rot="5400000">
            <a:off x="3712463" y="4251959"/>
            <a:ext cx="128016" cy="128016"/>
          </a:xfrm>
          <a:prstGeom prst="triangle">
            <a:avLst>
              <a:gd fmla="val 50000" name="adj"/>
            </a:avLst>
          </a:prstGeom>
          <a:solidFill>
            <a:srgbClr val="84ADF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cxnSp>
        <p:nvCxnSpPr>
          <p:cNvPr id="785" name="Google Shape;785;p17"/>
          <p:cNvCxnSpPr/>
          <p:nvPr/>
        </p:nvCxnSpPr>
        <p:spPr>
          <a:xfrm>
            <a:off x="3401568" y="3931920"/>
            <a:ext cx="118872" cy="0"/>
          </a:xfrm>
          <a:prstGeom prst="straightConnector1">
            <a:avLst/>
          </a:prstGeom>
          <a:noFill/>
          <a:ln cap="flat" cmpd="sng" w="26650">
            <a:solidFill>
              <a:srgbClr val="84ADF7"/>
            </a:solidFill>
            <a:prstDash val="solid"/>
            <a:miter lim="8000"/>
            <a:headEnd len="sm" w="sm" type="none"/>
            <a:tailEnd len="sm" w="sm" type="none"/>
          </a:ln>
        </p:spPr>
      </p:cxnSp>
      <p:cxnSp>
        <p:nvCxnSpPr>
          <p:cNvPr id="786" name="Google Shape;786;p17"/>
          <p:cNvCxnSpPr/>
          <p:nvPr/>
        </p:nvCxnSpPr>
        <p:spPr>
          <a:xfrm>
            <a:off x="3520440" y="3931920"/>
            <a:ext cx="0" cy="1078992"/>
          </a:xfrm>
          <a:prstGeom prst="straightConnector1">
            <a:avLst/>
          </a:prstGeom>
          <a:noFill/>
          <a:ln cap="flat" cmpd="sng" w="26650">
            <a:solidFill>
              <a:srgbClr val="84ADF7"/>
            </a:solidFill>
            <a:prstDash val="solid"/>
            <a:miter lim="8000"/>
            <a:headEnd len="sm" w="sm" type="none"/>
            <a:tailEnd len="sm" w="sm" type="none"/>
          </a:ln>
        </p:spPr>
      </p:cxnSp>
      <p:cxnSp>
        <p:nvCxnSpPr>
          <p:cNvPr id="787" name="Google Shape;787;p17"/>
          <p:cNvCxnSpPr/>
          <p:nvPr/>
        </p:nvCxnSpPr>
        <p:spPr>
          <a:xfrm>
            <a:off x="3520440" y="5010912"/>
            <a:ext cx="256032" cy="0"/>
          </a:xfrm>
          <a:prstGeom prst="straightConnector1">
            <a:avLst/>
          </a:prstGeom>
          <a:noFill/>
          <a:ln cap="flat" cmpd="sng" w="26650">
            <a:solidFill>
              <a:srgbClr val="84ADF7"/>
            </a:solidFill>
            <a:prstDash val="solid"/>
            <a:miter lim="8000"/>
            <a:headEnd len="sm" w="sm" type="none"/>
            <a:tailEnd len="sm" w="sm" type="none"/>
          </a:ln>
        </p:spPr>
      </p:cxnSp>
      <p:sp>
        <p:nvSpPr>
          <p:cNvPr id="788" name="Google Shape;788;p17"/>
          <p:cNvSpPr/>
          <p:nvPr/>
        </p:nvSpPr>
        <p:spPr>
          <a:xfrm rot="5400000">
            <a:off x="3712463" y="4946904"/>
            <a:ext cx="128016" cy="128016"/>
          </a:xfrm>
          <a:prstGeom prst="triangle">
            <a:avLst>
              <a:gd fmla="val 50000" name="adj"/>
            </a:avLst>
          </a:prstGeom>
          <a:solidFill>
            <a:srgbClr val="84ADF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cxnSp>
        <p:nvCxnSpPr>
          <p:cNvPr id="789" name="Google Shape;789;p17"/>
          <p:cNvCxnSpPr/>
          <p:nvPr/>
        </p:nvCxnSpPr>
        <p:spPr>
          <a:xfrm>
            <a:off x="5879592" y="2505456"/>
            <a:ext cx="1874520" cy="0"/>
          </a:xfrm>
          <a:prstGeom prst="straightConnector1">
            <a:avLst/>
          </a:prstGeom>
          <a:noFill/>
          <a:ln cap="flat" cmpd="sng" w="29200">
            <a:solidFill>
              <a:srgbClr val="84ADF7"/>
            </a:solidFill>
            <a:prstDash val="solid"/>
            <a:miter lim="8000"/>
            <a:headEnd len="sm" w="sm" type="none"/>
            <a:tailEnd len="sm" w="sm" type="none"/>
          </a:ln>
        </p:spPr>
      </p:cxnSp>
      <p:cxnSp>
        <p:nvCxnSpPr>
          <p:cNvPr id="790" name="Google Shape;790;p17"/>
          <p:cNvCxnSpPr/>
          <p:nvPr/>
        </p:nvCxnSpPr>
        <p:spPr>
          <a:xfrm>
            <a:off x="7754112" y="2505456"/>
            <a:ext cx="0" cy="1133856"/>
          </a:xfrm>
          <a:prstGeom prst="straightConnector1">
            <a:avLst/>
          </a:prstGeom>
          <a:noFill/>
          <a:ln cap="flat" cmpd="sng" w="29200">
            <a:solidFill>
              <a:srgbClr val="84ADF7"/>
            </a:solidFill>
            <a:prstDash val="solid"/>
            <a:miter lim="8000"/>
            <a:headEnd len="sm" w="sm" type="none"/>
            <a:tailEnd len="sm" w="sm" type="none"/>
          </a:ln>
        </p:spPr>
      </p:cxnSp>
      <p:sp>
        <p:nvSpPr>
          <p:cNvPr id="791" name="Google Shape;791;p17"/>
          <p:cNvSpPr/>
          <p:nvPr/>
        </p:nvSpPr>
        <p:spPr>
          <a:xfrm rot="10800000">
            <a:off x="7690104" y="3575304"/>
            <a:ext cx="128016" cy="128016"/>
          </a:xfrm>
          <a:prstGeom prst="triangle">
            <a:avLst>
              <a:gd fmla="val 50000" name="adj"/>
            </a:avLst>
          </a:prstGeom>
          <a:solidFill>
            <a:srgbClr val="84ADF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cxnSp>
        <p:nvCxnSpPr>
          <p:cNvPr id="792" name="Google Shape;792;p17"/>
          <p:cNvCxnSpPr/>
          <p:nvPr/>
        </p:nvCxnSpPr>
        <p:spPr>
          <a:xfrm>
            <a:off x="6757416" y="3621024"/>
            <a:ext cx="146304" cy="0"/>
          </a:xfrm>
          <a:prstGeom prst="straightConnector1">
            <a:avLst/>
          </a:prstGeom>
          <a:noFill/>
          <a:ln cap="flat" cmpd="sng" w="26650">
            <a:solidFill>
              <a:srgbClr val="84ADF7"/>
            </a:solidFill>
            <a:prstDash val="solid"/>
            <a:miter lim="8000"/>
            <a:headEnd len="sm" w="sm" type="none"/>
            <a:tailEnd len="sm" w="sm" type="none"/>
          </a:ln>
        </p:spPr>
      </p:cxnSp>
      <p:cxnSp>
        <p:nvCxnSpPr>
          <p:cNvPr id="793" name="Google Shape;793;p17"/>
          <p:cNvCxnSpPr/>
          <p:nvPr/>
        </p:nvCxnSpPr>
        <p:spPr>
          <a:xfrm>
            <a:off x="6903720" y="3621024"/>
            <a:ext cx="0" cy="448056"/>
          </a:xfrm>
          <a:prstGeom prst="straightConnector1">
            <a:avLst/>
          </a:prstGeom>
          <a:noFill/>
          <a:ln cap="flat" cmpd="sng" w="26650">
            <a:solidFill>
              <a:srgbClr val="84ADF7"/>
            </a:solidFill>
            <a:prstDash val="solid"/>
            <a:miter lim="8000"/>
            <a:headEnd len="sm" w="sm" type="none"/>
            <a:tailEnd len="sm" w="sm" type="none"/>
          </a:ln>
        </p:spPr>
      </p:cxnSp>
      <p:cxnSp>
        <p:nvCxnSpPr>
          <p:cNvPr id="794" name="Google Shape;794;p17"/>
          <p:cNvCxnSpPr/>
          <p:nvPr/>
        </p:nvCxnSpPr>
        <p:spPr>
          <a:xfrm>
            <a:off x="6903720" y="4069080"/>
            <a:ext cx="228600" cy="0"/>
          </a:xfrm>
          <a:prstGeom prst="straightConnector1">
            <a:avLst/>
          </a:prstGeom>
          <a:noFill/>
          <a:ln cap="flat" cmpd="sng" w="26650">
            <a:solidFill>
              <a:srgbClr val="84ADF7"/>
            </a:solidFill>
            <a:prstDash val="solid"/>
            <a:miter lim="8000"/>
            <a:headEnd len="sm" w="sm" type="none"/>
            <a:tailEnd len="sm" w="sm" type="none"/>
          </a:ln>
        </p:spPr>
      </p:cxnSp>
      <p:sp>
        <p:nvSpPr>
          <p:cNvPr id="795" name="Google Shape;795;p17"/>
          <p:cNvSpPr/>
          <p:nvPr/>
        </p:nvSpPr>
        <p:spPr>
          <a:xfrm rot="5400000">
            <a:off x="7068312" y="4005072"/>
            <a:ext cx="128016" cy="128016"/>
          </a:xfrm>
          <a:prstGeom prst="triangle">
            <a:avLst>
              <a:gd fmla="val 50000" name="adj"/>
            </a:avLst>
          </a:prstGeom>
          <a:solidFill>
            <a:srgbClr val="84ADF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cxnSp>
        <p:nvCxnSpPr>
          <p:cNvPr id="796" name="Google Shape;796;p17"/>
          <p:cNvCxnSpPr/>
          <p:nvPr/>
        </p:nvCxnSpPr>
        <p:spPr>
          <a:xfrm flipH="1" rot="10800000">
            <a:off x="6757416" y="4069080"/>
            <a:ext cx="374904" cy="256032"/>
          </a:xfrm>
          <a:prstGeom prst="straightConnector1">
            <a:avLst/>
          </a:prstGeom>
          <a:noFill/>
          <a:ln cap="flat" cmpd="sng" w="26650">
            <a:solidFill>
              <a:srgbClr val="84ADF7"/>
            </a:solidFill>
            <a:prstDash val="solid"/>
            <a:miter lim="8000"/>
            <a:headEnd len="sm" w="sm" type="none"/>
            <a:tailEnd len="sm" w="sm" type="none"/>
          </a:ln>
        </p:spPr>
      </p:cxnSp>
      <p:sp>
        <p:nvSpPr>
          <p:cNvPr id="797" name="Google Shape;797;p17"/>
          <p:cNvSpPr/>
          <p:nvPr/>
        </p:nvSpPr>
        <p:spPr>
          <a:xfrm rot="5400000">
            <a:off x="7068312" y="4005072"/>
            <a:ext cx="128016" cy="128016"/>
          </a:xfrm>
          <a:prstGeom prst="triangle">
            <a:avLst>
              <a:gd fmla="val 50000" name="adj"/>
            </a:avLst>
          </a:prstGeom>
          <a:solidFill>
            <a:srgbClr val="84ADF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cxnSp>
        <p:nvCxnSpPr>
          <p:cNvPr id="798" name="Google Shape;798;p17"/>
          <p:cNvCxnSpPr/>
          <p:nvPr/>
        </p:nvCxnSpPr>
        <p:spPr>
          <a:xfrm>
            <a:off x="6757416" y="5020056"/>
            <a:ext cx="146304" cy="0"/>
          </a:xfrm>
          <a:prstGeom prst="straightConnector1">
            <a:avLst/>
          </a:prstGeom>
          <a:noFill/>
          <a:ln cap="flat" cmpd="sng" w="26650">
            <a:solidFill>
              <a:srgbClr val="84ADF7"/>
            </a:solidFill>
            <a:prstDash val="solid"/>
            <a:miter lim="8000"/>
            <a:headEnd len="sm" w="sm" type="none"/>
            <a:tailEnd len="sm" w="sm" type="none"/>
          </a:ln>
        </p:spPr>
      </p:cxnSp>
      <p:cxnSp>
        <p:nvCxnSpPr>
          <p:cNvPr id="799" name="Google Shape;799;p17"/>
          <p:cNvCxnSpPr/>
          <p:nvPr/>
        </p:nvCxnSpPr>
        <p:spPr>
          <a:xfrm rot="10800000">
            <a:off x="6903720" y="4069080"/>
            <a:ext cx="0" cy="950976"/>
          </a:xfrm>
          <a:prstGeom prst="straightConnector1">
            <a:avLst/>
          </a:prstGeom>
          <a:noFill/>
          <a:ln cap="flat" cmpd="sng" w="26650">
            <a:solidFill>
              <a:srgbClr val="84ADF7"/>
            </a:solidFill>
            <a:prstDash val="solid"/>
            <a:miter lim="8000"/>
            <a:headEnd len="sm" w="sm" type="none"/>
            <a:tailEnd len="sm" w="sm" type="none"/>
          </a:ln>
        </p:spPr>
      </p:cxnSp>
      <p:cxnSp>
        <p:nvCxnSpPr>
          <p:cNvPr id="800" name="Google Shape;800;p17"/>
          <p:cNvCxnSpPr/>
          <p:nvPr/>
        </p:nvCxnSpPr>
        <p:spPr>
          <a:xfrm>
            <a:off x="6903720" y="4069080"/>
            <a:ext cx="228600" cy="0"/>
          </a:xfrm>
          <a:prstGeom prst="straightConnector1">
            <a:avLst/>
          </a:prstGeom>
          <a:noFill/>
          <a:ln cap="flat" cmpd="sng" w="26650">
            <a:solidFill>
              <a:srgbClr val="84ADF7"/>
            </a:solidFill>
            <a:prstDash val="solid"/>
            <a:miter lim="8000"/>
            <a:headEnd len="sm" w="sm" type="none"/>
            <a:tailEnd len="sm" w="sm" type="none"/>
          </a:ln>
        </p:spPr>
      </p:cxnSp>
      <p:sp>
        <p:nvSpPr>
          <p:cNvPr id="801" name="Google Shape;801;p17"/>
          <p:cNvSpPr/>
          <p:nvPr/>
        </p:nvSpPr>
        <p:spPr>
          <a:xfrm rot="5400000">
            <a:off x="7068312" y="4005072"/>
            <a:ext cx="128016" cy="128016"/>
          </a:xfrm>
          <a:prstGeom prst="triangle">
            <a:avLst>
              <a:gd fmla="val 50000" name="adj"/>
            </a:avLst>
          </a:prstGeom>
          <a:solidFill>
            <a:srgbClr val="84ADF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cxnSp>
        <p:nvCxnSpPr>
          <p:cNvPr id="802" name="Google Shape;802;p17"/>
          <p:cNvCxnSpPr/>
          <p:nvPr/>
        </p:nvCxnSpPr>
        <p:spPr>
          <a:xfrm>
            <a:off x="8485632" y="4059936"/>
            <a:ext cx="868680" cy="0"/>
          </a:xfrm>
          <a:prstGeom prst="straightConnector1">
            <a:avLst/>
          </a:prstGeom>
          <a:noFill/>
          <a:ln cap="flat" cmpd="sng" w="38100">
            <a:solidFill>
              <a:srgbClr val="F9AB5E"/>
            </a:solidFill>
            <a:prstDash val="solid"/>
            <a:miter lim="8000"/>
            <a:headEnd len="sm" w="sm" type="none"/>
            <a:tailEnd len="sm" w="sm" type="none"/>
          </a:ln>
        </p:spPr>
      </p:cxnSp>
      <p:sp>
        <p:nvSpPr>
          <p:cNvPr id="803" name="Google Shape;803;p17"/>
          <p:cNvSpPr/>
          <p:nvPr/>
        </p:nvSpPr>
        <p:spPr>
          <a:xfrm rot="5400000">
            <a:off x="9290304" y="3995928"/>
            <a:ext cx="128016" cy="128016"/>
          </a:xfrm>
          <a:prstGeom prst="triangle">
            <a:avLst>
              <a:gd fmla="val 50000" name="adj"/>
            </a:avLst>
          </a:prstGeom>
          <a:solidFill>
            <a:srgbClr val="F9AB5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cxnSp>
        <p:nvCxnSpPr>
          <p:cNvPr id="804" name="Google Shape;804;p17"/>
          <p:cNvCxnSpPr/>
          <p:nvPr/>
        </p:nvCxnSpPr>
        <p:spPr>
          <a:xfrm>
            <a:off x="10451592" y="4608576"/>
            <a:ext cx="0" cy="438912"/>
          </a:xfrm>
          <a:prstGeom prst="straightConnector1">
            <a:avLst/>
          </a:prstGeom>
          <a:noFill/>
          <a:ln cap="flat" cmpd="sng" w="33000">
            <a:solidFill>
              <a:srgbClr val="8DE1B6"/>
            </a:solidFill>
            <a:prstDash val="solid"/>
            <a:miter lim="8000"/>
            <a:headEnd len="sm" w="sm" type="none"/>
            <a:tailEnd len="sm" w="sm" type="none"/>
          </a:ln>
        </p:spPr>
      </p:cxnSp>
      <p:sp>
        <p:nvSpPr>
          <p:cNvPr id="805" name="Google Shape;805;p17"/>
          <p:cNvSpPr/>
          <p:nvPr/>
        </p:nvSpPr>
        <p:spPr>
          <a:xfrm rot="10800000">
            <a:off x="10387584" y="4983479"/>
            <a:ext cx="128016" cy="128016"/>
          </a:xfrm>
          <a:prstGeom prst="triangle">
            <a:avLst>
              <a:gd fmla="val 50000" name="adj"/>
            </a:avLst>
          </a:prstGeom>
          <a:solidFill>
            <a:srgbClr val="8DE1B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cxnSp>
        <p:nvCxnSpPr>
          <p:cNvPr id="806" name="Google Shape;806;p17"/>
          <p:cNvCxnSpPr/>
          <p:nvPr/>
        </p:nvCxnSpPr>
        <p:spPr>
          <a:xfrm rot="10800000">
            <a:off x="8924544" y="5449824"/>
            <a:ext cx="466344" cy="0"/>
          </a:xfrm>
          <a:prstGeom prst="straightConnector1">
            <a:avLst/>
          </a:prstGeom>
          <a:noFill/>
          <a:ln cap="flat" cmpd="sng" w="31750">
            <a:solidFill>
              <a:srgbClr val="8DE1B6"/>
            </a:solidFill>
            <a:prstDash val="solid"/>
            <a:miter lim="8000"/>
            <a:headEnd len="sm" w="sm" type="none"/>
            <a:tailEnd len="sm" w="sm" type="none"/>
          </a:ln>
        </p:spPr>
      </p:cxnSp>
      <p:cxnSp>
        <p:nvCxnSpPr>
          <p:cNvPr id="807" name="Google Shape;807;p17"/>
          <p:cNvCxnSpPr/>
          <p:nvPr/>
        </p:nvCxnSpPr>
        <p:spPr>
          <a:xfrm>
            <a:off x="8924544" y="5449824"/>
            <a:ext cx="0" cy="365760"/>
          </a:xfrm>
          <a:prstGeom prst="straightConnector1">
            <a:avLst/>
          </a:prstGeom>
          <a:noFill/>
          <a:ln cap="flat" cmpd="sng" w="31750">
            <a:solidFill>
              <a:srgbClr val="8DE1B6"/>
            </a:solidFill>
            <a:prstDash val="solid"/>
            <a:miter lim="8000"/>
            <a:headEnd len="sm" w="sm" type="none"/>
            <a:tailEnd len="sm" w="sm" type="none"/>
          </a:ln>
        </p:spPr>
      </p:cxnSp>
      <p:cxnSp>
        <p:nvCxnSpPr>
          <p:cNvPr id="808" name="Google Shape;808;p17"/>
          <p:cNvCxnSpPr/>
          <p:nvPr/>
        </p:nvCxnSpPr>
        <p:spPr>
          <a:xfrm rot="10800000">
            <a:off x="6967728" y="5815584"/>
            <a:ext cx="1956816" cy="0"/>
          </a:xfrm>
          <a:prstGeom prst="straightConnector1">
            <a:avLst/>
          </a:prstGeom>
          <a:noFill/>
          <a:ln cap="flat" cmpd="sng" w="31750">
            <a:solidFill>
              <a:srgbClr val="8DE1B6"/>
            </a:solidFill>
            <a:prstDash val="solid"/>
            <a:miter lim="8000"/>
            <a:headEnd len="sm" w="sm" type="none"/>
            <a:tailEnd len="sm" w="sm" type="none"/>
          </a:ln>
        </p:spPr>
      </p:cxnSp>
      <p:cxnSp>
        <p:nvCxnSpPr>
          <p:cNvPr id="809" name="Google Shape;809;p17"/>
          <p:cNvCxnSpPr/>
          <p:nvPr/>
        </p:nvCxnSpPr>
        <p:spPr>
          <a:xfrm rot="10800000">
            <a:off x="6967728" y="5020056"/>
            <a:ext cx="0" cy="795528"/>
          </a:xfrm>
          <a:prstGeom prst="straightConnector1">
            <a:avLst/>
          </a:prstGeom>
          <a:noFill/>
          <a:ln cap="flat" cmpd="sng" w="31750">
            <a:solidFill>
              <a:srgbClr val="8DE1B6"/>
            </a:solidFill>
            <a:prstDash val="solid"/>
            <a:miter lim="8000"/>
            <a:headEnd len="sm" w="sm" type="none"/>
            <a:tailEnd len="sm" w="sm" type="none"/>
          </a:ln>
        </p:spPr>
      </p:cxnSp>
      <p:cxnSp>
        <p:nvCxnSpPr>
          <p:cNvPr id="810" name="Google Shape;810;p17"/>
          <p:cNvCxnSpPr/>
          <p:nvPr/>
        </p:nvCxnSpPr>
        <p:spPr>
          <a:xfrm rot="10800000">
            <a:off x="6766560" y="5020056"/>
            <a:ext cx="201168" cy="0"/>
          </a:xfrm>
          <a:prstGeom prst="straightConnector1">
            <a:avLst/>
          </a:prstGeom>
          <a:noFill/>
          <a:ln cap="flat" cmpd="sng" w="31750">
            <a:solidFill>
              <a:srgbClr val="8DE1B6"/>
            </a:solidFill>
            <a:prstDash val="solid"/>
            <a:miter lim="8000"/>
            <a:headEnd len="sm" w="sm" type="none"/>
            <a:tailEnd len="sm" w="sm" type="none"/>
          </a:ln>
        </p:spPr>
      </p:cxnSp>
      <p:sp>
        <p:nvSpPr>
          <p:cNvPr id="812" name="Google Shape;812;p17"/>
          <p:cNvSpPr/>
          <p:nvPr/>
        </p:nvSpPr>
        <p:spPr>
          <a:xfrm>
            <a:off x="621792" y="3282696"/>
            <a:ext cx="1170432" cy="1133856"/>
          </a:xfrm>
          <a:prstGeom prst="roundRect">
            <a:avLst>
              <a:gd fmla="val 16667" name="adj"/>
            </a:avLst>
          </a:prstGeom>
          <a:solidFill>
            <a:srgbClr val="193548"/>
          </a:solidFill>
          <a:ln cap="flat" cmpd="sng" w="15225">
            <a:solidFill>
              <a:srgbClr val="435E84"/>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813" name="Google Shape;813;p17"/>
          <p:cNvSpPr/>
          <p:nvPr/>
        </p:nvSpPr>
        <p:spPr>
          <a:xfrm>
            <a:off x="740664" y="3447288"/>
            <a:ext cx="256032" cy="402336"/>
          </a:xfrm>
          <a:prstGeom prst="rect">
            <a:avLst/>
          </a:prstGeom>
          <a:solidFill>
            <a:srgbClr val="2E5369"/>
          </a:solidFill>
          <a:ln cap="flat" cmpd="sng" w="10150">
            <a:solidFill>
              <a:srgbClr val="8DE1B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cxnSp>
        <p:nvCxnSpPr>
          <p:cNvPr id="814" name="Google Shape;814;p17"/>
          <p:cNvCxnSpPr/>
          <p:nvPr/>
        </p:nvCxnSpPr>
        <p:spPr>
          <a:xfrm>
            <a:off x="781812" y="3566160"/>
            <a:ext cx="169164" cy="0"/>
          </a:xfrm>
          <a:prstGeom prst="straightConnector1">
            <a:avLst/>
          </a:prstGeom>
          <a:noFill/>
          <a:ln cap="flat" cmpd="sng" w="9525">
            <a:solidFill>
              <a:srgbClr val="C7D4E8"/>
            </a:solidFill>
            <a:prstDash val="solid"/>
            <a:miter lim="8000"/>
            <a:headEnd len="sm" w="sm" type="none"/>
            <a:tailEnd len="sm" w="sm" type="none"/>
          </a:ln>
        </p:spPr>
      </p:cxnSp>
      <p:cxnSp>
        <p:nvCxnSpPr>
          <p:cNvPr id="815" name="Google Shape;815;p17"/>
          <p:cNvCxnSpPr/>
          <p:nvPr/>
        </p:nvCxnSpPr>
        <p:spPr>
          <a:xfrm>
            <a:off x="781812" y="3648456"/>
            <a:ext cx="169164" cy="0"/>
          </a:xfrm>
          <a:prstGeom prst="straightConnector1">
            <a:avLst/>
          </a:prstGeom>
          <a:noFill/>
          <a:ln cap="flat" cmpd="sng" w="9525">
            <a:solidFill>
              <a:srgbClr val="C7D4E8"/>
            </a:solidFill>
            <a:prstDash val="solid"/>
            <a:miter lim="8000"/>
            <a:headEnd len="sm" w="sm" type="none"/>
            <a:tailEnd len="sm" w="sm" type="none"/>
          </a:ln>
        </p:spPr>
      </p:cxnSp>
      <p:sp>
        <p:nvSpPr>
          <p:cNvPr id="816" name="Google Shape;816;p17"/>
          <p:cNvSpPr/>
          <p:nvPr/>
        </p:nvSpPr>
        <p:spPr>
          <a:xfrm>
            <a:off x="1051560" y="3447288"/>
            <a:ext cx="256032" cy="402336"/>
          </a:xfrm>
          <a:prstGeom prst="rect">
            <a:avLst/>
          </a:prstGeom>
          <a:solidFill>
            <a:srgbClr val="2E5369"/>
          </a:solidFill>
          <a:ln cap="flat" cmpd="sng" w="10150">
            <a:solidFill>
              <a:srgbClr val="8DE1B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cxnSp>
        <p:nvCxnSpPr>
          <p:cNvPr id="817" name="Google Shape;817;p17"/>
          <p:cNvCxnSpPr/>
          <p:nvPr/>
        </p:nvCxnSpPr>
        <p:spPr>
          <a:xfrm>
            <a:off x="1092708" y="3566160"/>
            <a:ext cx="169164" cy="0"/>
          </a:xfrm>
          <a:prstGeom prst="straightConnector1">
            <a:avLst/>
          </a:prstGeom>
          <a:noFill/>
          <a:ln cap="flat" cmpd="sng" w="9525">
            <a:solidFill>
              <a:srgbClr val="C7D4E8"/>
            </a:solidFill>
            <a:prstDash val="solid"/>
            <a:miter lim="8000"/>
            <a:headEnd len="sm" w="sm" type="none"/>
            <a:tailEnd len="sm" w="sm" type="none"/>
          </a:ln>
        </p:spPr>
      </p:cxnSp>
      <p:cxnSp>
        <p:nvCxnSpPr>
          <p:cNvPr id="818" name="Google Shape;818;p17"/>
          <p:cNvCxnSpPr/>
          <p:nvPr/>
        </p:nvCxnSpPr>
        <p:spPr>
          <a:xfrm>
            <a:off x="1092708" y="3648456"/>
            <a:ext cx="169164" cy="0"/>
          </a:xfrm>
          <a:prstGeom prst="straightConnector1">
            <a:avLst/>
          </a:prstGeom>
          <a:noFill/>
          <a:ln cap="flat" cmpd="sng" w="9525">
            <a:solidFill>
              <a:srgbClr val="C7D4E8"/>
            </a:solidFill>
            <a:prstDash val="solid"/>
            <a:miter lim="8000"/>
            <a:headEnd len="sm" w="sm" type="none"/>
            <a:tailEnd len="sm" w="sm" type="none"/>
          </a:ln>
        </p:spPr>
      </p:cxnSp>
      <p:sp>
        <p:nvSpPr>
          <p:cNvPr id="819" name="Google Shape;819;p17"/>
          <p:cNvSpPr/>
          <p:nvPr/>
        </p:nvSpPr>
        <p:spPr>
          <a:xfrm>
            <a:off x="1362456" y="3447288"/>
            <a:ext cx="256032" cy="402336"/>
          </a:xfrm>
          <a:prstGeom prst="rect">
            <a:avLst/>
          </a:prstGeom>
          <a:solidFill>
            <a:srgbClr val="2E5369"/>
          </a:solidFill>
          <a:ln cap="flat" cmpd="sng" w="10150">
            <a:solidFill>
              <a:srgbClr val="8DE1B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cxnSp>
        <p:nvCxnSpPr>
          <p:cNvPr id="820" name="Google Shape;820;p17"/>
          <p:cNvCxnSpPr/>
          <p:nvPr/>
        </p:nvCxnSpPr>
        <p:spPr>
          <a:xfrm>
            <a:off x="1403604" y="3566160"/>
            <a:ext cx="169164" cy="0"/>
          </a:xfrm>
          <a:prstGeom prst="straightConnector1">
            <a:avLst/>
          </a:prstGeom>
          <a:noFill/>
          <a:ln cap="flat" cmpd="sng" w="9525">
            <a:solidFill>
              <a:srgbClr val="C7D4E8"/>
            </a:solidFill>
            <a:prstDash val="solid"/>
            <a:miter lim="8000"/>
            <a:headEnd len="sm" w="sm" type="none"/>
            <a:tailEnd len="sm" w="sm" type="none"/>
          </a:ln>
        </p:spPr>
      </p:cxnSp>
      <p:cxnSp>
        <p:nvCxnSpPr>
          <p:cNvPr id="821" name="Google Shape;821;p17"/>
          <p:cNvCxnSpPr/>
          <p:nvPr/>
        </p:nvCxnSpPr>
        <p:spPr>
          <a:xfrm>
            <a:off x="1403604" y="3648456"/>
            <a:ext cx="169164" cy="0"/>
          </a:xfrm>
          <a:prstGeom prst="straightConnector1">
            <a:avLst/>
          </a:prstGeom>
          <a:noFill/>
          <a:ln cap="flat" cmpd="sng" w="9525">
            <a:solidFill>
              <a:srgbClr val="C7D4E8"/>
            </a:solidFill>
            <a:prstDash val="solid"/>
            <a:miter lim="8000"/>
            <a:headEnd len="sm" w="sm" type="none"/>
            <a:tailEnd len="sm" w="sm" type="none"/>
          </a:ln>
        </p:spPr>
      </p:cxnSp>
      <p:sp>
        <p:nvSpPr>
          <p:cNvPr id="822" name="Google Shape;822;p17"/>
          <p:cNvSpPr txBox="1"/>
          <p:nvPr/>
        </p:nvSpPr>
        <p:spPr>
          <a:xfrm>
            <a:off x="630936" y="3941063"/>
            <a:ext cx="1152144" cy="283464"/>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US" sz="1400">
                <a:solidFill>
                  <a:srgbClr val="F7F9FD"/>
                </a:solidFill>
                <a:latin typeface="Arial"/>
                <a:ea typeface="Arial"/>
                <a:cs typeface="Arial"/>
                <a:sym typeface="Arial"/>
              </a:rPr>
              <a:t>Schema S</a:t>
            </a:r>
            <a:endParaRPr/>
          </a:p>
        </p:txBody>
      </p:sp>
      <p:sp>
        <p:nvSpPr>
          <p:cNvPr id="823" name="Google Shape;823;p17"/>
          <p:cNvSpPr txBox="1"/>
          <p:nvPr/>
        </p:nvSpPr>
        <p:spPr>
          <a:xfrm>
            <a:off x="1490472" y="3072384"/>
            <a:ext cx="384048" cy="2286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400">
                <a:solidFill>
                  <a:srgbClr val="C7D4E8"/>
                </a:solidFill>
                <a:latin typeface="Arial"/>
                <a:ea typeface="Arial"/>
                <a:cs typeface="Arial"/>
                <a:sym typeface="Arial"/>
              </a:rPr>
              <a:t>(a)</a:t>
            </a:r>
            <a:endParaRPr/>
          </a:p>
        </p:txBody>
      </p:sp>
      <p:sp>
        <p:nvSpPr>
          <p:cNvPr id="824" name="Google Shape;824;p17"/>
          <p:cNvSpPr/>
          <p:nvPr/>
        </p:nvSpPr>
        <p:spPr>
          <a:xfrm>
            <a:off x="1956816" y="3483864"/>
            <a:ext cx="1444752" cy="694944"/>
          </a:xfrm>
          <a:prstGeom prst="roundRect">
            <a:avLst>
              <a:gd fmla="val 16667" name="adj"/>
            </a:avLst>
          </a:prstGeom>
          <a:solidFill>
            <a:srgbClr val="1F3957"/>
          </a:solidFill>
          <a:ln cap="flat" cmpd="sng" w="16500">
            <a:solidFill>
              <a:srgbClr val="84ADF7"/>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825" name="Google Shape;825;p17"/>
          <p:cNvSpPr txBox="1"/>
          <p:nvPr/>
        </p:nvSpPr>
        <p:spPr>
          <a:xfrm>
            <a:off x="2039112" y="3602736"/>
            <a:ext cx="1280160" cy="246888"/>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US" sz="1550">
                <a:solidFill>
                  <a:srgbClr val="F7F9FD"/>
                </a:solidFill>
                <a:latin typeface="Arial"/>
                <a:ea typeface="Arial"/>
                <a:cs typeface="Arial"/>
                <a:sym typeface="Arial"/>
              </a:rPr>
              <a:t>Iterate</a:t>
            </a:r>
            <a:endParaRPr/>
          </a:p>
        </p:txBody>
      </p:sp>
      <p:sp>
        <p:nvSpPr>
          <p:cNvPr id="826" name="Google Shape;826;p17"/>
          <p:cNvSpPr txBox="1"/>
          <p:nvPr/>
        </p:nvSpPr>
        <p:spPr>
          <a:xfrm>
            <a:off x="2048256" y="3877056"/>
            <a:ext cx="1261872" cy="256032"/>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0" lang="en-US" sz="1400">
                <a:solidFill>
                  <a:srgbClr val="C7D4E8"/>
                </a:solidFill>
                <a:latin typeface="Arial"/>
                <a:ea typeface="Arial"/>
                <a:cs typeface="Arial"/>
                <a:sym typeface="Arial"/>
              </a:rPr>
              <a:t>FK-BFS</a:t>
            </a:r>
            <a:endParaRPr/>
          </a:p>
        </p:txBody>
      </p:sp>
      <p:sp>
        <p:nvSpPr>
          <p:cNvPr id="827" name="Google Shape;827;p17"/>
          <p:cNvSpPr/>
          <p:nvPr/>
        </p:nvSpPr>
        <p:spPr>
          <a:xfrm>
            <a:off x="3776472" y="2148840"/>
            <a:ext cx="2103120" cy="758952"/>
          </a:xfrm>
          <a:prstGeom prst="roundRect">
            <a:avLst>
              <a:gd fmla="val 16667" name="adj"/>
            </a:avLst>
          </a:prstGeom>
          <a:solidFill>
            <a:srgbClr val="1F3957"/>
          </a:solidFill>
          <a:ln cap="flat" cmpd="sng" w="16500">
            <a:solidFill>
              <a:srgbClr val="84ADF7"/>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828" name="Google Shape;828;p17"/>
          <p:cNvSpPr txBox="1"/>
          <p:nvPr/>
        </p:nvSpPr>
        <p:spPr>
          <a:xfrm>
            <a:off x="3849624" y="1938528"/>
            <a:ext cx="384048" cy="2286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400">
                <a:solidFill>
                  <a:srgbClr val="C7D4E8"/>
                </a:solidFill>
                <a:latin typeface="Arial"/>
                <a:ea typeface="Arial"/>
                <a:cs typeface="Arial"/>
                <a:sym typeface="Arial"/>
              </a:rPr>
              <a:t>(b)</a:t>
            </a:r>
            <a:endParaRPr/>
          </a:p>
        </p:txBody>
      </p:sp>
      <p:sp>
        <p:nvSpPr>
          <p:cNvPr id="829" name="Google Shape;829;p17"/>
          <p:cNvSpPr txBox="1"/>
          <p:nvPr/>
        </p:nvSpPr>
        <p:spPr>
          <a:xfrm>
            <a:off x="3858768" y="2267712"/>
            <a:ext cx="1938527" cy="246888"/>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US" sz="1550">
                <a:solidFill>
                  <a:srgbClr val="F7F9FD"/>
                </a:solidFill>
                <a:latin typeface="Arial"/>
                <a:ea typeface="Arial"/>
                <a:cs typeface="Arial"/>
                <a:sym typeface="Arial"/>
              </a:rPr>
              <a:t>Direct mapping</a:t>
            </a:r>
            <a:endParaRPr/>
          </a:p>
        </p:txBody>
      </p:sp>
      <p:sp>
        <p:nvSpPr>
          <p:cNvPr id="830" name="Google Shape;830;p17"/>
          <p:cNvSpPr txBox="1"/>
          <p:nvPr/>
        </p:nvSpPr>
        <p:spPr>
          <a:xfrm>
            <a:off x="3867911" y="2542032"/>
            <a:ext cx="1920239" cy="32004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0" lang="en-US" sz="1400">
                <a:solidFill>
                  <a:srgbClr val="C7D4E8"/>
                </a:solidFill>
                <a:latin typeface="Arial"/>
                <a:ea typeface="Arial"/>
                <a:cs typeface="Arial"/>
                <a:sym typeface="Arial"/>
              </a:rPr>
              <a:t>OWL seed DMᵣ</a:t>
            </a:r>
            <a:endParaRPr/>
          </a:p>
        </p:txBody>
      </p:sp>
      <p:sp>
        <p:nvSpPr>
          <p:cNvPr id="831" name="Google Shape;831;p17"/>
          <p:cNvSpPr/>
          <p:nvPr/>
        </p:nvSpPr>
        <p:spPr>
          <a:xfrm>
            <a:off x="3630168" y="3063240"/>
            <a:ext cx="3218688" cy="2432304"/>
          </a:xfrm>
          <a:prstGeom prst="roundRect">
            <a:avLst>
              <a:gd fmla="val 16667" name="adj"/>
            </a:avLst>
          </a:prstGeom>
          <a:solidFill>
            <a:srgbClr val="18314C"/>
          </a:solidFill>
          <a:ln cap="flat" cmpd="sng" w="15225">
            <a:solidFill>
              <a:srgbClr val="435E84"/>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832" name="Google Shape;832;p17"/>
          <p:cNvSpPr txBox="1"/>
          <p:nvPr/>
        </p:nvSpPr>
        <p:spPr>
          <a:xfrm>
            <a:off x="3758184" y="3099816"/>
            <a:ext cx="2990088" cy="210312"/>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US" sz="1400">
                <a:solidFill>
                  <a:srgbClr val="C7D4E8"/>
                </a:solidFill>
                <a:latin typeface="Arial"/>
                <a:ea typeface="Arial"/>
                <a:cs typeface="Arial"/>
                <a:sym typeface="Arial"/>
              </a:rPr>
              <a:t>RETRIEVAL  •  top-k per source</a:t>
            </a:r>
            <a:endParaRPr/>
          </a:p>
        </p:txBody>
      </p:sp>
      <p:sp>
        <p:nvSpPr>
          <p:cNvPr id="833" name="Google Shape;833;p17"/>
          <p:cNvSpPr/>
          <p:nvPr/>
        </p:nvSpPr>
        <p:spPr>
          <a:xfrm>
            <a:off x="3776472" y="3383280"/>
            <a:ext cx="2980944" cy="603504"/>
          </a:xfrm>
          <a:prstGeom prst="roundRect">
            <a:avLst>
              <a:gd fmla="val 16667" name="adj"/>
            </a:avLst>
          </a:prstGeom>
          <a:solidFill>
            <a:srgbClr val="1F3957"/>
          </a:solidFill>
          <a:ln cap="flat" cmpd="sng" w="15225">
            <a:solidFill>
              <a:srgbClr val="84ADF7"/>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834" name="Google Shape;834;p17"/>
          <p:cNvSpPr txBox="1"/>
          <p:nvPr/>
        </p:nvSpPr>
        <p:spPr>
          <a:xfrm>
            <a:off x="3877056" y="3415284"/>
            <a:ext cx="365760" cy="192024"/>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400">
                <a:solidFill>
                  <a:srgbClr val="F9AB5E"/>
                </a:solidFill>
                <a:latin typeface="Arial"/>
                <a:ea typeface="Arial"/>
                <a:cs typeface="Arial"/>
                <a:sym typeface="Arial"/>
              </a:rPr>
              <a:t>(c)</a:t>
            </a:r>
            <a:endParaRPr/>
          </a:p>
        </p:txBody>
      </p:sp>
      <p:sp>
        <p:nvSpPr>
          <p:cNvPr id="835" name="Google Shape;835;p17"/>
          <p:cNvSpPr txBox="1"/>
          <p:nvPr/>
        </p:nvSpPr>
        <p:spPr>
          <a:xfrm>
            <a:off x="4224528" y="3396996"/>
            <a:ext cx="2404872" cy="283464"/>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500">
                <a:solidFill>
                  <a:srgbClr val="F7F9FD"/>
                </a:solidFill>
                <a:latin typeface="Arial"/>
                <a:ea typeface="Arial"/>
                <a:cs typeface="Arial"/>
                <a:sym typeface="Arial"/>
              </a:rPr>
              <a:t>External ontologies</a:t>
            </a:r>
            <a:endParaRPr/>
          </a:p>
        </p:txBody>
      </p:sp>
      <p:sp>
        <p:nvSpPr>
          <p:cNvPr id="836" name="Google Shape;836;p17"/>
          <p:cNvSpPr txBox="1"/>
          <p:nvPr/>
        </p:nvSpPr>
        <p:spPr>
          <a:xfrm>
            <a:off x="4224528" y="3703320"/>
            <a:ext cx="2404872" cy="201168"/>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US" sz="1400">
                <a:solidFill>
                  <a:srgbClr val="C7D4E8"/>
                </a:solidFill>
                <a:latin typeface="Arial"/>
                <a:ea typeface="Arial"/>
                <a:cs typeface="Arial"/>
                <a:sym typeface="Arial"/>
              </a:rPr>
              <a:t>Domain alignments</a:t>
            </a:r>
            <a:endParaRPr/>
          </a:p>
        </p:txBody>
      </p:sp>
      <p:sp>
        <p:nvSpPr>
          <p:cNvPr id="837" name="Google Shape;837;p17"/>
          <p:cNvSpPr/>
          <p:nvPr/>
        </p:nvSpPr>
        <p:spPr>
          <a:xfrm>
            <a:off x="3776472" y="4087368"/>
            <a:ext cx="2980944" cy="603504"/>
          </a:xfrm>
          <a:prstGeom prst="roundRect">
            <a:avLst>
              <a:gd fmla="val 16667" name="adj"/>
            </a:avLst>
          </a:prstGeom>
          <a:solidFill>
            <a:srgbClr val="1F3957"/>
          </a:solidFill>
          <a:ln cap="flat" cmpd="sng" w="15225">
            <a:solidFill>
              <a:srgbClr val="84ADF7"/>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838" name="Google Shape;838;p17"/>
          <p:cNvSpPr txBox="1"/>
          <p:nvPr/>
        </p:nvSpPr>
        <p:spPr>
          <a:xfrm>
            <a:off x="3877056" y="4119372"/>
            <a:ext cx="365760" cy="192024"/>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400">
                <a:solidFill>
                  <a:srgbClr val="F9AB5E"/>
                </a:solidFill>
                <a:latin typeface="Arial"/>
                <a:ea typeface="Arial"/>
                <a:cs typeface="Arial"/>
                <a:sym typeface="Arial"/>
              </a:rPr>
              <a:t>(d)</a:t>
            </a:r>
            <a:endParaRPr/>
          </a:p>
        </p:txBody>
      </p:sp>
      <p:sp>
        <p:nvSpPr>
          <p:cNvPr id="839" name="Google Shape;839;p17"/>
          <p:cNvSpPr txBox="1"/>
          <p:nvPr/>
        </p:nvSpPr>
        <p:spPr>
          <a:xfrm>
            <a:off x="4224528" y="4101084"/>
            <a:ext cx="2404872" cy="283464"/>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500">
                <a:solidFill>
                  <a:srgbClr val="F7F9FD"/>
                </a:solidFill>
                <a:latin typeface="Arial"/>
                <a:ea typeface="Arial"/>
                <a:cs typeface="Arial"/>
                <a:sym typeface="Arial"/>
              </a:rPr>
              <a:t>Documentation</a:t>
            </a:r>
            <a:endParaRPr/>
          </a:p>
        </p:txBody>
      </p:sp>
      <p:sp>
        <p:nvSpPr>
          <p:cNvPr id="840" name="Google Shape;840;p17"/>
          <p:cNvSpPr txBox="1"/>
          <p:nvPr/>
        </p:nvSpPr>
        <p:spPr>
          <a:xfrm>
            <a:off x="4224528" y="4407408"/>
            <a:ext cx="2404872" cy="201168"/>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US" sz="1400">
                <a:solidFill>
                  <a:srgbClr val="C7D4E8"/>
                </a:solidFill>
                <a:latin typeface="Arial"/>
                <a:ea typeface="Arial"/>
                <a:cs typeface="Arial"/>
                <a:sym typeface="Arial"/>
              </a:rPr>
              <a:t>Cryptic fields and codes</a:t>
            </a:r>
            <a:endParaRPr/>
          </a:p>
        </p:txBody>
      </p:sp>
      <p:sp>
        <p:nvSpPr>
          <p:cNvPr id="841" name="Google Shape;841;p17"/>
          <p:cNvSpPr/>
          <p:nvPr/>
        </p:nvSpPr>
        <p:spPr>
          <a:xfrm>
            <a:off x="3776472" y="4791456"/>
            <a:ext cx="2980944" cy="603504"/>
          </a:xfrm>
          <a:prstGeom prst="roundRect">
            <a:avLst>
              <a:gd fmla="val 16667" name="adj"/>
            </a:avLst>
          </a:prstGeom>
          <a:solidFill>
            <a:srgbClr val="1F3957"/>
          </a:solidFill>
          <a:ln cap="flat" cmpd="sng" w="15225">
            <a:solidFill>
              <a:srgbClr val="84ADF7"/>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842" name="Google Shape;842;p17"/>
          <p:cNvSpPr txBox="1"/>
          <p:nvPr/>
        </p:nvSpPr>
        <p:spPr>
          <a:xfrm>
            <a:off x="3877056" y="4823460"/>
            <a:ext cx="365760" cy="192024"/>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400">
                <a:solidFill>
                  <a:srgbClr val="F9AB5E"/>
                </a:solidFill>
                <a:latin typeface="Arial"/>
                <a:ea typeface="Arial"/>
                <a:cs typeface="Arial"/>
                <a:sym typeface="Arial"/>
              </a:rPr>
              <a:t>(e)</a:t>
            </a:r>
            <a:endParaRPr/>
          </a:p>
        </p:txBody>
      </p:sp>
      <p:sp>
        <p:nvSpPr>
          <p:cNvPr id="843" name="Google Shape;843;p17"/>
          <p:cNvSpPr txBox="1"/>
          <p:nvPr/>
        </p:nvSpPr>
        <p:spPr>
          <a:xfrm>
            <a:off x="4224528" y="4805172"/>
            <a:ext cx="2404872" cy="283464"/>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500">
                <a:solidFill>
                  <a:srgbClr val="F7F9FD"/>
                </a:solidFill>
                <a:latin typeface="Arial"/>
                <a:ea typeface="Arial"/>
                <a:cs typeface="Arial"/>
                <a:sym typeface="Arial"/>
              </a:rPr>
              <a:t>Growing core ontology</a:t>
            </a:r>
            <a:endParaRPr/>
          </a:p>
        </p:txBody>
      </p:sp>
      <p:sp>
        <p:nvSpPr>
          <p:cNvPr id="844" name="Google Shape;844;p17"/>
          <p:cNvSpPr txBox="1"/>
          <p:nvPr/>
        </p:nvSpPr>
        <p:spPr>
          <a:xfrm>
            <a:off x="4224528" y="5111496"/>
            <a:ext cx="2404872" cy="201168"/>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US" sz="1400">
                <a:solidFill>
                  <a:srgbClr val="C7D4E8"/>
                </a:solidFill>
                <a:latin typeface="Arial"/>
                <a:ea typeface="Arial"/>
                <a:cs typeface="Arial"/>
                <a:sym typeface="Arial"/>
              </a:rPr>
              <a:t>Reuse validated IRIs</a:t>
            </a:r>
            <a:endParaRPr/>
          </a:p>
        </p:txBody>
      </p:sp>
      <p:sp>
        <p:nvSpPr>
          <p:cNvPr id="845" name="Google Shape;845;p17"/>
          <p:cNvSpPr/>
          <p:nvPr/>
        </p:nvSpPr>
        <p:spPr>
          <a:xfrm>
            <a:off x="7150608" y="3666744"/>
            <a:ext cx="1335024" cy="822960"/>
          </a:xfrm>
          <a:prstGeom prst="roundRect">
            <a:avLst>
              <a:gd fmla="val 16667" name="adj"/>
            </a:avLst>
          </a:prstGeom>
          <a:solidFill>
            <a:srgbClr val="1F3957"/>
          </a:solidFill>
          <a:ln cap="flat" cmpd="sng" w="16500">
            <a:solidFill>
              <a:srgbClr val="84ADF7"/>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846" name="Google Shape;846;p17"/>
          <p:cNvSpPr txBox="1"/>
          <p:nvPr/>
        </p:nvSpPr>
        <p:spPr>
          <a:xfrm>
            <a:off x="7223760" y="3456432"/>
            <a:ext cx="384048" cy="2286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400">
                <a:solidFill>
                  <a:srgbClr val="C7D4E8"/>
                </a:solidFill>
                <a:latin typeface="Arial"/>
                <a:ea typeface="Arial"/>
                <a:cs typeface="Arial"/>
                <a:sym typeface="Arial"/>
              </a:rPr>
              <a:t>(f)</a:t>
            </a:r>
            <a:endParaRPr/>
          </a:p>
        </p:txBody>
      </p:sp>
      <p:sp>
        <p:nvSpPr>
          <p:cNvPr id="847" name="Google Shape;847;p17"/>
          <p:cNvSpPr txBox="1"/>
          <p:nvPr/>
        </p:nvSpPr>
        <p:spPr>
          <a:xfrm>
            <a:off x="7232904" y="3785615"/>
            <a:ext cx="1170432" cy="246888"/>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US" sz="1550">
                <a:solidFill>
                  <a:srgbClr val="F7F9FD"/>
                </a:solidFill>
                <a:latin typeface="Arial"/>
                <a:ea typeface="Arial"/>
                <a:cs typeface="Arial"/>
                <a:sym typeface="Arial"/>
              </a:rPr>
              <a:t>Gen-LLM</a:t>
            </a:r>
            <a:endParaRPr/>
          </a:p>
        </p:txBody>
      </p:sp>
      <p:sp>
        <p:nvSpPr>
          <p:cNvPr id="848" name="Google Shape;848;p17"/>
          <p:cNvSpPr txBox="1"/>
          <p:nvPr/>
        </p:nvSpPr>
        <p:spPr>
          <a:xfrm>
            <a:off x="7242048" y="4059935"/>
            <a:ext cx="1152144" cy="384048"/>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0" lang="en-US" sz="1400">
                <a:solidFill>
                  <a:srgbClr val="C7D4E8"/>
                </a:solidFill>
                <a:latin typeface="Arial"/>
                <a:ea typeface="Arial"/>
                <a:cs typeface="Arial"/>
                <a:sym typeface="Arial"/>
              </a:rPr>
              <a:t>creates ΔOᵣ</a:t>
            </a:r>
            <a:endParaRPr/>
          </a:p>
        </p:txBody>
      </p:sp>
      <p:sp>
        <p:nvSpPr>
          <p:cNvPr id="849" name="Google Shape;849;p17"/>
          <p:cNvSpPr txBox="1"/>
          <p:nvPr/>
        </p:nvSpPr>
        <p:spPr>
          <a:xfrm>
            <a:off x="8586216" y="3648456"/>
            <a:ext cx="713232" cy="246888"/>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400">
                <a:solidFill>
                  <a:srgbClr val="F9AB5E"/>
                </a:solidFill>
                <a:latin typeface="Arial"/>
                <a:ea typeface="Arial"/>
                <a:cs typeface="Arial"/>
                <a:sym typeface="Arial"/>
              </a:rPr>
              <a:t>(g) ΔOᵣ</a:t>
            </a:r>
            <a:endParaRPr/>
          </a:p>
        </p:txBody>
      </p:sp>
      <p:sp>
        <p:nvSpPr>
          <p:cNvPr id="850" name="Google Shape;850;p17"/>
          <p:cNvSpPr/>
          <p:nvPr/>
        </p:nvSpPr>
        <p:spPr>
          <a:xfrm>
            <a:off x="9354312" y="3502152"/>
            <a:ext cx="2121408" cy="1115568"/>
          </a:xfrm>
          <a:prstGeom prst="roundRect">
            <a:avLst>
              <a:gd fmla="val 16667" name="adj"/>
            </a:avLst>
          </a:prstGeom>
          <a:solidFill>
            <a:srgbClr val="1F3957"/>
          </a:solidFill>
          <a:ln cap="flat" cmpd="sng" w="16500">
            <a:solidFill>
              <a:srgbClr val="84ADF7"/>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851" name="Google Shape;851;p17"/>
          <p:cNvSpPr txBox="1"/>
          <p:nvPr/>
        </p:nvSpPr>
        <p:spPr>
          <a:xfrm>
            <a:off x="9427464" y="3291840"/>
            <a:ext cx="384048" cy="2286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400">
                <a:solidFill>
                  <a:srgbClr val="C7D4E8"/>
                </a:solidFill>
                <a:latin typeface="Arial"/>
                <a:ea typeface="Arial"/>
                <a:cs typeface="Arial"/>
                <a:sym typeface="Arial"/>
              </a:rPr>
              <a:t>(h)</a:t>
            </a:r>
            <a:endParaRPr/>
          </a:p>
        </p:txBody>
      </p:sp>
      <p:sp>
        <p:nvSpPr>
          <p:cNvPr id="852" name="Google Shape;852;p17"/>
          <p:cNvSpPr txBox="1"/>
          <p:nvPr/>
        </p:nvSpPr>
        <p:spPr>
          <a:xfrm>
            <a:off x="9436608" y="3621024"/>
            <a:ext cx="1956815" cy="246888"/>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US" sz="1550">
                <a:solidFill>
                  <a:srgbClr val="F7F9FD"/>
                </a:solidFill>
                <a:latin typeface="Arial"/>
                <a:ea typeface="Arial"/>
                <a:cs typeface="Arial"/>
                <a:sym typeface="Arial"/>
              </a:rPr>
              <a:t>Validate + refine</a:t>
            </a:r>
            <a:endParaRPr/>
          </a:p>
        </p:txBody>
      </p:sp>
      <p:sp>
        <p:nvSpPr>
          <p:cNvPr id="853" name="Google Shape;853;p17"/>
          <p:cNvSpPr txBox="1"/>
          <p:nvPr/>
        </p:nvSpPr>
        <p:spPr>
          <a:xfrm>
            <a:off x="9445752" y="3895344"/>
            <a:ext cx="1938527" cy="676656"/>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0" lang="en-US" sz="1400">
                <a:solidFill>
                  <a:srgbClr val="C7D4E8"/>
                </a:solidFill>
                <a:latin typeface="Arial"/>
                <a:ea typeface="Arial"/>
                <a:cs typeface="Arial"/>
                <a:sym typeface="Arial"/>
              </a:rPr>
              <a:t>Judge-LLM + rules</a:t>
            </a:r>
            <a:endParaRPr/>
          </a:p>
        </p:txBody>
      </p:sp>
      <p:sp>
        <p:nvSpPr>
          <p:cNvPr id="854" name="Google Shape;854;p17"/>
          <p:cNvSpPr/>
          <p:nvPr/>
        </p:nvSpPr>
        <p:spPr>
          <a:xfrm>
            <a:off x="9390888" y="5047488"/>
            <a:ext cx="2084831" cy="786384"/>
          </a:xfrm>
          <a:prstGeom prst="roundRect">
            <a:avLst>
              <a:gd fmla="val 16667" name="adj"/>
            </a:avLst>
          </a:prstGeom>
          <a:solidFill>
            <a:srgbClr val="3D495F"/>
          </a:solidFill>
          <a:ln cap="flat" cmpd="sng" w="29200">
            <a:solidFill>
              <a:srgbClr val="F9AB5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855" name="Google Shape;855;p17"/>
          <p:cNvSpPr txBox="1"/>
          <p:nvPr/>
        </p:nvSpPr>
        <p:spPr>
          <a:xfrm>
            <a:off x="9464040" y="4837175"/>
            <a:ext cx="384048" cy="2286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400">
                <a:solidFill>
                  <a:srgbClr val="F9AB5E"/>
                </a:solidFill>
                <a:latin typeface="Arial"/>
                <a:ea typeface="Arial"/>
                <a:cs typeface="Arial"/>
                <a:sym typeface="Arial"/>
              </a:rPr>
              <a:t>(i)</a:t>
            </a:r>
            <a:endParaRPr/>
          </a:p>
        </p:txBody>
      </p:sp>
      <p:sp>
        <p:nvSpPr>
          <p:cNvPr id="856" name="Google Shape;856;p17"/>
          <p:cNvSpPr txBox="1"/>
          <p:nvPr/>
        </p:nvSpPr>
        <p:spPr>
          <a:xfrm>
            <a:off x="9473184" y="5166359"/>
            <a:ext cx="1920239" cy="246888"/>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US" sz="1550">
                <a:solidFill>
                  <a:srgbClr val="F7F9FD"/>
                </a:solidFill>
                <a:latin typeface="Arial"/>
                <a:ea typeface="Arial"/>
                <a:cs typeface="Arial"/>
                <a:sym typeface="Arial"/>
              </a:rPr>
              <a:t>Integrate ΔOᵣ</a:t>
            </a:r>
            <a:endParaRPr/>
          </a:p>
        </p:txBody>
      </p:sp>
      <p:sp>
        <p:nvSpPr>
          <p:cNvPr id="857" name="Google Shape;857;p17"/>
          <p:cNvSpPr txBox="1"/>
          <p:nvPr/>
        </p:nvSpPr>
        <p:spPr>
          <a:xfrm>
            <a:off x="9482328" y="5440679"/>
            <a:ext cx="1901951" cy="347472"/>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0" lang="en-US" sz="1400">
                <a:solidFill>
                  <a:srgbClr val="C7D4E8"/>
                </a:solidFill>
                <a:latin typeface="Arial"/>
                <a:ea typeface="Arial"/>
                <a:cs typeface="Arial"/>
                <a:sym typeface="Arial"/>
              </a:rPr>
              <a:t>Core Oₜ</a:t>
            </a:r>
            <a:endParaRPr/>
          </a:p>
        </p:txBody>
      </p:sp>
      <p:sp>
        <p:nvSpPr>
          <p:cNvPr id="858" name="Google Shape;858;p17"/>
          <p:cNvSpPr txBox="1"/>
          <p:nvPr/>
        </p:nvSpPr>
        <p:spPr>
          <a:xfrm>
            <a:off x="7214616" y="5522976"/>
            <a:ext cx="1737360" cy="201168"/>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US" sz="1250">
                <a:solidFill>
                  <a:srgbClr val="8DE1B6"/>
                </a:solidFill>
                <a:latin typeface="Arial"/>
                <a:ea typeface="Arial"/>
                <a:cs typeface="Arial"/>
                <a:sym typeface="Arial"/>
              </a:rPr>
              <a:t>Oₜ → next retrieval</a:t>
            </a:r>
            <a:endParaRPr/>
          </a:p>
        </p:txBody>
      </p:sp>
      <p:sp>
        <p:nvSpPr>
          <p:cNvPr id="811" name="Google Shape;811;p17"/>
          <p:cNvSpPr/>
          <p:nvPr/>
        </p:nvSpPr>
        <p:spPr>
          <a:xfrm rot="16200000">
            <a:off x="6638544" y="4956048"/>
            <a:ext cx="164592" cy="146304"/>
          </a:xfrm>
          <a:prstGeom prst="triangle">
            <a:avLst>
              <a:gd fmla="val 50000" name="adj"/>
            </a:avLst>
          </a:prstGeom>
          <a:solidFill>
            <a:srgbClr val="8DE1B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4F7"/>
        </a:solidFill>
      </p:bgPr>
    </p:bg>
    <p:spTree>
      <p:nvGrpSpPr>
        <p:cNvPr id="863" name="Shape 863"/>
        <p:cNvGrpSpPr/>
        <p:nvPr/>
      </p:nvGrpSpPr>
      <p:grpSpPr>
        <a:xfrm>
          <a:off x="0" y="0"/>
          <a:ext cx="0" cy="0"/>
          <a:chOff x="0" y="0"/>
          <a:chExt cx="0" cy="0"/>
        </a:xfrm>
      </p:grpSpPr>
      <p:sp>
        <p:nvSpPr>
          <p:cNvPr id="864" name="Google Shape;864;p18"/>
          <p:cNvSpPr txBox="1"/>
          <p:nvPr/>
        </p:nvSpPr>
        <p:spPr>
          <a:xfrm>
            <a:off x="795528" y="448056"/>
            <a:ext cx="10789920" cy="310896"/>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i="0" lang="en-US" sz="1400">
                <a:solidFill>
                  <a:srgbClr val="4D71DE"/>
                </a:solidFill>
                <a:latin typeface="IBM Plex Mono"/>
                <a:ea typeface="IBM Plex Mono"/>
                <a:cs typeface="IBM Plex Mono"/>
                <a:sym typeface="IBM Plex Mono"/>
              </a:rPr>
              <a:t>TESTING THE PIPELINE</a:t>
            </a:r>
            <a:endParaRPr/>
          </a:p>
        </p:txBody>
      </p:sp>
      <p:sp>
        <p:nvSpPr>
          <p:cNvPr id="865" name="Google Shape;865;p18"/>
          <p:cNvSpPr txBox="1"/>
          <p:nvPr/>
        </p:nvSpPr>
        <p:spPr>
          <a:xfrm>
            <a:off x="795528" y="850392"/>
            <a:ext cx="10835640" cy="685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800">
                <a:solidFill>
                  <a:srgbClr val="111A28"/>
                </a:solidFill>
                <a:latin typeface="IBM Plex Sans"/>
                <a:ea typeface="IBM Plex Sans"/>
                <a:cs typeface="IBM Plex Sans"/>
                <a:sym typeface="IBM Plex Sans"/>
              </a:rPr>
              <a:t>Does the method work beyond our running example?</a:t>
            </a:r>
            <a:endParaRPr/>
          </a:p>
        </p:txBody>
      </p:sp>
      <p:sp>
        <p:nvSpPr>
          <p:cNvPr id="866" name="Google Shape;866;p18"/>
          <p:cNvSpPr txBox="1"/>
          <p:nvPr/>
        </p:nvSpPr>
        <p:spPr>
          <a:xfrm>
            <a:off x="795528" y="1609344"/>
            <a:ext cx="10607040" cy="34747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sz="1600">
                <a:solidFill>
                  <a:srgbClr val="5D6879"/>
                </a:solidFill>
                <a:latin typeface="IBM Plex Sans"/>
                <a:ea typeface="IBM Plex Sans"/>
                <a:cs typeface="IBM Plex Sans"/>
                <a:sym typeface="IBM Plex Sans"/>
              </a:rPr>
              <a:t>Three databases, three generator models, four methods—evaluated from complementary angles.</a:t>
            </a:r>
            <a:endParaRPr/>
          </a:p>
        </p:txBody>
      </p:sp>
      <p:sp>
        <p:nvSpPr>
          <p:cNvPr id="867" name="Google Shape;867;p18"/>
          <p:cNvSpPr/>
          <p:nvPr/>
        </p:nvSpPr>
        <p:spPr>
          <a:xfrm>
            <a:off x="832104" y="2121408"/>
            <a:ext cx="3410712" cy="1207008"/>
          </a:xfrm>
          <a:prstGeom prst="roundRect">
            <a:avLst>
              <a:gd fmla="val 10000" name="adj"/>
            </a:avLst>
          </a:prstGeom>
          <a:solidFill>
            <a:srgbClr val="FFFFFF"/>
          </a:solidFill>
          <a:ln cap="flat" cmpd="sng" w="12700">
            <a:solidFill>
              <a:srgbClr val="DFE5ED"/>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868" name="Google Shape;868;p18"/>
          <p:cNvSpPr/>
          <p:nvPr/>
        </p:nvSpPr>
        <p:spPr>
          <a:xfrm>
            <a:off x="832104" y="2121408"/>
            <a:ext cx="3410712" cy="59436"/>
          </a:xfrm>
          <a:prstGeom prst="rect">
            <a:avLst/>
          </a:prstGeom>
          <a:solidFill>
            <a:srgbClr val="4D71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869" name="Google Shape;869;p18"/>
          <p:cNvSpPr txBox="1"/>
          <p:nvPr/>
        </p:nvSpPr>
        <p:spPr>
          <a:xfrm>
            <a:off x="1024128" y="2304288"/>
            <a:ext cx="3035808" cy="292608"/>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i="0" lang="en-US" sz="1520">
                <a:solidFill>
                  <a:srgbClr val="4D71DE"/>
                </a:solidFill>
                <a:latin typeface="IBM Plex Mono"/>
                <a:ea typeface="IBM Plex Mono"/>
                <a:cs typeface="IBM Plex Mono"/>
                <a:sym typeface="IBM Plex Mono"/>
              </a:rPr>
              <a:t>LIVER CANCER</a:t>
            </a:r>
            <a:endParaRPr/>
          </a:p>
        </p:txBody>
      </p:sp>
      <p:sp>
        <p:nvSpPr>
          <p:cNvPr id="870" name="Google Shape;870;p18"/>
          <p:cNvSpPr txBox="1"/>
          <p:nvPr/>
        </p:nvSpPr>
        <p:spPr>
          <a:xfrm>
            <a:off x="1024128" y="2670048"/>
            <a:ext cx="3026664" cy="265176"/>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1830">
                <a:solidFill>
                  <a:srgbClr val="111A28"/>
                </a:solidFill>
                <a:latin typeface="IBM Plex Sans"/>
                <a:ea typeface="IBM Plex Sans"/>
                <a:cs typeface="IBM Plex Sans"/>
                <a:sym typeface="IBM Plex Sans"/>
              </a:rPr>
              <a:t>16 tables  ·  350 columns</a:t>
            </a:r>
            <a:endParaRPr/>
          </a:p>
        </p:txBody>
      </p:sp>
      <p:sp>
        <p:nvSpPr>
          <p:cNvPr id="871" name="Google Shape;871;p18"/>
          <p:cNvSpPr txBox="1"/>
          <p:nvPr/>
        </p:nvSpPr>
        <p:spPr>
          <a:xfrm>
            <a:off x="1024128" y="2962656"/>
            <a:ext cx="2999232" cy="27432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0" lang="en-US" sz="1520">
                <a:solidFill>
                  <a:srgbClr val="5D6879"/>
                </a:solidFill>
                <a:latin typeface="IBM Plex Sans"/>
                <a:ea typeface="IBM Plex Sans"/>
                <a:cs typeface="IBM Plex Sans"/>
                <a:sym typeface="IBM Plex Sans"/>
              </a:rPr>
              <a:t>specialist clinical registry</a:t>
            </a:r>
            <a:endParaRPr/>
          </a:p>
        </p:txBody>
      </p:sp>
      <p:sp>
        <p:nvSpPr>
          <p:cNvPr id="872" name="Google Shape;872;p18"/>
          <p:cNvSpPr/>
          <p:nvPr/>
        </p:nvSpPr>
        <p:spPr>
          <a:xfrm>
            <a:off x="4489704" y="2121408"/>
            <a:ext cx="3410712" cy="1207008"/>
          </a:xfrm>
          <a:prstGeom prst="roundRect">
            <a:avLst>
              <a:gd fmla="val 10000" name="adj"/>
            </a:avLst>
          </a:prstGeom>
          <a:solidFill>
            <a:srgbClr val="FFFFFF"/>
          </a:solidFill>
          <a:ln cap="flat" cmpd="sng" w="12700">
            <a:solidFill>
              <a:srgbClr val="DFE5ED"/>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873" name="Google Shape;873;p18"/>
          <p:cNvSpPr/>
          <p:nvPr/>
        </p:nvSpPr>
        <p:spPr>
          <a:xfrm>
            <a:off x="4489704" y="2121408"/>
            <a:ext cx="3410712" cy="59436"/>
          </a:xfrm>
          <a:prstGeom prst="rect">
            <a:avLst/>
          </a:prstGeom>
          <a:solidFill>
            <a:srgbClr val="4D71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874" name="Google Shape;874;p18"/>
          <p:cNvSpPr txBox="1"/>
          <p:nvPr/>
        </p:nvSpPr>
        <p:spPr>
          <a:xfrm>
            <a:off x="4681728" y="2304288"/>
            <a:ext cx="3035808" cy="292608"/>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i="0" lang="en-US" sz="1520">
                <a:solidFill>
                  <a:srgbClr val="4D71DE"/>
                </a:solidFill>
                <a:latin typeface="IBM Plex Mono"/>
                <a:ea typeface="IBM Plex Mono"/>
                <a:cs typeface="IBM Plex Mono"/>
                <a:sym typeface="IBM Plex Mono"/>
              </a:rPr>
              <a:t>eICU-CRD</a:t>
            </a:r>
            <a:endParaRPr/>
          </a:p>
        </p:txBody>
      </p:sp>
      <p:sp>
        <p:nvSpPr>
          <p:cNvPr id="875" name="Google Shape;875;p18"/>
          <p:cNvSpPr txBox="1"/>
          <p:nvPr/>
        </p:nvSpPr>
        <p:spPr>
          <a:xfrm>
            <a:off x="4681728" y="2670048"/>
            <a:ext cx="3026664" cy="265176"/>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1830">
                <a:solidFill>
                  <a:srgbClr val="111A28"/>
                </a:solidFill>
                <a:latin typeface="IBM Plex Sans"/>
                <a:ea typeface="IBM Plex Sans"/>
                <a:cs typeface="IBM Plex Sans"/>
                <a:sym typeface="IBM Plex Sans"/>
              </a:rPr>
              <a:t>31 tables  ·  559 columns</a:t>
            </a:r>
            <a:endParaRPr/>
          </a:p>
        </p:txBody>
      </p:sp>
      <p:sp>
        <p:nvSpPr>
          <p:cNvPr id="876" name="Google Shape;876;p18"/>
          <p:cNvSpPr txBox="1"/>
          <p:nvPr/>
        </p:nvSpPr>
        <p:spPr>
          <a:xfrm>
            <a:off x="4681728" y="2962656"/>
            <a:ext cx="2999232" cy="27432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0" lang="en-US" sz="1520">
                <a:solidFill>
                  <a:srgbClr val="5D6879"/>
                </a:solidFill>
                <a:latin typeface="IBM Plex Sans"/>
                <a:ea typeface="IBM Plex Sans"/>
                <a:cs typeface="IBM Plex Sans"/>
                <a:sym typeface="IBM Plex Sans"/>
              </a:rPr>
              <a:t>large ICU schema</a:t>
            </a:r>
            <a:endParaRPr/>
          </a:p>
        </p:txBody>
      </p:sp>
      <p:sp>
        <p:nvSpPr>
          <p:cNvPr id="877" name="Google Shape;877;p18"/>
          <p:cNvSpPr/>
          <p:nvPr/>
        </p:nvSpPr>
        <p:spPr>
          <a:xfrm>
            <a:off x="8147304" y="2121408"/>
            <a:ext cx="3410712" cy="1207008"/>
          </a:xfrm>
          <a:prstGeom prst="roundRect">
            <a:avLst>
              <a:gd fmla="val 10000" name="adj"/>
            </a:avLst>
          </a:prstGeom>
          <a:solidFill>
            <a:srgbClr val="FFFFFF"/>
          </a:solidFill>
          <a:ln cap="flat" cmpd="sng" w="12700">
            <a:solidFill>
              <a:srgbClr val="DFE5ED"/>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878" name="Google Shape;878;p18"/>
          <p:cNvSpPr/>
          <p:nvPr/>
        </p:nvSpPr>
        <p:spPr>
          <a:xfrm>
            <a:off x="8147304" y="2121408"/>
            <a:ext cx="3410712" cy="59436"/>
          </a:xfrm>
          <a:prstGeom prst="rect">
            <a:avLst/>
          </a:prstGeom>
          <a:solidFill>
            <a:srgbClr val="D68B4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879" name="Google Shape;879;p18"/>
          <p:cNvSpPr txBox="1"/>
          <p:nvPr/>
        </p:nvSpPr>
        <p:spPr>
          <a:xfrm>
            <a:off x="8339328" y="2304288"/>
            <a:ext cx="3035808" cy="292608"/>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i="0" lang="en-US" sz="1520">
                <a:solidFill>
                  <a:srgbClr val="D68B4B"/>
                </a:solidFill>
                <a:latin typeface="IBM Plex Mono"/>
                <a:ea typeface="IBM Plex Mono"/>
                <a:cs typeface="IBM Plex Mono"/>
                <a:sym typeface="IBM Plex Mono"/>
              </a:rPr>
              <a:t>CHINOOK</a:t>
            </a:r>
            <a:endParaRPr/>
          </a:p>
        </p:txBody>
      </p:sp>
      <p:sp>
        <p:nvSpPr>
          <p:cNvPr id="880" name="Google Shape;880;p18"/>
          <p:cNvSpPr txBox="1"/>
          <p:nvPr/>
        </p:nvSpPr>
        <p:spPr>
          <a:xfrm>
            <a:off x="8339328" y="2670048"/>
            <a:ext cx="3026664" cy="265176"/>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1830">
                <a:solidFill>
                  <a:srgbClr val="111A28"/>
                </a:solidFill>
                <a:latin typeface="IBM Plex Sans"/>
                <a:ea typeface="IBM Plex Sans"/>
                <a:cs typeface="IBM Plex Sans"/>
                <a:sym typeface="IBM Plex Sans"/>
              </a:rPr>
              <a:t>11 tables  ·  67 columns</a:t>
            </a:r>
            <a:endParaRPr/>
          </a:p>
        </p:txBody>
      </p:sp>
      <p:sp>
        <p:nvSpPr>
          <p:cNvPr id="881" name="Google Shape;881;p18"/>
          <p:cNvSpPr txBox="1"/>
          <p:nvPr/>
        </p:nvSpPr>
        <p:spPr>
          <a:xfrm>
            <a:off x="8339328" y="2962656"/>
            <a:ext cx="2999232" cy="27432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0" lang="en-US" sz="1520">
                <a:solidFill>
                  <a:srgbClr val="5D6879"/>
                </a:solidFill>
                <a:latin typeface="IBM Plex Sans"/>
                <a:ea typeface="IBM Plex Sans"/>
                <a:cs typeface="IBM Plex Sans"/>
                <a:sym typeface="IBM Plex Sans"/>
              </a:rPr>
              <a:t>music store · second domain</a:t>
            </a:r>
            <a:endParaRPr/>
          </a:p>
        </p:txBody>
      </p:sp>
      <p:sp>
        <p:nvSpPr>
          <p:cNvPr id="882" name="Google Shape;882;p18"/>
          <p:cNvSpPr txBox="1"/>
          <p:nvPr/>
        </p:nvSpPr>
        <p:spPr>
          <a:xfrm>
            <a:off x="832104" y="3575304"/>
            <a:ext cx="9875520" cy="283464"/>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i="0" lang="en-US" sz="1520">
                <a:solidFill>
                  <a:srgbClr val="4D71DE"/>
                </a:solidFill>
                <a:latin typeface="IBM Plex Mono"/>
                <a:ea typeface="IBM Plex Mono"/>
                <a:cs typeface="IBM Plex Mono"/>
                <a:sym typeface="IBM Plex Mono"/>
              </a:rPr>
              <a:t>FOUR WAYS TO GENERATE AN ONTOLOGY</a:t>
            </a:r>
            <a:endParaRPr/>
          </a:p>
        </p:txBody>
      </p:sp>
      <p:sp>
        <p:nvSpPr>
          <p:cNvPr id="883" name="Google Shape;883;p18"/>
          <p:cNvSpPr/>
          <p:nvPr/>
        </p:nvSpPr>
        <p:spPr>
          <a:xfrm>
            <a:off x="832104" y="3950208"/>
            <a:ext cx="2542032" cy="960120"/>
          </a:xfrm>
          <a:prstGeom prst="roundRect">
            <a:avLst>
              <a:gd fmla="val 10000" name="adj"/>
            </a:avLst>
          </a:prstGeom>
          <a:solidFill>
            <a:srgbClr val="FFFFFF"/>
          </a:solidFill>
          <a:ln cap="flat" cmpd="sng" w="12700">
            <a:solidFill>
              <a:srgbClr val="DFE5ED"/>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884" name="Google Shape;884;p18"/>
          <p:cNvSpPr/>
          <p:nvPr/>
        </p:nvSpPr>
        <p:spPr>
          <a:xfrm>
            <a:off x="960120" y="4123944"/>
            <a:ext cx="310896" cy="310896"/>
          </a:xfrm>
          <a:prstGeom prst="ellipse">
            <a:avLst/>
          </a:prstGeom>
          <a:solidFill>
            <a:srgbClr val="F2F4F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885" name="Google Shape;885;p18"/>
          <p:cNvSpPr txBox="1"/>
          <p:nvPr/>
        </p:nvSpPr>
        <p:spPr>
          <a:xfrm>
            <a:off x="1028700" y="4187952"/>
            <a:ext cx="219456" cy="219456"/>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None/>
            </a:pPr>
            <a:r>
              <a:rPr b="1" i="0" lang="en-US" sz="1400">
                <a:solidFill>
                  <a:srgbClr val="5D6879"/>
                </a:solidFill>
                <a:latin typeface="IBM Plex Mono"/>
                <a:ea typeface="IBM Plex Mono"/>
                <a:cs typeface="IBM Plex Mono"/>
                <a:sym typeface="IBM Plex Mono"/>
              </a:rPr>
              <a:t>1</a:t>
            </a:r>
            <a:endParaRPr/>
          </a:p>
        </p:txBody>
      </p:sp>
      <p:sp>
        <p:nvSpPr>
          <p:cNvPr id="886" name="Google Shape;886;p18"/>
          <p:cNvSpPr txBox="1"/>
          <p:nvPr/>
        </p:nvSpPr>
        <p:spPr>
          <a:xfrm>
            <a:off x="1344168" y="4096512"/>
            <a:ext cx="1901952" cy="23774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1540">
                <a:solidFill>
                  <a:srgbClr val="111A28"/>
                </a:solidFill>
                <a:latin typeface="IBM Plex Sans"/>
                <a:ea typeface="IBM Plex Sans"/>
                <a:cs typeface="IBM Plex Sans"/>
                <a:sym typeface="IBM Plex Sans"/>
              </a:rPr>
              <a:t>Direct Mapping</a:t>
            </a:r>
            <a:endParaRPr/>
          </a:p>
        </p:txBody>
      </p:sp>
      <p:sp>
        <p:nvSpPr>
          <p:cNvPr id="887" name="Google Shape;887;p18"/>
          <p:cNvSpPr txBox="1"/>
          <p:nvPr/>
        </p:nvSpPr>
        <p:spPr>
          <a:xfrm>
            <a:off x="996696" y="4453128"/>
            <a:ext cx="2221992" cy="283464"/>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0" lang="en-US" sz="1520">
                <a:solidFill>
                  <a:srgbClr val="5D6879"/>
                </a:solidFill>
                <a:latin typeface="IBM Plex Sans"/>
                <a:ea typeface="IBM Plex Sans"/>
                <a:cs typeface="IBM Plex Sans"/>
                <a:sym typeface="IBM Plex Sans"/>
              </a:rPr>
              <a:t>Deterministic</a:t>
            </a:r>
            <a:endParaRPr/>
          </a:p>
        </p:txBody>
      </p:sp>
      <p:cxnSp>
        <p:nvCxnSpPr>
          <p:cNvPr id="888" name="Google Shape;888;p18"/>
          <p:cNvCxnSpPr/>
          <p:nvPr/>
        </p:nvCxnSpPr>
        <p:spPr>
          <a:xfrm>
            <a:off x="3401568" y="4453128"/>
            <a:ext cx="192024" cy="0"/>
          </a:xfrm>
          <a:prstGeom prst="straightConnector1">
            <a:avLst/>
          </a:prstGeom>
          <a:noFill/>
          <a:ln cap="flat" cmpd="sng" w="17775">
            <a:solidFill>
              <a:srgbClr val="4D71DE"/>
            </a:solidFill>
            <a:prstDash val="solid"/>
            <a:miter lim="8000"/>
            <a:headEnd len="sm" w="sm" type="none"/>
            <a:tailEnd len="med" w="med" type="triangle"/>
          </a:ln>
        </p:spPr>
      </p:cxnSp>
      <p:sp>
        <p:nvSpPr>
          <p:cNvPr id="889" name="Google Shape;889;p18"/>
          <p:cNvSpPr/>
          <p:nvPr/>
        </p:nvSpPr>
        <p:spPr>
          <a:xfrm>
            <a:off x="3630168" y="3950208"/>
            <a:ext cx="2542032" cy="960120"/>
          </a:xfrm>
          <a:prstGeom prst="roundRect">
            <a:avLst>
              <a:gd fmla="val 10000" name="adj"/>
            </a:avLst>
          </a:prstGeom>
          <a:solidFill>
            <a:srgbClr val="FFFFFF"/>
          </a:solidFill>
          <a:ln cap="flat" cmpd="sng" w="12700">
            <a:solidFill>
              <a:srgbClr val="DFE5ED"/>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890" name="Google Shape;890;p18"/>
          <p:cNvSpPr/>
          <p:nvPr/>
        </p:nvSpPr>
        <p:spPr>
          <a:xfrm>
            <a:off x="3758184" y="4123944"/>
            <a:ext cx="310896" cy="310896"/>
          </a:xfrm>
          <a:prstGeom prst="ellipse">
            <a:avLst/>
          </a:prstGeom>
          <a:solidFill>
            <a:srgbClr val="F2F4F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891" name="Google Shape;891;p18"/>
          <p:cNvSpPr txBox="1"/>
          <p:nvPr/>
        </p:nvSpPr>
        <p:spPr>
          <a:xfrm>
            <a:off x="3826763" y="4187952"/>
            <a:ext cx="219456" cy="219456"/>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None/>
            </a:pPr>
            <a:r>
              <a:rPr b="1" i="0" lang="en-US" sz="1400">
                <a:solidFill>
                  <a:srgbClr val="5D6879"/>
                </a:solidFill>
                <a:latin typeface="IBM Plex Mono"/>
                <a:ea typeface="IBM Plex Mono"/>
                <a:cs typeface="IBM Plex Mono"/>
                <a:sym typeface="IBM Plex Mono"/>
              </a:rPr>
              <a:t>2</a:t>
            </a:r>
            <a:endParaRPr/>
          </a:p>
        </p:txBody>
      </p:sp>
      <p:sp>
        <p:nvSpPr>
          <p:cNvPr id="892" name="Google Shape;892;p18"/>
          <p:cNvSpPr txBox="1"/>
          <p:nvPr/>
        </p:nvSpPr>
        <p:spPr>
          <a:xfrm>
            <a:off x="4142232" y="4096512"/>
            <a:ext cx="1901952" cy="23774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1540">
                <a:solidFill>
                  <a:srgbClr val="111A28"/>
                </a:solidFill>
                <a:latin typeface="IBM Plex Sans"/>
                <a:ea typeface="IBM Plex Sans"/>
                <a:cs typeface="IBM Plex Sans"/>
                <a:sym typeface="IBM Plex Sans"/>
              </a:rPr>
              <a:t>LLM baseline</a:t>
            </a:r>
            <a:endParaRPr/>
          </a:p>
        </p:txBody>
      </p:sp>
      <p:sp>
        <p:nvSpPr>
          <p:cNvPr id="893" name="Google Shape;893;p18"/>
          <p:cNvSpPr txBox="1"/>
          <p:nvPr/>
        </p:nvSpPr>
        <p:spPr>
          <a:xfrm>
            <a:off x="3794760" y="4453128"/>
            <a:ext cx="2221992" cy="283464"/>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0" lang="en-US" sz="1520">
                <a:solidFill>
                  <a:srgbClr val="5D6879"/>
                </a:solidFill>
                <a:latin typeface="IBM Plex Sans"/>
                <a:ea typeface="IBM Plex Sans"/>
                <a:cs typeface="IBM Plex Sans"/>
                <a:sym typeface="IBM Plex Sans"/>
              </a:rPr>
              <a:t>Table only</a:t>
            </a:r>
            <a:endParaRPr/>
          </a:p>
        </p:txBody>
      </p:sp>
      <p:cxnSp>
        <p:nvCxnSpPr>
          <p:cNvPr id="894" name="Google Shape;894;p18"/>
          <p:cNvCxnSpPr/>
          <p:nvPr/>
        </p:nvCxnSpPr>
        <p:spPr>
          <a:xfrm>
            <a:off x="6199632" y="4453128"/>
            <a:ext cx="192024" cy="0"/>
          </a:xfrm>
          <a:prstGeom prst="straightConnector1">
            <a:avLst/>
          </a:prstGeom>
          <a:noFill/>
          <a:ln cap="flat" cmpd="sng" w="17775">
            <a:solidFill>
              <a:srgbClr val="4D71DE"/>
            </a:solidFill>
            <a:prstDash val="solid"/>
            <a:miter lim="8000"/>
            <a:headEnd len="sm" w="sm" type="none"/>
            <a:tailEnd len="med" w="med" type="triangle"/>
          </a:ln>
        </p:spPr>
      </p:cxnSp>
      <p:sp>
        <p:nvSpPr>
          <p:cNvPr id="895" name="Google Shape;895;p18"/>
          <p:cNvSpPr/>
          <p:nvPr/>
        </p:nvSpPr>
        <p:spPr>
          <a:xfrm>
            <a:off x="6428232" y="3950208"/>
            <a:ext cx="2542032" cy="960120"/>
          </a:xfrm>
          <a:prstGeom prst="roundRect">
            <a:avLst>
              <a:gd fmla="val 10000" name="adj"/>
            </a:avLst>
          </a:prstGeom>
          <a:solidFill>
            <a:srgbClr val="FFFFFF"/>
          </a:solidFill>
          <a:ln cap="flat" cmpd="sng" w="12700">
            <a:solidFill>
              <a:srgbClr val="DFE5ED"/>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896" name="Google Shape;896;p18"/>
          <p:cNvSpPr/>
          <p:nvPr/>
        </p:nvSpPr>
        <p:spPr>
          <a:xfrm>
            <a:off x="6556248" y="4123944"/>
            <a:ext cx="310896" cy="310896"/>
          </a:xfrm>
          <a:prstGeom prst="ellipse">
            <a:avLst/>
          </a:prstGeom>
          <a:solidFill>
            <a:srgbClr val="F2F4F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897" name="Google Shape;897;p18"/>
          <p:cNvSpPr txBox="1"/>
          <p:nvPr/>
        </p:nvSpPr>
        <p:spPr>
          <a:xfrm>
            <a:off x="6624828" y="4187952"/>
            <a:ext cx="219456" cy="219456"/>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None/>
            </a:pPr>
            <a:r>
              <a:rPr b="1" i="0" lang="en-US" sz="1400">
                <a:solidFill>
                  <a:srgbClr val="5D6879"/>
                </a:solidFill>
                <a:latin typeface="IBM Plex Mono"/>
                <a:ea typeface="IBM Plex Mono"/>
                <a:cs typeface="IBM Plex Mono"/>
                <a:sym typeface="IBM Plex Mono"/>
              </a:rPr>
              <a:t>3</a:t>
            </a:r>
            <a:endParaRPr/>
          </a:p>
        </p:txBody>
      </p:sp>
      <p:sp>
        <p:nvSpPr>
          <p:cNvPr id="898" name="Google Shape;898;p18"/>
          <p:cNvSpPr txBox="1"/>
          <p:nvPr/>
        </p:nvSpPr>
        <p:spPr>
          <a:xfrm>
            <a:off x="6940296" y="4096512"/>
            <a:ext cx="1901952" cy="23774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1540">
                <a:solidFill>
                  <a:srgbClr val="111A28"/>
                </a:solidFill>
                <a:latin typeface="IBM Plex Sans"/>
                <a:ea typeface="IBM Plex Sans"/>
                <a:cs typeface="IBM Plex Sans"/>
                <a:sym typeface="IBM Plex Sans"/>
              </a:rPr>
              <a:t>Non-Iterative</a:t>
            </a:r>
            <a:endParaRPr/>
          </a:p>
        </p:txBody>
      </p:sp>
      <p:sp>
        <p:nvSpPr>
          <p:cNvPr id="899" name="Google Shape;899;p18"/>
          <p:cNvSpPr txBox="1"/>
          <p:nvPr/>
        </p:nvSpPr>
        <p:spPr>
          <a:xfrm>
            <a:off x="6592824" y="4453128"/>
            <a:ext cx="2221992" cy="283464"/>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0" lang="en-US" sz="1520">
                <a:solidFill>
                  <a:srgbClr val="5D6879"/>
                </a:solidFill>
                <a:latin typeface="IBM Plex Sans"/>
                <a:ea typeface="IBM Plex Sans"/>
                <a:cs typeface="IBM Plex Sans"/>
                <a:sym typeface="IBM Plex Sans"/>
              </a:rPr>
              <a:t>One-pass RAG</a:t>
            </a:r>
            <a:endParaRPr/>
          </a:p>
        </p:txBody>
      </p:sp>
      <p:cxnSp>
        <p:nvCxnSpPr>
          <p:cNvPr id="900" name="Google Shape;900;p18"/>
          <p:cNvCxnSpPr/>
          <p:nvPr/>
        </p:nvCxnSpPr>
        <p:spPr>
          <a:xfrm>
            <a:off x="8997696" y="4453128"/>
            <a:ext cx="192024" cy="0"/>
          </a:xfrm>
          <a:prstGeom prst="straightConnector1">
            <a:avLst/>
          </a:prstGeom>
          <a:noFill/>
          <a:ln cap="flat" cmpd="sng" w="17775">
            <a:solidFill>
              <a:srgbClr val="4D71DE"/>
            </a:solidFill>
            <a:prstDash val="solid"/>
            <a:miter lim="8000"/>
            <a:headEnd len="sm" w="sm" type="none"/>
            <a:tailEnd len="med" w="med" type="triangle"/>
          </a:ln>
        </p:spPr>
      </p:cxnSp>
      <p:sp>
        <p:nvSpPr>
          <p:cNvPr id="901" name="Google Shape;901;p18"/>
          <p:cNvSpPr/>
          <p:nvPr/>
        </p:nvSpPr>
        <p:spPr>
          <a:xfrm>
            <a:off x="9226296" y="3950208"/>
            <a:ext cx="2542032" cy="960120"/>
          </a:xfrm>
          <a:prstGeom prst="roundRect">
            <a:avLst>
              <a:gd fmla="val 10000" name="adj"/>
            </a:avLst>
          </a:prstGeom>
          <a:solidFill>
            <a:srgbClr val="E4EBFF"/>
          </a:solidFill>
          <a:ln cap="flat" cmpd="sng" w="15225">
            <a:solidFill>
              <a:srgbClr val="4D71D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902" name="Google Shape;902;p18"/>
          <p:cNvSpPr/>
          <p:nvPr/>
        </p:nvSpPr>
        <p:spPr>
          <a:xfrm>
            <a:off x="9354312" y="4123944"/>
            <a:ext cx="310896" cy="310896"/>
          </a:xfrm>
          <a:prstGeom prst="ellipse">
            <a:avLst/>
          </a:prstGeom>
          <a:solidFill>
            <a:srgbClr val="4D71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903" name="Google Shape;903;p18"/>
          <p:cNvSpPr txBox="1"/>
          <p:nvPr/>
        </p:nvSpPr>
        <p:spPr>
          <a:xfrm>
            <a:off x="9422892" y="4187952"/>
            <a:ext cx="219456" cy="219456"/>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None/>
            </a:pPr>
            <a:r>
              <a:rPr b="1" i="0" lang="en-US" sz="1400">
                <a:solidFill>
                  <a:srgbClr val="EDF1F6"/>
                </a:solidFill>
                <a:latin typeface="IBM Plex Mono"/>
                <a:ea typeface="IBM Plex Mono"/>
                <a:cs typeface="IBM Plex Mono"/>
                <a:sym typeface="IBM Plex Mono"/>
              </a:rPr>
              <a:t>4</a:t>
            </a:r>
            <a:endParaRPr/>
          </a:p>
        </p:txBody>
      </p:sp>
      <p:sp>
        <p:nvSpPr>
          <p:cNvPr id="904" name="Google Shape;904;p18"/>
          <p:cNvSpPr txBox="1"/>
          <p:nvPr/>
        </p:nvSpPr>
        <p:spPr>
          <a:xfrm>
            <a:off x="9738360" y="4096512"/>
            <a:ext cx="1901952" cy="23774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1540">
                <a:solidFill>
                  <a:srgbClr val="111A28"/>
                </a:solidFill>
                <a:latin typeface="IBM Plex Sans"/>
                <a:ea typeface="IBM Plex Sans"/>
                <a:cs typeface="IBM Plex Sans"/>
                <a:sym typeface="IBM Plex Sans"/>
              </a:rPr>
              <a:t>RIGOR</a:t>
            </a:r>
            <a:endParaRPr/>
          </a:p>
        </p:txBody>
      </p:sp>
      <p:sp>
        <p:nvSpPr>
          <p:cNvPr id="905" name="Google Shape;905;p18"/>
          <p:cNvSpPr txBox="1"/>
          <p:nvPr/>
        </p:nvSpPr>
        <p:spPr>
          <a:xfrm>
            <a:off x="9390888" y="4453128"/>
            <a:ext cx="2221992" cy="283464"/>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0" lang="en-US" sz="1520">
                <a:solidFill>
                  <a:srgbClr val="5D6879"/>
                </a:solidFill>
                <a:latin typeface="IBM Plex Sans"/>
                <a:ea typeface="IBM Plex Sans"/>
                <a:cs typeface="IBM Plex Sans"/>
                <a:sym typeface="IBM Plex Sans"/>
              </a:rPr>
              <a:t>Ground + grow + check</a:t>
            </a:r>
            <a:endParaRPr/>
          </a:p>
        </p:txBody>
      </p:sp>
      <p:sp>
        <p:nvSpPr>
          <p:cNvPr id="906" name="Google Shape;906;p18"/>
          <p:cNvSpPr/>
          <p:nvPr/>
        </p:nvSpPr>
        <p:spPr>
          <a:xfrm>
            <a:off x="841248" y="5166360"/>
            <a:ext cx="10460736" cy="539496"/>
          </a:xfrm>
          <a:prstGeom prst="roundRect">
            <a:avLst>
              <a:gd fmla="val 10000" name="adj"/>
            </a:avLst>
          </a:prstGeom>
          <a:solidFill>
            <a:srgbClr val="E4EB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907" name="Google Shape;907;p18"/>
          <p:cNvSpPr txBox="1"/>
          <p:nvPr/>
        </p:nvSpPr>
        <p:spPr>
          <a:xfrm>
            <a:off x="1033271" y="5312664"/>
            <a:ext cx="10076688" cy="256032"/>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lang="en-US" sz="1550">
                <a:solidFill>
                  <a:srgbClr val="4D71DE"/>
                </a:solidFill>
                <a:latin typeface="IBM Plex Sans"/>
                <a:ea typeface="IBM Plex Sans"/>
                <a:cs typeface="IBM Plex Sans"/>
                <a:sym typeface="IBM Plex Sans"/>
              </a:rPr>
              <a:t>30 ONTOLOGIES   </a:t>
            </a:r>
            <a:r>
              <a:rPr b="0" lang="en-US" sz="1550">
                <a:solidFill>
                  <a:srgbClr val="111A28"/>
                </a:solidFill>
                <a:latin typeface="IBM Plex Sans"/>
                <a:ea typeface="IBM Plex Sans"/>
                <a:cs typeface="IBM Plex Sans"/>
                <a:sym typeface="IBM Plex Sans"/>
              </a:rPr>
              <a:t>quality checks  ·  independent LLM judge  ·  10 human experts  ·  BURR benchmark</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1726"/>
        </a:solidFill>
      </p:bgPr>
    </p:bg>
    <p:spTree>
      <p:nvGrpSpPr>
        <p:cNvPr id="912" name="Shape 912"/>
        <p:cNvGrpSpPr/>
        <p:nvPr/>
      </p:nvGrpSpPr>
      <p:grpSpPr>
        <a:xfrm>
          <a:off x="0" y="0"/>
          <a:ext cx="0" cy="0"/>
          <a:chOff x="0" y="0"/>
          <a:chExt cx="0" cy="0"/>
        </a:xfrm>
      </p:grpSpPr>
      <p:sp>
        <p:nvSpPr>
          <p:cNvPr id="913" name="Google Shape;913;p19"/>
          <p:cNvSpPr txBox="1"/>
          <p:nvPr/>
        </p:nvSpPr>
        <p:spPr>
          <a:xfrm>
            <a:off x="804672" y="512064"/>
            <a:ext cx="10881360" cy="310896"/>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i="0" lang="en-US" sz="1400">
                <a:solidFill>
                  <a:srgbClr val="F4A261"/>
                </a:solidFill>
                <a:latin typeface="IBM Plex Mono"/>
                <a:ea typeface="IBM Plex Mono"/>
                <a:cs typeface="IBM Plex Mono"/>
                <a:sym typeface="IBM Plex Mono"/>
              </a:rPr>
              <a:t>RESULT 1  /  HUMAN AND LLM EVALUATION</a:t>
            </a:r>
            <a:endParaRPr/>
          </a:p>
        </p:txBody>
      </p:sp>
      <p:sp>
        <p:nvSpPr>
          <p:cNvPr id="914" name="Google Shape;914;p19"/>
          <p:cNvSpPr txBox="1"/>
          <p:nvPr/>
        </p:nvSpPr>
        <p:spPr>
          <a:xfrm>
            <a:off x="804672" y="914400"/>
            <a:ext cx="10789920" cy="65836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900">
                <a:solidFill>
                  <a:srgbClr val="EDF1F6"/>
                </a:solidFill>
                <a:latin typeface="IBM Plex Sans"/>
                <a:ea typeface="IBM Plex Sans"/>
                <a:cs typeface="IBM Plex Sans"/>
                <a:sym typeface="IBM Plex Sans"/>
              </a:rPr>
              <a:t>Does the ontology look better to experts?</a:t>
            </a:r>
            <a:endParaRPr/>
          </a:p>
        </p:txBody>
      </p:sp>
      <p:sp>
        <p:nvSpPr>
          <p:cNvPr id="915" name="Google Shape;915;p19"/>
          <p:cNvSpPr/>
          <p:nvPr/>
        </p:nvSpPr>
        <p:spPr>
          <a:xfrm>
            <a:off x="822960" y="1911095"/>
            <a:ext cx="3877056" cy="3346704"/>
          </a:xfrm>
          <a:prstGeom prst="roundRect">
            <a:avLst>
              <a:gd fmla="val 10000" name="adj"/>
            </a:avLst>
          </a:prstGeom>
          <a:solidFill>
            <a:srgbClr val="21314A"/>
          </a:solidFill>
          <a:ln cap="flat" cmpd="sng" w="12700">
            <a:solidFill>
              <a:srgbClr val="263A5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916" name="Google Shape;916;p19"/>
          <p:cNvSpPr txBox="1"/>
          <p:nvPr/>
        </p:nvSpPr>
        <p:spPr>
          <a:xfrm>
            <a:off x="1069848" y="2139696"/>
            <a:ext cx="3291840" cy="96926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6300">
                <a:solidFill>
                  <a:srgbClr val="EDF1F6"/>
                </a:solidFill>
                <a:latin typeface="IBM Plex Sans"/>
                <a:ea typeface="IBM Plex Sans"/>
                <a:cs typeface="IBM Plex Sans"/>
                <a:sym typeface="IBM Plex Sans"/>
              </a:rPr>
              <a:t>70%</a:t>
            </a:r>
            <a:endParaRPr/>
          </a:p>
        </p:txBody>
      </p:sp>
      <p:sp>
        <p:nvSpPr>
          <p:cNvPr id="917" name="Google Shape;917;p19"/>
          <p:cNvSpPr txBox="1"/>
          <p:nvPr/>
        </p:nvSpPr>
        <p:spPr>
          <a:xfrm>
            <a:off x="1088136" y="3191256"/>
            <a:ext cx="3026664"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800">
                <a:solidFill>
                  <a:srgbClr val="F4A261"/>
                </a:solidFill>
                <a:latin typeface="IBM Plex Sans"/>
                <a:ea typeface="IBM Plex Sans"/>
                <a:cs typeface="IBM Plex Sans"/>
                <a:sym typeface="IBM Plex Sans"/>
              </a:rPr>
              <a:t>28 of 40</a:t>
            </a:r>
            <a:endParaRPr/>
          </a:p>
        </p:txBody>
      </p:sp>
      <p:sp>
        <p:nvSpPr>
          <p:cNvPr id="918" name="Google Shape;918;p19"/>
          <p:cNvSpPr txBox="1"/>
          <p:nvPr/>
        </p:nvSpPr>
        <p:spPr>
          <a:xfrm>
            <a:off x="1088136" y="3721608"/>
            <a:ext cx="3154680" cy="521207"/>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sz="1900">
                <a:solidFill>
                  <a:srgbClr val="C9D2DE"/>
                </a:solidFill>
                <a:latin typeface="IBM Plex Sans"/>
                <a:ea typeface="IBM Plex Sans"/>
                <a:cs typeface="IBM Plex Sans"/>
                <a:sym typeface="IBM Plex Sans"/>
              </a:rPr>
              <a:t>first-place expert rankings</a:t>
            </a:r>
            <a:endParaRPr/>
          </a:p>
        </p:txBody>
      </p:sp>
      <p:sp>
        <p:nvSpPr>
          <p:cNvPr id="919" name="Google Shape;919;p19"/>
          <p:cNvSpPr txBox="1"/>
          <p:nvPr/>
        </p:nvSpPr>
        <p:spPr>
          <a:xfrm>
            <a:off x="1088136" y="4700016"/>
            <a:ext cx="3182112" cy="292608"/>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0" i="0" lang="en-US" sz="1520">
                <a:solidFill>
                  <a:srgbClr val="9AA6B8"/>
                </a:solidFill>
                <a:latin typeface="IBM Plex Sans"/>
                <a:ea typeface="IBM Plex Sans"/>
                <a:cs typeface="IBM Plex Sans"/>
                <a:sym typeface="IBM Plex Sans"/>
              </a:rPr>
              <a:t>10 experts · 4 medical tables</a:t>
            </a:r>
            <a:endParaRPr/>
          </a:p>
        </p:txBody>
      </p:sp>
      <p:sp>
        <p:nvSpPr>
          <p:cNvPr id="920" name="Google Shape;920;p19"/>
          <p:cNvSpPr/>
          <p:nvPr/>
        </p:nvSpPr>
        <p:spPr>
          <a:xfrm>
            <a:off x="4983480" y="1911095"/>
            <a:ext cx="6373368" cy="3346704"/>
          </a:xfrm>
          <a:prstGeom prst="roundRect">
            <a:avLst>
              <a:gd fmla="val 10000" name="adj"/>
            </a:avLst>
          </a:prstGeom>
          <a:solidFill>
            <a:srgbClr val="18273E"/>
          </a:solidFill>
          <a:ln cap="flat" cmpd="sng" w="12700">
            <a:solidFill>
              <a:srgbClr val="263A5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921" name="Google Shape;921;p19"/>
          <p:cNvSpPr txBox="1"/>
          <p:nvPr/>
        </p:nvSpPr>
        <p:spPr>
          <a:xfrm>
            <a:off x="5230368" y="2130552"/>
            <a:ext cx="5815584" cy="292608"/>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i="0" lang="en-US" sz="1520">
                <a:solidFill>
                  <a:srgbClr val="7799F0"/>
                </a:solidFill>
                <a:latin typeface="IBM Plex Mono"/>
                <a:ea typeface="IBM Plex Mono"/>
                <a:cs typeface="IBM Plex Mono"/>
                <a:sym typeface="IBM Plex Mono"/>
              </a:rPr>
              <a:t>FIRST PLACE, ACROSS 40 BLIND EXPERT RANKINGS</a:t>
            </a:r>
            <a:endParaRPr/>
          </a:p>
        </p:txBody>
      </p:sp>
      <p:sp>
        <p:nvSpPr>
          <p:cNvPr id="922" name="Google Shape;922;p19"/>
          <p:cNvSpPr txBox="1"/>
          <p:nvPr/>
        </p:nvSpPr>
        <p:spPr>
          <a:xfrm>
            <a:off x="5248656" y="2642616"/>
            <a:ext cx="1856231" cy="24688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sz="1500">
                <a:solidFill>
                  <a:srgbClr val="C9D2DE"/>
                </a:solidFill>
                <a:latin typeface="IBM Plex Sans"/>
                <a:ea typeface="IBM Plex Sans"/>
                <a:cs typeface="IBM Plex Sans"/>
                <a:sym typeface="IBM Plex Sans"/>
              </a:rPr>
              <a:t>Direct Mapping</a:t>
            </a:r>
            <a:endParaRPr/>
          </a:p>
        </p:txBody>
      </p:sp>
      <p:sp>
        <p:nvSpPr>
          <p:cNvPr id="923" name="Google Shape;923;p19"/>
          <p:cNvSpPr/>
          <p:nvPr/>
        </p:nvSpPr>
        <p:spPr>
          <a:xfrm>
            <a:off x="7178040" y="2706624"/>
            <a:ext cx="3154680" cy="155448"/>
          </a:xfrm>
          <a:prstGeom prst="roundRect">
            <a:avLst>
              <a:gd fmla="val 10000" name="adj"/>
            </a:avLst>
          </a:prstGeom>
          <a:solidFill>
            <a:srgbClr val="21314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924" name="Google Shape;924;p19"/>
          <p:cNvSpPr/>
          <p:nvPr/>
        </p:nvSpPr>
        <p:spPr>
          <a:xfrm>
            <a:off x="7178040" y="2706624"/>
            <a:ext cx="394335" cy="155448"/>
          </a:xfrm>
          <a:prstGeom prst="roundRect">
            <a:avLst>
              <a:gd fmla="val 10000" name="adj"/>
            </a:avLst>
          </a:prstGeom>
          <a:solidFill>
            <a:srgbClr val="7799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925" name="Google Shape;925;p19"/>
          <p:cNvSpPr txBox="1"/>
          <p:nvPr/>
        </p:nvSpPr>
        <p:spPr>
          <a:xfrm>
            <a:off x="10424160" y="2633472"/>
            <a:ext cx="658368" cy="228600"/>
          </a:xfrm>
          <a:prstGeom prst="rect">
            <a:avLst/>
          </a:prstGeom>
          <a:noFill/>
          <a:ln>
            <a:noFill/>
          </a:ln>
        </p:spPr>
        <p:txBody>
          <a:bodyPr anchorCtr="0" anchor="ctr" bIns="0" lIns="0" spcFirstLastPara="1" rIns="0" wrap="square" tIns="0">
            <a:spAutoFit/>
          </a:bodyPr>
          <a:lstStyle/>
          <a:p>
            <a:pPr indent="0" lvl="0" marL="0" marR="0" rtl="0" algn="r">
              <a:lnSpc>
                <a:spcPct val="105000"/>
              </a:lnSpc>
              <a:spcBef>
                <a:spcPts val="0"/>
              </a:spcBef>
              <a:spcAft>
                <a:spcPts val="0"/>
              </a:spcAft>
              <a:buNone/>
            </a:pPr>
            <a:r>
              <a:rPr b="1" i="0" lang="en-US" sz="1400">
                <a:solidFill>
                  <a:srgbClr val="C9D2DE"/>
                </a:solidFill>
                <a:latin typeface="IBM Plex Mono"/>
                <a:ea typeface="IBM Plex Mono"/>
                <a:cs typeface="IBM Plex Mono"/>
                <a:sym typeface="IBM Plex Mono"/>
              </a:rPr>
              <a:t>5/40</a:t>
            </a:r>
            <a:endParaRPr/>
          </a:p>
        </p:txBody>
      </p:sp>
      <p:sp>
        <p:nvSpPr>
          <p:cNvPr id="926" name="Google Shape;926;p19"/>
          <p:cNvSpPr txBox="1"/>
          <p:nvPr/>
        </p:nvSpPr>
        <p:spPr>
          <a:xfrm>
            <a:off x="5248656" y="3191256"/>
            <a:ext cx="1856231" cy="24688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sz="1500">
                <a:solidFill>
                  <a:srgbClr val="C9D2DE"/>
                </a:solidFill>
                <a:latin typeface="IBM Plex Sans"/>
                <a:ea typeface="IBM Plex Sans"/>
                <a:cs typeface="IBM Plex Sans"/>
                <a:sym typeface="IBM Plex Sans"/>
              </a:rPr>
              <a:t>LLM baseline</a:t>
            </a:r>
            <a:endParaRPr/>
          </a:p>
        </p:txBody>
      </p:sp>
      <p:sp>
        <p:nvSpPr>
          <p:cNvPr id="927" name="Google Shape;927;p19"/>
          <p:cNvSpPr/>
          <p:nvPr/>
        </p:nvSpPr>
        <p:spPr>
          <a:xfrm>
            <a:off x="7178040" y="3255264"/>
            <a:ext cx="3154680" cy="155448"/>
          </a:xfrm>
          <a:prstGeom prst="roundRect">
            <a:avLst>
              <a:gd fmla="val 10000" name="adj"/>
            </a:avLst>
          </a:prstGeom>
          <a:solidFill>
            <a:srgbClr val="21314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928" name="Google Shape;928;p19"/>
          <p:cNvSpPr/>
          <p:nvPr/>
        </p:nvSpPr>
        <p:spPr>
          <a:xfrm>
            <a:off x="7178040" y="3255264"/>
            <a:ext cx="394335" cy="155448"/>
          </a:xfrm>
          <a:prstGeom prst="roundRect">
            <a:avLst>
              <a:gd fmla="val 10000" name="adj"/>
            </a:avLst>
          </a:prstGeom>
          <a:solidFill>
            <a:srgbClr val="7799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929" name="Google Shape;929;p19"/>
          <p:cNvSpPr txBox="1"/>
          <p:nvPr/>
        </p:nvSpPr>
        <p:spPr>
          <a:xfrm>
            <a:off x="10424160" y="3182112"/>
            <a:ext cx="658368" cy="228600"/>
          </a:xfrm>
          <a:prstGeom prst="rect">
            <a:avLst/>
          </a:prstGeom>
          <a:noFill/>
          <a:ln>
            <a:noFill/>
          </a:ln>
        </p:spPr>
        <p:txBody>
          <a:bodyPr anchorCtr="0" anchor="ctr" bIns="0" lIns="0" spcFirstLastPara="1" rIns="0" wrap="square" tIns="0">
            <a:spAutoFit/>
          </a:bodyPr>
          <a:lstStyle/>
          <a:p>
            <a:pPr indent="0" lvl="0" marL="0" marR="0" rtl="0" algn="r">
              <a:lnSpc>
                <a:spcPct val="105000"/>
              </a:lnSpc>
              <a:spcBef>
                <a:spcPts val="0"/>
              </a:spcBef>
              <a:spcAft>
                <a:spcPts val="0"/>
              </a:spcAft>
              <a:buNone/>
            </a:pPr>
            <a:r>
              <a:rPr b="1" i="0" lang="en-US" sz="1400">
                <a:solidFill>
                  <a:srgbClr val="C9D2DE"/>
                </a:solidFill>
                <a:latin typeface="IBM Plex Mono"/>
                <a:ea typeface="IBM Plex Mono"/>
                <a:cs typeface="IBM Plex Mono"/>
                <a:sym typeface="IBM Plex Mono"/>
              </a:rPr>
              <a:t>5/40</a:t>
            </a:r>
            <a:endParaRPr/>
          </a:p>
        </p:txBody>
      </p:sp>
      <p:sp>
        <p:nvSpPr>
          <p:cNvPr id="930" name="Google Shape;930;p19"/>
          <p:cNvSpPr txBox="1"/>
          <p:nvPr/>
        </p:nvSpPr>
        <p:spPr>
          <a:xfrm>
            <a:off x="5248656" y="3739896"/>
            <a:ext cx="1856231" cy="24688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sz="1500">
                <a:solidFill>
                  <a:srgbClr val="C9D2DE"/>
                </a:solidFill>
                <a:latin typeface="IBM Plex Sans"/>
                <a:ea typeface="IBM Plex Sans"/>
                <a:cs typeface="IBM Plex Sans"/>
                <a:sym typeface="IBM Plex Sans"/>
              </a:rPr>
              <a:t>Non-Iterative</a:t>
            </a:r>
            <a:endParaRPr/>
          </a:p>
        </p:txBody>
      </p:sp>
      <p:sp>
        <p:nvSpPr>
          <p:cNvPr id="931" name="Google Shape;931;p19"/>
          <p:cNvSpPr/>
          <p:nvPr/>
        </p:nvSpPr>
        <p:spPr>
          <a:xfrm>
            <a:off x="7178040" y="3803904"/>
            <a:ext cx="3154680" cy="155448"/>
          </a:xfrm>
          <a:prstGeom prst="roundRect">
            <a:avLst>
              <a:gd fmla="val 10000" name="adj"/>
            </a:avLst>
          </a:prstGeom>
          <a:solidFill>
            <a:srgbClr val="21314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932" name="Google Shape;932;p19"/>
          <p:cNvSpPr/>
          <p:nvPr/>
        </p:nvSpPr>
        <p:spPr>
          <a:xfrm>
            <a:off x="7178040" y="3803904"/>
            <a:ext cx="157734" cy="155448"/>
          </a:xfrm>
          <a:prstGeom prst="roundRect">
            <a:avLst>
              <a:gd fmla="val 10000" name="adj"/>
            </a:avLst>
          </a:prstGeom>
          <a:solidFill>
            <a:srgbClr val="7799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933" name="Google Shape;933;p19"/>
          <p:cNvSpPr txBox="1"/>
          <p:nvPr/>
        </p:nvSpPr>
        <p:spPr>
          <a:xfrm>
            <a:off x="10424160" y="3730752"/>
            <a:ext cx="658368" cy="228600"/>
          </a:xfrm>
          <a:prstGeom prst="rect">
            <a:avLst/>
          </a:prstGeom>
          <a:noFill/>
          <a:ln>
            <a:noFill/>
          </a:ln>
        </p:spPr>
        <p:txBody>
          <a:bodyPr anchorCtr="0" anchor="ctr" bIns="0" lIns="0" spcFirstLastPara="1" rIns="0" wrap="square" tIns="0">
            <a:spAutoFit/>
          </a:bodyPr>
          <a:lstStyle/>
          <a:p>
            <a:pPr indent="0" lvl="0" marL="0" marR="0" rtl="0" algn="r">
              <a:lnSpc>
                <a:spcPct val="105000"/>
              </a:lnSpc>
              <a:spcBef>
                <a:spcPts val="0"/>
              </a:spcBef>
              <a:spcAft>
                <a:spcPts val="0"/>
              </a:spcAft>
              <a:buNone/>
            </a:pPr>
            <a:r>
              <a:rPr b="1" i="0" lang="en-US" sz="1400">
                <a:solidFill>
                  <a:srgbClr val="C9D2DE"/>
                </a:solidFill>
                <a:latin typeface="IBM Plex Mono"/>
                <a:ea typeface="IBM Plex Mono"/>
                <a:cs typeface="IBM Plex Mono"/>
                <a:sym typeface="IBM Plex Mono"/>
              </a:rPr>
              <a:t>2/40</a:t>
            </a:r>
            <a:endParaRPr/>
          </a:p>
        </p:txBody>
      </p:sp>
      <p:sp>
        <p:nvSpPr>
          <p:cNvPr id="934" name="Google Shape;934;p19"/>
          <p:cNvSpPr txBox="1"/>
          <p:nvPr/>
        </p:nvSpPr>
        <p:spPr>
          <a:xfrm>
            <a:off x="5248656" y="4288536"/>
            <a:ext cx="1856231" cy="24688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1500">
                <a:solidFill>
                  <a:srgbClr val="EDF1F6"/>
                </a:solidFill>
                <a:latin typeface="IBM Plex Sans"/>
                <a:ea typeface="IBM Plex Sans"/>
                <a:cs typeface="IBM Plex Sans"/>
                <a:sym typeface="IBM Plex Sans"/>
              </a:rPr>
              <a:t>RIGOR</a:t>
            </a:r>
            <a:endParaRPr/>
          </a:p>
        </p:txBody>
      </p:sp>
      <p:sp>
        <p:nvSpPr>
          <p:cNvPr id="935" name="Google Shape;935;p19"/>
          <p:cNvSpPr/>
          <p:nvPr/>
        </p:nvSpPr>
        <p:spPr>
          <a:xfrm>
            <a:off x="7178040" y="4352544"/>
            <a:ext cx="3154680" cy="155448"/>
          </a:xfrm>
          <a:prstGeom prst="roundRect">
            <a:avLst>
              <a:gd fmla="val 10000" name="adj"/>
            </a:avLst>
          </a:prstGeom>
          <a:solidFill>
            <a:srgbClr val="21314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936" name="Google Shape;936;p19"/>
          <p:cNvSpPr/>
          <p:nvPr/>
        </p:nvSpPr>
        <p:spPr>
          <a:xfrm>
            <a:off x="7178040" y="4352544"/>
            <a:ext cx="2208276" cy="155448"/>
          </a:xfrm>
          <a:prstGeom prst="roundRect">
            <a:avLst>
              <a:gd fmla="val 10000" name="adj"/>
            </a:avLst>
          </a:prstGeom>
          <a:solidFill>
            <a:srgbClr val="F4A26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937" name="Google Shape;937;p19"/>
          <p:cNvSpPr txBox="1"/>
          <p:nvPr/>
        </p:nvSpPr>
        <p:spPr>
          <a:xfrm>
            <a:off x="10424160" y="4279392"/>
            <a:ext cx="658368" cy="228600"/>
          </a:xfrm>
          <a:prstGeom prst="rect">
            <a:avLst/>
          </a:prstGeom>
          <a:noFill/>
          <a:ln>
            <a:noFill/>
          </a:ln>
        </p:spPr>
        <p:txBody>
          <a:bodyPr anchorCtr="0" anchor="ctr" bIns="0" lIns="0" spcFirstLastPara="1" rIns="0" wrap="square" tIns="0">
            <a:spAutoFit/>
          </a:bodyPr>
          <a:lstStyle/>
          <a:p>
            <a:pPr indent="0" lvl="0" marL="0" marR="0" rtl="0" algn="r">
              <a:lnSpc>
                <a:spcPct val="105000"/>
              </a:lnSpc>
              <a:spcBef>
                <a:spcPts val="0"/>
              </a:spcBef>
              <a:spcAft>
                <a:spcPts val="0"/>
              </a:spcAft>
              <a:buNone/>
            </a:pPr>
            <a:r>
              <a:rPr b="1" i="0" lang="en-US" sz="1400">
                <a:solidFill>
                  <a:srgbClr val="EDF1F6"/>
                </a:solidFill>
                <a:latin typeface="IBM Plex Mono"/>
                <a:ea typeface="IBM Plex Mono"/>
                <a:cs typeface="IBM Plex Mono"/>
                <a:sym typeface="IBM Plex Mono"/>
              </a:rPr>
              <a:t>28/40</a:t>
            </a:r>
            <a:endParaRPr/>
          </a:p>
        </p:txBody>
      </p:sp>
      <p:sp>
        <p:nvSpPr>
          <p:cNvPr id="938" name="Google Shape;938;p19"/>
          <p:cNvSpPr txBox="1"/>
          <p:nvPr/>
        </p:nvSpPr>
        <p:spPr>
          <a:xfrm>
            <a:off x="5257800" y="4773168"/>
            <a:ext cx="5586984" cy="292608"/>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0" lang="en-US" sz="1520">
                <a:solidFill>
                  <a:srgbClr val="9AA6B8"/>
                </a:solidFill>
                <a:latin typeface="IBM Plex Sans"/>
                <a:ea typeface="IBM Plex Sans"/>
                <a:cs typeface="IBM Plex Sans"/>
                <a:sym typeface="IBM Plex Sans"/>
              </a:rPr>
              <a:t>Expert agreement: Kendall’s W = 0.39–0.72</a:t>
            </a:r>
            <a:endParaRPr/>
          </a:p>
        </p:txBody>
      </p:sp>
      <p:sp>
        <p:nvSpPr>
          <p:cNvPr id="939" name="Google Shape;939;p19"/>
          <p:cNvSpPr/>
          <p:nvPr/>
        </p:nvSpPr>
        <p:spPr>
          <a:xfrm>
            <a:off x="832104" y="5504688"/>
            <a:ext cx="10506456" cy="393192"/>
          </a:xfrm>
          <a:prstGeom prst="roundRect">
            <a:avLst>
              <a:gd fmla="val 10000" name="adj"/>
            </a:avLst>
          </a:prstGeom>
          <a:solidFill>
            <a:srgbClr val="21314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940" name="Google Shape;940;p19"/>
          <p:cNvSpPr txBox="1"/>
          <p:nvPr/>
        </p:nvSpPr>
        <p:spPr>
          <a:xfrm>
            <a:off x="1033271" y="5596128"/>
            <a:ext cx="10094976" cy="27432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lang="en-US" sz="1550">
                <a:solidFill>
                  <a:srgbClr val="F4A261"/>
                </a:solidFill>
                <a:latin typeface="IBM Plex Sans"/>
                <a:ea typeface="IBM Plex Sans"/>
                <a:cs typeface="IBM Plex Sans"/>
                <a:sym typeface="IBM Plex Sans"/>
              </a:rPr>
              <a:t>INDEPENDENT LLM JUDGE   </a:t>
            </a:r>
            <a:r>
              <a:rPr b="0" lang="en-US" sz="1550">
                <a:solidFill>
                  <a:srgbClr val="EDF1F6"/>
                </a:solidFill>
                <a:latin typeface="IBM Plex Sans"/>
                <a:ea typeface="IBM Plex Sans"/>
                <a:cs typeface="IBM Plex Sans"/>
                <a:sym typeface="IBM Plex Sans"/>
              </a:rPr>
              <a:t>RIGOR ranked 1st for 58/58 tables · 290 competency questions</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82B"/>
        </a:solidFill>
      </p:bgPr>
    </p:bg>
    <p:spTree>
      <p:nvGrpSpPr>
        <p:cNvPr id="945" name="Shape 945"/>
        <p:cNvGrpSpPr/>
        <p:nvPr/>
      </p:nvGrpSpPr>
      <p:grpSpPr>
        <a:xfrm>
          <a:off x="0" y="0"/>
          <a:ext cx="0" cy="0"/>
          <a:chOff x="0" y="0"/>
          <a:chExt cx="0" cy="0"/>
        </a:xfrm>
      </p:grpSpPr>
      <p:sp>
        <p:nvSpPr>
          <p:cNvPr id="946" name="TextBox 945"/>
          <p:cNvSpPr txBox="1"/>
          <p:nvPr/>
        </p:nvSpPr>
        <p:spPr>
          <a:xfrm>
            <a:off x="777240" y="347472"/>
            <a:ext cx="10058400" cy="292608"/>
          </a:xfrm>
          <a:prstGeom prst="rect">
            <a:avLst/>
          </a:prstGeom>
          <a:noFill/>
        </p:spPr>
        <p:txBody>
          <a:bodyPr wrap="square" lIns="0" rIns="0" tIns="0" bIns="0">
            <a:spAutoFit/>
          </a:bodyPr>
          <a:lstStyle/>
          <a:p>
            <a:pPr algn="l"/>
            <a:r>
              <a:rPr sz="1500" b="1">
                <a:solidFill>
                  <a:srgbClr val="FFA159"/>
                </a:solidFill>
                <a:latin typeface="Aptos"/>
              </a:rPr>
              <a:t>RESULT 2  /  ONTOLOGY QUALITY</a:t>
            </a:r>
          </a:p>
        </p:txBody>
      </p:sp>
      <p:sp>
        <p:nvSpPr>
          <p:cNvPr id="947" name="TextBox 946"/>
          <p:cNvSpPr txBox="1"/>
          <p:nvPr/>
        </p:nvSpPr>
        <p:spPr>
          <a:xfrm>
            <a:off x="777240" y="768096"/>
            <a:ext cx="10881360" cy="530352"/>
          </a:xfrm>
          <a:prstGeom prst="rect">
            <a:avLst/>
          </a:prstGeom>
          <a:noFill/>
        </p:spPr>
        <p:txBody>
          <a:bodyPr wrap="square" lIns="0" rIns="0" tIns="0" bIns="0">
            <a:spAutoFit/>
          </a:bodyPr>
          <a:lstStyle/>
          <a:p>
            <a:pPr algn="l"/>
            <a:r>
              <a:rPr sz="2600" b="1">
                <a:solidFill>
                  <a:srgbClr val="EBF2FA"/>
                </a:solidFill>
                <a:latin typeface="Aptos"/>
              </a:rPr>
              <a:t>RIGOR has the fewest modeling pitfalls in all nine comparisons.</a:t>
            </a:r>
          </a:p>
        </p:txBody>
      </p:sp>
      <p:sp>
        <p:nvSpPr>
          <p:cNvPr id="948" name="TextBox 947"/>
          <p:cNvSpPr txBox="1"/>
          <p:nvPr/>
        </p:nvSpPr>
        <p:spPr>
          <a:xfrm>
            <a:off x="777240" y="1371600"/>
            <a:ext cx="10789920" cy="347472"/>
          </a:xfrm>
          <a:prstGeom prst="rect">
            <a:avLst/>
          </a:prstGeom>
          <a:noFill/>
        </p:spPr>
        <p:txBody>
          <a:bodyPr wrap="square" lIns="0" rIns="0" tIns="0" bIns="0">
            <a:spAutoFit/>
          </a:bodyPr>
          <a:lstStyle/>
          <a:p>
            <a:pPr algn="l"/>
            <a:r>
              <a:rPr sz="1400" b="0">
                <a:solidFill>
                  <a:srgbClr val="ACB9CD"/>
                </a:solidFill>
                <a:latin typeface="Aptos"/>
              </a:rPr>
              <a:t>OOPS! findings per ontology (lower is better) · Same dataset and generator model in each comparison</a:t>
            </a:r>
          </a:p>
        </p:txBody>
      </p:sp>
      <p:sp>
        <p:nvSpPr>
          <p:cNvPr id="949" name="Rectangle 948"/>
          <p:cNvSpPr/>
          <p:nvPr/>
        </p:nvSpPr>
        <p:spPr>
          <a:xfrm>
            <a:off x="822960" y="1874519"/>
            <a:ext cx="2514600" cy="475488"/>
          </a:xfrm>
          <a:prstGeom prst="rect">
            <a:avLst/>
          </a:prstGeom>
          <a:solidFill>
            <a:srgbClr val="1D2F4C"/>
          </a:solidFill>
          <a:ln>
            <a:solidFill>
              <a:srgbClr val="1D2F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0" name="TextBox 949"/>
          <p:cNvSpPr txBox="1"/>
          <p:nvPr/>
        </p:nvSpPr>
        <p:spPr>
          <a:xfrm>
            <a:off x="969264" y="1984248"/>
            <a:ext cx="2258568" cy="237744"/>
          </a:xfrm>
          <a:prstGeom prst="rect">
            <a:avLst/>
          </a:prstGeom>
          <a:noFill/>
        </p:spPr>
        <p:txBody>
          <a:bodyPr wrap="square" lIns="0" rIns="0" tIns="0" bIns="0">
            <a:spAutoFit/>
          </a:bodyPr>
          <a:lstStyle/>
          <a:p>
            <a:pPr algn="l"/>
            <a:r>
              <a:rPr sz="1500" b="1">
                <a:solidFill>
                  <a:srgbClr val="7BA4F4"/>
                </a:solidFill>
                <a:latin typeface="Aptos"/>
              </a:rPr>
              <a:t>METHOD</a:t>
            </a:r>
          </a:p>
        </p:txBody>
      </p:sp>
      <p:sp>
        <p:nvSpPr>
          <p:cNvPr id="951" name="Rectangle 950"/>
          <p:cNvSpPr/>
          <p:nvPr/>
        </p:nvSpPr>
        <p:spPr>
          <a:xfrm>
            <a:off x="3474720" y="1874519"/>
            <a:ext cx="2606040" cy="475488"/>
          </a:xfrm>
          <a:prstGeom prst="rect">
            <a:avLst/>
          </a:prstGeom>
          <a:solidFill>
            <a:srgbClr val="1D2F4C"/>
          </a:solidFill>
          <a:ln>
            <a:solidFill>
              <a:srgbClr val="1D2F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2" name="TextBox 951"/>
          <p:cNvSpPr txBox="1"/>
          <p:nvPr/>
        </p:nvSpPr>
        <p:spPr>
          <a:xfrm>
            <a:off x="3621024" y="1984248"/>
            <a:ext cx="2350008" cy="237744"/>
          </a:xfrm>
          <a:prstGeom prst="rect">
            <a:avLst/>
          </a:prstGeom>
          <a:noFill/>
        </p:spPr>
        <p:txBody>
          <a:bodyPr wrap="square" lIns="0" rIns="0" tIns="0" bIns="0">
            <a:spAutoFit/>
          </a:bodyPr>
          <a:lstStyle/>
          <a:p>
            <a:pPr algn="l"/>
            <a:r>
              <a:rPr sz="1500" b="1">
                <a:solidFill>
                  <a:srgbClr val="7BA4F4"/>
                </a:solidFill>
                <a:latin typeface="Aptos"/>
              </a:rPr>
              <a:t>LIVER CANCER</a:t>
            </a:r>
          </a:p>
        </p:txBody>
      </p:sp>
      <p:sp>
        <p:nvSpPr>
          <p:cNvPr id="953" name="TextBox 952"/>
          <p:cNvSpPr txBox="1"/>
          <p:nvPr/>
        </p:nvSpPr>
        <p:spPr>
          <a:xfrm>
            <a:off x="3621024" y="2212848"/>
            <a:ext cx="2350008" cy="182880"/>
          </a:xfrm>
          <a:prstGeom prst="rect">
            <a:avLst/>
          </a:prstGeom>
          <a:noFill/>
        </p:spPr>
        <p:txBody>
          <a:bodyPr wrap="square" lIns="0" rIns="0" tIns="0" bIns="0">
            <a:spAutoFit/>
          </a:bodyPr>
          <a:lstStyle/>
          <a:p>
            <a:pPr algn="l"/>
            <a:r>
              <a:rPr sz="1000" b="0">
                <a:solidFill>
                  <a:srgbClr val="ACB9CD"/>
                </a:solidFill>
                <a:latin typeface="Aptos"/>
              </a:rPr>
              <a:t>16 tables</a:t>
            </a:r>
          </a:p>
        </p:txBody>
      </p:sp>
      <p:sp>
        <p:nvSpPr>
          <p:cNvPr id="954" name="Rectangle 953"/>
          <p:cNvSpPr/>
          <p:nvPr/>
        </p:nvSpPr>
        <p:spPr>
          <a:xfrm>
            <a:off x="6217920" y="1874519"/>
            <a:ext cx="2606040" cy="475488"/>
          </a:xfrm>
          <a:prstGeom prst="rect">
            <a:avLst/>
          </a:prstGeom>
          <a:solidFill>
            <a:srgbClr val="1D2F4C"/>
          </a:solidFill>
          <a:ln>
            <a:solidFill>
              <a:srgbClr val="1D2F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5" name="TextBox 954"/>
          <p:cNvSpPr txBox="1"/>
          <p:nvPr/>
        </p:nvSpPr>
        <p:spPr>
          <a:xfrm>
            <a:off x="6364224" y="1984248"/>
            <a:ext cx="2350008" cy="237744"/>
          </a:xfrm>
          <a:prstGeom prst="rect">
            <a:avLst/>
          </a:prstGeom>
          <a:noFill/>
        </p:spPr>
        <p:txBody>
          <a:bodyPr wrap="square" lIns="0" rIns="0" tIns="0" bIns="0">
            <a:spAutoFit/>
          </a:bodyPr>
          <a:lstStyle/>
          <a:p>
            <a:pPr algn="l"/>
            <a:r>
              <a:rPr sz="1500" b="1">
                <a:solidFill>
                  <a:srgbClr val="7BA4F4"/>
                </a:solidFill>
                <a:latin typeface="Aptos"/>
              </a:rPr>
              <a:t>eICU-CRD</a:t>
            </a:r>
          </a:p>
        </p:txBody>
      </p:sp>
      <p:sp>
        <p:nvSpPr>
          <p:cNvPr id="956" name="TextBox 955"/>
          <p:cNvSpPr txBox="1"/>
          <p:nvPr/>
        </p:nvSpPr>
        <p:spPr>
          <a:xfrm>
            <a:off x="6364224" y="2212848"/>
            <a:ext cx="2350008" cy="182880"/>
          </a:xfrm>
          <a:prstGeom prst="rect">
            <a:avLst/>
          </a:prstGeom>
          <a:noFill/>
        </p:spPr>
        <p:txBody>
          <a:bodyPr wrap="square" lIns="0" rIns="0" tIns="0" bIns="0">
            <a:spAutoFit/>
          </a:bodyPr>
          <a:lstStyle/>
          <a:p>
            <a:pPr algn="l"/>
            <a:r>
              <a:rPr sz="1000" b="0">
                <a:solidFill>
                  <a:srgbClr val="ACB9CD"/>
                </a:solidFill>
                <a:latin typeface="Aptos"/>
              </a:rPr>
              <a:t>31 tables</a:t>
            </a:r>
          </a:p>
        </p:txBody>
      </p:sp>
      <p:sp>
        <p:nvSpPr>
          <p:cNvPr id="957" name="Rectangle 956"/>
          <p:cNvSpPr/>
          <p:nvPr/>
        </p:nvSpPr>
        <p:spPr>
          <a:xfrm>
            <a:off x="8961120" y="1874519"/>
            <a:ext cx="2423160" cy="475488"/>
          </a:xfrm>
          <a:prstGeom prst="rect">
            <a:avLst/>
          </a:prstGeom>
          <a:solidFill>
            <a:srgbClr val="1D2F4C"/>
          </a:solidFill>
          <a:ln>
            <a:solidFill>
              <a:srgbClr val="1D2F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8" name="TextBox 957"/>
          <p:cNvSpPr txBox="1"/>
          <p:nvPr/>
        </p:nvSpPr>
        <p:spPr>
          <a:xfrm>
            <a:off x="9107424" y="1984248"/>
            <a:ext cx="2167128" cy="237744"/>
          </a:xfrm>
          <a:prstGeom prst="rect">
            <a:avLst/>
          </a:prstGeom>
          <a:noFill/>
        </p:spPr>
        <p:txBody>
          <a:bodyPr wrap="square" lIns="0" rIns="0" tIns="0" bIns="0">
            <a:spAutoFit/>
          </a:bodyPr>
          <a:lstStyle/>
          <a:p>
            <a:pPr algn="l"/>
            <a:r>
              <a:rPr sz="1500" b="1">
                <a:solidFill>
                  <a:srgbClr val="7BA4F4"/>
                </a:solidFill>
                <a:latin typeface="Aptos"/>
              </a:rPr>
              <a:t>CHINOOK</a:t>
            </a:r>
          </a:p>
        </p:txBody>
      </p:sp>
      <p:sp>
        <p:nvSpPr>
          <p:cNvPr id="959" name="TextBox 958"/>
          <p:cNvSpPr txBox="1"/>
          <p:nvPr/>
        </p:nvSpPr>
        <p:spPr>
          <a:xfrm>
            <a:off x="9107424" y="2212848"/>
            <a:ext cx="2167128" cy="182880"/>
          </a:xfrm>
          <a:prstGeom prst="rect">
            <a:avLst/>
          </a:prstGeom>
          <a:noFill/>
        </p:spPr>
        <p:txBody>
          <a:bodyPr wrap="square" lIns="0" rIns="0" tIns="0" bIns="0">
            <a:spAutoFit/>
          </a:bodyPr>
          <a:lstStyle/>
          <a:p>
            <a:pPr algn="l"/>
            <a:r>
              <a:rPr sz="1000" b="0">
                <a:solidFill>
                  <a:srgbClr val="ACB9CD"/>
                </a:solidFill>
                <a:latin typeface="Aptos"/>
              </a:rPr>
              <a:t>11 tables</a:t>
            </a:r>
          </a:p>
        </p:txBody>
      </p:sp>
      <p:sp>
        <p:nvSpPr>
          <p:cNvPr id="960" name="Rounded Rectangle 959"/>
          <p:cNvSpPr/>
          <p:nvPr/>
        </p:nvSpPr>
        <p:spPr>
          <a:xfrm>
            <a:off x="822960" y="2432304"/>
            <a:ext cx="2514600" cy="603504"/>
          </a:xfrm>
          <a:prstGeom prst="roundRect">
            <a:avLst/>
          </a:prstGeom>
          <a:solidFill>
            <a:srgbClr val="182740"/>
          </a:solidFill>
          <a:ln>
            <a:solidFill>
              <a:srgbClr val="1827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1" name="TextBox 960"/>
          <p:cNvSpPr txBox="1"/>
          <p:nvPr/>
        </p:nvSpPr>
        <p:spPr>
          <a:xfrm>
            <a:off x="996696" y="2578608"/>
            <a:ext cx="2240280" cy="292608"/>
          </a:xfrm>
          <a:prstGeom prst="rect">
            <a:avLst/>
          </a:prstGeom>
          <a:noFill/>
        </p:spPr>
        <p:txBody>
          <a:bodyPr wrap="square" lIns="0" rIns="0" tIns="0" bIns="0">
            <a:spAutoFit/>
          </a:bodyPr>
          <a:lstStyle/>
          <a:p>
            <a:pPr algn="l"/>
            <a:r>
              <a:rPr sz="1700" b="1">
                <a:solidFill>
                  <a:srgbClr val="EBF2FA"/>
                </a:solidFill>
                <a:latin typeface="Aptos"/>
              </a:rPr>
              <a:t>Direct Mapping</a:t>
            </a:r>
          </a:p>
        </p:txBody>
      </p:sp>
      <p:sp>
        <p:nvSpPr>
          <p:cNvPr id="962" name="Rounded Rectangle 961"/>
          <p:cNvSpPr/>
          <p:nvPr/>
        </p:nvSpPr>
        <p:spPr>
          <a:xfrm>
            <a:off x="3474720" y="2432304"/>
            <a:ext cx="2606040" cy="603504"/>
          </a:xfrm>
          <a:prstGeom prst="roundRect">
            <a:avLst/>
          </a:prstGeom>
          <a:solidFill>
            <a:srgbClr val="182740"/>
          </a:solidFill>
          <a:ln>
            <a:solidFill>
              <a:srgbClr val="1827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3" name="TextBox 962"/>
          <p:cNvSpPr txBox="1"/>
          <p:nvPr/>
        </p:nvSpPr>
        <p:spPr>
          <a:xfrm>
            <a:off x="3611879" y="2569464"/>
            <a:ext cx="2368296" cy="329184"/>
          </a:xfrm>
          <a:prstGeom prst="rect">
            <a:avLst/>
          </a:prstGeom>
          <a:noFill/>
        </p:spPr>
        <p:txBody>
          <a:bodyPr wrap="square" lIns="0" rIns="0" tIns="0" bIns="0">
            <a:spAutoFit/>
          </a:bodyPr>
          <a:lstStyle/>
          <a:p>
            <a:pPr algn="ctr"/>
            <a:r>
              <a:rPr sz="1900" b="0">
                <a:solidFill>
                  <a:srgbClr val="EBF2FA"/>
                </a:solidFill>
                <a:latin typeface="Aptos"/>
              </a:rPr>
              <a:t>731</a:t>
            </a:r>
          </a:p>
        </p:txBody>
      </p:sp>
      <p:sp>
        <p:nvSpPr>
          <p:cNvPr id="964" name="Rounded Rectangle 963"/>
          <p:cNvSpPr/>
          <p:nvPr/>
        </p:nvSpPr>
        <p:spPr>
          <a:xfrm>
            <a:off x="6217920" y="2432304"/>
            <a:ext cx="2606040" cy="603504"/>
          </a:xfrm>
          <a:prstGeom prst="roundRect">
            <a:avLst/>
          </a:prstGeom>
          <a:solidFill>
            <a:srgbClr val="182740"/>
          </a:solidFill>
          <a:ln>
            <a:solidFill>
              <a:srgbClr val="1827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5" name="TextBox 964"/>
          <p:cNvSpPr txBox="1"/>
          <p:nvPr/>
        </p:nvSpPr>
        <p:spPr>
          <a:xfrm>
            <a:off x="6355080" y="2569464"/>
            <a:ext cx="2368296" cy="329184"/>
          </a:xfrm>
          <a:prstGeom prst="rect">
            <a:avLst/>
          </a:prstGeom>
          <a:noFill/>
        </p:spPr>
        <p:txBody>
          <a:bodyPr wrap="square" lIns="0" rIns="0" tIns="0" bIns="0">
            <a:spAutoFit/>
          </a:bodyPr>
          <a:lstStyle/>
          <a:p>
            <a:pPr algn="ctr"/>
            <a:r>
              <a:rPr sz="1900" b="0">
                <a:solidFill>
                  <a:srgbClr val="EBF2FA"/>
                </a:solidFill>
                <a:latin typeface="Aptos"/>
              </a:rPr>
              <a:t>665</a:t>
            </a:r>
          </a:p>
        </p:txBody>
      </p:sp>
      <p:sp>
        <p:nvSpPr>
          <p:cNvPr id="966" name="Rounded Rectangle 965"/>
          <p:cNvSpPr/>
          <p:nvPr/>
        </p:nvSpPr>
        <p:spPr>
          <a:xfrm>
            <a:off x="8961120" y="2432304"/>
            <a:ext cx="2423160" cy="603504"/>
          </a:xfrm>
          <a:prstGeom prst="roundRect">
            <a:avLst/>
          </a:prstGeom>
          <a:solidFill>
            <a:srgbClr val="182740"/>
          </a:solidFill>
          <a:ln>
            <a:solidFill>
              <a:srgbClr val="1827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7" name="TextBox 966"/>
          <p:cNvSpPr txBox="1"/>
          <p:nvPr/>
        </p:nvSpPr>
        <p:spPr>
          <a:xfrm>
            <a:off x="9098280" y="2569464"/>
            <a:ext cx="2185415" cy="329184"/>
          </a:xfrm>
          <a:prstGeom prst="rect">
            <a:avLst/>
          </a:prstGeom>
          <a:noFill/>
        </p:spPr>
        <p:txBody>
          <a:bodyPr wrap="square" lIns="0" rIns="0" tIns="0" bIns="0">
            <a:spAutoFit/>
          </a:bodyPr>
          <a:lstStyle/>
          <a:p>
            <a:pPr algn="ctr"/>
            <a:r>
              <a:rPr sz="1900" b="0">
                <a:solidFill>
                  <a:srgbClr val="EBF2FA"/>
                </a:solidFill>
                <a:latin typeface="Aptos"/>
              </a:rPr>
              <a:t>102</a:t>
            </a:r>
          </a:p>
        </p:txBody>
      </p:sp>
      <p:sp>
        <p:nvSpPr>
          <p:cNvPr id="968" name="Rounded Rectangle 967"/>
          <p:cNvSpPr/>
          <p:nvPr/>
        </p:nvSpPr>
        <p:spPr>
          <a:xfrm>
            <a:off x="822960" y="3090672"/>
            <a:ext cx="2514600" cy="603504"/>
          </a:xfrm>
          <a:prstGeom prst="roundRect">
            <a:avLst/>
          </a:prstGeom>
          <a:solidFill>
            <a:srgbClr val="182740"/>
          </a:solidFill>
          <a:ln>
            <a:solidFill>
              <a:srgbClr val="1827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9" name="TextBox 968"/>
          <p:cNvSpPr txBox="1"/>
          <p:nvPr/>
        </p:nvSpPr>
        <p:spPr>
          <a:xfrm>
            <a:off x="996696" y="3236976"/>
            <a:ext cx="2240280" cy="292608"/>
          </a:xfrm>
          <a:prstGeom prst="rect">
            <a:avLst/>
          </a:prstGeom>
          <a:noFill/>
        </p:spPr>
        <p:txBody>
          <a:bodyPr wrap="square" lIns="0" rIns="0" tIns="0" bIns="0">
            <a:spAutoFit/>
          </a:bodyPr>
          <a:lstStyle/>
          <a:p>
            <a:pPr algn="l"/>
            <a:r>
              <a:rPr sz="1700" b="1">
                <a:solidFill>
                  <a:srgbClr val="EBF2FA"/>
                </a:solidFill>
                <a:latin typeface="Aptos"/>
              </a:rPr>
              <a:t>LLM baseline</a:t>
            </a:r>
          </a:p>
        </p:txBody>
      </p:sp>
      <p:sp>
        <p:nvSpPr>
          <p:cNvPr id="970" name="Rounded Rectangle 969"/>
          <p:cNvSpPr/>
          <p:nvPr/>
        </p:nvSpPr>
        <p:spPr>
          <a:xfrm>
            <a:off x="3474720" y="3090672"/>
            <a:ext cx="2606040" cy="603504"/>
          </a:xfrm>
          <a:prstGeom prst="roundRect">
            <a:avLst/>
          </a:prstGeom>
          <a:solidFill>
            <a:srgbClr val="182740"/>
          </a:solidFill>
          <a:ln>
            <a:solidFill>
              <a:srgbClr val="1827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1" name="TextBox 970"/>
          <p:cNvSpPr txBox="1"/>
          <p:nvPr/>
        </p:nvSpPr>
        <p:spPr>
          <a:xfrm>
            <a:off x="3611879" y="3227832"/>
            <a:ext cx="2368296" cy="329184"/>
          </a:xfrm>
          <a:prstGeom prst="rect">
            <a:avLst/>
          </a:prstGeom>
          <a:noFill/>
        </p:spPr>
        <p:txBody>
          <a:bodyPr wrap="square" lIns="0" rIns="0" tIns="0" bIns="0">
            <a:spAutoFit/>
          </a:bodyPr>
          <a:lstStyle/>
          <a:p>
            <a:pPr algn="ctr"/>
            <a:r>
              <a:rPr sz="1900" b="0">
                <a:solidFill>
                  <a:srgbClr val="EBF2FA"/>
                </a:solidFill>
                <a:latin typeface="Aptos"/>
              </a:rPr>
              <a:t>422 / 397 / 403</a:t>
            </a:r>
          </a:p>
        </p:txBody>
      </p:sp>
      <p:sp>
        <p:nvSpPr>
          <p:cNvPr id="972" name="Rounded Rectangle 971"/>
          <p:cNvSpPr/>
          <p:nvPr/>
        </p:nvSpPr>
        <p:spPr>
          <a:xfrm>
            <a:off x="6217920" y="3090672"/>
            <a:ext cx="2606040" cy="603504"/>
          </a:xfrm>
          <a:prstGeom prst="roundRect">
            <a:avLst/>
          </a:prstGeom>
          <a:solidFill>
            <a:srgbClr val="182740"/>
          </a:solidFill>
          <a:ln>
            <a:solidFill>
              <a:srgbClr val="1827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3" name="TextBox 972"/>
          <p:cNvSpPr txBox="1"/>
          <p:nvPr/>
        </p:nvSpPr>
        <p:spPr>
          <a:xfrm>
            <a:off x="6355080" y="3227832"/>
            <a:ext cx="2368296" cy="329184"/>
          </a:xfrm>
          <a:prstGeom prst="rect">
            <a:avLst/>
          </a:prstGeom>
          <a:noFill/>
        </p:spPr>
        <p:txBody>
          <a:bodyPr wrap="square" lIns="0" rIns="0" tIns="0" bIns="0">
            <a:spAutoFit/>
          </a:bodyPr>
          <a:lstStyle/>
          <a:p>
            <a:pPr algn="ctr"/>
            <a:r>
              <a:rPr sz="1900" b="0">
                <a:solidFill>
                  <a:srgbClr val="EBF2FA"/>
                </a:solidFill>
                <a:latin typeface="Aptos"/>
              </a:rPr>
              <a:t>434 / 440 / 421</a:t>
            </a:r>
          </a:p>
        </p:txBody>
      </p:sp>
      <p:sp>
        <p:nvSpPr>
          <p:cNvPr id="974" name="Rounded Rectangle 973"/>
          <p:cNvSpPr/>
          <p:nvPr/>
        </p:nvSpPr>
        <p:spPr>
          <a:xfrm>
            <a:off x="8961120" y="3090672"/>
            <a:ext cx="2423160" cy="603504"/>
          </a:xfrm>
          <a:prstGeom prst="roundRect">
            <a:avLst/>
          </a:prstGeom>
          <a:solidFill>
            <a:srgbClr val="182740"/>
          </a:solidFill>
          <a:ln>
            <a:solidFill>
              <a:srgbClr val="1827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5" name="TextBox 974"/>
          <p:cNvSpPr txBox="1"/>
          <p:nvPr/>
        </p:nvSpPr>
        <p:spPr>
          <a:xfrm>
            <a:off x="9098280" y="3227832"/>
            <a:ext cx="2185415" cy="329184"/>
          </a:xfrm>
          <a:prstGeom prst="rect">
            <a:avLst/>
          </a:prstGeom>
          <a:noFill/>
        </p:spPr>
        <p:txBody>
          <a:bodyPr wrap="square" lIns="0" rIns="0" tIns="0" bIns="0">
            <a:spAutoFit/>
          </a:bodyPr>
          <a:lstStyle/>
          <a:p>
            <a:pPr algn="ctr"/>
            <a:r>
              <a:rPr sz="1900" b="0">
                <a:solidFill>
                  <a:srgbClr val="EBF2FA"/>
                </a:solidFill>
                <a:latin typeface="Aptos"/>
              </a:rPr>
              <a:t>95 / 74 / 81</a:t>
            </a:r>
          </a:p>
        </p:txBody>
      </p:sp>
      <p:sp>
        <p:nvSpPr>
          <p:cNvPr id="976" name="Rounded Rectangle 975"/>
          <p:cNvSpPr/>
          <p:nvPr/>
        </p:nvSpPr>
        <p:spPr>
          <a:xfrm>
            <a:off x="822960" y="3749039"/>
            <a:ext cx="2514600" cy="603504"/>
          </a:xfrm>
          <a:prstGeom prst="roundRect">
            <a:avLst/>
          </a:prstGeom>
          <a:solidFill>
            <a:srgbClr val="182740"/>
          </a:solidFill>
          <a:ln>
            <a:solidFill>
              <a:srgbClr val="1827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7" name="TextBox 976"/>
          <p:cNvSpPr txBox="1"/>
          <p:nvPr/>
        </p:nvSpPr>
        <p:spPr>
          <a:xfrm>
            <a:off x="996696" y="3895344"/>
            <a:ext cx="2240280" cy="292608"/>
          </a:xfrm>
          <a:prstGeom prst="rect">
            <a:avLst/>
          </a:prstGeom>
          <a:noFill/>
        </p:spPr>
        <p:txBody>
          <a:bodyPr wrap="square" lIns="0" rIns="0" tIns="0" bIns="0">
            <a:spAutoFit/>
          </a:bodyPr>
          <a:lstStyle/>
          <a:p>
            <a:pPr algn="l"/>
            <a:r>
              <a:rPr sz="1700" b="1">
                <a:solidFill>
                  <a:srgbClr val="EBF2FA"/>
                </a:solidFill>
                <a:latin typeface="Aptos"/>
              </a:rPr>
              <a:t>Non-Iterative</a:t>
            </a:r>
          </a:p>
        </p:txBody>
      </p:sp>
      <p:sp>
        <p:nvSpPr>
          <p:cNvPr id="978" name="Rounded Rectangle 977"/>
          <p:cNvSpPr/>
          <p:nvPr/>
        </p:nvSpPr>
        <p:spPr>
          <a:xfrm>
            <a:off x="3474720" y="3749039"/>
            <a:ext cx="2606040" cy="603504"/>
          </a:xfrm>
          <a:prstGeom prst="roundRect">
            <a:avLst/>
          </a:prstGeom>
          <a:solidFill>
            <a:srgbClr val="182740"/>
          </a:solidFill>
          <a:ln>
            <a:solidFill>
              <a:srgbClr val="1827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9" name="TextBox 978"/>
          <p:cNvSpPr txBox="1"/>
          <p:nvPr/>
        </p:nvSpPr>
        <p:spPr>
          <a:xfrm>
            <a:off x="3611879" y="3886200"/>
            <a:ext cx="2368296" cy="329184"/>
          </a:xfrm>
          <a:prstGeom prst="rect">
            <a:avLst/>
          </a:prstGeom>
          <a:noFill/>
        </p:spPr>
        <p:txBody>
          <a:bodyPr wrap="square" lIns="0" rIns="0" tIns="0" bIns="0">
            <a:spAutoFit/>
          </a:bodyPr>
          <a:lstStyle/>
          <a:p>
            <a:pPr algn="ctr"/>
            <a:r>
              <a:rPr sz="1800" b="0">
                <a:solidFill>
                  <a:srgbClr val="EBF2FA"/>
                </a:solidFill>
                <a:latin typeface="Aptos"/>
              </a:rPr>
              <a:t>29 / 61 / 18</a:t>
            </a:r>
          </a:p>
        </p:txBody>
      </p:sp>
      <p:sp>
        <p:nvSpPr>
          <p:cNvPr id="980" name="Rounded Rectangle 979"/>
          <p:cNvSpPr/>
          <p:nvPr/>
        </p:nvSpPr>
        <p:spPr>
          <a:xfrm>
            <a:off x="6217920" y="3749039"/>
            <a:ext cx="2606040" cy="603504"/>
          </a:xfrm>
          <a:prstGeom prst="roundRect">
            <a:avLst/>
          </a:prstGeom>
          <a:solidFill>
            <a:srgbClr val="182740"/>
          </a:solidFill>
          <a:ln>
            <a:solidFill>
              <a:srgbClr val="1827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1" name="TextBox 980"/>
          <p:cNvSpPr txBox="1"/>
          <p:nvPr/>
        </p:nvSpPr>
        <p:spPr>
          <a:xfrm>
            <a:off x="6355080" y="3886200"/>
            <a:ext cx="2368296" cy="329184"/>
          </a:xfrm>
          <a:prstGeom prst="rect">
            <a:avLst/>
          </a:prstGeom>
          <a:noFill/>
        </p:spPr>
        <p:txBody>
          <a:bodyPr wrap="square" lIns="0" rIns="0" tIns="0" bIns="0">
            <a:spAutoFit/>
          </a:bodyPr>
          <a:lstStyle/>
          <a:p>
            <a:pPr algn="ctr"/>
            <a:r>
              <a:rPr sz="1800" b="0">
                <a:solidFill>
                  <a:srgbClr val="EBF2FA"/>
                </a:solidFill>
                <a:latin typeface="Aptos"/>
              </a:rPr>
              <a:t>39 / 220 / 27</a:t>
            </a:r>
          </a:p>
        </p:txBody>
      </p:sp>
      <p:sp>
        <p:nvSpPr>
          <p:cNvPr id="982" name="Rounded Rectangle 981"/>
          <p:cNvSpPr/>
          <p:nvPr/>
        </p:nvSpPr>
        <p:spPr>
          <a:xfrm>
            <a:off x="8961120" y="3749039"/>
            <a:ext cx="2423160" cy="603504"/>
          </a:xfrm>
          <a:prstGeom prst="roundRect">
            <a:avLst/>
          </a:prstGeom>
          <a:solidFill>
            <a:srgbClr val="182740"/>
          </a:solidFill>
          <a:ln>
            <a:solidFill>
              <a:srgbClr val="1827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3" name="TextBox 982"/>
          <p:cNvSpPr txBox="1"/>
          <p:nvPr/>
        </p:nvSpPr>
        <p:spPr>
          <a:xfrm>
            <a:off x="9098280" y="3886200"/>
            <a:ext cx="2185415" cy="329184"/>
          </a:xfrm>
          <a:prstGeom prst="rect">
            <a:avLst/>
          </a:prstGeom>
          <a:noFill/>
        </p:spPr>
        <p:txBody>
          <a:bodyPr wrap="square" lIns="0" rIns="0" tIns="0" bIns="0">
            <a:spAutoFit/>
          </a:bodyPr>
          <a:lstStyle/>
          <a:p>
            <a:pPr algn="ctr"/>
            <a:r>
              <a:rPr sz="1800" b="0">
                <a:solidFill>
                  <a:srgbClr val="EBF2FA"/>
                </a:solidFill>
                <a:latin typeface="Aptos"/>
              </a:rPr>
              <a:t>24 / 35 / 14</a:t>
            </a:r>
          </a:p>
        </p:txBody>
      </p:sp>
      <p:sp>
        <p:nvSpPr>
          <p:cNvPr id="984" name="Rounded Rectangle 983"/>
          <p:cNvSpPr/>
          <p:nvPr/>
        </p:nvSpPr>
        <p:spPr>
          <a:xfrm>
            <a:off x="822960" y="4407408"/>
            <a:ext cx="2514600" cy="603504"/>
          </a:xfrm>
          <a:prstGeom prst="roundRect">
            <a:avLst/>
          </a:prstGeom>
          <a:solidFill>
            <a:srgbClr val="263959"/>
          </a:solidFill>
          <a:ln>
            <a:solidFill>
              <a:srgbClr val="42597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5" name="TextBox 984"/>
          <p:cNvSpPr txBox="1"/>
          <p:nvPr/>
        </p:nvSpPr>
        <p:spPr>
          <a:xfrm>
            <a:off x="996696" y="4553712"/>
            <a:ext cx="2240280" cy="292608"/>
          </a:xfrm>
          <a:prstGeom prst="rect">
            <a:avLst/>
          </a:prstGeom>
          <a:noFill/>
        </p:spPr>
        <p:txBody>
          <a:bodyPr wrap="square" lIns="0" rIns="0" tIns="0" bIns="0">
            <a:spAutoFit/>
          </a:bodyPr>
          <a:lstStyle/>
          <a:p>
            <a:pPr algn="l"/>
            <a:r>
              <a:rPr sz="1700" b="1">
                <a:solidFill>
                  <a:srgbClr val="FFA159"/>
                </a:solidFill>
                <a:latin typeface="Aptos"/>
              </a:rPr>
              <a:t>RIGOR</a:t>
            </a:r>
          </a:p>
        </p:txBody>
      </p:sp>
      <p:sp>
        <p:nvSpPr>
          <p:cNvPr id="986" name="Rounded Rectangle 985"/>
          <p:cNvSpPr/>
          <p:nvPr/>
        </p:nvSpPr>
        <p:spPr>
          <a:xfrm>
            <a:off x="3474720" y="4407408"/>
            <a:ext cx="2606040" cy="603504"/>
          </a:xfrm>
          <a:prstGeom prst="roundRect">
            <a:avLst/>
          </a:prstGeom>
          <a:solidFill>
            <a:srgbClr val="263959"/>
          </a:solidFill>
          <a:ln>
            <a:solidFill>
              <a:srgbClr val="42597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7" name="TextBox 986"/>
          <p:cNvSpPr txBox="1"/>
          <p:nvPr/>
        </p:nvSpPr>
        <p:spPr>
          <a:xfrm>
            <a:off x="3611879" y="4544568"/>
            <a:ext cx="2368296" cy="329184"/>
          </a:xfrm>
          <a:prstGeom prst="rect">
            <a:avLst/>
          </a:prstGeom>
          <a:noFill/>
        </p:spPr>
        <p:txBody>
          <a:bodyPr wrap="square" lIns="0" rIns="0" tIns="0" bIns="0">
            <a:spAutoFit/>
          </a:bodyPr>
          <a:lstStyle/>
          <a:p>
            <a:pPr algn="ctr"/>
            <a:r>
              <a:rPr sz="1800" b="1">
                <a:solidFill>
                  <a:srgbClr val="FFA159"/>
                </a:solidFill>
                <a:latin typeface="Aptos"/>
              </a:rPr>
              <a:t>20 / 23 / 3</a:t>
            </a:r>
          </a:p>
        </p:txBody>
      </p:sp>
      <p:sp>
        <p:nvSpPr>
          <p:cNvPr id="988" name="Rounded Rectangle 987"/>
          <p:cNvSpPr/>
          <p:nvPr/>
        </p:nvSpPr>
        <p:spPr>
          <a:xfrm>
            <a:off x="6217920" y="4407408"/>
            <a:ext cx="2606040" cy="603504"/>
          </a:xfrm>
          <a:prstGeom prst="roundRect">
            <a:avLst/>
          </a:prstGeom>
          <a:solidFill>
            <a:srgbClr val="263959"/>
          </a:solidFill>
          <a:ln>
            <a:solidFill>
              <a:srgbClr val="42597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9" name="TextBox 988"/>
          <p:cNvSpPr txBox="1"/>
          <p:nvPr/>
        </p:nvSpPr>
        <p:spPr>
          <a:xfrm>
            <a:off x="6355080" y="4544568"/>
            <a:ext cx="2368296" cy="329184"/>
          </a:xfrm>
          <a:prstGeom prst="rect">
            <a:avLst/>
          </a:prstGeom>
          <a:noFill/>
        </p:spPr>
        <p:txBody>
          <a:bodyPr wrap="square" lIns="0" rIns="0" tIns="0" bIns="0">
            <a:spAutoFit/>
          </a:bodyPr>
          <a:lstStyle/>
          <a:p>
            <a:pPr algn="ctr"/>
            <a:r>
              <a:rPr sz="1800" b="1">
                <a:solidFill>
                  <a:srgbClr val="FFA159"/>
                </a:solidFill>
                <a:latin typeface="Aptos"/>
              </a:rPr>
              <a:t>2 / 2 / 26</a:t>
            </a:r>
          </a:p>
        </p:txBody>
      </p:sp>
      <p:sp>
        <p:nvSpPr>
          <p:cNvPr id="990" name="Rounded Rectangle 989"/>
          <p:cNvSpPr/>
          <p:nvPr/>
        </p:nvSpPr>
        <p:spPr>
          <a:xfrm>
            <a:off x="8961120" y="4407408"/>
            <a:ext cx="2423160" cy="603504"/>
          </a:xfrm>
          <a:prstGeom prst="roundRect">
            <a:avLst/>
          </a:prstGeom>
          <a:solidFill>
            <a:srgbClr val="263959"/>
          </a:solidFill>
          <a:ln>
            <a:solidFill>
              <a:srgbClr val="42597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1" name="TextBox 990"/>
          <p:cNvSpPr txBox="1"/>
          <p:nvPr/>
        </p:nvSpPr>
        <p:spPr>
          <a:xfrm>
            <a:off x="9098280" y="4544568"/>
            <a:ext cx="2185415" cy="329184"/>
          </a:xfrm>
          <a:prstGeom prst="rect">
            <a:avLst/>
          </a:prstGeom>
          <a:noFill/>
        </p:spPr>
        <p:txBody>
          <a:bodyPr wrap="square" lIns="0" rIns="0" tIns="0" bIns="0">
            <a:spAutoFit/>
          </a:bodyPr>
          <a:lstStyle/>
          <a:p>
            <a:pPr algn="ctr"/>
            <a:r>
              <a:rPr sz="1800" b="1">
                <a:solidFill>
                  <a:srgbClr val="FFA159"/>
                </a:solidFill>
                <a:latin typeface="Aptos"/>
              </a:rPr>
              <a:t>0 / 0 / 0</a:t>
            </a:r>
          </a:p>
        </p:txBody>
      </p:sp>
      <p:sp>
        <p:nvSpPr>
          <p:cNvPr id="992" name="Rounded Rectangle 991"/>
          <p:cNvSpPr/>
          <p:nvPr/>
        </p:nvSpPr>
        <p:spPr>
          <a:xfrm>
            <a:off x="822960" y="5221224"/>
            <a:ext cx="10561320" cy="530352"/>
          </a:xfrm>
          <a:prstGeom prst="roundRect">
            <a:avLst/>
          </a:prstGeom>
          <a:solidFill>
            <a:srgbClr val="1D2F4C"/>
          </a:solidFill>
          <a:ln>
            <a:solidFill>
              <a:srgbClr val="1D2F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3" name="TextBox 992"/>
          <p:cNvSpPr txBox="1"/>
          <p:nvPr/>
        </p:nvSpPr>
        <p:spPr>
          <a:xfrm>
            <a:off x="1024128" y="5340096"/>
            <a:ext cx="10149840" cy="329184"/>
          </a:xfrm>
          <a:prstGeom prst="rect">
            <a:avLst/>
          </a:prstGeom>
          <a:noFill/>
        </p:spPr>
        <p:txBody>
          <a:bodyPr wrap="square" lIns="0" rIns="0" tIns="0" bIns="0">
            <a:spAutoFit/>
          </a:bodyPr>
          <a:lstStyle/>
          <a:p>
            <a:pPr algn="l"/>
            <a:r>
              <a:rPr sz="1700" b="1">
                <a:solidFill>
                  <a:srgbClr val="EBF2FA"/>
                </a:solidFill>
                <a:latin typeface="Aptos"/>
              </a:rPr>
              <a:t>RIGOR improves on Non-Iterative in 9/9 matched runs; Chinook has zero findings in all 3.</a:t>
            </a:r>
          </a:p>
        </p:txBody>
      </p:sp>
      <p:sp>
        <p:nvSpPr>
          <p:cNvPr id="994" name="TextBox 993"/>
          <p:cNvSpPr txBox="1"/>
          <p:nvPr/>
        </p:nvSpPr>
        <p:spPr>
          <a:xfrm>
            <a:off x="850392" y="5925312"/>
            <a:ext cx="10789920" cy="246888"/>
          </a:xfrm>
          <a:prstGeom prst="rect">
            <a:avLst/>
          </a:prstGeom>
          <a:noFill/>
        </p:spPr>
        <p:txBody>
          <a:bodyPr wrap="square" lIns="0" rIns="0" tIns="0" bIns="0">
            <a:spAutoFit/>
          </a:bodyPr>
          <a:lstStyle/>
          <a:p>
            <a:pPr algn="l"/>
            <a:r>
              <a:rPr sz="1200" b="0">
                <a:solidFill>
                  <a:srgbClr val="ACB9CD"/>
                </a:solidFill>
                <a:latin typeface="Aptos"/>
              </a:rPr>
              <a:t>Numbers in each LLM cell: Claude / Mistral / DeepSeek. Direct Mapping uses no LLM.</a:t>
            </a:r>
          </a:p>
        </p:txBody>
      </p:sp>
      <p:sp>
        <p:nvSpPr>
          <p:cNvPr id="995" name="TextBox 994"/>
          <p:cNvSpPr txBox="1"/>
          <p:nvPr/>
        </p:nvSpPr>
        <p:spPr>
          <a:xfrm>
            <a:off x="850392" y="6208776"/>
            <a:ext cx="10789920" cy="274320"/>
          </a:xfrm>
          <a:prstGeom prst="rect">
            <a:avLst/>
          </a:prstGeom>
          <a:noFill/>
        </p:spPr>
        <p:txBody>
          <a:bodyPr wrap="square" lIns="0" rIns="0" tIns="0" bIns="0">
            <a:spAutoFit/>
          </a:bodyPr>
          <a:lstStyle/>
          <a:p>
            <a:pPr algn="l"/>
            <a:r>
              <a:rPr sz="1200" b="0">
                <a:solidFill>
                  <a:srgbClr val="ACB9CD"/>
                </a:solidFill>
                <a:latin typeface="Aptos"/>
              </a:rPr>
              <a:t>Interpret carefully: many findings concern missing annotations; critical P19 remains in 3/9 RIGOR runs. Source: Table 7.</a:t>
            </a: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1726"/>
        </a:solidFill>
      </p:bgPr>
    </p:bg>
    <p:spTree>
      <p:nvGrpSpPr>
        <p:cNvPr id="974" name="Shape 974"/>
        <p:cNvGrpSpPr/>
        <p:nvPr/>
      </p:nvGrpSpPr>
      <p:grpSpPr>
        <a:xfrm>
          <a:off x="0" y="0"/>
          <a:ext cx="0" cy="0"/>
          <a:chOff x="0" y="0"/>
          <a:chExt cx="0" cy="0"/>
        </a:xfrm>
      </p:grpSpPr>
      <p:sp>
        <p:nvSpPr>
          <p:cNvPr id="975" name="Google Shape;975;p21"/>
          <p:cNvSpPr txBox="1"/>
          <p:nvPr/>
        </p:nvSpPr>
        <p:spPr>
          <a:xfrm>
            <a:off x="804672" y="512064"/>
            <a:ext cx="10753344" cy="310896"/>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i="0" lang="en-US" sz="1400">
                <a:solidFill>
                  <a:srgbClr val="F4A261"/>
                </a:solidFill>
                <a:latin typeface="IBM Plex Mono"/>
                <a:ea typeface="IBM Plex Mono"/>
                <a:cs typeface="IBM Plex Mono"/>
                <a:sym typeface="IBM Plex Mono"/>
              </a:rPr>
              <a:t>RESULT 3  /  EXTERNAL BENCHMARK</a:t>
            </a:r>
            <a:endParaRPr/>
          </a:p>
        </p:txBody>
      </p:sp>
      <p:sp>
        <p:nvSpPr>
          <p:cNvPr id="976" name="Google Shape;976;p21"/>
          <p:cNvSpPr txBox="1"/>
          <p:nvPr/>
        </p:nvSpPr>
        <p:spPr>
          <a:xfrm>
            <a:off x="804672" y="914400"/>
            <a:ext cx="10762488" cy="66751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900">
                <a:solidFill>
                  <a:srgbClr val="EDF1F6"/>
                </a:solidFill>
                <a:latin typeface="IBM Plex Sans"/>
                <a:ea typeface="IBM Plex Sans"/>
                <a:cs typeface="IBM Plex Sans"/>
                <a:sym typeface="IBM Plex Sans"/>
              </a:rPr>
              <a:t>RIGOR leads the compared systems on BURR.</a:t>
            </a:r>
            <a:endParaRPr/>
          </a:p>
        </p:txBody>
      </p:sp>
      <p:sp>
        <p:nvSpPr>
          <p:cNvPr id="977" name="Google Shape;977;p21"/>
          <p:cNvSpPr txBox="1"/>
          <p:nvPr/>
        </p:nvSpPr>
        <p:spPr>
          <a:xfrm>
            <a:off x="822960" y="1645920"/>
            <a:ext cx="10680192" cy="32918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sz="1600">
                <a:solidFill>
                  <a:srgbClr val="C9D2DE"/>
                </a:solidFill>
                <a:latin typeface="IBM Plex Sans"/>
                <a:ea typeface="IBM Plex Sans"/>
                <a:cs typeface="IBM Plex Sans"/>
                <a:sym typeface="IBM Plex Sans"/>
              </a:rPr>
              <a:t>ISWC benchmark scenario · Mapping-based F1 against a gold standard (higher is better).</a:t>
            </a:r>
            <a:endParaRPr/>
          </a:p>
        </p:txBody>
      </p:sp>
      <p:sp>
        <p:nvSpPr>
          <p:cNvPr id="978" name="Rounded Rectangle 977"/>
          <p:cNvSpPr/>
          <p:nvPr/>
        </p:nvSpPr>
        <p:spPr>
          <a:xfrm>
            <a:off x="841248" y="2139696"/>
            <a:ext cx="10497312" cy="3063240"/>
          </a:xfrm>
          <a:prstGeom prst="roundRect">
            <a:avLst/>
          </a:prstGeom>
          <a:solidFill>
            <a:srgbClr val="1A2B45"/>
          </a:solidFill>
          <a:ln w="10795">
            <a:solidFill>
              <a:srgbClr val="4C649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9" name="TextBox 978"/>
          <p:cNvSpPr txBox="1"/>
          <p:nvPr/>
        </p:nvSpPr>
        <p:spPr>
          <a:xfrm>
            <a:off x="1097280" y="2322576"/>
            <a:ext cx="4069080" cy="329184"/>
          </a:xfrm>
          <a:prstGeom prst="rect">
            <a:avLst/>
          </a:prstGeom>
          <a:noFill/>
        </p:spPr>
        <p:txBody>
          <a:bodyPr wrap="square" lIns="0" rIns="0" tIns="0" bIns="0" anchor="ctr">
            <a:spAutoFit/>
          </a:bodyPr>
          <a:lstStyle/>
          <a:p>
            <a:r>
              <a:rPr sz="1550" b="1">
                <a:solidFill>
                  <a:srgbClr val="7AA1F4"/>
                </a:solidFill>
                <a:latin typeface="IBM Plex Mono"/>
              </a:rPr>
              <a:t>SYSTEM</a:t>
            </a:r>
          </a:p>
        </p:txBody>
      </p:sp>
      <p:sp>
        <p:nvSpPr>
          <p:cNvPr id="980" name="TextBox 979"/>
          <p:cNvSpPr txBox="1"/>
          <p:nvPr/>
        </p:nvSpPr>
        <p:spPr>
          <a:xfrm>
            <a:off x="5504688" y="2322576"/>
            <a:ext cx="1627632" cy="329184"/>
          </a:xfrm>
          <a:prstGeom prst="rect">
            <a:avLst/>
          </a:prstGeom>
          <a:noFill/>
        </p:spPr>
        <p:txBody>
          <a:bodyPr wrap="square" lIns="0" rIns="0" tIns="0" bIns="0" anchor="ctr">
            <a:spAutoFit/>
          </a:bodyPr>
          <a:lstStyle/>
          <a:p>
            <a:pPr algn="ctr"/>
            <a:r>
              <a:rPr sz="1500" b="1">
                <a:solidFill>
                  <a:srgbClr val="7AA1F4"/>
                </a:solidFill>
                <a:latin typeface="IBM Plex Mono"/>
              </a:rPr>
              <a:t>CLASSES</a:t>
            </a:r>
          </a:p>
        </p:txBody>
      </p:sp>
      <p:sp>
        <p:nvSpPr>
          <p:cNvPr id="981" name="TextBox 980"/>
          <p:cNvSpPr txBox="1"/>
          <p:nvPr/>
        </p:nvSpPr>
        <p:spPr>
          <a:xfrm>
            <a:off x="7443216" y="2322576"/>
            <a:ext cx="1627632" cy="329184"/>
          </a:xfrm>
          <a:prstGeom prst="rect">
            <a:avLst/>
          </a:prstGeom>
          <a:noFill/>
        </p:spPr>
        <p:txBody>
          <a:bodyPr wrap="square" lIns="0" rIns="0" tIns="0" bIns="0" anchor="ctr">
            <a:spAutoFit/>
          </a:bodyPr>
          <a:lstStyle/>
          <a:p>
            <a:pPr algn="ctr"/>
            <a:r>
              <a:rPr sz="1500" b="1">
                <a:solidFill>
                  <a:srgbClr val="7AA1F4"/>
                </a:solidFill>
                <a:latin typeface="IBM Plex Mono"/>
              </a:rPr>
              <a:t>RELATIONS</a:t>
            </a:r>
          </a:p>
        </p:txBody>
      </p:sp>
      <p:sp>
        <p:nvSpPr>
          <p:cNvPr id="982" name="TextBox 981"/>
          <p:cNvSpPr txBox="1"/>
          <p:nvPr/>
        </p:nvSpPr>
        <p:spPr>
          <a:xfrm>
            <a:off x="9427464" y="2322576"/>
            <a:ext cx="1627632" cy="329184"/>
          </a:xfrm>
          <a:prstGeom prst="rect">
            <a:avLst/>
          </a:prstGeom>
          <a:noFill/>
        </p:spPr>
        <p:txBody>
          <a:bodyPr wrap="square" lIns="0" rIns="0" tIns="0" bIns="0" anchor="ctr">
            <a:spAutoFit/>
          </a:bodyPr>
          <a:lstStyle/>
          <a:p>
            <a:pPr algn="ctr"/>
            <a:r>
              <a:rPr sz="1500" b="1">
                <a:solidFill>
                  <a:srgbClr val="7AA1F4"/>
                </a:solidFill>
                <a:latin typeface="IBM Plex Mono"/>
              </a:rPr>
              <a:t>ATTRIBUTES</a:t>
            </a:r>
          </a:p>
        </p:txBody>
      </p:sp>
      <p:cxnSp>
        <p:nvCxnSpPr>
          <p:cNvPr id="983" name="Connector 982"/>
          <p:cNvCxnSpPr/>
          <p:nvPr/>
        </p:nvCxnSpPr>
        <p:spPr>
          <a:xfrm>
            <a:off x="1097280" y="2761488"/>
            <a:ext cx="9976104" cy="0"/>
          </a:xfrm>
          <a:prstGeom prst="line">
            <a:avLst/>
          </a:prstGeom>
          <a:ln w="13970">
            <a:solidFill>
              <a:srgbClr val="5A7092"/>
            </a:solidFill>
          </a:ln>
        </p:spPr>
        <p:style>
          <a:lnRef idx="2">
            <a:schemeClr val="accent1"/>
          </a:lnRef>
          <a:fillRef idx="0">
            <a:schemeClr val="accent1"/>
          </a:fillRef>
          <a:effectRef idx="1">
            <a:schemeClr val="accent1"/>
          </a:effectRef>
          <a:fontRef idx="minor">
            <a:schemeClr val="tx1"/>
          </a:fontRef>
        </p:style>
      </p:cxnSp>
      <p:sp>
        <p:nvSpPr>
          <p:cNvPr id="984" name="TextBox 983"/>
          <p:cNvSpPr txBox="1"/>
          <p:nvPr/>
        </p:nvSpPr>
        <p:spPr>
          <a:xfrm>
            <a:off x="1143000" y="2871216"/>
            <a:ext cx="3456432" cy="274320"/>
          </a:xfrm>
          <a:prstGeom prst="rect">
            <a:avLst/>
          </a:prstGeom>
          <a:noFill/>
        </p:spPr>
        <p:txBody>
          <a:bodyPr wrap="square" lIns="0" rIns="0" tIns="0" bIns="0" anchor="ctr">
            <a:spAutoFit/>
          </a:bodyPr>
          <a:lstStyle/>
          <a:p>
            <a:r>
              <a:rPr sz="1639" b="0">
                <a:solidFill>
                  <a:srgbClr val="B5C3D8"/>
                </a:solidFill>
                <a:latin typeface="IBM Plex Sans"/>
              </a:rPr>
              <a:t>W3C-Mapper / Ontop</a:t>
            </a:r>
          </a:p>
        </p:txBody>
      </p:sp>
      <p:sp>
        <p:nvSpPr>
          <p:cNvPr id="985" name="TextBox 984"/>
          <p:cNvSpPr txBox="1"/>
          <p:nvPr/>
        </p:nvSpPr>
        <p:spPr>
          <a:xfrm>
            <a:off x="4389120" y="2907792"/>
            <a:ext cx="1005840" cy="246888"/>
          </a:xfrm>
          <a:prstGeom prst="rect">
            <a:avLst/>
          </a:prstGeom>
          <a:noFill/>
        </p:spPr>
        <p:txBody>
          <a:bodyPr wrap="square" lIns="0" rIns="0" tIns="0" bIns="0" anchor="ctr">
            <a:spAutoFit/>
          </a:bodyPr>
          <a:lstStyle/>
          <a:p>
            <a:r>
              <a:rPr sz="1130" b="0">
                <a:solidFill>
                  <a:srgbClr val="93A0B3"/>
                </a:solidFill>
                <a:latin typeface="IBM Plex Sans"/>
              </a:rPr>
              <a:t>rule-based</a:t>
            </a:r>
          </a:p>
        </p:txBody>
      </p:sp>
      <p:sp>
        <p:nvSpPr>
          <p:cNvPr id="986" name="TextBox 985"/>
          <p:cNvSpPr txBox="1"/>
          <p:nvPr/>
        </p:nvSpPr>
        <p:spPr>
          <a:xfrm>
            <a:off x="5541264" y="2857500"/>
            <a:ext cx="1572768" cy="320040"/>
          </a:xfrm>
          <a:prstGeom prst="rect">
            <a:avLst/>
          </a:prstGeom>
          <a:noFill/>
        </p:spPr>
        <p:txBody>
          <a:bodyPr wrap="square" lIns="0" rIns="0" tIns="0" bIns="0" anchor="ctr">
            <a:spAutoFit/>
          </a:bodyPr>
          <a:lstStyle/>
          <a:p>
            <a:pPr algn="ctr"/>
            <a:r>
              <a:rPr sz="1839" b="0">
                <a:solidFill>
                  <a:srgbClr val="B5C3D8"/>
                </a:solidFill>
                <a:latin typeface="IBM Plex Sans"/>
              </a:rPr>
              <a:t>0.53</a:t>
            </a:r>
          </a:p>
        </p:txBody>
      </p:sp>
      <p:sp>
        <p:nvSpPr>
          <p:cNvPr id="987" name="TextBox 986"/>
          <p:cNvSpPr txBox="1"/>
          <p:nvPr/>
        </p:nvSpPr>
        <p:spPr>
          <a:xfrm>
            <a:off x="7488936" y="2857500"/>
            <a:ext cx="1572768" cy="320040"/>
          </a:xfrm>
          <a:prstGeom prst="rect">
            <a:avLst/>
          </a:prstGeom>
          <a:noFill/>
        </p:spPr>
        <p:txBody>
          <a:bodyPr wrap="square" lIns="0" rIns="0" tIns="0" bIns="0" anchor="ctr">
            <a:spAutoFit/>
          </a:bodyPr>
          <a:lstStyle/>
          <a:p>
            <a:pPr algn="ctr"/>
            <a:r>
              <a:rPr sz="1839" b="0">
                <a:solidFill>
                  <a:srgbClr val="B5C3D8"/>
                </a:solidFill>
                <a:latin typeface="IBM Plex Sans"/>
              </a:rPr>
              <a:t>0.11</a:t>
            </a:r>
          </a:p>
        </p:txBody>
      </p:sp>
      <p:sp>
        <p:nvSpPr>
          <p:cNvPr id="988" name="TextBox 987"/>
          <p:cNvSpPr txBox="1"/>
          <p:nvPr/>
        </p:nvSpPr>
        <p:spPr>
          <a:xfrm>
            <a:off x="9482328" y="2857500"/>
            <a:ext cx="1572768" cy="320040"/>
          </a:xfrm>
          <a:prstGeom prst="rect">
            <a:avLst/>
          </a:prstGeom>
          <a:noFill/>
        </p:spPr>
        <p:txBody>
          <a:bodyPr wrap="square" lIns="0" rIns="0" tIns="0" bIns="0" anchor="ctr">
            <a:spAutoFit/>
          </a:bodyPr>
          <a:lstStyle/>
          <a:p>
            <a:pPr algn="ctr"/>
            <a:r>
              <a:rPr sz="1839" b="0">
                <a:solidFill>
                  <a:srgbClr val="B5C3D8"/>
                </a:solidFill>
                <a:latin typeface="IBM Plex Sans"/>
              </a:rPr>
              <a:t>0.39</a:t>
            </a:r>
          </a:p>
        </p:txBody>
      </p:sp>
      <p:sp>
        <p:nvSpPr>
          <p:cNvPr id="989" name="TextBox 988"/>
          <p:cNvSpPr txBox="1"/>
          <p:nvPr/>
        </p:nvSpPr>
        <p:spPr>
          <a:xfrm>
            <a:off x="1143000" y="3429000"/>
            <a:ext cx="3456432" cy="274320"/>
          </a:xfrm>
          <a:prstGeom prst="rect">
            <a:avLst/>
          </a:prstGeom>
          <a:noFill/>
        </p:spPr>
        <p:txBody>
          <a:bodyPr wrap="square" lIns="0" rIns="0" tIns="0" bIns="0" anchor="ctr">
            <a:spAutoFit/>
          </a:bodyPr>
          <a:lstStyle/>
          <a:p>
            <a:r>
              <a:rPr sz="1639" b="0">
                <a:solidFill>
                  <a:srgbClr val="B5C3D8"/>
                </a:solidFill>
                <a:latin typeface="IBM Plex Sans"/>
              </a:rPr>
              <a:t>RDB2Onto</a:t>
            </a:r>
          </a:p>
        </p:txBody>
      </p:sp>
      <p:sp>
        <p:nvSpPr>
          <p:cNvPr id="990" name="TextBox 989"/>
          <p:cNvSpPr txBox="1"/>
          <p:nvPr/>
        </p:nvSpPr>
        <p:spPr>
          <a:xfrm>
            <a:off x="4389120" y="3465576"/>
            <a:ext cx="1005840" cy="246888"/>
          </a:xfrm>
          <a:prstGeom prst="rect">
            <a:avLst/>
          </a:prstGeom>
          <a:noFill/>
        </p:spPr>
        <p:txBody>
          <a:bodyPr wrap="square" lIns="0" rIns="0" tIns="0" bIns="0" anchor="ctr">
            <a:spAutoFit/>
          </a:bodyPr>
          <a:lstStyle/>
          <a:p>
            <a:r>
              <a:rPr sz="1130" b="0">
                <a:solidFill>
                  <a:srgbClr val="93A0B3"/>
                </a:solidFill>
                <a:latin typeface="IBM Plex Sans"/>
              </a:rPr>
              <a:t>rule-based</a:t>
            </a:r>
          </a:p>
        </p:txBody>
      </p:sp>
      <p:sp>
        <p:nvSpPr>
          <p:cNvPr id="991" name="TextBox 990"/>
          <p:cNvSpPr txBox="1"/>
          <p:nvPr/>
        </p:nvSpPr>
        <p:spPr>
          <a:xfrm>
            <a:off x="5541264" y="3415284"/>
            <a:ext cx="1572768" cy="320040"/>
          </a:xfrm>
          <a:prstGeom prst="rect">
            <a:avLst/>
          </a:prstGeom>
          <a:noFill/>
        </p:spPr>
        <p:txBody>
          <a:bodyPr wrap="square" lIns="0" rIns="0" tIns="0" bIns="0" anchor="ctr">
            <a:spAutoFit/>
          </a:bodyPr>
          <a:lstStyle/>
          <a:p>
            <a:pPr algn="ctr"/>
            <a:r>
              <a:rPr sz="1839" b="0">
                <a:solidFill>
                  <a:srgbClr val="B5C3D8"/>
                </a:solidFill>
                <a:latin typeface="IBM Plex Sans"/>
              </a:rPr>
              <a:t>0.67</a:t>
            </a:r>
          </a:p>
        </p:txBody>
      </p:sp>
      <p:sp>
        <p:nvSpPr>
          <p:cNvPr id="992" name="TextBox 991"/>
          <p:cNvSpPr txBox="1"/>
          <p:nvPr/>
        </p:nvSpPr>
        <p:spPr>
          <a:xfrm>
            <a:off x="7488936" y="3415284"/>
            <a:ext cx="1572768" cy="320040"/>
          </a:xfrm>
          <a:prstGeom prst="rect">
            <a:avLst/>
          </a:prstGeom>
          <a:noFill/>
        </p:spPr>
        <p:txBody>
          <a:bodyPr wrap="square" lIns="0" rIns="0" tIns="0" bIns="0" anchor="ctr">
            <a:spAutoFit/>
          </a:bodyPr>
          <a:lstStyle/>
          <a:p>
            <a:pPr algn="ctr"/>
            <a:r>
              <a:rPr sz="1839" b="0">
                <a:solidFill>
                  <a:srgbClr val="B5C3D8"/>
                </a:solidFill>
                <a:latin typeface="IBM Plex Sans"/>
              </a:rPr>
              <a:t>0.62</a:t>
            </a:r>
          </a:p>
        </p:txBody>
      </p:sp>
      <p:sp>
        <p:nvSpPr>
          <p:cNvPr id="993" name="TextBox 992"/>
          <p:cNvSpPr txBox="1"/>
          <p:nvPr/>
        </p:nvSpPr>
        <p:spPr>
          <a:xfrm>
            <a:off x="9482328" y="3415284"/>
            <a:ext cx="1572768" cy="320040"/>
          </a:xfrm>
          <a:prstGeom prst="rect">
            <a:avLst/>
          </a:prstGeom>
          <a:noFill/>
        </p:spPr>
        <p:txBody>
          <a:bodyPr wrap="square" lIns="0" rIns="0" tIns="0" bIns="0" anchor="ctr">
            <a:spAutoFit/>
          </a:bodyPr>
          <a:lstStyle/>
          <a:p>
            <a:pPr algn="ctr"/>
            <a:r>
              <a:rPr sz="1839" b="0">
                <a:solidFill>
                  <a:srgbClr val="B5C3D8"/>
                </a:solidFill>
                <a:latin typeface="IBM Plex Sans"/>
              </a:rPr>
              <a:t>0.44</a:t>
            </a:r>
          </a:p>
        </p:txBody>
      </p:sp>
      <p:sp>
        <p:nvSpPr>
          <p:cNvPr id="994" name="TextBox 993"/>
          <p:cNvSpPr txBox="1"/>
          <p:nvPr/>
        </p:nvSpPr>
        <p:spPr>
          <a:xfrm>
            <a:off x="1143000" y="3986784"/>
            <a:ext cx="3456432" cy="274320"/>
          </a:xfrm>
          <a:prstGeom prst="rect">
            <a:avLst/>
          </a:prstGeom>
          <a:noFill/>
        </p:spPr>
        <p:txBody>
          <a:bodyPr wrap="square" lIns="0" rIns="0" tIns="0" bIns="0" anchor="ctr">
            <a:spAutoFit/>
          </a:bodyPr>
          <a:lstStyle/>
          <a:p>
            <a:r>
              <a:rPr sz="1639" b="0">
                <a:solidFill>
                  <a:srgbClr val="B5C3D8"/>
                </a:solidFill>
                <a:latin typeface="IBM Plex Sans"/>
              </a:rPr>
              <a:t>OntoGenix</a:t>
            </a:r>
          </a:p>
        </p:txBody>
      </p:sp>
      <p:sp>
        <p:nvSpPr>
          <p:cNvPr id="995" name="TextBox 994"/>
          <p:cNvSpPr txBox="1"/>
          <p:nvPr/>
        </p:nvSpPr>
        <p:spPr>
          <a:xfrm>
            <a:off x="4389120" y="4023360"/>
            <a:ext cx="1005840" cy="246888"/>
          </a:xfrm>
          <a:prstGeom prst="rect">
            <a:avLst/>
          </a:prstGeom>
          <a:noFill/>
        </p:spPr>
        <p:txBody>
          <a:bodyPr wrap="square" lIns="0" rIns="0" tIns="0" bIns="0" anchor="ctr">
            <a:spAutoFit/>
          </a:bodyPr>
          <a:lstStyle/>
          <a:p>
            <a:r>
              <a:rPr sz="1130" b="0">
                <a:solidFill>
                  <a:srgbClr val="93A0B3"/>
                </a:solidFill>
                <a:latin typeface="IBM Plex Sans"/>
              </a:rPr>
              <a:t>LLM-based</a:t>
            </a:r>
          </a:p>
        </p:txBody>
      </p:sp>
      <p:sp>
        <p:nvSpPr>
          <p:cNvPr id="996" name="TextBox 995"/>
          <p:cNvSpPr txBox="1"/>
          <p:nvPr/>
        </p:nvSpPr>
        <p:spPr>
          <a:xfrm>
            <a:off x="5541264" y="3973068"/>
            <a:ext cx="1572768" cy="320040"/>
          </a:xfrm>
          <a:prstGeom prst="rect">
            <a:avLst/>
          </a:prstGeom>
          <a:noFill/>
        </p:spPr>
        <p:txBody>
          <a:bodyPr wrap="square" lIns="0" rIns="0" tIns="0" bIns="0" anchor="ctr">
            <a:spAutoFit/>
          </a:bodyPr>
          <a:lstStyle/>
          <a:p>
            <a:pPr algn="ctr"/>
            <a:r>
              <a:rPr sz="1839" b="0">
                <a:solidFill>
                  <a:srgbClr val="B5C3D8"/>
                </a:solidFill>
                <a:latin typeface="IBM Plex Sans"/>
              </a:rPr>
              <a:t>0.58</a:t>
            </a:r>
          </a:p>
        </p:txBody>
      </p:sp>
      <p:sp>
        <p:nvSpPr>
          <p:cNvPr id="997" name="TextBox 996"/>
          <p:cNvSpPr txBox="1"/>
          <p:nvPr/>
        </p:nvSpPr>
        <p:spPr>
          <a:xfrm>
            <a:off x="7488936" y="3973068"/>
            <a:ext cx="1572768" cy="320040"/>
          </a:xfrm>
          <a:prstGeom prst="rect">
            <a:avLst/>
          </a:prstGeom>
          <a:noFill/>
        </p:spPr>
        <p:txBody>
          <a:bodyPr wrap="square" lIns="0" rIns="0" tIns="0" bIns="0" anchor="ctr">
            <a:spAutoFit/>
          </a:bodyPr>
          <a:lstStyle/>
          <a:p>
            <a:pPr algn="ctr"/>
            <a:r>
              <a:rPr sz="1839" b="0">
                <a:solidFill>
                  <a:srgbClr val="B5C3D8"/>
                </a:solidFill>
                <a:latin typeface="IBM Plex Sans"/>
              </a:rPr>
              <a:t>0.35</a:t>
            </a:r>
          </a:p>
        </p:txBody>
      </p:sp>
      <p:sp>
        <p:nvSpPr>
          <p:cNvPr id="998" name="TextBox 997"/>
          <p:cNvSpPr txBox="1"/>
          <p:nvPr/>
        </p:nvSpPr>
        <p:spPr>
          <a:xfrm>
            <a:off x="9482328" y="3973068"/>
            <a:ext cx="1572768" cy="320040"/>
          </a:xfrm>
          <a:prstGeom prst="rect">
            <a:avLst/>
          </a:prstGeom>
          <a:noFill/>
        </p:spPr>
        <p:txBody>
          <a:bodyPr wrap="square" lIns="0" rIns="0" tIns="0" bIns="0" anchor="ctr">
            <a:spAutoFit/>
          </a:bodyPr>
          <a:lstStyle/>
          <a:p>
            <a:pPr algn="ctr"/>
            <a:r>
              <a:rPr sz="1839" b="0">
                <a:solidFill>
                  <a:srgbClr val="B5C3D8"/>
                </a:solidFill>
                <a:latin typeface="IBM Plex Sans"/>
              </a:rPr>
              <a:t>0.44</a:t>
            </a:r>
          </a:p>
        </p:txBody>
      </p:sp>
      <p:sp>
        <p:nvSpPr>
          <p:cNvPr id="999" name="Rectangle 998"/>
          <p:cNvSpPr/>
          <p:nvPr/>
        </p:nvSpPr>
        <p:spPr>
          <a:xfrm>
            <a:off x="1014984" y="4507992"/>
            <a:ext cx="10094976" cy="512064"/>
          </a:xfrm>
          <a:prstGeom prst="rect">
            <a:avLst/>
          </a:prstGeom>
          <a:solidFill>
            <a:srgbClr val="263E62"/>
          </a:solidFill>
          <a:ln w="9525">
            <a:solidFill>
              <a:srgbClr val="7AA1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0" name="TextBox 999"/>
          <p:cNvSpPr txBox="1"/>
          <p:nvPr/>
        </p:nvSpPr>
        <p:spPr>
          <a:xfrm>
            <a:off x="1143000" y="4544568"/>
            <a:ext cx="3456432" cy="274320"/>
          </a:xfrm>
          <a:prstGeom prst="rect">
            <a:avLst/>
          </a:prstGeom>
          <a:noFill/>
        </p:spPr>
        <p:txBody>
          <a:bodyPr wrap="square" lIns="0" rIns="0" tIns="0" bIns="0" anchor="ctr">
            <a:spAutoFit/>
          </a:bodyPr>
          <a:lstStyle/>
          <a:p>
            <a:r>
              <a:rPr sz="1800" b="1">
                <a:solidFill>
                  <a:srgbClr val="EAF1FA"/>
                </a:solidFill>
                <a:latin typeface="IBM Plex Sans"/>
              </a:rPr>
              <a:t>RIGOR</a:t>
            </a:r>
          </a:p>
        </p:txBody>
      </p:sp>
      <p:sp>
        <p:nvSpPr>
          <p:cNvPr id="1001" name="TextBox 1000"/>
          <p:cNvSpPr txBox="1"/>
          <p:nvPr/>
        </p:nvSpPr>
        <p:spPr>
          <a:xfrm>
            <a:off x="4389120" y="4581144"/>
            <a:ext cx="1005840" cy="246888"/>
          </a:xfrm>
          <a:prstGeom prst="rect">
            <a:avLst/>
          </a:prstGeom>
          <a:noFill/>
        </p:spPr>
        <p:txBody>
          <a:bodyPr wrap="square" lIns="0" rIns="0" tIns="0" bIns="0" anchor="ctr">
            <a:spAutoFit/>
          </a:bodyPr>
          <a:lstStyle/>
          <a:p>
            <a:r>
              <a:rPr sz="1130" b="0">
                <a:solidFill>
                  <a:srgbClr val="7AA1F4"/>
                </a:solidFill>
                <a:latin typeface="IBM Plex Sans"/>
              </a:rPr>
              <a:t>LLM + rules</a:t>
            </a:r>
          </a:p>
        </p:txBody>
      </p:sp>
      <p:sp>
        <p:nvSpPr>
          <p:cNvPr id="1002" name="TextBox 1001"/>
          <p:cNvSpPr txBox="1"/>
          <p:nvPr/>
        </p:nvSpPr>
        <p:spPr>
          <a:xfrm>
            <a:off x="5541264" y="4530852"/>
            <a:ext cx="1572768" cy="320040"/>
          </a:xfrm>
          <a:prstGeom prst="rect">
            <a:avLst/>
          </a:prstGeom>
          <a:noFill/>
        </p:spPr>
        <p:txBody>
          <a:bodyPr wrap="square" lIns="0" rIns="0" tIns="0" bIns="0" anchor="ctr">
            <a:spAutoFit/>
          </a:bodyPr>
          <a:lstStyle/>
          <a:p>
            <a:pPr algn="ctr"/>
            <a:r>
              <a:rPr sz="2000" b="1">
                <a:solidFill>
                  <a:srgbClr val="EAF1FA"/>
                </a:solidFill>
                <a:latin typeface="IBM Plex Sans"/>
              </a:rPr>
              <a:t>0.73</a:t>
            </a:r>
          </a:p>
        </p:txBody>
      </p:sp>
      <p:sp>
        <p:nvSpPr>
          <p:cNvPr id="1003" name="TextBox 1002"/>
          <p:cNvSpPr txBox="1"/>
          <p:nvPr/>
        </p:nvSpPr>
        <p:spPr>
          <a:xfrm>
            <a:off x="7488936" y="4530852"/>
            <a:ext cx="1572768" cy="320040"/>
          </a:xfrm>
          <a:prstGeom prst="rect">
            <a:avLst/>
          </a:prstGeom>
          <a:noFill/>
        </p:spPr>
        <p:txBody>
          <a:bodyPr wrap="square" lIns="0" rIns="0" tIns="0" bIns="0" anchor="ctr">
            <a:spAutoFit/>
          </a:bodyPr>
          <a:lstStyle/>
          <a:p>
            <a:pPr algn="ctr"/>
            <a:r>
              <a:rPr sz="2000" b="1">
                <a:solidFill>
                  <a:srgbClr val="EAF1FA"/>
                </a:solidFill>
                <a:latin typeface="IBM Plex Sans"/>
              </a:rPr>
              <a:t>0.67</a:t>
            </a:r>
          </a:p>
        </p:txBody>
      </p:sp>
      <p:sp>
        <p:nvSpPr>
          <p:cNvPr id="1004" name="TextBox 1003"/>
          <p:cNvSpPr txBox="1"/>
          <p:nvPr/>
        </p:nvSpPr>
        <p:spPr>
          <a:xfrm>
            <a:off x="9482328" y="4530852"/>
            <a:ext cx="1572768" cy="320040"/>
          </a:xfrm>
          <a:prstGeom prst="rect">
            <a:avLst/>
          </a:prstGeom>
          <a:noFill/>
        </p:spPr>
        <p:txBody>
          <a:bodyPr wrap="square" lIns="0" rIns="0" tIns="0" bIns="0" anchor="ctr">
            <a:spAutoFit/>
          </a:bodyPr>
          <a:lstStyle/>
          <a:p>
            <a:pPr algn="ctr"/>
            <a:r>
              <a:rPr sz="2000" b="1">
                <a:solidFill>
                  <a:srgbClr val="EAF1FA"/>
                </a:solidFill>
                <a:latin typeface="IBM Plex Sans"/>
              </a:rPr>
              <a:t>0.52</a:t>
            </a:r>
          </a:p>
        </p:txBody>
      </p:sp>
      <p:sp>
        <p:nvSpPr>
          <p:cNvPr id="1005" name="Rounded Rectangle 1004"/>
          <p:cNvSpPr/>
          <p:nvPr/>
        </p:nvSpPr>
        <p:spPr>
          <a:xfrm>
            <a:off x="841248" y="5422392"/>
            <a:ext cx="10497312" cy="457200"/>
          </a:xfrm>
          <a:prstGeom prst="roundRect">
            <a:avLst/>
          </a:prstGeom>
          <a:solidFill>
            <a:srgbClr val="0E1726"/>
          </a:solidFill>
          <a:ln w="12700">
            <a:solidFill>
              <a:srgbClr val="576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6" name="TextBox 1005"/>
          <p:cNvSpPr txBox="1"/>
          <p:nvPr/>
        </p:nvSpPr>
        <p:spPr>
          <a:xfrm>
            <a:off x="1014984" y="5486400"/>
            <a:ext cx="10131552" cy="310896"/>
          </a:xfrm>
          <a:prstGeom prst="rect">
            <a:avLst/>
          </a:prstGeom>
          <a:noFill/>
        </p:spPr>
        <p:txBody>
          <a:bodyPr wrap="square" lIns="0" rIns="0" tIns="0" bIns="0" anchor="ctr">
            <a:spAutoFit/>
          </a:bodyPr>
          <a:lstStyle/>
          <a:p>
            <a:r>
              <a:rPr sz="1280" b="0">
                <a:solidFill>
                  <a:srgbClr val="B5C3D8"/>
                </a:solidFill>
                <a:latin typeface="IBM Plex Sans"/>
              </a:rPr>
              <a:t>One scenario · 9 tables · 46 columns · 11 FKs · Claude · provenance exported as D2RQ mappings</a:t>
            </a: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4F7"/>
        </a:solidFill>
      </p:bgPr>
    </p:bg>
    <p:spTree>
      <p:nvGrpSpPr>
        <p:cNvPr id="1012" name="Shape 1012"/>
        <p:cNvGrpSpPr/>
        <p:nvPr/>
      </p:nvGrpSpPr>
      <p:grpSpPr>
        <a:xfrm>
          <a:off x="0" y="0"/>
          <a:ext cx="0" cy="0"/>
          <a:chOff x="0" y="0"/>
          <a:chExt cx="0" cy="0"/>
        </a:xfrm>
      </p:grpSpPr>
      <p:sp>
        <p:nvSpPr>
          <p:cNvPr id="1013" name="Google Shape;1013;p22"/>
          <p:cNvSpPr txBox="1"/>
          <p:nvPr/>
        </p:nvSpPr>
        <p:spPr>
          <a:xfrm>
            <a:off x="813816" y="493776"/>
            <a:ext cx="10607040" cy="310896"/>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lang="en-US" sz="1400">
                <a:solidFill>
                  <a:srgbClr val="4D71DE"/>
                </a:solidFill>
                <a:latin typeface="IBM Plex Mono"/>
                <a:ea typeface="IBM Plex Mono"/>
                <a:cs typeface="IBM Plex Mono"/>
                <a:sym typeface="IBM Plex Mono"/>
              </a:rPr>
              <a:t>LIMITS  /  NEXT STEPS</a:t>
            </a:r>
            <a:endParaRPr/>
          </a:p>
        </p:txBody>
      </p:sp>
      <p:sp>
        <p:nvSpPr>
          <p:cNvPr id="1014" name="Google Shape;1014;p22"/>
          <p:cNvSpPr txBox="1"/>
          <p:nvPr/>
        </p:nvSpPr>
        <p:spPr>
          <a:xfrm>
            <a:off x="813816" y="923544"/>
            <a:ext cx="10698480" cy="640080"/>
          </a:xfrm>
          <a:prstGeom prst="rect">
            <a:avLst/>
          </a:prstGeom>
          <a:noFill/>
          <a:ln>
            <a:noFill/>
          </a:ln>
        </p:spPr>
        <p:txBody>
          <a:bodyPr anchorCtr="0" anchor="t" bIns="0" lIns="0" spcFirstLastPara="1" rIns="0" wrap="square" tIns="0">
            <a:spAutoFit/>
          </a:bodyPr>
          <a:lstStyle/>
          <a:p>
            <a:pPr indent="0" lvl="0" marL="0" marR="0" rtl="0" algn="l">
              <a:lnSpc>
                <a:spcPct val="106000"/>
              </a:lnSpc>
              <a:spcBef>
                <a:spcPts val="0"/>
              </a:spcBef>
              <a:spcAft>
                <a:spcPts val="0"/>
              </a:spcAft>
              <a:buNone/>
            </a:pPr>
            <a:r>
              <a:rPr b="1" lang="en-US" sz="3000">
                <a:solidFill>
                  <a:srgbClr val="111A28"/>
                </a:solidFill>
                <a:latin typeface="IBM Plex Sans"/>
                <a:ea typeface="IBM Plex Sans"/>
                <a:cs typeface="IBM Plex Sans"/>
                <a:sym typeface="IBM Plex Sans"/>
              </a:rPr>
              <a:t>Two challenges remain.</a:t>
            </a:r>
            <a:endParaRPr/>
          </a:p>
        </p:txBody>
      </p:sp>
      <p:sp>
        <p:nvSpPr>
          <p:cNvPr id="1015" name="Google Shape;1015;p22"/>
          <p:cNvSpPr txBox="1"/>
          <p:nvPr/>
        </p:nvSpPr>
        <p:spPr>
          <a:xfrm>
            <a:off x="822960" y="1709928"/>
            <a:ext cx="10332720" cy="329184"/>
          </a:xfrm>
          <a:prstGeom prst="rect">
            <a:avLst/>
          </a:prstGeom>
          <a:noFill/>
          <a:ln>
            <a:noFill/>
          </a:ln>
        </p:spPr>
        <p:txBody>
          <a:bodyPr anchorCtr="0" anchor="ctr" bIns="0" lIns="0" spcFirstLastPara="1" rIns="0" wrap="square" tIns="0">
            <a:spAutoFit/>
          </a:bodyPr>
          <a:lstStyle/>
          <a:p>
            <a:pPr indent="0" lvl="0" marL="0" marR="0" rtl="0" algn="l">
              <a:lnSpc>
                <a:spcPct val="106000"/>
              </a:lnSpc>
              <a:spcBef>
                <a:spcPts val="0"/>
              </a:spcBef>
              <a:spcAft>
                <a:spcPts val="0"/>
              </a:spcAft>
              <a:buNone/>
            </a:pPr>
            <a:r>
              <a:rPr b="0" lang="en-US" sz="1700">
                <a:solidFill>
                  <a:srgbClr val="5D6879"/>
                </a:solidFill>
                <a:latin typeface="IBM Plex Sans"/>
                <a:ea typeface="IBM Plex Sans"/>
                <a:cs typeface="IBM Plex Sans"/>
                <a:sym typeface="IBM Plex Sans"/>
              </a:rPr>
              <a:t>The direct-mapping backbone is strong. Semantic enrichment is not yet error-free.</a:t>
            </a:r>
            <a:endParaRPr/>
          </a:p>
        </p:txBody>
      </p:sp>
      <p:sp>
        <p:nvSpPr>
          <p:cNvPr id="1016" name="Google Shape;1016;p22"/>
          <p:cNvSpPr/>
          <p:nvPr/>
        </p:nvSpPr>
        <p:spPr>
          <a:xfrm>
            <a:off x="914400" y="2322576"/>
            <a:ext cx="5038344" cy="2450592"/>
          </a:xfrm>
          <a:prstGeom prst="roundRect">
            <a:avLst>
              <a:gd fmla="val 9000" name="adj"/>
            </a:avLst>
          </a:prstGeom>
          <a:solidFill>
            <a:srgbClr val="FFFFFF"/>
          </a:solidFill>
          <a:ln cap="flat" cmpd="sng" w="12700">
            <a:solidFill>
              <a:srgbClr val="DFE5ED"/>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1017" name="Google Shape;1017;p22"/>
          <p:cNvSpPr/>
          <p:nvPr/>
        </p:nvSpPr>
        <p:spPr>
          <a:xfrm>
            <a:off x="914400" y="2322576"/>
            <a:ext cx="5038344" cy="64008"/>
          </a:xfrm>
          <a:prstGeom prst="rect">
            <a:avLst/>
          </a:prstGeom>
          <a:solidFill>
            <a:srgbClr val="4D71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1018" name="Google Shape;1018;p22"/>
          <p:cNvSpPr txBox="1"/>
          <p:nvPr/>
        </p:nvSpPr>
        <p:spPr>
          <a:xfrm>
            <a:off x="1133856" y="2551176"/>
            <a:ext cx="4535424" cy="292608"/>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lang="en-US" sz="1520">
                <a:solidFill>
                  <a:srgbClr val="4D71DE"/>
                </a:solidFill>
                <a:latin typeface="IBM Plex Mono"/>
                <a:ea typeface="IBM Plex Mono"/>
                <a:cs typeface="IBM Plex Mono"/>
                <a:sym typeface="IBM Plex Mono"/>
              </a:rPr>
              <a:t>PRESERVING COVERAGE</a:t>
            </a:r>
            <a:endParaRPr/>
          </a:p>
        </p:txBody>
      </p:sp>
      <p:sp>
        <p:nvSpPr>
          <p:cNvPr id="1019" name="Google Shape;1019;p22"/>
          <p:cNvSpPr txBox="1"/>
          <p:nvPr/>
        </p:nvSpPr>
        <p:spPr>
          <a:xfrm>
            <a:off x="1133856" y="2926080"/>
            <a:ext cx="4526280" cy="566928"/>
          </a:xfrm>
          <a:prstGeom prst="rect">
            <a:avLst/>
          </a:prstGeom>
          <a:noFill/>
          <a:ln>
            <a:noFill/>
          </a:ln>
        </p:spPr>
        <p:txBody>
          <a:bodyPr anchorCtr="0" anchor="ctr" bIns="0" lIns="0" spcFirstLastPara="1" rIns="0" wrap="square" tIns="0">
            <a:spAutoFit/>
          </a:bodyPr>
          <a:lstStyle/>
          <a:p>
            <a:pPr indent="0" lvl="0" marL="0" marR="0" rtl="0" algn="l">
              <a:lnSpc>
                <a:spcPct val="106000"/>
              </a:lnSpc>
              <a:spcBef>
                <a:spcPts val="0"/>
              </a:spcBef>
              <a:spcAft>
                <a:spcPts val="0"/>
              </a:spcAft>
              <a:buNone/>
            </a:pPr>
            <a:r>
              <a:rPr b="1" lang="en-US" sz="2900">
                <a:solidFill>
                  <a:srgbClr val="111A28"/>
                </a:solidFill>
                <a:latin typeface="IBM Plex Sans"/>
                <a:ea typeface="IBM Plex Sans"/>
                <a:cs typeface="IBM Plex Sans"/>
                <a:sym typeface="IBM Plex Sans"/>
              </a:rPr>
              <a:t>0.77–1.00</a:t>
            </a:r>
            <a:endParaRPr/>
          </a:p>
        </p:txBody>
      </p:sp>
      <p:sp>
        <p:nvSpPr>
          <p:cNvPr id="1020" name="Google Shape;1020;p22"/>
          <p:cNvSpPr txBox="1"/>
          <p:nvPr/>
        </p:nvSpPr>
        <p:spPr>
          <a:xfrm>
            <a:off x="1133856" y="3621024"/>
            <a:ext cx="4562856" cy="658368"/>
          </a:xfrm>
          <a:prstGeom prst="rect">
            <a:avLst/>
          </a:prstGeom>
          <a:noFill/>
          <a:ln>
            <a:noFill/>
          </a:ln>
        </p:spPr>
        <p:txBody>
          <a:bodyPr anchorCtr="0" anchor="t" bIns="0" lIns="0" spcFirstLastPara="1" rIns="0" wrap="square" tIns="0">
            <a:spAutoFit/>
          </a:bodyPr>
          <a:lstStyle/>
          <a:p>
            <a:pPr indent="0" lvl="0" marL="0" marR="0" rtl="0" algn="l">
              <a:lnSpc>
                <a:spcPct val="106000"/>
              </a:lnSpc>
              <a:spcBef>
                <a:spcPts val="0"/>
              </a:spcBef>
              <a:spcAft>
                <a:spcPts val="0"/>
              </a:spcAft>
              <a:buNone/>
            </a:pPr>
            <a:r>
              <a:rPr b="0" lang="en-US" sz="1510">
                <a:solidFill>
                  <a:srgbClr val="5D6879"/>
                </a:solidFill>
                <a:latin typeface="IBM Plex Sans"/>
                <a:ea typeface="IBM Plex Sans"/>
                <a:cs typeface="IBM Plex Sans"/>
                <a:sym typeface="IBM Plex Sans"/>
              </a:rPr>
              <a:t>Measured column coverage after enrichment; the cleaned direct-mapping seed is complete by construction.</a:t>
            </a:r>
            <a:endParaRPr/>
          </a:p>
        </p:txBody>
      </p:sp>
      <p:sp>
        <p:nvSpPr>
          <p:cNvPr id="1021" name="Google Shape;1021;p22"/>
          <p:cNvSpPr/>
          <p:nvPr/>
        </p:nvSpPr>
        <p:spPr>
          <a:xfrm>
            <a:off x="914400" y="5029200"/>
            <a:ext cx="5038344" cy="585216"/>
          </a:xfrm>
          <a:prstGeom prst="roundRect">
            <a:avLst>
              <a:gd fmla="val 9000" name="adj"/>
            </a:avLst>
          </a:prstGeom>
          <a:solidFill>
            <a:srgbClr val="E4EB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1022" name="Google Shape;1022;p22"/>
          <p:cNvSpPr txBox="1"/>
          <p:nvPr/>
        </p:nvSpPr>
        <p:spPr>
          <a:xfrm>
            <a:off x="1078992" y="5074920"/>
            <a:ext cx="4700016" cy="438912"/>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0" lang="en-US" sz="1550">
                <a:solidFill>
                  <a:srgbClr val="111A28"/>
                </a:solidFill>
                <a:latin typeface="IBM Plex Sans"/>
                <a:ea typeface="IBM Plex Sans"/>
                <a:cs typeface="IBM Plex Sans"/>
                <a:sym typeface="IBM Plex Sans"/>
              </a:rPr>
              <a:t>NEXT  ·  Strengthen coverage checks for each fragment.</a:t>
            </a:r>
            <a:endParaRPr/>
          </a:p>
        </p:txBody>
      </p:sp>
      <p:sp>
        <p:nvSpPr>
          <p:cNvPr id="1023" name="Google Shape;1023;p22"/>
          <p:cNvSpPr/>
          <p:nvPr/>
        </p:nvSpPr>
        <p:spPr>
          <a:xfrm>
            <a:off x="6208776" y="2322576"/>
            <a:ext cx="5038344" cy="2450592"/>
          </a:xfrm>
          <a:prstGeom prst="roundRect">
            <a:avLst>
              <a:gd fmla="val 9000" name="adj"/>
            </a:avLst>
          </a:prstGeom>
          <a:solidFill>
            <a:srgbClr val="FFFFFF"/>
          </a:solidFill>
          <a:ln cap="flat" cmpd="sng" w="12700">
            <a:solidFill>
              <a:srgbClr val="DFE5ED"/>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1024" name="Google Shape;1024;p22"/>
          <p:cNvSpPr/>
          <p:nvPr/>
        </p:nvSpPr>
        <p:spPr>
          <a:xfrm>
            <a:off x="6208776" y="2322576"/>
            <a:ext cx="5038344" cy="64008"/>
          </a:xfrm>
          <a:prstGeom prst="rect">
            <a:avLst/>
          </a:prstGeom>
          <a:solidFill>
            <a:srgbClr val="4D71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1025" name="Google Shape;1025;p22"/>
          <p:cNvSpPr txBox="1"/>
          <p:nvPr/>
        </p:nvSpPr>
        <p:spPr>
          <a:xfrm>
            <a:off x="6428232" y="2551176"/>
            <a:ext cx="4535424" cy="292608"/>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1" lang="en-US" sz="1520">
                <a:solidFill>
                  <a:srgbClr val="4D71DE"/>
                </a:solidFill>
                <a:latin typeface="IBM Plex Mono"/>
                <a:ea typeface="IBM Plex Mono"/>
                <a:cs typeface="IBM Plex Mono"/>
                <a:sym typeface="IBM Plex Mono"/>
              </a:rPr>
              <a:t>CATCHING SEMANTIC ERRORS</a:t>
            </a:r>
            <a:endParaRPr/>
          </a:p>
        </p:txBody>
      </p:sp>
      <p:sp>
        <p:nvSpPr>
          <p:cNvPr id="1026" name="Google Shape;1026;p22"/>
          <p:cNvSpPr txBox="1"/>
          <p:nvPr/>
        </p:nvSpPr>
        <p:spPr>
          <a:xfrm>
            <a:off x="6428232" y="2926080"/>
            <a:ext cx="4526280" cy="566928"/>
          </a:xfrm>
          <a:prstGeom prst="rect">
            <a:avLst/>
          </a:prstGeom>
          <a:noFill/>
          <a:ln>
            <a:noFill/>
          </a:ln>
        </p:spPr>
        <p:txBody>
          <a:bodyPr anchorCtr="0" anchor="ctr" bIns="0" lIns="0" spcFirstLastPara="1" rIns="0" wrap="square" tIns="0">
            <a:spAutoFit/>
          </a:bodyPr>
          <a:lstStyle/>
          <a:p>
            <a:pPr indent="0" lvl="0" marL="0" marR="0" rtl="0" algn="l">
              <a:lnSpc>
                <a:spcPct val="106000"/>
              </a:lnSpc>
              <a:spcBef>
                <a:spcPts val="0"/>
              </a:spcBef>
              <a:spcAft>
                <a:spcPts val="0"/>
              </a:spcAft>
              <a:buNone/>
            </a:pPr>
            <a:r>
              <a:rPr b="1" lang="en-US" sz="2900">
                <a:solidFill>
                  <a:srgbClr val="111A28"/>
                </a:solidFill>
                <a:latin typeface="IBM Plex Sans"/>
                <a:ea typeface="IBM Plex Sans"/>
                <a:cs typeface="IBM Plex Sans"/>
                <a:sym typeface="IBM Plex Sans"/>
              </a:rPr>
              <a:t>3 of 9</a:t>
            </a:r>
            <a:endParaRPr/>
          </a:p>
        </p:txBody>
      </p:sp>
      <p:sp>
        <p:nvSpPr>
          <p:cNvPr id="1027" name="Google Shape;1027;p22"/>
          <p:cNvSpPr txBox="1"/>
          <p:nvPr/>
        </p:nvSpPr>
        <p:spPr>
          <a:xfrm>
            <a:off x="6428232" y="3621024"/>
            <a:ext cx="4562856" cy="658368"/>
          </a:xfrm>
          <a:prstGeom prst="rect">
            <a:avLst/>
          </a:prstGeom>
          <a:noFill/>
          <a:ln>
            <a:noFill/>
          </a:ln>
        </p:spPr>
        <p:txBody>
          <a:bodyPr anchorCtr="0" anchor="t" bIns="0" lIns="0" spcFirstLastPara="1" rIns="0" wrap="square" tIns="0">
            <a:spAutoFit/>
          </a:bodyPr>
          <a:lstStyle/>
          <a:p>
            <a:pPr indent="0" lvl="0" marL="0" marR="0" rtl="0" algn="l">
              <a:lnSpc>
                <a:spcPct val="106000"/>
              </a:lnSpc>
              <a:spcBef>
                <a:spcPts val="0"/>
              </a:spcBef>
              <a:spcAft>
                <a:spcPts val="0"/>
              </a:spcAft>
              <a:buNone/>
            </a:pPr>
            <a:r>
              <a:rPr b="0" lang="en-US" sz="1510">
                <a:solidFill>
                  <a:srgbClr val="5D6879"/>
                </a:solidFill>
                <a:latin typeface="IBM Plex Sans"/>
                <a:ea typeface="IBM Plex Sans"/>
                <a:cs typeface="IBM Plex Sans"/>
                <a:sym typeface="IBM Plex Sans"/>
              </a:rPr>
              <a:t>RIGOR runs still contain critical P19 pitfalls; justified disjointness is rarely generated.</a:t>
            </a:r>
            <a:endParaRPr/>
          </a:p>
        </p:txBody>
      </p:sp>
      <p:sp>
        <p:nvSpPr>
          <p:cNvPr id="1028" name="Google Shape;1028;p22"/>
          <p:cNvSpPr/>
          <p:nvPr/>
        </p:nvSpPr>
        <p:spPr>
          <a:xfrm>
            <a:off x="6208776" y="5029200"/>
            <a:ext cx="5038344" cy="585216"/>
          </a:xfrm>
          <a:prstGeom prst="roundRect">
            <a:avLst>
              <a:gd fmla="val 9000" name="adj"/>
            </a:avLst>
          </a:prstGeom>
          <a:solidFill>
            <a:srgbClr val="E4EB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1029" name="Google Shape;1029;p22"/>
          <p:cNvSpPr txBox="1"/>
          <p:nvPr/>
        </p:nvSpPr>
        <p:spPr>
          <a:xfrm>
            <a:off x="6373368" y="5074920"/>
            <a:ext cx="4700016" cy="438912"/>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0" lang="en-US" sz="1550">
                <a:solidFill>
                  <a:srgbClr val="111A28"/>
                </a:solidFill>
                <a:latin typeface="IBM Plex Sans"/>
                <a:ea typeface="IBM Plex Sans"/>
                <a:cs typeface="IBM Plex Sans"/>
                <a:sym typeface="IBM Plex Sans"/>
              </a:rPr>
              <a:t>NEXT  ·  Add tool feedback and symbolic reasoning.</a:t>
            </a:r>
            <a:endParaRPr/>
          </a:p>
        </p:txBody>
      </p:sp>
      <p:sp>
        <p:nvSpPr>
          <p:cNvPr id="1030" name="Google Shape;1030;p22"/>
          <p:cNvSpPr txBox="1"/>
          <p:nvPr/>
        </p:nvSpPr>
        <p:spPr>
          <a:xfrm>
            <a:off x="932688" y="5852160"/>
            <a:ext cx="10058400" cy="292608"/>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0" lang="en-US" sz="1520">
                <a:solidFill>
                  <a:srgbClr val="5D6879"/>
                </a:solidFill>
                <a:latin typeface="IBM Plex Sans"/>
                <a:ea typeface="IBM Plex Sans"/>
                <a:cs typeface="IBM Plex Sans"/>
                <a:sym typeface="IBM Plex Sans"/>
              </a:rPr>
              <a:t>Expert study: 4 medical tables. Downstream applications remain untested.</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1726"/>
        </a:solidFill>
      </p:bgPr>
    </p:bg>
    <p:spTree>
      <p:nvGrpSpPr>
        <p:cNvPr id="1035" name="Shape 1035"/>
        <p:cNvGrpSpPr/>
        <p:nvPr/>
      </p:nvGrpSpPr>
      <p:grpSpPr>
        <a:xfrm>
          <a:off x="0" y="0"/>
          <a:ext cx="0" cy="0"/>
          <a:chOff x="0" y="0"/>
          <a:chExt cx="0" cy="0"/>
        </a:xfrm>
      </p:grpSpPr>
      <p:sp>
        <p:nvSpPr>
          <p:cNvPr id="1036" name="TextBox 1035"/>
          <p:cNvSpPr txBox="1"/>
          <p:nvPr/>
        </p:nvSpPr>
        <p:spPr>
          <a:xfrm>
            <a:off x="813816" y="466344"/>
            <a:ext cx="10515600" cy="310896"/>
          </a:xfrm>
          <a:prstGeom prst="rect">
            <a:avLst/>
          </a:prstGeom>
          <a:noFill/>
        </p:spPr>
        <p:txBody>
          <a:bodyPr wrap="square" lIns="0" rIns="0" tIns="0" bIns="0" anchor="ctr">
            <a:spAutoFit/>
          </a:bodyPr>
          <a:lstStyle/>
          <a:p>
            <a:r>
              <a:rPr sz="1400" b="1">
                <a:solidFill>
                  <a:srgbClr val="FF9F52"/>
                </a:solidFill>
                <a:latin typeface="IBM Plex Mono"/>
              </a:rPr>
              <a:t>RIGOR  /  ISWC 2026</a:t>
            </a:r>
          </a:p>
        </p:txBody>
      </p:sp>
      <p:sp>
        <p:nvSpPr>
          <p:cNvPr id="1037" name="TextBox 1036"/>
          <p:cNvSpPr txBox="1"/>
          <p:nvPr/>
        </p:nvSpPr>
        <p:spPr>
          <a:xfrm>
            <a:off x="813816" y="914400"/>
            <a:ext cx="6766560" cy="758952"/>
          </a:xfrm>
          <a:prstGeom prst="rect">
            <a:avLst/>
          </a:prstGeom>
          <a:noFill/>
        </p:spPr>
        <p:txBody>
          <a:bodyPr wrap="square" lIns="0" rIns="0" tIns="0" bIns="0" anchor="ctr">
            <a:spAutoFit/>
          </a:bodyPr>
          <a:lstStyle/>
          <a:p>
            <a:r>
              <a:rPr sz="4600" b="1">
                <a:solidFill>
                  <a:srgbClr val="EAF1FA"/>
                </a:solidFill>
                <a:latin typeface="IBM Plex Sans"/>
              </a:rPr>
              <a:t>Thank you.</a:t>
            </a:r>
          </a:p>
        </p:txBody>
      </p:sp>
      <p:sp>
        <p:nvSpPr>
          <p:cNvPr id="1038" name="TextBox 1037"/>
          <p:cNvSpPr txBox="1"/>
          <p:nvPr/>
        </p:nvSpPr>
        <p:spPr>
          <a:xfrm>
            <a:off x="841248" y="1773936"/>
            <a:ext cx="6949440" cy="493776"/>
          </a:xfrm>
          <a:prstGeom prst="rect">
            <a:avLst/>
          </a:prstGeom>
          <a:noFill/>
        </p:spPr>
        <p:txBody>
          <a:bodyPr wrap="square" lIns="0" rIns="0" tIns="0" bIns="0" anchor="ctr">
            <a:spAutoFit/>
          </a:bodyPr>
          <a:lstStyle/>
          <a:p>
            <a:r>
              <a:rPr sz="2600" b="0">
                <a:solidFill>
                  <a:srgbClr val="7AA1F4"/>
                </a:solidFill>
                <a:latin typeface="IBM Plex Sans"/>
              </a:rPr>
              <a:t>Questions?</a:t>
            </a:r>
          </a:p>
        </p:txBody>
      </p:sp>
      <p:sp>
        <p:nvSpPr>
          <p:cNvPr id="1039" name="Rounded Rectangle 1038"/>
          <p:cNvSpPr/>
          <p:nvPr/>
        </p:nvSpPr>
        <p:spPr>
          <a:xfrm>
            <a:off x="822960" y="2532888"/>
            <a:ext cx="7114032" cy="2560320"/>
          </a:xfrm>
          <a:prstGeom prst="roundRect">
            <a:avLst/>
          </a:prstGeom>
          <a:solidFill>
            <a:srgbClr val="1A2B45"/>
          </a:solidFill>
          <a:ln w="12700">
            <a:solidFill>
              <a:srgbClr val="485B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0" name="TextBox 1039"/>
          <p:cNvSpPr txBox="1"/>
          <p:nvPr/>
        </p:nvSpPr>
        <p:spPr>
          <a:xfrm>
            <a:off x="1078992" y="2743200"/>
            <a:ext cx="6537960" cy="329184"/>
          </a:xfrm>
          <a:prstGeom prst="rect">
            <a:avLst/>
          </a:prstGeom>
          <a:noFill/>
        </p:spPr>
        <p:txBody>
          <a:bodyPr wrap="square" lIns="0" rIns="0" tIns="0" bIns="0" anchor="ctr">
            <a:spAutoFit/>
          </a:bodyPr>
          <a:lstStyle/>
          <a:p>
            <a:r>
              <a:rPr sz="1450" b="1">
                <a:solidFill>
                  <a:srgbClr val="7AA1F4"/>
                </a:solidFill>
                <a:latin typeface="IBM Plex Mono"/>
              </a:rPr>
              <a:t>FROM A DATABASE SCHEMA TO AN ONTOLOGY</a:t>
            </a:r>
          </a:p>
        </p:txBody>
      </p:sp>
      <p:sp>
        <p:nvSpPr>
          <p:cNvPr id="1041" name="Rounded Rectangle 1040"/>
          <p:cNvSpPr/>
          <p:nvPr/>
        </p:nvSpPr>
        <p:spPr>
          <a:xfrm>
            <a:off x="1143000" y="3264408"/>
            <a:ext cx="1874519" cy="914400"/>
          </a:xfrm>
          <a:prstGeom prst="roundRect">
            <a:avLst/>
          </a:prstGeom>
          <a:solidFill>
            <a:srgbClr val="233754"/>
          </a:solidFill>
          <a:ln w="12700">
            <a:solidFill>
              <a:srgbClr val="7AA1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2" name="TextBox 1041"/>
          <p:cNvSpPr txBox="1"/>
          <p:nvPr/>
        </p:nvSpPr>
        <p:spPr>
          <a:xfrm>
            <a:off x="1280160" y="3355848"/>
            <a:ext cx="1600200" cy="274320"/>
          </a:xfrm>
          <a:prstGeom prst="rect">
            <a:avLst/>
          </a:prstGeom>
          <a:noFill/>
        </p:spPr>
        <p:txBody>
          <a:bodyPr wrap="square" lIns="0" rIns="0" tIns="0" bIns="0" anchor="ctr">
            <a:spAutoFit/>
          </a:bodyPr>
          <a:lstStyle/>
          <a:p>
            <a:r>
              <a:rPr sz="1900" b="1">
                <a:solidFill>
                  <a:srgbClr val="EAF1FA"/>
                </a:solidFill>
                <a:latin typeface="IBM Plex Sans"/>
              </a:rPr>
              <a:t>admission</a:t>
            </a:r>
          </a:p>
        </p:txBody>
      </p:sp>
      <p:sp>
        <p:nvSpPr>
          <p:cNvPr id="1043" name="TextBox 1042"/>
          <p:cNvSpPr txBox="1"/>
          <p:nvPr/>
        </p:nvSpPr>
        <p:spPr>
          <a:xfrm>
            <a:off x="1280160" y="3675887"/>
            <a:ext cx="1554480" cy="219456"/>
          </a:xfrm>
          <a:prstGeom prst="rect">
            <a:avLst/>
          </a:prstGeom>
          <a:noFill/>
        </p:spPr>
        <p:txBody>
          <a:bodyPr wrap="square" lIns="0" rIns="0" tIns="0" bIns="0" anchor="ctr">
            <a:spAutoFit/>
          </a:bodyPr>
          <a:lstStyle/>
          <a:p>
            <a:r>
              <a:rPr sz="1230" b="0">
                <a:solidFill>
                  <a:srgbClr val="B5C3D8"/>
                </a:solidFill>
                <a:latin typeface="IBM Plex Mono"/>
              </a:rPr>
              <a:t>patient_id  FK</a:t>
            </a:r>
          </a:p>
        </p:txBody>
      </p:sp>
      <p:sp>
        <p:nvSpPr>
          <p:cNvPr id="1044" name="Chevron 1043"/>
          <p:cNvSpPr/>
          <p:nvPr/>
        </p:nvSpPr>
        <p:spPr>
          <a:xfrm>
            <a:off x="3282696" y="3483864"/>
            <a:ext cx="621792" cy="411480"/>
          </a:xfrm>
          <a:prstGeom prst="chevron">
            <a:avLst/>
          </a:prstGeom>
          <a:solidFill>
            <a:srgbClr val="FF9F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5" name="TextBox 1044"/>
          <p:cNvSpPr txBox="1"/>
          <p:nvPr/>
        </p:nvSpPr>
        <p:spPr>
          <a:xfrm>
            <a:off x="3291840" y="3986784"/>
            <a:ext cx="685800" cy="228600"/>
          </a:xfrm>
          <a:prstGeom prst="rect">
            <a:avLst/>
          </a:prstGeom>
          <a:noFill/>
        </p:spPr>
        <p:txBody>
          <a:bodyPr wrap="square" lIns="0" rIns="0" tIns="0" bIns="0" anchor="ctr">
            <a:spAutoFit/>
          </a:bodyPr>
          <a:lstStyle/>
          <a:p>
            <a:pPr algn="ctr"/>
            <a:r>
              <a:rPr sz="1200" b="1">
                <a:solidFill>
                  <a:srgbClr val="FF9F52"/>
                </a:solidFill>
                <a:latin typeface="IBM Plex Mono"/>
              </a:rPr>
              <a:t>RIGOR</a:t>
            </a:r>
          </a:p>
        </p:txBody>
      </p:sp>
      <p:sp>
        <p:nvSpPr>
          <p:cNvPr id="1046" name="Rounded Rectangle 1045"/>
          <p:cNvSpPr/>
          <p:nvPr/>
        </p:nvSpPr>
        <p:spPr>
          <a:xfrm>
            <a:off x="4206240" y="3264408"/>
            <a:ext cx="3383280" cy="914400"/>
          </a:xfrm>
          <a:prstGeom prst="roundRect">
            <a:avLst/>
          </a:prstGeom>
          <a:solidFill>
            <a:srgbClr val="233754"/>
          </a:solidFill>
          <a:ln w="12700">
            <a:solidFill>
              <a:srgbClr val="7AA1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7" name="TextBox 1046"/>
          <p:cNvSpPr txBox="1"/>
          <p:nvPr/>
        </p:nvSpPr>
        <p:spPr>
          <a:xfrm>
            <a:off x="4343400" y="3337560"/>
            <a:ext cx="3127248" cy="310896"/>
          </a:xfrm>
          <a:prstGeom prst="rect">
            <a:avLst/>
          </a:prstGeom>
          <a:noFill/>
        </p:spPr>
        <p:txBody>
          <a:bodyPr wrap="square" lIns="0" rIns="0" tIns="0" bIns="0" anchor="ctr">
            <a:spAutoFit/>
          </a:bodyPr>
          <a:lstStyle/>
          <a:p>
            <a:r>
              <a:rPr sz="1700" b="1">
                <a:solidFill>
                  <a:srgbClr val="EAF1FA"/>
                </a:solidFill>
                <a:latin typeface="IBM Plex Sans"/>
              </a:rPr>
              <a:t>Admission → PatientData</a:t>
            </a:r>
          </a:p>
        </p:txBody>
      </p:sp>
      <p:sp>
        <p:nvSpPr>
          <p:cNvPr id="1048" name="TextBox 1047"/>
          <p:cNvSpPr txBox="1"/>
          <p:nvPr/>
        </p:nvSpPr>
        <p:spPr>
          <a:xfrm>
            <a:off x="4343400" y="3675887"/>
            <a:ext cx="3127248" cy="246888"/>
          </a:xfrm>
          <a:prstGeom prst="rect">
            <a:avLst/>
          </a:prstGeom>
          <a:noFill/>
        </p:spPr>
        <p:txBody>
          <a:bodyPr wrap="square" lIns="0" rIns="0" tIns="0" bIns="0" anchor="ctr">
            <a:spAutoFit/>
          </a:bodyPr>
          <a:lstStyle/>
          <a:p>
            <a:r>
              <a:rPr sz="1250" b="0">
                <a:solidFill>
                  <a:srgbClr val="B5C3D8"/>
                </a:solidFill>
                <a:latin typeface="IBM Plex Sans"/>
              </a:rPr>
              <a:t>Meaningful labels + provenance</a:t>
            </a:r>
          </a:p>
        </p:txBody>
      </p:sp>
      <p:sp>
        <p:nvSpPr>
          <p:cNvPr id="1049" name="TextBox 1048"/>
          <p:cNvSpPr txBox="1"/>
          <p:nvPr/>
        </p:nvSpPr>
        <p:spPr>
          <a:xfrm>
            <a:off x="1133856" y="4471416"/>
            <a:ext cx="6364224" cy="320040"/>
          </a:xfrm>
          <a:prstGeom prst="rect">
            <a:avLst/>
          </a:prstGeom>
          <a:noFill/>
        </p:spPr>
        <p:txBody>
          <a:bodyPr wrap="square" lIns="0" rIns="0" tIns="0" bIns="0" anchor="ctr">
            <a:spAutoFit/>
          </a:bodyPr>
          <a:lstStyle/>
          <a:p>
            <a:r>
              <a:rPr sz="1560" b="0">
                <a:solidFill>
                  <a:srgbClr val="EAF1FA"/>
                </a:solidFill>
                <a:latin typeface="IBM Plex Sans"/>
              </a:rPr>
              <a:t>Schema grounding · Retrieved semantics · Validated growth</a:t>
            </a:r>
          </a:p>
        </p:txBody>
      </p:sp>
      <p:sp>
        <p:nvSpPr>
          <p:cNvPr id="1050" name="Rounded Rectangle 1049"/>
          <p:cNvSpPr/>
          <p:nvPr/>
        </p:nvSpPr>
        <p:spPr>
          <a:xfrm>
            <a:off x="8183879" y="2523744"/>
            <a:ext cx="3136392" cy="2871216"/>
          </a:xfrm>
          <a:prstGeom prst="roundRect">
            <a:avLst/>
          </a:prstGeom>
          <a:solidFill>
            <a:srgbClr val="1A2B45"/>
          </a:solidFill>
          <a:ln w="12700">
            <a:solidFill>
              <a:srgbClr val="485B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1" name="TextBox 1050"/>
          <p:cNvSpPr txBox="1"/>
          <p:nvPr/>
        </p:nvSpPr>
        <p:spPr>
          <a:xfrm>
            <a:off x="8403336" y="2724912"/>
            <a:ext cx="2724912" cy="274320"/>
          </a:xfrm>
          <a:prstGeom prst="rect">
            <a:avLst/>
          </a:prstGeom>
          <a:noFill/>
        </p:spPr>
        <p:txBody>
          <a:bodyPr wrap="square" lIns="0" rIns="0" tIns="0" bIns="0" anchor="ctr">
            <a:spAutoFit/>
          </a:bodyPr>
          <a:lstStyle/>
          <a:p>
            <a:r>
              <a:rPr sz="1400" b="1">
                <a:solidFill>
                  <a:srgbClr val="7AA1F4"/>
                </a:solidFill>
                <a:latin typeface="IBM Plex Mono"/>
              </a:rPr>
              <a:t>PAPER + OPEN SOURCE</a:t>
            </a:r>
          </a:p>
        </p:txBody>
      </p:sp>
      <p:pic>
        <p:nvPicPr>
          <p:cNvPr id="1052" name="Picture 1051" descr="image.png"/>
          <p:cNvPicPr>
            <a:picLocks noChangeAspect="1"/>
          </p:cNvPicPr>
          <p:nvPr/>
        </p:nvPicPr>
        <p:blipFill>
          <a:blip r:embed="rId3"/>
          <a:stretch>
            <a:fillRect/>
          </a:stretch>
        </p:blipFill>
        <p:spPr>
          <a:xfrm>
            <a:off x="8458200" y="3182112"/>
            <a:ext cx="1316736" cy="1316736"/>
          </a:xfrm>
          <a:prstGeom prst="rect">
            <a:avLst/>
          </a:prstGeom>
        </p:spPr>
      </p:pic>
      <p:sp>
        <p:nvSpPr>
          <p:cNvPr id="1053" name="TextBox 1052"/>
          <p:cNvSpPr txBox="1"/>
          <p:nvPr/>
        </p:nvSpPr>
        <p:spPr>
          <a:xfrm>
            <a:off x="8412480" y="4572000"/>
            <a:ext cx="1408176" cy="265176"/>
          </a:xfrm>
          <a:prstGeom prst="rect">
            <a:avLst/>
          </a:prstGeom>
          <a:noFill/>
        </p:spPr>
        <p:txBody>
          <a:bodyPr wrap="square" lIns="0" rIns="0" tIns="0" bIns="0" anchor="ctr">
            <a:spAutoFit/>
          </a:bodyPr>
          <a:lstStyle/>
          <a:p>
            <a:pPr algn="ctr"/>
            <a:r>
              <a:rPr sz="1500" b="1">
                <a:solidFill>
                  <a:srgbClr val="EAF1FA"/>
                </a:solidFill>
                <a:latin typeface="IBM Plex Sans"/>
              </a:rPr>
              <a:t>Paper</a:t>
            </a:r>
          </a:p>
        </p:txBody>
      </p:sp>
      <p:pic>
        <p:nvPicPr>
          <p:cNvPr id="1054" name="Picture 1053" descr="image.png"/>
          <p:cNvPicPr>
            <a:picLocks noChangeAspect="1"/>
          </p:cNvPicPr>
          <p:nvPr/>
        </p:nvPicPr>
        <p:blipFill>
          <a:blip r:embed="rId4"/>
          <a:stretch>
            <a:fillRect/>
          </a:stretch>
        </p:blipFill>
        <p:spPr>
          <a:xfrm>
            <a:off x="10012680" y="3182112"/>
            <a:ext cx="1316736" cy="1316736"/>
          </a:xfrm>
          <a:prstGeom prst="rect">
            <a:avLst/>
          </a:prstGeom>
        </p:spPr>
      </p:pic>
      <p:sp>
        <p:nvSpPr>
          <p:cNvPr id="1055" name="TextBox 1054"/>
          <p:cNvSpPr txBox="1"/>
          <p:nvPr/>
        </p:nvSpPr>
        <p:spPr>
          <a:xfrm>
            <a:off x="9966959" y="4572000"/>
            <a:ext cx="1408176" cy="265176"/>
          </a:xfrm>
          <a:prstGeom prst="rect">
            <a:avLst/>
          </a:prstGeom>
          <a:noFill/>
        </p:spPr>
        <p:txBody>
          <a:bodyPr wrap="square" lIns="0" rIns="0" tIns="0" bIns="0" anchor="ctr">
            <a:spAutoFit/>
          </a:bodyPr>
          <a:lstStyle/>
          <a:p>
            <a:pPr algn="ctr"/>
            <a:r>
              <a:rPr sz="1500" b="1">
                <a:solidFill>
                  <a:srgbClr val="EAF1FA"/>
                </a:solidFill>
                <a:latin typeface="IBM Plex Sans"/>
              </a:rPr>
              <a:t>GitHub</a:t>
            </a:r>
          </a:p>
        </p:txBody>
      </p:sp>
      <p:cxnSp>
        <p:nvCxnSpPr>
          <p:cNvPr id="1056" name="Connector 1055"/>
          <p:cNvCxnSpPr/>
          <p:nvPr/>
        </p:nvCxnSpPr>
        <p:spPr>
          <a:xfrm>
            <a:off x="832104" y="5660136"/>
            <a:ext cx="10488168" cy="0"/>
          </a:xfrm>
          <a:prstGeom prst="line">
            <a:avLst/>
          </a:prstGeom>
          <a:ln w="12700">
            <a:solidFill>
              <a:srgbClr val="465C7F"/>
            </a:solidFill>
          </a:ln>
        </p:spPr>
        <p:style>
          <a:lnRef idx="2">
            <a:schemeClr val="accent1"/>
          </a:lnRef>
          <a:fillRef idx="0">
            <a:schemeClr val="accent1"/>
          </a:fillRef>
          <a:effectRef idx="1">
            <a:schemeClr val="accent1"/>
          </a:effectRef>
          <a:fontRef idx="minor">
            <a:schemeClr val="tx1"/>
          </a:fontRef>
        </p:style>
      </p:cxnSp>
      <p:sp>
        <p:nvSpPr>
          <p:cNvPr id="1057" name="TextBox 1056"/>
          <p:cNvSpPr txBox="1"/>
          <p:nvPr/>
        </p:nvSpPr>
        <p:spPr>
          <a:xfrm>
            <a:off x="841248" y="5788152"/>
            <a:ext cx="8778240" cy="292608"/>
          </a:xfrm>
          <a:prstGeom prst="rect">
            <a:avLst/>
          </a:prstGeom>
          <a:noFill/>
        </p:spPr>
        <p:txBody>
          <a:bodyPr wrap="square" lIns="0" rIns="0" tIns="0" bIns="0" anchor="ctr">
            <a:spAutoFit/>
          </a:bodyPr>
          <a:lstStyle/>
          <a:p>
            <a:r>
              <a:rPr sz="1700" b="0">
                <a:solidFill>
                  <a:srgbClr val="EAF1FA"/>
                </a:solidFill>
                <a:latin typeface="IBM Plex Sans"/>
              </a:rPr>
              <a:t>nadeen.fathallah@ki.uni-stuttgart.de</a:t>
            </a:r>
          </a:p>
        </p:txBody>
      </p:sp>
      <p:sp>
        <p:nvSpPr>
          <p:cNvPr id="1058" name="TextBox 1057"/>
          <p:cNvSpPr txBox="1"/>
          <p:nvPr/>
        </p:nvSpPr>
        <p:spPr>
          <a:xfrm>
            <a:off x="9418320" y="5769864"/>
            <a:ext cx="1883664" cy="274320"/>
          </a:xfrm>
          <a:prstGeom prst="rect">
            <a:avLst/>
          </a:prstGeom>
          <a:noFill/>
        </p:spPr>
        <p:txBody>
          <a:bodyPr wrap="square" lIns="0" rIns="0" tIns="0" bIns="0" anchor="ctr">
            <a:spAutoFit/>
          </a:bodyPr>
          <a:lstStyle/>
          <a:p>
            <a:pPr algn="r"/>
            <a:r>
              <a:rPr sz="1270" b="0">
                <a:solidFill>
                  <a:srgbClr val="B5C3D8"/>
                </a:solidFill>
                <a:latin typeface="IBM Plex Sans"/>
              </a:rPr>
              <a:t>ISWC 2026 · Bari</a:t>
            </a:r>
          </a:p>
        </p:txBody>
      </p:sp>
    </p:spTree>
  </p:cSld>
  <p:clrMapOvr>
    <a:masterClrMapping/>
  </p:clrMapOvr>
</p:sld>
</file>

<file path=ppt/theme/theme1.xml><?xml version="1.0" encoding="utf-8"?>
<a:theme xmlns:a="http://schemas.openxmlformats.org/drawingml/2006/main" xmlns:r="http://schemas.openxmlformats.org/officeDocument/2006/relationships" name="RIGOR · ISWC 2026 Talk">
  <a:themeElements>
    <a:clrScheme name="RIGOR · ISWC 2026 Talk">
      <a:dk1>
        <a:srgbClr val="111A28"/>
      </a:dk1>
      <a:lt1>
        <a:srgbClr val="F2F4F7"/>
      </a:lt1>
      <a:dk2>
        <a:srgbClr val="49515C"/>
      </a:dk2>
      <a:lt2>
        <a:srgbClr val="DCDEE2"/>
      </a:lt2>
      <a:accent1>
        <a:srgbClr val="2345C4"/>
      </a:accent1>
      <a:accent2>
        <a:srgbClr val="F4A261"/>
      </a:accent2>
      <a:accent3>
        <a:srgbClr val="B4561C"/>
      </a:accent3>
      <a:accent4>
        <a:srgbClr val="8FA5EB"/>
      </a:accent4>
      <a:accent5>
        <a:srgbClr val="8AA4FF"/>
      </a:accent5>
      <a:accent6>
        <a:srgbClr val="E9873A"/>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RIGOR · ISWC 2026 Talk">
  <a:themeElements>
    <a:clrScheme name="RIGOR · ISWC 2026 Talk">
      <a:dk1>
        <a:srgbClr val="111A28"/>
      </a:dk1>
      <a:lt1>
        <a:srgbClr val="F2F4F7"/>
      </a:lt1>
      <a:dk2>
        <a:srgbClr val="49515C"/>
      </a:dk2>
      <a:lt2>
        <a:srgbClr val="DCDEE2"/>
      </a:lt2>
      <a:accent1>
        <a:srgbClr val="2345C4"/>
      </a:accent1>
      <a:accent2>
        <a:srgbClr val="F4A261"/>
      </a:accent2>
      <a:accent3>
        <a:srgbClr val="B4561C"/>
      </a:accent3>
      <a:accent4>
        <a:srgbClr val="8FA5EB"/>
      </a:accent4>
      <a:accent5>
        <a:srgbClr val="8AA4FF"/>
      </a:accent5>
      <a:accent6>
        <a:srgbClr val="E9873A"/>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2026-10-26T00:50:16Z</dcterms:created>
</cp:coreProperties>
</file>