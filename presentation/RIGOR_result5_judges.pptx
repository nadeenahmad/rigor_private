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7.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82" r:id="rId31"/>
  </p:sldIdLst>
  <p:sldSz cy="6858000" cx="12192000"/>
  <p:notesSz cx="6858000" cy="12192000"/>
  <p:embeddedFontLst>
    <p:embeddedFont>
      <p:font typeface="IBM Plex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4" roundtripDataSignature="AMtx7miIhFui5hy+i4o3KOYM/gPuu+Lj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Relationships xmlns="http://schemas.openxmlformats.org/package/2006/relationships"><Relationship Id="rId40" Type="http://schemas.openxmlformats.org/officeDocument/2006/relationships/font" Target="fonts/IBMPlexSans-regular.fntdata"/><Relationship Id="rId42" Type="http://schemas.openxmlformats.org/officeDocument/2006/relationships/font" Target="fonts/IBMPlexSans-italic.fntdata"/><Relationship Id="rId41" Type="http://schemas.openxmlformats.org/officeDocument/2006/relationships/font" Target="fonts/IBMPlexSans-bold.fntdata"/><Relationship Id="rId44" Type="http://customschemas.google.com/relationships/presentationmetadata" Target="metadata"/><Relationship Id="rId43" Type="http://schemas.openxmlformats.org/officeDocument/2006/relationships/font" Target="fonts/IBMPlexSans-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31" Type="http://schemas.openxmlformats.org/officeDocument/2006/relationships/slide" Target="slides/slide2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3" name="Google Shape;1253;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[11:07–12:00]  SPOKEN SCRIPT (86 words)</a:t>
            </a:r>
          </a:p>
          <a:p>
            <a:r>
              <a:rPr lang="en-US" sz="1200">
                <a:solidFill>
                  <a:schemeClr val="dk1"/>
                </a:solidFill>
                <a:latin typeface="Calibri"/>
                <a:ea typeface="Calibri"/>
                <a:cs typeface="Calibri"/>
                <a:sym typeface="Calibri"/>
              </a:rPr>
              <a:t>Automatic checks agree. Do evaluators agree? For each table, an LLM judge and ten ontology experts saw the schema, five competency questions, the questions the ontology must answer, and four anonymized ontologies. They scored each on seven quality dimensions and ranked them first to fourth. The LLM judge ranked RIGOR first every time. [pause] The experts ranked RIGOR first seventy percent of the time, with the highest average score. [pause] Direct mapping gives structure without meaning. LLMs alone give meaning without structure. RIGOR gives both, and checks them.</a:t>
            </a:r>
          </a:p>
          <a:p/>
          <a:p>
            <a:r>
              <a:rPr lang="en-US" sz="1200">
                <a:solidFill>
                  <a:schemeClr val="dk1"/>
                </a:solidFill>
                <a:latin typeface="Calibri"/>
                <a:ea typeface="Calibri"/>
                <a:cs typeface="Calibri"/>
                <a:sym typeface="Calibri"/>
              </a:rPr>
              <a:t>PRESENTER / POINTER: The 'How they judged' box in one breath; then the two claims; then the closing strip.</a:t>
            </a:r>
          </a:p>
          <a:p>
            <a:r>
              <a:rPr lang="en-US" sz="1200">
                <a:solidFill>
                  <a:schemeClr val="dk1"/>
                </a:solidFill>
                <a:latin typeface="Calibri"/>
                <a:ea typeface="Calibri"/>
                <a:cs typeface="Calibri"/>
                <a:sym typeface="Calibri"/>
              </a:rPr>
              <a:t>AUDIENCE TAKEAWAY: Judged blind against competency questions, an LLM judge and human experts both rank RIGOR first.</a:t>
            </a:r>
          </a:p>
          <a:p>
            <a:r>
              <a:rPr lang="en-US" sz="1200">
                <a:solidFill>
                  <a:schemeClr val="dk1"/>
                </a:solidFill>
                <a:latin typeface="Calibri"/>
                <a:ea typeface="Calibri"/>
                <a:cs typeface="Calibri"/>
                <a:sym typeface="Calibri"/>
              </a:rPr>
              <a:t>SOURCE AND SCOPE: Paper Sec. 4.2 and 4.6 (5 expert-verified CQs per table, 7 dimensions, ranking), Table 1 (judge scores and first places: 58 of 58 tables), Table 11 (expert scores), Table 12 (Kendall's W 0.39-0.72). Judge evaluated the Claude ontologies; experts 4 medical tables, 28 of 40 first places.</a:t>
            </a:r>
          </a:p>
          <a:p>
            <a:r>
              <a:rPr lang="en-US" sz="1200">
                <a:solidFill>
                  <a:schemeClr val="dk1"/>
                </a:solidFill>
                <a:latin typeface="Calibri"/>
                <a:ea typeface="Calibri"/>
                <a:cs typeface="Calibri"/>
                <a:sym typeface="Calibri"/>
              </a:rPr>
              <a:t>IF RUNNING LATE, DROP: "with the highest average score"</a:t>
            </a:r>
          </a:p>
          <a:p/>
          <a:p>
            <a:r>
              <a:rPr lang="en-US" sz="1200">
                <a:solidFill>
                  <a:schemeClr val="dk1"/>
                </a:solidFill>
                <a:latin typeface="Calibri"/>
                <a:ea typeface="Calibri"/>
                <a:cs typeface="Calibri"/>
                <a:sym typeface="Calibri"/>
              </a:rPr>
              <a:t>IF ASKED HOW MANY: the judge ranked RIGOR first on 58 of 58 tables (16 Liver Cancer, 31 eICU-CRD, 11 Chinook); the experts in 28 of 40 rankings (10 experts x 4 tables).</a:t>
            </a:r>
          </a:p>
        </p:txBody>
      </p:sp>
      <p:sp>
        <p:nvSpPr>
          <p:cNvPr id="1254" name="Google Shape;1254;p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FFFFF"/>
        </a:solidFill>
      </p:bgPr>
    </p:bg>
    <p:spTree>
      <p:nvGrpSpPr>
        <p:cNvPr id="12" name="Shape 12"/>
        <p:cNvGrpSpPr/>
        <p:nvPr/>
      </p:nvGrpSpPr>
      <p:grpSpPr>
        <a:xfrm>
          <a:off x="0" y="0"/>
          <a:ext cx="0" cy="0"/>
          <a:chOff x="0" y="0"/>
          <a:chExt cx="0" cy="0"/>
        </a:xfrm>
      </p:grpSpPr>
      <p:sp>
        <p:nvSpPr>
          <p:cNvPr id="13" name="Google Shape;13;p25"/>
          <p:cNvSpPr txBox="1"/>
          <p:nvPr>
            <p:ph type="title"/>
          </p:nvPr>
        </p:nvSpPr>
        <p:spPr>
          <a:xfrm>
            <a:off x="812800" y="1153120"/>
            <a:ext cx="10566400" cy="39112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F2328"/>
              </a:buClr>
              <a:buSzPts val="2800"/>
              <a:buFont typeface="Calibri"/>
              <a:buNone/>
              <a:defRPr sz="2800">
                <a:solidFill>
                  <a:srgbClr val="1F232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5"/>
          <p:cNvSpPr txBox="1"/>
          <p:nvPr>
            <p:ph idx="1" type="body"/>
          </p:nvPr>
        </p:nvSpPr>
        <p:spPr>
          <a:xfrm>
            <a:off x="812800" y="1849041"/>
            <a:ext cx="10566400" cy="4196159"/>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F2328"/>
              </a:buClr>
              <a:buSzPts val="1600"/>
              <a:buNone/>
              <a:defRPr sz="1600">
                <a:solidFill>
                  <a:srgbClr val="1F2328"/>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812800" y="1153120"/>
            <a:ext cx="10566400" cy="39112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F2328"/>
              </a:buClr>
              <a:buSzPts val="2800"/>
              <a:buFont typeface="Calibri"/>
              <a:buNone/>
              <a:defRPr b="0" i="0" sz="2800" u="none" cap="none" strike="noStrike">
                <a:solidFill>
                  <a:srgbClr val="1F232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9pPr>
          </a:lstStyle>
          <a:p/>
        </p:txBody>
      </p:sp>
      <p:sp>
        <p:nvSpPr>
          <p:cNvPr id="11" name="Google Shape;11;p24"/>
          <p:cNvSpPr txBox="1"/>
          <p:nvPr>
            <p:ph idx="1" type="body"/>
          </p:nvPr>
        </p:nvSpPr>
        <p:spPr>
          <a:xfrm>
            <a:off x="812800" y="1849041"/>
            <a:ext cx="10566400" cy="4196159"/>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F2328"/>
              </a:buClr>
              <a:buSzPts val="1600"/>
              <a:buFont typeface="Calibri"/>
              <a:buNone/>
              <a:defRPr b="0" i="0" sz="1600" u="none" cap="none" strike="noStrike">
                <a:solidFill>
                  <a:srgbClr val="1F2328"/>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Calibri"/>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5" name="Shape 1255"/>
        <p:cNvGrpSpPr/>
        <p:nvPr/>
      </p:nvGrpSpPr>
      <p:grpSpPr>
        <a:xfrm>
          <a:off x="0" y="0"/>
          <a:ext cx="0" cy="0"/>
          <a:chOff x="0" y="0"/>
          <a:chExt cx="0" cy="0"/>
        </a:xfrm>
      </p:grpSpPr>
      <p:sp>
        <p:nvSpPr>
          <p:cNvPr id="1256" name="Google Shape;1256;p19"/>
          <p:cNvSpPr txBox="1"/>
          <p:nvPr/>
        </p:nvSpPr>
        <p:spPr>
          <a:xfrm>
            <a:off x="804672" y="512064"/>
            <a:ext cx="10753344"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RESULT 5  /  LLM JUDGE AND HUMAN EXPERTS</a:t>
            </a:r>
            <a:endParaRPr b="0" i="0" sz="1400" u="none" cap="none" strike="noStrike">
              <a:solidFill>
                <a:srgbClr val="000000"/>
              </a:solidFill>
              <a:latin typeface="Arial"/>
              <a:ea typeface="Arial"/>
              <a:cs typeface="Arial"/>
              <a:sym typeface="Arial"/>
            </a:endParaRPr>
          </a:p>
        </p:txBody>
      </p:sp>
      <p:sp>
        <p:nvSpPr>
          <p:cNvPr id="1257" name="Google Shape;1257;p19"/>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An LLM judge and human experts both rank RIGOR first.</a:t>
            </a:r>
            <a:endParaRPr b="0" i="0" sz="1400" u="none" cap="none" strike="noStrike">
              <a:solidFill>
                <a:srgbClr val="000000"/>
              </a:solidFill>
              <a:latin typeface="Arial"/>
              <a:ea typeface="Arial"/>
              <a:cs typeface="Arial"/>
              <a:sym typeface="Arial"/>
            </a:endParaRPr>
          </a:p>
        </p:txBody>
      </p:sp>
      <p:sp>
        <p:nvSpPr>
          <p:cNvPr id="1258" name="Subtitle"/>
          <p:cNvSpPr txBox="1"/>
          <p:nvPr/>
        </p:nvSpPr>
        <p:spPr>
          <a:xfrm>
            <a:off x="822960" y="1645920"/>
            <a:ext cx="10680192" cy="329184"/>
          </a:xfrm>
          <a:prstGeom prst="rect">
            <a:avLst/>
          </a:prstGeom>
          <a:noFill/>
          <a:ln>
            <a:noFill/>
          </a:ln>
        </p:spPr>
        <p:txBody>
          <a:bodyPr wrap="square" lIns="0" tIns="0" rIns="0" bIns="0" anchor="t">
            <a:noAutofit/>
          </a:bodyPr>
          <a:lstStyle/>
          <a:p>
            <a:pPr algn="l"/>
            <a:r>
              <a:rPr lang="en-US" sz="1600" b="0" i="0" dirty="0">
                <a:solidFill>
                  <a:srgbClr val="3A434C"/>
                </a:solidFill>
                <a:latin typeface="Calibri"/>
                <a:cs typeface="Calibri"/>
              </a:rPr>
              <a:t xml:space="preserve">Blind evaluation: nobody knew which ontology came from which method.</a:t>
            </a:r>
          </a:p>
        </p:txBody>
      </p:sp>
      <p:sp>
        <p:nvSpPr>
          <p:cNvPr id="1259" name="Ladder"/>
          <p:cNvSpPr/>
          <p:nvPr/>
        </p:nvSpPr>
        <p:spPr>
          <a:xfrm>
            <a:off x="804672" y="2103120"/>
            <a:ext cx="2042769" cy="310896"/>
          </a:xfrm>
          <a:prstGeom prst="rect">
            <a:avLst/>
          </a:prstGeom>
          <a:solidFill>
            <a:srgbClr val="E8F6EF"/>
          </a:solidFill>
          <a:ln>
            <a:noFill/>
          </a:ln>
        </p:spPr>
        <p:txBody>
          <a:bodyPr wrap="square" lIns="0" tIns="0" rIns="0" bIns="0" anchor="ctr">
            <a:noAutofit/>
          </a:bodyPr>
          <a:lstStyle/>
          <a:p>
            <a:pPr algn="ctr"/>
            <a:r>
              <a:rPr lang="en-US" sz="1000" b="1" i="0" dirty="0">
                <a:solidFill>
                  <a:srgbClr val="0B6E4F"/>
                </a:solidFill>
                <a:latin typeface="Consolas"/>
                <a:cs typeface="Consolas"/>
              </a:rPr>
              <a:t xml:space="preserve">1  VALID, FEWER ERRORS</a:t>
            </a:r>
          </a:p>
        </p:txBody>
      </p:sp>
      <p:sp>
        <p:nvSpPr>
          <p:cNvPr id="1260" name="Ladder"/>
          <p:cNvSpPr/>
          <p:nvPr/>
        </p:nvSpPr>
        <p:spPr>
          <a:xfrm>
            <a:off x="2938881" y="2103120"/>
            <a:ext cx="2042769" cy="310896"/>
          </a:xfrm>
          <a:prstGeom prst="rect">
            <a:avLst/>
          </a:prstGeom>
          <a:solidFill>
            <a:srgbClr val="E8F6EF"/>
          </a:solidFill>
          <a:ln>
            <a:noFill/>
          </a:ln>
        </p:spPr>
        <p:txBody>
          <a:bodyPr wrap="square" lIns="0" tIns="0" rIns="0" bIns="0" anchor="ctr">
            <a:noAutofit/>
          </a:bodyPr>
          <a:lstStyle/>
          <a:p>
            <a:pPr algn="ctr"/>
            <a:r>
              <a:rPr lang="en-US" sz="1000" b="1" i="0" dirty="0">
                <a:solidFill>
                  <a:srgbClr val="0B6E4F"/>
                </a:solidFill>
                <a:latin typeface="Consolas"/>
                <a:cs typeface="Consolas"/>
              </a:rPr>
              <a:t xml:space="preserve">2  KEEPS THE SCHEMA</a:t>
            </a:r>
          </a:p>
        </p:txBody>
      </p:sp>
      <p:sp>
        <p:nvSpPr>
          <p:cNvPr id="1261" name="Ladder"/>
          <p:cNvSpPr/>
          <p:nvPr/>
        </p:nvSpPr>
        <p:spPr>
          <a:xfrm>
            <a:off x="5073091" y="2103120"/>
            <a:ext cx="2042769" cy="310896"/>
          </a:xfrm>
          <a:prstGeom prst="rect">
            <a:avLst/>
          </a:prstGeom>
          <a:solidFill>
            <a:srgbClr val="E8F6EF"/>
          </a:solidFill>
          <a:ln>
            <a:noFill/>
          </a:ln>
        </p:spPr>
        <p:txBody>
          <a:bodyPr wrap="square" lIns="0" tIns="0" rIns="0" bIns="0" anchor="ctr">
            <a:noAutofit/>
          </a:bodyPr>
          <a:lstStyle/>
          <a:p>
            <a:pPr algn="ctr"/>
            <a:r>
              <a:rPr lang="en-US" sz="1000" b="1" i="0" dirty="0">
                <a:solidFill>
                  <a:srgbClr val="0B6E4F"/>
                </a:solidFill>
                <a:latin typeface="Consolas"/>
                <a:cs typeface="Consolas"/>
              </a:rPr>
              <a:t xml:space="preserve">3  ADDS MEANING</a:t>
            </a:r>
          </a:p>
        </p:txBody>
      </p:sp>
      <p:sp>
        <p:nvSpPr>
          <p:cNvPr id="1262" name="Ladder"/>
          <p:cNvSpPr/>
          <p:nvPr/>
        </p:nvSpPr>
        <p:spPr>
          <a:xfrm>
            <a:off x="7207300" y="2103120"/>
            <a:ext cx="2042769" cy="310896"/>
          </a:xfrm>
          <a:prstGeom prst="rect">
            <a:avLst/>
          </a:prstGeom>
          <a:solidFill>
            <a:srgbClr val="E8F6EF"/>
          </a:solidFill>
          <a:ln>
            <a:noFill/>
          </a:ln>
        </p:spPr>
        <p:txBody>
          <a:bodyPr wrap="square" lIns="0" tIns="0" rIns="0" bIns="0" anchor="ctr">
            <a:noAutofit/>
          </a:bodyPr>
          <a:lstStyle/>
          <a:p>
            <a:pPr algn="ctr"/>
            <a:r>
              <a:rPr lang="en-US" sz="1000" b="1" i="0" dirty="0">
                <a:solidFill>
                  <a:srgbClr val="0B6E4F"/>
                </a:solidFill>
                <a:latin typeface="Consolas"/>
                <a:cs typeface="Consolas"/>
              </a:rPr>
              <a:t xml:space="preserve">4  GOLD MAPPINGS</a:t>
            </a:r>
          </a:p>
        </p:txBody>
      </p:sp>
      <p:sp>
        <p:nvSpPr>
          <p:cNvPr id="1263" name="Ladder"/>
          <p:cNvSpPr/>
          <p:nvPr/>
        </p:nvSpPr>
        <p:spPr>
          <a:xfrm>
            <a:off x="9341510" y="2103120"/>
            <a:ext cx="2042769" cy="310896"/>
          </a:xfrm>
          <a:prstGeom prst="rect">
            <a:avLst/>
          </a:prstGeom>
          <a:solidFill>
            <a:srgbClr val="0B6E4F"/>
          </a:solidFill>
          <a:ln>
            <a:noFill/>
          </a:ln>
        </p:spPr>
        <p:txBody>
          <a:bodyPr wrap="square" lIns="0" tIns="0" rIns="0" bIns="0" anchor="ctr">
            <a:noAutofit/>
          </a:bodyPr>
          <a:lstStyle/>
          <a:p>
            <a:pPr algn="ctr"/>
            <a:r>
              <a:rPr lang="en-US" sz="1000" b="1" i="0" dirty="0">
                <a:solidFill>
                  <a:srgbClr val="FFFFFF"/>
                </a:solidFill>
                <a:latin typeface="Consolas"/>
                <a:cs typeface="Consolas"/>
              </a:rPr>
              <a:t xml:space="preserve">5  JUDGES</a:t>
            </a:r>
          </a:p>
        </p:txBody>
      </p:sp>
      <p:sp>
        <p:nvSpPr>
          <p:cNvPr id="1264" name="How"/>
          <p:cNvSpPr/>
          <p:nvPr/>
        </p:nvSpPr>
        <p:spPr>
          <a:xfrm>
            <a:off x="804672" y="2606040"/>
            <a:ext cx="10579608" cy="658368"/>
          </a:xfrm>
          <a:prstGeom prst="roundRect">
            <a:avLst>
              <a:gd name="adj" fmla="val 12000"/>
            </a:avLst>
          </a:prstGeom>
          <a:solidFill>
            <a:srgbClr val="FFFFFF"/>
          </a:solidFill>
          <a:ln w="9525">
            <a:solidFill>
              <a:srgbClr val="D9DEDB"/>
            </a:solidFill>
          </a:ln>
        </p:spPr>
        <p:txBody>
          <a:bodyPr wrap="square" lIns="201168" tIns="0" rIns="201168" bIns="0" anchor="ctr">
            <a:noAutofit/>
          </a:bodyPr>
          <a:lstStyle/>
          <a:p>
            <a:pPr algn="l"/>
            <a:r>
              <a:rPr lang="en-US" sz="1150" b="1" i="0" dirty="0">
                <a:solidFill>
                  <a:srgbClr val="2F6B78"/>
                </a:solidFill>
                <a:latin typeface="Consolas"/>
                <a:cs typeface="Consolas"/>
              </a:rPr>
              <a:t xml:space="preserve">HOW THEY JUDGED   </a:t>
            </a:r>
            <a:r>
              <a:rPr lang="en-US" sz="1200" b="0" i="0" dirty="0">
                <a:solidFill>
                  <a:srgbClr val="3A434C"/>
                </a:solidFill>
                <a:latin typeface="Calibri"/>
                <a:cs typeface="Calibri"/>
              </a:rPr>
              <a:t xml:space="preserve">For each table: its schema, its 5 competency questions (what the ontology must answer) and four anonymized ontologies. Each scored 0–5 on accuracy, completeness, conciseness, adaptability, clarity, consistency and domain enrichment, then ranked 1st–4th.</a:t>
            </a:r>
          </a:p>
        </p:txBody>
      </p:sp>
      <p:sp>
        <p:nvSpPr>
          <p:cNvPr id="1265" name="Card"/>
          <p:cNvSpPr/>
          <p:nvPr/>
        </p:nvSpPr>
        <p:spPr>
          <a:xfrm>
            <a:off x="804672" y="3355848"/>
            <a:ext cx="5760720" cy="2404872"/>
          </a:xfrm>
          <a:prstGeom prst="roundRect">
            <a:avLst>
              <a:gd name="adj" fmla="val 12000"/>
            </a:avLst>
          </a:prstGeom>
          <a:solidFill>
            <a:srgbClr val="F3F5F4"/>
          </a:solidFill>
          <a:ln w="9525">
            <a:solidFill>
              <a:srgbClr val="D9DEDB"/>
            </a:solidFill>
          </a:ln>
        </p:spPr>
        <p:txBody>
          <a:bodyPr wrap="square" lIns="0" tIns="0" rIns="0" bIns="0" anchor="t">
            <a:noAutofit/>
          </a:bodyPr>
          <a:lstStyle/>
          <a:p>
            <a:pPr algn="l"/>
          </a:p>
        </p:txBody>
      </p:sp>
      <p:sp>
        <p:nvSpPr>
          <p:cNvPr id="1266" name="Card label"/>
          <p:cNvSpPr txBox="1"/>
          <p:nvPr/>
        </p:nvSpPr>
        <p:spPr>
          <a:xfrm>
            <a:off x="1078992" y="3538728"/>
            <a:ext cx="5212080" cy="274320"/>
          </a:xfrm>
          <a:prstGeom prst="rect">
            <a:avLst/>
          </a:prstGeom>
          <a:noFill/>
          <a:ln>
            <a:noFill/>
          </a:ln>
        </p:spPr>
        <p:txBody>
          <a:bodyPr wrap="square" lIns="0" tIns="0" rIns="0" bIns="0" anchor="t">
            <a:noAutofit/>
          </a:bodyPr>
          <a:lstStyle/>
          <a:p>
            <a:pPr algn="l"/>
            <a:r>
              <a:rPr lang="en-US" sz="1300" b="1" i="0" dirty="0">
                <a:solidFill>
                  <a:srgbClr val="2F6B78"/>
                </a:solidFill>
                <a:latin typeface="Consolas"/>
                <a:cs typeface="Consolas"/>
              </a:rPr>
              <a:t xml:space="preserve">LLM-AS-A-JUDGE  ·  GPT-5.4</a:t>
            </a:r>
          </a:p>
        </p:txBody>
      </p:sp>
      <p:sp>
        <p:nvSpPr>
          <p:cNvPr id="1267" name="Claim"/>
          <p:cNvSpPr txBox="1"/>
          <p:nvPr/>
        </p:nvSpPr>
        <p:spPr>
          <a:xfrm>
            <a:off x="1078992" y="3794760"/>
            <a:ext cx="5212080" cy="365760"/>
          </a:xfrm>
          <a:prstGeom prst="rect">
            <a:avLst/>
          </a:prstGeom>
          <a:noFill/>
          <a:ln>
            <a:noFill/>
          </a:ln>
        </p:spPr>
        <p:txBody>
          <a:bodyPr wrap="square" lIns="0" tIns="0" rIns="0" bIns="0" anchor="ctr">
            <a:noAutofit/>
          </a:bodyPr>
          <a:lstStyle/>
          <a:p>
            <a:pPr algn="l"/>
            <a:r>
              <a:rPr lang="en-US" sz="1800" b="1" i="0" dirty="0">
                <a:solidFill>
                  <a:srgbClr val="0B6E4F"/>
                </a:solidFill>
                <a:latin typeface="Calibri"/>
                <a:cs typeface="Calibri"/>
              </a:rPr>
              <a:t xml:space="preserve">Ranked RIGOR first every time</a:t>
            </a:r>
          </a:p>
        </p:txBody>
      </p:sp>
      <p:sp>
        <p:nvSpPr>
          <p:cNvPr id="1268" name="Database"/>
          <p:cNvSpPr txBox="1"/>
          <p:nvPr/>
        </p:nvSpPr>
        <p:spPr>
          <a:xfrm>
            <a:off x="2542032" y="4251960"/>
            <a:ext cx="1243584" cy="219456"/>
          </a:xfrm>
          <a:prstGeom prst="rect">
            <a:avLst/>
          </a:prstGeom>
          <a:noFill/>
          <a:ln>
            <a:noFill/>
          </a:ln>
        </p:spPr>
        <p:txBody>
          <a:bodyPr wrap="square" lIns="0" tIns="0" rIns="0" bIns="0" anchor="ctr">
            <a:noAutofit/>
          </a:bodyPr>
          <a:lstStyle/>
          <a:p>
            <a:pPr algn="ctr"/>
            <a:r>
              <a:rPr lang="en-US" sz="1100" b="1" i="0" dirty="0">
                <a:solidFill>
                  <a:srgbClr val="1F2328"/>
                </a:solidFill>
                <a:latin typeface="Calibri"/>
                <a:cs typeface="Calibri"/>
              </a:rPr>
              <a:t xml:space="preserve">Liver Cancer</a:t>
            </a:r>
          </a:p>
        </p:txBody>
      </p:sp>
      <p:sp>
        <p:nvSpPr>
          <p:cNvPr id="1269" name="Database"/>
          <p:cNvSpPr txBox="1"/>
          <p:nvPr/>
        </p:nvSpPr>
        <p:spPr>
          <a:xfrm>
            <a:off x="3785615" y="4251960"/>
            <a:ext cx="1243584" cy="219456"/>
          </a:xfrm>
          <a:prstGeom prst="rect">
            <a:avLst/>
          </a:prstGeom>
          <a:noFill/>
          <a:ln>
            <a:noFill/>
          </a:ln>
        </p:spPr>
        <p:txBody>
          <a:bodyPr wrap="square" lIns="0" tIns="0" rIns="0" bIns="0" anchor="ctr">
            <a:noAutofit/>
          </a:bodyPr>
          <a:lstStyle/>
          <a:p>
            <a:pPr algn="ctr"/>
            <a:r>
              <a:rPr lang="en-US" sz="1100" b="1" i="0" dirty="0">
                <a:solidFill>
                  <a:srgbClr val="1F2328"/>
                </a:solidFill>
                <a:latin typeface="Calibri"/>
                <a:cs typeface="Calibri"/>
              </a:rPr>
              <a:t xml:space="preserve">eICU-CRD</a:t>
            </a:r>
          </a:p>
        </p:txBody>
      </p:sp>
      <p:sp>
        <p:nvSpPr>
          <p:cNvPr id="1270" name="Database"/>
          <p:cNvSpPr txBox="1"/>
          <p:nvPr/>
        </p:nvSpPr>
        <p:spPr>
          <a:xfrm>
            <a:off x="5029200" y="4251960"/>
            <a:ext cx="1243584" cy="219456"/>
          </a:xfrm>
          <a:prstGeom prst="rect">
            <a:avLst/>
          </a:prstGeom>
          <a:noFill/>
          <a:ln>
            <a:noFill/>
          </a:ln>
        </p:spPr>
        <p:txBody>
          <a:bodyPr wrap="square" lIns="0" tIns="0" rIns="0" bIns="0" anchor="ctr">
            <a:noAutofit/>
          </a:bodyPr>
          <a:lstStyle/>
          <a:p>
            <a:pPr algn="ctr"/>
            <a:r>
              <a:rPr lang="en-US" sz="1100" b="1" i="0" dirty="0">
                <a:solidFill>
                  <a:srgbClr val="1F2328"/>
                </a:solidFill>
                <a:latin typeface="Calibri"/>
                <a:cs typeface="Calibri"/>
              </a:rPr>
              <a:t xml:space="preserve">Chinook</a:t>
            </a:r>
          </a:p>
        </p:txBody>
      </p:sp>
      <p:sp>
        <p:nvSpPr>
          <p:cNvPr id="1271" name="Method"/>
          <p:cNvSpPr txBox="1"/>
          <p:nvPr/>
        </p:nvSpPr>
        <p:spPr>
          <a:xfrm>
            <a:off x="1033271" y="4507992"/>
            <a:ext cx="1508760" cy="292608"/>
          </a:xfrm>
          <a:prstGeom prst="rect">
            <a:avLst/>
          </a:prstGeom>
          <a:noFill/>
          <a:ln>
            <a:noFill/>
          </a:ln>
        </p:spPr>
        <p:txBody>
          <a:bodyPr wrap="square" lIns="0" tIns="0" rIns="0" bIns="0" anchor="ctr">
            <a:noAutofit/>
          </a:bodyPr>
          <a:lstStyle/>
          <a:p>
            <a:pPr algn="l"/>
            <a:r>
              <a:rPr lang="en-US" sz="1200" b="0" i="0" dirty="0">
                <a:solidFill>
                  <a:srgbClr val="1F2328"/>
                </a:solidFill>
                <a:latin typeface="Calibri"/>
                <a:cs typeface="Calibri"/>
              </a:rPr>
              <a:t xml:space="preserve">Direct Mapping</a:t>
            </a:r>
          </a:p>
        </p:txBody>
      </p:sp>
      <p:sp>
        <p:nvSpPr>
          <p:cNvPr id="1272" name="Cell"/>
          <p:cNvSpPr/>
          <p:nvPr/>
        </p:nvSpPr>
        <p:spPr>
          <a:xfrm>
            <a:off x="2560320" y="4526280"/>
            <a:ext cx="1207008" cy="256032"/>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2.05</a:t>
            </a:r>
          </a:p>
        </p:txBody>
      </p:sp>
      <p:sp>
        <p:nvSpPr>
          <p:cNvPr id="1273" name="Cell"/>
          <p:cNvSpPr/>
          <p:nvPr/>
        </p:nvSpPr>
        <p:spPr>
          <a:xfrm>
            <a:off x="3803903" y="4526280"/>
            <a:ext cx="1207008" cy="256032"/>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2.13</a:t>
            </a:r>
          </a:p>
        </p:txBody>
      </p:sp>
      <p:sp>
        <p:nvSpPr>
          <p:cNvPr id="1274" name="Cell"/>
          <p:cNvSpPr/>
          <p:nvPr/>
        </p:nvSpPr>
        <p:spPr>
          <a:xfrm>
            <a:off x="5047488" y="4526280"/>
            <a:ext cx="1207008" cy="256032"/>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0.13</a:t>
            </a:r>
          </a:p>
        </p:txBody>
      </p:sp>
      <p:sp>
        <p:nvSpPr>
          <p:cNvPr id="1275" name="Method"/>
          <p:cNvSpPr txBox="1"/>
          <p:nvPr/>
        </p:nvSpPr>
        <p:spPr>
          <a:xfrm>
            <a:off x="1033271" y="4800600"/>
            <a:ext cx="1508760" cy="292608"/>
          </a:xfrm>
          <a:prstGeom prst="rect">
            <a:avLst/>
          </a:prstGeom>
          <a:noFill/>
          <a:ln>
            <a:noFill/>
          </a:ln>
        </p:spPr>
        <p:txBody>
          <a:bodyPr wrap="square" lIns="0" tIns="0" rIns="0" bIns="0" anchor="ctr">
            <a:noAutofit/>
          </a:bodyPr>
          <a:lstStyle/>
          <a:p>
            <a:pPr algn="l"/>
            <a:r>
              <a:rPr lang="en-US" sz="1200" b="0" i="0" dirty="0">
                <a:solidFill>
                  <a:srgbClr val="1F2328"/>
                </a:solidFill>
                <a:latin typeface="Calibri"/>
                <a:cs typeface="Calibri"/>
              </a:rPr>
              <a:t xml:space="preserve">LLM baseline</a:t>
            </a:r>
          </a:p>
        </p:txBody>
      </p:sp>
      <p:sp>
        <p:nvSpPr>
          <p:cNvPr id="1276" name="Cell"/>
          <p:cNvSpPr/>
          <p:nvPr/>
        </p:nvSpPr>
        <p:spPr>
          <a:xfrm>
            <a:off x="2560320" y="4818888"/>
            <a:ext cx="1207008" cy="256032"/>
          </a:xfrm>
          <a:prstGeom prst="rect">
            <a:avLst/>
          </a:prstGeom>
          <a:solidFill>
            <a:srgbClr val="F6DAD3"/>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1.38</a:t>
            </a:r>
          </a:p>
        </p:txBody>
      </p:sp>
      <p:sp>
        <p:nvSpPr>
          <p:cNvPr id="1277" name="Cell"/>
          <p:cNvSpPr/>
          <p:nvPr/>
        </p:nvSpPr>
        <p:spPr>
          <a:xfrm>
            <a:off x="3803903" y="4818888"/>
            <a:ext cx="1207008" cy="256032"/>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0.28</a:t>
            </a:r>
          </a:p>
        </p:txBody>
      </p:sp>
      <p:sp>
        <p:nvSpPr>
          <p:cNvPr id="1278" name="Cell"/>
          <p:cNvSpPr/>
          <p:nvPr/>
        </p:nvSpPr>
        <p:spPr>
          <a:xfrm>
            <a:off x="5047488" y="4818888"/>
            <a:ext cx="1207008" cy="256032"/>
          </a:xfrm>
          <a:prstGeom prst="rect">
            <a:avLst/>
          </a:prstGeom>
          <a:solidFill>
            <a:srgbClr val="F6DAD3"/>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1.48</a:t>
            </a:r>
          </a:p>
        </p:txBody>
      </p:sp>
      <p:sp>
        <p:nvSpPr>
          <p:cNvPr id="1279" name="Method"/>
          <p:cNvSpPr txBox="1"/>
          <p:nvPr/>
        </p:nvSpPr>
        <p:spPr>
          <a:xfrm>
            <a:off x="1033271" y="5093208"/>
            <a:ext cx="1508760" cy="292608"/>
          </a:xfrm>
          <a:prstGeom prst="rect">
            <a:avLst/>
          </a:prstGeom>
          <a:noFill/>
          <a:ln>
            <a:noFill/>
          </a:ln>
        </p:spPr>
        <p:txBody>
          <a:bodyPr wrap="square" lIns="0" tIns="0" rIns="0" bIns="0" anchor="ctr">
            <a:noAutofit/>
          </a:bodyPr>
          <a:lstStyle/>
          <a:p>
            <a:pPr algn="l"/>
            <a:r>
              <a:rPr lang="en-US" sz="1200" b="0" i="0" dirty="0">
                <a:solidFill>
                  <a:srgbClr val="1F2328"/>
                </a:solidFill>
                <a:latin typeface="Calibri"/>
                <a:cs typeface="Calibri"/>
              </a:rPr>
              <a:t xml:space="preserve">Non-Iterative RAG</a:t>
            </a:r>
          </a:p>
        </p:txBody>
      </p:sp>
      <p:sp>
        <p:nvSpPr>
          <p:cNvPr id="1280" name="Cell"/>
          <p:cNvSpPr/>
          <p:nvPr/>
        </p:nvSpPr>
        <p:spPr>
          <a:xfrm>
            <a:off x="2560320" y="5111496"/>
            <a:ext cx="1207008" cy="256032"/>
          </a:xfrm>
          <a:prstGeom prst="rect">
            <a:avLst/>
          </a:prstGeom>
          <a:solidFill>
            <a:srgbClr val="F6DAD3"/>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1.89</a:t>
            </a:r>
          </a:p>
        </p:txBody>
      </p:sp>
      <p:sp>
        <p:nvSpPr>
          <p:cNvPr id="1281" name="Cell"/>
          <p:cNvSpPr/>
          <p:nvPr/>
        </p:nvSpPr>
        <p:spPr>
          <a:xfrm>
            <a:off x="3803903" y="5111496"/>
            <a:ext cx="1207008" cy="256032"/>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0.67</a:t>
            </a:r>
          </a:p>
        </p:txBody>
      </p:sp>
      <p:sp>
        <p:nvSpPr>
          <p:cNvPr id="1282" name="Cell"/>
          <p:cNvSpPr/>
          <p:nvPr/>
        </p:nvSpPr>
        <p:spPr>
          <a:xfrm>
            <a:off x="5047488" y="5111496"/>
            <a:ext cx="1207008" cy="256032"/>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2.77</a:t>
            </a:r>
          </a:p>
        </p:txBody>
      </p:sp>
      <p:sp>
        <p:nvSpPr>
          <p:cNvPr id="1283" name="Method"/>
          <p:cNvSpPr txBox="1"/>
          <p:nvPr/>
        </p:nvSpPr>
        <p:spPr>
          <a:xfrm>
            <a:off x="1033271" y="5385816"/>
            <a:ext cx="1508760" cy="292608"/>
          </a:xfrm>
          <a:prstGeom prst="rect">
            <a:avLst/>
          </a:prstGeom>
          <a:noFill/>
          <a:ln>
            <a:noFill/>
          </a:ln>
        </p:spPr>
        <p:txBody>
          <a:bodyPr wrap="square" lIns="0" tIns="0" rIns="0" bIns="0" anchor="ctr">
            <a:noAutofit/>
          </a:bodyPr>
          <a:lstStyle/>
          <a:p>
            <a:pPr algn="l"/>
            <a:r>
              <a:rPr lang="en-US" sz="1200" b="1" i="0" dirty="0">
                <a:solidFill>
                  <a:srgbClr val="0B6E4F"/>
                </a:solidFill>
                <a:latin typeface="Calibri"/>
                <a:cs typeface="Calibri"/>
              </a:rPr>
              <a:t xml:space="preserve">RIGOR</a:t>
            </a:r>
          </a:p>
        </p:txBody>
      </p:sp>
      <p:sp>
        <p:nvSpPr>
          <p:cNvPr id="1284" name="Cell"/>
          <p:cNvSpPr/>
          <p:nvPr/>
        </p:nvSpPr>
        <p:spPr>
          <a:xfrm>
            <a:off x="2560320" y="5404104"/>
            <a:ext cx="1207008" cy="256032"/>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3.93</a:t>
            </a:r>
          </a:p>
        </p:txBody>
      </p:sp>
      <p:sp>
        <p:nvSpPr>
          <p:cNvPr id="1285" name="Cell"/>
          <p:cNvSpPr/>
          <p:nvPr/>
        </p:nvSpPr>
        <p:spPr>
          <a:xfrm>
            <a:off x="3803903" y="5404104"/>
            <a:ext cx="1207008" cy="256032"/>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3.64</a:t>
            </a:r>
          </a:p>
        </p:txBody>
      </p:sp>
      <p:sp>
        <p:nvSpPr>
          <p:cNvPr id="1286" name="Cell"/>
          <p:cNvSpPr/>
          <p:nvPr/>
        </p:nvSpPr>
        <p:spPr>
          <a:xfrm>
            <a:off x="5047488" y="5404104"/>
            <a:ext cx="1207008" cy="256032"/>
          </a:xfrm>
          <a:prstGeom prst="rect">
            <a:avLst/>
          </a:prstGeom>
          <a:solidFill>
            <a:srgbClr val="DDF0E5"/>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3.32</a:t>
            </a:r>
          </a:p>
        </p:txBody>
      </p:sp>
      <p:sp>
        <p:nvSpPr>
          <p:cNvPr id="1287" name="Card"/>
          <p:cNvSpPr/>
          <p:nvPr/>
        </p:nvSpPr>
        <p:spPr>
          <a:xfrm>
            <a:off x="6702552" y="3355848"/>
            <a:ext cx="4681728" cy="2404872"/>
          </a:xfrm>
          <a:prstGeom prst="roundRect">
            <a:avLst>
              <a:gd name="adj" fmla="val 12000"/>
            </a:avLst>
          </a:prstGeom>
          <a:solidFill>
            <a:srgbClr val="F3F5F4"/>
          </a:solidFill>
          <a:ln w="9525">
            <a:solidFill>
              <a:srgbClr val="D9DEDB"/>
            </a:solidFill>
          </a:ln>
        </p:spPr>
        <p:txBody>
          <a:bodyPr wrap="square" lIns="0" tIns="0" rIns="0" bIns="0" anchor="t">
            <a:noAutofit/>
          </a:bodyPr>
          <a:lstStyle/>
          <a:p>
            <a:pPr algn="l"/>
          </a:p>
        </p:txBody>
      </p:sp>
      <p:sp>
        <p:nvSpPr>
          <p:cNvPr id="1288" name="Card label"/>
          <p:cNvSpPr txBox="1"/>
          <p:nvPr/>
        </p:nvSpPr>
        <p:spPr>
          <a:xfrm>
            <a:off x="6976872" y="3538728"/>
            <a:ext cx="4133088" cy="274320"/>
          </a:xfrm>
          <a:prstGeom prst="rect">
            <a:avLst/>
          </a:prstGeom>
          <a:noFill/>
          <a:ln>
            <a:noFill/>
          </a:ln>
        </p:spPr>
        <p:txBody>
          <a:bodyPr wrap="square" lIns="0" tIns="0" rIns="0" bIns="0" anchor="t">
            <a:noAutofit/>
          </a:bodyPr>
          <a:lstStyle/>
          <a:p>
            <a:pPr algn="l"/>
            <a:r>
              <a:rPr lang="en-US" sz="1300" b="1" i="0" dirty="0">
                <a:solidFill>
                  <a:srgbClr val="2F6B78"/>
                </a:solidFill>
                <a:latin typeface="Consolas"/>
                <a:cs typeface="Consolas"/>
              </a:rPr>
              <a:t xml:space="preserve">10 ONTOLOGY EXPERTS</a:t>
            </a:r>
          </a:p>
        </p:txBody>
      </p:sp>
      <p:sp>
        <p:nvSpPr>
          <p:cNvPr id="1289" name="Claim"/>
          <p:cNvSpPr txBox="1"/>
          <p:nvPr/>
        </p:nvSpPr>
        <p:spPr>
          <a:xfrm>
            <a:off x="6976872" y="3794760"/>
            <a:ext cx="4133088" cy="365760"/>
          </a:xfrm>
          <a:prstGeom prst="rect">
            <a:avLst/>
          </a:prstGeom>
          <a:noFill/>
          <a:ln>
            <a:noFill/>
          </a:ln>
        </p:spPr>
        <p:txBody>
          <a:bodyPr wrap="square" lIns="0" tIns="0" rIns="0" bIns="0" anchor="ctr">
            <a:noAutofit/>
          </a:bodyPr>
          <a:lstStyle/>
          <a:p>
            <a:pPr algn="l"/>
            <a:r>
              <a:rPr lang="en-US" sz="1800" b="1" i="0" dirty="0">
                <a:solidFill>
                  <a:srgbClr val="0B6E4F"/>
                </a:solidFill>
                <a:latin typeface="Calibri"/>
                <a:cs typeface="Calibri"/>
              </a:rPr>
              <a:t xml:space="preserve">Ranked RIGOR first 70% of the time</a:t>
            </a:r>
          </a:p>
        </p:txBody>
      </p:sp>
      <p:sp>
        <p:nvSpPr>
          <p:cNvPr id="1290" name="Database"/>
          <p:cNvSpPr txBox="1"/>
          <p:nvPr/>
        </p:nvSpPr>
        <p:spPr>
          <a:xfrm>
            <a:off x="8439912" y="4251960"/>
            <a:ext cx="1353312" cy="219456"/>
          </a:xfrm>
          <a:prstGeom prst="rect">
            <a:avLst/>
          </a:prstGeom>
          <a:noFill/>
          <a:ln>
            <a:noFill/>
          </a:ln>
        </p:spPr>
        <p:txBody>
          <a:bodyPr wrap="square" lIns="0" tIns="0" rIns="0" bIns="0" anchor="ctr">
            <a:noAutofit/>
          </a:bodyPr>
          <a:lstStyle/>
          <a:p>
            <a:pPr algn="ctr"/>
            <a:r>
              <a:rPr lang="en-US" sz="1100" b="1" i="0" dirty="0">
                <a:solidFill>
                  <a:srgbClr val="1F2328"/>
                </a:solidFill>
                <a:latin typeface="Calibri"/>
                <a:cs typeface="Calibri"/>
              </a:rPr>
              <a:t xml:space="preserve">Liver Cancer</a:t>
            </a:r>
          </a:p>
        </p:txBody>
      </p:sp>
      <p:sp>
        <p:nvSpPr>
          <p:cNvPr id="1291" name="Database"/>
          <p:cNvSpPr txBox="1"/>
          <p:nvPr/>
        </p:nvSpPr>
        <p:spPr>
          <a:xfrm>
            <a:off x="9793224" y="4251960"/>
            <a:ext cx="1353312" cy="219456"/>
          </a:xfrm>
          <a:prstGeom prst="rect">
            <a:avLst/>
          </a:prstGeom>
          <a:noFill/>
          <a:ln>
            <a:noFill/>
          </a:ln>
        </p:spPr>
        <p:txBody>
          <a:bodyPr wrap="square" lIns="0" tIns="0" rIns="0" bIns="0" anchor="ctr">
            <a:noAutofit/>
          </a:bodyPr>
          <a:lstStyle/>
          <a:p>
            <a:pPr algn="ctr"/>
            <a:r>
              <a:rPr lang="en-US" sz="1100" b="1" i="0" dirty="0">
                <a:solidFill>
                  <a:srgbClr val="1F2328"/>
                </a:solidFill>
                <a:latin typeface="Calibri"/>
                <a:cs typeface="Calibri"/>
              </a:rPr>
              <a:t xml:space="preserve">eICU-CRD</a:t>
            </a:r>
          </a:p>
        </p:txBody>
      </p:sp>
      <p:sp>
        <p:nvSpPr>
          <p:cNvPr id="1292" name="Method"/>
          <p:cNvSpPr txBox="1"/>
          <p:nvPr/>
        </p:nvSpPr>
        <p:spPr>
          <a:xfrm>
            <a:off x="6931152" y="4507992"/>
            <a:ext cx="1508760" cy="292608"/>
          </a:xfrm>
          <a:prstGeom prst="rect">
            <a:avLst/>
          </a:prstGeom>
          <a:noFill/>
          <a:ln>
            <a:noFill/>
          </a:ln>
        </p:spPr>
        <p:txBody>
          <a:bodyPr wrap="square" lIns="0" tIns="0" rIns="0" bIns="0" anchor="ctr">
            <a:noAutofit/>
          </a:bodyPr>
          <a:lstStyle/>
          <a:p>
            <a:pPr algn="l"/>
            <a:r>
              <a:rPr lang="en-US" sz="1200" b="0" i="0" dirty="0">
                <a:solidFill>
                  <a:srgbClr val="1F2328"/>
                </a:solidFill>
                <a:latin typeface="Calibri"/>
                <a:cs typeface="Calibri"/>
              </a:rPr>
              <a:t xml:space="preserve">Direct Mapping</a:t>
            </a:r>
          </a:p>
        </p:txBody>
      </p:sp>
      <p:sp>
        <p:nvSpPr>
          <p:cNvPr id="1293" name="Cell"/>
          <p:cNvSpPr/>
          <p:nvPr/>
        </p:nvSpPr>
        <p:spPr>
          <a:xfrm>
            <a:off x="8458200" y="4526280"/>
            <a:ext cx="1316736" cy="256032"/>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2.95</a:t>
            </a:r>
          </a:p>
        </p:txBody>
      </p:sp>
      <p:sp>
        <p:nvSpPr>
          <p:cNvPr id="1294" name="Cell"/>
          <p:cNvSpPr/>
          <p:nvPr/>
        </p:nvSpPr>
        <p:spPr>
          <a:xfrm>
            <a:off x="9811512" y="4526280"/>
            <a:ext cx="1316736" cy="256032"/>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2.59</a:t>
            </a:r>
          </a:p>
        </p:txBody>
      </p:sp>
      <p:sp>
        <p:nvSpPr>
          <p:cNvPr id="1295" name="Method"/>
          <p:cNvSpPr txBox="1"/>
          <p:nvPr/>
        </p:nvSpPr>
        <p:spPr>
          <a:xfrm>
            <a:off x="6931152" y="4800600"/>
            <a:ext cx="1508760" cy="292608"/>
          </a:xfrm>
          <a:prstGeom prst="rect">
            <a:avLst/>
          </a:prstGeom>
          <a:noFill/>
          <a:ln>
            <a:noFill/>
          </a:ln>
        </p:spPr>
        <p:txBody>
          <a:bodyPr wrap="square" lIns="0" tIns="0" rIns="0" bIns="0" anchor="ctr">
            <a:noAutofit/>
          </a:bodyPr>
          <a:lstStyle/>
          <a:p>
            <a:pPr algn="l"/>
            <a:r>
              <a:rPr lang="en-US" sz="1200" b="0" i="0" dirty="0">
                <a:solidFill>
                  <a:srgbClr val="1F2328"/>
                </a:solidFill>
                <a:latin typeface="Calibri"/>
                <a:cs typeface="Calibri"/>
              </a:rPr>
              <a:t xml:space="preserve">LLM baseline</a:t>
            </a:r>
          </a:p>
        </p:txBody>
      </p:sp>
      <p:sp>
        <p:nvSpPr>
          <p:cNvPr id="1296" name="Cell"/>
          <p:cNvSpPr/>
          <p:nvPr/>
        </p:nvSpPr>
        <p:spPr>
          <a:xfrm>
            <a:off x="8458200" y="4818888"/>
            <a:ext cx="1316736" cy="256032"/>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2.74</a:t>
            </a:r>
          </a:p>
        </p:txBody>
      </p:sp>
      <p:sp>
        <p:nvSpPr>
          <p:cNvPr id="1297" name="Cell"/>
          <p:cNvSpPr/>
          <p:nvPr/>
        </p:nvSpPr>
        <p:spPr>
          <a:xfrm>
            <a:off x="9811512" y="4818888"/>
            <a:ext cx="1316736" cy="256032"/>
          </a:xfrm>
          <a:prstGeom prst="rect">
            <a:avLst/>
          </a:prstGeom>
          <a:solidFill>
            <a:srgbClr val="DDF0E5"/>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3.01</a:t>
            </a:r>
          </a:p>
        </p:txBody>
      </p:sp>
      <p:sp>
        <p:nvSpPr>
          <p:cNvPr id="1298" name="Method"/>
          <p:cNvSpPr txBox="1"/>
          <p:nvPr/>
        </p:nvSpPr>
        <p:spPr>
          <a:xfrm>
            <a:off x="6931152" y="5093208"/>
            <a:ext cx="1508760" cy="292608"/>
          </a:xfrm>
          <a:prstGeom prst="rect">
            <a:avLst/>
          </a:prstGeom>
          <a:noFill/>
          <a:ln>
            <a:noFill/>
          </a:ln>
        </p:spPr>
        <p:txBody>
          <a:bodyPr wrap="square" lIns="0" tIns="0" rIns="0" bIns="0" anchor="ctr">
            <a:noAutofit/>
          </a:bodyPr>
          <a:lstStyle/>
          <a:p>
            <a:pPr algn="l"/>
            <a:r>
              <a:rPr lang="en-US" sz="1200" b="0" i="0" dirty="0">
                <a:solidFill>
                  <a:srgbClr val="1F2328"/>
                </a:solidFill>
                <a:latin typeface="Calibri"/>
                <a:cs typeface="Calibri"/>
              </a:rPr>
              <a:t xml:space="preserve">Non-Iterative RAG</a:t>
            </a:r>
          </a:p>
        </p:txBody>
      </p:sp>
      <p:sp>
        <p:nvSpPr>
          <p:cNvPr id="1299" name="Cell"/>
          <p:cNvSpPr/>
          <p:nvPr/>
        </p:nvSpPr>
        <p:spPr>
          <a:xfrm>
            <a:off x="8458200" y="5111496"/>
            <a:ext cx="1316736" cy="256032"/>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2.39</a:t>
            </a:r>
          </a:p>
        </p:txBody>
      </p:sp>
      <p:sp>
        <p:nvSpPr>
          <p:cNvPr id="1300" name="Cell"/>
          <p:cNvSpPr/>
          <p:nvPr/>
        </p:nvSpPr>
        <p:spPr>
          <a:xfrm>
            <a:off x="9811512" y="5111496"/>
            <a:ext cx="1316736" cy="256032"/>
          </a:xfrm>
          <a:prstGeom prst="rect">
            <a:avLst/>
          </a:prstGeom>
          <a:solidFill>
            <a:srgbClr val="F6DAD3"/>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1.24</a:t>
            </a:r>
          </a:p>
        </p:txBody>
      </p:sp>
      <p:sp>
        <p:nvSpPr>
          <p:cNvPr id="1301" name="Method"/>
          <p:cNvSpPr txBox="1"/>
          <p:nvPr/>
        </p:nvSpPr>
        <p:spPr>
          <a:xfrm>
            <a:off x="6931152" y="5385816"/>
            <a:ext cx="1508760" cy="292608"/>
          </a:xfrm>
          <a:prstGeom prst="rect">
            <a:avLst/>
          </a:prstGeom>
          <a:noFill/>
          <a:ln>
            <a:noFill/>
          </a:ln>
        </p:spPr>
        <p:txBody>
          <a:bodyPr wrap="square" lIns="0" tIns="0" rIns="0" bIns="0" anchor="ctr">
            <a:noAutofit/>
          </a:bodyPr>
          <a:lstStyle/>
          <a:p>
            <a:pPr algn="l"/>
            <a:r>
              <a:rPr lang="en-US" sz="1200" b="1" i="0" dirty="0">
                <a:solidFill>
                  <a:srgbClr val="0B6E4F"/>
                </a:solidFill>
                <a:latin typeface="Calibri"/>
                <a:cs typeface="Calibri"/>
              </a:rPr>
              <a:t xml:space="preserve">RIGOR</a:t>
            </a:r>
          </a:p>
        </p:txBody>
      </p:sp>
      <p:sp>
        <p:nvSpPr>
          <p:cNvPr id="1302" name="Cell"/>
          <p:cNvSpPr/>
          <p:nvPr/>
        </p:nvSpPr>
        <p:spPr>
          <a:xfrm>
            <a:off x="8458200" y="5404104"/>
            <a:ext cx="1316736" cy="256032"/>
          </a:xfrm>
          <a:prstGeom prst="rect">
            <a:avLst/>
          </a:prstGeom>
          <a:solidFill>
            <a:srgbClr val="DDF0E5"/>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3.44</a:t>
            </a:r>
          </a:p>
        </p:txBody>
      </p:sp>
      <p:sp>
        <p:nvSpPr>
          <p:cNvPr id="1303" name="Cell"/>
          <p:cNvSpPr/>
          <p:nvPr/>
        </p:nvSpPr>
        <p:spPr>
          <a:xfrm>
            <a:off x="9811512" y="5404104"/>
            <a:ext cx="1316736" cy="256032"/>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3.53</a:t>
            </a:r>
          </a:p>
        </p:txBody>
      </p:sp>
      <p:sp>
        <p:nvSpPr>
          <p:cNvPr id="1304" name="Strip"/>
          <p:cNvSpPr/>
          <p:nvPr/>
        </p:nvSpPr>
        <p:spPr>
          <a:xfrm>
            <a:off x="804672" y="5879592"/>
            <a:ext cx="10579608" cy="420624"/>
          </a:xfrm>
          <a:prstGeom prst="roundRect">
            <a:avLst>
              <a:gd name="adj" fmla="val 12000"/>
            </a:avLst>
          </a:prstGeom>
          <a:solidFill>
            <a:srgbClr val="E6F2EC"/>
          </a:solidFill>
          <a:ln>
            <a:noFill/>
          </a:ln>
        </p:spPr>
        <p:txBody>
          <a:bodyPr wrap="square" lIns="201168" tIns="0" rIns="201168" bIns="0" anchor="ctr">
            <a:noAutofit/>
          </a:bodyPr>
          <a:lstStyle/>
          <a:p>
            <a:pPr algn="l"/>
            <a:r>
              <a:rPr lang="en-US" sz="1400" b="0" i="0" dirty="0">
                <a:solidFill>
                  <a:srgbClr val="3A434C"/>
                </a:solidFill>
                <a:latin typeface="Calibri"/>
                <a:cs typeface="Calibri"/>
              </a:rPr>
              <a:t xml:space="preserve">Direct Mapping: structure without meaning.  LLMs alone: meaning without structure.  </a:t>
            </a:r>
            <a:r>
              <a:rPr lang="en-US" sz="1400" b="1" i="0" dirty="0">
                <a:solidFill>
                  <a:srgbClr val="0B6E4F"/>
                </a:solidFill>
                <a:latin typeface="Calibri"/>
                <a:cs typeface="Calibri"/>
              </a:rPr>
              <a:t xml:space="preserve">RIGOR: both, and checked.</a:t>
            </a:r>
          </a:p>
        </p:txBody>
      </p:sp>
      <p:sp>
        <p:nvSpPr>
          <p:cNvPr id="1305" name="Source"/>
          <p:cNvSpPr txBox="1"/>
          <p:nvPr/>
        </p:nvSpPr>
        <p:spPr>
          <a:xfrm>
            <a:off x="822960" y="6382512"/>
            <a:ext cx="10607040" cy="237744"/>
          </a:xfrm>
          <a:prstGeom prst="rect">
            <a:avLst/>
          </a:prstGeom>
          <a:noFill/>
          <a:ln>
            <a:noFill/>
          </a:ln>
        </p:spPr>
        <p:txBody>
          <a:bodyPr wrap="square" lIns="0" tIns="0" rIns="0" bIns="0" anchor="t">
            <a:noAutofit/>
          </a:bodyPr>
          <a:lstStyle/>
          <a:p>
            <a:pPr algn="l"/>
            <a:r>
              <a:rPr lang="en-US" sz="1000" b="0" i="0" dirty="0">
                <a:solidFill>
                  <a:srgbClr val="5B6770"/>
                </a:solidFill>
                <a:latin typeface="Calibri"/>
                <a:cs typeface="Calibri"/>
              </a:rPr>
              <a:t xml:space="preserve">Average scores (0–5) per database. Judge: ontologies generated with Claude. Experts: significant agreement (Kendall's W). Paper Sec. 4.6, Tables 1, 10–12.</a:t>
            </a:r>
          </a:p>
        </p:txBody>
      </p:sp>
    </p:spTree>
  </p:cSld>
  <p:clrMapOvr>
    <a:masterClrMapping/>
  </p:clrMapOvr>
</p:sld>
</file>

<file path=ppt/theme/theme1.xml><?xml version="1.0" encoding="utf-8"?>
<a:theme xmlns:a="http://schemas.openxmlformats.org/drawingml/2006/main" xmlns:r="http://schemas.openxmlformats.org/officeDocument/2006/relationships" name="RIGOR · ISWC 2026 Talk">
  <a:themeElements>
    <a:clrScheme name="RIGOR · ISWC 2026 Talk">
      <a:dk1>
        <a:srgbClr val="111A28"/>
      </a:dk1>
      <a:lt1>
        <a:srgbClr val="F2F4F7"/>
      </a:lt1>
      <a:dk2>
        <a:srgbClr val="49515C"/>
      </a:dk2>
      <a:lt2>
        <a:srgbClr val="DCDEE2"/>
      </a:lt2>
      <a:accent1>
        <a:srgbClr val="2345C4"/>
      </a:accent1>
      <a:accent2>
        <a:srgbClr val="F4A261"/>
      </a:accent2>
      <a:accent3>
        <a:srgbClr val="B4561C"/>
      </a:accent3>
      <a:accent4>
        <a:srgbClr val="8FA5EB"/>
      </a:accent4>
      <a:accent5>
        <a:srgbClr val="8AA4FF"/>
      </a:accent5>
      <a:accent6>
        <a:srgbClr val="E9873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IGOR · ISWC 2026 Talk">
  <a:themeElements>
    <a:clrScheme name="RIGOR · ISWC 2026 Talk">
      <a:dk1>
        <a:srgbClr val="111A28"/>
      </a:dk1>
      <a:lt1>
        <a:srgbClr val="F2F4F7"/>
      </a:lt1>
      <a:dk2>
        <a:srgbClr val="49515C"/>
      </a:dk2>
      <a:lt2>
        <a:srgbClr val="DCDEE2"/>
      </a:lt2>
      <a:accent1>
        <a:srgbClr val="2345C4"/>
      </a:accent1>
      <a:accent2>
        <a:srgbClr val="F4A261"/>
      </a:accent2>
      <a:accent3>
        <a:srgbClr val="B4561C"/>
      </a:accent3>
      <a:accent4>
        <a:srgbClr val="8FA5EB"/>
      </a:accent4>
      <a:accent5>
        <a:srgbClr val="8AA4FF"/>
      </a:accent5>
      <a:accent6>
        <a:srgbClr val="E9873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2026-10-26T00:50:16Z</dcterms:created>
</cp:coreProperties>
</file>