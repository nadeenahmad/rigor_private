
<file path=[Content_Types].xml><?xml version="1.0" encoding="utf-8"?>
<Types xmlns="http://schemas.openxmlformats.org/package/2006/content-types">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27.xml"/>
  <Override ContentType="application/vnd.openxmlformats-officedocument.presentationml.slideLayout+xml" PartName="/ppt/slideLayouts/slideLayout2.xml"/>
  <Override ContentType="application/vnd.openxmlformats-officedocument.presentationml.slideLayout+xml" PartName="/ppt/slideLayouts/slideLayout1.xml"/>
  <Override ContentType="application/vnd.openxmlformats-officedocument.presentationml.slideMaster+xml" PartName="/ppt/slideMasters/slideMaster1.xml"/>
  <Override ContentType="application/binary" PartName="/ppt/metadata"/>
  <Override ContentType="application/vnd.openxmlformats-officedocument.presentationml.slide+xml" PartName="/ppt/slides/slide27.xml"/>
  <Override ContentType="application/vnd.openxmlformats-officedocument.presentationml.notesMaster+xml" PartName="/ppt/notesMasters/notesMaster1.xml"/>
  <Override ContentType="application/vnd.openxmlformats-package.core-properties+xml" PartName="/docProps/core.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8" r:id="rId3"/>
  </p:sldMasterIdLst>
  <p:notesMasterIdLst>
    <p:notesMasterId r:id="rId4"/>
  </p:notesMasterIdLst>
  <p:sldIdLst>
    <p:sldId id="282" r:id="rId31"/>
  </p:sldIdLst>
  <p:sldSz cy="6858000" cx="12192000"/>
  <p:notesSz cx="6858000" cy="12192000"/>
  <p:embeddedFontLst>
    <p:embeddedFont>
      <p:font typeface="IBM Plex Sans"/>
      <p:regular r:id="rId40"/>
      <p:bold r:id="rId41"/>
      <p:italic r:id="rId42"/>
      <p:boldItalic r:id="rId43"/>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44" roundtripDataSignature="AMtx7miIhFui5hy+i4o3KOYM/gPuu+LjKw=="/>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Relationships xmlns="http://schemas.openxmlformats.org/package/2006/relationships"><Relationship Id="rId40" Type="http://schemas.openxmlformats.org/officeDocument/2006/relationships/font" Target="fonts/IBMPlexSans-regular.fntdata"/><Relationship Id="rId42" Type="http://schemas.openxmlformats.org/officeDocument/2006/relationships/font" Target="fonts/IBMPlexSans-italic.fntdata"/><Relationship Id="rId41" Type="http://schemas.openxmlformats.org/officeDocument/2006/relationships/font" Target="fonts/IBMPlexSans-bold.fntdata"/><Relationship Id="rId44" Type="http://customschemas.google.com/relationships/presentationmetadata" Target="metadata"/><Relationship Id="rId43" Type="http://schemas.openxmlformats.org/officeDocument/2006/relationships/font" Target="fonts/IBMPlexSans-boldItalic.fntdata"/><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31" Type="http://schemas.openxmlformats.org/officeDocument/2006/relationships/slide" Target="slides/slide27.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IBM Plex Sans"/>
                <a:ea typeface="IBM Plex Sans"/>
                <a:cs typeface="IBM Plex Sans"/>
                <a:sym typeface="IBM Plex Sans"/>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IBM Plex Sans"/>
                <a:ea typeface="IBM Plex Sans"/>
                <a:cs typeface="IBM Plex Sans"/>
                <a:sym typeface="IBM Plex Sans"/>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IBM Plex Sans"/>
                <a:ea typeface="IBM Plex Sans"/>
                <a:cs typeface="IBM Plex Sans"/>
                <a:sym typeface="IBM Plex Sans"/>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IBM Plex Sans"/>
                <a:ea typeface="IBM Plex Sans"/>
                <a:cs typeface="IBM Plex Sans"/>
                <a:sym typeface="IBM Plex Sans"/>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IBM Plex Sans"/>
                <a:ea typeface="IBM Plex Sans"/>
                <a:cs typeface="IBM Plex Sans"/>
                <a:sym typeface="IBM Plex Sans"/>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IBM Plex Sans"/>
                <a:ea typeface="IBM Plex Sans"/>
                <a:cs typeface="IBM Plex Sans"/>
                <a:sym typeface="IBM Plex Sans"/>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IBM Plex Sans"/>
                <a:ea typeface="IBM Plex Sans"/>
                <a:cs typeface="IBM Plex Sans"/>
                <a:sym typeface="IBM Plex Sans"/>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IBM Plex Sans"/>
                <a:ea typeface="IBM Plex Sans"/>
                <a:cs typeface="IBM Plex Sans"/>
                <a:sym typeface="IBM Plex Sans"/>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IBM Plex Sans"/>
                <a:ea typeface="IBM Plex Sans"/>
                <a:cs typeface="IBM Plex Sans"/>
                <a:sym typeface="IBM Plex Sans"/>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lnSpc>
                <a:spcPct val="100000"/>
              </a:lnSpc>
              <a:spcBef>
                <a:spcPts val="0"/>
              </a:spcBef>
              <a:spcAft>
                <a:spcPts val="0"/>
              </a:spcAft>
              <a:buClr>
                <a:srgbClr val="000000"/>
              </a:buClr>
              <a:buSzPts val="1400"/>
              <a:buFont typeface="Arial"/>
              <a:buNone/>
              <a:defRPr b="0" i="0" sz="1200" u="none" cap="none" strike="noStrike">
                <a:solidFill>
                  <a:schemeClr val="dk1"/>
                </a:solidFill>
                <a:latin typeface="IBM Plex Sans"/>
                <a:ea typeface="IBM Plex Sans"/>
                <a:cs typeface="IBM Plex Sans"/>
                <a:sym typeface="IBM Plex Sans"/>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IBM Plex Sans"/>
                <a:ea typeface="IBM Plex Sans"/>
                <a:cs typeface="IBM Plex Sans"/>
                <a:sym typeface="IBM Plex Sans"/>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IBM Plex Sans"/>
                <a:ea typeface="IBM Plex Sans"/>
                <a:cs typeface="IBM Plex Sans"/>
                <a:sym typeface="IBM Plex Sans"/>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IBM Plex Sans"/>
                <a:ea typeface="IBM Plex Sans"/>
                <a:cs typeface="IBM Plex Sans"/>
                <a:sym typeface="IBM Plex Sans"/>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IBM Plex Sans"/>
                <a:ea typeface="IBM Plex Sans"/>
                <a:cs typeface="IBM Plex Sans"/>
                <a:sym typeface="IBM Plex Sans"/>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IBM Plex Sans"/>
                <a:ea typeface="IBM Plex Sans"/>
                <a:cs typeface="IBM Plex Sans"/>
                <a:sym typeface="IBM Plex Sans"/>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IBM Plex Sans"/>
                <a:ea typeface="IBM Plex Sans"/>
                <a:cs typeface="IBM Plex Sans"/>
                <a:sym typeface="IBM Plex Sans"/>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IBM Plex Sans"/>
                <a:ea typeface="IBM Plex Sans"/>
                <a:cs typeface="IBM Plex Sans"/>
                <a:sym typeface="IBM Plex Sans"/>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IBM Plex Sans"/>
                <a:ea typeface="IBM Plex Sans"/>
                <a:cs typeface="IBM Plex Sans"/>
                <a:sym typeface="IBM Plex Sans"/>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IBM Plex Sans"/>
                <a:ea typeface="IBM Plex Sans"/>
                <a:cs typeface="IBM Plex Sans"/>
                <a:sym typeface="IBM Plex Sans"/>
              </a:defRPr>
            </a:lvl1pPr>
            <a:lvl2pPr indent="-228600" lvl="1" marL="9144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IBM Plex Sans"/>
                <a:ea typeface="IBM Plex Sans"/>
                <a:cs typeface="IBM Plex Sans"/>
                <a:sym typeface="IBM Plex Sans"/>
              </a:defRPr>
            </a:lvl2pPr>
            <a:lvl3pPr indent="-228600" lvl="2" marL="13716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IBM Plex Sans"/>
                <a:ea typeface="IBM Plex Sans"/>
                <a:cs typeface="IBM Plex Sans"/>
                <a:sym typeface="IBM Plex Sans"/>
              </a:defRPr>
            </a:lvl3pPr>
            <a:lvl4pPr indent="-228600" lvl="3" marL="18288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IBM Plex Sans"/>
                <a:ea typeface="IBM Plex Sans"/>
                <a:cs typeface="IBM Plex Sans"/>
                <a:sym typeface="IBM Plex Sans"/>
              </a:defRPr>
            </a:lvl4pPr>
            <a:lvl5pPr indent="-228600" lvl="4" marL="22860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IBM Plex Sans"/>
                <a:ea typeface="IBM Plex Sans"/>
                <a:cs typeface="IBM Plex Sans"/>
                <a:sym typeface="IBM Plex Sans"/>
              </a:defRPr>
            </a:lvl5pPr>
            <a:lvl6pPr indent="-228600" lvl="5" marL="27432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IBM Plex Sans"/>
                <a:ea typeface="IBM Plex Sans"/>
                <a:cs typeface="IBM Plex Sans"/>
                <a:sym typeface="IBM Plex Sans"/>
              </a:defRPr>
            </a:lvl6pPr>
            <a:lvl7pPr indent="-228600" lvl="6" marL="32004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IBM Plex Sans"/>
                <a:ea typeface="IBM Plex Sans"/>
                <a:cs typeface="IBM Plex Sans"/>
                <a:sym typeface="IBM Plex Sans"/>
              </a:defRPr>
            </a:lvl7pPr>
            <a:lvl8pPr indent="-228600" lvl="7" marL="36576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IBM Plex Sans"/>
                <a:ea typeface="IBM Plex Sans"/>
                <a:cs typeface="IBM Plex Sans"/>
                <a:sym typeface="IBM Plex Sans"/>
              </a:defRPr>
            </a:lvl8pPr>
            <a:lvl9pPr indent="-228600" lvl="8" marL="41148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IBM Plex Sans"/>
                <a:ea typeface="IBM Plex Sans"/>
                <a:cs typeface="IBM Plex Sans"/>
                <a:sym typeface="IBM Plex Sans"/>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IBM Plex Sans"/>
                <a:ea typeface="IBM Plex Sans"/>
                <a:cs typeface="IBM Plex Sans"/>
                <a:sym typeface="IBM Plex Sans"/>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IBM Plex Sans"/>
                <a:ea typeface="IBM Plex Sans"/>
                <a:cs typeface="IBM Plex Sans"/>
                <a:sym typeface="IBM Plex Sans"/>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IBM Plex Sans"/>
                <a:ea typeface="IBM Plex Sans"/>
                <a:cs typeface="IBM Plex Sans"/>
                <a:sym typeface="IBM Plex Sans"/>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IBM Plex Sans"/>
                <a:ea typeface="IBM Plex Sans"/>
                <a:cs typeface="IBM Plex Sans"/>
                <a:sym typeface="IBM Plex Sans"/>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IBM Plex Sans"/>
                <a:ea typeface="IBM Plex Sans"/>
                <a:cs typeface="IBM Plex Sans"/>
                <a:sym typeface="IBM Plex Sans"/>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IBM Plex Sans"/>
                <a:ea typeface="IBM Plex Sans"/>
                <a:cs typeface="IBM Plex Sans"/>
                <a:sym typeface="IBM Plex Sans"/>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IBM Plex Sans"/>
                <a:ea typeface="IBM Plex Sans"/>
                <a:cs typeface="IBM Plex Sans"/>
                <a:sym typeface="IBM Plex Sans"/>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IBM Plex Sans"/>
                <a:ea typeface="IBM Plex Sans"/>
                <a:cs typeface="IBM Plex Sans"/>
                <a:sym typeface="IBM Plex Sans"/>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IBM Plex Sans"/>
                <a:ea typeface="IBM Plex Sans"/>
                <a:cs typeface="IBM Plex Sans"/>
                <a:sym typeface="IBM Plex Sans"/>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200"/>
              <a:buFont typeface="Arial"/>
              <a:buNone/>
            </a:pPr>
            <a:fld id="{00000000-1234-1234-1234-123412341234}" type="slidenum">
              <a:rPr b="0" i="0" lang="en-US" sz="1200" u="none" cap="none" strike="noStrike">
                <a:solidFill>
                  <a:schemeClr val="dk1"/>
                </a:solidFill>
                <a:latin typeface="IBM Plex Sans"/>
                <a:ea typeface="IBM Plex Sans"/>
                <a:cs typeface="IBM Plex Sans"/>
                <a:sym typeface="IBM Plex Sans"/>
              </a:rPr>
              <a:t>‹#›</a:t>
            </a:fld>
            <a:endParaRPr b="0" i="0" sz="1200" u="none" cap="none" strike="noStrike">
              <a:solidFill>
                <a:schemeClr val="dk1"/>
              </a:solidFill>
              <a:latin typeface="IBM Plex Sans"/>
              <a:ea typeface="IBM Plex Sans"/>
              <a:cs typeface="IBM Plex Sans"/>
              <a:sym typeface="IBM Plex Sans"/>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51" name="Shape 1251"/>
        <p:cNvGrpSpPr/>
        <p:nvPr/>
      </p:nvGrpSpPr>
      <p:grpSpPr>
        <a:xfrm>
          <a:off x="0" y="0"/>
          <a:ext cx="0" cy="0"/>
          <a:chOff x="0" y="0"/>
          <a:chExt cx="0" cy="0"/>
        </a:xfrm>
      </p:grpSpPr>
      <p:sp>
        <p:nvSpPr>
          <p:cNvPr id="1252" name="Google Shape;1252;p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53" name="Google Shape;1253;p1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rPr lang="en-US" sz="1200">
                <a:solidFill>
                  <a:schemeClr val="dk1"/>
                </a:solidFill>
                <a:latin typeface="Calibri"/>
                <a:ea typeface="Calibri"/>
                <a:cs typeface="Calibri"/>
                <a:sym typeface="Calibri"/>
              </a:rPr>
              <a:t>[11:07–12:03]  SPOKEN SCRIPT (91 words)</a:t>
            </a:r>
          </a:p>
          <a:p>
            <a:r>
              <a:rPr lang="en-US" sz="1200">
                <a:solidFill>
                  <a:schemeClr val="dk1"/>
                </a:solidFill>
                <a:latin typeface="Calibri"/>
                <a:ea typeface="Calibri"/>
                <a:cs typeface="Calibri"/>
                <a:sym typeface="Calibri"/>
              </a:rPr>
              <a:t>Automatic checks agree. Do evaluators agree? For each table, an LLM judge and ten ontology experts saw the schema, five competency questions, the questions the ontology must answer, and four anonymized ontologies. They scored each on seven quality dimensions and ranked them. The LLM judge put RIGOR first on every table, in all three databases. [pause] The experts put RIGOR first in seven of ten rankings, with the highest average score on both databases. [pause] Direct mapping gives structure without meaning. LLMs alone give meaning without structure. RIGOR gives both, and checks them.</a:t>
            </a:r>
          </a:p>
          <a:p/>
          <a:p>
            <a:r>
              <a:rPr lang="en-US" sz="1200">
                <a:solidFill>
                  <a:schemeClr val="dk1"/>
                </a:solidFill>
                <a:latin typeface="Calibri"/>
                <a:ea typeface="Calibri"/>
                <a:cs typeface="Calibri"/>
                <a:sym typeface="Calibri"/>
              </a:rPr>
              <a:t>PRESENTER / POINTER: The 'How they judged' box in one breath; then the two claims; then the closing strip.</a:t>
            </a:r>
          </a:p>
          <a:p>
            <a:r>
              <a:rPr lang="en-US" sz="1200">
                <a:solidFill>
                  <a:schemeClr val="dk1"/>
                </a:solidFill>
                <a:latin typeface="Calibri"/>
                <a:ea typeface="Calibri"/>
                <a:cs typeface="Calibri"/>
                <a:sym typeface="Calibri"/>
              </a:rPr>
              <a:t>AUDIENCE TAKEAWAY: Judged blind against competency questions, an LLM judge and human experts both rank RIGOR first.</a:t>
            </a:r>
          </a:p>
          <a:p>
            <a:r>
              <a:rPr lang="en-US" sz="1200">
                <a:solidFill>
                  <a:schemeClr val="dk1"/>
                </a:solidFill>
                <a:latin typeface="Calibri"/>
                <a:ea typeface="Calibri"/>
                <a:cs typeface="Calibri"/>
                <a:sym typeface="Calibri"/>
              </a:rPr>
              <a:t>SOURCE AND SCOPE: Paper Sec. 4.2 and 4.6 (5 expert-verified CQs per table, 7 dimensions, ranking), Table 1 (judge scores and first places: 58 of 58 tables), Table 11 (expert scores), Table 12 (Kendall's W 0.39-0.72). Judge evaluated the Claude ontologies; experts 4 medical tables, 28 of 40 first places.</a:t>
            </a:r>
          </a:p>
          <a:p>
            <a:r>
              <a:rPr lang="en-US" sz="1200">
                <a:solidFill>
                  <a:schemeClr val="dk1"/>
                </a:solidFill>
                <a:latin typeface="Calibri"/>
                <a:ea typeface="Calibri"/>
                <a:cs typeface="Calibri"/>
                <a:sym typeface="Calibri"/>
              </a:rPr>
              <a:t>IF RUNNING LATE, DROP: "with the highest average score on both databases"</a:t>
            </a:r>
          </a:p>
          <a:p/>
          <a:p>
            <a:r>
              <a:rPr lang="en-US" sz="1200">
                <a:solidFill>
                  <a:schemeClr val="dk1"/>
                </a:solidFill>
                <a:latin typeface="Calibri"/>
                <a:ea typeface="Calibri"/>
                <a:cs typeface="Calibri"/>
                <a:sym typeface="Calibri"/>
              </a:rPr>
              <a:t>IF ASKED HOW MANY: the judge ranked RIGOR first on 58 of 58 tables (16 Liver Cancer, 31 eICU-CRD, 11 Chinook); the experts in 28 of 40 rankings (10 experts x 4 tables).</a:t>
            </a:r>
          </a:p>
        </p:txBody>
      </p:sp>
      <p:sp>
        <p:nvSpPr>
          <p:cNvPr id="1254" name="Google Shape;1254;p1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p:cSld name="Title and body">
    <p:bg>
      <p:bgPr>
        <a:solidFill>
          <a:srgbClr val="FFFFFF"/>
        </a:solidFill>
      </p:bgPr>
    </p:bg>
    <p:spTree>
      <p:nvGrpSpPr>
        <p:cNvPr id="12" name="Shape 12"/>
        <p:cNvGrpSpPr/>
        <p:nvPr/>
      </p:nvGrpSpPr>
      <p:grpSpPr>
        <a:xfrm>
          <a:off x="0" y="0"/>
          <a:ext cx="0" cy="0"/>
          <a:chOff x="0" y="0"/>
          <a:chExt cx="0" cy="0"/>
        </a:xfrm>
      </p:grpSpPr>
      <p:sp>
        <p:nvSpPr>
          <p:cNvPr id="13" name="Google Shape;13;p25"/>
          <p:cNvSpPr txBox="1"/>
          <p:nvPr>
            <p:ph type="title"/>
          </p:nvPr>
        </p:nvSpPr>
        <p:spPr>
          <a:xfrm>
            <a:off x="812800" y="1153120"/>
            <a:ext cx="10566400" cy="391120"/>
          </a:xfrm>
          <a:prstGeom prst="rect">
            <a:avLst/>
          </a:prstGeom>
          <a:noFill/>
          <a:ln>
            <a:noFill/>
          </a:ln>
        </p:spPr>
        <p:txBody>
          <a:bodyPr anchorCtr="0" anchor="t" bIns="0" lIns="0" spcFirstLastPara="1" rIns="0" wrap="square" tIns="0">
            <a:noAutofit/>
          </a:bodyPr>
          <a:lstStyle>
            <a:lvl1pPr lvl="0" algn="l">
              <a:lnSpc>
                <a:spcPct val="115000"/>
              </a:lnSpc>
              <a:spcBef>
                <a:spcPts val="0"/>
              </a:spcBef>
              <a:spcAft>
                <a:spcPts val="0"/>
              </a:spcAft>
              <a:buClr>
                <a:srgbClr val="1F2328"/>
              </a:buClr>
              <a:buSzPts val="2800"/>
              <a:buFont typeface="Calibri"/>
              <a:buNone/>
              <a:defRPr sz="2800">
                <a:solidFill>
                  <a:srgbClr val="1F2328"/>
                </a:solidFill>
                <a:latin typeface="Calibri"/>
                <a:ea typeface="Calibri"/>
                <a:cs typeface="Calibri"/>
                <a:sym typeface="Calibri"/>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4" name="Google Shape;14;p25"/>
          <p:cNvSpPr txBox="1"/>
          <p:nvPr>
            <p:ph idx="1" type="body"/>
          </p:nvPr>
        </p:nvSpPr>
        <p:spPr>
          <a:xfrm>
            <a:off x="812800" y="1849041"/>
            <a:ext cx="10566400" cy="4196159"/>
          </a:xfrm>
          <a:prstGeom prst="rect">
            <a:avLst/>
          </a:prstGeom>
          <a:noFill/>
          <a:ln>
            <a:noFill/>
          </a:ln>
        </p:spPr>
        <p:txBody>
          <a:bodyPr anchorCtr="0" anchor="t" bIns="0" lIns="0" spcFirstLastPara="1" rIns="0" wrap="square" tIns="0">
            <a:noAutofit/>
          </a:bodyPr>
          <a:lstStyle>
            <a:lvl1pPr indent="-228600" lvl="0" marL="457200" algn="l">
              <a:lnSpc>
                <a:spcPct val="140000"/>
              </a:lnSpc>
              <a:spcBef>
                <a:spcPts val="320"/>
              </a:spcBef>
              <a:spcAft>
                <a:spcPts val="0"/>
              </a:spcAft>
              <a:buClr>
                <a:srgbClr val="1F2328"/>
              </a:buClr>
              <a:buSzPts val="1600"/>
              <a:buNone/>
              <a:defRPr sz="1600">
                <a:solidFill>
                  <a:srgbClr val="1F2328"/>
                </a:solidFill>
                <a:latin typeface="Calibri"/>
                <a:ea typeface="Calibri"/>
                <a:cs typeface="Calibri"/>
                <a:sym typeface="Calibri"/>
              </a:defRPr>
            </a:lvl1pPr>
            <a:lvl2pPr indent="-342900" lvl="1" marL="914400" algn="l">
              <a:lnSpc>
                <a:spcPct val="100000"/>
              </a:lnSpc>
              <a:spcBef>
                <a:spcPts val="360"/>
              </a:spcBef>
              <a:spcAft>
                <a:spcPts val="0"/>
              </a:spcAft>
              <a:buClr>
                <a:schemeClr val="dk1"/>
              </a:buClr>
              <a:buSzPts val="1800"/>
              <a:buChar char="–"/>
              <a:defRPr/>
            </a:lvl2pPr>
            <a:lvl3pPr indent="-342900" lvl="2" marL="1371600" algn="l">
              <a:lnSpc>
                <a:spcPct val="100000"/>
              </a:lnSpc>
              <a:spcBef>
                <a:spcPts val="360"/>
              </a:spcBef>
              <a:spcAft>
                <a:spcPts val="0"/>
              </a:spcAft>
              <a:buClr>
                <a:schemeClr val="dk1"/>
              </a:buClr>
              <a:buSzPts val="1800"/>
              <a:buChar char="•"/>
              <a:defRPr/>
            </a:lvl3pPr>
            <a:lvl4pPr indent="-342900" lvl="3" marL="1828800" algn="l">
              <a:lnSpc>
                <a:spcPct val="100000"/>
              </a:lnSpc>
              <a:spcBef>
                <a:spcPts val="360"/>
              </a:spcBef>
              <a:spcAft>
                <a:spcPts val="0"/>
              </a:spcAft>
              <a:buClr>
                <a:schemeClr val="dk1"/>
              </a:buClr>
              <a:buSzPts val="1800"/>
              <a:buChar char="–"/>
              <a:defRPr/>
            </a:lvl4pPr>
            <a:lvl5pPr indent="-342900" lvl="4" marL="2286000" algn="l">
              <a:lnSpc>
                <a:spcPct val="100000"/>
              </a:lnSpc>
              <a:spcBef>
                <a:spcPts val="360"/>
              </a:spcBef>
              <a:spcAft>
                <a:spcPts val="0"/>
              </a:spcAft>
              <a:buClr>
                <a:schemeClr val="dk1"/>
              </a:buClr>
              <a:buSzPts val="1800"/>
              <a:buChar char="»"/>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5" name="Shape 15"/>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 name="Shape 9"/>
        <p:cNvGrpSpPr/>
        <p:nvPr/>
      </p:nvGrpSpPr>
      <p:grpSpPr>
        <a:xfrm>
          <a:off x="0" y="0"/>
          <a:ext cx="0" cy="0"/>
          <a:chOff x="0" y="0"/>
          <a:chExt cx="0" cy="0"/>
        </a:xfrm>
      </p:grpSpPr>
      <p:sp>
        <p:nvSpPr>
          <p:cNvPr id="10" name="Google Shape;10;p24"/>
          <p:cNvSpPr txBox="1"/>
          <p:nvPr>
            <p:ph type="title"/>
          </p:nvPr>
        </p:nvSpPr>
        <p:spPr>
          <a:xfrm>
            <a:off x="812800" y="1153120"/>
            <a:ext cx="10566400" cy="391120"/>
          </a:xfrm>
          <a:prstGeom prst="rect">
            <a:avLst/>
          </a:prstGeom>
          <a:noFill/>
          <a:ln>
            <a:noFill/>
          </a:ln>
        </p:spPr>
        <p:txBody>
          <a:bodyPr anchorCtr="0" anchor="t" bIns="0" lIns="0" spcFirstLastPara="1" rIns="0" wrap="square" tIns="0">
            <a:noAutofit/>
          </a:bodyPr>
          <a:lstStyle>
            <a:lvl1pPr lvl="0" marR="0" rtl="0" algn="l">
              <a:lnSpc>
                <a:spcPct val="115000"/>
              </a:lnSpc>
              <a:spcBef>
                <a:spcPts val="0"/>
              </a:spcBef>
              <a:spcAft>
                <a:spcPts val="0"/>
              </a:spcAft>
              <a:buClr>
                <a:srgbClr val="1F2328"/>
              </a:buClr>
              <a:buSzPts val="2800"/>
              <a:buFont typeface="Calibri"/>
              <a:buNone/>
              <a:defRPr b="0" i="0" sz="2800" u="none" cap="none" strike="noStrike">
                <a:solidFill>
                  <a:srgbClr val="1F2328"/>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Calibri"/>
              <a:buNone/>
              <a:defRPr b="0" i="0" sz="1800" u="none" cap="none" strike="noStrike">
                <a:solidFill>
                  <a:srgbClr val="000000"/>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Calibri"/>
              <a:buNone/>
              <a:defRPr b="0" i="0" sz="1800" u="none" cap="none" strike="noStrike">
                <a:solidFill>
                  <a:srgbClr val="000000"/>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Calibri"/>
              <a:buNone/>
              <a:defRPr b="0" i="0" sz="1800" u="none" cap="none" strike="noStrike">
                <a:solidFill>
                  <a:srgbClr val="000000"/>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Calibri"/>
              <a:buNone/>
              <a:defRPr b="0" i="0" sz="1800" u="none" cap="none" strike="noStrike">
                <a:solidFill>
                  <a:srgbClr val="000000"/>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Calibri"/>
              <a:buNone/>
              <a:defRPr b="0" i="0" sz="1800" u="none" cap="none" strike="noStrike">
                <a:solidFill>
                  <a:srgbClr val="000000"/>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Calibri"/>
              <a:buNone/>
              <a:defRPr b="0" i="0" sz="1800" u="none" cap="none" strike="noStrike">
                <a:solidFill>
                  <a:srgbClr val="000000"/>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Calibri"/>
              <a:buNone/>
              <a:defRPr b="0" i="0" sz="1800" u="none" cap="none" strike="noStrike">
                <a:solidFill>
                  <a:srgbClr val="000000"/>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Calibri"/>
              <a:buNone/>
              <a:defRPr b="0" i="0" sz="1800" u="none" cap="none" strike="noStrike">
                <a:solidFill>
                  <a:srgbClr val="000000"/>
                </a:solidFill>
                <a:latin typeface="Calibri"/>
                <a:ea typeface="Calibri"/>
                <a:cs typeface="Calibri"/>
                <a:sym typeface="Calibri"/>
              </a:defRPr>
            </a:lvl9pPr>
          </a:lstStyle>
          <a:p/>
        </p:txBody>
      </p:sp>
      <p:sp>
        <p:nvSpPr>
          <p:cNvPr id="11" name="Google Shape;11;p24"/>
          <p:cNvSpPr txBox="1"/>
          <p:nvPr>
            <p:ph idx="1" type="body"/>
          </p:nvPr>
        </p:nvSpPr>
        <p:spPr>
          <a:xfrm>
            <a:off x="812800" y="1849041"/>
            <a:ext cx="10566400" cy="4196159"/>
          </a:xfrm>
          <a:prstGeom prst="rect">
            <a:avLst/>
          </a:prstGeom>
          <a:noFill/>
          <a:ln>
            <a:noFill/>
          </a:ln>
        </p:spPr>
        <p:txBody>
          <a:bodyPr anchorCtr="0" anchor="t" bIns="0" lIns="0" spcFirstLastPara="1" rIns="0" wrap="square" tIns="0">
            <a:noAutofit/>
          </a:bodyPr>
          <a:lstStyle>
            <a:lvl1pPr indent="-228600" lvl="0" marL="457200" marR="0" rtl="0" algn="l">
              <a:lnSpc>
                <a:spcPct val="140000"/>
              </a:lnSpc>
              <a:spcBef>
                <a:spcPts val="320"/>
              </a:spcBef>
              <a:spcAft>
                <a:spcPts val="0"/>
              </a:spcAft>
              <a:buClr>
                <a:srgbClr val="1F2328"/>
              </a:buClr>
              <a:buSzPts val="1600"/>
              <a:buFont typeface="Calibri"/>
              <a:buNone/>
              <a:defRPr b="0" i="0" sz="1600" u="none" cap="none" strike="noStrike">
                <a:solidFill>
                  <a:srgbClr val="1F2328"/>
                </a:solidFill>
                <a:latin typeface="Calibri"/>
                <a:ea typeface="Calibri"/>
                <a:cs typeface="Calibri"/>
                <a:sym typeface="Calibri"/>
              </a:defRPr>
            </a:lvl1pPr>
            <a:lvl2pPr indent="-406400" lvl="1" marL="914400" marR="0" rtl="0" algn="l">
              <a:lnSpc>
                <a:spcPct val="100000"/>
              </a:lnSpc>
              <a:spcBef>
                <a:spcPts val="560"/>
              </a:spcBef>
              <a:spcAft>
                <a:spcPts val="0"/>
              </a:spcAft>
              <a:buClr>
                <a:schemeClr val="dk1"/>
              </a:buClr>
              <a:buSzPts val="2800"/>
              <a:buFont typeface="Calibri"/>
              <a:buChar char="–"/>
              <a:defRPr b="0" i="0" sz="2800" u="none" cap="none" strike="noStrike">
                <a:solidFill>
                  <a:schemeClr val="dk1"/>
                </a:solidFill>
                <a:latin typeface="Calibri"/>
                <a:ea typeface="Calibri"/>
                <a:cs typeface="Calibri"/>
                <a:sym typeface="Calibri"/>
              </a:defRPr>
            </a:lvl2pPr>
            <a:lvl3pPr indent="-381000" lvl="2" marL="1371600" marR="0" rtl="0" algn="l">
              <a:lnSpc>
                <a:spcPct val="100000"/>
              </a:lnSpc>
              <a:spcBef>
                <a:spcPts val="480"/>
              </a:spcBef>
              <a:spcAft>
                <a:spcPts val="0"/>
              </a:spcAft>
              <a:buClr>
                <a:schemeClr val="dk1"/>
              </a:buClr>
              <a:buSzPts val="2400"/>
              <a:buFont typeface="Calibri"/>
              <a:buChar char="•"/>
              <a:defRPr b="0" i="0" sz="2400" u="none" cap="none" strike="noStrike">
                <a:solidFill>
                  <a:schemeClr val="dk1"/>
                </a:solidFill>
                <a:latin typeface="Calibri"/>
                <a:ea typeface="Calibri"/>
                <a:cs typeface="Calibri"/>
                <a:sym typeface="Calibri"/>
              </a:defRPr>
            </a:lvl3pPr>
            <a:lvl4pPr indent="-355600" lvl="3" marL="1828800" marR="0" rtl="0" algn="l">
              <a:lnSpc>
                <a:spcPct val="100000"/>
              </a:lnSpc>
              <a:spcBef>
                <a:spcPts val="400"/>
              </a:spcBef>
              <a:spcAft>
                <a:spcPts val="0"/>
              </a:spcAft>
              <a:buClr>
                <a:schemeClr val="dk1"/>
              </a:buClr>
              <a:buSzPts val="2000"/>
              <a:buFont typeface="Calibri"/>
              <a:buChar char="–"/>
              <a:defRPr b="0" i="0" sz="2000" u="none" cap="none" strike="noStrike">
                <a:solidFill>
                  <a:schemeClr val="dk1"/>
                </a:solidFill>
                <a:latin typeface="Calibri"/>
                <a:ea typeface="Calibri"/>
                <a:cs typeface="Calibri"/>
                <a:sym typeface="Calibri"/>
              </a:defRPr>
            </a:lvl4pPr>
            <a:lvl5pPr indent="-355600" lvl="4" marL="2286000" marR="0" rtl="0" algn="l">
              <a:lnSpc>
                <a:spcPct val="100000"/>
              </a:lnSpc>
              <a:spcBef>
                <a:spcPts val="400"/>
              </a:spcBef>
              <a:spcAft>
                <a:spcPts val="0"/>
              </a:spcAft>
              <a:buClr>
                <a:schemeClr val="dk1"/>
              </a:buClr>
              <a:buSzPts val="2000"/>
              <a:buFont typeface="Calibri"/>
              <a:buChar char="»"/>
              <a:defRPr b="0" i="0" sz="2000" u="none" cap="none" strike="noStrike">
                <a:solidFill>
                  <a:schemeClr val="dk1"/>
                </a:solidFill>
                <a:latin typeface="Calibri"/>
                <a:ea typeface="Calibri"/>
                <a:cs typeface="Calibri"/>
                <a:sym typeface="Calibri"/>
              </a:defRPr>
            </a:lvl5pPr>
            <a:lvl6pPr indent="-355600" lvl="5" marL="2743200" marR="0" rtl="0" algn="l">
              <a:lnSpc>
                <a:spcPct val="100000"/>
              </a:lnSpc>
              <a:spcBef>
                <a:spcPts val="400"/>
              </a:spcBef>
              <a:spcAft>
                <a:spcPts val="0"/>
              </a:spcAft>
              <a:buClr>
                <a:schemeClr val="dk1"/>
              </a:buClr>
              <a:buSzPts val="2000"/>
              <a:buFont typeface="Calibri"/>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Calibri"/>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Calibri"/>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Calibri"/>
              <a:buChar char="•"/>
              <a:defRPr b="0" i="0" sz="2000" u="none" cap="none" strike="noStrike">
                <a:solidFill>
                  <a:schemeClr val="dk1"/>
                </a:solidFill>
                <a:latin typeface="Calibri"/>
                <a:ea typeface="Calibri"/>
                <a:cs typeface="Calibri"/>
                <a:sym typeface="Calibri"/>
              </a:defRPr>
            </a:lvl9pPr>
          </a:lstStyle>
          <a:p/>
        </p:txBody>
      </p:sp>
    </p:spTree>
  </p:cSld>
  <p:clrMap accent1="accent1" accent2="accent2" accent3="accent3" accent4="accent4" accent5="accent5" accent6="accent6" bg1="lt1" bg2="dk2" tx1="dk1" tx2="lt2" folHlink="folHlink" hlink="hlink"/>
  <p:sldLayoutIdLst>
    <p:sldLayoutId id="2147483649" r:id="rId1"/>
    <p:sldLayoutId id="2147483650" r:id="rId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55" name="Shape 1255"/>
        <p:cNvGrpSpPr/>
        <p:nvPr/>
      </p:nvGrpSpPr>
      <p:grpSpPr>
        <a:xfrm>
          <a:off x="0" y="0"/>
          <a:ext cx="0" cy="0"/>
          <a:chOff x="0" y="0"/>
          <a:chExt cx="0" cy="0"/>
        </a:xfrm>
      </p:grpSpPr>
      <p:sp>
        <p:nvSpPr>
          <p:cNvPr id="1256" name="Google Shape;1256;p19"/>
          <p:cNvSpPr txBox="1"/>
          <p:nvPr/>
        </p:nvSpPr>
        <p:spPr>
          <a:xfrm>
            <a:off x="804672" y="512064"/>
            <a:ext cx="10753344" cy="310896"/>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0B6E4F"/>
                </a:solidFill>
                <a:latin typeface="Consolas"/>
                <a:ea typeface="Consolas"/>
                <a:cs typeface="Consolas"/>
                <a:sym typeface="Consolas"/>
              </a:rPr>
              <a:t>RESULT 5  /  LLM JUDGE AND HUMAN EXPERTS</a:t>
            </a:r>
            <a:endParaRPr b="0" i="0" sz="1400" u="none" cap="none" strike="noStrike">
              <a:solidFill>
                <a:srgbClr val="000000"/>
              </a:solidFill>
              <a:latin typeface="Arial"/>
              <a:ea typeface="Arial"/>
              <a:cs typeface="Arial"/>
              <a:sym typeface="Arial"/>
            </a:endParaRPr>
          </a:p>
        </p:txBody>
      </p:sp>
      <p:sp>
        <p:nvSpPr>
          <p:cNvPr id="1257" name="Google Shape;1257;p19"/>
          <p:cNvSpPr txBox="1"/>
          <p:nvPr/>
        </p:nvSpPr>
        <p:spPr>
          <a:xfrm>
            <a:off x="804672" y="914400"/>
            <a:ext cx="10762488" cy="667512"/>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2900"/>
              <a:buFont typeface="Arial"/>
              <a:buNone/>
            </a:pPr>
            <a:r>
              <a:rPr b="1" i="0" lang="en-US" sz="2900" u="none" cap="none" strike="noStrike">
                <a:solidFill>
                  <a:srgbClr val="1F2328"/>
                </a:solidFill>
                <a:latin typeface="Cambria"/>
                <a:ea typeface="Cambria"/>
                <a:cs typeface="Cambria"/>
                <a:sym typeface="Cambria"/>
              </a:rPr>
              <a:t>An LLM judge and human experts both rank RIGOR first.</a:t>
            </a:r>
            <a:endParaRPr b="0" i="0" sz="1400" u="none" cap="none" strike="noStrike">
              <a:solidFill>
                <a:srgbClr val="000000"/>
              </a:solidFill>
              <a:latin typeface="Arial"/>
              <a:ea typeface="Arial"/>
              <a:cs typeface="Arial"/>
              <a:sym typeface="Arial"/>
            </a:endParaRPr>
          </a:p>
        </p:txBody>
      </p:sp>
      <p:sp>
        <p:nvSpPr>
          <p:cNvPr id="1258" name="Subtitle"/>
          <p:cNvSpPr txBox="1"/>
          <p:nvPr/>
        </p:nvSpPr>
        <p:spPr>
          <a:xfrm>
            <a:off x="822960" y="1645920"/>
            <a:ext cx="10680192" cy="329184"/>
          </a:xfrm>
          <a:prstGeom prst="rect">
            <a:avLst/>
          </a:prstGeom>
          <a:noFill/>
          <a:ln>
            <a:noFill/>
          </a:ln>
        </p:spPr>
        <p:txBody>
          <a:bodyPr wrap="square" lIns="0" tIns="0" rIns="0" bIns="0" anchor="t">
            <a:noAutofit/>
          </a:bodyPr>
          <a:lstStyle/>
          <a:p>
            <a:pPr algn="l"/>
            <a:r>
              <a:rPr lang="en-US" sz="1600" b="0" i="0" dirty="0">
                <a:solidFill>
                  <a:srgbClr val="3A434C"/>
                </a:solidFill>
                <a:latin typeface="Calibri"/>
                <a:cs typeface="Calibri"/>
              </a:rPr>
              <a:t xml:space="preserve">Blind evaluation: nobody knew which ontology came from which method.</a:t>
            </a:r>
          </a:p>
        </p:txBody>
      </p:sp>
      <p:sp>
        <p:nvSpPr>
          <p:cNvPr id="1259" name="Ladder"/>
          <p:cNvSpPr/>
          <p:nvPr/>
        </p:nvSpPr>
        <p:spPr>
          <a:xfrm>
            <a:off x="804672" y="2103120"/>
            <a:ext cx="2042769" cy="310896"/>
          </a:xfrm>
          <a:prstGeom prst="rect">
            <a:avLst/>
          </a:prstGeom>
          <a:solidFill>
            <a:srgbClr val="E8F6EF"/>
          </a:solidFill>
          <a:ln>
            <a:noFill/>
          </a:ln>
        </p:spPr>
        <p:txBody>
          <a:bodyPr wrap="square" lIns="0" tIns="0" rIns="0" bIns="0" anchor="ctr">
            <a:noAutofit/>
          </a:bodyPr>
          <a:lstStyle/>
          <a:p>
            <a:pPr algn="ctr"/>
            <a:r>
              <a:rPr lang="en-US" sz="1000" b="1" i="0" dirty="0">
                <a:solidFill>
                  <a:srgbClr val="0B6E4F"/>
                </a:solidFill>
                <a:latin typeface="Consolas"/>
                <a:cs typeface="Consolas"/>
              </a:rPr>
              <a:t xml:space="preserve">1  VALID, FEWER ERRORS</a:t>
            </a:r>
          </a:p>
        </p:txBody>
      </p:sp>
      <p:sp>
        <p:nvSpPr>
          <p:cNvPr id="1260" name="Ladder"/>
          <p:cNvSpPr/>
          <p:nvPr/>
        </p:nvSpPr>
        <p:spPr>
          <a:xfrm>
            <a:off x="2938881" y="2103120"/>
            <a:ext cx="2042769" cy="310896"/>
          </a:xfrm>
          <a:prstGeom prst="rect">
            <a:avLst/>
          </a:prstGeom>
          <a:solidFill>
            <a:srgbClr val="E8F6EF"/>
          </a:solidFill>
          <a:ln>
            <a:noFill/>
          </a:ln>
        </p:spPr>
        <p:txBody>
          <a:bodyPr wrap="square" lIns="0" tIns="0" rIns="0" bIns="0" anchor="ctr">
            <a:noAutofit/>
          </a:bodyPr>
          <a:lstStyle/>
          <a:p>
            <a:pPr algn="ctr"/>
            <a:r>
              <a:rPr lang="en-US" sz="1000" b="1" i="0" dirty="0">
                <a:solidFill>
                  <a:srgbClr val="0B6E4F"/>
                </a:solidFill>
                <a:latin typeface="Consolas"/>
                <a:cs typeface="Consolas"/>
              </a:rPr>
              <a:t xml:space="preserve">2  KEEPS THE SCHEMA</a:t>
            </a:r>
          </a:p>
        </p:txBody>
      </p:sp>
      <p:sp>
        <p:nvSpPr>
          <p:cNvPr id="1261" name="Ladder"/>
          <p:cNvSpPr/>
          <p:nvPr/>
        </p:nvSpPr>
        <p:spPr>
          <a:xfrm>
            <a:off x="5073091" y="2103120"/>
            <a:ext cx="2042769" cy="310896"/>
          </a:xfrm>
          <a:prstGeom prst="rect">
            <a:avLst/>
          </a:prstGeom>
          <a:solidFill>
            <a:srgbClr val="E8F6EF"/>
          </a:solidFill>
          <a:ln>
            <a:noFill/>
          </a:ln>
        </p:spPr>
        <p:txBody>
          <a:bodyPr wrap="square" lIns="0" tIns="0" rIns="0" bIns="0" anchor="ctr">
            <a:noAutofit/>
          </a:bodyPr>
          <a:lstStyle/>
          <a:p>
            <a:pPr algn="ctr"/>
            <a:r>
              <a:rPr lang="en-US" sz="1000" b="1" i="0" dirty="0">
                <a:solidFill>
                  <a:srgbClr val="0B6E4F"/>
                </a:solidFill>
                <a:latin typeface="Consolas"/>
                <a:cs typeface="Consolas"/>
              </a:rPr>
              <a:t xml:space="preserve">3  ADDS MEANING</a:t>
            </a:r>
          </a:p>
        </p:txBody>
      </p:sp>
      <p:sp>
        <p:nvSpPr>
          <p:cNvPr id="1262" name="Ladder"/>
          <p:cNvSpPr/>
          <p:nvPr/>
        </p:nvSpPr>
        <p:spPr>
          <a:xfrm>
            <a:off x="7207300" y="2103120"/>
            <a:ext cx="2042769" cy="310896"/>
          </a:xfrm>
          <a:prstGeom prst="rect">
            <a:avLst/>
          </a:prstGeom>
          <a:solidFill>
            <a:srgbClr val="E8F6EF"/>
          </a:solidFill>
          <a:ln>
            <a:noFill/>
          </a:ln>
        </p:spPr>
        <p:txBody>
          <a:bodyPr wrap="square" lIns="0" tIns="0" rIns="0" bIns="0" anchor="ctr">
            <a:noAutofit/>
          </a:bodyPr>
          <a:lstStyle/>
          <a:p>
            <a:pPr algn="ctr"/>
            <a:r>
              <a:rPr lang="en-US" sz="1000" b="1" i="0" dirty="0">
                <a:solidFill>
                  <a:srgbClr val="0B6E4F"/>
                </a:solidFill>
                <a:latin typeface="Consolas"/>
                <a:cs typeface="Consolas"/>
              </a:rPr>
              <a:t xml:space="preserve">4  GOLD MAPPINGS</a:t>
            </a:r>
          </a:p>
        </p:txBody>
      </p:sp>
      <p:sp>
        <p:nvSpPr>
          <p:cNvPr id="1263" name="Ladder"/>
          <p:cNvSpPr/>
          <p:nvPr/>
        </p:nvSpPr>
        <p:spPr>
          <a:xfrm>
            <a:off x="9341510" y="2103120"/>
            <a:ext cx="2042769" cy="310896"/>
          </a:xfrm>
          <a:prstGeom prst="rect">
            <a:avLst/>
          </a:prstGeom>
          <a:solidFill>
            <a:srgbClr val="0B6E4F"/>
          </a:solidFill>
          <a:ln>
            <a:noFill/>
          </a:ln>
        </p:spPr>
        <p:txBody>
          <a:bodyPr wrap="square" lIns="0" tIns="0" rIns="0" bIns="0" anchor="ctr">
            <a:noAutofit/>
          </a:bodyPr>
          <a:lstStyle/>
          <a:p>
            <a:pPr algn="ctr"/>
            <a:r>
              <a:rPr lang="en-US" sz="1000" b="1" i="0" dirty="0">
                <a:solidFill>
                  <a:srgbClr val="FFFFFF"/>
                </a:solidFill>
                <a:latin typeface="Consolas"/>
                <a:cs typeface="Consolas"/>
              </a:rPr>
              <a:t xml:space="preserve">5  JUDGES</a:t>
            </a:r>
          </a:p>
        </p:txBody>
      </p:sp>
      <p:sp>
        <p:nvSpPr>
          <p:cNvPr id="1264" name="How"/>
          <p:cNvSpPr/>
          <p:nvPr/>
        </p:nvSpPr>
        <p:spPr>
          <a:xfrm>
            <a:off x="804672" y="2606040"/>
            <a:ext cx="10579608" cy="658368"/>
          </a:xfrm>
          <a:prstGeom prst="roundRect">
            <a:avLst>
              <a:gd name="adj" fmla="val 12000"/>
            </a:avLst>
          </a:prstGeom>
          <a:solidFill>
            <a:srgbClr val="FFFFFF"/>
          </a:solidFill>
          <a:ln w="9525">
            <a:solidFill>
              <a:srgbClr val="D9DEDB"/>
            </a:solidFill>
          </a:ln>
        </p:spPr>
        <p:txBody>
          <a:bodyPr wrap="square" lIns="201168" tIns="0" rIns="201168" bIns="0" anchor="ctr">
            <a:noAutofit/>
          </a:bodyPr>
          <a:lstStyle/>
          <a:p>
            <a:pPr algn="l"/>
            <a:r>
              <a:rPr lang="en-US" sz="1150" b="1" i="0" dirty="0">
                <a:solidFill>
                  <a:srgbClr val="2F6B78"/>
                </a:solidFill>
                <a:latin typeface="Consolas"/>
                <a:cs typeface="Consolas"/>
              </a:rPr>
              <a:t xml:space="preserve">HOW THEY JUDGED   </a:t>
            </a:r>
            <a:r>
              <a:rPr lang="en-US" sz="1200" b="0" i="0" dirty="0">
                <a:solidFill>
                  <a:srgbClr val="3A434C"/>
                </a:solidFill>
                <a:latin typeface="Calibri"/>
                <a:cs typeface="Calibri"/>
              </a:rPr>
              <a:t xml:space="preserve">For each table: its schema, its 5 competency questions (what the ontology must answer) and four anonymized ontologies. Each scored 0–5 on accuracy, completeness, conciseness, adaptability, clarity, consistency and domain enrichment, then ranked 1st–4th.</a:t>
            </a:r>
          </a:p>
        </p:txBody>
      </p:sp>
      <p:sp>
        <p:nvSpPr>
          <p:cNvPr id="1265" name="Card"/>
          <p:cNvSpPr/>
          <p:nvPr/>
        </p:nvSpPr>
        <p:spPr>
          <a:xfrm>
            <a:off x="804672" y="3355848"/>
            <a:ext cx="5760720" cy="2404872"/>
          </a:xfrm>
          <a:prstGeom prst="roundRect">
            <a:avLst>
              <a:gd name="adj" fmla="val 12000"/>
            </a:avLst>
          </a:prstGeom>
          <a:solidFill>
            <a:srgbClr val="F3F5F4"/>
          </a:solidFill>
          <a:ln w="9525">
            <a:solidFill>
              <a:srgbClr val="D9DEDB"/>
            </a:solidFill>
          </a:ln>
        </p:spPr>
        <p:txBody>
          <a:bodyPr wrap="square" lIns="0" tIns="0" rIns="0" bIns="0" anchor="t">
            <a:noAutofit/>
          </a:bodyPr>
          <a:lstStyle/>
          <a:p>
            <a:pPr algn="l"/>
          </a:p>
        </p:txBody>
      </p:sp>
      <p:sp>
        <p:nvSpPr>
          <p:cNvPr id="1266" name="Card label"/>
          <p:cNvSpPr txBox="1"/>
          <p:nvPr/>
        </p:nvSpPr>
        <p:spPr>
          <a:xfrm>
            <a:off x="1078992" y="3538728"/>
            <a:ext cx="5212080" cy="274320"/>
          </a:xfrm>
          <a:prstGeom prst="rect">
            <a:avLst/>
          </a:prstGeom>
          <a:noFill/>
          <a:ln>
            <a:noFill/>
          </a:ln>
        </p:spPr>
        <p:txBody>
          <a:bodyPr wrap="square" lIns="0" tIns="0" rIns="0" bIns="0" anchor="t">
            <a:noAutofit/>
          </a:bodyPr>
          <a:lstStyle/>
          <a:p>
            <a:pPr algn="l"/>
            <a:r>
              <a:rPr lang="en-US" sz="1300" b="1" i="0" dirty="0">
                <a:solidFill>
                  <a:srgbClr val="2F6B78"/>
                </a:solidFill>
                <a:latin typeface="Consolas"/>
                <a:cs typeface="Consolas"/>
              </a:rPr>
              <a:t xml:space="preserve">LLM-AS-A-JUDGE  ·  GPT-5.4</a:t>
            </a:r>
          </a:p>
        </p:txBody>
      </p:sp>
      <p:sp>
        <p:nvSpPr>
          <p:cNvPr id="1267" name="Claim"/>
          <p:cNvSpPr txBox="1"/>
          <p:nvPr/>
        </p:nvSpPr>
        <p:spPr>
          <a:xfrm>
            <a:off x="1078992" y="3794760"/>
            <a:ext cx="5212080" cy="365760"/>
          </a:xfrm>
          <a:prstGeom prst="rect">
            <a:avLst/>
          </a:prstGeom>
          <a:noFill/>
          <a:ln>
            <a:noFill/>
          </a:ln>
        </p:spPr>
        <p:txBody>
          <a:bodyPr wrap="square" lIns="0" tIns="0" rIns="0" bIns="0" anchor="ctr">
            <a:noAutofit/>
          </a:bodyPr>
          <a:lstStyle/>
          <a:p>
            <a:pPr algn="l"/>
            <a:r>
              <a:rPr lang="en-US" sz="1800" b="1" i="0" dirty="0">
                <a:solidFill>
                  <a:srgbClr val="0B6E4F"/>
                </a:solidFill>
                <a:latin typeface="Calibri"/>
                <a:cs typeface="Calibri"/>
              </a:rPr>
              <a:t xml:space="preserve">First on every table</a:t>
            </a:r>
            <a:r>
              <a:rPr lang="en-US" sz="1500" b="0" i="0" dirty="0">
                <a:solidFill>
                  <a:srgbClr val="3A434C"/>
                </a:solidFill>
                <a:latin typeface="Calibri"/>
                <a:cs typeface="Calibri"/>
              </a:rPr>
              <a:t xml:space="preserve">, in all three databases</a:t>
            </a:r>
          </a:p>
        </p:txBody>
      </p:sp>
      <p:sp>
        <p:nvSpPr>
          <p:cNvPr id="1268" name="Database"/>
          <p:cNvSpPr txBox="1"/>
          <p:nvPr/>
        </p:nvSpPr>
        <p:spPr>
          <a:xfrm>
            <a:off x="2542032" y="4251960"/>
            <a:ext cx="1243584" cy="219456"/>
          </a:xfrm>
          <a:prstGeom prst="rect">
            <a:avLst/>
          </a:prstGeom>
          <a:noFill/>
          <a:ln>
            <a:noFill/>
          </a:ln>
        </p:spPr>
        <p:txBody>
          <a:bodyPr wrap="square" lIns="0" tIns="0" rIns="0" bIns="0" anchor="ctr">
            <a:noAutofit/>
          </a:bodyPr>
          <a:lstStyle/>
          <a:p>
            <a:pPr algn="ctr"/>
            <a:r>
              <a:rPr lang="en-US" sz="1100" b="1" i="0" dirty="0">
                <a:solidFill>
                  <a:srgbClr val="1F2328"/>
                </a:solidFill>
                <a:latin typeface="Calibri"/>
                <a:cs typeface="Calibri"/>
              </a:rPr>
              <a:t xml:space="preserve">Liver Cancer</a:t>
            </a:r>
          </a:p>
        </p:txBody>
      </p:sp>
      <p:sp>
        <p:nvSpPr>
          <p:cNvPr id="1269" name="Database"/>
          <p:cNvSpPr txBox="1"/>
          <p:nvPr/>
        </p:nvSpPr>
        <p:spPr>
          <a:xfrm>
            <a:off x="3785615" y="4251960"/>
            <a:ext cx="1243584" cy="219456"/>
          </a:xfrm>
          <a:prstGeom prst="rect">
            <a:avLst/>
          </a:prstGeom>
          <a:noFill/>
          <a:ln>
            <a:noFill/>
          </a:ln>
        </p:spPr>
        <p:txBody>
          <a:bodyPr wrap="square" lIns="0" tIns="0" rIns="0" bIns="0" anchor="ctr">
            <a:noAutofit/>
          </a:bodyPr>
          <a:lstStyle/>
          <a:p>
            <a:pPr algn="ctr"/>
            <a:r>
              <a:rPr lang="en-US" sz="1100" b="1" i="0" dirty="0">
                <a:solidFill>
                  <a:srgbClr val="1F2328"/>
                </a:solidFill>
                <a:latin typeface="Calibri"/>
                <a:cs typeface="Calibri"/>
              </a:rPr>
              <a:t xml:space="preserve">eICU-CRD</a:t>
            </a:r>
          </a:p>
        </p:txBody>
      </p:sp>
      <p:sp>
        <p:nvSpPr>
          <p:cNvPr id="1270" name="Database"/>
          <p:cNvSpPr txBox="1"/>
          <p:nvPr/>
        </p:nvSpPr>
        <p:spPr>
          <a:xfrm>
            <a:off x="5029200" y="4251960"/>
            <a:ext cx="1243584" cy="219456"/>
          </a:xfrm>
          <a:prstGeom prst="rect">
            <a:avLst/>
          </a:prstGeom>
          <a:noFill/>
          <a:ln>
            <a:noFill/>
          </a:ln>
        </p:spPr>
        <p:txBody>
          <a:bodyPr wrap="square" lIns="0" tIns="0" rIns="0" bIns="0" anchor="ctr">
            <a:noAutofit/>
          </a:bodyPr>
          <a:lstStyle/>
          <a:p>
            <a:pPr algn="ctr"/>
            <a:r>
              <a:rPr lang="en-US" sz="1100" b="1" i="0" dirty="0">
                <a:solidFill>
                  <a:srgbClr val="1F2328"/>
                </a:solidFill>
                <a:latin typeface="Calibri"/>
                <a:cs typeface="Calibri"/>
              </a:rPr>
              <a:t xml:space="preserve">Chinook</a:t>
            </a:r>
          </a:p>
        </p:txBody>
      </p:sp>
      <p:sp>
        <p:nvSpPr>
          <p:cNvPr id="1271" name="Method"/>
          <p:cNvSpPr txBox="1"/>
          <p:nvPr/>
        </p:nvSpPr>
        <p:spPr>
          <a:xfrm>
            <a:off x="1033271" y="4507992"/>
            <a:ext cx="1508760" cy="292608"/>
          </a:xfrm>
          <a:prstGeom prst="rect">
            <a:avLst/>
          </a:prstGeom>
          <a:noFill/>
          <a:ln>
            <a:noFill/>
          </a:ln>
        </p:spPr>
        <p:txBody>
          <a:bodyPr wrap="square" lIns="0" tIns="0" rIns="0" bIns="0" anchor="ctr">
            <a:noAutofit/>
          </a:bodyPr>
          <a:lstStyle/>
          <a:p>
            <a:pPr algn="l"/>
            <a:r>
              <a:rPr lang="en-US" sz="1200" b="0" i="0" dirty="0">
                <a:solidFill>
                  <a:srgbClr val="1F2328"/>
                </a:solidFill>
                <a:latin typeface="Calibri"/>
                <a:cs typeface="Calibri"/>
              </a:rPr>
              <a:t xml:space="preserve">Direct Mapping</a:t>
            </a:r>
          </a:p>
        </p:txBody>
      </p:sp>
      <p:sp>
        <p:nvSpPr>
          <p:cNvPr id="1272" name="Cell"/>
          <p:cNvSpPr/>
          <p:nvPr/>
        </p:nvSpPr>
        <p:spPr>
          <a:xfrm>
            <a:off x="2560320" y="4526280"/>
            <a:ext cx="1207008" cy="256032"/>
          </a:xfrm>
          <a:prstGeom prst="rect">
            <a:avLst/>
          </a:prstGeom>
          <a:solidFill>
            <a:srgbClr val="F1F3F2"/>
          </a:solidFill>
          <a:ln>
            <a:noFill/>
          </a:ln>
        </p:spPr>
        <p:txBody>
          <a:bodyPr wrap="square" lIns="0" tIns="0" rIns="0" bIns="0" anchor="ctr">
            <a:noAutofit/>
          </a:bodyPr>
          <a:lstStyle/>
          <a:p>
            <a:pPr algn="ctr"/>
            <a:r>
              <a:rPr lang="en-US" sz="1100" b="0" i="0" dirty="0">
                <a:solidFill>
                  <a:srgbClr val="1F2328"/>
                </a:solidFill>
                <a:latin typeface="Calibri"/>
                <a:cs typeface="Calibri"/>
              </a:rPr>
              <a:t xml:space="preserve">2.05</a:t>
            </a:r>
          </a:p>
        </p:txBody>
      </p:sp>
      <p:sp>
        <p:nvSpPr>
          <p:cNvPr id="1273" name="Cell"/>
          <p:cNvSpPr/>
          <p:nvPr/>
        </p:nvSpPr>
        <p:spPr>
          <a:xfrm>
            <a:off x="3803903" y="4526280"/>
            <a:ext cx="1207008" cy="256032"/>
          </a:xfrm>
          <a:prstGeom prst="rect">
            <a:avLst/>
          </a:prstGeom>
          <a:solidFill>
            <a:srgbClr val="F1F3F2"/>
          </a:solidFill>
          <a:ln>
            <a:noFill/>
          </a:ln>
        </p:spPr>
        <p:txBody>
          <a:bodyPr wrap="square" lIns="0" tIns="0" rIns="0" bIns="0" anchor="ctr">
            <a:noAutofit/>
          </a:bodyPr>
          <a:lstStyle/>
          <a:p>
            <a:pPr algn="ctr"/>
            <a:r>
              <a:rPr lang="en-US" sz="1100" b="0" i="0" dirty="0">
                <a:solidFill>
                  <a:srgbClr val="1F2328"/>
                </a:solidFill>
                <a:latin typeface="Calibri"/>
                <a:cs typeface="Calibri"/>
              </a:rPr>
              <a:t xml:space="preserve">2.13</a:t>
            </a:r>
          </a:p>
        </p:txBody>
      </p:sp>
      <p:sp>
        <p:nvSpPr>
          <p:cNvPr id="1274" name="Cell"/>
          <p:cNvSpPr/>
          <p:nvPr/>
        </p:nvSpPr>
        <p:spPr>
          <a:xfrm>
            <a:off x="5047488" y="4526280"/>
            <a:ext cx="1207008" cy="256032"/>
          </a:xfrm>
          <a:prstGeom prst="rect">
            <a:avLst/>
          </a:prstGeom>
          <a:solidFill>
            <a:srgbClr val="EDB8AC"/>
          </a:solidFill>
          <a:ln>
            <a:noFill/>
          </a:ln>
        </p:spPr>
        <p:txBody>
          <a:bodyPr wrap="square" lIns="0" tIns="0" rIns="0" bIns="0" anchor="ctr">
            <a:noAutofit/>
          </a:bodyPr>
          <a:lstStyle/>
          <a:p>
            <a:pPr algn="ctr"/>
            <a:r>
              <a:rPr lang="en-US" sz="1100" b="0" i="0" dirty="0">
                <a:solidFill>
                  <a:srgbClr val="1F2328"/>
                </a:solidFill>
                <a:latin typeface="Calibri"/>
                <a:cs typeface="Calibri"/>
              </a:rPr>
              <a:t xml:space="preserve">0.13</a:t>
            </a:r>
          </a:p>
        </p:txBody>
      </p:sp>
      <p:sp>
        <p:nvSpPr>
          <p:cNvPr id="1275" name="Method"/>
          <p:cNvSpPr txBox="1"/>
          <p:nvPr/>
        </p:nvSpPr>
        <p:spPr>
          <a:xfrm>
            <a:off x="1033271" y="4800600"/>
            <a:ext cx="1508760" cy="292608"/>
          </a:xfrm>
          <a:prstGeom prst="rect">
            <a:avLst/>
          </a:prstGeom>
          <a:noFill/>
          <a:ln>
            <a:noFill/>
          </a:ln>
        </p:spPr>
        <p:txBody>
          <a:bodyPr wrap="square" lIns="0" tIns="0" rIns="0" bIns="0" anchor="ctr">
            <a:noAutofit/>
          </a:bodyPr>
          <a:lstStyle/>
          <a:p>
            <a:pPr algn="l"/>
            <a:r>
              <a:rPr lang="en-US" sz="1200" b="0" i="0" dirty="0">
                <a:solidFill>
                  <a:srgbClr val="1F2328"/>
                </a:solidFill>
                <a:latin typeface="Calibri"/>
                <a:cs typeface="Calibri"/>
              </a:rPr>
              <a:t xml:space="preserve">LLM baseline</a:t>
            </a:r>
          </a:p>
        </p:txBody>
      </p:sp>
      <p:sp>
        <p:nvSpPr>
          <p:cNvPr id="1276" name="Cell"/>
          <p:cNvSpPr/>
          <p:nvPr/>
        </p:nvSpPr>
        <p:spPr>
          <a:xfrm>
            <a:off x="2560320" y="4818888"/>
            <a:ext cx="1207008" cy="256032"/>
          </a:xfrm>
          <a:prstGeom prst="rect">
            <a:avLst/>
          </a:prstGeom>
          <a:solidFill>
            <a:srgbClr val="F6DAD3"/>
          </a:solidFill>
          <a:ln>
            <a:noFill/>
          </a:ln>
        </p:spPr>
        <p:txBody>
          <a:bodyPr wrap="square" lIns="0" tIns="0" rIns="0" bIns="0" anchor="ctr">
            <a:noAutofit/>
          </a:bodyPr>
          <a:lstStyle/>
          <a:p>
            <a:pPr algn="ctr"/>
            <a:r>
              <a:rPr lang="en-US" sz="1100" b="0" i="0" dirty="0">
                <a:solidFill>
                  <a:srgbClr val="1F2328"/>
                </a:solidFill>
                <a:latin typeface="Calibri"/>
                <a:cs typeface="Calibri"/>
              </a:rPr>
              <a:t xml:space="preserve">1.38</a:t>
            </a:r>
          </a:p>
        </p:txBody>
      </p:sp>
      <p:sp>
        <p:nvSpPr>
          <p:cNvPr id="1277" name="Cell"/>
          <p:cNvSpPr/>
          <p:nvPr/>
        </p:nvSpPr>
        <p:spPr>
          <a:xfrm>
            <a:off x="3803903" y="4818888"/>
            <a:ext cx="1207008" cy="256032"/>
          </a:xfrm>
          <a:prstGeom prst="rect">
            <a:avLst/>
          </a:prstGeom>
          <a:solidFill>
            <a:srgbClr val="EDB8AC"/>
          </a:solidFill>
          <a:ln>
            <a:noFill/>
          </a:ln>
        </p:spPr>
        <p:txBody>
          <a:bodyPr wrap="square" lIns="0" tIns="0" rIns="0" bIns="0" anchor="ctr">
            <a:noAutofit/>
          </a:bodyPr>
          <a:lstStyle/>
          <a:p>
            <a:pPr algn="ctr"/>
            <a:r>
              <a:rPr lang="en-US" sz="1100" b="0" i="0" dirty="0">
                <a:solidFill>
                  <a:srgbClr val="1F2328"/>
                </a:solidFill>
                <a:latin typeface="Calibri"/>
                <a:cs typeface="Calibri"/>
              </a:rPr>
              <a:t xml:space="preserve">0.28</a:t>
            </a:r>
          </a:p>
        </p:txBody>
      </p:sp>
      <p:sp>
        <p:nvSpPr>
          <p:cNvPr id="1278" name="Cell"/>
          <p:cNvSpPr/>
          <p:nvPr/>
        </p:nvSpPr>
        <p:spPr>
          <a:xfrm>
            <a:off x="5047488" y="4818888"/>
            <a:ext cx="1207008" cy="256032"/>
          </a:xfrm>
          <a:prstGeom prst="rect">
            <a:avLst/>
          </a:prstGeom>
          <a:solidFill>
            <a:srgbClr val="F6DAD3"/>
          </a:solidFill>
          <a:ln>
            <a:noFill/>
          </a:ln>
        </p:spPr>
        <p:txBody>
          <a:bodyPr wrap="square" lIns="0" tIns="0" rIns="0" bIns="0" anchor="ctr">
            <a:noAutofit/>
          </a:bodyPr>
          <a:lstStyle/>
          <a:p>
            <a:pPr algn="ctr"/>
            <a:r>
              <a:rPr lang="en-US" sz="1100" b="0" i="0" dirty="0">
                <a:solidFill>
                  <a:srgbClr val="1F2328"/>
                </a:solidFill>
                <a:latin typeface="Calibri"/>
                <a:cs typeface="Calibri"/>
              </a:rPr>
              <a:t xml:space="preserve">1.48</a:t>
            </a:r>
          </a:p>
        </p:txBody>
      </p:sp>
      <p:sp>
        <p:nvSpPr>
          <p:cNvPr id="1279" name="Method"/>
          <p:cNvSpPr txBox="1"/>
          <p:nvPr/>
        </p:nvSpPr>
        <p:spPr>
          <a:xfrm>
            <a:off x="1033271" y="5093208"/>
            <a:ext cx="1508760" cy="292608"/>
          </a:xfrm>
          <a:prstGeom prst="rect">
            <a:avLst/>
          </a:prstGeom>
          <a:noFill/>
          <a:ln>
            <a:noFill/>
          </a:ln>
        </p:spPr>
        <p:txBody>
          <a:bodyPr wrap="square" lIns="0" tIns="0" rIns="0" bIns="0" anchor="ctr">
            <a:noAutofit/>
          </a:bodyPr>
          <a:lstStyle/>
          <a:p>
            <a:pPr algn="l"/>
            <a:r>
              <a:rPr lang="en-US" sz="1200" b="0" i="0" dirty="0">
                <a:solidFill>
                  <a:srgbClr val="1F2328"/>
                </a:solidFill>
                <a:latin typeface="Calibri"/>
                <a:cs typeface="Calibri"/>
              </a:rPr>
              <a:t xml:space="preserve">Non-Iterative RAG</a:t>
            </a:r>
          </a:p>
        </p:txBody>
      </p:sp>
      <p:sp>
        <p:nvSpPr>
          <p:cNvPr id="1280" name="Cell"/>
          <p:cNvSpPr/>
          <p:nvPr/>
        </p:nvSpPr>
        <p:spPr>
          <a:xfrm>
            <a:off x="2560320" y="5111496"/>
            <a:ext cx="1207008" cy="256032"/>
          </a:xfrm>
          <a:prstGeom prst="rect">
            <a:avLst/>
          </a:prstGeom>
          <a:solidFill>
            <a:srgbClr val="F6DAD3"/>
          </a:solidFill>
          <a:ln>
            <a:noFill/>
          </a:ln>
        </p:spPr>
        <p:txBody>
          <a:bodyPr wrap="square" lIns="0" tIns="0" rIns="0" bIns="0" anchor="ctr">
            <a:noAutofit/>
          </a:bodyPr>
          <a:lstStyle/>
          <a:p>
            <a:pPr algn="ctr"/>
            <a:r>
              <a:rPr lang="en-US" sz="1100" b="0" i="0" dirty="0">
                <a:solidFill>
                  <a:srgbClr val="1F2328"/>
                </a:solidFill>
                <a:latin typeface="Calibri"/>
                <a:cs typeface="Calibri"/>
              </a:rPr>
              <a:t xml:space="preserve">1.89</a:t>
            </a:r>
          </a:p>
        </p:txBody>
      </p:sp>
      <p:sp>
        <p:nvSpPr>
          <p:cNvPr id="1281" name="Cell"/>
          <p:cNvSpPr/>
          <p:nvPr/>
        </p:nvSpPr>
        <p:spPr>
          <a:xfrm>
            <a:off x="3803903" y="5111496"/>
            <a:ext cx="1207008" cy="256032"/>
          </a:xfrm>
          <a:prstGeom prst="rect">
            <a:avLst/>
          </a:prstGeom>
          <a:solidFill>
            <a:srgbClr val="EDB8AC"/>
          </a:solidFill>
          <a:ln>
            <a:noFill/>
          </a:ln>
        </p:spPr>
        <p:txBody>
          <a:bodyPr wrap="square" lIns="0" tIns="0" rIns="0" bIns="0" anchor="ctr">
            <a:noAutofit/>
          </a:bodyPr>
          <a:lstStyle/>
          <a:p>
            <a:pPr algn="ctr"/>
            <a:r>
              <a:rPr lang="en-US" sz="1100" b="0" i="0" dirty="0">
                <a:solidFill>
                  <a:srgbClr val="1F2328"/>
                </a:solidFill>
                <a:latin typeface="Calibri"/>
                <a:cs typeface="Calibri"/>
              </a:rPr>
              <a:t xml:space="preserve">0.67</a:t>
            </a:r>
          </a:p>
        </p:txBody>
      </p:sp>
      <p:sp>
        <p:nvSpPr>
          <p:cNvPr id="1282" name="Cell"/>
          <p:cNvSpPr/>
          <p:nvPr/>
        </p:nvSpPr>
        <p:spPr>
          <a:xfrm>
            <a:off x="5047488" y="5111496"/>
            <a:ext cx="1207008" cy="256032"/>
          </a:xfrm>
          <a:prstGeom prst="rect">
            <a:avLst/>
          </a:prstGeom>
          <a:solidFill>
            <a:srgbClr val="F1F3F2"/>
          </a:solidFill>
          <a:ln>
            <a:noFill/>
          </a:ln>
        </p:spPr>
        <p:txBody>
          <a:bodyPr wrap="square" lIns="0" tIns="0" rIns="0" bIns="0" anchor="ctr">
            <a:noAutofit/>
          </a:bodyPr>
          <a:lstStyle/>
          <a:p>
            <a:pPr algn="ctr"/>
            <a:r>
              <a:rPr lang="en-US" sz="1100" b="0" i="0" dirty="0">
                <a:solidFill>
                  <a:srgbClr val="1F2328"/>
                </a:solidFill>
                <a:latin typeface="Calibri"/>
                <a:cs typeface="Calibri"/>
              </a:rPr>
              <a:t xml:space="preserve">2.77</a:t>
            </a:r>
          </a:p>
        </p:txBody>
      </p:sp>
      <p:sp>
        <p:nvSpPr>
          <p:cNvPr id="1283" name="Method"/>
          <p:cNvSpPr txBox="1"/>
          <p:nvPr/>
        </p:nvSpPr>
        <p:spPr>
          <a:xfrm>
            <a:off x="1033271" y="5385816"/>
            <a:ext cx="1508760" cy="292608"/>
          </a:xfrm>
          <a:prstGeom prst="rect">
            <a:avLst/>
          </a:prstGeom>
          <a:noFill/>
          <a:ln>
            <a:noFill/>
          </a:ln>
        </p:spPr>
        <p:txBody>
          <a:bodyPr wrap="square" lIns="0" tIns="0" rIns="0" bIns="0" anchor="ctr">
            <a:noAutofit/>
          </a:bodyPr>
          <a:lstStyle/>
          <a:p>
            <a:pPr algn="l"/>
            <a:r>
              <a:rPr lang="en-US" sz="1200" b="1" i="0" dirty="0">
                <a:solidFill>
                  <a:srgbClr val="0B6E4F"/>
                </a:solidFill>
                <a:latin typeface="Calibri"/>
                <a:cs typeface="Calibri"/>
              </a:rPr>
              <a:t xml:space="preserve">RIGOR</a:t>
            </a:r>
          </a:p>
        </p:txBody>
      </p:sp>
      <p:sp>
        <p:nvSpPr>
          <p:cNvPr id="1284" name="Cell"/>
          <p:cNvSpPr/>
          <p:nvPr/>
        </p:nvSpPr>
        <p:spPr>
          <a:xfrm>
            <a:off x="2560320" y="5404104"/>
            <a:ext cx="1207008" cy="256032"/>
          </a:xfrm>
          <a:prstGeom prst="rect">
            <a:avLst/>
          </a:prstGeom>
          <a:solidFill>
            <a:srgbClr val="BFE3CF"/>
          </a:solidFill>
          <a:ln>
            <a:noFill/>
          </a:ln>
        </p:spPr>
        <p:txBody>
          <a:bodyPr wrap="square" lIns="0" tIns="0" rIns="0" bIns="0" anchor="ctr">
            <a:noAutofit/>
          </a:bodyPr>
          <a:lstStyle/>
          <a:p>
            <a:pPr algn="ctr"/>
            <a:r>
              <a:rPr lang="en-US" sz="1100" b="1" i="0" dirty="0">
                <a:solidFill>
                  <a:srgbClr val="1F2328"/>
                </a:solidFill>
                <a:latin typeface="Calibri"/>
                <a:cs typeface="Calibri"/>
              </a:rPr>
              <a:t xml:space="preserve">3.93</a:t>
            </a:r>
          </a:p>
        </p:txBody>
      </p:sp>
      <p:sp>
        <p:nvSpPr>
          <p:cNvPr id="1285" name="Cell"/>
          <p:cNvSpPr/>
          <p:nvPr/>
        </p:nvSpPr>
        <p:spPr>
          <a:xfrm>
            <a:off x="3803903" y="5404104"/>
            <a:ext cx="1207008" cy="256032"/>
          </a:xfrm>
          <a:prstGeom prst="rect">
            <a:avLst/>
          </a:prstGeom>
          <a:solidFill>
            <a:srgbClr val="BFE3CF"/>
          </a:solidFill>
          <a:ln>
            <a:noFill/>
          </a:ln>
        </p:spPr>
        <p:txBody>
          <a:bodyPr wrap="square" lIns="0" tIns="0" rIns="0" bIns="0" anchor="ctr">
            <a:noAutofit/>
          </a:bodyPr>
          <a:lstStyle/>
          <a:p>
            <a:pPr algn="ctr"/>
            <a:r>
              <a:rPr lang="en-US" sz="1100" b="1" i="0" dirty="0">
                <a:solidFill>
                  <a:srgbClr val="1F2328"/>
                </a:solidFill>
                <a:latin typeface="Calibri"/>
                <a:cs typeface="Calibri"/>
              </a:rPr>
              <a:t xml:space="preserve">3.64</a:t>
            </a:r>
          </a:p>
        </p:txBody>
      </p:sp>
      <p:sp>
        <p:nvSpPr>
          <p:cNvPr id="1286" name="Cell"/>
          <p:cNvSpPr/>
          <p:nvPr/>
        </p:nvSpPr>
        <p:spPr>
          <a:xfrm>
            <a:off x="5047488" y="5404104"/>
            <a:ext cx="1207008" cy="256032"/>
          </a:xfrm>
          <a:prstGeom prst="rect">
            <a:avLst/>
          </a:prstGeom>
          <a:solidFill>
            <a:srgbClr val="DDF0E5"/>
          </a:solidFill>
          <a:ln>
            <a:noFill/>
          </a:ln>
        </p:spPr>
        <p:txBody>
          <a:bodyPr wrap="square" lIns="0" tIns="0" rIns="0" bIns="0" anchor="ctr">
            <a:noAutofit/>
          </a:bodyPr>
          <a:lstStyle/>
          <a:p>
            <a:pPr algn="ctr"/>
            <a:r>
              <a:rPr lang="en-US" sz="1100" b="1" i="0" dirty="0">
                <a:solidFill>
                  <a:srgbClr val="1F2328"/>
                </a:solidFill>
                <a:latin typeface="Calibri"/>
                <a:cs typeface="Calibri"/>
              </a:rPr>
              <a:t xml:space="preserve">3.32</a:t>
            </a:r>
          </a:p>
        </p:txBody>
      </p:sp>
      <p:sp>
        <p:nvSpPr>
          <p:cNvPr id="1287" name="Card"/>
          <p:cNvSpPr/>
          <p:nvPr/>
        </p:nvSpPr>
        <p:spPr>
          <a:xfrm>
            <a:off x="6702552" y="3355848"/>
            <a:ext cx="4681728" cy="2404872"/>
          </a:xfrm>
          <a:prstGeom prst="roundRect">
            <a:avLst>
              <a:gd name="adj" fmla="val 12000"/>
            </a:avLst>
          </a:prstGeom>
          <a:solidFill>
            <a:srgbClr val="F3F5F4"/>
          </a:solidFill>
          <a:ln w="9525">
            <a:solidFill>
              <a:srgbClr val="D9DEDB"/>
            </a:solidFill>
          </a:ln>
        </p:spPr>
        <p:txBody>
          <a:bodyPr wrap="square" lIns="0" tIns="0" rIns="0" bIns="0" anchor="t">
            <a:noAutofit/>
          </a:bodyPr>
          <a:lstStyle/>
          <a:p>
            <a:pPr algn="l"/>
          </a:p>
        </p:txBody>
      </p:sp>
      <p:sp>
        <p:nvSpPr>
          <p:cNvPr id="1288" name="Card label"/>
          <p:cNvSpPr txBox="1"/>
          <p:nvPr/>
        </p:nvSpPr>
        <p:spPr>
          <a:xfrm>
            <a:off x="6976872" y="3538728"/>
            <a:ext cx="4133088" cy="274320"/>
          </a:xfrm>
          <a:prstGeom prst="rect">
            <a:avLst/>
          </a:prstGeom>
          <a:noFill/>
          <a:ln>
            <a:noFill/>
          </a:ln>
        </p:spPr>
        <p:txBody>
          <a:bodyPr wrap="square" lIns="0" tIns="0" rIns="0" bIns="0" anchor="t">
            <a:noAutofit/>
          </a:bodyPr>
          <a:lstStyle/>
          <a:p>
            <a:pPr algn="l"/>
            <a:r>
              <a:rPr lang="en-US" sz="1300" b="1" i="0" dirty="0">
                <a:solidFill>
                  <a:srgbClr val="2F6B78"/>
                </a:solidFill>
                <a:latin typeface="Consolas"/>
                <a:cs typeface="Consolas"/>
              </a:rPr>
              <a:t xml:space="preserve">10 ONTOLOGY EXPERTS</a:t>
            </a:r>
          </a:p>
        </p:txBody>
      </p:sp>
      <p:sp>
        <p:nvSpPr>
          <p:cNvPr id="1289" name="Claim"/>
          <p:cNvSpPr txBox="1"/>
          <p:nvPr/>
        </p:nvSpPr>
        <p:spPr>
          <a:xfrm>
            <a:off x="6976872" y="3794760"/>
            <a:ext cx="4133088" cy="365760"/>
          </a:xfrm>
          <a:prstGeom prst="rect">
            <a:avLst/>
          </a:prstGeom>
          <a:noFill/>
          <a:ln>
            <a:noFill/>
          </a:ln>
        </p:spPr>
        <p:txBody>
          <a:bodyPr wrap="square" lIns="0" tIns="0" rIns="0" bIns="0" anchor="ctr">
            <a:noAutofit/>
          </a:bodyPr>
          <a:lstStyle/>
          <a:p>
            <a:pPr algn="l"/>
            <a:r>
              <a:rPr lang="en-US" sz="1800" b="1" i="0" dirty="0">
                <a:solidFill>
                  <a:srgbClr val="0B6E4F"/>
                </a:solidFill>
                <a:latin typeface="Calibri"/>
                <a:cs typeface="Calibri"/>
              </a:rPr>
              <a:t xml:space="preserve">First in 7 of 10 rankings</a:t>
            </a:r>
          </a:p>
        </p:txBody>
      </p:sp>
      <p:sp>
        <p:nvSpPr>
          <p:cNvPr id="1290" name="Database"/>
          <p:cNvSpPr txBox="1"/>
          <p:nvPr/>
        </p:nvSpPr>
        <p:spPr>
          <a:xfrm>
            <a:off x="8439912" y="4251960"/>
            <a:ext cx="1353312" cy="219456"/>
          </a:xfrm>
          <a:prstGeom prst="rect">
            <a:avLst/>
          </a:prstGeom>
          <a:noFill/>
          <a:ln>
            <a:noFill/>
          </a:ln>
        </p:spPr>
        <p:txBody>
          <a:bodyPr wrap="square" lIns="0" tIns="0" rIns="0" bIns="0" anchor="ctr">
            <a:noAutofit/>
          </a:bodyPr>
          <a:lstStyle/>
          <a:p>
            <a:pPr algn="ctr"/>
            <a:r>
              <a:rPr lang="en-US" sz="1100" b="1" i="0" dirty="0">
                <a:solidFill>
                  <a:srgbClr val="1F2328"/>
                </a:solidFill>
                <a:latin typeface="Calibri"/>
                <a:cs typeface="Calibri"/>
              </a:rPr>
              <a:t xml:space="preserve">Liver Cancer</a:t>
            </a:r>
          </a:p>
        </p:txBody>
      </p:sp>
      <p:sp>
        <p:nvSpPr>
          <p:cNvPr id="1291" name="Database"/>
          <p:cNvSpPr txBox="1"/>
          <p:nvPr/>
        </p:nvSpPr>
        <p:spPr>
          <a:xfrm>
            <a:off x="9793224" y="4251960"/>
            <a:ext cx="1353312" cy="219456"/>
          </a:xfrm>
          <a:prstGeom prst="rect">
            <a:avLst/>
          </a:prstGeom>
          <a:noFill/>
          <a:ln>
            <a:noFill/>
          </a:ln>
        </p:spPr>
        <p:txBody>
          <a:bodyPr wrap="square" lIns="0" tIns="0" rIns="0" bIns="0" anchor="ctr">
            <a:noAutofit/>
          </a:bodyPr>
          <a:lstStyle/>
          <a:p>
            <a:pPr algn="ctr"/>
            <a:r>
              <a:rPr lang="en-US" sz="1100" b="1" i="0" dirty="0">
                <a:solidFill>
                  <a:srgbClr val="1F2328"/>
                </a:solidFill>
                <a:latin typeface="Calibri"/>
                <a:cs typeface="Calibri"/>
              </a:rPr>
              <a:t xml:space="preserve">eICU-CRD</a:t>
            </a:r>
          </a:p>
        </p:txBody>
      </p:sp>
      <p:sp>
        <p:nvSpPr>
          <p:cNvPr id="1292" name="Method"/>
          <p:cNvSpPr txBox="1"/>
          <p:nvPr/>
        </p:nvSpPr>
        <p:spPr>
          <a:xfrm>
            <a:off x="6931152" y="4507992"/>
            <a:ext cx="1508760" cy="292608"/>
          </a:xfrm>
          <a:prstGeom prst="rect">
            <a:avLst/>
          </a:prstGeom>
          <a:noFill/>
          <a:ln>
            <a:noFill/>
          </a:ln>
        </p:spPr>
        <p:txBody>
          <a:bodyPr wrap="square" lIns="0" tIns="0" rIns="0" bIns="0" anchor="ctr">
            <a:noAutofit/>
          </a:bodyPr>
          <a:lstStyle/>
          <a:p>
            <a:pPr algn="l"/>
            <a:r>
              <a:rPr lang="en-US" sz="1200" b="0" i="0" dirty="0">
                <a:solidFill>
                  <a:srgbClr val="1F2328"/>
                </a:solidFill>
                <a:latin typeface="Calibri"/>
                <a:cs typeface="Calibri"/>
              </a:rPr>
              <a:t xml:space="preserve">Direct Mapping</a:t>
            </a:r>
          </a:p>
        </p:txBody>
      </p:sp>
      <p:sp>
        <p:nvSpPr>
          <p:cNvPr id="1293" name="Cell"/>
          <p:cNvSpPr/>
          <p:nvPr/>
        </p:nvSpPr>
        <p:spPr>
          <a:xfrm>
            <a:off x="8458200" y="4526280"/>
            <a:ext cx="1316736" cy="256032"/>
          </a:xfrm>
          <a:prstGeom prst="rect">
            <a:avLst/>
          </a:prstGeom>
          <a:solidFill>
            <a:srgbClr val="F1F3F2"/>
          </a:solidFill>
          <a:ln>
            <a:noFill/>
          </a:ln>
        </p:spPr>
        <p:txBody>
          <a:bodyPr wrap="square" lIns="0" tIns="0" rIns="0" bIns="0" anchor="ctr">
            <a:noAutofit/>
          </a:bodyPr>
          <a:lstStyle/>
          <a:p>
            <a:pPr algn="ctr"/>
            <a:r>
              <a:rPr lang="en-US" sz="1100" b="0" i="0" dirty="0">
                <a:solidFill>
                  <a:srgbClr val="1F2328"/>
                </a:solidFill>
                <a:latin typeface="Calibri"/>
                <a:cs typeface="Calibri"/>
              </a:rPr>
              <a:t xml:space="preserve">2.95</a:t>
            </a:r>
          </a:p>
        </p:txBody>
      </p:sp>
      <p:sp>
        <p:nvSpPr>
          <p:cNvPr id="1294" name="Cell"/>
          <p:cNvSpPr/>
          <p:nvPr/>
        </p:nvSpPr>
        <p:spPr>
          <a:xfrm>
            <a:off x="9811512" y="4526280"/>
            <a:ext cx="1316736" cy="256032"/>
          </a:xfrm>
          <a:prstGeom prst="rect">
            <a:avLst/>
          </a:prstGeom>
          <a:solidFill>
            <a:srgbClr val="F1F3F2"/>
          </a:solidFill>
          <a:ln>
            <a:noFill/>
          </a:ln>
        </p:spPr>
        <p:txBody>
          <a:bodyPr wrap="square" lIns="0" tIns="0" rIns="0" bIns="0" anchor="ctr">
            <a:noAutofit/>
          </a:bodyPr>
          <a:lstStyle/>
          <a:p>
            <a:pPr algn="ctr"/>
            <a:r>
              <a:rPr lang="en-US" sz="1100" b="0" i="0" dirty="0">
                <a:solidFill>
                  <a:srgbClr val="1F2328"/>
                </a:solidFill>
                <a:latin typeface="Calibri"/>
                <a:cs typeface="Calibri"/>
              </a:rPr>
              <a:t xml:space="preserve">2.59</a:t>
            </a:r>
          </a:p>
        </p:txBody>
      </p:sp>
      <p:sp>
        <p:nvSpPr>
          <p:cNvPr id="1295" name="Method"/>
          <p:cNvSpPr txBox="1"/>
          <p:nvPr/>
        </p:nvSpPr>
        <p:spPr>
          <a:xfrm>
            <a:off x="6931152" y="4800600"/>
            <a:ext cx="1508760" cy="292608"/>
          </a:xfrm>
          <a:prstGeom prst="rect">
            <a:avLst/>
          </a:prstGeom>
          <a:noFill/>
          <a:ln>
            <a:noFill/>
          </a:ln>
        </p:spPr>
        <p:txBody>
          <a:bodyPr wrap="square" lIns="0" tIns="0" rIns="0" bIns="0" anchor="ctr">
            <a:noAutofit/>
          </a:bodyPr>
          <a:lstStyle/>
          <a:p>
            <a:pPr algn="l"/>
            <a:r>
              <a:rPr lang="en-US" sz="1200" b="0" i="0" dirty="0">
                <a:solidFill>
                  <a:srgbClr val="1F2328"/>
                </a:solidFill>
                <a:latin typeface="Calibri"/>
                <a:cs typeface="Calibri"/>
              </a:rPr>
              <a:t xml:space="preserve">LLM baseline</a:t>
            </a:r>
          </a:p>
        </p:txBody>
      </p:sp>
      <p:sp>
        <p:nvSpPr>
          <p:cNvPr id="1296" name="Cell"/>
          <p:cNvSpPr/>
          <p:nvPr/>
        </p:nvSpPr>
        <p:spPr>
          <a:xfrm>
            <a:off x="8458200" y="4818888"/>
            <a:ext cx="1316736" cy="256032"/>
          </a:xfrm>
          <a:prstGeom prst="rect">
            <a:avLst/>
          </a:prstGeom>
          <a:solidFill>
            <a:srgbClr val="F1F3F2"/>
          </a:solidFill>
          <a:ln>
            <a:noFill/>
          </a:ln>
        </p:spPr>
        <p:txBody>
          <a:bodyPr wrap="square" lIns="0" tIns="0" rIns="0" bIns="0" anchor="ctr">
            <a:noAutofit/>
          </a:bodyPr>
          <a:lstStyle/>
          <a:p>
            <a:pPr algn="ctr"/>
            <a:r>
              <a:rPr lang="en-US" sz="1100" b="0" i="0" dirty="0">
                <a:solidFill>
                  <a:srgbClr val="1F2328"/>
                </a:solidFill>
                <a:latin typeface="Calibri"/>
                <a:cs typeface="Calibri"/>
              </a:rPr>
              <a:t xml:space="preserve">2.74</a:t>
            </a:r>
          </a:p>
        </p:txBody>
      </p:sp>
      <p:sp>
        <p:nvSpPr>
          <p:cNvPr id="1297" name="Cell"/>
          <p:cNvSpPr/>
          <p:nvPr/>
        </p:nvSpPr>
        <p:spPr>
          <a:xfrm>
            <a:off x="9811512" y="4818888"/>
            <a:ext cx="1316736" cy="256032"/>
          </a:xfrm>
          <a:prstGeom prst="rect">
            <a:avLst/>
          </a:prstGeom>
          <a:solidFill>
            <a:srgbClr val="DDF0E5"/>
          </a:solidFill>
          <a:ln>
            <a:noFill/>
          </a:ln>
        </p:spPr>
        <p:txBody>
          <a:bodyPr wrap="square" lIns="0" tIns="0" rIns="0" bIns="0" anchor="ctr">
            <a:noAutofit/>
          </a:bodyPr>
          <a:lstStyle/>
          <a:p>
            <a:pPr algn="ctr"/>
            <a:r>
              <a:rPr lang="en-US" sz="1100" b="0" i="0" dirty="0">
                <a:solidFill>
                  <a:srgbClr val="1F2328"/>
                </a:solidFill>
                <a:latin typeface="Calibri"/>
                <a:cs typeface="Calibri"/>
              </a:rPr>
              <a:t xml:space="preserve">3.01</a:t>
            </a:r>
          </a:p>
        </p:txBody>
      </p:sp>
      <p:sp>
        <p:nvSpPr>
          <p:cNvPr id="1298" name="Method"/>
          <p:cNvSpPr txBox="1"/>
          <p:nvPr/>
        </p:nvSpPr>
        <p:spPr>
          <a:xfrm>
            <a:off x="6931152" y="5093208"/>
            <a:ext cx="1508760" cy="292608"/>
          </a:xfrm>
          <a:prstGeom prst="rect">
            <a:avLst/>
          </a:prstGeom>
          <a:noFill/>
          <a:ln>
            <a:noFill/>
          </a:ln>
        </p:spPr>
        <p:txBody>
          <a:bodyPr wrap="square" lIns="0" tIns="0" rIns="0" bIns="0" anchor="ctr">
            <a:noAutofit/>
          </a:bodyPr>
          <a:lstStyle/>
          <a:p>
            <a:pPr algn="l"/>
            <a:r>
              <a:rPr lang="en-US" sz="1200" b="0" i="0" dirty="0">
                <a:solidFill>
                  <a:srgbClr val="1F2328"/>
                </a:solidFill>
                <a:latin typeface="Calibri"/>
                <a:cs typeface="Calibri"/>
              </a:rPr>
              <a:t xml:space="preserve">Non-Iterative RAG</a:t>
            </a:r>
          </a:p>
        </p:txBody>
      </p:sp>
      <p:sp>
        <p:nvSpPr>
          <p:cNvPr id="1299" name="Cell"/>
          <p:cNvSpPr/>
          <p:nvPr/>
        </p:nvSpPr>
        <p:spPr>
          <a:xfrm>
            <a:off x="8458200" y="5111496"/>
            <a:ext cx="1316736" cy="256032"/>
          </a:xfrm>
          <a:prstGeom prst="rect">
            <a:avLst/>
          </a:prstGeom>
          <a:solidFill>
            <a:srgbClr val="F1F3F2"/>
          </a:solidFill>
          <a:ln>
            <a:noFill/>
          </a:ln>
        </p:spPr>
        <p:txBody>
          <a:bodyPr wrap="square" lIns="0" tIns="0" rIns="0" bIns="0" anchor="ctr">
            <a:noAutofit/>
          </a:bodyPr>
          <a:lstStyle/>
          <a:p>
            <a:pPr algn="ctr"/>
            <a:r>
              <a:rPr lang="en-US" sz="1100" b="0" i="0" dirty="0">
                <a:solidFill>
                  <a:srgbClr val="1F2328"/>
                </a:solidFill>
                <a:latin typeface="Calibri"/>
                <a:cs typeface="Calibri"/>
              </a:rPr>
              <a:t xml:space="preserve">2.39</a:t>
            </a:r>
          </a:p>
        </p:txBody>
      </p:sp>
      <p:sp>
        <p:nvSpPr>
          <p:cNvPr id="1300" name="Cell"/>
          <p:cNvSpPr/>
          <p:nvPr/>
        </p:nvSpPr>
        <p:spPr>
          <a:xfrm>
            <a:off x="9811512" y="5111496"/>
            <a:ext cx="1316736" cy="256032"/>
          </a:xfrm>
          <a:prstGeom prst="rect">
            <a:avLst/>
          </a:prstGeom>
          <a:solidFill>
            <a:srgbClr val="F6DAD3"/>
          </a:solidFill>
          <a:ln>
            <a:noFill/>
          </a:ln>
        </p:spPr>
        <p:txBody>
          <a:bodyPr wrap="square" lIns="0" tIns="0" rIns="0" bIns="0" anchor="ctr">
            <a:noAutofit/>
          </a:bodyPr>
          <a:lstStyle/>
          <a:p>
            <a:pPr algn="ctr"/>
            <a:r>
              <a:rPr lang="en-US" sz="1100" b="0" i="0" dirty="0">
                <a:solidFill>
                  <a:srgbClr val="1F2328"/>
                </a:solidFill>
                <a:latin typeface="Calibri"/>
                <a:cs typeface="Calibri"/>
              </a:rPr>
              <a:t xml:space="preserve">1.24</a:t>
            </a:r>
          </a:p>
        </p:txBody>
      </p:sp>
      <p:sp>
        <p:nvSpPr>
          <p:cNvPr id="1301" name="Method"/>
          <p:cNvSpPr txBox="1"/>
          <p:nvPr/>
        </p:nvSpPr>
        <p:spPr>
          <a:xfrm>
            <a:off x="6931152" y="5385816"/>
            <a:ext cx="1508760" cy="292608"/>
          </a:xfrm>
          <a:prstGeom prst="rect">
            <a:avLst/>
          </a:prstGeom>
          <a:noFill/>
          <a:ln>
            <a:noFill/>
          </a:ln>
        </p:spPr>
        <p:txBody>
          <a:bodyPr wrap="square" lIns="0" tIns="0" rIns="0" bIns="0" anchor="ctr">
            <a:noAutofit/>
          </a:bodyPr>
          <a:lstStyle/>
          <a:p>
            <a:pPr algn="l"/>
            <a:r>
              <a:rPr lang="en-US" sz="1200" b="1" i="0" dirty="0">
                <a:solidFill>
                  <a:srgbClr val="0B6E4F"/>
                </a:solidFill>
                <a:latin typeface="Calibri"/>
                <a:cs typeface="Calibri"/>
              </a:rPr>
              <a:t xml:space="preserve">RIGOR</a:t>
            </a:r>
          </a:p>
        </p:txBody>
      </p:sp>
      <p:sp>
        <p:nvSpPr>
          <p:cNvPr id="1302" name="Cell"/>
          <p:cNvSpPr/>
          <p:nvPr/>
        </p:nvSpPr>
        <p:spPr>
          <a:xfrm>
            <a:off x="8458200" y="5404104"/>
            <a:ext cx="1316736" cy="256032"/>
          </a:xfrm>
          <a:prstGeom prst="rect">
            <a:avLst/>
          </a:prstGeom>
          <a:solidFill>
            <a:srgbClr val="DDF0E5"/>
          </a:solidFill>
          <a:ln>
            <a:noFill/>
          </a:ln>
        </p:spPr>
        <p:txBody>
          <a:bodyPr wrap="square" lIns="0" tIns="0" rIns="0" bIns="0" anchor="ctr">
            <a:noAutofit/>
          </a:bodyPr>
          <a:lstStyle/>
          <a:p>
            <a:pPr algn="ctr"/>
            <a:r>
              <a:rPr lang="en-US" sz="1100" b="1" i="0" dirty="0">
                <a:solidFill>
                  <a:srgbClr val="1F2328"/>
                </a:solidFill>
                <a:latin typeface="Calibri"/>
                <a:cs typeface="Calibri"/>
              </a:rPr>
              <a:t xml:space="preserve">3.44</a:t>
            </a:r>
          </a:p>
        </p:txBody>
      </p:sp>
      <p:sp>
        <p:nvSpPr>
          <p:cNvPr id="1303" name="Cell"/>
          <p:cNvSpPr/>
          <p:nvPr/>
        </p:nvSpPr>
        <p:spPr>
          <a:xfrm>
            <a:off x="9811512" y="5404104"/>
            <a:ext cx="1316736" cy="256032"/>
          </a:xfrm>
          <a:prstGeom prst="rect">
            <a:avLst/>
          </a:prstGeom>
          <a:solidFill>
            <a:srgbClr val="BFE3CF"/>
          </a:solidFill>
          <a:ln>
            <a:noFill/>
          </a:ln>
        </p:spPr>
        <p:txBody>
          <a:bodyPr wrap="square" lIns="0" tIns="0" rIns="0" bIns="0" anchor="ctr">
            <a:noAutofit/>
          </a:bodyPr>
          <a:lstStyle/>
          <a:p>
            <a:pPr algn="ctr"/>
            <a:r>
              <a:rPr lang="en-US" sz="1100" b="1" i="0" dirty="0">
                <a:solidFill>
                  <a:srgbClr val="1F2328"/>
                </a:solidFill>
                <a:latin typeface="Calibri"/>
                <a:cs typeface="Calibri"/>
              </a:rPr>
              <a:t xml:space="preserve">3.53</a:t>
            </a:r>
          </a:p>
        </p:txBody>
      </p:sp>
      <p:sp>
        <p:nvSpPr>
          <p:cNvPr id="1304" name="Strip"/>
          <p:cNvSpPr/>
          <p:nvPr/>
        </p:nvSpPr>
        <p:spPr>
          <a:xfrm>
            <a:off x="804672" y="5879592"/>
            <a:ext cx="10579608" cy="420624"/>
          </a:xfrm>
          <a:prstGeom prst="roundRect">
            <a:avLst>
              <a:gd name="adj" fmla="val 12000"/>
            </a:avLst>
          </a:prstGeom>
          <a:solidFill>
            <a:srgbClr val="E6F2EC"/>
          </a:solidFill>
          <a:ln>
            <a:noFill/>
          </a:ln>
        </p:spPr>
        <p:txBody>
          <a:bodyPr wrap="square" lIns="201168" tIns="0" rIns="201168" bIns="0" anchor="ctr">
            <a:noAutofit/>
          </a:bodyPr>
          <a:lstStyle/>
          <a:p>
            <a:pPr algn="l"/>
            <a:r>
              <a:rPr lang="en-US" sz="1400" b="0" i="0" dirty="0">
                <a:solidFill>
                  <a:srgbClr val="3A434C"/>
                </a:solidFill>
                <a:latin typeface="Calibri"/>
                <a:cs typeface="Calibri"/>
              </a:rPr>
              <a:t xml:space="preserve">Direct Mapping: structure without meaning.  LLMs alone: meaning without structure.  </a:t>
            </a:r>
            <a:r>
              <a:rPr lang="en-US" sz="1400" b="1" i="0" dirty="0">
                <a:solidFill>
                  <a:srgbClr val="0B6E4F"/>
                </a:solidFill>
                <a:latin typeface="Calibri"/>
                <a:cs typeface="Calibri"/>
              </a:rPr>
              <a:t xml:space="preserve">RIGOR: both, and checked.</a:t>
            </a:r>
          </a:p>
        </p:txBody>
      </p:sp>
      <p:sp>
        <p:nvSpPr>
          <p:cNvPr id="1305" name="Source"/>
          <p:cNvSpPr txBox="1"/>
          <p:nvPr/>
        </p:nvSpPr>
        <p:spPr>
          <a:xfrm>
            <a:off x="822960" y="6382512"/>
            <a:ext cx="10607040" cy="237744"/>
          </a:xfrm>
          <a:prstGeom prst="rect">
            <a:avLst/>
          </a:prstGeom>
          <a:noFill/>
          <a:ln>
            <a:noFill/>
          </a:ln>
        </p:spPr>
        <p:txBody>
          <a:bodyPr wrap="square" lIns="0" tIns="0" rIns="0" bIns="0" anchor="t">
            <a:noAutofit/>
          </a:bodyPr>
          <a:lstStyle/>
          <a:p>
            <a:pPr algn="l"/>
            <a:r>
              <a:rPr lang="en-US" sz="1000" b="0" i="0" dirty="0">
                <a:solidFill>
                  <a:srgbClr val="5B6770"/>
                </a:solidFill>
                <a:latin typeface="Calibri"/>
                <a:cs typeface="Calibri"/>
              </a:rPr>
              <a:t xml:space="preserve">Average scores (0–5) per database. Judge: all 58 tables, ontologies generated with Claude. Experts: 4 medical tables, significant agreement (Kendall's W). Paper Sec. 4.6, Tables 1, 10–12.</a:t>
            </a:r>
          </a:p>
        </p:txBody>
      </p:sp>
    </p:spTree>
  </p:cSld>
  <p:clrMapOvr>
    <a:masterClrMapping/>
  </p:clrMapOvr>
</p:sld>
</file>

<file path=ppt/theme/theme1.xml><?xml version="1.0" encoding="utf-8"?>
<a:theme xmlns:a="http://schemas.openxmlformats.org/drawingml/2006/main" xmlns:r="http://schemas.openxmlformats.org/officeDocument/2006/relationships" name="RIGOR · ISWC 2026 Talk">
  <a:themeElements>
    <a:clrScheme name="RIGOR · ISWC 2026 Talk">
      <a:dk1>
        <a:srgbClr val="111A28"/>
      </a:dk1>
      <a:lt1>
        <a:srgbClr val="F2F4F7"/>
      </a:lt1>
      <a:dk2>
        <a:srgbClr val="49515C"/>
      </a:dk2>
      <a:lt2>
        <a:srgbClr val="DCDEE2"/>
      </a:lt2>
      <a:accent1>
        <a:srgbClr val="2345C4"/>
      </a:accent1>
      <a:accent2>
        <a:srgbClr val="F4A261"/>
      </a:accent2>
      <a:accent3>
        <a:srgbClr val="B4561C"/>
      </a:accent3>
      <a:accent4>
        <a:srgbClr val="8FA5EB"/>
      </a:accent4>
      <a:accent5>
        <a:srgbClr val="8AA4FF"/>
      </a:accent5>
      <a:accent6>
        <a:srgbClr val="E9873A"/>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RIGOR · ISWC 2026 Talk">
  <a:themeElements>
    <a:clrScheme name="RIGOR · ISWC 2026 Talk">
      <a:dk1>
        <a:srgbClr val="111A28"/>
      </a:dk1>
      <a:lt1>
        <a:srgbClr val="F2F4F7"/>
      </a:lt1>
      <a:dk2>
        <a:srgbClr val="49515C"/>
      </a:dk2>
      <a:lt2>
        <a:srgbClr val="DCDEE2"/>
      </a:lt2>
      <a:accent1>
        <a:srgbClr val="2345C4"/>
      </a:accent1>
      <a:accent2>
        <a:srgbClr val="F4A261"/>
      </a:accent2>
      <a:accent3>
        <a:srgbClr val="B4561C"/>
      </a:accent3>
      <a:accent4>
        <a:srgbClr val="8FA5EB"/>
      </a:accent4>
      <a:accent5>
        <a:srgbClr val="8AA4FF"/>
      </a:accent5>
      <a:accent6>
        <a:srgbClr val="E9873A"/>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2026-10-26T00:50:16Z</dcterms:created>
</cp:coreProperties>
</file>