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SAKVMm4+QvifYUYUK20LMzWgf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36" Type="http://customschemas.google.com/relationships/presentationmetadata" Target="metadata"/>  
  
  
  
  
  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/>
        </p:nvSpPr>
        <p:spPr>
          <a:xfrm>
            <a:off x="804672" y="521207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804672" y="923544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>
                <a:solidFill>
                  <a:srgbClr val="1F2328"/>
                </a:solidFill>
                <a:latin typeface="Cambria"/>
                <a:ea typeface="Calibri"/>
                <a:cs typeface="Calibri"/>
                <a:sym typeface="Calibri"/>
              </a:rPr>
              <a:t>Not just a cleaner schema.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>
                <a:solidFill>
                  <a:srgbClr val="1F2328"/>
                </a:solidFill>
                <a:latin typeface="Cambria"/>
                <a:ea typeface="Calibri"/>
                <a:cs typeface="Calibri"/>
                <a:sym typeface="Calibri"/>
              </a:rPr>
              <a:t>A usable semantic model.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04672" y="2057400"/>
            <a:ext cx="2971800" cy="2532888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024128" y="221284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977639" y="3291840"/>
            <a:ext cx="566928" cy="4297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754880" y="2057400"/>
            <a:ext cx="6656832" cy="436168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038344" y="2212848"/>
            <a:ext cx="6044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093208" y="2633472"/>
            <a:ext cx="2103120" cy="475488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5248656" y="2743200"/>
            <a:ext cx="174650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253728" y="2633472"/>
            <a:ext cx="1828800" cy="475488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9354312" y="2743200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/>
          </a:p>
        </p:txBody>
      </p:sp>
      <p:cxnSp>
        <p:nvCxnSpPr>
          <p:cNvPr id="92" name="Google Shape;92;p3"/>
          <p:cNvCxnSpPr/>
          <p:nvPr/>
        </p:nvCxnSpPr>
        <p:spPr>
          <a:xfrm>
            <a:off x="7278624" y="2871216"/>
            <a:ext cx="1865376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3" name="Google Shape;93;p3"/>
          <p:cNvSpPr/>
          <p:nvPr/>
        </p:nvSpPr>
        <p:spPr>
          <a:xfrm>
            <a:off x="7388352" y="2487168"/>
            <a:ext cx="1591056" cy="2743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7278624" y="25146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804672" y="4809744"/>
            <a:ext cx="2971800" cy="1609344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Table card"/>
          <p:cNvSpPr/>
          <p:nvPr/>
        </p:nvSpPr>
        <p:spPr>
          <a:xfrm>
            <a:off x="969264" y="2615184"/>
            <a:ext cx="2642616" cy="1792224"/>
          </a:xfrm>
          <a:prstGeom prst="roundRect">
            <a:avLst>
              <a:gd name="adj" fmla="val 9000"/>
            </a:avLst>
          </a:prstGeom>
          <a:solidFill>
            <a:srgbClr val="E9EEEB"/>
          </a:solidFill>
          <a:ln>
            <a:noFill/>
          </a:ln>
          <a:effectLst>
            <a:outerShdw blurRad="762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79" name="Google Shape;79;p3"/>
          <p:cNvSpPr txBox="1"/>
          <p:nvPr/>
        </p:nvSpPr>
        <p:spPr>
          <a:xfrm>
            <a:off x="1133856" y="272491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/>
          </a:p>
        </p:txBody>
      </p:sp>
      <p:cxnSp>
        <p:nvCxnSpPr>
          <p:cNvPr id="80" name="Google Shape;80;p3"/>
          <p:cNvCxnSpPr/>
          <p:nvPr/>
        </p:nvCxnSpPr>
        <p:spPr>
          <a:xfrm>
            <a:off x="1133856" y="3145536"/>
            <a:ext cx="2313432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5" name="Column"/>
          <p:cNvSpPr/>
          <p:nvPr/>
        </p:nvSpPr>
        <p:spPr>
          <a:xfrm>
            <a:off x="1133856" y="327355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patient_id</a:t>
            </a:r>
          </a:p>
        </p:txBody>
      </p:sp>
      <p:sp>
        <p:nvSpPr>
          <p:cNvPr id="106" name="Type"/>
          <p:cNvSpPr/>
          <p:nvPr/>
        </p:nvSpPr>
        <p:spPr>
          <a:xfrm>
            <a:off x="2697480" y="3273552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4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FK</a:t>
            </a:r>
          </a:p>
        </p:txBody>
      </p:sp>
      <p:sp>
        <p:nvSpPr>
          <p:cNvPr id="107" name="Column"/>
          <p:cNvSpPr/>
          <p:nvPr/>
        </p:nvSpPr>
        <p:spPr>
          <a:xfrm>
            <a:off x="1133856" y="362102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BM_DEP</a:t>
            </a:r>
          </a:p>
        </p:txBody>
      </p:sp>
      <p:sp>
        <p:nvSpPr>
          <p:cNvPr id="108" name="Type"/>
          <p:cNvSpPr/>
          <p:nvPr/>
        </p:nvSpPr>
        <p:spPr>
          <a:xfrm>
            <a:off x="2697480" y="3621024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4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INT</a:t>
            </a:r>
          </a:p>
        </p:txBody>
      </p:sp>
      <p:sp>
        <p:nvSpPr>
          <p:cNvPr id="109" name="Column"/>
          <p:cNvSpPr/>
          <p:nvPr/>
        </p:nvSpPr>
        <p:spPr>
          <a:xfrm>
            <a:off x="1133856" y="3968496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ecog_stage</a:t>
            </a:r>
          </a:p>
        </p:txBody>
      </p:sp>
      <p:sp>
        <p:nvSpPr>
          <p:cNvPr id="110" name="Type"/>
          <p:cNvSpPr/>
          <p:nvPr/>
        </p:nvSpPr>
        <p:spPr>
          <a:xfrm>
            <a:off x="2697480" y="3968496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4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INT</a:t>
            </a:r>
          </a:p>
        </p:txBody>
      </p:sp>
      <p:sp>
        <p:nvSpPr>
          <p:cNvPr id="111" name="Code panel"/>
          <p:cNvSpPr/>
          <p:nvPr/>
        </p:nvSpPr>
        <p:spPr>
          <a:xfrm>
            <a:off x="4983480" y="3310128"/>
            <a:ext cx="6217920" cy="2962656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2" name="Code line 112"/>
          <p:cNvSpPr txBox="1"/>
          <p:nvPr/>
        </p:nvSpPr>
        <p:spPr>
          <a:xfrm>
            <a:off x="4983480" y="3429000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150"/>
          </a:p>
        </p:txBody>
      </p:sp>
      <p:sp>
        <p:nvSpPr>
          <p:cNvPr id="113" name="Code line 113"/>
          <p:cNvSpPr txBox="1"/>
          <p:nvPr/>
        </p:nvSpPr>
        <p:spPr>
          <a:xfrm>
            <a:off x="4983480" y="3624540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1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	← schema (foreign key)</a:t>
            </a:r>
            <a:endParaRPr lang="en-US" sz="1150"/>
          </a:p>
        </p:txBody>
      </p:sp>
      <p:sp>
        <p:nvSpPr>
          <p:cNvPr id="114" name="Code line 114"/>
          <p:cNvSpPr txBox="1"/>
          <p:nvPr/>
        </p:nvSpPr>
        <p:spPr>
          <a:xfrm>
            <a:off x="4983480" y="3820081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DisjointWith: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1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	← LLM knowledge</a:t>
            </a:r>
            <a:endParaRPr lang="en-US" sz="1150"/>
          </a:p>
        </p:txBody>
      </p:sp>
      <p:sp>
        <p:nvSpPr>
          <p:cNvPr id="115" name="Code line 115"/>
          <p:cNvSpPr txBox="1"/>
          <p:nvPr/>
        </p:nvSpPr>
        <p:spPr>
          <a:xfrm>
            <a:off x="4983480" y="4107062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150"/>
          </a:p>
        </p:txBody>
      </p:sp>
      <p:sp>
        <p:nvSpPr>
          <p:cNvPr id="116" name="Code line 116"/>
          <p:cNvSpPr txBox="1"/>
          <p:nvPr/>
        </p:nvSpPr>
        <p:spPr>
          <a:xfrm>
            <a:off x="4983480" y="4302603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150"/>
          </a:p>
        </p:txBody>
      </p:sp>
      <p:sp>
        <p:nvSpPr>
          <p:cNvPr id="117" name="Code line 117"/>
          <p:cNvSpPr txBox="1"/>
          <p:nvPr/>
        </p:nvSpPr>
        <p:spPr>
          <a:xfrm>
            <a:off x="4983480" y="4498144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"Bone Marrow Depression"@en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r>
              <a:rPr lang="en-US" sz="11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	← documentation</a:t>
            </a:r>
            <a:endParaRPr lang="en-US" sz="1150"/>
          </a:p>
        </p:txBody>
      </p:sp>
      <p:sp>
        <p:nvSpPr>
          <p:cNvPr id="118" name="Code line 118"/>
          <p:cNvSpPr txBox="1"/>
          <p:nvPr/>
        </p:nvSpPr>
        <p:spPr>
          <a:xfrm>
            <a:off x="4983480" y="4693685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skos:relatedMatch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obo:DOID_4961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r>
              <a:rPr lang="en-US" sz="1100" b="0" i="1" dirty="0">
                <a:solidFill>
                  <a:srgbClr val="0B6E4F"/>
                </a:solidFill>
                <a:latin typeface="Calibri"/>
                <a:cs typeface="Calibri"/>
              </a:rPr>
              <a:t xml:space="preserve">	← Disease Ontology</a:t>
            </a:r>
            <a:endParaRPr lang="en-US" sz="1150"/>
          </a:p>
        </p:txBody>
      </p:sp>
      <p:sp>
        <p:nvSpPr>
          <p:cNvPr id="119" name="Code line 119"/>
          <p:cNvSpPr txBox="1"/>
          <p:nvPr/>
        </p:nvSpPr>
        <p:spPr>
          <a:xfrm>
            <a:off x="4983480" y="4889226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admission:BM_DEP</a:t>
            </a:r>
            <a:r>
              <a:rPr lang="en-US" sz="11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	← source column</a:t>
            </a:r>
            <a:endParaRPr lang="en-US" sz="1150"/>
          </a:p>
        </p:txBody>
      </p:sp>
      <p:sp>
        <p:nvSpPr>
          <p:cNvPr id="120" name="Code line 120"/>
          <p:cNvSpPr txBox="1"/>
          <p:nvPr/>
        </p:nvSpPr>
        <p:spPr>
          <a:xfrm>
            <a:off x="4983480" y="5176207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150"/>
          </a:p>
        </p:txBody>
      </p:sp>
      <p:sp>
        <p:nvSpPr>
          <p:cNvPr id="121" name="Code line 121"/>
          <p:cNvSpPr txBox="1"/>
          <p:nvPr/>
        </p:nvSpPr>
        <p:spPr>
          <a:xfrm>
            <a:off x="4983480" y="5371748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150"/>
          </a:p>
        </p:txBody>
      </p:sp>
      <p:sp>
        <p:nvSpPr>
          <p:cNvPr id="122" name="Code line 122"/>
          <p:cNvSpPr txBox="1"/>
          <p:nvPr/>
        </p:nvSpPr>
        <p:spPr>
          <a:xfrm>
            <a:off x="4983480" y="5567289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"ECOG Performance Status"@en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r>
              <a:rPr lang="en-US" sz="11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	← documentation</a:t>
            </a:r>
            <a:endParaRPr lang="en-US" sz="1150"/>
          </a:p>
        </p:txBody>
      </p:sp>
      <p:sp>
        <p:nvSpPr>
          <p:cNvPr id="123" name="Code line 123"/>
          <p:cNvSpPr txBox="1"/>
          <p:nvPr/>
        </p:nvSpPr>
        <p:spPr>
          <a:xfrm>
            <a:off x="4983480" y="5762830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rdfs:comment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"0 = fully active … 5 = dead"@en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r>
              <a:rPr lang="en-US" sz="11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	← LLM knowledge</a:t>
            </a:r>
            <a:endParaRPr lang="en-US" sz="1150"/>
          </a:p>
        </p:txBody>
      </p:sp>
      <p:sp>
        <p:nvSpPr>
          <p:cNvPr id="124" name="Code line 124"/>
          <p:cNvSpPr txBox="1"/>
          <p:nvPr/>
        </p:nvSpPr>
        <p:spPr>
          <a:xfrm>
            <a:off x="4983480" y="5958371"/>
            <a:ext cx="6217920" cy="195540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1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1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1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admission:ecog_stage</a:t>
            </a:r>
            <a:r>
              <a:rPr lang="en-US" sz="11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	← source column</a:t>
            </a:r>
            <a:endParaRPr lang="en-US" sz="1150"/>
          </a:p>
        </p:txBody>
      </p:sp>
      <p:sp>
        <p:nvSpPr>
          <p:cNvPr id="125" name="What this enables"/>
          <p:cNvSpPr/>
          <p:nvPr/>
        </p:nvSpPr>
        <p:spPr>
          <a:xfrm>
            <a:off x="1005840" y="4919472"/>
            <a:ext cx="2606040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11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WHAT THIS ENABLES</a:t>
            </a:r>
          </a:p>
          <a:p>
            <a:pPr algn="l">
              <a:spcAft>
                <a:spcPts val="300"/>
              </a:spcAft>
            </a:pPr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Concept-based access</a:t>
            </a:r>
          </a:p>
          <a:p>
            <a:pPr algn="l">
              <a:spcAft>
                <a:spcPts val="300"/>
              </a:spcAft>
            </a:pPr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Knowledge graph population</a:t>
            </a:r>
          </a:p>
          <a:p>
            <a:pPr algn="l">
              <a:spcAft>
                <a:spcPts val="300"/>
              </a:spcAft>
            </a:pPr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Cross-system interoperability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3" grpId="0" animBg="1"/>
      <p:bldP spid="94" grpId="0" animBg="1"/>
      <p:bldP spid="112" grpId="0" animBg="1"/>
      <p:bldP spid="113" grpId="0" animBg="1"/>
      <p:bldP spid="115" grpId="0" animBg="1"/>
      <p:bldP spid="116" grpId="0" animBg="1"/>
      <p:bldP spid="119" grpId="0" animBg="1"/>
      <p:bldP spid="120" grpId="0" animBg="1"/>
      <p:bldP spid="121" grpId="0" animBg="1"/>
      <p:bldP spid="124" grpId="0" animBg="1"/>
      <p:bldP spid="117" grpId="0" animBg="1"/>
      <p:bldP spid="122" grpId="0" animBg="1"/>
      <p:bldP spid="118" grpId="0" animBg="1"/>
      <p:bldP spid="114" grpId="0" animBg="1"/>
      <p:bldP spid="123" grpId="0" animBg="1"/>
      <p:bldP spid="102" grpId="0" animBg="1"/>
      <p:bldP spid="125" grpId="0" animBg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