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6.xml"/>
  <Override ContentType="application/vnd.openxmlformats-officedocument.presentationml.slide+xml" PartName="/ppt/slides/slide25.xml"/>
  <Override ContentType="application/vnd.openxmlformats-officedocument.presentationml.slide+xml" PartName="/ppt/slides/slide2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80" r:id="rId29"/>
    <p:sldId id="281" r:id="rId30"/>
    <p:sldId id="282" r:id="rId31"/>
  </p:sldIdLst>
  <p:sldSz cy="6858000" cx="12192000"/>
  <p:notesSz cx="6858000" cy="12192000"/>
  <p:embeddedFontLst>
    <p:embeddedFont>
      <p:font typeface="IBM Plex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iIhFui5hy+i4o3KOYM/gPuu+Lj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40" Type="http://schemas.openxmlformats.org/officeDocument/2006/relationships/font" Target="fonts/IBMPlexSans-regular.fntdata"/><Relationship Id="rId42" Type="http://schemas.openxmlformats.org/officeDocument/2006/relationships/font" Target="fonts/IBMPlexSans-italic.fntdata"/><Relationship Id="rId41" Type="http://schemas.openxmlformats.org/officeDocument/2006/relationships/font" Target="fonts/IBMPlexSans-bold.fntdata"/><Relationship Id="rId44" Type="http://customschemas.google.com/relationships/presentationmetadata" Target="metadata"/><Relationship Id="rId43"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29" Type="http://schemas.openxmlformats.org/officeDocument/2006/relationships/slide" Target="slides/slide25.xml"/><Relationship Id="rId31" Type="http://schemas.openxmlformats.org/officeDocument/2006/relationships/slide" Target="slides/slide27.xml"/><Relationship Id="rId30"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[8:45–9:38]  SPOKEN SCRIPT (85 words)</a:t>
            </a:r>
          </a:p>
          <a:p>
            <a:r>
              <a:rPr b="0" i="0" lang="en-US" sz="1200" u="none" cap="none" strike="noStrike">
                <a:solidFill>
                  <a:schemeClr val="dk1"/>
                </a:solidFill>
                <a:latin typeface="IBM Plex Sans"/>
                <a:ea typeface="IBM Plex Sans"/>
                <a:cs typeface="IBM Plex Sans"/>
                <a:sym typeface="IBM Plex Sans"/>
              </a:rPr>
              <a:t>First result: what do the ontologies contain, and how many modeling errors do they have? On the left, what each method adds. Direct mapping and the LLM baseline add no labels, no provenance and no hierarchy. Single-pass retrieval adds labels, nothing more. Only RIGOR adds all three. [pause] On the right, the modeling errors that OOPS! finds, for the ontologies generated with Claude. On eICU, direct mapping has six hundred sixty-five, RIGOR has two. On Chinook, RIGOR has none. Mistral and DeepSeek show the same pattern. [pause]</a:t>
            </a:r>
          </a:p>
          <a:p/>
          <a:p>
            <a:r>
              <a:rPr b="0" i="0" lang="en-US" sz="1200" u="none" cap="none" strike="noStrike">
                <a:solidFill>
                  <a:schemeClr val="dk1"/>
                </a:solidFill>
                <a:latin typeface="IBM Plex Sans"/>
                <a:ea typeface="IBM Plex Sans"/>
                <a:cs typeface="IBM Plex Sans"/>
                <a:sym typeface="IBM Plex Sans"/>
              </a:rPr>
              <a:t>PRESENTER / POINTER: Left table top to bottom, land on the RIGOR row; then the eICU bars, then Chinook's zero.</a:t>
            </a:r>
          </a:p>
          <a:p>
            <a:r>
              <a:rPr b="0" i="0" lang="en-US" sz="1200" u="none" cap="none" strike="noStrike">
                <a:solidFill>
                  <a:schemeClr val="dk1"/>
                </a:solidFill>
                <a:latin typeface="IBM Plex Sans"/>
                <a:ea typeface="IBM Plex Sans"/>
                <a:cs typeface="IBM Plex Sans"/>
                <a:sym typeface="IBM Plex Sans"/>
              </a:rPr>
              <a:t>AUDIENCE TAKEAWAY: Only RIGOR adds labels, provenance and hierarchy, with far fewer modeling errors.</a:t>
            </a:r>
          </a:p>
          <a:p>
            <a:r>
              <a:rPr b="0" i="0" lang="en-US" sz="1200" u="none" cap="none" strike="noStrike">
                <a:solidFill>
                  <a:schemeClr val="dk1"/>
                </a:solidFill>
                <a:latin typeface="IBM Plex Sans"/>
                <a:ea typeface="IBM Plex Sans"/>
                <a:cs typeface="IBM Plex Sans"/>
                <a:sym typeface="IBM Plex Sans"/>
              </a:rPr>
              <a:t>SOURCE AND SCOPE: Paper Tables 7 (OOPS! totals, Claude) and 8 (annotations, provenance, SubClassOf; all 9 runs per method).</a:t>
            </a:r>
          </a:p>
          <a:p>
            <a:r>
              <a:rPr b="0" i="0" lang="en-US" sz="1200" u="none" cap="none" strike="noStrike">
                <a:solidFill>
                  <a:schemeClr val="dk1"/>
                </a:solidFill>
                <a:latin typeface="IBM Plex Sans"/>
                <a:ea typeface="IBM Plex Sans"/>
                <a:cs typeface="IBM Plex Sans"/>
                <a:sym typeface="IBM Plex Sans"/>
              </a:rPr>
              <a:t>IF RUNNING LATE, DROP: "Mistral and DeepSeek show the same pattern."</a:t>
            </a:r>
          </a:p>
        </p:txBody>
      </p:sp>
      <p:sp>
        <p:nvSpPr>
          <p:cNvPr id="1142" name="Google Shape;1142;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[9:14–10:18]  SPOKEN SCRIPT (112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Second: is the link back to the data real? We checked with BURR, an external benchmark for ontology learning from relational databases. BURR asks every system for a mapping: which table becomes a class, which foreign key a relation, which column an attribute. Two elements match when they map to the same database elements, whatever they are called. BURR scores this against a gold mapping, with F1 per element type. RIGOR's provenance gives us this mapping directly; we export it as D2RQ. On BURR's ISWC scenario, RIGOR has the highest F1 for classes, relations and attributes among the compared ontology-learning systems, including both rule-based ones. So enrichment did not cost us fidelity.</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card first, then land on the RIGOR row.</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Semantic enrichment did not break the correspondence that OBDA and KG population need.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Table 13. BURR = Laskowski et al., PACMMOD 2025; matching rule from BURR Section 4, Eq. 3. Left-card element names are illustrative.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RUNNING LATE, DROP: "Two elements match when they map to the same database elements, whatever they are called."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DO NOT SAY: 'BURR found LLMs trail rule-based systems'. BURR's results show Gemini 2.5 Pro ahead of the rule-based systems overall (rule-based systems win only on NPD).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ABOUT GEMINI 2.5 PRO (BURR Table 3, ISWC .65 / .68 / .56): in BURR it is a general-purpose LLM prompted with few-shot examples and a checklist to write the D2RQ mapping directly. It is a mapping generator, not an ontology-learning system that builds an enriched ontology, so we compare with ontology-learning systems. Against it, RIGOR's class F1 is higher, relations are on par, attributes lower, and RIGOR also produces labels, hierarchy and provenance. It is prompted, not fine-tuned.</a:t>
            </a:r>
            <a:endParaRPr/>
          </a:p>
        </p:txBody>
      </p:sp>
      <p:sp>
        <p:nvSpPr>
          <p:cNvPr id="1201" name="Google Shape;1201;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[10:42–11:19]  SPOKEN SCRIPT (61 words)</a:t>
            </a:r>
          </a:p>
          <a:p>
            <a:r>
              <a:rPr lang="en-US" sz="1200">
                <a:solidFill>
                  <a:schemeClr val="dk1"/>
                </a:solidFill>
                <a:latin typeface="Calibri"/>
                <a:ea typeface="Calibri"/>
                <a:cs typeface="Calibri"/>
                <a:sym typeface="Calibri"/>
              </a:rPr>
              <a:t>Finally: do evaluators prefer RIGOR? Both evaluations were blind: four anonymized ontologies per table, ranked first to fourth. An LLM judge, GPT-5.4, ranked RIGOR first on all fifty-eight tables, across the three databases. [pause] Ten ontology experts ranked RIGOR first in twenty-eight of forty rankings, seventy percent, and they agreed significantly with each other. Machine and human evaluators reach the same verdict.</a:t>
            </a:r>
          </a:p>
          <a:p/>
          <a:p>
            <a:r>
              <a:rPr lang="en-US" sz="1200">
                <a:solidFill>
                  <a:schemeClr val="dk1"/>
                </a:solidFill>
                <a:latin typeface="Calibri"/>
                <a:ea typeface="Calibri"/>
                <a:cs typeface="Calibri"/>
                <a:sym typeface="Calibri"/>
              </a:rPr>
              <a:t>PRESENTER / POINTER: Left number first, then the right number and its bars.</a:t>
            </a:r>
          </a:p>
          <a:p>
            <a:r>
              <a:rPr lang="en-US" sz="1200">
                <a:solidFill>
                  <a:schemeClr val="dk1"/>
                </a:solidFill>
                <a:latin typeface="Calibri"/>
                <a:ea typeface="Calibri"/>
                <a:cs typeface="Calibri"/>
                <a:sym typeface="Calibri"/>
              </a:rPr>
              <a:t>AUDIENCE TAKEAWAY: An independent LLM judge and human experts both rank RIGOR first.</a:t>
            </a:r>
          </a:p>
          <a:p>
            <a:r>
              <a:rPr lang="en-US" sz="1200">
                <a:solidFill>
                  <a:schemeClr val="dk1"/>
                </a:solidFill>
                <a:latin typeface="Calibri"/>
                <a:ea typeface="Calibri"/>
                <a:cs typeface="Calibri"/>
                <a:sym typeface="Calibri"/>
              </a:rPr>
              <a:t>SOURCE AND SCOPE: Paper Table 1 (rankings) and Table 12 (Kendall's W 0.39-0.72). LLM judge: Claude outputs, 290 competency questions. Experts: 4 tables from the two medical databases.</a:t>
            </a:r>
          </a:p>
          <a:p>
            <a:r>
              <a:rPr lang="en-US" sz="1200">
                <a:solidFill>
                  <a:schemeClr val="dk1"/>
                </a:solidFill>
                <a:latin typeface="Calibri"/>
                <a:ea typeface="Calibri"/>
                <a:cs typeface="Calibri"/>
                <a:sym typeface="Calibri"/>
              </a:rPr>
              <a:t>IF RUNNING LATE, DROP: "and they agreed significantly with each other"</a:t>
            </a:r>
          </a:p>
        </p:txBody>
      </p:sp>
      <p:sp>
        <p:nvSpPr>
          <p:cNvPr id="1254" name="Google Shape;1254;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3" name="Shape 1143"/>
        <p:cNvGrpSpPr/>
        <p:nvPr/>
      </p:nvGrpSpPr>
      <p:grpSpPr>
        <a:xfrm>
          <a:off x="0" y="0"/>
          <a:ext cx="0" cy="0"/>
          <a:chOff x="0" y="0"/>
          <a:chExt cx="0" cy="0"/>
        </a:xfrm>
      </p:grpSpPr>
      <p:sp>
        <p:nvSpPr>
          <p:cNvPr id="1144" name="Google Shape;1144;p20"/>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RESULT 1  /  MEANING AND MODELING ERRORS</a:t>
            </a:r>
            <a:endParaRPr/>
          </a:p>
        </p:txBody>
      </p:sp>
      <p:sp>
        <p:nvSpPr>
          <p:cNvPr id="1145" name="Google Shape;1145;p20"/>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Only RIGOR adds meaning, with far fewer modeling errors.</a:t>
            </a:r>
            <a:endParaRPr/>
          </a:p>
        </p:txBody>
      </p:sp>
      <p:sp>
        <p:nvSpPr>
          <p:cNvPr id="1146" name="Subtitle"/>
          <p:cNvSpPr txBox="1"/>
          <p:nvPr/>
        </p:nvSpPr>
        <p:spPr>
          <a:xfrm>
            <a:off x="822960" y="1645920"/>
            <a:ext cx="10680192" cy="329184"/>
          </a:xfrm>
          <a:prstGeom prst="rect">
            <a:avLst/>
          </a:prstGeom>
          <a:noFill/>
          <a:ln>
            <a:noFill/>
          </a:ln>
        </p:spPr>
        <p:txBody>
          <a:bodyPr wrap="square" lIns="0" tIns="0" rIns="0" bIns="0" anchor="t">
            <a:noAutofit/>
          </a:bodyPr>
          <a:lstStyle/>
          <a:p>
            <a:pPr algn="l"/>
            <a:r>
              <a:rPr lang="en-US" sz="1600" b="0" i="0" dirty="0">
                <a:solidFill>
                  <a:srgbClr val="3A434C"/>
                </a:solidFill>
                <a:latin typeface="Calibri"/>
                <a:cs typeface="Calibri"/>
              </a:rPr>
              <a:t xml:space="preserve">Ontologies generated with Claude for all three databases. Mistral and DeepSeek show the same pattern.</a:t>
            </a:r>
          </a:p>
        </p:txBody>
      </p:sp>
      <p:sp>
        <p:nvSpPr>
          <p:cNvPr id="1147" name="Card"/>
          <p:cNvSpPr/>
          <p:nvPr/>
        </p:nvSpPr>
        <p:spPr>
          <a:xfrm>
            <a:off x="804672" y="2194560"/>
            <a:ext cx="4983480" cy="3886200"/>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148" name="Card label"/>
          <p:cNvSpPr txBox="1"/>
          <p:nvPr/>
        </p:nvSpPr>
        <p:spPr>
          <a:xfrm>
            <a:off x="1078992" y="2395728"/>
            <a:ext cx="4434840"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WHAT EACH METHOD ADDS</a:t>
            </a:r>
          </a:p>
        </p:txBody>
      </p:sp>
      <p:sp>
        <p:nvSpPr>
          <p:cNvPr id="1149" name="Column"/>
          <p:cNvSpPr txBox="1"/>
          <p:nvPr/>
        </p:nvSpPr>
        <p:spPr>
          <a:xfrm>
            <a:off x="2843784" y="2834639"/>
            <a:ext cx="914400" cy="457200"/>
          </a:xfrm>
          <a:prstGeom prst="rect">
            <a:avLst/>
          </a:prstGeom>
          <a:noFill/>
          <a:ln>
            <a:noFill/>
          </a:ln>
        </p:spPr>
        <p:txBody>
          <a:bodyPr wrap="square" lIns="0" tIns="0" rIns="0" bIns="0" anchor="t">
            <a:noAutofit/>
          </a:bodyPr>
          <a:lstStyle/>
          <a:p>
            <a:pPr algn="ctr"/>
            <a:r>
              <a:rPr lang="en-US" sz="1150" b="0" i="0" dirty="0">
                <a:solidFill>
                  <a:srgbClr val="5B6770"/>
                </a:solidFill>
                <a:latin typeface="Calibri"/>
                <a:cs typeface="Calibri"/>
              </a:rPr>
              <a:t xml:space="preserve">Labels &amp; comments</a:t>
            </a:r>
          </a:p>
        </p:txBody>
      </p:sp>
      <p:sp>
        <p:nvSpPr>
          <p:cNvPr id="1150" name="Column"/>
          <p:cNvSpPr txBox="1"/>
          <p:nvPr/>
        </p:nvSpPr>
        <p:spPr>
          <a:xfrm>
            <a:off x="3785615" y="2834639"/>
            <a:ext cx="914400" cy="457200"/>
          </a:xfrm>
          <a:prstGeom prst="rect">
            <a:avLst/>
          </a:prstGeom>
          <a:noFill/>
          <a:ln>
            <a:noFill/>
          </a:ln>
        </p:spPr>
        <p:txBody>
          <a:bodyPr wrap="square" lIns="0" tIns="0" rIns="0" bIns="0" anchor="t">
            <a:noAutofit/>
          </a:bodyPr>
          <a:lstStyle/>
          <a:p>
            <a:pPr algn="ctr"/>
            <a:r>
              <a:rPr lang="en-US" sz="1150" b="0" i="0" dirty="0">
                <a:solidFill>
                  <a:srgbClr val="5B6770"/>
                </a:solidFill>
                <a:latin typeface="Calibri"/>
                <a:cs typeface="Calibri"/>
              </a:rPr>
              <a:t xml:space="preserve">Provenance</a:t>
            </a:r>
          </a:p>
        </p:txBody>
      </p:sp>
      <p:sp>
        <p:nvSpPr>
          <p:cNvPr id="1151" name="Column"/>
          <p:cNvSpPr txBox="1"/>
          <p:nvPr/>
        </p:nvSpPr>
        <p:spPr>
          <a:xfrm>
            <a:off x="4727448" y="2834639"/>
            <a:ext cx="914400" cy="457200"/>
          </a:xfrm>
          <a:prstGeom prst="rect">
            <a:avLst/>
          </a:prstGeom>
          <a:noFill/>
          <a:ln>
            <a:noFill/>
          </a:ln>
        </p:spPr>
        <p:txBody>
          <a:bodyPr wrap="square" lIns="0" tIns="0" rIns="0" bIns="0" anchor="t">
            <a:noAutofit/>
          </a:bodyPr>
          <a:lstStyle/>
          <a:p>
            <a:pPr algn="ctr"/>
            <a:r>
              <a:rPr lang="en-US" sz="1150" b="0" i="0" dirty="0">
                <a:solidFill>
                  <a:srgbClr val="5B6770"/>
                </a:solidFill>
                <a:latin typeface="Calibri"/>
                <a:cs typeface="Calibri"/>
              </a:rPr>
              <a:t xml:space="preserve">Class hierarchy</a:t>
            </a:r>
          </a:p>
        </p:txBody>
      </p:sp>
      <p:sp>
        <p:nvSpPr>
          <p:cNvPr id="1152" name="Method"/>
          <p:cNvSpPr txBox="1"/>
          <p:nvPr/>
        </p:nvSpPr>
        <p:spPr>
          <a:xfrm>
            <a:off x="1078992" y="3474720"/>
            <a:ext cx="1828800" cy="274320"/>
          </a:xfrm>
          <a:prstGeom prst="rect">
            <a:avLst/>
          </a:prstGeom>
          <a:noFill/>
          <a:ln>
            <a:noFill/>
          </a:ln>
        </p:spPr>
        <p:txBody>
          <a:bodyPr wrap="square" lIns="0" tIns="0" rIns="0" bIns="0" anchor="ctr">
            <a:noAutofit/>
          </a:bodyPr>
          <a:lstStyle/>
          <a:p>
            <a:pPr algn="l"/>
            <a:r>
              <a:rPr lang="en-US" sz="1600" b="1" i="0" dirty="0">
                <a:solidFill>
                  <a:srgbClr val="1F2328"/>
                </a:solidFill>
                <a:latin typeface="Calibri"/>
                <a:cs typeface="Calibri"/>
              </a:rPr>
              <a:t xml:space="preserve">Direct Mapping</a:t>
            </a:r>
          </a:p>
        </p:txBody>
      </p:sp>
      <p:sp>
        <p:nvSpPr>
          <p:cNvPr id="1153" name="No"/>
          <p:cNvSpPr/>
          <p:nvPr/>
        </p:nvSpPr>
        <p:spPr>
          <a:xfrm>
            <a:off x="3163824" y="3474720"/>
            <a:ext cx="274320" cy="274320"/>
          </a:xfrm>
          <a:prstGeom prst="ellipse">
            <a:avLst/>
          </a:prstGeom>
          <a:noFill/>
          <a:ln w="9525">
            <a:solidFill>
              <a:srgbClr val="9AA3A9"/>
            </a:solidFill>
          </a:ln>
        </p:spPr>
        <p:txBody>
          <a:bodyPr wrap="square" lIns="0" tIns="0" rIns="0" bIns="0" anchor="t">
            <a:noAutofit/>
          </a:bodyPr>
          <a:lstStyle/>
          <a:p>
            <a:pPr algn="l"/>
          </a:p>
        </p:txBody>
      </p:sp>
      <p:sp>
        <p:nvSpPr>
          <p:cNvPr id="1154" name="No"/>
          <p:cNvSpPr/>
          <p:nvPr/>
        </p:nvSpPr>
        <p:spPr>
          <a:xfrm>
            <a:off x="4105655" y="3474720"/>
            <a:ext cx="274320" cy="274320"/>
          </a:xfrm>
          <a:prstGeom prst="ellipse">
            <a:avLst/>
          </a:prstGeom>
          <a:noFill/>
          <a:ln w="9525">
            <a:solidFill>
              <a:srgbClr val="9AA3A9"/>
            </a:solidFill>
          </a:ln>
        </p:spPr>
        <p:txBody>
          <a:bodyPr wrap="square" lIns="0" tIns="0" rIns="0" bIns="0" anchor="t">
            <a:noAutofit/>
          </a:bodyPr>
          <a:lstStyle/>
          <a:p>
            <a:pPr algn="l"/>
          </a:p>
        </p:txBody>
      </p:sp>
      <p:sp>
        <p:nvSpPr>
          <p:cNvPr id="1155" name="No"/>
          <p:cNvSpPr/>
          <p:nvPr/>
        </p:nvSpPr>
        <p:spPr>
          <a:xfrm>
            <a:off x="5047488" y="3474720"/>
            <a:ext cx="274320" cy="274320"/>
          </a:xfrm>
          <a:prstGeom prst="ellipse">
            <a:avLst/>
          </a:prstGeom>
          <a:noFill/>
          <a:ln w="9525">
            <a:solidFill>
              <a:srgbClr val="9AA3A9"/>
            </a:solidFill>
          </a:ln>
        </p:spPr>
        <p:txBody>
          <a:bodyPr wrap="square" lIns="0" tIns="0" rIns="0" bIns="0" anchor="t">
            <a:noAutofit/>
          </a:bodyPr>
          <a:lstStyle/>
          <a:p>
            <a:pPr algn="l"/>
          </a:p>
        </p:txBody>
      </p:sp>
      <p:sp>
        <p:nvSpPr>
          <p:cNvPr id="1156" name="Method"/>
          <p:cNvSpPr txBox="1"/>
          <p:nvPr/>
        </p:nvSpPr>
        <p:spPr>
          <a:xfrm>
            <a:off x="1078992" y="4096511"/>
            <a:ext cx="1828800" cy="274320"/>
          </a:xfrm>
          <a:prstGeom prst="rect">
            <a:avLst/>
          </a:prstGeom>
          <a:noFill/>
          <a:ln>
            <a:noFill/>
          </a:ln>
        </p:spPr>
        <p:txBody>
          <a:bodyPr wrap="square" lIns="0" tIns="0" rIns="0" bIns="0" anchor="ctr">
            <a:noAutofit/>
          </a:bodyPr>
          <a:lstStyle/>
          <a:p>
            <a:pPr algn="l"/>
            <a:r>
              <a:rPr lang="en-US" sz="1600" b="1" i="0" dirty="0">
                <a:solidFill>
                  <a:srgbClr val="1F2328"/>
                </a:solidFill>
                <a:latin typeface="Calibri"/>
                <a:cs typeface="Calibri"/>
              </a:rPr>
              <a:t xml:space="preserve">LLM baseline</a:t>
            </a:r>
          </a:p>
        </p:txBody>
      </p:sp>
      <p:sp>
        <p:nvSpPr>
          <p:cNvPr id="1157" name="No"/>
          <p:cNvSpPr/>
          <p:nvPr/>
        </p:nvSpPr>
        <p:spPr>
          <a:xfrm>
            <a:off x="3163824" y="4096511"/>
            <a:ext cx="274320" cy="274320"/>
          </a:xfrm>
          <a:prstGeom prst="ellipse">
            <a:avLst/>
          </a:prstGeom>
          <a:noFill/>
          <a:ln w="9525">
            <a:solidFill>
              <a:srgbClr val="9AA3A9"/>
            </a:solidFill>
          </a:ln>
        </p:spPr>
        <p:txBody>
          <a:bodyPr wrap="square" lIns="0" tIns="0" rIns="0" bIns="0" anchor="t">
            <a:noAutofit/>
          </a:bodyPr>
          <a:lstStyle/>
          <a:p>
            <a:pPr algn="l"/>
          </a:p>
        </p:txBody>
      </p:sp>
      <p:sp>
        <p:nvSpPr>
          <p:cNvPr id="1158" name="No"/>
          <p:cNvSpPr/>
          <p:nvPr/>
        </p:nvSpPr>
        <p:spPr>
          <a:xfrm>
            <a:off x="4105655" y="4096511"/>
            <a:ext cx="274320" cy="274320"/>
          </a:xfrm>
          <a:prstGeom prst="ellipse">
            <a:avLst/>
          </a:prstGeom>
          <a:noFill/>
          <a:ln w="9525">
            <a:solidFill>
              <a:srgbClr val="9AA3A9"/>
            </a:solidFill>
          </a:ln>
        </p:spPr>
        <p:txBody>
          <a:bodyPr wrap="square" lIns="0" tIns="0" rIns="0" bIns="0" anchor="t">
            <a:noAutofit/>
          </a:bodyPr>
          <a:lstStyle/>
          <a:p>
            <a:pPr algn="l"/>
          </a:p>
        </p:txBody>
      </p:sp>
      <p:sp>
        <p:nvSpPr>
          <p:cNvPr id="1159" name="No"/>
          <p:cNvSpPr/>
          <p:nvPr/>
        </p:nvSpPr>
        <p:spPr>
          <a:xfrm>
            <a:off x="5047488" y="4096511"/>
            <a:ext cx="274320" cy="274320"/>
          </a:xfrm>
          <a:prstGeom prst="ellipse">
            <a:avLst/>
          </a:prstGeom>
          <a:noFill/>
          <a:ln w="9525">
            <a:solidFill>
              <a:srgbClr val="9AA3A9"/>
            </a:solidFill>
          </a:ln>
        </p:spPr>
        <p:txBody>
          <a:bodyPr wrap="square" lIns="0" tIns="0" rIns="0" bIns="0" anchor="t">
            <a:noAutofit/>
          </a:bodyPr>
          <a:lstStyle/>
          <a:p>
            <a:pPr algn="l"/>
          </a:p>
        </p:txBody>
      </p:sp>
      <p:sp>
        <p:nvSpPr>
          <p:cNvPr id="1160" name="Method"/>
          <p:cNvSpPr txBox="1"/>
          <p:nvPr/>
        </p:nvSpPr>
        <p:spPr>
          <a:xfrm>
            <a:off x="1078992" y="4718304"/>
            <a:ext cx="1828800" cy="274320"/>
          </a:xfrm>
          <a:prstGeom prst="rect">
            <a:avLst/>
          </a:prstGeom>
          <a:noFill/>
          <a:ln>
            <a:noFill/>
          </a:ln>
        </p:spPr>
        <p:txBody>
          <a:bodyPr wrap="square" lIns="0" tIns="0" rIns="0" bIns="0" anchor="ctr">
            <a:noAutofit/>
          </a:bodyPr>
          <a:lstStyle/>
          <a:p>
            <a:pPr algn="l"/>
            <a:r>
              <a:rPr lang="en-US" sz="1600" b="1" i="0" dirty="0">
                <a:solidFill>
                  <a:srgbClr val="1F2328"/>
                </a:solidFill>
                <a:latin typeface="Calibri"/>
                <a:cs typeface="Calibri"/>
              </a:rPr>
              <a:t xml:space="preserve">Non-Iterative</a:t>
            </a:r>
          </a:p>
        </p:txBody>
      </p:sp>
      <p:sp>
        <p:nvSpPr>
          <p:cNvPr id="1161" name="Yes"/>
          <p:cNvSpPr/>
          <p:nvPr/>
        </p:nvSpPr>
        <p:spPr>
          <a:xfrm>
            <a:off x="3163824" y="4718304"/>
            <a:ext cx="274320" cy="274320"/>
          </a:xfrm>
          <a:prstGeom prst="ellipse">
            <a:avLst/>
          </a:prstGeom>
          <a:solidFill>
            <a:srgbClr val="0B6E4F"/>
          </a:solidFill>
          <a:ln>
            <a:noFill/>
          </a:ln>
        </p:spPr>
        <p:txBody>
          <a:bodyPr wrap="square" lIns="0" tIns="0" rIns="0" bIns="0" anchor="ctr">
            <a:noAutofit/>
          </a:bodyPr>
          <a:lstStyle/>
          <a:p>
            <a:pPr algn="ctr"/>
            <a:r>
              <a:rPr lang="en-US" sz="1300" b="1" i="0" dirty="0">
                <a:solidFill>
                  <a:srgbClr val="FFFFFF"/>
                </a:solidFill>
                <a:latin typeface="Calibri"/>
                <a:cs typeface="Calibri"/>
              </a:rPr>
              <a:t xml:space="preserve">✓</a:t>
            </a:r>
          </a:p>
        </p:txBody>
      </p:sp>
      <p:sp>
        <p:nvSpPr>
          <p:cNvPr id="1162" name="No"/>
          <p:cNvSpPr/>
          <p:nvPr/>
        </p:nvSpPr>
        <p:spPr>
          <a:xfrm>
            <a:off x="4105655" y="4718304"/>
            <a:ext cx="274320" cy="274320"/>
          </a:xfrm>
          <a:prstGeom prst="ellipse">
            <a:avLst/>
          </a:prstGeom>
          <a:noFill/>
          <a:ln w="9525">
            <a:solidFill>
              <a:srgbClr val="9AA3A9"/>
            </a:solidFill>
          </a:ln>
        </p:spPr>
        <p:txBody>
          <a:bodyPr wrap="square" lIns="0" tIns="0" rIns="0" bIns="0" anchor="t">
            <a:noAutofit/>
          </a:bodyPr>
          <a:lstStyle/>
          <a:p>
            <a:pPr algn="l"/>
          </a:p>
        </p:txBody>
      </p:sp>
      <p:sp>
        <p:nvSpPr>
          <p:cNvPr id="1163" name="No"/>
          <p:cNvSpPr/>
          <p:nvPr/>
        </p:nvSpPr>
        <p:spPr>
          <a:xfrm>
            <a:off x="5047488" y="4718304"/>
            <a:ext cx="274320" cy="274320"/>
          </a:xfrm>
          <a:prstGeom prst="ellipse">
            <a:avLst/>
          </a:prstGeom>
          <a:noFill/>
          <a:ln w="9525">
            <a:solidFill>
              <a:srgbClr val="9AA3A9"/>
            </a:solidFill>
          </a:ln>
        </p:spPr>
        <p:txBody>
          <a:bodyPr wrap="square" lIns="0" tIns="0" rIns="0" bIns="0" anchor="t">
            <a:noAutofit/>
          </a:bodyPr>
          <a:lstStyle/>
          <a:p>
            <a:pPr algn="l"/>
          </a:p>
        </p:txBody>
      </p:sp>
      <p:sp>
        <p:nvSpPr>
          <p:cNvPr id="1164" name="RIGOR band"/>
          <p:cNvSpPr/>
          <p:nvPr/>
        </p:nvSpPr>
        <p:spPr>
          <a:xfrm>
            <a:off x="941832" y="5212080"/>
            <a:ext cx="4709160" cy="530352"/>
          </a:xfrm>
          <a:prstGeom prst="roundRect">
            <a:avLst>
              <a:gd name="adj" fmla="val 12000"/>
            </a:avLst>
          </a:prstGeom>
          <a:solidFill>
            <a:srgbClr val="E8F6EF"/>
          </a:solidFill>
          <a:ln>
            <a:noFill/>
          </a:ln>
        </p:spPr>
        <p:txBody>
          <a:bodyPr wrap="square" lIns="0" tIns="0" rIns="0" bIns="0" anchor="t">
            <a:noAutofit/>
          </a:bodyPr>
          <a:lstStyle/>
          <a:p>
            <a:pPr algn="l"/>
          </a:p>
        </p:txBody>
      </p:sp>
      <p:sp>
        <p:nvSpPr>
          <p:cNvPr id="1165" name="Method"/>
          <p:cNvSpPr txBox="1"/>
          <p:nvPr/>
        </p:nvSpPr>
        <p:spPr>
          <a:xfrm>
            <a:off x="1078992" y="5340096"/>
            <a:ext cx="1828800" cy="274320"/>
          </a:xfrm>
          <a:prstGeom prst="rect">
            <a:avLst/>
          </a:prstGeom>
          <a:noFill/>
          <a:ln>
            <a:noFill/>
          </a:ln>
        </p:spPr>
        <p:txBody>
          <a:bodyPr wrap="square" lIns="0" tIns="0" rIns="0" bIns="0" anchor="ctr">
            <a:noAutofit/>
          </a:bodyPr>
          <a:lstStyle/>
          <a:p>
            <a:pPr algn="l"/>
            <a:r>
              <a:rPr lang="en-US" sz="1600" b="1" i="0" dirty="0">
                <a:solidFill>
                  <a:srgbClr val="0B6E4F"/>
                </a:solidFill>
                <a:latin typeface="Calibri"/>
                <a:cs typeface="Calibri"/>
              </a:rPr>
              <a:t xml:space="preserve">RIGOR</a:t>
            </a:r>
          </a:p>
        </p:txBody>
      </p:sp>
      <p:sp>
        <p:nvSpPr>
          <p:cNvPr id="1166" name="Yes"/>
          <p:cNvSpPr/>
          <p:nvPr/>
        </p:nvSpPr>
        <p:spPr>
          <a:xfrm>
            <a:off x="3163824" y="5340096"/>
            <a:ext cx="274320" cy="274320"/>
          </a:xfrm>
          <a:prstGeom prst="ellipse">
            <a:avLst/>
          </a:prstGeom>
          <a:solidFill>
            <a:srgbClr val="0B6E4F"/>
          </a:solidFill>
          <a:ln>
            <a:noFill/>
          </a:ln>
        </p:spPr>
        <p:txBody>
          <a:bodyPr wrap="square" lIns="0" tIns="0" rIns="0" bIns="0" anchor="ctr">
            <a:noAutofit/>
          </a:bodyPr>
          <a:lstStyle/>
          <a:p>
            <a:pPr algn="ctr"/>
            <a:r>
              <a:rPr lang="en-US" sz="1300" b="1" i="0" dirty="0">
                <a:solidFill>
                  <a:srgbClr val="FFFFFF"/>
                </a:solidFill>
                <a:latin typeface="Calibri"/>
                <a:cs typeface="Calibri"/>
              </a:rPr>
              <a:t xml:space="preserve">✓</a:t>
            </a:r>
          </a:p>
        </p:txBody>
      </p:sp>
      <p:sp>
        <p:nvSpPr>
          <p:cNvPr id="1167" name="Yes"/>
          <p:cNvSpPr/>
          <p:nvPr/>
        </p:nvSpPr>
        <p:spPr>
          <a:xfrm>
            <a:off x="4105655" y="5340096"/>
            <a:ext cx="274320" cy="274320"/>
          </a:xfrm>
          <a:prstGeom prst="ellipse">
            <a:avLst/>
          </a:prstGeom>
          <a:solidFill>
            <a:srgbClr val="0B6E4F"/>
          </a:solidFill>
          <a:ln>
            <a:noFill/>
          </a:ln>
        </p:spPr>
        <p:txBody>
          <a:bodyPr wrap="square" lIns="0" tIns="0" rIns="0" bIns="0" anchor="ctr">
            <a:noAutofit/>
          </a:bodyPr>
          <a:lstStyle/>
          <a:p>
            <a:pPr algn="ctr"/>
            <a:r>
              <a:rPr lang="en-US" sz="1300" b="1" i="0" dirty="0">
                <a:solidFill>
                  <a:srgbClr val="FFFFFF"/>
                </a:solidFill>
                <a:latin typeface="Calibri"/>
                <a:cs typeface="Calibri"/>
              </a:rPr>
              <a:t xml:space="preserve">✓</a:t>
            </a:r>
          </a:p>
        </p:txBody>
      </p:sp>
      <p:sp>
        <p:nvSpPr>
          <p:cNvPr id="1168" name="Yes"/>
          <p:cNvSpPr/>
          <p:nvPr/>
        </p:nvSpPr>
        <p:spPr>
          <a:xfrm>
            <a:off x="5047488" y="5340096"/>
            <a:ext cx="274320" cy="274320"/>
          </a:xfrm>
          <a:prstGeom prst="ellipse">
            <a:avLst/>
          </a:prstGeom>
          <a:solidFill>
            <a:srgbClr val="0B6E4F"/>
          </a:solidFill>
          <a:ln>
            <a:noFill/>
          </a:ln>
        </p:spPr>
        <p:txBody>
          <a:bodyPr wrap="square" lIns="0" tIns="0" rIns="0" bIns="0" anchor="ctr">
            <a:noAutofit/>
          </a:bodyPr>
          <a:lstStyle/>
          <a:p>
            <a:pPr algn="ctr"/>
            <a:r>
              <a:rPr lang="en-US" sz="1300" b="1" i="0" dirty="0">
                <a:solidFill>
                  <a:srgbClr val="FFFFFF"/>
                </a:solidFill>
                <a:latin typeface="Calibri"/>
                <a:cs typeface="Calibri"/>
              </a:rPr>
              <a:t xml:space="preserve">✓</a:t>
            </a:r>
          </a:p>
        </p:txBody>
      </p:sp>
      <p:sp>
        <p:nvSpPr>
          <p:cNvPr id="1169" name="Card"/>
          <p:cNvSpPr/>
          <p:nvPr/>
        </p:nvSpPr>
        <p:spPr>
          <a:xfrm>
            <a:off x="5989320" y="2194560"/>
            <a:ext cx="5394960" cy="3886200"/>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170" name="Card label"/>
          <p:cNvSpPr txBox="1"/>
          <p:nvPr/>
        </p:nvSpPr>
        <p:spPr>
          <a:xfrm>
            <a:off x="6263640" y="2395728"/>
            <a:ext cx="4846320"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MODELING ERRORS FOUND BY OOPS!</a:t>
            </a:r>
          </a:p>
        </p:txBody>
      </p:sp>
      <p:sp>
        <p:nvSpPr>
          <p:cNvPr id="1171" name="Note"/>
          <p:cNvSpPr txBox="1"/>
          <p:nvPr/>
        </p:nvSpPr>
        <p:spPr>
          <a:xfrm>
            <a:off x="6263640" y="2670048"/>
            <a:ext cx="2743200" cy="237744"/>
          </a:xfrm>
          <a:prstGeom prst="rect">
            <a:avLst/>
          </a:prstGeom>
          <a:noFill/>
          <a:ln>
            <a:noFill/>
          </a:ln>
        </p:spPr>
        <p:txBody>
          <a:bodyPr wrap="square" lIns="0" tIns="0" rIns="0" bIns="0" anchor="t">
            <a:noAutofit/>
          </a:bodyPr>
          <a:lstStyle/>
          <a:p>
            <a:pPr algn="l"/>
            <a:r>
              <a:rPr lang="en-US" sz="1150" b="0" i="1" dirty="0">
                <a:solidFill>
                  <a:srgbClr val="5B6770"/>
                </a:solidFill>
                <a:latin typeface="Calibri"/>
                <a:cs typeface="Calibri"/>
              </a:rPr>
              <a:t xml:space="preserve">fewer is better</a:t>
            </a:r>
          </a:p>
        </p:txBody>
      </p:sp>
      <p:sp>
        <p:nvSpPr>
          <p:cNvPr id="1172" name="Legend key"/>
          <p:cNvSpPr/>
          <p:nvPr/>
        </p:nvSpPr>
        <p:spPr>
          <a:xfrm>
            <a:off x="6263640" y="3044952"/>
            <a:ext cx="146304" cy="146304"/>
          </a:xfrm>
          <a:prstGeom prst="rect">
            <a:avLst/>
          </a:prstGeom>
          <a:solidFill>
            <a:srgbClr val="C5CCD0"/>
          </a:solidFill>
          <a:ln>
            <a:noFill/>
          </a:ln>
        </p:spPr>
        <p:txBody>
          <a:bodyPr wrap="square" lIns="0" tIns="0" rIns="0" bIns="0" anchor="t">
            <a:noAutofit/>
          </a:bodyPr>
          <a:lstStyle/>
          <a:p>
            <a:pPr algn="l"/>
          </a:p>
        </p:txBody>
      </p:sp>
      <p:sp>
        <p:nvSpPr>
          <p:cNvPr id="1173" name="Legend"/>
          <p:cNvSpPr txBox="1"/>
          <p:nvPr/>
        </p:nvSpPr>
        <p:spPr>
          <a:xfrm>
            <a:off x="6464807" y="2980944"/>
            <a:ext cx="1051560" cy="256032"/>
          </a:xfrm>
          <a:prstGeom prst="rect">
            <a:avLst/>
          </a:prstGeom>
          <a:noFill/>
          <a:ln>
            <a:noFill/>
          </a:ln>
        </p:spPr>
        <p:txBody>
          <a:bodyPr wrap="square" lIns="0" tIns="0" rIns="0" bIns="0" anchor="t">
            <a:noAutofit/>
          </a:bodyPr>
          <a:lstStyle/>
          <a:p>
            <a:pPr algn="l"/>
            <a:r>
              <a:rPr lang="en-US" sz="1100" b="0" i="0" dirty="0">
                <a:solidFill>
                  <a:srgbClr val="3A434C"/>
                </a:solidFill>
                <a:latin typeface="Calibri"/>
                <a:cs typeface="Calibri"/>
              </a:rPr>
              <a:t xml:space="preserve">Direct Mapping</a:t>
            </a:r>
          </a:p>
        </p:txBody>
      </p:sp>
      <p:sp>
        <p:nvSpPr>
          <p:cNvPr id="1174" name="Legend key"/>
          <p:cNvSpPr/>
          <p:nvPr/>
        </p:nvSpPr>
        <p:spPr>
          <a:xfrm>
            <a:off x="7507223" y="3044952"/>
            <a:ext cx="146304" cy="146304"/>
          </a:xfrm>
          <a:prstGeom prst="rect">
            <a:avLst/>
          </a:prstGeom>
          <a:solidFill>
            <a:srgbClr val="9AA3A9"/>
          </a:solidFill>
          <a:ln>
            <a:noFill/>
          </a:ln>
        </p:spPr>
        <p:txBody>
          <a:bodyPr wrap="square" lIns="0" tIns="0" rIns="0" bIns="0" anchor="t">
            <a:noAutofit/>
          </a:bodyPr>
          <a:lstStyle/>
          <a:p>
            <a:pPr algn="l"/>
          </a:p>
        </p:txBody>
      </p:sp>
      <p:sp>
        <p:nvSpPr>
          <p:cNvPr id="1175" name="Legend"/>
          <p:cNvSpPr txBox="1"/>
          <p:nvPr/>
        </p:nvSpPr>
        <p:spPr>
          <a:xfrm>
            <a:off x="7708392" y="2980944"/>
            <a:ext cx="1051560" cy="256032"/>
          </a:xfrm>
          <a:prstGeom prst="rect">
            <a:avLst/>
          </a:prstGeom>
          <a:noFill/>
          <a:ln>
            <a:noFill/>
          </a:ln>
        </p:spPr>
        <p:txBody>
          <a:bodyPr wrap="square" lIns="0" tIns="0" rIns="0" bIns="0" anchor="t">
            <a:noAutofit/>
          </a:bodyPr>
          <a:lstStyle/>
          <a:p>
            <a:pPr algn="l"/>
            <a:r>
              <a:rPr lang="en-US" sz="1100" b="0" i="0" dirty="0">
                <a:solidFill>
                  <a:srgbClr val="3A434C"/>
                </a:solidFill>
                <a:latin typeface="Calibri"/>
                <a:cs typeface="Calibri"/>
              </a:rPr>
              <a:t xml:space="preserve">LLM baseline</a:t>
            </a:r>
          </a:p>
        </p:txBody>
      </p:sp>
      <p:sp>
        <p:nvSpPr>
          <p:cNvPr id="1176" name="Legend key"/>
          <p:cNvSpPr/>
          <p:nvPr/>
        </p:nvSpPr>
        <p:spPr>
          <a:xfrm>
            <a:off x="8750808" y="3044952"/>
            <a:ext cx="146304" cy="146304"/>
          </a:xfrm>
          <a:prstGeom prst="rect">
            <a:avLst/>
          </a:prstGeom>
          <a:solidFill>
            <a:srgbClr val="6B747B"/>
          </a:solidFill>
          <a:ln>
            <a:noFill/>
          </a:ln>
        </p:spPr>
        <p:txBody>
          <a:bodyPr wrap="square" lIns="0" tIns="0" rIns="0" bIns="0" anchor="t">
            <a:noAutofit/>
          </a:bodyPr>
          <a:lstStyle/>
          <a:p>
            <a:pPr algn="l"/>
          </a:p>
        </p:txBody>
      </p:sp>
      <p:sp>
        <p:nvSpPr>
          <p:cNvPr id="1177" name="Legend"/>
          <p:cNvSpPr txBox="1"/>
          <p:nvPr/>
        </p:nvSpPr>
        <p:spPr>
          <a:xfrm>
            <a:off x="8951976" y="2980944"/>
            <a:ext cx="1051560" cy="256032"/>
          </a:xfrm>
          <a:prstGeom prst="rect">
            <a:avLst/>
          </a:prstGeom>
          <a:noFill/>
          <a:ln>
            <a:noFill/>
          </a:ln>
        </p:spPr>
        <p:txBody>
          <a:bodyPr wrap="square" lIns="0" tIns="0" rIns="0" bIns="0" anchor="t">
            <a:noAutofit/>
          </a:bodyPr>
          <a:lstStyle/>
          <a:p>
            <a:pPr algn="l"/>
            <a:r>
              <a:rPr lang="en-US" sz="1100" b="0" i="0" dirty="0">
                <a:solidFill>
                  <a:srgbClr val="3A434C"/>
                </a:solidFill>
                <a:latin typeface="Calibri"/>
                <a:cs typeface="Calibri"/>
              </a:rPr>
              <a:t xml:space="preserve">Non-Iterative</a:t>
            </a:r>
          </a:p>
        </p:txBody>
      </p:sp>
      <p:sp>
        <p:nvSpPr>
          <p:cNvPr id="1178" name="Legend key"/>
          <p:cNvSpPr/>
          <p:nvPr/>
        </p:nvSpPr>
        <p:spPr>
          <a:xfrm>
            <a:off x="9994392" y="3044952"/>
            <a:ext cx="146304" cy="146304"/>
          </a:xfrm>
          <a:prstGeom prst="rect">
            <a:avLst/>
          </a:prstGeom>
          <a:solidFill>
            <a:srgbClr val="0B6E4F"/>
          </a:solidFill>
          <a:ln>
            <a:noFill/>
          </a:ln>
        </p:spPr>
        <p:txBody>
          <a:bodyPr wrap="square" lIns="0" tIns="0" rIns="0" bIns="0" anchor="t">
            <a:noAutofit/>
          </a:bodyPr>
          <a:lstStyle/>
          <a:p>
            <a:pPr algn="l"/>
          </a:p>
        </p:txBody>
      </p:sp>
      <p:sp>
        <p:nvSpPr>
          <p:cNvPr id="1179" name="Legend"/>
          <p:cNvSpPr txBox="1"/>
          <p:nvPr/>
        </p:nvSpPr>
        <p:spPr>
          <a:xfrm>
            <a:off x="10195560" y="2980944"/>
            <a:ext cx="1051560" cy="256032"/>
          </a:xfrm>
          <a:prstGeom prst="rect">
            <a:avLst/>
          </a:prstGeom>
          <a:noFill/>
          <a:ln>
            <a:noFill/>
          </a:ln>
        </p:spPr>
        <p:txBody>
          <a:bodyPr wrap="square" lIns="0" tIns="0" rIns="0" bIns="0" anchor="t">
            <a:noAutofit/>
          </a:bodyPr>
          <a:lstStyle/>
          <a:p>
            <a:pPr algn="l"/>
            <a:r>
              <a:rPr lang="en-US" sz="1100" b="1" i="0" dirty="0">
                <a:solidFill>
                  <a:srgbClr val="0B6E4F"/>
                </a:solidFill>
                <a:latin typeface="Calibri"/>
                <a:cs typeface="Calibri"/>
              </a:rPr>
              <a:t xml:space="preserve">RIGOR</a:t>
            </a:r>
          </a:p>
        </p:txBody>
      </p:sp>
      <p:sp>
        <p:nvSpPr>
          <p:cNvPr id="1180" name="Baseline"/>
          <p:cNvSpPr/>
          <p:nvPr/>
        </p:nvSpPr>
        <p:spPr>
          <a:xfrm>
            <a:off x="6245352" y="5513832"/>
            <a:ext cx="4846320" cy="10972"/>
          </a:xfrm>
          <a:prstGeom prst="rect">
            <a:avLst/>
          </a:prstGeom>
          <a:solidFill>
            <a:srgbClr val="9AA3A9"/>
          </a:solidFill>
          <a:ln>
            <a:noFill/>
          </a:ln>
        </p:spPr>
        <p:txBody>
          <a:bodyPr wrap="square" lIns="0" tIns="0" rIns="0" bIns="0" anchor="t">
            <a:noAutofit/>
          </a:bodyPr>
          <a:lstStyle/>
          <a:p>
            <a:pPr algn="l"/>
          </a:p>
        </p:txBody>
      </p:sp>
      <p:sp>
        <p:nvSpPr>
          <p:cNvPr id="1181" name="Bar"/>
          <p:cNvSpPr/>
          <p:nvPr/>
        </p:nvSpPr>
        <p:spPr>
          <a:xfrm>
            <a:off x="6387084" y="3611880"/>
            <a:ext cx="274320" cy="1901952"/>
          </a:xfrm>
          <a:prstGeom prst="rect">
            <a:avLst/>
          </a:prstGeom>
          <a:solidFill>
            <a:srgbClr val="C5CCD0"/>
          </a:solidFill>
          <a:ln>
            <a:noFill/>
          </a:ln>
        </p:spPr>
        <p:txBody>
          <a:bodyPr wrap="square" lIns="0" tIns="0" rIns="0" bIns="0" anchor="t">
            <a:noAutofit/>
          </a:bodyPr>
          <a:lstStyle/>
          <a:p>
            <a:pPr algn="l"/>
          </a:p>
        </p:txBody>
      </p:sp>
      <p:sp>
        <p:nvSpPr>
          <p:cNvPr id="1182" name="Value"/>
          <p:cNvSpPr txBox="1"/>
          <p:nvPr/>
        </p:nvSpPr>
        <p:spPr>
          <a:xfrm>
            <a:off x="6249924" y="3364992"/>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731</a:t>
            </a:r>
          </a:p>
        </p:txBody>
      </p:sp>
      <p:sp>
        <p:nvSpPr>
          <p:cNvPr id="1183" name="Bar"/>
          <p:cNvSpPr/>
          <p:nvPr/>
        </p:nvSpPr>
        <p:spPr>
          <a:xfrm>
            <a:off x="6734556" y="4415851"/>
            <a:ext cx="274320" cy="1097980"/>
          </a:xfrm>
          <a:prstGeom prst="rect">
            <a:avLst/>
          </a:prstGeom>
          <a:solidFill>
            <a:srgbClr val="9AA3A9"/>
          </a:solidFill>
          <a:ln>
            <a:noFill/>
          </a:ln>
        </p:spPr>
        <p:txBody>
          <a:bodyPr wrap="square" lIns="0" tIns="0" rIns="0" bIns="0" anchor="t">
            <a:noAutofit/>
          </a:bodyPr>
          <a:lstStyle/>
          <a:p>
            <a:pPr algn="l"/>
          </a:p>
        </p:txBody>
      </p:sp>
      <p:sp>
        <p:nvSpPr>
          <p:cNvPr id="1184" name="Value"/>
          <p:cNvSpPr txBox="1"/>
          <p:nvPr/>
        </p:nvSpPr>
        <p:spPr>
          <a:xfrm>
            <a:off x="6597396" y="4168963"/>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422</a:t>
            </a:r>
          </a:p>
        </p:txBody>
      </p:sp>
      <p:sp>
        <p:nvSpPr>
          <p:cNvPr id="1185" name="Bar"/>
          <p:cNvSpPr/>
          <p:nvPr/>
        </p:nvSpPr>
        <p:spPr>
          <a:xfrm>
            <a:off x="7082028" y="5438378"/>
            <a:ext cx="274320" cy="75453"/>
          </a:xfrm>
          <a:prstGeom prst="rect">
            <a:avLst/>
          </a:prstGeom>
          <a:solidFill>
            <a:srgbClr val="6B747B"/>
          </a:solidFill>
          <a:ln>
            <a:noFill/>
          </a:ln>
        </p:spPr>
        <p:txBody>
          <a:bodyPr wrap="square" lIns="0" tIns="0" rIns="0" bIns="0" anchor="t">
            <a:noAutofit/>
          </a:bodyPr>
          <a:lstStyle/>
          <a:p>
            <a:pPr algn="l"/>
          </a:p>
        </p:txBody>
      </p:sp>
      <p:sp>
        <p:nvSpPr>
          <p:cNvPr id="1186" name="Value"/>
          <p:cNvSpPr txBox="1"/>
          <p:nvPr/>
        </p:nvSpPr>
        <p:spPr>
          <a:xfrm>
            <a:off x="6944868" y="5191490"/>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29</a:t>
            </a:r>
          </a:p>
        </p:txBody>
      </p:sp>
      <p:sp>
        <p:nvSpPr>
          <p:cNvPr id="1187" name="Bar"/>
          <p:cNvSpPr/>
          <p:nvPr/>
        </p:nvSpPr>
        <p:spPr>
          <a:xfrm>
            <a:off x="7429500" y="5461795"/>
            <a:ext cx="274320" cy="52036"/>
          </a:xfrm>
          <a:prstGeom prst="rect">
            <a:avLst/>
          </a:prstGeom>
          <a:solidFill>
            <a:srgbClr val="0B6E4F"/>
          </a:solidFill>
          <a:ln>
            <a:noFill/>
          </a:ln>
        </p:spPr>
        <p:txBody>
          <a:bodyPr wrap="square" lIns="0" tIns="0" rIns="0" bIns="0" anchor="t">
            <a:noAutofit/>
          </a:bodyPr>
          <a:lstStyle/>
          <a:p>
            <a:pPr algn="l"/>
          </a:p>
        </p:txBody>
      </p:sp>
      <p:sp>
        <p:nvSpPr>
          <p:cNvPr id="1188" name="Value"/>
          <p:cNvSpPr txBox="1"/>
          <p:nvPr/>
        </p:nvSpPr>
        <p:spPr>
          <a:xfrm>
            <a:off x="7292340" y="5214907"/>
            <a:ext cx="548640" cy="219456"/>
          </a:xfrm>
          <a:prstGeom prst="rect">
            <a:avLst/>
          </a:prstGeom>
          <a:noFill/>
          <a:ln>
            <a:noFill/>
          </a:ln>
        </p:spPr>
        <p:txBody>
          <a:bodyPr wrap="square" lIns="0" tIns="0" rIns="0" bIns="0" anchor="t">
            <a:noAutofit/>
          </a:bodyPr>
          <a:lstStyle/>
          <a:p>
            <a:pPr algn="ctr"/>
            <a:r>
              <a:rPr lang="en-US" sz="1300" b="1" i="0" dirty="0">
                <a:solidFill>
                  <a:srgbClr val="0B6E4F"/>
                </a:solidFill>
                <a:latin typeface="Calibri"/>
                <a:cs typeface="Calibri"/>
              </a:rPr>
              <a:t xml:space="preserve">20</a:t>
            </a:r>
          </a:p>
        </p:txBody>
      </p:sp>
      <p:sp>
        <p:nvSpPr>
          <p:cNvPr id="1189" name="Database"/>
          <p:cNvSpPr txBox="1"/>
          <p:nvPr/>
        </p:nvSpPr>
        <p:spPr>
          <a:xfrm>
            <a:off x="6245352" y="5605272"/>
            <a:ext cx="1600200" cy="256032"/>
          </a:xfrm>
          <a:prstGeom prst="rect">
            <a:avLst/>
          </a:prstGeom>
          <a:noFill/>
          <a:ln>
            <a:noFill/>
          </a:ln>
        </p:spPr>
        <p:txBody>
          <a:bodyPr wrap="square" lIns="0" tIns="0" rIns="0" bIns="0" anchor="t">
            <a:noAutofit/>
          </a:bodyPr>
          <a:lstStyle/>
          <a:p>
            <a:pPr algn="ctr"/>
            <a:r>
              <a:rPr lang="en-US" sz="1200" b="1" i="0" dirty="0">
                <a:solidFill>
                  <a:srgbClr val="1F2328"/>
                </a:solidFill>
                <a:latin typeface="Calibri"/>
                <a:cs typeface="Calibri"/>
              </a:rPr>
              <a:t xml:space="preserve">Liver Cancer</a:t>
            </a:r>
          </a:p>
        </p:txBody>
      </p:sp>
      <p:sp>
        <p:nvSpPr>
          <p:cNvPr id="1190" name="Bar"/>
          <p:cNvSpPr/>
          <p:nvPr/>
        </p:nvSpPr>
        <p:spPr>
          <a:xfrm>
            <a:off x="7987283" y="3783602"/>
            <a:ext cx="274320" cy="1730229"/>
          </a:xfrm>
          <a:prstGeom prst="rect">
            <a:avLst/>
          </a:prstGeom>
          <a:solidFill>
            <a:srgbClr val="C5CCD0"/>
          </a:solidFill>
          <a:ln>
            <a:noFill/>
          </a:ln>
        </p:spPr>
        <p:txBody>
          <a:bodyPr wrap="square" lIns="0" tIns="0" rIns="0" bIns="0" anchor="t">
            <a:noAutofit/>
          </a:bodyPr>
          <a:lstStyle/>
          <a:p>
            <a:pPr algn="l"/>
          </a:p>
        </p:txBody>
      </p:sp>
      <p:sp>
        <p:nvSpPr>
          <p:cNvPr id="1191" name="Value"/>
          <p:cNvSpPr txBox="1"/>
          <p:nvPr/>
        </p:nvSpPr>
        <p:spPr>
          <a:xfrm>
            <a:off x="7850123" y="3536714"/>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665</a:t>
            </a:r>
          </a:p>
        </p:txBody>
      </p:sp>
      <p:sp>
        <p:nvSpPr>
          <p:cNvPr id="1192" name="Bar"/>
          <p:cNvSpPr/>
          <p:nvPr/>
        </p:nvSpPr>
        <p:spPr>
          <a:xfrm>
            <a:off x="8334755" y="4384629"/>
            <a:ext cx="274320" cy="1129202"/>
          </a:xfrm>
          <a:prstGeom prst="rect">
            <a:avLst/>
          </a:prstGeom>
          <a:solidFill>
            <a:srgbClr val="9AA3A9"/>
          </a:solidFill>
          <a:ln>
            <a:noFill/>
          </a:ln>
        </p:spPr>
        <p:txBody>
          <a:bodyPr wrap="square" lIns="0" tIns="0" rIns="0" bIns="0" anchor="t">
            <a:noAutofit/>
          </a:bodyPr>
          <a:lstStyle/>
          <a:p>
            <a:pPr algn="l"/>
          </a:p>
        </p:txBody>
      </p:sp>
      <p:sp>
        <p:nvSpPr>
          <p:cNvPr id="1193" name="Value"/>
          <p:cNvSpPr txBox="1"/>
          <p:nvPr/>
        </p:nvSpPr>
        <p:spPr>
          <a:xfrm>
            <a:off x="8197595" y="4137741"/>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434</a:t>
            </a:r>
          </a:p>
        </p:txBody>
      </p:sp>
      <p:sp>
        <p:nvSpPr>
          <p:cNvPr id="1194" name="Bar"/>
          <p:cNvSpPr/>
          <p:nvPr/>
        </p:nvSpPr>
        <p:spPr>
          <a:xfrm>
            <a:off x="8682227" y="5412359"/>
            <a:ext cx="274320" cy="101472"/>
          </a:xfrm>
          <a:prstGeom prst="rect">
            <a:avLst/>
          </a:prstGeom>
          <a:solidFill>
            <a:srgbClr val="6B747B"/>
          </a:solidFill>
          <a:ln>
            <a:noFill/>
          </a:ln>
        </p:spPr>
        <p:txBody>
          <a:bodyPr wrap="square" lIns="0" tIns="0" rIns="0" bIns="0" anchor="t">
            <a:noAutofit/>
          </a:bodyPr>
          <a:lstStyle/>
          <a:p>
            <a:pPr algn="l"/>
          </a:p>
        </p:txBody>
      </p:sp>
      <p:sp>
        <p:nvSpPr>
          <p:cNvPr id="1195" name="Value"/>
          <p:cNvSpPr txBox="1"/>
          <p:nvPr/>
        </p:nvSpPr>
        <p:spPr>
          <a:xfrm>
            <a:off x="8545067" y="5165471"/>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39</a:t>
            </a:r>
          </a:p>
        </p:txBody>
      </p:sp>
      <p:sp>
        <p:nvSpPr>
          <p:cNvPr id="1196" name="Bar"/>
          <p:cNvSpPr/>
          <p:nvPr/>
        </p:nvSpPr>
        <p:spPr>
          <a:xfrm>
            <a:off x="9029699" y="5508628"/>
            <a:ext cx="274320" cy="5203"/>
          </a:xfrm>
          <a:prstGeom prst="rect">
            <a:avLst/>
          </a:prstGeom>
          <a:solidFill>
            <a:srgbClr val="0B6E4F"/>
          </a:solidFill>
          <a:ln>
            <a:noFill/>
          </a:ln>
        </p:spPr>
        <p:txBody>
          <a:bodyPr wrap="square" lIns="0" tIns="0" rIns="0" bIns="0" anchor="t">
            <a:noAutofit/>
          </a:bodyPr>
          <a:lstStyle/>
          <a:p>
            <a:pPr algn="l"/>
          </a:p>
        </p:txBody>
      </p:sp>
      <p:sp>
        <p:nvSpPr>
          <p:cNvPr id="1197" name="Value"/>
          <p:cNvSpPr txBox="1"/>
          <p:nvPr/>
        </p:nvSpPr>
        <p:spPr>
          <a:xfrm>
            <a:off x="8892539" y="5261740"/>
            <a:ext cx="548640" cy="219456"/>
          </a:xfrm>
          <a:prstGeom prst="rect">
            <a:avLst/>
          </a:prstGeom>
          <a:noFill/>
          <a:ln>
            <a:noFill/>
          </a:ln>
        </p:spPr>
        <p:txBody>
          <a:bodyPr wrap="square" lIns="0" tIns="0" rIns="0" bIns="0" anchor="t">
            <a:noAutofit/>
          </a:bodyPr>
          <a:lstStyle/>
          <a:p>
            <a:pPr algn="ctr"/>
            <a:r>
              <a:rPr lang="en-US" sz="1300" b="1" i="0" dirty="0">
                <a:solidFill>
                  <a:srgbClr val="0B6E4F"/>
                </a:solidFill>
                <a:latin typeface="Calibri"/>
                <a:cs typeface="Calibri"/>
              </a:rPr>
              <a:t xml:space="preserve">2</a:t>
            </a:r>
          </a:p>
        </p:txBody>
      </p:sp>
      <p:sp>
        <p:nvSpPr>
          <p:cNvPr id="1198" name="Database"/>
          <p:cNvSpPr txBox="1"/>
          <p:nvPr/>
        </p:nvSpPr>
        <p:spPr>
          <a:xfrm>
            <a:off x="7845551" y="5605272"/>
            <a:ext cx="1600200" cy="256032"/>
          </a:xfrm>
          <a:prstGeom prst="rect">
            <a:avLst/>
          </a:prstGeom>
          <a:noFill/>
          <a:ln>
            <a:noFill/>
          </a:ln>
        </p:spPr>
        <p:txBody>
          <a:bodyPr wrap="square" lIns="0" tIns="0" rIns="0" bIns="0" anchor="t">
            <a:noAutofit/>
          </a:bodyPr>
          <a:lstStyle/>
          <a:p>
            <a:pPr algn="ctr"/>
            <a:r>
              <a:rPr lang="en-US" sz="1200" b="1" i="0" dirty="0">
                <a:solidFill>
                  <a:srgbClr val="1F2328"/>
                </a:solidFill>
                <a:latin typeface="Calibri"/>
                <a:cs typeface="Calibri"/>
              </a:rPr>
              <a:t xml:space="preserve">eICU-CRD</a:t>
            </a:r>
          </a:p>
        </p:txBody>
      </p:sp>
      <p:sp>
        <p:nvSpPr>
          <p:cNvPr id="1199" name="Bar"/>
          <p:cNvSpPr/>
          <p:nvPr/>
        </p:nvSpPr>
        <p:spPr>
          <a:xfrm>
            <a:off x="9587483" y="5248443"/>
            <a:ext cx="274320" cy="265388"/>
          </a:xfrm>
          <a:prstGeom prst="rect">
            <a:avLst/>
          </a:prstGeom>
          <a:solidFill>
            <a:srgbClr val="C5CCD0"/>
          </a:solidFill>
          <a:ln>
            <a:noFill/>
          </a:ln>
        </p:spPr>
        <p:txBody>
          <a:bodyPr wrap="square" lIns="0" tIns="0" rIns="0" bIns="0" anchor="t">
            <a:noAutofit/>
          </a:bodyPr>
          <a:lstStyle/>
          <a:p>
            <a:pPr algn="l"/>
          </a:p>
        </p:txBody>
      </p:sp>
      <p:sp>
        <p:nvSpPr>
          <p:cNvPr id="1200" name="Value"/>
          <p:cNvSpPr txBox="1"/>
          <p:nvPr/>
        </p:nvSpPr>
        <p:spPr>
          <a:xfrm>
            <a:off x="9450323" y="5001555"/>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102</a:t>
            </a:r>
          </a:p>
        </p:txBody>
      </p:sp>
      <p:sp>
        <p:nvSpPr>
          <p:cNvPr id="1201" name="Bar"/>
          <p:cNvSpPr/>
          <p:nvPr/>
        </p:nvSpPr>
        <p:spPr>
          <a:xfrm>
            <a:off x="9934955" y="5266656"/>
            <a:ext cx="274320" cy="247175"/>
          </a:xfrm>
          <a:prstGeom prst="rect">
            <a:avLst/>
          </a:prstGeom>
          <a:solidFill>
            <a:srgbClr val="9AA3A9"/>
          </a:solidFill>
          <a:ln>
            <a:noFill/>
          </a:ln>
        </p:spPr>
        <p:txBody>
          <a:bodyPr wrap="square" lIns="0" tIns="0" rIns="0" bIns="0" anchor="t">
            <a:noAutofit/>
          </a:bodyPr>
          <a:lstStyle/>
          <a:p>
            <a:pPr algn="l"/>
          </a:p>
        </p:txBody>
      </p:sp>
      <p:sp>
        <p:nvSpPr>
          <p:cNvPr id="1202" name="Value"/>
          <p:cNvSpPr txBox="1"/>
          <p:nvPr/>
        </p:nvSpPr>
        <p:spPr>
          <a:xfrm>
            <a:off x="9797795" y="5019768"/>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95</a:t>
            </a:r>
          </a:p>
        </p:txBody>
      </p:sp>
      <p:sp>
        <p:nvSpPr>
          <p:cNvPr id="1203" name="Bar"/>
          <p:cNvSpPr/>
          <p:nvPr/>
        </p:nvSpPr>
        <p:spPr>
          <a:xfrm>
            <a:off x="10282427" y="5451387"/>
            <a:ext cx="274320" cy="62444"/>
          </a:xfrm>
          <a:prstGeom prst="rect">
            <a:avLst/>
          </a:prstGeom>
          <a:solidFill>
            <a:srgbClr val="6B747B"/>
          </a:solidFill>
          <a:ln>
            <a:noFill/>
          </a:ln>
        </p:spPr>
        <p:txBody>
          <a:bodyPr wrap="square" lIns="0" tIns="0" rIns="0" bIns="0" anchor="t">
            <a:noAutofit/>
          </a:bodyPr>
          <a:lstStyle/>
          <a:p>
            <a:pPr algn="l"/>
          </a:p>
        </p:txBody>
      </p:sp>
      <p:sp>
        <p:nvSpPr>
          <p:cNvPr id="1204" name="Value"/>
          <p:cNvSpPr txBox="1"/>
          <p:nvPr/>
        </p:nvSpPr>
        <p:spPr>
          <a:xfrm>
            <a:off x="10145267" y="5204499"/>
            <a:ext cx="548640" cy="219456"/>
          </a:xfrm>
          <a:prstGeom prst="rect">
            <a:avLst/>
          </a:prstGeom>
          <a:noFill/>
          <a:ln>
            <a:noFill/>
          </a:ln>
        </p:spPr>
        <p:txBody>
          <a:bodyPr wrap="square" lIns="0" tIns="0" rIns="0" bIns="0" anchor="t">
            <a:noAutofit/>
          </a:bodyPr>
          <a:lstStyle/>
          <a:p>
            <a:pPr algn="ctr"/>
            <a:r>
              <a:rPr lang="en-US" sz="1050" b="0" i="0" dirty="0">
                <a:solidFill>
                  <a:srgbClr val="3A434C"/>
                </a:solidFill>
                <a:latin typeface="Calibri"/>
                <a:cs typeface="Calibri"/>
              </a:rPr>
              <a:t xml:space="preserve">24</a:t>
            </a:r>
          </a:p>
        </p:txBody>
      </p:sp>
      <p:sp>
        <p:nvSpPr>
          <p:cNvPr id="1205" name="Value"/>
          <p:cNvSpPr txBox="1"/>
          <p:nvPr/>
        </p:nvSpPr>
        <p:spPr>
          <a:xfrm>
            <a:off x="10492739" y="5266944"/>
            <a:ext cx="548640" cy="219456"/>
          </a:xfrm>
          <a:prstGeom prst="rect">
            <a:avLst/>
          </a:prstGeom>
          <a:noFill/>
          <a:ln>
            <a:noFill/>
          </a:ln>
        </p:spPr>
        <p:txBody>
          <a:bodyPr wrap="square" lIns="0" tIns="0" rIns="0" bIns="0" anchor="t">
            <a:noAutofit/>
          </a:bodyPr>
          <a:lstStyle/>
          <a:p>
            <a:pPr algn="ctr"/>
            <a:r>
              <a:rPr lang="en-US" sz="1300" b="1" i="0" dirty="0">
                <a:solidFill>
                  <a:srgbClr val="0B6E4F"/>
                </a:solidFill>
                <a:latin typeface="Calibri"/>
                <a:cs typeface="Calibri"/>
              </a:rPr>
              <a:t xml:space="preserve">0</a:t>
            </a:r>
          </a:p>
        </p:txBody>
      </p:sp>
      <p:sp>
        <p:nvSpPr>
          <p:cNvPr id="1206" name="Database"/>
          <p:cNvSpPr txBox="1"/>
          <p:nvPr/>
        </p:nvSpPr>
        <p:spPr>
          <a:xfrm>
            <a:off x="9445751" y="5605272"/>
            <a:ext cx="1600200" cy="256032"/>
          </a:xfrm>
          <a:prstGeom prst="rect">
            <a:avLst/>
          </a:prstGeom>
          <a:noFill/>
          <a:ln>
            <a:noFill/>
          </a:ln>
        </p:spPr>
        <p:txBody>
          <a:bodyPr wrap="square" lIns="0" tIns="0" rIns="0" bIns="0" anchor="t">
            <a:noAutofit/>
          </a:bodyPr>
          <a:lstStyle/>
          <a:p>
            <a:pPr algn="ctr"/>
            <a:r>
              <a:rPr lang="en-US" sz="1200" b="1" i="0" dirty="0">
                <a:solidFill>
                  <a:srgbClr val="1F2328"/>
                </a:solidFill>
                <a:latin typeface="Calibri"/>
                <a:cs typeface="Calibri"/>
              </a:rPr>
              <a:t xml:space="preserve">Chinook</a:t>
            </a:r>
          </a:p>
        </p:txBody>
      </p:sp>
      <p:sp>
        <p:nvSpPr>
          <p:cNvPr id="1207" name="Source"/>
          <p:cNvSpPr txBox="1"/>
          <p:nvPr/>
        </p:nvSpPr>
        <p:spPr>
          <a:xfrm>
            <a:off x="822960" y="6291072"/>
            <a:ext cx="10607040" cy="237744"/>
          </a:xfrm>
          <a:prstGeom prst="rect">
            <a:avLst/>
          </a:prstGeom>
          <a:noFill/>
          <a:ln>
            <a:noFill/>
          </a:ln>
        </p:spPr>
        <p:txBody>
          <a:bodyPr wrap="square" lIns="0" tIns="0" rIns="0" bIns="0" anchor="t">
            <a:noAutofit/>
          </a:bodyPr>
          <a:lstStyle/>
          <a:p>
            <a:pPr algn="l"/>
            <a:r>
              <a:rPr lang="en-US" sz="1050" b="0" i="0" dirty="0">
                <a:solidFill>
                  <a:srgbClr val="5B6770"/>
                </a:solidFill>
                <a:latin typeface="Calibri"/>
                <a:cs typeface="Calibri"/>
              </a:rPr>
              <a:t xml:space="preserve">Sources: paper Table 8 (labels, provenance, hierarchy in every ontology of each method) and Table 7 (OOPS! totals).</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2" name="Shape 1202"/>
        <p:cNvGrpSpPr/>
        <p:nvPr/>
      </p:nvGrpSpPr>
      <p:grpSpPr>
        <a:xfrm>
          <a:off x="0" y="0"/>
          <a:ext cx="0" cy="0"/>
          <a:chOff x="0" y="0"/>
          <a:chExt cx="0" cy="0"/>
        </a:xfrm>
      </p:grpSpPr>
      <p:sp>
        <p:nvSpPr>
          <p:cNvPr id="1203" name="Google Shape;1203;p21"/>
          <p:cNvSpPr txBox="1"/>
          <p:nvPr/>
        </p:nvSpPr>
        <p:spPr>
          <a:xfrm>
            <a:off x="804672" y="512064"/>
            <a:ext cx="10753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2  /  EXTERNAL BENCHMARK</a:t>
            </a:r>
            <a:endParaRPr b="0" i="0" sz="1400" u="none" cap="none" strike="noStrike">
              <a:solidFill>
                <a:srgbClr val="000000"/>
              </a:solidFill>
              <a:latin typeface="Arial"/>
              <a:ea typeface="Arial"/>
              <a:cs typeface="Arial"/>
              <a:sym typeface="Arial"/>
            </a:endParaRPr>
          </a:p>
        </p:txBody>
      </p:sp>
      <p:sp>
        <p:nvSpPr>
          <p:cNvPr id="1204" name="Google Shape;1204;p21"/>
          <p:cNvSpPr txBox="1"/>
          <p:nvPr/>
        </p:nvSpPr>
        <p:spPr>
          <a:xfrm>
            <a:off x="804672" y="914400"/>
            <a:ext cx="10762500" cy="6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RIGOR keeps the link to the data.</a:t>
            </a:r>
            <a:endParaRPr b="0" i="0" sz="1400" u="none" cap="none" strike="noStrike">
              <a:solidFill>
                <a:srgbClr val="000000"/>
              </a:solidFill>
              <a:latin typeface="Arial"/>
              <a:ea typeface="Arial"/>
              <a:cs typeface="Arial"/>
              <a:sym typeface="Arial"/>
            </a:endParaRPr>
          </a:p>
        </p:txBody>
      </p:sp>
      <p:sp>
        <p:nvSpPr>
          <p:cNvPr id="1205" name="Google Shape;1205;p21"/>
          <p:cNvSpPr txBox="1"/>
          <p:nvPr/>
        </p:nvSpPr>
        <p:spPr>
          <a:xfrm>
            <a:off x="822960" y="1645920"/>
            <a:ext cx="106803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BURR benchmark (Laskowski et al., 2025)  ·  ISWC scenario  ·  highest F1 among the compared ontology-learning systems</a:t>
            </a:r>
            <a:endParaRPr b="0" i="0" sz="1400" u="none" cap="none" strike="noStrike">
              <a:solidFill>
                <a:srgbClr val="000000"/>
              </a:solidFill>
              <a:latin typeface="Arial"/>
              <a:ea typeface="Arial"/>
              <a:cs typeface="Arial"/>
              <a:sym typeface="Arial"/>
            </a:endParaRPr>
          </a:p>
        </p:txBody>
      </p:sp>
      <p:sp>
        <p:nvSpPr>
          <p:cNvPr id="1206" name="Google Shape;1206;p21"/>
          <p:cNvSpPr/>
          <p:nvPr/>
        </p:nvSpPr>
        <p:spPr>
          <a:xfrm>
            <a:off x="5870448" y="2139696"/>
            <a:ext cx="5468100" cy="3063300"/>
          </a:xfrm>
          <a:prstGeom prst="roundRect">
            <a:avLst>
              <a:gd fmla="val 16667" name="adj"/>
            </a:avLst>
          </a:prstGeom>
          <a:solidFill>
            <a:srgbClr val="FFFFFF"/>
          </a:solidFill>
          <a:ln cap="flat" cmpd="sng" w="1077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7" name="Google Shape;1207;p21"/>
          <p:cNvSpPr txBox="1"/>
          <p:nvPr/>
        </p:nvSpPr>
        <p:spPr>
          <a:xfrm>
            <a:off x="6099048" y="2322576"/>
            <a:ext cx="18288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SYSTEM</a:t>
            </a:r>
            <a:endParaRPr/>
          </a:p>
        </p:txBody>
      </p:sp>
      <p:sp>
        <p:nvSpPr>
          <p:cNvPr id="1208" name="Google Shape;1208;p21"/>
          <p:cNvSpPr txBox="1"/>
          <p:nvPr/>
        </p:nvSpPr>
        <p:spPr>
          <a:xfrm>
            <a:off x="8156447" y="2322576"/>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CLASSES</a:t>
            </a:r>
            <a:endParaRPr/>
          </a:p>
        </p:txBody>
      </p:sp>
      <p:sp>
        <p:nvSpPr>
          <p:cNvPr id="1209" name="Google Shape;1209;p21"/>
          <p:cNvSpPr txBox="1"/>
          <p:nvPr/>
        </p:nvSpPr>
        <p:spPr>
          <a:xfrm>
            <a:off x="9208008" y="2322576"/>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RELATIONS</a:t>
            </a:r>
            <a:endParaRPr/>
          </a:p>
        </p:txBody>
      </p:sp>
      <p:sp>
        <p:nvSpPr>
          <p:cNvPr id="1210" name="Google Shape;1210;p21"/>
          <p:cNvSpPr txBox="1"/>
          <p:nvPr/>
        </p:nvSpPr>
        <p:spPr>
          <a:xfrm>
            <a:off x="10259567" y="2322576"/>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ATTRIBUTES</a:t>
            </a:r>
            <a:endParaRPr/>
          </a:p>
        </p:txBody>
      </p:sp>
      <p:cxnSp>
        <p:nvCxnSpPr>
          <p:cNvPr id="1211" name="Google Shape;1211;p21"/>
          <p:cNvCxnSpPr/>
          <p:nvPr/>
        </p:nvCxnSpPr>
        <p:spPr>
          <a:xfrm>
            <a:off x="6071616" y="2761488"/>
            <a:ext cx="5065800" cy="0"/>
          </a:xfrm>
          <a:prstGeom prst="straightConnector1">
            <a:avLst/>
          </a:prstGeom>
          <a:noFill/>
          <a:ln cap="flat" cmpd="sng" w="1395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1212" name="Google Shape;1212;p21"/>
          <p:cNvSpPr txBox="1"/>
          <p:nvPr/>
        </p:nvSpPr>
        <p:spPr>
          <a:xfrm>
            <a:off x="6117336" y="2798064"/>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W3C-Mapper / Ontop</a:t>
            </a:r>
            <a:endParaRPr/>
          </a:p>
        </p:txBody>
      </p:sp>
      <p:sp>
        <p:nvSpPr>
          <p:cNvPr id="1213" name="Google Shape;1213;p21"/>
          <p:cNvSpPr txBox="1"/>
          <p:nvPr/>
        </p:nvSpPr>
        <p:spPr>
          <a:xfrm>
            <a:off x="6117336" y="3054096"/>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rule-based</a:t>
            </a:r>
            <a:endParaRPr/>
          </a:p>
        </p:txBody>
      </p:sp>
      <p:sp>
        <p:nvSpPr>
          <p:cNvPr id="1214" name="Google Shape;1214;p21"/>
          <p:cNvSpPr txBox="1"/>
          <p:nvPr/>
        </p:nvSpPr>
        <p:spPr>
          <a:xfrm>
            <a:off x="8202167" y="28575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0.53</a:t>
            </a:r>
            <a:endParaRPr/>
          </a:p>
        </p:txBody>
      </p:sp>
      <p:sp>
        <p:nvSpPr>
          <p:cNvPr id="1215" name="Google Shape;1215;p21"/>
          <p:cNvSpPr txBox="1"/>
          <p:nvPr/>
        </p:nvSpPr>
        <p:spPr>
          <a:xfrm>
            <a:off x="9253728" y="28575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0.11</a:t>
            </a:r>
            <a:endParaRPr/>
          </a:p>
        </p:txBody>
      </p:sp>
      <p:sp>
        <p:nvSpPr>
          <p:cNvPr id="1216" name="Google Shape;1216;p21"/>
          <p:cNvSpPr txBox="1"/>
          <p:nvPr/>
        </p:nvSpPr>
        <p:spPr>
          <a:xfrm>
            <a:off x="10305288" y="28575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0.39</a:t>
            </a:r>
            <a:endParaRPr/>
          </a:p>
        </p:txBody>
      </p:sp>
      <p:sp>
        <p:nvSpPr>
          <p:cNvPr id="1217" name="Google Shape;1217;p21"/>
          <p:cNvSpPr txBox="1"/>
          <p:nvPr/>
        </p:nvSpPr>
        <p:spPr>
          <a:xfrm>
            <a:off x="6117336" y="3355848"/>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RDB2Onto</a:t>
            </a:r>
            <a:endParaRPr/>
          </a:p>
        </p:txBody>
      </p:sp>
      <p:sp>
        <p:nvSpPr>
          <p:cNvPr id="1218" name="Google Shape;1218;p21"/>
          <p:cNvSpPr txBox="1"/>
          <p:nvPr/>
        </p:nvSpPr>
        <p:spPr>
          <a:xfrm>
            <a:off x="6117336" y="3611880"/>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rule-based</a:t>
            </a:r>
            <a:endParaRPr/>
          </a:p>
        </p:txBody>
      </p:sp>
      <p:sp>
        <p:nvSpPr>
          <p:cNvPr id="1219" name="Google Shape;1219;p21"/>
          <p:cNvSpPr txBox="1"/>
          <p:nvPr/>
        </p:nvSpPr>
        <p:spPr>
          <a:xfrm>
            <a:off x="8202167" y="3415284"/>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0.67</a:t>
            </a:r>
            <a:endParaRPr/>
          </a:p>
        </p:txBody>
      </p:sp>
      <p:sp>
        <p:nvSpPr>
          <p:cNvPr id="1220" name="Google Shape;1220;p21"/>
          <p:cNvSpPr txBox="1"/>
          <p:nvPr/>
        </p:nvSpPr>
        <p:spPr>
          <a:xfrm>
            <a:off x="9253728" y="3415284"/>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0.62</a:t>
            </a:r>
            <a:endParaRPr/>
          </a:p>
        </p:txBody>
      </p:sp>
      <p:sp>
        <p:nvSpPr>
          <p:cNvPr id="1221" name="Google Shape;1221;p21"/>
          <p:cNvSpPr txBox="1"/>
          <p:nvPr/>
        </p:nvSpPr>
        <p:spPr>
          <a:xfrm>
            <a:off x="10305288" y="3415284"/>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0.44</a:t>
            </a:r>
            <a:endParaRPr/>
          </a:p>
        </p:txBody>
      </p:sp>
      <p:sp>
        <p:nvSpPr>
          <p:cNvPr id="1222" name="Google Shape;1222;p21"/>
          <p:cNvSpPr txBox="1"/>
          <p:nvPr/>
        </p:nvSpPr>
        <p:spPr>
          <a:xfrm>
            <a:off x="6117336" y="3913632"/>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OntoGenix</a:t>
            </a:r>
            <a:endParaRPr/>
          </a:p>
        </p:txBody>
      </p:sp>
      <p:sp>
        <p:nvSpPr>
          <p:cNvPr id="1223" name="Google Shape;1223;p21"/>
          <p:cNvSpPr txBox="1"/>
          <p:nvPr/>
        </p:nvSpPr>
        <p:spPr>
          <a:xfrm>
            <a:off x="6117336" y="4169664"/>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LLM-based</a:t>
            </a:r>
            <a:endParaRPr/>
          </a:p>
        </p:txBody>
      </p:sp>
      <p:sp>
        <p:nvSpPr>
          <p:cNvPr id="1224" name="Google Shape;1224;p21"/>
          <p:cNvSpPr txBox="1"/>
          <p:nvPr/>
        </p:nvSpPr>
        <p:spPr>
          <a:xfrm>
            <a:off x="8202167" y="397306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0.58</a:t>
            </a:r>
            <a:endParaRPr/>
          </a:p>
        </p:txBody>
      </p:sp>
      <p:sp>
        <p:nvSpPr>
          <p:cNvPr id="1225" name="Google Shape;1225;p21"/>
          <p:cNvSpPr txBox="1"/>
          <p:nvPr/>
        </p:nvSpPr>
        <p:spPr>
          <a:xfrm>
            <a:off x="9253728" y="397306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0.35</a:t>
            </a:r>
            <a:endParaRPr/>
          </a:p>
        </p:txBody>
      </p:sp>
      <p:sp>
        <p:nvSpPr>
          <p:cNvPr id="1226" name="Google Shape;1226;p21"/>
          <p:cNvSpPr txBox="1"/>
          <p:nvPr/>
        </p:nvSpPr>
        <p:spPr>
          <a:xfrm>
            <a:off x="10305288" y="397306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0.44</a:t>
            </a:r>
            <a:endParaRPr/>
          </a:p>
        </p:txBody>
      </p:sp>
      <p:sp>
        <p:nvSpPr>
          <p:cNvPr id="1227" name="Google Shape;1227;p21"/>
          <p:cNvSpPr/>
          <p:nvPr/>
        </p:nvSpPr>
        <p:spPr>
          <a:xfrm>
            <a:off x="5980176" y="4507992"/>
            <a:ext cx="5248800" cy="512100"/>
          </a:xfrm>
          <a:prstGeom prst="rect">
            <a:avLst/>
          </a:prstGeom>
          <a:solidFill>
            <a:srgbClr val="E9EEEB"/>
          </a:solidFill>
          <a:ln cap="flat" cmpd="sng" w="9525">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8" name="Google Shape;1228;p21"/>
          <p:cNvSpPr txBox="1"/>
          <p:nvPr/>
        </p:nvSpPr>
        <p:spPr>
          <a:xfrm>
            <a:off x="6117336" y="4471416"/>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F2328"/>
                </a:solidFill>
                <a:latin typeface="Calibri"/>
                <a:ea typeface="Calibri"/>
                <a:cs typeface="Calibri"/>
                <a:sym typeface="Calibri"/>
              </a:rPr>
              <a:t>RIGOR</a:t>
            </a:r>
            <a:endParaRPr/>
          </a:p>
        </p:txBody>
      </p:sp>
      <p:sp>
        <p:nvSpPr>
          <p:cNvPr id="1229" name="Google Shape;1229;p21"/>
          <p:cNvSpPr txBox="1"/>
          <p:nvPr/>
        </p:nvSpPr>
        <p:spPr>
          <a:xfrm>
            <a:off x="6117336" y="4727448"/>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2F6B78"/>
                </a:solidFill>
                <a:latin typeface="Calibri"/>
                <a:ea typeface="Calibri"/>
                <a:cs typeface="Calibri"/>
                <a:sym typeface="Calibri"/>
              </a:rPr>
              <a:t>LLM + rules</a:t>
            </a:r>
            <a:endParaRPr/>
          </a:p>
        </p:txBody>
      </p:sp>
      <p:sp>
        <p:nvSpPr>
          <p:cNvPr id="1230" name="Google Shape;1230;p21"/>
          <p:cNvSpPr txBox="1"/>
          <p:nvPr/>
        </p:nvSpPr>
        <p:spPr>
          <a:xfrm>
            <a:off x="8202167" y="453085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0.73</a:t>
            </a:r>
            <a:endParaRPr/>
          </a:p>
        </p:txBody>
      </p:sp>
      <p:sp>
        <p:nvSpPr>
          <p:cNvPr id="1231" name="Google Shape;1231;p21"/>
          <p:cNvSpPr txBox="1"/>
          <p:nvPr/>
        </p:nvSpPr>
        <p:spPr>
          <a:xfrm>
            <a:off x="9253728" y="453085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0.67</a:t>
            </a:r>
            <a:endParaRPr/>
          </a:p>
        </p:txBody>
      </p:sp>
      <p:sp>
        <p:nvSpPr>
          <p:cNvPr id="1232" name="Google Shape;1232;p21"/>
          <p:cNvSpPr txBox="1"/>
          <p:nvPr/>
        </p:nvSpPr>
        <p:spPr>
          <a:xfrm>
            <a:off x="10305288" y="453085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0.52</a:t>
            </a:r>
            <a:endParaRPr/>
          </a:p>
        </p:txBody>
      </p:sp>
      <p:sp>
        <p:nvSpPr>
          <p:cNvPr id="1233" name="Google Shape;1233;p21"/>
          <p:cNvSpPr/>
          <p:nvPr/>
        </p:nvSpPr>
        <p:spPr>
          <a:xfrm>
            <a:off x="841248" y="2139696"/>
            <a:ext cx="4846200" cy="30633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4" name="Google Shape;1234;p21"/>
          <p:cNvSpPr txBox="1"/>
          <p:nvPr/>
        </p:nvSpPr>
        <p:spPr>
          <a:xfrm>
            <a:off x="1069848" y="2322576"/>
            <a:ext cx="4389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WHAT BURR CHECKS</a:t>
            </a:r>
            <a:endParaRPr/>
          </a:p>
        </p:txBody>
      </p:sp>
      <p:sp>
        <p:nvSpPr>
          <p:cNvPr id="1235" name="Google Shape;1235;p21"/>
          <p:cNvSpPr txBox="1"/>
          <p:nvPr/>
        </p:nvSpPr>
        <p:spPr>
          <a:xfrm>
            <a:off x="1069848" y="2651760"/>
            <a:ext cx="43890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Every ontology element must map back to the database.</a:t>
            </a:r>
            <a:endParaRPr/>
          </a:p>
        </p:txBody>
      </p:sp>
      <p:sp>
        <p:nvSpPr>
          <p:cNvPr id="1236" name="Google Shape;1236;p21"/>
          <p:cNvSpPr txBox="1"/>
          <p:nvPr/>
        </p:nvSpPr>
        <p:spPr>
          <a:xfrm>
            <a:off x="1069848" y="3090672"/>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CLASSES</a:t>
            </a:r>
            <a:endParaRPr/>
          </a:p>
        </p:txBody>
      </p:sp>
      <p:sp>
        <p:nvSpPr>
          <p:cNvPr descr="database element" id="1237" name="Google Shape;1237;p21"/>
          <p:cNvSpPr/>
          <p:nvPr/>
        </p:nvSpPr>
        <p:spPr>
          <a:xfrm>
            <a:off x="2075688" y="3090672"/>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person</a:t>
            </a:r>
            <a:endParaRPr/>
          </a:p>
        </p:txBody>
      </p:sp>
      <p:sp>
        <p:nvSpPr>
          <p:cNvPr id="1238" name="Google Shape;1238;p21"/>
          <p:cNvSpPr txBox="1"/>
          <p:nvPr/>
        </p:nvSpPr>
        <p:spPr>
          <a:xfrm>
            <a:off x="3392424" y="3090672"/>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39" name="Google Shape;1239;p21"/>
          <p:cNvSpPr/>
          <p:nvPr/>
        </p:nvSpPr>
        <p:spPr>
          <a:xfrm>
            <a:off x="3648456" y="3090672"/>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 </a:t>
            </a:r>
            <a:r>
              <a:rPr b="0" i="0" lang="en-US" sz="1050" u="none" cap="none" strike="noStrike">
                <a:solidFill>
                  <a:srgbClr val="1F2328"/>
                </a:solidFill>
                <a:latin typeface="Consolas"/>
                <a:ea typeface="Consolas"/>
                <a:cs typeface="Consolas"/>
                <a:sym typeface="Consolas"/>
              </a:rPr>
              <a:t>Person</a:t>
            </a:r>
            <a:endParaRPr/>
          </a:p>
        </p:txBody>
      </p:sp>
      <p:sp>
        <p:nvSpPr>
          <p:cNvPr id="1240" name="Google Shape;1240;p21"/>
          <p:cNvSpPr txBox="1"/>
          <p:nvPr/>
        </p:nvSpPr>
        <p:spPr>
          <a:xfrm>
            <a:off x="1069848" y="3511296"/>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RELATIONS</a:t>
            </a:r>
            <a:endParaRPr/>
          </a:p>
        </p:txBody>
      </p:sp>
      <p:sp>
        <p:nvSpPr>
          <p:cNvPr descr="database element" id="1241" name="Google Shape;1241;p21"/>
          <p:cNvSpPr/>
          <p:nvPr/>
        </p:nvSpPr>
        <p:spPr>
          <a:xfrm>
            <a:off x="2075688" y="3511296"/>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paper.author_id</a:t>
            </a:r>
            <a:endParaRPr/>
          </a:p>
        </p:txBody>
      </p:sp>
      <p:sp>
        <p:nvSpPr>
          <p:cNvPr id="1242" name="Google Shape;1242;p21"/>
          <p:cNvSpPr txBox="1"/>
          <p:nvPr/>
        </p:nvSpPr>
        <p:spPr>
          <a:xfrm>
            <a:off x="3392424" y="3511296"/>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43" name="Google Shape;1243;p21"/>
          <p:cNvSpPr/>
          <p:nvPr/>
        </p:nvSpPr>
        <p:spPr>
          <a:xfrm>
            <a:off x="3648456" y="3511296"/>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 </a:t>
            </a:r>
            <a:r>
              <a:rPr b="0" i="0" lang="en-US" sz="1050" u="none" cap="none" strike="noStrike">
                <a:solidFill>
                  <a:srgbClr val="1F2328"/>
                </a:solidFill>
                <a:latin typeface="Consolas"/>
                <a:ea typeface="Consolas"/>
                <a:cs typeface="Consolas"/>
                <a:sym typeface="Consolas"/>
              </a:rPr>
              <a:t>author</a:t>
            </a:r>
            <a:endParaRPr/>
          </a:p>
        </p:txBody>
      </p:sp>
      <p:sp>
        <p:nvSpPr>
          <p:cNvPr id="1244" name="Google Shape;1244;p21"/>
          <p:cNvSpPr txBox="1"/>
          <p:nvPr/>
        </p:nvSpPr>
        <p:spPr>
          <a:xfrm>
            <a:off x="1069848" y="3931920"/>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ATTRIBUTES</a:t>
            </a:r>
            <a:endParaRPr/>
          </a:p>
        </p:txBody>
      </p:sp>
      <p:sp>
        <p:nvSpPr>
          <p:cNvPr descr="database element" id="1245" name="Google Shape;1245;p21"/>
          <p:cNvSpPr/>
          <p:nvPr/>
        </p:nvSpPr>
        <p:spPr>
          <a:xfrm>
            <a:off x="2075688" y="3931920"/>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person.name</a:t>
            </a:r>
            <a:endParaRPr/>
          </a:p>
        </p:txBody>
      </p:sp>
      <p:sp>
        <p:nvSpPr>
          <p:cNvPr id="1246" name="Google Shape;1246;p21"/>
          <p:cNvSpPr txBox="1"/>
          <p:nvPr/>
        </p:nvSpPr>
        <p:spPr>
          <a:xfrm>
            <a:off x="3392424" y="3931920"/>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47" name="Google Shape;1247;p21"/>
          <p:cNvSpPr/>
          <p:nvPr/>
        </p:nvSpPr>
        <p:spPr>
          <a:xfrm>
            <a:off x="3648456" y="3931920"/>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 </a:t>
            </a:r>
            <a:r>
              <a:rPr b="0" i="0" lang="en-US" sz="1050" u="none" cap="none" strike="noStrike">
                <a:solidFill>
                  <a:srgbClr val="1F2328"/>
                </a:solidFill>
                <a:latin typeface="Consolas"/>
                <a:ea typeface="Consolas"/>
                <a:cs typeface="Consolas"/>
                <a:sym typeface="Consolas"/>
              </a:rPr>
              <a:t>name</a:t>
            </a:r>
            <a:endParaRPr/>
          </a:p>
        </p:txBody>
      </p:sp>
      <p:sp>
        <p:nvSpPr>
          <p:cNvPr id="1248" name="Google Shape;1248;p21"/>
          <p:cNvSpPr txBox="1"/>
          <p:nvPr/>
        </p:nvSpPr>
        <p:spPr>
          <a:xfrm>
            <a:off x="1069848" y="4352544"/>
            <a:ext cx="43890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3A434C"/>
                </a:solidFill>
                <a:latin typeface="Calibri"/>
                <a:ea typeface="Calibri"/>
                <a:cs typeface="Calibri"/>
                <a:sym typeface="Calibri"/>
              </a:rPr>
              <a:t>Elements match when they map to the same database elements, whatever their names. F1 per element type.</a:t>
            </a:r>
            <a:endParaRPr/>
          </a:p>
        </p:txBody>
      </p:sp>
      <p:sp>
        <p:nvSpPr>
          <p:cNvPr id="1249" name="Google Shape;1249;p21"/>
          <p:cNvSpPr txBox="1"/>
          <p:nvPr/>
        </p:nvSpPr>
        <p:spPr>
          <a:xfrm>
            <a:off x="1069848" y="4974336"/>
            <a:ext cx="4389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Illustrative elements  ·  ISWC gold mapping: D2RQ example by Bizer &amp; Seaborne</a:t>
            </a:r>
            <a:endParaRPr/>
          </a:p>
        </p:txBody>
      </p:sp>
      <p:sp>
        <p:nvSpPr>
          <p:cNvPr id="1250" name="Google Shape;1250;p21"/>
          <p:cNvSpPr txBox="1"/>
          <p:nvPr/>
        </p:nvSpPr>
        <p:spPr>
          <a:xfrm>
            <a:off x="850392" y="5413248"/>
            <a:ext cx="10488300" cy="24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One scenario  ·  9 tables · 46 columns · 11 FKs  ·  RIGOR with Claude  ·  its prov:wasDerivedFrom links exported as a D2RQ mapping  ·  Source: paper Table 13</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5" name="Shape 1255"/>
        <p:cNvGrpSpPr/>
        <p:nvPr/>
      </p:nvGrpSpPr>
      <p:grpSpPr>
        <a:xfrm>
          <a:off x="0" y="0"/>
          <a:ext cx="0" cy="0"/>
          <a:chOff x="0" y="0"/>
          <a:chExt cx="0" cy="0"/>
        </a:xfrm>
      </p:grpSpPr>
      <p:sp>
        <p:nvSpPr>
          <p:cNvPr id="1256" name="Google Shape;1256;p19"/>
          <p:cNvSpPr txBox="1"/>
          <p:nvPr/>
        </p:nvSpPr>
        <p:spPr>
          <a:xfrm>
            <a:off x="804672" y="512064"/>
            <a:ext cx="10753344"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3  /  LLM JUDGE AND HUMAN EXPERTS</a:t>
            </a:r>
            <a:endParaRPr b="0" i="0" sz="1400" u="none" cap="none" strike="noStrike">
              <a:solidFill>
                <a:srgbClr val="000000"/>
              </a:solidFill>
              <a:latin typeface="Arial"/>
              <a:ea typeface="Arial"/>
              <a:cs typeface="Arial"/>
              <a:sym typeface="Arial"/>
            </a:endParaRPr>
          </a:p>
        </p:txBody>
      </p:sp>
      <p:sp>
        <p:nvSpPr>
          <p:cNvPr id="1257" name="Google Shape;1257;p19"/>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An LLM judge and human experts both rank RIGOR first.</a:t>
            </a:r>
            <a:endParaRPr b="0" i="0" sz="1400" u="none" cap="none" strike="noStrike">
              <a:solidFill>
                <a:srgbClr val="000000"/>
              </a:solidFill>
              <a:latin typeface="Arial"/>
              <a:ea typeface="Arial"/>
              <a:cs typeface="Arial"/>
              <a:sym typeface="Arial"/>
            </a:endParaRPr>
          </a:p>
        </p:txBody>
      </p:sp>
      <p:sp>
        <p:nvSpPr>
          <p:cNvPr id="1258" name="Subtitle"/>
          <p:cNvSpPr txBox="1"/>
          <p:nvPr/>
        </p:nvSpPr>
        <p:spPr>
          <a:xfrm>
            <a:off x="822960" y="1645920"/>
            <a:ext cx="10680192" cy="329184"/>
          </a:xfrm>
          <a:prstGeom prst="rect">
            <a:avLst/>
          </a:prstGeom>
          <a:noFill/>
          <a:ln>
            <a:noFill/>
          </a:ln>
        </p:spPr>
        <p:txBody>
          <a:bodyPr wrap="square" lIns="0" tIns="0" rIns="0" bIns="0" anchor="t">
            <a:noAutofit/>
          </a:bodyPr>
          <a:lstStyle/>
          <a:p>
            <a:pPr algn="l"/>
            <a:r>
              <a:rPr lang="en-US" sz="1600" b="0" i="0" dirty="0">
                <a:solidFill>
                  <a:srgbClr val="3A434C"/>
                </a:solidFill>
                <a:latin typeface="Calibri"/>
                <a:cs typeface="Calibri"/>
              </a:rPr>
              <a:t xml:space="preserve">Both ranked four anonymized ontologies per table, from first to fourth.</a:t>
            </a:r>
          </a:p>
        </p:txBody>
      </p:sp>
      <p:sp>
        <p:nvSpPr>
          <p:cNvPr id="1259" name="Card"/>
          <p:cNvSpPr/>
          <p:nvPr/>
        </p:nvSpPr>
        <p:spPr>
          <a:xfrm>
            <a:off x="804672" y="2194560"/>
            <a:ext cx="5166360" cy="3886200"/>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1260" name="Card label"/>
          <p:cNvSpPr txBox="1"/>
          <p:nvPr/>
        </p:nvSpPr>
        <p:spPr>
          <a:xfrm>
            <a:off x="1078992" y="2395728"/>
            <a:ext cx="4617720"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LLM-AS-A-JUDGE  ·  GPT-5.4</a:t>
            </a:r>
          </a:p>
        </p:txBody>
      </p:sp>
      <p:sp>
        <p:nvSpPr>
          <p:cNvPr id="1261" name="Big"/>
          <p:cNvSpPr txBox="1"/>
          <p:nvPr/>
        </p:nvSpPr>
        <p:spPr>
          <a:xfrm>
            <a:off x="1078992" y="2880360"/>
            <a:ext cx="4617720" cy="960120"/>
          </a:xfrm>
          <a:prstGeom prst="rect">
            <a:avLst/>
          </a:prstGeom>
          <a:noFill/>
          <a:ln>
            <a:noFill/>
          </a:ln>
        </p:spPr>
        <p:txBody>
          <a:bodyPr wrap="square" lIns="0" tIns="0" rIns="0" bIns="0" anchor="t">
            <a:noAutofit/>
          </a:bodyPr>
          <a:lstStyle/>
          <a:p>
            <a:pPr algn="l"/>
            <a:r>
              <a:rPr lang="en-US" sz="6000" b="1" i="0" dirty="0">
                <a:solidFill>
                  <a:srgbClr val="1F2328"/>
                </a:solidFill>
                <a:latin typeface="Cambria"/>
                <a:cs typeface="Cambria"/>
              </a:rPr>
              <a:t xml:space="preserve">58 / 58</a:t>
            </a:r>
          </a:p>
        </p:txBody>
      </p:sp>
      <p:sp>
        <p:nvSpPr>
          <p:cNvPr id="1262" name="Claim"/>
          <p:cNvSpPr txBox="1"/>
          <p:nvPr/>
        </p:nvSpPr>
        <p:spPr>
          <a:xfrm>
            <a:off x="1078992" y="3886200"/>
            <a:ext cx="4617720" cy="365760"/>
          </a:xfrm>
          <a:prstGeom prst="rect">
            <a:avLst/>
          </a:prstGeom>
          <a:noFill/>
          <a:ln>
            <a:noFill/>
          </a:ln>
        </p:spPr>
        <p:txBody>
          <a:bodyPr wrap="square" lIns="0" tIns="0" rIns="0" bIns="0" anchor="t">
            <a:noAutofit/>
          </a:bodyPr>
          <a:lstStyle/>
          <a:p>
            <a:pPr algn="l"/>
            <a:r>
              <a:rPr lang="en-US" sz="1900" b="1" i="0" dirty="0">
                <a:solidFill>
                  <a:srgbClr val="0B6E4F"/>
                </a:solidFill>
                <a:latin typeface="Calibri"/>
                <a:cs typeface="Calibri"/>
              </a:rPr>
              <a:t xml:space="preserve">tables with RIGOR ranked first</a:t>
            </a:r>
          </a:p>
        </p:txBody>
      </p:sp>
      <p:sp>
        <p:nvSpPr>
          <p:cNvPr id="1263" name="Database"/>
          <p:cNvSpPr txBox="1"/>
          <p:nvPr/>
        </p:nvSpPr>
        <p:spPr>
          <a:xfrm>
            <a:off x="1078992" y="4526279"/>
            <a:ext cx="2194560" cy="274320"/>
          </a:xfrm>
          <a:prstGeom prst="rect">
            <a:avLst/>
          </a:prstGeom>
          <a:noFill/>
          <a:ln>
            <a:noFill/>
          </a:ln>
        </p:spPr>
        <p:txBody>
          <a:bodyPr wrap="square" lIns="0" tIns="0" rIns="0" bIns="0" anchor="t">
            <a:noAutofit/>
          </a:bodyPr>
          <a:lstStyle/>
          <a:p>
            <a:pPr algn="l"/>
            <a:r>
              <a:rPr lang="en-US" sz="1500" b="0" i="0" dirty="0">
                <a:solidFill>
                  <a:srgbClr val="3A434C"/>
                </a:solidFill>
                <a:latin typeface="Calibri"/>
                <a:cs typeface="Calibri"/>
              </a:rPr>
              <a:t xml:space="preserve">Liver Cancer</a:t>
            </a:r>
          </a:p>
        </p:txBody>
      </p:sp>
      <p:sp>
        <p:nvSpPr>
          <p:cNvPr id="1264" name="Count"/>
          <p:cNvSpPr txBox="1"/>
          <p:nvPr/>
        </p:nvSpPr>
        <p:spPr>
          <a:xfrm>
            <a:off x="3273552" y="4526279"/>
            <a:ext cx="1097280" cy="274320"/>
          </a:xfrm>
          <a:prstGeom prst="rect">
            <a:avLst/>
          </a:prstGeom>
          <a:noFill/>
          <a:ln>
            <a:noFill/>
          </a:ln>
        </p:spPr>
        <p:txBody>
          <a:bodyPr wrap="square" lIns="0" tIns="0" rIns="0" bIns="0" anchor="t">
            <a:noAutofit/>
          </a:bodyPr>
          <a:lstStyle/>
          <a:p>
            <a:pPr algn="l"/>
            <a:r>
              <a:rPr lang="en-US" sz="1500" b="1" i="0" dirty="0">
                <a:solidFill>
                  <a:srgbClr val="0B6E4F"/>
                </a:solidFill>
                <a:latin typeface="Calibri"/>
                <a:cs typeface="Calibri"/>
              </a:rPr>
              <a:t xml:space="preserve">16 / 16</a:t>
            </a:r>
          </a:p>
        </p:txBody>
      </p:sp>
      <p:sp>
        <p:nvSpPr>
          <p:cNvPr id="1265" name="Database"/>
          <p:cNvSpPr txBox="1"/>
          <p:nvPr/>
        </p:nvSpPr>
        <p:spPr>
          <a:xfrm>
            <a:off x="1078992" y="4892040"/>
            <a:ext cx="2194560" cy="274320"/>
          </a:xfrm>
          <a:prstGeom prst="rect">
            <a:avLst/>
          </a:prstGeom>
          <a:noFill/>
          <a:ln>
            <a:noFill/>
          </a:ln>
        </p:spPr>
        <p:txBody>
          <a:bodyPr wrap="square" lIns="0" tIns="0" rIns="0" bIns="0" anchor="t">
            <a:noAutofit/>
          </a:bodyPr>
          <a:lstStyle/>
          <a:p>
            <a:pPr algn="l"/>
            <a:r>
              <a:rPr lang="en-US" sz="1500" b="0" i="0" dirty="0">
                <a:solidFill>
                  <a:srgbClr val="3A434C"/>
                </a:solidFill>
                <a:latin typeface="Calibri"/>
                <a:cs typeface="Calibri"/>
              </a:rPr>
              <a:t xml:space="preserve">eICU-CRD</a:t>
            </a:r>
          </a:p>
        </p:txBody>
      </p:sp>
      <p:sp>
        <p:nvSpPr>
          <p:cNvPr id="1266" name="Count"/>
          <p:cNvSpPr txBox="1"/>
          <p:nvPr/>
        </p:nvSpPr>
        <p:spPr>
          <a:xfrm>
            <a:off x="3273552" y="4892040"/>
            <a:ext cx="1097280" cy="274320"/>
          </a:xfrm>
          <a:prstGeom prst="rect">
            <a:avLst/>
          </a:prstGeom>
          <a:noFill/>
          <a:ln>
            <a:noFill/>
          </a:ln>
        </p:spPr>
        <p:txBody>
          <a:bodyPr wrap="square" lIns="0" tIns="0" rIns="0" bIns="0" anchor="t">
            <a:noAutofit/>
          </a:bodyPr>
          <a:lstStyle/>
          <a:p>
            <a:pPr algn="l"/>
            <a:r>
              <a:rPr lang="en-US" sz="1500" b="1" i="0" dirty="0">
                <a:solidFill>
                  <a:srgbClr val="0B6E4F"/>
                </a:solidFill>
                <a:latin typeface="Calibri"/>
                <a:cs typeface="Calibri"/>
              </a:rPr>
              <a:t xml:space="preserve">31 / 31</a:t>
            </a:r>
          </a:p>
        </p:txBody>
      </p:sp>
      <p:sp>
        <p:nvSpPr>
          <p:cNvPr id="1267" name="Database"/>
          <p:cNvSpPr txBox="1"/>
          <p:nvPr/>
        </p:nvSpPr>
        <p:spPr>
          <a:xfrm>
            <a:off x="1078992" y="5257799"/>
            <a:ext cx="2194560" cy="274320"/>
          </a:xfrm>
          <a:prstGeom prst="rect">
            <a:avLst/>
          </a:prstGeom>
          <a:noFill/>
          <a:ln>
            <a:noFill/>
          </a:ln>
        </p:spPr>
        <p:txBody>
          <a:bodyPr wrap="square" lIns="0" tIns="0" rIns="0" bIns="0" anchor="t">
            <a:noAutofit/>
          </a:bodyPr>
          <a:lstStyle/>
          <a:p>
            <a:pPr algn="l"/>
            <a:r>
              <a:rPr lang="en-US" sz="1500" b="0" i="0" dirty="0">
                <a:solidFill>
                  <a:srgbClr val="3A434C"/>
                </a:solidFill>
                <a:latin typeface="Calibri"/>
                <a:cs typeface="Calibri"/>
              </a:rPr>
              <a:t xml:space="preserve">Chinook</a:t>
            </a:r>
          </a:p>
        </p:txBody>
      </p:sp>
      <p:sp>
        <p:nvSpPr>
          <p:cNvPr id="1268" name="Count"/>
          <p:cNvSpPr txBox="1"/>
          <p:nvPr/>
        </p:nvSpPr>
        <p:spPr>
          <a:xfrm>
            <a:off x="3273552" y="5257799"/>
            <a:ext cx="1097280" cy="274320"/>
          </a:xfrm>
          <a:prstGeom prst="rect">
            <a:avLst/>
          </a:prstGeom>
          <a:noFill/>
          <a:ln>
            <a:noFill/>
          </a:ln>
        </p:spPr>
        <p:txBody>
          <a:bodyPr wrap="square" lIns="0" tIns="0" rIns="0" bIns="0" anchor="t">
            <a:noAutofit/>
          </a:bodyPr>
          <a:lstStyle/>
          <a:p>
            <a:pPr algn="l"/>
            <a:r>
              <a:rPr lang="en-US" sz="1500" b="1" i="0" dirty="0">
                <a:solidFill>
                  <a:srgbClr val="0B6E4F"/>
                </a:solidFill>
                <a:latin typeface="Calibri"/>
                <a:cs typeface="Calibri"/>
              </a:rPr>
              <a:t xml:space="preserve">11 / 11</a:t>
            </a:r>
          </a:p>
        </p:txBody>
      </p:sp>
      <p:sp>
        <p:nvSpPr>
          <p:cNvPr id="1269" name="Card"/>
          <p:cNvSpPr/>
          <p:nvPr/>
        </p:nvSpPr>
        <p:spPr>
          <a:xfrm>
            <a:off x="6217920" y="2194560"/>
            <a:ext cx="5166360" cy="3886200"/>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1270" name="Card label"/>
          <p:cNvSpPr txBox="1"/>
          <p:nvPr/>
        </p:nvSpPr>
        <p:spPr>
          <a:xfrm>
            <a:off x="6492240" y="2395728"/>
            <a:ext cx="4617720"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10 ONTOLOGY EXPERTS</a:t>
            </a:r>
          </a:p>
        </p:txBody>
      </p:sp>
      <p:sp>
        <p:nvSpPr>
          <p:cNvPr id="1271" name="Big"/>
          <p:cNvSpPr txBox="1"/>
          <p:nvPr/>
        </p:nvSpPr>
        <p:spPr>
          <a:xfrm>
            <a:off x="6492240" y="2880360"/>
            <a:ext cx="4617720" cy="960120"/>
          </a:xfrm>
          <a:prstGeom prst="rect">
            <a:avLst/>
          </a:prstGeom>
          <a:noFill/>
          <a:ln>
            <a:noFill/>
          </a:ln>
        </p:spPr>
        <p:txBody>
          <a:bodyPr wrap="square" lIns="0" tIns="0" rIns="0" bIns="0" anchor="t">
            <a:noAutofit/>
          </a:bodyPr>
          <a:lstStyle/>
          <a:p>
            <a:pPr algn="l"/>
            <a:r>
              <a:rPr lang="en-US" sz="6000" b="1" i="0" dirty="0">
                <a:solidFill>
                  <a:srgbClr val="1F2328"/>
                </a:solidFill>
                <a:latin typeface="Cambria"/>
                <a:cs typeface="Cambria"/>
              </a:rPr>
              <a:t xml:space="preserve">28 / 40</a:t>
            </a:r>
          </a:p>
        </p:txBody>
      </p:sp>
      <p:sp>
        <p:nvSpPr>
          <p:cNvPr id="1272" name="Claim"/>
          <p:cNvSpPr txBox="1"/>
          <p:nvPr/>
        </p:nvSpPr>
        <p:spPr>
          <a:xfrm>
            <a:off x="6492240" y="3886200"/>
            <a:ext cx="4617720" cy="365760"/>
          </a:xfrm>
          <a:prstGeom prst="rect">
            <a:avLst/>
          </a:prstGeom>
          <a:noFill/>
          <a:ln>
            <a:noFill/>
          </a:ln>
        </p:spPr>
        <p:txBody>
          <a:bodyPr wrap="square" lIns="0" tIns="0" rIns="0" bIns="0" anchor="t">
            <a:noAutofit/>
          </a:bodyPr>
          <a:lstStyle/>
          <a:p>
            <a:pPr algn="l"/>
            <a:r>
              <a:rPr lang="en-US" sz="1900" b="1" i="0" dirty="0">
                <a:solidFill>
                  <a:srgbClr val="0B6E4F"/>
                </a:solidFill>
                <a:latin typeface="Calibri"/>
                <a:cs typeface="Calibri"/>
              </a:rPr>
              <a:t xml:space="preserve">rankings with RIGOR first (70%)</a:t>
            </a:r>
          </a:p>
        </p:txBody>
      </p:sp>
      <p:sp>
        <p:nvSpPr>
          <p:cNvPr id="1273" name="Method"/>
          <p:cNvSpPr txBox="1"/>
          <p:nvPr/>
        </p:nvSpPr>
        <p:spPr>
          <a:xfrm>
            <a:off x="6492240" y="4526279"/>
            <a:ext cx="1600200" cy="274320"/>
          </a:xfrm>
          <a:prstGeom prst="rect">
            <a:avLst/>
          </a:prstGeom>
          <a:noFill/>
          <a:ln>
            <a:noFill/>
          </a:ln>
        </p:spPr>
        <p:txBody>
          <a:bodyPr wrap="square" lIns="0" tIns="0" rIns="0" bIns="0" anchor="ctr">
            <a:noAutofit/>
          </a:bodyPr>
          <a:lstStyle/>
          <a:p>
            <a:pPr algn="l"/>
            <a:r>
              <a:rPr lang="en-US" sz="1350" b="0" i="0" dirty="0">
                <a:solidFill>
                  <a:srgbClr val="3A434C"/>
                </a:solidFill>
                <a:latin typeface="Calibri"/>
                <a:cs typeface="Calibri"/>
              </a:rPr>
              <a:t xml:space="preserve">Direct Mapping</a:t>
            </a:r>
          </a:p>
        </p:txBody>
      </p:sp>
      <p:sp>
        <p:nvSpPr>
          <p:cNvPr id="1274" name="Track"/>
          <p:cNvSpPr/>
          <p:nvPr/>
        </p:nvSpPr>
        <p:spPr>
          <a:xfrm>
            <a:off x="8138160" y="4599431"/>
            <a:ext cx="2331720" cy="137160"/>
          </a:xfrm>
          <a:prstGeom prst="rect">
            <a:avLst/>
          </a:prstGeom>
          <a:solidFill>
            <a:srgbClr val="E1E6E3"/>
          </a:solidFill>
          <a:ln>
            <a:noFill/>
          </a:ln>
        </p:spPr>
        <p:txBody>
          <a:bodyPr wrap="square" lIns="0" tIns="0" rIns="0" bIns="0" anchor="t">
            <a:noAutofit/>
          </a:bodyPr>
          <a:lstStyle/>
          <a:p>
            <a:pPr algn="l"/>
          </a:p>
        </p:txBody>
      </p:sp>
      <p:sp>
        <p:nvSpPr>
          <p:cNvPr id="1275" name="Bar"/>
          <p:cNvSpPr/>
          <p:nvPr/>
        </p:nvSpPr>
        <p:spPr>
          <a:xfrm>
            <a:off x="8138160" y="4599431"/>
            <a:ext cx="291465" cy="137160"/>
          </a:xfrm>
          <a:prstGeom prst="rect">
            <a:avLst/>
          </a:prstGeom>
          <a:solidFill>
            <a:srgbClr val="9AA3A9"/>
          </a:solidFill>
          <a:ln>
            <a:noFill/>
          </a:ln>
        </p:spPr>
        <p:txBody>
          <a:bodyPr wrap="square" lIns="0" tIns="0" rIns="0" bIns="0" anchor="t">
            <a:noAutofit/>
          </a:bodyPr>
          <a:lstStyle/>
          <a:p>
            <a:pPr algn="l"/>
          </a:p>
        </p:txBody>
      </p:sp>
      <p:sp>
        <p:nvSpPr>
          <p:cNvPr id="1276" name="Count"/>
          <p:cNvSpPr txBox="1"/>
          <p:nvPr/>
        </p:nvSpPr>
        <p:spPr>
          <a:xfrm>
            <a:off x="10561320" y="4526279"/>
            <a:ext cx="594360" cy="274320"/>
          </a:xfrm>
          <a:prstGeom prst="rect">
            <a:avLst/>
          </a:prstGeom>
          <a:noFill/>
          <a:ln>
            <a:noFill/>
          </a:ln>
        </p:spPr>
        <p:txBody>
          <a:bodyPr wrap="square" lIns="0" tIns="0" rIns="0" bIns="0" anchor="ctr">
            <a:noAutofit/>
          </a:bodyPr>
          <a:lstStyle/>
          <a:p>
            <a:pPr algn="r"/>
            <a:r>
              <a:rPr lang="en-US" sz="1350" b="0" i="0" dirty="0">
                <a:solidFill>
                  <a:srgbClr val="3A434C"/>
                </a:solidFill>
                <a:latin typeface="Calibri"/>
                <a:cs typeface="Calibri"/>
              </a:rPr>
              <a:t xml:space="preserve">5</a:t>
            </a:r>
          </a:p>
        </p:txBody>
      </p:sp>
      <p:sp>
        <p:nvSpPr>
          <p:cNvPr id="1277" name="Method"/>
          <p:cNvSpPr txBox="1"/>
          <p:nvPr/>
        </p:nvSpPr>
        <p:spPr>
          <a:xfrm>
            <a:off x="6492240" y="4873751"/>
            <a:ext cx="1600200" cy="274320"/>
          </a:xfrm>
          <a:prstGeom prst="rect">
            <a:avLst/>
          </a:prstGeom>
          <a:noFill/>
          <a:ln>
            <a:noFill/>
          </a:ln>
        </p:spPr>
        <p:txBody>
          <a:bodyPr wrap="square" lIns="0" tIns="0" rIns="0" bIns="0" anchor="ctr">
            <a:noAutofit/>
          </a:bodyPr>
          <a:lstStyle/>
          <a:p>
            <a:pPr algn="l"/>
            <a:r>
              <a:rPr lang="en-US" sz="1350" b="0" i="0" dirty="0">
                <a:solidFill>
                  <a:srgbClr val="3A434C"/>
                </a:solidFill>
                <a:latin typeface="Calibri"/>
                <a:cs typeface="Calibri"/>
              </a:rPr>
              <a:t xml:space="preserve">LLM baseline</a:t>
            </a:r>
          </a:p>
        </p:txBody>
      </p:sp>
      <p:sp>
        <p:nvSpPr>
          <p:cNvPr id="1278" name="Track"/>
          <p:cNvSpPr/>
          <p:nvPr/>
        </p:nvSpPr>
        <p:spPr>
          <a:xfrm>
            <a:off x="8138160" y="4946903"/>
            <a:ext cx="2331720" cy="137160"/>
          </a:xfrm>
          <a:prstGeom prst="rect">
            <a:avLst/>
          </a:prstGeom>
          <a:solidFill>
            <a:srgbClr val="E1E6E3"/>
          </a:solidFill>
          <a:ln>
            <a:noFill/>
          </a:ln>
        </p:spPr>
        <p:txBody>
          <a:bodyPr wrap="square" lIns="0" tIns="0" rIns="0" bIns="0" anchor="t">
            <a:noAutofit/>
          </a:bodyPr>
          <a:lstStyle/>
          <a:p>
            <a:pPr algn="l"/>
          </a:p>
        </p:txBody>
      </p:sp>
      <p:sp>
        <p:nvSpPr>
          <p:cNvPr id="1279" name="Bar"/>
          <p:cNvSpPr/>
          <p:nvPr/>
        </p:nvSpPr>
        <p:spPr>
          <a:xfrm>
            <a:off x="8138160" y="4946903"/>
            <a:ext cx="291465" cy="137160"/>
          </a:xfrm>
          <a:prstGeom prst="rect">
            <a:avLst/>
          </a:prstGeom>
          <a:solidFill>
            <a:srgbClr val="9AA3A9"/>
          </a:solidFill>
          <a:ln>
            <a:noFill/>
          </a:ln>
        </p:spPr>
        <p:txBody>
          <a:bodyPr wrap="square" lIns="0" tIns="0" rIns="0" bIns="0" anchor="t">
            <a:noAutofit/>
          </a:bodyPr>
          <a:lstStyle/>
          <a:p>
            <a:pPr algn="l"/>
          </a:p>
        </p:txBody>
      </p:sp>
      <p:sp>
        <p:nvSpPr>
          <p:cNvPr id="1280" name="Count"/>
          <p:cNvSpPr txBox="1"/>
          <p:nvPr/>
        </p:nvSpPr>
        <p:spPr>
          <a:xfrm>
            <a:off x="10561320" y="4873751"/>
            <a:ext cx="594360" cy="274320"/>
          </a:xfrm>
          <a:prstGeom prst="rect">
            <a:avLst/>
          </a:prstGeom>
          <a:noFill/>
          <a:ln>
            <a:noFill/>
          </a:ln>
        </p:spPr>
        <p:txBody>
          <a:bodyPr wrap="square" lIns="0" tIns="0" rIns="0" bIns="0" anchor="ctr">
            <a:noAutofit/>
          </a:bodyPr>
          <a:lstStyle/>
          <a:p>
            <a:pPr algn="r"/>
            <a:r>
              <a:rPr lang="en-US" sz="1350" b="0" i="0" dirty="0">
                <a:solidFill>
                  <a:srgbClr val="3A434C"/>
                </a:solidFill>
                <a:latin typeface="Calibri"/>
                <a:cs typeface="Calibri"/>
              </a:rPr>
              <a:t xml:space="preserve">5</a:t>
            </a:r>
          </a:p>
        </p:txBody>
      </p:sp>
      <p:sp>
        <p:nvSpPr>
          <p:cNvPr id="1281" name="Method"/>
          <p:cNvSpPr txBox="1"/>
          <p:nvPr/>
        </p:nvSpPr>
        <p:spPr>
          <a:xfrm>
            <a:off x="6492240" y="5221223"/>
            <a:ext cx="1600200" cy="274320"/>
          </a:xfrm>
          <a:prstGeom prst="rect">
            <a:avLst/>
          </a:prstGeom>
          <a:noFill/>
          <a:ln>
            <a:noFill/>
          </a:ln>
        </p:spPr>
        <p:txBody>
          <a:bodyPr wrap="square" lIns="0" tIns="0" rIns="0" bIns="0" anchor="ctr">
            <a:noAutofit/>
          </a:bodyPr>
          <a:lstStyle/>
          <a:p>
            <a:pPr algn="l"/>
            <a:r>
              <a:rPr lang="en-US" sz="1350" b="0" i="0" dirty="0">
                <a:solidFill>
                  <a:srgbClr val="3A434C"/>
                </a:solidFill>
                <a:latin typeface="Calibri"/>
                <a:cs typeface="Calibri"/>
              </a:rPr>
              <a:t xml:space="preserve">Non-Iterative</a:t>
            </a:r>
          </a:p>
        </p:txBody>
      </p:sp>
      <p:sp>
        <p:nvSpPr>
          <p:cNvPr id="1282" name="Track"/>
          <p:cNvSpPr/>
          <p:nvPr/>
        </p:nvSpPr>
        <p:spPr>
          <a:xfrm>
            <a:off x="8138160" y="5294375"/>
            <a:ext cx="2331720" cy="137160"/>
          </a:xfrm>
          <a:prstGeom prst="rect">
            <a:avLst/>
          </a:prstGeom>
          <a:solidFill>
            <a:srgbClr val="E1E6E3"/>
          </a:solidFill>
          <a:ln>
            <a:noFill/>
          </a:ln>
        </p:spPr>
        <p:txBody>
          <a:bodyPr wrap="square" lIns="0" tIns="0" rIns="0" bIns="0" anchor="t">
            <a:noAutofit/>
          </a:bodyPr>
          <a:lstStyle/>
          <a:p>
            <a:pPr algn="l"/>
          </a:p>
        </p:txBody>
      </p:sp>
      <p:sp>
        <p:nvSpPr>
          <p:cNvPr id="1283" name="Bar"/>
          <p:cNvSpPr/>
          <p:nvPr/>
        </p:nvSpPr>
        <p:spPr>
          <a:xfrm>
            <a:off x="8138160" y="5294375"/>
            <a:ext cx="116586" cy="137160"/>
          </a:xfrm>
          <a:prstGeom prst="rect">
            <a:avLst/>
          </a:prstGeom>
          <a:solidFill>
            <a:srgbClr val="9AA3A9"/>
          </a:solidFill>
          <a:ln>
            <a:noFill/>
          </a:ln>
        </p:spPr>
        <p:txBody>
          <a:bodyPr wrap="square" lIns="0" tIns="0" rIns="0" bIns="0" anchor="t">
            <a:noAutofit/>
          </a:bodyPr>
          <a:lstStyle/>
          <a:p>
            <a:pPr algn="l"/>
          </a:p>
        </p:txBody>
      </p:sp>
      <p:sp>
        <p:nvSpPr>
          <p:cNvPr id="1284" name="Count"/>
          <p:cNvSpPr txBox="1"/>
          <p:nvPr/>
        </p:nvSpPr>
        <p:spPr>
          <a:xfrm>
            <a:off x="10561320" y="5221223"/>
            <a:ext cx="594360" cy="274320"/>
          </a:xfrm>
          <a:prstGeom prst="rect">
            <a:avLst/>
          </a:prstGeom>
          <a:noFill/>
          <a:ln>
            <a:noFill/>
          </a:ln>
        </p:spPr>
        <p:txBody>
          <a:bodyPr wrap="square" lIns="0" tIns="0" rIns="0" bIns="0" anchor="ctr">
            <a:noAutofit/>
          </a:bodyPr>
          <a:lstStyle/>
          <a:p>
            <a:pPr algn="r"/>
            <a:r>
              <a:rPr lang="en-US" sz="1350" b="0" i="0" dirty="0">
                <a:solidFill>
                  <a:srgbClr val="3A434C"/>
                </a:solidFill>
                <a:latin typeface="Calibri"/>
                <a:cs typeface="Calibri"/>
              </a:rPr>
              <a:t xml:space="preserve">2</a:t>
            </a:r>
          </a:p>
        </p:txBody>
      </p:sp>
      <p:sp>
        <p:nvSpPr>
          <p:cNvPr id="1285" name="Method"/>
          <p:cNvSpPr txBox="1"/>
          <p:nvPr/>
        </p:nvSpPr>
        <p:spPr>
          <a:xfrm>
            <a:off x="6492240" y="5568696"/>
            <a:ext cx="1600200" cy="274320"/>
          </a:xfrm>
          <a:prstGeom prst="rect">
            <a:avLst/>
          </a:prstGeom>
          <a:noFill/>
          <a:ln>
            <a:noFill/>
          </a:ln>
        </p:spPr>
        <p:txBody>
          <a:bodyPr wrap="square" lIns="0" tIns="0" rIns="0" bIns="0" anchor="ctr">
            <a:noAutofit/>
          </a:bodyPr>
          <a:lstStyle/>
          <a:p>
            <a:pPr algn="l"/>
            <a:r>
              <a:rPr lang="en-US" sz="1350" b="1" i="0" dirty="0">
                <a:solidFill>
                  <a:srgbClr val="0B6E4F"/>
                </a:solidFill>
                <a:latin typeface="Calibri"/>
                <a:cs typeface="Calibri"/>
              </a:rPr>
              <a:t xml:space="preserve">RIGOR</a:t>
            </a:r>
          </a:p>
        </p:txBody>
      </p:sp>
      <p:sp>
        <p:nvSpPr>
          <p:cNvPr id="1286" name="Track"/>
          <p:cNvSpPr/>
          <p:nvPr/>
        </p:nvSpPr>
        <p:spPr>
          <a:xfrm>
            <a:off x="8138160" y="5641848"/>
            <a:ext cx="2331720" cy="137160"/>
          </a:xfrm>
          <a:prstGeom prst="rect">
            <a:avLst/>
          </a:prstGeom>
          <a:solidFill>
            <a:srgbClr val="E1E6E3"/>
          </a:solidFill>
          <a:ln>
            <a:noFill/>
          </a:ln>
        </p:spPr>
        <p:txBody>
          <a:bodyPr wrap="square" lIns="0" tIns="0" rIns="0" bIns="0" anchor="t">
            <a:noAutofit/>
          </a:bodyPr>
          <a:lstStyle/>
          <a:p>
            <a:pPr algn="l"/>
          </a:p>
        </p:txBody>
      </p:sp>
      <p:sp>
        <p:nvSpPr>
          <p:cNvPr id="1287" name="Bar"/>
          <p:cNvSpPr/>
          <p:nvPr/>
        </p:nvSpPr>
        <p:spPr>
          <a:xfrm>
            <a:off x="8138160" y="5641848"/>
            <a:ext cx="1632203" cy="137160"/>
          </a:xfrm>
          <a:prstGeom prst="rect">
            <a:avLst/>
          </a:prstGeom>
          <a:solidFill>
            <a:srgbClr val="0B6E4F"/>
          </a:solidFill>
          <a:ln>
            <a:noFill/>
          </a:ln>
        </p:spPr>
        <p:txBody>
          <a:bodyPr wrap="square" lIns="0" tIns="0" rIns="0" bIns="0" anchor="t">
            <a:noAutofit/>
          </a:bodyPr>
          <a:lstStyle/>
          <a:p>
            <a:pPr algn="l"/>
          </a:p>
        </p:txBody>
      </p:sp>
      <p:sp>
        <p:nvSpPr>
          <p:cNvPr id="1288" name="Count"/>
          <p:cNvSpPr txBox="1"/>
          <p:nvPr/>
        </p:nvSpPr>
        <p:spPr>
          <a:xfrm>
            <a:off x="10561320" y="5568696"/>
            <a:ext cx="594360" cy="274320"/>
          </a:xfrm>
          <a:prstGeom prst="rect">
            <a:avLst/>
          </a:prstGeom>
          <a:noFill/>
          <a:ln>
            <a:noFill/>
          </a:ln>
        </p:spPr>
        <p:txBody>
          <a:bodyPr wrap="square" lIns="0" tIns="0" rIns="0" bIns="0" anchor="ctr">
            <a:noAutofit/>
          </a:bodyPr>
          <a:lstStyle/>
          <a:p>
            <a:pPr algn="r"/>
            <a:r>
              <a:rPr lang="en-US" sz="1350" b="1" i="0" dirty="0">
                <a:solidFill>
                  <a:srgbClr val="0B6E4F"/>
                </a:solidFill>
                <a:latin typeface="Calibri"/>
                <a:cs typeface="Calibri"/>
              </a:rPr>
              <a:t xml:space="preserve">28</a:t>
            </a:r>
          </a:p>
        </p:txBody>
      </p:sp>
      <p:sp>
        <p:nvSpPr>
          <p:cNvPr id="1289" name="Source"/>
          <p:cNvSpPr txBox="1"/>
          <p:nvPr/>
        </p:nvSpPr>
        <p:spPr>
          <a:xfrm>
            <a:off x="822960" y="6291072"/>
            <a:ext cx="10607040" cy="237744"/>
          </a:xfrm>
          <a:prstGeom prst="rect">
            <a:avLst/>
          </a:prstGeom>
          <a:noFill/>
          <a:ln>
            <a:noFill/>
          </a:ln>
        </p:spPr>
        <p:txBody>
          <a:bodyPr wrap="square" lIns="0" tIns="0" rIns="0" bIns="0" anchor="t">
            <a:noAutofit/>
          </a:bodyPr>
          <a:lstStyle/>
          <a:p>
            <a:pPr algn="l"/>
            <a:r>
              <a:rPr lang="en-US" sz="1050" b="0" i="0" dirty="0">
                <a:solidFill>
                  <a:srgbClr val="5B6770"/>
                </a:solidFill>
                <a:latin typeface="Calibri"/>
                <a:cs typeface="Calibri"/>
              </a:rPr>
              <a:t xml:space="preserve">LLM judge: 58 tables, 290 competency questions. Experts: 4 medical tables, significant agreement (Kendall's W 0.39–0.72). Sources: paper Tables 1 and 12.</a:t>
            </a: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