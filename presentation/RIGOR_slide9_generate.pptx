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Lst>
  <p:sldSz cy="6858000" cx="12192000"/>
  <p:notesSz cx="6858000" cy="12192000"/>
  <p:embeddedFontLst>
    <p:embeddedFont>
      <p:font typeface="IBM Plex Sans"/>
      <p:regular r:id="rId6"/>
      <p:bold r:id="rId7"/>
      <p:italic r:id="rId8"/>
      <p:boldItalic r:id="rId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0" roundtripDataSignature="AMtx7midF0xlBtR0NSra8Nll/S3rz5mR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0" Type="http://customschemas.google.com/relationships/presentationmetadata" Target="metadata"/><Relationship Id="rId9" Type="http://schemas.openxmlformats.org/officeDocument/2006/relationships/font" Target="fonts/IBMPlexSans-boldItalic.fntdata"/><Relationship Id="rId5" Type="http://schemas.openxmlformats.org/officeDocument/2006/relationships/slide" Target="slides/slide1.xml"/><Relationship Id="rId6" Type="http://schemas.openxmlformats.org/officeDocument/2006/relationships/font" Target="fonts/IBMPlexSans-regular.fntdata"/><Relationship Id="rId7" Type="http://schemas.openxmlformats.org/officeDocument/2006/relationships/font" Target="fonts/IBMPlexSans-bold.fntdata"/><Relationship Id="rId8" Type="http://schemas.openxmlformats.org/officeDocument/2006/relationships/font" Target="fonts/IBMPlexSans-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h3b1f15762288d989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h3b1f15762288d989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[4:52–5:48]  SPOKEN SCRIPT (98 words)</a:t>
            </a:r>
          </a:p>
          <a:p>
            <a:r>
              <a:rPr b="0" i="0" lang="en-US" sz="1200" u="none" cap="none" strike="noStrike">
                <a:solidFill>
                  <a:schemeClr val="dk1"/>
                </a:solidFill>
                <a:latin typeface="IBM Plex Sans"/>
                <a:ea typeface="IBM Plex Sans"/>
                <a:cs typeface="IBM Plex Sans"/>
                <a:sym typeface="IBM Plex Sans"/>
              </a:rPr>
              <a:t>Step four: generate. We prompt the Gen-LLM with the direct mapping from step two, the retrieved context and our enrichment instructions. What comes back is a delta ontology: the same lines as on the left, with new ones inserted into the gaps. The tags show where each change came from. The foreign key becomes the named relation hasPatientData, and provenance links each property to its column: both from the schema. The labels come from the documentation, the link to bone marrow disease from the Disease Ontology, and the disjointness and the ECOG scale from the model's own knowledge.</a:t>
            </a:r>
          </a:p>
          <a:p/>
          <a:p>
            <a:r>
              <a:rPr b="0" i="0" lang="en-US" sz="1200" u="none" cap="none" strike="noStrike">
                <a:solidFill>
                  <a:schemeClr val="dk1"/>
                </a:solidFill>
                <a:latin typeface="IBM Plex Sans"/>
                <a:ea typeface="IBM Plex Sans"/>
                <a:cs typeface="IBM Plex Sans"/>
                <a:sym typeface="IBM Plex Sans"/>
              </a:rPr>
              <a:t>PRESENTER / POINTER: Left to right on one row, then down the highlighted lines and their tags.</a:t>
            </a:r>
          </a:p>
          <a:p>
            <a:r>
              <a:rPr b="0" i="0" lang="en-US" sz="1200" u="none" cap="none" strike="noStrike">
                <a:solidFill>
                  <a:schemeClr val="dk1"/>
                </a:solidFill>
                <a:latin typeface="IBM Plex Sans"/>
                <a:ea typeface="IBM Plex Sans"/>
                <a:cs typeface="IBM Plex Sans"/>
                <a:sym typeface="IBM Plex Sans"/>
              </a:rPr>
              <a:t>AUDIENCE TAKEAWAY: The LLM enriches a grounded draft, and every addition is traceable.</a:t>
            </a:r>
          </a:p>
          <a:p>
            <a:r>
              <a:rPr b="0" i="0" lang="en-US" sz="1200" u="none" cap="none" strike="noStrike">
                <a:solidFill>
                  <a:schemeClr val="dk1"/>
                </a:solidFill>
                <a:latin typeface="IBM Plex Sans"/>
                <a:ea typeface="IBM Plex Sans"/>
                <a:cs typeface="IBM Plex Sans"/>
                <a:sym typeface="IBM Plex Sans"/>
              </a:rPr>
              <a:t>SOURCE AND SCOPE: Paper Sections 3.2-3.4. Row-aligned BEFORE/AFTER, both verified with the OWL API.</a:t>
            </a:r>
          </a:p>
        </p:txBody>
      </p:sp>
      <p:sp>
        <p:nvSpPr>
          <p:cNvPr id="19" name="Google Shape;19;h3b1f15762288d989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h3b1f15762288d989_1_0"/>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22" name="Google Shape;22;h3b1f15762288d989_1_0"/>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23" name="Google Shape;23;h3b1f15762288d989_1_0"/>
          <p:cNvSpPr txBox="1"/>
          <p:nvPr/>
        </p:nvSpPr>
        <p:spPr>
          <a:xfrm>
            <a:off x="804672" y="1481328"/>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4" name="Google Shape;24;h3b1f15762288d989_1_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 name="Google Shape;25;h3b1f15762288d989_1_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26" name="Google Shape;26;h3b1f15762288d989_1_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 name="Google Shape;27;h3b1f15762288d989_1_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28" name="Google Shape;28;h3b1f15762288d989_1_0"/>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 name="Google Shape;29;h3b1f15762288d989_1_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30" name="Google Shape;30;h3b1f15762288d989_1_0"/>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 name="Google Shape;31;h3b1f15762288d989_1_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32" name="Google Shape;32;h3b1f15762288d989_1_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 name="Google Shape;33;h3b1f15762288d989_1_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34" name="Google Shape;34;h3b1f15762288d989_1_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 name="Google Shape;35;h3b1f15762288d989_1_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36" name="Google Shape;36;h3b1f15762288d989_1_0"/>
          <p:cNvSpPr/>
          <p:nvPr/>
        </p:nvSpPr>
        <p:spPr>
          <a:xfrm>
            <a:off x="505750" y="1847088"/>
            <a:ext cx="3241800" cy="3749039"/>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 name="Google Shape;37;h3b1f15762288d989_1_0"/>
          <p:cNvSpPr txBox="1"/>
          <p:nvPr/>
        </p:nvSpPr>
        <p:spPr>
          <a:xfrm>
            <a:off x="716065" y="1965960"/>
            <a:ext cx="287604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3A434C"/>
                </a:solidFill>
                <a:latin typeface="Consolas"/>
                <a:ea typeface="Consolas"/>
                <a:cs typeface="Consolas"/>
                <a:sym typeface="Consolas"/>
              </a:rPr>
              <a:t>BEFORE  /  DIRECT MAPPING</a:t>
            </a:r>
            <a:endParaRPr/>
          </a:p>
        </p:txBody>
      </p:sp>
      <p:sp>
        <p:nvSpPr>
          <p:cNvPr id="38" name="Google Shape;38;h3b1f15762288d989_1_0"/>
          <p:cNvSpPr txBox="1"/>
          <p:nvPr/>
        </p:nvSpPr>
        <p:spPr>
          <a:xfrm>
            <a:off x="3858768" y="3831336"/>
            <a:ext cx="832200" cy="184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200" u="none" cap="none" strike="noStrike">
                <a:solidFill>
                  <a:srgbClr val="0B6E4F"/>
                </a:solidFill>
                <a:latin typeface="Consolas"/>
                <a:ea typeface="Consolas"/>
                <a:cs typeface="Consolas"/>
                <a:sym typeface="Consolas"/>
              </a:rPr>
              <a:t>Gen-LLM</a:t>
            </a:r>
            <a:endParaRPr/>
          </a:p>
        </p:txBody>
      </p:sp>
      <p:sp>
        <p:nvSpPr>
          <p:cNvPr id="39" name="Google Shape;39;h3b1f15762288d989_1_0"/>
          <p:cNvSpPr/>
          <p:nvPr/>
        </p:nvSpPr>
        <p:spPr>
          <a:xfrm>
            <a:off x="4736600" y="1847088"/>
            <a:ext cx="6785100" cy="3749039"/>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 name="Google Shape;40;h3b1f15762288d989_1_0"/>
          <p:cNvSpPr txBox="1"/>
          <p:nvPr/>
        </p:nvSpPr>
        <p:spPr>
          <a:xfrm>
            <a:off x="5079717" y="1965960"/>
            <a:ext cx="60168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50" u="none" cap="none" strike="noStrike">
                <a:solidFill>
                  <a:srgbClr val="2F6B78"/>
                </a:solidFill>
                <a:latin typeface="Consolas"/>
                <a:ea typeface="Consolas"/>
                <a:cs typeface="Consolas"/>
                <a:sym typeface="Consolas"/>
              </a:rPr>
              <a:t>AFTER  /  ENRICHED ΔOᵣ (delta ontology)</a:t>
            </a:r>
            <a:endParaRPr/>
          </a:p>
        </p:txBody>
      </p:sp>
      <p:sp>
        <p:nvSpPr>
          <p:cNvPr id="61" name="Google Shape;61;h3b1f15762288d989_1_0"/>
          <p:cNvSpPr/>
          <p:nvPr/>
        </p:nvSpPr>
        <p:spPr>
          <a:xfrm>
            <a:off x="4037163" y="3419856"/>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 name="Code panel"/>
          <p:cNvSpPr/>
          <p:nvPr/>
        </p:nvSpPr>
        <p:spPr>
          <a:xfrm>
            <a:off x="652054" y="2249424"/>
            <a:ext cx="2949192" cy="3236976"/>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63" name="Code panel"/>
          <p:cNvSpPr/>
          <p:nvPr/>
        </p:nvSpPr>
        <p:spPr>
          <a:xfrm>
            <a:off x="5038352" y="2249424"/>
            <a:ext cx="6236460" cy="3236976"/>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64" name="Code line 64"/>
          <p:cNvSpPr txBox="1"/>
          <p:nvPr/>
        </p:nvSpPr>
        <p:spPr>
          <a:xfrm>
            <a:off x="652054" y="2322576"/>
            <a:ext cx="2903472"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p:txBody>
      </p:sp>
      <p:sp>
        <p:nvSpPr>
          <p:cNvPr id="65" name="Code line 65"/>
          <p:cNvSpPr txBox="1"/>
          <p:nvPr/>
        </p:nvSpPr>
        <p:spPr>
          <a:xfrm>
            <a:off x="5038352" y="2322576"/>
            <a:ext cx="5093460"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p:txBody>
      </p:sp>
      <p:sp>
        <p:nvSpPr>
          <p:cNvPr id="66" name="Code line 66"/>
          <p:cNvSpPr txBox="1"/>
          <p:nvPr/>
        </p:nvSpPr>
        <p:spPr>
          <a:xfrm>
            <a:off x="652054" y="2485242"/>
            <a:ext cx="2903472"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p:txBody>
      </p:sp>
      <p:sp>
        <p:nvSpPr>
          <p:cNvPr id="67" name="Code line 67"/>
          <p:cNvSpPr txBox="1"/>
          <p:nvPr/>
        </p:nvSpPr>
        <p:spPr>
          <a:xfrm>
            <a:off x="5038352" y="2485242"/>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p:txBody>
      </p:sp>
      <p:sp>
        <p:nvSpPr>
          <p:cNvPr id="68" name="Code line 68"/>
          <p:cNvSpPr txBox="1"/>
          <p:nvPr/>
        </p:nvSpPr>
        <p:spPr>
          <a:xfrm>
            <a:off x="652054" y="2647909"/>
            <a:ext cx="2903472"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p:txBody>
      </p:sp>
      <p:sp>
        <p:nvSpPr>
          <p:cNvPr id="69" name="Code line 69"/>
          <p:cNvSpPr txBox="1"/>
          <p:nvPr/>
        </p:nvSpPr>
        <p:spPr>
          <a:xfrm>
            <a:off x="5038352" y="2647909"/>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p:txBody>
      </p:sp>
      <p:sp>
        <p:nvSpPr>
          <p:cNvPr id="70" name="Code line 70"/>
          <p:cNvSpPr txBox="1"/>
          <p:nvPr/>
        </p:nvSpPr>
        <p:spPr>
          <a:xfrm>
            <a:off x="652054" y="2810576"/>
            <a:ext cx="2903472"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p:txBody>
      </p:sp>
      <p:sp>
        <p:nvSpPr>
          <p:cNvPr id="71" name="Renamed name"/>
          <p:cNvSpPr/>
          <p:nvPr/>
        </p:nvSpPr>
        <p:spPr>
          <a:xfrm>
            <a:off x="5464452" y="2815148"/>
            <a:ext cx="1130162" cy="153522"/>
          </a:xfrm>
          <a:prstGeom prst="rect">
            <a:avLst/>
          </a:prstGeom>
          <a:solidFill>
            <a:srgbClr val="DCF2E6"/>
          </a:solidFill>
          <a:ln>
            <a:noFill/>
          </a:ln>
        </p:spPr>
        <p:txBody>
          <a:bodyPr wrap="square" lIns="0" tIns="0" rIns="0" bIns="0" anchor="ctr">
            <a:noAutofit/>
          </a:bodyPr>
          <a:lstStyle/>
          <a:p>
            <a:endParaRPr lang="en-US"/>
          </a:p>
        </p:txBody>
      </p:sp>
      <p:sp>
        <p:nvSpPr>
          <p:cNvPr id="72" name="Code line 72"/>
          <p:cNvSpPr txBox="1"/>
          <p:nvPr/>
        </p:nvSpPr>
        <p:spPr>
          <a:xfrm>
            <a:off x="5038352" y="2810576"/>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hasPatientData</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p:txBody>
      </p:sp>
      <p:sp>
        <p:nvSpPr>
          <p:cNvPr id="73" name="Evidence tag"/>
          <p:cNvSpPr/>
          <p:nvPr/>
        </p:nvSpPr>
        <p:spPr>
          <a:xfrm>
            <a:off x="10177532" y="2819720"/>
            <a:ext cx="987552" cy="144378"/>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
        <p:nvSpPr>
          <p:cNvPr id="74" name="Code line 74"/>
          <p:cNvSpPr txBox="1"/>
          <p:nvPr/>
        </p:nvSpPr>
        <p:spPr>
          <a:xfrm>
            <a:off x="652054" y="2973243"/>
            <a:ext cx="2903472"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p:txBody>
      </p:sp>
      <p:sp>
        <p:nvSpPr>
          <p:cNvPr id="75" name="Code line 75"/>
          <p:cNvSpPr txBox="1"/>
          <p:nvPr/>
        </p:nvSpPr>
        <p:spPr>
          <a:xfrm>
            <a:off x="5038352" y="2973243"/>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p:txBody>
      </p:sp>
      <p:sp>
        <p:nvSpPr>
          <p:cNvPr id="76" name="Code line 76"/>
          <p:cNvSpPr txBox="1"/>
          <p:nvPr/>
        </p:nvSpPr>
        <p:spPr>
          <a:xfrm>
            <a:off x="652054" y="3135910"/>
            <a:ext cx="2903472"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77" name="Code line 77"/>
          <p:cNvSpPr txBox="1"/>
          <p:nvPr/>
        </p:nvSpPr>
        <p:spPr>
          <a:xfrm>
            <a:off x="5038352" y="3135910"/>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78" name="Inserted row"/>
          <p:cNvSpPr/>
          <p:nvPr/>
        </p:nvSpPr>
        <p:spPr>
          <a:xfrm>
            <a:off x="5093216" y="3303149"/>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79" name="Insertion mark"/>
          <p:cNvSpPr/>
          <p:nvPr/>
        </p:nvSpPr>
        <p:spPr>
          <a:xfrm>
            <a:off x="5093216" y="3303149"/>
            <a:ext cx="36576" cy="153522"/>
          </a:xfrm>
          <a:prstGeom prst="rect">
            <a:avLst/>
          </a:prstGeom>
          <a:solidFill>
            <a:srgbClr val="0B6E4F"/>
          </a:solidFill>
          <a:ln>
            <a:noFill/>
          </a:ln>
        </p:spPr>
        <p:txBody>
          <a:bodyPr wrap="square" lIns="0" tIns="0" rIns="0" bIns="0" anchor="ctr">
            <a:noAutofit/>
          </a:bodyPr>
          <a:lstStyle/>
          <a:p>
            <a:endParaRPr lang="en-US"/>
          </a:p>
        </p:txBody>
      </p:sp>
      <p:sp>
        <p:nvSpPr>
          <p:cNvPr id="80" name="Code line 80"/>
          <p:cNvSpPr txBox="1"/>
          <p:nvPr/>
        </p:nvSpPr>
        <p:spPr>
          <a:xfrm>
            <a:off x="5038352" y="3298577"/>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DisjointWith:</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endParaRPr lang="en-US" sz="1100"/>
          </a:p>
        </p:txBody>
      </p:sp>
      <p:sp>
        <p:nvSpPr>
          <p:cNvPr id="81" name="Evidence tag"/>
          <p:cNvSpPr/>
          <p:nvPr/>
        </p:nvSpPr>
        <p:spPr>
          <a:xfrm>
            <a:off x="10177532" y="3307721"/>
            <a:ext cx="987552" cy="144378"/>
          </a:xfrm>
          <a:prstGeom prst="roundRect">
            <a:avLst>
              <a:gd name="adj" fmla="val 9000"/>
            </a:avLst>
          </a:prstGeom>
          <a:solidFill>
            <a:srgbClr val="FFFFFF"/>
          </a:solidFill>
          <a:ln w="9525">
            <a:solidFill>
              <a:srgbClr val="6F42C1"/>
            </a:solidFill>
          </a:ln>
        </p:spPr>
        <p:txBody>
          <a:bodyPr wrap="square" lIns="0" tIns="0" rIns="0" bIns="0" anchor="ctr">
            <a:noAutofit/>
          </a:bodyPr>
          <a:lstStyle/>
          <a:p>
            <a:pPr algn="ctr">
              <a:spcAft>
                <a:spcPts val="0"/>
              </a:spcAft>
            </a:pPr>
            <a:r>
              <a:rPr lang="en-US" sz="850" b="1" i="0" dirty="0">
                <a:solidFill>
                  <a:srgbClr val="6F42C1"/>
                </a:solidFill>
                <a:latin typeface="Consolas"/>
                <a:cs typeface="Consolas"/>
              </a:rPr>
              <a:t xml:space="preserve">LLM</a:t>
            </a:r>
          </a:p>
        </p:txBody>
      </p:sp>
      <p:sp>
        <p:nvSpPr>
          <p:cNvPr id="82" name="Code line 82"/>
          <p:cNvSpPr txBox="1"/>
          <p:nvPr/>
        </p:nvSpPr>
        <p:spPr>
          <a:xfrm>
            <a:off x="652054" y="3461244"/>
            <a:ext cx="2903472"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admission_id</a:t>
            </a:r>
            <a:endParaRPr lang="en-US" sz="1100"/>
          </a:p>
        </p:txBody>
      </p:sp>
      <p:sp>
        <p:nvSpPr>
          <p:cNvPr id="83" name="Code line 83"/>
          <p:cNvSpPr txBox="1"/>
          <p:nvPr/>
        </p:nvSpPr>
        <p:spPr>
          <a:xfrm>
            <a:off x="5038352" y="3461244"/>
            <a:ext cx="5093460"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admission_id</a:t>
            </a:r>
            <a:endParaRPr lang="en-US" sz="1100"/>
          </a:p>
        </p:txBody>
      </p:sp>
      <p:sp>
        <p:nvSpPr>
          <p:cNvPr id="84" name="Code line 84"/>
          <p:cNvSpPr txBox="1"/>
          <p:nvPr/>
        </p:nvSpPr>
        <p:spPr>
          <a:xfrm>
            <a:off x="652054" y="3623911"/>
            <a:ext cx="2903472"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ObjectProperty: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endParaRPr lang="en-US" sz="1100"/>
          </a:p>
        </p:txBody>
      </p:sp>
      <p:sp>
        <p:nvSpPr>
          <p:cNvPr id="85" name="Renamed name"/>
          <p:cNvSpPr/>
          <p:nvPr/>
        </p:nvSpPr>
        <p:spPr>
          <a:xfrm>
            <a:off x="6386136" y="3628483"/>
            <a:ext cx="1130162" cy="153522"/>
          </a:xfrm>
          <a:prstGeom prst="rect">
            <a:avLst/>
          </a:prstGeom>
          <a:solidFill>
            <a:srgbClr val="DCF2E6"/>
          </a:solidFill>
          <a:ln>
            <a:noFill/>
          </a:ln>
        </p:spPr>
        <p:txBody>
          <a:bodyPr wrap="square" lIns="0" tIns="0" rIns="0" bIns="0" anchor="ctr">
            <a:noAutofit/>
          </a:bodyPr>
          <a:lstStyle/>
          <a:p>
            <a:endParaRPr lang="en-US"/>
          </a:p>
        </p:txBody>
      </p:sp>
      <p:sp>
        <p:nvSpPr>
          <p:cNvPr id="86" name="Code line 86"/>
          <p:cNvSpPr txBox="1"/>
          <p:nvPr/>
        </p:nvSpPr>
        <p:spPr>
          <a:xfrm>
            <a:off x="5038352" y="3623911"/>
            <a:ext cx="5093460"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ObjectProperty: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hasPatientData</a:t>
            </a:r>
            <a:endParaRPr lang="en-US" sz="1100"/>
          </a:p>
        </p:txBody>
      </p:sp>
      <p:sp>
        <p:nvSpPr>
          <p:cNvPr id="87" name="Evidence tag"/>
          <p:cNvSpPr/>
          <p:nvPr/>
        </p:nvSpPr>
        <p:spPr>
          <a:xfrm>
            <a:off x="10177532" y="3633055"/>
            <a:ext cx="987552" cy="144378"/>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
        <p:nvSpPr>
          <p:cNvPr id="88" name="Code line 88"/>
          <p:cNvSpPr txBox="1"/>
          <p:nvPr/>
        </p:nvSpPr>
        <p:spPr>
          <a:xfrm>
            <a:off x="652054" y="3786578"/>
            <a:ext cx="2903472"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endParaRPr lang="en-US" sz="1100"/>
          </a:p>
        </p:txBody>
      </p:sp>
      <p:sp>
        <p:nvSpPr>
          <p:cNvPr id="89" name="Code line 89"/>
          <p:cNvSpPr txBox="1"/>
          <p:nvPr/>
        </p:nvSpPr>
        <p:spPr>
          <a:xfrm>
            <a:off x="5038352" y="3786578"/>
            <a:ext cx="5093460"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endParaRPr lang="en-US" sz="1100"/>
          </a:p>
        </p:txBody>
      </p:sp>
      <p:sp>
        <p:nvSpPr>
          <p:cNvPr id="90" name="Inserted row"/>
          <p:cNvSpPr/>
          <p:nvPr/>
        </p:nvSpPr>
        <p:spPr>
          <a:xfrm>
            <a:off x="5093216" y="3953817"/>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91" name="Insertion mark"/>
          <p:cNvSpPr/>
          <p:nvPr/>
        </p:nvSpPr>
        <p:spPr>
          <a:xfrm>
            <a:off x="5093216" y="3953817"/>
            <a:ext cx="36576" cy="153522"/>
          </a:xfrm>
          <a:prstGeom prst="rect">
            <a:avLst/>
          </a:prstGeom>
          <a:solidFill>
            <a:srgbClr val="0B6E4F"/>
          </a:solidFill>
          <a:ln>
            <a:noFill/>
          </a:ln>
        </p:spPr>
        <p:txBody>
          <a:bodyPr wrap="square" lIns="0" tIns="0" rIns="0" bIns="0" anchor="ctr">
            <a:noAutofit/>
          </a:bodyPr>
          <a:lstStyle/>
          <a:p>
            <a:endParaRPr lang="en-US"/>
          </a:p>
        </p:txBody>
      </p:sp>
      <p:sp>
        <p:nvSpPr>
          <p:cNvPr id="92" name="Code line 92"/>
          <p:cNvSpPr txBox="1"/>
          <p:nvPr/>
        </p:nvSpPr>
        <p:spPr>
          <a:xfrm>
            <a:off x="5038352" y="3949245"/>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p:txBody>
      </p:sp>
      <p:sp>
        <p:nvSpPr>
          <p:cNvPr id="93" name="Inserted row"/>
          <p:cNvSpPr/>
          <p:nvPr/>
        </p:nvSpPr>
        <p:spPr>
          <a:xfrm>
            <a:off x="5093216" y="4116484"/>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94" name="Insertion mark"/>
          <p:cNvSpPr/>
          <p:nvPr/>
        </p:nvSpPr>
        <p:spPr>
          <a:xfrm>
            <a:off x="5093216" y="4116484"/>
            <a:ext cx="36576" cy="153522"/>
          </a:xfrm>
          <a:prstGeom prst="rect">
            <a:avLst/>
          </a:prstGeom>
          <a:solidFill>
            <a:srgbClr val="0B6E4F"/>
          </a:solidFill>
          <a:ln>
            <a:noFill/>
          </a:ln>
        </p:spPr>
        <p:txBody>
          <a:bodyPr wrap="square" lIns="0" tIns="0" rIns="0" bIns="0" anchor="ctr">
            <a:noAutofit/>
          </a:bodyPr>
          <a:lstStyle/>
          <a:p>
            <a:endParaRPr lang="en-US"/>
          </a:p>
        </p:txBody>
      </p:sp>
      <p:sp>
        <p:nvSpPr>
          <p:cNvPr id="95" name="Code line 95"/>
          <p:cNvSpPr txBox="1"/>
          <p:nvPr/>
        </p:nvSpPr>
        <p:spPr>
          <a:xfrm>
            <a:off x="5038352" y="4111912"/>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rdfs:label</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"Bone Marrow Depression"@en</a:t>
            </a:r>
            <a:r>
              <a:rPr lang="en-US" sz="1100" b="0" i="0" dirty="0">
                <a:solidFill>
                  <a:srgbClr val="1F2328"/>
                </a:solidFill>
                <a:latin typeface="Consolas"/>
                <a:cs typeface="Consolas"/>
              </a:rPr>
              <a:t xml:space="preserve">,</a:t>
            </a:r>
            <a:endParaRPr lang="en-US" sz="1100"/>
          </a:p>
        </p:txBody>
      </p:sp>
      <p:sp>
        <p:nvSpPr>
          <p:cNvPr id="96" name="Evidence tag"/>
          <p:cNvSpPr/>
          <p:nvPr/>
        </p:nvSpPr>
        <p:spPr>
          <a:xfrm>
            <a:off x="10177532" y="4121056"/>
            <a:ext cx="987552" cy="144378"/>
          </a:xfrm>
          <a:prstGeom prst="roundRect">
            <a:avLst>
              <a:gd name="adj" fmla="val 9000"/>
            </a:avLst>
          </a:prstGeom>
          <a:solidFill>
            <a:srgbClr val="FFFFFF"/>
          </a:solidFill>
          <a:ln w="9525">
            <a:solidFill>
              <a:srgbClr val="2F6B78"/>
            </a:solidFill>
          </a:ln>
        </p:spPr>
        <p:txBody>
          <a:bodyPr wrap="square" lIns="0" tIns="0" rIns="0" bIns="0" anchor="ctr">
            <a:noAutofit/>
          </a:bodyPr>
          <a:lstStyle/>
          <a:p>
            <a:pPr algn="ctr">
              <a:spcAft>
                <a:spcPts val="0"/>
              </a:spcAft>
            </a:pPr>
            <a:r>
              <a:rPr lang="en-US" sz="850" b="1" i="0" dirty="0">
                <a:solidFill>
                  <a:srgbClr val="2F6B78"/>
                </a:solidFill>
                <a:latin typeface="Consolas"/>
                <a:cs typeface="Consolas"/>
              </a:rPr>
              <a:t xml:space="preserve">DOCS</a:t>
            </a:r>
          </a:p>
        </p:txBody>
      </p:sp>
      <p:sp>
        <p:nvSpPr>
          <p:cNvPr id="97" name="Inserted row"/>
          <p:cNvSpPr/>
          <p:nvPr/>
        </p:nvSpPr>
        <p:spPr>
          <a:xfrm>
            <a:off x="5093216" y="4279151"/>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98" name="Insertion mark"/>
          <p:cNvSpPr/>
          <p:nvPr/>
        </p:nvSpPr>
        <p:spPr>
          <a:xfrm>
            <a:off x="5093216" y="4279151"/>
            <a:ext cx="36576" cy="153522"/>
          </a:xfrm>
          <a:prstGeom prst="rect">
            <a:avLst/>
          </a:prstGeom>
          <a:solidFill>
            <a:srgbClr val="0B6E4F"/>
          </a:solidFill>
          <a:ln>
            <a:noFill/>
          </a:ln>
        </p:spPr>
        <p:txBody>
          <a:bodyPr wrap="square" lIns="0" tIns="0" rIns="0" bIns="0" anchor="ctr">
            <a:noAutofit/>
          </a:bodyPr>
          <a:lstStyle/>
          <a:p>
            <a:endParaRPr lang="en-US"/>
          </a:p>
        </p:txBody>
      </p:sp>
      <p:sp>
        <p:nvSpPr>
          <p:cNvPr id="99" name="Code line 99"/>
          <p:cNvSpPr txBox="1"/>
          <p:nvPr/>
        </p:nvSpPr>
        <p:spPr>
          <a:xfrm>
            <a:off x="5038352" y="4274579"/>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skos:relatedMatch</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obo:DOID_4961</a:t>
            </a:r>
            <a:r>
              <a:rPr lang="en-US" sz="1100" b="0" i="0" dirty="0">
                <a:solidFill>
                  <a:srgbClr val="1F2328"/>
                </a:solidFill>
                <a:latin typeface="Consolas"/>
                <a:cs typeface="Consolas"/>
              </a:rPr>
              <a:t xml:space="preserve">,</a:t>
            </a:r>
            <a:endParaRPr lang="en-US" sz="1100"/>
          </a:p>
        </p:txBody>
      </p:sp>
      <p:sp>
        <p:nvSpPr>
          <p:cNvPr id="100" name="Evidence tag"/>
          <p:cNvSpPr/>
          <p:nvPr/>
        </p:nvSpPr>
        <p:spPr>
          <a:xfrm>
            <a:off x="10177532" y="4283723"/>
            <a:ext cx="987552" cy="144378"/>
          </a:xfrm>
          <a:prstGeom prst="roundRect">
            <a:avLst>
              <a:gd name="adj" fmla="val 9000"/>
            </a:avLst>
          </a:prstGeom>
          <a:solidFill>
            <a:srgbClr val="FFFFFF"/>
          </a:solidFill>
          <a:ln w="9525">
            <a:solidFill>
              <a:srgbClr val="0B6E4F"/>
            </a:solidFill>
          </a:ln>
        </p:spPr>
        <p:txBody>
          <a:bodyPr wrap="square" lIns="0" tIns="0" rIns="0" bIns="0" anchor="ctr">
            <a:noAutofit/>
          </a:bodyPr>
          <a:lstStyle/>
          <a:p>
            <a:pPr algn="ctr">
              <a:spcAft>
                <a:spcPts val="0"/>
              </a:spcAft>
            </a:pPr>
            <a:r>
              <a:rPr lang="en-US" sz="850" b="1" i="0" dirty="0">
                <a:solidFill>
                  <a:srgbClr val="0B6E4F"/>
                </a:solidFill>
                <a:latin typeface="Consolas"/>
                <a:cs typeface="Consolas"/>
              </a:rPr>
              <a:t xml:space="preserve">ONTOLOGY</a:t>
            </a:r>
          </a:p>
        </p:txBody>
      </p:sp>
      <p:sp>
        <p:nvSpPr>
          <p:cNvPr id="101" name="Inserted row"/>
          <p:cNvSpPr/>
          <p:nvPr/>
        </p:nvSpPr>
        <p:spPr>
          <a:xfrm>
            <a:off x="5093216" y="4441818"/>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102" name="Insertion mark"/>
          <p:cNvSpPr/>
          <p:nvPr/>
        </p:nvSpPr>
        <p:spPr>
          <a:xfrm>
            <a:off x="5093216" y="4441818"/>
            <a:ext cx="36576" cy="153522"/>
          </a:xfrm>
          <a:prstGeom prst="rect">
            <a:avLst/>
          </a:prstGeom>
          <a:solidFill>
            <a:srgbClr val="0B6E4F"/>
          </a:solidFill>
          <a:ln>
            <a:noFill/>
          </a:ln>
        </p:spPr>
        <p:txBody>
          <a:bodyPr wrap="square" lIns="0" tIns="0" rIns="0" bIns="0" anchor="ctr">
            <a:noAutofit/>
          </a:bodyPr>
          <a:lstStyle/>
          <a:p>
            <a:endParaRPr lang="en-US"/>
          </a:p>
        </p:txBody>
      </p:sp>
      <p:sp>
        <p:nvSpPr>
          <p:cNvPr id="103" name="Code line 103"/>
          <p:cNvSpPr txBox="1"/>
          <p:nvPr/>
        </p:nvSpPr>
        <p:spPr>
          <a:xfrm>
            <a:off x="5038352" y="4437246"/>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admission:BM_DEP</a:t>
            </a:r>
            <a:endParaRPr lang="en-US" sz="1100"/>
          </a:p>
        </p:txBody>
      </p:sp>
      <p:sp>
        <p:nvSpPr>
          <p:cNvPr id="104" name="Evidence tag"/>
          <p:cNvSpPr/>
          <p:nvPr/>
        </p:nvSpPr>
        <p:spPr>
          <a:xfrm>
            <a:off x="10177532" y="4446390"/>
            <a:ext cx="987552" cy="144378"/>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
        <p:nvSpPr>
          <p:cNvPr id="105" name="Code line 105"/>
          <p:cNvSpPr txBox="1"/>
          <p:nvPr/>
        </p:nvSpPr>
        <p:spPr>
          <a:xfrm>
            <a:off x="652054" y="4599913"/>
            <a:ext cx="2903472"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endParaRPr lang="en-US" sz="1100"/>
          </a:p>
        </p:txBody>
      </p:sp>
      <p:sp>
        <p:nvSpPr>
          <p:cNvPr id="106" name="Code line 106"/>
          <p:cNvSpPr txBox="1"/>
          <p:nvPr/>
        </p:nvSpPr>
        <p:spPr>
          <a:xfrm>
            <a:off x="5038352" y="4599913"/>
            <a:ext cx="5093460" cy="162666"/>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DataProperty:</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endParaRPr lang="en-US" sz="1100"/>
          </a:p>
        </p:txBody>
      </p:sp>
      <p:sp>
        <p:nvSpPr>
          <p:cNvPr id="107" name="Inserted row"/>
          <p:cNvSpPr/>
          <p:nvPr/>
        </p:nvSpPr>
        <p:spPr>
          <a:xfrm>
            <a:off x="5093216" y="4767152"/>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108" name="Insertion mark"/>
          <p:cNvSpPr/>
          <p:nvPr/>
        </p:nvSpPr>
        <p:spPr>
          <a:xfrm>
            <a:off x="5093216" y="4767152"/>
            <a:ext cx="36576" cy="153522"/>
          </a:xfrm>
          <a:prstGeom prst="rect">
            <a:avLst/>
          </a:prstGeom>
          <a:solidFill>
            <a:srgbClr val="0B6E4F"/>
          </a:solidFill>
          <a:ln>
            <a:noFill/>
          </a:ln>
        </p:spPr>
        <p:txBody>
          <a:bodyPr wrap="square" lIns="0" tIns="0" rIns="0" bIns="0" anchor="ctr">
            <a:noAutofit/>
          </a:bodyPr>
          <a:lstStyle/>
          <a:p>
            <a:endParaRPr lang="en-US"/>
          </a:p>
        </p:txBody>
      </p:sp>
      <p:sp>
        <p:nvSpPr>
          <p:cNvPr id="109" name="Code line 109"/>
          <p:cNvSpPr txBox="1"/>
          <p:nvPr/>
        </p:nvSpPr>
        <p:spPr>
          <a:xfrm>
            <a:off x="5038352" y="4762580"/>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p:txBody>
      </p:sp>
      <p:sp>
        <p:nvSpPr>
          <p:cNvPr id="110" name="Inserted row"/>
          <p:cNvSpPr/>
          <p:nvPr/>
        </p:nvSpPr>
        <p:spPr>
          <a:xfrm>
            <a:off x="5093216" y="4929819"/>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111" name="Insertion mark"/>
          <p:cNvSpPr/>
          <p:nvPr/>
        </p:nvSpPr>
        <p:spPr>
          <a:xfrm>
            <a:off x="5093216" y="4929819"/>
            <a:ext cx="36576" cy="153522"/>
          </a:xfrm>
          <a:prstGeom prst="rect">
            <a:avLst/>
          </a:prstGeom>
          <a:solidFill>
            <a:srgbClr val="0B6E4F"/>
          </a:solidFill>
          <a:ln>
            <a:noFill/>
          </a:ln>
        </p:spPr>
        <p:txBody>
          <a:bodyPr wrap="square" lIns="0" tIns="0" rIns="0" bIns="0" anchor="ctr">
            <a:noAutofit/>
          </a:bodyPr>
          <a:lstStyle/>
          <a:p>
            <a:endParaRPr lang="en-US"/>
          </a:p>
        </p:txBody>
      </p:sp>
      <p:sp>
        <p:nvSpPr>
          <p:cNvPr id="112" name="Code line 112"/>
          <p:cNvSpPr txBox="1"/>
          <p:nvPr/>
        </p:nvSpPr>
        <p:spPr>
          <a:xfrm>
            <a:off x="5038352" y="4925247"/>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rdfs:label</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"ECOG Performance Status"@en</a:t>
            </a:r>
            <a:r>
              <a:rPr lang="en-US" sz="1100" b="0" i="0" dirty="0">
                <a:solidFill>
                  <a:srgbClr val="1F2328"/>
                </a:solidFill>
                <a:latin typeface="Consolas"/>
                <a:cs typeface="Consolas"/>
              </a:rPr>
              <a:t xml:space="preserve">,</a:t>
            </a:r>
            <a:endParaRPr lang="en-US" sz="1100"/>
          </a:p>
        </p:txBody>
      </p:sp>
      <p:sp>
        <p:nvSpPr>
          <p:cNvPr id="113" name="Evidence tag"/>
          <p:cNvSpPr/>
          <p:nvPr/>
        </p:nvSpPr>
        <p:spPr>
          <a:xfrm>
            <a:off x="10177532" y="4934391"/>
            <a:ext cx="987552" cy="144378"/>
          </a:xfrm>
          <a:prstGeom prst="roundRect">
            <a:avLst>
              <a:gd name="adj" fmla="val 9000"/>
            </a:avLst>
          </a:prstGeom>
          <a:solidFill>
            <a:srgbClr val="FFFFFF"/>
          </a:solidFill>
          <a:ln w="9525">
            <a:solidFill>
              <a:srgbClr val="2F6B78"/>
            </a:solidFill>
          </a:ln>
        </p:spPr>
        <p:txBody>
          <a:bodyPr wrap="square" lIns="0" tIns="0" rIns="0" bIns="0" anchor="ctr">
            <a:noAutofit/>
          </a:bodyPr>
          <a:lstStyle/>
          <a:p>
            <a:pPr algn="ctr">
              <a:spcAft>
                <a:spcPts val="0"/>
              </a:spcAft>
            </a:pPr>
            <a:r>
              <a:rPr lang="en-US" sz="850" b="1" i="0" dirty="0">
                <a:solidFill>
                  <a:srgbClr val="2F6B78"/>
                </a:solidFill>
                <a:latin typeface="Consolas"/>
                <a:cs typeface="Consolas"/>
              </a:rPr>
              <a:t xml:space="preserve">DOCS</a:t>
            </a:r>
          </a:p>
        </p:txBody>
      </p:sp>
      <p:sp>
        <p:nvSpPr>
          <p:cNvPr id="114" name="Inserted row"/>
          <p:cNvSpPr/>
          <p:nvPr/>
        </p:nvSpPr>
        <p:spPr>
          <a:xfrm>
            <a:off x="5093216" y="5092486"/>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115" name="Insertion mark"/>
          <p:cNvSpPr/>
          <p:nvPr/>
        </p:nvSpPr>
        <p:spPr>
          <a:xfrm>
            <a:off x="5093216" y="5092486"/>
            <a:ext cx="36576" cy="153522"/>
          </a:xfrm>
          <a:prstGeom prst="rect">
            <a:avLst/>
          </a:prstGeom>
          <a:solidFill>
            <a:srgbClr val="0B6E4F"/>
          </a:solidFill>
          <a:ln>
            <a:noFill/>
          </a:ln>
        </p:spPr>
        <p:txBody>
          <a:bodyPr wrap="square" lIns="0" tIns="0" rIns="0" bIns="0" anchor="ctr">
            <a:noAutofit/>
          </a:bodyPr>
          <a:lstStyle/>
          <a:p>
            <a:endParaRPr lang="en-US"/>
          </a:p>
        </p:txBody>
      </p:sp>
      <p:sp>
        <p:nvSpPr>
          <p:cNvPr id="116" name="Code line 116"/>
          <p:cNvSpPr txBox="1"/>
          <p:nvPr/>
        </p:nvSpPr>
        <p:spPr>
          <a:xfrm>
            <a:off x="5038352" y="5087914"/>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rdfs:comment</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"0 = fully active … 5 = dead"@en</a:t>
            </a:r>
            <a:r>
              <a:rPr lang="en-US" sz="1100" b="0" i="0" dirty="0">
                <a:solidFill>
                  <a:srgbClr val="1F2328"/>
                </a:solidFill>
                <a:latin typeface="Consolas"/>
                <a:cs typeface="Consolas"/>
              </a:rPr>
              <a:t xml:space="preserve">,</a:t>
            </a:r>
            <a:endParaRPr lang="en-US" sz="1100"/>
          </a:p>
        </p:txBody>
      </p:sp>
      <p:sp>
        <p:nvSpPr>
          <p:cNvPr id="117" name="Evidence tag"/>
          <p:cNvSpPr/>
          <p:nvPr/>
        </p:nvSpPr>
        <p:spPr>
          <a:xfrm>
            <a:off x="10177532" y="5097058"/>
            <a:ext cx="987552" cy="144378"/>
          </a:xfrm>
          <a:prstGeom prst="roundRect">
            <a:avLst>
              <a:gd name="adj" fmla="val 9000"/>
            </a:avLst>
          </a:prstGeom>
          <a:solidFill>
            <a:srgbClr val="FFFFFF"/>
          </a:solidFill>
          <a:ln w="9525">
            <a:solidFill>
              <a:srgbClr val="6F42C1"/>
            </a:solidFill>
          </a:ln>
        </p:spPr>
        <p:txBody>
          <a:bodyPr wrap="square" lIns="0" tIns="0" rIns="0" bIns="0" anchor="ctr">
            <a:noAutofit/>
          </a:bodyPr>
          <a:lstStyle/>
          <a:p>
            <a:pPr algn="ctr">
              <a:spcAft>
                <a:spcPts val="0"/>
              </a:spcAft>
            </a:pPr>
            <a:r>
              <a:rPr lang="en-US" sz="850" b="1" i="0" dirty="0">
                <a:solidFill>
                  <a:srgbClr val="6F42C1"/>
                </a:solidFill>
                <a:latin typeface="Consolas"/>
                <a:cs typeface="Consolas"/>
              </a:rPr>
              <a:t xml:space="preserve">LLM</a:t>
            </a:r>
          </a:p>
        </p:txBody>
      </p:sp>
      <p:sp>
        <p:nvSpPr>
          <p:cNvPr id="118" name="Inserted row"/>
          <p:cNvSpPr/>
          <p:nvPr/>
        </p:nvSpPr>
        <p:spPr>
          <a:xfrm>
            <a:off x="5093216" y="5255153"/>
            <a:ext cx="6126732" cy="153522"/>
          </a:xfrm>
          <a:prstGeom prst="rect">
            <a:avLst/>
          </a:prstGeom>
          <a:solidFill>
            <a:srgbClr val="DCF2E6"/>
          </a:solidFill>
          <a:ln>
            <a:noFill/>
          </a:ln>
        </p:spPr>
        <p:txBody>
          <a:bodyPr wrap="square" lIns="0" tIns="0" rIns="0" bIns="0" anchor="ctr">
            <a:noAutofit/>
          </a:bodyPr>
          <a:lstStyle/>
          <a:p>
            <a:endParaRPr lang="en-US"/>
          </a:p>
        </p:txBody>
      </p:sp>
      <p:sp>
        <p:nvSpPr>
          <p:cNvPr id="119" name="Insertion mark"/>
          <p:cNvSpPr/>
          <p:nvPr/>
        </p:nvSpPr>
        <p:spPr>
          <a:xfrm>
            <a:off x="5093216" y="5255153"/>
            <a:ext cx="36576" cy="153522"/>
          </a:xfrm>
          <a:prstGeom prst="rect">
            <a:avLst/>
          </a:prstGeom>
          <a:solidFill>
            <a:srgbClr val="0B6E4F"/>
          </a:solidFill>
          <a:ln>
            <a:noFill/>
          </a:ln>
        </p:spPr>
        <p:txBody>
          <a:bodyPr wrap="square" lIns="0" tIns="0" rIns="0" bIns="0" anchor="ctr">
            <a:noAutofit/>
          </a:bodyPr>
          <a:lstStyle/>
          <a:p>
            <a:endParaRPr lang="en-US"/>
          </a:p>
        </p:txBody>
      </p:sp>
      <p:sp>
        <p:nvSpPr>
          <p:cNvPr id="120" name="Code line 120"/>
          <p:cNvSpPr txBox="1"/>
          <p:nvPr/>
        </p:nvSpPr>
        <p:spPr>
          <a:xfrm>
            <a:off x="5038352" y="5250581"/>
            <a:ext cx="5093460" cy="162666"/>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admission:ecog_stage</a:t>
            </a:r>
            <a:endParaRPr lang="en-US" sz="1100"/>
          </a:p>
        </p:txBody>
      </p:sp>
      <p:sp>
        <p:nvSpPr>
          <p:cNvPr id="121" name="Evidence tag"/>
          <p:cNvSpPr/>
          <p:nvPr/>
        </p:nvSpPr>
        <p:spPr>
          <a:xfrm>
            <a:off x="10177532" y="5259725"/>
            <a:ext cx="987552" cy="144378"/>
          </a:xfrm>
          <a:prstGeom prst="roundRect">
            <a:avLst>
              <a:gd name="adj" fmla="val 9000"/>
            </a:avLst>
          </a:prstGeom>
          <a:solidFill>
            <a:srgbClr val="FFFFFF"/>
          </a:solidFill>
          <a:ln w="9525">
            <a:solidFill>
              <a:srgbClr val="5B6770"/>
            </a:solidFill>
          </a:ln>
        </p:spPr>
        <p:txBody>
          <a:bodyPr wrap="square" lIns="0" tIns="0" rIns="0" bIns="0" anchor="ctr">
            <a:noAutofit/>
          </a:bodyPr>
          <a:lstStyle/>
          <a:p>
            <a:pPr algn="ctr">
              <a:spcAft>
                <a:spcPts val="0"/>
              </a:spcAft>
            </a:pPr>
            <a:r>
              <a:rPr lang="en-US" sz="850" b="1" i="0" dirty="0">
                <a:solidFill>
                  <a:srgbClr val="5B6770"/>
                </a:solidFill>
                <a:latin typeface="Consolas"/>
                <a:cs typeface="Consolas"/>
              </a:rPr>
              <a:t xml:space="preserve">SCHEMA</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