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4" r:id="rId1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SAKVMm4+QvifYUYUK20LMzWgf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3" Type="http://schemas.openxmlformats.org/officeDocument/2006/relationships/slide" Target="slides/slide9.xml"/><Relationship Id="rId36" Type="http://customschemas.google.com/relationships/presentationmetadata" Target="meta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297" name="Google Shape;2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[4:52–5:39]  SPOKEN SCRIPT (83 words)</a:t>
            </a:r>
          </a:p>
          <a:p>
            <a:r>
              <a:t>Step four: generate. We prompt the Gen-LLM with the seed, the retrieved context and our enrichment instructions. What comes back is the fragment we set as our target on slide three. The tags on the right show where each part came from. The relation hasPatientData and the provenance links come from the schema. The labels come from the documentation. The link to bone marrow disease comes from the Disease Ontology. And the disjointness and the ECOG scale come from the model's own knowledge.</a:t>
            </a:r>
          </a:p>
          <a:p/>
          <a:p>
            <a:r>
              <a:t>PRESENTER / POINTER: Point at the tags from top to bottom: schema, docs, ontology, LLM.</a:t>
            </a:r>
          </a:p>
          <a:p>
            <a:r>
              <a:t>AUDIENCE TAKEAWAY: The LLM enriches a grounded draft, and every addition is traceable.</a:t>
            </a:r>
          </a:p>
          <a:p>
            <a:r>
              <a:t>SOURCE AND SCOPE: Paper Sections 3.3-3.4. Same fragment as slide 3, verified with the OWL API.</a:t>
            </a:r>
          </a:p>
        </p:txBody>
      </p:sp>
      <p:sp>
        <p:nvSpPr>
          <p:cNvPr id="298" name="Google Shape;2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9"/>
          <p:cNvSpPr txBox="1"/>
          <p:nvPr/>
        </p:nvSpPr>
        <p:spPr>
          <a:xfrm>
            <a:off x="804672" y="448056"/>
            <a:ext cx="10716768"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4 / GENERATE</a:t>
            </a:r>
            <a:endParaRPr/>
          </a:p>
        </p:txBody>
      </p:sp>
      <p:sp>
        <p:nvSpPr>
          <p:cNvPr id="301" name="Google Shape;301;p9"/>
          <p:cNvSpPr txBox="1"/>
          <p:nvPr/>
        </p:nvSpPr>
        <p:spPr>
          <a:xfrm>
            <a:off x="804672" y="859536"/>
            <a:ext cx="10716768" cy="6949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The LLM enriches a schema-grounded draft.</a:t>
            </a:r>
            <a:endParaRPr/>
          </a:p>
        </p:txBody>
      </p:sp>
      <p:sp>
        <p:nvSpPr>
          <p:cNvPr id="302" name="Google Shape;302;p9"/>
          <p:cNvSpPr txBox="1"/>
          <p:nvPr/>
        </p:nvSpPr>
        <p:spPr>
          <a:xfrm>
            <a:off x="804672" y="1609344"/>
            <a:ext cx="1060704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600" b="0" i="0" dirty="0">
                <a:solidFill>
                  <a:srgbClr val="3A434C"/>
                </a:solidFill>
                <a:latin typeface="Calibri"/>
                <a:cs typeface="Calibri"/>
              </a:rPr>
              <a:t xml:space="preserve">We prompt the </a:t>
            </a:r>
            <a:r>
              <a:rPr lang="en-US" sz="1600" b="1" i="1" dirty="0">
                <a:solidFill>
                  <a:srgbClr val="3A434C"/>
                </a:solidFill>
                <a:latin typeface="Calibri"/>
                <a:cs typeface="Calibri"/>
              </a:rPr>
              <a:t xml:space="preserve">Gen-LLM</a:t>
            </a:r>
            <a:r>
              <a:rPr lang="en-US" sz="1600" b="0" i="0" dirty="0">
                <a:solidFill>
                  <a:srgbClr val="3A434C"/>
                </a:solidFill>
                <a:latin typeface="Calibri"/>
                <a:cs typeface="Calibri"/>
              </a:rPr>
              <a:t xml:space="preserve"> with the </a:t>
            </a:r>
            <a:r>
              <a:rPr lang="en-US" sz="1600" b="1" i="0" dirty="0">
                <a:solidFill>
                  <a:srgbClr val="3A434C"/>
                </a:solidFill>
                <a:latin typeface="Calibri"/>
                <a:cs typeface="Calibri"/>
              </a:rPr>
              <a:t xml:space="preserve">direct mapping</a:t>
            </a:r>
            <a:r>
              <a:rPr lang="en-US" sz="1600" b="0" i="0" dirty="0">
                <a:solidFill>
                  <a:srgbClr val="3A434C"/>
                </a:solidFill>
                <a:latin typeface="Calibri"/>
                <a:cs typeface="Calibri"/>
              </a:rPr>
              <a:t xml:space="preserve">, the </a:t>
            </a:r>
            <a:r>
              <a:rPr lang="en-US" sz="1600" b="1" i="0" dirty="0">
                <a:solidFill>
                  <a:srgbClr val="3A434C"/>
                </a:solidFill>
                <a:latin typeface="Calibri"/>
                <a:cs typeface="Calibri"/>
              </a:rPr>
              <a:t xml:space="preserve">retrieved context</a:t>
            </a:r>
            <a:r>
              <a:rPr lang="en-US" sz="1600" b="0" i="0" dirty="0">
                <a:solidFill>
                  <a:srgbClr val="3A434C"/>
                </a:solidFill>
                <a:latin typeface="Calibri"/>
                <a:cs typeface="Calibri"/>
              </a:rPr>
              <a:t xml:space="preserve">, and </a:t>
            </a:r>
            <a:r>
              <a:rPr lang="en-US" sz="1600" b="1" i="0" dirty="0">
                <a:solidFill>
                  <a:srgbClr val="3A434C"/>
                </a:solidFill>
                <a:latin typeface="Calibri"/>
                <a:cs typeface="Calibri"/>
              </a:rPr>
              <a:t xml:space="preserve">semantic enrichment instructions</a:t>
            </a:r>
            <a:r>
              <a:rPr lang="en-US" sz="1600" b="0" i="0" dirty="0">
                <a:solidFill>
                  <a:srgbClr val="3A434C"/>
                </a:solidFill>
                <a:latin typeface="Calibri"/>
                <a:cs typeface="Calibri"/>
              </a:rPr>
              <a:t xml:space="preserve">.</a:t>
            </a:r>
            <a:endParaRPr/>
          </a:p>
        </p:txBody>
      </p:sp>
      <p:sp>
        <p:nvSpPr>
          <p:cNvPr id="322" name="Google Shape;322;p9"/>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9"/>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324" name="Google Shape;324;p9"/>
          <p:cNvSpPr/>
          <p:nvPr/>
        </p:nvSpPr>
        <p:spPr>
          <a:xfrm>
            <a:off x="2642615"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9"/>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2  SEED</a:t>
            </a:r>
            <a:endParaRPr/>
          </a:p>
        </p:txBody>
      </p:sp>
      <p:sp>
        <p:nvSpPr>
          <p:cNvPr id="326" name="Google Shape;326;p9"/>
          <p:cNvSpPr/>
          <p:nvPr/>
        </p:nvSpPr>
        <p:spPr>
          <a:xfrm>
            <a:off x="4480559"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9"/>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3  RETRIEVE</a:t>
            </a:r>
            <a:endParaRPr/>
          </a:p>
        </p:txBody>
      </p:sp>
      <p:sp>
        <p:nvSpPr>
          <p:cNvPr id="328" name="Google Shape;328;p9"/>
          <p:cNvSpPr/>
          <p:nvPr/>
        </p:nvSpPr>
        <p:spPr>
          <a:xfrm>
            <a:off x="6318503"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9"/>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4  GENERATE</a:t>
            </a:r>
            <a:endParaRPr/>
          </a:p>
        </p:txBody>
      </p:sp>
      <p:sp>
        <p:nvSpPr>
          <p:cNvPr id="330" name="Google Shape;330;p9"/>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9"/>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332" name="Google Shape;332;p9"/>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9"/>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
        <p:nvSpPr>
          <p:cNvPr id="334" name="Rounded Rectangle 333"/>
          <p:cNvSpPr/>
          <p:nvPr/>
        </p:nvSpPr>
        <p:spPr>
          <a:xfrm>
            <a:off x="795528" y="2148840"/>
            <a:ext cx="2971800" cy="3465576"/>
          </a:xfrm>
          <a:prstGeom prst="roundRect">
            <a:avLst/>
          </a:prstGeom>
          <a:solidFill>
            <a:srgbClr val="FFFFFF"/>
          </a:solidFill>
          <a:ln w="1397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1005840" y="2313432"/>
            <a:ext cx="2468880" cy="310896"/>
          </a:xfrm>
          <a:prstGeom prst="rect">
            <a:avLst/>
          </a:prstGeom>
          <a:noFill/>
        </p:spPr>
        <p:txBody>
          <a:bodyPr wrap="square" lIns="0" rIns="0" tIns="0" bIns="0" anchor="ctr">
            <a:spAutoFit/>
          </a:bodyPr>
          <a:lstStyle/>
          <a:p>
            <a:r>
              <a:rPr sz="1500" b="1">
                <a:solidFill>
                  <a:srgbClr val="3A434C"/>
                </a:solidFill>
                <a:latin typeface="Consolas"/>
              </a:rPr>
              <a:t>BEFORE</a:t>
            </a:r>
          </a:p>
        </p:txBody>
      </p:sp>
      <p:sp>
        <p:nvSpPr>
          <p:cNvPr id="340" name="TextBox 339"/>
          <p:cNvSpPr txBox="1"/>
          <p:nvPr/>
        </p:nvSpPr>
        <p:spPr>
          <a:xfrm>
            <a:off x="1005840" y="4315968"/>
            <a:ext cx="2560320" cy="393192"/>
          </a:xfrm>
          <a:prstGeom prst="rect">
            <a:avLst/>
          </a:prstGeom>
          <a:noFill/>
        </p:spPr>
        <p:txBody>
          <a:bodyPr wrap="square" lIns="0" rIns="0" tIns="0" bIns="0" anchor="ctr">
            <a:spAutoFit/>
          </a:bodyPr>
          <a:lstStyle/>
          <a:p>
            <a:r>
              <a:rPr sz="1300" b="0">
                <a:solidFill>
                  <a:srgbClr val="3A434C"/>
                </a:solidFill>
                <a:latin typeface="Calibri"/>
              </a:rPr>
              <a:t>Structure only.
Meaning remains implicit.</a:t>
            </a:r>
          </a:p>
        </p:txBody>
      </p:sp>
      <p:sp>
        <p:nvSpPr>
          <p:cNvPr id="341" name="Chevron 340"/>
          <p:cNvSpPr/>
          <p:nvPr/>
        </p:nvSpPr>
        <p:spPr>
          <a:xfrm>
            <a:off x="3968496" y="3447288"/>
            <a:ext cx="603504" cy="429768"/>
          </a:xfrm>
          <a:prstGeom prst="chevron">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3858768" y="3913632"/>
            <a:ext cx="832104" cy="320040"/>
          </a:xfrm>
          <a:prstGeom prst="rect">
            <a:avLst/>
          </a:prstGeom>
          <a:noFill/>
        </p:spPr>
        <p:txBody>
          <a:bodyPr wrap="square" lIns="0" rIns="0" tIns="0" bIns="0" anchor="ctr">
            <a:spAutoFit/>
          </a:bodyPr>
          <a:lstStyle/>
          <a:p>
            <a:pPr algn="ctr"/>
            <a:r>
              <a:rPr sz="1200" b="1">
                <a:solidFill>
                  <a:srgbClr val="0B6E4F"/>
                </a:solidFill>
                <a:latin typeface="Consolas"/>
              </a:rPr>
              <a:t>Gen-LLM</a:t>
            </a:r>
          </a:p>
        </p:txBody>
      </p:sp>
      <p:sp>
        <p:nvSpPr>
          <p:cNvPr id="343" name="Rounded Rectangle 342"/>
          <p:cNvSpPr/>
          <p:nvPr/>
        </p:nvSpPr>
        <p:spPr>
          <a:xfrm>
            <a:off x="4736592" y="2148840"/>
            <a:ext cx="6565392" cy="3465576"/>
          </a:xfrm>
          <a:prstGeom prst="roundRect">
            <a:avLst/>
          </a:prstGeom>
          <a:solidFill>
            <a:srgbClr val="F3F5F4"/>
          </a:solidFill>
          <a:ln w="1397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TextBox 363"/>
          <p:cNvSpPr txBox="1"/>
          <p:nvPr/>
        </p:nvSpPr>
        <p:spPr>
          <a:xfrm>
            <a:off x="4946904" y="2313432"/>
            <a:ext cx="6016752" cy="274320"/>
          </a:xfrm>
          <a:prstGeom prst="rect">
            <a:avLst/>
          </a:prstGeom>
          <a:noFill/>
        </p:spPr>
        <p:txBody>
          <a:bodyPr wrap="square" lIns="0" rIns="0" tIns="0" bIns="0" anchor="ctr">
            <a:spAutoFit/>
          </a:bodyPr>
          <a:lstStyle/>
          <a:p>
            <a:pPr algn="l">
              <a:spcBef>
                <a:spcPts val="0"/>
              </a:spcBef>
              <a:spcAft>
                <a:spcPts val="0"/>
              </a:spcAft>
            </a:pPr>
            <a:r>
              <a:rPr sz="1450" b="1">
                <a:solidFill>
                  <a:srgbClr val="2F6B78"/>
                </a:solidFill>
                <a:latin typeface="Consolas"/>
              </a:rPr>
              <a:t>AFTER  /  ENRICHED ΔOᵣ</a:t>
            </a:r>
          </a:p>
        </p:txBody>
      </p:sp>
      <p:sp>
        <p:nvSpPr>
          <p:cNvPr id="385" name="Code 385" descr="OWL Manchester Syntax excerpt"/>
          <p:cNvSpPr txBox="1"/>
          <p:nvPr/>
        </p:nvSpPr>
        <p:spPr>
          <a:xfrm>
            <a:off x="950976" y="3017520"/>
            <a:ext cx="2670048" cy="1097280"/>
          </a:xfrm>
          <a:prstGeom prst="roundRect">
            <a:avLst>
              <a:gd name="adj" fmla="val 5000"/>
            </a:avLst>
          </a:prstGeom>
          <a:solidFill>
            <a:srgbClr val="F6F8FA"/>
          </a:solidFill>
          <a:ln w="9525">
            <a:solidFill>
              <a:srgbClr val="D0D7DE"/>
            </a:solidFill>
          </a:ln>
        </p:spPr>
        <p:txBody>
          <a:bodyPr wrap="none" lIns="73152" tIns="73152" rIns="73152" bIns="54864" anchor="t">
            <a:noAutofit/>
          </a:bodyPr>
          <a:lstStyle/>
          <a:p>
            <a:pPr>
              <a:lnSpc>
                <a:spcPts val="1350"/>
              </a:lnSpc>
              <a:spcBef>
                <a:spcPts val="0"/>
              </a:spcBef>
            </a:pPr>
            <a:r>
              <a:rPr lang="en-US" sz="1100" b="1" i="0" dirty="0">
                <a:solidFill>
                  <a:srgbClr val="0B6E4F"/>
                </a:solidFill>
                <a:latin typeface="Consolas"/>
                <a:cs typeface="Consolas"/>
              </a:rPr>
              <a:t xml:space="preserve">Class:</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Admission</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SubClassOf:</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patient_id</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some</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PatientData</a:t>
            </a:r>
            <a:r>
              <a:rPr lang="en-US" sz="1100" b="0" i="0" dirty="0">
                <a:solidFill>
                  <a:srgbClr val="1F2328"/>
                </a:solidFill>
                <a:latin typeface="Consolas"/>
                <a:cs typeface="Consolas"/>
              </a:rPr>
              <a:t xml:space="preserve">,</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BM_DEP</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only</a:t>
            </a:r>
            <a:r>
              <a:rPr lang="en-US" sz="1100" b="0" i="0" dirty="0">
                <a:solidFill>
                  <a:srgbClr val="1F2328"/>
                </a:solidFill>
                <a:latin typeface="Consolas"/>
                <a:cs typeface="Consolas"/>
              </a:rPr>
              <a:t xml:space="preserve"> </a:t>
            </a:r>
            <a:r>
              <a:rPr lang="en-US" sz="1100" b="0" i="0" dirty="0">
                <a:solidFill>
                  <a:srgbClr val="6F42C1"/>
                </a:solidFill>
                <a:latin typeface="Consolas"/>
                <a:cs typeface="Consolas"/>
              </a:rPr>
              <a:t xml:space="preserve">xsd:integer</a:t>
            </a:r>
            <a:r>
              <a:rPr lang="en-US" sz="1100" b="0" i="0" dirty="0">
                <a:solidFill>
                  <a:srgbClr val="1F2328"/>
                </a:solidFill>
                <a:latin typeface="Consolas"/>
                <a:cs typeface="Consolas"/>
              </a:rPr>
              <a:t xml:space="preserve">,</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ecog_stage</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only</a:t>
            </a:r>
            <a:r>
              <a:rPr lang="en-US" sz="1100" b="0" i="0" dirty="0">
                <a:solidFill>
                  <a:srgbClr val="1F2328"/>
                </a:solidFill>
                <a:latin typeface="Consolas"/>
                <a:cs typeface="Consolas"/>
              </a:rPr>
              <a:t xml:space="preserve"> </a:t>
            </a:r>
            <a:r>
              <a:rPr lang="en-US" sz="1100" b="0" i="0" dirty="0">
                <a:solidFill>
                  <a:srgbClr val="6F42C1"/>
                </a:solidFill>
                <a:latin typeface="Consolas"/>
                <a:cs typeface="Consolas"/>
              </a:rPr>
              <a:t xml:space="preserve">xsd:integer</a:t>
            </a:r>
            <a:endParaRPr lang="en-US" sz="1100"/>
          </a:p>
        </p:txBody>
      </p:sp>
      <p:sp>
        <p:nvSpPr>
          <p:cNvPr id="386" name="Code panel"/>
          <p:cNvSpPr/>
          <p:nvPr/>
        </p:nvSpPr>
        <p:spPr>
          <a:xfrm>
            <a:off x="4937760" y="2670048"/>
            <a:ext cx="6172200" cy="2834640"/>
          </a:xfrm>
          <a:prstGeom prst="roundRect">
            <a:avLst>
              <a:gd name="adj" fmla="val 9000"/>
            </a:avLst>
          </a:prstGeom>
          <a:solidFill>
            <a:srgbClr val="F6F8FA"/>
          </a:solidFill>
          <a:ln w="9525">
            <a:solidFill>
              <a:srgbClr val="D0D7DE"/>
            </a:solidFill>
          </a:ln>
        </p:spPr>
        <p:txBody>
          <a:bodyPr wrap="square" lIns="0" tIns="0" rIns="0" bIns="0" anchor="ctr">
            <a:noAutofit/>
          </a:bodyPr>
          <a:lstStyle/>
          <a:p>
            <a:endParaRPr lang="en-US"/>
          </a:p>
        </p:txBody>
      </p:sp>
      <p:sp>
        <p:nvSpPr>
          <p:cNvPr id="387" name="Code line 387"/>
          <p:cNvSpPr txBox="1"/>
          <p:nvPr/>
        </p:nvSpPr>
        <p:spPr>
          <a:xfrm>
            <a:off x="4937760" y="2779776"/>
            <a:ext cx="4983480" cy="18710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Class:</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Admission</a:t>
            </a:r>
            <a:endParaRPr lang="en-US" sz="1150"/>
          </a:p>
        </p:txBody>
      </p:sp>
      <p:sp>
        <p:nvSpPr>
          <p:cNvPr id="388" name="Code line 388"/>
          <p:cNvSpPr txBox="1"/>
          <p:nvPr/>
        </p:nvSpPr>
        <p:spPr>
          <a:xfrm>
            <a:off x="4937760" y="2966876"/>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SubClassOf:</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hasPatientData</a:t>
            </a: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some</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PatientData</a:t>
            </a:r>
            <a:endParaRPr lang="en-US" sz="1150"/>
          </a:p>
        </p:txBody>
      </p:sp>
      <p:sp>
        <p:nvSpPr>
          <p:cNvPr id="389" name="Evidence tag"/>
          <p:cNvSpPr/>
          <p:nvPr/>
        </p:nvSpPr>
        <p:spPr>
          <a:xfrm>
            <a:off x="10040112" y="2973558"/>
            <a:ext cx="987552" cy="173736"/>
          </a:xfrm>
          <a:prstGeom prst="roundRect">
            <a:avLst>
              <a:gd name="adj" fmla="val 9000"/>
            </a:avLst>
          </a:prstGeom>
          <a:solidFill>
            <a:srgbClr val="FFFFFF"/>
          </a:solidFill>
          <a:ln w="9525">
            <a:solidFill>
              <a:srgbClr val="5B6770"/>
            </a:solidFill>
          </a:ln>
        </p:spPr>
        <p:txBody>
          <a:bodyPr wrap="square" lIns="0" tIns="0" rIns="0" bIns="0" anchor="ctr">
            <a:noAutofit/>
          </a:bodyPr>
          <a:lstStyle/>
          <a:p>
            <a:pPr algn="ctr">
              <a:spcAft>
                <a:spcPts val="0"/>
              </a:spcAft>
            </a:pPr>
            <a:r>
              <a:rPr lang="en-US" sz="850" b="1" i="0" dirty="0">
                <a:solidFill>
                  <a:srgbClr val="5B6770"/>
                </a:solidFill>
                <a:latin typeface="Consolas"/>
                <a:cs typeface="Consolas"/>
              </a:rPr>
              <a:t xml:space="preserve">SCHEMA</a:t>
            </a:r>
          </a:p>
        </p:txBody>
      </p:sp>
      <p:sp>
        <p:nvSpPr>
          <p:cNvPr id="390" name="Code line 390"/>
          <p:cNvSpPr txBox="1"/>
          <p:nvPr/>
        </p:nvSpPr>
        <p:spPr>
          <a:xfrm>
            <a:off x="4937760" y="3153976"/>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DisjointWith:</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PatientData</a:t>
            </a:r>
            <a:endParaRPr lang="en-US" sz="1150"/>
          </a:p>
        </p:txBody>
      </p:sp>
      <p:sp>
        <p:nvSpPr>
          <p:cNvPr id="391" name="Evidence tag"/>
          <p:cNvSpPr/>
          <p:nvPr/>
        </p:nvSpPr>
        <p:spPr>
          <a:xfrm>
            <a:off x="10040112" y="3160658"/>
            <a:ext cx="987552" cy="173736"/>
          </a:xfrm>
          <a:prstGeom prst="roundRect">
            <a:avLst>
              <a:gd name="adj" fmla="val 9000"/>
            </a:avLst>
          </a:prstGeom>
          <a:solidFill>
            <a:srgbClr val="FFFFFF"/>
          </a:solidFill>
          <a:ln w="9525">
            <a:solidFill>
              <a:srgbClr val="6F42C1"/>
            </a:solidFill>
          </a:ln>
        </p:spPr>
        <p:txBody>
          <a:bodyPr wrap="square" lIns="0" tIns="0" rIns="0" bIns="0" anchor="ctr">
            <a:noAutofit/>
          </a:bodyPr>
          <a:lstStyle/>
          <a:p>
            <a:pPr algn="ctr">
              <a:spcAft>
                <a:spcPts val="0"/>
              </a:spcAft>
            </a:pPr>
            <a:r>
              <a:rPr lang="en-US" sz="850" b="1" i="0" dirty="0">
                <a:solidFill>
                  <a:srgbClr val="6F42C1"/>
                </a:solidFill>
                <a:latin typeface="Consolas"/>
                <a:cs typeface="Consolas"/>
              </a:rPr>
              <a:t xml:space="preserve">LLM</a:t>
            </a:r>
          </a:p>
        </p:txBody>
      </p:sp>
      <p:sp>
        <p:nvSpPr>
          <p:cNvPr id="392" name="Code line 392"/>
          <p:cNvSpPr txBox="1"/>
          <p:nvPr/>
        </p:nvSpPr>
        <p:spPr>
          <a:xfrm>
            <a:off x="4937760" y="3432516"/>
            <a:ext cx="4983480" cy="18710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DataProperty:</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BM_DEP</a:t>
            </a:r>
            <a:endParaRPr lang="en-US" sz="1150"/>
          </a:p>
        </p:txBody>
      </p:sp>
      <p:sp>
        <p:nvSpPr>
          <p:cNvPr id="393" name="Code line 393"/>
          <p:cNvSpPr txBox="1"/>
          <p:nvPr/>
        </p:nvSpPr>
        <p:spPr>
          <a:xfrm>
            <a:off x="4937760" y="3619617"/>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Annotations:</a:t>
            </a:r>
            <a:endParaRPr lang="en-US" sz="1150"/>
          </a:p>
        </p:txBody>
      </p:sp>
      <p:sp>
        <p:nvSpPr>
          <p:cNvPr id="394" name="Code line 394"/>
          <p:cNvSpPr txBox="1"/>
          <p:nvPr/>
        </p:nvSpPr>
        <p:spPr>
          <a:xfrm>
            <a:off x="4937760" y="3806717"/>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rdfs:label</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"Bone Marrow Depression"@en</a:t>
            </a:r>
            <a:r>
              <a:rPr lang="en-US" sz="1150" b="0" i="0" dirty="0">
                <a:solidFill>
                  <a:srgbClr val="1F2328"/>
                </a:solidFill>
                <a:latin typeface="Consolas"/>
                <a:cs typeface="Consolas"/>
              </a:rPr>
              <a:t xml:space="preserve">,</a:t>
            </a:r>
            <a:endParaRPr lang="en-US" sz="1150"/>
          </a:p>
        </p:txBody>
      </p:sp>
      <p:sp>
        <p:nvSpPr>
          <p:cNvPr id="395" name="Evidence tag"/>
          <p:cNvSpPr/>
          <p:nvPr/>
        </p:nvSpPr>
        <p:spPr>
          <a:xfrm>
            <a:off x="10040112" y="3813399"/>
            <a:ext cx="987552" cy="173736"/>
          </a:xfrm>
          <a:prstGeom prst="roundRect">
            <a:avLst>
              <a:gd name="adj" fmla="val 9000"/>
            </a:avLst>
          </a:prstGeom>
          <a:solidFill>
            <a:srgbClr val="FFFFFF"/>
          </a:solidFill>
          <a:ln w="9525">
            <a:solidFill>
              <a:srgbClr val="2F6B78"/>
            </a:solidFill>
          </a:ln>
        </p:spPr>
        <p:txBody>
          <a:bodyPr wrap="square" lIns="0" tIns="0" rIns="0" bIns="0" anchor="ctr">
            <a:noAutofit/>
          </a:bodyPr>
          <a:lstStyle/>
          <a:p>
            <a:pPr algn="ctr">
              <a:spcAft>
                <a:spcPts val="0"/>
              </a:spcAft>
            </a:pPr>
            <a:r>
              <a:rPr lang="en-US" sz="850" b="1" i="0" dirty="0">
                <a:solidFill>
                  <a:srgbClr val="2F6B78"/>
                </a:solidFill>
                <a:latin typeface="Consolas"/>
                <a:cs typeface="Consolas"/>
              </a:rPr>
              <a:t xml:space="preserve">DOCS</a:t>
            </a:r>
          </a:p>
        </p:txBody>
      </p:sp>
      <p:sp>
        <p:nvSpPr>
          <p:cNvPr id="396" name="Code line 396"/>
          <p:cNvSpPr txBox="1"/>
          <p:nvPr/>
        </p:nvSpPr>
        <p:spPr>
          <a:xfrm>
            <a:off x="4937760" y="3993817"/>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skos:relatedMatch</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obo:DOID_4961</a:t>
            </a:r>
            <a:r>
              <a:rPr lang="en-US" sz="1150" b="0" i="0" dirty="0">
                <a:solidFill>
                  <a:srgbClr val="1F2328"/>
                </a:solidFill>
                <a:latin typeface="Consolas"/>
                <a:cs typeface="Consolas"/>
              </a:rPr>
              <a:t xml:space="preserve">,</a:t>
            </a:r>
            <a:endParaRPr lang="en-US" sz="1150"/>
          </a:p>
        </p:txBody>
      </p:sp>
      <p:sp>
        <p:nvSpPr>
          <p:cNvPr id="397" name="Evidence tag"/>
          <p:cNvSpPr/>
          <p:nvPr/>
        </p:nvSpPr>
        <p:spPr>
          <a:xfrm>
            <a:off x="10040112" y="4000499"/>
            <a:ext cx="987552" cy="173736"/>
          </a:xfrm>
          <a:prstGeom prst="roundRect">
            <a:avLst>
              <a:gd name="adj" fmla="val 9000"/>
            </a:avLst>
          </a:prstGeom>
          <a:solidFill>
            <a:srgbClr val="FFFFFF"/>
          </a:solidFill>
          <a:ln w="9525">
            <a:solidFill>
              <a:srgbClr val="0B6E4F"/>
            </a:solidFill>
          </a:ln>
        </p:spPr>
        <p:txBody>
          <a:bodyPr wrap="square" lIns="0" tIns="0" rIns="0" bIns="0" anchor="ctr">
            <a:noAutofit/>
          </a:bodyPr>
          <a:lstStyle/>
          <a:p>
            <a:pPr algn="ctr">
              <a:spcAft>
                <a:spcPts val="0"/>
              </a:spcAft>
            </a:pPr>
            <a:r>
              <a:rPr lang="en-US" sz="850" b="1" i="0" dirty="0">
                <a:solidFill>
                  <a:srgbClr val="0B6E4F"/>
                </a:solidFill>
                <a:latin typeface="Consolas"/>
                <a:cs typeface="Consolas"/>
              </a:rPr>
              <a:t xml:space="preserve">ONTOLOGY</a:t>
            </a:r>
          </a:p>
        </p:txBody>
      </p:sp>
      <p:sp>
        <p:nvSpPr>
          <p:cNvPr id="398" name="Code line 398"/>
          <p:cNvSpPr txBox="1"/>
          <p:nvPr/>
        </p:nvSpPr>
        <p:spPr>
          <a:xfrm>
            <a:off x="4937760" y="4180918"/>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prov:wasDerivedFrom</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admission:BM_DEP</a:t>
            </a:r>
            <a:endParaRPr lang="en-US" sz="1150"/>
          </a:p>
        </p:txBody>
      </p:sp>
      <p:sp>
        <p:nvSpPr>
          <p:cNvPr id="399" name="Evidence tag"/>
          <p:cNvSpPr/>
          <p:nvPr/>
        </p:nvSpPr>
        <p:spPr>
          <a:xfrm>
            <a:off x="10040112" y="4187600"/>
            <a:ext cx="987552" cy="173736"/>
          </a:xfrm>
          <a:prstGeom prst="roundRect">
            <a:avLst>
              <a:gd name="adj" fmla="val 9000"/>
            </a:avLst>
          </a:prstGeom>
          <a:solidFill>
            <a:srgbClr val="FFFFFF"/>
          </a:solidFill>
          <a:ln w="9525">
            <a:solidFill>
              <a:srgbClr val="5B6770"/>
            </a:solidFill>
          </a:ln>
        </p:spPr>
        <p:txBody>
          <a:bodyPr wrap="square" lIns="0" tIns="0" rIns="0" bIns="0" anchor="ctr">
            <a:noAutofit/>
          </a:bodyPr>
          <a:lstStyle/>
          <a:p>
            <a:pPr algn="ctr">
              <a:spcAft>
                <a:spcPts val="0"/>
              </a:spcAft>
            </a:pPr>
            <a:r>
              <a:rPr lang="en-US" sz="850" b="1" i="0" dirty="0">
                <a:solidFill>
                  <a:srgbClr val="5B6770"/>
                </a:solidFill>
                <a:latin typeface="Consolas"/>
                <a:cs typeface="Consolas"/>
              </a:rPr>
              <a:t xml:space="preserve">SCHEMA</a:t>
            </a:r>
          </a:p>
        </p:txBody>
      </p:sp>
      <p:sp>
        <p:nvSpPr>
          <p:cNvPr id="400" name="Code line 400"/>
          <p:cNvSpPr txBox="1"/>
          <p:nvPr/>
        </p:nvSpPr>
        <p:spPr>
          <a:xfrm>
            <a:off x="4937760" y="4459458"/>
            <a:ext cx="4983480" cy="18710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DataProperty:</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ecog_stage</a:t>
            </a:r>
            <a:endParaRPr lang="en-US" sz="1150"/>
          </a:p>
        </p:txBody>
      </p:sp>
      <p:sp>
        <p:nvSpPr>
          <p:cNvPr id="401" name="Code line 401"/>
          <p:cNvSpPr txBox="1"/>
          <p:nvPr/>
        </p:nvSpPr>
        <p:spPr>
          <a:xfrm>
            <a:off x="4937760" y="4646558"/>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Annotations:</a:t>
            </a:r>
            <a:endParaRPr lang="en-US" sz="1150"/>
          </a:p>
        </p:txBody>
      </p:sp>
      <p:sp>
        <p:nvSpPr>
          <p:cNvPr id="402" name="Code line 402"/>
          <p:cNvSpPr txBox="1"/>
          <p:nvPr/>
        </p:nvSpPr>
        <p:spPr>
          <a:xfrm>
            <a:off x="4937760" y="4833659"/>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rdfs:label</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"ECOG Performance Status"@en</a:t>
            </a:r>
            <a:r>
              <a:rPr lang="en-US" sz="1150" b="0" i="0" dirty="0">
                <a:solidFill>
                  <a:srgbClr val="1F2328"/>
                </a:solidFill>
                <a:latin typeface="Consolas"/>
                <a:cs typeface="Consolas"/>
              </a:rPr>
              <a:t xml:space="preserve">,</a:t>
            </a:r>
            <a:endParaRPr lang="en-US" sz="1150"/>
          </a:p>
        </p:txBody>
      </p:sp>
      <p:sp>
        <p:nvSpPr>
          <p:cNvPr id="403" name="Evidence tag"/>
          <p:cNvSpPr/>
          <p:nvPr/>
        </p:nvSpPr>
        <p:spPr>
          <a:xfrm>
            <a:off x="10040112" y="4840341"/>
            <a:ext cx="987552" cy="173736"/>
          </a:xfrm>
          <a:prstGeom prst="roundRect">
            <a:avLst>
              <a:gd name="adj" fmla="val 9000"/>
            </a:avLst>
          </a:prstGeom>
          <a:solidFill>
            <a:srgbClr val="FFFFFF"/>
          </a:solidFill>
          <a:ln w="9525">
            <a:solidFill>
              <a:srgbClr val="2F6B78"/>
            </a:solidFill>
          </a:ln>
        </p:spPr>
        <p:txBody>
          <a:bodyPr wrap="square" lIns="0" tIns="0" rIns="0" bIns="0" anchor="ctr">
            <a:noAutofit/>
          </a:bodyPr>
          <a:lstStyle/>
          <a:p>
            <a:pPr algn="ctr">
              <a:spcAft>
                <a:spcPts val="0"/>
              </a:spcAft>
            </a:pPr>
            <a:r>
              <a:rPr lang="en-US" sz="850" b="1" i="0" dirty="0">
                <a:solidFill>
                  <a:srgbClr val="2F6B78"/>
                </a:solidFill>
                <a:latin typeface="Consolas"/>
                <a:cs typeface="Consolas"/>
              </a:rPr>
              <a:t xml:space="preserve">DOCS</a:t>
            </a:r>
          </a:p>
        </p:txBody>
      </p:sp>
      <p:sp>
        <p:nvSpPr>
          <p:cNvPr id="404" name="Code line 404"/>
          <p:cNvSpPr txBox="1"/>
          <p:nvPr/>
        </p:nvSpPr>
        <p:spPr>
          <a:xfrm>
            <a:off x="4937760" y="5020759"/>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rdfs:comment</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"0 = fully active … 5 = dead"@en</a:t>
            </a:r>
            <a:r>
              <a:rPr lang="en-US" sz="1150" b="0" i="0" dirty="0">
                <a:solidFill>
                  <a:srgbClr val="1F2328"/>
                </a:solidFill>
                <a:latin typeface="Consolas"/>
                <a:cs typeface="Consolas"/>
              </a:rPr>
              <a:t xml:space="preserve">,</a:t>
            </a:r>
            <a:endParaRPr lang="en-US" sz="1150"/>
          </a:p>
        </p:txBody>
      </p:sp>
      <p:sp>
        <p:nvSpPr>
          <p:cNvPr id="405" name="Evidence tag"/>
          <p:cNvSpPr/>
          <p:nvPr/>
        </p:nvSpPr>
        <p:spPr>
          <a:xfrm>
            <a:off x="10040112" y="5027441"/>
            <a:ext cx="987552" cy="173736"/>
          </a:xfrm>
          <a:prstGeom prst="roundRect">
            <a:avLst>
              <a:gd name="adj" fmla="val 9000"/>
            </a:avLst>
          </a:prstGeom>
          <a:solidFill>
            <a:srgbClr val="FFFFFF"/>
          </a:solidFill>
          <a:ln w="9525">
            <a:solidFill>
              <a:srgbClr val="6F42C1"/>
            </a:solidFill>
          </a:ln>
        </p:spPr>
        <p:txBody>
          <a:bodyPr wrap="square" lIns="0" tIns="0" rIns="0" bIns="0" anchor="ctr">
            <a:noAutofit/>
          </a:bodyPr>
          <a:lstStyle/>
          <a:p>
            <a:pPr algn="ctr">
              <a:spcAft>
                <a:spcPts val="0"/>
              </a:spcAft>
            </a:pPr>
            <a:r>
              <a:rPr lang="en-US" sz="850" b="1" i="0" dirty="0">
                <a:solidFill>
                  <a:srgbClr val="6F42C1"/>
                </a:solidFill>
                <a:latin typeface="Consolas"/>
                <a:cs typeface="Consolas"/>
              </a:rPr>
              <a:t xml:space="preserve">LLM</a:t>
            </a:r>
          </a:p>
        </p:txBody>
      </p:sp>
      <p:sp>
        <p:nvSpPr>
          <p:cNvPr id="406" name="Code line 406"/>
          <p:cNvSpPr txBox="1"/>
          <p:nvPr/>
        </p:nvSpPr>
        <p:spPr>
          <a:xfrm>
            <a:off x="4937760" y="5207859"/>
            <a:ext cx="4983480" cy="18710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prov:wasDerivedFrom</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admission:ecog_stage</a:t>
            </a:r>
            <a:endParaRPr lang="en-US" sz="1150"/>
          </a:p>
        </p:txBody>
      </p:sp>
      <p:sp>
        <p:nvSpPr>
          <p:cNvPr id="407" name="Evidence tag"/>
          <p:cNvSpPr/>
          <p:nvPr/>
        </p:nvSpPr>
        <p:spPr>
          <a:xfrm>
            <a:off x="10040112" y="5214541"/>
            <a:ext cx="987552" cy="173736"/>
          </a:xfrm>
          <a:prstGeom prst="roundRect">
            <a:avLst>
              <a:gd name="adj" fmla="val 9000"/>
            </a:avLst>
          </a:prstGeom>
          <a:solidFill>
            <a:srgbClr val="FFFFFF"/>
          </a:solidFill>
          <a:ln w="9525">
            <a:solidFill>
              <a:srgbClr val="5B6770"/>
            </a:solidFill>
          </a:ln>
        </p:spPr>
        <p:txBody>
          <a:bodyPr wrap="square" lIns="0" tIns="0" rIns="0" bIns="0" anchor="ctr">
            <a:noAutofit/>
          </a:bodyPr>
          <a:lstStyle/>
          <a:p>
            <a:pPr algn="ctr">
              <a:spcAft>
                <a:spcPts val="0"/>
              </a:spcAft>
            </a:pPr>
            <a:r>
              <a:rPr lang="en-US" sz="850" b="1" i="0" dirty="0">
                <a:solidFill>
                  <a:srgbClr val="5B6770"/>
                </a:solidFill>
                <a:latin typeface="Consolas"/>
                <a:cs typeface="Consolas"/>
              </a:rPr>
              <a:t xml:space="preserve">SCHEMA</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