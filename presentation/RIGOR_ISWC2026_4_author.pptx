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Lst>
  <p:sldSz cy="6858000" cx="12192000"/>
  <p:notesSz cx="6858000" cy="12192000"/>
  <p:embeddedFontLst>
    <p:embeddedFont>
      <p:font typeface="IBM Plex Sans"/>
      <p:regular r:id="rId51"/>
      <p:bold r:id="rId52"/>
      <p:italic r:id="rId53"/>
      <p:boldItalic r:id="rId54"/>
    </p:embeddedFont>
    <p:embeddedFont>
      <p:font typeface="Inter"/>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9" roundtripDataSignature="AMtx7mg53m6TzstH0Sqnn3r9Y865WfRY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IBMPlexSans-regular.fntdata"/><Relationship Id="rId50" Type="http://schemas.openxmlformats.org/officeDocument/2006/relationships/slide" Target="slides/slide46.xml"/><Relationship Id="rId53" Type="http://schemas.openxmlformats.org/officeDocument/2006/relationships/font" Target="fonts/IBMPlexSans-italic.fntdata"/><Relationship Id="rId52" Type="http://schemas.openxmlformats.org/officeDocument/2006/relationships/font" Target="fonts/IBMPlexSans-bold.fntdata"/><Relationship Id="rId11" Type="http://schemas.openxmlformats.org/officeDocument/2006/relationships/slide" Target="slides/slide7.xml"/><Relationship Id="rId55" Type="http://schemas.openxmlformats.org/officeDocument/2006/relationships/font" Target="fonts/Inter-regular.fntdata"/><Relationship Id="rId10" Type="http://schemas.openxmlformats.org/officeDocument/2006/relationships/slide" Target="slides/slide6.xml"/><Relationship Id="rId54" Type="http://schemas.openxmlformats.org/officeDocument/2006/relationships/font" Target="fonts/IBMPlexSans-boldItalic.fntdata"/><Relationship Id="rId13" Type="http://schemas.openxmlformats.org/officeDocument/2006/relationships/slide" Target="slides/slide9.xml"/><Relationship Id="rId57" Type="http://schemas.openxmlformats.org/officeDocument/2006/relationships/font" Target="fonts/Inter-italic.fntdata"/><Relationship Id="rId12" Type="http://schemas.openxmlformats.org/officeDocument/2006/relationships/slide" Target="slides/slide8.xml"/><Relationship Id="rId56" Type="http://schemas.openxmlformats.org/officeDocument/2006/relationships/font" Target="fonts/Inter-bold.fntdata"/><Relationship Id="rId15" Type="http://schemas.openxmlformats.org/officeDocument/2006/relationships/slide" Target="slides/slide11.xml"/><Relationship Id="rId59" Type="http://customschemas.google.com/relationships/presentationmetadata" Target="metadata"/><Relationship Id="rId14" Type="http://schemas.openxmlformats.org/officeDocument/2006/relationships/slide" Target="slides/slide10.xml"/><Relationship Id="rId58" Type="http://schemas.openxmlformats.org/officeDocument/2006/relationships/font" Target="fonts/Inter-bold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IBM Plex Sans"/>
                <a:ea typeface="IBM Plex Sans"/>
                <a:cs typeface="IBM Plex Sans"/>
                <a:sym typeface="IBM Plex Sans"/>
              </a:rPr>
              <a:t>‹#›</a:t>
            </a:fld>
            <a:endParaRPr b="0" i="0" sz="1200" u="none" cap="none" strike="noStrike">
              <a:solidFill>
                <a:schemeClr val="dk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[0:00–0:25]  SPOKEN SCRIPT (43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Good morning. I'm Nadeen Fathallah, from the University of Stuttgart. Relational databases run hospitals, banks and governments. But their schemas tell us how data is stored, not what it means. This talk is about RIGOR: turning those schemas into rich OWL ontologies, automatically.</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Calm, slow start. Do not read the author list.</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Schemas store data, not meaning.</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 1.</a:t>
            </a:r>
            <a:endParaRPr/>
          </a:p>
        </p:txBody>
      </p:sp>
      <p:sp>
        <p:nvSpPr>
          <p:cNvPr id="19" name="Google Shape;19;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[0:25–1:07]  SPOKEN SCRIPT (74 words)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Imagine you inherit this clinical database. Admission points to PatientData through a foreign key. That link is clear. But look at the columns. What is BM_DEP? What does an ECOG stage of three mean? The schema cannot tell you. Yet these meanings are exactly what ontology-based access, knowledge graphs and data integration need. So our problem is not reading the SQL. It is recovering the domain meaning, while keeping the structure we can trust.</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PRESENTER / POINTER: Point at the FK arrow, then BM_DEP, then ecog_stage. Let the questions hang for a second.</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AUDIENCE TAKEAWAY: The schema knows storage and links, not clinical meaning.</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SOURCE AND SCOPE: Illustrative table assembled from examples in paper Sections 3.2 and 3.4.</a:t>
            </a:r>
            <a:endParaRPr/>
          </a:p>
        </p:txBody>
      </p:sp>
      <p:sp>
        <p:nvSpPr>
          <p:cNvPr id="74" name="Google Shape;74;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h4e1cd23050cdd6e6_1_2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h4e1cd23050cdd6e6_1_2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[1:07–1:59]  SPOKEN SCRIPT (91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Here is what we want. [click] First, what the schema alone gives us: Admission becomes a class with a real relation to PatientData, and every property points back to its source column. [click] The documentation adds human-readable labels: Bone Marrow Depression, ECOG Performance Status. [click] A standard vocabulary adds a link to the Disease Ontology. [click] And the LLM's own knowledge adds what the ECOG codes mean, and that an admission is not a patient. [click] That is a usable semantic model. The challenge is to add all this without losing a single column or link.</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Five clicks, one per knowledge source: schema, documentation, Disease Ontology, LLM knowledge, then 'What this enables'. The gloss colours match the sources.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A usable model combines schema, documentation, standard vocabularies and LLM knowledge.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Illustrative fragment, verified with the OWL API at every reveal step (presentation/excerpts/slide03_*.omn). obo:DOID_4961 = Disease Ontology 'bone marrow disease'; skos:relatedMatch, not exactMatch, because BM_DEP is a yes/no column, not the disease. Provenance is column-level, as defined in paper Section 3.2.</a:t>
            </a:r>
            <a:endParaRPr/>
          </a:p>
        </p:txBody>
      </p:sp>
      <p:sp>
        <p:nvSpPr>
          <p:cNvPr id="123" name="Google Shape;123;h4e1cd23050cdd6e6_1_2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h4e1cd23050cdd6e6_1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h4e1cd23050cdd6e6_1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[1:07–1:59]  SPOKEN SCRIPT (91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Here is what we want. [click] First, what the schema alone gives us: Admission becomes a class with a real relation to PatientData, and every property points back to its source column. [click] The documentation adds human-readable labels: Bone Marrow Depression, ECOG Performance Status. [click] A standard vocabulary adds a link to the Disease Ontology. [click] And the LLM's own knowledge adds what the ECOG codes mean, and that an admission is not a patient. [click] That is a usable semantic model. The challenge is to add all this without losing a single column or link.</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Five clicks, one per knowledge source: schema, documentation, Disease Ontology, LLM knowledge, then 'What this enables'. The gloss colours match the sources.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A usable model combines schema, documentation, standard vocabularies and LLM knowledge.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Illustrative fragment, verified with the OWL API at every reveal step (presentation/excerpts/slide03_*.omn). obo:DOID_4961 = Disease Ontology 'bone marrow disease'; skos:relatedMatch, not exactMatch, because BM_DEP is a yes/no column, not the disease. Provenance is column-level, as defined in paper Section 3.2.</a:t>
            </a:r>
            <a:endParaRPr/>
          </a:p>
        </p:txBody>
      </p:sp>
      <p:sp>
        <p:nvSpPr>
          <p:cNvPr id="147" name="Google Shape;147;h4e1cd23050cdd6e6_1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h4e1cd23050cdd6e6_1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h4e1cd23050cdd6e6_1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[1:07–1:59]  SPOKEN SCRIPT (91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Here is what we want. [click] First, what the schema alone gives us: Admission becomes a class with a real relation to PatientData, and every property points back to its source column. [click] The documentation adds human-readable labels: Bone Marrow Depression, ECOG Performance Status. [click] A standard vocabulary adds a link to the Disease Ontology. [click] And the LLM's own knowledge adds what the ECOG codes mean, and that an admission is not a patient. [click] That is a usable semantic model. The challenge is to add all this without losing a single column or link.</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Five clicks, one per knowledge source: schema, documentation, Disease Ontology, LLM knowledge, then 'What this enables'. The gloss colours match the sources.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A usable model combines schema, documentation, standard vocabularies and LLM knowledge.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Illustrative fragment, verified with the OWL API at every reveal step (presentation/excerpts/slide03_*.omn). obo:DOID_4961 = Disease Ontology 'bone marrow disease'; skos:relatedMatch, not exactMatch, because BM_DEP is a yes/no column, not the disease. Provenance is column-level, as defined in paper Section 3.2.</a:t>
            </a:r>
            <a:endParaRPr/>
          </a:p>
        </p:txBody>
      </p:sp>
      <p:sp>
        <p:nvSpPr>
          <p:cNvPr id="196" name="Google Shape;196;h4e1cd23050cdd6e6_1_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h4e1cd23050cdd6e6_1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h4e1cd23050cdd6e6_1_1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[1:07–1:59]  SPOKEN SCRIPT (91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Here is what we want. [click] First, what the schema alone gives us: Admission becomes a class with a real relation to PatientData, and every property points back to its source column. [click] The documentation adds human-readable labels: Bone Marrow Depression, ECOG Performance Status. [click] A standard vocabulary adds a link to the Disease Ontology. [click] And the LLM's own knowledge adds what the ECOG codes mean, and that an admission is not a patient. [click] That is a usable semantic model. The challenge is to add all this without losing a single column or link.</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Five clicks, one per knowledge source: schema, documentation, Disease Ontology, LLM knowledge, then 'What this enables'. The gloss colours match the sources.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A usable model combines schema, documentation, standard vocabularies and LLM knowledge.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Illustrative fragment, verified with the OWL API at every reveal step (presentation/excerpts/slide03_*.omn). obo:DOID_4961 = Disease Ontology 'bone marrow disease'; skos:relatedMatch, not exactMatch, because BM_DEP is a yes/no column, not the disease. Provenance is column-level, as defined in paper Section 3.2.</a:t>
            </a:r>
            <a:endParaRPr/>
          </a:p>
        </p:txBody>
      </p:sp>
      <p:sp>
        <p:nvSpPr>
          <p:cNvPr id="249" name="Google Shape;249;h4e1cd23050cdd6e6_1_1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h4e1cd23050cdd6e6_1_1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h4e1cd23050cdd6e6_1_1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[1:07–1:59]  SPOKEN SCRIPT (91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Here is what we want. [click] First, what the schema alone gives us: Admission becomes a class with a real relation to PatientData, and every property points back to its source column. [click] The documentation adds human-readable labels: Bone Marrow Depression, ECOG Performance Status. [click] A standard vocabulary adds a link to the Disease Ontology. [click] And the LLM's own knowledge adds what the ECOG codes mean, and that an admission is not a patient. [click] That is a usable semantic model. The challenge is to add all this without losing a single column or link.</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Five clicks, one per knowledge source: schema, documentation, Disease Ontology, LLM knowledge, then 'What this enables'. The gloss colours match the sources.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A usable model combines schema, documentation, standard vocabularies and LLM knowledge.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Illustrative fragment, verified with the OWL API at every reveal step (presentation/excerpts/slide03_*.omn). obo:DOID_4961 = Disease Ontology 'bone marrow disease'; skos:relatedMatch, not exactMatch, because BM_DEP is a yes/no column, not the disease. Provenance is column-level, as defined in paper Section 3.2.</a:t>
            </a:r>
            <a:endParaRPr/>
          </a:p>
        </p:txBody>
      </p:sp>
      <p:sp>
        <p:nvSpPr>
          <p:cNvPr id="304" name="Google Shape;304;h4e1cd23050cdd6e6_1_1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h4e1cd23050cdd6e6_1_2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h4e1cd23050cdd6e6_1_2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[1:07–1:59]  SPOKEN SCRIPT (91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Here is what we want. [click] First, what the schema alone gives us: Admission becomes a class with a real relation to PatientData, and every property points back to its source column. [click] The documentation adds human-readable labels: Bone Marrow Depression, ECOG Performance Status. [click] A standard vocabulary adds a link to the Disease Ontology. [click] And the LLM's own knowledge adds what the ECOG codes mean, and that an admission is not a patient. [click] That is a usable semantic model. The challenge is to add all this without losing a single column or link.</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Five clicks, one per knowledge source: schema, documentation, Disease Ontology, LLM knowledge, then 'What this enables'. The gloss colours match the sources.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A usable model combines schema, documentation, standard vocabularies and LLM knowledge.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Illustrative fragment, verified with the OWL API at every reveal step (presentation/excerpts/slide03_*.omn). obo:DOID_4961 = Disease Ontology 'bone marrow disease'; skos:relatedMatch, not exactMatch, because BM_DEP is a yes/no column, not the disease. Provenance is column-level, as defined in paper Section 3.2.</a:t>
            </a:r>
            <a:endParaRPr/>
          </a:p>
        </p:txBody>
      </p:sp>
      <p:sp>
        <p:nvSpPr>
          <p:cNvPr id="360" name="Google Shape;360;h4e1cd23050cdd6e6_1_2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[1:48–2:26]  SPOKEN SCRIPT (66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Existing work solves half of this. Schema-first rules, like direct mapping, preserve the structure: every table, column and foreign key. But they add no domain meaning. LLMs can suggest meaning: labels, concepts, relations. But they omit columns, or model keys wrongly. So our question is: can we keep schema fidelity and add domain semantics, across a whole database, with no expert in the loop during generation?</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Left card, right card, then land on the question.</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Rules keep structure; LLMs suggest meaning; we need both.</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Sections 1-2.</a:t>
            </a:r>
            <a:endParaRPr/>
          </a:p>
        </p:txBody>
      </p:sp>
      <p:sp>
        <p:nvSpPr>
          <p:cNvPr id="418" name="Google Shape;418;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[2:26–2:50]  SPOKEN SCRIPT (42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Our answer is RIGOR. It builds the ontology one table at a time, in six steps: order, seed, retrieve, generate, validate, merge. And as a preview: experts ranked it first in seventy percent of their rankings. Let's build it on our example.</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Sweep along the six steps. Point at the result preview once.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Six steps, one table at a time.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 3.1, Fig. 1; preview from Table 1.</a:t>
            </a:r>
            <a:endParaRPr/>
          </a:p>
        </p:txBody>
      </p:sp>
      <p:sp>
        <p:nvSpPr>
          <p:cNvPr id="442" name="Google Shape;442;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[2:50–3:22]  SPOKEN SCRIPT (56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Step one: order. Admission points to PatientData, so we build PatientData first. In general, RIGOR follows the foreign keys breadth-first: a table is processed once the tables it references are done. Why? By the time we reach Admission, PatientData already exists in our ontology. So we reuse that class, instead of inventing a second, incompatible one.</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Follow the FK arrow, then the processing order.</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Parents first, so later tables reuse known classes.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Sections 3.1-3.2 (FK-guided breadth-first order).</a:t>
            </a:r>
            <a:endParaRPr/>
          </a:p>
        </p:txBody>
      </p:sp>
      <p:sp>
        <p:nvSpPr>
          <p:cNvPr id="485" name="Google Shape;485;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6" name="Google Shape;526;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[3:22–3:59]  SPOKEN SCRIPT (66 words)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Step two: seed. Before any LLM is involved, a deterministic direct mapping turns the table into OWL. Admission becomes a class. The foreign key becomes an object property, and every admission must have a patient. Each column becomes a data property with its XSD type. This seed covers every column of the cleaned table, by construction. So the LLM's job is to enrich, not to invent.</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PRESENTER / POINTER: Read the glosses: 'each has a patient', 'the FK becomes a link'.</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AUDIENCE TAKEAWAY: A deterministic seed guarantees coverage before the LLM starts.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SOURCE AND SCOPE: Paper Section 3.2. The guarantee holds for the seed; final coverage is reported later.</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IF RUNNING LATE, DROP: "So the LLM's job is to enrich, not to invent."</a:t>
            </a:r>
            <a:endParaRPr/>
          </a:p>
        </p:txBody>
      </p:sp>
      <p:sp>
        <p:nvSpPr>
          <p:cNvPr id="527" name="Google Shape;527;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h2627160d5792b11b_0_5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3" name="Google Shape;563;h2627160d5792b11b_0_5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[3:59–4:41]  SPOKEN SCRIPT (73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seed is faithful, but it still doesn't say what BM_DEP means. So step three retrieves context from three sources. Documentation explains cryptic names and codes. External domain ontologies suggest established concepts. And the third source is the distinctive one: the ontology we have built so far. Earlier tables become evidence for the next. One query per table, built from its name, columns and foreign keys, retrieves the top three matches per source.</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Walk the three cards; slow down on the growing core.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Three sources supply meaning; the growing core is unique to RIGOR.</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 3.3 (all-MiniLM-L6-v2, Faiss, k = 3 per source).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RUNNING LATE, DROP: "One query per table, built from its name, columns and foreign keys, retrieves the top three matches per source."</a:t>
            </a:r>
            <a:endParaRPr/>
          </a:p>
        </p:txBody>
      </p:sp>
      <p:sp>
        <p:nvSpPr>
          <p:cNvPr id="564" name="Google Shape;564;h2627160d5792b11b_0_5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h2627160d5792b11b_0_5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h2627160d5792b11b_0_5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[3:59–4:41]  SPOKEN SCRIPT (73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seed is faithful, but it still doesn't say what BM_DEP means. So step three retrieves context from three sources. Documentation explains cryptic names and codes. External domain ontologies suggest established concepts. And the third source is the distinctive one: the ontology we have built so far. Earlier tables become evidence for the next. One query per table, built from its name, columns and foreign keys, retrieves the top three matches per source.</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Walk the three cards; slow down on the growing core.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Three sources supply meaning; the growing core is unique to RIGOR.</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 3.3 (all-MiniLM-L6-v2, Faiss, k = 3 per source).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RUNNING LATE, DROP: "One query per table, built from its name, columns and foreign keys, retrieves the top three matches per source."</a:t>
            </a:r>
            <a:endParaRPr/>
          </a:p>
        </p:txBody>
      </p:sp>
      <p:sp>
        <p:nvSpPr>
          <p:cNvPr id="592" name="Google Shape;592;h2627160d5792b11b_0_5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h2627160d5792b11b_0_5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h2627160d5792b11b_0_5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[3:59–4:41]  SPOKEN SCRIPT (73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seed is faithful, but it still doesn't say what BM_DEP means. So step three retrieves context from three sources. Documentation explains cryptic names and codes. External domain ontologies suggest established concepts. And the third source is the distinctive one: the ontology we have built so far. Earlier tables become evidence for the next. One query per table, built from its name, columns and foreign keys, retrieves the top three matches per source.</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Walk the three cards; slow down on the growing core.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Three sources supply meaning; the growing core is unique to RIGOR.</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 3.3 (all-MiniLM-L6-v2, Faiss, k = 3 per source).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RUNNING LATE, DROP: "One query per table, built from its name, columns and foreign keys, retrieves the top three matches per source."</a:t>
            </a:r>
            <a:endParaRPr/>
          </a:p>
        </p:txBody>
      </p:sp>
      <p:sp>
        <p:nvSpPr>
          <p:cNvPr id="628" name="Google Shape;628;h2627160d5792b11b_0_5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h2627160d5792b11b_0_6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1" name="Google Shape;671;h2627160d5792b11b_0_6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[3:59–4:41]  SPOKEN SCRIPT (73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seed is faithful, but it still doesn't say what BM_DEP means. So step three retrieves context from three sources. Documentation explains cryptic names and codes. External domain ontologies suggest established concepts. And the third source is the distinctive one: the ontology we have built so far. Earlier tables become evidence for the next. One query per table, built from its name, columns and foreign keys, retrieves the top three matches per source.</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Walk the three cards; slow down on the growing core.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Three sources supply meaning; the growing core is unique to RIGOR.</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 3.3 (all-MiniLM-L6-v2, Faiss, k = 3 per source).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RUNNING LATE, DROP: "One query per table, built from its name, columns and foreign keys, retrieves the top three matches per source."</a:t>
            </a:r>
            <a:endParaRPr/>
          </a:p>
        </p:txBody>
      </p:sp>
      <p:sp>
        <p:nvSpPr>
          <p:cNvPr id="672" name="Google Shape;672;h2627160d5792b11b_0_6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h3b1f15762288d989_1_1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7" name="Google Shape;717;h3b1f15762288d989_1_1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[4:52–5:48]  SPOKEN SCRIPT (98 words)</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Step four: generate. We prompt the Gen-LLM with the direct mapping from step two, the retrieved context and our enrichment instructions. What comes back is a delta ontology: the same lines as on the left, with new ones inserted into the gaps. The tags show where each change came from. The foreign key becomes the named relation hasPatientData, and provenance links each property to its column: both from the schema. The labels come from the documentation, the link to bone marrow disease from the Disease Ontology, and the disjointness and the ECOG scale from the model's own knowledge.</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PRESENTER / POINTER: Left to right on one row, then down the highlighted lines and their tags.</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AUDIENCE TAKEAWAY: The LLM enriches a grounded draft, and every addition is traceable.</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SOURCE AND SCOPE: Paper Sections 3.2-3.4. Row-aligned BEFORE/AFTER, both verified with the OWL API.</a:t>
            </a:r>
            <a:endParaRPr/>
          </a:p>
        </p:txBody>
      </p:sp>
      <p:sp>
        <p:nvSpPr>
          <p:cNvPr id="718" name="Google Shape;718;h3b1f15762288d989_1_1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h4e1cd23050cdd6e6_1_3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h4e1cd23050cdd6e6_1_3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[4:52–5:48]  SPOKEN SCRIPT (98 words)</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Step four: generate. We prompt the Gen-LLM with the direct mapping from step two, the retrieved context and our enrichment instructions. What comes back is a delta ontology: the same lines as on the left, with new ones inserted into the gaps. The tags show where each change came from. The foreign key becomes the named relation hasPatientData, and provenance links each property to its column: both from the schema. The labels come from the documentation, the link to bone marrow disease from the Disease Ontology, and the disjointness and the ECOG scale from the model's own knowledge.</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PRESENTER / POINTER: Left to right on one row, then down the highlighted lines and their tags.</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AUDIENCE TAKEAWAY: The LLM enriches a grounded draft, and every addition is traceable.</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SOURCE AND SCOPE: Paper Sections 3.2-3.4. Row-aligned BEFORE/AFTER, both verified with the OWL API.</a:t>
            </a:r>
            <a:endParaRPr/>
          </a:p>
        </p:txBody>
      </p:sp>
      <p:sp>
        <p:nvSpPr>
          <p:cNvPr id="763" name="Google Shape;763;h4e1cd23050cdd6e6_1_3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h3b1f15762288d989_2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5" name="Google Shape;845;h3b1f15762288d989_2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[5:22–6:25]  SPOKEN SCRIPT (110 words)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A capable LLM rarely gets syntax wrong. The real risk is a fragment that looks right but clashes with the ontology built so far. So step five validates every delta before it is merged. On the left, the model names the target class Patient, although the core already has PatientData. That is valid OWL, but now two classes mean the same thing. The Judge-LLM sees the core and asks to reuse it. On the right, a later table reuses hasPatientData with a second domain. OWL then infers that every lab result is an admission. Rule-based graph checks catch this. Failed fragments go back for correction, with up to two retries.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PRESENTER / POINTER: Left, right, then the correction strip.</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AUDIENCE TAKEAWAY: The Judge catches clashes in meaning; rules catch clashes in structure.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SOURCE AND SCOPE: Paper Section 3.5 (Judge criterion 9: core ontology consistency; graph check: domain/range cardinality). Two domains = OOPS! pitfall P19, still reported in 3/9 RIGOR runs (Table 7). Examples verified with the OWL API (presentation/excerpts/slide10_*.omn).</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IF ASKED: P19 is exactly the error that sometimes still slips through (3 of 9 runs); feeding validator output back into generation is our next step (slide 22).</a:t>
            </a:r>
            <a:endParaRPr/>
          </a:p>
        </p:txBody>
      </p:sp>
      <p:sp>
        <p:nvSpPr>
          <p:cNvPr id="846" name="Google Shape;846;h3b1f15762288d989_2_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h3b1f15762288d989_2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1" name="Google Shape;871;h3b1f15762288d989_2_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[5:22–6:25]  SPOKEN SCRIPT (110 words)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A capable LLM rarely gets syntax wrong. The real risk is a fragment that looks right but clashes with the ontology built so far. So step five validates every delta before it is merged. On the left, the model names the target class Patient, although the core already has PatientData. That is valid OWL, but now two classes mean the same thing. The Judge-LLM sees the core and asks to reuse it. On the right, a later table reuses hasPatientData with a second domain. OWL then infers that every lab result is an admission. Rule-based graph checks catch this. Failed fragments go back for correction, with up to two retries.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PRESENTER / POINTER: Left, right, then the correction strip.</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AUDIENCE TAKEAWAY: The Judge catches clashes in meaning; rules catch clashes in structure.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SOURCE AND SCOPE: Paper Section 3.5 (Judge criterion 9: core ontology consistency; graph check: domain/range cardinality). Two domains = OOPS! pitfall P19, still reported in 3/9 RIGOR runs (Table 7). Examples verified with the OWL API (presentation/excerpts/slide10_*.omn).</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IF ASKED: P19 is exactly the error that sometimes still slips through (3 of 9 runs); feeding validator output back into generation is our next step (slide 22).</a:t>
            </a:r>
            <a:endParaRPr/>
          </a:p>
        </p:txBody>
      </p:sp>
      <p:sp>
        <p:nvSpPr>
          <p:cNvPr id="872" name="Google Shape;872;h3b1f15762288d989_2_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h3b1f15762288d989_2_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4" name="Google Shape;904;h3b1f15762288d989_2_1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[5:22–6:25]  SPOKEN SCRIPT (110 words)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A capable LLM rarely gets syntax wrong. The real risk is a fragment that looks right but clashes with the ontology built so far. So step five validates every delta before it is merged. On the left, the model names the target class Patient, although the core already has PatientData. That is valid OWL, but now two classes mean the same thing. The Judge-LLM sees the core and asks to reuse it. On the right, a later table reuses hasPatientData with a second domain. OWL then infers that every lab result is an admission. Rule-based graph checks catch this. Failed fragments go back for correction, with up to two retries.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PRESENTER / POINTER: Left, right, then the correction strip.</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AUDIENCE TAKEAWAY: The Judge catches clashes in meaning; rules catch clashes in structure.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SOURCE AND SCOPE: Paper Section 3.5 (Judge criterion 9: core ontology consistency; graph check: domain/range cardinality). Two domains = OOPS! pitfall P19, still reported in 3/9 RIGOR runs (Table 7). Examples verified with the OWL API (presentation/excerpts/slide10_*.omn).</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IF ASKED: P19 is exactly the error that sometimes still slips through (3 of 9 runs); feeding validator output back into generation is our next step (slide 22).</a:t>
            </a:r>
            <a:endParaRPr/>
          </a:p>
        </p:txBody>
      </p:sp>
      <p:sp>
        <p:nvSpPr>
          <p:cNvPr id="905" name="Google Shape;905;h3b1f15762288d989_2_1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0" name="Google Shape;940;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[6:25–6:53]  SPOKEN SCRIPT (49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Step six: merge. The validated delta joins the core ontology. Because RIGOR reuses identifiers, this is a simple union of axioms. And here is the loop. The expanded ontology becomes a retrieval source for the next table. RIGOR never starts from scratch: each table builds on the ones before.</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Core plus delta, then the arrow back to retrieval.</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The ontology is both the output and the next input.</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 3.6.</a:t>
            </a:r>
            <a:endParaRPr/>
          </a:p>
        </p:txBody>
      </p:sp>
      <p:sp>
        <p:nvSpPr>
          <p:cNvPr id="941" name="Google Shape;941;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h4c5bf77df5a6a1aa_1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3" name="Google Shape;983;h4c5bf77df5a6a1aa_1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[7:19–7:29]  SPOKEN SCRIPT (18 words)</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Let me put the pieces together, as in the paper's Figure 1. First, the schema decides the order.</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PRESENTER / POINTER: Quick click. Reconnect, do not re-explain.</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AUDIENCE TAKEAWAY: Order.</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SOURCE AND SCOPE: Paper Fig. 1(a).</a:t>
            </a:r>
            <a:endParaRPr/>
          </a:p>
        </p:txBody>
      </p:sp>
      <p:sp>
        <p:nvSpPr>
          <p:cNvPr id="984" name="Google Shape;984;h4c5bf77df5a6a1aa_1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h4c5bf77df5a6a1aa_1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5" name="Google Shape;1015;h4c5bf77df5a6a1aa_1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[7:29–7:37]  SPOKEN SCRIPT (14 words)</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Each table then gets its deterministic seed: the structural anchor for everything that follows.</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PRESENTER / POINTER: Quick click.</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AUDIENCE TAKEAWAY: Seed.</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SOURCE AND SCOPE: Paper Fig. 1(b).</a:t>
            </a:r>
            <a:endParaRPr/>
          </a:p>
        </p:txBody>
      </p:sp>
      <p:sp>
        <p:nvSpPr>
          <p:cNvPr id="1016" name="Google Shape;1016;h4c5bf77df5a6a1aa_1_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h4c5bf77df5a6a1aa_1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7" name="Google Shape;1057;h4c5bf77df5a6a1aa_1_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[7:37–7:46]  SPOKEN SCRIPT (15 words)</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Three retrieval channels add meaning: external ontologies, documentation, and the core ontology built so far.</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PRESENTER / POINTER: Quick click.</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AUDIENCE TAKEAWAY: Retrieve.</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SOURCE AND SCOPE: Paper Fig. 1(c-e).</a:t>
            </a:r>
            <a:endParaRPr/>
          </a:p>
        </p:txBody>
      </p:sp>
      <p:sp>
        <p:nvSpPr>
          <p:cNvPr id="1058" name="Google Shape;1058;h4c5bf77df5a6a1aa_1_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h4c5bf77df5a6a1aa_1_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8" name="Google Shape;1128;h4c5bf77df5a6a1aa_1_1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[7:46–7:51]  SPOKEN SCRIPT (10 words)</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The Gen-LLM combines seed and context into a delta ontology.</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PRESENTER / POINTER: Quick click.</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AUDIENCE TAKEAWAY: Generate.</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SOURCE AND SCOPE: Paper Fig. 1(f-g).</a:t>
            </a:r>
            <a:endParaRPr/>
          </a:p>
        </p:txBody>
      </p:sp>
      <p:sp>
        <p:nvSpPr>
          <p:cNvPr id="1129" name="Google Shape;1129;h4c5bf77df5a6a1aa_1_1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h4c5bf77df5a6a1aa_1_2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8" name="Google Shape;1218;h4c5bf77df5a6a1aa_1_2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[7:51–7:58]  SPOKEN SCRIPT (12 words)</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A Judge-LLM and rule-based checks validate the delta before it can join.</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PRESENTER / POINTER: Quick click.</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AUDIENCE TAKEAWAY: Validate.</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SOURCE AND SCOPE: Paper Fig. 1(h).</a:t>
            </a:r>
            <a:endParaRPr/>
          </a:p>
        </p:txBody>
      </p:sp>
      <p:sp>
        <p:nvSpPr>
          <p:cNvPr id="1219" name="Google Shape;1219;h4c5bf77df5a6a1aa_1_2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4" name="Google Shape;1314;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[7:33–7:44]  SPOKEN SCRIPT (20 words)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And the validated delta is merged into the core, which feeds retrieval for the next table. That loop is RIGOR.</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PRESENTER / POINTER: Trace the green return arrow from (i) back to (e).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AUDIENCE TAKEAWAY: Merge, and loop.</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SOURCE AND SCOPE: Paper Fig. 1(i).</a:t>
            </a:r>
            <a:endParaRPr/>
          </a:p>
        </p:txBody>
      </p:sp>
      <p:sp>
        <p:nvSpPr>
          <p:cNvPr id="1315" name="Google Shape;1315;p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h547f90b031e64a91_0_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3" name="Google Shape;1423;h547f90b031e64a91_0_1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[7:44–8:19]  SPOKEN SCRIPT (62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Does this work beyond one example? We tested three databases: a private liver-cancer registry, the large eICU intensive-care schema, and Chinook, a music store, as a second domain. Three generator LLMs. And four methods: direct mapping, a zero-shot LLM, single-pass retrieval, and RIGOR. That gives thirty ontologies, judged by quality checks, an independent evaluation judge, ten human experts, and the BURR benchmark.</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Datasets, then the four methods. Do not read every number.</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Three databases, three LLMs, four methods, four kinds of evidence.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Sections 4.1-4.6. 30 ontologies = 3 LLMs x 3 methods x 3 databases + 3 direct mappings.</a:t>
            </a:r>
            <a:endParaRPr/>
          </a:p>
        </p:txBody>
      </p:sp>
      <p:sp>
        <p:nvSpPr>
          <p:cNvPr id="1424" name="Google Shape;1424;h547f90b031e64a91_0_1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5" name="Shape 1445"/>
        <p:cNvGrpSpPr/>
        <p:nvPr/>
      </p:nvGrpSpPr>
      <p:grpSpPr>
        <a:xfrm>
          <a:off x="0" y="0"/>
          <a:ext cx="0" cy="0"/>
          <a:chOff x="0" y="0"/>
          <a:chExt cx="0" cy="0"/>
        </a:xfrm>
      </p:grpSpPr>
      <p:sp>
        <p:nvSpPr>
          <p:cNvPr id="1446" name="Google Shape;1446;h547f90b031e64a91_0_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7" name="Google Shape;1447;h547f90b031e64a91_0_1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[7:44–8:19]  SPOKEN SCRIPT (62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Does this work beyond one example? We tested three databases: a private liver-cancer registry, the large eICU intensive-care schema, and Chinook, a music store, as a second domain. Three generator LLMs. And four methods: direct mapping, a zero-shot LLM, single-pass retrieval, and RIGOR. That gives thirty ontologies, judged by quality checks, an independent evaluation judge, ten human experts, and the BURR benchmark.</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Datasets, then the four methods. Do not read every number.</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Three databases, three LLMs, four methods, four kinds of evidence.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Sections 4.1-4.6. 30 ontologies = 3 LLMs x 3 methods x 3 databases + 3 direct mappings.</a:t>
            </a:r>
            <a:endParaRPr/>
          </a:p>
        </p:txBody>
      </p:sp>
      <p:sp>
        <p:nvSpPr>
          <p:cNvPr id="1448" name="Google Shape;1448;h547f90b031e64a91_0_1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h547f90b031e64a91_0_1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0" name="Google Shape;1480;h547f90b031e64a91_0_1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[7:44–8:19]  SPOKEN SCRIPT (62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Does this work beyond one example? We tested three databases: a private liver-cancer registry, the large eICU intensive-care schema, and Chinook, a music store, as a second domain. Three generator LLMs. And four methods: direct mapping, a zero-shot LLM, single-pass retrieval, and RIGOR. That gives thirty ontologies, judged by quality checks, an independent evaluation judge, ten human experts, and the BURR benchmark.</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Datasets, then the four methods. Do not read every number.</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Three databases, three LLMs, four methods, four kinds of evidence.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Sections 4.1-4.6. 30 ontologies = 3 LLMs x 3 methods x 3 databases + 3 direct mappings.</a:t>
            </a:r>
            <a:endParaRPr/>
          </a:p>
        </p:txBody>
      </p:sp>
      <p:sp>
        <p:nvSpPr>
          <p:cNvPr id="1481" name="Google Shape;1481;h547f90b031e64a91_0_1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2" name="Shape 1532"/>
        <p:cNvGrpSpPr/>
        <p:nvPr/>
      </p:nvGrpSpPr>
      <p:grpSpPr>
        <a:xfrm>
          <a:off x="0" y="0"/>
          <a:ext cx="0" cy="0"/>
          <a:chOff x="0" y="0"/>
          <a:chExt cx="0" cy="0"/>
        </a:xfrm>
      </p:grpSpPr>
      <p:sp>
        <p:nvSpPr>
          <p:cNvPr id="1533" name="Google Shape;1533;h547f90b031e64a91_0_2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4" name="Google Shape;1534;h547f90b031e64a91_0_2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[7:44–8:19]  SPOKEN SCRIPT (62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Does this work beyond one example? We tested three databases: a private liver-cancer registry, the large eICU intensive-care schema, and Chinook, a music store, as a second domain. Three generator LLMs. And four methods: direct mapping, a zero-shot LLM, single-pass retrieval, and RIGOR. That gives thirty ontologies, judged by quality checks, an independent evaluation judge, ten human experts, and the BURR benchmark.</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Datasets, then the four methods. Do not read every number.</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Three databases, three LLMs, four methods, four kinds of evidence.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Sections 4.1-4.6. 30 ontologies = 3 LLMs x 3 methods x 3 databases + 3 direct mappings.</a:t>
            </a:r>
            <a:endParaRPr/>
          </a:p>
        </p:txBody>
      </p:sp>
      <p:sp>
        <p:nvSpPr>
          <p:cNvPr id="1535" name="Google Shape;1535;h547f90b031e64a91_0_2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7" name="Shape 1587"/>
        <p:cNvGrpSpPr/>
        <p:nvPr/>
      </p:nvGrpSpPr>
      <p:grpSpPr>
        <a:xfrm>
          <a:off x="0" y="0"/>
          <a:ext cx="0" cy="0"/>
          <a:chOff x="0" y="0"/>
          <a:chExt cx="0" cy="0"/>
        </a:xfrm>
      </p:grpSpPr>
      <p:sp>
        <p:nvSpPr>
          <p:cNvPr id="1588" name="Google Shape;1588;h547f90b031e64a91_0_3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9" name="Google Shape;1589;h547f90b031e64a91_0_3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[7:44–8:19]  SPOKEN SCRIPT (62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Does this work beyond one example? We tested three databases: a private liver-cancer registry, the large eICU intensive-care schema, and Chinook, a music store, as a second domain. Three generator LLMs. And four methods: direct mapping, a zero-shot LLM, single-pass retrieval, and RIGOR. That gives thirty ontologies, judged by quality checks, an independent evaluation judge, ten human experts, and the BURR benchmark.</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Datasets, then the four methods. Do not read every number.</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Three databases, three LLMs, four methods, four kinds of evidence.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Sections 4.1-4.6. 30 ontologies = 3 LLMs x 3 methods x 3 databases + 3 direct mappings.</a:t>
            </a:r>
            <a:endParaRPr/>
          </a:p>
        </p:txBody>
      </p:sp>
      <p:sp>
        <p:nvSpPr>
          <p:cNvPr id="1590" name="Google Shape;1590;h547f90b031e64a91_0_3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4" name="Shape 1644"/>
        <p:cNvGrpSpPr/>
        <p:nvPr/>
      </p:nvGrpSpPr>
      <p:grpSpPr>
        <a:xfrm>
          <a:off x="0" y="0"/>
          <a:ext cx="0" cy="0"/>
          <a:chOff x="0" y="0"/>
          <a:chExt cx="0" cy="0"/>
        </a:xfrm>
      </p:grpSpPr>
      <p:sp>
        <p:nvSpPr>
          <p:cNvPr id="1645" name="Google Shape;1645;h547f90b031e64a91_0_3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6" name="Google Shape;1646;h547f90b031e64a91_0_3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[7:44–8:19]  SPOKEN SCRIPT (62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Does this work beyond one example? We tested three databases: a private liver-cancer registry, the large eICU intensive-care schema, and Chinook, a music store, as a second domain. Three generator LLMs. And four methods: direct mapping, a zero-shot LLM, single-pass retrieval, and RIGOR. That gives thirty ontologies, judged by quality checks, an independent evaluation judge, ten human experts, and the BURR benchmark.</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Datasets, then the four methods. Do not read every number.</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Three databases, three LLMs, four methods, four kinds of evidence.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Sections 4.1-4.6. 30 ontologies = 3 LLMs x 3 methods x 3 databases + 3 direct mappings.</a:t>
            </a:r>
            <a:endParaRPr/>
          </a:p>
        </p:txBody>
      </p:sp>
      <p:sp>
        <p:nvSpPr>
          <p:cNvPr id="1647" name="Google Shape;1647;h547f90b031e64a91_0_3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2" name="Shape 1702"/>
        <p:cNvGrpSpPr/>
        <p:nvPr/>
      </p:nvGrpSpPr>
      <p:grpSpPr>
        <a:xfrm>
          <a:off x="0" y="0"/>
          <a:ext cx="0" cy="0"/>
          <a:chOff x="0" y="0"/>
          <a:chExt cx="0" cy="0"/>
        </a:xfrm>
      </p:grpSpPr>
      <p:sp>
        <p:nvSpPr>
          <p:cNvPr id="1703" name="Google Shape;1703;h547f90b031e64a91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4" name="Google Shape;1704;h547f90b031e64a91_0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[7:44–8:19]  SPOKEN SCRIPT (62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Does this work beyond one example? We tested three databases: a private liver-cancer registry, the large eICU intensive-care schema, and Chinook, a music store, as a second domain. Three generator LLMs. And four methods: direct mapping, a zero-shot LLM, single-pass retrieval, and RIGOR. That gives thirty ontologies, judged by quality checks, an independent evaluation judge, ten human experts, and the BURR benchmark.</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Datasets, then the four methods. Do not read every number.</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Three databases, three LLMs, four methods, four kinds of evidence.</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Sections 4.1-4.6. 30 ontologies = 3 LLMs x 3 methods x 3 databases + 3 direct mappings.</a:t>
            </a:r>
            <a:endParaRPr/>
          </a:p>
        </p:txBody>
      </p:sp>
      <p:sp>
        <p:nvSpPr>
          <p:cNvPr id="1705" name="Google Shape;1705;h547f90b031e64a91_0_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7" name="Shape 1757"/>
        <p:cNvGrpSpPr/>
        <p:nvPr/>
      </p:nvGrpSpPr>
      <p:grpSpPr>
        <a:xfrm>
          <a:off x="0" y="0"/>
          <a:ext cx="0" cy="0"/>
          <a:chOff x="0" y="0"/>
          <a:chExt cx="0" cy="0"/>
        </a:xfrm>
      </p:grpSpPr>
      <p:sp>
        <p:nvSpPr>
          <p:cNvPr id="1758" name="Google Shape;1758;h547f90b031e64a91_0_4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9" name="Google Shape;1759;h547f90b031e64a91_0_4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[8:45–9:23]  SPOKEN SCRIPT (63 words)</a:t>
            </a:r>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We climb from the easiest check to the hardest. First, the basics: all thirty ontologies are valid OWL and logically consistent, for every method. Modeling errors are another story: direct mapping averages about five hundred per ontology, RIGOR eight. Look at this column: same model, same database. The small Mistral model on eICU makes two hundred twenty errors without RIGOR, two with it. [pause]</a:t>
            </a:r>
            <a:endParaRPr/>
          </a:p>
          <a:p>
            <a:pPr indent="-228600" lvl="0" marL="457200" marR="0" rtl="0" algn="l">
              <a:lnSpc>
                <a:spcPct val="100000"/>
              </a:lnSpc>
              <a:spcBef>
                <a:spcPts val="0"/>
              </a:spcBef>
              <a:spcAft>
                <a:spcPts val="0"/>
              </a:spcAft>
              <a:buClr>
                <a:srgbClr val="000000"/>
              </a:buClr>
              <a:buSzPts val="1400"/>
              <a:buFont typeface="Arial"/>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PRESENTER / POINTER: One breath for validity; then the averages; then point at the Mistral eICU column.</a:t>
            </a:r>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AUDIENCE TAKEAWAY: Every ontology is valid; RIGOR's have far fewer modeling errors, with every LLM.</a:t>
            </a:r>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SOURCE AND SCOPE: Paper Sec. 4.7 (RDFLib, HermiT) and Table 7 (OOPS! totals per run). 72% of the other methods' pitfalls are P08, missing annotations.</a:t>
            </a:r>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IF RUNNING LATE, DROP: "for every method"</a:t>
            </a:r>
            <a:endParaRPr/>
          </a:p>
          <a:p>
            <a:pPr indent="-228600" lvl="0" marL="457200" marR="0" rtl="0" algn="l">
              <a:lnSpc>
                <a:spcPct val="100000"/>
              </a:lnSpc>
              <a:spcBef>
                <a:spcPts val="0"/>
              </a:spcBef>
              <a:spcAft>
                <a:spcPts val="0"/>
              </a:spcAft>
              <a:buClr>
                <a:srgbClr val="000000"/>
              </a:buClr>
              <a:buSzPts val="1400"/>
              <a:buFont typeface="Arial"/>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IF ASKED ABOUT CRITICAL ERRORS: P19 (multiple domains or ranges) is the only pitfall OOPS! rates critical, and it is the second-domain error from the validation slide. Per ontology: Direct Mapping 15, LLM baseline 17, </a:t>
            </a:r>
            <a:r>
              <a:rPr lang="en-US">
                <a:latin typeface="Calibri"/>
                <a:ea typeface="Calibri"/>
                <a:cs typeface="Calibri"/>
                <a:sym typeface="Calibri"/>
              </a:rPr>
              <a:t>Non-Iterative RAG </a:t>
            </a:r>
            <a:r>
              <a:rPr lang="en-US" sz="1200">
                <a:solidFill>
                  <a:schemeClr val="dk1"/>
                </a:solidFill>
                <a:latin typeface="Calibri"/>
                <a:ea typeface="Calibri"/>
                <a:cs typeface="Calibri"/>
                <a:sym typeface="Calibri"/>
              </a:rPr>
              <a:t> 5.4, RIGOR 2.8; zero in 6 of RIGOR's 9 ontologies (Table 7). RIGOR's prompt allows one domain and one range, and the graph check rejects a second.</a:t>
            </a:r>
            <a:endParaRPr/>
          </a:p>
        </p:txBody>
      </p:sp>
      <p:sp>
        <p:nvSpPr>
          <p:cNvPr id="1760" name="Google Shape;1760;h547f90b031e64a91_0_4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6" name="Shape 1826"/>
        <p:cNvGrpSpPr/>
        <p:nvPr/>
      </p:nvGrpSpPr>
      <p:grpSpPr>
        <a:xfrm>
          <a:off x="0" y="0"/>
          <a:ext cx="0" cy="0"/>
          <a:chOff x="0" y="0"/>
          <a:chExt cx="0" cy="0"/>
        </a:xfrm>
      </p:grpSpPr>
      <p:sp>
        <p:nvSpPr>
          <p:cNvPr id="1827" name="Google Shape;1827;h547f90b031e64a91_0_5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8" name="Google Shape;1828;h547f90b031e64a91_0_5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[9:23–9:57]  SPOKEN SCRIPT (55 words)</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Fewer errors. But is anything lost? On average RIGOR covers ninety-three percent of the database columns, as much as direct mapping. </a:t>
            </a:r>
            <a:r>
              <a:rPr lang="en-US"/>
              <a:t>Non-Iterative RAG </a:t>
            </a:r>
            <a:r>
              <a:rPr b="0" i="0" lang="en-US" sz="1200" u="none" cap="none" strike="noStrike">
                <a:solidFill>
                  <a:schemeClr val="dk1"/>
                </a:solidFill>
                <a:latin typeface="IBM Plex Sans"/>
                <a:ea typeface="IBM Plex Sans"/>
                <a:cs typeface="IBM Plex Sans"/>
                <a:sym typeface="IBM Plex Sans"/>
              </a:rPr>
              <a:t>, with the same retrieved context but no seed, covers a third, and swings with the LLM, from six to seventy-eight percent. With RIGOR, every LLM keeps at least seventy-seven percent, in every database. [pause]</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PRESENTER / POINTER: RIGOR's average next to Direct Mapping's; then the red </a:t>
            </a:r>
            <a:r>
              <a:rPr lang="en-US"/>
              <a:t>Non-Iterative RAG </a:t>
            </a:r>
            <a:r>
              <a:rPr b="0" i="0" lang="en-US" sz="1200" u="none" cap="none" strike="noStrike">
                <a:solidFill>
                  <a:schemeClr val="dk1"/>
                </a:solidFill>
                <a:latin typeface="IBM Plex Sans"/>
                <a:ea typeface="IBM Plex Sans"/>
                <a:cs typeface="IBM Plex Sans"/>
                <a:sym typeface="IBM Plex Sans"/>
              </a:rPr>
              <a:t> row.</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AUDIENCE TAKEAWAY: RIGOR keeps the schema as well as Direct Mapping, with every LLM.</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SOURCE AND SCOPE: Paper Table 9 (column coverage per run; embedding similarity &gt;= 0.55).</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IF RUNNING LATE, DROP: "and swings with the LLM, from six to seventy-eight percent"</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IF ASKED WHY </a:t>
            </a:r>
            <a:r>
              <a:rPr lang="en-US"/>
              <a:t>Non-Iterative RAG </a:t>
            </a:r>
            <a:r>
              <a:rPr b="0" i="0" lang="en-US" sz="1200" u="none" cap="none" strike="noStrike">
                <a:solidFill>
                  <a:schemeClr val="dk1"/>
                </a:solidFill>
                <a:latin typeface="IBM Plex Sans"/>
                <a:ea typeface="IBM Plex Sans"/>
                <a:cs typeface="IBM Plex Sans"/>
                <a:sym typeface="IBM Plex Sans"/>
              </a:rPr>
              <a:t> DROPS BUT THE BASELINE DOES NOT: the baseline only translates the table, so it keeps column names but adds no meaning. </a:t>
            </a:r>
            <a:r>
              <a:rPr lang="en-US"/>
              <a:t>Non-Iterative RAG </a:t>
            </a:r>
            <a:r>
              <a:rPr b="0" i="0" lang="en-US" sz="1200" u="none" cap="none" strike="noStrike">
                <a:solidFill>
                  <a:schemeClr val="dk1"/>
                </a:solidFill>
                <a:latin typeface="IBM Plex Sans"/>
                <a:ea typeface="IBM Plex Sans"/>
                <a:cs typeface="IBM Plex Sans"/>
                <a:sym typeface="IBM Plex Sans"/>
              </a:rPr>
              <a:t> does everything in one pass with a lot of retrieved context and silently drops properties (e.g. 6 data properties for 350 Liver Cancer columns with Mistral, Table 8); nothing checks coverage. RIGOR starts from a seed with every column, works one table at a time, and its judge rejects fragments that drop a column.</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IF ASKED ABOUT MODEL SIZE AND COST: with RIGOR, Mistral Small 24B reaches 98% coverage (Claude 95%) for about $0.12 across the three databases, against about $33 with Claude (Tables 9, 15).</a:t>
            </a:r>
            <a:endParaRPr/>
          </a:p>
        </p:txBody>
      </p:sp>
      <p:sp>
        <p:nvSpPr>
          <p:cNvPr id="1829" name="Google Shape;1829;h547f90b031e64a91_0_5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3" name="Shape 1893"/>
        <p:cNvGrpSpPr/>
        <p:nvPr/>
      </p:nvGrpSpPr>
      <p:grpSpPr>
        <a:xfrm>
          <a:off x="0" y="0"/>
          <a:ext cx="0" cy="0"/>
          <a:chOff x="0" y="0"/>
          <a:chExt cx="0" cy="0"/>
        </a:xfrm>
      </p:grpSpPr>
      <p:sp>
        <p:nvSpPr>
          <p:cNvPr id="1894" name="Google Shape;1894;h547f90b031e64a91_0_5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5" name="Google Shape;1895;h547f90b031e64a91_0_5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[9:23–9:57]  SPOKEN SCRIPT (55 words)</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Fewer errors. But is anything lost? On average RIGOR covers ninety-three percent of the database columns, as much as direct mapping. </a:t>
            </a:r>
            <a:r>
              <a:rPr lang="en-US"/>
              <a:t>Non-Iterative RAG </a:t>
            </a:r>
            <a:r>
              <a:rPr b="0" i="0" lang="en-US" sz="1200" u="none" cap="none" strike="noStrike">
                <a:solidFill>
                  <a:schemeClr val="dk1"/>
                </a:solidFill>
                <a:latin typeface="IBM Plex Sans"/>
                <a:ea typeface="IBM Plex Sans"/>
                <a:cs typeface="IBM Plex Sans"/>
                <a:sym typeface="IBM Plex Sans"/>
              </a:rPr>
              <a:t>, with the same retrieved context but no seed, covers a third, and swings with the LLM, from six to seventy-eight percent. With RIGOR, every LLM keeps at least seventy-seven percent, in every database. [pause]</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PRESENTER / POINTER: RIGOR's average next to Direct Mapping's; then the red </a:t>
            </a:r>
            <a:r>
              <a:rPr lang="en-US"/>
              <a:t>Non-Iterative RAG </a:t>
            </a:r>
            <a:r>
              <a:rPr b="0" i="0" lang="en-US" sz="1200" u="none" cap="none" strike="noStrike">
                <a:solidFill>
                  <a:schemeClr val="dk1"/>
                </a:solidFill>
                <a:latin typeface="IBM Plex Sans"/>
                <a:ea typeface="IBM Plex Sans"/>
                <a:cs typeface="IBM Plex Sans"/>
                <a:sym typeface="IBM Plex Sans"/>
              </a:rPr>
              <a:t> row.</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AUDIENCE TAKEAWAY: RIGOR keeps the schema as well as Direct Mapping, with every LLM.</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SOURCE AND SCOPE: Paper Table 9 (column coverage per run; embedding similarity &gt;= 0.55).</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IF RUNNING LATE, DROP: "and swings with the LLM, from six to seventy-eight percent"</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IF ASKED WHY </a:t>
            </a:r>
            <a:r>
              <a:rPr lang="en-US"/>
              <a:t>Non-Iterative RAG </a:t>
            </a:r>
            <a:r>
              <a:rPr b="0" i="0" lang="en-US" sz="1200" u="none" cap="none" strike="noStrike">
                <a:solidFill>
                  <a:schemeClr val="dk1"/>
                </a:solidFill>
                <a:latin typeface="IBM Plex Sans"/>
                <a:ea typeface="IBM Plex Sans"/>
                <a:cs typeface="IBM Plex Sans"/>
                <a:sym typeface="IBM Plex Sans"/>
              </a:rPr>
              <a:t> DROPS BUT THE BASELINE DOES NOT: the baseline only translates the table, so it keeps column names but adds no meaning. </a:t>
            </a:r>
            <a:r>
              <a:rPr lang="en-US"/>
              <a:t>Non-Iterative RAG </a:t>
            </a:r>
            <a:r>
              <a:rPr b="0" i="0" lang="en-US" sz="1200" u="none" cap="none" strike="noStrike">
                <a:solidFill>
                  <a:schemeClr val="dk1"/>
                </a:solidFill>
                <a:latin typeface="IBM Plex Sans"/>
                <a:ea typeface="IBM Plex Sans"/>
                <a:cs typeface="IBM Plex Sans"/>
                <a:sym typeface="IBM Plex Sans"/>
              </a:rPr>
              <a:t> does everything in one pass with a lot of retrieved context and silently drops properties (e.g. 6 data properties for 350 Liver Cancer columns with Mistral, Table 8); nothing checks coverage. RIGOR starts from a seed with every column, works one table at a time, and its judge rejects fragments that drop a column.</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IF ASKED ABOUT MODEL SIZE AND COST: with RIGOR, Mistral Small 24B reaches 98% coverage (Claude 95%) for about $0.12 across the three databases, against about $33 with Claude (Tables 9, 15).</a:t>
            </a:r>
            <a:endParaRPr/>
          </a:p>
        </p:txBody>
      </p:sp>
      <p:sp>
        <p:nvSpPr>
          <p:cNvPr id="1896" name="Google Shape;1896;h547f90b031e64a91_0_5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2" name="Shape 1962"/>
        <p:cNvGrpSpPr/>
        <p:nvPr/>
      </p:nvGrpSpPr>
      <p:grpSpPr>
        <a:xfrm>
          <a:off x="0" y="0"/>
          <a:ext cx="0" cy="0"/>
          <a:chOff x="0" y="0"/>
          <a:chExt cx="0" cy="0"/>
        </a:xfrm>
      </p:grpSpPr>
      <p:sp>
        <p:nvSpPr>
          <p:cNvPr id="1963" name="Google Shape;1963;h547f90b031e64a91_0_8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4" name="Google Shape;1964;h547f90b031e64a91_0_8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[9:57–10:21]  SPOKEN SCRIPT (39 words)</a:t>
            </a:r>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Nothing is lost. Is meaning added? Direct mapping and the LLM baseline add none, in any run. Non-Iterative RAG adds labels, but no provenance and no class hierarchy. Only RIGOR adds all three, with every LLM, in every database. [pause]</a:t>
            </a:r>
            <a:endParaRPr/>
          </a:p>
          <a:p>
            <a:pPr indent="-228600" lvl="0" marL="457200" marR="0" rtl="0" algn="l">
              <a:lnSpc>
                <a:spcPct val="100000"/>
              </a:lnSpc>
              <a:spcBef>
                <a:spcPts val="0"/>
              </a:spcBef>
              <a:spcAft>
                <a:spcPts val="0"/>
              </a:spcAft>
              <a:buClr>
                <a:srgbClr val="000000"/>
              </a:buClr>
              <a:buSzPts val="1400"/>
              <a:buFont typeface="Arial"/>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PRESENTER / POINTER: Point at the red block first, then the three RIGOR rows.</a:t>
            </a:r>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AUDIENCE TAKEAWAY: Only RIGOR adds labels, provenance and a class hierarchy, with every LLM.</a:t>
            </a:r>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SOURCE AND SCOPE: Paper Table 8. Hierarchy as inheritance richness (subclass axioms per class; OntoQA, Tartir et al. 2005; OntoMetrics, Lantow 2016), computed from Table 8 counts. Shading is within each database.</a:t>
            </a:r>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IF RUNNING LATE, DROP: "Non-Iterative RAG adds labels, but no provenance and no class hierarchy."</a:t>
            </a:r>
            <a:endParaRPr/>
          </a:p>
          <a:p>
            <a:pPr indent="-228600" lvl="0" marL="457200" marR="0" rtl="0" algn="l">
              <a:lnSpc>
                <a:spcPct val="100000"/>
              </a:lnSpc>
              <a:spcBef>
                <a:spcPts val="0"/>
              </a:spcBef>
              <a:spcAft>
                <a:spcPts val="0"/>
              </a:spcAft>
              <a:buClr>
                <a:srgbClr val="000000"/>
              </a:buClr>
              <a:buSzPts val="1400"/>
              <a:buFont typeface="Arial"/>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IF ASKED 'DOES CHINOOK NEED SO MANY SUBCLASSES?': Count is not quality, so we report whether a hierarchy exists, and only RIGOR builds one. RIGOR's Chinook ontologies have zero OOPS! pitfalls and the judge ranks RIGOR first on all 11 Chinook tables; it does score RIGOR's conciseness lower there (2.59 vs 3.32 for the baseline, Table 10), so tighter hierarchies are future work.</a:t>
            </a:r>
            <a:endParaRPr/>
          </a:p>
          <a:p>
            <a:pPr indent="-228600" lvl="0" marL="457200" marR="0" rtl="0" algn="l">
              <a:lnSpc>
                <a:spcPct val="100000"/>
              </a:lnSpc>
              <a:spcBef>
                <a:spcPts val="0"/>
              </a:spcBef>
              <a:spcAft>
                <a:spcPts val="0"/>
              </a:spcAft>
              <a:buClr>
                <a:srgbClr val="000000"/>
              </a:buClr>
              <a:buSzPts val="1400"/>
              <a:buFont typeface="Arial"/>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DOMAIN PATTERN (notes only): inheritance richness is 0.10-0.70 on the clinical schemas and 2.1-4.1 on the music store; the LLM proposes more specializations in a familiar domain.</a:t>
            </a:r>
            <a:endParaRPr/>
          </a:p>
        </p:txBody>
      </p:sp>
      <p:sp>
        <p:nvSpPr>
          <p:cNvPr id="1965" name="Google Shape;1965;h547f90b031e64a91_0_8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4" name="Shape 2064"/>
        <p:cNvGrpSpPr/>
        <p:nvPr/>
      </p:nvGrpSpPr>
      <p:grpSpPr>
        <a:xfrm>
          <a:off x="0" y="0"/>
          <a:ext cx="0" cy="0"/>
          <a:chOff x="0" y="0"/>
          <a:chExt cx="0" cy="0"/>
        </a:xfrm>
      </p:grpSpPr>
      <p:sp>
        <p:nvSpPr>
          <p:cNvPr id="2065" name="Google Shape;2065;h547f90b031e64a91_0_7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6" name="Google Shape;2066;h547f90b031e64a91_0_7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[10:33–11:20]  SPOKEN SCRIPT (81 words)</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Meaning is added. But is the link back to the data still correct? BURR, an external benchmark, checks exactly this: every class, relation and attribute must map back to the right table, foreign key or column, scored with F1 against a gold mapping. On BURR's ISWC scenario, RIGOR has the highest F1 on all three, ahead of rule-based and LLM-based systems. Relations stand out: zero point six seven against zero point one one, because foreign keys become named relations, like hasPatientData.</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PRESENTER / POINTER: Left card first, then land on the RIGOR row.</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AUDIENCE TAKEAWAY: Semantic enrichment did not break the correspondence that OBDA and KG population need.</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SOURCE AND SCOPE: Paper Table 13. BURR = Laskowski et al., PACMMOD 2025; matching rule from BURR Section 4, Eq. 3. Left-card element names are illustrative.</a:t>
            </a:r>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IF RUNNING LATE, DROP: "scored with F1 against a gold mapping"</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DO NOT SAY: 'BURR found LLMs trail rule-based systems'. BURR's results show Gemini 2.5 Pro ahead of the rule-based systems overall (rule-based systems win only on NPD).</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IBM Plex Sans"/>
                <a:ea typeface="IBM Plex Sans"/>
                <a:cs typeface="IBM Plex Sans"/>
                <a:sym typeface="IBM Plex Sans"/>
              </a:rPr>
              <a:t>IF ASKED ABOUT GEMINI 2.5 PRO (BURR Table 3, ISWC .65 / .68 / .56): in BURR it is a general-purpose LLM prompted with few-shot examples and a checklist to write the D2RQ mapping directly. It is a mapping generator, not an ontology-learning system that builds an enriched ontology, so we compare with ontology-learning systems. Against it, RIGOR's class F1 is higher, relations are on par, attributes lower, and RIGOR also produces labels, hierarchy and provenance. It is prompted, not fine-tuned.</a:t>
            </a:r>
            <a:endParaRPr/>
          </a:p>
        </p:txBody>
      </p:sp>
      <p:sp>
        <p:nvSpPr>
          <p:cNvPr id="2067" name="Google Shape;2067;h547f90b031e64a91_0_7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9" name="Shape 2119"/>
        <p:cNvGrpSpPr/>
        <p:nvPr/>
      </p:nvGrpSpPr>
      <p:grpSpPr>
        <a:xfrm>
          <a:off x="0" y="0"/>
          <a:ext cx="0" cy="0"/>
          <a:chOff x="0" y="0"/>
          <a:chExt cx="0" cy="0"/>
        </a:xfrm>
      </p:grpSpPr>
      <p:sp>
        <p:nvSpPr>
          <p:cNvPr id="2120" name="Google Shape;2120;h547f90b031e64a91_0_12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1" name="Google Shape;2121;h547f90b031e64a91_0_12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[11:07–12:03]  SPOKEN SCRIPT (91 words)</a:t>
            </a:r>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Automatic checks agree. Do evaluators agree? For each table, an LLM judge and ten ontology experts saw the schema, five competency questions, the questions the ontology must answer, and four anonymized ontologies. They scored each on seven quality dimensions and ranked them. The LLM judge put RIGOR first on every table, in all three databases. [pause] The experts put RIGOR first in seven of ten rankings, with the highest average score on both databases. [pause] Direct mapping gives structure without meaning. LLMs alone give meaning without structure. RIGOR gives both, and checks them.</a:t>
            </a:r>
            <a:endParaRPr/>
          </a:p>
          <a:p>
            <a:pPr indent="-228600" lvl="0" marL="457200" marR="0" rtl="0" algn="l">
              <a:lnSpc>
                <a:spcPct val="100000"/>
              </a:lnSpc>
              <a:spcBef>
                <a:spcPts val="0"/>
              </a:spcBef>
              <a:spcAft>
                <a:spcPts val="0"/>
              </a:spcAft>
              <a:buClr>
                <a:srgbClr val="000000"/>
              </a:buClr>
              <a:buSzPts val="1400"/>
              <a:buFont typeface="Arial"/>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PRESENTER / POINTER: The 'How they judged' box in one breath; then the two claims; then the closing strip.</a:t>
            </a:r>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AUDIENCE TAKEAWAY: Judged blind against competency questions, an LLM judge and human experts both rank RIGOR first.</a:t>
            </a:r>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SOURCE AND SCOPE: Paper Sec. 4.2 and 4.6 (5 expert-verified CQs per table, 7 dimensions, ranking), Table 1 (judge scores and first places: 58 of 58 tables), Table 11 (expert scores), Table 12 (Kendall's W 0.39-0.72). Judge evaluated the Claude ontologies; experts 4 medical tables, 28 of 40 first places.</a:t>
            </a:r>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IF RUNNING LATE, DROP: "with the highest average score on both databases"</a:t>
            </a:r>
            <a:endParaRPr/>
          </a:p>
          <a:p>
            <a:pPr indent="-228600" lvl="0" marL="457200" marR="0" rtl="0" algn="l">
              <a:lnSpc>
                <a:spcPct val="100000"/>
              </a:lnSpc>
              <a:spcBef>
                <a:spcPts val="0"/>
              </a:spcBef>
              <a:spcAft>
                <a:spcPts val="0"/>
              </a:spcAft>
              <a:buClr>
                <a:srgbClr val="000000"/>
              </a:buClr>
              <a:buSzPts val="1400"/>
              <a:buFont typeface="Arial"/>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IF ASKED HOW MANY: the judge ranked RIGOR first on 58 of 58 tables (16 Liver Cancer, 31 eICU-CRD, 11 Chinook); the experts in 28 of 40 rankings (10 experts x 4 tables).</a:t>
            </a:r>
            <a:endParaRPr/>
          </a:p>
        </p:txBody>
      </p:sp>
      <p:sp>
        <p:nvSpPr>
          <p:cNvPr id="2122" name="Google Shape;2122;h547f90b031e64a91_0_12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8" name="Shape 2168"/>
        <p:cNvGrpSpPr/>
        <p:nvPr/>
      </p:nvGrpSpPr>
      <p:grpSpPr>
        <a:xfrm>
          <a:off x="0" y="0"/>
          <a:ext cx="0" cy="0"/>
          <a:chOff x="0" y="0"/>
          <a:chExt cx="0" cy="0"/>
        </a:xfrm>
      </p:grpSpPr>
      <p:sp>
        <p:nvSpPr>
          <p:cNvPr id="2169" name="Google Shape;2169;h547f90b031e64a91_0_9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0" name="Google Shape;2170;h547f90b031e64a91_0_9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[11:05–12:00]  SPOKEN SCRIPT (96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Where next? Today RIGOR reads schemas and documentation. The next step is to let the data speak. Imagine several patients whose records show bone marrow depression after cisplatin cycles. The rows alone show a pattern. The drug label adds that bone-marrow suppression is a known adverse reaction of cisplatin. Together, they let RIGOR propose new knowledge: a candidate association between cisplatin and bone marrow depression, with provenance to both sources. Candidate, not cause. Gemcitabine, radiotherapy or cirrhosis could also explain it. So an expert reviews it. We also want validator and reasoner feedback inside the loop.</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Rows, label, code, left to right. Say 'candidate' or 'may have contributed', never 'caused'.</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Instances plus documentation can propose knowledge; experts confirm it.</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 5. Rows are synthetic. OWL verified (presentation/excerpts/slide22_future_candidate.omn): a typed individual with provenance, no causal axiom.</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RUNNING LATE, DROP: "We also want validator and reasoner feedback inside the loop."</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ASKED WHY NOT AN OWL CAUSAL AXIOM: OWL reasoning is deductive and open-world; it cannot derive causation from statistics, and 'Cisplatin SubClassOf causes some BoneMarrowDepression' would wrongly claim it for every case.</a:t>
            </a:r>
            <a:endParaRPr/>
          </a:p>
        </p:txBody>
      </p:sp>
      <p:sp>
        <p:nvSpPr>
          <p:cNvPr id="2171" name="Google Shape;2171;h547f90b031e64a91_0_9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6" name="Shape 2176"/>
        <p:cNvGrpSpPr/>
        <p:nvPr/>
      </p:nvGrpSpPr>
      <p:grpSpPr>
        <a:xfrm>
          <a:off x="0" y="0"/>
          <a:ext cx="0" cy="0"/>
          <a:chOff x="0" y="0"/>
          <a:chExt cx="0" cy="0"/>
        </a:xfrm>
      </p:grpSpPr>
      <p:sp>
        <p:nvSpPr>
          <p:cNvPr id="2177" name="Google Shape;2177;h547f90b031e64a91_0_9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8" name="Google Shape;2178;h547f90b031e64a91_0_9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[11:05–12:00]  SPOKEN SCRIPT (96 words)</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Where next? Today RIGOR reads schemas and documentation. The next step is to let the data speak. Imagine several patients whose records show bone marrow depression after cisplatin cycles. The rows alone show a pattern. The drug label adds that bone-marrow suppression is a known adverse reaction of cisplatin. Together, they let RIGOR propose new knowledge: a candidate association between cisplatin and bone marrow depression, with provenance to both sources. Candidate, not cause. Gemcitabine, radiotherapy or cirrhosis could also explain it. So an expert reviews it. We also want validator and reasoner feedback inside the loop.</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PRESENTER / POINTER: Rows, label, code, left to right. Say 'candidate' or 'may have contributed', never 'caused'.</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AUDIENCE TAKEAWAY: Instances plus documentation can propose knowledge; experts confirm it.</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SOURCE AND SCOPE: Paper Section 5. Rows are synthetic. OWL verified (presentation/excerpts/slide22_future_candidate.omn): a typed individual with provenance, no causal axiom.</a:t>
            </a:r>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RUNNING LATE, DROP: "We also want validator and reasoner feedback inside the loop."</a:t>
            </a:r>
            <a:endParaRPr/>
          </a:p>
          <a:p>
            <a:pPr indent="-228600" lvl="0" marL="457200" marR="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ASKED WHY NOT AN OWL CAUSAL AXIOM: OWL reasoning is deductive and open-world; it cannot derive causation from statistics, and 'Cisplatin SubClassOf causes some BoneMarrowDepression' would wrongly claim it for every case.</a:t>
            </a:r>
            <a:endParaRPr/>
          </a:p>
        </p:txBody>
      </p:sp>
      <p:sp>
        <p:nvSpPr>
          <p:cNvPr id="2179" name="Google Shape;2179;h547f90b031e64a91_0_9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2" name="Shape 2192"/>
        <p:cNvGrpSpPr/>
        <p:nvPr/>
      </p:nvGrpSpPr>
      <p:grpSpPr>
        <a:xfrm>
          <a:off x="0" y="0"/>
          <a:ext cx="0" cy="0"/>
          <a:chOff x="0" y="0"/>
          <a:chExt cx="0" cy="0"/>
        </a:xfrm>
      </p:grpSpPr>
      <p:sp>
        <p:nvSpPr>
          <p:cNvPr id="2193" name="Google Shape;2193;h547f90b031e64a91_0_12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4" name="Google Shape;2194;h547f90b031e64a91_0_12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[12:00–12:49]  SPOKEN SCRIPT (86 words)</a:t>
            </a:r>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Where next? Let the data speak. Today RIGOR reads schemas and documentation, but the data can show links the documentation does not contain. Here, the treatment table says which admissions received cisplatin, and the admission table records bone marrow depression. Joined on the admission id, every cisplatin admission has bone marrow depression. That link is not in the documentation, so RIGOR can propose it as candidate knowledge, with provenance to both columns. A pattern, not a cause: an expert reviews it before it joins the ontology.</a:t>
            </a:r>
            <a:endParaRPr/>
          </a:p>
          <a:p>
            <a:pPr indent="-228600" lvl="0" marL="457200" marR="0" rtl="0" algn="l">
              <a:lnSpc>
                <a:spcPct val="100000"/>
              </a:lnSpc>
              <a:spcBef>
                <a:spcPts val="0"/>
              </a:spcBef>
              <a:spcAft>
                <a:spcPts val="0"/>
              </a:spcAft>
              <a:buClr>
                <a:srgbClr val="000000"/>
              </a:buClr>
              <a:buSzPts val="1400"/>
              <a:buFont typeface="Arial"/>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PRESENTER / POINTER: A1 and A3 in both tables; then the pattern bars; then the candidate code and its badge.</a:t>
            </a:r>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AUDIENCE TAKEAWAY: Instance data can propose new, reviewable knowledge that the documentation does not contain.</a:t>
            </a:r>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SOURCE AND SCOPE: Rows are synthetic. OWL verified (presentation/excerpts/slide22_future_candidate.omn): a typed individual with provenance, no causal axiom.</a:t>
            </a:r>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IF RUNNING LATE, DROP: "Today RIGOR reads schemas and documentation, but"</a:t>
            </a:r>
            <a:endParaRPr/>
          </a:p>
          <a:p>
            <a:pPr indent="-228600" lvl="0" marL="457200" marR="0" rtl="0" algn="l">
              <a:lnSpc>
                <a:spcPct val="100000"/>
              </a:lnSpc>
              <a:spcBef>
                <a:spcPts val="0"/>
              </a:spcBef>
              <a:spcAft>
                <a:spcPts val="0"/>
              </a:spcAft>
              <a:buClr>
                <a:srgbClr val="000000"/>
              </a:buClr>
              <a:buSzPts val="1400"/>
              <a:buFont typeface="Arial"/>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IF ASKED WHY NOT AN OWL CAUSAL AXIOM: OWL reasoning is deductive and open-world; it cannot derive causation from statistics, and 'Cisplatin SubClassOf causes some BoneMarrowDepression' would wrongly claim it for every case. Other treatments or conditions could explain the pattern.</a:t>
            </a:r>
            <a:endParaRPr/>
          </a:p>
          <a:p>
            <a:pPr indent="-228600" lvl="0" marL="457200" marR="0" rtl="0" algn="l">
              <a:lnSpc>
                <a:spcPct val="100000"/>
              </a:lnSpc>
              <a:spcBef>
                <a:spcPts val="0"/>
              </a:spcBef>
              <a:spcAft>
                <a:spcPts val="0"/>
              </a:spcAft>
              <a:buClr>
                <a:srgbClr val="000000"/>
              </a:buClr>
              <a:buSzPts val="1400"/>
              <a:buFont typeface="Arial"/>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IF ASKED ABOUT PRIVACY: only aggregate statistics (co-occurrence counts) need to leave the database, not patient rows.</a:t>
            </a:r>
            <a:endParaRPr/>
          </a:p>
        </p:txBody>
      </p:sp>
      <p:sp>
        <p:nvSpPr>
          <p:cNvPr id="2195" name="Google Shape;2195;h547f90b031e64a91_0_12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3" name="Shape 2233"/>
        <p:cNvGrpSpPr/>
        <p:nvPr/>
      </p:nvGrpSpPr>
      <p:grpSpPr>
        <a:xfrm>
          <a:off x="0" y="0"/>
          <a:ext cx="0" cy="0"/>
          <a:chOff x="0" y="0"/>
          <a:chExt cx="0" cy="0"/>
        </a:xfrm>
      </p:grpSpPr>
      <p:sp>
        <p:nvSpPr>
          <p:cNvPr id="2234" name="Google Shape;2234;h547f90b031e64a91_0_13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5" name="Google Shape;2235;h547f90b031e64a91_0_13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[12:00–12:49]  SPOKEN SCRIPT (86 words)</a:t>
            </a:r>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Where next? Let the data speak. Today RIGOR reads schemas and documentation, but the data can show links the documentation does not contain. Here, the treatment table says which admissions received cisplatin, and the admission table records bone marrow depression. Joined on the admission id, every cisplatin admission has bone marrow depression. That link is not in the documentation, so RIGOR can propose it as candidate knowledge, with provenance to both columns. A pattern, not a cause: an expert reviews it before it joins the ontology.</a:t>
            </a:r>
            <a:endParaRPr/>
          </a:p>
          <a:p>
            <a:pPr indent="-228600" lvl="0" marL="457200" marR="0" rtl="0" algn="l">
              <a:lnSpc>
                <a:spcPct val="100000"/>
              </a:lnSpc>
              <a:spcBef>
                <a:spcPts val="0"/>
              </a:spcBef>
              <a:spcAft>
                <a:spcPts val="0"/>
              </a:spcAft>
              <a:buClr>
                <a:srgbClr val="000000"/>
              </a:buClr>
              <a:buSzPts val="1400"/>
              <a:buFont typeface="Arial"/>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PRESENTER / POINTER: A1 and A3 in both tables; then the pattern bars; then the candidate code and its badge.</a:t>
            </a:r>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AUDIENCE TAKEAWAY: Instance data can propose new, reviewable knowledge that the documentation does not contain.</a:t>
            </a:r>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SOURCE AND SCOPE: Rows are synthetic. OWL verified (presentation/excerpts/slide22_future_candidate.omn): a typed individual with provenance, no causal axiom.</a:t>
            </a:r>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IF RUNNING LATE, DROP: "Today RIGOR reads schemas and documentation, but"</a:t>
            </a:r>
            <a:endParaRPr/>
          </a:p>
          <a:p>
            <a:pPr indent="-228600" lvl="0" marL="457200" marR="0" rtl="0" algn="l">
              <a:lnSpc>
                <a:spcPct val="100000"/>
              </a:lnSpc>
              <a:spcBef>
                <a:spcPts val="0"/>
              </a:spcBef>
              <a:spcAft>
                <a:spcPts val="0"/>
              </a:spcAft>
              <a:buClr>
                <a:srgbClr val="000000"/>
              </a:buClr>
              <a:buSzPts val="1400"/>
              <a:buFont typeface="Arial"/>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IF ASKED WHY NOT AN OWL CAUSAL AXIOM: OWL reasoning is deductive and open-world; it cannot derive causation from statistics, and 'Cisplatin SubClassOf causes some BoneMarrowDepression' would wrongly claim it for every case. Other treatments or conditions could explain the pattern.</a:t>
            </a:r>
            <a:endParaRPr/>
          </a:p>
          <a:p>
            <a:pPr indent="-228600" lvl="0" marL="457200" marR="0" rtl="0" algn="l">
              <a:lnSpc>
                <a:spcPct val="100000"/>
              </a:lnSpc>
              <a:spcBef>
                <a:spcPts val="0"/>
              </a:spcBef>
              <a:spcAft>
                <a:spcPts val="0"/>
              </a:spcAft>
              <a:buClr>
                <a:srgbClr val="000000"/>
              </a:buClr>
              <a:buSzPts val="1400"/>
              <a:buFont typeface="Arial"/>
              <a:buNone/>
            </a:pPr>
            <a:r>
              <a:t/>
            </a:r>
            <a:endParaRPr sz="1200">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lang="en-US" sz="1200">
                <a:solidFill>
                  <a:schemeClr val="dk1"/>
                </a:solidFill>
                <a:latin typeface="Calibri"/>
                <a:ea typeface="Calibri"/>
                <a:cs typeface="Calibri"/>
                <a:sym typeface="Calibri"/>
              </a:rPr>
              <a:t>IF ASKED ABOUT PRIVACY: only aggregate statistics (co-occurrence counts) need to leave the database, not patient rows.</a:t>
            </a:r>
            <a:endParaRPr/>
          </a:p>
        </p:txBody>
      </p:sp>
      <p:sp>
        <p:nvSpPr>
          <p:cNvPr id="2236" name="Google Shape;2236;h547f90b031e64a91_0_13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6" name="Shape 2306"/>
        <p:cNvGrpSpPr/>
        <p:nvPr/>
      </p:nvGrpSpPr>
      <p:grpSpPr>
        <a:xfrm>
          <a:off x="0" y="0"/>
          <a:ext cx="0" cy="0"/>
          <a:chOff x="0" y="0"/>
          <a:chExt cx="0" cy="0"/>
        </a:xfrm>
      </p:grpSpPr>
      <p:sp>
        <p:nvSpPr>
          <p:cNvPr id="2307" name="Google Shape;230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8" name="Google Shape;2308;p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[12:00–12:33]  SPOKEN SCRIPT (57 words)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To conclude. RIGOR anchors LLM generation in the database itself, grounds it in retrieved knowledge, and checks every step before the ontology grows. The result: meaning without losing structure, the link to the data intact, and ontologies that experts prefer. The paper and code are behind these QR codes. Thank you. I'm happy to take your questions.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IBM Plex Sans"/>
              <a:ea typeface="IBM Plex Sans"/>
              <a:cs typeface="IBM Plex Sans"/>
              <a:sym typeface="IBM Plex Sans"/>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PRESENTER / POINTER: Finish speaking by 13:30. Leave this slide up during questions; backups follow it.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AUDIENCE TAKEAWAY: Grounded, retrieved, validated.</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IBM Plex Sans"/>
                <a:ea typeface="IBM Plex Sans"/>
                <a:cs typeface="IBM Plex Sans"/>
                <a:sym typeface="IBM Plex Sans"/>
              </a:rPr>
              <a:t>SOURCE AND SCOPE: Recap of the paper; contact address on the slide.</a:t>
            </a:r>
            <a:endParaRPr/>
          </a:p>
        </p:txBody>
      </p:sp>
      <p:sp>
        <p:nvSpPr>
          <p:cNvPr id="2309" name="Google Shape;2309;p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FFFFF"/>
        </a:solidFill>
      </p:bgPr>
    </p:bg>
    <p:spTree>
      <p:nvGrpSpPr>
        <p:cNvPr id="12" name="Shape 12"/>
        <p:cNvGrpSpPr/>
        <p:nvPr/>
      </p:nvGrpSpPr>
      <p:grpSpPr>
        <a:xfrm>
          <a:off x="0" y="0"/>
          <a:ext cx="0" cy="0"/>
          <a:chOff x="0" y="0"/>
          <a:chExt cx="0" cy="0"/>
        </a:xfrm>
      </p:grpSpPr>
      <p:sp>
        <p:nvSpPr>
          <p:cNvPr id="13" name="Google Shape;13;p25"/>
          <p:cNvSpPr txBox="1"/>
          <p:nvPr>
            <p:ph type="title"/>
          </p:nvPr>
        </p:nvSpPr>
        <p:spPr>
          <a:xfrm>
            <a:off x="812800" y="1153120"/>
            <a:ext cx="10566400" cy="39112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F2328"/>
              </a:buClr>
              <a:buSzPts val="2800"/>
              <a:buFont typeface="Calibri"/>
              <a:buNone/>
              <a:defRPr sz="2800">
                <a:solidFill>
                  <a:srgbClr val="1F232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5"/>
          <p:cNvSpPr txBox="1"/>
          <p:nvPr>
            <p:ph idx="1" type="body"/>
          </p:nvPr>
        </p:nvSpPr>
        <p:spPr>
          <a:xfrm>
            <a:off x="812800" y="1849041"/>
            <a:ext cx="10566400" cy="4196159"/>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F2328"/>
              </a:buClr>
              <a:buSzPts val="1600"/>
              <a:buNone/>
              <a:defRPr sz="1600">
                <a:solidFill>
                  <a:srgbClr val="1F2328"/>
                </a:solidFill>
                <a:latin typeface="Calibri"/>
                <a:ea typeface="Calibri"/>
                <a:cs typeface="Calibri"/>
                <a:sym typeface="Calibri"/>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812800" y="1153120"/>
            <a:ext cx="10566400" cy="39112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F2328"/>
              </a:buClr>
              <a:buSzPts val="2800"/>
              <a:buFont typeface="Calibri"/>
              <a:buNone/>
              <a:defRPr b="0" i="0" sz="2800" u="none" cap="none" strike="noStrike">
                <a:solidFill>
                  <a:srgbClr val="1F232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9pPr>
          </a:lstStyle>
          <a:p/>
        </p:txBody>
      </p:sp>
      <p:sp>
        <p:nvSpPr>
          <p:cNvPr id="11" name="Google Shape;11;p24"/>
          <p:cNvSpPr txBox="1"/>
          <p:nvPr>
            <p:ph idx="1" type="body"/>
          </p:nvPr>
        </p:nvSpPr>
        <p:spPr>
          <a:xfrm>
            <a:off x="812800" y="1849041"/>
            <a:ext cx="10566400" cy="4196159"/>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F2328"/>
              </a:buClr>
              <a:buSzPts val="1600"/>
              <a:buFont typeface="Calibri"/>
              <a:buNone/>
              <a:defRPr b="0" i="0" sz="1600" u="none" cap="none" strike="noStrike">
                <a:solidFill>
                  <a:srgbClr val="1F2328"/>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Calibri"/>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0.png"/><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7.png"/><Relationship Id="rId4" Type="http://schemas.openxmlformats.org/officeDocument/2006/relationships/image" Target="../media/image13.png"/><Relationship Id="rId5" Type="http://schemas.openxmlformats.org/officeDocument/2006/relationships/image" Target="../media/image1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 name="Shape 20"/>
        <p:cNvGrpSpPr/>
        <p:nvPr/>
      </p:nvGrpSpPr>
      <p:grpSpPr>
        <a:xfrm>
          <a:off x="0" y="0"/>
          <a:ext cx="0" cy="0"/>
          <a:chOff x="0" y="0"/>
          <a:chExt cx="0" cy="0"/>
        </a:xfrm>
      </p:grpSpPr>
      <p:sp>
        <p:nvSpPr>
          <p:cNvPr id="21" name="Google Shape;21;p1"/>
          <p:cNvSpPr/>
          <p:nvPr/>
        </p:nvSpPr>
        <p:spPr>
          <a:xfrm>
            <a:off x="8092440" y="0"/>
            <a:ext cx="4099200" cy="6858000"/>
          </a:xfrm>
          <a:prstGeom prst="rect">
            <a:avLst/>
          </a:prstGeom>
          <a:solidFill>
            <a:srgbClr val="FAFBF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 name="Google Shape;22;p1"/>
          <p:cNvSpPr/>
          <p:nvPr/>
        </p:nvSpPr>
        <p:spPr>
          <a:xfrm>
            <a:off x="836676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 name="Google Shape;23;p1"/>
          <p:cNvSpPr/>
          <p:nvPr/>
        </p:nvSpPr>
        <p:spPr>
          <a:xfrm>
            <a:off x="864108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 name="Google Shape;24;p1"/>
          <p:cNvSpPr/>
          <p:nvPr/>
        </p:nvSpPr>
        <p:spPr>
          <a:xfrm>
            <a:off x="891540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 name="Google Shape;25;p1"/>
          <p:cNvSpPr/>
          <p:nvPr/>
        </p:nvSpPr>
        <p:spPr>
          <a:xfrm>
            <a:off x="918972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 name="Google Shape;26;p1"/>
          <p:cNvSpPr/>
          <p:nvPr/>
        </p:nvSpPr>
        <p:spPr>
          <a:xfrm>
            <a:off x="946404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 name="Google Shape;27;p1"/>
          <p:cNvSpPr/>
          <p:nvPr/>
        </p:nvSpPr>
        <p:spPr>
          <a:xfrm>
            <a:off x="973836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 name="Google Shape;28;p1"/>
          <p:cNvSpPr/>
          <p:nvPr/>
        </p:nvSpPr>
        <p:spPr>
          <a:xfrm>
            <a:off x="1001268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 name="Google Shape;29;p1"/>
          <p:cNvSpPr/>
          <p:nvPr/>
        </p:nvSpPr>
        <p:spPr>
          <a:xfrm>
            <a:off x="1028700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 name="Google Shape;30;p1"/>
          <p:cNvSpPr/>
          <p:nvPr/>
        </p:nvSpPr>
        <p:spPr>
          <a:xfrm>
            <a:off x="1056132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 name="Google Shape;31;p1"/>
          <p:cNvSpPr/>
          <p:nvPr/>
        </p:nvSpPr>
        <p:spPr>
          <a:xfrm>
            <a:off x="1083564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 name="Google Shape;32;p1"/>
          <p:cNvSpPr/>
          <p:nvPr/>
        </p:nvSpPr>
        <p:spPr>
          <a:xfrm>
            <a:off x="1110996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 name="Google Shape;33;p1"/>
          <p:cNvSpPr/>
          <p:nvPr/>
        </p:nvSpPr>
        <p:spPr>
          <a:xfrm>
            <a:off x="1138428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 name="Google Shape;34;p1"/>
          <p:cNvSpPr/>
          <p:nvPr/>
        </p:nvSpPr>
        <p:spPr>
          <a:xfrm>
            <a:off x="1165860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 name="Google Shape;35;p1"/>
          <p:cNvSpPr/>
          <p:nvPr/>
        </p:nvSpPr>
        <p:spPr>
          <a:xfrm>
            <a:off x="1193292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 name="Google Shape;36;p1"/>
          <p:cNvSpPr/>
          <p:nvPr/>
        </p:nvSpPr>
        <p:spPr>
          <a:xfrm>
            <a:off x="8092440" y="274320"/>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 name="Google Shape;37;p1"/>
          <p:cNvSpPr/>
          <p:nvPr/>
        </p:nvSpPr>
        <p:spPr>
          <a:xfrm>
            <a:off x="8092440" y="548640"/>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 name="Google Shape;38;p1"/>
          <p:cNvSpPr/>
          <p:nvPr/>
        </p:nvSpPr>
        <p:spPr>
          <a:xfrm>
            <a:off x="8092440" y="82295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 name="Google Shape;39;p1"/>
          <p:cNvSpPr/>
          <p:nvPr/>
        </p:nvSpPr>
        <p:spPr>
          <a:xfrm>
            <a:off x="8092440" y="1097280"/>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 name="Google Shape;40;p1"/>
          <p:cNvSpPr/>
          <p:nvPr/>
        </p:nvSpPr>
        <p:spPr>
          <a:xfrm>
            <a:off x="8092440" y="1371600"/>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 name="Google Shape;41;p1"/>
          <p:cNvSpPr/>
          <p:nvPr/>
        </p:nvSpPr>
        <p:spPr>
          <a:xfrm>
            <a:off x="8092440" y="1645920"/>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 name="Google Shape;42;p1"/>
          <p:cNvSpPr/>
          <p:nvPr/>
        </p:nvSpPr>
        <p:spPr>
          <a:xfrm>
            <a:off x="8092440" y="1920240"/>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 name="Google Shape;43;p1"/>
          <p:cNvSpPr/>
          <p:nvPr/>
        </p:nvSpPr>
        <p:spPr>
          <a:xfrm>
            <a:off x="8092440" y="2194560"/>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 name="Google Shape;44;p1"/>
          <p:cNvSpPr/>
          <p:nvPr/>
        </p:nvSpPr>
        <p:spPr>
          <a:xfrm>
            <a:off x="8092440" y="246887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 name="Google Shape;45;p1"/>
          <p:cNvSpPr/>
          <p:nvPr/>
        </p:nvSpPr>
        <p:spPr>
          <a:xfrm>
            <a:off x="8092440" y="274319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 name="Google Shape;46;p1"/>
          <p:cNvSpPr/>
          <p:nvPr/>
        </p:nvSpPr>
        <p:spPr>
          <a:xfrm>
            <a:off x="8092440" y="301751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 name="Google Shape;47;p1"/>
          <p:cNvSpPr/>
          <p:nvPr/>
        </p:nvSpPr>
        <p:spPr>
          <a:xfrm>
            <a:off x="8092440" y="329183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 name="Google Shape;48;p1"/>
          <p:cNvSpPr/>
          <p:nvPr/>
        </p:nvSpPr>
        <p:spPr>
          <a:xfrm>
            <a:off x="8092440" y="356615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 name="Google Shape;49;p1"/>
          <p:cNvSpPr/>
          <p:nvPr/>
        </p:nvSpPr>
        <p:spPr>
          <a:xfrm>
            <a:off x="8092440" y="384047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 name="Google Shape;50;p1"/>
          <p:cNvSpPr/>
          <p:nvPr/>
        </p:nvSpPr>
        <p:spPr>
          <a:xfrm>
            <a:off x="8092440" y="411479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 name="Google Shape;51;p1"/>
          <p:cNvSpPr/>
          <p:nvPr/>
        </p:nvSpPr>
        <p:spPr>
          <a:xfrm>
            <a:off x="8092440" y="438911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 name="Google Shape;52;p1"/>
          <p:cNvSpPr/>
          <p:nvPr/>
        </p:nvSpPr>
        <p:spPr>
          <a:xfrm>
            <a:off x="8092440" y="466343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 name="Google Shape;53;p1"/>
          <p:cNvSpPr/>
          <p:nvPr/>
        </p:nvSpPr>
        <p:spPr>
          <a:xfrm>
            <a:off x="8092440" y="493775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 name="Google Shape;54;p1"/>
          <p:cNvSpPr/>
          <p:nvPr/>
        </p:nvSpPr>
        <p:spPr>
          <a:xfrm>
            <a:off x="8092440" y="521207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 name="Google Shape;55;p1"/>
          <p:cNvSpPr/>
          <p:nvPr/>
        </p:nvSpPr>
        <p:spPr>
          <a:xfrm>
            <a:off x="8092440" y="548639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 name="Google Shape;56;p1"/>
          <p:cNvSpPr/>
          <p:nvPr/>
        </p:nvSpPr>
        <p:spPr>
          <a:xfrm>
            <a:off x="8092440" y="576071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 name="Google Shape;57;p1"/>
          <p:cNvSpPr/>
          <p:nvPr/>
        </p:nvSpPr>
        <p:spPr>
          <a:xfrm>
            <a:off x="8092440" y="603503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 name="Google Shape;58;p1"/>
          <p:cNvSpPr/>
          <p:nvPr/>
        </p:nvSpPr>
        <p:spPr>
          <a:xfrm>
            <a:off x="8092440" y="630935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 name="Google Shape;59;p1"/>
          <p:cNvSpPr/>
          <p:nvPr/>
        </p:nvSpPr>
        <p:spPr>
          <a:xfrm>
            <a:off x="8092440" y="658367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0" name="Google Shape;60;p1"/>
          <p:cNvSpPr txBox="1"/>
          <p:nvPr/>
        </p:nvSpPr>
        <p:spPr>
          <a:xfrm>
            <a:off x="795528" y="566928"/>
            <a:ext cx="67665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RESEARCH PAPER</a:t>
            </a:r>
            <a:endParaRPr b="0" i="0" sz="1400" u="none" cap="none" strike="noStrike">
              <a:solidFill>
                <a:srgbClr val="000000"/>
              </a:solidFill>
              <a:latin typeface="Arial"/>
              <a:ea typeface="Arial"/>
              <a:cs typeface="Arial"/>
              <a:sym typeface="Arial"/>
            </a:endParaRPr>
          </a:p>
        </p:txBody>
      </p:sp>
      <p:sp>
        <p:nvSpPr>
          <p:cNvPr id="61" name="Google Shape;61;p1"/>
          <p:cNvSpPr txBox="1"/>
          <p:nvPr/>
        </p:nvSpPr>
        <p:spPr>
          <a:xfrm>
            <a:off x="795528" y="1938528"/>
            <a:ext cx="6949500" cy="1481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1F2328"/>
                </a:solidFill>
                <a:latin typeface="Cambria"/>
                <a:ea typeface="Cambria"/>
                <a:cs typeface="Cambria"/>
                <a:sym typeface="Cambria"/>
              </a:rPr>
              <a:t>Retrieval-Augmented</a:t>
            </a:r>
            <a:endParaRPr b="0" i="0" sz="3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1F2328"/>
                </a:solidFill>
                <a:latin typeface="Cambria"/>
                <a:ea typeface="Cambria"/>
                <a:cs typeface="Cambria"/>
                <a:sym typeface="Cambria"/>
              </a:rPr>
              <a:t>Generation of Ontologies</a:t>
            </a:r>
            <a:endParaRPr b="0" i="0" sz="3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1F2328"/>
                </a:solidFill>
                <a:latin typeface="Cambria"/>
                <a:ea typeface="Cambria"/>
                <a:cs typeface="Cambria"/>
                <a:sym typeface="Cambria"/>
              </a:rPr>
              <a:t>from Relational Databases</a:t>
            </a:r>
            <a:endParaRPr b="0" i="0" sz="3000" u="none" cap="none" strike="noStrike">
              <a:solidFill>
                <a:srgbClr val="000000"/>
              </a:solidFill>
              <a:latin typeface="Arial"/>
              <a:ea typeface="Arial"/>
              <a:cs typeface="Arial"/>
              <a:sym typeface="Arial"/>
            </a:endParaRPr>
          </a:p>
        </p:txBody>
      </p:sp>
      <p:sp>
        <p:nvSpPr>
          <p:cNvPr id="62" name="Google Shape;62;p1"/>
          <p:cNvSpPr txBox="1"/>
          <p:nvPr/>
        </p:nvSpPr>
        <p:spPr>
          <a:xfrm>
            <a:off x="795528" y="6053328"/>
            <a:ext cx="6949500" cy="2742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250"/>
              <a:buFont typeface="Arial"/>
              <a:buNone/>
            </a:pPr>
            <a:r>
              <a:rPr b="1" i="0" lang="en-US" sz="1250" u="none" cap="none" strike="noStrike">
                <a:solidFill>
                  <a:srgbClr val="5B6770"/>
                </a:solidFill>
                <a:latin typeface="Consolas"/>
                <a:ea typeface="Consolas"/>
                <a:cs typeface="Consolas"/>
                <a:sym typeface="Consolas"/>
              </a:rPr>
              <a:t>PAPER  </a:t>
            </a:r>
            <a:r>
              <a:rPr b="0" i="0" lang="en-US" sz="1250" u="none" cap="none" strike="noStrike">
                <a:solidFill>
                  <a:srgbClr val="2F6B78"/>
                </a:solidFill>
                <a:latin typeface="Consolas"/>
                <a:ea typeface="Consolas"/>
                <a:cs typeface="Consolas"/>
                <a:sym typeface="Consolas"/>
              </a:rPr>
              <a:t>arXiv:2506.01232</a:t>
            </a:r>
            <a:r>
              <a:rPr b="1" i="0" lang="en-US" sz="1250" u="none" cap="none" strike="noStrike">
                <a:solidFill>
                  <a:srgbClr val="5B6770"/>
                </a:solidFill>
                <a:latin typeface="Consolas"/>
                <a:ea typeface="Consolas"/>
                <a:cs typeface="Consolas"/>
                <a:sym typeface="Consolas"/>
              </a:rPr>
              <a:t>        CODE  </a:t>
            </a:r>
            <a:r>
              <a:rPr b="0" i="0" lang="en-US" sz="1250" u="none" cap="none" strike="noStrike">
                <a:solidFill>
                  <a:srgbClr val="2F6B78"/>
                </a:solidFill>
                <a:latin typeface="Consolas"/>
                <a:ea typeface="Consolas"/>
                <a:cs typeface="Consolas"/>
                <a:sym typeface="Consolas"/>
              </a:rPr>
              <a:t>github.com/NadeenAhmad/RIGOR</a:t>
            </a:r>
            <a:endParaRPr b="0" i="0" sz="1250" u="none" cap="none" strike="noStrike">
              <a:solidFill>
                <a:srgbClr val="1F2328"/>
              </a:solidFill>
              <a:latin typeface="Arial"/>
              <a:ea typeface="Arial"/>
              <a:cs typeface="Arial"/>
              <a:sym typeface="Arial"/>
            </a:endParaRPr>
          </a:p>
        </p:txBody>
      </p:sp>
      <p:pic>
        <p:nvPicPr>
          <p:cNvPr descr="A relational table whose highlighted row is mapped by RIGOR to a node of an ontology graph" id="63" name="Google Shape;63;p1"/>
          <p:cNvPicPr preferRelativeResize="0"/>
          <p:nvPr/>
        </p:nvPicPr>
        <p:blipFill rotWithShape="1">
          <a:blip r:embed="rId3">
            <a:alphaModFix/>
          </a:blip>
          <a:srcRect b="0" l="0" r="0" t="0"/>
          <a:stretch/>
        </p:blipFill>
        <p:spPr>
          <a:xfrm>
            <a:off x="8427567" y="1325880"/>
            <a:ext cx="3428999" cy="3066584"/>
          </a:xfrm>
          <a:prstGeom prst="rect">
            <a:avLst/>
          </a:prstGeom>
          <a:noFill/>
          <a:ln>
            <a:noFill/>
          </a:ln>
        </p:spPr>
      </p:pic>
      <p:sp>
        <p:nvSpPr>
          <p:cNvPr id="64" name="Google Shape;64;p1"/>
          <p:cNvSpPr txBox="1"/>
          <p:nvPr/>
        </p:nvSpPr>
        <p:spPr>
          <a:xfrm>
            <a:off x="8233257" y="4502193"/>
            <a:ext cx="1828800" cy="2559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300"/>
              <a:buFont typeface="Arial"/>
              <a:buNone/>
            </a:pPr>
            <a:r>
              <a:rPr b="1" i="0" lang="en-US" sz="1300" u="none" cap="none" strike="noStrike">
                <a:solidFill>
                  <a:srgbClr val="1F2328"/>
                </a:solidFill>
                <a:latin typeface="Consolas"/>
                <a:ea typeface="Consolas"/>
                <a:cs typeface="Consolas"/>
                <a:sym typeface="Consolas"/>
              </a:rPr>
              <a:t>relational database</a:t>
            </a:r>
            <a:endParaRPr b="0" i="0" sz="1300" u="none" cap="none" strike="noStrike">
              <a:solidFill>
                <a:srgbClr val="1F2328"/>
              </a:solidFill>
              <a:latin typeface="Arial"/>
              <a:ea typeface="Arial"/>
              <a:cs typeface="Arial"/>
              <a:sym typeface="Arial"/>
            </a:endParaRPr>
          </a:p>
        </p:txBody>
      </p:sp>
      <p:sp>
        <p:nvSpPr>
          <p:cNvPr id="65" name="Google Shape;65;p1"/>
          <p:cNvSpPr txBox="1"/>
          <p:nvPr/>
        </p:nvSpPr>
        <p:spPr>
          <a:xfrm>
            <a:off x="10119207" y="4502193"/>
            <a:ext cx="1828800" cy="2559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300"/>
              <a:buFont typeface="Arial"/>
              <a:buNone/>
            </a:pPr>
            <a:r>
              <a:rPr b="1" i="0" lang="en-US" sz="1300" u="none" cap="none" strike="noStrike">
                <a:solidFill>
                  <a:srgbClr val="1F2328"/>
                </a:solidFill>
                <a:latin typeface="Consolas"/>
                <a:ea typeface="Consolas"/>
                <a:cs typeface="Consolas"/>
                <a:sym typeface="Consolas"/>
              </a:rPr>
              <a:t>ontology</a:t>
            </a:r>
            <a:endParaRPr b="0" i="0" sz="1300" u="none" cap="none" strike="noStrike">
              <a:solidFill>
                <a:srgbClr val="1F2328"/>
              </a:solidFill>
              <a:latin typeface="Arial"/>
              <a:ea typeface="Arial"/>
              <a:cs typeface="Arial"/>
              <a:sym typeface="Arial"/>
            </a:endParaRPr>
          </a:p>
        </p:txBody>
      </p:sp>
      <p:sp>
        <p:nvSpPr>
          <p:cNvPr id="66" name="Google Shape;66;p1"/>
          <p:cNvSpPr txBox="1"/>
          <p:nvPr/>
        </p:nvSpPr>
        <p:spPr>
          <a:xfrm>
            <a:off x="768096" y="987552"/>
            <a:ext cx="6766500" cy="86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0B6E4F"/>
                </a:solidFill>
                <a:latin typeface="Cambria"/>
                <a:ea typeface="Cambria"/>
                <a:cs typeface="Cambria"/>
                <a:sym typeface="Cambria"/>
              </a:rPr>
              <a:t>RIGOR</a:t>
            </a:r>
            <a:endParaRPr/>
          </a:p>
        </p:txBody>
      </p:sp>
      <p:sp>
        <p:nvSpPr>
          <p:cNvPr id="67" name="Google Shape;67;p1"/>
          <p:cNvSpPr txBox="1"/>
          <p:nvPr/>
        </p:nvSpPr>
        <p:spPr>
          <a:xfrm>
            <a:off x="795528" y="3822191"/>
            <a:ext cx="6949500" cy="960000"/>
          </a:xfrm>
          <a:prstGeom prst="rect">
            <a:avLst/>
          </a:prstGeom>
          <a:noFill/>
          <a:ln>
            <a:noFill/>
          </a:ln>
        </p:spPr>
        <p:txBody>
          <a:bodyPr anchorCtr="0" anchor="t" bIns="0" lIns="0" spcFirstLastPara="1" rIns="0" wrap="square" tIns="0">
            <a:noAutofit/>
          </a:bodyPr>
          <a:lstStyle/>
          <a:p>
            <a:pPr indent="0" lvl="0" marL="0" marR="0" rtl="0" algn="l">
              <a:lnSpc>
                <a:spcPct val="153333"/>
              </a:lnSpc>
              <a:spcBef>
                <a:spcPts val="0"/>
              </a:spcBef>
              <a:spcAft>
                <a:spcPts val="0"/>
              </a:spcAft>
              <a:buNone/>
            </a:pPr>
            <a:r>
              <a:rPr b="1" i="0" lang="en-US" sz="1500" u="none" cap="none" strike="noStrike">
                <a:solidFill>
                  <a:srgbClr val="1F2328"/>
                </a:solidFill>
                <a:latin typeface="Calibri"/>
                <a:ea typeface="Calibri"/>
                <a:cs typeface="Calibri"/>
                <a:sym typeface="Calibri"/>
              </a:rPr>
              <a:t>Nadeen Fathallah</a:t>
            </a:r>
            <a:r>
              <a:rPr b="1" baseline="30000" i="0" lang="en-US" sz="1500" u="none" cap="none" strike="noStrike">
                <a:solidFill>
                  <a:srgbClr val="0B6E4F"/>
                </a:solidFill>
                <a:latin typeface="Calibri"/>
                <a:ea typeface="Calibri"/>
                <a:cs typeface="Calibri"/>
                <a:sym typeface="Calibri"/>
              </a:rPr>
              <a:t>1</a:t>
            </a:r>
            <a:r>
              <a:rPr b="0" i="0" lang="en-US" sz="1500" u="none" cap="none" strike="noStrike">
                <a:solidFill>
                  <a:srgbClr val="6B747B"/>
                </a:solidFill>
                <a:latin typeface="Calibri"/>
                <a:ea typeface="Calibri"/>
                <a:cs typeface="Calibri"/>
                <a:sym typeface="Calibri"/>
              </a:rPr>
              <a:t>   ·   </a:t>
            </a:r>
            <a:r>
              <a:rPr b="0" i="0" lang="en-US" sz="1500" u="none" cap="none" strike="noStrike">
                <a:solidFill>
                  <a:srgbClr val="3A434C"/>
                </a:solidFill>
                <a:latin typeface="Calibri"/>
                <a:ea typeface="Calibri"/>
                <a:cs typeface="Calibri"/>
                <a:sym typeface="Calibri"/>
              </a:rPr>
              <a:t>Mojtaba Nayyeri</a:t>
            </a:r>
            <a:r>
              <a:rPr b="1" baseline="30000" i="0" lang="en-US" sz="1500" u="none" cap="none" strike="noStrike">
                <a:solidFill>
                  <a:srgbClr val="0B6E4F"/>
                </a:solidFill>
                <a:latin typeface="Calibri"/>
                <a:ea typeface="Calibri"/>
                <a:cs typeface="Calibri"/>
                <a:sym typeface="Calibri"/>
              </a:rPr>
              <a:t>1</a:t>
            </a:r>
            <a:r>
              <a:rPr b="0" i="0" lang="en-US" sz="1500" u="none" cap="none" strike="noStrike">
                <a:solidFill>
                  <a:srgbClr val="6B747B"/>
                </a:solidFill>
                <a:latin typeface="Calibri"/>
                <a:ea typeface="Calibri"/>
                <a:cs typeface="Calibri"/>
                <a:sym typeface="Calibri"/>
              </a:rPr>
              <a:t>   ·   </a:t>
            </a:r>
            <a:r>
              <a:rPr b="0" i="0" lang="en-US" sz="1500" u="none" cap="none" strike="noStrike">
                <a:solidFill>
                  <a:srgbClr val="3A434C"/>
                </a:solidFill>
                <a:latin typeface="Calibri"/>
                <a:ea typeface="Calibri"/>
                <a:cs typeface="Calibri"/>
                <a:sym typeface="Calibri"/>
              </a:rPr>
              <a:t>Athish A Yogi</a:t>
            </a:r>
            <a:r>
              <a:rPr b="1" baseline="30000" i="0" lang="en-US" sz="1500" u="none" cap="none" strike="noStrike">
                <a:solidFill>
                  <a:srgbClr val="0B6E4F"/>
                </a:solidFill>
                <a:latin typeface="Calibri"/>
                <a:ea typeface="Calibri"/>
                <a:cs typeface="Calibri"/>
                <a:sym typeface="Calibri"/>
              </a:rPr>
              <a:t>1</a:t>
            </a:r>
            <a:endParaRPr/>
          </a:p>
          <a:p>
            <a:pPr indent="0" lvl="0" marL="0" marR="0" rtl="0" algn="l">
              <a:lnSpc>
                <a:spcPct val="153333"/>
              </a:lnSpc>
              <a:spcBef>
                <a:spcPts val="0"/>
              </a:spcBef>
              <a:spcAft>
                <a:spcPts val="0"/>
              </a:spcAft>
              <a:buNone/>
            </a:pPr>
            <a:r>
              <a:rPr b="0" i="0" lang="en-US" sz="1500" u="none" cap="none" strike="noStrike">
                <a:solidFill>
                  <a:srgbClr val="3A434C"/>
                </a:solidFill>
                <a:latin typeface="Calibri"/>
                <a:ea typeface="Calibri"/>
                <a:cs typeface="Calibri"/>
                <a:sym typeface="Calibri"/>
              </a:rPr>
              <a:t>Ratan Bahadur Thapa</a:t>
            </a:r>
            <a:r>
              <a:rPr b="1" baseline="30000" i="0" lang="en-US" sz="1500" u="none" cap="none" strike="noStrike">
                <a:solidFill>
                  <a:srgbClr val="0B6E4F"/>
                </a:solidFill>
                <a:latin typeface="Calibri"/>
                <a:ea typeface="Calibri"/>
                <a:cs typeface="Calibri"/>
                <a:sym typeface="Calibri"/>
              </a:rPr>
              <a:t>1</a:t>
            </a:r>
            <a:r>
              <a:rPr b="0" i="0" lang="en-US" sz="1500" u="none" cap="none" strike="noStrike">
                <a:solidFill>
                  <a:srgbClr val="6B747B"/>
                </a:solidFill>
                <a:latin typeface="Calibri"/>
                <a:ea typeface="Calibri"/>
                <a:cs typeface="Calibri"/>
                <a:sym typeface="Calibri"/>
              </a:rPr>
              <a:t>   ·   </a:t>
            </a:r>
            <a:r>
              <a:rPr b="0" i="0" lang="en-US" sz="1500" u="none" cap="none" strike="noStrike">
                <a:solidFill>
                  <a:srgbClr val="3A434C"/>
                </a:solidFill>
                <a:latin typeface="Calibri"/>
                <a:ea typeface="Calibri"/>
                <a:cs typeface="Calibri"/>
                <a:sym typeface="Calibri"/>
              </a:rPr>
              <a:t>Hans-Michael Tautenhahn</a:t>
            </a:r>
            <a:r>
              <a:rPr b="1" baseline="30000" i="0" lang="en-US" sz="1500" u="none" cap="none" strike="noStrike">
                <a:solidFill>
                  <a:srgbClr val="0B6E4F"/>
                </a:solidFill>
                <a:latin typeface="Calibri"/>
                <a:ea typeface="Calibri"/>
                <a:cs typeface="Calibri"/>
                <a:sym typeface="Calibri"/>
              </a:rPr>
              <a:t>3</a:t>
            </a:r>
            <a:endParaRPr/>
          </a:p>
          <a:p>
            <a:pPr indent="0" lvl="0" marL="0" marR="0" rtl="0" algn="l">
              <a:lnSpc>
                <a:spcPct val="153333"/>
              </a:lnSpc>
              <a:spcBef>
                <a:spcPts val="0"/>
              </a:spcBef>
              <a:spcAft>
                <a:spcPts val="0"/>
              </a:spcAft>
              <a:buNone/>
            </a:pPr>
            <a:r>
              <a:rPr b="0" i="0" lang="en-US" sz="1500" u="none" cap="none" strike="noStrike">
                <a:solidFill>
                  <a:srgbClr val="3A434C"/>
                </a:solidFill>
                <a:latin typeface="Calibri"/>
                <a:ea typeface="Calibri"/>
                <a:cs typeface="Calibri"/>
                <a:sym typeface="Calibri"/>
              </a:rPr>
              <a:t>Anton Schnurpel</a:t>
            </a:r>
            <a:r>
              <a:rPr b="1" baseline="30000" i="0" lang="en-US" sz="1500" u="none" cap="none" strike="noStrike">
                <a:solidFill>
                  <a:srgbClr val="0B6E4F"/>
                </a:solidFill>
                <a:latin typeface="Calibri"/>
                <a:ea typeface="Calibri"/>
                <a:cs typeface="Calibri"/>
                <a:sym typeface="Calibri"/>
              </a:rPr>
              <a:t>3</a:t>
            </a:r>
            <a:r>
              <a:rPr b="0" i="0" lang="en-US" sz="1500" u="none" cap="none" strike="noStrike">
                <a:solidFill>
                  <a:srgbClr val="6B747B"/>
                </a:solidFill>
                <a:latin typeface="Calibri"/>
                <a:ea typeface="Calibri"/>
                <a:cs typeface="Calibri"/>
                <a:sym typeface="Calibri"/>
              </a:rPr>
              <a:t>   ·   </a:t>
            </a:r>
            <a:r>
              <a:rPr b="0" i="0" lang="en-US" sz="1500" u="none" cap="none" strike="noStrike">
                <a:solidFill>
                  <a:srgbClr val="3A434C"/>
                </a:solidFill>
                <a:latin typeface="Calibri"/>
                <a:ea typeface="Calibri"/>
                <a:cs typeface="Calibri"/>
                <a:sym typeface="Calibri"/>
              </a:rPr>
              <a:t>Steffen Staab</a:t>
            </a:r>
            <a:r>
              <a:rPr b="1" baseline="30000" i="0" lang="en-US" sz="1500" u="none" cap="none" strike="noStrike">
                <a:solidFill>
                  <a:srgbClr val="0B6E4F"/>
                </a:solidFill>
                <a:latin typeface="Calibri"/>
                <a:ea typeface="Calibri"/>
                <a:cs typeface="Calibri"/>
                <a:sym typeface="Calibri"/>
              </a:rPr>
              <a:t>1,2</a:t>
            </a:r>
            <a:endParaRPr/>
          </a:p>
        </p:txBody>
      </p:sp>
      <p:sp>
        <p:nvSpPr>
          <p:cNvPr id="68" name="Google Shape;68;p1"/>
          <p:cNvSpPr txBox="1"/>
          <p:nvPr/>
        </p:nvSpPr>
        <p:spPr>
          <a:xfrm>
            <a:off x="795528" y="4919472"/>
            <a:ext cx="6949500" cy="731400"/>
          </a:xfrm>
          <a:prstGeom prst="rect">
            <a:avLst/>
          </a:prstGeom>
          <a:noFill/>
          <a:ln>
            <a:noFill/>
          </a:ln>
        </p:spPr>
        <p:txBody>
          <a:bodyPr anchorCtr="0" anchor="t" bIns="0" lIns="0" spcFirstLastPara="1" rIns="0" wrap="square" tIns="0">
            <a:noAutofit/>
          </a:bodyPr>
          <a:lstStyle/>
          <a:p>
            <a:pPr indent="0" lvl="0" marL="0" marR="0" rtl="0" algn="l">
              <a:lnSpc>
                <a:spcPct val="141666"/>
              </a:lnSpc>
              <a:spcBef>
                <a:spcPts val="0"/>
              </a:spcBef>
              <a:spcAft>
                <a:spcPts val="0"/>
              </a:spcAft>
              <a:buNone/>
            </a:pPr>
            <a:r>
              <a:rPr b="1" baseline="30000" i="0" lang="en-US" sz="1200" u="none" cap="none" strike="noStrike">
                <a:solidFill>
                  <a:srgbClr val="0B6E4F"/>
                </a:solidFill>
                <a:latin typeface="Calibri"/>
                <a:ea typeface="Calibri"/>
                <a:cs typeface="Calibri"/>
                <a:sym typeface="Calibri"/>
              </a:rPr>
              <a:t>1</a:t>
            </a:r>
            <a:r>
              <a:rPr b="0" i="0" lang="en-US" sz="1200" u="none" cap="none" strike="noStrike">
                <a:solidFill>
                  <a:srgbClr val="5B6770"/>
                </a:solidFill>
                <a:latin typeface="Calibri"/>
                <a:ea typeface="Calibri"/>
                <a:cs typeface="Calibri"/>
                <a:sym typeface="Calibri"/>
              </a:rPr>
              <a:t> Institute for Artificial Intelligence, University of Stuttgart, Germany</a:t>
            </a:r>
            <a:endParaRPr/>
          </a:p>
          <a:p>
            <a:pPr indent="0" lvl="0" marL="0" marR="0" rtl="0" algn="l">
              <a:lnSpc>
                <a:spcPct val="141666"/>
              </a:lnSpc>
              <a:spcBef>
                <a:spcPts val="0"/>
              </a:spcBef>
              <a:spcAft>
                <a:spcPts val="0"/>
              </a:spcAft>
              <a:buNone/>
            </a:pPr>
            <a:r>
              <a:rPr b="1" baseline="30000" i="0" lang="en-US" sz="1200" u="none" cap="none" strike="noStrike">
                <a:solidFill>
                  <a:srgbClr val="0B6E4F"/>
                </a:solidFill>
                <a:latin typeface="Calibri"/>
                <a:ea typeface="Calibri"/>
                <a:cs typeface="Calibri"/>
                <a:sym typeface="Calibri"/>
              </a:rPr>
              <a:t>2</a:t>
            </a:r>
            <a:r>
              <a:rPr b="0" i="0" lang="en-US" sz="1200" u="none" cap="none" strike="noStrike">
                <a:solidFill>
                  <a:srgbClr val="5B6770"/>
                </a:solidFill>
                <a:latin typeface="Calibri"/>
                <a:ea typeface="Calibri"/>
                <a:cs typeface="Calibri"/>
                <a:sym typeface="Calibri"/>
              </a:rPr>
              <a:t> University of Southampton, United Kingdom</a:t>
            </a:r>
            <a:endParaRPr/>
          </a:p>
          <a:p>
            <a:pPr indent="0" lvl="0" marL="0" marR="0" rtl="0" algn="l">
              <a:lnSpc>
                <a:spcPct val="141666"/>
              </a:lnSpc>
              <a:spcBef>
                <a:spcPts val="0"/>
              </a:spcBef>
              <a:spcAft>
                <a:spcPts val="0"/>
              </a:spcAft>
              <a:buNone/>
            </a:pPr>
            <a:r>
              <a:rPr b="1" baseline="30000" i="0" lang="en-US" sz="1200" u="none" cap="none" strike="noStrike">
                <a:solidFill>
                  <a:srgbClr val="0B6E4F"/>
                </a:solidFill>
                <a:latin typeface="Calibri"/>
                <a:ea typeface="Calibri"/>
                <a:cs typeface="Calibri"/>
                <a:sym typeface="Calibri"/>
              </a:rPr>
              <a:t>3</a:t>
            </a:r>
            <a:r>
              <a:rPr b="0" i="0" lang="en-US" sz="1200" u="none" cap="none" strike="noStrike">
                <a:solidFill>
                  <a:srgbClr val="5B6770"/>
                </a:solidFill>
                <a:latin typeface="Calibri"/>
                <a:ea typeface="Calibri"/>
                <a:cs typeface="Calibri"/>
                <a:sym typeface="Calibri"/>
              </a:rPr>
              <a:t> Universitätsklinikum Leipzig, Germany</a:t>
            </a:r>
            <a:endParaRPr/>
          </a:p>
        </p:txBody>
      </p:sp>
      <p:sp>
        <p:nvSpPr>
          <p:cNvPr id="69" name="Google Shape;69;p1"/>
          <p:cNvSpPr/>
          <p:nvPr/>
        </p:nvSpPr>
        <p:spPr>
          <a:xfrm>
            <a:off x="10015194" y="2150512"/>
            <a:ext cx="768000" cy="274200"/>
          </a:xfrm>
          <a:prstGeom prst="roundRect">
            <a:avLst>
              <a:gd fmla="val 12000" name="adj"/>
            </a:avLst>
          </a:prstGeom>
          <a:solidFill>
            <a:srgbClr val="0B6E4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50" u="none" cap="none" strike="noStrike">
                <a:solidFill>
                  <a:srgbClr val="FFFFFF"/>
                </a:solidFill>
                <a:latin typeface="Consolas"/>
                <a:ea typeface="Consolas"/>
                <a:cs typeface="Consolas"/>
                <a:sym typeface="Consolas"/>
              </a:rPr>
              <a:t>RIGOR</a:t>
            </a:r>
            <a:endParaRPr/>
          </a:p>
        </p:txBody>
      </p:sp>
      <p:sp>
        <p:nvSpPr>
          <p:cNvPr id="70" name="Google Shape;70;p1"/>
          <p:cNvSpPr txBox="1"/>
          <p:nvPr/>
        </p:nvSpPr>
        <p:spPr>
          <a:xfrm>
            <a:off x="8549640" y="5779008"/>
            <a:ext cx="3108900" cy="5670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None/>
            </a:pPr>
            <a:r>
              <a:rPr b="1" i="0" lang="en-US" sz="1400" u="none" cap="none" strike="noStrike">
                <a:solidFill>
                  <a:srgbClr val="0B6E4F"/>
                </a:solidFill>
                <a:latin typeface="Consolas"/>
                <a:ea typeface="Consolas"/>
                <a:cs typeface="Consolas"/>
                <a:sym typeface="Consolas"/>
              </a:rPr>
              <a:t>ISWC 2026</a:t>
            </a:r>
            <a:endParaRPr/>
          </a:p>
          <a:p>
            <a:pPr indent="0" lvl="0" marL="0" marR="0" rtl="0" algn="l">
              <a:lnSpc>
                <a:spcPct val="153846"/>
              </a:lnSpc>
              <a:spcBef>
                <a:spcPts val="0"/>
              </a:spcBef>
              <a:spcAft>
                <a:spcPts val="0"/>
              </a:spcAft>
              <a:buNone/>
            </a:pPr>
            <a:r>
              <a:rPr b="0" i="0" lang="en-US" sz="1300" u="none" cap="none" strike="noStrike">
                <a:solidFill>
                  <a:srgbClr val="1F2328"/>
                </a:solidFill>
                <a:latin typeface="Calibri"/>
                <a:ea typeface="Calibri"/>
                <a:cs typeface="Calibri"/>
                <a:sym typeface="Calibri"/>
              </a:rPr>
              <a:t>Bari, Italy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 name="Shape 75"/>
        <p:cNvGrpSpPr/>
        <p:nvPr/>
      </p:nvGrpSpPr>
      <p:grpSpPr>
        <a:xfrm>
          <a:off x="0" y="0"/>
          <a:ext cx="0" cy="0"/>
          <a:chOff x="0" y="0"/>
          <a:chExt cx="0" cy="0"/>
        </a:xfrm>
      </p:grpSpPr>
      <p:sp>
        <p:nvSpPr>
          <p:cNvPr id="76" name="Google Shape;76;p2"/>
          <p:cNvSpPr txBox="1"/>
          <p:nvPr/>
        </p:nvSpPr>
        <p:spPr>
          <a:xfrm>
            <a:off x="804672" y="521207"/>
            <a:ext cx="107898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MOTIVATION  /  ILLUSTRATIVE CLINICAL EXAMPLE</a:t>
            </a:r>
            <a:endParaRPr b="0" i="0" sz="1400" u="none" cap="none" strike="noStrike">
              <a:solidFill>
                <a:srgbClr val="000000"/>
              </a:solidFill>
              <a:latin typeface="Arial"/>
              <a:ea typeface="Arial"/>
              <a:cs typeface="Arial"/>
              <a:sym typeface="Arial"/>
            </a:endParaRPr>
          </a:p>
        </p:txBody>
      </p:sp>
      <p:sp>
        <p:nvSpPr>
          <p:cNvPr id="77" name="Google Shape;77;p2"/>
          <p:cNvSpPr txBox="1"/>
          <p:nvPr/>
        </p:nvSpPr>
        <p:spPr>
          <a:xfrm>
            <a:off x="804672" y="932688"/>
            <a:ext cx="10762500" cy="89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1F2328"/>
                </a:solidFill>
                <a:latin typeface="Cambria"/>
                <a:ea typeface="Cambria"/>
                <a:cs typeface="Cambria"/>
                <a:sym typeface="Cambria"/>
              </a:rPr>
              <a:t>A database can tell us how data is stored.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1F2328"/>
                </a:solidFill>
                <a:latin typeface="Cambria"/>
                <a:ea typeface="Cambria"/>
                <a:cs typeface="Cambria"/>
                <a:sym typeface="Cambria"/>
              </a:rPr>
              <a:t>Can it tell us what the data means?</a:t>
            </a:r>
            <a:endParaRPr b="0" i="0" sz="1400" u="none" cap="none" strike="noStrike">
              <a:solidFill>
                <a:srgbClr val="000000"/>
              </a:solidFill>
              <a:latin typeface="Arial"/>
              <a:ea typeface="Arial"/>
              <a:cs typeface="Arial"/>
              <a:sym typeface="Arial"/>
            </a:endParaRPr>
          </a:p>
        </p:txBody>
      </p:sp>
      <p:sp>
        <p:nvSpPr>
          <p:cNvPr id="78" name="Google Shape;78;p2"/>
          <p:cNvSpPr/>
          <p:nvPr/>
        </p:nvSpPr>
        <p:spPr>
          <a:xfrm>
            <a:off x="804672" y="2048256"/>
            <a:ext cx="5486400" cy="3273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 name="Google Shape;79;p2"/>
          <p:cNvSpPr txBox="1"/>
          <p:nvPr/>
        </p:nvSpPr>
        <p:spPr>
          <a:xfrm>
            <a:off x="1069848" y="2276856"/>
            <a:ext cx="4928700" cy="2742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00"/>
              <a:buFont typeface="Arial"/>
              <a:buNone/>
            </a:pPr>
            <a:r>
              <a:rPr b="1" i="0" lang="en-US" sz="1500" u="none" cap="none" strike="noStrike">
                <a:solidFill>
                  <a:srgbClr val="5B6770"/>
                </a:solidFill>
                <a:latin typeface="Consolas"/>
                <a:ea typeface="Consolas"/>
                <a:cs typeface="Consolas"/>
                <a:sym typeface="Consolas"/>
              </a:rPr>
              <a:t>RELATIONAL SCHEMA · EXCERPT</a:t>
            </a:r>
            <a:endParaRPr b="0" i="0" sz="1400" u="none" cap="none" strike="noStrike">
              <a:solidFill>
                <a:srgbClr val="000000"/>
              </a:solidFill>
              <a:latin typeface="Arial"/>
              <a:ea typeface="Arial"/>
              <a:cs typeface="Arial"/>
              <a:sym typeface="Arial"/>
            </a:endParaRPr>
          </a:p>
        </p:txBody>
      </p:sp>
      <p:sp>
        <p:nvSpPr>
          <p:cNvPr id="80" name="Google Shape;80;p2"/>
          <p:cNvSpPr txBox="1"/>
          <p:nvPr/>
        </p:nvSpPr>
        <p:spPr>
          <a:xfrm>
            <a:off x="6665976" y="2176272"/>
            <a:ext cx="4809600" cy="292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5B6770"/>
                </a:solidFill>
                <a:latin typeface="Consolas"/>
                <a:ea typeface="Consolas"/>
                <a:cs typeface="Consolas"/>
                <a:sym typeface="Consolas"/>
              </a:rPr>
              <a:t>WHAT WE STILL NEED TO UNDERSTAND</a:t>
            </a:r>
            <a:endParaRPr b="0" i="0" sz="1400" u="none" cap="none" strike="noStrike">
              <a:solidFill>
                <a:srgbClr val="000000"/>
              </a:solidFill>
              <a:latin typeface="Arial"/>
              <a:ea typeface="Arial"/>
              <a:cs typeface="Arial"/>
              <a:sym typeface="Arial"/>
            </a:endParaRPr>
          </a:p>
        </p:txBody>
      </p:sp>
      <p:sp>
        <p:nvSpPr>
          <p:cNvPr id="81" name="Google Shape;81;p2"/>
          <p:cNvSpPr/>
          <p:nvPr/>
        </p:nvSpPr>
        <p:spPr>
          <a:xfrm>
            <a:off x="6684264" y="2642616"/>
            <a:ext cx="4718400" cy="795600"/>
          </a:xfrm>
          <a:prstGeom prst="roundRect">
            <a:avLst>
              <a:gd fmla="val 10000" name="adj"/>
            </a:avLst>
          </a:prstGeom>
          <a:solidFill>
            <a:srgbClr val="F3F5F4"/>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 name="Google Shape;82;p2"/>
          <p:cNvSpPr/>
          <p:nvPr/>
        </p:nvSpPr>
        <p:spPr>
          <a:xfrm>
            <a:off x="6858000" y="2880360"/>
            <a:ext cx="310800" cy="310800"/>
          </a:xfrm>
          <a:prstGeom prst="ellipse">
            <a:avLst/>
          </a:prstGeom>
          <a:solidFill>
            <a:srgbClr val="E9EEEB"/>
          </a:solidFill>
          <a:ln cap="flat" cmpd="sng" w="127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 name="Google Shape;83;p2"/>
          <p:cNvSpPr txBox="1"/>
          <p:nvPr/>
        </p:nvSpPr>
        <p:spPr>
          <a:xfrm>
            <a:off x="6858354" y="2916582"/>
            <a:ext cx="3108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2F6B78"/>
                </a:solidFill>
                <a:latin typeface="Consolas"/>
                <a:ea typeface="Consolas"/>
                <a:cs typeface="Consolas"/>
                <a:sym typeface="Consolas"/>
              </a:rPr>
              <a:t>01</a:t>
            </a:r>
            <a:endParaRPr b="0" i="0" sz="1400" u="none" cap="none" strike="noStrike">
              <a:solidFill>
                <a:srgbClr val="000000"/>
              </a:solidFill>
              <a:latin typeface="Arial"/>
              <a:ea typeface="Arial"/>
              <a:cs typeface="Arial"/>
              <a:sym typeface="Arial"/>
            </a:endParaRPr>
          </a:p>
        </p:txBody>
      </p:sp>
      <p:sp>
        <p:nvSpPr>
          <p:cNvPr id="84" name="Google Shape;84;p2"/>
          <p:cNvSpPr txBox="1"/>
          <p:nvPr/>
        </p:nvSpPr>
        <p:spPr>
          <a:xfrm>
            <a:off x="7324344" y="2902406"/>
            <a:ext cx="14082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patient_id</a:t>
            </a:r>
            <a:endParaRPr b="0" i="0" sz="1400" u="none" cap="none" strike="noStrike">
              <a:solidFill>
                <a:srgbClr val="000000"/>
              </a:solidFill>
              <a:latin typeface="Arial"/>
              <a:ea typeface="Arial"/>
              <a:cs typeface="Arial"/>
              <a:sym typeface="Arial"/>
            </a:endParaRPr>
          </a:p>
        </p:txBody>
      </p:sp>
      <p:sp>
        <p:nvSpPr>
          <p:cNvPr id="85" name="Google Shape;85;p2"/>
          <p:cNvSpPr txBox="1"/>
          <p:nvPr/>
        </p:nvSpPr>
        <p:spPr>
          <a:xfrm>
            <a:off x="8677656" y="2752344"/>
            <a:ext cx="2596800" cy="446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0" i="0" lang="en-US" sz="1450" u="none" cap="none" strike="noStrike">
                <a:solidFill>
                  <a:srgbClr val="1F2328"/>
                </a:solidFill>
                <a:latin typeface="Calibri"/>
                <a:ea typeface="Calibri"/>
                <a:cs typeface="Calibri"/>
                <a:sym typeface="Calibri"/>
              </a:rPr>
              <a:t>How do we represent the </a:t>
            </a:r>
            <a:r>
              <a:rPr b="1" i="0" lang="en-US" sz="1450" u="none" cap="none" strike="noStrike">
                <a:solidFill>
                  <a:srgbClr val="1F2328"/>
                </a:solidFill>
                <a:latin typeface="Calibri"/>
                <a:ea typeface="Calibri"/>
                <a:cs typeface="Calibri"/>
                <a:sym typeface="Calibri"/>
              </a:rPr>
              <a:t>link</a:t>
            </a:r>
            <a:endParaRPr b="1" i="0" sz="1400" u="none" cap="none" strike="noStrike">
              <a:solidFill>
                <a:srgbClr val="000000"/>
              </a:solidFill>
            </a:endParaRPr>
          </a:p>
          <a:p>
            <a:pPr indent="0" lvl="0" marL="0" marR="0" rtl="0" algn="l">
              <a:lnSpc>
                <a:spcPct val="100000"/>
              </a:lnSpc>
              <a:spcBef>
                <a:spcPts val="0"/>
              </a:spcBef>
              <a:spcAft>
                <a:spcPts val="0"/>
              </a:spcAft>
              <a:buNone/>
            </a:pPr>
            <a:r>
              <a:rPr b="0" i="0" lang="en-US" sz="1450" u="none" cap="none" strike="noStrike">
                <a:solidFill>
                  <a:srgbClr val="1F2328"/>
                </a:solidFill>
                <a:latin typeface="Calibri"/>
                <a:ea typeface="Calibri"/>
                <a:cs typeface="Calibri"/>
                <a:sym typeface="Calibri"/>
              </a:rPr>
              <a:t>from an </a:t>
            </a:r>
            <a:r>
              <a:rPr b="1" i="0" lang="en-US" sz="1450" u="none" cap="none" strike="noStrike">
                <a:solidFill>
                  <a:srgbClr val="1F2328"/>
                </a:solidFill>
                <a:latin typeface="Calibri"/>
                <a:ea typeface="Calibri"/>
                <a:cs typeface="Calibri"/>
                <a:sym typeface="Calibri"/>
              </a:rPr>
              <a:t>admission</a:t>
            </a:r>
            <a:r>
              <a:rPr b="0" i="0" lang="en-US" sz="1450" u="none" cap="none" strike="noStrike">
                <a:solidFill>
                  <a:srgbClr val="1F2328"/>
                </a:solidFill>
                <a:latin typeface="Calibri"/>
                <a:ea typeface="Calibri"/>
                <a:cs typeface="Calibri"/>
                <a:sym typeface="Calibri"/>
              </a:rPr>
              <a:t> to its </a:t>
            </a:r>
            <a:r>
              <a:rPr b="1" i="0" lang="en-US" sz="1450" u="none" cap="none" strike="noStrike">
                <a:solidFill>
                  <a:srgbClr val="1F2328"/>
                </a:solidFill>
                <a:latin typeface="Calibri"/>
                <a:ea typeface="Calibri"/>
                <a:cs typeface="Calibri"/>
                <a:sym typeface="Calibri"/>
              </a:rPr>
              <a:t>patient</a:t>
            </a:r>
            <a:r>
              <a:rPr b="0" i="0" lang="en-US" sz="1450" u="none" cap="none" strike="noStrike">
                <a:solidFill>
                  <a:srgbClr val="1F2328"/>
                </a:solidFill>
                <a:latin typeface="Calibri"/>
                <a:ea typeface="Calibri"/>
                <a:cs typeface="Calibri"/>
                <a:sym typeface="Calibri"/>
              </a:rPr>
              <a:t>?</a:t>
            </a:r>
            <a:endParaRPr/>
          </a:p>
        </p:txBody>
      </p:sp>
      <p:sp>
        <p:nvSpPr>
          <p:cNvPr id="86" name="Google Shape;86;p2"/>
          <p:cNvSpPr/>
          <p:nvPr/>
        </p:nvSpPr>
        <p:spPr>
          <a:xfrm>
            <a:off x="6684264" y="3557016"/>
            <a:ext cx="4718400" cy="795600"/>
          </a:xfrm>
          <a:prstGeom prst="roundRect">
            <a:avLst>
              <a:gd fmla="val 10000" name="adj"/>
            </a:avLst>
          </a:prstGeom>
          <a:solidFill>
            <a:srgbClr val="F3F5F4"/>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 name="Google Shape;87;p2"/>
          <p:cNvSpPr/>
          <p:nvPr/>
        </p:nvSpPr>
        <p:spPr>
          <a:xfrm>
            <a:off x="6858000" y="3794760"/>
            <a:ext cx="310800" cy="310800"/>
          </a:xfrm>
          <a:prstGeom prst="ellipse">
            <a:avLst/>
          </a:prstGeom>
          <a:solidFill>
            <a:srgbClr val="E9EEEB"/>
          </a:solidFill>
          <a:ln cap="flat" cmpd="sng" w="127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 name="Google Shape;88;p2"/>
          <p:cNvSpPr txBox="1"/>
          <p:nvPr/>
        </p:nvSpPr>
        <p:spPr>
          <a:xfrm>
            <a:off x="6858354" y="3830982"/>
            <a:ext cx="3108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2F6B78"/>
                </a:solidFill>
                <a:latin typeface="Consolas"/>
                <a:ea typeface="Consolas"/>
                <a:cs typeface="Consolas"/>
                <a:sym typeface="Consolas"/>
              </a:rPr>
              <a:t>02</a:t>
            </a:r>
            <a:endParaRPr b="0" i="0" sz="1400" u="none" cap="none" strike="noStrike">
              <a:solidFill>
                <a:srgbClr val="000000"/>
              </a:solidFill>
              <a:latin typeface="Arial"/>
              <a:ea typeface="Arial"/>
              <a:cs typeface="Arial"/>
              <a:sym typeface="Arial"/>
            </a:endParaRPr>
          </a:p>
        </p:txBody>
      </p:sp>
      <p:sp>
        <p:nvSpPr>
          <p:cNvPr id="89" name="Google Shape;89;p2"/>
          <p:cNvSpPr txBox="1"/>
          <p:nvPr/>
        </p:nvSpPr>
        <p:spPr>
          <a:xfrm>
            <a:off x="7324344" y="3816806"/>
            <a:ext cx="14082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BM_DEP</a:t>
            </a:r>
            <a:endParaRPr b="0" i="0" sz="1400" u="none" cap="none" strike="noStrike">
              <a:solidFill>
                <a:srgbClr val="000000"/>
              </a:solidFill>
              <a:latin typeface="Arial"/>
              <a:ea typeface="Arial"/>
              <a:cs typeface="Arial"/>
              <a:sym typeface="Arial"/>
            </a:endParaRPr>
          </a:p>
        </p:txBody>
      </p:sp>
      <p:sp>
        <p:nvSpPr>
          <p:cNvPr id="90" name="Google Shape;90;p2"/>
          <p:cNvSpPr txBox="1"/>
          <p:nvPr/>
        </p:nvSpPr>
        <p:spPr>
          <a:xfrm>
            <a:off x="8695944" y="3639312"/>
            <a:ext cx="2514600" cy="46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328"/>
                </a:solidFill>
                <a:latin typeface="Calibri"/>
                <a:ea typeface="Calibri"/>
                <a:cs typeface="Calibri"/>
                <a:sym typeface="Calibri"/>
              </a:rPr>
              <a:t>Which </a:t>
            </a:r>
            <a:r>
              <a:rPr b="1" i="0" lang="en-US" sz="1500" u="none" cap="none" strike="noStrike">
                <a:solidFill>
                  <a:srgbClr val="1F2328"/>
                </a:solidFill>
                <a:latin typeface="Calibri"/>
                <a:ea typeface="Calibri"/>
                <a:cs typeface="Calibri"/>
                <a:sym typeface="Calibri"/>
              </a:rPr>
              <a:t>clinical</a:t>
            </a:r>
            <a:r>
              <a:rPr b="0" i="0" lang="en-US" sz="1500" u="none" cap="none" strike="noStrike">
                <a:solidFill>
                  <a:srgbClr val="1F2328"/>
                </a:solidFill>
                <a:latin typeface="Calibri"/>
                <a:ea typeface="Calibri"/>
                <a:cs typeface="Calibri"/>
                <a:sym typeface="Calibri"/>
              </a:rPr>
              <a:t> </a:t>
            </a:r>
            <a:r>
              <a:rPr b="1" i="0" lang="en-US" sz="1500" u="none" cap="none" strike="noStrike">
                <a:solidFill>
                  <a:srgbClr val="1F2328"/>
                </a:solidFill>
                <a:latin typeface="Calibri"/>
                <a:ea typeface="Calibri"/>
                <a:cs typeface="Calibri"/>
                <a:sym typeface="Calibri"/>
              </a:rPr>
              <a:t>concept</a:t>
            </a:r>
            <a:endParaRPr b="1" i="0" sz="1400" u="none" cap="none" strike="noStrike">
              <a:solidFill>
                <a:srgbClr val="000000"/>
              </a:solidFill>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328"/>
                </a:solidFill>
                <a:latin typeface="Calibri"/>
                <a:ea typeface="Calibri"/>
                <a:cs typeface="Calibri"/>
                <a:sym typeface="Calibri"/>
              </a:rPr>
              <a:t>does this </a:t>
            </a:r>
            <a:r>
              <a:rPr b="1" i="0" lang="en-US" sz="1500" u="none" cap="none" strike="noStrike">
                <a:solidFill>
                  <a:srgbClr val="1F2328"/>
                </a:solidFill>
                <a:latin typeface="Calibri"/>
                <a:ea typeface="Calibri"/>
                <a:cs typeface="Calibri"/>
                <a:sym typeface="Calibri"/>
              </a:rPr>
              <a:t>abbreviation</a:t>
            </a:r>
            <a:r>
              <a:rPr b="0" i="0" lang="en-US" sz="1500" u="none" cap="none" strike="noStrike">
                <a:solidFill>
                  <a:srgbClr val="1F2328"/>
                </a:solidFill>
                <a:latin typeface="Calibri"/>
                <a:ea typeface="Calibri"/>
                <a:cs typeface="Calibri"/>
                <a:sym typeface="Calibri"/>
              </a:rPr>
              <a:t> </a:t>
            </a:r>
            <a:r>
              <a:rPr b="1" i="0" lang="en-US" sz="1500" u="none" cap="none" strike="noStrike">
                <a:solidFill>
                  <a:srgbClr val="1F2328"/>
                </a:solidFill>
                <a:latin typeface="Calibri"/>
                <a:ea typeface="Calibri"/>
                <a:cs typeface="Calibri"/>
                <a:sym typeface="Calibri"/>
              </a:rPr>
              <a:t>mean</a:t>
            </a:r>
            <a:r>
              <a:rPr b="0" i="0" lang="en-US" sz="1500" u="none" cap="none" strike="noStrike">
                <a:solidFill>
                  <a:srgbClr val="1F2328"/>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91" name="Google Shape;91;p2"/>
          <p:cNvSpPr/>
          <p:nvPr/>
        </p:nvSpPr>
        <p:spPr>
          <a:xfrm>
            <a:off x="6684264" y="4471416"/>
            <a:ext cx="4718400" cy="795600"/>
          </a:xfrm>
          <a:prstGeom prst="roundRect">
            <a:avLst>
              <a:gd fmla="val 10000" name="adj"/>
            </a:avLst>
          </a:prstGeom>
          <a:solidFill>
            <a:srgbClr val="F3F5F4"/>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 name="Google Shape;92;p2"/>
          <p:cNvSpPr/>
          <p:nvPr/>
        </p:nvSpPr>
        <p:spPr>
          <a:xfrm>
            <a:off x="6858000" y="4709160"/>
            <a:ext cx="310800" cy="310800"/>
          </a:xfrm>
          <a:prstGeom prst="ellipse">
            <a:avLst/>
          </a:prstGeom>
          <a:solidFill>
            <a:srgbClr val="E9EEEB"/>
          </a:solidFill>
          <a:ln cap="flat" cmpd="sng" w="127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 name="Google Shape;93;p2"/>
          <p:cNvSpPr txBox="1"/>
          <p:nvPr/>
        </p:nvSpPr>
        <p:spPr>
          <a:xfrm>
            <a:off x="6858354" y="4745382"/>
            <a:ext cx="3108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2F6B78"/>
                </a:solidFill>
                <a:latin typeface="Consolas"/>
                <a:ea typeface="Consolas"/>
                <a:cs typeface="Consolas"/>
                <a:sym typeface="Consolas"/>
              </a:rPr>
              <a:t>03</a:t>
            </a:r>
            <a:endParaRPr b="0" i="0" sz="1400" u="none" cap="none" strike="noStrike">
              <a:solidFill>
                <a:srgbClr val="000000"/>
              </a:solidFill>
              <a:latin typeface="Arial"/>
              <a:ea typeface="Arial"/>
              <a:cs typeface="Arial"/>
              <a:sym typeface="Arial"/>
            </a:endParaRPr>
          </a:p>
        </p:txBody>
      </p:sp>
      <p:sp>
        <p:nvSpPr>
          <p:cNvPr id="94" name="Google Shape;94;p2"/>
          <p:cNvSpPr txBox="1"/>
          <p:nvPr/>
        </p:nvSpPr>
        <p:spPr>
          <a:xfrm>
            <a:off x="7324344" y="4731206"/>
            <a:ext cx="14082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ecog_stage</a:t>
            </a:r>
            <a:endParaRPr b="0" i="0" sz="1400" u="none" cap="none" strike="noStrike">
              <a:solidFill>
                <a:srgbClr val="000000"/>
              </a:solidFill>
              <a:latin typeface="Arial"/>
              <a:ea typeface="Arial"/>
              <a:cs typeface="Arial"/>
              <a:sym typeface="Arial"/>
            </a:endParaRPr>
          </a:p>
        </p:txBody>
      </p:sp>
      <p:sp>
        <p:nvSpPr>
          <p:cNvPr id="95" name="Google Shape;95;p2"/>
          <p:cNvSpPr txBox="1"/>
          <p:nvPr/>
        </p:nvSpPr>
        <p:spPr>
          <a:xfrm>
            <a:off x="8695944" y="4553712"/>
            <a:ext cx="2514600" cy="46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328"/>
                </a:solidFill>
                <a:latin typeface="Calibri"/>
                <a:ea typeface="Calibri"/>
                <a:cs typeface="Calibri"/>
                <a:sym typeface="Calibri"/>
              </a:rPr>
              <a:t>What do the </a:t>
            </a:r>
            <a:r>
              <a:rPr b="1" i="0" lang="en-US" sz="1500" u="none" cap="none" strike="noStrike">
                <a:solidFill>
                  <a:srgbClr val="1F2328"/>
                </a:solidFill>
                <a:latin typeface="Calibri"/>
                <a:ea typeface="Calibri"/>
                <a:cs typeface="Calibri"/>
                <a:sym typeface="Calibri"/>
              </a:rPr>
              <a:t>encoded</a:t>
            </a:r>
            <a:endParaRPr b="1" i="0" sz="1400" u="none" cap="none" strike="noStrike">
              <a:solidFill>
                <a:srgbClr val="000000"/>
              </a:solidFill>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328"/>
                </a:solidFill>
                <a:latin typeface="Calibri"/>
                <a:ea typeface="Calibri"/>
                <a:cs typeface="Calibri"/>
                <a:sym typeface="Calibri"/>
              </a:rPr>
              <a:t>score </a:t>
            </a:r>
            <a:r>
              <a:rPr b="1" i="0" lang="en-US" sz="1500" u="none" cap="none" strike="noStrike">
                <a:solidFill>
                  <a:srgbClr val="1F2328"/>
                </a:solidFill>
                <a:latin typeface="Calibri"/>
                <a:ea typeface="Calibri"/>
                <a:cs typeface="Calibri"/>
                <a:sym typeface="Calibri"/>
              </a:rPr>
              <a:t>values</a:t>
            </a:r>
            <a:r>
              <a:rPr b="0" i="0" lang="en-US" sz="1500" u="none" cap="none" strike="noStrike">
                <a:solidFill>
                  <a:srgbClr val="1F2328"/>
                </a:solidFill>
                <a:latin typeface="Calibri"/>
                <a:ea typeface="Calibri"/>
                <a:cs typeface="Calibri"/>
                <a:sym typeface="Calibri"/>
              </a:rPr>
              <a:t> </a:t>
            </a:r>
            <a:r>
              <a:rPr b="1" i="0" lang="en-US" sz="1500" u="none" cap="none" strike="noStrike">
                <a:solidFill>
                  <a:srgbClr val="1F2328"/>
                </a:solidFill>
                <a:latin typeface="Calibri"/>
                <a:ea typeface="Calibri"/>
                <a:cs typeface="Calibri"/>
                <a:sym typeface="Calibri"/>
              </a:rPr>
              <a:t>mean</a:t>
            </a:r>
            <a:r>
              <a:rPr b="0" i="0" lang="en-US" sz="1500" u="none" cap="none" strike="noStrike">
                <a:solidFill>
                  <a:srgbClr val="1F2328"/>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96" name="Google Shape;96;p2"/>
          <p:cNvSpPr txBox="1"/>
          <p:nvPr/>
        </p:nvSpPr>
        <p:spPr>
          <a:xfrm>
            <a:off x="804672" y="5632704"/>
            <a:ext cx="10588800" cy="329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F2328"/>
                </a:solidFill>
                <a:latin typeface="Calibri"/>
                <a:ea typeface="Calibri"/>
                <a:cs typeface="Calibri"/>
                <a:sym typeface="Calibri"/>
              </a:rPr>
              <a:t>Those meanings matter for ontology-based access, knowledge graphs and integration.</a:t>
            </a:r>
            <a:endParaRPr b="0" i="0" sz="1400" u="none" cap="none" strike="noStrike">
              <a:solidFill>
                <a:srgbClr val="000000"/>
              </a:solidFill>
              <a:latin typeface="Arial"/>
              <a:ea typeface="Arial"/>
              <a:cs typeface="Arial"/>
              <a:sym typeface="Arial"/>
            </a:endParaRPr>
          </a:p>
        </p:txBody>
      </p:sp>
      <p:sp>
        <p:nvSpPr>
          <p:cNvPr id="97" name="Google Shape;97;p2"/>
          <p:cNvSpPr/>
          <p:nvPr/>
        </p:nvSpPr>
        <p:spPr>
          <a:xfrm>
            <a:off x="1051560" y="3023122"/>
            <a:ext cx="1883700" cy="1673400"/>
          </a:xfrm>
          <a:prstGeom prst="roundRect">
            <a:avLst>
              <a:gd fmla="val 16667" name="adj"/>
            </a:avLst>
          </a:prstGeom>
          <a:solidFill>
            <a:srgbClr val="E9EEE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8" name="Google Shape;98;p2"/>
          <p:cNvSpPr txBox="1"/>
          <p:nvPr/>
        </p:nvSpPr>
        <p:spPr>
          <a:xfrm>
            <a:off x="1197864" y="3132850"/>
            <a:ext cx="1655100" cy="292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900" u="none" cap="none" strike="noStrike">
                <a:solidFill>
                  <a:srgbClr val="1F2328"/>
                </a:solidFill>
                <a:latin typeface="Calibri"/>
                <a:ea typeface="Calibri"/>
                <a:cs typeface="Calibri"/>
                <a:sym typeface="Calibri"/>
              </a:rPr>
              <a:t>PatientData</a:t>
            </a:r>
            <a:endParaRPr/>
          </a:p>
        </p:txBody>
      </p:sp>
      <p:cxnSp>
        <p:nvCxnSpPr>
          <p:cNvPr id="99" name="Google Shape;99;p2"/>
          <p:cNvCxnSpPr/>
          <p:nvPr/>
        </p:nvCxnSpPr>
        <p:spPr>
          <a:xfrm>
            <a:off x="1188720" y="3516898"/>
            <a:ext cx="1609200" cy="0"/>
          </a:xfrm>
          <a:prstGeom prst="straightConnector1">
            <a:avLst/>
          </a:prstGeom>
          <a:noFill/>
          <a:ln cap="flat" cmpd="sng" w="12700">
            <a:solidFill>
              <a:srgbClr val="8E989E"/>
            </a:solidFill>
            <a:prstDash val="solid"/>
            <a:round/>
            <a:headEnd len="sm" w="sm" type="none"/>
            <a:tailEnd len="sm" w="sm" type="none"/>
          </a:ln>
          <a:effectLst>
            <a:outerShdw blurRad="40000" rotWithShape="0" dir="5400000" dist="20000">
              <a:srgbClr val="000000">
                <a:alpha val="38040"/>
              </a:srgbClr>
            </a:outerShdw>
          </a:effectLst>
        </p:spPr>
      </p:cxnSp>
      <p:sp>
        <p:nvSpPr>
          <p:cNvPr id="100" name="Google Shape;100;p2"/>
          <p:cNvSpPr txBox="1"/>
          <p:nvPr/>
        </p:nvSpPr>
        <p:spPr>
          <a:xfrm>
            <a:off x="1197864" y="3626626"/>
            <a:ext cx="10974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F2328"/>
                </a:solidFill>
                <a:latin typeface="Calibri"/>
                <a:ea typeface="Calibri"/>
                <a:cs typeface="Calibri"/>
                <a:sym typeface="Calibri"/>
              </a:rPr>
              <a:t>patient_id</a:t>
            </a:r>
            <a:endParaRPr/>
          </a:p>
        </p:txBody>
      </p:sp>
      <p:sp>
        <p:nvSpPr>
          <p:cNvPr id="101" name="Google Shape;101;p2"/>
          <p:cNvSpPr txBox="1"/>
          <p:nvPr/>
        </p:nvSpPr>
        <p:spPr>
          <a:xfrm>
            <a:off x="2468880" y="3626626"/>
            <a:ext cx="301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PK</a:t>
            </a:r>
            <a:endParaRPr/>
          </a:p>
        </p:txBody>
      </p:sp>
      <p:cxnSp>
        <p:nvCxnSpPr>
          <p:cNvPr id="102" name="Google Shape;102;p2"/>
          <p:cNvCxnSpPr/>
          <p:nvPr/>
        </p:nvCxnSpPr>
        <p:spPr>
          <a:xfrm rot="10800000">
            <a:off x="2943287" y="3763786"/>
            <a:ext cx="466200" cy="0"/>
          </a:xfrm>
          <a:prstGeom prst="straightConnector1">
            <a:avLst/>
          </a:prstGeom>
          <a:noFill/>
          <a:ln cap="flat" cmpd="sng" w="31750">
            <a:solidFill>
              <a:srgbClr val="3A7D8C"/>
            </a:solidFill>
            <a:prstDash val="solid"/>
            <a:round/>
            <a:headEnd len="sm" w="sm" type="none"/>
            <a:tailEnd len="sm" w="sm" type="none"/>
          </a:ln>
          <a:effectLst>
            <a:outerShdw blurRad="40000" rotWithShape="0" dir="5400000" dist="20000">
              <a:srgbClr val="000000">
                <a:alpha val="38040"/>
              </a:srgbClr>
            </a:outerShdw>
          </a:effectLst>
        </p:spPr>
      </p:cxnSp>
      <p:sp>
        <p:nvSpPr>
          <p:cNvPr id="103" name="Google Shape;103;p2"/>
          <p:cNvSpPr/>
          <p:nvPr/>
        </p:nvSpPr>
        <p:spPr>
          <a:xfrm rot="-5400000">
            <a:off x="2825568" y="3690610"/>
            <a:ext cx="155400" cy="146400"/>
          </a:xfrm>
          <a:prstGeom prst="triangle">
            <a:avLst>
              <a:gd fmla="val 50000" name="adj"/>
            </a:avLst>
          </a:prstGeom>
          <a:solidFill>
            <a:srgbClr val="3A7D8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4" name="Google Shape;104;p2"/>
          <p:cNvSpPr txBox="1"/>
          <p:nvPr/>
        </p:nvSpPr>
        <p:spPr>
          <a:xfrm>
            <a:off x="1097280" y="4892040"/>
            <a:ext cx="4937700" cy="20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320" u="none" cap="none" strike="noStrike">
                <a:solidFill>
                  <a:srgbClr val="1F2328"/>
                </a:solidFill>
                <a:latin typeface="Calibri"/>
                <a:ea typeface="Calibri"/>
                <a:cs typeface="Calibri"/>
                <a:sym typeface="Calibri"/>
              </a:rPr>
              <a:t>The FK links an </a:t>
            </a:r>
            <a:r>
              <a:rPr b="1" i="0" lang="en-US" sz="1320" u="none" cap="none" strike="noStrike">
                <a:solidFill>
                  <a:srgbClr val="1F2328"/>
                </a:solidFill>
                <a:latin typeface="Calibri"/>
                <a:ea typeface="Calibri"/>
                <a:cs typeface="Calibri"/>
                <a:sym typeface="Calibri"/>
              </a:rPr>
              <a:t>admission</a:t>
            </a:r>
            <a:r>
              <a:rPr b="0" i="0" lang="en-US" sz="1320" u="none" cap="none" strike="noStrike">
                <a:solidFill>
                  <a:srgbClr val="1F2328"/>
                </a:solidFill>
                <a:latin typeface="Calibri"/>
                <a:ea typeface="Calibri"/>
                <a:cs typeface="Calibri"/>
                <a:sym typeface="Calibri"/>
              </a:rPr>
              <a:t> to a </a:t>
            </a:r>
            <a:r>
              <a:rPr b="1" i="0" lang="en-US" sz="1320" u="none" cap="none" strike="noStrike">
                <a:solidFill>
                  <a:srgbClr val="1F2328"/>
                </a:solidFill>
                <a:latin typeface="Calibri"/>
                <a:ea typeface="Calibri"/>
                <a:cs typeface="Calibri"/>
                <a:sym typeface="Calibri"/>
              </a:rPr>
              <a:t>patient</a:t>
            </a:r>
            <a:r>
              <a:rPr b="0" i="0" lang="en-US" sz="1320" u="none" cap="none" strike="noStrike">
                <a:solidFill>
                  <a:srgbClr val="1F2328"/>
                </a:solidFill>
                <a:latin typeface="Calibri"/>
                <a:ea typeface="Calibri"/>
                <a:cs typeface="Calibri"/>
                <a:sym typeface="Calibri"/>
              </a:rPr>
              <a:t>.</a:t>
            </a:r>
            <a:endParaRPr/>
          </a:p>
        </p:txBody>
      </p:sp>
      <p:sp>
        <p:nvSpPr>
          <p:cNvPr id="105" name="Google Shape;105;p2"/>
          <p:cNvSpPr txBox="1"/>
          <p:nvPr/>
        </p:nvSpPr>
        <p:spPr>
          <a:xfrm>
            <a:off x="1197864" y="3974098"/>
            <a:ext cx="11064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F2328"/>
                </a:solidFill>
                <a:latin typeface="Calibri"/>
                <a:ea typeface="Calibri"/>
                <a:cs typeface="Calibri"/>
                <a:sym typeface="Calibri"/>
              </a:rPr>
              <a:t>age</a:t>
            </a:r>
            <a:endParaRPr/>
          </a:p>
        </p:txBody>
      </p:sp>
      <p:sp>
        <p:nvSpPr>
          <p:cNvPr id="106" name="Google Shape;106;p2"/>
          <p:cNvSpPr txBox="1"/>
          <p:nvPr/>
        </p:nvSpPr>
        <p:spPr>
          <a:xfrm>
            <a:off x="2441448" y="3974098"/>
            <a:ext cx="4206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50" u="none" cap="none" strike="noStrike">
                <a:solidFill>
                  <a:srgbClr val="5B6770"/>
                </a:solidFill>
                <a:latin typeface="Calibri"/>
                <a:ea typeface="Calibri"/>
                <a:cs typeface="Calibri"/>
                <a:sym typeface="Calibri"/>
              </a:rPr>
              <a:t>INT</a:t>
            </a:r>
            <a:endParaRPr/>
          </a:p>
        </p:txBody>
      </p:sp>
      <p:sp>
        <p:nvSpPr>
          <p:cNvPr id="107" name="Google Shape;107;p2"/>
          <p:cNvSpPr txBox="1"/>
          <p:nvPr/>
        </p:nvSpPr>
        <p:spPr>
          <a:xfrm>
            <a:off x="1197864" y="4321570"/>
            <a:ext cx="11064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F2328"/>
                </a:solidFill>
                <a:latin typeface="Calibri"/>
                <a:ea typeface="Calibri"/>
                <a:cs typeface="Calibri"/>
                <a:sym typeface="Calibri"/>
              </a:rPr>
              <a:t>gender</a:t>
            </a:r>
            <a:endParaRPr/>
          </a:p>
        </p:txBody>
      </p:sp>
      <p:sp>
        <p:nvSpPr>
          <p:cNvPr id="108" name="Google Shape;108;p2"/>
          <p:cNvSpPr txBox="1"/>
          <p:nvPr/>
        </p:nvSpPr>
        <p:spPr>
          <a:xfrm>
            <a:off x="2441448" y="4321570"/>
            <a:ext cx="4206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50" u="none" cap="none" strike="noStrike">
                <a:solidFill>
                  <a:srgbClr val="5B6770"/>
                </a:solidFill>
                <a:latin typeface="Calibri"/>
                <a:ea typeface="Calibri"/>
                <a:cs typeface="Calibri"/>
                <a:sym typeface="Calibri"/>
              </a:rPr>
              <a:t>TEXT</a:t>
            </a:r>
            <a:endParaRPr/>
          </a:p>
        </p:txBody>
      </p:sp>
      <p:sp>
        <p:nvSpPr>
          <p:cNvPr id="109" name="Google Shape;109;p2"/>
          <p:cNvSpPr/>
          <p:nvPr/>
        </p:nvSpPr>
        <p:spPr>
          <a:xfrm>
            <a:off x="3422401" y="2739218"/>
            <a:ext cx="2317800" cy="1876500"/>
          </a:xfrm>
          <a:prstGeom prst="roundRect">
            <a:avLst>
              <a:gd fmla="val 9000" name="adj"/>
            </a:avLst>
          </a:prstGeom>
          <a:solidFill>
            <a:srgbClr val="E9EEEB"/>
          </a:solidFill>
          <a:ln>
            <a:noFill/>
          </a:ln>
          <a:effectLst>
            <a:outerShdw blurRad="66830" rotWithShape="0" algn="t" dir="5400000" dist="22277">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28"/>
              <a:buFont typeface="Arial"/>
              <a:buNone/>
            </a:pPr>
            <a:r>
              <a:t/>
            </a:r>
            <a:endParaRPr b="0" i="0" sz="1228" u="none" cap="none" strike="noStrike">
              <a:solidFill>
                <a:srgbClr val="000000"/>
              </a:solidFill>
              <a:latin typeface="Arial"/>
              <a:ea typeface="Arial"/>
              <a:cs typeface="Arial"/>
              <a:sym typeface="Arial"/>
            </a:endParaRPr>
          </a:p>
        </p:txBody>
      </p:sp>
      <p:sp>
        <p:nvSpPr>
          <p:cNvPr id="110" name="Google Shape;110;p2"/>
          <p:cNvSpPr txBox="1"/>
          <p:nvPr/>
        </p:nvSpPr>
        <p:spPr>
          <a:xfrm>
            <a:off x="3566754" y="2835453"/>
            <a:ext cx="2044800" cy="292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42"/>
              <a:buFont typeface="Arial"/>
              <a:buNone/>
            </a:pPr>
            <a:r>
              <a:rPr b="1" i="0" lang="en-US" sz="1900" u="none" cap="none" strike="noStrike">
                <a:solidFill>
                  <a:srgbClr val="1F2328"/>
                </a:solidFill>
                <a:latin typeface="Calibri"/>
                <a:ea typeface="Calibri"/>
                <a:cs typeface="Calibri"/>
                <a:sym typeface="Calibri"/>
              </a:rPr>
              <a:t>admission</a:t>
            </a:r>
            <a:endParaRPr b="0" i="0" sz="1900" u="none" cap="none" strike="noStrike">
              <a:solidFill>
                <a:srgbClr val="000000"/>
              </a:solidFill>
              <a:latin typeface="Arial"/>
              <a:ea typeface="Arial"/>
              <a:cs typeface="Arial"/>
              <a:sym typeface="Arial"/>
            </a:endParaRPr>
          </a:p>
        </p:txBody>
      </p:sp>
      <p:sp>
        <p:nvSpPr>
          <p:cNvPr id="111" name="Google Shape;111;p2"/>
          <p:cNvSpPr/>
          <p:nvPr/>
        </p:nvSpPr>
        <p:spPr>
          <a:xfrm>
            <a:off x="3566754" y="3316628"/>
            <a:ext cx="1403400" cy="25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16"/>
              <a:buFont typeface="Arial"/>
              <a:buNone/>
            </a:pPr>
            <a:r>
              <a:rPr b="1" i="0" lang="en-US" sz="1500" u="none" cap="none" strike="noStrike">
                <a:solidFill>
                  <a:srgbClr val="0B6E4F"/>
                </a:solidFill>
                <a:latin typeface="Calibri"/>
                <a:ea typeface="Calibri"/>
                <a:cs typeface="Calibri"/>
                <a:sym typeface="Calibri"/>
              </a:rPr>
              <a:t>admission_id</a:t>
            </a:r>
            <a:endParaRPr b="0" i="0" sz="1500" u="none" cap="none" strike="noStrike">
              <a:solidFill>
                <a:srgbClr val="000000"/>
              </a:solidFill>
              <a:latin typeface="Arial"/>
              <a:ea typeface="Arial"/>
              <a:cs typeface="Arial"/>
              <a:sym typeface="Arial"/>
            </a:endParaRPr>
          </a:p>
        </p:txBody>
      </p:sp>
      <p:sp>
        <p:nvSpPr>
          <p:cNvPr id="112" name="Google Shape;112;p2"/>
          <p:cNvSpPr/>
          <p:nvPr/>
        </p:nvSpPr>
        <p:spPr>
          <a:xfrm>
            <a:off x="3566754" y="3621373"/>
            <a:ext cx="1403400" cy="25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16"/>
              <a:buFont typeface="Arial"/>
              <a:buNone/>
            </a:pPr>
            <a:r>
              <a:rPr b="1" i="0" lang="en-US" sz="1500" u="none" cap="none" strike="noStrike">
                <a:solidFill>
                  <a:srgbClr val="0B6E4F"/>
                </a:solidFill>
                <a:latin typeface="Calibri"/>
                <a:ea typeface="Calibri"/>
                <a:cs typeface="Calibri"/>
                <a:sym typeface="Calibri"/>
              </a:rPr>
              <a:t>patient_id</a:t>
            </a:r>
            <a:endParaRPr b="0" i="0" sz="1500" u="none" cap="none" strike="noStrike">
              <a:solidFill>
                <a:srgbClr val="000000"/>
              </a:solidFill>
              <a:latin typeface="Arial"/>
              <a:ea typeface="Arial"/>
              <a:cs typeface="Arial"/>
              <a:sym typeface="Arial"/>
            </a:endParaRPr>
          </a:p>
        </p:txBody>
      </p:sp>
      <p:sp>
        <p:nvSpPr>
          <p:cNvPr id="113" name="Google Shape;113;p2"/>
          <p:cNvSpPr/>
          <p:nvPr/>
        </p:nvSpPr>
        <p:spPr>
          <a:xfrm>
            <a:off x="4938104" y="3316628"/>
            <a:ext cx="657600" cy="256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28"/>
              <a:buFont typeface="Arial"/>
              <a:buNone/>
            </a:pPr>
            <a:r>
              <a:rPr b="0" i="0" lang="en-US" u="none" cap="none" strike="noStrike">
                <a:solidFill>
                  <a:srgbClr val="5B6770"/>
                </a:solidFill>
                <a:latin typeface="Calibri"/>
                <a:ea typeface="Calibri"/>
                <a:cs typeface="Calibri"/>
                <a:sym typeface="Calibri"/>
              </a:rPr>
              <a:t>PK</a:t>
            </a:r>
            <a:endParaRPr b="0" i="0" u="none" cap="none" strike="noStrike">
              <a:solidFill>
                <a:srgbClr val="000000"/>
              </a:solidFill>
              <a:latin typeface="Arial"/>
              <a:ea typeface="Arial"/>
              <a:cs typeface="Arial"/>
              <a:sym typeface="Arial"/>
            </a:endParaRPr>
          </a:p>
        </p:txBody>
      </p:sp>
      <p:sp>
        <p:nvSpPr>
          <p:cNvPr id="114" name="Google Shape;114;p2"/>
          <p:cNvSpPr/>
          <p:nvPr/>
        </p:nvSpPr>
        <p:spPr>
          <a:xfrm>
            <a:off x="4938104" y="3621373"/>
            <a:ext cx="657600" cy="256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28"/>
              <a:buFont typeface="Arial"/>
              <a:buNone/>
            </a:pPr>
            <a:r>
              <a:rPr b="0" i="0" lang="en-US" u="none" cap="none" strike="noStrike">
                <a:solidFill>
                  <a:srgbClr val="5B6770"/>
                </a:solidFill>
                <a:latin typeface="Calibri"/>
                <a:ea typeface="Calibri"/>
                <a:cs typeface="Calibri"/>
                <a:sym typeface="Calibri"/>
              </a:rPr>
              <a:t>FK</a:t>
            </a:r>
            <a:endParaRPr b="0" i="0" u="none" cap="none" strike="noStrike">
              <a:solidFill>
                <a:srgbClr val="000000"/>
              </a:solidFill>
              <a:latin typeface="Arial"/>
              <a:ea typeface="Arial"/>
              <a:cs typeface="Arial"/>
              <a:sym typeface="Arial"/>
            </a:endParaRPr>
          </a:p>
        </p:txBody>
      </p:sp>
      <p:sp>
        <p:nvSpPr>
          <p:cNvPr id="115" name="Google Shape;115;p2"/>
          <p:cNvSpPr/>
          <p:nvPr/>
        </p:nvSpPr>
        <p:spPr>
          <a:xfrm>
            <a:off x="3566754" y="3926117"/>
            <a:ext cx="1403400" cy="25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16"/>
              <a:buFont typeface="Arial"/>
              <a:buNone/>
            </a:pPr>
            <a:r>
              <a:rPr b="1" i="0" lang="en-US" sz="1500" u="none" cap="none" strike="noStrike">
                <a:solidFill>
                  <a:srgbClr val="0B6E4F"/>
                </a:solidFill>
                <a:latin typeface="Calibri"/>
                <a:ea typeface="Calibri"/>
                <a:cs typeface="Calibri"/>
                <a:sym typeface="Calibri"/>
              </a:rPr>
              <a:t>BM_DEP</a:t>
            </a:r>
            <a:endParaRPr b="0" i="0" sz="1500" u="none" cap="none" strike="noStrike">
              <a:solidFill>
                <a:srgbClr val="000000"/>
              </a:solidFill>
              <a:latin typeface="Arial"/>
              <a:ea typeface="Arial"/>
              <a:cs typeface="Arial"/>
              <a:sym typeface="Arial"/>
            </a:endParaRPr>
          </a:p>
        </p:txBody>
      </p:sp>
      <p:sp>
        <p:nvSpPr>
          <p:cNvPr id="116" name="Google Shape;116;p2"/>
          <p:cNvSpPr/>
          <p:nvPr/>
        </p:nvSpPr>
        <p:spPr>
          <a:xfrm>
            <a:off x="4938104" y="3926117"/>
            <a:ext cx="657600" cy="256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28"/>
              <a:buFont typeface="Arial"/>
              <a:buNone/>
            </a:pPr>
            <a:r>
              <a:rPr b="0" i="0" lang="en-US" u="none" cap="none" strike="noStrike">
                <a:solidFill>
                  <a:srgbClr val="5B6770"/>
                </a:solidFill>
                <a:latin typeface="Calibri"/>
                <a:ea typeface="Calibri"/>
                <a:cs typeface="Calibri"/>
                <a:sym typeface="Calibri"/>
              </a:rPr>
              <a:t>INT</a:t>
            </a:r>
            <a:endParaRPr b="0" i="0" u="none" cap="none" strike="noStrike">
              <a:solidFill>
                <a:srgbClr val="000000"/>
              </a:solidFill>
              <a:latin typeface="Arial"/>
              <a:ea typeface="Arial"/>
              <a:cs typeface="Arial"/>
              <a:sym typeface="Arial"/>
            </a:endParaRPr>
          </a:p>
        </p:txBody>
      </p:sp>
      <p:sp>
        <p:nvSpPr>
          <p:cNvPr id="117" name="Google Shape;117;p2"/>
          <p:cNvSpPr/>
          <p:nvPr/>
        </p:nvSpPr>
        <p:spPr>
          <a:xfrm>
            <a:off x="3566754" y="4230861"/>
            <a:ext cx="1403400" cy="25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16"/>
              <a:buFont typeface="Arial"/>
              <a:buNone/>
            </a:pPr>
            <a:r>
              <a:rPr b="1" i="0" lang="en-US" sz="1500" u="none" cap="none" strike="noStrike">
                <a:solidFill>
                  <a:srgbClr val="0B6E4F"/>
                </a:solidFill>
                <a:latin typeface="Calibri"/>
                <a:ea typeface="Calibri"/>
                <a:cs typeface="Calibri"/>
                <a:sym typeface="Calibri"/>
              </a:rPr>
              <a:t>ecog_stage</a:t>
            </a:r>
            <a:endParaRPr b="0" i="0" sz="1500" u="none" cap="none" strike="noStrike">
              <a:solidFill>
                <a:srgbClr val="000000"/>
              </a:solidFill>
              <a:latin typeface="Arial"/>
              <a:ea typeface="Arial"/>
              <a:cs typeface="Arial"/>
              <a:sym typeface="Arial"/>
            </a:endParaRPr>
          </a:p>
        </p:txBody>
      </p:sp>
      <p:sp>
        <p:nvSpPr>
          <p:cNvPr id="118" name="Google Shape;118;p2"/>
          <p:cNvSpPr/>
          <p:nvPr/>
        </p:nvSpPr>
        <p:spPr>
          <a:xfrm>
            <a:off x="4938104" y="4230861"/>
            <a:ext cx="657600" cy="256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28"/>
              <a:buFont typeface="Arial"/>
              <a:buNone/>
            </a:pPr>
            <a:r>
              <a:rPr b="0" i="0" lang="en-US" u="none" cap="none" strike="noStrike">
                <a:solidFill>
                  <a:srgbClr val="5B6770"/>
                </a:solidFill>
                <a:latin typeface="Calibri"/>
                <a:ea typeface="Calibri"/>
                <a:cs typeface="Calibri"/>
                <a:sym typeface="Calibri"/>
              </a:rPr>
              <a:t>INT</a:t>
            </a:r>
            <a:endParaRPr b="0" i="0" u="none" cap="none" strike="noStrike">
              <a:solidFill>
                <a:srgbClr val="000000"/>
              </a:solidFill>
              <a:latin typeface="Arial"/>
              <a:ea typeface="Arial"/>
              <a:cs typeface="Arial"/>
              <a:sym typeface="Arial"/>
            </a:endParaRPr>
          </a:p>
        </p:txBody>
      </p:sp>
      <p:cxnSp>
        <p:nvCxnSpPr>
          <p:cNvPr id="119" name="Google Shape;119;p2"/>
          <p:cNvCxnSpPr/>
          <p:nvPr/>
        </p:nvCxnSpPr>
        <p:spPr>
          <a:xfrm flipH="1" rot="10800000">
            <a:off x="3463857" y="3261622"/>
            <a:ext cx="2144400" cy="300"/>
          </a:xfrm>
          <a:prstGeom prst="straightConnector1">
            <a:avLst/>
          </a:prstGeom>
          <a:noFill/>
          <a:ln cap="flat" cmpd="sng" w="12700">
            <a:solidFill>
              <a:srgbClr val="8E989E"/>
            </a:solidFill>
            <a:prstDash val="solid"/>
            <a:round/>
            <a:headEnd len="sm" w="sm" type="none"/>
            <a:tailEnd len="sm" w="sm" type="none"/>
          </a:ln>
          <a:effectLst>
            <a:outerShdw blurRad="40000" rotWithShape="0" dir="5400000" dist="20000">
              <a:srgbClr val="000000">
                <a:alpha val="38040"/>
              </a:srgbClr>
            </a:outerShdw>
          </a:effectLst>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sp>
        <p:nvSpPr>
          <p:cNvPr id="125" name="Google Shape;125;h4e1cd23050cdd6e6_1_287"/>
          <p:cNvSpPr txBox="1"/>
          <p:nvPr/>
        </p:nvSpPr>
        <p:spPr>
          <a:xfrm>
            <a:off x="804672" y="521207"/>
            <a:ext cx="106986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WHAT WE WANT TO BUILD</a:t>
            </a:r>
            <a:endParaRPr b="0" i="0" sz="1400" u="none" cap="none" strike="noStrike">
              <a:solidFill>
                <a:srgbClr val="000000"/>
              </a:solidFill>
              <a:latin typeface="Arial"/>
              <a:ea typeface="Arial"/>
              <a:cs typeface="Arial"/>
              <a:sym typeface="Arial"/>
            </a:endParaRPr>
          </a:p>
        </p:txBody>
      </p:sp>
      <p:sp>
        <p:nvSpPr>
          <p:cNvPr id="126" name="Google Shape;126;h4e1cd23050cdd6e6_1_287"/>
          <p:cNvSpPr txBox="1"/>
          <p:nvPr/>
        </p:nvSpPr>
        <p:spPr>
          <a:xfrm>
            <a:off x="804672" y="923544"/>
            <a:ext cx="10789800" cy="954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Not just a cleaner schema.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A usable semantic model.</a:t>
            </a:r>
            <a:endParaRPr b="0" i="0" sz="1400" u="none" cap="none" strike="noStrike">
              <a:solidFill>
                <a:srgbClr val="000000"/>
              </a:solidFill>
              <a:latin typeface="Arial"/>
              <a:ea typeface="Arial"/>
              <a:cs typeface="Arial"/>
              <a:sym typeface="Arial"/>
            </a:endParaRPr>
          </a:p>
        </p:txBody>
      </p:sp>
      <p:sp>
        <p:nvSpPr>
          <p:cNvPr id="127" name="Google Shape;127;h4e1cd23050cdd6e6_1_287"/>
          <p:cNvSpPr/>
          <p:nvPr/>
        </p:nvSpPr>
        <p:spPr>
          <a:xfrm>
            <a:off x="804672" y="2057400"/>
            <a:ext cx="2971800" cy="28803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 name="Google Shape;128;h4e1cd23050cdd6e6_1_287"/>
          <p:cNvSpPr txBox="1"/>
          <p:nvPr/>
        </p:nvSpPr>
        <p:spPr>
          <a:xfrm>
            <a:off x="1024128" y="2212848"/>
            <a:ext cx="25146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5B6770"/>
                </a:solidFill>
                <a:latin typeface="Consolas"/>
                <a:ea typeface="Consolas"/>
                <a:cs typeface="Consolas"/>
                <a:sym typeface="Consolas"/>
              </a:rPr>
              <a:t>INPUT</a:t>
            </a:r>
            <a:endParaRPr b="0" i="0" sz="1400" u="none" cap="none" strike="noStrike">
              <a:solidFill>
                <a:srgbClr val="000000"/>
              </a:solidFill>
              <a:latin typeface="Arial"/>
              <a:ea typeface="Arial"/>
              <a:cs typeface="Arial"/>
              <a:sym typeface="Arial"/>
            </a:endParaRPr>
          </a:p>
        </p:txBody>
      </p:sp>
      <p:sp>
        <p:nvSpPr>
          <p:cNvPr id="129" name="Google Shape;129;h4e1cd23050cdd6e6_1_287"/>
          <p:cNvSpPr/>
          <p:nvPr/>
        </p:nvSpPr>
        <p:spPr>
          <a:xfrm>
            <a:off x="3977639" y="3291840"/>
            <a:ext cx="567000" cy="429900"/>
          </a:xfrm>
          <a:prstGeom prst="rightArrow">
            <a:avLst>
              <a:gd fmla="val 50000" name="adj1"/>
              <a:gd fmla="val 50000" name="adj2"/>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 name="Google Shape;130;h4e1cd23050cdd6e6_1_287"/>
          <p:cNvSpPr/>
          <p:nvPr/>
        </p:nvSpPr>
        <p:spPr>
          <a:xfrm>
            <a:off x="4754880" y="2057400"/>
            <a:ext cx="6656700" cy="4453200"/>
          </a:xfrm>
          <a:prstGeom prst="roundRect">
            <a:avLst>
              <a:gd fmla="val 10000" name="adj"/>
            </a:avLst>
          </a:prstGeom>
          <a:solidFill>
            <a:srgbClr val="F3F5F4"/>
          </a:solidFill>
          <a:ln cap="flat" cmpd="sng" w="1777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 name="Google Shape;131;h4e1cd23050cdd6e6_1_287"/>
          <p:cNvSpPr txBox="1"/>
          <p:nvPr/>
        </p:nvSpPr>
        <p:spPr>
          <a:xfrm>
            <a:off x="5038344" y="2212848"/>
            <a:ext cx="6044100" cy="2463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600"/>
              <a:buFont typeface="Arial"/>
              <a:buNone/>
            </a:pPr>
            <a:r>
              <a:rPr b="1" i="0" lang="en-US" sz="1600" u="none" cap="none" strike="noStrike">
                <a:solidFill>
                  <a:srgbClr val="2F6B78"/>
                </a:solidFill>
                <a:latin typeface="Consolas"/>
                <a:ea typeface="Consolas"/>
                <a:cs typeface="Consolas"/>
                <a:sym typeface="Consolas"/>
              </a:rPr>
              <a:t>TARGET</a:t>
            </a:r>
            <a:endParaRPr b="0" i="0" sz="1400" u="none" cap="none" strike="noStrike">
              <a:solidFill>
                <a:srgbClr val="000000"/>
              </a:solidFill>
              <a:latin typeface="Arial"/>
              <a:ea typeface="Arial"/>
              <a:cs typeface="Arial"/>
              <a:sym typeface="Arial"/>
            </a:endParaRPr>
          </a:p>
        </p:txBody>
      </p:sp>
      <p:sp>
        <p:nvSpPr>
          <p:cNvPr id="132" name="Google Shape;132;h4e1cd23050cdd6e6_1_287"/>
          <p:cNvSpPr/>
          <p:nvPr/>
        </p:nvSpPr>
        <p:spPr>
          <a:xfrm>
            <a:off x="969264" y="2615184"/>
            <a:ext cx="2642700" cy="21396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h4e1cd23050cdd6e6_1_287"/>
          <p:cNvSpPr txBox="1"/>
          <p:nvPr/>
        </p:nvSpPr>
        <p:spPr>
          <a:xfrm>
            <a:off x="1133856" y="2724912"/>
            <a:ext cx="2331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cxnSp>
        <p:nvCxnSpPr>
          <p:cNvPr id="134" name="Google Shape;134;h4e1cd23050cdd6e6_1_287"/>
          <p:cNvCxnSpPr/>
          <p:nvPr/>
        </p:nvCxnSpPr>
        <p:spPr>
          <a:xfrm>
            <a:off x="1133856" y="3145536"/>
            <a:ext cx="2313300" cy="0"/>
          </a:xfrm>
          <a:prstGeom prst="straightConnector1">
            <a:avLst/>
          </a:prstGeom>
          <a:noFill/>
          <a:ln cap="flat" cmpd="sng" w="19050">
            <a:solidFill>
              <a:srgbClr val="8E989E"/>
            </a:solidFill>
            <a:prstDash val="solid"/>
            <a:miter lim="0"/>
            <a:headEnd len="sm" w="sm" type="none"/>
            <a:tailEnd len="sm" w="sm" type="none"/>
          </a:ln>
        </p:spPr>
      </p:cxnSp>
      <p:sp>
        <p:nvSpPr>
          <p:cNvPr id="135" name="Google Shape;135;h4e1cd23050cdd6e6_1_287"/>
          <p:cNvSpPr/>
          <p:nvPr/>
        </p:nvSpPr>
        <p:spPr>
          <a:xfrm>
            <a:off x="1133856" y="3273552"/>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admission_id</a:t>
            </a:r>
            <a:endParaRPr b="0" i="0" sz="1400" u="none" cap="none" strike="noStrike">
              <a:solidFill>
                <a:srgbClr val="000000"/>
              </a:solidFill>
              <a:latin typeface="Arial"/>
              <a:ea typeface="Arial"/>
              <a:cs typeface="Arial"/>
              <a:sym typeface="Arial"/>
            </a:endParaRPr>
          </a:p>
        </p:txBody>
      </p:sp>
      <p:sp>
        <p:nvSpPr>
          <p:cNvPr id="136" name="Google Shape;136;h4e1cd23050cdd6e6_1_287"/>
          <p:cNvSpPr/>
          <p:nvPr/>
        </p:nvSpPr>
        <p:spPr>
          <a:xfrm>
            <a:off x="1133856" y="3621024"/>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patient_id</a:t>
            </a:r>
            <a:endParaRPr b="0" i="0" sz="1400" u="none" cap="none" strike="noStrike">
              <a:solidFill>
                <a:srgbClr val="000000"/>
              </a:solidFill>
              <a:latin typeface="Arial"/>
              <a:ea typeface="Arial"/>
              <a:cs typeface="Arial"/>
              <a:sym typeface="Arial"/>
            </a:endParaRPr>
          </a:p>
        </p:txBody>
      </p:sp>
      <p:sp>
        <p:nvSpPr>
          <p:cNvPr id="137" name="Google Shape;137;h4e1cd23050cdd6e6_1_287"/>
          <p:cNvSpPr/>
          <p:nvPr/>
        </p:nvSpPr>
        <p:spPr>
          <a:xfrm>
            <a:off x="2697480" y="3273552"/>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PK</a:t>
            </a:r>
            <a:endParaRPr b="0" i="0" sz="1400" u="none" cap="none" strike="noStrike">
              <a:solidFill>
                <a:srgbClr val="000000"/>
              </a:solidFill>
              <a:latin typeface="Arial"/>
              <a:ea typeface="Arial"/>
              <a:cs typeface="Arial"/>
              <a:sym typeface="Arial"/>
            </a:endParaRPr>
          </a:p>
        </p:txBody>
      </p:sp>
      <p:sp>
        <p:nvSpPr>
          <p:cNvPr id="138" name="Google Shape;138;h4e1cd23050cdd6e6_1_287"/>
          <p:cNvSpPr/>
          <p:nvPr/>
        </p:nvSpPr>
        <p:spPr>
          <a:xfrm>
            <a:off x="2697480" y="3621024"/>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FK</a:t>
            </a:r>
            <a:endParaRPr b="0" i="0" sz="1400" u="none" cap="none" strike="noStrike">
              <a:solidFill>
                <a:srgbClr val="000000"/>
              </a:solidFill>
              <a:latin typeface="Arial"/>
              <a:ea typeface="Arial"/>
              <a:cs typeface="Arial"/>
              <a:sym typeface="Arial"/>
            </a:endParaRPr>
          </a:p>
        </p:txBody>
      </p:sp>
      <p:sp>
        <p:nvSpPr>
          <p:cNvPr id="139" name="Google Shape;139;h4e1cd23050cdd6e6_1_287"/>
          <p:cNvSpPr/>
          <p:nvPr/>
        </p:nvSpPr>
        <p:spPr>
          <a:xfrm>
            <a:off x="1133856" y="3968496"/>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BM_DEP</a:t>
            </a:r>
            <a:endParaRPr b="0" i="0" sz="1400" u="none" cap="none" strike="noStrike">
              <a:solidFill>
                <a:srgbClr val="000000"/>
              </a:solidFill>
              <a:latin typeface="Arial"/>
              <a:ea typeface="Arial"/>
              <a:cs typeface="Arial"/>
              <a:sym typeface="Arial"/>
            </a:endParaRPr>
          </a:p>
        </p:txBody>
      </p:sp>
      <p:sp>
        <p:nvSpPr>
          <p:cNvPr id="140" name="Google Shape;140;h4e1cd23050cdd6e6_1_287"/>
          <p:cNvSpPr/>
          <p:nvPr/>
        </p:nvSpPr>
        <p:spPr>
          <a:xfrm>
            <a:off x="2697480" y="3968496"/>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141" name="Google Shape;141;h4e1cd23050cdd6e6_1_287"/>
          <p:cNvSpPr/>
          <p:nvPr/>
        </p:nvSpPr>
        <p:spPr>
          <a:xfrm>
            <a:off x="1133856" y="4315968"/>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ecog_stage</a:t>
            </a:r>
            <a:endParaRPr b="0" i="0" sz="1400" u="none" cap="none" strike="noStrike">
              <a:solidFill>
                <a:srgbClr val="000000"/>
              </a:solidFill>
              <a:latin typeface="Arial"/>
              <a:ea typeface="Arial"/>
              <a:cs typeface="Arial"/>
              <a:sym typeface="Arial"/>
            </a:endParaRPr>
          </a:p>
        </p:txBody>
      </p:sp>
      <p:sp>
        <p:nvSpPr>
          <p:cNvPr id="142" name="Google Shape;142;h4e1cd23050cdd6e6_1_287"/>
          <p:cNvSpPr/>
          <p:nvPr/>
        </p:nvSpPr>
        <p:spPr>
          <a:xfrm>
            <a:off x="2697480" y="4315968"/>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143" name="Google Shape;143;h4e1cd23050cdd6e6_1_287"/>
          <p:cNvSpPr/>
          <p:nvPr/>
        </p:nvSpPr>
        <p:spPr>
          <a:xfrm>
            <a:off x="4983480" y="3200400"/>
            <a:ext cx="6217800" cy="3200400"/>
          </a:xfrm>
          <a:prstGeom prst="roundRect">
            <a:avLst>
              <a:gd fmla="val 9000"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 name="Shape 148"/>
        <p:cNvGrpSpPr/>
        <p:nvPr/>
      </p:nvGrpSpPr>
      <p:grpSpPr>
        <a:xfrm>
          <a:off x="0" y="0"/>
          <a:ext cx="0" cy="0"/>
          <a:chOff x="0" y="0"/>
          <a:chExt cx="0" cy="0"/>
        </a:xfrm>
      </p:grpSpPr>
      <p:sp>
        <p:nvSpPr>
          <p:cNvPr id="149" name="Google Shape;149;h4e1cd23050cdd6e6_1_8"/>
          <p:cNvSpPr txBox="1"/>
          <p:nvPr/>
        </p:nvSpPr>
        <p:spPr>
          <a:xfrm>
            <a:off x="804672" y="521207"/>
            <a:ext cx="106986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WHAT WE WANT TO BUILD</a:t>
            </a:r>
            <a:endParaRPr b="0" i="0" sz="1400" u="none" cap="none" strike="noStrike">
              <a:solidFill>
                <a:srgbClr val="000000"/>
              </a:solidFill>
              <a:latin typeface="Arial"/>
              <a:ea typeface="Arial"/>
              <a:cs typeface="Arial"/>
              <a:sym typeface="Arial"/>
            </a:endParaRPr>
          </a:p>
        </p:txBody>
      </p:sp>
      <p:sp>
        <p:nvSpPr>
          <p:cNvPr id="150" name="Google Shape;150;h4e1cd23050cdd6e6_1_8"/>
          <p:cNvSpPr txBox="1"/>
          <p:nvPr/>
        </p:nvSpPr>
        <p:spPr>
          <a:xfrm>
            <a:off x="804672" y="923544"/>
            <a:ext cx="10789800" cy="954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Not just a cleaner schema.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A usable semantic model.</a:t>
            </a:r>
            <a:endParaRPr b="0" i="0" sz="1400" u="none" cap="none" strike="noStrike">
              <a:solidFill>
                <a:srgbClr val="000000"/>
              </a:solidFill>
              <a:latin typeface="Arial"/>
              <a:ea typeface="Arial"/>
              <a:cs typeface="Arial"/>
              <a:sym typeface="Arial"/>
            </a:endParaRPr>
          </a:p>
        </p:txBody>
      </p:sp>
      <p:sp>
        <p:nvSpPr>
          <p:cNvPr id="151" name="Google Shape;151;h4e1cd23050cdd6e6_1_8"/>
          <p:cNvSpPr/>
          <p:nvPr/>
        </p:nvSpPr>
        <p:spPr>
          <a:xfrm>
            <a:off x="804672" y="2057400"/>
            <a:ext cx="2971800" cy="28803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2" name="Google Shape;152;h4e1cd23050cdd6e6_1_8"/>
          <p:cNvSpPr txBox="1"/>
          <p:nvPr/>
        </p:nvSpPr>
        <p:spPr>
          <a:xfrm>
            <a:off x="1024128" y="2212848"/>
            <a:ext cx="25146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5B6770"/>
                </a:solidFill>
                <a:latin typeface="Consolas"/>
                <a:ea typeface="Consolas"/>
                <a:cs typeface="Consolas"/>
                <a:sym typeface="Consolas"/>
              </a:rPr>
              <a:t>INPUT</a:t>
            </a:r>
            <a:endParaRPr b="0" i="0" sz="1400" u="none" cap="none" strike="noStrike">
              <a:solidFill>
                <a:srgbClr val="000000"/>
              </a:solidFill>
              <a:latin typeface="Arial"/>
              <a:ea typeface="Arial"/>
              <a:cs typeface="Arial"/>
              <a:sym typeface="Arial"/>
            </a:endParaRPr>
          </a:p>
        </p:txBody>
      </p:sp>
      <p:sp>
        <p:nvSpPr>
          <p:cNvPr id="153" name="Google Shape;153;h4e1cd23050cdd6e6_1_8"/>
          <p:cNvSpPr/>
          <p:nvPr/>
        </p:nvSpPr>
        <p:spPr>
          <a:xfrm>
            <a:off x="3977639" y="3291840"/>
            <a:ext cx="567000" cy="429900"/>
          </a:xfrm>
          <a:prstGeom prst="rightArrow">
            <a:avLst>
              <a:gd fmla="val 50000" name="adj1"/>
              <a:gd fmla="val 50000" name="adj2"/>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4" name="Google Shape;154;h4e1cd23050cdd6e6_1_8"/>
          <p:cNvSpPr/>
          <p:nvPr/>
        </p:nvSpPr>
        <p:spPr>
          <a:xfrm>
            <a:off x="4754880" y="2057400"/>
            <a:ext cx="6656700" cy="4453200"/>
          </a:xfrm>
          <a:prstGeom prst="roundRect">
            <a:avLst>
              <a:gd fmla="val 10000" name="adj"/>
            </a:avLst>
          </a:prstGeom>
          <a:solidFill>
            <a:srgbClr val="F3F5F4"/>
          </a:solidFill>
          <a:ln cap="flat" cmpd="sng" w="1777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 name="Google Shape;155;h4e1cd23050cdd6e6_1_8"/>
          <p:cNvSpPr txBox="1"/>
          <p:nvPr/>
        </p:nvSpPr>
        <p:spPr>
          <a:xfrm>
            <a:off x="5038344" y="2212848"/>
            <a:ext cx="6044100" cy="2463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600"/>
              <a:buFont typeface="Arial"/>
              <a:buNone/>
            </a:pPr>
            <a:r>
              <a:rPr b="1" i="0" lang="en-US" sz="1600" u="none" cap="none" strike="noStrike">
                <a:solidFill>
                  <a:srgbClr val="2F6B78"/>
                </a:solidFill>
                <a:latin typeface="Consolas"/>
                <a:ea typeface="Consolas"/>
                <a:cs typeface="Consolas"/>
                <a:sym typeface="Consolas"/>
              </a:rPr>
              <a:t>TARGET</a:t>
            </a:r>
            <a:endParaRPr b="0" i="0" sz="1400" u="none" cap="none" strike="noStrike">
              <a:solidFill>
                <a:srgbClr val="000000"/>
              </a:solidFill>
              <a:latin typeface="Arial"/>
              <a:ea typeface="Arial"/>
              <a:cs typeface="Arial"/>
              <a:sym typeface="Arial"/>
            </a:endParaRPr>
          </a:p>
        </p:txBody>
      </p:sp>
      <p:sp>
        <p:nvSpPr>
          <p:cNvPr id="156" name="Google Shape;156;h4e1cd23050cdd6e6_1_8"/>
          <p:cNvSpPr/>
          <p:nvPr/>
        </p:nvSpPr>
        <p:spPr>
          <a:xfrm>
            <a:off x="5093208" y="2633472"/>
            <a:ext cx="21030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7" name="Google Shape;157;h4e1cd23050cdd6e6_1_8"/>
          <p:cNvSpPr txBox="1"/>
          <p:nvPr/>
        </p:nvSpPr>
        <p:spPr>
          <a:xfrm>
            <a:off x="5248656" y="2743200"/>
            <a:ext cx="1746600" cy="307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158" name="Google Shape;158;h4e1cd23050cdd6e6_1_8"/>
          <p:cNvSpPr/>
          <p:nvPr/>
        </p:nvSpPr>
        <p:spPr>
          <a:xfrm>
            <a:off x="9253728" y="2633472"/>
            <a:ext cx="18288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 name="Google Shape;159;h4e1cd23050cdd6e6_1_8"/>
          <p:cNvSpPr txBox="1"/>
          <p:nvPr/>
        </p:nvSpPr>
        <p:spPr>
          <a:xfrm>
            <a:off x="9354312" y="2743200"/>
            <a:ext cx="16458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cxnSp>
        <p:nvCxnSpPr>
          <p:cNvPr id="160" name="Google Shape;160;h4e1cd23050cdd6e6_1_8"/>
          <p:cNvCxnSpPr/>
          <p:nvPr/>
        </p:nvCxnSpPr>
        <p:spPr>
          <a:xfrm>
            <a:off x="7278624" y="2871216"/>
            <a:ext cx="1865400" cy="0"/>
          </a:xfrm>
          <a:prstGeom prst="straightConnector1">
            <a:avLst/>
          </a:prstGeom>
          <a:noFill/>
          <a:ln cap="flat" cmpd="sng" w="31750">
            <a:solidFill>
              <a:srgbClr val="0B6E4F"/>
            </a:solidFill>
            <a:prstDash val="solid"/>
            <a:miter lim="0"/>
            <a:headEnd len="sm" w="sm" type="none"/>
            <a:tailEnd len="med" w="med" type="triangle"/>
          </a:ln>
        </p:spPr>
      </p:cxnSp>
      <p:sp>
        <p:nvSpPr>
          <p:cNvPr id="161" name="Google Shape;161;h4e1cd23050cdd6e6_1_8"/>
          <p:cNvSpPr/>
          <p:nvPr/>
        </p:nvSpPr>
        <p:spPr>
          <a:xfrm>
            <a:off x="7388352" y="2487168"/>
            <a:ext cx="1591200" cy="274200"/>
          </a:xfrm>
          <a:prstGeom prst="roundRect">
            <a:avLst>
              <a:gd fmla="val 1000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 name="Google Shape;162;h4e1cd23050cdd6e6_1_8"/>
          <p:cNvSpPr txBox="1"/>
          <p:nvPr/>
        </p:nvSpPr>
        <p:spPr>
          <a:xfrm>
            <a:off x="7278624" y="2514600"/>
            <a:ext cx="17832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hasPatientData</a:t>
            </a:r>
            <a:endParaRPr b="0" i="0" sz="1400" u="none" cap="none" strike="noStrike">
              <a:solidFill>
                <a:srgbClr val="000000"/>
              </a:solidFill>
              <a:latin typeface="Arial"/>
              <a:ea typeface="Arial"/>
              <a:cs typeface="Arial"/>
              <a:sym typeface="Arial"/>
            </a:endParaRPr>
          </a:p>
        </p:txBody>
      </p:sp>
      <p:sp>
        <p:nvSpPr>
          <p:cNvPr id="163" name="Google Shape;163;h4e1cd23050cdd6e6_1_8"/>
          <p:cNvSpPr/>
          <p:nvPr/>
        </p:nvSpPr>
        <p:spPr>
          <a:xfrm>
            <a:off x="969264" y="2615184"/>
            <a:ext cx="2642700" cy="21396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h4e1cd23050cdd6e6_1_8"/>
          <p:cNvSpPr txBox="1"/>
          <p:nvPr/>
        </p:nvSpPr>
        <p:spPr>
          <a:xfrm>
            <a:off x="1133856" y="2724912"/>
            <a:ext cx="2331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cxnSp>
        <p:nvCxnSpPr>
          <p:cNvPr id="165" name="Google Shape;165;h4e1cd23050cdd6e6_1_8"/>
          <p:cNvCxnSpPr/>
          <p:nvPr/>
        </p:nvCxnSpPr>
        <p:spPr>
          <a:xfrm>
            <a:off x="1133856" y="3145536"/>
            <a:ext cx="2313300" cy="0"/>
          </a:xfrm>
          <a:prstGeom prst="straightConnector1">
            <a:avLst/>
          </a:prstGeom>
          <a:noFill/>
          <a:ln cap="flat" cmpd="sng" w="19050">
            <a:solidFill>
              <a:srgbClr val="8E989E"/>
            </a:solidFill>
            <a:prstDash val="solid"/>
            <a:miter lim="0"/>
            <a:headEnd len="sm" w="sm" type="none"/>
            <a:tailEnd len="sm" w="sm" type="none"/>
          </a:ln>
        </p:spPr>
      </p:cxnSp>
      <p:sp>
        <p:nvSpPr>
          <p:cNvPr id="166" name="Google Shape;166;h4e1cd23050cdd6e6_1_8"/>
          <p:cNvSpPr/>
          <p:nvPr/>
        </p:nvSpPr>
        <p:spPr>
          <a:xfrm>
            <a:off x="1133856" y="3273552"/>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admission_id</a:t>
            </a:r>
            <a:endParaRPr b="0" i="0" sz="1400" u="none" cap="none" strike="noStrike">
              <a:solidFill>
                <a:srgbClr val="000000"/>
              </a:solidFill>
              <a:latin typeface="Arial"/>
              <a:ea typeface="Arial"/>
              <a:cs typeface="Arial"/>
              <a:sym typeface="Arial"/>
            </a:endParaRPr>
          </a:p>
        </p:txBody>
      </p:sp>
      <p:sp>
        <p:nvSpPr>
          <p:cNvPr id="167" name="Google Shape;167;h4e1cd23050cdd6e6_1_8"/>
          <p:cNvSpPr/>
          <p:nvPr/>
        </p:nvSpPr>
        <p:spPr>
          <a:xfrm>
            <a:off x="1133856" y="3621024"/>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patient_id</a:t>
            </a:r>
            <a:endParaRPr b="0" i="0" sz="1400" u="none" cap="none" strike="noStrike">
              <a:solidFill>
                <a:srgbClr val="000000"/>
              </a:solidFill>
              <a:latin typeface="Arial"/>
              <a:ea typeface="Arial"/>
              <a:cs typeface="Arial"/>
              <a:sym typeface="Arial"/>
            </a:endParaRPr>
          </a:p>
        </p:txBody>
      </p:sp>
      <p:sp>
        <p:nvSpPr>
          <p:cNvPr id="168" name="Google Shape;168;h4e1cd23050cdd6e6_1_8"/>
          <p:cNvSpPr/>
          <p:nvPr/>
        </p:nvSpPr>
        <p:spPr>
          <a:xfrm>
            <a:off x="2697480" y="3273552"/>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PK</a:t>
            </a:r>
            <a:endParaRPr b="0" i="0" sz="1400" u="none" cap="none" strike="noStrike">
              <a:solidFill>
                <a:srgbClr val="000000"/>
              </a:solidFill>
              <a:latin typeface="Arial"/>
              <a:ea typeface="Arial"/>
              <a:cs typeface="Arial"/>
              <a:sym typeface="Arial"/>
            </a:endParaRPr>
          </a:p>
        </p:txBody>
      </p:sp>
      <p:sp>
        <p:nvSpPr>
          <p:cNvPr id="169" name="Google Shape;169;h4e1cd23050cdd6e6_1_8"/>
          <p:cNvSpPr/>
          <p:nvPr/>
        </p:nvSpPr>
        <p:spPr>
          <a:xfrm>
            <a:off x="2697480" y="3621024"/>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FK</a:t>
            </a:r>
            <a:endParaRPr b="0" i="0" sz="1400" u="none" cap="none" strike="noStrike">
              <a:solidFill>
                <a:srgbClr val="000000"/>
              </a:solidFill>
              <a:latin typeface="Arial"/>
              <a:ea typeface="Arial"/>
              <a:cs typeface="Arial"/>
              <a:sym typeface="Arial"/>
            </a:endParaRPr>
          </a:p>
        </p:txBody>
      </p:sp>
      <p:sp>
        <p:nvSpPr>
          <p:cNvPr id="170" name="Google Shape;170;h4e1cd23050cdd6e6_1_8"/>
          <p:cNvSpPr/>
          <p:nvPr/>
        </p:nvSpPr>
        <p:spPr>
          <a:xfrm>
            <a:off x="1133856" y="3968496"/>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BM_DEP</a:t>
            </a:r>
            <a:endParaRPr b="0" i="0" sz="1400" u="none" cap="none" strike="noStrike">
              <a:solidFill>
                <a:srgbClr val="000000"/>
              </a:solidFill>
              <a:latin typeface="Arial"/>
              <a:ea typeface="Arial"/>
              <a:cs typeface="Arial"/>
              <a:sym typeface="Arial"/>
            </a:endParaRPr>
          </a:p>
        </p:txBody>
      </p:sp>
      <p:sp>
        <p:nvSpPr>
          <p:cNvPr id="171" name="Google Shape;171;h4e1cd23050cdd6e6_1_8"/>
          <p:cNvSpPr/>
          <p:nvPr/>
        </p:nvSpPr>
        <p:spPr>
          <a:xfrm>
            <a:off x="2697480" y="3968496"/>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172" name="Google Shape;172;h4e1cd23050cdd6e6_1_8"/>
          <p:cNvSpPr/>
          <p:nvPr/>
        </p:nvSpPr>
        <p:spPr>
          <a:xfrm>
            <a:off x="1133856" y="4315968"/>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ecog_stage</a:t>
            </a:r>
            <a:endParaRPr b="0" i="0" sz="1400" u="none" cap="none" strike="noStrike">
              <a:solidFill>
                <a:srgbClr val="000000"/>
              </a:solidFill>
              <a:latin typeface="Arial"/>
              <a:ea typeface="Arial"/>
              <a:cs typeface="Arial"/>
              <a:sym typeface="Arial"/>
            </a:endParaRPr>
          </a:p>
        </p:txBody>
      </p:sp>
      <p:sp>
        <p:nvSpPr>
          <p:cNvPr id="173" name="Google Shape;173;h4e1cd23050cdd6e6_1_8"/>
          <p:cNvSpPr/>
          <p:nvPr/>
        </p:nvSpPr>
        <p:spPr>
          <a:xfrm>
            <a:off x="2697480" y="4315968"/>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174" name="Google Shape;174;h4e1cd23050cdd6e6_1_8"/>
          <p:cNvSpPr/>
          <p:nvPr/>
        </p:nvSpPr>
        <p:spPr>
          <a:xfrm>
            <a:off x="4983480" y="3200400"/>
            <a:ext cx="6217800" cy="3200400"/>
          </a:xfrm>
          <a:prstGeom prst="roundRect">
            <a:avLst>
              <a:gd fmla="val 9000"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h4e1cd23050cdd6e6_1_8"/>
          <p:cNvSpPr txBox="1"/>
          <p:nvPr/>
        </p:nvSpPr>
        <p:spPr>
          <a:xfrm>
            <a:off x="4983480" y="3264408"/>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Class:</a:t>
            </a:r>
            <a:r>
              <a:rPr b="0" i="0" lang="en-US" sz="1050" u="none" cap="none" strike="noStrike">
                <a:solidFill>
                  <a:srgbClr val="1F2328"/>
                </a:solidFill>
                <a:latin typeface="Consolas"/>
                <a:ea typeface="Consolas"/>
                <a:cs typeface="Consolas"/>
                <a:sym typeface="Consolas"/>
              </a:rPr>
              <a:t> Admission</a:t>
            </a:r>
            <a:endParaRPr b="0" i="0" sz="1050" u="none" cap="none" strike="noStrike">
              <a:solidFill>
                <a:srgbClr val="000000"/>
              </a:solidFill>
              <a:latin typeface="Arial"/>
              <a:ea typeface="Arial"/>
              <a:cs typeface="Arial"/>
              <a:sym typeface="Arial"/>
            </a:endParaRPr>
          </a:p>
        </p:txBody>
      </p:sp>
      <p:sp>
        <p:nvSpPr>
          <p:cNvPr id="176" name="Google Shape;176;h4e1cd23050cdd6e6_1_8"/>
          <p:cNvSpPr txBox="1"/>
          <p:nvPr/>
        </p:nvSpPr>
        <p:spPr>
          <a:xfrm>
            <a:off x="4983480" y="3426112"/>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SubClassOf:</a:t>
            </a:r>
            <a:endParaRPr b="0" i="0" sz="1050" u="none" cap="none" strike="noStrike">
              <a:solidFill>
                <a:srgbClr val="000000"/>
              </a:solidFill>
              <a:latin typeface="Arial"/>
              <a:ea typeface="Arial"/>
              <a:cs typeface="Arial"/>
              <a:sym typeface="Arial"/>
            </a:endParaRPr>
          </a:p>
        </p:txBody>
      </p:sp>
      <p:sp>
        <p:nvSpPr>
          <p:cNvPr id="177" name="Google Shape;177;h4e1cd23050cdd6e6_1_8"/>
          <p:cNvSpPr txBox="1"/>
          <p:nvPr/>
        </p:nvSpPr>
        <p:spPr>
          <a:xfrm>
            <a:off x="4983480" y="3587816"/>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admission_id </a:t>
            </a:r>
            <a:r>
              <a:rPr b="1" i="0" lang="en-US" sz="1050" u="none" cap="none" strike="noStrike">
                <a:solidFill>
                  <a:srgbClr val="0B6E4F"/>
                </a:solidFill>
                <a:latin typeface="Consolas"/>
                <a:ea typeface="Consolas"/>
                <a:cs typeface="Consolas"/>
                <a:sym typeface="Consolas"/>
              </a:rPr>
              <a:t>some</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178" name="Google Shape;178;h4e1cd23050cdd6e6_1_8"/>
          <p:cNvSpPr txBox="1"/>
          <p:nvPr/>
        </p:nvSpPr>
        <p:spPr>
          <a:xfrm>
            <a:off x="4983480" y="3749521"/>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1F2328"/>
                </a:solidFill>
                <a:highlight>
                  <a:srgbClr val="FFE599"/>
                </a:highlight>
                <a:latin typeface="Consolas"/>
                <a:ea typeface="Consolas"/>
                <a:cs typeface="Consolas"/>
                <a:sym typeface="Consolas"/>
              </a:rPr>
              <a:t>hasPatientData </a:t>
            </a:r>
            <a:r>
              <a:rPr b="1" i="0" lang="en-US" sz="1050" u="none" cap="none" strike="noStrike">
                <a:solidFill>
                  <a:srgbClr val="0B6E4F"/>
                </a:solidFill>
                <a:highlight>
                  <a:srgbClr val="FFE599"/>
                </a:highlight>
                <a:latin typeface="Consolas"/>
                <a:ea typeface="Consolas"/>
                <a:cs typeface="Consolas"/>
                <a:sym typeface="Consolas"/>
              </a:rPr>
              <a:t>some</a:t>
            </a:r>
            <a:r>
              <a:rPr b="0" i="0" lang="en-US" sz="1050" u="none" cap="none" strike="noStrike">
                <a:solidFill>
                  <a:srgbClr val="1F2328"/>
                </a:solidFill>
                <a:highlight>
                  <a:srgbClr val="FFE599"/>
                </a:highlight>
                <a:latin typeface="Consolas"/>
                <a:ea typeface="Consolas"/>
                <a:cs typeface="Consolas"/>
                <a:sym typeface="Consolas"/>
              </a:rPr>
              <a:t> PatientData,</a:t>
            </a:r>
            <a:endParaRPr b="0" i="0" sz="1050" u="none" cap="none" strike="noStrike">
              <a:solidFill>
                <a:srgbClr val="000000"/>
              </a:solidFill>
              <a:latin typeface="Arial"/>
              <a:ea typeface="Arial"/>
              <a:cs typeface="Arial"/>
              <a:sym typeface="Arial"/>
            </a:endParaRPr>
          </a:p>
        </p:txBody>
      </p:sp>
      <p:sp>
        <p:nvSpPr>
          <p:cNvPr id="179" name="Google Shape;179;h4e1cd23050cdd6e6_1_8"/>
          <p:cNvSpPr/>
          <p:nvPr/>
        </p:nvSpPr>
        <p:spPr>
          <a:xfrm>
            <a:off x="9399912" y="3749521"/>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schema (foreign key)</a:t>
            </a:r>
            <a:endParaRPr/>
          </a:p>
        </p:txBody>
      </p:sp>
      <p:sp>
        <p:nvSpPr>
          <p:cNvPr id="180" name="Google Shape;180;h4e1cd23050cdd6e6_1_8"/>
          <p:cNvSpPr txBox="1"/>
          <p:nvPr/>
        </p:nvSpPr>
        <p:spPr>
          <a:xfrm>
            <a:off x="4983480" y="3911225"/>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BM_DEP </a:t>
            </a:r>
            <a:r>
              <a:rPr b="1" i="0" lang="en-US" sz="1050" u="none" cap="none" strike="noStrike">
                <a:solidFill>
                  <a:srgbClr val="0B6E4F"/>
                </a:solidFill>
                <a:latin typeface="Consolas"/>
                <a:ea typeface="Consolas"/>
                <a:cs typeface="Consolas"/>
                <a:sym typeface="Consolas"/>
              </a:rPr>
              <a:t>only</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181" name="Google Shape;181;h4e1cd23050cdd6e6_1_8"/>
          <p:cNvSpPr txBox="1"/>
          <p:nvPr/>
        </p:nvSpPr>
        <p:spPr>
          <a:xfrm>
            <a:off x="4983480" y="4072930"/>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ecog_stage </a:t>
            </a:r>
            <a:r>
              <a:rPr b="1" i="0" lang="en-US" sz="1050" u="none" cap="none" strike="noStrike">
                <a:solidFill>
                  <a:srgbClr val="0B6E4F"/>
                </a:solidFill>
                <a:latin typeface="Consolas"/>
                <a:ea typeface="Consolas"/>
                <a:cs typeface="Consolas"/>
                <a:sym typeface="Consolas"/>
              </a:rPr>
              <a:t>only</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endParaRPr b="0" i="0" sz="1050" u="none" cap="none" strike="noStrike">
              <a:solidFill>
                <a:srgbClr val="000000"/>
              </a:solidFill>
              <a:latin typeface="Arial"/>
              <a:ea typeface="Arial"/>
              <a:cs typeface="Arial"/>
              <a:sym typeface="Arial"/>
            </a:endParaRPr>
          </a:p>
        </p:txBody>
      </p:sp>
      <p:sp>
        <p:nvSpPr>
          <p:cNvPr id="182" name="Google Shape;182;h4e1cd23050cdd6e6_1_8"/>
          <p:cNvSpPr txBox="1"/>
          <p:nvPr/>
        </p:nvSpPr>
        <p:spPr>
          <a:xfrm>
            <a:off x="4983480" y="4396338"/>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admission_id</a:t>
            </a:r>
            <a:endParaRPr b="0" i="0" sz="1050" u="none" cap="none" strike="noStrike">
              <a:solidFill>
                <a:srgbClr val="000000"/>
              </a:solidFill>
              <a:latin typeface="Arial"/>
              <a:ea typeface="Arial"/>
              <a:cs typeface="Arial"/>
              <a:sym typeface="Arial"/>
            </a:endParaRPr>
          </a:p>
        </p:txBody>
      </p:sp>
      <p:sp>
        <p:nvSpPr>
          <p:cNvPr id="183" name="Google Shape;183;h4e1cd23050cdd6e6_1_8"/>
          <p:cNvSpPr txBox="1"/>
          <p:nvPr/>
        </p:nvSpPr>
        <p:spPr>
          <a:xfrm>
            <a:off x="4983480" y="4558043"/>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highlight>
                  <a:srgbClr val="FFE599"/>
                </a:highlight>
                <a:latin typeface="Consolas"/>
                <a:ea typeface="Consolas"/>
                <a:cs typeface="Consolas"/>
                <a:sym typeface="Consolas"/>
              </a:rPr>
              <a:t>ObjectProperty:</a:t>
            </a:r>
            <a:r>
              <a:rPr b="0" i="0" lang="en-US" sz="1050" u="none" cap="none" strike="noStrike">
                <a:solidFill>
                  <a:srgbClr val="1F2328"/>
                </a:solidFill>
                <a:highlight>
                  <a:srgbClr val="FFE599"/>
                </a:highlight>
                <a:latin typeface="Consolas"/>
                <a:ea typeface="Consolas"/>
                <a:cs typeface="Consolas"/>
                <a:sym typeface="Consolas"/>
              </a:rPr>
              <a:t> hasPatientData</a:t>
            </a:r>
            <a:endParaRPr b="0" i="0" sz="1050" u="none" cap="none" strike="noStrike">
              <a:solidFill>
                <a:srgbClr val="000000"/>
              </a:solidFill>
              <a:latin typeface="Arial"/>
              <a:ea typeface="Arial"/>
              <a:cs typeface="Arial"/>
              <a:sym typeface="Arial"/>
            </a:endParaRPr>
          </a:p>
        </p:txBody>
      </p:sp>
      <p:sp>
        <p:nvSpPr>
          <p:cNvPr id="184" name="Google Shape;184;h4e1cd23050cdd6e6_1_8"/>
          <p:cNvSpPr/>
          <p:nvPr/>
        </p:nvSpPr>
        <p:spPr>
          <a:xfrm>
            <a:off x="9399912" y="4558043"/>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schema (foreign key)</a:t>
            </a:r>
            <a:endParaRPr/>
          </a:p>
        </p:txBody>
      </p:sp>
      <p:sp>
        <p:nvSpPr>
          <p:cNvPr id="185" name="Google Shape;185;h4e1cd23050cdd6e6_1_8"/>
          <p:cNvSpPr txBox="1"/>
          <p:nvPr/>
        </p:nvSpPr>
        <p:spPr>
          <a:xfrm>
            <a:off x="4983480" y="4719747"/>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BM_DEP</a:t>
            </a:r>
            <a:endParaRPr b="0" i="0" sz="1050" u="none" cap="none" strike="noStrike">
              <a:solidFill>
                <a:srgbClr val="000000"/>
              </a:solidFill>
              <a:latin typeface="Arial"/>
              <a:ea typeface="Arial"/>
              <a:cs typeface="Arial"/>
              <a:sym typeface="Arial"/>
            </a:endParaRPr>
          </a:p>
        </p:txBody>
      </p:sp>
      <p:sp>
        <p:nvSpPr>
          <p:cNvPr id="186" name="Google Shape;186;h4e1cd23050cdd6e6_1_8"/>
          <p:cNvSpPr txBox="1"/>
          <p:nvPr/>
        </p:nvSpPr>
        <p:spPr>
          <a:xfrm>
            <a:off x="4983480" y="4881452"/>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Annotations:</a:t>
            </a:r>
            <a:endParaRPr b="0" i="0" sz="1050" u="none" cap="none" strike="noStrike">
              <a:solidFill>
                <a:srgbClr val="000000"/>
              </a:solidFill>
              <a:latin typeface="Arial"/>
              <a:ea typeface="Arial"/>
              <a:cs typeface="Arial"/>
              <a:sym typeface="Arial"/>
            </a:endParaRPr>
          </a:p>
        </p:txBody>
      </p:sp>
      <p:sp>
        <p:nvSpPr>
          <p:cNvPr id="187" name="Google Shape;187;h4e1cd23050cdd6e6_1_8"/>
          <p:cNvSpPr txBox="1"/>
          <p:nvPr/>
        </p:nvSpPr>
        <p:spPr>
          <a:xfrm>
            <a:off x="4983480" y="5366565"/>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highlight>
                  <a:srgbClr val="FFE599"/>
                </a:highlight>
                <a:latin typeface="Consolas"/>
                <a:ea typeface="Consolas"/>
                <a:cs typeface="Consolas"/>
                <a:sym typeface="Consolas"/>
              </a:rPr>
              <a:t>prov:wasDerivedFrom</a:t>
            </a:r>
            <a:r>
              <a:rPr b="0" i="0" lang="en-US" sz="1050" u="none" cap="none" strike="noStrike">
                <a:solidFill>
                  <a:srgbClr val="1F2328"/>
                </a:solidFill>
                <a:highlight>
                  <a:srgbClr val="FFE599"/>
                </a:highlight>
                <a:latin typeface="Consolas"/>
                <a:ea typeface="Consolas"/>
                <a:cs typeface="Consolas"/>
                <a:sym typeface="Consolas"/>
              </a:rPr>
              <a:t> </a:t>
            </a:r>
            <a:r>
              <a:rPr b="0" i="0" lang="en-US" sz="1050" u="none" cap="none" strike="noStrike">
                <a:solidFill>
                  <a:srgbClr val="2F6B78"/>
                </a:solidFill>
                <a:highlight>
                  <a:srgbClr val="FFE599"/>
                </a:highlight>
                <a:latin typeface="Consolas"/>
                <a:ea typeface="Consolas"/>
                <a:cs typeface="Consolas"/>
                <a:sym typeface="Consolas"/>
              </a:rPr>
              <a:t>admission:BM_DEP</a:t>
            </a:r>
            <a:endParaRPr b="0" i="0" sz="1050" u="none" cap="none" strike="noStrike">
              <a:solidFill>
                <a:srgbClr val="000000"/>
              </a:solidFill>
              <a:latin typeface="Arial"/>
              <a:ea typeface="Arial"/>
              <a:cs typeface="Arial"/>
              <a:sym typeface="Arial"/>
            </a:endParaRPr>
          </a:p>
        </p:txBody>
      </p:sp>
      <p:sp>
        <p:nvSpPr>
          <p:cNvPr id="188" name="Google Shape;188;h4e1cd23050cdd6e6_1_8"/>
          <p:cNvSpPr/>
          <p:nvPr/>
        </p:nvSpPr>
        <p:spPr>
          <a:xfrm>
            <a:off x="9399912" y="5366565"/>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source column</a:t>
            </a:r>
            <a:endParaRPr/>
          </a:p>
        </p:txBody>
      </p:sp>
      <p:sp>
        <p:nvSpPr>
          <p:cNvPr id="189" name="Google Shape;189;h4e1cd23050cdd6e6_1_8"/>
          <p:cNvSpPr txBox="1"/>
          <p:nvPr/>
        </p:nvSpPr>
        <p:spPr>
          <a:xfrm>
            <a:off x="4983480" y="5528269"/>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ecog_stage</a:t>
            </a:r>
            <a:endParaRPr b="0" i="0" sz="1050" u="none" cap="none" strike="noStrike">
              <a:solidFill>
                <a:srgbClr val="000000"/>
              </a:solidFill>
              <a:latin typeface="Arial"/>
              <a:ea typeface="Arial"/>
              <a:cs typeface="Arial"/>
              <a:sym typeface="Arial"/>
            </a:endParaRPr>
          </a:p>
        </p:txBody>
      </p:sp>
      <p:sp>
        <p:nvSpPr>
          <p:cNvPr id="190" name="Google Shape;190;h4e1cd23050cdd6e6_1_8"/>
          <p:cNvSpPr txBox="1"/>
          <p:nvPr/>
        </p:nvSpPr>
        <p:spPr>
          <a:xfrm>
            <a:off x="4983480" y="5689974"/>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Annotations:</a:t>
            </a:r>
            <a:endParaRPr b="0" i="0" sz="1050" u="none" cap="none" strike="noStrike">
              <a:solidFill>
                <a:srgbClr val="000000"/>
              </a:solidFill>
              <a:latin typeface="Arial"/>
              <a:ea typeface="Arial"/>
              <a:cs typeface="Arial"/>
              <a:sym typeface="Arial"/>
            </a:endParaRPr>
          </a:p>
        </p:txBody>
      </p:sp>
      <p:sp>
        <p:nvSpPr>
          <p:cNvPr id="191" name="Google Shape;191;h4e1cd23050cdd6e6_1_8"/>
          <p:cNvSpPr txBox="1"/>
          <p:nvPr/>
        </p:nvSpPr>
        <p:spPr>
          <a:xfrm>
            <a:off x="4983480" y="6175087"/>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highlight>
                  <a:srgbClr val="FFE599"/>
                </a:highlight>
                <a:latin typeface="Consolas"/>
                <a:ea typeface="Consolas"/>
                <a:cs typeface="Consolas"/>
                <a:sym typeface="Consolas"/>
              </a:rPr>
              <a:t>prov:wasDerivedFrom</a:t>
            </a:r>
            <a:r>
              <a:rPr b="0" i="0" lang="en-US" sz="1050" u="none" cap="none" strike="noStrike">
                <a:solidFill>
                  <a:srgbClr val="1F2328"/>
                </a:solidFill>
                <a:highlight>
                  <a:srgbClr val="FFE599"/>
                </a:highlight>
                <a:latin typeface="Consolas"/>
                <a:ea typeface="Consolas"/>
                <a:cs typeface="Consolas"/>
                <a:sym typeface="Consolas"/>
              </a:rPr>
              <a:t> </a:t>
            </a:r>
            <a:r>
              <a:rPr b="0" i="0" lang="en-US" sz="1050" u="none" cap="none" strike="noStrike">
                <a:solidFill>
                  <a:srgbClr val="2F6B78"/>
                </a:solidFill>
                <a:highlight>
                  <a:srgbClr val="FFE599"/>
                </a:highlight>
                <a:latin typeface="Consolas"/>
                <a:ea typeface="Consolas"/>
                <a:cs typeface="Consolas"/>
                <a:sym typeface="Consolas"/>
              </a:rPr>
              <a:t>admission:ecog_stage</a:t>
            </a:r>
            <a:endParaRPr b="0" i="0" sz="1050" u="none" cap="none" strike="noStrike">
              <a:solidFill>
                <a:srgbClr val="000000"/>
              </a:solidFill>
              <a:latin typeface="Arial"/>
              <a:ea typeface="Arial"/>
              <a:cs typeface="Arial"/>
              <a:sym typeface="Arial"/>
            </a:endParaRPr>
          </a:p>
        </p:txBody>
      </p:sp>
      <p:sp>
        <p:nvSpPr>
          <p:cNvPr id="192" name="Google Shape;192;h4e1cd23050cdd6e6_1_8"/>
          <p:cNvSpPr/>
          <p:nvPr/>
        </p:nvSpPr>
        <p:spPr>
          <a:xfrm>
            <a:off x="9399912" y="6175087"/>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source column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 name="Shape 197"/>
        <p:cNvGrpSpPr/>
        <p:nvPr/>
      </p:nvGrpSpPr>
      <p:grpSpPr>
        <a:xfrm>
          <a:off x="0" y="0"/>
          <a:ext cx="0" cy="0"/>
          <a:chOff x="0" y="0"/>
          <a:chExt cx="0" cy="0"/>
        </a:xfrm>
      </p:grpSpPr>
      <p:sp>
        <p:nvSpPr>
          <p:cNvPr id="198" name="Google Shape;198;h4e1cd23050cdd6e6_1_56"/>
          <p:cNvSpPr txBox="1"/>
          <p:nvPr/>
        </p:nvSpPr>
        <p:spPr>
          <a:xfrm>
            <a:off x="804672" y="521207"/>
            <a:ext cx="106986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WHAT WE WANT TO BUILD</a:t>
            </a:r>
            <a:endParaRPr b="0" i="0" sz="1400" u="none" cap="none" strike="noStrike">
              <a:solidFill>
                <a:srgbClr val="000000"/>
              </a:solidFill>
              <a:latin typeface="Arial"/>
              <a:ea typeface="Arial"/>
              <a:cs typeface="Arial"/>
              <a:sym typeface="Arial"/>
            </a:endParaRPr>
          </a:p>
        </p:txBody>
      </p:sp>
      <p:sp>
        <p:nvSpPr>
          <p:cNvPr id="199" name="Google Shape;199;h4e1cd23050cdd6e6_1_56"/>
          <p:cNvSpPr txBox="1"/>
          <p:nvPr/>
        </p:nvSpPr>
        <p:spPr>
          <a:xfrm>
            <a:off x="804672" y="923544"/>
            <a:ext cx="10789800" cy="954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Not just a cleaner schema.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A usable semantic model.</a:t>
            </a:r>
            <a:endParaRPr b="0" i="0" sz="1400" u="none" cap="none" strike="noStrike">
              <a:solidFill>
                <a:srgbClr val="000000"/>
              </a:solidFill>
              <a:latin typeface="Arial"/>
              <a:ea typeface="Arial"/>
              <a:cs typeface="Arial"/>
              <a:sym typeface="Arial"/>
            </a:endParaRPr>
          </a:p>
        </p:txBody>
      </p:sp>
      <p:sp>
        <p:nvSpPr>
          <p:cNvPr id="200" name="Google Shape;200;h4e1cd23050cdd6e6_1_56"/>
          <p:cNvSpPr/>
          <p:nvPr/>
        </p:nvSpPr>
        <p:spPr>
          <a:xfrm>
            <a:off x="804672" y="2057400"/>
            <a:ext cx="2971800" cy="28803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1" name="Google Shape;201;h4e1cd23050cdd6e6_1_56"/>
          <p:cNvSpPr txBox="1"/>
          <p:nvPr/>
        </p:nvSpPr>
        <p:spPr>
          <a:xfrm>
            <a:off x="1024128" y="2212848"/>
            <a:ext cx="25146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5B6770"/>
                </a:solidFill>
                <a:latin typeface="Consolas"/>
                <a:ea typeface="Consolas"/>
                <a:cs typeface="Consolas"/>
                <a:sym typeface="Consolas"/>
              </a:rPr>
              <a:t>INPUT</a:t>
            </a:r>
            <a:endParaRPr b="0" i="0" sz="1400" u="none" cap="none" strike="noStrike">
              <a:solidFill>
                <a:srgbClr val="000000"/>
              </a:solidFill>
              <a:latin typeface="Arial"/>
              <a:ea typeface="Arial"/>
              <a:cs typeface="Arial"/>
              <a:sym typeface="Arial"/>
            </a:endParaRPr>
          </a:p>
        </p:txBody>
      </p:sp>
      <p:sp>
        <p:nvSpPr>
          <p:cNvPr id="202" name="Google Shape;202;h4e1cd23050cdd6e6_1_56"/>
          <p:cNvSpPr/>
          <p:nvPr/>
        </p:nvSpPr>
        <p:spPr>
          <a:xfrm>
            <a:off x="3977639" y="3291840"/>
            <a:ext cx="567000" cy="429900"/>
          </a:xfrm>
          <a:prstGeom prst="rightArrow">
            <a:avLst>
              <a:gd fmla="val 50000" name="adj1"/>
              <a:gd fmla="val 50000" name="adj2"/>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3" name="Google Shape;203;h4e1cd23050cdd6e6_1_56"/>
          <p:cNvSpPr/>
          <p:nvPr/>
        </p:nvSpPr>
        <p:spPr>
          <a:xfrm>
            <a:off x="4754880" y="2057400"/>
            <a:ext cx="6656700" cy="4453200"/>
          </a:xfrm>
          <a:prstGeom prst="roundRect">
            <a:avLst>
              <a:gd fmla="val 10000" name="adj"/>
            </a:avLst>
          </a:prstGeom>
          <a:solidFill>
            <a:srgbClr val="F3F5F4"/>
          </a:solidFill>
          <a:ln cap="flat" cmpd="sng" w="1777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4" name="Google Shape;204;h4e1cd23050cdd6e6_1_56"/>
          <p:cNvSpPr txBox="1"/>
          <p:nvPr/>
        </p:nvSpPr>
        <p:spPr>
          <a:xfrm>
            <a:off x="5038344" y="2212848"/>
            <a:ext cx="6044100" cy="2463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600"/>
              <a:buFont typeface="Arial"/>
              <a:buNone/>
            </a:pPr>
            <a:r>
              <a:rPr b="1" i="0" lang="en-US" sz="1600" u="none" cap="none" strike="noStrike">
                <a:solidFill>
                  <a:srgbClr val="2F6B78"/>
                </a:solidFill>
                <a:latin typeface="Consolas"/>
                <a:ea typeface="Consolas"/>
                <a:cs typeface="Consolas"/>
                <a:sym typeface="Consolas"/>
              </a:rPr>
              <a:t>TARGET</a:t>
            </a:r>
            <a:endParaRPr b="0" i="0" sz="1400" u="none" cap="none" strike="noStrike">
              <a:solidFill>
                <a:srgbClr val="000000"/>
              </a:solidFill>
              <a:latin typeface="Arial"/>
              <a:ea typeface="Arial"/>
              <a:cs typeface="Arial"/>
              <a:sym typeface="Arial"/>
            </a:endParaRPr>
          </a:p>
        </p:txBody>
      </p:sp>
      <p:sp>
        <p:nvSpPr>
          <p:cNvPr id="205" name="Google Shape;205;h4e1cd23050cdd6e6_1_56"/>
          <p:cNvSpPr/>
          <p:nvPr/>
        </p:nvSpPr>
        <p:spPr>
          <a:xfrm>
            <a:off x="5093208" y="2633472"/>
            <a:ext cx="21030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6" name="Google Shape;206;h4e1cd23050cdd6e6_1_56"/>
          <p:cNvSpPr txBox="1"/>
          <p:nvPr/>
        </p:nvSpPr>
        <p:spPr>
          <a:xfrm>
            <a:off x="5248656" y="2743200"/>
            <a:ext cx="1746600" cy="307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207" name="Google Shape;207;h4e1cd23050cdd6e6_1_56"/>
          <p:cNvSpPr/>
          <p:nvPr/>
        </p:nvSpPr>
        <p:spPr>
          <a:xfrm>
            <a:off x="9253728" y="2633472"/>
            <a:ext cx="18288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h4e1cd23050cdd6e6_1_56"/>
          <p:cNvSpPr txBox="1"/>
          <p:nvPr/>
        </p:nvSpPr>
        <p:spPr>
          <a:xfrm>
            <a:off x="9354312" y="2743200"/>
            <a:ext cx="16458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cxnSp>
        <p:nvCxnSpPr>
          <p:cNvPr id="209" name="Google Shape;209;h4e1cd23050cdd6e6_1_56"/>
          <p:cNvCxnSpPr/>
          <p:nvPr/>
        </p:nvCxnSpPr>
        <p:spPr>
          <a:xfrm>
            <a:off x="7278624" y="2871216"/>
            <a:ext cx="1865400" cy="0"/>
          </a:xfrm>
          <a:prstGeom prst="straightConnector1">
            <a:avLst/>
          </a:prstGeom>
          <a:noFill/>
          <a:ln cap="flat" cmpd="sng" w="31750">
            <a:solidFill>
              <a:srgbClr val="0B6E4F"/>
            </a:solidFill>
            <a:prstDash val="solid"/>
            <a:miter lim="0"/>
            <a:headEnd len="sm" w="sm" type="none"/>
            <a:tailEnd len="med" w="med" type="triangle"/>
          </a:ln>
        </p:spPr>
      </p:cxnSp>
      <p:sp>
        <p:nvSpPr>
          <p:cNvPr id="210" name="Google Shape;210;h4e1cd23050cdd6e6_1_56"/>
          <p:cNvSpPr/>
          <p:nvPr/>
        </p:nvSpPr>
        <p:spPr>
          <a:xfrm>
            <a:off x="7388352" y="2487168"/>
            <a:ext cx="1591200" cy="274200"/>
          </a:xfrm>
          <a:prstGeom prst="roundRect">
            <a:avLst>
              <a:gd fmla="val 1000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1" name="Google Shape;211;h4e1cd23050cdd6e6_1_56"/>
          <p:cNvSpPr txBox="1"/>
          <p:nvPr/>
        </p:nvSpPr>
        <p:spPr>
          <a:xfrm>
            <a:off x="7278624" y="2514600"/>
            <a:ext cx="17832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hasPatientData</a:t>
            </a:r>
            <a:endParaRPr b="0" i="0" sz="1400" u="none" cap="none" strike="noStrike">
              <a:solidFill>
                <a:srgbClr val="000000"/>
              </a:solidFill>
              <a:latin typeface="Arial"/>
              <a:ea typeface="Arial"/>
              <a:cs typeface="Arial"/>
              <a:sym typeface="Arial"/>
            </a:endParaRPr>
          </a:p>
        </p:txBody>
      </p:sp>
      <p:sp>
        <p:nvSpPr>
          <p:cNvPr id="212" name="Google Shape;212;h4e1cd23050cdd6e6_1_56"/>
          <p:cNvSpPr/>
          <p:nvPr/>
        </p:nvSpPr>
        <p:spPr>
          <a:xfrm>
            <a:off x="969264" y="2615184"/>
            <a:ext cx="2642700" cy="21396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h4e1cd23050cdd6e6_1_56"/>
          <p:cNvSpPr txBox="1"/>
          <p:nvPr/>
        </p:nvSpPr>
        <p:spPr>
          <a:xfrm>
            <a:off x="1133856" y="2724912"/>
            <a:ext cx="2331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cxnSp>
        <p:nvCxnSpPr>
          <p:cNvPr id="214" name="Google Shape;214;h4e1cd23050cdd6e6_1_56"/>
          <p:cNvCxnSpPr/>
          <p:nvPr/>
        </p:nvCxnSpPr>
        <p:spPr>
          <a:xfrm>
            <a:off x="1133856" y="3145536"/>
            <a:ext cx="2313300" cy="0"/>
          </a:xfrm>
          <a:prstGeom prst="straightConnector1">
            <a:avLst/>
          </a:prstGeom>
          <a:noFill/>
          <a:ln cap="flat" cmpd="sng" w="19050">
            <a:solidFill>
              <a:srgbClr val="8E989E"/>
            </a:solidFill>
            <a:prstDash val="solid"/>
            <a:miter lim="0"/>
            <a:headEnd len="sm" w="sm" type="none"/>
            <a:tailEnd len="sm" w="sm" type="none"/>
          </a:ln>
        </p:spPr>
      </p:cxnSp>
      <p:sp>
        <p:nvSpPr>
          <p:cNvPr id="215" name="Google Shape;215;h4e1cd23050cdd6e6_1_56"/>
          <p:cNvSpPr/>
          <p:nvPr/>
        </p:nvSpPr>
        <p:spPr>
          <a:xfrm>
            <a:off x="1133856" y="3273552"/>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admission_id</a:t>
            </a:r>
            <a:endParaRPr b="0" i="0" sz="1400" u="none" cap="none" strike="noStrike">
              <a:solidFill>
                <a:srgbClr val="000000"/>
              </a:solidFill>
              <a:latin typeface="Arial"/>
              <a:ea typeface="Arial"/>
              <a:cs typeface="Arial"/>
              <a:sym typeface="Arial"/>
            </a:endParaRPr>
          </a:p>
        </p:txBody>
      </p:sp>
      <p:sp>
        <p:nvSpPr>
          <p:cNvPr id="216" name="Google Shape;216;h4e1cd23050cdd6e6_1_56"/>
          <p:cNvSpPr/>
          <p:nvPr/>
        </p:nvSpPr>
        <p:spPr>
          <a:xfrm>
            <a:off x="1133856" y="3621024"/>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patient_id</a:t>
            </a:r>
            <a:endParaRPr b="0" i="0" sz="1400" u="none" cap="none" strike="noStrike">
              <a:solidFill>
                <a:srgbClr val="000000"/>
              </a:solidFill>
              <a:latin typeface="Arial"/>
              <a:ea typeface="Arial"/>
              <a:cs typeface="Arial"/>
              <a:sym typeface="Arial"/>
            </a:endParaRPr>
          </a:p>
        </p:txBody>
      </p:sp>
      <p:sp>
        <p:nvSpPr>
          <p:cNvPr id="217" name="Google Shape;217;h4e1cd23050cdd6e6_1_56"/>
          <p:cNvSpPr/>
          <p:nvPr/>
        </p:nvSpPr>
        <p:spPr>
          <a:xfrm>
            <a:off x="2697480" y="3273552"/>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PK</a:t>
            </a:r>
            <a:endParaRPr b="0" i="0" sz="1400" u="none" cap="none" strike="noStrike">
              <a:solidFill>
                <a:srgbClr val="000000"/>
              </a:solidFill>
              <a:latin typeface="Arial"/>
              <a:ea typeface="Arial"/>
              <a:cs typeface="Arial"/>
              <a:sym typeface="Arial"/>
            </a:endParaRPr>
          </a:p>
        </p:txBody>
      </p:sp>
      <p:sp>
        <p:nvSpPr>
          <p:cNvPr id="218" name="Google Shape;218;h4e1cd23050cdd6e6_1_56"/>
          <p:cNvSpPr/>
          <p:nvPr/>
        </p:nvSpPr>
        <p:spPr>
          <a:xfrm>
            <a:off x="2697480" y="3621024"/>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FK</a:t>
            </a:r>
            <a:endParaRPr b="0" i="0" sz="1400" u="none" cap="none" strike="noStrike">
              <a:solidFill>
                <a:srgbClr val="000000"/>
              </a:solidFill>
              <a:latin typeface="Arial"/>
              <a:ea typeface="Arial"/>
              <a:cs typeface="Arial"/>
              <a:sym typeface="Arial"/>
            </a:endParaRPr>
          </a:p>
        </p:txBody>
      </p:sp>
      <p:sp>
        <p:nvSpPr>
          <p:cNvPr id="219" name="Google Shape;219;h4e1cd23050cdd6e6_1_56"/>
          <p:cNvSpPr/>
          <p:nvPr/>
        </p:nvSpPr>
        <p:spPr>
          <a:xfrm>
            <a:off x="1133856" y="3968496"/>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BM_DEP</a:t>
            </a:r>
            <a:endParaRPr b="0" i="0" sz="1400" u="none" cap="none" strike="noStrike">
              <a:solidFill>
                <a:srgbClr val="000000"/>
              </a:solidFill>
              <a:latin typeface="Arial"/>
              <a:ea typeface="Arial"/>
              <a:cs typeface="Arial"/>
              <a:sym typeface="Arial"/>
            </a:endParaRPr>
          </a:p>
        </p:txBody>
      </p:sp>
      <p:sp>
        <p:nvSpPr>
          <p:cNvPr id="220" name="Google Shape;220;h4e1cd23050cdd6e6_1_56"/>
          <p:cNvSpPr/>
          <p:nvPr/>
        </p:nvSpPr>
        <p:spPr>
          <a:xfrm>
            <a:off x="2697480" y="3968496"/>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221" name="Google Shape;221;h4e1cd23050cdd6e6_1_56"/>
          <p:cNvSpPr/>
          <p:nvPr/>
        </p:nvSpPr>
        <p:spPr>
          <a:xfrm>
            <a:off x="1133856" y="4315968"/>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ecog_stage</a:t>
            </a:r>
            <a:endParaRPr b="0" i="0" sz="1400" u="none" cap="none" strike="noStrike">
              <a:solidFill>
                <a:srgbClr val="000000"/>
              </a:solidFill>
              <a:latin typeface="Arial"/>
              <a:ea typeface="Arial"/>
              <a:cs typeface="Arial"/>
              <a:sym typeface="Arial"/>
            </a:endParaRPr>
          </a:p>
        </p:txBody>
      </p:sp>
      <p:sp>
        <p:nvSpPr>
          <p:cNvPr id="222" name="Google Shape;222;h4e1cd23050cdd6e6_1_56"/>
          <p:cNvSpPr/>
          <p:nvPr/>
        </p:nvSpPr>
        <p:spPr>
          <a:xfrm>
            <a:off x="2697480" y="4315968"/>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223" name="Google Shape;223;h4e1cd23050cdd6e6_1_56"/>
          <p:cNvSpPr/>
          <p:nvPr/>
        </p:nvSpPr>
        <p:spPr>
          <a:xfrm>
            <a:off x="4983480" y="3200400"/>
            <a:ext cx="6217800" cy="3200400"/>
          </a:xfrm>
          <a:prstGeom prst="roundRect">
            <a:avLst>
              <a:gd fmla="val 9000"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h4e1cd23050cdd6e6_1_56"/>
          <p:cNvSpPr txBox="1"/>
          <p:nvPr/>
        </p:nvSpPr>
        <p:spPr>
          <a:xfrm>
            <a:off x="4983480" y="3264408"/>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Class:</a:t>
            </a:r>
            <a:r>
              <a:rPr b="0" i="0" lang="en-US" sz="1050" u="none" cap="none" strike="noStrike">
                <a:solidFill>
                  <a:srgbClr val="1F2328"/>
                </a:solidFill>
                <a:latin typeface="Consolas"/>
                <a:ea typeface="Consolas"/>
                <a:cs typeface="Consolas"/>
                <a:sym typeface="Consolas"/>
              </a:rPr>
              <a:t> Admission</a:t>
            </a:r>
            <a:endParaRPr b="0" i="0" sz="1050" u="none" cap="none" strike="noStrike">
              <a:solidFill>
                <a:srgbClr val="000000"/>
              </a:solidFill>
              <a:latin typeface="Arial"/>
              <a:ea typeface="Arial"/>
              <a:cs typeface="Arial"/>
              <a:sym typeface="Arial"/>
            </a:endParaRPr>
          </a:p>
        </p:txBody>
      </p:sp>
      <p:sp>
        <p:nvSpPr>
          <p:cNvPr id="225" name="Google Shape;225;h4e1cd23050cdd6e6_1_56"/>
          <p:cNvSpPr txBox="1"/>
          <p:nvPr/>
        </p:nvSpPr>
        <p:spPr>
          <a:xfrm>
            <a:off x="4983480" y="3426112"/>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SubClassOf:</a:t>
            </a:r>
            <a:endParaRPr b="0" i="0" sz="1050" u="none" cap="none" strike="noStrike">
              <a:solidFill>
                <a:srgbClr val="000000"/>
              </a:solidFill>
              <a:latin typeface="Arial"/>
              <a:ea typeface="Arial"/>
              <a:cs typeface="Arial"/>
              <a:sym typeface="Arial"/>
            </a:endParaRPr>
          </a:p>
        </p:txBody>
      </p:sp>
      <p:sp>
        <p:nvSpPr>
          <p:cNvPr id="226" name="Google Shape;226;h4e1cd23050cdd6e6_1_56"/>
          <p:cNvSpPr txBox="1"/>
          <p:nvPr/>
        </p:nvSpPr>
        <p:spPr>
          <a:xfrm>
            <a:off x="4983480" y="3587816"/>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admission_id </a:t>
            </a:r>
            <a:r>
              <a:rPr b="1" i="0" lang="en-US" sz="1050" u="none" cap="none" strike="noStrike">
                <a:solidFill>
                  <a:srgbClr val="0B6E4F"/>
                </a:solidFill>
                <a:latin typeface="Consolas"/>
                <a:ea typeface="Consolas"/>
                <a:cs typeface="Consolas"/>
                <a:sym typeface="Consolas"/>
              </a:rPr>
              <a:t>some</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227" name="Google Shape;227;h4e1cd23050cdd6e6_1_56"/>
          <p:cNvSpPr txBox="1"/>
          <p:nvPr/>
        </p:nvSpPr>
        <p:spPr>
          <a:xfrm>
            <a:off x="4983480" y="3749521"/>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hasPatientData </a:t>
            </a:r>
            <a:r>
              <a:rPr b="1" i="0" lang="en-US" sz="1050" u="none" cap="none" strike="noStrike">
                <a:solidFill>
                  <a:srgbClr val="0B6E4F"/>
                </a:solidFill>
                <a:latin typeface="Consolas"/>
                <a:ea typeface="Consolas"/>
                <a:cs typeface="Consolas"/>
                <a:sym typeface="Consolas"/>
              </a:rPr>
              <a:t>some</a:t>
            </a:r>
            <a:r>
              <a:rPr b="0" i="0" lang="en-US" sz="1050" u="none" cap="none" strike="noStrike">
                <a:solidFill>
                  <a:srgbClr val="1F2328"/>
                </a:solidFill>
                <a:latin typeface="Consolas"/>
                <a:ea typeface="Consolas"/>
                <a:cs typeface="Consolas"/>
                <a:sym typeface="Consolas"/>
              </a:rPr>
              <a:t> PatientData,</a:t>
            </a:r>
            <a:endParaRPr b="0" i="0" sz="1050" u="none" cap="none" strike="noStrike">
              <a:solidFill>
                <a:srgbClr val="000000"/>
              </a:solidFill>
              <a:latin typeface="Arial"/>
              <a:ea typeface="Arial"/>
              <a:cs typeface="Arial"/>
              <a:sym typeface="Arial"/>
            </a:endParaRPr>
          </a:p>
        </p:txBody>
      </p:sp>
      <p:sp>
        <p:nvSpPr>
          <p:cNvPr id="228" name="Google Shape;228;h4e1cd23050cdd6e6_1_56"/>
          <p:cNvSpPr/>
          <p:nvPr/>
        </p:nvSpPr>
        <p:spPr>
          <a:xfrm>
            <a:off x="9399912" y="3749521"/>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schema (foreign key)</a:t>
            </a:r>
            <a:endParaRPr/>
          </a:p>
        </p:txBody>
      </p:sp>
      <p:sp>
        <p:nvSpPr>
          <p:cNvPr id="229" name="Google Shape;229;h4e1cd23050cdd6e6_1_56"/>
          <p:cNvSpPr txBox="1"/>
          <p:nvPr/>
        </p:nvSpPr>
        <p:spPr>
          <a:xfrm>
            <a:off x="4983480" y="3911225"/>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BM_DEP </a:t>
            </a:r>
            <a:r>
              <a:rPr b="1" i="0" lang="en-US" sz="1050" u="none" cap="none" strike="noStrike">
                <a:solidFill>
                  <a:srgbClr val="0B6E4F"/>
                </a:solidFill>
                <a:latin typeface="Consolas"/>
                <a:ea typeface="Consolas"/>
                <a:cs typeface="Consolas"/>
                <a:sym typeface="Consolas"/>
              </a:rPr>
              <a:t>only</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230" name="Google Shape;230;h4e1cd23050cdd6e6_1_56"/>
          <p:cNvSpPr txBox="1"/>
          <p:nvPr/>
        </p:nvSpPr>
        <p:spPr>
          <a:xfrm>
            <a:off x="4983480" y="4072930"/>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ecog_stage </a:t>
            </a:r>
            <a:r>
              <a:rPr b="1" i="0" lang="en-US" sz="1050" u="none" cap="none" strike="noStrike">
                <a:solidFill>
                  <a:srgbClr val="0B6E4F"/>
                </a:solidFill>
                <a:latin typeface="Consolas"/>
                <a:ea typeface="Consolas"/>
                <a:cs typeface="Consolas"/>
                <a:sym typeface="Consolas"/>
              </a:rPr>
              <a:t>only</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endParaRPr b="0" i="0" sz="1050" u="none" cap="none" strike="noStrike">
              <a:solidFill>
                <a:srgbClr val="000000"/>
              </a:solidFill>
              <a:latin typeface="Arial"/>
              <a:ea typeface="Arial"/>
              <a:cs typeface="Arial"/>
              <a:sym typeface="Arial"/>
            </a:endParaRPr>
          </a:p>
        </p:txBody>
      </p:sp>
      <p:sp>
        <p:nvSpPr>
          <p:cNvPr id="231" name="Google Shape;231;h4e1cd23050cdd6e6_1_56"/>
          <p:cNvSpPr txBox="1"/>
          <p:nvPr/>
        </p:nvSpPr>
        <p:spPr>
          <a:xfrm>
            <a:off x="4983480" y="4396338"/>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admission_id</a:t>
            </a:r>
            <a:endParaRPr b="0" i="0" sz="1050" u="none" cap="none" strike="noStrike">
              <a:solidFill>
                <a:srgbClr val="000000"/>
              </a:solidFill>
              <a:latin typeface="Arial"/>
              <a:ea typeface="Arial"/>
              <a:cs typeface="Arial"/>
              <a:sym typeface="Arial"/>
            </a:endParaRPr>
          </a:p>
        </p:txBody>
      </p:sp>
      <p:sp>
        <p:nvSpPr>
          <p:cNvPr id="232" name="Google Shape;232;h4e1cd23050cdd6e6_1_56"/>
          <p:cNvSpPr txBox="1"/>
          <p:nvPr/>
        </p:nvSpPr>
        <p:spPr>
          <a:xfrm>
            <a:off x="4983480" y="4558043"/>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ObjectProperty:</a:t>
            </a:r>
            <a:r>
              <a:rPr b="0" i="0" lang="en-US" sz="1050" u="none" cap="none" strike="noStrike">
                <a:solidFill>
                  <a:srgbClr val="1F2328"/>
                </a:solidFill>
                <a:latin typeface="Consolas"/>
                <a:ea typeface="Consolas"/>
                <a:cs typeface="Consolas"/>
                <a:sym typeface="Consolas"/>
              </a:rPr>
              <a:t> hasPatientData</a:t>
            </a:r>
            <a:endParaRPr b="0" i="0" sz="1050" u="none" cap="none" strike="noStrike">
              <a:solidFill>
                <a:srgbClr val="000000"/>
              </a:solidFill>
              <a:latin typeface="Arial"/>
              <a:ea typeface="Arial"/>
              <a:cs typeface="Arial"/>
              <a:sym typeface="Arial"/>
            </a:endParaRPr>
          </a:p>
        </p:txBody>
      </p:sp>
      <p:sp>
        <p:nvSpPr>
          <p:cNvPr id="233" name="Google Shape;233;h4e1cd23050cdd6e6_1_56"/>
          <p:cNvSpPr/>
          <p:nvPr/>
        </p:nvSpPr>
        <p:spPr>
          <a:xfrm>
            <a:off x="9399912" y="4558043"/>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schema (foreign key)</a:t>
            </a:r>
            <a:endParaRPr/>
          </a:p>
        </p:txBody>
      </p:sp>
      <p:sp>
        <p:nvSpPr>
          <p:cNvPr id="234" name="Google Shape;234;h4e1cd23050cdd6e6_1_56"/>
          <p:cNvSpPr txBox="1"/>
          <p:nvPr/>
        </p:nvSpPr>
        <p:spPr>
          <a:xfrm>
            <a:off x="4983480" y="4719747"/>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BM_DEP</a:t>
            </a:r>
            <a:endParaRPr b="0" i="0" sz="1050" u="none" cap="none" strike="noStrike">
              <a:solidFill>
                <a:srgbClr val="000000"/>
              </a:solidFill>
              <a:latin typeface="Arial"/>
              <a:ea typeface="Arial"/>
              <a:cs typeface="Arial"/>
              <a:sym typeface="Arial"/>
            </a:endParaRPr>
          </a:p>
        </p:txBody>
      </p:sp>
      <p:sp>
        <p:nvSpPr>
          <p:cNvPr id="235" name="Google Shape;235;h4e1cd23050cdd6e6_1_56"/>
          <p:cNvSpPr txBox="1"/>
          <p:nvPr/>
        </p:nvSpPr>
        <p:spPr>
          <a:xfrm>
            <a:off x="4983480" y="4881452"/>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Annotations:</a:t>
            </a:r>
            <a:endParaRPr b="0" i="0" sz="1050" u="none" cap="none" strike="noStrike">
              <a:solidFill>
                <a:srgbClr val="000000"/>
              </a:solidFill>
              <a:latin typeface="Arial"/>
              <a:ea typeface="Arial"/>
              <a:cs typeface="Arial"/>
              <a:sym typeface="Arial"/>
            </a:endParaRPr>
          </a:p>
        </p:txBody>
      </p:sp>
      <p:sp>
        <p:nvSpPr>
          <p:cNvPr id="236" name="Google Shape;236;h4e1cd23050cdd6e6_1_56"/>
          <p:cNvSpPr txBox="1"/>
          <p:nvPr/>
        </p:nvSpPr>
        <p:spPr>
          <a:xfrm>
            <a:off x="4983480" y="5043156"/>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highlight>
                  <a:srgbClr val="FFE599"/>
                </a:highlight>
                <a:latin typeface="Consolas"/>
                <a:ea typeface="Consolas"/>
                <a:cs typeface="Consolas"/>
                <a:sym typeface="Consolas"/>
              </a:rPr>
              <a:t>rdfs:label</a:t>
            </a:r>
            <a:r>
              <a:rPr b="0" i="0" lang="en-US" sz="1050" u="none" cap="none" strike="noStrike">
                <a:solidFill>
                  <a:srgbClr val="1F2328"/>
                </a:solidFill>
                <a:highlight>
                  <a:srgbClr val="FFE599"/>
                </a:highlight>
                <a:latin typeface="Consolas"/>
                <a:ea typeface="Consolas"/>
                <a:cs typeface="Consolas"/>
                <a:sym typeface="Consolas"/>
              </a:rPr>
              <a:t> </a:t>
            </a:r>
            <a:r>
              <a:rPr b="0" i="0" lang="en-US" sz="1050" u="none" cap="none" strike="noStrike">
                <a:solidFill>
                  <a:srgbClr val="A3401E"/>
                </a:solidFill>
                <a:highlight>
                  <a:srgbClr val="FFE599"/>
                </a:highlight>
                <a:latin typeface="Consolas"/>
                <a:ea typeface="Consolas"/>
                <a:cs typeface="Consolas"/>
                <a:sym typeface="Consolas"/>
              </a:rPr>
              <a:t>"Bone Marrow Depression"@en</a:t>
            </a:r>
            <a:r>
              <a:rPr b="0" i="0" lang="en-US" sz="1050" u="none" cap="none" strike="noStrike">
                <a:solidFill>
                  <a:srgbClr val="1F2328"/>
                </a:solidFill>
                <a:highlight>
                  <a:srgbClr val="FFE599"/>
                </a:highlight>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237" name="Google Shape;237;h4e1cd23050cdd6e6_1_56"/>
          <p:cNvSpPr/>
          <p:nvPr/>
        </p:nvSpPr>
        <p:spPr>
          <a:xfrm>
            <a:off x="9399912" y="5043156"/>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2F6B78"/>
                </a:solidFill>
                <a:latin typeface="Calibri"/>
                <a:ea typeface="Calibri"/>
                <a:cs typeface="Calibri"/>
                <a:sym typeface="Calibri"/>
              </a:rPr>
              <a:t>← documentation</a:t>
            </a:r>
            <a:endParaRPr/>
          </a:p>
        </p:txBody>
      </p:sp>
      <p:sp>
        <p:nvSpPr>
          <p:cNvPr id="238" name="Google Shape;238;h4e1cd23050cdd6e6_1_56"/>
          <p:cNvSpPr txBox="1"/>
          <p:nvPr/>
        </p:nvSpPr>
        <p:spPr>
          <a:xfrm>
            <a:off x="4983480" y="5366565"/>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prov:wasDerivedFrom</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2F6B78"/>
                </a:solidFill>
                <a:latin typeface="Consolas"/>
                <a:ea typeface="Consolas"/>
                <a:cs typeface="Consolas"/>
                <a:sym typeface="Consolas"/>
              </a:rPr>
              <a:t>admission:BM_DEP</a:t>
            </a:r>
            <a:endParaRPr b="0" i="0" sz="1050" u="none" cap="none" strike="noStrike">
              <a:solidFill>
                <a:srgbClr val="000000"/>
              </a:solidFill>
              <a:latin typeface="Arial"/>
              <a:ea typeface="Arial"/>
              <a:cs typeface="Arial"/>
              <a:sym typeface="Arial"/>
            </a:endParaRPr>
          </a:p>
        </p:txBody>
      </p:sp>
      <p:sp>
        <p:nvSpPr>
          <p:cNvPr id="239" name="Google Shape;239;h4e1cd23050cdd6e6_1_56"/>
          <p:cNvSpPr/>
          <p:nvPr/>
        </p:nvSpPr>
        <p:spPr>
          <a:xfrm>
            <a:off x="9399912" y="5366565"/>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source column</a:t>
            </a:r>
            <a:endParaRPr/>
          </a:p>
        </p:txBody>
      </p:sp>
      <p:sp>
        <p:nvSpPr>
          <p:cNvPr id="240" name="Google Shape;240;h4e1cd23050cdd6e6_1_56"/>
          <p:cNvSpPr txBox="1"/>
          <p:nvPr/>
        </p:nvSpPr>
        <p:spPr>
          <a:xfrm>
            <a:off x="4983480" y="5528269"/>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ecog_stage</a:t>
            </a:r>
            <a:endParaRPr b="0" i="0" sz="1050" u="none" cap="none" strike="noStrike">
              <a:solidFill>
                <a:srgbClr val="000000"/>
              </a:solidFill>
              <a:latin typeface="Arial"/>
              <a:ea typeface="Arial"/>
              <a:cs typeface="Arial"/>
              <a:sym typeface="Arial"/>
            </a:endParaRPr>
          </a:p>
        </p:txBody>
      </p:sp>
      <p:sp>
        <p:nvSpPr>
          <p:cNvPr id="241" name="Google Shape;241;h4e1cd23050cdd6e6_1_56"/>
          <p:cNvSpPr txBox="1"/>
          <p:nvPr/>
        </p:nvSpPr>
        <p:spPr>
          <a:xfrm>
            <a:off x="4983480" y="5689974"/>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Annotations:</a:t>
            </a:r>
            <a:endParaRPr b="0" i="0" sz="1050" u="none" cap="none" strike="noStrike">
              <a:solidFill>
                <a:srgbClr val="000000"/>
              </a:solidFill>
              <a:latin typeface="Arial"/>
              <a:ea typeface="Arial"/>
              <a:cs typeface="Arial"/>
              <a:sym typeface="Arial"/>
            </a:endParaRPr>
          </a:p>
        </p:txBody>
      </p:sp>
      <p:sp>
        <p:nvSpPr>
          <p:cNvPr id="242" name="Google Shape;242;h4e1cd23050cdd6e6_1_56"/>
          <p:cNvSpPr txBox="1"/>
          <p:nvPr/>
        </p:nvSpPr>
        <p:spPr>
          <a:xfrm>
            <a:off x="4983480" y="5851678"/>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highlight>
                  <a:srgbClr val="FFE599"/>
                </a:highlight>
                <a:latin typeface="Consolas"/>
                <a:ea typeface="Consolas"/>
                <a:cs typeface="Consolas"/>
                <a:sym typeface="Consolas"/>
              </a:rPr>
              <a:t>rdfs:label</a:t>
            </a:r>
            <a:r>
              <a:rPr b="0" i="0" lang="en-US" sz="1050" u="none" cap="none" strike="noStrike">
                <a:solidFill>
                  <a:srgbClr val="1F2328"/>
                </a:solidFill>
                <a:highlight>
                  <a:srgbClr val="FFE599"/>
                </a:highlight>
                <a:latin typeface="Consolas"/>
                <a:ea typeface="Consolas"/>
                <a:cs typeface="Consolas"/>
                <a:sym typeface="Consolas"/>
              </a:rPr>
              <a:t> </a:t>
            </a:r>
            <a:r>
              <a:rPr b="0" i="0" lang="en-US" sz="1050" u="none" cap="none" strike="noStrike">
                <a:solidFill>
                  <a:srgbClr val="A3401E"/>
                </a:solidFill>
                <a:highlight>
                  <a:srgbClr val="FFE599"/>
                </a:highlight>
                <a:latin typeface="Consolas"/>
                <a:ea typeface="Consolas"/>
                <a:cs typeface="Consolas"/>
                <a:sym typeface="Consolas"/>
              </a:rPr>
              <a:t>"ECOG Performance Status"@en</a:t>
            </a:r>
            <a:r>
              <a:rPr b="0" i="0" lang="en-US" sz="1050" u="none" cap="none" strike="noStrike">
                <a:solidFill>
                  <a:srgbClr val="1F2328"/>
                </a:solidFill>
                <a:highlight>
                  <a:srgbClr val="FFE599"/>
                </a:highlight>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243" name="Google Shape;243;h4e1cd23050cdd6e6_1_56"/>
          <p:cNvSpPr/>
          <p:nvPr/>
        </p:nvSpPr>
        <p:spPr>
          <a:xfrm>
            <a:off x="9399912" y="5851678"/>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2F6B78"/>
                </a:solidFill>
                <a:latin typeface="Calibri"/>
                <a:ea typeface="Calibri"/>
                <a:cs typeface="Calibri"/>
                <a:sym typeface="Calibri"/>
              </a:rPr>
              <a:t>← documentation</a:t>
            </a:r>
            <a:endParaRPr/>
          </a:p>
        </p:txBody>
      </p:sp>
      <p:sp>
        <p:nvSpPr>
          <p:cNvPr id="244" name="Google Shape;244;h4e1cd23050cdd6e6_1_56"/>
          <p:cNvSpPr txBox="1"/>
          <p:nvPr/>
        </p:nvSpPr>
        <p:spPr>
          <a:xfrm>
            <a:off x="4983480" y="6175087"/>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prov:wasDerivedFrom</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2F6B78"/>
                </a:solidFill>
                <a:latin typeface="Consolas"/>
                <a:ea typeface="Consolas"/>
                <a:cs typeface="Consolas"/>
                <a:sym typeface="Consolas"/>
              </a:rPr>
              <a:t>admission:ecog_stage</a:t>
            </a:r>
            <a:endParaRPr b="0" i="0" sz="1050" u="none" cap="none" strike="noStrike">
              <a:solidFill>
                <a:srgbClr val="000000"/>
              </a:solidFill>
              <a:latin typeface="Arial"/>
              <a:ea typeface="Arial"/>
              <a:cs typeface="Arial"/>
              <a:sym typeface="Arial"/>
            </a:endParaRPr>
          </a:p>
        </p:txBody>
      </p:sp>
      <p:sp>
        <p:nvSpPr>
          <p:cNvPr id="245" name="Google Shape;245;h4e1cd23050cdd6e6_1_56"/>
          <p:cNvSpPr/>
          <p:nvPr/>
        </p:nvSpPr>
        <p:spPr>
          <a:xfrm>
            <a:off x="9399912" y="6175087"/>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source column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0" name="Shape 250"/>
        <p:cNvGrpSpPr/>
        <p:nvPr/>
      </p:nvGrpSpPr>
      <p:grpSpPr>
        <a:xfrm>
          <a:off x="0" y="0"/>
          <a:ext cx="0" cy="0"/>
          <a:chOff x="0" y="0"/>
          <a:chExt cx="0" cy="0"/>
        </a:xfrm>
      </p:grpSpPr>
      <p:sp>
        <p:nvSpPr>
          <p:cNvPr id="251" name="Google Shape;251;h4e1cd23050cdd6e6_1_108"/>
          <p:cNvSpPr txBox="1"/>
          <p:nvPr/>
        </p:nvSpPr>
        <p:spPr>
          <a:xfrm>
            <a:off x="804672" y="521207"/>
            <a:ext cx="106986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WHAT WE WANT TO BUILD</a:t>
            </a:r>
            <a:endParaRPr b="0" i="0" sz="1400" u="none" cap="none" strike="noStrike">
              <a:solidFill>
                <a:srgbClr val="000000"/>
              </a:solidFill>
              <a:latin typeface="Arial"/>
              <a:ea typeface="Arial"/>
              <a:cs typeface="Arial"/>
              <a:sym typeface="Arial"/>
            </a:endParaRPr>
          </a:p>
        </p:txBody>
      </p:sp>
      <p:sp>
        <p:nvSpPr>
          <p:cNvPr id="252" name="Google Shape;252;h4e1cd23050cdd6e6_1_108"/>
          <p:cNvSpPr txBox="1"/>
          <p:nvPr/>
        </p:nvSpPr>
        <p:spPr>
          <a:xfrm>
            <a:off x="804672" y="923544"/>
            <a:ext cx="10789800" cy="954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Not just a cleaner schema.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A usable semantic model.</a:t>
            </a:r>
            <a:endParaRPr b="0" i="0" sz="1400" u="none" cap="none" strike="noStrike">
              <a:solidFill>
                <a:srgbClr val="000000"/>
              </a:solidFill>
              <a:latin typeface="Arial"/>
              <a:ea typeface="Arial"/>
              <a:cs typeface="Arial"/>
              <a:sym typeface="Arial"/>
            </a:endParaRPr>
          </a:p>
        </p:txBody>
      </p:sp>
      <p:sp>
        <p:nvSpPr>
          <p:cNvPr id="253" name="Google Shape;253;h4e1cd23050cdd6e6_1_108"/>
          <p:cNvSpPr/>
          <p:nvPr/>
        </p:nvSpPr>
        <p:spPr>
          <a:xfrm>
            <a:off x="804672" y="2057400"/>
            <a:ext cx="2971800" cy="28803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4" name="Google Shape;254;h4e1cd23050cdd6e6_1_108"/>
          <p:cNvSpPr txBox="1"/>
          <p:nvPr/>
        </p:nvSpPr>
        <p:spPr>
          <a:xfrm>
            <a:off x="1024128" y="2212848"/>
            <a:ext cx="25146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5B6770"/>
                </a:solidFill>
                <a:latin typeface="Consolas"/>
                <a:ea typeface="Consolas"/>
                <a:cs typeface="Consolas"/>
                <a:sym typeface="Consolas"/>
              </a:rPr>
              <a:t>INPUT</a:t>
            </a:r>
            <a:endParaRPr b="0" i="0" sz="1400" u="none" cap="none" strike="noStrike">
              <a:solidFill>
                <a:srgbClr val="000000"/>
              </a:solidFill>
              <a:latin typeface="Arial"/>
              <a:ea typeface="Arial"/>
              <a:cs typeface="Arial"/>
              <a:sym typeface="Arial"/>
            </a:endParaRPr>
          </a:p>
        </p:txBody>
      </p:sp>
      <p:sp>
        <p:nvSpPr>
          <p:cNvPr id="255" name="Google Shape;255;h4e1cd23050cdd6e6_1_108"/>
          <p:cNvSpPr/>
          <p:nvPr/>
        </p:nvSpPr>
        <p:spPr>
          <a:xfrm>
            <a:off x="3977639" y="3291840"/>
            <a:ext cx="567000" cy="429900"/>
          </a:xfrm>
          <a:prstGeom prst="rightArrow">
            <a:avLst>
              <a:gd fmla="val 50000" name="adj1"/>
              <a:gd fmla="val 50000" name="adj2"/>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6" name="Google Shape;256;h4e1cd23050cdd6e6_1_108"/>
          <p:cNvSpPr/>
          <p:nvPr/>
        </p:nvSpPr>
        <p:spPr>
          <a:xfrm>
            <a:off x="4754880" y="2057400"/>
            <a:ext cx="6656700" cy="4453200"/>
          </a:xfrm>
          <a:prstGeom prst="roundRect">
            <a:avLst>
              <a:gd fmla="val 10000" name="adj"/>
            </a:avLst>
          </a:prstGeom>
          <a:solidFill>
            <a:srgbClr val="F3F5F4"/>
          </a:solidFill>
          <a:ln cap="flat" cmpd="sng" w="1777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7" name="Google Shape;257;h4e1cd23050cdd6e6_1_108"/>
          <p:cNvSpPr txBox="1"/>
          <p:nvPr/>
        </p:nvSpPr>
        <p:spPr>
          <a:xfrm>
            <a:off x="5038344" y="2212848"/>
            <a:ext cx="6044100" cy="2463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600"/>
              <a:buFont typeface="Arial"/>
              <a:buNone/>
            </a:pPr>
            <a:r>
              <a:rPr b="1" i="0" lang="en-US" sz="1600" u="none" cap="none" strike="noStrike">
                <a:solidFill>
                  <a:srgbClr val="2F6B78"/>
                </a:solidFill>
                <a:latin typeface="Consolas"/>
                <a:ea typeface="Consolas"/>
                <a:cs typeface="Consolas"/>
                <a:sym typeface="Consolas"/>
              </a:rPr>
              <a:t>TARGET</a:t>
            </a:r>
            <a:endParaRPr b="0" i="0" sz="1400" u="none" cap="none" strike="noStrike">
              <a:solidFill>
                <a:srgbClr val="000000"/>
              </a:solidFill>
              <a:latin typeface="Arial"/>
              <a:ea typeface="Arial"/>
              <a:cs typeface="Arial"/>
              <a:sym typeface="Arial"/>
            </a:endParaRPr>
          </a:p>
        </p:txBody>
      </p:sp>
      <p:sp>
        <p:nvSpPr>
          <p:cNvPr id="258" name="Google Shape;258;h4e1cd23050cdd6e6_1_108"/>
          <p:cNvSpPr/>
          <p:nvPr/>
        </p:nvSpPr>
        <p:spPr>
          <a:xfrm>
            <a:off x="5093208" y="2633472"/>
            <a:ext cx="21030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9" name="Google Shape;259;h4e1cd23050cdd6e6_1_108"/>
          <p:cNvSpPr txBox="1"/>
          <p:nvPr/>
        </p:nvSpPr>
        <p:spPr>
          <a:xfrm>
            <a:off x="5248656" y="2743200"/>
            <a:ext cx="1746600" cy="307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260" name="Google Shape;260;h4e1cd23050cdd6e6_1_108"/>
          <p:cNvSpPr/>
          <p:nvPr/>
        </p:nvSpPr>
        <p:spPr>
          <a:xfrm>
            <a:off x="9253728" y="2633472"/>
            <a:ext cx="18288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1" name="Google Shape;261;h4e1cd23050cdd6e6_1_108"/>
          <p:cNvSpPr txBox="1"/>
          <p:nvPr/>
        </p:nvSpPr>
        <p:spPr>
          <a:xfrm>
            <a:off x="9354312" y="2743200"/>
            <a:ext cx="16458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cxnSp>
        <p:nvCxnSpPr>
          <p:cNvPr id="262" name="Google Shape;262;h4e1cd23050cdd6e6_1_108"/>
          <p:cNvCxnSpPr/>
          <p:nvPr/>
        </p:nvCxnSpPr>
        <p:spPr>
          <a:xfrm>
            <a:off x="7278624" y="2871216"/>
            <a:ext cx="1865400" cy="0"/>
          </a:xfrm>
          <a:prstGeom prst="straightConnector1">
            <a:avLst/>
          </a:prstGeom>
          <a:noFill/>
          <a:ln cap="flat" cmpd="sng" w="31750">
            <a:solidFill>
              <a:srgbClr val="0B6E4F"/>
            </a:solidFill>
            <a:prstDash val="solid"/>
            <a:miter lim="0"/>
            <a:headEnd len="sm" w="sm" type="none"/>
            <a:tailEnd len="med" w="med" type="triangle"/>
          </a:ln>
        </p:spPr>
      </p:cxnSp>
      <p:sp>
        <p:nvSpPr>
          <p:cNvPr id="263" name="Google Shape;263;h4e1cd23050cdd6e6_1_108"/>
          <p:cNvSpPr/>
          <p:nvPr/>
        </p:nvSpPr>
        <p:spPr>
          <a:xfrm>
            <a:off x="7388352" y="2487168"/>
            <a:ext cx="1591200" cy="274200"/>
          </a:xfrm>
          <a:prstGeom prst="roundRect">
            <a:avLst>
              <a:gd fmla="val 1000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4" name="Google Shape;264;h4e1cd23050cdd6e6_1_108"/>
          <p:cNvSpPr txBox="1"/>
          <p:nvPr/>
        </p:nvSpPr>
        <p:spPr>
          <a:xfrm>
            <a:off x="7278624" y="2514600"/>
            <a:ext cx="17832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hasPatientData</a:t>
            </a:r>
            <a:endParaRPr b="0" i="0" sz="1400" u="none" cap="none" strike="noStrike">
              <a:solidFill>
                <a:srgbClr val="000000"/>
              </a:solidFill>
              <a:latin typeface="Arial"/>
              <a:ea typeface="Arial"/>
              <a:cs typeface="Arial"/>
              <a:sym typeface="Arial"/>
            </a:endParaRPr>
          </a:p>
        </p:txBody>
      </p:sp>
      <p:sp>
        <p:nvSpPr>
          <p:cNvPr id="265" name="Google Shape;265;h4e1cd23050cdd6e6_1_108"/>
          <p:cNvSpPr/>
          <p:nvPr/>
        </p:nvSpPr>
        <p:spPr>
          <a:xfrm>
            <a:off x="969264" y="2615184"/>
            <a:ext cx="2642700" cy="21396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h4e1cd23050cdd6e6_1_108"/>
          <p:cNvSpPr txBox="1"/>
          <p:nvPr/>
        </p:nvSpPr>
        <p:spPr>
          <a:xfrm>
            <a:off x="1133856" y="2724912"/>
            <a:ext cx="2331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cxnSp>
        <p:nvCxnSpPr>
          <p:cNvPr id="267" name="Google Shape;267;h4e1cd23050cdd6e6_1_108"/>
          <p:cNvCxnSpPr/>
          <p:nvPr/>
        </p:nvCxnSpPr>
        <p:spPr>
          <a:xfrm>
            <a:off x="1133856" y="3145536"/>
            <a:ext cx="2313300" cy="0"/>
          </a:xfrm>
          <a:prstGeom prst="straightConnector1">
            <a:avLst/>
          </a:prstGeom>
          <a:noFill/>
          <a:ln cap="flat" cmpd="sng" w="19050">
            <a:solidFill>
              <a:srgbClr val="8E989E"/>
            </a:solidFill>
            <a:prstDash val="solid"/>
            <a:miter lim="0"/>
            <a:headEnd len="sm" w="sm" type="none"/>
            <a:tailEnd len="sm" w="sm" type="none"/>
          </a:ln>
        </p:spPr>
      </p:cxnSp>
      <p:sp>
        <p:nvSpPr>
          <p:cNvPr id="268" name="Google Shape;268;h4e1cd23050cdd6e6_1_108"/>
          <p:cNvSpPr/>
          <p:nvPr/>
        </p:nvSpPr>
        <p:spPr>
          <a:xfrm>
            <a:off x="1133856" y="3273552"/>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admission_id</a:t>
            </a:r>
            <a:endParaRPr b="0" i="0" sz="1400" u="none" cap="none" strike="noStrike">
              <a:solidFill>
                <a:srgbClr val="000000"/>
              </a:solidFill>
              <a:latin typeface="Arial"/>
              <a:ea typeface="Arial"/>
              <a:cs typeface="Arial"/>
              <a:sym typeface="Arial"/>
            </a:endParaRPr>
          </a:p>
        </p:txBody>
      </p:sp>
      <p:sp>
        <p:nvSpPr>
          <p:cNvPr id="269" name="Google Shape;269;h4e1cd23050cdd6e6_1_108"/>
          <p:cNvSpPr/>
          <p:nvPr/>
        </p:nvSpPr>
        <p:spPr>
          <a:xfrm>
            <a:off x="1133856" y="3621024"/>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patient_id</a:t>
            </a:r>
            <a:endParaRPr b="0" i="0" sz="1400" u="none" cap="none" strike="noStrike">
              <a:solidFill>
                <a:srgbClr val="000000"/>
              </a:solidFill>
              <a:latin typeface="Arial"/>
              <a:ea typeface="Arial"/>
              <a:cs typeface="Arial"/>
              <a:sym typeface="Arial"/>
            </a:endParaRPr>
          </a:p>
        </p:txBody>
      </p:sp>
      <p:sp>
        <p:nvSpPr>
          <p:cNvPr id="270" name="Google Shape;270;h4e1cd23050cdd6e6_1_108"/>
          <p:cNvSpPr/>
          <p:nvPr/>
        </p:nvSpPr>
        <p:spPr>
          <a:xfrm>
            <a:off x="2697480" y="3273552"/>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PK</a:t>
            </a:r>
            <a:endParaRPr b="0" i="0" sz="1400" u="none" cap="none" strike="noStrike">
              <a:solidFill>
                <a:srgbClr val="000000"/>
              </a:solidFill>
              <a:latin typeface="Arial"/>
              <a:ea typeface="Arial"/>
              <a:cs typeface="Arial"/>
              <a:sym typeface="Arial"/>
            </a:endParaRPr>
          </a:p>
        </p:txBody>
      </p:sp>
      <p:sp>
        <p:nvSpPr>
          <p:cNvPr id="271" name="Google Shape;271;h4e1cd23050cdd6e6_1_108"/>
          <p:cNvSpPr/>
          <p:nvPr/>
        </p:nvSpPr>
        <p:spPr>
          <a:xfrm>
            <a:off x="2697480" y="3621024"/>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FK</a:t>
            </a:r>
            <a:endParaRPr b="0" i="0" sz="1400" u="none" cap="none" strike="noStrike">
              <a:solidFill>
                <a:srgbClr val="000000"/>
              </a:solidFill>
              <a:latin typeface="Arial"/>
              <a:ea typeface="Arial"/>
              <a:cs typeface="Arial"/>
              <a:sym typeface="Arial"/>
            </a:endParaRPr>
          </a:p>
        </p:txBody>
      </p:sp>
      <p:sp>
        <p:nvSpPr>
          <p:cNvPr id="272" name="Google Shape;272;h4e1cd23050cdd6e6_1_108"/>
          <p:cNvSpPr/>
          <p:nvPr/>
        </p:nvSpPr>
        <p:spPr>
          <a:xfrm>
            <a:off x="1133856" y="3968496"/>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BM_DEP</a:t>
            </a:r>
            <a:endParaRPr b="0" i="0" sz="1400" u="none" cap="none" strike="noStrike">
              <a:solidFill>
                <a:srgbClr val="000000"/>
              </a:solidFill>
              <a:latin typeface="Arial"/>
              <a:ea typeface="Arial"/>
              <a:cs typeface="Arial"/>
              <a:sym typeface="Arial"/>
            </a:endParaRPr>
          </a:p>
        </p:txBody>
      </p:sp>
      <p:sp>
        <p:nvSpPr>
          <p:cNvPr id="273" name="Google Shape;273;h4e1cd23050cdd6e6_1_108"/>
          <p:cNvSpPr/>
          <p:nvPr/>
        </p:nvSpPr>
        <p:spPr>
          <a:xfrm>
            <a:off x="2697480" y="3968496"/>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274" name="Google Shape;274;h4e1cd23050cdd6e6_1_108"/>
          <p:cNvSpPr/>
          <p:nvPr/>
        </p:nvSpPr>
        <p:spPr>
          <a:xfrm>
            <a:off x="1133856" y="4315968"/>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ecog_stage</a:t>
            </a:r>
            <a:endParaRPr b="0" i="0" sz="1400" u="none" cap="none" strike="noStrike">
              <a:solidFill>
                <a:srgbClr val="000000"/>
              </a:solidFill>
              <a:latin typeface="Arial"/>
              <a:ea typeface="Arial"/>
              <a:cs typeface="Arial"/>
              <a:sym typeface="Arial"/>
            </a:endParaRPr>
          </a:p>
        </p:txBody>
      </p:sp>
      <p:sp>
        <p:nvSpPr>
          <p:cNvPr id="275" name="Google Shape;275;h4e1cd23050cdd6e6_1_108"/>
          <p:cNvSpPr/>
          <p:nvPr/>
        </p:nvSpPr>
        <p:spPr>
          <a:xfrm>
            <a:off x="2697480" y="4315968"/>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276" name="Google Shape;276;h4e1cd23050cdd6e6_1_108"/>
          <p:cNvSpPr/>
          <p:nvPr/>
        </p:nvSpPr>
        <p:spPr>
          <a:xfrm>
            <a:off x="4983480" y="3200400"/>
            <a:ext cx="6217800" cy="3200400"/>
          </a:xfrm>
          <a:prstGeom prst="roundRect">
            <a:avLst>
              <a:gd fmla="val 9000"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h4e1cd23050cdd6e6_1_108"/>
          <p:cNvSpPr txBox="1"/>
          <p:nvPr/>
        </p:nvSpPr>
        <p:spPr>
          <a:xfrm>
            <a:off x="4983480" y="3264408"/>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Class:</a:t>
            </a:r>
            <a:r>
              <a:rPr b="0" i="0" lang="en-US" sz="1050" u="none" cap="none" strike="noStrike">
                <a:solidFill>
                  <a:srgbClr val="1F2328"/>
                </a:solidFill>
                <a:latin typeface="Consolas"/>
                <a:ea typeface="Consolas"/>
                <a:cs typeface="Consolas"/>
                <a:sym typeface="Consolas"/>
              </a:rPr>
              <a:t> Admission</a:t>
            </a:r>
            <a:endParaRPr b="0" i="0" sz="1050" u="none" cap="none" strike="noStrike">
              <a:solidFill>
                <a:srgbClr val="000000"/>
              </a:solidFill>
              <a:latin typeface="Arial"/>
              <a:ea typeface="Arial"/>
              <a:cs typeface="Arial"/>
              <a:sym typeface="Arial"/>
            </a:endParaRPr>
          </a:p>
        </p:txBody>
      </p:sp>
      <p:sp>
        <p:nvSpPr>
          <p:cNvPr id="278" name="Google Shape;278;h4e1cd23050cdd6e6_1_108"/>
          <p:cNvSpPr txBox="1"/>
          <p:nvPr/>
        </p:nvSpPr>
        <p:spPr>
          <a:xfrm>
            <a:off x="4983480" y="3426112"/>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SubClassOf:</a:t>
            </a:r>
            <a:endParaRPr b="0" i="0" sz="1050" u="none" cap="none" strike="noStrike">
              <a:solidFill>
                <a:srgbClr val="000000"/>
              </a:solidFill>
              <a:latin typeface="Arial"/>
              <a:ea typeface="Arial"/>
              <a:cs typeface="Arial"/>
              <a:sym typeface="Arial"/>
            </a:endParaRPr>
          </a:p>
        </p:txBody>
      </p:sp>
      <p:sp>
        <p:nvSpPr>
          <p:cNvPr id="279" name="Google Shape;279;h4e1cd23050cdd6e6_1_108"/>
          <p:cNvSpPr txBox="1"/>
          <p:nvPr/>
        </p:nvSpPr>
        <p:spPr>
          <a:xfrm>
            <a:off x="4983480" y="3587816"/>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admission_id </a:t>
            </a:r>
            <a:r>
              <a:rPr b="1" i="0" lang="en-US" sz="1050" u="none" cap="none" strike="noStrike">
                <a:solidFill>
                  <a:srgbClr val="0B6E4F"/>
                </a:solidFill>
                <a:latin typeface="Consolas"/>
                <a:ea typeface="Consolas"/>
                <a:cs typeface="Consolas"/>
                <a:sym typeface="Consolas"/>
              </a:rPr>
              <a:t>some</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280" name="Google Shape;280;h4e1cd23050cdd6e6_1_108"/>
          <p:cNvSpPr txBox="1"/>
          <p:nvPr/>
        </p:nvSpPr>
        <p:spPr>
          <a:xfrm>
            <a:off x="4983480" y="3749521"/>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hasPatientData </a:t>
            </a:r>
            <a:r>
              <a:rPr b="1" i="0" lang="en-US" sz="1050" u="none" cap="none" strike="noStrike">
                <a:solidFill>
                  <a:srgbClr val="0B6E4F"/>
                </a:solidFill>
                <a:latin typeface="Consolas"/>
                <a:ea typeface="Consolas"/>
                <a:cs typeface="Consolas"/>
                <a:sym typeface="Consolas"/>
              </a:rPr>
              <a:t>some</a:t>
            </a:r>
            <a:r>
              <a:rPr b="0" i="0" lang="en-US" sz="1050" u="none" cap="none" strike="noStrike">
                <a:solidFill>
                  <a:srgbClr val="1F2328"/>
                </a:solidFill>
                <a:latin typeface="Consolas"/>
                <a:ea typeface="Consolas"/>
                <a:cs typeface="Consolas"/>
                <a:sym typeface="Consolas"/>
              </a:rPr>
              <a:t> PatientData,</a:t>
            </a:r>
            <a:endParaRPr b="0" i="0" sz="1050" u="none" cap="none" strike="noStrike">
              <a:solidFill>
                <a:srgbClr val="000000"/>
              </a:solidFill>
              <a:latin typeface="Arial"/>
              <a:ea typeface="Arial"/>
              <a:cs typeface="Arial"/>
              <a:sym typeface="Arial"/>
            </a:endParaRPr>
          </a:p>
        </p:txBody>
      </p:sp>
      <p:sp>
        <p:nvSpPr>
          <p:cNvPr id="281" name="Google Shape;281;h4e1cd23050cdd6e6_1_108"/>
          <p:cNvSpPr/>
          <p:nvPr/>
        </p:nvSpPr>
        <p:spPr>
          <a:xfrm>
            <a:off x="9399912" y="3749521"/>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schema (foreign key)</a:t>
            </a:r>
            <a:endParaRPr/>
          </a:p>
        </p:txBody>
      </p:sp>
      <p:sp>
        <p:nvSpPr>
          <p:cNvPr id="282" name="Google Shape;282;h4e1cd23050cdd6e6_1_108"/>
          <p:cNvSpPr txBox="1"/>
          <p:nvPr/>
        </p:nvSpPr>
        <p:spPr>
          <a:xfrm>
            <a:off x="4983480" y="3911225"/>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BM_DEP </a:t>
            </a:r>
            <a:r>
              <a:rPr b="1" i="0" lang="en-US" sz="1050" u="none" cap="none" strike="noStrike">
                <a:solidFill>
                  <a:srgbClr val="0B6E4F"/>
                </a:solidFill>
                <a:latin typeface="Consolas"/>
                <a:ea typeface="Consolas"/>
                <a:cs typeface="Consolas"/>
                <a:sym typeface="Consolas"/>
              </a:rPr>
              <a:t>only</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283" name="Google Shape;283;h4e1cd23050cdd6e6_1_108"/>
          <p:cNvSpPr txBox="1"/>
          <p:nvPr/>
        </p:nvSpPr>
        <p:spPr>
          <a:xfrm>
            <a:off x="4983480" y="4072930"/>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ecog_stage </a:t>
            </a:r>
            <a:r>
              <a:rPr b="1" i="0" lang="en-US" sz="1050" u="none" cap="none" strike="noStrike">
                <a:solidFill>
                  <a:srgbClr val="0B6E4F"/>
                </a:solidFill>
                <a:latin typeface="Consolas"/>
                <a:ea typeface="Consolas"/>
                <a:cs typeface="Consolas"/>
                <a:sym typeface="Consolas"/>
              </a:rPr>
              <a:t>only</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endParaRPr b="0" i="0" sz="1050" u="none" cap="none" strike="noStrike">
              <a:solidFill>
                <a:srgbClr val="000000"/>
              </a:solidFill>
              <a:latin typeface="Arial"/>
              <a:ea typeface="Arial"/>
              <a:cs typeface="Arial"/>
              <a:sym typeface="Arial"/>
            </a:endParaRPr>
          </a:p>
        </p:txBody>
      </p:sp>
      <p:sp>
        <p:nvSpPr>
          <p:cNvPr id="284" name="Google Shape;284;h4e1cd23050cdd6e6_1_108"/>
          <p:cNvSpPr txBox="1"/>
          <p:nvPr/>
        </p:nvSpPr>
        <p:spPr>
          <a:xfrm>
            <a:off x="4983480" y="4396338"/>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admission_id</a:t>
            </a:r>
            <a:endParaRPr b="0" i="0" sz="1050" u="none" cap="none" strike="noStrike">
              <a:solidFill>
                <a:srgbClr val="000000"/>
              </a:solidFill>
              <a:latin typeface="Arial"/>
              <a:ea typeface="Arial"/>
              <a:cs typeface="Arial"/>
              <a:sym typeface="Arial"/>
            </a:endParaRPr>
          </a:p>
        </p:txBody>
      </p:sp>
      <p:sp>
        <p:nvSpPr>
          <p:cNvPr id="285" name="Google Shape;285;h4e1cd23050cdd6e6_1_108"/>
          <p:cNvSpPr txBox="1"/>
          <p:nvPr/>
        </p:nvSpPr>
        <p:spPr>
          <a:xfrm>
            <a:off x="4983480" y="4558043"/>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ObjectProperty:</a:t>
            </a:r>
            <a:r>
              <a:rPr b="0" i="0" lang="en-US" sz="1050" u="none" cap="none" strike="noStrike">
                <a:solidFill>
                  <a:srgbClr val="1F2328"/>
                </a:solidFill>
                <a:latin typeface="Consolas"/>
                <a:ea typeface="Consolas"/>
                <a:cs typeface="Consolas"/>
                <a:sym typeface="Consolas"/>
              </a:rPr>
              <a:t> hasPatientData</a:t>
            </a:r>
            <a:endParaRPr b="0" i="0" sz="1050" u="none" cap="none" strike="noStrike">
              <a:solidFill>
                <a:srgbClr val="000000"/>
              </a:solidFill>
              <a:latin typeface="Arial"/>
              <a:ea typeface="Arial"/>
              <a:cs typeface="Arial"/>
              <a:sym typeface="Arial"/>
            </a:endParaRPr>
          </a:p>
        </p:txBody>
      </p:sp>
      <p:sp>
        <p:nvSpPr>
          <p:cNvPr id="286" name="Google Shape;286;h4e1cd23050cdd6e6_1_108"/>
          <p:cNvSpPr/>
          <p:nvPr/>
        </p:nvSpPr>
        <p:spPr>
          <a:xfrm>
            <a:off x="9399912" y="4558043"/>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schema (foreign key)</a:t>
            </a:r>
            <a:endParaRPr/>
          </a:p>
        </p:txBody>
      </p:sp>
      <p:sp>
        <p:nvSpPr>
          <p:cNvPr id="287" name="Google Shape;287;h4e1cd23050cdd6e6_1_108"/>
          <p:cNvSpPr txBox="1"/>
          <p:nvPr/>
        </p:nvSpPr>
        <p:spPr>
          <a:xfrm>
            <a:off x="4983480" y="4719747"/>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BM_DEP</a:t>
            </a:r>
            <a:endParaRPr b="0" i="0" sz="1050" u="none" cap="none" strike="noStrike">
              <a:solidFill>
                <a:srgbClr val="000000"/>
              </a:solidFill>
              <a:latin typeface="Arial"/>
              <a:ea typeface="Arial"/>
              <a:cs typeface="Arial"/>
              <a:sym typeface="Arial"/>
            </a:endParaRPr>
          </a:p>
        </p:txBody>
      </p:sp>
      <p:sp>
        <p:nvSpPr>
          <p:cNvPr id="288" name="Google Shape;288;h4e1cd23050cdd6e6_1_108"/>
          <p:cNvSpPr txBox="1"/>
          <p:nvPr/>
        </p:nvSpPr>
        <p:spPr>
          <a:xfrm>
            <a:off x="4983480" y="4881452"/>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Annotations:</a:t>
            </a:r>
            <a:endParaRPr b="0" i="0" sz="1050" u="none" cap="none" strike="noStrike">
              <a:solidFill>
                <a:srgbClr val="000000"/>
              </a:solidFill>
              <a:latin typeface="Arial"/>
              <a:ea typeface="Arial"/>
              <a:cs typeface="Arial"/>
              <a:sym typeface="Arial"/>
            </a:endParaRPr>
          </a:p>
        </p:txBody>
      </p:sp>
      <p:sp>
        <p:nvSpPr>
          <p:cNvPr id="289" name="Google Shape;289;h4e1cd23050cdd6e6_1_108"/>
          <p:cNvSpPr txBox="1"/>
          <p:nvPr/>
        </p:nvSpPr>
        <p:spPr>
          <a:xfrm>
            <a:off x="4983480" y="5043156"/>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rdfs:label</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A3401E"/>
                </a:solidFill>
                <a:latin typeface="Consolas"/>
                <a:ea typeface="Consolas"/>
                <a:cs typeface="Consolas"/>
                <a:sym typeface="Consolas"/>
              </a:rPr>
              <a:t>"Bone Marrow Depression"@en</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290" name="Google Shape;290;h4e1cd23050cdd6e6_1_108"/>
          <p:cNvSpPr/>
          <p:nvPr/>
        </p:nvSpPr>
        <p:spPr>
          <a:xfrm>
            <a:off x="9399912" y="5043156"/>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2F6B78"/>
                </a:solidFill>
                <a:latin typeface="Calibri"/>
                <a:ea typeface="Calibri"/>
                <a:cs typeface="Calibri"/>
                <a:sym typeface="Calibri"/>
              </a:rPr>
              <a:t>← documentation</a:t>
            </a:r>
            <a:endParaRPr/>
          </a:p>
        </p:txBody>
      </p:sp>
      <p:sp>
        <p:nvSpPr>
          <p:cNvPr id="291" name="Google Shape;291;h4e1cd23050cdd6e6_1_108"/>
          <p:cNvSpPr txBox="1"/>
          <p:nvPr/>
        </p:nvSpPr>
        <p:spPr>
          <a:xfrm>
            <a:off x="4983480" y="5204861"/>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highlight>
                  <a:srgbClr val="FFE599"/>
                </a:highlight>
                <a:latin typeface="Consolas"/>
                <a:ea typeface="Consolas"/>
                <a:cs typeface="Consolas"/>
                <a:sym typeface="Consolas"/>
              </a:rPr>
              <a:t>skos:relatedMatch</a:t>
            </a:r>
            <a:r>
              <a:rPr b="0" i="0" lang="en-US" sz="1050" u="none" cap="none" strike="noStrike">
                <a:solidFill>
                  <a:srgbClr val="1F2328"/>
                </a:solidFill>
                <a:highlight>
                  <a:srgbClr val="FFE599"/>
                </a:highlight>
                <a:latin typeface="Consolas"/>
                <a:ea typeface="Consolas"/>
                <a:cs typeface="Consolas"/>
                <a:sym typeface="Consolas"/>
              </a:rPr>
              <a:t> </a:t>
            </a:r>
            <a:r>
              <a:rPr b="0" i="0" lang="en-US" sz="1050" u="none" cap="none" strike="noStrike">
                <a:solidFill>
                  <a:srgbClr val="2F6B78"/>
                </a:solidFill>
                <a:highlight>
                  <a:srgbClr val="FFE599"/>
                </a:highlight>
                <a:latin typeface="Consolas"/>
                <a:ea typeface="Consolas"/>
                <a:cs typeface="Consolas"/>
                <a:sym typeface="Consolas"/>
              </a:rPr>
              <a:t>obo:DOID_4961</a:t>
            </a:r>
            <a:r>
              <a:rPr b="0" i="0" lang="en-US" sz="1050" u="none" cap="none" strike="noStrike">
                <a:solidFill>
                  <a:srgbClr val="1F2328"/>
                </a:solidFill>
                <a:highlight>
                  <a:srgbClr val="FFE599"/>
                </a:highlight>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292" name="Google Shape;292;h4e1cd23050cdd6e6_1_108"/>
          <p:cNvSpPr/>
          <p:nvPr/>
        </p:nvSpPr>
        <p:spPr>
          <a:xfrm>
            <a:off x="9399912" y="5204861"/>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0B6E4F"/>
                </a:solidFill>
                <a:latin typeface="Calibri"/>
                <a:ea typeface="Calibri"/>
                <a:cs typeface="Calibri"/>
                <a:sym typeface="Calibri"/>
              </a:rPr>
              <a:t>← Disease Ontology</a:t>
            </a:r>
            <a:endParaRPr/>
          </a:p>
        </p:txBody>
      </p:sp>
      <p:sp>
        <p:nvSpPr>
          <p:cNvPr id="293" name="Google Shape;293;h4e1cd23050cdd6e6_1_108"/>
          <p:cNvSpPr txBox="1"/>
          <p:nvPr/>
        </p:nvSpPr>
        <p:spPr>
          <a:xfrm>
            <a:off x="4983480" y="5366565"/>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prov:wasDerivedFrom</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2F6B78"/>
                </a:solidFill>
                <a:latin typeface="Consolas"/>
                <a:ea typeface="Consolas"/>
                <a:cs typeface="Consolas"/>
                <a:sym typeface="Consolas"/>
              </a:rPr>
              <a:t>admission:BM_DEP</a:t>
            </a:r>
            <a:endParaRPr b="0" i="0" sz="1050" u="none" cap="none" strike="noStrike">
              <a:solidFill>
                <a:srgbClr val="000000"/>
              </a:solidFill>
              <a:latin typeface="Arial"/>
              <a:ea typeface="Arial"/>
              <a:cs typeface="Arial"/>
              <a:sym typeface="Arial"/>
            </a:endParaRPr>
          </a:p>
        </p:txBody>
      </p:sp>
      <p:sp>
        <p:nvSpPr>
          <p:cNvPr id="294" name="Google Shape;294;h4e1cd23050cdd6e6_1_108"/>
          <p:cNvSpPr/>
          <p:nvPr/>
        </p:nvSpPr>
        <p:spPr>
          <a:xfrm>
            <a:off x="9399912" y="5366565"/>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source column</a:t>
            </a:r>
            <a:endParaRPr/>
          </a:p>
        </p:txBody>
      </p:sp>
      <p:sp>
        <p:nvSpPr>
          <p:cNvPr id="295" name="Google Shape;295;h4e1cd23050cdd6e6_1_108"/>
          <p:cNvSpPr txBox="1"/>
          <p:nvPr/>
        </p:nvSpPr>
        <p:spPr>
          <a:xfrm>
            <a:off x="4983480" y="5528269"/>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ecog_stage</a:t>
            </a:r>
            <a:endParaRPr b="0" i="0" sz="1050" u="none" cap="none" strike="noStrike">
              <a:solidFill>
                <a:srgbClr val="000000"/>
              </a:solidFill>
              <a:latin typeface="Arial"/>
              <a:ea typeface="Arial"/>
              <a:cs typeface="Arial"/>
              <a:sym typeface="Arial"/>
            </a:endParaRPr>
          </a:p>
        </p:txBody>
      </p:sp>
      <p:sp>
        <p:nvSpPr>
          <p:cNvPr id="296" name="Google Shape;296;h4e1cd23050cdd6e6_1_108"/>
          <p:cNvSpPr txBox="1"/>
          <p:nvPr/>
        </p:nvSpPr>
        <p:spPr>
          <a:xfrm>
            <a:off x="4983480" y="5689974"/>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Annotations:</a:t>
            </a:r>
            <a:endParaRPr b="0" i="0" sz="1050" u="none" cap="none" strike="noStrike">
              <a:solidFill>
                <a:srgbClr val="000000"/>
              </a:solidFill>
              <a:latin typeface="Arial"/>
              <a:ea typeface="Arial"/>
              <a:cs typeface="Arial"/>
              <a:sym typeface="Arial"/>
            </a:endParaRPr>
          </a:p>
        </p:txBody>
      </p:sp>
      <p:sp>
        <p:nvSpPr>
          <p:cNvPr id="297" name="Google Shape;297;h4e1cd23050cdd6e6_1_108"/>
          <p:cNvSpPr txBox="1"/>
          <p:nvPr/>
        </p:nvSpPr>
        <p:spPr>
          <a:xfrm>
            <a:off x="4983480" y="5851678"/>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rdfs:label</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A3401E"/>
                </a:solidFill>
                <a:latin typeface="Consolas"/>
                <a:ea typeface="Consolas"/>
                <a:cs typeface="Consolas"/>
                <a:sym typeface="Consolas"/>
              </a:rPr>
              <a:t>"ECOG Performance Status"@en</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298" name="Google Shape;298;h4e1cd23050cdd6e6_1_108"/>
          <p:cNvSpPr/>
          <p:nvPr/>
        </p:nvSpPr>
        <p:spPr>
          <a:xfrm>
            <a:off x="9399912" y="5851678"/>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2F6B78"/>
                </a:solidFill>
                <a:latin typeface="Calibri"/>
                <a:ea typeface="Calibri"/>
                <a:cs typeface="Calibri"/>
                <a:sym typeface="Calibri"/>
              </a:rPr>
              <a:t>← documentation</a:t>
            </a:r>
            <a:endParaRPr/>
          </a:p>
        </p:txBody>
      </p:sp>
      <p:sp>
        <p:nvSpPr>
          <p:cNvPr id="299" name="Google Shape;299;h4e1cd23050cdd6e6_1_108"/>
          <p:cNvSpPr txBox="1"/>
          <p:nvPr/>
        </p:nvSpPr>
        <p:spPr>
          <a:xfrm>
            <a:off x="4983480" y="6175087"/>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prov:wasDerivedFrom</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2F6B78"/>
                </a:solidFill>
                <a:latin typeface="Consolas"/>
                <a:ea typeface="Consolas"/>
                <a:cs typeface="Consolas"/>
                <a:sym typeface="Consolas"/>
              </a:rPr>
              <a:t>admission:ecog_stage</a:t>
            </a:r>
            <a:endParaRPr b="0" i="0" sz="1050" u="none" cap="none" strike="noStrike">
              <a:solidFill>
                <a:srgbClr val="000000"/>
              </a:solidFill>
              <a:latin typeface="Arial"/>
              <a:ea typeface="Arial"/>
              <a:cs typeface="Arial"/>
              <a:sym typeface="Arial"/>
            </a:endParaRPr>
          </a:p>
        </p:txBody>
      </p:sp>
      <p:sp>
        <p:nvSpPr>
          <p:cNvPr id="300" name="Google Shape;300;h4e1cd23050cdd6e6_1_108"/>
          <p:cNvSpPr/>
          <p:nvPr/>
        </p:nvSpPr>
        <p:spPr>
          <a:xfrm>
            <a:off x="9399912" y="6175087"/>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source column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5" name="Shape 305"/>
        <p:cNvGrpSpPr/>
        <p:nvPr/>
      </p:nvGrpSpPr>
      <p:grpSpPr>
        <a:xfrm>
          <a:off x="0" y="0"/>
          <a:ext cx="0" cy="0"/>
          <a:chOff x="0" y="0"/>
          <a:chExt cx="0" cy="0"/>
        </a:xfrm>
      </p:grpSpPr>
      <p:sp>
        <p:nvSpPr>
          <p:cNvPr id="306" name="Google Shape;306;h4e1cd23050cdd6e6_1_162"/>
          <p:cNvSpPr txBox="1"/>
          <p:nvPr/>
        </p:nvSpPr>
        <p:spPr>
          <a:xfrm>
            <a:off x="804672" y="521207"/>
            <a:ext cx="106986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WHAT WE WANT TO BUILD</a:t>
            </a:r>
            <a:endParaRPr b="0" i="0" sz="1400" u="none" cap="none" strike="noStrike">
              <a:solidFill>
                <a:srgbClr val="000000"/>
              </a:solidFill>
              <a:latin typeface="Arial"/>
              <a:ea typeface="Arial"/>
              <a:cs typeface="Arial"/>
              <a:sym typeface="Arial"/>
            </a:endParaRPr>
          </a:p>
        </p:txBody>
      </p:sp>
      <p:sp>
        <p:nvSpPr>
          <p:cNvPr id="307" name="Google Shape;307;h4e1cd23050cdd6e6_1_162"/>
          <p:cNvSpPr txBox="1"/>
          <p:nvPr/>
        </p:nvSpPr>
        <p:spPr>
          <a:xfrm>
            <a:off x="804672" y="923544"/>
            <a:ext cx="10789800" cy="954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Not just a cleaner schema.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A usable semantic model.</a:t>
            </a:r>
            <a:endParaRPr b="0" i="0" sz="1400" u="none" cap="none" strike="noStrike">
              <a:solidFill>
                <a:srgbClr val="000000"/>
              </a:solidFill>
              <a:latin typeface="Arial"/>
              <a:ea typeface="Arial"/>
              <a:cs typeface="Arial"/>
              <a:sym typeface="Arial"/>
            </a:endParaRPr>
          </a:p>
        </p:txBody>
      </p:sp>
      <p:sp>
        <p:nvSpPr>
          <p:cNvPr id="308" name="Google Shape;308;h4e1cd23050cdd6e6_1_162"/>
          <p:cNvSpPr/>
          <p:nvPr/>
        </p:nvSpPr>
        <p:spPr>
          <a:xfrm>
            <a:off x="804672" y="2057400"/>
            <a:ext cx="2971800" cy="28803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9" name="Google Shape;309;h4e1cd23050cdd6e6_1_162"/>
          <p:cNvSpPr txBox="1"/>
          <p:nvPr/>
        </p:nvSpPr>
        <p:spPr>
          <a:xfrm>
            <a:off x="1024128" y="2212848"/>
            <a:ext cx="25146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5B6770"/>
                </a:solidFill>
                <a:latin typeface="Consolas"/>
                <a:ea typeface="Consolas"/>
                <a:cs typeface="Consolas"/>
                <a:sym typeface="Consolas"/>
              </a:rPr>
              <a:t>INPUT</a:t>
            </a:r>
            <a:endParaRPr b="0" i="0" sz="1400" u="none" cap="none" strike="noStrike">
              <a:solidFill>
                <a:srgbClr val="000000"/>
              </a:solidFill>
              <a:latin typeface="Arial"/>
              <a:ea typeface="Arial"/>
              <a:cs typeface="Arial"/>
              <a:sym typeface="Arial"/>
            </a:endParaRPr>
          </a:p>
        </p:txBody>
      </p:sp>
      <p:sp>
        <p:nvSpPr>
          <p:cNvPr id="310" name="Google Shape;310;h4e1cd23050cdd6e6_1_162"/>
          <p:cNvSpPr/>
          <p:nvPr/>
        </p:nvSpPr>
        <p:spPr>
          <a:xfrm>
            <a:off x="3977639" y="3291840"/>
            <a:ext cx="567000" cy="429900"/>
          </a:xfrm>
          <a:prstGeom prst="rightArrow">
            <a:avLst>
              <a:gd fmla="val 50000" name="adj1"/>
              <a:gd fmla="val 50000" name="adj2"/>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1" name="Google Shape;311;h4e1cd23050cdd6e6_1_162"/>
          <p:cNvSpPr/>
          <p:nvPr/>
        </p:nvSpPr>
        <p:spPr>
          <a:xfrm>
            <a:off x="4754880" y="2057400"/>
            <a:ext cx="6656700" cy="4453200"/>
          </a:xfrm>
          <a:prstGeom prst="roundRect">
            <a:avLst>
              <a:gd fmla="val 10000" name="adj"/>
            </a:avLst>
          </a:prstGeom>
          <a:solidFill>
            <a:srgbClr val="F3F5F4"/>
          </a:solidFill>
          <a:ln cap="flat" cmpd="sng" w="1777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2" name="Google Shape;312;h4e1cd23050cdd6e6_1_162"/>
          <p:cNvSpPr txBox="1"/>
          <p:nvPr/>
        </p:nvSpPr>
        <p:spPr>
          <a:xfrm>
            <a:off x="5038344" y="2212848"/>
            <a:ext cx="6044100" cy="2463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600"/>
              <a:buFont typeface="Arial"/>
              <a:buNone/>
            </a:pPr>
            <a:r>
              <a:rPr b="1" i="0" lang="en-US" sz="1600" u="none" cap="none" strike="noStrike">
                <a:solidFill>
                  <a:srgbClr val="2F6B78"/>
                </a:solidFill>
                <a:latin typeface="Consolas"/>
                <a:ea typeface="Consolas"/>
                <a:cs typeface="Consolas"/>
                <a:sym typeface="Consolas"/>
              </a:rPr>
              <a:t>TARGET</a:t>
            </a:r>
            <a:endParaRPr b="0" i="0" sz="1400" u="none" cap="none" strike="noStrike">
              <a:solidFill>
                <a:srgbClr val="000000"/>
              </a:solidFill>
              <a:latin typeface="Arial"/>
              <a:ea typeface="Arial"/>
              <a:cs typeface="Arial"/>
              <a:sym typeface="Arial"/>
            </a:endParaRPr>
          </a:p>
        </p:txBody>
      </p:sp>
      <p:sp>
        <p:nvSpPr>
          <p:cNvPr id="313" name="Google Shape;313;h4e1cd23050cdd6e6_1_162"/>
          <p:cNvSpPr/>
          <p:nvPr/>
        </p:nvSpPr>
        <p:spPr>
          <a:xfrm>
            <a:off x="5093208" y="2633472"/>
            <a:ext cx="21030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4" name="Google Shape;314;h4e1cd23050cdd6e6_1_162"/>
          <p:cNvSpPr txBox="1"/>
          <p:nvPr/>
        </p:nvSpPr>
        <p:spPr>
          <a:xfrm>
            <a:off x="5248656" y="2743200"/>
            <a:ext cx="1746600" cy="307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315" name="Google Shape;315;h4e1cd23050cdd6e6_1_162"/>
          <p:cNvSpPr/>
          <p:nvPr/>
        </p:nvSpPr>
        <p:spPr>
          <a:xfrm>
            <a:off x="9253728" y="2633472"/>
            <a:ext cx="18288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6" name="Google Shape;316;h4e1cd23050cdd6e6_1_162"/>
          <p:cNvSpPr txBox="1"/>
          <p:nvPr/>
        </p:nvSpPr>
        <p:spPr>
          <a:xfrm>
            <a:off x="9354312" y="2743200"/>
            <a:ext cx="16458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cxnSp>
        <p:nvCxnSpPr>
          <p:cNvPr id="317" name="Google Shape;317;h4e1cd23050cdd6e6_1_162"/>
          <p:cNvCxnSpPr/>
          <p:nvPr/>
        </p:nvCxnSpPr>
        <p:spPr>
          <a:xfrm>
            <a:off x="7278624" y="2871216"/>
            <a:ext cx="1865400" cy="0"/>
          </a:xfrm>
          <a:prstGeom prst="straightConnector1">
            <a:avLst/>
          </a:prstGeom>
          <a:noFill/>
          <a:ln cap="flat" cmpd="sng" w="31750">
            <a:solidFill>
              <a:srgbClr val="0B6E4F"/>
            </a:solidFill>
            <a:prstDash val="solid"/>
            <a:miter lim="0"/>
            <a:headEnd len="sm" w="sm" type="none"/>
            <a:tailEnd len="med" w="med" type="triangle"/>
          </a:ln>
        </p:spPr>
      </p:cxnSp>
      <p:sp>
        <p:nvSpPr>
          <p:cNvPr id="318" name="Google Shape;318;h4e1cd23050cdd6e6_1_162"/>
          <p:cNvSpPr/>
          <p:nvPr/>
        </p:nvSpPr>
        <p:spPr>
          <a:xfrm>
            <a:off x="7388352" y="2487168"/>
            <a:ext cx="1591200" cy="274200"/>
          </a:xfrm>
          <a:prstGeom prst="roundRect">
            <a:avLst>
              <a:gd fmla="val 1000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9" name="Google Shape;319;h4e1cd23050cdd6e6_1_162"/>
          <p:cNvSpPr txBox="1"/>
          <p:nvPr/>
        </p:nvSpPr>
        <p:spPr>
          <a:xfrm>
            <a:off x="7278624" y="2514600"/>
            <a:ext cx="17832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hasPatientData</a:t>
            </a:r>
            <a:endParaRPr b="0" i="0" sz="1400" u="none" cap="none" strike="noStrike">
              <a:solidFill>
                <a:srgbClr val="000000"/>
              </a:solidFill>
              <a:latin typeface="Arial"/>
              <a:ea typeface="Arial"/>
              <a:cs typeface="Arial"/>
              <a:sym typeface="Arial"/>
            </a:endParaRPr>
          </a:p>
        </p:txBody>
      </p:sp>
      <p:sp>
        <p:nvSpPr>
          <p:cNvPr id="320" name="Google Shape;320;h4e1cd23050cdd6e6_1_162"/>
          <p:cNvSpPr/>
          <p:nvPr/>
        </p:nvSpPr>
        <p:spPr>
          <a:xfrm>
            <a:off x="969264" y="2615184"/>
            <a:ext cx="2642700" cy="21396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h4e1cd23050cdd6e6_1_162"/>
          <p:cNvSpPr txBox="1"/>
          <p:nvPr/>
        </p:nvSpPr>
        <p:spPr>
          <a:xfrm>
            <a:off x="1133856" y="2724912"/>
            <a:ext cx="2331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cxnSp>
        <p:nvCxnSpPr>
          <p:cNvPr id="322" name="Google Shape;322;h4e1cd23050cdd6e6_1_162"/>
          <p:cNvCxnSpPr/>
          <p:nvPr/>
        </p:nvCxnSpPr>
        <p:spPr>
          <a:xfrm>
            <a:off x="1133856" y="3145536"/>
            <a:ext cx="2313300" cy="0"/>
          </a:xfrm>
          <a:prstGeom prst="straightConnector1">
            <a:avLst/>
          </a:prstGeom>
          <a:noFill/>
          <a:ln cap="flat" cmpd="sng" w="19050">
            <a:solidFill>
              <a:srgbClr val="8E989E"/>
            </a:solidFill>
            <a:prstDash val="solid"/>
            <a:miter lim="0"/>
            <a:headEnd len="sm" w="sm" type="none"/>
            <a:tailEnd len="sm" w="sm" type="none"/>
          </a:ln>
        </p:spPr>
      </p:cxnSp>
      <p:sp>
        <p:nvSpPr>
          <p:cNvPr id="323" name="Google Shape;323;h4e1cd23050cdd6e6_1_162"/>
          <p:cNvSpPr/>
          <p:nvPr/>
        </p:nvSpPr>
        <p:spPr>
          <a:xfrm>
            <a:off x="1133856" y="3273552"/>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admission_id</a:t>
            </a:r>
            <a:endParaRPr b="0" i="0" sz="1400" u="none" cap="none" strike="noStrike">
              <a:solidFill>
                <a:srgbClr val="000000"/>
              </a:solidFill>
              <a:latin typeface="Arial"/>
              <a:ea typeface="Arial"/>
              <a:cs typeface="Arial"/>
              <a:sym typeface="Arial"/>
            </a:endParaRPr>
          </a:p>
        </p:txBody>
      </p:sp>
      <p:sp>
        <p:nvSpPr>
          <p:cNvPr id="324" name="Google Shape;324;h4e1cd23050cdd6e6_1_162"/>
          <p:cNvSpPr/>
          <p:nvPr/>
        </p:nvSpPr>
        <p:spPr>
          <a:xfrm>
            <a:off x="1133856" y="3621024"/>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patient_id</a:t>
            </a:r>
            <a:endParaRPr b="0" i="0" sz="1400" u="none" cap="none" strike="noStrike">
              <a:solidFill>
                <a:srgbClr val="000000"/>
              </a:solidFill>
              <a:latin typeface="Arial"/>
              <a:ea typeface="Arial"/>
              <a:cs typeface="Arial"/>
              <a:sym typeface="Arial"/>
            </a:endParaRPr>
          </a:p>
        </p:txBody>
      </p:sp>
      <p:sp>
        <p:nvSpPr>
          <p:cNvPr id="325" name="Google Shape;325;h4e1cd23050cdd6e6_1_162"/>
          <p:cNvSpPr/>
          <p:nvPr/>
        </p:nvSpPr>
        <p:spPr>
          <a:xfrm>
            <a:off x="2697480" y="3273552"/>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PK</a:t>
            </a:r>
            <a:endParaRPr b="0" i="0" sz="1400" u="none" cap="none" strike="noStrike">
              <a:solidFill>
                <a:srgbClr val="000000"/>
              </a:solidFill>
              <a:latin typeface="Arial"/>
              <a:ea typeface="Arial"/>
              <a:cs typeface="Arial"/>
              <a:sym typeface="Arial"/>
            </a:endParaRPr>
          </a:p>
        </p:txBody>
      </p:sp>
      <p:sp>
        <p:nvSpPr>
          <p:cNvPr id="326" name="Google Shape;326;h4e1cd23050cdd6e6_1_162"/>
          <p:cNvSpPr/>
          <p:nvPr/>
        </p:nvSpPr>
        <p:spPr>
          <a:xfrm>
            <a:off x="2697480" y="3621024"/>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FK</a:t>
            </a:r>
            <a:endParaRPr b="0" i="0" sz="1400" u="none" cap="none" strike="noStrike">
              <a:solidFill>
                <a:srgbClr val="000000"/>
              </a:solidFill>
              <a:latin typeface="Arial"/>
              <a:ea typeface="Arial"/>
              <a:cs typeface="Arial"/>
              <a:sym typeface="Arial"/>
            </a:endParaRPr>
          </a:p>
        </p:txBody>
      </p:sp>
      <p:sp>
        <p:nvSpPr>
          <p:cNvPr id="327" name="Google Shape;327;h4e1cd23050cdd6e6_1_162"/>
          <p:cNvSpPr/>
          <p:nvPr/>
        </p:nvSpPr>
        <p:spPr>
          <a:xfrm>
            <a:off x="1133856" y="3968496"/>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BM_DEP</a:t>
            </a:r>
            <a:endParaRPr b="0" i="0" sz="1400" u="none" cap="none" strike="noStrike">
              <a:solidFill>
                <a:srgbClr val="000000"/>
              </a:solidFill>
              <a:latin typeface="Arial"/>
              <a:ea typeface="Arial"/>
              <a:cs typeface="Arial"/>
              <a:sym typeface="Arial"/>
            </a:endParaRPr>
          </a:p>
        </p:txBody>
      </p:sp>
      <p:sp>
        <p:nvSpPr>
          <p:cNvPr id="328" name="Google Shape;328;h4e1cd23050cdd6e6_1_162"/>
          <p:cNvSpPr/>
          <p:nvPr/>
        </p:nvSpPr>
        <p:spPr>
          <a:xfrm>
            <a:off x="2697480" y="3968496"/>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329" name="Google Shape;329;h4e1cd23050cdd6e6_1_162"/>
          <p:cNvSpPr/>
          <p:nvPr/>
        </p:nvSpPr>
        <p:spPr>
          <a:xfrm>
            <a:off x="1133856" y="4315968"/>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ecog_stage</a:t>
            </a:r>
            <a:endParaRPr b="0" i="0" sz="1400" u="none" cap="none" strike="noStrike">
              <a:solidFill>
                <a:srgbClr val="000000"/>
              </a:solidFill>
              <a:latin typeface="Arial"/>
              <a:ea typeface="Arial"/>
              <a:cs typeface="Arial"/>
              <a:sym typeface="Arial"/>
            </a:endParaRPr>
          </a:p>
        </p:txBody>
      </p:sp>
      <p:sp>
        <p:nvSpPr>
          <p:cNvPr id="330" name="Google Shape;330;h4e1cd23050cdd6e6_1_162"/>
          <p:cNvSpPr/>
          <p:nvPr/>
        </p:nvSpPr>
        <p:spPr>
          <a:xfrm>
            <a:off x="2697480" y="4315968"/>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331" name="Google Shape;331;h4e1cd23050cdd6e6_1_162"/>
          <p:cNvSpPr/>
          <p:nvPr/>
        </p:nvSpPr>
        <p:spPr>
          <a:xfrm>
            <a:off x="4983480" y="3200400"/>
            <a:ext cx="6217800" cy="3200400"/>
          </a:xfrm>
          <a:prstGeom prst="roundRect">
            <a:avLst>
              <a:gd fmla="val 9000"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h4e1cd23050cdd6e6_1_162"/>
          <p:cNvSpPr txBox="1"/>
          <p:nvPr/>
        </p:nvSpPr>
        <p:spPr>
          <a:xfrm>
            <a:off x="4983480" y="3264408"/>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Class:</a:t>
            </a:r>
            <a:r>
              <a:rPr b="0" i="0" lang="en-US" sz="1050" u="none" cap="none" strike="noStrike">
                <a:solidFill>
                  <a:srgbClr val="1F2328"/>
                </a:solidFill>
                <a:latin typeface="Consolas"/>
                <a:ea typeface="Consolas"/>
                <a:cs typeface="Consolas"/>
                <a:sym typeface="Consolas"/>
              </a:rPr>
              <a:t> Admission</a:t>
            </a:r>
            <a:endParaRPr b="0" i="0" sz="1050" u="none" cap="none" strike="noStrike">
              <a:solidFill>
                <a:srgbClr val="000000"/>
              </a:solidFill>
              <a:latin typeface="Arial"/>
              <a:ea typeface="Arial"/>
              <a:cs typeface="Arial"/>
              <a:sym typeface="Arial"/>
            </a:endParaRPr>
          </a:p>
        </p:txBody>
      </p:sp>
      <p:sp>
        <p:nvSpPr>
          <p:cNvPr id="333" name="Google Shape;333;h4e1cd23050cdd6e6_1_162"/>
          <p:cNvSpPr txBox="1"/>
          <p:nvPr/>
        </p:nvSpPr>
        <p:spPr>
          <a:xfrm>
            <a:off x="4983480" y="3426112"/>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SubClassOf:</a:t>
            </a:r>
            <a:endParaRPr b="0" i="0" sz="1050" u="none" cap="none" strike="noStrike">
              <a:solidFill>
                <a:srgbClr val="000000"/>
              </a:solidFill>
              <a:latin typeface="Arial"/>
              <a:ea typeface="Arial"/>
              <a:cs typeface="Arial"/>
              <a:sym typeface="Arial"/>
            </a:endParaRPr>
          </a:p>
        </p:txBody>
      </p:sp>
      <p:sp>
        <p:nvSpPr>
          <p:cNvPr id="334" name="Google Shape;334;h4e1cd23050cdd6e6_1_162"/>
          <p:cNvSpPr txBox="1"/>
          <p:nvPr/>
        </p:nvSpPr>
        <p:spPr>
          <a:xfrm>
            <a:off x="4983480" y="3587816"/>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admission_id </a:t>
            </a:r>
            <a:r>
              <a:rPr b="1" i="0" lang="en-US" sz="1050" u="none" cap="none" strike="noStrike">
                <a:solidFill>
                  <a:srgbClr val="0B6E4F"/>
                </a:solidFill>
                <a:latin typeface="Consolas"/>
                <a:ea typeface="Consolas"/>
                <a:cs typeface="Consolas"/>
                <a:sym typeface="Consolas"/>
              </a:rPr>
              <a:t>some</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335" name="Google Shape;335;h4e1cd23050cdd6e6_1_162"/>
          <p:cNvSpPr txBox="1"/>
          <p:nvPr/>
        </p:nvSpPr>
        <p:spPr>
          <a:xfrm>
            <a:off x="4983480" y="3749521"/>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hasPatientData </a:t>
            </a:r>
            <a:r>
              <a:rPr b="1" i="0" lang="en-US" sz="1050" u="none" cap="none" strike="noStrike">
                <a:solidFill>
                  <a:srgbClr val="0B6E4F"/>
                </a:solidFill>
                <a:latin typeface="Consolas"/>
                <a:ea typeface="Consolas"/>
                <a:cs typeface="Consolas"/>
                <a:sym typeface="Consolas"/>
              </a:rPr>
              <a:t>some</a:t>
            </a:r>
            <a:r>
              <a:rPr b="0" i="0" lang="en-US" sz="1050" u="none" cap="none" strike="noStrike">
                <a:solidFill>
                  <a:srgbClr val="1F2328"/>
                </a:solidFill>
                <a:latin typeface="Consolas"/>
                <a:ea typeface="Consolas"/>
                <a:cs typeface="Consolas"/>
                <a:sym typeface="Consolas"/>
              </a:rPr>
              <a:t> PatientData,</a:t>
            </a:r>
            <a:endParaRPr b="0" i="0" sz="1050" u="none" cap="none" strike="noStrike">
              <a:solidFill>
                <a:srgbClr val="000000"/>
              </a:solidFill>
              <a:latin typeface="Arial"/>
              <a:ea typeface="Arial"/>
              <a:cs typeface="Arial"/>
              <a:sym typeface="Arial"/>
            </a:endParaRPr>
          </a:p>
        </p:txBody>
      </p:sp>
      <p:sp>
        <p:nvSpPr>
          <p:cNvPr id="336" name="Google Shape;336;h4e1cd23050cdd6e6_1_162"/>
          <p:cNvSpPr/>
          <p:nvPr/>
        </p:nvSpPr>
        <p:spPr>
          <a:xfrm>
            <a:off x="9399912" y="3749521"/>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schema (foreign key)</a:t>
            </a:r>
            <a:endParaRPr/>
          </a:p>
        </p:txBody>
      </p:sp>
      <p:sp>
        <p:nvSpPr>
          <p:cNvPr id="337" name="Google Shape;337;h4e1cd23050cdd6e6_1_162"/>
          <p:cNvSpPr txBox="1"/>
          <p:nvPr/>
        </p:nvSpPr>
        <p:spPr>
          <a:xfrm>
            <a:off x="4983480" y="3911225"/>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BM_DEP </a:t>
            </a:r>
            <a:r>
              <a:rPr b="1" i="0" lang="en-US" sz="1050" u="none" cap="none" strike="noStrike">
                <a:solidFill>
                  <a:srgbClr val="0B6E4F"/>
                </a:solidFill>
                <a:latin typeface="Consolas"/>
                <a:ea typeface="Consolas"/>
                <a:cs typeface="Consolas"/>
                <a:sym typeface="Consolas"/>
              </a:rPr>
              <a:t>only</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338" name="Google Shape;338;h4e1cd23050cdd6e6_1_162"/>
          <p:cNvSpPr txBox="1"/>
          <p:nvPr/>
        </p:nvSpPr>
        <p:spPr>
          <a:xfrm>
            <a:off x="4983480" y="4072930"/>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ecog_stage </a:t>
            </a:r>
            <a:r>
              <a:rPr b="1" i="0" lang="en-US" sz="1050" u="none" cap="none" strike="noStrike">
                <a:solidFill>
                  <a:srgbClr val="0B6E4F"/>
                </a:solidFill>
                <a:latin typeface="Consolas"/>
                <a:ea typeface="Consolas"/>
                <a:cs typeface="Consolas"/>
                <a:sym typeface="Consolas"/>
              </a:rPr>
              <a:t>only</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endParaRPr b="0" i="0" sz="1050" u="none" cap="none" strike="noStrike">
              <a:solidFill>
                <a:srgbClr val="000000"/>
              </a:solidFill>
              <a:latin typeface="Arial"/>
              <a:ea typeface="Arial"/>
              <a:cs typeface="Arial"/>
              <a:sym typeface="Arial"/>
            </a:endParaRPr>
          </a:p>
        </p:txBody>
      </p:sp>
      <p:sp>
        <p:nvSpPr>
          <p:cNvPr id="339" name="Google Shape;339;h4e1cd23050cdd6e6_1_162"/>
          <p:cNvSpPr txBox="1"/>
          <p:nvPr/>
        </p:nvSpPr>
        <p:spPr>
          <a:xfrm>
            <a:off x="4983480" y="4396338"/>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admission_id</a:t>
            </a:r>
            <a:endParaRPr b="0" i="0" sz="1050" u="none" cap="none" strike="noStrike">
              <a:solidFill>
                <a:srgbClr val="000000"/>
              </a:solidFill>
              <a:latin typeface="Arial"/>
              <a:ea typeface="Arial"/>
              <a:cs typeface="Arial"/>
              <a:sym typeface="Arial"/>
            </a:endParaRPr>
          </a:p>
        </p:txBody>
      </p:sp>
      <p:sp>
        <p:nvSpPr>
          <p:cNvPr id="340" name="Google Shape;340;h4e1cd23050cdd6e6_1_162"/>
          <p:cNvSpPr txBox="1"/>
          <p:nvPr/>
        </p:nvSpPr>
        <p:spPr>
          <a:xfrm>
            <a:off x="4983480" y="4558043"/>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ObjectProperty:</a:t>
            </a:r>
            <a:r>
              <a:rPr b="0" i="0" lang="en-US" sz="1050" u="none" cap="none" strike="noStrike">
                <a:solidFill>
                  <a:srgbClr val="1F2328"/>
                </a:solidFill>
                <a:latin typeface="Consolas"/>
                <a:ea typeface="Consolas"/>
                <a:cs typeface="Consolas"/>
                <a:sym typeface="Consolas"/>
              </a:rPr>
              <a:t> hasPatientData</a:t>
            </a:r>
            <a:endParaRPr b="0" i="0" sz="1050" u="none" cap="none" strike="noStrike">
              <a:solidFill>
                <a:srgbClr val="000000"/>
              </a:solidFill>
              <a:latin typeface="Arial"/>
              <a:ea typeface="Arial"/>
              <a:cs typeface="Arial"/>
              <a:sym typeface="Arial"/>
            </a:endParaRPr>
          </a:p>
        </p:txBody>
      </p:sp>
      <p:sp>
        <p:nvSpPr>
          <p:cNvPr id="341" name="Google Shape;341;h4e1cd23050cdd6e6_1_162"/>
          <p:cNvSpPr/>
          <p:nvPr/>
        </p:nvSpPr>
        <p:spPr>
          <a:xfrm>
            <a:off x="9399912" y="4558043"/>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schema (foreign key)</a:t>
            </a:r>
            <a:endParaRPr/>
          </a:p>
        </p:txBody>
      </p:sp>
      <p:sp>
        <p:nvSpPr>
          <p:cNvPr id="342" name="Google Shape;342;h4e1cd23050cdd6e6_1_162"/>
          <p:cNvSpPr txBox="1"/>
          <p:nvPr/>
        </p:nvSpPr>
        <p:spPr>
          <a:xfrm>
            <a:off x="4983480" y="4719747"/>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BM_DEP</a:t>
            </a:r>
            <a:endParaRPr b="0" i="0" sz="1050" u="none" cap="none" strike="noStrike">
              <a:solidFill>
                <a:srgbClr val="000000"/>
              </a:solidFill>
              <a:latin typeface="Arial"/>
              <a:ea typeface="Arial"/>
              <a:cs typeface="Arial"/>
              <a:sym typeface="Arial"/>
            </a:endParaRPr>
          </a:p>
        </p:txBody>
      </p:sp>
      <p:sp>
        <p:nvSpPr>
          <p:cNvPr id="343" name="Google Shape;343;h4e1cd23050cdd6e6_1_162"/>
          <p:cNvSpPr txBox="1"/>
          <p:nvPr/>
        </p:nvSpPr>
        <p:spPr>
          <a:xfrm>
            <a:off x="4983480" y="4881452"/>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Annotations:</a:t>
            </a:r>
            <a:endParaRPr b="0" i="0" sz="1050" u="none" cap="none" strike="noStrike">
              <a:solidFill>
                <a:srgbClr val="000000"/>
              </a:solidFill>
              <a:latin typeface="Arial"/>
              <a:ea typeface="Arial"/>
              <a:cs typeface="Arial"/>
              <a:sym typeface="Arial"/>
            </a:endParaRPr>
          </a:p>
        </p:txBody>
      </p:sp>
      <p:sp>
        <p:nvSpPr>
          <p:cNvPr id="344" name="Google Shape;344;h4e1cd23050cdd6e6_1_162"/>
          <p:cNvSpPr txBox="1"/>
          <p:nvPr/>
        </p:nvSpPr>
        <p:spPr>
          <a:xfrm>
            <a:off x="4983480" y="5043156"/>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rdfs:label</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A3401E"/>
                </a:solidFill>
                <a:latin typeface="Consolas"/>
                <a:ea typeface="Consolas"/>
                <a:cs typeface="Consolas"/>
                <a:sym typeface="Consolas"/>
              </a:rPr>
              <a:t>"Bone Marrow Depression"@en</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345" name="Google Shape;345;h4e1cd23050cdd6e6_1_162"/>
          <p:cNvSpPr/>
          <p:nvPr/>
        </p:nvSpPr>
        <p:spPr>
          <a:xfrm>
            <a:off x="9399912" y="5043156"/>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2F6B78"/>
                </a:solidFill>
                <a:latin typeface="Calibri"/>
                <a:ea typeface="Calibri"/>
                <a:cs typeface="Calibri"/>
                <a:sym typeface="Calibri"/>
              </a:rPr>
              <a:t>← documentation</a:t>
            </a:r>
            <a:endParaRPr/>
          </a:p>
        </p:txBody>
      </p:sp>
      <p:sp>
        <p:nvSpPr>
          <p:cNvPr id="346" name="Google Shape;346;h4e1cd23050cdd6e6_1_162"/>
          <p:cNvSpPr txBox="1"/>
          <p:nvPr/>
        </p:nvSpPr>
        <p:spPr>
          <a:xfrm>
            <a:off x="4983480" y="5204861"/>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skos:relatedMatch</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2F6B78"/>
                </a:solidFill>
                <a:latin typeface="Consolas"/>
                <a:ea typeface="Consolas"/>
                <a:cs typeface="Consolas"/>
                <a:sym typeface="Consolas"/>
              </a:rPr>
              <a:t>obo:DOID_4961</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347" name="Google Shape;347;h4e1cd23050cdd6e6_1_162"/>
          <p:cNvSpPr/>
          <p:nvPr/>
        </p:nvSpPr>
        <p:spPr>
          <a:xfrm>
            <a:off x="9399912" y="5204861"/>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0B6E4F"/>
                </a:solidFill>
                <a:latin typeface="Calibri"/>
                <a:ea typeface="Calibri"/>
                <a:cs typeface="Calibri"/>
                <a:sym typeface="Calibri"/>
              </a:rPr>
              <a:t>← Disease Ontology</a:t>
            </a:r>
            <a:endParaRPr/>
          </a:p>
        </p:txBody>
      </p:sp>
      <p:sp>
        <p:nvSpPr>
          <p:cNvPr id="348" name="Google Shape;348;h4e1cd23050cdd6e6_1_162"/>
          <p:cNvSpPr txBox="1"/>
          <p:nvPr/>
        </p:nvSpPr>
        <p:spPr>
          <a:xfrm>
            <a:off x="4983480" y="5366565"/>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prov:wasDerivedFrom</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2F6B78"/>
                </a:solidFill>
                <a:latin typeface="Consolas"/>
                <a:ea typeface="Consolas"/>
                <a:cs typeface="Consolas"/>
                <a:sym typeface="Consolas"/>
              </a:rPr>
              <a:t>admission:BM_DEP</a:t>
            </a:r>
            <a:endParaRPr b="0" i="0" sz="1050" u="none" cap="none" strike="noStrike">
              <a:solidFill>
                <a:srgbClr val="000000"/>
              </a:solidFill>
              <a:latin typeface="Arial"/>
              <a:ea typeface="Arial"/>
              <a:cs typeface="Arial"/>
              <a:sym typeface="Arial"/>
            </a:endParaRPr>
          </a:p>
        </p:txBody>
      </p:sp>
      <p:sp>
        <p:nvSpPr>
          <p:cNvPr id="349" name="Google Shape;349;h4e1cd23050cdd6e6_1_162"/>
          <p:cNvSpPr/>
          <p:nvPr/>
        </p:nvSpPr>
        <p:spPr>
          <a:xfrm>
            <a:off x="9399912" y="5366565"/>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source column</a:t>
            </a:r>
            <a:endParaRPr/>
          </a:p>
        </p:txBody>
      </p:sp>
      <p:sp>
        <p:nvSpPr>
          <p:cNvPr id="350" name="Google Shape;350;h4e1cd23050cdd6e6_1_162"/>
          <p:cNvSpPr txBox="1"/>
          <p:nvPr/>
        </p:nvSpPr>
        <p:spPr>
          <a:xfrm>
            <a:off x="4983480" y="5528269"/>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ecog_stage</a:t>
            </a:r>
            <a:endParaRPr b="0" i="0" sz="1050" u="none" cap="none" strike="noStrike">
              <a:solidFill>
                <a:srgbClr val="000000"/>
              </a:solidFill>
              <a:latin typeface="Arial"/>
              <a:ea typeface="Arial"/>
              <a:cs typeface="Arial"/>
              <a:sym typeface="Arial"/>
            </a:endParaRPr>
          </a:p>
        </p:txBody>
      </p:sp>
      <p:sp>
        <p:nvSpPr>
          <p:cNvPr id="351" name="Google Shape;351;h4e1cd23050cdd6e6_1_162"/>
          <p:cNvSpPr txBox="1"/>
          <p:nvPr/>
        </p:nvSpPr>
        <p:spPr>
          <a:xfrm>
            <a:off x="4983480" y="5689974"/>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Annotations:</a:t>
            </a:r>
            <a:endParaRPr b="0" i="0" sz="1050" u="none" cap="none" strike="noStrike">
              <a:solidFill>
                <a:srgbClr val="000000"/>
              </a:solidFill>
              <a:latin typeface="Arial"/>
              <a:ea typeface="Arial"/>
              <a:cs typeface="Arial"/>
              <a:sym typeface="Arial"/>
            </a:endParaRPr>
          </a:p>
        </p:txBody>
      </p:sp>
      <p:sp>
        <p:nvSpPr>
          <p:cNvPr id="352" name="Google Shape;352;h4e1cd23050cdd6e6_1_162"/>
          <p:cNvSpPr txBox="1"/>
          <p:nvPr/>
        </p:nvSpPr>
        <p:spPr>
          <a:xfrm>
            <a:off x="4983480" y="5851678"/>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rdfs:label</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A3401E"/>
                </a:solidFill>
                <a:latin typeface="Consolas"/>
                <a:ea typeface="Consolas"/>
                <a:cs typeface="Consolas"/>
                <a:sym typeface="Consolas"/>
              </a:rPr>
              <a:t>"ECOG Performance Status"@en</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353" name="Google Shape;353;h4e1cd23050cdd6e6_1_162"/>
          <p:cNvSpPr/>
          <p:nvPr/>
        </p:nvSpPr>
        <p:spPr>
          <a:xfrm>
            <a:off x="9399912" y="5851678"/>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2F6B78"/>
                </a:solidFill>
                <a:latin typeface="Calibri"/>
                <a:ea typeface="Calibri"/>
                <a:cs typeface="Calibri"/>
                <a:sym typeface="Calibri"/>
              </a:rPr>
              <a:t>← documentation</a:t>
            </a:r>
            <a:endParaRPr/>
          </a:p>
        </p:txBody>
      </p:sp>
      <p:sp>
        <p:nvSpPr>
          <p:cNvPr id="354" name="Google Shape;354;h4e1cd23050cdd6e6_1_162"/>
          <p:cNvSpPr txBox="1"/>
          <p:nvPr/>
        </p:nvSpPr>
        <p:spPr>
          <a:xfrm>
            <a:off x="4983480" y="6013383"/>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highlight>
                  <a:srgbClr val="FFE599"/>
                </a:highlight>
                <a:latin typeface="Consolas"/>
                <a:ea typeface="Consolas"/>
                <a:cs typeface="Consolas"/>
                <a:sym typeface="Consolas"/>
              </a:rPr>
              <a:t>rdfs:comment</a:t>
            </a:r>
            <a:r>
              <a:rPr b="0" i="0" lang="en-US" sz="1050" u="none" cap="none" strike="noStrike">
                <a:solidFill>
                  <a:srgbClr val="1F2328"/>
                </a:solidFill>
                <a:highlight>
                  <a:srgbClr val="FFE599"/>
                </a:highlight>
                <a:latin typeface="Consolas"/>
                <a:ea typeface="Consolas"/>
                <a:cs typeface="Consolas"/>
                <a:sym typeface="Consolas"/>
              </a:rPr>
              <a:t> </a:t>
            </a:r>
            <a:r>
              <a:rPr b="0" i="0" lang="en-US" sz="1050" u="none" cap="none" strike="noStrike">
                <a:solidFill>
                  <a:srgbClr val="A3401E"/>
                </a:solidFill>
                <a:highlight>
                  <a:srgbClr val="FFE599"/>
                </a:highlight>
                <a:latin typeface="Consolas"/>
                <a:ea typeface="Consolas"/>
                <a:cs typeface="Consolas"/>
                <a:sym typeface="Consolas"/>
              </a:rPr>
              <a:t>"0 = fully active … 5 = dead"@en</a:t>
            </a:r>
            <a:r>
              <a:rPr b="0" i="0" lang="en-US" sz="1050" u="none" cap="none" strike="noStrike">
                <a:solidFill>
                  <a:srgbClr val="1F2328"/>
                </a:solidFill>
                <a:highlight>
                  <a:srgbClr val="FFE599"/>
                </a:highlight>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355" name="Google Shape;355;h4e1cd23050cdd6e6_1_162"/>
          <p:cNvSpPr txBox="1"/>
          <p:nvPr/>
        </p:nvSpPr>
        <p:spPr>
          <a:xfrm>
            <a:off x="4983480" y="6175087"/>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prov:wasDerivedFrom</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2F6B78"/>
                </a:solidFill>
                <a:latin typeface="Consolas"/>
                <a:ea typeface="Consolas"/>
                <a:cs typeface="Consolas"/>
                <a:sym typeface="Consolas"/>
              </a:rPr>
              <a:t>admission:ecog_stage</a:t>
            </a:r>
            <a:endParaRPr b="0" i="0" sz="1050" u="none" cap="none" strike="noStrike">
              <a:solidFill>
                <a:srgbClr val="000000"/>
              </a:solidFill>
              <a:latin typeface="Arial"/>
              <a:ea typeface="Arial"/>
              <a:cs typeface="Arial"/>
              <a:sym typeface="Arial"/>
            </a:endParaRPr>
          </a:p>
        </p:txBody>
      </p:sp>
      <p:sp>
        <p:nvSpPr>
          <p:cNvPr id="356" name="Google Shape;356;h4e1cd23050cdd6e6_1_162"/>
          <p:cNvSpPr/>
          <p:nvPr/>
        </p:nvSpPr>
        <p:spPr>
          <a:xfrm>
            <a:off x="9399912" y="6175087"/>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source column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1" name="Shape 361"/>
        <p:cNvGrpSpPr/>
        <p:nvPr/>
      </p:nvGrpSpPr>
      <p:grpSpPr>
        <a:xfrm>
          <a:off x="0" y="0"/>
          <a:ext cx="0" cy="0"/>
          <a:chOff x="0" y="0"/>
          <a:chExt cx="0" cy="0"/>
        </a:xfrm>
      </p:grpSpPr>
      <p:sp>
        <p:nvSpPr>
          <p:cNvPr id="362" name="Google Shape;362;h4e1cd23050cdd6e6_1_220"/>
          <p:cNvSpPr txBox="1"/>
          <p:nvPr/>
        </p:nvSpPr>
        <p:spPr>
          <a:xfrm>
            <a:off x="804672" y="521207"/>
            <a:ext cx="106986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WHAT WE WANT TO BUILD</a:t>
            </a:r>
            <a:endParaRPr b="0" i="0" sz="1400" u="none" cap="none" strike="noStrike">
              <a:solidFill>
                <a:srgbClr val="000000"/>
              </a:solidFill>
              <a:latin typeface="Arial"/>
              <a:ea typeface="Arial"/>
              <a:cs typeface="Arial"/>
              <a:sym typeface="Arial"/>
            </a:endParaRPr>
          </a:p>
        </p:txBody>
      </p:sp>
      <p:sp>
        <p:nvSpPr>
          <p:cNvPr id="363" name="Google Shape;363;h4e1cd23050cdd6e6_1_220"/>
          <p:cNvSpPr txBox="1"/>
          <p:nvPr/>
        </p:nvSpPr>
        <p:spPr>
          <a:xfrm>
            <a:off x="804672" y="923544"/>
            <a:ext cx="10789800" cy="954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Not just a cleaner schema.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A usable semantic model.</a:t>
            </a:r>
            <a:endParaRPr b="0" i="0" sz="1400" u="none" cap="none" strike="noStrike">
              <a:solidFill>
                <a:srgbClr val="000000"/>
              </a:solidFill>
              <a:latin typeface="Arial"/>
              <a:ea typeface="Arial"/>
              <a:cs typeface="Arial"/>
              <a:sym typeface="Arial"/>
            </a:endParaRPr>
          </a:p>
        </p:txBody>
      </p:sp>
      <p:sp>
        <p:nvSpPr>
          <p:cNvPr id="364" name="Google Shape;364;h4e1cd23050cdd6e6_1_220"/>
          <p:cNvSpPr/>
          <p:nvPr/>
        </p:nvSpPr>
        <p:spPr>
          <a:xfrm>
            <a:off x="804672" y="2057400"/>
            <a:ext cx="2971800" cy="28803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5" name="Google Shape;365;h4e1cd23050cdd6e6_1_220"/>
          <p:cNvSpPr txBox="1"/>
          <p:nvPr/>
        </p:nvSpPr>
        <p:spPr>
          <a:xfrm>
            <a:off x="1024128" y="2212848"/>
            <a:ext cx="25146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5B6770"/>
                </a:solidFill>
                <a:latin typeface="Consolas"/>
                <a:ea typeface="Consolas"/>
                <a:cs typeface="Consolas"/>
                <a:sym typeface="Consolas"/>
              </a:rPr>
              <a:t>INPUT</a:t>
            </a:r>
            <a:endParaRPr b="0" i="0" sz="1400" u="none" cap="none" strike="noStrike">
              <a:solidFill>
                <a:srgbClr val="000000"/>
              </a:solidFill>
              <a:latin typeface="Arial"/>
              <a:ea typeface="Arial"/>
              <a:cs typeface="Arial"/>
              <a:sym typeface="Arial"/>
            </a:endParaRPr>
          </a:p>
        </p:txBody>
      </p:sp>
      <p:sp>
        <p:nvSpPr>
          <p:cNvPr id="366" name="Google Shape;366;h4e1cd23050cdd6e6_1_220"/>
          <p:cNvSpPr/>
          <p:nvPr/>
        </p:nvSpPr>
        <p:spPr>
          <a:xfrm>
            <a:off x="3977639" y="3291840"/>
            <a:ext cx="567000" cy="429900"/>
          </a:xfrm>
          <a:prstGeom prst="rightArrow">
            <a:avLst>
              <a:gd fmla="val 50000" name="adj1"/>
              <a:gd fmla="val 50000" name="adj2"/>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7" name="Google Shape;367;h4e1cd23050cdd6e6_1_220"/>
          <p:cNvSpPr/>
          <p:nvPr/>
        </p:nvSpPr>
        <p:spPr>
          <a:xfrm>
            <a:off x="4754880" y="2057400"/>
            <a:ext cx="6656700" cy="4453200"/>
          </a:xfrm>
          <a:prstGeom prst="roundRect">
            <a:avLst>
              <a:gd fmla="val 10000" name="adj"/>
            </a:avLst>
          </a:prstGeom>
          <a:solidFill>
            <a:srgbClr val="F3F5F4"/>
          </a:solidFill>
          <a:ln cap="flat" cmpd="sng" w="1777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8" name="Google Shape;368;h4e1cd23050cdd6e6_1_220"/>
          <p:cNvSpPr txBox="1"/>
          <p:nvPr/>
        </p:nvSpPr>
        <p:spPr>
          <a:xfrm>
            <a:off x="5038344" y="2212848"/>
            <a:ext cx="6044100" cy="2463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600"/>
              <a:buFont typeface="Arial"/>
              <a:buNone/>
            </a:pPr>
            <a:r>
              <a:rPr b="1" i="0" lang="en-US" sz="1600" u="none" cap="none" strike="noStrike">
                <a:solidFill>
                  <a:srgbClr val="2F6B78"/>
                </a:solidFill>
                <a:latin typeface="Consolas"/>
                <a:ea typeface="Consolas"/>
                <a:cs typeface="Consolas"/>
                <a:sym typeface="Consolas"/>
              </a:rPr>
              <a:t>TARGET</a:t>
            </a:r>
            <a:endParaRPr b="0" i="0" sz="1400" u="none" cap="none" strike="noStrike">
              <a:solidFill>
                <a:srgbClr val="000000"/>
              </a:solidFill>
              <a:latin typeface="Arial"/>
              <a:ea typeface="Arial"/>
              <a:cs typeface="Arial"/>
              <a:sym typeface="Arial"/>
            </a:endParaRPr>
          </a:p>
        </p:txBody>
      </p:sp>
      <p:sp>
        <p:nvSpPr>
          <p:cNvPr id="369" name="Google Shape;369;h4e1cd23050cdd6e6_1_220"/>
          <p:cNvSpPr/>
          <p:nvPr/>
        </p:nvSpPr>
        <p:spPr>
          <a:xfrm>
            <a:off x="5093208" y="2633472"/>
            <a:ext cx="21030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0" name="Google Shape;370;h4e1cd23050cdd6e6_1_220"/>
          <p:cNvSpPr txBox="1"/>
          <p:nvPr/>
        </p:nvSpPr>
        <p:spPr>
          <a:xfrm>
            <a:off x="5248656" y="2743200"/>
            <a:ext cx="1746600" cy="307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371" name="Google Shape;371;h4e1cd23050cdd6e6_1_220"/>
          <p:cNvSpPr/>
          <p:nvPr/>
        </p:nvSpPr>
        <p:spPr>
          <a:xfrm>
            <a:off x="9253728" y="2633472"/>
            <a:ext cx="18288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2" name="Google Shape;372;h4e1cd23050cdd6e6_1_220"/>
          <p:cNvSpPr txBox="1"/>
          <p:nvPr/>
        </p:nvSpPr>
        <p:spPr>
          <a:xfrm>
            <a:off x="9354312" y="2743200"/>
            <a:ext cx="16458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cxnSp>
        <p:nvCxnSpPr>
          <p:cNvPr id="373" name="Google Shape;373;h4e1cd23050cdd6e6_1_220"/>
          <p:cNvCxnSpPr/>
          <p:nvPr/>
        </p:nvCxnSpPr>
        <p:spPr>
          <a:xfrm>
            <a:off x="7278624" y="2871216"/>
            <a:ext cx="1865400" cy="0"/>
          </a:xfrm>
          <a:prstGeom prst="straightConnector1">
            <a:avLst/>
          </a:prstGeom>
          <a:noFill/>
          <a:ln cap="flat" cmpd="sng" w="31750">
            <a:solidFill>
              <a:srgbClr val="0B6E4F"/>
            </a:solidFill>
            <a:prstDash val="solid"/>
            <a:miter lim="0"/>
            <a:headEnd len="sm" w="sm" type="none"/>
            <a:tailEnd len="med" w="med" type="triangle"/>
          </a:ln>
        </p:spPr>
      </p:cxnSp>
      <p:sp>
        <p:nvSpPr>
          <p:cNvPr id="374" name="Google Shape;374;h4e1cd23050cdd6e6_1_220"/>
          <p:cNvSpPr/>
          <p:nvPr/>
        </p:nvSpPr>
        <p:spPr>
          <a:xfrm>
            <a:off x="7388352" y="2487168"/>
            <a:ext cx="1591200" cy="274200"/>
          </a:xfrm>
          <a:prstGeom prst="roundRect">
            <a:avLst>
              <a:gd fmla="val 1000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5" name="Google Shape;375;h4e1cd23050cdd6e6_1_220"/>
          <p:cNvSpPr txBox="1"/>
          <p:nvPr/>
        </p:nvSpPr>
        <p:spPr>
          <a:xfrm>
            <a:off x="7278624" y="2514600"/>
            <a:ext cx="17832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hasPatientData</a:t>
            </a:r>
            <a:endParaRPr b="0" i="0" sz="1400" u="none" cap="none" strike="noStrike">
              <a:solidFill>
                <a:srgbClr val="000000"/>
              </a:solidFill>
              <a:latin typeface="Arial"/>
              <a:ea typeface="Arial"/>
              <a:cs typeface="Arial"/>
              <a:sym typeface="Arial"/>
            </a:endParaRPr>
          </a:p>
        </p:txBody>
      </p:sp>
      <p:sp>
        <p:nvSpPr>
          <p:cNvPr id="376" name="Google Shape;376;h4e1cd23050cdd6e6_1_220"/>
          <p:cNvSpPr/>
          <p:nvPr/>
        </p:nvSpPr>
        <p:spPr>
          <a:xfrm>
            <a:off x="969264" y="2615184"/>
            <a:ext cx="2642700" cy="21396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h4e1cd23050cdd6e6_1_220"/>
          <p:cNvSpPr txBox="1"/>
          <p:nvPr/>
        </p:nvSpPr>
        <p:spPr>
          <a:xfrm>
            <a:off x="1133856" y="2724912"/>
            <a:ext cx="2331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cxnSp>
        <p:nvCxnSpPr>
          <p:cNvPr id="378" name="Google Shape;378;h4e1cd23050cdd6e6_1_220"/>
          <p:cNvCxnSpPr/>
          <p:nvPr/>
        </p:nvCxnSpPr>
        <p:spPr>
          <a:xfrm>
            <a:off x="1133856" y="3145536"/>
            <a:ext cx="2313300" cy="0"/>
          </a:xfrm>
          <a:prstGeom prst="straightConnector1">
            <a:avLst/>
          </a:prstGeom>
          <a:noFill/>
          <a:ln cap="flat" cmpd="sng" w="19050">
            <a:solidFill>
              <a:srgbClr val="8E989E"/>
            </a:solidFill>
            <a:prstDash val="solid"/>
            <a:miter lim="0"/>
            <a:headEnd len="sm" w="sm" type="none"/>
            <a:tailEnd len="sm" w="sm" type="none"/>
          </a:ln>
        </p:spPr>
      </p:cxnSp>
      <p:sp>
        <p:nvSpPr>
          <p:cNvPr id="379" name="Google Shape;379;h4e1cd23050cdd6e6_1_220"/>
          <p:cNvSpPr/>
          <p:nvPr/>
        </p:nvSpPr>
        <p:spPr>
          <a:xfrm>
            <a:off x="1133856" y="3273552"/>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admission_id</a:t>
            </a:r>
            <a:endParaRPr b="0" i="0" sz="1400" u="none" cap="none" strike="noStrike">
              <a:solidFill>
                <a:srgbClr val="000000"/>
              </a:solidFill>
              <a:latin typeface="Arial"/>
              <a:ea typeface="Arial"/>
              <a:cs typeface="Arial"/>
              <a:sym typeface="Arial"/>
            </a:endParaRPr>
          </a:p>
        </p:txBody>
      </p:sp>
      <p:sp>
        <p:nvSpPr>
          <p:cNvPr id="380" name="Google Shape;380;h4e1cd23050cdd6e6_1_220"/>
          <p:cNvSpPr/>
          <p:nvPr/>
        </p:nvSpPr>
        <p:spPr>
          <a:xfrm>
            <a:off x="1133856" y="3621024"/>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patient_id</a:t>
            </a:r>
            <a:endParaRPr b="0" i="0" sz="1400" u="none" cap="none" strike="noStrike">
              <a:solidFill>
                <a:srgbClr val="000000"/>
              </a:solidFill>
              <a:latin typeface="Arial"/>
              <a:ea typeface="Arial"/>
              <a:cs typeface="Arial"/>
              <a:sym typeface="Arial"/>
            </a:endParaRPr>
          </a:p>
        </p:txBody>
      </p:sp>
      <p:sp>
        <p:nvSpPr>
          <p:cNvPr id="381" name="Google Shape;381;h4e1cd23050cdd6e6_1_220"/>
          <p:cNvSpPr/>
          <p:nvPr/>
        </p:nvSpPr>
        <p:spPr>
          <a:xfrm>
            <a:off x="2697480" y="3273552"/>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PK</a:t>
            </a:r>
            <a:endParaRPr b="0" i="0" sz="1400" u="none" cap="none" strike="noStrike">
              <a:solidFill>
                <a:srgbClr val="000000"/>
              </a:solidFill>
              <a:latin typeface="Arial"/>
              <a:ea typeface="Arial"/>
              <a:cs typeface="Arial"/>
              <a:sym typeface="Arial"/>
            </a:endParaRPr>
          </a:p>
        </p:txBody>
      </p:sp>
      <p:sp>
        <p:nvSpPr>
          <p:cNvPr id="382" name="Google Shape;382;h4e1cd23050cdd6e6_1_220"/>
          <p:cNvSpPr/>
          <p:nvPr/>
        </p:nvSpPr>
        <p:spPr>
          <a:xfrm>
            <a:off x="2697480" y="3621024"/>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FK</a:t>
            </a:r>
            <a:endParaRPr b="0" i="0" sz="1400" u="none" cap="none" strike="noStrike">
              <a:solidFill>
                <a:srgbClr val="000000"/>
              </a:solidFill>
              <a:latin typeface="Arial"/>
              <a:ea typeface="Arial"/>
              <a:cs typeface="Arial"/>
              <a:sym typeface="Arial"/>
            </a:endParaRPr>
          </a:p>
        </p:txBody>
      </p:sp>
      <p:sp>
        <p:nvSpPr>
          <p:cNvPr id="383" name="Google Shape;383;h4e1cd23050cdd6e6_1_220"/>
          <p:cNvSpPr/>
          <p:nvPr/>
        </p:nvSpPr>
        <p:spPr>
          <a:xfrm>
            <a:off x="1133856" y="3968496"/>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BM_DEP</a:t>
            </a:r>
            <a:endParaRPr b="0" i="0" sz="1400" u="none" cap="none" strike="noStrike">
              <a:solidFill>
                <a:srgbClr val="000000"/>
              </a:solidFill>
              <a:latin typeface="Arial"/>
              <a:ea typeface="Arial"/>
              <a:cs typeface="Arial"/>
              <a:sym typeface="Arial"/>
            </a:endParaRPr>
          </a:p>
        </p:txBody>
      </p:sp>
      <p:sp>
        <p:nvSpPr>
          <p:cNvPr id="384" name="Google Shape;384;h4e1cd23050cdd6e6_1_220"/>
          <p:cNvSpPr/>
          <p:nvPr/>
        </p:nvSpPr>
        <p:spPr>
          <a:xfrm>
            <a:off x="2697480" y="3968496"/>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385" name="Google Shape;385;h4e1cd23050cdd6e6_1_220"/>
          <p:cNvSpPr/>
          <p:nvPr/>
        </p:nvSpPr>
        <p:spPr>
          <a:xfrm>
            <a:off x="1133856" y="4315968"/>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ecog_stage</a:t>
            </a:r>
            <a:endParaRPr b="0" i="0" sz="1400" u="none" cap="none" strike="noStrike">
              <a:solidFill>
                <a:srgbClr val="000000"/>
              </a:solidFill>
              <a:latin typeface="Arial"/>
              <a:ea typeface="Arial"/>
              <a:cs typeface="Arial"/>
              <a:sym typeface="Arial"/>
            </a:endParaRPr>
          </a:p>
        </p:txBody>
      </p:sp>
      <p:sp>
        <p:nvSpPr>
          <p:cNvPr id="386" name="Google Shape;386;h4e1cd23050cdd6e6_1_220"/>
          <p:cNvSpPr/>
          <p:nvPr/>
        </p:nvSpPr>
        <p:spPr>
          <a:xfrm>
            <a:off x="2697480" y="4315968"/>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387" name="Google Shape;387;h4e1cd23050cdd6e6_1_220"/>
          <p:cNvSpPr/>
          <p:nvPr/>
        </p:nvSpPr>
        <p:spPr>
          <a:xfrm>
            <a:off x="4983480" y="3200400"/>
            <a:ext cx="6217800" cy="3200400"/>
          </a:xfrm>
          <a:prstGeom prst="roundRect">
            <a:avLst>
              <a:gd fmla="val 9000"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h4e1cd23050cdd6e6_1_220"/>
          <p:cNvSpPr/>
          <p:nvPr/>
        </p:nvSpPr>
        <p:spPr>
          <a:xfrm>
            <a:off x="804672" y="5084064"/>
            <a:ext cx="2971800" cy="14721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9" name="Google Shape;389;h4e1cd23050cdd6e6_1_220"/>
          <p:cNvSpPr/>
          <p:nvPr/>
        </p:nvSpPr>
        <p:spPr>
          <a:xfrm>
            <a:off x="1005840" y="5193792"/>
            <a:ext cx="2606100" cy="1261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0B6E4F"/>
                </a:solidFill>
                <a:latin typeface="Consolas"/>
                <a:ea typeface="Consolas"/>
                <a:cs typeface="Consolas"/>
                <a:sym typeface="Consolas"/>
              </a:rPr>
              <a:t>WHAT THIS ENABLES</a:t>
            </a:r>
            <a:endParaRPr b="1" i="0" sz="1150" u="none" cap="none" strike="noStrike">
              <a:solidFill>
                <a:srgbClr val="0B6E4F"/>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50"/>
              <a:buFont typeface="Arial"/>
              <a:buNone/>
            </a:pPr>
            <a:r>
              <a:t/>
            </a:r>
            <a:endParaRPr b="1" i="0" sz="1150" u="none" cap="none" strike="noStrike">
              <a:solidFill>
                <a:srgbClr val="0B6E4F"/>
              </a:solidFill>
              <a:latin typeface="Consolas"/>
              <a:ea typeface="Consolas"/>
              <a:cs typeface="Consolas"/>
              <a:sym typeface="Consolas"/>
            </a:endParaRPr>
          </a:p>
          <a:p>
            <a:pPr indent="0" lvl="0" marL="0" marR="0" rtl="0" algn="l">
              <a:lnSpc>
                <a:spcPct val="100000"/>
              </a:lnSpc>
              <a:spcBef>
                <a:spcPts val="300"/>
              </a:spcBef>
              <a:spcAft>
                <a:spcPts val="0"/>
              </a:spcAft>
              <a:buClr>
                <a:srgbClr val="000000"/>
              </a:buClr>
              <a:buSzPts val="1400"/>
              <a:buFont typeface="Arial"/>
              <a:buNone/>
            </a:pPr>
            <a:r>
              <a:rPr b="0" i="0" lang="en-US" sz="1400" u="none" cap="none" strike="noStrike">
                <a:solidFill>
                  <a:srgbClr val="1F2328"/>
                </a:solidFill>
                <a:latin typeface="Calibri"/>
                <a:ea typeface="Calibri"/>
                <a:cs typeface="Calibri"/>
                <a:sym typeface="Calibri"/>
              </a:rPr>
              <a:t>Ontology-based data access (OBDA)</a:t>
            </a:r>
            <a:endParaRPr b="0" i="0" sz="1400" u="none" cap="none" strike="noStrike">
              <a:solidFill>
                <a:srgbClr val="1F2328"/>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400"/>
              <a:buFont typeface="Arial"/>
              <a:buNone/>
            </a:pPr>
            <a:r>
              <a:rPr b="0" i="0" lang="en-US" sz="1400" u="none" cap="none" strike="noStrike">
                <a:solidFill>
                  <a:srgbClr val="1F2328"/>
                </a:solidFill>
                <a:latin typeface="Calibri"/>
                <a:ea typeface="Calibri"/>
                <a:cs typeface="Calibri"/>
                <a:sym typeface="Calibri"/>
              </a:rPr>
              <a:t>Knowledge graph population</a:t>
            </a:r>
            <a:endParaRPr b="0" i="0" sz="1400" u="none" cap="none" strike="noStrike">
              <a:solidFill>
                <a:srgbClr val="1F2328"/>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400"/>
              <a:buFont typeface="Arial"/>
              <a:buNone/>
            </a:pPr>
            <a:r>
              <a:rPr b="0" i="0" lang="en-US" sz="1400" u="none" cap="none" strike="noStrike">
                <a:solidFill>
                  <a:srgbClr val="1F2328"/>
                </a:solidFill>
                <a:latin typeface="Calibri"/>
                <a:ea typeface="Calibri"/>
                <a:cs typeface="Calibri"/>
                <a:sym typeface="Calibri"/>
              </a:rPr>
              <a:t>Semantic data integration</a:t>
            </a:r>
            <a:endParaRPr b="0" i="0" sz="1400" u="none" cap="none" strike="noStrike">
              <a:solidFill>
                <a:srgbClr val="1F2328"/>
              </a:solidFill>
              <a:latin typeface="Calibri"/>
              <a:ea typeface="Calibri"/>
              <a:cs typeface="Calibri"/>
              <a:sym typeface="Calibri"/>
            </a:endParaRPr>
          </a:p>
        </p:txBody>
      </p:sp>
      <p:sp>
        <p:nvSpPr>
          <p:cNvPr id="390" name="Google Shape;390;h4e1cd23050cdd6e6_1_220"/>
          <p:cNvSpPr txBox="1"/>
          <p:nvPr/>
        </p:nvSpPr>
        <p:spPr>
          <a:xfrm>
            <a:off x="4983480" y="3264408"/>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Class:</a:t>
            </a:r>
            <a:r>
              <a:rPr b="0" i="0" lang="en-US" sz="1050" u="none" cap="none" strike="noStrike">
                <a:solidFill>
                  <a:srgbClr val="1F2328"/>
                </a:solidFill>
                <a:latin typeface="Consolas"/>
                <a:ea typeface="Consolas"/>
                <a:cs typeface="Consolas"/>
                <a:sym typeface="Consolas"/>
              </a:rPr>
              <a:t> Admission</a:t>
            </a:r>
            <a:endParaRPr b="0" i="0" sz="1050" u="none" cap="none" strike="noStrike">
              <a:solidFill>
                <a:srgbClr val="000000"/>
              </a:solidFill>
              <a:latin typeface="Arial"/>
              <a:ea typeface="Arial"/>
              <a:cs typeface="Arial"/>
              <a:sym typeface="Arial"/>
            </a:endParaRPr>
          </a:p>
        </p:txBody>
      </p:sp>
      <p:sp>
        <p:nvSpPr>
          <p:cNvPr id="391" name="Google Shape;391;h4e1cd23050cdd6e6_1_220"/>
          <p:cNvSpPr txBox="1"/>
          <p:nvPr/>
        </p:nvSpPr>
        <p:spPr>
          <a:xfrm>
            <a:off x="4983480" y="3426112"/>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SubClassOf:</a:t>
            </a:r>
            <a:endParaRPr b="0" i="0" sz="1050" u="none" cap="none" strike="noStrike">
              <a:solidFill>
                <a:srgbClr val="000000"/>
              </a:solidFill>
              <a:latin typeface="Arial"/>
              <a:ea typeface="Arial"/>
              <a:cs typeface="Arial"/>
              <a:sym typeface="Arial"/>
            </a:endParaRPr>
          </a:p>
        </p:txBody>
      </p:sp>
      <p:sp>
        <p:nvSpPr>
          <p:cNvPr id="392" name="Google Shape;392;h4e1cd23050cdd6e6_1_220"/>
          <p:cNvSpPr txBox="1"/>
          <p:nvPr/>
        </p:nvSpPr>
        <p:spPr>
          <a:xfrm>
            <a:off x="4983480" y="3587816"/>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admission_id </a:t>
            </a:r>
            <a:r>
              <a:rPr b="1" i="0" lang="en-US" sz="1050" u="none" cap="none" strike="noStrike">
                <a:solidFill>
                  <a:srgbClr val="0B6E4F"/>
                </a:solidFill>
                <a:latin typeface="Consolas"/>
                <a:ea typeface="Consolas"/>
                <a:cs typeface="Consolas"/>
                <a:sym typeface="Consolas"/>
              </a:rPr>
              <a:t>some</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393" name="Google Shape;393;h4e1cd23050cdd6e6_1_220"/>
          <p:cNvSpPr txBox="1"/>
          <p:nvPr/>
        </p:nvSpPr>
        <p:spPr>
          <a:xfrm>
            <a:off x="4983480" y="3749521"/>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hasPatientData </a:t>
            </a:r>
            <a:r>
              <a:rPr b="1" i="0" lang="en-US" sz="1050" u="none" cap="none" strike="noStrike">
                <a:solidFill>
                  <a:srgbClr val="0B6E4F"/>
                </a:solidFill>
                <a:latin typeface="Consolas"/>
                <a:ea typeface="Consolas"/>
                <a:cs typeface="Consolas"/>
                <a:sym typeface="Consolas"/>
              </a:rPr>
              <a:t>some</a:t>
            </a:r>
            <a:r>
              <a:rPr b="0" i="0" lang="en-US" sz="1050" u="none" cap="none" strike="noStrike">
                <a:solidFill>
                  <a:srgbClr val="1F2328"/>
                </a:solidFill>
                <a:latin typeface="Consolas"/>
                <a:ea typeface="Consolas"/>
                <a:cs typeface="Consolas"/>
                <a:sym typeface="Consolas"/>
              </a:rPr>
              <a:t> PatientData,</a:t>
            </a:r>
            <a:endParaRPr b="0" i="0" sz="1050" u="none" cap="none" strike="noStrike">
              <a:solidFill>
                <a:srgbClr val="000000"/>
              </a:solidFill>
              <a:latin typeface="Arial"/>
              <a:ea typeface="Arial"/>
              <a:cs typeface="Arial"/>
              <a:sym typeface="Arial"/>
            </a:endParaRPr>
          </a:p>
        </p:txBody>
      </p:sp>
      <p:sp>
        <p:nvSpPr>
          <p:cNvPr id="394" name="Google Shape;394;h4e1cd23050cdd6e6_1_220"/>
          <p:cNvSpPr/>
          <p:nvPr/>
        </p:nvSpPr>
        <p:spPr>
          <a:xfrm>
            <a:off x="9399912" y="3749521"/>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schema (foreign key)</a:t>
            </a:r>
            <a:endParaRPr/>
          </a:p>
        </p:txBody>
      </p:sp>
      <p:sp>
        <p:nvSpPr>
          <p:cNvPr id="395" name="Google Shape;395;h4e1cd23050cdd6e6_1_220"/>
          <p:cNvSpPr txBox="1"/>
          <p:nvPr/>
        </p:nvSpPr>
        <p:spPr>
          <a:xfrm>
            <a:off x="4983480" y="3911225"/>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BM_DEP </a:t>
            </a:r>
            <a:r>
              <a:rPr b="1" i="0" lang="en-US" sz="1050" u="none" cap="none" strike="noStrike">
                <a:solidFill>
                  <a:srgbClr val="0B6E4F"/>
                </a:solidFill>
                <a:latin typeface="Consolas"/>
                <a:ea typeface="Consolas"/>
                <a:cs typeface="Consolas"/>
                <a:sym typeface="Consolas"/>
              </a:rPr>
              <a:t>only</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396" name="Google Shape;396;h4e1cd23050cdd6e6_1_220"/>
          <p:cNvSpPr txBox="1"/>
          <p:nvPr/>
        </p:nvSpPr>
        <p:spPr>
          <a:xfrm>
            <a:off x="4983480" y="4072930"/>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ecog_stage </a:t>
            </a:r>
            <a:r>
              <a:rPr b="1" i="0" lang="en-US" sz="1050" u="none" cap="none" strike="noStrike">
                <a:solidFill>
                  <a:srgbClr val="0B6E4F"/>
                </a:solidFill>
                <a:latin typeface="Consolas"/>
                <a:ea typeface="Consolas"/>
                <a:cs typeface="Consolas"/>
                <a:sym typeface="Consolas"/>
              </a:rPr>
              <a:t>only</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6F42C1"/>
                </a:solidFill>
                <a:latin typeface="Consolas"/>
                <a:ea typeface="Consolas"/>
                <a:cs typeface="Consolas"/>
                <a:sym typeface="Consolas"/>
              </a:rPr>
              <a:t>xsd:integer</a:t>
            </a:r>
            <a:endParaRPr b="0" i="0" sz="1050" u="none" cap="none" strike="noStrike">
              <a:solidFill>
                <a:srgbClr val="000000"/>
              </a:solidFill>
              <a:latin typeface="Arial"/>
              <a:ea typeface="Arial"/>
              <a:cs typeface="Arial"/>
              <a:sym typeface="Arial"/>
            </a:endParaRPr>
          </a:p>
        </p:txBody>
      </p:sp>
      <p:sp>
        <p:nvSpPr>
          <p:cNvPr id="397" name="Google Shape;397;h4e1cd23050cdd6e6_1_220"/>
          <p:cNvSpPr txBox="1"/>
          <p:nvPr/>
        </p:nvSpPr>
        <p:spPr>
          <a:xfrm>
            <a:off x="4983480" y="4396338"/>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admission_id</a:t>
            </a:r>
            <a:endParaRPr b="0" i="0" sz="1050" u="none" cap="none" strike="noStrike">
              <a:solidFill>
                <a:srgbClr val="000000"/>
              </a:solidFill>
              <a:latin typeface="Arial"/>
              <a:ea typeface="Arial"/>
              <a:cs typeface="Arial"/>
              <a:sym typeface="Arial"/>
            </a:endParaRPr>
          </a:p>
        </p:txBody>
      </p:sp>
      <p:sp>
        <p:nvSpPr>
          <p:cNvPr id="398" name="Google Shape;398;h4e1cd23050cdd6e6_1_220"/>
          <p:cNvSpPr txBox="1"/>
          <p:nvPr/>
        </p:nvSpPr>
        <p:spPr>
          <a:xfrm>
            <a:off x="4983480" y="4558043"/>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ObjectProperty:</a:t>
            </a:r>
            <a:r>
              <a:rPr b="0" i="0" lang="en-US" sz="1050" u="none" cap="none" strike="noStrike">
                <a:solidFill>
                  <a:srgbClr val="1F2328"/>
                </a:solidFill>
                <a:latin typeface="Consolas"/>
                <a:ea typeface="Consolas"/>
                <a:cs typeface="Consolas"/>
                <a:sym typeface="Consolas"/>
              </a:rPr>
              <a:t> hasPatientData</a:t>
            </a:r>
            <a:endParaRPr b="0" i="0" sz="1050" u="none" cap="none" strike="noStrike">
              <a:solidFill>
                <a:srgbClr val="000000"/>
              </a:solidFill>
              <a:latin typeface="Arial"/>
              <a:ea typeface="Arial"/>
              <a:cs typeface="Arial"/>
              <a:sym typeface="Arial"/>
            </a:endParaRPr>
          </a:p>
        </p:txBody>
      </p:sp>
      <p:sp>
        <p:nvSpPr>
          <p:cNvPr id="399" name="Google Shape;399;h4e1cd23050cdd6e6_1_220"/>
          <p:cNvSpPr/>
          <p:nvPr/>
        </p:nvSpPr>
        <p:spPr>
          <a:xfrm>
            <a:off x="9399912" y="4558043"/>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schema (foreign key)</a:t>
            </a:r>
            <a:endParaRPr/>
          </a:p>
        </p:txBody>
      </p:sp>
      <p:sp>
        <p:nvSpPr>
          <p:cNvPr id="400" name="Google Shape;400;h4e1cd23050cdd6e6_1_220"/>
          <p:cNvSpPr txBox="1"/>
          <p:nvPr/>
        </p:nvSpPr>
        <p:spPr>
          <a:xfrm>
            <a:off x="4983480" y="4719747"/>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BM_DEP</a:t>
            </a:r>
            <a:endParaRPr b="0" i="0" sz="1050" u="none" cap="none" strike="noStrike">
              <a:solidFill>
                <a:srgbClr val="000000"/>
              </a:solidFill>
              <a:latin typeface="Arial"/>
              <a:ea typeface="Arial"/>
              <a:cs typeface="Arial"/>
              <a:sym typeface="Arial"/>
            </a:endParaRPr>
          </a:p>
        </p:txBody>
      </p:sp>
      <p:sp>
        <p:nvSpPr>
          <p:cNvPr id="401" name="Google Shape;401;h4e1cd23050cdd6e6_1_220"/>
          <p:cNvSpPr txBox="1"/>
          <p:nvPr/>
        </p:nvSpPr>
        <p:spPr>
          <a:xfrm>
            <a:off x="4983480" y="4881452"/>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Annotations:</a:t>
            </a:r>
            <a:endParaRPr b="0" i="0" sz="1050" u="none" cap="none" strike="noStrike">
              <a:solidFill>
                <a:srgbClr val="000000"/>
              </a:solidFill>
              <a:latin typeface="Arial"/>
              <a:ea typeface="Arial"/>
              <a:cs typeface="Arial"/>
              <a:sym typeface="Arial"/>
            </a:endParaRPr>
          </a:p>
        </p:txBody>
      </p:sp>
      <p:sp>
        <p:nvSpPr>
          <p:cNvPr id="402" name="Google Shape;402;h4e1cd23050cdd6e6_1_220"/>
          <p:cNvSpPr txBox="1"/>
          <p:nvPr/>
        </p:nvSpPr>
        <p:spPr>
          <a:xfrm>
            <a:off x="4983480" y="5043156"/>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rdfs:label</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A3401E"/>
                </a:solidFill>
                <a:latin typeface="Consolas"/>
                <a:ea typeface="Consolas"/>
                <a:cs typeface="Consolas"/>
                <a:sym typeface="Consolas"/>
              </a:rPr>
              <a:t>"Bone Marrow Depression"@en</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403" name="Google Shape;403;h4e1cd23050cdd6e6_1_220"/>
          <p:cNvSpPr/>
          <p:nvPr/>
        </p:nvSpPr>
        <p:spPr>
          <a:xfrm>
            <a:off x="9399912" y="5043156"/>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2F6B78"/>
                </a:solidFill>
                <a:latin typeface="Calibri"/>
                <a:ea typeface="Calibri"/>
                <a:cs typeface="Calibri"/>
                <a:sym typeface="Calibri"/>
              </a:rPr>
              <a:t>← documentation</a:t>
            </a:r>
            <a:endParaRPr/>
          </a:p>
        </p:txBody>
      </p:sp>
      <p:sp>
        <p:nvSpPr>
          <p:cNvPr id="404" name="Google Shape;404;h4e1cd23050cdd6e6_1_220"/>
          <p:cNvSpPr txBox="1"/>
          <p:nvPr/>
        </p:nvSpPr>
        <p:spPr>
          <a:xfrm>
            <a:off x="4983480" y="5204861"/>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skos:relatedMatch</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2F6B78"/>
                </a:solidFill>
                <a:latin typeface="Consolas"/>
                <a:ea typeface="Consolas"/>
                <a:cs typeface="Consolas"/>
                <a:sym typeface="Consolas"/>
              </a:rPr>
              <a:t>obo:DOID_4961</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405" name="Google Shape;405;h4e1cd23050cdd6e6_1_220"/>
          <p:cNvSpPr/>
          <p:nvPr/>
        </p:nvSpPr>
        <p:spPr>
          <a:xfrm>
            <a:off x="9399912" y="5204861"/>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0B6E4F"/>
                </a:solidFill>
                <a:latin typeface="Calibri"/>
                <a:ea typeface="Calibri"/>
                <a:cs typeface="Calibri"/>
                <a:sym typeface="Calibri"/>
              </a:rPr>
              <a:t>← Disease Ontology</a:t>
            </a:r>
            <a:endParaRPr/>
          </a:p>
        </p:txBody>
      </p:sp>
      <p:sp>
        <p:nvSpPr>
          <p:cNvPr id="406" name="Google Shape;406;h4e1cd23050cdd6e6_1_220"/>
          <p:cNvSpPr txBox="1"/>
          <p:nvPr/>
        </p:nvSpPr>
        <p:spPr>
          <a:xfrm>
            <a:off x="4983480" y="5366565"/>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prov:wasDerivedFrom</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2F6B78"/>
                </a:solidFill>
                <a:latin typeface="Consolas"/>
                <a:ea typeface="Consolas"/>
                <a:cs typeface="Consolas"/>
                <a:sym typeface="Consolas"/>
              </a:rPr>
              <a:t>admission:BM_DEP</a:t>
            </a:r>
            <a:endParaRPr b="0" i="0" sz="1050" u="none" cap="none" strike="noStrike">
              <a:solidFill>
                <a:srgbClr val="000000"/>
              </a:solidFill>
              <a:latin typeface="Arial"/>
              <a:ea typeface="Arial"/>
              <a:cs typeface="Arial"/>
              <a:sym typeface="Arial"/>
            </a:endParaRPr>
          </a:p>
        </p:txBody>
      </p:sp>
      <p:sp>
        <p:nvSpPr>
          <p:cNvPr id="407" name="Google Shape;407;h4e1cd23050cdd6e6_1_220"/>
          <p:cNvSpPr/>
          <p:nvPr/>
        </p:nvSpPr>
        <p:spPr>
          <a:xfrm>
            <a:off x="9399912" y="5366565"/>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source column</a:t>
            </a:r>
            <a:endParaRPr/>
          </a:p>
        </p:txBody>
      </p:sp>
      <p:sp>
        <p:nvSpPr>
          <p:cNvPr id="408" name="Google Shape;408;h4e1cd23050cdd6e6_1_220"/>
          <p:cNvSpPr txBox="1"/>
          <p:nvPr/>
        </p:nvSpPr>
        <p:spPr>
          <a:xfrm>
            <a:off x="4983480" y="5528269"/>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a:t>
            </a:r>
            <a:r>
              <a:rPr b="0" i="0" lang="en-US" sz="1050" u="none" cap="none" strike="noStrike">
                <a:solidFill>
                  <a:srgbClr val="1F2328"/>
                </a:solidFill>
                <a:latin typeface="Consolas"/>
                <a:ea typeface="Consolas"/>
                <a:cs typeface="Consolas"/>
                <a:sym typeface="Consolas"/>
              </a:rPr>
              <a:t> ecog_stage</a:t>
            </a:r>
            <a:endParaRPr b="0" i="0" sz="1050" u="none" cap="none" strike="noStrike">
              <a:solidFill>
                <a:srgbClr val="000000"/>
              </a:solidFill>
              <a:latin typeface="Arial"/>
              <a:ea typeface="Arial"/>
              <a:cs typeface="Arial"/>
              <a:sym typeface="Arial"/>
            </a:endParaRPr>
          </a:p>
        </p:txBody>
      </p:sp>
      <p:sp>
        <p:nvSpPr>
          <p:cNvPr id="409" name="Google Shape;409;h4e1cd23050cdd6e6_1_220"/>
          <p:cNvSpPr txBox="1"/>
          <p:nvPr/>
        </p:nvSpPr>
        <p:spPr>
          <a:xfrm>
            <a:off x="4983480" y="5689974"/>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1" i="0" lang="en-US" sz="1050" u="none" cap="none" strike="noStrike">
                <a:solidFill>
                  <a:srgbClr val="0B6E4F"/>
                </a:solidFill>
                <a:latin typeface="Consolas"/>
                <a:ea typeface="Consolas"/>
                <a:cs typeface="Consolas"/>
                <a:sym typeface="Consolas"/>
              </a:rPr>
              <a:t>Annotations:</a:t>
            </a:r>
            <a:endParaRPr b="0" i="0" sz="1050" u="none" cap="none" strike="noStrike">
              <a:solidFill>
                <a:srgbClr val="000000"/>
              </a:solidFill>
              <a:latin typeface="Arial"/>
              <a:ea typeface="Arial"/>
              <a:cs typeface="Arial"/>
              <a:sym typeface="Arial"/>
            </a:endParaRPr>
          </a:p>
        </p:txBody>
      </p:sp>
      <p:sp>
        <p:nvSpPr>
          <p:cNvPr id="410" name="Google Shape;410;h4e1cd23050cdd6e6_1_220"/>
          <p:cNvSpPr txBox="1"/>
          <p:nvPr/>
        </p:nvSpPr>
        <p:spPr>
          <a:xfrm>
            <a:off x="4983480" y="5851678"/>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rdfs:label</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A3401E"/>
                </a:solidFill>
                <a:latin typeface="Consolas"/>
                <a:ea typeface="Consolas"/>
                <a:cs typeface="Consolas"/>
                <a:sym typeface="Consolas"/>
              </a:rPr>
              <a:t>"ECOG Performance Status"@en</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411" name="Google Shape;411;h4e1cd23050cdd6e6_1_220"/>
          <p:cNvSpPr/>
          <p:nvPr/>
        </p:nvSpPr>
        <p:spPr>
          <a:xfrm>
            <a:off x="9399912" y="5851678"/>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2F6B78"/>
                </a:solidFill>
                <a:latin typeface="Calibri"/>
                <a:ea typeface="Calibri"/>
                <a:cs typeface="Calibri"/>
                <a:sym typeface="Calibri"/>
              </a:rPr>
              <a:t>← documentation</a:t>
            </a:r>
            <a:endParaRPr/>
          </a:p>
        </p:txBody>
      </p:sp>
      <p:sp>
        <p:nvSpPr>
          <p:cNvPr id="412" name="Google Shape;412;h4e1cd23050cdd6e6_1_220"/>
          <p:cNvSpPr txBox="1"/>
          <p:nvPr/>
        </p:nvSpPr>
        <p:spPr>
          <a:xfrm>
            <a:off x="4983480" y="6013383"/>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rdfs:comment</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A3401E"/>
                </a:solidFill>
                <a:latin typeface="Consolas"/>
                <a:ea typeface="Consolas"/>
                <a:cs typeface="Consolas"/>
                <a:sym typeface="Consolas"/>
              </a:rPr>
              <a:t>"0 = fully active … 5 = dead"@en</a:t>
            </a:r>
            <a:r>
              <a:rPr b="0" i="0" lang="en-US" sz="1050" u="none" cap="none" strike="noStrike">
                <a:solidFill>
                  <a:srgbClr val="1F2328"/>
                </a:solidFill>
                <a:latin typeface="Consolas"/>
                <a:ea typeface="Consolas"/>
                <a:cs typeface="Consolas"/>
                <a:sym typeface="Consolas"/>
              </a:rPr>
              <a:t>,</a:t>
            </a:r>
            <a:endParaRPr b="0" i="0" sz="1050" u="none" cap="none" strike="noStrike">
              <a:solidFill>
                <a:srgbClr val="000000"/>
              </a:solidFill>
              <a:latin typeface="Arial"/>
              <a:ea typeface="Arial"/>
              <a:cs typeface="Arial"/>
              <a:sym typeface="Arial"/>
            </a:endParaRPr>
          </a:p>
        </p:txBody>
      </p:sp>
      <p:sp>
        <p:nvSpPr>
          <p:cNvPr id="413" name="Google Shape;413;h4e1cd23050cdd6e6_1_220"/>
          <p:cNvSpPr txBox="1"/>
          <p:nvPr/>
        </p:nvSpPr>
        <p:spPr>
          <a:xfrm>
            <a:off x="4983480" y="6175087"/>
            <a:ext cx="4480500" cy="1617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5B6770"/>
                </a:solidFill>
                <a:latin typeface="Consolas"/>
                <a:ea typeface="Consolas"/>
                <a:cs typeface="Consolas"/>
                <a:sym typeface="Consolas"/>
              </a:rPr>
              <a:t>prov:wasDerivedFrom</a:t>
            </a:r>
            <a:r>
              <a:rPr b="0" i="0" lang="en-US" sz="1050" u="none" cap="none" strike="noStrike">
                <a:solidFill>
                  <a:srgbClr val="1F2328"/>
                </a:solidFill>
                <a:latin typeface="Consolas"/>
                <a:ea typeface="Consolas"/>
                <a:cs typeface="Consolas"/>
                <a:sym typeface="Consolas"/>
              </a:rPr>
              <a:t> </a:t>
            </a:r>
            <a:r>
              <a:rPr b="0" i="0" lang="en-US" sz="1050" u="none" cap="none" strike="noStrike">
                <a:solidFill>
                  <a:srgbClr val="2F6B78"/>
                </a:solidFill>
                <a:latin typeface="Consolas"/>
                <a:ea typeface="Consolas"/>
                <a:cs typeface="Consolas"/>
                <a:sym typeface="Consolas"/>
              </a:rPr>
              <a:t>admission:ecog_stage</a:t>
            </a:r>
            <a:endParaRPr b="0" i="0" sz="1050" u="none" cap="none" strike="noStrike">
              <a:solidFill>
                <a:srgbClr val="000000"/>
              </a:solidFill>
              <a:latin typeface="Arial"/>
              <a:ea typeface="Arial"/>
              <a:cs typeface="Arial"/>
              <a:sym typeface="Arial"/>
            </a:endParaRPr>
          </a:p>
        </p:txBody>
      </p:sp>
      <p:sp>
        <p:nvSpPr>
          <p:cNvPr id="414" name="Google Shape;414;h4e1cd23050cdd6e6_1_220"/>
          <p:cNvSpPr/>
          <p:nvPr/>
        </p:nvSpPr>
        <p:spPr>
          <a:xfrm>
            <a:off x="9399912" y="6175087"/>
            <a:ext cx="1600200" cy="161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000" u="none" cap="none" strike="noStrike">
                <a:solidFill>
                  <a:srgbClr val="5B6770"/>
                </a:solidFill>
                <a:latin typeface="Calibri"/>
                <a:ea typeface="Calibri"/>
                <a:cs typeface="Calibri"/>
                <a:sym typeface="Calibri"/>
              </a:rPr>
              <a:t>← source column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9" name="Shape 419"/>
        <p:cNvGrpSpPr/>
        <p:nvPr/>
      </p:nvGrpSpPr>
      <p:grpSpPr>
        <a:xfrm>
          <a:off x="0" y="0"/>
          <a:ext cx="0" cy="0"/>
          <a:chOff x="0" y="0"/>
          <a:chExt cx="0" cy="0"/>
        </a:xfrm>
      </p:grpSpPr>
      <p:sp>
        <p:nvSpPr>
          <p:cNvPr id="420" name="Google Shape;420;p4"/>
          <p:cNvSpPr txBox="1"/>
          <p:nvPr/>
        </p:nvSpPr>
        <p:spPr>
          <a:xfrm>
            <a:off x="804672" y="521207"/>
            <a:ext cx="106071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THE RESEARCH GAP</a:t>
            </a:r>
            <a:endParaRPr b="0" i="0" sz="1400" u="none" cap="none" strike="noStrike">
              <a:solidFill>
                <a:srgbClr val="000000"/>
              </a:solidFill>
              <a:latin typeface="Arial"/>
              <a:ea typeface="Arial"/>
              <a:cs typeface="Arial"/>
              <a:sym typeface="Arial"/>
            </a:endParaRPr>
          </a:p>
        </p:txBody>
      </p:sp>
      <p:sp>
        <p:nvSpPr>
          <p:cNvPr id="421" name="Google Shape;421;p4"/>
          <p:cNvSpPr txBox="1"/>
          <p:nvPr/>
        </p:nvSpPr>
        <p:spPr>
          <a:xfrm>
            <a:off x="804672" y="960120"/>
            <a:ext cx="10689300" cy="713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Two partial solutions. Neither solves the whole problem.</a:t>
            </a:r>
            <a:endParaRPr b="0" i="0" sz="1400" u="none" cap="none" strike="noStrike">
              <a:solidFill>
                <a:srgbClr val="000000"/>
              </a:solidFill>
              <a:latin typeface="Arial"/>
              <a:ea typeface="Arial"/>
              <a:cs typeface="Arial"/>
              <a:sym typeface="Arial"/>
            </a:endParaRPr>
          </a:p>
        </p:txBody>
      </p:sp>
      <p:sp>
        <p:nvSpPr>
          <p:cNvPr id="422" name="Google Shape;422;p4"/>
          <p:cNvSpPr/>
          <p:nvPr/>
        </p:nvSpPr>
        <p:spPr>
          <a:xfrm>
            <a:off x="804672" y="1920240"/>
            <a:ext cx="5148000" cy="2523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3" name="Google Shape;423;p4"/>
          <p:cNvSpPr/>
          <p:nvPr/>
        </p:nvSpPr>
        <p:spPr>
          <a:xfrm>
            <a:off x="804672" y="1920240"/>
            <a:ext cx="5148000" cy="639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4" name="Google Shape;424;p4"/>
          <p:cNvSpPr txBox="1"/>
          <p:nvPr/>
        </p:nvSpPr>
        <p:spPr>
          <a:xfrm>
            <a:off x="1069848" y="2130552"/>
            <a:ext cx="46542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1" i="0" lang="en-US" sz="1550" u="none" cap="none" strike="noStrike">
                <a:solidFill>
                  <a:srgbClr val="0B6E4F"/>
                </a:solidFill>
                <a:latin typeface="Consolas"/>
                <a:ea typeface="Consolas"/>
                <a:cs typeface="Consolas"/>
                <a:sym typeface="Consolas"/>
              </a:rPr>
              <a:t>SCHEMA-FIRST RULES</a:t>
            </a:r>
            <a:endParaRPr b="0" i="0" sz="1400" u="none" cap="none" strike="noStrike">
              <a:solidFill>
                <a:srgbClr val="000000"/>
              </a:solidFill>
              <a:latin typeface="Arial"/>
              <a:ea typeface="Arial"/>
              <a:cs typeface="Arial"/>
              <a:sym typeface="Arial"/>
            </a:endParaRPr>
          </a:p>
        </p:txBody>
      </p:sp>
      <p:sp>
        <p:nvSpPr>
          <p:cNvPr id="425" name="Google Shape;425;p4"/>
          <p:cNvSpPr txBox="1"/>
          <p:nvPr/>
        </p:nvSpPr>
        <p:spPr>
          <a:xfrm>
            <a:off x="1069848" y="2587752"/>
            <a:ext cx="4645200" cy="32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Preserve the structure</a:t>
            </a:r>
            <a:endParaRPr b="0" i="0" sz="1400" u="none" cap="none" strike="noStrike">
              <a:solidFill>
                <a:srgbClr val="000000"/>
              </a:solidFill>
              <a:latin typeface="Arial"/>
              <a:ea typeface="Arial"/>
              <a:cs typeface="Arial"/>
              <a:sym typeface="Arial"/>
            </a:endParaRPr>
          </a:p>
        </p:txBody>
      </p:sp>
      <p:sp>
        <p:nvSpPr>
          <p:cNvPr id="426" name="Google Shape;426;p4"/>
          <p:cNvSpPr txBox="1"/>
          <p:nvPr/>
        </p:nvSpPr>
        <p:spPr>
          <a:xfrm>
            <a:off x="1069848" y="3072384"/>
            <a:ext cx="4526400" cy="539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F2328"/>
                </a:solidFill>
                <a:latin typeface="Calibri"/>
                <a:ea typeface="Calibri"/>
                <a:cs typeface="Calibri"/>
                <a:sym typeface="Calibri"/>
              </a:rPr>
              <a:t>Tables, columns and foreign keys can be mapped systematically.</a:t>
            </a:r>
            <a:endParaRPr b="0" i="0" sz="1400" u="none" cap="none" strike="noStrike">
              <a:solidFill>
                <a:srgbClr val="000000"/>
              </a:solidFill>
              <a:latin typeface="Arial"/>
              <a:ea typeface="Arial"/>
              <a:cs typeface="Arial"/>
              <a:sym typeface="Arial"/>
            </a:endParaRPr>
          </a:p>
        </p:txBody>
      </p:sp>
      <p:sp>
        <p:nvSpPr>
          <p:cNvPr id="427" name="Google Shape;427;p4"/>
          <p:cNvSpPr txBox="1"/>
          <p:nvPr/>
        </p:nvSpPr>
        <p:spPr>
          <a:xfrm>
            <a:off x="1069848" y="3895344"/>
            <a:ext cx="46176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B6770"/>
                </a:solidFill>
                <a:latin typeface="Calibri"/>
                <a:ea typeface="Calibri"/>
                <a:cs typeface="Calibri"/>
                <a:sym typeface="Calibri"/>
              </a:rPr>
              <a:t>But implicit </a:t>
            </a:r>
            <a:r>
              <a:rPr b="1" i="0" lang="en-US" sz="1600" u="none" cap="none" strike="noStrike">
                <a:solidFill>
                  <a:srgbClr val="5B6770"/>
                </a:solidFill>
                <a:latin typeface="Calibri"/>
                <a:ea typeface="Calibri"/>
                <a:cs typeface="Calibri"/>
                <a:sym typeface="Calibri"/>
              </a:rPr>
              <a:t>domain semantics</a:t>
            </a:r>
            <a:r>
              <a:rPr b="0" i="0" lang="en-US" sz="1600" u="none" cap="none" strike="noStrike">
                <a:solidFill>
                  <a:srgbClr val="5B6770"/>
                </a:solidFill>
                <a:latin typeface="Calibri"/>
                <a:ea typeface="Calibri"/>
                <a:cs typeface="Calibri"/>
                <a:sym typeface="Calibri"/>
              </a:rPr>
              <a:t> remain </a:t>
            </a:r>
            <a:r>
              <a:rPr b="1" i="0" lang="en-US" sz="1600" u="none" cap="none" strike="noStrike">
                <a:solidFill>
                  <a:srgbClr val="5B6770"/>
                </a:solidFill>
                <a:latin typeface="Calibri"/>
                <a:ea typeface="Calibri"/>
                <a:cs typeface="Calibri"/>
                <a:sym typeface="Calibri"/>
              </a:rPr>
              <a:t>missing</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428" name="Google Shape;428;p4"/>
          <p:cNvSpPr/>
          <p:nvPr/>
        </p:nvSpPr>
        <p:spPr>
          <a:xfrm>
            <a:off x="6208776" y="1920240"/>
            <a:ext cx="5184600" cy="2523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9" name="Google Shape;429;p4"/>
          <p:cNvSpPr/>
          <p:nvPr/>
        </p:nvSpPr>
        <p:spPr>
          <a:xfrm>
            <a:off x="6208776" y="1920240"/>
            <a:ext cx="5184600" cy="63900"/>
          </a:xfrm>
          <a:prstGeom prst="rect">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0" name="Google Shape;430;p4"/>
          <p:cNvSpPr txBox="1"/>
          <p:nvPr/>
        </p:nvSpPr>
        <p:spPr>
          <a:xfrm>
            <a:off x="6473952" y="2130552"/>
            <a:ext cx="46452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1" i="0" lang="en-US" sz="1550" u="none" cap="none" strike="noStrike">
                <a:solidFill>
                  <a:srgbClr val="2F6B78"/>
                </a:solidFill>
                <a:latin typeface="Consolas"/>
                <a:ea typeface="Consolas"/>
                <a:cs typeface="Consolas"/>
                <a:sym typeface="Consolas"/>
              </a:rPr>
              <a:t>LLM-FIRST GENERATION</a:t>
            </a:r>
            <a:endParaRPr b="0" i="0" sz="1400" u="none" cap="none" strike="noStrike">
              <a:solidFill>
                <a:srgbClr val="000000"/>
              </a:solidFill>
              <a:latin typeface="Arial"/>
              <a:ea typeface="Arial"/>
              <a:cs typeface="Arial"/>
              <a:sym typeface="Arial"/>
            </a:endParaRPr>
          </a:p>
        </p:txBody>
      </p:sp>
      <p:sp>
        <p:nvSpPr>
          <p:cNvPr id="431" name="Google Shape;431;p4"/>
          <p:cNvSpPr txBox="1"/>
          <p:nvPr/>
        </p:nvSpPr>
        <p:spPr>
          <a:xfrm>
            <a:off x="6473952" y="2587752"/>
            <a:ext cx="4608600" cy="32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Suggest the meaning</a:t>
            </a:r>
            <a:endParaRPr b="0" i="0" sz="1400" u="none" cap="none" strike="noStrike">
              <a:solidFill>
                <a:srgbClr val="000000"/>
              </a:solidFill>
              <a:latin typeface="Arial"/>
              <a:ea typeface="Arial"/>
              <a:cs typeface="Arial"/>
              <a:sym typeface="Arial"/>
            </a:endParaRPr>
          </a:p>
        </p:txBody>
      </p:sp>
      <p:sp>
        <p:nvSpPr>
          <p:cNvPr id="432" name="Google Shape;432;p4"/>
          <p:cNvSpPr txBox="1"/>
          <p:nvPr/>
        </p:nvSpPr>
        <p:spPr>
          <a:xfrm>
            <a:off x="6473952" y="3072384"/>
            <a:ext cx="4553700" cy="539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F2328"/>
                </a:solidFill>
                <a:latin typeface="Calibri"/>
                <a:ea typeface="Calibri"/>
                <a:cs typeface="Calibri"/>
                <a:sym typeface="Calibri"/>
              </a:rPr>
              <a:t>Labels, concepts and plausible relationships can be proposed.</a:t>
            </a:r>
            <a:endParaRPr b="0" i="0" sz="1400" u="none" cap="none" strike="noStrike">
              <a:solidFill>
                <a:srgbClr val="000000"/>
              </a:solidFill>
              <a:latin typeface="Arial"/>
              <a:ea typeface="Arial"/>
              <a:cs typeface="Arial"/>
              <a:sym typeface="Arial"/>
            </a:endParaRPr>
          </a:p>
        </p:txBody>
      </p:sp>
      <p:sp>
        <p:nvSpPr>
          <p:cNvPr id="433" name="Google Shape;433;p4"/>
          <p:cNvSpPr txBox="1"/>
          <p:nvPr/>
        </p:nvSpPr>
        <p:spPr>
          <a:xfrm>
            <a:off x="6473952" y="3895344"/>
            <a:ext cx="46635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B6770"/>
                </a:solidFill>
                <a:latin typeface="Calibri"/>
                <a:ea typeface="Calibri"/>
                <a:cs typeface="Calibri"/>
                <a:sym typeface="Calibri"/>
              </a:rPr>
              <a:t>But elements may be </a:t>
            </a:r>
            <a:r>
              <a:rPr b="1" i="0" lang="en-US" sz="1600" u="none" cap="none" strike="noStrike">
                <a:solidFill>
                  <a:srgbClr val="5B6770"/>
                </a:solidFill>
                <a:latin typeface="Calibri"/>
                <a:ea typeface="Calibri"/>
                <a:cs typeface="Calibri"/>
                <a:sym typeface="Calibri"/>
              </a:rPr>
              <a:t>omitted</a:t>
            </a:r>
            <a:r>
              <a:rPr b="0" i="0" lang="en-US" sz="1600" u="none" cap="none" strike="noStrike">
                <a:solidFill>
                  <a:srgbClr val="5B6770"/>
                </a:solidFill>
                <a:latin typeface="Calibri"/>
                <a:ea typeface="Calibri"/>
                <a:cs typeface="Calibri"/>
                <a:sym typeface="Calibri"/>
              </a:rPr>
              <a:t> or modeled incorrectly.</a:t>
            </a:r>
            <a:endParaRPr b="0" i="0" sz="1400" u="none" cap="none" strike="noStrike">
              <a:solidFill>
                <a:srgbClr val="000000"/>
              </a:solidFill>
              <a:latin typeface="Arial"/>
              <a:ea typeface="Arial"/>
              <a:cs typeface="Arial"/>
              <a:sym typeface="Arial"/>
            </a:endParaRPr>
          </a:p>
        </p:txBody>
      </p:sp>
      <p:sp>
        <p:nvSpPr>
          <p:cNvPr id="434" name="Google Shape;434;p4"/>
          <p:cNvSpPr/>
          <p:nvPr/>
        </p:nvSpPr>
        <p:spPr>
          <a:xfrm>
            <a:off x="813785" y="5405605"/>
            <a:ext cx="10588800" cy="960000"/>
          </a:xfrm>
          <a:prstGeom prst="roundRect">
            <a:avLst>
              <a:gd fmla="val 10000" name="adj"/>
            </a:avLst>
          </a:prstGeom>
          <a:solidFill>
            <a:srgbClr val="E6F2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5" name="Google Shape;435;p4"/>
          <p:cNvSpPr txBox="1"/>
          <p:nvPr/>
        </p:nvSpPr>
        <p:spPr>
          <a:xfrm>
            <a:off x="1078972" y="5778499"/>
            <a:ext cx="2039100" cy="238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1" i="0" lang="en-US" sz="1550" u="none" cap="none" strike="noStrike">
                <a:solidFill>
                  <a:srgbClr val="0B6E4F"/>
                </a:solidFill>
                <a:latin typeface="Consolas"/>
                <a:ea typeface="Consolas"/>
                <a:cs typeface="Consolas"/>
                <a:sym typeface="Consolas"/>
              </a:rPr>
              <a:t>OUR QUESTION</a:t>
            </a:r>
            <a:endParaRPr b="0" i="0" sz="1400" u="none" cap="none" strike="noStrike">
              <a:solidFill>
                <a:srgbClr val="000000"/>
              </a:solidFill>
              <a:latin typeface="Arial"/>
              <a:ea typeface="Arial"/>
              <a:cs typeface="Arial"/>
              <a:sym typeface="Arial"/>
            </a:endParaRPr>
          </a:p>
        </p:txBody>
      </p:sp>
      <p:sp>
        <p:nvSpPr>
          <p:cNvPr id="436" name="Google Shape;436;p4"/>
          <p:cNvSpPr txBox="1"/>
          <p:nvPr/>
        </p:nvSpPr>
        <p:spPr>
          <a:xfrm>
            <a:off x="2935230" y="5747064"/>
            <a:ext cx="8156400" cy="277200"/>
          </a:xfrm>
          <a:prstGeom prst="rect">
            <a:avLst/>
          </a:prstGeom>
          <a:noFill/>
          <a:ln>
            <a:noFill/>
          </a:ln>
        </p:spPr>
        <p:txBody>
          <a:bodyPr anchorCtr="0" anchor="ctr" bIns="0" lIns="0" spcFirstLastPara="1" rIns="0" wrap="square" tIns="0">
            <a:spAutoFit/>
          </a:bodyPr>
          <a:lstStyle/>
          <a:p>
            <a:pPr indent="0" lvl="0" marL="0" marR="0" rtl="0" algn="l">
              <a:lnSpc>
                <a:spcPct val="107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Can we preserve schema fidelity </a:t>
            </a:r>
            <a:r>
              <a:rPr b="1" i="0" lang="en-US" sz="1800" u="none" cap="none" strike="noStrike">
                <a:solidFill>
                  <a:srgbClr val="0B6E4F"/>
                </a:solidFill>
                <a:latin typeface="Calibri"/>
                <a:ea typeface="Calibri"/>
                <a:cs typeface="Calibri"/>
                <a:sym typeface="Calibri"/>
              </a:rPr>
              <a:t>and</a:t>
            </a:r>
            <a:r>
              <a:rPr b="1" i="0" lang="en-US" sz="1800" u="none" cap="none" strike="noStrike">
                <a:solidFill>
                  <a:srgbClr val="1F2328"/>
                </a:solidFill>
                <a:latin typeface="Calibri"/>
                <a:ea typeface="Calibri"/>
                <a:cs typeface="Calibri"/>
                <a:sym typeface="Calibri"/>
              </a:rPr>
              <a:t> add domain semantics</a:t>
            </a:r>
            <a:r>
              <a:rPr b="1" lang="en-US" sz="1800">
                <a:solidFill>
                  <a:srgbClr val="1F2328"/>
                </a:solidFill>
                <a:latin typeface="Calibri"/>
                <a:ea typeface="Calibri"/>
                <a:cs typeface="Calibri"/>
                <a:sym typeface="Calibri"/>
              </a:rPr>
              <a:t> </a:t>
            </a:r>
            <a:r>
              <a:rPr b="1" i="0" lang="en-US" sz="1800" u="none" cap="none" strike="noStrike">
                <a:solidFill>
                  <a:srgbClr val="1F2328"/>
                </a:solidFill>
                <a:latin typeface="Calibri"/>
                <a:ea typeface="Calibri"/>
                <a:cs typeface="Calibri"/>
                <a:sym typeface="Calibri"/>
              </a:rPr>
              <a:t>across the full database?</a:t>
            </a:r>
            <a:endParaRPr b="0" i="0" sz="1400" u="none" cap="none" strike="noStrike">
              <a:solidFill>
                <a:srgbClr val="000000"/>
              </a:solidFill>
              <a:latin typeface="Arial"/>
              <a:ea typeface="Arial"/>
              <a:cs typeface="Arial"/>
              <a:sym typeface="Arial"/>
            </a:endParaRPr>
          </a:p>
        </p:txBody>
      </p:sp>
      <p:sp>
        <p:nvSpPr>
          <p:cNvPr id="437" name="Google Shape;437;p4"/>
          <p:cNvSpPr/>
          <p:nvPr/>
        </p:nvSpPr>
        <p:spPr>
          <a:xfrm>
            <a:off x="959083" y="4526280"/>
            <a:ext cx="50748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00" u="none" cap="none" strike="noStrike">
                <a:solidFill>
                  <a:srgbClr val="5B6770"/>
                </a:solidFill>
                <a:latin typeface="Calibri"/>
                <a:ea typeface="Calibri"/>
                <a:cs typeface="Calibri"/>
                <a:sym typeface="Calibri"/>
              </a:rPr>
              <a:t>W3C Direct Mapping</a:t>
            </a:r>
            <a:r>
              <a:rPr b="0" i="0" lang="en-US" sz="1000" u="none" cap="none" strike="noStrike">
                <a:solidFill>
                  <a:srgbClr val="5B6770"/>
                </a:solidFill>
                <a:latin typeface="Calibri"/>
                <a:ea typeface="Calibri"/>
                <a:cs typeface="Calibri"/>
                <a:sym typeface="Calibri"/>
              </a:rPr>
              <a:t> [Arenas et al. 2012; Sequeda et al. 2012]  ·  </a:t>
            </a:r>
            <a:r>
              <a:rPr b="1" i="0" lang="en-US" sz="1000" u="none" cap="none" strike="noStrike">
                <a:solidFill>
                  <a:srgbClr val="5B6770"/>
                </a:solidFill>
                <a:latin typeface="Calibri"/>
                <a:ea typeface="Calibri"/>
                <a:cs typeface="Calibri"/>
                <a:sym typeface="Calibri"/>
              </a:rPr>
              <a:t>BootOX</a:t>
            </a:r>
            <a:r>
              <a:rPr b="0" i="0" lang="en-US" sz="1000" u="none" cap="none" strike="noStrike">
                <a:solidFill>
                  <a:srgbClr val="5B6770"/>
                </a:solidFill>
                <a:latin typeface="Calibri"/>
                <a:ea typeface="Calibri"/>
                <a:cs typeface="Calibri"/>
                <a:sym typeface="Calibri"/>
              </a:rPr>
              <a:t> [Jiménez‑Ruiz et al., ISWC 2015]  ·  </a:t>
            </a:r>
            <a:r>
              <a:rPr b="1" i="0" lang="en-US" sz="1000" u="none" cap="none" strike="noStrike">
                <a:solidFill>
                  <a:srgbClr val="5B6770"/>
                </a:solidFill>
                <a:latin typeface="Calibri"/>
                <a:ea typeface="Calibri"/>
                <a:cs typeface="Calibri"/>
                <a:sym typeface="Calibri"/>
              </a:rPr>
              <a:t>Ben Mahria et al.</a:t>
            </a:r>
            <a:r>
              <a:rPr b="0" i="0" lang="en-US" sz="1000" u="none" cap="none" strike="noStrike">
                <a:solidFill>
                  <a:srgbClr val="5B6770"/>
                </a:solidFill>
                <a:latin typeface="Calibri"/>
                <a:ea typeface="Calibri"/>
                <a:cs typeface="Calibri"/>
                <a:sym typeface="Calibri"/>
              </a:rPr>
              <a:t> [J. Big Data 2021]  </a:t>
            </a:r>
            <a:endParaRPr/>
          </a:p>
        </p:txBody>
      </p:sp>
      <p:sp>
        <p:nvSpPr>
          <p:cNvPr id="438" name="Google Shape;438;p4"/>
          <p:cNvSpPr/>
          <p:nvPr/>
        </p:nvSpPr>
        <p:spPr>
          <a:xfrm>
            <a:off x="6363187" y="4526280"/>
            <a:ext cx="5111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00" u="none" cap="none" strike="noStrike">
                <a:solidFill>
                  <a:srgbClr val="5B6770"/>
                </a:solidFill>
                <a:latin typeface="Calibri"/>
                <a:ea typeface="Calibri"/>
                <a:cs typeface="Calibri"/>
                <a:sym typeface="Calibri"/>
              </a:rPr>
              <a:t>LLMs4OL</a:t>
            </a:r>
            <a:r>
              <a:rPr b="0" i="0" lang="en-US" sz="1000" u="none" cap="none" strike="noStrike">
                <a:solidFill>
                  <a:srgbClr val="5B6770"/>
                </a:solidFill>
                <a:latin typeface="Calibri"/>
                <a:ea typeface="Calibri"/>
                <a:cs typeface="Calibri"/>
                <a:sym typeface="Calibri"/>
              </a:rPr>
              <a:t> [Babaei Giglou et al., ISWC 2023]  ·  </a:t>
            </a:r>
            <a:r>
              <a:rPr b="1" i="0" lang="en-US" sz="1000" u="none" cap="none" strike="noStrike">
                <a:solidFill>
                  <a:srgbClr val="5B6770"/>
                </a:solidFill>
                <a:latin typeface="Calibri"/>
                <a:ea typeface="Calibri"/>
                <a:cs typeface="Calibri"/>
                <a:sym typeface="Calibri"/>
              </a:rPr>
              <a:t>Mateiu &amp; Groza</a:t>
            </a:r>
            <a:r>
              <a:rPr b="0" i="0" lang="en-US" sz="1000" u="none" cap="none" strike="noStrike">
                <a:solidFill>
                  <a:srgbClr val="5B6770"/>
                </a:solidFill>
                <a:latin typeface="Calibri"/>
                <a:ea typeface="Calibri"/>
                <a:cs typeface="Calibri"/>
                <a:sym typeface="Calibri"/>
              </a:rPr>
              <a:t> [SYNASC 2023]  ·  </a:t>
            </a:r>
            <a:r>
              <a:rPr b="1" i="0" lang="en-US" sz="1000" u="none" cap="none" strike="noStrike">
                <a:solidFill>
                  <a:srgbClr val="5B6770"/>
                </a:solidFill>
                <a:latin typeface="Calibri"/>
                <a:ea typeface="Calibri"/>
                <a:cs typeface="Calibri"/>
                <a:sym typeface="Calibri"/>
              </a:rPr>
              <a:t>OntoGenix</a:t>
            </a:r>
            <a:r>
              <a:rPr b="0" i="0" lang="en-US" sz="1000" u="none" cap="none" strike="noStrike">
                <a:solidFill>
                  <a:srgbClr val="5B6770"/>
                </a:solidFill>
                <a:latin typeface="Calibri"/>
                <a:ea typeface="Calibri"/>
                <a:cs typeface="Calibri"/>
                <a:sym typeface="Calibri"/>
              </a:rPr>
              <a:t> [Val‑Calvo et al., IP&amp;M 2025]  ·  </a:t>
            </a:r>
            <a:r>
              <a:rPr b="1" i="0" lang="en-US" sz="1000" u="none" cap="none" strike="noStrike">
                <a:solidFill>
                  <a:srgbClr val="5B6770"/>
                </a:solidFill>
                <a:latin typeface="Calibri"/>
                <a:ea typeface="Calibri"/>
                <a:cs typeface="Calibri"/>
                <a:sym typeface="Calibri"/>
              </a:rPr>
              <a:t>LLM4VKG</a:t>
            </a:r>
            <a:r>
              <a:rPr b="0" i="0" lang="en-US" sz="1000" u="none" cap="none" strike="noStrike">
                <a:solidFill>
                  <a:srgbClr val="5B6770"/>
                </a:solidFill>
                <a:latin typeface="Calibri"/>
                <a:ea typeface="Calibri"/>
                <a:cs typeface="Calibri"/>
                <a:sym typeface="Calibri"/>
              </a:rPr>
              <a:t> [Xiao et al., IJCAI 2025]</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3" name="Shape 443"/>
        <p:cNvGrpSpPr/>
        <p:nvPr/>
      </p:nvGrpSpPr>
      <p:grpSpPr>
        <a:xfrm>
          <a:off x="0" y="0"/>
          <a:ext cx="0" cy="0"/>
          <a:chOff x="0" y="0"/>
          <a:chExt cx="0" cy="0"/>
        </a:xfrm>
      </p:grpSpPr>
      <p:sp>
        <p:nvSpPr>
          <p:cNvPr id="444" name="Google Shape;444;p5"/>
          <p:cNvSpPr txBox="1"/>
          <p:nvPr/>
        </p:nvSpPr>
        <p:spPr>
          <a:xfrm>
            <a:off x="822960" y="521207"/>
            <a:ext cx="107898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OUR ANSWER  /  RIGOR</a:t>
            </a:r>
            <a:endParaRPr b="0" i="0" sz="1400" u="none" cap="none" strike="noStrike">
              <a:solidFill>
                <a:srgbClr val="000000"/>
              </a:solidFill>
              <a:latin typeface="Arial"/>
              <a:ea typeface="Arial"/>
              <a:cs typeface="Arial"/>
              <a:sym typeface="Arial"/>
            </a:endParaRPr>
          </a:p>
        </p:txBody>
      </p:sp>
      <p:sp>
        <p:nvSpPr>
          <p:cNvPr id="445" name="Google Shape;445;p5"/>
          <p:cNvSpPr txBox="1"/>
          <p:nvPr/>
        </p:nvSpPr>
        <p:spPr>
          <a:xfrm>
            <a:off x="804672" y="978408"/>
            <a:ext cx="10625400" cy="667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Build the ontology one table at a time.</a:t>
            </a:r>
            <a:endParaRPr b="0" i="0" sz="1400" u="none" cap="none" strike="noStrike">
              <a:solidFill>
                <a:srgbClr val="000000"/>
              </a:solidFill>
              <a:latin typeface="Arial"/>
              <a:ea typeface="Arial"/>
              <a:cs typeface="Arial"/>
              <a:sym typeface="Arial"/>
            </a:endParaRPr>
          </a:p>
        </p:txBody>
      </p:sp>
      <p:sp>
        <p:nvSpPr>
          <p:cNvPr id="446" name="Google Shape;446;p5"/>
          <p:cNvSpPr txBox="1"/>
          <p:nvPr/>
        </p:nvSpPr>
        <p:spPr>
          <a:xfrm>
            <a:off x="804672" y="1673352"/>
            <a:ext cx="10634400" cy="429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3A434C"/>
                </a:solidFill>
                <a:latin typeface="Calibri"/>
                <a:ea typeface="Calibri"/>
                <a:cs typeface="Calibri"/>
                <a:sym typeface="Calibri"/>
              </a:rPr>
              <a:t>We will construct the answer to our admission example, together.</a:t>
            </a:r>
            <a:endParaRPr b="0" i="0" sz="1400" u="none" cap="none" strike="noStrike">
              <a:solidFill>
                <a:srgbClr val="000000"/>
              </a:solidFill>
              <a:latin typeface="Arial"/>
              <a:ea typeface="Arial"/>
              <a:cs typeface="Arial"/>
              <a:sym typeface="Arial"/>
            </a:endParaRPr>
          </a:p>
        </p:txBody>
      </p:sp>
      <p:sp>
        <p:nvSpPr>
          <p:cNvPr id="447" name="Google Shape;447;p5"/>
          <p:cNvSpPr/>
          <p:nvPr/>
        </p:nvSpPr>
        <p:spPr>
          <a:xfrm>
            <a:off x="813825" y="2178050"/>
            <a:ext cx="3026700" cy="27945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8" name="Google Shape;448;p5"/>
          <p:cNvSpPr txBox="1"/>
          <p:nvPr/>
        </p:nvSpPr>
        <p:spPr>
          <a:xfrm>
            <a:off x="1033279" y="2437210"/>
            <a:ext cx="2606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5B6770"/>
                </a:solidFill>
                <a:latin typeface="Consolas"/>
                <a:ea typeface="Consolas"/>
                <a:cs typeface="Consolas"/>
                <a:sym typeface="Consolas"/>
              </a:rPr>
              <a:t>WHAT WE HAVE</a:t>
            </a:r>
            <a:endParaRPr b="0" i="0" sz="1400" u="none" cap="none" strike="noStrike">
              <a:solidFill>
                <a:srgbClr val="000000"/>
              </a:solidFill>
              <a:latin typeface="Arial"/>
              <a:ea typeface="Arial"/>
              <a:cs typeface="Arial"/>
              <a:sym typeface="Arial"/>
            </a:endParaRPr>
          </a:p>
        </p:txBody>
      </p:sp>
      <p:sp>
        <p:nvSpPr>
          <p:cNvPr id="449" name="Google Shape;449;p5"/>
          <p:cNvSpPr/>
          <p:nvPr/>
        </p:nvSpPr>
        <p:spPr>
          <a:xfrm>
            <a:off x="4123944" y="3282696"/>
            <a:ext cx="557700" cy="457200"/>
          </a:xfrm>
          <a:prstGeom prst="rightArrow">
            <a:avLst>
              <a:gd fmla="val 50000" name="adj1"/>
              <a:gd fmla="val 50000" name="adj2"/>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0" name="Google Shape;450;p5"/>
          <p:cNvSpPr/>
          <p:nvPr/>
        </p:nvSpPr>
        <p:spPr>
          <a:xfrm>
            <a:off x="5020050" y="2178050"/>
            <a:ext cx="6391800" cy="2794500"/>
          </a:xfrm>
          <a:prstGeom prst="roundRect">
            <a:avLst>
              <a:gd fmla="val 10000" name="adj"/>
            </a:avLst>
          </a:prstGeom>
          <a:solidFill>
            <a:srgbClr val="F3F5F4"/>
          </a:solidFill>
          <a:ln cap="flat" cmpd="sng" w="15225">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1" name="Google Shape;451;p5"/>
          <p:cNvSpPr txBox="1"/>
          <p:nvPr/>
        </p:nvSpPr>
        <p:spPr>
          <a:xfrm>
            <a:off x="5257800" y="2400150"/>
            <a:ext cx="5843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WHAT WE WANT</a:t>
            </a:r>
            <a:endParaRPr b="0" i="0" sz="1400" u="none" cap="none" strike="noStrike">
              <a:solidFill>
                <a:srgbClr val="000000"/>
              </a:solidFill>
              <a:latin typeface="Arial"/>
              <a:ea typeface="Arial"/>
              <a:cs typeface="Arial"/>
              <a:sym typeface="Arial"/>
            </a:endParaRPr>
          </a:p>
        </p:txBody>
      </p:sp>
      <p:sp>
        <p:nvSpPr>
          <p:cNvPr id="452" name="Google Shape;452;p5"/>
          <p:cNvSpPr/>
          <p:nvPr/>
        </p:nvSpPr>
        <p:spPr>
          <a:xfrm>
            <a:off x="5266944" y="3063240"/>
            <a:ext cx="2157900" cy="493800"/>
          </a:xfrm>
          <a:prstGeom prst="roundRect">
            <a:avLst>
              <a:gd fmla="val 10000" name="adj"/>
            </a:avLst>
          </a:prstGeom>
          <a:solidFill>
            <a:srgbClr val="E9EEEB"/>
          </a:solidFill>
          <a:ln cap="flat" cmpd="sng" w="127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3" name="Google Shape;453;p5"/>
          <p:cNvSpPr txBox="1"/>
          <p:nvPr/>
        </p:nvSpPr>
        <p:spPr>
          <a:xfrm>
            <a:off x="5468112" y="3182112"/>
            <a:ext cx="1783200" cy="219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454" name="Google Shape;454;p5"/>
          <p:cNvSpPr/>
          <p:nvPr/>
        </p:nvSpPr>
        <p:spPr>
          <a:xfrm>
            <a:off x="9189720" y="3063240"/>
            <a:ext cx="1938600" cy="493800"/>
          </a:xfrm>
          <a:prstGeom prst="roundRect">
            <a:avLst>
              <a:gd fmla="val 10000" name="adj"/>
            </a:avLst>
          </a:prstGeom>
          <a:solidFill>
            <a:srgbClr val="E9EEEB"/>
          </a:solidFill>
          <a:ln cap="flat" cmpd="sng" w="127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5" name="Google Shape;455;p5"/>
          <p:cNvSpPr txBox="1"/>
          <p:nvPr/>
        </p:nvSpPr>
        <p:spPr>
          <a:xfrm>
            <a:off x="9317736" y="3182112"/>
            <a:ext cx="1682400" cy="219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cxnSp>
        <p:nvCxnSpPr>
          <p:cNvPr id="456" name="Google Shape;456;p5"/>
          <p:cNvCxnSpPr/>
          <p:nvPr/>
        </p:nvCxnSpPr>
        <p:spPr>
          <a:xfrm>
            <a:off x="7452360" y="3310128"/>
            <a:ext cx="1664100" cy="0"/>
          </a:xfrm>
          <a:prstGeom prst="straightConnector1">
            <a:avLst/>
          </a:prstGeom>
          <a:noFill/>
          <a:ln cap="flat" cmpd="sng" w="30475">
            <a:solidFill>
              <a:srgbClr val="0B6E4F"/>
            </a:solidFill>
            <a:prstDash val="solid"/>
            <a:miter lim="80"/>
            <a:headEnd len="sm" w="sm" type="none"/>
            <a:tailEnd len="med" w="med" type="triangle"/>
          </a:ln>
        </p:spPr>
      </p:cxnSp>
      <p:sp>
        <p:nvSpPr>
          <p:cNvPr id="457" name="Google Shape;457;p5"/>
          <p:cNvSpPr txBox="1"/>
          <p:nvPr/>
        </p:nvSpPr>
        <p:spPr>
          <a:xfrm>
            <a:off x="7579313" y="2980944"/>
            <a:ext cx="18105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hasPatientData</a:t>
            </a:r>
            <a:endParaRPr b="0" i="0" sz="1400" u="none" cap="none" strike="noStrike">
              <a:solidFill>
                <a:srgbClr val="000000"/>
              </a:solidFill>
              <a:latin typeface="Arial"/>
              <a:ea typeface="Arial"/>
              <a:cs typeface="Arial"/>
              <a:sym typeface="Arial"/>
            </a:endParaRPr>
          </a:p>
        </p:txBody>
      </p:sp>
      <p:sp>
        <p:nvSpPr>
          <p:cNvPr id="458" name="Google Shape;458;p5"/>
          <p:cNvSpPr txBox="1"/>
          <p:nvPr/>
        </p:nvSpPr>
        <p:spPr>
          <a:xfrm>
            <a:off x="5330952" y="3785615"/>
            <a:ext cx="5586900" cy="265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F2328"/>
                </a:solidFill>
                <a:latin typeface="Calibri"/>
                <a:ea typeface="Calibri"/>
                <a:cs typeface="Calibri"/>
                <a:sym typeface="Calibri"/>
              </a:rPr>
              <a:t>+ meaningful labels   + encoded values</a:t>
            </a:r>
            <a:endParaRPr b="0" i="0" sz="1400" u="none" cap="none" strike="noStrike">
              <a:solidFill>
                <a:srgbClr val="000000"/>
              </a:solidFill>
              <a:latin typeface="Arial"/>
              <a:ea typeface="Arial"/>
              <a:cs typeface="Arial"/>
              <a:sym typeface="Arial"/>
            </a:endParaRPr>
          </a:p>
        </p:txBody>
      </p:sp>
      <p:sp>
        <p:nvSpPr>
          <p:cNvPr id="459" name="Google Shape;459;p5"/>
          <p:cNvSpPr txBox="1"/>
          <p:nvPr/>
        </p:nvSpPr>
        <p:spPr>
          <a:xfrm>
            <a:off x="5330952" y="4151376"/>
            <a:ext cx="5586900" cy="634800"/>
          </a:xfrm>
          <a:prstGeom prst="rect">
            <a:avLst/>
          </a:prstGeom>
          <a:noFill/>
          <a:ln>
            <a:noFill/>
          </a:ln>
        </p:spPr>
        <p:txBody>
          <a:bodyPr anchorCtr="0" anchor="ctr" bIns="0" lIns="0" spcFirstLastPara="1" rIns="0" wrap="square" tIns="0">
            <a:spAutoFit/>
          </a:bodyPr>
          <a:lstStyle/>
          <a:p>
            <a:pPr indent="0" lvl="0" marL="0" marR="0" rtl="0" algn="l">
              <a:lnSpc>
                <a:spcPct val="150000"/>
              </a:lnSpc>
              <a:spcBef>
                <a:spcPts val="0"/>
              </a:spcBef>
              <a:spcAft>
                <a:spcPts val="0"/>
              </a:spcAft>
              <a:buClr>
                <a:srgbClr val="000000"/>
              </a:buClr>
              <a:buSzPts val="1650"/>
              <a:buFont typeface="Arial"/>
              <a:buNone/>
            </a:pPr>
            <a:r>
              <a:rPr b="0" i="0" lang="en-US" sz="1650" u="none" cap="none" strike="noStrike">
                <a:solidFill>
                  <a:srgbClr val="3A434C"/>
                </a:solidFill>
                <a:latin typeface="Calibri"/>
                <a:ea typeface="Calibri"/>
                <a:cs typeface="Calibri"/>
                <a:sym typeface="Calibri"/>
              </a:rPr>
              <a:t>+ provenance   </a:t>
            </a:r>
            <a:r>
              <a:rPr lang="en-US" sz="1650">
                <a:solidFill>
                  <a:srgbClr val="3A434C"/>
                </a:solidFill>
                <a:latin typeface="Calibri"/>
                <a:ea typeface="Calibri"/>
                <a:cs typeface="Calibri"/>
                <a:sym typeface="Calibri"/>
              </a:rPr>
              <a:t>+ logical axioms (hierarchy, disjointness) </a:t>
            </a:r>
            <a:endParaRPr sz="1650">
              <a:solidFill>
                <a:srgbClr val="3A434C"/>
              </a:solidFill>
              <a:latin typeface="Calibri"/>
              <a:ea typeface="Calibri"/>
              <a:cs typeface="Calibri"/>
              <a:sym typeface="Calibri"/>
            </a:endParaRPr>
          </a:p>
          <a:p>
            <a:pPr indent="0" lvl="0" marL="0" marR="0" rtl="0" algn="l">
              <a:lnSpc>
                <a:spcPct val="150000"/>
              </a:lnSpc>
              <a:spcBef>
                <a:spcPts val="0"/>
              </a:spcBef>
              <a:spcAft>
                <a:spcPts val="0"/>
              </a:spcAft>
              <a:buClr>
                <a:srgbClr val="000000"/>
              </a:buClr>
              <a:buSzPts val="1650"/>
              <a:buFont typeface="Arial"/>
              <a:buNone/>
            </a:pPr>
            <a:r>
              <a:rPr lang="en-US" sz="1650">
                <a:solidFill>
                  <a:srgbClr val="3A434C"/>
                </a:solidFill>
                <a:latin typeface="Calibri"/>
                <a:ea typeface="Calibri"/>
                <a:cs typeface="Calibri"/>
                <a:sym typeface="Calibri"/>
              </a:rPr>
              <a:t>+ links to standard vocabularies</a:t>
            </a:r>
            <a:endParaRPr b="0" i="0" sz="1400" u="none" cap="none" strike="noStrike">
              <a:solidFill>
                <a:srgbClr val="000000"/>
              </a:solidFill>
              <a:latin typeface="Arial"/>
              <a:ea typeface="Arial"/>
              <a:cs typeface="Arial"/>
              <a:sym typeface="Arial"/>
            </a:endParaRPr>
          </a:p>
        </p:txBody>
      </p:sp>
      <p:sp>
        <p:nvSpPr>
          <p:cNvPr id="460" name="Google Shape;460;p5"/>
          <p:cNvSpPr txBox="1"/>
          <p:nvPr/>
        </p:nvSpPr>
        <p:spPr>
          <a:xfrm>
            <a:off x="859536" y="5020056"/>
            <a:ext cx="10460700" cy="429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We need to preserve structure, discover meaning, and prevent mistakes, at database scale.</a:t>
            </a:r>
            <a:endParaRPr b="0" i="0" sz="1400" u="none" cap="none" strike="noStrike">
              <a:solidFill>
                <a:srgbClr val="000000"/>
              </a:solidFill>
              <a:latin typeface="Arial"/>
              <a:ea typeface="Arial"/>
              <a:cs typeface="Arial"/>
              <a:sym typeface="Arial"/>
            </a:endParaRPr>
          </a:p>
        </p:txBody>
      </p:sp>
      <p:sp>
        <p:nvSpPr>
          <p:cNvPr id="461" name="Google Shape;461;p5"/>
          <p:cNvSpPr/>
          <p:nvPr/>
        </p:nvSpPr>
        <p:spPr>
          <a:xfrm>
            <a:off x="80467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2" name="Google Shape;462;p5"/>
          <p:cNvSpPr txBox="1"/>
          <p:nvPr/>
        </p:nvSpPr>
        <p:spPr>
          <a:xfrm>
            <a:off x="859536"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463" name="Google Shape;463;p5"/>
          <p:cNvSpPr/>
          <p:nvPr/>
        </p:nvSpPr>
        <p:spPr>
          <a:xfrm>
            <a:off x="2642615"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4" name="Google Shape;464;p5"/>
          <p:cNvSpPr txBox="1"/>
          <p:nvPr/>
        </p:nvSpPr>
        <p:spPr>
          <a:xfrm>
            <a:off x="2697479"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465" name="Google Shape;465;p5"/>
          <p:cNvSpPr/>
          <p:nvPr/>
        </p:nvSpPr>
        <p:spPr>
          <a:xfrm>
            <a:off x="4480559"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6" name="Google Shape;466;p5"/>
          <p:cNvSpPr txBox="1"/>
          <p:nvPr/>
        </p:nvSpPr>
        <p:spPr>
          <a:xfrm>
            <a:off x="4535423"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467" name="Google Shape;467;p5"/>
          <p:cNvSpPr/>
          <p:nvPr/>
        </p:nvSpPr>
        <p:spPr>
          <a:xfrm>
            <a:off x="6318503"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8" name="Google Shape;468;p5"/>
          <p:cNvSpPr txBox="1"/>
          <p:nvPr/>
        </p:nvSpPr>
        <p:spPr>
          <a:xfrm>
            <a:off x="6373367"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469" name="Google Shape;469;p5"/>
          <p:cNvSpPr/>
          <p:nvPr/>
        </p:nvSpPr>
        <p:spPr>
          <a:xfrm>
            <a:off x="8156448"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0" name="Google Shape;470;p5"/>
          <p:cNvSpPr txBox="1"/>
          <p:nvPr/>
        </p:nvSpPr>
        <p:spPr>
          <a:xfrm>
            <a:off x="8211312"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471" name="Google Shape;471;p5"/>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2" name="Google Shape;472;p5"/>
          <p:cNvSpPr txBox="1"/>
          <p:nvPr/>
        </p:nvSpPr>
        <p:spPr>
          <a:xfrm>
            <a:off x="10049256"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sp>
        <p:nvSpPr>
          <p:cNvPr id="473" name="Google Shape;473;p5"/>
          <p:cNvSpPr/>
          <p:nvPr/>
        </p:nvSpPr>
        <p:spPr>
          <a:xfrm>
            <a:off x="1005789" y="2825521"/>
            <a:ext cx="2642700" cy="17922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4" name="Google Shape;474;p5"/>
          <p:cNvSpPr txBox="1"/>
          <p:nvPr/>
        </p:nvSpPr>
        <p:spPr>
          <a:xfrm>
            <a:off x="1170381" y="2935250"/>
            <a:ext cx="2331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cxnSp>
        <p:nvCxnSpPr>
          <p:cNvPr id="475" name="Google Shape;475;p5"/>
          <p:cNvCxnSpPr/>
          <p:nvPr/>
        </p:nvCxnSpPr>
        <p:spPr>
          <a:xfrm>
            <a:off x="1170381" y="3355874"/>
            <a:ext cx="2313300" cy="0"/>
          </a:xfrm>
          <a:prstGeom prst="straightConnector1">
            <a:avLst/>
          </a:prstGeom>
          <a:noFill/>
          <a:ln cap="flat" cmpd="sng" w="19050">
            <a:solidFill>
              <a:srgbClr val="8E989E"/>
            </a:solidFill>
            <a:prstDash val="solid"/>
            <a:miter lim="80"/>
            <a:headEnd len="sm" w="sm" type="none"/>
            <a:tailEnd len="sm" w="sm" type="none"/>
          </a:ln>
        </p:spPr>
      </p:cxnSp>
      <p:sp>
        <p:nvSpPr>
          <p:cNvPr id="476" name="Google Shape;476;p5"/>
          <p:cNvSpPr/>
          <p:nvPr/>
        </p:nvSpPr>
        <p:spPr>
          <a:xfrm>
            <a:off x="1170381" y="3483889"/>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alibri"/>
                <a:ea typeface="Calibri"/>
                <a:cs typeface="Calibri"/>
                <a:sym typeface="Calibri"/>
              </a:rPr>
              <a:t>patient_id</a:t>
            </a:r>
            <a:endParaRPr/>
          </a:p>
        </p:txBody>
      </p:sp>
      <p:sp>
        <p:nvSpPr>
          <p:cNvPr id="477" name="Google Shape;477;p5"/>
          <p:cNvSpPr/>
          <p:nvPr/>
        </p:nvSpPr>
        <p:spPr>
          <a:xfrm>
            <a:off x="2734005" y="3483889"/>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FK</a:t>
            </a:r>
            <a:endParaRPr/>
          </a:p>
        </p:txBody>
      </p:sp>
      <p:sp>
        <p:nvSpPr>
          <p:cNvPr id="478" name="Google Shape;478;p5"/>
          <p:cNvSpPr/>
          <p:nvPr/>
        </p:nvSpPr>
        <p:spPr>
          <a:xfrm>
            <a:off x="1170381" y="3831362"/>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alibri"/>
                <a:ea typeface="Calibri"/>
                <a:cs typeface="Calibri"/>
                <a:sym typeface="Calibri"/>
              </a:rPr>
              <a:t>BM_DEP</a:t>
            </a:r>
            <a:endParaRPr/>
          </a:p>
        </p:txBody>
      </p:sp>
      <p:sp>
        <p:nvSpPr>
          <p:cNvPr id="479" name="Google Shape;479;p5"/>
          <p:cNvSpPr/>
          <p:nvPr/>
        </p:nvSpPr>
        <p:spPr>
          <a:xfrm>
            <a:off x="2734005" y="3831362"/>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INT</a:t>
            </a:r>
            <a:endParaRPr/>
          </a:p>
        </p:txBody>
      </p:sp>
      <p:sp>
        <p:nvSpPr>
          <p:cNvPr id="480" name="Google Shape;480;p5"/>
          <p:cNvSpPr/>
          <p:nvPr/>
        </p:nvSpPr>
        <p:spPr>
          <a:xfrm>
            <a:off x="1170381" y="4178834"/>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alibri"/>
                <a:ea typeface="Calibri"/>
                <a:cs typeface="Calibri"/>
                <a:sym typeface="Calibri"/>
              </a:rPr>
              <a:t>ecog_stage</a:t>
            </a:r>
            <a:endParaRPr/>
          </a:p>
        </p:txBody>
      </p:sp>
      <p:sp>
        <p:nvSpPr>
          <p:cNvPr id="481" name="Google Shape;481;p5"/>
          <p:cNvSpPr/>
          <p:nvPr/>
        </p:nvSpPr>
        <p:spPr>
          <a:xfrm>
            <a:off x="2734005" y="4178834"/>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INT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6" name="Shape 486"/>
        <p:cNvGrpSpPr/>
        <p:nvPr/>
      </p:nvGrpSpPr>
      <p:grpSpPr>
        <a:xfrm>
          <a:off x="0" y="0"/>
          <a:ext cx="0" cy="0"/>
          <a:chOff x="0" y="0"/>
          <a:chExt cx="0" cy="0"/>
        </a:xfrm>
      </p:grpSpPr>
      <p:sp>
        <p:nvSpPr>
          <p:cNvPr id="487" name="Google Shape;487;p6"/>
          <p:cNvSpPr txBox="1"/>
          <p:nvPr/>
        </p:nvSpPr>
        <p:spPr>
          <a:xfrm>
            <a:off x="795528" y="448056"/>
            <a:ext cx="107898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1 / ORDER</a:t>
            </a:r>
            <a:endParaRPr b="0" i="0" sz="1400" u="none" cap="none" strike="noStrike">
              <a:solidFill>
                <a:srgbClr val="000000"/>
              </a:solidFill>
              <a:latin typeface="Arial"/>
              <a:ea typeface="Arial"/>
              <a:cs typeface="Arial"/>
              <a:sym typeface="Arial"/>
            </a:endParaRPr>
          </a:p>
        </p:txBody>
      </p:sp>
      <p:sp>
        <p:nvSpPr>
          <p:cNvPr id="488" name="Google Shape;488;p6"/>
          <p:cNvSpPr txBox="1"/>
          <p:nvPr/>
        </p:nvSpPr>
        <p:spPr>
          <a:xfrm>
            <a:off x="795528" y="850392"/>
            <a:ext cx="1083570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To understand this table, build its parent first.</a:t>
            </a:r>
            <a:endParaRPr b="0" i="0" sz="1400" u="none" cap="none" strike="noStrike">
              <a:solidFill>
                <a:srgbClr val="000000"/>
              </a:solidFill>
              <a:latin typeface="Arial"/>
              <a:ea typeface="Arial"/>
              <a:cs typeface="Arial"/>
              <a:sym typeface="Arial"/>
            </a:endParaRPr>
          </a:p>
        </p:txBody>
      </p:sp>
      <p:sp>
        <p:nvSpPr>
          <p:cNvPr id="489" name="Google Shape;489;p6"/>
          <p:cNvSpPr txBox="1"/>
          <p:nvPr/>
        </p:nvSpPr>
        <p:spPr>
          <a:xfrm>
            <a:off x="795528" y="1609344"/>
            <a:ext cx="10607100" cy="347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B6770"/>
                </a:solidFill>
                <a:latin typeface="Calibri"/>
                <a:ea typeface="Calibri"/>
                <a:cs typeface="Calibri"/>
                <a:sym typeface="Calibri"/>
              </a:rPr>
              <a:t>We follow foreign-key dependencies, so known concepts are available when needed.</a:t>
            </a:r>
            <a:endParaRPr b="0" i="0" sz="1400" u="none" cap="none" strike="noStrike">
              <a:solidFill>
                <a:srgbClr val="000000"/>
              </a:solidFill>
              <a:latin typeface="Arial"/>
              <a:ea typeface="Arial"/>
              <a:cs typeface="Arial"/>
              <a:sym typeface="Arial"/>
            </a:endParaRPr>
          </a:p>
        </p:txBody>
      </p:sp>
      <p:sp>
        <p:nvSpPr>
          <p:cNvPr id="490" name="Google Shape;490;p6"/>
          <p:cNvSpPr/>
          <p:nvPr/>
        </p:nvSpPr>
        <p:spPr>
          <a:xfrm>
            <a:off x="822960" y="2130552"/>
            <a:ext cx="4910400" cy="25695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1" name="Google Shape;491;p6"/>
          <p:cNvSpPr txBox="1"/>
          <p:nvPr/>
        </p:nvSpPr>
        <p:spPr>
          <a:xfrm>
            <a:off x="1069848" y="2313432"/>
            <a:ext cx="4480500" cy="283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DATABASE DEPENDENCIES</a:t>
            </a:r>
            <a:endParaRPr b="0" i="0" sz="1400" u="none" cap="none" strike="noStrike">
              <a:solidFill>
                <a:srgbClr val="000000"/>
              </a:solidFill>
              <a:latin typeface="Arial"/>
              <a:ea typeface="Arial"/>
              <a:cs typeface="Arial"/>
              <a:sym typeface="Arial"/>
            </a:endParaRPr>
          </a:p>
        </p:txBody>
      </p:sp>
      <p:sp>
        <p:nvSpPr>
          <p:cNvPr id="492" name="Google Shape;492;p6"/>
          <p:cNvSpPr/>
          <p:nvPr/>
        </p:nvSpPr>
        <p:spPr>
          <a:xfrm>
            <a:off x="1143000" y="2816352"/>
            <a:ext cx="1874400" cy="850500"/>
          </a:xfrm>
          <a:prstGeom prst="roundRect">
            <a:avLst>
              <a:gd fmla="val 10000" name="adj"/>
            </a:avLst>
          </a:prstGeom>
          <a:solidFill>
            <a:srgbClr val="E6F2EC"/>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3" name="Google Shape;493;p6"/>
          <p:cNvSpPr txBox="1"/>
          <p:nvPr/>
        </p:nvSpPr>
        <p:spPr>
          <a:xfrm>
            <a:off x="1280160" y="2944368"/>
            <a:ext cx="1609200" cy="237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sp>
        <p:nvSpPr>
          <p:cNvPr id="494" name="Google Shape;494;p6"/>
          <p:cNvSpPr txBox="1"/>
          <p:nvPr/>
        </p:nvSpPr>
        <p:spPr>
          <a:xfrm>
            <a:off x="1280160" y="3227832"/>
            <a:ext cx="16734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No FKs</a:t>
            </a:r>
            <a:endParaRPr b="0" i="0" sz="1400" u="none" cap="none" strike="noStrike">
              <a:solidFill>
                <a:srgbClr val="000000"/>
              </a:solidFill>
              <a:latin typeface="Arial"/>
              <a:ea typeface="Arial"/>
              <a:cs typeface="Arial"/>
              <a:sym typeface="Arial"/>
            </a:endParaRPr>
          </a:p>
        </p:txBody>
      </p:sp>
      <p:sp>
        <p:nvSpPr>
          <p:cNvPr id="495" name="Google Shape;495;p6"/>
          <p:cNvSpPr/>
          <p:nvPr/>
        </p:nvSpPr>
        <p:spPr>
          <a:xfrm>
            <a:off x="3758184" y="2816352"/>
            <a:ext cx="1710000" cy="850500"/>
          </a:xfrm>
          <a:prstGeom prst="roundRect">
            <a:avLst>
              <a:gd fmla="val 10000" name="adj"/>
            </a:avLst>
          </a:prstGeom>
          <a:solidFill>
            <a:srgbClr val="F3F5F4"/>
          </a:solidFill>
          <a:ln cap="flat" cmpd="sng" w="12700">
            <a:solidFill>
              <a:srgbClr val="2F6B7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6" name="Google Shape;496;p6"/>
          <p:cNvSpPr txBox="1"/>
          <p:nvPr/>
        </p:nvSpPr>
        <p:spPr>
          <a:xfrm>
            <a:off x="3904487" y="2944368"/>
            <a:ext cx="1444800" cy="22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497" name="Google Shape;497;p6"/>
          <p:cNvSpPr txBox="1"/>
          <p:nvPr/>
        </p:nvSpPr>
        <p:spPr>
          <a:xfrm>
            <a:off x="3895344" y="3227832"/>
            <a:ext cx="14997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0" i="0" lang="en-US" sz="1400" u="none" cap="none" strike="noStrike">
                <a:solidFill>
                  <a:srgbClr val="5B6770"/>
                </a:solidFill>
                <a:latin typeface="Consolas"/>
                <a:ea typeface="Consolas"/>
                <a:cs typeface="Consolas"/>
                <a:sym typeface="Consolas"/>
              </a:rPr>
              <a:t>patient_id FK</a:t>
            </a:r>
            <a:endParaRPr b="0" i="0" sz="1400" u="none" cap="none" strike="noStrike">
              <a:solidFill>
                <a:srgbClr val="000000"/>
              </a:solidFill>
              <a:latin typeface="Arial"/>
              <a:ea typeface="Arial"/>
              <a:cs typeface="Arial"/>
              <a:sym typeface="Arial"/>
            </a:endParaRPr>
          </a:p>
        </p:txBody>
      </p:sp>
      <p:cxnSp>
        <p:nvCxnSpPr>
          <p:cNvPr id="498" name="Google Shape;498;p6"/>
          <p:cNvCxnSpPr/>
          <p:nvPr/>
        </p:nvCxnSpPr>
        <p:spPr>
          <a:xfrm rot="10800000">
            <a:off x="3099876" y="3255264"/>
            <a:ext cx="594300" cy="0"/>
          </a:xfrm>
          <a:prstGeom prst="straightConnector1">
            <a:avLst/>
          </a:prstGeom>
          <a:noFill/>
          <a:ln cap="flat" cmpd="sng" w="30475">
            <a:solidFill>
              <a:srgbClr val="3A7D8C"/>
            </a:solidFill>
            <a:prstDash val="solid"/>
            <a:miter lim="80"/>
            <a:headEnd len="sm" w="sm" type="none"/>
            <a:tailEnd len="med" w="med" type="triangle"/>
          </a:ln>
        </p:spPr>
      </p:cxnSp>
      <p:sp>
        <p:nvSpPr>
          <p:cNvPr id="499" name="Google Shape;499;p6"/>
          <p:cNvSpPr txBox="1"/>
          <p:nvPr/>
        </p:nvSpPr>
        <p:spPr>
          <a:xfrm>
            <a:off x="2350008" y="3877056"/>
            <a:ext cx="1874400" cy="283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FK points to parent</a:t>
            </a:r>
            <a:endParaRPr b="0" i="0" sz="1400" u="none" cap="none" strike="noStrike">
              <a:solidFill>
                <a:srgbClr val="000000"/>
              </a:solidFill>
              <a:latin typeface="Arial"/>
              <a:ea typeface="Arial"/>
              <a:cs typeface="Arial"/>
              <a:sym typeface="Arial"/>
            </a:endParaRPr>
          </a:p>
        </p:txBody>
      </p:sp>
      <p:sp>
        <p:nvSpPr>
          <p:cNvPr id="500" name="Google Shape;500;p6"/>
          <p:cNvSpPr/>
          <p:nvPr/>
        </p:nvSpPr>
        <p:spPr>
          <a:xfrm>
            <a:off x="5961888" y="2130552"/>
            <a:ext cx="5376600" cy="25695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1" name="Google Shape;501;p6"/>
          <p:cNvSpPr txBox="1"/>
          <p:nvPr/>
        </p:nvSpPr>
        <p:spPr>
          <a:xfrm>
            <a:off x="6208776" y="2313432"/>
            <a:ext cx="4837200" cy="283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PROCESSING ORDER  /  OUTPUT</a:t>
            </a:r>
            <a:endParaRPr b="0" i="0" sz="1400" u="none" cap="none" strike="noStrike">
              <a:solidFill>
                <a:srgbClr val="000000"/>
              </a:solidFill>
              <a:latin typeface="Arial"/>
              <a:ea typeface="Arial"/>
              <a:cs typeface="Arial"/>
              <a:sym typeface="Arial"/>
            </a:endParaRPr>
          </a:p>
        </p:txBody>
      </p:sp>
      <p:sp>
        <p:nvSpPr>
          <p:cNvPr id="502" name="Google Shape;502;p6"/>
          <p:cNvSpPr/>
          <p:nvPr/>
        </p:nvSpPr>
        <p:spPr>
          <a:xfrm>
            <a:off x="6300216" y="2807208"/>
            <a:ext cx="1902000" cy="1051500"/>
          </a:xfrm>
          <a:prstGeom prst="roundRect">
            <a:avLst>
              <a:gd fmla="val 10000" name="adj"/>
            </a:avLst>
          </a:prstGeom>
          <a:solidFill>
            <a:srgbClr val="E6F2EC"/>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3" name="Google Shape;503;p6"/>
          <p:cNvSpPr txBox="1"/>
          <p:nvPr/>
        </p:nvSpPr>
        <p:spPr>
          <a:xfrm>
            <a:off x="6455664" y="2971800"/>
            <a:ext cx="1554600" cy="2376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t = 1</a:t>
            </a:r>
            <a:endParaRPr b="0" i="0" sz="1400" u="none" cap="none" strike="noStrike">
              <a:solidFill>
                <a:srgbClr val="000000"/>
              </a:solidFill>
              <a:latin typeface="Arial"/>
              <a:ea typeface="Arial"/>
              <a:cs typeface="Arial"/>
              <a:sym typeface="Arial"/>
            </a:endParaRPr>
          </a:p>
        </p:txBody>
      </p:sp>
      <p:sp>
        <p:nvSpPr>
          <p:cNvPr id="504" name="Google Shape;504;p6"/>
          <p:cNvSpPr txBox="1"/>
          <p:nvPr/>
        </p:nvSpPr>
        <p:spPr>
          <a:xfrm>
            <a:off x="6446520" y="3255264"/>
            <a:ext cx="1563600" cy="22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cxnSp>
        <p:nvCxnSpPr>
          <p:cNvPr id="505" name="Google Shape;505;p6"/>
          <p:cNvCxnSpPr/>
          <p:nvPr/>
        </p:nvCxnSpPr>
        <p:spPr>
          <a:xfrm>
            <a:off x="8311896" y="3310128"/>
            <a:ext cx="420600" cy="0"/>
          </a:xfrm>
          <a:prstGeom prst="straightConnector1">
            <a:avLst/>
          </a:prstGeom>
          <a:noFill/>
          <a:ln cap="flat" cmpd="sng" w="31750">
            <a:solidFill>
              <a:srgbClr val="0B6E4F"/>
            </a:solidFill>
            <a:prstDash val="solid"/>
            <a:miter lim="80"/>
            <a:headEnd len="sm" w="sm" type="none"/>
            <a:tailEnd len="med" w="med" type="triangle"/>
          </a:ln>
        </p:spPr>
      </p:cxnSp>
      <p:sp>
        <p:nvSpPr>
          <p:cNvPr id="506" name="Google Shape;506;p6"/>
          <p:cNvSpPr/>
          <p:nvPr/>
        </p:nvSpPr>
        <p:spPr>
          <a:xfrm>
            <a:off x="8833104" y="2807208"/>
            <a:ext cx="2112300" cy="1051500"/>
          </a:xfrm>
          <a:prstGeom prst="roundRect">
            <a:avLst>
              <a:gd fmla="val 10000" name="adj"/>
            </a:avLst>
          </a:prstGeom>
          <a:solidFill>
            <a:srgbClr val="F3F5F4"/>
          </a:solidFill>
          <a:ln cap="flat" cmpd="sng" w="12700">
            <a:solidFill>
              <a:srgbClr val="2F6B7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7" name="Google Shape;507;p6"/>
          <p:cNvSpPr txBox="1"/>
          <p:nvPr/>
        </p:nvSpPr>
        <p:spPr>
          <a:xfrm>
            <a:off x="8988552" y="2971800"/>
            <a:ext cx="1764900" cy="2376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2F6B78"/>
                </a:solidFill>
                <a:latin typeface="Consolas"/>
                <a:ea typeface="Consolas"/>
                <a:cs typeface="Consolas"/>
                <a:sym typeface="Consolas"/>
              </a:rPr>
              <a:t>t = 2</a:t>
            </a:r>
            <a:endParaRPr b="0" i="0" sz="1400" u="none" cap="none" strike="noStrike">
              <a:solidFill>
                <a:srgbClr val="000000"/>
              </a:solidFill>
              <a:latin typeface="Arial"/>
              <a:ea typeface="Arial"/>
              <a:cs typeface="Arial"/>
              <a:sym typeface="Arial"/>
            </a:endParaRPr>
          </a:p>
        </p:txBody>
      </p:sp>
      <p:sp>
        <p:nvSpPr>
          <p:cNvPr id="508" name="Google Shape;508;p6"/>
          <p:cNvSpPr txBox="1"/>
          <p:nvPr/>
        </p:nvSpPr>
        <p:spPr>
          <a:xfrm>
            <a:off x="8988552" y="3255264"/>
            <a:ext cx="1764900" cy="22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509" name="Google Shape;509;p6"/>
          <p:cNvSpPr txBox="1"/>
          <p:nvPr/>
        </p:nvSpPr>
        <p:spPr>
          <a:xfrm>
            <a:off x="6190488" y="4133087"/>
            <a:ext cx="4882800" cy="465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Before generating </a:t>
            </a:r>
            <a:r>
              <a:rPr b="1" lang="en-US" sz="1520">
                <a:solidFill>
                  <a:srgbClr val="0B6E4F"/>
                </a:solidFill>
                <a:latin typeface="Consolas"/>
                <a:ea typeface="Consolas"/>
                <a:cs typeface="Consolas"/>
                <a:sym typeface="Consolas"/>
              </a:rPr>
              <a:t>admission</a:t>
            </a:r>
            <a:r>
              <a:rPr b="1" i="0" lang="en-US" sz="1500" u="none" cap="none" strike="noStrike">
                <a:solidFill>
                  <a:srgbClr val="1F2328"/>
                </a:solidFill>
                <a:latin typeface="Calibri"/>
                <a:ea typeface="Calibri"/>
                <a:cs typeface="Calibri"/>
                <a:sym typeface="Calibri"/>
              </a:rPr>
              <a:t>, </a:t>
            </a:r>
            <a:r>
              <a:rPr b="1" lang="en-US" sz="1520">
                <a:solidFill>
                  <a:srgbClr val="0B6E4F"/>
                </a:solidFill>
                <a:latin typeface="Consolas"/>
                <a:ea typeface="Consolas"/>
                <a:cs typeface="Consolas"/>
                <a:sym typeface="Consolas"/>
              </a:rPr>
              <a:t>PatientData </a:t>
            </a:r>
            <a:r>
              <a:rPr b="1" i="0" lang="en-US" sz="1500" u="none" cap="none" strike="noStrike">
                <a:solidFill>
                  <a:srgbClr val="1F2328"/>
                </a:solidFill>
                <a:latin typeface="Calibri"/>
                <a:ea typeface="Calibri"/>
                <a:cs typeface="Calibri"/>
                <a:sym typeface="Calibri"/>
              </a:rPr>
              <a:t>already exists in the core ontology.</a:t>
            </a:r>
            <a:endParaRPr b="0" i="0" sz="1400" u="none" cap="none" strike="noStrike">
              <a:solidFill>
                <a:srgbClr val="000000"/>
              </a:solidFill>
              <a:latin typeface="Arial"/>
              <a:ea typeface="Arial"/>
              <a:cs typeface="Arial"/>
              <a:sym typeface="Arial"/>
            </a:endParaRPr>
          </a:p>
        </p:txBody>
      </p:sp>
      <p:sp>
        <p:nvSpPr>
          <p:cNvPr id="510" name="Google Shape;510;p6"/>
          <p:cNvSpPr/>
          <p:nvPr/>
        </p:nvSpPr>
        <p:spPr>
          <a:xfrm>
            <a:off x="822960" y="4956048"/>
            <a:ext cx="10515600" cy="475500"/>
          </a:xfrm>
          <a:prstGeom prst="roundRect">
            <a:avLst>
              <a:gd fmla="val 10000" name="adj"/>
            </a:avLst>
          </a:prstGeom>
          <a:solidFill>
            <a:srgbClr val="E6F2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1" name="Google Shape;511;p6"/>
          <p:cNvSpPr txBox="1"/>
          <p:nvPr/>
        </p:nvSpPr>
        <p:spPr>
          <a:xfrm>
            <a:off x="1014984" y="5056632"/>
            <a:ext cx="10168200" cy="231000"/>
          </a:xfrm>
          <a:prstGeom prst="rect">
            <a:avLst/>
          </a:prstGeom>
          <a:noFill/>
          <a:ln>
            <a:noFill/>
          </a:ln>
        </p:spPr>
        <p:txBody>
          <a:bodyPr anchorCtr="0" anchor="ctr" bIns="0" lIns="0" spcFirstLastPara="1" rIns="0" wrap="square" tIns="0">
            <a:spAutoFit/>
          </a:bodyPr>
          <a:lstStyle/>
          <a:p>
            <a:pPr indent="0" lvl="0" marL="0" marR="0" rtl="0" algn="l">
              <a:lnSpc>
                <a:spcPct val="107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WHY IT MATTERS   </a:t>
            </a:r>
            <a:r>
              <a:rPr b="0" i="0" lang="en-US" sz="1500" u="none" cap="none" strike="noStrike">
                <a:solidFill>
                  <a:srgbClr val="1F2328"/>
                </a:solidFill>
                <a:latin typeface="Calibri"/>
                <a:ea typeface="Calibri"/>
                <a:cs typeface="Calibri"/>
                <a:sym typeface="Calibri"/>
              </a:rPr>
              <a:t>The next fragment can </a:t>
            </a:r>
            <a:r>
              <a:rPr b="1" i="0" lang="en-US" sz="1500" u="none" cap="none" strike="noStrike">
                <a:solidFill>
                  <a:srgbClr val="1F2328"/>
                </a:solidFill>
                <a:latin typeface="Calibri"/>
                <a:ea typeface="Calibri"/>
                <a:cs typeface="Calibri"/>
                <a:sym typeface="Calibri"/>
              </a:rPr>
              <a:t>reuse</a:t>
            </a:r>
            <a:r>
              <a:rPr b="0" i="0" lang="en-US" sz="1500" u="none" cap="none" strike="noStrike">
                <a:solidFill>
                  <a:srgbClr val="1F2328"/>
                </a:solidFill>
                <a:latin typeface="Calibri"/>
                <a:ea typeface="Calibri"/>
                <a:cs typeface="Calibri"/>
                <a:sym typeface="Calibri"/>
              </a:rPr>
              <a:t> known </a:t>
            </a:r>
            <a:r>
              <a:rPr b="1" i="0" lang="en-US" sz="1500" u="none" cap="none" strike="noStrike">
                <a:solidFill>
                  <a:srgbClr val="1F2328"/>
                </a:solidFill>
                <a:latin typeface="Calibri"/>
                <a:ea typeface="Calibri"/>
                <a:cs typeface="Calibri"/>
                <a:sym typeface="Calibri"/>
              </a:rPr>
              <a:t>classes</a:t>
            </a:r>
            <a:r>
              <a:rPr b="0" i="0" lang="en-US" sz="1500" u="none" cap="none" strike="noStrike">
                <a:solidFill>
                  <a:srgbClr val="1F2328"/>
                </a:solidFill>
                <a:latin typeface="Calibri"/>
                <a:ea typeface="Calibri"/>
                <a:cs typeface="Calibri"/>
                <a:sym typeface="Calibri"/>
              </a:rPr>
              <a:t> and </a:t>
            </a:r>
            <a:r>
              <a:rPr b="1" i="0" lang="en-US" sz="1500" u="none" cap="none" strike="noStrike">
                <a:solidFill>
                  <a:srgbClr val="1F2328"/>
                </a:solidFill>
                <a:latin typeface="Calibri"/>
                <a:ea typeface="Calibri"/>
                <a:cs typeface="Calibri"/>
                <a:sym typeface="Calibri"/>
              </a:rPr>
              <a:t>IRIs</a:t>
            </a:r>
            <a:r>
              <a:rPr b="0" i="0" lang="en-US" sz="1500" u="none" cap="none" strike="noStrike">
                <a:solidFill>
                  <a:srgbClr val="1F2328"/>
                </a:solidFill>
                <a:latin typeface="Calibri"/>
                <a:ea typeface="Calibri"/>
                <a:cs typeface="Calibri"/>
                <a:sym typeface="Calibri"/>
              </a:rPr>
              <a:t> instead of inventing duplicates.</a:t>
            </a:r>
            <a:endParaRPr b="0" i="0" sz="1400" u="none" cap="none" strike="noStrike">
              <a:solidFill>
                <a:srgbClr val="000000"/>
              </a:solidFill>
              <a:latin typeface="Arial"/>
              <a:ea typeface="Arial"/>
              <a:cs typeface="Arial"/>
              <a:sym typeface="Arial"/>
            </a:endParaRPr>
          </a:p>
        </p:txBody>
      </p:sp>
      <p:sp>
        <p:nvSpPr>
          <p:cNvPr id="512" name="Google Shape;512;p6"/>
          <p:cNvSpPr/>
          <p:nvPr/>
        </p:nvSpPr>
        <p:spPr>
          <a:xfrm>
            <a:off x="804672"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3" name="Google Shape;513;p6"/>
          <p:cNvSpPr txBox="1"/>
          <p:nvPr/>
        </p:nvSpPr>
        <p:spPr>
          <a:xfrm>
            <a:off x="859536"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514" name="Google Shape;514;p6"/>
          <p:cNvSpPr/>
          <p:nvPr/>
        </p:nvSpPr>
        <p:spPr>
          <a:xfrm>
            <a:off x="2642615"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5" name="Google Shape;515;p6"/>
          <p:cNvSpPr txBox="1"/>
          <p:nvPr/>
        </p:nvSpPr>
        <p:spPr>
          <a:xfrm>
            <a:off x="2697479"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516" name="Google Shape;516;p6"/>
          <p:cNvSpPr/>
          <p:nvPr/>
        </p:nvSpPr>
        <p:spPr>
          <a:xfrm>
            <a:off x="4480559"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7" name="Google Shape;517;p6"/>
          <p:cNvSpPr txBox="1"/>
          <p:nvPr/>
        </p:nvSpPr>
        <p:spPr>
          <a:xfrm>
            <a:off x="4535423"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518" name="Google Shape;518;p6"/>
          <p:cNvSpPr/>
          <p:nvPr/>
        </p:nvSpPr>
        <p:spPr>
          <a:xfrm>
            <a:off x="6318503"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9" name="Google Shape;519;p6"/>
          <p:cNvSpPr txBox="1"/>
          <p:nvPr/>
        </p:nvSpPr>
        <p:spPr>
          <a:xfrm>
            <a:off x="6373367"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520" name="Google Shape;520;p6"/>
          <p:cNvSpPr/>
          <p:nvPr/>
        </p:nvSpPr>
        <p:spPr>
          <a:xfrm>
            <a:off x="8156448"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1" name="Google Shape;521;p6"/>
          <p:cNvSpPr txBox="1"/>
          <p:nvPr/>
        </p:nvSpPr>
        <p:spPr>
          <a:xfrm>
            <a:off x="8211312"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522" name="Google Shape;522;p6"/>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3" name="Google Shape;523;p6"/>
          <p:cNvSpPr txBox="1"/>
          <p:nvPr/>
        </p:nvSpPr>
        <p:spPr>
          <a:xfrm>
            <a:off x="10049256"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8" name="Shape 528"/>
        <p:cNvGrpSpPr/>
        <p:nvPr/>
      </p:nvGrpSpPr>
      <p:grpSpPr>
        <a:xfrm>
          <a:off x="0" y="0"/>
          <a:ext cx="0" cy="0"/>
          <a:chOff x="0" y="0"/>
          <a:chExt cx="0" cy="0"/>
        </a:xfrm>
      </p:grpSpPr>
      <p:sp>
        <p:nvSpPr>
          <p:cNvPr id="529" name="Google Shape;529;p7"/>
          <p:cNvSpPr txBox="1"/>
          <p:nvPr/>
        </p:nvSpPr>
        <p:spPr>
          <a:xfrm>
            <a:off x="795528" y="448056"/>
            <a:ext cx="107898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2 / SEED</a:t>
            </a:r>
            <a:endParaRPr b="0" i="0" sz="1400" u="none" cap="none" strike="noStrike">
              <a:solidFill>
                <a:srgbClr val="000000"/>
              </a:solidFill>
              <a:latin typeface="Arial"/>
              <a:ea typeface="Arial"/>
              <a:cs typeface="Arial"/>
              <a:sym typeface="Arial"/>
            </a:endParaRPr>
          </a:p>
        </p:txBody>
      </p:sp>
      <p:sp>
        <p:nvSpPr>
          <p:cNvPr id="530" name="Google Shape;530;p7"/>
          <p:cNvSpPr txBox="1"/>
          <p:nvPr/>
        </p:nvSpPr>
        <p:spPr>
          <a:xfrm>
            <a:off x="795528" y="850392"/>
            <a:ext cx="1083570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Guarantee schema coverage before LLM enrichment.</a:t>
            </a:r>
            <a:endParaRPr b="0" i="0" sz="1400" u="none" cap="none" strike="noStrike">
              <a:solidFill>
                <a:srgbClr val="000000"/>
              </a:solidFill>
              <a:latin typeface="Arial"/>
              <a:ea typeface="Arial"/>
              <a:cs typeface="Arial"/>
              <a:sym typeface="Arial"/>
            </a:endParaRPr>
          </a:p>
        </p:txBody>
      </p:sp>
      <p:sp>
        <p:nvSpPr>
          <p:cNvPr id="531" name="Google Shape;531;p7"/>
          <p:cNvSpPr txBox="1"/>
          <p:nvPr/>
        </p:nvSpPr>
        <p:spPr>
          <a:xfrm>
            <a:off x="795528" y="1367865"/>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B6770"/>
                </a:solidFill>
                <a:latin typeface="Calibri"/>
                <a:ea typeface="Calibri"/>
                <a:cs typeface="Calibri"/>
                <a:sym typeface="Calibri"/>
              </a:rPr>
              <a:t>Direct Mapping (DMᵣ) represents every column in the table before generation.</a:t>
            </a:r>
            <a:endParaRPr b="0" i="0" sz="1400" u="none" cap="none" strike="noStrike">
              <a:solidFill>
                <a:srgbClr val="000000"/>
              </a:solidFill>
              <a:latin typeface="Arial"/>
              <a:ea typeface="Arial"/>
              <a:cs typeface="Arial"/>
              <a:sym typeface="Arial"/>
            </a:endParaRPr>
          </a:p>
        </p:txBody>
      </p:sp>
      <p:sp>
        <p:nvSpPr>
          <p:cNvPr id="532" name="Google Shape;532;p7"/>
          <p:cNvSpPr/>
          <p:nvPr/>
        </p:nvSpPr>
        <p:spPr>
          <a:xfrm>
            <a:off x="813825" y="1758475"/>
            <a:ext cx="3684900" cy="32964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3" name="Google Shape;533;p7"/>
          <p:cNvSpPr txBox="1"/>
          <p:nvPr/>
        </p:nvSpPr>
        <p:spPr>
          <a:xfrm>
            <a:off x="1024115" y="1972592"/>
            <a:ext cx="3264300" cy="2772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00"/>
              <a:buFont typeface="Arial"/>
              <a:buNone/>
            </a:pPr>
            <a:r>
              <a:rPr b="1" i="0" lang="en-US" sz="1800" u="none" cap="none" strike="noStrike">
                <a:solidFill>
                  <a:srgbClr val="0B6E4F"/>
                </a:solidFill>
                <a:latin typeface="Consolas"/>
                <a:ea typeface="Consolas"/>
                <a:cs typeface="Consolas"/>
                <a:sym typeface="Consolas"/>
              </a:rPr>
              <a:t>INPUT  </a:t>
            </a:r>
            <a:endParaRPr b="0" i="0" sz="1800" u="none" cap="none" strike="noStrike">
              <a:solidFill>
                <a:srgbClr val="000000"/>
              </a:solidFill>
              <a:latin typeface="Arial"/>
              <a:ea typeface="Arial"/>
              <a:cs typeface="Arial"/>
              <a:sym typeface="Arial"/>
            </a:endParaRPr>
          </a:p>
        </p:txBody>
      </p:sp>
      <p:sp>
        <p:nvSpPr>
          <p:cNvPr id="534" name="Google Shape;534;p7"/>
          <p:cNvSpPr/>
          <p:nvPr/>
        </p:nvSpPr>
        <p:spPr>
          <a:xfrm>
            <a:off x="4672584" y="2965489"/>
            <a:ext cx="612600" cy="475500"/>
          </a:xfrm>
          <a:prstGeom prst="rightArrow">
            <a:avLst>
              <a:gd fmla="val 50000" name="adj1"/>
              <a:gd fmla="val 50000" name="adj2"/>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5" name="Google Shape;535;p7"/>
          <p:cNvSpPr/>
          <p:nvPr/>
        </p:nvSpPr>
        <p:spPr>
          <a:xfrm>
            <a:off x="5458975" y="1758474"/>
            <a:ext cx="5879700" cy="3296400"/>
          </a:xfrm>
          <a:prstGeom prst="roundRect">
            <a:avLst>
              <a:gd fmla="val 10000" name="adj"/>
            </a:avLst>
          </a:prstGeom>
          <a:solidFill>
            <a:srgbClr val="FFFFFF"/>
          </a:solidFill>
          <a:ln cap="flat" cmpd="sng" w="1905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6" name="Google Shape;536;p7"/>
          <p:cNvSpPr txBox="1"/>
          <p:nvPr/>
        </p:nvSpPr>
        <p:spPr>
          <a:xfrm>
            <a:off x="5669280" y="1913929"/>
            <a:ext cx="5321700" cy="2772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00"/>
              <a:buFont typeface="Arial"/>
              <a:buNone/>
            </a:pPr>
            <a:r>
              <a:rPr b="1" i="0" lang="en-US" sz="1800" u="none" cap="none" strike="noStrike">
                <a:solidFill>
                  <a:srgbClr val="0B6E4F"/>
                </a:solidFill>
                <a:latin typeface="Consolas"/>
                <a:ea typeface="Consolas"/>
                <a:cs typeface="Consolas"/>
                <a:sym typeface="Consolas"/>
              </a:rPr>
              <a:t>OUTPUT  /  DM</a:t>
            </a:r>
            <a:r>
              <a:rPr b="1" baseline="-25000" i="0" lang="en-US" sz="1800" u="none" cap="none" strike="noStrike">
                <a:solidFill>
                  <a:srgbClr val="0B6E4F"/>
                </a:solidFill>
                <a:latin typeface="Consolas"/>
                <a:ea typeface="Consolas"/>
                <a:cs typeface="Consolas"/>
                <a:sym typeface="Consolas"/>
              </a:rPr>
              <a:t>r</a:t>
            </a:r>
            <a:r>
              <a:rPr b="1" i="0" lang="en-US" sz="1800" u="none" cap="none" strike="noStrike">
                <a:solidFill>
                  <a:srgbClr val="0B6E4F"/>
                </a:solidFill>
                <a:latin typeface="Consolas"/>
                <a:ea typeface="Consolas"/>
                <a:cs typeface="Consolas"/>
                <a:sym typeface="Consolas"/>
              </a:rPr>
              <a:t> </a:t>
            </a:r>
            <a:endParaRPr b="0" i="0" sz="1800" u="none" cap="none" strike="noStrike">
              <a:solidFill>
                <a:srgbClr val="000000"/>
              </a:solidFill>
              <a:latin typeface="Arial"/>
              <a:ea typeface="Arial"/>
              <a:cs typeface="Arial"/>
              <a:sym typeface="Arial"/>
            </a:endParaRPr>
          </a:p>
        </p:txBody>
      </p:sp>
      <p:sp>
        <p:nvSpPr>
          <p:cNvPr id="537" name="Google Shape;537;p7"/>
          <p:cNvSpPr/>
          <p:nvPr/>
        </p:nvSpPr>
        <p:spPr>
          <a:xfrm>
            <a:off x="822960" y="5166360"/>
            <a:ext cx="10515600" cy="365700"/>
          </a:xfrm>
          <a:prstGeom prst="roundRect">
            <a:avLst>
              <a:gd fmla="val 10000" name="adj"/>
            </a:avLst>
          </a:prstGeom>
          <a:solidFill>
            <a:srgbClr val="E6F2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8" name="Google Shape;538;p7"/>
          <p:cNvSpPr txBox="1"/>
          <p:nvPr/>
        </p:nvSpPr>
        <p:spPr>
          <a:xfrm>
            <a:off x="1024128" y="5248656"/>
            <a:ext cx="10131600" cy="238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1" i="0" lang="en-US" sz="1550" u="none" cap="none" strike="noStrike">
                <a:solidFill>
                  <a:srgbClr val="0B6E4F"/>
                </a:solidFill>
                <a:latin typeface="Calibri"/>
                <a:ea typeface="Calibri"/>
                <a:cs typeface="Calibri"/>
                <a:sym typeface="Calibri"/>
              </a:rPr>
              <a:t>GUARANTEE   Every schema column is represented in the deterministic seed.</a:t>
            </a:r>
            <a:endParaRPr b="0" i="0" sz="1400" u="none" cap="none" strike="noStrike">
              <a:solidFill>
                <a:srgbClr val="000000"/>
              </a:solidFill>
              <a:latin typeface="Arial"/>
              <a:ea typeface="Arial"/>
              <a:cs typeface="Arial"/>
              <a:sym typeface="Arial"/>
            </a:endParaRPr>
          </a:p>
        </p:txBody>
      </p:sp>
      <p:sp>
        <p:nvSpPr>
          <p:cNvPr id="539" name="Google Shape;539;p7"/>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0" name="Google Shape;540;p7"/>
          <p:cNvSpPr txBox="1"/>
          <p:nvPr/>
        </p:nvSpPr>
        <p:spPr>
          <a:xfrm>
            <a:off x="859536"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541" name="Google Shape;541;p7"/>
          <p:cNvSpPr/>
          <p:nvPr/>
        </p:nvSpPr>
        <p:spPr>
          <a:xfrm>
            <a:off x="2642615"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2" name="Google Shape;542;p7"/>
          <p:cNvSpPr txBox="1"/>
          <p:nvPr/>
        </p:nvSpPr>
        <p:spPr>
          <a:xfrm>
            <a:off x="2697479"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543" name="Google Shape;543;p7"/>
          <p:cNvSpPr/>
          <p:nvPr/>
        </p:nvSpPr>
        <p:spPr>
          <a:xfrm>
            <a:off x="4480559"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4" name="Google Shape;544;p7"/>
          <p:cNvSpPr txBox="1"/>
          <p:nvPr/>
        </p:nvSpPr>
        <p:spPr>
          <a:xfrm>
            <a:off x="4535423"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545" name="Google Shape;545;p7"/>
          <p:cNvSpPr/>
          <p:nvPr/>
        </p:nvSpPr>
        <p:spPr>
          <a:xfrm>
            <a:off x="6318503"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6" name="Google Shape;546;p7"/>
          <p:cNvSpPr txBox="1"/>
          <p:nvPr/>
        </p:nvSpPr>
        <p:spPr>
          <a:xfrm>
            <a:off x="6373367"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547" name="Google Shape;547;p7"/>
          <p:cNvSpPr/>
          <p:nvPr/>
        </p:nvSpPr>
        <p:spPr>
          <a:xfrm>
            <a:off x="8156448"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8" name="Google Shape;548;p7"/>
          <p:cNvSpPr txBox="1"/>
          <p:nvPr/>
        </p:nvSpPr>
        <p:spPr>
          <a:xfrm>
            <a:off x="8211312"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549" name="Google Shape;549;p7"/>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0" name="Google Shape;550;p7"/>
          <p:cNvSpPr txBox="1"/>
          <p:nvPr/>
        </p:nvSpPr>
        <p:spPr>
          <a:xfrm>
            <a:off x="10049256"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sp>
        <p:nvSpPr>
          <p:cNvPr descr="OWL Manchester Syntax excerpt" id="551" name="Google Shape;551;p7"/>
          <p:cNvSpPr/>
          <p:nvPr/>
        </p:nvSpPr>
        <p:spPr>
          <a:xfrm>
            <a:off x="5733300" y="2307300"/>
            <a:ext cx="5266800" cy="2651700"/>
          </a:xfrm>
          <a:prstGeom prst="roundRect">
            <a:avLst>
              <a:gd fmla="val 5000" name="adj"/>
            </a:avLst>
          </a:prstGeom>
          <a:solidFill>
            <a:srgbClr val="F6F8FA"/>
          </a:solidFill>
          <a:ln cap="flat" cmpd="sng" w="9525">
            <a:solidFill>
              <a:srgbClr val="D0D7DE"/>
            </a:solidFill>
            <a:prstDash val="solid"/>
            <a:round/>
            <a:headEnd len="sm" w="sm" type="none"/>
            <a:tailEnd len="sm" w="sm" type="none"/>
          </a:ln>
        </p:spPr>
        <p:txBody>
          <a:bodyPr anchorCtr="0" anchor="t" bIns="54850" lIns="109725" spcFirstLastPara="1" rIns="109725" wrap="square" tIns="73150">
            <a:noAutofit/>
          </a:bodyPr>
          <a:lstStyle/>
          <a:p>
            <a:pPr indent="0" lvl="0" marL="0" marR="0" rtl="0" algn="l">
              <a:lnSpc>
                <a:spcPct val="114285"/>
              </a:lnSpc>
              <a:spcBef>
                <a:spcPts val="0"/>
              </a:spcBef>
              <a:spcAft>
                <a:spcPts val="0"/>
              </a:spcAft>
              <a:buNone/>
            </a:pPr>
            <a:r>
              <a:rPr b="1" i="0" lang="en-US" sz="1400" u="none" cap="none" strike="noStrike">
                <a:solidFill>
                  <a:srgbClr val="0B6E4F"/>
                </a:solidFill>
                <a:latin typeface="Consolas"/>
                <a:ea typeface="Consolas"/>
                <a:cs typeface="Consolas"/>
                <a:sym typeface="Consolas"/>
              </a:rPr>
              <a:t>Class:</a:t>
            </a:r>
            <a:r>
              <a:rPr b="0" i="0" lang="en-US" sz="1400" u="none" cap="none" strike="noStrike">
                <a:solidFill>
                  <a:srgbClr val="1F2328"/>
                </a:solidFill>
                <a:latin typeface="Consolas"/>
                <a:ea typeface="Consolas"/>
                <a:cs typeface="Consolas"/>
                <a:sym typeface="Consolas"/>
              </a:rPr>
              <a:t> Admission</a:t>
            </a:r>
            <a:endParaRPr b="0" i="0" sz="1400" u="none" cap="none" strike="noStrike">
              <a:solidFill>
                <a:srgbClr val="000000"/>
              </a:solidFill>
              <a:latin typeface="Arial"/>
              <a:ea typeface="Arial"/>
              <a:cs typeface="Arial"/>
              <a:sym typeface="Arial"/>
            </a:endParaRPr>
          </a:p>
          <a:p>
            <a:pPr indent="0" lvl="0" marL="0" marR="0" rtl="0" algn="l">
              <a:lnSpc>
                <a:spcPct val="114285"/>
              </a:lnSpc>
              <a:spcBef>
                <a:spcPts val="0"/>
              </a:spcBef>
              <a:spcAft>
                <a:spcPts val="0"/>
              </a:spcAft>
              <a:buNone/>
            </a:pPr>
            <a:r>
              <a:rPr b="0" i="0" lang="en-US" sz="1400" u="none" cap="none" strike="noStrike">
                <a:solidFill>
                  <a:srgbClr val="1F2328"/>
                </a:solidFill>
                <a:latin typeface="Consolas"/>
                <a:ea typeface="Consolas"/>
                <a:cs typeface="Consolas"/>
                <a:sym typeface="Consolas"/>
              </a:rPr>
              <a:t>  </a:t>
            </a:r>
            <a:r>
              <a:rPr b="1" i="0" lang="en-US" sz="1400" u="none" cap="none" strike="noStrike">
                <a:solidFill>
                  <a:srgbClr val="0B6E4F"/>
                </a:solidFill>
                <a:latin typeface="Consolas"/>
                <a:ea typeface="Consolas"/>
                <a:cs typeface="Consolas"/>
                <a:sym typeface="Consolas"/>
              </a:rPr>
              <a:t>SubClassOf:</a:t>
            </a:r>
            <a:endParaRPr b="1" i="0" sz="1400" u="none" cap="none" strike="noStrike">
              <a:solidFill>
                <a:srgbClr val="0B6E4F"/>
              </a:solidFill>
              <a:latin typeface="Consolas"/>
              <a:ea typeface="Consolas"/>
              <a:cs typeface="Consolas"/>
              <a:sym typeface="Consolas"/>
            </a:endParaRPr>
          </a:p>
          <a:p>
            <a:pPr indent="0" lvl="0" marL="0" rtl="0" algn="l">
              <a:lnSpc>
                <a:spcPct val="114285"/>
              </a:lnSpc>
              <a:spcBef>
                <a:spcPts val="0"/>
              </a:spcBef>
              <a:spcAft>
                <a:spcPts val="0"/>
              </a:spcAft>
              <a:buNone/>
            </a:pPr>
            <a:r>
              <a:rPr lang="en-US">
                <a:solidFill>
                  <a:srgbClr val="1F2328"/>
                </a:solidFill>
                <a:latin typeface="Consolas"/>
                <a:ea typeface="Consolas"/>
                <a:cs typeface="Consolas"/>
                <a:sym typeface="Consolas"/>
              </a:rPr>
              <a:t>    admission_id </a:t>
            </a:r>
            <a:r>
              <a:rPr b="1" lang="en-US">
                <a:solidFill>
                  <a:srgbClr val="0B6E4F"/>
                </a:solidFill>
                <a:latin typeface="Consolas"/>
                <a:ea typeface="Consolas"/>
                <a:cs typeface="Consolas"/>
                <a:sym typeface="Consolas"/>
              </a:rPr>
              <a:t>some</a:t>
            </a:r>
            <a:r>
              <a:rPr lang="en-US">
                <a:solidFill>
                  <a:srgbClr val="1F2328"/>
                </a:solidFill>
                <a:latin typeface="Consolas"/>
                <a:ea typeface="Consolas"/>
                <a:cs typeface="Consolas"/>
                <a:sym typeface="Consolas"/>
              </a:rPr>
              <a:t> </a:t>
            </a:r>
            <a:r>
              <a:rPr lang="en-US">
                <a:solidFill>
                  <a:srgbClr val="6F42C1"/>
                </a:solidFill>
                <a:latin typeface="Consolas"/>
                <a:ea typeface="Consolas"/>
                <a:cs typeface="Consolas"/>
                <a:sym typeface="Consolas"/>
              </a:rPr>
              <a:t>xsd:integer</a:t>
            </a:r>
            <a:r>
              <a:rPr lang="en-US">
                <a:solidFill>
                  <a:srgbClr val="1F2328"/>
                </a:solidFill>
                <a:latin typeface="Consolas"/>
                <a:ea typeface="Consolas"/>
                <a:cs typeface="Consolas"/>
                <a:sym typeface="Consolas"/>
              </a:rPr>
              <a:t>,</a:t>
            </a:r>
            <a:endParaRPr b="1">
              <a:solidFill>
                <a:srgbClr val="0B6E4F"/>
              </a:solidFill>
              <a:latin typeface="Consolas"/>
              <a:ea typeface="Consolas"/>
              <a:cs typeface="Consolas"/>
              <a:sym typeface="Consolas"/>
            </a:endParaRPr>
          </a:p>
          <a:p>
            <a:pPr indent="0" lvl="0" marL="0" marR="0" rtl="0" algn="l">
              <a:lnSpc>
                <a:spcPct val="114285"/>
              </a:lnSpc>
              <a:spcBef>
                <a:spcPts val="0"/>
              </a:spcBef>
              <a:spcAft>
                <a:spcPts val="0"/>
              </a:spcAft>
              <a:buNone/>
            </a:pPr>
            <a:r>
              <a:rPr b="0" i="0" lang="en-US" sz="1400" u="none" cap="none" strike="noStrike">
                <a:solidFill>
                  <a:srgbClr val="1F2328"/>
                </a:solidFill>
                <a:latin typeface="Consolas"/>
                <a:ea typeface="Consolas"/>
                <a:cs typeface="Consolas"/>
                <a:sym typeface="Consolas"/>
              </a:rPr>
              <a:t>    patient_id </a:t>
            </a:r>
            <a:r>
              <a:rPr b="1" i="0" lang="en-US" sz="1400" u="none" cap="none" strike="noStrike">
                <a:solidFill>
                  <a:srgbClr val="0B6E4F"/>
                </a:solidFill>
                <a:latin typeface="Consolas"/>
                <a:ea typeface="Consolas"/>
                <a:cs typeface="Consolas"/>
                <a:sym typeface="Consolas"/>
              </a:rPr>
              <a:t>some</a:t>
            </a:r>
            <a:r>
              <a:rPr b="0" i="0" lang="en-US" sz="1400" u="none" cap="none" strike="noStrike">
                <a:solidFill>
                  <a:srgbClr val="1F2328"/>
                </a:solidFill>
                <a:latin typeface="Consolas"/>
                <a:ea typeface="Consolas"/>
                <a:cs typeface="Consolas"/>
                <a:sym typeface="Consolas"/>
              </a:rPr>
              <a:t> PatientData,</a:t>
            </a:r>
            <a:r>
              <a:rPr b="0" i="1" lang="en-US" sz="1200" u="none" cap="none" strike="noStrike">
                <a:solidFill>
                  <a:srgbClr val="5B6770"/>
                </a:solidFill>
                <a:latin typeface="Calibri"/>
                <a:ea typeface="Calibri"/>
                <a:cs typeface="Calibri"/>
                <a:sym typeface="Calibri"/>
              </a:rPr>
              <a:t>	            ← each has a patient</a:t>
            </a:r>
            <a:endParaRPr b="0" i="0" sz="1400" u="none" cap="none" strike="noStrike">
              <a:solidFill>
                <a:srgbClr val="000000"/>
              </a:solidFill>
              <a:latin typeface="Arial"/>
              <a:ea typeface="Arial"/>
              <a:cs typeface="Arial"/>
              <a:sym typeface="Arial"/>
            </a:endParaRPr>
          </a:p>
          <a:p>
            <a:pPr indent="0" lvl="0" marL="0" marR="0" rtl="0" algn="l">
              <a:lnSpc>
                <a:spcPct val="114285"/>
              </a:lnSpc>
              <a:spcBef>
                <a:spcPts val="0"/>
              </a:spcBef>
              <a:spcAft>
                <a:spcPts val="0"/>
              </a:spcAft>
              <a:buNone/>
            </a:pPr>
            <a:r>
              <a:rPr b="0" i="0" lang="en-US" sz="1400" u="none" cap="none" strike="noStrike">
                <a:solidFill>
                  <a:srgbClr val="1F2328"/>
                </a:solidFill>
                <a:latin typeface="Consolas"/>
                <a:ea typeface="Consolas"/>
                <a:cs typeface="Consolas"/>
                <a:sym typeface="Consolas"/>
              </a:rPr>
              <a:t>    BM_DEP </a:t>
            </a:r>
            <a:r>
              <a:rPr b="1" i="0" lang="en-US" sz="1400" u="none" cap="none" strike="noStrike">
                <a:solidFill>
                  <a:srgbClr val="0B6E4F"/>
                </a:solidFill>
                <a:latin typeface="Consolas"/>
                <a:ea typeface="Consolas"/>
                <a:cs typeface="Consolas"/>
                <a:sym typeface="Consolas"/>
              </a:rPr>
              <a:t>only</a:t>
            </a:r>
            <a:r>
              <a:rPr b="0" i="0" lang="en-US" sz="1400" u="none" cap="none" strike="noStrike">
                <a:solidFill>
                  <a:srgbClr val="1F2328"/>
                </a:solidFill>
                <a:latin typeface="Consolas"/>
                <a:ea typeface="Consolas"/>
                <a:cs typeface="Consolas"/>
                <a:sym typeface="Consolas"/>
              </a:rPr>
              <a:t> </a:t>
            </a:r>
            <a:r>
              <a:rPr b="0" i="0" lang="en-US" sz="1400" u="none" cap="none" strike="noStrike">
                <a:solidFill>
                  <a:srgbClr val="6F42C1"/>
                </a:solidFill>
                <a:latin typeface="Consolas"/>
                <a:ea typeface="Consolas"/>
                <a:cs typeface="Consolas"/>
                <a:sym typeface="Consolas"/>
              </a:rPr>
              <a:t>xsd:integer</a:t>
            </a:r>
            <a:r>
              <a:rPr b="0" i="0" lang="en-US" sz="1400" u="none" cap="none" strike="noStrike">
                <a:solidFill>
                  <a:srgbClr val="1F2328"/>
                </a:solidFill>
                <a:latin typeface="Consolas"/>
                <a:ea typeface="Consolas"/>
                <a:cs typeface="Consolas"/>
                <a:sym typeface="Consolas"/>
              </a:rPr>
              <a:t>,</a:t>
            </a:r>
            <a:r>
              <a:rPr b="0" i="1" lang="en-US" sz="1200" u="none" cap="none" strike="noStrike">
                <a:solidFill>
                  <a:srgbClr val="5B6770"/>
                </a:solidFill>
                <a:latin typeface="Calibri"/>
                <a:ea typeface="Calibri"/>
                <a:cs typeface="Calibri"/>
                <a:sym typeface="Calibri"/>
              </a:rPr>
              <a:t>	                     ← if present, an integer</a:t>
            </a:r>
            <a:endParaRPr b="0" i="0" sz="1400" u="none" cap="none" strike="noStrike">
              <a:solidFill>
                <a:srgbClr val="000000"/>
              </a:solidFill>
              <a:latin typeface="Arial"/>
              <a:ea typeface="Arial"/>
              <a:cs typeface="Arial"/>
              <a:sym typeface="Arial"/>
            </a:endParaRPr>
          </a:p>
          <a:p>
            <a:pPr indent="0" lvl="0" marL="0" marR="0" rtl="0" algn="l">
              <a:lnSpc>
                <a:spcPct val="114285"/>
              </a:lnSpc>
              <a:spcBef>
                <a:spcPts val="0"/>
              </a:spcBef>
              <a:spcAft>
                <a:spcPts val="0"/>
              </a:spcAft>
              <a:buNone/>
            </a:pPr>
            <a:r>
              <a:rPr b="0" i="0" lang="en-US" sz="1400" u="none" cap="none" strike="noStrike">
                <a:solidFill>
                  <a:srgbClr val="1F2328"/>
                </a:solidFill>
                <a:latin typeface="Consolas"/>
                <a:ea typeface="Consolas"/>
                <a:cs typeface="Consolas"/>
                <a:sym typeface="Consolas"/>
              </a:rPr>
              <a:t>    ecog_stage </a:t>
            </a:r>
            <a:r>
              <a:rPr b="1" i="0" lang="en-US" sz="1400" u="none" cap="none" strike="noStrike">
                <a:solidFill>
                  <a:srgbClr val="0B6E4F"/>
                </a:solidFill>
                <a:latin typeface="Consolas"/>
                <a:ea typeface="Consolas"/>
                <a:cs typeface="Consolas"/>
                <a:sym typeface="Consolas"/>
              </a:rPr>
              <a:t>only</a:t>
            </a:r>
            <a:r>
              <a:rPr b="0" i="0" lang="en-US" sz="1400" u="none" cap="none" strike="noStrike">
                <a:solidFill>
                  <a:srgbClr val="1F2328"/>
                </a:solidFill>
                <a:latin typeface="Consolas"/>
                <a:ea typeface="Consolas"/>
                <a:cs typeface="Consolas"/>
                <a:sym typeface="Consolas"/>
              </a:rPr>
              <a:t> </a:t>
            </a:r>
            <a:r>
              <a:rPr b="0" i="0" lang="en-US" sz="1400" u="none" cap="none" strike="noStrike">
                <a:solidFill>
                  <a:srgbClr val="6F42C1"/>
                </a:solidFill>
                <a:latin typeface="Consolas"/>
                <a:ea typeface="Consolas"/>
                <a:cs typeface="Consolas"/>
                <a:sym typeface="Consolas"/>
              </a:rPr>
              <a:t>xsd:integer</a:t>
            </a:r>
            <a:endParaRPr b="0" i="0" sz="1400" u="none" cap="none" strike="noStrike">
              <a:solidFill>
                <a:srgbClr val="000000"/>
              </a:solidFill>
              <a:latin typeface="Arial"/>
              <a:ea typeface="Arial"/>
              <a:cs typeface="Arial"/>
              <a:sym typeface="Arial"/>
            </a:endParaRPr>
          </a:p>
          <a:p>
            <a:pPr indent="0" lvl="0" marL="0" rtl="0" algn="l">
              <a:lnSpc>
                <a:spcPct val="114285"/>
              </a:lnSpc>
              <a:spcBef>
                <a:spcPts val="0"/>
              </a:spcBef>
              <a:spcAft>
                <a:spcPts val="0"/>
              </a:spcAft>
              <a:buNone/>
            </a:pPr>
            <a:r>
              <a:rPr b="1" lang="en-US">
                <a:solidFill>
                  <a:srgbClr val="0B6E4F"/>
                </a:solidFill>
                <a:latin typeface="Consolas"/>
                <a:ea typeface="Consolas"/>
                <a:cs typeface="Consolas"/>
                <a:sym typeface="Consolas"/>
              </a:rPr>
              <a:t>DataProperty:</a:t>
            </a:r>
            <a:r>
              <a:rPr lang="en-US">
                <a:solidFill>
                  <a:srgbClr val="1F2328"/>
                </a:solidFill>
                <a:latin typeface="Consolas"/>
                <a:ea typeface="Consolas"/>
                <a:cs typeface="Consolas"/>
                <a:sym typeface="Consolas"/>
              </a:rPr>
              <a:t> admission_id</a:t>
            </a:r>
            <a:endParaRPr b="1">
              <a:solidFill>
                <a:srgbClr val="0B6E4F"/>
              </a:solidFill>
              <a:latin typeface="Consolas"/>
              <a:ea typeface="Consolas"/>
              <a:cs typeface="Consolas"/>
              <a:sym typeface="Consolas"/>
            </a:endParaRPr>
          </a:p>
          <a:p>
            <a:pPr indent="0" lvl="0" marL="0" marR="0" rtl="0" algn="l">
              <a:lnSpc>
                <a:spcPct val="114285"/>
              </a:lnSpc>
              <a:spcBef>
                <a:spcPts val="0"/>
              </a:spcBef>
              <a:spcAft>
                <a:spcPts val="0"/>
              </a:spcAft>
              <a:buNone/>
            </a:pPr>
            <a:r>
              <a:rPr b="1" i="0" lang="en-US" sz="1400" u="none" cap="none" strike="noStrike">
                <a:solidFill>
                  <a:srgbClr val="0B6E4F"/>
                </a:solidFill>
                <a:latin typeface="Consolas"/>
                <a:ea typeface="Consolas"/>
                <a:cs typeface="Consolas"/>
                <a:sym typeface="Consolas"/>
              </a:rPr>
              <a:t>ObjectProperty:</a:t>
            </a:r>
            <a:r>
              <a:rPr b="0" i="0" lang="en-US" sz="1400" u="none" cap="none" strike="noStrike">
                <a:solidFill>
                  <a:srgbClr val="1F2328"/>
                </a:solidFill>
                <a:latin typeface="Consolas"/>
                <a:ea typeface="Consolas"/>
                <a:cs typeface="Consolas"/>
                <a:sym typeface="Consolas"/>
              </a:rPr>
              <a:t> patient_id</a:t>
            </a:r>
            <a:r>
              <a:rPr b="0" i="1" lang="en-US" sz="1200" u="none" cap="none" strike="noStrike">
                <a:solidFill>
                  <a:srgbClr val="5B6770"/>
                </a:solidFill>
                <a:latin typeface="Calibri"/>
                <a:ea typeface="Calibri"/>
                <a:cs typeface="Calibri"/>
                <a:sym typeface="Calibri"/>
              </a:rPr>
              <a:t>	                    ← the FK becomes a link</a:t>
            </a:r>
            <a:endParaRPr b="0" i="0" sz="1400" u="none" cap="none" strike="noStrike">
              <a:solidFill>
                <a:srgbClr val="000000"/>
              </a:solidFill>
              <a:latin typeface="Arial"/>
              <a:ea typeface="Arial"/>
              <a:cs typeface="Arial"/>
              <a:sym typeface="Arial"/>
            </a:endParaRPr>
          </a:p>
          <a:p>
            <a:pPr indent="0" lvl="0" marL="0" marR="0" rtl="0" algn="l">
              <a:lnSpc>
                <a:spcPct val="114285"/>
              </a:lnSpc>
              <a:spcBef>
                <a:spcPts val="0"/>
              </a:spcBef>
              <a:spcAft>
                <a:spcPts val="0"/>
              </a:spcAft>
              <a:buNone/>
            </a:pPr>
            <a:r>
              <a:rPr b="1" i="0" lang="en-US" sz="1400" u="none" cap="none" strike="noStrike">
                <a:solidFill>
                  <a:srgbClr val="0B6E4F"/>
                </a:solidFill>
                <a:latin typeface="Consolas"/>
                <a:ea typeface="Consolas"/>
                <a:cs typeface="Consolas"/>
                <a:sym typeface="Consolas"/>
              </a:rPr>
              <a:t>DataProperty:</a:t>
            </a:r>
            <a:r>
              <a:rPr b="0" i="0" lang="en-US" sz="1400" u="none" cap="none" strike="noStrike">
                <a:solidFill>
                  <a:srgbClr val="1F2328"/>
                </a:solidFill>
                <a:latin typeface="Consolas"/>
                <a:ea typeface="Consolas"/>
                <a:cs typeface="Consolas"/>
                <a:sym typeface="Consolas"/>
              </a:rPr>
              <a:t> BM_DEP</a:t>
            </a:r>
            <a:endParaRPr b="0" i="0" sz="1400" u="none" cap="none" strike="noStrike">
              <a:solidFill>
                <a:srgbClr val="000000"/>
              </a:solidFill>
              <a:latin typeface="Arial"/>
              <a:ea typeface="Arial"/>
              <a:cs typeface="Arial"/>
              <a:sym typeface="Arial"/>
            </a:endParaRPr>
          </a:p>
          <a:p>
            <a:pPr indent="0" lvl="0" marL="0" marR="0" rtl="0" algn="l">
              <a:lnSpc>
                <a:spcPct val="114285"/>
              </a:lnSpc>
              <a:spcBef>
                <a:spcPts val="0"/>
              </a:spcBef>
              <a:spcAft>
                <a:spcPts val="0"/>
              </a:spcAft>
              <a:buNone/>
            </a:pPr>
            <a:r>
              <a:rPr b="1" i="0" lang="en-US" sz="1400" u="none" cap="none" strike="noStrike">
                <a:solidFill>
                  <a:srgbClr val="0B6E4F"/>
                </a:solidFill>
                <a:latin typeface="Consolas"/>
                <a:ea typeface="Consolas"/>
                <a:cs typeface="Consolas"/>
                <a:sym typeface="Consolas"/>
              </a:rPr>
              <a:t>DataProperty:</a:t>
            </a:r>
            <a:r>
              <a:rPr b="0" i="0" lang="en-US" sz="1400" u="none" cap="none" strike="noStrike">
                <a:solidFill>
                  <a:srgbClr val="1F2328"/>
                </a:solidFill>
                <a:latin typeface="Consolas"/>
                <a:ea typeface="Consolas"/>
                <a:cs typeface="Consolas"/>
                <a:sym typeface="Consolas"/>
              </a:rPr>
              <a:t> ecog_stage</a:t>
            </a:r>
            <a:endParaRPr b="0" i="0" sz="1400" u="none" cap="none" strike="noStrike">
              <a:solidFill>
                <a:srgbClr val="000000"/>
              </a:solidFill>
              <a:latin typeface="Arial"/>
              <a:ea typeface="Arial"/>
              <a:cs typeface="Arial"/>
              <a:sym typeface="Arial"/>
            </a:endParaRPr>
          </a:p>
        </p:txBody>
      </p:sp>
      <p:sp>
        <p:nvSpPr>
          <p:cNvPr id="552" name="Google Shape;552;p7"/>
          <p:cNvSpPr/>
          <p:nvPr/>
        </p:nvSpPr>
        <p:spPr>
          <a:xfrm>
            <a:off x="1005800" y="2608194"/>
            <a:ext cx="2696700" cy="17922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3" name="Google Shape;553;p7"/>
          <p:cNvSpPr txBox="1"/>
          <p:nvPr/>
        </p:nvSpPr>
        <p:spPr>
          <a:xfrm>
            <a:off x="1170381" y="2645475"/>
            <a:ext cx="2331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cxnSp>
        <p:nvCxnSpPr>
          <p:cNvPr id="554" name="Google Shape;554;p7"/>
          <p:cNvCxnSpPr/>
          <p:nvPr/>
        </p:nvCxnSpPr>
        <p:spPr>
          <a:xfrm>
            <a:off x="1170381" y="3066099"/>
            <a:ext cx="2313300" cy="0"/>
          </a:xfrm>
          <a:prstGeom prst="straightConnector1">
            <a:avLst/>
          </a:prstGeom>
          <a:noFill/>
          <a:ln cap="flat" cmpd="sng" w="19050">
            <a:solidFill>
              <a:srgbClr val="8E989E"/>
            </a:solidFill>
            <a:prstDash val="solid"/>
            <a:miter lim="80"/>
            <a:headEnd len="sm" w="sm" type="none"/>
            <a:tailEnd len="sm" w="sm" type="none"/>
          </a:ln>
        </p:spPr>
      </p:cxnSp>
      <p:sp>
        <p:nvSpPr>
          <p:cNvPr id="555" name="Google Shape;555;p7"/>
          <p:cNvSpPr/>
          <p:nvPr/>
        </p:nvSpPr>
        <p:spPr>
          <a:xfrm>
            <a:off x="1170381" y="3194115"/>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alibri"/>
                <a:ea typeface="Calibri"/>
                <a:cs typeface="Calibri"/>
                <a:sym typeface="Calibri"/>
              </a:rPr>
              <a:t>patient_id</a:t>
            </a:r>
            <a:endParaRPr/>
          </a:p>
        </p:txBody>
      </p:sp>
      <p:sp>
        <p:nvSpPr>
          <p:cNvPr id="556" name="Google Shape;556;p7"/>
          <p:cNvSpPr/>
          <p:nvPr/>
        </p:nvSpPr>
        <p:spPr>
          <a:xfrm>
            <a:off x="1769877" y="3242803"/>
            <a:ext cx="1861800" cy="475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FK → PatientData</a:t>
            </a:r>
            <a:endParaRPr b="0" i="0" sz="1400" u="none" cap="none" strike="noStrike">
              <a:solidFill>
                <a:srgbClr val="5B6770"/>
              </a:solidFill>
              <a:latin typeface="Calibri"/>
              <a:ea typeface="Calibri"/>
              <a:cs typeface="Calibri"/>
              <a:sym typeface="Calibri"/>
            </a:endParaRPr>
          </a:p>
          <a:p>
            <a:pPr indent="0" lvl="0" marL="0" marR="0" rtl="0" algn="r">
              <a:lnSpc>
                <a:spcPct val="100000"/>
              </a:lnSpc>
              <a:spcBef>
                <a:spcPts val="0"/>
              </a:spcBef>
              <a:spcAft>
                <a:spcPts val="0"/>
              </a:spcAft>
              <a:buNone/>
            </a:pPr>
            <a:r>
              <a:t/>
            </a:r>
            <a:endParaRPr>
              <a:solidFill>
                <a:srgbClr val="5B6770"/>
              </a:solidFill>
              <a:latin typeface="Calibri"/>
              <a:ea typeface="Calibri"/>
              <a:cs typeface="Calibri"/>
              <a:sym typeface="Calibri"/>
            </a:endParaRPr>
          </a:p>
        </p:txBody>
      </p:sp>
      <p:sp>
        <p:nvSpPr>
          <p:cNvPr id="557" name="Google Shape;557;p7"/>
          <p:cNvSpPr/>
          <p:nvPr/>
        </p:nvSpPr>
        <p:spPr>
          <a:xfrm>
            <a:off x="1170381" y="3541587"/>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alibri"/>
                <a:ea typeface="Calibri"/>
                <a:cs typeface="Calibri"/>
                <a:sym typeface="Calibri"/>
              </a:rPr>
              <a:t>BM_DEP</a:t>
            </a:r>
            <a:endParaRPr/>
          </a:p>
        </p:txBody>
      </p:sp>
      <p:sp>
        <p:nvSpPr>
          <p:cNvPr id="558" name="Google Shape;558;p7"/>
          <p:cNvSpPr/>
          <p:nvPr/>
        </p:nvSpPr>
        <p:spPr>
          <a:xfrm>
            <a:off x="2734005" y="3541587"/>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INT</a:t>
            </a:r>
            <a:endParaRPr/>
          </a:p>
        </p:txBody>
      </p:sp>
      <p:sp>
        <p:nvSpPr>
          <p:cNvPr id="559" name="Google Shape;559;p7"/>
          <p:cNvSpPr/>
          <p:nvPr/>
        </p:nvSpPr>
        <p:spPr>
          <a:xfrm>
            <a:off x="1170381" y="3889059"/>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alibri"/>
                <a:ea typeface="Calibri"/>
                <a:cs typeface="Calibri"/>
                <a:sym typeface="Calibri"/>
              </a:rPr>
              <a:t>ecog_stage</a:t>
            </a:r>
            <a:endParaRPr/>
          </a:p>
        </p:txBody>
      </p:sp>
      <p:sp>
        <p:nvSpPr>
          <p:cNvPr id="560" name="Google Shape;560;p7"/>
          <p:cNvSpPr/>
          <p:nvPr/>
        </p:nvSpPr>
        <p:spPr>
          <a:xfrm>
            <a:off x="2734005" y="3889059"/>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INT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5" name="Shape 565"/>
        <p:cNvGrpSpPr/>
        <p:nvPr/>
      </p:nvGrpSpPr>
      <p:grpSpPr>
        <a:xfrm>
          <a:off x="0" y="0"/>
          <a:ext cx="0" cy="0"/>
          <a:chOff x="0" y="0"/>
          <a:chExt cx="0" cy="0"/>
        </a:xfrm>
      </p:grpSpPr>
      <p:sp>
        <p:nvSpPr>
          <p:cNvPr id="566" name="Google Shape;566;h2627160d5792b11b_0_504"/>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3 / RETRIEVE</a:t>
            </a:r>
            <a:endParaRPr b="0" i="0" sz="1400" u="none" cap="none" strike="noStrike">
              <a:solidFill>
                <a:srgbClr val="000000"/>
              </a:solidFill>
              <a:latin typeface="Arial"/>
              <a:ea typeface="Arial"/>
              <a:cs typeface="Arial"/>
              <a:sym typeface="Arial"/>
            </a:endParaRPr>
          </a:p>
        </p:txBody>
      </p:sp>
      <p:sp>
        <p:nvSpPr>
          <p:cNvPr id="567" name="Google Shape;567;h2627160d5792b11b_0_504"/>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The draft is structurally faithful. But what does it mean?</a:t>
            </a:r>
            <a:endParaRPr b="0" i="0" sz="1400" u="none" cap="none" strike="noStrike">
              <a:solidFill>
                <a:srgbClr val="000000"/>
              </a:solidFill>
              <a:latin typeface="Arial"/>
              <a:ea typeface="Arial"/>
              <a:cs typeface="Arial"/>
              <a:sym typeface="Arial"/>
            </a:endParaRPr>
          </a:p>
        </p:txBody>
      </p:sp>
      <p:sp>
        <p:nvSpPr>
          <p:cNvPr id="568" name="Google Shape;568;h2627160d5792b11b_0_504"/>
          <p:cNvSpPr txBox="1"/>
          <p:nvPr/>
        </p:nvSpPr>
        <p:spPr>
          <a:xfrm>
            <a:off x="795528" y="1397241"/>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B6770"/>
                </a:solidFill>
                <a:latin typeface="Calibri"/>
                <a:ea typeface="Calibri"/>
                <a:cs typeface="Calibri"/>
                <a:sym typeface="Calibri"/>
              </a:rPr>
              <a:t>RIGOR gathers a </a:t>
            </a:r>
            <a:r>
              <a:rPr b="1" i="0" lang="en-US" sz="1600" u="none" cap="none" strike="noStrike">
                <a:solidFill>
                  <a:srgbClr val="5B6770"/>
                </a:solidFill>
                <a:latin typeface="Calibri"/>
                <a:ea typeface="Calibri"/>
                <a:cs typeface="Calibri"/>
                <a:sym typeface="Calibri"/>
              </a:rPr>
              <a:t>context</a:t>
            </a:r>
            <a:r>
              <a:rPr b="0" i="0" lang="en-US" sz="1600" u="none" cap="none" strike="noStrike">
                <a:solidFill>
                  <a:srgbClr val="5B6770"/>
                </a:solidFill>
                <a:latin typeface="Calibri"/>
                <a:ea typeface="Calibri"/>
                <a:cs typeface="Calibri"/>
                <a:sym typeface="Calibri"/>
              </a:rPr>
              <a:t> package from </a:t>
            </a: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complementary </a:t>
            </a:r>
            <a:r>
              <a:rPr b="1" i="0" lang="en-US" sz="1600" u="none" cap="none" strike="noStrike">
                <a:solidFill>
                  <a:srgbClr val="5B6770"/>
                </a:solidFill>
                <a:latin typeface="Calibri"/>
                <a:ea typeface="Calibri"/>
                <a:cs typeface="Calibri"/>
                <a:sym typeface="Calibri"/>
              </a:rPr>
              <a:t>sources</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569" name="Google Shape;569;h2627160d5792b11b_0_504"/>
          <p:cNvSpPr/>
          <p:nvPr/>
        </p:nvSpPr>
        <p:spPr>
          <a:xfrm>
            <a:off x="822960" y="1796560"/>
            <a:ext cx="3319200" cy="2514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0" name="Google Shape;570;h2627160d5792b11b_0_504"/>
          <p:cNvSpPr/>
          <p:nvPr/>
        </p:nvSpPr>
        <p:spPr>
          <a:xfrm>
            <a:off x="822960" y="1796560"/>
            <a:ext cx="3319200" cy="639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1" name="Google Shape;571;h2627160d5792b11b_0_504"/>
          <p:cNvSpPr txBox="1"/>
          <p:nvPr/>
        </p:nvSpPr>
        <p:spPr>
          <a:xfrm>
            <a:off x="1005840" y="223075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1  DOCUMENTATION</a:t>
            </a:r>
            <a:endParaRPr b="0" i="0" sz="1400" u="none" cap="none" strike="noStrike">
              <a:solidFill>
                <a:srgbClr val="000000"/>
              </a:solidFill>
              <a:latin typeface="Arial"/>
              <a:ea typeface="Arial"/>
              <a:cs typeface="Arial"/>
              <a:sym typeface="Arial"/>
            </a:endParaRPr>
          </a:p>
        </p:txBody>
      </p:sp>
      <p:sp>
        <p:nvSpPr>
          <p:cNvPr id="572" name="Google Shape;572;h2627160d5792b11b_0_504"/>
          <p:cNvSpPr txBox="1"/>
          <p:nvPr/>
        </p:nvSpPr>
        <p:spPr>
          <a:xfrm>
            <a:off x="1005840" y="2830775"/>
            <a:ext cx="2990100" cy="26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29"/>
              <a:buFont typeface="Arial"/>
              <a:buNone/>
            </a:pPr>
            <a:r>
              <a:rPr b="1" i="0" lang="en-US" sz="1730" u="none" cap="none" strike="noStrike">
                <a:solidFill>
                  <a:srgbClr val="1F2328"/>
                </a:solidFill>
                <a:latin typeface="Calibri"/>
                <a:ea typeface="Calibri"/>
                <a:cs typeface="Calibri"/>
                <a:sym typeface="Calibri"/>
              </a:rPr>
              <a:t>What do column names mean?</a:t>
            </a:r>
            <a:endParaRPr b="0" i="0" sz="1400" u="none" cap="none" strike="noStrike">
              <a:solidFill>
                <a:srgbClr val="000000"/>
              </a:solidFill>
              <a:latin typeface="Arial"/>
              <a:ea typeface="Arial"/>
              <a:cs typeface="Arial"/>
              <a:sym typeface="Arial"/>
            </a:endParaRPr>
          </a:p>
        </p:txBody>
      </p:sp>
      <p:sp>
        <p:nvSpPr>
          <p:cNvPr id="573" name="Google Shape;573;h2627160d5792b11b_0_504"/>
          <p:cNvSpPr/>
          <p:nvPr/>
        </p:nvSpPr>
        <p:spPr>
          <a:xfrm>
            <a:off x="996696" y="3224627"/>
            <a:ext cx="2962800" cy="5577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4" name="Google Shape;574;h2627160d5792b11b_0_504"/>
          <p:cNvSpPr txBox="1"/>
          <p:nvPr/>
        </p:nvSpPr>
        <p:spPr>
          <a:xfrm>
            <a:off x="1124700" y="3258737"/>
            <a:ext cx="2706600" cy="4821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Clr>
                <a:srgbClr val="000000"/>
              </a:buClr>
              <a:buSzPts val="1520"/>
              <a:buFont typeface="Arial"/>
              <a:buNone/>
            </a:pPr>
            <a:r>
              <a:rPr b="1" lang="en-US" sz="1520">
                <a:solidFill>
                  <a:srgbClr val="0B6E4F"/>
                </a:solidFill>
                <a:latin typeface="Consolas"/>
                <a:ea typeface="Consolas"/>
                <a:cs typeface="Consolas"/>
                <a:sym typeface="Consolas"/>
              </a:rPr>
              <a:t>BM_DEP</a:t>
            </a:r>
            <a:r>
              <a:rPr b="0" i="0" lang="en-US" sz="1520" u="none" cap="none" strike="noStrike">
                <a:solidFill>
                  <a:srgbClr val="1F2328"/>
                </a:solidFill>
                <a:latin typeface="Calibri"/>
                <a:ea typeface="Calibri"/>
                <a:cs typeface="Calibri"/>
                <a:sym typeface="Calibri"/>
              </a:rPr>
              <a:t>→ Bone Marrow</a:t>
            </a:r>
            <a:endParaRPr b="0" i="0" sz="1400" u="none" cap="none" strike="noStrike">
              <a:solidFill>
                <a:srgbClr val="000000"/>
              </a:solidFill>
              <a:latin typeface="Arial"/>
              <a:ea typeface="Arial"/>
              <a:cs typeface="Arial"/>
              <a:sym typeface="Arial"/>
            </a:endParaRPr>
          </a:p>
          <a:p>
            <a:pPr indent="0" lvl="0" marL="0" marR="0" rtl="0" algn="l">
              <a:lnSpc>
                <a:spcPct val="106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Depression</a:t>
            </a:r>
            <a:endParaRPr b="0" i="0" sz="1400" u="none" cap="none" strike="noStrike">
              <a:solidFill>
                <a:srgbClr val="000000"/>
              </a:solidFill>
              <a:latin typeface="Arial"/>
              <a:ea typeface="Arial"/>
              <a:cs typeface="Arial"/>
              <a:sym typeface="Arial"/>
            </a:endParaRPr>
          </a:p>
        </p:txBody>
      </p:sp>
      <p:sp>
        <p:nvSpPr>
          <p:cNvPr id="575" name="Google Shape;575;h2627160d5792b11b_0_504"/>
          <p:cNvSpPr txBox="1"/>
          <p:nvPr/>
        </p:nvSpPr>
        <p:spPr>
          <a:xfrm>
            <a:off x="1005840" y="3872248"/>
            <a:ext cx="2944500" cy="238500"/>
          </a:xfrm>
          <a:prstGeom prst="rect">
            <a:avLst/>
          </a:prstGeom>
          <a:noFill/>
          <a:ln>
            <a:noFill/>
          </a:ln>
        </p:spPr>
        <p:txBody>
          <a:bodyPr anchorCtr="0" anchor="ctr" bIns="0" lIns="0" spcFirstLastPara="1" rIns="0" wrap="square" tIns="0">
            <a:spAutoFit/>
          </a:bodyPr>
          <a:lstStyle/>
          <a:p>
            <a:pPr indent="0" lvl="0" marL="0" marR="0" rtl="0" algn="l">
              <a:lnSpc>
                <a:spcPct val="106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Defines cryptic names</a:t>
            </a:r>
            <a:endParaRPr b="0" i="0" sz="1400" u="none" cap="none" strike="noStrike">
              <a:solidFill>
                <a:srgbClr val="000000"/>
              </a:solidFill>
              <a:latin typeface="Arial"/>
              <a:ea typeface="Arial"/>
              <a:cs typeface="Arial"/>
              <a:sym typeface="Arial"/>
            </a:endParaRPr>
          </a:p>
        </p:txBody>
      </p:sp>
      <p:sp>
        <p:nvSpPr>
          <p:cNvPr id="576" name="Google Shape;576;h2627160d5792b11b_0_504"/>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7" name="Google Shape;577;h2627160d5792b11b_0_504"/>
          <p:cNvSpPr txBox="1"/>
          <p:nvPr/>
        </p:nvSpPr>
        <p:spPr>
          <a:xfrm>
            <a:off x="85953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578" name="Google Shape;578;h2627160d5792b11b_0_504"/>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9" name="Google Shape;579;h2627160d5792b11b_0_504"/>
          <p:cNvSpPr txBox="1"/>
          <p:nvPr/>
        </p:nvSpPr>
        <p:spPr>
          <a:xfrm>
            <a:off x="2697479"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580" name="Google Shape;580;h2627160d5792b11b_0_504"/>
          <p:cNvSpPr/>
          <p:nvPr/>
        </p:nvSpPr>
        <p:spPr>
          <a:xfrm>
            <a:off x="4480559"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1" name="Google Shape;581;h2627160d5792b11b_0_504"/>
          <p:cNvSpPr txBox="1"/>
          <p:nvPr/>
        </p:nvSpPr>
        <p:spPr>
          <a:xfrm>
            <a:off x="4535423"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582" name="Google Shape;582;h2627160d5792b11b_0_504"/>
          <p:cNvSpPr/>
          <p:nvPr/>
        </p:nvSpPr>
        <p:spPr>
          <a:xfrm>
            <a:off x="6318503"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3" name="Google Shape;583;h2627160d5792b11b_0_504"/>
          <p:cNvSpPr txBox="1"/>
          <p:nvPr/>
        </p:nvSpPr>
        <p:spPr>
          <a:xfrm>
            <a:off x="6373367"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584" name="Google Shape;584;h2627160d5792b11b_0_504"/>
          <p:cNvSpPr/>
          <p:nvPr/>
        </p:nvSpPr>
        <p:spPr>
          <a:xfrm>
            <a:off x="8156448"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5" name="Google Shape;585;h2627160d5792b11b_0_504"/>
          <p:cNvSpPr txBox="1"/>
          <p:nvPr/>
        </p:nvSpPr>
        <p:spPr>
          <a:xfrm>
            <a:off x="8211312"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586" name="Google Shape;586;h2627160d5792b11b_0_504"/>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7" name="Google Shape;587;h2627160d5792b11b_0_504"/>
          <p:cNvSpPr txBox="1"/>
          <p:nvPr/>
        </p:nvSpPr>
        <p:spPr>
          <a:xfrm>
            <a:off x="1004925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pic>
        <p:nvPicPr>
          <p:cNvPr id="588" name="Google Shape;588;h2627160d5792b11b_0_504" title="Ontology Taxonomy Documentation Icons.png"/>
          <p:cNvPicPr preferRelativeResize="0"/>
          <p:nvPr/>
        </p:nvPicPr>
        <p:blipFill rotWithShape="1">
          <a:blip r:embed="rId3">
            <a:alphaModFix/>
          </a:blip>
          <a:srcRect b="14185" l="36225" r="31825" t="16211"/>
          <a:stretch/>
        </p:blipFill>
        <p:spPr>
          <a:xfrm>
            <a:off x="2873021" y="1879752"/>
            <a:ext cx="1086331" cy="7892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3" name="Shape 593"/>
        <p:cNvGrpSpPr/>
        <p:nvPr/>
      </p:nvGrpSpPr>
      <p:grpSpPr>
        <a:xfrm>
          <a:off x="0" y="0"/>
          <a:ext cx="0" cy="0"/>
          <a:chOff x="0" y="0"/>
          <a:chExt cx="0" cy="0"/>
        </a:xfrm>
      </p:grpSpPr>
      <p:sp>
        <p:nvSpPr>
          <p:cNvPr id="594" name="Google Shape;594;h2627160d5792b11b_0_550"/>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3 / RETRIEVE</a:t>
            </a:r>
            <a:endParaRPr b="0" i="0" sz="1400" u="none" cap="none" strike="noStrike">
              <a:solidFill>
                <a:srgbClr val="000000"/>
              </a:solidFill>
              <a:latin typeface="Arial"/>
              <a:ea typeface="Arial"/>
              <a:cs typeface="Arial"/>
              <a:sym typeface="Arial"/>
            </a:endParaRPr>
          </a:p>
        </p:txBody>
      </p:sp>
      <p:sp>
        <p:nvSpPr>
          <p:cNvPr id="595" name="Google Shape;595;h2627160d5792b11b_0_550"/>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The draft is structurally faithful. But what does it mean?</a:t>
            </a:r>
            <a:endParaRPr b="0" i="0" sz="1400" u="none" cap="none" strike="noStrike">
              <a:solidFill>
                <a:srgbClr val="000000"/>
              </a:solidFill>
              <a:latin typeface="Arial"/>
              <a:ea typeface="Arial"/>
              <a:cs typeface="Arial"/>
              <a:sym typeface="Arial"/>
            </a:endParaRPr>
          </a:p>
        </p:txBody>
      </p:sp>
      <p:sp>
        <p:nvSpPr>
          <p:cNvPr id="596" name="Google Shape;596;h2627160d5792b11b_0_550"/>
          <p:cNvSpPr txBox="1"/>
          <p:nvPr/>
        </p:nvSpPr>
        <p:spPr>
          <a:xfrm>
            <a:off x="795528" y="1397241"/>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B6770"/>
                </a:solidFill>
                <a:latin typeface="Calibri"/>
                <a:ea typeface="Calibri"/>
                <a:cs typeface="Calibri"/>
                <a:sym typeface="Calibri"/>
              </a:rPr>
              <a:t>RIGOR gathers a </a:t>
            </a:r>
            <a:r>
              <a:rPr b="1" i="0" lang="en-US" sz="1600" u="none" cap="none" strike="noStrike">
                <a:solidFill>
                  <a:srgbClr val="5B6770"/>
                </a:solidFill>
                <a:latin typeface="Calibri"/>
                <a:ea typeface="Calibri"/>
                <a:cs typeface="Calibri"/>
                <a:sym typeface="Calibri"/>
              </a:rPr>
              <a:t>context</a:t>
            </a:r>
            <a:r>
              <a:rPr b="0" i="0" lang="en-US" sz="1600" u="none" cap="none" strike="noStrike">
                <a:solidFill>
                  <a:srgbClr val="5B6770"/>
                </a:solidFill>
                <a:latin typeface="Calibri"/>
                <a:ea typeface="Calibri"/>
                <a:cs typeface="Calibri"/>
                <a:sym typeface="Calibri"/>
              </a:rPr>
              <a:t> package from </a:t>
            </a: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complementary </a:t>
            </a:r>
            <a:r>
              <a:rPr b="1" i="0" lang="en-US" sz="1600" u="none" cap="none" strike="noStrike">
                <a:solidFill>
                  <a:srgbClr val="5B6770"/>
                </a:solidFill>
                <a:latin typeface="Calibri"/>
                <a:ea typeface="Calibri"/>
                <a:cs typeface="Calibri"/>
                <a:sym typeface="Calibri"/>
              </a:rPr>
              <a:t>sources</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597" name="Google Shape;597;h2627160d5792b11b_0_550"/>
          <p:cNvSpPr/>
          <p:nvPr/>
        </p:nvSpPr>
        <p:spPr>
          <a:xfrm>
            <a:off x="822960" y="1796560"/>
            <a:ext cx="3319200" cy="2514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8" name="Google Shape;598;h2627160d5792b11b_0_550"/>
          <p:cNvSpPr/>
          <p:nvPr/>
        </p:nvSpPr>
        <p:spPr>
          <a:xfrm>
            <a:off x="822960" y="1796560"/>
            <a:ext cx="3319200" cy="639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9" name="Google Shape;599;h2627160d5792b11b_0_550"/>
          <p:cNvSpPr txBox="1"/>
          <p:nvPr/>
        </p:nvSpPr>
        <p:spPr>
          <a:xfrm>
            <a:off x="1005840" y="223075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1  DOCUMENTATION</a:t>
            </a:r>
            <a:endParaRPr b="0" i="0" sz="1400" u="none" cap="none" strike="noStrike">
              <a:solidFill>
                <a:srgbClr val="000000"/>
              </a:solidFill>
              <a:latin typeface="Arial"/>
              <a:ea typeface="Arial"/>
              <a:cs typeface="Arial"/>
              <a:sym typeface="Arial"/>
            </a:endParaRPr>
          </a:p>
        </p:txBody>
      </p:sp>
      <p:sp>
        <p:nvSpPr>
          <p:cNvPr id="600" name="Google Shape;600;h2627160d5792b11b_0_550"/>
          <p:cNvSpPr txBox="1"/>
          <p:nvPr/>
        </p:nvSpPr>
        <p:spPr>
          <a:xfrm>
            <a:off x="1005840" y="2830775"/>
            <a:ext cx="2990100" cy="26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29"/>
              <a:buFont typeface="Arial"/>
              <a:buNone/>
            </a:pPr>
            <a:r>
              <a:rPr b="1" i="0" lang="en-US" sz="1730" u="none" cap="none" strike="noStrike">
                <a:solidFill>
                  <a:srgbClr val="1F2328"/>
                </a:solidFill>
                <a:latin typeface="Calibri"/>
                <a:ea typeface="Calibri"/>
                <a:cs typeface="Calibri"/>
                <a:sym typeface="Calibri"/>
              </a:rPr>
              <a:t>What do column names mean?</a:t>
            </a:r>
            <a:endParaRPr b="0" i="0" sz="1400" u="none" cap="none" strike="noStrike">
              <a:solidFill>
                <a:srgbClr val="000000"/>
              </a:solidFill>
              <a:latin typeface="Arial"/>
              <a:ea typeface="Arial"/>
              <a:cs typeface="Arial"/>
              <a:sym typeface="Arial"/>
            </a:endParaRPr>
          </a:p>
        </p:txBody>
      </p:sp>
      <p:sp>
        <p:nvSpPr>
          <p:cNvPr id="601" name="Google Shape;601;h2627160d5792b11b_0_550"/>
          <p:cNvSpPr/>
          <p:nvPr/>
        </p:nvSpPr>
        <p:spPr>
          <a:xfrm>
            <a:off x="996696" y="3224627"/>
            <a:ext cx="2962800" cy="5577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2" name="Google Shape;602;h2627160d5792b11b_0_550"/>
          <p:cNvSpPr txBox="1"/>
          <p:nvPr/>
        </p:nvSpPr>
        <p:spPr>
          <a:xfrm>
            <a:off x="1124700" y="3258737"/>
            <a:ext cx="2706600" cy="4821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Clr>
                <a:srgbClr val="000000"/>
              </a:buClr>
              <a:buSzPts val="1520"/>
              <a:buFont typeface="Arial"/>
              <a:buNone/>
            </a:pPr>
            <a:r>
              <a:rPr b="1" lang="en-US" sz="1520">
                <a:solidFill>
                  <a:srgbClr val="0B6E4F"/>
                </a:solidFill>
                <a:latin typeface="Consolas"/>
                <a:ea typeface="Consolas"/>
                <a:cs typeface="Consolas"/>
                <a:sym typeface="Consolas"/>
              </a:rPr>
              <a:t>BM_DEP</a:t>
            </a:r>
            <a:r>
              <a:rPr b="0" i="0" lang="en-US" sz="1520" u="none" cap="none" strike="noStrike">
                <a:solidFill>
                  <a:srgbClr val="1F2328"/>
                </a:solidFill>
                <a:latin typeface="Calibri"/>
                <a:ea typeface="Calibri"/>
                <a:cs typeface="Calibri"/>
                <a:sym typeface="Calibri"/>
              </a:rPr>
              <a:t>→ Bone Marrow</a:t>
            </a:r>
            <a:endParaRPr b="0" i="0" sz="1400" u="none" cap="none" strike="noStrike">
              <a:solidFill>
                <a:srgbClr val="000000"/>
              </a:solidFill>
              <a:latin typeface="Arial"/>
              <a:ea typeface="Arial"/>
              <a:cs typeface="Arial"/>
              <a:sym typeface="Arial"/>
            </a:endParaRPr>
          </a:p>
          <a:p>
            <a:pPr indent="0" lvl="0" marL="0" marR="0" rtl="0" algn="l">
              <a:lnSpc>
                <a:spcPct val="106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Depression</a:t>
            </a:r>
            <a:endParaRPr b="0" i="0" sz="1400" u="none" cap="none" strike="noStrike">
              <a:solidFill>
                <a:srgbClr val="000000"/>
              </a:solidFill>
              <a:latin typeface="Arial"/>
              <a:ea typeface="Arial"/>
              <a:cs typeface="Arial"/>
              <a:sym typeface="Arial"/>
            </a:endParaRPr>
          </a:p>
        </p:txBody>
      </p:sp>
      <p:sp>
        <p:nvSpPr>
          <p:cNvPr id="603" name="Google Shape;603;h2627160d5792b11b_0_550"/>
          <p:cNvSpPr txBox="1"/>
          <p:nvPr/>
        </p:nvSpPr>
        <p:spPr>
          <a:xfrm>
            <a:off x="1005840" y="3872248"/>
            <a:ext cx="2944500" cy="238500"/>
          </a:xfrm>
          <a:prstGeom prst="rect">
            <a:avLst/>
          </a:prstGeom>
          <a:noFill/>
          <a:ln>
            <a:noFill/>
          </a:ln>
        </p:spPr>
        <p:txBody>
          <a:bodyPr anchorCtr="0" anchor="ctr" bIns="0" lIns="0" spcFirstLastPara="1" rIns="0" wrap="square" tIns="0">
            <a:spAutoFit/>
          </a:bodyPr>
          <a:lstStyle/>
          <a:p>
            <a:pPr indent="0" lvl="0" marL="0" marR="0" rtl="0" algn="l">
              <a:lnSpc>
                <a:spcPct val="106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Defines cryptic names</a:t>
            </a:r>
            <a:endParaRPr b="0" i="0" sz="1400" u="none" cap="none" strike="noStrike">
              <a:solidFill>
                <a:srgbClr val="000000"/>
              </a:solidFill>
              <a:latin typeface="Arial"/>
              <a:ea typeface="Arial"/>
              <a:cs typeface="Arial"/>
              <a:sym typeface="Arial"/>
            </a:endParaRPr>
          </a:p>
        </p:txBody>
      </p:sp>
      <p:sp>
        <p:nvSpPr>
          <p:cNvPr id="604" name="Google Shape;604;h2627160d5792b11b_0_550"/>
          <p:cNvSpPr/>
          <p:nvPr/>
        </p:nvSpPr>
        <p:spPr>
          <a:xfrm>
            <a:off x="4416550" y="1796569"/>
            <a:ext cx="3824100" cy="2514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5" name="Google Shape;605;h2627160d5792b11b_0_550"/>
          <p:cNvSpPr/>
          <p:nvPr/>
        </p:nvSpPr>
        <p:spPr>
          <a:xfrm>
            <a:off x="4416550" y="1796569"/>
            <a:ext cx="3824100" cy="63900"/>
          </a:xfrm>
          <a:prstGeom prst="rect">
            <a:avLst/>
          </a:prstGeom>
          <a:solidFill>
            <a:srgbClr val="2F6B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6" name="Google Shape;606;h2627160d5792b11b_0_550"/>
          <p:cNvSpPr txBox="1"/>
          <p:nvPr/>
        </p:nvSpPr>
        <p:spPr>
          <a:xfrm>
            <a:off x="4627251" y="2230768"/>
            <a:ext cx="34554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2  EXTERNAL ONTOLOGIES</a:t>
            </a:r>
            <a:endParaRPr b="0" i="0" sz="1400" u="none" cap="none" strike="noStrike">
              <a:solidFill>
                <a:srgbClr val="000000"/>
              </a:solidFill>
              <a:latin typeface="Arial"/>
              <a:ea typeface="Arial"/>
              <a:cs typeface="Arial"/>
              <a:sym typeface="Arial"/>
            </a:endParaRPr>
          </a:p>
        </p:txBody>
      </p:sp>
      <p:sp>
        <p:nvSpPr>
          <p:cNvPr id="607" name="Google Shape;607;h2627160d5792b11b_0_550"/>
          <p:cNvSpPr txBox="1"/>
          <p:nvPr/>
        </p:nvSpPr>
        <p:spPr>
          <a:xfrm>
            <a:off x="4627251" y="2830784"/>
            <a:ext cx="3444900" cy="26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29"/>
              <a:buFont typeface="Arial"/>
              <a:buNone/>
            </a:pPr>
            <a:r>
              <a:rPr b="1" i="0" lang="en-US" sz="1730" u="none" cap="none" strike="noStrike">
                <a:solidFill>
                  <a:srgbClr val="1F2328"/>
                </a:solidFill>
                <a:latin typeface="Calibri"/>
                <a:ea typeface="Calibri"/>
                <a:cs typeface="Calibri"/>
                <a:sym typeface="Calibri"/>
              </a:rPr>
              <a:t>Which domain concepts exist?</a:t>
            </a:r>
            <a:endParaRPr b="0" i="0" sz="1400" u="none" cap="none" strike="noStrike">
              <a:solidFill>
                <a:srgbClr val="000000"/>
              </a:solidFill>
              <a:latin typeface="Arial"/>
              <a:ea typeface="Arial"/>
              <a:cs typeface="Arial"/>
              <a:sym typeface="Arial"/>
            </a:endParaRPr>
          </a:p>
        </p:txBody>
      </p:sp>
      <p:sp>
        <p:nvSpPr>
          <p:cNvPr id="608" name="Google Shape;608;h2627160d5792b11b_0_550"/>
          <p:cNvSpPr/>
          <p:nvPr/>
        </p:nvSpPr>
        <p:spPr>
          <a:xfrm>
            <a:off x="4616716" y="3224636"/>
            <a:ext cx="3413400" cy="5577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9" name="Google Shape;609;h2627160d5792b11b_0_550"/>
          <p:cNvSpPr txBox="1"/>
          <p:nvPr/>
        </p:nvSpPr>
        <p:spPr>
          <a:xfrm>
            <a:off x="4627251" y="3826537"/>
            <a:ext cx="3392400" cy="238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Suggests established concepts</a:t>
            </a:r>
            <a:endParaRPr b="0" i="0" sz="1400" u="none" cap="none" strike="noStrike">
              <a:solidFill>
                <a:srgbClr val="000000"/>
              </a:solidFill>
              <a:latin typeface="Arial"/>
              <a:ea typeface="Arial"/>
              <a:cs typeface="Arial"/>
              <a:sym typeface="Arial"/>
            </a:endParaRPr>
          </a:p>
        </p:txBody>
      </p:sp>
      <p:sp>
        <p:nvSpPr>
          <p:cNvPr id="610" name="Google Shape;610;h2627160d5792b11b_0_550"/>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1" name="Google Shape;611;h2627160d5792b11b_0_550"/>
          <p:cNvSpPr txBox="1"/>
          <p:nvPr/>
        </p:nvSpPr>
        <p:spPr>
          <a:xfrm>
            <a:off x="85953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612" name="Google Shape;612;h2627160d5792b11b_0_550"/>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3" name="Google Shape;613;h2627160d5792b11b_0_550"/>
          <p:cNvSpPr txBox="1"/>
          <p:nvPr/>
        </p:nvSpPr>
        <p:spPr>
          <a:xfrm>
            <a:off x="2697479"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614" name="Google Shape;614;h2627160d5792b11b_0_550"/>
          <p:cNvSpPr/>
          <p:nvPr/>
        </p:nvSpPr>
        <p:spPr>
          <a:xfrm>
            <a:off x="4480559"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5" name="Google Shape;615;h2627160d5792b11b_0_550"/>
          <p:cNvSpPr txBox="1"/>
          <p:nvPr/>
        </p:nvSpPr>
        <p:spPr>
          <a:xfrm>
            <a:off x="4535423"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616" name="Google Shape;616;h2627160d5792b11b_0_550"/>
          <p:cNvSpPr/>
          <p:nvPr/>
        </p:nvSpPr>
        <p:spPr>
          <a:xfrm>
            <a:off x="6318503"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7" name="Google Shape;617;h2627160d5792b11b_0_550"/>
          <p:cNvSpPr txBox="1"/>
          <p:nvPr/>
        </p:nvSpPr>
        <p:spPr>
          <a:xfrm>
            <a:off x="6373367"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618" name="Google Shape;618;h2627160d5792b11b_0_550"/>
          <p:cNvSpPr/>
          <p:nvPr/>
        </p:nvSpPr>
        <p:spPr>
          <a:xfrm>
            <a:off x="8156448"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9" name="Google Shape;619;h2627160d5792b11b_0_550"/>
          <p:cNvSpPr txBox="1"/>
          <p:nvPr/>
        </p:nvSpPr>
        <p:spPr>
          <a:xfrm>
            <a:off x="8211312"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620" name="Google Shape;620;h2627160d5792b11b_0_550"/>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1" name="Google Shape;621;h2627160d5792b11b_0_550"/>
          <p:cNvSpPr txBox="1"/>
          <p:nvPr/>
        </p:nvSpPr>
        <p:spPr>
          <a:xfrm>
            <a:off x="1004925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pic>
        <p:nvPicPr>
          <p:cNvPr id="622" name="Google Shape;622;h2627160d5792b11b_0_550" title="Ontology Taxonomy Documentation Icons.png"/>
          <p:cNvPicPr preferRelativeResize="0"/>
          <p:nvPr/>
        </p:nvPicPr>
        <p:blipFill rotWithShape="1">
          <a:blip r:embed="rId3">
            <a:alphaModFix/>
          </a:blip>
          <a:srcRect b="14185" l="36225" r="31825" t="16211"/>
          <a:stretch/>
        </p:blipFill>
        <p:spPr>
          <a:xfrm>
            <a:off x="2873021" y="1879752"/>
            <a:ext cx="1086331" cy="789275"/>
          </a:xfrm>
          <a:prstGeom prst="rect">
            <a:avLst/>
          </a:prstGeom>
          <a:noFill/>
          <a:ln>
            <a:noFill/>
          </a:ln>
        </p:spPr>
      </p:pic>
      <p:pic>
        <p:nvPicPr>
          <p:cNvPr id="623" name="Google Shape;623;h2627160d5792b11b_0_550" title="Ontology Taxonomy Documentation Icons.png"/>
          <p:cNvPicPr preferRelativeResize="0"/>
          <p:nvPr/>
        </p:nvPicPr>
        <p:blipFill rotWithShape="1">
          <a:blip r:embed="rId3">
            <a:alphaModFix/>
          </a:blip>
          <a:srcRect b="14185" l="2070" r="65981" t="16211"/>
          <a:stretch/>
        </p:blipFill>
        <p:spPr>
          <a:xfrm>
            <a:off x="7073705" y="1927465"/>
            <a:ext cx="1086326" cy="789275"/>
          </a:xfrm>
          <a:prstGeom prst="rect">
            <a:avLst/>
          </a:prstGeom>
          <a:noFill/>
          <a:ln>
            <a:noFill/>
          </a:ln>
        </p:spPr>
      </p:pic>
      <p:sp>
        <p:nvSpPr>
          <p:cNvPr id="624" name="Google Shape;624;h2627160d5792b11b_0_550"/>
          <p:cNvSpPr txBox="1"/>
          <p:nvPr/>
        </p:nvSpPr>
        <p:spPr>
          <a:xfrm>
            <a:off x="4764206" y="3261212"/>
            <a:ext cx="3118200" cy="4734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00" u="none" cap="none" strike="noStrike">
                <a:solidFill>
                  <a:srgbClr val="1F2328"/>
                </a:solidFill>
                <a:latin typeface="Calibri"/>
                <a:ea typeface="Calibri"/>
                <a:cs typeface="Calibri"/>
                <a:sym typeface="Calibri"/>
              </a:rPr>
              <a:t>Disease Ontology</a:t>
            </a:r>
            <a:endParaRPr b="1" i="0" sz="1500" u="none" cap="none" strike="noStrike">
              <a:solidFill>
                <a:srgbClr val="000000"/>
              </a:solidFill>
            </a:endParaRPr>
          </a:p>
          <a:p>
            <a:pPr indent="0" lvl="0" marL="0" marR="0" rtl="0" algn="l">
              <a:lnSpc>
                <a:spcPct val="105000"/>
              </a:lnSpc>
              <a:spcBef>
                <a:spcPts val="0"/>
              </a:spcBef>
              <a:spcAft>
                <a:spcPts val="0"/>
              </a:spcAft>
              <a:buClr>
                <a:srgbClr val="000000"/>
              </a:buClr>
              <a:buSzPts val="1520"/>
              <a:buFont typeface="Arial"/>
              <a:buNone/>
            </a:pPr>
            <a:r>
              <a:rPr b="1" lang="en-US" sz="1500">
                <a:solidFill>
                  <a:srgbClr val="1F2328"/>
                </a:solidFill>
                <a:latin typeface="Calibri"/>
                <a:ea typeface="Calibri"/>
                <a:cs typeface="Calibri"/>
                <a:sym typeface="Calibri"/>
              </a:rPr>
              <a:t>Cell Ontology</a:t>
            </a:r>
            <a:endParaRPr b="1" i="0" sz="1500" u="none" cap="none" strike="noStrike">
              <a:solidFill>
                <a:srgbClr val="0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9" name="Shape 629"/>
        <p:cNvGrpSpPr/>
        <p:nvPr/>
      </p:nvGrpSpPr>
      <p:grpSpPr>
        <a:xfrm>
          <a:off x="0" y="0"/>
          <a:ext cx="0" cy="0"/>
          <a:chOff x="0" y="0"/>
          <a:chExt cx="0" cy="0"/>
        </a:xfrm>
      </p:grpSpPr>
      <p:sp>
        <p:nvSpPr>
          <p:cNvPr id="630" name="Google Shape;630;h2627160d5792b11b_0_595"/>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3 / RETRIEVE</a:t>
            </a:r>
            <a:endParaRPr b="0" i="0" sz="1400" u="none" cap="none" strike="noStrike">
              <a:solidFill>
                <a:srgbClr val="000000"/>
              </a:solidFill>
              <a:latin typeface="Arial"/>
              <a:ea typeface="Arial"/>
              <a:cs typeface="Arial"/>
              <a:sym typeface="Arial"/>
            </a:endParaRPr>
          </a:p>
        </p:txBody>
      </p:sp>
      <p:sp>
        <p:nvSpPr>
          <p:cNvPr id="631" name="Google Shape;631;h2627160d5792b11b_0_595"/>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The draft is structurally faithful. But what does it mean?</a:t>
            </a:r>
            <a:endParaRPr b="0" i="0" sz="1400" u="none" cap="none" strike="noStrike">
              <a:solidFill>
                <a:srgbClr val="000000"/>
              </a:solidFill>
              <a:latin typeface="Arial"/>
              <a:ea typeface="Arial"/>
              <a:cs typeface="Arial"/>
              <a:sym typeface="Arial"/>
            </a:endParaRPr>
          </a:p>
        </p:txBody>
      </p:sp>
      <p:sp>
        <p:nvSpPr>
          <p:cNvPr id="632" name="Google Shape;632;h2627160d5792b11b_0_595"/>
          <p:cNvSpPr txBox="1"/>
          <p:nvPr/>
        </p:nvSpPr>
        <p:spPr>
          <a:xfrm>
            <a:off x="795528" y="1397241"/>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B6770"/>
                </a:solidFill>
                <a:latin typeface="Calibri"/>
                <a:ea typeface="Calibri"/>
                <a:cs typeface="Calibri"/>
                <a:sym typeface="Calibri"/>
              </a:rPr>
              <a:t>RIGOR gathers a </a:t>
            </a:r>
            <a:r>
              <a:rPr b="1" i="0" lang="en-US" sz="1600" u="none" cap="none" strike="noStrike">
                <a:solidFill>
                  <a:srgbClr val="5B6770"/>
                </a:solidFill>
                <a:latin typeface="Calibri"/>
                <a:ea typeface="Calibri"/>
                <a:cs typeface="Calibri"/>
                <a:sym typeface="Calibri"/>
              </a:rPr>
              <a:t>context</a:t>
            </a:r>
            <a:r>
              <a:rPr b="0" i="0" lang="en-US" sz="1600" u="none" cap="none" strike="noStrike">
                <a:solidFill>
                  <a:srgbClr val="5B6770"/>
                </a:solidFill>
                <a:latin typeface="Calibri"/>
                <a:ea typeface="Calibri"/>
                <a:cs typeface="Calibri"/>
                <a:sym typeface="Calibri"/>
              </a:rPr>
              <a:t> package from </a:t>
            </a: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complementary </a:t>
            </a:r>
            <a:r>
              <a:rPr b="1" i="0" lang="en-US" sz="1600" u="none" cap="none" strike="noStrike">
                <a:solidFill>
                  <a:srgbClr val="5B6770"/>
                </a:solidFill>
                <a:latin typeface="Calibri"/>
                <a:ea typeface="Calibri"/>
                <a:cs typeface="Calibri"/>
                <a:sym typeface="Calibri"/>
              </a:rPr>
              <a:t>sources</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633" name="Google Shape;633;h2627160d5792b11b_0_595"/>
          <p:cNvSpPr/>
          <p:nvPr/>
        </p:nvSpPr>
        <p:spPr>
          <a:xfrm>
            <a:off x="822960" y="1796560"/>
            <a:ext cx="3319200" cy="2514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4" name="Google Shape;634;h2627160d5792b11b_0_595"/>
          <p:cNvSpPr/>
          <p:nvPr/>
        </p:nvSpPr>
        <p:spPr>
          <a:xfrm>
            <a:off x="822960" y="1796560"/>
            <a:ext cx="3319200" cy="639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5" name="Google Shape;635;h2627160d5792b11b_0_595"/>
          <p:cNvSpPr txBox="1"/>
          <p:nvPr/>
        </p:nvSpPr>
        <p:spPr>
          <a:xfrm>
            <a:off x="1005840" y="223075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1  DOCUMENTATION</a:t>
            </a:r>
            <a:endParaRPr b="0" i="0" sz="1400" u="none" cap="none" strike="noStrike">
              <a:solidFill>
                <a:srgbClr val="000000"/>
              </a:solidFill>
              <a:latin typeface="Arial"/>
              <a:ea typeface="Arial"/>
              <a:cs typeface="Arial"/>
              <a:sym typeface="Arial"/>
            </a:endParaRPr>
          </a:p>
        </p:txBody>
      </p:sp>
      <p:sp>
        <p:nvSpPr>
          <p:cNvPr id="636" name="Google Shape;636;h2627160d5792b11b_0_595"/>
          <p:cNvSpPr txBox="1"/>
          <p:nvPr/>
        </p:nvSpPr>
        <p:spPr>
          <a:xfrm>
            <a:off x="1005840" y="2830775"/>
            <a:ext cx="2990100" cy="26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29"/>
              <a:buFont typeface="Arial"/>
              <a:buNone/>
            </a:pPr>
            <a:r>
              <a:rPr b="1" i="0" lang="en-US" sz="1730" u="none" cap="none" strike="noStrike">
                <a:solidFill>
                  <a:srgbClr val="1F2328"/>
                </a:solidFill>
                <a:latin typeface="Calibri"/>
                <a:ea typeface="Calibri"/>
                <a:cs typeface="Calibri"/>
                <a:sym typeface="Calibri"/>
              </a:rPr>
              <a:t>What do column names mean?</a:t>
            </a:r>
            <a:endParaRPr b="0" i="0" sz="1400" u="none" cap="none" strike="noStrike">
              <a:solidFill>
                <a:srgbClr val="000000"/>
              </a:solidFill>
              <a:latin typeface="Arial"/>
              <a:ea typeface="Arial"/>
              <a:cs typeface="Arial"/>
              <a:sym typeface="Arial"/>
            </a:endParaRPr>
          </a:p>
        </p:txBody>
      </p:sp>
      <p:sp>
        <p:nvSpPr>
          <p:cNvPr id="637" name="Google Shape;637;h2627160d5792b11b_0_595"/>
          <p:cNvSpPr/>
          <p:nvPr/>
        </p:nvSpPr>
        <p:spPr>
          <a:xfrm>
            <a:off x="996696" y="3224627"/>
            <a:ext cx="2962800" cy="5577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8" name="Google Shape;638;h2627160d5792b11b_0_595"/>
          <p:cNvSpPr txBox="1"/>
          <p:nvPr/>
        </p:nvSpPr>
        <p:spPr>
          <a:xfrm>
            <a:off x="1124700" y="3258737"/>
            <a:ext cx="2706600" cy="4821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Clr>
                <a:srgbClr val="000000"/>
              </a:buClr>
              <a:buSzPts val="1520"/>
              <a:buFont typeface="Arial"/>
              <a:buNone/>
            </a:pPr>
            <a:r>
              <a:rPr b="1" lang="en-US" sz="1520">
                <a:solidFill>
                  <a:srgbClr val="0B6E4F"/>
                </a:solidFill>
                <a:latin typeface="Consolas"/>
                <a:ea typeface="Consolas"/>
                <a:cs typeface="Consolas"/>
                <a:sym typeface="Consolas"/>
              </a:rPr>
              <a:t>BM_DEP</a:t>
            </a:r>
            <a:r>
              <a:rPr b="0" i="0" lang="en-US" sz="1520" u="none" cap="none" strike="noStrike">
                <a:solidFill>
                  <a:srgbClr val="1F2328"/>
                </a:solidFill>
                <a:latin typeface="Calibri"/>
                <a:ea typeface="Calibri"/>
                <a:cs typeface="Calibri"/>
                <a:sym typeface="Calibri"/>
              </a:rPr>
              <a:t>→ Bone Marrow</a:t>
            </a:r>
            <a:endParaRPr b="0" i="0" sz="1400" u="none" cap="none" strike="noStrike">
              <a:solidFill>
                <a:srgbClr val="000000"/>
              </a:solidFill>
              <a:latin typeface="Arial"/>
              <a:ea typeface="Arial"/>
              <a:cs typeface="Arial"/>
              <a:sym typeface="Arial"/>
            </a:endParaRPr>
          </a:p>
          <a:p>
            <a:pPr indent="0" lvl="0" marL="0" marR="0" rtl="0" algn="l">
              <a:lnSpc>
                <a:spcPct val="106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Depression</a:t>
            </a:r>
            <a:endParaRPr b="0" i="0" sz="1400" u="none" cap="none" strike="noStrike">
              <a:solidFill>
                <a:srgbClr val="000000"/>
              </a:solidFill>
              <a:latin typeface="Arial"/>
              <a:ea typeface="Arial"/>
              <a:cs typeface="Arial"/>
              <a:sym typeface="Arial"/>
            </a:endParaRPr>
          </a:p>
        </p:txBody>
      </p:sp>
      <p:sp>
        <p:nvSpPr>
          <p:cNvPr id="639" name="Google Shape;639;h2627160d5792b11b_0_595"/>
          <p:cNvSpPr txBox="1"/>
          <p:nvPr/>
        </p:nvSpPr>
        <p:spPr>
          <a:xfrm>
            <a:off x="1005840" y="3872248"/>
            <a:ext cx="2944500" cy="238500"/>
          </a:xfrm>
          <a:prstGeom prst="rect">
            <a:avLst/>
          </a:prstGeom>
          <a:noFill/>
          <a:ln>
            <a:noFill/>
          </a:ln>
        </p:spPr>
        <p:txBody>
          <a:bodyPr anchorCtr="0" anchor="ctr" bIns="0" lIns="0" spcFirstLastPara="1" rIns="0" wrap="square" tIns="0">
            <a:spAutoFit/>
          </a:bodyPr>
          <a:lstStyle/>
          <a:p>
            <a:pPr indent="0" lvl="0" marL="0" marR="0" rtl="0" algn="l">
              <a:lnSpc>
                <a:spcPct val="106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Defines cryptic names</a:t>
            </a:r>
            <a:endParaRPr b="0" i="0" sz="1400" u="none" cap="none" strike="noStrike">
              <a:solidFill>
                <a:srgbClr val="000000"/>
              </a:solidFill>
              <a:latin typeface="Arial"/>
              <a:ea typeface="Arial"/>
              <a:cs typeface="Arial"/>
              <a:sym typeface="Arial"/>
            </a:endParaRPr>
          </a:p>
        </p:txBody>
      </p:sp>
      <p:sp>
        <p:nvSpPr>
          <p:cNvPr id="640" name="Google Shape;640;h2627160d5792b11b_0_595"/>
          <p:cNvSpPr/>
          <p:nvPr/>
        </p:nvSpPr>
        <p:spPr>
          <a:xfrm>
            <a:off x="4416550" y="1796569"/>
            <a:ext cx="3824100" cy="2514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1" name="Google Shape;641;h2627160d5792b11b_0_595"/>
          <p:cNvSpPr/>
          <p:nvPr/>
        </p:nvSpPr>
        <p:spPr>
          <a:xfrm>
            <a:off x="4416550" y="1796569"/>
            <a:ext cx="3824100" cy="63900"/>
          </a:xfrm>
          <a:prstGeom prst="rect">
            <a:avLst/>
          </a:prstGeom>
          <a:solidFill>
            <a:srgbClr val="2F6B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2" name="Google Shape;642;h2627160d5792b11b_0_595"/>
          <p:cNvSpPr txBox="1"/>
          <p:nvPr/>
        </p:nvSpPr>
        <p:spPr>
          <a:xfrm>
            <a:off x="4627251" y="2230768"/>
            <a:ext cx="34554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2  EXTERNAL ONTOLOGIES</a:t>
            </a:r>
            <a:endParaRPr b="0" i="0" sz="1400" u="none" cap="none" strike="noStrike">
              <a:solidFill>
                <a:srgbClr val="000000"/>
              </a:solidFill>
              <a:latin typeface="Arial"/>
              <a:ea typeface="Arial"/>
              <a:cs typeface="Arial"/>
              <a:sym typeface="Arial"/>
            </a:endParaRPr>
          </a:p>
        </p:txBody>
      </p:sp>
      <p:sp>
        <p:nvSpPr>
          <p:cNvPr id="643" name="Google Shape;643;h2627160d5792b11b_0_595"/>
          <p:cNvSpPr txBox="1"/>
          <p:nvPr/>
        </p:nvSpPr>
        <p:spPr>
          <a:xfrm>
            <a:off x="4627251" y="2830784"/>
            <a:ext cx="3444900" cy="26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29"/>
              <a:buFont typeface="Arial"/>
              <a:buNone/>
            </a:pPr>
            <a:r>
              <a:rPr b="1" i="0" lang="en-US" sz="1730" u="none" cap="none" strike="noStrike">
                <a:solidFill>
                  <a:srgbClr val="1F2328"/>
                </a:solidFill>
                <a:latin typeface="Calibri"/>
                <a:ea typeface="Calibri"/>
                <a:cs typeface="Calibri"/>
                <a:sym typeface="Calibri"/>
              </a:rPr>
              <a:t>Which domain concepts exist?</a:t>
            </a:r>
            <a:endParaRPr b="0" i="0" sz="1400" u="none" cap="none" strike="noStrike">
              <a:solidFill>
                <a:srgbClr val="000000"/>
              </a:solidFill>
              <a:latin typeface="Arial"/>
              <a:ea typeface="Arial"/>
              <a:cs typeface="Arial"/>
              <a:sym typeface="Arial"/>
            </a:endParaRPr>
          </a:p>
        </p:txBody>
      </p:sp>
      <p:sp>
        <p:nvSpPr>
          <p:cNvPr id="644" name="Google Shape;644;h2627160d5792b11b_0_595"/>
          <p:cNvSpPr/>
          <p:nvPr/>
        </p:nvSpPr>
        <p:spPr>
          <a:xfrm>
            <a:off x="4616716" y="3224636"/>
            <a:ext cx="3413400" cy="5577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5" name="Google Shape;645;h2627160d5792b11b_0_595"/>
          <p:cNvSpPr txBox="1"/>
          <p:nvPr/>
        </p:nvSpPr>
        <p:spPr>
          <a:xfrm>
            <a:off x="4627251" y="3826537"/>
            <a:ext cx="3392400" cy="238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Suggests established concepts</a:t>
            </a:r>
            <a:endParaRPr b="0" i="0" sz="1400" u="none" cap="none" strike="noStrike">
              <a:solidFill>
                <a:srgbClr val="000000"/>
              </a:solidFill>
              <a:latin typeface="Arial"/>
              <a:ea typeface="Arial"/>
              <a:cs typeface="Arial"/>
              <a:sym typeface="Arial"/>
            </a:endParaRPr>
          </a:p>
        </p:txBody>
      </p:sp>
      <p:sp>
        <p:nvSpPr>
          <p:cNvPr id="646" name="Google Shape;646;h2627160d5792b11b_0_595"/>
          <p:cNvSpPr/>
          <p:nvPr/>
        </p:nvSpPr>
        <p:spPr>
          <a:xfrm>
            <a:off x="8481494" y="1799623"/>
            <a:ext cx="3319200" cy="2514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7" name="Google Shape;647;h2627160d5792b11b_0_595"/>
          <p:cNvSpPr/>
          <p:nvPr/>
        </p:nvSpPr>
        <p:spPr>
          <a:xfrm>
            <a:off x="8481494" y="1799623"/>
            <a:ext cx="3319200" cy="639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8" name="Google Shape;648;h2627160d5792b11b_0_595"/>
          <p:cNvSpPr txBox="1"/>
          <p:nvPr/>
        </p:nvSpPr>
        <p:spPr>
          <a:xfrm>
            <a:off x="8664373" y="2233822"/>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3  GROWING CORE</a:t>
            </a:r>
            <a:endParaRPr b="0" i="0" sz="1400" u="none" cap="none" strike="noStrike">
              <a:solidFill>
                <a:srgbClr val="000000"/>
              </a:solidFill>
              <a:latin typeface="Arial"/>
              <a:ea typeface="Arial"/>
              <a:cs typeface="Arial"/>
              <a:sym typeface="Arial"/>
            </a:endParaRPr>
          </a:p>
        </p:txBody>
      </p:sp>
      <p:sp>
        <p:nvSpPr>
          <p:cNvPr id="649" name="Google Shape;649;h2627160d5792b11b_0_595"/>
          <p:cNvSpPr txBox="1"/>
          <p:nvPr/>
        </p:nvSpPr>
        <p:spPr>
          <a:xfrm>
            <a:off x="8664373" y="2833838"/>
            <a:ext cx="2990100" cy="26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29"/>
              <a:buFont typeface="Arial"/>
              <a:buNone/>
            </a:pPr>
            <a:r>
              <a:rPr b="1" i="0" lang="en-US" sz="1730" u="none" cap="none" strike="noStrike">
                <a:solidFill>
                  <a:srgbClr val="1F2328"/>
                </a:solidFill>
                <a:latin typeface="Calibri"/>
                <a:ea typeface="Calibri"/>
                <a:cs typeface="Calibri"/>
                <a:sym typeface="Calibri"/>
              </a:rPr>
              <a:t>What have we already defined?</a:t>
            </a:r>
            <a:endParaRPr b="0" i="0" sz="1400" u="none" cap="none" strike="noStrike">
              <a:solidFill>
                <a:srgbClr val="000000"/>
              </a:solidFill>
              <a:latin typeface="Arial"/>
              <a:ea typeface="Arial"/>
              <a:cs typeface="Arial"/>
              <a:sym typeface="Arial"/>
            </a:endParaRPr>
          </a:p>
        </p:txBody>
      </p:sp>
      <p:sp>
        <p:nvSpPr>
          <p:cNvPr id="650" name="Google Shape;650;h2627160d5792b11b_0_595"/>
          <p:cNvSpPr/>
          <p:nvPr/>
        </p:nvSpPr>
        <p:spPr>
          <a:xfrm>
            <a:off x="8655229" y="3227690"/>
            <a:ext cx="2962800" cy="5577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1" name="Google Shape;651;h2627160d5792b11b_0_595"/>
          <p:cNvSpPr txBox="1"/>
          <p:nvPr/>
        </p:nvSpPr>
        <p:spPr>
          <a:xfrm>
            <a:off x="8783246" y="3264266"/>
            <a:ext cx="2706600" cy="479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PatientData + previously</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accepted ontology terms</a:t>
            </a:r>
            <a:endParaRPr b="0" i="0" sz="1400" u="none" cap="none" strike="noStrike">
              <a:solidFill>
                <a:srgbClr val="000000"/>
              </a:solidFill>
              <a:latin typeface="Arial"/>
              <a:ea typeface="Arial"/>
              <a:cs typeface="Arial"/>
              <a:sym typeface="Arial"/>
            </a:endParaRPr>
          </a:p>
        </p:txBody>
      </p:sp>
      <p:sp>
        <p:nvSpPr>
          <p:cNvPr id="652" name="Google Shape;652;h2627160d5792b11b_0_595"/>
          <p:cNvSpPr txBox="1"/>
          <p:nvPr/>
        </p:nvSpPr>
        <p:spPr>
          <a:xfrm>
            <a:off x="8664373" y="3829591"/>
            <a:ext cx="2944500" cy="238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Reuses established concepts</a:t>
            </a:r>
            <a:endParaRPr b="0" i="0" sz="1400" u="none" cap="none" strike="noStrike">
              <a:solidFill>
                <a:srgbClr val="000000"/>
              </a:solidFill>
              <a:latin typeface="Arial"/>
              <a:ea typeface="Arial"/>
              <a:cs typeface="Arial"/>
              <a:sym typeface="Arial"/>
            </a:endParaRPr>
          </a:p>
        </p:txBody>
      </p:sp>
      <p:sp>
        <p:nvSpPr>
          <p:cNvPr id="653" name="Google Shape;653;h2627160d5792b11b_0_595"/>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4" name="Google Shape;654;h2627160d5792b11b_0_595"/>
          <p:cNvSpPr txBox="1"/>
          <p:nvPr/>
        </p:nvSpPr>
        <p:spPr>
          <a:xfrm>
            <a:off x="85953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655" name="Google Shape;655;h2627160d5792b11b_0_595"/>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6" name="Google Shape;656;h2627160d5792b11b_0_595"/>
          <p:cNvSpPr txBox="1"/>
          <p:nvPr/>
        </p:nvSpPr>
        <p:spPr>
          <a:xfrm>
            <a:off x="2697479"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657" name="Google Shape;657;h2627160d5792b11b_0_595"/>
          <p:cNvSpPr/>
          <p:nvPr/>
        </p:nvSpPr>
        <p:spPr>
          <a:xfrm>
            <a:off x="4480559"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8" name="Google Shape;658;h2627160d5792b11b_0_595"/>
          <p:cNvSpPr txBox="1"/>
          <p:nvPr/>
        </p:nvSpPr>
        <p:spPr>
          <a:xfrm>
            <a:off x="4535423"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659" name="Google Shape;659;h2627160d5792b11b_0_595"/>
          <p:cNvSpPr/>
          <p:nvPr/>
        </p:nvSpPr>
        <p:spPr>
          <a:xfrm>
            <a:off x="6318503"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0" name="Google Shape;660;h2627160d5792b11b_0_595"/>
          <p:cNvSpPr txBox="1"/>
          <p:nvPr/>
        </p:nvSpPr>
        <p:spPr>
          <a:xfrm>
            <a:off x="6373367"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661" name="Google Shape;661;h2627160d5792b11b_0_595"/>
          <p:cNvSpPr/>
          <p:nvPr/>
        </p:nvSpPr>
        <p:spPr>
          <a:xfrm>
            <a:off x="8156448"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2" name="Google Shape;662;h2627160d5792b11b_0_595"/>
          <p:cNvSpPr txBox="1"/>
          <p:nvPr/>
        </p:nvSpPr>
        <p:spPr>
          <a:xfrm>
            <a:off x="8211312"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663" name="Google Shape;663;h2627160d5792b11b_0_595"/>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4" name="Google Shape;664;h2627160d5792b11b_0_595"/>
          <p:cNvSpPr txBox="1"/>
          <p:nvPr/>
        </p:nvSpPr>
        <p:spPr>
          <a:xfrm>
            <a:off x="1004925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pic>
        <p:nvPicPr>
          <p:cNvPr id="665" name="Google Shape;665;h2627160d5792b11b_0_595" title="Ontology Taxonomy Documentation Icons.png"/>
          <p:cNvPicPr preferRelativeResize="0"/>
          <p:nvPr/>
        </p:nvPicPr>
        <p:blipFill rotWithShape="1">
          <a:blip r:embed="rId3">
            <a:alphaModFix/>
          </a:blip>
          <a:srcRect b="14185" l="36225" r="31825" t="16211"/>
          <a:stretch/>
        </p:blipFill>
        <p:spPr>
          <a:xfrm>
            <a:off x="2873021" y="1879752"/>
            <a:ext cx="1086331" cy="789275"/>
          </a:xfrm>
          <a:prstGeom prst="rect">
            <a:avLst/>
          </a:prstGeom>
          <a:noFill/>
          <a:ln>
            <a:noFill/>
          </a:ln>
        </p:spPr>
      </p:pic>
      <p:pic>
        <p:nvPicPr>
          <p:cNvPr id="666" name="Google Shape;666;h2627160d5792b11b_0_595" title="Ontology Taxonomy Documentation Icons.png"/>
          <p:cNvPicPr preferRelativeResize="0"/>
          <p:nvPr/>
        </p:nvPicPr>
        <p:blipFill rotWithShape="1">
          <a:blip r:embed="rId3">
            <a:alphaModFix/>
          </a:blip>
          <a:srcRect b="14185" l="2070" r="65981" t="16211"/>
          <a:stretch/>
        </p:blipFill>
        <p:spPr>
          <a:xfrm>
            <a:off x="7073705" y="1927465"/>
            <a:ext cx="1086326" cy="789275"/>
          </a:xfrm>
          <a:prstGeom prst="rect">
            <a:avLst/>
          </a:prstGeom>
          <a:noFill/>
          <a:ln>
            <a:noFill/>
          </a:ln>
        </p:spPr>
      </p:pic>
      <p:pic>
        <p:nvPicPr>
          <p:cNvPr id="667" name="Google Shape;667;h2627160d5792b11b_0_595" title="Ontology Taxonomy Documentation Icons.png"/>
          <p:cNvPicPr preferRelativeResize="0"/>
          <p:nvPr/>
        </p:nvPicPr>
        <p:blipFill rotWithShape="1">
          <a:blip r:embed="rId3">
            <a:alphaModFix/>
          </a:blip>
          <a:srcRect b="7505" l="70326" r="314" t="10116"/>
          <a:stretch/>
        </p:blipFill>
        <p:spPr>
          <a:xfrm>
            <a:off x="10404324" y="1857240"/>
            <a:ext cx="998298" cy="934100"/>
          </a:xfrm>
          <a:prstGeom prst="rect">
            <a:avLst/>
          </a:prstGeom>
          <a:noFill/>
          <a:ln>
            <a:noFill/>
          </a:ln>
        </p:spPr>
      </p:pic>
      <p:sp>
        <p:nvSpPr>
          <p:cNvPr id="668" name="Google Shape;668;h2627160d5792b11b_0_595"/>
          <p:cNvSpPr txBox="1"/>
          <p:nvPr/>
        </p:nvSpPr>
        <p:spPr>
          <a:xfrm>
            <a:off x="4764206" y="3261212"/>
            <a:ext cx="3118200" cy="4734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00" u="none" cap="none" strike="noStrike">
                <a:solidFill>
                  <a:srgbClr val="1F2328"/>
                </a:solidFill>
                <a:latin typeface="Calibri"/>
                <a:ea typeface="Calibri"/>
                <a:cs typeface="Calibri"/>
                <a:sym typeface="Calibri"/>
              </a:rPr>
              <a:t>Disease Ontology</a:t>
            </a:r>
            <a:endParaRPr b="1" i="0" sz="1500" u="none" cap="none" strike="noStrike">
              <a:solidFill>
                <a:srgbClr val="000000"/>
              </a:solidFill>
            </a:endParaRPr>
          </a:p>
          <a:p>
            <a:pPr indent="0" lvl="0" marL="0" marR="0" rtl="0" algn="l">
              <a:lnSpc>
                <a:spcPct val="105000"/>
              </a:lnSpc>
              <a:spcBef>
                <a:spcPts val="0"/>
              </a:spcBef>
              <a:spcAft>
                <a:spcPts val="0"/>
              </a:spcAft>
              <a:buClr>
                <a:srgbClr val="000000"/>
              </a:buClr>
              <a:buSzPts val="1520"/>
              <a:buFont typeface="Arial"/>
              <a:buNone/>
            </a:pPr>
            <a:r>
              <a:rPr b="1" lang="en-US" sz="1500">
                <a:solidFill>
                  <a:srgbClr val="1F2328"/>
                </a:solidFill>
                <a:latin typeface="Calibri"/>
                <a:ea typeface="Calibri"/>
                <a:cs typeface="Calibri"/>
                <a:sym typeface="Calibri"/>
              </a:rPr>
              <a:t>Cell Ontology</a:t>
            </a:r>
            <a:endParaRPr b="1" i="0" sz="1500" u="none" cap="none" strike="noStrike">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3" name="Shape 673"/>
        <p:cNvGrpSpPr/>
        <p:nvPr/>
      </p:nvGrpSpPr>
      <p:grpSpPr>
        <a:xfrm>
          <a:off x="0" y="0"/>
          <a:ext cx="0" cy="0"/>
          <a:chOff x="0" y="0"/>
          <a:chExt cx="0" cy="0"/>
        </a:xfrm>
      </p:grpSpPr>
      <p:sp>
        <p:nvSpPr>
          <p:cNvPr id="674" name="Google Shape;674;h2627160d5792b11b_0_640"/>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3 / RETRIEVE</a:t>
            </a:r>
            <a:endParaRPr b="0" i="0" sz="1400" u="none" cap="none" strike="noStrike">
              <a:solidFill>
                <a:srgbClr val="000000"/>
              </a:solidFill>
              <a:latin typeface="Arial"/>
              <a:ea typeface="Arial"/>
              <a:cs typeface="Arial"/>
              <a:sym typeface="Arial"/>
            </a:endParaRPr>
          </a:p>
        </p:txBody>
      </p:sp>
      <p:sp>
        <p:nvSpPr>
          <p:cNvPr id="675" name="Google Shape;675;h2627160d5792b11b_0_640"/>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The draft is structurally faithful. But what does it mean?</a:t>
            </a:r>
            <a:endParaRPr b="0" i="0" sz="1400" u="none" cap="none" strike="noStrike">
              <a:solidFill>
                <a:srgbClr val="000000"/>
              </a:solidFill>
              <a:latin typeface="Arial"/>
              <a:ea typeface="Arial"/>
              <a:cs typeface="Arial"/>
              <a:sym typeface="Arial"/>
            </a:endParaRPr>
          </a:p>
        </p:txBody>
      </p:sp>
      <p:sp>
        <p:nvSpPr>
          <p:cNvPr id="676" name="Google Shape;676;h2627160d5792b11b_0_640"/>
          <p:cNvSpPr txBox="1"/>
          <p:nvPr/>
        </p:nvSpPr>
        <p:spPr>
          <a:xfrm>
            <a:off x="795528" y="1397241"/>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B6770"/>
                </a:solidFill>
                <a:latin typeface="Calibri"/>
                <a:ea typeface="Calibri"/>
                <a:cs typeface="Calibri"/>
                <a:sym typeface="Calibri"/>
              </a:rPr>
              <a:t>RIGOR gathers a </a:t>
            </a:r>
            <a:r>
              <a:rPr b="1" i="0" lang="en-US" sz="1600" u="none" cap="none" strike="noStrike">
                <a:solidFill>
                  <a:srgbClr val="5B6770"/>
                </a:solidFill>
                <a:latin typeface="Calibri"/>
                <a:ea typeface="Calibri"/>
                <a:cs typeface="Calibri"/>
                <a:sym typeface="Calibri"/>
              </a:rPr>
              <a:t>context</a:t>
            </a:r>
            <a:r>
              <a:rPr b="0" i="0" lang="en-US" sz="1600" u="none" cap="none" strike="noStrike">
                <a:solidFill>
                  <a:srgbClr val="5B6770"/>
                </a:solidFill>
                <a:latin typeface="Calibri"/>
                <a:ea typeface="Calibri"/>
                <a:cs typeface="Calibri"/>
                <a:sym typeface="Calibri"/>
              </a:rPr>
              <a:t> package from </a:t>
            </a: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complementary </a:t>
            </a:r>
            <a:r>
              <a:rPr b="1" i="0" lang="en-US" sz="1600" u="none" cap="none" strike="noStrike">
                <a:solidFill>
                  <a:srgbClr val="5B6770"/>
                </a:solidFill>
                <a:latin typeface="Calibri"/>
                <a:ea typeface="Calibri"/>
                <a:cs typeface="Calibri"/>
                <a:sym typeface="Calibri"/>
              </a:rPr>
              <a:t>sources</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677" name="Google Shape;677;h2627160d5792b11b_0_640"/>
          <p:cNvSpPr/>
          <p:nvPr/>
        </p:nvSpPr>
        <p:spPr>
          <a:xfrm>
            <a:off x="822960" y="1796560"/>
            <a:ext cx="3319200" cy="2514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8" name="Google Shape;678;h2627160d5792b11b_0_640"/>
          <p:cNvSpPr/>
          <p:nvPr/>
        </p:nvSpPr>
        <p:spPr>
          <a:xfrm>
            <a:off x="822960" y="1796560"/>
            <a:ext cx="3319200" cy="639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9" name="Google Shape;679;h2627160d5792b11b_0_640"/>
          <p:cNvSpPr txBox="1"/>
          <p:nvPr/>
        </p:nvSpPr>
        <p:spPr>
          <a:xfrm>
            <a:off x="1005840" y="223075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1  DOCUMENTATION</a:t>
            </a:r>
            <a:endParaRPr b="0" i="0" sz="1400" u="none" cap="none" strike="noStrike">
              <a:solidFill>
                <a:srgbClr val="000000"/>
              </a:solidFill>
              <a:latin typeface="Arial"/>
              <a:ea typeface="Arial"/>
              <a:cs typeface="Arial"/>
              <a:sym typeface="Arial"/>
            </a:endParaRPr>
          </a:p>
        </p:txBody>
      </p:sp>
      <p:sp>
        <p:nvSpPr>
          <p:cNvPr id="680" name="Google Shape;680;h2627160d5792b11b_0_640"/>
          <p:cNvSpPr txBox="1"/>
          <p:nvPr/>
        </p:nvSpPr>
        <p:spPr>
          <a:xfrm>
            <a:off x="1005840" y="2830775"/>
            <a:ext cx="2990100" cy="26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29"/>
              <a:buFont typeface="Arial"/>
              <a:buNone/>
            </a:pPr>
            <a:r>
              <a:rPr b="1" i="0" lang="en-US" sz="1730" u="none" cap="none" strike="noStrike">
                <a:solidFill>
                  <a:srgbClr val="1F2328"/>
                </a:solidFill>
                <a:latin typeface="Calibri"/>
                <a:ea typeface="Calibri"/>
                <a:cs typeface="Calibri"/>
                <a:sym typeface="Calibri"/>
              </a:rPr>
              <a:t>What do column names mean?</a:t>
            </a:r>
            <a:endParaRPr b="0" i="0" sz="1400" u="none" cap="none" strike="noStrike">
              <a:solidFill>
                <a:srgbClr val="000000"/>
              </a:solidFill>
              <a:latin typeface="Arial"/>
              <a:ea typeface="Arial"/>
              <a:cs typeface="Arial"/>
              <a:sym typeface="Arial"/>
            </a:endParaRPr>
          </a:p>
        </p:txBody>
      </p:sp>
      <p:sp>
        <p:nvSpPr>
          <p:cNvPr id="681" name="Google Shape;681;h2627160d5792b11b_0_640"/>
          <p:cNvSpPr/>
          <p:nvPr/>
        </p:nvSpPr>
        <p:spPr>
          <a:xfrm>
            <a:off x="996696" y="3224627"/>
            <a:ext cx="2962800" cy="5577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2" name="Google Shape;682;h2627160d5792b11b_0_640"/>
          <p:cNvSpPr txBox="1"/>
          <p:nvPr/>
        </p:nvSpPr>
        <p:spPr>
          <a:xfrm>
            <a:off x="1124700" y="3258737"/>
            <a:ext cx="2706600" cy="4821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Clr>
                <a:srgbClr val="000000"/>
              </a:buClr>
              <a:buSzPts val="1520"/>
              <a:buFont typeface="Arial"/>
              <a:buNone/>
            </a:pPr>
            <a:r>
              <a:rPr b="1" lang="en-US" sz="1520">
                <a:solidFill>
                  <a:srgbClr val="0B6E4F"/>
                </a:solidFill>
                <a:latin typeface="Consolas"/>
                <a:ea typeface="Consolas"/>
                <a:cs typeface="Consolas"/>
                <a:sym typeface="Consolas"/>
              </a:rPr>
              <a:t>BM_DEP</a:t>
            </a:r>
            <a:r>
              <a:rPr b="0" i="0" lang="en-US" sz="1520" u="none" cap="none" strike="noStrike">
                <a:solidFill>
                  <a:srgbClr val="1F2328"/>
                </a:solidFill>
                <a:latin typeface="Calibri"/>
                <a:ea typeface="Calibri"/>
                <a:cs typeface="Calibri"/>
                <a:sym typeface="Calibri"/>
              </a:rPr>
              <a:t>→ Bone Marrow</a:t>
            </a:r>
            <a:endParaRPr b="0" i="0" sz="1400" u="none" cap="none" strike="noStrike">
              <a:solidFill>
                <a:srgbClr val="000000"/>
              </a:solidFill>
              <a:latin typeface="Arial"/>
              <a:ea typeface="Arial"/>
              <a:cs typeface="Arial"/>
              <a:sym typeface="Arial"/>
            </a:endParaRPr>
          </a:p>
          <a:p>
            <a:pPr indent="0" lvl="0" marL="0" marR="0" rtl="0" algn="l">
              <a:lnSpc>
                <a:spcPct val="106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Depression</a:t>
            </a:r>
            <a:endParaRPr b="0" i="0" sz="1400" u="none" cap="none" strike="noStrike">
              <a:solidFill>
                <a:srgbClr val="000000"/>
              </a:solidFill>
              <a:latin typeface="Arial"/>
              <a:ea typeface="Arial"/>
              <a:cs typeface="Arial"/>
              <a:sym typeface="Arial"/>
            </a:endParaRPr>
          </a:p>
        </p:txBody>
      </p:sp>
      <p:sp>
        <p:nvSpPr>
          <p:cNvPr id="683" name="Google Shape;683;h2627160d5792b11b_0_640"/>
          <p:cNvSpPr txBox="1"/>
          <p:nvPr/>
        </p:nvSpPr>
        <p:spPr>
          <a:xfrm>
            <a:off x="1005840" y="3872248"/>
            <a:ext cx="2944500" cy="238500"/>
          </a:xfrm>
          <a:prstGeom prst="rect">
            <a:avLst/>
          </a:prstGeom>
          <a:noFill/>
          <a:ln>
            <a:noFill/>
          </a:ln>
        </p:spPr>
        <p:txBody>
          <a:bodyPr anchorCtr="0" anchor="ctr" bIns="0" lIns="0" spcFirstLastPara="1" rIns="0" wrap="square" tIns="0">
            <a:spAutoFit/>
          </a:bodyPr>
          <a:lstStyle/>
          <a:p>
            <a:pPr indent="0" lvl="0" marL="0" marR="0" rtl="0" algn="l">
              <a:lnSpc>
                <a:spcPct val="106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Defines cryptic names</a:t>
            </a:r>
            <a:endParaRPr b="0" i="0" sz="1400" u="none" cap="none" strike="noStrike">
              <a:solidFill>
                <a:srgbClr val="000000"/>
              </a:solidFill>
              <a:latin typeface="Arial"/>
              <a:ea typeface="Arial"/>
              <a:cs typeface="Arial"/>
              <a:sym typeface="Arial"/>
            </a:endParaRPr>
          </a:p>
        </p:txBody>
      </p:sp>
      <p:sp>
        <p:nvSpPr>
          <p:cNvPr id="684" name="Google Shape;684;h2627160d5792b11b_0_640"/>
          <p:cNvSpPr/>
          <p:nvPr/>
        </p:nvSpPr>
        <p:spPr>
          <a:xfrm>
            <a:off x="4416550" y="1796569"/>
            <a:ext cx="3824100" cy="2514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5" name="Google Shape;685;h2627160d5792b11b_0_640"/>
          <p:cNvSpPr/>
          <p:nvPr/>
        </p:nvSpPr>
        <p:spPr>
          <a:xfrm>
            <a:off x="4416550" y="1796569"/>
            <a:ext cx="3824100" cy="63900"/>
          </a:xfrm>
          <a:prstGeom prst="rect">
            <a:avLst/>
          </a:prstGeom>
          <a:solidFill>
            <a:srgbClr val="2F6B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6" name="Google Shape;686;h2627160d5792b11b_0_640"/>
          <p:cNvSpPr txBox="1"/>
          <p:nvPr/>
        </p:nvSpPr>
        <p:spPr>
          <a:xfrm>
            <a:off x="4627251" y="2230768"/>
            <a:ext cx="34554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2  EXTERNAL ONTOLOGIES</a:t>
            </a:r>
            <a:endParaRPr b="0" i="0" sz="1400" u="none" cap="none" strike="noStrike">
              <a:solidFill>
                <a:srgbClr val="000000"/>
              </a:solidFill>
              <a:latin typeface="Arial"/>
              <a:ea typeface="Arial"/>
              <a:cs typeface="Arial"/>
              <a:sym typeface="Arial"/>
            </a:endParaRPr>
          </a:p>
        </p:txBody>
      </p:sp>
      <p:sp>
        <p:nvSpPr>
          <p:cNvPr id="687" name="Google Shape;687;h2627160d5792b11b_0_640"/>
          <p:cNvSpPr txBox="1"/>
          <p:nvPr/>
        </p:nvSpPr>
        <p:spPr>
          <a:xfrm>
            <a:off x="4627251" y="2830784"/>
            <a:ext cx="3444900" cy="26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29"/>
              <a:buFont typeface="Arial"/>
              <a:buNone/>
            </a:pPr>
            <a:r>
              <a:rPr b="1" i="0" lang="en-US" sz="1730" u="none" cap="none" strike="noStrike">
                <a:solidFill>
                  <a:srgbClr val="1F2328"/>
                </a:solidFill>
                <a:latin typeface="Calibri"/>
                <a:ea typeface="Calibri"/>
                <a:cs typeface="Calibri"/>
                <a:sym typeface="Calibri"/>
              </a:rPr>
              <a:t>Which domain concepts exist?</a:t>
            </a:r>
            <a:endParaRPr b="0" i="0" sz="1400" u="none" cap="none" strike="noStrike">
              <a:solidFill>
                <a:srgbClr val="000000"/>
              </a:solidFill>
              <a:latin typeface="Arial"/>
              <a:ea typeface="Arial"/>
              <a:cs typeface="Arial"/>
              <a:sym typeface="Arial"/>
            </a:endParaRPr>
          </a:p>
        </p:txBody>
      </p:sp>
      <p:sp>
        <p:nvSpPr>
          <p:cNvPr id="688" name="Google Shape;688;h2627160d5792b11b_0_640"/>
          <p:cNvSpPr/>
          <p:nvPr/>
        </p:nvSpPr>
        <p:spPr>
          <a:xfrm>
            <a:off x="4616716" y="3224636"/>
            <a:ext cx="3413400" cy="5577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9" name="Google Shape;689;h2627160d5792b11b_0_640"/>
          <p:cNvSpPr txBox="1"/>
          <p:nvPr/>
        </p:nvSpPr>
        <p:spPr>
          <a:xfrm>
            <a:off x="4764206" y="3261212"/>
            <a:ext cx="3118200" cy="4734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00" u="none" cap="none" strike="noStrike">
                <a:solidFill>
                  <a:srgbClr val="1F2328"/>
                </a:solidFill>
                <a:latin typeface="Calibri"/>
                <a:ea typeface="Calibri"/>
                <a:cs typeface="Calibri"/>
                <a:sym typeface="Calibri"/>
              </a:rPr>
              <a:t>Disease Ontology</a:t>
            </a:r>
            <a:endParaRPr b="1" i="0" sz="1500" u="none" cap="none" strike="noStrike">
              <a:solidFill>
                <a:srgbClr val="000000"/>
              </a:solidFill>
            </a:endParaRPr>
          </a:p>
          <a:p>
            <a:pPr indent="0" lvl="0" marL="0" marR="0" rtl="0" algn="l">
              <a:lnSpc>
                <a:spcPct val="105000"/>
              </a:lnSpc>
              <a:spcBef>
                <a:spcPts val="0"/>
              </a:spcBef>
              <a:spcAft>
                <a:spcPts val="0"/>
              </a:spcAft>
              <a:buClr>
                <a:srgbClr val="000000"/>
              </a:buClr>
              <a:buSzPts val="1520"/>
              <a:buFont typeface="Arial"/>
              <a:buNone/>
            </a:pPr>
            <a:r>
              <a:rPr b="1" lang="en-US" sz="1500">
                <a:solidFill>
                  <a:srgbClr val="1F2328"/>
                </a:solidFill>
                <a:latin typeface="Calibri"/>
                <a:ea typeface="Calibri"/>
                <a:cs typeface="Calibri"/>
                <a:sym typeface="Calibri"/>
              </a:rPr>
              <a:t>Cell Ontology</a:t>
            </a:r>
            <a:endParaRPr b="1" i="0" sz="1500" u="none" cap="none" strike="noStrike">
              <a:solidFill>
                <a:srgbClr val="000000"/>
              </a:solidFill>
            </a:endParaRPr>
          </a:p>
        </p:txBody>
      </p:sp>
      <p:sp>
        <p:nvSpPr>
          <p:cNvPr id="690" name="Google Shape;690;h2627160d5792b11b_0_640"/>
          <p:cNvSpPr txBox="1"/>
          <p:nvPr/>
        </p:nvSpPr>
        <p:spPr>
          <a:xfrm>
            <a:off x="4627251" y="3826537"/>
            <a:ext cx="3392400" cy="238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Suggests established concepts</a:t>
            </a:r>
            <a:endParaRPr b="0" i="0" sz="1400" u="none" cap="none" strike="noStrike">
              <a:solidFill>
                <a:srgbClr val="000000"/>
              </a:solidFill>
              <a:latin typeface="Arial"/>
              <a:ea typeface="Arial"/>
              <a:cs typeface="Arial"/>
              <a:sym typeface="Arial"/>
            </a:endParaRPr>
          </a:p>
        </p:txBody>
      </p:sp>
      <p:sp>
        <p:nvSpPr>
          <p:cNvPr id="691" name="Google Shape;691;h2627160d5792b11b_0_640"/>
          <p:cNvSpPr/>
          <p:nvPr/>
        </p:nvSpPr>
        <p:spPr>
          <a:xfrm>
            <a:off x="8481494" y="1799623"/>
            <a:ext cx="3319200" cy="2514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2" name="Google Shape;692;h2627160d5792b11b_0_640"/>
          <p:cNvSpPr/>
          <p:nvPr/>
        </p:nvSpPr>
        <p:spPr>
          <a:xfrm>
            <a:off x="8481494" y="1799623"/>
            <a:ext cx="3319200" cy="639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3" name="Google Shape;693;h2627160d5792b11b_0_640"/>
          <p:cNvSpPr txBox="1"/>
          <p:nvPr/>
        </p:nvSpPr>
        <p:spPr>
          <a:xfrm>
            <a:off x="8664373" y="2233822"/>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3  GROWING CORE</a:t>
            </a:r>
            <a:endParaRPr b="0" i="0" sz="1400" u="none" cap="none" strike="noStrike">
              <a:solidFill>
                <a:srgbClr val="000000"/>
              </a:solidFill>
              <a:latin typeface="Arial"/>
              <a:ea typeface="Arial"/>
              <a:cs typeface="Arial"/>
              <a:sym typeface="Arial"/>
            </a:endParaRPr>
          </a:p>
        </p:txBody>
      </p:sp>
      <p:sp>
        <p:nvSpPr>
          <p:cNvPr id="694" name="Google Shape;694;h2627160d5792b11b_0_640"/>
          <p:cNvSpPr txBox="1"/>
          <p:nvPr/>
        </p:nvSpPr>
        <p:spPr>
          <a:xfrm>
            <a:off x="8664373" y="2833838"/>
            <a:ext cx="2990100" cy="26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29"/>
              <a:buFont typeface="Arial"/>
              <a:buNone/>
            </a:pPr>
            <a:r>
              <a:rPr b="1" i="0" lang="en-US" sz="1730" u="none" cap="none" strike="noStrike">
                <a:solidFill>
                  <a:srgbClr val="1F2328"/>
                </a:solidFill>
                <a:latin typeface="Calibri"/>
                <a:ea typeface="Calibri"/>
                <a:cs typeface="Calibri"/>
                <a:sym typeface="Calibri"/>
              </a:rPr>
              <a:t>What have we already defined?</a:t>
            </a:r>
            <a:endParaRPr b="0" i="0" sz="1400" u="none" cap="none" strike="noStrike">
              <a:solidFill>
                <a:srgbClr val="000000"/>
              </a:solidFill>
              <a:latin typeface="Arial"/>
              <a:ea typeface="Arial"/>
              <a:cs typeface="Arial"/>
              <a:sym typeface="Arial"/>
            </a:endParaRPr>
          </a:p>
        </p:txBody>
      </p:sp>
      <p:sp>
        <p:nvSpPr>
          <p:cNvPr id="695" name="Google Shape;695;h2627160d5792b11b_0_640"/>
          <p:cNvSpPr/>
          <p:nvPr/>
        </p:nvSpPr>
        <p:spPr>
          <a:xfrm>
            <a:off x="8655229" y="3227690"/>
            <a:ext cx="2962800" cy="5577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6" name="Google Shape;696;h2627160d5792b11b_0_640"/>
          <p:cNvSpPr txBox="1"/>
          <p:nvPr/>
        </p:nvSpPr>
        <p:spPr>
          <a:xfrm>
            <a:off x="8783246" y="3264266"/>
            <a:ext cx="2706600" cy="479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PatientData + previously</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accepted ontology terms</a:t>
            </a:r>
            <a:endParaRPr b="0" i="0" sz="1400" u="none" cap="none" strike="noStrike">
              <a:solidFill>
                <a:srgbClr val="000000"/>
              </a:solidFill>
              <a:latin typeface="Arial"/>
              <a:ea typeface="Arial"/>
              <a:cs typeface="Arial"/>
              <a:sym typeface="Arial"/>
            </a:endParaRPr>
          </a:p>
        </p:txBody>
      </p:sp>
      <p:sp>
        <p:nvSpPr>
          <p:cNvPr id="697" name="Google Shape;697;h2627160d5792b11b_0_640"/>
          <p:cNvSpPr txBox="1"/>
          <p:nvPr/>
        </p:nvSpPr>
        <p:spPr>
          <a:xfrm>
            <a:off x="8664373" y="3829591"/>
            <a:ext cx="2944500" cy="238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Reuses established concepts</a:t>
            </a:r>
            <a:endParaRPr b="0" i="0" sz="1400" u="none" cap="none" strike="noStrike">
              <a:solidFill>
                <a:srgbClr val="000000"/>
              </a:solidFill>
              <a:latin typeface="Arial"/>
              <a:ea typeface="Arial"/>
              <a:cs typeface="Arial"/>
              <a:sym typeface="Arial"/>
            </a:endParaRPr>
          </a:p>
        </p:txBody>
      </p:sp>
      <p:sp>
        <p:nvSpPr>
          <p:cNvPr id="698" name="Google Shape;698;h2627160d5792b11b_0_640"/>
          <p:cNvSpPr/>
          <p:nvPr/>
        </p:nvSpPr>
        <p:spPr>
          <a:xfrm>
            <a:off x="1085653" y="4491796"/>
            <a:ext cx="10470000" cy="1028100"/>
          </a:xfrm>
          <a:prstGeom prst="roundRect">
            <a:avLst>
              <a:gd fmla="val 10000" name="adj"/>
            </a:avLst>
          </a:prstGeom>
          <a:solidFill>
            <a:srgbClr val="E6F2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9" name="Google Shape;699;h2627160d5792b11b_0_640"/>
          <p:cNvSpPr txBox="1"/>
          <p:nvPr/>
        </p:nvSpPr>
        <p:spPr>
          <a:xfrm>
            <a:off x="1311199" y="4649295"/>
            <a:ext cx="10076700" cy="739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1" i="0" lang="en-US" sz="1550" u="none" cap="none" strike="noStrike">
                <a:solidFill>
                  <a:srgbClr val="0B6E4F"/>
                </a:solidFill>
                <a:latin typeface="Calibri"/>
                <a:ea typeface="Calibri"/>
                <a:cs typeface="Calibri"/>
                <a:sym typeface="Calibri"/>
              </a:rPr>
              <a:t>ONE RETRIEVAL QUERY PER TABLE   </a:t>
            </a:r>
            <a:r>
              <a:rPr b="1" i="0" lang="en-US" sz="1550" u="none" cap="none" strike="noStrike">
                <a:solidFill>
                  <a:srgbClr val="1F2328"/>
                </a:solidFill>
                <a:latin typeface="Calibri"/>
                <a:ea typeface="Calibri"/>
                <a:cs typeface="Calibri"/>
                <a:sym typeface="Calibri"/>
              </a:rPr>
              <a:t>table</a:t>
            </a:r>
            <a:r>
              <a:rPr b="0" i="0" lang="en-US" sz="1550" u="none" cap="none" strike="noStrike">
                <a:solidFill>
                  <a:srgbClr val="1F2328"/>
                </a:solidFill>
                <a:latin typeface="Calibri"/>
                <a:ea typeface="Calibri"/>
                <a:cs typeface="Calibri"/>
                <a:sym typeface="Calibri"/>
              </a:rPr>
              <a:t> + </a:t>
            </a:r>
            <a:r>
              <a:rPr b="1" i="0" lang="en-US" sz="1550" u="none" cap="none" strike="noStrike">
                <a:solidFill>
                  <a:srgbClr val="1F2328"/>
                </a:solidFill>
                <a:latin typeface="Calibri"/>
                <a:ea typeface="Calibri"/>
                <a:cs typeface="Calibri"/>
                <a:sym typeface="Calibri"/>
              </a:rPr>
              <a:t>columns</a:t>
            </a:r>
            <a:r>
              <a:rPr b="0" i="0" lang="en-US" sz="1550" u="none" cap="none" strike="noStrike">
                <a:solidFill>
                  <a:srgbClr val="1F2328"/>
                </a:solidFill>
                <a:latin typeface="Calibri"/>
                <a:ea typeface="Calibri"/>
                <a:cs typeface="Calibri"/>
                <a:sym typeface="Calibri"/>
              </a:rPr>
              <a:t> + </a:t>
            </a:r>
            <a:r>
              <a:rPr b="1" i="0" lang="en-US" sz="1550" u="none" cap="none" strike="noStrike">
                <a:solidFill>
                  <a:srgbClr val="1F2328"/>
                </a:solidFill>
                <a:latin typeface="Calibri"/>
                <a:ea typeface="Calibri"/>
                <a:cs typeface="Calibri"/>
                <a:sym typeface="Calibri"/>
              </a:rPr>
              <a:t>FK targets </a:t>
            </a:r>
            <a:r>
              <a:rPr b="0" i="0" lang="en-US" sz="1550" u="none" cap="none" strike="noStrike">
                <a:solidFill>
                  <a:srgbClr val="1F2328"/>
                </a:solidFill>
                <a:latin typeface="Calibri"/>
                <a:ea typeface="Calibri"/>
                <a:cs typeface="Calibri"/>
                <a:sym typeface="Calibri"/>
              </a:rPr>
              <a:t> →  top-</a:t>
            </a:r>
            <a:r>
              <a:rPr lang="en-US" sz="1550">
                <a:solidFill>
                  <a:srgbClr val="1F2328"/>
                </a:solidFill>
                <a:latin typeface="Calibri"/>
                <a:ea typeface="Calibri"/>
                <a:cs typeface="Calibri"/>
                <a:sym typeface="Calibri"/>
              </a:rPr>
              <a:t>K</a:t>
            </a:r>
            <a:r>
              <a:rPr b="0" i="0" lang="en-US" sz="1550" u="none" cap="none" strike="noStrike">
                <a:solidFill>
                  <a:srgbClr val="1F2328"/>
                </a:solidFill>
                <a:latin typeface="Calibri"/>
                <a:ea typeface="Calibri"/>
                <a:cs typeface="Calibri"/>
                <a:sym typeface="Calibri"/>
              </a:rPr>
              <a:t> per </a:t>
            </a:r>
            <a:r>
              <a:rPr b="1" i="0" lang="en-US" sz="1550" u="none" cap="none" strike="noStrike">
                <a:solidFill>
                  <a:srgbClr val="1F2328"/>
                </a:solidFill>
                <a:latin typeface="Calibri"/>
                <a:ea typeface="Calibri"/>
                <a:cs typeface="Calibri"/>
                <a:sym typeface="Calibri"/>
              </a:rPr>
              <a:t>source</a:t>
            </a:r>
            <a:endParaRPr b="1" i="0" sz="1550" u="none" cap="none" strike="noStrike">
              <a:solidFill>
                <a:srgbClr val="1F2328"/>
              </a:solidFill>
              <a:latin typeface="Calibri"/>
              <a:ea typeface="Calibri"/>
              <a:cs typeface="Calibri"/>
              <a:sym typeface="Calibri"/>
            </a:endParaRPr>
          </a:p>
          <a:p>
            <a:pPr indent="0" lvl="0" marL="0" marR="0" rtl="0" algn="l">
              <a:lnSpc>
                <a:spcPct val="105000"/>
              </a:lnSpc>
              <a:spcBef>
                <a:spcPts val="0"/>
              </a:spcBef>
              <a:spcAft>
                <a:spcPts val="0"/>
              </a:spcAft>
              <a:buClr>
                <a:srgbClr val="000000"/>
              </a:buClr>
              <a:buSzPts val="1550"/>
              <a:buFont typeface="Arial"/>
              <a:buNone/>
            </a:pPr>
            <a:r>
              <a:t/>
            </a:r>
            <a:endParaRPr i="1" sz="1550">
              <a:solidFill>
                <a:srgbClr val="1F2328"/>
              </a:solidFill>
              <a:latin typeface="Calibri"/>
              <a:ea typeface="Calibri"/>
              <a:cs typeface="Calibri"/>
              <a:sym typeface="Calibri"/>
            </a:endParaRPr>
          </a:p>
          <a:p>
            <a:pPr indent="0" lvl="0" marL="0" marR="0" rtl="0" algn="l">
              <a:lnSpc>
                <a:spcPct val="105000"/>
              </a:lnSpc>
              <a:spcBef>
                <a:spcPts val="0"/>
              </a:spcBef>
              <a:spcAft>
                <a:spcPts val="0"/>
              </a:spcAft>
              <a:buClr>
                <a:srgbClr val="000000"/>
              </a:buClr>
              <a:buSzPts val="1550"/>
              <a:buFont typeface="Arial"/>
              <a:buNone/>
            </a:pPr>
            <a:r>
              <a:rPr i="1" lang="en-US" sz="1550">
                <a:solidFill>
                  <a:srgbClr val="1F2328"/>
                </a:solidFill>
                <a:latin typeface="Calibri"/>
                <a:ea typeface="Calibri"/>
                <a:cs typeface="Calibri"/>
                <a:sym typeface="Calibri"/>
              </a:rPr>
              <a:t>(e.g.,  </a:t>
            </a:r>
            <a:r>
              <a:rPr b="1" i="1" lang="en-US" sz="1520">
                <a:solidFill>
                  <a:srgbClr val="0B6E4F"/>
                </a:solidFill>
                <a:latin typeface="Consolas"/>
                <a:ea typeface="Consolas"/>
                <a:cs typeface="Consolas"/>
                <a:sym typeface="Consolas"/>
              </a:rPr>
              <a:t>admission → query: admission + patient_id,BM_DEP, ecog_stage+ PatientData</a:t>
            </a:r>
            <a:r>
              <a:rPr i="1" lang="en-US" sz="1550">
                <a:solidFill>
                  <a:srgbClr val="1F2328"/>
                </a:solidFill>
                <a:latin typeface="Calibri"/>
                <a:ea typeface="Calibri"/>
                <a:cs typeface="Calibri"/>
                <a:sym typeface="Calibri"/>
              </a:rPr>
              <a:t>)</a:t>
            </a:r>
            <a:endParaRPr i="1" sz="1550">
              <a:solidFill>
                <a:srgbClr val="1F2328"/>
              </a:solidFill>
              <a:latin typeface="Calibri"/>
              <a:ea typeface="Calibri"/>
              <a:cs typeface="Calibri"/>
              <a:sym typeface="Calibri"/>
            </a:endParaRPr>
          </a:p>
        </p:txBody>
      </p:sp>
      <p:sp>
        <p:nvSpPr>
          <p:cNvPr id="700" name="Google Shape;700;h2627160d5792b11b_0_640"/>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1" name="Google Shape;701;h2627160d5792b11b_0_640"/>
          <p:cNvSpPr txBox="1"/>
          <p:nvPr/>
        </p:nvSpPr>
        <p:spPr>
          <a:xfrm>
            <a:off x="85953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702" name="Google Shape;702;h2627160d5792b11b_0_640"/>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3" name="Google Shape;703;h2627160d5792b11b_0_640"/>
          <p:cNvSpPr txBox="1"/>
          <p:nvPr/>
        </p:nvSpPr>
        <p:spPr>
          <a:xfrm>
            <a:off x="2697479"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704" name="Google Shape;704;h2627160d5792b11b_0_640"/>
          <p:cNvSpPr/>
          <p:nvPr/>
        </p:nvSpPr>
        <p:spPr>
          <a:xfrm>
            <a:off x="4480559"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5" name="Google Shape;705;h2627160d5792b11b_0_640"/>
          <p:cNvSpPr txBox="1"/>
          <p:nvPr/>
        </p:nvSpPr>
        <p:spPr>
          <a:xfrm>
            <a:off x="4535423"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706" name="Google Shape;706;h2627160d5792b11b_0_640"/>
          <p:cNvSpPr/>
          <p:nvPr/>
        </p:nvSpPr>
        <p:spPr>
          <a:xfrm>
            <a:off x="6318503"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7" name="Google Shape;707;h2627160d5792b11b_0_640"/>
          <p:cNvSpPr txBox="1"/>
          <p:nvPr/>
        </p:nvSpPr>
        <p:spPr>
          <a:xfrm>
            <a:off x="6373367"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708" name="Google Shape;708;h2627160d5792b11b_0_640"/>
          <p:cNvSpPr/>
          <p:nvPr/>
        </p:nvSpPr>
        <p:spPr>
          <a:xfrm>
            <a:off x="8156448"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9" name="Google Shape;709;h2627160d5792b11b_0_640"/>
          <p:cNvSpPr txBox="1"/>
          <p:nvPr/>
        </p:nvSpPr>
        <p:spPr>
          <a:xfrm>
            <a:off x="8211312"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710" name="Google Shape;710;h2627160d5792b11b_0_640"/>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1" name="Google Shape;711;h2627160d5792b11b_0_640"/>
          <p:cNvSpPr txBox="1"/>
          <p:nvPr/>
        </p:nvSpPr>
        <p:spPr>
          <a:xfrm>
            <a:off x="1004925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pic>
        <p:nvPicPr>
          <p:cNvPr id="712" name="Google Shape;712;h2627160d5792b11b_0_640" title="Ontology Taxonomy Documentation Icons.png"/>
          <p:cNvPicPr preferRelativeResize="0"/>
          <p:nvPr/>
        </p:nvPicPr>
        <p:blipFill rotWithShape="1">
          <a:blip r:embed="rId3">
            <a:alphaModFix/>
          </a:blip>
          <a:srcRect b="14185" l="36225" r="31825" t="16211"/>
          <a:stretch/>
        </p:blipFill>
        <p:spPr>
          <a:xfrm>
            <a:off x="2873021" y="1879752"/>
            <a:ext cx="1086331" cy="789275"/>
          </a:xfrm>
          <a:prstGeom prst="rect">
            <a:avLst/>
          </a:prstGeom>
          <a:noFill/>
          <a:ln>
            <a:noFill/>
          </a:ln>
        </p:spPr>
      </p:pic>
      <p:pic>
        <p:nvPicPr>
          <p:cNvPr id="713" name="Google Shape;713;h2627160d5792b11b_0_640" title="Ontology Taxonomy Documentation Icons.png"/>
          <p:cNvPicPr preferRelativeResize="0"/>
          <p:nvPr/>
        </p:nvPicPr>
        <p:blipFill rotWithShape="1">
          <a:blip r:embed="rId3">
            <a:alphaModFix/>
          </a:blip>
          <a:srcRect b="14185" l="2070" r="65981" t="16211"/>
          <a:stretch/>
        </p:blipFill>
        <p:spPr>
          <a:xfrm>
            <a:off x="7073705" y="1927465"/>
            <a:ext cx="1086326" cy="789275"/>
          </a:xfrm>
          <a:prstGeom prst="rect">
            <a:avLst/>
          </a:prstGeom>
          <a:noFill/>
          <a:ln>
            <a:noFill/>
          </a:ln>
        </p:spPr>
      </p:pic>
      <p:pic>
        <p:nvPicPr>
          <p:cNvPr id="714" name="Google Shape;714;h2627160d5792b11b_0_640" title="Ontology Taxonomy Documentation Icons.png"/>
          <p:cNvPicPr preferRelativeResize="0"/>
          <p:nvPr/>
        </p:nvPicPr>
        <p:blipFill rotWithShape="1">
          <a:blip r:embed="rId3">
            <a:alphaModFix/>
          </a:blip>
          <a:srcRect b="7505" l="70326" r="314" t="10116"/>
          <a:stretch/>
        </p:blipFill>
        <p:spPr>
          <a:xfrm>
            <a:off x="10404324" y="1857240"/>
            <a:ext cx="998298" cy="934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9" name="Shape 719"/>
        <p:cNvGrpSpPr/>
        <p:nvPr/>
      </p:nvGrpSpPr>
      <p:grpSpPr>
        <a:xfrm>
          <a:off x="0" y="0"/>
          <a:ext cx="0" cy="0"/>
          <a:chOff x="0" y="0"/>
          <a:chExt cx="0" cy="0"/>
        </a:xfrm>
      </p:grpSpPr>
      <p:sp>
        <p:nvSpPr>
          <p:cNvPr id="720" name="Google Shape;720;h3b1f15762288d989_1_155"/>
          <p:cNvSpPr txBox="1"/>
          <p:nvPr/>
        </p:nvSpPr>
        <p:spPr>
          <a:xfrm>
            <a:off x="804672" y="448056"/>
            <a:ext cx="107169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4 / GENERATE</a:t>
            </a:r>
            <a:endParaRPr b="0" i="0" sz="1400" u="none" cap="none" strike="noStrike">
              <a:solidFill>
                <a:srgbClr val="000000"/>
              </a:solidFill>
              <a:latin typeface="Arial"/>
              <a:ea typeface="Arial"/>
              <a:cs typeface="Arial"/>
              <a:sym typeface="Arial"/>
            </a:endParaRPr>
          </a:p>
        </p:txBody>
      </p:sp>
      <p:sp>
        <p:nvSpPr>
          <p:cNvPr id="721" name="Google Shape;721;h3b1f15762288d989_1_155"/>
          <p:cNvSpPr txBox="1"/>
          <p:nvPr/>
        </p:nvSpPr>
        <p:spPr>
          <a:xfrm>
            <a:off x="804672" y="859536"/>
            <a:ext cx="10716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The LLM enriches a schema-grounded draft.</a:t>
            </a:r>
            <a:endParaRPr b="0" i="0" sz="1400" u="none" cap="none" strike="noStrike">
              <a:solidFill>
                <a:srgbClr val="000000"/>
              </a:solidFill>
              <a:latin typeface="Arial"/>
              <a:ea typeface="Arial"/>
              <a:cs typeface="Arial"/>
              <a:sym typeface="Arial"/>
            </a:endParaRPr>
          </a:p>
        </p:txBody>
      </p:sp>
      <p:sp>
        <p:nvSpPr>
          <p:cNvPr id="722" name="Google Shape;722;h3b1f15762288d989_1_155"/>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3" name="Google Shape;723;h3b1f15762288d989_1_155"/>
          <p:cNvSpPr txBox="1"/>
          <p:nvPr/>
        </p:nvSpPr>
        <p:spPr>
          <a:xfrm>
            <a:off x="85953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724" name="Google Shape;724;h3b1f15762288d989_1_155"/>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5" name="Google Shape;725;h3b1f15762288d989_1_155"/>
          <p:cNvSpPr txBox="1"/>
          <p:nvPr/>
        </p:nvSpPr>
        <p:spPr>
          <a:xfrm>
            <a:off x="2697479"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726" name="Google Shape;726;h3b1f15762288d989_1_155"/>
          <p:cNvSpPr/>
          <p:nvPr/>
        </p:nvSpPr>
        <p:spPr>
          <a:xfrm>
            <a:off x="4480559" y="5797296"/>
            <a:ext cx="1645800" cy="310800"/>
          </a:xfrm>
          <a:prstGeom prst="roundRect">
            <a:avLst>
              <a:gd fmla="val 10000" name="adj"/>
            </a:avLst>
          </a:prstGeom>
          <a:solidFill>
            <a:srgbClr val="E6F2EC"/>
          </a:solidFill>
          <a:ln cap="flat" cmpd="sng" w="12700">
            <a:solidFill>
              <a:srgbClr val="E6F2E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7" name="Google Shape;727;h3b1f15762288d989_1_155"/>
          <p:cNvSpPr txBox="1"/>
          <p:nvPr/>
        </p:nvSpPr>
        <p:spPr>
          <a:xfrm>
            <a:off x="4535423"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728" name="Google Shape;728;h3b1f15762288d989_1_155"/>
          <p:cNvSpPr/>
          <p:nvPr/>
        </p:nvSpPr>
        <p:spPr>
          <a:xfrm>
            <a:off x="6318503" y="5797296"/>
            <a:ext cx="1645800" cy="310800"/>
          </a:xfrm>
          <a:prstGeom prst="roundRect">
            <a:avLst>
              <a:gd fmla="val 10000" name="adj"/>
            </a:avLst>
          </a:prstGeom>
          <a:solidFill>
            <a:srgbClr val="0B6E4F"/>
          </a:solidFill>
          <a:ln cap="flat" cmpd="sng" w="12700">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9" name="Google Shape;729;h3b1f15762288d989_1_155"/>
          <p:cNvSpPr txBox="1"/>
          <p:nvPr/>
        </p:nvSpPr>
        <p:spPr>
          <a:xfrm>
            <a:off x="6373367"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730" name="Google Shape;730;h3b1f15762288d989_1_155"/>
          <p:cNvSpPr/>
          <p:nvPr/>
        </p:nvSpPr>
        <p:spPr>
          <a:xfrm>
            <a:off x="8156448" y="5797296"/>
            <a:ext cx="1645800" cy="3108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1" name="Google Shape;731;h3b1f15762288d989_1_155"/>
          <p:cNvSpPr txBox="1"/>
          <p:nvPr/>
        </p:nvSpPr>
        <p:spPr>
          <a:xfrm>
            <a:off x="8211312"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732" name="Google Shape;732;h3b1f15762288d989_1_155"/>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3" name="Google Shape;733;h3b1f15762288d989_1_155"/>
          <p:cNvSpPr txBox="1"/>
          <p:nvPr/>
        </p:nvSpPr>
        <p:spPr>
          <a:xfrm>
            <a:off x="1004925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sp>
        <p:nvSpPr>
          <p:cNvPr id="734" name="Google Shape;734;h3b1f15762288d989_1_155"/>
          <p:cNvSpPr/>
          <p:nvPr/>
        </p:nvSpPr>
        <p:spPr>
          <a:xfrm>
            <a:off x="505750" y="1847088"/>
            <a:ext cx="3241800" cy="3749100"/>
          </a:xfrm>
          <a:prstGeom prst="roundRect">
            <a:avLst>
              <a:gd fmla="val 9800" name="adj"/>
            </a:avLst>
          </a:prstGeom>
          <a:solidFill>
            <a:srgbClr val="FFFFFF"/>
          </a:solidFill>
          <a:ln cap="flat" cmpd="sng" w="13950">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h3b1f15762288d989_1_155"/>
          <p:cNvSpPr txBox="1"/>
          <p:nvPr/>
        </p:nvSpPr>
        <p:spPr>
          <a:xfrm>
            <a:off x="716065" y="1965960"/>
            <a:ext cx="28761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3A434C"/>
                </a:solidFill>
                <a:latin typeface="Consolas"/>
                <a:ea typeface="Consolas"/>
                <a:cs typeface="Consolas"/>
                <a:sym typeface="Consolas"/>
              </a:rPr>
              <a:t>BEFORE  /  DIRECT MAPPING</a:t>
            </a:r>
            <a:endParaRPr b="0" i="0" sz="1400" u="none" cap="none" strike="noStrike">
              <a:solidFill>
                <a:srgbClr val="000000"/>
              </a:solidFill>
              <a:latin typeface="Arial"/>
              <a:ea typeface="Arial"/>
              <a:cs typeface="Arial"/>
              <a:sym typeface="Arial"/>
            </a:endParaRPr>
          </a:p>
        </p:txBody>
      </p:sp>
      <p:sp>
        <p:nvSpPr>
          <p:cNvPr id="736" name="Google Shape;736;h3b1f15762288d989_1_155"/>
          <p:cNvSpPr/>
          <p:nvPr/>
        </p:nvSpPr>
        <p:spPr>
          <a:xfrm>
            <a:off x="4736600" y="1847088"/>
            <a:ext cx="6785100" cy="3749100"/>
          </a:xfrm>
          <a:prstGeom prst="roundRect">
            <a:avLst>
              <a:gd fmla="val 7282" name="adj"/>
            </a:avLst>
          </a:prstGeom>
          <a:solidFill>
            <a:srgbClr val="F3F5F4"/>
          </a:solidFill>
          <a:ln cap="flat" cmpd="sng" w="13950">
            <a:solidFill>
              <a:srgbClr val="3A7D8C"/>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h3b1f15762288d989_1_155"/>
          <p:cNvSpPr/>
          <p:nvPr/>
        </p:nvSpPr>
        <p:spPr>
          <a:xfrm>
            <a:off x="652054" y="2249424"/>
            <a:ext cx="2949300" cy="3237000"/>
          </a:xfrm>
          <a:prstGeom prst="roundRect">
            <a:avLst>
              <a:gd fmla="val 4740"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8" name="Google Shape;738;h3b1f15762288d989_1_155"/>
          <p:cNvSpPr/>
          <p:nvPr/>
        </p:nvSpPr>
        <p:spPr>
          <a:xfrm>
            <a:off x="4948400" y="2249425"/>
            <a:ext cx="6326400" cy="3237000"/>
          </a:xfrm>
          <a:prstGeom prst="roundRect">
            <a:avLst>
              <a:gd fmla="val 5554"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9" name="Google Shape;739;h3b1f15762288d989_1_155"/>
          <p:cNvSpPr txBox="1"/>
          <p:nvPr/>
        </p:nvSpPr>
        <p:spPr>
          <a:xfrm>
            <a:off x="652054" y="2322576"/>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Class:</a:t>
            </a:r>
            <a:r>
              <a:rPr b="0" i="0" lang="en-US" sz="1100" u="none" cap="none" strike="noStrike">
                <a:solidFill>
                  <a:srgbClr val="1F2328"/>
                </a:solidFill>
                <a:latin typeface="Consolas"/>
                <a:ea typeface="Consolas"/>
                <a:cs typeface="Consolas"/>
                <a:sym typeface="Consolas"/>
              </a:rPr>
              <a:t> Admission</a:t>
            </a:r>
            <a:endParaRPr b="0" i="0" sz="1100" u="none" cap="none" strike="noStrike">
              <a:solidFill>
                <a:srgbClr val="000000"/>
              </a:solidFill>
              <a:latin typeface="Arial"/>
              <a:ea typeface="Arial"/>
              <a:cs typeface="Arial"/>
              <a:sym typeface="Arial"/>
            </a:endParaRPr>
          </a:p>
        </p:txBody>
      </p:sp>
      <p:sp>
        <p:nvSpPr>
          <p:cNvPr id="740" name="Google Shape;740;h3b1f15762288d989_1_155"/>
          <p:cNvSpPr txBox="1"/>
          <p:nvPr/>
        </p:nvSpPr>
        <p:spPr>
          <a:xfrm>
            <a:off x="5038352" y="2322576"/>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Class:</a:t>
            </a:r>
            <a:r>
              <a:rPr b="0" i="0" lang="en-US" sz="1100" u="none" cap="none" strike="noStrike">
                <a:solidFill>
                  <a:srgbClr val="1F2328"/>
                </a:solidFill>
                <a:latin typeface="Consolas"/>
                <a:ea typeface="Consolas"/>
                <a:cs typeface="Consolas"/>
                <a:sym typeface="Consolas"/>
              </a:rPr>
              <a:t> Admission</a:t>
            </a:r>
            <a:endParaRPr b="0" i="0" sz="1100" u="none" cap="none" strike="noStrike">
              <a:solidFill>
                <a:srgbClr val="000000"/>
              </a:solidFill>
              <a:latin typeface="Arial"/>
              <a:ea typeface="Arial"/>
              <a:cs typeface="Arial"/>
              <a:sym typeface="Arial"/>
            </a:endParaRPr>
          </a:p>
        </p:txBody>
      </p:sp>
      <p:sp>
        <p:nvSpPr>
          <p:cNvPr id="741" name="Google Shape;741;h3b1f15762288d989_1_155"/>
          <p:cNvSpPr txBox="1"/>
          <p:nvPr/>
        </p:nvSpPr>
        <p:spPr>
          <a:xfrm>
            <a:off x="652054" y="2485242"/>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1" i="0" lang="en-US" sz="1100" u="none" cap="none" strike="noStrike">
                <a:solidFill>
                  <a:srgbClr val="0B6E4F"/>
                </a:solidFill>
                <a:latin typeface="Consolas"/>
                <a:ea typeface="Consolas"/>
                <a:cs typeface="Consolas"/>
                <a:sym typeface="Consolas"/>
              </a:rPr>
              <a:t>SubClassOf:</a:t>
            </a:r>
            <a:endParaRPr b="0" i="0" sz="1100" u="none" cap="none" strike="noStrike">
              <a:solidFill>
                <a:srgbClr val="000000"/>
              </a:solidFill>
              <a:latin typeface="Arial"/>
              <a:ea typeface="Arial"/>
              <a:cs typeface="Arial"/>
              <a:sym typeface="Arial"/>
            </a:endParaRPr>
          </a:p>
        </p:txBody>
      </p:sp>
      <p:sp>
        <p:nvSpPr>
          <p:cNvPr id="742" name="Google Shape;742;h3b1f15762288d989_1_155"/>
          <p:cNvSpPr txBox="1"/>
          <p:nvPr/>
        </p:nvSpPr>
        <p:spPr>
          <a:xfrm>
            <a:off x="5038352" y="2485242"/>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1" i="0" lang="en-US" sz="1100" u="none" cap="none" strike="noStrike">
                <a:solidFill>
                  <a:srgbClr val="0B6E4F"/>
                </a:solidFill>
                <a:latin typeface="Consolas"/>
                <a:ea typeface="Consolas"/>
                <a:cs typeface="Consolas"/>
                <a:sym typeface="Consolas"/>
              </a:rPr>
              <a:t>SubClassOf:</a:t>
            </a:r>
            <a:endParaRPr b="0" i="0" sz="1100" u="none" cap="none" strike="noStrike">
              <a:solidFill>
                <a:srgbClr val="000000"/>
              </a:solidFill>
              <a:latin typeface="Arial"/>
              <a:ea typeface="Arial"/>
              <a:cs typeface="Arial"/>
              <a:sym typeface="Arial"/>
            </a:endParaRPr>
          </a:p>
        </p:txBody>
      </p:sp>
      <p:sp>
        <p:nvSpPr>
          <p:cNvPr id="743" name="Google Shape;743;h3b1f15762288d989_1_155"/>
          <p:cNvSpPr txBox="1"/>
          <p:nvPr/>
        </p:nvSpPr>
        <p:spPr>
          <a:xfrm>
            <a:off x="652054" y="2647909"/>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admission_id </a:t>
            </a:r>
            <a:r>
              <a:rPr b="1" i="0" lang="en-US" sz="1100" u="none" cap="none" strike="noStrike">
                <a:solidFill>
                  <a:srgbClr val="0B6E4F"/>
                </a:solidFill>
                <a:latin typeface="Consolas"/>
                <a:ea typeface="Consolas"/>
                <a:cs typeface="Consolas"/>
                <a:sym typeface="Consolas"/>
              </a:rPr>
              <a:t>some</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6F42C1"/>
                </a:solidFill>
                <a:latin typeface="Consolas"/>
                <a:ea typeface="Consolas"/>
                <a:cs typeface="Consolas"/>
                <a:sym typeface="Consolas"/>
              </a:rPr>
              <a:t>xsd:integer</a:t>
            </a:r>
            <a:r>
              <a:rPr b="0" i="0" lang="en-US" sz="1100" u="none" cap="none" strike="noStrike">
                <a:solidFill>
                  <a:srgbClr val="1F2328"/>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
        <p:nvSpPr>
          <p:cNvPr id="744" name="Google Shape;744;h3b1f15762288d989_1_155"/>
          <p:cNvSpPr txBox="1"/>
          <p:nvPr/>
        </p:nvSpPr>
        <p:spPr>
          <a:xfrm>
            <a:off x="5038352" y="2647909"/>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admission_id </a:t>
            </a:r>
            <a:r>
              <a:rPr b="1" i="0" lang="en-US" sz="1100" u="none" cap="none" strike="noStrike">
                <a:solidFill>
                  <a:srgbClr val="0B6E4F"/>
                </a:solidFill>
                <a:latin typeface="Consolas"/>
                <a:ea typeface="Consolas"/>
                <a:cs typeface="Consolas"/>
                <a:sym typeface="Consolas"/>
              </a:rPr>
              <a:t>some</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6F42C1"/>
                </a:solidFill>
                <a:latin typeface="Consolas"/>
                <a:ea typeface="Consolas"/>
                <a:cs typeface="Consolas"/>
                <a:sym typeface="Consolas"/>
              </a:rPr>
              <a:t>xsd:integer</a:t>
            </a:r>
            <a:r>
              <a:rPr b="0" i="0" lang="en-US" sz="1100" u="none" cap="none" strike="noStrike">
                <a:solidFill>
                  <a:srgbClr val="1F2328"/>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
        <p:nvSpPr>
          <p:cNvPr id="745" name="Google Shape;745;h3b1f15762288d989_1_155"/>
          <p:cNvSpPr txBox="1"/>
          <p:nvPr/>
        </p:nvSpPr>
        <p:spPr>
          <a:xfrm>
            <a:off x="652054" y="2810576"/>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patient_id </a:t>
            </a:r>
            <a:r>
              <a:rPr b="1" i="0" lang="en-US" sz="1100" u="none" cap="none" strike="noStrike">
                <a:solidFill>
                  <a:srgbClr val="0B6E4F"/>
                </a:solidFill>
                <a:latin typeface="Consolas"/>
                <a:ea typeface="Consolas"/>
                <a:cs typeface="Consolas"/>
                <a:sym typeface="Consolas"/>
              </a:rPr>
              <a:t>some</a:t>
            </a:r>
            <a:r>
              <a:rPr b="0" i="0" lang="en-US" sz="1100" u="none" cap="none" strike="noStrike">
                <a:solidFill>
                  <a:srgbClr val="1F2328"/>
                </a:solidFill>
                <a:latin typeface="Consolas"/>
                <a:ea typeface="Consolas"/>
                <a:cs typeface="Consolas"/>
                <a:sym typeface="Consolas"/>
              </a:rPr>
              <a:t> PatientData,</a:t>
            </a:r>
            <a:endParaRPr b="0" i="0" sz="1100" u="none" cap="none" strike="noStrike">
              <a:solidFill>
                <a:srgbClr val="000000"/>
              </a:solidFill>
              <a:latin typeface="Arial"/>
              <a:ea typeface="Arial"/>
              <a:cs typeface="Arial"/>
              <a:sym typeface="Arial"/>
            </a:endParaRPr>
          </a:p>
        </p:txBody>
      </p:sp>
      <p:sp>
        <p:nvSpPr>
          <p:cNvPr id="746" name="Google Shape;746;h3b1f15762288d989_1_155"/>
          <p:cNvSpPr txBox="1"/>
          <p:nvPr/>
        </p:nvSpPr>
        <p:spPr>
          <a:xfrm>
            <a:off x="5038100" y="2805813"/>
            <a:ext cx="5093400" cy="1728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lang="en-US" sz="1100">
                <a:solidFill>
                  <a:srgbClr val="1F2328"/>
                </a:solidFill>
                <a:latin typeface="Consolas"/>
                <a:ea typeface="Consolas"/>
                <a:cs typeface="Consolas"/>
                <a:sym typeface="Consolas"/>
              </a:rPr>
              <a:t>patient_id</a:t>
            </a:r>
            <a:r>
              <a:rPr b="0" i="0" lang="en-US" sz="1100" u="none" cap="none" strike="noStrike">
                <a:solidFill>
                  <a:srgbClr val="1F2328"/>
                </a:solidFill>
                <a:latin typeface="Consolas"/>
                <a:ea typeface="Consolas"/>
                <a:cs typeface="Consolas"/>
                <a:sym typeface="Consolas"/>
              </a:rPr>
              <a:t> </a:t>
            </a:r>
            <a:r>
              <a:rPr b="1" i="0" lang="en-US" sz="1100" u="none" cap="none" strike="noStrike">
                <a:solidFill>
                  <a:srgbClr val="0B6E4F"/>
                </a:solidFill>
                <a:latin typeface="Consolas"/>
                <a:ea typeface="Consolas"/>
                <a:cs typeface="Consolas"/>
                <a:sym typeface="Consolas"/>
              </a:rPr>
              <a:t>some</a:t>
            </a:r>
            <a:r>
              <a:rPr b="0" i="0" lang="en-US" sz="1100" u="none" cap="none" strike="noStrike">
                <a:solidFill>
                  <a:srgbClr val="1F2328"/>
                </a:solidFill>
                <a:latin typeface="Consolas"/>
                <a:ea typeface="Consolas"/>
                <a:cs typeface="Consolas"/>
                <a:sym typeface="Consolas"/>
              </a:rPr>
              <a:t> PatientData,</a:t>
            </a:r>
            <a:endParaRPr b="0" i="0" sz="1100" u="none" cap="none" strike="noStrike">
              <a:solidFill>
                <a:srgbClr val="000000"/>
              </a:solidFill>
              <a:latin typeface="Arial"/>
              <a:ea typeface="Arial"/>
              <a:cs typeface="Arial"/>
              <a:sym typeface="Arial"/>
            </a:endParaRPr>
          </a:p>
        </p:txBody>
      </p:sp>
      <p:sp>
        <p:nvSpPr>
          <p:cNvPr id="747" name="Google Shape;747;h3b1f15762288d989_1_155"/>
          <p:cNvSpPr txBox="1"/>
          <p:nvPr/>
        </p:nvSpPr>
        <p:spPr>
          <a:xfrm>
            <a:off x="652054" y="2973243"/>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BM_DEP </a:t>
            </a:r>
            <a:r>
              <a:rPr b="1" i="0" lang="en-US" sz="1100" u="none" cap="none" strike="noStrike">
                <a:solidFill>
                  <a:srgbClr val="0B6E4F"/>
                </a:solidFill>
                <a:latin typeface="Consolas"/>
                <a:ea typeface="Consolas"/>
                <a:cs typeface="Consolas"/>
                <a:sym typeface="Consolas"/>
              </a:rPr>
              <a:t>only</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6F42C1"/>
                </a:solidFill>
                <a:latin typeface="Consolas"/>
                <a:ea typeface="Consolas"/>
                <a:cs typeface="Consolas"/>
                <a:sym typeface="Consolas"/>
              </a:rPr>
              <a:t>xsd:integer</a:t>
            </a:r>
            <a:r>
              <a:rPr b="0" i="0" lang="en-US" sz="1100" u="none" cap="none" strike="noStrike">
                <a:solidFill>
                  <a:srgbClr val="1F2328"/>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
        <p:nvSpPr>
          <p:cNvPr id="748" name="Google Shape;748;h3b1f15762288d989_1_155"/>
          <p:cNvSpPr txBox="1"/>
          <p:nvPr/>
        </p:nvSpPr>
        <p:spPr>
          <a:xfrm>
            <a:off x="5038352" y="2973243"/>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BM_DEP </a:t>
            </a:r>
            <a:r>
              <a:rPr b="1" i="0" lang="en-US" sz="1100" u="none" cap="none" strike="noStrike">
                <a:solidFill>
                  <a:srgbClr val="0B6E4F"/>
                </a:solidFill>
                <a:latin typeface="Consolas"/>
                <a:ea typeface="Consolas"/>
                <a:cs typeface="Consolas"/>
                <a:sym typeface="Consolas"/>
              </a:rPr>
              <a:t>only</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6F42C1"/>
                </a:solidFill>
                <a:latin typeface="Consolas"/>
                <a:ea typeface="Consolas"/>
                <a:cs typeface="Consolas"/>
                <a:sym typeface="Consolas"/>
              </a:rPr>
              <a:t>xsd:integer</a:t>
            </a:r>
            <a:r>
              <a:rPr b="0" i="0" lang="en-US" sz="1100" u="none" cap="none" strike="noStrike">
                <a:solidFill>
                  <a:srgbClr val="1F2328"/>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
        <p:nvSpPr>
          <p:cNvPr id="749" name="Google Shape;749;h3b1f15762288d989_1_155"/>
          <p:cNvSpPr txBox="1"/>
          <p:nvPr/>
        </p:nvSpPr>
        <p:spPr>
          <a:xfrm>
            <a:off x="652054" y="3135910"/>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ecog_stage </a:t>
            </a:r>
            <a:r>
              <a:rPr b="1" i="0" lang="en-US" sz="1100" u="none" cap="none" strike="noStrike">
                <a:solidFill>
                  <a:srgbClr val="0B6E4F"/>
                </a:solidFill>
                <a:latin typeface="Consolas"/>
                <a:ea typeface="Consolas"/>
                <a:cs typeface="Consolas"/>
                <a:sym typeface="Consolas"/>
              </a:rPr>
              <a:t>only</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6F42C1"/>
                </a:solidFill>
                <a:latin typeface="Consolas"/>
                <a:ea typeface="Consolas"/>
                <a:cs typeface="Consolas"/>
                <a:sym typeface="Consolas"/>
              </a:rPr>
              <a:t>xsd:integer</a:t>
            </a:r>
            <a:endParaRPr b="0" i="0" sz="1100" u="none" cap="none" strike="noStrike">
              <a:solidFill>
                <a:srgbClr val="000000"/>
              </a:solidFill>
              <a:latin typeface="Arial"/>
              <a:ea typeface="Arial"/>
              <a:cs typeface="Arial"/>
              <a:sym typeface="Arial"/>
            </a:endParaRPr>
          </a:p>
        </p:txBody>
      </p:sp>
      <p:sp>
        <p:nvSpPr>
          <p:cNvPr id="750" name="Google Shape;750;h3b1f15762288d989_1_155"/>
          <p:cNvSpPr txBox="1"/>
          <p:nvPr/>
        </p:nvSpPr>
        <p:spPr>
          <a:xfrm>
            <a:off x="5038352" y="3135910"/>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ecog_stage </a:t>
            </a:r>
            <a:r>
              <a:rPr b="1" i="0" lang="en-US" sz="1100" u="none" cap="none" strike="noStrike">
                <a:solidFill>
                  <a:srgbClr val="0B6E4F"/>
                </a:solidFill>
                <a:latin typeface="Consolas"/>
                <a:ea typeface="Consolas"/>
                <a:cs typeface="Consolas"/>
                <a:sym typeface="Consolas"/>
              </a:rPr>
              <a:t>only</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6F42C1"/>
                </a:solidFill>
                <a:latin typeface="Consolas"/>
                <a:ea typeface="Consolas"/>
                <a:cs typeface="Consolas"/>
                <a:sym typeface="Consolas"/>
              </a:rPr>
              <a:t>xsd:integer</a:t>
            </a:r>
            <a:endParaRPr b="0" i="0" sz="1100" u="none" cap="none" strike="noStrike">
              <a:solidFill>
                <a:srgbClr val="000000"/>
              </a:solidFill>
              <a:latin typeface="Arial"/>
              <a:ea typeface="Arial"/>
              <a:cs typeface="Arial"/>
              <a:sym typeface="Arial"/>
            </a:endParaRPr>
          </a:p>
        </p:txBody>
      </p:sp>
      <p:sp>
        <p:nvSpPr>
          <p:cNvPr id="751" name="Google Shape;751;h3b1f15762288d989_1_155"/>
          <p:cNvSpPr txBox="1"/>
          <p:nvPr/>
        </p:nvSpPr>
        <p:spPr>
          <a:xfrm>
            <a:off x="652054" y="3461244"/>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DataProperty:</a:t>
            </a:r>
            <a:r>
              <a:rPr b="0" i="0" lang="en-US" sz="1100" u="none" cap="none" strike="noStrike">
                <a:solidFill>
                  <a:srgbClr val="1F2328"/>
                </a:solidFill>
                <a:latin typeface="Consolas"/>
                <a:ea typeface="Consolas"/>
                <a:cs typeface="Consolas"/>
                <a:sym typeface="Consolas"/>
              </a:rPr>
              <a:t> admission_id</a:t>
            </a:r>
            <a:endParaRPr b="0" i="0" sz="1100" u="none" cap="none" strike="noStrike">
              <a:solidFill>
                <a:srgbClr val="000000"/>
              </a:solidFill>
              <a:latin typeface="Arial"/>
              <a:ea typeface="Arial"/>
              <a:cs typeface="Arial"/>
              <a:sym typeface="Arial"/>
            </a:endParaRPr>
          </a:p>
        </p:txBody>
      </p:sp>
      <p:sp>
        <p:nvSpPr>
          <p:cNvPr id="752" name="Google Shape;752;h3b1f15762288d989_1_155"/>
          <p:cNvSpPr txBox="1"/>
          <p:nvPr/>
        </p:nvSpPr>
        <p:spPr>
          <a:xfrm>
            <a:off x="5038352" y="3461244"/>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DataProperty:</a:t>
            </a:r>
            <a:r>
              <a:rPr b="0" i="0" lang="en-US" sz="1100" u="none" cap="none" strike="noStrike">
                <a:solidFill>
                  <a:srgbClr val="1F2328"/>
                </a:solidFill>
                <a:latin typeface="Consolas"/>
                <a:ea typeface="Consolas"/>
                <a:cs typeface="Consolas"/>
                <a:sym typeface="Consolas"/>
              </a:rPr>
              <a:t> admission_id</a:t>
            </a:r>
            <a:endParaRPr b="0" i="0" sz="1100" u="none" cap="none" strike="noStrike">
              <a:solidFill>
                <a:srgbClr val="000000"/>
              </a:solidFill>
              <a:latin typeface="Arial"/>
              <a:ea typeface="Arial"/>
              <a:cs typeface="Arial"/>
              <a:sym typeface="Arial"/>
            </a:endParaRPr>
          </a:p>
        </p:txBody>
      </p:sp>
      <p:sp>
        <p:nvSpPr>
          <p:cNvPr id="753" name="Google Shape;753;h3b1f15762288d989_1_155"/>
          <p:cNvSpPr txBox="1"/>
          <p:nvPr/>
        </p:nvSpPr>
        <p:spPr>
          <a:xfrm>
            <a:off x="652054" y="3623911"/>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ObjectProperty:</a:t>
            </a:r>
            <a:r>
              <a:rPr b="0" i="0" lang="en-US" sz="1100" u="none" cap="none" strike="noStrike">
                <a:solidFill>
                  <a:srgbClr val="1F2328"/>
                </a:solidFill>
                <a:latin typeface="Consolas"/>
                <a:ea typeface="Consolas"/>
                <a:cs typeface="Consolas"/>
                <a:sym typeface="Consolas"/>
              </a:rPr>
              <a:t> patient_id</a:t>
            </a:r>
            <a:endParaRPr b="0" i="0" sz="1100" u="none" cap="none" strike="noStrike">
              <a:solidFill>
                <a:srgbClr val="000000"/>
              </a:solidFill>
              <a:latin typeface="Arial"/>
              <a:ea typeface="Arial"/>
              <a:cs typeface="Arial"/>
              <a:sym typeface="Arial"/>
            </a:endParaRPr>
          </a:p>
        </p:txBody>
      </p:sp>
      <p:sp>
        <p:nvSpPr>
          <p:cNvPr id="754" name="Google Shape;754;h3b1f15762288d989_1_155"/>
          <p:cNvSpPr txBox="1"/>
          <p:nvPr/>
        </p:nvSpPr>
        <p:spPr>
          <a:xfrm>
            <a:off x="5038349" y="3623900"/>
            <a:ext cx="3859800" cy="1728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ObjectProperty:</a:t>
            </a:r>
            <a:r>
              <a:rPr b="0" i="0" lang="en-US" sz="1100" u="none" cap="none" strike="noStrike">
                <a:solidFill>
                  <a:srgbClr val="1F2328"/>
                </a:solidFill>
                <a:latin typeface="Consolas"/>
                <a:ea typeface="Consolas"/>
                <a:cs typeface="Consolas"/>
                <a:sym typeface="Consolas"/>
              </a:rPr>
              <a:t> </a:t>
            </a:r>
            <a:r>
              <a:rPr lang="en-US" sz="1100">
                <a:solidFill>
                  <a:srgbClr val="1F2328"/>
                </a:solidFill>
                <a:latin typeface="Consolas"/>
                <a:ea typeface="Consolas"/>
                <a:cs typeface="Consolas"/>
                <a:sym typeface="Consolas"/>
              </a:rPr>
              <a:t>patient_id</a:t>
            </a:r>
            <a:endParaRPr b="0" i="0" sz="1100" u="none" cap="none" strike="noStrike">
              <a:solidFill>
                <a:srgbClr val="000000"/>
              </a:solidFill>
              <a:latin typeface="Arial"/>
              <a:ea typeface="Arial"/>
              <a:cs typeface="Arial"/>
              <a:sym typeface="Arial"/>
            </a:endParaRPr>
          </a:p>
        </p:txBody>
      </p:sp>
      <p:sp>
        <p:nvSpPr>
          <p:cNvPr id="755" name="Google Shape;755;h3b1f15762288d989_1_155"/>
          <p:cNvSpPr txBox="1"/>
          <p:nvPr/>
        </p:nvSpPr>
        <p:spPr>
          <a:xfrm>
            <a:off x="652054" y="3786578"/>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DataProperty:</a:t>
            </a:r>
            <a:r>
              <a:rPr b="0" i="0" lang="en-US" sz="1100" u="none" cap="none" strike="noStrike">
                <a:solidFill>
                  <a:srgbClr val="1F2328"/>
                </a:solidFill>
                <a:latin typeface="Consolas"/>
                <a:ea typeface="Consolas"/>
                <a:cs typeface="Consolas"/>
                <a:sym typeface="Consolas"/>
              </a:rPr>
              <a:t> BM_DEP</a:t>
            </a:r>
            <a:endParaRPr b="0" i="0" sz="1100" u="none" cap="none" strike="noStrike">
              <a:solidFill>
                <a:srgbClr val="000000"/>
              </a:solidFill>
              <a:latin typeface="Arial"/>
              <a:ea typeface="Arial"/>
              <a:cs typeface="Arial"/>
              <a:sym typeface="Arial"/>
            </a:endParaRPr>
          </a:p>
        </p:txBody>
      </p:sp>
      <p:sp>
        <p:nvSpPr>
          <p:cNvPr id="756" name="Google Shape;756;h3b1f15762288d989_1_155"/>
          <p:cNvSpPr txBox="1"/>
          <p:nvPr/>
        </p:nvSpPr>
        <p:spPr>
          <a:xfrm>
            <a:off x="5038352" y="3786578"/>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DataProperty:</a:t>
            </a:r>
            <a:r>
              <a:rPr b="0" i="0" lang="en-US" sz="1100" u="none" cap="none" strike="noStrike">
                <a:solidFill>
                  <a:srgbClr val="1F2328"/>
                </a:solidFill>
                <a:latin typeface="Consolas"/>
                <a:ea typeface="Consolas"/>
                <a:cs typeface="Consolas"/>
                <a:sym typeface="Consolas"/>
              </a:rPr>
              <a:t> BM_DEP</a:t>
            </a:r>
            <a:endParaRPr b="0" i="0" sz="1100" u="none" cap="none" strike="noStrike">
              <a:solidFill>
                <a:srgbClr val="000000"/>
              </a:solidFill>
              <a:latin typeface="Arial"/>
              <a:ea typeface="Arial"/>
              <a:cs typeface="Arial"/>
              <a:sym typeface="Arial"/>
            </a:endParaRPr>
          </a:p>
        </p:txBody>
      </p:sp>
      <p:sp>
        <p:nvSpPr>
          <p:cNvPr id="757" name="Google Shape;757;h3b1f15762288d989_1_155"/>
          <p:cNvSpPr txBox="1"/>
          <p:nvPr/>
        </p:nvSpPr>
        <p:spPr>
          <a:xfrm>
            <a:off x="652054" y="4599913"/>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DataProperty:</a:t>
            </a:r>
            <a:r>
              <a:rPr b="0" i="0" lang="en-US" sz="1100" u="none" cap="none" strike="noStrike">
                <a:solidFill>
                  <a:srgbClr val="1F2328"/>
                </a:solidFill>
                <a:latin typeface="Consolas"/>
                <a:ea typeface="Consolas"/>
                <a:cs typeface="Consolas"/>
                <a:sym typeface="Consolas"/>
              </a:rPr>
              <a:t> ecog_stage</a:t>
            </a:r>
            <a:endParaRPr b="0" i="0" sz="1100" u="none" cap="none" strike="noStrike">
              <a:solidFill>
                <a:srgbClr val="000000"/>
              </a:solidFill>
              <a:latin typeface="Arial"/>
              <a:ea typeface="Arial"/>
              <a:cs typeface="Arial"/>
              <a:sym typeface="Arial"/>
            </a:endParaRPr>
          </a:p>
        </p:txBody>
      </p:sp>
      <p:sp>
        <p:nvSpPr>
          <p:cNvPr id="758" name="Google Shape;758;h3b1f15762288d989_1_155"/>
          <p:cNvSpPr txBox="1"/>
          <p:nvPr/>
        </p:nvSpPr>
        <p:spPr>
          <a:xfrm>
            <a:off x="5038352" y="4599913"/>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DataProperty:</a:t>
            </a:r>
            <a:r>
              <a:rPr b="0" i="0" lang="en-US" sz="1100" u="none" cap="none" strike="noStrike">
                <a:solidFill>
                  <a:srgbClr val="1F2328"/>
                </a:solidFill>
                <a:latin typeface="Consolas"/>
                <a:ea typeface="Consolas"/>
                <a:cs typeface="Consolas"/>
                <a:sym typeface="Consolas"/>
              </a:rPr>
              <a:t> ecog_stage</a:t>
            </a:r>
            <a:endParaRPr b="0" i="0" sz="1100" u="none" cap="none" strike="noStrike">
              <a:solidFill>
                <a:srgbClr val="000000"/>
              </a:solidFill>
              <a:latin typeface="Arial"/>
              <a:ea typeface="Arial"/>
              <a:cs typeface="Arial"/>
              <a:sym typeface="Arial"/>
            </a:endParaRPr>
          </a:p>
        </p:txBody>
      </p:sp>
      <p:sp>
        <p:nvSpPr>
          <p:cNvPr id="759" name="Google Shape;759;h3b1f15762288d989_1_155"/>
          <p:cNvSpPr txBox="1"/>
          <p:nvPr/>
        </p:nvSpPr>
        <p:spPr>
          <a:xfrm>
            <a:off x="804672" y="1422410"/>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A434C"/>
                </a:solidFill>
                <a:latin typeface="Calibri"/>
                <a:ea typeface="Calibri"/>
                <a:cs typeface="Calibri"/>
                <a:sym typeface="Calibri"/>
              </a:rPr>
              <a:t>We prompt the </a:t>
            </a:r>
            <a:r>
              <a:rPr b="1" i="1" lang="en-US" sz="1600" u="none" cap="none" strike="noStrike">
                <a:solidFill>
                  <a:srgbClr val="3A434C"/>
                </a:solidFill>
                <a:latin typeface="Calibri"/>
                <a:ea typeface="Calibri"/>
                <a:cs typeface="Calibri"/>
                <a:sym typeface="Calibri"/>
              </a:rPr>
              <a:t>Gen-LLM</a:t>
            </a:r>
            <a:r>
              <a:rPr b="0" i="0" lang="en-US" sz="1600" u="none" cap="none" strike="noStrike">
                <a:solidFill>
                  <a:srgbClr val="3A434C"/>
                </a:solidFill>
                <a:latin typeface="Calibri"/>
                <a:ea typeface="Calibri"/>
                <a:cs typeface="Calibri"/>
                <a:sym typeface="Calibri"/>
              </a:rPr>
              <a:t> with the </a:t>
            </a:r>
            <a:r>
              <a:rPr b="1" i="0" lang="en-US" sz="1600" u="none" cap="none" strike="noStrike">
                <a:solidFill>
                  <a:srgbClr val="3A434C"/>
                </a:solidFill>
                <a:latin typeface="Calibri"/>
                <a:ea typeface="Calibri"/>
                <a:cs typeface="Calibri"/>
                <a:sym typeface="Calibri"/>
              </a:rPr>
              <a:t>direct mapping</a:t>
            </a:r>
            <a:r>
              <a:rPr b="0" i="0" lang="en-US" sz="1600" u="none" cap="none" strike="noStrike">
                <a:solidFill>
                  <a:srgbClr val="3A434C"/>
                </a:solidFill>
                <a:latin typeface="Calibri"/>
                <a:ea typeface="Calibri"/>
                <a:cs typeface="Calibri"/>
                <a:sym typeface="Calibri"/>
              </a:rPr>
              <a:t>, the </a:t>
            </a:r>
            <a:r>
              <a:rPr b="1" i="0" lang="en-US" sz="1600" u="none" cap="none" strike="noStrike">
                <a:solidFill>
                  <a:srgbClr val="3A434C"/>
                </a:solidFill>
                <a:latin typeface="Calibri"/>
                <a:ea typeface="Calibri"/>
                <a:cs typeface="Calibri"/>
                <a:sym typeface="Calibri"/>
              </a:rPr>
              <a:t>retrieved context</a:t>
            </a:r>
            <a:r>
              <a:rPr b="0" i="0" lang="en-US" sz="1600" u="none" cap="none" strike="noStrike">
                <a:solidFill>
                  <a:srgbClr val="3A434C"/>
                </a:solidFill>
                <a:latin typeface="Calibri"/>
                <a:ea typeface="Calibri"/>
                <a:cs typeface="Calibri"/>
                <a:sym typeface="Calibri"/>
              </a:rPr>
              <a:t>, and </a:t>
            </a:r>
            <a:r>
              <a:rPr b="1" i="0" lang="en-US" sz="1600" u="none" cap="none" strike="noStrike">
                <a:solidFill>
                  <a:srgbClr val="3A434C"/>
                </a:solidFill>
                <a:latin typeface="Calibri"/>
                <a:ea typeface="Calibri"/>
                <a:cs typeface="Calibri"/>
                <a:sym typeface="Calibri"/>
              </a:rPr>
              <a:t>semantic enrichment instructions</a:t>
            </a:r>
            <a:r>
              <a:rPr b="0" i="0" lang="en-US" sz="1600" u="none" cap="none" strike="noStrike">
                <a:solidFill>
                  <a:srgbClr val="3A434C"/>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4" name="Shape 764"/>
        <p:cNvGrpSpPr/>
        <p:nvPr/>
      </p:nvGrpSpPr>
      <p:grpSpPr>
        <a:xfrm>
          <a:off x="0" y="0"/>
          <a:ext cx="0" cy="0"/>
          <a:chOff x="0" y="0"/>
          <a:chExt cx="0" cy="0"/>
        </a:xfrm>
      </p:grpSpPr>
      <p:sp>
        <p:nvSpPr>
          <p:cNvPr id="765" name="Google Shape;765;h4e1cd23050cdd6e6_1_329"/>
          <p:cNvSpPr txBox="1"/>
          <p:nvPr/>
        </p:nvSpPr>
        <p:spPr>
          <a:xfrm>
            <a:off x="804672" y="448056"/>
            <a:ext cx="107169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4 / GENERATE</a:t>
            </a:r>
            <a:endParaRPr b="0" i="0" sz="1400" u="none" cap="none" strike="noStrike">
              <a:solidFill>
                <a:srgbClr val="000000"/>
              </a:solidFill>
              <a:latin typeface="Arial"/>
              <a:ea typeface="Arial"/>
              <a:cs typeface="Arial"/>
              <a:sym typeface="Arial"/>
            </a:endParaRPr>
          </a:p>
        </p:txBody>
      </p:sp>
      <p:sp>
        <p:nvSpPr>
          <p:cNvPr id="766" name="Google Shape;766;h4e1cd23050cdd6e6_1_329"/>
          <p:cNvSpPr txBox="1"/>
          <p:nvPr/>
        </p:nvSpPr>
        <p:spPr>
          <a:xfrm>
            <a:off x="804672" y="859536"/>
            <a:ext cx="10716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The LLM enriches a schema-grounded draft.</a:t>
            </a:r>
            <a:endParaRPr b="0" i="0" sz="1400" u="none" cap="none" strike="noStrike">
              <a:solidFill>
                <a:srgbClr val="000000"/>
              </a:solidFill>
              <a:latin typeface="Arial"/>
              <a:ea typeface="Arial"/>
              <a:cs typeface="Arial"/>
              <a:sym typeface="Arial"/>
            </a:endParaRPr>
          </a:p>
        </p:txBody>
      </p:sp>
      <p:sp>
        <p:nvSpPr>
          <p:cNvPr id="767" name="Google Shape;767;h4e1cd23050cdd6e6_1_329"/>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8" name="Google Shape;768;h4e1cd23050cdd6e6_1_329"/>
          <p:cNvSpPr txBox="1"/>
          <p:nvPr/>
        </p:nvSpPr>
        <p:spPr>
          <a:xfrm>
            <a:off x="85953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769" name="Google Shape;769;h4e1cd23050cdd6e6_1_329"/>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0" name="Google Shape;770;h4e1cd23050cdd6e6_1_329"/>
          <p:cNvSpPr txBox="1"/>
          <p:nvPr/>
        </p:nvSpPr>
        <p:spPr>
          <a:xfrm>
            <a:off x="2697479"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771" name="Google Shape;771;h4e1cd23050cdd6e6_1_329"/>
          <p:cNvSpPr/>
          <p:nvPr/>
        </p:nvSpPr>
        <p:spPr>
          <a:xfrm>
            <a:off x="4480559" y="5797296"/>
            <a:ext cx="1645800" cy="310800"/>
          </a:xfrm>
          <a:prstGeom prst="roundRect">
            <a:avLst>
              <a:gd fmla="val 10000" name="adj"/>
            </a:avLst>
          </a:prstGeom>
          <a:solidFill>
            <a:srgbClr val="E6F2EC"/>
          </a:solidFill>
          <a:ln cap="flat" cmpd="sng" w="12700">
            <a:solidFill>
              <a:srgbClr val="E6F2E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2" name="Google Shape;772;h4e1cd23050cdd6e6_1_329"/>
          <p:cNvSpPr txBox="1"/>
          <p:nvPr/>
        </p:nvSpPr>
        <p:spPr>
          <a:xfrm>
            <a:off x="4535423"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773" name="Google Shape;773;h4e1cd23050cdd6e6_1_329"/>
          <p:cNvSpPr/>
          <p:nvPr/>
        </p:nvSpPr>
        <p:spPr>
          <a:xfrm>
            <a:off x="6318503" y="5797296"/>
            <a:ext cx="1645800" cy="310800"/>
          </a:xfrm>
          <a:prstGeom prst="roundRect">
            <a:avLst>
              <a:gd fmla="val 10000" name="adj"/>
            </a:avLst>
          </a:prstGeom>
          <a:solidFill>
            <a:srgbClr val="0B6E4F"/>
          </a:solidFill>
          <a:ln cap="flat" cmpd="sng" w="12700">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4" name="Google Shape;774;h4e1cd23050cdd6e6_1_329"/>
          <p:cNvSpPr txBox="1"/>
          <p:nvPr/>
        </p:nvSpPr>
        <p:spPr>
          <a:xfrm>
            <a:off x="6373367"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775" name="Google Shape;775;h4e1cd23050cdd6e6_1_329"/>
          <p:cNvSpPr/>
          <p:nvPr/>
        </p:nvSpPr>
        <p:spPr>
          <a:xfrm>
            <a:off x="8156448" y="5797296"/>
            <a:ext cx="1645800" cy="3108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6" name="Google Shape;776;h4e1cd23050cdd6e6_1_329"/>
          <p:cNvSpPr txBox="1"/>
          <p:nvPr/>
        </p:nvSpPr>
        <p:spPr>
          <a:xfrm>
            <a:off x="8211312"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777" name="Google Shape;777;h4e1cd23050cdd6e6_1_329"/>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8" name="Google Shape;778;h4e1cd23050cdd6e6_1_329"/>
          <p:cNvSpPr txBox="1"/>
          <p:nvPr/>
        </p:nvSpPr>
        <p:spPr>
          <a:xfrm>
            <a:off x="1004925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sp>
        <p:nvSpPr>
          <p:cNvPr id="779" name="Google Shape;779;h4e1cd23050cdd6e6_1_329"/>
          <p:cNvSpPr/>
          <p:nvPr/>
        </p:nvSpPr>
        <p:spPr>
          <a:xfrm>
            <a:off x="505750" y="1847088"/>
            <a:ext cx="3241800" cy="3749100"/>
          </a:xfrm>
          <a:prstGeom prst="roundRect">
            <a:avLst>
              <a:gd fmla="val 9800" name="adj"/>
            </a:avLst>
          </a:prstGeom>
          <a:solidFill>
            <a:srgbClr val="FFFFFF"/>
          </a:solidFill>
          <a:ln cap="flat" cmpd="sng" w="13950">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h4e1cd23050cdd6e6_1_329"/>
          <p:cNvSpPr txBox="1"/>
          <p:nvPr/>
        </p:nvSpPr>
        <p:spPr>
          <a:xfrm>
            <a:off x="716065" y="1965960"/>
            <a:ext cx="28761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3A434C"/>
                </a:solidFill>
                <a:latin typeface="Consolas"/>
                <a:ea typeface="Consolas"/>
                <a:cs typeface="Consolas"/>
                <a:sym typeface="Consolas"/>
              </a:rPr>
              <a:t>BEFORE  /  DIRECT MAPPING</a:t>
            </a:r>
            <a:endParaRPr b="0" i="0" sz="1400" u="none" cap="none" strike="noStrike">
              <a:solidFill>
                <a:srgbClr val="000000"/>
              </a:solidFill>
              <a:latin typeface="Arial"/>
              <a:ea typeface="Arial"/>
              <a:cs typeface="Arial"/>
              <a:sym typeface="Arial"/>
            </a:endParaRPr>
          </a:p>
        </p:txBody>
      </p:sp>
      <p:sp>
        <p:nvSpPr>
          <p:cNvPr id="781" name="Google Shape;781;h4e1cd23050cdd6e6_1_329"/>
          <p:cNvSpPr txBox="1"/>
          <p:nvPr/>
        </p:nvSpPr>
        <p:spPr>
          <a:xfrm>
            <a:off x="3858768" y="3831336"/>
            <a:ext cx="832200" cy="184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B6E4F"/>
                </a:solidFill>
                <a:latin typeface="Consolas"/>
                <a:ea typeface="Consolas"/>
                <a:cs typeface="Consolas"/>
                <a:sym typeface="Consolas"/>
              </a:rPr>
              <a:t>Gen-LLM</a:t>
            </a:r>
            <a:endParaRPr b="0" i="0" sz="1400" u="none" cap="none" strike="noStrike">
              <a:solidFill>
                <a:srgbClr val="000000"/>
              </a:solidFill>
              <a:latin typeface="Arial"/>
              <a:ea typeface="Arial"/>
              <a:cs typeface="Arial"/>
              <a:sym typeface="Arial"/>
            </a:endParaRPr>
          </a:p>
        </p:txBody>
      </p:sp>
      <p:sp>
        <p:nvSpPr>
          <p:cNvPr id="782" name="Google Shape;782;h4e1cd23050cdd6e6_1_329"/>
          <p:cNvSpPr/>
          <p:nvPr/>
        </p:nvSpPr>
        <p:spPr>
          <a:xfrm>
            <a:off x="4736600" y="1847088"/>
            <a:ext cx="6785100" cy="3749100"/>
          </a:xfrm>
          <a:prstGeom prst="roundRect">
            <a:avLst>
              <a:gd fmla="val 7282" name="adj"/>
            </a:avLst>
          </a:prstGeom>
          <a:solidFill>
            <a:srgbClr val="F3F5F4"/>
          </a:solidFill>
          <a:ln cap="flat" cmpd="sng" w="13950">
            <a:solidFill>
              <a:srgbClr val="3A7D8C"/>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h4e1cd23050cdd6e6_1_329"/>
          <p:cNvSpPr txBox="1"/>
          <p:nvPr/>
        </p:nvSpPr>
        <p:spPr>
          <a:xfrm>
            <a:off x="5079717" y="1965960"/>
            <a:ext cx="6016800" cy="223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1" i="0" lang="en-US" sz="1450" u="none" cap="none" strike="noStrike">
                <a:solidFill>
                  <a:srgbClr val="2F6B78"/>
                </a:solidFill>
                <a:latin typeface="Consolas"/>
                <a:ea typeface="Consolas"/>
                <a:cs typeface="Consolas"/>
                <a:sym typeface="Consolas"/>
              </a:rPr>
              <a:t>AFTER  /  ENRICHED ΔOᵣ (delta ontology)</a:t>
            </a:r>
            <a:endParaRPr b="0" i="0" sz="1400" u="none" cap="none" strike="noStrike">
              <a:solidFill>
                <a:srgbClr val="000000"/>
              </a:solidFill>
              <a:latin typeface="Arial"/>
              <a:ea typeface="Arial"/>
              <a:cs typeface="Arial"/>
              <a:sym typeface="Arial"/>
            </a:endParaRPr>
          </a:p>
        </p:txBody>
      </p:sp>
      <p:sp>
        <p:nvSpPr>
          <p:cNvPr id="784" name="Google Shape;784;h4e1cd23050cdd6e6_1_329"/>
          <p:cNvSpPr/>
          <p:nvPr/>
        </p:nvSpPr>
        <p:spPr>
          <a:xfrm>
            <a:off x="4037163" y="3419856"/>
            <a:ext cx="429600" cy="384000"/>
          </a:xfrm>
          <a:prstGeom prst="rightArrow">
            <a:avLst>
              <a:gd fmla="val 50000" name="adj1"/>
              <a:gd fmla="val 50000" name="adj2"/>
            </a:avLst>
          </a:prstGeom>
          <a:solidFill>
            <a:srgbClr val="0B6E4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h4e1cd23050cdd6e6_1_329"/>
          <p:cNvSpPr/>
          <p:nvPr/>
        </p:nvSpPr>
        <p:spPr>
          <a:xfrm>
            <a:off x="652054" y="2249424"/>
            <a:ext cx="2949300" cy="3237000"/>
          </a:xfrm>
          <a:prstGeom prst="roundRect">
            <a:avLst>
              <a:gd fmla="val 4740"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6" name="Google Shape;786;h4e1cd23050cdd6e6_1_329"/>
          <p:cNvSpPr/>
          <p:nvPr/>
        </p:nvSpPr>
        <p:spPr>
          <a:xfrm>
            <a:off x="4948400" y="2249425"/>
            <a:ext cx="6326400" cy="3237000"/>
          </a:xfrm>
          <a:prstGeom prst="roundRect">
            <a:avLst>
              <a:gd fmla="val 5554"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7" name="Google Shape;787;h4e1cd23050cdd6e6_1_329"/>
          <p:cNvSpPr txBox="1"/>
          <p:nvPr/>
        </p:nvSpPr>
        <p:spPr>
          <a:xfrm>
            <a:off x="652054" y="2322576"/>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Class:</a:t>
            </a:r>
            <a:r>
              <a:rPr b="0" i="0" lang="en-US" sz="1100" u="none" cap="none" strike="noStrike">
                <a:solidFill>
                  <a:srgbClr val="1F2328"/>
                </a:solidFill>
                <a:latin typeface="Consolas"/>
                <a:ea typeface="Consolas"/>
                <a:cs typeface="Consolas"/>
                <a:sym typeface="Consolas"/>
              </a:rPr>
              <a:t> Admission</a:t>
            </a:r>
            <a:endParaRPr b="0" i="0" sz="1100" u="none" cap="none" strike="noStrike">
              <a:solidFill>
                <a:srgbClr val="000000"/>
              </a:solidFill>
              <a:latin typeface="Arial"/>
              <a:ea typeface="Arial"/>
              <a:cs typeface="Arial"/>
              <a:sym typeface="Arial"/>
            </a:endParaRPr>
          </a:p>
        </p:txBody>
      </p:sp>
      <p:sp>
        <p:nvSpPr>
          <p:cNvPr id="788" name="Google Shape;788;h4e1cd23050cdd6e6_1_329"/>
          <p:cNvSpPr txBox="1"/>
          <p:nvPr/>
        </p:nvSpPr>
        <p:spPr>
          <a:xfrm>
            <a:off x="5038352" y="2322576"/>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Class:</a:t>
            </a:r>
            <a:r>
              <a:rPr b="0" i="0" lang="en-US" sz="1100" u="none" cap="none" strike="noStrike">
                <a:solidFill>
                  <a:srgbClr val="1F2328"/>
                </a:solidFill>
                <a:latin typeface="Consolas"/>
                <a:ea typeface="Consolas"/>
                <a:cs typeface="Consolas"/>
                <a:sym typeface="Consolas"/>
              </a:rPr>
              <a:t> Admission</a:t>
            </a:r>
            <a:endParaRPr b="0" i="0" sz="1100" u="none" cap="none" strike="noStrike">
              <a:solidFill>
                <a:srgbClr val="000000"/>
              </a:solidFill>
              <a:latin typeface="Arial"/>
              <a:ea typeface="Arial"/>
              <a:cs typeface="Arial"/>
              <a:sym typeface="Arial"/>
            </a:endParaRPr>
          </a:p>
        </p:txBody>
      </p:sp>
      <p:sp>
        <p:nvSpPr>
          <p:cNvPr id="789" name="Google Shape;789;h4e1cd23050cdd6e6_1_329"/>
          <p:cNvSpPr txBox="1"/>
          <p:nvPr/>
        </p:nvSpPr>
        <p:spPr>
          <a:xfrm>
            <a:off x="652054" y="2485242"/>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1" i="0" lang="en-US" sz="1100" u="none" cap="none" strike="noStrike">
                <a:solidFill>
                  <a:srgbClr val="0B6E4F"/>
                </a:solidFill>
                <a:latin typeface="Consolas"/>
                <a:ea typeface="Consolas"/>
                <a:cs typeface="Consolas"/>
                <a:sym typeface="Consolas"/>
              </a:rPr>
              <a:t>SubClassOf:</a:t>
            </a:r>
            <a:endParaRPr b="0" i="0" sz="1100" u="none" cap="none" strike="noStrike">
              <a:solidFill>
                <a:srgbClr val="000000"/>
              </a:solidFill>
              <a:latin typeface="Arial"/>
              <a:ea typeface="Arial"/>
              <a:cs typeface="Arial"/>
              <a:sym typeface="Arial"/>
            </a:endParaRPr>
          </a:p>
        </p:txBody>
      </p:sp>
      <p:sp>
        <p:nvSpPr>
          <p:cNvPr id="790" name="Google Shape;790;h4e1cd23050cdd6e6_1_329"/>
          <p:cNvSpPr txBox="1"/>
          <p:nvPr/>
        </p:nvSpPr>
        <p:spPr>
          <a:xfrm>
            <a:off x="5038352" y="2485242"/>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1" i="0" lang="en-US" sz="1100" u="none" cap="none" strike="noStrike">
                <a:solidFill>
                  <a:srgbClr val="0B6E4F"/>
                </a:solidFill>
                <a:latin typeface="Consolas"/>
                <a:ea typeface="Consolas"/>
                <a:cs typeface="Consolas"/>
                <a:sym typeface="Consolas"/>
              </a:rPr>
              <a:t>SubClassOf:</a:t>
            </a:r>
            <a:endParaRPr b="0" i="0" sz="1100" u="none" cap="none" strike="noStrike">
              <a:solidFill>
                <a:srgbClr val="000000"/>
              </a:solidFill>
              <a:latin typeface="Arial"/>
              <a:ea typeface="Arial"/>
              <a:cs typeface="Arial"/>
              <a:sym typeface="Arial"/>
            </a:endParaRPr>
          </a:p>
        </p:txBody>
      </p:sp>
      <p:sp>
        <p:nvSpPr>
          <p:cNvPr id="791" name="Google Shape;791;h4e1cd23050cdd6e6_1_329"/>
          <p:cNvSpPr txBox="1"/>
          <p:nvPr/>
        </p:nvSpPr>
        <p:spPr>
          <a:xfrm>
            <a:off x="652054" y="2647909"/>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admission_id </a:t>
            </a:r>
            <a:r>
              <a:rPr b="1" i="0" lang="en-US" sz="1100" u="none" cap="none" strike="noStrike">
                <a:solidFill>
                  <a:srgbClr val="0B6E4F"/>
                </a:solidFill>
                <a:latin typeface="Consolas"/>
                <a:ea typeface="Consolas"/>
                <a:cs typeface="Consolas"/>
                <a:sym typeface="Consolas"/>
              </a:rPr>
              <a:t>some</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6F42C1"/>
                </a:solidFill>
                <a:latin typeface="Consolas"/>
                <a:ea typeface="Consolas"/>
                <a:cs typeface="Consolas"/>
                <a:sym typeface="Consolas"/>
              </a:rPr>
              <a:t>xsd:integer</a:t>
            </a:r>
            <a:r>
              <a:rPr b="0" i="0" lang="en-US" sz="1100" u="none" cap="none" strike="noStrike">
                <a:solidFill>
                  <a:srgbClr val="1F2328"/>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
        <p:nvSpPr>
          <p:cNvPr id="792" name="Google Shape;792;h4e1cd23050cdd6e6_1_329"/>
          <p:cNvSpPr txBox="1"/>
          <p:nvPr/>
        </p:nvSpPr>
        <p:spPr>
          <a:xfrm>
            <a:off x="5038352" y="2647909"/>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admission_id </a:t>
            </a:r>
            <a:r>
              <a:rPr b="1" i="0" lang="en-US" sz="1100" u="none" cap="none" strike="noStrike">
                <a:solidFill>
                  <a:srgbClr val="0B6E4F"/>
                </a:solidFill>
                <a:latin typeface="Consolas"/>
                <a:ea typeface="Consolas"/>
                <a:cs typeface="Consolas"/>
                <a:sym typeface="Consolas"/>
              </a:rPr>
              <a:t>some</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6F42C1"/>
                </a:solidFill>
                <a:latin typeface="Consolas"/>
                <a:ea typeface="Consolas"/>
                <a:cs typeface="Consolas"/>
                <a:sym typeface="Consolas"/>
              </a:rPr>
              <a:t>xsd:integer</a:t>
            </a:r>
            <a:r>
              <a:rPr b="0" i="0" lang="en-US" sz="1100" u="none" cap="none" strike="noStrike">
                <a:solidFill>
                  <a:srgbClr val="1F2328"/>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
        <p:nvSpPr>
          <p:cNvPr id="793" name="Google Shape;793;h4e1cd23050cdd6e6_1_329"/>
          <p:cNvSpPr txBox="1"/>
          <p:nvPr/>
        </p:nvSpPr>
        <p:spPr>
          <a:xfrm>
            <a:off x="652054" y="2810576"/>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patient_id </a:t>
            </a:r>
            <a:r>
              <a:rPr b="1" i="0" lang="en-US" sz="1100" u="none" cap="none" strike="noStrike">
                <a:solidFill>
                  <a:srgbClr val="0B6E4F"/>
                </a:solidFill>
                <a:latin typeface="Consolas"/>
                <a:ea typeface="Consolas"/>
                <a:cs typeface="Consolas"/>
                <a:sym typeface="Consolas"/>
              </a:rPr>
              <a:t>some</a:t>
            </a:r>
            <a:r>
              <a:rPr b="0" i="0" lang="en-US" sz="1100" u="none" cap="none" strike="noStrike">
                <a:solidFill>
                  <a:srgbClr val="1F2328"/>
                </a:solidFill>
                <a:latin typeface="Consolas"/>
                <a:ea typeface="Consolas"/>
                <a:cs typeface="Consolas"/>
                <a:sym typeface="Consolas"/>
              </a:rPr>
              <a:t> PatientData,</a:t>
            </a:r>
            <a:endParaRPr b="0" i="0" sz="1100" u="none" cap="none" strike="noStrike">
              <a:solidFill>
                <a:srgbClr val="000000"/>
              </a:solidFill>
              <a:latin typeface="Arial"/>
              <a:ea typeface="Arial"/>
              <a:cs typeface="Arial"/>
              <a:sym typeface="Arial"/>
            </a:endParaRPr>
          </a:p>
        </p:txBody>
      </p:sp>
      <p:sp>
        <p:nvSpPr>
          <p:cNvPr id="794" name="Google Shape;794;h4e1cd23050cdd6e6_1_329"/>
          <p:cNvSpPr/>
          <p:nvPr/>
        </p:nvSpPr>
        <p:spPr>
          <a:xfrm>
            <a:off x="5464452" y="2815148"/>
            <a:ext cx="1130100" cy="153600"/>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5" name="Google Shape;795;h4e1cd23050cdd6e6_1_329"/>
          <p:cNvSpPr txBox="1"/>
          <p:nvPr/>
        </p:nvSpPr>
        <p:spPr>
          <a:xfrm>
            <a:off x="5038352" y="2810576"/>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hasPatientData </a:t>
            </a:r>
            <a:r>
              <a:rPr b="1" i="0" lang="en-US" sz="1100" u="none" cap="none" strike="noStrike">
                <a:solidFill>
                  <a:srgbClr val="0B6E4F"/>
                </a:solidFill>
                <a:latin typeface="Consolas"/>
                <a:ea typeface="Consolas"/>
                <a:cs typeface="Consolas"/>
                <a:sym typeface="Consolas"/>
              </a:rPr>
              <a:t>some</a:t>
            </a:r>
            <a:r>
              <a:rPr b="0" i="0" lang="en-US" sz="1100" u="none" cap="none" strike="noStrike">
                <a:solidFill>
                  <a:srgbClr val="1F2328"/>
                </a:solidFill>
                <a:latin typeface="Consolas"/>
                <a:ea typeface="Consolas"/>
                <a:cs typeface="Consolas"/>
                <a:sym typeface="Consolas"/>
              </a:rPr>
              <a:t> PatientData,</a:t>
            </a:r>
            <a:endParaRPr b="0" i="0" sz="1100" u="none" cap="none" strike="noStrike">
              <a:solidFill>
                <a:srgbClr val="000000"/>
              </a:solidFill>
              <a:latin typeface="Arial"/>
              <a:ea typeface="Arial"/>
              <a:cs typeface="Arial"/>
              <a:sym typeface="Arial"/>
            </a:endParaRPr>
          </a:p>
        </p:txBody>
      </p:sp>
      <p:sp>
        <p:nvSpPr>
          <p:cNvPr id="796" name="Google Shape;796;h4e1cd23050cdd6e6_1_329"/>
          <p:cNvSpPr/>
          <p:nvPr/>
        </p:nvSpPr>
        <p:spPr>
          <a:xfrm>
            <a:off x="10177532" y="2819720"/>
            <a:ext cx="987600" cy="144300"/>
          </a:xfrm>
          <a:prstGeom prst="roundRect">
            <a:avLst>
              <a:gd fmla="val 9000" name="adj"/>
            </a:avLst>
          </a:prstGeom>
          <a:solidFill>
            <a:srgbClr val="FFFFFF"/>
          </a:solidFill>
          <a:ln cap="flat" cmpd="sng" w="9525">
            <a:solidFill>
              <a:srgbClr val="5B677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850" u="none" cap="none" strike="noStrike">
                <a:solidFill>
                  <a:srgbClr val="5B6770"/>
                </a:solidFill>
                <a:latin typeface="Consolas"/>
                <a:ea typeface="Consolas"/>
                <a:cs typeface="Consolas"/>
                <a:sym typeface="Consolas"/>
              </a:rPr>
              <a:t>SCHEMA</a:t>
            </a:r>
            <a:endParaRPr/>
          </a:p>
        </p:txBody>
      </p:sp>
      <p:sp>
        <p:nvSpPr>
          <p:cNvPr id="797" name="Google Shape;797;h4e1cd23050cdd6e6_1_329"/>
          <p:cNvSpPr txBox="1"/>
          <p:nvPr/>
        </p:nvSpPr>
        <p:spPr>
          <a:xfrm>
            <a:off x="652054" y="2973243"/>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BM_DEP </a:t>
            </a:r>
            <a:r>
              <a:rPr b="1" i="0" lang="en-US" sz="1100" u="none" cap="none" strike="noStrike">
                <a:solidFill>
                  <a:srgbClr val="0B6E4F"/>
                </a:solidFill>
                <a:latin typeface="Consolas"/>
                <a:ea typeface="Consolas"/>
                <a:cs typeface="Consolas"/>
                <a:sym typeface="Consolas"/>
              </a:rPr>
              <a:t>only</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6F42C1"/>
                </a:solidFill>
                <a:latin typeface="Consolas"/>
                <a:ea typeface="Consolas"/>
                <a:cs typeface="Consolas"/>
                <a:sym typeface="Consolas"/>
              </a:rPr>
              <a:t>xsd:integer</a:t>
            </a:r>
            <a:r>
              <a:rPr b="0" i="0" lang="en-US" sz="1100" u="none" cap="none" strike="noStrike">
                <a:solidFill>
                  <a:srgbClr val="1F2328"/>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
        <p:nvSpPr>
          <p:cNvPr id="798" name="Google Shape;798;h4e1cd23050cdd6e6_1_329"/>
          <p:cNvSpPr txBox="1"/>
          <p:nvPr/>
        </p:nvSpPr>
        <p:spPr>
          <a:xfrm>
            <a:off x="5038352" y="2973243"/>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BM_DEP </a:t>
            </a:r>
            <a:r>
              <a:rPr b="1" i="0" lang="en-US" sz="1100" u="none" cap="none" strike="noStrike">
                <a:solidFill>
                  <a:srgbClr val="0B6E4F"/>
                </a:solidFill>
                <a:latin typeface="Consolas"/>
                <a:ea typeface="Consolas"/>
                <a:cs typeface="Consolas"/>
                <a:sym typeface="Consolas"/>
              </a:rPr>
              <a:t>only</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6F42C1"/>
                </a:solidFill>
                <a:latin typeface="Consolas"/>
                <a:ea typeface="Consolas"/>
                <a:cs typeface="Consolas"/>
                <a:sym typeface="Consolas"/>
              </a:rPr>
              <a:t>xsd:integer</a:t>
            </a:r>
            <a:r>
              <a:rPr b="0" i="0" lang="en-US" sz="1100" u="none" cap="none" strike="noStrike">
                <a:solidFill>
                  <a:srgbClr val="1F2328"/>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
        <p:nvSpPr>
          <p:cNvPr id="799" name="Google Shape;799;h4e1cd23050cdd6e6_1_329"/>
          <p:cNvSpPr txBox="1"/>
          <p:nvPr/>
        </p:nvSpPr>
        <p:spPr>
          <a:xfrm>
            <a:off x="652054" y="3135910"/>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ecog_stage </a:t>
            </a:r>
            <a:r>
              <a:rPr b="1" i="0" lang="en-US" sz="1100" u="none" cap="none" strike="noStrike">
                <a:solidFill>
                  <a:srgbClr val="0B6E4F"/>
                </a:solidFill>
                <a:latin typeface="Consolas"/>
                <a:ea typeface="Consolas"/>
                <a:cs typeface="Consolas"/>
                <a:sym typeface="Consolas"/>
              </a:rPr>
              <a:t>only</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6F42C1"/>
                </a:solidFill>
                <a:latin typeface="Consolas"/>
                <a:ea typeface="Consolas"/>
                <a:cs typeface="Consolas"/>
                <a:sym typeface="Consolas"/>
              </a:rPr>
              <a:t>xsd:integer</a:t>
            </a:r>
            <a:endParaRPr b="0" i="0" sz="1100" u="none" cap="none" strike="noStrike">
              <a:solidFill>
                <a:srgbClr val="000000"/>
              </a:solidFill>
              <a:latin typeface="Arial"/>
              <a:ea typeface="Arial"/>
              <a:cs typeface="Arial"/>
              <a:sym typeface="Arial"/>
            </a:endParaRPr>
          </a:p>
        </p:txBody>
      </p:sp>
      <p:sp>
        <p:nvSpPr>
          <p:cNvPr id="800" name="Google Shape;800;h4e1cd23050cdd6e6_1_329"/>
          <p:cNvSpPr txBox="1"/>
          <p:nvPr/>
        </p:nvSpPr>
        <p:spPr>
          <a:xfrm>
            <a:off x="5038352" y="3135910"/>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ecog_stage </a:t>
            </a:r>
            <a:r>
              <a:rPr b="1" i="0" lang="en-US" sz="1100" u="none" cap="none" strike="noStrike">
                <a:solidFill>
                  <a:srgbClr val="0B6E4F"/>
                </a:solidFill>
                <a:latin typeface="Consolas"/>
                <a:ea typeface="Consolas"/>
                <a:cs typeface="Consolas"/>
                <a:sym typeface="Consolas"/>
              </a:rPr>
              <a:t>only</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6F42C1"/>
                </a:solidFill>
                <a:latin typeface="Consolas"/>
                <a:ea typeface="Consolas"/>
                <a:cs typeface="Consolas"/>
                <a:sym typeface="Consolas"/>
              </a:rPr>
              <a:t>xsd:integer</a:t>
            </a:r>
            <a:endParaRPr b="0" i="0" sz="1100" u="none" cap="none" strike="noStrike">
              <a:solidFill>
                <a:srgbClr val="000000"/>
              </a:solidFill>
              <a:latin typeface="Arial"/>
              <a:ea typeface="Arial"/>
              <a:cs typeface="Arial"/>
              <a:sym typeface="Arial"/>
            </a:endParaRPr>
          </a:p>
        </p:txBody>
      </p:sp>
      <p:sp>
        <p:nvSpPr>
          <p:cNvPr id="801" name="Google Shape;801;h4e1cd23050cdd6e6_1_329"/>
          <p:cNvSpPr txBox="1"/>
          <p:nvPr/>
        </p:nvSpPr>
        <p:spPr>
          <a:xfrm>
            <a:off x="652054" y="3461244"/>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DataProperty:</a:t>
            </a:r>
            <a:r>
              <a:rPr b="0" i="0" lang="en-US" sz="1100" u="none" cap="none" strike="noStrike">
                <a:solidFill>
                  <a:srgbClr val="1F2328"/>
                </a:solidFill>
                <a:latin typeface="Consolas"/>
                <a:ea typeface="Consolas"/>
                <a:cs typeface="Consolas"/>
                <a:sym typeface="Consolas"/>
              </a:rPr>
              <a:t> admission_id</a:t>
            </a:r>
            <a:endParaRPr b="0" i="0" sz="1100" u="none" cap="none" strike="noStrike">
              <a:solidFill>
                <a:srgbClr val="000000"/>
              </a:solidFill>
              <a:latin typeface="Arial"/>
              <a:ea typeface="Arial"/>
              <a:cs typeface="Arial"/>
              <a:sym typeface="Arial"/>
            </a:endParaRPr>
          </a:p>
        </p:txBody>
      </p:sp>
      <p:sp>
        <p:nvSpPr>
          <p:cNvPr id="802" name="Google Shape;802;h4e1cd23050cdd6e6_1_329"/>
          <p:cNvSpPr txBox="1"/>
          <p:nvPr/>
        </p:nvSpPr>
        <p:spPr>
          <a:xfrm>
            <a:off x="5038352" y="3461244"/>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DataProperty:</a:t>
            </a:r>
            <a:r>
              <a:rPr b="0" i="0" lang="en-US" sz="1100" u="none" cap="none" strike="noStrike">
                <a:solidFill>
                  <a:srgbClr val="1F2328"/>
                </a:solidFill>
                <a:latin typeface="Consolas"/>
                <a:ea typeface="Consolas"/>
                <a:cs typeface="Consolas"/>
                <a:sym typeface="Consolas"/>
              </a:rPr>
              <a:t> admission_id</a:t>
            </a:r>
            <a:endParaRPr b="0" i="0" sz="1100" u="none" cap="none" strike="noStrike">
              <a:solidFill>
                <a:srgbClr val="000000"/>
              </a:solidFill>
              <a:latin typeface="Arial"/>
              <a:ea typeface="Arial"/>
              <a:cs typeface="Arial"/>
              <a:sym typeface="Arial"/>
            </a:endParaRPr>
          </a:p>
        </p:txBody>
      </p:sp>
      <p:sp>
        <p:nvSpPr>
          <p:cNvPr id="803" name="Google Shape;803;h4e1cd23050cdd6e6_1_329"/>
          <p:cNvSpPr txBox="1"/>
          <p:nvPr/>
        </p:nvSpPr>
        <p:spPr>
          <a:xfrm>
            <a:off x="652054" y="3623911"/>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ObjectProperty:</a:t>
            </a:r>
            <a:r>
              <a:rPr b="0" i="0" lang="en-US" sz="1100" u="none" cap="none" strike="noStrike">
                <a:solidFill>
                  <a:srgbClr val="1F2328"/>
                </a:solidFill>
                <a:latin typeface="Consolas"/>
                <a:ea typeface="Consolas"/>
                <a:cs typeface="Consolas"/>
                <a:sym typeface="Consolas"/>
              </a:rPr>
              <a:t> patient_id</a:t>
            </a:r>
            <a:endParaRPr b="0" i="0" sz="1100" u="none" cap="none" strike="noStrike">
              <a:solidFill>
                <a:srgbClr val="000000"/>
              </a:solidFill>
              <a:latin typeface="Arial"/>
              <a:ea typeface="Arial"/>
              <a:cs typeface="Arial"/>
              <a:sym typeface="Arial"/>
            </a:endParaRPr>
          </a:p>
        </p:txBody>
      </p:sp>
      <p:sp>
        <p:nvSpPr>
          <p:cNvPr id="804" name="Google Shape;804;h4e1cd23050cdd6e6_1_329"/>
          <p:cNvSpPr/>
          <p:nvPr/>
        </p:nvSpPr>
        <p:spPr>
          <a:xfrm>
            <a:off x="6386136" y="3628483"/>
            <a:ext cx="1130100" cy="153600"/>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5" name="Google Shape;805;h4e1cd23050cdd6e6_1_329"/>
          <p:cNvSpPr txBox="1"/>
          <p:nvPr/>
        </p:nvSpPr>
        <p:spPr>
          <a:xfrm>
            <a:off x="5038352" y="3623911"/>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ObjectProperty:</a:t>
            </a:r>
            <a:r>
              <a:rPr b="0" i="0" lang="en-US" sz="1100" u="none" cap="none" strike="noStrike">
                <a:solidFill>
                  <a:srgbClr val="1F2328"/>
                </a:solidFill>
                <a:latin typeface="Consolas"/>
                <a:ea typeface="Consolas"/>
                <a:cs typeface="Consolas"/>
                <a:sym typeface="Consolas"/>
              </a:rPr>
              <a:t> hasPatientData</a:t>
            </a:r>
            <a:endParaRPr b="0" i="0" sz="1100" u="none" cap="none" strike="noStrike">
              <a:solidFill>
                <a:srgbClr val="000000"/>
              </a:solidFill>
              <a:latin typeface="Arial"/>
              <a:ea typeface="Arial"/>
              <a:cs typeface="Arial"/>
              <a:sym typeface="Arial"/>
            </a:endParaRPr>
          </a:p>
        </p:txBody>
      </p:sp>
      <p:sp>
        <p:nvSpPr>
          <p:cNvPr id="806" name="Google Shape;806;h4e1cd23050cdd6e6_1_329"/>
          <p:cNvSpPr/>
          <p:nvPr/>
        </p:nvSpPr>
        <p:spPr>
          <a:xfrm>
            <a:off x="10177532" y="3633055"/>
            <a:ext cx="987600" cy="144300"/>
          </a:xfrm>
          <a:prstGeom prst="roundRect">
            <a:avLst>
              <a:gd fmla="val 9000" name="adj"/>
            </a:avLst>
          </a:prstGeom>
          <a:solidFill>
            <a:srgbClr val="FFFFFF"/>
          </a:solidFill>
          <a:ln cap="flat" cmpd="sng" w="9525">
            <a:solidFill>
              <a:srgbClr val="5B677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850" u="none" cap="none" strike="noStrike">
                <a:solidFill>
                  <a:srgbClr val="5B6770"/>
                </a:solidFill>
                <a:latin typeface="Consolas"/>
                <a:ea typeface="Consolas"/>
                <a:cs typeface="Consolas"/>
                <a:sym typeface="Consolas"/>
              </a:rPr>
              <a:t>SCHEMA</a:t>
            </a:r>
            <a:endParaRPr/>
          </a:p>
        </p:txBody>
      </p:sp>
      <p:sp>
        <p:nvSpPr>
          <p:cNvPr id="807" name="Google Shape;807;h4e1cd23050cdd6e6_1_329"/>
          <p:cNvSpPr txBox="1"/>
          <p:nvPr/>
        </p:nvSpPr>
        <p:spPr>
          <a:xfrm>
            <a:off x="652054" y="3786578"/>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DataProperty:</a:t>
            </a:r>
            <a:r>
              <a:rPr b="0" i="0" lang="en-US" sz="1100" u="none" cap="none" strike="noStrike">
                <a:solidFill>
                  <a:srgbClr val="1F2328"/>
                </a:solidFill>
                <a:latin typeface="Consolas"/>
                <a:ea typeface="Consolas"/>
                <a:cs typeface="Consolas"/>
                <a:sym typeface="Consolas"/>
              </a:rPr>
              <a:t> BM_DEP</a:t>
            </a:r>
            <a:endParaRPr b="0" i="0" sz="1100" u="none" cap="none" strike="noStrike">
              <a:solidFill>
                <a:srgbClr val="000000"/>
              </a:solidFill>
              <a:latin typeface="Arial"/>
              <a:ea typeface="Arial"/>
              <a:cs typeface="Arial"/>
              <a:sym typeface="Arial"/>
            </a:endParaRPr>
          </a:p>
        </p:txBody>
      </p:sp>
      <p:sp>
        <p:nvSpPr>
          <p:cNvPr id="808" name="Google Shape;808;h4e1cd23050cdd6e6_1_329"/>
          <p:cNvSpPr txBox="1"/>
          <p:nvPr/>
        </p:nvSpPr>
        <p:spPr>
          <a:xfrm>
            <a:off x="5038352" y="3786578"/>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DataProperty:</a:t>
            </a:r>
            <a:r>
              <a:rPr b="0" i="0" lang="en-US" sz="1100" u="none" cap="none" strike="noStrike">
                <a:solidFill>
                  <a:srgbClr val="1F2328"/>
                </a:solidFill>
                <a:latin typeface="Consolas"/>
                <a:ea typeface="Consolas"/>
                <a:cs typeface="Consolas"/>
                <a:sym typeface="Consolas"/>
              </a:rPr>
              <a:t> BM_DEP</a:t>
            </a:r>
            <a:endParaRPr b="0" i="0" sz="1100" u="none" cap="none" strike="noStrike">
              <a:solidFill>
                <a:srgbClr val="000000"/>
              </a:solidFill>
              <a:latin typeface="Arial"/>
              <a:ea typeface="Arial"/>
              <a:cs typeface="Arial"/>
              <a:sym typeface="Arial"/>
            </a:endParaRPr>
          </a:p>
        </p:txBody>
      </p:sp>
      <p:sp>
        <p:nvSpPr>
          <p:cNvPr id="809" name="Google Shape;809;h4e1cd23050cdd6e6_1_329"/>
          <p:cNvSpPr/>
          <p:nvPr/>
        </p:nvSpPr>
        <p:spPr>
          <a:xfrm>
            <a:off x="5093216" y="3953817"/>
            <a:ext cx="6126600" cy="153600"/>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0" name="Google Shape;810;h4e1cd23050cdd6e6_1_329"/>
          <p:cNvSpPr/>
          <p:nvPr/>
        </p:nvSpPr>
        <p:spPr>
          <a:xfrm>
            <a:off x="5093216" y="3953817"/>
            <a:ext cx="36600" cy="153600"/>
          </a:xfrm>
          <a:prstGeom prst="rect">
            <a:avLst/>
          </a:prstGeom>
          <a:solidFill>
            <a:srgbClr val="0B6E4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1" name="Google Shape;811;h4e1cd23050cdd6e6_1_329"/>
          <p:cNvSpPr txBox="1"/>
          <p:nvPr/>
        </p:nvSpPr>
        <p:spPr>
          <a:xfrm>
            <a:off x="5038352" y="3949245"/>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1" i="0" lang="en-US" sz="1100" u="none" cap="none" strike="noStrike">
                <a:solidFill>
                  <a:srgbClr val="0B6E4F"/>
                </a:solidFill>
                <a:latin typeface="Consolas"/>
                <a:ea typeface="Consolas"/>
                <a:cs typeface="Consolas"/>
                <a:sym typeface="Consolas"/>
              </a:rPr>
              <a:t>Annotations:</a:t>
            </a:r>
            <a:endParaRPr b="0" i="0" sz="1100" u="none" cap="none" strike="noStrike">
              <a:solidFill>
                <a:srgbClr val="000000"/>
              </a:solidFill>
              <a:latin typeface="Arial"/>
              <a:ea typeface="Arial"/>
              <a:cs typeface="Arial"/>
              <a:sym typeface="Arial"/>
            </a:endParaRPr>
          </a:p>
        </p:txBody>
      </p:sp>
      <p:sp>
        <p:nvSpPr>
          <p:cNvPr id="812" name="Google Shape;812;h4e1cd23050cdd6e6_1_329"/>
          <p:cNvSpPr/>
          <p:nvPr/>
        </p:nvSpPr>
        <p:spPr>
          <a:xfrm>
            <a:off x="5093216" y="4116484"/>
            <a:ext cx="6126600" cy="153600"/>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3" name="Google Shape;813;h4e1cd23050cdd6e6_1_329"/>
          <p:cNvSpPr/>
          <p:nvPr/>
        </p:nvSpPr>
        <p:spPr>
          <a:xfrm>
            <a:off x="5093216" y="4116484"/>
            <a:ext cx="36600" cy="153600"/>
          </a:xfrm>
          <a:prstGeom prst="rect">
            <a:avLst/>
          </a:prstGeom>
          <a:solidFill>
            <a:srgbClr val="0B6E4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4" name="Google Shape;814;h4e1cd23050cdd6e6_1_329"/>
          <p:cNvSpPr txBox="1"/>
          <p:nvPr/>
        </p:nvSpPr>
        <p:spPr>
          <a:xfrm>
            <a:off x="5038352" y="4111912"/>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5B6770"/>
                </a:solidFill>
                <a:latin typeface="Consolas"/>
                <a:ea typeface="Consolas"/>
                <a:cs typeface="Consolas"/>
                <a:sym typeface="Consolas"/>
              </a:rPr>
              <a:t>rdfs:label</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A3401E"/>
                </a:solidFill>
                <a:latin typeface="Consolas"/>
                <a:ea typeface="Consolas"/>
                <a:cs typeface="Consolas"/>
                <a:sym typeface="Consolas"/>
              </a:rPr>
              <a:t>"Bone Marrow Depression"@en</a:t>
            </a:r>
            <a:r>
              <a:rPr b="0" i="0" lang="en-US" sz="1100" u="none" cap="none" strike="noStrike">
                <a:solidFill>
                  <a:srgbClr val="1F2328"/>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
        <p:nvSpPr>
          <p:cNvPr id="815" name="Google Shape;815;h4e1cd23050cdd6e6_1_329"/>
          <p:cNvSpPr/>
          <p:nvPr/>
        </p:nvSpPr>
        <p:spPr>
          <a:xfrm>
            <a:off x="10177532" y="4121056"/>
            <a:ext cx="987600" cy="144300"/>
          </a:xfrm>
          <a:prstGeom prst="roundRect">
            <a:avLst>
              <a:gd fmla="val 9000" name="adj"/>
            </a:avLst>
          </a:prstGeom>
          <a:solidFill>
            <a:srgbClr val="FFFFFF"/>
          </a:solidFill>
          <a:ln cap="flat" cmpd="sng" w="9525">
            <a:solidFill>
              <a:srgbClr val="2F6B78"/>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850" u="none" cap="none" strike="noStrike">
                <a:solidFill>
                  <a:srgbClr val="2F6B78"/>
                </a:solidFill>
                <a:latin typeface="Consolas"/>
                <a:ea typeface="Consolas"/>
                <a:cs typeface="Consolas"/>
                <a:sym typeface="Consolas"/>
              </a:rPr>
              <a:t>DOCS</a:t>
            </a:r>
            <a:endParaRPr/>
          </a:p>
        </p:txBody>
      </p:sp>
      <p:sp>
        <p:nvSpPr>
          <p:cNvPr id="816" name="Google Shape;816;h4e1cd23050cdd6e6_1_329"/>
          <p:cNvSpPr/>
          <p:nvPr/>
        </p:nvSpPr>
        <p:spPr>
          <a:xfrm>
            <a:off x="5093216" y="4279151"/>
            <a:ext cx="6126600" cy="153600"/>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7" name="Google Shape;817;h4e1cd23050cdd6e6_1_329"/>
          <p:cNvSpPr/>
          <p:nvPr/>
        </p:nvSpPr>
        <p:spPr>
          <a:xfrm>
            <a:off x="5093216" y="4279151"/>
            <a:ext cx="36600" cy="153600"/>
          </a:xfrm>
          <a:prstGeom prst="rect">
            <a:avLst/>
          </a:prstGeom>
          <a:solidFill>
            <a:srgbClr val="0B6E4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8" name="Google Shape;818;h4e1cd23050cdd6e6_1_329"/>
          <p:cNvSpPr txBox="1"/>
          <p:nvPr/>
        </p:nvSpPr>
        <p:spPr>
          <a:xfrm>
            <a:off x="5038352" y="4274579"/>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5B6770"/>
                </a:solidFill>
                <a:latin typeface="Consolas"/>
                <a:ea typeface="Consolas"/>
                <a:cs typeface="Consolas"/>
                <a:sym typeface="Consolas"/>
              </a:rPr>
              <a:t>skos:relatedMatch</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2F6B78"/>
                </a:solidFill>
                <a:latin typeface="Consolas"/>
                <a:ea typeface="Consolas"/>
                <a:cs typeface="Consolas"/>
                <a:sym typeface="Consolas"/>
              </a:rPr>
              <a:t>obo:DOID_4961</a:t>
            </a:r>
            <a:r>
              <a:rPr b="0" i="0" lang="en-US" sz="1100" u="none" cap="none" strike="noStrike">
                <a:solidFill>
                  <a:srgbClr val="1F2328"/>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
        <p:nvSpPr>
          <p:cNvPr id="819" name="Google Shape;819;h4e1cd23050cdd6e6_1_329"/>
          <p:cNvSpPr/>
          <p:nvPr/>
        </p:nvSpPr>
        <p:spPr>
          <a:xfrm>
            <a:off x="10177532" y="4283723"/>
            <a:ext cx="987600" cy="144300"/>
          </a:xfrm>
          <a:prstGeom prst="roundRect">
            <a:avLst>
              <a:gd fmla="val 9000" name="adj"/>
            </a:avLst>
          </a:prstGeom>
          <a:solidFill>
            <a:srgbClr val="FFFFFF"/>
          </a:solidFill>
          <a:ln cap="flat" cmpd="sng" w="9525">
            <a:solidFill>
              <a:srgbClr val="0B6E4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850" u="none" cap="none" strike="noStrike">
                <a:solidFill>
                  <a:srgbClr val="0B6E4F"/>
                </a:solidFill>
                <a:latin typeface="Consolas"/>
                <a:ea typeface="Consolas"/>
                <a:cs typeface="Consolas"/>
                <a:sym typeface="Consolas"/>
              </a:rPr>
              <a:t>ONTOLOGY</a:t>
            </a:r>
            <a:endParaRPr/>
          </a:p>
        </p:txBody>
      </p:sp>
      <p:sp>
        <p:nvSpPr>
          <p:cNvPr id="820" name="Google Shape;820;h4e1cd23050cdd6e6_1_329"/>
          <p:cNvSpPr/>
          <p:nvPr/>
        </p:nvSpPr>
        <p:spPr>
          <a:xfrm>
            <a:off x="5093216" y="4441818"/>
            <a:ext cx="6126600" cy="153600"/>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1" name="Google Shape;821;h4e1cd23050cdd6e6_1_329"/>
          <p:cNvSpPr/>
          <p:nvPr/>
        </p:nvSpPr>
        <p:spPr>
          <a:xfrm>
            <a:off x="5093216" y="4441818"/>
            <a:ext cx="36600" cy="153600"/>
          </a:xfrm>
          <a:prstGeom prst="rect">
            <a:avLst/>
          </a:prstGeom>
          <a:solidFill>
            <a:srgbClr val="0B6E4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2" name="Google Shape;822;h4e1cd23050cdd6e6_1_329"/>
          <p:cNvSpPr txBox="1"/>
          <p:nvPr/>
        </p:nvSpPr>
        <p:spPr>
          <a:xfrm>
            <a:off x="5038352" y="4437246"/>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5B6770"/>
                </a:solidFill>
                <a:latin typeface="Consolas"/>
                <a:ea typeface="Consolas"/>
                <a:cs typeface="Consolas"/>
                <a:sym typeface="Consolas"/>
              </a:rPr>
              <a:t>prov:wasDerivedFrom</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2F6B78"/>
                </a:solidFill>
                <a:latin typeface="Consolas"/>
                <a:ea typeface="Consolas"/>
                <a:cs typeface="Consolas"/>
                <a:sym typeface="Consolas"/>
              </a:rPr>
              <a:t>admission:BM_DEP</a:t>
            </a:r>
            <a:endParaRPr b="0" i="0" sz="1100" u="none" cap="none" strike="noStrike">
              <a:solidFill>
                <a:srgbClr val="000000"/>
              </a:solidFill>
              <a:latin typeface="Arial"/>
              <a:ea typeface="Arial"/>
              <a:cs typeface="Arial"/>
              <a:sym typeface="Arial"/>
            </a:endParaRPr>
          </a:p>
        </p:txBody>
      </p:sp>
      <p:sp>
        <p:nvSpPr>
          <p:cNvPr id="823" name="Google Shape;823;h4e1cd23050cdd6e6_1_329"/>
          <p:cNvSpPr/>
          <p:nvPr/>
        </p:nvSpPr>
        <p:spPr>
          <a:xfrm>
            <a:off x="10177532" y="4446390"/>
            <a:ext cx="987600" cy="144300"/>
          </a:xfrm>
          <a:prstGeom prst="roundRect">
            <a:avLst>
              <a:gd fmla="val 9000" name="adj"/>
            </a:avLst>
          </a:prstGeom>
          <a:solidFill>
            <a:srgbClr val="FFFFFF"/>
          </a:solidFill>
          <a:ln cap="flat" cmpd="sng" w="9525">
            <a:solidFill>
              <a:srgbClr val="5B677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850" u="none" cap="none" strike="noStrike">
                <a:solidFill>
                  <a:srgbClr val="5B6770"/>
                </a:solidFill>
                <a:latin typeface="Consolas"/>
                <a:ea typeface="Consolas"/>
                <a:cs typeface="Consolas"/>
                <a:sym typeface="Consolas"/>
              </a:rPr>
              <a:t>SCHEMA</a:t>
            </a:r>
            <a:endParaRPr/>
          </a:p>
        </p:txBody>
      </p:sp>
      <p:sp>
        <p:nvSpPr>
          <p:cNvPr id="824" name="Google Shape;824;h4e1cd23050cdd6e6_1_329"/>
          <p:cNvSpPr txBox="1"/>
          <p:nvPr/>
        </p:nvSpPr>
        <p:spPr>
          <a:xfrm>
            <a:off x="652054" y="4599913"/>
            <a:ext cx="290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DataProperty:</a:t>
            </a:r>
            <a:r>
              <a:rPr b="0" i="0" lang="en-US" sz="1100" u="none" cap="none" strike="noStrike">
                <a:solidFill>
                  <a:srgbClr val="1F2328"/>
                </a:solidFill>
                <a:latin typeface="Consolas"/>
                <a:ea typeface="Consolas"/>
                <a:cs typeface="Consolas"/>
                <a:sym typeface="Consolas"/>
              </a:rPr>
              <a:t> ecog_stage</a:t>
            </a:r>
            <a:endParaRPr b="0" i="0" sz="1100" u="none" cap="none" strike="noStrike">
              <a:solidFill>
                <a:srgbClr val="000000"/>
              </a:solidFill>
              <a:latin typeface="Arial"/>
              <a:ea typeface="Arial"/>
              <a:cs typeface="Arial"/>
              <a:sym typeface="Arial"/>
            </a:endParaRPr>
          </a:p>
        </p:txBody>
      </p:sp>
      <p:sp>
        <p:nvSpPr>
          <p:cNvPr id="825" name="Google Shape;825;h4e1cd23050cdd6e6_1_329"/>
          <p:cNvSpPr txBox="1"/>
          <p:nvPr/>
        </p:nvSpPr>
        <p:spPr>
          <a:xfrm>
            <a:off x="5038352" y="4599913"/>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DataProperty:</a:t>
            </a:r>
            <a:r>
              <a:rPr b="0" i="0" lang="en-US" sz="1100" u="none" cap="none" strike="noStrike">
                <a:solidFill>
                  <a:srgbClr val="1F2328"/>
                </a:solidFill>
                <a:latin typeface="Consolas"/>
                <a:ea typeface="Consolas"/>
                <a:cs typeface="Consolas"/>
                <a:sym typeface="Consolas"/>
              </a:rPr>
              <a:t> ecog_stage</a:t>
            </a:r>
            <a:endParaRPr b="0" i="0" sz="1100" u="none" cap="none" strike="noStrike">
              <a:solidFill>
                <a:srgbClr val="000000"/>
              </a:solidFill>
              <a:latin typeface="Arial"/>
              <a:ea typeface="Arial"/>
              <a:cs typeface="Arial"/>
              <a:sym typeface="Arial"/>
            </a:endParaRPr>
          </a:p>
        </p:txBody>
      </p:sp>
      <p:sp>
        <p:nvSpPr>
          <p:cNvPr id="826" name="Google Shape;826;h4e1cd23050cdd6e6_1_329"/>
          <p:cNvSpPr/>
          <p:nvPr/>
        </p:nvSpPr>
        <p:spPr>
          <a:xfrm>
            <a:off x="5093216" y="4767152"/>
            <a:ext cx="6126600" cy="153600"/>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7" name="Google Shape;827;h4e1cd23050cdd6e6_1_329"/>
          <p:cNvSpPr/>
          <p:nvPr/>
        </p:nvSpPr>
        <p:spPr>
          <a:xfrm>
            <a:off x="5093216" y="4767152"/>
            <a:ext cx="36600" cy="153600"/>
          </a:xfrm>
          <a:prstGeom prst="rect">
            <a:avLst/>
          </a:prstGeom>
          <a:solidFill>
            <a:srgbClr val="0B6E4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8" name="Google Shape;828;h4e1cd23050cdd6e6_1_329"/>
          <p:cNvSpPr txBox="1"/>
          <p:nvPr/>
        </p:nvSpPr>
        <p:spPr>
          <a:xfrm>
            <a:off x="5038352" y="4762580"/>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1" i="0" lang="en-US" sz="1100" u="none" cap="none" strike="noStrike">
                <a:solidFill>
                  <a:srgbClr val="0B6E4F"/>
                </a:solidFill>
                <a:latin typeface="Consolas"/>
                <a:ea typeface="Consolas"/>
                <a:cs typeface="Consolas"/>
                <a:sym typeface="Consolas"/>
              </a:rPr>
              <a:t>Annotations:</a:t>
            </a:r>
            <a:endParaRPr b="0" i="0" sz="1100" u="none" cap="none" strike="noStrike">
              <a:solidFill>
                <a:srgbClr val="000000"/>
              </a:solidFill>
              <a:latin typeface="Arial"/>
              <a:ea typeface="Arial"/>
              <a:cs typeface="Arial"/>
              <a:sym typeface="Arial"/>
            </a:endParaRPr>
          </a:p>
        </p:txBody>
      </p:sp>
      <p:sp>
        <p:nvSpPr>
          <p:cNvPr id="829" name="Google Shape;829;h4e1cd23050cdd6e6_1_329"/>
          <p:cNvSpPr/>
          <p:nvPr/>
        </p:nvSpPr>
        <p:spPr>
          <a:xfrm>
            <a:off x="5093216" y="4929819"/>
            <a:ext cx="6126600" cy="153600"/>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0" name="Google Shape;830;h4e1cd23050cdd6e6_1_329"/>
          <p:cNvSpPr/>
          <p:nvPr/>
        </p:nvSpPr>
        <p:spPr>
          <a:xfrm>
            <a:off x="5093216" y="4929819"/>
            <a:ext cx="36600" cy="153600"/>
          </a:xfrm>
          <a:prstGeom prst="rect">
            <a:avLst/>
          </a:prstGeom>
          <a:solidFill>
            <a:srgbClr val="0B6E4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1" name="Google Shape;831;h4e1cd23050cdd6e6_1_329"/>
          <p:cNvSpPr txBox="1"/>
          <p:nvPr/>
        </p:nvSpPr>
        <p:spPr>
          <a:xfrm>
            <a:off x="5038352" y="4925247"/>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5B6770"/>
                </a:solidFill>
                <a:latin typeface="Consolas"/>
                <a:ea typeface="Consolas"/>
                <a:cs typeface="Consolas"/>
                <a:sym typeface="Consolas"/>
              </a:rPr>
              <a:t>rdfs:label</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A3401E"/>
                </a:solidFill>
                <a:latin typeface="Consolas"/>
                <a:ea typeface="Consolas"/>
                <a:cs typeface="Consolas"/>
                <a:sym typeface="Consolas"/>
              </a:rPr>
              <a:t>"ECOG Performance Status"@en</a:t>
            </a:r>
            <a:r>
              <a:rPr b="0" i="0" lang="en-US" sz="1100" u="none" cap="none" strike="noStrike">
                <a:solidFill>
                  <a:srgbClr val="1F2328"/>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
        <p:nvSpPr>
          <p:cNvPr id="832" name="Google Shape;832;h4e1cd23050cdd6e6_1_329"/>
          <p:cNvSpPr/>
          <p:nvPr/>
        </p:nvSpPr>
        <p:spPr>
          <a:xfrm>
            <a:off x="10177532" y="4934391"/>
            <a:ext cx="987600" cy="144300"/>
          </a:xfrm>
          <a:prstGeom prst="roundRect">
            <a:avLst>
              <a:gd fmla="val 9000" name="adj"/>
            </a:avLst>
          </a:prstGeom>
          <a:solidFill>
            <a:srgbClr val="FFFFFF"/>
          </a:solidFill>
          <a:ln cap="flat" cmpd="sng" w="9525">
            <a:solidFill>
              <a:srgbClr val="2F6B78"/>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850" u="none" cap="none" strike="noStrike">
                <a:solidFill>
                  <a:srgbClr val="2F6B78"/>
                </a:solidFill>
                <a:latin typeface="Consolas"/>
                <a:ea typeface="Consolas"/>
                <a:cs typeface="Consolas"/>
                <a:sym typeface="Consolas"/>
              </a:rPr>
              <a:t>DOCS</a:t>
            </a:r>
            <a:endParaRPr/>
          </a:p>
        </p:txBody>
      </p:sp>
      <p:sp>
        <p:nvSpPr>
          <p:cNvPr id="833" name="Google Shape;833;h4e1cd23050cdd6e6_1_329"/>
          <p:cNvSpPr/>
          <p:nvPr/>
        </p:nvSpPr>
        <p:spPr>
          <a:xfrm>
            <a:off x="5093216" y="5092486"/>
            <a:ext cx="6126600" cy="153600"/>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4" name="Google Shape;834;h4e1cd23050cdd6e6_1_329"/>
          <p:cNvSpPr/>
          <p:nvPr/>
        </p:nvSpPr>
        <p:spPr>
          <a:xfrm>
            <a:off x="5093216" y="5092486"/>
            <a:ext cx="36600" cy="153600"/>
          </a:xfrm>
          <a:prstGeom prst="rect">
            <a:avLst/>
          </a:prstGeom>
          <a:solidFill>
            <a:srgbClr val="0B6E4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5" name="Google Shape;835;h4e1cd23050cdd6e6_1_329"/>
          <p:cNvSpPr txBox="1"/>
          <p:nvPr/>
        </p:nvSpPr>
        <p:spPr>
          <a:xfrm>
            <a:off x="5038352" y="5087914"/>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5B6770"/>
                </a:solidFill>
                <a:latin typeface="Consolas"/>
                <a:ea typeface="Consolas"/>
                <a:cs typeface="Consolas"/>
                <a:sym typeface="Consolas"/>
              </a:rPr>
              <a:t>rdfs:comment</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A3401E"/>
                </a:solidFill>
                <a:latin typeface="Consolas"/>
                <a:ea typeface="Consolas"/>
                <a:cs typeface="Consolas"/>
                <a:sym typeface="Consolas"/>
              </a:rPr>
              <a:t>"0 = fully active … 5 = dead"@en</a:t>
            </a:r>
            <a:r>
              <a:rPr b="0" i="0" lang="en-US" sz="1100" u="none" cap="none" strike="noStrike">
                <a:solidFill>
                  <a:srgbClr val="1F2328"/>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
        <p:nvSpPr>
          <p:cNvPr id="836" name="Google Shape;836;h4e1cd23050cdd6e6_1_329"/>
          <p:cNvSpPr/>
          <p:nvPr/>
        </p:nvSpPr>
        <p:spPr>
          <a:xfrm>
            <a:off x="10177532" y="5097058"/>
            <a:ext cx="987600" cy="144300"/>
          </a:xfrm>
          <a:prstGeom prst="roundRect">
            <a:avLst>
              <a:gd fmla="val 9000" name="adj"/>
            </a:avLst>
          </a:prstGeom>
          <a:solidFill>
            <a:srgbClr val="FFFFFF"/>
          </a:solidFill>
          <a:ln cap="flat" cmpd="sng" w="9525">
            <a:solidFill>
              <a:srgbClr val="6F42C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850" u="none" cap="none" strike="noStrike">
                <a:solidFill>
                  <a:srgbClr val="6F42C1"/>
                </a:solidFill>
                <a:latin typeface="Consolas"/>
                <a:ea typeface="Consolas"/>
                <a:cs typeface="Consolas"/>
                <a:sym typeface="Consolas"/>
              </a:rPr>
              <a:t>LLM</a:t>
            </a:r>
            <a:endParaRPr/>
          </a:p>
        </p:txBody>
      </p:sp>
      <p:sp>
        <p:nvSpPr>
          <p:cNvPr id="837" name="Google Shape;837;h4e1cd23050cdd6e6_1_329"/>
          <p:cNvSpPr/>
          <p:nvPr/>
        </p:nvSpPr>
        <p:spPr>
          <a:xfrm>
            <a:off x="5093216" y="5255153"/>
            <a:ext cx="6126600" cy="153600"/>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8" name="Google Shape;838;h4e1cd23050cdd6e6_1_329"/>
          <p:cNvSpPr/>
          <p:nvPr/>
        </p:nvSpPr>
        <p:spPr>
          <a:xfrm>
            <a:off x="5093216" y="5255153"/>
            <a:ext cx="36600" cy="153600"/>
          </a:xfrm>
          <a:prstGeom prst="rect">
            <a:avLst/>
          </a:prstGeom>
          <a:solidFill>
            <a:srgbClr val="0B6E4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9" name="Google Shape;839;h4e1cd23050cdd6e6_1_329"/>
          <p:cNvSpPr txBox="1"/>
          <p:nvPr/>
        </p:nvSpPr>
        <p:spPr>
          <a:xfrm>
            <a:off x="5038352" y="5250581"/>
            <a:ext cx="5093400" cy="1626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5B6770"/>
                </a:solidFill>
                <a:latin typeface="Consolas"/>
                <a:ea typeface="Consolas"/>
                <a:cs typeface="Consolas"/>
                <a:sym typeface="Consolas"/>
              </a:rPr>
              <a:t>prov:wasDerivedFrom</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2F6B78"/>
                </a:solidFill>
                <a:latin typeface="Consolas"/>
                <a:ea typeface="Consolas"/>
                <a:cs typeface="Consolas"/>
                <a:sym typeface="Consolas"/>
              </a:rPr>
              <a:t>admission:ecog_stage</a:t>
            </a:r>
            <a:endParaRPr b="0" i="0" sz="1100" u="none" cap="none" strike="noStrike">
              <a:solidFill>
                <a:srgbClr val="000000"/>
              </a:solidFill>
              <a:latin typeface="Arial"/>
              <a:ea typeface="Arial"/>
              <a:cs typeface="Arial"/>
              <a:sym typeface="Arial"/>
            </a:endParaRPr>
          </a:p>
        </p:txBody>
      </p:sp>
      <p:sp>
        <p:nvSpPr>
          <p:cNvPr id="840" name="Google Shape;840;h4e1cd23050cdd6e6_1_329"/>
          <p:cNvSpPr/>
          <p:nvPr/>
        </p:nvSpPr>
        <p:spPr>
          <a:xfrm>
            <a:off x="10177532" y="5259725"/>
            <a:ext cx="987600" cy="144300"/>
          </a:xfrm>
          <a:prstGeom prst="roundRect">
            <a:avLst>
              <a:gd fmla="val 9000" name="adj"/>
            </a:avLst>
          </a:prstGeom>
          <a:solidFill>
            <a:srgbClr val="FFFFFF"/>
          </a:solidFill>
          <a:ln cap="flat" cmpd="sng" w="9525">
            <a:solidFill>
              <a:srgbClr val="5B677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850" u="none" cap="none" strike="noStrike">
                <a:solidFill>
                  <a:srgbClr val="5B6770"/>
                </a:solidFill>
                <a:latin typeface="Consolas"/>
                <a:ea typeface="Consolas"/>
                <a:cs typeface="Consolas"/>
                <a:sym typeface="Consolas"/>
              </a:rPr>
              <a:t>SCHEMA</a:t>
            </a:r>
            <a:endParaRPr/>
          </a:p>
        </p:txBody>
      </p:sp>
      <p:sp>
        <p:nvSpPr>
          <p:cNvPr id="841" name="Google Shape;841;h4e1cd23050cdd6e6_1_329"/>
          <p:cNvSpPr txBox="1"/>
          <p:nvPr/>
        </p:nvSpPr>
        <p:spPr>
          <a:xfrm>
            <a:off x="804672" y="1422410"/>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A434C"/>
                </a:solidFill>
                <a:latin typeface="Calibri"/>
                <a:ea typeface="Calibri"/>
                <a:cs typeface="Calibri"/>
                <a:sym typeface="Calibri"/>
              </a:rPr>
              <a:t>We prompt the </a:t>
            </a:r>
            <a:r>
              <a:rPr b="1" i="1" lang="en-US" sz="1600" u="none" cap="none" strike="noStrike">
                <a:solidFill>
                  <a:srgbClr val="3A434C"/>
                </a:solidFill>
                <a:latin typeface="Calibri"/>
                <a:ea typeface="Calibri"/>
                <a:cs typeface="Calibri"/>
                <a:sym typeface="Calibri"/>
              </a:rPr>
              <a:t>Gen-LLM</a:t>
            </a:r>
            <a:r>
              <a:rPr b="0" i="0" lang="en-US" sz="1600" u="none" cap="none" strike="noStrike">
                <a:solidFill>
                  <a:srgbClr val="3A434C"/>
                </a:solidFill>
                <a:latin typeface="Calibri"/>
                <a:ea typeface="Calibri"/>
                <a:cs typeface="Calibri"/>
                <a:sym typeface="Calibri"/>
              </a:rPr>
              <a:t> with the </a:t>
            </a:r>
            <a:r>
              <a:rPr b="1" i="0" lang="en-US" sz="1600" u="none" cap="none" strike="noStrike">
                <a:solidFill>
                  <a:srgbClr val="3A434C"/>
                </a:solidFill>
                <a:latin typeface="Calibri"/>
                <a:ea typeface="Calibri"/>
                <a:cs typeface="Calibri"/>
                <a:sym typeface="Calibri"/>
              </a:rPr>
              <a:t>direct mapping</a:t>
            </a:r>
            <a:r>
              <a:rPr b="0" i="0" lang="en-US" sz="1600" u="none" cap="none" strike="noStrike">
                <a:solidFill>
                  <a:srgbClr val="3A434C"/>
                </a:solidFill>
                <a:latin typeface="Calibri"/>
                <a:ea typeface="Calibri"/>
                <a:cs typeface="Calibri"/>
                <a:sym typeface="Calibri"/>
              </a:rPr>
              <a:t>, the </a:t>
            </a:r>
            <a:r>
              <a:rPr b="1" i="0" lang="en-US" sz="1600" u="none" cap="none" strike="noStrike">
                <a:solidFill>
                  <a:srgbClr val="3A434C"/>
                </a:solidFill>
                <a:latin typeface="Calibri"/>
                <a:ea typeface="Calibri"/>
                <a:cs typeface="Calibri"/>
                <a:sym typeface="Calibri"/>
              </a:rPr>
              <a:t>retrieved context</a:t>
            </a:r>
            <a:r>
              <a:rPr b="0" i="0" lang="en-US" sz="1600" u="none" cap="none" strike="noStrike">
                <a:solidFill>
                  <a:srgbClr val="3A434C"/>
                </a:solidFill>
                <a:latin typeface="Calibri"/>
                <a:ea typeface="Calibri"/>
                <a:cs typeface="Calibri"/>
                <a:sym typeface="Calibri"/>
              </a:rPr>
              <a:t>, and </a:t>
            </a:r>
            <a:r>
              <a:rPr b="1" i="0" lang="en-US" sz="1600" u="none" cap="none" strike="noStrike">
                <a:solidFill>
                  <a:srgbClr val="3A434C"/>
                </a:solidFill>
                <a:latin typeface="Calibri"/>
                <a:ea typeface="Calibri"/>
                <a:cs typeface="Calibri"/>
                <a:sym typeface="Calibri"/>
              </a:rPr>
              <a:t>semantic enrichment instructions</a:t>
            </a:r>
            <a:r>
              <a:rPr b="0" i="0" lang="en-US" sz="1600" u="none" cap="none" strike="noStrike">
                <a:solidFill>
                  <a:srgbClr val="3A434C"/>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pic>
        <p:nvPicPr>
          <p:cNvPr id="842" name="Google Shape;842;h4e1cd23050cdd6e6_1_329" title="LLM Neural Brain Icon.png"/>
          <p:cNvPicPr preferRelativeResize="0"/>
          <p:nvPr/>
        </p:nvPicPr>
        <p:blipFill rotWithShape="1">
          <a:blip r:embed="rId3">
            <a:alphaModFix/>
          </a:blip>
          <a:srcRect b="14226" l="16398" r="17214" t="12218"/>
          <a:stretch/>
        </p:blipFill>
        <p:spPr>
          <a:xfrm>
            <a:off x="3919850" y="4107423"/>
            <a:ext cx="644449" cy="6036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7" name="Shape 847"/>
        <p:cNvGrpSpPr/>
        <p:nvPr/>
      </p:nvGrpSpPr>
      <p:grpSpPr>
        <a:xfrm>
          <a:off x="0" y="0"/>
          <a:ext cx="0" cy="0"/>
          <a:chOff x="0" y="0"/>
          <a:chExt cx="0" cy="0"/>
        </a:xfrm>
      </p:grpSpPr>
      <p:sp>
        <p:nvSpPr>
          <p:cNvPr id="848" name="Google Shape;848;h3b1f15762288d989_2_37"/>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5 / VALIDATE</a:t>
            </a:r>
            <a:endParaRPr b="0" i="0" sz="1400" u="none" cap="none" strike="noStrike">
              <a:solidFill>
                <a:srgbClr val="000000"/>
              </a:solidFill>
              <a:latin typeface="Arial"/>
              <a:ea typeface="Arial"/>
              <a:cs typeface="Arial"/>
              <a:sym typeface="Arial"/>
            </a:endParaRPr>
          </a:p>
        </p:txBody>
      </p:sp>
      <p:sp>
        <p:nvSpPr>
          <p:cNvPr id="849" name="Google Shape;849;h3b1f15762288d989_2_37"/>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Why validate? Plausible fragments can still break the ontology.</a:t>
            </a:r>
            <a:endParaRPr b="0" i="0" sz="1400" u="none" cap="none" strike="noStrike">
              <a:solidFill>
                <a:srgbClr val="000000"/>
              </a:solidFill>
              <a:latin typeface="Arial"/>
              <a:ea typeface="Arial"/>
              <a:cs typeface="Arial"/>
              <a:sym typeface="Arial"/>
            </a:endParaRPr>
          </a:p>
        </p:txBody>
      </p:sp>
      <p:sp>
        <p:nvSpPr>
          <p:cNvPr id="850" name="Google Shape;850;h3b1f15762288d989_2_37"/>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1" name="Google Shape;851;h3b1f15762288d989_2_37"/>
          <p:cNvSpPr txBox="1"/>
          <p:nvPr/>
        </p:nvSpPr>
        <p:spPr>
          <a:xfrm>
            <a:off x="85953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852" name="Google Shape;852;h3b1f15762288d989_2_37"/>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3" name="Google Shape;853;h3b1f15762288d989_2_37"/>
          <p:cNvSpPr txBox="1"/>
          <p:nvPr/>
        </p:nvSpPr>
        <p:spPr>
          <a:xfrm>
            <a:off x="2697479"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854" name="Google Shape;854;h3b1f15762288d989_2_37"/>
          <p:cNvSpPr/>
          <p:nvPr/>
        </p:nvSpPr>
        <p:spPr>
          <a:xfrm>
            <a:off x="4480559"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5" name="Google Shape;855;h3b1f15762288d989_2_37"/>
          <p:cNvSpPr txBox="1"/>
          <p:nvPr/>
        </p:nvSpPr>
        <p:spPr>
          <a:xfrm>
            <a:off x="4535423"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856" name="Google Shape;856;h3b1f15762288d989_2_37"/>
          <p:cNvSpPr/>
          <p:nvPr/>
        </p:nvSpPr>
        <p:spPr>
          <a:xfrm>
            <a:off x="6318503"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7" name="Google Shape;857;h3b1f15762288d989_2_37"/>
          <p:cNvSpPr txBox="1"/>
          <p:nvPr/>
        </p:nvSpPr>
        <p:spPr>
          <a:xfrm>
            <a:off x="6373367"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858" name="Google Shape;858;h3b1f15762288d989_2_37"/>
          <p:cNvSpPr/>
          <p:nvPr/>
        </p:nvSpPr>
        <p:spPr>
          <a:xfrm>
            <a:off x="8156448"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9" name="Google Shape;859;h3b1f15762288d989_2_37"/>
          <p:cNvSpPr txBox="1"/>
          <p:nvPr/>
        </p:nvSpPr>
        <p:spPr>
          <a:xfrm>
            <a:off x="8211312"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860" name="Google Shape;860;h3b1f15762288d989_2_37"/>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1" name="Google Shape;861;h3b1f15762288d989_2_37"/>
          <p:cNvSpPr txBox="1"/>
          <p:nvPr/>
        </p:nvSpPr>
        <p:spPr>
          <a:xfrm>
            <a:off x="1004925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sp>
        <p:nvSpPr>
          <p:cNvPr id="862" name="Google Shape;862;h3b1f15762288d989_2_37"/>
          <p:cNvSpPr/>
          <p:nvPr/>
        </p:nvSpPr>
        <p:spPr>
          <a:xfrm>
            <a:off x="690625" y="1765393"/>
            <a:ext cx="5193900" cy="2469000"/>
          </a:xfrm>
          <a:prstGeom prst="roundRect">
            <a:avLst>
              <a:gd fmla="val 16667" name="adj"/>
            </a:avLst>
          </a:prstGeom>
          <a:solidFill>
            <a:srgbClr val="FFFFFF"/>
          </a:solidFill>
          <a:ln cap="flat" cmpd="sng" w="12700">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3" name="Google Shape;863;h3b1f15762288d989_2_37"/>
          <p:cNvSpPr txBox="1"/>
          <p:nvPr/>
        </p:nvSpPr>
        <p:spPr>
          <a:xfrm>
            <a:off x="919225" y="1948273"/>
            <a:ext cx="457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40" u="none" cap="none" strike="noStrike">
                <a:solidFill>
                  <a:srgbClr val="0B6E4F"/>
                </a:solidFill>
                <a:latin typeface="Consolas"/>
                <a:ea typeface="Consolas"/>
                <a:cs typeface="Consolas"/>
                <a:sym typeface="Consolas"/>
              </a:rPr>
              <a:t>STRUCTURAL ERROR · GRAPH CHECKS</a:t>
            </a:r>
            <a:endParaRPr/>
          </a:p>
        </p:txBody>
      </p:sp>
      <p:sp>
        <p:nvSpPr>
          <p:cNvPr id="864" name="Google Shape;864;h3b1f15762288d989_2_37"/>
          <p:cNvSpPr txBox="1"/>
          <p:nvPr/>
        </p:nvSpPr>
        <p:spPr>
          <a:xfrm>
            <a:off x="919225" y="2451193"/>
            <a:ext cx="457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30" u="none" cap="none" strike="noStrike">
                <a:solidFill>
                  <a:srgbClr val="5B6770"/>
                </a:solidFill>
                <a:latin typeface="Calibri"/>
                <a:ea typeface="Calibri"/>
                <a:cs typeface="Calibri"/>
                <a:sym typeface="Calibri"/>
              </a:rPr>
              <a:t>Later table </a:t>
            </a:r>
            <a:r>
              <a:rPr b="1" lang="en-US" sz="1540">
                <a:solidFill>
                  <a:srgbClr val="0B6E4F"/>
                </a:solidFill>
                <a:latin typeface="Consolas"/>
                <a:ea typeface="Consolas"/>
                <a:cs typeface="Consolas"/>
                <a:sym typeface="Consolas"/>
              </a:rPr>
              <a:t>lab_result</a:t>
            </a:r>
            <a:r>
              <a:rPr b="0" i="0" lang="en-US" sz="1430" u="none" cap="none" strike="noStrike">
                <a:solidFill>
                  <a:srgbClr val="5B6770"/>
                </a:solidFill>
                <a:latin typeface="Calibri"/>
                <a:ea typeface="Calibri"/>
                <a:cs typeface="Calibri"/>
                <a:sym typeface="Calibri"/>
              </a:rPr>
              <a:t> </a:t>
            </a:r>
            <a:r>
              <a:rPr b="1" i="0" lang="en-US" sz="1430" u="none" cap="none" strike="noStrike">
                <a:solidFill>
                  <a:srgbClr val="5B6770"/>
                </a:solidFill>
                <a:latin typeface="Calibri"/>
                <a:ea typeface="Calibri"/>
                <a:cs typeface="Calibri"/>
                <a:sym typeface="Calibri"/>
              </a:rPr>
              <a:t>reuses</a:t>
            </a:r>
            <a:r>
              <a:rPr b="0" i="0" lang="en-US" sz="1430" u="none" cap="none" strike="noStrike">
                <a:solidFill>
                  <a:srgbClr val="5B6770"/>
                </a:solidFill>
                <a:latin typeface="Calibri"/>
                <a:ea typeface="Calibri"/>
                <a:cs typeface="Calibri"/>
                <a:sym typeface="Calibri"/>
              </a:rPr>
              <a:t> a core property:</a:t>
            </a:r>
            <a:endParaRPr/>
          </a:p>
        </p:txBody>
      </p:sp>
      <p:sp>
        <p:nvSpPr>
          <p:cNvPr id="865" name="Google Shape;865;h3b1f15762288d989_2_37"/>
          <p:cNvSpPr/>
          <p:nvPr/>
        </p:nvSpPr>
        <p:spPr>
          <a:xfrm>
            <a:off x="919225" y="2807809"/>
            <a:ext cx="4572000" cy="375000"/>
          </a:xfrm>
          <a:prstGeom prst="rect">
            <a:avLst/>
          </a:prstGeom>
          <a:solidFill>
            <a:srgbClr val="FBE9E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6" name="Google Shape;866;h3b1f15762288d989_2_37"/>
          <p:cNvSpPr txBox="1"/>
          <p:nvPr/>
        </p:nvSpPr>
        <p:spPr>
          <a:xfrm>
            <a:off x="1056385" y="2891519"/>
            <a:ext cx="42429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B23A1E"/>
                </a:solidFill>
                <a:latin typeface="Consolas"/>
                <a:ea typeface="Consolas"/>
                <a:cs typeface="Consolas"/>
                <a:sym typeface="Consolas"/>
              </a:rPr>
              <a:t>ObjectProperty:</a:t>
            </a:r>
            <a:r>
              <a:rPr b="0" i="0" lang="en-US" sz="1200" u="none" cap="none" strike="noStrike">
                <a:solidFill>
                  <a:srgbClr val="B23A1E"/>
                </a:solidFill>
                <a:latin typeface="Consolas"/>
                <a:ea typeface="Consolas"/>
                <a:cs typeface="Consolas"/>
                <a:sym typeface="Consolas"/>
              </a:rPr>
              <a:t> hasPatientData  </a:t>
            </a:r>
            <a:r>
              <a:rPr b="1" i="0" lang="en-US" sz="1200" u="none" cap="none" strike="noStrike">
                <a:solidFill>
                  <a:srgbClr val="B23A1E"/>
                </a:solidFill>
                <a:latin typeface="Consolas"/>
                <a:ea typeface="Consolas"/>
                <a:cs typeface="Consolas"/>
                <a:sym typeface="Consolas"/>
              </a:rPr>
              <a:t>Domain:</a:t>
            </a:r>
            <a:r>
              <a:rPr b="0" i="0" lang="en-US" sz="1200" u="none" cap="none" strike="noStrike">
                <a:solidFill>
                  <a:srgbClr val="B23A1E"/>
                </a:solidFill>
                <a:latin typeface="Consolas"/>
                <a:ea typeface="Consolas"/>
                <a:cs typeface="Consolas"/>
                <a:sym typeface="Consolas"/>
              </a:rPr>
              <a:t> LabResult</a:t>
            </a:r>
            <a:endParaRPr/>
          </a:p>
        </p:txBody>
      </p:sp>
      <p:sp>
        <p:nvSpPr>
          <p:cNvPr id="867" name="Google Shape;867;h3b1f15762288d989_2_37"/>
          <p:cNvSpPr txBox="1"/>
          <p:nvPr/>
        </p:nvSpPr>
        <p:spPr>
          <a:xfrm>
            <a:off x="919225" y="3457409"/>
            <a:ext cx="4572000" cy="646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u="none" cap="none" strike="noStrike">
                <a:solidFill>
                  <a:srgbClr val="1F2328"/>
                </a:solidFill>
                <a:latin typeface="Calibri"/>
                <a:ea typeface="Calibri"/>
                <a:cs typeface="Calibri"/>
                <a:sym typeface="Calibri"/>
              </a:rPr>
              <a:t>Merged with </a:t>
            </a:r>
            <a:r>
              <a:rPr b="1" lang="en-US">
                <a:solidFill>
                  <a:srgbClr val="0B6E4F"/>
                </a:solidFill>
                <a:latin typeface="Consolas"/>
                <a:ea typeface="Consolas"/>
                <a:cs typeface="Consolas"/>
                <a:sym typeface="Consolas"/>
              </a:rPr>
              <a:t>PatientData Domain: Admission</a:t>
            </a:r>
            <a:r>
              <a:rPr b="0" i="0" lang="en-US" u="none" cap="none" strike="noStrike">
                <a:solidFill>
                  <a:srgbClr val="1F2328"/>
                </a:solidFill>
                <a:latin typeface="Calibri"/>
                <a:ea typeface="Calibri"/>
                <a:cs typeface="Calibri"/>
                <a:sym typeface="Calibri"/>
              </a:rPr>
              <a:t>, OWL infers that every lab result is an admission (pitfall P19). Graph checks allow </a:t>
            </a:r>
            <a:r>
              <a:rPr b="1" i="0" lang="en-US" u="none" cap="none" strike="noStrike">
                <a:solidFill>
                  <a:srgbClr val="1F2328"/>
                </a:solidFill>
                <a:latin typeface="Calibri"/>
                <a:ea typeface="Calibri"/>
                <a:cs typeface="Calibri"/>
                <a:sym typeface="Calibri"/>
              </a:rPr>
              <a:t>one domain per property</a:t>
            </a:r>
            <a:r>
              <a:rPr b="0" i="0" lang="en-US" u="none" cap="none" strike="noStrike">
                <a:solidFill>
                  <a:srgbClr val="1F2328"/>
                </a:solidFill>
                <a:latin typeface="Calibri"/>
                <a:ea typeface="Calibri"/>
                <a:cs typeface="Calibri"/>
                <a:sym typeface="Calibri"/>
              </a:rPr>
              <a:t>.</a:t>
            </a:r>
            <a:endParaRPr/>
          </a:p>
        </p:txBody>
      </p:sp>
      <p:pic>
        <p:nvPicPr>
          <p:cNvPr id="868" name="Google Shape;868;h3b1f15762288d989_2_37" title="graph_checks_icon.png"/>
          <p:cNvPicPr preferRelativeResize="0"/>
          <p:nvPr/>
        </p:nvPicPr>
        <p:blipFill rotWithShape="1">
          <a:blip r:embed="rId3">
            <a:alphaModFix/>
          </a:blip>
          <a:srcRect b="19469" l="4324" r="13635" t="18031"/>
          <a:stretch/>
        </p:blipFill>
        <p:spPr>
          <a:xfrm>
            <a:off x="4682434" y="1948275"/>
            <a:ext cx="981848" cy="74794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3" name="Shape 873"/>
        <p:cNvGrpSpPr/>
        <p:nvPr/>
      </p:nvGrpSpPr>
      <p:grpSpPr>
        <a:xfrm>
          <a:off x="0" y="0"/>
          <a:ext cx="0" cy="0"/>
          <a:chOff x="0" y="0"/>
          <a:chExt cx="0" cy="0"/>
        </a:xfrm>
      </p:grpSpPr>
      <p:sp>
        <p:nvSpPr>
          <p:cNvPr id="874" name="Google Shape;874;h3b1f15762288d989_2_79"/>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5 / VALIDATE</a:t>
            </a:r>
            <a:endParaRPr b="0" i="0" sz="1400" u="none" cap="none" strike="noStrike">
              <a:solidFill>
                <a:srgbClr val="000000"/>
              </a:solidFill>
              <a:latin typeface="Arial"/>
              <a:ea typeface="Arial"/>
              <a:cs typeface="Arial"/>
              <a:sym typeface="Arial"/>
            </a:endParaRPr>
          </a:p>
        </p:txBody>
      </p:sp>
      <p:sp>
        <p:nvSpPr>
          <p:cNvPr id="875" name="Google Shape;875;h3b1f15762288d989_2_79"/>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Why validate? Plausible fragments can still break the ontology.</a:t>
            </a:r>
            <a:endParaRPr b="0" i="0" sz="1400" u="none" cap="none" strike="noStrike">
              <a:solidFill>
                <a:srgbClr val="000000"/>
              </a:solidFill>
              <a:latin typeface="Arial"/>
              <a:ea typeface="Arial"/>
              <a:cs typeface="Arial"/>
              <a:sym typeface="Arial"/>
            </a:endParaRPr>
          </a:p>
        </p:txBody>
      </p:sp>
      <p:sp>
        <p:nvSpPr>
          <p:cNvPr id="876" name="Google Shape;876;h3b1f15762288d989_2_79"/>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7" name="Google Shape;877;h3b1f15762288d989_2_79"/>
          <p:cNvSpPr txBox="1"/>
          <p:nvPr/>
        </p:nvSpPr>
        <p:spPr>
          <a:xfrm>
            <a:off x="85953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878" name="Google Shape;878;h3b1f15762288d989_2_79"/>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9" name="Google Shape;879;h3b1f15762288d989_2_79"/>
          <p:cNvSpPr txBox="1"/>
          <p:nvPr/>
        </p:nvSpPr>
        <p:spPr>
          <a:xfrm>
            <a:off x="2697479"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880" name="Google Shape;880;h3b1f15762288d989_2_79"/>
          <p:cNvSpPr/>
          <p:nvPr/>
        </p:nvSpPr>
        <p:spPr>
          <a:xfrm>
            <a:off x="4480559"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1" name="Google Shape;881;h3b1f15762288d989_2_79"/>
          <p:cNvSpPr txBox="1"/>
          <p:nvPr/>
        </p:nvSpPr>
        <p:spPr>
          <a:xfrm>
            <a:off x="4535423"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882" name="Google Shape;882;h3b1f15762288d989_2_79"/>
          <p:cNvSpPr/>
          <p:nvPr/>
        </p:nvSpPr>
        <p:spPr>
          <a:xfrm>
            <a:off x="6318503"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3" name="Google Shape;883;h3b1f15762288d989_2_79"/>
          <p:cNvSpPr txBox="1"/>
          <p:nvPr/>
        </p:nvSpPr>
        <p:spPr>
          <a:xfrm>
            <a:off x="6373367"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884" name="Google Shape;884;h3b1f15762288d989_2_79"/>
          <p:cNvSpPr/>
          <p:nvPr/>
        </p:nvSpPr>
        <p:spPr>
          <a:xfrm>
            <a:off x="8156448"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5" name="Google Shape;885;h3b1f15762288d989_2_79"/>
          <p:cNvSpPr txBox="1"/>
          <p:nvPr/>
        </p:nvSpPr>
        <p:spPr>
          <a:xfrm>
            <a:off x="8211312"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886" name="Google Shape;886;h3b1f15762288d989_2_79"/>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7" name="Google Shape;887;h3b1f15762288d989_2_79"/>
          <p:cNvSpPr txBox="1"/>
          <p:nvPr/>
        </p:nvSpPr>
        <p:spPr>
          <a:xfrm>
            <a:off x="1004925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sp>
        <p:nvSpPr>
          <p:cNvPr id="888" name="Google Shape;888;h3b1f15762288d989_2_79"/>
          <p:cNvSpPr/>
          <p:nvPr/>
        </p:nvSpPr>
        <p:spPr>
          <a:xfrm>
            <a:off x="690625" y="1765393"/>
            <a:ext cx="5193900" cy="2469000"/>
          </a:xfrm>
          <a:prstGeom prst="roundRect">
            <a:avLst>
              <a:gd fmla="val 16667" name="adj"/>
            </a:avLst>
          </a:prstGeom>
          <a:solidFill>
            <a:srgbClr val="FFFFFF"/>
          </a:solidFill>
          <a:ln cap="flat" cmpd="sng" w="12700">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89" name="Google Shape;889;h3b1f15762288d989_2_79"/>
          <p:cNvSpPr txBox="1"/>
          <p:nvPr/>
        </p:nvSpPr>
        <p:spPr>
          <a:xfrm>
            <a:off x="919225" y="1948273"/>
            <a:ext cx="457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40" u="none" cap="none" strike="noStrike">
                <a:solidFill>
                  <a:srgbClr val="0B6E4F"/>
                </a:solidFill>
                <a:latin typeface="Consolas"/>
                <a:ea typeface="Consolas"/>
                <a:cs typeface="Consolas"/>
                <a:sym typeface="Consolas"/>
              </a:rPr>
              <a:t>STRUCTURAL ERROR · GRAPH CHECKS</a:t>
            </a:r>
            <a:endParaRPr/>
          </a:p>
        </p:txBody>
      </p:sp>
      <p:sp>
        <p:nvSpPr>
          <p:cNvPr id="890" name="Google Shape;890;h3b1f15762288d989_2_79"/>
          <p:cNvSpPr txBox="1"/>
          <p:nvPr/>
        </p:nvSpPr>
        <p:spPr>
          <a:xfrm>
            <a:off x="919225" y="2451193"/>
            <a:ext cx="457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30" u="none" cap="none" strike="noStrike">
                <a:solidFill>
                  <a:srgbClr val="5B6770"/>
                </a:solidFill>
                <a:latin typeface="Calibri"/>
                <a:ea typeface="Calibri"/>
                <a:cs typeface="Calibri"/>
                <a:sym typeface="Calibri"/>
              </a:rPr>
              <a:t>Later table </a:t>
            </a:r>
            <a:r>
              <a:rPr b="1" lang="en-US" sz="1540">
                <a:solidFill>
                  <a:srgbClr val="0B6E4F"/>
                </a:solidFill>
                <a:latin typeface="Consolas"/>
                <a:ea typeface="Consolas"/>
                <a:cs typeface="Consolas"/>
                <a:sym typeface="Consolas"/>
              </a:rPr>
              <a:t>lab_result</a:t>
            </a:r>
            <a:r>
              <a:rPr b="0" i="0" lang="en-US" sz="1430" u="none" cap="none" strike="noStrike">
                <a:solidFill>
                  <a:srgbClr val="5B6770"/>
                </a:solidFill>
                <a:latin typeface="Calibri"/>
                <a:ea typeface="Calibri"/>
                <a:cs typeface="Calibri"/>
                <a:sym typeface="Calibri"/>
              </a:rPr>
              <a:t> </a:t>
            </a:r>
            <a:r>
              <a:rPr b="1" i="0" lang="en-US" sz="1430" u="none" cap="none" strike="noStrike">
                <a:solidFill>
                  <a:srgbClr val="5B6770"/>
                </a:solidFill>
                <a:latin typeface="Calibri"/>
                <a:ea typeface="Calibri"/>
                <a:cs typeface="Calibri"/>
                <a:sym typeface="Calibri"/>
              </a:rPr>
              <a:t>reuses</a:t>
            </a:r>
            <a:r>
              <a:rPr b="0" i="0" lang="en-US" sz="1430" u="none" cap="none" strike="noStrike">
                <a:solidFill>
                  <a:srgbClr val="5B6770"/>
                </a:solidFill>
                <a:latin typeface="Calibri"/>
                <a:ea typeface="Calibri"/>
                <a:cs typeface="Calibri"/>
                <a:sym typeface="Calibri"/>
              </a:rPr>
              <a:t> a core property:</a:t>
            </a:r>
            <a:endParaRPr/>
          </a:p>
        </p:txBody>
      </p:sp>
      <p:sp>
        <p:nvSpPr>
          <p:cNvPr id="891" name="Google Shape;891;h3b1f15762288d989_2_79"/>
          <p:cNvSpPr/>
          <p:nvPr/>
        </p:nvSpPr>
        <p:spPr>
          <a:xfrm>
            <a:off x="919225" y="2807809"/>
            <a:ext cx="4572000" cy="375000"/>
          </a:xfrm>
          <a:prstGeom prst="rect">
            <a:avLst/>
          </a:prstGeom>
          <a:solidFill>
            <a:srgbClr val="FBE9E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2" name="Google Shape;892;h3b1f15762288d989_2_79"/>
          <p:cNvSpPr txBox="1"/>
          <p:nvPr/>
        </p:nvSpPr>
        <p:spPr>
          <a:xfrm>
            <a:off x="1056385" y="2891519"/>
            <a:ext cx="42429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B23A1E"/>
                </a:solidFill>
                <a:latin typeface="Consolas"/>
                <a:ea typeface="Consolas"/>
                <a:cs typeface="Consolas"/>
                <a:sym typeface="Consolas"/>
              </a:rPr>
              <a:t>ObjectProperty:</a:t>
            </a:r>
            <a:r>
              <a:rPr b="0" i="0" lang="en-US" sz="1200" u="none" cap="none" strike="noStrike">
                <a:solidFill>
                  <a:srgbClr val="B23A1E"/>
                </a:solidFill>
                <a:latin typeface="Consolas"/>
                <a:ea typeface="Consolas"/>
                <a:cs typeface="Consolas"/>
                <a:sym typeface="Consolas"/>
              </a:rPr>
              <a:t> hasPatientData  </a:t>
            </a:r>
            <a:r>
              <a:rPr b="1" i="0" lang="en-US" sz="1200" u="none" cap="none" strike="noStrike">
                <a:solidFill>
                  <a:srgbClr val="B23A1E"/>
                </a:solidFill>
                <a:latin typeface="Consolas"/>
                <a:ea typeface="Consolas"/>
                <a:cs typeface="Consolas"/>
                <a:sym typeface="Consolas"/>
              </a:rPr>
              <a:t>Domain:</a:t>
            </a:r>
            <a:r>
              <a:rPr b="0" i="0" lang="en-US" sz="1200" u="none" cap="none" strike="noStrike">
                <a:solidFill>
                  <a:srgbClr val="B23A1E"/>
                </a:solidFill>
                <a:latin typeface="Consolas"/>
                <a:ea typeface="Consolas"/>
                <a:cs typeface="Consolas"/>
                <a:sym typeface="Consolas"/>
              </a:rPr>
              <a:t> LabResult</a:t>
            </a:r>
            <a:endParaRPr/>
          </a:p>
        </p:txBody>
      </p:sp>
      <p:sp>
        <p:nvSpPr>
          <p:cNvPr id="893" name="Google Shape;893;h3b1f15762288d989_2_79"/>
          <p:cNvSpPr txBox="1"/>
          <p:nvPr/>
        </p:nvSpPr>
        <p:spPr>
          <a:xfrm>
            <a:off x="919225" y="3457409"/>
            <a:ext cx="4572000" cy="646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u="none" cap="none" strike="noStrike">
                <a:solidFill>
                  <a:srgbClr val="1F2328"/>
                </a:solidFill>
                <a:latin typeface="Calibri"/>
                <a:ea typeface="Calibri"/>
                <a:cs typeface="Calibri"/>
                <a:sym typeface="Calibri"/>
              </a:rPr>
              <a:t>Merged with </a:t>
            </a:r>
            <a:r>
              <a:rPr b="1" lang="en-US">
                <a:solidFill>
                  <a:srgbClr val="0B6E4F"/>
                </a:solidFill>
                <a:latin typeface="Consolas"/>
                <a:ea typeface="Consolas"/>
                <a:cs typeface="Consolas"/>
                <a:sym typeface="Consolas"/>
              </a:rPr>
              <a:t>PatientData Domain: Admission</a:t>
            </a:r>
            <a:r>
              <a:rPr b="0" i="0" lang="en-US" u="none" cap="none" strike="noStrike">
                <a:solidFill>
                  <a:srgbClr val="1F2328"/>
                </a:solidFill>
                <a:latin typeface="Calibri"/>
                <a:ea typeface="Calibri"/>
                <a:cs typeface="Calibri"/>
                <a:sym typeface="Calibri"/>
              </a:rPr>
              <a:t>, OWL infers that every lab result is an admission (pitfall P19). Graph checks allow </a:t>
            </a:r>
            <a:r>
              <a:rPr b="1" i="0" lang="en-US" u="none" cap="none" strike="noStrike">
                <a:solidFill>
                  <a:srgbClr val="1F2328"/>
                </a:solidFill>
                <a:latin typeface="Calibri"/>
                <a:ea typeface="Calibri"/>
                <a:cs typeface="Calibri"/>
                <a:sym typeface="Calibri"/>
              </a:rPr>
              <a:t>one domain per property</a:t>
            </a:r>
            <a:r>
              <a:rPr b="0" i="0" lang="en-US" u="none" cap="none" strike="noStrike">
                <a:solidFill>
                  <a:srgbClr val="1F2328"/>
                </a:solidFill>
                <a:latin typeface="Calibri"/>
                <a:ea typeface="Calibri"/>
                <a:cs typeface="Calibri"/>
                <a:sym typeface="Calibri"/>
              </a:rPr>
              <a:t>.</a:t>
            </a:r>
            <a:endParaRPr/>
          </a:p>
        </p:txBody>
      </p:sp>
      <p:pic>
        <p:nvPicPr>
          <p:cNvPr id="894" name="Google Shape;894;h3b1f15762288d989_2_79" title="graph_checks_icon.png"/>
          <p:cNvPicPr preferRelativeResize="0"/>
          <p:nvPr/>
        </p:nvPicPr>
        <p:blipFill rotWithShape="1">
          <a:blip r:embed="rId3">
            <a:alphaModFix/>
          </a:blip>
          <a:srcRect b="19469" l="4324" r="13635" t="18031"/>
          <a:stretch/>
        </p:blipFill>
        <p:spPr>
          <a:xfrm>
            <a:off x="4682434" y="1948275"/>
            <a:ext cx="981848" cy="747949"/>
          </a:xfrm>
          <a:prstGeom prst="rect">
            <a:avLst/>
          </a:prstGeom>
          <a:noFill/>
          <a:ln>
            <a:noFill/>
          </a:ln>
        </p:spPr>
      </p:pic>
      <p:sp>
        <p:nvSpPr>
          <p:cNvPr id="895" name="Google Shape;895;h3b1f15762288d989_2_79"/>
          <p:cNvSpPr/>
          <p:nvPr/>
        </p:nvSpPr>
        <p:spPr>
          <a:xfrm>
            <a:off x="6062420" y="1765393"/>
            <a:ext cx="5193900" cy="2469000"/>
          </a:xfrm>
          <a:prstGeom prst="roundRect">
            <a:avLst>
              <a:gd fmla="val 16667" name="adj"/>
            </a:avLst>
          </a:prstGeom>
          <a:solidFill>
            <a:srgbClr val="FFFFFF"/>
          </a:solidFill>
          <a:ln cap="flat" cmpd="sng" w="12700">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6" name="Google Shape;896;h3b1f15762288d989_2_79"/>
          <p:cNvSpPr txBox="1"/>
          <p:nvPr/>
        </p:nvSpPr>
        <p:spPr>
          <a:xfrm>
            <a:off x="6291020" y="1948273"/>
            <a:ext cx="46269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600" u="none" cap="none" strike="noStrike">
                <a:solidFill>
                  <a:srgbClr val="0B6E4F"/>
                </a:solidFill>
                <a:latin typeface="Consolas"/>
                <a:ea typeface="Consolas"/>
                <a:cs typeface="Consolas"/>
                <a:sym typeface="Consolas"/>
              </a:rPr>
              <a:t>SEMANTIC ERROR · JUDGE-LLM</a:t>
            </a:r>
            <a:endParaRPr/>
          </a:p>
        </p:txBody>
      </p:sp>
      <p:sp>
        <p:nvSpPr>
          <p:cNvPr id="897" name="Google Shape;897;h3b1f15762288d989_2_79"/>
          <p:cNvSpPr txBox="1"/>
          <p:nvPr/>
        </p:nvSpPr>
        <p:spPr>
          <a:xfrm>
            <a:off x="6300164" y="2451193"/>
            <a:ext cx="46176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u="none" cap="none" strike="noStrike">
                <a:solidFill>
                  <a:srgbClr val="5B6770"/>
                </a:solidFill>
                <a:latin typeface="Calibri"/>
                <a:ea typeface="Calibri"/>
                <a:cs typeface="Calibri"/>
                <a:sym typeface="Calibri"/>
              </a:rPr>
              <a:t>Generated link for </a:t>
            </a:r>
            <a:r>
              <a:rPr b="1" lang="en-US">
                <a:solidFill>
                  <a:srgbClr val="0B6E4F"/>
                </a:solidFill>
                <a:latin typeface="Consolas"/>
                <a:ea typeface="Consolas"/>
                <a:cs typeface="Consolas"/>
                <a:sym typeface="Consolas"/>
              </a:rPr>
              <a:t>admission</a:t>
            </a:r>
            <a:r>
              <a:rPr b="0" i="0" lang="en-US" u="none" cap="none" strike="noStrike">
                <a:solidFill>
                  <a:srgbClr val="5B6770"/>
                </a:solidFill>
                <a:latin typeface="Calibri"/>
                <a:ea typeface="Calibri"/>
                <a:cs typeface="Calibri"/>
                <a:sym typeface="Calibri"/>
              </a:rPr>
              <a:t>:</a:t>
            </a:r>
            <a:endParaRPr/>
          </a:p>
        </p:txBody>
      </p:sp>
      <p:sp>
        <p:nvSpPr>
          <p:cNvPr id="898" name="Google Shape;898;h3b1f15762288d989_2_79"/>
          <p:cNvSpPr/>
          <p:nvPr/>
        </p:nvSpPr>
        <p:spPr>
          <a:xfrm>
            <a:off x="6300164" y="2807809"/>
            <a:ext cx="4563000" cy="375000"/>
          </a:xfrm>
          <a:prstGeom prst="rect">
            <a:avLst/>
          </a:prstGeom>
          <a:solidFill>
            <a:srgbClr val="FBE9E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9" name="Google Shape;899;h3b1f15762288d989_2_79"/>
          <p:cNvSpPr txBox="1"/>
          <p:nvPr/>
        </p:nvSpPr>
        <p:spPr>
          <a:xfrm>
            <a:off x="6373316" y="2891519"/>
            <a:ext cx="44349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B23A1E"/>
                </a:solidFill>
                <a:latin typeface="Consolas"/>
                <a:ea typeface="Consolas"/>
                <a:cs typeface="Consolas"/>
                <a:sym typeface="Consolas"/>
              </a:rPr>
              <a:t>ObjectProperty:</a:t>
            </a:r>
            <a:r>
              <a:rPr b="0" i="0" lang="en-US" sz="1200" u="none" cap="none" strike="noStrike">
                <a:solidFill>
                  <a:srgbClr val="B23A1E"/>
                </a:solidFill>
                <a:latin typeface="Consolas"/>
                <a:ea typeface="Consolas"/>
                <a:cs typeface="Consolas"/>
                <a:sym typeface="Consolas"/>
              </a:rPr>
              <a:t> hasPatient  </a:t>
            </a:r>
            <a:r>
              <a:rPr b="1" i="0" lang="en-US" sz="1200" u="none" cap="none" strike="noStrike">
                <a:solidFill>
                  <a:srgbClr val="B23A1E"/>
                </a:solidFill>
                <a:latin typeface="Consolas"/>
                <a:ea typeface="Consolas"/>
                <a:cs typeface="Consolas"/>
                <a:sym typeface="Consolas"/>
              </a:rPr>
              <a:t>Range:</a:t>
            </a:r>
            <a:r>
              <a:rPr b="0" i="0" lang="en-US" sz="1200" u="none" cap="none" strike="noStrike">
                <a:solidFill>
                  <a:srgbClr val="B23A1E"/>
                </a:solidFill>
                <a:latin typeface="Consolas"/>
                <a:ea typeface="Consolas"/>
                <a:cs typeface="Consolas"/>
                <a:sym typeface="Consolas"/>
              </a:rPr>
              <a:t> Patient</a:t>
            </a:r>
            <a:endParaRPr/>
          </a:p>
        </p:txBody>
      </p:sp>
      <p:sp>
        <p:nvSpPr>
          <p:cNvPr id="900" name="Google Shape;900;h3b1f15762288d989_2_79"/>
          <p:cNvSpPr txBox="1"/>
          <p:nvPr/>
        </p:nvSpPr>
        <p:spPr>
          <a:xfrm>
            <a:off x="6300164" y="3445625"/>
            <a:ext cx="4572000" cy="646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u="none" cap="none" strike="noStrike">
                <a:solidFill>
                  <a:srgbClr val="1F2328"/>
                </a:solidFill>
                <a:latin typeface="Calibri"/>
                <a:ea typeface="Calibri"/>
                <a:cs typeface="Calibri"/>
                <a:sym typeface="Calibri"/>
              </a:rPr>
              <a:t>Valid OWL, but the </a:t>
            </a:r>
            <a:r>
              <a:rPr b="1" i="0" lang="en-US" u="none" cap="none" strike="noStrike">
                <a:solidFill>
                  <a:srgbClr val="1F2328"/>
                </a:solidFill>
                <a:latin typeface="Calibri"/>
                <a:ea typeface="Calibri"/>
                <a:cs typeface="Calibri"/>
                <a:sym typeface="Calibri"/>
              </a:rPr>
              <a:t>core ontology</a:t>
            </a:r>
            <a:r>
              <a:rPr b="0" i="0" lang="en-US" u="none" cap="none" strike="noStrike">
                <a:solidFill>
                  <a:srgbClr val="1F2328"/>
                </a:solidFill>
                <a:latin typeface="Calibri"/>
                <a:ea typeface="Calibri"/>
                <a:cs typeface="Calibri"/>
                <a:sym typeface="Calibri"/>
              </a:rPr>
              <a:t> already has </a:t>
            </a:r>
            <a:r>
              <a:rPr b="1" lang="en-US">
                <a:solidFill>
                  <a:srgbClr val="0B6E4F"/>
                </a:solidFill>
                <a:latin typeface="Consolas"/>
                <a:ea typeface="Consolas"/>
                <a:cs typeface="Consolas"/>
                <a:sym typeface="Consolas"/>
              </a:rPr>
              <a:t>PatientData</a:t>
            </a:r>
            <a:r>
              <a:rPr b="0" i="0" lang="en-US" u="none" cap="none" strike="noStrike">
                <a:solidFill>
                  <a:srgbClr val="1F2328"/>
                </a:solidFill>
                <a:latin typeface="Calibri"/>
                <a:ea typeface="Calibri"/>
                <a:cs typeface="Calibri"/>
                <a:sym typeface="Calibri"/>
              </a:rPr>
              <a:t>, now </a:t>
            </a:r>
            <a:r>
              <a:rPr b="1" i="0" lang="en-US" u="none" cap="none" strike="noStrike">
                <a:solidFill>
                  <a:srgbClr val="1F2328"/>
                </a:solidFill>
                <a:latin typeface="Calibri"/>
                <a:ea typeface="Calibri"/>
                <a:cs typeface="Calibri"/>
                <a:sym typeface="Calibri"/>
              </a:rPr>
              <a:t>two classes</a:t>
            </a:r>
            <a:r>
              <a:rPr b="0" i="0" lang="en-US" u="none" cap="none" strike="noStrike">
                <a:solidFill>
                  <a:srgbClr val="1F2328"/>
                </a:solidFill>
                <a:latin typeface="Calibri"/>
                <a:ea typeface="Calibri"/>
                <a:cs typeface="Calibri"/>
                <a:sym typeface="Calibri"/>
              </a:rPr>
              <a:t> mean the </a:t>
            </a:r>
            <a:r>
              <a:rPr b="1" i="0" lang="en-US" u="none" cap="none" strike="noStrike">
                <a:solidFill>
                  <a:srgbClr val="1F2328"/>
                </a:solidFill>
                <a:latin typeface="Calibri"/>
                <a:ea typeface="Calibri"/>
                <a:cs typeface="Calibri"/>
                <a:sym typeface="Calibri"/>
              </a:rPr>
              <a:t>same thing</a:t>
            </a:r>
            <a:r>
              <a:rPr b="0" i="0" lang="en-US" u="none" cap="none" strike="noStrike">
                <a:solidFill>
                  <a:srgbClr val="1F2328"/>
                </a:solidFill>
                <a:latin typeface="Calibri"/>
                <a:ea typeface="Calibri"/>
                <a:cs typeface="Calibri"/>
                <a:sym typeface="Calibri"/>
              </a:rPr>
              <a:t>. The </a:t>
            </a:r>
            <a:r>
              <a:rPr b="1" lang="en-US">
                <a:solidFill>
                  <a:srgbClr val="0B6E4F"/>
                </a:solidFill>
                <a:latin typeface="Consolas"/>
                <a:ea typeface="Consolas"/>
                <a:cs typeface="Consolas"/>
                <a:sym typeface="Consolas"/>
              </a:rPr>
              <a:t>JUDGE-LLM</a:t>
            </a:r>
            <a:r>
              <a:rPr b="0" i="0" lang="en-US" u="none" cap="none" strike="noStrike">
                <a:solidFill>
                  <a:srgbClr val="1F2328"/>
                </a:solidFill>
                <a:latin typeface="Calibri"/>
                <a:ea typeface="Calibri"/>
                <a:cs typeface="Calibri"/>
                <a:sym typeface="Calibri"/>
              </a:rPr>
              <a:t> sees the core and asks to </a:t>
            </a:r>
            <a:r>
              <a:rPr b="1" i="0" lang="en-US" u="none" cap="none" strike="noStrike">
                <a:solidFill>
                  <a:srgbClr val="1F2328"/>
                </a:solidFill>
                <a:latin typeface="Calibri"/>
                <a:ea typeface="Calibri"/>
                <a:cs typeface="Calibri"/>
                <a:sym typeface="Calibri"/>
              </a:rPr>
              <a:t>reuse</a:t>
            </a:r>
            <a:r>
              <a:rPr b="0" i="0" lang="en-US" u="none" cap="none" strike="noStrike">
                <a:solidFill>
                  <a:srgbClr val="1F2328"/>
                </a:solidFill>
                <a:latin typeface="Calibri"/>
                <a:ea typeface="Calibri"/>
                <a:cs typeface="Calibri"/>
                <a:sym typeface="Calibri"/>
              </a:rPr>
              <a:t> it.</a:t>
            </a:r>
            <a:endParaRPr/>
          </a:p>
        </p:txBody>
      </p:sp>
      <p:pic>
        <p:nvPicPr>
          <p:cNvPr id="901" name="Google Shape;901;h3b1f15762288d989_2_79" title="judge_llm_icon.png"/>
          <p:cNvPicPr preferRelativeResize="0"/>
          <p:nvPr/>
        </p:nvPicPr>
        <p:blipFill rotWithShape="1">
          <a:blip r:embed="rId4">
            <a:alphaModFix/>
          </a:blip>
          <a:srcRect b="12651" l="17110" r="7384" t="12532"/>
          <a:stretch/>
        </p:blipFill>
        <p:spPr>
          <a:xfrm>
            <a:off x="9918570" y="1807675"/>
            <a:ext cx="944597" cy="9358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6" name="Shape 906"/>
        <p:cNvGrpSpPr/>
        <p:nvPr/>
      </p:nvGrpSpPr>
      <p:grpSpPr>
        <a:xfrm>
          <a:off x="0" y="0"/>
          <a:ext cx="0" cy="0"/>
          <a:chOff x="0" y="0"/>
          <a:chExt cx="0" cy="0"/>
        </a:xfrm>
      </p:grpSpPr>
      <p:sp>
        <p:nvSpPr>
          <p:cNvPr id="907" name="Google Shape;907;h3b1f15762288d989_2_114"/>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5 / VALIDATE</a:t>
            </a:r>
            <a:endParaRPr b="0" i="0" sz="1400" u="none" cap="none" strike="noStrike">
              <a:solidFill>
                <a:srgbClr val="000000"/>
              </a:solidFill>
              <a:latin typeface="Arial"/>
              <a:ea typeface="Arial"/>
              <a:cs typeface="Arial"/>
              <a:sym typeface="Arial"/>
            </a:endParaRPr>
          </a:p>
        </p:txBody>
      </p:sp>
      <p:sp>
        <p:nvSpPr>
          <p:cNvPr id="908" name="Google Shape;908;h3b1f15762288d989_2_114"/>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Why validate? Plausible fragments can still break the ontology.</a:t>
            </a:r>
            <a:endParaRPr b="0" i="0" sz="1400" u="none" cap="none" strike="noStrike">
              <a:solidFill>
                <a:srgbClr val="000000"/>
              </a:solidFill>
              <a:latin typeface="Arial"/>
              <a:ea typeface="Arial"/>
              <a:cs typeface="Arial"/>
              <a:sym typeface="Arial"/>
            </a:endParaRPr>
          </a:p>
        </p:txBody>
      </p:sp>
      <p:sp>
        <p:nvSpPr>
          <p:cNvPr id="909" name="Google Shape;909;h3b1f15762288d989_2_114"/>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0" name="Google Shape;910;h3b1f15762288d989_2_114"/>
          <p:cNvSpPr txBox="1"/>
          <p:nvPr/>
        </p:nvSpPr>
        <p:spPr>
          <a:xfrm>
            <a:off x="85953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911" name="Google Shape;911;h3b1f15762288d989_2_114"/>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2" name="Google Shape;912;h3b1f15762288d989_2_114"/>
          <p:cNvSpPr txBox="1"/>
          <p:nvPr/>
        </p:nvSpPr>
        <p:spPr>
          <a:xfrm>
            <a:off x="2697479"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913" name="Google Shape;913;h3b1f15762288d989_2_114"/>
          <p:cNvSpPr/>
          <p:nvPr/>
        </p:nvSpPr>
        <p:spPr>
          <a:xfrm>
            <a:off x="4480559"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4" name="Google Shape;914;h3b1f15762288d989_2_114"/>
          <p:cNvSpPr txBox="1"/>
          <p:nvPr/>
        </p:nvSpPr>
        <p:spPr>
          <a:xfrm>
            <a:off x="4535423"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915" name="Google Shape;915;h3b1f15762288d989_2_114"/>
          <p:cNvSpPr/>
          <p:nvPr/>
        </p:nvSpPr>
        <p:spPr>
          <a:xfrm>
            <a:off x="6318503"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6" name="Google Shape;916;h3b1f15762288d989_2_114"/>
          <p:cNvSpPr txBox="1"/>
          <p:nvPr/>
        </p:nvSpPr>
        <p:spPr>
          <a:xfrm>
            <a:off x="6373367"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917" name="Google Shape;917;h3b1f15762288d989_2_114"/>
          <p:cNvSpPr/>
          <p:nvPr/>
        </p:nvSpPr>
        <p:spPr>
          <a:xfrm>
            <a:off x="8156448"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8" name="Google Shape;918;h3b1f15762288d989_2_114"/>
          <p:cNvSpPr txBox="1"/>
          <p:nvPr/>
        </p:nvSpPr>
        <p:spPr>
          <a:xfrm>
            <a:off x="8211312"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919" name="Google Shape;919;h3b1f15762288d989_2_114"/>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0" name="Google Shape;920;h3b1f15762288d989_2_114"/>
          <p:cNvSpPr txBox="1"/>
          <p:nvPr/>
        </p:nvSpPr>
        <p:spPr>
          <a:xfrm>
            <a:off x="1004925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sp>
        <p:nvSpPr>
          <p:cNvPr id="921" name="Google Shape;921;h3b1f15762288d989_2_114"/>
          <p:cNvSpPr/>
          <p:nvPr/>
        </p:nvSpPr>
        <p:spPr>
          <a:xfrm>
            <a:off x="690625" y="1765393"/>
            <a:ext cx="5193900" cy="2469000"/>
          </a:xfrm>
          <a:prstGeom prst="roundRect">
            <a:avLst>
              <a:gd fmla="val 16667" name="adj"/>
            </a:avLst>
          </a:prstGeom>
          <a:solidFill>
            <a:srgbClr val="FFFFFF"/>
          </a:solidFill>
          <a:ln cap="flat" cmpd="sng" w="12700">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2" name="Google Shape;922;h3b1f15762288d989_2_114"/>
          <p:cNvSpPr txBox="1"/>
          <p:nvPr/>
        </p:nvSpPr>
        <p:spPr>
          <a:xfrm>
            <a:off x="919225" y="1948273"/>
            <a:ext cx="457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40" u="none" cap="none" strike="noStrike">
                <a:solidFill>
                  <a:srgbClr val="0B6E4F"/>
                </a:solidFill>
                <a:latin typeface="Consolas"/>
                <a:ea typeface="Consolas"/>
                <a:cs typeface="Consolas"/>
                <a:sym typeface="Consolas"/>
              </a:rPr>
              <a:t>STRUCTURAL ERROR · GRAPH CHECKS</a:t>
            </a:r>
            <a:endParaRPr/>
          </a:p>
        </p:txBody>
      </p:sp>
      <p:sp>
        <p:nvSpPr>
          <p:cNvPr id="923" name="Google Shape;923;h3b1f15762288d989_2_114"/>
          <p:cNvSpPr txBox="1"/>
          <p:nvPr/>
        </p:nvSpPr>
        <p:spPr>
          <a:xfrm>
            <a:off x="919225" y="2451193"/>
            <a:ext cx="457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30" u="none" cap="none" strike="noStrike">
                <a:solidFill>
                  <a:srgbClr val="5B6770"/>
                </a:solidFill>
                <a:latin typeface="Calibri"/>
                <a:ea typeface="Calibri"/>
                <a:cs typeface="Calibri"/>
                <a:sym typeface="Calibri"/>
              </a:rPr>
              <a:t>Later table </a:t>
            </a:r>
            <a:r>
              <a:rPr b="1" lang="en-US" sz="1540">
                <a:solidFill>
                  <a:srgbClr val="0B6E4F"/>
                </a:solidFill>
                <a:latin typeface="Consolas"/>
                <a:ea typeface="Consolas"/>
                <a:cs typeface="Consolas"/>
                <a:sym typeface="Consolas"/>
              </a:rPr>
              <a:t>lab_result</a:t>
            </a:r>
            <a:r>
              <a:rPr b="0" i="0" lang="en-US" sz="1430" u="none" cap="none" strike="noStrike">
                <a:solidFill>
                  <a:srgbClr val="5B6770"/>
                </a:solidFill>
                <a:latin typeface="Calibri"/>
                <a:ea typeface="Calibri"/>
                <a:cs typeface="Calibri"/>
                <a:sym typeface="Calibri"/>
              </a:rPr>
              <a:t> </a:t>
            </a:r>
            <a:r>
              <a:rPr b="1" i="0" lang="en-US" sz="1430" u="none" cap="none" strike="noStrike">
                <a:solidFill>
                  <a:srgbClr val="5B6770"/>
                </a:solidFill>
                <a:latin typeface="Calibri"/>
                <a:ea typeface="Calibri"/>
                <a:cs typeface="Calibri"/>
                <a:sym typeface="Calibri"/>
              </a:rPr>
              <a:t>reuses</a:t>
            </a:r>
            <a:r>
              <a:rPr b="0" i="0" lang="en-US" sz="1430" u="none" cap="none" strike="noStrike">
                <a:solidFill>
                  <a:srgbClr val="5B6770"/>
                </a:solidFill>
                <a:latin typeface="Calibri"/>
                <a:ea typeface="Calibri"/>
                <a:cs typeface="Calibri"/>
                <a:sym typeface="Calibri"/>
              </a:rPr>
              <a:t> a core property:</a:t>
            </a:r>
            <a:endParaRPr/>
          </a:p>
        </p:txBody>
      </p:sp>
      <p:sp>
        <p:nvSpPr>
          <p:cNvPr id="924" name="Google Shape;924;h3b1f15762288d989_2_114"/>
          <p:cNvSpPr/>
          <p:nvPr/>
        </p:nvSpPr>
        <p:spPr>
          <a:xfrm>
            <a:off x="919225" y="2807809"/>
            <a:ext cx="4572000" cy="375000"/>
          </a:xfrm>
          <a:prstGeom prst="rect">
            <a:avLst/>
          </a:prstGeom>
          <a:solidFill>
            <a:srgbClr val="FBE9E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5" name="Google Shape;925;h3b1f15762288d989_2_114"/>
          <p:cNvSpPr txBox="1"/>
          <p:nvPr/>
        </p:nvSpPr>
        <p:spPr>
          <a:xfrm>
            <a:off x="1056385" y="2891519"/>
            <a:ext cx="42429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B23A1E"/>
                </a:solidFill>
                <a:latin typeface="Consolas"/>
                <a:ea typeface="Consolas"/>
                <a:cs typeface="Consolas"/>
                <a:sym typeface="Consolas"/>
              </a:rPr>
              <a:t>ObjectProperty:</a:t>
            </a:r>
            <a:r>
              <a:rPr b="0" i="0" lang="en-US" sz="1200" u="none" cap="none" strike="noStrike">
                <a:solidFill>
                  <a:srgbClr val="B23A1E"/>
                </a:solidFill>
                <a:latin typeface="Consolas"/>
                <a:ea typeface="Consolas"/>
                <a:cs typeface="Consolas"/>
                <a:sym typeface="Consolas"/>
              </a:rPr>
              <a:t> hasPatientData  </a:t>
            </a:r>
            <a:r>
              <a:rPr b="1" i="0" lang="en-US" sz="1200" u="none" cap="none" strike="noStrike">
                <a:solidFill>
                  <a:srgbClr val="B23A1E"/>
                </a:solidFill>
                <a:latin typeface="Consolas"/>
                <a:ea typeface="Consolas"/>
                <a:cs typeface="Consolas"/>
                <a:sym typeface="Consolas"/>
              </a:rPr>
              <a:t>Domain:</a:t>
            </a:r>
            <a:r>
              <a:rPr b="0" i="0" lang="en-US" sz="1200" u="none" cap="none" strike="noStrike">
                <a:solidFill>
                  <a:srgbClr val="B23A1E"/>
                </a:solidFill>
                <a:latin typeface="Consolas"/>
                <a:ea typeface="Consolas"/>
                <a:cs typeface="Consolas"/>
                <a:sym typeface="Consolas"/>
              </a:rPr>
              <a:t> LabResult</a:t>
            </a:r>
            <a:endParaRPr/>
          </a:p>
        </p:txBody>
      </p:sp>
      <p:sp>
        <p:nvSpPr>
          <p:cNvPr id="926" name="Google Shape;926;h3b1f15762288d989_2_114"/>
          <p:cNvSpPr txBox="1"/>
          <p:nvPr/>
        </p:nvSpPr>
        <p:spPr>
          <a:xfrm>
            <a:off x="919225" y="3457409"/>
            <a:ext cx="4572000" cy="646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u="none" cap="none" strike="noStrike">
                <a:solidFill>
                  <a:srgbClr val="1F2328"/>
                </a:solidFill>
                <a:latin typeface="Calibri"/>
                <a:ea typeface="Calibri"/>
                <a:cs typeface="Calibri"/>
                <a:sym typeface="Calibri"/>
              </a:rPr>
              <a:t>Merged with </a:t>
            </a:r>
            <a:r>
              <a:rPr b="1" lang="en-US">
                <a:solidFill>
                  <a:srgbClr val="0B6E4F"/>
                </a:solidFill>
                <a:latin typeface="Consolas"/>
                <a:ea typeface="Consolas"/>
                <a:cs typeface="Consolas"/>
                <a:sym typeface="Consolas"/>
              </a:rPr>
              <a:t>PatientData Domain: Admission</a:t>
            </a:r>
            <a:r>
              <a:rPr b="0" i="0" lang="en-US" u="none" cap="none" strike="noStrike">
                <a:solidFill>
                  <a:srgbClr val="1F2328"/>
                </a:solidFill>
                <a:latin typeface="Calibri"/>
                <a:ea typeface="Calibri"/>
                <a:cs typeface="Calibri"/>
                <a:sym typeface="Calibri"/>
              </a:rPr>
              <a:t>, OWL infers that every lab result is an admission (pitfall P19). Graph checks allow </a:t>
            </a:r>
            <a:r>
              <a:rPr b="1" i="0" lang="en-US" u="none" cap="none" strike="noStrike">
                <a:solidFill>
                  <a:srgbClr val="1F2328"/>
                </a:solidFill>
                <a:latin typeface="Calibri"/>
                <a:ea typeface="Calibri"/>
                <a:cs typeface="Calibri"/>
                <a:sym typeface="Calibri"/>
              </a:rPr>
              <a:t>one domain per property</a:t>
            </a:r>
            <a:r>
              <a:rPr b="0" i="0" lang="en-US" u="none" cap="none" strike="noStrike">
                <a:solidFill>
                  <a:srgbClr val="1F2328"/>
                </a:solidFill>
                <a:latin typeface="Calibri"/>
                <a:ea typeface="Calibri"/>
                <a:cs typeface="Calibri"/>
                <a:sym typeface="Calibri"/>
              </a:rPr>
              <a:t>.</a:t>
            </a:r>
            <a:endParaRPr/>
          </a:p>
        </p:txBody>
      </p:sp>
      <p:sp>
        <p:nvSpPr>
          <p:cNvPr id="927" name="Google Shape;927;h3b1f15762288d989_2_114"/>
          <p:cNvSpPr/>
          <p:nvPr/>
        </p:nvSpPr>
        <p:spPr>
          <a:xfrm>
            <a:off x="841248" y="4718304"/>
            <a:ext cx="10515600" cy="658500"/>
          </a:xfrm>
          <a:prstGeom prst="roundRect">
            <a:avLst>
              <a:gd fmla="val 16667" name="adj"/>
            </a:avLst>
          </a:prstGeom>
          <a:solidFill>
            <a:srgbClr val="E6F2EC"/>
          </a:solidFill>
          <a:ln cap="flat" cmpd="sng" w="9525">
            <a:solidFill>
              <a:srgbClr val="B7D7C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8" name="Google Shape;928;h3b1f15762288d989_2_114"/>
          <p:cNvSpPr txBox="1"/>
          <p:nvPr/>
        </p:nvSpPr>
        <p:spPr>
          <a:xfrm>
            <a:off x="625678" y="7018775"/>
            <a:ext cx="9985200" cy="20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0B6E4F"/>
                </a:solidFill>
                <a:latin typeface="Calibri"/>
                <a:ea typeface="Calibri"/>
                <a:cs typeface="Calibri"/>
                <a:sym typeface="Calibri"/>
              </a:rPr>
              <a:t>CORRECTION   </a:t>
            </a:r>
            <a:r>
              <a:rPr b="1" i="0" lang="en-US" sz="1200" u="none" cap="none" strike="noStrike">
                <a:solidFill>
                  <a:srgbClr val="0B6E4F"/>
                </a:solidFill>
                <a:latin typeface="Consolas"/>
                <a:ea typeface="Consolas"/>
                <a:cs typeface="Consolas"/>
                <a:sym typeface="Consolas"/>
              </a:rPr>
              <a:t>ObjectProperty:</a:t>
            </a:r>
            <a:r>
              <a:rPr b="0" i="0" lang="en-US" sz="1200" u="none" cap="none" strike="noStrike">
                <a:solidFill>
                  <a:srgbClr val="1F2328"/>
                </a:solidFill>
                <a:latin typeface="Consolas"/>
                <a:ea typeface="Consolas"/>
                <a:cs typeface="Consolas"/>
                <a:sym typeface="Consolas"/>
              </a:rPr>
              <a:t> hasPatientData  </a:t>
            </a:r>
            <a:r>
              <a:rPr b="1" i="0" lang="en-US" sz="1200" u="none" cap="none" strike="noStrike">
                <a:solidFill>
                  <a:srgbClr val="0B6E4F"/>
                </a:solidFill>
                <a:latin typeface="Consolas"/>
                <a:ea typeface="Consolas"/>
                <a:cs typeface="Consolas"/>
                <a:sym typeface="Consolas"/>
              </a:rPr>
              <a:t>Range:</a:t>
            </a:r>
            <a:r>
              <a:rPr b="0" i="0" lang="en-US" sz="1200" u="none" cap="none" strike="noStrike">
                <a:solidFill>
                  <a:srgbClr val="1F2328"/>
                </a:solidFill>
                <a:latin typeface="Consolas"/>
                <a:ea typeface="Consolas"/>
                <a:cs typeface="Consolas"/>
                <a:sym typeface="Consolas"/>
              </a:rPr>
              <a:t> PatientData</a:t>
            </a:r>
            <a:r>
              <a:rPr b="0" i="0" lang="en-US" sz="1300" u="none" cap="none" strike="noStrike">
                <a:solidFill>
                  <a:srgbClr val="5B6770"/>
                </a:solidFill>
                <a:latin typeface="Calibri"/>
                <a:ea typeface="Calibri"/>
                <a:cs typeface="Calibri"/>
                <a:sym typeface="Calibri"/>
              </a:rPr>
              <a:t>    |    </a:t>
            </a:r>
            <a:r>
              <a:rPr b="1" i="0" lang="en-US" sz="1200" u="none" cap="none" strike="noStrike">
                <a:solidFill>
                  <a:srgbClr val="0B6E4F"/>
                </a:solidFill>
                <a:latin typeface="Consolas"/>
                <a:ea typeface="Consolas"/>
                <a:cs typeface="Consolas"/>
                <a:sym typeface="Consolas"/>
              </a:rPr>
              <a:t>ObjectProperty:</a:t>
            </a:r>
            <a:r>
              <a:rPr b="0" i="0" lang="en-US" sz="1200" u="none" cap="none" strike="noStrike">
                <a:solidFill>
                  <a:srgbClr val="1F2328"/>
                </a:solidFill>
                <a:latin typeface="Consolas"/>
                <a:ea typeface="Consolas"/>
                <a:cs typeface="Consolas"/>
                <a:sym typeface="Consolas"/>
              </a:rPr>
              <a:t> labResultOf  </a:t>
            </a:r>
            <a:r>
              <a:rPr b="1" i="0" lang="en-US" sz="1200" u="none" cap="none" strike="noStrike">
                <a:solidFill>
                  <a:srgbClr val="0B6E4F"/>
                </a:solidFill>
                <a:latin typeface="Consolas"/>
                <a:ea typeface="Consolas"/>
                <a:cs typeface="Consolas"/>
                <a:sym typeface="Consolas"/>
              </a:rPr>
              <a:t>Domain:</a:t>
            </a:r>
            <a:r>
              <a:rPr b="0" i="0" lang="en-US" sz="1200" u="none" cap="none" strike="noStrike">
                <a:solidFill>
                  <a:srgbClr val="1F2328"/>
                </a:solidFill>
                <a:latin typeface="Consolas"/>
                <a:ea typeface="Consolas"/>
                <a:cs typeface="Consolas"/>
                <a:sym typeface="Consolas"/>
              </a:rPr>
              <a:t> LabResult</a:t>
            </a:r>
            <a:endParaRPr/>
          </a:p>
        </p:txBody>
      </p:sp>
      <p:sp>
        <p:nvSpPr>
          <p:cNvPr id="929" name="Google Shape;929;h3b1f15762288d989_2_114"/>
          <p:cNvSpPr txBox="1"/>
          <p:nvPr/>
        </p:nvSpPr>
        <p:spPr>
          <a:xfrm>
            <a:off x="1169012" y="4827438"/>
            <a:ext cx="10021800" cy="46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1500">
                <a:solidFill>
                  <a:srgbClr val="5B6770"/>
                </a:solidFill>
                <a:latin typeface="Calibri"/>
                <a:ea typeface="Calibri"/>
                <a:cs typeface="Calibri"/>
                <a:sym typeface="Calibri"/>
              </a:rPr>
              <a:t>Problems go back to the </a:t>
            </a:r>
            <a:r>
              <a:rPr b="1" i="1" lang="en-US" sz="1500">
                <a:solidFill>
                  <a:srgbClr val="5B6770"/>
                </a:solidFill>
                <a:latin typeface="Calibri"/>
                <a:ea typeface="Calibri"/>
                <a:cs typeface="Calibri"/>
                <a:sym typeface="Calibri"/>
              </a:rPr>
              <a:t>Gen-LLM</a:t>
            </a:r>
            <a:r>
              <a:rPr lang="en-US" sz="1500">
                <a:solidFill>
                  <a:srgbClr val="5B6770"/>
                </a:solidFill>
                <a:latin typeface="Calibri"/>
                <a:ea typeface="Calibri"/>
                <a:cs typeface="Calibri"/>
                <a:sym typeface="Calibri"/>
              </a:rPr>
              <a:t> (up to 2 retries). If it </a:t>
            </a:r>
            <a:r>
              <a:rPr b="1" lang="en-US" sz="1500">
                <a:solidFill>
                  <a:srgbClr val="5B6770"/>
                </a:solidFill>
                <a:latin typeface="Calibri"/>
                <a:ea typeface="Calibri"/>
                <a:cs typeface="Calibri"/>
                <a:sym typeface="Calibri"/>
              </a:rPr>
              <a:t>still fails</a:t>
            </a:r>
            <a:r>
              <a:rPr lang="en-US" sz="1500">
                <a:solidFill>
                  <a:srgbClr val="5B6770"/>
                </a:solidFill>
                <a:latin typeface="Calibri"/>
                <a:ea typeface="Calibri"/>
                <a:cs typeface="Calibri"/>
                <a:sym typeface="Calibri"/>
              </a:rPr>
              <a:t>, the </a:t>
            </a:r>
            <a:r>
              <a:rPr b="1" i="1" lang="en-US" sz="1500">
                <a:solidFill>
                  <a:srgbClr val="5B6770"/>
                </a:solidFill>
                <a:latin typeface="Calibri"/>
                <a:ea typeface="Calibri"/>
                <a:cs typeface="Calibri"/>
                <a:sym typeface="Calibri"/>
              </a:rPr>
              <a:t>Judge-LLM</a:t>
            </a:r>
            <a:r>
              <a:rPr lang="en-US" sz="1500">
                <a:solidFill>
                  <a:srgbClr val="5B6770"/>
                </a:solidFill>
                <a:latin typeface="Calibri"/>
                <a:ea typeface="Calibri"/>
                <a:cs typeface="Calibri"/>
                <a:sym typeface="Calibri"/>
              </a:rPr>
              <a:t> picks the better of the </a:t>
            </a:r>
            <a:r>
              <a:rPr b="1" i="1" lang="en-US" sz="1500">
                <a:solidFill>
                  <a:srgbClr val="5B6770"/>
                </a:solidFill>
                <a:latin typeface="Calibri"/>
                <a:ea typeface="Calibri"/>
                <a:cs typeface="Calibri"/>
                <a:sym typeface="Calibri"/>
              </a:rPr>
              <a:t>Gen-LLM</a:t>
            </a:r>
            <a:r>
              <a:rPr lang="en-US" sz="1500">
                <a:solidFill>
                  <a:srgbClr val="5B6770"/>
                </a:solidFill>
                <a:latin typeface="Calibri"/>
                <a:ea typeface="Calibri"/>
                <a:cs typeface="Calibri"/>
                <a:sym typeface="Calibri"/>
              </a:rPr>
              <a:t>’s final version and the plain </a:t>
            </a:r>
            <a:r>
              <a:rPr b="1" i="1" lang="en-US" sz="1500">
                <a:solidFill>
                  <a:srgbClr val="5B6770"/>
                </a:solidFill>
                <a:latin typeface="Calibri"/>
                <a:ea typeface="Calibri"/>
                <a:cs typeface="Calibri"/>
                <a:sym typeface="Calibri"/>
              </a:rPr>
              <a:t>direct mapping</a:t>
            </a:r>
            <a:r>
              <a:rPr lang="en-US" sz="1500">
                <a:solidFill>
                  <a:srgbClr val="5B6770"/>
                </a:solidFill>
                <a:latin typeface="Calibri"/>
                <a:ea typeface="Calibri"/>
                <a:cs typeface="Calibri"/>
                <a:sym typeface="Calibri"/>
              </a:rPr>
              <a:t>.</a:t>
            </a:r>
            <a:endParaRPr sz="1500"/>
          </a:p>
        </p:txBody>
      </p:sp>
      <p:pic>
        <p:nvPicPr>
          <p:cNvPr id="930" name="Google Shape;930;h3b1f15762288d989_2_114" title="graph_checks_icon.png"/>
          <p:cNvPicPr preferRelativeResize="0"/>
          <p:nvPr/>
        </p:nvPicPr>
        <p:blipFill rotWithShape="1">
          <a:blip r:embed="rId3">
            <a:alphaModFix/>
          </a:blip>
          <a:srcRect b="19469" l="4324" r="13635" t="18031"/>
          <a:stretch/>
        </p:blipFill>
        <p:spPr>
          <a:xfrm>
            <a:off x="4682434" y="1948275"/>
            <a:ext cx="981848" cy="747949"/>
          </a:xfrm>
          <a:prstGeom prst="rect">
            <a:avLst/>
          </a:prstGeom>
          <a:noFill/>
          <a:ln>
            <a:noFill/>
          </a:ln>
        </p:spPr>
      </p:pic>
      <p:sp>
        <p:nvSpPr>
          <p:cNvPr id="931" name="Google Shape;931;h3b1f15762288d989_2_114"/>
          <p:cNvSpPr/>
          <p:nvPr/>
        </p:nvSpPr>
        <p:spPr>
          <a:xfrm>
            <a:off x="6062420" y="1765393"/>
            <a:ext cx="5193900" cy="2469000"/>
          </a:xfrm>
          <a:prstGeom prst="roundRect">
            <a:avLst>
              <a:gd fmla="val 16667" name="adj"/>
            </a:avLst>
          </a:prstGeom>
          <a:solidFill>
            <a:srgbClr val="FFFFFF"/>
          </a:solidFill>
          <a:ln cap="flat" cmpd="sng" w="12700">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32" name="Google Shape;932;h3b1f15762288d989_2_114"/>
          <p:cNvSpPr txBox="1"/>
          <p:nvPr/>
        </p:nvSpPr>
        <p:spPr>
          <a:xfrm>
            <a:off x="6291020" y="1948273"/>
            <a:ext cx="46269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600" u="none" cap="none" strike="noStrike">
                <a:solidFill>
                  <a:srgbClr val="0B6E4F"/>
                </a:solidFill>
                <a:latin typeface="Consolas"/>
                <a:ea typeface="Consolas"/>
                <a:cs typeface="Consolas"/>
                <a:sym typeface="Consolas"/>
              </a:rPr>
              <a:t>SEMANTIC ERROR · JUDGE-LLM</a:t>
            </a:r>
            <a:endParaRPr/>
          </a:p>
        </p:txBody>
      </p:sp>
      <p:sp>
        <p:nvSpPr>
          <p:cNvPr id="933" name="Google Shape;933;h3b1f15762288d989_2_114"/>
          <p:cNvSpPr txBox="1"/>
          <p:nvPr/>
        </p:nvSpPr>
        <p:spPr>
          <a:xfrm>
            <a:off x="6300164" y="2451193"/>
            <a:ext cx="46176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u="none" cap="none" strike="noStrike">
                <a:solidFill>
                  <a:srgbClr val="5B6770"/>
                </a:solidFill>
                <a:latin typeface="Calibri"/>
                <a:ea typeface="Calibri"/>
                <a:cs typeface="Calibri"/>
                <a:sym typeface="Calibri"/>
              </a:rPr>
              <a:t>Generated link for </a:t>
            </a:r>
            <a:r>
              <a:rPr b="1" lang="en-US">
                <a:solidFill>
                  <a:srgbClr val="0B6E4F"/>
                </a:solidFill>
                <a:latin typeface="Consolas"/>
                <a:ea typeface="Consolas"/>
                <a:cs typeface="Consolas"/>
                <a:sym typeface="Consolas"/>
              </a:rPr>
              <a:t>admission</a:t>
            </a:r>
            <a:r>
              <a:rPr b="0" i="0" lang="en-US" u="none" cap="none" strike="noStrike">
                <a:solidFill>
                  <a:srgbClr val="5B6770"/>
                </a:solidFill>
                <a:latin typeface="Calibri"/>
                <a:ea typeface="Calibri"/>
                <a:cs typeface="Calibri"/>
                <a:sym typeface="Calibri"/>
              </a:rPr>
              <a:t>:</a:t>
            </a:r>
            <a:endParaRPr/>
          </a:p>
        </p:txBody>
      </p:sp>
      <p:sp>
        <p:nvSpPr>
          <p:cNvPr id="934" name="Google Shape;934;h3b1f15762288d989_2_114"/>
          <p:cNvSpPr/>
          <p:nvPr/>
        </p:nvSpPr>
        <p:spPr>
          <a:xfrm>
            <a:off x="6300164" y="2807809"/>
            <a:ext cx="4563000" cy="375000"/>
          </a:xfrm>
          <a:prstGeom prst="rect">
            <a:avLst/>
          </a:prstGeom>
          <a:solidFill>
            <a:srgbClr val="FBE9E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35" name="Google Shape;935;h3b1f15762288d989_2_114"/>
          <p:cNvSpPr txBox="1"/>
          <p:nvPr/>
        </p:nvSpPr>
        <p:spPr>
          <a:xfrm>
            <a:off x="6373316" y="2891519"/>
            <a:ext cx="44349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B23A1E"/>
                </a:solidFill>
                <a:latin typeface="Consolas"/>
                <a:ea typeface="Consolas"/>
                <a:cs typeface="Consolas"/>
                <a:sym typeface="Consolas"/>
              </a:rPr>
              <a:t>ObjectProperty:</a:t>
            </a:r>
            <a:r>
              <a:rPr b="0" i="0" lang="en-US" sz="1200" u="none" cap="none" strike="noStrike">
                <a:solidFill>
                  <a:srgbClr val="B23A1E"/>
                </a:solidFill>
                <a:latin typeface="Consolas"/>
                <a:ea typeface="Consolas"/>
                <a:cs typeface="Consolas"/>
                <a:sym typeface="Consolas"/>
              </a:rPr>
              <a:t> hasPatient  </a:t>
            </a:r>
            <a:r>
              <a:rPr b="1" i="0" lang="en-US" sz="1200" u="none" cap="none" strike="noStrike">
                <a:solidFill>
                  <a:srgbClr val="B23A1E"/>
                </a:solidFill>
                <a:latin typeface="Consolas"/>
                <a:ea typeface="Consolas"/>
                <a:cs typeface="Consolas"/>
                <a:sym typeface="Consolas"/>
              </a:rPr>
              <a:t>Range:</a:t>
            </a:r>
            <a:r>
              <a:rPr b="0" i="0" lang="en-US" sz="1200" u="none" cap="none" strike="noStrike">
                <a:solidFill>
                  <a:srgbClr val="B23A1E"/>
                </a:solidFill>
                <a:latin typeface="Consolas"/>
                <a:ea typeface="Consolas"/>
                <a:cs typeface="Consolas"/>
                <a:sym typeface="Consolas"/>
              </a:rPr>
              <a:t> Patient</a:t>
            </a:r>
            <a:endParaRPr/>
          </a:p>
        </p:txBody>
      </p:sp>
      <p:sp>
        <p:nvSpPr>
          <p:cNvPr id="936" name="Google Shape;936;h3b1f15762288d989_2_114"/>
          <p:cNvSpPr txBox="1"/>
          <p:nvPr/>
        </p:nvSpPr>
        <p:spPr>
          <a:xfrm>
            <a:off x="6300164" y="3445625"/>
            <a:ext cx="4572000" cy="646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u="none" cap="none" strike="noStrike">
                <a:solidFill>
                  <a:srgbClr val="1F2328"/>
                </a:solidFill>
                <a:latin typeface="Calibri"/>
                <a:ea typeface="Calibri"/>
                <a:cs typeface="Calibri"/>
                <a:sym typeface="Calibri"/>
              </a:rPr>
              <a:t>Valid OWL, but the </a:t>
            </a:r>
            <a:r>
              <a:rPr b="1" i="0" lang="en-US" u="none" cap="none" strike="noStrike">
                <a:solidFill>
                  <a:srgbClr val="1F2328"/>
                </a:solidFill>
                <a:latin typeface="Calibri"/>
                <a:ea typeface="Calibri"/>
                <a:cs typeface="Calibri"/>
                <a:sym typeface="Calibri"/>
              </a:rPr>
              <a:t>core ontology</a:t>
            </a:r>
            <a:r>
              <a:rPr b="0" i="0" lang="en-US" u="none" cap="none" strike="noStrike">
                <a:solidFill>
                  <a:srgbClr val="1F2328"/>
                </a:solidFill>
                <a:latin typeface="Calibri"/>
                <a:ea typeface="Calibri"/>
                <a:cs typeface="Calibri"/>
                <a:sym typeface="Calibri"/>
              </a:rPr>
              <a:t> already has </a:t>
            </a:r>
            <a:r>
              <a:rPr b="1" lang="en-US">
                <a:solidFill>
                  <a:srgbClr val="0B6E4F"/>
                </a:solidFill>
                <a:latin typeface="Consolas"/>
                <a:ea typeface="Consolas"/>
                <a:cs typeface="Consolas"/>
                <a:sym typeface="Consolas"/>
              </a:rPr>
              <a:t>PatientData</a:t>
            </a:r>
            <a:r>
              <a:rPr b="0" i="0" lang="en-US" u="none" cap="none" strike="noStrike">
                <a:solidFill>
                  <a:srgbClr val="1F2328"/>
                </a:solidFill>
                <a:latin typeface="Calibri"/>
                <a:ea typeface="Calibri"/>
                <a:cs typeface="Calibri"/>
                <a:sym typeface="Calibri"/>
              </a:rPr>
              <a:t>, now </a:t>
            </a:r>
            <a:r>
              <a:rPr b="1" i="0" lang="en-US" u="none" cap="none" strike="noStrike">
                <a:solidFill>
                  <a:srgbClr val="1F2328"/>
                </a:solidFill>
                <a:latin typeface="Calibri"/>
                <a:ea typeface="Calibri"/>
                <a:cs typeface="Calibri"/>
                <a:sym typeface="Calibri"/>
              </a:rPr>
              <a:t>two classes</a:t>
            </a:r>
            <a:r>
              <a:rPr b="0" i="0" lang="en-US" u="none" cap="none" strike="noStrike">
                <a:solidFill>
                  <a:srgbClr val="1F2328"/>
                </a:solidFill>
                <a:latin typeface="Calibri"/>
                <a:ea typeface="Calibri"/>
                <a:cs typeface="Calibri"/>
                <a:sym typeface="Calibri"/>
              </a:rPr>
              <a:t> mean the </a:t>
            </a:r>
            <a:r>
              <a:rPr b="1" i="0" lang="en-US" u="none" cap="none" strike="noStrike">
                <a:solidFill>
                  <a:srgbClr val="1F2328"/>
                </a:solidFill>
                <a:latin typeface="Calibri"/>
                <a:ea typeface="Calibri"/>
                <a:cs typeface="Calibri"/>
                <a:sym typeface="Calibri"/>
              </a:rPr>
              <a:t>same thing</a:t>
            </a:r>
            <a:r>
              <a:rPr b="0" i="0" lang="en-US" u="none" cap="none" strike="noStrike">
                <a:solidFill>
                  <a:srgbClr val="1F2328"/>
                </a:solidFill>
                <a:latin typeface="Calibri"/>
                <a:ea typeface="Calibri"/>
                <a:cs typeface="Calibri"/>
                <a:sym typeface="Calibri"/>
              </a:rPr>
              <a:t>. The </a:t>
            </a:r>
            <a:r>
              <a:rPr b="1" lang="en-US">
                <a:solidFill>
                  <a:srgbClr val="0B6E4F"/>
                </a:solidFill>
                <a:latin typeface="Consolas"/>
                <a:ea typeface="Consolas"/>
                <a:cs typeface="Consolas"/>
                <a:sym typeface="Consolas"/>
              </a:rPr>
              <a:t>JUDGE-LLM</a:t>
            </a:r>
            <a:r>
              <a:rPr b="0" i="0" lang="en-US" u="none" cap="none" strike="noStrike">
                <a:solidFill>
                  <a:srgbClr val="1F2328"/>
                </a:solidFill>
                <a:latin typeface="Calibri"/>
                <a:ea typeface="Calibri"/>
                <a:cs typeface="Calibri"/>
                <a:sym typeface="Calibri"/>
              </a:rPr>
              <a:t> sees the core and asks to </a:t>
            </a:r>
            <a:r>
              <a:rPr b="1" i="0" lang="en-US" u="none" cap="none" strike="noStrike">
                <a:solidFill>
                  <a:srgbClr val="1F2328"/>
                </a:solidFill>
                <a:latin typeface="Calibri"/>
                <a:ea typeface="Calibri"/>
                <a:cs typeface="Calibri"/>
                <a:sym typeface="Calibri"/>
              </a:rPr>
              <a:t>reuse</a:t>
            </a:r>
            <a:r>
              <a:rPr b="0" i="0" lang="en-US" u="none" cap="none" strike="noStrike">
                <a:solidFill>
                  <a:srgbClr val="1F2328"/>
                </a:solidFill>
                <a:latin typeface="Calibri"/>
                <a:ea typeface="Calibri"/>
                <a:cs typeface="Calibri"/>
                <a:sym typeface="Calibri"/>
              </a:rPr>
              <a:t> it.</a:t>
            </a:r>
            <a:endParaRPr/>
          </a:p>
        </p:txBody>
      </p:sp>
      <p:pic>
        <p:nvPicPr>
          <p:cNvPr id="937" name="Google Shape;937;h3b1f15762288d989_2_114" title="judge_llm_icon.png"/>
          <p:cNvPicPr preferRelativeResize="0"/>
          <p:nvPr/>
        </p:nvPicPr>
        <p:blipFill rotWithShape="1">
          <a:blip r:embed="rId4">
            <a:alphaModFix/>
          </a:blip>
          <a:srcRect b="12651" l="17110" r="7384" t="12532"/>
          <a:stretch/>
        </p:blipFill>
        <p:spPr>
          <a:xfrm>
            <a:off x="9918570" y="1807675"/>
            <a:ext cx="944597" cy="93584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2" name="Shape 942"/>
        <p:cNvGrpSpPr/>
        <p:nvPr/>
      </p:nvGrpSpPr>
      <p:grpSpPr>
        <a:xfrm>
          <a:off x="0" y="0"/>
          <a:ext cx="0" cy="0"/>
          <a:chOff x="0" y="0"/>
          <a:chExt cx="0" cy="0"/>
        </a:xfrm>
      </p:grpSpPr>
      <p:sp>
        <p:nvSpPr>
          <p:cNvPr id="943" name="Google Shape;943;p11"/>
          <p:cNvSpPr txBox="1"/>
          <p:nvPr/>
        </p:nvSpPr>
        <p:spPr>
          <a:xfrm>
            <a:off x="795528" y="448056"/>
            <a:ext cx="107898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6 / MERGE</a:t>
            </a:r>
            <a:endParaRPr b="0" i="0" sz="1400" u="none" cap="none" strike="noStrike">
              <a:solidFill>
                <a:srgbClr val="000000"/>
              </a:solidFill>
              <a:latin typeface="Arial"/>
              <a:ea typeface="Arial"/>
              <a:cs typeface="Arial"/>
              <a:sym typeface="Arial"/>
            </a:endParaRPr>
          </a:p>
        </p:txBody>
      </p:sp>
      <p:sp>
        <p:nvSpPr>
          <p:cNvPr id="944" name="Google Shape;944;p11"/>
          <p:cNvSpPr txBox="1"/>
          <p:nvPr/>
        </p:nvSpPr>
        <p:spPr>
          <a:xfrm>
            <a:off x="795528" y="850392"/>
            <a:ext cx="1083570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The ontology we built now helps build the next part.</a:t>
            </a:r>
            <a:endParaRPr b="0" i="0" sz="1400" u="none" cap="none" strike="noStrike">
              <a:solidFill>
                <a:srgbClr val="000000"/>
              </a:solidFill>
              <a:latin typeface="Arial"/>
              <a:ea typeface="Arial"/>
              <a:cs typeface="Arial"/>
              <a:sym typeface="Arial"/>
            </a:endParaRPr>
          </a:p>
        </p:txBody>
      </p:sp>
      <p:sp>
        <p:nvSpPr>
          <p:cNvPr id="945" name="Google Shape;945;p11"/>
          <p:cNvSpPr txBox="1"/>
          <p:nvPr/>
        </p:nvSpPr>
        <p:spPr>
          <a:xfrm>
            <a:off x="795528" y="1609344"/>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B6770"/>
                </a:solidFill>
                <a:latin typeface="Calibri"/>
                <a:ea typeface="Calibri"/>
                <a:cs typeface="Calibri"/>
                <a:sym typeface="Calibri"/>
              </a:rPr>
              <a:t>Integrate</a:t>
            </a:r>
            <a:r>
              <a:rPr b="0" i="0" lang="en-US" sz="1600" u="none" cap="none" strike="noStrike">
                <a:solidFill>
                  <a:srgbClr val="5B6770"/>
                </a:solidFill>
                <a:latin typeface="Calibri"/>
                <a:ea typeface="Calibri"/>
                <a:cs typeface="Calibri"/>
                <a:sym typeface="Calibri"/>
              </a:rPr>
              <a:t> the refined fragment; use the </a:t>
            </a:r>
            <a:r>
              <a:rPr b="1" i="0" lang="en-US" sz="1600" u="none" cap="none" strike="noStrike">
                <a:solidFill>
                  <a:srgbClr val="5B6770"/>
                </a:solidFill>
                <a:latin typeface="Calibri"/>
                <a:ea typeface="Calibri"/>
                <a:cs typeface="Calibri"/>
                <a:sym typeface="Calibri"/>
              </a:rPr>
              <a:t>expanded</a:t>
            </a:r>
            <a:r>
              <a:rPr b="0" i="0" lang="en-US" sz="1600" u="none" cap="none" strike="noStrike">
                <a:solidFill>
                  <a:srgbClr val="5B6770"/>
                </a:solidFill>
                <a:latin typeface="Calibri"/>
                <a:ea typeface="Calibri"/>
                <a:cs typeface="Calibri"/>
                <a:sym typeface="Calibri"/>
              </a:rPr>
              <a:t> core as retrieval context.</a:t>
            </a:r>
            <a:endParaRPr b="0" i="0" sz="1400" u="none" cap="none" strike="noStrike">
              <a:solidFill>
                <a:srgbClr val="000000"/>
              </a:solidFill>
              <a:latin typeface="Arial"/>
              <a:ea typeface="Arial"/>
              <a:cs typeface="Arial"/>
              <a:sym typeface="Arial"/>
            </a:endParaRPr>
          </a:p>
        </p:txBody>
      </p:sp>
      <p:sp>
        <p:nvSpPr>
          <p:cNvPr id="946" name="Google Shape;946;p11"/>
          <p:cNvSpPr/>
          <p:nvPr/>
        </p:nvSpPr>
        <p:spPr>
          <a:xfrm>
            <a:off x="524041" y="2139696"/>
            <a:ext cx="3017400" cy="25419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7" name="Google Shape;947;p11"/>
          <p:cNvSpPr txBox="1"/>
          <p:nvPr/>
        </p:nvSpPr>
        <p:spPr>
          <a:xfrm>
            <a:off x="780073" y="2304288"/>
            <a:ext cx="25785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EXISTING CORE  O₁</a:t>
            </a:r>
            <a:endParaRPr b="0" i="0" sz="1400" u="none" cap="none" strike="noStrike">
              <a:solidFill>
                <a:srgbClr val="000000"/>
              </a:solidFill>
              <a:latin typeface="Arial"/>
              <a:ea typeface="Arial"/>
              <a:cs typeface="Arial"/>
              <a:sym typeface="Arial"/>
            </a:endParaRPr>
          </a:p>
        </p:txBody>
      </p:sp>
      <p:sp>
        <p:nvSpPr>
          <p:cNvPr id="948" name="Google Shape;948;p11"/>
          <p:cNvSpPr/>
          <p:nvPr/>
        </p:nvSpPr>
        <p:spPr>
          <a:xfrm>
            <a:off x="1118401" y="3017520"/>
            <a:ext cx="1847100" cy="630900"/>
          </a:xfrm>
          <a:prstGeom prst="roundRect">
            <a:avLst>
              <a:gd fmla="val 10000" name="adj"/>
            </a:avLst>
          </a:prstGeom>
          <a:solidFill>
            <a:srgbClr val="E6F2EC"/>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9" name="Google Shape;949;p11"/>
          <p:cNvSpPr txBox="1"/>
          <p:nvPr/>
        </p:nvSpPr>
        <p:spPr>
          <a:xfrm>
            <a:off x="1442885" y="3182112"/>
            <a:ext cx="15363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sp>
        <p:nvSpPr>
          <p:cNvPr id="950" name="Google Shape;950;p11"/>
          <p:cNvSpPr txBox="1"/>
          <p:nvPr/>
        </p:nvSpPr>
        <p:spPr>
          <a:xfrm>
            <a:off x="1090969" y="4005072"/>
            <a:ext cx="2030100" cy="238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already validated</a:t>
            </a:r>
            <a:endParaRPr b="0" i="0" sz="1400" u="none" cap="none" strike="noStrike">
              <a:solidFill>
                <a:srgbClr val="000000"/>
              </a:solidFill>
              <a:latin typeface="Arial"/>
              <a:ea typeface="Arial"/>
              <a:cs typeface="Arial"/>
              <a:sym typeface="Arial"/>
            </a:endParaRPr>
          </a:p>
        </p:txBody>
      </p:sp>
      <p:sp>
        <p:nvSpPr>
          <p:cNvPr id="951" name="Google Shape;951;p11"/>
          <p:cNvSpPr txBox="1"/>
          <p:nvPr/>
        </p:nvSpPr>
        <p:spPr>
          <a:xfrm>
            <a:off x="3678721" y="3108960"/>
            <a:ext cx="365700" cy="538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3500"/>
              <a:buFont typeface="Arial"/>
              <a:buNone/>
            </a:pPr>
            <a:r>
              <a:rPr b="1" i="0" lang="en-US" sz="3500" u="none" cap="none" strike="noStrike">
                <a:solidFill>
                  <a:srgbClr val="0B6E4F"/>
                </a:solidFill>
                <a:latin typeface="Cambria"/>
                <a:ea typeface="Cambria"/>
                <a:cs typeface="Cambria"/>
                <a:sym typeface="Cambria"/>
              </a:rPr>
              <a:t>+</a:t>
            </a:r>
            <a:endParaRPr b="0" i="0" sz="1400" u="none" cap="none" strike="noStrike">
              <a:solidFill>
                <a:srgbClr val="000000"/>
              </a:solidFill>
              <a:latin typeface="Arial"/>
              <a:ea typeface="Arial"/>
              <a:cs typeface="Arial"/>
              <a:sym typeface="Arial"/>
            </a:endParaRPr>
          </a:p>
        </p:txBody>
      </p:sp>
      <p:sp>
        <p:nvSpPr>
          <p:cNvPr id="952" name="Google Shape;952;p11"/>
          <p:cNvSpPr/>
          <p:nvPr/>
        </p:nvSpPr>
        <p:spPr>
          <a:xfrm>
            <a:off x="4181641" y="2139696"/>
            <a:ext cx="2944500" cy="2541900"/>
          </a:xfrm>
          <a:prstGeom prst="roundRect">
            <a:avLst>
              <a:gd fmla="val 10000" name="adj"/>
            </a:avLst>
          </a:prstGeom>
          <a:solidFill>
            <a:srgbClr val="FFFFFF"/>
          </a:solidFill>
          <a:ln cap="flat" cmpd="sng" w="12700">
            <a:solidFill>
              <a:srgbClr val="2F6B7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3" name="Google Shape;953;p11"/>
          <p:cNvSpPr txBox="1"/>
          <p:nvPr/>
        </p:nvSpPr>
        <p:spPr>
          <a:xfrm>
            <a:off x="4410241" y="2304288"/>
            <a:ext cx="25512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REFINED DELTA  ΔO</a:t>
            </a:r>
            <a:r>
              <a:rPr b="1" baseline="-25000" i="0" lang="en-US" sz="1520" u="none" cap="none" strike="noStrike">
                <a:solidFill>
                  <a:srgbClr val="2F6B78"/>
                </a:solidFill>
                <a:latin typeface="Consolas"/>
                <a:ea typeface="Consolas"/>
                <a:cs typeface="Consolas"/>
                <a:sym typeface="Consolas"/>
              </a:rPr>
              <a:t>admission</a:t>
            </a:r>
            <a:endParaRPr b="0" baseline="-25000" i="0" sz="1400" u="none" cap="none" strike="noStrike">
              <a:solidFill>
                <a:srgbClr val="000000"/>
              </a:solidFill>
              <a:latin typeface="Arial"/>
              <a:ea typeface="Arial"/>
              <a:cs typeface="Arial"/>
              <a:sym typeface="Arial"/>
            </a:endParaRPr>
          </a:p>
        </p:txBody>
      </p:sp>
      <p:sp>
        <p:nvSpPr>
          <p:cNvPr id="954" name="Google Shape;954;p11"/>
          <p:cNvSpPr/>
          <p:nvPr/>
        </p:nvSpPr>
        <p:spPr>
          <a:xfrm>
            <a:off x="4666273" y="3017520"/>
            <a:ext cx="1956900" cy="630900"/>
          </a:xfrm>
          <a:prstGeom prst="roundRect">
            <a:avLst>
              <a:gd fmla="val 10000" name="adj"/>
            </a:avLst>
          </a:prstGeom>
          <a:solidFill>
            <a:srgbClr val="F3F5F4"/>
          </a:solidFill>
          <a:ln cap="flat" cmpd="sng" w="12700">
            <a:solidFill>
              <a:srgbClr val="2F6B7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5" name="Google Shape;955;p11"/>
          <p:cNvSpPr txBox="1"/>
          <p:nvPr/>
        </p:nvSpPr>
        <p:spPr>
          <a:xfrm>
            <a:off x="5054765" y="3172968"/>
            <a:ext cx="15636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956" name="Google Shape;956;p11"/>
          <p:cNvSpPr txBox="1"/>
          <p:nvPr/>
        </p:nvSpPr>
        <p:spPr>
          <a:xfrm>
            <a:off x="4355377" y="3968496"/>
            <a:ext cx="2633400" cy="238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Relations · labels · provenance</a:t>
            </a:r>
            <a:endParaRPr b="0" i="0" sz="1400" u="none" cap="none" strike="noStrike">
              <a:solidFill>
                <a:srgbClr val="000000"/>
              </a:solidFill>
              <a:latin typeface="Arial"/>
              <a:ea typeface="Arial"/>
              <a:cs typeface="Arial"/>
              <a:sym typeface="Arial"/>
            </a:endParaRPr>
          </a:p>
        </p:txBody>
      </p:sp>
      <p:cxnSp>
        <p:nvCxnSpPr>
          <p:cNvPr id="957" name="Google Shape;957;p11"/>
          <p:cNvCxnSpPr/>
          <p:nvPr/>
        </p:nvCxnSpPr>
        <p:spPr>
          <a:xfrm>
            <a:off x="7263169" y="3310128"/>
            <a:ext cx="502800" cy="0"/>
          </a:xfrm>
          <a:prstGeom prst="straightConnector1">
            <a:avLst/>
          </a:prstGeom>
          <a:noFill/>
          <a:ln cap="flat" cmpd="sng" w="31750">
            <a:solidFill>
              <a:srgbClr val="0B6E4F"/>
            </a:solidFill>
            <a:prstDash val="solid"/>
            <a:miter lim="80"/>
            <a:headEnd len="sm" w="sm" type="none"/>
            <a:tailEnd len="med" w="med" type="triangle"/>
          </a:ln>
        </p:spPr>
      </p:cxnSp>
      <p:sp>
        <p:nvSpPr>
          <p:cNvPr id="958" name="Google Shape;958;p11"/>
          <p:cNvSpPr/>
          <p:nvPr/>
        </p:nvSpPr>
        <p:spPr>
          <a:xfrm>
            <a:off x="7930675" y="2139700"/>
            <a:ext cx="3843900" cy="2541900"/>
          </a:xfrm>
          <a:prstGeom prst="roundRect">
            <a:avLst>
              <a:gd fmla="val 10000" name="adj"/>
            </a:avLst>
          </a:prstGeom>
          <a:solidFill>
            <a:srgbClr val="FFFFFF"/>
          </a:solidFill>
          <a:ln cap="flat" cmpd="sng" w="1777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9" name="Google Shape;959;p11"/>
          <p:cNvSpPr txBox="1"/>
          <p:nvPr/>
        </p:nvSpPr>
        <p:spPr>
          <a:xfrm>
            <a:off x="8186713" y="2304288"/>
            <a:ext cx="27249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EXPANDED CORE  O₂</a:t>
            </a:r>
            <a:endParaRPr b="0" i="0" sz="1400" u="none" cap="none" strike="noStrike">
              <a:solidFill>
                <a:srgbClr val="000000"/>
              </a:solidFill>
              <a:latin typeface="Arial"/>
              <a:ea typeface="Arial"/>
              <a:cs typeface="Arial"/>
              <a:sym typeface="Arial"/>
            </a:endParaRPr>
          </a:p>
        </p:txBody>
      </p:sp>
      <p:sp>
        <p:nvSpPr>
          <p:cNvPr id="960" name="Google Shape;960;p11"/>
          <p:cNvSpPr/>
          <p:nvPr/>
        </p:nvSpPr>
        <p:spPr>
          <a:xfrm>
            <a:off x="8025760" y="3107189"/>
            <a:ext cx="1234500" cy="521100"/>
          </a:xfrm>
          <a:prstGeom prst="roundRect">
            <a:avLst>
              <a:gd fmla="val 10000" name="adj"/>
            </a:avLst>
          </a:prstGeom>
          <a:solidFill>
            <a:srgbClr val="E6F2EC"/>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1" name="Google Shape;961;p11"/>
          <p:cNvSpPr txBox="1"/>
          <p:nvPr/>
        </p:nvSpPr>
        <p:spPr>
          <a:xfrm>
            <a:off x="8025772" y="3277634"/>
            <a:ext cx="12345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962" name="Google Shape;962;p11"/>
          <p:cNvSpPr/>
          <p:nvPr/>
        </p:nvSpPr>
        <p:spPr>
          <a:xfrm>
            <a:off x="10426124" y="3083041"/>
            <a:ext cx="1271100" cy="521100"/>
          </a:xfrm>
          <a:prstGeom prst="roundRect">
            <a:avLst>
              <a:gd fmla="val 10000" name="adj"/>
            </a:avLst>
          </a:prstGeom>
          <a:solidFill>
            <a:srgbClr val="E6F2EC"/>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3" name="Google Shape;963;p11"/>
          <p:cNvSpPr txBox="1"/>
          <p:nvPr/>
        </p:nvSpPr>
        <p:spPr>
          <a:xfrm>
            <a:off x="10413220" y="3253486"/>
            <a:ext cx="12711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cxnSp>
        <p:nvCxnSpPr>
          <p:cNvPr id="964" name="Google Shape;964;p11"/>
          <p:cNvCxnSpPr/>
          <p:nvPr/>
        </p:nvCxnSpPr>
        <p:spPr>
          <a:xfrm flipH="1" rot="10800000">
            <a:off x="9336422" y="3408384"/>
            <a:ext cx="1033200" cy="3600"/>
          </a:xfrm>
          <a:prstGeom prst="straightConnector1">
            <a:avLst/>
          </a:prstGeom>
          <a:noFill/>
          <a:ln cap="flat" cmpd="sng" w="29200">
            <a:solidFill>
              <a:srgbClr val="3A7D8C"/>
            </a:solidFill>
            <a:prstDash val="solid"/>
            <a:miter lim="80"/>
            <a:headEnd len="sm" w="sm" type="none"/>
            <a:tailEnd len="med" w="med" type="triangle"/>
          </a:ln>
        </p:spPr>
      </p:cxnSp>
      <p:sp>
        <p:nvSpPr>
          <p:cNvPr id="965" name="Google Shape;965;p11"/>
          <p:cNvSpPr txBox="1"/>
          <p:nvPr/>
        </p:nvSpPr>
        <p:spPr>
          <a:xfrm>
            <a:off x="8991283" y="3158219"/>
            <a:ext cx="1609200" cy="1539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000" u="none" cap="none" strike="noStrike">
                <a:solidFill>
                  <a:srgbClr val="2F6B78"/>
                </a:solidFill>
                <a:latin typeface="Consolas"/>
                <a:ea typeface="Consolas"/>
                <a:cs typeface="Consolas"/>
                <a:sym typeface="Consolas"/>
              </a:rPr>
              <a:t>hasPatientData</a:t>
            </a:r>
            <a:endParaRPr b="0" i="0" sz="1000" u="none" cap="none" strike="noStrike">
              <a:solidFill>
                <a:srgbClr val="000000"/>
              </a:solidFill>
              <a:latin typeface="Arial"/>
              <a:ea typeface="Arial"/>
              <a:cs typeface="Arial"/>
              <a:sym typeface="Arial"/>
            </a:endParaRPr>
          </a:p>
        </p:txBody>
      </p:sp>
      <p:sp>
        <p:nvSpPr>
          <p:cNvPr id="966" name="Google Shape;966;p11"/>
          <p:cNvSpPr txBox="1"/>
          <p:nvPr/>
        </p:nvSpPr>
        <p:spPr>
          <a:xfrm>
            <a:off x="8223289" y="4151376"/>
            <a:ext cx="2697600" cy="238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 enriched annotations</a:t>
            </a:r>
            <a:endParaRPr b="0" i="0" sz="1400" u="none" cap="none" strike="noStrike">
              <a:solidFill>
                <a:srgbClr val="000000"/>
              </a:solidFill>
              <a:latin typeface="Arial"/>
              <a:ea typeface="Arial"/>
              <a:cs typeface="Arial"/>
              <a:sym typeface="Arial"/>
            </a:endParaRPr>
          </a:p>
        </p:txBody>
      </p:sp>
      <p:sp>
        <p:nvSpPr>
          <p:cNvPr id="967" name="Google Shape;967;p11"/>
          <p:cNvSpPr/>
          <p:nvPr/>
        </p:nvSpPr>
        <p:spPr>
          <a:xfrm>
            <a:off x="822960" y="4892040"/>
            <a:ext cx="10561200" cy="594300"/>
          </a:xfrm>
          <a:prstGeom prst="roundRect">
            <a:avLst>
              <a:gd fmla="val 10000" name="adj"/>
            </a:avLst>
          </a:prstGeom>
          <a:solidFill>
            <a:srgbClr val="E6F2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8" name="Google Shape;968;p11"/>
          <p:cNvSpPr txBox="1"/>
          <p:nvPr/>
        </p:nvSpPr>
        <p:spPr>
          <a:xfrm>
            <a:off x="1024128" y="5038344"/>
            <a:ext cx="10131600" cy="246300"/>
          </a:xfrm>
          <a:prstGeom prst="rect">
            <a:avLst/>
          </a:prstGeom>
          <a:noFill/>
          <a:ln>
            <a:noFill/>
          </a:ln>
        </p:spPr>
        <p:txBody>
          <a:bodyPr anchorCtr="0" anchor="ctr" bIns="0" lIns="0" spcFirstLastPara="1" rIns="0" wrap="square" tIns="0">
            <a:spAutoFit/>
          </a:bodyPr>
          <a:lstStyle/>
          <a:p>
            <a:pPr indent="0" lvl="0" marL="0" marR="0" rtl="0" algn="l">
              <a:lnSpc>
                <a:spcPct val="107000"/>
              </a:lnSpc>
              <a:spcBef>
                <a:spcPts val="0"/>
              </a:spcBef>
              <a:spcAft>
                <a:spcPts val="0"/>
              </a:spcAft>
              <a:buClr>
                <a:srgbClr val="000000"/>
              </a:buClr>
              <a:buSzPts val="1600"/>
              <a:buFont typeface="Arial"/>
              <a:buNone/>
            </a:pPr>
            <a:r>
              <a:rPr b="1" i="0" lang="en-US" sz="1600" u="none" cap="none" strike="noStrike">
                <a:solidFill>
                  <a:srgbClr val="0B6E4F"/>
                </a:solidFill>
                <a:latin typeface="Calibri"/>
                <a:ea typeface="Calibri"/>
                <a:cs typeface="Calibri"/>
                <a:sym typeface="Calibri"/>
              </a:rPr>
              <a:t>THE LOOP   </a:t>
            </a:r>
            <a:r>
              <a:rPr b="0" i="0" lang="en-US" sz="1600" u="none" cap="none" strike="noStrike">
                <a:solidFill>
                  <a:srgbClr val="1F2328"/>
                </a:solidFill>
                <a:latin typeface="Calibri"/>
                <a:ea typeface="Calibri"/>
                <a:cs typeface="Calibri"/>
                <a:sym typeface="Calibri"/>
              </a:rPr>
              <a:t>O₂ becomes a retrieval source for the next table → a coherent ontology </a:t>
            </a:r>
            <a:r>
              <a:rPr b="1" i="0" lang="en-US" sz="1600" u="none" cap="none" strike="noStrike">
                <a:solidFill>
                  <a:srgbClr val="1F2328"/>
                </a:solidFill>
                <a:latin typeface="Calibri"/>
                <a:ea typeface="Calibri"/>
                <a:cs typeface="Calibri"/>
                <a:sym typeface="Calibri"/>
              </a:rPr>
              <a:t>grows</a:t>
            </a:r>
            <a:r>
              <a:rPr b="0" i="0" lang="en-US" sz="1600" u="none" cap="none" strike="noStrike">
                <a:solidFill>
                  <a:srgbClr val="1F2328"/>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969" name="Google Shape;969;p11"/>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0" name="Google Shape;970;p11"/>
          <p:cNvSpPr txBox="1"/>
          <p:nvPr/>
        </p:nvSpPr>
        <p:spPr>
          <a:xfrm>
            <a:off x="859536"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971" name="Google Shape;971;p11"/>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2" name="Google Shape;972;p11"/>
          <p:cNvSpPr txBox="1"/>
          <p:nvPr/>
        </p:nvSpPr>
        <p:spPr>
          <a:xfrm>
            <a:off x="2697479"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973" name="Google Shape;973;p11"/>
          <p:cNvSpPr/>
          <p:nvPr/>
        </p:nvSpPr>
        <p:spPr>
          <a:xfrm>
            <a:off x="4480559"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4" name="Google Shape;974;p11"/>
          <p:cNvSpPr txBox="1"/>
          <p:nvPr/>
        </p:nvSpPr>
        <p:spPr>
          <a:xfrm>
            <a:off x="4535423"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975" name="Google Shape;975;p11"/>
          <p:cNvSpPr/>
          <p:nvPr/>
        </p:nvSpPr>
        <p:spPr>
          <a:xfrm>
            <a:off x="6318503"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6" name="Google Shape;976;p11"/>
          <p:cNvSpPr txBox="1"/>
          <p:nvPr/>
        </p:nvSpPr>
        <p:spPr>
          <a:xfrm>
            <a:off x="6373367"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977" name="Google Shape;977;p11"/>
          <p:cNvSpPr/>
          <p:nvPr/>
        </p:nvSpPr>
        <p:spPr>
          <a:xfrm>
            <a:off x="8156448"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8" name="Google Shape;978;p11"/>
          <p:cNvSpPr txBox="1"/>
          <p:nvPr/>
        </p:nvSpPr>
        <p:spPr>
          <a:xfrm>
            <a:off x="8211312"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979" name="Google Shape;979;p11"/>
          <p:cNvSpPr/>
          <p:nvPr/>
        </p:nvSpPr>
        <p:spPr>
          <a:xfrm>
            <a:off x="9994392"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0" name="Google Shape;980;p11"/>
          <p:cNvSpPr txBox="1"/>
          <p:nvPr/>
        </p:nvSpPr>
        <p:spPr>
          <a:xfrm>
            <a:off x="10049256"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5" name="Shape 985"/>
        <p:cNvGrpSpPr/>
        <p:nvPr/>
      </p:nvGrpSpPr>
      <p:grpSpPr>
        <a:xfrm>
          <a:off x="0" y="0"/>
          <a:ext cx="0" cy="0"/>
          <a:chOff x="0" y="0"/>
          <a:chExt cx="0" cy="0"/>
        </a:xfrm>
      </p:grpSpPr>
      <p:sp>
        <p:nvSpPr>
          <p:cNvPr id="986" name="Google Shape;986;h4c5bf77df5a6a1aa_1_1"/>
          <p:cNvSpPr txBox="1"/>
          <p:nvPr/>
        </p:nvSpPr>
        <p:spPr>
          <a:xfrm>
            <a:off x="512064" y="320040"/>
            <a:ext cx="66750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RIGOR  /  REASSEMBLING THE ARCHITECTURE</a:t>
            </a:r>
            <a:endParaRPr b="0" i="0" sz="1400" u="none" cap="none" strike="noStrike">
              <a:solidFill>
                <a:srgbClr val="000000"/>
              </a:solidFill>
              <a:latin typeface="Consolas"/>
              <a:ea typeface="Consolas"/>
              <a:cs typeface="Consolas"/>
              <a:sym typeface="Consolas"/>
            </a:endParaRPr>
          </a:p>
        </p:txBody>
      </p:sp>
      <p:sp>
        <p:nvSpPr>
          <p:cNvPr id="987" name="Google Shape;987;h4c5bf77df5a6a1aa_1_1"/>
          <p:cNvSpPr txBox="1"/>
          <p:nvPr/>
        </p:nvSpPr>
        <p:spPr>
          <a:xfrm>
            <a:off x="512064" y="685800"/>
            <a:ext cx="10881300" cy="446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1. Follow the foreign keys</a:t>
            </a:r>
            <a:endParaRPr b="0" i="0" sz="1400" u="none" cap="none" strike="noStrike">
              <a:solidFill>
                <a:srgbClr val="000000"/>
              </a:solidFill>
              <a:latin typeface="Arial"/>
              <a:ea typeface="Arial"/>
              <a:cs typeface="Arial"/>
              <a:sym typeface="Arial"/>
            </a:endParaRPr>
          </a:p>
        </p:txBody>
      </p:sp>
      <p:sp>
        <p:nvSpPr>
          <p:cNvPr id="988" name="Google Shape;988;h4c5bf77df5a6a1aa_1_1"/>
          <p:cNvSpPr txBox="1"/>
          <p:nvPr/>
        </p:nvSpPr>
        <p:spPr>
          <a:xfrm>
            <a:off x="512064" y="1271016"/>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A434C"/>
                </a:solidFill>
                <a:latin typeface="Calibri"/>
                <a:ea typeface="Calibri"/>
                <a:cs typeface="Calibri"/>
                <a:sym typeface="Calibri"/>
              </a:rPr>
              <a:t> Start where the foreign-key dependencies begin.</a:t>
            </a:r>
            <a:endParaRPr b="0" i="0" sz="1400" u="none" cap="none" strike="noStrike">
              <a:solidFill>
                <a:srgbClr val="000000"/>
              </a:solidFill>
              <a:latin typeface="Arial"/>
              <a:ea typeface="Arial"/>
              <a:cs typeface="Arial"/>
              <a:sym typeface="Arial"/>
            </a:endParaRPr>
          </a:p>
        </p:txBody>
      </p:sp>
      <p:sp>
        <p:nvSpPr>
          <p:cNvPr id="989" name="Google Shape;989;h4c5bf77df5a6a1aa_1_1"/>
          <p:cNvSpPr/>
          <p:nvPr/>
        </p:nvSpPr>
        <p:spPr>
          <a:xfrm>
            <a:off x="9692640"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0" name="Google Shape;990;h4c5bf77df5a6a1aa_1_1"/>
          <p:cNvSpPr/>
          <p:nvPr/>
        </p:nvSpPr>
        <p:spPr>
          <a:xfrm>
            <a:off x="10049256"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1" name="Google Shape;991;h4c5bf77df5a6a1aa_1_1"/>
          <p:cNvSpPr/>
          <p:nvPr/>
        </p:nvSpPr>
        <p:spPr>
          <a:xfrm>
            <a:off x="10405872"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2" name="Google Shape;992;h4c5bf77df5a6a1aa_1_1"/>
          <p:cNvSpPr/>
          <p:nvPr/>
        </p:nvSpPr>
        <p:spPr>
          <a:xfrm>
            <a:off x="10762488"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3" name="Google Shape;993;h4c5bf77df5a6a1aa_1_1"/>
          <p:cNvSpPr/>
          <p:nvPr/>
        </p:nvSpPr>
        <p:spPr>
          <a:xfrm>
            <a:off x="11119104"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4" name="Google Shape;994;h4c5bf77df5a6a1aa_1_1"/>
          <p:cNvSpPr/>
          <p:nvPr/>
        </p:nvSpPr>
        <p:spPr>
          <a:xfrm>
            <a:off x="11475720"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5" name="Google Shape;995;h4c5bf77df5a6a1aa_1_1"/>
          <p:cNvSpPr txBox="1"/>
          <p:nvPr/>
        </p:nvSpPr>
        <p:spPr>
          <a:xfrm>
            <a:off x="10917936" y="6519672"/>
            <a:ext cx="804600" cy="2154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1 / 6</a:t>
            </a:r>
            <a:endParaRPr b="0" i="0" sz="1400" u="none" cap="none" strike="noStrike">
              <a:solidFill>
                <a:srgbClr val="000000"/>
              </a:solidFill>
              <a:latin typeface="Arial"/>
              <a:ea typeface="Arial"/>
              <a:cs typeface="Arial"/>
              <a:sym typeface="Arial"/>
            </a:endParaRPr>
          </a:p>
        </p:txBody>
      </p:sp>
      <p:cxnSp>
        <p:nvCxnSpPr>
          <p:cNvPr id="996" name="Google Shape;996;h4c5bf77df5a6a1aa_1_1"/>
          <p:cNvCxnSpPr/>
          <p:nvPr/>
        </p:nvCxnSpPr>
        <p:spPr>
          <a:xfrm>
            <a:off x="1577684" y="3507531"/>
            <a:ext cx="164700" cy="0"/>
          </a:xfrm>
          <a:prstGeom prst="straightConnector1">
            <a:avLst/>
          </a:prstGeom>
          <a:noFill/>
          <a:ln cap="flat" cmpd="sng" w="38100">
            <a:solidFill>
              <a:srgbClr val="3A7D8C"/>
            </a:solidFill>
            <a:prstDash val="solid"/>
            <a:miter lim="0"/>
            <a:headEnd len="sm" w="sm" type="none"/>
            <a:tailEnd len="sm" w="sm" type="none"/>
          </a:ln>
        </p:spPr>
      </p:cxnSp>
      <p:sp>
        <p:nvSpPr>
          <p:cNvPr id="997" name="Google Shape;997;h4c5bf77df5a6a1aa_1_1"/>
          <p:cNvSpPr/>
          <p:nvPr/>
        </p:nvSpPr>
        <p:spPr>
          <a:xfrm rot="5400000">
            <a:off x="1678184" y="3443523"/>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8" name="Google Shape;998;h4c5bf77df5a6a1aa_1_1"/>
          <p:cNvSpPr/>
          <p:nvPr/>
        </p:nvSpPr>
        <p:spPr>
          <a:xfrm>
            <a:off x="407252" y="2958891"/>
            <a:ext cx="1170300" cy="1134000"/>
          </a:xfrm>
          <a:prstGeom prst="roundRect">
            <a:avLst>
              <a:gd fmla="val 16667" name="adj"/>
            </a:avLst>
          </a:prstGeom>
          <a:solidFill>
            <a:srgbClr val="FFFFFF"/>
          </a:solidFill>
          <a:ln cap="flat" cmpd="sng" w="29200">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9" name="Google Shape;999;h4c5bf77df5a6a1aa_1_1"/>
          <p:cNvSpPr/>
          <p:nvPr/>
        </p:nvSpPr>
        <p:spPr>
          <a:xfrm>
            <a:off x="526124"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00" name="Google Shape;1000;h4c5bf77df5a6a1aa_1_1"/>
          <p:cNvCxnSpPr/>
          <p:nvPr/>
        </p:nvCxnSpPr>
        <p:spPr>
          <a:xfrm>
            <a:off x="567272"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001" name="Google Shape;1001;h4c5bf77df5a6a1aa_1_1"/>
          <p:cNvCxnSpPr/>
          <p:nvPr/>
        </p:nvCxnSpPr>
        <p:spPr>
          <a:xfrm>
            <a:off x="567272"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002" name="Google Shape;1002;h4c5bf77df5a6a1aa_1_1"/>
          <p:cNvSpPr/>
          <p:nvPr/>
        </p:nvSpPr>
        <p:spPr>
          <a:xfrm>
            <a:off x="837020"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03" name="Google Shape;1003;h4c5bf77df5a6a1aa_1_1"/>
          <p:cNvCxnSpPr/>
          <p:nvPr/>
        </p:nvCxnSpPr>
        <p:spPr>
          <a:xfrm>
            <a:off x="878168"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004" name="Google Shape;1004;h4c5bf77df5a6a1aa_1_1"/>
          <p:cNvCxnSpPr/>
          <p:nvPr/>
        </p:nvCxnSpPr>
        <p:spPr>
          <a:xfrm>
            <a:off x="878168"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005" name="Google Shape;1005;h4c5bf77df5a6a1aa_1_1"/>
          <p:cNvSpPr/>
          <p:nvPr/>
        </p:nvSpPr>
        <p:spPr>
          <a:xfrm>
            <a:off x="1147916"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06" name="Google Shape;1006;h4c5bf77df5a6a1aa_1_1"/>
          <p:cNvCxnSpPr/>
          <p:nvPr/>
        </p:nvCxnSpPr>
        <p:spPr>
          <a:xfrm>
            <a:off x="1189064"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007" name="Google Shape;1007;h4c5bf77df5a6a1aa_1_1"/>
          <p:cNvCxnSpPr/>
          <p:nvPr/>
        </p:nvCxnSpPr>
        <p:spPr>
          <a:xfrm>
            <a:off x="1189064"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008" name="Google Shape;1008;h4c5bf77df5a6a1aa_1_1"/>
          <p:cNvSpPr txBox="1"/>
          <p:nvPr/>
        </p:nvSpPr>
        <p:spPr>
          <a:xfrm>
            <a:off x="416396" y="3617258"/>
            <a:ext cx="115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F2328"/>
                </a:solidFill>
                <a:latin typeface="Calibri"/>
                <a:ea typeface="Calibri"/>
                <a:cs typeface="Calibri"/>
                <a:sym typeface="Calibri"/>
              </a:rPr>
              <a:t>Schema S</a:t>
            </a:r>
            <a:endParaRPr b="0" i="0" sz="1400" u="none" cap="none" strike="noStrike">
              <a:solidFill>
                <a:srgbClr val="000000"/>
              </a:solidFill>
              <a:latin typeface="Arial"/>
              <a:ea typeface="Arial"/>
              <a:cs typeface="Arial"/>
              <a:sym typeface="Arial"/>
            </a:endParaRPr>
          </a:p>
        </p:txBody>
      </p:sp>
      <p:sp>
        <p:nvSpPr>
          <p:cNvPr id="1009" name="Google Shape;1009;h4c5bf77df5a6a1aa_1_1"/>
          <p:cNvSpPr txBox="1"/>
          <p:nvPr/>
        </p:nvSpPr>
        <p:spPr>
          <a:xfrm>
            <a:off x="1275932" y="2748579"/>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(a)</a:t>
            </a:r>
            <a:endParaRPr b="0" i="0" sz="1400" u="none" cap="none" strike="noStrike">
              <a:solidFill>
                <a:srgbClr val="000000"/>
              </a:solidFill>
              <a:latin typeface="Arial"/>
              <a:ea typeface="Arial"/>
              <a:cs typeface="Arial"/>
              <a:sym typeface="Arial"/>
            </a:endParaRPr>
          </a:p>
        </p:txBody>
      </p:sp>
      <p:sp>
        <p:nvSpPr>
          <p:cNvPr id="1010" name="Google Shape;1010;h4c5bf77df5a6a1aa_1_1"/>
          <p:cNvSpPr/>
          <p:nvPr/>
        </p:nvSpPr>
        <p:spPr>
          <a:xfrm>
            <a:off x="1838868" y="3160059"/>
            <a:ext cx="1444800" cy="694800"/>
          </a:xfrm>
          <a:prstGeom prst="roundRect">
            <a:avLst>
              <a:gd fmla="val 16667" name="adj"/>
            </a:avLst>
          </a:prstGeom>
          <a:solidFill>
            <a:srgbClr val="DDE5E1"/>
          </a:solidFill>
          <a:ln cap="flat" cmpd="sng" w="29200">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1" name="Google Shape;1011;h4c5bf77df5a6a1aa_1_1"/>
          <p:cNvSpPr txBox="1"/>
          <p:nvPr/>
        </p:nvSpPr>
        <p:spPr>
          <a:xfrm>
            <a:off x="1921164" y="3278931"/>
            <a:ext cx="12801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Iterate</a:t>
            </a:r>
            <a:endParaRPr b="0" i="0" sz="1400" u="none" cap="none" strike="noStrike">
              <a:solidFill>
                <a:srgbClr val="000000"/>
              </a:solidFill>
              <a:latin typeface="Arial"/>
              <a:ea typeface="Arial"/>
              <a:cs typeface="Arial"/>
              <a:sym typeface="Arial"/>
            </a:endParaRPr>
          </a:p>
        </p:txBody>
      </p:sp>
      <p:sp>
        <p:nvSpPr>
          <p:cNvPr id="1012" name="Google Shape;1012;h4c5bf77df5a6a1aa_1_1"/>
          <p:cNvSpPr txBox="1"/>
          <p:nvPr/>
        </p:nvSpPr>
        <p:spPr>
          <a:xfrm>
            <a:off x="1930308" y="3553251"/>
            <a:ext cx="12618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FK-BFS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7" name="Shape 1017"/>
        <p:cNvGrpSpPr/>
        <p:nvPr/>
      </p:nvGrpSpPr>
      <p:grpSpPr>
        <a:xfrm>
          <a:off x="0" y="0"/>
          <a:ext cx="0" cy="0"/>
          <a:chOff x="0" y="0"/>
          <a:chExt cx="0" cy="0"/>
        </a:xfrm>
      </p:grpSpPr>
      <p:sp>
        <p:nvSpPr>
          <p:cNvPr id="1018" name="Google Shape;1018;h4c5bf77df5a6a1aa_1_32"/>
          <p:cNvSpPr txBox="1"/>
          <p:nvPr/>
        </p:nvSpPr>
        <p:spPr>
          <a:xfrm>
            <a:off x="512064" y="320040"/>
            <a:ext cx="66750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RIGOR  /  REASSEMBLING THE ARCHITECTURE</a:t>
            </a:r>
            <a:endParaRPr b="0" i="0" sz="1400" u="none" cap="none" strike="noStrike">
              <a:solidFill>
                <a:srgbClr val="000000"/>
              </a:solidFill>
              <a:latin typeface="Consolas"/>
              <a:ea typeface="Consolas"/>
              <a:cs typeface="Consolas"/>
              <a:sym typeface="Consolas"/>
            </a:endParaRPr>
          </a:p>
        </p:txBody>
      </p:sp>
      <p:sp>
        <p:nvSpPr>
          <p:cNvPr id="1019" name="Google Shape;1019;h4c5bf77df5a6a1aa_1_32"/>
          <p:cNvSpPr txBox="1"/>
          <p:nvPr/>
        </p:nvSpPr>
        <p:spPr>
          <a:xfrm>
            <a:off x="512064" y="685800"/>
            <a:ext cx="10881300" cy="446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2. Anchor generation in the schema</a:t>
            </a:r>
            <a:endParaRPr b="0" i="0" sz="1400" u="none" cap="none" strike="noStrike">
              <a:solidFill>
                <a:srgbClr val="000000"/>
              </a:solidFill>
              <a:latin typeface="Arial"/>
              <a:ea typeface="Arial"/>
              <a:cs typeface="Arial"/>
              <a:sym typeface="Arial"/>
            </a:endParaRPr>
          </a:p>
        </p:txBody>
      </p:sp>
      <p:sp>
        <p:nvSpPr>
          <p:cNvPr id="1020" name="Google Shape;1020;h4c5bf77df5a6a1aa_1_32"/>
          <p:cNvSpPr txBox="1"/>
          <p:nvPr/>
        </p:nvSpPr>
        <p:spPr>
          <a:xfrm>
            <a:off x="512064" y="1271016"/>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A434C"/>
                </a:solidFill>
                <a:latin typeface="Calibri"/>
                <a:ea typeface="Calibri"/>
                <a:cs typeface="Calibri"/>
                <a:sym typeface="Calibri"/>
              </a:rPr>
              <a:t> The schema-grounded branch feeds the generation step.</a:t>
            </a:r>
            <a:endParaRPr b="0" i="0" sz="1400" u="none" cap="none" strike="noStrike">
              <a:solidFill>
                <a:srgbClr val="000000"/>
              </a:solidFill>
              <a:latin typeface="Arial"/>
              <a:ea typeface="Arial"/>
              <a:cs typeface="Arial"/>
              <a:sym typeface="Arial"/>
            </a:endParaRPr>
          </a:p>
        </p:txBody>
      </p:sp>
      <p:sp>
        <p:nvSpPr>
          <p:cNvPr id="1021" name="Google Shape;1021;h4c5bf77df5a6a1aa_1_32"/>
          <p:cNvSpPr/>
          <p:nvPr/>
        </p:nvSpPr>
        <p:spPr>
          <a:xfrm>
            <a:off x="9692640"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2" name="Google Shape;1022;h4c5bf77df5a6a1aa_1_32"/>
          <p:cNvSpPr/>
          <p:nvPr/>
        </p:nvSpPr>
        <p:spPr>
          <a:xfrm>
            <a:off x="10049256"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3" name="Google Shape;1023;h4c5bf77df5a6a1aa_1_32"/>
          <p:cNvSpPr/>
          <p:nvPr/>
        </p:nvSpPr>
        <p:spPr>
          <a:xfrm>
            <a:off x="10405872"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4" name="Google Shape;1024;h4c5bf77df5a6a1aa_1_32"/>
          <p:cNvSpPr/>
          <p:nvPr/>
        </p:nvSpPr>
        <p:spPr>
          <a:xfrm>
            <a:off x="10762488"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5" name="Google Shape;1025;h4c5bf77df5a6a1aa_1_32"/>
          <p:cNvSpPr/>
          <p:nvPr/>
        </p:nvSpPr>
        <p:spPr>
          <a:xfrm>
            <a:off x="11119104"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6" name="Google Shape;1026;h4c5bf77df5a6a1aa_1_32"/>
          <p:cNvSpPr/>
          <p:nvPr/>
        </p:nvSpPr>
        <p:spPr>
          <a:xfrm>
            <a:off x="11475720"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7" name="Google Shape;1027;h4c5bf77df5a6a1aa_1_32"/>
          <p:cNvSpPr txBox="1"/>
          <p:nvPr/>
        </p:nvSpPr>
        <p:spPr>
          <a:xfrm>
            <a:off x="10917936" y="6519672"/>
            <a:ext cx="804600" cy="2154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2 / 6</a:t>
            </a:r>
            <a:endParaRPr b="0" i="0" sz="1400" u="none" cap="none" strike="noStrike">
              <a:solidFill>
                <a:srgbClr val="000000"/>
              </a:solidFill>
              <a:latin typeface="Arial"/>
              <a:ea typeface="Arial"/>
              <a:cs typeface="Arial"/>
              <a:sym typeface="Arial"/>
            </a:endParaRPr>
          </a:p>
        </p:txBody>
      </p:sp>
      <p:cxnSp>
        <p:nvCxnSpPr>
          <p:cNvPr id="1028" name="Google Shape;1028;h4c5bf77df5a6a1aa_1_32"/>
          <p:cNvCxnSpPr/>
          <p:nvPr/>
        </p:nvCxnSpPr>
        <p:spPr>
          <a:xfrm>
            <a:off x="1577684" y="3507531"/>
            <a:ext cx="164700" cy="0"/>
          </a:xfrm>
          <a:prstGeom prst="straightConnector1">
            <a:avLst/>
          </a:prstGeom>
          <a:noFill/>
          <a:ln cap="flat" cmpd="sng" w="38100">
            <a:solidFill>
              <a:srgbClr val="3A7D8C"/>
            </a:solidFill>
            <a:prstDash val="solid"/>
            <a:miter lim="0"/>
            <a:headEnd len="sm" w="sm" type="none"/>
            <a:tailEnd len="sm" w="sm" type="none"/>
          </a:ln>
        </p:spPr>
      </p:cxnSp>
      <p:sp>
        <p:nvSpPr>
          <p:cNvPr id="1029" name="Google Shape;1029;h4c5bf77df5a6a1aa_1_32"/>
          <p:cNvSpPr/>
          <p:nvPr/>
        </p:nvSpPr>
        <p:spPr>
          <a:xfrm rot="5400000">
            <a:off x="1678184" y="3443523"/>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30" name="Google Shape;1030;h4c5bf77df5a6a1aa_1_32"/>
          <p:cNvCxnSpPr/>
          <p:nvPr/>
        </p:nvCxnSpPr>
        <p:spPr>
          <a:xfrm>
            <a:off x="3369671" y="3446462"/>
            <a:ext cx="100500" cy="0"/>
          </a:xfrm>
          <a:prstGeom prst="straightConnector1">
            <a:avLst/>
          </a:prstGeom>
          <a:noFill/>
          <a:ln cap="flat" cmpd="sng" w="29200">
            <a:solidFill>
              <a:srgbClr val="3A7D8C"/>
            </a:solidFill>
            <a:prstDash val="solid"/>
            <a:miter lim="0"/>
            <a:headEnd len="sm" w="sm" type="none"/>
            <a:tailEnd len="sm" w="sm" type="none"/>
          </a:ln>
        </p:spPr>
      </p:cxnSp>
      <p:cxnSp>
        <p:nvCxnSpPr>
          <p:cNvPr id="1031" name="Google Shape;1031;h4c5bf77df5a6a1aa_1_32"/>
          <p:cNvCxnSpPr/>
          <p:nvPr/>
        </p:nvCxnSpPr>
        <p:spPr>
          <a:xfrm rot="10800000">
            <a:off x="3456647" y="2186248"/>
            <a:ext cx="0" cy="1271100"/>
          </a:xfrm>
          <a:prstGeom prst="straightConnector1">
            <a:avLst/>
          </a:prstGeom>
          <a:noFill/>
          <a:ln cap="flat" cmpd="sng" w="29200">
            <a:solidFill>
              <a:srgbClr val="3A7D8C"/>
            </a:solidFill>
            <a:prstDash val="solid"/>
            <a:miter lim="0"/>
            <a:headEnd len="sm" w="sm" type="none"/>
            <a:tailEnd len="sm" w="sm" type="none"/>
          </a:ln>
        </p:spPr>
      </p:cxnSp>
      <p:cxnSp>
        <p:nvCxnSpPr>
          <p:cNvPr id="1032" name="Google Shape;1032;h4c5bf77df5a6a1aa_1_32"/>
          <p:cNvCxnSpPr/>
          <p:nvPr/>
        </p:nvCxnSpPr>
        <p:spPr>
          <a:xfrm>
            <a:off x="3456647" y="2199939"/>
            <a:ext cx="265200" cy="0"/>
          </a:xfrm>
          <a:prstGeom prst="straightConnector1">
            <a:avLst/>
          </a:prstGeom>
          <a:noFill/>
          <a:ln cap="flat" cmpd="sng" w="29200">
            <a:solidFill>
              <a:srgbClr val="3A7D8C"/>
            </a:solidFill>
            <a:prstDash val="solid"/>
            <a:miter lim="0"/>
            <a:headEnd len="sm" w="sm" type="none"/>
            <a:tailEnd len="sm" w="sm" type="none"/>
          </a:ln>
        </p:spPr>
      </p:cxnSp>
      <p:sp>
        <p:nvSpPr>
          <p:cNvPr id="1033" name="Google Shape;1033;h4c5bf77df5a6a1aa_1_32"/>
          <p:cNvSpPr/>
          <p:nvPr/>
        </p:nvSpPr>
        <p:spPr>
          <a:xfrm rot="5400000">
            <a:off x="3918081" y="2135931"/>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4" name="Google Shape;1034;h4c5bf77df5a6a1aa_1_32"/>
          <p:cNvSpPr/>
          <p:nvPr/>
        </p:nvSpPr>
        <p:spPr>
          <a:xfrm>
            <a:off x="407252" y="2958891"/>
            <a:ext cx="1170300" cy="1134000"/>
          </a:xfrm>
          <a:prstGeom prst="roundRect">
            <a:avLst>
              <a:gd fmla="val 16667" name="adj"/>
            </a:avLst>
          </a:prstGeom>
          <a:solidFill>
            <a:srgbClr val="FFFFFF"/>
          </a:solidFill>
          <a:ln cap="flat" cmpd="sng" w="15225">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5" name="Google Shape;1035;h4c5bf77df5a6a1aa_1_32"/>
          <p:cNvSpPr/>
          <p:nvPr/>
        </p:nvSpPr>
        <p:spPr>
          <a:xfrm>
            <a:off x="526124"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36" name="Google Shape;1036;h4c5bf77df5a6a1aa_1_32"/>
          <p:cNvCxnSpPr/>
          <p:nvPr/>
        </p:nvCxnSpPr>
        <p:spPr>
          <a:xfrm>
            <a:off x="567272"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037" name="Google Shape;1037;h4c5bf77df5a6a1aa_1_32"/>
          <p:cNvCxnSpPr/>
          <p:nvPr/>
        </p:nvCxnSpPr>
        <p:spPr>
          <a:xfrm>
            <a:off x="567272"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038" name="Google Shape;1038;h4c5bf77df5a6a1aa_1_32"/>
          <p:cNvSpPr/>
          <p:nvPr/>
        </p:nvSpPr>
        <p:spPr>
          <a:xfrm>
            <a:off x="837020"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39" name="Google Shape;1039;h4c5bf77df5a6a1aa_1_32"/>
          <p:cNvCxnSpPr/>
          <p:nvPr/>
        </p:nvCxnSpPr>
        <p:spPr>
          <a:xfrm>
            <a:off x="878168"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040" name="Google Shape;1040;h4c5bf77df5a6a1aa_1_32"/>
          <p:cNvCxnSpPr/>
          <p:nvPr/>
        </p:nvCxnSpPr>
        <p:spPr>
          <a:xfrm>
            <a:off x="878168"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041" name="Google Shape;1041;h4c5bf77df5a6a1aa_1_32"/>
          <p:cNvSpPr/>
          <p:nvPr/>
        </p:nvSpPr>
        <p:spPr>
          <a:xfrm>
            <a:off x="1147916"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42" name="Google Shape;1042;h4c5bf77df5a6a1aa_1_32"/>
          <p:cNvCxnSpPr/>
          <p:nvPr/>
        </p:nvCxnSpPr>
        <p:spPr>
          <a:xfrm>
            <a:off x="1189064"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043" name="Google Shape;1043;h4c5bf77df5a6a1aa_1_32"/>
          <p:cNvCxnSpPr/>
          <p:nvPr/>
        </p:nvCxnSpPr>
        <p:spPr>
          <a:xfrm>
            <a:off x="1189064"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044" name="Google Shape;1044;h4c5bf77df5a6a1aa_1_32"/>
          <p:cNvSpPr txBox="1"/>
          <p:nvPr/>
        </p:nvSpPr>
        <p:spPr>
          <a:xfrm>
            <a:off x="416396" y="3617258"/>
            <a:ext cx="115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F2328"/>
                </a:solidFill>
                <a:latin typeface="Calibri"/>
                <a:ea typeface="Calibri"/>
                <a:cs typeface="Calibri"/>
                <a:sym typeface="Calibri"/>
              </a:rPr>
              <a:t>Schema S</a:t>
            </a:r>
            <a:endParaRPr b="0" i="0" sz="1400" u="none" cap="none" strike="noStrike">
              <a:solidFill>
                <a:srgbClr val="000000"/>
              </a:solidFill>
              <a:latin typeface="Arial"/>
              <a:ea typeface="Arial"/>
              <a:cs typeface="Arial"/>
              <a:sym typeface="Arial"/>
            </a:endParaRPr>
          </a:p>
        </p:txBody>
      </p:sp>
      <p:sp>
        <p:nvSpPr>
          <p:cNvPr id="1045" name="Google Shape;1045;h4c5bf77df5a6a1aa_1_32"/>
          <p:cNvSpPr txBox="1"/>
          <p:nvPr/>
        </p:nvSpPr>
        <p:spPr>
          <a:xfrm>
            <a:off x="1275932" y="2748579"/>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(a)</a:t>
            </a:r>
            <a:endParaRPr b="0" i="0" sz="1400" u="none" cap="none" strike="noStrike">
              <a:solidFill>
                <a:srgbClr val="000000"/>
              </a:solidFill>
              <a:latin typeface="Arial"/>
              <a:ea typeface="Arial"/>
              <a:cs typeface="Arial"/>
              <a:sym typeface="Arial"/>
            </a:endParaRPr>
          </a:p>
        </p:txBody>
      </p:sp>
      <p:sp>
        <p:nvSpPr>
          <p:cNvPr id="1046" name="Google Shape;1046;h4c5bf77df5a6a1aa_1_32"/>
          <p:cNvSpPr/>
          <p:nvPr/>
        </p:nvSpPr>
        <p:spPr>
          <a:xfrm>
            <a:off x="4043884" y="1825035"/>
            <a:ext cx="2103000" cy="759000"/>
          </a:xfrm>
          <a:prstGeom prst="roundRect">
            <a:avLst>
              <a:gd fmla="val 16667" name="adj"/>
            </a:avLst>
          </a:prstGeom>
          <a:solidFill>
            <a:srgbClr val="DDE5E1"/>
          </a:solidFill>
          <a:ln cap="flat" cmpd="sng" w="29200">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7" name="Google Shape;1047;h4c5bf77df5a6a1aa_1_32"/>
          <p:cNvSpPr txBox="1"/>
          <p:nvPr/>
        </p:nvSpPr>
        <p:spPr>
          <a:xfrm>
            <a:off x="4117036" y="1590575"/>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(b)</a:t>
            </a:r>
            <a:endParaRPr b="0" i="0" sz="1400" u="none" cap="none" strike="noStrike">
              <a:solidFill>
                <a:srgbClr val="000000"/>
              </a:solidFill>
              <a:latin typeface="Arial"/>
              <a:ea typeface="Arial"/>
              <a:cs typeface="Arial"/>
              <a:sym typeface="Arial"/>
            </a:endParaRPr>
          </a:p>
        </p:txBody>
      </p:sp>
      <p:sp>
        <p:nvSpPr>
          <p:cNvPr id="1048" name="Google Shape;1048;h4c5bf77df5a6a1aa_1_32"/>
          <p:cNvSpPr txBox="1"/>
          <p:nvPr/>
        </p:nvSpPr>
        <p:spPr>
          <a:xfrm>
            <a:off x="4126180" y="1943907"/>
            <a:ext cx="19386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Direct mapping</a:t>
            </a:r>
            <a:endParaRPr b="0" i="0" sz="1400" u="none" cap="none" strike="noStrike">
              <a:solidFill>
                <a:srgbClr val="000000"/>
              </a:solidFill>
              <a:latin typeface="Arial"/>
              <a:ea typeface="Arial"/>
              <a:cs typeface="Arial"/>
              <a:sym typeface="Arial"/>
            </a:endParaRPr>
          </a:p>
        </p:txBody>
      </p:sp>
      <p:sp>
        <p:nvSpPr>
          <p:cNvPr id="1049" name="Google Shape;1049;h4c5bf77df5a6a1aa_1_32"/>
          <p:cNvSpPr txBox="1"/>
          <p:nvPr/>
        </p:nvSpPr>
        <p:spPr>
          <a:xfrm>
            <a:off x="4135323" y="2218227"/>
            <a:ext cx="19203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OWL seed DMᵣ</a:t>
            </a:r>
            <a:endParaRPr b="0" i="0" sz="1400" u="none" cap="none" strike="noStrike">
              <a:solidFill>
                <a:srgbClr val="000000"/>
              </a:solidFill>
              <a:latin typeface="Arial"/>
              <a:ea typeface="Arial"/>
              <a:cs typeface="Arial"/>
              <a:sym typeface="Arial"/>
            </a:endParaRPr>
          </a:p>
        </p:txBody>
      </p:sp>
      <p:cxnSp>
        <p:nvCxnSpPr>
          <p:cNvPr id="1050" name="Google Shape;1050;h4c5bf77df5a6a1aa_1_32"/>
          <p:cNvCxnSpPr/>
          <p:nvPr/>
        </p:nvCxnSpPr>
        <p:spPr>
          <a:xfrm>
            <a:off x="3280056" y="3446462"/>
            <a:ext cx="100500" cy="0"/>
          </a:xfrm>
          <a:prstGeom prst="straightConnector1">
            <a:avLst/>
          </a:prstGeom>
          <a:noFill/>
          <a:ln cap="flat" cmpd="sng" w="29200">
            <a:solidFill>
              <a:srgbClr val="3A7D8C"/>
            </a:solidFill>
            <a:prstDash val="solid"/>
            <a:miter lim="0"/>
            <a:headEnd len="sm" w="sm" type="none"/>
            <a:tailEnd len="sm" w="sm" type="none"/>
          </a:ln>
        </p:spPr>
      </p:cxnSp>
      <p:sp>
        <p:nvSpPr>
          <p:cNvPr id="1051" name="Google Shape;1051;h4c5bf77df5a6a1aa_1_32"/>
          <p:cNvSpPr/>
          <p:nvPr/>
        </p:nvSpPr>
        <p:spPr>
          <a:xfrm>
            <a:off x="1838868" y="3160059"/>
            <a:ext cx="1444800" cy="694800"/>
          </a:xfrm>
          <a:prstGeom prst="roundRect">
            <a:avLst>
              <a:gd fmla="val 16667" name="adj"/>
            </a:avLst>
          </a:prstGeom>
          <a:solidFill>
            <a:srgbClr val="F3F5F4"/>
          </a:solidFill>
          <a:ln cap="flat" cmpd="sng" w="165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2" name="Google Shape;1052;h4c5bf77df5a6a1aa_1_32"/>
          <p:cNvSpPr txBox="1"/>
          <p:nvPr/>
        </p:nvSpPr>
        <p:spPr>
          <a:xfrm>
            <a:off x="1921164" y="3278931"/>
            <a:ext cx="12801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Iterate</a:t>
            </a:r>
            <a:endParaRPr b="0" i="0" sz="1400" u="none" cap="none" strike="noStrike">
              <a:solidFill>
                <a:srgbClr val="000000"/>
              </a:solidFill>
              <a:latin typeface="Arial"/>
              <a:ea typeface="Arial"/>
              <a:cs typeface="Arial"/>
              <a:sym typeface="Arial"/>
            </a:endParaRPr>
          </a:p>
        </p:txBody>
      </p:sp>
      <p:sp>
        <p:nvSpPr>
          <p:cNvPr id="1053" name="Google Shape;1053;h4c5bf77df5a6a1aa_1_32"/>
          <p:cNvSpPr txBox="1"/>
          <p:nvPr/>
        </p:nvSpPr>
        <p:spPr>
          <a:xfrm>
            <a:off x="1930308" y="3553251"/>
            <a:ext cx="12618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FK-BFS</a:t>
            </a:r>
            <a:endParaRPr b="0" i="0" sz="1400" u="none" cap="none" strike="noStrike">
              <a:solidFill>
                <a:srgbClr val="000000"/>
              </a:solidFill>
              <a:latin typeface="Arial"/>
              <a:ea typeface="Arial"/>
              <a:cs typeface="Arial"/>
              <a:sym typeface="Arial"/>
            </a:endParaRPr>
          </a:p>
        </p:txBody>
      </p:sp>
      <p:cxnSp>
        <p:nvCxnSpPr>
          <p:cNvPr id="1054" name="Google Shape;1054;h4c5bf77df5a6a1aa_1_32"/>
          <p:cNvCxnSpPr/>
          <p:nvPr/>
        </p:nvCxnSpPr>
        <p:spPr>
          <a:xfrm>
            <a:off x="3657665" y="2199459"/>
            <a:ext cx="265200" cy="0"/>
          </a:xfrm>
          <a:prstGeom prst="straightConnector1">
            <a:avLst/>
          </a:prstGeom>
          <a:noFill/>
          <a:ln cap="flat" cmpd="sng" w="29200">
            <a:solidFill>
              <a:srgbClr val="3A7D8C"/>
            </a:solidFill>
            <a:prstDash val="solid"/>
            <a:miter lim="0"/>
            <a:headEnd len="sm" w="sm" type="none"/>
            <a:tailEnd len="sm" w="sm" type="non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9" name="Shape 1059"/>
        <p:cNvGrpSpPr/>
        <p:nvPr/>
      </p:nvGrpSpPr>
      <p:grpSpPr>
        <a:xfrm>
          <a:off x="0" y="0"/>
          <a:ext cx="0" cy="0"/>
          <a:chOff x="0" y="0"/>
          <a:chExt cx="0" cy="0"/>
        </a:xfrm>
      </p:grpSpPr>
      <p:sp>
        <p:nvSpPr>
          <p:cNvPr id="1060" name="Google Shape;1060;h4c5bf77df5a6a1aa_1_73"/>
          <p:cNvSpPr txBox="1"/>
          <p:nvPr/>
        </p:nvSpPr>
        <p:spPr>
          <a:xfrm>
            <a:off x="512064" y="320040"/>
            <a:ext cx="66750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RIGOR  /  REASSEMBLING THE ARCHITECTURE</a:t>
            </a:r>
            <a:endParaRPr b="0" i="0" sz="1400" u="none" cap="none" strike="noStrike">
              <a:solidFill>
                <a:srgbClr val="000000"/>
              </a:solidFill>
              <a:latin typeface="Consolas"/>
              <a:ea typeface="Consolas"/>
              <a:cs typeface="Consolas"/>
              <a:sym typeface="Consolas"/>
            </a:endParaRPr>
          </a:p>
        </p:txBody>
      </p:sp>
      <p:sp>
        <p:nvSpPr>
          <p:cNvPr id="1061" name="Google Shape;1061;h4c5bf77df5a6a1aa_1_73"/>
          <p:cNvSpPr txBox="1"/>
          <p:nvPr/>
        </p:nvSpPr>
        <p:spPr>
          <a:xfrm>
            <a:off x="512064" y="685800"/>
            <a:ext cx="10881300" cy="446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3. Retrieve the missing semantics</a:t>
            </a:r>
            <a:endParaRPr b="0" i="0" sz="1400" u="none" cap="none" strike="noStrike">
              <a:solidFill>
                <a:srgbClr val="000000"/>
              </a:solidFill>
              <a:latin typeface="Arial"/>
              <a:ea typeface="Arial"/>
              <a:cs typeface="Arial"/>
              <a:sym typeface="Arial"/>
            </a:endParaRPr>
          </a:p>
        </p:txBody>
      </p:sp>
      <p:sp>
        <p:nvSpPr>
          <p:cNvPr id="1062" name="Google Shape;1062;h4c5bf77df5a6a1aa_1_73"/>
          <p:cNvSpPr txBox="1"/>
          <p:nvPr/>
        </p:nvSpPr>
        <p:spPr>
          <a:xfrm>
            <a:off x="512064" y="1271016"/>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A434C"/>
                </a:solidFill>
                <a:latin typeface="Calibri"/>
                <a:ea typeface="Calibri"/>
                <a:cs typeface="Calibri"/>
                <a:sym typeface="Calibri"/>
              </a:rPr>
              <a:t> Context is retrieved independently from three sources.</a:t>
            </a:r>
            <a:endParaRPr b="0" i="0" sz="1400" u="none" cap="none" strike="noStrike">
              <a:solidFill>
                <a:srgbClr val="000000"/>
              </a:solidFill>
              <a:latin typeface="Arial"/>
              <a:ea typeface="Arial"/>
              <a:cs typeface="Arial"/>
              <a:sym typeface="Arial"/>
            </a:endParaRPr>
          </a:p>
        </p:txBody>
      </p:sp>
      <p:sp>
        <p:nvSpPr>
          <p:cNvPr id="1063" name="Google Shape;1063;h4c5bf77df5a6a1aa_1_73"/>
          <p:cNvSpPr/>
          <p:nvPr/>
        </p:nvSpPr>
        <p:spPr>
          <a:xfrm>
            <a:off x="9692640"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4" name="Google Shape;1064;h4c5bf77df5a6a1aa_1_73"/>
          <p:cNvSpPr/>
          <p:nvPr/>
        </p:nvSpPr>
        <p:spPr>
          <a:xfrm>
            <a:off x="10049256"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5" name="Google Shape;1065;h4c5bf77df5a6a1aa_1_73"/>
          <p:cNvSpPr/>
          <p:nvPr/>
        </p:nvSpPr>
        <p:spPr>
          <a:xfrm>
            <a:off x="10405872"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6" name="Google Shape;1066;h4c5bf77df5a6a1aa_1_73"/>
          <p:cNvSpPr/>
          <p:nvPr/>
        </p:nvSpPr>
        <p:spPr>
          <a:xfrm>
            <a:off x="10762488"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7" name="Google Shape;1067;h4c5bf77df5a6a1aa_1_73"/>
          <p:cNvSpPr/>
          <p:nvPr/>
        </p:nvSpPr>
        <p:spPr>
          <a:xfrm>
            <a:off x="11119104"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8" name="Google Shape;1068;h4c5bf77df5a6a1aa_1_73"/>
          <p:cNvSpPr/>
          <p:nvPr/>
        </p:nvSpPr>
        <p:spPr>
          <a:xfrm>
            <a:off x="11475720"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9" name="Google Shape;1069;h4c5bf77df5a6a1aa_1_73"/>
          <p:cNvSpPr txBox="1"/>
          <p:nvPr/>
        </p:nvSpPr>
        <p:spPr>
          <a:xfrm>
            <a:off x="10917936" y="6519672"/>
            <a:ext cx="804600" cy="2154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3 / 6</a:t>
            </a:r>
            <a:endParaRPr b="0" i="0" sz="1400" u="none" cap="none" strike="noStrike">
              <a:solidFill>
                <a:srgbClr val="000000"/>
              </a:solidFill>
              <a:latin typeface="Arial"/>
              <a:ea typeface="Arial"/>
              <a:cs typeface="Arial"/>
              <a:sym typeface="Arial"/>
            </a:endParaRPr>
          </a:p>
        </p:txBody>
      </p:sp>
      <p:cxnSp>
        <p:nvCxnSpPr>
          <p:cNvPr id="1070" name="Google Shape;1070;h4c5bf77df5a6a1aa_1_73"/>
          <p:cNvCxnSpPr/>
          <p:nvPr/>
        </p:nvCxnSpPr>
        <p:spPr>
          <a:xfrm>
            <a:off x="1577684" y="3507531"/>
            <a:ext cx="164700" cy="0"/>
          </a:xfrm>
          <a:prstGeom prst="straightConnector1">
            <a:avLst/>
          </a:prstGeom>
          <a:noFill/>
          <a:ln cap="flat" cmpd="sng" w="38100">
            <a:solidFill>
              <a:srgbClr val="3A7D8C"/>
            </a:solidFill>
            <a:prstDash val="solid"/>
            <a:miter lim="0"/>
            <a:headEnd len="sm" w="sm" type="none"/>
            <a:tailEnd len="sm" w="sm" type="none"/>
          </a:ln>
        </p:spPr>
      </p:cxnSp>
      <p:sp>
        <p:nvSpPr>
          <p:cNvPr id="1071" name="Google Shape;1071;h4c5bf77df5a6a1aa_1_73"/>
          <p:cNvSpPr/>
          <p:nvPr/>
        </p:nvSpPr>
        <p:spPr>
          <a:xfrm rot="5400000">
            <a:off x="1678184" y="3443523"/>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72" name="Google Shape;1072;h4c5bf77df5a6a1aa_1_73"/>
          <p:cNvCxnSpPr/>
          <p:nvPr/>
        </p:nvCxnSpPr>
        <p:spPr>
          <a:xfrm>
            <a:off x="3369671" y="3446462"/>
            <a:ext cx="100500" cy="0"/>
          </a:xfrm>
          <a:prstGeom prst="straightConnector1">
            <a:avLst/>
          </a:prstGeom>
          <a:noFill/>
          <a:ln cap="flat" cmpd="sng" w="29200">
            <a:solidFill>
              <a:srgbClr val="3A7D8C"/>
            </a:solidFill>
            <a:prstDash val="solid"/>
            <a:miter lim="0"/>
            <a:headEnd len="sm" w="sm" type="none"/>
            <a:tailEnd len="sm" w="sm" type="none"/>
          </a:ln>
        </p:spPr>
      </p:cxnSp>
      <p:cxnSp>
        <p:nvCxnSpPr>
          <p:cNvPr id="1073" name="Google Shape;1073;h4c5bf77df5a6a1aa_1_73"/>
          <p:cNvCxnSpPr/>
          <p:nvPr/>
        </p:nvCxnSpPr>
        <p:spPr>
          <a:xfrm rot="10800000">
            <a:off x="3456647" y="2186248"/>
            <a:ext cx="0" cy="1271100"/>
          </a:xfrm>
          <a:prstGeom prst="straightConnector1">
            <a:avLst/>
          </a:prstGeom>
          <a:noFill/>
          <a:ln cap="flat" cmpd="sng" w="29200">
            <a:solidFill>
              <a:srgbClr val="3A7D8C"/>
            </a:solidFill>
            <a:prstDash val="solid"/>
            <a:miter lim="0"/>
            <a:headEnd len="sm" w="sm" type="none"/>
            <a:tailEnd len="sm" w="sm" type="none"/>
          </a:ln>
        </p:spPr>
      </p:cxnSp>
      <p:cxnSp>
        <p:nvCxnSpPr>
          <p:cNvPr id="1074" name="Google Shape;1074;h4c5bf77df5a6a1aa_1_73"/>
          <p:cNvCxnSpPr/>
          <p:nvPr/>
        </p:nvCxnSpPr>
        <p:spPr>
          <a:xfrm>
            <a:off x="3456647" y="2199939"/>
            <a:ext cx="265200" cy="0"/>
          </a:xfrm>
          <a:prstGeom prst="straightConnector1">
            <a:avLst/>
          </a:prstGeom>
          <a:noFill/>
          <a:ln cap="flat" cmpd="sng" w="29200">
            <a:solidFill>
              <a:srgbClr val="3A7D8C"/>
            </a:solidFill>
            <a:prstDash val="solid"/>
            <a:miter lim="0"/>
            <a:headEnd len="sm" w="sm" type="none"/>
            <a:tailEnd len="sm" w="sm" type="none"/>
          </a:ln>
        </p:spPr>
      </p:cxnSp>
      <p:sp>
        <p:nvSpPr>
          <p:cNvPr id="1075" name="Google Shape;1075;h4c5bf77df5a6a1aa_1_73"/>
          <p:cNvSpPr/>
          <p:nvPr/>
        </p:nvSpPr>
        <p:spPr>
          <a:xfrm rot="5400000">
            <a:off x="3918081" y="2135931"/>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76" name="Google Shape;1076;h4c5bf77df5a6a1aa_1_73"/>
          <p:cNvCxnSpPr/>
          <p:nvPr/>
        </p:nvCxnSpPr>
        <p:spPr>
          <a:xfrm>
            <a:off x="3356063" y="3608115"/>
            <a:ext cx="118800" cy="0"/>
          </a:xfrm>
          <a:prstGeom prst="straightConnector1">
            <a:avLst/>
          </a:prstGeom>
          <a:noFill/>
          <a:ln cap="flat" cmpd="sng" w="26650">
            <a:solidFill>
              <a:srgbClr val="3A7D8C"/>
            </a:solidFill>
            <a:prstDash val="solid"/>
            <a:miter lim="0"/>
            <a:headEnd len="sm" w="sm" type="none"/>
            <a:tailEnd len="sm" w="sm" type="none"/>
          </a:ln>
        </p:spPr>
      </p:cxnSp>
      <p:cxnSp>
        <p:nvCxnSpPr>
          <p:cNvPr id="1077" name="Google Shape;1077;h4c5bf77df5a6a1aa_1_73"/>
          <p:cNvCxnSpPr/>
          <p:nvPr/>
        </p:nvCxnSpPr>
        <p:spPr>
          <a:xfrm rot="10800000">
            <a:off x="3537528" y="3283708"/>
            <a:ext cx="0" cy="310800"/>
          </a:xfrm>
          <a:prstGeom prst="straightConnector1">
            <a:avLst/>
          </a:prstGeom>
          <a:noFill/>
          <a:ln cap="flat" cmpd="sng" w="26650">
            <a:solidFill>
              <a:srgbClr val="3A7D8C"/>
            </a:solidFill>
            <a:prstDash val="solid"/>
            <a:miter lim="0"/>
            <a:headEnd len="sm" w="sm" type="none"/>
            <a:tailEnd len="sm" w="sm" type="none"/>
          </a:ln>
        </p:spPr>
      </p:cxnSp>
      <p:cxnSp>
        <p:nvCxnSpPr>
          <p:cNvPr id="1078" name="Google Shape;1078;h4c5bf77df5a6a1aa_1_73"/>
          <p:cNvCxnSpPr/>
          <p:nvPr/>
        </p:nvCxnSpPr>
        <p:spPr>
          <a:xfrm>
            <a:off x="3537528" y="3297219"/>
            <a:ext cx="255900" cy="0"/>
          </a:xfrm>
          <a:prstGeom prst="straightConnector1">
            <a:avLst/>
          </a:prstGeom>
          <a:noFill/>
          <a:ln cap="flat" cmpd="sng" w="26650">
            <a:solidFill>
              <a:srgbClr val="3A7D8C"/>
            </a:solidFill>
            <a:prstDash val="solid"/>
            <a:miter lim="0"/>
            <a:headEnd len="sm" w="sm" type="none"/>
            <a:tailEnd len="sm" w="sm" type="none"/>
          </a:ln>
        </p:spPr>
      </p:cxnSp>
      <p:sp>
        <p:nvSpPr>
          <p:cNvPr id="1079" name="Google Shape;1079;h4c5bf77df5a6a1aa_1_73"/>
          <p:cNvSpPr/>
          <p:nvPr/>
        </p:nvSpPr>
        <p:spPr>
          <a:xfrm rot="5400000">
            <a:off x="3729467" y="3233211"/>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80" name="Google Shape;1080;h4c5bf77df5a6a1aa_1_73"/>
          <p:cNvCxnSpPr/>
          <p:nvPr/>
        </p:nvCxnSpPr>
        <p:spPr>
          <a:xfrm>
            <a:off x="3356063" y="3608115"/>
            <a:ext cx="118800" cy="0"/>
          </a:xfrm>
          <a:prstGeom prst="straightConnector1">
            <a:avLst/>
          </a:prstGeom>
          <a:noFill/>
          <a:ln cap="flat" cmpd="sng" w="26650">
            <a:solidFill>
              <a:srgbClr val="3A7D8C"/>
            </a:solidFill>
            <a:prstDash val="solid"/>
            <a:miter lim="0"/>
            <a:headEnd len="sm" w="sm" type="none"/>
            <a:tailEnd len="sm" w="sm" type="none"/>
          </a:ln>
        </p:spPr>
      </p:cxnSp>
      <p:cxnSp>
        <p:nvCxnSpPr>
          <p:cNvPr id="1081" name="Google Shape;1081;h4c5bf77df5a6a1aa_1_73"/>
          <p:cNvCxnSpPr/>
          <p:nvPr/>
        </p:nvCxnSpPr>
        <p:spPr>
          <a:xfrm>
            <a:off x="3537528" y="3992163"/>
            <a:ext cx="255900" cy="0"/>
          </a:xfrm>
          <a:prstGeom prst="straightConnector1">
            <a:avLst/>
          </a:prstGeom>
          <a:noFill/>
          <a:ln cap="flat" cmpd="sng" w="26650">
            <a:solidFill>
              <a:srgbClr val="3A7D8C"/>
            </a:solidFill>
            <a:prstDash val="solid"/>
            <a:miter lim="0"/>
            <a:headEnd len="sm" w="sm" type="none"/>
            <a:tailEnd len="sm" w="sm" type="none"/>
          </a:ln>
        </p:spPr>
      </p:cxnSp>
      <p:sp>
        <p:nvSpPr>
          <p:cNvPr id="1082" name="Google Shape;1082;h4c5bf77df5a6a1aa_1_73"/>
          <p:cNvSpPr/>
          <p:nvPr/>
        </p:nvSpPr>
        <p:spPr>
          <a:xfrm rot="5400000">
            <a:off x="3729467" y="3928154"/>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83" name="Google Shape;1083;h4c5bf77df5a6a1aa_1_73"/>
          <p:cNvCxnSpPr/>
          <p:nvPr/>
        </p:nvCxnSpPr>
        <p:spPr>
          <a:xfrm>
            <a:off x="3418656" y="3608115"/>
            <a:ext cx="118800" cy="0"/>
          </a:xfrm>
          <a:prstGeom prst="straightConnector1">
            <a:avLst/>
          </a:prstGeom>
          <a:noFill/>
          <a:ln cap="flat" cmpd="sng" w="26650">
            <a:solidFill>
              <a:srgbClr val="3A7D8C"/>
            </a:solidFill>
            <a:prstDash val="solid"/>
            <a:miter lim="0"/>
            <a:headEnd len="sm" w="sm" type="none"/>
            <a:tailEnd len="sm" w="sm" type="none"/>
          </a:ln>
        </p:spPr>
      </p:cxnSp>
      <p:cxnSp>
        <p:nvCxnSpPr>
          <p:cNvPr id="1084" name="Google Shape;1084;h4c5bf77df5a6a1aa_1_73"/>
          <p:cNvCxnSpPr/>
          <p:nvPr/>
        </p:nvCxnSpPr>
        <p:spPr>
          <a:xfrm>
            <a:off x="3537528" y="3594508"/>
            <a:ext cx="0" cy="1079100"/>
          </a:xfrm>
          <a:prstGeom prst="straightConnector1">
            <a:avLst/>
          </a:prstGeom>
          <a:noFill/>
          <a:ln cap="flat" cmpd="sng" w="26650">
            <a:solidFill>
              <a:srgbClr val="3A7D8C"/>
            </a:solidFill>
            <a:prstDash val="solid"/>
            <a:miter lim="0"/>
            <a:headEnd len="sm" w="sm" type="none"/>
            <a:tailEnd len="sm" w="sm" type="none"/>
          </a:ln>
        </p:spPr>
      </p:cxnSp>
      <p:cxnSp>
        <p:nvCxnSpPr>
          <p:cNvPr id="1085" name="Google Shape;1085;h4c5bf77df5a6a1aa_1_73"/>
          <p:cNvCxnSpPr/>
          <p:nvPr/>
        </p:nvCxnSpPr>
        <p:spPr>
          <a:xfrm>
            <a:off x="3537528" y="4659893"/>
            <a:ext cx="255900" cy="0"/>
          </a:xfrm>
          <a:prstGeom prst="straightConnector1">
            <a:avLst/>
          </a:prstGeom>
          <a:noFill/>
          <a:ln cap="flat" cmpd="sng" w="26650">
            <a:solidFill>
              <a:srgbClr val="3A7D8C"/>
            </a:solidFill>
            <a:prstDash val="solid"/>
            <a:miter lim="0"/>
            <a:headEnd len="sm" w="sm" type="none"/>
            <a:tailEnd len="sm" w="sm" type="none"/>
          </a:ln>
        </p:spPr>
      </p:cxnSp>
      <p:sp>
        <p:nvSpPr>
          <p:cNvPr id="1086" name="Google Shape;1086;h4c5bf77df5a6a1aa_1_73"/>
          <p:cNvSpPr/>
          <p:nvPr/>
        </p:nvSpPr>
        <p:spPr>
          <a:xfrm rot="5400000">
            <a:off x="3729467" y="4595885"/>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7" name="Google Shape;1087;h4c5bf77df5a6a1aa_1_73"/>
          <p:cNvSpPr/>
          <p:nvPr/>
        </p:nvSpPr>
        <p:spPr>
          <a:xfrm>
            <a:off x="407252" y="2958891"/>
            <a:ext cx="1170300" cy="1134000"/>
          </a:xfrm>
          <a:prstGeom prst="roundRect">
            <a:avLst>
              <a:gd fmla="val 16667" name="adj"/>
            </a:avLst>
          </a:prstGeom>
          <a:solidFill>
            <a:srgbClr val="FFFFFF"/>
          </a:solidFill>
          <a:ln cap="flat" cmpd="sng" w="15225">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8" name="Google Shape;1088;h4c5bf77df5a6a1aa_1_73"/>
          <p:cNvSpPr/>
          <p:nvPr/>
        </p:nvSpPr>
        <p:spPr>
          <a:xfrm>
            <a:off x="526124"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89" name="Google Shape;1089;h4c5bf77df5a6a1aa_1_73"/>
          <p:cNvCxnSpPr/>
          <p:nvPr/>
        </p:nvCxnSpPr>
        <p:spPr>
          <a:xfrm>
            <a:off x="567272"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090" name="Google Shape;1090;h4c5bf77df5a6a1aa_1_73"/>
          <p:cNvCxnSpPr/>
          <p:nvPr/>
        </p:nvCxnSpPr>
        <p:spPr>
          <a:xfrm>
            <a:off x="567272"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091" name="Google Shape;1091;h4c5bf77df5a6a1aa_1_73"/>
          <p:cNvSpPr/>
          <p:nvPr/>
        </p:nvSpPr>
        <p:spPr>
          <a:xfrm>
            <a:off x="837020"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92" name="Google Shape;1092;h4c5bf77df5a6a1aa_1_73"/>
          <p:cNvCxnSpPr/>
          <p:nvPr/>
        </p:nvCxnSpPr>
        <p:spPr>
          <a:xfrm>
            <a:off x="878168"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093" name="Google Shape;1093;h4c5bf77df5a6a1aa_1_73"/>
          <p:cNvCxnSpPr/>
          <p:nvPr/>
        </p:nvCxnSpPr>
        <p:spPr>
          <a:xfrm>
            <a:off x="878168"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094" name="Google Shape;1094;h4c5bf77df5a6a1aa_1_73"/>
          <p:cNvSpPr/>
          <p:nvPr/>
        </p:nvSpPr>
        <p:spPr>
          <a:xfrm>
            <a:off x="1147916"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95" name="Google Shape;1095;h4c5bf77df5a6a1aa_1_73"/>
          <p:cNvCxnSpPr/>
          <p:nvPr/>
        </p:nvCxnSpPr>
        <p:spPr>
          <a:xfrm>
            <a:off x="1189064"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096" name="Google Shape;1096;h4c5bf77df5a6a1aa_1_73"/>
          <p:cNvCxnSpPr/>
          <p:nvPr/>
        </p:nvCxnSpPr>
        <p:spPr>
          <a:xfrm>
            <a:off x="1189064"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097" name="Google Shape;1097;h4c5bf77df5a6a1aa_1_73"/>
          <p:cNvSpPr txBox="1"/>
          <p:nvPr/>
        </p:nvSpPr>
        <p:spPr>
          <a:xfrm>
            <a:off x="416396" y="3617258"/>
            <a:ext cx="115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F2328"/>
                </a:solidFill>
                <a:latin typeface="Calibri"/>
                <a:ea typeface="Calibri"/>
                <a:cs typeface="Calibri"/>
                <a:sym typeface="Calibri"/>
              </a:rPr>
              <a:t>Schema S</a:t>
            </a:r>
            <a:endParaRPr b="0" i="0" sz="1400" u="none" cap="none" strike="noStrike">
              <a:solidFill>
                <a:srgbClr val="000000"/>
              </a:solidFill>
              <a:latin typeface="Arial"/>
              <a:ea typeface="Arial"/>
              <a:cs typeface="Arial"/>
              <a:sym typeface="Arial"/>
            </a:endParaRPr>
          </a:p>
        </p:txBody>
      </p:sp>
      <p:sp>
        <p:nvSpPr>
          <p:cNvPr id="1098" name="Google Shape;1098;h4c5bf77df5a6a1aa_1_73"/>
          <p:cNvSpPr txBox="1"/>
          <p:nvPr/>
        </p:nvSpPr>
        <p:spPr>
          <a:xfrm>
            <a:off x="1275932" y="2748579"/>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(a)</a:t>
            </a:r>
            <a:endParaRPr b="0" i="0" sz="1400" u="none" cap="none" strike="noStrike">
              <a:solidFill>
                <a:srgbClr val="000000"/>
              </a:solidFill>
              <a:latin typeface="Arial"/>
              <a:ea typeface="Arial"/>
              <a:cs typeface="Arial"/>
              <a:sym typeface="Arial"/>
            </a:endParaRPr>
          </a:p>
        </p:txBody>
      </p:sp>
      <p:sp>
        <p:nvSpPr>
          <p:cNvPr id="1099" name="Google Shape;1099;h4c5bf77df5a6a1aa_1_73"/>
          <p:cNvSpPr/>
          <p:nvPr/>
        </p:nvSpPr>
        <p:spPr>
          <a:xfrm>
            <a:off x="4043884" y="1825035"/>
            <a:ext cx="2103000" cy="759000"/>
          </a:xfrm>
          <a:prstGeom prst="roundRect">
            <a:avLst>
              <a:gd fmla="val 16667" name="adj"/>
            </a:avLst>
          </a:prstGeom>
          <a:solidFill>
            <a:srgbClr val="F3F5F4"/>
          </a:solidFill>
          <a:ln cap="flat" cmpd="sng" w="165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0" name="Google Shape;1100;h4c5bf77df5a6a1aa_1_73"/>
          <p:cNvSpPr txBox="1"/>
          <p:nvPr/>
        </p:nvSpPr>
        <p:spPr>
          <a:xfrm>
            <a:off x="4117036" y="1590575"/>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(b)</a:t>
            </a:r>
            <a:endParaRPr b="0" i="0" sz="1400" u="none" cap="none" strike="noStrike">
              <a:solidFill>
                <a:srgbClr val="000000"/>
              </a:solidFill>
              <a:latin typeface="Arial"/>
              <a:ea typeface="Arial"/>
              <a:cs typeface="Arial"/>
              <a:sym typeface="Arial"/>
            </a:endParaRPr>
          </a:p>
        </p:txBody>
      </p:sp>
      <p:sp>
        <p:nvSpPr>
          <p:cNvPr id="1101" name="Google Shape;1101;h4c5bf77df5a6a1aa_1_73"/>
          <p:cNvSpPr txBox="1"/>
          <p:nvPr/>
        </p:nvSpPr>
        <p:spPr>
          <a:xfrm>
            <a:off x="4126180" y="1943907"/>
            <a:ext cx="19386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Direct mapping</a:t>
            </a:r>
            <a:endParaRPr b="0" i="0" sz="1400" u="none" cap="none" strike="noStrike">
              <a:solidFill>
                <a:srgbClr val="000000"/>
              </a:solidFill>
              <a:latin typeface="Arial"/>
              <a:ea typeface="Arial"/>
              <a:cs typeface="Arial"/>
              <a:sym typeface="Arial"/>
            </a:endParaRPr>
          </a:p>
        </p:txBody>
      </p:sp>
      <p:sp>
        <p:nvSpPr>
          <p:cNvPr id="1102" name="Google Shape;1102;h4c5bf77df5a6a1aa_1_73"/>
          <p:cNvSpPr txBox="1"/>
          <p:nvPr/>
        </p:nvSpPr>
        <p:spPr>
          <a:xfrm>
            <a:off x="4135323" y="2218227"/>
            <a:ext cx="19203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OWL seed DMᵣ</a:t>
            </a:r>
            <a:endParaRPr b="0" i="0" sz="1400" u="none" cap="none" strike="noStrike">
              <a:solidFill>
                <a:srgbClr val="000000"/>
              </a:solidFill>
              <a:latin typeface="Arial"/>
              <a:ea typeface="Arial"/>
              <a:cs typeface="Arial"/>
              <a:sym typeface="Arial"/>
            </a:endParaRPr>
          </a:p>
        </p:txBody>
      </p:sp>
      <p:sp>
        <p:nvSpPr>
          <p:cNvPr id="1103" name="Google Shape;1103;h4c5bf77df5a6a1aa_1_73"/>
          <p:cNvSpPr/>
          <p:nvPr/>
        </p:nvSpPr>
        <p:spPr>
          <a:xfrm>
            <a:off x="3897579" y="2739445"/>
            <a:ext cx="3218700" cy="2508300"/>
          </a:xfrm>
          <a:prstGeom prst="roundRect">
            <a:avLst>
              <a:gd fmla="val 8766" name="adj"/>
            </a:avLst>
          </a:prstGeom>
          <a:solidFill>
            <a:srgbClr val="FFFFFF"/>
          </a:solidFill>
          <a:ln cap="flat" cmpd="sng" w="29200">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4" name="Google Shape;1104;h4c5bf77df5a6a1aa_1_73"/>
          <p:cNvSpPr txBox="1"/>
          <p:nvPr/>
        </p:nvSpPr>
        <p:spPr>
          <a:xfrm>
            <a:off x="4025596" y="2776011"/>
            <a:ext cx="29901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RETRIEVAL  •  top-k per source</a:t>
            </a:r>
            <a:endParaRPr b="0" i="0" sz="1400" u="none" cap="none" strike="noStrike">
              <a:solidFill>
                <a:srgbClr val="000000"/>
              </a:solidFill>
              <a:latin typeface="Arial"/>
              <a:ea typeface="Arial"/>
              <a:cs typeface="Arial"/>
              <a:sym typeface="Arial"/>
            </a:endParaRPr>
          </a:p>
        </p:txBody>
      </p:sp>
      <p:sp>
        <p:nvSpPr>
          <p:cNvPr id="1105" name="Google Shape;1105;h4c5bf77df5a6a1aa_1_73"/>
          <p:cNvSpPr/>
          <p:nvPr/>
        </p:nvSpPr>
        <p:spPr>
          <a:xfrm>
            <a:off x="4043884" y="3059475"/>
            <a:ext cx="2980800" cy="603600"/>
          </a:xfrm>
          <a:prstGeom prst="roundRect">
            <a:avLst>
              <a:gd fmla="val 16667" name="adj"/>
            </a:avLst>
          </a:prstGeom>
          <a:solidFill>
            <a:srgbClr val="F3F5F4"/>
          </a:solidFill>
          <a:ln cap="flat" cmpd="sng" w="1522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6" name="Google Shape;1106;h4c5bf77df5a6a1aa_1_73"/>
          <p:cNvSpPr txBox="1"/>
          <p:nvPr/>
        </p:nvSpPr>
        <p:spPr>
          <a:xfrm>
            <a:off x="4144468" y="3115627"/>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(c)</a:t>
            </a:r>
            <a:endParaRPr b="0" i="0" sz="1400" u="none" cap="none" strike="noStrike">
              <a:solidFill>
                <a:srgbClr val="000000"/>
              </a:solidFill>
              <a:latin typeface="Arial"/>
              <a:ea typeface="Arial"/>
              <a:cs typeface="Arial"/>
              <a:sym typeface="Arial"/>
            </a:endParaRPr>
          </a:p>
        </p:txBody>
      </p:sp>
      <p:sp>
        <p:nvSpPr>
          <p:cNvPr id="1107" name="Google Shape;1107;h4c5bf77df5a6a1aa_1_73"/>
          <p:cNvSpPr txBox="1"/>
          <p:nvPr/>
        </p:nvSpPr>
        <p:spPr>
          <a:xfrm>
            <a:off x="4491940" y="3109413"/>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External ontologies</a:t>
            </a:r>
            <a:endParaRPr b="0" i="0" sz="1400" u="none" cap="none" strike="noStrike">
              <a:solidFill>
                <a:srgbClr val="000000"/>
              </a:solidFill>
              <a:latin typeface="Arial"/>
              <a:ea typeface="Arial"/>
              <a:cs typeface="Arial"/>
              <a:sym typeface="Arial"/>
            </a:endParaRPr>
          </a:p>
        </p:txBody>
      </p:sp>
      <p:sp>
        <p:nvSpPr>
          <p:cNvPr id="1108" name="Google Shape;1108;h4c5bf77df5a6a1aa_1_73"/>
          <p:cNvSpPr txBox="1"/>
          <p:nvPr/>
        </p:nvSpPr>
        <p:spPr>
          <a:xfrm>
            <a:off x="4491940" y="3379515"/>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Domain alignments</a:t>
            </a:r>
            <a:endParaRPr b="0" i="0" sz="1400" u="none" cap="none" strike="noStrike">
              <a:solidFill>
                <a:srgbClr val="000000"/>
              </a:solidFill>
              <a:latin typeface="Arial"/>
              <a:ea typeface="Arial"/>
              <a:cs typeface="Arial"/>
              <a:sym typeface="Arial"/>
            </a:endParaRPr>
          </a:p>
        </p:txBody>
      </p:sp>
      <p:sp>
        <p:nvSpPr>
          <p:cNvPr id="1109" name="Google Shape;1109;h4c5bf77df5a6a1aa_1_73"/>
          <p:cNvSpPr/>
          <p:nvPr/>
        </p:nvSpPr>
        <p:spPr>
          <a:xfrm>
            <a:off x="4043884" y="3763563"/>
            <a:ext cx="2980800" cy="603600"/>
          </a:xfrm>
          <a:prstGeom prst="roundRect">
            <a:avLst>
              <a:gd fmla="val 16667" name="adj"/>
            </a:avLst>
          </a:prstGeom>
          <a:solidFill>
            <a:srgbClr val="F3F5F4"/>
          </a:solidFill>
          <a:ln cap="flat" cmpd="sng" w="1522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0" name="Google Shape;1110;h4c5bf77df5a6a1aa_1_73"/>
          <p:cNvSpPr txBox="1"/>
          <p:nvPr/>
        </p:nvSpPr>
        <p:spPr>
          <a:xfrm>
            <a:off x="4144468" y="3819715"/>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(d)</a:t>
            </a:r>
            <a:endParaRPr b="0" i="0" sz="1400" u="none" cap="none" strike="noStrike">
              <a:solidFill>
                <a:srgbClr val="000000"/>
              </a:solidFill>
              <a:latin typeface="Arial"/>
              <a:ea typeface="Arial"/>
              <a:cs typeface="Arial"/>
              <a:sym typeface="Arial"/>
            </a:endParaRPr>
          </a:p>
        </p:txBody>
      </p:sp>
      <p:sp>
        <p:nvSpPr>
          <p:cNvPr id="1111" name="Google Shape;1111;h4c5bf77df5a6a1aa_1_73"/>
          <p:cNvSpPr txBox="1"/>
          <p:nvPr/>
        </p:nvSpPr>
        <p:spPr>
          <a:xfrm>
            <a:off x="4491940" y="3813501"/>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Documentation</a:t>
            </a:r>
            <a:endParaRPr b="0" i="0" sz="1400" u="none" cap="none" strike="noStrike">
              <a:solidFill>
                <a:srgbClr val="000000"/>
              </a:solidFill>
              <a:latin typeface="Arial"/>
              <a:ea typeface="Arial"/>
              <a:cs typeface="Arial"/>
              <a:sym typeface="Arial"/>
            </a:endParaRPr>
          </a:p>
        </p:txBody>
      </p:sp>
      <p:sp>
        <p:nvSpPr>
          <p:cNvPr id="1112" name="Google Shape;1112;h4c5bf77df5a6a1aa_1_73"/>
          <p:cNvSpPr txBox="1"/>
          <p:nvPr/>
        </p:nvSpPr>
        <p:spPr>
          <a:xfrm>
            <a:off x="4491940" y="4083603"/>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Cryptic fields and codes</a:t>
            </a:r>
            <a:endParaRPr b="0" i="0" sz="1400" u="none" cap="none" strike="noStrike">
              <a:solidFill>
                <a:srgbClr val="000000"/>
              </a:solidFill>
              <a:latin typeface="Arial"/>
              <a:ea typeface="Arial"/>
              <a:cs typeface="Arial"/>
              <a:sym typeface="Arial"/>
            </a:endParaRPr>
          </a:p>
        </p:txBody>
      </p:sp>
      <p:sp>
        <p:nvSpPr>
          <p:cNvPr id="1113" name="Google Shape;1113;h4c5bf77df5a6a1aa_1_73"/>
          <p:cNvSpPr/>
          <p:nvPr/>
        </p:nvSpPr>
        <p:spPr>
          <a:xfrm>
            <a:off x="4043884" y="4467651"/>
            <a:ext cx="2980800" cy="603600"/>
          </a:xfrm>
          <a:prstGeom prst="roundRect">
            <a:avLst>
              <a:gd fmla="val 16667" name="adj"/>
            </a:avLst>
          </a:prstGeom>
          <a:solidFill>
            <a:srgbClr val="F3F5F4"/>
          </a:solidFill>
          <a:ln cap="flat" cmpd="sng" w="1522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4" name="Google Shape;1114;h4c5bf77df5a6a1aa_1_73"/>
          <p:cNvSpPr txBox="1"/>
          <p:nvPr/>
        </p:nvSpPr>
        <p:spPr>
          <a:xfrm>
            <a:off x="4144468" y="4523803"/>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(e)</a:t>
            </a:r>
            <a:endParaRPr b="0" i="0" sz="1400" u="none" cap="none" strike="noStrike">
              <a:solidFill>
                <a:srgbClr val="000000"/>
              </a:solidFill>
              <a:latin typeface="Arial"/>
              <a:ea typeface="Arial"/>
              <a:cs typeface="Arial"/>
              <a:sym typeface="Arial"/>
            </a:endParaRPr>
          </a:p>
        </p:txBody>
      </p:sp>
      <p:sp>
        <p:nvSpPr>
          <p:cNvPr id="1115" name="Google Shape;1115;h4c5bf77df5a6a1aa_1_73"/>
          <p:cNvSpPr txBox="1"/>
          <p:nvPr/>
        </p:nvSpPr>
        <p:spPr>
          <a:xfrm>
            <a:off x="4491940" y="4517589"/>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Growing core ontology</a:t>
            </a:r>
            <a:endParaRPr b="0" i="0" sz="1400" u="none" cap="none" strike="noStrike">
              <a:solidFill>
                <a:srgbClr val="000000"/>
              </a:solidFill>
              <a:latin typeface="Arial"/>
              <a:ea typeface="Arial"/>
              <a:cs typeface="Arial"/>
              <a:sym typeface="Arial"/>
            </a:endParaRPr>
          </a:p>
        </p:txBody>
      </p:sp>
      <p:sp>
        <p:nvSpPr>
          <p:cNvPr id="1116" name="Google Shape;1116;h4c5bf77df5a6a1aa_1_73"/>
          <p:cNvSpPr txBox="1"/>
          <p:nvPr/>
        </p:nvSpPr>
        <p:spPr>
          <a:xfrm>
            <a:off x="4491940" y="4787691"/>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Reuse validated IRIs</a:t>
            </a:r>
            <a:endParaRPr b="0" i="0" sz="1400" u="none" cap="none" strike="noStrike">
              <a:solidFill>
                <a:srgbClr val="000000"/>
              </a:solidFill>
              <a:latin typeface="Arial"/>
              <a:ea typeface="Arial"/>
              <a:cs typeface="Arial"/>
              <a:sym typeface="Arial"/>
            </a:endParaRPr>
          </a:p>
        </p:txBody>
      </p:sp>
      <p:cxnSp>
        <p:nvCxnSpPr>
          <p:cNvPr id="1117" name="Google Shape;1117;h4c5bf77df5a6a1aa_1_73"/>
          <p:cNvCxnSpPr/>
          <p:nvPr/>
        </p:nvCxnSpPr>
        <p:spPr>
          <a:xfrm>
            <a:off x="3280056" y="3446462"/>
            <a:ext cx="100500" cy="0"/>
          </a:xfrm>
          <a:prstGeom prst="straightConnector1">
            <a:avLst/>
          </a:prstGeom>
          <a:noFill/>
          <a:ln cap="flat" cmpd="sng" w="29200">
            <a:solidFill>
              <a:srgbClr val="3A7D8C"/>
            </a:solidFill>
            <a:prstDash val="solid"/>
            <a:miter lim="0"/>
            <a:headEnd len="sm" w="sm" type="none"/>
            <a:tailEnd len="sm" w="sm" type="none"/>
          </a:ln>
        </p:spPr>
      </p:cxnSp>
      <p:sp>
        <p:nvSpPr>
          <p:cNvPr id="1118" name="Google Shape;1118;h4c5bf77df5a6a1aa_1_73"/>
          <p:cNvSpPr/>
          <p:nvPr/>
        </p:nvSpPr>
        <p:spPr>
          <a:xfrm>
            <a:off x="1838868" y="3160059"/>
            <a:ext cx="1444800" cy="694800"/>
          </a:xfrm>
          <a:prstGeom prst="roundRect">
            <a:avLst>
              <a:gd fmla="val 16667" name="adj"/>
            </a:avLst>
          </a:prstGeom>
          <a:solidFill>
            <a:srgbClr val="F3F5F4"/>
          </a:solidFill>
          <a:ln cap="flat" cmpd="sng" w="165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9" name="Google Shape;1119;h4c5bf77df5a6a1aa_1_73"/>
          <p:cNvSpPr txBox="1"/>
          <p:nvPr/>
        </p:nvSpPr>
        <p:spPr>
          <a:xfrm>
            <a:off x="1921164" y="3278931"/>
            <a:ext cx="12801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Iterate</a:t>
            </a:r>
            <a:endParaRPr b="0" i="0" sz="1400" u="none" cap="none" strike="noStrike">
              <a:solidFill>
                <a:srgbClr val="000000"/>
              </a:solidFill>
              <a:latin typeface="Arial"/>
              <a:ea typeface="Arial"/>
              <a:cs typeface="Arial"/>
              <a:sym typeface="Arial"/>
            </a:endParaRPr>
          </a:p>
        </p:txBody>
      </p:sp>
      <p:sp>
        <p:nvSpPr>
          <p:cNvPr id="1120" name="Google Shape;1120;h4c5bf77df5a6a1aa_1_73"/>
          <p:cNvSpPr txBox="1"/>
          <p:nvPr/>
        </p:nvSpPr>
        <p:spPr>
          <a:xfrm>
            <a:off x="1930308" y="3553251"/>
            <a:ext cx="12618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FK-BFS</a:t>
            </a:r>
            <a:endParaRPr b="0" i="0" sz="1400" u="none" cap="none" strike="noStrike">
              <a:solidFill>
                <a:srgbClr val="000000"/>
              </a:solidFill>
              <a:latin typeface="Arial"/>
              <a:ea typeface="Arial"/>
              <a:cs typeface="Arial"/>
              <a:sym typeface="Arial"/>
            </a:endParaRPr>
          </a:p>
        </p:txBody>
      </p:sp>
      <p:cxnSp>
        <p:nvCxnSpPr>
          <p:cNvPr id="1121" name="Google Shape;1121;h4c5bf77df5a6a1aa_1_73"/>
          <p:cNvCxnSpPr/>
          <p:nvPr/>
        </p:nvCxnSpPr>
        <p:spPr>
          <a:xfrm>
            <a:off x="3276349" y="3608115"/>
            <a:ext cx="118800" cy="0"/>
          </a:xfrm>
          <a:prstGeom prst="straightConnector1">
            <a:avLst/>
          </a:prstGeom>
          <a:noFill/>
          <a:ln cap="flat" cmpd="sng" w="26650">
            <a:solidFill>
              <a:srgbClr val="3A7D8C"/>
            </a:solidFill>
            <a:prstDash val="solid"/>
            <a:miter lim="0"/>
            <a:headEnd len="sm" w="sm" type="none"/>
            <a:tailEnd len="sm" w="sm" type="none"/>
          </a:ln>
        </p:spPr>
      </p:cxnSp>
      <p:cxnSp>
        <p:nvCxnSpPr>
          <p:cNvPr id="1122" name="Google Shape;1122;h4c5bf77df5a6a1aa_1_73"/>
          <p:cNvCxnSpPr/>
          <p:nvPr/>
        </p:nvCxnSpPr>
        <p:spPr>
          <a:xfrm>
            <a:off x="3657665" y="2199459"/>
            <a:ext cx="265200" cy="0"/>
          </a:xfrm>
          <a:prstGeom prst="straightConnector1">
            <a:avLst/>
          </a:prstGeom>
          <a:noFill/>
          <a:ln cap="flat" cmpd="sng" w="29200">
            <a:solidFill>
              <a:srgbClr val="3A7D8C"/>
            </a:solidFill>
            <a:prstDash val="solid"/>
            <a:miter lim="0"/>
            <a:headEnd len="sm" w="sm" type="none"/>
            <a:tailEnd len="sm" w="sm" type="none"/>
          </a:ln>
        </p:spPr>
      </p:cxnSp>
      <p:pic>
        <p:nvPicPr>
          <p:cNvPr id="1123" name="Google Shape;1123;h4c5bf77df5a6a1aa_1_73" title="Ontology Taxonomy Documentation Icons.png"/>
          <p:cNvPicPr preferRelativeResize="0"/>
          <p:nvPr/>
        </p:nvPicPr>
        <p:blipFill rotWithShape="1">
          <a:blip r:embed="rId3">
            <a:alphaModFix/>
          </a:blip>
          <a:srcRect b="14185" l="36225" r="31825" t="16211"/>
          <a:stretch/>
        </p:blipFill>
        <p:spPr>
          <a:xfrm>
            <a:off x="6431317" y="3822390"/>
            <a:ext cx="594806" cy="475499"/>
          </a:xfrm>
          <a:prstGeom prst="rect">
            <a:avLst/>
          </a:prstGeom>
          <a:noFill/>
          <a:ln>
            <a:noFill/>
          </a:ln>
        </p:spPr>
      </p:pic>
      <p:pic>
        <p:nvPicPr>
          <p:cNvPr id="1124" name="Google Shape;1124;h4c5bf77df5a6a1aa_1_73" title="Ontology Taxonomy Documentation Icons.png"/>
          <p:cNvPicPr preferRelativeResize="0"/>
          <p:nvPr/>
        </p:nvPicPr>
        <p:blipFill rotWithShape="1">
          <a:blip r:embed="rId3">
            <a:alphaModFix/>
          </a:blip>
          <a:srcRect b="14185" l="2070" r="65981" t="16211"/>
          <a:stretch/>
        </p:blipFill>
        <p:spPr>
          <a:xfrm>
            <a:off x="6385539" y="3137260"/>
            <a:ext cx="594801" cy="432155"/>
          </a:xfrm>
          <a:prstGeom prst="rect">
            <a:avLst/>
          </a:prstGeom>
          <a:noFill/>
          <a:ln>
            <a:noFill/>
          </a:ln>
        </p:spPr>
      </p:pic>
      <p:pic>
        <p:nvPicPr>
          <p:cNvPr id="1125" name="Google Shape;1125;h4c5bf77df5a6a1aa_1_73" title="Ontology Taxonomy Documentation Icons.png"/>
          <p:cNvPicPr preferRelativeResize="0"/>
          <p:nvPr/>
        </p:nvPicPr>
        <p:blipFill rotWithShape="1">
          <a:blip r:embed="rId3">
            <a:alphaModFix/>
          </a:blip>
          <a:srcRect b="7505" l="70326" r="314" t="10116"/>
          <a:stretch/>
        </p:blipFill>
        <p:spPr>
          <a:xfrm>
            <a:off x="6452911" y="4535008"/>
            <a:ext cx="528123" cy="49416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0" name="Shape 1130"/>
        <p:cNvGrpSpPr/>
        <p:nvPr/>
      </p:nvGrpSpPr>
      <p:grpSpPr>
        <a:xfrm>
          <a:off x="0" y="0"/>
          <a:ext cx="0" cy="0"/>
          <a:chOff x="0" y="0"/>
          <a:chExt cx="0" cy="0"/>
        </a:xfrm>
      </p:grpSpPr>
      <p:cxnSp>
        <p:nvCxnSpPr>
          <p:cNvPr id="1131" name="Google Shape;1131;h4c5bf77df5a6a1aa_1_143"/>
          <p:cNvCxnSpPr/>
          <p:nvPr/>
        </p:nvCxnSpPr>
        <p:spPr>
          <a:xfrm>
            <a:off x="7261490" y="3782975"/>
            <a:ext cx="228600" cy="0"/>
          </a:xfrm>
          <a:prstGeom prst="straightConnector1">
            <a:avLst/>
          </a:prstGeom>
          <a:noFill/>
          <a:ln cap="flat" cmpd="sng" w="26650">
            <a:solidFill>
              <a:srgbClr val="3A7D8C"/>
            </a:solidFill>
            <a:prstDash val="solid"/>
            <a:miter lim="0"/>
            <a:headEnd len="sm" w="sm" type="none"/>
            <a:tailEnd len="sm" w="sm" type="none"/>
          </a:ln>
        </p:spPr>
      </p:cxnSp>
      <p:cxnSp>
        <p:nvCxnSpPr>
          <p:cNvPr id="1132" name="Google Shape;1132;h4c5bf77df5a6a1aa_1_143"/>
          <p:cNvCxnSpPr/>
          <p:nvPr/>
        </p:nvCxnSpPr>
        <p:spPr>
          <a:xfrm>
            <a:off x="7071140" y="3304363"/>
            <a:ext cx="146400" cy="0"/>
          </a:xfrm>
          <a:prstGeom prst="straightConnector1">
            <a:avLst/>
          </a:prstGeom>
          <a:noFill/>
          <a:ln cap="flat" cmpd="sng" w="26650">
            <a:solidFill>
              <a:srgbClr val="3A7D8C"/>
            </a:solidFill>
            <a:prstDash val="solid"/>
            <a:miter lim="0"/>
            <a:headEnd len="sm" w="sm" type="none"/>
            <a:tailEnd len="sm" w="sm" type="none"/>
          </a:ln>
        </p:spPr>
      </p:cxnSp>
      <p:sp>
        <p:nvSpPr>
          <p:cNvPr id="1133" name="Google Shape;1133;h4c5bf77df5a6a1aa_1_143"/>
          <p:cNvSpPr txBox="1"/>
          <p:nvPr/>
        </p:nvSpPr>
        <p:spPr>
          <a:xfrm>
            <a:off x="512064" y="320040"/>
            <a:ext cx="66750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RIGOR  /  REASSEMBLING THE ARCHITECTURE</a:t>
            </a:r>
            <a:endParaRPr b="0" i="0" sz="1400" u="none" cap="none" strike="noStrike">
              <a:solidFill>
                <a:srgbClr val="000000"/>
              </a:solidFill>
              <a:latin typeface="Consolas"/>
              <a:ea typeface="Consolas"/>
              <a:cs typeface="Consolas"/>
              <a:sym typeface="Consolas"/>
            </a:endParaRPr>
          </a:p>
        </p:txBody>
      </p:sp>
      <p:sp>
        <p:nvSpPr>
          <p:cNvPr id="1134" name="Google Shape;1134;h4c5bf77df5a6a1aa_1_143"/>
          <p:cNvSpPr txBox="1"/>
          <p:nvPr/>
        </p:nvSpPr>
        <p:spPr>
          <a:xfrm>
            <a:off x="512064" y="685800"/>
            <a:ext cx="10881300" cy="446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4. Generate a delta ontology</a:t>
            </a:r>
            <a:endParaRPr b="0" i="0" sz="1400" u="none" cap="none" strike="noStrike">
              <a:solidFill>
                <a:srgbClr val="000000"/>
              </a:solidFill>
              <a:latin typeface="Arial"/>
              <a:ea typeface="Arial"/>
              <a:cs typeface="Arial"/>
              <a:sym typeface="Arial"/>
            </a:endParaRPr>
          </a:p>
        </p:txBody>
      </p:sp>
      <p:sp>
        <p:nvSpPr>
          <p:cNvPr id="1135" name="Google Shape;1135;h4c5bf77df5a6a1aa_1_143"/>
          <p:cNvSpPr txBox="1"/>
          <p:nvPr/>
        </p:nvSpPr>
        <p:spPr>
          <a:xfrm>
            <a:off x="512064" y="1271016"/>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A434C"/>
                </a:solidFill>
                <a:latin typeface="Calibri"/>
                <a:ea typeface="Calibri"/>
                <a:cs typeface="Calibri"/>
                <a:sym typeface="Calibri"/>
              </a:rPr>
              <a:t> The Gen-LLM receives the direct mapping and the retrieved context.</a:t>
            </a:r>
            <a:endParaRPr b="0" i="0" sz="1400" u="none" cap="none" strike="noStrike">
              <a:solidFill>
                <a:srgbClr val="000000"/>
              </a:solidFill>
              <a:latin typeface="Arial"/>
              <a:ea typeface="Arial"/>
              <a:cs typeface="Arial"/>
              <a:sym typeface="Arial"/>
            </a:endParaRPr>
          </a:p>
        </p:txBody>
      </p:sp>
      <p:sp>
        <p:nvSpPr>
          <p:cNvPr id="1136" name="Google Shape;1136;h4c5bf77df5a6a1aa_1_143"/>
          <p:cNvSpPr/>
          <p:nvPr/>
        </p:nvSpPr>
        <p:spPr>
          <a:xfrm>
            <a:off x="9692640"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7" name="Google Shape;1137;h4c5bf77df5a6a1aa_1_143"/>
          <p:cNvSpPr/>
          <p:nvPr/>
        </p:nvSpPr>
        <p:spPr>
          <a:xfrm>
            <a:off x="10049256"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8" name="Google Shape;1138;h4c5bf77df5a6a1aa_1_143"/>
          <p:cNvSpPr/>
          <p:nvPr/>
        </p:nvSpPr>
        <p:spPr>
          <a:xfrm>
            <a:off x="10405872"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9" name="Google Shape;1139;h4c5bf77df5a6a1aa_1_143"/>
          <p:cNvSpPr/>
          <p:nvPr/>
        </p:nvSpPr>
        <p:spPr>
          <a:xfrm>
            <a:off x="10762488"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0" name="Google Shape;1140;h4c5bf77df5a6a1aa_1_143"/>
          <p:cNvSpPr/>
          <p:nvPr/>
        </p:nvSpPr>
        <p:spPr>
          <a:xfrm>
            <a:off x="11119104"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1" name="Google Shape;1141;h4c5bf77df5a6a1aa_1_143"/>
          <p:cNvSpPr/>
          <p:nvPr/>
        </p:nvSpPr>
        <p:spPr>
          <a:xfrm>
            <a:off x="11475720"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2" name="Google Shape;1142;h4c5bf77df5a6a1aa_1_143"/>
          <p:cNvSpPr txBox="1"/>
          <p:nvPr/>
        </p:nvSpPr>
        <p:spPr>
          <a:xfrm>
            <a:off x="10917936" y="6519672"/>
            <a:ext cx="804600" cy="2154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4 / 6</a:t>
            </a:r>
            <a:endParaRPr b="0" i="0" sz="1400" u="none" cap="none" strike="noStrike">
              <a:solidFill>
                <a:srgbClr val="000000"/>
              </a:solidFill>
              <a:latin typeface="Arial"/>
              <a:ea typeface="Arial"/>
              <a:cs typeface="Arial"/>
              <a:sym typeface="Arial"/>
            </a:endParaRPr>
          </a:p>
        </p:txBody>
      </p:sp>
      <p:cxnSp>
        <p:nvCxnSpPr>
          <p:cNvPr id="1143" name="Google Shape;1143;h4c5bf77df5a6a1aa_1_143"/>
          <p:cNvCxnSpPr/>
          <p:nvPr/>
        </p:nvCxnSpPr>
        <p:spPr>
          <a:xfrm>
            <a:off x="1577684" y="3507531"/>
            <a:ext cx="164700" cy="0"/>
          </a:xfrm>
          <a:prstGeom prst="straightConnector1">
            <a:avLst/>
          </a:prstGeom>
          <a:noFill/>
          <a:ln cap="flat" cmpd="sng" w="38100">
            <a:solidFill>
              <a:srgbClr val="3A7D8C"/>
            </a:solidFill>
            <a:prstDash val="solid"/>
            <a:miter lim="0"/>
            <a:headEnd len="sm" w="sm" type="none"/>
            <a:tailEnd len="sm" w="sm" type="none"/>
          </a:ln>
        </p:spPr>
      </p:cxnSp>
      <p:sp>
        <p:nvSpPr>
          <p:cNvPr id="1144" name="Google Shape;1144;h4c5bf77df5a6a1aa_1_143"/>
          <p:cNvSpPr/>
          <p:nvPr/>
        </p:nvSpPr>
        <p:spPr>
          <a:xfrm rot="5400000">
            <a:off x="1678184" y="3443523"/>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145" name="Google Shape;1145;h4c5bf77df5a6a1aa_1_143"/>
          <p:cNvCxnSpPr/>
          <p:nvPr/>
        </p:nvCxnSpPr>
        <p:spPr>
          <a:xfrm>
            <a:off x="3369671" y="3446462"/>
            <a:ext cx="100500" cy="0"/>
          </a:xfrm>
          <a:prstGeom prst="straightConnector1">
            <a:avLst/>
          </a:prstGeom>
          <a:noFill/>
          <a:ln cap="flat" cmpd="sng" w="29200">
            <a:solidFill>
              <a:srgbClr val="3A7D8C"/>
            </a:solidFill>
            <a:prstDash val="solid"/>
            <a:miter lim="0"/>
            <a:headEnd len="sm" w="sm" type="none"/>
            <a:tailEnd len="sm" w="sm" type="none"/>
          </a:ln>
        </p:spPr>
      </p:cxnSp>
      <p:cxnSp>
        <p:nvCxnSpPr>
          <p:cNvPr id="1146" name="Google Shape;1146;h4c5bf77df5a6a1aa_1_143"/>
          <p:cNvCxnSpPr/>
          <p:nvPr/>
        </p:nvCxnSpPr>
        <p:spPr>
          <a:xfrm rot="10800000">
            <a:off x="3456647" y="2186248"/>
            <a:ext cx="0" cy="1271100"/>
          </a:xfrm>
          <a:prstGeom prst="straightConnector1">
            <a:avLst/>
          </a:prstGeom>
          <a:noFill/>
          <a:ln cap="flat" cmpd="sng" w="29200">
            <a:solidFill>
              <a:srgbClr val="3A7D8C"/>
            </a:solidFill>
            <a:prstDash val="solid"/>
            <a:miter lim="0"/>
            <a:headEnd len="sm" w="sm" type="none"/>
            <a:tailEnd len="sm" w="sm" type="none"/>
          </a:ln>
        </p:spPr>
      </p:cxnSp>
      <p:cxnSp>
        <p:nvCxnSpPr>
          <p:cNvPr id="1147" name="Google Shape;1147;h4c5bf77df5a6a1aa_1_143"/>
          <p:cNvCxnSpPr/>
          <p:nvPr/>
        </p:nvCxnSpPr>
        <p:spPr>
          <a:xfrm>
            <a:off x="3456647" y="2199939"/>
            <a:ext cx="265200" cy="0"/>
          </a:xfrm>
          <a:prstGeom prst="straightConnector1">
            <a:avLst/>
          </a:prstGeom>
          <a:noFill/>
          <a:ln cap="flat" cmpd="sng" w="29200">
            <a:solidFill>
              <a:srgbClr val="3A7D8C"/>
            </a:solidFill>
            <a:prstDash val="solid"/>
            <a:miter lim="0"/>
            <a:headEnd len="sm" w="sm" type="none"/>
            <a:tailEnd len="sm" w="sm" type="none"/>
          </a:ln>
        </p:spPr>
      </p:cxnSp>
      <p:sp>
        <p:nvSpPr>
          <p:cNvPr id="1148" name="Google Shape;1148;h4c5bf77df5a6a1aa_1_143"/>
          <p:cNvSpPr/>
          <p:nvPr/>
        </p:nvSpPr>
        <p:spPr>
          <a:xfrm rot="5400000">
            <a:off x="3918081" y="2135931"/>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149" name="Google Shape;1149;h4c5bf77df5a6a1aa_1_143"/>
          <p:cNvCxnSpPr/>
          <p:nvPr/>
        </p:nvCxnSpPr>
        <p:spPr>
          <a:xfrm>
            <a:off x="3356063" y="3608115"/>
            <a:ext cx="118800" cy="0"/>
          </a:xfrm>
          <a:prstGeom prst="straightConnector1">
            <a:avLst/>
          </a:prstGeom>
          <a:noFill/>
          <a:ln cap="flat" cmpd="sng" w="26650">
            <a:solidFill>
              <a:srgbClr val="3A7D8C"/>
            </a:solidFill>
            <a:prstDash val="solid"/>
            <a:miter lim="0"/>
            <a:headEnd len="sm" w="sm" type="none"/>
            <a:tailEnd len="sm" w="sm" type="none"/>
          </a:ln>
        </p:spPr>
      </p:cxnSp>
      <p:cxnSp>
        <p:nvCxnSpPr>
          <p:cNvPr id="1150" name="Google Shape;1150;h4c5bf77df5a6a1aa_1_143"/>
          <p:cNvCxnSpPr/>
          <p:nvPr/>
        </p:nvCxnSpPr>
        <p:spPr>
          <a:xfrm rot="10800000">
            <a:off x="3537528" y="3283708"/>
            <a:ext cx="0" cy="310800"/>
          </a:xfrm>
          <a:prstGeom prst="straightConnector1">
            <a:avLst/>
          </a:prstGeom>
          <a:noFill/>
          <a:ln cap="flat" cmpd="sng" w="26650">
            <a:solidFill>
              <a:srgbClr val="3A7D8C"/>
            </a:solidFill>
            <a:prstDash val="solid"/>
            <a:miter lim="0"/>
            <a:headEnd len="sm" w="sm" type="none"/>
            <a:tailEnd len="sm" w="sm" type="none"/>
          </a:ln>
        </p:spPr>
      </p:cxnSp>
      <p:cxnSp>
        <p:nvCxnSpPr>
          <p:cNvPr id="1151" name="Google Shape;1151;h4c5bf77df5a6a1aa_1_143"/>
          <p:cNvCxnSpPr/>
          <p:nvPr/>
        </p:nvCxnSpPr>
        <p:spPr>
          <a:xfrm>
            <a:off x="3537528" y="3297219"/>
            <a:ext cx="255900" cy="0"/>
          </a:xfrm>
          <a:prstGeom prst="straightConnector1">
            <a:avLst/>
          </a:prstGeom>
          <a:noFill/>
          <a:ln cap="flat" cmpd="sng" w="26650">
            <a:solidFill>
              <a:srgbClr val="3A7D8C"/>
            </a:solidFill>
            <a:prstDash val="solid"/>
            <a:miter lim="0"/>
            <a:headEnd len="sm" w="sm" type="none"/>
            <a:tailEnd len="sm" w="sm" type="none"/>
          </a:ln>
        </p:spPr>
      </p:cxnSp>
      <p:sp>
        <p:nvSpPr>
          <p:cNvPr id="1152" name="Google Shape;1152;h4c5bf77df5a6a1aa_1_143"/>
          <p:cNvSpPr/>
          <p:nvPr/>
        </p:nvSpPr>
        <p:spPr>
          <a:xfrm rot="5400000">
            <a:off x="3729467" y="3233211"/>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153" name="Google Shape;1153;h4c5bf77df5a6a1aa_1_143"/>
          <p:cNvCxnSpPr/>
          <p:nvPr/>
        </p:nvCxnSpPr>
        <p:spPr>
          <a:xfrm>
            <a:off x="3356063" y="3608115"/>
            <a:ext cx="118800" cy="0"/>
          </a:xfrm>
          <a:prstGeom prst="straightConnector1">
            <a:avLst/>
          </a:prstGeom>
          <a:noFill/>
          <a:ln cap="flat" cmpd="sng" w="26650">
            <a:solidFill>
              <a:srgbClr val="3A7D8C"/>
            </a:solidFill>
            <a:prstDash val="solid"/>
            <a:miter lim="0"/>
            <a:headEnd len="sm" w="sm" type="none"/>
            <a:tailEnd len="sm" w="sm" type="none"/>
          </a:ln>
        </p:spPr>
      </p:cxnSp>
      <p:cxnSp>
        <p:nvCxnSpPr>
          <p:cNvPr id="1154" name="Google Shape;1154;h4c5bf77df5a6a1aa_1_143"/>
          <p:cNvCxnSpPr/>
          <p:nvPr/>
        </p:nvCxnSpPr>
        <p:spPr>
          <a:xfrm>
            <a:off x="3537528" y="3992163"/>
            <a:ext cx="255900" cy="0"/>
          </a:xfrm>
          <a:prstGeom prst="straightConnector1">
            <a:avLst/>
          </a:prstGeom>
          <a:noFill/>
          <a:ln cap="flat" cmpd="sng" w="26650">
            <a:solidFill>
              <a:srgbClr val="3A7D8C"/>
            </a:solidFill>
            <a:prstDash val="solid"/>
            <a:miter lim="0"/>
            <a:headEnd len="sm" w="sm" type="none"/>
            <a:tailEnd len="sm" w="sm" type="none"/>
          </a:ln>
        </p:spPr>
      </p:cxnSp>
      <p:sp>
        <p:nvSpPr>
          <p:cNvPr id="1155" name="Google Shape;1155;h4c5bf77df5a6a1aa_1_143"/>
          <p:cNvSpPr/>
          <p:nvPr/>
        </p:nvSpPr>
        <p:spPr>
          <a:xfrm rot="5400000">
            <a:off x="3729467" y="3928154"/>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156" name="Google Shape;1156;h4c5bf77df5a6a1aa_1_143"/>
          <p:cNvCxnSpPr/>
          <p:nvPr/>
        </p:nvCxnSpPr>
        <p:spPr>
          <a:xfrm>
            <a:off x="3418656" y="3608115"/>
            <a:ext cx="118800" cy="0"/>
          </a:xfrm>
          <a:prstGeom prst="straightConnector1">
            <a:avLst/>
          </a:prstGeom>
          <a:noFill/>
          <a:ln cap="flat" cmpd="sng" w="26650">
            <a:solidFill>
              <a:srgbClr val="3A7D8C"/>
            </a:solidFill>
            <a:prstDash val="solid"/>
            <a:miter lim="0"/>
            <a:headEnd len="sm" w="sm" type="none"/>
            <a:tailEnd len="sm" w="sm" type="none"/>
          </a:ln>
        </p:spPr>
      </p:cxnSp>
      <p:cxnSp>
        <p:nvCxnSpPr>
          <p:cNvPr id="1157" name="Google Shape;1157;h4c5bf77df5a6a1aa_1_143"/>
          <p:cNvCxnSpPr/>
          <p:nvPr/>
        </p:nvCxnSpPr>
        <p:spPr>
          <a:xfrm>
            <a:off x="3537528" y="3594508"/>
            <a:ext cx="0" cy="1079100"/>
          </a:xfrm>
          <a:prstGeom prst="straightConnector1">
            <a:avLst/>
          </a:prstGeom>
          <a:noFill/>
          <a:ln cap="flat" cmpd="sng" w="26650">
            <a:solidFill>
              <a:srgbClr val="3A7D8C"/>
            </a:solidFill>
            <a:prstDash val="solid"/>
            <a:miter lim="0"/>
            <a:headEnd len="sm" w="sm" type="none"/>
            <a:tailEnd len="sm" w="sm" type="none"/>
          </a:ln>
        </p:spPr>
      </p:cxnSp>
      <p:cxnSp>
        <p:nvCxnSpPr>
          <p:cNvPr id="1158" name="Google Shape;1158;h4c5bf77df5a6a1aa_1_143"/>
          <p:cNvCxnSpPr/>
          <p:nvPr/>
        </p:nvCxnSpPr>
        <p:spPr>
          <a:xfrm>
            <a:off x="3537528" y="4659893"/>
            <a:ext cx="255900" cy="0"/>
          </a:xfrm>
          <a:prstGeom prst="straightConnector1">
            <a:avLst/>
          </a:prstGeom>
          <a:noFill/>
          <a:ln cap="flat" cmpd="sng" w="26650">
            <a:solidFill>
              <a:srgbClr val="3A7D8C"/>
            </a:solidFill>
            <a:prstDash val="solid"/>
            <a:miter lim="0"/>
            <a:headEnd len="sm" w="sm" type="none"/>
            <a:tailEnd len="sm" w="sm" type="none"/>
          </a:ln>
        </p:spPr>
      </p:cxnSp>
      <p:sp>
        <p:nvSpPr>
          <p:cNvPr id="1159" name="Google Shape;1159;h4c5bf77df5a6a1aa_1_143"/>
          <p:cNvSpPr/>
          <p:nvPr/>
        </p:nvSpPr>
        <p:spPr>
          <a:xfrm rot="5400000">
            <a:off x="3729467" y="4595885"/>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160" name="Google Shape;1160;h4c5bf77df5a6a1aa_1_143"/>
          <p:cNvCxnSpPr/>
          <p:nvPr/>
        </p:nvCxnSpPr>
        <p:spPr>
          <a:xfrm>
            <a:off x="6340837" y="2181651"/>
            <a:ext cx="1874400" cy="0"/>
          </a:xfrm>
          <a:prstGeom prst="straightConnector1">
            <a:avLst/>
          </a:prstGeom>
          <a:noFill/>
          <a:ln cap="flat" cmpd="sng" w="29200">
            <a:solidFill>
              <a:srgbClr val="3A7D8C"/>
            </a:solidFill>
            <a:prstDash val="solid"/>
            <a:miter lim="0"/>
            <a:headEnd len="sm" w="sm" type="none"/>
            <a:tailEnd len="sm" w="sm" type="none"/>
          </a:ln>
        </p:spPr>
      </p:cxnSp>
      <p:cxnSp>
        <p:nvCxnSpPr>
          <p:cNvPr id="1161" name="Google Shape;1161;h4c5bf77df5a6a1aa_1_143"/>
          <p:cNvCxnSpPr/>
          <p:nvPr/>
        </p:nvCxnSpPr>
        <p:spPr>
          <a:xfrm>
            <a:off x="8200117" y="2181651"/>
            <a:ext cx="0" cy="1134000"/>
          </a:xfrm>
          <a:prstGeom prst="straightConnector1">
            <a:avLst/>
          </a:prstGeom>
          <a:noFill/>
          <a:ln cap="flat" cmpd="sng" w="29200">
            <a:solidFill>
              <a:srgbClr val="3A7D8C"/>
            </a:solidFill>
            <a:prstDash val="solid"/>
            <a:miter lim="0"/>
            <a:headEnd len="sm" w="sm" type="none"/>
            <a:tailEnd len="sm" w="sm" type="none"/>
          </a:ln>
        </p:spPr>
      </p:cxnSp>
      <p:sp>
        <p:nvSpPr>
          <p:cNvPr id="1162" name="Google Shape;1162;h4c5bf77df5a6a1aa_1_143"/>
          <p:cNvSpPr/>
          <p:nvPr/>
        </p:nvSpPr>
        <p:spPr>
          <a:xfrm rot="10800000">
            <a:off x="8136025" y="3251415"/>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163" name="Google Shape;1163;h4c5bf77df5a6a1aa_1_143"/>
          <p:cNvCxnSpPr/>
          <p:nvPr/>
        </p:nvCxnSpPr>
        <p:spPr>
          <a:xfrm>
            <a:off x="7129603" y="3304363"/>
            <a:ext cx="146400" cy="0"/>
          </a:xfrm>
          <a:prstGeom prst="straightConnector1">
            <a:avLst/>
          </a:prstGeom>
          <a:noFill/>
          <a:ln cap="flat" cmpd="sng" w="26650">
            <a:solidFill>
              <a:srgbClr val="3A7D8C"/>
            </a:solidFill>
            <a:prstDash val="solid"/>
            <a:miter lim="0"/>
            <a:headEnd len="sm" w="sm" type="none"/>
            <a:tailEnd len="sm" w="sm" type="none"/>
          </a:ln>
        </p:spPr>
      </p:cxnSp>
      <p:cxnSp>
        <p:nvCxnSpPr>
          <p:cNvPr id="1164" name="Google Shape;1164;h4c5bf77df5a6a1aa_1_143"/>
          <p:cNvCxnSpPr/>
          <p:nvPr/>
        </p:nvCxnSpPr>
        <p:spPr>
          <a:xfrm>
            <a:off x="7264000" y="3297219"/>
            <a:ext cx="0" cy="448200"/>
          </a:xfrm>
          <a:prstGeom prst="straightConnector1">
            <a:avLst/>
          </a:prstGeom>
          <a:noFill/>
          <a:ln cap="flat" cmpd="sng" w="26650">
            <a:solidFill>
              <a:srgbClr val="3A7D8C"/>
            </a:solidFill>
            <a:prstDash val="solid"/>
            <a:miter lim="0"/>
            <a:headEnd len="sm" w="sm" type="none"/>
            <a:tailEnd len="sm" w="sm" type="none"/>
          </a:ln>
        </p:spPr>
      </p:cxnSp>
      <p:sp>
        <p:nvSpPr>
          <p:cNvPr id="1165" name="Google Shape;1165;h4c5bf77df5a6a1aa_1_143"/>
          <p:cNvSpPr/>
          <p:nvPr/>
        </p:nvSpPr>
        <p:spPr>
          <a:xfrm rot="5400000">
            <a:off x="7462823" y="3718917"/>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166" name="Google Shape;1166;h4c5bf77df5a6a1aa_1_143"/>
          <p:cNvCxnSpPr/>
          <p:nvPr/>
        </p:nvCxnSpPr>
        <p:spPr>
          <a:xfrm>
            <a:off x="7129603" y="4693870"/>
            <a:ext cx="146400" cy="0"/>
          </a:xfrm>
          <a:prstGeom prst="straightConnector1">
            <a:avLst/>
          </a:prstGeom>
          <a:noFill/>
          <a:ln cap="flat" cmpd="sng" w="26650">
            <a:solidFill>
              <a:srgbClr val="3A7D8C"/>
            </a:solidFill>
            <a:prstDash val="solid"/>
            <a:miter lim="0"/>
            <a:headEnd len="sm" w="sm" type="none"/>
            <a:tailEnd len="sm" w="sm" type="none"/>
          </a:ln>
        </p:spPr>
      </p:cxnSp>
      <p:cxnSp>
        <p:nvCxnSpPr>
          <p:cNvPr id="1167" name="Google Shape;1167;h4c5bf77df5a6a1aa_1_143"/>
          <p:cNvCxnSpPr/>
          <p:nvPr/>
        </p:nvCxnSpPr>
        <p:spPr>
          <a:xfrm rot="10800000">
            <a:off x="7264000" y="3745251"/>
            <a:ext cx="0" cy="951000"/>
          </a:xfrm>
          <a:prstGeom prst="straightConnector1">
            <a:avLst/>
          </a:prstGeom>
          <a:noFill/>
          <a:ln cap="flat" cmpd="sng" w="26650">
            <a:solidFill>
              <a:srgbClr val="3A7D8C"/>
            </a:solidFill>
            <a:prstDash val="solid"/>
            <a:miter lim="0"/>
            <a:headEnd len="sm" w="sm" type="none"/>
            <a:tailEnd len="sm" w="sm" type="none"/>
          </a:ln>
        </p:spPr>
      </p:cxnSp>
      <p:cxnSp>
        <p:nvCxnSpPr>
          <p:cNvPr id="1168" name="Google Shape;1168;h4c5bf77df5a6a1aa_1_143"/>
          <p:cNvCxnSpPr/>
          <p:nvPr/>
        </p:nvCxnSpPr>
        <p:spPr>
          <a:xfrm>
            <a:off x="8931637" y="3795662"/>
            <a:ext cx="868800" cy="0"/>
          </a:xfrm>
          <a:prstGeom prst="straightConnector1">
            <a:avLst/>
          </a:prstGeom>
          <a:noFill/>
          <a:ln cap="flat" cmpd="sng" w="38100">
            <a:solidFill>
              <a:srgbClr val="0B6E4F"/>
            </a:solidFill>
            <a:prstDash val="solid"/>
            <a:miter lim="0"/>
            <a:headEnd len="sm" w="sm" type="none"/>
            <a:tailEnd len="sm" w="sm" type="none"/>
          </a:ln>
        </p:spPr>
      </p:cxnSp>
      <p:sp>
        <p:nvSpPr>
          <p:cNvPr id="1169" name="Google Shape;1169;h4c5bf77df5a6a1aa_1_143"/>
          <p:cNvSpPr/>
          <p:nvPr/>
        </p:nvSpPr>
        <p:spPr>
          <a:xfrm rot="5400000">
            <a:off x="9736225" y="3731654"/>
            <a:ext cx="128100" cy="128100"/>
          </a:xfrm>
          <a:prstGeom prst="triangle">
            <a:avLst>
              <a:gd fmla="val 50000" name="adj"/>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0" name="Google Shape;1170;h4c5bf77df5a6a1aa_1_143"/>
          <p:cNvSpPr/>
          <p:nvPr/>
        </p:nvSpPr>
        <p:spPr>
          <a:xfrm>
            <a:off x="407252" y="2958891"/>
            <a:ext cx="1170300" cy="1134000"/>
          </a:xfrm>
          <a:prstGeom prst="roundRect">
            <a:avLst>
              <a:gd fmla="val 16667" name="adj"/>
            </a:avLst>
          </a:prstGeom>
          <a:solidFill>
            <a:srgbClr val="FFFFFF"/>
          </a:solidFill>
          <a:ln cap="flat" cmpd="sng" w="15225">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1" name="Google Shape;1171;h4c5bf77df5a6a1aa_1_143"/>
          <p:cNvSpPr/>
          <p:nvPr/>
        </p:nvSpPr>
        <p:spPr>
          <a:xfrm>
            <a:off x="526124"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172" name="Google Shape;1172;h4c5bf77df5a6a1aa_1_143"/>
          <p:cNvCxnSpPr/>
          <p:nvPr/>
        </p:nvCxnSpPr>
        <p:spPr>
          <a:xfrm>
            <a:off x="567272"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173" name="Google Shape;1173;h4c5bf77df5a6a1aa_1_143"/>
          <p:cNvCxnSpPr/>
          <p:nvPr/>
        </p:nvCxnSpPr>
        <p:spPr>
          <a:xfrm>
            <a:off x="567272"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174" name="Google Shape;1174;h4c5bf77df5a6a1aa_1_143"/>
          <p:cNvSpPr/>
          <p:nvPr/>
        </p:nvSpPr>
        <p:spPr>
          <a:xfrm>
            <a:off x="837020"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175" name="Google Shape;1175;h4c5bf77df5a6a1aa_1_143"/>
          <p:cNvCxnSpPr/>
          <p:nvPr/>
        </p:nvCxnSpPr>
        <p:spPr>
          <a:xfrm>
            <a:off x="878168"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176" name="Google Shape;1176;h4c5bf77df5a6a1aa_1_143"/>
          <p:cNvCxnSpPr/>
          <p:nvPr/>
        </p:nvCxnSpPr>
        <p:spPr>
          <a:xfrm>
            <a:off x="878168"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177" name="Google Shape;1177;h4c5bf77df5a6a1aa_1_143"/>
          <p:cNvSpPr/>
          <p:nvPr/>
        </p:nvSpPr>
        <p:spPr>
          <a:xfrm>
            <a:off x="1147916"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178" name="Google Shape;1178;h4c5bf77df5a6a1aa_1_143"/>
          <p:cNvCxnSpPr/>
          <p:nvPr/>
        </p:nvCxnSpPr>
        <p:spPr>
          <a:xfrm>
            <a:off x="1189064"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179" name="Google Shape;1179;h4c5bf77df5a6a1aa_1_143"/>
          <p:cNvCxnSpPr/>
          <p:nvPr/>
        </p:nvCxnSpPr>
        <p:spPr>
          <a:xfrm>
            <a:off x="1189064"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180" name="Google Shape;1180;h4c5bf77df5a6a1aa_1_143"/>
          <p:cNvSpPr txBox="1"/>
          <p:nvPr/>
        </p:nvSpPr>
        <p:spPr>
          <a:xfrm>
            <a:off x="416396" y="3617258"/>
            <a:ext cx="115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F2328"/>
                </a:solidFill>
                <a:latin typeface="Calibri"/>
                <a:ea typeface="Calibri"/>
                <a:cs typeface="Calibri"/>
                <a:sym typeface="Calibri"/>
              </a:rPr>
              <a:t>Schema S</a:t>
            </a:r>
            <a:endParaRPr b="0" i="0" sz="1400" u="none" cap="none" strike="noStrike">
              <a:solidFill>
                <a:srgbClr val="000000"/>
              </a:solidFill>
              <a:latin typeface="Arial"/>
              <a:ea typeface="Arial"/>
              <a:cs typeface="Arial"/>
              <a:sym typeface="Arial"/>
            </a:endParaRPr>
          </a:p>
        </p:txBody>
      </p:sp>
      <p:sp>
        <p:nvSpPr>
          <p:cNvPr id="1181" name="Google Shape;1181;h4c5bf77df5a6a1aa_1_143"/>
          <p:cNvSpPr txBox="1"/>
          <p:nvPr/>
        </p:nvSpPr>
        <p:spPr>
          <a:xfrm>
            <a:off x="1275932" y="2748579"/>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(a)</a:t>
            </a:r>
            <a:endParaRPr b="0" i="0" sz="1400" u="none" cap="none" strike="noStrike">
              <a:solidFill>
                <a:srgbClr val="000000"/>
              </a:solidFill>
              <a:latin typeface="Arial"/>
              <a:ea typeface="Arial"/>
              <a:cs typeface="Arial"/>
              <a:sym typeface="Arial"/>
            </a:endParaRPr>
          </a:p>
        </p:txBody>
      </p:sp>
      <p:sp>
        <p:nvSpPr>
          <p:cNvPr id="1182" name="Google Shape;1182;h4c5bf77df5a6a1aa_1_143"/>
          <p:cNvSpPr/>
          <p:nvPr/>
        </p:nvSpPr>
        <p:spPr>
          <a:xfrm>
            <a:off x="4043884" y="1825035"/>
            <a:ext cx="2103000" cy="759000"/>
          </a:xfrm>
          <a:prstGeom prst="roundRect">
            <a:avLst>
              <a:gd fmla="val 16667" name="adj"/>
            </a:avLst>
          </a:prstGeom>
          <a:solidFill>
            <a:srgbClr val="F3F5F4"/>
          </a:solidFill>
          <a:ln cap="flat" cmpd="sng" w="165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3" name="Google Shape;1183;h4c5bf77df5a6a1aa_1_143"/>
          <p:cNvSpPr txBox="1"/>
          <p:nvPr/>
        </p:nvSpPr>
        <p:spPr>
          <a:xfrm>
            <a:off x="4117036" y="1590575"/>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(b)</a:t>
            </a:r>
            <a:endParaRPr b="0" i="0" sz="1400" u="none" cap="none" strike="noStrike">
              <a:solidFill>
                <a:srgbClr val="000000"/>
              </a:solidFill>
              <a:latin typeface="Arial"/>
              <a:ea typeface="Arial"/>
              <a:cs typeface="Arial"/>
              <a:sym typeface="Arial"/>
            </a:endParaRPr>
          </a:p>
        </p:txBody>
      </p:sp>
      <p:sp>
        <p:nvSpPr>
          <p:cNvPr id="1184" name="Google Shape;1184;h4c5bf77df5a6a1aa_1_143"/>
          <p:cNvSpPr txBox="1"/>
          <p:nvPr/>
        </p:nvSpPr>
        <p:spPr>
          <a:xfrm>
            <a:off x="4126180" y="1943907"/>
            <a:ext cx="19386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Direct mapping</a:t>
            </a:r>
            <a:endParaRPr b="0" i="0" sz="1400" u="none" cap="none" strike="noStrike">
              <a:solidFill>
                <a:srgbClr val="000000"/>
              </a:solidFill>
              <a:latin typeface="Arial"/>
              <a:ea typeface="Arial"/>
              <a:cs typeface="Arial"/>
              <a:sym typeface="Arial"/>
            </a:endParaRPr>
          </a:p>
        </p:txBody>
      </p:sp>
      <p:sp>
        <p:nvSpPr>
          <p:cNvPr id="1185" name="Google Shape;1185;h4c5bf77df5a6a1aa_1_143"/>
          <p:cNvSpPr txBox="1"/>
          <p:nvPr/>
        </p:nvSpPr>
        <p:spPr>
          <a:xfrm>
            <a:off x="4135323" y="2218227"/>
            <a:ext cx="19203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OWL seed DMᵣ</a:t>
            </a:r>
            <a:endParaRPr b="0" i="0" sz="1400" u="none" cap="none" strike="noStrike">
              <a:solidFill>
                <a:srgbClr val="000000"/>
              </a:solidFill>
              <a:latin typeface="Arial"/>
              <a:ea typeface="Arial"/>
              <a:cs typeface="Arial"/>
              <a:sym typeface="Arial"/>
            </a:endParaRPr>
          </a:p>
        </p:txBody>
      </p:sp>
      <p:sp>
        <p:nvSpPr>
          <p:cNvPr id="1186" name="Google Shape;1186;h4c5bf77df5a6a1aa_1_143"/>
          <p:cNvSpPr/>
          <p:nvPr/>
        </p:nvSpPr>
        <p:spPr>
          <a:xfrm>
            <a:off x="3897579" y="2739445"/>
            <a:ext cx="3218700" cy="2508300"/>
          </a:xfrm>
          <a:prstGeom prst="roundRect">
            <a:avLst>
              <a:gd fmla="val 8766" name="adj"/>
            </a:avLst>
          </a:prstGeom>
          <a:solidFill>
            <a:srgbClr val="FFFFFF"/>
          </a:solidFill>
          <a:ln cap="flat" cmpd="sng" w="15225">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7" name="Google Shape;1187;h4c5bf77df5a6a1aa_1_143"/>
          <p:cNvSpPr txBox="1"/>
          <p:nvPr/>
        </p:nvSpPr>
        <p:spPr>
          <a:xfrm>
            <a:off x="4025596" y="2776011"/>
            <a:ext cx="29901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RETRIEVAL  •  top-k per source</a:t>
            </a:r>
            <a:endParaRPr b="0" i="0" sz="1400" u="none" cap="none" strike="noStrike">
              <a:solidFill>
                <a:srgbClr val="000000"/>
              </a:solidFill>
              <a:latin typeface="Arial"/>
              <a:ea typeface="Arial"/>
              <a:cs typeface="Arial"/>
              <a:sym typeface="Arial"/>
            </a:endParaRPr>
          </a:p>
        </p:txBody>
      </p:sp>
      <p:sp>
        <p:nvSpPr>
          <p:cNvPr id="1188" name="Google Shape;1188;h4c5bf77df5a6a1aa_1_143"/>
          <p:cNvSpPr/>
          <p:nvPr/>
        </p:nvSpPr>
        <p:spPr>
          <a:xfrm>
            <a:off x="4043884" y="3059475"/>
            <a:ext cx="2980800" cy="603600"/>
          </a:xfrm>
          <a:prstGeom prst="roundRect">
            <a:avLst>
              <a:gd fmla="val 16667" name="adj"/>
            </a:avLst>
          </a:prstGeom>
          <a:solidFill>
            <a:srgbClr val="F3F5F4"/>
          </a:solidFill>
          <a:ln cap="flat" cmpd="sng" w="1522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9" name="Google Shape;1189;h4c5bf77df5a6a1aa_1_143"/>
          <p:cNvSpPr txBox="1"/>
          <p:nvPr/>
        </p:nvSpPr>
        <p:spPr>
          <a:xfrm>
            <a:off x="4144468" y="3115627"/>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(c)</a:t>
            </a:r>
            <a:endParaRPr b="0" i="0" sz="1400" u="none" cap="none" strike="noStrike">
              <a:solidFill>
                <a:srgbClr val="000000"/>
              </a:solidFill>
              <a:latin typeface="Arial"/>
              <a:ea typeface="Arial"/>
              <a:cs typeface="Arial"/>
              <a:sym typeface="Arial"/>
            </a:endParaRPr>
          </a:p>
        </p:txBody>
      </p:sp>
      <p:sp>
        <p:nvSpPr>
          <p:cNvPr id="1190" name="Google Shape;1190;h4c5bf77df5a6a1aa_1_143"/>
          <p:cNvSpPr txBox="1"/>
          <p:nvPr/>
        </p:nvSpPr>
        <p:spPr>
          <a:xfrm>
            <a:off x="4491940" y="3109413"/>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External ontologies</a:t>
            </a:r>
            <a:endParaRPr b="0" i="0" sz="1400" u="none" cap="none" strike="noStrike">
              <a:solidFill>
                <a:srgbClr val="000000"/>
              </a:solidFill>
              <a:latin typeface="Arial"/>
              <a:ea typeface="Arial"/>
              <a:cs typeface="Arial"/>
              <a:sym typeface="Arial"/>
            </a:endParaRPr>
          </a:p>
        </p:txBody>
      </p:sp>
      <p:sp>
        <p:nvSpPr>
          <p:cNvPr id="1191" name="Google Shape;1191;h4c5bf77df5a6a1aa_1_143"/>
          <p:cNvSpPr txBox="1"/>
          <p:nvPr/>
        </p:nvSpPr>
        <p:spPr>
          <a:xfrm>
            <a:off x="4491940" y="3379515"/>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Domain alignments</a:t>
            </a:r>
            <a:endParaRPr b="0" i="0" sz="1400" u="none" cap="none" strike="noStrike">
              <a:solidFill>
                <a:srgbClr val="000000"/>
              </a:solidFill>
              <a:latin typeface="Arial"/>
              <a:ea typeface="Arial"/>
              <a:cs typeface="Arial"/>
              <a:sym typeface="Arial"/>
            </a:endParaRPr>
          </a:p>
        </p:txBody>
      </p:sp>
      <p:sp>
        <p:nvSpPr>
          <p:cNvPr id="1192" name="Google Shape;1192;h4c5bf77df5a6a1aa_1_143"/>
          <p:cNvSpPr/>
          <p:nvPr/>
        </p:nvSpPr>
        <p:spPr>
          <a:xfrm>
            <a:off x="4043884" y="3763563"/>
            <a:ext cx="2980800" cy="603600"/>
          </a:xfrm>
          <a:prstGeom prst="roundRect">
            <a:avLst>
              <a:gd fmla="val 16667" name="adj"/>
            </a:avLst>
          </a:prstGeom>
          <a:solidFill>
            <a:srgbClr val="F3F5F4"/>
          </a:solidFill>
          <a:ln cap="flat" cmpd="sng" w="1522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3" name="Google Shape;1193;h4c5bf77df5a6a1aa_1_143"/>
          <p:cNvSpPr txBox="1"/>
          <p:nvPr/>
        </p:nvSpPr>
        <p:spPr>
          <a:xfrm>
            <a:off x="4144468" y="3819715"/>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(d)</a:t>
            </a:r>
            <a:endParaRPr b="0" i="0" sz="1400" u="none" cap="none" strike="noStrike">
              <a:solidFill>
                <a:srgbClr val="000000"/>
              </a:solidFill>
              <a:latin typeface="Arial"/>
              <a:ea typeface="Arial"/>
              <a:cs typeface="Arial"/>
              <a:sym typeface="Arial"/>
            </a:endParaRPr>
          </a:p>
        </p:txBody>
      </p:sp>
      <p:sp>
        <p:nvSpPr>
          <p:cNvPr id="1194" name="Google Shape;1194;h4c5bf77df5a6a1aa_1_143"/>
          <p:cNvSpPr txBox="1"/>
          <p:nvPr/>
        </p:nvSpPr>
        <p:spPr>
          <a:xfrm>
            <a:off x="4491940" y="3813501"/>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Documentation</a:t>
            </a:r>
            <a:endParaRPr b="0" i="0" sz="1400" u="none" cap="none" strike="noStrike">
              <a:solidFill>
                <a:srgbClr val="000000"/>
              </a:solidFill>
              <a:latin typeface="Arial"/>
              <a:ea typeface="Arial"/>
              <a:cs typeface="Arial"/>
              <a:sym typeface="Arial"/>
            </a:endParaRPr>
          </a:p>
        </p:txBody>
      </p:sp>
      <p:sp>
        <p:nvSpPr>
          <p:cNvPr id="1195" name="Google Shape;1195;h4c5bf77df5a6a1aa_1_143"/>
          <p:cNvSpPr txBox="1"/>
          <p:nvPr/>
        </p:nvSpPr>
        <p:spPr>
          <a:xfrm>
            <a:off x="4491940" y="4083603"/>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Cryptic fields and codes</a:t>
            </a:r>
            <a:endParaRPr b="0" i="0" sz="1400" u="none" cap="none" strike="noStrike">
              <a:solidFill>
                <a:srgbClr val="000000"/>
              </a:solidFill>
              <a:latin typeface="Arial"/>
              <a:ea typeface="Arial"/>
              <a:cs typeface="Arial"/>
              <a:sym typeface="Arial"/>
            </a:endParaRPr>
          </a:p>
        </p:txBody>
      </p:sp>
      <p:sp>
        <p:nvSpPr>
          <p:cNvPr id="1196" name="Google Shape;1196;h4c5bf77df5a6a1aa_1_143"/>
          <p:cNvSpPr/>
          <p:nvPr/>
        </p:nvSpPr>
        <p:spPr>
          <a:xfrm>
            <a:off x="4043884" y="4467651"/>
            <a:ext cx="2980800" cy="603600"/>
          </a:xfrm>
          <a:prstGeom prst="roundRect">
            <a:avLst>
              <a:gd fmla="val 16667" name="adj"/>
            </a:avLst>
          </a:prstGeom>
          <a:solidFill>
            <a:srgbClr val="F3F5F4"/>
          </a:solidFill>
          <a:ln cap="flat" cmpd="sng" w="1522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7" name="Google Shape;1197;h4c5bf77df5a6a1aa_1_143"/>
          <p:cNvSpPr txBox="1"/>
          <p:nvPr/>
        </p:nvSpPr>
        <p:spPr>
          <a:xfrm>
            <a:off x="4144468" y="4523803"/>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(e)</a:t>
            </a:r>
            <a:endParaRPr b="0" i="0" sz="1400" u="none" cap="none" strike="noStrike">
              <a:solidFill>
                <a:srgbClr val="000000"/>
              </a:solidFill>
              <a:latin typeface="Arial"/>
              <a:ea typeface="Arial"/>
              <a:cs typeface="Arial"/>
              <a:sym typeface="Arial"/>
            </a:endParaRPr>
          </a:p>
        </p:txBody>
      </p:sp>
      <p:sp>
        <p:nvSpPr>
          <p:cNvPr id="1198" name="Google Shape;1198;h4c5bf77df5a6a1aa_1_143"/>
          <p:cNvSpPr txBox="1"/>
          <p:nvPr/>
        </p:nvSpPr>
        <p:spPr>
          <a:xfrm>
            <a:off x="4491940" y="4517589"/>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Growing core ontology</a:t>
            </a:r>
            <a:endParaRPr b="0" i="0" sz="1400" u="none" cap="none" strike="noStrike">
              <a:solidFill>
                <a:srgbClr val="000000"/>
              </a:solidFill>
              <a:latin typeface="Arial"/>
              <a:ea typeface="Arial"/>
              <a:cs typeface="Arial"/>
              <a:sym typeface="Arial"/>
            </a:endParaRPr>
          </a:p>
        </p:txBody>
      </p:sp>
      <p:sp>
        <p:nvSpPr>
          <p:cNvPr id="1199" name="Google Shape;1199;h4c5bf77df5a6a1aa_1_143"/>
          <p:cNvSpPr txBox="1"/>
          <p:nvPr/>
        </p:nvSpPr>
        <p:spPr>
          <a:xfrm>
            <a:off x="4491940" y="4787691"/>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Reuse validated IRIs</a:t>
            </a:r>
            <a:endParaRPr b="0" i="0" sz="1400" u="none" cap="none" strike="noStrike">
              <a:solidFill>
                <a:srgbClr val="000000"/>
              </a:solidFill>
              <a:latin typeface="Arial"/>
              <a:ea typeface="Arial"/>
              <a:cs typeface="Arial"/>
              <a:sym typeface="Arial"/>
            </a:endParaRPr>
          </a:p>
        </p:txBody>
      </p:sp>
      <p:sp>
        <p:nvSpPr>
          <p:cNvPr id="1200" name="Google Shape;1200;h4c5bf77df5a6a1aa_1_143"/>
          <p:cNvSpPr/>
          <p:nvPr/>
        </p:nvSpPr>
        <p:spPr>
          <a:xfrm>
            <a:off x="7596625" y="3402475"/>
            <a:ext cx="1335000" cy="1321500"/>
          </a:xfrm>
          <a:prstGeom prst="roundRect">
            <a:avLst>
              <a:gd fmla="val 16667" name="adj"/>
            </a:avLst>
          </a:prstGeom>
          <a:solidFill>
            <a:srgbClr val="DDE5E1"/>
          </a:solidFill>
          <a:ln cap="flat" cmpd="sng" w="29200">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01" name="Google Shape;1201;h4c5bf77df5a6a1aa_1_143"/>
          <p:cNvSpPr txBox="1"/>
          <p:nvPr/>
        </p:nvSpPr>
        <p:spPr>
          <a:xfrm>
            <a:off x="7669765" y="3192158"/>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(f)</a:t>
            </a:r>
            <a:endParaRPr b="0" i="0" sz="1400" u="none" cap="none" strike="noStrike">
              <a:solidFill>
                <a:srgbClr val="000000"/>
              </a:solidFill>
              <a:latin typeface="Arial"/>
              <a:ea typeface="Arial"/>
              <a:cs typeface="Arial"/>
              <a:sym typeface="Arial"/>
            </a:endParaRPr>
          </a:p>
        </p:txBody>
      </p:sp>
      <p:sp>
        <p:nvSpPr>
          <p:cNvPr id="1202" name="Google Shape;1202;h4c5bf77df5a6a1aa_1_143"/>
          <p:cNvSpPr txBox="1"/>
          <p:nvPr/>
        </p:nvSpPr>
        <p:spPr>
          <a:xfrm>
            <a:off x="7678909" y="3521341"/>
            <a:ext cx="11703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Gen-LLM</a:t>
            </a:r>
            <a:endParaRPr b="0" i="0" sz="1400" u="none" cap="none" strike="noStrike">
              <a:solidFill>
                <a:srgbClr val="000000"/>
              </a:solidFill>
              <a:latin typeface="Arial"/>
              <a:ea typeface="Arial"/>
              <a:cs typeface="Arial"/>
              <a:sym typeface="Arial"/>
            </a:endParaRPr>
          </a:p>
        </p:txBody>
      </p:sp>
      <p:sp>
        <p:nvSpPr>
          <p:cNvPr id="1203" name="Google Shape;1203;h4c5bf77df5a6a1aa_1_143"/>
          <p:cNvSpPr txBox="1"/>
          <p:nvPr/>
        </p:nvSpPr>
        <p:spPr>
          <a:xfrm>
            <a:off x="7688053" y="3795661"/>
            <a:ext cx="115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creates ΔOᵣ</a:t>
            </a:r>
            <a:endParaRPr b="0" i="0" sz="1400" u="none" cap="none" strike="noStrike">
              <a:solidFill>
                <a:srgbClr val="000000"/>
              </a:solidFill>
              <a:latin typeface="Arial"/>
              <a:ea typeface="Arial"/>
              <a:cs typeface="Arial"/>
              <a:sym typeface="Arial"/>
            </a:endParaRPr>
          </a:p>
        </p:txBody>
      </p:sp>
      <p:sp>
        <p:nvSpPr>
          <p:cNvPr id="1204" name="Google Shape;1204;h4c5bf77df5a6a1aa_1_143"/>
          <p:cNvSpPr txBox="1"/>
          <p:nvPr/>
        </p:nvSpPr>
        <p:spPr>
          <a:xfrm>
            <a:off x="9032221" y="3384182"/>
            <a:ext cx="7131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(g) ΔOᵣ</a:t>
            </a:r>
            <a:endParaRPr b="0" i="0" sz="1400" u="none" cap="none" strike="noStrike">
              <a:solidFill>
                <a:srgbClr val="000000"/>
              </a:solidFill>
              <a:latin typeface="Arial"/>
              <a:ea typeface="Arial"/>
              <a:cs typeface="Arial"/>
              <a:sym typeface="Arial"/>
            </a:endParaRPr>
          </a:p>
        </p:txBody>
      </p:sp>
      <p:cxnSp>
        <p:nvCxnSpPr>
          <p:cNvPr id="1205" name="Google Shape;1205;h4c5bf77df5a6a1aa_1_143"/>
          <p:cNvCxnSpPr/>
          <p:nvPr/>
        </p:nvCxnSpPr>
        <p:spPr>
          <a:xfrm>
            <a:off x="3280056" y="3446462"/>
            <a:ext cx="100500" cy="0"/>
          </a:xfrm>
          <a:prstGeom prst="straightConnector1">
            <a:avLst/>
          </a:prstGeom>
          <a:noFill/>
          <a:ln cap="flat" cmpd="sng" w="29200">
            <a:solidFill>
              <a:srgbClr val="3A7D8C"/>
            </a:solidFill>
            <a:prstDash val="solid"/>
            <a:miter lim="0"/>
            <a:headEnd len="sm" w="sm" type="none"/>
            <a:tailEnd len="sm" w="sm" type="none"/>
          </a:ln>
        </p:spPr>
      </p:cxnSp>
      <p:sp>
        <p:nvSpPr>
          <p:cNvPr id="1206" name="Google Shape;1206;h4c5bf77df5a6a1aa_1_143"/>
          <p:cNvSpPr/>
          <p:nvPr/>
        </p:nvSpPr>
        <p:spPr>
          <a:xfrm>
            <a:off x="1838868" y="3160059"/>
            <a:ext cx="1444800" cy="694800"/>
          </a:xfrm>
          <a:prstGeom prst="roundRect">
            <a:avLst>
              <a:gd fmla="val 16667" name="adj"/>
            </a:avLst>
          </a:prstGeom>
          <a:solidFill>
            <a:srgbClr val="F3F5F4"/>
          </a:solidFill>
          <a:ln cap="flat" cmpd="sng" w="165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07" name="Google Shape;1207;h4c5bf77df5a6a1aa_1_143"/>
          <p:cNvSpPr txBox="1"/>
          <p:nvPr/>
        </p:nvSpPr>
        <p:spPr>
          <a:xfrm>
            <a:off x="1921164" y="3278931"/>
            <a:ext cx="12801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Iterate</a:t>
            </a:r>
            <a:endParaRPr b="0" i="0" sz="1400" u="none" cap="none" strike="noStrike">
              <a:solidFill>
                <a:srgbClr val="000000"/>
              </a:solidFill>
              <a:latin typeface="Arial"/>
              <a:ea typeface="Arial"/>
              <a:cs typeface="Arial"/>
              <a:sym typeface="Arial"/>
            </a:endParaRPr>
          </a:p>
        </p:txBody>
      </p:sp>
      <p:sp>
        <p:nvSpPr>
          <p:cNvPr id="1208" name="Google Shape;1208;h4c5bf77df5a6a1aa_1_143"/>
          <p:cNvSpPr txBox="1"/>
          <p:nvPr/>
        </p:nvSpPr>
        <p:spPr>
          <a:xfrm>
            <a:off x="1930308" y="3553251"/>
            <a:ext cx="12618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FK-BFS</a:t>
            </a:r>
            <a:endParaRPr b="0" i="0" sz="1400" u="none" cap="none" strike="noStrike">
              <a:solidFill>
                <a:srgbClr val="000000"/>
              </a:solidFill>
              <a:latin typeface="Arial"/>
              <a:ea typeface="Arial"/>
              <a:cs typeface="Arial"/>
              <a:sym typeface="Arial"/>
            </a:endParaRPr>
          </a:p>
        </p:txBody>
      </p:sp>
      <p:cxnSp>
        <p:nvCxnSpPr>
          <p:cNvPr id="1209" name="Google Shape;1209;h4c5bf77df5a6a1aa_1_143"/>
          <p:cNvCxnSpPr/>
          <p:nvPr/>
        </p:nvCxnSpPr>
        <p:spPr>
          <a:xfrm>
            <a:off x="3276349" y="3608115"/>
            <a:ext cx="118800" cy="0"/>
          </a:xfrm>
          <a:prstGeom prst="straightConnector1">
            <a:avLst/>
          </a:prstGeom>
          <a:noFill/>
          <a:ln cap="flat" cmpd="sng" w="26650">
            <a:solidFill>
              <a:srgbClr val="3A7D8C"/>
            </a:solidFill>
            <a:prstDash val="solid"/>
            <a:miter lim="0"/>
            <a:headEnd len="sm" w="sm" type="none"/>
            <a:tailEnd len="sm" w="sm" type="none"/>
          </a:ln>
        </p:spPr>
      </p:cxnSp>
      <p:cxnSp>
        <p:nvCxnSpPr>
          <p:cNvPr id="1210" name="Google Shape;1210;h4c5bf77df5a6a1aa_1_143"/>
          <p:cNvCxnSpPr/>
          <p:nvPr/>
        </p:nvCxnSpPr>
        <p:spPr>
          <a:xfrm>
            <a:off x="3657665" y="2199459"/>
            <a:ext cx="265200" cy="0"/>
          </a:xfrm>
          <a:prstGeom prst="straightConnector1">
            <a:avLst/>
          </a:prstGeom>
          <a:noFill/>
          <a:ln cap="flat" cmpd="sng" w="29200">
            <a:solidFill>
              <a:srgbClr val="3A7D8C"/>
            </a:solidFill>
            <a:prstDash val="solid"/>
            <a:miter lim="0"/>
            <a:headEnd len="sm" w="sm" type="none"/>
            <a:tailEnd len="sm" w="sm" type="none"/>
          </a:ln>
        </p:spPr>
      </p:cxnSp>
      <p:cxnSp>
        <p:nvCxnSpPr>
          <p:cNvPr id="1211" name="Google Shape;1211;h4c5bf77df5a6a1aa_1_143"/>
          <p:cNvCxnSpPr/>
          <p:nvPr/>
        </p:nvCxnSpPr>
        <p:spPr>
          <a:xfrm>
            <a:off x="6144772" y="2181631"/>
            <a:ext cx="1874400" cy="0"/>
          </a:xfrm>
          <a:prstGeom prst="straightConnector1">
            <a:avLst/>
          </a:prstGeom>
          <a:noFill/>
          <a:ln cap="flat" cmpd="sng" w="29200">
            <a:solidFill>
              <a:srgbClr val="3A7D8C"/>
            </a:solidFill>
            <a:prstDash val="solid"/>
            <a:miter lim="0"/>
            <a:headEnd len="sm" w="sm" type="none"/>
            <a:tailEnd len="sm" w="sm" type="none"/>
          </a:ln>
        </p:spPr>
      </p:cxnSp>
      <p:pic>
        <p:nvPicPr>
          <p:cNvPr id="1212" name="Google Shape;1212;h4c5bf77df5a6a1aa_1_143" title="Ontology Taxonomy Documentation Icons.png"/>
          <p:cNvPicPr preferRelativeResize="0"/>
          <p:nvPr/>
        </p:nvPicPr>
        <p:blipFill rotWithShape="1">
          <a:blip r:embed="rId3">
            <a:alphaModFix/>
          </a:blip>
          <a:srcRect b="14185" l="36225" r="31825" t="16211"/>
          <a:stretch/>
        </p:blipFill>
        <p:spPr>
          <a:xfrm>
            <a:off x="6431317" y="3822390"/>
            <a:ext cx="594806" cy="475499"/>
          </a:xfrm>
          <a:prstGeom prst="rect">
            <a:avLst/>
          </a:prstGeom>
          <a:noFill/>
          <a:ln>
            <a:noFill/>
          </a:ln>
        </p:spPr>
      </p:pic>
      <p:pic>
        <p:nvPicPr>
          <p:cNvPr id="1213" name="Google Shape;1213;h4c5bf77df5a6a1aa_1_143" title="Ontology Taxonomy Documentation Icons.png"/>
          <p:cNvPicPr preferRelativeResize="0"/>
          <p:nvPr/>
        </p:nvPicPr>
        <p:blipFill rotWithShape="1">
          <a:blip r:embed="rId3">
            <a:alphaModFix/>
          </a:blip>
          <a:srcRect b="14185" l="2070" r="65981" t="16211"/>
          <a:stretch/>
        </p:blipFill>
        <p:spPr>
          <a:xfrm>
            <a:off x="6385539" y="3137260"/>
            <a:ext cx="594801" cy="432155"/>
          </a:xfrm>
          <a:prstGeom prst="rect">
            <a:avLst/>
          </a:prstGeom>
          <a:noFill/>
          <a:ln>
            <a:noFill/>
          </a:ln>
        </p:spPr>
      </p:pic>
      <p:pic>
        <p:nvPicPr>
          <p:cNvPr id="1214" name="Google Shape;1214;h4c5bf77df5a6a1aa_1_143" title="Ontology Taxonomy Documentation Icons.png"/>
          <p:cNvPicPr preferRelativeResize="0"/>
          <p:nvPr/>
        </p:nvPicPr>
        <p:blipFill rotWithShape="1">
          <a:blip r:embed="rId3">
            <a:alphaModFix/>
          </a:blip>
          <a:srcRect b="7505" l="70326" r="314" t="10116"/>
          <a:stretch/>
        </p:blipFill>
        <p:spPr>
          <a:xfrm>
            <a:off x="6452911" y="4535008"/>
            <a:ext cx="528123" cy="494162"/>
          </a:xfrm>
          <a:prstGeom prst="rect">
            <a:avLst/>
          </a:prstGeom>
          <a:noFill/>
          <a:ln>
            <a:noFill/>
          </a:ln>
        </p:spPr>
      </p:pic>
      <p:pic>
        <p:nvPicPr>
          <p:cNvPr id="1215" name="Google Shape;1215;h4c5bf77df5a6a1aa_1_143" title="LLM Neural Brain Icon.png"/>
          <p:cNvPicPr preferRelativeResize="0"/>
          <p:nvPr/>
        </p:nvPicPr>
        <p:blipFill rotWithShape="1">
          <a:blip r:embed="rId4">
            <a:alphaModFix/>
          </a:blip>
          <a:srcRect b="14226" l="16398" r="17214" t="12218"/>
          <a:stretch/>
        </p:blipFill>
        <p:spPr>
          <a:xfrm>
            <a:off x="7941825" y="4070998"/>
            <a:ext cx="644449" cy="6036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0" name="Shape 1220"/>
        <p:cNvGrpSpPr/>
        <p:nvPr/>
      </p:nvGrpSpPr>
      <p:grpSpPr>
        <a:xfrm>
          <a:off x="0" y="0"/>
          <a:ext cx="0" cy="0"/>
          <a:chOff x="0" y="0"/>
          <a:chExt cx="0" cy="0"/>
        </a:xfrm>
      </p:grpSpPr>
      <p:cxnSp>
        <p:nvCxnSpPr>
          <p:cNvPr id="1221" name="Google Shape;1221;h4c5bf77df5a6a1aa_1_232"/>
          <p:cNvCxnSpPr/>
          <p:nvPr/>
        </p:nvCxnSpPr>
        <p:spPr>
          <a:xfrm>
            <a:off x="7261490" y="3782975"/>
            <a:ext cx="228600" cy="0"/>
          </a:xfrm>
          <a:prstGeom prst="straightConnector1">
            <a:avLst/>
          </a:prstGeom>
          <a:noFill/>
          <a:ln cap="flat" cmpd="sng" w="26650">
            <a:solidFill>
              <a:srgbClr val="3A7D8C"/>
            </a:solidFill>
            <a:prstDash val="solid"/>
            <a:miter lim="0"/>
            <a:headEnd len="sm" w="sm" type="none"/>
            <a:tailEnd len="sm" w="sm" type="none"/>
          </a:ln>
        </p:spPr>
      </p:cxnSp>
      <p:cxnSp>
        <p:nvCxnSpPr>
          <p:cNvPr id="1222" name="Google Shape;1222;h4c5bf77df5a6a1aa_1_232"/>
          <p:cNvCxnSpPr/>
          <p:nvPr/>
        </p:nvCxnSpPr>
        <p:spPr>
          <a:xfrm>
            <a:off x="7071140" y="3304363"/>
            <a:ext cx="146400" cy="0"/>
          </a:xfrm>
          <a:prstGeom prst="straightConnector1">
            <a:avLst/>
          </a:prstGeom>
          <a:noFill/>
          <a:ln cap="flat" cmpd="sng" w="26650">
            <a:solidFill>
              <a:srgbClr val="3A7D8C"/>
            </a:solidFill>
            <a:prstDash val="solid"/>
            <a:miter lim="0"/>
            <a:headEnd len="sm" w="sm" type="none"/>
            <a:tailEnd len="sm" w="sm" type="none"/>
          </a:ln>
        </p:spPr>
      </p:cxnSp>
      <p:sp>
        <p:nvSpPr>
          <p:cNvPr id="1223" name="Google Shape;1223;h4c5bf77df5a6a1aa_1_232"/>
          <p:cNvSpPr txBox="1"/>
          <p:nvPr/>
        </p:nvSpPr>
        <p:spPr>
          <a:xfrm>
            <a:off x="512064" y="320040"/>
            <a:ext cx="66750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RIGOR  /  REASSEMBLING THE ARCHITECTURE</a:t>
            </a:r>
            <a:endParaRPr b="0" i="0" sz="1400" u="none" cap="none" strike="noStrike">
              <a:solidFill>
                <a:srgbClr val="000000"/>
              </a:solidFill>
              <a:latin typeface="Consolas"/>
              <a:ea typeface="Consolas"/>
              <a:cs typeface="Consolas"/>
              <a:sym typeface="Consolas"/>
            </a:endParaRPr>
          </a:p>
        </p:txBody>
      </p:sp>
      <p:sp>
        <p:nvSpPr>
          <p:cNvPr id="1224" name="Google Shape;1224;h4c5bf77df5a6a1aa_1_232"/>
          <p:cNvSpPr txBox="1"/>
          <p:nvPr/>
        </p:nvSpPr>
        <p:spPr>
          <a:xfrm>
            <a:off x="512064" y="685800"/>
            <a:ext cx="10881300" cy="446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5. Validate before integration</a:t>
            </a:r>
            <a:endParaRPr b="0" i="0" sz="1400" u="none" cap="none" strike="noStrike">
              <a:solidFill>
                <a:srgbClr val="000000"/>
              </a:solidFill>
              <a:latin typeface="Arial"/>
              <a:ea typeface="Arial"/>
              <a:cs typeface="Arial"/>
              <a:sym typeface="Arial"/>
            </a:endParaRPr>
          </a:p>
        </p:txBody>
      </p:sp>
      <p:sp>
        <p:nvSpPr>
          <p:cNvPr id="1225" name="Google Shape;1225;h4c5bf77df5a6a1aa_1_232"/>
          <p:cNvSpPr txBox="1"/>
          <p:nvPr/>
        </p:nvSpPr>
        <p:spPr>
          <a:xfrm>
            <a:off x="512064" y="1271016"/>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A434C"/>
                </a:solidFill>
                <a:latin typeface="Calibri"/>
                <a:ea typeface="Calibri"/>
                <a:cs typeface="Calibri"/>
                <a:sym typeface="Calibri"/>
              </a:rPr>
              <a:t> Validate and refine each delta before it joins the core.</a:t>
            </a:r>
            <a:endParaRPr b="0" i="0" sz="1400" u="none" cap="none" strike="noStrike">
              <a:solidFill>
                <a:srgbClr val="000000"/>
              </a:solidFill>
              <a:latin typeface="Arial"/>
              <a:ea typeface="Arial"/>
              <a:cs typeface="Arial"/>
              <a:sym typeface="Arial"/>
            </a:endParaRPr>
          </a:p>
        </p:txBody>
      </p:sp>
      <p:sp>
        <p:nvSpPr>
          <p:cNvPr id="1226" name="Google Shape;1226;h4c5bf77df5a6a1aa_1_232"/>
          <p:cNvSpPr/>
          <p:nvPr/>
        </p:nvSpPr>
        <p:spPr>
          <a:xfrm>
            <a:off x="9692640"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7" name="Google Shape;1227;h4c5bf77df5a6a1aa_1_232"/>
          <p:cNvSpPr/>
          <p:nvPr/>
        </p:nvSpPr>
        <p:spPr>
          <a:xfrm>
            <a:off x="10049256"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8" name="Google Shape;1228;h4c5bf77df5a6a1aa_1_232"/>
          <p:cNvSpPr/>
          <p:nvPr/>
        </p:nvSpPr>
        <p:spPr>
          <a:xfrm>
            <a:off x="10405872"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9" name="Google Shape;1229;h4c5bf77df5a6a1aa_1_232"/>
          <p:cNvSpPr/>
          <p:nvPr/>
        </p:nvSpPr>
        <p:spPr>
          <a:xfrm>
            <a:off x="10762488"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0" name="Google Shape;1230;h4c5bf77df5a6a1aa_1_232"/>
          <p:cNvSpPr/>
          <p:nvPr/>
        </p:nvSpPr>
        <p:spPr>
          <a:xfrm>
            <a:off x="11119104"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1" name="Google Shape;1231;h4c5bf77df5a6a1aa_1_232"/>
          <p:cNvSpPr/>
          <p:nvPr/>
        </p:nvSpPr>
        <p:spPr>
          <a:xfrm>
            <a:off x="11475720"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2" name="Google Shape;1232;h4c5bf77df5a6a1aa_1_232"/>
          <p:cNvSpPr txBox="1"/>
          <p:nvPr/>
        </p:nvSpPr>
        <p:spPr>
          <a:xfrm>
            <a:off x="10917936" y="6519672"/>
            <a:ext cx="804600" cy="2154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5 / 6</a:t>
            </a:r>
            <a:endParaRPr b="0" i="0" sz="1400" u="none" cap="none" strike="noStrike">
              <a:solidFill>
                <a:srgbClr val="000000"/>
              </a:solidFill>
              <a:latin typeface="Arial"/>
              <a:ea typeface="Arial"/>
              <a:cs typeface="Arial"/>
              <a:sym typeface="Arial"/>
            </a:endParaRPr>
          </a:p>
        </p:txBody>
      </p:sp>
      <p:cxnSp>
        <p:nvCxnSpPr>
          <p:cNvPr id="1233" name="Google Shape;1233;h4c5bf77df5a6a1aa_1_232"/>
          <p:cNvCxnSpPr/>
          <p:nvPr/>
        </p:nvCxnSpPr>
        <p:spPr>
          <a:xfrm>
            <a:off x="1577684" y="3507531"/>
            <a:ext cx="164700" cy="0"/>
          </a:xfrm>
          <a:prstGeom prst="straightConnector1">
            <a:avLst/>
          </a:prstGeom>
          <a:noFill/>
          <a:ln cap="flat" cmpd="sng" w="38100">
            <a:solidFill>
              <a:srgbClr val="3A7D8C"/>
            </a:solidFill>
            <a:prstDash val="solid"/>
            <a:miter lim="0"/>
            <a:headEnd len="sm" w="sm" type="none"/>
            <a:tailEnd len="sm" w="sm" type="none"/>
          </a:ln>
        </p:spPr>
      </p:cxnSp>
      <p:sp>
        <p:nvSpPr>
          <p:cNvPr id="1234" name="Google Shape;1234;h4c5bf77df5a6a1aa_1_232"/>
          <p:cNvSpPr/>
          <p:nvPr/>
        </p:nvSpPr>
        <p:spPr>
          <a:xfrm rot="5400000">
            <a:off x="1678184" y="3443523"/>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235" name="Google Shape;1235;h4c5bf77df5a6a1aa_1_232"/>
          <p:cNvCxnSpPr/>
          <p:nvPr/>
        </p:nvCxnSpPr>
        <p:spPr>
          <a:xfrm>
            <a:off x="3369671" y="3446462"/>
            <a:ext cx="100500" cy="0"/>
          </a:xfrm>
          <a:prstGeom prst="straightConnector1">
            <a:avLst/>
          </a:prstGeom>
          <a:noFill/>
          <a:ln cap="flat" cmpd="sng" w="29200">
            <a:solidFill>
              <a:srgbClr val="3A7D8C"/>
            </a:solidFill>
            <a:prstDash val="solid"/>
            <a:miter lim="0"/>
            <a:headEnd len="sm" w="sm" type="none"/>
            <a:tailEnd len="sm" w="sm" type="none"/>
          </a:ln>
        </p:spPr>
      </p:cxnSp>
      <p:cxnSp>
        <p:nvCxnSpPr>
          <p:cNvPr id="1236" name="Google Shape;1236;h4c5bf77df5a6a1aa_1_232"/>
          <p:cNvCxnSpPr/>
          <p:nvPr/>
        </p:nvCxnSpPr>
        <p:spPr>
          <a:xfrm rot="10800000">
            <a:off x="3456647" y="2186248"/>
            <a:ext cx="0" cy="1271100"/>
          </a:xfrm>
          <a:prstGeom prst="straightConnector1">
            <a:avLst/>
          </a:prstGeom>
          <a:noFill/>
          <a:ln cap="flat" cmpd="sng" w="29200">
            <a:solidFill>
              <a:srgbClr val="3A7D8C"/>
            </a:solidFill>
            <a:prstDash val="solid"/>
            <a:miter lim="0"/>
            <a:headEnd len="sm" w="sm" type="none"/>
            <a:tailEnd len="sm" w="sm" type="none"/>
          </a:ln>
        </p:spPr>
      </p:cxnSp>
      <p:cxnSp>
        <p:nvCxnSpPr>
          <p:cNvPr id="1237" name="Google Shape;1237;h4c5bf77df5a6a1aa_1_232"/>
          <p:cNvCxnSpPr/>
          <p:nvPr/>
        </p:nvCxnSpPr>
        <p:spPr>
          <a:xfrm>
            <a:off x="3456647" y="2199939"/>
            <a:ext cx="265200" cy="0"/>
          </a:xfrm>
          <a:prstGeom prst="straightConnector1">
            <a:avLst/>
          </a:prstGeom>
          <a:noFill/>
          <a:ln cap="flat" cmpd="sng" w="29200">
            <a:solidFill>
              <a:srgbClr val="3A7D8C"/>
            </a:solidFill>
            <a:prstDash val="solid"/>
            <a:miter lim="0"/>
            <a:headEnd len="sm" w="sm" type="none"/>
            <a:tailEnd len="sm" w="sm" type="none"/>
          </a:ln>
        </p:spPr>
      </p:cxnSp>
      <p:sp>
        <p:nvSpPr>
          <p:cNvPr id="1238" name="Google Shape;1238;h4c5bf77df5a6a1aa_1_232"/>
          <p:cNvSpPr/>
          <p:nvPr/>
        </p:nvSpPr>
        <p:spPr>
          <a:xfrm rot="5400000">
            <a:off x="3918081" y="2135931"/>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239" name="Google Shape;1239;h4c5bf77df5a6a1aa_1_232"/>
          <p:cNvCxnSpPr/>
          <p:nvPr/>
        </p:nvCxnSpPr>
        <p:spPr>
          <a:xfrm>
            <a:off x="3356063" y="3608115"/>
            <a:ext cx="118800" cy="0"/>
          </a:xfrm>
          <a:prstGeom prst="straightConnector1">
            <a:avLst/>
          </a:prstGeom>
          <a:noFill/>
          <a:ln cap="flat" cmpd="sng" w="26650">
            <a:solidFill>
              <a:srgbClr val="3A7D8C"/>
            </a:solidFill>
            <a:prstDash val="solid"/>
            <a:miter lim="0"/>
            <a:headEnd len="sm" w="sm" type="none"/>
            <a:tailEnd len="sm" w="sm" type="none"/>
          </a:ln>
        </p:spPr>
      </p:cxnSp>
      <p:cxnSp>
        <p:nvCxnSpPr>
          <p:cNvPr id="1240" name="Google Shape;1240;h4c5bf77df5a6a1aa_1_232"/>
          <p:cNvCxnSpPr/>
          <p:nvPr/>
        </p:nvCxnSpPr>
        <p:spPr>
          <a:xfrm rot="10800000">
            <a:off x="3537528" y="3283708"/>
            <a:ext cx="0" cy="310800"/>
          </a:xfrm>
          <a:prstGeom prst="straightConnector1">
            <a:avLst/>
          </a:prstGeom>
          <a:noFill/>
          <a:ln cap="flat" cmpd="sng" w="26650">
            <a:solidFill>
              <a:srgbClr val="3A7D8C"/>
            </a:solidFill>
            <a:prstDash val="solid"/>
            <a:miter lim="0"/>
            <a:headEnd len="sm" w="sm" type="none"/>
            <a:tailEnd len="sm" w="sm" type="none"/>
          </a:ln>
        </p:spPr>
      </p:cxnSp>
      <p:cxnSp>
        <p:nvCxnSpPr>
          <p:cNvPr id="1241" name="Google Shape;1241;h4c5bf77df5a6a1aa_1_232"/>
          <p:cNvCxnSpPr/>
          <p:nvPr/>
        </p:nvCxnSpPr>
        <p:spPr>
          <a:xfrm>
            <a:off x="3537528" y="3297219"/>
            <a:ext cx="255900" cy="0"/>
          </a:xfrm>
          <a:prstGeom prst="straightConnector1">
            <a:avLst/>
          </a:prstGeom>
          <a:noFill/>
          <a:ln cap="flat" cmpd="sng" w="26650">
            <a:solidFill>
              <a:srgbClr val="3A7D8C"/>
            </a:solidFill>
            <a:prstDash val="solid"/>
            <a:miter lim="0"/>
            <a:headEnd len="sm" w="sm" type="none"/>
            <a:tailEnd len="sm" w="sm" type="none"/>
          </a:ln>
        </p:spPr>
      </p:cxnSp>
      <p:sp>
        <p:nvSpPr>
          <p:cNvPr id="1242" name="Google Shape;1242;h4c5bf77df5a6a1aa_1_232"/>
          <p:cNvSpPr/>
          <p:nvPr/>
        </p:nvSpPr>
        <p:spPr>
          <a:xfrm rot="5400000">
            <a:off x="3729467" y="3233211"/>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243" name="Google Shape;1243;h4c5bf77df5a6a1aa_1_232"/>
          <p:cNvCxnSpPr/>
          <p:nvPr/>
        </p:nvCxnSpPr>
        <p:spPr>
          <a:xfrm>
            <a:off x="3356063" y="3608115"/>
            <a:ext cx="118800" cy="0"/>
          </a:xfrm>
          <a:prstGeom prst="straightConnector1">
            <a:avLst/>
          </a:prstGeom>
          <a:noFill/>
          <a:ln cap="flat" cmpd="sng" w="26650">
            <a:solidFill>
              <a:srgbClr val="3A7D8C"/>
            </a:solidFill>
            <a:prstDash val="solid"/>
            <a:miter lim="0"/>
            <a:headEnd len="sm" w="sm" type="none"/>
            <a:tailEnd len="sm" w="sm" type="none"/>
          </a:ln>
        </p:spPr>
      </p:cxnSp>
      <p:cxnSp>
        <p:nvCxnSpPr>
          <p:cNvPr id="1244" name="Google Shape;1244;h4c5bf77df5a6a1aa_1_232"/>
          <p:cNvCxnSpPr/>
          <p:nvPr/>
        </p:nvCxnSpPr>
        <p:spPr>
          <a:xfrm>
            <a:off x="3537528" y="3992163"/>
            <a:ext cx="255900" cy="0"/>
          </a:xfrm>
          <a:prstGeom prst="straightConnector1">
            <a:avLst/>
          </a:prstGeom>
          <a:noFill/>
          <a:ln cap="flat" cmpd="sng" w="26650">
            <a:solidFill>
              <a:srgbClr val="3A7D8C"/>
            </a:solidFill>
            <a:prstDash val="solid"/>
            <a:miter lim="0"/>
            <a:headEnd len="sm" w="sm" type="none"/>
            <a:tailEnd len="sm" w="sm" type="none"/>
          </a:ln>
        </p:spPr>
      </p:cxnSp>
      <p:sp>
        <p:nvSpPr>
          <p:cNvPr id="1245" name="Google Shape;1245;h4c5bf77df5a6a1aa_1_232"/>
          <p:cNvSpPr/>
          <p:nvPr/>
        </p:nvSpPr>
        <p:spPr>
          <a:xfrm rot="5400000">
            <a:off x="3729467" y="3928154"/>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246" name="Google Shape;1246;h4c5bf77df5a6a1aa_1_232"/>
          <p:cNvCxnSpPr/>
          <p:nvPr/>
        </p:nvCxnSpPr>
        <p:spPr>
          <a:xfrm>
            <a:off x="3418656" y="3608115"/>
            <a:ext cx="118800" cy="0"/>
          </a:xfrm>
          <a:prstGeom prst="straightConnector1">
            <a:avLst/>
          </a:prstGeom>
          <a:noFill/>
          <a:ln cap="flat" cmpd="sng" w="26650">
            <a:solidFill>
              <a:srgbClr val="3A7D8C"/>
            </a:solidFill>
            <a:prstDash val="solid"/>
            <a:miter lim="0"/>
            <a:headEnd len="sm" w="sm" type="none"/>
            <a:tailEnd len="sm" w="sm" type="none"/>
          </a:ln>
        </p:spPr>
      </p:cxnSp>
      <p:cxnSp>
        <p:nvCxnSpPr>
          <p:cNvPr id="1247" name="Google Shape;1247;h4c5bf77df5a6a1aa_1_232"/>
          <p:cNvCxnSpPr/>
          <p:nvPr/>
        </p:nvCxnSpPr>
        <p:spPr>
          <a:xfrm>
            <a:off x="3537528" y="3594508"/>
            <a:ext cx="0" cy="1079100"/>
          </a:xfrm>
          <a:prstGeom prst="straightConnector1">
            <a:avLst/>
          </a:prstGeom>
          <a:noFill/>
          <a:ln cap="flat" cmpd="sng" w="26650">
            <a:solidFill>
              <a:srgbClr val="3A7D8C"/>
            </a:solidFill>
            <a:prstDash val="solid"/>
            <a:miter lim="0"/>
            <a:headEnd len="sm" w="sm" type="none"/>
            <a:tailEnd len="sm" w="sm" type="none"/>
          </a:ln>
        </p:spPr>
      </p:cxnSp>
      <p:cxnSp>
        <p:nvCxnSpPr>
          <p:cNvPr id="1248" name="Google Shape;1248;h4c5bf77df5a6a1aa_1_232"/>
          <p:cNvCxnSpPr/>
          <p:nvPr/>
        </p:nvCxnSpPr>
        <p:spPr>
          <a:xfrm>
            <a:off x="3537528" y="4659893"/>
            <a:ext cx="255900" cy="0"/>
          </a:xfrm>
          <a:prstGeom prst="straightConnector1">
            <a:avLst/>
          </a:prstGeom>
          <a:noFill/>
          <a:ln cap="flat" cmpd="sng" w="26650">
            <a:solidFill>
              <a:srgbClr val="3A7D8C"/>
            </a:solidFill>
            <a:prstDash val="solid"/>
            <a:miter lim="0"/>
            <a:headEnd len="sm" w="sm" type="none"/>
            <a:tailEnd len="sm" w="sm" type="none"/>
          </a:ln>
        </p:spPr>
      </p:cxnSp>
      <p:sp>
        <p:nvSpPr>
          <p:cNvPr id="1249" name="Google Shape;1249;h4c5bf77df5a6a1aa_1_232"/>
          <p:cNvSpPr/>
          <p:nvPr/>
        </p:nvSpPr>
        <p:spPr>
          <a:xfrm rot="5400000">
            <a:off x="3729467" y="4595885"/>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250" name="Google Shape;1250;h4c5bf77df5a6a1aa_1_232"/>
          <p:cNvCxnSpPr/>
          <p:nvPr/>
        </p:nvCxnSpPr>
        <p:spPr>
          <a:xfrm>
            <a:off x="6340837" y="2181651"/>
            <a:ext cx="1874400" cy="0"/>
          </a:xfrm>
          <a:prstGeom prst="straightConnector1">
            <a:avLst/>
          </a:prstGeom>
          <a:noFill/>
          <a:ln cap="flat" cmpd="sng" w="29200">
            <a:solidFill>
              <a:srgbClr val="3A7D8C"/>
            </a:solidFill>
            <a:prstDash val="solid"/>
            <a:miter lim="0"/>
            <a:headEnd len="sm" w="sm" type="none"/>
            <a:tailEnd len="sm" w="sm" type="none"/>
          </a:ln>
        </p:spPr>
      </p:cxnSp>
      <p:cxnSp>
        <p:nvCxnSpPr>
          <p:cNvPr id="1251" name="Google Shape;1251;h4c5bf77df5a6a1aa_1_232"/>
          <p:cNvCxnSpPr/>
          <p:nvPr/>
        </p:nvCxnSpPr>
        <p:spPr>
          <a:xfrm>
            <a:off x="8200117" y="2181651"/>
            <a:ext cx="0" cy="1134000"/>
          </a:xfrm>
          <a:prstGeom prst="straightConnector1">
            <a:avLst/>
          </a:prstGeom>
          <a:noFill/>
          <a:ln cap="flat" cmpd="sng" w="29200">
            <a:solidFill>
              <a:srgbClr val="3A7D8C"/>
            </a:solidFill>
            <a:prstDash val="solid"/>
            <a:miter lim="0"/>
            <a:headEnd len="sm" w="sm" type="none"/>
            <a:tailEnd len="sm" w="sm" type="none"/>
          </a:ln>
        </p:spPr>
      </p:cxnSp>
      <p:sp>
        <p:nvSpPr>
          <p:cNvPr id="1252" name="Google Shape;1252;h4c5bf77df5a6a1aa_1_232"/>
          <p:cNvSpPr/>
          <p:nvPr/>
        </p:nvSpPr>
        <p:spPr>
          <a:xfrm rot="10800000">
            <a:off x="8136025" y="3251415"/>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253" name="Google Shape;1253;h4c5bf77df5a6a1aa_1_232"/>
          <p:cNvCxnSpPr/>
          <p:nvPr/>
        </p:nvCxnSpPr>
        <p:spPr>
          <a:xfrm>
            <a:off x="7129603" y="3304363"/>
            <a:ext cx="146400" cy="0"/>
          </a:xfrm>
          <a:prstGeom prst="straightConnector1">
            <a:avLst/>
          </a:prstGeom>
          <a:noFill/>
          <a:ln cap="flat" cmpd="sng" w="26650">
            <a:solidFill>
              <a:srgbClr val="3A7D8C"/>
            </a:solidFill>
            <a:prstDash val="solid"/>
            <a:miter lim="0"/>
            <a:headEnd len="sm" w="sm" type="none"/>
            <a:tailEnd len="sm" w="sm" type="none"/>
          </a:ln>
        </p:spPr>
      </p:cxnSp>
      <p:cxnSp>
        <p:nvCxnSpPr>
          <p:cNvPr id="1254" name="Google Shape;1254;h4c5bf77df5a6a1aa_1_232"/>
          <p:cNvCxnSpPr/>
          <p:nvPr/>
        </p:nvCxnSpPr>
        <p:spPr>
          <a:xfrm>
            <a:off x="7264000" y="3297219"/>
            <a:ext cx="0" cy="448200"/>
          </a:xfrm>
          <a:prstGeom prst="straightConnector1">
            <a:avLst/>
          </a:prstGeom>
          <a:noFill/>
          <a:ln cap="flat" cmpd="sng" w="26650">
            <a:solidFill>
              <a:srgbClr val="3A7D8C"/>
            </a:solidFill>
            <a:prstDash val="solid"/>
            <a:miter lim="0"/>
            <a:headEnd len="sm" w="sm" type="none"/>
            <a:tailEnd len="sm" w="sm" type="none"/>
          </a:ln>
        </p:spPr>
      </p:cxnSp>
      <p:sp>
        <p:nvSpPr>
          <p:cNvPr id="1255" name="Google Shape;1255;h4c5bf77df5a6a1aa_1_232"/>
          <p:cNvSpPr/>
          <p:nvPr/>
        </p:nvSpPr>
        <p:spPr>
          <a:xfrm rot="5400000">
            <a:off x="7462823" y="3718917"/>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256" name="Google Shape;1256;h4c5bf77df5a6a1aa_1_232"/>
          <p:cNvCxnSpPr/>
          <p:nvPr/>
        </p:nvCxnSpPr>
        <p:spPr>
          <a:xfrm>
            <a:off x="7129603" y="4693870"/>
            <a:ext cx="146400" cy="0"/>
          </a:xfrm>
          <a:prstGeom prst="straightConnector1">
            <a:avLst/>
          </a:prstGeom>
          <a:noFill/>
          <a:ln cap="flat" cmpd="sng" w="26650">
            <a:solidFill>
              <a:srgbClr val="3A7D8C"/>
            </a:solidFill>
            <a:prstDash val="solid"/>
            <a:miter lim="0"/>
            <a:headEnd len="sm" w="sm" type="none"/>
            <a:tailEnd len="sm" w="sm" type="none"/>
          </a:ln>
        </p:spPr>
      </p:cxnSp>
      <p:cxnSp>
        <p:nvCxnSpPr>
          <p:cNvPr id="1257" name="Google Shape;1257;h4c5bf77df5a6a1aa_1_232"/>
          <p:cNvCxnSpPr/>
          <p:nvPr/>
        </p:nvCxnSpPr>
        <p:spPr>
          <a:xfrm rot="10800000">
            <a:off x="7264000" y="3745251"/>
            <a:ext cx="0" cy="951000"/>
          </a:xfrm>
          <a:prstGeom prst="straightConnector1">
            <a:avLst/>
          </a:prstGeom>
          <a:noFill/>
          <a:ln cap="flat" cmpd="sng" w="26650">
            <a:solidFill>
              <a:srgbClr val="3A7D8C"/>
            </a:solidFill>
            <a:prstDash val="solid"/>
            <a:miter lim="0"/>
            <a:headEnd len="sm" w="sm" type="none"/>
            <a:tailEnd len="sm" w="sm" type="none"/>
          </a:ln>
        </p:spPr>
      </p:cxnSp>
      <p:cxnSp>
        <p:nvCxnSpPr>
          <p:cNvPr id="1258" name="Google Shape;1258;h4c5bf77df5a6a1aa_1_232"/>
          <p:cNvCxnSpPr/>
          <p:nvPr/>
        </p:nvCxnSpPr>
        <p:spPr>
          <a:xfrm>
            <a:off x="8931637" y="3795662"/>
            <a:ext cx="868800" cy="0"/>
          </a:xfrm>
          <a:prstGeom prst="straightConnector1">
            <a:avLst/>
          </a:prstGeom>
          <a:noFill/>
          <a:ln cap="flat" cmpd="sng" w="38100">
            <a:solidFill>
              <a:srgbClr val="0B6E4F"/>
            </a:solidFill>
            <a:prstDash val="solid"/>
            <a:miter lim="0"/>
            <a:headEnd len="sm" w="sm" type="none"/>
            <a:tailEnd len="sm" w="sm" type="none"/>
          </a:ln>
        </p:spPr>
      </p:cxnSp>
      <p:sp>
        <p:nvSpPr>
          <p:cNvPr id="1259" name="Google Shape;1259;h4c5bf77df5a6a1aa_1_232"/>
          <p:cNvSpPr/>
          <p:nvPr/>
        </p:nvSpPr>
        <p:spPr>
          <a:xfrm rot="5400000">
            <a:off x="9736225" y="3731654"/>
            <a:ext cx="128100" cy="128100"/>
          </a:xfrm>
          <a:prstGeom prst="triangle">
            <a:avLst>
              <a:gd fmla="val 50000" name="adj"/>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0" name="Google Shape;1260;h4c5bf77df5a6a1aa_1_232"/>
          <p:cNvSpPr/>
          <p:nvPr/>
        </p:nvSpPr>
        <p:spPr>
          <a:xfrm>
            <a:off x="407252" y="2958891"/>
            <a:ext cx="1170300" cy="1134000"/>
          </a:xfrm>
          <a:prstGeom prst="roundRect">
            <a:avLst>
              <a:gd fmla="val 16667" name="adj"/>
            </a:avLst>
          </a:prstGeom>
          <a:solidFill>
            <a:srgbClr val="FFFFFF"/>
          </a:solidFill>
          <a:ln cap="flat" cmpd="sng" w="15225">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1" name="Google Shape;1261;h4c5bf77df5a6a1aa_1_232"/>
          <p:cNvSpPr/>
          <p:nvPr/>
        </p:nvSpPr>
        <p:spPr>
          <a:xfrm>
            <a:off x="526124"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262" name="Google Shape;1262;h4c5bf77df5a6a1aa_1_232"/>
          <p:cNvCxnSpPr/>
          <p:nvPr/>
        </p:nvCxnSpPr>
        <p:spPr>
          <a:xfrm>
            <a:off x="567272"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263" name="Google Shape;1263;h4c5bf77df5a6a1aa_1_232"/>
          <p:cNvCxnSpPr/>
          <p:nvPr/>
        </p:nvCxnSpPr>
        <p:spPr>
          <a:xfrm>
            <a:off x="567272"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264" name="Google Shape;1264;h4c5bf77df5a6a1aa_1_232"/>
          <p:cNvSpPr/>
          <p:nvPr/>
        </p:nvSpPr>
        <p:spPr>
          <a:xfrm>
            <a:off x="837020"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265" name="Google Shape;1265;h4c5bf77df5a6a1aa_1_232"/>
          <p:cNvCxnSpPr/>
          <p:nvPr/>
        </p:nvCxnSpPr>
        <p:spPr>
          <a:xfrm>
            <a:off x="878168"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266" name="Google Shape;1266;h4c5bf77df5a6a1aa_1_232"/>
          <p:cNvCxnSpPr/>
          <p:nvPr/>
        </p:nvCxnSpPr>
        <p:spPr>
          <a:xfrm>
            <a:off x="878168"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267" name="Google Shape;1267;h4c5bf77df5a6a1aa_1_232"/>
          <p:cNvSpPr/>
          <p:nvPr/>
        </p:nvSpPr>
        <p:spPr>
          <a:xfrm>
            <a:off x="1147916"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268" name="Google Shape;1268;h4c5bf77df5a6a1aa_1_232"/>
          <p:cNvCxnSpPr/>
          <p:nvPr/>
        </p:nvCxnSpPr>
        <p:spPr>
          <a:xfrm>
            <a:off x="1189064"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269" name="Google Shape;1269;h4c5bf77df5a6a1aa_1_232"/>
          <p:cNvCxnSpPr/>
          <p:nvPr/>
        </p:nvCxnSpPr>
        <p:spPr>
          <a:xfrm>
            <a:off x="1189064"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270" name="Google Shape;1270;h4c5bf77df5a6a1aa_1_232"/>
          <p:cNvSpPr txBox="1"/>
          <p:nvPr/>
        </p:nvSpPr>
        <p:spPr>
          <a:xfrm>
            <a:off x="416396" y="3617258"/>
            <a:ext cx="115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F2328"/>
                </a:solidFill>
                <a:latin typeface="Calibri"/>
                <a:ea typeface="Calibri"/>
                <a:cs typeface="Calibri"/>
                <a:sym typeface="Calibri"/>
              </a:rPr>
              <a:t>Schema S</a:t>
            </a:r>
            <a:endParaRPr b="0" i="0" sz="1400" u="none" cap="none" strike="noStrike">
              <a:solidFill>
                <a:srgbClr val="000000"/>
              </a:solidFill>
              <a:latin typeface="Arial"/>
              <a:ea typeface="Arial"/>
              <a:cs typeface="Arial"/>
              <a:sym typeface="Arial"/>
            </a:endParaRPr>
          </a:p>
        </p:txBody>
      </p:sp>
      <p:sp>
        <p:nvSpPr>
          <p:cNvPr id="1271" name="Google Shape;1271;h4c5bf77df5a6a1aa_1_232"/>
          <p:cNvSpPr txBox="1"/>
          <p:nvPr/>
        </p:nvSpPr>
        <p:spPr>
          <a:xfrm>
            <a:off x="1275932" y="2748579"/>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(a)</a:t>
            </a:r>
            <a:endParaRPr b="0" i="0" sz="1400" u="none" cap="none" strike="noStrike">
              <a:solidFill>
                <a:srgbClr val="000000"/>
              </a:solidFill>
              <a:latin typeface="Arial"/>
              <a:ea typeface="Arial"/>
              <a:cs typeface="Arial"/>
              <a:sym typeface="Arial"/>
            </a:endParaRPr>
          </a:p>
        </p:txBody>
      </p:sp>
      <p:sp>
        <p:nvSpPr>
          <p:cNvPr id="1272" name="Google Shape;1272;h4c5bf77df5a6a1aa_1_232"/>
          <p:cNvSpPr/>
          <p:nvPr/>
        </p:nvSpPr>
        <p:spPr>
          <a:xfrm>
            <a:off x="4043884" y="1825035"/>
            <a:ext cx="2103000" cy="759000"/>
          </a:xfrm>
          <a:prstGeom prst="roundRect">
            <a:avLst>
              <a:gd fmla="val 16667" name="adj"/>
            </a:avLst>
          </a:prstGeom>
          <a:solidFill>
            <a:srgbClr val="F3F5F4"/>
          </a:solidFill>
          <a:ln cap="flat" cmpd="sng" w="165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3" name="Google Shape;1273;h4c5bf77df5a6a1aa_1_232"/>
          <p:cNvSpPr txBox="1"/>
          <p:nvPr/>
        </p:nvSpPr>
        <p:spPr>
          <a:xfrm>
            <a:off x="4117036" y="1590575"/>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(b)</a:t>
            </a:r>
            <a:endParaRPr b="0" i="0" sz="1400" u="none" cap="none" strike="noStrike">
              <a:solidFill>
                <a:srgbClr val="000000"/>
              </a:solidFill>
              <a:latin typeface="Arial"/>
              <a:ea typeface="Arial"/>
              <a:cs typeface="Arial"/>
              <a:sym typeface="Arial"/>
            </a:endParaRPr>
          </a:p>
        </p:txBody>
      </p:sp>
      <p:sp>
        <p:nvSpPr>
          <p:cNvPr id="1274" name="Google Shape;1274;h4c5bf77df5a6a1aa_1_232"/>
          <p:cNvSpPr txBox="1"/>
          <p:nvPr/>
        </p:nvSpPr>
        <p:spPr>
          <a:xfrm>
            <a:off x="4126180" y="1943907"/>
            <a:ext cx="19386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Direct mapping</a:t>
            </a:r>
            <a:endParaRPr b="0" i="0" sz="1400" u="none" cap="none" strike="noStrike">
              <a:solidFill>
                <a:srgbClr val="000000"/>
              </a:solidFill>
              <a:latin typeface="Arial"/>
              <a:ea typeface="Arial"/>
              <a:cs typeface="Arial"/>
              <a:sym typeface="Arial"/>
            </a:endParaRPr>
          </a:p>
        </p:txBody>
      </p:sp>
      <p:sp>
        <p:nvSpPr>
          <p:cNvPr id="1275" name="Google Shape;1275;h4c5bf77df5a6a1aa_1_232"/>
          <p:cNvSpPr txBox="1"/>
          <p:nvPr/>
        </p:nvSpPr>
        <p:spPr>
          <a:xfrm>
            <a:off x="4135323" y="2218227"/>
            <a:ext cx="19203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OWL seed DMᵣ</a:t>
            </a:r>
            <a:endParaRPr b="0" i="0" sz="1400" u="none" cap="none" strike="noStrike">
              <a:solidFill>
                <a:srgbClr val="000000"/>
              </a:solidFill>
              <a:latin typeface="Arial"/>
              <a:ea typeface="Arial"/>
              <a:cs typeface="Arial"/>
              <a:sym typeface="Arial"/>
            </a:endParaRPr>
          </a:p>
        </p:txBody>
      </p:sp>
      <p:sp>
        <p:nvSpPr>
          <p:cNvPr id="1276" name="Google Shape;1276;h4c5bf77df5a6a1aa_1_232"/>
          <p:cNvSpPr/>
          <p:nvPr/>
        </p:nvSpPr>
        <p:spPr>
          <a:xfrm>
            <a:off x="3897579" y="2739445"/>
            <a:ext cx="3218700" cy="2508300"/>
          </a:xfrm>
          <a:prstGeom prst="roundRect">
            <a:avLst>
              <a:gd fmla="val 8766" name="adj"/>
            </a:avLst>
          </a:prstGeom>
          <a:solidFill>
            <a:srgbClr val="FFFFFF"/>
          </a:solidFill>
          <a:ln cap="flat" cmpd="sng" w="15225">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7" name="Google Shape;1277;h4c5bf77df5a6a1aa_1_232"/>
          <p:cNvSpPr txBox="1"/>
          <p:nvPr/>
        </p:nvSpPr>
        <p:spPr>
          <a:xfrm>
            <a:off x="4025596" y="2776011"/>
            <a:ext cx="29901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RETRIEVAL  •  top-k per source</a:t>
            </a:r>
            <a:endParaRPr b="0" i="0" sz="1400" u="none" cap="none" strike="noStrike">
              <a:solidFill>
                <a:srgbClr val="000000"/>
              </a:solidFill>
              <a:latin typeface="Arial"/>
              <a:ea typeface="Arial"/>
              <a:cs typeface="Arial"/>
              <a:sym typeface="Arial"/>
            </a:endParaRPr>
          </a:p>
        </p:txBody>
      </p:sp>
      <p:sp>
        <p:nvSpPr>
          <p:cNvPr id="1278" name="Google Shape;1278;h4c5bf77df5a6a1aa_1_232"/>
          <p:cNvSpPr/>
          <p:nvPr/>
        </p:nvSpPr>
        <p:spPr>
          <a:xfrm>
            <a:off x="4043884" y="3059475"/>
            <a:ext cx="2980800" cy="603600"/>
          </a:xfrm>
          <a:prstGeom prst="roundRect">
            <a:avLst>
              <a:gd fmla="val 16667" name="adj"/>
            </a:avLst>
          </a:prstGeom>
          <a:solidFill>
            <a:srgbClr val="F3F5F4"/>
          </a:solidFill>
          <a:ln cap="flat" cmpd="sng" w="1522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9" name="Google Shape;1279;h4c5bf77df5a6a1aa_1_232"/>
          <p:cNvSpPr txBox="1"/>
          <p:nvPr/>
        </p:nvSpPr>
        <p:spPr>
          <a:xfrm>
            <a:off x="4144468" y="3115627"/>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(c)</a:t>
            </a:r>
            <a:endParaRPr b="0" i="0" sz="1400" u="none" cap="none" strike="noStrike">
              <a:solidFill>
                <a:srgbClr val="000000"/>
              </a:solidFill>
              <a:latin typeface="Arial"/>
              <a:ea typeface="Arial"/>
              <a:cs typeface="Arial"/>
              <a:sym typeface="Arial"/>
            </a:endParaRPr>
          </a:p>
        </p:txBody>
      </p:sp>
      <p:sp>
        <p:nvSpPr>
          <p:cNvPr id="1280" name="Google Shape;1280;h4c5bf77df5a6a1aa_1_232"/>
          <p:cNvSpPr txBox="1"/>
          <p:nvPr/>
        </p:nvSpPr>
        <p:spPr>
          <a:xfrm>
            <a:off x="4491940" y="3109413"/>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External ontologies</a:t>
            </a:r>
            <a:endParaRPr b="0" i="0" sz="1400" u="none" cap="none" strike="noStrike">
              <a:solidFill>
                <a:srgbClr val="000000"/>
              </a:solidFill>
              <a:latin typeface="Arial"/>
              <a:ea typeface="Arial"/>
              <a:cs typeface="Arial"/>
              <a:sym typeface="Arial"/>
            </a:endParaRPr>
          </a:p>
        </p:txBody>
      </p:sp>
      <p:sp>
        <p:nvSpPr>
          <p:cNvPr id="1281" name="Google Shape;1281;h4c5bf77df5a6a1aa_1_232"/>
          <p:cNvSpPr txBox="1"/>
          <p:nvPr/>
        </p:nvSpPr>
        <p:spPr>
          <a:xfrm>
            <a:off x="4491940" y="3379515"/>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Domain alignments</a:t>
            </a:r>
            <a:endParaRPr b="0" i="0" sz="1400" u="none" cap="none" strike="noStrike">
              <a:solidFill>
                <a:srgbClr val="000000"/>
              </a:solidFill>
              <a:latin typeface="Arial"/>
              <a:ea typeface="Arial"/>
              <a:cs typeface="Arial"/>
              <a:sym typeface="Arial"/>
            </a:endParaRPr>
          </a:p>
        </p:txBody>
      </p:sp>
      <p:sp>
        <p:nvSpPr>
          <p:cNvPr id="1282" name="Google Shape;1282;h4c5bf77df5a6a1aa_1_232"/>
          <p:cNvSpPr/>
          <p:nvPr/>
        </p:nvSpPr>
        <p:spPr>
          <a:xfrm>
            <a:off x="4043884" y="3763563"/>
            <a:ext cx="2980800" cy="603600"/>
          </a:xfrm>
          <a:prstGeom prst="roundRect">
            <a:avLst>
              <a:gd fmla="val 16667" name="adj"/>
            </a:avLst>
          </a:prstGeom>
          <a:solidFill>
            <a:srgbClr val="F3F5F4"/>
          </a:solidFill>
          <a:ln cap="flat" cmpd="sng" w="1522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3" name="Google Shape;1283;h4c5bf77df5a6a1aa_1_232"/>
          <p:cNvSpPr txBox="1"/>
          <p:nvPr/>
        </p:nvSpPr>
        <p:spPr>
          <a:xfrm>
            <a:off x="4144468" y="3819715"/>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(d)</a:t>
            </a:r>
            <a:endParaRPr b="0" i="0" sz="1400" u="none" cap="none" strike="noStrike">
              <a:solidFill>
                <a:srgbClr val="000000"/>
              </a:solidFill>
              <a:latin typeface="Arial"/>
              <a:ea typeface="Arial"/>
              <a:cs typeface="Arial"/>
              <a:sym typeface="Arial"/>
            </a:endParaRPr>
          </a:p>
        </p:txBody>
      </p:sp>
      <p:sp>
        <p:nvSpPr>
          <p:cNvPr id="1284" name="Google Shape;1284;h4c5bf77df5a6a1aa_1_232"/>
          <p:cNvSpPr txBox="1"/>
          <p:nvPr/>
        </p:nvSpPr>
        <p:spPr>
          <a:xfrm>
            <a:off x="4491940" y="3813501"/>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Documentation</a:t>
            </a:r>
            <a:endParaRPr b="0" i="0" sz="1400" u="none" cap="none" strike="noStrike">
              <a:solidFill>
                <a:srgbClr val="000000"/>
              </a:solidFill>
              <a:latin typeface="Arial"/>
              <a:ea typeface="Arial"/>
              <a:cs typeface="Arial"/>
              <a:sym typeface="Arial"/>
            </a:endParaRPr>
          </a:p>
        </p:txBody>
      </p:sp>
      <p:sp>
        <p:nvSpPr>
          <p:cNvPr id="1285" name="Google Shape;1285;h4c5bf77df5a6a1aa_1_232"/>
          <p:cNvSpPr txBox="1"/>
          <p:nvPr/>
        </p:nvSpPr>
        <p:spPr>
          <a:xfrm>
            <a:off x="4491940" y="4083603"/>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Cryptic fields and codes</a:t>
            </a:r>
            <a:endParaRPr b="0" i="0" sz="1400" u="none" cap="none" strike="noStrike">
              <a:solidFill>
                <a:srgbClr val="000000"/>
              </a:solidFill>
              <a:latin typeface="Arial"/>
              <a:ea typeface="Arial"/>
              <a:cs typeface="Arial"/>
              <a:sym typeface="Arial"/>
            </a:endParaRPr>
          </a:p>
        </p:txBody>
      </p:sp>
      <p:sp>
        <p:nvSpPr>
          <p:cNvPr id="1286" name="Google Shape;1286;h4c5bf77df5a6a1aa_1_232"/>
          <p:cNvSpPr/>
          <p:nvPr/>
        </p:nvSpPr>
        <p:spPr>
          <a:xfrm>
            <a:off x="4043884" y="4467651"/>
            <a:ext cx="2980800" cy="603600"/>
          </a:xfrm>
          <a:prstGeom prst="roundRect">
            <a:avLst>
              <a:gd fmla="val 16667" name="adj"/>
            </a:avLst>
          </a:prstGeom>
          <a:solidFill>
            <a:srgbClr val="F3F5F4"/>
          </a:solidFill>
          <a:ln cap="flat" cmpd="sng" w="1522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7" name="Google Shape;1287;h4c5bf77df5a6a1aa_1_232"/>
          <p:cNvSpPr txBox="1"/>
          <p:nvPr/>
        </p:nvSpPr>
        <p:spPr>
          <a:xfrm>
            <a:off x="4144468" y="4523803"/>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(e)</a:t>
            </a:r>
            <a:endParaRPr b="0" i="0" sz="1400" u="none" cap="none" strike="noStrike">
              <a:solidFill>
                <a:srgbClr val="000000"/>
              </a:solidFill>
              <a:latin typeface="Arial"/>
              <a:ea typeface="Arial"/>
              <a:cs typeface="Arial"/>
              <a:sym typeface="Arial"/>
            </a:endParaRPr>
          </a:p>
        </p:txBody>
      </p:sp>
      <p:sp>
        <p:nvSpPr>
          <p:cNvPr id="1288" name="Google Shape;1288;h4c5bf77df5a6a1aa_1_232"/>
          <p:cNvSpPr txBox="1"/>
          <p:nvPr/>
        </p:nvSpPr>
        <p:spPr>
          <a:xfrm>
            <a:off x="4491940" y="4517589"/>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Growing core ontology</a:t>
            </a:r>
            <a:endParaRPr b="0" i="0" sz="1400" u="none" cap="none" strike="noStrike">
              <a:solidFill>
                <a:srgbClr val="000000"/>
              </a:solidFill>
              <a:latin typeface="Arial"/>
              <a:ea typeface="Arial"/>
              <a:cs typeface="Arial"/>
              <a:sym typeface="Arial"/>
            </a:endParaRPr>
          </a:p>
        </p:txBody>
      </p:sp>
      <p:sp>
        <p:nvSpPr>
          <p:cNvPr id="1289" name="Google Shape;1289;h4c5bf77df5a6a1aa_1_232"/>
          <p:cNvSpPr txBox="1"/>
          <p:nvPr/>
        </p:nvSpPr>
        <p:spPr>
          <a:xfrm>
            <a:off x="4491940" y="4787691"/>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Reuse validated IRIs</a:t>
            </a:r>
            <a:endParaRPr b="0" i="0" sz="1400" u="none" cap="none" strike="noStrike">
              <a:solidFill>
                <a:srgbClr val="000000"/>
              </a:solidFill>
              <a:latin typeface="Arial"/>
              <a:ea typeface="Arial"/>
              <a:cs typeface="Arial"/>
              <a:sym typeface="Arial"/>
            </a:endParaRPr>
          </a:p>
        </p:txBody>
      </p:sp>
      <p:sp>
        <p:nvSpPr>
          <p:cNvPr id="1290" name="Google Shape;1290;h4c5bf77df5a6a1aa_1_232"/>
          <p:cNvSpPr/>
          <p:nvPr/>
        </p:nvSpPr>
        <p:spPr>
          <a:xfrm>
            <a:off x="7596625" y="3402475"/>
            <a:ext cx="1335000" cy="1321500"/>
          </a:xfrm>
          <a:prstGeom prst="roundRect">
            <a:avLst>
              <a:gd fmla="val 16667" name="adj"/>
            </a:avLst>
          </a:prstGeom>
          <a:solidFill>
            <a:srgbClr val="F3F5F4"/>
          </a:solidFill>
          <a:ln cap="flat" cmpd="sng" w="165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1" name="Google Shape;1291;h4c5bf77df5a6a1aa_1_232"/>
          <p:cNvSpPr txBox="1"/>
          <p:nvPr/>
        </p:nvSpPr>
        <p:spPr>
          <a:xfrm>
            <a:off x="7669765" y="3192158"/>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(f)</a:t>
            </a:r>
            <a:endParaRPr b="0" i="0" sz="1400" u="none" cap="none" strike="noStrike">
              <a:solidFill>
                <a:srgbClr val="000000"/>
              </a:solidFill>
              <a:latin typeface="Arial"/>
              <a:ea typeface="Arial"/>
              <a:cs typeface="Arial"/>
              <a:sym typeface="Arial"/>
            </a:endParaRPr>
          </a:p>
        </p:txBody>
      </p:sp>
      <p:sp>
        <p:nvSpPr>
          <p:cNvPr id="1292" name="Google Shape;1292;h4c5bf77df5a6a1aa_1_232"/>
          <p:cNvSpPr txBox="1"/>
          <p:nvPr/>
        </p:nvSpPr>
        <p:spPr>
          <a:xfrm>
            <a:off x="7678909" y="3521341"/>
            <a:ext cx="11703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Gen-LLM</a:t>
            </a:r>
            <a:endParaRPr b="0" i="0" sz="1400" u="none" cap="none" strike="noStrike">
              <a:solidFill>
                <a:srgbClr val="000000"/>
              </a:solidFill>
              <a:latin typeface="Arial"/>
              <a:ea typeface="Arial"/>
              <a:cs typeface="Arial"/>
              <a:sym typeface="Arial"/>
            </a:endParaRPr>
          </a:p>
        </p:txBody>
      </p:sp>
      <p:sp>
        <p:nvSpPr>
          <p:cNvPr id="1293" name="Google Shape;1293;h4c5bf77df5a6a1aa_1_232"/>
          <p:cNvSpPr txBox="1"/>
          <p:nvPr/>
        </p:nvSpPr>
        <p:spPr>
          <a:xfrm>
            <a:off x="7688053" y="3795661"/>
            <a:ext cx="115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creates ΔOᵣ</a:t>
            </a:r>
            <a:endParaRPr b="0" i="0" sz="1400" u="none" cap="none" strike="noStrike">
              <a:solidFill>
                <a:srgbClr val="000000"/>
              </a:solidFill>
              <a:latin typeface="Arial"/>
              <a:ea typeface="Arial"/>
              <a:cs typeface="Arial"/>
              <a:sym typeface="Arial"/>
            </a:endParaRPr>
          </a:p>
        </p:txBody>
      </p:sp>
      <p:sp>
        <p:nvSpPr>
          <p:cNvPr id="1294" name="Google Shape;1294;h4c5bf77df5a6a1aa_1_232"/>
          <p:cNvSpPr txBox="1"/>
          <p:nvPr/>
        </p:nvSpPr>
        <p:spPr>
          <a:xfrm>
            <a:off x="9032221" y="3384182"/>
            <a:ext cx="7131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(g) ΔOᵣ</a:t>
            </a:r>
            <a:endParaRPr b="0" i="0" sz="1400" u="none" cap="none" strike="noStrike">
              <a:solidFill>
                <a:srgbClr val="000000"/>
              </a:solidFill>
              <a:latin typeface="Arial"/>
              <a:ea typeface="Arial"/>
              <a:cs typeface="Arial"/>
              <a:sym typeface="Arial"/>
            </a:endParaRPr>
          </a:p>
        </p:txBody>
      </p:sp>
      <p:sp>
        <p:nvSpPr>
          <p:cNvPr id="1295" name="Google Shape;1295;h4c5bf77df5a6a1aa_1_232"/>
          <p:cNvSpPr/>
          <p:nvPr/>
        </p:nvSpPr>
        <p:spPr>
          <a:xfrm>
            <a:off x="9859849" y="3237878"/>
            <a:ext cx="2121300" cy="1115700"/>
          </a:xfrm>
          <a:prstGeom prst="roundRect">
            <a:avLst>
              <a:gd fmla="val 16667" name="adj"/>
            </a:avLst>
          </a:prstGeom>
          <a:solidFill>
            <a:srgbClr val="DDE5E1"/>
          </a:solidFill>
          <a:ln cap="flat" cmpd="sng" w="29200">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6" name="Google Shape;1296;h4c5bf77df5a6a1aa_1_232"/>
          <p:cNvSpPr txBox="1"/>
          <p:nvPr/>
        </p:nvSpPr>
        <p:spPr>
          <a:xfrm>
            <a:off x="9933001" y="3027566"/>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(h)</a:t>
            </a:r>
            <a:endParaRPr b="0" i="0" sz="1400" u="none" cap="none" strike="noStrike">
              <a:solidFill>
                <a:srgbClr val="000000"/>
              </a:solidFill>
              <a:latin typeface="Arial"/>
              <a:ea typeface="Arial"/>
              <a:cs typeface="Arial"/>
              <a:sym typeface="Arial"/>
            </a:endParaRPr>
          </a:p>
        </p:txBody>
      </p:sp>
      <p:sp>
        <p:nvSpPr>
          <p:cNvPr id="1297" name="Google Shape;1297;h4c5bf77df5a6a1aa_1_232"/>
          <p:cNvSpPr txBox="1"/>
          <p:nvPr/>
        </p:nvSpPr>
        <p:spPr>
          <a:xfrm>
            <a:off x="9942145" y="3272233"/>
            <a:ext cx="19569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Validate + refine</a:t>
            </a:r>
            <a:endParaRPr b="0" i="0" sz="1400" u="none" cap="none" strike="noStrike">
              <a:solidFill>
                <a:srgbClr val="000000"/>
              </a:solidFill>
              <a:latin typeface="Arial"/>
              <a:ea typeface="Arial"/>
              <a:cs typeface="Arial"/>
              <a:sym typeface="Arial"/>
            </a:endParaRPr>
          </a:p>
        </p:txBody>
      </p:sp>
      <p:sp>
        <p:nvSpPr>
          <p:cNvPr id="1298" name="Google Shape;1298;h4c5bf77df5a6a1aa_1_232"/>
          <p:cNvSpPr txBox="1"/>
          <p:nvPr/>
        </p:nvSpPr>
        <p:spPr>
          <a:xfrm>
            <a:off x="9951289" y="3546553"/>
            <a:ext cx="19386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Judge-LLM + rules</a:t>
            </a:r>
            <a:endParaRPr b="0" i="0" sz="1400" u="none" cap="none" strike="noStrike">
              <a:solidFill>
                <a:srgbClr val="000000"/>
              </a:solidFill>
              <a:latin typeface="Arial"/>
              <a:ea typeface="Arial"/>
              <a:cs typeface="Arial"/>
              <a:sym typeface="Arial"/>
            </a:endParaRPr>
          </a:p>
        </p:txBody>
      </p:sp>
      <p:cxnSp>
        <p:nvCxnSpPr>
          <p:cNvPr id="1299" name="Google Shape;1299;h4c5bf77df5a6a1aa_1_232"/>
          <p:cNvCxnSpPr/>
          <p:nvPr/>
        </p:nvCxnSpPr>
        <p:spPr>
          <a:xfrm>
            <a:off x="3280056" y="3446462"/>
            <a:ext cx="100500" cy="0"/>
          </a:xfrm>
          <a:prstGeom prst="straightConnector1">
            <a:avLst/>
          </a:prstGeom>
          <a:noFill/>
          <a:ln cap="flat" cmpd="sng" w="29200">
            <a:solidFill>
              <a:srgbClr val="3A7D8C"/>
            </a:solidFill>
            <a:prstDash val="solid"/>
            <a:miter lim="0"/>
            <a:headEnd len="sm" w="sm" type="none"/>
            <a:tailEnd len="sm" w="sm" type="none"/>
          </a:ln>
        </p:spPr>
      </p:cxnSp>
      <p:sp>
        <p:nvSpPr>
          <p:cNvPr id="1300" name="Google Shape;1300;h4c5bf77df5a6a1aa_1_232"/>
          <p:cNvSpPr/>
          <p:nvPr/>
        </p:nvSpPr>
        <p:spPr>
          <a:xfrm>
            <a:off x="1838868" y="3160059"/>
            <a:ext cx="1444800" cy="694800"/>
          </a:xfrm>
          <a:prstGeom prst="roundRect">
            <a:avLst>
              <a:gd fmla="val 16667" name="adj"/>
            </a:avLst>
          </a:prstGeom>
          <a:solidFill>
            <a:srgbClr val="F3F5F4"/>
          </a:solidFill>
          <a:ln cap="flat" cmpd="sng" w="165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1" name="Google Shape;1301;h4c5bf77df5a6a1aa_1_232"/>
          <p:cNvSpPr txBox="1"/>
          <p:nvPr/>
        </p:nvSpPr>
        <p:spPr>
          <a:xfrm>
            <a:off x="1921164" y="3278931"/>
            <a:ext cx="12801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Iterate</a:t>
            </a:r>
            <a:endParaRPr b="0" i="0" sz="1400" u="none" cap="none" strike="noStrike">
              <a:solidFill>
                <a:srgbClr val="000000"/>
              </a:solidFill>
              <a:latin typeface="Arial"/>
              <a:ea typeface="Arial"/>
              <a:cs typeface="Arial"/>
              <a:sym typeface="Arial"/>
            </a:endParaRPr>
          </a:p>
        </p:txBody>
      </p:sp>
      <p:sp>
        <p:nvSpPr>
          <p:cNvPr id="1302" name="Google Shape;1302;h4c5bf77df5a6a1aa_1_232"/>
          <p:cNvSpPr txBox="1"/>
          <p:nvPr/>
        </p:nvSpPr>
        <p:spPr>
          <a:xfrm>
            <a:off x="1930308" y="3553251"/>
            <a:ext cx="12618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FK-BFS</a:t>
            </a:r>
            <a:endParaRPr b="0" i="0" sz="1400" u="none" cap="none" strike="noStrike">
              <a:solidFill>
                <a:srgbClr val="000000"/>
              </a:solidFill>
              <a:latin typeface="Arial"/>
              <a:ea typeface="Arial"/>
              <a:cs typeface="Arial"/>
              <a:sym typeface="Arial"/>
            </a:endParaRPr>
          </a:p>
        </p:txBody>
      </p:sp>
      <p:cxnSp>
        <p:nvCxnSpPr>
          <p:cNvPr id="1303" name="Google Shape;1303;h4c5bf77df5a6a1aa_1_232"/>
          <p:cNvCxnSpPr/>
          <p:nvPr/>
        </p:nvCxnSpPr>
        <p:spPr>
          <a:xfrm>
            <a:off x="3276349" y="3608115"/>
            <a:ext cx="118800" cy="0"/>
          </a:xfrm>
          <a:prstGeom prst="straightConnector1">
            <a:avLst/>
          </a:prstGeom>
          <a:noFill/>
          <a:ln cap="flat" cmpd="sng" w="26650">
            <a:solidFill>
              <a:srgbClr val="3A7D8C"/>
            </a:solidFill>
            <a:prstDash val="solid"/>
            <a:miter lim="0"/>
            <a:headEnd len="sm" w="sm" type="none"/>
            <a:tailEnd len="sm" w="sm" type="none"/>
          </a:ln>
        </p:spPr>
      </p:cxnSp>
      <p:cxnSp>
        <p:nvCxnSpPr>
          <p:cNvPr id="1304" name="Google Shape;1304;h4c5bf77df5a6a1aa_1_232"/>
          <p:cNvCxnSpPr/>
          <p:nvPr/>
        </p:nvCxnSpPr>
        <p:spPr>
          <a:xfrm>
            <a:off x="3657665" y="2199459"/>
            <a:ext cx="265200" cy="0"/>
          </a:xfrm>
          <a:prstGeom prst="straightConnector1">
            <a:avLst/>
          </a:prstGeom>
          <a:noFill/>
          <a:ln cap="flat" cmpd="sng" w="29200">
            <a:solidFill>
              <a:srgbClr val="3A7D8C"/>
            </a:solidFill>
            <a:prstDash val="solid"/>
            <a:miter lim="0"/>
            <a:headEnd len="sm" w="sm" type="none"/>
            <a:tailEnd len="sm" w="sm" type="none"/>
          </a:ln>
        </p:spPr>
      </p:cxnSp>
      <p:cxnSp>
        <p:nvCxnSpPr>
          <p:cNvPr id="1305" name="Google Shape;1305;h4c5bf77df5a6a1aa_1_232"/>
          <p:cNvCxnSpPr/>
          <p:nvPr/>
        </p:nvCxnSpPr>
        <p:spPr>
          <a:xfrm>
            <a:off x="6144772" y="2181631"/>
            <a:ext cx="1874400" cy="0"/>
          </a:xfrm>
          <a:prstGeom prst="straightConnector1">
            <a:avLst/>
          </a:prstGeom>
          <a:noFill/>
          <a:ln cap="flat" cmpd="sng" w="29200">
            <a:solidFill>
              <a:srgbClr val="3A7D8C"/>
            </a:solidFill>
            <a:prstDash val="solid"/>
            <a:miter lim="0"/>
            <a:headEnd len="sm" w="sm" type="none"/>
            <a:tailEnd len="sm" w="sm" type="none"/>
          </a:ln>
        </p:spPr>
      </p:cxnSp>
      <p:pic>
        <p:nvPicPr>
          <p:cNvPr id="1306" name="Google Shape;1306;h4c5bf77df5a6a1aa_1_232" title="graph_checks_icon.png"/>
          <p:cNvPicPr preferRelativeResize="0"/>
          <p:nvPr/>
        </p:nvPicPr>
        <p:blipFill rotWithShape="1">
          <a:blip r:embed="rId3">
            <a:alphaModFix/>
          </a:blip>
          <a:srcRect b="19469" l="4324" r="13635" t="18031"/>
          <a:stretch/>
        </p:blipFill>
        <p:spPr>
          <a:xfrm>
            <a:off x="11109875" y="3858152"/>
            <a:ext cx="528134" cy="402300"/>
          </a:xfrm>
          <a:prstGeom prst="rect">
            <a:avLst/>
          </a:prstGeom>
          <a:noFill/>
          <a:ln>
            <a:noFill/>
          </a:ln>
        </p:spPr>
      </p:pic>
      <p:pic>
        <p:nvPicPr>
          <p:cNvPr id="1307" name="Google Shape;1307;h4c5bf77df5a6a1aa_1_232" title="judge_llm_icon.png"/>
          <p:cNvPicPr preferRelativeResize="0"/>
          <p:nvPr/>
        </p:nvPicPr>
        <p:blipFill rotWithShape="1">
          <a:blip r:embed="rId4">
            <a:alphaModFix/>
          </a:blip>
          <a:srcRect b="12651" l="17110" r="7384" t="12532"/>
          <a:stretch/>
        </p:blipFill>
        <p:spPr>
          <a:xfrm>
            <a:off x="10278909" y="3774189"/>
            <a:ext cx="528124" cy="523220"/>
          </a:xfrm>
          <a:prstGeom prst="rect">
            <a:avLst/>
          </a:prstGeom>
          <a:noFill/>
          <a:ln>
            <a:noFill/>
          </a:ln>
        </p:spPr>
      </p:pic>
      <p:pic>
        <p:nvPicPr>
          <p:cNvPr id="1308" name="Google Shape;1308;h4c5bf77df5a6a1aa_1_232" title="Ontology Taxonomy Documentation Icons.png"/>
          <p:cNvPicPr preferRelativeResize="0"/>
          <p:nvPr/>
        </p:nvPicPr>
        <p:blipFill rotWithShape="1">
          <a:blip r:embed="rId5">
            <a:alphaModFix/>
          </a:blip>
          <a:srcRect b="14185" l="36225" r="31825" t="16211"/>
          <a:stretch/>
        </p:blipFill>
        <p:spPr>
          <a:xfrm>
            <a:off x="6431317" y="3822390"/>
            <a:ext cx="594806" cy="475499"/>
          </a:xfrm>
          <a:prstGeom prst="rect">
            <a:avLst/>
          </a:prstGeom>
          <a:noFill/>
          <a:ln>
            <a:noFill/>
          </a:ln>
        </p:spPr>
      </p:pic>
      <p:pic>
        <p:nvPicPr>
          <p:cNvPr id="1309" name="Google Shape;1309;h4c5bf77df5a6a1aa_1_232" title="Ontology Taxonomy Documentation Icons.png"/>
          <p:cNvPicPr preferRelativeResize="0"/>
          <p:nvPr/>
        </p:nvPicPr>
        <p:blipFill rotWithShape="1">
          <a:blip r:embed="rId5">
            <a:alphaModFix/>
          </a:blip>
          <a:srcRect b="14185" l="2070" r="65981" t="16211"/>
          <a:stretch/>
        </p:blipFill>
        <p:spPr>
          <a:xfrm>
            <a:off x="6385539" y="3137260"/>
            <a:ext cx="594801" cy="432155"/>
          </a:xfrm>
          <a:prstGeom prst="rect">
            <a:avLst/>
          </a:prstGeom>
          <a:noFill/>
          <a:ln>
            <a:noFill/>
          </a:ln>
        </p:spPr>
      </p:pic>
      <p:pic>
        <p:nvPicPr>
          <p:cNvPr id="1310" name="Google Shape;1310;h4c5bf77df5a6a1aa_1_232" title="Ontology Taxonomy Documentation Icons.png"/>
          <p:cNvPicPr preferRelativeResize="0"/>
          <p:nvPr/>
        </p:nvPicPr>
        <p:blipFill rotWithShape="1">
          <a:blip r:embed="rId5">
            <a:alphaModFix/>
          </a:blip>
          <a:srcRect b="7505" l="70326" r="314" t="10116"/>
          <a:stretch/>
        </p:blipFill>
        <p:spPr>
          <a:xfrm>
            <a:off x="6452911" y="4535008"/>
            <a:ext cx="528123" cy="494162"/>
          </a:xfrm>
          <a:prstGeom prst="rect">
            <a:avLst/>
          </a:prstGeom>
          <a:noFill/>
          <a:ln>
            <a:noFill/>
          </a:ln>
        </p:spPr>
      </p:pic>
      <p:pic>
        <p:nvPicPr>
          <p:cNvPr id="1311" name="Google Shape;1311;h4c5bf77df5a6a1aa_1_232" title="LLM Neural Brain Icon.png"/>
          <p:cNvPicPr preferRelativeResize="0"/>
          <p:nvPr/>
        </p:nvPicPr>
        <p:blipFill rotWithShape="1">
          <a:blip r:embed="rId6">
            <a:alphaModFix/>
          </a:blip>
          <a:srcRect b="14226" l="16398" r="17214" t="12218"/>
          <a:stretch/>
        </p:blipFill>
        <p:spPr>
          <a:xfrm>
            <a:off x="7941825" y="4070998"/>
            <a:ext cx="644449" cy="6036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6" name="Shape 1316"/>
        <p:cNvGrpSpPr/>
        <p:nvPr/>
      </p:nvGrpSpPr>
      <p:grpSpPr>
        <a:xfrm>
          <a:off x="0" y="0"/>
          <a:ext cx="0" cy="0"/>
          <a:chOff x="0" y="0"/>
          <a:chExt cx="0" cy="0"/>
        </a:xfrm>
      </p:grpSpPr>
      <p:cxnSp>
        <p:nvCxnSpPr>
          <p:cNvPr id="1317" name="Google Shape;1317;p17"/>
          <p:cNvCxnSpPr/>
          <p:nvPr/>
        </p:nvCxnSpPr>
        <p:spPr>
          <a:xfrm>
            <a:off x="7261490" y="3782975"/>
            <a:ext cx="228600" cy="0"/>
          </a:xfrm>
          <a:prstGeom prst="straightConnector1">
            <a:avLst/>
          </a:prstGeom>
          <a:noFill/>
          <a:ln cap="flat" cmpd="sng" w="26650">
            <a:solidFill>
              <a:srgbClr val="3A7D8C"/>
            </a:solidFill>
            <a:prstDash val="solid"/>
            <a:miter lim="80"/>
            <a:headEnd len="sm" w="sm" type="none"/>
            <a:tailEnd len="sm" w="sm" type="none"/>
          </a:ln>
        </p:spPr>
      </p:cxnSp>
      <p:cxnSp>
        <p:nvCxnSpPr>
          <p:cNvPr id="1318" name="Google Shape;1318;p17"/>
          <p:cNvCxnSpPr/>
          <p:nvPr/>
        </p:nvCxnSpPr>
        <p:spPr>
          <a:xfrm>
            <a:off x="7071140" y="3304363"/>
            <a:ext cx="146400" cy="0"/>
          </a:xfrm>
          <a:prstGeom prst="straightConnector1">
            <a:avLst/>
          </a:prstGeom>
          <a:noFill/>
          <a:ln cap="flat" cmpd="sng" w="26650">
            <a:solidFill>
              <a:srgbClr val="3A7D8C"/>
            </a:solidFill>
            <a:prstDash val="solid"/>
            <a:miter lim="80"/>
            <a:headEnd len="sm" w="sm" type="none"/>
            <a:tailEnd len="sm" w="sm" type="none"/>
          </a:ln>
        </p:spPr>
      </p:cxnSp>
      <p:sp>
        <p:nvSpPr>
          <p:cNvPr id="1319" name="Google Shape;1319;p17"/>
          <p:cNvSpPr txBox="1"/>
          <p:nvPr/>
        </p:nvSpPr>
        <p:spPr>
          <a:xfrm>
            <a:off x="512064" y="320040"/>
            <a:ext cx="6675000" cy="301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RIGOR  /  REASSEMBLING THE ARCHITECTURE</a:t>
            </a:r>
            <a:endParaRPr b="0" i="0" sz="1400" u="none" cap="none" strike="noStrike">
              <a:solidFill>
                <a:srgbClr val="000000"/>
              </a:solidFill>
              <a:latin typeface="Consolas"/>
              <a:ea typeface="Consolas"/>
              <a:cs typeface="Consolas"/>
              <a:sym typeface="Consolas"/>
            </a:endParaRPr>
          </a:p>
        </p:txBody>
      </p:sp>
      <p:sp>
        <p:nvSpPr>
          <p:cNvPr id="1320" name="Google Shape;1320;p17"/>
          <p:cNvSpPr txBox="1"/>
          <p:nvPr/>
        </p:nvSpPr>
        <p:spPr>
          <a:xfrm>
            <a:off x="512064" y="685800"/>
            <a:ext cx="10881300" cy="475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6. Integrate and reuse the growing core</a:t>
            </a:r>
            <a:endParaRPr b="0" i="0" sz="1400" u="none" cap="none" strike="noStrike">
              <a:solidFill>
                <a:srgbClr val="000000"/>
              </a:solidFill>
              <a:latin typeface="Arial"/>
              <a:ea typeface="Arial"/>
              <a:cs typeface="Arial"/>
              <a:sym typeface="Arial"/>
            </a:endParaRPr>
          </a:p>
        </p:txBody>
      </p:sp>
      <p:sp>
        <p:nvSpPr>
          <p:cNvPr id="1321" name="Google Shape;1321;p17"/>
          <p:cNvSpPr txBox="1"/>
          <p:nvPr/>
        </p:nvSpPr>
        <p:spPr>
          <a:xfrm>
            <a:off x="512064" y="1271016"/>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A434C"/>
                </a:solidFill>
                <a:latin typeface="Calibri"/>
                <a:ea typeface="Calibri"/>
                <a:cs typeface="Calibri"/>
                <a:sym typeface="Calibri"/>
              </a:rPr>
              <a:t> The growing core feeds the next generation iteration.</a:t>
            </a:r>
            <a:endParaRPr b="0" i="0" sz="1400" u="none" cap="none" strike="noStrike">
              <a:solidFill>
                <a:srgbClr val="000000"/>
              </a:solidFill>
              <a:latin typeface="Arial"/>
              <a:ea typeface="Arial"/>
              <a:cs typeface="Arial"/>
              <a:sym typeface="Arial"/>
            </a:endParaRPr>
          </a:p>
        </p:txBody>
      </p:sp>
      <p:sp>
        <p:nvSpPr>
          <p:cNvPr id="1322" name="Google Shape;1322;p17"/>
          <p:cNvSpPr/>
          <p:nvPr/>
        </p:nvSpPr>
        <p:spPr>
          <a:xfrm>
            <a:off x="9692640"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23" name="Google Shape;1323;p17"/>
          <p:cNvSpPr/>
          <p:nvPr/>
        </p:nvSpPr>
        <p:spPr>
          <a:xfrm>
            <a:off x="10049256"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24" name="Google Shape;1324;p17"/>
          <p:cNvSpPr/>
          <p:nvPr/>
        </p:nvSpPr>
        <p:spPr>
          <a:xfrm>
            <a:off x="10405872"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25" name="Google Shape;1325;p17"/>
          <p:cNvSpPr/>
          <p:nvPr/>
        </p:nvSpPr>
        <p:spPr>
          <a:xfrm>
            <a:off x="10762488"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26" name="Google Shape;1326;p17"/>
          <p:cNvSpPr/>
          <p:nvPr/>
        </p:nvSpPr>
        <p:spPr>
          <a:xfrm>
            <a:off x="11119104"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27" name="Google Shape;1327;p17"/>
          <p:cNvSpPr/>
          <p:nvPr/>
        </p:nvSpPr>
        <p:spPr>
          <a:xfrm>
            <a:off x="11475720"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28" name="Google Shape;1328;p17"/>
          <p:cNvSpPr txBox="1"/>
          <p:nvPr/>
        </p:nvSpPr>
        <p:spPr>
          <a:xfrm>
            <a:off x="10917936" y="6519672"/>
            <a:ext cx="804600" cy="1830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6 / 6</a:t>
            </a:r>
            <a:endParaRPr b="0" i="0" sz="1400" u="none" cap="none" strike="noStrike">
              <a:solidFill>
                <a:srgbClr val="000000"/>
              </a:solidFill>
              <a:latin typeface="Arial"/>
              <a:ea typeface="Arial"/>
              <a:cs typeface="Arial"/>
              <a:sym typeface="Arial"/>
            </a:endParaRPr>
          </a:p>
        </p:txBody>
      </p:sp>
      <p:cxnSp>
        <p:nvCxnSpPr>
          <p:cNvPr id="1329" name="Google Shape;1329;p17"/>
          <p:cNvCxnSpPr/>
          <p:nvPr/>
        </p:nvCxnSpPr>
        <p:spPr>
          <a:xfrm>
            <a:off x="1577684" y="3507531"/>
            <a:ext cx="164700" cy="0"/>
          </a:xfrm>
          <a:prstGeom prst="straightConnector1">
            <a:avLst/>
          </a:prstGeom>
          <a:noFill/>
          <a:ln cap="flat" cmpd="sng" w="38100">
            <a:solidFill>
              <a:srgbClr val="3A7D8C"/>
            </a:solidFill>
            <a:prstDash val="solid"/>
            <a:miter lim="80"/>
            <a:headEnd len="sm" w="sm" type="none"/>
            <a:tailEnd len="sm" w="sm" type="none"/>
          </a:ln>
        </p:spPr>
      </p:cxnSp>
      <p:sp>
        <p:nvSpPr>
          <p:cNvPr id="1330" name="Google Shape;1330;p17"/>
          <p:cNvSpPr/>
          <p:nvPr/>
        </p:nvSpPr>
        <p:spPr>
          <a:xfrm rot="5400000">
            <a:off x="1678184" y="3443523"/>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331" name="Google Shape;1331;p17"/>
          <p:cNvCxnSpPr/>
          <p:nvPr/>
        </p:nvCxnSpPr>
        <p:spPr>
          <a:xfrm>
            <a:off x="3369671" y="3446462"/>
            <a:ext cx="100500" cy="0"/>
          </a:xfrm>
          <a:prstGeom prst="straightConnector1">
            <a:avLst/>
          </a:prstGeom>
          <a:noFill/>
          <a:ln cap="flat" cmpd="sng" w="29200">
            <a:solidFill>
              <a:srgbClr val="3A7D8C"/>
            </a:solidFill>
            <a:prstDash val="solid"/>
            <a:miter lim="80"/>
            <a:headEnd len="sm" w="sm" type="none"/>
            <a:tailEnd len="sm" w="sm" type="none"/>
          </a:ln>
        </p:spPr>
      </p:cxnSp>
      <p:cxnSp>
        <p:nvCxnSpPr>
          <p:cNvPr id="1332" name="Google Shape;1332;p17"/>
          <p:cNvCxnSpPr/>
          <p:nvPr/>
        </p:nvCxnSpPr>
        <p:spPr>
          <a:xfrm rot="10800000">
            <a:off x="3456647" y="2186248"/>
            <a:ext cx="0" cy="1271100"/>
          </a:xfrm>
          <a:prstGeom prst="straightConnector1">
            <a:avLst/>
          </a:prstGeom>
          <a:noFill/>
          <a:ln cap="flat" cmpd="sng" w="29200">
            <a:solidFill>
              <a:srgbClr val="3A7D8C"/>
            </a:solidFill>
            <a:prstDash val="solid"/>
            <a:miter lim="80"/>
            <a:headEnd len="sm" w="sm" type="none"/>
            <a:tailEnd len="sm" w="sm" type="none"/>
          </a:ln>
        </p:spPr>
      </p:cxnSp>
      <p:cxnSp>
        <p:nvCxnSpPr>
          <p:cNvPr id="1333" name="Google Shape;1333;p17"/>
          <p:cNvCxnSpPr/>
          <p:nvPr/>
        </p:nvCxnSpPr>
        <p:spPr>
          <a:xfrm>
            <a:off x="3456647" y="2199939"/>
            <a:ext cx="265200" cy="0"/>
          </a:xfrm>
          <a:prstGeom prst="straightConnector1">
            <a:avLst/>
          </a:prstGeom>
          <a:noFill/>
          <a:ln cap="flat" cmpd="sng" w="29200">
            <a:solidFill>
              <a:srgbClr val="3A7D8C"/>
            </a:solidFill>
            <a:prstDash val="solid"/>
            <a:miter lim="80"/>
            <a:headEnd len="sm" w="sm" type="none"/>
            <a:tailEnd len="sm" w="sm" type="none"/>
          </a:ln>
        </p:spPr>
      </p:cxnSp>
      <p:sp>
        <p:nvSpPr>
          <p:cNvPr id="1334" name="Google Shape;1334;p17"/>
          <p:cNvSpPr/>
          <p:nvPr/>
        </p:nvSpPr>
        <p:spPr>
          <a:xfrm rot="5400000">
            <a:off x="3918081" y="2135931"/>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335" name="Google Shape;1335;p17"/>
          <p:cNvCxnSpPr/>
          <p:nvPr/>
        </p:nvCxnSpPr>
        <p:spPr>
          <a:xfrm>
            <a:off x="3356063" y="3608115"/>
            <a:ext cx="118800" cy="0"/>
          </a:xfrm>
          <a:prstGeom prst="straightConnector1">
            <a:avLst/>
          </a:prstGeom>
          <a:noFill/>
          <a:ln cap="flat" cmpd="sng" w="26650">
            <a:solidFill>
              <a:srgbClr val="3A7D8C"/>
            </a:solidFill>
            <a:prstDash val="solid"/>
            <a:miter lim="80"/>
            <a:headEnd len="sm" w="sm" type="none"/>
            <a:tailEnd len="sm" w="sm" type="none"/>
          </a:ln>
        </p:spPr>
      </p:cxnSp>
      <p:cxnSp>
        <p:nvCxnSpPr>
          <p:cNvPr id="1336" name="Google Shape;1336;p17"/>
          <p:cNvCxnSpPr/>
          <p:nvPr/>
        </p:nvCxnSpPr>
        <p:spPr>
          <a:xfrm rot="10800000">
            <a:off x="3537528" y="3283708"/>
            <a:ext cx="0" cy="310800"/>
          </a:xfrm>
          <a:prstGeom prst="straightConnector1">
            <a:avLst/>
          </a:prstGeom>
          <a:noFill/>
          <a:ln cap="flat" cmpd="sng" w="26650">
            <a:solidFill>
              <a:srgbClr val="3A7D8C"/>
            </a:solidFill>
            <a:prstDash val="solid"/>
            <a:miter lim="80"/>
            <a:headEnd len="sm" w="sm" type="none"/>
            <a:tailEnd len="sm" w="sm" type="none"/>
          </a:ln>
        </p:spPr>
      </p:cxnSp>
      <p:cxnSp>
        <p:nvCxnSpPr>
          <p:cNvPr id="1337" name="Google Shape;1337;p17"/>
          <p:cNvCxnSpPr/>
          <p:nvPr/>
        </p:nvCxnSpPr>
        <p:spPr>
          <a:xfrm>
            <a:off x="3537528" y="3297219"/>
            <a:ext cx="255900" cy="0"/>
          </a:xfrm>
          <a:prstGeom prst="straightConnector1">
            <a:avLst/>
          </a:prstGeom>
          <a:noFill/>
          <a:ln cap="flat" cmpd="sng" w="26650">
            <a:solidFill>
              <a:srgbClr val="3A7D8C"/>
            </a:solidFill>
            <a:prstDash val="solid"/>
            <a:miter lim="80"/>
            <a:headEnd len="sm" w="sm" type="none"/>
            <a:tailEnd len="sm" w="sm" type="none"/>
          </a:ln>
        </p:spPr>
      </p:cxnSp>
      <p:sp>
        <p:nvSpPr>
          <p:cNvPr id="1338" name="Google Shape;1338;p17"/>
          <p:cNvSpPr/>
          <p:nvPr/>
        </p:nvSpPr>
        <p:spPr>
          <a:xfrm rot="5400000">
            <a:off x="3729467" y="3233211"/>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339" name="Google Shape;1339;p17"/>
          <p:cNvCxnSpPr/>
          <p:nvPr/>
        </p:nvCxnSpPr>
        <p:spPr>
          <a:xfrm>
            <a:off x="3356063" y="3608115"/>
            <a:ext cx="118800" cy="0"/>
          </a:xfrm>
          <a:prstGeom prst="straightConnector1">
            <a:avLst/>
          </a:prstGeom>
          <a:noFill/>
          <a:ln cap="flat" cmpd="sng" w="26650">
            <a:solidFill>
              <a:srgbClr val="3A7D8C"/>
            </a:solidFill>
            <a:prstDash val="solid"/>
            <a:miter lim="80"/>
            <a:headEnd len="sm" w="sm" type="none"/>
            <a:tailEnd len="sm" w="sm" type="none"/>
          </a:ln>
        </p:spPr>
      </p:cxnSp>
      <p:cxnSp>
        <p:nvCxnSpPr>
          <p:cNvPr id="1340" name="Google Shape;1340;p17"/>
          <p:cNvCxnSpPr/>
          <p:nvPr/>
        </p:nvCxnSpPr>
        <p:spPr>
          <a:xfrm>
            <a:off x="3537528" y="3992163"/>
            <a:ext cx="255900" cy="0"/>
          </a:xfrm>
          <a:prstGeom prst="straightConnector1">
            <a:avLst/>
          </a:prstGeom>
          <a:noFill/>
          <a:ln cap="flat" cmpd="sng" w="26650">
            <a:solidFill>
              <a:srgbClr val="3A7D8C"/>
            </a:solidFill>
            <a:prstDash val="solid"/>
            <a:miter lim="80"/>
            <a:headEnd len="sm" w="sm" type="none"/>
            <a:tailEnd len="sm" w="sm" type="none"/>
          </a:ln>
        </p:spPr>
      </p:cxnSp>
      <p:sp>
        <p:nvSpPr>
          <p:cNvPr id="1341" name="Google Shape;1341;p17"/>
          <p:cNvSpPr/>
          <p:nvPr/>
        </p:nvSpPr>
        <p:spPr>
          <a:xfrm rot="5400000">
            <a:off x="3729467" y="3928154"/>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342" name="Google Shape;1342;p17"/>
          <p:cNvCxnSpPr/>
          <p:nvPr/>
        </p:nvCxnSpPr>
        <p:spPr>
          <a:xfrm>
            <a:off x="3418656" y="3608115"/>
            <a:ext cx="118800" cy="0"/>
          </a:xfrm>
          <a:prstGeom prst="straightConnector1">
            <a:avLst/>
          </a:prstGeom>
          <a:noFill/>
          <a:ln cap="flat" cmpd="sng" w="26650">
            <a:solidFill>
              <a:srgbClr val="3A7D8C"/>
            </a:solidFill>
            <a:prstDash val="solid"/>
            <a:miter lim="80"/>
            <a:headEnd len="sm" w="sm" type="none"/>
            <a:tailEnd len="sm" w="sm" type="none"/>
          </a:ln>
        </p:spPr>
      </p:cxnSp>
      <p:cxnSp>
        <p:nvCxnSpPr>
          <p:cNvPr id="1343" name="Google Shape;1343;p17"/>
          <p:cNvCxnSpPr/>
          <p:nvPr/>
        </p:nvCxnSpPr>
        <p:spPr>
          <a:xfrm>
            <a:off x="3537528" y="3594508"/>
            <a:ext cx="0" cy="1079100"/>
          </a:xfrm>
          <a:prstGeom prst="straightConnector1">
            <a:avLst/>
          </a:prstGeom>
          <a:noFill/>
          <a:ln cap="flat" cmpd="sng" w="26650">
            <a:solidFill>
              <a:srgbClr val="3A7D8C"/>
            </a:solidFill>
            <a:prstDash val="solid"/>
            <a:miter lim="80"/>
            <a:headEnd len="sm" w="sm" type="none"/>
            <a:tailEnd len="sm" w="sm" type="none"/>
          </a:ln>
        </p:spPr>
      </p:cxnSp>
      <p:cxnSp>
        <p:nvCxnSpPr>
          <p:cNvPr id="1344" name="Google Shape;1344;p17"/>
          <p:cNvCxnSpPr/>
          <p:nvPr/>
        </p:nvCxnSpPr>
        <p:spPr>
          <a:xfrm>
            <a:off x="3537528" y="4659893"/>
            <a:ext cx="255900" cy="0"/>
          </a:xfrm>
          <a:prstGeom prst="straightConnector1">
            <a:avLst/>
          </a:prstGeom>
          <a:noFill/>
          <a:ln cap="flat" cmpd="sng" w="26650">
            <a:solidFill>
              <a:srgbClr val="3A7D8C"/>
            </a:solidFill>
            <a:prstDash val="solid"/>
            <a:miter lim="80"/>
            <a:headEnd len="sm" w="sm" type="none"/>
            <a:tailEnd len="sm" w="sm" type="none"/>
          </a:ln>
        </p:spPr>
      </p:cxnSp>
      <p:sp>
        <p:nvSpPr>
          <p:cNvPr id="1345" name="Google Shape;1345;p17"/>
          <p:cNvSpPr/>
          <p:nvPr/>
        </p:nvSpPr>
        <p:spPr>
          <a:xfrm rot="5400000">
            <a:off x="3729467" y="4595885"/>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346" name="Google Shape;1346;p17"/>
          <p:cNvCxnSpPr/>
          <p:nvPr/>
        </p:nvCxnSpPr>
        <p:spPr>
          <a:xfrm>
            <a:off x="6340837" y="2181651"/>
            <a:ext cx="1874400" cy="0"/>
          </a:xfrm>
          <a:prstGeom prst="straightConnector1">
            <a:avLst/>
          </a:prstGeom>
          <a:noFill/>
          <a:ln cap="flat" cmpd="sng" w="29200">
            <a:solidFill>
              <a:srgbClr val="3A7D8C"/>
            </a:solidFill>
            <a:prstDash val="solid"/>
            <a:miter lim="80"/>
            <a:headEnd len="sm" w="sm" type="none"/>
            <a:tailEnd len="sm" w="sm" type="none"/>
          </a:ln>
        </p:spPr>
      </p:cxnSp>
      <p:cxnSp>
        <p:nvCxnSpPr>
          <p:cNvPr id="1347" name="Google Shape;1347;p17"/>
          <p:cNvCxnSpPr/>
          <p:nvPr/>
        </p:nvCxnSpPr>
        <p:spPr>
          <a:xfrm>
            <a:off x="8200117" y="2181651"/>
            <a:ext cx="0" cy="1134000"/>
          </a:xfrm>
          <a:prstGeom prst="straightConnector1">
            <a:avLst/>
          </a:prstGeom>
          <a:noFill/>
          <a:ln cap="flat" cmpd="sng" w="29200">
            <a:solidFill>
              <a:srgbClr val="3A7D8C"/>
            </a:solidFill>
            <a:prstDash val="solid"/>
            <a:miter lim="80"/>
            <a:headEnd len="sm" w="sm" type="none"/>
            <a:tailEnd len="sm" w="sm" type="none"/>
          </a:ln>
        </p:spPr>
      </p:cxnSp>
      <p:sp>
        <p:nvSpPr>
          <p:cNvPr id="1348" name="Google Shape;1348;p17"/>
          <p:cNvSpPr/>
          <p:nvPr/>
        </p:nvSpPr>
        <p:spPr>
          <a:xfrm rot="10800000">
            <a:off x="8136025" y="3251415"/>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349" name="Google Shape;1349;p17"/>
          <p:cNvCxnSpPr/>
          <p:nvPr/>
        </p:nvCxnSpPr>
        <p:spPr>
          <a:xfrm>
            <a:off x="7129603" y="3304363"/>
            <a:ext cx="146400" cy="0"/>
          </a:xfrm>
          <a:prstGeom prst="straightConnector1">
            <a:avLst/>
          </a:prstGeom>
          <a:noFill/>
          <a:ln cap="flat" cmpd="sng" w="26650">
            <a:solidFill>
              <a:srgbClr val="3A7D8C"/>
            </a:solidFill>
            <a:prstDash val="solid"/>
            <a:miter lim="80"/>
            <a:headEnd len="sm" w="sm" type="none"/>
            <a:tailEnd len="sm" w="sm" type="none"/>
          </a:ln>
        </p:spPr>
      </p:cxnSp>
      <p:cxnSp>
        <p:nvCxnSpPr>
          <p:cNvPr id="1350" name="Google Shape;1350;p17"/>
          <p:cNvCxnSpPr/>
          <p:nvPr/>
        </p:nvCxnSpPr>
        <p:spPr>
          <a:xfrm>
            <a:off x="7264000" y="3297219"/>
            <a:ext cx="0" cy="448200"/>
          </a:xfrm>
          <a:prstGeom prst="straightConnector1">
            <a:avLst/>
          </a:prstGeom>
          <a:noFill/>
          <a:ln cap="flat" cmpd="sng" w="26650">
            <a:solidFill>
              <a:srgbClr val="3A7D8C"/>
            </a:solidFill>
            <a:prstDash val="solid"/>
            <a:miter lim="80"/>
            <a:headEnd len="sm" w="sm" type="none"/>
            <a:tailEnd len="sm" w="sm" type="none"/>
          </a:ln>
        </p:spPr>
      </p:cxnSp>
      <p:sp>
        <p:nvSpPr>
          <p:cNvPr id="1351" name="Google Shape;1351;p17"/>
          <p:cNvSpPr/>
          <p:nvPr/>
        </p:nvSpPr>
        <p:spPr>
          <a:xfrm rot="5400000">
            <a:off x="7462823" y="3718917"/>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352" name="Google Shape;1352;p17"/>
          <p:cNvCxnSpPr/>
          <p:nvPr/>
        </p:nvCxnSpPr>
        <p:spPr>
          <a:xfrm>
            <a:off x="7129603" y="4693870"/>
            <a:ext cx="146400" cy="0"/>
          </a:xfrm>
          <a:prstGeom prst="straightConnector1">
            <a:avLst/>
          </a:prstGeom>
          <a:noFill/>
          <a:ln cap="flat" cmpd="sng" w="26650">
            <a:solidFill>
              <a:srgbClr val="3A7D8C"/>
            </a:solidFill>
            <a:prstDash val="solid"/>
            <a:miter lim="80"/>
            <a:headEnd len="sm" w="sm" type="none"/>
            <a:tailEnd len="sm" w="sm" type="none"/>
          </a:ln>
        </p:spPr>
      </p:cxnSp>
      <p:cxnSp>
        <p:nvCxnSpPr>
          <p:cNvPr id="1353" name="Google Shape;1353;p17"/>
          <p:cNvCxnSpPr/>
          <p:nvPr/>
        </p:nvCxnSpPr>
        <p:spPr>
          <a:xfrm rot="10800000">
            <a:off x="7264000" y="3745251"/>
            <a:ext cx="0" cy="951000"/>
          </a:xfrm>
          <a:prstGeom prst="straightConnector1">
            <a:avLst/>
          </a:prstGeom>
          <a:noFill/>
          <a:ln cap="flat" cmpd="sng" w="26650">
            <a:solidFill>
              <a:srgbClr val="3A7D8C"/>
            </a:solidFill>
            <a:prstDash val="solid"/>
            <a:miter lim="80"/>
            <a:headEnd len="sm" w="sm" type="none"/>
            <a:tailEnd len="sm" w="sm" type="none"/>
          </a:ln>
        </p:spPr>
      </p:cxnSp>
      <p:cxnSp>
        <p:nvCxnSpPr>
          <p:cNvPr id="1354" name="Google Shape;1354;p17"/>
          <p:cNvCxnSpPr/>
          <p:nvPr/>
        </p:nvCxnSpPr>
        <p:spPr>
          <a:xfrm>
            <a:off x="8931637" y="3795662"/>
            <a:ext cx="868800" cy="0"/>
          </a:xfrm>
          <a:prstGeom prst="straightConnector1">
            <a:avLst/>
          </a:prstGeom>
          <a:noFill/>
          <a:ln cap="flat" cmpd="sng" w="38100">
            <a:solidFill>
              <a:srgbClr val="0B6E4F"/>
            </a:solidFill>
            <a:prstDash val="solid"/>
            <a:miter lim="80"/>
            <a:headEnd len="sm" w="sm" type="none"/>
            <a:tailEnd len="sm" w="sm" type="none"/>
          </a:ln>
        </p:spPr>
      </p:cxnSp>
      <p:sp>
        <p:nvSpPr>
          <p:cNvPr id="1355" name="Google Shape;1355;p17"/>
          <p:cNvSpPr/>
          <p:nvPr/>
        </p:nvSpPr>
        <p:spPr>
          <a:xfrm rot="5400000">
            <a:off x="9736225" y="3731654"/>
            <a:ext cx="128100" cy="128100"/>
          </a:xfrm>
          <a:prstGeom prst="triangle">
            <a:avLst>
              <a:gd fmla="val 50000" name="adj"/>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356" name="Google Shape;1356;p17"/>
          <p:cNvCxnSpPr/>
          <p:nvPr/>
        </p:nvCxnSpPr>
        <p:spPr>
          <a:xfrm>
            <a:off x="10957129" y="4344302"/>
            <a:ext cx="0" cy="438900"/>
          </a:xfrm>
          <a:prstGeom prst="straightConnector1">
            <a:avLst/>
          </a:prstGeom>
          <a:noFill/>
          <a:ln cap="flat" cmpd="sng" w="33000">
            <a:solidFill>
              <a:srgbClr val="177A55"/>
            </a:solidFill>
            <a:prstDash val="solid"/>
            <a:miter lim="80"/>
            <a:headEnd len="sm" w="sm" type="none"/>
            <a:tailEnd len="sm" w="sm" type="none"/>
          </a:ln>
        </p:spPr>
      </p:cxnSp>
      <p:sp>
        <p:nvSpPr>
          <p:cNvPr id="1357" name="Google Shape;1357;p17"/>
          <p:cNvSpPr/>
          <p:nvPr/>
        </p:nvSpPr>
        <p:spPr>
          <a:xfrm rot="10800000">
            <a:off x="10893037" y="4719121"/>
            <a:ext cx="128100" cy="128100"/>
          </a:xfrm>
          <a:prstGeom prst="triangle">
            <a:avLst>
              <a:gd fmla="val 50000" name="adj"/>
            </a:avLst>
          </a:prstGeom>
          <a:solidFill>
            <a:srgbClr val="177A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358" name="Google Shape;1358;p17"/>
          <p:cNvCxnSpPr/>
          <p:nvPr/>
        </p:nvCxnSpPr>
        <p:spPr>
          <a:xfrm>
            <a:off x="10903962" y="5616919"/>
            <a:ext cx="0" cy="365700"/>
          </a:xfrm>
          <a:prstGeom prst="straightConnector1">
            <a:avLst/>
          </a:prstGeom>
          <a:noFill/>
          <a:ln cap="flat" cmpd="sng" w="31750">
            <a:solidFill>
              <a:srgbClr val="177A55"/>
            </a:solidFill>
            <a:prstDash val="solid"/>
            <a:miter lim="80"/>
            <a:headEnd len="sm" w="sm" type="none"/>
            <a:tailEnd len="sm" w="sm" type="none"/>
          </a:ln>
        </p:spPr>
      </p:cxnSp>
      <p:cxnSp>
        <p:nvCxnSpPr>
          <p:cNvPr id="1359" name="Google Shape;1359;p17"/>
          <p:cNvCxnSpPr/>
          <p:nvPr/>
        </p:nvCxnSpPr>
        <p:spPr>
          <a:xfrm rot="10800000">
            <a:off x="8964019" y="5982679"/>
            <a:ext cx="1956900" cy="0"/>
          </a:xfrm>
          <a:prstGeom prst="straightConnector1">
            <a:avLst/>
          </a:prstGeom>
          <a:noFill/>
          <a:ln cap="flat" cmpd="sng" w="31750">
            <a:solidFill>
              <a:srgbClr val="177A55"/>
            </a:solidFill>
            <a:prstDash val="solid"/>
            <a:miter lim="80"/>
            <a:headEnd len="sm" w="sm" type="none"/>
            <a:tailEnd len="sm" w="sm" type="none"/>
          </a:ln>
        </p:spPr>
      </p:cxnSp>
      <p:cxnSp>
        <p:nvCxnSpPr>
          <p:cNvPr id="1360" name="Google Shape;1360;p17"/>
          <p:cNvCxnSpPr/>
          <p:nvPr/>
        </p:nvCxnSpPr>
        <p:spPr>
          <a:xfrm rot="10800000">
            <a:off x="5512146" y="5203449"/>
            <a:ext cx="0" cy="795600"/>
          </a:xfrm>
          <a:prstGeom prst="straightConnector1">
            <a:avLst/>
          </a:prstGeom>
          <a:noFill/>
          <a:ln cap="flat" cmpd="sng" w="31750">
            <a:solidFill>
              <a:srgbClr val="177A55"/>
            </a:solidFill>
            <a:prstDash val="solid"/>
            <a:miter lim="80"/>
            <a:headEnd len="sm" w="sm" type="none"/>
            <a:tailEnd len="sm" w="sm" type="none"/>
          </a:ln>
        </p:spPr>
      </p:cxnSp>
      <p:sp>
        <p:nvSpPr>
          <p:cNvPr id="1361" name="Google Shape;1361;p17"/>
          <p:cNvSpPr/>
          <p:nvPr/>
        </p:nvSpPr>
        <p:spPr>
          <a:xfrm>
            <a:off x="407252" y="2958891"/>
            <a:ext cx="1170300" cy="1134000"/>
          </a:xfrm>
          <a:prstGeom prst="roundRect">
            <a:avLst>
              <a:gd fmla="val 16667" name="adj"/>
            </a:avLst>
          </a:prstGeom>
          <a:solidFill>
            <a:srgbClr val="FFFFFF"/>
          </a:solidFill>
          <a:ln cap="flat" cmpd="sng" w="15225">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62" name="Google Shape;1362;p17"/>
          <p:cNvSpPr/>
          <p:nvPr/>
        </p:nvSpPr>
        <p:spPr>
          <a:xfrm>
            <a:off x="526124" y="3123483"/>
            <a:ext cx="255900" cy="402300"/>
          </a:xfrm>
          <a:prstGeom prst="rect">
            <a:avLst/>
          </a:prstGeom>
          <a:solidFill>
            <a:srgbClr val="DDE5E1"/>
          </a:solidFill>
          <a:ln cap="flat" cmpd="sng" w="10150">
            <a:solidFill>
              <a:srgbClr val="177A5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363" name="Google Shape;1363;p17"/>
          <p:cNvCxnSpPr/>
          <p:nvPr/>
        </p:nvCxnSpPr>
        <p:spPr>
          <a:xfrm>
            <a:off x="567272" y="3242355"/>
            <a:ext cx="169200" cy="0"/>
          </a:xfrm>
          <a:prstGeom prst="straightConnector1">
            <a:avLst/>
          </a:prstGeom>
          <a:noFill/>
          <a:ln cap="flat" cmpd="sng" w="9525">
            <a:solidFill>
              <a:srgbClr val="8E989E"/>
            </a:solidFill>
            <a:prstDash val="solid"/>
            <a:miter lim="80"/>
            <a:headEnd len="sm" w="sm" type="none"/>
            <a:tailEnd len="sm" w="sm" type="none"/>
          </a:ln>
        </p:spPr>
      </p:cxnSp>
      <p:cxnSp>
        <p:nvCxnSpPr>
          <p:cNvPr id="1364" name="Google Shape;1364;p17"/>
          <p:cNvCxnSpPr/>
          <p:nvPr/>
        </p:nvCxnSpPr>
        <p:spPr>
          <a:xfrm>
            <a:off x="567272" y="3324651"/>
            <a:ext cx="169200" cy="0"/>
          </a:xfrm>
          <a:prstGeom prst="straightConnector1">
            <a:avLst/>
          </a:prstGeom>
          <a:noFill/>
          <a:ln cap="flat" cmpd="sng" w="9525">
            <a:solidFill>
              <a:srgbClr val="8E989E"/>
            </a:solidFill>
            <a:prstDash val="solid"/>
            <a:miter lim="80"/>
            <a:headEnd len="sm" w="sm" type="none"/>
            <a:tailEnd len="sm" w="sm" type="none"/>
          </a:ln>
        </p:spPr>
      </p:cxnSp>
      <p:sp>
        <p:nvSpPr>
          <p:cNvPr id="1365" name="Google Shape;1365;p17"/>
          <p:cNvSpPr/>
          <p:nvPr/>
        </p:nvSpPr>
        <p:spPr>
          <a:xfrm>
            <a:off x="837020" y="3123483"/>
            <a:ext cx="255900" cy="402300"/>
          </a:xfrm>
          <a:prstGeom prst="rect">
            <a:avLst/>
          </a:prstGeom>
          <a:solidFill>
            <a:srgbClr val="DDE5E1"/>
          </a:solidFill>
          <a:ln cap="flat" cmpd="sng" w="10150">
            <a:solidFill>
              <a:srgbClr val="177A5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366" name="Google Shape;1366;p17"/>
          <p:cNvCxnSpPr/>
          <p:nvPr/>
        </p:nvCxnSpPr>
        <p:spPr>
          <a:xfrm>
            <a:off x="878168" y="3242355"/>
            <a:ext cx="169200" cy="0"/>
          </a:xfrm>
          <a:prstGeom prst="straightConnector1">
            <a:avLst/>
          </a:prstGeom>
          <a:noFill/>
          <a:ln cap="flat" cmpd="sng" w="9525">
            <a:solidFill>
              <a:srgbClr val="8E989E"/>
            </a:solidFill>
            <a:prstDash val="solid"/>
            <a:miter lim="80"/>
            <a:headEnd len="sm" w="sm" type="none"/>
            <a:tailEnd len="sm" w="sm" type="none"/>
          </a:ln>
        </p:spPr>
      </p:cxnSp>
      <p:cxnSp>
        <p:nvCxnSpPr>
          <p:cNvPr id="1367" name="Google Shape;1367;p17"/>
          <p:cNvCxnSpPr/>
          <p:nvPr/>
        </p:nvCxnSpPr>
        <p:spPr>
          <a:xfrm>
            <a:off x="878168" y="3324651"/>
            <a:ext cx="169200" cy="0"/>
          </a:xfrm>
          <a:prstGeom prst="straightConnector1">
            <a:avLst/>
          </a:prstGeom>
          <a:noFill/>
          <a:ln cap="flat" cmpd="sng" w="9525">
            <a:solidFill>
              <a:srgbClr val="8E989E"/>
            </a:solidFill>
            <a:prstDash val="solid"/>
            <a:miter lim="80"/>
            <a:headEnd len="sm" w="sm" type="none"/>
            <a:tailEnd len="sm" w="sm" type="none"/>
          </a:ln>
        </p:spPr>
      </p:cxnSp>
      <p:sp>
        <p:nvSpPr>
          <p:cNvPr id="1368" name="Google Shape;1368;p17"/>
          <p:cNvSpPr/>
          <p:nvPr/>
        </p:nvSpPr>
        <p:spPr>
          <a:xfrm>
            <a:off x="1147916" y="3123483"/>
            <a:ext cx="255900" cy="402300"/>
          </a:xfrm>
          <a:prstGeom prst="rect">
            <a:avLst/>
          </a:prstGeom>
          <a:solidFill>
            <a:srgbClr val="DDE5E1"/>
          </a:solidFill>
          <a:ln cap="flat" cmpd="sng" w="10150">
            <a:solidFill>
              <a:srgbClr val="177A5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369" name="Google Shape;1369;p17"/>
          <p:cNvCxnSpPr/>
          <p:nvPr/>
        </p:nvCxnSpPr>
        <p:spPr>
          <a:xfrm>
            <a:off x="1189064" y="3242355"/>
            <a:ext cx="169200" cy="0"/>
          </a:xfrm>
          <a:prstGeom prst="straightConnector1">
            <a:avLst/>
          </a:prstGeom>
          <a:noFill/>
          <a:ln cap="flat" cmpd="sng" w="9525">
            <a:solidFill>
              <a:srgbClr val="8E989E"/>
            </a:solidFill>
            <a:prstDash val="solid"/>
            <a:miter lim="80"/>
            <a:headEnd len="sm" w="sm" type="none"/>
            <a:tailEnd len="sm" w="sm" type="none"/>
          </a:ln>
        </p:spPr>
      </p:cxnSp>
      <p:cxnSp>
        <p:nvCxnSpPr>
          <p:cNvPr id="1370" name="Google Shape;1370;p17"/>
          <p:cNvCxnSpPr/>
          <p:nvPr/>
        </p:nvCxnSpPr>
        <p:spPr>
          <a:xfrm>
            <a:off x="1189064" y="3324651"/>
            <a:ext cx="169200" cy="0"/>
          </a:xfrm>
          <a:prstGeom prst="straightConnector1">
            <a:avLst/>
          </a:prstGeom>
          <a:noFill/>
          <a:ln cap="flat" cmpd="sng" w="9525">
            <a:solidFill>
              <a:srgbClr val="8E989E"/>
            </a:solidFill>
            <a:prstDash val="solid"/>
            <a:miter lim="80"/>
            <a:headEnd len="sm" w="sm" type="none"/>
            <a:tailEnd len="sm" w="sm" type="none"/>
          </a:ln>
        </p:spPr>
      </p:cxnSp>
      <p:sp>
        <p:nvSpPr>
          <p:cNvPr id="1371" name="Google Shape;1371;p17"/>
          <p:cNvSpPr txBox="1"/>
          <p:nvPr/>
        </p:nvSpPr>
        <p:spPr>
          <a:xfrm>
            <a:off x="416396" y="3617258"/>
            <a:ext cx="115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F2328"/>
                </a:solidFill>
                <a:latin typeface="Calibri"/>
                <a:ea typeface="Calibri"/>
                <a:cs typeface="Calibri"/>
                <a:sym typeface="Calibri"/>
              </a:rPr>
              <a:t>Schema S</a:t>
            </a:r>
            <a:endParaRPr b="0" i="0" sz="1400" u="none" cap="none" strike="noStrike">
              <a:solidFill>
                <a:srgbClr val="000000"/>
              </a:solidFill>
              <a:latin typeface="Arial"/>
              <a:ea typeface="Arial"/>
              <a:cs typeface="Arial"/>
              <a:sym typeface="Arial"/>
            </a:endParaRPr>
          </a:p>
        </p:txBody>
      </p:sp>
      <p:sp>
        <p:nvSpPr>
          <p:cNvPr id="1372" name="Google Shape;1372;p17"/>
          <p:cNvSpPr txBox="1"/>
          <p:nvPr/>
        </p:nvSpPr>
        <p:spPr>
          <a:xfrm>
            <a:off x="1275932" y="2748579"/>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(a)</a:t>
            </a:r>
            <a:endParaRPr b="0" i="0" sz="1400" u="none" cap="none" strike="noStrike">
              <a:solidFill>
                <a:srgbClr val="000000"/>
              </a:solidFill>
              <a:latin typeface="Arial"/>
              <a:ea typeface="Arial"/>
              <a:cs typeface="Arial"/>
              <a:sym typeface="Arial"/>
            </a:endParaRPr>
          </a:p>
        </p:txBody>
      </p:sp>
      <p:sp>
        <p:nvSpPr>
          <p:cNvPr id="1373" name="Google Shape;1373;p17"/>
          <p:cNvSpPr/>
          <p:nvPr/>
        </p:nvSpPr>
        <p:spPr>
          <a:xfrm>
            <a:off x="4043884" y="1825035"/>
            <a:ext cx="2103000" cy="759000"/>
          </a:xfrm>
          <a:prstGeom prst="roundRect">
            <a:avLst>
              <a:gd fmla="val 16667" name="adj"/>
            </a:avLst>
          </a:prstGeom>
          <a:solidFill>
            <a:srgbClr val="F3F5F4"/>
          </a:solidFill>
          <a:ln cap="flat" cmpd="sng" w="165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4" name="Google Shape;1374;p17"/>
          <p:cNvSpPr txBox="1"/>
          <p:nvPr/>
        </p:nvSpPr>
        <p:spPr>
          <a:xfrm>
            <a:off x="4117036" y="1590575"/>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(b)</a:t>
            </a:r>
            <a:endParaRPr b="0" i="0" sz="1400" u="none" cap="none" strike="noStrike">
              <a:solidFill>
                <a:srgbClr val="000000"/>
              </a:solidFill>
              <a:latin typeface="Arial"/>
              <a:ea typeface="Arial"/>
              <a:cs typeface="Arial"/>
              <a:sym typeface="Arial"/>
            </a:endParaRPr>
          </a:p>
        </p:txBody>
      </p:sp>
      <p:sp>
        <p:nvSpPr>
          <p:cNvPr id="1375" name="Google Shape;1375;p17"/>
          <p:cNvSpPr txBox="1"/>
          <p:nvPr/>
        </p:nvSpPr>
        <p:spPr>
          <a:xfrm>
            <a:off x="4126180" y="1943907"/>
            <a:ext cx="19386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Direct mapping</a:t>
            </a:r>
            <a:endParaRPr b="0" i="0" sz="1400" u="none" cap="none" strike="noStrike">
              <a:solidFill>
                <a:srgbClr val="000000"/>
              </a:solidFill>
              <a:latin typeface="Arial"/>
              <a:ea typeface="Arial"/>
              <a:cs typeface="Arial"/>
              <a:sym typeface="Arial"/>
            </a:endParaRPr>
          </a:p>
        </p:txBody>
      </p:sp>
      <p:sp>
        <p:nvSpPr>
          <p:cNvPr id="1376" name="Google Shape;1376;p17"/>
          <p:cNvSpPr txBox="1"/>
          <p:nvPr/>
        </p:nvSpPr>
        <p:spPr>
          <a:xfrm>
            <a:off x="4135323" y="2218227"/>
            <a:ext cx="19203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OWL seed DMᵣ</a:t>
            </a:r>
            <a:endParaRPr b="0" i="0" sz="1400" u="none" cap="none" strike="noStrike">
              <a:solidFill>
                <a:srgbClr val="000000"/>
              </a:solidFill>
              <a:latin typeface="Arial"/>
              <a:ea typeface="Arial"/>
              <a:cs typeface="Arial"/>
              <a:sym typeface="Arial"/>
            </a:endParaRPr>
          </a:p>
        </p:txBody>
      </p:sp>
      <p:sp>
        <p:nvSpPr>
          <p:cNvPr id="1377" name="Google Shape;1377;p17"/>
          <p:cNvSpPr/>
          <p:nvPr/>
        </p:nvSpPr>
        <p:spPr>
          <a:xfrm>
            <a:off x="3897579" y="2739445"/>
            <a:ext cx="3218700" cy="2508300"/>
          </a:xfrm>
          <a:prstGeom prst="roundRect">
            <a:avLst>
              <a:gd fmla="val 8766" name="adj"/>
            </a:avLst>
          </a:prstGeom>
          <a:solidFill>
            <a:srgbClr val="FFFFFF"/>
          </a:solidFill>
          <a:ln cap="flat" cmpd="sng" w="15225">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8" name="Google Shape;1378;p17"/>
          <p:cNvSpPr txBox="1"/>
          <p:nvPr/>
        </p:nvSpPr>
        <p:spPr>
          <a:xfrm>
            <a:off x="4025596" y="2776011"/>
            <a:ext cx="29901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RETRIEVAL  •  top-k per source</a:t>
            </a:r>
            <a:endParaRPr b="0" i="0" sz="1400" u="none" cap="none" strike="noStrike">
              <a:solidFill>
                <a:srgbClr val="000000"/>
              </a:solidFill>
              <a:latin typeface="Arial"/>
              <a:ea typeface="Arial"/>
              <a:cs typeface="Arial"/>
              <a:sym typeface="Arial"/>
            </a:endParaRPr>
          </a:p>
        </p:txBody>
      </p:sp>
      <p:sp>
        <p:nvSpPr>
          <p:cNvPr id="1379" name="Google Shape;1379;p17"/>
          <p:cNvSpPr/>
          <p:nvPr/>
        </p:nvSpPr>
        <p:spPr>
          <a:xfrm>
            <a:off x="4043884" y="3059475"/>
            <a:ext cx="2980800" cy="603600"/>
          </a:xfrm>
          <a:prstGeom prst="roundRect">
            <a:avLst>
              <a:gd fmla="val 16667" name="adj"/>
            </a:avLst>
          </a:prstGeom>
          <a:solidFill>
            <a:srgbClr val="F3F5F4"/>
          </a:solidFill>
          <a:ln cap="flat" cmpd="sng" w="15225">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0" name="Google Shape;1380;p17"/>
          <p:cNvSpPr txBox="1"/>
          <p:nvPr/>
        </p:nvSpPr>
        <p:spPr>
          <a:xfrm>
            <a:off x="4144468" y="3115627"/>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(c)</a:t>
            </a:r>
            <a:endParaRPr b="0" i="0" sz="1400" u="none" cap="none" strike="noStrike">
              <a:solidFill>
                <a:srgbClr val="000000"/>
              </a:solidFill>
              <a:latin typeface="Arial"/>
              <a:ea typeface="Arial"/>
              <a:cs typeface="Arial"/>
              <a:sym typeface="Arial"/>
            </a:endParaRPr>
          </a:p>
        </p:txBody>
      </p:sp>
      <p:sp>
        <p:nvSpPr>
          <p:cNvPr id="1381" name="Google Shape;1381;p17"/>
          <p:cNvSpPr txBox="1"/>
          <p:nvPr/>
        </p:nvSpPr>
        <p:spPr>
          <a:xfrm>
            <a:off x="4491940" y="3109413"/>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External ontologies</a:t>
            </a:r>
            <a:endParaRPr b="0" i="0" sz="1400" u="none" cap="none" strike="noStrike">
              <a:solidFill>
                <a:srgbClr val="000000"/>
              </a:solidFill>
              <a:latin typeface="Arial"/>
              <a:ea typeface="Arial"/>
              <a:cs typeface="Arial"/>
              <a:sym typeface="Arial"/>
            </a:endParaRPr>
          </a:p>
        </p:txBody>
      </p:sp>
      <p:sp>
        <p:nvSpPr>
          <p:cNvPr id="1382" name="Google Shape;1382;p17"/>
          <p:cNvSpPr txBox="1"/>
          <p:nvPr/>
        </p:nvSpPr>
        <p:spPr>
          <a:xfrm>
            <a:off x="4491940" y="3379515"/>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Domain alignments</a:t>
            </a:r>
            <a:endParaRPr b="0" i="0" sz="1400" u="none" cap="none" strike="noStrike">
              <a:solidFill>
                <a:srgbClr val="000000"/>
              </a:solidFill>
              <a:latin typeface="Arial"/>
              <a:ea typeface="Arial"/>
              <a:cs typeface="Arial"/>
              <a:sym typeface="Arial"/>
            </a:endParaRPr>
          </a:p>
        </p:txBody>
      </p:sp>
      <p:sp>
        <p:nvSpPr>
          <p:cNvPr id="1383" name="Google Shape;1383;p17"/>
          <p:cNvSpPr/>
          <p:nvPr/>
        </p:nvSpPr>
        <p:spPr>
          <a:xfrm>
            <a:off x="4043884" y="3763563"/>
            <a:ext cx="2980800" cy="603600"/>
          </a:xfrm>
          <a:prstGeom prst="roundRect">
            <a:avLst>
              <a:gd fmla="val 16667" name="adj"/>
            </a:avLst>
          </a:prstGeom>
          <a:solidFill>
            <a:srgbClr val="F3F5F4"/>
          </a:solidFill>
          <a:ln cap="flat" cmpd="sng" w="15225">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4" name="Google Shape;1384;p17"/>
          <p:cNvSpPr txBox="1"/>
          <p:nvPr/>
        </p:nvSpPr>
        <p:spPr>
          <a:xfrm>
            <a:off x="4144468" y="3819715"/>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(d)</a:t>
            </a:r>
            <a:endParaRPr b="0" i="0" sz="1400" u="none" cap="none" strike="noStrike">
              <a:solidFill>
                <a:srgbClr val="000000"/>
              </a:solidFill>
              <a:latin typeface="Arial"/>
              <a:ea typeface="Arial"/>
              <a:cs typeface="Arial"/>
              <a:sym typeface="Arial"/>
            </a:endParaRPr>
          </a:p>
        </p:txBody>
      </p:sp>
      <p:sp>
        <p:nvSpPr>
          <p:cNvPr id="1385" name="Google Shape;1385;p17"/>
          <p:cNvSpPr txBox="1"/>
          <p:nvPr/>
        </p:nvSpPr>
        <p:spPr>
          <a:xfrm>
            <a:off x="4491940" y="3813501"/>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Documentation</a:t>
            </a:r>
            <a:endParaRPr b="0" i="0" sz="1400" u="none" cap="none" strike="noStrike">
              <a:solidFill>
                <a:srgbClr val="000000"/>
              </a:solidFill>
              <a:latin typeface="Arial"/>
              <a:ea typeface="Arial"/>
              <a:cs typeface="Arial"/>
              <a:sym typeface="Arial"/>
            </a:endParaRPr>
          </a:p>
        </p:txBody>
      </p:sp>
      <p:sp>
        <p:nvSpPr>
          <p:cNvPr id="1386" name="Google Shape;1386;p17"/>
          <p:cNvSpPr txBox="1"/>
          <p:nvPr/>
        </p:nvSpPr>
        <p:spPr>
          <a:xfrm>
            <a:off x="4491940" y="4083603"/>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Cryptic fields and codes</a:t>
            </a:r>
            <a:endParaRPr b="0" i="0" sz="1400" u="none" cap="none" strike="noStrike">
              <a:solidFill>
                <a:srgbClr val="000000"/>
              </a:solidFill>
              <a:latin typeface="Arial"/>
              <a:ea typeface="Arial"/>
              <a:cs typeface="Arial"/>
              <a:sym typeface="Arial"/>
            </a:endParaRPr>
          </a:p>
        </p:txBody>
      </p:sp>
      <p:sp>
        <p:nvSpPr>
          <p:cNvPr id="1387" name="Google Shape;1387;p17"/>
          <p:cNvSpPr/>
          <p:nvPr/>
        </p:nvSpPr>
        <p:spPr>
          <a:xfrm>
            <a:off x="4043884" y="4467651"/>
            <a:ext cx="2980800" cy="603600"/>
          </a:xfrm>
          <a:prstGeom prst="roundRect">
            <a:avLst>
              <a:gd fmla="val 16667" name="adj"/>
            </a:avLst>
          </a:prstGeom>
          <a:solidFill>
            <a:srgbClr val="F3F5F4"/>
          </a:solidFill>
          <a:ln cap="flat" cmpd="sng" w="15225">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8" name="Google Shape;1388;p17"/>
          <p:cNvSpPr txBox="1"/>
          <p:nvPr/>
        </p:nvSpPr>
        <p:spPr>
          <a:xfrm>
            <a:off x="4144468" y="4523803"/>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(e)</a:t>
            </a:r>
            <a:endParaRPr b="0" i="0" sz="1400" u="none" cap="none" strike="noStrike">
              <a:solidFill>
                <a:srgbClr val="000000"/>
              </a:solidFill>
              <a:latin typeface="Arial"/>
              <a:ea typeface="Arial"/>
              <a:cs typeface="Arial"/>
              <a:sym typeface="Arial"/>
            </a:endParaRPr>
          </a:p>
        </p:txBody>
      </p:sp>
      <p:sp>
        <p:nvSpPr>
          <p:cNvPr id="1389" name="Google Shape;1389;p17"/>
          <p:cNvSpPr txBox="1"/>
          <p:nvPr/>
        </p:nvSpPr>
        <p:spPr>
          <a:xfrm>
            <a:off x="4491940" y="4517589"/>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Growing core ontology</a:t>
            </a:r>
            <a:endParaRPr b="0" i="0" sz="1400" u="none" cap="none" strike="noStrike">
              <a:solidFill>
                <a:srgbClr val="000000"/>
              </a:solidFill>
              <a:latin typeface="Arial"/>
              <a:ea typeface="Arial"/>
              <a:cs typeface="Arial"/>
              <a:sym typeface="Arial"/>
            </a:endParaRPr>
          </a:p>
        </p:txBody>
      </p:sp>
      <p:sp>
        <p:nvSpPr>
          <p:cNvPr id="1390" name="Google Shape;1390;p17"/>
          <p:cNvSpPr txBox="1"/>
          <p:nvPr/>
        </p:nvSpPr>
        <p:spPr>
          <a:xfrm>
            <a:off x="4491940" y="4787691"/>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Reuse validated IRIs</a:t>
            </a:r>
            <a:endParaRPr b="0" i="0" sz="1400" u="none" cap="none" strike="noStrike">
              <a:solidFill>
                <a:srgbClr val="000000"/>
              </a:solidFill>
              <a:latin typeface="Arial"/>
              <a:ea typeface="Arial"/>
              <a:cs typeface="Arial"/>
              <a:sym typeface="Arial"/>
            </a:endParaRPr>
          </a:p>
        </p:txBody>
      </p:sp>
      <p:sp>
        <p:nvSpPr>
          <p:cNvPr id="1391" name="Google Shape;1391;p17"/>
          <p:cNvSpPr/>
          <p:nvPr/>
        </p:nvSpPr>
        <p:spPr>
          <a:xfrm>
            <a:off x="7596625" y="3402475"/>
            <a:ext cx="1335000" cy="1321500"/>
          </a:xfrm>
          <a:prstGeom prst="roundRect">
            <a:avLst>
              <a:gd fmla="val 16667" name="adj"/>
            </a:avLst>
          </a:prstGeom>
          <a:solidFill>
            <a:srgbClr val="F3F5F4"/>
          </a:solidFill>
          <a:ln cap="flat" cmpd="sng" w="165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2" name="Google Shape;1392;p17"/>
          <p:cNvSpPr txBox="1"/>
          <p:nvPr/>
        </p:nvSpPr>
        <p:spPr>
          <a:xfrm>
            <a:off x="7669765" y="3192158"/>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(f)</a:t>
            </a:r>
            <a:endParaRPr b="0" i="0" sz="1400" u="none" cap="none" strike="noStrike">
              <a:solidFill>
                <a:srgbClr val="000000"/>
              </a:solidFill>
              <a:latin typeface="Arial"/>
              <a:ea typeface="Arial"/>
              <a:cs typeface="Arial"/>
              <a:sym typeface="Arial"/>
            </a:endParaRPr>
          </a:p>
        </p:txBody>
      </p:sp>
      <p:sp>
        <p:nvSpPr>
          <p:cNvPr id="1393" name="Google Shape;1393;p17"/>
          <p:cNvSpPr txBox="1"/>
          <p:nvPr/>
        </p:nvSpPr>
        <p:spPr>
          <a:xfrm>
            <a:off x="7678909" y="3521341"/>
            <a:ext cx="11703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Gen-LLM</a:t>
            </a:r>
            <a:endParaRPr b="0" i="0" sz="1400" u="none" cap="none" strike="noStrike">
              <a:solidFill>
                <a:srgbClr val="000000"/>
              </a:solidFill>
              <a:latin typeface="Arial"/>
              <a:ea typeface="Arial"/>
              <a:cs typeface="Arial"/>
              <a:sym typeface="Arial"/>
            </a:endParaRPr>
          </a:p>
        </p:txBody>
      </p:sp>
      <p:sp>
        <p:nvSpPr>
          <p:cNvPr id="1394" name="Google Shape;1394;p17"/>
          <p:cNvSpPr txBox="1"/>
          <p:nvPr/>
        </p:nvSpPr>
        <p:spPr>
          <a:xfrm>
            <a:off x="7688053" y="3795661"/>
            <a:ext cx="115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creates ΔOᵣ</a:t>
            </a:r>
            <a:endParaRPr b="0" i="0" sz="1400" u="none" cap="none" strike="noStrike">
              <a:solidFill>
                <a:srgbClr val="000000"/>
              </a:solidFill>
              <a:latin typeface="Arial"/>
              <a:ea typeface="Arial"/>
              <a:cs typeface="Arial"/>
              <a:sym typeface="Arial"/>
            </a:endParaRPr>
          </a:p>
        </p:txBody>
      </p:sp>
      <p:sp>
        <p:nvSpPr>
          <p:cNvPr id="1395" name="Google Shape;1395;p17"/>
          <p:cNvSpPr txBox="1"/>
          <p:nvPr/>
        </p:nvSpPr>
        <p:spPr>
          <a:xfrm>
            <a:off x="9032221" y="3384182"/>
            <a:ext cx="7131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(g) ΔOᵣ</a:t>
            </a:r>
            <a:endParaRPr b="0" i="0" sz="1400" u="none" cap="none" strike="noStrike">
              <a:solidFill>
                <a:srgbClr val="000000"/>
              </a:solidFill>
              <a:latin typeface="Arial"/>
              <a:ea typeface="Arial"/>
              <a:cs typeface="Arial"/>
              <a:sym typeface="Arial"/>
            </a:endParaRPr>
          </a:p>
        </p:txBody>
      </p:sp>
      <p:sp>
        <p:nvSpPr>
          <p:cNvPr id="1396" name="Google Shape;1396;p17"/>
          <p:cNvSpPr/>
          <p:nvPr/>
        </p:nvSpPr>
        <p:spPr>
          <a:xfrm>
            <a:off x="9859849" y="3237878"/>
            <a:ext cx="2121300" cy="1115700"/>
          </a:xfrm>
          <a:prstGeom prst="roundRect">
            <a:avLst>
              <a:gd fmla="val 16667" name="adj"/>
            </a:avLst>
          </a:prstGeom>
          <a:solidFill>
            <a:srgbClr val="F3F5F4"/>
          </a:solidFill>
          <a:ln cap="flat" cmpd="sng" w="165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7" name="Google Shape;1397;p17"/>
          <p:cNvSpPr txBox="1"/>
          <p:nvPr/>
        </p:nvSpPr>
        <p:spPr>
          <a:xfrm>
            <a:off x="9933001" y="3027566"/>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(h)</a:t>
            </a:r>
            <a:endParaRPr b="0" i="0" sz="1400" u="none" cap="none" strike="noStrike">
              <a:solidFill>
                <a:srgbClr val="000000"/>
              </a:solidFill>
              <a:latin typeface="Arial"/>
              <a:ea typeface="Arial"/>
              <a:cs typeface="Arial"/>
              <a:sym typeface="Arial"/>
            </a:endParaRPr>
          </a:p>
        </p:txBody>
      </p:sp>
      <p:sp>
        <p:nvSpPr>
          <p:cNvPr id="1398" name="Google Shape;1398;p17"/>
          <p:cNvSpPr txBox="1"/>
          <p:nvPr/>
        </p:nvSpPr>
        <p:spPr>
          <a:xfrm>
            <a:off x="9942145" y="3272233"/>
            <a:ext cx="19569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Validate + refine</a:t>
            </a:r>
            <a:endParaRPr b="0" i="0" sz="1400" u="none" cap="none" strike="noStrike">
              <a:solidFill>
                <a:srgbClr val="000000"/>
              </a:solidFill>
              <a:latin typeface="Arial"/>
              <a:ea typeface="Arial"/>
              <a:cs typeface="Arial"/>
              <a:sym typeface="Arial"/>
            </a:endParaRPr>
          </a:p>
        </p:txBody>
      </p:sp>
      <p:sp>
        <p:nvSpPr>
          <p:cNvPr id="1399" name="Google Shape;1399;p17"/>
          <p:cNvSpPr txBox="1"/>
          <p:nvPr/>
        </p:nvSpPr>
        <p:spPr>
          <a:xfrm>
            <a:off x="9951289" y="3546553"/>
            <a:ext cx="19386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Judge-LLM + rules</a:t>
            </a:r>
            <a:endParaRPr b="0" i="0" sz="1400" u="none" cap="none" strike="noStrike">
              <a:solidFill>
                <a:srgbClr val="000000"/>
              </a:solidFill>
              <a:latin typeface="Arial"/>
              <a:ea typeface="Arial"/>
              <a:cs typeface="Arial"/>
              <a:sym typeface="Arial"/>
            </a:endParaRPr>
          </a:p>
        </p:txBody>
      </p:sp>
      <p:sp>
        <p:nvSpPr>
          <p:cNvPr id="1400" name="Google Shape;1400;p17"/>
          <p:cNvSpPr/>
          <p:nvPr/>
        </p:nvSpPr>
        <p:spPr>
          <a:xfrm>
            <a:off x="9896425" y="4854652"/>
            <a:ext cx="2084700" cy="786300"/>
          </a:xfrm>
          <a:prstGeom prst="roundRect">
            <a:avLst>
              <a:gd fmla="val 16667" name="adj"/>
            </a:avLst>
          </a:prstGeom>
          <a:solidFill>
            <a:srgbClr val="DDE5E1"/>
          </a:solidFill>
          <a:ln cap="flat" cmpd="sng" w="292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01" name="Google Shape;1401;p17"/>
          <p:cNvSpPr txBox="1"/>
          <p:nvPr/>
        </p:nvSpPr>
        <p:spPr>
          <a:xfrm>
            <a:off x="9969577" y="4609123"/>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(i)</a:t>
            </a:r>
            <a:endParaRPr b="0" i="0" sz="1400" u="none" cap="none" strike="noStrike">
              <a:solidFill>
                <a:srgbClr val="000000"/>
              </a:solidFill>
              <a:latin typeface="Arial"/>
              <a:ea typeface="Arial"/>
              <a:cs typeface="Arial"/>
              <a:sym typeface="Arial"/>
            </a:endParaRPr>
          </a:p>
        </p:txBody>
      </p:sp>
      <p:sp>
        <p:nvSpPr>
          <p:cNvPr id="1402" name="Google Shape;1402;p17"/>
          <p:cNvSpPr txBox="1"/>
          <p:nvPr/>
        </p:nvSpPr>
        <p:spPr>
          <a:xfrm>
            <a:off x="9978721" y="4973523"/>
            <a:ext cx="19203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Integrate ΔOᵣ</a:t>
            </a:r>
            <a:endParaRPr b="0" i="0" sz="1400" u="none" cap="none" strike="noStrike">
              <a:solidFill>
                <a:srgbClr val="000000"/>
              </a:solidFill>
              <a:latin typeface="Arial"/>
              <a:ea typeface="Arial"/>
              <a:cs typeface="Arial"/>
              <a:sym typeface="Arial"/>
            </a:endParaRPr>
          </a:p>
        </p:txBody>
      </p:sp>
      <p:sp>
        <p:nvSpPr>
          <p:cNvPr id="1403" name="Google Shape;1403;p17"/>
          <p:cNvSpPr txBox="1"/>
          <p:nvPr/>
        </p:nvSpPr>
        <p:spPr>
          <a:xfrm>
            <a:off x="9987865" y="5247843"/>
            <a:ext cx="190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Core Oₜ</a:t>
            </a:r>
            <a:endParaRPr b="0" i="0" sz="1400" u="none" cap="none" strike="noStrike">
              <a:solidFill>
                <a:srgbClr val="000000"/>
              </a:solidFill>
              <a:latin typeface="Arial"/>
              <a:ea typeface="Arial"/>
              <a:cs typeface="Arial"/>
              <a:sym typeface="Arial"/>
            </a:endParaRPr>
          </a:p>
        </p:txBody>
      </p:sp>
      <p:sp>
        <p:nvSpPr>
          <p:cNvPr id="1404" name="Google Shape;1404;p17"/>
          <p:cNvSpPr txBox="1"/>
          <p:nvPr/>
        </p:nvSpPr>
        <p:spPr>
          <a:xfrm>
            <a:off x="9194034" y="5750441"/>
            <a:ext cx="1737300" cy="1923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50"/>
              <a:buFont typeface="Arial"/>
              <a:buNone/>
            </a:pPr>
            <a:r>
              <a:rPr b="1" i="0" lang="en-US" sz="1250" u="none" cap="none" strike="noStrike">
                <a:solidFill>
                  <a:srgbClr val="177A55"/>
                </a:solidFill>
                <a:latin typeface="Calibri"/>
                <a:ea typeface="Calibri"/>
                <a:cs typeface="Calibri"/>
                <a:sym typeface="Calibri"/>
              </a:rPr>
              <a:t>Oₜ </a:t>
            </a:r>
            <a:endParaRPr b="0" i="0" sz="1400" u="none" cap="none" strike="noStrike">
              <a:solidFill>
                <a:srgbClr val="000000"/>
              </a:solidFill>
              <a:latin typeface="Arial"/>
              <a:ea typeface="Arial"/>
              <a:cs typeface="Arial"/>
              <a:sym typeface="Arial"/>
            </a:endParaRPr>
          </a:p>
        </p:txBody>
      </p:sp>
      <p:sp>
        <p:nvSpPr>
          <p:cNvPr id="1405" name="Google Shape;1405;p17"/>
          <p:cNvSpPr/>
          <p:nvPr/>
        </p:nvSpPr>
        <p:spPr>
          <a:xfrm>
            <a:off x="5429812" y="5214785"/>
            <a:ext cx="164700" cy="146400"/>
          </a:xfrm>
          <a:prstGeom prst="triangle">
            <a:avLst>
              <a:gd fmla="val 50000" name="adj"/>
            </a:avLst>
          </a:prstGeom>
          <a:solidFill>
            <a:srgbClr val="177A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406" name="Google Shape;1406;p17"/>
          <p:cNvCxnSpPr/>
          <p:nvPr/>
        </p:nvCxnSpPr>
        <p:spPr>
          <a:xfrm>
            <a:off x="3280056" y="3446462"/>
            <a:ext cx="100500" cy="0"/>
          </a:xfrm>
          <a:prstGeom prst="straightConnector1">
            <a:avLst/>
          </a:prstGeom>
          <a:noFill/>
          <a:ln cap="flat" cmpd="sng" w="29200">
            <a:solidFill>
              <a:srgbClr val="3A7D8C"/>
            </a:solidFill>
            <a:prstDash val="solid"/>
            <a:miter lim="80"/>
            <a:headEnd len="sm" w="sm" type="none"/>
            <a:tailEnd len="sm" w="sm" type="none"/>
          </a:ln>
        </p:spPr>
      </p:cxnSp>
      <p:sp>
        <p:nvSpPr>
          <p:cNvPr id="1407" name="Google Shape;1407;p17"/>
          <p:cNvSpPr/>
          <p:nvPr/>
        </p:nvSpPr>
        <p:spPr>
          <a:xfrm>
            <a:off x="1838868" y="3160059"/>
            <a:ext cx="1444800" cy="694800"/>
          </a:xfrm>
          <a:prstGeom prst="roundRect">
            <a:avLst>
              <a:gd fmla="val 16667" name="adj"/>
            </a:avLst>
          </a:prstGeom>
          <a:solidFill>
            <a:srgbClr val="F3F5F4"/>
          </a:solidFill>
          <a:ln cap="flat" cmpd="sng" w="165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08" name="Google Shape;1408;p17"/>
          <p:cNvSpPr txBox="1"/>
          <p:nvPr/>
        </p:nvSpPr>
        <p:spPr>
          <a:xfrm>
            <a:off x="1921164" y="3278931"/>
            <a:ext cx="12801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Iterate</a:t>
            </a:r>
            <a:endParaRPr b="0" i="0" sz="1400" u="none" cap="none" strike="noStrike">
              <a:solidFill>
                <a:srgbClr val="000000"/>
              </a:solidFill>
              <a:latin typeface="Arial"/>
              <a:ea typeface="Arial"/>
              <a:cs typeface="Arial"/>
              <a:sym typeface="Arial"/>
            </a:endParaRPr>
          </a:p>
        </p:txBody>
      </p:sp>
      <p:sp>
        <p:nvSpPr>
          <p:cNvPr id="1409" name="Google Shape;1409;p17"/>
          <p:cNvSpPr txBox="1"/>
          <p:nvPr/>
        </p:nvSpPr>
        <p:spPr>
          <a:xfrm>
            <a:off x="1930308" y="3553251"/>
            <a:ext cx="12618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FK-BFS</a:t>
            </a:r>
            <a:endParaRPr b="0" i="0" sz="1400" u="none" cap="none" strike="noStrike">
              <a:solidFill>
                <a:srgbClr val="000000"/>
              </a:solidFill>
              <a:latin typeface="Arial"/>
              <a:ea typeface="Arial"/>
              <a:cs typeface="Arial"/>
              <a:sym typeface="Arial"/>
            </a:endParaRPr>
          </a:p>
        </p:txBody>
      </p:sp>
      <p:cxnSp>
        <p:nvCxnSpPr>
          <p:cNvPr id="1410" name="Google Shape;1410;p17"/>
          <p:cNvCxnSpPr/>
          <p:nvPr/>
        </p:nvCxnSpPr>
        <p:spPr>
          <a:xfrm>
            <a:off x="3276349" y="3608115"/>
            <a:ext cx="118800" cy="0"/>
          </a:xfrm>
          <a:prstGeom prst="straightConnector1">
            <a:avLst/>
          </a:prstGeom>
          <a:noFill/>
          <a:ln cap="flat" cmpd="sng" w="26650">
            <a:solidFill>
              <a:srgbClr val="3A7D8C"/>
            </a:solidFill>
            <a:prstDash val="solid"/>
            <a:miter lim="80"/>
            <a:headEnd len="sm" w="sm" type="none"/>
            <a:tailEnd len="sm" w="sm" type="none"/>
          </a:ln>
        </p:spPr>
      </p:cxnSp>
      <p:cxnSp>
        <p:nvCxnSpPr>
          <p:cNvPr id="1411" name="Google Shape;1411;p17"/>
          <p:cNvCxnSpPr/>
          <p:nvPr/>
        </p:nvCxnSpPr>
        <p:spPr>
          <a:xfrm>
            <a:off x="3657665" y="2199459"/>
            <a:ext cx="265200" cy="0"/>
          </a:xfrm>
          <a:prstGeom prst="straightConnector1">
            <a:avLst/>
          </a:prstGeom>
          <a:noFill/>
          <a:ln cap="flat" cmpd="sng" w="29200">
            <a:solidFill>
              <a:srgbClr val="3A7D8C"/>
            </a:solidFill>
            <a:prstDash val="solid"/>
            <a:miter lim="80"/>
            <a:headEnd len="sm" w="sm" type="none"/>
            <a:tailEnd len="sm" w="sm" type="none"/>
          </a:ln>
        </p:spPr>
      </p:cxnSp>
      <p:cxnSp>
        <p:nvCxnSpPr>
          <p:cNvPr id="1412" name="Google Shape;1412;p17"/>
          <p:cNvCxnSpPr/>
          <p:nvPr/>
        </p:nvCxnSpPr>
        <p:spPr>
          <a:xfrm>
            <a:off x="6144772" y="2181631"/>
            <a:ext cx="1874400" cy="0"/>
          </a:xfrm>
          <a:prstGeom prst="straightConnector1">
            <a:avLst/>
          </a:prstGeom>
          <a:noFill/>
          <a:ln cap="flat" cmpd="sng" w="29200">
            <a:solidFill>
              <a:srgbClr val="3A7D8C"/>
            </a:solidFill>
            <a:prstDash val="solid"/>
            <a:miter lim="80"/>
            <a:headEnd len="sm" w="sm" type="none"/>
            <a:tailEnd len="sm" w="sm" type="none"/>
          </a:ln>
        </p:spPr>
      </p:cxnSp>
      <p:cxnSp>
        <p:nvCxnSpPr>
          <p:cNvPr id="1413" name="Google Shape;1413;p17"/>
          <p:cNvCxnSpPr/>
          <p:nvPr/>
        </p:nvCxnSpPr>
        <p:spPr>
          <a:xfrm rot="10800000">
            <a:off x="7017019" y="5982679"/>
            <a:ext cx="1956900" cy="0"/>
          </a:xfrm>
          <a:prstGeom prst="straightConnector1">
            <a:avLst/>
          </a:prstGeom>
          <a:noFill/>
          <a:ln cap="flat" cmpd="sng" w="31750">
            <a:solidFill>
              <a:srgbClr val="177A55"/>
            </a:solidFill>
            <a:prstDash val="solid"/>
            <a:miter lim="80"/>
            <a:headEnd len="sm" w="sm" type="none"/>
            <a:tailEnd len="sm" w="sm" type="none"/>
          </a:ln>
        </p:spPr>
      </p:cxnSp>
      <p:cxnSp>
        <p:nvCxnSpPr>
          <p:cNvPr id="1414" name="Google Shape;1414;p17"/>
          <p:cNvCxnSpPr/>
          <p:nvPr/>
        </p:nvCxnSpPr>
        <p:spPr>
          <a:xfrm rot="10800000">
            <a:off x="5504959" y="5982679"/>
            <a:ext cx="1956900" cy="0"/>
          </a:xfrm>
          <a:prstGeom prst="straightConnector1">
            <a:avLst/>
          </a:prstGeom>
          <a:noFill/>
          <a:ln cap="flat" cmpd="sng" w="31750">
            <a:solidFill>
              <a:srgbClr val="177A55"/>
            </a:solidFill>
            <a:prstDash val="solid"/>
            <a:miter lim="80"/>
            <a:headEnd len="sm" w="sm" type="none"/>
            <a:tailEnd len="sm" w="sm" type="none"/>
          </a:ln>
        </p:spPr>
      </p:cxnSp>
      <p:pic>
        <p:nvPicPr>
          <p:cNvPr id="1415" name="Google Shape;1415;p17" title="graph_checks_icon.png"/>
          <p:cNvPicPr preferRelativeResize="0"/>
          <p:nvPr/>
        </p:nvPicPr>
        <p:blipFill rotWithShape="1">
          <a:blip r:embed="rId3">
            <a:alphaModFix/>
          </a:blip>
          <a:srcRect b="19469" l="4324" r="13635" t="18031"/>
          <a:stretch/>
        </p:blipFill>
        <p:spPr>
          <a:xfrm>
            <a:off x="11109875" y="3858152"/>
            <a:ext cx="528134" cy="402300"/>
          </a:xfrm>
          <a:prstGeom prst="rect">
            <a:avLst/>
          </a:prstGeom>
          <a:noFill/>
          <a:ln>
            <a:noFill/>
          </a:ln>
        </p:spPr>
      </p:pic>
      <p:pic>
        <p:nvPicPr>
          <p:cNvPr id="1416" name="Google Shape;1416;p17" title="judge_llm_icon.png"/>
          <p:cNvPicPr preferRelativeResize="0"/>
          <p:nvPr/>
        </p:nvPicPr>
        <p:blipFill rotWithShape="1">
          <a:blip r:embed="rId4">
            <a:alphaModFix/>
          </a:blip>
          <a:srcRect b="12651" l="17110" r="7384" t="12532"/>
          <a:stretch/>
        </p:blipFill>
        <p:spPr>
          <a:xfrm>
            <a:off x="10278909" y="3774189"/>
            <a:ext cx="528124" cy="523220"/>
          </a:xfrm>
          <a:prstGeom prst="rect">
            <a:avLst/>
          </a:prstGeom>
          <a:noFill/>
          <a:ln>
            <a:noFill/>
          </a:ln>
        </p:spPr>
      </p:pic>
      <p:pic>
        <p:nvPicPr>
          <p:cNvPr id="1417" name="Google Shape;1417;p17" title="Ontology Taxonomy Documentation Icons.png"/>
          <p:cNvPicPr preferRelativeResize="0"/>
          <p:nvPr/>
        </p:nvPicPr>
        <p:blipFill rotWithShape="1">
          <a:blip r:embed="rId5">
            <a:alphaModFix/>
          </a:blip>
          <a:srcRect b="14185" l="36225" r="31825" t="16211"/>
          <a:stretch/>
        </p:blipFill>
        <p:spPr>
          <a:xfrm>
            <a:off x="6431317" y="3822390"/>
            <a:ext cx="594806" cy="475499"/>
          </a:xfrm>
          <a:prstGeom prst="rect">
            <a:avLst/>
          </a:prstGeom>
          <a:noFill/>
          <a:ln>
            <a:noFill/>
          </a:ln>
        </p:spPr>
      </p:pic>
      <p:pic>
        <p:nvPicPr>
          <p:cNvPr id="1418" name="Google Shape;1418;p17" title="Ontology Taxonomy Documentation Icons.png"/>
          <p:cNvPicPr preferRelativeResize="0"/>
          <p:nvPr/>
        </p:nvPicPr>
        <p:blipFill rotWithShape="1">
          <a:blip r:embed="rId5">
            <a:alphaModFix/>
          </a:blip>
          <a:srcRect b="14185" l="2070" r="65981" t="16211"/>
          <a:stretch/>
        </p:blipFill>
        <p:spPr>
          <a:xfrm>
            <a:off x="6385539" y="3137260"/>
            <a:ext cx="594801" cy="432155"/>
          </a:xfrm>
          <a:prstGeom prst="rect">
            <a:avLst/>
          </a:prstGeom>
          <a:noFill/>
          <a:ln>
            <a:noFill/>
          </a:ln>
        </p:spPr>
      </p:pic>
      <p:pic>
        <p:nvPicPr>
          <p:cNvPr id="1419" name="Google Shape;1419;p17" title="Ontology Taxonomy Documentation Icons.png"/>
          <p:cNvPicPr preferRelativeResize="0"/>
          <p:nvPr/>
        </p:nvPicPr>
        <p:blipFill rotWithShape="1">
          <a:blip r:embed="rId5">
            <a:alphaModFix/>
          </a:blip>
          <a:srcRect b="7505" l="70326" r="314" t="10116"/>
          <a:stretch/>
        </p:blipFill>
        <p:spPr>
          <a:xfrm>
            <a:off x="6452911" y="4535008"/>
            <a:ext cx="528123" cy="494162"/>
          </a:xfrm>
          <a:prstGeom prst="rect">
            <a:avLst/>
          </a:prstGeom>
          <a:noFill/>
          <a:ln>
            <a:noFill/>
          </a:ln>
        </p:spPr>
      </p:pic>
      <p:pic>
        <p:nvPicPr>
          <p:cNvPr id="1420" name="Google Shape;1420;p17" title="LLM Neural Brain Icon.png"/>
          <p:cNvPicPr preferRelativeResize="0"/>
          <p:nvPr/>
        </p:nvPicPr>
        <p:blipFill rotWithShape="1">
          <a:blip r:embed="rId6">
            <a:alphaModFix/>
          </a:blip>
          <a:srcRect b="14226" l="16398" r="17214" t="12218"/>
          <a:stretch/>
        </p:blipFill>
        <p:spPr>
          <a:xfrm>
            <a:off x="7941825" y="4070998"/>
            <a:ext cx="644449" cy="6036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5" name="Shape 1425"/>
        <p:cNvGrpSpPr/>
        <p:nvPr/>
      </p:nvGrpSpPr>
      <p:grpSpPr>
        <a:xfrm>
          <a:off x="0" y="0"/>
          <a:ext cx="0" cy="0"/>
          <a:chOff x="0" y="0"/>
          <a:chExt cx="0" cy="0"/>
        </a:xfrm>
      </p:grpSpPr>
      <p:sp>
        <p:nvSpPr>
          <p:cNvPr id="1426" name="Google Shape;1426;h547f90b031e64a91_0_112"/>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lang="en-US">
                <a:solidFill>
                  <a:srgbClr val="0B6E4F"/>
                </a:solidFill>
                <a:latin typeface="Consolas"/>
                <a:ea typeface="Consolas"/>
                <a:cs typeface="Consolas"/>
                <a:sym typeface="Consolas"/>
              </a:rPr>
              <a:t>EVALUATION</a:t>
            </a:r>
            <a:endParaRPr b="0" i="0" sz="1400" u="none" cap="none" strike="noStrike">
              <a:solidFill>
                <a:srgbClr val="000000"/>
              </a:solidFill>
              <a:latin typeface="Arial"/>
              <a:ea typeface="Arial"/>
              <a:cs typeface="Arial"/>
              <a:sym typeface="Arial"/>
            </a:endParaRPr>
          </a:p>
        </p:txBody>
      </p:sp>
      <p:sp>
        <p:nvSpPr>
          <p:cNvPr id="1427" name="Google Shape;1427;h547f90b031e64a91_0_112"/>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Does the method work beyond our running example?</a:t>
            </a:r>
            <a:endParaRPr b="0" i="0" sz="1400" u="none" cap="none" strike="noStrike">
              <a:solidFill>
                <a:srgbClr val="000000"/>
              </a:solidFill>
              <a:latin typeface="Arial"/>
              <a:ea typeface="Arial"/>
              <a:cs typeface="Arial"/>
              <a:sym typeface="Arial"/>
            </a:endParaRPr>
          </a:p>
        </p:txBody>
      </p:sp>
      <p:sp>
        <p:nvSpPr>
          <p:cNvPr id="1428" name="Google Shape;1428;h547f90b031e64a91_0_112"/>
          <p:cNvSpPr txBox="1"/>
          <p:nvPr/>
        </p:nvSpPr>
        <p:spPr>
          <a:xfrm>
            <a:off x="795528" y="1397967"/>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databases, </a:t>
            </a: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generator models, </a:t>
            </a:r>
            <a:r>
              <a:rPr b="1" i="0" lang="en-US" sz="1600" u="none" cap="none" strike="noStrike">
                <a:solidFill>
                  <a:srgbClr val="5B6770"/>
                </a:solidFill>
                <a:latin typeface="Calibri"/>
                <a:ea typeface="Calibri"/>
                <a:cs typeface="Calibri"/>
                <a:sym typeface="Calibri"/>
              </a:rPr>
              <a:t>four</a:t>
            </a:r>
            <a:r>
              <a:rPr b="0" i="0" lang="en-US" sz="1600" u="none" cap="none" strike="noStrike">
                <a:solidFill>
                  <a:srgbClr val="5B6770"/>
                </a:solidFill>
                <a:latin typeface="Calibri"/>
                <a:ea typeface="Calibri"/>
                <a:cs typeface="Calibri"/>
                <a:sym typeface="Calibri"/>
              </a:rPr>
              <a:t> methods, evaluated from complementary </a:t>
            </a:r>
            <a:r>
              <a:rPr b="1" i="0" lang="en-US" sz="1600" u="none" cap="none" strike="noStrike">
                <a:solidFill>
                  <a:srgbClr val="5B6770"/>
                </a:solidFill>
                <a:latin typeface="Calibri"/>
                <a:ea typeface="Calibri"/>
                <a:cs typeface="Calibri"/>
                <a:sym typeface="Calibri"/>
              </a:rPr>
              <a:t>angles</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429" name="Google Shape;1429;h547f90b031e64a91_0_112"/>
          <p:cNvSpPr/>
          <p:nvPr/>
        </p:nvSpPr>
        <p:spPr>
          <a:xfrm>
            <a:off x="8321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0" name="Google Shape;1430;h547f90b031e64a91_0_112"/>
          <p:cNvSpPr/>
          <p:nvPr/>
        </p:nvSpPr>
        <p:spPr>
          <a:xfrm>
            <a:off x="832104" y="1910031"/>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1" name="Google Shape;1431;h547f90b031e64a91_0_112"/>
          <p:cNvSpPr txBox="1"/>
          <p:nvPr/>
        </p:nvSpPr>
        <p:spPr>
          <a:xfrm>
            <a:off x="10241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LIVER CANCER</a:t>
            </a:r>
            <a:endParaRPr b="0" i="0" sz="1400" u="none" cap="none" strike="noStrike">
              <a:solidFill>
                <a:srgbClr val="000000"/>
              </a:solidFill>
              <a:latin typeface="Arial"/>
              <a:ea typeface="Arial"/>
              <a:cs typeface="Arial"/>
              <a:sym typeface="Arial"/>
            </a:endParaRPr>
          </a:p>
        </p:txBody>
      </p:sp>
      <p:sp>
        <p:nvSpPr>
          <p:cNvPr id="1432" name="Google Shape;1432;h547f90b031e64a91_0_112"/>
          <p:cNvSpPr txBox="1"/>
          <p:nvPr/>
        </p:nvSpPr>
        <p:spPr>
          <a:xfrm>
            <a:off x="10241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16 tables  ·  350 columns</a:t>
            </a:r>
            <a:endParaRPr b="0" i="0" sz="1400" u="none" cap="none" strike="noStrike">
              <a:solidFill>
                <a:srgbClr val="000000"/>
              </a:solidFill>
              <a:latin typeface="Arial"/>
              <a:ea typeface="Arial"/>
              <a:cs typeface="Arial"/>
              <a:sym typeface="Arial"/>
            </a:endParaRPr>
          </a:p>
        </p:txBody>
      </p:sp>
      <p:sp>
        <p:nvSpPr>
          <p:cNvPr id="1433" name="Google Shape;1433;h547f90b031e64a91_0_112"/>
          <p:cNvSpPr txBox="1"/>
          <p:nvPr/>
        </p:nvSpPr>
        <p:spPr>
          <a:xfrm>
            <a:off x="1024128" y="275127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specialist clinical registry </a:t>
            </a:r>
            <a:endParaRPr b="0" i="0" sz="1400" u="none" cap="none" strike="noStrike">
              <a:solidFill>
                <a:srgbClr val="000000"/>
              </a:solidFill>
              <a:latin typeface="Arial"/>
              <a:ea typeface="Arial"/>
              <a:cs typeface="Arial"/>
              <a:sym typeface="Arial"/>
            </a:endParaRPr>
          </a:p>
        </p:txBody>
      </p:sp>
      <p:sp>
        <p:nvSpPr>
          <p:cNvPr id="1434" name="Google Shape;1434;h547f90b031e64a91_0_112"/>
          <p:cNvSpPr/>
          <p:nvPr/>
        </p:nvSpPr>
        <p:spPr>
          <a:xfrm>
            <a:off x="44897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5" name="Google Shape;1435;h547f90b031e64a91_0_112"/>
          <p:cNvSpPr/>
          <p:nvPr/>
        </p:nvSpPr>
        <p:spPr>
          <a:xfrm>
            <a:off x="4489704" y="1910031"/>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6" name="Google Shape;1436;h547f90b031e64a91_0_112"/>
          <p:cNvSpPr txBox="1"/>
          <p:nvPr/>
        </p:nvSpPr>
        <p:spPr>
          <a:xfrm>
            <a:off x="46817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eICU-CRD</a:t>
            </a:r>
            <a:endParaRPr b="0" i="0" sz="1400" u="none" cap="none" strike="noStrike">
              <a:solidFill>
                <a:srgbClr val="000000"/>
              </a:solidFill>
              <a:latin typeface="Arial"/>
              <a:ea typeface="Arial"/>
              <a:cs typeface="Arial"/>
              <a:sym typeface="Arial"/>
            </a:endParaRPr>
          </a:p>
        </p:txBody>
      </p:sp>
      <p:sp>
        <p:nvSpPr>
          <p:cNvPr id="1437" name="Google Shape;1437;h547f90b031e64a91_0_112"/>
          <p:cNvSpPr txBox="1"/>
          <p:nvPr/>
        </p:nvSpPr>
        <p:spPr>
          <a:xfrm>
            <a:off x="46817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31 tables  ·  559 columns</a:t>
            </a:r>
            <a:endParaRPr b="0" i="0" sz="1400" u="none" cap="none" strike="noStrike">
              <a:solidFill>
                <a:srgbClr val="000000"/>
              </a:solidFill>
              <a:latin typeface="Arial"/>
              <a:ea typeface="Arial"/>
              <a:cs typeface="Arial"/>
              <a:sym typeface="Arial"/>
            </a:endParaRPr>
          </a:p>
        </p:txBody>
      </p:sp>
      <p:sp>
        <p:nvSpPr>
          <p:cNvPr id="1438" name="Google Shape;1438;h547f90b031e64a91_0_112"/>
          <p:cNvSpPr txBox="1"/>
          <p:nvPr/>
        </p:nvSpPr>
        <p:spPr>
          <a:xfrm>
            <a:off x="4681728" y="2751279"/>
            <a:ext cx="2999100" cy="4797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large ICU schema </a:t>
            </a:r>
            <a:endParaRPr/>
          </a:p>
          <a:p>
            <a:pPr indent="0" lvl="0" marL="0" marR="0" rtl="0" algn="l">
              <a:lnSpc>
                <a:spcPct val="105000"/>
              </a:lnSpc>
              <a:spcBef>
                <a:spcPts val="0"/>
              </a:spcBef>
              <a:spcAft>
                <a:spcPts val="0"/>
              </a:spcAft>
              <a:buClr>
                <a:srgbClr val="000000"/>
              </a:buClr>
              <a:buSzPts val="1520"/>
              <a:buFont typeface="Arial"/>
              <a:buNone/>
            </a:pPr>
            <a:r>
              <a:t/>
            </a:r>
            <a:endParaRPr sz="1520">
              <a:solidFill>
                <a:srgbClr val="5B6770"/>
              </a:solidFill>
              <a:latin typeface="Calibri"/>
              <a:ea typeface="Calibri"/>
              <a:cs typeface="Calibri"/>
              <a:sym typeface="Calibri"/>
            </a:endParaRPr>
          </a:p>
        </p:txBody>
      </p:sp>
      <p:sp>
        <p:nvSpPr>
          <p:cNvPr id="1439" name="Google Shape;1439;h547f90b031e64a91_0_112"/>
          <p:cNvSpPr/>
          <p:nvPr/>
        </p:nvSpPr>
        <p:spPr>
          <a:xfrm>
            <a:off x="4694403" y="3180217"/>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PhysioNet </a:t>
            </a:r>
            <a:r>
              <a:rPr b="0" i="0" lang="en-US" sz="1000" u="none" cap="none" strike="noStrike">
                <a:solidFill>
                  <a:srgbClr val="5B6770"/>
                </a:solidFill>
                <a:latin typeface="Calibri"/>
                <a:ea typeface="Calibri"/>
                <a:cs typeface="Calibri"/>
                <a:sym typeface="Calibri"/>
              </a:rPr>
              <a:t>[Goldberger et al. 2000]  </a:t>
            </a:r>
            <a:endParaRPr/>
          </a:p>
        </p:txBody>
      </p:sp>
      <p:sp>
        <p:nvSpPr>
          <p:cNvPr id="1440" name="Google Shape;1440;h547f90b031e64a91_0_112"/>
          <p:cNvSpPr/>
          <p:nvPr/>
        </p:nvSpPr>
        <p:spPr>
          <a:xfrm>
            <a:off x="960128" y="3211330"/>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Universitätsklinikum Leipzig</a:t>
            </a:r>
            <a:endParaRPr b="1" sz="1000">
              <a:solidFill>
                <a:srgbClr val="5B677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a:p>
        </p:txBody>
      </p:sp>
      <p:pic>
        <p:nvPicPr>
          <p:cNvPr id="1441" name="Google Shape;1441;h547f90b031e64a91_0_112" title="ChatGPT Image Oct 28, 2026, 02_33_00 PM-2.png"/>
          <p:cNvPicPr preferRelativeResize="0"/>
          <p:nvPr/>
        </p:nvPicPr>
        <p:blipFill>
          <a:blip r:embed="rId3">
            <a:alphaModFix/>
          </a:blip>
          <a:stretch>
            <a:fillRect/>
          </a:stretch>
        </p:blipFill>
        <p:spPr>
          <a:xfrm>
            <a:off x="7070399" y="1910023"/>
            <a:ext cx="830001" cy="830001"/>
          </a:xfrm>
          <a:prstGeom prst="rect">
            <a:avLst/>
          </a:prstGeom>
          <a:noFill/>
          <a:ln>
            <a:noFill/>
          </a:ln>
        </p:spPr>
      </p:pic>
      <p:pic>
        <p:nvPicPr>
          <p:cNvPr id="1442" name="Google Shape;1442;h547f90b031e64a91_0_112" title="ChatGPT Image Oct 28, 2026, 02_32_59 PM-1.png"/>
          <p:cNvPicPr preferRelativeResize="0"/>
          <p:nvPr/>
        </p:nvPicPr>
        <p:blipFill>
          <a:blip r:embed="rId4">
            <a:alphaModFix/>
          </a:blip>
          <a:stretch>
            <a:fillRect/>
          </a:stretch>
        </p:blipFill>
        <p:spPr>
          <a:xfrm>
            <a:off x="3508704" y="1925173"/>
            <a:ext cx="685800" cy="685800"/>
          </a:xfrm>
          <a:prstGeom prst="rect">
            <a:avLst/>
          </a:prstGeom>
          <a:noFill/>
          <a:ln>
            <a:noFill/>
          </a:ln>
        </p:spPr>
      </p:pic>
      <p:sp>
        <p:nvSpPr>
          <p:cNvPr id="1443" name="Google Shape;1443;h547f90b031e64a91_0_112"/>
          <p:cNvSpPr/>
          <p:nvPr/>
        </p:nvSpPr>
        <p:spPr>
          <a:xfrm>
            <a:off x="706925" y="1768850"/>
            <a:ext cx="7292400" cy="1817400"/>
          </a:xfrm>
          <a:prstGeom prst="roundRect">
            <a:avLst>
              <a:gd fmla="val 10000" name="adj"/>
            </a:avLst>
          </a:prstGeom>
          <a:noFill/>
          <a:ln cap="flat" cmpd="sng" w="12700">
            <a:solidFill>
              <a:schemeClr val="accent4"/>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44" name="Google Shape;1444;h547f90b031e64a91_0_112"/>
          <p:cNvSpPr txBox="1"/>
          <p:nvPr/>
        </p:nvSpPr>
        <p:spPr>
          <a:xfrm>
            <a:off x="624725" y="3710825"/>
            <a:ext cx="7357800" cy="2463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600"/>
              <a:buFont typeface="Arial"/>
              <a:buNone/>
            </a:pPr>
            <a:r>
              <a:rPr b="1" lang="en-US" sz="1600">
                <a:solidFill>
                  <a:srgbClr val="5B6770"/>
                </a:solidFill>
                <a:latin typeface="Calibri"/>
                <a:ea typeface="Calibri"/>
                <a:cs typeface="Calibri"/>
                <a:sym typeface="Calibri"/>
              </a:rPr>
              <a:t>Medical Domain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9" name="Shape 1449"/>
        <p:cNvGrpSpPr/>
        <p:nvPr/>
      </p:nvGrpSpPr>
      <p:grpSpPr>
        <a:xfrm>
          <a:off x="0" y="0"/>
          <a:ext cx="0" cy="0"/>
          <a:chOff x="0" y="0"/>
          <a:chExt cx="0" cy="0"/>
        </a:xfrm>
      </p:grpSpPr>
      <p:sp>
        <p:nvSpPr>
          <p:cNvPr id="1450" name="Google Shape;1450;h547f90b031e64a91_0_142"/>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lang="en-US">
                <a:solidFill>
                  <a:srgbClr val="0B6E4F"/>
                </a:solidFill>
                <a:latin typeface="Consolas"/>
                <a:ea typeface="Consolas"/>
                <a:cs typeface="Consolas"/>
                <a:sym typeface="Consolas"/>
              </a:rPr>
              <a:t>EVALUATION</a:t>
            </a:r>
            <a:endParaRPr b="0" i="0" sz="1400" u="none" cap="none" strike="noStrike">
              <a:solidFill>
                <a:srgbClr val="000000"/>
              </a:solidFill>
              <a:latin typeface="Arial"/>
              <a:ea typeface="Arial"/>
              <a:cs typeface="Arial"/>
              <a:sym typeface="Arial"/>
            </a:endParaRPr>
          </a:p>
        </p:txBody>
      </p:sp>
      <p:sp>
        <p:nvSpPr>
          <p:cNvPr id="1451" name="Google Shape;1451;h547f90b031e64a91_0_142"/>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Does the method work beyond our running example?</a:t>
            </a:r>
            <a:endParaRPr b="0" i="0" sz="1400" u="none" cap="none" strike="noStrike">
              <a:solidFill>
                <a:srgbClr val="000000"/>
              </a:solidFill>
              <a:latin typeface="Arial"/>
              <a:ea typeface="Arial"/>
              <a:cs typeface="Arial"/>
              <a:sym typeface="Arial"/>
            </a:endParaRPr>
          </a:p>
        </p:txBody>
      </p:sp>
      <p:sp>
        <p:nvSpPr>
          <p:cNvPr id="1452" name="Google Shape;1452;h547f90b031e64a91_0_142"/>
          <p:cNvSpPr txBox="1"/>
          <p:nvPr/>
        </p:nvSpPr>
        <p:spPr>
          <a:xfrm>
            <a:off x="795528" y="1397967"/>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databases, </a:t>
            </a: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generator models, </a:t>
            </a:r>
            <a:r>
              <a:rPr b="1" i="0" lang="en-US" sz="1600" u="none" cap="none" strike="noStrike">
                <a:solidFill>
                  <a:srgbClr val="5B6770"/>
                </a:solidFill>
                <a:latin typeface="Calibri"/>
                <a:ea typeface="Calibri"/>
                <a:cs typeface="Calibri"/>
                <a:sym typeface="Calibri"/>
              </a:rPr>
              <a:t>four</a:t>
            </a:r>
            <a:r>
              <a:rPr b="0" i="0" lang="en-US" sz="1600" u="none" cap="none" strike="noStrike">
                <a:solidFill>
                  <a:srgbClr val="5B6770"/>
                </a:solidFill>
                <a:latin typeface="Calibri"/>
                <a:ea typeface="Calibri"/>
                <a:cs typeface="Calibri"/>
                <a:sym typeface="Calibri"/>
              </a:rPr>
              <a:t> methods, evaluated from complementary </a:t>
            </a:r>
            <a:r>
              <a:rPr b="1" i="0" lang="en-US" sz="1600" u="none" cap="none" strike="noStrike">
                <a:solidFill>
                  <a:srgbClr val="5B6770"/>
                </a:solidFill>
                <a:latin typeface="Calibri"/>
                <a:ea typeface="Calibri"/>
                <a:cs typeface="Calibri"/>
                <a:sym typeface="Calibri"/>
              </a:rPr>
              <a:t>angles</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453" name="Google Shape;1453;h547f90b031e64a91_0_142"/>
          <p:cNvSpPr/>
          <p:nvPr/>
        </p:nvSpPr>
        <p:spPr>
          <a:xfrm>
            <a:off x="8321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54" name="Google Shape;1454;h547f90b031e64a91_0_142"/>
          <p:cNvSpPr/>
          <p:nvPr/>
        </p:nvSpPr>
        <p:spPr>
          <a:xfrm>
            <a:off x="832104" y="1910031"/>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55" name="Google Shape;1455;h547f90b031e64a91_0_142"/>
          <p:cNvSpPr txBox="1"/>
          <p:nvPr/>
        </p:nvSpPr>
        <p:spPr>
          <a:xfrm>
            <a:off x="10241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LIVER CANCER</a:t>
            </a:r>
            <a:endParaRPr b="0" i="0" sz="1400" u="none" cap="none" strike="noStrike">
              <a:solidFill>
                <a:srgbClr val="000000"/>
              </a:solidFill>
              <a:latin typeface="Arial"/>
              <a:ea typeface="Arial"/>
              <a:cs typeface="Arial"/>
              <a:sym typeface="Arial"/>
            </a:endParaRPr>
          </a:p>
        </p:txBody>
      </p:sp>
      <p:sp>
        <p:nvSpPr>
          <p:cNvPr id="1456" name="Google Shape;1456;h547f90b031e64a91_0_142"/>
          <p:cNvSpPr txBox="1"/>
          <p:nvPr/>
        </p:nvSpPr>
        <p:spPr>
          <a:xfrm>
            <a:off x="10241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16 tables  ·  350 columns</a:t>
            </a:r>
            <a:endParaRPr b="0" i="0" sz="1400" u="none" cap="none" strike="noStrike">
              <a:solidFill>
                <a:srgbClr val="000000"/>
              </a:solidFill>
              <a:latin typeface="Arial"/>
              <a:ea typeface="Arial"/>
              <a:cs typeface="Arial"/>
              <a:sym typeface="Arial"/>
            </a:endParaRPr>
          </a:p>
        </p:txBody>
      </p:sp>
      <p:sp>
        <p:nvSpPr>
          <p:cNvPr id="1457" name="Google Shape;1457;h547f90b031e64a91_0_142"/>
          <p:cNvSpPr txBox="1"/>
          <p:nvPr/>
        </p:nvSpPr>
        <p:spPr>
          <a:xfrm>
            <a:off x="1024128" y="275127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specialist clinical registry </a:t>
            </a:r>
            <a:endParaRPr b="0" i="0" sz="1400" u="none" cap="none" strike="noStrike">
              <a:solidFill>
                <a:srgbClr val="000000"/>
              </a:solidFill>
              <a:latin typeface="Arial"/>
              <a:ea typeface="Arial"/>
              <a:cs typeface="Arial"/>
              <a:sym typeface="Arial"/>
            </a:endParaRPr>
          </a:p>
        </p:txBody>
      </p:sp>
      <p:sp>
        <p:nvSpPr>
          <p:cNvPr id="1458" name="Google Shape;1458;h547f90b031e64a91_0_142"/>
          <p:cNvSpPr/>
          <p:nvPr/>
        </p:nvSpPr>
        <p:spPr>
          <a:xfrm>
            <a:off x="44897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59" name="Google Shape;1459;h547f90b031e64a91_0_142"/>
          <p:cNvSpPr/>
          <p:nvPr/>
        </p:nvSpPr>
        <p:spPr>
          <a:xfrm>
            <a:off x="4489704" y="1910031"/>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60" name="Google Shape;1460;h547f90b031e64a91_0_142"/>
          <p:cNvSpPr txBox="1"/>
          <p:nvPr/>
        </p:nvSpPr>
        <p:spPr>
          <a:xfrm>
            <a:off x="46817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eICU-CRD</a:t>
            </a:r>
            <a:endParaRPr b="0" i="0" sz="1400" u="none" cap="none" strike="noStrike">
              <a:solidFill>
                <a:srgbClr val="000000"/>
              </a:solidFill>
              <a:latin typeface="Arial"/>
              <a:ea typeface="Arial"/>
              <a:cs typeface="Arial"/>
              <a:sym typeface="Arial"/>
            </a:endParaRPr>
          </a:p>
        </p:txBody>
      </p:sp>
      <p:sp>
        <p:nvSpPr>
          <p:cNvPr id="1461" name="Google Shape;1461;h547f90b031e64a91_0_142"/>
          <p:cNvSpPr txBox="1"/>
          <p:nvPr/>
        </p:nvSpPr>
        <p:spPr>
          <a:xfrm>
            <a:off x="46817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31 tables  ·  559 columns</a:t>
            </a:r>
            <a:endParaRPr b="0" i="0" sz="1400" u="none" cap="none" strike="noStrike">
              <a:solidFill>
                <a:srgbClr val="000000"/>
              </a:solidFill>
              <a:latin typeface="Arial"/>
              <a:ea typeface="Arial"/>
              <a:cs typeface="Arial"/>
              <a:sym typeface="Arial"/>
            </a:endParaRPr>
          </a:p>
        </p:txBody>
      </p:sp>
      <p:sp>
        <p:nvSpPr>
          <p:cNvPr id="1462" name="Google Shape;1462;h547f90b031e64a91_0_142"/>
          <p:cNvSpPr txBox="1"/>
          <p:nvPr/>
        </p:nvSpPr>
        <p:spPr>
          <a:xfrm>
            <a:off x="4681728" y="2751279"/>
            <a:ext cx="2999100" cy="4797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large ICU schema </a:t>
            </a:r>
            <a:endParaRPr/>
          </a:p>
          <a:p>
            <a:pPr indent="0" lvl="0" marL="0" marR="0" rtl="0" algn="l">
              <a:lnSpc>
                <a:spcPct val="105000"/>
              </a:lnSpc>
              <a:spcBef>
                <a:spcPts val="0"/>
              </a:spcBef>
              <a:spcAft>
                <a:spcPts val="0"/>
              </a:spcAft>
              <a:buClr>
                <a:srgbClr val="000000"/>
              </a:buClr>
              <a:buSzPts val="1520"/>
              <a:buFont typeface="Arial"/>
              <a:buNone/>
            </a:pPr>
            <a:r>
              <a:t/>
            </a:r>
            <a:endParaRPr sz="1520">
              <a:solidFill>
                <a:srgbClr val="5B6770"/>
              </a:solidFill>
              <a:latin typeface="Calibri"/>
              <a:ea typeface="Calibri"/>
              <a:cs typeface="Calibri"/>
              <a:sym typeface="Calibri"/>
            </a:endParaRPr>
          </a:p>
        </p:txBody>
      </p:sp>
      <p:sp>
        <p:nvSpPr>
          <p:cNvPr id="1463" name="Google Shape;1463;h547f90b031e64a91_0_142"/>
          <p:cNvSpPr/>
          <p:nvPr/>
        </p:nvSpPr>
        <p:spPr>
          <a:xfrm>
            <a:off x="4694403" y="3180217"/>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PhysioNet </a:t>
            </a:r>
            <a:r>
              <a:rPr b="0" i="0" lang="en-US" sz="1000" u="none" cap="none" strike="noStrike">
                <a:solidFill>
                  <a:srgbClr val="5B6770"/>
                </a:solidFill>
                <a:latin typeface="Calibri"/>
                <a:ea typeface="Calibri"/>
                <a:cs typeface="Calibri"/>
                <a:sym typeface="Calibri"/>
              </a:rPr>
              <a:t>[Goldberger et al. 2000]  </a:t>
            </a:r>
            <a:endParaRPr/>
          </a:p>
        </p:txBody>
      </p:sp>
      <p:sp>
        <p:nvSpPr>
          <p:cNvPr id="1464" name="Google Shape;1464;h547f90b031e64a91_0_142"/>
          <p:cNvSpPr/>
          <p:nvPr/>
        </p:nvSpPr>
        <p:spPr>
          <a:xfrm>
            <a:off x="960128" y="3211330"/>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Universitätsklinikum Leipzig</a:t>
            </a:r>
            <a:endParaRPr b="1" sz="1000">
              <a:solidFill>
                <a:srgbClr val="5B677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a:p>
        </p:txBody>
      </p:sp>
      <p:pic>
        <p:nvPicPr>
          <p:cNvPr id="1465" name="Google Shape;1465;h547f90b031e64a91_0_142" title="ChatGPT Image Oct 28, 2026, 02_33_00 PM-2.png"/>
          <p:cNvPicPr preferRelativeResize="0"/>
          <p:nvPr/>
        </p:nvPicPr>
        <p:blipFill>
          <a:blip r:embed="rId3">
            <a:alphaModFix/>
          </a:blip>
          <a:stretch>
            <a:fillRect/>
          </a:stretch>
        </p:blipFill>
        <p:spPr>
          <a:xfrm>
            <a:off x="7070399" y="1910023"/>
            <a:ext cx="830001" cy="830001"/>
          </a:xfrm>
          <a:prstGeom prst="rect">
            <a:avLst/>
          </a:prstGeom>
          <a:noFill/>
          <a:ln>
            <a:noFill/>
          </a:ln>
        </p:spPr>
      </p:pic>
      <p:pic>
        <p:nvPicPr>
          <p:cNvPr id="1466" name="Google Shape;1466;h547f90b031e64a91_0_142" title="ChatGPT Image Oct 28, 2026, 02_32_59 PM-1.png"/>
          <p:cNvPicPr preferRelativeResize="0"/>
          <p:nvPr/>
        </p:nvPicPr>
        <p:blipFill>
          <a:blip r:embed="rId4">
            <a:alphaModFix/>
          </a:blip>
          <a:stretch>
            <a:fillRect/>
          </a:stretch>
        </p:blipFill>
        <p:spPr>
          <a:xfrm>
            <a:off x="3508704" y="1925173"/>
            <a:ext cx="685800" cy="685800"/>
          </a:xfrm>
          <a:prstGeom prst="rect">
            <a:avLst/>
          </a:prstGeom>
          <a:noFill/>
          <a:ln>
            <a:noFill/>
          </a:ln>
        </p:spPr>
      </p:pic>
      <p:sp>
        <p:nvSpPr>
          <p:cNvPr id="1467" name="Google Shape;1467;h547f90b031e64a91_0_142"/>
          <p:cNvSpPr/>
          <p:nvPr/>
        </p:nvSpPr>
        <p:spPr>
          <a:xfrm>
            <a:off x="706925" y="1768850"/>
            <a:ext cx="7292400" cy="1817400"/>
          </a:xfrm>
          <a:prstGeom prst="roundRect">
            <a:avLst>
              <a:gd fmla="val 10000" name="adj"/>
            </a:avLst>
          </a:prstGeom>
          <a:noFill/>
          <a:ln cap="flat" cmpd="sng" w="12700">
            <a:solidFill>
              <a:schemeClr val="accent4"/>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68" name="Google Shape;1468;h547f90b031e64a91_0_142"/>
          <p:cNvSpPr txBox="1"/>
          <p:nvPr/>
        </p:nvSpPr>
        <p:spPr>
          <a:xfrm>
            <a:off x="624725" y="3710825"/>
            <a:ext cx="7357800" cy="2463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600"/>
              <a:buFont typeface="Arial"/>
              <a:buNone/>
            </a:pPr>
            <a:r>
              <a:rPr b="1" lang="en-US" sz="1600">
                <a:solidFill>
                  <a:srgbClr val="5B6770"/>
                </a:solidFill>
                <a:latin typeface="Calibri"/>
                <a:ea typeface="Calibri"/>
                <a:cs typeface="Calibri"/>
                <a:sym typeface="Calibri"/>
              </a:rPr>
              <a:t>Medical Domain</a:t>
            </a:r>
            <a:endParaRPr b="0" i="0" sz="1400" u="none" cap="none" strike="noStrike">
              <a:solidFill>
                <a:srgbClr val="000000"/>
              </a:solidFill>
              <a:latin typeface="Arial"/>
              <a:ea typeface="Arial"/>
              <a:cs typeface="Arial"/>
              <a:sym typeface="Arial"/>
            </a:endParaRPr>
          </a:p>
        </p:txBody>
      </p:sp>
      <p:sp>
        <p:nvSpPr>
          <p:cNvPr id="1469" name="Google Shape;1469;h547f90b031e64a91_0_142"/>
          <p:cNvSpPr/>
          <p:nvPr/>
        </p:nvSpPr>
        <p:spPr>
          <a:xfrm>
            <a:off x="81473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70" name="Google Shape;1470;h547f90b031e64a91_0_142"/>
          <p:cNvSpPr/>
          <p:nvPr/>
        </p:nvSpPr>
        <p:spPr>
          <a:xfrm>
            <a:off x="8147304" y="1910031"/>
            <a:ext cx="3410700" cy="59400"/>
          </a:xfrm>
          <a:prstGeom prst="rect">
            <a:avLst/>
          </a:prstGeom>
          <a:solidFill>
            <a:srgbClr val="2F6B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71" name="Google Shape;1471;h547f90b031e64a91_0_142"/>
          <p:cNvSpPr txBox="1"/>
          <p:nvPr/>
        </p:nvSpPr>
        <p:spPr>
          <a:xfrm>
            <a:off x="83393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CHINOOK</a:t>
            </a:r>
            <a:endParaRPr b="0" i="0" sz="1400" u="none" cap="none" strike="noStrike">
              <a:solidFill>
                <a:srgbClr val="000000"/>
              </a:solidFill>
              <a:latin typeface="Arial"/>
              <a:ea typeface="Arial"/>
              <a:cs typeface="Arial"/>
              <a:sym typeface="Arial"/>
            </a:endParaRPr>
          </a:p>
        </p:txBody>
      </p:sp>
      <p:sp>
        <p:nvSpPr>
          <p:cNvPr id="1472" name="Google Shape;1472;h547f90b031e64a91_0_142"/>
          <p:cNvSpPr txBox="1"/>
          <p:nvPr/>
        </p:nvSpPr>
        <p:spPr>
          <a:xfrm>
            <a:off x="83393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11 tables  ·  67 columns</a:t>
            </a:r>
            <a:endParaRPr b="0" i="0" sz="1400" u="none" cap="none" strike="noStrike">
              <a:solidFill>
                <a:srgbClr val="000000"/>
              </a:solidFill>
              <a:latin typeface="Arial"/>
              <a:ea typeface="Arial"/>
              <a:cs typeface="Arial"/>
              <a:sym typeface="Arial"/>
            </a:endParaRPr>
          </a:p>
        </p:txBody>
      </p:sp>
      <p:sp>
        <p:nvSpPr>
          <p:cNvPr id="1473" name="Google Shape;1473;h547f90b031e64a91_0_142"/>
          <p:cNvSpPr txBox="1"/>
          <p:nvPr/>
        </p:nvSpPr>
        <p:spPr>
          <a:xfrm>
            <a:off x="8339328" y="275127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music store </a:t>
            </a:r>
            <a:endParaRPr b="0" i="0" sz="1400" u="none" cap="none" strike="noStrike">
              <a:solidFill>
                <a:srgbClr val="000000"/>
              </a:solidFill>
              <a:latin typeface="Arial"/>
              <a:ea typeface="Arial"/>
              <a:cs typeface="Arial"/>
              <a:sym typeface="Arial"/>
            </a:endParaRPr>
          </a:p>
        </p:txBody>
      </p:sp>
      <p:sp>
        <p:nvSpPr>
          <p:cNvPr id="1474" name="Google Shape;1474;h547f90b031e64a91_0_142"/>
          <p:cNvSpPr/>
          <p:nvPr/>
        </p:nvSpPr>
        <p:spPr>
          <a:xfrm>
            <a:off x="8325528" y="3187194"/>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Chinook Database </a:t>
            </a:r>
            <a:r>
              <a:rPr b="0" i="0" lang="en-US" sz="1000" u="none" cap="none" strike="noStrike">
                <a:solidFill>
                  <a:srgbClr val="5B6770"/>
                </a:solidFill>
                <a:latin typeface="Calibri"/>
                <a:ea typeface="Calibri"/>
                <a:cs typeface="Calibri"/>
                <a:sym typeface="Calibri"/>
              </a:rPr>
              <a:t>[</a:t>
            </a:r>
            <a:r>
              <a:rPr lang="en-US" sz="1000">
                <a:solidFill>
                  <a:srgbClr val="5B6770"/>
                </a:solidFill>
                <a:latin typeface="Calibri"/>
                <a:ea typeface="Calibri"/>
                <a:cs typeface="Calibri"/>
                <a:sym typeface="Calibri"/>
              </a:rPr>
              <a:t>Rocha n.d.; accessed 2026]</a:t>
            </a:r>
            <a:r>
              <a:rPr b="0" i="0" lang="en-US" sz="1000" u="none" cap="none" strike="noStrike">
                <a:solidFill>
                  <a:srgbClr val="5B6770"/>
                </a:solidFill>
                <a:latin typeface="Calibri"/>
                <a:ea typeface="Calibri"/>
                <a:cs typeface="Calibri"/>
                <a:sym typeface="Calibri"/>
              </a:rPr>
              <a:t> </a:t>
            </a:r>
            <a:endParaRPr/>
          </a:p>
        </p:txBody>
      </p:sp>
      <p:pic>
        <p:nvPicPr>
          <p:cNvPr id="1475" name="Google Shape;1475;h547f90b031e64a91_0_142" title="ChatGPT Image Oct 28, 2026, 02_33_01 PM-3.png"/>
          <p:cNvPicPr preferRelativeResize="0"/>
          <p:nvPr/>
        </p:nvPicPr>
        <p:blipFill>
          <a:blip r:embed="rId5">
            <a:alphaModFix/>
          </a:blip>
          <a:stretch>
            <a:fillRect/>
          </a:stretch>
        </p:blipFill>
        <p:spPr>
          <a:xfrm>
            <a:off x="10759640" y="1928292"/>
            <a:ext cx="830001" cy="830001"/>
          </a:xfrm>
          <a:prstGeom prst="rect">
            <a:avLst/>
          </a:prstGeom>
          <a:noFill/>
          <a:ln>
            <a:noFill/>
          </a:ln>
        </p:spPr>
      </p:pic>
      <p:sp>
        <p:nvSpPr>
          <p:cNvPr id="1476" name="Google Shape;1476;h547f90b031e64a91_0_142"/>
          <p:cNvSpPr/>
          <p:nvPr/>
        </p:nvSpPr>
        <p:spPr>
          <a:xfrm>
            <a:off x="8069900" y="1768850"/>
            <a:ext cx="3628500" cy="1817400"/>
          </a:xfrm>
          <a:prstGeom prst="roundRect">
            <a:avLst>
              <a:gd fmla="val 10000" name="adj"/>
            </a:avLst>
          </a:prstGeom>
          <a:noFill/>
          <a:ln cap="flat" cmpd="sng" w="12700">
            <a:solidFill>
              <a:schemeClr val="accent4"/>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77" name="Google Shape;1477;h547f90b031e64a91_0_142"/>
          <p:cNvSpPr txBox="1"/>
          <p:nvPr/>
        </p:nvSpPr>
        <p:spPr>
          <a:xfrm>
            <a:off x="8069775" y="3710825"/>
            <a:ext cx="3628500" cy="2463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600"/>
              <a:buFont typeface="Arial"/>
              <a:buNone/>
            </a:pPr>
            <a:r>
              <a:rPr b="1" lang="en-US" sz="1600">
                <a:solidFill>
                  <a:srgbClr val="5B6770"/>
                </a:solidFill>
                <a:latin typeface="Calibri"/>
                <a:ea typeface="Calibri"/>
                <a:cs typeface="Calibri"/>
                <a:sym typeface="Calibri"/>
              </a:rPr>
              <a:t>Music</a:t>
            </a:r>
            <a:r>
              <a:rPr b="1" lang="en-US" sz="1600">
                <a:solidFill>
                  <a:srgbClr val="5B6770"/>
                </a:solidFill>
                <a:latin typeface="Calibri"/>
                <a:ea typeface="Calibri"/>
                <a:cs typeface="Calibri"/>
                <a:sym typeface="Calibri"/>
              </a:rPr>
              <a:t> Domain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2" name="Shape 1482"/>
        <p:cNvGrpSpPr/>
        <p:nvPr/>
      </p:nvGrpSpPr>
      <p:grpSpPr>
        <a:xfrm>
          <a:off x="0" y="0"/>
          <a:ext cx="0" cy="0"/>
          <a:chOff x="0" y="0"/>
          <a:chExt cx="0" cy="0"/>
        </a:xfrm>
      </p:grpSpPr>
      <p:sp>
        <p:nvSpPr>
          <p:cNvPr id="1483" name="Google Shape;1483;h547f90b031e64a91_0_174"/>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lang="en-US">
                <a:solidFill>
                  <a:srgbClr val="0B6E4F"/>
                </a:solidFill>
                <a:latin typeface="Consolas"/>
                <a:ea typeface="Consolas"/>
                <a:cs typeface="Consolas"/>
                <a:sym typeface="Consolas"/>
              </a:rPr>
              <a:t>EVALUATION</a:t>
            </a:r>
            <a:endParaRPr b="0" i="0" sz="1400" u="none" cap="none" strike="noStrike">
              <a:solidFill>
                <a:srgbClr val="000000"/>
              </a:solidFill>
              <a:latin typeface="Arial"/>
              <a:ea typeface="Arial"/>
              <a:cs typeface="Arial"/>
              <a:sym typeface="Arial"/>
            </a:endParaRPr>
          </a:p>
        </p:txBody>
      </p:sp>
      <p:sp>
        <p:nvSpPr>
          <p:cNvPr id="1484" name="Google Shape;1484;h547f90b031e64a91_0_174"/>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Does the method work beyond our running example?</a:t>
            </a:r>
            <a:endParaRPr b="0" i="0" sz="1400" u="none" cap="none" strike="noStrike">
              <a:solidFill>
                <a:srgbClr val="000000"/>
              </a:solidFill>
              <a:latin typeface="Arial"/>
              <a:ea typeface="Arial"/>
              <a:cs typeface="Arial"/>
              <a:sym typeface="Arial"/>
            </a:endParaRPr>
          </a:p>
        </p:txBody>
      </p:sp>
      <p:sp>
        <p:nvSpPr>
          <p:cNvPr id="1485" name="Google Shape;1485;h547f90b031e64a91_0_174"/>
          <p:cNvSpPr txBox="1"/>
          <p:nvPr/>
        </p:nvSpPr>
        <p:spPr>
          <a:xfrm>
            <a:off x="795528" y="1397967"/>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databases, </a:t>
            </a: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generator models, </a:t>
            </a:r>
            <a:r>
              <a:rPr b="1" i="0" lang="en-US" sz="1600" u="none" cap="none" strike="noStrike">
                <a:solidFill>
                  <a:srgbClr val="5B6770"/>
                </a:solidFill>
                <a:latin typeface="Calibri"/>
                <a:ea typeface="Calibri"/>
                <a:cs typeface="Calibri"/>
                <a:sym typeface="Calibri"/>
              </a:rPr>
              <a:t>four</a:t>
            </a:r>
            <a:r>
              <a:rPr b="0" i="0" lang="en-US" sz="1600" u="none" cap="none" strike="noStrike">
                <a:solidFill>
                  <a:srgbClr val="5B6770"/>
                </a:solidFill>
                <a:latin typeface="Calibri"/>
                <a:ea typeface="Calibri"/>
                <a:cs typeface="Calibri"/>
                <a:sym typeface="Calibri"/>
              </a:rPr>
              <a:t> methods, evaluated from complementary </a:t>
            </a:r>
            <a:r>
              <a:rPr b="1" i="0" lang="en-US" sz="1600" u="none" cap="none" strike="noStrike">
                <a:solidFill>
                  <a:srgbClr val="5B6770"/>
                </a:solidFill>
                <a:latin typeface="Calibri"/>
                <a:ea typeface="Calibri"/>
                <a:cs typeface="Calibri"/>
                <a:sym typeface="Calibri"/>
              </a:rPr>
              <a:t>angles</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486" name="Google Shape;1486;h547f90b031e64a91_0_174"/>
          <p:cNvSpPr/>
          <p:nvPr/>
        </p:nvSpPr>
        <p:spPr>
          <a:xfrm>
            <a:off x="8321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87" name="Google Shape;1487;h547f90b031e64a91_0_174"/>
          <p:cNvSpPr/>
          <p:nvPr/>
        </p:nvSpPr>
        <p:spPr>
          <a:xfrm>
            <a:off x="832104" y="1910031"/>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88" name="Google Shape;1488;h547f90b031e64a91_0_174"/>
          <p:cNvSpPr txBox="1"/>
          <p:nvPr/>
        </p:nvSpPr>
        <p:spPr>
          <a:xfrm>
            <a:off x="10241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LIVER CANCER</a:t>
            </a:r>
            <a:endParaRPr b="0" i="0" sz="1400" u="none" cap="none" strike="noStrike">
              <a:solidFill>
                <a:srgbClr val="000000"/>
              </a:solidFill>
              <a:latin typeface="Arial"/>
              <a:ea typeface="Arial"/>
              <a:cs typeface="Arial"/>
              <a:sym typeface="Arial"/>
            </a:endParaRPr>
          </a:p>
        </p:txBody>
      </p:sp>
      <p:sp>
        <p:nvSpPr>
          <p:cNvPr id="1489" name="Google Shape;1489;h547f90b031e64a91_0_174"/>
          <p:cNvSpPr txBox="1"/>
          <p:nvPr/>
        </p:nvSpPr>
        <p:spPr>
          <a:xfrm>
            <a:off x="10241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16 tables  ·  350 columns</a:t>
            </a:r>
            <a:endParaRPr b="0" i="0" sz="1400" u="none" cap="none" strike="noStrike">
              <a:solidFill>
                <a:srgbClr val="000000"/>
              </a:solidFill>
              <a:latin typeface="Arial"/>
              <a:ea typeface="Arial"/>
              <a:cs typeface="Arial"/>
              <a:sym typeface="Arial"/>
            </a:endParaRPr>
          </a:p>
        </p:txBody>
      </p:sp>
      <p:sp>
        <p:nvSpPr>
          <p:cNvPr id="1490" name="Google Shape;1490;h547f90b031e64a91_0_174"/>
          <p:cNvSpPr txBox="1"/>
          <p:nvPr/>
        </p:nvSpPr>
        <p:spPr>
          <a:xfrm>
            <a:off x="1024128" y="275127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specialist clinical registry </a:t>
            </a:r>
            <a:endParaRPr b="0" i="0" sz="1400" u="none" cap="none" strike="noStrike">
              <a:solidFill>
                <a:srgbClr val="000000"/>
              </a:solidFill>
              <a:latin typeface="Arial"/>
              <a:ea typeface="Arial"/>
              <a:cs typeface="Arial"/>
              <a:sym typeface="Arial"/>
            </a:endParaRPr>
          </a:p>
        </p:txBody>
      </p:sp>
      <p:sp>
        <p:nvSpPr>
          <p:cNvPr id="1491" name="Google Shape;1491;h547f90b031e64a91_0_174"/>
          <p:cNvSpPr/>
          <p:nvPr/>
        </p:nvSpPr>
        <p:spPr>
          <a:xfrm>
            <a:off x="44897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2" name="Google Shape;1492;h547f90b031e64a91_0_174"/>
          <p:cNvSpPr/>
          <p:nvPr/>
        </p:nvSpPr>
        <p:spPr>
          <a:xfrm>
            <a:off x="4489704" y="1910031"/>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3" name="Google Shape;1493;h547f90b031e64a91_0_174"/>
          <p:cNvSpPr txBox="1"/>
          <p:nvPr/>
        </p:nvSpPr>
        <p:spPr>
          <a:xfrm>
            <a:off x="46817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eICU-CRD</a:t>
            </a:r>
            <a:endParaRPr b="0" i="0" sz="1400" u="none" cap="none" strike="noStrike">
              <a:solidFill>
                <a:srgbClr val="000000"/>
              </a:solidFill>
              <a:latin typeface="Arial"/>
              <a:ea typeface="Arial"/>
              <a:cs typeface="Arial"/>
              <a:sym typeface="Arial"/>
            </a:endParaRPr>
          </a:p>
        </p:txBody>
      </p:sp>
      <p:sp>
        <p:nvSpPr>
          <p:cNvPr id="1494" name="Google Shape;1494;h547f90b031e64a91_0_174"/>
          <p:cNvSpPr txBox="1"/>
          <p:nvPr/>
        </p:nvSpPr>
        <p:spPr>
          <a:xfrm>
            <a:off x="46817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31 tables  ·  559 columns</a:t>
            </a:r>
            <a:endParaRPr b="0" i="0" sz="1400" u="none" cap="none" strike="noStrike">
              <a:solidFill>
                <a:srgbClr val="000000"/>
              </a:solidFill>
              <a:latin typeface="Arial"/>
              <a:ea typeface="Arial"/>
              <a:cs typeface="Arial"/>
              <a:sym typeface="Arial"/>
            </a:endParaRPr>
          </a:p>
        </p:txBody>
      </p:sp>
      <p:sp>
        <p:nvSpPr>
          <p:cNvPr id="1495" name="Google Shape;1495;h547f90b031e64a91_0_174"/>
          <p:cNvSpPr txBox="1"/>
          <p:nvPr/>
        </p:nvSpPr>
        <p:spPr>
          <a:xfrm>
            <a:off x="4681728" y="2751279"/>
            <a:ext cx="2999100" cy="4797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large ICU schema </a:t>
            </a:r>
            <a:endParaRPr/>
          </a:p>
          <a:p>
            <a:pPr indent="0" lvl="0" marL="0" marR="0" rtl="0" algn="l">
              <a:lnSpc>
                <a:spcPct val="105000"/>
              </a:lnSpc>
              <a:spcBef>
                <a:spcPts val="0"/>
              </a:spcBef>
              <a:spcAft>
                <a:spcPts val="0"/>
              </a:spcAft>
              <a:buClr>
                <a:srgbClr val="000000"/>
              </a:buClr>
              <a:buSzPts val="1520"/>
              <a:buFont typeface="Arial"/>
              <a:buNone/>
            </a:pPr>
            <a:r>
              <a:t/>
            </a:r>
            <a:endParaRPr sz="1520">
              <a:solidFill>
                <a:srgbClr val="5B6770"/>
              </a:solidFill>
              <a:latin typeface="Calibri"/>
              <a:ea typeface="Calibri"/>
              <a:cs typeface="Calibri"/>
              <a:sym typeface="Calibri"/>
            </a:endParaRPr>
          </a:p>
        </p:txBody>
      </p:sp>
      <p:sp>
        <p:nvSpPr>
          <p:cNvPr id="1496" name="Google Shape;1496;h547f90b031e64a91_0_174"/>
          <p:cNvSpPr/>
          <p:nvPr/>
        </p:nvSpPr>
        <p:spPr>
          <a:xfrm>
            <a:off x="81473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7" name="Google Shape;1497;h547f90b031e64a91_0_174"/>
          <p:cNvSpPr/>
          <p:nvPr/>
        </p:nvSpPr>
        <p:spPr>
          <a:xfrm>
            <a:off x="8147304" y="1910031"/>
            <a:ext cx="3410700" cy="59400"/>
          </a:xfrm>
          <a:prstGeom prst="rect">
            <a:avLst/>
          </a:prstGeom>
          <a:solidFill>
            <a:srgbClr val="2F6B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8" name="Google Shape;1498;h547f90b031e64a91_0_174"/>
          <p:cNvSpPr txBox="1"/>
          <p:nvPr/>
        </p:nvSpPr>
        <p:spPr>
          <a:xfrm>
            <a:off x="83393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CHINOOK</a:t>
            </a:r>
            <a:endParaRPr b="0" i="0" sz="1400" u="none" cap="none" strike="noStrike">
              <a:solidFill>
                <a:srgbClr val="000000"/>
              </a:solidFill>
              <a:latin typeface="Arial"/>
              <a:ea typeface="Arial"/>
              <a:cs typeface="Arial"/>
              <a:sym typeface="Arial"/>
            </a:endParaRPr>
          </a:p>
        </p:txBody>
      </p:sp>
      <p:sp>
        <p:nvSpPr>
          <p:cNvPr id="1499" name="Google Shape;1499;h547f90b031e64a91_0_174"/>
          <p:cNvSpPr txBox="1"/>
          <p:nvPr/>
        </p:nvSpPr>
        <p:spPr>
          <a:xfrm>
            <a:off x="83393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11 tables  ·  67 columns</a:t>
            </a:r>
            <a:endParaRPr b="0" i="0" sz="1400" u="none" cap="none" strike="noStrike">
              <a:solidFill>
                <a:srgbClr val="000000"/>
              </a:solidFill>
              <a:latin typeface="Arial"/>
              <a:ea typeface="Arial"/>
              <a:cs typeface="Arial"/>
              <a:sym typeface="Arial"/>
            </a:endParaRPr>
          </a:p>
        </p:txBody>
      </p:sp>
      <p:sp>
        <p:nvSpPr>
          <p:cNvPr id="1500" name="Google Shape;1500;h547f90b031e64a91_0_174"/>
          <p:cNvSpPr txBox="1"/>
          <p:nvPr/>
        </p:nvSpPr>
        <p:spPr>
          <a:xfrm>
            <a:off x="8339328" y="275127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music store </a:t>
            </a:r>
            <a:endParaRPr b="0" i="0" sz="1400" u="none" cap="none" strike="noStrike">
              <a:solidFill>
                <a:srgbClr val="000000"/>
              </a:solidFill>
              <a:latin typeface="Arial"/>
              <a:ea typeface="Arial"/>
              <a:cs typeface="Arial"/>
              <a:sym typeface="Arial"/>
            </a:endParaRPr>
          </a:p>
        </p:txBody>
      </p:sp>
      <p:sp>
        <p:nvSpPr>
          <p:cNvPr id="1501" name="Google Shape;1501;h547f90b031e64a91_0_174"/>
          <p:cNvSpPr txBox="1"/>
          <p:nvPr/>
        </p:nvSpPr>
        <p:spPr>
          <a:xfrm>
            <a:off x="832104" y="3557110"/>
            <a:ext cx="98754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FOUR </a:t>
            </a:r>
            <a:r>
              <a:rPr b="1" lang="en-US" sz="1520">
                <a:solidFill>
                  <a:srgbClr val="0B6E4F"/>
                </a:solidFill>
                <a:latin typeface="Consolas"/>
                <a:ea typeface="Consolas"/>
                <a:cs typeface="Consolas"/>
                <a:sym typeface="Consolas"/>
              </a:rPr>
              <a:t>METHODS</a:t>
            </a:r>
            <a:r>
              <a:rPr b="1" i="0" lang="en-US" sz="1520" u="none" cap="none" strike="noStrike">
                <a:solidFill>
                  <a:srgbClr val="0B6E4F"/>
                </a:solidFill>
                <a:latin typeface="Consolas"/>
                <a:ea typeface="Consolas"/>
                <a:cs typeface="Consolas"/>
                <a:sym typeface="Consolas"/>
              </a:rPr>
              <a:t> TO GENERATE AN ONTOLOGY F</a:t>
            </a:r>
            <a:r>
              <a:rPr b="1" lang="en-US" sz="1520">
                <a:solidFill>
                  <a:srgbClr val="0B6E4F"/>
                </a:solidFill>
                <a:latin typeface="Consolas"/>
                <a:ea typeface="Consolas"/>
                <a:cs typeface="Consolas"/>
                <a:sym typeface="Consolas"/>
              </a:rPr>
              <a:t>ROM A RELATIONAL DATABASE SCHEMA</a:t>
            </a:r>
            <a:endParaRPr b="0" i="0" sz="1400" u="none" cap="none" strike="noStrike">
              <a:solidFill>
                <a:srgbClr val="000000"/>
              </a:solidFill>
              <a:latin typeface="Arial"/>
              <a:ea typeface="Arial"/>
              <a:cs typeface="Arial"/>
              <a:sym typeface="Arial"/>
            </a:endParaRPr>
          </a:p>
        </p:txBody>
      </p:sp>
      <p:sp>
        <p:nvSpPr>
          <p:cNvPr id="1502" name="Google Shape;1502;h547f90b031e64a91_0_174"/>
          <p:cNvSpPr/>
          <p:nvPr/>
        </p:nvSpPr>
        <p:spPr>
          <a:xfrm>
            <a:off x="832100"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3" name="Google Shape;1503;h547f90b031e64a91_0_174"/>
          <p:cNvSpPr/>
          <p:nvPr/>
        </p:nvSpPr>
        <p:spPr>
          <a:xfrm>
            <a:off x="960120"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4" name="Google Shape;1504;h547f90b031e64a91_0_174"/>
          <p:cNvSpPr txBox="1"/>
          <p:nvPr/>
        </p:nvSpPr>
        <p:spPr>
          <a:xfrm>
            <a:off x="1009650"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1</a:t>
            </a:r>
            <a:endParaRPr b="0" i="0" sz="1400" u="none" cap="none" strike="noStrike">
              <a:solidFill>
                <a:srgbClr val="000000"/>
              </a:solidFill>
              <a:latin typeface="Arial"/>
              <a:ea typeface="Arial"/>
              <a:cs typeface="Arial"/>
              <a:sym typeface="Arial"/>
            </a:endParaRPr>
          </a:p>
        </p:txBody>
      </p:sp>
      <p:sp>
        <p:nvSpPr>
          <p:cNvPr id="1505" name="Google Shape;1505;h547f90b031e64a91_0_174"/>
          <p:cNvSpPr txBox="1"/>
          <p:nvPr/>
        </p:nvSpPr>
        <p:spPr>
          <a:xfrm>
            <a:off x="1344168"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Direct Mapping</a:t>
            </a:r>
            <a:endParaRPr b="0" i="0" sz="1400" u="none" cap="none" strike="noStrike">
              <a:solidFill>
                <a:srgbClr val="000000"/>
              </a:solidFill>
              <a:latin typeface="Arial"/>
              <a:ea typeface="Arial"/>
              <a:cs typeface="Arial"/>
              <a:sym typeface="Arial"/>
            </a:endParaRPr>
          </a:p>
        </p:txBody>
      </p:sp>
      <p:sp>
        <p:nvSpPr>
          <p:cNvPr id="1506" name="Google Shape;1506;h547f90b031e64a91_0_174"/>
          <p:cNvSpPr txBox="1"/>
          <p:nvPr/>
        </p:nvSpPr>
        <p:spPr>
          <a:xfrm>
            <a:off x="996696"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Deterministic</a:t>
            </a:r>
            <a:endParaRPr b="0" i="0" sz="1400" u="none" cap="none" strike="noStrike">
              <a:solidFill>
                <a:srgbClr val="000000"/>
              </a:solidFill>
              <a:latin typeface="Arial"/>
              <a:ea typeface="Arial"/>
              <a:cs typeface="Arial"/>
              <a:sym typeface="Arial"/>
            </a:endParaRPr>
          </a:p>
        </p:txBody>
      </p:sp>
      <p:sp>
        <p:nvSpPr>
          <p:cNvPr id="1507" name="Google Shape;1507;h547f90b031e64a91_0_174"/>
          <p:cNvSpPr/>
          <p:nvPr/>
        </p:nvSpPr>
        <p:spPr>
          <a:xfrm>
            <a:off x="3630167"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8" name="Google Shape;1508;h547f90b031e64a91_0_174"/>
          <p:cNvSpPr/>
          <p:nvPr/>
        </p:nvSpPr>
        <p:spPr>
          <a:xfrm>
            <a:off x="3758184"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9" name="Google Shape;1509;h547f90b031e64a91_0_174"/>
          <p:cNvSpPr txBox="1"/>
          <p:nvPr/>
        </p:nvSpPr>
        <p:spPr>
          <a:xfrm>
            <a:off x="3807713"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2</a:t>
            </a:r>
            <a:endParaRPr b="0" i="0" sz="1400" u="none" cap="none" strike="noStrike">
              <a:solidFill>
                <a:srgbClr val="000000"/>
              </a:solidFill>
              <a:latin typeface="Arial"/>
              <a:ea typeface="Arial"/>
              <a:cs typeface="Arial"/>
              <a:sym typeface="Arial"/>
            </a:endParaRPr>
          </a:p>
        </p:txBody>
      </p:sp>
      <p:sp>
        <p:nvSpPr>
          <p:cNvPr id="1510" name="Google Shape;1510;h547f90b031e64a91_0_174"/>
          <p:cNvSpPr txBox="1"/>
          <p:nvPr/>
        </p:nvSpPr>
        <p:spPr>
          <a:xfrm>
            <a:off x="4142232"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LLM baseline</a:t>
            </a:r>
            <a:endParaRPr b="0" i="0" sz="1400" u="none" cap="none" strike="noStrike">
              <a:solidFill>
                <a:srgbClr val="000000"/>
              </a:solidFill>
              <a:latin typeface="Arial"/>
              <a:ea typeface="Arial"/>
              <a:cs typeface="Arial"/>
              <a:sym typeface="Arial"/>
            </a:endParaRPr>
          </a:p>
        </p:txBody>
      </p:sp>
      <p:sp>
        <p:nvSpPr>
          <p:cNvPr id="1511" name="Google Shape;1511;h547f90b031e64a91_0_174"/>
          <p:cNvSpPr txBox="1"/>
          <p:nvPr/>
        </p:nvSpPr>
        <p:spPr>
          <a:xfrm>
            <a:off x="3794760"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Table only</a:t>
            </a:r>
            <a:endParaRPr b="0" i="0" sz="1400" u="none" cap="none" strike="noStrike">
              <a:solidFill>
                <a:srgbClr val="000000"/>
              </a:solidFill>
              <a:latin typeface="Arial"/>
              <a:ea typeface="Arial"/>
              <a:cs typeface="Arial"/>
              <a:sym typeface="Arial"/>
            </a:endParaRPr>
          </a:p>
        </p:txBody>
      </p:sp>
      <p:sp>
        <p:nvSpPr>
          <p:cNvPr id="1512" name="Google Shape;1512;h547f90b031e64a91_0_174"/>
          <p:cNvSpPr/>
          <p:nvPr/>
        </p:nvSpPr>
        <p:spPr>
          <a:xfrm>
            <a:off x="6428233"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13" name="Google Shape;1513;h547f90b031e64a91_0_174"/>
          <p:cNvSpPr/>
          <p:nvPr/>
        </p:nvSpPr>
        <p:spPr>
          <a:xfrm>
            <a:off x="6556248"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14" name="Google Shape;1514;h547f90b031e64a91_0_174"/>
          <p:cNvSpPr txBox="1"/>
          <p:nvPr/>
        </p:nvSpPr>
        <p:spPr>
          <a:xfrm>
            <a:off x="6605778"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3</a:t>
            </a:r>
            <a:endParaRPr b="0" i="0" sz="1400" u="none" cap="none" strike="noStrike">
              <a:solidFill>
                <a:srgbClr val="000000"/>
              </a:solidFill>
              <a:latin typeface="Arial"/>
              <a:ea typeface="Arial"/>
              <a:cs typeface="Arial"/>
              <a:sym typeface="Arial"/>
            </a:endParaRPr>
          </a:p>
        </p:txBody>
      </p:sp>
      <p:sp>
        <p:nvSpPr>
          <p:cNvPr id="1515" name="Google Shape;1515;h547f90b031e64a91_0_174"/>
          <p:cNvSpPr txBox="1"/>
          <p:nvPr/>
        </p:nvSpPr>
        <p:spPr>
          <a:xfrm>
            <a:off x="6940296"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lang="en-US" sz="1540">
                <a:solidFill>
                  <a:srgbClr val="1F2328"/>
                </a:solidFill>
                <a:latin typeface="Calibri"/>
                <a:ea typeface="Calibri"/>
                <a:cs typeface="Calibri"/>
                <a:sym typeface="Calibri"/>
              </a:rPr>
              <a:t>Non-Iterative RAG </a:t>
            </a:r>
            <a:endParaRPr b="0" i="0" sz="1400" u="none" cap="none" strike="noStrike">
              <a:solidFill>
                <a:srgbClr val="000000"/>
              </a:solidFill>
              <a:latin typeface="Arial"/>
              <a:ea typeface="Arial"/>
              <a:cs typeface="Arial"/>
              <a:sym typeface="Arial"/>
            </a:endParaRPr>
          </a:p>
        </p:txBody>
      </p:sp>
      <p:sp>
        <p:nvSpPr>
          <p:cNvPr id="1516" name="Google Shape;1516;h547f90b031e64a91_0_174"/>
          <p:cNvSpPr txBox="1"/>
          <p:nvPr/>
        </p:nvSpPr>
        <p:spPr>
          <a:xfrm>
            <a:off x="6592824"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One-pass RAG</a:t>
            </a:r>
            <a:endParaRPr b="0" i="0" sz="1400" u="none" cap="none" strike="noStrike">
              <a:solidFill>
                <a:srgbClr val="000000"/>
              </a:solidFill>
              <a:latin typeface="Arial"/>
              <a:ea typeface="Arial"/>
              <a:cs typeface="Arial"/>
              <a:sym typeface="Arial"/>
            </a:endParaRPr>
          </a:p>
        </p:txBody>
      </p:sp>
      <p:sp>
        <p:nvSpPr>
          <p:cNvPr id="1517" name="Google Shape;1517;h547f90b031e64a91_0_174"/>
          <p:cNvSpPr/>
          <p:nvPr/>
        </p:nvSpPr>
        <p:spPr>
          <a:xfrm>
            <a:off x="9226300" y="3932023"/>
            <a:ext cx="2541900" cy="1362600"/>
          </a:xfrm>
          <a:prstGeom prst="roundRect">
            <a:avLst>
              <a:gd fmla="val 10000" name="adj"/>
            </a:avLst>
          </a:prstGeom>
          <a:solidFill>
            <a:srgbClr val="E6F2EC"/>
          </a:solidFill>
          <a:ln cap="flat" cmpd="sng" w="152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18" name="Google Shape;1518;h547f90b031e64a91_0_174"/>
          <p:cNvSpPr/>
          <p:nvPr/>
        </p:nvSpPr>
        <p:spPr>
          <a:xfrm>
            <a:off x="9354137" y="4074600"/>
            <a:ext cx="310800" cy="310800"/>
          </a:xfrm>
          <a:prstGeom prst="ellipse">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19" name="Google Shape;1519;h547f90b031e64a91_0_174"/>
          <p:cNvSpPr txBox="1"/>
          <p:nvPr/>
        </p:nvSpPr>
        <p:spPr>
          <a:xfrm>
            <a:off x="9395967" y="4122308"/>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4</a:t>
            </a:r>
            <a:endParaRPr b="0" i="0" sz="1400" u="none" cap="none" strike="noStrike">
              <a:solidFill>
                <a:srgbClr val="000000"/>
              </a:solidFill>
              <a:latin typeface="Arial"/>
              <a:ea typeface="Arial"/>
              <a:cs typeface="Arial"/>
              <a:sym typeface="Arial"/>
            </a:endParaRPr>
          </a:p>
        </p:txBody>
      </p:sp>
      <p:sp>
        <p:nvSpPr>
          <p:cNvPr id="1520" name="Google Shape;1520;h547f90b031e64a91_0_174"/>
          <p:cNvSpPr txBox="1"/>
          <p:nvPr/>
        </p:nvSpPr>
        <p:spPr>
          <a:xfrm>
            <a:off x="9738360"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RIGOR</a:t>
            </a:r>
            <a:endParaRPr b="0" i="0" sz="1400" u="none" cap="none" strike="noStrike">
              <a:solidFill>
                <a:srgbClr val="000000"/>
              </a:solidFill>
              <a:latin typeface="Arial"/>
              <a:ea typeface="Arial"/>
              <a:cs typeface="Arial"/>
              <a:sym typeface="Arial"/>
            </a:endParaRPr>
          </a:p>
        </p:txBody>
      </p:sp>
      <p:sp>
        <p:nvSpPr>
          <p:cNvPr id="1521" name="Google Shape;1521;h547f90b031e64a91_0_174"/>
          <p:cNvSpPr txBox="1"/>
          <p:nvPr/>
        </p:nvSpPr>
        <p:spPr>
          <a:xfrm>
            <a:off x="9390888"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Ground + grow + check</a:t>
            </a:r>
            <a:endParaRPr b="0" i="0" sz="1400" u="none" cap="none" strike="noStrike">
              <a:solidFill>
                <a:srgbClr val="000000"/>
              </a:solidFill>
              <a:latin typeface="Arial"/>
              <a:ea typeface="Arial"/>
              <a:cs typeface="Arial"/>
              <a:sym typeface="Arial"/>
            </a:endParaRPr>
          </a:p>
        </p:txBody>
      </p:sp>
      <p:sp>
        <p:nvSpPr>
          <p:cNvPr id="1522" name="Google Shape;1522;h547f90b031e64a91_0_174"/>
          <p:cNvSpPr/>
          <p:nvPr/>
        </p:nvSpPr>
        <p:spPr>
          <a:xfrm>
            <a:off x="4694403" y="3180217"/>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PhysioNet </a:t>
            </a:r>
            <a:r>
              <a:rPr b="0" i="0" lang="en-US" sz="1000" u="none" cap="none" strike="noStrike">
                <a:solidFill>
                  <a:srgbClr val="5B6770"/>
                </a:solidFill>
                <a:latin typeface="Calibri"/>
                <a:ea typeface="Calibri"/>
                <a:cs typeface="Calibri"/>
                <a:sym typeface="Calibri"/>
              </a:rPr>
              <a:t>[Goldberger et al. 2000]  </a:t>
            </a:r>
            <a:endParaRPr/>
          </a:p>
        </p:txBody>
      </p:sp>
      <p:sp>
        <p:nvSpPr>
          <p:cNvPr id="1523" name="Google Shape;1523;h547f90b031e64a91_0_174"/>
          <p:cNvSpPr/>
          <p:nvPr/>
        </p:nvSpPr>
        <p:spPr>
          <a:xfrm>
            <a:off x="8325528" y="3187194"/>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Chinook Database </a:t>
            </a:r>
            <a:r>
              <a:rPr b="0" i="0" lang="en-US" sz="1000" u="none" cap="none" strike="noStrike">
                <a:solidFill>
                  <a:srgbClr val="5B6770"/>
                </a:solidFill>
                <a:latin typeface="Calibri"/>
                <a:ea typeface="Calibri"/>
                <a:cs typeface="Calibri"/>
                <a:sym typeface="Calibri"/>
              </a:rPr>
              <a:t>[</a:t>
            </a:r>
            <a:r>
              <a:rPr lang="en-US" sz="1000">
                <a:solidFill>
                  <a:srgbClr val="5B6770"/>
                </a:solidFill>
                <a:latin typeface="Calibri"/>
                <a:ea typeface="Calibri"/>
                <a:cs typeface="Calibri"/>
                <a:sym typeface="Calibri"/>
              </a:rPr>
              <a:t>Rocha n.d.; accessed 2026]</a:t>
            </a:r>
            <a:r>
              <a:rPr b="0" i="0" lang="en-US" sz="1000" u="none" cap="none" strike="noStrike">
                <a:solidFill>
                  <a:srgbClr val="5B6770"/>
                </a:solidFill>
                <a:latin typeface="Calibri"/>
                <a:ea typeface="Calibri"/>
                <a:cs typeface="Calibri"/>
                <a:sym typeface="Calibri"/>
              </a:rPr>
              <a:t> </a:t>
            </a:r>
            <a:endParaRPr/>
          </a:p>
        </p:txBody>
      </p:sp>
      <p:sp>
        <p:nvSpPr>
          <p:cNvPr id="1524" name="Google Shape;1524;h547f90b031e64a91_0_174"/>
          <p:cNvSpPr/>
          <p:nvPr/>
        </p:nvSpPr>
        <p:spPr>
          <a:xfrm>
            <a:off x="960128" y="3211330"/>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Universitätsklinikum Leipzig</a:t>
            </a:r>
            <a:endParaRPr b="1" sz="1000">
              <a:solidFill>
                <a:srgbClr val="5B677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a:p>
        </p:txBody>
      </p:sp>
      <p:pic>
        <p:nvPicPr>
          <p:cNvPr id="1525" name="Google Shape;1525;h547f90b031e64a91_0_174" title="ChatGPT Image Oct 28, 2026, 02_33_00 PM-2.png"/>
          <p:cNvPicPr preferRelativeResize="0"/>
          <p:nvPr/>
        </p:nvPicPr>
        <p:blipFill>
          <a:blip r:embed="rId3">
            <a:alphaModFix/>
          </a:blip>
          <a:stretch>
            <a:fillRect/>
          </a:stretch>
        </p:blipFill>
        <p:spPr>
          <a:xfrm>
            <a:off x="7070399" y="1910023"/>
            <a:ext cx="830001" cy="830001"/>
          </a:xfrm>
          <a:prstGeom prst="rect">
            <a:avLst/>
          </a:prstGeom>
          <a:noFill/>
          <a:ln>
            <a:noFill/>
          </a:ln>
        </p:spPr>
      </p:pic>
      <p:pic>
        <p:nvPicPr>
          <p:cNvPr id="1526" name="Google Shape;1526;h547f90b031e64a91_0_174" title="ChatGPT Image Oct 28, 2026, 02_33_01 PM-3.png"/>
          <p:cNvPicPr preferRelativeResize="0"/>
          <p:nvPr/>
        </p:nvPicPr>
        <p:blipFill>
          <a:blip r:embed="rId4">
            <a:alphaModFix/>
          </a:blip>
          <a:stretch>
            <a:fillRect/>
          </a:stretch>
        </p:blipFill>
        <p:spPr>
          <a:xfrm>
            <a:off x="10759640" y="1928292"/>
            <a:ext cx="830001" cy="830001"/>
          </a:xfrm>
          <a:prstGeom prst="rect">
            <a:avLst/>
          </a:prstGeom>
          <a:noFill/>
          <a:ln>
            <a:noFill/>
          </a:ln>
        </p:spPr>
      </p:pic>
      <p:sp>
        <p:nvSpPr>
          <p:cNvPr id="1527" name="Google Shape;1527;h547f90b031e64a91_0_174"/>
          <p:cNvSpPr/>
          <p:nvPr/>
        </p:nvSpPr>
        <p:spPr>
          <a:xfrm>
            <a:off x="913950" y="4899249"/>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Direct Mapping </a:t>
            </a:r>
            <a:r>
              <a:rPr b="0" i="0" lang="en-US" sz="1000" u="none" cap="none" strike="noStrike">
                <a:solidFill>
                  <a:srgbClr val="5B6770"/>
                </a:solidFill>
                <a:latin typeface="Calibri"/>
                <a:ea typeface="Calibri"/>
                <a:cs typeface="Calibri"/>
                <a:sym typeface="Calibri"/>
              </a:rPr>
              <a:t>[Goldberger et al. 2000]  </a:t>
            </a:r>
            <a:endParaRPr/>
          </a:p>
        </p:txBody>
      </p:sp>
      <p:sp>
        <p:nvSpPr>
          <p:cNvPr id="1528" name="Google Shape;1528;h547f90b031e64a91_0_174"/>
          <p:cNvSpPr/>
          <p:nvPr/>
        </p:nvSpPr>
        <p:spPr>
          <a:xfrm>
            <a:off x="3758175" y="4899277"/>
            <a:ext cx="2319900" cy="21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Ontology engineering with large language models </a:t>
            </a:r>
            <a:r>
              <a:rPr b="0" i="0" lang="en-US" sz="1000" u="none" cap="none" strike="noStrike">
                <a:solidFill>
                  <a:srgbClr val="5B6770"/>
                </a:solidFill>
                <a:latin typeface="Calibri"/>
                <a:ea typeface="Calibri"/>
                <a:cs typeface="Calibri"/>
                <a:sym typeface="Calibri"/>
              </a:rPr>
              <a:t>[</a:t>
            </a:r>
            <a:r>
              <a:rPr lang="en-US" sz="1000">
                <a:solidFill>
                  <a:srgbClr val="5B6770"/>
                </a:solidFill>
                <a:latin typeface="Calibri"/>
                <a:ea typeface="Calibri"/>
                <a:cs typeface="Calibri"/>
                <a:sym typeface="Calibri"/>
              </a:rPr>
              <a:t>Mateiu &amp; Groza, SYNASC 2023]</a:t>
            </a:r>
            <a:r>
              <a:rPr b="0" i="0" lang="en-US" sz="1000" u="none" cap="none" strike="noStrike">
                <a:solidFill>
                  <a:srgbClr val="5B6770"/>
                </a:solidFill>
                <a:latin typeface="Calibri"/>
                <a:ea typeface="Calibri"/>
                <a:cs typeface="Calibri"/>
                <a:sym typeface="Calibri"/>
              </a:rPr>
              <a:t>  </a:t>
            </a:r>
            <a:endParaRPr/>
          </a:p>
        </p:txBody>
      </p:sp>
      <p:pic>
        <p:nvPicPr>
          <p:cNvPr id="1529" name="Google Shape;1529;h547f90b031e64a91_0_174" title="ChatGPT Image Oct 28, 2026, 02_32_59 PM-1.png"/>
          <p:cNvPicPr preferRelativeResize="0"/>
          <p:nvPr/>
        </p:nvPicPr>
        <p:blipFill>
          <a:blip r:embed="rId5">
            <a:alphaModFix/>
          </a:blip>
          <a:stretch>
            <a:fillRect/>
          </a:stretch>
        </p:blipFill>
        <p:spPr>
          <a:xfrm>
            <a:off x="3508704" y="1925173"/>
            <a:ext cx="685800" cy="685800"/>
          </a:xfrm>
          <a:prstGeom prst="rect">
            <a:avLst/>
          </a:prstGeom>
          <a:noFill/>
          <a:ln>
            <a:noFill/>
          </a:ln>
        </p:spPr>
      </p:pic>
      <p:sp>
        <p:nvSpPr>
          <p:cNvPr id="1530" name="Google Shape;1530;h547f90b031e64a91_0_174"/>
          <p:cNvSpPr/>
          <p:nvPr/>
        </p:nvSpPr>
        <p:spPr>
          <a:xfrm>
            <a:off x="3508989" y="3842176"/>
            <a:ext cx="8389200" cy="1573500"/>
          </a:xfrm>
          <a:prstGeom prst="roundRect">
            <a:avLst>
              <a:gd fmla="val 10000" name="adj"/>
            </a:avLst>
          </a:prstGeom>
          <a:noFill/>
          <a:ln cap="flat" cmpd="sng" w="29375">
            <a:solidFill>
              <a:schemeClr val="accent4"/>
            </a:solidFill>
            <a:prstDash val="solid"/>
            <a:miter lim="80"/>
            <a:headEnd len="sm" w="sm" type="none"/>
            <a:tailEnd len="sm" w="sm" type="none"/>
          </a:ln>
        </p:spPr>
        <p:txBody>
          <a:bodyPr anchorCtr="0" anchor="ctr" bIns="105675" lIns="211375" spcFirstLastPara="1" rIns="211375" wrap="square" tIns="105675">
            <a:noAutofit/>
          </a:bodyPr>
          <a:lstStyle/>
          <a:p>
            <a:pPr indent="0" lvl="0" marL="0" marR="0" rtl="0" algn="ctr">
              <a:lnSpc>
                <a:spcPct val="100000"/>
              </a:lnSpc>
              <a:spcBef>
                <a:spcPts val="0"/>
              </a:spcBef>
              <a:spcAft>
                <a:spcPts val="0"/>
              </a:spcAft>
              <a:buClr>
                <a:srgbClr val="000000"/>
              </a:buClr>
              <a:buSzPts val="4162"/>
              <a:buFont typeface="Arial"/>
              <a:buNone/>
            </a:pPr>
            <a:r>
              <a:t/>
            </a:r>
            <a:endParaRPr b="0" i="0" sz="4162" u="none" cap="none" strike="noStrike">
              <a:solidFill>
                <a:schemeClr val="dk1"/>
              </a:solidFill>
              <a:latin typeface="Calibri"/>
              <a:ea typeface="Calibri"/>
              <a:cs typeface="Calibri"/>
              <a:sym typeface="Calibri"/>
            </a:endParaRPr>
          </a:p>
        </p:txBody>
      </p:sp>
      <p:sp>
        <p:nvSpPr>
          <p:cNvPr id="1531" name="Google Shape;1531;h547f90b031e64a91_0_174"/>
          <p:cNvSpPr txBox="1"/>
          <p:nvPr/>
        </p:nvSpPr>
        <p:spPr>
          <a:xfrm>
            <a:off x="3508700" y="5523488"/>
            <a:ext cx="8389200" cy="2463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3699"/>
              <a:buFont typeface="Arial"/>
              <a:buNone/>
            </a:pPr>
            <a:r>
              <a:rPr b="1" lang="en-US" sz="1600">
                <a:solidFill>
                  <a:srgbClr val="5B6770"/>
                </a:solidFill>
                <a:latin typeface="Calibri"/>
                <a:ea typeface="Calibri"/>
                <a:cs typeface="Calibri"/>
                <a:sym typeface="Calibri"/>
              </a:rPr>
              <a:t>LLM-based Methods</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6" name="Shape 1536"/>
        <p:cNvGrpSpPr/>
        <p:nvPr/>
      </p:nvGrpSpPr>
      <p:grpSpPr>
        <a:xfrm>
          <a:off x="0" y="0"/>
          <a:ext cx="0" cy="0"/>
          <a:chOff x="0" y="0"/>
          <a:chExt cx="0" cy="0"/>
        </a:xfrm>
      </p:grpSpPr>
      <p:sp>
        <p:nvSpPr>
          <p:cNvPr id="1537" name="Google Shape;1537;h547f90b031e64a91_0_287"/>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lang="en-US">
                <a:solidFill>
                  <a:srgbClr val="0B6E4F"/>
                </a:solidFill>
                <a:latin typeface="Consolas"/>
                <a:ea typeface="Consolas"/>
                <a:cs typeface="Consolas"/>
                <a:sym typeface="Consolas"/>
              </a:rPr>
              <a:t>EVALUATION</a:t>
            </a:r>
            <a:endParaRPr b="0" i="0" sz="1400" u="none" cap="none" strike="noStrike">
              <a:solidFill>
                <a:srgbClr val="000000"/>
              </a:solidFill>
              <a:latin typeface="Arial"/>
              <a:ea typeface="Arial"/>
              <a:cs typeface="Arial"/>
              <a:sym typeface="Arial"/>
            </a:endParaRPr>
          </a:p>
        </p:txBody>
      </p:sp>
      <p:sp>
        <p:nvSpPr>
          <p:cNvPr id="1538" name="Google Shape;1538;h547f90b031e64a91_0_287"/>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Does the method work beyond our running example?</a:t>
            </a:r>
            <a:endParaRPr b="0" i="0" sz="1400" u="none" cap="none" strike="noStrike">
              <a:solidFill>
                <a:srgbClr val="000000"/>
              </a:solidFill>
              <a:latin typeface="Arial"/>
              <a:ea typeface="Arial"/>
              <a:cs typeface="Arial"/>
              <a:sym typeface="Arial"/>
            </a:endParaRPr>
          </a:p>
        </p:txBody>
      </p:sp>
      <p:sp>
        <p:nvSpPr>
          <p:cNvPr id="1539" name="Google Shape;1539;h547f90b031e64a91_0_287"/>
          <p:cNvSpPr txBox="1"/>
          <p:nvPr/>
        </p:nvSpPr>
        <p:spPr>
          <a:xfrm>
            <a:off x="795528" y="1397967"/>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databases, </a:t>
            </a: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generator models, </a:t>
            </a:r>
            <a:r>
              <a:rPr b="1" i="0" lang="en-US" sz="1600" u="none" cap="none" strike="noStrike">
                <a:solidFill>
                  <a:srgbClr val="5B6770"/>
                </a:solidFill>
                <a:latin typeface="Calibri"/>
                <a:ea typeface="Calibri"/>
                <a:cs typeface="Calibri"/>
                <a:sym typeface="Calibri"/>
              </a:rPr>
              <a:t>four</a:t>
            </a:r>
            <a:r>
              <a:rPr b="0" i="0" lang="en-US" sz="1600" u="none" cap="none" strike="noStrike">
                <a:solidFill>
                  <a:srgbClr val="5B6770"/>
                </a:solidFill>
                <a:latin typeface="Calibri"/>
                <a:ea typeface="Calibri"/>
                <a:cs typeface="Calibri"/>
                <a:sym typeface="Calibri"/>
              </a:rPr>
              <a:t> methods, evaluated from complementary </a:t>
            </a:r>
            <a:r>
              <a:rPr b="1" i="0" lang="en-US" sz="1600" u="none" cap="none" strike="noStrike">
                <a:solidFill>
                  <a:srgbClr val="5B6770"/>
                </a:solidFill>
                <a:latin typeface="Calibri"/>
                <a:ea typeface="Calibri"/>
                <a:cs typeface="Calibri"/>
                <a:sym typeface="Calibri"/>
              </a:rPr>
              <a:t>angles</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540" name="Google Shape;1540;h547f90b031e64a91_0_287"/>
          <p:cNvSpPr/>
          <p:nvPr/>
        </p:nvSpPr>
        <p:spPr>
          <a:xfrm>
            <a:off x="8321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41" name="Google Shape;1541;h547f90b031e64a91_0_287"/>
          <p:cNvSpPr/>
          <p:nvPr/>
        </p:nvSpPr>
        <p:spPr>
          <a:xfrm>
            <a:off x="832104" y="1910031"/>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42" name="Google Shape;1542;h547f90b031e64a91_0_287"/>
          <p:cNvSpPr txBox="1"/>
          <p:nvPr/>
        </p:nvSpPr>
        <p:spPr>
          <a:xfrm>
            <a:off x="10241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LIVER CANCER</a:t>
            </a:r>
            <a:endParaRPr b="0" i="0" sz="1400" u="none" cap="none" strike="noStrike">
              <a:solidFill>
                <a:srgbClr val="000000"/>
              </a:solidFill>
              <a:latin typeface="Arial"/>
              <a:ea typeface="Arial"/>
              <a:cs typeface="Arial"/>
              <a:sym typeface="Arial"/>
            </a:endParaRPr>
          </a:p>
        </p:txBody>
      </p:sp>
      <p:sp>
        <p:nvSpPr>
          <p:cNvPr id="1543" name="Google Shape;1543;h547f90b031e64a91_0_287"/>
          <p:cNvSpPr txBox="1"/>
          <p:nvPr/>
        </p:nvSpPr>
        <p:spPr>
          <a:xfrm>
            <a:off x="10241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16 tables  ·  350 columns</a:t>
            </a:r>
            <a:endParaRPr b="0" i="0" sz="1400" u="none" cap="none" strike="noStrike">
              <a:solidFill>
                <a:srgbClr val="000000"/>
              </a:solidFill>
              <a:latin typeface="Arial"/>
              <a:ea typeface="Arial"/>
              <a:cs typeface="Arial"/>
              <a:sym typeface="Arial"/>
            </a:endParaRPr>
          </a:p>
        </p:txBody>
      </p:sp>
      <p:sp>
        <p:nvSpPr>
          <p:cNvPr id="1544" name="Google Shape;1544;h547f90b031e64a91_0_287"/>
          <p:cNvSpPr txBox="1"/>
          <p:nvPr/>
        </p:nvSpPr>
        <p:spPr>
          <a:xfrm>
            <a:off x="1024128" y="275127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specialist clinical registry </a:t>
            </a:r>
            <a:endParaRPr b="0" i="0" sz="1400" u="none" cap="none" strike="noStrike">
              <a:solidFill>
                <a:srgbClr val="000000"/>
              </a:solidFill>
              <a:latin typeface="Arial"/>
              <a:ea typeface="Arial"/>
              <a:cs typeface="Arial"/>
              <a:sym typeface="Arial"/>
            </a:endParaRPr>
          </a:p>
        </p:txBody>
      </p:sp>
      <p:sp>
        <p:nvSpPr>
          <p:cNvPr id="1545" name="Google Shape;1545;h547f90b031e64a91_0_287"/>
          <p:cNvSpPr/>
          <p:nvPr/>
        </p:nvSpPr>
        <p:spPr>
          <a:xfrm>
            <a:off x="44897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46" name="Google Shape;1546;h547f90b031e64a91_0_287"/>
          <p:cNvSpPr/>
          <p:nvPr/>
        </p:nvSpPr>
        <p:spPr>
          <a:xfrm>
            <a:off x="4489704" y="1910031"/>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47" name="Google Shape;1547;h547f90b031e64a91_0_287"/>
          <p:cNvSpPr txBox="1"/>
          <p:nvPr/>
        </p:nvSpPr>
        <p:spPr>
          <a:xfrm>
            <a:off x="46817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eICU-CRD</a:t>
            </a:r>
            <a:endParaRPr b="0" i="0" sz="1400" u="none" cap="none" strike="noStrike">
              <a:solidFill>
                <a:srgbClr val="000000"/>
              </a:solidFill>
              <a:latin typeface="Arial"/>
              <a:ea typeface="Arial"/>
              <a:cs typeface="Arial"/>
              <a:sym typeface="Arial"/>
            </a:endParaRPr>
          </a:p>
        </p:txBody>
      </p:sp>
      <p:sp>
        <p:nvSpPr>
          <p:cNvPr id="1548" name="Google Shape;1548;h547f90b031e64a91_0_287"/>
          <p:cNvSpPr txBox="1"/>
          <p:nvPr/>
        </p:nvSpPr>
        <p:spPr>
          <a:xfrm>
            <a:off x="46817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31 tables  ·  559 columns</a:t>
            </a:r>
            <a:endParaRPr b="0" i="0" sz="1400" u="none" cap="none" strike="noStrike">
              <a:solidFill>
                <a:srgbClr val="000000"/>
              </a:solidFill>
              <a:latin typeface="Arial"/>
              <a:ea typeface="Arial"/>
              <a:cs typeface="Arial"/>
              <a:sym typeface="Arial"/>
            </a:endParaRPr>
          </a:p>
        </p:txBody>
      </p:sp>
      <p:sp>
        <p:nvSpPr>
          <p:cNvPr id="1549" name="Google Shape;1549;h547f90b031e64a91_0_287"/>
          <p:cNvSpPr txBox="1"/>
          <p:nvPr/>
        </p:nvSpPr>
        <p:spPr>
          <a:xfrm>
            <a:off x="4681728" y="2751279"/>
            <a:ext cx="2999100" cy="4797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large ICU schema </a:t>
            </a:r>
            <a:endParaRPr/>
          </a:p>
          <a:p>
            <a:pPr indent="0" lvl="0" marL="0" marR="0" rtl="0" algn="l">
              <a:lnSpc>
                <a:spcPct val="105000"/>
              </a:lnSpc>
              <a:spcBef>
                <a:spcPts val="0"/>
              </a:spcBef>
              <a:spcAft>
                <a:spcPts val="0"/>
              </a:spcAft>
              <a:buClr>
                <a:srgbClr val="000000"/>
              </a:buClr>
              <a:buSzPts val="1520"/>
              <a:buFont typeface="Arial"/>
              <a:buNone/>
            </a:pPr>
            <a:r>
              <a:t/>
            </a:r>
            <a:endParaRPr sz="1520">
              <a:solidFill>
                <a:srgbClr val="5B6770"/>
              </a:solidFill>
              <a:latin typeface="Calibri"/>
              <a:ea typeface="Calibri"/>
              <a:cs typeface="Calibri"/>
              <a:sym typeface="Calibri"/>
            </a:endParaRPr>
          </a:p>
        </p:txBody>
      </p:sp>
      <p:sp>
        <p:nvSpPr>
          <p:cNvPr id="1550" name="Google Shape;1550;h547f90b031e64a91_0_287"/>
          <p:cNvSpPr/>
          <p:nvPr/>
        </p:nvSpPr>
        <p:spPr>
          <a:xfrm>
            <a:off x="81473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1" name="Google Shape;1551;h547f90b031e64a91_0_287"/>
          <p:cNvSpPr/>
          <p:nvPr/>
        </p:nvSpPr>
        <p:spPr>
          <a:xfrm>
            <a:off x="8147304" y="1910031"/>
            <a:ext cx="3410700" cy="59400"/>
          </a:xfrm>
          <a:prstGeom prst="rect">
            <a:avLst/>
          </a:prstGeom>
          <a:solidFill>
            <a:srgbClr val="2F6B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2" name="Google Shape;1552;h547f90b031e64a91_0_287"/>
          <p:cNvSpPr txBox="1"/>
          <p:nvPr/>
        </p:nvSpPr>
        <p:spPr>
          <a:xfrm>
            <a:off x="83393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CHINOOK</a:t>
            </a:r>
            <a:endParaRPr b="0" i="0" sz="1400" u="none" cap="none" strike="noStrike">
              <a:solidFill>
                <a:srgbClr val="000000"/>
              </a:solidFill>
              <a:latin typeface="Arial"/>
              <a:ea typeface="Arial"/>
              <a:cs typeface="Arial"/>
              <a:sym typeface="Arial"/>
            </a:endParaRPr>
          </a:p>
        </p:txBody>
      </p:sp>
      <p:sp>
        <p:nvSpPr>
          <p:cNvPr id="1553" name="Google Shape;1553;h547f90b031e64a91_0_287"/>
          <p:cNvSpPr txBox="1"/>
          <p:nvPr/>
        </p:nvSpPr>
        <p:spPr>
          <a:xfrm>
            <a:off x="83393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11 tables  ·  67 columns</a:t>
            </a:r>
            <a:endParaRPr b="0" i="0" sz="1400" u="none" cap="none" strike="noStrike">
              <a:solidFill>
                <a:srgbClr val="000000"/>
              </a:solidFill>
              <a:latin typeface="Arial"/>
              <a:ea typeface="Arial"/>
              <a:cs typeface="Arial"/>
              <a:sym typeface="Arial"/>
            </a:endParaRPr>
          </a:p>
        </p:txBody>
      </p:sp>
      <p:sp>
        <p:nvSpPr>
          <p:cNvPr id="1554" name="Google Shape;1554;h547f90b031e64a91_0_287"/>
          <p:cNvSpPr txBox="1"/>
          <p:nvPr/>
        </p:nvSpPr>
        <p:spPr>
          <a:xfrm>
            <a:off x="8339328" y="275127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music store </a:t>
            </a:r>
            <a:endParaRPr b="0" i="0" sz="1400" u="none" cap="none" strike="noStrike">
              <a:solidFill>
                <a:srgbClr val="000000"/>
              </a:solidFill>
              <a:latin typeface="Arial"/>
              <a:ea typeface="Arial"/>
              <a:cs typeface="Arial"/>
              <a:sym typeface="Arial"/>
            </a:endParaRPr>
          </a:p>
        </p:txBody>
      </p:sp>
      <p:sp>
        <p:nvSpPr>
          <p:cNvPr id="1555" name="Google Shape;1555;h547f90b031e64a91_0_287"/>
          <p:cNvSpPr txBox="1"/>
          <p:nvPr/>
        </p:nvSpPr>
        <p:spPr>
          <a:xfrm>
            <a:off x="832104" y="3557110"/>
            <a:ext cx="98754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FOUR </a:t>
            </a:r>
            <a:r>
              <a:rPr b="1" lang="en-US" sz="1520">
                <a:solidFill>
                  <a:srgbClr val="0B6E4F"/>
                </a:solidFill>
                <a:latin typeface="Consolas"/>
                <a:ea typeface="Consolas"/>
                <a:cs typeface="Consolas"/>
                <a:sym typeface="Consolas"/>
              </a:rPr>
              <a:t>METHODS</a:t>
            </a:r>
            <a:r>
              <a:rPr b="1" i="0" lang="en-US" sz="1520" u="none" cap="none" strike="noStrike">
                <a:solidFill>
                  <a:srgbClr val="0B6E4F"/>
                </a:solidFill>
                <a:latin typeface="Consolas"/>
                <a:ea typeface="Consolas"/>
                <a:cs typeface="Consolas"/>
                <a:sym typeface="Consolas"/>
              </a:rPr>
              <a:t> TO GENERATE AN ONTOLOGY F</a:t>
            </a:r>
            <a:r>
              <a:rPr b="1" lang="en-US" sz="1520">
                <a:solidFill>
                  <a:srgbClr val="0B6E4F"/>
                </a:solidFill>
                <a:latin typeface="Consolas"/>
                <a:ea typeface="Consolas"/>
                <a:cs typeface="Consolas"/>
                <a:sym typeface="Consolas"/>
              </a:rPr>
              <a:t>ROM A RELATIONAL DATABASE SCHEMA</a:t>
            </a:r>
            <a:endParaRPr b="0" i="0" sz="1400" u="none" cap="none" strike="noStrike">
              <a:solidFill>
                <a:srgbClr val="000000"/>
              </a:solidFill>
              <a:latin typeface="Arial"/>
              <a:ea typeface="Arial"/>
              <a:cs typeface="Arial"/>
              <a:sym typeface="Arial"/>
            </a:endParaRPr>
          </a:p>
        </p:txBody>
      </p:sp>
      <p:sp>
        <p:nvSpPr>
          <p:cNvPr id="1556" name="Google Shape;1556;h547f90b031e64a91_0_287"/>
          <p:cNvSpPr/>
          <p:nvPr/>
        </p:nvSpPr>
        <p:spPr>
          <a:xfrm>
            <a:off x="832100"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7" name="Google Shape;1557;h547f90b031e64a91_0_287"/>
          <p:cNvSpPr/>
          <p:nvPr/>
        </p:nvSpPr>
        <p:spPr>
          <a:xfrm>
            <a:off x="960120"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8" name="Google Shape;1558;h547f90b031e64a91_0_287"/>
          <p:cNvSpPr txBox="1"/>
          <p:nvPr/>
        </p:nvSpPr>
        <p:spPr>
          <a:xfrm>
            <a:off x="1009650"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1</a:t>
            </a:r>
            <a:endParaRPr b="0" i="0" sz="1400" u="none" cap="none" strike="noStrike">
              <a:solidFill>
                <a:srgbClr val="000000"/>
              </a:solidFill>
              <a:latin typeface="Arial"/>
              <a:ea typeface="Arial"/>
              <a:cs typeface="Arial"/>
              <a:sym typeface="Arial"/>
            </a:endParaRPr>
          </a:p>
        </p:txBody>
      </p:sp>
      <p:sp>
        <p:nvSpPr>
          <p:cNvPr id="1559" name="Google Shape;1559;h547f90b031e64a91_0_287"/>
          <p:cNvSpPr txBox="1"/>
          <p:nvPr/>
        </p:nvSpPr>
        <p:spPr>
          <a:xfrm>
            <a:off x="1344168"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Direct Mapping</a:t>
            </a:r>
            <a:endParaRPr b="0" i="0" sz="1400" u="none" cap="none" strike="noStrike">
              <a:solidFill>
                <a:srgbClr val="000000"/>
              </a:solidFill>
              <a:latin typeface="Arial"/>
              <a:ea typeface="Arial"/>
              <a:cs typeface="Arial"/>
              <a:sym typeface="Arial"/>
            </a:endParaRPr>
          </a:p>
        </p:txBody>
      </p:sp>
      <p:sp>
        <p:nvSpPr>
          <p:cNvPr id="1560" name="Google Shape;1560;h547f90b031e64a91_0_287"/>
          <p:cNvSpPr txBox="1"/>
          <p:nvPr/>
        </p:nvSpPr>
        <p:spPr>
          <a:xfrm>
            <a:off x="996696"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Deterministic</a:t>
            </a:r>
            <a:endParaRPr b="0" i="0" sz="1400" u="none" cap="none" strike="noStrike">
              <a:solidFill>
                <a:srgbClr val="000000"/>
              </a:solidFill>
              <a:latin typeface="Arial"/>
              <a:ea typeface="Arial"/>
              <a:cs typeface="Arial"/>
              <a:sym typeface="Arial"/>
            </a:endParaRPr>
          </a:p>
        </p:txBody>
      </p:sp>
      <p:sp>
        <p:nvSpPr>
          <p:cNvPr id="1561" name="Google Shape;1561;h547f90b031e64a91_0_287"/>
          <p:cNvSpPr/>
          <p:nvPr/>
        </p:nvSpPr>
        <p:spPr>
          <a:xfrm>
            <a:off x="3630167"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62" name="Google Shape;1562;h547f90b031e64a91_0_287"/>
          <p:cNvSpPr/>
          <p:nvPr/>
        </p:nvSpPr>
        <p:spPr>
          <a:xfrm>
            <a:off x="3758184"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63" name="Google Shape;1563;h547f90b031e64a91_0_287"/>
          <p:cNvSpPr txBox="1"/>
          <p:nvPr/>
        </p:nvSpPr>
        <p:spPr>
          <a:xfrm>
            <a:off x="3807713"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2</a:t>
            </a:r>
            <a:endParaRPr b="0" i="0" sz="1400" u="none" cap="none" strike="noStrike">
              <a:solidFill>
                <a:srgbClr val="000000"/>
              </a:solidFill>
              <a:latin typeface="Arial"/>
              <a:ea typeface="Arial"/>
              <a:cs typeface="Arial"/>
              <a:sym typeface="Arial"/>
            </a:endParaRPr>
          </a:p>
        </p:txBody>
      </p:sp>
      <p:sp>
        <p:nvSpPr>
          <p:cNvPr id="1564" name="Google Shape;1564;h547f90b031e64a91_0_287"/>
          <p:cNvSpPr txBox="1"/>
          <p:nvPr/>
        </p:nvSpPr>
        <p:spPr>
          <a:xfrm>
            <a:off x="4142232"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LLM baseline</a:t>
            </a:r>
            <a:endParaRPr b="0" i="0" sz="1400" u="none" cap="none" strike="noStrike">
              <a:solidFill>
                <a:srgbClr val="000000"/>
              </a:solidFill>
              <a:latin typeface="Arial"/>
              <a:ea typeface="Arial"/>
              <a:cs typeface="Arial"/>
              <a:sym typeface="Arial"/>
            </a:endParaRPr>
          </a:p>
        </p:txBody>
      </p:sp>
      <p:sp>
        <p:nvSpPr>
          <p:cNvPr id="1565" name="Google Shape;1565;h547f90b031e64a91_0_287"/>
          <p:cNvSpPr txBox="1"/>
          <p:nvPr/>
        </p:nvSpPr>
        <p:spPr>
          <a:xfrm>
            <a:off x="3794760"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Table only</a:t>
            </a:r>
            <a:endParaRPr b="0" i="0" sz="1400" u="none" cap="none" strike="noStrike">
              <a:solidFill>
                <a:srgbClr val="000000"/>
              </a:solidFill>
              <a:latin typeface="Arial"/>
              <a:ea typeface="Arial"/>
              <a:cs typeface="Arial"/>
              <a:sym typeface="Arial"/>
            </a:endParaRPr>
          </a:p>
        </p:txBody>
      </p:sp>
      <p:sp>
        <p:nvSpPr>
          <p:cNvPr id="1566" name="Google Shape;1566;h547f90b031e64a91_0_287"/>
          <p:cNvSpPr/>
          <p:nvPr/>
        </p:nvSpPr>
        <p:spPr>
          <a:xfrm>
            <a:off x="6428233"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67" name="Google Shape;1567;h547f90b031e64a91_0_287"/>
          <p:cNvSpPr/>
          <p:nvPr/>
        </p:nvSpPr>
        <p:spPr>
          <a:xfrm>
            <a:off x="6556248"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68" name="Google Shape;1568;h547f90b031e64a91_0_287"/>
          <p:cNvSpPr txBox="1"/>
          <p:nvPr/>
        </p:nvSpPr>
        <p:spPr>
          <a:xfrm>
            <a:off x="6605778"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3</a:t>
            </a:r>
            <a:endParaRPr b="0" i="0" sz="1400" u="none" cap="none" strike="noStrike">
              <a:solidFill>
                <a:srgbClr val="000000"/>
              </a:solidFill>
              <a:latin typeface="Arial"/>
              <a:ea typeface="Arial"/>
              <a:cs typeface="Arial"/>
              <a:sym typeface="Arial"/>
            </a:endParaRPr>
          </a:p>
        </p:txBody>
      </p:sp>
      <p:sp>
        <p:nvSpPr>
          <p:cNvPr id="1569" name="Google Shape;1569;h547f90b031e64a91_0_287"/>
          <p:cNvSpPr txBox="1"/>
          <p:nvPr/>
        </p:nvSpPr>
        <p:spPr>
          <a:xfrm>
            <a:off x="6940296"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lang="en-US" sz="1540">
                <a:solidFill>
                  <a:srgbClr val="1F2328"/>
                </a:solidFill>
                <a:latin typeface="Calibri"/>
                <a:ea typeface="Calibri"/>
                <a:cs typeface="Calibri"/>
                <a:sym typeface="Calibri"/>
              </a:rPr>
              <a:t>Non-Iterative RAG </a:t>
            </a:r>
            <a:endParaRPr b="0" i="0" sz="1400" u="none" cap="none" strike="noStrike">
              <a:solidFill>
                <a:srgbClr val="000000"/>
              </a:solidFill>
              <a:latin typeface="Arial"/>
              <a:ea typeface="Arial"/>
              <a:cs typeface="Arial"/>
              <a:sym typeface="Arial"/>
            </a:endParaRPr>
          </a:p>
        </p:txBody>
      </p:sp>
      <p:sp>
        <p:nvSpPr>
          <p:cNvPr id="1570" name="Google Shape;1570;h547f90b031e64a91_0_287"/>
          <p:cNvSpPr txBox="1"/>
          <p:nvPr/>
        </p:nvSpPr>
        <p:spPr>
          <a:xfrm>
            <a:off x="6592824"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One-pass RAG</a:t>
            </a:r>
            <a:endParaRPr b="0" i="0" sz="1400" u="none" cap="none" strike="noStrike">
              <a:solidFill>
                <a:srgbClr val="000000"/>
              </a:solidFill>
              <a:latin typeface="Arial"/>
              <a:ea typeface="Arial"/>
              <a:cs typeface="Arial"/>
              <a:sym typeface="Arial"/>
            </a:endParaRPr>
          </a:p>
        </p:txBody>
      </p:sp>
      <p:sp>
        <p:nvSpPr>
          <p:cNvPr id="1571" name="Google Shape;1571;h547f90b031e64a91_0_287"/>
          <p:cNvSpPr/>
          <p:nvPr/>
        </p:nvSpPr>
        <p:spPr>
          <a:xfrm>
            <a:off x="9226300" y="3932023"/>
            <a:ext cx="2541900" cy="1362600"/>
          </a:xfrm>
          <a:prstGeom prst="roundRect">
            <a:avLst>
              <a:gd fmla="val 10000" name="adj"/>
            </a:avLst>
          </a:prstGeom>
          <a:solidFill>
            <a:srgbClr val="E6F2EC"/>
          </a:solidFill>
          <a:ln cap="flat" cmpd="sng" w="152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72" name="Google Shape;1572;h547f90b031e64a91_0_287"/>
          <p:cNvSpPr/>
          <p:nvPr/>
        </p:nvSpPr>
        <p:spPr>
          <a:xfrm>
            <a:off x="9354137" y="4074600"/>
            <a:ext cx="310800" cy="310800"/>
          </a:xfrm>
          <a:prstGeom prst="ellipse">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73" name="Google Shape;1573;h547f90b031e64a91_0_287"/>
          <p:cNvSpPr txBox="1"/>
          <p:nvPr/>
        </p:nvSpPr>
        <p:spPr>
          <a:xfrm>
            <a:off x="9395967" y="4122308"/>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4</a:t>
            </a:r>
            <a:endParaRPr b="0" i="0" sz="1400" u="none" cap="none" strike="noStrike">
              <a:solidFill>
                <a:srgbClr val="000000"/>
              </a:solidFill>
              <a:latin typeface="Arial"/>
              <a:ea typeface="Arial"/>
              <a:cs typeface="Arial"/>
              <a:sym typeface="Arial"/>
            </a:endParaRPr>
          </a:p>
        </p:txBody>
      </p:sp>
      <p:sp>
        <p:nvSpPr>
          <p:cNvPr id="1574" name="Google Shape;1574;h547f90b031e64a91_0_287"/>
          <p:cNvSpPr txBox="1"/>
          <p:nvPr/>
        </p:nvSpPr>
        <p:spPr>
          <a:xfrm>
            <a:off x="9738360"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RIGOR</a:t>
            </a:r>
            <a:endParaRPr b="0" i="0" sz="1400" u="none" cap="none" strike="noStrike">
              <a:solidFill>
                <a:srgbClr val="000000"/>
              </a:solidFill>
              <a:latin typeface="Arial"/>
              <a:ea typeface="Arial"/>
              <a:cs typeface="Arial"/>
              <a:sym typeface="Arial"/>
            </a:endParaRPr>
          </a:p>
        </p:txBody>
      </p:sp>
      <p:sp>
        <p:nvSpPr>
          <p:cNvPr id="1575" name="Google Shape;1575;h547f90b031e64a91_0_287"/>
          <p:cNvSpPr txBox="1"/>
          <p:nvPr/>
        </p:nvSpPr>
        <p:spPr>
          <a:xfrm>
            <a:off x="9390888"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Ground + grow + check</a:t>
            </a:r>
            <a:endParaRPr b="0" i="0" sz="1400" u="none" cap="none" strike="noStrike">
              <a:solidFill>
                <a:srgbClr val="000000"/>
              </a:solidFill>
              <a:latin typeface="Arial"/>
              <a:ea typeface="Arial"/>
              <a:cs typeface="Arial"/>
              <a:sym typeface="Arial"/>
            </a:endParaRPr>
          </a:p>
        </p:txBody>
      </p:sp>
      <p:sp>
        <p:nvSpPr>
          <p:cNvPr id="1576" name="Google Shape;1576;h547f90b031e64a91_0_287"/>
          <p:cNvSpPr/>
          <p:nvPr/>
        </p:nvSpPr>
        <p:spPr>
          <a:xfrm>
            <a:off x="4694403" y="3180217"/>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PhysioNet </a:t>
            </a:r>
            <a:r>
              <a:rPr b="0" i="0" lang="en-US" sz="1000" u="none" cap="none" strike="noStrike">
                <a:solidFill>
                  <a:srgbClr val="5B6770"/>
                </a:solidFill>
                <a:latin typeface="Calibri"/>
                <a:ea typeface="Calibri"/>
                <a:cs typeface="Calibri"/>
                <a:sym typeface="Calibri"/>
              </a:rPr>
              <a:t>[Goldberger et al. 2000]  </a:t>
            </a:r>
            <a:endParaRPr/>
          </a:p>
        </p:txBody>
      </p:sp>
      <p:sp>
        <p:nvSpPr>
          <p:cNvPr id="1577" name="Google Shape;1577;h547f90b031e64a91_0_287"/>
          <p:cNvSpPr/>
          <p:nvPr/>
        </p:nvSpPr>
        <p:spPr>
          <a:xfrm>
            <a:off x="8325528" y="3187194"/>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Chinook Database </a:t>
            </a:r>
            <a:r>
              <a:rPr b="0" i="0" lang="en-US" sz="1000" u="none" cap="none" strike="noStrike">
                <a:solidFill>
                  <a:srgbClr val="5B6770"/>
                </a:solidFill>
                <a:latin typeface="Calibri"/>
                <a:ea typeface="Calibri"/>
                <a:cs typeface="Calibri"/>
                <a:sym typeface="Calibri"/>
              </a:rPr>
              <a:t>[</a:t>
            </a:r>
            <a:r>
              <a:rPr lang="en-US" sz="1000">
                <a:solidFill>
                  <a:srgbClr val="5B6770"/>
                </a:solidFill>
                <a:latin typeface="Calibri"/>
                <a:ea typeface="Calibri"/>
                <a:cs typeface="Calibri"/>
                <a:sym typeface="Calibri"/>
              </a:rPr>
              <a:t>Rocha n.d.; accessed 2026]</a:t>
            </a:r>
            <a:r>
              <a:rPr b="0" i="0" lang="en-US" sz="1000" u="none" cap="none" strike="noStrike">
                <a:solidFill>
                  <a:srgbClr val="5B6770"/>
                </a:solidFill>
                <a:latin typeface="Calibri"/>
                <a:ea typeface="Calibri"/>
                <a:cs typeface="Calibri"/>
                <a:sym typeface="Calibri"/>
              </a:rPr>
              <a:t> </a:t>
            </a:r>
            <a:endParaRPr/>
          </a:p>
        </p:txBody>
      </p:sp>
      <p:sp>
        <p:nvSpPr>
          <p:cNvPr id="1578" name="Google Shape;1578;h547f90b031e64a91_0_287"/>
          <p:cNvSpPr/>
          <p:nvPr/>
        </p:nvSpPr>
        <p:spPr>
          <a:xfrm>
            <a:off x="960128" y="3211330"/>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Universitätsklinikum Leipzig</a:t>
            </a:r>
            <a:endParaRPr b="1" sz="1000">
              <a:solidFill>
                <a:srgbClr val="5B677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a:p>
        </p:txBody>
      </p:sp>
      <p:pic>
        <p:nvPicPr>
          <p:cNvPr id="1579" name="Google Shape;1579;h547f90b031e64a91_0_287" title="ChatGPT Image Oct 28, 2026, 02_33_00 PM-2.png"/>
          <p:cNvPicPr preferRelativeResize="0"/>
          <p:nvPr/>
        </p:nvPicPr>
        <p:blipFill>
          <a:blip r:embed="rId3">
            <a:alphaModFix/>
          </a:blip>
          <a:stretch>
            <a:fillRect/>
          </a:stretch>
        </p:blipFill>
        <p:spPr>
          <a:xfrm>
            <a:off x="7070399" y="1910023"/>
            <a:ext cx="830001" cy="830001"/>
          </a:xfrm>
          <a:prstGeom prst="rect">
            <a:avLst/>
          </a:prstGeom>
          <a:noFill/>
          <a:ln>
            <a:noFill/>
          </a:ln>
        </p:spPr>
      </p:pic>
      <p:pic>
        <p:nvPicPr>
          <p:cNvPr id="1580" name="Google Shape;1580;h547f90b031e64a91_0_287" title="ChatGPT Image Oct 28, 2026, 02_33_01 PM-3.png"/>
          <p:cNvPicPr preferRelativeResize="0"/>
          <p:nvPr/>
        </p:nvPicPr>
        <p:blipFill>
          <a:blip r:embed="rId4">
            <a:alphaModFix/>
          </a:blip>
          <a:stretch>
            <a:fillRect/>
          </a:stretch>
        </p:blipFill>
        <p:spPr>
          <a:xfrm>
            <a:off x="10759640" y="1928292"/>
            <a:ext cx="830001" cy="830001"/>
          </a:xfrm>
          <a:prstGeom prst="rect">
            <a:avLst/>
          </a:prstGeom>
          <a:noFill/>
          <a:ln>
            <a:noFill/>
          </a:ln>
        </p:spPr>
      </p:pic>
      <p:sp>
        <p:nvSpPr>
          <p:cNvPr id="1581" name="Google Shape;1581;h547f90b031e64a91_0_287"/>
          <p:cNvSpPr/>
          <p:nvPr/>
        </p:nvSpPr>
        <p:spPr>
          <a:xfrm>
            <a:off x="913950" y="4899249"/>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Direct Mapping </a:t>
            </a:r>
            <a:r>
              <a:rPr b="0" i="0" lang="en-US" sz="1000" u="none" cap="none" strike="noStrike">
                <a:solidFill>
                  <a:srgbClr val="5B6770"/>
                </a:solidFill>
                <a:latin typeface="Calibri"/>
                <a:ea typeface="Calibri"/>
                <a:cs typeface="Calibri"/>
                <a:sym typeface="Calibri"/>
              </a:rPr>
              <a:t>[Goldberger et al. 2000]  </a:t>
            </a:r>
            <a:endParaRPr/>
          </a:p>
        </p:txBody>
      </p:sp>
      <p:sp>
        <p:nvSpPr>
          <p:cNvPr id="1582" name="Google Shape;1582;h547f90b031e64a91_0_287"/>
          <p:cNvSpPr/>
          <p:nvPr/>
        </p:nvSpPr>
        <p:spPr>
          <a:xfrm>
            <a:off x="3758175" y="4899277"/>
            <a:ext cx="2319900" cy="21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Ontology engineering with large language models </a:t>
            </a:r>
            <a:r>
              <a:rPr b="0" i="0" lang="en-US" sz="1000" u="none" cap="none" strike="noStrike">
                <a:solidFill>
                  <a:srgbClr val="5B6770"/>
                </a:solidFill>
                <a:latin typeface="Calibri"/>
                <a:ea typeface="Calibri"/>
                <a:cs typeface="Calibri"/>
                <a:sym typeface="Calibri"/>
              </a:rPr>
              <a:t>[</a:t>
            </a:r>
            <a:r>
              <a:rPr lang="en-US" sz="1000">
                <a:solidFill>
                  <a:srgbClr val="5B6770"/>
                </a:solidFill>
                <a:latin typeface="Calibri"/>
                <a:ea typeface="Calibri"/>
                <a:cs typeface="Calibri"/>
                <a:sym typeface="Calibri"/>
              </a:rPr>
              <a:t>Mateiu &amp; Groza, SYNASC 2023]</a:t>
            </a:r>
            <a:r>
              <a:rPr b="0" i="0" lang="en-US" sz="1000" u="none" cap="none" strike="noStrike">
                <a:solidFill>
                  <a:srgbClr val="5B6770"/>
                </a:solidFill>
                <a:latin typeface="Calibri"/>
                <a:ea typeface="Calibri"/>
                <a:cs typeface="Calibri"/>
                <a:sym typeface="Calibri"/>
              </a:rPr>
              <a:t>  </a:t>
            </a:r>
            <a:endParaRPr/>
          </a:p>
        </p:txBody>
      </p:sp>
      <p:pic>
        <p:nvPicPr>
          <p:cNvPr id="1583" name="Google Shape;1583;h547f90b031e64a91_0_287" title="ChatGPT Image Oct 28, 2026, 02_32_59 PM-1.png"/>
          <p:cNvPicPr preferRelativeResize="0"/>
          <p:nvPr/>
        </p:nvPicPr>
        <p:blipFill>
          <a:blip r:embed="rId5">
            <a:alphaModFix/>
          </a:blip>
          <a:stretch>
            <a:fillRect/>
          </a:stretch>
        </p:blipFill>
        <p:spPr>
          <a:xfrm>
            <a:off x="3508704" y="1925173"/>
            <a:ext cx="685800" cy="685800"/>
          </a:xfrm>
          <a:prstGeom prst="rect">
            <a:avLst/>
          </a:prstGeom>
          <a:noFill/>
          <a:ln>
            <a:noFill/>
          </a:ln>
        </p:spPr>
      </p:pic>
      <p:sp>
        <p:nvSpPr>
          <p:cNvPr id="1584" name="Google Shape;1584;h547f90b031e64a91_0_287"/>
          <p:cNvSpPr/>
          <p:nvPr/>
        </p:nvSpPr>
        <p:spPr>
          <a:xfrm>
            <a:off x="3508989" y="3842176"/>
            <a:ext cx="8389200" cy="1573500"/>
          </a:xfrm>
          <a:prstGeom prst="roundRect">
            <a:avLst>
              <a:gd fmla="val 10000" name="adj"/>
            </a:avLst>
          </a:prstGeom>
          <a:noFill/>
          <a:ln cap="flat" cmpd="sng" w="29375">
            <a:solidFill>
              <a:schemeClr val="accent4"/>
            </a:solidFill>
            <a:prstDash val="solid"/>
            <a:miter lim="80"/>
            <a:headEnd len="sm" w="sm" type="none"/>
            <a:tailEnd len="sm" w="sm" type="none"/>
          </a:ln>
        </p:spPr>
        <p:txBody>
          <a:bodyPr anchorCtr="0" anchor="ctr" bIns="105675" lIns="211375" spcFirstLastPara="1" rIns="211375" wrap="square" tIns="105675">
            <a:noAutofit/>
          </a:bodyPr>
          <a:lstStyle/>
          <a:p>
            <a:pPr indent="0" lvl="0" marL="0" marR="0" rtl="0" algn="ctr">
              <a:lnSpc>
                <a:spcPct val="100000"/>
              </a:lnSpc>
              <a:spcBef>
                <a:spcPts val="0"/>
              </a:spcBef>
              <a:spcAft>
                <a:spcPts val="0"/>
              </a:spcAft>
              <a:buClr>
                <a:srgbClr val="000000"/>
              </a:buClr>
              <a:buSzPts val="4162"/>
              <a:buFont typeface="Arial"/>
              <a:buNone/>
            </a:pPr>
            <a:r>
              <a:t/>
            </a:r>
            <a:endParaRPr b="0" i="0" sz="4162" u="none" cap="none" strike="noStrike">
              <a:solidFill>
                <a:schemeClr val="dk1"/>
              </a:solidFill>
              <a:latin typeface="Calibri"/>
              <a:ea typeface="Calibri"/>
              <a:cs typeface="Calibri"/>
              <a:sym typeface="Calibri"/>
            </a:endParaRPr>
          </a:p>
        </p:txBody>
      </p:sp>
      <p:sp>
        <p:nvSpPr>
          <p:cNvPr id="1585" name="Google Shape;1585;h547f90b031e64a91_0_287"/>
          <p:cNvSpPr txBox="1"/>
          <p:nvPr/>
        </p:nvSpPr>
        <p:spPr>
          <a:xfrm>
            <a:off x="3508700" y="5523488"/>
            <a:ext cx="8389200" cy="2463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3699"/>
              <a:buFont typeface="Arial"/>
              <a:buNone/>
            </a:pPr>
            <a:r>
              <a:rPr b="1" lang="en-US" sz="1600">
                <a:solidFill>
                  <a:srgbClr val="5B6770"/>
                </a:solidFill>
                <a:latin typeface="Calibri"/>
                <a:ea typeface="Calibri"/>
                <a:cs typeface="Calibri"/>
                <a:sym typeface="Calibri"/>
              </a:rPr>
              <a:t>LLM-based Methods</a:t>
            </a:r>
            <a:endParaRPr b="0" i="0" sz="1600" u="none" cap="none" strike="noStrike">
              <a:solidFill>
                <a:srgbClr val="000000"/>
              </a:solidFill>
              <a:latin typeface="Arial"/>
              <a:ea typeface="Arial"/>
              <a:cs typeface="Arial"/>
              <a:sym typeface="Arial"/>
            </a:endParaRPr>
          </a:p>
        </p:txBody>
      </p:sp>
      <p:sp>
        <p:nvSpPr>
          <p:cNvPr id="1586" name="Google Shape;1586;h547f90b031e64a91_0_287"/>
          <p:cNvSpPr txBox="1"/>
          <p:nvPr/>
        </p:nvSpPr>
        <p:spPr>
          <a:xfrm>
            <a:off x="3508699" y="5877625"/>
            <a:ext cx="8445900" cy="238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550"/>
              <a:buFont typeface="Arial"/>
              <a:buNone/>
            </a:pPr>
            <a:r>
              <a:rPr lang="en-US" sz="1550">
                <a:solidFill>
                  <a:srgbClr val="1F2328"/>
                </a:solidFill>
                <a:latin typeface="Calibri"/>
                <a:ea typeface="Calibri"/>
                <a:cs typeface="Calibri"/>
                <a:sym typeface="Calibri"/>
              </a:rPr>
              <a:t>3 </a:t>
            </a:r>
            <a:r>
              <a:rPr b="1" lang="en-US" sz="1550">
                <a:solidFill>
                  <a:srgbClr val="1F2328"/>
                </a:solidFill>
                <a:latin typeface="Calibri"/>
                <a:ea typeface="Calibri"/>
                <a:cs typeface="Calibri"/>
                <a:sym typeface="Calibri"/>
              </a:rPr>
              <a:t>LLM</a:t>
            </a:r>
            <a:r>
              <a:rPr lang="en-US" sz="1550">
                <a:solidFill>
                  <a:srgbClr val="1F2328"/>
                </a:solidFill>
                <a:latin typeface="Calibri"/>
                <a:ea typeface="Calibri"/>
                <a:cs typeface="Calibri"/>
                <a:sym typeface="Calibri"/>
              </a:rPr>
              <a:t> </a:t>
            </a:r>
            <a:r>
              <a:rPr b="1" lang="en-US" sz="1550">
                <a:solidFill>
                  <a:srgbClr val="1F2328"/>
                </a:solidFill>
                <a:latin typeface="Calibri"/>
                <a:ea typeface="Calibri"/>
                <a:cs typeface="Calibri"/>
                <a:sym typeface="Calibri"/>
              </a:rPr>
              <a:t>METHOD</a:t>
            </a:r>
            <a:r>
              <a:rPr lang="en-US" sz="1550">
                <a:solidFill>
                  <a:srgbClr val="1F2328"/>
                </a:solidFill>
                <a:latin typeface="Calibri"/>
                <a:ea typeface="Calibri"/>
                <a:cs typeface="Calibri"/>
                <a:sym typeface="Calibri"/>
              </a:rPr>
              <a:t> × 3 </a:t>
            </a:r>
            <a:r>
              <a:rPr b="1" lang="en-US" sz="1550">
                <a:solidFill>
                  <a:srgbClr val="1F2328"/>
                </a:solidFill>
                <a:latin typeface="Calibri"/>
                <a:ea typeface="Calibri"/>
                <a:cs typeface="Calibri"/>
                <a:sym typeface="Calibri"/>
              </a:rPr>
              <a:t>DATABASE</a:t>
            </a:r>
            <a:r>
              <a:rPr lang="en-US" sz="1550">
                <a:solidFill>
                  <a:srgbClr val="1F2328"/>
                </a:solidFill>
                <a:latin typeface="Calibri"/>
                <a:ea typeface="Calibri"/>
                <a:cs typeface="Calibri"/>
                <a:sym typeface="Calibri"/>
              </a:rPr>
              <a:t> × 3 </a:t>
            </a:r>
            <a:r>
              <a:rPr b="1" lang="en-US" sz="1550">
                <a:solidFill>
                  <a:srgbClr val="1F2328"/>
                </a:solidFill>
                <a:latin typeface="Calibri"/>
                <a:ea typeface="Calibri"/>
                <a:cs typeface="Calibri"/>
                <a:sym typeface="Calibri"/>
              </a:rPr>
              <a:t>LLM</a:t>
            </a:r>
            <a:r>
              <a:rPr lang="en-US" sz="1550">
                <a:solidFill>
                  <a:srgbClr val="1F2328"/>
                </a:solidFill>
                <a:latin typeface="Calibri"/>
                <a:ea typeface="Calibri"/>
                <a:cs typeface="Calibri"/>
                <a:sym typeface="Calibri"/>
              </a:rPr>
              <a:t> </a:t>
            </a:r>
            <a:r>
              <a:rPr b="1" lang="en-US" sz="1550">
                <a:solidFill>
                  <a:srgbClr val="0B6E4F"/>
                </a:solidFill>
                <a:latin typeface="Calibri"/>
                <a:ea typeface="Calibri"/>
                <a:cs typeface="Calibri"/>
                <a:sym typeface="Calibri"/>
              </a:rPr>
              <a:t>= 27 ONTOLOGIES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1" name="Shape 1591"/>
        <p:cNvGrpSpPr/>
        <p:nvPr/>
      </p:nvGrpSpPr>
      <p:grpSpPr>
        <a:xfrm>
          <a:off x="0" y="0"/>
          <a:ext cx="0" cy="0"/>
          <a:chOff x="0" y="0"/>
          <a:chExt cx="0" cy="0"/>
        </a:xfrm>
      </p:grpSpPr>
      <p:sp>
        <p:nvSpPr>
          <p:cNvPr id="1592" name="Google Shape;1592;h547f90b031e64a91_0_341"/>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lang="en-US">
                <a:solidFill>
                  <a:srgbClr val="0B6E4F"/>
                </a:solidFill>
                <a:latin typeface="Consolas"/>
                <a:ea typeface="Consolas"/>
                <a:cs typeface="Consolas"/>
                <a:sym typeface="Consolas"/>
              </a:rPr>
              <a:t>EVALUATION</a:t>
            </a:r>
            <a:endParaRPr b="0" i="0" sz="1400" u="none" cap="none" strike="noStrike">
              <a:solidFill>
                <a:srgbClr val="000000"/>
              </a:solidFill>
              <a:latin typeface="Arial"/>
              <a:ea typeface="Arial"/>
              <a:cs typeface="Arial"/>
              <a:sym typeface="Arial"/>
            </a:endParaRPr>
          </a:p>
        </p:txBody>
      </p:sp>
      <p:sp>
        <p:nvSpPr>
          <p:cNvPr id="1593" name="Google Shape;1593;h547f90b031e64a91_0_341"/>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Does the method work beyond our running example?</a:t>
            </a:r>
            <a:endParaRPr b="0" i="0" sz="1400" u="none" cap="none" strike="noStrike">
              <a:solidFill>
                <a:srgbClr val="000000"/>
              </a:solidFill>
              <a:latin typeface="Arial"/>
              <a:ea typeface="Arial"/>
              <a:cs typeface="Arial"/>
              <a:sym typeface="Arial"/>
            </a:endParaRPr>
          </a:p>
        </p:txBody>
      </p:sp>
      <p:sp>
        <p:nvSpPr>
          <p:cNvPr id="1594" name="Google Shape;1594;h547f90b031e64a91_0_341"/>
          <p:cNvSpPr txBox="1"/>
          <p:nvPr/>
        </p:nvSpPr>
        <p:spPr>
          <a:xfrm>
            <a:off x="795528" y="1397967"/>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databases, </a:t>
            </a: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generator models, </a:t>
            </a:r>
            <a:r>
              <a:rPr b="1" i="0" lang="en-US" sz="1600" u="none" cap="none" strike="noStrike">
                <a:solidFill>
                  <a:srgbClr val="5B6770"/>
                </a:solidFill>
                <a:latin typeface="Calibri"/>
                <a:ea typeface="Calibri"/>
                <a:cs typeface="Calibri"/>
                <a:sym typeface="Calibri"/>
              </a:rPr>
              <a:t>four</a:t>
            </a:r>
            <a:r>
              <a:rPr b="0" i="0" lang="en-US" sz="1600" u="none" cap="none" strike="noStrike">
                <a:solidFill>
                  <a:srgbClr val="5B6770"/>
                </a:solidFill>
                <a:latin typeface="Calibri"/>
                <a:ea typeface="Calibri"/>
                <a:cs typeface="Calibri"/>
                <a:sym typeface="Calibri"/>
              </a:rPr>
              <a:t> methods, evaluated from complementary </a:t>
            </a:r>
            <a:r>
              <a:rPr b="1" i="0" lang="en-US" sz="1600" u="none" cap="none" strike="noStrike">
                <a:solidFill>
                  <a:srgbClr val="5B6770"/>
                </a:solidFill>
                <a:latin typeface="Calibri"/>
                <a:ea typeface="Calibri"/>
                <a:cs typeface="Calibri"/>
                <a:sym typeface="Calibri"/>
              </a:rPr>
              <a:t>angles</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595" name="Google Shape;1595;h547f90b031e64a91_0_341"/>
          <p:cNvSpPr/>
          <p:nvPr/>
        </p:nvSpPr>
        <p:spPr>
          <a:xfrm>
            <a:off x="8321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6" name="Google Shape;1596;h547f90b031e64a91_0_341"/>
          <p:cNvSpPr/>
          <p:nvPr/>
        </p:nvSpPr>
        <p:spPr>
          <a:xfrm>
            <a:off x="832104" y="1910031"/>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7" name="Google Shape;1597;h547f90b031e64a91_0_341"/>
          <p:cNvSpPr txBox="1"/>
          <p:nvPr/>
        </p:nvSpPr>
        <p:spPr>
          <a:xfrm>
            <a:off x="10241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LIVER CANCER</a:t>
            </a:r>
            <a:endParaRPr b="0" i="0" sz="1400" u="none" cap="none" strike="noStrike">
              <a:solidFill>
                <a:srgbClr val="000000"/>
              </a:solidFill>
              <a:latin typeface="Arial"/>
              <a:ea typeface="Arial"/>
              <a:cs typeface="Arial"/>
              <a:sym typeface="Arial"/>
            </a:endParaRPr>
          </a:p>
        </p:txBody>
      </p:sp>
      <p:sp>
        <p:nvSpPr>
          <p:cNvPr id="1598" name="Google Shape;1598;h547f90b031e64a91_0_341"/>
          <p:cNvSpPr txBox="1"/>
          <p:nvPr/>
        </p:nvSpPr>
        <p:spPr>
          <a:xfrm>
            <a:off x="10241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16 tables  ·  350 columns</a:t>
            </a:r>
            <a:endParaRPr b="0" i="0" sz="1400" u="none" cap="none" strike="noStrike">
              <a:solidFill>
                <a:srgbClr val="000000"/>
              </a:solidFill>
              <a:latin typeface="Arial"/>
              <a:ea typeface="Arial"/>
              <a:cs typeface="Arial"/>
              <a:sym typeface="Arial"/>
            </a:endParaRPr>
          </a:p>
        </p:txBody>
      </p:sp>
      <p:sp>
        <p:nvSpPr>
          <p:cNvPr id="1599" name="Google Shape;1599;h547f90b031e64a91_0_341"/>
          <p:cNvSpPr txBox="1"/>
          <p:nvPr/>
        </p:nvSpPr>
        <p:spPr>
          <a:xfrm>
            <a:off x="1024128" y="275127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specialist clinical registry </a:t>
            </a:r>
            <a:endParaRPr b="0" i="0" sz="1400" u="none" cap="none" strike="noStrike">
              <a:solidFill>
                <a:srgbClr val="000000"/>
              </a:solidFill>
              <a:latin typeface="Arial"/>
              <a:ea typeface="Arial"/>
              <a:cs typeface="Arial"/>
              <a:sym typeface="Arial"/>
            </a:endParaRPr>
          </a:p>
        </p:txBody>
      </p:sp>
      <p:sp>
        <p:nvSpPr>
          <p:cNvPr id="1600" name="Google Shape;1600;h547f90b031e64a91_0_341"/>
          <p:cNvSpPr/>
          <p:nvPr/>
        </p:nvSpPr>
        <p:spPr>
          <a:xfrm>
            <a:off x="44897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01" name="Google Shape;1601;h547f90b031e64a91_0_341"/>
          <p:cNvSpPr/>
          <p:nvPr/>
        </p:nvSpPr>
        <p:spPr>
          <a:xfrm>
            <a:off x="4489704" y="1910031"/>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02" name="Google Shape;1602;h547f90b031e64a91_0_341"/>
          <p:cNvSpPr txBox="1"/>
          <p:nvPr/>
        </p:nvSpPr>
        <p:spPr>
          <a:xfrm>
            <a:off x="46817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eICU-CRD</a:t>
            </a:r>
            <a:endParaRPr b="0" i="0" sz="1400" u="none" cap="none" strike="noStrike">
              <a:solidFill>
                <a:srgbClr val="000000"/>
              </a:solidFill>
              <a:latin typeface="Arial"/>
              <a:ea typeface="Arial"/>
              <a:cs typeface="Arial"/>
              <a:sym typeface="Arial"/>
            </a:endParaRPr>
          </a:p>
        </p:txBody>
      </p:sp>
      <p:sp>
        <p:nvSpPr>
          <p:cNvPr id="1603" name="Google Shape;1603;h547f90b031e64a91_0_341"/>
          <p:cNvSpPr txBox="1"/>
          <p:nvPr/>
        </p:nvSpPr>
        <p:spPr>
          <a:xfrm>
            <a:off x="46817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31 tables  ·  559 columns</a:t>
            </a:r>
            <a:endParaRPr b="0" i="0" sz="1400" u="none" cap="none" strike="noStrike">
              <a:solidFill>
                <a:srgbClr val="000000"/>
              </a:solidFill>
              <a:latin typeface="Arial"/>
              <a:ea typeface="Arial"/>
              <a:cs typeface="Arial"/>
              <a:sym typeface="Arial"/>
            </a:endParaRPr>
          </a:p>
        </p:txBody>
      </p:sp>
      <p:sp>
        <p:nvSpPr>
          <p:cNvPr id="1604" name="Google Shape;1604;h547f90b031e64a91_0_341"/>
          <p:cNvSpPr txBox="1"/>
          <p:nvPr/>
        </p:nvSpPr>
        <p:spPr>
          <a:xfrm>
            <a:off x="4681728" y="2751279"/>
            <a:ext cx="2999100" cy="4797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large ICU schema </a:t>
            </a:r>
            <a:endParaRPr/>
          </a:p>
          <a:p>
            <a:pPr indent="0" lvl="0" marL="0" marR="0" rtl="0" algn="l">
              <a:lnSpc>
                <a:spcPct val="105000"/>
              </a:lnSpc>
              <a:spcBef>
                <a:spcPts val="0"/>
              </a:spcBef>
              <a:spcAft>
                <a:spcPts val="0"/>
              </a:spcAft>
              <a:buClr>
                <a:srgbClr val="000000"/>
              </a:buClr>
              <a:buSzPts val="1520"/>
              <a:buFont typeface="Arial"/>
              <a:buNone/>
            </a:pPr>
            <a:r>
              <a:t/>
            </a:r>
            <a:endParaRPr sz="1520">
              <a:solidFill>
                <a:srgbClr val="5B6770"/>
              </a:solidFill>
              <a:latin typeface="Calibri"/>
              <a:ea typeface="Calibri"/>
              <a:cs typeface="Calibri"/>
              <a:sym typeface="Calibri"/>
            </a:endParaRPr>
          </a:p>
        </p:txBody>
      </p:sp>
      <p:sp>
        <p:nvSpPr>
          <p:cNvPr id="1605" name="Google Shape;1605;h547f90b031e64a91_0_341"/>
          <p:cNvSpPr/>
          <p:nvPr/>
        </p:nvSpPr>
        <p:spPr>
          <a:xfrm>
            <a:off x="81473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06" name="Google Shape;1606;h547f90b031e64a91_0_341"/>
          <p:cNvSpPr/>
          <p:nvPr/>
        </p:nvSpPr>
        <p:spPr>
          <a:xfrm>
            <a:off x="8147304" y="1910031"/>
            <a:ext cx="3410700" cy="59400"/>
          </a:xfrm>
          <a:prstGeom prst="rect">
            <a:avLst/>
          </a:prstGeom>
          <a:solidFill>
            <a:srgbClr val="2F6B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07" name="Google Shape;1607;h547f90b031e64a91_0_341"/>
          <p:cNvSpPr txBox="1"/>
          <p:nvPr/>
        </p:nvSpPr>
        <p:spPr>
          <a:xfrm>
            <a:off x="83393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CHINOOK</a:t>
            </a:r>
            <a:endParaRPr b="0" i="0" sz="1400" u="none" cap="none" strike="noStrike">
              <a:solidFill>
                <a:srgbClr val="000000"/>
              </a:solidFill>
              <a:latin typeface="Arial"/>
              <a:ea typeface="Arial"/>
              <a:cs typeface="Arial"/>
              <a:sym typeface="Arial"/>
            </a:endParaRPr>
          </a:p>
        </p:txBody>
      </p:sp>
      <p:sp>
        <p:nvSpPr>
          <p:cNvPr id="1608" name="Google Shape;1608;h547f90b031e64a91_0_341"/>
          <p:cNvSpPr txBox="1"/>
          <p:nvPr/>
        </p:nvSpPr>
        <p:spPr>
          <a:xfrm>
            <a:off x="83393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11 tables  ·  67 columns</a:t>
            </a:r>
            <a:endParaRPr b="0" i="0" sz="1400" u="none" cap="none" strike="noStrike">
              <a:solidFill>
                <a:srgbClr val="000000"/>
              </a:solidFill>
              <a:latin typeface="Arial"/>
              <a:ea typeface="Arial"/>
              <a:cs typeface="Arial"/>
              <a:sym typeface="Arial"/>
            </a:endParaRPr>
          </a:p>
        </p:txBody>
      </p:sp>
      <p:sp>
        <p:nvSpPr>
          <p:cNvPr id="1609" name="Google Shape;1609;h547f90b031e64a91_0_341"/>
          <p:cNvSpPr txBox="1"/>
          <p:nvPr/>
        </p:nvSpPr>
        <p:spPr>
          <a:xfrm>
            <a:off x="8339328" y="275127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music store </a:t>
            </a:r>
            <a:endParaRPr b="0" i="0" sz="1400" u="none" cap="none" strike="noStrike">
              <a:solidFill>
                <a:srgbClr val="000000"/>
              </a:solidFill>
              <a:latin typeface="Arial"/>
              <a:ea typeface="Arial"/>
              <a:cs typeface="Arial"/>
              <a:sym typeface="Arial"/>
            </a:endParaRPr>
          </a:p>
        </p:txBody>
      </p:sp>
      <p:sp>
        <p:nvSpPr>
          <p:cNvPr id="1610" name="Google Shape;1610;h547f90b031e64a91_0_341"/>
          <p:cNvSpPr txBox="1"/>
          <p:nvPr/>
        </p:nvSpPr>
        <p:spPr>
          <a:xfrm>
            <a:off x="832104" y="3557110"/>
            <a:ext cx="98754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FOUR </a:t>
            </a:r>
            <a:r>
              <a:rPr b="1" lang="en-US" sz="1520">
                <a:solidFill>
                  <a:srgbClr val="0B6E4F"/>
                </a:solidFill>
                <a:latin typeface="Consolas"/>
                <a:ea typeface="Consolas"/>
                <a:cs typeface="Consolas"/>
                <a:sym typeface="Consolas"/>
              </a:rPr>
              <a:t>METHODS</a:t>
            </a:r>
            <a:r>
              <a:rPr b="1" i="0" lang="en-US" sz="1520" u="none" cap="none" strike="noStrike">
                <a:solidFill>
                  <a:srgbClr val="0B6E4F"/>
                </a:solidFill>
                <a:latin typeface="Consolas"/>
                <a:ea typeface="Consolas"/>
                <a:cs typeface="Consolas"/>
                <a:sym typeface="Consolas"/>
              </a:rPr>
              <a:t> TO GENERATE AN ONTOLOGY F</a:t>
            </a:r>
            <a:r>
              <a:rPr b="1" lang="en-US" sz="1520">
                <a:solidFill>
                  <a:srgbClr val="0B6E4F"/>
                </a:solidFill>
                <a:latin typeface="Consolas"/>
                <a:ea typeface="Consolas"/>
                <a:cs typeface="Consolas"/>
                <a:sym typeface="Consolas"/>
              </a:rPr>
              <a:t>ROM A RELATIONAL DATABASE SCHEMA</a:t>
            </a:r>
            <a:endParaRPr b="0" i="0" sz="1400" u="none" cap="none" strike="noStrike">
              <a:solidFill>
                <a:srgbClr val="000000"/>
              </a:solidFill>
              <a:latin typeface="Arial"/>
              <a:ea typeface="Arial"/>
              <a:cs typeface="Arial"/>
              <a:sym typeface="Arial"/>
            </a:endParaRPr>
          </a:p>
        </p:txBody>
      </p:sp>
      <p:sp>
        <p:nvSpPr>
          <p:cNvPr id="1611" name="Google Shape;1611;h547f90b031e64a91_0_341"/>
          <p:cNvSpPr/>
          <p:nvPr/>
        </p:nvSpPr>
        <p:spPr>
          <a:xfrm>
            <a:off x="832100"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2" name="Google Shape;1612;h547f90b031e64a91_0_341"/>
          <p:cNvSpPr/>
          <p:nvPr/>
        </p:nvSpPr>
        <p:spPr>
          <a:xfrm>
            <a:off x="960120"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3" name="Google Shape;1613;h547f90b031e64a91_0_341"/>
          <p:cNvSpPr txBox="1"/>
          <p:nvPr/>
        </p:nvSpPr>
        <p:spPr>
          <a:xfrm>
            <a:off x="1009650"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1</a:t>
            </a:r>
            <a:endParaRPr b="0" i="0" sz="1400" u="none" cap="none" strike="noStrike">
              <a:solidFill>
                <a:srgbClr val="000000"/>
              </a:solidFill>
              <a:latin typeface="Arial"/>
              <a:ea typeface="Arial"/>
              <a:cs typeface="Arial"/>
              <a:sym typeface="Arial"/>
            </a:endParaRPr>
          </a:p>
        </p:txBody>
      </p:sp>
      <p:sp>
        <p:nvSpPr>
          <p:cNvPr id="1614" name="Google Shape;1614;h547f90b031e64a91_0_341"/>
          <p:cNvSpPr txBox="1"/>
          <p:nvPr/>
        </p:nvSpPr>
        <p:spPr>
          <a:xfrm>
            <a:off x="1344168"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Direct Mapping</a:t>
            </a:r>
            <a:endParaRPr b="0" i="0" sz="1400" u="none" cap="none" strike="noStrike">
              <a:solidFill>
                <a:srgbClr val="000000"/>
              </a:solidFill>
              <a:latin typeface="Arial"/>
              <a:ea typeface="Arial"/>
              <a:cs typeface="Arial"/>
              <a:sym typeface="Arial"/>
            </a:endParaRPr>
          </a:p>
        </p:txBody>
      </p:sp>
      <p:sp>
        <p:nvSpPr>
          <p:cNvPr id="1615" name="Google Shape;1615;h547f90b031e64a91_0_341"/>
          <p:cNvSpPr txBox="1"/>
          <p:nvPr/>
        </p:nvSpPr>
        <p:spPr>
          <a:xfrm>
            <a:off x="996696"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Deterministic</a:t>
            </a:r>
            <a:endParaRPr b="0" i="0" sz="1400" u="none" cap="none" strike="noStrike">
              <a:solidFill>
                <a:srgbClr val="000000"/>
              </a:solidFill>
              <a:latin typeface="Arial"/>
              <a:ea typeface="Arial"/>
              <a:cs typeface="Arial"/>
              <a:sym typeface="Arial"/>
            </a:endParaRPr>
          </a:p>
        </p:txBody>
      </p:sp>
      <p:sp>
        <p:nvSpPr>
          <p:cNvPr id="1616" name="Google Shape;1616;h547f90b031e64a91_0_341"/>
          <p:cNvSpPr/>
          <p:nvPr/>
        </p:nvSpPr>
        <p:spPr>
          <a:xfrm>
            <a:off x="3630167"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7" name="Google Shape;1617;h547f90b031e64a91_0_341"/>
          <p:cNvSpPr/>
          <p:nvPr/>
        </p:nvSpPr>
        <p:spPr>
          <a:xfrm>
            <a:off x="3758184"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8" name="Google Shape;1618;h547f90b031e64a91_0_341"/>
          <p:cNvSpPr txBox="1"/>
          <p:nvPr/>
        </p:nvSpPr>
        <p:spPr>
          <a:xfrm>
            <a:off x="3807713"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2</a:t>
            </a:r>
            <a:endParaRPr b="0" i="0" sz="1400" u="none" cap="none" strike="noStrike">
              <a:solidFill>
                <a:srgbClr val="000000"/>
              </a:solidFill>
              <a:latin typeface="Arial"/>
              <a:ea typeface="Arial"/>
              <a:cs typeface="Arial"/>
              <a:sym typeface="Arial"/>
            </a:endParaRPr>
          </a:p>
        </p:txBody>
      </p:sp>
      <p:sp>
        <p:nvSpPr>
          <p:cNvPr id="1619" name="Google Shape;1619;h547f90b031e64a91_0_341"/>
          <p:cNvSpPr txBox="1"/>
          <p:nvPr/>
        </p:nvSpPr>
        <p:spPr>
          <a:xfrm>
            <a:off x="4142232"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LLM baseline</a:t>
            </a:r>
            <a:endParaRPr b="0" i="0" sz="1400" u="none" cap="none" strike="noStrike">
              <a:solidFill>
                <a:srgbClr val="000000"/>
              </a:solidFill>
              <a:latin typeface="Arial"/>
              <a:ea typeface="Arial"/>
              <a:cs typeface="Arial"/>
              <a:sym typeface="Arial"/>
            </a:endParaRPr>
          </a:p>
        </p:txBody>
      </p:sp>
      <p:sp>
        <p:nvSpPr>
          <p:cNvPr id="1620" name="Google Shape;1620;h547f90b031e64a91_0_341"/>
          <p:cNvSpPr txBox="1"/>
          <p:nvPr/>
        </p:nvSpPr>
        <p:spPr>
          <a:xfrm>
            <a:off x="3794760"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Table only</a:t>
            </a:r>
            <a:endParaRPr b="0" i="0" sz="1400" u="none" cap="none" strike="noStrike">
              <a:solidFill>
                <a:srgbClr val="000000"/>
              </a:solidFill>
              <a:latin typeface="Arial"/>
              <a:ea typeface="Arial"/>
              <a:cs typeface="Arial"/>
              <a:sym typeface="Arial"/>
            </a:endParaRPr>
          </a:p>
        </p:txBody>
      </p:sp>
      <p:sp>
        <p:nvSpPr>
          <p:cNvPr id="1621" name="Google Shape;1621;h547f90b031e64a91_0_341"/>
          <p:cNvSpPr/>
          <p:nvPr/>
        </p:nvSpPr>
        <p:spPr>
          <a:xfrm>
            <a:off x="6428233"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2" name="Google Shape;1622;h547f90b031e64a91_0_341"/>
          <p:cNvSpPr/>
          <p:nvPr/>
        </p:nvSpPr>
        <p:spPr>
          <a:xfrm>
            <a:off x="6556248"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3" name="Google Shape;1623;h547f90b031e64a91_0_341"/>
          <p:cNvSpPr txBox="1"/>
          <p:nvPr/>
        </p:nvSpPr>
        <p:spPr>
          <a:xfrm>
            <a:off x="6605778"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3</a:t>
            </a:r>
            <a:endParaRPr b="0" i="0" sz="1400" u="none" cap="none" strike="noStrike">
              <a:solidFill>
                <a:srgbClr val="000000"/>
              </a:solidFill>
              <a:latin typeface="Arial"/>
              <a:ea typeface="Arial"/>
              <a:cs typeface="Arial"/>
              <a:sym typeface="Arial"/>
            </a:endParaRPr>
          </a:p>
        </p:txBody>
      </p:sp>
      <p:sp>
        <p:nvSpPr>
          <p:cNvPr id="1624" name="Google Shape;1624;h547f90b031e64a91_0_341"/>
          <p:cNvSpPr txBox="1"/>
          <p:nvPr/>
        </p:nvSpPr>
        <p:spPr>
          <a:xfrm>
            <a:off x="6940296"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lang="en-US" sz="1540">
                <a:solidFill>
                  <a:srgbClr val="1F2328"/>
                </a:solidFill>
                <a:latin typeface="Calibri"/>
                <a:ea typeface="Calibri"/>
                <a:cs typeface="Calibri"/>
                <a:sym typeface="Calibri"/>
              </a:rPr>
              <a:t>Non-Iterative RAG </a:t>
            </a:r>
            <a:endParaRPr b="0" i="0" sz="1400" u="none" cap="none" strike="noStrike">
              <a:solidFill>
                <a:srgbClr val="000000"/>
              </a:solidFill>
              <a:latin typeface="Arial"/>
              <a:ea typeface="Arial"/>
              <a:cs typeface="Arial"/>
              <a:sym typeface="Arial"/>
            </a:endParaRPr>
          </a:p>
        </p:txBody>
      </p:sp>
      <p:sp>
        <p:nvSpPr>
          <p:cNvPr id="1625" name="Google Shape;1625;h547f90b031e64a91_0_341"/>
          <p:cNvSpPr txBox="1"/>
          <p:nvPr/>
        </p:nvSpPr>
        <p:spPr>
          <a:xfrm>
            <a:off x="6592824"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One-pass RAG</a:t>
            </a:r>
            <a:endParaRPr b="0" i="0" sz="1400" u="none" cap="none" strike="noStrike">
              <a:solidFill>
                <a:srgbClr val="000000"/>
              </a:solidFill>
              <a:latin typeface="Arial"/>
              <a:ea typeface="Arial"/>
              <a:cs typeface="Arial"/>
              <a:sym typeface="Arial"/>
            </a:endParaRPr>
          </a:p>
        </p:txBody>
      </p:sp>
      <p:sp>
        <p:nvSpPr>
          <p:cNvPr id="1626" name="Google Shape;1626;h547f90b031e64a91_0_341"/>
          <p:cNvSpPr/>
          <p:nvPr/>
        </p:nvSpPr>
        <p:spPr>
          <a:xfrm>
            <a:off x="9226300" y="3932023"/>
            <a:ext cx="2541900" cy="1362600"/>
          </a:xfrm>
          <a:prstGeom prst="roundRect">
            <a:avLst>
              <a:gd fmla="val 10000" name="adj"/>
            </a:avLst>
          </a:prstGeom>
          <a:solidFill>
            <a:srgbClr val="E6F2EC"/>
          </a:solidFill>
          <a:ln cap="flat" cmpd="sng" w="152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7" name="Google Shape;1627;h547f90b031e64a91_0_341"/>
          <p:cNvSpPr/>
          <p:nvPr/>
        </p:nvSpPr>
        <p:spPr>
          <a:xfrm>
            <a:off x="9354137" y="4074600"/>
            <a:ext cx="310800" cy="310800"/>
          </a:xfrm>
          <a:prstGeom prst="ellipse">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8" name="Google Shape;1628;h547f90b031e64a91_0_341"/>
          <p:cNvSpPr txBox="1"/>
          <p:nvPr/>
        </p:nvSpPr>
        <p:spPr>
          <a:xfrm>
            <a:off x="9395967" y="4122308"/>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4</a:t>
            </a:r>
            <a:endParaRPr b="0" i="0" sz="1400" u="none" cap="none" strike="noStrike">
              <a:solidFill>
                <a:srgbClr val="000000"/>
              </a:solidFill>
              <a:latin typeface="Arial"/>
              <a:ea typeface="Arial"/>
              <a:cs typeface="Arial"/>
              <a:sym typeface="Arial"/>
            </a:endParaRPr>
          </a:p>
        </p:txBody>
      </p:sp>
      <p:sp>
        <p:nvSpPr>
          <p:cNvPr id="1629" name="Google Shape;1629;h547f90b031e64a91_0_341"/>
          <p:cNvSpPr txBox="1"/>
          <p:nvPr/>
        </p:nvSpPr>
        <p:spPr>
          <a:xfrm>
            <a:off x="9738360"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RIGOR</a:t>
            </a:r>
            <a:endParaRPr b="0" i="0" sz="1400" u="none" cap="none" strike="noStrike">
              <a:solidFill>
                <a:srgbClr val="000000"/>
              </a:solidFill>
              <a:latin typeface="Arial"/>
              <a:ea typeface="Arial"/>
              <a:cs typeface="Arial"/>
              <a:sym typeface="Arial"/>
            </a:endParaRPr>
          </a:p>
        </p:txBody>
      </p:sp>
      <p:sp>
        <p:nvSpPr>
          <p:cNvPr id="1630" name="Google Shape;1630;h547f90b031e64a91_0_341"/>
          <p:cNvSpPr txBox="1"/>
          <p:nvPr/>
        </p:nvSpPr>
        <p:spPr>
          <a:xfrm>
            <a:off x="9390888"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Ground + grow + check</a:t>
            </a:r>
            <a:endParaRPr b="0" i="0" sz="1400" u="none" cap="none" strike="noStrike">
              <a:solidFill>
                <a:srgbClr val="000000"/>
              </a:solidFill>
              <a:latin typeface="Arial"/>
              <a:ea typeface="Arial"/>
              <a:cs typeface="Arial"/>
              <a:sym typeface="Arial"/>
            </a:endParaRPr>
          </a:p>
        </p:txBody>
      </p:sp>
      <p:sp>
        <p:nvSpPr>
          <p:cNvPr id="1631" name="Google Shape;1631;h547f90b031e64a91_0_341"/>
          <p:cNvSpPr/>
          <p:nvPr/>
        </p:nvSpPr>
        <p:spPr>
          <a:xfrm>
            <a:off x="4694403" y="3180217"/>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PhysioNet </a:t>
            </a:r>
            <a:r>
              <a:rPr b="0" i="0" lang="en-US" sz="1000" u="none" cap="none" strike="noStrike">
                <a:solidFill>
                  <a:srgbClr val="5B6770"/>
                </a:solidFill>
                <a:latin typeface="Calibri"/>
                <a:ea typeface="Calibri"/>
                <a:cs typeface="Calibri"/>
                <a:sym typeface="Calibri"/>
              </a:rPr>
              <a:t>[Goldberger et al. 2000]  </a:t>
            </a:r>
            <a:endParaRPr/>
          </a:p>
        </p:txBody>
      </p:sp>
      <p:sp>
        <p:nvSpPr>
          <p:cNvPr id="1632" name="Google Shape;1632;h547f90b031e64a91_0_341"/>
          <p:cNvSpPr/>
          <p:nvPr/>
        </p:nvSpPr>
        <p:spPr>
          <a:xfrm>
            <a:off x="8325528" y="3187194"/>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Chinook Database </a:t>
            </a:r>
            <a:r>
              <a:rPr b="0" i="0" lang="en-US" sz="1000" u="none" cap="none" strike="noStrike">
                <a:solidFill>
                  <a:srgbClr val="5B6770"/>
                </a:solidFill>
                <a:latin typeface="Calibri"/>
                <a:ea typeface="Calibri"/>
                <a:cs typeface="Calibri"/>
                <a:sym typeface="Calibri"/>
              </a:rPr>
              <a:t>[</a:t>
            </a:r>
            <a:r>
              <a:rPr lang="en-US" sz="1000">
                <a:solidFill>
                  <a:srgbClr val="5B6770"/>
                </a:solidFill>
                <a:latin typeface="Calibri"/>
                <a:ea typeface="Calibri"/>
                <a:cs typeface="Calibri"/>
                <a:sym typeface="Calibri"/>
              </a:rPr>
              <a:t>Rocha n.d.; accessed 2026]</a:t>
            </a:r>
            <a:r>
              <a:rPr b="0" i="0" lang="en-US" sz="1000" u="none" cap="none" strike="noStrike">
                <a:solidFill>
                  <a:srgbClr val="5B6770"/>
                </a:solidFill>
                <a:latin typeface="Calibri"/>
                <a:ea typeface="Calibri"/>
                <a:cs typeface="Calibri"/>
                <a:sym typeface="Calibri"/>
              </a:rPr>
              <a:t> </a:t>
            </a:r>
            <a:endParaRPr/>
          </a:p>
        </p:txBody>
      </p:sp>
      <p:sp>
        <p:nvSpPr>
          <p:cNvPr id="1633" name="Google Shape;1633;h547f90b031e64a91_0_341"/>
          <p:cNvSpPr/>
          <p:nvPr/>
        </p:nvSpPr>
        <p:spPr>
          <a:xfrm>
            <a:off x="960128" y="3211330"/>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Universitätsklinikum Leipzig</a:t>
            </a:r>
            <a:endParaRPr b="1" sz="1000">
              <a:solidFill>
                <a:srgbClr val="5B677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a:p>
        </p:txBody>
      </p:sp>
      <p:pic>
        <p:nvPicPr>
          <p:cNvPr id="1634" name="Google Shape;1634;h547f90b031e64a91_0_341" title="ChatGPT Image Oct 28, 2026, 02_33_00 PM-2.png"/>
          <p:cNvPicPr preferRelativeResize="0"/>
          <p:nvPr/>
        </p:nvPicPr>
        <p:blipFill>
          <a:blip r:embed="rId3">
            <a:alphaModFix/>
          </a:blip>
          <a:stretch>
            <a:fillRect/>
          </a:stretch>
        </p:blipFill>
        <p:spPr>
          <a:xfrm>
            <a:off x="7070399" y="1910023"/>
            <a:ext cx="830001" cy="830001"/>
          </a:xfrm>
          <a:prstGeom prst="rect">
            <a:avLst/>
          </a:prstGeom>
          <a:noFill/>
          <a:ln>
            <a:noFill/>
          </a:ln>
        </p:spPr>
      </p:pic>
      <p:pic>
        <p:nvPicPr>
          <p:cNvPr id="1635" name="Google Shape;1635;h547f90b031e64a91_0_341" title="ChatGPT Image Oct 28, 2026, 02_33_01 PM-3.png"/>
          <p:cNvPicPr preferRelativeResize="0"/>
          <p:nvPr/>
        </p:nvPicPr>
        <p:blipFill>
          <a:blip r:embed="rId4">
            <a:alphaModFix/>
          </a:blip>
          <a:stretch>
            <a:fillRect/>
          </a:stretch>
        </p:blipFill>
        <p:spPr>
          <a:xfrm>
            <a:off x="10759640" y="1928292"/>
            <a:ext cx="830001" cy="830001"/>
          </a:xfrm>
          <a:prstGeom prst="rect">
            <a:avLst/>
          </a:prstGeom>
          <a:noFill/>
          <a:ln>
            <a:noFill/>
          </a:ln>
        </p:spPr>
      </p:pic>
      <p:sp>
        <p:nvSpPr>
          <p:cNvPr id="1636" name="Google Shape;1636;h547f90b031e64a91_0_341"/>
          <p:cNvSpPr/>
          <p:nvPr/>
        </p:nvSpPr>
        <p:spPr>
          <a:xfrm>
            <a:off x="913950" y="4899249"/>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Direct Mapping </a:t>
            </a:r>
            <a:r>
              <a:rPr b="0" i="0" lang="en-US" sz="1000" u="none" cap="none" strike="noStrike">
                <a:solidFill>
                  <a:srgbClr val="5B6770"/>
                </a:solidFill>
                <a:latin typeface="Calibri"/>
                <a:ea typeface="Calibri"/>
                <a:cs typeface="Calibri"/>
                <a:sym typeface="Calibri"/>
              </a:rPr>
              <a:t>[Goldberger et al. 2000]  </a:t>
            </a:r>
            <a:endParaRPr/>
          </a:p>
        </p:txBody>
      </p:sp>
      <p:sp>
        <p:nvSpPr>
          <p:cNvPr id="1637" name="Google Shape;1637;h547f90b031e64a91_0_341"/>
          <p:cNvSpPr/>
          <p:nvPr/>
        </p:nvSpPr>
        <p:spPr>
          <a:xfrm>
            <a:off x="3758175" y="4899277"/>
            <a:ext cx="2319900" cy="21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Ontology engineering with large language models </a:t>
            </a:r>
            <a:r>
              <a:rPr b="0" i="0" lang="en-US" sz="1000" u="none" cap="none" strike="noStrike">
                <a:solidFill>
                  <a:srgbClr val="5B6770"/>
                </a:solidFill>
                <a:latin typeface="Calibri"/>
                <a:ea typeface="Calibri"/>
                <a:cs typeface="Calibri"/>
                <a:sym typeface="Calibri"/>
              </a:rPr>
              <a:t>[</a:t>
            </a:r>
            <a:r>
              <a:rPr lang="en-US" sz="1000">
                <a:solidFill>
                  <a:srgbClr val="5B6770"/>
                </a:solidFill>
                <a:latin typeface="Calibri"/>
                <a:ea typeface="Calibri"/>
                <a:cs typeface="Calibri"/>
                <a:sym typeface="Calibri"/>
              </a:rPr>
              <a:t>Mateiu &amp; Groza, SYNASC 2023]</a:t>
            </a:r>
            <a:r>
              <a:rPr b="0" i="0" lang="en-US" sz="1000" u="none" cap="none" strike="noStrike">
                <a:solidFill>
                  <a:srgbClr val="5B6770"/>
                </a:solidFill>
                <a:latin typeface="Calibri"/>
                <a:ea typeface="Calibri"/>
                <a:cs typeface="Calibri"/>
                <a:sym typeface="Calibri"/>
              </a:rPr>
              <a:t>  </a:t>
            </a:r>
            <a:endParaRPr/>
          </a:p>
        </p:txBody>
      </p:sp>
      <p:pic>
        <p:nvPicPr>
          <p:cNvPr id="1638" name="Google Shape;1638;h547f90b031e64a91_0_341" title="ChatGPT Image Oct 28, 2026, 02_32_59 PM-1.png"/>
          <p:cNvPicPr preferRelativeResize="0"/>
          <p:nvPr/>
        </p:nvPicPr>
        <p:blipFill>
          <a:blip r:embed="rId5">
            <a:alphaModFix/>
          </a:blip>
          <a:stretch>
            <a:fillRect/>
          </a:stretch>
        </p:blipFill>
        <p:spPr>
          <a:xfrm>
            <a:off x="3508704" y="1925173"/>
            <a:ext cx="685800" cy="685800"/>
          </a:xfrm>
          <a:prstGeom prst="rect">
            <a:avLst/>
          </a:prstGeom>
          <a:noFill/>
          <a:ln>
            <a:noFill/>
          </a:ln>
        </p:spPr>
      </p:pic>
      <p:sp>
        <p:nvSpPr>
          <p:cNvPr id="1639" name="Google Shape;1639;h547f90b031e64a91_0_341"/>
          <p:cNvSpPr/>
          <p:nvPr/>
        </p:nvSpPr>
        <p:spPr>
          <a:xfrm>
            <a:off x="3508989" y="3842176"/>
            <a:ext cx="8389200" cy="1573500"/>
          </a:xfrm>
          <a:prstGeom prst="roundRect">
            <a:avLst>
              <a:gd fmla="val 10000" name="adj"/>
            </a:avLst>
          </a:prstGeom>
          <a:noFill/>
          <a:ln cap="flat" cmpd="sng" w="29375">
            <a:solidFill>
              <a:schemeClr val="accent4"/>
            </a:solidFill>
            <a:prstDash val="solid"/>
            <a:miter lim="80"/>
            <a:headEnd len="sm" w="sm" type="none"/>
            <a:tailEnd len="sm" w="sm" type="none"/>
          </a:ln>
        </p:spPr>
        <p:txBody>
          <a:bodyPr anchorCtr="0" anchor="ctr" bIns="105675" lIns="211375" spcFirstLastPara="1" rIns="211375" wrap="square" tIns="105675">
            <a:noAutofit/>
          </a:bodyPr>
          <a:lstStyle/>
          <a:p>
            <a:pPr indent="0" lvl="0" marL="0" marR="0" rtl="0" algn="ctr">
              <a:lnSpc>
                <a:spcPct val="100000"/>
              </a:lnSpc>
              <a:spcBef>
                <a:spcPts val="0"/>
              </a:spcBef>
              <a:spcAft>
                <a:spcPts val="0"/>
              </a:spcAft>
              <a:buClr>
                <a:srgbClr val="000000"/>
              </a:buClr>
              <a:buSzPts val="4162"/>
              <a:buFont typeface="Arial"/>
              <a:buNone/>
            </a:pPr>
            <a:r>
              <a:t/>
            </a:r>
            <a:endParaRPr b="0" i="0" sz="4162" u="none" cap="none" strike="noStrike">
              <a:solidFill>
                <a:schemeClr val="dk1"/>
              </a:solidFill>
              <a:latin typeface="Calibri"/>
              <a:ea typeface="Calibri"/>
              <a:cs typeface="Calibri"/>
              <a:sym typeface="Calibri"/>
            </a:endParaRPr>
          </a:p>
        </p:txBody>
      </p:sp>
      <p:sp>
        <p:nvSpPr>
          <p:cNvPr id="1640" name="Google Shape;1640;h547f90b031e64a91_0_341"/>
          <p:cNvSpPr txBox="1"/>
          <p:nvPr/>
        </p:nvSpPr>
        <p:spPr>
          <a:xfrm>
            <a:off x="3508700" y="5523488"/>
            <a:ext cx="8389200" cy="2463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3699"/>
              <a:buFont typeface="Arial"/>
              <a:buNone/>
            </a:pPr>
            <a:r>
              <a:rPr b="1" lang="en-US" sz="1600">
                <a:solidFill>
                  <a:srgbClr val="5B6770"/>
                </a:solidFill>
                <a:latin typeface="Calibri"/>
                <a:ea typeface="Calibri"/>
                <a:cs typeface="Calibri"/>
                <a:sym typeface="Calibri"/>
              </a:rPr>
              <a:t>LLM-based Methods</a:t>
            </a:r>
            <a:endParaRPr b="0" i="0" sz="1600" u="none" cap="none" strike="noStrike">
              <a:solidFill>
                <a:srgbClr val="000000"/>
              </a:solidFill>
              <a:latin typeface="Arial"/>
              <a:ea typeface="Arial"/>
              <a:cs typeface="Arial"/>
              <a:sym typeface="Arial"/>
            </a:endParaRPr>
          </a:p>
        </p:txBody>
      </p:sp>
      <p:sp>
        <p:nvSpPr>
          <p:cNvPr id="1641" name="Google Shape;1641;h547f90b031e64a91_0_341"/>
          <p:cNvSpPr txBox="1"/>
          <p:nvPr/>
        </p:nvSpPr>
        <p:spPr>
          <a:xfrm>
            <a:off x="-1775" y="5847825"/>
            <a:ext cx="4593900" cy="238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550"/>
              <a:buFont typeface="Arial"/>
              <a:buNone/>
            </a:pPr>
            <a:r>
              <a:rPr b="1" lang="en-US" sz="1550">
                <a:solidFill>
                  <a:srgbClr val="0B6E4F"/>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642" name="Google Shape;1642;h547f90b031e64a91_0_341"/>
          <p:cNvSpPr txBox="1"/>
          <p:nvPr/>
        </p:nvSpPr>
        <p:spPr>
          <a:xfrm>
            <a:off x="3508699" y="5877625"/>
            <a:ext cx="8445900" cy="238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550"/>
              <a:buFont typeface="Arial"/>
              <a:buNone/>
            </a:pPr>
            <a:r>
              <a:rPr lang="en-US" sz="1550">
                <a:solidFill>
                  <a:srgbClr val="1F2328"/>
                </a:solidFill>
                <a:latin typeface="Calibri"/>
                <a:ea typeface="Calibri"/>
                <a:cs typeface="Calibri"/>
                <a:sym typeface="Calibri"/>
              </a:rPr>
              <a:t>3 </a:t>
            </a:r>
            <a:r>
              <a:rPr b="1" lang="en-US" sz="1550">
                <a:solidFill>
                  <a:srgbClr val="1F2328"/>
                </a:solidFill>
                <a:latin typeface="Calibri"/>
                <a:ea typeface="Calibri"/>
                <a:cs typeface="Calibri"/>
                <a:sym typeface="Calibri"/>
              </a:rPr>
              <a:t>LLM</a:t>
            </a:r>
            <a:r>
              <a:rPr lang="en-US" sz="1550">
                <a:solidFill>
                  <a:srgbClr val="1F2328"/>
                </a:solidFill>
                <a:latin typeface="Calibri"/>
                <a:ea typeface="Calibri"/>
                <a:cs typeface="Calibri"/>
                <a:sym typeface="Calibri"/>
              </a:rPr>
              <a:t> </a:t>
            </a:r>
            <a:r>
              <a:rPr b="1" lang="en-US" sz="1550">
                <a:solidFill>
                  <a:srgbClr val="1F2328"/>
                </a:solidFill>
                <a:latin typeface="Calibri"/>
                <a:ea typeface="Calibri"/>
                <a:cs typeface="Calibri"/>
                <a:sym typeface="Calibri"/>
              </a:rPr>
              <a:t>METHOD</a:t>
            </a:r>
            <a:r>
              <a:rPr lang="en-US" sz="1550">
                <a:solidFill>
                  <a:srgbClr val="1F2328"/>
                </a:solidFill>
                <a:latin typeface="Calibri"/>
                <a:ea typeface="Calibri"/>
                <a:cs typeface="Calibri"/>
                <a:sym typeface="Calibri"/>
              </a:rPr>
              <a:t> × 3 </a:t>
            </a:r>
            <a:r>
              <a:rPr b="1" lang="en-US" sz="1550">
                <a:solidFill>
                  <a:srgbClr val="1F2328"/>
                </a:solidFill>
                <a:latin typeface="Calibri"/>
                <a:ea typeface="Calibri"/>
                <a:cs typeface="Calibri"/>
                <a:sym typeface="Calibri"/>
              </a:rPr>
              <a:t>DATABASE</a:t>
            </a:r>
            <a:r>
              <a:rPr lang="en-US" sz="1550">
                <a:solidFill>
                  <a:srgbClr val="1F2328"/>
                </a:solidFill>
                <a:latin typeface="Calibri"/>
                <a:ea typeface="Calibri"/>
                <a:cs typeface="Calibri"/>
                <a:sym typeface="Calibri"/>
              </a:rPr>
              <a:t> × 3 </a:t>
            </a:r>
            <a:r>
              <a:rPr b="1" lang="en-US" sz="1550">
                <a:solidFill>
                  <a:srgbClr val="1F2328"/>
                </a:solidFill>
                <a:latin typeface="Calibri"/>
                <a:ea typeface="Calibri"/>
                <a:cs typeface="Calibri"/>
                <a:sym typeface="Calibri"/>
              </a:rPr>
              <a:t>LLM</a:t>
            </a:r>
            <a:r>
              <a:rPr lang="en-US" sz="1550">
                <a:solidFill>
                  <a:srgbClr val="1F2328"/>
                </a:solidFill>
                <a:latin typeface="Calibri"/>
                <a:ea typeface="Calibri"/>
                <a:cs typeface="Calibri"/>
                <a:sym typeface="Calibri"/>
              </a:rPr>
              <a:t> </a:t>
            </a:r>
            <a:r>
              <a:rPr b="1" lang="en-US" sz="1550">
                <a:solidFill>
                  <a:srgbClr val="0B6E4F"/>
                </a:solidFill>
                <a:latin typeface="Calibri"/>
                <a:ea typeface="Calibri"/>
                <a:cs typeface="Calibri"/>
                <a:sym typeface="Calibri"/>
              </a:rPr>
              <a:t>= 27 ONTOLOGIES   </a:t>
            </a:r>
            <a:endParaRPr b="0" i="0" sz="1400" u="none" cap="none" strike="noStrike">
              <a:solidFill>
                <a:srgbClr val="000000"/>
              </a:solidFill>
              <a:latin typeface="Arial"/>
              <a:ea typeface="Arial"/>
              <a:cs typeface="Arial"/>
              <a:sym typeface="Arial"/>
            </a:endParaRPr>
          </a:p>
        </p:txBody>
      </p:sp>
      <p:sp>
        <p:nvSpPr>
          <p:cNvPr id="1643" name="Google Shape;1643;h547f90b031e64a91_0_341"/>
          <p:cNvSpPr txBox="1"/>
          <p:nvPr/>
        </p:nvSpPr>
        <p:spPr>
          <a:xfrm>
            <a:off x="-305322" y="5877625"/>
            <a:ext cx="5662500" cy="238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550"/>
              <a:buFont typeface="Arial"/>
              <a:buNone/>
            </a:pPr>
            <a:r>
              <a:rPr lang="en-US" sz="1550">
                <a:solidFill>
                  <a:srgbClr val="1F2328"/>
                </a:solidFill>
                <a:latin typeface="Calibri"/>
                <a:ea typeface="Calibri"/>
                <a:cs typeface="Calibri"/>
                <a:sym typeface="Calibri"/>
              </a:rPr>
              <a:t>1</a:t>
            </a:r>
            <a:r>
              <a:rPr lang="en-US" sz="1550">
                <a:solidFill>
                  <a:srgbClr val="1F2328"/>
                </a:solidFill>
                <a:latin typeface="Calibri"/>
                <a:ea typeface="Calibri"/>
                <a:cs typeface="Calibri"/>
                <a:sym typeface="Calibri"/>
              </a:rPr>
              <a:t> </a:t>
            </a:r>
            <a:r>
              <a:rPr b="1" lang="en-US" sz="1550">
                <a:solidFill>
                  <a:srgbClr val="1F2328"/>
                </a:solidFill>
                <a:latin typeface="Calibri"/>
                <a:ea typeface="Calibri"/>
                <a:cs typeface="Calibri"/>
                <a:sym typeface="Calibri"/>
              </a:rPr>
              <a:t>METHOD</a:t>
            </a:r>
            <a:r>
              <a:rPr lang="en-US" sz="1550">
                <a:solidFill>
                  <a:srgbClr val="1F2328"/>
                </a:solidFill>
                <a:latin typeface="Calibri"/>
                <a:ea typeface="Calibri"/>
                <a:cs typeface="Calibri"/>
                <a:sym typeface="Calibri"/>
              </a:rPr>
              <a:t> × 3 </a:t>
            </a:r>
            <a:r>
              <a:rPr b="1" lang="en-US" sz="1550">
                <a:solidFill>
                  <a:srgbClr val="1F2328"/>
                </a:solidFill>
                <a:latin typeface="Calibri"/>
                <a:ea typeface="Calibri"/>
                <a:cs typeface="Calibri"/>
                <a:sym typeface="Calibri"/>
              </a:rPr>
              <a:t>DATABASE</a:t>
            </a:r>
            <a:r>
              <a:rPr lang="en-US" sz="1550">
                <a:solidFill>
                  <a:srgbClr val="1F2328"/>
                </a:solidFill>
                <a:latin typeface="Calibri"/>
                <a:ea typeface="Calibri"/>
                <a:cs typeface="Calibri"/>
                <a:sym typeface="Calibri"/>
              </a:rPr>
              <a:t> </a:t>
            </a:r>
            <a:r>
              <a:rPr b="1" lang="en-US" sz="1550">
                <a:solidFill>
                  <a:srgbClr val="0B6E4F"/>
                </a:solidFill>
                <a:latin typeface="Calibri"/>
                <a:ea typeface="Calibri"/>
                <a:cs typeface="Calibri"/>
                <a:sym typeface="Calibri"/>
              </a:rPr>
              <a:t>= 3 ONTOLOGIES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8" name="Shape 1648"/>
        <p:cNvGrpSpPr/>
        <p:nvPr/>
      </p:nvGrpSpPr>
      <p:grpSpPr>
        <a:xfrm>
          <a:off x="0" y="0"/>
          <a:ext cx="0" cy="0"/>
          <a:chOff x="0" y="0"/>
          <a:chExt cx="0" cy="0"/>
        </a:xfrm>
      </p:grpSpPr>
      <p:sp>
        <p:nvSpPr>
          <p:cNvPr id="1649" name="Google Shape;1649;h547f90b031e64a91_0_398"/>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lang="en-US">
                <a:solidFill>
                  <a:srgbClr val="0B6E4F"/>
                </a:solidFill>
                <a:latin typeface="Consolas"/>
                <a:ea typeface="Consolas"/>
                <a:cs typeface="Consolas"/>
                <a:sym typeface="Consolas"/>
              </a:rPr>
              <a:t>EVALUATION</a:t>
            </a:r>
            <a:endParaRPr b="0" i="0" sz="1400" u="none" cap="none" strike="noStrike">
              <a:solidFill>
                <a:srgbClr val="000000"/>
              </a:solidFill>
              <a:latin typeface="Arial"/>
              <a:ea typeface="Arial"/>
              <a:cs typeface="Arial"/>
              <a:sym typeface="Arial"/>
            </a:endParaRPr>
          </a:p>
        </p:txBody>
      </p:sp>
      <p:sp>
        <p:nvSpPr>
          <p:cNvPr id="1650" name="Google Shape;1650;h547f90b031e64a91_0_398"/>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Does the method work beyond our running example?</a:t>
            </a:r>
            <a:endParaRPr b="0" i="0" sz="1400" u="none" cap="none" strike="noStrike">
              <a:solidFill>
                <a:srgbClr val="000000"/>
              </a:solidFill>
              <a:latin typeface="Arial"/>
              <a:ea typeface="Arial"/>
              <a:cs typeface="Arial"/>
              <a:sym typeface="Arial"/>
            </a:endParaRPr>
          </a:p>
        </p:txBody>
      </p:sp>
      <p:sp>
        <p:nvSpPr>
          <p:cNvPr id="1651" name="Google Shape;1651;h547f90b031e64a91_0_398"/>
          <p:cNvSpPr txBox="1"/>
          <p:nvPr/>
        </p:nvSpPr>
        <p:spPr>
          <a:xfrm>
            <a:off x="795528" y="1397967"/>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databases, </a:t>
            </a: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generator models, </a:t>
            </a:r>
            <a:r>
              <a:rPr b="1" i="0" lang="en-US" sz="1600" u="none" cap="none" strike="noStrike">
                <a:solidFill>
                  <a:srgbClr val="5B6770"/>
                </a:solidFill>
                <a:latin typeface="Calibri"/>
                <a:ea typeface="Calibri"/>
                <a:cs typeface="Calibri"/>
                <a:sym typeface="Calibri"/>
              </a:rPr>
              <a:t>four</a:t>
            </a:r>
            <a:r>
              <a:rPr b="0" i="0" lang="en-US" sz="1600" u="none" cap="none" strike="noStrike">
                <a:solidFill>
                  <a:srgbClr val="5B6770"/>
                </a:solidFill>
                <a:latin typeface="Calibri"/>
                <a:ea typeface="Calibri"/>
                <a:cs typeface="Calibri"/>
                <a:sym typeface="Calibri"/>
              </a:rPr>
              <a:t> methods, evaluated from complementary </a:t>
            </a:r>
            <a:r>
              <a:rPr b="1" i="0" lang="en-US" sz="1600" u="none" cap="none" strike="noStrike">
                <a:solidFill>
                  <a:srgbClr val="5B6770"/>
                </a:solidFill>
                <a:latin typeface="Calibri"/>
                <a:ea typeface="Calibri"/>
                <a:cs typeface="Calibri"/>
                <a:sym typeface="Calibri"/>
              </a:rPr>
              <a:t>angles</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652" name="Google Shape;1652;h547f90b031e64a91_0_398"/>
          <p:cNvSpPr/>
          <p:nvPr/>
        </p:nvSpPr>
        <p:spPr>
          <a:xfrm>
            <a:off x="8321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3" name="Google Shape;1653;h547f90b031e64a91_0_398"/>
          <p:cNvSpPr/>
          <p:nvPr/>
        </p:nvSpPr>
        <p:spPr>
          <a:xfrm>
            <a:off x="832104" y="1910031"/>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4" name="Google Shape;1654;h547f90b031e64a91_0_398"/>
          <p:cNvSpPr txBox="1"/>
          <p:nvPr/>
        </p:nvSpPr>
        <p:spPr>
          <a:xfrm>
            <a:off x="10241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LIVER CANCER</a:t>
            </a:r>
            <a:endParaRPr b="0" i="0" sz="1400" u="none" cap="none" strike="noStrike">
              <a:solidFill>
                <a:srgbClr val="000000"/>
              </a:solidFill>
              <a:latin typeface="Arial"/>
              <a:ea typeface="Arial"/>
              <a:cs typeface="Arial"/>
              <a:sym typeface="Arial"/>
            </a:endParaRPr>
          </a:p>
        </p:txBody>
      </p:sp>
      <p:sp>
        <p:nvSpPr>
          <p:cNvPr id="1655" name="Google Shape;1655;h547f90b031e64a91_0_398"/>
          <p:cNvSpPr txBox="1"/>
          <p:nvPr/>
        </p:nvSpPr>
        <p:spPr>
          <a:xfrm>
            <a:off x="10241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16 tables  ·  350 columns</a:t>
            </a:r>
            <a:endParaRPr b="0" i="0" sz="1400" u="none" cap="none" strike="noStrike">
              <a:solidFill>
                <a:srgbClr val="000000"/>
              </a:solidFill>
              <a:latin typeface="Arial"/>
              <a:ea typeface="Arial"/>
              <a:cs typeface="Arial"/>
              <a:sym typeface="Arial"/>
            </a:endParaRPr>
          </a:p>
        </p:txBody>
      </p:sp>
      <p:sp>
        <p:nvSpPr>
          <p:cNvPr id="1656" name="Google Shape;1656;h547f90b031e64a91_0_398"/>
          <p:cNvSpPr txBox="1"/>
          <p:nvPr/>
        </p:nvSpPr>
        <p:spPr>
          <a:xfrm>
            <a:off x="1024128" y="275127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specialist clinical registry </a:t>
            </a:r>
            <a:endParaRPr b="0" i="0" sz="1400" u="none" cap="none" strike="noStrike">
              <a:solidFill>
                <a:srgbClr val="000000"/>
              </a:solidFill>
              <a:latin typeface="Arial"/>
              <a:ea typeface="Arial"/>
              <a:cs typeface="Arial"/>
              <a:sym typeface="Arial"/>
            </a:endParaRPr>
          </a:p>
        </p:txBody>
      </p:sp>
      <p:sp>
        <p:nvSpPr>
          <p:cNvPr id="1657" name="Google Shape;1657;h547f90b031e64a91_0_398"/>
          <p:cNvSpPr/>
          <p:nvPr/>
        </p:nvSpPr>
        <p:spPr>
          <a:xfrm>
            <a:off x="44897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8" name="Google Shape;1658;h547f90b031e64a91_0_398"/>
          <p:cNvSpPr/>
          <p:nvPr/>
        </p:nvSpPr>
        <p:spPr>
          <a:xfrm>
            <a:off x="4489704" y="1910031"/>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9" name="Google Shape;1659;h547f90b031e64a91_0_398"/>
          <p:cNvSpPr txBox="1"/>
          <p:nvPr/>
        </p:nvSpPr>
        <p:spPr>
          <a:xfrm>
            <a:off x="46817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eICU-CRD</a:t>
            </a:r>
            <a:endParaRPr b="0" i="0" sz="1400" u="none" cap="none" strike="noStrike">
              <a:solidFill>
                <a:srgbClr val="000000"/>
              </a:solidFill>
              <a:latin typeface="Arial"/>
              <a:ea typeface="Arial"/>
              <a:cs typeface="Arial"/>
              <a:sym typeface="Arial"/>
            </a:endParaRPr>
          </a:p>
        </p:txBody>
      </p:sp>
      <p:sp>
        <p:nvSpPr>
          <p:cNvPr id="1660" name="Google Shape;1660;h547f90b031e64a91_0_398"/>
          <p:cNvSpPr txBox="1"/>
          <p:nvPr/>
        </p:nvSpPr>
        <p:spPr>
          <a:xfrm>
            <a:off x="46817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31 tables  ·  559 columns</a:t>
            </a:r>
            <a:endParaRPr b="0" i="0" sz="1400" u="none" cap="none" strike="noStrike">
              <a:solidFill>
                <a:srgbClr val="000000"/>
              </a:solidFill>
              <a:latin typeface="Arial"/>
              <a:ea typeface="Arial"/>
              <a:cs typeface="Arial"/>
              <a:sym typeface="Arial"/>
            </a:endParaRPr>
          </a:p>
        </p:txBody>
      </p:sp>
      <p:sp>
        <p:nvSpPr>
          <p:cNvPr id="1661" name="Google Shape;1661;h547f90b031e64a91_0_398"/>
          <p:cNvSpPr txBox="1"/>
          <p:nvPr/>
        </p:nvSpPr>
        <p:spPr>
          <a:xfrm>
            <a:off x="4681728" y="2751279"/>
            <a:ext cx="2999100" cy="4797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large ICU schema </a:t>
            </a:r>
            <a:endParaRPr/>
          </a:p>
          <a:p>
            <a:pPr indent="0" lvl="0" marL="0" marR="0" rtl="0" algn="l">
              <a:lnSpc>
                <a:spcPct val="105000"/>
              </a:lnSpc>
              <a:spcBef>
                <a:spcPts val="0"/>
              </a:spcBef>
              <a:spcAft>
                <a:spcPts val="0"/>
              </a:spcAft>
              <a:buClr>
                <a:srgbClr val="000000"/>
              </a:buClr>
              <a:buSzPts val="1520"/>
              <a:buFont typeface="Arial"/>
              <a:buNone/>
            </a:pPr>
            <a:r>
              <a:t/>
            </a:r>
            <a:endParaRPr sz="1520">
              <a:solidFill>
                <a:srgbClr val="5B6770"/>
              </a:solidFill>
              <a:latin typeface="Calibri"/>
              <a:ea typeface="Calibri"/>
              <a:cs typeface="Calibri"/>
              <a:sym typeface="Calibri"/>
            </a:endParaRPr>
          </a:p>
        </p:txBody>
      </p:sp>
      <p:sp>
        <p:nvSpPr>
          <p:cNvPr id="1662" name="Google Shape;1662;h547f90b031e64a91_0_398"/>
          <p:cNvSpPr/>
          <p:nvPr/>
        </p:nvSpPr>
        <p:spPr>
          <a:xfrm>
            <a:off x="81473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3" name="Google Shape;1663;h547f90b031e64a91_0_398"/>
          <p:cNvSpPr/>
          <p:nvPr/>
        </p:nvSpPr>
        <p:spPr>
          <a:xfrm>
            <a:off x="8147304" y="1910031"/>
            <a:ext cx="3410700" cy="59400"/>
          </a:xfrm>
          <a:prstGeom prst="rect">
            <a:avLst/>
          </a:prstGeom>
          <a:solidFill>
            <a:srgbClr val="2F6B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4" name="Google Shape;1664;h547f90b031e64a91_0_398"/>
          <p:cNvSpPr txBox="1"/>
          <p:nvPr/>
        </p:nvSpPr>
        <p:spPr>
          <a:xfrm>
            <a:off x="83393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CHINOOK</a:t>
            </a:r>
            <a:endParaRPr b="0" i="0" sz="1400" u="none" cap="none" strike="noStrike">
              <a:solidFill>
                <a:srgbClr val="000000"/>
              </a:solidFill>
              <a:latin typeface="Arial"/>
              <a:ea typeface="Arial"/>
              <a:cs typeface="Arial"/>
              <a:sym typeface="Arial"/>
            </a:endParaRPr>
          </a:p>
        </p:txBody>
      </p:sp>
      <p:sp>
        <p:nvSpPr>
          <p:cNvPr id="1665" name="Google Shape;1665;h547f90b031e64a91_0_398"/>
          <p:cNvSpPr txBox="1"/>
          <p:nvPr/>
        </p:nvSpPr>
        <p:spPr>
          <a:xfrm>
            <a:off x="83393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11 tables  ·  67 columns</a:t>
            </a:r>
            <a:endParaRPr b="0" i="0" sz="1400" u="none" cap="none" strike="noStrike">
              <a:solidFill>
                <a:srgbClr val="000000"/>
              </a:solidFill>
              <a:latin typeface="Arial"/>
              <a:ea typeface="Arial"/>
              <a:cs typeface="Arial"/>
              <a:sym typeface="Arial"/>
            </a:endParaRPr>
          </a:p>
        </p:txBody>
      </p:sp>
      <p:sp>
        <p:nvSpPr>
          <p:cNvPr id="1666" name="Google Shape;1666;h547f90b031e64a91_0_398"/>
          <p:cNvSpPr txBox="1"/>
          <p:nvPr/>
        </p:nvSpPr>
        <p:spPr>
          <a:xfrm>
            <a:off x="8339328" y="275127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music store </a:t>
            </a:r>
            <a:endParaRPr b="0" i="0" sz="1400" u="none" cap="none" strike="noStrike">
              <a:solidFill>
                <a:srgbClr val="000000"/>
              </a:solidFill>
              <a:latin typeface="Arial"/>
              <a:ea typeface="Arial"/>
              <a:cs typeface="Arial"/>
              <a:sym typeface="Arial"/>
            </a:endParaRPr>
          </a:p>
        </p:txBody>
      </p:sp>
      <p:sp>
        <p:nvSpPr>
          <p:cNvPr id="1667" name="Google Shape;1667;h547f90b031e64a91_0_398"/>
          <p:cNvSpPr txBox="1"/>
          <p:nvPr/>
        </p:nvSpPr>
        <p:spPr>
          <a:xfrm>
            <a:off x="832104" y="3557110"/>
            <a:ext cx="98754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FOUR </a:t>
            </a:r>
            <a:r>
              <a:rPr b="1" lang="en-US" sz="1520">
                <a:solidFill>
                  <a:srgbClr val="0B6E4F"/>
                </a:solidFill>
                <a:latin typeface="Consolas"/>
                <a:ea typeface="Consolas"/>
                <a:cs typeface="Consolas"/>
                <a:sym typeface="Consolas"/>
              </a:rPr>
              <a:t>METHODS</a:t>
            </a:r>
            <a:r>
              <a:rPr b="1" i="0" lang="en-US" sz="1520" u="none" cap="none" strike="noStrike">
                <a:solidFill>
                  <a:srgbClr val="0B6E4F"/>
                </a:solidFill>
                <a:latin typeface="Consolas"/>
                <a:ea typeface="Consolas"/>
                <a:cs typeface="Consolas"/>
                <a:sym typeface="Consolas"/>
              </a:rPr>
              <a:t> TO GENERATE AN ONTOLOGY F</a:t>
            </a:r>
            <a:r>
              <a:rPr b="1" lang="en-US" sz="1520">
                <a:solidFill>
                  <a:srgbClr val="0B6E4F"/>
                </a:solidFill>
                <a:latin typeface="Consolas"/>
                <a:ea typeface="Consolas"/>
                <a:cs typeface="Consolas"/>
                <a:sym typeface="Consolas"/>
              </a:rPr>
              <a:t>ROM A RELATIONAL DATABASE SCHEMA</a:t>
            </a:r>
            <a:endParaRPr b="0" i="0" sz="1400" u="none" cap="none" strike="noStrike">
              <a:solidFill>
                <a:srgbClr val="000000"/>
              </a:solidFill>
              <a:latin typeface="Arial"/>
              <a:ea typeface="Arial"/>
              <a:cs typeface="Arial"/>
              <a:sym typeface="Arial"/>
            </a:endParaRPr>
          </a:p>
        </p:txBody>
      </p:sp>
      <p:sp>
        <p:nvSpPr>
          <p:cNvPr id="1668" name="Google Shape;1668;h547f90b031e64a91_0_398"/>
          <p:cNvSpPr/>
          <p:nvPr/>
        </p:nvSpPr>
        <p:spPr>
          <a:xfrm>
            <a:off x="832100"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9" name="Google Shape;1669;h547f90b031e64a91_0_398"/>
          <p:cNvSpPr/>
          <p:nvPr/>
        </p:nvSpPr>
        <p:spPr>
          <a:xfrm>
            <a:off x="960120"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70" name="Google Shape;1670;h547f90b031e64a91_0_398"/>
          <p:cNvSpPr txBox="1"/>
          <p:nvPr/>
        </p:nvSpPr>
        <p:spPr>
          <a:xfrm>
            <a:off x="1009650"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1</a:t>
            </a:r>
            <a:endParaRPr b="0" i="0" sz="1400" u="none" cap="none" strike="noStrike">
              <a:solidFill>
                <a:srgbClr val="000000"/>
              </a:solidFill>
              <a:latin typeface="Arial"/>
              <a:ea typeface="Arial"/>
              <a:cs typeface="Arial"/>
              <a:sym typeface="Arial"/>
            </a:endParaRPr>
          </a:p>
        </p:txBody>
      </p:sp>
      <p:sp>
        <p:nvSpPr>
          <p:cNvPr id="1671" name="Google Shape;1671;h547f90b031e64a91_0_398"/>
          <p:cNvSpPr txBox="1"/>
          <p:nvPr/>
        </p:nvSpPr>
        <p:spPr>
          <a:xfrm>
            <a:off x="1344168"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Direct Mapping</a:t>
            </a:r>
            <a:endParaRPr b="0" i="0" sz="1400" u="none" cap="none" strike="noStrike">
              <a:solidFill>
                <a:srgbClr val="000000"/>
              </a:solidFill>
              <a:latin typeface="Arial"/>
              <a:ea typeface="Arial"/>
              <a:cs typeface="Arial"/>
              <a:sym typeface="Arial"/>
            </a:endParaRPr>
          </a:p>
        </p:txBody>
      </p:sp>
      <p:sp>
        <p:nvSpPr>
          <p:cNvPr id="1672" name="Google Shape;1672;h547f90b031e64a91_0_398"/>
          <p:cNvSpPr txBox="1"/>
          <p:nvPr/>
        </p:nvSpPr>
        <p:spPr>
          <a:xfrm>
            <a:off x="996696"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Deterministic</a:t>
            </a:r>
            <a:endParaRPr b="0" i="0" sz="1400" u="none" cap="none" strike="noStrike">
              <a:solidFill>
                <a:srgbClr val="000000"/>
              </a:solidFill>
              <a:latin typeface="Arial"/>
              <a:ea typeface="Arial"/>
              <a:cs typeface="Arial"/>
              <a:sym typeface="Arial"/>
            </a:endParaRPr>
          </a:p>
        </p:txBody>
      </p:sp>
      <p:sp>
        <p:nvSpPr>
          <p:cNvPr id="1673" name="Google Shape;1673;h547f90b031e64a91_0_398"/>
          <p:cNvSpPr/>
          <p:nvPr/>
        </p:nvSpPr>
        <p:spPr>
          <a:xfrm>
            <a:off x="3630167"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74" name="Google Shape;1674;h547f90b031e64a91_0_398"/>
          <p:cNvSpPr/>
          <p:nvPr/>
        </p:nvSpPr>
        <p:spPr>
          <a:xfrm>
            <a:off x="3758184"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75" name="Google Shape;1675;h547f90b031e64a91_0_398"/>
          <p:cNvSpPr txBox="1"/>
          <p:nvPr/>
        </p:nvSpPr>
        <p:spPr>
          <a:xfrm>
            <a:off x="3807713"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2</a:t>
            </a:r>
            <a:endParaRPr b="0" i="0" sz="1400" u="none" cap="none" strike="noStrike">
              <a:solidFill>
                <a:srgbClr val="000000"/>
              </a:solidFill>
              <a:latin typeface="Arial"/>
              <a:ea typeface="Arial"/>
              <a:cs typeface="Arial"/>
              <a:sym typeface="Arial"/>
            </a:endParaRPr>
          </a:p>
        </p:txBody>
      </p:sp>
      <p:sp>
        <p:nvSpPr>
          <p:cNvPr id="1676" name="Google Shape;1676;h547f90b031e64a91_0_398"/>
          <p:cNvSpPr txBox="1"/>
          <p:nvPr/>
        </p:nvSpPr>
        <p:spPr>
          <a:xfrm>
            <a:off x="4142232"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LLM baseline</a:t>
            </a:r>
            <a:endParaRPr b="0" i="0" sz="1400" u="none" cap="none" strike="noStrike">
              <a:solidFill>
                <a:srgbClr val="000000"/>
              </a:solidFill>
              <a:latin typeface="Arial"/>
              <a:ea typeface="Arial"/>
              <a:cs typeface="Arial"/>
              <a:sym typeface="Arial"/>
            </a:endParaRPr>
          </a:p>
        </p:txBody>
      </p:sp>
      <p:sp>
        <p:nvSpPr>
          <p:cNvPr id="1677" name="Google Shape;1677;h547f90b031e64a91_0_398"/>
          <p:cNvSpPr txBox="1"/>
          <p:nvPr/>
        </p:nvSpPr>
        <p:spPr>
          <a:xfrm>
            <a:off x="3794760"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Table only</a:t>
            </a:r>
            <a:endParaRPr b="0" i="0" sz="1400" u="none" cap="none" strike="noStrike">
              <a:solidFill>
                <a:srgbClr val="000000"/>
              </a:solidFill>
              <a:latin typeface="Arial"/>
              <a:ea typeface="Arial"/>
              <a:cs typeface="Arial"/>
              <a:sym typeface="Arial"/>
            </a:endParaRPr>
          </a:p>
        </p:txBody>
      </p:sp>
      <p:sp>
        <p:nvSpPr>
          <p:cNvPr id="1678" name="Google Shape;1678;h547f90b031e64a91_0_398"/>
          <p:cNvSpPr/>
          <p:nvPr/>
        </p:nvSpPr>
        <p:spPr>
          <a:xfrm>
            <a:off x="6428233"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79" name="Google Shape;1679;h547f90b031e64a91_0_398"/>
          <p:cNvSpPr/>
          <p:nvPr/>
        </p:nvSpPr>
        <p:spPr>
          <a:xfrm>
            <a:off x="6556248"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80" name="Google Shape;1680;h547f90b031e64a91_0_398"/>
          <p:cNvSpPr txBox="1"/>
          <p:nvPr/>
        </p:nvSpPr>
        <p:spPr>
          <a:xfrm>
            <a:off x="6605778"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3</a:t>
            </a:r>
            <a:endParaRPr b="0" i="0" sz="1400" u="none" cap="none" strike="noStrike">
              <a:solidFill>
                <a:srgbClr val="000000"/>
              </a:solidFill>
              <a:latin typeface="Arial"/>
              <a:ea typeface="Arial"/>
              <a:cs typeface="Arial"/>
              <a:sym typeface="Arial"/>
            </a:endParaRPr>
          </a:p>
        </p:txBody>
      </p:sp>
      <p:sp>
        <p:nvSpPr>
          <p:cNvPr id="1681" name="Google Shape;1681;h547f90b031e64a91_0_398"/>
          <p:cNvSpPr txBox="1"/>
          <p:nvPr/>
        </p:nvSpPr>
        <p:spPr>
          <a:xfrm>
            <a:off x="6940296"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lang="en-US" sz="1540">
                <a:solidFill>
                  <a:srgbClr val="1F2328"/>
                </a:solidFill>
                <a:latin typeface="Calibri"/>
                <a:ea typeface="Calibri"/>
                <a:cs typeface="Calibri"/>
                <a:sym typeface="Calibri"/>
              </a:rPr>
              <a:t>Non-Iterative RAG </a:t>
            </a:r>
            <a:endParaRPr b="0" i="0" sz="1400" u="none" cap="none" strike="noStrike">
              <a:solidFill>
                <a:srgbClr val="000000"/>
              </a:solidFill>
              <a:latin typeface="Arial"/>
              <a:ea typeface="Arial"/>
              <a:cs typeface="Arial"/>
              <a:sym typeface="Arial"/>
            </a:endParaRPr>
          </a:p>
        </p:txBody>
      </p:sp>
      <p:sp>
        <p:nvSpPr>
          <p:cNvPr id="1682" name="Google Shape;1682;h547f90b031e64a91_0_398"/>
          <p:cNvSpPr txBox="1"/>
          <p:nvPr/>
        </p:nvSpPr>
        <p:spPr>
          <a:xfrm>
            <a:off x="6592824"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One-pass RAG</a:t>
            </a:r>
            <a:endParaRPr b="0" i="0" sz="1400" u="none" cap="none" strike="noStrike">
              <a:solidFill>
                <a:srgbClr val="000000"/>
              </a:solidFill>
              <a:latin typeface="Arial"/>
              <a:ea typeface="Arial"/>
              <a:cs typeface="Arial"/>
              <a:sym typeface="Arial"/>
            </a:endParaRPr>
          </a:p>
        </p:txBody>
      </p:sp>
      <p:sp>
        <p:nvSpPr>
          <p:cNvPr id="1683" name="Google Shape;1683;h547f90b031e64a91_0_398"/>
          <p:cNvSpPr/>
          <p:nvPr/>
        </p:nvSpPr>
        <p:spPr>
          <a:xfrm>
            <a:off x="9226300" y="3932023"/>
            <a:ext cx="2541900" cy="1362600"/>
          </a:xfrm>
          <a:prstGeom prst="roundRect">
            <a:avLst>
              <a:gd fmla="val 10000" name="adj"/>
            </a:avLst>
          </a:prstGeom>
          <a:solidFill>
            <a:srgbClr val="E6F2EC"/>
          </a:solidFill>
          <a:ln cap="flat" cmpd="sng" w="152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84" name="Google Shape;1684;h547f90b031e64a91_0_398"/>
          <p:cNvSpPr/>
          <p:nvPr/>
        </p:nvSpPr>
        <p:spPr>
          <a:xfrm>
            <a:off x="9354137" y="4074600"/>
            <a:ext cx="310800" cy="310800"/>
          </a:xfrm>
          <a:prstGeom prst="ellipse">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85" name="Google Shape;1685;h547f90b031e64a91_0_398"/>
          <p:cNvSpPr txBox="1"/>
          <p:nvPr/>
        </p:nvSpPr>
        <p:spPr>
          <a:xfrm>
            <a:off x="9395967" y="4122308"/>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4</a:t>
            </a:r>
            <a:endParaRPr b="0" i="0" sz="1400" u="none" cap="none" strike="noStrike">
              <a:solidFill>
                <a:srgbClr val="000000"/>
              </a:solidFill>
              <a:latin typeface="Arial"/>
              <a:ea typeface="Arial"/>
              <a:cs typeface="Arial"/>
              <a:sym typeface="Arial"/>
            </a:endParaRPr>
          </a:p>
        </p:txBody>
      </p:sp>
      <p:sp>
        <p:nvSpPr>
          <p:cNvPr id="1686" name="Google Shape;1686;h547f90b031e64a91_0_398"/>
          <p:cNvSpPr txBox="1"/>
          <p:nvPr/>
        </p:nvSpPr>
        <p:spPr>
          <a:xfrm>
            <a:off x="9738360"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RIGOR</a:t>
            </a:r>
            <a:endParaRPr b="0" i="0" sz="1400" u="none" cap="none" strike="noStrike">
              <a:solidFill>
                <a:srgbClr val="000000"/>
              </a:solidFill>
              <a:latin typeface="Arial"/>
              <a:ea typeface="Arial"/>
              <a:cs typeface="Arial"/>
              <a:sym typeface="Arial"/>
            </a:endParaRPr>
          </a:p>
        </p:txBody>
      </p:sp>
      <p:sp>
        <p:nvSpPr>
          <p:cNvPr id="1687" name="Google Shape;1687;h547f90b031e64a91_0_398"/>
          <p:cNvSpPr txBox="1"/>
          <p:nvPr/>
        </p:nvSpPr>
        <p:spPr>
          <a:xfrm>
            <a:off x="9390888"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Ground + grow + check</a:t>
            </a:r>
            <a:endParaRPr b="0" i="0" sz="1400" u="none" cap="none" strike="noStrike">
              <a:solidFill>
                <a:srgbClr val="000000"/>
              </a:solidFill>
              <a:latin typeface="Arial"/>
              <a:ea typeface="Arial"/>
              <a:cs typeface="Arial"/>
              <a:sym typeface="Arial"/>
            </a:endParaRPr>
          </a:p>
        </p:txBody>
      </p:sp>
      <p:sp>
        <p:nvSpPr>
          <p:cNvPr id="1688" name="Google Shape;1688;h547f90b031e64a91_0_398"/>
          <p:cNvSpPr/>
          <p:nvPr/>
        </p:nvSpPr>
        <p:spPr>
          <a:xfrm>
            <a:off x="4694403" y="3180217"/>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PhysioNet </a:t>
            </a:r>
            <a:r>
              <a:rPr b="0" i="0" lang="en-US" sz="1000" u="none" cap="none" strike="noStrike">
                <a:solidFill>
                  <a:srgbClr val="5B6770"/>
                </a:solidFill>
                <a:latin typeface="Calibri"/>
                <a:ea typeface="Calibri"/>
                <a:cs typeface="Calibri"/>
                <a:sym typeface="Calibri"/>
              </a:rPr>
              <a:t>[Goldberger et al. 2000]  </a:t>
            </a:r>
            <a:endParaRPr/>
          </a:p>
        </p:txBody>
      </p:sp>
      <p:sp>
        <p:nvSpPr>
          <p:cNvPr id="1689" name="Google Shape;1689;h547f90b031e64a91_0_398"/>
          <p:cNvSpPr/>
          <p:nvPr/>
        </p:nvSpPr>
        <p:spPr>
          <a:xfrm>
            <a:off x="8325528" y="3187194"/>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Chinook Database </a:t>
            </a:r>
            <a:r>
              <a:rPr b="0" i="0" lang="en-US" sz="1000" u="none" cap="none" strike="noStrike">
                <a:solidFill>
                  <a:srgbClr val="5B6770"/>
                </a:solidFill>
                <a:latin typeface="Calibri"/>
                <a:ea typeface="Calibri"/>
                <a:cs typeface="Calibri"/>
                <a:sym typeface="Calibri"/>
              </a:rPr>
              <a:t>[</a:t>
            </a:r>
            <a:r>
              <a:rPr lang="en-US" sz="1000">
                <a:solidFill>
                  <a:srgbClr val="5B6770"/>
                </a:solidFill>
                <a:latin typeface="Calibri"/>
                <a:ea typeface="Calibri"/>
                <a:cs typeface="Calibri"/>
                <a:sym typeface="Calibri"/>
              </a:rPr>
              <a:t>Rocha n.d.; accessed 2026]</a:t>
            </a:r>
            <a:r>
              <a:rPr b="0" i="0" lang="en-US" sz="1000" u="none" cap="none" strike="noStrike">
                <a:solidFill>
                  <a:srgbClr val="5B6770"/>
                </a:solidFill>
                <a:latin typeface="Calibri"/>
                <a:ea typeface="Calibri"/>
                <a:cs typeface="Calibri"/>
                <a:sym typeface="Calibri"/>
              </a:rPr>
              <a:t> </a:t>
            </a:r>
            <a:endParaRPr/>
          </a:p>
        </p:txBody>
      </p:sp>
      <p:sp>
        <p:nvSpPr>
          <p:cNvPr id="1690" name="Google Shape;1690;h547f90b031e64a91_0_398"/>
          <p:cNvSpPr/>
          <p:nvPr/>
        </p:nvSpPr>
        <p:spPr>
          <a:xfrm>
            <a:off x="960128" y="3211330"/>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Universitätsklinikum Leipzig</a:t>
            </a:r>
            <a:endParaRPr b="1" sz="1000">
              <a:solidFill>
                <a:srgbClr val="5B677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a:p>
        </p:txBody>
      </p:sp>
      <p:pic>
        <p:nvPicPr>
          <p:cNvPr id="1691" name="Google Shape;1691;h547f90b031e64a91_0_398" title="ChatGPT Image Oct 28, 2026, 02_33_00 PM-2.png"/>
          <p:cNvPicPr preferRelativeResize="0"/>
          <p:nvPr/>
        </p:nvPicPr>
        <p:blipFill>
          <a:blip r:embed="rId3">
            <a:alphaModFix/>
          </a:blip>
          <a:stretch>
            <a:fillRect/>
          </a:stretch>
        </p:blipFill>
        <p:spPr>
          <a:xfrm>
            <a:off x="7070399" y="1910023"/>
            <a:ext cx="830001" cy="830001"/>
          </a:xfrm>
          <a:prstGeom prst="rect">
            <a:avLst/>
          </a:prstGeom>
          <a:noFill/>
          <a:ln>
            <a:noFill/>
          </a:ln>
        </p:spPr>
      </p:pic>
      <p:pic>
        <p:nvPicPr>
          <p:cNvPr id="1692" name="Google Shape;1692;h547f90b031e64a91_0_398" title="ChatGPT Image Oct 28, 2026, 02_33_01 PM-3.png"/>
          <p:cNvPicPr preferRelativeResize="0"/>
          <p:nvPr/>
        </p:nvPicPr>
        <p:blipFill>
          <a:blip r:embed="rId4">
            <a:alphaModFix/>
          </a:blip>
          <a:stretch>
            <a:fillRect/>
          </a:stretch>
        </p:blipFill>
        <p:spPr>
          <a:xfrm>
            <a:off x="10759640" y="1928292"/>
            <a:ext cx="830001" cy="830001"/>
          </a:xfrm>
          <a:prstGeom prst="rect">
            <a:avLst/>
          </a:prstGeom>
          <a:noFill/>
          <a:ln>
            <a:noFill/>
          </a:ln>
        </p:spPr>
      </p:pic>
      <p:sp>
        <p:nvSpPr>
          <p:cNvPr id="1693" name="Google Shape;1693;h547f90b031e64a91_0_398"/>
          <p:cNvSpPr/>
          <p:nvPr/>
        </p:nvSpPr>
        <p:spPr>
          <a:xfrm>
            <a:off x="913950" y="4899249"/>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Direct Mapping </a:t>
            </a:r>
            <a:r>
              <a:rPr b="0" i="0" lang="en-US" sz="1000" u="none" cap="none" strike="noStrike">
                <a:solidFill>
                  <a:srgbClr val="5B6770"/>
                </a:solidFill>
                <a:latin typeface="Calibri"/>
                <a:ea typeface="Calibri"/>
                <a:cs typeface="Calibri"/>
                <a:sym typeface="Calibri"/>
              </a:rPr>
              <a:t>[Goldberger et al. 2000]  </a:t>
            </a:r>
            <a:endParaRPr/>
          </a:p>
        </p:txBody>
      </p:sp>
      <p:sp>
        <p:nvSpPr>
          <p:cNvPr id="1694" name="Google Shape;1694;h547f90b031e64a91_0_398"/>
          <p:cNvSpPr/>
          <p:nvPr/>
        </p:nvSpPr>
        <p:spPr>
          <a:xfrm>
            <a:off x="3758175" y="4899277"/>
            <a:ext cx="2319900" cy="21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Ontology engineering with large language models </a:t>
            </a:r>
            <a:r>
              <a:rPr b="0" i="0" lang="en-US" sz="1000" u="none" cap="none" strike="noStrike">
                <a:solidFill>
                  <a:srgbClr val="5B6770"/>
                </a:solidFill>
                <a:latin typeface="Calibri"/>
                <a:ea typeface="Calibri"/>
                <a:cs typeface="Calibri"/>
                <a:sym typeface="Calibri"/>
              </a:rPr>
              <a:t>[</a:t>
            </a:r>
            <a:r>
              <a:rPr lang="en-US" sz="1000">
                <a:solidFill>
                  <a:srgbClr val="5B6770"/>
                </a:solidFill>
                <a:latin typeface="Calibri"/>
                <a:ea typeface="Calibri"/>
                <a:cs typeface="Calibri"/>
                <a:sym typeface="Calibri"/>
              </a:rPr>
              <a:t>Mateiu &amp; Groza, SYNASC 2023]</a:t>
            </a:r>
            <a:r>
              <a:rPr b="0" i="0" lang="en-US" sz="1000" u="none" cap="none" strike="noStrike">
                <a:solidFill>
                  <a:srgbClr val="5B6770"/>
                </a:solidFill>
                <a:latin typeface="Calibri"/>
                <a:ea typeface="Calibri"/>
                <a:cs typeface="Calibri"/>
                <a:sym typeface="Calibri"/>
              </a:rPr>
              <a:t>  </a:t>
            </a:r>
            <a:endParaRPr/>
          </a:p>
        </p:txBody>
      </p:sp>
      <p:pic>
        <p:nvPicPr>
          <p:cNvPr id="1695" name="Google Shape;1695;h547f90b031e64a91_0_398" title="ChatGPT Image Oct 28, 2026, 02_32_59 PM-1.png"/>
          <p:cNvPicPr preferRelativeResize="0"/>
          <p:nvPr/>
        </p:nvPicPr>
        <p:blipFill>
          <a:blip r:embed="rId5">
            <a:alphaModFix/>
          </a:blip>
          <a:stretch>
            <a:fillRect/>
          </a:stretch>
        </p:blipFill>
        <p:spPr>
          <a:xfrm>
            <a:off x="3508704" y="1925173"/>
            <a:ext cx="685800" cy="685800"/>
          </a:xfrm>
          <a:prstGeom prst="rect">
            <a:avLst/>
          </a:prstGeom>
          <a:noFill/>
          <a:ln>
            <a:noFill/>
          </a:ln>
        </p:spPr>
      </p:pic>
      <p:sp>
        <p:nvSpPr>
          <p:cNvPr id="1696" name="Google Shape;1696;h547f90b031e64a91_0_398"/>
          <p:cNvSpPr/>
          <p:nvPr/>
        </p:nvSpPr>
        <p:spPr>
          <a:xfrm>
            <a:off x="3508989" y="3842176"/>
            <a:ext cx="8389200" cy="1573500"/>
          </a:xfrm>
          <a:prstGeom prst="roundRect">
            <a:avLst>
              <a:gd fmla="val 10000" name="adj"/>
            </a:avLst>
          </a:prstGeom>
          <a:noFill/>
          <a:ln cap="flat" cmpd="sng" w="29375">
            <a:solidFill>
              <a:schemeClr val="accent4"/>
            </a:solidFill>
            <a:prstDash val="solid"/>
            <a:miter lim="80"/>
            <a:headEnd len="sm" w="sm" type="none"/>
            <a:tailEnd len="sm" w="sm" type="none"/>
          </a:ln>
        </p:spPr>
        <p:txBody>
          <a:bodyPr anchorCtr="0" anchor="ctr" bIns="105675" lIns="211375" spcFirstLastPara="1" rIns="211375" wrap="square" tIns="105675">
            <a:noAutofit/>
          </a:bodyPr>
          <a:lstStyle/>
          <a:p>
            <a:pPr indent="0" lvl="0" marL="0" marR="0" rtl="0" algn="ctr">
              <a:lnSpc>
                <a:spcPct val="100000"/>
              </a:lnSpc>
              <a:spcBef>
                <a:spcPts val="0"/>
              </a:spcBef>
              <a:spcAft>
                <a:spcPts val="0"/>
              </a:spcAft>
              <a:buClr>
                <a:srgbClr val="000000"/>
              </a:buClr>
              <a:buSzPts val="4162"/>
              <a:buFont typeface="Arial"/>
              <a:buNone/>
            </a:pPr>
            <a:r>
              <a:t/>
            </a:r>
            <a:endParaRPr b="0" i="0" sz="4162" u="none" cap="none" strike="noStrike">
              <a:solidFill>
                <a:schemeClr val="dk1"/>
              </a:solidFill>
              <a:latin typeface="Calibri"/>
              <a:ea typeface="Calibri"/>
              <a:cs typeface="Calibri"/>
              <a:sym typeface="Calibri"/>
            </a:endParaRPr>
          </a:p>
        </p:txBody>
      </p:sp>
      <p:sp>
        <p:nvSpPr>
          <p:cNvPr id="1697" name="Google Shape;1697;h547f90b031e64a91_0_398"/>
          <p:cNvSpPr txBox="1"/>
          <p:nvPr/>
        </p:nvSpPr>
        <p:spPr>
          <a:xfrm>
            <a:off x="3508700" y="5523488"/>
            <a:ext cx="8389200" cy="2463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3699"/>
              <a:buFont typeface="Arial"/>
              <a:buNone/>
            </a:pPr>
            <a:r>
              <a:rPr b="1" lang="en-US" sz="1600">
                <a:solidFill>
                  <a:srgbClr val="5B6770"/>
                </a:solidFill>
                <a:latin typeface="Calibri"/>
                <a:ea typeface="Calibri"/>
                <a:cs typeface="Calibri"/>
                <a:sym typeface="Calibri"/>
              </a:rPr>
              <a:t>LLM-based Methods</a:t>
            </a:r>
            <a:endParaRPr b="0" i="0" sz="1600" u="none" cap="none" strike="noStrike">
              <a:solidFill>
                <a:srgbClr val="000000"/>
              </a:solidFill>
              <a:latin typeface="Arial"/>
              <a:ea typeface="Arial"/>
              <a:cs typeface="Arial"/>
              <a:sym typeface="Arial"/>
            </a:endParaRPr>
          </a:p>
        </p:txBody>
      </p:sp>
      <p:sp>
        <p:nvSpPr>
          <p:cNvPr id="1698" name="Google Shape;1698;h547f90b031e64a91_0_398"/>
          <p:cNvSpPr txBox="1"/>
          <p:nvPr/>
        </p:nvSpPr>
        <p:spPr>
          <a:xfrm>
            <a:off x="-1775" y="5847825"/>
            <a:ext cx="4593900" cy="238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550"/>
              <a:buFont typeface="Arial"/>
              <a:buNone/>
            </a:pPr>
            <a:r>
              <a:rPr b="1" lang="en-US" sz="1550">
                <a:solidFill>
                  <a:srgbClr val="0B6E4F"/>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699" name="Google Shape;1699;h547f90b031e64a91_0_398"/>
          <p:cNvSpPr txBox="1"/>
          <p:nvPr/>
        </p:nvSpPr>
        <p:spPr>
          <a:xfrm>
            <a:off x="3508699" y="5877625"/>
            <a:ext cx="8445900" cy="238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550"/>
              <a:buFont typeface="Arial"/>
              <a:buNone/>
            </a:pPr>
            <a:r>
              <a:rPr lang="en-US" sz="1550">
                <a:solidFill>
                  <a:srgbClr val="1F2328"/>
                </a:solidFill>
                <a:latin typeface="Calibri"/>
                <a:ea typeface="Calibri"/>
                <a:cs typeface="Calibri"/>
                <a:sym typeface="Calibri"/>
              </a:rPr>
              <a:t>3 </a:t>
            </a:r>
            <a:r>
              <a:rPr b="1" lang="en-US" sz="1550">
                <a:solidFill>
                  <a:srgbClr val="1F2328"/>
                </a:solidFill>
                <a:latin typeface="Calibri"/>
                <a:ea typeface="Calibri"/>
                <a:cs typeface="Calibri"/>
                <a:sym typeface="Calibri"/>
              </a:rPr>
              <a:t>LLM</a:t>
            </a:r>
            <a:r>
              <a:rPr lang="en-US" sz="1550">
                <a:solidFill>
                  <a:srgbClr val="1F2328"/>
                </a:solidFill>
                <a:latin typeface="Calibri"/>
                <a:ea typeface="Calibri"/>
                <a:cs typeface="Calibri"/>
                <a:sym typeface="Calibri"/>
              </a:rPr>
              <a:t> </a:t>
            </a:r>
            <a:r>
              <a:rPr b="1" lang="en-US" sz="1550">
                <a:solidFill>
                  <a:srgbClr val="1F2328"/>
                </a:solidFill>
                <a:latin typeface="Calibri"/>
                <a:ea typeface="Calibri"/>
                <a:cs typeface="Calibri"/>
                <a:sym typeface="Calibri"/>
              </a:rPr>
              <a:t>METHOD</a:t>
            </a:r>
            <a:r>
              <a:rPr lang="en-US" sz="1550">
                <a:solidFill>
                  <a:srgbClr val="1F2328"/>
                </a:solidFill>
                <a:latin typeface="Calibri"/>
                <a:ea typeface="Calibri"/>
                <a:cs typeface="Calibri"/>
                <a:sym typeface="Calibri"/>
              </a:rPr>
              <a:t> × 3 </a:t>
            </a:r>
            <a:r>
              <a:rPr b="1" lang="en-US" sz="1550">
                <a:solidFill>
                  <a:srgbClr val="1F2328"/>
                </a:solidFill>
                <a:latin typeface="Calibri"/>
                <a:ea typeface="Calibri"/>
                <a:cs typeface="Calibri"/>
                <a:sym typeface="Calibri"/>
              </a:rPr>
              <a:t>DATABASE</a:t>
            </a:r>
            <a:r>
              <a:rPr lang="en-US" sz="1550">
                <a:solidFill>
                  <a:srgbClr val="1F2328"/>
                </a:solidFill>
                <a:latin typeface="Calibri"/>
                <a:ea typeface="Calibri"/>
                <a:cs typeface="Calibri"/>
                <a:sym typeface="Calibri"/>
              </a:rPr>
              <a:t> × 3 </a:t>
            </a:r>
            <a:r>
              <a:rPr b="1" lang="en-US" sz="1550">
                <a:solidFill>
                  <a:srgbClr val="1F2328"/>
                </a:solidFill>
                <a:latin typeface="Calibri"/>
                <a:ea typeface="Calibri"/>
                <a:cs typeface="Calibri"/>
                <a:sym typeface="Calibri"/>
              </a:rPr>
              <a:t>LLM</a:t>
            </a:r>
            <a:r>
              <a:rPr lang="en-US" sz="1550">
                <a:solidFill>
                  <a:srgbClr val="1F2328"/>
                </a:solidFill>
                <a:latin typeface="Calibri"/>
                <a:ea typeface="Calibri"/>
                <a:cs typeface="Calibri"/>
                <a:sym typeface="Calibri"/>
              </a:rPr>
              <a:t> </a:t>
            </a:r>
            <a:r>
              <a:rPr b="1" lang="en-US" sz="1550">
                <a:solidFill>
                  <a:srgbClr val="0B6E4F"/>
                </a:solidFill>
                <a:latin typeface="Calibri"/>
                <a:ea typeface="Calibri"/>
                <a:cs typeface="Calibri"/>
                <a:sym typeface="Calibri"/>
              </a:rPr>
              <a:t>= 27 ONTOLOGIES   </a:t>
            </a:r>
            <a:endParaRPr b="0" i="0" sz="1400" u="none" cap="none" strike="noStrike">
              <a:solidFill>
                <a:srgbClr val="000000"/>
              </a:solidFill>
              <a:latin typeface="Arial"/>
              <a:ea typeface="Arial"/>
              <a:cs typeface="Arial"/>
              <a:sym typeface="Arial"/>
            </a:endParaRPr>
          </a:p>
        </p:txBody>
      </p:sp>
      <p:sp>
        <p:nvSpPr>
          <p:cNvPr id="1700" name="Google Shape;1700;h547f90b031e64a91_0_398"/>
          <p:cNvSpPr txBox="1"/>
          <p:nvPr/>
        </p:nvSpPr>
        <p:spPr>
          <a:xfrm>
            <a:off x="-305322" y="5877625"/>
            <a:ext cx="5662500" cy="238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550"/>
              <a:buFont typeface="Arial"/>
              <a:buNone/>
            </a:pPr>
            <a:r>
              <a:rPr lang="en-US" sz="1550">
                <a:solidFill>
                  <a:srgbClr val="1F2328"/>
                </a:solidFill>
                <a:latin typeface="Calibri"/>
                <a:ea typeface="Calibri"/>
                <a:cs typeface="Calibri"/>
                <a:sym typeface="Calibri"/>
              </a:rPr>
              <a:t>1 </a:t>
            </a:r>
            <a:r>
              <a:rPr b="1" lang="en-US" sz="1550">
                <a:solidFill>
                  <a:srgbClr val="1F2328"/>
                </a:solidFill>
                <a:latin typeface="Calibri"/>
                <a:ea typeface="Calibri"/>
                <a:cs typeface="Calibri"/>
                <a:sym typeface="Calibri"/>
              </a:rPr>
              <a:t>METHOD</a:t>
            </a:r>
            <a:r>
              <a:rPr lang="en-US" sz="1550">
                <a:solidFill>
                  <a:srgbClr val="1F2328"/>
                </a:solidFill>
                <a:latin typeface="Calibri"/>
                <a:ea typeface="Calibri"/>
                <a:cs typeface="Calibri"/>
                <a:sym typeface="Calibri"/>
              </a:rPr>
              <a:t> × 3 </a:t>
            </a:r>
            <a:r>
              <a:rPr b="1" lang="en-US" sz="1550">
                <a:solidFill>
                  <a:srgbClr val="1F2328"/>
                </a:solidFill>
                <a:latin typeface="Calibri"/>
                <a:ea typeface="Calibri"/>
                <a:cs typeface="Calibri"/>
                <a:sym typeface="Calibri"/>
              </a:rPr>
              <a:t>DATABASE</a:t>
            </a:r>
            <a:r>
              <a:rPr lang="en-US" sz="1550">
                <a:solidFill>
                  <a:srgbClr val="1F2328"/>
                </a:solidFill>
                <a:latin typeface="Calibri"/>
                <a:ea typeface="Calibri"/>
                <a:cs typeface="Calibri"/>
                <a:sym typeface="Calibri"/>
              </a:rPr>
              <a:t> </a:t>
            </a:r>
            <a:r>
              <a:rPr b="1" lang="en-US" sz="1550">
                <a:solidFill>
                  <a:srgbClr val="0B6E4F"/>
                </a:solidFill>
                <a:latin typeface="Calibri"/>
                <a:ea typeface="Calibri"/>
                <a:cs typeface="Calibri"/>
                <a:sym typeface="Calibri"/>
              </a:rPr>
              <a:t>= 3 ONTOLOGIES   </a:t>
            </a:r>
            <a:endParaRPr b="0" i="0" sz="1400" u="none" cap="none" strike="noStrike">
              <a:solidFill>
                <a:srgbClr val="000000"/>
              </a:solidFill>
              <a:latin typeface="Arial"/>
              <a:ea typeface="Arial"/>
              <a:cs typeface="Arial"/>
              <a:sym typeface="Arial"/>
            </a:endParaRPr>
          </a:p>
        </p:txBody>
      </p:sp>
      <p:sp>
        <p:nvSpPr>
          <p:cNvPr id="1701" name="Google Shape;1701;h547f90b031e64a91_0_398"/>
          <p:cNvSpPr txBox="1"/>
          <p:nvPr/>
        </p:nvSpPr>
        <p:spPr>
          <a:xfrm>
            <a:off x="795524" y="6451275"/>
            <a:ext cx="8445900" cy="238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550"/>
              <a:buFont typeface="Arial"/>
              <a:buNone/>
            </a:pPr>
            <a:r>
              <a:rPr b="1" lang="en-US" sz="1550">
                <a:solidFill>
                  <a:srgbClr val="0B6E4F"/>
                </a:solidFill>
                <a:latin typeface="Calibri"/>
                <a:ea typeface="Calibri"/>
                <a:cs typeface="Calibri"/>
                <a:sym typeface="Calibri"/>
              </a:rPr>
              <a:t>3+27 = 30 ONTOLOGIES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6" name="Shape 1706"/>
        <p:cNvGrpSpPr/>
        <p:nvPr/>
      </p:nvGrpSpPr>
      <p:grpSpPr>
        <a:xfrm>
          <a:off x="0" y="0"/>
          <a:ext cx="0" cy="0"/>
          <a:chOff x="0" y="0"/>
          <a:chExt cx="0" cy="0"/>
        </a:xfrm>
      </p:grpSpPr>
      <p:sp>
        <p:nvSpPr>
          <p:cNvPr id="1707" name="Google Shape;1707;h547f90b031e64a91_0_56"/>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lang="en-US">
                <a:solidFill>
                  <a:srgbClr val="0B6E4F"/>
                </a:solidFill>
                <a:latin typeface="Consolas"/>
                <a:ea typeface="Consolas"/>
                <a:cs typeface="Consolas"/>
                <a:sym typeface="Consolas"/>
              </a:rPr>
              <a:t>EVALUATION</a:t>
            </a:r>
            <a:endParaRPr b="0" i="0" sz="1400" u="none" cap="none" strike="noStrike">
              <a:solidFill>
                <a:srgbClr val="000000"/>
              </a:solidFill>
              <a:latin typeface="Arial"/>
              <a:ea typeface="Arial"/>
              <a:cs typeface="Arial"/>
              <a:sym typeface="Arial"/>
            </a:endParaRPr>
          </a:p>
        </p:txBody>
      </p:sp>
      <p:sp>
        <p:nvSpPr>
          <p:cNvPr id="1708" name="Google Shape;1708;h547f90b031e64a91_0_56"/>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Does the method work beyond our running example?</a:t>
            </a:r>
            <a:endParaRPr b="0" i="0" sz="1400" u="none" cap="none" strike="noStrike">
              <a:solidFill>
                <a:srgbClr val="000000"/>
              </a:solidFill>
              <a:latin typeface="Arial"/>
              <a:ea typeface="Arial"/>
              <a:cs typeface="Arial"/>
              <a:sym typeface="Arial"/>
            </a:endParaRPr>
          </a:p>
        </p:txBody>
      </p:sp>
      <p:sp>
        <p:nvSpPr>
          <p:cNvPr id="1709" name="Google Shape;1709;h547f90b031e64a91_0_56"/>
          <p:cNvSpPr txBox="1"/>
          <p:nvPr/>
        </p:nvSpPr>
        <p:spPr>
          <a:xfrm>
            <a:off x="795528" y="1397967"/>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databases, </a:t>
            </a: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generator models, </a:t>
            </a:r>
            <a:r>
              <a:rPr b="1" i="0" lang="en-US" sz="1600" u="none" cap="none" strike="noStrike">
                <a:solidFill>
                  <a:srgbClr val="5B6770"/>
                </a:solidFill>
                <a:latin typeface="Calibri"/>
                <a:ea typeface="Calibri"/>
                <a:cs typeface="Calibri"/>
                <a:sym typeface="Calibri"/>
              </a:rPr>
              <a:t>four</a:t>
            </a:r>
            <a:r>
              <a:rPr b="0" i="0" lang="en-US" sz="1600" u="none" cap="none" strike="noStrike">
                <a:solidFill>
                  <a:srgbClr val="5B6770"/>
                </a:solidFill>
                <a:latin typeface="Calibri"/>
                <a:ea typeface="Calibri"/>
                <a:cs typeface="Calibri"/>
                <a:sym typeface="Calibri"/>
              </a:rPr>
              <a:t> methods, evaluated from complementary </a:t>
            </a:r>
            <a:r>
              <a:rPr b="1" i="0" lang="en-US" sz="1600" u="none" cap="none" strike="noStrike">
                <a:solidFill>
                  <a:srgbClr val="5B6770"/>
                </a:solidFill>
                <a:latin typeface="Calibri"/>
                <a:ea typeface="Calibri"/>
                <a:cs typeface="Calibri"/>
                <a:sym typeface="Calibri"/>
              </a:rPr>
              <a:t>angles</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710" name="Google Shape;1710;h547f90b031e64a91_0_56"/>
          <p:cNvSpPr/>
          <p:nvPr/>
        </p:nvSpPr>
        <p:spPr>
          <a:xfrm>
            <a:off x="8321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11" name="Google Shape;1711;h547f90b031e64a91_0_56"/>
          <p:cNvSpPr/>
          <p:nvPr/>
        </p:nvSpPr>
        <p:spPr>
          <a:xfrm>
            <a:off x="832104" y="1910031"/>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12" name="Google Shape;1712;h547f90b031e64a91_0_56"/>
          <p:cNvSpPr txBox="1"/>
          <p:nvPr/>
        </p:nvSpPr>
        <p:spPr>
          <a:xfrm>
            <a:off x="10241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LIVER CANCER</a:t>
            </a:r>
            <a:endParaRPr b="0" i="0" sz="1400" u="none" cap="none" strike="noStrike">
              <a:solidFill>
                <a:srgbClr val="000000"/>
              </a:solidFill>
              <a:latin typeface="Arial"/>
              <a:ea typeface="Arial"/>
              <a:cs typeface="Arial"/>
              <a:sym typeface="Arial"/>
            </a:endParaRPr>
          </a:p>
        </p:txBody>
      </p:sp>
      <p:sp>
        <p:nvSpPr>
          <p:cNvPr id="1713" name="Google Shape;1713;h547f90b031e64a91_0_56"/>
          <p:cNvSpPr txBox="1"/>
          <p:nvPr/>
        </p:nvSpPr>
        <p:spPr>
          <a:xfrm>
            <a:off x="10241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16 tables  ·  350 columns</a:t>
            </a:r>
            <a:endParaRPr b="0" i="0" sz="1400" u="none" cap="none" strike="noStrike">
              <a:solidFill>
                <a:srgbClr val="000000"/>
              </a:solidFill>
              <a:latin typeface="Arial"/>
              <a:ea typeface="Arial"/>
              <a:cs typeface="Arial"/>
              <a:sym typeface="Arial"/>
            </a:endParaRPr>
          </a:p>
        </p:txBody>
      </p:sp>
      <p:sp>
        <p:nvSpPr>
          <p:cNvPr id="1714" name="Google Shape;1714;h547f90b031e64a91_0_56"/>
          <p:cNvSpPr txBox="1"/>
          <p:nvPr/>
        </p:nvSpPr>
        <p:spPr>
          <a:xfrm>
            <a:off x="1024128" y="275127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specialist clinical registry </a:t>
            </a:r>
            <a:endParaRPr b="0" i="0" sz="1400" u="none" cap="none" strike="noStrike">
              <a:solidFill>
                <a:srgbClr val="000000"/>
              </a:solidFill>
              <a:latin typeface="Arial"/>
              <a:ea typeface="Arial"/>
              <a:cs typeface="Arial"/>
              <a:sym typeface="Arial"/>
            </a:endParaRPr>
          </a:p>
        </p:txBody>
      </p:sp>
      <p:sp>
        <p:nvSpPr>
          <p:cNvPr id="1715" name="Google Shape;1715;h547f90b031e64a91_0_56"/>
          <p:cNvSpPr/>
          <p:nvPr/>
        </p:nvSpPr>
        <p:spPr>
          <a:xfrm>
            <a:off x="44897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16" name="Google Shape;1716;h547f90b031e64a91_0_56"/>
          <p:cNvSpPr/>
          <p:nvPr/>
        </p:nvSpPr>
        <p:spPr>
          <a:xfrm>
            <a:off x="4489704" y="1910031"/>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17" name="Google Shape;1717;h547f90b031e64a91_0_56"/>
          <p:cNvSpPr txBox="1"/>
          <p:nvPr/>
        </p:nvSpPr>
        <p:spPr>
          <a:xfrm>
            <a:off x="46817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eICU-CRD</a:t>
            </a:r>
            <a:endParaRPr b="0" i="0" sz="1400" u="none" cap="none" strike="noStrike">
              <a:solidFill>
                <a:srgbClr val="000000"/>
              </a:solidFill>
              <a:latin typeface="Arial"/>
              <a:ea typeface="Arial"/>
              <a:cs typeface="Arial"/>
              <a:sym typeface="Arial"/>
            </a:endParaRPr>
          </a:p>
        </p:txBody>
      </p:sp>
      <p:sp>
        <p:nvSpPr>
          <p:cNvPr id="1718" name="Google Shape;1718;h547f90b031e64a91_0_56"/>
          <p:cNvSpPr txBox="1"/>
          <p:nvPr/>
        </p:nvSpPr>
        <p:spPr>
          <a:xfrm>
            <a:off x="46817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31 tables  ·  559 columns</a:t>
            </a:r>
            <a:endParaRPr b="0" i="0" sz="1400" u="none" cap="none" strike="noStrike">
              <a:solidFill>
                <a:srgbClr val="000000"/>
              </a:solidFill>
              <a:latin typeface="Arial"/>
              <a:ea typeface="Arial"/>
              <a:cs typeface="Arial"/>
              <a:sym typeface="Arial"/>
            </a:endParaRPr>
          </a:p>
        </p:txBody>
      </p:sp>
      <p:sp>
        <p:nvSpPr>
          <p:cNvPr id="1719" name="Google Shape;1719;h547f90b031e64a91_0_56"/>
          <p:cNvSpPr txBox="1"/>
          <p:nvPr/>
        </p:nvSpPr>
        <p:spPr>
          <a:xfrm>
            <a:off x="4681728" y="2751279"/>
            <a:ext cx="2999100" cy="4797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large ICU schema </a:t>
            </a:r>
            <a:endParaRPr/>
          </a:p>
          <a:p>
            <a:pPr indent="0" lvl="0" marL="0" marR="0" rtl="0" algn="l">
              <a:lnSpc>
                <a:spcPct val="105000"/>
              </a:lnSpc>
              <a:spcBef>
                <a:spcPts val="0"/>
              </a:spcBef>
              <a:spcAft>
                <a:spcPts val="0"/>
              </a:spcAft>
              <a:buClr>
                <a:srgbClr val="000000"/>
              </a:buClr>
              <a:buSzPts val="1520"/>
              <a:buFont typeface="Arial"/>
              <a:buNone/>
            </a:pPr>
            <a:r>
              <a:t/>
            </a:r>
            <a:endParaRPr sz="1520">
              <a:solidFill>
                <a:srgbClr val="5B6770"/>
              </a:solidFill>
              <a:latin typeface="Calibri"/>
              <a:ea typeface="Calibri"/>
              <a:cs typeface="Calibri"/>
              <a:sym typeface="Calibri"/>
            </a:endParaRPr>
          </a:p>
        </p:txBody>
      </p:sp>
      <p:sp>
        <p:nvSpPr>
          <p:cNvPr id="1720" name="Google Shape;1720;h547f90b031e64a91_0_56"/>
          <p:cNvSpPr/>
          <p:nvPr/>
        </p:nvSpPr>
        <p:spPr>
          <a:xfrm>
            <a:off x="81473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21" name="Google Shape;1721;h547f90b031e64a91_0_56"/>
          <p:cNvSpPr/>
          <p:nvPr/>
        </p:nvSpPr>
        <p:spPr>
          <a:xfrm>
            <a:off x="8147304" y="1910031"/>
            <a:ext cx="3410700" cy="59400"/>
          </a:xfrm>
          <a:prstGeom prst="rect">
            <a:avLst/>
          </a:prstGeom>
          <a:solidFill>
            <a:srgbClr val="2F6B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22" name="Google Shape;1722;h547f90b031e64a91_0_56"/>
          <p:cNvSpPr txBox="1"/>
          <p:nvPr/>
        </p:nvSpPr>
        <p:spPr>
          <a:xfrm>
            <a:off x="83393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CHINOOK</a:t>
            </a:r>
            <a:endParaRPr b="0" i="0" sz="1400" u="none" cap="none" strike="noStrike">
              <a:solidFill>
                <a:srgbClr val="000000"/>
              </a:solidFill>
              <a:latin typeface="Arial"/>
              <a:ea typeface="Arial"/>
              <a:cs typeface="Arial"/>
              <a:sym typeface="Arial"/>
            </a:endParaRPr>
          </a:p>
        </p:txBody>
      </p:sp>
      <p:sp>
        <p:nvSpPr>
          <p:cNvPr id="1723" name="Google Shape;1723;h547f90b031e64a91_0_56"/>
          <p:cNvSpPr txBox="1"/>
          <p:nvPr/>
        </p:nvSpPr>
        <p:spPr>
          <a:xfrm>
            <a:off x="83393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11 tables  ·  67 columns</a:t>
            </a:r>
            <a:endParaRPr b="0" i="0" sz="1400" u="none" cap="none" strike="noStrike">
              <a:solidFill>
                <a:srgbClr val="000000"/>
              </a:solidFill>
              <a:latin typeface="Arial"/>
              <a:ea typeface="Arial"/>
              <a:cs typeface="Arial"/>
              <a:sym typeface="Arial"/>
            </a:endParaRPr>
          </a:p>
        </p:txBody>
      </p:sp>
      <p:sp>
        <p:nvSpPr>
          <p:cNvPr id="1724" name="Google Shape;1724;h547f90b031e64a91_0_56"/>
          <p:cNvSpPr txBox="1"/>
          <p:nvPr/>
        </p:nvSpPr>
        <p:spPr>
          <a:xfrm>
            <a:off x="8339328" y="275127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music store </a:t>
            </a:r>
            <a:endParaRPr b="0" i="0" sz="1400" u="none" cap="none" strike="noStrike">
              <a:solidFill>
                <a:srgbClr val="000000"/>
              </a:solidFill>
              <a:latin typeface="Arial"/>
              <a:ea typeface="Arial"/>
              <a:cs typeface="Arial"/>
              <a:sym typeface="Arial"/>
            </a:endParaRPr>
          </a:p>
        </p:txBody>
      </p:sp>
      <p:sp>
        <p:nvSpPr>
          <p:cNvPr id="1725" name="Google Shape;1725;h547f90b031e64a91_0_56"/>
          <p:cNvSpPr txBox="1"/>
          <p:nvPr/>
        </p:nvSpPr>
        <p:spPr>
          <a:xfrm>
            <a:off x="832104" y="3557110"/>
            <a:ext cx="98754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FOUR </a:t>
            </a:r>
            <a:r>
              <a:rPr b="1" lang="en-US" sz="1520">
                <a:solidFill>
                  <a:srgbClr val="0B6E4F"/>
                </a:solidFill>
                <a:latin typeface="Consolas"/>
                <a:ea typeface="Consolas"/>
                <a:cs typeface="Consolas"/>
                <a:sym typeface="Consolas"/>
              </a:rPr>
              <a:t>METHODS</a:t>
            </a:r>
            <a:r>
              <a:rPr b="1" i="0" lang="en-US" sz="1520" u="none" cap="none" strike="noStrike">
                <a:solidFill>
                  <a:srgbClr val="0B6E4F"/>
                </a:solidFill>
                <a:latin typeface="Consolas"/>
                <a:ea typeface="Consolas"/>
                <a:cs typeface="Consolas"/>
                <a:sym typeface="Consolas"/>
              </a:rPr>
              <a:t> TO GENERATE AN ONTOLOGY F</a:t>
            </a:r>
            <a:r>
              <a:rPr b="1" lang="en-US" sz="1520">
                <a:solidFill>
                  <a:srgbClr val="0B6E4F"/>
                </a:solidFill>
                <a:latin typeface="Consolas"/>
                <a:ea typeface="Consolas"/>
                <a:cs typeface="Consolas"/>
                <a:sym typeface="Consolas"/>
              </a:rPr>
              <a:t>ROM A RELATIONAL DATABASE SCHEMA</a:t>
            </a:r>
            <a:endParaRPr b="0" i="0" sz="1400" u="none" cap="none" strike="noStrike">
              <a:solidFill>
                <a:srgbClr val="000000"/>
              </a:solidFill>
              <a:latin typeface="Arial"/>
              <a:ea typeface="Arial"/>
              <a:cs typeface="Arial"/>
              <a:sym typeface="Arial"/>
            </a:endParaRPr>
          </a:p>
        </p:txBody>
      </p:sp>
      <p:sp>
        <p:nvSpPr>
          <p:cNvPr id="1726" name="Google Shape;1726;h547f90b031e64a91_0_56"/>
          <p:cNvSpPr/>
          <p:nvPr/>
        </p:nvSpPr>
        <p:spPr>
          <a:xfrm>
            <a:off x="832100"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27" name="Google Shape;1727;h547f90b031e64a91_0_56"/>
          <p:cNvSpPr/>
          <p:nvPr/>
        </p:nvSpPr>
        <p:spPr>
          <a:xfrm>
            <a:off x="960120"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28" name="Google Shape;1728;h547f90b031e64a91_0_56"/>
          <p:cNvSpPr txBox="1"/>
          <p:nvPr/>
        </p:nvSpPr>
        <p:spPr>
          <a:xfrm>
            <a:off x="1009650"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1</a:t>
            </a:r>
            <a:endParaRPr b="0" i="0" sz="1400" u="none" cap="none" strike="noStrike">
              <a:solidFill>
                <a:srgbClr val="000000"/>
              </a:solidFill>
              <a:latin typeface="Arial"/>
              <a:ea typeface="Arial"/>
              <a:cs typeface="Arial"/>
              <a:sym typeface="Arial"/>
            </a:endParaRPr>
          </a:p>
        </p:txBody>
      </p:sp>
      <p:sp>
        <p:nvSpPr>
          <p:cNvPr id="1729" name="Google Shape;1729;h547f90b031e64a91_0_56"/>
          <p:cNvSpPr txBox="1"/>
          <p:nvPr/>
        </p:nvSpPr>
        <p:spPr>
          <a:xfrm>
            <a:off x="1344168"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Direct Mapping</a:t>
            </a:r>
            <a:endParaRPr b="0" i="0" sz="1400" u="none" cap="none" strike="noStrike">
              <a:solidFill>
                <a:srgbClr val="000000"/>
              </a:solidFill>
              <a:latin typeface="Arial"/>
              <a:ea typeface="Arial"/>
              <a:cs typeface="Arial"/>
              <a:sym typeface="Arial"/>
            </a:endParaRPr>
          </a:p>
        </p:txBody>
      </p:sp>
      <p:sp>
        <p:nvSpPr>
          <p:cNvPr id="1730" name="Google Shape;1730;h547f90b031e64a91_0_56"/>
          <p:cNvSpPr txBox="1"/>
          <p:nvPr/>
        </p:nvSpPr>
        <p:spPr>
          <a:xfrm>
            <a:off x="996696"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Deterministic</a:t>
            </a:r>
            <a:endParaRPr b="0" i="0" sz="1400" u="none" cap="none" strike="noStrike">
              <a:solidFill>
                <a:srgbClr val="000000"/>
              </a:solidFill>
              <a:latin typeface="Arial"/>
              <a:ea typeface="Arial"/>
              <a:cs typeface="Arial"/>
              <a:sym typeface="Arial"/>
            </a:endParaRPr>
          </a:p>
        </p:txBody>
      </p:sp>
      <p:sp>
        <p:nvSpPr>
          <p:cNvPr id="1731" name="Google Shape;1731;h547f90b031e64a91_0_56"/>
          <p:cNvSpPr/>
          <p:nvPr/>
        </p:nvSpPr>
        <p:spPr>
          <a:xfrm>
            <a:off x="3630167"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32" name="Google Shape;1732;h547f90b031e64a91_0_56"/>
          <p:cNvSpPr/>
          <p:nvPr/>
        </p:nvSpPr>
        <p:spPr>
          <a:xfrm>
            <a:off x="3758184"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33" name="Google Shape;1733;h547f90b031e64a91_0_56"/>
          <p:cNvSpPr txBox="1"/>
          <p:nvPr/>
        </p:nvSpPr>
        <p:spPr>
          <a:xfrm>
            <a:off x="3807713"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2</a:t>
            </a:r>
            <a:endParaRPr b="0" i="0" sz="1400" u="none" cap="none" strike="noStrike">
              <a:solidFill>
                <a:srgbClr val="000000"/>
              </a:solidFill>
              <a:latin typeface="Arial"/>
              <a:ea typeface="Arial"/>
              <a:cs typeface="Arial"/>
              <a:sym typeface="Arial"/>
            </a:endParaRPr>
          </a:p>
        </p:txBody>
      </p:sp>
      <p:sp>
        <p:nvSpPr>
          <p:cNvPr id="1734" name="Google Shape;1734;h547f90b031e64a91_0_56"/>
          <p:cNvSpPr txBox="1"/>
          <p:nvPr/>
        </p:nvSpPr>
        <p:spPr>
          <a:xfrm>
            <a:off x="4142232"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LLM baseline</a:t>
            </a:r>
            <a:endParaRPr b="0" i="0" sz="1400" u="none" cap="none" strike="noStrike">
              <a:solidFill>
                <a:srgbClr val="000000"/>
              </a:solidFill>
              <a:latin typeface="Arial"/>
              <a:ea typeface="Arial"/>
              <a:cs typeface="Arial"/>
              <a:sym typeface="Arial"/>
            </a:endParaRPr>
          </a:p>
        </p:txBody>
      </p:sp>
      <p:sp>
        <p:nvSpPr>
          <p:cNvPr id="1735" name="Google Shape;1735;h547f90b031e64a91_0_56"/>
          <p:cNvSpPr txBox="1"/>
          <p:nvPr/>
        </p:nvSpPr>
        <p:spPr>
          <a:xfrm>
            <a:off x="3794760"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Table only</a:t>
            </a:r>
            <a:endParaRPr b="0" i="0" sz="1400" u="none" cap="none" strike="noStrike">
              <a:solidFill>
                <a:srgbClr val="000000"/>
              </a:solidFill>
              <a:latin typeface="Arial"/>
              <a:ea typeface="Arial"/>
              <a:cs typeface="Arial"/>
              <a:sym typeface="Arial"/>
            </a:endParaRPr>
          </a:p>
        </p:txBody>
      </p:sp>
      <p:sp>
        <p:nvSpPr>
          <p:cNvPr id="1736" name="Google Shape;1736;h547f90b031e64a91_0_56"/>
          <p:cNvSpPr/>
          <p:nvPr/>
        </p:nvSpPr>
        <p:spPr>
          <a:xfrm>
            <a:off x="6428233"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37" name="Google Shape;1737;h547f90b031e64a91_0_56"/>
          <p:cNvSpPr/>
          <p:nvPr/>
        </p:nvSpPr>
        <p:spPr>
          <a:xfrm>
            <a:off x="6556248"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38" name="Google Shape;1738;h547f90b031e64a91_0_56"/>
          <p:cNvSpPr txBox="1"/>
          <p:nvPr/>
        </p:nvSpPr>
        <p:spPr>
          <a:xfrm>
            <a:off x="6605778"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3</a:t>
            </a:r>
            <a:endParaRPr b="0" i="0" sz="1400" u="none" cap="none" strike="noStrike">
              <a:solidFill>
                <a:srgbClr val="000000"/>
              </a:solidFill>
              <a:latin typeface="Arial"/>
              <a:ea typeface="Arial"/>
              <a:cs typeface="Arial"/>
              <a:sym typeface="Arial"/>
            </a:endParaRPr>
          </a:p>
        </p:txBody>
      </p:sp>
      <p:sp>
        <p:nvSpPr>
          <p:cNvPr id="1739" name="Google Shape;1739;h547f90b031e64a91_0_56"/>
          <p:cNvSpPr txBox="1"/>
          <p:nvPr/>
        </p:nvSpPr>
        <p:spPr>
          <a:xfrm>
            <a:off x="6940296"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lang="en-US" sz="1540">
                <a:solidFill>
                  <a:srgbClr val="1F2328"/>
                </a:solidFill>
                <a:latin typeface="Calibri"/>
                <a:ea typeface="Calibri"/>
                <a:cs typeface="Calibri"/>
                <a:sym typeface="Calibri"/>
              </a:rPr>
              <a:t>Non-Iterative RAG </a:t>
            </a:r>
            <a:endParaRPr b="0" i="0" sz="1400" u="none" cap="none" strike="noStrike">
              <a:solidFill>
                <a:srgbClr val="000000"/>
              </a:solidFill>
              <a:latin typeface="Arial"/>
              <a:ea typeface="Arial"/>
              <a:cs typeface="Arial"/>
              <a:sym typeface="Arial"/>
            </a:endParaRPr>
          </a:p>
        </p:txBody>
      </p:sp>
      <p:sp>
        <p:nvSpPr>
          <p:cNvPr id="1740" name="Google Shape;1740;h547f90b031e64a91_0_56"/>
          <p:cNvSpPr txBox="1"/>
          <p:nvPr/>
        </p:nvSpPr>
        <p:spPr>
          <a:xfrm>
            <a:off x="6592824"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One-pass RAG</a:t>
            </a:r>
            <a:endParaRPr b="0" i="0" sz="1400" u="none" cap="none" strike="noStrike">
              <a:solidFill>
                <a:srgbClr val="000000"/>
              </a:solidFill>
              <a:latin typeface="Arial"/>
              <a:ea typeface="Arial"/>
              <a:cs typeface="Arial"/>
              <a:sym typeface="Arial"/>
            </a:endParaRPr>
          </a:p>
        </p:txBody>
      </p:sp>
      <p:sp>
        <p:nvSpPr>
          <p:cNvPr id="1741" name="Google Shape;1741;h547f90b031e64a91_0_56"/>
          <p:cNvSpPr/>
          <p:nvPr/>
        </p:nvSpPr>
        <p:spPr>
          <a:xfrm>
            <a:off x="9226300" y="3932023"/>
            <a:ext cx="2541900" cy="1362600"/>
          </a:xfrm>
          <a:prstGeom prst="roundRect">
            <a:avLst>
              <a:gd fmla="val 10000" name="adj"/>
            </a:avLst>
          </a:prstGeom>
          <a:solidFill>
            <a:srgbClr val="E6F2EC"/>
          </a:solidFill>
          <a:ln cap="flat" cmpd="sng" w="152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42" name="Google Shape;1742;h547f90b031e64a91_0_56"/>
          <p:cNvSpPr/>
          <p:nvPr/>
        </p:nvSpPr>
        <p:spPr>
          <a:xfrm>
            <a:off x="9354137" y="4074600"/>
            <a:ext cx="310800" cy="310800"/>
          </a:xfrm>
          <a:prstGeom prst="ellipse">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43" name="Google Shape;1743;h547f90b031e64a91_0_56"/>
          <p:cNvSpPr txBox="1"/>
          <p:nvPr/>
        </p:nvSpPr>
        <p:spPr>
          <a:xfrm>
            <a:off x="9395967" y="4122308"/>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4</a:t>
            </a:r>
            <a:endParaRPr b="0" i="0" sz="1400" u="none" cap="none" strike="noStrike">
              <a:solidFill>
                <a:srgbClr val="000000"/>
              </a:solidFill>
              <a:latin typeface="Arial"/>
              <a:ea typeface="Arial"/>
              <a:cs typeface="Arial"/>
              <a:sym typeface="Arial"/>
            </a:endParaRPr>
          </a:p>
        </p:txBody>
      </p:sp>
      <p:sp>
        <p:nvSpPr>
          <p:cNvPr id="1744" name="Google Shape;1744;h547f90b031e64a91_0_56"/>
          <p:cNvSpPr txBox="1"/>
          <p:nvPr/>
        </p:nvSpPr>
        <p:spPr>
          <a:xfrm>
            <a:off x="9738360"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RIGOR</a:t>
            </a:r>
            <a:endParaRPr b="0" i="0" sz="1400" u="none" cap="none" strike="noStrike">
              <a:solidFill>
                <a:srgbClr val="000000"/>
              </a:solidFill>
              <a:latin typeface="Arial"/>
              <a:ea typeface="Arial"/>
              <a:cs typeface="Arial"/>
              <a:sym typeface="Arial"/>
            </a:endParaRPr>
          </a:p>
        </p:txBody>
      </p:sp>
      <p:sp>
        <p:nvSpPr>
          <p:cNvPr id="1745" name="Google Shape;1745;h547f90b031e64a91_0_56"/>
          <p:cNvSpPr txBox="1"/>
          <p:nvPr/>
        </p:nvSpPr>
        <p:spPr>
          <a:xfrm>
            <a:off x="9390888"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Ground + grow + check</a:t>
            </a:r>
            <a:endParaRPr b="0" i="0" sz="1400" u="none" cap="none" strike="noStrike">
              <a:solidFill>
                <a:srgbClr val="000000"/>
              </a:solidFill>
              <a:latin typeface="Arial"/>
              <a:ea typeface="Arial"/>
              <a:cs typeface="Arial"/>
              <a:sym typeface="Arial"/>
            </a:endParaRPr>
          </a:p>
        </p:txBody>
      </p:sp>
      <p:sp>
        <p:nvSpPr>
          <p:cNvPr id="1746" name="Google Shape;1746;h547f90b031e64a91_0_56"/>
          <p:cNvSpPr/>
          <p:nvPr/>
        </p:nvSpPr>
        <p:spPr>
          <a:xfrm>
            <a:off x="865650" y="5589725"/>
            <a:ext cx="10460700" cy="685800"/>
          </a:xfrm>
          <a:prstGeom prst="roundRect">
            <a:avLst>
              <a:gd fmla="val 10000" name="adj"/>
            </a:avLst>
          </a:prstGeom>
          <a:solidFill>
            <a:srgbClr val="E6F2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47" name="Google Shape;1747;h547f90b031e64a91_0_56"/>
          <p:cNvSpPr txBox="1"/>
          <p:nvPr/>
        </p:nvSpPr>
        <p:spPr>
          <a:xfrm>
            <a:off x="1057646" y="5816618"/>
            <a:ext cx="10076700" cy="238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1" lang="en-US" sz="1550">
                <a:solidFill>
                  <a:srgbClr val="0B6E4F"/>
                </a:solidFill>
                <a:latin typeface="Calibri"/>
                <a:ea typeface="Calibri"/>
                <a:cs typeface="Calibri"/>
                <a:sym typeface="Calibri"/>
              </a:rPr>
              <a:t>30 ONTOLOGIES   </a:t>
            </a:r>
            <a:r>
              <a:rPr lang="en-US" sz="1550">
                <a:solidFill>
                  <a:srgbClr val="1F2328"/>
                </a:solidFill>
                <a:latin typeface="Calibri"/>
                <a:ea typeface="Calibri"/>
                <a:cs typeface="Calibri"/>
                <a:sym typeface="Calibri"/>
              </a:rPr>
              <a:t>→ checked by quality checks · LLM-as-a-Judge (GPT-5.4) · 10 human experts · BURR benchmark [1] </a:t>
            </a:r>
            <a:endParaRPr b="0" i="0" sz="1400" u="none" cap="none" strike="noStrike">
              <a:solidFill>
                <a:srgbClr val="000000"/>
              </a:solidFill>
              <a:latin typeface="Arial"/>
              <a:ea typeface="Arial"/>
              <a:cs typeface="Arial"/>
              <a:sym typeface="Arial"/>
            </a:endParaRPr>
          </a:p>
        </p:txBody>
      </p:sp>
      <p:sp>
        <p:nvSpPr>
          <p:cNvPr id="1748" name="Google Shape;1748;h547f90b031e64a91_0_56"/>
          <p:cNvSpPr/>
          <p:nvPr/>
        </p:nvSpPr>
        <p:spPr>
          <a:xfrm>
            <a:off x="4694403" y="3180217"/>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PhysioNet </a:t>
            </a:r>
            <a:r>
              <a:rPr b="0" i="0" lang="en-US" sz="1000" u="none" cap="none" strike="noStrike">
                <a:solidFill>
                  <a:srgbClr val="5B6770"/>
                </a:solidFill>
                <a:latin typeface="Calibri"/>
                <a:ea typeface="Calibri"/>
                <a:cs typeface="Calibri"/>
                <a:sym typeface="Calibri"/>
              </a:rPr>
              <a:t>[Goldberger et al. 2000]  </a:t>
            </a:r>
            <a:endParaRPr/>
          </a:p>
        </p:txBody>
      </p:sp>
      <p:sp>
        <p:nvSpPr>
          <p:cNvPr id="1749" name="Google Shape;1749;h547f90b031e64a91_0_56"/>
          <p:cNvSpPr/>
          <p:nvPr/>
        </p:nvSpPr>
        <p:spPr>
          <a:xfrm>
            <a:off x="8325528" y="3187194"/>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Chinook Database </a:t>
            </a:r>
            <a:r>
              <a:rPr b="0" i="0" lang="en-US" sz="1000" u="none" cap="none" strike="noStrike">
                <a:solidFill>
                  <a:srgbClr val="5B6770"/>
                </a:solidFill>
                <a:latin typeface="Calibri"/>
                <a:ea typeface="Calibri"/>
                <a:cs typeface="Calibri"/>
                <a:sym typeface="Calibri"/>
              </a:rPr>
              <a:t>[</a:t>
            </a:r>
            <a:r>
              <a:rPr lang="en-US" sz="1000">
                <a:solidFill>
                  <a:srgbClr val="5B6770"/>
                </a:solidFill>
                <a:latin typeface="Calibri"/>
                <a:ea typeface="Calibri"/>
                <a:cs typeface="Calibri"/>
                <a:sym typeface="Calibri"/>
              </a:rPr>
              <a:t>Rocha n.d.; accessed 2026]</a:t>
            </a:r>
            <a:r>
              <a:rPr b="0" i="0" lang="en-US" sz="1000" u="none" cap="none" strike="noStrike">
                <a:solidFill>
                  <a:srgbClr val="5B6770"/>
                </a:solidFill>
                <a:latin typeface="Calibri"/>
                <a:ea typeface="Calibri"/>
                <a:cs typeface="Calibri"/>
                <a:sym typeface="Calibri"/>
              </a:rPr>
              <a:t> </a:t>
            </a:r>
            <a:endParaRPr/>
          </a:p>
        </p:txBody>
      </p:sp>
      <p:sp>
        <p:nvSpPr>
          <p:cNvPr id="1750" name="Google Shape;1750;h547f90b031e64a91_0_56"/>
          <p:cNvSpPr/>
          <p:nvPr/>
        </p:nvSpPr>
        <p:spPr>
          <a:xfrm>
            <a:off x="960128" y="3211330"/>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Universitätsklinikum Leipzig</a:t>
            </a:r>
            <a:endParaRPr b="1" sz="1000">
              <a:solidFill>
                <a:srgbClr val="5B677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a:p>
        </p:txBody>
      </p:sp>
      <p:pic>
        <p:nvPicPr>
          <p:cNvPr id="1751" name="Google Shape;1751;h547f90b031e64a91_0_56" title="ChatGPT Image Oct 28, 2026, 02_33_00 PM-2.png"/>
          <p:cNvPicPr preferRelativeResize="0"/>
          <p:nvPr/>
        </p:nvPicPr>
        <p:blipFill>
          <a:blip r:embed="rId3">
            <a:alphaModFix/>
          </a:blip>
          <a:stretch>
            <a:fillRect/>
          </a:stretch>
        </p:blipFill>
        <p:spPr>
          <a:xfrm>
            <a:off x="7070399" y="1910023"/>
            <a:ext cx="830001" cy="830001"/>
          </a:xfrm>
          <a:prstGeom prst="rect">
            <a:avLst/>
          </a:prstGeom>
          <a:noFill/>
          <a:ln>
            <a:noFill/>
          </a:ln>
        </p:spPr>
      </p:pic>
      <p:pic>
        <p:nvPicPr>
          <p:cNvPr id="1752" name="Google Shape;1752;h547f90b031e64a91_0_56" title="ChatGPT Image Oct 28, 2026, 02_33_01 PM-3.png"/>
          <p:cNvPicPr preferRelativeResize="0"/>
          <p:nvPr/>
        </p:nvPicPr>
        <p:blipFill>
          <a:blip r:embed="rId4">
            <a:alphaModFix/>
          </a:blip>
          <a:stretch>
            <a:fillRect/>
          </a:stretch>
        </p:blipFill>
        <p:spPr>
          <a:xfrm>
            <a:off x="10759640" y="1928292"/>
            <a:ext cx="830001" cy="830001"/>
          </a:xfrm>
          <a:prstGeom prst="rect">
            <a:avLst/>
          </a:prstGeom>
          <a:noFill/>
          <a:ln>
            <a:noFill/>
          </a:ln>
        </p:spPr>
      </p:pic>
      <p:sp>
        <p:nvSpPr>
          <p:cNvPr id="1753" name="Google Shape;1753;h547f90b031e64a91_0_56"/>
          <p:cNvSpPr/>
          <p:nvPr/>
        </p:nvSpPr>
        <p:spPr>
          <a:xfrm>
            <a:off x="913950" y="4899249"/>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Direct Mapping </a:t>
            </a:r>
            <a:r>
              <a:rPr b="0" i="0" lang="en-US" sz="1000" u="none" cap="none" strike="noStrike">
                <a:solidFill>
                  <a:srgbClr val="5B6770"/>
                </a:solidFill>
                <a:latin typeface="Calibri"/>
                <a:ea typeface="Calibri"/>
                <a:cs typeface="Calibri"/>
                <a:sym typeface="Calibri"/>
              </a:rPr>
              <a:t>[Goldberger et al. 2000]  </a:t>
            </a:r>
            <a:endParaRPr/>
          </a:p>
        </p:txBody>
      </p:sp>
      <p:sp>
        <p:nvSpPr>
          <p:cNvPr id="1754" name="Google Shape;1754;h547f90b031e64a91_0_56"/>
          <p:cNvSpPr/>
          <p:nvPr/>
        </p:nvSpPr>
        <p:spPr>
          <a:xfrm>
            <a:off x="3758175" y="4899277"/>
            <a:ext cx="2319900" cy="21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Ontology engineering with large language models </a:t>
            </a:r>
            <a:r>
              <a:rPr b="0" i="0" lang="en-US" sz="1000" u="none" cap="none" strike="noStrike">
                <a:solidFill>
                  <a:srgbClr val="5B6770"/>
                </a:solidFill>
                <a:latin typeface="Calibri"/>
                <a:ea typeface="Calibri"/>
                <a:cs typeface="Calibri"/>
                <a:sym typeface="Calibri"/>
              </a:rPr>
              <a:t>[</a:t>
            </a:r>
            <a:r>
              <a:rPr lang="en-US" sz="1000">
                <a:solidFill>
                  <a:srgbClr val="5B6770"/>
                </a:solidFill>
                <a:latin typeface="Calibri"/>
                <a:ea typeface="Calibri"/>
                <a:cs typeface="Calibri"/>
                <a:sym typeface="Calibri"/>
              </a:rPr>
              <a:t>Mateiu &amp; Groza, SYNASC 2023]</a:t>
            </a:r>
            <a:r>
              <a:rPr b="0" i="0" lang="en-US" sz="1000" u="none" cap="none" strike="noStrike">
                <a:solidFill>
                  <a:srgbClr val="5B6770"/>
                </a:solidFill>
                <a:latin typeface="Calibri"/>
                <a:ea typeface="Calibri"/>
                <a:cs typeface="Calibri"/>
                <a:sym typeface="Calibri"/>
              </a:rPr>
              <a:t>  </a:t>
            </a:r>
            <a:endParaRPr/>
          </a:p>
        </p:txBody>
      </p:sp>
      <p:pic>
        <p:nvPicPr>
          <p:cNvPr id="1755" name="Google Shape;1755;h547f90b031e64a91_0_56" title="ChatGPT Image Oct 28, 2026, 02_32_59 PM-1.png"/>
          <p:cNvPicPr preferRelativeResize="0"/>
          <p:nvPr/>
        </p:nvPicPr>
        <p:blipFill>
          <a:blip r:embed="rId5">
            <a:alphaModFix/>
          </a:blip>
          <a:stretch>
            <a:fillRect/>
          </a:stretch>
        </p:blipFill>
        <p:spPr>
          <a:xfrm>
            <a:off x="3508704" y="1925173"/>
            <a:ext cx="685800" cy="685800"/>
          </a:xfrm>
          <a:prstGeom prst="rect">
            <a:avLst/>
          </a:prstGeom>
          <a:noFill/>
          <a:ln>
            <a:noFill/>
          </a:ln>
        </p:spPr>
      </p:pic>
      <p:sp>
        <p:nvSpPr>
          <p:cNvPr id="1756" name="Google Shape;1756;h547f90b031e64a91_0_56"/>
          <p:cNvSpPr/>
          <p:nvPr/>
        </p:nvSpPr>
        <p:spPr>
          <a:xfrm>
            <a:off x="913950" y="6486274"/>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[1] BURR benchmark</a:t>
            </a:r>
            <a:r>
              <a:rPr b="1" lang="en-US" sz="1000">
                <a:solidFill>
                  <a:srgbClr val="5B6770"/>
                </a:solidFill>
                <a:latin typeface="Calibri"/>
                <a:ea typeface="Calibri"/>
                <a:cs typeface="Calibri"/>
                <a:sym typeface="Calibri"/>
              </a:rPr>
              <a:t> </a:t>
            </a:r>
            <a:r>
              <a:rPr lang="en-US" sz="1000">
                <a:solidFill>
                  <a:srgbClr val="5B6770"/>
                </a:solidFill>
                <a:latin typeface="Calibri"/>
                <a:ea typeface="Calibri"/>
                <a:cs typeface="Calibri"/>
                <a:sym typeface="Calibri"/>
              </a:rPr>
              <a:t>[Laskowski et al., PACMMOD 2025]</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1" name="Shape 1761"/>
        <p:cNvGrpSpPr/>
        <p:nvPr/>
      </p:nvGrpSpPr>
      <p:grpSpPr>
        <a:xfrm>
          <a:off x="0" y="0"/>
          <a:ext cx="0" cy="0"/>
          <a:chOff x="0" y="0"/>
          <a:chExt cx="0" cy="0"/>
        </a:xfrm>
      </p:grpSpPr>
      <p:sp>
        <p:nvSpPr>
          <p:cNvPr id="1762" name="Google Shape;1762;h547f90b031e64a91_0_458"/>
          <p:cNvSpPr txBox="1"/>
          <p:nvPr/>
        </p:nvSpPr>
        <p:spPr>
          <a:xfrm>
            <a:off x="804672" y="512064"/>
            <a:ext cx="107532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RESULT 1  /  VALID, WITH FEWER ERRORS</a:t>
            </a:r>
            <a:endParaRPr b="0" i="0" sz="1400" u="none" cap="none" strike="noStrike">
              <a:solidFill>
                <a:srgbClr val="000000"/>
              </a:solidFill>
              <a:latin typeface="Arial"/>
              <a:ea typeface="Arial"/>
              <a:cs typeface="Arial"/>
              <a:sym typeface="Arial"/>
            </a:endParaRPr>
          </a:p>
        </p:txBody>
      </p:sp>
      <p:sp>
        <p:nvSpPr>
          <p:cNvPr id="1763" name="Google Shape;1763;h547f90b031e64a91_0_458"/>
          <p:cNvSpPr txBox="1"/>
          <p:nvPr/>
        </p:nvSpPr>
        <p:spPr>
          <a:xfrm>
            <a:off x="804672" y="914400"/>
            <a:ext cx="107625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1F2328"/>
                </a:solidFill>
                <a:latin typeface="Cambria"/>
                <a:ea typeface="Cambria"/>
                <a:cs typeface="Cambria"/>
                <a:sym typeface="Cambria"/>
              </a:rPr>
              <a:t>Every ontology is valid. RIGOR's have far fewer modeling errors.</a:t>
            </a:r>
            <a:endParaRPr b="0" i="0" sz="1400" u="none" cap="none" strike="noStrike">
              <a:solidFill>
                <a:srgbClr val="000000"/>
              </a:solidFill>
              <a:latin typeface="Arial"/>
              <a:ea typeface="Arial"/>
              <a:cs typeface="Arial"/>
              <a:sym typeface="Arial"/>
            </a:endParaRPr>
          </a:p>
        </p:txBody>
      </p:sp>
      <p:sp>
        <p:nvSpPr>
          <p:cNvPr id="1764" name="Google Shape;1764;h547f90b031e64a91_0_458"/>
          <p:cNvSpPr txBox="1"/>
          <p:nvPr/>
        </p:nvSpPr>
        <p:spPr>
          <a:xfrm>
            <a:off x="822960" y="1645920"/>
            <a:ext cx="10680300" cy="329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600" u="none" cap="none" strike="noStrike">
                <a:solidFill>
                  <a:srgbClr val="3A434C"/>
                </a:solidFill>
                <a:latin typeface="Calibri"/>
                <a:ea typeface="Calibri"/>
                <a:cs typeface="Calibri"/>
                <a:sym typeface="Calibri"/>
              </a:rPr>
              <a:t>All 30 ontologies are</a:t>
            </a:r>
            <a:r>
              <a:rPr b="1" i="0" lang="en-US" sz="1600" u="none" cap="none" strike="noStrike">
                <a:solidFill>
                  <a:srgbClr val="3A434C"/>
                </a:solidFill>
                <a:latin typeface="Calibri"/>
                <a:ea typeface="Calibri"/>
                <a:cs typeface="Calibri"/>
                <a:sym typeface="Calibri"/>
              </a:rPr>
              <a:t> valid OW</a:t>
            </a:r>
            <a:r>
              <a:rPr b="1" lang="en-US" sz="1600">
                <a:solidFill>
                  <a:srgbClr val="3A434C"/>
                </a:solidFill>
                <a:latin typeface="Calibri"/>
                <a:ea typeface="Calibri"/>
                <a:cs typeface="Calibri"/>
                <a:sym typeface="Calibri"/>
              </a:rPr>
              <a:t>L</a:t>
            </a:r>
            <a:r>
              <a:rPr b="1" i="0" lang="en-US" sz="1600" u="none" cap="none" strike="noStrike">
                <a:solidFill>
                  <a:srgbClr val="3A434C"/>
                </a:solidFill>
                <a:latin typeface="Calibri"/>
                <a:ea typeface="Calibri"/>
                <a:cs typeface="Calibri"/>
                <a:sym typeface="Calibri"/>
              </a:rPr>
              <a:t>2DL </a:t>
            </a:r>
            <a:r>
              <a:rPr b="0" i="0" lang="en-US" sz="1600" u="none" cap="none" strike="noStrike">
                <a:solidFill>
                  <a:srgbClr val="3A434C"/>
                </a:solidFill>
                <a:latin typeface="Calibri"/>
                <a:ea typeface="Calibri"/>
                <a:cs typeface="Calibri"/>
                <a:sym typeface="Calibri"/>
              </a:rPr>
              <a:t>(RDFLib) and </a:t>
            </a:r>
            <a:r>
              <a:rPr b="1" i="0" lang="en-US" sz="1600" u="none" cap="none" strike="noStrike">
                <a:solidFill>
                  <a:srgbClr val="3A434C"/>
                </a:solidFill>
                <a:latin typeface="Calibri"/>
                <a:ea typeface="Calibri"/>
                <a:cs typeface="Calibri"/>
                <a:sym typeface="Calibri"/>
              </a:rPr>
              <a:t>logically consistent</a:t>
            </a:r>
            <a:r>
              <a:rPr b="0" i="0" lang="en-US" sz="1600" u="none" cap="none" strike="noStrike">
                <a:solidFill>
                  <a:srgbClr val="3A434C"/>
                </a:solidFill>
                <a:latin typeface="Calibri"/>
                <a:ea typeface="Calibri"/>
                <a:cs typeface="Calibri"/>
                <a:sym typeface="Calibri"/>
              </a:rPr>
              <a:t> (HermiT). So we look deeper.</a:t>
            </a:r>
            <a:endParaRPr/>
          </a:p>
        </p:txBody>
      </p:sp>
      <p:sp>
        <p:nvSpPr>
          <p:cNvPr id="1765" name="Google Shape;1765;h547f90b031e64a91_0_458"/>
          <p:cNvSpPr/>
          <p:nvPr/>
        </p:nvSpPr>
        <p:spPr>
          <a:xfrm>
            <a:off x="804672" y="2103120"/>
            <a:ext cx="2042700" cy="310800"/>
          </a:xfrm>
          <a:prstGeom prst="rect">
            <a:avLst/>
          </a:prstGeom>
          <a:solidFill>
            <a:srgbClr val="0B6E4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FFFFFF"/>
                </a:solidFill>
                <a:latin typeface="Consolas"/>
                <a:ea typeface="Consolas"/>
                <a:cs typeface="Consolas"/>
                <a:sym typeface="Consolas"/>
              </a:rPr>
              <a:t>1  VALID, FEWER ERRORS</a:t>
            </a:r>
            <a:endParaRPr/>
          </a:p>
        </p:txBody>
      </p:sp>
      <p:sp>
        <p:nvSpPr>
          <p:cNvPr id="1766" name="Google Shape;1766;h547f90b031e64a91_0_458"/>
          <p:cNvSpPr/>
          <p:nvPr/>
        </p:nvSpPr>
        <p:spPr>
          <a:xfrm>
            <a:off x="2938881" y="2103120"/>
            <a:ext cx="2042700" cy="310800"/>
          </a:xfrm>
          <a:prstGeom prst="rect">
            <a:avLst/>
          </a:prstGeom>
          <a:solidFill>
            <a:srgbClr val="FFFFFF"/>
          </a:solidFill>
          <a:ln cap="flat" cmpd="sng" w="9525">
            <a:solidFill>
              <a:srgbClr val="D9DED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6B747B"/>
                </a:solidFill>
                <a:latin typeface="Consolas"/>
                <a:ea typeface="Consolas"/>
                <a:cs typeface="Consolas"/>
                <a:sym typeface="Consolas"/>
              </a:rPr>
              <a:t>2  KEEPS THE SCHEMA</a:t>
            </a:r>
            <a:endParaRPr/>
          </a:p>
        </p:txBody>
      </p:sp>
      <p:sp>
        <p:nvSpPr>
          <p:cNvPr id="1767" name="Google Shape;1767;h547f90b031e64a91_0_458"/>
          <p:cNvSpPr/>
          <p:nvPr/>
        </p:nvSpPr>
        <p:spPr>
          <a:xfrm>
            <a:off x="5073091" y="2103120"/>
            <a:ext cx="2042700" cy="310800"/>
          </a:xfrm>
          <a:prstGeom prst="rect">
            <a:avLst/>
          </a:prstGeom>
          <a:solidFill>
            <a:srgbClr val="FFFFFF"/>
          </a:solidFill>
          <a:ln cap="flat" cmpd="sng" w="9525">
            <a:solidFill>
              <a:srgbClr val="D9DED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6B747B"/>
                </a:solidFill>
                <a:latin typeface="Consolas"/>
                <a:ea typeface="Consolas"/>
                <a:cs typeface="Consolas"/>
                <a:sym typeface="Consolas"/>
              </a:rPr>
              <a:t>3  ADDS MEANING</a:t>
            </a:r>
            <a:endParaRPr/>
          </a:p>
        </p:txBody>
      </p:sp>
      <p:sp>
        <p:nvSpPr>
          <p:cNvPr id="1768" name="Google Shape;1768;h547f90b031e64a91_0_458"/>
          <p:cNvSpPr/>
          <p:nvPr/>
        </p:nvSpPr>
        <p:spPr>
          <a:xfrm>
            <a:off x="7207300" y="2103120"/>
            <a:ext cx="2042700" cy="310800"/>
          </a:xfrm>
          <a:prstGeom prst="rect">
            <a:avLst/>
          </a:prstGeom>
          <a:solidFill>
            <a:srgbClr val="FFFFFF"/>
          </a:solidFill>
          <a:ln cap="flat" cmpd="sng" w="9525">
            <a:solidFill>
              <a:srgbClr val="D9DED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6B747B"/>
                </a:solidFill>
                <a:latin typeface="Consolas"/>
                <a:ea typeface="Consolas"/>
                <a:cs typeface="Consolas"/>
                <a:sym typeface="Consolas"/>
              </a:rPr>
              <a:t>4  GOLD MAPPINGS</a:t>
            </a:r>
            <a:endParaRPr/>
          </a:p>
        </p:txBody>
      </p:sp>
      <p:sp>
        <p:nvSpPr>
          <p:cNvPr id="1769" name="Google Shape;1769;h547f90b031e64a91_0_458"/>
          <p:cNvSpPr/>
          <p:nvPr/>
        </p:nvSpPr>
        <p:spPr>
          <a:xfrm>
            <a:off x="9341510" y="2103120"/>
            <a:ext cx="2042700" cy="310800"/>
          </a:xfrm>
          <a:prstGeom prst="rect">
            <a:avLst/>
          </a:prstGeom>
          <a:solidFill>
            <a:srgbClr val="FFFFFF"/>
          </a:solidFill>
          <a:ln cap="flat" cmpd="sng" w="9525">
            <a:solidFill>
              <a:srgbClr val="D9DED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6B747B"/>
                </a:solidFill>
                <a:latin typeface="Consolas"/>
                <a:ea typeface="Consolas"/>
                <a:cs typeface="Consolas"/>
                <a:sym typeface="Consolas"/>
              </a:rPr>
              <a:t>5  JUDGES</a:t>
            </a:r>
            <a:endParaRPr/>
          </a:p>
        </p:txBody>
      </p:sp>
      <p:sp>
        <p:nvSpPr>
          <p:cNvPr id="1770" name="Google Shape;1770;h547f90b031e64a91_0_458"/>
          <p:cNvSpPr/>
          <p:nvPr/>
        </p:nvSpPr>
        <p:spPr>
          <a:xfrm>
            <a:off x="804672" y="2606040"/>
            <a:ext cx="10579500" cy="3154800"/>
          </a:xfrm>
          <a:prstGeom prst="roundRect">
            <a:avLst>
              <a:gd fmla="val 12000" name="adj"/>
            </a:avLst>
          </a:prstGeom>
          <a:solidFill>
            <a:srgbClr val="FFFFFF"/>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71" name="Google Shape;1771;h547f90b031e64a91_0_458"/>
          <p:cNvSpPr txBox="1"/>
          <p:nvPr/>
        </p:nvSpPr>
        <p:spPr>
          <a:xfrm>
            <a:off x="1078992" y="2788920"/>
            <a:ext cx="100311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2F6B78"/>
                </a:solidFill>
                <a:latin typeface="Consolas"/>
                <a:ea typeface="Consolas"/>
                <a:cs typeface="Consolas"/>
                <a:sym typeface="Consolas"/>
              </a:rPr>
              <a:t>MODELING ERRORS FOUND BY OOPS!</a:t>
            </a:r>
            <a:endParaRPr/>
          </a:p>
        </p:txBody>
      </p:sp>
      <p:sp>
        <p:nvSpPr>
          <p:cNvPr id="1772" name="Google Shape;1772;h547f90b031e64a91_0_458"/>
          <p:cNvSpPr txBox="1"/>
          <p:nvPr/>
        </p:nvSpPr>
        <p:spPr>
          <a:xfrm>
            <a:off x="1078992" y="3081528"/>
            <a:ext cx="100311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50" u="none" cap="none" strike="noStrike">
                <a:solidFill>
                  <a:srgbClr val="5B6770"/>
                </a:solidFill>
                <a:latin typeface="Calibri"/>
                <a:ea typeface="Calibri"/>
                <a:cs typeface="Calibri"/>
                <a:sym typeface="Calibri"/>
              </a:rPr>
              <a:t>pitfalls per ontology, fewer is better</a:t>
            </a:r>
            <a:endParaRPr/>
          </a:p>
        </p:txBody>
      </p:sp>
      <p:sp>
        <p:nvSpPr>
          <p:cNvPr id="1773" name="Google Shape;1773;h547f90b031e64a91_0_458"/>
          <p:cNvSpPr txBox="1"/>
          <p:nvPr/>
        </p:nvSpPr>
        <p:spPr>
          <a:xfrm>
            <a:off x="2679191" y="3383280"/>
            <a:ext cx="25236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Liver Cancer</a:t>
            </a:r>
            <a:endParaRPr/>
          </a:p>
        </p:txBody>
      </p:sp>
      <p:sp>
        <p:nvSpPr>
          <p:cNvPr id="1774" name="Google Shape;1774;h547f90b031e64a91_0_458"/>
          <p:cNvSpPr txBox="1"/>
          <p:nvPr/>
        </p:nvSpPr>
        <p:spPr>
          <a:xfrm>
            <a:off x="5202936" y="3383280"/>
            <a:ext cx="25236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eICU-CRD</a:t>
            </a:r>
            <a:endParaRPr/>
          </a:p>
        </p:txBody>
      </p:sp>
      <p:sp>
        <p:nvSpPr>
          <p:cNvPr id="1775" name="Google Shape;1775;h547f90b031e64a91_0_458"/>
          <p:cNvSpPr txBox="1"/>
          <p:nvPr/>
        </p:nvSpPr>
        <p:spPr>
          <a:xfrm>
            <a:off x="7726679" y="3383280"/>
            <a:ext cx="25236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Chinook</a:t>
            </a:r>
            <a:endParaRPr/>
          </a:p>
        </p:txBody>
      </p:sp>
      <p:sp>
        <p:nvSpPr>
          <p:cNvPr id="1776" name="Google Shape;1776;h547f90b031e64a91_0_458"/>
          <p:cNvSpPr txBox="1"/>
          <p:nvPr/>
        </p:nvSpPr>
        <p:spPr>
          <a:xfrm>
            <a:off x="10296144" y="3493008"/>
            <a:ext cx="685800" cy="23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5B6770"/>
                </a:solidFill>
                <a:latin typeface="Calibri"/>
                <a:ea typeface="Calibri"/>
                <a:cs typeface="Calibri"/>
                <a:sym typeface="Calibri"/>
              </a:rPr>
              <a:t>Avg</a:t>
            </a:r>
            <a:endParaRPr/>
          </a:p>
        </p:txBody>
      </p:sp>
      <p:sp>
        <p:nvSpPr>
          <p:cNvPr id="1777" name="Google Shape;1777;h547f90b031e64a91_0_458"/>
          <p:cNvSpPr txBox="1"/>
          <p:nvPr/>
        </p:nvSpPr>
        <p:spPr>
          <a:xfrm>
            <a:off x="1078992" y="3699562"/>
            <a:ext cx="1600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Direct Mapping</a:t>
            </a:r>
            <a:endParaRPr/>
          </a:p>
        </p:txBody>
      </p:sp>
      <p:sp>
        <p:nvSpPr>
          <p:cNvPr id="1778" name="Google Shape;1778;h547f90b031e64a91_0_458"/>
          <p:cNvSpPr/>
          <p:nvPr/>
        </p:nvSpPr>
        <p:spPr>
          <a:xfrm>
            <a:off x="2697479" y="3717850"/>
            <a:ext cx="2487300" cy="420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731</a:t>
            </a:r>
            <a:endParaRPr/>
          </a:p>
        </p:txBody>
      </p:sp>
      <p:sp>
        <p:nvSpPr>
          <p:cNvPr id="1779" name="Google Shape;1779;h547f90b031e64a91_0_458"/>
          <p:cNvSpPr/>
          <p:nvPr/>
        </p:nvSpPr>
        <p:spPr>
          <a:xfrm>
            <a:off x="5221223" y="3717850"/>
            <a:ext cx="2487300" cy="420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665</a:t>
            </a:r>
            <a:endParaRPr/>
          </a:p>
        </p:txBody>
      </p:sp>
      <p:sp>
        <p:nvSpPr>
          <p:cNvPr id="1780" name="Google Shape;1780;h547f90b031e64a91_0_458"/>
          <p:cNvSpPr/>
          <p:nvPr/>
        </p:nvSpPr>
        <p:spPr>
          <a:xfrm>
            <a:off x="7744967" y="3717850"/>
            <a:ext cx="2487300" cy="420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102</a:t>
            </a:r>
            <a:endParaRPr/>
          </a:p>
        </p:txBody>
      </p:sp>
      <p:sp>
        <p:nvSpPr>
          <p:cNvPr id="1781" name="Google Shape;1781;h547f90b031e64a91_0_458"/>
          <p:cNvSpPr txBox="1"/>
          <p:nvPr/>
        </p:nvSpPr>
        <p:spPr>
          <a:xfrm>
            <a:off x="10296144" y="3699562"/>
            <a:ext cx="685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50" u="none" cap="none" strike="noStrike">
                <a:solidFill>
                  <a:srgbClr val="1F2328"/>
                </a:solidFill>
                <a:latin typeface="Calibri"/>
                <a:ea typeface="Calibri"/>
                <a:cs typeface="Calibri"/>
                <a:sym typeface="Calibri"/>
              </a:rPr>
              <a:t>499</a:t>
            </a:r>
            <a:endParaRPr/>
          </a:p>
        </p:txBody>
      </p:sp>
      <p:sp>
        <p:nvSpPr>
          <p:cNvPr id="1782" name="Google Shape;1782;h547f90b031e64a91_0_458"/>
          <p:cNvSpPr txBox="1"/>
          <p:nvPr/>
        </p:nvSpPr>
        <p:spPr>
          <a:xfrm>
            <a:off x="1078992" y="4297680"/>
            <a:ext cx="1600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LLM baseline</a:t>
            </a:r>
            <a:endParaRPr/>
          </a:p>
        </p:txBody>
      </p:sp>
      <p:sp>
        <p:nvSpPr>
          <p:cNvPr id="1783" name="Google Shape;1783;h547f90b031e64a91_0_458"/>
          <p:cNvSpPr/>
          <p:nvPr/>
        </p:nvSpPr>
        <p:spPr>
          <a:xfrm>
            <a:off x="2697479" y="4315968"/>
            <a:ext cx="804600" cy="420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422</a:t>
            </a:r>
            <a:endParaRPr/>
          </a:p>
        </p:txBody>
      </p:sp>
      <p:sp>
        <p:nvSpPr>
          <p:cNvPr id="1784" name="Google Shape;1784;h547f90b031e64a91_0_458"/>
          <p:cNvSpPr/>
          <p:nvPr/>
        </p:nvSpPr>
        <p:spPr>
          <a:xfrm>
            <a:off x="3538727" y="4315968"/>
            <a:ext cx="804600" cy="420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397</a:t>
            </a:r>
            <a:endParaRPr/>
          </a:p>
        </p:txBody>
      </p:sp>
      <p:sp>
        <p:nvSpPr>
          <p:cNvPr id="1785" name="Google Shape;1785;h547f90b031e64a91_0_458"/>
          <p:cNvSpPr/>
          <p:nvPr/>
        </p:nvSpPr>
        <p:spPr>
          <a:xfrm>
            <a:off x="4379975" y="4315968"/>
            <a:ext cx="804600" cy="420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403</a:t>
            </a:r>
            <a:endParaRPr/>
          </a:p>
        </p:txBody>
      </p:sp>
      <p:sp>
        <p:nvSpPr>
          <p:cNvPr id="1786" name="Google Shape;1786;h547f90b031e64a91_0_458"/>
          <p:cNvSpPr/>
          <p:nvPr/>
        </p:nvSpPr>
        <p:spPr>
          <a:xfrm>
            <a:off x="5221223" y="4315968"/>
            <a:ext cx="804600" cy="420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434</a:t>
            </a:r>
            <a:endParaRPr/>
          </a:p>
        </p:txBody>
      </p:sp>
      <p:sp>
        <p:nvSpPr>
          <p:cNvPr id="1787" name="Google Shape;1787;h547f90b031e64a91_0_458"/>
          <p:cNvSpPr/>
          <p:nvPr/>
        </p:nvSpPr>
        <p:spPr>
          <a:xfrm>
            <a:off x="6062471" y="4315968"/>
            <a:ext cx="804600" cy="420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440</a:t>
            </a:r>
            <a:endParaRPr/>
          </a:p>
        </p:txBody>
      </p:sp>
      <p:sp>
        <p:nvSpPr>
          <p:cNvPr id="1788" name="Google Shape;1788;h547f90b031e64a91_0_458"/>
          <p:cNvSpPr/>
          <p:nvPr/>
        </p:nvSpPr>
        <p:spPr>
          <a:xfrm>
            <a:off x="6903720" y="4315968"/>
            <a:ext cx="804600" cy="420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421</a:t>
            </a:r>
            <a:endParaRPr/>
          </a:p>
        </p:txBody>
      </p:sp>
      <p:sp>
        <p:nvSpPr>
          <p:cNvPr id="1789" name="Google Shape;1789;h547f90b031e64a91_0_458"/>
          <p:cNvSpPr/>
          <p:nvPr/>
        </p:nvSpPr>
        <p:spPr>
          <a:xfrm>
            <a:off x="7744967" y="4315968"/>
            <a:ext cx="804600" cy="420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95</a:t>
            </a:r>
            <a:endParaRPr/>
          </a:p>
        </p:txBody>
      </p:sp>
      <p:sp>
        <p:nvSpPr>
          <p:cNvPr id="1790" name="Google Shape;1790;h547f90b031e64a91_0_458"/>
          <p:cNvSpPr/>
          <p:nvPr/>
        </p:nvSpPr>
        <p:spPr>
          <a:xfrm>
            <a:off x="8586216" y="4315968"/>
            <a:ext cx="804600" cy="420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74</a:t>
            </a:r>
            <a:endParaRPr/>
          </a:p>
        </p:txBody>
      </p:sp>
      <p:sp>
        <p:nvSpPr>
          <p:cNvPr id="1791" name="Google Shape;1791;h547f90b031e64a91_0_458"/>
          <p:cNvSpPr/>
          <p:nvPr/>
        </p:nvSpPr>
        <p:spPr>
          <a:xfrm>
            <a:off x="9427463" y="4315968"/>
            <a:ext cx="804600" cy="420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81</a:t>
            </a:r>
            <a:endParaRPr/>
          </a:p>
        </p:txBody>
      </p:sp>
      <p:sp>
        <p:nvSpPr>
          <p:cNvPr id="1792" name="Google Shape;1792;h547f90b031e64a91_0_458"/>
          <p:cNvSpPr txBox="1"/>
          <p:nvPr/>
        </p:nvSpPr>
        <p:spPr>
          <a:xfrm>
            <a:off x="10296144" y="4297680"/>
            <a:ext cx="685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50" u="none" cap="none" strike="noStrike">
                <a:solidFill>
                  <a:srgbClr val="1F2328"/>
                </a:solidFill>
                <a:latin typeface="Calibri"/>
                <a:ea typeface="Calibri"/>
                <a:cs typeface="Calibri"/>
                <a:sym typeface="Calibri"/>
              </a:rPr>
              <a:t>307</a:t>
            </a:r>
            <a:endParaRPr/>
          </a:p>
        </p:txBody>
      </p:sp>
      <p:sp>
        <p:nvSpPr>
          <p:cNvPr id="1793" name="Google Shape;1793;h547f90b031e64a91_0_458"/>
          <p:cNvSpPr txBox="1"/>
          <p:nvPr/>
        </p:nvSpPr>
        <p:spPr>
          <a:xfrm>
            <a:off x="1078992" y="4754880"/>
            <a:ext cx="1600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1200">
                <a:solidFill>
                  <a:srgbClr val="1F2328"/>
                </a:solidFill>
                <a:latin typeface="Calibri"/>
                <a:ea typeface="Calibri"/>
                <a:cs typeface="Calibri"/>
                <a:sym typeface="Calibri"/>
              </a:rPr>
              <a:t>Non-Iterative RAG </a:t>
            </a:r>
            <a:endParaRPr/>
          </a:p>
        </p:txBody>
      </p:sp>
      <p:sp>
        <p:nvSpPr>
          <p:cNvPr id="1794" name="Google Shape;1794;h547f90b031e64a91_0_458"/>
          <p:cNvSpPr/>
          <p:nvPr/>
        </p:nvSpPr>
        <p:spPr>
          <a:xfrm>
            <a:off x="2697479" y="47731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29</a:t>
            </a:r>
            <a:endParaRPr/>
          </a:p>
        </p:txBody>
      </p:sp>
      <p:sp>
        <p:nvSpPr>
          <p:cNvPr id="1795" name="Google Shape;1795;h547f90b031e64a91_0_458"/>
          <p:cNvSpPr/>
          <p:nvPr/>
        </p:nvSpPr>
        <p:spPr>
          <a:xfrm>
            <a:off x="3538727" y="4773168"/>
            <a:ext cx="804600" cy="420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61</a:t>
            </a:r>
            <a:endParaRPr/>
          </a:p>
        </p:txBody>
      </p:sp>
      <p:sp>
        <p:nvSpPr>
          <p:cNvPr id="1796" name="Google Shape;1796;h547f90b031e64a91_0_458"/>
          <p:cNvSpPr/>
          <p:nvPr/>
        </p:nvSpPr>
        <p:spPr>
          <a:xfrm>
            <a:off x="4379975" y="47731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18</a:t>
            </a:r>
            <a:endParaRPr/>
          </a:p>
        </p:txBody>
      </p:sp>
      <p:sp>
        <p:nvSpPr>
          <p:cNvPr id="1797" name="Google Shape;1797;h547f90b031e64a91_0_458"/>
          <p:cNvSpPr/>
          <p:nvPr/>
        </p:nvSpPr>
        <p:spPr>
          <a:xfrm>
            <a:off x="5221223" y="4773168"/>
            <a:ext cx="804600" cy="420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39</a:t>
            </a:r>
            <a:endParaRPr/>
          </a:p>
        </p:txBody>
      </p:sp>
      <p:sp>
        <p:nvSpPr>
          <p:cNvPr id="1798" name="Google Shape;1798;h547f90b031e64a91_0_458"/>
          <p:cNvSpPr/>
          <p:nvPr/>
        </p:nvSpPr>
        <p:spPr>
          <a:xfrm>
            <a:off x="6062471" y="4773168"/>
            <a:ext cx="804600" cy="420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220</a:t>
            </a:r>
            <a:endParaRPr/>
          </a:p>
        </p:txBody>
      </p:sp>
      <p:sp>
        <p:nvSpPr>
          <p:cNvPr id="1799" name="Google Shape;1799;h547f90b031e64a91_0_458"/>
          <p:cNvSpPr/>
          <p:nvPr/>
        </p:nvSpPr>
        <p:spPr>
          <a:xfrm>
            <a:off x="6903720" y="47731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27</a:t>
            </a:r>
            <a:endParaRPr/>
          </a:p>
        </p:txBody>
      </p:sp>
      <p:sp>
        <p:nvSpPr>
          <p:cNvPr id="1800" name="Google Shape;1800;h547f90b031e64a91_0_458"/>
          <p:cNvSpPr/>
          <p:nvPr/>
        </p:nvSpPr>
        <p:spPr>
          <a:xfrm>
            <a:off x="7744967" y="47731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24</a:t>
            </a:r>
            <a:endParaRPr/>
          </a:p>
        </p:txBody>
      </p:sp>
      <p:sp>
        <p:nvSpPr>
          <p:cNvPr id="1801" name="Google Shape;1801;h547f90b031e64a91_0_458"/>
          <p:cNvSpPr/>
          <p:nvPr/>
        </p:nvSpPr>
        <p:spPr>
          <a:xfrm>
            <a:off x="8586216" y="4773168"/>
            <a:ext cx="804600" cy="420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35</a:t>
            </a:r>
            <a:endParaRPr/>
          </a:p>
        </p:txBody>
      </p:sp>
      <p:sp>
        <p:nvSpPr>
          <p:cNvPr id="1802" name="Google Shape;1802;h547f90b031e64a91_0_458"/>
          <p:cNvSpPr/>
          <p:nvPr/>
        </p:nvSpPr>
        <p:spPr>
          <a:xfrm>
            <a:off x="9427463" y="47731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14</a:t>
            </a:r>
            <a:endParaRPr/>
          </a:p>
        </p:txBody>
      </p:sp>
      <p:sp>
        <p:nvSpPr>
          <p:cNvPr id="1803" name="Google Shape;1803;h547f90b031e64a91_0_458"/>
          <p:cNvSpPr txBox="1"/>
          <p:nvPr/>
        </p:nvSpPr>
        <p:spPr>
          <a:xfrm>
            <a:off x="10296144" y="4754880"/>
            <a:ext cx="685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50" u="none" cap="none" strike="noStrike">
                <a:solidFill>
                  <a:srgbClr val="1F2328"/>
                </a:solidFill>
                <a:latin typeface="Calibri"/>
                <a:ea typeface="Calibri"/>
                <a:cs typeface="Calibri"/>
                <a:sym typeface="Calibri"/>
              </a:rPr>
              <a:t>52</a:t>
            </a:r>
            <a:endParaRPr/>
          </a:p>
        </p:txBody>
      </p:sp>
      <p:sp>
        <p:nvSpPr>
          <p:cNvPr id="1804" name="Google Shape;1804;h547f90b031e64a91_0_458"/>
          <p:cNvSpPr txBox="1"/>
          <p:nvPr/>
        </p:nvSpPr>
        <p:spPr>
          <a:xfrm>
            <a:off x="1078992" y="5212080"/>
            <a:ext cx="1600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200" u="none" cap="none" strike="noStrike">
                <a:solidFill>
                  <a:srgbClr val="0B6E4F"/>
                </a:solidFill>
                <a:latin typeface="Calibri"/>
                <a:ea typeface="Calibri"/>
                <a:cs typeface="Calibri"/>
                <a:sym typeface="Calibri"/>
              </a:rPr>
              <a:t>RIGOR</a:t>
            </a:r>
            <a:endParaRPr/>
          </a:p>
        </p:txBody>
      </p:sp>
      <p:sp>
        <p:nvSpPr>
          <p:cNvPr id="1805" name="Google Shape;1805;h547f90b031e64a91_0_458"/>
          <p:cNvSpPr/>
          <p:nvPr/>
        </p:nvSpPr>
        <p:spPr>
          <a:xfrm>
            <a:off x="2697479" y="52303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20</a:t>
            </a:r>
            <a:endParaRPr/>
          </a:p>
        </p:txBody>
      </p:sp>
      <p:sp>
        <p:nvSpPr>
          <p:cNvPr id="1806" name="Google Shape;1806;h547f90b031e64a91_0_458"/>
          <p:cNvSpPr/>
          <p:nvPr/>
        </p:nvSpPr>
        <p:spPr>
          <a:xfrm>
            <a:off x="3538727" y="52303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23</a:t>
            </a:r>
            <a:endParaRPr/>
          </a:p>
        </p:txBody>
      </p:sp>
      <p:sp>
        <p:nvSpPr>
          <p:cNvPr id="1807" name="Google Shape;1807;h547f90b031e64a91_0_458"/>
          <p:cNvSpPr/>
          <p:nvPr/>
        </p:nvSpPr>
        <p:spPr>
          <a:xfrm>
            <a:off x="4379975"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3</a:t>
            </a:r>
            <a:endParaRPr/>
          </a:p>
        </p:txBody>
      </p:sp>
      <p:sp>
        <p:nvSpPr>
          <p:cNvPr id="1808" name="Google Shape;1808;h547f90b031e64a91_0_458"/>
          <p:cNvSpPr/>
          <p:nvPr/>
        </p:nvSpPr>
        <p:spPr>
          <a:xfrm>
            <a:off x="5221223"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2</a:t>
            </a:r>
            <a:endParaRPr/>
          </a:p>
        </p:txBody>
      </p:sp>
      <p:sp>
        <p:nvSpPr>
          <p:cNvPr id="1809" name="Google Shape;1809;h547f90b031e64a91_0_458"/>
          <p:cNvSpPr/>
          <p:nvPr/>
        </p:nvSpPr>
        <p:spPr>
          <a:xfrm>
            <a:off x="6062471"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2</a:t>
            </a:r>
            <a:endParaRPr/>
          </a:p>
        </p:txBody>
      </p:sp>
      <p:sp>
        <p:nvSpPr>
          <p:cNvPr id="1810" name="Google Shape;1810;h547f90b031e64a91_0_458"/>
          <p:cNvSpPr/>
          <p:nvPr/>
        </p:nvSpPr>
        <p:spPr>
          <a:xfrm>
            <a:off x="6903720" y="52303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26</a:t>
            </a:r>
            <a:endParaRPr/>
          </a:p>
        </p:txBody>
      </p:sp>
      <p:sp>
        <p:nvSpPr>
          <p:cNvPr id="1811" name="Google Shape;1811;h547f90b031e64a91_0_458"/>
          <p:cNvSpPr/>
          <p:nvPr/>
        </p:nvSpPr>
        <p:spPr>
          <a:xfrm>
            <a:off x="7744967"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0</a:t>
            </a:r>
            <a:endParaRPr/>
          </a:p>
        </p:txBody>
      </p:sp>
      <p:sp>
        <p:nvSpPr>
          <p:cNvPr id="1812" name="Google Shape;1812;h547f90b031e64a91_0_458"/>
          <p:cNvSpPr/>
          <p:nvPr/>
        </p:nvSpPr>
        <p:spPr>
          <a:xfrm>
            <a:off x="8586216"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0</a:t>
            </a:r>
            <a:endParaRPr/>
          </a:p>
        </p:txBody>
      </p:sp>
      <p:sp>
        <p:nvSpPr>
          <p:cNvPr id="1813" name="Google Shape;1813;h547f90b031e64a91_0_458"/>
          <p:cNvSpPr/>
          <p:nvPr/>
        </p:nvSpPr>
        <p:spPr>
          <a:xfrm>
            <a:off x="9427463"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0</a:t>
            </a:r>
            <a:endParaRPr/>
          </a:p>
        </p:txBody>
      </p:sp>
      <p:sp>
        <p:nvSpPr>
          <p:cNvPr id="1814" name="Google Shape;1814;h547f90b031e64a91_0_458"/>
          <p:cNvSpPr txBox="1"/>
          <p:nvPr/>
        </p:nvSpPr>
        <p:spPr>
          <a:xfrm>
            <a:off x="10296144" y="5212080"/>
            <a:ext cx="685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50" u="none" cap="none" strike="noStrike">
                <a:solidFill>
                  <a:srgbClr val="0B6E4F"/>
                </a:solidFill>
                <a:latin typeface="Calibri"/>
                <a:ea typeface="Calibri"/>
                <a:cs typeface="Calibri"/>
                <a:sym typeface="Calibri"/>
              </a:rPr>
              <a:t>8</a:t>
            </a:r>
            <a:endParaRPr/>
          </a:p>
        </p:txBody>
      </p:sp>
      <p:sp>
        <p:nvSpPr>
          <p:cNvPr id="1815" name="Google Shape;1815;h547f90b031e64a91_0_458"/>
          <p:cNvSpPr/>
          <p:nvPr/>
        </p:nvSpPr>
        <p:spPr>
          <a:xfrm>
            <a:off x="804672" y="5879592"/>
            <a:ext cx="10579500" cy="420600"/>
          </a:xfrm>
          <a:prstGeom prst="roundRect">
            <a:avLst>
              <a:gd fmla="val 12000" name="adj"/>
            </a:avLst>
          </a:prstGeom>
          <a:solidFill>
            <a:srgbClr val="E6F2EC"/>
          </a:solidFill>
          <a:ln>
            <a:noFill/>
          </a:ln>
        </p:spPr>
        <p:txBody>
          <a:bodyPr anchorCtr="0" anchor="ctr" bIns="0" lIns="201150" spcFirstLastPara="1" rIns="201150" wrap="square" tIns="0">
            <a:noAutofit/>
          </a:bodyPr>
          <a:lstStyle/>
          <a:p>
            <a:pPr indent="0" lvl="0" marL="0" marR="0" rtl="0" algn="l">
              <a:lnSpc>
                <a:spcPct val="100000"/>
              </a:lnSpc>
              <a:spcBef>
                <a:spcPts val="0"/>
              </a:spcBef>
              <a:spcAft>
                <a:spcPts val="0"/>
              </a:spcAft>
              <a:buNone/>
            </a:pPr>
            <a:r>
              <a:rPr b="0" i="0" lang="en-US" sz="1400" u="none" cap="none" strike="noStrike">
                <a:solidFill>
                  <a:srgbClr val="3A434C"/>
                </a:solidFill>
                <a:latin typeface="Calibri"/>
                <a:ea typeface="Calibri"/>
                <a:cs typeface="Calibri"/>
                <a:sym typeface="Calibri"/>
              </a:rPr>
              <a:t>Same LLM, same database: </a:t>
            </a:r>
            <a:r>
              <a:rPr b="1" i="0" lang="en-US" sz="1400" u="none" cap="none" strike="noStrike">
                <a:solidFill>
                  <a:srgbClr val="B23A1E"/>
                </a:solidFill>
                <a:latin typeface="Calibri"/>
                <a:ea typeface="Calibri"/>
                <a:cs typeface="Calibri"/>
                <a:sym typeface="Calibri"/>
              </a:rPr>
              <a:t>Mistral on eICU, 220 without RIGOR</a:t>
            </a:r>
            <a:r>
              <a:rPr b="0" i="0" lang="en-US" sz="1400" u="none" cap="none" strike="noStrike">
                <a:solidFill>
                  <a:srgbClr val="3A434C"/>
                </a:solidFill>
                <a:latin typeface="Calibri"/>
                <a:ea typeface="Calibri"/>
                <a:cs typeface="Calibri"/>
                <a:sym typeface="Calibri"/>
              </a:rPr>
              <a:t>, </a:t>
            </a:r>
            <a:r>
              <a:rPr b="1" i="0" lang="en-US" sz="1400" u="none" cap="none" strike="noStrike">
                <a:solidFill>
                  <a:srgbClr val="0B6E4F"/>
                </a:solidFill>
                <a:latin typeface="Calibri"/>
                <a:ea typeface="Calibri"/>
                <a:cs typeface="Calibri"/>
                <a:sym typeface="Calibri"/>
              </a:rPr>
              <a:t>2 with it.</a:t>
            </a:r>
            <a:r>
              <a:rPr b="0" i="0" lang="en-US" sz="1400" u="none" cap="none" strike="noStrike">
                <a:solidFill>
                  <a:srgbClr val="3A434C"/>
                </a:solidFill>
                <a:latin typeface="Calibri"/>
                <a:ea typeface="Calibri"/>
                <a:cs typeface="Calibri"/>
                <a:sym typeface="Calibri"/>
              </a:rPr>
              <a:t>  On Chinook, RIGOR has zero with every LLM.</a:t>
            </a:r>
            <a:endParaRPr/>
          </a:p>
        </p:txBody>
      </p:sp>
      <p:sp>
        <p:nvSpPr>
          <p:cNvPr id="1816" name="Google Shape;1816;h547f90b031e64a91_0_458"/>
          <p:cNvSpPr/>
          <p:nvPr/>
        </p:nvSpPr>
        <p:spPr>
          <a:xfrm>
            <a:off x="822950" y="6510550"/>
            <a:ext cx="50511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OPPS!</a:t>
            </a:r>
            <a:r>
              <a:rPr lang="en-US" sz="1000">
                <a:solidFill>
                  <a:srgbClr val="5B6770"/>
                </a:solidFill>
                <a:latin typeface="Calibri"/>
                <a:ea typeface="Calibri"/>
                <a:cs typeface="Calibri"/>
                <a:sym typeface="Calibri"/>
              </a:rPr>
              <a:t> [Poveda-Villalón et al., IJSWIS 2014]</a:t>
            </a:r>
            <a:r>
              <a:rPr b="0" i="0" lang="en-US" sz="1000" u="none" cap="none" strike="noStrike">
                <a:solidFill>
                  <a:srgbClr val="5B6770"/>
                </a:solidFill>
                <a:latin typeface="Calibri"/>
                <a:ea typeface="Calibri"/>
                <a:cs typeface="Calibri"/>
                <a:sym typeface="Calibri"/>
              </a:rPr>
              <a:t> </a:t>
            </a:r>
            <a:endParaRPr/>
          </a:p>
        </p:txBody>
      </p:sp>
      <p:sp>
        <p:nvSpPr>
          <p:cNvPr id="1817" name="Google Shape;1817;h547f90b031e64a91_0_458"/>
          <p:cNvSpPr txBox="1"/>
          <p:nvPr/>
        </p:nvSpPr>
        <p:spPr>
          <a:xfrm>
            <a:off x="2679191" y="4128579"/>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Claude</a:t>
            </a:r>
            <a:endParaRPr/>
          </a:p>
        </p:txBody>
      </p:sp>
      <p:sp>
        <p:nvSpPr>
          <p:cNvPr id="1818" name="Google Shape;1818;h547f90b031e64a91_0_458"/>
          <p:cNvSpPr txBox="1"/>
          <p:nvPr/>
        </p:nvSpPr>
        <p:spPr>
          <a:xfrm>
            <a:off x="3520439" y="4128579"/>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Mistral</a:t>
            </a:r>
            <a:endParaRPr/>
          </a:p>
        </p:txBody>
      </p:sp>
      <p:sp>
        <p:nvSpPr>
          <p:cNvPr id="1819" name="Google Shape;1819;h547f90b031e64a91_0_458"/>
          <p:cNvSpPr txBox="1"/>
          <p:nvPr/>
        </p:nvSpPr>
        <p:spPr>
          <a:xfrm>
            <a:off x="4361688" y="4128579"/>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DeepSeek</a:t>
            </a:r>
            <a:endParaRPr/>
          </a:p>
        </p:txBody>
      </p:sp>
      <p:sp>
        <p:nvSpPr>
          <p:cNvPr id="1820" name="Google Shape;1820;h547f90b031e64a91_0_458"/>
          <p:cNvSpPr txBox="1"/>
          <p:nvPr/>
        </p:nvSpPr>
        <p:spPr>
          <a:xfrm>
            <a:off x="5202936" y="4128579"/>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Claude</a:t>
            </a:r>
            <a:endParaRPr/>
          </a:p>
        </p:txBody>
      </p:sp>
      <p:sp>
        <p:nvSpPr>
          <p:cNvPr id="1821" name="Google Shape;1821;h547f90b031e64a91_0_458"/>
          <p:cNvSpPr txBox="1"/>
          <p:nvPr/>
        </p:nvSpPr>
        <p:spPr>
          <a:xfrm>
            <a:off x="6044183" y="4128579"/>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Mistral</a:t>
            </a:r>
            <a:endParaRPr/>
          </a:p>
        </p:txBody>
      </p:sp>
      <p:sp>
        <p:nvSpPr>
          <p:cNvPr id="1822" name="Google Shape;1822;h547f90b031e64a91_0_458"/>
          <p:cNvSpPr txBox="1"/>
          <p:nvPr/>
        </p:nvSpPr>
        <p:spPr>
          <a:xfrm>
            <a:off x="6885432" y="4128579"/>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DeepSeek</a:t>
            </a:r>
            <a:endParaRPr/>
          </a:p>
        </p:txBody>
      </p:sp>
      <p:sp>
        <p:nvSpPr>
          <p:cNvPr id="1823" name="Google Shape;1823;h547f90b031e64a91_0_458"/>
          <p:cNvSpPr txBox="1"/>
          <p:nvPr/>
        </p:nvSpPr>
        <p:spPr>
          <a:xfrm>
            <a:off x="7726679" y="4128579"/>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Claude</a:t>
            </a:r>
            <a:endParaRPr/>
          </a:p>
        </p:txBody>
      </p:sp>
      <p:sp>
        <p:nvSpPr>
          <p:cNvPr id="1824" name="Google Shape;1824;h547f90b031e64a91_0_458"/>
          <p:cNvSpPr txBox="1"/>
          <p:nvPr/>
        </p:nvSpPr>
        <p:spPr>
          <a:xfrm>
            <a:off x="8567928" y="4128579"/>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Mistral</a:t>
            </a:r>
            <a:endParaRPr/>
          </a:p>
        </p:txBody>
      </p:sp>
      <p:sp>
        <p:nvSpPr>
          <p:cNvPr id="1825" name="Google Shape;1825;h547f90b031e64a91_0_458"/>
          <p:cNvSpPr txBox="1"/>
          <p:nvPr/>
        </p:nvSpPr>
        <p:spPr>
          <a:xfrm>
            <a:off x="9409176" y="4128579"/>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DeepSeek</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0" name="Shape 1830"/>
        <p:cNvGrpSpPr/>
        <p:nvPr/>
      </p:nvGrpSpPr>
      <p:grpSpPr>
        <a:xfrm>
          <a:off x="0" y="0"/>
          <a:ext cx="0" cy="0"/>
          <a:chOff x="0" y="0"/>
          <a:chExt cx="0" cy="0"/>
        </a:xfrm>
      </p:grpSpPr>
      <p:sp>
        <p:nvSpPr>
          <p:cNvPr id="1831" name="Google Shape;1831;h547f90b031e64a91_0_526"/>
          <p:cNvSpPr txBox="1"/>
          <p:nvPr/>
        </p:nvSpPr>
        <p:spPr>
          <a:xfrm>
            <a:off x="804672" y="512064"/>
            <a:ext cx="107532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RESULT 2  /  NOTHING IS LOST</a:t>
            </a:r>
            <a:endParaRPr b="0" i="0" sz="1400" u="none" cap="none" strike="noStrike">
              <a:solidFill>
                <a:srgbClr val="000000"/>
              </a:solidFill>
              <a:latin typeface="Arial"/>
              <a:ea typeface="Arial"/>
              <a:cs typeface="Arial"/>
              <a:sym typeface="Arial"/>
            </a:endParaRPr>
          </a:p>
        </p:txBody>
      </p:sp>
      <p:sp>
        <p:nvSpPr>
          <p:cNvPr id="1832" name="Google Shape;1832;h547f90b031e64a91_0_526"/>
          <p:cNvSpPr txBox="1"/>
          <p:nvPr/>
        </p:nvSpPr>
        <p:spPr>
          <a:xfrm>
            <a:off x="804672" y="914400"/>
            <a:ext cx="107625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1F2328"/>
                </a:solidFill>
                <a:latin typeface="Cambria"/>
                <a:ea typeface="Cambria"/>
                <a:cs typeface="Cambria"/>
                <a:sym typeface="Cambria"/>
              </a:rPr>
              <a:t>Nothing is lost: RIGOR keeps the schema.</a:t>
            </a:r>
            <a:endParaRPr b="0" i="0" sz="1400" u="none" cap="none" strike="noStrike">
              <a:solidFill>
                <a:srgbClr val="000000"/>
              </a:solidFill>
              <a:latin typeface="Arial"/>
              <a:ea typeface="Arial"/>
              <a:cs typeface="Arial"/>
              <a:sym typeface="Arial"/>
            </a:endParaRPr>
          </a:p>
        </p:txBody>
      </p:sp>
      <p:sp>
        <p:nvSpPr>
          <p:cNvPr id="1833" name="Google Shape;1833;h547f90b031e64a91_0_526"/>
          <p:cNvSpPr/>
          <p:nvPr/>
        </p:nvSpPr>
        <p:spPr>
          <a:xfrm>
            <a:off x="804672" y="2103120"/>
            <a:ext cx="2042700" cy="310800"/>
          </a:xfrm>
          <a:prstGeom prst="rect">
            <a:avLst/>
          </a:prstGeom>
          <a:solidFill>
            <a:srgbClr val="E8F6E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0B6E4F"/>
                </a:solidFill>
                <a:latin typeface="Consolas"/>
                <a:ea typeface="Consolas"/>
                <a:cs typeface="Consolas"/>
                <a:sym typeface="Consolas"/>
              </a:rPr>
              <a:t>1  VALID, FEWER ERRORS</a:t>
            </a:r>
            <a:endParaRPr/>
          </a:p>
        </p:txBody>
      </p:sp>
      <p:sp>
        <p:nvSpPr>
          <p:cNvPr id="1834" name="Google Shape;1834;h547f90b031e64a91_0_526"/>
          <p:cNvSpPr/>
          <p:nvPr/>
        </p:nvSpPr>
        <p:spPr>
          <a:xfrm>
            <a:off x="2938881" y="2103120"/>
            <a:ext cx="2042700" cy="310800"/>
          </a:xfrm>
          <a:prstGeom prst="rect">
            <a:avLst/>
          </a:prstGeom>
          <a:solidFill>
            <a:srgbClr val="0B6E4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FFFFFF"/>
                </a:solidFill>
                <a:latin typeface="Consolas"/>
                <a:ea typeface="Consolas"/>
                <a:cs typeface="Consolas"/>
                <a:sym typeface="Consolas"/>
              </a:rPr>
              <a:t>2  KEEPS THE SCHEMA</a:t>
            </a:r>
            <a:endParaRPr/>
          </a:p>
        </p:txBody>
      </p:sp>
      <p:sp>
        <p:nvSpPr>
          <p:cNvPr id="1835" name="Google Shape;1835;h547f90b031e64a91_0_526"/>
          <p:cNvSpPr/>
          <p:nvPr/>
        </p:nvSpPr>
        <p:spPr>
          <a:xfrm>
            <a:off x="5073091" y="2103120"/>
            <a:ext cx="2042700" cy="310800"/>
          </a:xfrm>
          <a:prstGeom prst="rect">
            <a:avLst/>
          </a:prstGeom>
          <a:solidFill>
            <a:srgbClr val="FFFFFF"/>
          </a:solidFill>
          <a:ln cap="flat" cmpd="sng" w="9525">
            <a:solidFill>
              <a:srgbClr val="D9DED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6B747B"/>
                </a:solidFill>
                <a:latin typeface="Consolas"/>
                <a:ea typeface="Consolas"/>
                <a:cs typeface="Consolas"/>
                <a:sym typeface="Consolas"/>
              </a:rPr>
              <a:t>3  ADDS MEANING</a:t>
            </a:r>
            <a:endParaRPr/>
          </a:p>
        </p:txBody>
      </p:sp>
      <p:sp>
        <p:nvSpPr>
          <p:cNvPr id="1836" name="Google Shape;1836;h547f90b031e64a91_0_526"/>
          <p:cNvSpPr/>
          <p:nvPr/>
        </p:nvSpPr>
        <p:spPr>
          <a:xfrm>
            <a:off x="7207300" y="2103120"/>
            <a:ext cx="2042700" cy="310800"/>
          </a:xfrm>
          <a:prstGeom prst="rect">
            <a:avLst/>
          </a:prstGeom>
          <a:solidFill>
            <a:srgbClr val="FFFFFF"/>
          </a:solidFill>
          <a:ln cap="flat" cmpd="sng" w="9525">
            <a:solidFill>
              <a:srgbClr val="D9DED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6B747B"/>
                </a:solidFill>
                <a:latin typeface="Consolas"/>
                <a:ea typeface="Consolas"/>
                <a:cs typeface="Consolas"/>
                <a:sym typeface="Consolas"/>
              </a:rPr>
              <a:t>4  GOLD MAPPINGS</a:t>
            </a:r>
            <a:endParaRPr/>
          </a:p>
        </p:txBody>
      </p:sp>
      <p:sp>
        <p:nvSpPr>
          <p:cNvPr id="1837" name="Google Shape;1837;h547f90b031e64a91_0_526"/>
          <p:cNvSpPr/>
          <p:nvPr/>
        </p:nvSpPr>
        <p:spPr>
          <a:xfrm>
            <a:off x="9341510" y="2103120"/>
            <a:ext cx="2042700" cy="310800"/>
          </a:xfrm>
          <a:prstGeom prst="rect">
            <a:avLst/>
          </a:prstGeom>
          <a:solidFill>
            <a:srgbClr val="FFFFFF"/>
          </a:solidFill>
          <a:ln cap="flat" cmpd="sng" w="9525">
            <a:solidFill>
              <a:srgbClr val="D9DED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6B747B"/>
                </a:solidFill>
                <a:latin typeface="Consolas"/>
                <a:ea typeface="Consolas"/>
                <a:cs typeface="Consolas"/>
                <a:sym typeface="Consolas"/>
              </a:rPr>
              <a:t>5  JUDGES</a:t>
            </a:r>
            <a:endParaRPr/>
          </a:p>
        </p:txBody>
      </p:sp>
      <p:sp>
        <p:nvSpPr>
          <p:cNvPr id="1838" name="Google Shape;1838;h547f90b031e64a91_0_526"/>
          <p:cNvSpPr/>
          <p:nvPr/>
        </p:nvSpPr>
        <p:spPr>
          <a:xfrm>
            <a:off x="804672" y="2606040"/>
            <a:ext cx="10579500" cy="3154800"/>
          </a:xfrm>
          <a:prstGeom prst="roundRect">
            <a:avLst>
              <a:gd fmla="val 12000" name="adj"/>
            </a:avLst>
          </a:prstGeom>
          <a:solidFill>
            <a:srgbClr val="FFFFFF"/>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39" name="Google Shape;1839;h547f90b031e64a91_0_526"/>
          <p:cNvSpPr txBox="1"/>
          <p:nvPr/>
        </p:nvSpPr>
        <p:spPr>
          <a:xfrm>
            <a:off x="1078992" y="2788920"/>
            <a:ext cx="100311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2F6B78"/>
                </a:solidFill>
                <a:latin typeface="Consolas"/>
                <a:ea typeface="Consolas"/>
                <a:cs typeface="Consolas"/>
                <a:sym typeface="Consolas"/>
              </a:rPr>
              <a:t>KEEPS THE SCHEMA</a:t>
            </a:r>
            <a:endParaRPr/>
          </a:p>
        </p:txBody>
      </p:sp>
      <p:sp>
        <p:nvSpPr>
          <p:cNvPr id="1840" name="Google Shape;1840;h547f90b031e64a91_0_526"/>
          <p:cNvSpPr txBox="1"/>
          <p:nvPr/>
        </p:nvSpPr>
        <p:spPr>
          <a:xfrm>
            <a:off x="1078992" y="3081528"/>
            <a:ext cx="100311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50" u="none" cap="none" strike="noStrike">
                <a:solidFill>
                  <a:srgbClr val="5B6770"/>
                </a:solidFill>
                <a:latin typeface="Calibri"/>
                <a:ea typeface="Calibri"/>
                <a:cs typeface="Calibri"/>
                <a:sym typeface="Calibri"/>
              </a:rPr>
              <a:t>columns covered, per ontology (%)</a:t>
            </a:r>
            <a:endParaRPr/>
          </a:p>
        </p:txBody>
      </p:sp>
      <p:sp>
        <p:nvSpPr>
          <p:cNvPr id="1841" name="Google Shape;1841;h547f90b031e64a91_0_526"/>
          <p:cNvSpPr txBox="1"/>
          <p:nvPr/>
        </p:nvSpPr>
        <p:spPr>
          <a:xfrm>
            <a:off x="2679191" y="3383280"/>
            <a:ext cx="25236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Liver Cancer</a:t>
            </a:r>
            <a:endParaRPr/>
          </a:p>
        </p:txBody>
      </p:sp>
      <p:sp>
        <p:nvSpPr>
          <p:cNvPr id="1842" name="Google Shape;1842;h547f90b031e64a91_0_526"/>
          <p:cNvSpPr txBox="1"/>
          <p:nvPr/>
        </p:nvSpPr>
        <p:spPr>
          <a:xfrm>
            <a:off x="2679191"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Claude</a:t>
            </a:r>
            <a:endParaRPr/>
          </a:p>
        </p:txBody>
      </p:sp>
      <p:sp>
        <p:nvSpPr>
          <p:cNvPr id="1843" name="Google Shape;1843;h547f90b031e64a91_0_526"/>
          <p:cNvSpPr txBox="1"/>
          <p:nvPr/>
        </p:nvSpPr>
        <p:spPr>
          <a:xfrm>
            <a:off x="3520439"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Mistral</a:t>
            </a:r>
            <a:endParaRPr/>
          </a:p>
        </p:txBody>
      </p:sp>
      <p:sp>
        <p:nvSpPr>
          <p:cNvPr id="1844" name="Google Shape;1844;h547f90b031e64a91_0_526"/>
          <p:cNvSpPr txBox="1"/>
          <p:nvPr/>
        </p:nvSpPr>
        <p:spPr>
          <a:xfrm>
            <a:off x="4361688"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DeepSeek</a:t>
            </a:r>
            <a:endParaRPr/>
          </a:p>
        </p:txBody>
      </p:sp>
      <p:sp>
        <p:nvSpPr>
          <p:cNvPr id="1845" name="Google Shape;1845;h547f90b031e64a91_0_526"/>
          <p:cNvSpPr txBox="1"/>
          <p:nvPr/>
        </p:nvSpPr>
        <p:spPr>
          <a:xfrm>
            <a:off x="5202936" y="3383280"/>
            <a:ext cx="25236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eICU-CRD</a:t>
            </a:r>
            <a:endParaRPr/>
          </a:p>
        </p:txBody>
      </p:sp>
      <p:sp>
        <p:nvSpPr>
          <p:cNvPr id="1846" name="Google Shape;1846;h547f90b031e64a91_0_526"/>
          <p:cNvSpPr txBox="1"/>
          <p:nvPr/>
        </p:nvSpPr>
        <p:spPr>
          <a:xfrm>
            <a:off x="5202936"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Claude</a:t>
            </a:r>
            <a:endParaRPr/>
          </a:p>
        </p:txBody>
      </p:sp>
      <p:sp>
        <p:nvSpPr>
          <p:cNvPr id="1847" name="Google Shape;1847;h547f90b031e64a91_0_526"/>
          <p:cNvSpPr txBox="1"/>
          <p:nvPr/>
        </p:nvSpPr>
        <p:spPr>
          <a:xfrm>
            <a:off x="6044183"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Mistral</a:t>
            </a:r>
            <a:endParaRPr/>
          </a:p>
        </p:txBody>
      </p:sp>
      <p:sp>
        <p:nvSpPr>
          <p:cNvPr id="1848" name="Google Shape;1848;h547f90b031e64a91_0_526"/>
          <p:cNvSpPr txBox="1"/>
          <p:nvPr/>
        </p:nvSpPr>
        <p:spPr>
          <a:xfrm>
            <a:off x="6885432"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DeepSeek</a:t>
            </a:r>
            <a:endParaRPr/>
          </a:p>
        </p:txBody>
      </p:sp>
      <p:sp>
        <p:nvSpPr>
          <p:cNvPr id="1849" name="Google Shape;1849;h547f90b031e64a91_0_526"/>
          <p:cNvSpPr txBox="1"/>
          <p:nvPr/>
        </p:nvSpPr>
        <p:spPr>
          <a:xfrm>
            <a:off x="7726679" y="3383280"/>
            <a:ext cx="25236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Chinook</a:t>
            </a:r>
            <a:endParaRPr/>
          </a:p>
        </p:txBody>
      </p:sp>
      <p:sp>
        <p:nvSpPr>
          <p:cNvPr id="1850" name="Google Shape;1850;h547f90b031e64a91_0_526"/>
          <p:cNvSpPr txBox="1"/>
          <p:nvPr/>
        </p:nvSpPr>
        <p:spPr>
          <a:xfrm>
            <a:off x="7726679"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Claude</a:t>
            </a:r>
            <a:endParaRPr/>
          </a:p>
        </p:txBody>
      </p:sp>
      <p:sp>
        <p:nvSpPr>
          <p:cNvPr id="1851" name="Google Shape;1851;h547f90b031e64a91_0_526"/>
          <p:cNvSpPr txBox="1"/>
          <p:nvPr/>
        </p:nvSpPr>
        <p:spPr>
          <a:xfrm>
            <a:off x="8567928"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Mistral</a:t>
            </a:r>
            <a:endParaRPr/>
          </a:p>
        </p:txBody>
      </p:sp>
      <p:sp>
        <p:nvSpPr>
          <p:cNvPr id="1852" name="Google Shape;1852;h547f90b031e64a91_0_526"/>
          <p:cNvSpPr txBox="1"/>
          <p:nvPr/>
        </p:nvSpPr>
        <p:spPr>
          <a:xfrm>
            <a:off x="9409176"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DeepSeek</a:t>
            </a:r>
            <a:endParaRPr/>
          </a:p>
        </p:txBody>
      </p:sp>
      <p:sp>
        <p:nvSpPr>
          <p:cNvPr id="1853" name="Google Shape;1853;h547f90b031e64a91_0_526"/>
          <p:cNvSpPr txBox="1"/>
          <p:nvPr/>
        </p:nvSpPr>
        <p:spPr>
          <a:xfrm>
            <a:off x="10296144" y="3493008"/>
            <a:ext cx="685800" cy="23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5B6770"/>
                </a:solidFill>
                <a:latin typeface="Calibri"/>
                <a:ea typeface="Calibri"/>
                <a:cs typeface="Calibri"/>
                <a:sym typeface="Calibri"/>
              </a:rPr>
              <a:t>Avg</a:t>
            </a:r>
            <a:endParaRPr/>
          </a:p>
        </p:txBody>
      </p:sp>
      <p:sp>
        <p:nvSpPr>
          <p:cNvPr id="1854" name="Google Shape;1854;h547f90b031e64a91_0_526"/>
          <p:cNvSpPr txBox="1"/>
          <p:nvPr/>
        </p:nvSpPr>
        <p:spPr>
          <a:xfrm>
            <a:off x="1078992" y="3840480"/>
            <a:ext cx="1600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Direct Mapping</a:t>
            </a:r>
            <a:endParaRPr/>
          </a:p>
        </p:txBody>
      </p:sp>
      <p:sp>
        <p:nvSpPr>
          <p:cNvPr id="1855" name="Google Shape;1855;h547f90b031e64a91_0_526"/>
          <p:cNvSpPr/>
          <p:nvPr/>
        </p:nvSpPr>
        <p:spPr>
          <a:xfrm>
            <a:off x="2697479" y="3858768"/>
            <a:ext cx="24873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97</a:t>
            </a:r>
            <a:endParaRPr/>
          </a:p>
        </p:txBody>
      </p:sp>
      <p:sp>
        <p:nvSpPr>
          <p:cNvPr id="1856" name="Google Shape;1856;h547f90b031e64a91_0_526"/>
          <p:cNvSpPr/>
          <p:nvPr/>
        </p:nvSpPr>
        <p:spPr>
          <a:xfrm>
            <a:off x="5221223" y="3858768"/>
            <a:ext cx="24873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99</a:t>
            </a:r>
            <a:endParaRPr/>
          </a:p>
        </p:txBody>
      </p:sp>
      <p:sp>
        <p:nvSpPr>
          <p:cNvPr id="1857" name="Google Shape;1857;h547f90b031e64a91_0_526"/>
          <p:cNvSpPr/>
          <p:nvPr/>
        </p:nvSpPr>
        <p:spPr>
          <a:xfrm>
            <a:off x="7744967" y="3858768"/>
            <a:ext cx="24873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78</a:t>
            </a:r>
            <a:endParaRPr/>
          </a:p>
        </p:txBody>
      </p:sp>
      <p:sp>
        <p:nvSpPr>
          <p:cNvPr id="1858" name="Google Shape;1858;h547f90b031e64a91_0_526"/>
          <p:cNvSpPr txBox="1"/>
          <p:nvPr/>
        </p:nvSpPr>
        <p:spPr>
          <a:xfrm>
            <a:off x="10296144" y="3840480"/>
            <a:ext cx="685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50" u="none" cap="none" strike="noStrike">
                <a:solidFill>
                  <a:srgbClr val="1F2328"/>
                </a:solidFill>
                <a:latin typeface="Calibri"/>
                <a:ea typeface="Calibri"/>
                <a:cs typeface="Calibri"/>
                <a:sym typeface="Calibri"/>
              </a:rPr>
              <a:t>91%</a:t>
            </a:r>
            <a:endParaRPr/>
          </a:p>
        </p:txBody>
      </p:sp>
      <p:sp>
        <p:nvSpPr>
          <p:cNvPr id="1859" name="Google Shape;1859;h547f90b031e64a91_0_526"/>
          <p:cNvSpPr txBox="1"/>
          <p:nvPr/>
        </p:nvSpPr>
        <p:spPr>
          <a:xfrm>
            <a:off x="1078992" y="4297680"/>
            <a:ext cx="1600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LLM baseline</a:t>
            </a:r>
            <a:endParaRPr/>
          </a:p>
        </p:txBody>
      </p:sp>
      <p:sp>
        <p:nvSpPr>
          <p:cNvPr id="1860" name="Google Shape;1860;h547f90b031e64a91_0_526"/>
          <p:cNvSpPr/>
          <p:nvPr/>
        </p:nvSpPr>
        <p:spPr>
          <a:xfrm>
            <a:off x="2697479" y="43159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94</a:t>
            </a:r>
            <a:endParaRPr/>
          </a:p>
        </p:txBody>
      </p:sp>
      <p:sp>
        <p:nvSpPr>
          <p:cNvPr id="1861" name="Google Shape;1861;h547f90b031e64a91_0_526"/>
          <p:cNvSpPr/>
          <p:nvPr/>
        </p:nvSpPr>
        <p:spPr>
          <a:xfrm>
            <a:off x="3538727" y="4315968"/>
            <a:ext cx="804600" cy="420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31</a:t>
            </a:r>
            <a:endParaRPr/>
          </a:p>
        </p:txBody>
      </p:sp>
      <p:sp>
        <p:nvSpPr>
          <p:cNvPr id="1862" name="Google Shape;1862;h547f90b031e64a91_0_526"/>
          <p:cNvSpPr/>
          <p:nvPr/>
        </p:nvSpPr>
        <p:spPr>
          <a:xfrm>
            <a:off x="4379975" y="43159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89</a:t>
            </a:r>
            <a:endParaRPr/>
          </a:p>
        </p:txBody>
      </p:sp>
      <p:sp>
        <p:nvSpPr>
          <p:cNvPr id="1863" name="Google Shape;1863;h547f90b031e64a91_0_526"/>
          <p:cNvSpPr/>
          <p:nvPr/>
        </p:nvSpPr>
        <p:spPr>
          <a:xfrm>
            <a:off x="5221223" y="43159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96</a:t>
            </a:r>
            <a:endParaRPr/>
          </a:p>
        </p:txBody>
      </p:sp>
      <p:sp>
        <p:nvSpPr>
          <p:cNvPr id="1864" name="Google Shape;1864;h547f90b031e64a91_0_526"/>
          <p:cNvSpPr/>
          <p:nvPr/>
        </p:nvSpPr>
        <p:spPr>
          <a:xfrm>
            <a:off x="6062471" y="4315968"/>
            <a:ext cx="804600" cy="420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68</a:t>
            </a:r>
            <a:endParaRPr/>
          </a:p>
        </p:txBody>
      </p:sp>
      <p:sp>
        <p:nvSpPr>
          <p:cNvPr id="1865" name="Google Shape;1865;h547f90b031e64a91_0_526"/>
          <p:cNvSpPr/>
          <p:nvPr/>
        </p:nvSpPr>
        <p:spPr>
          <a:xfrm>
            <a:off x="6903720" y="43159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86</a:t>
            </a:r>
            <a:endParaRPr/>
          </a:p>
        </p:txBody>
      </p:sp>
      <p:sp>
        <p:nvSpPr>
          <p:cNvPr id="1866" name="Google Shape;1866;h547f90b031e64a91_0_526"/>
          <p:cNvSpPr/>
          <p:nvPr/>
        </p:nvSpPr>
        <p:spPr>
          <a:xfrm>
            <a:off x="7744967" y="43159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100</a:t>
            </a:r>
            <a:endParaRPr/>
          </a:p>
        </p:txBody>
      </p:sp>
      <p:sp>
        <p:nvSpPr>
          <p:cNvPr id="1867" name="Google Shape;1867;h547f90b031e64a91_0_526"/>
          <p:cNvSpPr/>
          <p:nvPr/>
        </p:nvSpPr>
        <p:spPr>
          <a:xfrm>
            <a:off x="8586216" y="4315968"/>
            <a:ext cx="804600" cy="420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50</a:t>
            </a:r>
            <a:endParaRPr/>
          </a:p>
        </p:txBody>
      </p:sp>
      <p:sp>
        <p:nvSpPr>
          <p:cNvPr id="1868" name="Google Shape;1868;h547f90b031e64a91_0_526"/>
          <p:cNvSpPr/>
          <p:nvPr/>
        </p:nvSpPr>
        <p:spPr>
          <a:xfrm>
            <a:off x="9427463" y="4315968"/>
            <a:ext cx="804600" cy="420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52</a:t>
            </a:r>
            <a:endParaRPr/>
          </a:p>
        </p:txBody>
      </p:sp>
      <p:sp>
        <p:nvSpPr>
          <p:cNvPr id="1869" name="Google Shape;1869;h547f90b031e64a91_0_526"/>
          <p:cNvSpPr txBox="1"/>
          <p:nvPr/>
        </p:nvSpPr>
        <p:spPr>
          <a:xfrm>
            <a:off x="10296144" y="4297680"/>
            <a:ext cx="685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50" u="none" cap="none" strike="noStrike">
                <a:solidFill>
                  <a:srgbClr val="1F2328"/>
                </a:solidFill>
                <a:latin typeface="Calibri"/>
                <a:ea typeface="Calibri"/>
                <a:cs typeface="Calibri"/>
                <a:sym typeface="Calibri"/>
              </a:rPr>
              <a:t>74%</a:t>
            </a:r>
            <a:endParaRPr/>
          </a:p>
        </p:txBody>
      </p:sp>
      <p:sp>
        <p:nvSpPr>
          <p:cNvPr id="1870" name="Google Shape;1870;h547f90b031e64a91_0_526"/>
          <p:cNvSpPr txBox="1"/>
          <p:nvPr/>
        </p:nvSpPr>
        <p:spPr>
          <a:xfrm>
            <a:off x="1078992" y="4754880"/>
            <a:ext cx="1600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1200">
                <a:solidFill>
                  <a:srgbClr val="1F2328"/>
                </a:solidFill>
                <a:latin typeface="Calibri"/>
                <a:ea typeface="Calibri"/>
                <a:cs typeface="Calibri"/>
                <a:sym typeface="Calibri"/>
              </a:rPr>
              <a:t>Non-Iterative RAG </a:t>
            </a:r>
            <a:endParaRPr/>
          </a:p>
        </p:txBody>
      </p:sp>
      <p:sp>
        <p:nvSpPr>
          <p:cNvPr id="1871" name="Google Shape;1871;h547f90b031e64a91_0_526"/>
          <p:cNvSpPr/>
          <p:nvPr/>
        </p:nvSpPr>
        <p:spPr>
          <a:xfrm>
            <a:off x="2697479" y="4773168"/>
            <a:ext cx="804600" cy="420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41</a:t>
            </a:r>
            <a:endParaRPr/>
          </a:p>
        </p:txBody>
      </p:sp>
      <p:sp>
        <p:nvSpPr>
          <p:cNvPr id="1872" name="Google Shape;1872;h547f90b031e64a91_0_526"/>
          <p:cNvSpPr/>
          <p:nvPr/>
        </p:nvSpPr>
        <p:spPr>
          <a:xfrm>
            <a:off x="3538727" y="4773168"/>
            <a:ext cx="804600" cy="420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6</a:t>
            </a:r>
            <a:endParaRPr/>
          </a:p>
        </p:txBody>
      </p:sp>
      <p:sp>
        <p:nvSpPr>
          <p:cNvPr id="1873" name="Google Shape;1873;h547f90b031e64a91_0_526"/>
          <p:cNvSpPr/>
          <p:nvPr/>
        </p:nvSpPr>
        <p:spPr>
          <a:xfrm>
            <a:off x="4379975" y="4773168"/>
            <a:ext cx="804600" cy="420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12</a:t>
            </a:r>
            <a:endParaRPr/>
          </a:p>
        </p:txBody>
      </p:sp>
      <p:sp>
        <p:nvSpPr>
          <p:cNvPr id="1874" name="Google Shape;1874;h547f90b031e64a91_0_526"/>
          <p:cNvSpPr/>
          <p:nvPr/>
        </p:nvSpPr>
        <p:spPr>
          <a:xfrm>
            <a:off x="5221223" y="4773168"/>
            <a:ext cx="804600" cy="420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22</a:t>
            </a:r>
            <a:endParaRPr/>
          </a:p>
        </p:txBody>
      </p:sp>
      <p:sp>
        <p:nvSpPr>
          <p:cNvPr id="1875" name="Google Shape;1875;h547f90b031e64a91_0_526"/>
          <p:cNvSpPr/>
          <p:nvPr/>
        </p:nvSpPr>
        <p:spPr>
          <a:xfrm>
            <a:off x="6062471" y="4773168"/>
            <a:ext cx="804600" cy="420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28</a:t>
            </a:r>
            <a:endParaRPr/>
          </a:p>
        </p:txBody>
      </p:sp>
      <p:sp>
        <p:nvSpPr>
          <p:cNvPr id="1876" name="Google Shape;1876;h547f90b031e64a91_0_526"/>
          <p:cNvSpPr/>
          <p:nvPr/>
        </p:nvSpPr>
        <p:spPr>
          <a:xfrm>
            <a:off x="6903720" y="4773168"/>
            <a:ext cx="804600" cy="420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46</a:t>
            </a:r>
            <a:endParaRPr/>
          </a:p>
        </p:txBody>
      </p:sp>
      <p:sp>
        <p:nvSpPr>
          <p:cNvPr id="1877" name="Google Shape;1877;h547f90b031e64a91_0_526"/>
          <p:cNvSpPr/>
          <p:nvPr/>
        </p:nvSpPr>
        <p:spPr>
          <a:xfrm>
            <a:off x="7744967" y="4773168"/>
            <a:ext cx="804600" cy="420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58</a:t>
            </a:r>
            <a:endParaRPr/>
          </a:p>
        </p:txBody>
      </p:sp>
      <p:sp>
        <p:nvSpPr>
          <p:cNvPr id="1878" name="Google Shape;1878;h547f90b031e64a91_0_526"/>
          <p:cNvSpPr/>
          <p:nvPr/>
        </p:nvSpPr>
        <p:spPr>
          <a:xfrm>
            <a:off x="8586216" y="4773168"/>
            <a:ext cx="804600" cy="420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16</a:t>
            </a:r>
            <a:endParaRPr/>
          </a:p>
        </p:txBody>
      </p:sp>
      <p:sp>
        <p:nvSpPr>
          <p:cNvPr id="1879" name="Google Shape;1879;h547f90b031e64a91_0_526"/>
          <p:cNvSpPr/>
          <p:nvPr/>
        </p:nvSpPr>
        <p:spPr>
          <a:xfrm>
            <a:off x="9427463" y="47731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78</a:t>
            </a:r>
            <a:endParaRPr/>
          </a:p>
        </p:txBody>
      </p:sp>
      <p:sp>
        <p:nvSpPr>
          <p:cNvPr id="1880" name="Google Shape;1880;h547f90b031e64a91_0_526"/>
          <p:cNvSpPr txBox="1"/>
          <p:nvPr/>
        </p:nvSpPr>
        <p:spPr>
          <a:xfrm>
            <a:off x="10296144" y="4754880"/>
            <a:ext cx="685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50" u="none" cap="none" strike="noStrike">
                <a:solidFill>
                  <a:srgbClr val="1F2328"/>
                </a:solidFill>
                <a:latin typeface="Calibri"/>
                <a:ea typeface="Calibri"/>
                <a:cs typeface="Calibri"/>
                <a:sym typeface="Calibri"/>
              </a:rPr>
              <a:t>34%</a:t>
            </a:r>
            <a:endParaRPr/>
          </a:p>
        </p:txBody>
      </p:sp>
      <p:sp>
        <p:nvSpPr>
          <p:cNvPr id="1881" name="Google Shape;1881;h547f90b031e64a91_0_526"/>
          <p:cNvSpPr txBox="1"/>
          <p:nvPr/>
        </p:nvSpPr>
        <p:spPr>
          <a:xfrm>
            <a:off x="1078992" y="5212080"/>
            <a:ext cx="1600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200" u="none" cap="none" strike="noStrike">
                <a:solidFill>
                  <a:srgbClr val="0B6E4F"/>
                </a:solidFill>
                <a:latin typeface="Calibri"/>
                <a:ea typeface="Calibri"/>
                <a:cs typeface="Calibri"/>
                <a:sym typeface="Calibri"/>
              </a:rPr>
              <a:t>RIGOR</a:t>
            </a:r>
            <a:endParaRPr/>
          </a:p>
        </p:txBody>
      </p:sp>
      <p:sp>
        <p:nvSpPr>
          <p:cNvPr id="1882" name="Google Shape;1882;h547f90b031e64a91_0_526"/>
          <p:cNvSpPr/>
          <p:nvPr/>
        </p:nvSpPr>
        <p:spPr>
          <a:xfrm>
            <a:off x="2697479"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91</a:t>
            </a:r>
            <a:endParaRPr/>
          </a:p>
        </p:txBody>
      </p:sp>
      <p:sp>
        <p:nvSpPr>
          <p:cNvPr id="1883" name="Google Shape;1883;h547f90b031e64a91_0_526"/>
          <p:cNvSpPr/>
          <p:nvPr/>
        </p:nvSpPr>
        <p:spPr>
          <a:xfrm>
            <a:off x="3538727"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99</a:t>
            </a:r>
            <a:endParaRPr/>
          </a:p>
        </p:txBody>
      </p:sp>
      <p:sp>
        <p:nvSpPr>
          <p:cNvPr id="1884" name="Google Shape;1884;h547f90b031e64a91_0_526"/>
          <p:cNvSpPr/>
          <p:nvPr/>
        </p:nvSpPr>
        <p:spPr>
          <a:xfrm>
            <a:off x="4379975" y="52303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87</a:t>
            </a:r>
            <a:endParaRPr/>
          </a:p>
        </p:txBody>
      </p:sp>
      <p:sp>
        <p:nvSpPr>
          <p:cNvPr id="1885" name="Google Shape;1885;h547f90b031e64a91_0_526"/>
          <p:cNvSpPr/>
          <p:nvPr/>
        </p:nvSpPr>
        <p:spPr>
          <a:xfrm>
            <a:off x="5221223"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100</a:t>
            </a:r>
            <a:endParaRPr/>
          </a:p>
        </p:txBody>
      </p:sp>
      <p:sp>
        <p:nvSpPr>
          <p:cNvPr id="1886" name="Google Shape;1886;h547f90b031e64a91_0_526"/>
          <p:cNvSpPr/>
          <p:nvPr/>
        </p:nvSpPr>
        <p:spPr>
          <a:xfrm>
            <a:off x="6062471"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99</a:t>
            </a:r>
            <a:endParaRPr/>
          </a:p>
        </p:txBody>
      </p:sp>
      <p:sp>
        <p:nvSpPr>
          <p:cNvPr id="1887" name="Google Shape;1887;h547f90b031e64a91_0_526"/>
          <p:cNvSpPr/>
          <p:nvPr/>
        </p:nvSpPr>
        <p:spPr>
          <a:xfrm>
            <a:off x="6903720" y="52303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77</a:t>
            </a:r>
            <a:endParaRPr/>
          </a:p>
        </p:txBody>
      </p:sp>
      <p:sp>
        <p:nvSpPr>
          <p:cNvPr id="1888" name="Google Shape;1888;h547f90b031e64a91_0_526"/>
          <p:cNvSpPr/>
          <p:nvPr/>
        </p:nvSpPr>
        <p:spPr>
          <a:xfrm>
            <a:off x="7744967"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95</a:t>
            </a:r>
            <a:endParaRPr/>
          </a:p>
        </p:txBody>
      </p:sp>
      <p:sp>
        <p:nvSpPr>
          <p:cNvPr id="1889" name="Google Shape;1889;h547f90b031e64a91_0_526"/>
          <p:cNvSpPr/>
          <p:nvPr/>
        </p:nvSpPr>
        <p:spPr>
          <a:xfrm>
            <a:off x="8586216"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95</a:t>
            </a:r>
            <a:endParaRPr/>
          </a:p>
        </p:txBody>
      </p:sp>
      <p:sp>
        <p:nvSpPr>
          <p:cNvPr id="1890" name="Google Shape;1890;h547f90b031e64a91_0_526"/>
          <p:cNvSpPr/>
          <p:nvPr/>
        </p:nvSpPr>
        <p:spPr>
          <a:xfrm>
            <a:off x="9427463"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95</a:t>
            </a:r>
            <a:endParaRPr/>
          </a:p>
        </p:txBody>
      </p:sp>
      <p:sp>
        <p:nvSpPr>
          <p:cNvPr id="1891" name="Google Shape;1891;h547f90b031e64a91_0_526"/>
          <p:cNvSpPr txBox="1"/>
          <p:nvPr/>
        </p:nvSpPr>
        <p:spPr>
          <a:xfrm>
            <a:off x="10296144" y="5212080"/>
            <a:ext cx="685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50" u="none" cap="none" strike="noStrike">
                <a:solidFill>
                  <a:srgbClr val="0B6E4F"/>
                </a:solidFill>
                <a:latin typeface="Calibri"/>
                <a:ea typeface="Calibri"/>
                <a:cs typeface="Calibri"/>
                <a:sym typeface="Calibri"/>
              </a:rPr>
              <a:t>93%</a:t>
            </a:r>
            <a:endParaRPr/>
          </a:p>
        </p:txBody>
      </p:sp>
      <p:sp>
        <p:nvSpPr>
          <p:cNvPr id="1892" name="Google Shape;1892;h547f90b031e64a91_0_526"/>
          <p:cNvSpPr txBox="1"/>
          <p:nvPr/>
        </p:nvSpPr>
        <p:spPr>
          <a:xfrm>
            <a:off x="822960" y="6382512"/>
            <a:ext cx="106071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B6770"/>
                </a:solidFill>
                <a:latin typeface="Calibri"/>
                <a:ea typeface="Calibri"/>
                <a:cs typeface="Calibri"/>
                <a:sym typeface="Calibri"/>
              </a:rPr>
              <a:t>Coverage: a column counts as covered when an ontology class or property name is similar to it (embedding similarity ≥ 0.55).</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7" name="Shape 1897"/>
        <p:cNvGrpSpPr/>
        <p:nvPr/>
      </p:nvGrpSpPr>
      <p:grpSpPr>
        <a:xfrm>
          <a:off x="0" y="0"/>
          <a:ext cx="0" cy="0"/>
          <a:chOff x="0" y="0"/>
          <a:chExt cx="0" cy="0"/>
        </a:xfrm>
      </p:grpSpPr>
      <p:sp>
        <p:nvSpPr>
          <p:cNvPr id="1898" name="Google Shape;1898;h547f90b031e64a91_0_593"/>
          <p:cNvSpPr txBox="1"/>
          <p:nvPr/>
        </p:nvSpPr>
        <p:spPr>
          <a:xfrm>
            <a:off x="804672" y="512064"/>
            <a:ext cx="107532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RESULT 2  /  NOTHING IS LOST</a:t>
            </a:r>
            <a:endParaRPr b="0" i="0" sz="1400" u="none" cap="none" strike="noStrike">
              <a:solidFill>
                <a:srgbClr val="000000"/>
              </a:solidFill>
              <a:latin typeface="Arial"/>
              <a:ea typeface="Arial"/>
              <a:cs typeface="Arial"/>
              <a:sym typeface="Arial"/>
            </a:endParaRPr>
          </a:p>
        </p:txBody>
      </p:sp>
      <p:sp>
        <p:nvSpPr>
          <p:cNvPr id="1899" name="Google Shape;1899;h547f90b031e64a91_0_593"/>
          <p:cNvSpPr txBox="1"/>
          <p:nvPr/>
        </p:nvSpPr>
        <p:spPr>
          <a:xfrm>
            <a:off x="804672" y="914400"/>
            <a:ext cx="107625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1F2328"/>
                </a:solidFill>
                <a:latin typeface="Cambria"/>
                <a:ea typeface="Cambria"/>
                <a:cs typeface="Cambria"/>
                <a:sym typeface="Cambria"/>
              </a:rPr>
              <a:t>Nothing is lost: RIGOR keeps the schema.</a:t>
            </a:r>
            <a:endParaRPr b="0" i="0" sz="1400" u="none" cap="none" strike="noStrike">
              <a:solidFill>
                <a:srgbClr val="000000"/>
              </a:solidFill>
              <a:latin typeface="Arial"/>
              <a:ea typeface="Arial"/>
              <a:cs typeface="Arial"/>
              <a:sym typeface="Arial"/>
            </a:endParaRPr>
          </a:p>
        </p:txBody>
      </p:sp>
      <p:sp>
        <p:nvSpPr>
          <p:cNvPr id="1900" name="Google Shape;1900;h547f90b031e64a91_0_593"/>
          <p:cNvSpPr/>
          <p:nvPr/>
        </p:nvSpPr>
        <p:spPr>
          <a:xfrm>
            <a:off x="804672" y="2103120"/>
            <a:ext cx="2042700" cy="310800"/>
          </a:xfrm>
          <a:prstGeom prst="rect">
            <a:avLst/>
          </a:prstGeom>
          <a:solidFill>
            <a:srgbClr val="E8F6E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0B6E4F"/>
                </a:solidFill>
                <a:latin typeface="Consolas"/>
                <a:ea typeface="Consolas"/>
                <a:cs typeface="Consolas"/>
                <a:sym typeface="Consolas"/>
              </a:rPr>
              <a:t>1  VALID, FEWER ERRORS</a:t>
            </a:r>
            <a:endParaRPr/>
          </a:p>
        </p:txBody>
      </p:sp>
      <p:sp>
        <p:nvSpPr>
          <p:cNvPr id="1901" name="Google Shape;1901;h547f90b031e64a91_0_593"/>
          <p:cNvSpPr/>
          <p:nvPr/>
        </p:nvSpPr>
        <p:spPr>
          <a:xfrm>
            <a:off x="2938881" y="2103120"/>
            <a:ext cx="2042700" cy="310800"/>
          </a:xfrm>
          <a:prstGeom prst="rect">
            <a:avLst/>
          </a:prstGeom>
          <a:solidFill>
            <a:srgbClr val="0B6E4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FFFFFF"/>
                </a:solidFill>
                <a:latin typeface="Consolas"/>
                <a:ea typeface="Consolas"/>
                <a:cs typeface="Consolas"/>
                <a:sym typeface="Consolas"/>
              </a:rPr>
              <a:t>2  KEEPS THE SCHEMA</a:t>
            </a:r>
            <a:endParaRPr/>
          </a:p>
        </p:txBody>
      </p:sp>
      <p:sp>
        <p:nvSpPr>
          <p:cNvPr id="1902" name="Google Shape;1902;h547f90b031e64a91_0_593"/>
          <p:cNvSpPr/>
          <p:nvPr/>
        </p:nvSpPr>
        <p:spPr>
          <a:xfrm>
            <a:off x="5073091" y="2103120"/>
            <a:ext cx="2042700" cy="310800"/>
          </a:xfrm>
          <a:prstGeom prst="rect">
            <a:avLst/>
          </a:prstGeom>
          <a:solidFill>
            <a:srgbClr val="FFFFFF"/>
          </a:solidFill>
          <a:ln cap="flat" cmpd="sng" w="9525">
            <a:solidFill>
              <a:srgbClr val="D9DED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6B747B"/>
                </a:solidFill>
                <a:latin typeface="Consolas"/>
                <a:ea typeface="Consolas"/>
                <a:cs typeface="Consolas"/>
                <a:sym typeface="Consolas"/>
              </a:rPr>
              <a:t>3  ADDS MEANING</a:t>
            </a:r>
            <a:endParaRPr/>
          </a:p>
        </p:txBody>
      </p:sp>
      <p:sp>
        <p:nvSpPr>
          <p:cNvPr id="1903" name="Google Shape;1903;h547f90b031e64a91_0_593"/>
          <p:cNvSpPr/>
          <p:nvPr/>
        </p:nvSpPr>
        <p:spPr>
          <a:xfrm>
            <a:off x="7207300" y="2103120"/>
            <a:ext cx="2042700" cy="310800"/>
          </a:xfrm>
          <a:prstGeom prst="rect">
            <a:avLst/>
          </a:prstGeom>
          <a:solidFill>
            <a:srgbClr val="FFFFFF"/>
          </a:solidFill>
          <a:ln cap="flat" cmpd="sng" w="9525">
            <a:solidFill>
              <a:srgbClr val="D9DED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6B747B"/>
                </a:solidFill>
                <a:latin typeface="Consolas"/>
                <a:ea typeface="Consolas"/>
                <a:cs typeface="Consolas"/>
                <a:sym typeface="Consolas"/>
              </a:rPr>
              <a:t>4  GOLD MAPPINGS</a:t>
            </a:r>
            <a:endParaRPr/>
          </a:p>
        </p:txBody>
      </p:sp>
      <p:sp>
        <p:nvSpPr>
          <p:cNvPr id="1904" name="Google Shape;1904;h547f90b031e64a91_0_593"/>
          <p:cNvSpPr/>
          <p:nvPr/>
        </p:nvSpPr>
        <p:spPr>
          <a:xfrm>
            <a:off x="9341510" y="2103120"/>
            <a:ext cx="2042700" cy="310800"/>
          </a:xfrm>
          <a:prstGeom prst="rect">
            <a:avLst/>
          </a:prstGeom>
          <a:solidFill>
            <a:srgbClr val="FFFFFF"/>
          </a:solidFill>
          <a:ln cap="flat" cmpd="sng" w="9525">
            <a:solidFill>
              <a:srgbClr val="D9DED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6B747B"/>
                </a:solidFill>
                <a:latin typeface="Consolas"/>
                <a:ea typeface="Consolas"/>
                <a:cs typeface="Consolas"/>
                <a:sym typeface="Consolas"/>
              </a:rPr>
              <a:t>5  JUDGES</a:t>
            </a:r>
            <a:endParaRPr/>
          </a:p>
        </p:txBody>
      </p:sp>
      <p:sp>
        <p:nvSpPr>
          <p:cNvPr id="1905" name="Google Shape;1905;h547f90b031e64a91_0_593"/>
          <p:cNvSpPr/>
          <p:nvPr/>
        </p:nvSpPr>
        <p:spPr>
          <a:xfrm>
            <a:off x="804672" y="2606040"/>
            <a:ext cx="10579500" cy="3154800"/>
          </a:xfrm>
          <a:prstGeom prst="roundRect">
            <a:avLst>
              <a:gd fmla="val 12000" name="adj"/>
            </a:avLst>
          </a:prstGeom>
          <a:solidFill>
            <a:srgbClr val="FFFFFF"/>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06" name="Google Shape;1906;h547f90b031e64a91_0_593"/>
          <p:cNvSpPr txBox="1"/>
          <p:nvPr/>
        </p:nvSpPr>
        <p:spPr>
          <a:xfrm>
            <a:off x="1078992" y="2788920"/>
            <a:ext cx="100311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2F6B78"/>
                </a:solidFill>
                <a:latin typeface="Consolas"/>
                <a:ea typeface="Consolas"/>
                <a:cs typeface="Consolas"/>
                <a:sym typeface="Consolas"/>
              </a:rPr>
              <a:t>KEEPS THE SCHEMA</a:t>
            </a:r>
            <a:endParaRPr/>
          </a:p>
        </p:txBody>
      </p:sp>
      <p:sp>
        <p:nvSpPr>
          <p:cNvPr id="1907" name="Google Shape;1907;h547f90b031e64a91_0_593"/>
          <p:cNvSpPr txBox="1"/>
          <p:nvPr/>
        </p:nvSpPr>
        <p:spPr>
          <a:xfrm>
            <a:off x="1078992" y="3081528"/>
            <a:ext cx="100311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50" u="none" cap="none" strike="noStrike">
                <a:solidFill>
                  <a:srgbClr val="5B6770"/>
                </a:solidFill>
                <a:latin typeface="Calibri"/>
                <a:ea typeface="Calibri"/>
                <a:cs typeface="Calibri"/>
                <a:sym typeface="Calibri"/>
              </a:rPr>
              <a:t>columns covered, per ontology (%)</a:t>
            </a:r>
            <a:endParaRPr/>
          </a:p>
        </p:txBody>
      </p:sp>
      <p:sp>
        <p:nvSpPr>
          <p:cNvPr id="1908" name="Google Shape;1908;h547f90b031e64a91_0_593"/>
          <p:cNvSpPr txBox="1"/>
          <p:nvPr/>
        </p:nvSpPr>
        <p:spPr>
          <a:xfrm>
            <a:off x="2679191" y="3383280"/>
            <a:ext cx="25236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Liver Cancer</a:t>
            </a:r>
            <a:endParaRPr/>
          </a:p>
        </p:txBody>
      </p:sp>
      <p:sp>
        <p:nvSpPr>
          <p:cNvPr id="1909" name="Google Shape;1909;h547f90b031e64a91_0_593"/>
          <p:cNvSpPr txBox="1"/>
          <p:nvPr/>
        </p:nvSpPr>
        <p:spPr>
          <a:xfrm>
            <a:off x="2679191"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Claude</a:t>
            </a:r>
            <a:endParaRPr/>
          </a:p>
        </p:txBody>
      </p:sp>
      <p:sp>
        <p:nvSpPr>
          <p:cNvPr id="1910" name="Google Shape;1910;h547f90b031e64a91_0_593"/>
          <p:cNvSpPr txBox="1"/>
          <p:nvPr/>
        </p:nvSpPr>
        <p:spPr>
          <a:xfrm>
            <a:off x="3520439"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Mistral</a:t>
            </a:r>
            <a:endParaRPr/>
          </a:p>
        </p:txBody>
      </p:sp>
      <p:sp>
        <p:nvSpPr>
          <p:cNvPr id="1911" name="Google Shape;1911;h547f90b031e64a91_0_593"/>
          <p:cNvSpPr txBox="1"/>
          <p:nvPr/>
        </p:nvSpPr>
        <p:spPr>
          <a:xfrm>
            <a:off x="4361688"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DeepSeek</a:t>
            </a:r>
            <a:endParaRPr/>
          </a:p>
        </p:txBody>
      </p:sp>
      <p:sp>
        <p:nvSpPr>
          <p:cNvPr id="1912" name="Google Shape;1912;h547f90b031e64a91_0_593"/>
          <p:cNvSpPr txBox="1"/>
          <p:nvPr/>
        </p:nvSpPr>
        <p:spPr>
          <a:xfrm>
            <a:off x="5202936" y="3383280"/>
            <a:ext cx="25236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eICU-CRD</a:t>
            </a:r>
            <a:endParaRPr/>
          </a:p>
        </p:txBody>
      </p:sp>
      <p:sp>
        <p:nvSpPr>
          <p:cNvPr id="1913" name="Google Shape;1913;h547f90b031e64a91_0_593"/>
          <p:cNvSpPr txBox="1"/>
          <p:nvPr/>
        </p:nvSpPr>
        <p:spPr>
          <a:xfrm>
            <a:off x="5202936"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Claude</a:t>
            </a:r>
            <a:endParaRPr/>
          </a:p>
        </p:txBody>
      </p:sp>
      <p:sp>
        <p:nvSpPr>
          <p:cNvPr id="1914" name="Google Shape;1914;h547f90b031e64a91_0_593"/>
          <p:cNvSpPr txBox="1"/>
          <p:nvPr/>
        </p:nvSpPr>
        <p:spPr>
          <a:xfrm>
            <a:off x="6044183"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Mistral</a:t>
            </a:r>
            <a:endParaRPr/>
          </a:p>
        </p:txBody>
      </p:sp>
      <p:sp>
        <p:nvSpPr>
          <p:cNvPr id="1915" name="Google Shape;1915;h547f90b031e64a91_0_593"/>
          <p:cNvSpPr txBox="1"/>
          <p:nvPr/>
        </p:nvSpPr>
        <p:spPr>
          <a:xfrm>
            <a:off x="6885432"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DeepSeek</a:t>
            </a:r>
            <a:endParaRPr/>
          </a:p>
        </p:txBody>
      </p:sp>
      <p:sp>
        <p:nvSpPr>
          <p:cNvPr id="1916" name="Google Shape;1916;h547f90b031e64a91_0_593"/>
          <p:cNvSpPr txBox="1"/>
          <p:nvPr/>
        </p:nvSpPr>
        <p:spPr>
          <a:xfrm>
            <a:off x="7726679" y="3383280"/>
            <a:ext cx="25236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Chinook</a:t>
            </a:r>
            <a:endParaRPr/>
          </a:p>
        </p:txBody>
      </p:sp>
      <p:sp>
        <p:nvSpPr>
          <p:cNvPr id="1917" name="Google Shape;1917;h547f90b031e64a91_0_593"/>
          <p:cNvSpPr txBox="1"/>
          <p:nvPr/>
        </p:nvSpPr>
        <p:spPr>
          <a:xfrm>
            <a:off x="7726679"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Claude</a:t>
            </a:r>
            <a:endParaRPr/>
          </a:p>
        </p:txBody>
      </p:sp>
      <p:sp>
        <p:nvSpPr>
          <p:cNvPr id="1918" name="Google Shape;1918;h547f90b031e64a91_0_593"/>
          <p:cNvSpPr txBox="1"/>
          <p:nvPr/>
        </p:nvSpPr>
        <p:spPr>
          <a:xfrm>
            <a:off x="8567928"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Mistral</a:t>
            </a:r>
            <a:endParaRPr/>
          </a:p>
        </p:txBody>
      </p:sp>
      <p:sp>
        <p:nvSpPr>
          <p:cNvPr id="1919" name="Google Shape;1919;h547f90b031e64a91_0_593"/>
          <p:cNvSpPr txBox="1"/>
          <p:nvPr/>
        </p:nvSpPr>
        <p:spPr>
          <a:xfrm>
            <a:off x="9409176"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DeepSeek</a:t>
            </a:r>
            <a:endParaRPr/>
          </a:p>
        </p:txBody>
      </p:sp>
      <p:sp>
        <p:nvSpPr>
          <p:cNvPr id="1920" name="Google Shape;1920;h547f90b031e64a91_0_593"/>
          <p:cNvSpPr txBox="1"/>
          <p:nvPr/>
        </p:nvSpPr>
        <p:spPr>
          <a:xfrm>
            <a:off x="10296144" y="3493008"/>
            <a:ext cx="685800" cy="23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5B6770"/>
                </a:solidFill>
                <a:latin typeface="Calibri"/>
                <a:ea typeface="Calibri"/>
                <a:cs typeface="Calibri"/>
                <a:sym typeface="Calibri"/>
              </a:rPr>
              <a:t>Avg</a:t>
            </a:r>
            <a:endParaRPr/>
          </a:p>
        </p:txBody>
      </p:sp>
      <p:sp>
        <p:nvSpPr>
          <p:cNvPr id="1921" name="Google Shape;1921;h547f90b031e64a91_0_593"/>
          <p:cNvSpPr txBox="1"/>
          <p:nvPr/>
        </p:nvSpPr>
        <p:spPr>
          <a:xfrm>
            <a:off x="1078992" y="3840480"/>
            <a:ext cx="1600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Direct Mapping</a:t>
            </a:r>
            <a:endParaRPr/>
          </a:p>
        </p:txBody>
      </p:sp>
      <p:sp>
        <p:nvSpPr>
          <p:cNvPr id="1922" name="Google Shape;1922;h547f90b031e64a91_0_593"/>
          <p:cNvSpPr/>
          <p:nvPr/>
        </p:nvSpPr>
        <p:spPr>
          <a:xfrm>
            <a:off x="2697479" y="3858768"/>
            <a:ext cx="24873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97</a:t>
            </a:r>
            <a:endParaRPr/>
          </a:p>
        </p:txBody>
      </p:sp>
      <p:sp>
        <p:nvSpPr>
          <p:cNvPr id="1923" name="Google Shape;1923;h547f90b031e64a91_0_593"/>
          <p:cNvSpPr/>
          <p:nvPr/>
        </p:nvSpPr>
        <p:spPr>
          <a:xfrm>
            <a:off x="5221223" y="3858768"/>
            <a:ext cx="24873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99</a:t>
            </a:r>
            <a:endParaRPr/>
          </a:p>
        </p:txBody>
      </p:sp>
      <p:sp>
        <p:nvSpPr>
          <p:cNvPr id="1924" name="Google Shape;1924;h547f90b031e64a91_0_593"/>
          <p:cNvSpPr/>
          <p:nvPr/>
        </p:nvSpPr>
        <p:spPr>
          <a:xfrm>
            <a:off x="7744967" y="3858768"/>
            <a:ext cx="24873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78</a:t>
            </a:r>
            <a:endParaRPr/>
          </a:p>
        </p:txBody>
      </p:sp>
      <p:sp>
        <p:nvSpPr>
          <p:cNvPr id="1925" name="Google Shape;1925;h547f90b031e64a91_0_593"/>
          <p:cNvSpPr txBox="1"/>
          <p:nvPr/>
        </p:nvSpPr>
        <p:spPr>
          <a:xfrm>
            <a:off x="10296144" y="3840480"/>
            <a:ext cx="685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50" u="none" cap="none" strike="noStrike">
                <a:solidFill>
                  <a:srgbClr val="1F2328"/>
                </a:solidFill>
                <a:latin typeface="Calibri"/>
                <a:ea typeface="Calibri"/>
                <a:cs typeface="Calibri"/>
                <a:sym typeface="Calibri"/>
              </a:rPr>
              <a:t>91%</a:t>
            </a:r>
            <a:endParaRPr/>
          </a:p>
        </p:txBody>
      </p:sp>
      <p:sp>
        <p:nvSpPr>
          <p:cNvPr id="1926" name="Google Shape;1926;h547f90b031e64a91_0_593"/>
          <p:cNvSpPr txBox="1"/>
          <p:nvPr/>
        </p:nvSpPr>
        <p:spPr>
          <a:xfrm>
            <a:off x="1078992" y="4297680"/>
            <a:ext cx="1600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LLM baseline</a:t>
            </a:r>
            <a:endParaRPr/>
          </a:p>
        </p:txBody>
      </p:sp>
      <p:sp>
        <p:nvSpPr>
          <p:cNvPr id="1927" name="Google Shape;1927;h547f90b031e64a91_0_593"/>
          <p:cNvSpPr/>
          <p:nvPr/>
        </p:nvSpPr>
        <p:spPr>
          <a:xfrm>
            <a:off x="2697479" y="43159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94</a:t>
            </a:r>
            <a:endParaRPr/>
          </a:p>
        </p:txBody>
      </p:sp>
      <p:sp>
        <p:nvSpPr>
          <p:cNvPr id="1928" name="Google Shape;1928;h547f90b031e64a91_0_593"/>
          <p:cNvSpPr/>
          <p:nvPr/>
        </p:nvSpPr>
        <p:spPr>
          <a:xfrm>
            <a:off x="3538727" y="4315968"/>
            <a:ext cx="804600" cy="420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31</a:t>
            </a:r>
            <a:endParaRPr/>
          </a:p>
        </p:txBody>
      </p:sp>
      <p:sp>
        <p:nvSpPr>
          <p:cNvPr id="1929" name="Google Shape;1929;h547f90b031e64a91_0_593"/>
          <p:cNvSpPr/>
          <p:nvPr/>
        </p:nvSpPr>
        <p:spPr>
          <a:xfrm>
            <a:off x="4379975" y="43159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89</a:t>
            </a:r>
            <a:endParaRPr/>
          </a:p>
        </p:txBody>
      </p:sp>
      <p:sp>
        <p:nvSpPr>
          <p:cNvPr id="1930" name="Google Shape;1930;h547f90b031e64a91_0_593"/>
          <p:cNvSpPr/>
          <p:nvPr/>
        </p:nvSpPr>
        <p:spPr>
          <a:xfrm>
            <a:off x="5221223" y="43159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96</a:t>
            </a:r>
            <a:endParaRPr/>
          </a:p>
        </p:txBody>
      </p:sp>
      <p:sp>
        <p:nvSpPr>
          <p:cNvPr id="1931" name="Google Shape;1931;h547f90b031e64a91_0_593"/>
          <p:cNvSpPr/>
          <p:nvPr/>
        </p:nvSpPr>
        <p:spPr>
          <a:xfrm>
            <a:off x="6062471" y="4315968"/>
            <a:ext cx="804600" cy="420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68</a:t>
            </a:r>
            <a:endParaRPr/>
          </a:p>
        </p:txBody>
      </p:sp>
      <p:sp>
        <p:nvSpPr>
          <p:cNvPr id="1932" name="Google Shape;1932;h547f90b031e64a91_0_593"/>
          <p:cNvSpPr/>
          <p:nvPr/>
        </p:nvSpPr>
        <p:spPr>
          <a:xfrm>
            <a:off x="6903720" y="43159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86</a:t>
            </a:r>
            <a:endParaRPr/>
          </a:p>
        </p:txBody>
      </p:sp>
      <p:sp>
        <p:nvSpPr>
          <p:cNvPr id="1933" name="Google Shape;1933;h547f90b031e64a91_0_593"/>
          <p:cNvSpPr/>
          <p:nvPr/>
        </p:nvSpPr>
        <p:spPr>
          <a:xfrm>
            <a:off x="7744967" y="43159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100</a:t>
            </a:r>
            <a:endParaRPr/>
          </a:p>
        </p:txBody>
      </p:sp>
      <p:sp>
        <p:nvSpPr>
          <p:cNvPr id="1934" name="Google Shape;1934;h547f90b031e64a91_0_593"/>
          <p:cNvSpPr/>
          <p:nvPr/>
        </p:nvSpPr>
        <p:spPr>
          <a:xfrm>
            <a:off x="8586216" y="4315968"/>
            <a:ext cx="804600" cy="420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50</a:t>
            </a:r>
            <a:endParaRPr/>
          </a:p>
        </p:txBody>
      </p:sp>
      <p:sp>
        <p:nvSpPr>
          <p:cNvPr id="1935" name="Google Shape;1935;h547f90b031e64a91_0_593"/>
          <p:cNvSpPr/>
          <p:nvPr/>
        </p:nvSpPr>
        <p:spPr>
          <a:xfrm>
            <a:off x="9427463" y="4315968"/>
            <a:ext cx="804600" cy="420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52</a:t>
            </a:r>
            <a:endParaRPr/>
          </a:p>
        </p:txBody>
      </p:sp>
      <p:sp>
        <p:nvSpPr>
          <p:cNvPr id="1936" name="Google Shape;1936;h547f90b031e64a91_0_593"/>
          <p:cNvSpPr txBox="1"/>
          <p:nvPr/>
        </p:nvSpPr>
        <p:spPr>
          <a:xfrm>
            <a:off x="10296144" y="4297680"/>
            <a:ext cx="685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50" u="none" cap="none" strike="noStrike">
                <a:solidFill>
                  <a:srgbClr val="1F2328"/>
                </a:solidFill>
                <a:latin typeface="Calibri"/>
                <a:ea typeface="Calibri"/>
                <a:cs typeface="Calibri"/>
                <a:sym typeface="Calibri"/>
              </a:rPr>
              <a:t>74%</a:t>
            </a:r>
            <a:endParaRPr/>
          </a:p>
        </p:txBody>
      </p:sp>
      <p:sp>
        <p:nvSpPr>
          <p:cNvPr id="1937" name="Google Shape;1937;h547f90b031e64a91_0_593"/>
          <p:cNvSpPr txBox="1"/>
          <p:nvPr/>
        </p:nvSpPr>
        <p:spPr>
          <a:xfrm>
            <a:off x="1078992" y="4754880"/>
            <a:ext cx="1600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1200">
                <a:solidFill>
                  <a:srgbClr val="1F2328"/>
                </a:solidFill>
                <a:latin typeface="Calibri"/>
                <a:ea typeface="Calibri"/>
                <a:cs typeface="Calibri"/>
                <a:sym typeface="Calibri"/>
              </a:rPr>
              <a:t>Non-Iterative RAG </a:t>
            </a:r>
            <a:endParaRPr/>
          </a:p>
        </p:txBody>
      </p:sp>
      <p:sp>
        <p:nvSpPr>
          <p:cNvPr id="1938" name="Google Shape;1938;h547f90b031e64a91_0_593"/>
          <p:cNvSpPr/>
          <p:nvPr/>
        </p:nvSpPr>
        <p:spPr>
          <a:xfrm>
            <a:off x="2697479" y="4773168"/>
            <a:ext cx="804600" cy="420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41</a:t>
            </a:r>
            <a:endParaRPr/>
          </a:p>
        </p:txBody>
      </p:sp>
      <p:sp>
        <p:nvSpPr>
          <p:cNvPr id="1939" name="Google Shape;1939;h547f90b031e64a91_0_593"/>
          <p:cNvSpPr/>
          <p:nvPr/>
        </p:nvSpPr>
        <p:spPr>
          <a:xfrm>
            <a:off x="3538727" y="4773168"/>
            <a:ext cx="804600" cy="420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6</a:t>
            </a:r>
            <a:endParaRPr/>
          </a:p>
        </p:txBody>
      </p:sp>
      <p:sp>
        <p:nvSpPr>
          <p:cNvPr id="1940" name="Google Shape;1940;h547f90b031e64a91_0_593"/>
          <p:cNvSpPr/>
          <p:nvPr/>
        </p:nvSpPr>
        <p:spPr>
          <a:xfrm>
            <a:off x="4379975" y="4773168"/>
            <a:ext cx="804600" cy="420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12</a:t>
            </a:r>
            <a:endParaRPr/>
          </a:p>
        </p:txBody>
      </p:sp>
      <p:sp>
        <p:nvSpPr>
          <p:cNvPr id="1941" name="Google Shape;1941;h547f90b031e64a91_0_593"/>
          <p:cNvSpPr/>
          <p:nvPr/>
        </p:nvSpPr>
        <p:spPr>
          <a:xfrm>
            <a:off x="5221223" y="4773168"/>
            <a:ext cx="804600" cy="420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22</a:t>
            </a:r>
            <a:endParaRPr/>
          </a:p>
        </p:txBody>
      </p:sp>
      <p:sp>
        <p:nvSpPr>
          <p:cNvPr id="1942" name="Google Shape;1942;h547f90b031e64a91_0_593"/>
          <p:cNvSpPr/>
          <p:nvPr/>
        </p:nvSpPr>
        <p:spPr>
          <a:xfrm>
            <a:off x="6062471" y="4773168"/>
            <a:ext cx="804600" cy="420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28</a:t>
            </a:r>
            <a:endParaRPr/>
          </a:p>
        </p:txBody>
      </p:sp>
      <p:sp>
        <p:nvSpPr>
          <p:cNvPr id="1943" name="Google Shape;1943;h547f90b031e64a91_0_593"/>
          <p:cNvSpPr/>
          <p:nvPr/>
        </p:nvSpPr>
        <p:spPr>
          <a:xfrm>
            <a:off x="6903720" y="4773168"/>
            <a:ext cx="804600" cy="420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46</a:t>
            </a:r>
            <a:endParaRPr/>
          </a:p>
        </p:txBody>
      </p:sp>
      <p:sp>
        <p:nvSpPr>
          <p:cNvPr id="1944" name="Google Shape;1944;h547f90b031e64a91_0_593"/>
          <p:cNvSpPr/>
          <p:nvPr/>
        </p:nvSpPr>
        <p:spPr>
          <a:xfrm>
            <a:off x="7744967" y="4773168"/>
            <a:ext cx="804600" cy="420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58</a:t>
            </a:r>
            <a:endParaRPr/>
          </a:p>
        </p:txBody>
      </p:sp>
      <p:sp>
        <p:nvSpPr>
          <p:cNvPr id="1945" name="Google Shape;1945;h547f90b031e64a91_0_593"/>
          <p:cNvSpPr/>
          <p:nvPr/>
        </p:nvSpPr>
        <p:spPr>
          <a:xfrm>
            <a:off x="8586216" y="4773168"/>
            <a:ext cx="804600" cy="420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16</a:t>
            </a:r>
            <a:endParaRPr/>
          </a:p>
        </p:txBody>
      </p:sp>
      <p:sp>
        <p:nvSpPr>
          <p:cNvPr id="1946" name="Google Shape;1946;h547f90b031e64a91_0_593"/>
          <p:cNvSpPr/>
          <p:nvPr/>
        </p:nvSpPr>
        <p:spPr>
          <a:xfrm>
            <a:off x="9427463" y="47731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78</a:t>
            </a:r>
            <a:endParaRPr/>
          </a:p>
        </p:txBody>
      </p:sp>
      <p:sp>
        <p:nvSpPr>
          <p:cNvPr id="1947" name="Google Shape;1947;h547f90b031e64a91_0_593"/>
          <p:cNvSpPr txBox="1"/>
          <p:nvPr/>
        </p:nvSpPr>
        <p:spPr>
          <a:xfrm>
            <a:off x="10296144" y="4754880"/>
            <a:ext cx="685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50" u="none" cap="none" strike="noStrike">
                <a:solidFill>
                  <a:srgbClr val="1F2328"/>
                </a:solidFill>
                <a:latin typeface="Calibri"/>
                <a:ea typeface="Calibri"/>
                <a:cs typeface="Calibri"/>
                <a:sym typeface="Calibri"/>
              </a:rPr>
              <a:t>34%</a:t>
            </a:r>
            <a:endParaRPr/>
          </a:p>
        </p:txBody>
      </p:sp>
      <p:sp>
        <p:nvSpPr>
          <p:cNvPr id="1948" name="Google Shape;1948;h547f90b031e64a91_0_593"/>
          <p:cNvSpPr txBox="1"/>
          <p:nvPr/>
        </p:nvSpPr>
        <p:spPr>
          <a:xfrm>
            <a:off x="1078992" y="5212080"/>
            <a:ext cx="1600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200" u="none" cap="none" strike="noStrike">
                <a:solidFill>
                  <a:srgbClr val="0B6E4F"/>
                </a:solidFill>
                <a:latin typeface="Calibri"/>
                <a:ea typeface="Calibri"/>
                <a:cs typeface="Calibri"/>
                <a:sym typeface="Calibri"/>
              </a:rPr>
              <a:t>RIGOR</a:t>
            </a:r>
            <a:endParaRPr/>
          </a:p>
        </p:txBody>
      </p:sp>
      <p:sp>
        <p:nvSpPr>
          <p:cNvPr id="1949" name="Google Shape;1949;h547f90b031e64a91_0_593"/>
          <p:cNvSpPr/>
          <p:nvPr/>
        </p:nvSpPr>
        <p:spPr>
          <a:xfrm>
            <a:off x="2697479"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91</a:t>
            </a:r>
            <a:endParaRPr/>
          </a:p>
        </p:txBody>
      </p:sp>
      <p:sp>
        <p:nvSpPr>
          <p:cNvPr id="1950" name="Google Shape;1950;h547f90b031e64a91_0_593"/>
          <p:cNvSpPr/>
          <p:nvPr/>
        </p:nvSpPr>
        <p:spPr>
          <a:xfrm>
            <a:off x="3538727"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99</a:t>
            </a:r>
            <a:endParaRPr/>
          </a:p>
        </p:txBody>
      </p:sp>
      <p:sp>
        <p:nvSpPr>
          <p:cNvPr id="1951" name="Google Shape;1951;h547f90b031e64a91_0_593"/>
          <p:cNvSpPr/>
          <p:nvPr/>
        </p:nvSpPr>
        <p:spPr>
          <a:xfrm>
            <a:off x="4379975" y="52303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87</a:t>
            </a:r>
            <a:endParaRPr/>
          </a:p>
        </p:txBody>
      </p:sp>
      <p:sp>
        <p:nvSpPr>
          <p:cNvPr id="1952" name="Google Shape;1952;h547f90b031e64a91_0_593"/>
          <p:cNvSpPr/>
          <p:nvPr/>
        </p:nvSpPr>
        <p:spPr>
          <a:xfrm>
            <a:off x="5221223"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100</a:t>
            </a:r>
            <a:endParaRPr/>
          </a:p>
        </p:txBody>
      </p:sp>
      <p:sp>
        <p:nvSpPr>
          <p:cNvPr id="1953" name="Google Shape;1953;h547f90b031e64a91_0_593"/>
          <p:cNvSpPr/>
          <p:nvPr/>
        </p:nvSpPr>
        <p:spPr>
          <a:xfrm>
            <a:off x="6062471"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99</a:t>
            </a:r>
            <a:endParaRPr/>
          </a:p>
        </p:txBody>
      </p:sp>
      <p:sp>
        <p:nvSpPr>
          <p:cNvPr id="1954" name="Google Shape;1954;h547f90b031e64a91_0_593"/>
          <p:cNvSpPr/>
          <p:nvPr/>
        </p:nvSpPr>
        <p:spPr>
          <a:xfrm>
            <a:off x="6903720" y="52303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77</a:t>
            </a:r>
            <a:endParaRPr/>
          </a:p>
        </p:txBody>
      </p:sp>
      <p:sp>
        <p:nvSpPr>
          <p:cNvPr id="1955" name="Google Shape;1955;h547f90b031e64a91_0_593"/>
          <p:cNvSpPr/>
          <p:nvPr/>
        </p:nvSpPr>
        <p:spPr>
          <a:xfrm>
            <a:off x="7744967"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95</a:t>
            </a:r>
            <a:endParaRPr/>
          </a:p>
        </p:txBody>
      </p:sp>
      <p:sp>
        <p:nvSpPr>
          <p:cNvPr id="1956" name="Google Shape;1956;h547f90b031e64a91_0_593"/>
          <p:cNvSpPr/>
          <p:nvPr/>
        </p:nvSpPr>
        <p:spPr>
          <a:xfrm>
            <a:off x="8586216"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95</a:t>
            </a:r>
            <a:endParaRPr/>
          </a:p>
        </p:txBody>
      </p:sp>
      <p:sp>
        <p:nvSpPr>
          <p:cNvPr id="1957" name="Google Shape;1957;h547f90b031e64a91_0_593"/>
          <p:cNvSpPr/>
          <p:nvPr/>
        </p:nvSpPr>
        <p:spPr>
          <a:xfrm>
            <a:off x="9427463"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95</a:t>
            </a:r>
            <a:endParaRPr/>
          </a:p>
        </p:txBody>
      </p:sp>
      <p:sp>
        <p:nvSpPr>
          <p:cNvPr id="1958" name="Google Shape;1958;h547f90b031e64a91_0_593"/>
          <p:cNvSpPr txBox="1"/>
          <p:nvPr/>
        </p:nvSpPr>
        <p:spPr>
          <a:xfrm>
            <a:off x="10296144" y="5212080"/>
            <a:ext cx="685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50" u="none" cap="none" strike="noStrike">
                <a:solidFill>
                  <a:srgbClr val="0B6E4F"/>
                </a:solidFill>
                <a:latin typeface="Calibri"/>
                <a:ea typeface="Calibri"/>
                <a:cs typeface="Calibri"/>
                <a:sym typeface="Calibri"/>
              </a:rPr>
              <a:t>93%</a:t>
            </a:r>
            <a:endParaRPr/>
          </a:p>
        </p:txBody>
      </p:sp>
      <p:sp>
        <p:nvSpPr>
          <p:cNvPr id="1959" name="Google Shape;1959;h547f90b031e64a91_0_593"/>
          <p:cNvSpPr/>
          <p:nvPr/>
        </p:nvSpPr>
        <p:spPr>
          <a:xfrm>
            <a:off x="804672" y="5879592"/>
            <a:ext cx="10579500" cy="420600"/>
          </a:xfrm>
          <a:prstGeom prst="roundRect">
            <a:avLst>
              <a:gd fmla="val 12000" name="adj"/>
            </a:avLst>
          </a:prstGeom>
          <a:solidFill>
            <a:srgbClr val="E6F2EC"/>
          </a:solidFill>
          <a:ln>
            <a:noFill/>
          </a:ln>
        </p:spPr>
        <p:txBody>
          <a:bodyPr anchorCtr="0" anchor="ctr" bIns="0" lIns="201150" spcFirstLastPara="1" rIns="201150" wrap="square" tIns="0">
            <a:noAutofit/>
          </a:bodyPr>
          <a:lstStyle/>
          <a:p>
            <a:pPr indent="0" lvl="0" marL="0" marR="0" rtl="0" algn="l">
              <a:lnSpc>
                <a:spcPct val="100000"/>
              </a:lnSpc>
              <a:spcBef>
                <a:spcPts val="0"/>
              </a:spcBef>
              <a:spcAft>
                <a:spcPts val="0"/>
              </a:spcAft>
              <a:buNone/>
            </a:pPr>
            <a:r>
              <a:rPr b="1" lang="en-US">
                <a:solidFill>
                  <a:srgbClr val="B23A1E"/>
                </a:solidFill>
                <a:latin typeface="Calibri"/>
                <a:ea typeface="Calibri"/>
                <a:cs typeface="Calibri"/>
                <a:sym typeface="Calibri"/>
              </a:rPr>
              <a:t>Non-Iterative RAG </a:t>
            </a:r>
            <a:r>
              <a:rPr b="1" i="0" lang="en-US" sz="1400" u="none" cap="none" strike="noStrike">
                <a:solidFill>
                  <a:srgbClr val="B23A1E"/>
                </a:solidFill>
                <a:latin typeface="Calibri"/>
                <a:ea typeface="Calibri"/>
                <a:cs typeface="Calibri"/>
                <a:sym typeface="Calibri"/>
              </a:rPr>
              <a:t> 6–78%</a:t>
            </a:r>
            <a:r>
              <a:rPr lang="en-US">
                <a:solidFill>
                  <a:srgbClr val="3A434C"/>
                </a:solidFill>
                <a:latin typeface="Calibri"/>
                <a:ea typeface="Calibri"/>
                <a:cs typeface="Calibri"/>
                <a:sym typeface="Calibri"/>
              </a:rPr>
              <a:t>.</a:t>
            </a:r>
            <a:r>
              <a:rPr b="0" i="0" lang="en-US" sz="1400" u="none" cap="none" strike="noStrike">
                <a:solidFill>
                  <a:srgbClr val="3A434C"/>
                </a:solidFill>
                <a:latin typeface="Calibri"/>
                <a:ea typeface="Calibri"/>
                <a:cs typeface="Calibri"/>
                <a:sym typeface="Calibri"/>
              </a:rPr>
              <a:t>  With RIGOR: </a:t>
            </a:r>
            <a:r>
              <a:rPr b="1" i="0" lang="en-US" sz="1400" u="none" cap="none" strike="noStrike">
                <a:solidFill>
                  <a:srgbClr val="0B6E4F"/>
                </a:solidFill>
                <a:latin typeface="Calibri"/>
                <a:ea typeface="Calibri"/>
                <a:cs typeface="Calibri"/>
                <a:sym typeface="Calibri"/>
              </a:rPr>
              <a:t>≥ 77% for every LLM, in every database.</a:t>
            </a:r>
            <a:endParaRPr/>
          </a:p>
        </p:txBody>
      </p:sp>
      <p:sp>
        <p:nvSpPr>
          <p:cNvPr id="1960" name="Google Shape;1960;h547f90b031e64a91_0_593"/>
          <p:cNvSpPr txBox="1"/>
          <p:nvPr/>
        </p:nvSpPr>
        <p:spPr>
          <a:xfrm>
            <a:off x="822960" y="6382512"/>
            <a:ext cx="106071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B6770"/>
                </a:solidFill>
                <a:latin typeface="Calibri"/>
                <a:ea typeface="Calibri"/>
                <a:cs typeface="Calibri"/>
                <a:sym typeface="Calibri"/>
              </a:rPr>
              <a:t>Coverage: a column counts as covered when an ontology class or property name is similar to it (embedding similarity ≥ 0.55). </a:t>
            </a:r>
            <a:endParaRPr/>
          </a:p>
        </p:txBody>
      </p:sp>
      <p:sp>
        <p:nvSpPr>
          <p:cNvPr id="1961" name="Google Shape;1961;h547f90b031e64a91_0_593"/>
          <p:cNvSpPr/>
          <p:nvPr/>
        </p:nvSpPr>
        <p:spPr>
          <a:xfrm>
            <a:off x="971200" y="4782325"/>
            <a:ext cx="9881700" cy="420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6" name="Shape 1966"/>
        <p:cNvGrpSpPr/>
        <p:nvPr/>
      </p:nvGrpSpPr>
      <p:grpSpPr>
        <a:xfrm>
          <a:off x="0" y="0"/>
          <a:ext cx="0" cy="0"/>
          <a:chOff x="0" y="0"/>
          <a:chExt cx="0" cy="0"/>
        </a:xfrm>
      </p:grpSpPr>
      <p:sp>
        <p:nvSpPr>
          <p:cNvPr id="1967" name="Google Shape;1967;h547f90b031e64a91_0_883"/>
          <p:cNvSpPr txBox="1"/>
          <p:nvPr/>
        </p:nvSpPr>
        <p:spPr>
          <a:xfrm>
            <a:off x="804672" y="512064"/>
            <a:ext cx="107532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RESULT 3  /  MEANING IS ADDED</a:t>
            </a:r>
            <a:endParaRPr b="0" i="0" sz="1400" u="none" cap="none" strike="noStrike">
              <a:solidFill>
                <a:srgbClr val="000000"/>
              </a:solidFill>
              <a:latin typeface="Arial"/>
              <a:ea typeface="Arial"/>
              <a:cs typeface="Arial"/>
              <a:sym typeface="Arial"/>
            </a:endParaRPr>
          </a:p>
        </p:txBody>
      </p:sp>
      <p:sp>
        <p:nvSpPr>
          <p:cNvPr id="1968" name="Google Shape;1968;h547f90b031e64a91_0_883"/>
          <p:cNvSpPr txBox="1"/>
          <p:nvPr/>
        </p:nvSpPr>
        <p:spPr>
          <a:xfrm>
            <a:off x="804672" y="914400"/>
            <a:ext cx="107625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1F2328"/>
                </a:solidFill>
                <a:latin typeface="Cambria"/>
                <a:ea typeface="Cambria"/>
                <a:cs typeface="Cambria"/>
                <a:sym typeface="Cambria"/>
              </a:rPr>
              <a:t>Meaning is added: labels, provenance and hierarchy.</a:t>
            </a:r>
            <a:endParaRPr b="0" i="0" sz="1400" u="none" cap="none" strike="noStrike">
              <a:solidFill>
                <a:srgbClr val="000000"/>
              </a:solidFill>
              <a:latin typeface="Arial"/>
              <a:ea typeface="Arial"/>
              <a:cs typeface="Arial"/>
              <a:sym typeface="Arial"/>
            </a:endParaRPr>
          </a:p>
        </p:txBody>
      </p:sp>
      <p:sp>
        <p:nvSpPr>
          <p:cNvPr id="1969" name="Google Shape;1969;h547f90b031e64a91_0_883"/>
          <p:cNvSpPr/>
          <p:nvPr/>
        </p:nvSpPr>
        <p:spPr>
          <a:xfrm>
            <a:off x="804672" y="2103120"/>
            <a:ext cx="2042700" cy="310800"/>
          </a:xfrm>
          <a:prstGeom prst="rect">
            <a:avLst/>
          </a:prstGeom>
          <a:solidFill>
            <a:srgbClr val="E8F6E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0B6E4F"/>
                </a:solidFill>
                <a:latin typeface="Consolas"/>
                <a:ea typeface="Consolas"/>
                <a:cs typeface="Consolas"/>
                <a:sym typeface="Consolas"/>
              </a:rPr>
              <a:t>1  VALID, FEWER ERRORS</a:t>
            </a:r>
            <a:endParaRPr/>
          </a:p>
        </p:txBody>
      </p:sp>
      <p:sp>
        <p:nvSpPr>
          <p:cNvPr id="1970" name="Google Shape;1970;h547f90b031e64a91_0_883"/>
          <p:cNvSpPr/>
          <p:nvPr/>
        </p:nvSpPr>
        <p:spPr>
          <a:xfrm>
            <a:off x="2938881" y="2103120"/>
            <a:ext cx="2042700" cy="310800"/>
          </a:xfrm>
          <a:prstGeom prst="rect">
            <a:avLst/>
          </a:prstGeom>
          <a:solidFill>
            <a:srgbClr val="E8F6E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0B6E4F"/>
                </a:solidFill>
                <a:latin typeface="Consolas"/>
                <a:ea typeface="Consolas"/>
                <a:cs typeface="Consolas"/>
                <a:sym typeface="Consolas"/>
              </a:rPr>
              <a:t>2  KEEPS THE SCHEMA</a:t>
            </a:r>
            <a:endParaRPr/>
          </a:p>
        </p:txBody>
      </p:sp>
      <p:sp>
        <p:nvSpPr>
          <p:cNvPr id="1971" name="Google Shape;1971;h547f90b031e64a91_0_883"/>
          <p:cNvSpPr/>
          <p:nvPr/>
        </p:nvSpPr>
        <p:spPr>
          <a:xfrm>
            <a:off x="5073091" y="2103120"/>
            <a:ext cx="2042700" cy="310800"/>
          </a:xfrm>
          <a:prstGeom prst="rect">
            <a:avLst/>
          </a:prstGeom>
          <a:solidFill>
            <a:srgbClr val="0B6E4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FFFFFF"/>
                </a:solidFill>
                <a:latin typeface="Consolas"/>
                <a:ea typeface="Consolas"/>
                <a:cs typeface="Consolas"/>
                <a:sym typeface="Consolas"/>
              </a:rPr>
              <a:t>3  ADDS MEANING</a:t>
            </a:r>
            <a:endParaRPr/>
          </a:p>
        </p:txBody>
      </p:sp>
      <p:sp>
        <p:nvSpPr>
          <p:cNvPr id="1972" name="Google Shape;1972;h547f90b031e64a91_0_883"/>
          <p:cNvSpPr/>
          <p:nvPr/>
        </p:nvSpPr>
        <p:spPr>
          <a:xfrm>
            <a:off x="7207300" y="2103120"/>
            <a:ext cx="2042700" cy="310800"/>
          </a:xfrm>
          <a:prstGeom prst="rect">
            <a:avLst/>
          </a:prstGeom>
          <a:solidFill>
            <a:srgbClr val="FFFFFF"/>
          </a:solidFill>
          <a:ln cap="flat" cmpd="sng" w="9525">
            <a:solidFill>
              <a:srgbClr val="D9DED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6B747B"/>
                </a:solidFill>
                <a:latin typeface="Consolas"/>
                <a:ea typeface="Consolas"/>
                <a:cs typeface="Consolas"/>
                <a:sym typeface="Consolas"/>
              </a:rPr>
              <a:t>4  GOLD MAPPINGS</a:t>
            </a:r>
            <a:endParaRPr/>
          </a:p>
        </p:txBody>
      </p:sp>
      <p:sp>
        <p:nvSpPr>
          <p:cNvPr id="1973" name="Google Shape;1973;h547f90b031e64a91_0_883"/>
          <p:cNvSpPr/>
          <p:nvPr/>
        </p:nvSpPr>
        <p:spPr>
          <a:xfrm>
            <a:off x="9341510" y="2103120"/>
            <a:ext cx="2042700" cy="310800"/>
          </a:xfrm>
          <a:prstGeom prst="rect">
            <a:avLst/>
          </a:prstGeom>
          <a:solidFill>
            <a:srgbClr val="FFFFFF"/>
          </a:solidFill>
          <a:ln cap="flat" cmpd="sng" w="9525">
            <a:solidFill>
              <a:srgbClr val="D9DED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6B747B"/>
                </a:solidFill>
                <a:latin typeface="Consolas"/>
                <a:ea typeface="Consolas"/>
                <a:cs typeface="Consolas"/>
                <a:sym typeface="Consolas"/>
              </a:rPr>
              <a:t>5  JUDGES</a:t>
            </a:r>
            <a:endParaRPr/>
          </a:p>
        </p:txBody>
      </p:sp>
      <p:sp>
        <p:nvSpPr>
          <p:cNvPr id="1974" name="Google Shape;1974;h547f90b031e64a91_0_883"/>
          <p:cNvSpPr/>
          <p:nvPr/>
        </p:nvSpPr>
        <p:spPr>
          <a:xfrm>
            <a:off x="804672" y="2606040"/>
            <a:ext cx="10579500" cy="3154800"/>
          </a:xfrm>
          <a:prstGeom prst="roundRect">
            <a:avLst>
              <a:gd fmla="val 12000" name="adj"/>
            </a:avLst>
          </a:prstGeom>
          <a:solidFill>
            <a:srgbClr val="FFFFFF"/>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75" name="Google Shape;1975;h547f90b031e64a91_0_883"/>
          <p:cNvSpPr txBox="1"/>
          <p:nvPr/>
        </p:nvSpPr>
        <p:spPr>
          <a:xfrm>
            <a:off x="1078992" y="2788920"/>
            <a:ext cx="100311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2F6B78"/>
                </a:solidFill>
                <a:latin typeface="Consolas"/>
                <a:ea typeface="Consolas"/>
                <a:cs typeface="Consolas"/>
                <a:sym typeface="Consolas"/>
              </a:rPr>
              <a:t>ADDS MEANING</a:t>
            </a:r>
            <a:endParaRPr/>
          </a:p>
        </p:txBody>
      </p:sp>
      <p:sp>
        <p:nvSpPr>
          <p:cNvPr id="1976" name="Google Shape;1976;h547f90b031e64a91_0_883"/>
          <p:cNvSpPr txBox="1"/>
          <p:nvPr/>
        </p:nvSpPr>
        <p:spPr>
          <a:xfrm>
            <a:off x="3794760" y="2990088"/>
            <a:ext cx="22494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Liver Cancer</a:t>
            </a:r>
            <a:endParaRPr/>
          </a:p>
        </p:txBody>
      </p:sp>
      <p:sp>
        <p:nvSpPr>
          <p:cNvPr id="1977" name="Google Shape;1977;h547f90b031e64a91_0_883"/>
          <p:cNvSpPr txBox="1"/>
          <p:nvPr/>
        </p:nvSpPr>
        <p:spPr>
          <a:xfrm>
            <a:off x="3794760" y="3218688"/>
            <a:ext cx="7497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Claude</a:t>
            </a:r>
            <a:endParaRPr/>
          </a:p>
        </p:txBody>
      </p:sp>
      <p:sp>
        <p:nvSpPr>
          <p:cNvPr id="1978" name="Google Shape;1978;h547f90b031e64a91_0_883"/>
          <p:cNvSpPr txBox="1"/>
          <p:nvPr/>
        </p:nvSpPr>
        <p:spPr>
          <a:xfrm>
            <a:off x="4544568" y="3218688"/>
            <a:ext cx="7497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Mistral</a:t>
            </a:r>
            <a:endParaRPr/>
          </a:p>
        </p:txBody>
      </p:sp>
      <p:sp>
        <p:nvSpPr>
          <p:cNvPr id="1979" name="Google Shape;1979;h547f90b031e64a91_0_883"/>
          <p:cNvSpPr txBox="1"/>
          <p:nvPr/>
        </p:nvSpPr>
        <p:spPr>
          <a:xfrm>
            <a:off x="5294376" y="3218688"/>
            <a:ext cx="7497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DeepSeek</a:t>
            </a:r>
            <a:endParaRPr/>
          </a:p>
        </p:txBody>
      </p:sp>
      <p:sp>
        <p:nvSpPr>
          <p:cNvPr id="1980" name="Google Shape;1980;h547f90b031e64a91_0_883"/>
          <p:cNvSpPr txBox="1"/>
          <p:nvPr/>
        </p:nvSpPr>
        <p:spPr>
          <a:xfrm>
            <a:off x="6044184" y="2990088"/>
            <a:ext cx="22494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eICU-CRD</a:t>
            </a:r>
            <a:endParaRPr/>
          </a:p>
        </p:txBody>
      </p:sp>
      <p:sp>
        <p:nvSpPr>
          <p:cNvPr id="1981" name="Google Shape;1981;h547f90b031e64a91_0_883"/>
          <p:cNvSpPr txBox="1"/>
          <p:nvPr/>
        </p:nvSpPr>
        <p:spPr>
          <a:xfrm>
            <a:off x="6044184" y="3218688"/>
            <a:ext cx="7497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Claude</a:t>
            </a:r>
            <a:endParaRPr/>
          </a:p>
        </p:txBody>
      </p:sp>
      <p:sp>
        <p:nvSpPr>
          <p:cNvPr id="1982" name="Google Shape;1982;h547f90b031e64a91_0_883"/>
          <p:cNvSpPr txBox="1"/>
          <p:nvPr/>
        </p:nvSpPr>
        <p:spPr>
          <a:xfrm>
            <a:off x="6793992" y="3218688"/>
            <a:ext cx="7497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Mistral</a:t>
            </a:r>
            <a:endParaRPr/>
          </a:p>
        </p:txBody>
      </p:sp>
      <p:sp>
        <p:nvSpPr>
          <p:cNvPr id="1983" name="Google Shape;1983;h547f90b031e64a91_0_883"/>
          <p:cNvSpPr txBox="1"/>
          <p:nvPr/>
        </p:nvSpPr>
        <p:spPr>
          <a:xfrm>
            <a:off x="7543800" y="3218688"/>
            <a:ext cx="7497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DeepSeek</a:t>
            </a:r>
            <a:endParaRPr/>
          </a:p>
        </p:txBody>
      </p:sp>
      <p:sp>
        <p:nvSpPr>
          <p:cNvPr id="1984" name="Google Shape;1984;h547f90b031e64a91_0_883"/>
          <p:cNvSpPr txBox="1"/>
          <p:nvPr/>
        </p:nvSpPr>
        <p:spPr>
          <a:xfrm>
            <a:off x="8293608" y="2990088"/>
            <a:ext cx="22494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Chinook</a:t>
            </a:r>
            <a:endParaRPr/>
          </a:p>
        </p:txBody>
      </p:sp>
      <p:sp>
        <p:nvSpPr>
          <p:cNvPr id="1985" name="Google Shape;1985;h547f90b031e64a91_0_883"/>
          <p:cNvSpPr txBox="1"/>
          <p:nvPr/>
        </p:nvSpPr>
        <p:spPr>
          <a:xfrm>
            <a:off x="8293608" y="3218688"/>
            <a:ext cx="7497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Claude</a:t>
            </a:r>
            <a:endParaRPr/>
          </a:p>
        </p:txBody>
      </p:sp>
      <p:sp>
        <p:nvSpPr>
          <p:cNvPr id="1986" name="Google Shape;1986;h547f90b031e64a91_0_883"/>
          <p:cNvSpPr txBox="1"/>
          <p:nvPr/>
        </p:nvSpPr>
        <p:spPr>
          <a:xfrm>
            <a:off x="9043416" y="3218688"/>
            <a:ext cx="7497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Mistral</a:t>
            </a:r>
            <a:endParaRPr/>
          </a:p>
        </p:txBody>
      </p:sp>
      <p:sp>
        <p:nvSpPr>
          <p:cNvPr id="1987" name="Google Shape;1987;h547f90b031e64a91_0_883"/>
          <p:cNvSpPr txBox="1"/>
          <p:nvPr/>
        </p:nvSpPr>
        <p:spPr>
          <a:xfrm>
            <a:off x="9793224" y="3218688"/>
            <a:ext cx="7497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50" u="none" cap="none" strike="noStrike">
                <a:solidFill>
                  <a:srgbClr val="5B6770"/>
                </a:solidFill>
                <a:latin typeface="Calibri"/>
                <a:ea typeface="Calibri"/>
                <a:cs typeface="Calibri"/>
                <a:sym typeface="Calibri"/>
              </a:rPr>
              <a:t>DeepSeek</a:t>
            </a:r>
            <a:endParaRPr/>
          </a:p>
        </p:txBody>
      </p:sp>
      <p:sp>
        <p:nvSpPr>
          <p:cNvPr id="1988" name="Google Shape;1988;h547f90b031e64a91_0_883"/>
          <p:cNvSpPr txBox="1"/>
          <p:nvPr/>
        </p:nvSpPr>
        <p:spPr>
          <a:xfrm>
            <a:off x="10588752" y="3099816"/>
            <a:ext cx="685800" cy="23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5B6770"/>
                </a:solidFill>
                <a:latin typeface="Calibri"/>
                <a:ea typeface="Calibri"/>
                <a:cs typeface="Calibri"/>
                <a:sym typeface="Calibri"/>
              </a:rPr>
              <a:t>Avg</a:t>
            </a:r>
            <a:endParaRPr/>
          </a:p>
        </p:txBody>
      </p:sp>
      <p:sp>
        <p:nvSpPr>
          <p:cNvPr id="1989" name="Google Shape;1989;h547f90b031e64a91_0_883"/>
          <p:cNvSpPr txBox="1"/>
          <p:nvPr/>
        </p:nvSpPr>
        <p:spPr>
          <a:xfrm>
            <a:off x="2514600" y="3447288"/>
            <a:ext cx="12801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Direct Mapping</a:t>
            </a:r>
            <a:endParaRPr/>
          </a:p>
        </p:txBody>
      </p:sp>
      <p:sp>
        <p:nvSpPr>
          <p:cNvPr id="1990" name="Google Shape;1990;h547f90b031e64a91_0_883"/>
          <p:cNvSpPr txBox="1"/>
          <p:nvPr/>
        </p:nvSpPr>
        <p:spPr>
          <a:xfrm>
            <a:off x="2514600" y="3630168"/>
            <a:ext cx="12801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LLM baseline</a:t>
            </a:r>
            <a:endParaRPr/>
          </a:p>
        </p:txBody>
      </p:sp>
      <p:sp>
        <p:nvSpPr>
          <p:cNvPr id="1991" name="Google Shape;1991;h547f90b031e64a91_0_883"/>
          <p:cNvSpPr/>
          <p:nvPr/>
        </p:nvSpPr>
        <p:spPr>
          <a:xfrm>
            <a:off x="3813048" y="3456432"/>
            <a:ext cx="6711600" cy="3474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1" lang="en-US" sz="1150" u="none" cap="none" strike="noStrike">
                <a:solidFill>
                  <a:srgbClr val="1F2328"/>
                </a:solidFill>
                <a:latin typeface="Calibri"/>
                <a:ea typeface="Calibri"/>
                <a:cs typeface="Calibri"/>
                <a:sym typeface="Calibri"/>
              </a:rPr>
              <a:t>No labels, provenance or class hierarchy, in any run.</a:t>
            </a:r>
            <a:endParaRPr/>
          </a:p>
        </p:txBody>
      </p:sp>
      <p:sp>
        <p:nvSpPr>
          <p:cNvPr id="1992" name="Google Shape;1992;h547f90b031e64a91_0_883"/>
          <p:cNvSpPr txBox="1"/>
          <p:nvPr/>
        </p:nvSpPr>
        <p:spPr>
          <a:xfrm>
            <a:off x="1078992" y="3867912"/>
            <a:ext cx="14172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2F6B78"/>
                </a:solidFill>
                <a:latin typeface="Calibri"/>
                <a:ea typeface="Calibri"/>
                <a:cs typeface="Calibri"/>
                <a:sym typeface="Calibri"/>
              </a:rPr>
              <a:t>Labels &amp; comments</a:t>
            </a:r>
            <a:endParaRPr/>
          </a:p>
        </p:txBody>
      </p:sp>
      <p:sp>
        <p:nvSpPr>
          <p:cNvPr id="1993" name="Google Shape;1993;h547f90b031e64a91_0_883"/>
          <p:cNvSpPr txBox="1"/>
          <p:nvPr/>
        </p:nvSpPr>
        <p:spPr>
          <a:xfrm>
            <a:off x="2514600" y="3867912"/>
            <a:ext cx="12801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Non-Iterative RAG</a:t>
            </a:r>
            <a:endParaRPr/>
          </a:p>
        </p:txBody>
      </p:sp>
      <p:sp>
        <p:nvSpPr>
          <p:cNvPr id="1994" name="Google Shape;1994;h547f90b031e64a91_0_883"/>
          <p:cNvSpPr/>
          <p:nvPr/>
        </p:nvSpPr>
        <p:spPr>
          <a:xfrm>
            <a:off x="3813048" y="3886200"/>
            <a:ext cx="713100" cy="219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680</a:t>
            </a:r>
            <a:endParaRPr/>
          </a:p>
        </p:txBody>
      </p:sp>
      <p:sp>
        <p:nvSpPr>
          <p:cNvPr id="1995" name="Google Shape;1995;h547f90b031e64a91_0_883"/>
          <p:cNvSpPr/>
          <p:nvPr/>
        </p:nvSpPr>
        <p:spPr>
          <a:xfrm>
            <a:off x="4562856" y="3886200"/>
            <a:ext cx="713100" cy="219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134</a:t>
            </a:r>
            <a:endParaRPr/>
          </a:p>
        </p:txBody>
      </p:sp>
      <p:sp>
        <p:nvSpPr>
          <p:cNvPr id="1996" name="Google Shape;1996;h547f90b031e64a91_0_883"/>
          <p:cNvSpPr/>
          <p:nvPr/>
        </p:nvSpPr>
        <p:spPr>
          <a:xfrm>
            <a:off x="5312664" y="3886200"/>
            <a:ext cx="713100" cy="219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736</a:t>
            </a:r>
            <a:endParaRPr/>
          </a:p>
        </p:txBody>
      </p:sp>
      <p:sp>
        <p:nvSpPr>
          <p:cNvPr id="1997" name="Google Shape;1997;h547f90b031e64a91_0_883"/>
          <p:cNvSpPr/>
          <p:nvPr/>
        </p:nvSpPr>
        <p:spPr>
          <a:xfrm>
            <a:off x="6062472" y="3886200"/>
            <a:ext cx="713100" cy="219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877</a:t>
            </a:r>
            <a:endParaRPr/>
          </a:p>
        </p:txBody>
      </p:sp>
      <p:sp>
        <p:nvSpPr>
          <p:cNvPr id="1998" name="Google Shape;1998;h547f90b031e64a91_0_883"/>
          <p:cNvSpPr/>
          <p:nvPr/>
        </p:nvSpPr>
        <p:spPr>
          <a:xfrm>
            <a:off x="6812279" y="3886200"/>
            <a:ext cx="713100" cy="219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157</a:t>
            </a:r>
            <a:endParaRPr/>
          </a:p>
        </p:txBody>
      </p:sp>
      <p:sp>
        <p:nvSpPr>
          <p:cNvPr id="1999" name="Google Shape;1999;h547f90b031e64a91_0_883"/>
          <p:cNvSpPr/>
          <p:nvPr/>
        </p:nvSpPr>
        <p:spPr>
          <a:xfrm>
            <a:off x="7562088" y="3886200"/>
            <a:ext cx="713100" cy="219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743</a:t>
            </a:r>
            <a:endParaRPr/>
          </a:p>
        </p:txBody>
      </p:sp>
      <p:sp>
        <p:nvSpPr>
          <p:cNvPr id="2000" name="Google Shape;2000;h547f90b031e64a91_0_883"/>
          <p:cNvSpPr/>
          <p:nvPr/>
        </p:nvSpPr>
        <p:spPr>
          <a:xfrm>
            <a:off x="8311896" y="3886200"/>
            <a:ext cx="713100" cy="219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98</a:t>
            </a:r>
            <a:endParaRPr/>
          </a:p>
        </p:txBody>
      </p:sp>
      <p:sp>
        <p:nvSpPr>
          <p:cNvPr id="2001" name="Google Shape;2001;h547f90b031e64a91_0_883"/>
          <p:cNvSpPr/>
          <p:nvPr/>
        </p:nvSpPr>
        <p:spPr>
          <a:xfrm>
            <a:off x="9061704" y="3886200"/>
            <a:ext cx="713100" cy="219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14</a:t>
            </a:r>
            <a:endParaRPr/>
          </a:p>
        </p:txBody>
      </p:sp>
      <p:sp>
        <p:nvSpPr>
          <p:cNvPr id="2002" name="Google Shape;2002;h547f90b031e64a91_0_883"/>
          <p:cNvSpPr/>
          <p:nvPr/>
        </p:nvSpPr>
        <p:spPr>
          <a:xfrm>
            <a:off x="9811512" y="3886200"/>
            <a:ext cx="713100" cy="219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64</a:t>
            </a:r>
            <a:endParaRPr/>
          </a:p>
        </p:txBody>
      </p:sp>
      <p:sp>
        <p:nvSpPr>
          <p:cNvPr id="2003" name="Google Shape;2003;h547f90b031e64a91_0_883"/>
          <p:cNvSpPr txBox="1"/>
          <p:nvPr/>
        </p:nvSpPr>
        <p:spPr>
          <a:xfrm>
            <a:off x="10588752" y="3867912"/>
            <a:ext cx="6858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50" u="none" cap="none" strike="noStrike">
                <a:solidFill>
                  <a:srgbClr val="1F2328"/>
                </a:solidFill>
                <a:latin typeface="Calibri"/>
                <a:ea typeface="Calibri"/>
                <a:cs typeface="Calibri"/>
                <a:sym typeface="Calibri"/>
              </a:rPr>
              <a:t>389</a:t>
            </a:r>
            <a:endParaRPr/>
          </a:p>
        </p:txBody>
      </p:sp>
      <p:sp>
        <p:nvSpPr>
          <p:cNvPr id="2004" name="Google Shape;2004;h547f90b031e64a91_0_883"/>
          <p:cNvSpPr txBox="1"/>
          <p:nvPr/>
        </p:nvSpPr>
        <p:spPr>
          <a:xfrm>
            <a:off x="2514600" y="4123944"/>
            <a:ext cx="12801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200" u="none" cap="none" strike="noStrike">
                <a:solidFill>
                  <a:srgbClr val="0B6E4F"/>
                </a:solidFill>
                <a:latin typeface="Calibri"/>
                <a:ea typeface="Calibri"/>
                <a:cs typeface="Calibri"/>
                <a:sym typeface="Calibri"/>
              </a:rPr>
              <a:t>RIGOR</a:t>
            </a:r>
            <a:endParaRPr/>
          </a:p>
        </p:txBody>
      </p:sp>
      <p:sp>
        <p:nvSpPr>
          <p:cNvPr id="2005" name="Google Shape;2005;h547f90b031e64a91_0_883"/>
          <p:cNvSpPr/>
          <p:nvPr/>
        </p:nvSpPr>
        <p:spPr>
          <a:xfrm>
            <a:off x="3813048" y="4142232"/>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1,029</a:t>
            </a:r>
            <a:endParaRPr/>
          </a:p>
        </p:txBody>
      </p:sp>
      <p:sp>
        <p:nvSpPr>
          <p:cNvPr id="2006" name="Google Shape;2006;h547f90b031e64a91_0_883"/>
          <p:cNvSpPr/>
          <p:nvPr/>
        </p:nvSpPr>
        <p:spPr>
          <a:xfrm>
            <a:off x="4562856" y="4142232"/>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1,137</a:t>
            </a:r>
            <a:endParaRPr/>
          </a:p>
        </p:txBody>
      </p:sp>
      <p:sp>
        <p:nvSpPr>
          <p:cNvPr id="2007" name="Google Shape;2007;h547f90b031e64a91_0_883"/>
          <p:cNvSpPr/>
          <p:nvPr/>
        </p:nvSpPr>
        <p:spPr>
          <a:xfrm>
            <a:off x="5312664" y="4142232"/>
            <a:ext cx="713100" cy="219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341</a:t>
            </a:r>
            <a:endParaRPr/>
          </a:p>
        </p:txBody>
      </p:sp>
      <p:sp>
        <p:nvSpPr>
          <p:cNvPr id="2008" name="Google Shape;2008;h547f90b031e64a91_0_883"/>
          <p:cNvSpPr/>
          <p:nvPr/>
        </p:nvSpPr>
        <p:spPr>
          <a:xfrm>
            <a:off x="6062472" y="4142232"/>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1,291</a:t>
            </a:r>
            <a:endParaRPr/>
          </a:p>
        </p:txBody>
      </p:sp>
      <p:sp>
        <p:nvSpPr>
          <p:cNvPr id="2009" name="Google Shape;2009;h547f90b031e64a91_0_883"/>
          <p:cNvSpPr/>
          <p:nvPr/>
        </p:nvSpPr>
        <p:spPr>
          <a:xfrm>
            <a:off x="6812279" y="4142232"/>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1,684</a:t>
            </a:r>
            <a:endParaRPr/>
          </a:p>
        </p:txBody>
      </p:sp>
      <p:sp>
        <p:nvSpPr>
          <p:cNvPr id="2010" name="Google Shape;2010;h547f90b031e64a91_0_883"/>
          <p:cNvSpPr/>
          <p:nvPr/>
        </p:nvSpPr>
        <p:spPr>
          <a:xfrm>
            <a:off x="7562088" y="4142232"/>
            <a:ext cx="713100" cy="219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435</a:t>
            </a:r>
            <a:endParaRPr/>
          </a:p>
        </p:txBody>
      </p:sp>
      <p:sp>
        <p:nvSpPr>
          <p:cNvPr id="2011" name="Google Shape;2011;h547f90b031e64a91_0_883"/>
          <p:cNvSpPr/>
          <p:nvPr/>
        </p:nvSpPr>
        <p:spPr>
          <a:xfrm>
            <a:off x="8311896" y="4142232"/>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357</a:t>
            </a:r>
            <a:endParaRPr/>
          </a:p>
        </p:txBody>
      </p:sp>
      <p:sp>
        <p:nvSpPr>
          <p:cNvPr id="2012" name="Google Shape;2012;h547f90b031e64a91_0_883"/>
          <p:cNvSpPr/>
          <p:nvPr/>
        </p:nvSpPr>
        <p:spPr>
          <a:xfrm>
            <a:off x="9061704" y="4142232"/>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362</a:t>
            </a:r>
            <a:endParaRPr/>
          </a:p>
        </p:txBody>
      </p:sp>
      <p:sp>
        <p:nvSpPr>
          <p:cNvPr id="2013" name="Google Shape;2013;h547f90b031e64a91_0_883"/>
          <p:cNvSpPr/>
          <p:nvPr/>
        </p:nvSpPr>
        <p:spPr>
          <a:xfrm>
            <a:off x="9811512" y="4142232"/>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359</a:t>
            </a:r>
            <a:endParaRPr/>
          </a:p>
        </p:txBody>
      </p:sp>
      <p:sp>
        <p:nvSpPr>
          <p:cNvPr id="2014" name="Google Shape;2014;h547f90b031e64a91_0_883"/>
          <p:cNvSpPr txBox="1"/>
          <p:nvPr/>
        </p:nvSpPr>
        <p:spPr>
          <a:xfrm>
            <a:off x="10588752" y="4123944"/>
            <a:ext cx="6858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50" u="none" cap="none" strike="noStrike">
                <a:solidFill>
                  <a:srgbClr val="0B6E4F"/>
                </a:solidFill>
                <a:latin typeface="Calibri"/>
                <a:ea typeface="Calibri"/>
                <a:cs typeface="Calibri"/>
                <a:sym typeface="Calibri"/>
              </a:rPr>
              <a:t>777</a:t>
            </a:r>
            <a:endParaRPr/>
          </a:p>
        </p:txBody>
      </p:sp>
      <p:sp>
        <p:nvSpPr>
          <p:cNvPr id="2015" name="Google Shape;2015;h547f90b031e64a91_0_883"/>
          <p:cNvSpPr txBox="1"/>
          <p:nvPr/>
        </p:nvSpPr>
        <p:spPr>
          <a:xfrm>
            <a:off x="1078992" y="4425696"/>
            <a:ext cx="14172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2F6B78"/>
                </a:solidFill>
                <a:latin typeface="Calibri"/>
                <a:ea typeface="Calibri"/>
                <a:cs typeface="Calibri"/>
                <a:sym typeface="Calibri"/>
              </a:rPr>
              <a:t>Provenance links</a:t>
            </a:r>
            <a:endParaRPr/>
          </a:p>
        </p:txBody>
      </p:sp>
      <p:sp>
        <p:nvSpPr>
          <p:cNvPr id="2016" name="Google Shape;2016;h547f90b031e64a91_0_883"/>
          <p:cNvSpPr txBox="1"/>
          <p:nvPr/>
        </p:nvSpPr>
        <p:spPr>
          <a:xfrm>
            <a:off x="2514600" y="4425696"/>
            <a:ext cx="12801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Non-Iterative RAG</a:t>
            </a:r>
            <a:endParaRPr/>
          </a:p>
        </p:txBody>
      </p:sp>
      <p:sp>
        <p:nvSpPr>
          <p:cNvPr id="2017" name="Google Shape;2017;h547f90b031e64a91_0_883"/>
          <p:cNvSpPr/>
          <p:nvPr/>
        </p:nvSpPr>
        <p:spPr>
          <a:xfrm>
            <a:off x="3813048" y="4443984"/>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0</a:t>
            </a:r>
            <a:endParaRPr/>
          </a:p>
        </p:txBody>
      </p:sp>
      <p:sp>
        <p:nvSpPr>
          <p:cNvPr id="2018" name="Google Shape;2018;h547f90b031e64a91_0_883"/>
          <p:cNvSpPr/>
          <p:nvPr/>
        </p:nvSpPr>
        <p:spPr>
          <a:xfrm>
            <a:off x="4562856" y="4443984"/>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0</a:t>
            </a:r>
            <a:endParaRPr/>
          </a:p>
        </p:txBody>
      </p:sp>
      <p:sp>
        <p:nvSpPr>
          <p:cNvPr id="2019" name="Google Shape;2019;h547f90b031e64a91_0_883"/>
          <p:cNvSpPr/>
          <p:nvPr/>
        </p:nvSpPr>
        <p:spPr>
          <a:xfrm>
            <a:off x="5312664" y="4443984"/>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0</a:t>
            </a:r>
            <a:endParaRPr/>
          </a:p>
        </p:txBody>
      </p:sp>
      <p:sp>
        <p:nvSpPr>
          <p:cNvPr id="2020" name="Google Shape;2020;h547f90b031e64a91_0_883"/>
          <p:cNvSpPr/>
          <p:nvPr/>
        </p:nvSpPr>
        <p:spPr>
          <a:xfrm>
            <a:off x="6062472" y="4443984"/>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0</a:t>
            </a:r>
            <a:endParaRPr/>
          </a:p>
        </p:txBody>
      </p:sp>
      <p:sp>
        <p:nvSpPr>
          <p:cNvPr id="2021" name="Google Shape;2021;h547f90b031e64a91_0_883"/>
          <p:cNvSpPr/>
          <p:nvPr/>
        </p:nvSpPr>
        <p:spPr>
          <a:xfrm>
            <a:off x="6812279" y="4443984"/>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0</a:t>
            </a:r>
            <a:endParaRPr/>
          </a:p>
        </p:txBody>
      </p:sp>
      <p:sp>
        <p:nvSpPr>
          <p:cNvPr id="2022" name="Google Shape;2022;h547f90b031e64a91_0_883"/>
          <p:cNvSpPr/>
          <p:nvPr/>
        </p:nvSpPr>
        <p:spPr>
          <a:xfrm>
            <a:off x="7562088" y="4443984"/>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0</a:t>
            </a:r>
            <a:endParaRPr/>
          </a:p>
        </p:txBody>
      </p:sp>
      <p:sp>
        <p:nvSpPr>
          <p:cNvPr id="2023" name="Google Shape;2023;h547f90b031e64a91_0_883"/>
          <p:cNvSpPr/>
          <p:nvPr/>
        </p:nvSpPr>
        <p:spPr>
          <a:xfrm>
            <a:off x="8311896" y="4443984"/>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0</a:t>
            </a:r>
            <a:endParaRPr/>
          </a:p>
        </p:txBody>
      </p:sp>
      <p:sp>
        <p:nvSpPr>
          <p:cNvPr id="2024" name="Google Shape;2024;h547f90b031e64a91_0_883"/>
          <p:cNvSpPr/>
          <p:nvPr/>
        </p:nvSpPr>
        <p:spPr>
          <a:xfrm>
            <a:off x="9061704" y="4443984"/>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0</a:t>
            </a:r>
            <a:endParaRPr/>
          </a:p>
        </p:txBody>
      </p:sp>
      <p:sp>
        <p:nvSpPr>
          <p:cNvPr id="2025" name="Google Shape;2025;h547f90b031e64a91_0_883"/>
          <p:cNvSpPr/>
          <p:nvPr/>
        </p:nvSpPr>
        <p:spPr>
          <a:xfrm>
            <a:off x="9811512" y="4443984"/>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100" u="none" cap="none" strike="noStrike">
                <a:solidFill>
                  <a:srgbClr val="1F2328"/>
                </a:solidFill>
                <a:latin typeface="Calibri"/>
                <a:ea typeface="Calibri"/>
                <a:cs typeface="Calibri"/>
                <a:sym typeface="Calibri"/>
              </a:rPr>
              <a:t>0</a:t>
            </a:r>
            <a:endParaRPr/>
          </a:p>
        </p:txBody>
      </p:sp>
      <p:sp>
        <p:nvSpPr>
          <p:cNvPr id="2026" name="Google Shape;2026;h547f90b031e64a91_0_883"/>
          <p:cNvSpPr txBox="1"/>
          <p:nvPr/>
        </p:nvSpPr>
        <p:spPr>
          <a:xfrm>
            <a:off x="10588752" y="4425696"/>
            <a:ext cx="6858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50" u="none" cap="none" strike="noStrike">
                <a:solidFill>
                  <a:srgbClr val="1F2328"/>
                </a:solidFill>
                <a:latin typeface="Calibri"/>
                <a:ea typeface="Calibri"/>
                <a:cs typeface="Calibri"/>
                <a:sym typeface="Calibri"/>
              </a:rPr>
              <a:t>0</a:t>
            </a:r>
            <a:endParaRPr/>
          </a:p>
        </p:txBody>
      </p:sp>
      <p:sp>
        <p:nvSpPr>
          <p:cNvPr id="2027" name="Google Shape;2027;h547f90b031e64a91_0_883"/>
          <p:cNvSpPr txBox="1"/>
          <p:nvPr/>
        </p:nvSpPr>
        <p:spPr>
          <a:xfrm>
            <a:off x="2514600" y="4681728"/>
            <a:ext cx="12801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200" u="none" cap="none" strike="noStrike">
                <a:solidFill>
                  <a:srgbClr val="0B6E4F"/>
                </a:solidFill>
                <a:latin typeface="Calibri"/>
                <a:ea typeface="Calibri"/>
                <a:cs typeface="Calibri"/>
                <a:sym typeface="Calibri"/>
              </a:rPr>
              <a:t>RIGOR</a:t>
            </a:r>
            <a:endParaRPr/>
          </a:p>
        </p:txBody>
      </p:sp>
      <p:sp>
        <p:nvSpPr>
          <p:cNvPr id="2028" name="Google Shape;2028;h547f90b031e64a91_0_883"/>
          <p:cNvSpPr/>
          <p:nvPr/>
        </p:nvSpPr>
        <p:spPr>
          <a:xfrm>
            <a:off x="3813048" y="4700016"/>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336</a:t>
            </a:r>
            <a:endParaRPr/>
          </a:p>
        </p:txBody>
      </p:sp>
      <p:sp>
        <p:nvSpPr>
          <p:cNvPr id="2029" name="Google Shape;2029;h547f90b031e64a91_0_883"/>
          <p:cNvSpPr/>
          <p:nvPr/>
        </p:nvSpPr>
        <p:spPr>
          <a:xfrm>
            <a:off x="4562856" y="4700016"/>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308</a:t>
            </a:r>
            <a:endParaRPr/>
          </a:p>
        </p:txBody>
      </p:sp>
      <p:sp>
        <p:nvSpPr>
          <p:cNvPr id="2030" name="Google Shape;2030;h547f90b031e64a91_0_883"/>
          <p:cNvSpPr/>
          <p:nvPr/>
        </p:nvSpPr>
        <p:spPr>
          <a:xfrm>
            <a:off x="5312664" y="4700016"/>
            <a:ext cx="713100" cy="219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22</a:t>
            </a:r>
            <a:endParaRPr/>
          </a:p>
        </p:txBody>
      </p:sp>
      <p:sp>
        <p:nvSpPr>
          <p:cNvPr id="2031" name="Google Shape;2031;h547f90b031e64a91_0_883"/>
          <p:cNvSpPr/>
          <p:nvPr/>
        </p:nvSpPr>
        <p:spPr>
          <a:xfrm>
            <a:off x="6062472" y="4700016"/>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423</a:t>
            </a:r>
            <a:endParaRPr/>
          </a:p>
        </p:txBody>
      </p:sp>
      <p:sp>
        <p:nvSpPr>
          <p:cNvPr id="2032" name="Google Shape;2032;h547f90b031e64a91_0_883"/>
          <p:cNvSpPr/>
          <p:nvPr/>
        </p:nvSpPr>
        <p:spPr>
          <a:xfrm>
            <a:off x="6812279" y="4700016"/>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335</a:t>
            </a:r>
            <a:endParaRPr/>
          </a:p>
        </p:txBody>
      </p:sp>
      <p:sp>
        <p:nvSpPr>
          <p:cNvPr id="2033" name="Google Shape;2033;h547f90b031e64a91_0_883"/>
          <p:cNvSpPr/>
          <p:nvPr/>
        </p:nvSpPr>
        <p:spPr>
          <a:xfrm>
            <a:off x="7562088" y="4700016"/>
            <a:ext cx="713100" cy="219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99</a:t>
            </a:r>
            <a:endParaRPr/>
          </a:p>
        </p:txBody>
      </p:sp>
      <p:sp>
        <p:nvSpPr>
          <p:cNvPr id="2034" name="Google Shape;2034;h547f90b031e64a91_0_883"/>
          <p:cNvSpPr/>
          <p:nvPr/>
        </p:nvSpPr>
        <p:spPr>
          <a:xfrm>
            <a:off x="8311896" y="4700016"/>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81</a:t>
            </a:r>
            <a:endParaRPr/>
          </a:p>
        </p:txBody>
      </p:sp>
      <p:sp>
        <p:nvSpPr>
          <p:cNvPr id="2035" name="Google Shape;2035;h547f90b031e64a91_0_883"/>
          <p:cNvSpPr/>
          <p:nvPr/>
        </p:nvSpPr>
        <p:spPr>
          <a:xfrm>
            <a:off x="9061704" y="4700016"/>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83</a:t>
            </a:r>
            <a:endParaRPr/>
          </a:p>
        </p:txBody>
      </p:sp>
      <p:sp>
        <p:nvSpPr>
          <p:cNvPr id="2036" name="Google Shape;2036;h547f90b031e64a91_0_883"/>
          <p:cNvSpPr/>
          <p:nvPr/>
        </p:nvSpPr>
        <p:spPr>
          <a:xfrm>
            <a:off x="9811512" y="4700016"/>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75</a:t>
            </a:r>
            <a:endParaRPr/>
          </a:p>
        </p:txBody>
      </p:sp>
      <p:sp>
        <p:nvSpPr>
          <p:cNvPr id="2037" name="Google Shape;2037;h547f90b031e64a91_0_883"/>
          <p:cNvSpPr txBox="1"/>
          <p:nvPr/>
        </p:nvSpPr>
        <p:spPr>
          <a:xfrm>
            <a:off x="10588752" y="4681728"/>
            <a:ext cx="6858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50" u="none" cap="none" strike="noStrike">
                <a:solidFill>
                  <a:srgbClr val="0B6E4F"/>
                </a:solidFill>
                <a:latin typeface="Calibri"/>
                <a:ea typeface="Calibri"/>
                <a:cs typeface="Calibri"/>
                <a:sym typeface="Calibri"/>
              </a:rPr>
              <a:t>196</a:t>
            </a:r>
            <a:endParaRPr/>
          </a:p>
        </p:txBody>
      </p:sp>
      <p:sp>
        <p:nvSpPr>
          <p:cNvPr id="2038" name="Google Shape;2038;h547f90b031e64a91_0_883"/>
          <p:cNvSpPr txBox="1"/>
          <p:nvPr/>
        </p:nvSpPr>
        <p:spPr>
          <a:xfrm>
            <a:off x="1078992" y="5001768"/>
            <a:ext cx="14172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2F6B78"/>
                </a:solidFill>
                <a:latin typeface="Calibri"/>
                <a:ea typeface="Calibri"/>
                <a:cs typeface="Calibri"/>
                <a:sym typeface="Calibri"/>
              </a:rPr>
              <a:t>Class hierarchy</a:t>
            </a:r>
            <a:endParaRPr/>
          </a:p>
        </p:txBody>
      </p:sp>
      <p:sp>
        <p:nvSpPr>
          <p:cNvPr id="2039" name="Google Shape;2039;h547f90b031e64a91_0_883"/>
          <p:cNvSpPr txBox="1"/>
          <p:nvPr/>
        </p:nvSpPr>
        <p:spPr>
          <a:xfrm>
            <a:off x="1078992" y="5239512"/>
            <a:ext cx="1417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i="1" lang="en-US" sz="950">
                <a:solidFill>
                  <a:srgbClr val="5B6770"/>
                </a:solidFill>
                <a:latin typeface="Calibri"/>
                <a:ea typeface="Calibri"/>
                <a:cs typeface="Calibri"/>
                <a:sym typeface="Calibri"/>
              </a:rPr>
              <a:t>(</a:t>
            </a:r>
            <a:r>
              <a:rPr b="0" i="1" lang="en-US" sz="950" u="none" cap="none" strike="noStrike">
                <a:solidFill>
                  <a:srgbClr val="5B6770"/>
                </a:solidFill>
                <a:latin typeface="Calibri"/>
                <a:ea typeface="Calibri"/>
                <a:cs typeface="Calibri"/>
                <a:sym typeface="Calibri"/>
              </a:rPr>
              <a:t>inheritance richness)</a:t>
            </a:r>
            <a:endParaRPr/>
          </a:p>
        </p:txBody>
      </p:sp>
      <p:sp>
        <p:nvSpPr>
          <p:cNvPr id="2040" name="Google Shape;2040;h547f90b031e64a91_0_883"/>
          <p:cNvSpPr txBox="1"/>
          <p:nvPr/>
        </p:nvSpPr>
        <p:spPr>
          <a:xfrm>
            <a:off x="2514600" y="4983480"/>
            <a:ext cx="12801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Non-Iterative RAG</a:t>
            </a:r>
            <a:endParaRPr/>
          </a:p>
        </p:txBody>
      </p:sp>
      <p:sp>
        <p:nvSpPr>
          <p:cNvPr id="2041" name="Google Shape;2041;h547f90b031e64a91_0_883"/>
          <p:cNvSpPr/>
          <p:nvPr/>
        </p:nvSpPr>
        <p:spPr>
          <a:xfrm>
            <a:off x="3813048" y="5001768"/>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1100">
                <a:solidFill>
                  <a:srgbClr val="1F2328"/>
                </a:solidFill>
                <a:latin typeface="Calibri"/>
                <a:ea typeface="Calibri"/>
                <a:cs typeface="Calibri"/>
                <a:sym typeface="Calibri"/>
              </a:rPr>
              <a:t>0</a:t>
            </a:r>
            <a:endParaRPr/>
          </a:p>
        </p:txBody>
      </p:sp>
      <p:sp>
        <p:nvSpPr>
          <p:cNvPr id="2042" name="Google Shape;2042;h547f90b031e64a91_0_883"/>
          <p:cNvSpPr/>
          <p:nvPr/>
        </p:nvSpPr>
        <p:spPr>
          <a:xfrm>
            <a:off x="4562856" y="5001768"/>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1100">
                <a:solidFill>
                  <a:srgbClr val="1F2328"/>
                </a:solidFill>
                <a:latin typeface="Calibri"/>
                <a:ea typeface="Calibri"/>
                <a:cs typeface="Calibri"/>
                <a:sym typeface="Calibri"/>
              </a:rPr>
              <a:t>0</a:t>
            </a:r>
            <a:endParaRPr/>
          </a:p>
        </p:txBody>
      </p:sp>
      <p:sp>
        <p:nvSpPr>
          <p:cNvPr id="2043" name="Google Shape;2043;h547f90b031e64a91_0_883"/>
          <p:cNvSpPr/>
          <p:nvPr/>
        </p:nvSpPr>
        <p:spPr>
          <a:xfrm>
            <a:off x="5312664" y="5001768"/>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1100">
                <a:solidFill>
                  <a:srgbClr val="1F2328"/>
                </a:solidFill>
                <a:latin typeface="Calibri"/>
                <a:ea typeface="Calibri"/>
                <a:cs typeface="Calibri"/>
                <a:sym typeface="Calibri"/>
              </a:rPr>
              <a:t>0</a:t>
            </a:r>
            <a:endParaRPr/>
          </a:p>
        </p:txBody>
      </p:sp>
      <p:sp>
        <p:nvSpPr>
          <p:cNvPr id="2044" name="Google Shape;2044;h547f90b031e64a91_0_883"/>
          <p:cNvSpPr/>
          <p:nvPr/>
        </p:nvSpPr>
        <p:spPr>
          <a:xfrm>
            <a:off x="6062472" y="5001768"/>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1100">
                <a:solidFill>
                  <a:srgbClr val="1F2328"/>
                </a:solidFill>
                <a:latin typeface="Calibri"/>
                <a:ea typeface="Calibri"/>
                <a:cs typeface="Calibri"/>
                <a:sym typeface="Calibri"/>
              </a:rPr>
              <a:t>0</a:t>
            </a:r>
            <a:endParaRPr/>
          </a:p>
        </p:txBody>
      </p:sp>
      <p:sp>
        <p:nvSpPr>
          <p:cNvPr id="2045" name="Google Shape;2045;h547f90b031e64a91_0_883"/>
          <p:cNvSpPr/>
          <p:nvPr/>
        </p:nvSpPr>
        <p:spPr>
          <a:xfrm>
            <a:off x="6812279" y="5001768"/>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1100">
                <a:solidFill>
                  <a:srgbClr val="1F2328"/>
                </a:solidFill>
                <a:latin typeface="Calibri"/>
                <a:ea typeface="Calibri"/>
                <a:cs typeface="Calibri"/>
                <a:sym typeface="Calibri"/>
              </a:rPr>
              <a:t>0</a:t>
            </a:r>
            <a:endParaRPr/>
          </a:p>
        </p:txBody>
      </p:sp>
      <p:sp>
        <p:nvSpPr>
          <p:cNvPr id="2046" name="Google Shape;2046;h547f90b031e64a91_0_883"/>
          <p:cNvSpPr/>
          <p:nvPr/>
        </p:nvSpPr>
        <p:spPr>
          <a:xfrm>
            <a:off x="7562088" y="5001768"/>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1100">
                <a:solidFill>
                  <a:srgbClr val="1F2328"/>
                </a:solidFill>
                <a:latin typeface="Calibri"/>
                <a:ea typeface="Calibri"/>
                <a:cs typeface="Calibri"/>
                <a:sym typeface="Calibri"/>
              </a:rPr>
              <a:t>0</a:t>
            </a:r>
            <a:endParaRPr/>
          </a:p>
        </p:txBody>
      </p:sp>
      <p:sp>
        <p:nvSpPr>
          <p:cNvPr id="2047" name="Google Shape;2047;h547f90b031e64a91_0_883"/>
          <p:cNvSpPr/>
          <p:nvPr/>
        </p:nvSpPr>
        <p:spPr>
          <a:xfrm>
            <a:off x="8311896" y="5001768"/>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1100">
                <a:solidFill>
                  <a:srgbClr val="1F2328"/>
                </a:solidFill>
                <a:latin typeface="Calibri"/>
                <a:ea typeface="Calibri"/>
                <a:cs typeface="Calibri"/>
                <a:sym typeface="Calibri"/>
              </a:rPr>
              <a:t>0</a:t>
            </a:r>
            <a:endParaRPr/>
          </a:p>
        </p:txBody>
      </p:sp>
      <p:sp>
        <p:nvSpPr>
          <p:cNvPr id="2048" name="Google Shape;2048;h547f90b031e64a91_0_883"/>
          <p:cNvSpPr/>
          <p:nvPr/>
        </p:nvSpPr>
        <p:spPr>
          <a:xfrm>
            <a:off x="9061704" y="5001768"/>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1100">
                <a:solidFill>
                  <a:srgbClr val="1F2328"/>
                </a:solidFill>
                <a:latin typeface="Calibri"/>
                <a:ea typeface="Calibri"/>
                <a:cs typeface="Calibri"/>
                <a:sym typeface="Calibri"/>
              </a:rPr>
              <a:t>0</a:t>
            </a:r>
            <a:endParaRPr/>
          </a:p>
        </p:txBody>
      </p:sp>
      <p:sp>
        <p:nvSpPr>
          <p:cNvPr id="2049" name="Google Shape;2049;h547f90b031e64a91_0_883"/>
          <p:cNvSpPr/>
          <p:nvPr/>
        </p:nvSpPr>
        <p:spPr>
          <a:xfrm>
            <a:off x="9811512" y="5001768"/>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1100">
                <a:solidFill>
                  <a:srgbClr val="1F2328"/>
                </a:solidFill>
                <a:latin typeface="Calibri"/>
                <a:ea typeface="Calibri"/>
                <a:cs typeface="Calibri"/>
                <a:sym typeface="Calibri"/>
              </a:rPr>
              <a:t>0</a:t>
            </a:r>
            <a:endParaRPr/>
          </a:p>
        </p:txBody>
      </p:sp>
      <p:sp>
        <p:nvSpPr>
          <p:cNvPr id="2050" name="Google Shape;2050;h547f90b031e64a91_0_883"/>
          <p:cNvSpPr txBox="1"/>
          <p:nvPr/>
        </p:nvSpPr>
        <p:spPr>
          <a:xfrm>
            <a:off x="10588752" y="4983480"/>
            <a:ext cx="6858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1250">
                <a:solidFill>
                  <a:srgbClr val="1F2328"/>
                </a:solidFill>
                <a:latin typeface="Calibri"/>
                <a:ea typeface="Calibri"/>
                <a:cs typeface="Calibri"/>
                <a:sym typeface="Calibri"/>
              </a:rPr>
              <a:t>0</a:t>
            </a:r>
            <a:endParaRPr/>
          </a:p>
        </p:txBody>
      </p:sp>
      <p:sp>
        <p:nvSpPr>
          <p:cNvPr id="2051" name="Google Shape;2051;h547f90b031e64a91_0_883"/>
          <p:cNvSpPr txBox="1"/>
          <p:nvPr/>
        </p:nvSpPr>
        <p:spPr>
          <a:xfrm>
            <a:off x="2514600" y="5239512"/>
            <a:ext cx="12801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200" u="none" cap="none" strike="noStrike">
                <a:solidFill>
                  <a:srgbClr val="0B6E4F"/>
                </a:solidFill>
                <a:latin typeface="Calibri"/>
                <a:ea typeface="Calibri"/>
                <a:cs typeface="Calibri"/>
                <a:sym typeface="Calibri"/>
              </a:rPr>
              <a:t>RIGOR</a:t>
            </a:r>
            <a:endParaRPr/>
          </a:p>
        </p:txBody>
      </p:sp>
      <p:sp>
        <p:nvSpPr>
          <p:cNvPr id="2052" name="Google Shape;2052;h547f90b031e64a91_0_883"/>
          <p:cNvSpPr/>
          <p:nvPr/>
        </p:nvSpPr>
        <p:spPr>
          <a:xfrm>
            <a:off x="3813048" y="5257800"/>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0.70</a:t>
            </a:r>
            <a:endParaRPr/>
          </a:p>
        </p:txBody>
      </p:sp>
      <p:sp>
        <p:nvSpPr>
          <p:cNvPr id="2053" name="Google Shape;2053;h547f90b031e64a91_0_883"/>
          <p:cNvSpPr/>
          <p:nvPr/>
        </p:nvSpPr>
        <p:spPr>
          <a:xfrm>
            <a:off x="4562856" y="5257800"/>
            <a:ext cx="713100" cy="219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0.39</a:t>
            </a:r>
            <a:endParaRPr/>
          </a:p>
        </p:txBody>
      </p:sp>
      <p:sp>
        <p:nvSpPr>
          <p:cNvPr id="2054" name="Google Shape;2054;h547f90b031e64a91_0_883"/>
          <p:cNvSpPr/>
          <p:nvPr/>
        </p:nvSpPr>
        <p:spPr>
          <a:xfrm>
            <a:off x="5312664" y="5257800"/>
            <a:ext cx="713100" cy="219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0.13</a:t>
            </a:r>
            <a:endParaRPr/>
          </a:p>
        </p:txBody>
      </p:sp>
      <p:sp>
        <p:nvSpPr>
          <p:cNvPr id="2055" name="Google Shape;2055;h547f90b031e64a91_0_883"/>
          <p:cNvSpPr/>
          <p:nvPr/>
        </p:nvSpPr>
        <p:spPr>
          <a:xfrm>
            <a:off x="6062472" y="5257800"/>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0.62</a:t>
            </a:r>
            <a:endParaRPr/>
          </a:p>
        </p:txBody>
      </p:sp>
      <p:sp>
        <p:nvSpPr>
          <p:cNvPr id="2056" name="Google Shape;2056;h547f90b031e64a91_0_883"/>
          <p:cNvSpPr/>
          <p:nvPr/>
        </p:nvSpPr>
        <p:spPr>
          <a:xfrm>
            <a:off x="6812279" y="5257800"/>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0.49</a:t>
            </a:r>
            <a:endParaRPr/>
          </a:p>
        </p:txBody>
      </p:sp>
      <p:sp>
        <p:nvSpPr>
          <p:cNvPr id="2057" name="Google Shape;2057;h547f90b031e64a91_0_883"/>
          <p:cNvSpPr/>
          <p:nvPr/>
        </p:nvSpPr>
        <p:spPr>
          <a:xfrm>
            <a:off x="7562088" y="5257800"/>
            <a:ext cx="713100" cy="219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0.10</a:t>
            </a:r>
            <a:endParaRPr/>
          </a:p>
        </p:txBody>
      </p:sp>
      <p:sp>
        <p:nvSpPr>
          <p:cNvPr id="2058" name="Google Shape;2058;h547f90b031e64a91_0_883"/>
          <p:cNvSpPr/>
          <p:nvPr/>
        </p:nvSpPr>
        <p:spPr>
          <a:xfrm>
            <a:off x="8311896" y="5257800"/>
            <a:ext cx="713100" cy="219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2.12</a:t>
            </a:r>
            <a:endParaRPr/>
          </a:p>
        </p:txBody>
      </p:sp>
      <p:sp>
        <p:nvSpPr>
          <p:cNvPr id="2059" name="Google Shape;2059;h547f90b031e64a91_0_883"/>
          <p:cNvSpPr/>
          <p:nvPr/>
        </p:nvSpPr>
        <p:spPr>
          <a:xfrm>
            <a:off x="9061704" y="5257800"/>
            <a:ext cx="713100" cy="219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2.72</a:t>
            </a:r>
            <a:endParaRPr/>
          </a:p>
        </p:txBody>
      </p:sp>
      <p:sp>
        <p:nvSpPr>
          <p:cNvPr id="2060" name="Google Shape;2060;h547f90b031e64a91_0_883"/>
          <p:cNvSpPr/>
          <p:nvPr/>
        </p:nvSpPr>
        <p:spPr>
          <a:xfrm>
            <a:off x="9811512" y="5257800"/>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1F2328"/>
                </a:solidFill>
                <a:latin typeface="Calibri"/>
                <a:ea typeface="Calibri"/>
                <a:cs typeface="Calibri"/>
                <a:sym typeface="Calibri"/>
              </a:rPr>
              <a:t>4.07</a:t>
            </a:r>
            <a:endParaRPr/>
          </a:p>
        </p:txBody>
      </p:sp>
      <p:sp>
        <p:nvSpPr>
          <p:cNvPr id="2061" name="Google Shape;2061;h547f90b031e64a91_0_883"/>
          <p:cNvSpPr txBox="1"/>
          <p:nvPr/>
        </p:nvSpPr>
        <p:spPr>
          <a:xfrm>
            <a:off x="10588752" y="5239512"/>
            <a:ext cx="6858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50" u="none" cap="none" strike="noStrike">
                <a:solidFill>
                  <a:srgbClr val="0B6E4F"/>
                </a:solidFill>
                <a:latin typeface="Calibri"/>
                <a:ea typeface="Calibri"/>
                <a:cs typeface="Calibri"/>
                <a:sym typeface="Calibri"/>
              </a:rPr>
              <a:t>1.26</a:t>
            </a:r>
            <a:endParaRPr/>
          </a:p>
        </p:txBody>
      </p:sp>
      <p:sp>
        <p:nvSpPr>
          <p:cNvPr id="2062" name="Google Shape;2062;h547f90b031e64a91_0_883"/>
          <p:cNvSpPr/>
          <p:nvPr/>
        </p:nvSpPr>
        <p:spPr>
          <a:xfrm>
            <a:off x="804672" y="5879592"/>
            <a:ext cx="10579500" cy="420600"/>
          </a:xfrm>
          <a:prstGeom prst="roundRect">
            <a:avLst>
              <a:gd fmla="val 12000" name="adj"/>
            </a:avLst>
          </a:prstGeom>
          <a:solidFill>
            <a:srgbClr val="E6F2EC"/>
          </a:solidFill>
          <a:ln>
            <a:noFill/>
          </a:ln>
        </p:spPr>
        <p:txBody>
          <a:bodyPr anchorCtr="0" anchor="ctr" bIns="0" lIns="201150" spcFirstLastPara="1" rIns="201150" wrap="square" tIns="0">
            <a:noAutofit/>
          </a:bodyPr>
          <a:lstStyle/>
          <a:p>
            <a:pPr indent="0" lvl="0" marL="0" marR="0" rtl="0" algn="l">
              <a:lnSpc>
                <a:spcPct val="100000"/>
              </a:lnSpc>
              <a:spcBef>
                <a:spcPts val="0"/>
              </a:spcBef>
              <a:spcAft>
                <a:spcPts val="0"/>
              </a:spcAft>
              <a:buNone/>
            </a:pPr>
            <a:r>
              <a:rPr b="0" i="0" lang="en-US" sz="1400" u="none" cap="none" strike="noStrike">
                <a:solidFill>
                  <a:srgbClr val="3A434C"/>
                </a:solidFill>
                <a:latin typeface="Calibri"/>
                <a:ea typeface="Calibri"/>
                <a:cs typeface="Calibri"/>
                <a:sym typeface="Calibri"/>
              </a:rPr>
              <a:t>Only RIGOR adds </a:t>
            </a:r>
            <a:r>
              <a:rPr b="1" i="0" lang="en-US" sz="1400" u="none" cap="none" strike="noStrike">
                <a:solidFill>
                  <a:srgbClr val="3A434C"/>
                </a:solidFill>
                <a:latin typeface="Calibri"/>
                <a:ea typeface="Calibri"/>
                <a:cs typeface="Calibri"/>
                <a:sym typeface="Calibri"/>
              </a:rPr>
              <a:t>labels</a:t>
            </a:r>
            <a:r>
              <a:rPr b="0" i="0" lang="en-US" sz="1400" u="none" cap="none" strike="noStrike">
                <a:solidFill>
                  <a:srgbClr val="3A434C"/>
                </a:solidFill>
                <a:latin typeface="Calibri"/>
                <a:ea typeface="Calibri"/>
                <a:cs typeface="Calibri"/>
                <a:sym typeface="Calibri"/>
              </a:rPr>
              <a:t>, </a:t>
            </a:r>
            <a:r>
              <a:rPr b="1" i="0" lang="en-US" sz="1400" u="none" cap="none" strike="noStrike">
                <a:solidFill>
                  <a:srgbClr val="3A434C"/>
                </a:solidFill>
                <a:latin typeface="Calibri"/>
                <a:ea typeface="Calibri"/>
                <a:cs typeface="Calibri"/>
                <a:sym typeface="Calibri"/>
              </a:rPr>
              <a:t>provenance</a:t>
            </a:r>
            <a:r>
              <a:rPr b="0" i="0" lang="en-US" sz="1400" u="none" cap="none" strike="noStrike">
                <a:solidFill>
                  <a:srgbClr val="3A434C"/>
                </a:solidFill>
                <a:latin typeface="Calibri"/>
                <a:ea typeface="Calibri"/>
                <a:cs typeface="Calibri"/>
                <a:sym typeface="Calibri"/>
              </a:rPr>
              <a:t> </a:t>
            </a:r>
            <a:r>
              <a:rPr b="1" i="0" lang="en-US" sz="1400" u="none" cap="none" strike="noStrike">
                <a:solidFill>
                  <a:srgbClr val="1F2328"/>
                </a:solidFill>
                <a:latin typeface="Calibri"/>
                <a:ea typeface="Calibri"/>
                <a:cs typeface="Calibri"/>
                <a:sym typeface="Calibri"/>
              </a:rPr>
              <a:t>and</a:t>
            </a:r>
            <a:r>
              <a:rPr b="0" i="0" lang="en-US" sz="1400" u="none" cap="none" strike="noStrike">
                <a:solidFill>
                  <a:srgbClr val="3A434C"/>
                </a:solidFill>
                <a:latin typeface="Calibri"/>
                <a:ea typeface="Calibri"/>
                <a:cs typeface="Calibri"/>
                <a:sym typeface="Calibri"/>
              </a:rPr>
              <a:t> a </a:t>
            </a:r>
            <a:r>
              <a:rPr b="1" i="0" lang="en-US" sz="1400" u="none" cap="none" strike="noStrike">
                <a:solidFill>
                  <a:srgbClr val="3A434C"/>
                </a:solidFill>
                <a:latin typeface="Calibri"/>
                <a:ea typeface="Calibri"/>
                <a:cs typeface="Calibri"/>
                <a:sym typeface="Calibri"/>
              </a:rPr>
              <a:t>class</a:t>
            </a:r>
            <a:r>
              <a:rPr b="0" i="0" lang="en-US" sz="1400" u="none" cap="none" strike="noStrike">
                <a:solidFill>
                  <a:srgbClr val="3A434C"/>
                </a:solidFill>
                <a:latin typeface="Calibri"/>
                <a:ea typeface="Calibri"/>
                <a:cs typeface="Calibri"/>
                <a:sym typeface="Calibri"/>
              </a:rPr>
              <a:t> </a:t>
            </a:r>
            <a:r>
              <a:rPr b="1" i="0" lang="en-US" sz="1400" u="none" cap="none" strike="noStrike">
                <a:solidFill>
                  <a:srgbClr val="3A434C"/>
                </a:solidFill>
                <a:latin typeface="Calibri"/>
                <a:ea typeface="Calibri"/>
                <a:cs typeface="Calibri"/>
                <a:sym typeface="Calibri"/>
              </a:rPr>
              <a:t>hierarchy</a:t>
            </a:r>
            <a:r>
              <a:rPr b="0" i="0" lang="en-US" sz="1400" u="none" cap="none" strike="noStrike">
                <a:solidFill>
                  <a:srgbClr val="3A434C"/>
                </a:solidFill>
                <a:latin typeface="Calibri"/>
                <a:ea typeface="Calibri"/>
                <a:cs typeface="Calibri"/>
                <a:sym typeface="Calibri"/>
              </a:rPr>
              <a:t>: </a:t>
            </a:r>
            <a:r>
              <a:rPr b="1" i="0" lang="en-US" sz="1400" u="none" cap="none" strike="noStrike">
                <a:solidFill>
                  <a:srgbClr val="0B6E4F"/>
                </a:solidFill>
                <a:latin typeface="Calibri"/>
                <a:ea typeface="Calibri"/>
                <a:cs typeface="Calibri"/>
                <a:sym typeface="Calibri"/>
              </a:rPr>
              <a:t>with every LLM, in every database.</a:t>
            </a:r>
            <a:endParaRPr/>
          </a:p>
        </p:txBody>
      </p:sp>
      <p:sp>
        <p:nvSpPr>
          <p:cNvPr id="2063" name="Google Shape;2063;h547f90b031e64a91_0_883"/>
          <p:cNvSpPr txBox="1"/>
          <p:nvPr/>
        </p:nvSpPr>
        <p:spPr>
          <a:xfrm>
            <a:off x="822960" y="6345936"/>
            <a:ext cx="106071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B6770"/>
                </a:solidFill>
                <a:latin typeface="Calibri"/>
                <a:ea typeface="Calibri"/>
                <a:cs typeface="Calibri"/>
                <a:sym typeface="Calibri"/>
              </a:rPr>
              <a:t>Labels &amp; comments: annotation assertions; provenance: prov:wasDerivedFrom. </a:t>
            </a:r>
            <a:endParaRPr b="0" i="0" sz="1000" u="none" cap="none" strike="noStrike">
              <a:solidFill>
                <a:srgbClr val="5B6770"/>
              </a:solidFill>
              <a:latin typeface="Calibri"/>
              <a:ea typeface="Calibri"/>
              <a:cs typeface="Calibri"/>
              <a:sym typeface="Calibri"/>
            </a:endParaRPr>
          </a:p>
          <a:p>
            <a:pPr indent="0" lvl="0" marL="0" marR="0" rtl="0" algn="l">
              <a:lnSpc>
                <a:spcPct val="100000"/>
              </a:lnSpc>
              <a:spcBef>
                <a:spcPts val="0"/>
              </a:spcBef>
              <a:spcAft>
                <a:spcPts val="0"/>
              </a:spcAft>
              <a:buNone/>
            </a:pPr>
            <a:r>
              <a:rPr b="0" i="0" lang="en-US" sz="1000" u="none" cap="none" strike="noStrike">
                <a:solidFill>
                  <a:srgbClr val="5B6770"/>
                </a:solidFill>
                <a:latin typeface="Calibri"/>
                <a:ea typeface="Calibri"/>
                <a:cs typeface="Calibri"/>
                <a:sym typeface="Calibri"/>
              </a:rPr>
              <a:t>Hierarchy: inheritance richness, subclass axioms per class [</a:t>
            </a:r>
            <a:r>
              <a:rPr b="1" i="0" lang="en-US" sz="1000" u="none" cap="none" strike="noStrike">
                <a:solidFill>
                  <a:srgbClr val="5B6770"/>
                </a:solidFill>
                <a:latin typeface="Calibri"/>
                <a:ea typeface="Calibri"/>
                <a:cs typeface="Calibri"/>
                <a:sym typeface="Calibri"/>
              </a:rPr>
              <a:t>OntoQA:</a:t>
            </a:r>
            <a:r>
              <a:rPr b="0" i="0" lang="en-US" sz="1000" u="none" cap="none" strike="noStrike">
                <a:solidFill>
                  <a:srgbClr val="5B6770"/>
                </a:solidFill>
                <a:latin typeface="Calibri"/>
                <a:ea typeface="Calibri"/>
                <a:cs typeface="Calibri"/>
                <a:sym typeface="Calibri"/>
              </a:rPr>
              <a:t> Tartir et al., KADASH 2005; </a:t>
            </a:r>
            <a:r>
              <a:rPr b="1" i="0" lang="en-US" sz="1000" u="none" cap="none" strike="noStrike">
                <a:solidFill>
                  <a:srgbClr val="5B6770"/>
                </a:solidFill>
                <a:latin typeface="Calibri"/>
                <a:ea typeface="Calibri"/>
                <a:cs typeface="Calibri"/>
                <a:sym typeface="Calibri"/>
              </a:rPr>
              <a:t>OntoMetrics:</a:t>
            </a:r>
            <a:r>
              <a:rPr b="0" i="0" lang="en-US" sz="1000" u="none" cap="none" strike="noStrike">
                <a:solidFill>
                  <a:srgbClr val="5B6770"/>
                </a:solidFill>
                <a:latin typeface="Calibri"/>
                <a:ea typeface="Calibri"/>
                <a:cs typeface="Calibri"/>
                <a:sym typeface="Calibri"/>
              </a:rPr>
              <a:t> Lantow, KEOD 2016]</a:t>
            </a:r>
            <a:r>
              <a:rPr lang="en-US" sz="1000">
                <a:solidFill>
                  <a:srgbClr val="5B6770"/>
                </a:solidFill>
                <a:latin typeface="Calibri"/>
                <a:ea typeface="Calibri"/>
                <a:cs typeface="Calibri"/>
                <a:sym typeface="Calibri"/>
              </a:rPr>
              <a: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8" name="Shape 2068"/>
        <p:cNvGrpSpPr/>
        <p:nvPr/>
      </p:nvGrpSpPr>
      <p:grpSpPr>
        <a:xfrm>
          <a:off x="0" y="0"/>
          <a:ext cx="0" cy="0"/>
          <a:chOff x="0" y="0"/>
          <a:chExt cx="0" cy="0"/>
        </a:xfrm>
      </p:grpSpPr>
      <p:sp>
        <p:nvSpPr>
          <p:cNvPr id="2069" name="Google Shape;2069;h547f90b031e64a91_0_760"/>
          <p:cNvSpPr/>
          <p:nvPr/>
        </p:nvSpPr>
        <p:spPr>
          <a:xfrm>
            <a:off x="5870448" y="2523744"/>
            <a:ext cx="5468100" cy="3063300"/>
          </a:xfrm>
          <a:prstGeom prst="roundRect">
            <a:avLst>
              <a:gd fmla="val 8547" name="adj"/>
            </a:avLst>
          </a:prstGeom>
          <a:solidFill>
            <a:srgbClr val="FFFFFF"/>
          </a:solidFill>
          <a:ln cap="flat" cmpd="sng" w="10775">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0" name="Google Shape;2070;h547f90b031e64a91_0_760"/>
          <p:cNvSpPr/>
          <p:nvPr/>
        </p:nvSpPr>
        <p:spPr>
          <a:xfrm>
            <a:off x="5963738" y="4809625"/>
            <a:ext cx="5240100" cy="575700"/>
          </a:xfrm>
          <a:prstGeom prst="roundRect">
            <a:avLst>
              <a:gd fmla="val 11282" name="adj"/>
            </a:avLst>
          </a:prstGeom>
          <a:solidFill>
            <a:srgbClr val="E9EEEB"/>
          </a:solidFill>
          <a:ln cap="flat" cmpd="sng" w="9525">
            <a:solidFill>
              <a:srgbClr val="3A7D8C"/>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71" name="Google Shape;2071;h547f90b031e64a91_0_760"/>
          <p:cNvSpPr txBox="1"/>
          <p:nvPr/>
        </p:nvSpPr>
        <p:spPr>
          <a:xfrm>
            <a:off x="804672" y="512064"/>
            <a:ext cx="107532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RESULT 4  /  EXTERNAL BENCHMARK</a:t>
            </a:r>
            <a:endParaRPr b="0" i="0" sz="1400" u="none" cap="none" strike="noStrike">
              <a:solidFill>
                <a:srgbClr val="000000"/>
              </a:solidFill>
              <a:latin typeface="Arial"/>
              <a:ea typeface="Arial"/>
              <a:cs typeface="Arial"/>
              <a:sym typeface="Arial"/>
            </a:endParaRPr>
          </a:p>
        </p:txBody>
      </p:sp>
      <p:sp>
        <p:nvSpPr>
          <p:cNvPr id="2072" name="Google Shape;2072;h547f90b031e64a91_0_760"/>
          <p:cNvSpPr txBox="1"/>
          <p:nvPr/>
        </p:nvSpPr>
        <p:spPr>
          <a:xfrm>
            <a:off x="804672" y="914400"/>
            <a:ext cx="10762500" cy="44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RIGOR keeps the link to the data.</a:t>
            </a:r>
            <a:endParaRPr b="0" i="0" sz="1400" u="none" cap="none" strike="noStrike">
              <a:solidFill>
                <a:srgbClr val="000000"/>
              </a:solidFill>
              <a:latin typeface="Arial"/>
              <a:ea typeface="Arial"/>
              <a:cs typeface="Arial"/>
              <a:sym typeface="Arial"/>
            </a:endParaRPr>
          </a:p>
        </p:txBody>
      </p:sp>
      <p:sp>
        <p:nvSpPr>
          <p:cNvPr id="2073" name="Google Shape;2073;h547f90b031e64a91_0_760"/>
          <p:cNvSpPr txBox="1"/>
          <p:nvPr/>
        </p:nvSpPr>
        <p:spPr>
          <a:xfrm>
            <a:off x="822960" y="1645920"/>
            <a:ext cx="106803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3A434C"/>
                </a:solidFill>
                <a:latin typeface="Calibri"/>
                <a:ea typeface="Calibri"/>
                <a:cs typeface="Calibri"/>
                <a:sym typeface="Calibri"/>
              </a:rPr>
              <a:t>BURR [Laskowski et al., PACMMOD 2025]  </a:t>
            </a:r>
            <a:endParaRPr b="1" i="0" sz="1400" u="none" cap="none" strike="noStrike">
              <a:solidFill>
                <a:srgbClr val="000000"/>
              </a:solidFill>
            </a:endParaRPr>
          </a:p>
        </p:txBody>
      </p:sp>
      <p:sp>
        <p:nvSpPr>
          <p:cNvPr id="2074" name="Google Shape;2074;h547f90b031e64a91_0_760"/>
          <p:cNvSpPr txBox="1"/>
          <p:nvPr/>
        </p:nvSpPr>
        <p:spPr>
          <a:xfrm>
            <a:off x="6099048" y="2706624"/>
            <a:ext cx="1828800" cy="17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2F6B78"/>
                </a:solidFill>
                <a:latin typeface="Consolas"/>
                <a:ea typeface="Consolas"/>
                <a:cs typeface="Consolas"/>
                <a:sym typeface="Consolas"/>
              </a:rPr>
              <a:t>SYSTEM</a:t>
            </a:r>
            <a:endParaRPr b="0" i="0" sz="1400" u="none" cap="none" strike="noStrike">
              <a:solidFill>
                <a:srgbClr val="000000"/>
              </a:solidFill>
              <a:latin typeface="Arial"/>
              <a:ea typeface="Arial"/>
              <a:cs typeface="Arial"/>
              <a:sym typeface="Arial"/>
            </a:endParaRPr>
          </a:p>
        </p:txBody>
      </p:sp>
      <p:sp>
        <p:nvSpPr>
          <p:cNvPr id="2075" name="Google Shape;2075;h547f90b031e64a91_0_760"/>
          <p:cNvSpPr txBox="1"/>
          <p:nvPr/>
        </p:nvSpPr>
        <p:spPr>
          <a:xfrm>
            <a:off x="8156447" y="2706624"/>
            <a:ext cx="1051500" cy="177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2F6B78"/>
                </a:solidFill>
                <a:latin typeface="Consolas"/>
                <a:ea typeface="Consolas"/>
                <a:cs typeface="Consolas"/>
                <a:sym typeface="Consolas"/>
              </a:rPr>
              <a:t>CLASSES</a:t>
            </a:r>
            <a:endParaRPr b="0" i="0" sz="1400" u="none" cap="none" strike="noStrike">
              <a:solidFill>
                <a:srgbClr val="000000"/>
              </a:solidFill>
              <a:latin typeface="Arial"/>
              <a:ea typeface="Arial"/>
              <a:cs typeface="Arial"/>
              <a:sym typeface="Arial"/>
            </a:endParaRPr>
          </a:p>
        </p:txBody>
      </p:sp>
      <p:sp>
        <p:nvSpPr>
          <p:cNvPr id="2076" name="Google Shape;2076;h547f90b031e64a91_0_760"/>
          <p:cNvSpPr txBox="1"/>
          <p:nvPr/>
        </p:nvSpPr>
        <p:spPr>
          <a:xfrm>
            <a:off x="9208008" y="2706624"/>
            <a:ext cx="1051500" cy="177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2F6B78"/>
                </a:solidFill>
                <a:latin typeface="Consolas"/>
                <a:ea typeface="Consolas"/>
                <a:cs typeface="Consolas"/>
                <a:sym typeface="Consolas"/>
              </a:rPr>
              <a:t>RELATIONS</a:t>
            </a:r>
            <a:endParaRPr b="0" i="0" sz="1400" u="none" cap="none" strike="noStrike">
              <a:solidFill>
                <a:srgbClr val="000000"/>
              </a:solidFill>
              <a:latin typeface="Arial"/>
              <a:ea typeface="Arial"/>
              <a:cs typeface="Arial"/>
              <a:sym typeface="Arial"/>
            </a:endParaRPr>
          </a:p>
        </p:txBody>
      </p:sp>
      <p:sp>
        <p:nvSpPr>
          <p:cNvPr id="2077" name="Google Shape;2077;h547f90b031e64a91_0_760"/>
          <p:cNvSpPr txBox="1"/>
          <p:nvPr/>
        </p:nvSpPr>
        <p:spPr>
          <a:xfrm>
            <a:off x="10259567" y="2706624"/>
            <a:ext cx="1051500" cy="177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2F6B78"/>
                </a:solidFill>
                <a:latin typeface="Consolas"/>
                <a:ea typeface="Consolas"/>
                <a:cs typeface="Consolas"/>
                <a:sym typeface="Consolas"/>
              </a:rPr>
              <a:t>ATTRIBUTES</a:t>
            </a:r>
            <a:endParaRPr b="0" i="0" sz="1400" u="none" cap="none" strike="noStrike">
              <a:solidFill>
                <a:srgbClr val="000000"/>
              </a:solidFill>
              <a:latin typeface="Arial"/>
              <a:ea typeface="Arial"/>
              <a:cs typeface="Arial"/>
              <a:sym typeface="Arial"/>
            </a:endParaRPr>
          </a:p>
        </p:txBody>
      </p:sp>
      <p:cxnSp>
        <p:nvCxnSpPr>
          <p:cNvPr id="2078" name="Google Shape;2078;h547f90b031e64a91_0_760"/>
          <p:cNvCxnSpPr/>
          <p:nvPr/>
        </p:nvCxnSpPr>
        <p:spPr>
          <a:xfrm>
            <a:off x="6071616" y="3145536"/>
            <a:ext cx="5065800" cy="0"/>
          </a:xfrm>
          <a:prstGeom prst="straightConnector1">
            <a:avLst/>
          </a:prstGeom>
          <a:noFill/>
          <a:ln cap="flat" cmpd="sng" w="13950">
            <a:solidFill>
              <a:srgbClr val="D9DEDB"/>
            </a:solidFill>
            <a:prstDash val="solid"/>
            <a:round/>
            <a:headEnd len="sm" w="sm" type="none"/>
            <a:tailEnd len="sm" w="sm" type="none"/>
          </a:ln>
          <a:effectLst>
            <a:outerShdw blurRad="40000" rotWithShape="0" dir="5400000" dist="20000">
              <a:srgbClr val="000000">
                <a:alpha val="38040"/>
              </a:srgbClr>
            </a:outerShdw>
          </a:effectLst>
        </p:spPr>
      </p:cxnSp>
      <p:sp>
        <p:nvSpPr>
          <p:cNvPr id="2079" name="Google Shape;2079;h547f90b031e64a91_0_760"/>
          <p:cNvSpPr txBox="1"/>
          <p:nvPr/>
        </p:nvSpPr>
        <p:spPr>
          <a:xfrm>
            <a:off x="6117336" y="3182112"/>
            <a:ext cx="2011800" cy="25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39"/>
              <a:buFont typeface="Arial"/>
              <a:buNone/>
            </a:pPr>
            <a:r>
              <a:rPr b="0" i="0" lang="en-US" sz="1639" u="none" cap="none" strike="noStrike">
                <a:solidFill>
                  <a:srgbClr val="3A434C"/>
                </a:solidFill>
                <a:latin typeface="Calibri"/>
                <a:ea typeface="Calibri"/>
                <a:cs typeface="Calibri"/>
                <a:sym typeface="Calibri"/>
              </a:rPr>
              <a:t>W3C-Mapper / Ontop</a:t>
            </a:r>
            <a:endParaRPr b="0" i="0" sz="1400" u="none" cap="none" strike="noStrike">
              <a:solidFill>
                <a:srgbClr val="000000"/>
              </a:solidFill>
              <a:latin typeface="Arial"/>
              <a:ea typeface="Arial"/>
              <a:cs typeface="Arial"/>
              <a:sym typeface="Arial"/>
            </a:endParaRPr>
          </a:p>
        </p:txBody>
      </p:sp>
      <p:sp>
        <p:nvSpPr>
          <p:cNvPr id="2080" name="Google Shape;2080;h547f90b031e64a91_0_760"/>
          <p:cNvSpPr txBox="1"/>
          <p:nvPr/>
        </p:nvSpPr>
        <p:spPr>
          <a:xfrm>
            <a:off x="6117336" y="3438144"/>
            <a:ext cx="1828800" cy="174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30"/>
              <a:buFont typeface="Arial"/>
              <a:buNone/>
            </a:pPr>
            <a:r>
              <a:rPr b="0" i="0" lang="en-US" sz="1130" u="none" cap="none" strike="noStrike">
                <a:solidFill>
                  <a:srgbClr val="5B6770"/>
                </a:solidFill>
                <a:latin typeface="Calibri"/>
                <a:ea typeface="Calibri"/>
                <a:cs typeface="Calibri"/>
                <a:sym typeface="Calibri"/>
              </a:rPr>
              <a:t>rule-based</a:t>
            </a:r>
            <a:endParaRPr b="0" i="0" sz="1400" u="none" cap="none" strike="noStrike">
              <a:solidFill>
                <a:srgbClr val="000000"/>
              </a:solidFill>
              <a:latin typeface="Arial"/>
              <a:ea typeface="Arial"/>
              <a:cs typeface="Arial"/>
              <a:sym typeface="Arial"/>
            </a:endParaRPr>
          </a:p>
        </p:txBody>
      </p:sp>
      <p:sp>
        <p:nvSpPr>
          <p:cNvPr id="2081" name="Google Shape;2081;h547f90b031e64a91_0_760"/>
          <p:cNvSpPr txBox="1"/>
          <p:nvPr/>
        </p:nvSpPr>
        <p:spPr>
          <a:xfrm>
            <a:off x="8202167" y="3241548"/>
            <a:ext cx="960000" cy="283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839"/>
              <a:buFont typeface="Arial"/>
              <a:buNone/>
            </a:pPr>
            <a:r>
              <a:rPr b="0" i="0" lang="en-US" sz="1839" u="none" cap="none" strike="noStrike">
                <a:solidFill>
                  <a:srgbClr val="3A434C"/>
                </a:solidFill>
                <a:latin typeface="Calibri"/>
                <a:ea typeface="Calibri"/>
                <a:cs typeface="Calibri"/>
                <a:sym typeface="Calibri"/>
              </a:rPr>
              <a:t>0.53</a:t>
            </a:r>
            <a:endParaRPr b="0" i="0" sz="1400" u="none" cap="none" strike="noStrike">
              <a:solidFill>
                <a:srgbClr val="000000"/>
              </a:solidFill>
              <a:latin typeface="Arial"/>
              <a:ea typeface="Arial"/>
              <a:cs typeface="Arial"/>
              <a:sym typeface="Arial"/>
            </a:endParaRPr>
          </a:p>
        </p:txBody>
      </p:sp>
      <p:sp>
        <p:nvSpPr>
          <p:cNvPr id="2082" name="Google Shape;2082;h547f90b031e64a91_0_760"/>
          <p:cNvSpPr txBox="1"/>
          <p:nvPr/>
        </p:nvSpPr>
        <p:spPr>
          <a:xfrm>
            <a:off x="9253728" y="3241548"/>
            <a:ext cx="960000" cy="283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839"/>
              <a:buFont typeface="Arial"/>
              <a:buNone/>
            </a:pPr>
            <a:r>
              <a:rPr b="0" i="0" lang="en-US" sz="1839" u="none" cap="none" strike="noStrike">
                <a:solidFill>
                  <a:srgbClr val="3A434C"/>
                </a:solidFill>
                <a:latin typeface="Calibri"/>
                <a:ea typeface="Calibri"/>
                <a:cs typeface="Calibri"/>
                <a:sym typeface="Calibri"/>
              </a:rPr>
              <a:t>0.11</a:t>
            </a:r>
            <a:endParaRPr b="0" i="0" sz="1400" u="none" cap="none" strike="noStrike">
              <a:solidFill>
                <a:srgbClr val="000000"/>
              </a:solidFill>
              <a:latin typeface="Arial"/>
              <a:ea typeface="Arial"/>
              <a:cs typeface="Arial"/>
              <a:sym typeface="Arial"/>
            </a:endParaRPr>
          </a:p>
        </p:txBody>
      </p:sp>
      <p:sp>
        <p:nvSpPr>
          <p:cNvPr id="2083" name="Google Shape;2083;h547f90b031e64a91_0_760"/>
          <p:cNvSpPr txBox="1"/>
          <p:nvPr/>
        </p:nvSpPr>
        <p:spPr>
          <a:xfrm>
            <a:off x="10305288" y="3241548"/>
            <a:ext cx="960000" cy="283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839"/>
              <a:buFont typeface="Arial"/>
              <a:buNone/>
            </a:pPr>
            <a:r>
              <a:rPr b="0" i="0" lang="en-US" sz="1839" u="none" cap="none" strike="noStrike">
                <a:solidFill>
                  <a:srgbClr val="3A434C"/>
                </a:solidFill>
                <a:latin typeface="Calibri"/>
                <a:ea typeface="Calibri"/>
                <a:cs typeface="Calibri"/>
                <a:sym typeface="Calibri"/>
              </a:rPr>
              <a:t>0.39</a:t>
            </a:r>
            <a:endParaRPr b="0" i="0" sz="1400" u="none" cap="none" strike="noStrike">
              <a:solidFill>
                <a:srgbClr val="000000"/>
              </a:solidFill>
              <a:latin typeface="Arial"/>
              <a:ea typeface="Arial"/>
              <a:cs typeface="Arial"/>
              <a:sym typeface="Arial"/>
            </a:endParaRPr>
          </a:p>
        </p:txBody>
      </p:sp>
      <p:sp>
        <p:nvSpPr>
          <p:cNvPr id="2084" name="Google Shape;2084;h547f90b031e64a91_0_760"/>
          <p:cNvSpPr txBox="1"/>
          <p:nvPr/>
        </p:nvSpPr>
        <p:spPr>
          <a:xfrm>
            <a:off x="6117336" y="3739896"/>
            <a:ext cx="2011800" cy="25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39"/>
              <a:buFont typeface="Arial"/>
              <a:buNone/>
            </a:pPr>
            <a:r>
              <a:rPr b="0" i="0" lang="en-US" sz="1639" u="none" cap="none" strike="noStrike">
                <a:solidFill>
                  <a:srgbClr val="3A434C"/>
                </a:solidFill>
                <a:latin typeface="Calibri"/>
                <a:ea typeface="Calibri"/>
                <a:cs typeface="Calibri"/>
                <a:sym typeface="Calibri"/>
              </a:rPr>
              <a:t>RDB2Onto</a:t>
            </a:r>
            <a:endParaRPr b="0" i="0" sz="1400" u="none" cap="none" strike="noStrike">
              <a:solidFill>
                <a:srgbClr val="000000"/>
              </a:solidFill>
              <a:latin typeface="Arial"/>
              <a:ea typeface="Arial"/>
              <a:cs typeface="Arial"/>
              <a:sym typeface="Arial"/>
            </a:endParaRPr>
          </a:p>
        </p:txBody>
      </p:sp>
      <p:sp>
        <p:nvSpPr>
          <p:cNvPr id="2085" name="Google Shape;2085;h547f90b031e64a91_0_760"/>
          <p:cNvSpPr txBox="1"/>
          <p:nvPr/>
        </p:nvSpPr>
        <p:spPr>
          <a:xfrm>
            <a:off x="6117336" y="3995928"/>
            <a:ext cx="1828800" cy="174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30"/>
              <a:buFont typeface="Arial"/>
              <a:buNone/>
            </a:pPr>
            <a:r>
              <a:rPr b="0" i="0" lang="en-US" sz="1130" u="none" cap="none" strike="noStrike">
                <a:solidFill>
                  <a:srgbClr val="5B6770"/>
                </a:solidFill>
                <a:latin typeface="Calibri"/>
                <a:ea typeface="Calibri"/>
                <a:cs typeface="Calibri"/>
                <a:sym typeface="Calibri"/>
              </a:rPr>
              <a:t>rule-based</a:t>
            </a:r>
            <a:endParaRPr b="0" i="0" sz="1400" u="none" cap="none" strike="noStrike">
              <a:solidFill>
                <a:srgbClr val="000000"/>
              </a:solidFill>
              <a:latin typeface="Arial"/>
              <a:ea typeface="Arial"/>
              <a:cs typeface="Arial"/>
              <a:sym typeface="Arial"/>
            </a:endParaRPr>
          </a:p>
        </p:txBody>
      </p:sp>
      <p:sp>
        <p:nvSpPr>
          <p:cNvPr id="2086" name="Google Shape;2086;h547f90b031e64a91_0_760"/>
          <p:cNvSpPr txBox="1"/>
          <p:nvPr/>
        </p:nvSpPr>
        <p:spPr>
          <a:xfrm>
            <a:off x="8202167" y="3799332"/>
            <a:ext cx="960000" cy="283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839"/>
              <a:buFont typeface="Arial"/>
              <a:buNone/>
            </a:pPr>
            <a:r>
              <a:rPr b="0" i="1" lang="en-US" sz="1839" u="sng" cap="none" strike="noStrike">
                <a:solidFill>
                  <a:srgbClr val="3A434C"/>
                </a:solidFill>
                <a:latin typeface="Calibri"/>
                <a:ea typeface="Calibri"/>
                <a:cs typeface="Calibri"/>
                <a:sym typeface="Calibri"/>
              </a:rPr>
              <a:t>0.67</a:t>
            </a:r>
            <a:endParaRPr b="0" i="1" sz="1400" u="sng" cap="none" strike="noStrike">
              <a:solidFill>
                <a:srgbClr val="000000"/>
              </a:solidFill>
              <a:latin typeface="Arial"/>
              <a:ea typeface="Arial"/>
              <a:cs typeface="Arial"/>
              <a:sym typeface="Arial"/>
            </a:endParaRPr>
          </a:p>
        </p:txBody>
      </p:sp>
      <p:sp>
        <p:nvSpPr>
          <p:cNvPr id="2087" name="Google Shape;2087;h547f90b031e64a91_0_760"/>
          <p:cNvSpPr txBox="1"/>
          <p:nvPr/>
        </p:nvSpPr>
        <p:spPr>
          <a:xfrm>
            <a:off x="9253728" y="3799332"/>
            <a:ext cx="960000" cy="283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839"/>
              <a:buFont typeface="Arial"/>
              <a:buNone/>
            </a:pPr>
            <a:r>
              <a:rPr i="1" lang="en-US" sz="1839" u="sng" cap="none" strike="noStrike">
                <a:solidFill>
                  <a:srgbClr val="3A434C"/>
                </a:solidFill>
                <a:latin typeface="Calibri"/>
                <a:ea typeface="Calibri"/>
                <a:cs typeface="Calibri"/>
                <a:sym typeface="Calibri"/>
              </a:rPr>
              <a:t>0.62</a:t>
            </a:r>
            <a:endParaRPr i="1" sz="1400" u="sng" cap="none" strike="noStrike">
              <a:solidFill>
                <a:srgbClr val="000000"/>
              </a:solidFill>
            </a:endParaRPr>
          </a:p>
        </p:txBody>
      </p:sp>
      <p:sp>
        <p:nvSpPr>
          <p:cNvPr id="2088" name="Google Shape;2088;h547f90b031e64a91_0_760"/>
          <p:cNvSpPr txBox="1"/>
          <p:nvPr/>
        </p:nvSpPr>
        <p:spPr>
          <a:xfrm>
            <a:off x="10305288" y="3799332"/>
            <a:ext cx="960000" cy="283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839"/>
              <a:buFont typeface="Arial"/>
              <a:buNone/>
            </a:pPr>
            <a:r>
              <a:rPr b="0" i="1" lang="en-US" sz="1839" u="sng" cap="none" strike="noStrike">
                <a:solidFill>
                  <a:srgbClr val="3A434C"/>
                </a:solidFill>
                <a:latin typeface="Calibri"/>
                <a:ea typeface="Calibri"/>
                <a:cs typeface="Calibri"/>
                <a:sym typeface="Calibri"/>
              </a:rPr>
              <a:t>0.44</a:t>
            </a:r>
            <a:endParaRPr b="0" i="1" sz="1400" u="sng" cap="none" strike="noStrike">
              <a:solidFill>
                <a:srgbClr val="000000"/>
              </a:solidFill>
              <a:latin typeface="Arial"/>
              <a:ea typeface="Arial"/>
              <a:cs typeface="Arial"/>
              <a:sym typeface="Arial"/>
            </a:endParaRPr>
          </a:p>
        </p:txBody>
      </p:sp>
      <p:sp>
        <p:nvSpPr>
          <p:cNvPr id="2089" name="Google Shape;2089;h547f90b031e64a91_0_760"/>
          <p:cNvSpPr txBox="1"/>
          <p:nvPr/>
        </p:nvSpPr>
        <p:spPr>
          <a:xfrm>
            <a:off x="6117336" y="4297680"/>
            <a:ext cx="2011800" cy="25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39"/>
              <a:buFont typeface="Arial"/>
              <a:buNone/>
            </a:pPr>
            <a:r>
              <a:rPr b="0" i="0" lang="en-US" sz="1639" u="none" cap="none" strike="noStrike">
                <a:solidFill>
                  <a:srgbClr val="3A434C"/>
                </a:solidFill>
                <a:latin typeface="Calibri"/>
                <a:ea typeface="Calibri"/>
                <a:cs typeface="Calibri"/>
                <a:sym typeface="Calibri"/>
              </a:rPr>
              <a:t>OntoGenix</a:t>
            </a:r>
            <a:endParaRPr b="0" i="0" sz="1400" u="none" cap="none" strike="noStrike">
              <a:solidFill>
                <a:srgbClr val="000000"/>
              </a:solidFill>
              <a:latin typeface="Arial"/>
              <a:ea typeface="Arial"/>
              <a:cs typeface="Arial"/>
              <a:sym typeface="Arial"/>
            </a:endParaRPr>
          </a:p>
        </p:txBody>
      </p:sp>
      <p:sp>
        <p:nvSpPr>
          <p:cNvPr id="2090" name="Google Shape;2090;h547f90b031e64a91_0_760"/>
          <p:cNvSpPr txBox="1"/>
          <p:nvPr/>
        </p:nvSpPr>
        <p:spPr>
          <a:xfrm>
            <a:off x="6117336" y="4553712"/>
            <a:ext cx="1828800" cy="174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30"/>
              <a:buFont typeface="Arial"/>
              <a:buNone/>
            </a:pPr>
            <a:r>
              <a:rPr b="0" i="0" lang="en-US" sz="1130" u="none" cap="none" strike="noStrike">
                <a:solidFill>
                  <a:srgbClr val="5B6770"/>
                </a:solidFill>
                <a:latin typeface="Calibri"/>
                <a:ea typeface="Calibri"/>
                <a:cs typeface="Calibri"/>
                <a:sym typeface="Calibri"/>
              </a:rPr>
              <a:t>LLM-based</a:t>
            </a:r>
            <a:endParaRPr b="0" i="0" sz="1400" u="none" cap="none" strike="noStrike">
              <a:solidFill>
                <a:srgbClr val="000000"/>
              </a:solidFill>
              <a:latin typeface="Arial"/>
              <a:ea typeface="Arial"/>
              <a:cs typeface="Arial"/>
              <a:sym typeface="Arial"/>
            </a:endParaRPr>
          </a:p>
        </p:txBody>
      </p:sp>
      <p:sp>
        <p:nvSpPr>
          <p:cNvPr id="2091" name="Google Shape;2091;h547f90b031e64a91_0_760"/>
          <p:cNvSpPr txBox="1"/>
          <p:nvPr/>
        </p:nvSpPr>
        <p:spPr>
          <a:xfrm>
            <a:off x="8202167" y="4357116"/>
            <a:ext cx="960000" cy="283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839"/>
              <a:buFont typeface="Arial"/>
              <a:buNone/>
            </a:pPr>
            <a:r>
              <a:rPr b="0" i="0" lang="en-US" sz="1839" u="none" cap="none" strike="noStrike">
                <a:solidFill>
                  <a:srgbClr val="3A434C"/>
                </a:solidFill>
                <a:latin typeface="Calibri"/>
                <a:ea typeface="Calibri"/>
                <a:cs typeface="Calibri"/>
                <a:sym typeface="Calibri"/>
              </a:rPr>
              <a:t>0.58</a:t>
            </a:r>
            <a:endParaRPr b="0" i="0" sz="1400" u="none" cap="none" strike="noStrike">
              <a:solidFill>
                <a:srgbClr val="000000"/>
              </a:solidFill>
              <a:latin typeface="Arial"/>
              <a:ea typeface="Arial"/>
              <a:cs typeface="Arial"/>
              <a:sym typeface="Arial"/>
            </a:endParaRPr>
          </a:p>
        </p:txBody>
      </p:sp>
      <p:sp>
        <p:nvSpPr>
          <p:cNvPr id="2092" name="Google Shape;2092;h547f90b031e64a91_0_760"/>
          <p:cNvSpPr txBox="1"/>
          <p:nvPr/>
        </p:nvSpPr>
        <p:spPr>
          <a:xfrm>
            <a:off x="9253728" y="4357116"/>
            <a:ext cx="960000" cy="283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839"/>
              <a:buFont typeface="Arial"/>
              <a:buNone/>
            </a:pPr>
            <a:r>
              <a:rPr b="0" i="0" lang="en-US" sz="1839" u="none" cap="none" strike="noStrike">
                <a:solidFill>
                  <a:srgbClr val="3A434C"/>
                </a:solidFill>
                <a:latin typeface="Calibri"/>
                <a:ea typeface="Calibri"/>
                <a:cs typeface="Calibri"/>
                <a:sym typeface="Calibri"/>
              </a:rPr>
              <a:t>0.35</a:t>
            </a:r>
            <a:endParaRPr b="0" i="0" sz="1400" u="none" cap="none" strike="noStrike">
              <a:solidFill>
                <a:srgbClr val="000000"/>
              </a:solidFill>
              <a:latin typeface="Arial"/>
              <a:ea typeface="Arial"/>
              <a:cs typeface="Arial"/>
              <a:sym typeface="Arial"/>
            </a:endParaRPr>
          </a:p>
        </p:txBody>
      </p:sp>
      <p:sp>
        <p:nvSpPr>
          <p:cNvPr id="2093" name="Google Shape;2093;h547f90b031e64a91_0_760"/>
          <p:cNvSpPr txBox="1"/>
          <p:nvPr/>
        </p:nvSpPr>
        <p:spPr>
          <a:xfrm>
            <a:off x="10305288" y="4357116"/>
            <a:ext cx="960000" cy="283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839"/>
              <a:buFont typeface="Arial"/>
              <a:buNone/>
            </a:pPr>
            <a:r>
              <a:rPr b="0" i="1" lang="en-US" sz="1839" u="sng" cap="none" strike="noStrike">
                <a:solidFill>
                  <a:srgbClr val="3A434C"/>
                </a:solidFill>
                <a:latin typeface="Calibri"/>
                <a:ea typeface="Calibri"/>
                <a:cs typeface="Calibri"/>
                <a:sym typeface="Calibri"/>
              </a:rPr>
              <a:t>0.44</a:t>
            </a:r>
            <a:endParaRPr b="0" i="1" sz="1400" u="sng" cap="none" strike="noStrike">
              <a:solidFill>
                <a:srgbClr val="000000"/>
              </a:solidFill>
              <a:latin typeface="Arial"/>
              <a:ea typeface="Arial"/>
              <a:cs typeface="Arial"/>
              <a:sym typeface="Arial"/>
            </a:endParaRPr>
          </a:p>
        </p:txBody>
      </p:sp>
      <p:sp>
        <p:nvSpPr>
          <p:cNvPr id="2094" name="Google Shape;2094;h547f90b031e64a91_0_760"/>
          <p:cNvSpPr txBox="1"/>
          <p:nvPr/>
        </p:nvSpPr>
        <p:spPr>
          <a:xfrm>
            <a:off x="6117336" y="4855464"/>
            <a:ext cx="20118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RIGOR</a:t>
            </a:r>
            <a:endParaRPr b="0" i="0" sz="1400" u="none" cap="none" strike="noStrike">
              <a:solidFill>
                <a:srgbClr val="000000"/>
              </a:solidFill>
              <a:latin typeface="Arial"/>
              <a:ea typeface="Arial"/>
              <a:cs typeface="Arial"/>
              <a:sym typeface="Arial"/>
            </a:endParaRPr>
          </a:p>
        </p:txBody>
      </p:sp>
      <p:sp>
        <p:nvSpPr>
          <p:cNvPr id="2095" name="Google Shape;2095;h547f90b031e64a91_0_760"/>
          <p:cNvSpPr txBox="1"/>
          <p:nvPr/>
        </p:nvSpPr>
        <p:spPr>
          <a:xfrm>
            <a:off x="6117336" y="5111496"/>
            <a:ext cx="1828800" cy="174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30"/>
              <a:buFont typeface="Arial"/>
              <a:buNone/>
            </a:pPr>
            <a:r>
              <a:rPr b="0" i="0" lang="en-US" sz="1130" u="none" cap="none" strike="noStrike">
                <a:solidFill>
                  <a:srgbClr val="2F6B78"/>
                </a:solidFill>
                <a:latin typeface="Calibri"/>
                <a:ea typeface="Calibri"/>
                <a:cs typeface="Calibri"/>
                <a:sym typeface="Calibri"/>
              </a:rPr>
              <a:t>LLM + rules</a:t>
            </a:r>
            <a:endParaRPr b="0" i="0" sz="1400" u="none" cap="none" strike="noStrike">
              <a:solidFill>
                <a:srgbClr val="000000"/>
              </a:solidFill>
              <a:latin typeface="Arial"/>
              <a:ea typeface="Arial"/>
              <a:cs typeface="Arial"/>
              <a:sym typeface="Arial"/>
            </a:endParaRPr>
          </a:p>
        </p:txBody>
      </p:sp>
      <p:sp>
        <p:nvSpPr>
          <p:cNvPr id="2096" name="Google Shape;2096;h547f90b031e64a91_0_760"/>
          <p:cNvSpPr txBox="1"/>
          <p:nvPr/>
        </p:nvSpPr>
        <p:spPr>
          <a:xfrm>
            <a:off x="8202167" y="4914900"/>
            <a:ext cx="960000" cy="307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1F2328"/>
                </a:solidFill>
                <a:latin typeface="Calibri"/>
                <a:ea typeface="Calibri"/>
                <a:cs typeface="Calibri"/>
                <a:sym typeface="Calibri"/>
              </a:rPr>
              <a:t>0.73</a:t>
            </a:r>
            <a:endParaRPr b="0" i="0" sz="1400" u="none" cap="none" strike="noStrike">
              <a:solidFill>
                <a:srgbClr val="000000"/>
              </a:solidFill>
              <a:latin typeface="Arial"/>
              <a:ea typeface="Arial"/>
              <a:cs typeface="Arial"/>
              <a:sym typeface="Arial"/>
            </a:endParaRPr>
          </a:p>
        </p:txBody>
      </p:sp>
      <p:sp>
        <p:nvSpPr>
          <p:cNvPr id="2097" name="Google Shape;2097;h547f90b031e64a91_0_760"/>
          <p:cNvSpPr txBox="1"/>
          <p:nvPr/>
        </p:nvSpPr>
        <p:spPr>
          <a:xfrm>
            <a:off x="9253728" y="4914900"/>
            <a:ext cx="960000" cy="307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1F2328"/>
                </a:solidFill>
                <a:latin typeface="Calibri"/>
                <a:ea typeface="Calibri"/>
                <a:cs typeface="Calibri"/>
                <a:sym typeface="Calibri"/>
              </a:rPr>
              <a:t>0.67</a:t>
            </a:r>
            <a:endParaRPr b="0" i="0" sz="1400" u="none" cap="none" strike="noStrike">
              <a:solidFill>
                <a:srgbClr val="000000"/>
              </a:solidFill>
              <a:latin typeface="Arial"/>
              <a:ea typeface="Arial"/>
              <a:cs typeface="Arial"/>
              <a:sym typeface="Arial"/>
            </a:endParaRPr>
          </a:p>
        </p:txBody>
      </p:sp>
      <p:sp>
        <p:nvSpPr>
          <p:cNvPr id="2098" name="Google Shape;2098;h547f90b031e64a91_0_760"/>
          <p:cNvSpPr txBox="1"/>
          <p:nvPr/>
        </p:nvSpPr>
        <p:spPr>
          <a:xfrm>
            <a:off x="10305288" y="4914900"/>
            <a:ext cx="960000" cy="307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1F2328"/>
                </a:solidFill>
                <a:latin typeface="Calibri"/>
                <a:ea typeface="Calibri"/>
                <a:cs typeface="Calibri"/>
                <a:sym typeface="Calibri"/>
              </a:rPr>
              <a:t>0.52</a:t>
            </a:r>
            <a:endParaRPr b="0" i="0" sz="1400" u="none" cap="none" strike="noStrike">
              <a:solidFill>
                <a:srgbClr val="000000"/>
              </a:solidFill>
              <a:latin typeface="Arial"/>
              <a:ea typeface="Arial"/>
              <a:cs typeface="Arial"/>
              <a:sym typeface="Arial"/>
            </a:endParaRPr>
          </a:p>
        </p:txBody>
      </p:sp>
      <p:sp>
        <p:nvSpPr>
          <p:cNvPr id="2099" name="Google Shape;2099;h547f90b031e64a91_0_760"/>
          <p:cNvSpPr/>
          <p:nvPr/>
        </p:nvSpPr>
        <p:spPr>
          <a:xfrm>
            <a:off x="841248" y="2523744"/>
            <a:ext cx="4846200" cy="3063300"/>
          </a:xfrm>
          <a:prstGeom prst="roundRect">
            <a:avLst>
              <a:gd fmla="val 5966" name="adj"/>
            </a:avLst>
          </a:prstGeom>
          <a:solidFill>
            <a:srgbClr val="F3F5F4"/>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0" name="Google Shape;2100;h547f90b031e64a91_0_760"/>
          <p:cNvSpPr txBox="1"/>
          <p:nvPr/>
        </p:nvSpPr>
        <p:spPr>
          <a:xfrm>
            <a:off x="1069848" y="2706624"/>
            <a:ext cx="43890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2F6B78"/>
                </a:solidFill>
                <a:latin typeface="Consolas"/>
                <a:ea typeface="Consolas"/>
                <a:cs typeface="Consolas"/>
                <a:sym typeface="Consolas"/>
              </a:rPr>
              <a:t>WHAT BURR CHECKS</a:t>
            </a:r>
            <a:endParaRPr b="0" i="0" sz="1400" u="none" cap="none" strike="noStrike">
              <a:solidFill>
                <a:srgbClr val="000000"/>
              </a:solidFill>
              <a:latin typeface="Arial"/>
              <a:ea typeface="Arial"/>
              <a:cs typeface="Arial"/>
              <a:sym typeface="Arial"/>
            </a:endParaRPr>
          </a:p>
        </p:txBody>
      </p:sp>
      <p:sp>
        <p:nvSpPr>
          <p:cNvPr id="2101" name="Google Shape;2101;h547f90b031e64a91_0_760"/>
          <p:cNvSpPr txBox="1"/>
          <p:nvPr/>
        </p:nvSpPr>
        <p:spPr>
          <a:xfrm>
            <a:off x="1069848" y="3035808"/>
            <a:ext cx="4389000" cy="31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328"/>
                </a:solidFill>
                <a:latin typeface="Calibri"/>
                <a:ea typeface="Calibri"/>
                <a:cs typeface="Calibri"/>
                <a:sym typeface="Calibri"/>
              </a:rPr>
              <a:t>Every ontology element must map back to the database.</a:t>
            </a:r>
            <a:endParaRPr b="0" i="0" sz="1400" u="none" cap="none" strike="noStrike">
              <a:solidFill>
                <a:srgbClr val="000000"/>
              </a:solidFill>
              <a:latin typeface="Arial"/>
              <a:ea typeface="Arial"/>
              <a:cs typeface="Arial"/>
              <a:sym typeface="Arial"/>
            </a:endParaRPr>
          </a:p>
        </p:txBody>
      </p:sp>
      <p:sp>
        <p:nvSpPr>
          <p:cNvPr id="2102" name="Google Shape;2102;h547f90b031e64a91_0_760"/>
          <p:cNvSpPr txBox="1"/>
          <p:nvPr/>
        </p:nvSpPr>
        <p:spPr>
          <a:xfrm>
            <a:off x="1069848" y="3474720"/>
            <a:ext cx="10059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2F6B78"/>
                </a:solidFill>
                <a:latin typeface="Consolas"/>
                <a:ea typeface="Consolas"/>
                <a:cs typeface="Consolas"/>
                <a:sym typeface="Consolas"/>
              </a:rPr>
              <a:t>CLASSES</a:t>
            </a:r>
            <a:endParaRPr b="0" i="0" sz="1400" u="none" cap="none" strike="noStrike">
              <a:solidFill>
                <a:srgbClr val="000000"/>
              </a:solidFill>
              <a:latin typeface="Arial"/>
              <a:ea typeface="Arial"/>
              <a:cs typeface="Arial"/>
              <a:sym typeface="Arial"/>
            </a:endParaRPr>
          </a:p>
        </p:txBody>
      </p:sp>
      <p:sp>
        <p:nvSpPr>
          <p:cNvPr descr="database element" id="2103" name="Google Shape;2103;h547f90b031e64a91_0_760"/>
          <p:cNvSpPr/>
          <p:nvPr/>
        </p:nvSpPr>
        <p:spPr>
          <a:xfrm>
            <a:off x="2075688" y="3474720"/>
            <a:ext cx="12984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1F2328"/>
                </a:solidFill>
                <a:latin typeface="Consolas"/>
                <a:ea typeface="Consolas"/>
                <a:cs typeface="Consolas"/>
                <a:sym typeface="Consolas"/>
              </a:rPr>
              <a:t>person</a:t>
            </a:r>
            <a:endParaRPr b="0" i="0" sz="1400" u="none" cap="none" strike="noStrike">
              <a:solidFill>
                <a:srgbClr val="000000"/>
              </a:solidFill>
              <a:latin typeface="Arial"/>
              <a:ea typeface="Arial"/>
              <a:cs typeface="Arial"/>
              <a:sym typeface="Arial"/>
            </a:endParaRPr>
          </a:p>
        </p:txBody>
      </p:sp>
      <p:sp>
        <p:nvSpPr>
          <p:cNvPr id="2104" name="Google Shape;2104;h547f90b031e64a91_0_760"/>
          <p:cNvSpPr txBox="1"/>
          <p:nvPr/>
        </p:nvSpPr>
        <p:spPr>
          <a:xfrm>
            <a:off x="3392424" y="3474720"/>
            <a:ext cx="2376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descr="ontology element" id="2105" name="Google Shape;2105;h547f90b031e64a91_0_760"/>
          <p:cNvSpPr/>
          <p:nvPr/>
        </p:nvSpPr>
        <p:spPr>
          <a:xfrm>
            <a:off x="3648456" y="3474720"/>
            <a:ext cx="18561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B6E4F"/>
                </a:solidFill>
                <a:latin typeface="Consolas"/>
                <a:ea typeface="Consolas"/>
                <a:cs typeface="Consolas"/>
                <a:sym typeface="Consolas"/>
              </a:rPr>
              <a:t>Class: </a:t>
            </a:r>
            <a:r>
              <a:rPr b="0" i="0" lang="en-US" sz="1050" u="none" cap="none" strike="noStrike">
                <a:solidFill>
                  <a:srgbClr val="1F2328"/>
                </a:solidFill>
                <a:latin typeface="Consolas"/>
                <a:ea typeface="Consolas"/>
                <a:cs typeface="Consolas"/>
                <a:sym typeface="Consolas"/>
              </a:rPr>
              <a:t>Person</a:t>
            </a:r>
            <a:endParaRPr b="0" i="0" sz="1400" u="none" cap="none" strike="noStrike">
              <a:solidFill>
                <a:srgbClr val="000000"/>
              </a:solidFill>
              <a:latin typeface="Arial"/>
              <a:ea typeface="Arial"/>
              <a:cs typeface="Arial"/>
              <a:sym typeface="Arial"/>
            </a:endParaRPr>
          </a:p>
        </p:txBody>
      </p:sp>
      <p:sp>
        <p:nvSpPr>
          <p:cNvPr id="2106" name="Google Shape;2106;h547f90b031e64a91_0_760"/>
          <p:cNvSpPr txBox="1"/>
          <p:nvPr/>
        </p:nvSpPr>
        <p:spPr>
          <a:xfrm>
            <a:off x="1069848" y="3895344"/>
            <a:ext cx="10059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2F6B78"/>
                </a:solidFill>
                <a:latin typeface="Consolas"/>
                <a:ea typeface="Consolas"/>
                <a:cs typeface="Consolas"/>
                <a:sym typeface="Consolas"/>
              </a:rPr>
              <a:t>RELATIONS</a:t>
            </a:r>
            <a:endParaRPr b="0" i="0" sz="1400" u="none" cap="none" strike="noStrike">
              <a:solidFill>
                <a:srgbClr val="000000"/>
              </a:solidFill>
              <a:latin typeface="Arial"/>
              <a:ea typeface="Arial"/>
              <a:cs typeface="Arial"/>
              <a:sym typeface="Arial"/>
            </a:endParaRPr>
          </a:p>
        </p:txBody>
      </p:sp>
      <p:sp>
        <p:nvSpPr>
          <p:cNvPr descr="database element" id="2107" name="Google Shape;2107;h547f90b031e64a91_0_760"/>
          <p:cNvSpPr/>
          <p:nvPr/>
        </p:nvSpPr>
        <p:spPr>
          <a:xfrm>
            <a:off x="2075688" y="3895344"/>
            <a:ext cx="12984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1F2328"/>
                </a:solidFill>
                <a:latin typeface="Consolas"/>
                <a:ea typeface="Consolas"/>
                <a:cs typeface="Consolas"/>
                <a:sym typeface="Consolas"/>
              </a:rPr>
              <a:t>paper.author_id</a:t>
            </a:r>
            <a:endParaRPr b="0" i="0" sz="1400" u="none" cap="none" strike="noStrike">
              <a:solidFill>
                <a:srgbClr val="000000"/>
              </a:solidFill>
              <a:latin typeface="Arial"/>
              <a:ea typeface="Arial"/>
              <a:cs typeface="Arial"/>
              <a:sym typeface="Arial"/>
            </a:endParaRPr>
          </a:p>
        </p:txBody>
      </p:sp>
      <p:sp>
        <p:nvSpPr>
          <p:cNvPr id="2108" name="Google Shape;2108;h547f90b031e64a91_0_760"/>
          <p:cNvSpPr txBox="1"/>
          <p:nvPr/>
        </p:nvSpPr>
        <p:spPr>
          <a:xfrm>
            <a:off x="3392424" y="3895344"/>
            <a:ext cx="2376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descr="ontology element" id="2109" name="Google Shape;2109;h547f90b031e64a91_0_760"/>
          <p:cNvSpPr/>
          <p:nvPr/>
        </p:nvSpPr>
        <p:spPr>
          <a:xfrm>
            <a:off x="3648456" y="3895344"/>
            <a:ext cx="18561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B6E4F"/>
                </a:solidFill>
                <a:latin typeface="Consolas"/>
                <a:ea typeface="Consolas"/>
                <a:cs typeface="Consolas"/>
                <a:sym typeface="Consolas"/>
              </a:rPr>
              <a:t>ObjectProperty: </a:t>
            </a:r>
            <a:r>
              <a:rPr b="0" i="0" lang="en-US" sz="1050" u="none" cap="none" strike="noStrike">
                <a:solidFill>
                  <a:srgbClr val="1F2328"/>
                </a:solidFill>
                <a:latin typeface="Consolas"/>
                <a:ea typeface="Consolas"/>
                <a:cs typeface="Consolas"/>
                <a:sym typeface="Consolas"/>
              </a:rPr>
              <a:t>author</a:t>
            </a:r>
            <a:endParaRPr b="0" i="0" sz="1400" u="none" cap="none" strike="noStrike">
              <a:solidFill>
                <a:srgbClr val="000000"/>
              </a:solidFill>
              <a:latin typeface="Arial"/>
              <a:ea typeface="Arial"/>
              <a:cs typeface="Arial"/>
              <a:sym typeface="Arial"/>
            </a:endParaRPr>
          </a:p>
        </p:txBody>
      </p:sp>
      <p:sp>
        <p:nvSpPr>
          <p:cNvPr id="2110" name="Google Shape;2110;h547f90b031e64a91_0_760"/>
          <p:cNvSpPr txBox="1"/>
          <p:nvPr/>
        </p:nvSpPr>
        <p:spPr>
          <a:xfrm>
            <a:off x="1069848" y="4315968"/>
            <a:ext cx="10059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2F6B78"/>
                </a:solidFill>
                <a:latin typeface="Consolas"/>
                <a:ea typeface="Consolas"/>
                <a:cs typeface="Consolas"/>
                <a:sym typeface="Consolas"/>
              </a:rPr>
              <a:t>ATTRIBUTES</a:t>
            </a:r>
            <a:endParaRPr b="0" i="0" sz="1400" u="none" cap="none" strike="noStrike">
              <a:solidFill>
                <a:srgbClr val="000000"/>
              </a:solidFill>
              <a:latin typeface="Arial"/>
              <a:ea typeface="Arial"/>
              <a:cs typeface="Arial"/>
              <a:sym typeface="Arial"/>
            </a:endParaRPr>
          </a:p>
        </p:txBody>
      </p:sp>
      <p:sp>
        <p:nvSpPr>
          <p:cNvPr descr="database element" id="2111" name="Google Shape;2111;h547f90b031e64a91_0_760"/>
          <p:cNvSpPr/>
          <p:nvPr/>
        </p:nvSpPr>
        <p:spPr>
          <a:xfrm>
            <a:off x="2075688" y="4315968"/>
            <a:ext cx="12984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1F2328"/>
                </a:solidFill>
                <a:latin typeface="Consolas"/>
                <a:ea typeface="Consolas"/>
                <a:cs typeface="Consolas"/>
                <a:sym typeface="Consolas"/>
              </a:rPr>
              <a:t>person.name</a:t>
            </a:r>
            <a:endParaRPr b="0" i="0" sz="1400" u="none" cap="none" strike="noStrike">
              <a:solidFill>
                <a:srgbClr val="000000"/>
              </a:solidFill>
              <a:latin typeface="Arial"/>
              <a:ea typeface="Arial"/>
              <a:cs typeface="Arial"/>
              <a:sym typeface="Arial"/>
            </a:endParaRPr>
          </a:p>
        </p:txBody>
      </p:sp>
      <p:sp>
        <p:nvSpPr>
          <p:cNvPr id="2112" name="Google Shape;2112;h547f90b031e64a91_0_760"/>
          <p:cNvSpPr txBox="1"/>
          <p:nvPr/>
        </p:nvSpPr>
        <p:spPr>
          <a:xfrm>
            <a:off x="3392424" y="4315968"/>
            <a:ext cx="2376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descr="ontology element" id="2113" name="Google Shape;2113;h547f90b031e64a91_0_760"/>
          <p:cNvSpPr/>
          <p:nvPr/>
        </p:nvSpPr>
        <p:spPr>
          <a:xfrm>
            <a:off x="3648456" y="4315968"/>
            <a:ext cx="18561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B6E4F"/>
                </a:solidFill>
                <a:latin typeface="Consolas"/>
                <a:ea typeface="Consolas"/>
                <a:cs typeface="Consolas"/>
                <a:sym typeface="Consolas"/>
              </a:rPr>
              <a:t>DataProperty: </a:t>
            </a:r>
            <a:r>
              <a:rPr b="0" i="0" lang="en-US" sz="1050" u="none" cap="none" strike="noStrike">
                <a:solidFill>
                  <a:srgbClr val="1F2328"/>
                </a:solidFill>
                <a:latin typeface="Consolas"/>
                <a:ea typeface="Consolas"/>
                <a:cs typeface="Consolas"/>
                <a:sym typeface="Consolas"/>
              </a:rPr>
              <a:t>name</a:t>
            </a:r>
            <a:endParaRPr b="0" i="0" sz="1400" u="none" cap="none" strike="noStrike">
              <a:solidFill>
                <a:srgbClr val="000000"/>
              </a:solidFill>
              <a:latin typeface="Arial"/>
              <a:ea typeface="Arial"/>
              <a:cs typeface="Arial"/>
              <a:sym typeface="Arial"/>
            </a:endParaRPr>
          </a:p>
        </p:txBody>
      </p:sp>
      <p:sp>
        <p:nvSpPr>
          <p:cNvPr id="2114" name="Google Shape;2114;h547f90b031e64a91_0_760"/>
          <p:cNvSpPr/>
          <p:nvPr/>
        </p:nvSpPr>
        <p:spPr>
          <a:xfrm>
            <a:off x="804672" y="2103120"/>
            <a:ext cx="2042700" cy="310800"/>
          </a:xfrm>
          <a:prstGeom prst="rect">
            <a:avLst/>
          </a:prstGeom>
          <a:solidFill>
            <a:srgbClr val="E8F6E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0B6E4F"/>
                </a:solidFill>
                <a:latin typeface="Consolas"/>
                <a:ea typeface="Consolas"/>
                <a:cs typeface="Consolas"/>
                <a:sym typeface="Consolas"/>
              </a:rPr>
              <a:t>1  VALID, FEWER ERRORS</a:t>
            </a:r>
            <a:endParaRPr/>
          </a:p>
        </p:txBody>
      </p:sp>
      <p:sp>
        <p:nvSpPr>
          <p:cNvPr id="2115" name="Google Shape;2115;h547f90b031e64a91_0_760"/>
          <p:cNvSpPr/>
          <p:nvPr/>
        </p:nvSpPr>
        <p:spPr>
          <a:xfrm>
            <a:off x="2938881" y="2103120"/>
            <a:ext cx="2042700" cy="310800"/>
          </a:xfrm>
          <a:prstGeom prst="rect">
            <a:avLst/>
          </a:prstGeom>
          <a:solidFill>
            <a:srgbClr val="E8F6E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0B6E4F"/>
                </a:solidFill>
                <a:latin typeface="Consolas"/>
                <a:ea typeface="Consolas"/>
                <a:cs typeface="Consolas"/>
                <a:sym typeface="Consolas"/>
              </a:rPr>
              <a:t>2  KEEPS THE SCHEMA</a:t>
            </a:r>
            <a:endParaRPr/>
          </a:p>
        </p:txBody>
      </p:sp>
      <p:sp>
        <p:nvSpPr>
          <p:cNvPr id="2116" name="Google Shape;2116;h547f90b031e64a91_0_760"/>
          <p:cNvSpPr/>
          <p:nvPr/>
        </p:nvSpPr>
        <p:spPr>
          <a:xfrm>
            <a:off x="5073091" y="2103120"/>
            <a:ext cx="2042700" cy="310800"/>
          </a:xfrm>
          <a:prstGeom prst="rect">
            <a:avLst/>
          </a:prstGeom>
          <a:solidFill>
            <a:srgbClr val="E8F6E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0B6E4F"/>
                </a:solidFill>
                <a:latin typeface="Consolas"/>
                <a:ea typeface="Consolas"/>
                <a:cs typeface="Consolas"/>
                <a:sym typeface="Consolas"/>
              </a:rPr>
              <a:t>3  ADDS MEANING</a:t>
            </a:r>
            <a:endParaRPr/>
          </a:p>
        </p:txBody>
      </p:sp>
      <p:sp>
        <p:nvSpPr>
          <p:cNvPr id="2117" name="Google Shape;2117;h547f90b031e64a91_0_760"/>
          <p:cNvSpPr/>
          <p:nvPr/>
        </p:nvSpPr>
        <p:spPr>
          <a:xfrm>
            <a:off x="7207300" y="2103120"/>
            <a:ext cx="2042700" cy="310800"/>
          </a:xfrm>
          <a:prstGeom prst="rect">
            <a:avLst/>
          </a:prstGeom>
          <a:solidFill>
            <a:srgbClr val="0B6E4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FFFFFF"/>
                </a:solidFill>
                <a:latin typeface="Consolas"/>
                <a:ea typeface="Consolas"/>
                <a:cs typeface="Consolas"/>
                <a:sym typeface="Consolas"/>
              </a:rPr>
              <a:t>4  GOLD MAPPINGS</a:t>
            </a:r>
            <a:endParaRPr/>
          </a:p>
        </p:txBody>
      </p:sp>
      <p:sp>
        <p:nvSpPr>
          <p:cNvPr id="2118" name="Google Shape;2118;h547f90b031e64a91_0_760"/>
          <p:cNvSpPr/>
          <p:nvPr/>
        </p:nvSpPr>
        <p:spPr>
          <a:xfrm>
            <a:off x="9341510" y="2103120"/>
            <a:ext cx="2042700" cy="310800"/>
          </a:xfrm>
          <a:prstGeom prst="rect">
            <a:avLst/>
          </a:prstGeom>
          <a:solidFill>
            <a:srgbClr val="FFFFFF"/>
          </a:solidFill>
          <a:ln cap="flat" cmpd="sng" w="9525">
            <a:solidFill>
              <a:srgbClr val="D9DED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6B747B"/>
                </a:solidFill>
                <a:latin typeface="Consolas"/>
                <a:ea typeface="Consolas"/>
                <a:cs typeface="Consolas"/>
                <a:sym typeface="Consolas"/>
              </a:rPr>
              <a:t>5  JUDGES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3" name="Shape 2123"/>
        <p:cNvGrpSpPr/>
        <p:nvPr/>
      </p:nvGrpSpPr>
      <p:grpSpPr>
        <a:xfrm>
          <a:off x="0" y="0"/>
          <a:ext cx="0" cy="0"/>
          <a:chOff x="0" y="0"/>
          <a:chExt cx="0" cy="0"/>
        </a:xfrm>
      </p:grpSpPr>
      <p:sp>
        <p:nvSpPr>
          <p:cNvPr id="2124" name="Google Shape;2124;h547f90b031e64a91_0_1235"/>
          <p:cNvSpPr txBox="1"/>
          <p:nvPr/>
        </p:nvSpPr>
        <p:spPr>
          <a:xfrm>
            <a:off x="804672" y="512064"/>
            <a:ext cx="107532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RESULT 5  /  LLM JUDGE AND HUMAN EXPERTS</a:t>
            </a:r>
            <a:endParaRPr b="0" i="0" sz="1400" u="none" cap="none" strike="noStrike">
              <a:solidFill>
                <a:srgbClr val="000000"/>
              </a:solidFill>
              <a:latin typeface="Arial"/>
              <a:ea typeface="Arial"/>
              <a:cs typeface="Arial"/>
              <a:sym typeface="Arial"/>
            </a:endParaRPr>
          </a:p>
        </p:txBody>
      </p:sp>
      <p:sp>
        <p:nvSpPr>
          <p:cNvPr id="2125" name="Google Shape;2125;h547f90b031e64a91_0_1235"/>
          <p:cNvSpPr txBox="1"/>
          <p:nvPr/>
        </p:nvSpPr>
        <p:spPr>
          <a:xfrm>
            <a:off x="804672" y="914400"/>
            <a:ext cx="10762500" cy="44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An LLM judge and human experts both rank RIGOR first.</a:t>
            </a:r>
            <a:endParaRPr b="0" i="0" sz="1400" u="none" cap="none" strike="noStrike">
              <a:solidFill>
                <a:srgbClr val="000000"/>
              </a:solidFill>
              <a:latin typeface="Arial"/>
              <a:ea typeface="Arial"/>
              <a:cs typeface="Arial"/>
              <a:sym typeface="Arial"/>
            </a:endParaRPr>
          </a:p>
        </p:txBody>
      </p:sp>
      <p:sp>
        <p:nvSpPr>
          <p:cNvPr id="2126" name="Google Shape;2126;h547f90b031e64a91_0_1235"/>
          <p:cNvSpPr txBox="1"/>
          <p:nvPr/>
        </p:nvSpPr>
        <p:spPr>
          <a:xfrm>
            <a:off x="822960" y="1645920"/>
            <a:ext cx="10680300" cy="329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600" u="none" cap="none" strike="noStrike">
                <a:solidFill>
                  <a:srgbClr val="3A434C"/>
                </a:solidFill>
                <a:latin typeface="Calibri"/>
                <a:ea typeface="Calibri"/>
                <a:cs typeface="Calibri"/>
                <a:sym typeface="Calibri"/>
              </a:rPr>
              <a:t>Blind evaluation: nobody knew which ontology came from which method.</a:t>
            </a:r>
            <a:endParaRPr/>
          </a:p>
        </p:txBody>
      </p:sp>
      <p:sp>
        <p:nvSpPr>
          <p:cNvPr id="2127" name="Google Shape;2127;h547f90b031e64a91_0_1235"/>
          <p:cNvSpPr/>
          <p:nvPr/>
        </p:nvSpPr>
        <p:spPr>
          <a:xfrm>
            <a:off x="804672" y="2103120"/>
            <a:ext cx="2042700" cy="310800"/>
          </a:xfrm>
          <a:prstGeom prst="rect">
            <a:avLst/>
          </a:prstGeom>
          <a:solidFill>
            <a:srgbClr val="E8F6E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0B6E4F"/>
                </a:solidFill>
                <a:latin typeface="Consolas"/>
                <a:ea typeface="Consolas"/>
                <a:cs typeface="Consolas"/>
                <a:sym typeface="Consolas"/>
              </a:rPr>
              <a:t>1  VALID, FEWER ERRORS</a:t>
            </a:r>
            <a:endParaRPr/>
          </a:p>
        </p:txBody>
      </p:sp>
      <p:sp>
        <p:nvSpPr>
          <p:cNvPr id="2128" name="Google Shape;2128;h547f90b031e64a91_0_1235"/>
          <p:cNvSpPr/>
          <p:nvPr/>
        </p:nvSpPr>
        <p:spPr>
          <a:xfrm>
            <a:off x="2938881" y="2103120"/>
            <a:ext cx="2042700" cy="310800"/>
          </a:xfrm>
          <a:prstGeom prst="rect">
            <a:avLst/>
          </a:prstGeom>
          <a:solidFill>
            <a:srgbClr val="E8F6E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0B6E4F"/>
                </a:solidFill>
                <a:latin typeface="Consolas"/>
                <a:ea typeface="Consolas"/>
                <a:cs typeface="Consolas"/>
                <a:sym typeface="Consolas"/>
              </a:rPr>
              <a:t>2  KEEPS THE SCHEMA</a:t>
            </a:r>
            <a:endParaRPr/>
          </a:p>
        </p:txBody>
      </p:sp>
      <p:sp>
        <p:nvSpPr>
          <p:cNvPr id="2129" name="Google Shape;2129;h547f90b031e64a91_0_1235"/>
          <p:cNvSpPr/>
          <p:nvPr/>
        </p:nvSpPr>
        <p:spPr>
          <a:xfrm>
            <a:off x="5073091" y="2103120"/>
            <a:ext cx="2042700" cy="310800"/>
          </a:xfrm>
          <a:prstGeom prst="rect">
            <a:avLst/>
          </a:prstGeom>
          <a:solidFill>
            <a:srgbClr val="E8F6E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0B6E4F"/>
                </a:solidFill>
                <a:latin typeface="Consolas"/>
                <a:ea typeface="Consolas"/>
                <a:cs typeface="Consolas"/>
                <a:sym typeface="Consolas"/>
              </a:rPr>
              <a:t>3  ADDS MEANING</a:t>
            </a:r>
            <a:endParaRPr/>
          </a:p>
        </p:txBody>
      </p:sp>
      <p:sp>
        <p:nvSpPr>
          <p:cNvPr id="2130" name="Google Shape;2130;h547f90b031e64a91_0_1235"/>
          <p:cNvSpPr/>
          <p:nvPr/>
        </p:nvSpPr>
        <p:spPr>
          <a:xfrm>
            <a:off x="7207300" y="2103120"/>
            <a:ext cx="2042700" cy="310800"/>
          </a:xfrm>
          <a:prstGeom prst="rect">
            <a:avLst/>
          </a:prstGeom>
          <a:solidFill>
            <a:srgbClr val="E8F6E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0B6E4F"/>
                </a:solidFill>
                <a:latin typeface="Consolas"/>
                <a:ea typeface="Consolas"/>
                <a:cs typeface="Consolas"/>
                <a:sym typeface="Consolas"/>
              </a:rPr>
              <a:t>4  GOLD MAPPINGS</a:t>
            </a:r>
            <a:endParaRPr/>
          </a:p>
        </p:txBody>
      </p:sp>
      <p:sp>
        <p:nvSpPr>
          <p:cNvPr id="2131" name="Google Shape;2131;h547f90b031e64a91_0_1235"/>
          <p:cNvSpPr/>
          <p:nvPr/>
        </p:nvSpPr>
        <p:spPr>
          <a:xfrm>
            <a:off x="9341510" y="2103120"/>
            <a:ext cx="2042700" cy="310800"/>
          </a:xfrm>
          <a:prstGeom prst="rect">
            <a:avLst/>
          </a:prstGeom>
          <a:solidFill>
            <a:srgbClr val="0B6E4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FFFFFF"/>
                </a:solidFill>
                <a:latin typeface="Consolas"/>
                <a:ea typeface="Consolas"/>
                <a:cs typeface="Consolas"/>
                <a:sym typeface="Consolas"/>
              </a:rPr>
              <a:t>5  JUDGES</a:t>
            </a:r>
            <a:endParaRPr/>
          </a:p>
        </p:txBody>
      </p:sp>
      <p:sp>
        <p:nvSpPr>
          <p:cNvPr id="2132" name="Google Shape;2132;h547f90b031e64a91_0_1235"/>
          <p:cNvSpPr/>
          <p:nvPr/>
        </p:nvSpPr>
        <p:spPr>
          <a:xfrm>
            <a:off x="804672" y="2606040"/>
            <a:ext cx="10579500" cy="658500"/>
          </a:xfrm>
          <a:prstGeom prst="roundRect">
            <a:avLst>
              <a:gd fmla="val 12000" name="adj"/>
            </a:avLst>
          </a:prstGeom>
          <a:solidFill>
            <a:srgbClr val="FFFFFF"/>
          </a:solidFill>
          <a:ln cap="flat" cmpd="sng" w="9525">
            <a:solidFill>
              <a:srgbClr val="D9DEDB"/>
            </a:solidFill>
            <a:prstDash val="solid"/>
            <a:round/>
            <a:headEnd len="sm" w="sm" type="none"/>
            <a:tailEnd len="sm" w="sm" type="none"/>
          </a:ln>
        </p:spPr>
        <p:txBody>
          <a:bodyPr anchorCtr="0" anchor="ctr" bIns="0" lIns="201150" spcFirstLastPara="1" rIns="201150" wrap="square" tIns="0">
            <a:noAutofit/>
          </a:bodyPr>
          <a:lstStyle/>
          <a:p>
            <a:pPr indent="0" lvl="0" marL="0" marR="0" rtl="0" algn="l">
              <a:lnSpc>
                <a:spcPct val="100000"/>
              </a:lnSpc>
              <a:spcBef>
                <a:spcPts val="0"/>
              </a:spcBef>
              <a:spcAft>
                <a:spcPts val="0"/>
              </a:spcAft>
              <a:buNone/>
            </a:pPr>
            <a:r>
              <a:rPr b="1" i="0" lang="en-US" u="none" cap="none" strike="noStrike">
                <a:solidFill>
                  <a:srgbClr val="2F6B78"/>
                </a:solidFill>
                <a:latin typeface="Consolas"/>
                <a:ea typeface="Consolas"/>
                <a:cs typeface="Consolas"/>
                <a:sym typeface="Consolas"/>
              </a:rPr>
              <a:t>HOW THEY JUDGED   </a:t>
            </a:r>
            <a:r>
              <a:rPr b="0" i="0" lang="en-US" u="none" cap="none" strike="noStrike">
                <a:solidFill>
                  <a:srgbClr val="3A434C"/>
                </a:solidFill>
                <a:latin typeface="Calibri"/>
                <a:ea typeface="Calibri"/>
                <a:cs typeface="Calibri"/>
                <a:sym typeface="Calibri"/>
              </a:rPr>
              <a:t>For each table: its </a:t>
            </a:r>
            <a:r>
              <a:rPr b="1" i="0" lang="en-US" u="none" cap="none" strike="noStrike">
                <a:solidFill>
                  <a:srgbClr val="3A434C"/>
                </a:solidFill>
                <a:latin typeface="Calibri"/>
                <a:ea typeface="Calibri"/>
                <a:cs typeface="Calibri"/>
                <a:sym typeface="Calibri"/>
              </a:rPr>
              <a:t>schema</a:t>
            </a:r>
            <a:r>
              <a:rPr b="0" i="0" lang="en-US" u="none" cap="none" strike="noStrike">
                <a:solidFill>
                  <a:srgbClr val="3A434C"/>
                </a:solidFill>
                <a:latin typeface="Calibri"/>
                <a:ea typeface="Calibri"/>
                <a:cs typeface="Calibri"/>
                <a:sym typeface="Calibri"/>
              </a:rPr>
              <a:t>,  </a:t>
            </a:r>
            <a:r>
              <a:rPr b="1" i="0" lang="en-US" u="none" cap="none" strike="noStrike">
                <a:solidFill>
                  <a:srgbClr val="3A434C"/>
                </a:solidFill>
                <a:latin typeface="Calibri"/>
                <a:ea typeface="Calibri"/>
                <a:cs typeface="Calibri"/>
                <a:sym typeface="Calibri"/>
              </a:rPr>
              <a:t>5 competency questions</a:t>
            </a:r>
            <a:r>
              <a:rPr b="0" i="0" lang="en-US" u="none" cap="none" strike="noStrike">
                <a:solidFill>
                  <a:srgbClr val="3A434C"/>
                </a:solidFill>
                <a:latin typeface="Calibri"/>
                <a:ea typeface="Calibri"/>
                <a:cs typeface="Calibri"/>
                <a:sym typeface="Calibri"/>
              </a:rPr>
              <a:t> and </a:t>
            </a:r>
            <a:r>
              <a:rPr b="1" i="0" lang="en-US" u="none" cap="none" strike="noStrike">
                <a:solidFill>
                  <a:srgbClr val="3A434C"/>
                </a:solidFill>
                <a:latin typeface="Calibri"/>
                <a:ea typeface="Calibri"/>
                <a:cs typeface="Calibri"/>
                <a:sym typeface="Calibri"/>
              </a:rPr>
              <a:t>four anonymized ontologies</a:t>
            </a:r>
            <a:r>
              <a:rPr b="0" i="0" lang="en-US" u="none" cap="none" strike="noStrike">
                <a:solidFill>
                  <a:srgbClr val="3A434C"/>
                </a:solidFill>
                <a:latin typeface="Calibri"/>
                <a:ea typeface="Calibri"/>
                <a:cs typeface="Calibri"/>
                <a:sym typeface="Calibri"/>
              </a:rPr>
              <a:t>. Each </a:t>
            </a:r>
            <a:r>
              <a:rPr b="1" i="0" lang="en-US" u="none" cap="none" strike="noStrike">
                <a:solidFill>
                  <a:srgbClr val="3A434C"/>
                </a:solidFill>
                <a:latin typeface="Calibri"/>
                <a:ea typeface="Calibri"/>
                <a:cs typeface="Calibri"/>
                <a:sym typeface="Calibri"/>
              </a:rPr>
              <a:t>scored 0–5</a:t>
            </a:r>
            <a:r>
              <a:rPr b="0" i="0" lang="en-US" u="none" cap="none" strike="noStrike">
                <a:solidFill>
                  <a:srgbClr val="3A434C"/>
                </a:solidFill>
                <a:latin typeface="Calibri"/>
                <a:ea typeface="Calibri"/>
                <a:cs typeface="Calibri"/>
                <a:sym typeface="Calibri"/>
              </a:rPr>
              <a:t> on </a:t>
            </a:r>
            <a:r>
              <a:rPr b="1" i="1" lang="en-US" u="none" cap="none" strike="noStrike">
                <a:solidFill>
                  <a:srgbClr val="3A434C"/>
                </a:solidFill>
                <a:latin typeface="Calibri"/>
                <a:ea typeface="Calibri"/>
                <a:cs typeface="Calibri"/>
                <a:sym typeface="Calibri"/>
              </a:rPr>
              <a:t>accuracy</a:t>
            </a:r>
            <a:r>
              <a:rPr b="0" i="0" lang="en-US" u="none" cap="none" strike="noStrike">
                <a:solidFill>
                  <a:srgbClr val="3A434C"/>
                </a:solidFill>
                <a:latin typeface="Calibri"/>
                <a:ea typeface="Calibri"/>
                <a:cs typeface="Calibri"/>
                <a:sym typeface="Calibri"/>
              </a:rPr>
              <a:t>, </a:t>
            </a:r>
            <a:r>
              <a:rPr b="1" i="1" lang="en-US" u="none" cap="none" strike="noStrike">
                <a:solidFill>
                  <a:srgbClr val="3A434C"/>
                </a:solidFill>
                <a:latin typeface="Calibri"/>
                <a:ea typeface="Calibri"/>
                <a:cs typeface="Calibri"/>
                <a:sym typeface="Calibri"/>
              </a:rPr>
              <a:t>completeness</a:t>
            </a:r>
            <a:r>
              <a:rPr b="0" i="0" lang="en-US" u="none" cap="none" strike="noStrike">
                <a:solidFill>
                  <a:srgbClr val="3A434C"/>
                </a:solidFill>
                <a:latin typeface="Calibri"/>
                <a:ea typeface="Calibri"/>
                <a:cs typeface="Calibri"/>
                <a:sym typeface="Calibri"/>
              </a:rPr>
              <a:t>, </a:t>
            </a:r>
            <a:r>
              <a:rPr b="1" i="1" lang="en-US" u="none" cap="none" strike="noStrike">
                <a:solidFill>
                  <a:srgbClr val="3A434C"/>
                </a:solidFill>
                <a:latin typeface="Calibri"/>
                <a:ea typeface="Calibri"/>
                <a:cs typeface="Calibri"/>
                <a:sym typeface="Calibri"/>
              </a:rPr>
              <a:t>conciseness</a:t>
            </a:r>
            <a:r>
              <a:rPr b="0" i="0" lang="en-US" u="none" cap="none" strike="noStrike">
                <a:solidFill>
                  <a:srgbClr val="3A434C"/>
                </a:solidFill>
                <a:latin typeface="Calibri"/>
                <a:ea typeface="Calibri"/>
                <a:cs typeface="Calibri"/>
                <a:sym typeface="Calibri"/>
              </a:rPr>
              <a:t>, </a:t>
            </a:r>
            <a:r>
              <a:rPr b="1" i="1" lang="en-US" u="none" cap="none" strike="noStrike">
                <a:solidFill>
                  <a:srgbClr val="3A434C"/>
                </a:solidFill>
                <a:latin typeface="Calibri"/>
                <a:ea typeface="Calibri"/>
                <a:cs typeface="Calibri"/>
                <a:sym typeface="Calibri"/>
              </a:rPr>
              <a:t>adaptability</a:t>
            </a:r>
            <a:r>
              <a:rPr b="0" i="0" lang="en-US" u="none" cap="none" strike="noStrike">
                <a:solidFill>
                  <a:srgbClr val="3A434C"/>
                </a:solidFill>
                <a:latin typeface="Calibri"/>
                <a:ea typeface="Calibri"/>
                <a:cs typeface="Calibri"/>
                <a:sym typeface="Calibri"/>
              </a:rPr>
              <a:t>, </a:t>
            </a:r>
            <a:r>
              <a:rPr b="1" i="1" lang="en-US" u="none" cap="none" strike="noStrike">
                <a:solidFill>
                  <a:srgbClr val="3A434C"/>
                </a:solidFill>
                <a:latin typeface="Calibri"/>
                <a:ea typeface="Calibri"/>
                <a:cs typeface="Calibri"/>
                <a:sym typeface="Calibri"/>
              </a:rPr>
              <a:t>clarity</a:t>
            </a:r>
            <a:r>
              <a:rPr b="0" i="0" lang="en-US" u="none" cap="none" strike="noStrike">
                <a:solidFill>
                  <a:srgbClr val="3A434C"/>
                </a:solidFill>
                <a:latin typeface="Calibri"/>
                <a:ea typeface="Calibri"/>
                <a:cs typeface="Calibri"/>
                <a:sym typeface="Calibri"/>
              </a:rPr>
              <a:t>, </a:t>
            </a:r>
            <a:r>
              <a:rPr b="1" i="1" lang="en-US" u="none" cap="none" strike="noStrike">
                <a:solidFill>
                  <a:srgbClr val="3A434C"/>
                </a:solidFill>
                <a:latin typeface="Calibri"/>
                <a:ea typeface="Calibri"/>
                <a:cs typeface="Calibri"/>
                <a:sym typeface="Calibri"/>
              </a:rPr>
              <a:t>consistency</a:t>
            </a:r>
            <a:r>
              <a:rPr b="0" i="0" lang="en-US" u="none" cap="none" strike="noStrike">
                <a:solidFill>
                  <a:srgbClr val="3A434C"/>
                </a:solidFill>
                <a:latin typeface="Calibri"/>
                <a:ea typeface="Calibri"/>
                <a:cs typeface="Calibri"/>
                <a:sym typeface="Calibri"/>
              </a:rPr>
              <a:t> and </a:t>
            </a:r>
            <a:r>
              <a:rPr b="1" i="1" lang="en-US" u="none" cap="none" strike="noStrike">
                <a:solidFill>
                  <a:srgbClr val="3A434C"/>
                </a:solidFill>
                <a:latin typeface="Calibri"/>
                <a:ea typeface="Calibri"/>
                <a:cs typeface="Calibri"/>
                <a:sym typeface="Calibri"/>
              </a:rPr>
              <a:t>domain enrichment</a:t>
            </a:r>
            <a:r>
              <a:rPr b="0" i="0" lang="en-US" u="none" cap="none" strike="noStrike">
                <a:solidFill>
                  <a:srgbClr val="3A434C"/>
                </a:solidFill>
                <a:latin typeface="Calibri"/>
                <a:ea typeface="Calibri"/>
                <a:cs typeface="Calibri"/>
                <a:sym typeface="Calibri"/>
              </a:rPr>
              <a:t>, then ranked </a:t>
            </a:r>
            <a:r>
              <a:rPr b="1" i="0" lang="en-US" u="none" cap="none" strike="noStrike">
                <a:solidFill>
                  <a:srgbClr val="3A434C"/>
                </a:solidFill>
                <a:latin typeface="Calibri"/>
                <a:ea typeface="Calibri"/>
                <a:cs typeface="Calibri"/>
                <a:sym typeface="Calibri"/>
              </a:rPr>
              <a:t>1st–4th</a:t>
            </a:r>
            <a:r>
              <a:rPr b="0" i="0" lang="en-US" u="none" cap="none" strike="noStrike">
                <a:solidFill>
                  <a:srgbClr val="3A434C"/>
                </a:solidFill>
                <a:latin typeface="Calibri"/>
                <a:ea typeface="Calibri"/>
                <a:cs typeface="Calibri"/>
                <a:sym typeface="Calibri"/>
              </a:rPr>
              <a:t>.</a:t>
            </a:r>
            <a:endParaRPr/>
          </a:p>
        </p:txBody>
      </p:sp>
      <p:sp>
        <p:nvSpPr>
          <p:cNvPr id="2133" name="Google Shape;2133;h547f90b031e64a91_0_1235"/>
          <p:cNvSpPr/>
          <p:nvPr/>
        </p:nvSpPr>
        <p:spPr>
          <a:xfrm>
            <a:off x="1265694" y="3525525"/>
            <a:ext cx="4720500" cy="2628000"/>
          </a:xfrm>
          <a:prstGeom prst="roundRect">
            <a:avLst>
              <a:gd fmla="val 12000" name="adj"/>
            </a:avLst>
          </a:prstGeom>
          <a:solidFill>
            <a:srgbClr val="F3F5F4"/>
          </a:solidFill>
          <a:ln cap="flat" cmpd="sng" w="9900">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54" u="none" cap="none" strike="noStrike">
              <a:solidFill>
                <a:srgbClr val="000000"/>
              </a:solidFill>
              <a:latin typeface="Arial"/>
              <a:ea typeface="Arial"/>
              <a:cs typeface="Arial"/>
              <a:sym typeface="Arial"/>
            </a:endParaRPr>
          </a:p>
        </p:txBody>
      </p:sp>
      <p:sp>
        <p:nvSpPr>
          <p:cNvPr id="2134" name="Google Shape;2134;h547f90b031e64a91_0_1235"/>
          <p:cNvSpPr txBox="1"/>
          <p:nvPr/>
        </p:nvSpPr>
        <p:spPr>
          <a:xfrm>
            <a:off x="1550583" y="3715451"/>
            <a:ext cx="5412900" cy="284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558" u="none" cap="none" strike="noStrike">
                <a:solidFill>
                  <a:srgbClr val="2F6B78"/>
                </a:solidFill>
                <a:latin typeface="Consolas"/>
                <a:ea typeface="Consolas"/>
                <a:cs typeface="Consolas"/>
                <a:sym typeface="Consolas"/>
              </a:rPr>
              <a:t>LLM-AS-A-JUDGE  ·  GPT-5.4</a:t>
            </a:r>
            <a:endParaRPr sz="1662"/>
          </a:p>
        </p:txBody>
      </p:sp>
      <p:sp>
        <p:nvSpPr>
          <p:cNvPr id="2135" name="Google Shape;2135;h547f90b031e64a91_0_1235"/>
          <p:cNvSpPr txBox="1"/>
          <p:nvPr/>
        </p:nvSpPr>
        <p:spPr>
          <a:xfrm>
            <a:off x="1550583" y="3981347"/>
            <a:ext cx="5412900" cy="37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2077">
                <a:solidFill>
                  <a:srgbClr val="0B6E4F"/>
                </a:solidFill>
                <a:latin typeface="Calibri"/>
                <a:ea typeface="Calibri"/>
                <a:cs typeface="Calibri"/>
                <a:sym typeface="Calibri"/>
              </a:rPr>
              <a:t>100% of rankings put RIGOR 1st</a:t>
            </a:r>
            <a:endParaRPr b="1" sz="2077">
              <a:solidFill>
                <a:srgbClr val="0B6E4F"/>
              </a:solidFill>
              <a:latin typeface="Calibri"/>
              <a:ea typeface="Calibri"/>
              <a:cs typeface="Calibri"/>
              <a:sym typeface="Calibri"/>
            </a:endParaRPr>
          </a:p>
        </p:txBody>
      </p:sp>
      <p:sp>
        <p:nvSpPr>
          <p:cNvPr id="2136" name="Google Shape;2136;h547f90b031e64a91_0_1235"/>
          <p:cNvSpPr txBox="1"/>
          <p:nvPr/>
        </p:nvSpPr>
        <p:spPr>
          <a:xfrm>
            <a:off x="3069992" y="4456162"/>
            <a:ext cx="1291500" cy="22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350" u="none" cap="none" strike="noStrike">
                <a:solidFill>
                  <a:srgbClr val="1F2328"/>
                </a:solidFill>
                <a:latin typeface="Calibri"/>
                <a:ea typeface="Calibri"/>
                <a:cs typeface="Calibri"/>
                <a:sym typeface="Calibri"/>
              </a:rPr>
              <a:t>Liver Cancer</a:t>
            </a:r>
            <a:endParaRPr sz="1662"/>
          </a:p>
        </p:txBody>
      </p:sp>
      <p:sp>
        <p:nvSpPr>
          <p:cNvPr id="2137" name="Google Shape;2137;h547f90b031e64a91_0_1235"/>
          <p:cNvSpPr txBox="1"/>
          <p:nvPr/>
        </p:nvSpPr>
        <p:spPr>
          <a:xfrm>
            <a:off x="4361488" y="4456162"/>
            <a:ext cx="1291500" cy="22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350" u="none" cap="none" strike="noStrike">
                <a:solidFill>
                  <a:srgbClr val="1F2328"/>
                </a:solidFill>
                <a:latin typeface="Calibri"/>
                <a:ea typeface="Calibri"/>
                <a:cs typeface="Calibri"/>
                <a:sym typeface="Calibri"/>
              </a:rPr>
              <a:t>eICU-CRD</a:t>
            </a:r>
            <a:endParaRPr sz="1662"/>
          </a:p>
        </p:txBody>
      </p:sp>
      <p:sp>
        <p:nvSpPr>
          <p:cNvPr id="2138" name="Google Shape;2138;h547f90b031e64a91_0_1235"/>
          <p:cNvSpPr txBox="1"/>
          <p:nvPr/>
        </p:nvSpPr>
        <p:spPr>
          <a:xfrm>
            <a:off x="1503100" y="4722058"/>
            <a:ext cx="1566900" cy="30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454" u="none" cap="none" strike="noStrike">
                <a:solidFill>
                  <a:srgbClr val="1F2328"/>
                </a:solidFill>
                <a:latin typeface="Calibri"/>
                <a:ea typeface="Calibri"/>
                <a:cs typeface="Calibri"/>
                <a:sym typeface="Calibri"/>
              </a:rPr>
              <a:t>Direct Mapping</a:t>
            </a:r>
            <a:endParaRPr sz="1662"/>
          </a:p>
        </p:txBody>
      </p:sp>
      <p:sp>
        <p:nvSpPr>
          <p:cNvPr id="2139" name="Google Shape;2139;h547f90b031e64a91_0_1235"/>
          <p:cNvSpPr/>
          <p:nvPr/>
        </p:nvSpPr>
        <p:spPr>
          <a:xfrm>
            <a:off x="3088984" y="4741050"/>
            <a:ext cx="1253400" cy="2658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350" u="none" cap="none" strike="noStrike">
                <a:solidFill>
                  <a:srgbClr val="1F2328"/>
                </a:solidFill>
                <a:latin typeface="Calibri"/>
                <a:ea typeface="Calibri"/>
                <a:cs typeface="Calibri"/>
                <a:sym typeface="Calibri"/>
              </a:rPr>
              <a:t>2.05</a:t>
            </a:r>
            <a:endParaRPr sz="1662"/>
          </a:p>
        </p:txBody>
      </p:sp>
      <p:sp>
        <p:nvSpPr>
          <p:cNvPr id="2140" name="Google Shape;2140;h547f90b031e64a91_0_1235"/>
          <p:cNvSpPr/>
          <p:nvPr/>
        </p:nvSpPr>
        <p:spPr>
          <a:xfrm>
            <a:off x="4380481" y="4741050"/>
            <a:ext cx="1253400" cy="2658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350" u="none" cap="none" strike="noStrike">
                <a:solidFill>
                  <a:srgbClr val="1F2328"/>
                </a:solidFill>
                <a:latin typeface="Calibri"/>
                <a:ea typeface="Calibri"/>
                <a:cs typeface="Calibri"/>
                <a:sym typeface="Calibri"/>
              </a:rPr>
              <a:t>2.13</a:t>
            </a:r>
            <a:endParaRPr sz="1662"/>
          </a:p>
        </p:txBody>
      </p:sp>
      <p:sp>
        <p:nvSpPr>
          <p:cNvPr id="2141" name="Google Shape;2141;h547f90b031e64a91_0_1235"/>
          <p:cNvSpPr txBox="1"/>
          <p:nvPr/>
        </p:nvSpPr>
        <p:spPr>
          <a:xfrm>
            <a:off x="1503100" y="5025939"/>
            <a:ext cx="1566900" cy="30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454" u="none" cap="none" strike="noStrike">
                <a:solidFill>
                  <a:srgbClr val="1F2328"/>
                </a:solidFill>
                <a:latin typeface="Calibri"/>
                <a:ea typeface="Calibri"/>
                <a:cs typeface="Calibri"/>
                <a:sym typeface="Calibri"/>
              </a:rPr>
              <a:t>LLM baseline</a:t>
            </a:r>
            <a:endParaRPr sz="1662"/>
          </a:p>
        </p:txBody>
      </p:sp>
      <p:sp>
        <p:nvSpPr>
          <p:cNvPr id="2142" name="Google Shape;2142;h547f90b031e64a91_0_1235"/>
          <p:cNvSpPr/>
          <p:nvPr/>
        </p:nvSpPr>
        <p:spPr>
          <a:xfrm>
            <a:off x="3088984" y="5044932"/>
            <a:ext cx="1253400" cy="2658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350" u="none" cap="none" strike="noStrike">
                <a:solidFill>
                  <a:srgbClr val="1F2328"/>
                </a:solidFill>
                <a:latin typeface="Calibri"/>
                <a:ea typeface="Calibri"/>
                <a:cs typeface="Calibri"/>
                <a:sym typeface="Calibri"/>
              </a:rPr>
              <a:t>1.38</a:t>
            </a:r>
            <a:endParaRPr sz="1662"/>
          </a:p>
        </p:txBody>
      </p:sp>
      <p:sp>
        <p:nvSpPr>
          <p:cNvPr id="2143" name="Google Shape;2143;h547f90b031e64a91_0_1235"/>
          <p:cNvSpPr/>
          <p:nvPr/>
        </p:nvSpPr>
        <p:spPr>
          <a:xfrm>
            <a:off x="4380481" y="5044932"/>
            <a:ext cx="1253400" cy="2658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350" u="none" cap="none" strike="noStrike">
                <a:solidFill>
                  <a:srgbClr val="1F2328"/>
                </a:solidFill>
                <a:latin typeface="Calibri"/>
                <a:ea typeface="Calibri"/>
                <a:cs typeface="Calibri"/>
                <a:sym typeface="Calibri"/>
              </a:rPr>
              <a:t>0.28</a:t>
            </a:r>
            <a:endParaRPr sz="1662"/>
          </a:p>
        </p:txBody>
      </p:sp>
      <p:sp>
        <p:nvSpPr>
          <p:cNvPr id="2144" name="Google Shape;2144;h547f90b031e64a91_0_1235"/>
          <p:cNvSpPr txBox="1"/>
          <p:nvPr/>
        </p:nvSpPr>
        <p:spPr>
          <a:xfrm>
            <a:off x="1503100" y="5329821"/>
            <a:ext cx="1566900" cy="30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454" u="none" cap="none" strike="noStrike">
                <a:solidFill>
                  <a:srgbClr val="1F2328"/>
                </a:solidFill>
                <a:latin typeface="Calibri"/>
                <a:ea typeface="Calibri"/>
                <a:cs typeface="Calibri"/>
                <a:sym typeface="Calibri"/>
              </a:rPr>
              <a:t>Non-Iterative RAG</a:t>
            </a:r>
            <a:endParaRPr sz="1662"/>
          </a:p>
        </p:txBody>
      </p:sp>
      <p:sp>
        <p:nvSpPr>
          <p:cNvPr id="2145" name="Google Shape;2145;h547f90b031e64a91_0_1235"/>
          <p:cNvSpPr/>
          <p:nvPr/>
        </p:nvSpPr>
        <p:spPr>
          <a:xfrm>
            <a:off x="3088984" y="5348813"/>
            <a:ext cx="1253400" cy="2658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350" u="none" cap="none" strike="noStrike">
                <a:solidFill>
                  <a:srgbClr val="1F2328"/>
                </a:solidFill>
                <a:latin typeface="Calibri"/>
                <a:ea typeface="Calibri"/>
                <a:cs typeface="Calibri"/>
                <a:sym typeface="Calibri"/>
              </a:rPr>
              <a:t>1.89</a:t>
            </a:r>
            <a:endParaRPr sz="1662"/>
          </a:p>
        </p:txBody>
      </p:sp>
      <p:sp>
        <p:nvSpPr>
          <p:cNvPr id="2146" name="Google Shape;2146;h547f90b031e64a91_0_1235"/>
          <p:cNvSpPr/>
          <p:nvPr/>
        </p:nvSpPr>
        <p:spPr>
          <a:xfrm>
            <a:off x="4380481" y="5348813"/>
            <a:ext cx="1253400" cy="2658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350" u="none" cap="none" strike="noStrike">
                <a:solidFill>
                  <a:srgbClr val="1F2328"/>
                </a:solidFill>
                <a:latin typeface="Calibri"/>
                <a:ea typeface="Calibri"/>
                <a:cs typeface="Calibri"/>
                <a:sym typeface="Calibri"/>
              </a:rPr>
              <a:t>0.67</a:t>
            </a:r>
            <a:endParaRPr sz="1662"/>
          </a:p>
        </p:txBody>
      </p:sp>
      <p:sp>
        <p:nvSpPr>
          <p:cNvPr id="2147" name="Google Shape;2147;h547f90b031e64a91_0_1235"/>
          <p:cNvSpPr txBox="1"/>
          <p:nvPr/>
        </p:nvSpPr>
        <p:spPr>
          <a:xfrm>
            <a:off x="1503100" y="5633702"/>
            <a:ext cx="1566900" cy="30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454" u="none" cap="none" strike="noStrike">
                <a:solidFill>
                  <a:srgbClr val="0B6E4F"/>
                </a:solidFill>
                <a:latin typeface="Calibri"/>
                <a:ea typeface="Calibri"/>
                <a:cs typeface="Calibri"/>
                <a:sym typeface="Calibri"/>
              </a:rPr>
              <a:t>RIGOR</a:t>
            </a:r>
            <a:endParaRPr sz="1662"/>
          </a:p>
        </p:txBody>
      </p:sp>
      <p:sp>
        <p:nvSpPr>
          <p:cNvPr id="2148" name="Google Shape;2148;h547f90b031e64a91_0_1235"/>
          <p:cNvSpPr/>
          <p:nvPr/>
        </p:nvSpPr>
        <p:spPr>
          <a:xfrm>
            <a:off x="3088984" y="5652694"/>
            <a:ext cx="1253400" cy="2658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350" u="none" cap="none" strike="noStrike">
                <a:solidFill>
                  <a:srgbClr val="1F2328"/>
                </a:solidFill>
                <a:latin typeface="Calibri"/>
                <a:ea typeface="Calibri"/>
                <a:cs typeface="Calibri"/>
                <a:sym typeface="Calibri"/>
              </a:rPr>
              <a:t>3.93</a:t>
            </a:r>
            <a:endParaRPr sz="1662"/>
          </a:p>
        </p:txBody>
      </p:sp>
      <p:sp>
        <p:nvSpPr>
          <p:cNvPr id="2149" name="Google Shape;2149;h547f90b031e64a91_0_1235"/>
          <p:cNvSpPr/>
          <p:nvPr/>
        </p:nvSpPr>
        <p:spPr>
          <a:xfrm>
            <a:off x="4380481" y="5652694"/>
            <a:ext cx="1253400" cy="2658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350" u="none" cap="none" strike="noStrike">
                <a:solidFill>
                  <a:srgbClr val="1F2328"/>
                </a:solidFill>
                <a:latin typeface="Calibri"/>
                <a:ea typeface="Calibri"/>
                <a:cs typeface="Calibri"/>
                <a:sym typeface="Calibri"/>
              </a:rPr>
              <a:t>3.64</a:t>
            </a:r>
            <a:endParaRPr sz="1662"/>
          </a:p>
        </p:txBody>
      </p:sp>
      <p:sp>
        <p:nvSpPr>
          <p:cNvPr id="2150" name="Google Shape;2150;h547f90b031e64a91_0_1235"/>
          <p:cNvSpPr/>
          <p:nvPr/>
        </p:nvSpPr>
        <p:spPr>
          <a:xfrm>
            <a:off x="6381200" y="3525525"/>
            <a:ext cx="4862100" cy="2628000"/>
          </a:xfrm>
          <a:prstGeom prst="roundRect">
            <a:avLst>
              <a:gd fmla="val 12000" name="adj"/>
            </a:avLst>
          </a:prstGeom>
          <a:solidFill>
            <a:srgbClr val="F3F5F4"/>
          </a:solidFill>
          <a:ln cap="flat" cmpd="sng" w="9900">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54" u="none" cap="none" strike="noStrike">
              <a:solidFill>
                <a:srgbClr val="000000"/>
              </a:solidFill>
              <a:latin typeface="Arial"/>
              <a:ea typeface="Arial"/>
              <a:cs typeface="Arial"/>
              <a:sym typeface="Arial"/>
            </a:endParaRPr>
          </a:p>
        </p:txBody>
      </p:sp>
      <p:sp>
        <p:nvSpPr>
          <p:cNvPr id="2151" name="Google Shape;2151;h547f90b031e64a91_0_1235"/>
          <p:cNvSpPr txBox="1"/>
          <p:nvPr/>
        </p:nvSpPr>
        <p:spPr>
          <a:xfrm>
            <a:off x="6666084" y="3715451"/>
            <a:ext cx="4292400" cy="284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558" u="none" cap="none" strike="noStrike">
                <a:solidFill>
                  <a:srgbClr val="2F6B78"/>
                </a:solidFill>
                <a:latin typeface="Consolas"/>
                <a:ea typeface="Consolas"/>
                <a:cs typeface="Consolas"/>
                <a:sym typeface="Consolas"/>
              </a:rPr>
              <a:t>10 ONTOLOGY EXPERTS</a:t>
            </a:r>
            <a:endParaRPr sz="1662"/>
          </a:p>
        </p:txBody>
      </p:sp>
      <p:sp>
        <p:nvSpPr>
          <p:cNvPr id="2152" name="Google Shape;2152;h547f90b031e64a91_0_1235"/>
          <p:cNvSpPr txBox="1"/>
          <p:nvPr/>
        </p:nvSpPr>
        <p:spPr>
          <a:xfrm>
            <a:off x="6666084" y="3981347"/>
            <a:ext cx="4292400" cy="37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2077">
                <a:solidFill>
                  <a:srgbClr val="0B6E4F"/>
                </a:solidFill>
                <a:latin typeface="Calibri"/>
                <a:ea typeface="Calibri"/>
                <a:cs typeface="Calibri"/>
                <a:sym typeface="Calibri"/>
              </a:rPr>
              <a:t>70% of rankings put RIGOR 1st</a:t>
            </a:r>
            <a:endParaRPr b="1" sz="2077">
              <a:solidFill>
                <a:srgbClr val="0B6E4F"/>
              </a:solidFill>
              <a:latin typeface="Calibri"/>
              <a:ea typeface="Calibri"/>
              <a:cs typeface="Calibri"/>
              <a:sym typeface="Calibri"/>
            </a:endParaRPr>
          </a:p>
        </p:txBody>
      </p:sp>
      <p:sp>
        <p:nvSpPr>
          <p:cNvPr id="2153" name="Google Shape;2153;h547f90b031e64a91_0_1235"/>
          <p:cNvSpPr txBox="1"/>
          <p:nvPr/>
        </p:nvSpPr>
        <p:spPr>
          <a:xfrm>
            <a:off x="8185493" y="4456162"/>
            <a:ext cx="1405500" cy="22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350" u="none" cap="none" strike="noStrike">
                <a:solidFill>
                  <a:srgbClr val="1F2328"/>
                </a:solidFill>
                <a:latin typeface="Calibri"/>
                <a:ea typeface="Calibri"/>
                <a:cs typeface="Calibri"/>
                <a:sym typeface="Calibri"/>
              </a:rPr>
              <a:t>Liver Cancer</a:t>
            </a:r>
            <a:endParaRPr sz="1662"/>
          </a:p>
        </p:txBody>
      </p:sp>
      <p:sp>
        <p:nvSpPr>
          <p:cNvPr id="2154" name="Google Shape;2154;h547f90b031e64a91_0_1235"/>
          <p:cNvSpPr txBox="1"/>
          <p:nvPr/>
        </p:nvSpPr>
        <p:spPr>
          <a:xfrm>
            <a:off x="9590946" y="4456162"/>
            <a:ext cx="1405500" cy="22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350" u="none" cap="none" strike="noStrike">
                <a:solidFill>
                  <a:srgbClr val="1F2328"/>
                </a:solidFill>
                <a:latin typeface="Calibri"/>
                <a:ea typeface="Calibri"/>
                <a:cs typeface="Calibri"/>
                <a:sym typeface="Calibri"/>
              </a:rPr>
              <a:t>eICU-CRD</a:t>
            </a:r>
            <a:endParaRPr sz="1662"/>
          </a:p>
        </p:txBody>
      </p:sp>
      <p:sp>
        <p:nvSpPr>
          <p:cNvPr id="2155" name="Google Shape;2155;h547f90b031e64a91_0_1235"/>
          <p:cNvSpPr txBox="1"/>
          <p:nvPr/>
        </p:nvSpPr>
        <p:spPr>
          <a:xfrm>
            <a:off x="6618603" y="4722058"/>
            <a:ext cx="1566900" cy="30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454" u="none" cap="none" strike="noStrike">
                <a:solidFill>
                  <a:srgbClr val="1F2328"/>
                </a:solidFill>
                <a:latin typeface="Calibri"/>
                <a:ea typeface="Calibri"/>
                <a:cs typeface="Calibri"/>
                <a:sym typeface="Calibri"/>
              </a:rPr>
              <a:t>Direct Mapping</a:t>
            </a:r>
            <a:endParaRPr sz="1662"/>
          </a:p>
        </p:txBody>
      </p:sp>
      <p:sp>
        <p:nvSpPr>
          <p:cNvPr id="2156" name="Google Shape;2156;h547f90b031e64a91_0_1235"/>
          <p:cNvSpPr/>
          <p:nvPr/>
        </p:nvSpPr>
        <p:spPr>
          <a:xfrm>
            <a:off x="8204486" y="4741050"/>
            <a:ext cx="1367400" cy="2658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350" u="none" cap="none" strike="noStrike">
                <a:solidFill>
                  <a:srgbClr val="1F2328"/>
                </a:solidFill>
                <a:latin typeface="Calibri"/>
                <a:ea typeface="Calibri"/>
                <a:cs typeface="Calibri"/>
                <a:sym typeface="Calibri"/>
              </a:rPr>
              <a:t>2.95</a:t>
            </a:r>
            <a:endParaRPr sz="1662"/>
          </a:p>
        </p:txBody>
      </p:sp>
      <p:sp>
        <p:nvSpPr>
          <p:cNvPr id="2157" name="Google Shape;2157;h547f90b031e64a91_0_1235"/>
          <p:cNvSpPr/>
          <p:nvPr/>
        </p:nvSpPr>
        <p:spPr>
          <a:xfrm>
            <a:off x="9609939" y="4741050"/>
            <a:ext cx="1367400" cy="2658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350" u="none" cap="none" strike="noStrike">
                <a:solidFill>
                  <a:srgbClr val="1F2328"/>
                </a:solidFill>
                <a:latin typeface="Calibri"/>
                <a:ea typeface="Calibri"/>
                <a:cs typeface="Calibri"/>
                <a:sym typeface="Calibri"/>
              </a:rPr>
              <a:t>2.59</a:t>
            </a:r>
            <a:endParaRPr sz="1662"/>
          </a:p>
        </p:txBody>
      </p:sp>
      <p:sp>
        <p:nvSpPr>
          <p:cNvPr id="2158" name="Google Shape;2158;h547f90b031e64a91_0_1235"/>
          <p:cNvSpPr txBox="1"/>
          <p:nvPr/>
        </p:nvSpPr>
        <p:spPr>
          <a:xfrm>
            <a:off x="6618603" y="5025939"/>
            <a:ext cx="1566900" cy="30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454" u="none" cap="none" strike="noStrike">
                <a:solidFill>
                  <a:srgbClr val="1F2328"/>
                </a:solidFill>
                <a:latin typeface="Calibri"/>
                <a:ea typeface="Calibri"/>
                <a:cs typeface="Calibri"/>
                <a:sym typeface="Calibri"/>
              </a:rPr>
              <a:t>LLM baseline</a:t>
            </a:r>
            <a:endParaRPr sz="1662"/>
          </a:p>
        </p:txBody>
      </p:sp>
      <p:sp>
        <p:nvSpPr>
          <p:cNvPr id="2159" name="Google Shape;2159;h547f90b031e64a91_0_1235"/>
          <p:cNvSpPr/>
          <p:nvPr/>
        </p:nvSpPr>
        <p:spPr>
          <a:xfrm>
            <a:off x="8204486" y="5044932"/>
            <a:ext cx="1367400" cy="2658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350" u="none" cap="none" strike="noStrike">
                <a:solidFill>
                  <a:srgbClr val="1F2328"/>
                </a:solidFill>
                <a:latin typeface="Calibri"/>
                <a:ea typeface="Calibri"/>
                <a:cs typeface="Calibri"/>
                <a:sym typeface="Calibri"/>
              </a:rPr>
              <a:t>2.74</a:t>
            </a:r>
            <a:endParaRPr sz="1662"/>
          </a:p>
        </p:txBody>
      </p:sp>
      <p:sp>
        <p:nvSpPr>
          <p:cNvPr id="2160" name="Google Shape;2160;h547f90b031e64a91_0_1235"/>
          <p:cNvSpPr/>
          <p:nvPr/>
        </p:nvSpPr>
        <p:spPr>
          <a:xfrm>
            <a:off x="9609939" y="5044932"/>
            <a:ext cx="1367400" cy="2658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350" u="none" cap="none" strike="noStrike">
                <a:solidFill>
                  <a:srgbClr val="1F2328"/>
                </a:solidFill>
                <a:latin typeface="Calibri"/>
                <a:ea typeface="Calibri"/>
                <a:cs typeface="Calibri"/>
                <a:sym typeface="Calibri"/>
              </a:rPr>
              <a:t>3.01</a:t>
            </a:r>
            <a:endParaRPr sz="1662"/>
          </a:p>
        </p:txBody>
      </p:sp>
      <p:sp>
        <p:nvSpPr>
          <p:cNvPr id="2161" name="Google Shape;2161;h547f90b031e64a91_0_1235"/>
          <p:cNvSpPr txBox="1"/>
          <p:nvPr/>
        </p:nvSpPr>
        <p:spPr>
          <a:xfrm>
            <a:off x="6618603" y="5329821"/>
            <a:ext cx="1566900" cy="30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454" u="none" cap="none" strike="noStrike">
                <a:solidFill>
                  <a:srgbClr val="1F2328"/>
                </a:solidFill>
                <a:latin typeface="Calibri"/>
                <a:ea typeface="Calibri"/>
                <a:cs typeface="Calibri"/>
                <a:sym typeface="Calibri"/>
              </a:rPr>
              <a:t>Non-Iterative RAG</a:t>
            </a:r>
            <a:endParaRPr sz="1662"/>
          </a:p>
        </p:txBody>
      </p:sp>
      <p:sp>
        <p:nvSpPr>
          <p:cNvPr id="2162" name="Google Shape;2162;h547f90b031e64a91_0_1235"/>
          <p:cNvSpPr/>
          <p:nvPr/>
        </p:nvSpPr>
        <p:spPr>
          <a:xfrm>
            <a:off x="8204486" y="5348813"/>
            <a:ext cx="1367400" cy="2658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350" u="none" cap="none" strike="noStrike">
                <a:solidFill>
                  <a:srgbClr val="1F2328"/>
                </a:solidFill>
                <a:latin typeface="Calibri"/>
                <a:ea typeface="Calibri"/>
                <a:cs typeface="Calibri"/>
                <a:sym typeface="Calibri"/>
              </a:rPr>
              <a:t>2.39</a:t>
            </a:r>
            <a:endParaRPr sz="1662"/>
          </a:p>
        </p:txBody>
      </p:sp>
      <p:sp>
        <p:nvSpPr>
          <p:cNvPr id="2163" name="Google Shape;2163;h547f90b031e64a91_0_1235"/>
          <p:cNvSpPr/>
          <p:nvPr/>
        </p:nvSpPr>
        <p:spPr>
          <a:xfrm>
            <a:off x="9609939" y="5348813"/>
            <a:ext cx="1367400" cy="2658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350" u="none" cap="none" strike="noStrike">
                <a:solidFill>
                  <a:srgbClr val="1F2328"/>
                </a:solidFill>
                <a:latin typeface="Calibri"/>
                <a:ea typeface="Calibri"/>
                <a:cs typeface="Calibri"/>
                <a:sym typeface="Calibri"/>
              </a:rPr>
              <a:t>1.24</a:t>
            </a:r>
            <a:endParaRPr sz="1662"/>
          </a:p>
        </p:txBody>
      </p:sp>
      <p:sp>
        <p:nvSpPr>
          <p:cNvPr id="2164" name="Google Shape;2164;h547f90b031e64a91_0_1235"/>
          <p:cNvSpPr txBox="1"/>
          <p:nvPr/>
        </p:nvSpPr>
        <p:spPr>
          <a:xfrm>
            <a:off x="6618603" y="5633702"/>
            <a:ext cx="1566900" cy="30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454" u="none" cap="none" strike="noStrike">
                <a:solidFill>
                  <a:srgbClr val="0B6E4F"/>
                </a:solidFill>
                <a:latin typeface="Calibri"/>
                <a:ea typeface="Calibri"/>
                <a:cs typeface="Calibri"/>
                <a:sym typeface="Calibri"/>
              </a:rPr>
              <a:t>RIGOR</a:t>
            </a:r>
            <a:endParaRPr sz="1662"/>
          </a:p>
        </p:txBody>
      </p:sp>
      <p:sp>
        <p:nvSpPr>
          <p:cNvPr id="2165" name="Google Shape;2165;h547f90b031e64a91_0_1235"/>
          <p:cNvSpPr/>
          <p:nvPr/>
        </p:nvSpPr>
        <p:spPr>
          <a:xfrm>
            <a:off x="8204486" y="5652694"/>
            <a:ext cx="1367400" cy="2658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350" u="none" cap="none" strike="noStrike">
                <a:solidFill>
                  <a:srgbClr val="1F2328"/>
                </a:solidFill>
                <a:latin typeface="Calibri"/>
                <a:ea typeface="Calibri"/>
                <a:cs typeface="Calibri"/>
                <a:sym typeface="Calibri"/>
              </a:rPr>
              <a:t>3.44</a:t>
            </a:r>
            <a:endParaRPr sz="1662"/>
          </a:p>
        </p:txBody>
      </p:sp>
      <p:sp>
        <p:nvSpPr>
          <p:cNvPr id="2166" name="Google Shape;2166;h547f90b031e64a91_0_1235"/>
          <p:cNvSpPr/>
          <p:nvPr/>
        </p:nvSpPr>
        <p:spPr>
          <a:xfrm>
            <a:off x="9609939" y="5652694"/>
            <a:ext cx="1367400" cy="2658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350" u="none" cap="none" strike="noStrike">
                <a:solidFill>
                  <a:srgbClr val="1F2328"/>
                </a:solidFill>
                <a:latin typeface="Calibri"/>
                <a:ea typeface="Calibri"/>
                <a:cs typeface="Calibri"/>
                <a:sym typeface="Calibri"/>
              </a:rPr>
              <a:t>3.53</a:t>
            </a:r>
            <a:endParaRPr sz="1662"/>
          </a:p>
        </p:txBody>
      </p:sp>
      <p:sp>
        <p:nvSpPr>
          <p:cNvPr id="2167" name="Google Shape;2167;h547f90b031e64a91_0_1235"/>
          <p:cNvSpPr txBox="1"/>
          <p:nvPr/>
        </p:nvSpPr>
        <p:spPr>
          <a:xfrm>
            <a:off x="822960" y="6382512"/>
            <a:ext cx="106071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000">
                <a:solidFill>
                  <a:srgbClr val="5B6770"/>
                </a:solidFill>
                <a:latin typeface="Calibri"/>
                <a:ea typeface="Calibri"/>
                <a:cs typeface="Calibri"/>
                <a:sym typeface="Calibri"/>
              </a:rPr>
              <a:t>Quality dimensions: accuracy, completeness, conciseness, adaptability, clarity, consistency, </a:t>
            </a:r>
            <a:r>
              <a:rPr lang="en-US" sz="1000">
                <a:solidFill>
                  <a:srgbClr val="5B6770"/>
                </a:solidFill>
                <a:latin typeface="Calibri"/>
                <a:ea typeface="Calibri"/>
                <a:cs typeface="Calibri"/>
                <a:sym typeface="Calibri"/>
              </a:rPr>
              <a:t>domain enrichment </a:t>
            </a:r>
            <a:r>
              <a:rPr lang="en-US" sz="1000">
                <a:solidFill>
                  <a:srgbClr val="5B6770"/>
                </a:solidFill>
                <a:latin typeface="Calibri"/>
                <a:ea typeface="Calibri"/>
                <a:cs typeface="Calibri"/>
                <a:sym typeface="Calibri"/>
              </a:rPr>
              <a:t>[Vrandečić, Handbook on Ontologies 2009; OntoQA: Tartir et al., KADASH 2005].</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2" name="Shape 2172"/>
        <p:cNvGrpSpPr/>
        <p:nvPr/>
      </p:nvGrpSpPr>
      <p:grpSpPr>
        <a:xfrm>
          <a:off x="0" y="0"/>
          <a:ext cx="0" cy="0"/>
          <a:chOff x="0" y="0"/>
          <a:chExt cx="0" cy="0"/>
        </a:xfrm>
      </p:grpSpPr>
      <p:sp>
        <p:nvSpPr>
          <p:cNvPr id="2173" name="Google Shape;2173;h547f90b031e64a91_0_992"/>
          <p:cNvSpPr txBox="1"/>
          <p:nvPr/>
        </p:nvSpPr>
        <p:spPr>
          <a:xfrm>
            <a:off x="813816" y="493776"/>
            <a:ext cx="106071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FUTURE WORK </a:t>
            </a:r>
            <a:endParaRPr b="0" i="0" sz="1400" u="none" cap="none" strike="noStrike">
              <a:solidFill>
                <a:srgbClr val="000000"/>
              </a:solidFill>
              <a:latin typeface="Arial"/>
              <a:ea typeface="Arial"/>
              <a:cs typeface="Arial"/>
              <a:sym typeface="Arial"/>
            </a:endParaRPr>
          </a:p>
        </p:txBody>
      </p:sp>
      <p:sp>
        <p:nvSpPr>
          <p:cNvPr id="2174" name="Google Shape;2174;h547f90b031e64a91_0_992"/>
          <p:cNvSpPr txBox="1"/>
          <p:nvPr/>
        </p:nvSpPr>
        <p:spPr>
          <a:xfrm>
            <a:off x="813816" y="923544"/>
            <a:ext cx="10698600" cy="4617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Clr>
                <a:srgbClr val="000000"/>
              </a:buClr>
              <a:buSzPts val="3000"/>
              <a:buFont typeface="Arial"/>
              <a:buNone/>
            </a:pPr>
            <a:r>
              <a:rPr b="1" i="0" lang="en-US" sz="3000" u="none" cap="none" strike="noStrike">
                <a:solidFill>
                  <a:srgbClr val="1F2328"/>
                </a:solidFill>
                <a:latin typeface="Cambria"/>
                <a:ea typeface="Cambria"/>
                <a:cs typeface="Cambria"/>
                <a:sym typeface="Cambria"/>
              </a:rPr>
              <a:t>Next: Move the evaluation tools in the loop </a:t>
            </a:r>
            <a:endParaRPr b="0" i="0" sz="1400" u="none" cap="none" strike="noStrike">
              <a:solidFill>
                <a:srgbClr val="000000"/>
              </a:solidFill>
              <a:latin typeface="Arial"/>
              <a:ea typeface="Arial"/>
              <a:cs typeface="Arial"/>
              <a:sym typeface="Arial"/>
            </a:endParaRPr>
          </a:p>
        </p:txBody>
      </p:sp>
      <p:sp>
        <p:nvSpPr>
          <p:cNvPr id="2175" name="Google Shape;2175;h547f90b031e64a91_0_992"/>
          <p:cNvSpPr/>
          <p:nvPr/>
        </p:nvSpPr>
        <p:spPr>
          <a:xfrm>
            <a:off x="822950" y="1663525"/>
            <a:ext cx="10515600" cy="1022400"/>
          </a:xfrm>
          <a:prstGeom prst="roundRect">
            <a:avLst>
              <a:gd fmla="val 12000" name="adj"/>
            </a:avLst>
          </a:prstGeom>
          <a:noFill/>
          <a:ln>
            <a:noFill/>
          </a:ln>
        </p:spPr>
        <p:txBody>
          <a:bodyPr anchorCtr="0" anchor="ctr" bIns="0" lIns="182875" spcFirstLastPara="1" rIns="182875" wrap="square" tIns="0">
            <a:noAutofit/>
          </a:bodyPr>
          <a:lstStyle/>
          <a:p>
            <a:pPr indent="0" lvl="0" marL="0" rtl="0" algn="l">
              <a:spcBef>
                <a:spcPts val="0"/>
              </a:spcBef>
              <a:spcAft>
                <a:spcPts val="0"/>
              </a:spcAft>
              <a:buClr>
                <a:srgbClr val="000000"/>
              </a:buClr>
              <a:buSzPts val="1250"/>
              <a:buFont typeface="Arial"/>
              <a:buNone/>
            </a:pPr>
            <a:r>
              <a:rPr b="1" lang="en-US" sz="1600">
                <a:solidFill>
                  <a:srgbClr val="3A434C"/>
                </a:solidFill>
                <a:latin typeface="Calibri"/>
                <a:ea typeface="Calibri"/>
                <a:cs typeface="Calibri"/>
                <a:sym typeface="Calibri"/>
              </a:rPr>
              <a:t>RDFLib</a:t>
            </a:r>
            <a:r>
              <a:rPr lang="en-US" sz="1600">
                <a:solidFill>
                  <a:srgbClr val="3A434C"/>
                </a:solidFill>
                <a:latin typeface="Calibri"/>
                <a:ea typeface="Calibri"/>
                <a:cs typeface="Calibri"/>
                <a:sym typeface="Calibri"/>
              </a:rPr>
              <a:t>,</a:t>
            </a:r>
            <a:r>
              <a:rPr b="1" lang="en-US" sz="1600">
                <a:solidFill>
                  <a:srgbClr val="3A434C"/>
                </a:solidFill>
                <a:latin typeface="Calibri"/>
                <a:ea typeface="Calibri"/>
                <a:cs typeface="Calibri"/>
                <a:sym typeface="Calibri"/>
              </a:rPr>
              <a:t> </a:t>
            </a:r>
            <a:r>
              <a:rPr lang="en-US" sz="1600">
                <a:solidFill>
                  <a:srgbClr val="3A434C"/>
                </a:solidFill>
                <a:latin typeface="Calibri"/>
                <a:ea typeface="Calibri"/>
                <a:cs typeface="Calibri"/>
                <a:sym typeface="Calibri"/>
              </a:rPr>
              <a:t>the </a:t>
            </a:r>
            <a:r>
              <a:rPr b="1" lang="en-US" sz="1600">
                <a:solidFill>
                  <a:srgbClr val="3A434C"/>
                </a:solidFill>
                <a:latin typeface="Calibri"/>
                <a:ea typeface="Calibri"/>
                <a:cs typeface="Calibri"/>
                <a:sym typeface="Calibri"/>
              </a:rPr>
              <a:t>reasoner</a:t>
            </a:r>
            <a:r>
              <a:rPr lang="en-US" sz="1600">
                <a:solidFill>
                  <a:srgbClr val="3A434C"/>
                </a:solidFill>
                <a:latin typeface="Calibri"/>
                <a:ea typeface="Calibri"/>
                <a:cs typeface="Calibri"/>
                <a:sym typeface="Calibri"/>
              </a:rPr>
              <a:t> and </a:t>
            </a:r>
            <a:r>
              <a:rPr b="1" lang="en-US" sz="1600">
                <a:solidFill>
                  <a:srgbClr val="3A434C"/>
                </a:solidFill>
                <a:latin typeface="Calibri"/>
                <a:ea typeface="Calibri"/>
                <a:cs typeface="Calibri"/>
                <a:sym typeface="Calibri"/>
              </a:rPr>
              <a:t>OOPS! </a:t>
            </a:r>
            <a:r>
              <a:rPr lang="en-US" sz="1600">
                <a:solidFill>
                  <a:srgbClr val="3A434C"/>
                </a:solidFill>
                <a:latin typeface="Calibri"/>
                <a:ea typeface="Calibri"/>
                <a:cs typeface="Calibri"/>
                <a:sym typeface="Calibri"/>
              </a:rPr>
              <a:t>only checked our final ontologies. Next, they flag each error while </a:t>
            </a:r>
            <a:r>
              <a:rPr b="1" i="1" lang="en-US" sz="1600">
                <a:solidFill>
                  <a:srgbClr val="3A434C"/>
                </a:solidFill>
                <a:latin typeface="Calibri"/>
                <a:ea typeface="Calibri"/>
                <a:cs typeface="Calibri"/>
                <a:sym typeface="Calibri"/>
              </a:rPr>
              <a:t>RIGOR</a:t>
            </a:r>
            <a:r>
              <a:rPr lang="en-US" sz="1600">
                <a:solidFill>
                  <a:srgbClr val="3A434C"/>
                </a:solidFill>
                <a:latin typeface="Calibri"/>
                <a:ea typeface="Calibri"/>
                <a:cs typeface="Calibri"/>
                <a:sym typeface="Calibri"/>
              </a:rPr>
              <a:t> builds, and their </a:t>
            </a:r>
            <a:r>
              <a:rPr b="1" lang="en-US" sz="1600">
                <a:solidFill>
                  <a:srgbClr val="3A434C"/>
                </a:solidFill>
                <a:latin typeface="Calibri"/>
                <a:ea typeface="Calibri"/>
                <a:cs typeface="Calibri"/>
                <a:sym typeface="Calibri"/>
              </a:rPr>
              <a:t>feedback</a:t>
            </a:r>
            <a:r>
              <a:rPr lang="en-US" sz="1600">
                <a:solidFill>
                  <a:srgbClr val="3A434C"/>
                </a:solidFill>
                <a:latin typeface="Calibri"/>
                <a:ea typeface="Calibri"/>
                <a:cs typeface="Calibri"/>
                <a:sym typeface="Calibri"/>
              </a:rPr>
              <a:t> will be used to </a:t>
            </a:r>
            <a:r>
              <a:rPr b="1" lang="en-US" sz="1600">
                <a:solidFill>
                  <a:srgbClr val="3A434C"/>
                </a:solidFill>
                <a:latin typeface="Calibri"/>
                <a:ea typeface="Calibri"/>
                <a:cs typeface="Calibri"/>
                <a:sym typeface="Calibri"/>
              </a:rPr>
              <a:t>prompt the LLM</a:t>
            </a:r>
            <a:r>
              <a:rPr lang="en-US" sz="1600">
                <a:solidFill>
                  <a:srgbClr val="3A434C"/>
                </a:solidFill>
                <a:latin typeface="Calibri"/>
                <a:ea typeface="Calibri"/>
                <a:cs typeface="Calibri"/>
                <a:sym typeface="Calibri"/>
              </a:rPr>
              <a:t> to </a:t>
            </a:r>
            <a:r>
              <a:rPr b="1" lang="en-US" sz="1600">
                <a:solidFill>
                  <a:srgbClr val="3A434C"/>
                </a:solidFill>
                <a:latin typeface="Calibri"/>
                <a:ea typeface="Calibri"/>
                <a:cs typeface="Calibri"/>
                <a:sym typeface="Calibri"/>
              </a:rPr>
              <a:t>repair</a:t>
            </a:r>
            <a:r>
              <a:rPr lang="en-US" sz="1600">
                <a:solidFill>
                  <a:srgbClr val="3A434C"/>
                </a:solidFill>
                <a:latin typeface="Calibri"/>
                <a:ea typeface="Calibri"/>
                <a:cs typeface="Calibri"/>
                <a:sym typeface="Calibri"/>
              </a:rPr>
              <a:t> the ontology.    </a:t>
            </a:r>
            <a:r>
              <a:rPr i="1" lang="en-US" sz="1600">
                <a:solidFill>
                  <a:srgbClr val="FFFFFF"/>
                </a:solidFill>
                <a:latin typeface="Calibri"/>
                <a:ea typeface="Calibri"/>
                <a:cs typeface="Calibri"/>
                <a:sym typeface="Calibri"/>
              </a:rPr>
              <a:t>→ Live in our RIGOR App demo. </a:t>
            </a:r>
            <a:endParaRPr b="1" sz="1600">
              <a:solidFill>
                <a:srgbClr val="FFFFFF"/>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80" name="Shape 2180"/>
        <p:cNvGrpSpPr/>
        <p:nvPr/>
      </p:nvGrpSpPr>
      <p:grpSpPr>
        <a:xfrm>
          <a:off x="0" y="0"/>
          <a:ext cx="0" cy="0"/>
          <a:chOff x="0" y="0"/>
          <a:chExt cx="0" cy="0"/>
        </a:xfrm>
      </p:grpSpPr>
      <p:sp>
        <p:nvSpPr>
          <p:cNvPr id="2181" name="Google Shape;2181;h547f90b031e64a91_0_999"/>
          <p:cNvSpPr txBox="1"/>
          <p:nvPr/>
        </p:nvSpPr>
        <p:spPr>
          <a:xfrm>
            <a:off x="813816" y="493776"/>
            <a:ext cx="106071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FUTURE WORK </a:t>
            </a:r>
            <a:endParaRPr b="0" i="0" sz="1400" u="none" cap="none" strike="noStrike">
              <a:solidFill>
                <a:srgbClr val="000000"/>
              </a:solidFill>
              <a:latin typeface="Arial"/>
              <a:ea typeface="Arial"/>
              <a:cs typeface="Arial"/>
              <a:sym typeface="Arial"/>
            </a:endParaRPr>
          </a:p>
        </p:txBody>
      </p:sp>
      <p:sp>
        <p:nvSpPr>
          <p:cNvPr id="2182" name="Google Shape;2182;h547f90b031e64a91_0_999"/>
          <p:cNvSpPr txBox="1"/>
          <p:nvPr/>
        </p:nvSpPr>
        <p:spPr>
          <a:xfrm>
            <a:off x="813816" y="923544"/>
            <a:ext cx="10698600" cy="4617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Clr>
                <a:srgbClr val="000000"/>
              </a:buClr>
              <a:buSzPts val="3000"/>
              <a:buFont typeface="Arial"/>
              <a:buNone/>
            </a:pPr>
            <a:r>
              <a:rPr b="1" i="0" lang="en-US" sz="3000" u="none" cap="none" strike="noStrike">
                <a:solidFill>
                  <a:srgbClr val="1F2328"/>
                </a:solidFill>
                <a:latin typeface="Cambria"/>
                <a:ea typeface="Cambria"/>
                <a:cs typeface="Cambria"/>
                <a:sym typeface="Cambria"/>
              </a:rPr>
              <a:t>Next:</a:t>
            </a:r>
            <a:r>
              <a:rPr b="1" lang="en-US" sz="3000">
                <a:solidFill>
                  <a:srgbClr val="1F2328"/>
                </a:solidFill>
                <a:latin typeface="Cambria"/>
                <a:ea typeface="Cambria"/>
                <a:cs typeface="Cambria"/>
                <a:sym typeface="Cambria"/>
              </a:rPr>
              <a:t> Move the evaluation tools in the loop</a:t>
            </a:r>
            <a:r>
              <a:rPr b="1" i="0" lang="en-US" sz="3000" u="none" cap="none" strike="noStrike">
                <a:solidFill>
                  <a:srgbClr val="1F2328"/>
                </a:solidFill>
                <a:latin typeface="Cambria"/>
                <a:ea typeface="Cambria"/>
                <a:cs typeface="Cambria"/>
                <a:sym typeface="Cambria"/>
              </a:rPr>
              <a:t> </a:t>
            </a:r>
            <a:endParaRPr b="0" i="0" sz="1400" u="none" cap="none" strike="noStrike">
              <a:solidFill>
                <a:srgbClr val="000000"/>
              </a:solidFill>
              <a:latin typeface="Arial"/>
              <a:ea typeface="Arial"/>
              <a:cs typeface="Arial"/>
              <a:sym typeface="Arial"/>
            </a:endParaRPr>
          </a:p>
        </p:txBody>
      </p:sp>
      <p:pic>
        <p:nvPicPr>
          <p:cNvPr id="2183" name="Google Shape;2183;h547f90b031e64a91_0_999" title="Rigor Ontology Validation Dashboard.png"/>
          <p:cNvPicPr preferRelativeResize="0"/>
          <p:nvPr/>
        </p:nvPicPr>
        <p:blipFill>
          <a:blip r:embed="rId3">
            <a:alphaModFix/>
          </a:blip>
          <a:stretch>
            <a:fillRect/>
          </a:stretch>
        </p:blipFill>
        <p:spPr>
          <a:xfrm>
            <a:off x="1780550" y="2887950"/>
            <a:ext cx="6194192" cy="3486085"/>
          </a:xfrm>
          <a:prstGeom prst="rect">
            <a:avLst/>
          </a:prstGeom>
          <a:noFill/>
          <a:ln>
            <a:noFill/>
          </a:ln>
          <a:effectLst>
            <a:outerShdw blurRad="48058" rotWithShape="0" algn="bl" dir="5400000" dist="16019">
              <a:srgbClr val="000000">
                <a:alpha val="50000"/>
              </a:srgbClr>
            </a:outerShdw>
          </a:effectLst>
        </p:spPr>
      </p:pic>
      <p:sp>
        <p:nvSpPr>
          <p:cNvPr id="2184" name="Google Shape;2184;h547f90b031e64a91_0_999"/>
          <p:cNvSpPr/>
          <p:nvPr/>
        </p:nvSpPr>
        <p:spPr>
          <a:xfrm>
            <a:off x="8400692" y="4723731"/>
            <a:ext cx="1292100" cy="1292100"/>
          </a:xfrm>
          <a:prstGeom prst="roundRect">
            <a:avLst>
              <a:gd fmla="val 7438" name="adj"/>
            </a:avLst>
          </a:prstGeom>
          <a:gradFill>
            <a:gsLst>
              <a:gs pos="0">
                <a:srgbClr val="F4E3A6"/>
              </a:gs>
              <a:gs pos="55000">
                <a:srgbClr val="E2C266"/>
              </a:gs>
              <a:gs pos="100000">
                <a:srgbClr val="B8913A"/>
              </a:gs>
            </a:gsLst>
            <a:lin ang="3299893" scaled="0"/>
          </a:gradFill>
          <a:ln>
            <a:noFill/>
          </a:ln>
          <a:effectLst>
            <a:outerShdw blurRad="10680" rotWithShape="0" algn="bl">
              <a:srgbClr val="8A6A22"/>
            </a:outerShdw>
          </a:effectLst>
        </p:spPr>
        <p:txBody>
          <a:bodyPr anchorCtr="0" anchor="ctr" bIns="76875" lIns="76875" spcFirstLastPara="1" rIns="76875" wrap="square" tIns="76875">
            <a:noAutofit/>
          </a:bodyPr>
          <a:lstStyle/>
          <a:p>
            <a:pPr indent="0" lvl="0" marL="0" rtl="0" algn="l">
              <a:spcBef>
                <a:spcPts val="0"/>
              </a:spcBef>
              <a:spcAft>
                <a:spcPts val="0"/>
              </a:spcAft>
              <a:buNone/>
            </a:pPr>
            <a:r>
              <a:t/>
            </a:r>
            <a:endParaRPr/>
          </a:p>
        </p:txBody>
      </p:sp>
      <p:pic>
        <p:nvPicPr>
          <p:cNvPr descr="QR code linking to the RIGOR App demo video on YouTube" id="2185" name="Google Shape;2185;h547f90b031e64a91_0_999"/>
          <p:cNvPicPr preferRelativeResize="0"/>
          <p:nvPr/>
        </p:nvPicPr>
        <p:blipFill rotWithShape="1">
          <a:blip r:embed="rId4">
            <a:alphaModFix/>
          </a:blip>
          <a:srcRect b="0" l="0" r="0" t="0"/>
          <a:stretch/>
        </p:blipFill>
        <p:spPr>
          <a:xfrm>
            <a:off x="8454091" y="4777129"/>
            <a:ext cx="1185600" cy="1185600"/>
          </a:xfrm>
          <a:prstGeom prst="roundRect">
            <a:avLst>
              <a:gd fmla="val 3604" name="adj"/>
            </a:avLst>
          </a:prstGeom>
          <a:noFill/>
          <a:ln>
            <a:noFill/>
          </a:ln>
        </p:spPr>
      </p:pic>
      <p:sp>
        <p:nvSpPr>
          <p:cNvPr id="2186" name="Google Shape;2186;h547f90b031e64a91_0_999"/>
          <p:cNvSpPr/>
          <p:nvPr/>
        </p:nvSpPr>
        <p:spPr>
          <a:xfrm>
            <a:off x="8148069" y="6181496"/>
            <a:ext cx="1797600" cy="2160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3F6FB"/>
              </a:buClr>
              <a:buSzPts val="1093"/>
              <a:buFont typeface="Inter"/>
              <a:buNone/>
            </a:pPr>
            <a:r>
              <a:rPr b="1" i="0" lang="en-US" sz="1093" u="none" cap="none" strike="noStrike">
                <a:solidFill>
                  <a:srgbClr val="0E193A"/>
                </a:solidFill>
                <a:latin typeface="Inter"/>
                <a:ea typeface="Inter"/>
                <a:cs typeface="Inter"/>
                <a:sym typeface="Inter"/>
              </a:rPr>
              <a:t>Watch the demo video</a:t>
            </a:r>
            <a:endParaRPr b="0" i="0" sz="1093" u="none" cap="none" strike="noStrike">
              <a:solidFill>
                <a:srgbClr val="0E193A"/>
              </a:solidFill>
              <a:latin typeface="Inter"/>
              <a:ea typeface="Inter"/>
              <a:cs typeface="Inter"/>
              <a:sym typeface="Inter"/>
            </a:endParaRPr>
          </a:p>
        </p:txBody>
      </p:sp>
      <p:sp>
        <p:nvSpPr>
          <p:cNvPr id="2187" name="Google Shape;2187;h547f90b031e64a91_0_999"/>
          <p:cNvSpPr/>
          <p:nvPr/>
        </p:nvSpPr>
        <p:spPr>
          <a:xfrm>
            <a:off x="8400671" y="2959033"/>
            <a:ext cx="1292100" cy="1292100"/>
          </a:xfrm>
          <a:prstGeom prst="roundRect">
            <a:avLst>
              <a:gd fmla="val 7438" name="adj"/>
            </a:avLst>
          </a:prstGeom>
          <a:gradFill>
            <a:gsLst>
              <a:gs pos="0">
                <a:srgbClr val="F4E3A6"/>
              </a:gs>
              <a:gs pos="55000">
                <a:srgbClr val="E2C266"/>
              </a:gs>
              <a:gs pos="100000">
                <a:srgbClr val="B8913A"/>
              </a:gs>
            </a:gsLst>
            <a:lin ang="3299893" scaled="0"/>
          </a:gradFill>
          <a:ln>
            <a:noFill/>
          </a:ln>
          <a:effectLst>
            <a:outerShdw blurRad="10680" rotWithShape="0" algn="bl">
              <a:srgbClr val="8A6A22"/>
            </a:outerShdw>
          </a:effectLst>
        </p:spPr>
        <p:txBody>
          <a:bodyPr anchorCtr="0" anchor="ctr" bIns="76875" lIns="76875" spcFirstLastPara="1" rIns="76875" wrap="square" tIns="76875">
            <a:noAutofit/>
          </a:bodyPr>
          <a:lstStyle/>
          <a:p>
            <a:pPr indent="0" lvl="0" marL="0" rtl="0" algn="l">
              <a:spcBef>
                <a:spcPts val="0"/>
              </a:spcBef>
              <a:spcAft>
                <a:spcPts val="0"/>
              </a:spcAft>
              <a:buNone/>
            </a:pPr>
            <a:r>
              <a:t/>
            </a:r>
            <a:endParaRPr/>
          </a:p>
        </p:txBody>
      </p:sp>
      <p:pic>
        <p:nvPicPr>
          <p:cNvPr descr="QR code linking to the RIGOR App GitHub repository" id="2188" name="Google Shape;2188;h547f90b031e64a91_0_999"/>
          <p:cNvPicPr preferRelativeResize="0"/>
          <p:nvPr/>
        </p:nvPicPr>
        <p:blipFill rotWithShape="1">
          <a:blip r:embed="rId5">
            <a:alphaModFix/>
          </a:blip>
          <a:srcRect b="0" l="0" r="0" t="0"/>
          <a:stretch/>
        </p:blipFill>
        <p:spPr>
          <a:xfrm>
            <a:off x="8454069" y="3012431"/>
            <a:ext cx="1185600" cy="1185600"/>
          </a:xfrm>
          <a:prstGeom prst="roundRect">
            <a:avLst>
              <a:gd fmla="val 3604" name="adj"/>
            </a:avLst>
          </a:prstGeom>
          <a:noFill/>
          <a:ln>
            <a:noFill/>
          </a:ln>
        </p:spPr>
      </p:pic>
      <p:sp>
        <p:nvSpPr>
          <p:cNvPr id="2189" name="Google Shape;2189;h547f90b031e64a91_0_999"/>
          <p:cNvSpPr/>
          <p:nvPr/>
        </p:nvSpPr>
        <p:spPr>
          <a:xfrm>
            <a:off x="8309644" y="4416798"/>
            <a:ext cx="1474200" cy="2160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3F6FB"/>
              </a:buClr>
              <a:buSzPts val="1093"/>
              <a:buFont typeface="Inter"/>
              <a:buNone/>
            </a:pPr>
            <a:r>
              <a:rPr b="1" i="0" lang="en-US" sz="1093" u="none" cap="none" strike="noStrike">
                <a:solidFill>
                  <a:srgbClr val="0E193A"/>
                </a:solidFill>
                <a:latin typeface="Inter"/>
                <a:ea typeface="Inter"/>
                <a:cs typeface="Inter"/>
                <a:sym typeface="Inter"/>
              </a:rPr>
              <a:t>Open source · MIT</a:t>
            </a:r>
            <a:endParaRPr b="0" i="0" sz="1093" u="none" cap="none" strike="noStrike">
              <a:solidFill>
                <a:srgbClr val="0E193A"/>
              </a:solidFill>
              <a:latin typeface="Inter"/>
              <a:ea typeface="Inter"/>
              <a:cs typeface="Inter"/>
              <a:sym typeface="Inter"/>
            </a:endParaRPr>
          </a:p>
        </p:txBody>
      </p:sp>
      <p:sp>
        <p:nvSpPr>
          <p:cNvPr id="2190" name="Google Shape;2190;h547f90b031e64a91_0_999"/>
          <p:cNvSpPr txBox="1"/>
          <p:nvPr/>
        </p:nvSpPr>
        <p:spPr>
          <a:xfrm>
            <a:off x="1780561" y="6375831"/>
            <a:ext cx="5283300" cy="310500"/>
          </a:xfrm>
          <a:prstGeom prst="rect">
            <a:avLst/>
          </a:prstGeom>
          <a:noFill/>
          <a:ln>
            <a:noFill/>
          </a:ln>
        </p:spPr>
        <p:txBody>
          <a:bodyPr anchorCtr="0" anchor="t" bIns="76875" lIns="76875" spcFirstLastPara="1" rIns="76875" wrap="square" tIns="76875">
            <a:spAutoFit/>
          </a:bodyPr>
          <a:lstStyle/>
          <a:p>
            <a:pPr indent="0" lvl="0" marL="0" rtl="0" algn="l">
              <a:spcBef>
                <a:spcPts val="0"/>
              </a:spcBef>
              <a:spcAft>
                <a:spcPts val="0"/>
              </a:spcAft>
              <a:buNone/>
            </a:pPr>
            <a:r>
              <a:rPr b="1" lang="en-US" sz="1009">
                <a:solidFill>
                  <a:srgbClr val="1F2328"/>
                </a:solidFill>
                <a:latin typeface="Calibri"/>
                <a:ea typeface="Calibri"/>
                <a:cs typeface="Calibri"/>
                <a:sym typeface="Calibri"/>
              </a:rPr>
              <a:t>RIGOR App</a:t>
            </a:r>
            <a:r>
              <a:rPr lang="en-US" sz="1009">
                <a:solidFill>
                  <a:srgbClr val="5B6770"/>
                </a:solidFill>
                <a:latin typeface="Calibri"/>
                <a:ea typeface="Calibri"/>
                <a:cs typeface="Calibri"/>
                <a:sym typeface="Calibri"/>
              </a:rPr>
              <a:t> [Fathallah, Nayyeri &amp; Staab, ISWC 2026 Demos].</a:t>
            </a:r>
            <a:endParaRPr sz="1009"/>
          </a:p>
        </p:txBody>
      </p:sp>
      <p:sp>
        <p:nvSpPr>
          <p:cNvPr id="2191" name="Google Shape;2191;h547f90b031e64a91_0_999"/>
          <p:cNvSpPr/>
          <p:nvPr/>
        </p:nvSpPr>
        <p:spPr>
          <a:xfrm>
            <a:off x="822950" y="1663525"/>
            <a:ext cx="10515600" cy="1022400"/>
          </a:xfrm>
          <a:prstGeom prst="roundRect">
            <a:avLst>
              <a:gd fmla="val 12000" name="adj"/>
            </a:avLst>
          </a:prstGeom>
          <a:noFill/>
          <a:ln>
            <a:noFill/>
          </a:ln>
        </p:spPr>
        <p:txBody>
          <a:bodyPr anchorCtr="0" anchor="ctr" bIns="0" lIns="182875" spcFirstLastPara="1" rIns="182875" wrap="square" tIns="0">
            <a:noAutofit/>
          </a:bodyPr>
          <a:lstStyle/>
          <a:p>
            <a:pPr indent="0" lvl="0" marL="0" rtl="0" algn="l">
              <a:spcBef>
                <a:spcPts val="0"/>
              </a:spcBef>
              <a:spcAft>
                <a:spcPts val="0"/>
              </a:spcAft>
              <a:buClr>
                <a:srgbClr val="000000"/>
              </a:buClr>
              <a:buSzPts val="1250"/>
              <a:buFont typeface="Arial"/>
              <a:buNone/>
            </a:pPr>
            <a:r>
              <a:rPr b="1" lang="en-US" sz="1600">
                <a:solidFill>
                  <a:srgbClr val="3A434C"/>
                </a:solidFill>
                <a:latin typeface="Calibri"/>
                <a:ea typeface="Calibri"/>
                <a:cs typeface="Calibri"/>
                <a:sym typeface="Calibri"/>
              </a:rPr>
              <a:t>RDFLib</a:t>
            </a:r>
            <a:r>
              <a:rPr lang="en-US" sz="1600">
                <a:solidFill>
                  <a:srgbClr val="3A434C"/>
                </a:solidFill>
                <a:latin typeface="Calibri"/>
                <a:ea typeface="Calibri"/>
                <a:cs typeface="Calibri"/>
                <a:sym typeface="Calibri"/>
              </a:rPr>
              <a:t>,</a:t>
            </a:r>
            <a:r>
              <a:rPr b="1" lang="en-US" sz="1600">
                <a:solidFill>
                  <a:srgbClr val="3A434C"/>
                </a:solidFill>
                <a:latin typeface="Calibri"/>
                <a:ea typeface="Calibri"/>
                <a:cs typeface="Calibri"/>
                <a:sym typeface="Calibri"/>
              </a:rPr>
              <a:t> </a:t>
            </a:r>
            <a:r>
              <a:rPr lang="en-US" sz="1600">
                <a:solidFill>
                  <a:srgbClr val="3A434C"/>
                </a:solidFill>
                <a:latin typeface="Calibri"/>
                <a:ea typeface="Calibri"/>
                <a:cs typeface="Calibri"/>
                <a:sym typeface="Calibri"/>
              </a:rPr>
              <a:t>the </a:t>
            </a:r>
            <a:r>
              <a:rPr b="1" lang="en-US" sz="1600">
                <a:solidFill>
                  <a:srgbClr val="3A434C"/>
                </a:solidFill>
                <a:latin typeface="Calibri"/>
                <a:ea typeface="Calibri"/>
                <a:cs typeface="Calibri"/>
                <a:sym typeface="Calibri"/>
              </a:rPr>
              <a:t>reasoner</a:t>
            </a:r>
            <a:r>
              <a:rPr lang="en-US" sz="1600">
                <a:solidFill>
                  <a:srgbClr val="3A434C"/>
                </a:solidFill>
                <a:latin typeface="Calibri"/>
                <a:ea typeface="Calibri"/>
                <a:cs typeface="Calibri"/>
                <a:sym typeface="Calibri"/>
              </a:rPr>
              <a:t> and </a:t>
            </a:r>
            <a:r>
              <a:rPr b="1" lang="en-US" sz="1600">
                <a:solidFill>
                  <a:srgbClr val="3A434C"/>
                </a:solidFill>
                <a:latin typeface="Calibri"/>
                <a:ea typeface="Calibri"/>
                <a:cs typeface="Calibri"/>
                <a:sym typeface="Calibri"/>
              </a:rPr>
              <a:t>OOPS! </a:t>
            </a:r>
            <a:r>
              <a:rPr lang="en-US" sz="1600">
                <a:solidFill>
                  <a:srgbClr val="3A434C"/>
                </a:solidFill>
                <a:latin typeface="Calibri"/>
                <a:ea typeface="Calibri"/>
                <a:cs typeface="Calibri"/>
                <a:sym typeface="Calibri"/>
              </a:rPr>
              <a:t>only checked our final ontologies. Next, they flag each error while </a:t>
            </a:r>
            <a:r>
              <a:rPr b="1" i="1" lang="en-US" sz="1600">
                <a:solidFill>
                  <a:srgbClr val="3A434C"/>
                </a:solidFill>
                <a:latin typeface="Calibri"/>
                <a:ea typeface="Calibri"/>
                <a:cs typeface="Calibri"/>
                <a:sym typeface="Calibri"/>
              </a:rPr>
              <a:t>RIGOR</a:t>
            </a:r>
            <a:r>
              <a:rPr lang="en-US" sz="1600">
                <a:solidFill>
                  <a:srgbClr val="3A434C"/>
                </a:solidFill>
                <a:latin typeface="Calibri"/>
                <a:ea typeface="Calibri"/>
                <a:cs typeface="Calibri"/>
                <a:sym typeface="Calibri"/>
              </a:rPr>
              <a:t> builds, and their </a:t>
            </a:r>
            <a:r>
              <a:rPr b="1" lang="en-US" sz="1600">
                <a:solidFill>
                  <a:srgbClr val="3A434C"/>
                </a:solidFill>
                <a:latin typeface="Calibri"/>
                <a:ea typeface="Calibri"/>
                <a:cs typeface="Calibri"/>
                <a:sym typeface="Calibri"/>
              </a:rPr>
              <a:t>feedback</a:t>
            </a:r>
            <a:r>
              <a:rPr lang="en-US" sz="1600">
                <a:solidFill>
                  <a:srgbClr val="3A434C"/>
                </a:solidFill>
                <a:latin typeface="Calibri"/>
                <a:ea typeface="Calibri"/>
                <a:cs typeface="Calibri"/>
                <a:sym typeface="Calibri"/>
              </a:rPr>
              <a:t> will be used to </a:t>
            </a:r>
            <a:r>
              <a:rPr b="1" lang="en-US" sz="1600">
                <a:solidFill>
                  <a:srgbClr val="3A434C"/>
                </a:solidFill>
                <a:latin typeface="Calibri"/>
                <a:ea typeface="Calibri"/>
                <a:cs typeface="Calibri"/>
                <a:sym typeface="Calibri"/>
              </a:rPr>
              <a:t>prompt the LLM</a:t>
            </a:r>
            <a:r>
              <a:rPr lang="en-US" sz="1600">
                <a:solidFill>
                  <a:srgbClr val="3A434C"/>
                </a:solidFill>
                <a:latin typeface="Calibri"/>
                <a:ea typeface="Calibri"/>
                <a:cs typeface="Calibri"/>
                <a:sym typeface="Calibri"/>
              </a:rPr>
              <a:t> to </a:t>
            </a:r>
            <a:r>
              <a:rPr b="1" lang="en-US" sz="1600">
                <a:solidFill>
                  <a:srgbClr val="3A434C"/>
                </a:solidFill>
                <a:latin typeface="Calibri"/>
                <a:ea typeface="Calibri"/>
                <a:cs typeface="Calibri"/>
                <a:sym typeface="Calibri"/>
              </a:rPr>
              <a:t>repair</a:t>
            </a:r>
            <a:r>
              <a:rPr lang="en-US" sz="1600">
                <a:solidFill>
                  <a:srgbClr val="3A434C"/>
                </a:solidFill>
                <a:latin typeface="Calibri"/>
                <a:ea typeface="Calibri"/>
                <a:cs typeface="Calibri"/>
                <a:sym typeface="Calibri"/>
              </a:rPr>
              <a:t> the ontology.    </a:t>
            </a:r>
            <a:r>
              <a:rPr i="1" lang="en-US" sz="1600">
                <a:solidFill>
                  <a:srgbClr val="3A434C"/>
                </a:solidFill>
                <a:latin typeface="Calibri"/>
                <a:ea typeface="Calibri"/>
                <a:cs typeface="Calibri"/>
                <a:sym typeface="Calibri"/>
              </a:rPr>
              <a:t>→ Live in our RIGOR App demo. </a:t>
            </a:r>
            <a:endParaRPr b="1" sz="1600">
              <a:solidFill>
                <a:srgbClr val="0B6E4F"/>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6" name="Shape 2196"/>
        <p:cNvGrpSpPr/>
        <p:nvPr/>
      </p:nvGrpSpPr>
      <p:grpSpPr>
        <a:xfrm>
          <a:off x="0" y="0"/>
          <a:ext cx="0" cy="0"/>
          <a:chOff x="0" y="0"/>
          <a:chExt cx="0" cy="0"/>
        </a:xfrm>
      </p:grpSpPr>
      <p:sp>
        <p:nvSpPr>
          <p:cNvPr id="2197" name="Google Shape;2197;h547f90b031e64a91_0_1298"/>
          <p:cNvSpPr txBox="1"/>
          <p:nvPr/>
        </p:nvSpPr>
        <p:spPr>
          <a:xfrm>
            <a:off x="813816" y="493776"/>
            <a:ext cx="106071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FUTURE WORK</a:t>
            </a:r>
            <a:endParaRPr b="0" i="0" sz="1400" u="none" cap="none" strike="noStrike">
              <a:solidFill>
                <a:srgbClr val="000000"/>
              </a:solidFill>
              <a:latin typeface="Arial"/>
              <a:ea typeface="Arial"/>
              <a:cs typeface="Arial"/>
              <a:sym typeface="Arial"/>
            </a:endParaRPr>
          </a:p>
        </p:txBody>
      </p:sp>
      <p:sp>
        <p:nvSpPr>
          <p:cNvPr id="2198" name="Google Shape;2198;h547f90b031e64a91_0_1298"/>
          <p:cNvSpPr txBox="1"/>
          <p:nvPr/>
        </p:nvSpPr>
        <p:spPr>
          <a:xfrm>
            <a:off x="813816" y="923544"/>
            <a:ext cx="10698600" cy="4617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Clr>
                <a:srgbClr val="000000"/>
              </a:buClr>
              <a:buSzPts val="3000"/>
              <a:buFont typeface="Arial"/>
              <a:buNone/>
            </a:pPr>
            <a:r>
              <a:rPr b="1" i="0" lang="en-US" sz="3000" u="none" cap="none" strike="noStrike">
                <a:solidFill>
                  <a:srgbClr val="1F2328"/>
                </a:solidFill>
                <a:latin typeface="Cambria"/>
                <a:ea typeface="Cambria"/>
                <a:cs typeface="Cambria"/>
                <a:sym typeface="Cambria"/>
              </a:rPr>
              <a:t>Next: let the data speak.</a:t>
            </a:r>
            <a:endParaRPr b="0" i="0" sz="1400" u="none" cap="none" strike="noStrike">
              <a:solidFill>
                <a:srgbClr val="000000"/>
              </a:solidFill>
              <a:latin typeface="Arial"/>
              <a:ea typeface="Arial"/>
              <a:cs typeface="Arial"/>
              <a:sym typeface="Arial"/>
            </a:endParaRPr>
          </a:p>
        </p:txBody>
      </p:sp>
      <p:sp>
        <p:nvSpPr>
          <p:cNvPr id="2199" name="Google Shape;2199;h547f90b031e64a91_0_1298"/>
          <p:cNvSpPr txBox="1"/>
          <p:nvPr/>
        </p:nvSpPr>
        <p:spPr>
          <a:xfrm>
            <a:off x="822960" y="1682496"/>
            <a:ext cx="105156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650" u="none" cap="none" strike="noStrike">
                <a:solidFill>
                  <a:srgbClr val="5B6770"/>
                </a:solidFill>
                <a:latin typeface="Calibri"/>
                <a:ea typeface="Calibri"/>
                <a:cs typeface="Calibri"/>
                <a:sym typeface="Calibri"/>
              </a:rPr>
              <a:t>Today </a:t>
            </a:r>
            <a:r>
              <a:rPr b="1" i="1" lang="en-US" sz="1650" u="none" cap="none" strike="noStrike">
                <a:solidFill>
                  <a:srgbClr val="3A434C"/>
                </a:solidFill>
                <a:latin typeface="Calibri"/>
                <a:ea typeface="Calibri"/>
                <a:cs typeface="Calibri"/>
                <a:sym typeface="Calibri"/>
              </a:rPr>
              <a:t>RIGOR</a:t>
            </a:r>
            <a:r>
              <a:rPr b="0" i="0" lang="en-US" sz="1650" u="none" cap="none" strike="noStrike">
                <a:solidFill>
                  <a:srgbClr val="5B6770"/>
                </a:solidFill>
                <a:latin typeface="Calibri"/>
                <a:ea typeface="Calibri"/>
                <a:cs typeface="Calibri"/>
                <a:sym typeface="Calibri"/>
              </a:rPr>
              <a:t> reads </a:t>
            </a:r>
            <a:r>
              <a:rPr b="1" i="0" lang="en-US" sz="1650" u="none" cap="none" strike="noStrike">
                <a:solidFill>
                  <a:srgbClr val="3A434C"/>
                </a:solidFill>
                <a:latin typeface="Calibri"/>
                <a:ea typeface="Calibri"/>
                <a:cs typeface="Calibri"/>
                <a:sym typeface="Calibri"/>
              </a:rPr>
              <a:t>schemas</a:t>
            </a:r>
            <a:r>
              <a:rPr b="0" i="0" lang="en-US" sz="1650" u="none" cap="none" strike="noStrike">
                <a:solidFill>
                  <a:srgbClr val="5B6770"/>
                </a:solidFill>
                <a:latin typeface="Calibri"/>
                <a:ea typeface="Calibri"/>
                <a:cs typeface="Calibri"/>
                <a:sym typeface="Calibri"/>
              </a:rPr>
              <a:t>. </a:t>
            </a:r>
            <a:r>
              <a:rPr b="1" i="0" lang="en-US" sz="1650" u="none" cap="none" strike="noStrike">
                <a:solidFill>
                  <a:srgbClr val="3A434C"/>
                </a:solidFill>
                <a:latin typeface="Calibri"/>
                <a:ea typeface="Calibri"/>
                <a:cs typeface="Calibri"/>
                <a:sym typeface="Calibri"/>
              </a:rPr>
              <a:t>Instance data</a:t>
            </a:r>
            <a:r>
              <a:rPr b="0" i="0" lang="en-US" sz="1650" u="none" cap="none" strike="noStrike">
                <a:solidFill>
                  <a:srgbClr val="5B6770"/>
                </a:solidFill>
                <a:latin typeface="Calibri"/>
                <a:ea typeface="Calibri"/>
                <a:cs typeface="Calibri"/>
                <a:sym typeface="Calibri"/>
              </a:rPr>
              <a:t> can propose </a:t>
            </a:r>
            <a:r>
              <a:rPr b="1" i="0" lang="en-US" sz="1650" u="none" cap="none" strike="noStrike">
                <a:solidFill>
                  <a:srgbClr val="3A434C"/>
                </a:solidFill>
                <a:latin typeface="Calibri"/>
                <a:ea typeface="Calibri"/>
                <a:cs typeface="Calibri"/>
                <a:sym typeface="Calibri"/>
              </a:rPr>
              <a:t>new knowledge</a:t>
            </a:r>
            <a:r>
              <a:rPr b="0" i="0" lang="en-US" sz="1650" u="none" cap="none" strike="noStrike">
                <a:solidFill>
                  <a:srgbClr val="5B6770"/>
                </a:solidFill>
                <a:latin typeface="Calibri"/>
                <a:ea typeface="Calibri"/>
                <a:cs typeface="Calibri"/>
                <a:sym typeface="Calibri"/>
              </a:rPr>
              <a:t>.</a:t>
            </a:r>
            <a:endParaRPr/>
          </a:p>
        </p:txBody>
      </p:sp>
      <p:sp>
        <p:nvSpPr>
          <p:cNvPr id="2200" name="Google Shape;2200;h547f90b031e64a91_0_1298"/>
          <p:cNvSpPr/>
          <p:nvPr/>
        </p:nvSpPr>
        <p:spPr>
          <a:xfrm>
            <a:off x="804672" y="2304288"/>
            <a:ext cx="3246000" cy="3566100"/>
          </a:xfrm>
          <a:prstGeom prst="roundRect">
            <a:avLst>
              <a:gd fmla="val 12000" name="adj"/>
            </a:avLst>
          </a:prstGeom>
          <a:solidFill>
            <a:srgbClr val="FFFFFF"/>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01" name="Google Shape;2201;h547f90b031e64a91_0_1298"/>
          <p:cNvSpPr txBox="1"/>
          <p:nvPr/>
        </p:nvSpPr>
        <p:spPr>
          <a:xfrm>
            <a:off x="1033271" y="2468880"/>
            <a:ext cx="27888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2F6B78"/>
                </a:solidFill>
                <a:latin typeface="Consolas"/>
                <a:ea typeface="Consolas"/>
                <a:cs typeface="Consolas"/>
                <a:sym typeface="Consolas"/>
              </a:rPr>
              <a:t>1  THE DATA</a:t>
            </a:r>
            <a:endParaRPr/>
          </a:p>
        </p:txBody>
      </p:sp>
      <p:sp>
        <p:nvSpPr>
          <p:cNvPr id="2202" name="Google Shape;2202;h547f90b031e64a91_0_1298"/>
          <p:cNvSpPr txBox="1"/>
          <p:nvPr/>
        </p:nvSpPr>
        <p:spPr>
          <a:xfrm>
            <a:off x="1033271" y="2743200"/>
            <a:ext cx="27888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50" u="none" cap="none" strike="noStrike">
                <a:solidFill>
                  <a:srgbClr val="5B6770"/>
                </a:solidFill>
                <a:latin typeface="Calibri"/>
                <a:ea typeface="Calibri"/>
                <a:cs typeface="Calibri"/>
                <a:sym typeface="Calibri"/>
              </a:rPr>
              <a:t>two tables, joined on admission_id</a:t>
            </a:r>
            <a:endParaRPr/>
          </a:p>
        </p:txBody>
      </p:sp>
      <p:sp>
        <p:nvSpPr>
          <p:cNvPr id="2203" name="Google Shape;2203;h547f90b031e64a91_0_1298"/>
          <p:cNvSpPr/>
          <p:nvPr/>
        </p:nvSpPr>
        <p:spPr>
          <a:xfrm>
            <a:off x="941832" y="3054096"/>
            <a:ext cx="2971800" cy="13122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04" name="Google Shape;2204;h547f90b031e64a91_0_1298"/>
          <p:cNvSpPr txBox="1"/>
          <p:nvPr/>
        </p:nvSpPr>
        <p:spPr>
          <a:xfrm>
            <a:off x="1078992" y="3081527"/>
            <a:ext cx="269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1F2328"/>
                </a:solidFill>
                <a:latin typeface="Calibri"/>
                <a:ea typeface="Calibri"/>
                <a:cs typeface="Calibri"/>
                <a:sym typeface="Calibri"/>
              </a:rPr>
              <a:t>treatment</a:t>
            </a:r>
            <a:endParaRPr/>
          </a:p>
        </p:txBody>
      </p:sp>
      <p:sp>
        <p:nvSpPr>
          <p:cNvPr id="2205" name="Google Shape;2205;h547f90b031e64a91_0_1298"/>
          <p:cNvSpPr/>
          <p:nvPr/>
        </p:nvSpPr>
        <p:spPr>
          <a:xfrm>
            <a:off x="1078992" y="3383279"/>
            <a:ext cx="2697600" cy="11100"/>
          </a:xfrm>
          <a:prstGeom prst="rect">
            <a:avLst/>
          </a:prstGeom>
          <a:solidFill>
            <a:srgbClr val="9AA3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06" name="Google Shape;2206;h547f90b031e64a91_0_1298"/>
          <p:cNvSpPr txBox="1"/>
          <p:nvPr/>
        </p:nvSpPr>
        <p:spPr>
          <a:xfrm>
            <a:off x="1078992" y="3410712"/>
            <a:ext cx="10515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admission_id</a:t>
            </a:r>
            <a:r>
              <a:rPr b="0" i="0" lang="en-US" sz="950" u="none" cap="none" strike="noStrike">
                <a:solidFill>
                  <a:srgbClr val="5B6770"/>
                </a:solidFill>
                <a:latin typeface="Calibri"/>
                <a:ea typeface="Calibri"/>
                <a:cs typeface="Calibri"/>
                <a:sym typeface="Calibri"/>
              </a:rPr>
              <a:t> FK</a:t>
            </a:r>
            <a:endParaRPr/>
          </a:p>
        </p:txBody>
      </p:sp>
      <p:sp>
        <p:nvSpPr>
          <p:cNvPr id="2207" name="Google Shape;2207;h547f90b031e64a91_0_1298"/>
          <p:cNvSpPr txBox="1"/>
          <p:nvPr/>
        </p:nvSpPr>
        <p:spPr>
          <a:xfrm>
            <a:off x="2130552" y="3410712"/>
            <a:ext cx="14631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drug</a:t>
            </a:r>
            <a:endParaRPr/>
          </a:p>
        </p:txBody>
      </p:sp>
      <p:sp>
        <p:nvSpPr>
          <p:cNvPr id="2208" name="Google Shape;2208;h547f90b031e64a91_0_1298"/>
          <p:cNvSpPr/>
          <p:nvPr/>
        </p:nvSpPr>
        <p:spPr>
          <a:xfrm>
            <a:off x="1014984" y="3639312"/>
            <a:ext cx="2825400" cy="205800"/>
          </a:xfrm>
          <a:prstGeom prst="rect">
            <a:avLst/>
          </a:prstGeom>
          <a:solidFill>
            <a:srgbClr val="D7E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09" name="Google Shape;2209;h547f90b031e64a91_0_1298"/>
          <p:cNvSpPr txBox="1"/>
          <p:nvPr/>
        </p:nvSpPr>
        <p:spPr>
          <a:xfrm>
            <a:off x="1078992" y="3639312"/>
            <a:ext cx="10515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A1</a:t>
            </a:r>
            <a:endParaRPr/>
          </a:p>
        </p:txBody>
      </p:sp>
      <p:sp>
        <p:nvSpPr>
          <p:cNvPr id="2210" name="Google Shape;2210;h547f90b031e64a91_0_1298"/>
          <p:cNvSpPr txBox="1"/>
          <p:nvPr/>
        </p:nvSpPr>
        <p:spPr>
          <a:xfrm>
            <a:off x="2130552" y="3639312"/>
            <a:ext cx="14631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cisplatin</a:t>
            </a:r>
            <a:endParaRPr/>
          </a:p>
        </p:txBody>
      </p:sp>
      <p:sp>
        <p:nvSpPr>
          <p:cNvPr id="2211" name="Google Shape;2211;h547f90b031e64a91_0_1298"/>
          <p:cNvSpPr txBox="1"/>
          <p:nvPr/>
        </p:nvSpPr>
        <p:spPr>
          <a:xfrm>
            <a:off x="1078992" y="3863339"/>
            <a:ext cx="10515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A2</a:t>
            </a:r>
            <a:endParaRPr/>
          </a:p>
        </p:txBody>
      </p:sp>
      <p:sp>
        <p:nvSpPr>
          <p:cNvPr id="2212" name="Google Shape;2212;h547f90b031e64a91_0_1298"/>
          <p:cNvSpPr txBox="1"/>
          <p:nvPr/>
        </p:nvSpPr>
        <p:spPr>
          <a:xfrm>
            <a:off x="2130552" y="3863339"/>
            <a:ext cx="14631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nivolumab</a:t>
            </a:r>
            <a:endParaRPr/>
          </a:p>
        </p:txBody>
      </p:sp>
      <p:sp>
        <p:nvSpPr>
          <p:cNvPr id="2213" name="Google Shape;2213;h547f90b031e64a91_0_1298"/>
          <p:cNvSpPr/>
          <p:nvPr/>
        </p:nvSpPr>
        <p:spPr>
          <a:xfrm>
            <a:off x="1014984" y="4087368"/>
            <a:ext cx="2825400" cy="205800"/>
          </a:xfrm>
          <a:prstGeom prst="rect">
            <a:avLst/>
          </a:prstGeom>
          <a:solidFill>
            <a:srgbClr val="D7E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14" name="Google Shape;2214;h547f90b031e64a91_0_1298"/>
          <p:cNvSpPr txBox="1"/>
          <p:nvPr/>
        </p:nvSpPr>
        <p:spPr>
          <a:xfrm>
            <a:off x="1078992" y="4087368"/>
            <a:ext cx="10515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A3</a:t>
            </a:r>
            <a:endParaRPr/>
          </a:p>
        </p:txBody>
      </p:sp>
      <p:sp>
        <p:nvSpPr>
          <p:cNvPr id="2215" name="Google Shape;2215;h547f90b031e64a91_0_1298"/>
          <p:cNvSpPr txBox="1"/>
          <p:nvPr/>
        </p:nvSpPr>
        <p:spPr>
          <a:xfrm>
            <a:off x="2130552" y="4087368"/>
            <a:ext cx="14631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cisplatin</a:t>
            </a:r>
            <a:endParaRPr/>
          </a:p>
        </p:txBody>
      </p:sp>
      <p:sp>
        <p:nvSpPr>
          <p:cNvPr id="2216" name="Google Shape;2216;h547f90b031e64a91_0_1298"/>
          <p:cNvSpPr/>
          <p:nvPr/>
        </p:nvSpPr>
        <p:spPr>
          <a:xfrm>
            <a:off x="941832" y="4457700"/>
            <a:ext cx="2971800" cy="13122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17" name="Google Shape;2217;h547f90b031e64a91_0_1298"/>
          <p:cNvSpPr txBox="1"/>
          <p:nvPr/>
        </p:nvSpPr>
        <p:spPr>
          <a:xfrm>
            <a:off x="1078992" y="4485132"/>
            <a:ext cx="269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1F2328"/>
                </a:solidFill>
                <a:latin typeface="Calibri"/>
                <a:ea typeface="Calibri"/>
                <a:cs typeface="Calibri"/>
                <a:sym typeface="Calibri"/>
              </a:rPr>
              <a:t>admission</a:t>
            </a:r>
            <a:endParaRPr/>
          </a:p>
        </p:txBody>
      </p:sp>
      <p:sp>
        <p:nvSpPr>
          <p:cNvPr id="2218" name="Google Shape;2218;h547f90b031e64a91_0_1298"/>
          <p:cNvSpPr/>
          <p:nvPr/>
        </p:nvSpPr>
        <p:spPr>
          <a:xfrm>
            <a:off x="1078992" y="4786884"/>
            <a:ext cx="2697600" cy="11100"/>
          </a:xfrm>
          <a:prstGeom prst="rect">
            <a:avLst/>
          </a:prstGeom>
          <a:solidFill>
            <a:srgbClr val="9AA3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19" name="Google Shape;2219;h547f90b031e64a91_0_1298"/>
          <p:cNvSpPr txBox="1"/>
          <p:nvPr/>
        </p:nvSpPr>
        <p:spPr>
          <a:xfrm>
            <a:off x="1078992" y="4814316"/>
            <a:ext cx="10515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admission_id</a:t>
            </a:r>
            <a:endParaRPr/>
          </a:p>
        </p:txBody>
      </p:sp>
      <p:sp>
        <p:nvSpPr>
          <p:cNvPr id="2220" name="Google Shape;2220;h547f90b031e64a91_0_1298"/>
          <p:cNvSpPr txBox="1"/>
          <p:nvPr/>
        </p:nvSpPr>
        <p:spPr>
          <a:xfrm>
            <a:off x="2130552" y="4814316"/>
            <a:ext cx="8688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patient_id</a:t>
            </a:r>
            <a:endParaRPr/>
          </a:p>
        </p:txBody>
      </p:sp>
      <p:sp>
        <p:nvSpPr>
          <p:cNvPr id="2221" name="Google Shape;2221;h547f90b031e64a91_0_1298"/>
          <p:cNvSpPr txBox="1"/>
          <p:nvPr/>
        </p:nvSpPr>
        <p:spPr>
          <a:xfrm>
            <a:off x="2999232" y="4814316"/>
            <a:ext cx="7314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BM_DEP</a:t>
            </a:r>
            <a:endParaRPr/>
          </a:p>
        </p:txBody>
      </p:sp>
      <p:sp>
        <p:nvSpPr>
          <p:cNvPr id="2222" name="Google Shape;2222;h547f90b031e64a91_0_1298"/>
          <p:cNvSpPr/>
          <p:nvPr/>
        </p:nvSpPr>
        <p:spPr>
          <a:xfrm>
            <a:off x="1014984" y="5042916"/>
            <a:ext cx="2825400" cy="205800"/>
          </a:xfrm>
          <a:prstGeom prst="rect">
            <a:avLst/>
          </a:prstGeom>
          <a:solidFill>
            <a:srgbClr val="D7E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23" name="Google Shape;2223;h547f90b031e64a91_0_1298"/>
          <p:cNvSpPr txBox="1"/>
          <p:nvPr/>
        </p:nvSpPr>
        <p:spPr>
          <a:xfrm>
            <a:off x="1078992" y="5042916"/>
            <a:ext cx="10515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A1</a:t>
            </a:r>
            <a:endParaRPr/>
          </a:p>
        </p:txBody>
      </p:sp>
      <p:sp>
        <p:nvSpPr>
          <p:cNvPr id="2224" name="Google Shape;2224;h547f90b031e64a91_0_1298"/>
          <p:cNvSpPr txBox="1"/>
          <p:nvPr/>
        </p:nvSpPr>
        <p:spPr>
          <a:xfrm>
            <a:off x="2130552" y="5042916"/>
            <a:ext cx="8688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P1</a:t>
            </a:r>
            <a:endParaRPr/>
          </a:p>
        </p:txBody>
      </p:sp>
      <p:sp>
        <p:nvSpPr>
          <p:cNvPr id="2225" name="Google Shape;2225;h547f90b031e64a91_0_1298"/>
          <p:cNvSpPr txBox="1"/>
          <p:nvPr/>
        </p:nvSpPr>
        <p:spPr>
          <a:xfrm>
            <a:off x="2999232" y="5042916"/>
            <a:ext cx="7314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1</a:t>
            </a:r>
            <a:endParaRPr/>
          </a:p>
        </p:txBody>
      </p:sp>
      <p:sp>
        <p:nvSpPr>
          <p:cNvPr id="2226" name="Google Shape;2226;h547f90b031e64a91_0_1298"/>
          <p:cNvSpPr txBox="1"/>
          <p:nvPr/>
        </p:nvSpPr>
        <p:spPr>
          <a:xfrm>
            <a:off x="1078992" y="5266944"/>
            <a:ext cx="10515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A2</a:t>
            </a:r>
            <a:endParaRPr/>
          </a:p>
        </p:txBody>
      </p:sp>
      <p:sp>
        <p:nvSpPr>
          <p:cNvPr id="2227" name="Google Shape;2227;h547f90b031e64a91_0_1298"/>
          <p:cNvSpPr txBox="1"/>
          <p:nvPr/>
        </p:nvSpPr>
        <p:spPr>
          <a:xfrm>
            <a:off x="2130552" y="5266944"/>
            <a:ext cx="8688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P2</a:t>
            </a:r>
            <a:endParaRPr/>
          </a:p>
        </p:txBody>
      </p:sp>
      <p:sp>
        <p:nvSpPr>
          <p:cNvPr id="2228" name="Google Shape;2228;h547f90b031e64a91_0_1298"/>
          <p:cNvSpPr txBox="1"/>
          <p:nvPr/>
        </p:nvSpPr>
        <p:spPr>
          <a:xfrm>
            <a:off x="2999232" y="5266944"/>
            <a:ext cx="7314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0</a:t>
            </a:r>
            <a:endParaRPr/>
          </a:p>
        </p:txBody>
      </p:sp>
      <p:sp>
        <p:nvSpPr>
          <p:cNvPr id="2229" name="Google Shape;2229;h547f90b031e64a91_0_1298"/>
          <p:cNvSpPr/>
          <p:nvPr/>
        </p:nvSpPr>
        <p:spPr>
          <a:xfrm>
            <a:off x="1014984" y="5490972"/>
            <a:ext cx="2825400" cy="205800"/>
          </a:xfrm>
          <a:prstGeom prst="rect">
            <a:avLst/>
          </a:prstGeom>
          <a:solidFill>
            <a:srgbClr val="D7E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30" name="Google Shape;2230;h547f90b031e64a91_0_1298"/>
          <p:cNvSpPr txBox="1"/>
          <p:nvPr/>
        </p:nvSpPr>
        <p:spPr>
          <a:xfrm>
            <a:off x="1078992" y="5490972"/>
            <a:ext cx="10515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A3</a:t>
            </a:r>
            <a:endParaRPr/>
          </a:p>
        </p:txBody>
      </p:sp>
      <p:sp>
        <p:nvSpPr>
          <p:cNvPr id="2231" name="Google Shape;2231;h547f90b031e64a91_0_1298"/>
          <p:cNvSpPr txBox="1"/>
          <p:nvPr/>
        </p:nvSpPr>
        <p:spPr>
          <a:xfrm>
            <a:off x="2130552" y="5490972"/>
            <a:ext cx="8688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P3</a:t>
            </a:r>
            <a:endParaRPr/>
          </a:p>
        </p:txBody>
      </p:sp>
      <p:sp>
        <p:nvSpPr>
          <p:cNvPr id="2232" name="Google Shape;2232;h547f90b031e64a91_0_1298"/>
          <p:cNvSpPr txBox="1"/>
          <p:nvPr/>
        </p:nvSpPr>
        <p:spPr>
          <a:xfrm>
            <a:off x="2999232" y="5490972"/>
            <a:ext cx="7314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1</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7" name="Shape 2237"/>
        <p:cNvGrpSpPr/>
        <p:nvPr/>
      </p:nvGrpSpPr>
      <p:grpSpPr>
        <a:xfrm>
          <a:off x="0" y="0"/>
          <a:ext cx="0" cy="0"/>
          <a:chOff x="0" y="0"/>
          <a:chExt cx="0" cy="0"/>
        </a:xfrm>
      </p:grpSpPr>
      <p:sp>
        <p:nvSpPr>
          <p:cNvPr id="2238" name="Google Shape;2238;h547f90b031e64a91_0_1373"/>
          <p:cNvSpPr txBox="1"/>
          <p:nvPr/>
        </p:nvSpPr>
        <p:spPr>
          <a:xfrm>
            <a:off x="813816" y="493776"/>
            <a:ext cx="106071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FUTURE WORK</a:t>
            </a:r>
            <a:endParaRPr b="0" i="0" sz="1400" u="none" cap="none" strike="noStrike">
              <a:solidFill>
                <a:srgbClr val="000000"/>
              </a:solidFill>
              <a:latin typeface="Arial"/>
              <a:ea typeface="Arial"/>
              <a:cs typeface="Arial"/>
              <a:sym typeface="Arial"/>
            </a:endParaRPr>
          </a:p>
        </p:txBody>
      </p:sp>
      <p:sp>
        <p:nvSpPr>
          <p:cNvPr id="2239" name="Google Shape;2239;h547f90b031e64a91_0_1373"/>
          <p:cNvSpPr txBox="1"/>
          <p:nvPr/>
        </p:nvSpPr>
        <p:spPr>
          <a:xfrm>
            <a:off x="813816" y="923544"/>
            <a:ext cx="10698600" cy="4617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Clr>
                <a:srgbClr val="000000"/>
              </a:buClr>
              <a:buSzPts val="3000"/>
              <a:buFont typeface="Arial"/>
              <a:buNone/>
            </a:pPr>
            <a:r>
              <a:rPr b="1" i="0" lang="en-US" sz="3000" u="none" cap="none" strike="noStrike">
                <a:solidFill>
                  <a:srgbClr val="1F2328"/>
                </a:solidFill>
                <a:latin typeface="Cambria"/>
                <a:ea typeface="Cambria"/>
                <a:cs typeface="Cambria"/>
                <a:sym typeface="Cambria"/>
              </a:rPr>
              <a:t>Next: let the data speak.</a:t>
            </a:r>
            <a:endParaRPr b="0" i="0" sz="1400" u="none" cap="none" strike="noStrike">
              <a:solidFill>
                <a:srgbClr val="000000"/>
              </a:solidFill>
              <a:latin typeface="Arial"/>
              <a:ea typeface="Arial"/>
              <a:cs typeface="Arial"/>
              <a:sym typeface="Arial"/>
            </a:endParaRPr>
          </a:p>
        </p:txBody>
      </p:sp>
      <p:sp>
        <p:nvSpPr>
          <p:cNvPr id="2240" name="Google Shape;2240;h547f90b031e64a91_0_1373"/>
          <p:cNvSpPr txBox="1"/>
          <p:nvPr/>
        </p:nvSpPr>
        <p:spPr>
          <a:xfrm>
            <a:off x="822960" y="1682496"/>
            <a:ext cx="105156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650" u="none" cap="none" strike="noStrike">
                <a:solidFill>
                  <a:srgbClr val="5B6770"/>
                </a:solidFill>
                <a:latin typeface="Calibri"/>
                <a:ea typeface="Calibri"/>
                <a:cs typeface="Calibri"/>
                <a:sym typeface="Calibri"/>
              </a:rPr>
              <a:t>Today </a:t>
            </a:r>
            <a:r>
              <a:rPr b="1" i="1" lang="en-US" sz="1650" u="none" cap="none" strike="noStrike">
                <a:solidFill>
                  <a:srgbClr val="3A434C"/>
                </a:solidFill>
                <a:latin typeface="Calibri"/>
                <a:ea typeface="Calibri"/>
                <a:cs typeface="Calibri"/>
                <a:sym typeface="Calibri"/>
              </a:rPr>
              <a:t>RIGOR</a:t>
            </a:r>
            <a:r>
              <a:rPr b="0" i="0" lang="en-US" sz="1650" u="none" cap="none" strike="noStrike">
                <a:solidFill>
                  <a:srgbClr val="5B6770"/>
                </a:solidFill>
                <a:latin typeface="Calibri"/>
                <a:ea typeface="Calibri"/>
                <a:cs typeface="Calibri"/>
                <a:sym typeface="Calibri"/>
              </a:rPr>
              <a:t> reads </a:t>
            </a:r>
            <a:r>
              <a:rPr b="1" i="0" lang="en-US" sz="1650" u="none" cap="none" strike="noStrike">
                <a:solidFill>
                  <a:srgbClr val="3A434C"/>
                </a:solidFill>
                <a:latin typeface="Calibri"/>
                <a:ea typeface="Calibri"/>
                <a:cs typeface="Calibri"/>
                <a:sym typeface="Calibri"/>
              </a:rPr>
              <a:t>schemas</a:t>
            </a:r>
            <a:r>
              <a:rPr b="0" i="0" lang="en-US" sz="1650" u="none" cap="none" strike="noStrike">
                <a:solidFill>
                  <a:srgbClr val="5B6770"/>
                </a:solidFill>
                <a:latin typeface="Calibri"/>
                <a:ea typeface="Calibri"/>
                <a:cs typeface="Calibri"/>
                <a:sym typeface="Calibri"/>
              </a:rPr>
              <a:t>. </a:t>
            </a:r>
            <a:r>
              <a:rPr b="1" i="0" lang="en-US" sz="1650" u="none" cap="none" strike="noStrike">
                <a:solidFill>
                  <a:srgbClr val="3A434C"/>
                </a:solidFill>
                <a:latin typeface="Calibri"/>
                <a:ea typeface="Calibri"/>
                <a:cs typeface="Calibri"/>
                <a:sym typeface="Calibri"/>
              </a:rPr>
              <a:t>Instance data</a:t>
            </a:r>
            <a:r>
              <a:rPr b="0" i="0" lang="en-US" sz="1650" u="none" cap="none" strike="noStrike">
                <a:solidFill>
                  <a:srgbClr val="5B6770"/>
                </a:solidFill>
                <a:latin typeface="Calibri"/>
                <a:ea typeface="Calibri"/>
                <a:cs typeface="Calibri"/>
                <a:sym typeface="Calibri"/>
              </a:rPr>
              <a:t> can propose </a:t>
            </a:r>
            <a:r>
              <a:rPr b="1" i="0" lang="en-US" sz="1650" u="none" cap="none" strike="noStrike">
                <a:solidFill>
                  <a:srgbClr val="3A434C"/>
                </a:solidFill>
                <a:latin typeface="Calibri"/>
                <a:ea typeface="Calibri"/>
                <a:cs typeface="Calibri"/>
                <a:sym typeface="Calibri"/>
              </a:rPr>
              <a:t>new knowledge</a:t>
            </a:r>
            <a:r>
              <a:rPr b="0" i="0" lang="en-US" sz="1650" u="none" cap="none" strike="noStrike">
                <a:solidFill>
                  <a:srgbClr val="5B6770"/>
                </a:solidFill>
                <a:latin typeface="Calibri"/>
                <a:ea typeface="Calibri"/>
                <a:cs typeface="Calibri"/>
                <a:sym typeface="Calibri"/>
              </a:rPr>
              <a:t>.</a:t>
            </a:r>
            <a:endParaRPr/>
          </a:p>
        </p:txBody>
      </p:sp>
      <p:sp>
        <p:nvSpPr>
          <p:cNvPr id="2241" name="Google Shape;2241;h547f90b031e64a91_0_1373"/>
          <p:cNvSpPr/>
          <p:nvPr/>
        </p:nvSpPr>
        <p:spPr>
          <a:xfrm>
            <a:off x="804672" y="2304288"/>
            <a:ext cx="3246000" cy="3566100"/>
          </a:xfrm>
          <a:prstGeom prst="roundRect">
            <a:avLst>
              <a:gd fmla="val 12000" name="adj"/>
            </a:avLst>
          </a:prstGeom>
          <a:solidFill>
            <a:srgbClr val="FFFFFF"/>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42" name="Google Shape;2242;h547f90b031e64a91_0_1373"/>
          <p:cNvSpPr txBox="1"/>
          <p:nvPr/>
        </p:nvSpPr>
        <p:spPr>
          <a:xfrm>
            <a:off x="1033271" y="2468880"/>
            <a:ext cx="27888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2F6B78"/>
                </a:solidFill>
                <a:latin typeface="Consolas"/>
                <a:ea typeface="Consolas"/>
                <a:cs typeface="Consolas"/>
                <a:sym typeface="Consolas"/>
              </a:rPr>
              <a:t>1  THE DATA</a:t>
            </a:r>
            <a:endParaRPr/>
          </a:p>
        </p:txBody>
      </p:sp>
      <p:sp>
        <p:nvSpPr>
          <p:cNvPr id="2243" name="Google Shape;2243;h547f90b031e64a91_0_1373"/>
          <p:cNvSpPr txBox="1"/>
          <p:nvPr/>
        </p:nvSpPr>
        <p:spPr>
          <a:xfrm>
            <a:off x="1033271" y="2743200"/>
            <a:ext cx="27888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50" u="none" cap="none" strike="noStrike">
                <a:solidFill>
                  <a:srgbClr val="5B6770"/>
                </a:solidFill>
                <a:latin typeface="Calibri"/>
                <a:ea typeface="Calibri"/>
                <a:cs typeface="Calibri"/>
                <a:sym typeface="Calibri"/>
              </a:rPr>
              <a:t>two tables, joined on admission_id</a:t>
            </a:r>
            <a:endParaRPr/>
          </a:p>
        </p:txBody>
      </p:sp>
      <p:sp>
        <p:nvSpPr>
          <p:cNvPr id="2244" name="Google Shape;2244;h547f90b031e64a91_0_1373"/>
          <p:cNvSpPr/>
          <p:nvPr/>
        </p:nvSpPr>
        <p:spPr>
          <a:xfrm>
            <a:off x="941832" y="3054096"/>
            <a:ext cx="2971800" cy="13122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45" name="Google Shape;2245;h547f90b031e64a91_0_1373"/>
          <p:cNvSpPr txBox="1"/>
          <p:nvPr/>
        </p:nvSpPr>
        <p:spPr>
          <a:xfrm>
            <a:off x="1078992" y="3081527"/>
            <a:ext cx="269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1F2328"/>
                </a:solidFill>
                <a:latin typeface="Calibri"/>
                <a:ea typeface="Calibri"/>
                <a:cs typeface="Calibri"/>
                <a:sym typeface="Calibri"/>
              </a:rPr>
              <a:t>treatment</a:t>
            </a:r>
            <a:endParaRPr/>
          </a:p>
        </p:txBody>
      </p:sp>
      <p:sp>
        <p:nvSpPr>
          <p:cNvPr id="2246" name="Google Shape;2246;h547f90b031e64a91_0_1373"/>
          <p:cNvSpPr/>
          <p:nvPr/>
        </p:nvSpPr>
        <p:spPr>
          <a:xfrm>
            <a:off x="1078992" y="3383279"/>
            <a:ext cx="2697600" cy="11100"/>
          </a:xfrm>
          <a:prstGeom prst="rect">
            <a:avLst/>
          </a:prstGeom>
          <a:solidFill>
            <a:srgbClr val="9AA3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47" name="Google Shape;2247;h547f90b031e64a91_0_1373"/>
          <p:cNvSpPr txBox="1"/>
          <p:nvPr/>
        </p:nvSpPr>
        <p:spPr>
          <a:xfrm>
            <a:off x="1078992" y="3410712"/>
            <a:ext cx="10515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admission_id</a:t>
            </a:r>
            <a:r>
              <a:rPr b="0" i="0" lang="en-US" sz="950" u="none" cap="none" strike="noStrike">
                <a:solidFill>
                  <a:srgbClr val="5B6770"/>
                </a:solidFill>
                <a:latin typeface="Calibri"/>
                <a:ea typeface="Calibri"/>
                <a:cs typeface="Calibri"/>
                <a:sym typeface="Calibri"/>
              </a:rPr>
              <a:t> FK</a:t>
            </a:r>
            <a:endParaRPr/>
          </a:p>
        </p:txBody>
      </p:sp>
      <p:sp>
        <p:nvSpPr>
          <p:cNvPr id="2248" name="Google Shape;2248;h547f90b031e64a91_0_1373"/>
          <p:cNvSpPr txBox="1"/>
          <p:nvPr/>
        </p:nvSpPr>
        <p:spPr>
          <a:xfrm>
            <a:off x="2130552" y="3410712"/>
            <a:ext cx="14631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drug</a:t>
            </a:r>
            <a:endParaRPr/>
          </a:p>
        </p:txBody>
      </p:sp>
      <p:sp>
        <p:nvSpPr>
          <p:cNvPr id="2249" name="Google Shape;2249;h547f90b031e64a91_0_1373"/>
          <p:cNvSpPr/>
          <p:nvPr/>
        </p:nvSpPr>
        <p:spPr>
          <a:xfrm>
            <a:off x="1014984" y="3639312"/>
            <a:ext cx="2825400" cy="205800"/>
          </a:xfrm>
          <a:prstGeom prst="rect">
            <a:avLst/>
          </a:prstGeom>
          <a:solidFill>
            <a:srgbClr val="D7E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50" name="Google Shape;2250;h547f90b031e64a91_0_1373"/>
          <p:cNvSpPr txBox="1"/>
          <p:nvPr/>
        </p:nvSpPr>
        <p:spPr>
          <a:xfrm>
            <a:off x="1078992" y="3639312"/>
            <a:ext cx="10515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A1</a:t>
            </a:r>
            <a:endParaRPr/>
          </a:p>
        </p:txBody>
      </p:sp>
      <p:sp>
        <p:nvSpPr>
          <p:cNvPr id="2251" name="Google Shape;2251;h547f90b031e64a91_0_1373"/>
          <p:cNvSpPr txBox="1"/>
          <p:nvPr/>
        </p:nvSpPr>
        <p:spPr>
          <a:xfrm>
            <a:off x="2130552" y="3639312"/>
            <a:ext cx="14631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cisplatin</a:t>
            </a:r>
            <a:endParaRPr/>
          </a:p>
        </p:txBody>
      </p:sp>
      <p:sp>
        <p:nvSpPr>
          <p:cNvPr id="2252" name="Google Shape;2252;h547f90b031e64a91_0_1373"/>
          <p:cNvSpPr txBox="1"/>
          <p:nvPr/>
        </p:nvSpPr>
        <p:spPr>
          <a:xfrm>
            <a:off x="1078992" y="3863339"/>
            <a:ext cx="10515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A2</a:t>
            </a:r>
            <a:endParaRPr/>
          </a:p>
        </p:txBody>
      </p:sp>
      <p:sp>
        <p:nvSpPr>
          <p:cNvPr id="2253" name="Google Shape;2253;h547f90b031e64a91_0_1373"/>
          <p:cNvSpPr txBox="1"/>
          <p:nvPr/>
        </p:nvSpPr>
        <p:spPr>
          <a:xfrm>
            <a:off x="2130552" y="3863339"/>
            <a:ext cx="14631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nivolumab</a:t>
            </a:r>
            <a:endParaRPr/>
          </a:p>
        </p:txBody>
      </p:sp>
      <p:sp>
        <p:nvSpPr>
          <p:cNvPr id="2254" name="Google Shape;2254;h547f90b031e64a91_0_1373"/>
          <p:cNvSpPr/>
          <p:nvPr/>
        </p:nvSpPr>
        <p:spPr>
          <a:xfrm>
            <a:off x="1014984" y="4087368"/>
            <a:ext cx="2825400" cy="205800"/>
          </a:xfrm>
          <a:prstGeom prst="rect">
            <a:avLst/>
          </a:prstGeom>
          <a:solidFill>
            <a:srgbClr val="D7E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55" name="Google Shape;2255;h547f90b031e64a91_0_1373"/>
          <p:cNvSpPr txBox="1"/>
          <p:nvPr/>
        </p:nvSpPr>
        <p:spPr>
          <a:xfrm>
            <a:off x="1078992" y="4087368"/>
            <a:ext cx="10515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A3</a:t>
            </a:r>
            <a:endParaRPr/>
          </a:p>
        </p:txBody>
      </p:sp>
      <p:sp>
        <p:nvSpPr>
          <p:cNvPr id="2256" name="Google Shape;2256;h547f90b031e64a91_0_1373"/>
          <p:cNvSpPr txBox="1"/>
          <p:nvPr/>
        </p:nvSpPr>
        <p:spPr>
          <a:xfrm>
            <a:off x="2130552" y="4087368"/>
            <a:ext cx="14631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cisplatin</a:t>
            </a:r>
            <a:endParaRPr/>
          </a:p>
        </p:txBody>
      </p:sp>
      <p:sp>
        <p:nvSpPr>
          <p:cNvPr id="2257" name="Google Shape;2257;h547f90b031e64a91_0_1373"/>
          <p:cNvSpPr/>
          <p:nvPr/>
        </p:nvSpPr>
        <p:spPr>
          <a:xfrm>
            <a:off x="941832" y="4457700"/>
            <a:ext cx="2971800" cy="13122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58" name="Google Shape;2258;h547f90b031e64a91_0_1373"/>
          <p:cNvSpPr txBox="1"/>
          <p:nvPr/>
        </p:nvSpPr>
        <p:spPr>
          <a:xfrm>
            <a:off x="1078992" y="4485132"/>
            <a:ext cx="269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1F2328"/>
                </a:solidFill>
                <a:latin typeface="Calibri"/>
                <a:ea typeface="Calibri"/>
                <a:cs typeface="Calibri"/>
                <a:sym typeface="Calibri"/>
              </a:rPr>
              <a:t>admission</a:t>
            </a:r>
            <a:endParaRPr/>
          </a:p>
        </p:txBody>
      </p:sp>
      <p:sp>
        <p:nvSpPr>
          <p:cNvPr id="2259" name="Google Shape;2259;h547f90b031e64a91_0_1373"/>
          <p:cNvSpPr/>
          <p:nvPr/>
        </p:nvSpPr>
        <p:spPr>
          <a:xfrm>
            <a:off x="1078992" y="4786884"/>
            <a:ext cx="2697600" cy="11100"/>
          </a:xfrm>
          <a:prstGeom prst="rect">
            <a:avLst/>
          </a:prstGeom>
          <a:solidFill>
            <a:srgbClr val="9AA3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60" name="Google Shape;2260;h547f90b031e64a91_0_1373"/>
          <p:cNvSpPr txBox="1"/>
          <p:nvPr/>
        </p:nvSpPr>
        <p:spPr>
          <a:xfrm>
            <a:off x="1078992" y="4814316"/>
            <a:ext cx="10515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admission_id</a:t>
            </a:r>
            <a:endParaRPr/>
          </a:p>
        </p:txBody>
      </p:sp>
      <p:sp>
        <p:nvSpPr>
          <p:cNvPr id="2261" name="Google Shape;2261;h547f90b031e64a91_0_1373"/>
          <p:cNvSpPr txBox="1"/>
          <p:nvPr/>
        </p:nvSpPr>
        <p:spPr>
          <a:xfrm>
            <a:off x="2130552" y="4814316"/>
            <a:ext cx="8688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patient_id</a:t>
            </a:r>
            <a:endParaRPr/>
          </a:p>
        </p:txBody>
      </p:sp>
      <p:sp>
        <p:nvSpPr>
          <p:cNvPr id="2262" name="Google Shape;2262;h547f90b031e64a91_0_1373"/>
          <p:cNvSpPr txBox="1"/>
          <p:nvPr/>
        </p:nvSpPr>
        <p:spPr>
          <a:xfrm>
            <a:off x="2999232" y="4814316"/>
            <a:ext cx="7314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alibri"/>
                <a:ea typeface="Calibri"/>
                <a:cs typeface="Calibri"/>
                <a:sym typeface="Calibri"/>
              </a:rPr>
              <a:t>BM_DEP</a:t>
            </a:r>
            <a:endParaRPr/>
          </a:p>
        </p:txBody>
      </p:sp>
      <p:sp>
        <p:nvSpPr>
          <p:cNvPr id="2263" name="Google Shape;2263;h547f90b031e64a91_0_1373"/>
          <p:cNvSpPr/>
          <p:nvPr/>
        </p:nvSpPr>
        <p:spPr>
          <a:xfrm>
            <a:off x="1014984" y="5042916"/>
            <a:ext cx="2825400" cy="205800"/>
          </a:xfrm>
          <a:prstGeom prst="rect">
            <a:avLst/>
          </a:prstGeom>
          <a:solidFill>
            <a:srgbClr val="D7E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64" name="Google Shape;2264;h547f90b031e64a91_0_1373"/>
          <p:cNvSpPr txBox="1"/>
          <p:nvPr/>
        </p:nvSpPr>
        <p:spPr>
          <a:xfrm>
            <a:off x="1078992" y="5042916"/>
            <a:ext cx="10515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A1</a:t>
            </a:r>
            <a:endParaRPr/>
          </a:p>
        </p:txBody>
      </p:sp>
      <p:sp>
        <p:nvSpPr>
          <p:cNvPr id="2265" name="Google Shape;2265;h547f90b031e64a91_0_1373"/>
          <p:cNvSpPr txBox="1"/>
          <p:nvPr/>
        </p:nvSpPr>
        <p:spPr>
          <a:xfrm>
            <a:off x="2130552" y="5042916"/>
            <a:ext cx="8688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P1</a:t>
            </a:r>
            <a:endParaRPr/>
          </a:p>
        </p:txBody>
      </p:sp>
      <p:sp>
        <p:nvSpPr>
          <p:cNvPr id="2266" name="Google Shape;2266;h547f90b031e64a91_0_1373"/>
          <p:cNvSpPr txBox="1"/>
          <p:nvPr/>
        </p:nvSpPr>
        <p:spPr>
          <a:xfrm>
            <a:off x="2999232" y="5042916"/>
            <a:ext cx="7314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1</a:t>
            </a:r>
            <a:endParaRPr/>
          </a:p>
        </p:txBody>
      </p:sp>
      <p:sp>
        <p:nvSpPr>
          <p:cNvPr id="2267" name="Google Shape;2267;h547f90b031e64a91_0_1373"/>
          <p:cNvSpPr txBox="1"/>
          <p:nvPr/>
        </p:nvSpPr>
        <p:spPr>
          <a:xfrm>
            <a:off x="1078992" y="5266944"/>
            <a:ext cx="10515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A2</a:t>
            </a:r>
            <a:endParaRPr/>
          </a:p>
        </p:txBody>
      </p:sp>
      <p:sp>
        <p:nvSpPr>
          <p:cNvPr id="2268" name="Google Shape;2268;h547f90b031e64a91_0_1373"/>
          <p:cNvSpPr txBox="1"/>
          <p:nvPr/>
        </p:nvSpPr>
        <p:spPr>
          <a:xfrm>
            <a:off x="2130552" y="5266944"/>
            <a:ext cx="8688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P2</a:t>
            </a:r>
            <a:endParaRPr/>
          </a:p>
        </p:txBody>
      </p:sp>
      <p:sp>
        <p:nvSpPr>
          <p:cNvPr id="2269" name="Google Shape;2269;h547f90b031e64a91_0_1373"/>
          <p:cNvSpPr txBox="1"/>
          <p:nvPr/>
        </p:nvSpPr>
        <p:spPr>
          <a:xfrm>
            <a:off x="2999232" y="5266944"/>
            <a:ext cx="7314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0</a:t>
            </a:r>
            <a:endParaRPr/>
          </a:p>
        </p:txBody>
      </p:sp>
      <p:sp>
        <p:nvSpPr>
          <p:cNvPr id="2270" name="Google Shape;2270;h547f90b031e64a91_0_1373"/>
          <p:cNvSpPr/>
          <p:nvPr/>
        </p:nvSpPr>
        <p:spPr>
          <a:xfrm>
            <a:off x="1014984" y="5490972"/>
            <a:ext cx="2825400" cy="205800"/>
          </a:xfrm>
          <a:prstGeom prst="rect">
            <a:avLst/>
          </a:prstGeom>
          <a:solidFill>
            <a:srgbClr val="D7E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71" name="Google Shape;2271;h547f90b031e64a91_0_1373"/>
          <p:cNvSpPr txBox="1"/>
          <p:nvPr/>
        </p:nvSpPr>
        <p:spPr>
          <a:xfrm>
            <a:off x="1078992" y="5490972"/>
            <a:ext cx="10515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A3</a:t>
            </a:r>
            <a:endParaRPr/>
          </a:p>
        </p:txBody>
      </p:sp>
      <p:sp>
        <p:nvSpPr>
          <p:cNvPr id="2272" name="Google Shape;2272;h547f90b031e64a91_0_1373"/>
          <p:cNvSpPr txBox="1"/>
          <p:nvPr/>
        </p:nvSpPr>
        <p:spPr>
          <a:xfrm>
            <a:off x="2130552" y="5490972"/>
            <a:ext cx="8688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P3</a:t>
            </a:r>
            <a:endParaRPr/>
          </a:p>
        </p:txBody>
      </p:sp>
      <p:sp>
        <p:nvSpPr>
          <p:cNvPr id="2273" name="Google Shape;2273;h547f90b031e64a91_0_1373"/>
          <p:cNvSpPr txBox="1"/>
          <p:nvPr/>
        </p:nvSpPr>
        <p:spPr>
          <a:xfrm>
            <a:off x="2999232" y="5490972"/>
            <a:ext cx="7314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1</a:t>
            </a:r>
            <a:endParaRPr/>
          </a:p>
        </p:txBody>
      </p:sp>
      <p:sp>
        <p:nvSpPr>
          <p:cNvPr id="2274" name="Google Shape;2274;h547f90b031e64a91_0_1373"/>
          <p:cNvSpPr/>
          <p:nvPr/>
        </p:nvSpPr>
        <p:spPr>
          <a:xfrm>
            <a:off x="4379976" y="2304288"/>
            <a:ext cx="3017400" cy="3566100"/>
          </a:xfrm>
          <a:prstGeom prst="roundRect">
            <a:avLst>
              <a:gd fmla="val 12000" name="adj"/>
            </a:avLst>
          </a:prstGeom>
          <a:solidFill>
            <a:srgbClr val="FFFFFF"/>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75" name="Google Shape;2275;h547f90b031e64a91_0_1373"/>
          <p:cNvSpPr txBox="1"/>
          <p:nvPr/>
        </p:nvSpPr>
        <p:spPr>
          <a:xfrm>
            <a:off x="4608576" y="2468880"/>
            <a:ext cx="25602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2F6B78"/>
                </a:solidFill>
                <a:latin typeface="Consolas"/>
                <a:ea typeface="Consolas"/>
                <a:cs typeface="Consolas"/>
                <a:sym typeface="Consolas"/>
              </a:rPr>
              <a:t>2  THE PATTERN</a:t>
            </a:r>
            <a:endParaRPr/>
          </a:p>
        </p:txBody>
      </p:sp>
      <p:sp>
        <p:nvSpPr>
          <p:cNvPr id="2276" name="Google Shape;2276;h547f90b031e64a91_0_1373"/>
          <p:cNvSpPr txBox="1"/>
          <p:nvPr/>
        </p:nvSpPr>
        <p:spPr>
          <a:xfrm>
            <a:off x="4608576" y="2743200"/>
            <a:ext cx="25602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50" u="none" cap="none" strike="noStrike">
                <a:solidFill>
                  <a:srgbClr val="5B6770"/>
                </a:solidFill>
                <a:latin typeface="Calibri"/>
                <a:ea typeface="Calibri"/>
                <a:cs typeface="Calibri"/>
                <a:sym typeface="Calibri"/>
              </a:rPr>
              <a:t>what the joined rows show</a:t>
            </a:r>
            <a:endParaRPr/>
          </a:p>
        </p:txBody>
      </p:sp>
      <p:sp>
        <p:nvSpPr>
          <p:cNvPr id="2277" name="Google Shape;2277;h547f90b031e64a91_0_1373"/>
          <p:cNvSpPr txBox="1"/>
          <p:nvPr/>
        </p:nvSpPr>
        <p:spPr>
          <a:xfrm>
            <a:off x="4608576" y="3081528"/>
            <a:ext cx="2560200" cy="73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1F2328"/>
                </a:solidFill>
                <a:latin typeface="Calibri"/>
                <a:ea typeface="Calibri"/>
                <a:cs typeface="Calibri"/>
                <a:sym typeface="Calibri"/>
              </a:rPr>
              <a:t>Every cisplatin admission has bone marrow depression.</a:t>
            </a:r>
            <a:endParaRPr/>
          </a:p>
        </p:txBody>
      </p:sp>
      <p:sp>
        <p:nvSpPr>
          <p:cNvPr id="2278" name="Google Shape;2278;h547f90b031e64a91_0_1373"/>
          <p:cNvSpPr txBox="1"/>
          <p:nvPr/>
        </p:nvSpPr>
        <p:spPr>
          <a:xfrm>
            <a:off x="4608576" y="3995928"/>
            <a:ext cx="11886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300" u="none" cap="none" strike="noStrike">
                <a:solidFill>
                  <a:srgbClr val="1F2328"/>
                </a:solidFill>
                <a:latin typeface="Consolas"/>
                <a:ea typeface="Consolas"/>
                <a:cs typeface="Consolas"/>
                <a:sym typeface="Consolas"/>
              </a:rPr>
              <a:t>cisplatin</a:t>
            </a:r>
            <a:endParaRPr/>
          </a:p>
        </p:txBody>
      </p:sp>
      <p:sp>
        <p:nvSpPr>
          <p:cNvPr id="2279" name="Google Shape;2279;h547f90b031e64a91_0_1373"/>
          <p:cNvSpPr/>
          <p:nvPr/>
        </p:nvSpPr>
        <p:spPr>
          <a:xfrm>
            <a:off x="5797296" y="4087368"/>
            <a:ext cx="777300" cy="137100"/>
          </a:xfrm>
          <a:prstGeom prst="rect">
            <a:avLst/>
          </a:prstGeom>
          <a:solidFill>
            <a:srgbClr val="E1E6E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80" name="Google Shape;2280;h547f90b031e64a91_0_1373"/>
          <p:cNvSpPr/>
          <p:nvPr/>
        </p:nvSpPr>
        <p:spPr>
          <a:xfrm>
            <a:off x="5797296" y="4087368"/>
            <a:ext cx="777300" cy="137100"/>
          </a:xfrm>
          <a:prstGeom prst="rect">
            <a:avLst/>
          </a:prstGeom>
          <a:solidFill>
            <a:srgbClr val="0B6E4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81" name="Google Shape;2281;h547f90b031e64a91_0_1373"/>
          <p:cNvSpPr txBox="1"/>
          <p:nvPr/>
        </p:nvSpPr>
        <p:spPr>
          <a:xfrm>
            <a:off x="6620256" y="3995928"/>
            <a:ext cx="6858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0B6E4F"/>
                </a:solidFill>
                <a:latin typeface="Calibri"/>
                <a:ea typeface="Calibri"/>
                <a:cs typeface="Calibri"/>
                <a:sym typeface="Calibri"/>
              </a:rPr>
              <a:t>2 of 2</a:t>
            </a:r>
            <a:endParaRPr/>
          </a:p>
        </p:txBody>
      </p:sp>
      <p:sp>
        <p:nvSpPr>
          <p:cNvPr id="2282" name="Google Shape;2282;h547f90b031e64a91_0_1373"/>
          <p:cNvSpPr txBox="1"/>
          <p:nvPr/>
        </p:nvSpPr>
        <p:spPr>
          <a:xfrm>
            <a:off x="4608576" y="4398264"/>
            <a:ext cx="11886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300" u="none" cap="none" strike="noStrike">
                <a:solidFill>
                  <a:srgbClr val="1F2328"/>
                </a:solidFill>
                <a:latin typeface="Consolas"/>
                <a:ea typeface="Consolas"/>
                <a:cs typeface="Consolas"/>
                <a:sym typeface="Consolas"/>
              </a:rPr>
              <a:t>other drugs</a:t>
            </a:r>
            <a:endParaRPr/>
          </a:p>
        </p:txBody>
      </p:sp>
      <p:sp>
        <p:nvSpPr>
          <p:cNvPr id="2283" name="Google Shape;2283;h547f90b031e64a91_0_1373"/>
          <p:cNvSpPr/>
          <p:nvPr/>
        </p:nvSpPr>
        <p:spPr>
          <a:xfrm>
            <a:off x="5797296" y="4489704"/>
            <a:ext cx="777300" cy="137100"/>
          </a:xfrm>
          <a:prstGeom prst="rect">
            <a:avLst/>
          </a:prstGeom>
          <a:solidFill>
            <a:srgbClr val="E1E6E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84" name="Google Shape;2284;h547f90b031e64a91_0_1373"/>
          <p:cNvSpPr txBox="1"/>
          <p:nvPr/>
        </p:nvSpPr>
        <p:spPr>
          <a:xfrm>
            <a:off x="6620256" y="4398264"/>
            <a:ext cx="6858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3A434C"/>
                </a:solidFill>
                <a:latin typeface="Calibri"/>
                <a:ea typeface="Calibri"/>
                <a:cs typeface="Calibri"/>
                <a:sym typeface="Calibri"/>
              </a:rPr>
              <a:t>0 of 1</a:t>
            </a:r>
            <a:endParaRPr/>
          </a:p>
        </p:txBody>
      </p:sp>
      <p:sp>
        <p:nvSpPr>
          <p:cNvPr id="2285" name="Google Shape;2285;h547f90b031e64a91_0_1373"/>
          <p:cNvSpPr txBox="1"/>
          <p:nvPr/>
        </p:nvSpPr>
        <p:spPr>
          <a:xfrm>
            <a:off x="4608576" y="4800600"/>
            <a:ext cx="25602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00" u="none" cap="none" strike="noStrike">
                <a:solidFill>
                  <a:srgbClr val="5B6770"/>
                </a:solidFill>
                <a:latin typeface="Calibri"/>
                <a:ea typeface="Calibri"/>
                <a:cs typeface="Calibri"/>
                <a:sym typeface="Calibri"/>
              </a:rPr>
              <a:t>admissions with BM_DEP = 1</a:t>
            </a:r>
            <a:endParaRPr/>
          </a:p>
        </p:txBody>
      </p:sp>
      <p:sp>
        <p:nvSpPr>
          <p:cNvPr id="2286" name="Google Shape;2286;h547f90b031e64a91_0_1373"/>
          <p:cNvSpPr/>
          <p:nvPr/>
        </p:nvSpPr>
        <p:spPr>
          <a:xfrm>
            <a:off x="7726679" y="2304288"/>
            <a:ext cx="3657600" cy="3566100"/>
          </a:xfrm>
          <a:prstGeom prst="roundRect">
            <a:avLst>
              <a:gd fmla="val 12000" name="adj"/>
            </a:avLst>
          </a:prstGeom>
          <a:solidFill>
            <a:srgbClr val="FFFFFF"/>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87" name="Google Shape;2287;h547f90b031e64a91_0_1373"/>
          <p:cNvSpPr txBox="1"/>
          <p:nvPr/>
        </p:nvSpPr>
        <p:spPr>
          <a:xfrm>
            <a:off x="7955279" y="2468880"/>
            <a:ext cx="32004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2F6B78"/>
                </a:solidFill>
                <a:latin typeface="Consolas"/>
                <a:ea typeface="Consolas"/>
                <a:cs typeface="Consolas"/>
                <a:sym typeface="Consolas"/>
              </a:rPr>
              <a:t>3  CANDIDATE KNOWLEDGE</a:t>
            </a:r>
            <a:endParaRPr/>
          </a:p>
        </p:txBody>
      </p:sp>
      <p:sp>
        <p:nvSpPr>
          <p:cNvPr id="2288" name="Google Shape;2288;h547f90b031e64a91_0_1373"/>
          <p:cNvSpPr txBox="1"/>
          <p:nvPr/>
        </p:nvSpPr>
        <p:spPr>
          <a:xfrm>
            <a:off x="7955279" y="2743200"/>
            <a:ext cx="32004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250" u="none" cap="none" strike="noStrike">
                <a:solidFill>
                  <a:srgbClr val="5B6770"/>
                </a:solidFill>
                <a:latin typeface="Calibri"/>
                <a:ea typeface="Calibri"/>
                <a:cs typeface="Calibri"/>
                <a:sym typeface="Calibri"/>
              </a:rPr>
              <a:t>A reviewable hypothesis</a:t>
            </a:r>
            <a:endParaRPr/>
          </a:p>
        </p:txBody>
      </p:sp>
      <p:sp>
        <p:nvSpPr>
          <p:cNvPr id="2289" name="Google Shape;2289;h547f90b031e64a91_0_1373"/>
          <p:cNvSpPr/>
          <p:nvPr/>
        </p:nvSpPr>
        <p:spPr>
          <a:xfrm>
            <a:off x="7863840" y="3108960"/>
            <a:ext cx="3383400" cy="1979700"/>
          </a:xfrm>
          <a:prstGeom prst="roundRect">
            <a:avLst>
              <a:gd fmla="val 9000"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90" name="Google Shape;2290;h547f90b031e64a91_0_1373"/>
          <p:cNvSpPr txBox="1"/>
          <p:nvPr/>
        </p:nvSpPr>
        <p:spPr>
          <a:xfrm>
            <a:off x="7863840" y="3172968"/>
            <a:ext cx="3337500" cy="2058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Individual:</a:t>
            </a:r>
            <a:r>
              <a:rPr b="0" i="0" lang="en-US" sz="1100" u="none" cap="none" strike="noStrike">
                <a:solidFill>
                  <a:srgbClr val="1F2328"/>
                </a:solidFill>
                <a:latin typeface="Consolas"/>
                <a:ea typeface="Consolas"/>
                <a:cs typeface="Consolas"/>
                <a:sym typeface="Consolas"/>
              </a:rPr>
              <a:t> cisplatin_bmdep</a:t>
            </a:r>
            <a:endParaRPr b="0" i="0" sz="1100" u="none" cap="none" strike="noStrike">
              <a:solidFill>
                <a:srgbClr val="000000"/>
              </a:solidFill>
              <a:latin typeface="Arial"/>
              <a:ea typeface="Arial"/>
              <a:cs typeface="Arial"/>
              <a:sym typeface="Arial"/>
            </a:endParaRPr>
          </a:p>
        </p:txBody>
      </p:sp>
      <p:sp>
        <p:nvSpPr>
          <p:cNvPr id="2291" name="Google Shape;2291;h547f90b031e64a91_0_1373"/>
          <p:cNvSpPr txBox="1"/>
          <p:nvPr/>
        </p:nvSpPr>
        <p:spPr>
          <a:xfrm>
            <a:off x="7863840" y="3378708"/>
            <a:ext cx="3337500" cy="2058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1" i="0" lang="en-US" sz="1100" u="none" cap="none" strike="noStrike">
                <a:solidFill>
                  <a:srgbClr val="0B6E4F"/>
                </a:solidFill>
                <a:latin typeface="Consolas"/>
                <a:ea typeface="Consolas"/>
                <a:cs typeface="Consolas"/>
                <a:sym typeface="Consolas"/>
              </a:rPr>
              <a:t>Types:</a:t>
            </a:r>
            <a:r>
              <a:rPr b="0" i="0" lang="en-US" sz="1100" u="none" cap="none" strike="noStrike">
                <a:solidFill>
                  <a:srgbClr val="1F2328"/>
                </a:solidFill>
                <a:latin typeface="Consolas"/>
                <a:ea typeface="Consolas"/>
                <a:cs typeface="Consolas"/>
                <a:sym typeface="Consolas"/>
              </a:rPr>
              <a:t> CandidateAssociation</a:t>
            </a:r>
            <a:endParaRPr b="0" i="0" sz="1100" u="none" cap="none" strike="noStrike">
              <a:solidFill>
                <a:srgbClr val="000000"/>
              </a:solidFill>
              <a:latin typeface="Arial"/>
              <a:ea typeface="Arial"/>
              <a:cs typeface="Arial"/>
              <a:sym typeface="Arial"/>
            </a:endParaRPr>
          </a:p>
        </p:txBody>
      </p:sp>
      <p:sp>
        <p:nvSpPr>
          <p:cNvPr id="2292" name="Google Shape;2292;h547f90b031e64a91_0_1373"/>
          <p:cNvSpPr txBox="1"/>
          <p:nvPr/>
        </p:nvSpPr>
        <p:spPr>
          <a:xfrm>
            <a:off x="7863840" y="3584448"/>
            <a:ext cx="3337500" cy="2058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1" i="0" lang="en-US" sz="1100" u="none" cap="none" strike="noStrike">
                <a:solidFill>
                  <a:srgbClr val="0B6E4F"/>
                </a:solidFill>
                <a:latin typeface="Consolas"/>
                <a:ea typeface="Consolas"/>
                <a:cs typeface="Consolas"/>
                <a:sym typeface="Consolas"/>
              </a:rPr>
              <a:t>Facts:</a:t>
            </a:r>
            <a:endParaRPr b="0" i="0" sz="1100" u="none" cap="none" strike="noStrike">
              <a:solidFill>
                <a:srgbClr val="000000"/>
              </a:solidFill>
              <a:latin typeface="Arial"/>
              <a:ea typeface="Arial"/>
              <a:cs typeface="Arial"/>
              <a:sym typeface="Arial"/>
            </a:endParaRPr>
          </a:p>
        </p:txBody>
      </p:sp>
      <p:sp>
        <p:nvSpPr>
          <p:cNvPr id="2293" name="Google Shape;2293;h547f90b031e64a91_0_1373"/>
          <p:cNvSpPr txBox="1"/>
          <p:nvPr/>
        </p:nvSpPr>
        <p:spPr>
          <a:xfrm>
            <a:off x="7863840" y="3790187"/>
            <a:ext cx="3337500" cy="2058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hasDrug Cisplatin,</a:t>
            </a:r>
            <a:endParaRPr b="0" i="0" sz="1100" u="none" cap="none" strike="noStrike">
              <a:solidFill>
                <a:srgbClr val="000000"/>
              </a:solidFill>
              <a:latin typeface="Arial"/>
              <a:ea typeface="Arial"/>
              <a:cs typeface="Arial"/>
              <a:sym typeface="Arial"/>
            </a:endParaRPr>
          </a:p>
        </p:txBody>
      </p:sp>
      <p:sp>
        <p:nvSpPr>
          <p:cNvPr id="2294" name="Google Shape;2294;h547f90b031e64a91_0_1373"/>
          <p:cNvSpPr txBox="1"/>
          <p:nvPr/>
        </p:nvSpPr>
        <p:spPr>
          <a:xfrm>
            <a:off x="7863840" y="3995928"/>
            <a:ext cx="3337500" cy="2058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hasCondition BoneMarrowDepression,</a:t>
            </a:r>
            <a:endParaRPr b="0" i="0" sz="1100" u="none" cap="none" strike="noStrike">
              <a:solidFill>
                <a:srgbClr val="000000"/>
              </a:solidFill>
              <a:latin typeface="Arial"/>
              <a:ea typeface="Arial"/>
              <a:cs typeface="Arial"/>
              <a:sym typeface="Arial"/>
            </a:endParaRPr>
          </a:p>
        </p:txBody>
      </p:sp>
      <p:sp>
        <p:nvSpPr>
          <p:cNvPr id="2295" name="Google Shape;2295;h547f90b031e64a91_0_1373"/>
          <p:cNvSpPr txBox="1"/>
          <p:nvPr/>
        </p:nvSpPr>
        <p:spPr>
          <a:xfrm>
            <a:off x="7863840" y="4201668"/>
            <a:ext cx="3337500" cy="2058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status </a:t>
            </a:r>
            <a:r>
              <a:rPr b="0" i="0" lang="en-US" sz="1100" u="none" cap="none" strike="noStrike">
                <a:solidFill>
                  <a:srgbClr val="A3401E"/>
                </a:solidFill>
                <a:latin typeface="Consolas"/>
                <a:ea typeface="Consolas"/>
                <a:cs typeface="Consolas"/>
                <a:sym typeface="Consolas"/>
              </a:rPr>
              <a:t>"needs expert review"</a:t>
            </a:r>
            <a:endParaRPr b="0" i="0" sz="1100" u="none" cap="none" strike="noStrike">
              <a:solidFill>
                <a:srgbClr val="000000"/>
              </a:solidFill>
              <a:latin typeface="Arial"/>
              <a:ea typeface="Arial"/>
              <a:cs typeface="Arial"/>
              <a:sym typeface="Arial"/>
            </a:endParaRPr>
          </a:p>
        </p:txBody>
      </p:sp>
      <p:sp>
        <p:nvSpPr>
          <p:cNvPr id="2296" name="Google Shape;2296;h547f90b031e64a91_0_1373"/>
          <p:cNvSpPr txBox="1"/>
          <p:nvPr/>
        </p:nvSpPr>
        <p:spPr>
          <a:xfrm>
            <a:off x="7863840" y="4407408"/>
            <a:ext cx="3337500" cy="2058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1" i="0" lang="en-US" sz="1100" u="none" cap="none" strike="noStrike">
                <a:solidFill>
                  <a:srgbClr val="0B6E4F"/>
                </a:solidFill>
                <a:latin typeface="Consolas"/>
                <a:ea typeface="Consolas"/>
                <a:cs typeface="Consolas"/>
                <a:sym typeface="Consolas"/>
              </a:rPr>
              <a:t>Annotations:</a:t>
            </a:r>
            <a:endParaRPr b="0" i="0" sz="1100" u="none" cap="none" strike="noStrike">
              <a:solidFill>
                <a:srgbClr val="000000"/>
              </a:solidFill>
              <a:latin typeface="Arial"/>
              <a:ea typeface="Arial"/>
              <a:cs typeface="Arial"/>
              <a:sym typeface="Arial"/>
            </a:endParaRPr>
          </a:p>
        </p:txBody>
      </p:sp>
      <p:sp>
        <p:nvSpPr>
          <p:cNvPr id="2297" name="Google Shape;2297;h547f90b031e64a91_0_1373"/>
          <p:cNvSpPr txBox="1"/>
          <p:nvPr/>
        </p:nvSpPr>
        <p:spPr>
          <a:xfrm>
            <a:off x="7863840" y="4613148"/>
            <a:ext cx="3337500" cy="2058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5B6770"/>
                </a:solidFill>
                <a:latin typeface="Consolas"/>
                <a:ea typeface="Consolas"/>
                <a:cs typeface="Consolas"/>
                <a:sym typeface="Consolas"/>
              </a:rPr>
              <a:t>prov:wasDerivedFrom</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2F6B78"/>
                </a:solidFill>
                <a:latin typeface="Consolas"/>
                <a:ea typeface="Consolas"/>
                <a:cs typeface="Consolas"/>
                <a:sym typeface="Consolas"/>
              </a:rPr>
              <a:t>treatment:drug</a:t>
            </a:r>
            <a:r>
              <a:rPr b="0" i="0" lang="en-US" sz="1100" u="none" cap="none" strike="noStrike">
                <a:solidFill>
                  <a:srgbClr val="1F2328"/>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
        <p:nvSpPr>
          <p:cNvPr id="2298" name="Google Shape;2298;h547f90b031e64a91_0_1373"/>
          <p:cNvSpPr txBox="1"/>
          <p:nvPr/>
        </p:nvSpPr>
        <p:spPr>
          <a:xfrm>
            <a:off x="7863840" y="4818888"/>
            <a:ext cx="3337500" cy="2058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5B6770"/>
                </a:solidFill>
                <a:latin typeface="Consolas"/>
                <a:ea typeface="Consolas"/>
                <a:cs typeface="Consolas"/>
                <a:sym typeface="Consolas"/>
              </a:rPr>
              <a:t>prov:wasDerivedFrom</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2F6B78"/>
                </a:solidFill>
                <a:latin typeface="Consolas"/>
                <a:ea typeface="Consolas"/>
                <a:cs typeface="Consolas"/>
                <a:sym typeface="Consolas"/>
              </a:rPr>
              <a:t>admission:BM_DEP</a:t>
            </a:r>
            <a:endParaRPr b="0" i="0" sz="1100" u="none" cap="none" strike="noStrike">
              <a:solidFill>
                <a:srgbClr val="000000"/>
              </a:solidFill>
              <a:latin typeface="Arial"/>
              <a:ea typeface="Arial"/>
              <a:cs typeface="Arial"/>
              <a:sym typeface="Arial"/>
            </a:endParaRPr>
          </a:p>
        </p:txBody>
      </p:sp>
      <p:sp>
        <p:nvSpPr>
          <p:cNvPr id="2299" name="Google Shape;2299;h547f90b031e64a91_0_1373"/>
          <p:cNvSpPr/>
          <p:nvPr/>
        </p:nvSpPr>
        <p:spPr>
          <a:xfrm>
            <a:off x="7863840" y="5193792"/>
            <a:ext cx="3383400" cy="548700"/>
          </a:xfrm>
          <a:prstGeom prst="roundRect">
            <a:avLst>
              <a:gd fmla="val 12000" name="adj"/>
            </a:avLst>
          </a:prstGeom>
          <a:solidFill>
            <a:srgbClr val="FFF7E8"/>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None/>
            </a:pPr>
            <a:r>
              <a:rPr b="1" i="0" lang="en-US" sz="1200" u="none" cap="none" strike="noStrike">
                <a:solidFill>
                  <a:srgbClr val="93600F"/>
                </a:solidFill>
                <a:latin typeface="Consolas"/>
                <a:ea typeface="Consolas"/>
                <a:cs typeface="Consolas"/>
                <a:sym typeface="Consolas"/>
              </a:rPr>
              <a:t>A PATTERN </a:t>
            </a:r>
            <a:r>
              <a:rPr b="1" lang="en-US" sz="1200">
                <a:solidFill>
                  <a:srgbClr val="93600F"/>
                </a:solidFill>
                <a:latin typeface="Consolas"/>
                <a:ea typeface="Consolas"/>
                <a:cs typeface="Consolas"/>
                <a:sym typeface="Consolas"/>
              </a:rPr>
              <a:t>→</a:t>
            </a:r>
            <a:r>
              <a:rPr b="1" i="0" lang="en-US" sz="1200" u="none" cap="none" strike="noStrike">
                <a:solidFill>
                  <a:srgbClr val="93600F"/>
                </a:solidFill>
                <a:latin typeface="Consolas"/>
                <a:ea typeface="Consolas"/>
                <a:cs typeface="Consolas"/>
                <a:sym typeface="Consolas"/>
              </a:rPr>
              <a:t> </a:t>
            </a:r>
            <a:r>
              <a:rPr b="0" i="0" lang="en-US" sz="1250" u="none" cap="none" strike="noStrike">
                <a:solidFill>
                  <a:srgbClr val="3A434C"/>
                </a:solidFill>
                <a:latin typeface="Calibri"/>
                <a:ea typeface="Calibri"/>
                <a:cs typeface="Calibri"/>
                <a:sym typeface="Calibri"/>
              </a:rPr>
              <a:t>an expert reviews it before it joins the ontology</a:t>
            </a:r>
            <a:endParaRPr/>
          </a:p>
        </p:txBody>
      </p:sp>
      <p:sp>
        <p:nvSpPr>
          <p:cNvPr id="2300" name="Google Shape;2300;h547f90b031e64a91_0_1373"/>
          <p:cNvSpPr/>
          <p:nvPr/>
        </p:nvSpPr>
        <p:spPr>
          <a:xfrm>
            <a:off x="4078224" y="3922776"/>
            <a:ext cx="274200" cy="329100"/>
          </a:xfrm>
          <a:prstGeom prst="rightArrow">
            <a:avLst>
              <a:gd fmla="val 50000" name="adj1"/>
              <a:gd fmla="val 50000" name="adj2"/>
            </a:avLst>
          </a:prstGeom>
          <a:solidFill>
            <a:srgbClr val="0B6E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h547f90b031e64a91_0_1373"/>
          <p:cNvSpPr/>
          <p:nvPr/>
        </p:nvSpPr>
        <p:spPr>
          <a:xfrm>
            <a:off x="7424927" y="3922776"/>
            <a:ext cx="274200" cy="329100"/>
          </a:xfrm>
          <a:prstGeom prst="rightArrow">
            <a:avLst>
              <a:gd fmla="val 50000" name="adj1"/>
              <a:gd fmla="val 50000" name="adj2"/>
            </a:avLst>
          </a:prstGeom>
          <a:solidFill>
            <a:srgbClr val="0B6E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h547f90b031e64a91_0_1373"/>
          <p:cNvSpPr/>
          <p:nvPr/>
        </p:nvSpPr>
        <p:spPr>
          <a:xfrm>
            <a:off x="1036700" y="3637075"/>
            <a:ext cx="2788800" cy="205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03" name="Google Shape;2303;h547f90b031e64a91_0_1373"/>
          <p:cNvSpPr/>
          <p:nvPr/>
        </p:nvSpPr>
        <p:spPr>
          <a:xfrm>
            <a:off x="1033275" y="4086837"/>
            <a:ext cx="2788800" cy="205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04" name="Google Shape;2304;h547f90b031e64a91_0_1373"/>
          <p:cNvSpPr/>
          <p:nvPr/>
        </p:nvSpPr>
        <p:spPr>
          <a:xfrm>
            <a:off x="1034988" y="5050275"/>
            <a:ext cx="2788800" cy="205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05" name="Google Shape;2305;h547f90b031e64a91_0_1373"/>
          <p:cNvSpPr/>
          <p:nvPr/>
        </p:nvSpPr>
        <p:spPr>
          <a:xfrm>
            <a:off x="1031563" y="5500037"/>
            <a:ext cx="2788800" cy="205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10" name="Shape 2310"/>
        <p:cNvGrpSpPr/>
        <p:nvPr/>
      </p:nvGrpSpPr>
      <p:grpSpPr>
        <a:xfrm>
          <a:off x="0" y="0"/>
          <a:ext cx="0" cy="0"/>
          <a:chOff x="0" y="0"/>
          <a:chExt cx="0" cy="0"/>
        </a:xfrm>
      </p:grpSpPr>
      <p:sp>
        <p:nvSpPr>
          <p:cNvPr id="2311" name="Google Shape;2311;p23"/>
          <p:cNvSpPr/>
          <p:nvPr/>
        </p:nvSpPr>
        <p:spPr>
          <a:xfrm>
            <a:off x="841253" y="2432325"/>
            <a:ext cx="4239000" cy="3621000"/>
          </a:xfrm>
          <a:prstGeom prst="roundRect">
            <a:avLst>
              <a:gd fmla="val 4068" name="adj"/>
            </a:avLst>
          </a:prstGeom>
          <a:solidFill>
            <a:srgbClr val="F3F5F4"/>
          </a:solidFill>
          <a:ln cap="flat" cmpd="sng" w="12700">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12" name="Google Shape;2312;p23"/>
          <p:cNvSpPr txBox="1"/>
          <p:nvPr/>
        </p:nvSpPr>
        <p:spPr>
          <a:xfrm>
            <a:off x="813816" y="466344"/>
            <a:ext cx="10515600" cy="310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B6E4F"/>
                </a:solidFill>
                <a:latin typeface="Consolas"/>
                <a:ea typeface="Consolas"/>
                <a:cs typeface="Consolas"/>
                <a:sym typeface="Consolas"/>
              </a:rPr>
              <a:t>RIGOR  /  ISWC 2026</a:t>
            </a:r>
            <a:endParaRPr/>
          </a:p>
        </p:txBody>
      </p:sp>
      <p:sp>
        <p:nvSpPr>
          <p:cNvPr id="2313" name="Google Shape;2313;p23"/>
          <p:cNvSpPr txBox="1"/>
          <p:nvPr/>
        </p:nvSpPr>
        <p:spPr>
          <a:xfrm>
            <a:off x="813816" y="914400"/>
            <a:ext cx="6766500" cy="759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4600" u="none" cap="none" strike="noStrike">
                <a:solidFill>
                  <a:srgbClr val="1F2328"/>
                </a:solidFill>
                <a:latin typeface="Cambria"/>
                <a:ea typeface="Cambria"/>
                <a:cs typeface="Cambria"/>
                <a:sym typeface="Cambria"/>
              </a:rPr>
              <a:t>Thank you.</a:t>
            </a:r>
            <a:endParaRPr/>
          </a:p>
        </p:txBody>
      </p:sp>
      <p:sp>
        <p:nvSpPr>
          <p:cNvPr id="2314" name="Google Shape;2314;p23"/>
          <p:cNvSpPr txBox="1"/>
          <p:nvPr/>
        </p:nvSpPr>
        <p:spPr>
          <a:xfrm>
            <a:off x="841248" y="1773936"/>
            <a:ext cx="6949500" cy="493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2600" u="none" cap="none" strike="noStrike">
                <a:solidFill>
                  <a:srgbClr val="2F6B78"/>
                </a:solidFill>
                <a:latin typeface="Cambria"/>
                <a:ea typeface="Cambria"/>
                <a:cs typeface="Cambria"/>
                <a:sym typeface="Cambria"/>
              </a:rPr>
              <a:t>Questions?</a:t>
            </a:r>
            <a:endParaRPr/>
          </a:p>
        </p:txBody>
      </p:sp>
      <p:sp>
        <p:nvSpPr>
          <p:cNvPr id="2315" name="Google Shape;2315;p23"/>
          <p:cNvSpPr txBox="1"/>
          <p:nvPr/>
        </p:nvSpPr>
        <p:spPr>
          <a:xfrm>
            <a:off x="1054695" y="2684051"/>
            <a:ext cx="6537900" cy="223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2F6B78"/>
                </a:solidFill>
                <a:latin typeface="Consolas"/>
                <a:ea typeface="Consolas"/>
                <a:cs typeface="Consolas"/>
                <a:sym typeface="Consolas"/>
              </a:rPr>
              <a:t>FROM A DATABASE SCHEMA TO AN ONTOLOGY</a:t>
            </a:r>
            <a:endParaRPr/>
          </a:p>
        </p:txBody>
      </p:sp>
      <p:sp>
        <p:nvSpPr>
          <p:cNvPr id="2316" name="Google Shape;2316;p23"/>
          <p:cNvSpPr/>
          <p:nvPr/>
        </p:nvSpPr>
        <p:spPr>
          <a:xfrm>
            <a:off x="5272625" y="2432325"/>
            <a:ext cx="3968100" cy="3621000"/>
          </a:xfrm>
          <a:prstGeom prst="roundRect">
            <a:avLst>
              <a:gd fmla="val 4068" name="adj"/>
            </a:avLst>
          </a:prstGeom>
          <a:solidFill>
            <a:srgbClr val="F3F5F4"/>
          </a:solidFill>
          <a:ln cap="flat" cmpd="sng" w="12700">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17" name="Google Shape;2317;p23"/>
          <p:cNvSpPr txBox="1"/>
          <p:nvPr/>
        </p:nvSpPr>
        <p:spPr>
          <a:xfrm>
            <a:off x="5478424" y="2718594"/>
            <a:ext cx="27249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2F6B78"/>
                </a:solidFill>
                <a:latin typeface="Consolas"/>
                <a:ea typeface="Consolas"/>
                <a:cs typeface="Consolas"/>
                <a:sym typeface="Consolas"/>
              </a:rPr>
              <a:t>PAPER + OPEN SOURCE</a:t>
            </a:r>
            <a:endParaRPr/>
          </a:p>
        </p:txBody>
      </p:sp>
      <p:pic>
        <p:nvPicPr>
          <p:cNvPr descr="QR code: https://arxiv.org/abs/2506.01232 (paper)" id="2318" name="Google Shape;2318;p23"/>
          <p:cNvPicPr preferRelativeResize="0"/>
          <p:nvPr/>
        </p:nvPicPr>
        <p:blipFill rotWithShape="1">
          <a:blip r:embed="rId3">
            <a:alphaModFix/>
          </a:blip>
          <a:srcRect b="0" l="0" r="0" t="0"/>
          <a:stretch/>
        </p:blipFill>
        <p:spPr>
          <a:xfrm>
            <a:off x="5533288" y="3187578"/>
            <a:ext cx="1316736" cy="1316736"/>
          </a:xfrm>
          <a:prstGeom prst="rect">
            <a:avLst/>
          </a:prstGeom>
          <a:noFill/>
          <a:ln>
            <a:noFill/>
          </a:ln>
        </p:spPr>
      </p:pic>
      <p:sp>
        <p:nvSpPr>
          <p:cNvPr id="2319" name="Google Shape;2319;p23"/>
          <p:cNvSpPr txBox="1"/>
          <p:nvPr/>
        </p:nvSpPr>
        <p:spPr>
          <a:xfrm>
            <a:off x="5487568" y="4577466"/>
            <a:ext cx="1408200" cy="231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1F2328"/>
                </a:solidFill>
                <a:latin typeface="Calibri"/>
                <a:ea typeface="Calibri"/>
                <a:cs typeface="Calibri"/>
                <a:sym typeface="Calibri"/>
              </a:rPr>
              <a:t>Paper</a:t>
            </a:r>
            <a:endParaRPr/>
          </a:p>
        </p:txBody>
      </p:sp>
      <p:pic>
        <p:nvPicPr>
          <p:cNvPr descr="QR code: https://github.com/NadeenAhmad/RIGOR (code)" id="2320" name="Google Shape;2320;p23"/>
          <p:cNvPicPr preferRelativeResize="0"/>
          <p:nvPr/>
        </p:nvPicPr>
        <p:blipFill rotWithShape="1">
          <a:blip r:embed="rId4">
            <a:alphaModFix/>
          </a:blip>
          <a:srcRect b="0" l="0" r="0" t="0"/>
          <a:stretch/>
        </p:blipFill>
        <p:spPr>
          <a:xfrm>
            <a:off x="7087768" y="3187578"/>
            <a:ext cx="1316736" cy="1316736"/>
          </a:xfrm>
          <a:prstGeom prst="rect">
            <a:avLst/>
          </a:prstGeom>
          <a:noFill/>
          <a:ln>
            <a:noFill/>
          </a:ln>
        </p:spPr>
      </p:pic>
      <p:sp>
        <p:nvSpPr>
          <p:cNvPr id="2321" name="Google Shape;2321;p23"/>
          <p:cNvSpPr txBox="1"/>
          <p:nvPr/>
        </p:nvSpPr>
        <p:spPr>
          <a:xfrm>
            <a:off x="7042047" y="4577466"/>
            <a:ext cx="1408200" cy="231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1F2328"/>
                </a:solidFill>
                <a:latin typeface="Calibri"/>
                <a:ea typeface="Calibri"/>
                <a:cs typeface="Calibri"/>
                <a:sym typeface="Calibri"/>
              </a:rPr>
              <a:t>GitHub</a:t>
            </a:r>
            <a:endParaRPr/>
          </a:p>
        </p:txBody>
      </p:sp>
      <p:cxnSp>
        <p:nvCxnSpPr>
          <p:cNvPr id="2322" name="Google Shape;2322;p23"/>
          <p:cNvCxnSpPr/>
          <p:nvPr/>
        </p:nvCxnSpPr>
        <p:spPr>
          <a:xfrm>
            <a:off x="728404" y="6217936"/>
            <a:ext cx="10488300" cy="0"/>
          </a:xfrm>
          <a:prstGeom prst="straightConnector1">
            <a:avLst/>
          </a:prstGeom>
          <a:noFill/>
          <a:ln cap="flat" cmpd="sng" w="12700">
            <a:solidFill>
              <a:srgbClr val="D9DEDB"/>
            </a:solidFill>
            <a:prstDash val="solid"/>
            <a:round/>
            <a:headEnd len="sm" w="sm" type="none"/>
            <a:tailEnd len="sm" w="sm" type="none"/>
          </a:ln>
          <a:effectLst>
            <a:outerShdw blurRad="40000" rotWithShape="0" dir="5400000" dist="20000">
              <a:srgbClr val="000000">
                <a:alpha val="38040"/>
              </a:srgbClr>
            </a:outerShdw>
          </a:effectLst>
        </p:spPr>
      </p:cxnSp>
      <p:sp>
        <p:nvSpPr>
          <p:cNvPr id="2323" name="Google Shape;2323;p23"/>
          <p:cNvSpPr txBox="1"/>
          <p:nvPr/>
        </p:nvSpPr>
        <p:spPr>
          <a:xfrm>
            <a:off x="5478423" y="5120452"/>
            <a:ext cx="8778300" cy="261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1700">
                <a:solidFill>
                  <a:srgbClr val="1F2328"/>
                </a:solidFill>
                <a:latin typeface="Calibri"/>
                <a:ea typeface="Calibri"/>
                <a:cs typeface="Calibri"/>
                <a:sym typeface="Calibri"/>
              </a:rPr>
              <a:t>📬 </a:t>
            </a:r>
            <a:r>
              <a:rPr b="0" i="0" lang="en-US" sz="1700" u="none" cap="none" strike="noStrike">
                <a:solidFill>
                  <a:srgbClr val="1F2328"/>
                </a:solidFill>
                <a:latin typeface="Calibri"/>
                <a:ea typeface="Calibri"/>
                <a:cs typeface="Calibri"/>
                <a:sym typeface="Calibri"/>
              </a:rPr>
              <a:t>nadeen.fathallah@ki.uni-stuttgart.de</a:t>
            </a:r>
            <a:endParaRPr/>
          </a:p>
        </p:txBody>
      </p:sp>
      <p:sp>
        <p:nvSpPr>
          <p:cNvPr id="2324" name="Google Shape;2324;p23"/>
          <p:cNvSpPr txBox="1"/>
          <p:nvPr/>
        </p:nvSpPr>
        <p:spPr>
          <a:xfrm>
            <a:off x="9314620" y="6327664"/>
            <a:ext cx="1883700" cy="1956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70" u="none" cap="none" strike="noStrike">
                <a:solidFill>
                  <a:srgbClr val="5B6770"/>
                </a:solidFill>
                <a:latin typeface="Calibri"/>
                <a:ea typeface="Calibri"/>
                <a:cs typeface="Calibri"/>
                <a:sym typeface="Calibri"/>
              </a:rPr>
              <a:t>ISWC 2026 · Bari</a:t>
            </a:r>
            <a:endParaRPr/>
          </a:p>
        </p:txBody>
      </p:sp>
      <p:pic>
        <p:nvPicPr>
          <p:cNvPr descr="A relational table whose highlighted row is mapped by RIGOR to a node of an ontology graph" id="2325" name="Google Shape;2325;p23"/>
          <p:cNvPicPr preferRelativeResize="0"/>
          <p:nvPr/>
        </p:nvPicPr>
        <p:blipFill rotWithShape="1">
          <a:blip r:embed="rId5">
            <a:alphaModFix/>
          </a:blip>
          <a:srcRect b="0" l="0" r="0" t="0"/>
          <a:stretch/>
        </p:blipFill>
        <p:spPr>
          <a:xfrm>
            <a:off x="1197051" y="2777505"/>
            <a:ext cx="3428999" cy="3066584"/>
          </a:xfrm>
          <a:prstGeom prst="rect">
            <a:avLst/>
          </a:prstGeom>
          <a:noFill/>
          <a:ln>
            <a:noFill/>
          </a:ln>
        </p:spPr>
      </p:pic>
      <p:sp>
        <p:nvSpPr>
          <p:cNvPr id="2326" name="Google Shape;2326;p23"/>
          <p:cNvSpPr txBox="1"/>
          <p:nvPr/>
        </p:nvSpPr>
        <p:spPr>
          <a:xfrm>
            <a:off x="1085225" y="5671014"/>
            <a:ext cx="1828800" cy="2001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300"/>
              <a:buFont typeface="Arial"/>
              <a:buNone/>
            </a:pPr>
            <a:r>
              <a:rPr b="1" i="0" lang="en-US" sz="1300" u="none" cap="none" strike="noStrike">
                <a:solidFill>
                  <a:srgbClr val="1F2328"/>
                </a:solidFill>
                <a:latin typeface="Consolas"/>
                <a:ea typeface="Consolas"/>
                <a:cs typeface="Consolas"/>
                <a:sym typeface="Consolas"/>
              </a:rPr>
              <a:t>relational database</a:t>
            </a:r>
            <a:endParaRPr b="0" i="0" sz="1300" u="none" cap="none" strike="noStrike">
              <a:solidFill>
                <a:srgbClr val="1F2328"/>
              </a:solidFill>
              <a:latin typeface="Arial"/>
              <a:ea typeface="Arial"/>
              <a:cs typeface="Arial"/>
              <a:sym typeface="Arial"/>
            </a:endParaRPr>
          </a:p>
        </p:txBody>
      </p:sp>
      <p:sp>
        <p:nvSpPr>
          <p:cNvPr id="2327" name="Google Shape;2327;p23"/>
          <p:cNvSpPr txBox="1"/>
          <p:nvPr/>
        </p:nvSpPr>
        <p:spPr>
          <a:xfrm>
            <a:off x="2971175" y="5671014"/>
            <a:ext cx="1828800" cy="2001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300"/>
              <a:buFont typeface="Arial"/>
              <a:buNone/>
            </a:pPr>
            <a:r>
              <a:rPr b="1" i="0" lang="en-US" sz="1300" u="none" cap="none" strike="noStrike">
                <a:solidFill>
                  <a:srgbClr val="1F2328"/>
                </a:solidFill>
                <a:latin typeface="Consolas"/>
                <a:ea typeface="Consolas"/>
                <a:cs typeface="Consolas"/>
                <a:sym typeface="Consolas"/>
              </a:rPr>
              <a:t>ontology</a:t>
            </a:r>
            <a:endParaRPr b="0" i="0" sz="1300" u="none" cap="none" strike="noStrike">
              <a:solidFill>
                <a:srgbClr val="1F2328"/>
              </a:solidFill>
              <a:latin typeface="Arial"/>
              <a:ea typeface="Arial"/>
              <a:cs typeface="Arial"/>
              <a:sym typeface="Arial"/>
            </a:endParaRPr>
          </a:p>
        </p:txBody>
      </p:sp>
      <p:sp>
        <p:nvSpPr>
          <p:cNvPr id="2328" name="Google Shape;2328;p23"/>
          <p:cNvSpPr/>
          <p:nvPr/>
        </p:nvSpPr>
        <p:spPr>
          <a:xfrm>
            <a:off x="2784678" y="3602137"/>
            <a:ext cx="768000" cy="274200"/>
          </a:xfrm>
          <a:prstGeom prst="roundRect">
            <a:avLst>
              <a:gd fmla="val 12000" name="adj"/>
            </a:avLst>
          </a:prstGeom>
          <a:solidFill>
            <a:srgbClr val="0B6E4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50" u="none" cap="none" strike="noStrike">
                <a:solidFill>
                  <a:srgbClr val="FFFFFF"/>
                </a:solidFill>
                <a:latin typeface="Consolas"/>
                <a:ea typeface="Consolas"/>
                <a:cs typeface="Consolas"/>
                <a:sym typeface="Consolas"/>
              </a:rPr>
              <a:t>RIGOR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RIGOR · ISWC 2026 Talk">
  <a:themeElements>
    <a:clrScheme name="RIGOR · ISWC 2026 Talk">
      <a:dk1>
        <a:srgbClr val="111A28"/>
      </a:dk1>
      <a:lt1>
        <a:srgbClr val="F2F4F7"/>
      </a:lt1>
      <a:dk2>
        <a:srgbClr val="49515C"/>
      </a:dk2>
      <a:lt2>
        <a:srgbClr val="DCDEE2"/>
      </a:lt2>
      <a:accent1>
        <a:srgbClr val="2345C4"/>
      </a:accent1>
      <a:accent2>
        <a:srgbClr val="F4A261"/>
      </a:accent2>
      <a:accent3>
        <a:srgbClr val="B4561C"/>
      </a:accent3>
      <a:accent4>
        <a:srgbClr val="8FA5EB"/>
      </a:accent4>
      <a:accent5>
        <a:srgbClr val="8AA4FF"/>
      </a:accent5>
      <a:accent6>
        <a:srgbClr val="E9873A"/>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IGOR · ISWC 2026 Talk">
  <a:themeElements>
    <a:clrScheme name="RIGOR · ISWC 2026 Talk">
      <a:dk1>
        <a:srgbClr val="111A28"/>
      </a:dk1>
      <a:lt1>
        <a:srgbClr val="F2F4F7"/>
      </a:lt1>
      <a:dk2>
        <a:srgbClr val="49515C"/>
      </a:dk2>
      <a:lt2>
        <a:srgbClr val="DCDEE2"/>
      </a:lt2>
      <a:accent1>
        <a:srgbClr val="2345C4"/>
      </a:accent1>
      <a:accent2>
        <a:srgbClr val="F4A261"/>
      </a:accent2>
      <a:accent3>
        <a:srgbClr val="B4561C"/>
      </a:accent3>
      <a:accent4>
        <a:srgbClr val="8FA5EB"/>
      </a:accent4>
      <a:accent5>
        <a:srgbClr val="8AA4FF"/>
      </a:accent5>
      <a:accent6>
        <a:srgbClr val="E9873A"/>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2026-10-26T00:50:16Z</dcterms:created>
</cp:coreProperties>
</file>