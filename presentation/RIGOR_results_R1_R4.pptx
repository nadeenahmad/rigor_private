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6.xml"/>
  <Override ContentType="application/vnd.openxmlformats-officedocument.presentationml.slide+xml" PartName="/ppt/slides/slide25.xml"/>
  <Override ContentType="application/vnd.openxmlformats-officedocument.presentationml.slide+xml" PartName="/ppt/slides/slide2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91" r:id="rId45"/>
    <p:sldId id="280" r:id="rId29"/>
    <p:sldId id="281" r:id="rId30"/>
    <p:sldId id="282" r:id="rId31"/>
  </p:sldIdLst>
  <p:sldSz cy="6858000" cx="12192000"/>
  <p:notesSz cx="6858000" cy="12192000"/>
  <p:embeddedFontLst>
    <p:embeddedFont>
      <p:font typeface="IBM Plex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iIhFui5hy+i4o3KOYM/gPuu+Lj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IBMPlexSans-regular.fntdata"/><Relationship Id="rId42" Type="http://schemas.openxmlformats.org/officeDocument/2006/relationships/font" Target="fonts/IBMPlexSans-italic.fntdata"/><Relationship Id="rId41" Type="http://schemas.openxmlformats.org/officeDocument/2006/relationships/font" Target="fonts/IBMPlexSans-bold.fntdata"/><Relationship Id="rId44" Type="http://customschemas.google.com/relationships/presentationmetadata" Target="metadata"/><Relationship Id="rId43" Type="http://schemas.openxmlformats.org/officeDocument/2006/relationships/font" Target="fonts/IBMPlex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29" Type="http://schemas.openxmlformats.org/officeDocument/2006/relationships/slide" Target="slides/slide25.xml"/><Relationship Id="rId31" Type="http://schemas.openxmlformats.org/officeDocument/2006/relationships/slide" Target="slides/slide27.xml"/><Relationship Id="rId30" Type="http://schemas.openxmlformats.org/officeDocument/2006/relationships/slide" Target="slides/slide26.xml"/>  <Relationship Id="rId45" Type="http://schemas.openxmlformats.org/officeDocument/2006/relationships/slide" Target="slides/slide36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1" name="Google Shape;1141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[9:23–10:14]  SPOKEN SCRIPT (86 words)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 nothing is lost. But is meaning added? On the left, per ontology: direct mapping and the LLM baseline add no labels at all. Non-Iterative adds labels, but no provenance and no hierarchy. Only RIGOR adds all three. On the right, the modeling pitfalls that OOPS! finds: about five hundred per direct-mapping ontology, eight per RIGOR ontology. [pause] Most of the others' pitfalls are simply missing annotations. And the one critical pitfall, the second domain from our validation example, is gone in six of RIGOR's nine ontologies.</a:t>
            </a:r>
          </a:p>
          <a:p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PRESENTER / POINTER: Left table, land on the RIGOR row; then 499 versus 8; then the strip.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AUDIENCE TAKEAWAY: Only RIGOR adds labels, provenance and hierarchy, with far fewer modeling errors.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AND SCOPE: Paper Table 8 (annotations, provenance, SubClassOf) and Table 7 (OOPS! pitfalls), averaged per ontology over all 30. 72% of the other methods' pitfalls are P08; P19 is the only critical one.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RUNNING LATE, DROP: "Most of the others' pitfalls are simply missing annotations."</a:t>
            </a:r>
          </a:p>
        </p:txBody>
      </p:sp>
      <p:sp>
        <p:nvSpPr>
          <p:cNvPr id="1142" name="Google Shape;1142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0" name="Google Shape;1200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[10:14–11:05]  SPOKEN SCRIPT (88 words)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Meaning is added. But is the link back to the data still correct? BURR, an external benchmark, checks exactly this: every class, relation and attribute must map back to the right table, foreign key or column, scored with F1 against a gold mapping. RIGOR's provenance gives us that mapping directly. On BURR's ISWC scenario, RIGOR has the highest F1 on all three, ahead of rule-based and LLM-based systems. Relations stand out: zero point six seven against zero point one one, because foreign keys become named relations, like hasPatientData.</a:t>
            </a:r>
          </a:p>
          <a:p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PRESENTER / POINTER: Left card first, then land on the RIGOR row.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AUDIENCE TAKEAWAY: Semantic enrichment did not break the correspondence that OBDA and KG population need.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 AND SCOPE: Paper Table 13. BURR = Laskowski et al., PACMMOD 2025; matching rule from BURR Section 4, Eq. 3. Left-card element names are illustrative.</a:t>
            </a:r>
          </a:p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RUNNING LATE, DROP: "Two elements match when they map to the same database elements, whatever they are called."</a:t>
            </a:r>
          </a:p>
          <a:p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 NOT SAY: 'BURR found LLMs trail rule-based systems'. BURR's results show Gemini 2.5 Pro ahead of the rule-based systems overall (rule-based systems win only on NPD).</a:t>
            </a:r>
          </a:p>
          <a:p/>
          <a:p>
            <a:r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ASKED ABOUT GEMINI 2.5 PRO (BURR Table 3, ISWC .65 / .68 / .56): in BURR it is a general-purpose LLM prompted with few-shot examples and a checklist to write the D2RQ mapping directly. It is a mapping generator, not an ontology-learning system that builds an enriched ontology, so we compare with ontology-learning systems. Against it, RIGOR's class F1 is higher, relations are on par, attributes lower, and RIGOR also produces labels, hierarchy and provenance. It is prompted, not fine-tuned.</a:t>
            </a:r>
          </a:p>
        </p:txBody>
      </p:sp>
      <p:sp>
        <p:nvSpPr>
          <p:cNvPr id="1201" name="Google Shape;1201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[11:05–11:49]  SPOKEN SCRIPT (70 words)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checks agree. Do evaluators agree? Both evaluations were blind: four anonymized ontologies per table, ranked first to fourth. An LLM judge, GPT-5.4, ranked RIGOR first on all fifty-eight tables, with the largest gains in clarity and domain enrichment. [pause] Ten ontology experts ranked RIGOR first in twenty-eight of forty rankings, seventy percent. [pause] Direct mapping gives structure without meaning. LLMs alone give meaning without structure. RIGOR gives both, and checks them.</a:t>
            </a:r>
          </a:p>
          <a:p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Left number, right number, then read the closing strip slowly.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An independent LLM judge and human experts both rank RIGOR first.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Paper Table 1 (rankings), Table 10 (judge dimensions), Table 12 (Kendall's W 0.39-0.72). LLM judge: Claude outputs, 290 competency questions. Experts: 4 tables from the two medical databases.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RUNNING LATE, DROP: "with the largest gains in clarity and domain enrichment"</a:t>
            </a:r>
          </a:p>
        </p:txBody>
      </p:sp>
      <p:sp>
        <p:nvSpPr>
          <p:cNvPr id="1254" name="Google Shape;1254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[8:45–9:23]  SPOKEN SCRIPT (63 words)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climb from the easiest check to the hardest. First: is anything lost? All thirty ontologies are valid OWL and logically consistent, for every method. On average, RIGOR covers ninety-three percent of the database columns, as much as direct mapping. Non-Iterative, with the same retrieved context but no seed, covers only a third. [pause] So context alone loses structure; the direct-mapping seed keeps it.</a:t>
            </a:r>
          </a:p>
          <a:p/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/ POINTER: Thirty out of thirty, then the bars: RIGOR next to Direct Mapping, then Non-Iterative.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AUDIENCE TAKEAWAY: RIGOR keeps the schema as well as Direct Mapping; context alone does not.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AND SCOPE: Paper Sec. 4.7 (validity, consistency) and Table 9 (column coverage, averaged over each method's ontologies).</a:t>
            </a:r>
          </a:p>
          <a:p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RUNNING LATE, DROP: "So context alone loses structure; the direct-mapping seed keeps it."</a:t>
            </a:r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sz="28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None/>
              <a:defRPr sz="1600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12800" y="1153120"/>
            <a:ext cx="10566400" cy="39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2800"/>
              <a:buFont typeface="Calibri"/>
              <a:buNone/>
              <a:defRPr b="0" i="0" sz="2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12800" y="1849041"/>
            <a:ext cx="10566400" cy="41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F2328"/>
              </a:buClr>
              <a:buSzPts val="1600"/>
              <a:buFont typeface="Calibri"/>
              <a:buNone/>
              <a:defRPr b="0" i="0" sz="16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Notes" Type="http://schemas.openxmlformats.org/officeDocument/2006/relationships/notesSlide" Target="../notesSlides/notesSlide36.xml"/></Relationships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0"/>
          <p:cNvSpPr txBox="1"/>
          <p:nvPr/>
        </p:nvSpPr>
        <p:spPr>
          <a:xfrm>
            <a:off x="804672" y="512064"/>
            <a:ext cx="10753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RESULT 2  /  MEANING AND ERRORS</a:t>
            </a:r>
            <a:endParaRPr/>
          </a:p>
        </p:txBody>
      </p:sp>
      <p:sp>
        <p:nvSpPr>
          <p:cNvPr id="1145" name="Google Shape;1145;p20"/>
          <p:cNvSpPr txBox="1"/>
          <p:nvPr/>
        </p:nvSpPr>
        <p:spPr>
          <a:xfrm>
            <a:off x="804672" y="914400"/>
            <a:ext cx="10762488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Then, meaning is added, with far fewer errors.</a:t>
            </a:r>
            <a:endParaRPr/>
          </a:p>
        </p:txBody>
      </p:sp>
      <p:sp>
        <p:nvSpPr>
          <p:cNvPr id="1146" name="Subtitle"/>
          <p:cNvSpPr txBox="1"/>
          <p:nvPr/>
        </p:nvSpPr>
        <p:spPr>
          <a:xfrm>
            <a:off x="822960" y="1645920"/>
            <a:ext cx="10680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Averages per ontology, over all 30 ontologies.</a:t>
            </a:r>
          </a:p>
        </p:txBody>
      </p:sp>
      <p:sp>
        <p:nvSpPr>
          <p:cNvPr id="1147" name="Ladder"/>
          <p:cNvSpPr/>
          <p:nvPr/>
        </p:nvSpPr>
        <p:spPr>
          <a:xfrm>
            <a:off x="804672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1  VALID</a:t>
            </a:r>
          </a:p>
        </p:txBody>
      </p:sp>
      <p:sp>
        <p:nvSpPr>
          <p:cNvPr id="1148" name="Ladder"/>
          <p:cNvSpPr/>
          <p:nvPr/>
        </p:nvSpPr>
        <p:spPr>
          <a:xfrm>
            <a:off x="2596896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2  KEEPS THE SCHEMA</a:t>
            </a:r>
          </a:p>
        </p:txBody>
      </p:sp>
      <p:sp>
        <p:nvSpPr>
          <p:cNvPr id="1149" name="Ladder"/>
          <p:cNvSpPr/>
          <p:nvPr/>
        </p:nvSpPr>
        <p:spPr>
          <a:xfrm>
            <a:off x="4389120" y="2103120"/>
            <a:ext cx="1700784" cy="310896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onsolas"/>
                <a:cs typeface="Consolas"/>
              </a:rPr>
              <a:t xml:space="preserve">3  ADDS MEANING</a:t>
            </a:r>
          </a:p>
        </p:txBody>
      </p:sp>
      <p:sp>
        <p:nvSpPr>
          <p:cNvPr id="1150" name="Ladder"/>
          <p:cNvSpPr/>
          <p:nvPr/>
        </p:nvSpPr>
        <p:spPr>
          <a:xfrm>
            <a:off x="6181344" y="2103120"/>
            <a:ext cx="1700784" cy="310896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onsolas"/>
                <a:cs typeface="Consolas"/>
              </a:rPr>
              <a:t xml:space="preserve">4  FEWER ERRORS</a:t>
            </a:r>
          </a:p>
        </p:txBody>
      </p:sp>
      <p:sp>
        <p:nvSpPr>
          <p:cNvPr id="1151" name="Ladder"/>
          <p:cNvSpPr/>
          <p:nvPr/>
        </p:nvSpPr>
        <p:spPr>
          <a:xfrm>
            <a:off x="7973568" y="2103120"/>
            <a:ext cx="170078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6B747B"/>
                </a:solidFill>
                <a:latin typeface="Consolas"/>
                <a:cs typeface="Consolas"/>
              </a:rPr>
              <a:t xml:space="preserve">5  GOLD MAPPINGS</a:t>
            </a:r>
          </a:p>
        </p:txBody>
      </p:sp>
      <p:sp>
        <p:nvSpPr>
          <p:cNvPr id="1152" name="Ladder"/>
          <p:cNvSpPr/>
          <p:nvPr/>
        </p:nvSpPr>
        <p:spPr>
          <a:xfrm>
            <a:off x="9765792" y="2103120"/>
            <a:ext cx="170078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6B747B"/>
                </a:solidFill>
                <a:latin typeface="Consolas"/>
                <a:cs typeface="Consolas"/>
              </a:rPr>
              <a:t xml:space="preserve">6  JUDGES</a:t>
            </a:r>
          </a:p>
        </p:txBody>
      </p:sp>
      <p:sp>
        <p:nvSpPr>
          <p:cNvPr id="1153" name="Card"/>
          <p:cNvSpPr/>
          <p:nvPr/>
        </p:nvSpPr>
        <p:spPr>
          <a:xfrm>
            <a:off x="804672" y="2606040"/>
            <a:ext cx="598932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54" name="Card label"/>
          <p:cNvSpPr txBox="1"/>
          <p:nvPr/>
        </p:nvSpPr>
        <p:spPr>
          <a:xfrm>
            <a:off x="1078992" y="2788920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2F6B78"/>
                </a:solidFill>
                <a:latin typeface="Consolas"/>
                <a:cs typeface="Consolas"/>
              </a:rPr>
              <a:t xml:space="preserve">3  ADDS MEANING</a:t>
            </a:r>
          </a:p>
        </p:txBody>
      </p:sp>
      <p:sp>
        <p:nvSpPr>
          <p:cNvPr id="1155" name="Card note"/>
          <p:cNvSpPr txBox="1"/>
          <p:nvPr/>
        </p:nvSpPr>
        <p:spPr>
          <a:xfrm>
            <a:off x="1078992" y="3081528"/>
            <a:ext cx="54406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elements per ontology</a:t>
            </a:r>
          </a:p>
        </p:txBody>
      </p:sp>
      <p:sp>
        <p:nvSpPr>
          <p:cNvPr id="1156" name="Column"/>
          <p:cNvSpPr txBox="1"/>
          <p:nvPr/>
        </p:nvSpPr>
        <p:spPr>
          <a:xfrm>
            <a:off x="2907791" y="338328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1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Labels &amp; comments</a:t>
            </a:r>
          </a:p>
        </p:txBody>
      </p:sp>
      <p:sp>
        <p:nvSpPr>
          <p:cNvPr id="1157" name="Column"/>
          <p:cNvSpPr txBox="1"/>
          <p:nvPr/>
        </p:nvSpPr>
        <p:spPr>
          <a:xfrm>
            <a:off x="4187952" y="338328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1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Provenance links</a:t>
            </a:r>
          </a:p>
        </p:txBody>
      </p:sp>
      <p:sp>
        <p:nvSpPr>
          <p:cNvPr id="1158" name="Column"/>
          <p:cNvSpPr txBox="1"/>
          <p:nvPr/>
        </p:nvSpPr>
        <p:spPr>
          <a:xfrm>
            <a:off x="5468112" y="338328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/>
            <a:r>
              <a:rPr lang="en-US" sz="115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Subclass axioms</a:t>
            </a:r>
          </a:p>
        </p:txBody>
      </p:sp>
      <p:sp>
        <p:nvSpPr>
          <p:cNvPr id="1159" name="Rule"/>
          <p:cNvSpPr/>
          <p:nvPr/>
        </p:nvSpPr>
        <p:spPr>
          <a:xfrm>
            <a:off x="1078992" y="3867912"/>
            <a:ext cx="5440680" cy="10972"/>
          </a:xfrm>
          <a:prstGeom prst="rect">
            <a:avLst/>
          </a:prstGeom>
          <a:solidFill>
            <a:srgbClr val="C5CCD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60" name="Method"/>
          <p:cNvSpPr txBox="1"/>
          <p:nvPr/>
        </p:nvSpPr>
        <p:spPr>
          <a:xfrm>
            <a:off x="1078992" y="3977639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5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Direct Mapping</a:t>
            </a:r>
          </a:p>
        </p:txBody>
      </p:sp>
      <p:sp>
        <p:nvSpPr>
          <p:cNvPr id="1161" name="Value"/>
          <p:cNvSpPr txBox="1"/>
          <p:nvPr/>
        </p:nvSpPr>
        <p:spPr>
          <a:xfrm>
            <a:off x="2907791" y="3977639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50" b="0" i="0" dirty="0">
                <a:solidFill>
                  <a:srgbClr val="6B747B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62" name="Value"/>
          <p:cNvSpPr txBox="1"/>
          <p:nvPr/>
        </p:nvSpPr>
        <p:spPr>
          <a:xfrm>
            <a:off x="4187952" y="3977639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50" b="0" i="0" dirty="0">
                <a:solidFill>
                  <a:srgbClr val="6B747B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63" name="Value"/>
          <p:cNvSpPr txBox="1"/>
          <p:nvPr/>
        </p:nvSpPr>
        <p:spPr>
          <a:xfrm>
            <a:off x="5468112" y="3977639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50" b="0" i="0" dirty="0">
                <a:solidFill>
                  <a:srgbClr val="6B747B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64" name="Method"/>
          <p:cNvSpPr txBox="1"/>
          <p:nvPr/>
        </p:nvSpPr>
        <p:spPr>
          <a:xfrm>
            <a:off x="1078992" y="438912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5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LLM baseline</a:t>
            </a:r>
          </a:p>
        </p:txBody>
      </p:sp>
      <p:sp>
        <p:nvSpPr>
          <p:cNvPr id="1165" name="Value"/>
          <p:cNvSpPr txBox="1"/>
          <p:nvPr/>
        </p:nvSpPr>
        <p:spPr>
          <a:xfrm>
            <a:off x="2907791" y="43891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50" b="0" i="0" dirty="0">
                <a:solidFill>
                  <a:srgbClr val="6B747B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66" name="Value"/>
          <p:cNvSpPr txBox="1"/>
          <p:nvPr/>
        </p:nvSpPr>
        <p:spPr>
          <a:xfrm>
            <a:off x="4187952" y="43891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50" b="0" i="0" dirty="0">
                <a:solidFill>
                  <a:srgbClr val="6B747B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67" name="Value"/>
          <p:cNvSpPr txBox="1"/>
          <p:nvPr/>
        </p:nvSpPr>
        <p:spPr>
          <a:xfrm>
            <a:off x="5468112" y="438912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50" b="0" i="0" dirty="0">
                <a:solidFill>
                  <a:srgbClr val="6B747B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68" name="Method"/>
          <p:cNvSpPr txBox="1"/>
          <p:nvPr/>
        </p:nvSpPr>
        <p:spPr>
          <a:xfrm>
            <a:off x="1078992" y="4800600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5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Non-Iterative</a:t>
            </a:r>
          </a:p>
        </p:txBody>
      </p:sp>
      <p:sp>
        <p:nvSpPr>
          <p:cNvPr id="1169" name="Value"/>
          <p:cNvSpPr txBox="1"/>
          <p:nvPr/>
        </p:nvSpPr>
        <p:spPr>
          <a:xfrm>
            <a:off x="2907791" y="480060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5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389</a:t>
            </a:r>
          </a:p>
        </p:txBody>
      </p:sp>
      <p:sp>
        <p:nvSpPr>
          <p:cNvPr id="1170" name="Value"/>
          <p:cNvSpPr txBox="1"/>
          <p:nvPr/>
        </p:nvSpPr>
        <p:spPr>
          <a:xfrm>
            <a:off x="4187952" y="480060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50" b="0" i="0" dirty="0">
                <a:solidFill>
                  <a:srgbClr val="6B747B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71" name="Value"/>
          <p:cNvSpPr txBox="1"/>
          <p:nvPr/>
        </p:nvSpPr>
        <p:spPr>
          <a:xfrm>
            <a:off x="5468112" y="480060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450" b="0" i="0" dirty="0">
                <a:solidFill>
                  <a:srgbClr val="6B747B"/>
                </a:solidFill>
                <a:latin typeface="Calibri"/>
                <a:cs typeface="Calibri"/>
              </a:rPr>
              <a:t xml:space="preserve">0</a:t>
            </a:r>
          </a:p>
        </p:txBody>
      </p:sp>
      <p:sp>
        <p:nvSpPr>
          <p:cNvPr id="1172" name="RIGOR band"/>
          <p:cNvSpPr/>
          <p:nvPr/>
        </p:nvSpPr>
        <p:spPr>
          <a:xfrm>
            <a:off x="969264" y="5175503"/>
            <a:ext cx="5660136" cy="384048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73" name="Method"/>
          <p:cNvSpPr txBox="1"/>
          <p:nvPr/>
        </p:nvSpPr>
        <p:spPr>
          <a:xfrm>
            <a:off x="1078992" y="5212079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5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RIGOR</a:t>
            </a:r>
          </a:p>
        </p:txBody>
      </p:sp>
      <p:sp>
        <p:nvSpPr>
          <p:cNvPr id="1174" name="Value"/>
          <p:cNvSpPr txBox="1"/>
          <p:nvPr/>
        </p:nvSpPr>
        <p:spPr>
          <a:xfrm>
            <a:off x="2907791" y="5212079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777</a:t>
            </a:r>
          </a:p>
        </p:txBody>
      </p:sp>
      <p:sp>
        <p:nvSpPr>
          <p:cNvPr id="1175" name="Value"/>
          <p:cNvSpPr txBox="1"/>
          <p:nvPr/>
        </p:nvSpPr>
        <p:spPr>
          <a:xfrm>
            <a:off x="4187952" y="5212079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196</a:t>
            </a:r>
          </a:p>
        </p:txBody>
      </p:sp>
      <p:sp>
        <p:nvSpPr>
          <p:cNvPr id="1176" name="Value"/>
          <p:cNvSpPr txBox="1"/>
          <p:nvPr/>
        </p:nvSpPr>
        <p:spPr>
          <a:xfrm>
            <a:off x="5468112" y="5212079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59</a:t>
            </a:r>
          </a:p>
        </p:txBody>
      </p:sp>
      <p:sp>
        <p:nvSpPr>
          <p:cNvPr id="1177" name="Card"/>
          <p:cNvSpPr/>
          <p:nvPr/>
        </p:nvSpPr>
        <p:spPr>
          <a:xfrm>
            <a:off x="6976872" y="2606040"/>
            <a:ext cx="440740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78" name="Card label"/>
          <p:cNvSpPr txBox="1"/>
          <p:nvPr/>
        </p:nvSpPr>
        <p:spPr>
          <a:xfrm>
            <a:off x="7251192" y="2788920"/>
            <a:ext cx="38587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2F6B78"/>
                </a:solidFill>
                <a:latin typeface="Consolas"/>
                <a:cs typeface="Consolas"/>
              </a:rPr>
              <a:t xml:space="preserve">4  FEWER ERRORS</a:t>
            </a:r>
          </a:p>
        </p:txBody>
      </p:sp>
      <p:sp>
        <p:nvSpPr>
          <p:cNvPr id="1179" name="Card note"/>
          <p:cNvSpPr txBox="1"/>
          <p:nvPr/>
        </p:nvSpPr>
        <p:spPr>
          <a:xfrm>
            <a:off x="7251192" y="3081528"/>
            <a:ext cx="38587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OOPS! modeling pitfalls per ontology</a:t>
            </a:r>
          </a:p>
        </p:txBody>
      </p:sp>
      <p:sp>
        <p:nvSpPr>
          <p:cNvPr id="1180" name="Method"/>
          <p:cNvSpPr txBox="1"/>
          <p:nvPr/>
        </p:nvSpPr>
        <p:spPr>
          <a:xfrm>
            <a:off x="7251192" y="356616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Direct Mapping</a:t>
            </a:r>
          </a:p>
        </p:txBody>
      </p:sp>
      <p:sp>
        <p:nvSpPr>
          <p:cNvPr id="1181" name="Track"/>
          <p:cNvSpPr/>
          <p:nvPr/>
        </p:nvSpPr>
        <p:spPr>
          <a:xfrm>
            <a:off x="8759952" y="3639312"/>
            <a:ext cx="1709928" cy="146304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82" name="Bar"/>
          <p:cNvSpPr/>
          <p:nvPr/>
        </p:nvSpPr>
        <p:spPr>
          <a:xfrm>
            <a:off x="8759952" y="3639312"/>
            <a:ext cx="1709928" cy="146304"/>
          </a:xfrm>
          <a:prstGeom prst="rect">
            <a:avLst/>
          </a:prstGeom>
          <a:solidFill>
            <a:srgbClr val="9AA3A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83" name="Value"/>
          <p:cNvSpPr txBox="1"/>
          <p:nvPr/>
        </p:nvSpPr>
        <p:spPr>
          <a:xfrm>
            <a:off x="10543032" y="356616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3A434C"/>
                </a:solidFill>
                <a:latin typeface="Calibri"/>
                <a:cs typeface="Calibri"/>
              </a:rPr>
              <a:t xml:space="preserve">499</a:t>
            </a:r>
          </a:p>
        </p:txBody>
      </p:sp>
      <p:sp>
        <p:nvSpPr>
          <p:cNvPr id="1184" name="Method"/>
          <p:cNvSpPr txBox="1"/>
          <p:nvPr/>
        </p:nvSpPr>
        <p:spPr>
          <a:xfrm>
            <a:off x="7251192" y="406908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LLM baseline</a:t>
            </a:r>
          </a:p>
        </p:txBody>
      </p:sp>
      <p:sp>
        <p:nvSpPr>
          <p:cNvPr id="1185" name="Track"/>
          <p:cNvSpPr/>
          <p:nvPr/>
        </p:nvSpPr>
        <p:spPr>
          <a:xfrm>
            <a:off x="8759952" y="4142232"/>
            <a:ext cx="1709928" cy="146304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86" name="Bar"/>
          <p:cNvSpPr/>
          <p:nvPr/>
        </p:nvSpPr>
        <p:spPr>
          <a:xfrm>
            <a:off x="8759952" y="4142232"/>
            <a:ext cx="1051999" cy="146304"/>
          </a:xfrm>
          <a:prstGeom prst="rect">
            <a:avLst/>
          </a:prstGeom>
          <a:solidFill>
            <a:srgbClr val="9AA3A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87" name="Value"/>
          <p:cNvSpPr txBox="1"/>
          <p:nvPr/>
        </p:nvSpPr>
        <p:spPr>
          <a:xfrm>
            <a:off x="10543032" y="406908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3A434C"/>
                </a:solidFill>
                <a:latin typeface="Calibri"/>
                <a:cs typeface="Calibri"/>
              </a:rPr>
              <a:t xml:space="preserve">307</a:t>
            </a:r>
          </a:p>
        </p:txBody>
      </p:sp>
      <p:sp>
        <p:nvSpPr>
          <p:cNvPr id="1188" name="Method"/>
          <p:cNvSpPr txBox="1"/>
          <p:nvPr/>
        </p:nvSpPr>
        <p:spPr>
          <a:xfrm>
            <a:off x="7251192" y="457200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Non-Iterative</a:t>
            </a:r>
          </a:p>
        </p:txBody>
      </p:sp>
      <p:sp>
        <p:nvSpPr>
          <p:cNvPr id="1189" name="Track"/>
          <p:cNvSpPr/>
          <p:nvPr/>
        </p:nvSpPr>
        <p:spPr>
          <a:xfrm>
            <a:off x="8759952" y="4645152"/>
            <a:ext cx="1709928" cy="146304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90" name="Bar"/>
          <p:cNvSpPr/>
          <p:nvPr/>
        </p:nvSpPr>
        <p:spPr>
          <a:xfrm>
            <a:off x="8759952" y="4645152"/>
            <a:ext cx="178188" cy="146304"/>
          </a:xfrm>
          <a:prstGeom prst="rect">
            <a:avLst/>
          </a:prstGeom>
          <a:solidFill>
            <a:srgbClr val="9AA3A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91" name="Value"/>
          <p:cNvSpPr txBox="1"/>
          <p:nvPr/>
        </p:nvSpPr>
        <p:spPr>
          <a:xfrm>
            <a:off x="10543032" y="457200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3A434C"/>
                </a:solidFill>
                <a:latin typeface="Calibri"/>
                <a:cs typeface="Calibri"/>
              </a:rPr>
              <a:t xml:space="preserve">52</a:t>
            </a:r>
          </a:p>
        </p:txBody>
      </p:sp>
      <p:sp>
        <p:nvSpPr>
          <p:cNvPr id="1192" name="Method"/>
          <p:cNvSpPr txBox="1"/>
          <p:nvPr/>
        </p:nvSpPr>
        <p:spPr>
          <a:xfrm>
            <a:off x="7251192" y="507492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RIGOR</a:t>
            </a:r>
          </a:p>
        </p:txBody>
      </p:sp>
      <p:sp>
        <p:nvSpPr>
          <p:cNvPr id="1193" name="Track"/>
          <p:cNvSpPr/>
          <p:nvPr/>
        </p:nvSpPr>
        <p:spPr>
          <a:xfrm>
            <a:off x="8759952" y="5148072"/>
            <a:ext cx="1709928" cy="146304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94" name="Bar"/>
          <p:cNvSpPr/>
          <p:nvPr/>
        </p:nvSpPr>
        <p:spPr>
          <a:xfrm>
            <a:off x="8759952" y="5148072"/>
            <a:ext cx="27432" cy="146304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95" name="Value"/>
          <p:cNvSpPr txBox="1"/>
          <p:nvPr/>
        </p:nvSpPr>
        <p:spPr>
          <a:xfrm>
            <a:off x="10543032" y="507492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8</a:t>
            </a:r>
          </a:p>
        </p:txBody>
      </p:sp>
      <p:sp>
        <p:nvSpPr>
          <p:cNvPr id="1196" name="Strip"/>
          <p:cNvSpPr/>
          <p:nvPr/>
        </p:nvSpPr>
        <p:spPr>
          <a:xfrm>
            <a:off x="804672" y="5879592"/>
            <a:ext cx="10579608" cy="420624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>
            <a:noFill/>
          </a:ln>
        </p:spPr>
        <p:txBody>
          <a:bodyPr wrap="square" lIns="201168" tIns="0" rIns="201168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72%</a:t>
            </a:r>
            <a:r>
              <a:rPr lang="en-US" sz="14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 of the others' pitfalls: missing annotations.  The critical one, a second domain: </a:t>
            </a:r>
            <a:r>
              <a:rPr lang="en-US" sz="14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zero in 6 of 9</a:t>
            </a:r>
            <a:r>
              <a:rPr lang="en-US" sz="14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 RIGOR ontologies.</a:t>
            </a:r>
          </a:p>
        </p:txBody>
      </p:sp>
      <p:sp>
        <p:nvSpPr>
          <p:cNvPr id="1197" name="Source"/>
          <p:cNvSpPr txBox="1"/>
          <p:nvPr/>
        </p:nvSpPr>
        <p:spPr>
          <a:xfrm>
            <a:off x="822960" y="6382512"/>
            <a:ext cx="10607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Paper Table 8 (annotation assertions, prov:wasDerivedFrom, SubClassOf) and Table 7 (OOPS!; P08 missing annotations, P19 multiple domains or ranges).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21"/>
          <p:cNvSpPr txBox="1"/>
          <p:nvPr/>
        </p:nvSpPr>
        <p:spPr>
          <a:xfrm>
            <a:off x="804672" y="512064"/>
            <a:ext cx="10753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RESULT 3  /  EXTERNAL BENCHMARK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1"/>
          <p:cNvSpPr txBox="1"/>
          <p:nvPr/>
        </p:nvSpPr>
        <p:spPr>
          <a:xfrm>
            <a:off x="804672" y="914400"/>
            <a:ext cx="107625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RIGOR keeps the link to the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1"/>
          <p:cNvSpPr txBox="1"/>
          <p:nvPr/>
        </p:nvSpPr>
        <p:spPr>
          <a:xfrm>
            <a:off x="822960" y="1645920"/>
            <a:ext cx="10680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BURR [Laskowski et al., PACMMOD 2025]  ·  ISWC scenario  ·  highest F1 among ontology-learning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1"/>
          <p:cNvSpPr/>
          <p:nvPr/>
        </p:nvSpPr>
        <p:spPr>
          <a:xfrm>
            <a:off x="5870448" y="2523744"/>
            <a:ext cx="5468100" cy="306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775">
            <a:solidFill>
              <a:srgbClr val="D9DED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1"/>
          <p:cNvSpPr txBox="1"/>
          <p:nvPr/>
        </p:nvSpPr>
        <p:spPr>
          <a:xfrm>
            <a:off x="6099048" y="2706624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endParaRPr/>
          </a:p>
        </p:txBody>
      </p:sp>
      <p:sp>
        <p:nvSpPr>
          <p:cNvPr id="1208" name="Google Shape;1208;p21"/>
          <p:cNvSpPr txBox="1"/>
          <p:nvPr/>
        </p:nvSpPr>
        <p:spPr>
          <a:xfrm>
            <a:off x="8156447" y="2706624"/>
            <a:ext cx="1051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CLASSES</a:t>
            </a:r>
            <a:endParaRPr/>
          </a:p>
        </p:txBody>
      </p:sp>
      <p:sp>
        <p:nvSpPr>
          <p:cNvPr id="1209" name="Google Shape;1209;p21"/>
          <p:cNvSpPr txBox="1"/>
          <p:nvPr/>
        </p:nvSpPr>
        <p:spPr>
          <a:xfrm>
            <a:off x="9208008" y="2706624"/>
            <a:ext cx="1051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RELATIONS</a:t>
            </a:r>
            <a:endParaRPr/>
          </a:p>
        </p:txBody>
      </p:sp>
      <p:sp>
        <p:nvSpPr>
          <p:cNvPr id="1210" name="Google Shape;1210;p21"/>
          <p:cNvSpPr txBox="1"/>
          <p:nvPr/>
        </p:nvSpPr>
        <p:spPr>
          <a:xfrm>
            <a:off x="10259567" y="2706624"/>
            <a:ext cx="1051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ATTRIBUTES</a:t>
            </a:r>
            <a:endParaRPr/>
          </a:p>
        </p:txBody>
      </p:sp>
      <p:cxnSp>
        <p:nvCxnSpPr>
          <p:cNvPr id="1211" name="Google Shape;1211;p21"/>
          <p:cNvCxnSpPr/>
          <p:nvPr/>
        </p:nvCxnSpPr>
        <p:spPr>
          <a:xfrm>
            <a:off x="6071616" y="3145536"/>
            <a:ext cx="5065800" cy="0"/>
          </a:xfrm>
          <a:prstGeom prst="straightConnector1">
            <a:avLst/>
          </a:prstGeom>
          <a:noFill/>
          <a:ln cap="flat" cmpd="sng" w="13950">
            <a:solidFill>
              <a:srgbClr val="D9DED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1212" name="Google Shape;1212;p21"/>
          <p:cNvSpPr txBox="1"/>
          <p:nvPr/>
        </p:nvSpPr>
        <p:spPr>
          <a:xfrm>
            <a:off x="6117336" y="3182112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W3C-Mapper / Ontop</a:t>
            </a:r>
            <a:endParaRPr/>
          </a:p>
        </p:txBody>
      </p:sp>
      <p:sp>
        <p:nvSpPr>
          <p:cNvPr id="1213" name="Google Shape;1213;p21"/>
          <p:cNvSpPr txBox="1"/>
          <p:nvPr/>
        </p:nvSpPr>
        <p:spPr>
          <a:xfrm>
            <a:off x="6117336" y="3438144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rule-based</a:t>
            </a:r>
            <a:endParaRPr/>
          </a:p>
        </p:txBody>
      </p:sp>
      <p:sp>
        <p:nvSpPr>
          <p:cNvPr id="1214" name="Google Shape;1214;p21"/>
          <p:cNvSpPr txBox="1"/>
          <p:nvPr/>
        </p:nvSpPr>
        <p:spPr>
          <a:xfrm>
            <a:off x="8202167" y="3241548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0.53</a:t>
            </a:r>
            <a:endParaRPr/>
          </a:p>
        </p:txBody>
      </p:sp>
      <p:sp>
        <p:nvSpPr>
          <p:cNvPr id="1215" name="Google Shape;1215;p21"/>
          <p:cNvSpPr txBox="1"/>
          <p:nvPr/>
        </p:nvSpPr>
        <p:spPr>
          <a:xfrm>
            <a:off x="9253728" y="3241548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0.11</a:t>
            </a:r>
            <a:endParaRPr/>
          </a:p>
        </p:txBody>
      </p:sp>
      <p:sp>
        <p:nvSpPr>
          <p:cNvPr id="1216" name="Google Shape;1216;p21"/>
          <p:cNvSpPr txBox="1"/>
          <p:nvPr/>
        </p:nvSpPr>
        <p:spPr>
          <a:xfrm>
            <a:off x="10305288" y="3241548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0.39</a:t>
            </a:r>
            <a:endParaRPr/>
          </a:p>
        </p:txBody>
      </p:sp>
      <p:sp>
        <p:nvSpPr>
          <p:cNvPr id="1217" name="Google Shape;1217;p21"/>
          <p:cNvSpPr txBox="1"/>
          <p:nvPr/>
        </p:nvSpPr>
        <p:spPr>
          <a:xfrm>
            <a:off x="6117336" y="3739896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RDB2Onto</a:t>
            </a:r>
            <a:endParaRPr/>
          </a:p>
        </p:txBody>
      </p:sp>
      <p:sp>
        <p:nvSpPr>
          <p:cNvPr id="1218" name="Google Shape;1218;p21"/>
          <p:cNvSpPr txBox="1"/>
          <p:nvPr/>
        </p:nvSpPr>
        <p:spPr>
          <a:xfrm>
            <a:off x="6117336" y="3995928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rule-based</a:t>
            </a:r>
            <a:endParaRPr/>
          </a:p>
        </p:txBody>
      </p:sp>
      <p:sp>
        <p:nvSpPr>
          <p:cNvPr id="1219" name="Google Shape;1219;p21"/>
          <p:cNvSpPr txBox="1"/>
          <p:nvPr/>
        </p:nvSpPr>
        <p:spPr>
          <a:xfrm>
            <a:off x="8202167" y="3799332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/>
          </a:p>
        </p:txBody>
      </p:sp>
      <p:sp>
        <p:nvSpPr>
          <p:cNvPr id="1220" name="Google Shape;1220;p21"/>
          <p:cNvSpPr txBox="1"/>
          <p:nvPr/>
        </p:nvSpPr>
        <p:spPr>
          <a:xfrm>
            <a:off x="9253728" y="3799332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0.62</a:t>
            </a:r>
            <a:endParaRPr/>
          </a:p>
        </p:txBody>
      </p:sp>
      <p:sp>
        <p:nvSpPr>
          <p:cNvPr id="1221" name="Google Shape;1221;p21"/>
          <p:cNvSpPr txBox="1"/>
          <p:nvPr/>
        </p:nvSpPr>
        <p:spPr>
          <a:xfrm>
            <a:off x="10305288" y="3799332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0.44</a:t>
            </a:r>
            <a:endParaRPr/>
          </a:p>
        </p:txBody>
      </p:sp>
      <p:sp>
        <p:nvSpPr>
          <p:cNvPr id="1222" name="Google Shape;1222;p21"/>
          <p:cNvSpPr txBox="1"/>
          <p:nvPr/>
        </p:nvSpPr>
        <p:spPr>
          <a:xfrm>
            <a:off x="6117336" y="4297680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OntoGenix</a:t>
            </a:r>
            <a:endParaRPr/>
          </a:p>
        </p:txBody>
      </p:sp>
      <p:sp>
        <p:nvSpPr>
          <p:cNvPr id="1223" name="Google Shape;1223;p21"/>
          <p:cNvSpPr txBox="1"/>
          <p:nvPr/>
        </p:nvSpPr>
        <p:spPr>
          <a:xfrm>
            <a:off x="6117336" y="4553712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LLM-based</a:t>
            </a:r>
            <a:endParaRPr/>
          </a:p>
        </p:txBody>
      </p:sp>
      <p:sp>
        <p:nvSpPr>
          <p:cNvPr id="1224" name="Google Shape;1224;p21"/>
          <p:cNvSpPr txBox="1"/>
          <p:nvPr/>
        </p:nvSpPr>
        <p:spPr>
          <a:xfrm>
            <a:off x="8202167" y="4357116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0.58</a:t>
            </a:r>
            <a:endParaRPr/>
          </a:p>
        </p:txBody>
      </p:sp>
      <p:sp>
        <p:nvSpPr>
          <p:cNvPr id="1225" name="Google Shape;1225;p21"/>
          <p:cNvSpPr txBox="1"/>
          <p:nvPr/>
        </p:nvSpPr>
        <p:spPr>
          <a:xfrm>
            <a:off x="9253728" y="4357116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0.35</a:t>
            </a:r>
            <a:endParaRPr/>
          </a:p>
        </p:txBody>
      </p:sp>
      <p:sp>
        <p:nvSpPr>
          <p:cNvPr id="1226" name="Google Shape;1226;p21"/>
          <p:cNvSpPr txBox="1"/>
          <p:nvPr/>
        </p:nvSpPr>
        <p:spPr>
          <a:xfrm>
            <a:off x="10305288" y="4357116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39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0.44</a:t>
            </a:r>
            <a:endParaRPr/>
          </a:p>
        </p:txBody>
      </p:sp>
      <p:sp>
        <p:nvSpPr>
          <p:cNvPr id="1227" name="Google Shape;1227;p21"/>
          <p:cNvSpPr/>
          <p:nvPr/>
        </p:nvSpPr>
        <p:spPr>
          <a:xfrm>
            <a:off x="5980176" y="4892040"/>
            <a:ext cx="5248800" cy="512100"/>
          </a:xfrm>
          <a:prstGeom prst="rect">
            <a:avLst/>
          </a:prstGeom>
          <a:solidFill>
            <a:srgbClr val="E9EEEB"/>
          </a:solidFill>
          <a:ln cap="flat" cmpd="sng" w="9525">
            <a:solidFill>
              <a:srgbClr val="3A7D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21"/>
          <p:cNvSpPr txBox="1"/>
          <p:nvPr/>
        </p:nvSpPr>
        <p:spPr>
          <a:xfrm>
            <a:off x="6117336" y="4855464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RIGOR</a:t>
            </a:r>
            <a:endParaRPr/>
          </a:p>
        </p:txBody>
      </p:sp>
      <p:sp>
        <p:nvSpPr>
          <p:cNvPr id="1229" name="Google Shape;1229;p21"/>
          <p:cNvSpPr txBox="1"/>
          <p:nvPr/>
        </p:nvSpPr>
        <p:spPr>
          <a:xfrm>
            <a:off x="6117336" y="5111496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F6B78"/>
                </a:solidFill>
                <a:latin typeface="Calibri"/>
                <a:ea typeface="Calibri"/>
                <a:cs typeface="Calibri"/>
                <a:sym typeface="Calibri"/>
              </a:rPr>
              <a:t>LLM + rules</a:t>
            </a:r>
            <a:endParaRPr/>
          </a:p>
        </p:txBody>
      </p:sp>
      <p:sp>
        <p:nvSpPr>
          <p:cNvPr id="1230" name="Google Shape;1230;p21"/>
          <p:cNvSpPr txBox="1"/>
          <p:nvPr/>
        </p:nvSpPr>
        <p:spPr>
          <a:xfrm>
            <a:off x="8202167" y="4914900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endParaRPr/>
          </a:p>
        </p:txBody>
      </p:sp>
      <p:sp>
        <p:nvSpPr>
          <p:cNvPr id="1231" name="Google Shape;1231;p21"/>
          <p:cNvSpPr txBox="1"/>
          <p:nvPr/>
        </p:nvSpPr>
        <p:spPr>
          <a:xfrm>
            <a:off x="9253728" y="4914900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/>
          </a:p>
        </p:txBody>
      </p:sp>
      <p:sp>
        <p:nvSpPr>
          <p:cNvPr id="1232" name="Google Shape;1232;p21"/>
          <p:cNvSpPr txBox="1"/>
          <p:nvPr/>
        </p:nvSpPr>
        <p:spPr>
          <a:xfrm>
            <a:off x="10305288" y="4914900"/>
            <a:ext cx="96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0.52</a:t>
            </a:r>
            <a:endParaRPr/>
          </a:p>
        </p:txBody>
      </p:sp>
      <p:sp>
        <p:nvSpPr>
          <p:cNvPr id="1233" name="Google Shape;1233;p21"/>
          <p:cNvSpPr/>
          <p:nvPr/>
        </p:nvSpPr>
        <p:spPr>
          <a:xfrm>
            <a:off x="841248" y="2523744"/>
            <a:ext cx="4846200" cy="3063300"/>
          </a:xfrm>
          <a:prstGeom prst="roundRect">
            <a:avLst>
              <a:gd fmla="val 12000" name="adj"/>
            </a:avLst>
          </a:prstGeom>
          <a:solidFill>
            <a:srgbClr val="F3F5F4"/>
          </a:solidFill>
          <a:ln cap="flat" cmpd="sng" w="9525">
            <a:solidFill>
              <a:srgbClr val="D9D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1"/>
          <p:cNvSpPr txBox="1"/>
          <p:nvPr/>
        </p:nvSpPr>
        <p:spPr>
          <a:xfrm>
            <a:off x="1069848" y="2706624"/>
            <a:ext cx="43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WHAT BURR CHECKS</a:t>
            </a:r>
            <a:endParaRPr/>
          </a:p>
        </p:txBody>
      </p:sp>
      <p:sp>
        <p:nvSpPr>
          <p:cNvPr id="1235" name="Google Shape;1235;p21"/>
          <p:cNvSpPr txBox="1"/>
          <p:nvPr/>
        </p:nvSpPr>
        <p:spPr>
          <a:xfrm>
            <a:off x="1069848" y="3035808"/>
            <a:ext cx="4389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328"/>
                </a:solidFill>
                <a:latin typeface="Calibri"/>
                <a:ea typeface="Calibri"/>
                <a:cs typeface="Calibri"/>
                <a:sym typeface="Calibri"/>
              </a:rPr>
              <a:t>Every ontology element must map back to the database.</a:t>
            </a:r>
            <a:endParaRPr/>
          </a:p>
        </p:txBody>
      </p:sp>
      <p:sp>
        <p:nvSpPr>
          <p:cNvPr id="1236" name="Google Shape;1236;p21"/>
          <p:cNvSpPr txBox="1"/>
          <p:nvPr/>
        </p:nvSpPr>
        <p:spPr>
          <a:xfrm>
            <a:off x="1069848" y="3474720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CLASSES</a:t>
            </a:r>
            <a:endParaRPr/>
          </a:p>
        </p:txBody>
      </p:sp>
      <p:sp>
        <p:nvSpPr>
          <p:cNvPr descr="database element" id="1237" name="Google Shape;1237;p21"/>
          <p:cNvSpPr/>
          <p:nvPr/>
        </p:nvSpPr>
        <p:spPr>
          <a:xfrm>
            <a:off x="2075688" y="3474720"/>
            <a:ext cx="1298400" cy="329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endParaRPr/>
          </a:p>
        </p:txBody>
      </p:sp>
      <p:sp>
        <p:nvSpPr>
          <p:cNvPr id="1238" name="Google Shape;1238;p21"/>
          <p:cNvSpPr txBox="1"/>
          <p:nvPr/>
        </p:nvSpPr>
        <p:spPr>
          <a:xfrm>
            <a:off x="3392424" y="3474720"/>
            <a:ext cx="23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descr="ontology element" id="1239" name="Google Shape;1239;p21"/>
          <p:cNvSpPr/>
          <p:nvPr/>
        </p:nvSpPr>
        <p:spPr>
          <a:xfrm>
            <a:off x="3648456" y="3474720"/>
            <a:ext cx="1856100" cy="329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Class: </a:t>
            </a:r>
            <a:r>
              <a:rPr b="0" i="0" lang="en-US" sz="105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endParaRPr/>
          </a:p>
        </p:txBody>
      </p:sp>
      <p:sp>
        <p:nvSpPr>
          <p:cNvPr id="1240" name="Google Shape;1240;p21"/>
          <p:cNvSpPr txBox="1"/>
          <p:nvPr/>
        </p:nvSpPr>
        <p:spPr>
          <a:xfrm>
            <a:off x="1069848" y="3895344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RELATIONS</a:t>
            </a:r>
            <a:endParaRPr/>
          </a:p>
        </p:txBody>
      </p:sp>
      <p:sp>
        <p:nvSpPr>
          <p:cNvPr descr="database element" id="1241" name="Google Shape;1241;p21"/>
          <p:cNvSpPr/>
          <p:nvPr/>
        </p:nvSpPr>
        <p:spPr>
          <a:xfrm>
            <a:off x="2075688" y="3895344"/>
            <a:ext cx="1298400" cy="329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paper.author_id</a:t>
            </a:r>
            <a:endParaRPr/>
          </a:p>
        </p:txBody>
      </p:sp>
      <p:sp>
        <p:nvSpPr>
          <p:cNvPr id="1242" name="Google Shape;1242;p21"/>
          <p:cNvSpPr txBox="1"/>
          <p:nvPr/>
        </p:nvSpPr>
        <p:spPr>
          <a:xfrm>
            <a:off x="3392424" y="3895344"/>
            <a:ext cx="23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descr="ontology element" id="1243" name="Google Shape;1243;p21"/>
          <p:cNvSpPr/>
          <p:nvPr/>
        </p:nvSpPr>
        <p:spPr>
          <a:xfrm>
            <a:off x="3648456" y="3895344"/>
            <a:ext cx="1856100" cy="329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ObjectProperty: </a:t>
            </a:r>
            <a:r>
              <a:rPr b="0" i="0" lang="en-US" sz="105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author</a:t>
            </a:r>
            <a:endParaRPr/>
          </a:p>
        </p:txBody>
      </p:sp>
      <p:sp>
        <p:nvSpPr>
          <p:cNvPr id="1244" name="Google Shape;1244;p21"/>
          <p:cNvSpPr txBox="1"/>
          <p:nvPr/>
        </p:nvSpPr>
        <p:spPr>
          <a:xfrm>
            <a:off x="1069848" y="4315968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6B78"/>
                </a:solidFill>
                <a:latin typeface="Consolas"/>
                <a:ea typeface="Consolas"/>
                <a:cs typeface="Consolas"/>
                <a:sym typeface="Consolas"/>
              </a:rPr>
              <a:t>ATTRIBUTES</a:t>
            </a:r>
            <a:endParaRPr/>
          </a:p>
        </p:txBody>
      </p:sp>
      <p:sp>
        <p:nvSpPr>
          <p:cNvPr descr="database element" id="1245" name="Google Shape;1245;p21"/>
          <p:cNvSpPr/>
          <p:nvPr/>
        </p:nvSpPr>
        <p:spPr>
          <a:xfrm>
            <a:off x="2075688" y="4315968"/>
            <a:ext cx="1298400" cy="329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person.name</a:t>
            </a:r>
            <a:endParaRPr/>
          </a:p>
        </p:txBody>
      </p:sp>
      <p:sp>
        <p:nvSpPr>
          <p:cNvPr id="1246" name="Google Shape;1246;p21"/>
          <p:cNvSpPr txBox="1"/>
          <p:nvPr/>
        </p:nvSpPr>
        <p:spPr>
          <a:xfrm>
            <a:off x="3392424" y="4315968"/>
            <a:ext cx="23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descr="ontology element" id="1247" name="Google Shape;1247;p21"/>
          <p:cNvSpPr/>
          <p:nvPr/>
        </p:nvSpPr>
        <p:spPr>
          <a:xfrm>
            <a:off x="3648456" y="4315968"/>
            <a:ext cx="1856100" cy="329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3150" spcFirstLastPara="1" rIns="731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DataProperty: </a:t>
            </a:r>
            <a:r>
              <a:rPr b="0" i="0" lang="en-US" sz="1050" u="none" cap="none" strike="noStrike">
                <a:solidFill>
                  <a:srgbClr val="1F2328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endParaRPr/>
          </a:p>
        </p:txBody>
      </p:sp>
      <p:sp>
        <p:nvSpPr>
          <p:cNvPr id="1248" name="Google Shape;1248;p21"/>
          <p:cNvSpPr txBox="1"/>
          <p:nvPr/>
        </p:nvSpPr>
        <p:spPr>
          <a:xfrm>
            <a:off x="1069848" y="4736592"/>
            <a:ext cx="4389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rPr>
              <a:t>Elements match when they map to the same database elements, whatever their names. F1 per element type.</a:t>
            </a:r>
            <a:endParaRPr/>
          </a:p>
        </p:txBody>
      </p:sp>
      <p:sp>
        <p:nvSpPr>
          <p:cNvPr id="1249" name="Google Shape;1249;p21"/>
          <p:cNvSpPr txBox="1"/>
          <p:nvPr/>
        </p:nvSpPr>
        <p:spPr>
          <a:xfrm>
            <a:off x="1069848" y="5358384"/>
            <a:ext cx="438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Illustrative elements  ·  ISWC gold mapping: D2RQ example by Bizer &amp; Seaborne</a:t>
            </a:r>
            <a:endParaRPr/>
          </a:p>
        </p:txBody>
      </p:sp>
      <p:sp>
        <p:nvSpPr>
          <p:cNvPr id="1250" name="Google Shape;1250;p21"/>
          <p:cNvSpPr txBox="1"/>
          <p:nvPr/>
        </p:nvSpPr>
        <p:spPr>
          <a:xfrm>
            <a:off x="850392" y="6382512"/>
            <a:ext cx="10488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One scenario  ·  9 tables · 46 columns · 11 FKs  ·  RIGOR with Claude  ·  its prov:wasDerivedFrom links exported as a D2RQ mapping  ·  Source: paper Table 13</a:t>
            </a:r>
            <a:endParaRPr/>
          </a:p>
        </p:txBody>
      </p:sp>
      <p:sp>
        <p:nvSpPr>
          <p:cNvPr id="1251" name="Ladder"/>
          <p:cNvSpPr/>
          <p:nvPr/>
        </p:nvSpPr>
        <p:spPr>
          <a:xfrm>
            <a:off x="804672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1  VALID</a:t>
            </a:r>
          </a:p>
        </p:txBody>
      </p:sp>
      <p:sp>
        <p:nvSpPr>
          <p:cNvPr id="1252" name="Ladder"/>
          <p:cNvSpPr/>
          <p:nvPr/>
        </p:nvSpPr>
        <p:spPr>
          <a:xfrm>
            <a:off x="2596896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2  KEEPS THE SCHEMA</a:t>
            </a:r>
          </a:p>
        </p:txBody>
      </p:sp>
      <p:sp>
        <p:nvSpPr>
          <p:cNvPr id="1253" name="Ladder"/>
          <p:cNvSpPr/>
          <p:nvPr/>
        </p:nvSpPr>
        <p:spPr>
          <a:xfrm>
            <a:off x="4389120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3  ADDS MEANING</a:t>
            </a:r>
          </a:p>
        </p:txBody>
      </p:sp>
      <p:sp>
        <p:nvSpPr>
          <p:cNvPr id="1254" name="Ladder"/>
          <p:cNvSpPr/>
          <p:nvPr/>
        </p:nvSpPr>
        <p:spPr>
          <a:xfrm>
            <a:off x="6181344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4  FEWER ERRORS</a:t>
            </a:r>
          </a:p>
        </p:txBody>
      </p:sp>
      <p:sp>
        <p:nvSpPr>
          <p:cNvPr id="1255" name="Ladder"/>
          <p:cNvSpPr/>
          <p:nvPr/>
        </p:nvSpPr>
        <p:spPr>
          <a:xfrm>
            <a:off x="7973568" y="2103120"/>
            <a:ext cx="1700784" cy="310896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onsolas"/>
                <a:cs typeface="Consolas"/>
              </a:rPr>
              <a:t xml:space="preserve">5  GOLD MAPPINGS</a:t>
            </a:r>
          </a:p>
        </p:txBody>
      </p:sp>
      <p:sp>
        <p:nvSpPr>
          <p:cNvPr id="1256" name="Ladder"/>
          <p:cNvSpPr/>
          <p:nvPr/>
        </p:nvSpPr>
        <p:spPr>
          <a:xfrm>
            <a:off x="9765792" y="2103120"/>
            <a:ext cx="170078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6B747B"/>
                </a:solidFill>
                <a:latin typeface="Consolas"/>
                <a:cs typeface="Consolas"/>
              </a:rPr>
              <a:t xml:space="preserve">6  JUDGES</a:t>
            </a:r>
          </a:p>
        </p:txBody>
      </p:sp>
      <p:sp>
        <p:nvSpPr>
          <p:cNvPr id="1257" name="Strip"/>
          <p:cNvSpPr/>
          <p:nvPr/>
        </p:nvSpPr>
        <p:spPr>
          <a:xfrm>
            <a:off x="804672" y="5879592"/>
            <a:ext cx="10579608" cy="420624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>
            <a:noFill/>
          </a:ln>
        </p:spPr>
        <p:txBody>
          <a:bodyPr wrap="square" lIns="201168" tIns="0" rIns="201168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Relations: 0.67 vs 0.11</a:t>
            </a:r>
            <a:r>
              <a:rPr lang="en-US" sz="14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 for W3C-Mapper / Ontop. Foreign keys become named relations, like hasPatientData.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9"/>
          <p:cNvSpPr txBox="1"/>
          <p:nvPr/>
        </p:nvSpPr>
        <p:spPr>
          <a:xfrm>
            <a:off x="804672" y="512064"/>
            <a:ext cx="10753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RESULT 4  /  LLM JUDGE AND HUMAN EXPERTS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9"/>
          <p:cNvSpPr txBox="1"/>
          <p:nvPr/>
        </p:nvSpPr>
        <p:spPr>
          <a:xfrm>
            <a:off x="804672" y="914400"/>
            <a:ext cx="10762488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Finally, an LLM judge and human experts both rank RIGOR first.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Subtitle"/>
          <p:cNvSpPr txBox="1"/>
          <p:nvPr/>
        </p:nvSpPr>
        <p:spPr>
          <a:xfrm>
            <a:off x="822960" y="1645920"/>
            <a:ext cx="10680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Both ranked four anonymized ontologies per table, from first to fourth.</a:t>
            </a:r>
          </a:p>
        </p:txBody>
      </p:sp>
      <p:sp>
        <p:nvSpPr>
          <p:cNvPr id="1259" name="Ladder"/>
          <p:cNvSpPr/>
          <p:nvPr/>
        </p:nvSpPr>
        <p:spPr>
          <a:xfrm>
            <a:off x="804672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1  VALID</a:t>
            </a:r>
          </a:p>
        </p:txBody>
      </p:sp>
      <p:sp>
        <p:nvSpPr>
          <p:cNvPr id="1260" name="Ladder"/>
          <p:cNvSpPr/>
          <p:nvPr/>
        </p:nvSpPr>
        <p:spPr>
          <a:xfrm>
            <a:off x="2596896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2  KEEPS THE SCHEMA</a:t>
            </a:r>
          </a:p>
        </p:txBody>
      </p:sp>
      <p:sp>
        <p:nvSpPr>
          <p:cNvPr id="1261" name="Ladder"/>
          <p:cNvSpPr/>
          <p:nvPr/>
        </p:nvSpPr>
        <p:spPr>
          <a:xfrm>
            <a:off x="4389120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3  ADDS MEANING</a:t>
            </a:r>
          </a:p>
        </p:txBody>
      </p:sp>
      <p:sp>
        <p:nvSpPr>
          <p:cNvPr id="1262" name="Ladder"/>
          <p:cNvSpPr/>
          <p:nvPr/>
        </p:nvSpPr>
        <p:spPr>
          <a:xfrm>
            <a:off x="6181344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4  FEWER ERRORS</a:t>
            </a:r>
          </a:p>
        </p:txBody>
      </p:sp>
      <p:sp>
        <p:nvSpPr>
          <p:cNvPr id="1263" name="Ladder"/>
          <p:cNvSpPr/>
          <p:nvPr/>
        </p:nvSpPr>
        <p:spPr>
          <a:xfrm>
            <a:off x="7973568" y="2103120"/>
            <a:ext cx="1700784" cy="310896"/>
          </a:xfrm>
          <a:prstGeom prst="rect">
            <a:avLst/>
          </a:prstGeom>
          <a:solidFill>
            <a:srgbClr val="E8F6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0B6E4F"/>
                </a:solidFill>
                <a:latin typeface="Consolas"/>
                <a:cs typeface="Consolas"/>
              </a:rPr>
              <a:t xml:space="preserve">5  GOLD MAPPINGS</a:t>
            </a:r>
          </a:p>
        </p:txBody>
      </p:sp>
      <p:sp>
        <p:nvSpPr>
          <p:cNvPr id="1264" name="Ladder"/>
          <p:cNvSpPr/>
          <p:nvPr/>
        </p:nvSpPr>
        <p:spPr>
          <a:xfrm>
            <a:off x="9765792" y="2103120"/>
            <a:ext cx="1700784" cy="310896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onsolas"/>
                <a:cs typeface="Consolas"/>
              </a:rPr>
              <a:t xml:space="preserve">6  JUDGES</a:t>
            </a:r>
          </a:p>
        </p:txBody>
      </p:sp>
      <p:sp>
        <p:nvSpPr>
          <p:cNvPr id="1265" name="Card"/>
          <p:cNvSpPr/>
          <p:nvPr/>
        </p:nvSpPr>
        <p:spPr>
          <a:xfrm>
            <a:off x="804672" y="2606040"/>
            <a:ext cx="5212080" cy="31546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66" name="Card label"/>
          <p:cNvSpPr txBox="1"/>
          <p:nvPr/>
        </p:nvSpPr>
        <p:spPr>
          <a:xfrm>
            <a:off x="1078992" y="27889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2F6B78"/>
                </a:solidFill>
                <a:latin typeface="Consolas"/>
                <a:cs typeface="Consolas"/>
              </a:rPr>
              <a:t xml:space="preserve">LLM-AS-A-JUDGE  ·  GPT-5.4</a:t>
            </a:r>
          </a:p>
        </p:txBody>
      </p:sp>
      <p:sp>
        <p:nvSpPr>
          <p:cNvPr id="1267" name="Big"/>
          <p:cNvSpPr txBox="1"/>
          <p:nvPr/>
        </p:nvSpPr>
        <p:spPr>
          <a:xfrm>
            <a:off x="1078992" y="310896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5400" b="1" i="0" dirty="0">
                <a:solidFill>
                  <a:srgbClr val="1F2328"/>
                </a:solidFill>
                <a:latin typeface="Cambria"/>
                <a:cs typeface="Cambria"/>
              </a:rPr>
              <a:t xml:space="preserve">58 / 58</a:t>
            </a:r>
          </a:p>
        </p:txBody>
      </p:sp>
      <p:sp>
        <p:nvSpPr>
          <p:cNvPr id="1268" name="Claim"/>
          <p:cNvSpPr txBox="1"/>
          <p:nvPr/>
        </p:nvSpPr>
        <p:spPr>
          <a:xfrm>
            <a:off x="1078992" y="40233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tables with RIGOR ranked first</a:t>
            </a:r>
          </a:p>
        </p:txBody>
      </p:sp>
      <p:sp>
        <p:nvSpPr>
          <p:cNvPr id="1269" name="Split"/>
          <p:cNvSpPr txBox="1"/>
          <p:nvPr/>
        </p:nvSpPr>
        <p:spPr>
          <a:xfrm>
            <a:off x="1078992" y="4572000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5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Liver Cancer 16/16  ·  eICU-CRD 31/31  ·  Chinook 11/11</a:t>
            </a:r>
          </a:p>
        </p:txBody>
      </p:sp>
      <p:sp>
        <p:nvSpPr>
          <p:cNvPr id="1270" name="Gains"/>
          <p:cNvSpPr txBox="1"/>
          <p:nvPr/>
        </p:nvSpPr>
        <p:spPr>
          <a:xfrm>
            <a:off x="1078992" y="502920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5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Largest gains: </a:t>
            </a:r>
            <a:r>
              <a:rPr lang="en-US" sz="135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clarity and domain enrichment.</a:t>
            </a:r>
          </a:p>
        </p:txBody>
      </p:sp>
      <p:sp>
        <p:nvSpPr>
          <p:cNvPr id="1271" name="Card"/>
          <p:cNvSpPr/>
          <p:nvPr/>
        </p:nvSpPr>
        <p:spPr>
          <a:xfrm>
            <a:off x="6172200" y="2606040"/>
            <a:ext cx="5212080" cy="3154680"/>
          </a:xfrm>
          <a:prstGeom prst="roundRect">
            <a:avLst>
              <a:gd name="adj" fmla="val 12000"/>
            </a:avLst>
          </a:prstGeom>
          <a:solidFill>
            <a:srgbClr val="F3F5F4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72" name="Card label"/>
          <p:cNvSpPr txBox="1"/>
          <p:nvPr/>
        </p:nvSpPr>
        <p:spPr>
          <a:xfrm>
            <a:off x="6446520" y="27889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2F6B78"/>
                </a:solidFill>
                <a:latin typeface="Consolas"/>
                <a:cs typeface="Consolas"/>
              </a:rPr>
              <a:t xml:space="preserve">10 ONTOLOGY EXPERTS</a:t>
            </a:r>
          </a:p>
        </p:txBody>
      </p:sp>
      <p:sp>
        <p:nvSpPr>
          <p:cNvPr id="1273" name="Big"/>
          <p:cNvSpPr txBox="1"/>
          <p:nvPr/>
        </p:nvSpPr>
        <p:spPr>
          <a:xfrm>
            <a:off x="6446520" y="3108960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5400" b="1" i="0" dirty="0">
                <a:solidFill>
                  <a:srgbClr val="1F2328"/>
                </a:solidFill>
                <a:latin typeface="Cambria"/>
                <a:cs typeface="Cambria"/>
              </a:rPr>
              <a:t xml:space="preserve">28 / 40</a:t>
            </a:r>
          </a:p>
        </p:txBody>
      </p:sp>
      <p:sp>
        <p:nvSpPr>
          <p:cNvPr id="1274" name="Claim"/>
          <p:cNvSpPr txBox="1"/>
          <p:nvPr/>
        </p:nvSpPr>
        <p:spPr>
          <a:xfrm>
            <a:off x="6446520" y="40233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rankings with RIGOR first (70%)</a:t>
            </a:r>
          </a:p>
        </p:txBody>
      </p:sp>
      <p:sp>
        <p:nvSpPr>
          <p:cNvPr id="1275" name="Method"/>
          <p:cNvSpPr txBox="1"/>
          <p:nvPr/>
        </p:nvSpPr>
        <p:spPr>
          <a:xfrm>
            <a:off x="6446520" y="452628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5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Direct Mapping</a:t>
            </a:r>
          </a:p>
        </p:txBody>
      </p:sp>
      <p:sp>
        <p:nvSpPr>
          <p:cNvPr id="1276" name="Track"/>
          <p:cNvSpPr/>
          <p:nvPr/>
        </p:nvSpPr>
        <p:spPr>
          <a:xfrm>
            <a:off x="8092440" y="4590288"/>
            <a:ext cx="2377440" cy="128016"/>
          </a:xfrm>
          <a:prstGeom prst="rect">
            <a:avLst/>
          </a:prstGeom>
          <a:solidFill>
            <a:srgbClr val="E1E6E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77" name="Bar"/>
          <p:cNvSpPr/>
          <p:nvPr/>
        </p:nvSpPr>
        <p:spPr>
          <a:xfrm>
            <a:off x="8092440" y="4590288"/>
            <a:ext cx="297180" cy="128016"/>
          </a:xfrm>
          <a:prstGeom prst="rect">
            <a:avLst/>
          </a:prstGeom>
          <a:solidFill>
            <a:srgbClr val="9AA3A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78" name="Count"/>
          <p:cNvSpPr txBox="1"/>
          <p:nvPr/>
        </p:nvSpPr>
        <p:spPr>
          <a:xfrm>
            <a:off x="10561320" y="452628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5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5</a:t>
            </a:r>
          </a:p>
        </p:txBody>
      </p:sp>
      <p:sp>
        <p:nvSpPr>
          <p:cNvPr id="1279" name="Method"/>
          <p:cNvSpPr txBox="1"/>
          <p:nvPr/>
        </p:nvSpPr>
        <p:spPr>
          <a:xfrm>
            <a:off x="6446520" y="480060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5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LLM baseline</a:t>
            </a:r>
          </a:p>
        </p:txBody>
      </p:sp>
      <p:sp>
        <p:nvSpPr>
          <p:cNvPr id="1280" name="Track"/>
          <p:cNvSpPr/>
          <p:nvPr/>
        </p:nvSpPr>
        <p:spPr>
          <a:xfrm>
            <a:off x="8092440" y="4864608"/>
            <a:ext cx="2377440" cy="128016"/>
          </a:xfrm>
          <a:prstGeom prst="rect">
            <a:avLst/>
          </a:prstGeom>
          <a:solidFill>
            <a:srgbClr val="E1E6E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81" name="Bar"/>
          <p:cNvSpPr/>
          <p:nvPr/>
        </p:nvSpPr>
        <p:spPr>
          <a:xfrm>
            <a:off x="8092440" y="4864608"/>
            <a:ext cx="297180" cy="128016"/>
          </a:xfrm>
          <a:prstGeom prst="rect">
            <a:avLst/>
          </a:prstGeom>
          <a:solidFill>
            <a:srgbClr val="9AA3A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82" name="Count"/>
          <p:cNvSpPr txBox="1"/>
          <p:nvPr/>
        </p:nvSpPr>
        <p:spPr>
          <a:xfrm>
            <a:off x="10561320" y="480060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5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5</a:t>
            </a:r>
          </a:p>
        </p:txBody>
      </p:sp>
      <p:sp>
        <p:nvSpPr>
          <p:cNvPr id="1283" name="Method"/>
          <p:cNvSpPr txBox="1"/>
          <p:nvPr/>
        </p:nvSpPr>
        <p:spPr>
          <a:xfrm>
            <a:off x="6446520" y="50749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5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Non-Iterative</a:t>
            </a:r>
          </a:p>
        </p:txBody>
      </p:sp>
      <p:sp>
        <p:nvSpPr>
          <p:cNvPr id="1284" name="Track"/>
          <p:cNvSpPr/>
          <p:nvPr/>
        </p:nvSpPr>
        <p:spPr>
          <a:xfrm>
            <a:off x="8092440" y="5138928"/>
            <a:ext cx="2377440" cy="128016"/>
          </a:xfrm>
          <a:prstGeom prst="rect">
            <a:avLst/>
          </a:prstGeom>
          <a:solidFill>
            <a:srgbClr val="E1E6E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85" name="Bar"/>
          <p:cNvSpPr/>
          <p:nvPr/>
        </p:nvSpPr>
        <p:spPr>
          <a:xfrm>
            <a:off x="8092440" y="5138928"/>
            <a:ext cx="118872" cy="128016"/>
          </a:xfrm>
          <a:prstGeom prst="rect">
            <a:avLst/>
          </a:prstGeom>
          <a:solidFill>
            <a:srgbClr val="9AA3A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86" name="Count"/>
          <p:cNvSpPr txBox="1"/>
          <p:nvPr/>
        </p:nvSpPr>
        <p:spPr>
          <a:xfrm>
            <a:off x="10561320" y="507492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5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2</a:t>
            </a:r>
          </a:p>
        </p:txBody>
      </p:sp>
      <p:sp>
        <p:nvSpPr>
          <p:cNvPr id="1287" name="Method"/>
          <p:cNvSpPr txBox="1"/>
          <p:nvPr/>
        </p:nvSpPr>
        <p:spPr>
          <a:xfrm>
            <a:off x="6446520" y="534924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5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RIGOR</a:t>
            </a:r>
          </a:p>
        </p:txBody>
      </p:sp>
      <p:sp>
        <p:nvSpPr>
          <p:cNvPr id="1288" name="Track"/>
          <p:cNvSpPr/>
          <p:nvPr/>
        </p:nvSpPr>
        <p:spPr>
          <a:xfrm>
            <a:off x="8092440" y="5413248"/>
            <a:ext cx="2377440" cy="128016"/>
          </a:xfrm>
          <a:prstGeom prst="rect">
            <a:avLst/>
          </a:prstGeom>
          <a:solidFill>
            <a:srgbClr val="E1E6E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89" name="Bar"/>
          <p:cNvSpPr/>
          <p:nvPr/>
        </p:nvSpPr>
        <p:spPr>
          <a:xfrm>
            <a:off x="8092440" y="5413248"/>
            <a:ext cx="1664207" cy="128016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290" name="Count"/>
          <p:cNvSpPr txBox="1"/>
          <p:nvPr/>
        </p:nvSpPr>
        <p:spPr>
          <a:xfrm>
            <a:off x="10561320" y="534924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n-US" sz="125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28</a:t>
            </a:r>
          </a:p>
        </p:txBody>
      </p:sp>
      <p:sp>
        <p:nvSpPr>
          <p:cNvPr id="1291" name="Strip"/>
          <p:cNvSpPr/>
          <p:nvPr/>
        </p:nvSpPr>
        <p:spPr>
          <a:xfrm>
            <a:off x="804672" y="5879592"/>
            <a:ext cx="10579608" cy="420624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>
            <a:noFill/>
          </a:ln>
        </p:spPr>
        <p:txBody>
          <a:bodyPr wrap="square" lIns="201168" tIns="0" rIns="201168" bIns="0" anchor="ctr">
            <a:noAutofit/>
          </a:bodyPr>
          <a:lstStyle/>
          <a:p>
            <a:pPr algn="l"/>
            <a:r>
              <a:rPr lang="en-US" sz="14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Direct Mapping: structure without meaning.  LLMs alone: meaning without structure.  </a:t>
            </a:r>
            <a:r>
              <a:rPr lang="en-US" sz="14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RIGOR: both, and checked.</a:t>
            </a:r>
          </a:p>
        </p:txBody>
      </p:sp>
      <p:sp>
        <p:nvSpPr>
          <p:cNvPr id="1292" name="Source"/>
          <p:cNvSpPr txBox="1"/>
          <p:nvPr/>
        </p:nvSpPr>
        <p:spPr>
          <a:xfrm>
            <a:off x="822960" y="6382512"/>
            <a:ext cx="10607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Paper Table 1 (rankings), Table 10 (judge dimensions), Table 12 (expert agreement, Kendall's W 0.39–0.72). Judge: 290 competency questions. Experts: 4 medical tables.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20"/>
          <p:cNvSpPr txBox="1"/>
          <p:nvPr/>
        </p:nvSpPr>
        <p:spPr>
          <a:xfrm>
            <a:off x="804672" y="512064"/>
            <a:ext cx="10753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6E4F"/>
                </a:solidFill>
                <a:latin typeface="Consolas"/>
                <a:ea typeface="Consolas"/>
                <a:cs typeface="Consolas"/>
                <a:sym typeface="Consolas"/>
              </a:rPr>
              <a:t>RESULT 1  /  NOTHING IS LOST</a:t>
            </a:r>
            <a:endParaRPr/>
          </a:p>
        </p:txBody>
      </p:sp>
      <p:sp>
        <p:nvSpPr>
          <p:cNvPr id="1145" name="Google Shape;1145;p20"/>
          <p:cNvSpPr txBox="1"/>
          <p:nvPr/>
        </p:nvSpPr>
        <p:spPr>
          <a:xfrm>
            <a:off x="804672" y="914400"/>
            <a:ext cx="10762488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F2328"/>
                </a:solidFill>
                <a:latin typeface="Cambria"/>
                <a:ea typeface="Cambria"/>
                <a:cs typeface="Cambria"/>
                <a:sym typeface="Cambria"/>
              </a:rPr>
              <a:t>First, nothing is lost: RIGOR keeps the schema.</a:t>
            </a:r>
            <a:endParaRPr/>
          </a:p>
        </p:txBody>
      </p:sp>
      <p:sp>
        <p:nvSpPr>
          <p:cNvPr id="1146" name="Subtitle"/>
          <p:cNvSpPr txBox="1"/>
          <p:nvPr/>
        </p:nvSpPr>
        <p:spPr>
          <a:xfrm>
            <a:off x="822960" y="1645920"/>
            <a:ext cx="106801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6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We climb from the easiest check to the hardest. Every number covers all 30 ontologies.</a:t>
            </a:r>
          </a:p>
        </p:txBody>
      </p:sp>
      <p:sp>
        <p:nvSpPr>
          <p:cNvPr id="1147" name="Ladder"/>
          <p:cNvSpPr/>
          <p:nvPr/>
        </p:nvSpPr>
        <p:spPr>
          <a:xfrm>
            <a:off x="804672" y="2103120"/>
            <a:ext cx="1700784" cy="310896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onsolas"/>
                <a:cs typeface="Consolas"/>
              </a:rPr>
              <a:t xml:space="preserve">1  VALID</a:t>
            </a:r>
          </a:p>
        </p:txBody>
      </p:sp>
      <p:sp>
        <p:nvSpPr>
          <p:cNvPr id="1148" name="Ladder"/>
          <p:cNvSpPr/>
          <p:nvPr/>
        </p:nvSpPr>
        <p:spPr>
          <a:xfrm>
            <a:off x="2596896" y="2103120"/>
            <a:ext cx="1700784" cy="310896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FFFFFF"/>
                </a:solidFill>
                <a:latin typeface="Consolas"/>
                <a:cs typeface="Consolas"/>
              </a:rPr>
              <a:t xml:space="preserve">2  KEEPS THE SCHEMA</a:t>
            </a:r>
          </a:p>
        </p:txBody>
      </p:sp>
      <p:sp>
        <p:nvSpPr>
          <p:cNvPr id="1149" name="Ladder"/>
          <p:cNvSpPr/>
          <p:nvPr/>
        </p:nvSpPr>
        <p:spPr>
          <a:xfrm>
            <a:off x="4389120" y="2103120"/>
            <a:ext cx="170078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6B747B"/>
                </a:solidFill>
                <a:latin typeface="Consolas"/>
                <a:cs typeface="Consolas"/>
              </a:rPr>
              <a:t xml:space="preserve">3  ADDS MEANING</a:t>
            </a:r>
          </a:p>
        </p:txBody>
      </p:sp>
      <p:sp>
        <p:nvSpPr>
          <p:cNvPr id="1150" name="Ladder"/>
          <p:cNvSpPr/>
          <p:nvPr/>
        </p:nvSpPr>
        <p:spPr>
          <a:xfrm>
            <a:off x="6181344" y="2103120"/>
            <a:ext cx="170078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6B747B"/>
                </a:solidFill>
                <a:latin typeface="Consolas"/>
                <a:cs typeface="Consolas"/>
              </a:rPr>
              <a:t xml:space="preserve">4  FEWER ERRORS</a:t>
            </a:r>
          </a:p>
        </p:txBody>
      </p:sp>
      <p:sp>
        <p:nvSpPr>
          <p:cNvPr id="1151" name="Ladder"/>
          <p:cNvSpPr/>
          <p:nvPr/>
        </p:nvSpPr>
        <p:spPr>
          <a:xfrm>
            <a:off x="7973568" y="2103120"/>
            <a:ext cx="170078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6B747B"/>
                </a:solidFill>
                <a:latin typeface="Consolas"/>
                <a:cs typeface="Consolas"/>
              </a:rPr>
              <a:t xml:space="preserve">5  GOLD MAPPINGS</a:t>
            </a:r>
          </a:p>
        </p:txBody>
      </p:sp>
      <p:sp>
        <p:nvSpPr>
          <p:cNvPr id="1152" name="Ladder"/>
          <p:cNvSpPr/>
          <p:nvPr/>
        </p:nvSpPr>
        <p:spPr>
          <a:xfrm>
            <a:off x="9765792" y="2103120"/>
            <a:ext cx="170078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000" b="1" i="0" dirty="0">
                <a:solidFill>
                  <a:srgbClr val="6B747B"/>
                </a:solidFill>
                <a:latin typeface="Consolas"/>
                <a:cs typeface="Consolas"/>
              </a:rPr>
              <a:t xml:space="preserve">6  JUDGES</a:t>
            </a:r>
          </a:p>
        </p:txBody>
      </p:sp>
      <p:sp>
        <p:nvSpPr>
          <p:cNvPr id="1153" name="Card"/>
          <p:cNvSpPr/>
          <p:nvPr/>
        </p:nvSpPr>
        <p:spPr>
          <a:xfrm>
            <a:off x="804672" y="2606040"/>
            <a:ext cx="324612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54" name="Card label"/>
          <p:cNvSpPr txBox="1"/>
          <p:nvPr/>
        </p:nvSpPr>
        <p:spPr>
          <a:xfrm>
            <a:off x="1078992" y="2788920"/>
            <a:ext cx="269747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2F6B78"/>
                </a:solidFill>
                <a:latin typeface="Consolas"/>
                <a:cs typeface="Consolas"/>
              </a:rPr>
              <a:t xml:space="preserve">1  VALID</a:t>
            </a:r>
          </a:p>
        </p:txBody>
      </p:sp>
      <p:sp>
        <p:nvSpPr>
          <p:cNvPr id="1155" name="Big"/>
          <p:cNvSpPr txBox="1"/>
          <p:nvPr/>
        </p:nvSpPr>
        <p:spPr>
          <a:xfrm>
            <a:off x="1078992" y="324612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5400" b="1" i="0" dirty="0">
                <a:solidFill>
                  <a:srgbClr val="1F2328"/>
                </a:solidFill>
                <a:latin typeface="Cambria"/>
                <a:cs typeface="Cambria"/>
              </a:rPr>
              <a:t xml:space="preserve">30 / 30</a:t>
            </a:r>
          </a:p>
        </p:txBody>
      </p:sp>
      <p:sp>
        <p:nvSpPr>
          <p:cNvPr id="1156" name="Claim"/>
          <p:cNvSpPr txBox="1"/>
          <p:nvPr/>
        </p:nvSpPr>
        <p:spPr>
          <a:xfrm>
            <a:off x="1078992" y="42062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5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ontologies are valid OWL 2 DL and logically consistent, for every method.</a:t>
            </a:r>
          </a:p>
        </p:txBody>
      </p:sp>
      <p:sp>
        <p:nvSpPr>
          <p:cNvPr id="1157" name="Card"/>
          <p:cNvSpPr/>
          <p:nvPr/>
        </p:nvSpPr>
        <p:spPr>
          <a:xfrm>
            <a:off x="4233672" y="2606040"/>
            <a:ext cx="7150608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EDB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58" name="Card label"/>
          <p:cNvSpPr txBox="1"/>
          <p:nvPr/>
        </p:nvSpPr>
        <p:spPr>
          <a:xfrm>
            <a:off x="4507992" y="2788920"/>
            <a:ext cx="66019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2F6B78"/>
                </a:solidFill>
                <a:latin typeface="Consolas"/>
                <a:cs typeface="Consolas"/>
              </a:rPr>
              <a:t xml:space="preserve">2  KEEPS THE SCHEMA</a:t>
            </a:r>
          </a:p>
        </p:txBody>
      </p:sp>
      <p:sp>
        <p:nvSpPr>
          <p:cNvPr id="1159" name="Card note"/>
          <p:cNvSpPr txBox="1"/>
          <p:nvPr/>
        </p:nvSpPr>
        <p:spPr>
          <a:xfrm>
            <a:off x="4507992" y="3081528"/>
            <a:ext cx="660196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0" i="1" dirty="0">
                <a:solidFill>
                  <a:srgbClr val="5B6770"/>
                </a:solidFill>
                <a:latin typeface="Calibri"/>
                <a:cs typeface="Calibri"/>
              </a:rPr>
              <a:t xml:space="preserve">share of database columns covered, per ontology</a:t>
            </a:r>
          </a:p>
        </p:txBody>
      </p:sp>
      <p:sp>
        <p:nvSpPr>
          <p:cNvPr id="1160" name="Method"/>
          <p:cNvSpPr txBox="1"/>
          <p:nvPr/>
        </p:nvSpPr>
        <p:spPr>
          <a:xfrm>
            <a:off x="4507992" y="356616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Direct Mapping</a:t>
            </a:r>
          </a:p>
        </p:txBody>
      </p:sp>
      <p:sp>
        <p:nvSpPr>
          <p:cNvPr id="1161" name="Track"/>
          <p:cNvSpPr/>
          <p:nvPr/>
        </p:nvSpPr>
        <p:spPr>
          <a:xfrm>
            <a:off x="6108192" y="3639312"/>
            <a:ext cx="4251960" cy="146304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62" name="Bar"/>
          <p:cNvSpPr/>
          <p:nvPr/>
        </p:nvSpPr>
        <p:spPr>
          <a:xfrm>
            <a:off x="6108192" y="3639312"/>
            <a:ext cx="3869283" cy="146304"/>
          </a:xfrm>
          <a:prstGeom prst="rect">
            <a:avLst/>
          </a:prstGeom>
          <a:solidFill>
            <a:srgbClr val="9AA3A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63" name="Value"/>
          <p:cNvSpPr txBox="1"/>
          <p:nvPr/>
        </p:nvSpPr>
        <p:spPr>
          <a:xfrm>
            <a:off x="10433304" y="356616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3A434C"/>
                </a:solidFill>
                <a:latin typeface="Calibri"/>
                <a:cs typeface="Calibri"/>
              </a:rPr>
              <a:t xml:space="preserve">91%</a:t>
            </a:r>
          </a:p>
        </p:txBody>
      </p:sp>
      <p:sp>
        <p:nvSpPr>
          <p:cNvPr id="1164" name="Method"/>
          <p:cNvSpPr txBox="1"/>
          <p:nvPr/>
        </p:nvSpPr>
        <p:spPr>
          <a:xfrm>
            <a:off x="4507992" y="40690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LLM baseline</a:t>
            </a:r>
          </a:p>
        </p:txBody>
      </p:sp>
      <p:sp>
        <p:nvSpPr>
          <p:cNvPr id="1165" name="Track"/>
          <p:cNvSpPr/>
          <p:nvPr/>
        </p:nvSpPr>
        <p:spPr>
          <a:xfrm>
            <a:off x="6108192" y="4142232"/>
            <a:ext cx="4251960" cy="146304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66" name="Bar"/>
          <p:cNvSpPr/>
          <p:nvPr/>
        </p:nvSpPr>
        <p:spPr>
          <a:xfrm>
            <a:off x="6108192" y="4142232"/>
            <a:ext cx="3146450" cy="146304"/>
          </a:xfrm>
          <a:prstGeom prst="rect">
            <a:avLst/>
          </a:prstGeom>
          <a:solidFill>
            <a:srgbClr val="9AA3A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67" name="Value"/>
          <p:cNvSpPr txBox="1"/>
          <p:nvPr/>
        </p:nvSpPr>
        <p:spPr>
          <a:xfrm>
            <a:off x="10433304" y="406908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3A434C"/>
                </a:solidFill>
                <a:latin typeface="Calibri"/>
                <a:cs typeface="Calibri"/>
              </a:rPr>
              <a:t xml:space="preserve">74%</a:t>
            </a:r>
          </a:p>
        </p:txBody>
      </p:sp>
      <p:sp>
        <p:nvSpPr>
          <p:cNvPr id="1168" name="Method"/>
          <p:cNvSpPr txBox="1"/>
          <p:nvPr/>
        </p:nvSpPr>
        <p:spPr>
          <a:xfrm>
            <a:off x="4507992" y="457200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0" i="0" dirty="0">
                <a:solidFill>
                  <a:srgbClr val="1F2328"/>
                </a:solidFill>
                <a:latin typeface="Calibri"/>
                <a:cs typeface="Calibri"/>
              </a:rPr>
              <a:t xml:space="preserve">Non-Iterative</a:t>
            </a:r>
          </a:p>
        </p:txBody>
      </p:sp>
      <p:sp>
        <p:nvSpPr>
          <p:cNvPr id="1169" name="Track"/>
          <p:cNvSpPr/>
          <p:nvPr/>
        </p:nvSpPr>
        <p:spPr>
          <a:xfrm>
            <a:off x="6108192" y="4645152"/>
            <a:ext cx="4251960" cy="146304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70" name="Bar"/>
          <p:cNvSpPr/>
          <p:nvPr/>
        </p:nvSpPr>
        <p:spPr>
          <a:xfrm>
            <a:off x="6108192" y="4645152"/>
            <a:ext cx="1445666" cy="146304"/>
          </a:xfrm>
          <a:prstGeom prst="rect">
            <a:avLst/>
          </a:prstGeom>
          <a:solidFill>
            <a:srgbClr val="B23A1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71" name="Value"/>
          <p:cNvSpPr txBox="1"/>
          <p:nvPr/>
        </p:nvSpPr>
        <p:spPr>
          <a:xfrm>
            <a:off x="10433304" y="457200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B23A1E"/>
                </a:solidFill>
                <a:latin typeface="Calibri"/>
                <a:cs typeface="Calibri"/>
              </a:rPr>
              <a:t xml:space="preserve">34%</a:t>
            </a:r>
          </a:p>
        </p:txBody>
      </p:sp>
      <p:sp>
        <p:nvSpPr>
          <p:cNvPr id="1172" name="Method"/>
          <p:cNvSpPr txBox="1"/>
          <p:nvPr/>
        </p:nvSpPr>
        <p:spPr>
          <a:xfrm>
            <a:off x="4507992" y="507492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RIGOR</a:t>
            </a:r>
          </a:p>
        </p:txBody>
      </p:sp>
      <p:sp>
        <p:nvSpPr>
          <p:cNvPr id="1173" name="Track"/>
          <p:cNvSpPr/>
          <p:nvPr/>
        </p:nvSpPr>
        <p:spPr>
          <a:xfrm>
            <a:off x="6108192" y="5148072"/>
            <a:ext cx="4251960" cy="146304"/>
          </a:xfrm>
          <a:prstGeom prst="rect">
            <a:avLst/>
          </a:prstGeom>
          <a:solidFill>
            <a:srgbClr val="EEF1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74" name="Bar"/>
          <p:cNvSpPr/>
          <p:nvPr/>
        </p:nvSpPr>
        <p:spPr>
          <a:xfrm>
            <a:off x="6108192" y="5148072"/>
            <a:ext cx="3954322" cy="146304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</a:p>
        </p:txBody>
      </p:sp>
      <p:sp>
        <p:nvSpPr>
          <p:cNvPr id="1175" name="Value"/>
          <p:cNvSpPr txBox="1"/>
          <p:nvPr/>
        </p:nvSpPr>
        <p:spPr>
          <a:xfrm>
            <a:off x="10433304" y="507492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0B6E4F"/>
                </a:solidFill>
                <a:latin typeface="Calibri"/>
                <a:cs typeface="Calibri"/>
              </a:rPr>
              <a:t xml:space="preserve">93%</a:t>
            </a:r>
          </a:p>
        </p:txBody>
      </p:sp>
      <p:sp>
        <p:nvSpPr>
          <p:cNvPr id="1176" name="Strip"/>
          <p:cNvSpPr/>
          <p:nvPr/>
        </p:nvSpPr>
        <p:spPr>
          <a:xfrm>
            <a:off x="804672" y="5879592"/>
            <a:ext cx="10579608" cy="420624"/>
          </a:xfrm>
          <a:prstGeom prst="roundRect">
            <a:avLst>
              <a:gd name="adj" fmla="val 12000"/>
            </a:avLst>
          </a:prstGeom>
          <a:solidFill>
            <a:srgbClr val="E6F2EC"/>
          </a:solidFill>
          <a:ln>
            <a:noFill/>
          </a:ln>
        </p:spPr>
        <p:txBody>
          <a:bodyPr wrap="square" lIns="201168" tIns="0" rIns="201168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1F2328"/>
                </a:solidFill>
                <a:latin typeface="Calibri"/>
                <a:cs typeface="Calibri"/>
              </a:rPr>
              <a:t xml:space="preserve">Same retrieved context, no seed: </a:t>
            </a:r>
            <a:r>
              <a:rPr lang="en-US" sz="1400" b="0" i="0" dirty="0">
                <a:solidFill>
                  <a:srgbClr val="3A434C"/>
                </a:solidFill>
                <a:latin typeface="Calibri"/>
                <a:cs typeface="Calibri"/>
              </a:rPr>
              <a:t xml:space="preserve">Non-Iterative covers only a third of the columns. RIGOR's direct-mapping seed keeps them.</a:t>
            </a:r>
          </a:p>
        </p:txBody>
      </p:sp>
      <p:sp>
        <p:nvSpPr>
          <p:cNvPr id="1177" name="Source"/>
          <p:cNvSpPr txBox="1"/>
          <p:nvPr/>
        </p:nvSpPr>
        <p:spPr>
          <a:xfrm>
            <a:off x="822960" y="6382512"/>
            <a:ext cx="10607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0" i="0" dirty="0">
                <a:solidFill>
                  <a:srgbClr val="5B6770"/>
                </a:solidFill>
                <a:latin typeface="Calibri"/>
                <a:cs typeface="Calibri"/>
              </a:rPr>
              <a:t xml:space="preserve">Validity: RDFLib, consistency: HermiT (paper Sec. 4.7). Coverage: paper Table 9, averaged over each method's ontologies.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IGOR · ISWC 2026 Talk">
  <a:themeElements>
    <a:clrScheme name="RIGOR · ISWC 2026 Talk">
      <a:dk1>
        <a:srgbClr val="111A28"/>
      </a:dk1>
      <a:lt1>
        <a:srgbClr val="F2F4F7"/>
      </a:lt1>
      <a:dk2>
        <a:srgbClr val="49515C"/>
      </a:dk2>
      <a:lt2>
        <a:srgbClr val="DCDEE2"/>
      </a:lt2>
      <a:accent1>
        <a:srgbClr val="2345C4"/>
      </a:accent1>
      <a:accent2>
        <a:srgbClr val="F4A261"/>
      </a:accent2>
      <a:accent3>
        <a:srgbClr val="B4561C"/>
      </a:accent3>
      <a:accent4>
        <a:srgbClr val="8FA5EB"/>
      </a:accent4>
      <a:accent5>
        <a:srgbClr val="8AA4FF"/>
      </a:accent5>
      <a:accent6>
        <a:srgbClr val="E9873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2026-10-26T00:50:16Z</dcterms:created>
</cp:coreProperties>
</file>