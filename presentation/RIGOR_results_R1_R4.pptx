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25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91" r:id="rId45"/>
    <p:sldId id="280" r:id="rId29"/>
    <p:sldId id="281" r:id="rId30"/>
    <p:sldId id="282" r:id="rId31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0" Type="http://schemas.openxmlformats.org/officeDocument/2006/relationships/slide" Target="slides/slide26.xml"/>  <Relationship Id="rId45" Type="http://schemas.openxmlformats.org/officeDocument/2006/relationships/slide" Target="slides/slide3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1" name="Google Shape;1141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[9:23–10:14]  SPOKEN SCRIPT (86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 nothing is lost. But is meaning added? On the left, per ontology: direct mapping and the LLM baseline add no labels at all. Non-Iterative adds labels, but no provenance and no hierarchy. Only RIGOR adds all three. On the right, the modeling pitfalls that OOPS! finds: about five hundred per direct-mapping ontology, eight per RIGOR ontology. [pause] Most of the others' pitfalls are simply missing annotations. And the one critical pitfall, the second domain from our validation example, is gone in six of RIGOR's nine ontologies.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table, land on the RIGOR row; then 499 versus 8; then the strip.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Only RIGOR adds labels, provenance and hierarchy, with far fewer modeling errors.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8 (annotations, provenance, SubClassOf) and Table 7 (OOPS! pitfalls), averaged per ontology over all 30. 72% of the other methods' pitfalls are P08; P19 is the only critical one.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"Most of the others' pitfalls are simply missing annotations."</a:t>
            </a:r>
          </a:p>
        </p:txBody>
      </p:sp>
      <p:sp>
        <p:nvSpPr>
          <p:cNvPr id="1142" name="Google Shape;1142;p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0" name="Google Shape;1200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[10:14–11:05]  SPOKEN SCRIPT (88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Meaning is added. But is the link back to the data still correct? BURR, an external benchmark, checks exactly this: every class, relation and attribute must map back to the right table, foreign key or column, scored with F1 against a gold mapping. RIGOR's provenance gives us that mapping directly. On BURR's ISWC scenario, RIGOR has the highest F1 on all three, ahead of rule-based and LLM-based systems. Relations stand out: zero point six seven against zero point one one, because foreign keys become named relations, like hasPatientData.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card first, then land on the RIGOR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Semantic enrichment did not break the correspondence that OBDA and KG population need.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13. BURR = Laskowski et al., PACMMOD 2025; matching rule from BURR Section 4, Eq. 3. Left-card element names are illustrative.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"Two elements match when they map to the same database elements, whatever they are called."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 NOT SAY: 'BURR found LLMs trail rule-based systems'. BURR's results show Gemini 2.5 Pro ahead of the rule-based systems overall (rule-based systems win only on NPD).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GEMINI 2.5 PRO (BURR Table 3, ISWC .65 / .68 / .56): in BURR it is a general-purpose LLM prompted with few-shot examples and a checklist to write the D2RQ mapping directly. It is a mapping generator, not an ontology-learning system that builds an enriched ontology, so we compare with ontology-learning systems. Against it, RIGOR's class F1 is higher, relations are on par, attributes lower, and RIGOR also produces labels, hierarchy and provenance. It is prompted, not fine-tuned.</a:t>
            </a:r>
          </a:p>
        </p:txBody>
      </p:sp>
      <p:sp>
        <p:nvSpPr>
          <p:cNvPr id="1201" name="Google Shape;1201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3" name="Google Shape;1253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[11:05–11:49]  SPOKEN SCRIPT (70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checks agree. Do evaluators agree? Both evaluations were blind: four anonymized ontologies per table, ranked first to fourth. An LLM judge, GPT-5.4, ranked RIGOR first on all fifty-eight tables, with the largest gains in clarity and domain enrichment. [pause] Ten ontology experts ranked RIGOR first in twenty-eight of forty rankings, seventy percent. [pause] Direct mapping gives structure without meaning. LLMs alone give meaning without structure. RIGOR gives both, and checks them.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Left number, right number, then read the closing strip slowly.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An independent LLM judge and human experts both rank RIGOR first.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1 (rankings), Table 10 (judge dimensions), Table 12 (Kendall's W 0.39-0.72). LLM judge: Claude outputs, 290 competency questions. Experts: 4 tables from the two medical databases.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"with the largest gains in clarity and domain enrichment"</a:t>
            </a:r>
          </a:p>
        </p:txBody>
      </p:sp>
      <p:sp>
        <p:nvSpPr>
          <p:cNvPr id="1254" name="Google Shape;1254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[8:45–9:23]  SPOKEN SCRIPT (63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climb from the easiest check to the hardest. First: is anything lost? All thirty ontologies are valid OWL and logically consistent, for every method. On average, RIGOR covers ninety-three percent of the database columns, as much as direct mapping. Non-Iterative, with the same retrieved context but no seed, covers only a third. [pause] So context alone loses structure; the direct-mapping seed keeps it.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Thirty out of thirty, then the bars: RIGOR next to Direct Mapping, then Non-Iterative.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RIGOR keeps the schema as well as Direct Mapping; context alone does not.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4.7 (validity, consistency) and Table 9 (column coverage, averaged over each method's ontologies).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"So context alone loses structure; the direct-mapping seed keeps it."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6.xml"/></Relationships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2  /  MEANING AND ERRORS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Then, meaning is added, with far fewer errors.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Averages per ontology, over all 30 ontologies.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598932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5440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5" name="Card note"/>
          <p:cNvSpPr txBox="1"/>
          <p:nvPr/>
        </p:nvSpPr>
        <p:spPr>
          <a:xfrm>
            <a:off x="1078992" y="3081528"/>
            <a:ext cx="54406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elements per ontology</a:t>
            </a:r>
          </a:p>
        </p:txBody>
      </p:sp>
      <p:sp>
        <p:nvSpPr>
          <p:cNvPr id="1156" name="Column"/>
          <p:cNvSpPr txBox="1"/>
          <p:nvPr/>
        </p:nvSpPr>
        <p:spPr>
          <a:xfrm>
            <a:off x="2907791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Labels &amp; comments</a:t>
            </a:r>
          </a:p>
        </p:txBody>
      </p:sp>
      <p:sp>
        <p:nvSpPr>
          <p:cNvPr id="1157" name="Column"/>
          <p:cNvSpPr txBox="1"/>
          <p:nvPr/>
        </p:nvSpPr>
        <p:spPr>
          <a:xfrm>
            <a:off x="4187952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Provenance links</a:t>
            </a:r>
          </a:p>
        </p:txBody>
      </p:sp>
      <p:sp>
        <p:nvSpPr>
          <p:cNvPr id="1158" name="Column"/>
          <p:cNvSpPr txBox="1"/>
          <p:nvPr/>
        </p:nvSpPr>
        <p:spPr>
          <a:xfrm>
            <a:off x="5468112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Subclass axioms</a:t>
            </a:r>
          </a:p>
        </p:txBody>
      </p:sp>
      <p:sp>
        <p:nvSpPr>
          <p:cNvPr id="1159" name="Rule"/>
          <p:cNvSpPr/>
          <p:nvPr/>
        </p:nvSpPr>
        <p:spPr>
          <a:xfrm>
            <a:off x="1078992" y="3867912"/>
            <a:ext cx="5440680" cy="10972"/>
          </a:xfrm>
          <a:prstGeom prst="rect">
            <a:avLst/>
          </a:prstGeom>
          <a:solidFill>
            <a:srgbClr val="C5CCD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0" name="Method"/>
          <p:cNvSpPr txBox="1"/>
          <p:nvPr/>
        </p:nvSpPr>
        <p:spPr>
          <a:xfrm>
            <a:off x="1078992" y="3977639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1" name="Value"/>
          <p:cNvSpPr txBox="1"/>
          <p:nvPr/>
        </p:nvSpPr>
        <p:spPr>
          <a:xfrm>
            <a:off x="2907791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2" name="Value"/>
          <p:cNvSpPr txBox="1"/>
          <p:nvPr/>
        </p:nvSpPr>
        <p:spPr>
          <a:xfrm>
            <a:off x="4187952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3" name="Value"/>
          <p:cNvSpPr txBox="1"/>
          <p:nvPr/>
        </p:nvSpPr>
        <p:spPr>
          <a:xfrm>
            <a:off x="5468112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4" name="Method"/>
          <p:cNvSpPr txBox="1"/>
          <p:nvPr/>
        </p:nvSpPr>
        <p:spPr>
          <a:xfrm>
            <a:off x="1078992" y="438912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5" name="Value"/>
          <p:cNvSpPr txBox="1"/>
          <p:nvPr/>
        </p:nvSpPr>
        <p:spPr>
          <a:xfrm>
            <a:off x="2907791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6" name="Value"/>
          <p:cNvSpPr txBox="1"/>
          <p:nvPr/>
        </p:nvSpPr>
        <p:spPr>
          <a:xfrm>
            <a:off x="4187952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7" name="Value"/>
          <p:cNvSpPr txBox="1"/>
          <p:nvPr/>
        </p:nvSpPr>
        <p:spPr>
          <a:xfrm>
            <a:off x="5468112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480060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Value"/>
          <p:cNvSpPr txBox="1"/>
          <p:nvPr/>
        </p:nvSpPr>
        <p:spPr>
          <a:xfrm>
            <a:off x="2907791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389</a:t>
            </a:r>
          </a:p>
        </p:txBody>
      </p:sp>
      <p:sp>
        <p:nvSpPr>
          <p:cNvPr id="1170" name="Value"/>
          <p:cNvSpPr txBox="1"/>
          <p:nvPr/>
        </p:nvSpPr>
        <p:spPr>
          <a:xfrm>
            <a:off x="4187952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1" name="Value"/>
          <p:cNvSpPr txBox="1"/>
          <p:nvPr/>
        </p:nvSpPr>
        <p:spPr>
          <a:xfrm>
            <a:off x="5468112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9AA3A9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2" name="RIGOR band"/>
          <p:cNvSpPr/>
          <p:nvPr/>
        </p:nvSpPr>
        <p:spPr>
          <a:xfrm>
            <a:off x="969264" y="5175503"/>
            <a:ext cx="5660136" cy="38404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3" name="Method"/>
          <p:cNvSpPr txBox="1"/>
          <p:nvPr/>
        </p:nvSpPr>
        <p:spPr>
          <a:xfrm>
            <a:off x="1078992" y="5212079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74" name="Value"/>
          <p:cNvSpPr txBox="1"/>
          <p:nvPr/>
        </p:nvSpPr>
        <p:spPr>
          <a:xfrm>
            <a:off x="2907791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777</a:t>
            </a:r>
          </a:p>
        </p:txBody>
      </p:sp>
      <p:sp>
        <p:nvSpPr>
          <p:cNvPr id="1175" name="Value"/>
          <p:cNvSpPr txBox="1"/>
          <p:nvPr/>
        </p:nvSpPr>
        <p:spPr>
          <a:xfrm>
            <a:off x="4187952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196</a:t>
            </a:r>
          </a:p>
        </p:txBody>
      </p:sp>
      <p:sp>
        <p:nvSpPr>
          <p:cNvPr id="1176" name="Value"/>
          <p:cNvSpPr txBox="1"/>
          <p:nvPr/>
        </p:nvSpPr>
        <p:spPr>
          <a:xfrm>
            <a:off x="5468112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59</a:t>
            </a:r>
          </a:p>
        </p:txBody>
      </p:sp>
      <p:sp>
        <p:nvSpPr>
          <p:cNvPr id="1177" name="Card"/>
          <p:cNvSpPr/>
          <p:nvPr/>
        </p:nvSpPr>
        <p:spPr>
          <a:xfrm>
            <a:off x="6976872" y="2606040"/>
            <a:ext cx="44074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8" name="Card label"/>
          <p:cNvSpPr txBox="1"/>
          <p:nvPr/>
        </p:nvSpPr>
        <p:spPr>
          <a:xfrm>
            <a:off x="7251192" y="2788920"/>
            <a:ext cx="38587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79" name="Card note"/>
          <p:cNvSpPr txBox="1"/>
          <p:nvPr/>
        </p:nvSpPr>
        <p:spPr>
          <a:xfrm>
            <a:off x="7251192" y="3081528"/>
            <a:ext cx="38587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OOPS! modeling pitfalls per ontology</a:t>
            </a:r>
          </a:p>
        </p:txBody>
      </p:sp>
      <p:sp>
        <p:nvSpPr>
          <p:cNvPr id="1180" name="Method"/>
          <p:cNvSpPr txBox="1"/>
          <p:nvPr/>
        </p:nvSpPr>
        <p:spPr>
          <a:xfrm>
            <a:off x="7251192" y="356616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81" name="Track"/>
          <p:cNvSpPr/>
          <p:nvPr/>
        </p:nvSpPr>
        <p:spPr>
          <a:xfrm>
            <a:off x="8759952" y="363931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2" name="Bar"/>
          <p:cNvSpPr/>
          <p:nvPr/>
        </p:nvSpPr>
        <p:spPr>
          <a:xfrm>
            <a:off x="8759952" y="3639312"/>
            <a:ext cx="1709928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3" name="Value"/>
          <p:cNvSpPr txBox="1"/>
          <p:nvPr/>
        </p:nvSpPr>
        <p:spPr>
          <a:xfrm>
            <a:off x="10543032" y="35661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499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7251192" y="406908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85" name="Track"/>
          <p:cNvSpPr/>
          <p:nvPr/>
        </p:nvSpPr>
        <p:spPr>
          <a:xfrm>
            <a:off x="8759952" y="414223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6" name="Bar"/>
          <p:cNvSpPr/>
          <p:nvPr/>
        </p:nvSpPr>
        <p:spPr>
          <a:xfrm>
            <a:off x="8759952" y="4142232"/>
            <a:ext cx="1051999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7" name="Value"/>
          <p:cNvSpPr txBox="1"/>
          <p:nvPr/>
        </p:nvSpPr>
        <p:spPr>
          <a:xfrm>
            <a:off x="10543032" y="406908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307</a:t>
            </a:r>
          </a:p>
        </p:txBody>
      </p:sp>
      <p:sp>
        <p:nvSpPr>
          <p:cNvPr id="1188" name="Method"/>
          <p:cNvSpPr txBox="1"/>
          <p:nvPr/>
        </p:nvSpPr>
        <p:spPr>
          <a:xfrm>
            <a:off x="7251192" y="457200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9" name="Track"/>
          <p:cNvSpPr/>
          <p:nvPr/>
        </p:nvSpPr>
        <p:spPr>
          <a:xfrm>
            <a:off x="8759952" y="464515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0" name="Bar"/>
          <p:cNvSpPr/>
          <p:nvPr/>
        </p:nvSpPr>
        <p:spPr>
          <a:xfrm>
            <a:off x="8759952" y="4645152"/>
            <a:ext cx="178188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1" name="Value"/>
          <p:cNvSpPr txBox="1"/>
          <p:nvPr/>
        </p:nvSpPr>
        <p:spPr>
          <a:xfrm>
            <a:off x="10543032" y="4572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92" name="Method"/>
          <p:cNvSpPr txBox="1"/>
          <p:nvPr/>
        </p:nvSpPr>
        <p:spPr>
          <a:xfrm>
            <a:off x="7251192" y="507492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3" name="Track"/>
          <p:cNvSpPr/>
          <p:nvPr/>
        </p:nvSpPr>
        <p:spPr>
          <a:xfrm>
            <a:off x="8759952" y="514807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4" name="Bar"/>
          <p:cNvSpPr/>
          <p:nvPr/>
        </p:nvSpPr>
        <p:spPr>
          <a:xfrm>
            <a:off x="8759952" y="5148072"/>
            <a:ext cx="27432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5" name="Value"/>
          <p:cNvSpPr txBox="1"/>
          <p:nvPr/>
        </p:nvSpPr>
        <p:spPr>
          <a:xfrm>
            <a:off x="10543032" y="50749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8</a:t>
            </a:r>
          </a:p>
        </p:txBody>
      </p:sp>
      <p:sp>
        <p:nvSpPr>
          <p:cNvPr id="119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72%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of the others' pitfalls: missing annotations.  The critical one, a second domain: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zero in 6 of 9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RIGOR ontologies.</a:t>
            </a:r>
          </a:p>
        </p:txBody>
      </p:sp>
      <p:sp>
        <p:nvSpPr>
          <p:cNvPr id="119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8 (annotation assertions, prov:wasDerivedFrom, SubClassOf) and Table 7 (OOPS!; P08 missing annotations, P19 multiple domains or ranges).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1"/>
          <p:cNvSpPr txBox="1"/>
          <p:nvPr/>
        </p:nvSpPr>
        <p:spPr>
          <a:xfrm>
            <a:off x="804672" y="512064"/>
            <a:ext cx="10753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3  /  EXTERNAL BENCHMARK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 txBox="1"/>
          <p:nvPr/>
        </p:nvSpPr>
        <p:spPr>
          <a:xfrm>
            <a:off x="804672" y="914400"/>
            <a:ext cx="10762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 keeps the link to the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 txBox="1"/>
          <p:nvPr/>
        </p:nvSpPr>
        <p:spPr>
          <a:xfrm>
            <a:off x="822960" y="1645920"/>
            <a:ext cx="10680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BURR [Laskowski et al., PACMMOD 2025]  ·  ISWC scenario  ·  highest F1 among ontology-learning systems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5870448" y="2523744"/>
            <a:ext cx="5468100" cy="306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77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 txBox="1"/>
          <p:nvPr/>
        </p:nvSpPr>
        <p:spPr>
          <a:xfrm>
            <a:off x="6099048" y="2706624"/>
            <a:ext cx="1828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endParaRPr/>
          </a:p>
        </p:txBody>
      </p:sp>
      <p:sp>
        <p:nvSpPr>
          <p:cNvPr id="1208" name="Google Shape;1208;p21"/>
          <p:cNvSpPr txBox="1"/>
          <p:nvPr/>
        </p:nvSpPr>
        <p:spPr>
          <a:xfrm>
            <a:off x="815644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id="1209" name="Google Shape;1209;p21"/>
          <p:cNvSpPr txBox="1"/>
          <p:nvPr/>
        </p:nvSpPr>
        <p:spPr>
          <a:xfrm>
            <a:off x="9208008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id="1210" name="Google Shape;1210;p21"/>
          <p:cNvSpPr txBox="1"/>
          <p:nvPr/>
        </p:nvSpPr>
        <p:spPr>
          <a:xfrm>
            <a:off x="1025956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cxnSp>
        <p:nvCxnSpPr>
          <p:cNvPr id="1211" name="Google Shape;1211;p21"/>
          <p:cNvCxnSpPr/>
          <p:nvPr/>
        </p:nvCxnSpPr>
        <p:spPr>
          <a:xfrm>
            <a:off x="6071616" y="3145536"/>
            <a:ext cx="5065800" cy="0"/>
          </a:xfrm>
          <a:prstGeom prst="straightConnector1">
            <a:avLst/>
          </a:prstGeom>
          <a:noFill/>
          <a:ln cap="flat" cmpd="sng" w="13950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212" name="Google Shape;1212;p21"/>
          <p:cNvSpPr txBox="1"/>
          <p:nvPr/>
        </p:nvSpPr>
        <p:spPr>
          <a:xfrm>
            <a:off x="6117336" y="3182112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W3C-Mapper / Ontop</a:t>
            </a:r>
            <a:endParaRPr/>
          </a:p>
        </p:txBody>
      </p:sp>
      <p:sp>
        <p:nvSpPr>
          <p:cNvPr id="1213" name="Google Shape;1213;p21"/>
          <p:cNvSpPr txBox="1"/>
          <p:nvPr/>
        </p:nvSpPr>
        <p:spPr>
          <a:xfrm>
            <a:off x="6117336" y="3438144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4" name="Google Shape;1214;p21"/>
          <p:cNvSpPr txBox="1"/>
          <p:nvPr/>
        </p:nvSpPr>
        <p:spPr>
          <a:xfrm>
            <a:off x="8202167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0.53</a:t>
            </a:r>
            <a:endParaRPr/>
          </a:p>
        </p:txBody>
      </p:sp>
      <p:sp>
        <p:nvSpPr>
          <p:cNvPr id="1215" name="Google Shape;1215;p21"/>
          <p:cNvSpPr txBox="1"/>
          <p:nvPr/>
        </p:nvSpPr>
        <p:spPr>
          <a:xfrm>
            <a:off x="925372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0.11</a:t>
            </a:r>
            <a:endParaRPr/>
          </a:p>
        </p:txBody>
      </p:sp>
      <p:sp>
        <p:nvSpPr>
          <p:cNvPr id="1216" name="Google Shape;1216;p21"/>
          <p:cNvSpPr txBox="1"/>
          <p:nvPr/>
        </p:nvSpPr>
        <p:spPr>
          <a:xfrm>
            <a:off x="1030528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0.39</a:t>
            </a:r>
            <a:endParaRPr/>
          </a:p>
        </p:txBody>
      </p:sp>
      <p:sp>
        <p:nvSpPr>
          <p:cNvPr id="1217" name="Google Shape;1217;p21"/>
          <p:cNvSpPr txBox="1"/>
          <p:nvPr/>
        </p:nvSpPr>
        <p:spPr>
          <a:xfrm>
            <a:off x="6117336" y="373989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RDB2Onto</a:t>
            </a:r>
            <a:endParaRPr/>
          </a:p>
        </p:txBody>
      </p:sp>
      <p:sp>
        <p:nvSpPr>
          <p:cNvPr id="1218" name="Google Shape;1218;p21"/>
          <p:cNvSpPr txBox="1"/>
          <p:nvPr/>
        </p:nvSpPr>
        <p:spPr>
          <a:xfrm>
            <a:off x="6117336" y="3995928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9" name="Google Shape;1219;p21"/>
          <p:cNvSpPr txBox="1"/>
          <p:nvPr/>
        </p:nvSpPr>
        <p:spPr>
          <a:xfrm>
            <a:off x="8202167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20" name="Google Shape;1220;p21"/>
          <p:cNvSpPr txBox="1"/>
          <p:nvPr/>
        </p:nvSpPr>
        <p:spPr>
          <a:xfrm>
            <a:off x="925372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0.62</a:t>
            </a:r>
            <a:endParaRPr/>
          </a:p>
        </p:txBody>
      </p:sp>
      <p:sp>
        <p:nvSpPr>
          <p:cNvPr id="1221" name="Google Shape;1221;p21"/>
          <p:cNvSpPr txBox="1"/>
          <p:nvPr/>
        </p:nvSpPr>
        <p:spPr>
          <a:xfrm>
            <a:off x="1030528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2" name="Google Shape;1222;p21"/>
          <p:cNvSpPr txBox="1"/>
          <p:nvPr/>
        </p:nvSpPr>
        <p:spPr>
          <a:xfrm>
            <a:off x="6117336" y="4297680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OntoGenix</a:t>
            </a:r>
            <a:endParaRPr/>
          </a:p>
        </p:txBody>
      </p:sp>
      <p:sp>
        <p:nvSpPr>
          <p:cNvPr id="1223" name="Google Shape;1223;p21"/>
          <p:cNvSpPr txBox="1"/>
          <p:nvPr/>
        </p:nvSpPr>
        <p:spPr>
          <a:xfrm>
            <a:off x="6117336" y="4553712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LLM-based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202167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0.58</a:t>
            </a:r>
            <a:endParaRPr/>
          </a:p>
        </p:txBody>
      </p:sp>
      <p:sp>
        <p:nvSpPr>
          <p:cNvPr id="1225" name="Google Shape;1225;p21"/>
          <p:cNvSpPr txBox="1"/>
          <p:nvPr/>
        </p:nvSpPr>
        <p:spPr>
          <a:xfrm>
            <a:off x="925372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0.35</a:t>
            </a:r>
            <a:endParaRPr/>
          </a:p>
        </p:txBody>
      </p:sp>
      <p:sp>
        <p:nvSpPr>
          <p:cNvPr id="1226" name="Google Shape;1226;p21"/>
          <p:cNvSpPr txBox="1"/>
          <p:nvPr/>
        </p:nvSpPr>
        <p:spPr>
          <a:xfrm>
            <a:off x="1030528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7" name="Google Shape;1227;p21"/>
          <p:cNvSpPr/>
          <p:nvPr/>
        </p:nvSpPr>
        <p:spPr>
          <a:xfrm>
            <a:off x="5980176" y="4892040"/>
            <a:ext cx="5248800" cy="512100"/>
          </a:xfrm>
          <a:prstGeom prst="rect">
            <a:avLst/>
          </a:prstGeom>
          <a:solidFill>
            <a:srgbClr val="E9EEEB"/>
          </a:solidFill>
          <a:ln cap="flat" cmpd="sng" w="9525">
            <a:solidFill>
              <a:srgbClr val="3A7D8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1"/>
          <p:cNvSpPr txBox="1"/>
          <p:nvPr/>
        </p:nvSpPr>
        <p:spPr>
          <a:xfrm>
            <a:off x="6117336" y="4855464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RIGOR</a:t>
            </a:r>
            <a:endParaRPr/>
          </a:p>
        </p:txBody>
      </p:sp>
      <p:sp>
        <p:nvSpPr>
          <p:cNvPr id="1229" name="Google Shape;1229;p21"/>
          <p:cNvSpPr txBox="1"/>
          <p:nvPr/>
        </p:nvSpPr>
        <p:spPr>
          <a:xfrm>
            <a:off x="6117336" y="5111496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2F6B78"/>
                </a:solidFill>
                <a:latin typeface="Calibri"/>
                <a:ea typeface="Calibri"/>
                <a:cs typeface="Calibri"/>
                <a:sym typeface="Calibri"/>
              </a:rPr>
              <a:t>LLM + rules</a:t>
            </a:r>
            <a:endParaRPr/>
          </a:p>
        </p:txBody>
      </p:sp>
      <p:sp>
        <p:nvSpPr>
          <p:cNvPr id="1230" name="Google Shape;1230;p21"/>
          <p:cNvSpPr txBox="1"/>
          <p:nvPr/>
        </p:nvSpPr>
        <p:spPr>
          <a:xfrm>
            <a:off x="8202167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0.73</a:t>
            </a:r>
            <a:endParaRPr/>
          </a:p>
        </p:txBody>
      </p:sp>
      <p:sp>
        <p:nvSpPr>
          <p:cNvPr id="1231" name="Google Shape;1231;p21"/>
          <p:cNvSpPr txBox="1"/>
          <p:nvPr/>
        </p:nvSpPr>
        <p:spPr>
          <a:xfrm>
            <a:off x="925372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32" name="Google Shape;1232;p21"/>
          <p:cNvSpPr txBox="1"/>
          <p:nvPr/>
        </p:nvSpPr>
        <p:spPr>
          <a:xfrm>
            <a:off x="1030528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0.52</a:t>
            </a:r>
            <a:endParaRPr/>
          </a:p>
        </p:txBody>
      </p:sp>
      <p:sp>
        <p:nvSpPr>
          <p:cNvPr id="1233" name="Google Shape;1233;p21"/>
          <p:cNvSpPr/>
          <p:nvPr/>
        </p:nvSpPr>
        <p:spPr>
          <a:xfrm>
            <a:off x="841248" y="2523744"/>
            <a:ext cx="4846200" cy="3063300"/>
          </a:xfrm>
          <a:prstGeom prst="roundRect">
            <a:avLst>
              <a:gd fmla="val 12000" name="adj"/>
            </a:avLst>
          </a:prstGeom>
          <a:solidFill>
            <a:srgbClr val="F3F5F4"/>
          </a:solidFill>
          <a:ln cap="flat" cmpd="sng" w="952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 txBox="1"/>
          <p:nvPr/>
        </p:nvSpPr>
        <p:spPr>
          <a:xfrm>
            <a:off x="1069848" y="2706624"/>
            <a:ext cx="43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WHAT BURR CHECKS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1069848" y="3035808"/>
            <a:ext cx="4389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Every ontology element must map back to the database.</a:t>
            </a:r>
            <a:endParaRPr/>
          </a:p>
        </p:txBody>
      </p:sp>
      <p:sp>
        <p:nvSpPr>
          <p:cNvPr id="1236" name="Google Shape;1236;p21"/>
          <p:cNvSpPr txBox="1"/>
          <p:nvPr/>
        </p:nvSpPr>
        <p:spPr>
          <a:xfrm>
            <a:off x="1069848" y="3474720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descr="database element" id="1237" name="Google Shape;1237;p21"/>
          <p:cNvSpPr/>
          <p:nvPr/>
        </p:nvSpPr>
        <p:spPr>
          <a:xfrm>
            <a:off x="2075688" y="3474720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38" name="Google Shape;1238;p21"/>
          <p:cNvSpPr txBox="1"/>
          <p:nvPr/>
        </p:nvSpPr>
        <p:spPr>
          <a:xfrm>
            <a:off x="3392424" y="3474720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39" name="Google Shape;1239;p21"/>
          <p:cNvSpPr/>
          <p:nvPr/>
        </p:nvSpPr>
        <p:spPr>
          <a:xfrm>
            <a:off x="3648456" y="3474720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Class: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40" name="Google Shape;1240;p21"/>
          <p:cNvSpPr txBox="1"/>
          <p:nvPr/>
        </p:nvSpPr>
        <p:spPr>
          <a:xfrm>
            <a:off x="1069848" y="3895344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descr="database element" id="1241" name="Google Shape;1241;p21"/>
          <p:cNvSpPr/>
          <p:nvPr/>
        </p:nvSpPr>
        <p:spPr>
          <a:xfrm>
            <a:off x="2075688" y="3895344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paper.author_id</a:t>
            </a:r>
            <a:endParaRPr/>
          </a:p>
        </p:txBody>
      </p:sp>
      <p:sp>
        <p:nvSpPr>
          <p:cNvPr id="1242" name="Google Shape;1242;p21"/>
          <p:cNvSpPr txBox="1"/>
          <p:nvPr/>
        </p:nvSpPr>
        <p:spPr>
          <a:xfrm>
            <a:off x="3392424" y="3895344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3" name="Google Shape;1243;p21"/>
          <p:cNvSpPr/>
          <p:nvPr/>
        </p:nvSpPr>
        <p:spPr>
          <a:xfrm>
            <a:off x="3648456" y="3895344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ObjectProperty: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author</a:t>
            </a:r>
            <a:endParaRPr/>
          </a:p>
        </p:txBody>
      </p:sp>
      <p:sp>
        <p:nvSpPr>
          <p:cNvPr id="1244" name="Google Shape;1244;p21"/>
          <p:cNvSpPr txBox="1"/>
          <p:nvPr/>
        </p:nvSpPr>
        <p:spPr>
          <a:xfrm>
            <a:off x="1069848" y="4315968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sp>
        <p:nvSpPr>
          <p:cNvPr descr="database element" id="1245" name="Google Shape;1245;p21"/>
          <p:cNvSpPr/>
          <p:nvPr/>
        </p:nvSpPr>
        <p:spPr>
          <a:xfrm>
            <a:off x="2075688" y="4315968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person.name</a:t>
            </a:r>
            <a:endParaRPr/>
          </a:p>
        </p:txBody>
      </p:sp>
      <p:sp>
        <p:nvSpPr>
          <p:cNvPr id="1246" name="Google Shape;1246;p21"/>
          <p:cNvSpPr txBox="1"/>
          <p:nvPr/>
        </p:nvSpPr>
        <p:spPr>
          <a:xfrm>
            <a:off x="3392424" y="4315968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7" name="Google Shape;1247;p21"/>
          <p:cNvSpPr/>
          <p:nvPr/>
        </p:nvSpPr>
        <p:spPr>
          <a:xfrm>
            <a:off x="3648456" y="4315968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DataProperty: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endParaRPr/>
          </a:p>
        </p:txBody>
      </p:sp>
      <p:sp>
        <p:nvSpPr>
          <p:cNvPr id="1248" name="Google Shape;1248;p21"/>
          <p:cNvSpPr txBox="1"/>
          <p:nvPr/>
        </p:nvSpPr>
        <p:spPr>
          <a:xfrm>
            <a:off x="1069848" y="4736592"/>
            <a:ext cx="4389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Elements match when they map to the same database elements, whatever their names. F1 per element type.</a:t>
            </a:r>
            <a:endParaRPr/>
          </a:p>
        </p:txBody>
      </p:sp>
      <p:sp>
        <p:nvSpPr>
          <p:cNvPr id="1249" name="Google Shape;1249;p21"/>
          <p:cNvSpPr txBox="1"/>
          <p:nvPr/>
        </p:nvSpPr>
        <p:spPr>
          <a:xfrm>
            <a:off x="1069848" y="5358384"/>
            <a:ext cx="4389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Illustrative elements  ·  ISWC gold mapping: D2RQ example by Bizer &amp; Seaborne</a:t>
            </a:r>
            <a:endParaRPr/>
          </a:p>
        </p:txBody>
      </p:sp>
      <p:sp>
        <p:nvSpPr>
          <p:cNvPr id="1250" name="Google Shape;1250;p21"/>
          <p:cNvSpPr txBox="1"/>
          <p:nvPr/>
        </p:nvSpPr>
        <p:spPr>
          <a:xfrm>
            <a:off x="850392" y="6382512"/>
            <a:ext cx="104883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One scenario  ·  9 tables · 46 columns · 11 FKs  ·  RIGOR with Claude  ·  its prov:wasDerivedFrom links exported as a D2RQ mapping  ·  Source: paper Table 13</a:t>
            </a:r>
            <a:endParaRPr/>
          </a:p>
        </p:txBody>
      </p:sp>
      <p:sp>
        <p:nvSpPr>
          <p:cNvPr id="1251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52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53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54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55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56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57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Relations: 0.67 vs 0.11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for W3C-Mapper / Ontop. Foreign keys become named relations, like hasPatientData.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4  /  LLM JUDGE AND HUMAN EXPERTS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Finally, an LLM judge and human experts both rank RIGOR first.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Both ranked four anonymized ontologies per table, from first to fourth.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60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63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64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LLM-AS-A-JUDGE  ·  GPT-5.4</a:t>
            </a:r>
          </a:p>
        </p:txBody>
      </p:sp>
      <p:sp>
        <p:nvSpPr>
          <p:cNvPr id="1267" name="Big"/>
          <p:cNvSpPr txBox="1"/>
          <p:nvPr/>
        </p:nvSpPr>
        <p:spPr>
          <a:xfrm>
            <a:off x="1078992" y="3108960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58 / 58</a:t>
            </a:r>
          </a:p>
        </p:txBody>
      </p:sp>
      <p:sp>
        <p:nvSpPr>
          <p:cNvPr id="1268" name="Claim"/>
          <p:cNvSpPr txBox="1"/>
          <p:nvPr/>
        </p:nvSpPr>
        <p:spPr>
          <a:xfrm>
            <a:off x="1078992" y="40233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tables with RIGOR ranked first</a:t>
            </a:r>
          </a:p>
        </p:txBody>
      </p:sp>
      <p:sp>
        <p:nvSpPr>
          <p:cNvPr id="1269" name="Split"/>
          <p:cNvSpPr txBox="1"/>
          <p:nvPr/>
        </p:nvSpPr>
        <p:spPr>
          <a:xfrm>
            <a:off x="1078992" y="4572000"/>
            <a:ext cx="46634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Liver Cancer 16/16  ·  eICU-CRD 31/31  ·  Chinook 11/11</a:t>
            </a:r>
          </a:p>
        </p:txBody>
      </p:sp>
      <p:sp>
        <p:nvSpPr>
          <p:cNvPr id="1270" name="Gains"/>
          <p:cNvSpPr txBox="1"/>
          <p:nvPr/>
        </p:nvSpPr>
        <p:spPr>
          <a:xfrm>
            <a:off x="1078992" y="50292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Largest gains: 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clarity and domain enrichment.</a:t>
            </a:r>
          </a:p>
        </p:txBody>
      </p:sp>
      <p:sp>
        <p:nvSpPr>
          <p:cNvPr id="1271" name="Card"/>
          <p:cNvSpPr/>
          <p:nvPr/>
        </p:nvSpPr>
        <p:spPr>
          <a:xfrm>
            <a:off x="6172200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2" name="Card label"/>
          <p:cNvSpPr txBox="1"/>
          <p:nvPr/>
        </p:nvSpPr>
        <p:spPr>
          <a:xfrm>
            <a:off x="6446520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10 ONTOLOGY EXPERTS</a:t>
            </a:r>
          </a:p>
        </p:txBody>
      </p:sp>
      <p:sp>
        <p:nvSpPr>
          <p:cNvPr id="1273" name="Big"/>
          <p:cNvSpPr txBox="1"/>
          <p:nvPr/>
        </p:nvSpPr>
        <p:spPr>
          <a:xfrm>
            <a:off x="6446520" y="3108960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28 / 40</a:t>
            </a:r>
          </a:p>
        </p:txBody>
      </p:sp>
      <p:sp>
        <p:nvSpPr>
          <p:cNvPr id="1274" name="Claim"/>
          <p:cNvSpPr txBox="1"/>
          <p:nvPr/>
        </p:nvSpPr>
        <p:spPr>
          <a:xfrm>
            <a:off x="6446520" y="40233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rankings with RIGOR first (70%)</a:t>
            </a:r>
          </a:p>
        </p:txBody>
      </p:sp>
      <p:sp>
        <p:nvSpPr>
          <p:cNvPr id="1275" name="Method"/>
          <p:cNvSpPr txBox="1"/>
          <p:nvPr/>
        </p:nvSpPr>
        <p:spPr>
          <a:xfrm>
            <a:off x="6446520" y="452628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76" name="Track"/>
          <p:cNvSpPr/>
          <p:nvPr/>
        </p:nvSpPr>
        <p:spPr>
          <a:xfrm>
            <a:off x="8092440" y="459028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7" name="Bar"/>
          <p:cNvSpPr/>
          <p:nvPr/>
        </p:nvSpPr>
        <p:spPr>
          <a:xfrm>
            <a:off x="8092440" y="4590288"/>
            <a:ext cx="297180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8" name="Count"/>
          <p:cNvSpPr txBox="1"/>
          <p:nvPr/>
        </p:nvSpPr>
        <p:spPr>
          <a:xfrm>
            <a:off x="10561320" y="45262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5</a:t>
            </a:r>
          </a:p>
        </p:txBody>
      </p:sp>
      <p:sp>
        <p:nvSpPr>
          <p:cNvPr id="1279" name="Method"/>
          <p:cNvSpPr txBox="1"/>
          <p:nvPr/>
        </p:nvSpPr>
        <p:spPr>
          <a:xfrm>
            <a:off x="6446520" y="480060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80" name="Track"/>
          <p:cNvSpPr/>
          <p:nvPr/>
        </p:nvSpPr>
        <p:spPr>
          <a:xfrm>
            <a:off x="8092440" y="486460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1" name="Bar"/>
          <p:cNvSpPr/>
          <p:nvPr/>
        </p:nvSpPr>
        <p:spPr>
          <a:xfrm>
            <a:off x="8092440" y="4864608"/>
            <a:ext cx="297180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2" name="Count"/>
          <p:cNvSpPr txBox="1"/>
          <p:nvPr/>
        </p:nvSpPr>
        <p:spPr>
          <a:xfrm>
            <a:off x="10561320" y="480060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5</a:t>
            </a:r>
          </a:p>
        </p:txBody>
      </p:sp>
      <p:sp>
        <p:nvSpPr>
          <p:cNvPr id="1283" name="Method"/>
          <p:cNvSpPr txBox="1"/>
          <p:nvPr/>
        </p:nvSpPr>
        <p:spPr>
          <a:xfrm>
            <a:off x="6446520" y="507492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84" name="Track"/>
          <p:cNvSpPr/>
          <p:nvPr/>
        </p:nvSpPr>
        <p:spPr>
          <a:xfrm>
            <a:off x="8092440" y="513892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5" name="Bar"/>
          <p:cNvSpPr/>
          <p:nvPr/>
        </p:nvSpPr>
        <p:spPr>
          <a:xfrm>
            <a:off x="8092440" y="5138928"/>
            <a:ext cx="118872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6" name="Count"/>
          <p:cNvSpPr txBox="1"/>
          <p:nvPr/>
        </p:nvSpPr>
        <p:spPr>
          <a:xfrm>
            <a:off x="10561320" y="507492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87" name="Method"/>
          <p:cNvSpPr txBox="1"/>
          <p:nvPr/>
        </p:nvSpPr>
        <p:spPr>
          <a:xfrm>
            <a:off x="6446520" y="534924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88" name="Track"/>
          <p:cNvSpPr/>
          <p:nvPr/>
        </p:nvSpPr>
        <p:spPr>
          <a:xfrm>
            <a:off x="8092440" y="541324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9" name="Bar"/>
          <p:cNvSpPr/>
          <p:nvPr/>
        </p:nvSpPr>
        <p:spPr>
          <a:xfrm>
            <a:off x="8092440" y="5413248"/>
            <a:ext cx="1664207" cy="12801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0" name="Count"/>
          <p:cNvSpPr txBox="1"/>
          <p:nvPr/>
        </p:nvSpPr>
        <p:spPr>
          <a:xfrm>
            <a:off x="10561320" y="534924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28</a:t>
            </a:r>
          </a:p>
        </p:txBody>
      </p:sp>
      <p:sp>
        <p:nvSpPr>
          <p:cNvPr id="1291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Mapping: structure without meaning.  LLMs alone: meaning without structure. 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RIGOR: both, and checked.</a:t>
            </a:r>
          </a:p>
        </p:txBody>
      </p:sp>
      <p:sp>
        <p:nvSpPr>
          <p:cNvPr id="1292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1 (rankings), Table 10 (judge dimensions), Table 12 (expert agreement, Kendall's W 0.39–0.72). Judge: 290 competency questions. Experts: 4 medical tables.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1  /  NOTHING IS LOST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First, nothing is lost: RIGOR keeps the schema.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We climb from the easiest check to the hardest. Every number covers all 30 ontologies.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324612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269747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55" name="Big"/>
          <p:cNvSpPr txBox="1"/>
          <p:nvPr/>
        </p:nvSpPr>
        <p:spPr>
          <a:xfrm>
            <a:off x="1078992" y="324612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30 / 30</a:t>
            </a:r>
          </a:p>
        </p:txBody>
      </p:sp>
      <p:sp>
        <p:nvSpPr>
          <p:cNvPr id="1156" name="Claim"/>
          <p:cNvSpPr txBox="1"/>
          <p:nvPr/>
        </p:nvSpPr>
        <p:spPr>
          <a:xfrm>
            <a:off x="1078992" y="4206240"/>
            <a:ext cx="27432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5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ontologies are valid OWL 2 DL and logically consistent, for every method.</a:t>
            </a:r>
          </a:p>
        </p:txBody>
      </p:sp>
      <p:sp>
        <p:nvSpPr>
          <p:cNvPr id="1157" name="Card"/>
          <p:cNvSpPr/>
          <p:nvPr/>
        </p:nvSpPr>
        <p:spPr>
          <a:xfrm>
            <a:off x="4233672" y="2606040"/>
            <a:ext cx="7150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8" name="Card label"/>
          <p:cNvSpPr txBox="1"/>
          <p:nvPr/>
        </p:nvSpPr>
        <p:spPr>
          <a:xfrm>
            <a:off x="4507992" y="2788920"/>
            <a:ext cx="6601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59" name="Card note"/>
          <p:cNvSpPr txBox="1"/>
          <p:nvPr/>
        </p:nvSpPr>
        <p:spPr>
          <a:xfrm>
            <a:off x="4507992" y="3081528"/>
            <a:ext cx="6601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share of database columns covered, per ontology</a:t>
            </a:r>
          </a:p>
        </p:txBody>
      </p:sp>
      <p:sp>
        <p:nvSpPr>
          <p:cNvPr id="1160" name="Method"/>
          <p:cNvSpPr txBox="1"/>
          <p:nvPr/>
        </p:nvSpPr>
        <p:spPr>
          <a:xfrm>
            <a:off x="4507992" y="356616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1" name="Track"/>
          <p:cNvSpPr/>
          <p:nvPr/>
        </p:nvSpPr>
        <p:spPr>
          <a:xfrm>
            <a:off x="6108192" y="363931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2" name="Bar"/>
          <p:cNvSpPr/>
          <p:nvPr/>
        </p:nvSpPr>
        <p:spPr>
          <a:xfrm>
            <a:off x="6108192" y="3639312"/>
            <a:ext cx="3869283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3" name="Value"/>
          <p:cNvSpPr txBox="1"/>
          <p:nvPr/>
        </p:nvSpPr>
        <p:spPr>
          <a:xfrm>
            <a:off x="10433304" y="35661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91%</a:t>
            </a:r>
          </a:p>
        </p:txBody>
      </p:sp>
      <p:sp>
        <p:nvSpPr>
          <p:cNvPr id="1164" name="Method"/>
          <p:cNvSpPr txBox="1"/>
          <p:nvPr/>
        </p:nvSpPr>
        <p:spPr>
          <a:xfrm>
            <a:off x="4507992" y="406908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5" name="Track"/>
          <p:cNvSpPr/>
          <p:nvPr/>
        </p:nvSpPr>
        <p:spPr>
          <a:xfrm>
            <a:off x="6108192" y="414223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6" name="Bar"/>
          <p:cNvSpPr/>
          <p:nvPr/>
        </p:nvSpPr>
        <p:spPr>
          <a:xfrm>
            <a:off x="6108192" y="4142232"/>
            <a:ext cx="3146450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7" name="Value"/>
          <p:cNvSpPr txBox="1"/>
          <p:nvPr/>
        </p:nvSpPr>
        <p:spPr>
          <a:xfrm>
            <a:off x="10433304" y="406908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74%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4507992" y="457200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Track"/>
          <p:cNvSpPr/>
          <p:nvPr/>
        </p:nvSpPr>
        <p:spPr>
          <a:xfrm>
            <a:off x="6108192" y="464515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0" name="Bar"/>
          <p:cNvSpPr/>
          <p:nvPr/>
        </p:nvSpPr>
        <p:spPr>
          <a:xfrm>
            <a:off x="6108192" y="4645152"/>
            <a:ext cx="1445666" cy="146304"/>
          </a:xfrm>
          <a:prstGeom prst="rect">
            <a:avLst/>
          </a:prstGeom>
          <a:solidFill>
            <a:srgbClr val="B23A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1" name="Value"/>
          <p:cNvSpPr txBox="1"/>
          <p:nvPr/>
        </p:nvSpPr>
        <p:spPr>
          <a:xfrm>
            <a:off x="10433304" y="4572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34%</a:t>
            </a:r>
          </a:p>
        </p:txBody>
      </p:sp>
      <p:sp>
        <p:nvSpPr>
          <p:cNvPr id="1172" name="Method"/>
          <p:cNvSpPr txBox="1"/>
          <p:nvPr/>
        </p:nvSpPr>
        <p:spPr>
          <a:xfrm>
            <a:off x="4507992" y="507492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73" name="Track"/>
          <p:cNvSpPr/>
          <p:nvPr/>
        </p:nvSpPr>
        <p:spPr>
          <a:xfrm>
            <a:off x="6108192" y="514807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4" name="Bar"/>
          <p:cNvSpPr/>
          <p:nvPr/>
        </p:nvSpPr>
        <p:spPr>
          <a:xfrm>
            <a:off x="6108192" y="5148072"/>
            <a:ext cx="3954322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5" name="Value"/>
          <p:cNvSpPr txBox="1"/>
          <p:nvPr/>
        </p:nvSpPr>
        <p:spPr>
          <a:xfrm>
            <a:off x="10433304" y="50749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93%</a:t>
            </a:r>
          </a:p>
        </p:txBody>
      </p:sp>
      <p:sp>
        <p:nvSpPr>
          <p:cNvPr id="117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Same retrieved context, no seed: 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Non-Iterative covers only a third of the columns. RIGOR's direct-mapping seed keeps them.</a:t>
            </a:r>
          </a:p>
        </p:txBody>
      </p:sp>
      <p:sp>
        <p:nvSpPr>
          <p:cNvPr id="117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Validity: RDFLib, consistency: HermiT (paper Sec. 4.7). Coverage: paper Table 9, averaged over each method's ontologies.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