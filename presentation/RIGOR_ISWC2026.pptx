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[1:07–1:48]  SPOKEN SCRIPT (72 words)</a:t>
            </a:r>
          </a:p>
          <a:p>
            <a:r>
              <a:rPr lang="en-US" sz="1200">
                <a:solidFill>
                  <a:schemeClr val="dk1"/>
                </a:solidFill>
                <a:latin typeface="Calibri"/>
                <a:ea typeface="Calibri"/>
                <a:cs typeface="Calibri"/>
                <a:sym typeface="Calibri"/>
              </a:rPr>
              <a:t>Here is what we want. Admission and PatientData become classes, and the foreign key becomes a real relation between them. Now look at the code. BM_DEP gets a human-readable label: Bone Marrow Depression. ECOG gets a comment that explains its codes. And every element records where it came from, with prov:wasDerivedFrom. That is a usable semantic model. The challenge is to add all this meaning without losing a single column or link.</a:t>
            </a:r>
          </a:p>
          <a:p/>
          <a:p>
            <a:r>
              <a:rPr lang="en-US" sz="1200">
                <a:solidFill>
                  <a:schemeClr val="dk1"/>
                </a:solidFill>
                <a:latin typeface="Calibri"/>
                <a:ea typeface="Calibri"/>
                <a:cs typeface="Calibri"/>
                <a:sym typeface="Calibri"/>
              </a:rPr>
              <a:t>PRESENTER / POINTER: Diagram first, then read the three code glosses on the right.</a:t>
            </a:r>
          </a:p>
          <a:p>
            <a:r>
              <a:rPr lang="en-US" sz="1200">
                <a:solidFill>
                  <a:schemeClr val="dk1"/>
                </a:solidFill>
                <a:latin typeface="Calibri"/>
                <a:ea typeface="Calibri"/>
                <a:cs typeface="Calibri"/>
                <a:sym typeface="Calibri"/>
              </a:rPr>
              <a:t>AUDIENCE TAKEAWAY: Target: linked, labelled, traceable, and nothing lost.</a:t>
            </a:r>
          </a:p>
          <a:p>
            <a:r>
              <a:rPr lang="en-US" sz="1200">
                <a:solidFill>
                  <a:schemeClr val="dk1"/>
                </a:solidFill>
                <a:latin typeface="Calibri"/>
                <a:ea typeface="Calibri"/>
                <a:cs typeface="Calibri"/>
                <a:sym typeface="Calibri"/>
              </a:rPr>
              <a:t>SOURCE AND SCOPE: Illustrative OWL fragment, verified with the OWL API (presentation/excerpts/slide03_target.omn).</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[1:48–2:26]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[2:26–2:50]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[2:50–3:22]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[3:22–3:59]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[3:59–4:41]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[4:41–5:22]  SPOKEN SCRIPT (72 words)</a:t>
            </a:r>
          </a:p>
          <a:p>
            <a:r>
              <a:t>Step four: generate. One prompt combines the seed, the retrieved context and our enrichment instructions. The Gen-LLM returns a delta ontology. Read the code from top to bottom. The foreign key is now a named relation, hasPatientData, from the schema. BM_DEP gets its label, and ECOG its scale, both from the documentation. And provenance links ecog_stage back to its source column. The tags on the right show which evidence informed each part.</a:t>
            </a:r>
          </a:p>
          <a:p/>
          <a:p>
            <a:r>
              <a:t>PRESENTER / POINTER: Top to bottom through the code; touch each evidence tag.</a:t>
            </a:r>
          </a:p>
          <a:p>
            <a:r>
              <a:t>AUDIENCE TAKEAWAY: The LLM enriches a grounded draft, and every addition is traceable.</a:t>
            </a:r>
          </a:p>
          <a:p>
            <a:r>
              <a:t>SOURCE AND SCOPE: Paper Sections 3.3-3.4. Illustrative fragment,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[5:22–6:16]  SPOKEN SCRIPT (94 words)</a:t>
            </a:r>
          </a:p>
          <a:p>
            <a:r>
              <a:t>But LLMs make plausible mistakes, so step five validates every delta before it is merged. Here are two illustrative errors. On the left, the ECOG scale is reversed. That is perfectly valid OWL, so only a semantic check catches it: a Judge-LLM compares it with the retrieved documentation. On the right, the foreign key became a data property. Merged with our seed, that is no longer valid OWL 2 DL, because patient_id would be both kinds of property. Rule-based graph checks catch this. Failed fragments go back for correction, with up to two retries.</a:t>
            </a:r>
          </a:p>
          <a:p/>
          <a:p>
            <a:r>
              <a:t>PRESENTER / POINTER: Left error, right error, then the correction strip. Say 'illustrative'.</a:t>
            </a:r>
          </a:p>
          <a:p>
            <a:r>
              <a:t>AUDIENCE TAKEAWAY: Semantic and structural checks are complementary.</a:t>
            </a:r>
          </a:p>
          <a:p>
            <a:r>
              <a:t>SOURCE AND SCOPE: Paper Section 3.5. The OWL 2 DL claim is verified: presentation/excerpts/slide10_wrong_fk_merged_with_seed.omn fails the DL profile check.</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[6:16–6:44]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[6:44–6:54]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[6:54–7:02]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[7:02–7:11]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[7:11–7:17]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[7:17–7:23]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[7:23–7:35]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[7:35–8:10]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[10:09–10:56]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[8:10–9:05]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[9:05–10:09]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[10:56–11:51]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[11:51–12:24]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1" name="Google Shape;21;p1"/>
          <p:cNvSpPr txBox="1"/>
          <p:nvPr/>
        </p:nvSpPr>
        <p:spPr>
          <a:xfrm>
            <a:off x="795528" y="585216"/>
            <a:ext cx="88696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ISWC 2026  /  RESEARCH PAPER</a:t>
            </a:r>
            <a:endParaRPr/>
          </a:p>
        </p:txBody>
      </p:sp>
      <p:sp>
        <p:nvSpPr>
          <p:cNvPr id="22" name="Google Shape;22;p1"/>
          <p:cNvSpPr txBox="1"/>
          <p:nvPr/>
        </p:nvSpPr>
        <p:spPr>
          <a:xfrm>
            <a:off x="795528" y="2267692"/>
            <a:ext cx="79554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1F2328"/>
                </a:solidFill>
                <a:latin typeface="Cambria"/>
                <a:ea typeface="Calibri"/>
                <a:cs typeface="Calibri"/>
                <a:sym typeface="Calibri"/>
              </a:rPr>
              <a:t>Retrieval-Augmented</a:t>
            </a:r>
            <a:endParaRPr/>
          </a:p>
          <a:p>
            <a:pPr indent="0" lvl="0" marL="0" marR="0" rtl="0" algn="l">
              <a:lnSpc>
                <a:spcPct val="100000"/>
              </a:lnSpc>
              <a:spcBef>
                <a:spcPts val="0"/>
              </a:spcBef>
              <a:spcAft>
                <a:spcPts val="0"/>
              </a:spcAft>
              <a:buNone/>
            </a:pPr>
            <a:r>
              <a:rPr b="1" i="0" lang="en-US" sz="3300" u="none" cap="none" strike="noStrike">
                <a:solidFill>
                  <a:srgbClr val="1F2328"/>
                </a:solidFill>
                <a:latin typeface="Cambria"/>
                <a:ea typeface="Calibri"/>
                <a:cs typeface="Calibri"/>
                <a:sym typeface="Calibri"/>
              </a:rPr>
              <a:t>Generation of Ontologies</a:t>
            </a:r>
            <a:endParaRPr/>
          </a:p>
          <a:p>
            <a:pPr indent="0" lvl="0" marL="0" marR="0" rtl="0" algn="l">
              <a:lnSpc>
                <a:spcPct val="100000"/>
              </a:lnSpc>
              <a:spcBef>
                <a:spcPts val="0"/>
              </a:spcBef>
              <a:spcAft>
                <a:spcPts val="0"/>
              </a:spcAft>
              <a:buNone/>
            </a:pPr>
            <a:r>
              <a:rPr b="1" i="0" lang="en-US" sz="3300" u="none" cap="none" strike="noStrike">
                <a:solidFill>
                  <a:srgbClr val="1F2328"/>
                </a:solidFill>
                <a:latin typeface="Cambria"/>
                <a:ea typeface="Calibri"/>
                <a:cs typeface="Calibri"/>
                <a:sym typeface="Calibri"/>
              </a:rPr>
              <a:t>from Relati</a:t>
            </a:r>
            <a:r>
              <a:rPr b="1" i="0" lang="en-US" sz="3300" u="none" cap="none" strike="noStrike">
                <a:solidFill>
                  <a:srgbClr val="1F2328"/>
                </a:solidFill>
                <a:latin typeface="Cambria"/>
                <a:ea typeface="Calibri"/>
                <a:cs typeface="Calibri"/>
                <a:sym typeface="Calibri"/>
              </a:rPr>
              <a:t>o</a:t>
            </a:r>
            <a:r>
              <a:rPr b="1" i="0" lang="en-US" sz="3300" u="none" cap="none" strike="noStrike">
                <a:solidFill>
                  <a:srgbClr val="1F2328"/>
                </a:solidFill>
                <a:latin typeface="Cambria"/>
                <a:ea typeface="Calibri"/>
                <a:cs typeface="Calibri"/>
                <a:sym typeface="Calibri"/>
              </a:rPr>
              <a:t>nal Databases</a:t>
            </a:r>
            <a:endParaRPr/>
          </a:p>
        </p:txBody>
      </p:sp>
      <p:sp>
        <p:nvSpPr>
          <p:cNvPr id="23" name="Google Shape;23;p1"/>
          <p:cNvSpPr txBox="1"/>
          <p:nvPr/>
        </p:nvSpPr>
        <p:spPr>
          <a:xfrm>
            <a:off x="795463" y="5359389"/>
            <a:ext cx="8869800" cy="615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600" u="none" cap="none" strike="noStrike">
                <a:solidFill>
                  <a:srgbClr val="1F2328"/>
                </a:solidFill>
                <a:latin typeface="Calibri"/>
                <a:ea typeface="Calibri"/>
                <a:cs typeface="Calibri"/>
                <a:sym typeface="Calibri"/>
              </a:rPr>
              <a:t>Nadeen Fathallah</a:t>
            </a:r>
            <a:r>
              <a:rPr b="0" i="0" lang="en-US" sz="1600" u="none" cap="none" strike="noStrike">
                <a:solidFill>
                  <a:srgbClr val="1F2328"/>
                </a:solidFill>
                <a:latin typeface="Calibri"/>
                <a:ea typeface="Calibri"/>
                <a:cs typeface="Calibri"/>
                <a:sym typeface="Calibri"/>
              </a:rPr>
              <a:t>¹ · Mojtaba Nayyeri¹ · Athish A Yogi¹ · Ratan Bahadur Thapa¹ · Hans-Michael Tautenhahn³ · Anton Schnurpel³ · Steffen Staab¹,²</a:t>
            </a:r>
            <a:endParaRPr sz="1600">
              <a:solidFill>
                <a:srgbClr val="1F2328"/>
              </a:solidFill>
            </a:endParaRPr>
          </a:p>
        </p:txBody>
      </p:sp>
      <p:sp>
        <p:nvSpPr>
          <p:cNvPr id="24" name="Google Shape;24;p1"/>
          <p:cNvSpPr txBox="1"/>
          <p:nvPr/>
        </p:nvSpPr>
        <p:spPr>
          <a:xfrm>
            <a:off x="695411" y="6109694"/>
            <a:ext cx="108357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600" u="none" cap="none" strike="noStrike">
                <a:solidFill>
                  <a:srgbClr val="1F2328"/>
                </a:solidFill>
                <a:latin typeface="Calibri"/>
                <a:ea typeface="Calibri"/>
                <a:cs typeface="Calibri"/>
                <a:sym typeface="Calibri"/>
              </a:rPr>
              <a:t>¹ University of Stuttgart   ·   ² University of Southampton   ·   ³ Universitätsklinikum Leipzig</a:t>
            </a:r>
            <a:endParaRPr sz="1600">
              <a:solidFill>
                <a:srgbClr val="1F2328"/>
              </a:solidFill>
            </a:endParaRPr>
          </a:p>
        </p:txBody>
      </p:sp>
      <p:sp>
        <p:nvSpPr>
          <p:cNvPr id="25" name="Google Shape;25;p1"/>
          <p:cNvSpPr txBox="1"/>
          <p:nvPr/>
        </p:nvSpPr>
        <p:spPr>
          <a:xfrm>
            <a:off x="795528" y="6482195"/>
            <a:ext cx="106986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600">
                <a:solidFill>
                  <a:srgbClr val="1F2328"/>
                </a:solidFill>
                <a:latin typeface="Consolas"/>
                <a:ea typeface="Consolas"/>
                <a:cs typeface="Consolas"/>
                <a:sym typeface="Consolas"/>
              </a:rPr>
              <a:t>Paper: </a:t>
            </a:r>
            <a:r>
              <a:rPr b="0" i="0" lang="en-US" sz="1600" u="none" cap="none" strike="noStrike">
                <a:solidFill>
                  <a:srgbClr val="1F2328"/>
                </a:solidFill>
                <a:latin typeface="Consolas"/>
                <a:ea typeface="Consolas"/>
                <a:cs typeface="Consolas"/>
                <a:sym typeface="Consolas"/>
              </a:rPr>
              <a:t>arXiv:2506.01232  ·  Code</a:t>
            </a:r>
            <a:r>
              <a:rPr lang="en-US" sz="1600">
                <a:solidFill>
                  <a:srgbClr val="1F2328"/>
                </a:solidFill>
                <a:latin typeface="Consolas"/>
                <a:ea typeface="Consolas"/>
                <a:cs typeface="Consolas"/>
                <a:sym typeface="Consolas"/>
              </a:rPr>
              <a:t>: </a:t>
            </a:r>
            <a:r>
              <a:rPr b="0" i="0" lang="en-US" sz="1600" u="none" cap="none" strike="noStrike">
                <a:solidFill>
                  <a:srgbClr val="1F2328"/>
                </a:solidFill>
                <a:latin typeface="Consolas"/>
                <a:ea typeface="Consolas"/>
                <a:cs typeface="Consolas"/>
                <a:sym typeface="Consolas"/>
              </a:rPr>
              <a:t>github.com/NadeenAhmad/RIGOR</a:t>
            </a:r>
            <a:endParaRPr sz="1600">
              <a:solidFill>
                <a:srgbClr val="1F2328"/>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6721972" y="793871"/>
            <a:ext cx="4433648" cy="3965047"/>
          </a:xfrm>
          <a:prstGeom prst="rect">
            <a:avLst/>
          </a:prstGeom>
          <a:noFill/>
          <a:ln>
            <a:noFill/>
          </a:ln>
        </p:spPr>
      </p:pic>
      <p:sp>
        <p:nvSpPr>
          <p:cNvPr id="27" name="Google Shape;27;p1"/>
          <p:cNvSpPr txBox="1"/>
          <p:nvPr/>
        </p:nvSpPr>
        <p:spPr>
          <a:xfrm>
            <a:off x="6350050" y="4377934"/>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rgbClr val="1F2328"/>
                </a:solidFill>
                <a:latin typeface="Consolas"/>
                <a:ea typeface="Consolas"/>
                <a:cs typeface="Consolas"/>
                <a:sym typeface="Consolas"/>
              </a:rPr>
              <a:t>Relational Database</a:t>
            </a:r>
            <a:endParaRPr sz="1761">
              <a:solidFill>
                <a:srgbClr val="1F2328"/>
              </a:solidFill>
            </a:endParaRPr>
          </a:p>
        </p:txBody>
      </p:sp>
      <p:sp>
        <p:nvSpPr>
          <p:cNvPr id="28" name="Google Shape;28;p1"/>
          <p:cNvSpPr txBox="1"/>
          <p:nvPr/>
        </p:nvSpPr>
        <p:spPr>
          <a:xfrm>
            <a:off x="9011081" y="4649040"/>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rgbClr val="1F2328"/>
                </a:solidFill>
                <a:latin typeface="Consolas"/>
                <a:ea typeface="Consolas"/>
                <a:cs typeface="Consolas"/>
                <a:sym typeface="Consolas"/>
              </a:rPr>
              <a:t>Ontology</a:t>
            </a:r>
            <a:endParaRPr sz="1761">
              <a:solidFill>
                <a:srgbClr val="1F232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Some errors are plausible—and still wrong.</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Semantic errors and structural errors require complementary checks before merging.</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ECOG documentation: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0" i="0" dirty="0">
                <a:solidFill>
                  <a:srgbClr val="B23A1E"/>
                </a:solidFill>
                <a:latin typeface="Consolas"/>
                <a:cs typeface="Consolas"/>
              </a:rPr>
              <a:t xml:space="preserve">rdfs:comment</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"ECOG 0 = dead … 5 = fully active"@en</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The ontology may be syntactically valid,
but contradicts the retrieved clinical scale.</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Generated foreign-key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DataProperty: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patient_id</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xsd:integer</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The schema identifies patient_id as an FK;
it requires an object-property link.</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0" i="0" dirty="0">
                <a:solidFill>
                  <a:srgbClr val="5B6770"/>
                </a:solidFill>
                <a:latin typeface="Consolas"/>
                <a:cs typeface="Consolas"/>
              </a:rPr>
              <a:t xml:space="preserve">rdfs:comment</a:t>
            </a:r>
            <a:r>
              <a:rPr lang="en-US" sz="1200" b="0" i="0" dirty="0">
                <a:solidFill>
                  <a:srgbClr val="1F2328"/>
                </a:solidFill>
                <a:latin typeface="Consolas"/>
                <a:cs typeface="Consolas"/>
              </a:rPr>
              <a:t xml:space="preserve"> </a:t>
            </a:r>
            <a:r>
              <a:rPr lang="en-US" sz="1200" b="0" i="0" dirty="0">
                <a:solidFill>
                  <a:srgbClr val="A3401E"/>
                </a:solidFill>
                <a:latin typeface="Consolas"/>
                <a:cs typeface="Consolas"/>
              </a:rPr>
              <a:t xml:space="preserve">"ECOG 0 = fully active … 5 = dead"@en</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patient_id</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ERRORS, NOT OBSERVED OUTPUTS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77A55"/>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77A55"/>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77A55"/>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77A55"/>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77A55"/>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77A55"/>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77A55"/>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2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200" b="1">
                <a:solidFill>
                  <a:srgbClr val="2F6B78"/>
                </a:solidFill>
                <a:latin typeface="Calibri"/>
              </a:rPr>
              <a:t>COLUMNS KEPT</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final schema coverage</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200" b="1">
                <a:solidFill>
                  <a:srgbClr val="2F6B78"/>
                </a:solidFill>
                <a:latin typeface="Calibri"/>
              </a:rPr>
              <a:t>LABELS &amp; COMMENTS</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200" b="1">
                <a:solidFill>
                  <a:srgbClr val="2F6B78"/>
                </a:solidFill>
                <a:latin typeface="Calibri"/>
              </a:rPr>
              <a:t>HIERARCHY + PROVENANCE</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0.78–0.99</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6B747B"/>
                </a:solidFill>
                <a:latin typeface="Calibri"/>
              </a:rPr>
              <a:t>0 / 3</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6B747B"/>
                </a:solidFill>
                <a:latin typeface="Calibri"/>
              </a:rPr>
              <a:t>0 / 3</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0.31–1.00</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6B747B"/>
                </a:solidFill>
                <a:latin typeface="Calibri"/>
              </a:rPr>
              <a:t>0 / 9</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6B747B"/>
                </a:solidFill>
                <a:latin typeface="Calibri"/>
              </a:rPr>
              <a:t>0 / 9</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1">
                <a:solidFill>
                  <a:srgbClr val="B23A1E"/>
                </a:solidFill>
                <a:latin typeface="Calibri"/>
              </a:rPr>
              <a:t>0.06–0.78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9 / 9</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6B747B"/>
                </a:solidFill>
                <a:latin typeface="Calibri"/>
              </a:rPr>
              <a:t>0 / 9</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0.77–1.00</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Marker 965" descr="absent"/>
          <p:cNvSpPr/>
          <p:nvPr/>
        </p:nvSpPr>
        <p:spPr>
          <a:xfrm>
            <a:off x="6935723" y="2651760"/>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997" name="Marker 967" descr="absent"/>
          <p:cNvSpPr/>
          <p:nvPr/>
        </p:nvSpPr>
        <p:spPr>
          <a:xfrm>
            <a:off x="9587483" y="2651760"/>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998" name="Marker 973" descr="absent"/>
          <p:cNvSpPr/>
          <p:nvPr/>
        </p:nvSpPr>
        <p:spPr>
          <a:xfrm>
            <a:off x="6935723" y="331012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999" name="Marker 975" descr="absent"/>
          <p:cNvSpPr/>
          <p:nvPr/>
        </p:nvSpPr>
        <p:spPr>
          <a:xfrm>
            <a:off x="9587483" y="331012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00" name="Marker 981" descr="present"/>
          <p:cNvSpPr/>
          <p:nvPr/>
        </p:nvSpPr>
        <p:spPr>
          <a:xfrm>
            <a:off x="6935723" y="3968496"/>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1" name="Marker 983" descr="absent"/>
          <p:cNvSpPr/>
          <p:nvPr/>
        </p:nvSpPr>
        <p:spPr>
          <a:xfrm>
            <a:off x="9587483" y="396849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02" name="Marker 989" descr="present"/>
          <p:cNvSpPr/>
          <p:nvPr/>
        </p:nvSpPr>
        <p:spPr>
          <a:xfrm>
            <a:off x="693572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3" name="Marker 991" descr="present"/>
          <p:cNvSpPr/>
          <p:nvPr/>
        </p:nvSpPr>
        <p:spPr>
          <a:xfrm>
            <a:off x="958748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0B6E4F"/>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1F2328"/>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2F6B78"/>
                </a:solidFill>
                <a:latin typeface="Cambria"/>
              </a:rPr>
              <a:t>Questions?</a:t>
            </a:r>
          </a:p>
        </p:txBody>
      </p:sp>
      <p:sp>
        <p:nvSpPr>
          <p:cNvPr id="1039" name="Rounded Rectangle 1038"/>
          <p:cNvSpPr/>
          <p:nvPr/>
        </p:nvSpPr>
        <p:spPr>
          <a:xfrm>
            <a:off x="822960" y="2532888"/>
            <a:ext cx="7114032" cy="2560320"/>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2F6B78"/>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1F2328"/>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5B6770"/>
                </a:solidFill>
                <a:latin typeface="Consolas"/>
              </a:rPr>
              <a:t>patient_id  FK</a:t>
            </a:r>
          </a:p>
        </p:txBody>
      </p:sp>
      <p:sp>
        <p:nvSpPr>
          <p:cNvPr id="1044" name="Chevron 1043"/>
          <p:cNvSpPr/>
          <p:nvPr/>
        </p:nvSpPr>
        <p:spPr>
          <a:xfrm>
            <a:off x="3282696" y="3483864"/>
            <a:ext cx="621792" cy="411480"/>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0B6E4F"/>
                </a:solidFill>
                <a:latin typeface="Consolas"/>
              </a:rPr>
              <a:t>RIGOR</a:t>
            </a:r>
          </a:p>
        </p:txBody>
      </p:sp>
      <p:sp>
        <p:nvSpPr>
          <p:cNvPr id="1046" name="Rounded Rectangle 1045"/>
          <p:cNvSpPr/>
          <p:nvPr/>
        </p:nvSpPr>
        <p:spPr>
          <a:xfrm>
            <a:off x="4206240" y="3264408"/>
            <a:ext cx="3383280"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1F2328"/>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5B677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1F2328"/>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2F6B78"/>
                </a:solidFill>
                <a:latin typeface="Consolas"/>
              </a:rPr>
              <a:t>PAPER + OPEN SOURCE</a:t>
            </a:r>
          </a:p>
        </p:txBody>
      </p:sp>
      <p:pic>
        <p:nvPicPr>
          <p:cNvPr id="1052" name="Picture 1051" descr="QR code: https://arxiv.org/abs/2506.01232 (paper)"/>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Paper</a:t>
            </a:r>
          </a:p>
        </p:txBody>
      </p:sp>
      <p:pic>
        <p:nvPicPr>
          <p:cNvPr id="1054" name="Picture 1053" descr="QR code: https://github.com/NadeenAhmad/RIGOR (code)"/>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GitHub</a:t>
            </a:r>
          </a:p>
        </p:txBody>
      </p:sp>
      <p:cxnSp>
        <p:nvCxnSpPr>
          <p:cNvPr id="1056" name="Connector 1055"/>
          <p:cNvCxnSpPr/>
          <p:nvPr/>
        </p:nvCxnSpPr>
        <p:spPr>
          <a:xfrm>
            <a:off x="832104" y="5660136"/>
            <a:ext cx="10488168" cy="0"/>
          </a:xfrm>
          <a:prstGeom prst="line">
            <a:avLst/>
          </a:prstGeom>
          <a:ln w="12700">
            <a:solidFill>
              <a:srgbClr val="D9DEDB"/>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1F2328"/>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5B677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the LLM judge still ranked RIGOR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