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5" r:id="rId24"/>
    <p:sldId id="276" r:id="rId25"/>
    <p:sldId id="274" r:id="rId23"/>
    <p:sldId id="277" r:id="rId26"/>
    <p:sldId id="278" r:id="rId27"/>
    <p:sldId id="279" r:id="rId37"/>
    <p:sldId id="280" r:id="rId38"/>
    <p:sldId id="281" r:id="rId39"/>
    <p:sldId id="282" r:id="rId40"/>
    <p:sldId id="283" r:id="rId41"/>
    <p:sldId id="284" r:id="rId42"/>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iSAKVMm4+QvifYUYUK20LMzWgfy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36" Type="http://customschemas.google.com/relationships/presentationmetadata" Target="metadata"/>  <Relationship Id="rId37" Type="http://schemas.openxmlformats.org/officeDocument/2006/relationships/slide" Target="slides/slide24.xml"/>
  <Relationship Id="rId38" Type="http://schemas.openxmlformats.org/officeDocument/2006/relationships/slide" Target="slides/slide25.xml"/>
  <Relationship Id="rId39" Type="http://schemas.openxmlformats.org/officeDocument/2006/relationships/slide" Target="slides/slide26.xml"/>
  <Relationship Id="rId40" Type="http://schemas.openxmlformats.org/officeDocument/2006/relationships/slide" Target="slides/slide27.xml"/>
  <Relationship Id="rId41" Type="http://schemas.openxmlformats.org/officeDocument/2006/relationships/slide" Target="slides/slide28.xml"/>
  <Relationship Id="rId42" Type="http://schemas.openxmlformats.org/officeDocument/2006/relationships/slide" Target="slides/slide2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[0:00–0:25]  SPOKEN SCRIPT (43 words)</a:t>
            </a:r>
          </a:p>
          <a:p>
            <a:r>
              <a:rPr lang="en-US" sz="1200">
                <a:solidFill>
                  <a:schemeClr val="dk1"/>
                </a:solidFill>
                <a:latin typeface="Calibri"/>
                <a:ea typeface="Calibri"/>
                <a:cs typeface="Calibri"/>
                <a:sym typeface="Calibri"/>
              </a:rPr>
              <a:t>Good morning. I'm Nadeen Fathallah, from the University of Stuttgart. Relational databases run hospitals, banks and governments. But their schemas tell us how data is stored, not what it means. This talk is about RIGOR: turning those schemas into rich OWL ontologies, automatically.</a:t>
            </a:r>
          </a:p>
          <a:p/>
          <a:p>
            <a:r>
              <a:rPr lang="en-US" sz="1200">
                <a:solidFill>
                  <a:schemeClr val="dk1"/>
                </a:solidFill>
                <a:latin typeface="Calibri"/>
                <a:ea typeface="Calibri"/>
                <a:cs typeface="Calibri"/>
                <a:sym typeface="Calibri"/>
              </a:rPr>
              <a:t>PRESENTER / POINTER: Calm, slow start. Do not read the author list.</a:t>
            </a:r>
          </a:p>
          <a:p>
            <a:r>
              <a:rPr lang="en-US" sz="1200">
                <a:solidFill>
                  <a:schemeClr val="dk1"/>
                </a:solidFill>
                <a:latin typeface="Calibri"/>
                <a:ea typeface="Calibri"/>
                <a:cs typeface="Calibri"/>
                <a:sym typeface="Calibri"/>
              </a:rPr>
              <a:t>AUDIENCE TAKEAWAY: Schemas store data, not meaning.</a:t>
            </a:r>
          </a:p>
          <a:p>
            <a:r>
              <a:rPr lang="en-US" sz="1200">
                <a:solidFill>
                  <a:schemeClr val="dk1"/>
                </a:solidFill>
                <a:latin typeface="Calibri"/>
                <a:ea typeface="Calibri"/>
                <a:cs typeface="Calibri"/>
                <a:sym typeface="Calibri"/>
              </a:rPr>
              <a:t>SOURCE AND SCOPE: Paper Section 1.</a:t>
            </a: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[0:25–1:07]  SPOKEN SCRIPT (74 words)</a:t>
            </a:r>
          </a:p>
          <a:p>
            <a:r>
              <a:t>Imagine you inherit this clinical database. Admission points to PatientData through a foreign key. That link is clear. But look at the columns. What is BM_DEP? What does an ECOG stage of three mean? The schema cannot tell you. Yet these meanings are exactly what ontology-based access, knowledge graphs and data integration need. So our problem is not reading the SQL. It is recovering the domain meaning, while keeping the structure we can trust.</a:t>
            </a:r>
          </a:p>
          <a:p/>
          <a:p>
            <a:r>
              <a:t>PRESENTER / POINTER: Point at the FK arrow, then BM_DEP, then ecog_stage. Let the questions hang for a second.</a:t>
            </a:r>
          </a:p>
          <a:p>
            <a:r>
              <a:t>AUDIENCE TAKEAWAY: The schema knows storage and links, not clinical meaning.</a:t>
            </a:r>
          </a:p>
          <a:p>
            <a:r>
              <a:t>SOURCE AND SCOPE: Illustrative table assembled from examples in paper Sections 3.2 and 3.4.</a:t>
            </a: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[1:07–1:59]  SPOKEN SCRIPT (91 words)</a:t>
            </a:r>
          </a:p>
          <a:p>
            <a:r>
              <a:rPr lang="en-US" sz="1200">
                <a:solidFill>
                  <a:schemeClr val="dk1"/>
                </a:solidFill>
                <a:latin typeface="Calibri"/>
                <a:ea typeface="Calibri"/>
                <a:cs typeface="Calibri"/>
                <a:sym typeface="Calibri"/>
              </a:rPr>
              <a:t>Here is what we want. [click] First, what the schema alone gives us: Admission becomes a class with a real relation to PatientData, and every property points back to its source column. [click] The documentation adds human-readable labels: Bone Marrow Depression, ECOG Performance Status. [click] A standard vocabulary adds a link to the Disease Ontology. [click] And the LLM's own knowledge adds what the ECOG codes mean, and that an admission is not a patient. [click] That is a usable semantic model. The challenge is to add all this without losing a single column or link.</a:t>
            </a:r>
          </a:p>
          <a:p/>
          <a:p>
            <a:r>
              <a:rPr lang="en-US" sz="1200">
                <a:solidFill>
                  <a:schemeClr val="dk1"/>
                </a:solidFill>
                <a:latin typeface="Calibri"/>
                <a:ea typeface="Calibri"/>
                <a:cs typeface="Calibri"/>
                <a:sym typeface="Calibri"/>
              </a:rPr>
              <a:t>PRESENTER / POINTER: Five clicks, one per knowledge source: schema, documentation, Disease Ontology, LLM knowledge, then 'What this enables'. The gloss colours match the sources.</a:t>
            </a:r>
          </a:p>
          <a:p>
            <a:r>
              <a:rPr lang="en-US" sz="1200">
                <a:solidFill>
                  <a:schemeClr val="dk1"/>
                </a:solidFill>
                <a:latin typeface="Calibri"/>
                <a:ea typeface="Calibri"/>
                <a:cs typeface="Calibri"/>
                <a:sym typeface="Calibri"/>
              </a:rPr>
              <a:t>AUDIENCE TAKEAWAY: A usable model combines schema, documentation, standard vocabularies and LLM knowledge.</a:t>
            </a:r>
          </a:p>
          <a:p>
            <a:r>
              <a:rPr lang="en-US" sz="1200">
                <a:solidFill>
                  <a:schemeClr val="dk1"/>
                </a:solidFill>
                <a:latin typeface="Calibri"/>
                <a:ea typeface="Calibri"/>
                <a:cs typeface="Calibri"/>
                <a:sym typeface="Calibri"/>
              </a:rPr>
              <a:t>SOURCE AND SCOPE: Illustrative fragment, verified with the OWL API at every reveal step (presentation/excerpts/slide03_*.omn). obo:DOID_4961 = Disease Ontology 'bone marrow disease'; skos:relatedMatch, not exactMatch, because BM_DEP is a yes/no column, not the disease. Provenance is column-level, as defined in paper Section 3.2.</a:t>
            </a:r>
          </a:p>
        </p:txBody>
      </p:sp>
      <p:sp>
        <p:nvSpPr>
          <p:cNvPr id="73" name="Google Shape;7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[1:59–2:37]  SPOKEN SCRIPT (66 words)</a:t>
            </a:r>
          </a:p>
          <a:p>
            <a:r>
              <a:rPr lang="en-US" sz="1200">
                <a:solidFill>
                  <a:schemeClr val="dk1"/>
                </a:solidFill>
                <a:latin typeface="Calibri"/>
                <a:ea typeface="Calibri"/>
                <a:cs typeface="Calibri"/>
                <a:sym typeface="Calibri"/>
              </a:rPr>
              <a:t>Existing work solves half of this. Schema-first rules, like direct mapping, preserve the structure: every table, column and foreign key. But they add no domain meaning. LLMs can suggest meaning: labels, concepts, relations. But they omit columns, or model keys wrongly. So our question is: can we keep schema fidelity and add domain semantics, across a whole database, with no expert in the loop during generation?</a:t>
            </a:r>
          </a:p>
          <a:p/>
          <a:p>
            <a:r>
              <a:rPr lang="en-US" sz="1200">
                <a:solidFill>
                  <a:schemeClr val="dk1"/>
                </a:solidFill>
                <a:latin typeface="Calibri"/>
                <a:ea typeface="Calibri"/>
                <a:cs typeface="Calibri"/>
                <a:sym typeface="Calibri"/>
              </a:rPr>
              <a:t>PRESENTER / POINTER: Left card, right card, then land on the question.</a:t>
            </a:r>
          </a:p>
          <a:p>
            <a:r>
              <a:rPr lang="en-US" sz="1200">
                <a:solidFill>
                  <a:schemeClr val="dk1"/>
                </a:solidFill>
                <a:latin typeface="Calibri"/>
                <a:ea typeface="Calibri"/>
                <a:cs typeface="Calibri"/>
                <a:sym typeface="Calibri"/>
              </a:rPr>
              <a:t>AUDIENCE TAKEAWAY: Rules keep structure; LLMs suggest meaning; we need both.</a:t>
            </a:r>
          </a:p>
          <a:p>
            <a:r>
              <a:rPr lang="en-US" sz="1200">
                <a:solidFill>
                  <a:schemeClr val="dk1"/>
                </a:solidFill>
                <a:latin typeface="Calibri"/>
                <a:ea typeface="Calibri"/>
                <a:cs typeface="Calibri"/>
                <a:sym typeface="Calibri"/>
              </a:rPr>
              <a:t>SOURCE AND SCOPE: Paper Sections 1-2. References on the slide (all cited in paper Section 2): Direct Mapping [Arenas 2012; Sequeda 2012], BootOX [ISWC 2015], Ben Mahria et al. 2021, RODI [SWJ 2017]; LLMs4OL [ISWC 2023], Mateiu &amp; Groza 2023, OntoGenix 2025, LLM4VKG [IJCAI 2025]. BURR deliberately not cited here: its results do not show LLMs trailing rule-based systems.</a:t>
            </a:r>
          </a:p>
        </p:txBody>
      </p:sp>
      <p:sp>
        <p:nvSpPr>
          <p:cNvPr id="107" name="Google Shape;10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[2:37–3:01]  SPOKEN SCRIPT (42 words)</a:t>
            </a:r>
          </a:p>
          <a:p>
            <a:r>
              <a:rPr lang="en-US" sz="1200">
                <a:solidFill>
                  <a:schemeClr val="dk1"/>
                </a:solidFill>
                <a:latin typeface="Calibri"/>
                <a:ea typeface="Calibri"/>
                <a:cs typeface="Calibri"/>
                <a:sym typeface="Calibri"/>
              </a:rPr>
              <a:t>Our answer is RIGOR. It builds the ontology one table at a time, in six steps: order, seed, retrieve, generate, validate, merge. And as a preview: experts ranked it first in seventy percent of their rankings. Let's build it on our example.</a:t>
            </a:r>
          </a:p>
          <a:p/>
          <a:p>
            <a:r>
              <a:rPr lang="en-US" sz="1200">
                <a:solidFill>
                  <a:schemeClr val="dk1"/>
                </a:solidFill>
                <a:latin typeface="Calibri"/>
                <a:ea typeface="Calibri"/>
                <a:cs typeface="Calibri"/>
                <a:sym typeface="Calibri"/>
              </a:rPr>
              <a:t>PRESENTER / POINTER: Sweep along the six steps. Point at the result preview once.</a:t>
            </a:r>
          </a:p>
          <a:p>
            <a:r>
              <a:rPr lang="en-US" sz="1200">
                <a:solidFill>
                  <a:schemeClr val="dk1"/>
                </a:solidFill>
                <a:latin typeface="Calibri"/>
                <a:ea typeface="Calibri"/>
                <a:cs typeface="Calibri"/>
                <a:sym typeface="Calibri"/>
              </a:rPr>
              <a:t>AUDIENCE TAKEAWAY: Six steps, one table at a time.</a:t>
            </a:r>
          </a:p>
          <a:p>
            <a:r>
              <a:rPr lang="en-US" sz="1200">
                <a:solidFill>
                  <a:schemeClr val="dk1"/>
                </a:solidFill>
                <a:latin typeface="Calibri"/>
                <a:ea typeface="Calibri"/>
                <a:cs typeface="Calibri"/>
                <a:sym typeface="Calibri"/>
              </a:rPr>
              <a:t>SOURCE AND SCOPE: Paper Section 3.1, Fig. 1; preview from Table 1.</a:t>
            </a:r>
          </a:p>
        </p:txBody>
      </p:sp>
      <p:sp>
        <p:nvSpPr>
          <p:cNvPr id="129" name="Google Shape;12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[3:01–3:33]  SPOKEN SCRIPT (56 words)</a:t>
            </a:r>
          </a:p>
          <a:p>
            <a:r>
              <a:rPr lang="en-US" sz="1200">
                <a:solidFill>
                  <a:schemeClr val="dk1"/>
                </a:solidFill>
                <a:latin typeface="Calibri"/>
                <a:ea typeface="Calibri"/>
                <a:cs typeface="Calibri"/>
                <a:sym typeface="Calibri"/>
              </a:rPr>
              <a:t>Step one: order. Admission points to PatientData, so we build PatientData first. In general, RIGOR follows the foreign keys breadth-first: a table is processed once the tables it references are done. Why? By the time we reach Admission, PatientData already exists in our ontology. So we reuse that class, instead of inventing a second, incompatible one.</a:t>
            </a:r>
          </a:p>
          <a:p/>
          <a:p>
            <a:r>
              <a:rPr lang="en-US" sz="1200">
                <a:solidFill>
                  <a:schemeClr val="dk1"/>
                </a:solidFill>
                <a:latin typeface="Calibri"/>
                <a:ea typeface="Calibri"/>
                <a:cs typeface="Calibri"/>
                <a:sym typeface="Calibri"/>
              </a:rPr>
              <a:t>PRESENTER / POINTER: Follow the FK arrow, then the processing order.</a:t>
            </a:r>
          </a:p>
          <a:p>
            <a:r>
              <a:rPr lang="en-US" sz="1200">
                <a:solidFill>
                  <a:schemeClr val="dk1"/>
                </a:solidFill>
                <a:latin typeface="Calibri"/>
                <a:ea typeface="Calibri"/>
                <a:cs typeface="Calibri"/>
                <a:sym typeface="Calibri"/>
              </a:rPr>
              <a:t>AUDIENCE TAKEAWAY: Parents first, so later tables reuse known classes.</a:t>
            </a:r>
          </a:p>
          <a:p>
            <a:r>
              <a:rPr lang="en-US" sz="1200">
                <a:solidFill>
                  <a:schemeClr val="dk1"/>
                </a:solidFill>
                <a:latin typeface="Calibri"/>
                <a:ea typeface="Calibri"/>
                <a:cs typeface="Calibri"/>
                <a:sym typeface="Calibri"/>
              </a:rPr>
              <a:t>SOURCE AND SCOPE: Paper Sections 3.1-3.2 (FK-guided breadth-first order).</a:t>
            </a:r>
          </a:p>
        </p:txBody>
      </p:sp>
      <p:sp>
        <p:nvSpPr>
          <p:cNvPr id="168" name="Google Shape;16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09" name="Google Shape;20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[3:33–4:10]  SPOKEN SCRIPT (66 words)</a:t>
            </a:r>
          </a:p>
          <a:p>
            <a:r>
              <a:t>Step two: seed. Before any LLM is involved, a deterministic direct mapping turns the table into OWL. Admission becomes a class. The foreign key becomes an object property, and every admission must have a patient. Each column becomes a data property with its XSD type. This seed covers every column of the cleaned table, by construction. So the LLM's job is to enrich, not to invent.</a:t>
            </a:r>
          </a:p>
          <a:p/>
          <a:p>
            <a:r>
              <a:t>PRESENTER / POINTER: Read the glosses: 'each has a patient', 'the FK becomes a link'.</a:t>
            </a:r>
          </a:p>
          <a:p>
            <a:r>
              <a:t>AUDIENCE TAKEAWAY: A deterministic seed guarantees coverage before the LLM starts.</a:t>
            </a:r>
          </a:p>
          <a:p>
            <a:r>
              <a:t>SOURCE AND SCOPE: Paper Section 3.2. The guarantee holds for the seed; final coverage is reported later.</a:t>
            </a:r>
          </a:p>
          <a:p>
            <a:r>
              <a:t>IF RUNNING LATE, DROP: "So the LLM's job is to enrich, not to invent."</a:t>
            </a:r>
          </a:p>
        </p:txBody>
      </p:sp>
      <p:sp>
        <p:nvSpPr>
          <p:cNvPr id="210" name="Google Shape;21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[4:10–4:52]  SPOKEN SCRIPT (73 words)</a:t>
            </a:r>
          </a:p>
          <a:p>
            <a:r>
              <a:rPr lang="en-US" sz="1200">
                <a:solidFill>
                  <a:schemeClr val="dk1"/>
                </a:solidFill>
                <a:latin typeface="Calibri"/>
                <a:ea typeface="Calibri"/>
                <a:cs typeface="Calibri"/>
                <a:sym typeface="Calibri"/>
              </a:rPr>
              <a:t>The seed is faithful, but it still doesn't say what BM_DEP means. So step three retrieves context from three sources. Documentation explains cryptic names and codes. External domain ontologies suggest established concepts. And the third source is the distinctive one: the ontology we have built so far. Earlier tables become evidence for the next. One query per table, built from its name, columns and foreign keys, retrieves the top three matches per source.</a:t>
            </a:r>
          </a:p>
          <a:p/>
          <a:p>
            <a:r>
              <a:rPr lang="en-US" sz="1200">
                <a:solidFill>
                  <a:schemeClr val="dk1"/>
                </a:solidFill>
                <a:latin typeface="Calibri"/>
                <a:ea typeface="Calibri"/>
                <a:cs typeface="Calibri"/>
                <a:sym typeface="Calibri"/>
              </a:rPr>
              <a:t>PRESENTER / POINTER: Walk the three cards; slow down on the growing core.</a:t>
            </a:r>
          </a:p>
          <a:p>
            <a:r>
              <a:rPr lang="en-US" sz="1200">
                <a:solidFill>
                  <a:schemeClr val="dk1"/>
                </a:solidFill>
                <a:latin typeface="Calibri"/>
                <a:ea typeface="Calibri"/>
                <a:cs typeface="Calibri"/>
                <a:sym typeface="Calibri"/>
              </a:rPr>
              <a:t>AUDIENCE TAKEAWAY: Three sources supply meaning; the growing core is unique to RIGOR.</a:t>
            </a:r>
          </a:p>
          <a:p>
            <a:r>
              <a:rPr lang="en-US" sz="1200">
                <a:solidFill>
                  <a:schemeClr val="dk1"/>
                </a:solidFill>
                <a:latin typeface="Calibri"/>
                <a:ea typeface="Calibri"/>
                <a:cs typeface="Calibri"/>
                <a:sym typeface="Calibri"/>
              </a:rPr>
              <a:t>SOURCE AND SCOPE: Paper Section 3.3 (all-MiniLM-L6-v2, Faiss, k = 3 per source).</a:t>
            </a:r>
          </a:p>
          <a:p>
            <a:r>
              <a:rPr lang="en-US" sz="1200">
                <a:solidFill>
                  <a:schemeClr val="dk1"/>
                </a:solidFill>
                <a:latin typeface="Calibri"/>
                <a:ea typeface="Calibri"/>
                <a:cs typeface="Calibri"/>
                <a:sym typeface="Calibri"/>
              </a:rPr>
              <a:t>IF RUNNING LATE, DROP: "One query per table, built from its name, columns and foreign keys, retrieves the top three matches per source."</a:t>
            </a:r>
          </a:p>
        </p:txBody>
      </p:sp>
      <p:sp>
        <p:nvSpPr>
          <p:cNvPr id="255" name="Google Shape;25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97" name="Google Shape;29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[4:52–5:39]  SPOKEN SCRIPT (83 words)</a:t>
            </a:r>
          </a:p>
          <a:p>
            <a:r>
              <a:t>Step four: generate. We prompt the Gen-LLM with the seed, the retrieved context and our enrichment instructions. What comes back is the fragment we set as our target on slide three. The tags on the right show where each part came from. The relation hasPatientData and the provenance links come from the schema. The labels come from the documentation. The link to bone marrow disease comes from the Disease Ontology. And the disjointness and the ECOG scale come from the model's own knowledge.</a:t>
            </a:r>
          </a:p>
          <a:p/>
          <a:p>
            <a:r>
              <a:t>PRESENTER / POINTER: Point at the tags from top to bottom: schema, docs, ontology, LLM.</a:t>
            </a:r>
          </a:p>
          <a:p>
            <a:r>
              <a:t>AUDIENCE TAKEAWAY: The LLM enriches a grounded draft, and every addition is traceable.</a:t>
            </a:r>
          </a:p>
          <a:p>
            <a:r>
              <a:t>SOURCE AND SCOPE: Paper Sections 3.3-3.4. Same fragment as slide 3, verified with the OWL API.</a:t>
            </a:r>
          </a:p>
        </p:txBody>
      </p:sp>
      <p:sp>
        <p:nvSpPr>
          <p:cNvPr id="298" name="Google Shape;29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36" name="Google Shape;33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[5:39–6:42]  SPOKEN SCRIPT (110 words)</a:t>
            </a:r>
          </a:p>
          <a:p>
            <a:r>
              <a:t>A capable LLM rarely gets syntax wrong. The real risk is a fragment that looks right but clashes with the ontology built so far. So step five validates every delta before it is merged. On the left, the model names the target class Patient, although the core already has PatientData. That is valid OWL, but now two classes mean the same thing. The Judge-LLM sees the core and asks to reuse it. On the right, a later table reuses hasPatientData with a second domain. OWL then infers that every lab result is an admission. Rule-based graph checks catch this. Failed fragments go back for correction, with up to two retries.</a:t>
            </a:r>
          </a:p>
          <a:p/>
          <a:p>
            <a:r>
              <a:t>PRESENTER / POINTER: Left, right, then the correction strip.</a:t>
            </a:r>
          </a:p>
          <a:p>
            <a:r>
              <a:t>AUDIENCE TAKEAWAY: The Judge catches clashes in meaning; rules catch clashes in structure.</a:t>
            </a:r>
          </a:p>
          <a:p>
            <a:r>
              <a:t>SOURCE AND SCOPE: Paper Section 3.5 (Judge criterion 9: core ontology consistency; graph check: domain/range cardinality). Two domains = OOPS! pitfall P19, still reported in 3/9 RIGOR runs (Table 7). Examples verified with the OWL API (presentation/excerpts/slide10_*.omn).</a:t>
            </a:r>
          </a:p>
          <a:p/>
          <a:p>
            <a:r>
              <a:t>IF ASKED: P19 is exactly the error that sometimes still slips through (3 of 9 runs); feeding validator output back into generation is our next step (slide 22).</a:t>
            </a:r>
          </a:p>
        </p:txBody>
      </p:sp>
      <p:sp>
        <p:nvSpPr>
          <p:cNvPr id="337" name="Google Shape;33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8" name="Google Shape;37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[6:42–7:10]  SPOKEN SCRIPT (49 words)</a:t>
            </a:r>
          </a:p>
          <a:p>
            <a:r>
              <a:rPr lang="en-US" sz="1200">
                <a:solidFill>
                  <a:schemeClr val="dk1"/>
                </a:solidFill>
                <a:latin typeface="Calibri"/>
                <a:ea typeface="Calibri"/>
                <a:cs typeface="Calibri"/>
                <a:sym typeface="Calibri"/>
              </a:rPr>
              <a:t>Step six: merge. The validated delta joins the core ontology. Because RIGOR reuses identifiers, this is a simple union of axioms. And here is the loop. The expanded ontology becomes a retrieval source for the next table. RIGOR never starts from scratch: each table builds on the ones before.</a:t>
            </a:r>
          </a:p>
          <a:p/>
          <a:p>
            <a:r>
              <a:rPr lang="en-US" sz="1200">
                <a:solidFill>
                  <a:schemeClr val="dk1"/>
                </a:solidFill>
                <a:latin typeface="Calibri"/>
                <a:ea typeface="Calibri"/>
                <a:cs typeface="Calibri"/>
                <a:sym typeface="Calibri"/>
              </a:rPr>
              <a:t>PRESENTER / POINTER: Core plus delta, then the arrow back to retrieval.</a:t>
            </a:r>
          </a:p>
          <a:p>
            <a:r>
              <a:rPr lang="en-US" sz="1200">
                <a:solidFill>
                  <a:schemeClr val="dk1"/>
                </a:solidFill>
                <a:latin typeface="Calibri"/>
                <a:ea typeface="Calibri"/>
                <a:cs typeface="Calibri"/>
                <a:sym typeface="Calibri"/>
              </a:rPr>
              <a:t>AUDIENCE TAKEAWAY: The ontology is both the output and the next input.</a:t>
            </a:r>
          </a:p>
          <a:p>
            <a:r>
              <a:rPr lang="en-US" sz="1200">
                <a:solidFill>
                  <a:schemeClr val="dk1"/>
                </a:solidFill>
                <a:latin typeface="Calibri"/>
                <a:ea typeface="Calibri"/>
                <a:cs typeface="Calibri"/>
                <a:sym typeface="Calibri"/>
              </a:rPr>
              <a:t>SOURCE AND SCOPE: Paper Section 3.6.</a:t>
            </a:r>
          </a:p>
        </p:txBody>
      </p:sp>
      <p:sp>
        <p:nvSpPr>
          <p:cNvPr id="379" name="Google Shape;37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[7:10–7:21]  SPOKEN SCRIPT (18 words)</a:t>
            </a:r>
          </a:p>
          <a:p>
            <a:r>
              <a:rPr lang="en-US" sz="1200">
                <a:solidFill>
                  <a:schemeClr val="dk1"/>
                </a:solidFill>
                <a:latin typeface="Calibri"/>
                <a:ea typeface="Calibri"/>
                <a:cs typeface="Calibri"/>
                <a:sym typeface="Calibri"/>
              </a:rPr>
              <a:t>Let me put the pieces together, as in the paper's Figure 1. First, the schema decides the order.</a:t>
            </a:r>
          </a:p>
          <a:p/>
          <a:p>
            <a:r>
              <a:rPr lang="en-US" sz="1200">
                <a:solidFill>
                  <a:schemeClr val="dk1"/>
                </a:solidFill>
                <a:latin typeface="Calibri"/>
                <a:ea typeface="Calibri"/>
                <a:cs typeface="Calibri"/>
                <a:sym typeface="Calibri"/>
              </a:rPr>
              <a:t>PRESENTER / POINTER: Quick click. Reconnect, do not re-explain.</a:t>
            </a:r>
          </a:p>
          <a:p>
            <a:r>
              <a:rPr lang="en-US" sz="1200">
                <a:solidFill>
                  <a:schemeClr val="dk1"/>
                </a:solidFill>
                <a:latin typeface="Calibri"/>
                <a:ea typeface="Calibri"/>
                <a:cs typeface="Calibri"/>
                <a:sym typeface="Calibri"/>
              </a:rPr>
              <a:t>AUDIENCE TAKEAWAY: Order.</a:t>
            </a:r>
          </a:p>
          <a:p>
            <a:r>
              <a:rPr lang="en-US" sz="1200">
                <a:solidFill>
                  <a:schemeClr val="dk1"/>
                </a:solidFill>
                <a:latin typeface="Calibri"/>
                <a:ea typeface="Calibri"/>
                <a:cs typeface="Calibri"/>
                <a:sym typeface="Calibri"/>
              </a:rPr>
              <a:t>SOURCE AND SCOPE: Paper Fig. 1(a).</a:t>
            </a:r>
          </a:p>
        </p:txBody>
      </p:sp>
      <p:sp>
        <p:nvSpPr>
          <p:cNvPr id="422" name="Google Shape;42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[7:21–7:29]  SPOKEN SCRIPT (14 words)</a:t>
            </a:r>
          </a:p>
          <a:p>
            <a:r>
              <a:rPr lang="en-US" sz="1200">
                <a:solidFill>
                  <a:schemeClr val="dk1"/>
                </a:solidFill>
                <a:latin typeface="Calibri"/>
                <a:ea typeface="Calibri"/>
                <a:cs typeface="Calibri"/>
                <a:sym typeface="Calibri"/>
              </a:rPr>
              <a:t>Each table then gets its deterministic seed: the structural anchor for everything that follows.</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Seed.</a:t>
            </a:r>
          </a:p>
          <a:p>
            <a:r>
              <a:rPr lang="en-US" sz="1200">
                <a:solidFill>
                  <a:schemeClr val="dk1"/>
                </a:solidFill>
                <a:latin typeface="Calibri"/>
                <a:ea typeface="Calibri"/>
                <a:cs typeface="Calibri"/>
                <a:sym typeface="Calibri"/>
              </a:rPr>
              <a:t>SOURCE AND SCOPE: Paper Fig. 1(b).</a:t>
            </a:r>
          </a:p>
        </p:txBody>
      </p:sp>
      <p:sp>
        <p:nvSpPr>
          <p:cNvPr id="459" name="Google Shape;45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[7:29–7:37]  SPOKEN SCRIPT (15 words)</a:t>
            </a:r>
          </a:p>
          <a:p>
            <a:r>
              <a:rPr lang="en-US" sz="1200">
                <a:solidFill>
                  <a:schemeClr val="dk1"/>
                </a:solidFill>
                <a:latin typeface="Calibri"/>
                <a:ea typeface="Calibri"/>
                <a:cs typeface="Calibri"/>
                <a:sym typeface="Calibri"/>
              </a:rPr>
              <a:t>Three retrieval channels add meaning: external ontologies, documentation, and the core ontology built so far.</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Retrieve.</a:t>
            </a:r>
          </a:p>
          <a:p>
            <a:r>
              <a:rPr lang="en-US" sz="1200">
                <a:solidFill>
                  <a:schemeClr val="dk1"/>
                </a:solidFill>
                <a:latin typeface="Calibri"/>
                <a:ea typeface="Calibri"/>
                <a:cs typeface="Calibri"/>
                <a:sym typeface="Calibri"/>
              </a:rPr>
              <a:t>SOURCE AND SCOPE: Paper Fig. 1(c-e).</a:t>
            </a:r>
          </a:p>
        </p:txBody>
      </p:sp>
      <p:sp>
        <p:nvSpPr>
          <p:cNvPr id="504" name="Google Shape;50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[7:37–7:43]  SPOKEN SCRIPT (10 words)</a:t>
            </a:r>
          </a:p>
          <a:p>
            <a:r>
              <a:rPr lang="en-US" sz="1200">
                <a:solidFill>
                  <a:schemeClr val="dk1"/>
                </a:solidFill>
                <a:latin typeface="Calibri"/>
                <a:ea typeface="Calibri"/>
                <a:cs typeface="Calibri"/>
                <a:sym typeface="Calibri"/>
              </a:rPr>
              <a:t>The Gen-LLM combines seed and context into a delta ontology.</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Generate.</a:t>
            </a:r>
          </a:p>
          <a:p>
            <a:r>
              <a:rPr lang="en-US" sz="1200">
                <a:solidFill>
                  <a:schemeClr val="dk1"/>
                </a:solidFill>
                <a:latin typeface="Calibri"/>
                <a:ea typeface="Calibri"/>
                <a:cs typeface="Calibri"/>
                <a:sym typeface="Calibri"/>
              </a:rPr>
              <a:t>SOURCE AND SCOPE: Paper Fig. 1(f-g).</a:t>
            </a:r>
          </a:p>
        </p:txBody>
      </p:sp>
      <p:sp>
        <p:nvSpPr>
          <p:cNvPr id="575" name="Google Shape;57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3" name="Google Shape;66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[7:43–7:50]  SPOKEN SCRIPT (12 words)</a:t>
            </a:r>
          </a:p>
          <a:p>
            <a:r>
              <a:rPr lang="en-US" sz="1200">
                <a:solidFill>
                  <a:schemeClr val="dk1"/>
                </a:solidFill>
                <a:latin typeface="Calibri"/>
                <a:ea typeface="Calibri"/>
                <a:cs typeface="Calibri"/>
                <a:sym typeface="Calibri"/>
              </a:rPr>
              <a:t>A Judge-LLM and rule-based checks validate the delta before it can join.</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Validate.</a:t>
            </a:r>
          </a:p>
          <a:p>
            <a:r>
              <a:rPr lang="en-US" sz="1200">
                <a:solidFill>
                  <a:schemeClr val="dk1"/>
                </a:solidFill>
                <a:latin typeface="Calibri"/>
                <a:ea typeface="Calibri"/>
                <a:cs typeface="Calibri"/>
                <a:sym typeface="Calibri"/>
              </a:rPr>
              <a:t>SOURCE AND SCOPE: Paper Fig. 1(h).</a:t>
            </a:r>
          </a:p>
        </p:txBody>
      </p:sp>
      <p:sp>
        <p:nvSpPr>
          <p:cNvPr id="664" name="Google Shape;66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756" name="Google Shape;75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[7:50–8:01]  SPOKEN SCRIPT (20 words)</a:t>
            </a:r>
          </a:p>
          <a:p>
            <a:r>
              <a:t>And the validated delta is merged into the core, which feeds retrieval for the next table. That loop is RIGOR.</a:t>
            </a:r>
          </a:p>
          <a:p/>
          <a:p>
            <a:r>
              <a:t>PRESENTER / POINTER: Trace the green return arrow from (i) back to (e).</a:t>
            </a:r>
          </a:p>
          <a:p>
            <a:r>
              <a:t>AUDIENCE TAKEAWAY: Merge, and loop.</a:t>
            </a:r>
          </a:p>
          <a:p>
            <a:r>
              <a:t>SOURCE AND SCOPE: Paper Fig. 1(i).</a:t>
            </a:r>
          </a:p>
        </p:txBody>
      </p:sp>
      <p:sp>
        <p:nvSpPr>
          <p:cNvPr id="757" name="Google Shape;75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9" name="Shape 859"/>
        <p:cNvGrpSpPr/>
        <p:nvPr/>
      </p:nvGrpSpPr>
      <p:grpSpPr>
        <a:xfrm>
          <a:off x="0" y="0"/>
          <a:ext cx="0" cy="0"/>
          <a:chOff x="0" y="0"/>
          <a:chExt cx="0" cy="0"/>
        </a:xfrm>
      </p:grpSpPr>
      <p:sp>
        <p:nvSpPr>
          <p:cNvPr id="860" name="Google Shape;86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1" name="Google Shape;86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[8:01–8:37]  SPOKEN SCRIPT (62 words)</a:t>
            </a:r>
          </a:p>
          <a:p>
            <a:r>
              <a:rPr lang="en-US" sz="1200">
                <a:solidFill>
                  <a:schemeClr val="dk1"/>
                </a:solidFill>
                <a:latin typeface="Calibri"/>
                <a:ea typeface="Calibri"/>
                <a:cs typeface="Calibri"/>
                <a:sym typeface="Calibri"/>
              </a:rPr>
              <a:t>Does this work beyond one example? We tested three databases: a private liver-cancer registry, the large eICU intensive-care schema, and Chinook, a music store, as a second domain. Three generator LLMs. And four methods: direct mapping, a zero-shot LLM, single-pass retrieval, and RIGOR. That gives thirty ontologies, judged by quality checks, an independent evaluation judge, ten human experts, and the BURR benchmark.</a:t>
            </a:r>
          </a:p>
          <a:p/>
          <a:p>
            <a:r>
              <a:rPr lang="en-US" sz="1200">
                <a:solidFill>
                  <a:schemeClr val="dk1"/>
                </a:solidFill>
                <a:latin typeface="Calibri"/>
                <a:ea typeface="Calibri"/>
                <a:cs typeface="Calibri"/>
                <a:sym typeface="Calibri"/>
              </a:rPr>
              <a:t>PRESENTER / POINTER: Datasets, then the four methods. Do not read every number.</a:t>
            </a:r>
          </a:p>
          <a:p>
            <a:r>
              <a:rPr lang="en-US" sz="1200">
                <a:solidFill>
                  <a:schemeClr val="dk1"/>
                </a:solidFill>
                <a:latin typeface="Calibri"/>
                <a:ea typeface="Calibri"/>
                <a:cs typeface="Calibri"/>
                <a:sym typeface="Calibri"/>
              </a:rPr>
              <a:t>AUDIENCE TAKEAWAY: Three databases, three LLMs, four methods, four kinds of evidence.</a:t>
            </a:r>
          </a:p>
          <a:p>
            <a:r>
              <a:rPr lang="en-US" sz="1200">
                <a:solidFill>
                  <a:schemeClr val="dk1"/>
                </a:solidFill>
                <a:latin typeface="Calibri"/>
                <a:ea typeface="Calibri"/>
                <a:cs typeface="Calibri"/>
                <a:sym typeface="Calibri"/>
              </a:rPr>
              <a:t>SOURCE AND SCOPE: Paper Sections 4.1-4.6. 30 ontologies = 3 LLMs x 3 methods x 3 databases + 3 direct mappings.</a:t>
            </a:r>
          </a:p>
        </p:txBody>
      </p:sp>
      <p:sp>
        <p:nvSpPr>
          <p:cNvPr id="862" name="Google Shape;86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[10:35–11:23]  SPOKEN SCRIPT (80 words)</a:t>
            </a:r>
          </a:p>
          <a:p>
            <a:r>
              <a:rPr lang="en-US" sz="1200">
                <a:solidFill>
                  <a:schemeClr val="dk1"/>
                </a:solidFill>
                <a:latin typeface="Calibri"/>
                <a:ea typeface="Calibri"/>
                <a:cs typeface="Calibri"/>
                <a:sym typeface="Calibri"/>
              </a:rPr>
              <a:t>Finally, the most important question: do people prefer it? Ten ontology experts compared anonymized fragments for four medical tables, and ranked them. RIGOR came first in twenty-eight of forty rankings. [pause] That is seventy percent. Their agreement was statistically significant, with Kendall's W between 0.39 and 0.72. An independent LLM judge, GPT-5.4, then ranked Claude's fragments for all fifty-eight tables, against five competency questions each. It put RIGOR first on every table. The expert sample is small, but both signals agree.</a:t>
            </a:r>
          </a:p>
          <a:p/>
          <a:p>
            <a:r>
              <a:rPr lang="en-US" sz="1200">
                <a:solidFill>
                  <a:schemeClr val="dk1"/>
                </a:solidFill>
                <a:latin typeface="Calibri"/>
                <a:ea typeface="Calibri"/>
                <a:cs typeface="Calibri"/>
                <a:sym typeface="Calibri"/>
              </a:rPr>
              <a:t>PRESENTER / POINTER: Pause on 70%. Then the bars, then the LLM-judge strip.</a:t>
            </a:r>
          </a:p>
          <a:p>
            <a:r>
              <a:rPr lang="en-US" sz="1200">
                <a:solidFill>
                  <a:schemeClr val="dk1"/>
                </a:solidFill>
                <a:latin typeface="Calibri"/>
                <a:ea typeface="Calibri"/>
                <a:cs typeface="Calibri"/>
                <a:sym typeface="Calibri"/>
              </a:rPr>
              <a:t>AUDIENCE TAKEAWAY: Human experts and an independent LLM judge both prefer RIGOR.</a:t>
            </a:r>
          </a:p>
          <a:p>
            <a:r>
              <a:rPr lang="en-US" sz="1200">
                <a:solidFill>
                  <a:schemeClr val="dk1"/>
                </a:solidFill>
                <a:latin typeface="Calibri"/>
                <a:ea typeface="Calibri"/>
                <a:cs typeface="Calibri"/>
                <a:sym typeface="Calibri"/>
              </a:rPr>
              <a:t>SOURCE AND SCOPE: Paper Tables 1 and 12. LLM judge: Claude outputs only, 290 competency questions.</a:t>
            </a:r>
          </a:p>
          <a:p>
            <a:r>
              <a:rPr lang="en-US" sz="1200">
                <a:solidFill>
                  <a:schemeClr val="dk1"/>
                </a:solidFill>
                <a:latin typeface="Calibri"/>
                <a:ea typeface="Calibri"/>
                <a:cs typeface="Calibri"/>
                <a:sym typeface="Calibri"/>
              </a:rPr>
              <a:t>IF RUNNING LATE, DROP: "Their agreement was statistically significant, with Kendall's W between 0.39 and 0.72."</a:t>
            </a:r>
          </a:p>
        </p:txBody>
      </p:sp>
      <p:sp>
        <p:nvSpPr>
          <p:cNvPr id="911" name="Google Shape;91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1" name="Shape 941"/>
        <p:cNvGrpSpPr/>
        <p:nvPr/>
      </p:nvGrpSpPr>
      <p:grpSpPr>
        <a:xfrm>
          <a:off x="0" y="0"/>
          <a:ext cx="0" cy="0"/>
          <a:chOff x="0" y="0"/>
          <a:chExt cx="0" cy="0"/>
        </a:xfrm>
      </p:grpSpPr>
      <p:sp>
        <p:nvSpPr>
          <p:cNvPr id="942" name="Google Shape;94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43" name="Google Shape;94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[8:37–9:31]  SPOKEN SCRIPT (88 words)</a:t>
            </a:r>
          </a:p>
          <a:p>
            <a:r>
              <a:t>First result: does RIGOR add meaning without losing structure? This table shows what each method's ontologies contain. Direct mapping keeps the columns, but adds no labels, no hierarchy, no provenance. Single-pass retrieval adds labels, but it drops columns: in one run it kept only six percent. [pause] RIGOR is the only method with class hierarchies and provenance in all nine runs, while keeping seventy-seven to one hundred percent of the columns. And it has the fewest modeling pitfalls in every like-for-like comparison: zero on Chinook, with all three LLMs. [pause]</a:t>
            </a:r>
          </a:p>
          <a:p/>
          <a:p>
            <a:r>
              <a:t>PRESENTER / POINTER: Point at Non-Iterative's 0.06 first; read the RIGOR row last.</a:t>
            </a:r>
          </a:p>
          <a:p>
            <a:r>
              <a:t>AUDIENCE TAKEAWAY: Only RIGOR adds hierarchy and provenance and still keeps the schema.</a:t>
            </a:r>
          </a:p>
          <a:p>
            <a:r>
              <a:t>SOURCE AND SCOPE: Paper Tables 7, 8, 9. Coverage is an embedding-based proxy; Direct Mapping is complete by construction. Like-for-like = same database and same LLM. Disjointness (1/9 runs) is left for Q&amp;A.</a:t>
            </a:r>
          </a:p>
        </p:txBody>
      </p:sp>
      <p:sp>
        <p:nvSpPr>
          <p:cNvPr id="944" name="Google Shape;94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72" name="Google Shape;97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[9:31–10:35]  SPOKEN SCRIPT (112 words)</a:t>
            </a:r>
          </a:p>
          <a:p>
            <a:r>
              <a:t>Second: is the link back to the data real? We checked with BURR, an external benchmark for ontology learning from relational databases. BURR asks every system for a mapping: which table becomes a class, which foreign key a relation, which column an attribute. Two elements match when they map to the same database elements, whatever they are called. BURR scores this against a gold mapping, with F1 per element type. RIGOR's provenance gives us this mapping directly; we export it as D2RQ. On BURR's ISWC scenario, RIGOR has the highest F1 for classes, relations and attributes among the compared ontology-learning systems, including both rule-based ones. So enrichment did not cost us fidelity.</a:t>
            </a:r>
          </a:p>
          <a:p/>
          <a:p>
            <a:r>
              <a:t>PRESENTER / POINTER: Left card first, then land on the RIGOR row.</a:t>
            </a:r>
          </a:p>
          <a:p>
            <a:r>
              <a:t>AUDIENCE TAKEAWAY: Semantic enrichment did not break the correspondence that OBDA and KG population need.</a:t>
            </a:r>
          </a:p>
          <a:p>
            <a:r>
              <a:t>SOURCE AND SCOPE: Paper Table 13. BURR = Laskowski et al., PACMMOD 2025; matching rule from BURR Section 4, Eq. 3. Left-card element names are illustrative.</a:t>
            </a:r>
          </a:p>
          <a:p>
            <a:r>
              <a:t>IF RUNNING LATE, DROP: "Two elements match when they map to the same database elements, whatever they are called."</a:t>
            </a:r>
          </a:p>
          <a:p/>
          <a:p>
            <a:r>
              <a:t>DO NOT SAY: 'BURR found LLMs trail rule-based systems'. BURR's results show Gemini 2.5 Pro ahead of the rule-based systems overall (rule-based systems win only on NPD).</a:t>
            </a:r>
          </a:p>
          <a:p/>
          <a:p>
            <a:r>
              <a:t>IF ASKED ABOUT GEMINI 2.5 PRO (BURR Table 3, ISWC .65 / .68 / .56): in BURR it is a general-purpose LLM prompted with few-shot examples and a checklist to write the D2RQ mapping directly. It is a mapping generator, not an ontology-learning system that builds an enriched ontology, so we compare with ontology-learning systems. Against it, RIGOR's class F1 is higher, relations are on par, attributes lower, and RIGOR also produces labels, hierarchy and provenance. It is prompted, not fine-tuned.</a:t>
            </a:r>
          </a:p>
        </p:txBody>
      </p:sp>
      <p:sp>
        <p:nvSpPr>
          <p:cNvPr id="973" name="Google Shape;97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0" name="Google Shape;101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[11:23–12:17]  SPOKEN SCRIPT (96 words)</a:t>
            </a:r>
          </a:p>
          <a:p>
            <a:r>
              <a:rPr lang="en-US" sz="1200">
                <a:solidFill>
                  <a:schemeClr val="dk1"/>
                </a:solidFill>
                <a:latin typeface="Calibri"/>
                <a:ea typeface="Calibri"/>
                <a:cs typeface="Calibri"/>
                <a:sym typeface="Calibri"/>
              </a:rPr>
              <a:t>Where next? Today RIGOR reads schemas and documentation. The next step is to let the data speak. Imagine several patients whose records show bone marrow depression after cisplatin cycles. The rows alone show a pattern. The drug label adds that bone-marrow suppression is a known adverse reaction of cisplatin. Together, they let RIGOR propose new knowledge: a candidate association between cisplatin and bone marrow depression, with provenance to both sources. Candidate, not cause. Gemcitabine, radiotherapy or cirrhosis could also explain it. So an expert reviews it. We also want validator and reasoner feedback inside the loop.</a:t>
            </a:r>
          </a:p>
          <a:p/>
          <a:p>
            <a:r>
              <a:rPr lang="en-US" sz="1200">
                <a:solidFill>
                  <a:schemeClr val="dk1"/>
                </a:solidFill>
                <a:latin typeface="Calibri"/>
                <a:ea typeface="Calibri"/>
                <a:cs typeface="Calibri"/>
                <a:sym typeface="Calibri"/>
              </a:rPr>
              <a:t>PRESENTER / POINTER: Rows, label, code, left to right. Say 'candidate' or 'may have contributed', never 'caused'.</a:t>
            </a:r>
          </a:p>
          <a:p>
            <a:r>
              <a:rPr lang="en-US" sz="1200">
                <a:solidFill>
                  <a:schemeClr val="dk1"/>
                </a:solidFill>
                <a:latin typeface="Calibri"/>
                <a:ea typeface="Calibri"/>
                <a:cs typeface="Calibri"/>
                <a:sym typeface="Calibri"/>
              </a:rPr>
              <a:t>AUDIENCE TAKEAWAY: Instances plus documentation can propose knowledge; experts confirm it.</a:t>
            </a:r>
          </a:p>
          <a:p>
            <a:r>
              <a:rPr lang="en-US" sz="1200">
                <a:solidFill>
                  <a:schemeClr val="dk1"/>
                </a:solidFill>
                <a:latin typeface="Calibri"/>
                <a:ea typeface="Calibri"/>
                <a:cs typeface="Calibri"/>
                <a:sym typeface="Calibri"/>
              </a:rPr>
              <a:t>SOURCE AND SCOPE: Paper Section 5. Rows are synthetic. OWL verified (presentation/excerpts/slide22_future_candidate.omn): a typed individual with provenance, no causal axiom.</a:t>
            </a:r>
          </a:p>
          <a:p>
            <a:r>
              <a:rPr lang="en-US" sz="1200">
                <a:solidFill>
                  <a:schemeClr val="dk1"/>
                </a:solidFill>
                <a:latin typeface="Calibri"/>
                <a:ea typeface="Calibri"/>
                <a:cs typeface="Calibri"/>
                <a:sym typeface="Calibri"/>
              </a:rPr>
              <a:t>IF RUNNING LATE, DROP: "We also want validator and reasoner feedback inside the loop."</a:t>
            </a:r>
          </a:p>
          <a:p/>
          <a:p>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a:t>
            </a:r>
          </a:p>
        </p:txBody>
      </p:sp>
      <p:sp>
        <p:nvSpPr>
          <p:cNvPr id="1011" name="Google Shape;101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 name="Shape 1031"/>
        <p:cNvGrpSpPr/>
        <p:nvPr/>
      </p:nvGrpSpPr>
      <p:grpSpPr>
        <a:xfrm>
          <a:off x="0" y="0"/>
          <a:ext cx="0" cy="0"/>
          <a:chOff x="0" y="0"/>
          <a:chExt cx="0" cy="0"/>
        </a:xfrm>
      </p:grpSpPr>
      <p:sp>
        <p:nvSpPr>
          <p:cNvPr id="1032" name="Google Shape;103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1033" name="Google Shape;103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[12:17–12:50]  SPOKEN SCRIPT (57 words)</a:t>
            </a:r>
          </a:p>
          <a:p>
            <a:r>
              <a:t>To conclude. RIGOR anchors LLM generation in the database itself, grounds it in retrieved knowledge, and checks every step before the ontology grows. The result: meaning without losing structure, the link to the data intact, and ontologies that experts prefer. The paper and code are behind these QR codes. Thank you. I'm happy to take your questions.</a:t>
            </a:r>
          </a:p>
          <a:p/>
          <a:p>
            <a:r>
              <a:t>PRESENTER / POINTER: Finish speaking by 13:30. Leave this slide up during questions; backups follow it.</a:t>
            </a:r>
          </a:p>
          <a:p>
            <a:r>
              <a:t>AUDIENCE TAKEAWAY: Grounded, retrieved, validated.</a:t>
            </a:r>
          </a:p>
          <a:p>
            <a:r>
              <a:t>SOURCE AND SCOPE: Recap of the paper; contact address on the slide.</a:t>
            </a:r>
          </a:p>
        </p:txBody>
      </p:sp>
      <p:sp>
        <p:nvSpPr>
          <p:cNvPr id="1034" name="Google Shape;103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 name="Shape 20"/>
        <p:cNvGrpSpPr/>
        <p:nvPr/>
      </p:nvGrpSpPr>
      <p:grpSpPr>
        <a:xfrm>
          <a:off x="0" y="0"/>
          <a:ext cx="0" cy="0"/>
          <a:chOff x="0" y="0"/>
          <a:chExt cx="0" cy="0"/>
        </a:xfrm>
      </p:grpSpPr>
      <p:sp>
        <p:nvSpPr>
          <p:cNvPr id="29" name="Cover panel"/>
          <p:cNvSpPr/>
          <p:nvPr/>
        </p:nvSpPr>
        <p:spPr>
          <a:xfrm>
            <a:off x="8092440" y="0"/>
            <a:ext cx="4099255" cy="6858000"/>
          </a:xfrm>
          <a:prstGeom prst="rect">
            <a:avLst/>
          </a:prstGeom>
          <a:solidFill>
            <a:srgbClr val="FAFBFA"/>
          </a:solidFill>
          <a:ln>
            <a:noFill/>
          </a:ln>
        </p:spPr>
        <p:txBody>
          <a:bodyPr wrap="square" lIns="0" tIns="0" rIns="0" bIns="0" anchor="t">
            <a:noAutofit/>
          </a:bodyPr>
          <a:lstStyle/>
          <a:p>
            <a:pPr algn="l"/>
          </a:p>
        </p:txBody>
      </p:sp>
      <p:sp>
        <p:nvSpPr>
          <p:cNvPr id="30" name="Grid line"/>
          <p:cNvSpPr/>
          <p:nvPr/>
        </p:nvSpPr>
        <p:spPr>
          <a:xfrm>
            <a:off x="8366760" y="0"/>
            <a:ext cx="6400" cy="6858000"/>
          </a:xfrm>
          <a:prstGeom prst="rect">
            <a:avLst/>
          </a:prstGeom>
          <a:solidFill>
            <a:srgbClr val="E6ECE8"/>
          </a:solidFill>
          <a:ln>
            <a:noFill/>
          </a:ln>
        </p:spPr>
        <p:txBody>
          <a:bodyPr wrap="square" lIns="0" tIns="0" rIns="0" bIns="0" anchor="t">
            <a:noAutofit/>
          </a:bodyPr>
          <a:lstStyle/>
          <a:p>
            <a:pPr algn="l"/>
          </a:p>
        </p:txBody>
      </p:sp>
      <p:sp>
        <p:nvSpPr>
          <p:cNvPr id="31" name="Grid line"/>
          <p:cNvSpPr/>
          <p:nvPr/>
        </p:nvSpPr>
        <p:spPr>
          <a:xfrm>
            <a:off x="8641080" y="0"/>
            <a:ext cx="6400" cy="6858000"/>
          </a:xfrm>
          <a:prstGeom prst="rect">
            <a:avLst/>
          </a:prstGeom>
          <a:solidFill>
            <a:srgbClr val="E6ECE8"/>
          </a:solidFill>
          <a:ln>
            <a:noFill/>
          </a:ln>
        </p:spPr>
        <p:txBody>
          <a:bodyPr wrap="square" lIns="0" tIns="0" rIns="0" bIns="0" anchor="t">
            <a:noAutofit/>
          </a:bodyPr>
          <a:lstStyle/>
          <a:p>
            <a:pPr algn="l"/>
          </a:p>
        </p:txBody>
      </p:sp>
      <p:sp>
        <p:nvSpPr>
          <p:cNvPr id="32" name="Grid line"/>
          <p:cNvSpPr/>
          <p:nvPr/>
        </p:nvSpPr>
        <p:spPr>
          <a:xfrm>
            <a:off x="8915400" y="0"/>
            <a:ext cx="6400" cy="6858000"/>
          </a:xfrm>
          <a:prstGeom prst="rect">
            <a:avLst/>
          </a:prstGeom>
          <a:solidFill>
            <a:srgbClr val="E6ECE8"/>
          </a:solidFill>
          <a:ln>
            <a:noFill/>
          </a:ln>
        </p:spPr>
        <p:txBody>
          <a:bodyPr wrap="square" lIns="0" tIns="0" rIns="0" bIns="0" anchor="t">
            <a:noAutofit/>
          </a:bodyPr>
          <a:lstStyle/>
          <a:p>
            <a:pPr algn="l"/>
          </a:p>
        </p:txBody>
      </p:sp>
      <p:sp>
        <p:nvSpPr>
          <p:cNvPr id="33" name="Grid line"/>
          <p:cNvSpPr/>
          <p:nvPr/>
        </p:nvSpPr>
        <p:spPr>
          <a:xfrm>
            <a:off x="9189720" y="0"/>
            <a:ext cx="6400" cy="6858000"/>
          </a:xfrm>
          <a:prstGeom prst="rect">
            <a:avLst/>
          </a:prstGeom>
          <a:solidFill>
            <a:srgbClr val="E6ECE8"/>
          </a:solidFill>
          <a:ln>
            <a:noFill/>
          </a:ln>
        </p:spPr>
        <p:txBody>
          <a:bodyPr wrap="square" lIns="0" tIns="0" rIns="0" bIns="0" anchor="t">
            <a:noAutofit/>
          </a:bodyPr>
          <a:lstStyle/>
          <a:p>
            <a:pPr algn="l"/>
          </a:p>
        </p:txBody>
      </p:sp>
      <p:sp>
        <p:nvSpPr>
          <p:cNvPr id="34" name="Grid line"/>
          <p:cNvSpPr/>
          <p:nvPr/>
        </p:nvSpPr>
        <p:spPr>
          <a:xfrm>
            <a:off x="9464040" y="0"/>
            <a:ext cx="6400" cy="6858000"/>
          </a:xfrm>
          <a:prstGeom prst="rect">
            <a:avLst/>
          </a:prstGeom>
          <a:solidFill>
            <a:srgbClr val="E6ECE8"/>
          </a:solidFill>
          <a:ln>
            <a:noFill/>
          </a:ln>
        </p:spPr>
        <p:txBody>
          <a:bodyPr wrap="square" lIns="0" tIns="0" rIns="0" bIns="0" anchor="t">
            <a:noAutofit/>
          </a:bodyPr>
          <a:lstStyle/>
          <a:p>
            <a:pPr algn="l"/>
          </a:p>
        </p:txBody>
      </p:sp>
      <p:sp>
        <p:nvSpPr>
          <p:cNvPr id="35" name="Grid line"/>
          <p:cNvSpPr/>
          <p:nvPr/>
        </p:nvSpPr>
        <p:spPr>
          <a:xfrm>
            <a:off x="9738360" y="0"/>
            <a:ext cx="6400" cy="6858000"/>
          </a:xfrm>
          <a:prstGeom prst="rect">
            <a:avLst/>
          </a:prstGeom>
          <a:solidFill>
            <a:srgbClr val="E6ECE8"/>
          </a:solidFill>
          <a:ln>
            <a:noFill/>
          </a:ln>
        </p:spPr>
        <p:txBody>
          <a:bodyPr wrap="square" lIns="0" tIns="0" rIns="0" bIns="0" anchor="t">
            <a:noAutofit/>
          </a:bodyPr>
          <a:lstStyle/>
          <a:p>
            <a:pPr algn="l"/>
          </a:p>
        </p:txBody>
      </p:sp>
      <p:sp>
        <p:nvSpPr>
          <p:cNvPr id="36" name="Grid line"/>
          <p:cNvSpPr/>
          <p:nvPr/>
        </p:nvSpPr>
        <p:spPr>
          <a:xfrm>
            <a:off x="10012680" y="0"/>
            <a:ext cx="6400" cy="6858000"/>
          </a:xfrm>
          <a:prstGeom prst="rect">
            <a:avLst/>
          </a:prstGeom>
          <a:solidFill>
            <a:srgbClr val="E6ECE8"/>
          </a:solidFill>
          <a:ln>
            <a:noFill/>
          </a:ln>
        </p:spPr>
        <p:txBody>
          <a:bodyPr wrap="square" lIns="0" tIns="0" rIns="0" bIns="0" anchor="t">
            <a:noAutofit/>
          </a:bodyPr>
          <a:lstStyle/>
          <a:p>
            <a:pPr algn="l"/>
          </a:p>
        </p:txBody>
      </p:sp>
      <p:sp>
        <p:nvSpPr>
          <p:cNvPr id="37" name="Grid line"/>
          <p:cNvSpPr/>
          <p:nvPr/>
        </p:nvSpPr>
        <p:spPr>
          <a:xfrm>
            <a:off x="10287000" y="0"/>
            <a:ext cx="6400" cy="6858000"/>
          </a:xfrm>
          <a:prstGeom prst="rect">
            <a:avLst/>
          </a:prstGeom>
          <a:solidFill>
            <a:srgbClr val="E6ECE8"/>
          </a:solidFill>
          <a:ln>
            <a:noFill/>
          </a:ln>
        </p:spPr>
        <p:txBody>
          <a:bodyPr wrap="square" lIns="0" tIns="0" rIns="0" bIns="0" anchor="t">
            <a:noAutofit/>
          </a:bodyPr>
          <a:lstStyle/>
          <a:p>
            <a:pPr algn="l"/>
          </a:p>
        </p:txBody>
      </p:sp>
      <p:sp>
        <p:nvSpPr>
          <p:cNvPr id="38" name="Grid line"/>
          <p:cNvSpPr/>
          <p:nvPr/>
        </p:nvSpPr>
        <p:spPr>
          <a:xfrm>
            <a:off x="10561320" y="0"/>
            <a:ext cx="6400" cy="6858000"/>
          </a:xfrm>
          <a:prstGeom prst="rect">
            <a:avLst/>
          </a:prstGeom>
          <a:solidFill>
            <a:srgbClr val="E6ECE8"/>
          </a:solidFill>
          <a:ln>
            <a:noFill/>
          </a:ln>
        </p:spPr>
        <p:txBody>
          <a:bodyPr wrap="square" lIns="0" tIns="0" rIns="0" bIns="0" anchor="t">
            <a:noAutofit/>
          </a:bodyPr>
          <a:lstStyle/>
          <a:p>
            <a:pPr algn="l"/>
          </a:p>
        </p:txBody>
      </p:sp>
      <p:sp>
        <p:nvSpPr>
          <p:cNvPr id="39" name="Grid line"/>
          <p:cNvSpPr/>
          <p:nvPr/>
        </p:nvSpPr>
        <p:spPr>
          <a:xfrm>
            <a:off x="10835640" y="0"/>
            <a:ext cx="6400" cy="6858000"/>
          </a:xfrm>
          <a:prstGeom prst="rect">
            <a:avLst/>
          </a:prstGeom>
          <a:solidFill>
            <a:srgbClr val="E6ECE8"/>
          </a:solidFill>
          <a:ln>
            <a:noFill/>
          </a:ln>
        </p:spPr>
        <p:txBody>
          <a:bodyPr wrap="square" lIns="0" tIns="0" rIns="0" bIns="0" anchor="t">
            <a:noAutofit/>
          </a:bodyPr>
          <a:lstStyle/>
          <a:p>
            <a:pPr algn="l"/>
          </a:p>
        </p:txBody>
      </p:sp>
      <p:sp>
        <p:nvSpPr>
          <p:cNvPr id="40" name="Grid line"/>
          <p:cNvSpPr/>
          <p:nvPr/>
        </p:nvSpPr>
        <p:spPr>
          <a:xfrm>
            <a:off x="11109960" y="0"/>
            <a:ext cx="6400" cy="6858000"/>
          </a:xfrm>
          <a:prstGeom prst="rect">
            <a:avLst/>
          </a:prstGeom>
          <a:solidFill>
            <a:srgbClr val="E6ECE8"/>
          </a:solidFill>
          <a:ln>
            <a:noFill/>
          </a:ln>
        </p:spPr>
        <p:txBody>
          <a:bodyPr wrap="square" lIns="0" tIns="0" rIns="0" bIns="0" anchor="t">
            <a:noAutofit/>
          </a:bodyPr>
          <a:lstStyle/>
          <a:p>
            <a:pPr algn="l"/>
          </a:p>
        </p:txBody>
      </p:sp>
      <p:sp>
        <p:nvSpPr>
          <p:cNvPr id="41" name="Grid line"/>
          <p:cNvSpPr/>
          <p:nvPr/>
        </p:nvSpPr>
        <p:spPr>
          <a:xfrm>
            <a:off x="11384280" y="0"/>
            <a:ext cx="6400" cy="6858000"/>
          </a:xfrm>
          <a:prstGeom prst="rect">
            <a:avLst/>
          </a:prstGeom>
          <a:solidFill>
            <a:srgbClr val="E6ECE8"/>
          </a:solidFill>
          <a:ln>
            <a:noFill/>
          </a:ln>
        </p:spPr>
        <p:txBody>
          <a:bodyPr wrap="square" lIns="0" tIns="0" rIns="0" bIns="0" anchor="t">
            <a:noAutofit/>
          </a:bodyPr>
          <a:lstStyle/>
          <a:p>
            <a:pPr algn="l"/>
          </a:p>
        </p:txBody>
      </p:sp>
      <p:sp>
        <p:nvSpPr>
          <p:cNvPr id="42" name="Grid line"/>
          <p:cNvSpPr/>
          <p:nvPr/>
        </p:nvSpPr>
        <p:spPr>
          <a:xfrm>
            <a:off x="11658600" y="0"/>
            <a:ext cx="6400" cy="6858000"/>
          </a:xfrm>
          <a:prstGeom prst="rect">
            <a:avLst/>
          </a:prstGeom>
          <a:solidFill>
            <a:srgbClr val="E6ECE8"/>
          </a:solidFill>
          <a:ln>
            <a:noFill/>
          </a:ln>
        </p:spPr>
        <p:txBody>
          <a:bodyPr wrap="square" lIns="0" tIns="0" rIns="0" bIns="0" anchor="t">
            <a:noAutofit/>
          </a:bodyPr>
          <a:lstStyle/>
          <a:p>
            <a:pPr algn="l"/>
          </a:p>
        </p:txBody>
      </p:sp>
      <p:sp>
        <p:nvSpPr>
          <p:cNvPr id="43" name="Grid line"/>
          <p:cNvSpPr/>
          <p:nvPr/>
        </p:nvSpPr>
        <p:spPr>
          <a:xfrm>
            <a:off x="11932920" y="0"/>
            <a:ext cx="6400" cy="6858000"/>
          </a:xfrm>
          <a:prstGeom prst="rect">
            <a:avLst/>
          </a:prstGeom>
          <a:solidFill>
            <a:srgbClr val="E6ECE8"/>
          </a:solidFill>
          <a:ln>
            <a:noFill/>
          </a:ln>
        </p:spPr>
        <p:txBody>
          <a:bodyPr wrap="square" lIns="0" tIns="0" rIns="0" bIns="0" anchor="t">
            <a:noAutofit/>
          </a:bodyPr>
          <a:lstStyle/>
          <a:p>
            <a:pPr algn="l"/>
          </a:p>
        </p:txBody>
      </p:sp>
      <p:sp>
        <p:nvSpPr>
          <p:cNvPr id="44" name="Grid line"/>
          <p:cNvSpPr/>
          <p:nvPr/>
        </p:nvSpPr>
        <p:spPr>
          <a:xfrm>
            <a:off x="8092440" y="274320"/>
            <a:ext cx="4099255" cy="6400"/>
          </a:xfrm>
          <a:prstGeom prst="rect">
            <a:avLst/>
          </a:prstGeom>
          <a:solidFill>
            <a:srgbClr val="E6ECE8"/>
          </a:solidFill>
          <a:ln>
            <a:noFill/>
          </a:ln>
        </p:spPr>
        <p:txBody>
          <a:bodyPr wrap="square" lIns="0" tIns="0" rIns="0" bIns="0" anchor="t">
            <a:noAutofit/>
          </a:bodyPr>
          <a:lstStyle/>
          <a:p>
            <a:pPr algn="l"/>
          </a:p>
        </p:txBody>
      </p:sp>
      <p:sp>
        <p:nvSpPr>
          <p:cNvPr id="45" name="Grid line"/>
          <p:cNvSpPr/>
          <p:nvPr/>
        </p:nvSpPr>
        <p:spPr>
          <a:xfrm>
            <a:off x="8092440" y="548640"/>
            <a:ext cx="4099255" cy="6400"/>
          </a:xfrm>
          <a:prstGeom prst="rect">
            <a:avLst/>
          </a:prstGeom>
          <a:solidFill>
            <a:srgbClr val="E6ECE8"/>
          </a:solidFill>
          <a:ln>
            <a:noFill/>
          </a:ln>
        </p:spPr>
        <p:txBody>
          <a:bodyPr wrap="square" lIns="0" tIns="0" rIns="0" bIns="0" anchor="t">
            <a:noAutofit/>
          </a:bodyPr>
          <a:lstStyle/>
          <a:p>
            <a:pPr algn="l"/>
          </a:p>
        </p:txBody>
      </p:sp>
      <p:sp>
        <p:nvSpPr>
          <p:cNvPr id="46" name="Grid line"/>
          <p:cNvSpPr/>
          <p:nvPr/>
        </p:nvSpPr>
        <p:spPr>
          <a:xfrm>
            <a:off x="8092440" y="822959"/>
            <a:ext cx="4099255" cy="6400"/>
          </a:xfrm>
          <a:prstGeom prst="rect">
            <a:avLst/>
          </a:prstGeom>
          <a:solidFill>
            <a:srgbClr val="E6ECE8"/>
          </a:solidFill>
          <a:ln>
            <a:noFill/>
          </a:ln>
        </p:spPr>
        <p:txBody>
          <a:bodyPr wrap="square" lIns="0" tIns="0" rIns="0" bIns="0" anchor="t">
            <a:noAutofit/>
          </a:bodyPr>
          <a:lstStyle/>
          <a:p>
            <a:pPr algn="l"/>
          </a:p>
        </p:txBody>
      </p:sp>
      <p:sp>
        <p:nvSpPr>
          <p:cNvPr id="47" name="Grid line"/>
          <p:cNvSpPr/>
          <p:nvPr/>
        </p:nvSpPr>
        <p:spPr>
          <a:xfrm>
            <a:off x="8092440" y="1097280"/>
            <a:ext cx="4099255" cy="6400"/>
          </a:xfrm>
          <a:prstGeom prst="rect">
            <a:avLst/>
          </a:prstGeom>
          <a:solidFill>
            <a:srgbClr val="E6ECE8"/>
          </a:solidFill>
          <a:ln>
            <a:noFill/>
          </a:ln>
        </p:spPr>
        <p:txBody>
          <a:bodyPr wrap="square" lIns="0" tIns="0" rIns="0" bIns="0" anchor="t">
            <a:noAutofit/>
          </a:bodyPr>
          <a:lstStyle/>
          <a:p>
            <a:pPr algn="l"/>
          </a:p>
        </p:txBody>
      </p:sp>
      <p:sp>
        <p:nvSpPr>
          <p:cNvPr id="48" name="Grid line"/>
          <p:cNvSpPr/>
          <p:nvPr/>
        </p:nvSpPr>
        <p:spPr>
          <a:xfrm>
            <a:off x="8092440" y="1371600"/>
            <a:ext cx="4099255" cy="6400"/>
          </a:xfrm>
          <a:prstGeom prst="rect">
            <a:avLst/>
          </a:prstGeom>
          <a:solidFill>
            <a:srgbClr val="E6ECE8"/>
          </a:solidFill>
          <a:ln>
            <a:noFill/>
          </a:ln>
        </p:spPr>
        <p:txBody>
          <a:bodyPr wrap="square" lIns="0" tIns="0" rIns="0" bIns="0" anchor="t">
            <a:noAutofit/>
          </a:bodyPr>
          <a:lstStyle/>
          <a:p>
            <a:pPr algn="l"/>
          </a:p>
        </p:txBody>
      </p:sp>
      <p:sp>
        <p:nvSpPr>
          <p:cNvPr id="49" name="Grid line"/>
          <p:cNvSpPr/>
          <p:nvPr/>
        </p:nvSpPr>
        <p:spPr>
          <a:xfrm>
            <a:off x="8092440" y="1645920"/>
            <a:ext cx="4099255" cy="6400"/>
          </a:xfrm>
          <a:prstGeom prst="rect">
            <a:avLst/>
          </a:prstGeom>
          <a:solidFill>
            <a:srgbClr val="E6ECE8"/>
          </a:solidFill>
          <a:ln>
            <a:noFill/>
          </a:ln>
        </p:spPr>
        <p:txBody>
          <a:bodyPr wrap="square" lIns="0" tIns="0" rIns="0" bIns="0" anchor="t">
            <a:noAutofit/>
          </a:bodyPr>
          <a:lstStyle/>
          <a:p>
            <a:pPr algn="l"/>
          </a:p>
        </p:txBody>
      </p:sp>
      <p:sp>
        <p:nvSpPr>
          <p:cNvPr id="50" name="Grid line"/>
          <p:cNvSpPr/>
          <p:nvPr/>
        </p:nvSpPr>
        <p:spPr>
          <a:xfrm>
            <a:off x="8092440" y="1920240"/>
            <a:ext cx="4099255" cy="6400"/>
          </a:xfrm>
          <a:prstGeom prst="rect">
            <a:avLst/>
          </a:prstGeom>
          <a:solidFill>
            <a:srgbClr val="E6ECE8"/>
          </a:solidFill>
          <a:ln>
            <a:noFill/>
          </a:ln>
        </p:spPr>
        <p:txBody>
          <a:bodyPr wrap="square" lIns="0" tIns="0" rIns="0" bIns="0" anchor="t">
            <a:noAutofit/>
          </a:bodyPr>
          <a:lstStyle/>
          <a:p>
            <a:pPr algn="l"/>
          </a:p>
        </p:txBody>
      </p:sp>
      <p:sp>
        <p:nvSpPr>
          <p:cNvPr id="51" name="Grid line"/>
          <p:cNvSpPr/>
          <p:nvPr/>
        </p:nvSpPr>
        <p:spPr>
          <a:xfrm>
            <a:off x="8092440" y="2194560"/>
            <a:ext cx="4099255" cy="6400"/>
          </a:xfrm>
          <a:prstGeom prst="rect">
            <a:avLst/>
          </a:prstGeom>
          <a:solidFill>
            <a:srgbClr val="E6ECE8"/>
          </a:solidFill>
          <a:ln>
            <a:noFill/>
          </a:ln>
        </p:spPr>
        <p:txBody>
          <a:bodyPr wrap="square" lIns="0" tIns="0" rIns="0" bIns="0" anchor="t">
            <a:noAutofit/>
          </a:bodyPr>
          <a:lstStyle/>
          <a:p>
            <a:pPr algn="l"/>
          </a:p>
        </p:txBody>
      </p:sp>
      <p:sp>
        <p:nvSpPr>
          <p:cNvPr id="52" name="Grid line"/>
          <p:cNvSpPr/>
          <p:nvPr/>
        </p:nvSpPr>
        <p:spPr>
          <a:xfrm>
            <a:off x="8092440" y="2468879"/>
            <a:ext cx="4099255" cy="6400"/>
          </a:xfrm>
          <a:prstGeom prst="rect">
            <a:avLst/>
          </a:prstGeom>
          <a:solidFill>
            <a:srgbClr val="E6ECE8"/>
          </a:solidFill>
          <a:ln>
            <a:noFill/>
          </a:ln>
        </p:spPr>
        <p:txBody>
          <a:bodyPr wrap="square" lIns="0" tIns="0" rIns="0" bIns="0" anchor="t">
            <a:noAutofit/>
          </a:bodyPr>
          <a:lstStyle/>
          <a:p>
            <a:pPr algn="l"/>
          </a:p>
        </p:txBody>
      </p:sp>
      <p:sp>
        <p:nvSpPr>
          <p:cNvPr id="53" name="Grid line"/>
          <p:cNvSpPr/>
          <p:nvPr/>
        </p:nvSpPr>
        <p:spPr>
          <a:xfrm>
            <a:off x="8092440" y="2743199"/>
            <a:ext cx="4099255" cy="6400"/>
          </a:xfrm>
          <a:prstGeom prst="rect">
            <a:avLst/>
          </a:prstGeom>
          <a:solidFill>
            <a:srgbClr val="E6ECE8"/>
          </a:solidFill>
          <a:ln>
            <a:noFill/>
          </a:ln>
        </p:spPr>
        <p:txBody>
          <a:bodyPr wrap="square" lIns="0" tIns="0" rIns="0" bIns="0" anchor="t">
            <a:noAutofit/>
          </a:bodyPr>
          <a:lstStyle/>
          <a:p>
            <a:pPr algn="l"/>
          </a:p>
        </p:txBody>
      </p:sp>
      <p:sp>
        <p:nvSpPr>
          <p:cNvPr id="54" name="Grid line"/>
          <p:cNvSpPr/>
          <p:nvPr/>
        </p:nvSpPr>
        <p:spPr>
          <a:xfrm>
            <a:off x="8092440" y="3017519"/>
            <a:ext cx="4099255" cy="6400"/>
          </a:xfrm>
          <a:prstGeom prst="rect">
            <a:avLst/>
          </a:prstGeom>
          <a:solidFill>
            <a:srgbClr val="E6ECE8"/>
          </a:solidFill>
          <a:ln>
            <a:noFill/>
          </a:ln>
        </p:spPr>
        <p:txBody>
          <a:bodyPr wrap="square" lIns="0" tIns="0" rIns="0" bIns="0" anchor="t">
            <a:noAutofit/>
          </a:bodyPr>
          <a:lstStyle/>
          <a:p>
            <a:pPr algn="l"/>
          </a:p>
        </p:txBody>
      </p:sp>
      <p:sp>
        <p:nvSpPr>
          <p:cNvPr id="55" name="Grid line"/>
          <p:cNvSpPr/>
          <p:nvPr/>
        </p:nvSpPr>
        <p:spPr>
          <a:xfrm>
            <a:off x="8092440" y="3291839"/>
            <a:ext cx="4099255" cy="6400"/>
          </a:xfrm>
          <a:prstGeom prst="rect">
            <a:avLst/>
          </a:prstGeom>
          <a:solidFill>
            <a:srgbClr val="E6ECE8"/>
          </a:solidFill>
          <a:ln>
            <a:noFill/>
          </a:ln>
        </p:spPr>
        <p:txBody>
          <a:bodyPr wrap="square" lIns="0" tIns="0" rIns="0" bIns="0" anchor="t">
            <a:noAutofit/>
          </a:bodyPr>
          <a:lstStyle/>
          <a:p>
            <a:pPr algn="l"/>
          </a:p>
        </p:txBody>
      </p:sp>
      <p:sp>
        <p:nvSpPr>
          <p:cNvPr id="56" name="Grid line"/>
          <p:cNvSpPr/>
          <p:nvPr/>
        </p:nvSpPr>
        <p:spPr>
          <a:xfrm>
            <a:off x="8092440" y="3566159"/>
            <a:ext cx="4099255" cy="6400"/>
          </a:xfrm>
          <a:prstGeom prst="rect">
            <a:avLst/>
          </a:prstGeom>
          <a:solidFill>
            <a:srgbClr val="E6ECE8"/>
          </a:solidFill>
          <a:ln>
            <a:noFill/>
          </a:ln>
        </p:spPr>
        <p:txBody>
          <a:bodyPr wrap="square" lIns="0" tIns="0" rIns="0" bIns="0" anchor="t">
            <a:noAutofit/>
          </a:bodyPr>
          <a:lstStyle/>
          <a:p>
            <a:pPr algn="l"/>
          </a:p>
        </p:txBody>
      </p:sp>
      <p:sp>
        <p:nvSpPr>
          <p:cNvPr id="57" name="Grid line"/>
          <p:cNvSpPr/>
          <p:nvPr/>
        </p:nvSpPr>
        <p:spPr>
          <a:xfrm>
            <a:off x="8092440" y="3840479"/>
            <a:ext cx="4099255" cy="6400"/>
          </a:xfrm>
          <a:prstGeom prst="rect">
            <a:avLst/>
          </a:prstGeom>
          <a:solidFill>
            <a:srgbClr val="E6ECE8"/>
          </a:solidFill>
          <a:ln>
            <a:noFill/>
          </a:ln>
        </p:spPr>
        <p:txBody>
          <a:bodyPr wrap="square" lIns="0" tIns="0" rIns="0" bIns="0" anchor="t">
            <a:noAutofit/>
          </a:bodyPr>
          <a:lstStyle/>
          <a:p>
            <a:pPr algn="l"/>
          </a:p>
        </p:txBody>
      </p:sp>
      <p:sp>
        <p:nvSpPr>
          <p:cNvPr id="58" name="Grid line"/>
          <p:cNvSpPr/>
          <p:nvPr/>
        </p:nvSpPr>
        <p:spPr>
          <a:xfrm>
            <a:off x="8092440" y="4114799"/>
            <a:ext cx="4099255" cy="6400"/>
          </a:xfrm>
          <a:prstGeom prst="rect">
            <a:avLst/>
          </a:prstGeom>
          <a:solidFill>
            <a:srgbClr val="E6ECE8"/>
          </a:solidFill>
          <a:ln>
            <a:noFill/>
          </a:ln>
        </p:spPr>
        <p:txBody>
          <a:bodyPr wrap="square" lIns="0" tIns="0" rIns="0" bIns="0" anchor="t">
            <a:noAutofit/>
          </a:bodyPr>
          <a:lstStyle/>
          <a:p>
            <a:pPr algn="l"/>
          </a:p>
        </p:txBody>
      </p:sp>
      <p:sp>
        <p:nvSpPr>
          <p:cNvPr id="59" name="Grid line"/>
          <p:cNvSpPr/>
          <p:nvPr/>
        </p:nvSpPr>
        <p:spPr>
          <a:xfrm>
            <a:off x="8092440" y="4389119"/>
            <a:ext cx="4099255" cy="6400"/>
          </a:xfrm>
          <a:prstGeom prst="rect">
            <a:avLst/>
          </a:prstGeom>
          <a:solidFill>
            <a:srgbClr val="E6ECE8"/>
          </a:solidFill>
          <a:ln>
            <a:noFill/>
          </a:ln>
        </p:spPr>
        <p:txBody>
          <a:bodyPr wrap="square" lIns="0" tIns="0" rIns="0" bIns="0" anchor="t">
            <a:noAutofit/>
          </a:bodyPr>
          <a:lstStyle/>
          <a:p>
            <a:pPr algn="l"/>
          </a:p>
        </p:txBody>
      </p:sp>
      <p:sp>
        <p:nvSpPr>
          <p:cNvPr id="60" name="Grid line"/>
          <p:cNvSpPr/>
          <p:nvPr/>
        </p:nvSpPr>
        <p:spPr>
          <a:xfrm>
            <a:off x="8092440" y="4663439"/>
            <a:ext cx="4099255" cy="6400"/>
          </a:xfrm>
          <a:prstGeom prst="rect">
            <a:avLst/>
          </a:prstGeom>
          <a:solidFill>
            <a:srgbClr val="E6ECE8"/>
          </a:solidFill>
          <a:ln>
            <a:noFill/>
          </a:ln>
        </p:spPr>
        <p:txBody>
          <a:bodyPr wrap="square" lIns="0" tIns="0" rIns="0" bIns="0" anchor="t">
            <a:noAutofit/>
          </a:bodyPr>
          <a:lstStyle/>
          <a:p>
            <a:pPr algn="l"/>
          </a:p>
        </p:txBody>
      </p:sp>
      <p:sp>
        <p:nvSpPr>
          <p:cNvPr id="61" name="Grid line"/>
          <p:cNvSpPr/>
          <p:nvPr/>
        </p:nvSpPr>
        <p:spPr>
          <a:xfrm>
            <a:off x="8092440" y="4937759"/>
            <a:ext cx="4099255" cy="6400"/>
          </a:xfrm>
          <a:prstGeom prst="rect">
            <a:avLst/>
          </a:prstGeom>
          <a:solidFill>
            <a:srgbClr val="E6ECE8"/>
          </a:solidFill>
          <a:ln>
            <a:noFill/>
          </a:ln>
        </p:spPr>
        <p:txBody>
          <a:bodyPr wrap="square" lIns="0" tIns="0" rIns="0" bIns="0" anchor="t">
            <a:noAutofit/>
          </a:bodyPr>
          <a:lstStyle/>
          <a:p>
            <a:pPr algn="l"/>
          </a:p>
        </p:txBody>
      </p:sp>
      <p:sp>
        <p:nvSpPr>
          <p:cNvPr id="62" name="Grid line"/>
          <p:cNvSpPr/>
          <p:nvPr/>
        </p:nvSpPr>
        <p:spPr>
          <a:xfrm>
            <a:off x="8092440" y="5212079"/>
            <a:ext cx="4099255" cy="6400"/>
          </a:xfrm>
          <a:prstGeom prst="rect">
            <a:avLst/>
          </a:prstGeom>
          <a:solidFill>
            <a:srgbClr val="E6ECE8"/>
          </a:solidFill>
          <a:ln>
            <a:noFill/>
          </a:ln>
        </p:spPr>
        <p:txBody>
          <a:bodyPr wrap="square" lIns="0" tIns="0" rIns="0" bIns="0" anchor="t">
            <a:noAutofit/>
          </a:bodyPr>
          <a:lstStyle/>
          <a:p>
            <a:pPr algn="l"/>
          </a:p>
        </p:txBody>
      </p:sp>
      <p:sp>
        <p:nvSpPr>
          <p:cNvPr id="63" name="Grid line"/>
          <p:cNvSpPr/>
          <p:nvPr/>
        </p:nvSpPr>
        <p:spPr>
          <a:xfrm>
            <a:off x="8092440" y="5486399"/>
            <a:ext cx="4099255" cy="6400"/>
          </a:xfrm>
          <a:prstGeom prst="rect">
            <a:avLst/>
          </a:prstGeom>
          <a:solidFill>
            <a:srgbClr val="E6ECE8"/>
          </a:solidFill>
          <a:ln>
            <a:noFill/>
          </a:ln>
        </p:spPr>
        <p:txBody>
          <a:bodyPr wrap="square" lIns="0" tIns="0" rIns="0" bIns="0" anchor="t">
            <a:noAutofit/>
          </a:bodyPr>
          <a:lstStyle/>
          <a:p>
            <a:pPr algn="l"/>
          </a:p>
        </p:txBody>
      </p:sp>
      <p:sp>
        <p:nvSpPr>
          <p:cNvPr id="64" name="Grid line"/>
          <p:cNvSpPr/>
          <p:nvPr/>
        </p:nvSpPr>
        <p:spPr>
          <a:xfrm>
            <a:off x="8092440" y="5760719"/>
            <a:ext cx="4099255" cy="6400"/>
          </a:xfrm>
          <a:prstGeom prst="rect">
            <a:avLst/>
          </a:prstGeom>
          <a:solidFill>
            <a:srgbClr val="E6ECE8"/>
          </a:solidFill>
          <a:ln>
            <a:noFill/>
          </a:ln>
        </p:spPr>
        <p:txBody>
          <a:bodyPr wrap="square" lIns="0" tIns="0" rIns="0" bIns="0" anchor="t">
            <a:noAutofit/>
          </a:bodyPr>
          <a:lstStyle/>
          <a:p>
            <a:pPr algn="l"/>
          </a:p>
        </p:txBody>
      </p:sp>
      <p:sp>
        <p:nvSpPr>
          <p:cNvPr id="65" name="Grid line"/>
          <p:cNvSpPr/>
          <p:nvPr/>
        </p:nvSpPr>
        <p:spPr>
          <a:xfrm>
            <a:off x="8092440" y="6035039"/>
            <a:ext cx="4099255" cy="6400"/>
          </a:xfrm>
          <a:prstGeom prst="rect">
            <a:avLst/>
          </a:prstGeom>
          <a:solidFill>
            <a:srgbClr val="E6ECE8"/>
          </a:solidFill>
          <a:ln>
            <a:noFill/>
          </a:ln>
        </p:spPr>
        <p:txBody>
          <a:bodyPr wrap="square" lIns="0" tIns="0" rIns="0" bIns="0" anchor="t">
            <a:noAutofit/>
          </a:bodyPr>
          <a:lstStyle/>
          <a:p>
            <a:pPr algn="l"/>
          </a:p>
        </p:txBody>
      </p:sp>
      <p:sp>
        <p:nvSpPr>
          <p:cNvPr id="66" name="Grid line"/>
          <p:cNvSpPr/>
          <p:nvPr/>
        </p:nvSpPr>
        <p:spPr>
          <a:xfrm>
            <a:off x="8092440" y="6309359"/>
            <a:ext cx="4099255" cy="6400"/>
          </a:xfrm>
          <a:prstGeom prst="rect">
            <a:avLst/>
          </a:prstGeom>
          <a:solidFill>
            <a:srgbClr val="E6ECE8"/>
          </a:solidFill>
          <a:ln>
            <a:noFill/>
          </a:ln>
        </p:spPr>
        <p:txBody>
          <a:bodyPr wrap="square" lIns="0" tIns="0" rIns="0" bIns="0" anchor="t">
            <a:noAutofit/>
          </a:bodyPr>
          <a:lstStyle/>
          <a:p>
            <a:pPr algn="l"/>
          </a:p>
        </p:txBody>
      </p:sp>
      <p:sp>
        <p:nvSpPr>
          <p:cNvPr id="67" name="Grid line"/>
          <p:cNvSpPr/>
          <p:nvPr/>
        </p:nvSpPr>
        <p:spPr>
          <a:xfrm>
            <a:off x="8092440" y="6583679"/>
            <a:ext cx="4099255" cy="6400"/>
          </a:xfrm>
          <a:prstGeom prst="rect">
            <a:avLst/>
          </a:prstGeom>
          <a:solidFill>
            <a:srgbClr val="E6ECE8"/>
          </a:solidFill>
          <a:ln>
            <a:noFill/>
          </a:ln>
        </p:spPr>
        <p:txBody>
          <a:bodyPr wrap="square" lIns="0" tIns="0" rIns="0" bIns="0" anchor="t">
            <a:noAutofit/>
          </a:bodyPr>
          <a:lstStyle/>
          <a:p>
            <a:pPr algn="l"/>
          </a:p>
        </p:txBody>
      </p:sp>
      <p:sp>
        <p:nvSpPr>
          <p:cNvPr id="21" name="Google Shape;21;p1"/>
          <p:cNvSpPr txBox="1"/>
          <p:nvPr/>
        </p:nvSpPr>
        <p:spPr>
          <a:xfrm>
            <a:off x="795528" y="566928"/>
            <a:ext cx="67665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RESEARCH PAPER</a:t>
            </a:r>
            <a:endParaRPr/>
          </a:p>
        </p:txBody>
      </p:sp>
      <p:sp>
        <p:nvSpPr>
          <p:cNvPr id="22" name="Google Shape;22;p1"/>
          <p:cNvSpPr txBox="1"/>
          <p:nvPr/>
        </p:nvSpPr>
        <p:spPr>
          <a:xfrm>
            <a:off x="795528" y="1938528"/>
            <a:ext cx="6949440" cy="148132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Retrieval-Augmented</a:t>
            </a:r>
            <a:endParaRPr sz="3000"/>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Generation of Ontologies</a:t>
            </a:r>
            <a:endParaRPr sz="3000"/>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from Relati</a:t>
            </a:r>
            <a:r>
              <a:rPr b="1" i="0" lang="en-US" sz="3000" u="none" cap="none" strike="noStrike">
                <a:solidFill>
                  <a:srgbClr val="1F2328"/>
                </a:solidFill>
                <a:latin typeface="Cambria"/>
                <a:ea typeface="Calibri"/>
                <a:cs typeface="Calibri"/>
                <a:sym typeface="Calibri"/>
              </a:rPr>
              <a:t>o</a:t>
            </a:r>
            <a:r>
              <a:rPr b="1" i="0" lang="en-US" sz="3000" u="none" cap="none" strike="noStrike">
                <a:solidFill>
                  <a:srgbClr val="1F2328"/>
                </a:solidFill>
                <a:latin typeface="Cambria"/>
                <a:ea typeface="Calibri"/>
                <a:cs typeface="Calibri"/>
                <a:sym typeface="Calibri"/>
              </a:rPr>
              <a:t>nal Databases</a:t>
            </a:r>
            <a:endParaRPr sz="3000"/>
          </a:p>
        </p:txBody>
      </p:sp>
      <p:sp>
        <p:nvSpPr>
          <p:cNvPr id="25" name="Google Shape;25;p1"/>
          <p:cNvSpPr txBox="1"/>
          <p:nvPr/>
        </p:nvSpPr>
        <p:spPr>
          <a:xfrm>
            <a:off x="795528" y="6053328"/>
            <a:ext cx="694944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lang="en-US" sz="1250" b="1">
                <a:solidFill>
                  <a:srgbClr val="5B6770"/>
                </a:solidFill>
                <a:latin typeface="Consolas"/>
                <a:ea typeface="Consolas"/>
                <a:cs typeface="Consolas"/>
                <a:sym typeface="Consolas"/>
              </a:rPr>
              <a:t>PAPER  </a:t>
            </a:r>
            <a:r>
              <a:rPr lang="en-US" sz="1250" b="0">
                <a:solidFill>
                  <a:srgbClr val="2F6B78"/>
                </a:solidFill>
                <a:latin typeface="Consolas"/>
                <a:ea typeface="Consolas"/>
                <a:cs typeface="Consolas"/>
                <a:sym typeface="Consolas"/>
              </a:rPr>
              <a:t>arXiv:2506.01232</a:t>
            </a:r>
            <a:r>
              <a:rPr lang="en-US" sz="1250" b="1">
                <a:solidFill>
                  <a:srgbClr val="5B6770"/>
                </a:solidFill>
                <a:latin typeface="Consolas"/>
                <a:ea typeface="Consolas"/>
                <a:cs typeface="Consolas"/>
                <a:sym typeface="Consolas"/>
              </a:rPr>
              <a:t>        CODE  </a:t>
            </a:r>
            <a:r>
              <a:rPr lang="en-US" sz="1250" b="0">
                <a:solidFill>
                  <a:srgbClr val="2F6B78"/>
                </a:solidFill>
                <a:latin typeface="Consolas"/>
                <a:ea typeface="Consolas"/>
                <a:cs typeface="Consolas"/>
                <a:sym typeface="Consolas"/>
              </a:rPr>
              <a:t>github.com/NadeenAhmad/RIGOR</a:t>
            </a:r>
            <a:endParaRPr sz="1250">
              <a:solidFill>
                <a:srgbClr val="1F2328"/>
              </a:solidFill>
            </a:endParaRPr>
          </a:p>
        </p:txBody>
      </p:sp>
      <p:pic>
        <p:nvPicPr>
          <p:cNvPr descr="A relational table whose highlighted row is mapped by RIGOR to a node of an ontology graph" id="26" name="Google Shape;26;p1"/>
          <p:cNvPicPr preferRelativeResize="0"/>
          <p:nvPr/>
        </p:nvPicPr>
        <p:blipFill rotWithShape="1">
          <a:blip r:embed="rId3">
            <a:alphaModFix/>
          </a:blip>
          <a:srcRect b="0" l="0" r="0" t="0"/>
          <a:stretch/>
        </p:blipFill>
        <p:spPr>
          <a:xfrm>
            <a:off x="8427567" y="1325880"/>
            <a:ext cx="3429000" cy="3066585"/>
          </a:xfrm>
          <a:prstGeom prst="rect">
            <a:avLst/>
          </a:prstGeom>
          <a:noFill/>
          <a:ln>
            <a:noFill/>
          </a:ln>
        </p:spPr>
      </p:pic>
      <p:sp>
        <p:nvSpPr>
          <p:cNvPr id="27" name="Google Shape;27;p1"/>
          <p:cNvSpPr txBox="1"/>
          <p:nvPr/>
        </p:nvSpPr>
        <p:spPr>
          <a:xfrm>
            <a:off x="8233257" y="4502193"/>
            <a:ext cx="1828800"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300" b="1">
                <a:solidFill>
                  <a:srgbClr val="1F2328"/>
                </a:solidFill>
                <a:latin typeface="Consolas"/>
                <a:ea typeface="Consolas"/>
                <a:cs typeface="Consolas"/>
                <a:sym typeface="Consolas"/>
              </a:rPr>
              <a:t>relational database</a:t>
            </a:r>
            <a:endParaRPr sz="1300">
              <a:solidFill>
                <a:srgbClr val="1F2328"/>
              </a:solidFill>
            </a:endParaRPr>
          </a:p>
        </p:txBody>
      </p:sp>
      <p:sp>
        <p:nvSpPr>
          <p:cNvPr id="28" name="Google Shape;28;p1"/>
          <p:cNvSpPr txBox="1"/>
          <p:nvPr/>
        </p:nvSpPr>
        <p:spPr>
          <a:xfrm>
            <a:off x="10119207" y="4502193"/>
            <a:ext cx="1828800"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300" b="1">
                <a:solidFill>
                  <a:srgbClr val="1F2328"/>
                </a:solidFill>
                <a:latin typeface="Consolas"/>
                <a:ea typeface="Consolas"/>
                <a:cs typeface="Consolas"/>
                <a:sym typeface="Consolas"/>
              </a:rPr>
              <a:t>ontology</a:t>
            </a:r>
            <a:endParaRPr sz="1300">
              <a:solidFill>
                <a:srgbClr val="1F2328"/>
              </a:solidFill>
            </a:endParaRPr>
          </a:p>
        </p:txBody>
      </p:sp>
      <p:sp>
        <p:nvSpPr>
          <p:cNvPr id="68" name="Wordmark"/>
          <p:cNvSpPr txBox="1"/>
          <p:nvPr/>
        </p:nvSpPr>
        <p:spPr>
          <a:xfrm>
            <a:off x="768096" y="987552"/>
            <a:ext cx="6766560" cy="868680"/>
          </a:xfrm>
          <a:prstGeom prst="rect">
            <a:avLst/>
          </a:prstGeom>
          <a:noFill/>
        </p:spPr>
        <p:txBody>
          <a:bodyPr wrap="square" lIns="0" tIns="0" rIns="0" bIns="0" anchor="t">
            <a:noAutofit/>
          </a:bodyPr>
          <a:lstStyle/>
          <a:p>
            <a:pPr/>
            <a:r>
              <a:rPr lang="en-US" sz="5400" b="1" i="0" spc="300" dirty="0">
                <a:solidFill>
                  <a:srgbClr val="0B6E4F"/>
                </a:solidFill>
                <a:latin typeface="Cambria"/>
                <a:cs typeface="Cambria"/>
              </a:rPr>
              <a:t xml:space="preserve">RIGOR</a:t>
            </a:r>
          </a:p>
        </p:txBody>
      </p:sp>
      <p:sp>
        <p:nvSpPr>
          <p:cNvPr id="69" name="Authors"/>
          <p:cNvSpPr txBox="1"/>
          <p:nvPr/>
        </p:nvSpPr>
        <p:spPr>
          <a:xfrm>
            <a:off x="795528" y="3822191"/>
            <a:ext cx="6949440" cy="960120"/>
          </a:xfrm>
          <a:prstGeom prst="rect">
            <a:avLst/>
          </a:prstGeom>
          <a:noFill/>
        </p:spPr>
        <p:txBody>
          <a:bodyPr wrap="square" lIns="0" tIns="0" rIns="0" bIns="0" anchor="t">
            <a:noAutofit/>
          </a:bodyPr>
          <a:lstStyle/>
          <a:p>
            <a:pPr>
              <a:lnSpc>
                <a:spcPts val="2300"/>
              </a:lnSpc>
            </a:pPr>
            <a:r>
              <a:rPr lang="en-US" sz="1500" b="1" i="0" dirty="0">
                <a:solidFill>
                  <a:srgbClr val="1F2328"/>
                </a:solidFill>
                <a:latin typeface="Calibri"/>
                <a:cs typeface="Calibri"/>
              </a:rPr>
              <a:t xml:space="preserve">Nadeen Fathallah</a:t>
            </a:r>
            <a:r>
              <a:rPr lang="en-US" sz="1500" b="1" i="0" baseline="30000" dirty="0">
                <a:solidFill>
                  <a:srgbClr val="0B6E4F"/>
                </a:solidFill>
                <a:latin typeface="Calibri"/>
                <a:cs typeface="Calibri"/>
              </a:rPr>
              <a:t xml:space="preserve">1</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Mojtaba Nayyeri</a:t>
            </a:r>
            <a:r>
              <a:rPr lang="en-US" sz="1500" b="1" i="0" baseline="30000" dirty="0">
                <a:solidFill>
                  <a:srgbClr val="0B6E4F"/>
                </a:solidFill>
                <a:latin typeface="Calibri"/>
                <a:cs typeface="Calibri"/>
              </a:rPr>
              <a:t xml:space="preserve">1</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Athish A Yogi</a:t>
            </a:r>
            <a:r>
              <a:rPr lang="en-US" sz="1500" b="1" i="0" baseline="30000" dirty="0">
                <a:solidFill>
                  <a:srgbClr val="0B6E4F"/>
                </a:solidFill>
                <a:latin typeface="Calibri"/>
                <a:cs typeface="Calibri"/>
              </a:rPr>
              <a:t xml:space="preserve">1</a:t>
            </a:r>
          </a:p>
          <a:p>
            <a:pPr>
              <a:lnSpc>
                <a:spcPts val="2300"/>
              </a:lnSpc>
            </a:pPr>
            <a:r>
              <a:rPr lang="en-US" sz="1500" b="0" i="0" dirty="0">
                <a:solidFill>
                  <a:srgbClr val="3A434C"/>
                </a:solidFill>
                <a:latin typeface="Calibri"/>
                <a:cs typeface="Calibri"/>
              </a:rPr>
              <a:t xml:space="preserve">Ratan Bahadur Thapa</a:t>
            </a:r>
            <a:r>
              <a:rPr lang="en-US" sz="1500" b="1" i="0" baseline="30000" dirty="0">
                <a:solidFill>
                  <a:srgbClr val="0B6E4F"/>
                </a:solidFill>
                <a:latin typeface="Calibri"/>
                <a:cs typeface="Calibri"/>
              </a:rPr>
              <a:t xml:space="preserve">1</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Hans-Michael Tautenhahn</a:t>
            </a:r>
            <a:r>
              <a:rPr lang="en-US" sz="1500" b="1" i="0" baseline="30000" dirty="0">
                <a:solidFill>
                  <a:srgbClr val="0B6E4F"/>
                </a:solidFill>
                <a:latin typeface="Calibri"/>
                <a:cs typeface="Calibri"/>
              </a:rPr>
              <a:t xml:space="preserve">3</a:t>
            </a:r>
          </a:p>
          <a:p>
            <a:pPr>
              <a:lnSpc>
                <a:spcPts val="2300"/>
              </a:lnSpc>
            </a:pPr>
            <a:r>
              <a:rPr lang="en-US" sz="1500" b="0" i="0" dirty="0">
                <a:solidFill>
                  <a:srgbClr val="3A434C"/>
                </a:solidFill>
                <a:latin typeface="Calibri"/>
                <a:cs typeface="Calibri"/>
              </a:rPr>
              <a:t xml:space="preserve">Anton Schnurpel</a:t>
            </a:r>
            <a:r>
              <a:rPr lang="en-US" sz="1500" b="1" i="0" baseline="30000" dirty="0">
                <a:solidFill>
                  <a:srgbClr val="0B6E4F"/>
                </a:solidFill>
                <a:latin typeface="Calibri"/>
                <a:cs typeface="Calibri"/>
              </a:rPr>
              <a:t xml:space="preserve">3</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Steffen Staab</a:t>
            </a:r>
            <a:r>
              <a:rPr lang="en-US" sz="1500" b="1" i="0" baseline="30000" dirty="0">
                <a:solidFill>
                  <a:srgbClr val="0B6E4F"/>
                </a:solidFill>
                <a:latin typeface="Calibri"/>
                <a:cs typeface="Calibri"/>
              </a:rPr>
              <a:t xml:space="preserve">1,2</a:t>
            </a:r>
          </a:p>
        </p:txBody>
      </p:sp>
      <p:sp>
        <p:nvSpPr>
          <p:cNvPr id="70" name="Affiliations"/>
          <p:cNvSpPr txBox="1"/>
          <p:nvPr/>
        </p:nvSpPr>
        <p:spPr>
          <a:xfrm>
            <a:off x="795528" y="4919472"/>
            <a:ext cx="6949440" cy="731520"/>
          </a:xfrm>
          <a:prstGeom prst="rect">
            <a:avLst/>
          </a:prstGeom>
          <a:noFill/>
        </p:spPr>
        <p:txBody>
          <a:bodyPr wrap="square" lIns="0" tIns="0" rIns="0" bIns="0" anchor="t">
            <a:noAutofit/>
          </a:bodyPr>
          <a:lstStyle/>
          <a:p>
            <a:pPr>
              <a:lnSpc>
                <a:spcPts val="1700"/>
              </a:lnSpc>
            </a:pPr>
            <a:r>
              <a:rPr lang="en-US" sz="1200" b="1" i="0" baseline="30000" dirty="0">
                <a:solidFill>
                  <a:srgbClr val="0B6E4F"/>
                </a:solidFill>
                <a:latin typeface="Calibri"/>
                <a:cs typeface="Calibri"/>
              </a:rPr>
              <a:t xml:space="preserve">1</a:t>
            </a:r>
            <a:r>
              <a:rPr lang="en-US" sz="1200" b="0" i="0" dirty="0">
                <a:solidFill>
                  <a:srgbClr val="5B6770"/>
                </a:solidFill>
                <a:latin typeface="Calibri"/>
                <a:cs typeface="Calibri"/>
              </a:rPr>
              <a:t xml:space="preserve"> Institute for Artificial Intelligence, University of Stuttgart, Germany</a:t>
            </a:r>
          </a:p>
          <a:p>
            <a:pPr>
              <a:lnSpc>
                <a:spcPts val="1700"/>
              </a:lnSpc>
            </a:pPr>
            <a:r>
              <a:rPr lang="en-US" sz="1200" b="1" i="0" baseline="30000" dirty="0">
                <a:solidFill>
                  <a:srgbClr val="0B6E4F"/>
                </a:solidFill>
                <a:latin typeface="Calibri"/>
                <a:cs typeface="Calibri"/>
              </a:rPr>
              <a:t xml:space="preserve">2</a:t>
            </a:r>
            <a:r>
              <a:rPr lang="en-US" sz="1200" b="0" i="0" dirty="0">
                <a:solidFill>
                  <a:srgbClr val="5B6770"/>
                </a:solidFill>
                <a:latin typeface="Calibri"/>
                <a:cs typeface="Calibri"/>
              </a:rPr>
              <a:t xml:space="preserve"> University of Southampton, United Kingdom</a:t>
            </a:r>
          </a:p>
          <a:p>
            <a:pPr>
              <a:lnSpc>
                <a:spcPts val="1700"/>
              </a:lnSpc>
            </a:pPr>
            <a:r>
              <a:rPr lang="en-US" sz="1200" b="1" i="0" baseline="30000" dirty="0">
                <a:solidFill>
                  <a:srgbClr val="0B6E4F"/>
                </a:solidFill>
                <a:latin typeface="Calibri"/>
                <a:cs typeface="Calibri"/>
              </a:rPr>
              <a:t xml:space="preserve">3</a:t>
            </a:r>
            <a:r>
              <a:rPr lang="en-US" sz="1200" b="0" i="0" dirty="0">
                <a:solidFill>
                  <a:srgbClr val="5B6770"/>
                </a:solidFill>
                <a:latin typeface="Calibri"/>
                <a:cs typeface="Calibri"/>
              </a:rPr>
              <a:t xml:space="preserve"> Universitätsklinikum Leipzig, Germany</a:t>
            </a:r>
          </a:p>
        </p:txBody>
      </p:sp>
      <p:sp>
        <p:nvSpPr>
          <p:cNvPr id="71" name="RIGOR pill"/>
          <p:cNvSpPr/>
          <p:nvPr/>
        </p:nvSpPr>
        <p:spPr>
          <a:xfrm>
            <a:off x="10015194" y="2150512"/>
            <a:ext cx="768096" cy="274320"/>
          </a:xfrm>
          <a:prstGeom prst="roundRect">
            <a:avLst>
              <a:gd name="adj" fmla="val 12000"/>
            </a:avLst>
          </a:prstGeom>
          <a:solidFill>
            <a:srgbClr val="0B6E4F"/>
          </a:solidFill>
          <a:ln>
            <a:noFill/>
          </a:ln>
        </p:spPr>
        <p:txBody>
          <a:bodyPr wrap="square" lIns="0" tIns="0" rIns="0" bIns="0" anchor="ctr">
            <a:noAutofit/>
          </a:bodyPr>
          <a:lstStyle/>
          <a:p>
            <a:pPr algn="ctr"/>
            <a:r>
              <a:rPr lang="en-US" sz="1150" b="1" i="0" dirty="0">
                <a:solidFill>
                  <a:srgbClr val="FFFFFF"/>
                </a:solidFill>
                <a:latin typeface="Consolas"/>
                <a:cs typeface="Consolas"/>
              </a:rPr>
              <a:t xml:space="preserve">RIGOR</a:t>
            </a:r>
          </a:p>
        </p:txBody>
      </p:sp>
      <p:sp>
        <p:nvSpPr>
          <p:cNvPr id="72" name="Venue"/>
          <p:cNvSpPr txBox="1"/>
          <p:nvPr/>
        </p:nvSpPr>
        <p:spPr>
          <a:xfrm>
            <a:off x="8549640" y="5779008"/>
            <a:ext cx="3108960" cy="566928"/>
          </a:xfrm>
          <a:prstGeom prst="rect">
            <a:avLst/>
          </a:prstGeom>
          <a:noFill/>
        </p:spPr>
        <p:txBody>
          <a:bodyPr wrap="square" lIns="0" tIns="0" rIns="0" bIns="0" anchor="t">
            <a:noAutofit/>
          </a:bodyPr>
          <a:lstStyle/>
          <a:p>
            <a:pPr>
              <a:lnSpc>
                <a:spcPts val="2000"/>
              </a:lnSpc>
            </a:pPr>
            <a:r>
              <a:rPr lang="en-US" sz="1400" b="1" i="0" dirty="0">
                <a:solidFill>
                  <a:srgbClr val="0B6E4F"/>
                </a:solidFill>
                <a:latin typeface="Consolas"/>
                <a:cs typeface="Consolas"/>
              </a:rPr>
              <a:t xml:space="preserve">ISWC 2026</a:t>
            </a:r>
          </a:p>
          <a:p>
            <a:pPr>
              <a:lnSpc>
                <a:spcPts val="2000"/>
              </a:lnSpc>
            </a:pPr>
            <a:r>
              <a:rPr lang="en-US" sz="1300" b="0" i="0" dirty="0">
                <a:solidFill>
                  <a:srgbClr val="1F2328"/>
                </a:solidFill>
                <a:latin typeface="Calibri"/>
                <a:cs typeface="Calibri"/>
              </a:rPr>
              <a:t xml:space="preserve">Bari, Italy</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 name="Shape 33"/>
        <p:cNvGrpSpPr/>
        <p:nvPr/>
      </p:nvGrpSpPr>
      <p:grpSpPr>
        <a:xfrm>
          <a:off x="0" y="0"/>
          <a:ext cx="0" cy="0"/>
          <a:chOff x="0" y="0"/>
          <a:chExt cx="0" cy="0"/>
        </a:xfrm>
      </p:grpSpPr>
      <p:sp>
        <p:nvSpPr>
          <p:cNvPr id="34" name="Google Shape;34;p2"/>
          <p:cNvSpPr txBox="1"/>
          <p:nvPr/>
        </p:nvSpPr>
        <p:spPr>
          <a:xfrm>
            <a:off x="804672"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MOTIVATION  /  ILLUSTRATIVE CLINICAL EXAMPLE</a:t>
            </a:r>
            <a:endParaRPr/>
          </a:p>
        </p:txBody>
      </p:sp>
      <p:sp>
        <p:nvSpPr>
          <p:cNvPr id="35" name="Google Shape;35;p2"/>
          <p:cNvSpPr txBox="1"/>
          <p:nvPr/>
        </p:nvSpPr>
        <p:spPr>
          <a:xfrm>
            <a:off x="804672" y="932688"/>
            <a:ext cx="10762488" cy="8961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A database can tell us how data is stored.</a:t>
            </a:r>
            <a:endParaRPr/>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Can it tell us what the data means?</a:t>
            </a:r>
            <a:endParaRPr/>
          </a:p>
        </p:txBody>
      </p:sp>
      <p:sp>
        <p:nvSpPr>
          <p:cNvPr id="36" name="Google Shape;36;p2"/>
          <p:cNvSpPr/>
          <p:nvPr/>
        </p:nvSpPr>
        <p:spPr>
          <a:xfrm>
            <a:off x="804672" y="2048256"/>
            <a:ext cx="5486400" cy="327355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 name="Google Shape;37;p2"/>
          <p:cNvSpPr txBox="1"/>
          <p:nvPr/>
        </p:nvSpPr>
        <p:spPr>
          <a:xfrm>
            <a:off x="1069848" y="2276856"/>
            <a:ext cx="492861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5B6770"/>
                </a:solidFill>
                <a:latin typeface="Consolas"/>
                <a:ea typeface="Consolas"/>
                <a:cs typeface="Consolas"/>
                <a:sym typeface="Consolas"/>
              </a:rPr>
              <a:t>RELATIONAL SCHEMA · EXCERPT</a:t>
            </a:r>
            <a:endParaRPr/>
          </a:p>
        </p:txBody>
      </p:sp>
      <p:sp>
        <p:nvSpPr>
          <p:cNvPr id="50" name="Google Shape;50;p2"/>
          <p:cNvSpPr txBox="1"/>
          <p:nvPr/>
        </p:nvSpPr>
        <p:spPr>
          <a:xfrm>
            <a:off x="6665976" y="2176272"/>
            <a:ext cx="480974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u="none" cap="none" strike="noStrike">
                <a:solidFill>
                  <a:srgbClr val="5B6770"/>
                </a:solidFill>
                <a:latin typeface="Consolas"/>
                <a:ea typeface="Consolas"/>
                <a:cs typeface="Consolas"/>
                <a:sym typeface="Consolas"/>
              </a:rPr>
              <a:t>WHAT WE STILL NEED TO UNDERSTAND</a:t>
            </a:r>
            <a:endParaRPr/>
          </a:p>
        </p:txBody>
      </p:sp>
      <p:sp>
        <p:nvSpPr>
          <p:cNvPr id="51" name="Google Shape;51;p2"/>
          <p:cNvSpPr/>
          <p:nvPr/>
        </p:nvSpPr>
        <p:spPr>
          <a:xfrm>
            <a:off x="6684264" y="26426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 name="Google Shape;52;p2"/>
          <p:cNvSpPr/>
          <p:nvPr/>
        </p:nvSpPr>
        <p:spPr>
          <a:xfrm>
            <a:off x="6858000" y="28803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 name="Google Shape;53;p2"/>
          <p:cNvSpPr txBox="1"/>
          <p:nvPr/>
        </p:nvSpPr>
        <p:spPr>
          <a:xfrm>
            <a:off x="6894576" y="28803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01</a:t>
            </a:r>
            <a:endParaRPr/>
          </a:p>
        </p:txBody>
      </p:sp>
      <p:sp>
        <p:nvSpPr>
          <p:cNvPr id="54" name="Google Shape;54;p2"/>
          <p:cNvSpPr txBox="1"/>
          <p:nvPr/>
        </p:nvSpPr>
        <p:spPr>
          <a:xfrm>
            <a:off x="7324344" y="27614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patient_id</a:t>
            </a:r>
            <a:endParaRPr/>
          </a:p>
        </p:txBody>
      </p:sp>
      <p:sp>
        <p:nvSpPr>
          <p:cNvPr id="55" name="Google Shape;55;p2"/>
          <p:cNvSpPr txBox="1"/>
          <p:nvPr/>
        </p:nvSpPr>
        <p:spPr>
          <a:xfrm>
            <a:off x="8677656" y="2752344"/>
            <a:ext cx="2596896" cy="557784"/>
          </a:xfrm>
          <a:prstGeom prst="rect">
            <a:avLst/>
          </a:prstGeom>
          <a:noFill/>
          <a:ln>
            <a:noFill/>
          </a:ln>
        </p:spPr>
        <p:txBody>
          <a:bodyPr anchorCtr="0" anchor="ctr" bIns="0" lIns="0" spcFirstLastPara="1" rIns="0" wrap="none" tIns="0">
            <a:spAutoFit/>
          </a:bodyPr>
          <a:lstStyle/>
          <a:p>
            <a:pPr indent="0" lvl="0" marL="0" marR="0" rtl="0" algn="l">
              <a:lnSpc>
                <a:spcPct val="100000"/>
              </a:lnSpc>
              <a:spcBef>
                <a:spcPts val="0"/>
              </a:spcBef>
              <a:spcAft>
                <a:spcPts val="0"/>
              </a:spcAft>
              <a:buNone/>
            </a:pPr>
            <a:r>
              <a:rPr sz="1450">
                <a:solidFill>
                  <a:srgbClr val="1F2328"/>
                </a:solidFill>
                <a:latin typeface="Calibri"/>
              </a:rPr>
              <a:t>How do we represent the link</a:t>
            </a:r>
            <a:endParaRPr/>
          </a:p>
          <a:p>
            <a:pPr algn="l">
              <a:spcBef>
                <a:spcPts val="0"/>
              </a:spcBef>
              <a:spcAft>
                <a:spcPts val="0"/>
              </a:spcAft>
            </a:pPr>
            <a:r>
              <a:rPr sz="1450">
                <a:solidFill>
                  <a:srgbClr val="1F2328"/>
                </a:solidFill>
                <a:latin typeface="Calibri"/>
              </a:rPr>
              <a:t>from an admission to its patient?</a:t>
            </a:r>
          </a:p>
        </p:txBody>
      </p:sp>
      <p:sp>
        <p:nvSpPr>
          <p:cNvPr id="56" name="Google Shape;56;p2"/>
          <p:cNvSpPr/>
          <p:nvPr/>
        </p:nvSpPr>
        <p:spPr>
          <a:xfrm>
            <a:off x="6684264" y="35570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 name="Google Shape;57;p2"/>
          <p:cNvSpPr/>
          <p:nvPr/>
        </p:nvSpPr>
        <p:spPr>
          <a:xfrm>
            <a:off x="6858000" y="37947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 name="Google Shape;58;p2"/>
          <p:cNvSpPr txBox="1"/>
          <p:nvPr/>
        </p:nvSpPr>
        <p:spPr>
          <a:xfrm>
            <a:off x="6894576" y="37947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02</a:t>
            </a:r>
            <a:endParaRPr/>
          </a:p>
        </p:txBody>
      </p:sp>
      <p:sp>
        <p:nvSpPr>
          <p:cNvPr id="59" name="Google Shape;59;p2"/>
          <p:cNvSpPr txBox="1"/>
          <p:nvPr/>
        </p:nvSpPr>
        <p:spPr>
          <a:xfrm>
            <a:off x="7324344" y="36758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BM_DEP</a:t>
            </a:r>
            <a:endParaRPr/>
          </a:p>
        </p:txBody>
      </p:sp>
      <p:sp>
        <p:nvSpPr>
          <p:cNvPr id="60" name="Google Shape;60;p2"/>
          <p:cNvSpPr txBox="1"/>
          <p:nvPr/>
        </p:nvSpPr>
        <p:spPr>
          <a:xfrm>
            <a:off x="8695944" y="36393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Which clinical concept</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does this abbreviation mean?</a:t>
            </a:r>
            <a:endParaRPr/>
          </a:p>
        </p:txBody>
      </p:sp>
      <p:sp>
        <p:nvSpPr>
          <p:cNvPr id="61" name="Google Shape;61;p2"/>
          <p:cNvSpPr/>
          <p:nvPr/>
        </p:nvSpPr>
        <p:spPr>
          <a:xfrm>
            <a:off x="6684264" y="44714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 name="Google Shape;62;p2"/>
          <p:cNvSpPr/>
          <p:nvPr/>
        </p:nvSpPr>
        <p:spPr>
          <a:xfrm>
            <a:off x="6858000" y="47091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 name="Google Shape;63;p2"/>
          <p:cNvSpPr txBox="1"/>
          <p:nvPr/>
        </p:nvSpPr>
        <p:spPr>
          <a:xfrm>
            <a:off x="6894576" y="47091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03</a:t>
            </a:r>
            <a:endParaRPr/>
          </a:p>
        </p:txBody>
      </p:sp>
      <p:sp>
        <p:nvSpPr>
          <p:cNvPr id="64" name="Google Shape;64;p2"/>
          <p:cNvSpPr txBox="1"/>
          <p:nvPr/>
        </p:nvSpPr>
        <p:spPr>
          <a:xfrm>
            <a:off x="7324344" y="45902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ecog_stage</a:t>
            </a:r>
            <a:endParaRPr/>
          </a:p>
        </p:txBody>
      </p:sp>
      <p:sp>
        <p:nvSpPr>
          <p:cNvPr id="65" name="Google Shape;65;p2"/>
          <p:cNvSpPr txBox="1"/>
          <p:nvPr/>
        </p:nvSpPr>
        <p:spPr>
          <a:xfrm>
            <a:off x="8695944" y="45537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What do the encoded</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score values mean?</a:t>
            </a:r>
            <a:endParaRPr/>
          </a:p>
        </p:txBody>
      </p:sp>
      <p:sp>
        <p:nvSpPr>
          <p:cNvPr id="66" name="Google Shape;66;p2"/>
          <p:cNvSpPr txBox="1"/>
          <p:nvPr/>
        </p:nvSpPr>
        <p:spPr>
          <a:xfrm>
            <a:off x="804672" y="5632704"/>
            <a:ext cx="1058875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a:p>
        </p:txBody>
      </p:sp>
      <p:sp>
        <p:nvSpPr>
          <p:cNvPr id="67" name="Google Shape;67;p2"/>
          <p:cNvSpPr txBox="1"/>
          <p:nvPr/>
        </p:nvSpPr>
        <p:spPr>
          <a:xfrm>
            <a:off x="4992624" y="3218688"/>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50" u="none" cap="none" strike="noStrike">
                <a:solidFill>
                  <a:srgbClr val="3A434C"/>
                </a:solidFill>
                <a:latin typeface="Consolas"/>
                <a:ea typeface="Consolas"/>
                <a:cs typeface="Consolas"/>
                <a:sym typeface="Consolas"/>
              </a:rPr>
              <a:t>FK</a:t>
            </a:r>
            <a:endParaRPr/>
          </a:p>
        </p:txBody>
      </p:sp>
      <p:sp>
        <p:nvSpPr>
          <p:cNvPr id="68" name="Google Shape;68;p2"/>
          <p:cNvSpPr txBox="1"/>
          <p:nvPr/>
        </p:nvSpPr>
        <p:spPr>
          <a:xfrm>
            <a:off x="4992624" y="3575304"/>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69" name="Google Shape;69;p2"/>
          <p:cNvSpPr txBox="1"/>
          <p:nvPr/>
        </p:nvSpPr>
        <p:spPr>
          <a:xfrm>
            <a:off x="4992624" y="3931920"/>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70" name="Rounded Rectangle 69"/>
          <p:cNvSpPr/>
          <p:nvPr/>
        </p:nvSpPr>
        <p:spPr>
          <a:xfrm>
            <a:off x="1051560" y="2660904"/>
            <a:ext cx="188366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3383280" y="2660904"/>
            <a:ext cx="261518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97864" y="2770632"/>
            <a:ext cx="1655064" cy="292608"/>
          </a:xfrm>
          <a:prstGeom prst="rect">
            <a:avLst/>
          </a:prstGeom>
          <a:noFill/>
        </p:spPr>
        <p:txBody>
          <a:bodyPr wrap="square" lIns="0" rIns="0" tIns="0" bIns="0" anchor="ctr">
            <a:spAutoFit/>
          </a:bodyPr>
          <a:lstStyle/>
          <a:p>
            <a:pPr algn="l"/>
            <a:r>
              <a:rPr sz="1900" b="1">
                <a:solidFill>
                  <a:srgbClr val="1F2328"/>
                </a:solidFill>
                <a:latin typeface="Calibri"/>
              </a:rPr>
              <a:t>PatientData</a:t>
            </a:r>
          </a:p>
        </p:txBody>
      </p:sp>
      <p:sp>
        <p:nvSpPr>
          <p:cNvPr id="73" name="TextBox 72"/>
          <p:cNvSpPr txBox="1"/>
          <p:nvPr/>
        </p:nvSpPr>
        <p:spPr>
          <a:xfrm>
            <a:off x="3547872" y="2770632"/>
            <a:ext cx="2267712" cy="292608"/>
          </a:xfrm>
          <a:prstGeom prst="rect">
            <a:avLst/>
          </a:prstGeom>
          <a:noFill/>
        </p:spPr>
        <p:txBody>
          <a:bodyPr wrap="square" lIns="0" rIns="0" tIns="0" bIns="0" anchor="ctr">
            <a:spAutoFit/>
          </a:bodyPr>
          <a:lstStyle/>
          <a:p>
            <a:pPr algn="l"/>
            <a:r>
              <a:rPr sz="2200" b="1">
                <a:solidFill>
                  <a:srgbClr val="1F2328"/>
                </a:solidFill>
                <a:latin typeface="Calibri"/>
              </a:rPr>
              <a:t>admission</a:t>
            </a:r>
          </a:p>
        </p:txBody>
      </p:sp>
      <p:cxnSp>
        <p:nvCxnSpPr>
          <p:cNvPr id="74" name="Connector 73"/>
          <p:cNvCxnSpPr/>
          <p:nvPr/>
        </p:nvCxnSpPr>
        <p:spPr>
          <a:xfrm>
            <a:off x="1188720" y="3154680"/>
            <a:ext cx="1609344"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3529584" y="3154680"/>
            <a:ext cx="2313432"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197864" y="3264408"/>
            <a:ext cx="1097280" cy="237744"/>
          </a:xfrm>
          <a:prstGeom prst="rect">
            <a:avLst/>
          </a:prstGeom>
          <a:noFill/>
        </p:spPr>
        <p:txBody>
          <a:bodyPr wrap="square" lIns="0" rIns="0" tIns="0" bIns="0" anchor="ctr">
            <a:spAutoFit/>
          </a:bodyPr>
          <a:lstStyle/>
          <a:p>
            <a:pPr algn="l"/>
            <a:r>
              <a:rPr sz="1500" b="0">
                <a:solidFill>
                  <a:srgbClr val="1F2328"/>
                </a:solidFill>
                <a:latin typeface="Calibri"/>
              </a:rPr>
              <a:t>patient_id</a:t>
            </a:r>
          </a:p>
        </p:txBody>
      </p:sp>
      <p:sp>
        <p:nvSpPr>
          <p:cNvPr id="77" name="TextBox 76"/>
          <p:cNvSpPr txBox="1"/>
          <p:nvPr/>
        </p:nvSpPr>
        <p:spPr>
          <a:xfrm>
            <a:off x="2468880" y="3264408"/>
            <a:ext cx="301752" cy="237744"/>
          </a:xfrm>
          <a:prstGeom prst="rect">
            <a:avLst/>
          </a:prstGeom>
          <a:noFill/>
        </p:spPr>
        <p:txBody>
          <a:bodyPr wrap="square" lIns="0" rIns="0" tIns="0" bIns="0" anchor="ctr">
            <a:spAutoFit/>
          </a:bodyPr>
          <a:lstStyle/>
          <a:p>
            <a:pPr algn="l"/>
            <a:r>
              <a:rPr sz="1400" b="0">
                <a:solidFill>
                  <a:srgbClr val="5B6770"/>
                </a:solidFill>
                <a:latin typeface="Calibri"/>
              </a:rPr>
              <a:t>PK</a:t>
            </a:r>
          </a:p>
        </p:txBody>
      </p:sp>
      <p:sp>
        <p:nvSpPr>
          <p:cNvPr id="78" name="TextBox 77"/>
          <p:cNvSpPr txBox="1"/>
          <p:nvPr/>
        </p:nvSpPr>
        <p:spPr>
          <a:xfrm>
            <a:off x="3547872" y="3264408"/>
            <a:ext cx="1417320" cy="237744"/>
          </a:xfrm>
          <a:prstGeom prst="rect">
            <a:avLst/>
          </a:prstGeom>
          <a:noFill/>
        </p:spPr>
        <p:txBody>
          <a:bodyPr wrap="square" lIns="0" rIns="0" tIns="0" bIns="0" anchor="ctr">
            <a:spAutoFit/>
          </a:bodyPr>
          <a:lstStyle/>
          <a:p>
            <a:pPr algn="l"/>
            <a:r>
              <a:rPr sz="1600" b="1">
                <a:solidFill>
                  <a:srgbClr val="0B6E4F"/>
                </a:solidFill>
                <a:latin typeface="Calibri"/>
              </a:rPr>
              <a:t>patient_id</a:t>
            </a:r>
          </a:p>
        </p:txBody>
      </p:sp>
      <p:sp>
        <p:nvSpPr>
          <p:cNvPr id="79" name="TextBox 78"/>
          <p:cNvSpPr txBox="1"/>
          <p:nvPr/>
        </p:nvSpPr>
        <p:spPr>
          <a:xfrm>
            <a:off x="5294376" y="3264408"/>
            <a:ext cx="457200" cy="237744"/>
          </a:xfrm>
          <a:prstGeom prst="rect">
            <a:avLst/>
          </a:prstGeom>
          <a:noFill/>
        </p:spPr>
        <p:txBody>
          <a:bodyPr wrap="square" lIns="0" rIns="0" tIns="0" bIns="0" anchor="ctr">
            <a:spAutoFit/>
          </a:bodyPr>
          <a:lstStyle/>
          <a:p>
            <a:pPr algn="l"/>
            <a:r>
              <a:rPr sz="1500" b="0">
                <a:solidFill>
                  <a:srgbClr val="5B6770"/>
                </a:solidFill>
                <a:latin typeface="Calibri"/>
              </a:rPr>
              <a:t>FK</a:t>
            </a:r>
          </a:p>
        </p:txBody>
      </p:sp>
      <p:sp>
        <p:nvSpPr>
          <p:cNvPr id="80" name="TextBox 79"/>
          <p:cNvSpPr txBox="1"/>
          <p:nvPr/>
        </p:nvSpPr>
        <p:spPr>
          <a:xfrm>
            <a:off x="3547872" y="3611880"/>
            <a:ext cx="1417320" cy="237744"/>
          </a:xfrm>
          <a:prstGeom prst="rect">
            <a:avLst/>
          </a:prstGeom>
          <a:noFill/>
        </p:spPr>
        <p:txBody>
          <a:bodyPr wrap="square" lIns="0" rIns="0" tIns="0" bIns="0" anchor="ctr">
            <a:spAutoFit/>
          </a:bodyPr>
          <a:lstStyle/>
          <a:p>
            <a:pPr algn="l"/>
            <a:r>
              <a:rPr sz="1600" b="1">
                <a:solidFill>
                  <a:srgbClr val="0B6E4F"/>
                </a:solidFill>
                <a:latin typeface="Calibri"/>
              </a:rPr>
              <a:t>BM_DEP</a:t>
            </a:r>
          </a:p>
        </p:txBody>
      </p:sp>
      <p:sp>
        <p:nvSpPr>
          <p:cNvPr id="81" name="TextBox 80"/>
          <p:cNvSpPr txBox="1"/>
          <p:nvPr/>
        </p:nvSpPr>
        <p:spPr>
          <a:xfrm>
            <a:off x="5294376" y="3611880"/>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sp>
        <p:nvSpPr>
          <p:cNvPr id="82" name="TextBox 81"/>
          <p:cNvSpPr txBox="1"/>
          <p:nvPr/>
        </p:nvSpPr>
        <p:spPr>
          <a:xfrm>
            <a:off x="3547872" y="3959352"/>
            <a:ext cx="1417320" cy="237744"/>
          </a:xfrm>
          <a:prstGeom prst="rect">
            <a:avLst/>
          </a:prstGeom>
          <a:noFill/>
        </p:spPr>
        <p:txBody>
          <a:bodyPr wrap="square" lIns="0" rIns="0" tIns="0" bIns="0" anchor="ctr">
            <a:spAutoFit/>
          </a:bodyPr>
          <a:lstStyle/>
          <a:p>
            <a:pPr algn="l"/>
            <a:r>
              <a:rPr sz="1500" b="1">
                <a:solidFill>
                  <a:srgbClr val="0B6E4F"/>
                </a:solidFill>
                <a:latin typeface="Calibri"/>
              </a:rPr>
              <a:t>ecog_stage</a:t>
            </a:r>
          </a:p>
        </p:txBody>
      </p:sp>
      <p:sp>
        <p:nvSpPr>
          <p:cNvPr id="83" name="TextBox 82"/>
          <p:cNvSpPr txBox="1"/>
          <p:nvPr/>
        </p:nvSpPr>
        <p:spPr>
          <a:xfrm>
            <a:off x="5294376" y="3959352"/>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cxnSp>
        <p:nvCxnSpPr>
          <p:cNvPr id="85" name="Connector 84"/>
          <p:cNvCxnSpPr/>
          <p:nvPr/>
        </p:nvCxnSpPr>
        <p:spPr>
          <a:xfrm flipH="1">
            <a:off x="2907792" y="3401568"/>
            <a:ext cx="466344" cy="0"/>
          </a:xfrm>
          <a:prstGeom prst="line">
            <a:avLst/>
          </a:prstGeom>
          <a:ln w="31750">
            <a:solidFill>
              <a:srgbClr val="3A7D8C"/>
            </a:solidFill>
          </a:ln>
        </p:spPr>
        <p:style>
          <a:lnRef idx="2">
            <a:schemeClr val="accent1"/>
          </a:lnRef>
          <a:fillRef idx="0">
            <a:schemeClr val="accent1"/>
          </a:fillRef>
          <a:effectRef idx="1">
            <a:schemeClr val="accent1"/>
          </a:effectRef>
          <a:fontRef idx="minor">
            <a:schemeClr val="tx1"/>
          </a:fontRef>
        </p:style>
      </p:cxnSp>
      <p:sp>
        <p:nvSpPr>
          <p:cNvPr id="86" name="Isosceles Triangle 85"/>
          <p:cNvSpPr/>
          <p:nvPr/>
        </p:nvSpPr>
        <p:spPr>
          <a:xfrm rot="16200000">
            <a:off x="2825496" y="3328416"/>
            <a:ext cx="155448" cy="146304"/>
          </a:xfrm>
          <a:prstGeom prst="triangle">
            <a:avLst/>
          </a:prstGeom>
          <a:solidFill>
            <a:srgbClr val="3A7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97280" y="4892040"/>
            <a:ext cx="4937760" cy="274320"/>
          </a:xfrm>
          <a:prstGeom prst="rect">
            <a:avLst/>
          </a:prstGeom>
          <a:noFill/>
        </p:spPr>
        <p:txBody>
          <a:bodyPr wrap="none" lIns="0" rIns="0" tIns="0" bIns="0" anchor="ctr">
            <a:spAutoFit/>
          </a:bodyPr>
          <a:lstStyle/>
          <a:p>
            <a:pPr algn="l"/>
            <a:r>
              <a:rPr sz="1320" b="0">
                <a:solidFill>
                  <a:srgbClr val="1F2328"/>
                </a:solidFill>
                <a:latin typeface="Calibri"/>
              </a:rPr>
              <a:t>Illustrative fields. The FK links an admission to a patient.</a:t>
            </a:r>
          </a:p>
        </p:txBody>
      </p:sp>
      <p:sp>
        <p:nvSpPr>
          <p:cNvPr id="89" name="PatientData age label"/>
          <p:cNvSpPr txBox="1"/>
          <p:nvPr/>
        </p:nvSpPr>
        <p:spPr>
          <a:xfrm>
            <a:off x="1197864" y="3611880"/>
            <a:ext cx="1106424" cy="246888"/>
          </a:xfrm>
          <a:prstGeom prst="rect">
            <a:avLst/>
          </a:prstGeom>
          <a:noFill/>
        </p:spPr>
        <p:txBody>
          <a:bodyPr wrap="none" lIns="0" rIns="0" tIns="0" bIns="0">
            <a:spAutoFit/>
          </a:bodyPr>
          <a:lstStyle/>
          <a:p>
            <a:pPr algn="l"/>
            <a:r>
              <a:rPr sz="1500" b="0">
                <a:solidFill>
                  <a:srgbClr val="1F2328"/>
                </a:solidFill>
                <a:latin typeface="Calibri"/>
              </a:rPr>
              <a:t>age</a:t>
            </a:r>
          </a:p>
        </p:txBody>
      </p:sp>
      <p:sp>
        <p:nvSpPr>
          <p:cNvPr id="90" name="PatientData age datatype"/>
          <p:cNvSpPr txBox="1"/>
          <p:nvPr/>
        </p:nvSpPr>
        <p:spPr>
          <a:xfrm>
            <a:off x="2441448" y="3611880"/>
            <a:ext cx="420624" cy="246888"/>
          </a:xfrm>
          <a:prstGeom prst="rect">
            <a:avLst/>
          </a:prstGeom>
          <a:noFill/>
        </p:spPr>
        <p:txBody>
          <a:bodyPr wrap="none" lIns="0" rIns="0" tIns="0" bIns="0">
            <a:spAutoFit/>
          </a:bodyPr>
          <a:lstStyle/>
          <a:p>
            <a:pPr algn="l"/>
            <a:r>
              <a:rPr sz="1350" b="0">
                <a:solidFill>
                  <a:srgbClr val="5B6770"/>
                </a:solidFill>
                <a:latin typeface="Calibri"/>
              </a:rPr>
              <a:t>INT</a:t>
            </a:r>
          </a:p>
        </p:txBody>
      </p:sp>
      <p:sp>
        <p:nvSpPr>
          <p:cNvPr id="91" name="PatientData gender label"/>
          <p:cNvSpPr txBox="1"/>
          <p:nvPr/>
        </p:nvSpPr>
        <p:spPr>
          <a:xfrm>
            <a:off x="1197864" y="3959352"/>
            <a:ext cx="1106424" cy="246888"/>
          </a:xfrm>
          <a:prstGeom prst="rect">
            <a:avLst/>
          </a:prstGeom>
          <a:noFill/>
        </p:spPr>
        <p:txBody>
          <a:bodyPr wrap="none" lIns="0" rIns="0" tIns="0" bIns="0">
            <a:spAutoFit/>
          </a:bodyPr>
          <a:lstStyle/>
          <a:p>
            <a:pPr algn="l"/>
            <a:r>
              <a:rPr sz="1500" b="0">
                <a:solidFill>
                  <a:srgbClr val="1F2328"/>
                </a:solidFill>
                <a:latin typeface="Calibri"/>
              </a:rPr>
              <a:t>gender</a:t>
            </a:r>
          </a:p>
        </p:txBody>
      </p:sp>
      <p:sp>
        <p:nvSpPr>
          <p:cNvPr id="92" name="PatientData gender datatype"/>
          <p:cNvSpPr txBox="1"/>
          <p:nvPr/>
        </p:nvSpPr>
        <p:spPr>
          <a:xfrm>
            <a:off x="2441448" y="3959352"/>
            <a:ext cx="420624" cy="246888"/>
          </a:xfrm>
          <a:prstGeom prst="rect">
            <a:avLst/>
          </a:prstGeom>
          <a:noFill/>
        </p:spPr>
        <p:txBody>
          <a:bodyPr wrap="none" lIns="0" rIns="0" tIns="0" bIns="0">
            <a:spAutoFit/>
          </a:bodyPr>
          <a:lstStyle/>
          <a:p>
            <a:pPr algn="l"/>
            <a:r>
              <a:rPr sz="1350" b="0">
                <a:solidFill>
                  <a:srgbClr val="5B6770"/>
                </a:solidFill>
                <a:latin typeface="Calibri"/>
              </a:rPr>
              <a:t>TEXT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3"/>
          <p:cNvSpPr txBox="1"/>
          <p:nvPr/>
        </p:nvSpPr>
        <p:spPr>
          <a:xfrm>
            <a:off x="804672" y="521207"/>
            <a:ext cx="106984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WHAT WE WANT TO BUILD</a:t>
            </a:r>
            <a:endParaRPr/>
          </a:p>
        </p:txBody>
      </p:sp>
      <p:sp>
        <p:nvSpPr>
          <p:cNvPr id="76" name="Google Shape;76;p3"/>
          <p:cNvSpPr txBox="1"/>
          <p:nvPr/>
        </p:nvSpPr>
        <p:spPr>
          <a:xfrm>
            <a:off x="804672" y="923544"/>
            <a:ext cx="107899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Not just a cleaner schema.</a:t>
            </a:r>
            <a:endParaRPr/>
          </a:p>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A usable semantic model.</a:t>
            </a:r>
            <a:endParaRPr/>
          </a:p>
        </p:txBody>
      </p:sp>
      <p:sp>
        <p:nvSpPr>
          <p:cNvPr id="77" name="Google Shape;77;p3"/>
          <p:cNvSpPr/>
          <p:nvPr/>
        </p:nvSpPr>
        <p:spPr>
          <a:xfrm>
            <a:off x="804672" y="2057400"/>
            <a:ext cx="2971800" cy="253288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3"/>
          <p:cNvSpPr txBox="1"/>
          <p:nvPr/>
        </p:nvSpPr>
        <p:spPr>
          <a:xfrm>
            <a:off x="1024128" y="2212848"/>
            <a:ext cx="251460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INPUT</a:t>
            </a:r>
            <a:endParaRPr/>
          </a:p>
        </p:txBody>
      </p:sp>
      <p:sp>
        <p:nvSpPr>
          <p:cNvPr id="85" name="Google Shape;85;p3"/>
          <p:cNvSpPr/>
          <p:nvPr/>
        </p:nvSpPr>
        <p:spPr>
          <a:xfrm>
            <a:off x="3977639" y="3291840"/>
            <a:ext cx="566928" cy="429768"/>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 name="Google Shape;86;p3"/>
          <p:cNvSpPr/>
          <p:nvPr/>
        </p:nvSpPr>
        <p:spPr>
          <a:xfrm>
            <a:off x="4754880" y="2057400"/>
            <a:ext cx="6656832" cy="4361688"/>
          </a:xfrm>
          <a:prstGeom prst="roundRect">
            <a:avLst>
              <a:gd fmla="val 10000" name="adj"/>
            </a:avLst>
          </a:prstGeom>
          <a:solidFill>
            <a:srgbClr val="F3F5F4"/>
          </a:solidFill>
          <a:ln cap="flat" cmpd="sng" w="1777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 name="Google Shape;87;p3"/>
          <p:cNvSpPr txBox="1"/>
          <p:nvPr/>
        </p:nvSpPr>
        <p:spPr>
          <a:xfrm>
            <a:off x="5038344" y="2212848"/>
            <a:ext cx="6044184"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600">
                <a:solidFill>
                  <a:srgbClr val="2F6B78"/>
                </a:solidFill>
                <a:latin typeface="Consolas"/>
                <a:ea typeface="Consolas"/>
                <a:cs typeface="Consolas"/>
                <a:sym typeface="Consolas"/>
              </a:rPr>
              <a:t>TARGET</a:t>
            </a:r>
            <a:endParaRPr/>
          </a:p>
        </p:txBody>
      </p:sp>
      <p:sp>
        <p:nvSpPr>
          <p:cNvPr id="88" name="Google Shape;88;p3"/>
          <p:cNvSpPr/>
          <p:nvPr/>
        </p:nvSpPr>
        <p:spPr>
          <a:xfrm>
            <a:off x="5093208" y="2633472"/>
            <a:ext cx="2103120" cy="475488"/>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 name="Google Shape;89;p3"/>
          <p:cNvSpPr txBox="1"/>
          <p:nvPr/>
        </p:nvSpPr>
        <p:spPr>
          <a:xfrm>
            <a:off x="5248656" y="2743200"/>
            <a:ext cx="174650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000">
                <a:solidFill>
                  <a:srgbClr val="1F2328"/>
                </a:solidFill>
                <a:latin typeface="Calibri"/>
                <a:ea typeface="Calibri"/>
                <a:cs typeface="Calibri"/>
                <a:sym typeface="Calibri"/>
              </a:rPr>
              <a:t>Admission</a:t>
            </a:r>
            <a:endParaRPr/>
          </a:p>
        </p:txBody>
      </p:sp>
      <p:sp>
        <p:nvSpPr>
          <p:cNvPr id="90" name="Google Shape;90;p3"/>
          <p:cNvSpPr/>
          <p:nvPr/>
        </p:nvSpPr>
        <p:spPr>
          <a:xfrm>
            <a:off x="9253728" y="2633472"/>
            <a:ext cx="1828800" cy="475488"/>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3"/>
          <p:cNvSpPr txBox="1"/>
          <p:nvPr/>
        </p:nvSpPr>
        <p:spPr>
          <a:xfrm>
            <a:off x="9354312" y="2743200"/>
            <a:ext cx="1645920"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92" name="Google Shape;92;p3"/>
          <p:cNvCxnSpPr/>
          <p:nvPr/>
        </p:nvCxnSpPr>
        <p:spPr>
          <a:xfrm>
            <a:off x="7278624" y="2871216"/>
            <a:ext cx="1865376" cy="0"/>
          </a:xfrm>
          <a:prstGeom prst="straightConnector1">
            <a:avLst/>
          </a:prstGeom>
          <a:noFill/>
          <a:ln cap="flat" cmpd="sng" w="31750">
            <a:solidFill>
              <a:srgbClr val="0B6E4F"/>
            </a:solidFill>
            <a:prstDash val="solid"/>
            <a:miter lim="8000"/>
            <a:headEnd len="sm" w="sm" type="none"/>
            <a:tailEnd len="med" w="med" type="triangle"/>
          </a:ln>
        </p:spPr>
      </p:cxnSp>
      <p:sp>
        <p:nvSpPr>
          <p:cNvPr id="93" name="Google Shape;93;p3"/>
          <p:cNvSpPr/>
          <p:nvPr/>
        </p:nvSpPr>
        <p:spPr>
          <a:xfrm>
            <a:off x="7388352" y="2487168"/>
            <a:ext cx="1591056" cy="27432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3"/>
          <p:cNvSpPr txBox="1"/>
          <p:nvPr/>
        </p:nvSpPr>
        <p:spPr>
          <a:xfrm>
            <a:off x="7278624" y="2514600"/>
            <a:ext cx="1783080"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02" name="Google Shape;102;p3"/>
          <p:cNvSpPr/>
          <p:nvPr/>
        </p:nvSpPr>
        <p:spPr>
          <a:xfrm>
            <a:off x="804672" y="4809744"/>
            <a:ext cx="2971800" cy="160934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Table card"/>
          <p:cNvSpPr/>
          <p:nvPr/>
        </p:nvSpPr>
        <p:spPr>
          <a:xfrm>
            <a:off x="969264" y="2615184"/>
            <a:ext cx="2642616" cy="1792224"/>
          </a:xfrm>
          <a:prstGeom prst="roundRect">
            <a:avLst>
              <a:gd name="adj" fmla="val 9000"/>
            </a:avLst>
          </a:prstGeom>
          <a:solidFill>
            <a:srgbClr val="E9EEEB"/>
          </a:solidFill>
          <a:ln>
            <a:noFill/>
          </a:ln>
          <a:effectLst>
            <a:outerShdw blurRad="76200" dist="25400" dir="5400000" algn="t" rotWithShape="0">
              <a:srgbClr val="000000">
                <a:alpha val="16000"/>
              </a:srgbClr>
            </a:outerShdw>
          </a:effectLst>
        </p:spPr>
        <p:txBody>
          <a:bodyPr wrap="square" lIns="0" tIns="0" rIns="0" bIns="0" anchor="ctr">
            <a:noAutofit/>
          </a:bodyPr>
          <a:lstStyle/>
          <a:p>
            <a:endParaRPr lang="en-US"/>
          </a:p>
        </p:txBody>
      </p:sp>
      <p:sp>
        <p:nvSpPr>
          <p:cNvPr id="79" name="Google Shape;79;p3"/>
          <p:cNvSpPr txBox="1"/>
          <p:nvPr/>
        </p:nvSpPr>
        <p:spPr>
          <a:xfrm>
            <a:off x="1133856" y="2724912"/>
            <a:ext cx="2331720" cy="3657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admission</a:t>
            </a:r>
            <a:endParaRPr/>
          </a:p>
        </p:txBody>
      </p:sp>
      <p:cxnSp>
        <p:nvCxnSpPr>
          <p:cNvPr id="80" name="Google Shape;80;p3"/>
          <p:cNvCxnSpPr/>
          <p:nvPr/>
        </p:nvCxnSpPr>
        <p:spPr>
          <a:xfrm>
            <a:off x="1133856" y="3145536"/>
            <a:ext cx="2313432" cy="0"/>
          </a:xfrm>
          <a:prstGeom prst="straightConnector1">
            <a:avLst/>
          </a:prstGeom>
          <a:noFill/>
          <a:ln cap="flat" cmpd="sng" w="19050">
            <a:solidFill>
              <a:srgbClr val="8E989E"/>
            </a:solidFill>
            <a:prstDash val="solid"/>
            <a:miter lim="8000"/>
            <a:headEnd len="sm" w="sm" type="none"/>
            <a:tailEnd len="sm" w="sm" type="none"/>
          </a:ln>
        </p:spPr>
      </p:cxnSp>
      <p:sp>
        <p:nvSpPr>
          <p:cNvPr id="105" name="Column"/>
          <p:cNvSpPr/>
          <p:nvPr/>
        </p:nvSpPr>
        <p:spPr>
          <a:xfrm>
            <a:off x="1133856" y="3273552"/>
            <a:ext cx="1600200" cy="292608"/>
          </a:xfrm>
          <a:prstGeom prst="rect">
            <a:avLst/>
          </a:prstGeom>
          <a:noFill/>
          <a:ln>
            <a:noFill/>
          </a:ln>
        </p:spPr>
        <p:txBody>
          <a:bodyPr wrap="square" lIns="0" tIns="0" rIns="0" bIns="0" anchor="ctr">
            <a:noAutofit/>
          </a:bodyPr>
          <a:lstStyle/>
          <a:p>
            <a:pPr algn="l">
              <a:spcAft>
                <a:spcPts val="0"/>
              </a:spcAft>
            </a:pPr>
            <a:r>
              <a:rPr lang="en-US" sz="1500" b="1" i="0" dirty="0">
                <a:solidFill>
                  <a:srgbClr val="0B6E4F"/>
                </a:solidFill>
                <a:latin typeface="Calibri"/>
                <a:cs typeface="Calibri"/>
              </a:rPr>
              <a:t xml:space="preserve">patient_id</a:t>
            </a:r>
          </a:p>
        </p:txBody>
      </p:sp>
      <p:sp>
        <p:nvSpPr>
          <p:cNvPr id="106" name="Type"/>
          <p:cNvSpPr/>
          <p:nvPr/>
        </p:nvSpPr>
        <p:spPr>
          <a:xfrm>
            <a:off x="2697480" y="3273552"/>
            <a:ext cx="749808" cy="292608"/>
          </a:xfrm>
          <a:prstGeom prst="rect">
            <a:avLst/>
          </a:prstGeom>
          <a:noFill/>
          <a:ln>
            <a:noFill/>
          </a:ln>
        </p:spPr>
        <p:txBody>
          <a:bodyPr wrap="square" lIns="0" tIns="0" rIns="0" bIns="0" anchor="ctr">
            <a:noAutofit/>
          </a:bodyPr>
          <a:lstStyle/>
          <a:p>
            <a:pPr algn="r">
              <a:spcAft>
                <a:spcPts val="0"/>
              </a:spcAft>
            </a:pPr>
            <a:r>
              <a:rPr lang="en-US" sz="1400" b="0" i="0" dirty="0">
                <a:solidFill>
                  <a:srgbClr val="5B6770"/>
                </a:solidFill>
                <a:latin typeface="Calibri"/>
                <a:cs typeface="Calibri"/>
              </a:rPr>
              <a:t xml:space="preserve">FK</a:t>
            </a:r>
          </a:p>
        </p:txBody>
      </p:sp>
      <p:sp>
        <p:nvSpPr>
          <p:cNvPr id="107" name="Column"/>
          <p:cNvSpPr/>
          <p:nvPr/>
        </p:nvSpPr>
        <p:spPr>
          <a:xfrm>
            <a:off x="1133856" y="3621024"/>
            <a:ext cx="1600200" cy="292608"/>
          </a:xfrm>
          <a:prstGeom prst="rect">
            <a:avLst/>
          </a:prstGeom>
          <a:noFill/>
          <a:ln>
            <a:noFill/>
          </a:ln>
        </p:spPr>
        <p:txBody>
          <a:bodyPr wrap="square" lIns="0" tIns="0" rIns="0" bIns="0" anchor="ctr">
            <a:noAutofit/>
          </a:bodyPr>
          <a:lstStyle/>
          <a:p>
            <a:pPr algn="l">
              <a:spcAft>
                <a:spcPts val="0"/>
              </a:spcAft>
            </a:pPr>
            <a:r>
              <a:rPr lang="en-US" sz="1500" b="1" i="0" dirty="0">
                <a:solidFill>
                  <a:srgbClr val="0B6E4F"/>
                </a:solidFill>
                <a:latin typeface="Calibri"/>
                <a:cs typeface="Calibri"/>
              </a:rPr>
              <a:t xml:space="preserve">BM_DEP</a:t>
            </a:r>
          </a:p>
        </p:txBody>
      </p:sp>
      <p:sp>
        <p:nvSpPr>
          <p:cNvPr id="108" name="Type"/>
          <p:cNvSpPr/>
          <p:nvPr/>
        </p:nvSpPr>
        <p:spPr>
          <a:xfrm>
            <a:off x="2697480" y="3621024"/>
            <a:ext cx="749808" cy="292608"/>
          </a:xfrm>
          <a:prstGeom prst="rect">
            <a:avLst/>
          </a:prstGeom>
          <a:noFill/>
          <a:ln>
            <a:noFill/>
          </a:ln>
        </p:spPr>
        <p:txBody>
          <a:bodyPr wrap="square" lIns="0" tIns="0" rIns="0" bIns="0" anchor="ctr">
            <a:noAutofit/>
          </a:bodyPr>
          <a:lstStyle/>
          <a:p>
            <a:pPr algn="r">
              <a:spcAft>
                <a:spcPts val="0"/>
              </a:spcAft>
            </a:pPr>
            <a:r>
              <a:rPr lang="en-US" sz="1400" b="0" i="0" dirty="0">
                <a:solidFill>
                  <a:srgbClr val="5B6770"/>
                </a:solidFill>
                <a:latin typeface="Calibri"/>
                <a:cs typeface="Calibri"/>
              </a:rPr>
              <a:t xml:space="preserve">INT</a:t>
            </a:r>
          </a:p>
        </p:txBody>
      </p:sp>
      <p:sp>
        <p:nvSpPr>
          <p:cNvPr id="109" name="Column"/>
          <p:cNvSpPr/>
          <p:nvPr/>
        </p:nvSpPr>
        <p:spPr>
          <a:xfrm>
            <a:off x="1133856" y="3968496"/>
            <a:ext cx="1600200" cy="292608"/>
          </a:xfrm>
          <a:prstGeom prst="rect">
            <a:avLst/>
          </a:prstGeom>
          <a:noFill/>
          <a:ln>
            <a:noFill/>
          </a:ln>
        </p:spPr>
        <p:txBody>
          <a:bodyPr wrap="square" lIns="0" tIns="0" rIns="0" bIns="0" anchor="ctr">
            <a:noAutofit/>
          </a:bodyPr>
          <a:lstStyle/>
          <a:p>
            <a:pPr algn="l">
              <a:spcAft>
                <a:spcPts val="0"/>
              </a:spcAft>
            </a:pPr>
            <a:r>
              <a:rPr lang="en-US" sz="1500" b="1" i="0" dirty="0">
                <a:solidFill>
                  <a:srgbClr val="0B6E4F"/>
                </a:solidFill>
                <a:latin typeface="Calibri"/>
                <a:cs typeface="Calibri"/>
              </a:rPr>
              <a:t xml:space="preserve">ecog_stage</a:t>
            </a:r>
          </a:p>
        </p:txBody>
      </p:sp>
      <p:sp>
        <p:nvSpPr>
          <p:cNvPr id="110" name="Type"/>
          <p:cNvSpPr/>
          <p:nvPr/>
        </p:nvSpPr>
        <p:spPr>
          <a:xfrm>
            <a:off x="2697480" y="3968496"/>
            <a:ext cx="749808" cy="292608"/>
          </a:xfrm>
          <a:prstGeom prst="rect">
            <a:avLst/>
          </a:prstGeom>
          <a:noFill/>
          <a:ln>
            <a:noFill/>
          </a:ln>
        </p:spPr>
        <p:txBody>
          <a:bodyPr wrap="square" lIns="0" tIns="0" rIns="0" bIns="0" anchor="ctr">
            <a:noAutofit/>
          </a:bodyPr>
          <a:lstStyle/>
          <a:p>
            <a:pPr algn="r">
              <a:spcAft>
                <a:spcPts val="0"/>
              </a:spcAft>
            </a:pPr>
            <a:r>
              <a:rPr lang="en-US" sz="1400" b="0" i="0" dirty="0">
                <a:solidFill>
                  <a:srgbClr val="5B6770"/>
                </a:solidFill>
                <a:latin typeface="Calibri"/>
                <a:cs typeface="Calibri"/>
              </a:rPr>
              <a:t xml:space="preserve">INT</a:t>
            </a:r>
          </a:p>
        </p:txBody>
      </p:sp>
      <p:sp>
        <p:nvSpPr>
          <p:cNvPr id="111" name="Code panel"/>
          <p:cNvSpPr/>
          <p:nvPr/>
        </p:nvSpPr>
        <p:spPr>
          <a:xfrm>
            <a:off x="4983480" y="3310128"/>
            <a:ext cx="6217920" cy="2962656"/>
          </a:xfrm>
          <a:prstGeom prst="roundRect">
            <a:avLst>
              <a:gd name="adj" fmla="val 9000"/>
            </a:avLst>
          </a:prstGeom>
          <a:solidFill>
            <a:srgbClr val="F6F8FA"/>
          </a:solidFill>
          <a:ln w="9525">
            <a:solidFill>
              <a:srgbClr val="D0D7DE"/>
            </a:solidFill>
          </a:ln>
        </p:spPr>
        <p:txBody>
          <a:bodyPr wrap="square" lIns="0" tIns="0" rIns="0" bIns="0" anchor="ctr">
            <a:noAutofit/>
          </a:bodyPr>
          <a:lstStyle/>
          <a:p>
            <a:endParaRPr lang="en-US"/>
          </a:p>
        </p:txBody>
      </p:sp>
      <p:sp>
        <p:nvSpPr>
          <p:cNvPr id="112" name="Code line 112"/>
          <p:cNvSpPr txBox="1"/>
          <p:nvPr/>
        </p:nvSpPr>
        <p:spPr>
          <a:xfrm>
            <a:off x="4983480" y="3429000"/>
            <a:ext cx="6217920" cy="195540"/>
          </a:xfrm>
          <a:prstGeom prst="rect">
            <a:avLst/>
          </a:prstGeom>
          <a:noFill/>
        </p:spPr>
        <p:txBody>
          <a:bodyPr wrap="none" lIns="146304" tIns="0" rIns="0" bIns="0" anchor="ctr">
            <a:noAutofit/>
          </a:bodyPr>
          <a:lstStyle/>
          <a:p>
            <a:pPr>
              <a:tabLst>
                <a:tab pos="4224528" algn="l"/>
              </a:tabLst>
            </a:pPr>
            <a:r>
              <a:rPr lang="en-US" sz="1150" b="1" i="0" dirty="0">
                <a:solidFill>
                  <a:srgbClr val="0B6E4F"/>
                </a:solidFill>
                <a:latin typeface="Consolas"/>
                <a:cs typeface="Consolas"/>
              </a:rPr>
              <a:t xml:space="preserve">Class:</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Admission</a:t>
            </a:r>
            <a:endParaRPr lang="en-US" sz="1150"/>
          </a:p>
        </p:txBody>
      </p:sp>
      <p:sp>
        <p:nvSpPr>
          <p:cNvPr id="113" name="Code line 113"/>
          <p:cNvSpPr txBox="1"/>
          <p:nvPr/>
        </p:nvSpPr>
        <p:spPr>
          <a:xfrm>
            <a:off x="4983480" y="3624540"/>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1" i="0" dirty="0">
                <a:solidFill>
                  <a:srgbClr val="0B6E4F"/>
                </a:solidFill>
                <a:latin typeface="Consolas"/>
                <a:cs typeface="Consolas"/>
              </a:rPr>
              <a:t xml:space="preserve">SubClassOf:</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hasPatientData</a:t>
            </a:r>
            <a:r>
              <a:rPr lang="en-US" sz="1150" b="0" i="0" dirty="0">
                <a:solidFill>
                  <a:srgbClr val="1F2328"/>
                </a:solidFill>
                <a:latin typeface="Consolas"/>
                <a:cs typeface="Consolas"/>
              </a:rPr>
              <a:t xml:space="preserve"> </a:t>
            </a:r>
            <a:r>
              <a:rPr lang="en-US" sz="1150" b="1" i="0" dirty="0">
                <a:solidFill>
                  <a:srgbClr val="0B6E4F"/>
                </a:solidFill>
                <a:latin typeface="Consolas"/>
                <a:cs typeface="Consolas"/>
              </a:rPr>
              <a:t xml:space="preserve">some</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PatientData</a:t>
            </a:r>
            <a:r>
              <a:rPr lang="en-US" sz="1100" b="0" i="1" dirty="0">
                <a:solidFill>
                  <a:srgbClr val="5B6770"/>
                </a:solidFill>
                <a:latin typeface="Calibri"/>
                <a:cs typeface="Calibri"/>
              </a:rPr>
              <a:t xml:space="preserve">	← schema (foreign key)</a:t>
            </a:r>
            <a:endParaRPr lang="en-US" sz="1150"/>
          </a:p>
        </p:txBody>
      </p:sp>
      <p:sp>
        <p:nvSpPr>
          <p:cNvPr id="114" name="Code line 114"/>
          <p:cNvSpPr txBox="1"/>
          <p:nvPr/>
        </p:nvSpPr>
        <p:spPr>
          <a:xfrm>
            <a:off x="4983480" y="3820081"/>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1" i="0" dirty="0">
                <a:solidFill>
                  <a:srgbClr val="0B6E4F"/>
                </a:solidFill>
                <a:latin typeface="Consolas"/>
                <a:cs typeface="Consolas"/>
              </a:rPr>
              <a:t xml:space="preserve">DisjointWith:</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PatientData</a:t>
            </a:r>
            <a:r>
              <a:rPr lang="en-US" sz="1100" b="0" i="1" dirty="0">
                <a:solidFill>
                  <a:srgbClr val="6F42C1"/>
                </a:solidFill>
                <a:latin typeface="Calibri"/>
                <a:cs typeface="Calibri"/>
              </a:rPr>
              <a:t xml:space="preserve">	← LLM knowledge</a:t>
            </a:r>
            <a:endParaRPr lang="en-US" sz="1150"/>
          </a:p>
        </p:txBody>
      </p:sp>
      <p:sp>
        <p:nvSpPr>
          <p:cNvPr id="115" name="Code line 115"/>
          <p:cNvSpPr txBox="1"/>
          <p:nvPr/>
        </p:nvSpPr>
        <p:spPr>
          <a:xfrm>
            <a:off x="4983480" y="4107062"/>
            <a:ext cx="6217920" cy="195540"/>
          </a:xfrm>
          <a:prstGeom prst="rect">
            <a:avLst/>
          </a:prstGeom>
          <a:noFill/>
        </p:spPr>
        <p:txBody>
          <a:bodyPr wrap="none" lIns="146304" tIns="0" rIns="0" bIns="0" anchor="ctr">
            <a:noAutofit/>
          </a:bodyPr>
          <a:lstStyle/>
          <a:p>
            <a:pPr>
              <a:tabLst>
                <a:tab pos="4224528" algn="l"/>
              </a:tabLst>
            </a:pPr>
            <a:r>
              <a:rPr lang="en-US" sz="1150" b="1" i="0" dirty="0">
                <a:solidFill>
                  <a:srgbClr val="0B6E4F"/>
                </a:solidFill>
                <a:latin typeface="Consolas"/>
                <a:cs typeface="Consolas"/>
              </a:rPr>
              <a:t xml:space="preserve">DataProperty:</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BM_DEP</a:t>
            </a:r>
            <a:endParaRPr lang="en-US" sz="1150"/>
          </a:p>
        </p:txBody>
      </p:sp>
      <p:sp>
        <p:nvSpPr>
          <p:cNvPr id="116" name="Code line 116"/>
          <p:cNvSpPr txBox="1"/>
          <p:nvPr/>
        </p:nvSpPr>
        <p:spPr>
          <a:xfrm>
            <a:off x="4983480" y="4302603"/>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1" i="0" dirty="0">
                <a:solidFill>
                  <a:srgbClr val="0B6E4F"/>
                </a:solidFill>
                <a:latin typeface="Consolas"/>
                <a:cs typeface="Consolas"/>
              </a:rPr>
              <a:t xml:space="preserve">Annotations:</a:t>
            </a:r>
            <a:endParaRPr lang="en-US" sz="1150"/>
          </a:p>
        </p:txBody>
      </p:sp>
      <p:sp>
        <p:nvSpPr>
          <p:cNvPr id="117" name="Code line 117"/>
          <p:cNvSpPr txBox="1"/>
          <p:nvPr/>
        </p:nvSpPr>
        <p:spPr>
          <a:xfrm>
            <a:off x="4983480" y="4498144"/>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rdfs:label</a:t>
            </a:r>
            <a:r>
              <a:rPr lang="en-US" sz="1150" b="0" i="0" dirty="0">
                <a:solidFill>
                  <a:srgbClr val="1F2328"/>
                </a:solidFill>
                <a:latin typeface="Consolas"/>
                <a:cs typeface="Consolas"/>
              </a:rPr>
              <a:t xml:space="preserve"> </a:t>
            </a:r>
            <a:r>
              <a:rPr lang="en-US" sz="1150" b="0" i="0" dirty="0">
                <a:solidFill>
                  <a:srgbClr val="A3401E"/>
                </a:solidFill>
                <a:latin typeface="Consolas"/>
                <a:cs typeface="Consolas"/>
              </a:rPr>
              <a:t xml:space="preserve">"Bone Marrow Depression"@en</a:t>
            </a:r>
            <a:r>
              <a:rPr lang="en-US" sz="1150" b="0" i="0" dirty="0">
                <a:solidFill>
                  <a:srgbClr val="1F2328"/>
                </a:solidFill>
                <a:latin typeface="Consolas"/>
                <a:cs typeface="Consolas"/>
              </a:rPr>
              <a:t xml:space="preserve">,</a:t>
            </a:r>
            <a:r>
              <a:rPr lang="en-US" sz="1100" b="0" i="1" dirty="0">
                <a:solidFill>
                  <a:srgbClr val="2F6B78"/>
                </a:solidFill>
                <a:latin typeface="Calibri"/>
                <a:cs typeface="Calibri"/>
              </a:rPr>
              <a:t xml:space="preserve">	← documentation</a:t>
            </a:r>
            <a:endParaRPr lang="en-US" sz="1150"/>
          </a:p>
        </p:txBody>
      </p:sp>
      <p:sp>
        <p:nvSpPr>
          <p:cNvPr id="118" name="Code line 118"/>
          <p:cNvSpPr txBox="1"/>
          <p:nvPr/>
        </p:nvSpPr>
        <p:spPr>
          <a:xfrm>
            <a:off x="4983480" y="4693685"/>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skos:relatedMatch</a:t>
            </a:r>
            <a:r>
              <a:rPr lang="en-US" sz="1150" b="0" i="0" dirty="0">
                <a:solidFill>
                  <a:srgbClr val="1F2328"/>
                </a:solidFill>
                <a:latin typeface="Consolas"/>
                <a:cs typeface="Consolas"/>
              </a:rPr>
              <a:t xml:space="preserve"> </a:t>
            </a:r>
            <a:r>
              <a:rPr lang="en-US" sz="1150" b="0" i="0" dirty="0">
                <a:solidFill>
                  <a:srgbClr val="2F6B78"/>
                </a:solidFill>
                <a:latin typeface="Consolas"/>
                <a:cs typeface="Consolas"/>
              </a:rPr>
              <a:t xml:space="preserve">obo:DOID_4961</a:t>
            </a:r>
            <a:r>
              <a:rPr lang="en-US" sz="1150" b="0" i="0" dirty="0">
                <a:solidFill>
                  <a:srgbClr val="1F2328"/>
                </a:solidFill>
                <a:latin typeface="Consolas"/>
                <a:cs typeface="Consolas"/>
              </a:rPr>
              <a:t xml:space="preserve">,</a:t>
            </a:r>
            <a:r>
              <a:rPr lang="en-US" sz="1100" b="0" i="1" dirty="0">
                <a:solidFill>
                  <a:srgbClr val="0B6E4F"/>
                </a:solidFill>
                <a:latin typeface="Calibri"/>
                <a:cs typeface="Calibri"/>
              </a:rPr>
              <a:t xml:space="preserve">	← Disease Ontology</a:t>
            </a:r>
            <a:endParaRPr lang="en-US" sz="1150"/>
          </a:p>
        </p:txBody>
      </p:sp>
      <p:sp>
        <p:nvSpPr>
          <p:cNvPr id="119" name="Code line 119"/>
          <p:cNvSpPr txBox="1"/>
          <p:nvPr/>
        </p:nvSpPr>
        <p:spPr>
          <a:xfrm>
            <a:off x="4983480" y="4889226"/>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prov:wasDerivedFrom</a:t>
            </a:r>
            <a:r>
              <a:rPr lang="en-US" sz="1150" b="0" i="0" dirty="0">
                <a:solidFill>
                  <a:srgbClr val="1F2328"/>
                </a:solidFill>
                <a:latin typeface="Consolas"/>
                <a:cs typeface="Consolas"/>
              </a:rPr>
              <a:t xml:space="preserve"> </a:t>
            </a:r>
            <a:r>
              <a:rPr lang="en-US" sz="1150" b="0" i="0" dirty="0">
                <a:solidFill>
                  <a:srgbClr val="2F6B78"/>
                </a:solidFill>
                <a:latin typeface="Consolas"/>
                <a:cs typeface="Consolas"/>
              </a:rPr>
              <a:t xml:space="preserve">admission:BM_DEP</a:t>
            </a:r>
            <a:r>
              <a:rPr lang="en-US" sz="1100" b="0" i="1" dirty="0">
                <a:solidFill>
                  <a:srgbClr val="5B6770"/>
                </a:solidFill>
                <a:latin typeface="Calibri"/>
                <a:cs typeface="Calibri"/>
              </a:rPr>
              <a:t xml:space="preserve">	← source column</a:t>
            </a:r>
            <a:endParaRPr lang="en-US" sz="1150"/>
          </a:p>
        </p:txBody>
      </p:sp>
      <p:sp>
        <p:nvSpPr>
          <p:cNvPr id="120" name="Code line 120"/>
          <p:cNvSpPr txBox="1"/>
          <p:nvPr/>
        </p:nvSpPr>
        <p:spPr>
          <a:xfrm>
            <a:off x="4983480" y="5176207"/>
            <a:ext cx="6217920" cy="195540"/>
          </a:xfrm>
          <a:prstGeom prst="rect">
            <a:avLst/>
          </a:prstGeom>
          <a:noFill/>
        </p:spPr>
        <p:txBody>
          <a:bodyPr wrap="none" lIns="146304" tIns="0" rIns="0" bIns="0" anchor="ctr">
            <a:noAutofit/>
          </a:bodyPr>
          <a:lstStyle/>
          <a:p>
            <a:pPr>
              <a:tabLst>
                <a:tab pos="4224528" algn="l"/>
              </a:tabLst>
            </a:pPr>
            <a:r>
              <a:rPr lang="en-US" sz="1150" b="1" i="0" dirty="0">
                <a:solidFill>
                  <a:srgbClr val="0B6E4F"/>
                </a:solidFill>
                <a:latin typeface="Consolas"/>
                <a:cs typeface="Consolas"/>
              </a:rPr>
              <a:t xml:space="preserve">DataProperty:</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ecog_stage</a:t>
            </a:r>
            <a:endParaRPr lang="en-US" sz="1150"/>
          </a:p>
        </p:txBody>
      </p:sp>
      <p:sp>
        <p:nvSpPr>
          <p:cNvPr id="121" name="Code line 121"/>
          <p:cNvSpPr txBox="1"/>
          <p:nvPr/>
        </p:nvSpPr>
        <p:spPr>
          <a:xfrm>
            <a:off x="4983480" y="5371748"/>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1" i="0" dirty="0">
                <a:solidFill>
                  <a:srgbClr val="0B6E4F"/>
                </a:solidFill>
                <a:latin typeface="Consolas"/>
                <a:cs typeface="Consolas"/>
              </a:rPr>
              <a:t xml:space="preserve">Annotations:</a:t>
            </a:r>
            <a:endParaRPr lang="en-US" sz="1150"/>
          </a:p>
        </p:txBody>
      </p:sp>
      <p:sp>
        <p:nvSpPr>
          <p:cNvPr id="122" name="Code line 122"/>
          <p:cNvSpPr txBox="1"/>
          <p:nvPr/>
        </p:nvSpPr>
        <p:spPr>
          <a:xfrm>
            <a:off x="4983480" y="5567289"/>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rdfs:label</a:t>
            </a:r>
            <a:r>
              <a:rPr lang="en-US" sz="1150" b="0" i="0" dirty="0">
                <a:solidFill>
                  <a:srgbClr val="1F2328"/>
                </a:solidFill>
                <a:latin typeface="Consolas"/>
                <a:cs typeface="Consolas"/>
              </a:rPr>
              <a:t xml:space="preserve"> </a:t>
            </a:r>
            <a:r>
              <a:rPr lang="en-US" sz="1150" b="0" i="0" dirty="0">
                <a:solidFill>
                  <a:srgbClr val="A3401E"/>
                </a:solidFill>
                <a:latin typeface="Consolas"/>
                <a:cs typeface="Consolas"/>
              </a:rPr>
              <a:t xml:space="preserve">"ECOG Performance Status"@en</a:t>
            </a:r>
            <a:r>
              <a:rPr lang="en-US" sz="1150" b="0" i="0" dirty="0">
                <a:solidFill>
                  <a:srgbClr val="1F2328"/>
                </a:solidFill>
                <a:latin typeface="Consolas"/>
                <a:cs typeface="Consolas"/>
              </a:rPr>
              <a:t xml:space="preserve">,</a:t>
            </a:r>
            <a:r>
              <a:rPr lang="en-US" sz="1100" b="0" i="1" dirty="0">
                <a:solidFill>
                  <a:srgbClr val="2F6B78"/>
                </a:solidFill>
                <a:latin typeface="Calibri"/>
                <a:cs typeface="Calibri"/>
              </a:rPr>
              <a:t xml:space="preserve">	← documentation</a:t>
            </a:r>
            <a:endParaRPr lang="en-US" sz="1150"/>
          </a:p>
        </p:txBody>
      </p:sp>
      <p:sp>
        <p:nvSpPr>
          <p:cNvPr id="123" name="Code line 123"/>
          <p:cNvSpPr txBox="1"/>
          <p:nvPr/>
        </p:nvSpPr>
        <p:spPr>
          <a:xfrm>
            <a:off x="4983480" y="5762830"/>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rdfs:comment</a:t>
            </a:r>
            <a:r>
              <a:rPr lang="en-US" sz="1150" b="0" i="0" dirty="0">
                <a:solidFill>
                  <a:srgbClr val="1F2328"/>
                </a:solidFill>
                <a:latin typeface="Consolas"/>
                <a:cs typeface="Consolas"/>
              </a:rPr>
              <a:t xml:space="preserve"> </a:t>
            </a:r>
            <a:r>
              <a:rPr lang="en-US" sz="1150" b="0" i="0" dirty="0">
                <a:solidFill>
                  <a:srgbClr val="A3401E"/>
                </a:solidFill>
                <a:latin typeface="Consolas"/>
                <a:cs typeface="Consolas"/>
              </a:rPr>
              <a:t xml:space="preserve">"0 = fully active … 5 = dead"@en</a:t>
            </a:r>
            <a:r>
              <a:rPr lang="en-US" sz="1150" b="0" i="0" dirty="0">
                <a:solidFill>
                  <a:srgbClr val="1F2328"/>
                </a:solidFill>
                <a:latin typeface="Consolas"/>
                <a:cs typeface="Consolas"/>
              </a:rPr>
              <a:t xml:space="preserve">,</a:t>
            </a:r>
            <a:r>
              <a:rPr lang="en-US" sz="1100" b="0" i="1" dirty="0">
                <a:solidFill>
                  <a:srgbClr val="6F42C1"/>
                </a:solidFill>
                <a:latin typeface="Calibri"/>
                <a:cs typeface="Calibri"/>
              </a:rPr>
              <a:t xml:space="preserve">	← LLM knowledge</a:t>
            </a:r>
            <a:endParaRPr lang="en-US" sz="1150"/>
          </a:p>
        </p:txBody>
      </p:sp>
      <p:sp>
        <p:nvSpPr>
          <p:cNvPr id="124" name="Code line 124"/>
          <p:cNvSpPr txBox="1"/>
          <p:nvPr/>
        </p:nvSpPr>
        <p:spPr>
          <a:xfrm>
            <a:off x="4983480" y="5958371"/>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prov:wasDerivedFrom</a:t>
            </a:r>
            <a:r>
              <a:rPr lang="en-US" sz="1150" b="0" i="0" dirty="0">
                <a:solidFill>
                  <a:srgbClr val="1F2328"/>
                </a:solidFill>
                <a:latin typeface="Consolas"/>
                <a:cs typeface="Consolas"/>
              </a:rPr>
              <a:t xml:space="preserve"> </a:t>
            </a:r>
            <a:r>
              <a:rPr lang="en-US" sz="1150" b="0" i="0" dirty="0">
                <a:solidFill>
                  <a:srgbClr val="2F6B78"/>
                </a:solidFill>
                <a:latin typeface="Consolas"/>
                <a:cs typeface="Consolas"/>
              </a:rPr>
              <a:t xml:space="preserve">admission:ecog_stage</a:t>
            </a:r>
            <a:r>
              <a:rPr lang="en-US" sz="1100" b="0" i="1" dirty="0">
                <a:solidFill>
                  <a:srgbClr val="5B6770"/>
                </a:solidFill>
                <a:latin typeface="Calibri"/>
                <a:cs typeface="Calibri"/>
              </a:rPr>
              <a:t xml:space="preserve">	← source column</a:t>
            </a:r>
            <a:endParaRPr lang="en-US" sz="1150"/>
          </a:p>
        </p:txBody>
      </p:sp>
      <p:sp>
        <p:nvSpPr>
          <p:cNvPr id="125" name="What this enables"/>
          <p:cNvSpPr/>
          <p:nvPr/>
        </p:nvSpPr>
        <p:spPr>
          <a:xfrm>
            <a:off x="1005840" y="4919472"/>
            <a:ext cx="2606040" cy="1261872"/>
          </a:xfrm>
          <a:prstGeom prst="rect">
            <a:avLst/>
          </a:prstGeom>
          <a:noFill/>
          <a:ln>
            <a:noFill/>
          </a:ln>
        </p:spPr>
        <p:txBody>
          <a:bodyPr wrap="square" lIns="0" tIns="0" rIns="0" bIns="0" anchor="t">
            <a:noAutofit/>
          </a:bodyPr>
          <a:lstStyle/>
          <a:p>
            <a:pPr algn="l">
              <a:spcAft>
                <a:spcPts val="500"/>
              </a:spcAft>
            </a:pPr>
            <a:r>
              <a:rPr lang="en-US" sz="1150" b="1" i="0" dirty="0">
                <a:solidFill>
                  <a:srgbClr val="0B6E4F"/>
                </a:solidFill>
                <a:latin typeface="Consolas"/>
                <a:cs typeface="Consolas"/>
              </a:rPr>
              <a:t xml:space="preserve">WHAT THIS ENABLES</a:t>
            </a:r>
          </a:p>
          <a:p>
            <a:pPr algn="l">
              <a:spcAft>
                <a:spcPts val="300"/>
              </a:spcAft>
            </a:pPr>
            <a:r>
              <a:rPr lang="en-US" sz="1400" b="0" i="0" dirty="0">
                <a:solidFill>
                  <a:srgbClr val="1F2328"/>
                </a:solidFill>
                <a:latin typeface="Calibri"/>
                <a:cs typeface="Calibri"/>
              </a:rPr>
              <a:t xml:space="preserve">Concept-based access</a:t>
            </a:r>
          </a:p>
          <a:p>
            <a:pPr algn="l">
              <a:spcAft>
                <a:spcPts val="300"/>
              </a:spcAft>
            </a:pPr>
            <a:r>
              <a:rPr lang="en-US" sz="1400" b="0" i="0" dirty="0">
                <a:solidFill>
                  <a:srgbClr val="1F2328"/>
                </a:solidFill>
                <a:latin typeface="Calibri"/>
                <a:cs typeface="Calibri"/>
              </a:rPr>
              <a:t xml:space="preserve">Knowledge graph population</a:t>
            </a:r>
          </a:p>
          <a:p>
            <a:pPr algn="l">
              <a:spcAft>
                <a:spcPts val="300"/>
              </a:spcAft>
            </a:pPr>
            <a:r>
              <a:rPr lang="en-US" sz="1400" b="0" i="0" dirty="0">
                <a:solidFill>
                  <a:srgbClr val="1F2328"/>
                </a:solidFill>
                <a:latin typeface="Calibri"/>
                <a:cs typeface="Calibri"/>
              </a:rPr>
              <a:t xml:space="preserve">Cross-system interoperability</a:t>
            </a:r>
          </a:p>
        </p:txBody>
      </p:sp>
    </p:spTree>
  </p:cSld>
  <p:clrMapOvr>
    <a:masterClrMapping/>
  </p:clrMapOvr>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88"/>
                                        </p:tgtEl>
                                        <p:attrNameLst>
                                          <p:attrName>style.visibility</p:attrName>
                                        </p:attrNameLst>
                                      </p:cBhvr>
                                      <p:to>
                                        <p:strVal val="visible"/>
                                      </p:to>
                                    </p:set>
                                    <p:animEffect transition="in" filter="fade">
                                      <p:cBhvr>
                                        <p:cTn id="5" dur="250"/>
                                        <p:tgtEl>
                                          <p:spTgt spid="8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9"/>
                                        </p:tgtEl>
                                        <p:attrNameLst>
                                          <p:attrName>style.visibility</p:attrName>
                                        </p:attrNameLst>
                                      </p:cBhvr>
                                      <p:to>
                                        <p:strVal val="visible"/>
                                      </p:to>
                                    </p:set>
                                    <p:animEffect transition="in" filter="fade">
                                      <p:cBhvr>
                                        <p:cTn id="8" dur="250"/>
                                        <p:tgtEl>
                                          <p:spTgt spid="8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0"/>
                                        </p:tgtEl>
                                        <p:attrNameLst>
                                          <p:attrName>style.visibility</p:attrName>
                                        </p:attrNameLst>
                                      </p:cBhvr>
                                      <p:to>
                                        <p:strVal val="visible"/>
                                      </p:to>
                                    </p:set>
                                    <p:animEffect transition="in" filter="fade">
                                      <p:cBhvr>
                                        <p:cTn id="11" dur="250"/>
                                        <p:tgtEl>
                                          <p:spTgt spid="9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1"/>
                                        </p:tgtEl>
                                        <p:attrNameLst>
                                          <p:attrName>style.visibility</p:attrName>
                                        </p:attrNameLst>
                                      </p:cBhvr>
                                      <p:to>
                                        <p:strVal val="visible"/>
                                      </p:to>
                                    </p:set>
                                    <p:animEffect transition="in" filter="fade">
                                      <p:cBhvr>
                                        <p:cTn id="14" dur="250"/>
                                        <p:tgtEl>
                                          <p:spTgt spid="9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92"/>
                                        </p:tgtEl>
                                        <p:attrNameLst>
                                          <p:attrName>style.visibility</p:attrName>
                                        </p:attrNameLst>
                                      </p:cBhvr>
                                      <p:to>
                                        <p:strVal val="visible"/>
                                      </p:to>
                                    </p:set>
                                    <p:animEffect transition="in" filter="fade">
                                      <p:cBhvr>
                                        <p:cTn id="17" dur="250"/>
                                        <p:tgtEl>
                                          <p:spTgt spid="9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3"/>
                                        </p:tgtEl>
                                        <p:attrNameLst>
                                          <p:attrName>style.visibility</p:attrName>
                                        </p:attrNameLst>
                                      </p:cBhvr>
                                      <p:to>
                                        <p:strVal val="visible"/>
                                      </p:to>
                                    </p:set>
                                    <p:animEffect transition="in" filter="fade">
                                      <p:cBhvr>
                                        <p:cTn id="20" dur="250"/>
                                        <p:tgtEl>
                                          <p:spTgt spid="9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4"/>
                                        </p:tgtEl>
                                        <p:attrNameLst>
                                          <p:attrName>style.visibility</p:attrName>
                                        </p:attrNameLst>
                                      </p:cBhvr>
                                      <p:to>
                                        <p:strVal val="visible"/>
                                      </p:to>
                                    </p:set>
                                    <p:animEffect transition="in" filter="fade">
                                      <p:cBhvr>
                                        <p:cTn id="23" dur="250"/>
                                        <p:tgtEl>
                                          <p:spTgt spid="9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2"/>
                                        </p:tgtEl>
                                        <p:attrNameLst>
                                          <p:attrName>style.visibility</p:attrName>
                                        </p:attrNameLst>
                                      </p:cBhvr>
                                      <p:to>
                                        <p:strVal val="visible"/>
                                      </p:to>
                                    </p:set>
                                    <p:animEffect transition="in" filter="fade">
                                      <p:cBhvr>
                                        <p:cTn id="26" dur="250"/>
                                        <p:tgtEl>
                                          <p:spTgt spid="11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3"/>
                                        </p:tgtEl>
                                        <p:attrNameLst>
                                          <p:attrName>style.visibility</p:attrName>
                                        </p:attrNameLst>
                                      </p:cBhvr>
                                      <p:to>
                                        <p:strVal val="visible"/>
                                      </p:to>
                                    </p:set>
                                    <p:animEffect transition="in" filter="fade">
                                      <p:cBhvr>
                                        <p:cTn id="29" dur="250"/>
                                        <p:tgtEl>
                                          <p:spTgt spid="11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5"/>
                                        </p:tgtEl>
                                        <p:attrNameLst>
                                          <p:attrName>style.visibility</p:attrName>
                                        </p:attrNameLst>
                                      </p:cBhvr>
                                      <p:to>
                                        <p:strVal val="visible"/>
                                      </p:to>
                                    </p:set>
                                    <p:animEffect transition="in" filter="fade">
                                      <p:cBhvr>
                                        <p:cTn id="32" dur="250"/>
                                        <p:tgtEl>
                                          <p:spTgt spid="11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16"/>
                                        </p:tgtEl>
                                        <p:attrNameLst>
                                          <p:attrName>style.visibility</p:attrName>
                                        </p:attrNameLst>
                                      </p:cBhvr>
                                      <p:to>
                                        <p:strVal val="visible"/>
                                      </p:to>
                                    </p:set>
                                    <p:animEffect transition="in" filter="fade">
                                      <p:cBhvr>
                                        <p:cTn id="35" dur="250"/>
                                        <p:tgtEl>
                                          <p:spTgt spid="1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19"/>
                                        </p:tgtEl>
                                        <p:attrNameLst>
                                          <p:attrName>style.visibility</p:attrName>
                                        </p:attrNameLst>
                                      </p:cBhvr>
                                      <p:to>
                                        <p:strVal val="visible"/>
                                      </p:to>
                                    </p:set>
                                    <p:animEffect transition="in" filter="fade">
                                      <p:cBhvr>
                                        <p:cTn id="38" dur="250"/>
                                        <p:tgtEl>
                                          <p:spTgt spid="11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0"/>
                                        </p:tgtEl>
                                        <p:attrNameLst>
                                          <p:attrName>style.visibility</p:attrName>
                                        </p:attrNameLst>
                                      </p:cBhvr>
                                      <p:to>
                                        <p:strVal val="visible"/>
                                      </p:to>
                                    </p:set>
                                    <p:animEffect transition="in" filter="fade">
                                      <p:cBhvr>
                                        <p:cTn id="41" dur="250"/>
                                        <p:tgtEl>
                                          <p:spTgt spid="12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21"/>
                                        </p:tgtEl>
                                        <p:attrNameLst>
                                          <p:attrName>style.visibility</p:attrName>
                                        </p:attrNameLst>
                                      </p:cBhvr>
                                      <p:to>
                                        <p:strVal val="visible"/>
                                      </p:to>
                                    </p:set>
                                    <p:animEffect transition="in" filter="fade">
                                      <p:cBhvr>
                                        <p:cTn id="44" dur="250"/>
                                        <p:tgtEl>
                                          <p:spTgt spid="12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24"/>
                                        </p:tgtEl>
                                        <p:attrNameLst>
                                          <p:attrName>style.visibility</p:attrName>
                                        </p:attrNameLst>
                                      </p:cBhvr>
                                      <p:to>
                                        <p:strVal val="visible"/>
                                      </p:to>
                                    </p:set>
                                    <p:animEffect transition="in" filter="fade">
                                      <p:cBhvr>
                                        <p:cTn id="47" dur="250"/>
                                        <p:tgtEl>
                                          <p:spTgt spid="124"/>
                                        </p:tgtEl>
                                      </p:cBhvr>
                                    </p:animEffect>
                                  </p:childTnLst>
                                </p:cTn>
                              </p:par>
                            </p:childTnLst>
                          </p:cTn>
                        </p:par>
                      </p:childTnLst>
                    </p:cTn>
                  </p:par>
                  <p:par>
                    <p:cTn id="56" fill="hold">
                      <p:stCondLst>
                        <p:cond delay="indefinite"/>
                      </p:stCondLst>
                      <p:childTnLst>
                        <p:par>
                          <p:cTn id="57"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17"/>
                                        </p:tgtEl>
                                        <p:attrNameLst>
                                          <p:attrName>style.visibility</p:attrName>
                                        </p:attrNameLst>
                                      </p:cBhvr>
                                      <p:to>
                                        <p:strVal val="visible"/>
                                      </p:to>
                                    </p:set>
                                    <p:animEffect transition="in" filter="fade">
                                      <p:cBhvr>
                                        <p:cTn id="52" dur="250"/>
                                        <p:tgtEl>
                                          <p:spTgt spid="1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22"/>
                                        </p:tgtEl>
                                        <p:attrNameLst>
                                          <p:attrName>style.visibility</p:attrName>
                                        </p:attrNameLst>
                                      </p:cBhvr>
                                      <p:to>
                                        <p:strVal val="visible"/>
                                      </p:to>
                                    </p:set>
                                    <p:animEffect transition="in" filter="fade">
                                      <p:cBhvr>
                                        <p:cTn id="55" dur="250"/>
                                        <p:tgtEl>
                                          <p:spTgt spid="122"/>
                                        </p:tgtEl>
                                      </p:cBhvr>
                                    </p:animEffect>
                                  </p:childTnLst>
                                </p:cTn>
                              </p:par>
                            </p:childTnLst>
                          </p:cTn>
                        </p:par>
                      </p:childTnLst>
                    </p:cTn>
                  </p:par>
                  <p:par>
                    <p:cTn id="61" fill="hold">
                      <p:stCondLst>
                        <p:cond delay="indefinite"/>
                      </p:stCondLst>
                      <p:childTnLst>
                        <p:par>
                          <p:cTn id="62"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118"/>
                                        </p:tgtEl>
                                        <p:attrNameLst>
                                          <p:attrName>style.visibility</p:attrName>
                                        </p:attrNameLst>
                                      </p:cBhvr>
                                      <p:to>
                                        <p:strVal val="visible"/>
                                      </p:to>
                                    </p:set>
                                    <p:animEffect transition="in" filter="fade">
                                      <p:cBhvr>
                                        <p:cTn id="60" dur="250"/>
                                        <p:tgtEl>
                                          <p:spTgt spid="118"/>
                                        </p:tgtEl>
                                      </p:cBhvr>
                                    </p:animEffect>
                                  </p:childTnLst>
                                </p:cTn>
                              </p:par>
                            </p:childTnLst>
                          </p:cTn>
                        </p:par>
                      </p:childTnLst>
                    </p:cTn>
                  </p:par>
                  <p:par>
                    <p:cTn id="69" fill="hold">
                      <p:stCondLst>
                        <p:cond delay="indefinite"/>
                      </p:stCondLst>
                      <p:childTnLst>
                        <p:par>
                          <p:cTn id="70"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114"/>
                                        </p:tgtEl>
                                        <p:attrNameLst>
                                          <p:attrName>style.visibility</p:attrName>
                                        </p:attrNameLst>
                                      </p:cBhvr>
                                      <p:to>
                                        <p:strVal val="visible"/>
                                      </p:to>
                                    </p:set>
                                    <p:animEffect transition="in" filter="fade">
                                      <p:cBhvr>
                                        <p:cTn id="65" dur="250"/>
                                        <p:tgtEl>
                                          <p:spTgt spid="114"/>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123"/>
                                        </p:tgtEl>
                                        <p:attrNameLst>
                                          <p:attrName>style.visibility</p:attrName>
                                        </p:attrNameLst>
                                      </p:cBhvr>
                                      <p:to>
                                        <p:strVal val="visible"/>
                                      </p:to>
                                    </p:set>
                                    <p:animEffect transition="in" filter="fade">
                                      <p:cBhvr>
                                        <p:cTn id="68" dur="250"/>
                                        <p:tgtEl>
                                          <p:spTgt spid="123"/>
                                        </p:tgtEl>
                                      </p:cBhvr>
                                    </p:animEffect>
                                  </p:childTnLst>
                                </p:cTn>
                              </p:par>
                            </p:childTnLst>
                          </p:cTn>
                        </p:par>
                      </p:childTnLst>
                    </p:cTn>
                  </p:par>
                  <p:par>
                    <p:cTn id="77" fill="hold">
                      <p:stCondLst>
                        <p:cond delay="indefinite"/>
                      </p:stCondLst>
                      <p:childTnLst>
                        <p:par>
                          <p:cTn id="78"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102"/>
                                        </p:tgtEl>
                                        <p:attrNameLst>
                                          <p:attrName>style.visibility</p:attrName>
                                        </p:attrNameLst>
                                      </p:cBhvr>
                                      <p:to>
                                        <p:strVal val="visible"/>
                                      </p:to>
                                    </p:set>
                                    <p:animEffect transition="in" filter="fade">
                                      <p:cBhvr>
                                        <p:cTn id="73" dur="250"/>
                                        <p:tgtEl>
                                          <p:spTgt spid="10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125"/>
                                        </p:tgtEl>
                                        <p:attrNameLst>
                                          <p:attrName>style.visibility</p:attrName>
                                        </p:attrNameLst>
                                      </p:cBhvr>
                                      <p:to>
                                        <p:strVal val="visible"/>
                                      </p:to>
                                    </p:set>
                                    <p:animEffect transition="in" filter="fade">
                                      <p:cBhvr>
                                        <p:cTn id="76" dur="25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animBg="1"/>
      <p:bldP spid="89" grpId="0" animBg="1"/>
      <p:bldP spid="90" grpId="0" animBg="1"/>
      <p:bldP spid="91" grpId="0" animBg="1"/>
      <p:bldP spid="93" grpId="0" animBg="1"/>
      <p:bldP spid="94" grpId="0" animBg="1"/>
      <p:bldP spid="112" grpId="0" animBg="1"/>
      <p:bldP spid="113" grpId="0" animBg="1"/>
      <p:bldP spid="115" grpId="0" animBg="1"/>
      <p:bldP spid="116" grpId="0" animBg="1"/>
      <p:bldP spid="119" grpId="0" animBg="1"/>
      <p:bldP spid="120" grpId="0" animBg="1"/>
      <p:bldP spid="121" grpId="0" animBg="1"/>
      <p:bldP spid="124" grpId="0" animBg="1"/>
      <p:bldP spid="117" grpId="0" animBg="1"/>
      <p:bldP spid="122" grpId="0" animBg="1"/>
      <p:bldP spid="118" grpId="0" animBg="1"/>
      <p:bldP spid="114" grpId="0" animBg="1"/>
      <p:bldP spid="123" grpId="0" animBg="1"/>
      <p:bldP spid="102" grpId="0" animBg="1"/>
      <p:bldP spid="125" grpId="0" animBg="1"/>
    </p:bld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4"/>
          <p:cNvSpPr txBox="1"/>
          <p:nvPr/>
        </p:nvSpPr>
        <p:spPr>
          <a:xfrm>
            <a:off x="804672" y="521207"/>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THE RESEARCH GAP</a:t>
            </a:r>
            <a:endParaRPr/>
          </a:p>
        </p:txBody>
      </p:sp>
      <p:sp>
        <p:nvSpPr>
          <p:cNvPr id="110" name="Google Shape;110;p4"/>
          <p:cNvSpPr txBox="1"/>
          <p:nvPr/>
        </p:nvSpPr>
        <p:spPr>
          <a:xfrm>
            <a:off x="804672" y="960120"/>
            <a:ext cx="10689336" cy="7132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Two partial solutions. Neither solves the whole problem.</a:t>
            </a:r>
            <a:endParaRPr/>
          </a:p>
        </p:txBody>
      </p:sp>
      <p:sp>
        <p:nvSpPr>
          <p:cNvPr id="111" name="Google Shape;111;p4"/>
          <p:cNvSpPr/>
          <p:nvPr/>
        </p:nvSpPr>
        <p:spPr>
          <a:xfrm>
            <a:off x="804672" y="1920240"/>
            <a:ext cx="5148072"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4"/>
          <p:cNvSpPr/>
          <p:nvPr/>
        </p:nvSpPr>
        <p:spPr>
          <a:xfrm>
            <a:off x="804672" y="1920240"/>
            <a:ext cx="51480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3" name="Google Shape;113;p4"/>
          <p:cNvSpPr txBox="1"/>
          <p:nvPr/>
        </p:nvSpPr>
        <p:spPr>
          <a:xfrm>
            <a:off x="1069848" y="2130552"/>
            <a:ext cx="4654296"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SCHEMA-FIRST RULES</a:t>
            </a:r>
            <a:endParaRPr/>
          </a:p>
        </p:txBody>
      </p:sp>
      <p:sp>
        <p:nvSpPr>
          <p:cNvPr id="114" name="Google Shape;114;p4"/>
          <p:cNvSpPr txBox="1"/>
          <p:nvPr/>
        </p:nvSpPr>
        <p:spPr>
          <a:xfrm>
            <a:off x="1069848" y="2587752"/>
            <a:ext cx="4645152"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Preserve the structure</a:t>
            </a:r>
            <a:endParaRPr/>
          </a:p>
        </p:txBody>
      </p:sp>
      <p:sp>
        <p:nvSpPr>
          <p:cNvPr id="115" name="Google Shape;115;p4"/>
          <p:cNvSpPr txBox="1"/>
          <p:nvPr/>
        </p:nvSpPr>
        <p:spPr>
          <a:xfrm>
            <a:off x="1069848" y="3072384"/>
            <a:ext cx="4526280"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Tables, columns and foreign keys can be mapped systematically.</a:t>
            </a:r>
            <a:endParaRPr/>
          </a:p>
        </p:txBody>
      </p:sp>
      <p:sp>
        <p:nvSpPr>
          <p:cNvPr id="116" name="Google Shape;116;p4"/>
          <p:cNvSpPr txBox="1"/>
          <p:nvPr/>
        </p:nvSpPr>
        <p:spPr>
          <a:xfrm>
            <a:off x="1069848" y="3895344"/>
            <a:ext cx="461772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implicit domain semantics remain missing.</a:t>
            </a:r>
            <a:endParaRPr/>
          </a:p>
        </p:txBody>
      </p:sp>
      <p:sp>
        <p:nvSpPr>
          <p:cNvPr id="117" name="Google Shape;117;p4"/>
          <p:cNvSpPr/>
          <p:nvPr/>
        </p:nvSpPr>
        <p:spPr>
          <a:xfrm>
            <a:off x="6208776" y="1920240"/>
            <a:ext cx="5184648"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4"/>
          <p:cNvSpPr/>
          <p:nvPr/>
        </p:nvSpPr>
        <p:spPr>
          <a:xfrm>
            <a:off x="6208776" y="1920240"/>
            <a:ext cx="5184648" cy="64008"/>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4"/>
          <p:cNvSpPr txBox="1"/>
          <p:nvPr/>
        </p:nvSpPr>
        <p:spPr>
          <a:xfrm>
            <a:off x="6473952" y="2130552"/>
            <a:ext cx="464515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2F6B78"/>
                </a:solidFill>
                <a:latin typeface="Consolas"/>
                <a:ea typeface="Consolas"/>
                <a:cs typeface="Consolas"/>
                <a:sym typeface="Consolas"/>
              </a:rPr>
              <a:t>LLM-FIRST GENERATION</a:t>
            </a:r>
            <a:endParaRPr/>
          </a:p>
        </p:txBody>
      </p:sp>
      <p:sp>
        <p:nvSpPr>
          <p:cNvPr id="120" name="Google Shape;120;p4"/>
          <p:cNvSpPr txBox="1"/>
          <p:nvPr/>
        </p:nvSpPr>
        <p:spPr>
          <a:xfrm>
            <a:off x="6473952" y="2587752"/>
            <a:ext cx="4608576"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Suggest the meaning</a:t>
            </a:r>
            <a:endParaRPr/>
          </a:p>
        </p:txBody>
      </p:sp>
      <p:sp>
        <p:nvSpPr>
          <p:cNvPr id="121" name="Google Shape;121;p4"/>
          <p:cNvSpPr txBox="1"/>
          <p:nvPr/>
        </p:nvSpPr>
        <p:spPr>
          <a:xfrm>
            <a:off x="6473952" y="3072384"/>
            <a:ext cx="4553712"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Labels, concepts and plausible relationships can be proposed.</a:t>
            </a:r>
            <a:endParaRPr/>
          </a:p>
        </p:txBody>
      </p:sp>
      <p:sp>
        <p:nvSpPr>
          <p:cNvPr id="122" name="Google Shape;122;p4"/>
          <p:cNvSpPr txBox="1"/>
          <p:nvPr/>
        </p:nvSpPr>
        <p:spPr>
          <a:xfrm>
            <a:off x="6473952" y="3895344"/>
            <a:ext cx="46634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elements may be omitted or modeled incorrectly.</a:t>
            </a:r>
            <a:endParaRPr/>
          </a:p>
        </p:txBody>
      </p:sp>
      <p:sp>
        <p:nvSpPr>
          <p:cNvPr id="123" name="Google Shape;123;p4"/>
          <p:cNvSpPr/>
          <p:nvPr/>
        </p:nvSpPr>
        <p:spPr>
          <a:xfrm>
            <a:off x="804672" y="5138928"/>
            <a:ext cx="10588752" cy="96012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24" name="Google Shape;124;p4"/>
          <p:cNvSpPr txBox="1"/>
          <p:nvPr/>
        </p:nvSpPr>
        <p:spPr>
          <a:xfrm>
            <a:off x="1051560" y="5312664"/>
            <a:ext cx="203911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OUR QUESTION</a:t>
            </a:r>
            <a:endParaRPr/>
          </a:p>
        </p:txBody>
      </p:sp>
      <p:sp>
        <p:nvSpPr>
          <p:cNvPr id="125" name="Google Shape;125;p4"/>
          <p:cNvSpPr txBox="1"/>
          <p:nvPr/>
        </p:nvSpPr>
        <p:spPr>
          <a:xfrm>
            <a:off x="2907792" y="5257800"/>
            <a:ext cx="8156448" cy="667512"/>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800">
                <a:solidFill>
                  <a:srgbClr val="1F2328"/>
                </a:solidFill>
                <a:latin typeface="Calibri"/>
                <a:ea typeface="Calibri"/>
                <a:cs typeface="Calibri"/>
                <a:sym typeface="Calibri"/>
              </a:rPr>
              <a:t>Can we preserve schema fidelity </a:t>
            </a:r>
            <a:r>
              <a:rPr b="1" lang="en-US" sz="1800">
                <a:solidFill>
                  <a:srgbClr val="0B6E4F"/>
                </a:solidFill>
                <a:latin typeface="Calibri"/>
                <a:ea typeface="Calibri"/>
                <a:cs typeface="Calibri"/>
                <a:sym typeface="Calibri"/>
              </a:rPr>
              <a:t>and</a:t>
            </a:r>
            <a:r>
              <a:rPr b="1" lang="en-US" sz="1800">
                <a:solidFill>
                  <a:srgbClr val="1F2328"/>
                </a:solidFill>
                <a:latin typeface="Calibri"/>
                <a:ea typeface="Calibri"/>
                <a:cs typeface="Calibri"/>
                <a:sym typeface="Calibri"/>
              </a:rPr>
              <a:t> add domain semantics,</a:t>
            </a:r>
            <a:br>
              <a:rPr b="1" lang="en-US" sz="1800">
                <a:solidFill>
                  <a:srgbClr val="1F2328"/>
                </a:solidFill>
                <a:latin typeface="Calibri"/>
                <a:ea typeface="Calibri"/>
                <a:cs typeface="Calibri"/>
                <a:sym typeface="Calibri"/>
              </a:rPr>
            </a:br>
            <a:r>
              <a:rPr b="1" lang="en-US" sz="1800">
                <a:solidFill>
                  <a:srgbClr val="1F2328"/>
                </a:solidFill>
                <a:latin typeface="Calibri"/>
                <a:ea typeface="Calibri"/>
                <a:cs typeface="Calibri"/>
                <a:sym typeface="Calibri"/>
              </a:rPr>
              <a:t>across the full database, without expert intervention during generation?</a:t>
            </a:r>
            <a:endParaRPr/>
          </a:p>
        </p:txBody>
      </p:sp>
      <p:sp>
        <p:nvSpPr>
          <p:cNvPr id="126" name="References"/>
          <p:cNvSpPr/>
          <p:nvPr/>
        </p:nvSpPr>
        <p:spPr>
          <a:xfrm>
            <a:off x="841248" y="4526280"/>
            <a:ext cx="5074920" cy="457200"/>
          </a:xfrm>
          <a:prstGeom prst="rect">
            <a:avLst/>
          </a:prstGeom>
          <a:noFill/>
          <a:ln>
            <a:noFill/>
          </a:ln>
        </p:spPr>
        <p:txBody>
          <a:bodyPr wrap="square" lIns="0" tIns="0" rIns="0" bIns="0" anchor="t">
            <a:noAutofit/>
          </a:bodyPr>
          <a:lstStyle/>
          <a:p>
            <a:pPr algn="l">
              <a:spcAft>
                <a:spcPts val="0"/>
              </a:spcAft>
            </a:pPr>
            <a:r>
              <a:rPr lang="en-US" sz="1000" b="1" i="0" dirty="0">
                <a:solidFill>
                  <a:srgbClr val="5B6770"/>
                </a:solidFill>
                <a:latin typeface="Calibri"/>
                <a:cs typeface="Calibri"/>
              </a:rPr>
              <a:t xml:space="preserve">W3C Direct Mapping</a:t>
            </a:r>
            <a:r>
              <a:rPr lang="en-US" sz="1000" b="0" i="0" dirty="0">
                <a:solidFill>
                  <a:srgbClr val="5B6770"/>
                </a:solidFill>
                <a:latin typeface="Calibri"/>
                <a:cs typeface="Calibri"/>
              </a:rPr>
              <a:t xml:space="preserve"> [Arenas et al. 2012; Sequeda et al. 2012]</a:t>
            </a:r>
            <a:r>
              <a:rPr lang="en-US" sz="1000" b="0" i="0" dirty="0">
                <a:solidFill>
                  <a:srgbClr val="5B6770"/>
                </a:solidFill>
                <a:latin typeface="Calibri"/>
                <a:cs typeface="Calibri"/>
              </a:rPr>
              <a:t xml:space="preserve">  ·  </a:t>
            </a:r>
            <a:r>
              <a:rPr lang="en-US" sz="1000" b="1" i="0" dirty="0">
                <a:solidFill>
                  <a:srgbClr val="5B6770"/>
                </a:solidFill>
                <a:latin typeface="Calibri"/>
                <a:cs typeface="Calibri"/>
              </a:rPr>
              <a:t xml:space="preserve">BootOX</a:t>
            </a:r>
            <a:r>
              <a:rPr lang="en-US" sz="1000" b="0" i="0" dirty="0">
                <a:solidFill>
                  <a:srgbClr val="5B6770"/>
                </a:solidFill>
                <a:latin typeface="Calibri"/>
                <a:cs typeface="Calibri"/>
              </a:rPr>
              <a:t xml:space="preserve"> [Jiménez‑Ruiz et al., ISWC 2015]</a:t>
            </a:r>
            <a:r>
              <a:rPr lang="en-US" sz="1000" b="0" i="0" dirty="0">
                <a:solidFill>
                  <a:srgbClr val="5B6770"/>
                </a:solidFill>
                <a:latin typeface="Calibri"/>
                <a:cs typeface="Calibri"/>
              </a:rPr>
              <a:t xml:space="preserve">  ·  </a:t>
            </a:r>
            <a:r>
              <a:rPr lang="en-US" sz="1000" b="1" i="0" dirty="0">
                <a:solidFill>
                  <a:srgbClr val="5B6770"/>
                </a:solidFill>
                <a:latin typeface="Calibri"/>
                <a:cs typeface="Calibri"/>
              </a:rPr>
              <a:t xml:space="preserve">Ben Mahria et al.</a:t>
            </a:r>
            <a:r>
              <a:rPr lang="en-US" sz="1000" b="0" i="0" dirty="0">
                <a:solidFill>
                  <a:srgbClr val="5B6770"/>
                </a:solidFill>
                <a:latin typeface="Calibri"/>
                <a:cs typeface="Calibri"/>
              </a:rPr>
              <a:t xml:space="preserve"> [J. Big Data 2021]</a:t>
            </a:r>
            <a:r>
              <a:rPr lang="en-US" sz="1000" b="0" i="0" dirty="0">
                <a:solidFill>
                  <a:srgbClr val="5B6770"/>
                </a:solidFill>
                <a:latin typeface="Calibri"/>
                <a:cs typeface="Calibri"/>
              </a:rPr>
              <a:t xml:space="preserve">  ·  </a:t>
            </a:r>
            <a:r>
              <a:rPr lang="en-US" sz="1000" b="1" i="0" dirty="0">
                <a:solidFill>
                  <a:srgbClr val="5B6770"/>
                </a:solidFill>
                <a:latin typeface="Calibri"/>
                <a:cs typeface="Calibri"/>
              </a:rPr>
              <a:t xml:space="preserve">RODI benchmark</a:t>
            </a:r>
            <a:r>
              <a:rPr lang="en-US" sz="1000" b="0" i="0" dirty="0">
                <a:solidFill>
                  <a:srgbClr val="5B6770"/>
                </a:solidFill>
                <a:latin typeface="Calibri"/>
                <a:cs typeface="Calibri"/>
              </a:rPr>
              <a:t xml:space="preserve"> [Pinkel et al., SWJ 2017]</a:t>
            </a:r>
          </a:p>
        </p:txBody>
      </p:sp>
      <p:sp>
        <p:nvSpPr>
          <p:cNvPr id="127" name="References"/>
          <p:cNvSpPr/>
          <p:nvPr/>
        </p:nvSpPr>
        <p:spPr>
          <a:xfrm>
            <a:off x="6245352" y="4526280"/>
            <a:ext cx="5111496" cy="457200"/>
          </a:xfrm>
          <a:prstGeom prst="rect">
            <a:avLst/>
          </a:prstGeom>
          <a:noFill/>
          <a:ln>
            <a:noFill/>
          </a:ln>
        </p:spPr>
        <p:txBody>
          <a:bodyPr wrap="square" lIns="0" tIns="0" rIns="0" bIns="0" anchor="t">
            <a:noAutofit/>
          </a:bodyPr>
          <a:lstStyle/>
          <a:p>
            <a:pPr algn="l">
              <a:spcAft>
                <a:spcPts val="0"/>
              </a:spcAft>
            </a:pPr>
            <a:r>
              <a:rPr lang="en-US" sz="1000" b="1" i="0" dirty="0">
                <a:solidFill>
                  <a:srgbClr val="5B6770"/>
                </a:solidFill>
                <a:latin typeface="Calibri"/>
                <a:cs typeface="Calibri"/>
              </a:rPr>
              <a:t xml:space="preserve">LLMs4OL</a:t>
            </a:r>
            <a:r>
              <a:rPr lang="en-US" sz="1000" b="0" i="0" dirty="0">
                <a:solidFill>
                  <a:srgbClr val="5B6770"/>
                </a:solidFill>
                <a:latin typeface="Calibri"/>
                <a:cs typeface="Calibri"/>
              </a:rPr>
              <a:t xml:space="preserve"> [Babaei Giglou et al., ISWC 2023]</a:t>
            </a:r>
            <a:r>
              <a:rPr lang="en-US" sz="1000" b="0" i="0" dirty="0">
                <a:solidFill>
                  <a:srgbClr val="5B6770"/>
                </a:solidFill>
                <a:latin typeface="Calibri"/>
                <a:cs typeface="Calibri"/>
              </a:rPr>
              <a:t xml:space="preserve">  ·  </a:t>
            </a:r>
            <a:r>
              <a:rPr lang="en-US" sz="1000" b="1" i="0" dirty="0">
                <a:solidFill>
                  <a:srgbClr val="5B6770"/>
                </a:solidFill>
                <a:latin typeface="Calibri"/>
                <a:cs typeface="Calibri"/>
              </a:rPr>
              <a:t xml:space="preserve">Mateiu &amp; Groza</a:t>
            </a:r>
            <a:r>
              <a:rPr lang="en-US" sz="1000" b="0" i="0" dirty="0">
                <a:solidFill>
                  <a:srgbClr val="5B6770"/>
                </a:solidFill>
                <a:latin typeface="Calibri"/>
                <a:cs typeface="Calibri"/>
              </a:rPr>
              <a:t xml:space="preserve"> [SYNASC 2023]</a:t>
            </a:r>
            <a:r>
              <a:rPr lang="en-US" sz="1000" b="0" i="0" dirty="0">
                <a:solidFill>
                  <a:srgbClr val="5B6770"/>
                </a:solidFill>
                <a:latin typeface="Calibri"/>
                <a:cs typeface="Calibri"/>
              </a:rPr>
              <a:t xml:space="preserve">  ·  </a:t>
            </a:r>
            <a:r>
              <a:rPr lang="en-US" sz="1000" b="1" i="0" dirty="0">
                <a:solidFill>
                  <a:srgbClr val="5B6770"/>
                </a:solidFill>
                <a:latin typeface="Calibri"/>
                <a:cs typeface="Calibri"/>
              </a:rPr>
              <a:t xml:space="preserve">OntoGenix</a:t>
            </a:r>
            <a:r>
              <a:rPr lang="en-US" sz="1000" b="0" i="0" dirty="0">
                <a:solidFill>
                  <a:srgbClr val="5B6770"/>
                </a:solidFill>
                <a:latin typeface="Calibri"/>
                <a:cs typeface="Calibri"/>
              </a:rPr>
              <a:t xml:space="preserve"> [Val‑Calvo et al., IP&amp;M 2025]</a:t>
            </a:r>
            <a:r>
              <a:rPr lang="en-US" sz="1000" b="0" i="0" dirty="0">
                <a:solidFill>
                  <a:srgbClr val="5B6770"/>
                </a:solidFill>
                <a:latin typeface="Calibri"/>
                <a:cs typeface="Calibri"/>
              </a:rPr>
              <a:t xml:space="preserve">  ·  </a:t>
            </a:r>
            <a:r>
              <a:rPr lang="en-US" sz="1000" b="1" i="0" dirty="0">
                <a:solidFill>
                  <a:srgbClr val="5B6770"/>
                </a:solidFill>
                <a:latin typeface="Calibri"/>
                <a:cs typeface="Calibri"/>
              </a:rPr>
              <a:t xml:space="preserve">LLM4VKG</a:t>
            </a:r>
            <a:r>
              <a:rPr lang="en-US" sz="1000" b="0" i="0" dirty="0">
                <a:solidFill>
                  <a:srgbClr val="5B6770"/>
                </a:solidFill>
                <a:latin typeface="Calibri"/>
                <a:cs typeface="Calibri"/>
              </a:rPr>
              <a:t xml:space="preserve"> [Xiao et al., IJCAI 2025]</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5"/>
          <p:cNvSpPr txBox="1"/>
          <p:nvPr/>
        </p:nvSpPr>
        <p:spPr>
          <a:xfrm>
            <a:off x="822960"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OUR ANSWER  /  RIGOR</a:t>
            </a:r>
            <a:endParaRPr/>
          </a:p>
        </p:txBody>
      </p:sp>
      <p:sp>
        <p:nvSpPr>
          <p:cNvPr id="132" name="Google Shape;132;p5"/>
          <p:cNvSpPr txBox="1"/>
          <p:nvPr/>
        </p:nvSpPr>
        <p:spPr>
          <a:xfrm>
            <a:off x="804672" y="978408"/>
            <a:ext cx="1062532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Build the ontology one table at a time.</a:t>
            </a:r>
            <a:endParaRPr/>
          </a:p>
        </p:txBody>
      </p:sp>
      <p:sp>
        <p:nvSpPr>
          <p:cNvPr id="133" name="Google Shape;133;p5"/>
          <p:cNvSpPr txBox="1"/>
          <p:nvPr/>
        </p:nvSpPr>
        <p:spPr>
          <a:xfrm>
            <a:off x="804672" y="1673352"/>
            <a:ext cx="10634472"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We will construct the answer to our admission example, together.</a:t>
            </a:r>
            <a:endParaRPr/>
          </a:p>
        </p:txBody>
      </p:sp>
      <p:sp>
        <p:nvSpPr>
          <p:cNvPr id="134" name="Google Shape;134;p5"/>
          <p:cNvSpPr/>
          <p:nvPr/>
        </p:nvSpPr>
        <p:spPr>
          <a:xfrm>
            <a:off x="813816" y="2441448"/>
            <a:ext cx="3026664" cy="226771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5" name="Google Shape;135;p5"/>
          <p:cNvSpPr txBox="1"/>
          <p:nvPr/>
        </p:nvSpPr>
        <p:spPr>
          <a:xfrm>
            <a:off x="1033271" y="2651760"/>
            <a:ext cx="260604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WHAT WE HAVE</a:t>
            </a:r>
            <a:endParaRPr/>
          </a:p>
        </p:txBody>
      </p:sp>
      <p:sp>
        <p:nvSpPr>
          <p:cNvPr id="136" name="Google Shape;136;p5"/>
          <p:cNvSpPr txBox="1"/>
          <p:nvPr/>
        </p:nvSpPr>
        <p:spPr>
          <a:xfrm>
            <a:off x="1042415" y="3072384"/>
            <a:ext cx="2542032"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300">
                <a:solidFill>
                  <a:srgbClr val="1F2328"/>
                </a:solidFill>
                <a:latin typeface="Calibri"/>
                <a:ea typeface="Calibri"/>
                <a:cs typeface="Calibri"/>
                <a:sym typeface="Calibri"/>
              </a:rPr>
              <a:t>admission</a:t>
            </a:r>
            <a:endParaRPr/>
          </a:p>
        </p:txBody>
      </p:sp>
      <p:cxnSp>
        <p:nvCxnSpPr>
          <p:cNvPr id="137" name="Google Shape;137;p5"/>
          <p:cNvCxnSpPr/>
          <p:nvPr/>
        </p:nvCxnSpPr>
        <p:spPr>
          <a:xfrm>
            <a:off x="1033271" y="3456432"/>
            <a:ext cx="2542033" cy="0"/>
          </a:xfrm>
          <a:prstGeom prst="straightConnector1">
            <a:avLst/>
          </a:prstGeom>
          <a:noFill/>
          <a:ln cap="flat" cmpd="sng" w="19050">
            <a:solidFill>
              <a:srgbClr val="8E989E"/>
            </a:solidFill>
            <a:prstDash val="solid"/>
            <a:miter lim="8000"/>
            <a:headEnd len="sm" w="sm" type="none"/>
            <a:tailEnd len="sm" w="sm" type="none"/>
          </a:ln>
        </p:spPr>
      </p:cxnSp>
      <p:sp>
        <p:nvSpPr>
          <p:cNvPr id="138" name="Google Shape;138;p5"/>
          <p:cNvSpPr txBox="1"/>
          <p:nvPr/>
        </p:nvSpPr>
        <p:spPr>
          <a:xfrm>
            <a:off x="1033271" y="3611880"/>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139" name="Google Shape;139;p5"/>
          <p:cNvSpPr txBox="1"/>
          <p:nvPr/>
        </p:nvSpPr>
        <p:spPr>
          <a:xfrm>
            <a:off x="1033271" y="3904487"/>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140" name="Google Shape;140;p5"/>
          <p:cNvSpPr txBox="1"/>
          <p:nvPr/>
        </p:nvSpPr>
        <p:spPr>
          <a:xfrm>
            <a:off x="1033271" y="4187952"/>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141" name="Google Shape;141;p5"/>
          <p:cNvSpPr/>
          <p:nvPr/>
        </p:nvSpPr>
        <p:spPr>
          <a:xfrm>
            <a:off x="4123944" y="3282696"/>
            <a:ext cx="557784"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5"/>
          <p:cNvSpPr/>
          <p:nvPr/>
        </p:nvSpPr>
        <p:spPr>
          <a:xfrm>
            <a:off x="5020056" y="2441448"/>
            <a:ext cx="6391656" cy="2267712"/>
          </a:xfrm>
          <a:prstGeom prst="roundRect">
            <a:avLst>
              <a:gd fmla="val 10000"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5"/>
          <p:cNvSpPr txBox="1"/>
          <p:nvPr/>
        </p:nvSpPr>
        <p:spPr>
          <a:xfrm>
            <a:off x="5257800" y="2642616"/>
            <a:ext cx="584301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WHAT WE WANT</a:t>
            </a:r>
            <a:endParaRPr/>
          </a:p>
        </p:txBody>
      </p:sp>
      <p:sp>
        <p:nvSpPr>
          <p:cNvPr id="144" name="Google Shape;144;p5"/>
          <p:cNvSpPr/>
          <p:nvPr/>
        </p:nvSpPr>
        <p:spPr>
          <a:xfrm>
            <a:off x="5266944" y="3063240"/>
            <a:ext cx="2157984"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5"/>
          <p:cNvSpPr txBox="1"/>
          <p:nvPr/>
        </p:nvSpPr>
        <p:spPr>
          <a:xfrm>
            <a:off x="5468112" y="3182112"/>
            <a:ext cx="178308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46" name="Google Shape;146;p5"/>
          <p:cNvSpPr/>
          <p:nvPr/>
        </p:nvSpPr>
        <p:spPr>
          <a:xfrm>
            <a:off x="9189720" y="3063240"/>
            <a:ext cx="1938528"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5"/>
          <p:cNvSpPr txBox="1"/>
          <p:nvPr/>
        </p:nvSpPr>
        <p:spPr>
          <a:xfrm>
            <a:off x="9317736" y="3182112"/>
            <a:ext cx="1682496"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700">
                <a:solidFill>
                  <a:srgbClr val="1F2328"/>
                </a:solidFill>
                <a:latin typeface="Calibri"/>
                <a:ea typeface="Calibri"/>
                <a:cs typeface="Calibri"/>
                <a:sym typeface="Calibri"/>
              </a:rPr>
              <a:t>PatientData</a:t>
            </a:r>
            <a:endParaRPr/>
          </a:p>
        </p:txBody>
      </p:sp>
      <p:cxnSp>
        <p:nvCxnSpPr>
          <p:cNvPr id="148" name="Google Shape;148;p5"/>
          <p:cNvCxnSpPr/>
          <p:nvPr/>
        </p:nvCxnSpPr>
        <p:spPr>
          <a:xfrm>
            <a:off x="7452360" y="3310128"/>
            <a:ext cx="1664208" cy="0"/>
          </a:xfrm>
          <a:prstGeom prst="straightConnector1">
            <a:avLst/>
          </a:prstGeom>
          <a:noFill/>
          <a:ln cap="flat" cmpd="sng" w="30475">
            <a:solidFill>
              <a:srgbClr val="0B6E4F"/>
            </a:solidFill>
            <a:prstDash val="solid"/>
            <a:miter lim="8000"/>
            <a:headEnd len="sm" w="sm" type="none"/>
            <a:tailEnd len="med" w="med" type="triangle"/>
          </a:ln>
        </p:spPr>
      </p:cxnSp>
      <p:sp>
        <p:nvSpPr>
          <p:cNvPr id="149" name="Google Shape;149;p5"/>
          <p:cNvSpPr txBox="1"/>
          <p:nvPr/>
        </p:nvSpPr>
        <p:spPr>
          <a:xfrm>
            <a:off x="7470648" y="2980944"/>
            <a:ext cx="1810512" cy="228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50" name="Google Shape;150;p5"/>
          <p:cNvSpPr txBox="1"/>
          <p:nvPr/>
        </p:nvSpPr>
        <p:spPr>
          <a:xfrm>
            <a:off x="5330952" y="3785615"/>
            <a:ext cx="558698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 meaningful labels   + encoded values</a:t>
            </a:r>
            <a:endParaRPr/>
          </a:p>
        </p:txBody>
      </p:sp>
      <p:sp>
        <p:nvSpPr>
          <p:cNvPr id="151" name="Google Shape;151;p5"/>
          <p:cNvSpPr txBox="1"/>
          <p:nvPr/>
        </p:nvSpPr>
        <p:spPr>
          <a:xfrm>
            <a:off x="5330952" y="4151376"/>
            <a:ext cx="5586984"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50">
                <a:solidFill>
                  <a:srgbClr val="3A434C"/>
                </a:solidFill>
                <a:latin typeface="Calibri"/>
                <a:ea typeface="Calibri"/>
                <a:cs typeface="Calibri"/>
                <a:sym typeface="Calibri"/>
              </a:rPr>
              <a:t>+ provenance   + justified axioms / links</a:t>
            </a:r>
            <a:endParaRPr/>
          </a:p>
        </p:txBody>
      </p:sp>
      <p:sp>
        <p:nvSpPr>
          <p:cNvPr id="152" name="Google Shape;152;p5"/>
          <p:cNvSpPr txBox="1"/>
          <p:nvPr/>
        </p:nvSpPr>
        <p:spPr>
          <a:xfrm>
            <a:off x="859536" y="5020056"/>
            <a:ext cx="10460736"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We need to preserve structure, discover meaning, and prevent mistakes, at database scale.</a:t>
            </a:r>
            <a:endParaRPr/>
          </a:p>
        </p:txBody>
      </p:sp>
      <p:sp>
        <p:nvSpPr>
          <p:cNvPr id="153" name="Google Shape;153;p5"/>
          <p:cNvSpPr/>
          <p:nvPr/>
        </p:nvSpPr>
        <p:spPr>
          <a:xfrm>
            <a:off x="80467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4" name="Google Shape;154;p5"/>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1  ORDER</a:t>
            </a:r>
            <a:endParaRPr/>
          </a:p>
        </p:txBody>
      </p:sp>
      <p:sp>
        <p:nvSpPr>
          <p:cNvPr id="155" name="Google Shape;155;p5"/>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5"/>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2  SEED</a:t>
            </a:r>
            <a:endParaRPr/>
          </a:p>
        </p:txBody>
      </p:sp>
      <p:sp>
        <p:nvSpPr>
          <p:cNvPr id="157" name="Google Shape;157;p5"/>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8" name="Google Shape;158;p5"/>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159" name="Google Shape;159;p5"/>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5"/>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161" name="Google Shape;161;p5"/>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5"/>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163" name="Google Shape;163;p5"/>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4" name="Google Shape;164;p5"/>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165" name="Added 165"/>
          <p:cNvSpPr txBox="1"/>
          <p:nvPr/>
        </p:nvSpPr>
        <p:spPr>
          <a:xfrm>
            <a:off x="859536" y="6272784"/>
            <a:ext cx="10460736" cy="29260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a:solidFill>
                  <a:srgbClr val="0B6E4F"/>
                </a:solidFill>
                <a:latin typeface="Calibri"/>
                <a:ea typeface="Calibri"/>
                <a:cs typeface="Calibri"/>
                <a:sym typeface="Calibri"/>
              </a:rPr>
              <a:t>RESULT PREVIEW   </a:t>
            </a:r>
            <a:r>
              <a:rPr b="0" i="0" lang="en-US" sz="1300">
                <a:solidFill>
                  <a:srgbClr val="5B6770"/>
                </a:solidFill>
                <a:latin typeface="Calibri"/>
                <a:ea typeface="Calibri"/>
                <a:cs typeface="Calibri"/>
                <a:sym typeface="Calibri"/>
              </a:rPr>
              <a:t>Ranked first in 70% of expert rankings  ·  highest BURR F1 among compared ontology-learning systems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6"/>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1 / ORDER</a:t>
            </a:r>
            <a:endParaRPr/>
          </a:p>
        </p:txBody>
      </p:sp>
      <p:sp>
        <p:nvSpPr>
          <p:cNvPr id="171" name="Google Shape;171;p6"/>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To understand this table, build its parent first.</a:t>
            </a:r>
            <a:endParaRPr/>
          </a:p>
        </p:txBody>
      </p:sp>
      <p:sp>
        <p:nvSpPr>
          <p:cNvPr id="172" name="Google Shape;172;p6"/>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We follow foreign-key dependencies, so known concepts are available when needed.</a:t>
            </a:r>
            <a:endParaRPr/>
          </a:p>
        </p:txBody>
      </p:sp>
      <p:sp>
        <p:nvSpPr>
          <p:cNvPr id="173" name="Google Shape;173;p6"/>
          <p:cNvSpPr/>
          <p:nvPr/>
        </p:nvSpPr>
        <p:spPr>
          <a:xfrm>
            <a:off x="822960" y="2130552"/>
            <a:ext cx="4910328"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4" name="Google Shape;174;p6"/>
          <p:cNvSpPr txBox="1"/>
          <p:nvPr/>
        </p:nvSpPr>
        <p:spPr>
          <a:xfrm>
            <a:off x="1069848" y="2313432"/>
            <a:ext cx="448056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DATABASE DEPENDENCIES</a:t>
            </a:r>
            <a:endParaRPr/>
          </a:p>
        </p:txBody>
      </p:sp>
      <p:sp>
        <p:nvSpPr>
          <p:cNvPr id="175" name="Google Shape;175;p6"/>
          <p:cNvSpPr/>
          <p:nvPr/>
        </p:nvSpPr>
        <p:spPr>
          <a:xfrm>
            <a:off x="1143000" y="2816352"/>
            <a:ext cx="1874519" cy="850392"/>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6" name="Google Shape;176;p6"/>
          <p:cNvSpPr txBox="1"/>
          <p:nvPr/>
        </p:nvSpPr>
        <p:spPr>
          <a:xfrm>
            <a:off x="1280160" y="2944368"/>
            <a:ext cx="160934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PatientData</a:t>
            </a:r>
            <a:endParaRPr/>
          </a:p>
        </p:txBody>
      </p:sp>
      <p:sp>
        <p:nvSpPr>
          <p:cNvPr id="177" name="Google Shape;177;p6"/>
          <p:cNvSpPr txBox="1"/>
          <p:nvPr/>
        </p:nvSpPr>
        <p:spPr>
          <a:xfrm>
            <a:off x="1280160" y="3227832"/>
            <a:ext cx="1673352"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400">
                <a:solidFill>
                  <a:srgbClr val="5B6770"/>
                </a:solidFill>
                <a:latin typeface="Calibri"/>
                <a:ea typeface="Calibri"/>
                <a:cs typeface="Calibri"/>
                <a:sym typeface="Calibri"/>
              </a:rPr>
              <a:t>No FKs</a:t>
            </a:r>
            <a:endParaRPr/>
          </a:p>
        </p:txBody>
      </p:sp>
      <p:sp>
        <p:nvSpPr>
          <p:cNvPr id="178" name="Google Shape;178;p6"/>
          <p:cNvSpPr/>
          <p:nvPr/>
        </p:nvSpPr>
        <p:spPr>
          <a:xfrm>
            <a:off x="3758184" y="2816352"/>
            <a:ext cx="1709928" cy="850392"/>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6"/>
          <p:cNvSpPr txBox="1"/>
          <p:nvPr/>
        </p:nvSpPr>
        <p:spPr>
          <a:xfrm>
            <a:off x="3904487" y="2944368"/>
            <a:ext cx="144475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admission</a:t>
            </a:r>
            <a:endParaRPr/>
          </a:p>
        </p:txBody>
      </p:sp>
      <p:sp>
        <p:nvSpPr>
          <p:cNvPr id="180" name="Google Shape;180;p6"/>
          <p:cNvSpPr txBox="1"/>
          <p:nvPr/>
        </p:nvSpPr>
        <p:spPr>
          <a:xfrm>
            <a:off x="3895344" y="3227832"/>
            <a:ext cx="1499616"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400">
                <a:solidFill>
                  <a:srgbClr val="5B6770"/>
                </a:solidFill>
                <a:latin typeface="Consolas"/>
                <a:ea typeface="Consolas"/>
                <a:cs typeface="Consolas"/>
                <a:sym typeface="Consolas"/>
              </a:rPr>
              <a:t>patient_id FK</a:t>
            </a:r>
            <a:endParaRPr/>
          </a:p>
        </p:txBody>
      </p:sp>
      <p:cxnSp>
        <p:nvCxnSpPr>
          <p:cNvPr id="181" name="Google Shape;181;p6"/>
          <p:cNvCxnSpPr/>
          <p:nvPr/>
        </p:nvCxnSpPr>
        <p:spPr>
          <a:xfrm rot="10800000">
            <a:off x="3099816" y="3255264"/>
            <a:ext cx="594360" cy="0"/>
          </a:xfrm>
          <a:prstGeom prst="straightConnector1">
            <a:avLst/>
          </a:prstGeom>
          <a:noFill/>
          <a:ln cap="flat" cmpd="sng" w="30475">
            <a:solidFill>
              <a:srgbClr val="3A7D8C"/>
            </a:solidFill>
            <a:prstDash val="solid"/>
            <a:miter lim="8000"/>
            <a:headEnd len="sm" w="sm" type="none"/>
            <a:tailEnd len="med" w="med" type="triangle"/>
          </a:ln>
        </p:spPr>
      </p:cxnSp>
      <p:sp>
        <p:nvSpPr>
          <p:cNvPr id="182" name="Google Shape;182;p6"/>
          <p:cNvSpPr txBox="1"/>
          <p:nvPr/>
        </p:nvSpPr>
        <p:spPr>
          <a:xfrm>
            <a:off x="2350008" y="3877056"/>
            <a:ext cx="1874519" cy="283464"/>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400">
                <a:solidFill>
                  <a:srgbClr val="5B6770"/>
                </a:solidFill>
                <a:latin typeface="Calibri"/>
                <a:ea typeface="Calibri"/>
                <a:cs typeface="Calibri"/>
                <a:sym typeface="Calibri"/>
              </a:rPr>
              <a:t>FK points to parent</a:t>
            </a:r>
            <a:endParaRPr/>
          </a:p>
        </p:txBody>
      </p:sp>
      <p:sp>
        <p:nvSpPr>
          <p:cNvPr id="183" name="Google Shape;183;p6"/>
          <p:cNvSpPr/>
          <p:nvPr/>
        </p:nvSpPr>
        <p:spPr>
          <a:xfrm>
            <a:off x="5961888" y="2130552"/>
            <a:ext cx="5376672"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4" name="Google Shape;184;p6"/>
          <p:cNvSpPr txBox="1"/>
          <p:nvPr/>
        </p:nvSpPr>
        <p:spPr>
          <a:xfrm>
            <a:off x="6208776" y="2313432"/>
            <a:ext cx="483717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PROCESSING ORDER  /  OUTPUT</a:t>
            </a:r>
            <a:endParaRPr/>
          </a:p>
        </p:txBody>
      </p:sp>
      <p:sp>
        <p:nvSpPr>
          <p:cNvPr id="185" name="Google Shape;185;p6"/>
          <p:cNvSpPr/>
          <p:nvPr/>
        </p:nvSpPr>
        <p:spPr>
          <a:xfrm>
            <a:off x="6300216" y="2807208"/>
            <a:ext cx="1901952" cy="1051560"/>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6"/>
          <p:cNvSpPr txBox="1"/>
          <p:nvPr/>
        </p:nvSpPr>
        <p:spPr>
          <a:xfrm>
            <a:off x="6455664" y="2971800"/>
            <a:ext cx="1554480"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 = 1</a:t>
            </a:r>
            <a:endParaRPr/>
          </a:p>
        </p:txBody>
      </p:sp>
      <p:sp>
        <p:nvSpPr>
          <p:cNvPr id="187" name="Google Shape;187;p6"/>
          <p:cNvSpPr txBox="1"/>
          <p:nvPr/>
        </p:nvSpPr>
        <p:spPr>
          <a:xfrm>
            <a:off x="6446520" y="3255264"/>
            <a:ext cx="1563624"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188" name="Google Shape;188;p6"/>
          <p:cNvCxnSpPr/>
          <p:nvPr/>
        </p:nvCxnSpPr>
        <p:spPr>
          <a:xfrm>
            <a:off x="8311896" y="3310128"/>
            <a:ext cx="420624" cy="0"/>
          </a:xfrm>
          <a:prstGeom prst="straightConnector1">
            <a:avLst/>
          </a:prstGeom>
          <a:noFill/>
          <a:ln cap="flat" cmpd="sng" w="31750">
            <a:solidFill>
              <a:srgbClr val="0B6E4F"/>
            </a:solidFill>
            <a:prstDash val="solid"/>
            <a:miter lim="8000"/>
            <a:headEnd len="sm" w="sm" type="none"/>
            <a:tailEnd len="med" w="med" type="triangle"/>
          </a:ln>
        </p:spPr>
      </p:cxnSp>
      <p:sp>
        <p:nvSpPr>
          <p:cNvPr id="189" name="Google Shape;189;p6"/>
          <p:cNvSpPr/>
          <p:nvPr/>
        </p:nvSpPr>
        <p:spPr>
          <a:xfrm>
            <a:off x="8833104" y="2807208"/>
            <a:ext cx="2112264" cy="1051560"/>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6"/>
          <p:cNvSpPr txBox="1"/>
          <p:nvPr/>
        </p:nvSpPr>
        <p:spPr>
          <a:xfrm>
            <a:off x="8988552" y="2971800"/>
            <a:ext cx="176479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2F6B78"/>
                </a:solidFill>
                <a:latin typeface="Consolas"/>
                <a:ea typeface="Consolas"/>
                <a:cs typeface="Consolas"/>
                <a:sym typeface="Consolas"/>
              </a:rPr>
              <a:t>t = 2</a:t>
            </a:r>
            <a:endParaRPr/>
          </a:p>
        </p:txBody>
      </p:sp>
      <p:sp>
        <p:nvSpPr>
          <p:cNvPr id="191" name="Google Shape;191;p6"/>
          <p:cNvSpPr txBox="1"/>
          <p:nvPr/>
        </p:nvSpPr>
        <p:spPr>
          <a:xfrm>
            <a:off x="8988552" y="3255264"/>
            <a:ext cx="176479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92" name="Google Shape;192;p6"/>
          <p:cNvSpPr txBox="1"/>
          <p:nvPr/>
        </p:nvSpPr>
        <p:spPr>
          <a:xfrm>
            <a:off x="6190488" y="4133087"/>
            <a:ext cx="4882896" cy="3840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Before generating Admission, PatientData already exists in the core ontology.</a:t>
            </a:r>
            <a:endParaRPr/>
          </a:p>
        </p:txBody>
      </p:sp>
      <p:sp>
        <p:nvSpPr>
          <p:cNvPr id="193" name="Google Shape;193;p6"/>
          <p:cNvSpPr/>
          <p:nvPr/>
        </p:nvSpPr>
        <p:spPr>
          <a:xfrm>
            <a:off x="822960" y="4956048"/>
            <a:ext cx="10515600" cy="475488"/>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4" name="Google Shape;194;p6"/>
          <p:cNvSpPr txBox="1"/>
          <p:nvPr/>
        </p:nvSpPr>
        <p:spPr>
          <a:xfrm>
            <a:off x="1014984" y="5056632"/>
            <a:ext cx="10168128" cy="246888"/>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500">
                <a:solidFill>
                  <a:srgbClr val="0B6E4F"/>
                </a:solidFill>
                <a:latin typeface="Calibri"/>
                <a:ea typeface="Calibri"/>
                <a:cs typeface="Calibri"/>
                <a:sym typeface="Calibri"/>
              </a:rPr>
              <a:t>WHY IT MATTERS   </a:t>
            </a:r>
            <a:r>
              <a:rPr b="0" lang="en-US" sz="1500">
                <a:solidFill>
                  <a:srgbClr val="1F2328"/>
                </a:solidFill>
                <a:latin typeface="Calibri"/>
                <a:ea typeface="Calibri"/>
                <a:cs typeface="Calibri"/>
                <a:sym typeface="Calibri"/>
              </a:rPr>
              <a:t>The next fragment can reuse known classes and IRIs instead of inventing duplicates.</a:t>
            </a:r>
            <a:endParaRPr/>
          </a:p>
        </p:txBody>
      </p:sp>
      <p:sp>
        <p:nvSpPr>
          <p:cNvPr id="195" name="Google Shape;195;p6"/>
          <p:cNvSpPr/>
          <p:nvPr/>
        </p:nvSpPr>
        <p:spPr>
          <a:xfrm>
            <a:off x="80467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6"/>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1  ORDER</a:t>
            </a:r>
            <a:endParaRPr/>
          </a:p>
        </p:txBody>
      </p:sp>
      <p:sp>
        <p:nvSpPr>
          <p:cNvPr id="197" name="Google Shape;197;p6"/>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8" name="Google Shape;198;p6"/>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2  SEED</a:t>
            </a:r>
            <a:endParaRPr/>
          </a:p>
        </p:txBody>
      </p:sp>
      <p:sp>
        <p:nvSpPr>
          <p:cNvPr id="199" name="Google Shape;199;p6"/>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6"/>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201" name="Google Shape;201;p6"/>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2" name="Google Shape;202;p6"/>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03" name="Google Shape;203;p6"/>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6"/>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05" name="Google Shape;205;p6"/>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6" name="Google Shape;206;p6"/>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7"/>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2 / SEED</a:t>
            </a:r>
            <a:endParaRPr/>
          </a:p>
        </p:txBody>
      </p:sp>
      <p:sp>
        <p:nvSpPr>
          <p:cNvPr id="213" name="Google Shape;213;p7"/>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Guarantee schema coverage before LLM enrichment.</a:t>
            </a:r>
            <a:endParaRPr/>
          </a:p>
        </p:txBody>
      </p:sp>
      <p:sp>
        <p:nvSpPr>
          <p:cNvPr id="214" name="Google Shape;214;p7"/>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Direct Mapping (DMᵣ) represents every column in the cleaned table before generation.</a:t>
            </a:r>
            <a:endParaRPr/>
          </a:p>
        </p:txBody>
      </p:sp>
      <p:sp>
        <p:nvSpPr>
          <p:cNvPr id="215" name="Google Shape;215;p7"/>
          <p:cNvSpPr/>
          <p:nvPr/>
        </p:nvSpPr>
        <p:spPr>
          <a:xfrm>
            <a:off x="813816" y="2048256"/>
            <a:ext cx="3685032" cy="292608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6" name="Google Shape;216;p7"/>
          <p:cNvSpPr txBox="1"/>
          <p:nvPr/>
        </p:nvSpPr>
        <p:spPr>
          <a:xfrm>
            <a:off x="1042415" y="2203704"/>
            <a:ext cx="32644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INPUT  /  admission (excerpt)</a:t>
            </a:r>
            <a:endParaRPr sz="1500"/>
          </a:p>
        </p:txBody>
      </p:sp>
      <p:sp>
        <p:nvSpPr>
          <p:cNvPr id="217" name="Google Shape;217;p7"/>
          <p:cNvSpPr/>
          <p:nvPr/>
        </p:nvSpPr>
        <p:spPr>
          <a:xfrm>
            <a:off x="1060704" y="2752344"/>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7"/>
          <p:cNvSpPr txBox="1"/>
          <p:nvPr/>
        </p:nvSpPr>
        <p:spPr>
          <a:xfrm>
            <a:off x="1188720" y="2852927"/>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patient_id</a:t>
            </a:r>
            <a:endParaRPr/>
          </a:p>
        </p:txBody>
      </p:sp>
      <p:sp>
        <p:nvSpPr>
          <p:cNvPr id="219" name="Google Shape;219;p7"/>
          <p:cNvSpPr txBox="1"/>
          <p:nvPr/>
        </p:nvSpPr>
        <p:spPr>
          <a:xfrm>
            <a:off x="2615184" y="2834639"/>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250">
                <a:solidFill>
                  <a:srgbClr val="5B6770"/>
                </a:solidFill>
                <a:latin typeface="Consolas"/>
                <a:ea typeface="Consolas"/>
                <a:cs typeface="Consolas"/>
                <a:sym typeface="Consolas"/>
              </a:rPr>
              <a:t>FK → PatientData</a:t>
            </a:r>
            <a:endParaRPr sz="1250"/>
          </a:p>
        </p:txBody>
      </p:sp>
      <p:sp>
        <p:nvSpPr>
          <p:cNvPr id="220" name="Google Shape;220;p7"/>
          <p:cNvSpPr/>
          <p:nvPr/>
        </p:nvSpPr>
        <p:spPr>
          <a:xfrm>
            <a:off x="1060704" y="3319272"/>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7"/>
          <p:cNvSpPr txBox="1"/>
          <p:nvPr/>
        </p:nvSpPr>
        <p:spPr>
          <a:xfrm>
            <a:off x="1188720" y="3419856"/>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BM_DEP</a:t>
            </a:r>
            <a:endParaRPr/>
          </a:p>
        </p:txBody>
      </p:sp>
      <p:sp>
        <p:nvSpPr>
          <p:cNvPr id="222" name="Google Shape;222;p7"/>
          <p:cNvSpPr txBox="1"/>
          <p:nvPr/>
        </p:nvSpPr>
        <p:spPr>
          <a:xfrm>
            <a:off x="2615184" y="3401568"/>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3" name="Google Shape;223;p7"/>
          <p:cNvSpPr/>
          <p:nvPr/>
        </p:nvSpPr>
        <p:spPr>
          <a:xfrm>
            <a:off x="1060704" y="3886200"/>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7"/>
          <p:cNvSpPr txBox="1"/>
          <p:nvPr/>
        </p:nvSpPr>
        <p:spPr>
          <a:xfrm>
            <a:off x="1188720" y="3986784"/>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ecog_stage</a:t>
            </a:r>
            <a:endParaRPr/>
          </a:p>
        </p:txBody>
      </p:sp>
      <p:sp>
        <p:nvSpPr>
          <p:cNvPr id="225" name="Google Shape;225;p7"/>
          <p:cNvSpPr txBox="1"/>
          <p:nvPr/>
        </p:nvSpPr>
        <p:spPr>
          <a:xfrm>
            <a:off x="2615184" y="3968496"/>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6" name="Google Shape;226;p7"/>
          <p:cNvSpPr txBox="1"/>
          <p:nvPr/>
        </p:nvSpPr>
        <p:spPr>
          <a:xfrm>
            <a:off x="1088136" y="4645152"/>
            <a:ext cx="3209544"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400">
                <a:solidFill>
                  <a:srgbClr val="5B6770"/>
                </a:solidFill>
                <a:latin typeface="Calibri"/>
                <a:ea typeface="Calibri"/>
                <a:cs typeface="Calibri"/>
                <a:sym typeface="Calibri"/>
              </a:rPr>
              <a:t>Other columns are also mapped.</a:t>
            </a:r>
            <a:endParaRPr/>
          </a:p>
        </p:txBody>
      </p:sp>
      <p:sp>
        <p:nvSpPr>
          <p:cNvPr id="227" name="Google Shape;227;p7"/>
          <p:cNvSpPr/>
          <p:nvPr/>
        </p:nvSpPr>
        <p:spPr>
          <a:xfrm>
            <a:off x="4672584" y="3255264"/>
            <a:ext cx="612648" cy="475488"/>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7"/>
          <p:cNvSpPr/>
          <p:nvPr/>
        </p:nvSpPr>
        <p:spPr>
          <a:xfrm>
            <a:off x="5458968" y="2048256"/>
            <a:ext cx="5879592" cy="2926080"/>
          </a:xfrm>
          <a:prstGeom prst="roundRect">
            <a:avLst>
              <a:gd fmla="val 10000" name="adj"/>
            </a:avLst>
          </a:prstGeom>
          <a:solidFill>
            <a:srgbClr val="FFFFFF"/>
          </a:solidFill>
          <a:ln cap="flat" cmpd="sng" w="1905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7"/>
          <p:cNvSpPr txBox="1"/>
          <p:nvPr/>
        </p:nvSpPr>
        <p:spPr>
          <a:xfrm>
            <a:off x="5669280" y="2203704"/>
            <a:ext cx="5321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OUTPUT  /  DMr (excerpt)  ·  NO LLM</a:t>
            </a:r>
            <a:endParaRPr sz="1500"/>
          </a:p>
        </p:txBody>
      </p:sp>
      <p:sp>
        <p:nvSpPr>
          <p:cNvPr id="238" name="Google Shape;238;p7"/>
          <p:cNvSpPr/>
          <p:nvPr/>
        </p:nvSpPr>
        <p:spPr>
          <a:xfrm>
            <a:off x="822960" y="5166360"/>
            <a:ext cx="10515600" cy="3657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7"/>
          <p:cNvSpPr txBox="1"/>
          <p:nvPr/>
        </p:nvSpPr>
        <p:spPr>
          <a:xfrm>
            <a:off x="1024128" y="5248656"/>
            <a:ext cx="1013155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GUARANTEE   Every cleaned-schema column is represented in the deterministic seed.</a:t>
            </a:r>
            <a:r>
              <a:rPr b="0" lang="en-US" sz="1550">
                <a:solidFill>
                  <a:srgbClr val="1F2328"/>
                </a:solidFill>
                <a:latin typeface="Calibri"/>
                <a:ea typeface="Calibri"/>
                <a:cs typeface="Calibri"/>
                <a:sym typeface="Calibri"/>
              </a:rPr>
              <a:t/>
            </a:r>
            <a:endParaRPr/>
          </a:p>
        </p:txBody>
      </p:sp>
      <p:sp>
        <p:nvSpPr>
          <p:cNvPr id="240" name="Google Shape;240;p7"/>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7"/>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42" name="Google Shape;242;p7"/>
          <p:cNvSpPr/>
          <p:nvPr/>
        </p:nvSpPr>
        <p:spPr>
          <a:xfrm>
            <a:off x="2642615"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7"/>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2  SEED</a:t>
            </a:r>
            <a:endParaRPr/>
          </a:p>
        </p:txBody>
      </p:sp>
      <p:sp>
        <p:nvSpPr>
          <p:cNvPr id="244" name="Google Shape;244;p7"/>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7"/>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246" name="Google Shape;246;p7"/>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7"/>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48" name="Google Shape;248;p7"/>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7"/>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50" name="Google Shape;250;p7"/>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7"/>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252" name="Code 252" descr="OWL Manchester Syntax excerpt"/>
          <p:cNvSpPr txBox="1"/>
          <p:nvPr/>
        </p:nvSpPr>
        <p:spPr>
          <a:xfrm>
            <a:off x="5733288" y="2697480"/>
            <a:ext cx="5266944" cy="1956816"/>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600"/>
              </a:lnSpc>
              <a:spcBef>
                <a:spcPts val="0"/>
              </a:spcBef>
              <a:tabLst>
                <a:tab pos="3246120" algn="l"/>
              </a:tabLst>
            </a:pPr>
            <a:r>
              <a:rPr lang="en-US" sz="1400" b="1" i="0" dirty="0">
                <a:solidFill>
                  <a:srgbClr val="0B6E4F"/>
                </a:solidFill>
                <a:latin typeface="Consolas"/>
                <a:cs typeface="Consolas"/>
              </a:rPr>
              <a:t xml:space="preserve">Class:</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Admission</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SubClassOf:</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some</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PatientData</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each has a patient</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if present, an integer</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ObjectProperty: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200" b="0" i="1" dirty="0">
                <a:solidFill>
                  <a:srgbClr val="5B6770"/>
                </a:solidFill>
                <a:latin typeface="Calibri"/>
                <a:cs typeface="Calibri"/>
              </a:rPr>
              <a:t xml:space="preserve">	← the FK becomes a link</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endParaRPr lang="en-US" sz="1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3 / RETRIEVE</a:t>
            </a:r>
            <a:endParaRPr/>
          </a:p>
        </p:txBody>
      </p:sp>
      <p:sp>
        <p:nvSpPr>
          <p:cNvPr id="258" name="Google Shape;258;p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draft is structurally faithful. But what does it mean?</a:t>
            </a:r>
            <a:endParaRPr/>
          </a:p>
        </p:txBody>
      </p:sp>
      <p:sp>
        <p:nvSpPr>
          <p:cNvPr id="259" name="Google Shape;259;p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RIGOR gathers a small context package from three complementary sources.</a:t>
            </a:r>
            <a:endParaRPr/>
          </a:p>
        </p:txBody>
      </p:sp>
      <p:sp>
        <p:nvSpPr>
          <p:cNvPr id="260" name="Google Shape;260;p8"/>
          <p:cNvSpPr/>
          <p:nvPr/>
        </p:nvSpPr>
        <p:spPr>
          <a:xfrm>
            <a:off x="822960"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1" name="Google Shape;261;p8"/>
          <p:cNvSpPr/>
          <p:nvPr/>
        </p:nvSpPr>
        <p:spPr>
          <a:xfrm>
            <a:off x="822960"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8"/>
          <p:cNvSpPr txBox="1"/>
          <p:nvPr/>
        </p:nvSpPr>
        <p:spPr>
          <a:xfrm>
            <a:off x="1005840"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1  DOCUMENTATION</a:t>
            </a:r>
            <a:endParaRPr/>
          </a:p>
        </p:txBody>
      </p:sp>
      <p:sp>
        <p:nvSpPr>
          <p:cNvPr id="263" name="Google Shape;263;p8"/>
          <p:cNvSpPr txBox="1"/>
          <p:nvPr/>
        </p:nvSpPr>
        <p:spPr>
          <a:xfrm>
            <a:off x="1005840"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do column names mean?</a:t>
            </a:r>
            <a:endParaRPr/>
          </a:p>
        </p:txBody>
      </p:sp>
      <p:sp>
        <p:nvSpPr>
          <p:cNvPr id="264" name="Google Shape;264;p8"/>
          <p:cNvSpPr/>
          <p:nvPr/>
        </p:nvSpPr>
        <p:spPr>
          <a:xfrm>
            <a:off x="996696"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8"/>
          <p:cNvSpPr txBox="1"/>
          <p:nvPr/>
        </p:nvSpPr>
        <p:spPr>
          <a:xfrm>
            <a:off x="1124712" y="3511296"/>
            <a:ext cx="2706624" cy="54864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BM_DEP → Bone Marrow</a:t>
            </a:r>
            <a:endParaRPr/>
          </a:p>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Depression</a:t>
            </a:r>
            <a:endParaRPr/>
          </a:p>
        </p:txBody>
      </p:sp>
      <p:sp>
        <p:nvSpPr>
          <p:cNvPr id="266" name="Google Shape;266;p8"/>
          <p:cNvSpPr txBox="1"/>
          <p:nvPr/>
        </p:nvSpPr>
        <p:spPr>
          <a:xfrm>
            <a:off x="1005840" y="4261104"/>
            <a:ext cx="2944368"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550">
                <a:solidFill>
                  <a:srgbClr val="5B6770"/>
                </a:solidFill>
                <a:latin typeface="Calibri"/>
                <a:ea typeface="Calibri"/>
                <a:cs typeface="Calibri"/>
                <a:sym typeface="Calibri"/>
              </a:rPr>
              <a:t>Defines cryptic names</a:t>
            </a:r>
            <a:endParaRPr/>
          </a:p>
        </p:txBody>
      </p:sp>
      <p:sp>
        <p:nvSpPr>
          <p:cNvPr id="267" name="Google Shape;267;p8"/>
          <p:cNvSpPr/>
          <p:nvPr/>
        </p:nvSpPr>
        <p:spPr>
          <a:xfrm>
            <a:off x="4416552"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8"/>
          <p:cNvSpPr/>
          <p:nvPr/>
        </p:nvSpPr>
        <p:spPr>
          <a:xfrm>
            <a:off x="4416552" y="2185416"/>
            <a:ext cx="3319272" cy="64008"/>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9" name="Google Shape;269;p8"/>
          <p:cNvSpPr txBox="1"/>
          <p:nvPr/>
        </p:nvSpPr>
        <p:spPr>
          <a:xfrm>
            <a:off x="4599432"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2  EXTERNAL ONTOLOGIES</a:t>
            </a:r>
            <a:endParaRPr/>
          </a:p>
        </p:txBody>
      </p:sp>
      <p:sp>
        <p:nvSpPr>
          <p:cNvPr id="270" name="Google Shape;270;p8"/>
          <p:cNvSpPr txBox="1"/>
          <p:nvPr/>
        </p:nvSpPr>
        <p:spPr>
          <a:xfrm>
            <a:off x="4599432"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Which domain concepts exist?</a:t>
            </a:r>
            <a:endParaRPr/>
          </a:p>
        </p:txBody>
      </p:sp>
      <p:sp>
        <p:nvSpPr>
          <p:cNvPr id="271" name="Google Shape;271;p8"/>
          <p:cNvSpPr/>
          <p:nvPr/>
        </p:nvSpPr>
        <p:spPr>
          <a:xfrm>
            <a:off x="4590288"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2" name="Google Shape;272;p8"/>
          <p:cNvSpPr txBox="1"/>
          <p:nvPr/>
        </p:nvSpPr>
        <p:spPr>
          <a:xfrm>
            <a:off x="4718304"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ICD-10 · Disease Ontology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Cell and nutrition ontologies</a:t>
            </a:r>
            <a:endParaRPr/>
          </a:p>
        </p:txBody>
      </p:sp>
      <p:sp>
        <p:nvSpPr>
          <p:cNvPr id="273" name="Google Shape;273;p8"/>
          <p:cNvSpPr txBox="1"/>
          <p:nvPr/>
        </p:nvSpPr>
        <p:spPr>
          <a:xfrm>
            <a:off x="4599432"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Suggests established concepts</a:t>
            </a:r>
            <a:endParaRPr/>
          </a:p>
        </p:txBody>
      </p:sp>
      <p:sp>
        <p:nvSpPr>
          <p:cNvPr id="274" name="Google Shape;274;p8"/>
          <p:cNvSpPr/>
          <p:nvPr/>
        </p:nvSpPr>
        <p:spPr>
          <a:xfrm>
            <a:off x="8010144"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5" name="Google Shape;275;p8"/>
          <p:cNvSpPr/>
          <p:nvPr/>
        </p:nvSpPr>
        <p:spPr>
          <a:xfrm>
            <a:off x="8010144"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6" name="Google Shape;276;p8"/>
          <p:cNvSpPr txBox="1"/>
          <p:nvPr/>
        </p:nvSpPr>
        <p:spPr>
          <a:xfrm>
            <a:off x="8193023"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3  GROWING CORE</a:t>
            </a:r>
            <a:endParaRPr/>
          </a:p>
        </p:txBody>
      </p:sp>
      <p:sp>
        <p:nvSpPr>
          <p:cNvPr id="277" name="Google Shape;277;p8"/>
          <p:cNvSpPr txBox="1"/>
          <p:nvPr/>
        </p:nvSpPr>
        <p:spPr>
          <a:xfrm>
            <a:off x="8193023"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have we already defined?</a:t>
            </a:r>
            <a:endParaRPr/>
          </a:p>
        </p:txBody>
      </p:sp>
      <p:sp>
        <p:nvSpPr>
          <p:cNvPr id="278" name="Google Shape;278;p8"/>
          <p:cNvSpPr/>
          <p:nvPr/>
        </p:nvSpPr>
        <p:spPr>
          <a:xfrm>
            <a:off x="8183879"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8"/>
          <p:cNvSpPr txBox="1"/>
          <p:nvPr/>
        </p:nvSpPr>
        <p:spPr>
          <a:xfrm>
            <a:off x="8311896"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PatientData + previously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accepted ontology terms</a:t>
            </a:r>
            <a:endParaRPr/>
          </a:p>
        </p:txBody>
      </p:sp>
      <p:sp>
        <p:nvSpPr>
          <p:cNvPr id="280" name="Google Shape;280;p8"/>
          <p:cNvSpPr txBox="1"/>
          <p:nvPr/>
        </p:nvSpPr>
        <p:spPr>
          <a:xfrm>
            <a:off x="8193023"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Reuses established concepts</a:t>
            </a:r>
            <a:endParaRPr/>
          </a:p>
        </p:txBody>
      </p:sp>
      <p:sp>
        <p:nvSpPr>
          <p:cNvPr id="281" name="Google Shape;281;p8"/>
          <p:cNvSpPr/>
          <p:nvPr/>
        </p:nvSpPr>
        <p:spPr>
          <a:xfrm>
            <a:off x="832104" y="4965192"/>
            <a:ext cx="10469880" cy="521207"/>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8"/>
          <p:cNvSpPr txBox="1"/>
          <p:nvPr/>
        </p:nvSpPr>
        <p:spPr>
          <a:xfrm>
            <a:off x="1033271" y="5074920"/>
            <a:ext cx="1007668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ONE RETRIEVAL QUERY PER TABLE   </a:t>
            </a:r>
            <a:r>
              <a:rPr b="0" lang="en-US" sz="1550">
                <a:solidFill>
                  <a:srgbClr val="1F2328"/>
                </a:solidFill>
                <a:latin typeface="Calibri"/>
                <a:ea typeface="Calibri"/>
                <a:cs typeface="Calibri"/>
                <a:sym typeface="Calibri"/>
              </a:rPr>
              <a:t>table + columns + FK targets  →  top-3 per source</a:t>
            </a:r>
            <a:endParaRPr/>
          </a:p>
        </p:txBody>
      </p:sp>
      <p:sp>
        <p:nvSpPr>
          <p:cNvPr id="283" name="Google Shape;283;p8"/>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p8"/>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85" name="Google Shape;285;p8"/>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8"/>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287" name="Google Shape;287;p8"/>
          <p:cNvSpPr/>
          <p:nvPr/>
        </p:nvSpPr>
        <p:spPr>
          <a:xfrm>
            <a:off x="4480559"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8" name="Google Shape;288;p8"/>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3  RETRIEVE</a:t>
            </a:r>
            <a:endParaRPr/>
          </a:p>
        </p:txBody>
      </p:sp>
      <p:sp>
        <p:nvSpPr>
          <p:cNvPr id="289" name="Google Shape;289;p8"/>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0" name="Google Shape;290;p8"/>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91" name="Google Shape;291;p8"/>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p8"/>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93" name="Google Shape;293;p8"/>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8"/>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9"/>
          <p:cNvSpPr txBox="1"/>
          <p:nvPr/>
        </p:nvSpPr>
        <p:spPr>
          <a:xfrm>
            <a:off x="804672" y="448056"/>
            <a:ext cx="10716768"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4 / GENERATE</a:t>
            </a:r>
            <a:endParaRPr/>
          </a:p>
        </p:txBody>
      </p:sp>
      <p:sp>
        <p:nvSpPr>
          <p:cNvPr id="301" name="Google Shape;301;p9"/>
          <p:cNvSpPr txBox="1"/>
          <p:nvPr/>
        </p:nvSpPr>
        <p:spPr>
          <a:xfrm>
            <a:off x="804672" y="859536"/>
            <a:ext cx="10716768" cy="694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LLM enriches a schema-grounded draft.</a:t>
            </a:r>
            <a:endParaRPr/>
          </a:p>
        </p:txBody>
      </p:sp>
      <p:sp>
        <p:nvSpPr>
          <p:cNvPr id="302" name="Google Shape;302;p9"/>
          <p:cNvSpPr txBox="1"/>
          <p:nvPr/>
        </p:nvSpPr>
        <p:spPr>
          <a:xfrm>
            <a:off x="804672" y="1609344"/>
            <a:ext cx="106070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lang="en-US" sz="1600" b="0" i="0" dirty="0">
                <a:solidFill>
                  <a:srgbClr val="3A434C"/>
                </a:solidFill>
                <a:latin typeface="Calibri"/>
                <a:cs typeface="Calibri"/>
              </a:rPr>
              <a:t xml:space="preserve">We prompt the </a:t>
            </a:r>
            <a:r>
              <a:rPr lang="en-US" sz="1600" b="1" i="1" dirty="0">
                <a:solidFill>
                  <a:srgbClr val="3A434C"/>
                </a:solidFill>
                <a:latin typeface="Calibri"/>
                <a:cs typeface="Calibri"/>
              </a:rPr>
              <a:t xml:space="preserve">Gen-LLM</a:t>
            </a:r>
            <a:r>
              <a:rPr lang="en-US" sz="1600" b="0" i="0" dirty="0">
                <a:solidFill>
                  <a:srgbClr val="3A434C"/>
                </a:solidFill>
                <a:latin typeface="Calibri"/>
                <a:cs typeface="Calibri"/>
              </a:rPr>
              <a:t xml:space="preserve"> with the </a:t>
            </a:r>
            <a:r>
              <a:rPr lang="en-US" sz="1600" b="1" i="0" dirty="0">
                <a:solidFill>
                  <a:srgbClr val="3A434C"/>
                </a:solidFill>
                <a:latin typeface="Calibri"/>
                <a:cs typeface="Calibri"/>
              </a:rPr>
              <a:t xml:space="preserve">direct mapping</a:t>
            </a:r>
            <a:r>
              <a:rPr lang="en-US" sz="1600" b="0" i="0" dirty="0">
                <a:solidFill>
                  <a:srgbClr val="3A434C"/>
                </a:solidFill>
                <a:latin typeface="Calibri"/>
                <a:cs typeface="Calibri"/>
              </a:rPr>
              <a:t xml:space="preserve">, the </a:t>
            </a:r>
            <a:r>
              <a:rPr lang="en-US" sz="1600" b="1" i="0" dirty="0">
                <a:solidFill>
                  <a:srgbClr val="3A434C"/>
                </a:solidFill>
                <a:latin typeface="Calibri"/>
                <a:cs typeface="Calibri"/>
              </a:rPr>
              <a:t xml:space="preserve">retrieved context</a:t>
            </a:r>
            <a:r>
              <a:rPr lang="en-US" sz="1600" b="0" i="0" dirty="0">
                <a:solidFill>
                  <a:srgbClr val="3A434C"/>
                </a:solidFill>
                <a:latin typeface="Calibri"/>
                <a:cs typeface="Calibri"/>
              </a:rPr>
              <a:t xml:space="preserve">, and </a:t>
            </a:r>
            <a:r>
              <a:rPr lang="en-US" sz="1600" b="1" i="0" dirty="0">
                <a:solidFill>
                  <a:srgbClr val="3A434C"/>
                </a:solidFill>
                <a:latin typeface="Calibri"/>
                <a:cs typeface="Calibri"/>
              </a:rPr>
              <a:t xml:space="preserve">semantic enrichment instructions</a:t>
            </a:r>
            <a:r>
              <a:rPr lang="en-US" sz="1600" b="0" i="0" dirty="0">
                <a:solidFill>
                  <a:srgbClr val="3A434C"/>
                </a:solidFill>
                <a:latin typeface="Calibri"/>
                <a:cs typeface="Calibri"/>
              </a:rPr>
              <a:t xml:space="preserve">.</a:t>
            </a:r>
            <a:endParaRPr/>
          </a:p>
        </p:txBody>
      </p:sp>
      <p:sp>
        <p:nvSpPr>
          <p:cNvPr id="322" name="Google Shape;322;p9"/>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3" name="Google Shape;323;p9"/>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24" name="Google Shape;324;p9"/>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9"/>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26" name="Google Shape;326;p9"/>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9"/>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28" name="Google Shape;328;p9"/>
          <p:cNvSpPr/>
          <p:nvPr/>
        </p:nvSpPr>
        <p:spPr>
          <a:xfrm>
            <a:off x="6318503"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9" name="Google Shape;329;p9"/>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4  GENERATE</a:t>
            </a:r>
            <a:endParaRPr/>
          </a:p>
        </p:txBody>
      </p:sp>
      <p:sp>
        <p:nvSpPr>
          <p:cNvPr id="330" name="Google Shape;330;p9"/>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1" name="Google Shape;331;p9"/>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332" name="Google Shape;332;p9"/>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9"/>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334" name="Rounded Rectangle 333"/>
          <p:cNvSpPr/>
          <p:nvPr/>
        </p:nvSpPr>
        <p:spPr>
          <a:xfrm>
            <a:off x="795528" y="2148840"/>
            <a:ext cx="2971800" cy="3465576"/>
          </a:xfrm>
          <a:prstGeom prst="roundRect">
            <a:avLst/>
          </a:prstGeom>
          <a:solidFill>
            <a:srgbClr val="FFFFFF"/>
          </a:solidFill>
          <a:ln w="1397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TextBox 334"/>
          <p:cNvSpPr txBox="1"/>
          <p:nvPr/>
        </p:nvSpPr>
        <p:spPr>
          <a:xfrm>
            <a:off x="1005840" y="2313432"/>
            <a:ext cx="2468880" cy="310896"/>
          </a:xfrm>
          <a:prstGeom prst="rect">
            <a:avLst/>
          </a:prstGeom>
          <a:noFill/>
        </p:spPr>
        <p:txBody>
          <a:bodyPr wrap="square" lIns="0" rIns="0" tIns="0" bIns="0" anchor="ctr">
            <a:spAutoFit/>
          </a:bodyPr>
          <a:lstStyle/>
          <a:p>
            <a:r>
              <a:rPr sz="1500" b="1">
                <a:solidFill>
                  <a:srgbClr val="3A434C"/>
                </a:solidFill>
                <a:latin typeface="Consolas"/>
              </a:rPr>
              <a:t>BEFORE</a:t>
            </a:r>
          </a:p>
        </p:txBody>
      </p:sp>
      <p:sp>
        <p:nvSpPr>
          <p:cNvPr id="340" name="TextBox 339"/>
          <p:cNvSpPr txBox="1"/>
          <p:nvPr/>
        </p:nvSpPr>
        <p:spPr>
          <a:xfrm>
            <a:off x="1005840" y="4315968"/>
            <a:ext cx="2560320" cy="393192"/>
          </a:xfrm>
          <a:prstGeom prst="rect">
            <a:avLst/>
          </a:prstGeom>
          <a:noFill/>
        </p:spPr>
        <p:txBody>
          <a:bodyPr wrap="square" lIns="0" rIns="0" tIns="0" bIns="0" anchor="ctr">
            <a:spAutoFit/>
          </a:bodyPr>
          <a:lstStyle/>
          <a:p>
            <a:r>
              <a:rPr sz="1300" b="0">
                <a:solidFill>
                  <a:srgbClr val="3A434C"/>
                </a:solidFill>
                <a:latin typeface="Calibri"/>
              </a:rPr>
              <a:t>Structure only.
Meaning remains implicit.</a:t>
            </a:r>
          </a:p>
        </p:txBody>
      </p:sp>
      <p:sp>
        <p:nvSpPr>
          <p:cNvPr id="341" name="Chevron 340"/>
          <p:cNvSpPr/>
          <p:nvPr/>
        </p:nvSpPr>
        <p:spPr>
          <a:xfrm>
            <a:off x="3968496" y="3447288"/>
            <a:ext cx="603504" cy="429768"/>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TextBox 341"/>
          <p:cNvSpPr txBox="1"/>
          <p:nvPr/>
        </p:nvSpPr>
        <p:spPr>
          <a:xfrm>
            <a:off x="3858768" y="3913632"/>
            <a:ext cx="832104" cy="320040"/>
          </a:xfrm>
          <a:prstGeom prst="rect">
            <a:avLst/>
          </a:prstGeom>
          <a:noFill/>
        </p:spPr>
        <p:txBody>
          <a:bodyPr wrap="square" lIns="0" rIns="0" tIns="0" bIns="0" anchor="ctr">
            <a:spAutoFit/>
          </a:bodyPr>
          <a:lstStyle/>
          <a:p>
            <a:pPr algn="ctr"/>
            <a:r>
              <a:rPr sz="1200" b="1">
                <a:solidFill>
                  <a:srgbClr val="0B6E4F"/>
                </a:solidFill>
                <a:latin typeface="Consolas"/>
              </a:rPr>
              <a:t>Gen-LLM</a:t>
            </a:r>
          </a:p>
        </p:txBody>
      </p:sp>
      <p:sp>
        <p:nvSpPr>
          <p:cNvPr id="343" name="Rounded Rectangle 342"/>
          <p:cNvSpPr/>
          <p:nvPr/>
        </p:nvSpPr>
        <p:spPr>
          <a:xfrm>
            <a:off x="4736592" y="2148840"/>
            <a:ext cx="6565392" cy="3465576"/>
          </a:xfrm>
          <a:prstGeom prst="roundRect">
            <a:avLst/>
          </a:prstGeom>
          <a:solidFill>
            <a:srgbClr val="F3F5F4"/>
          </a:solidFill>
          <a:ln w="1397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TextBox 363"/>
          <p:cNvSpPr txBox="1"/>
          <p:nvPr/>
        </p:nvSpPr>
        <p:spPr>
          <a:xfrm>
            <a:off x="4946904" y="2313432"/>
            <a:ext cx="6016752" cy="274320"/>
          </a:xfrm>
          <a:prstGeom prst="rect">
            <a:avLst/>
          </a:prstGeom>
          <a:noFill/>
        </p:spPr>
        <p:txBody>
          <a:bodyPr wrap="square" lIns="0" rIns="0" tIns="0" bIns="0" anchor="ctr">
            <a:spAutoFit/>
          </a:bodyPr>
          <a:lstStyle/>
          <a:p>
            <a:pPr algn="l">
              <a:spcBef>
                <a:spcPts val="0"/>
              </a:spcBef>
              <a:spcAft>
                <a:spcPts val="0"/>
              </a:spcAft>
            </a:pPr>
            <a:r>
              <a:rPr sz="1450" b="1">
                <a:solidFill>
                  <a:srgbClr val="2F6B78"/>
                </a:solidFill>
                <a:latin typeface="Consolas"/>
              </a:rPr>
              <a:t>AFTER  /  ENRICHED ΔOᵣ</a:t>
            </a:r>
          </a:p>
        </p:txBody>
      </p:sp>
      <p:sp>
        <p:nvSpPr>
          <p:cNvPr id="385" name="Code 385" descr="OWL Manchester Syntax excerpt"/>
          <p:cNvSpPr txBox="1"/>
          <p:nvPr/>
        </p:nvSpPr>
        <p:spPr>
          <a:xfrm>
            <a:off x="950976" y="3017520"/>
            <a:ext cx="2670048" cy="1097280"/>
          </a:xfrm>
          <a:prstGeom prst="roundRect">
            <a:avLst>
              <a:gd name="adj" fmla="val 5000"/>
            </a:avLst>
          </a:prstGeom>
          <a:solidFill>
            <a:srgbClr val="F6F8FA"/>
          </a:solidFill>
          <a:ln w="9525">
            <a:solidFill>
              <a:srgbClr val="D0D7DE"/>
            </a:solidFill>
          </a:ln>
        </p:spPr>
        <p:txBody>
          <a:bodyPr wrap="none" lIns="73152" tIns="73152" rIns="73152" bIns="54864" anchor="t">
            <a:noAutofit/>
          </a:bodyPr>
          <a:lstStyle/>
          <a:p>
            <a:pPr>
              <a:lnSpc>
                <a:spcPts val="1350"/>
              </a:lnSpc>
              <a:spcBef>
                <a:spcPts val="0"/>
              </a:spcBef>
            </a:pPr>
            <a:r>
              <a:rPr lang="en-US" sz="1100" b="1" i="0" dirty="0">
                <a:solidFill>
                  <a:srgbClr val="0B6E4F"/>
                </a:solidFill>
                <a:latin typeface="Consolas"/>
                <a:cs typeface="Consolas"/>
              </a:rPr>
              <a:t xml:space="preserve">Class: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SubClassOf:</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patient_id</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some</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PatientData</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BM_DEP</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ecog_stage</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endParaRPr lang="en-US" sz="1100"/>
          </a:p>
        </p:txBody>
      </p:sp>
      <p:sp>
        <p:nvSpPr>
          <p:cNvPr id="386" name="Code panel"/>
          <p:cNvSpPr/>
          <p:nvPr/>
        </p:nvSpPr>
        <p:spPr>
          <a:xfrm>
            <a:off x="4937760" y="2670048"/>
            <a:ext cx="6172200" cy="2834640"/>
          </a:xfrm>
          <a:prstGeom prst="roundRect">
            <a:avLst>
              <a:gd name="adj" fmla="val 9000"/>
            </a:avLst>
          </a:prstGeom>
          <a:solidFill>
            <a:srgbClr val="F6F8FA"/>
          </a:solidFill>
          <a:ln w="9525">
            <a:solidFill>
              <a:srgbClr val="D0D7DE"/>
            </a:solidFill>
          </a:ln>
        </p:spPr>
        <p:txBody>
          <a:bodyPr wrap="square" lIns="0" tIns="0" rIns="0" bIns="0" anchor="ctr">
            <a:noAutofit/>
          </a:bodyPr>
          <a:lstStyle/>
          <a:p>
            <a:endParaRPr lang="en-US"/>
          </a:p>
        </p:txBody>
      </p:sp>
      <p:sp>
        <p:nvSpPr>
          <p:cNvPr id="387" name="Code line 387"/>
          <p:cNvSpPr txBox="1"/>
          <p:nvPr/>
        </p:nvSpPr>
        <p:spPr>
          <a:xfrm>
            <a:off x="4937760" y="2779776"/>
            <a:ext cx="4983480" cy="187100"/>
          </a:xfrm>
          <a:prstGeom prst="rect">
            <a:avLst/>
          </a:prstGeom>
          <a:noFill/>
        </p:spPr>
        <p:txBody>
          <a:bodyPr wrap="none" lIns="146304" tIns="0" rIns="0" bIns="0" anchor="ctr">
            <a:noAutofit/>
          </a:bodyPr>
          <a:lstStyle/>
          <a:p>
            <a:pPr>
              <a:tabLst>
                <a:tab pos="4224528" algn="l"/>
              </a:tabLst>
            </a:pPr>
            <a:r>
              <a:rPr lang="en-US" sz="1150" b="1" i="0" dirty="0">
                <a:solidFill>
                  <a:srgbClr val="0B6E4F"/>
                </a:solidFill>
                <a:latin typeface="Consolas"/>
                <a:cs typeface="Consolas"/>
              </a:rPr>
              <a:t xml:space="preserve">Class:</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Admission</a:t>
            </a:r>
            <a:endParaRPr lang="en-US" sz="1150"/>
          </a:p>
        </p:txBody>
      </p:sp>
      <p:sp>
        <p:nvSpPr>
          <p:cNvPr id="388" name="Code line 388"/>
          <p:cNvSpPr txBox="1"/>
          <p:nvPr/>
        </p:nvSpPr>
        <p:spPr>
          <a:xfrm>
            <a:off x="4937760" y="2966876"/>
            <a:ext cx="4983480" cy="18710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1" i="0" dirty="0">
                <a:solidFill>
                  <a:srgbClr val="0B6E4F"/>
                </a:solidFill>
                <a:latin typeface="Consolas"/>
                <a:cs typeface="Consolas"/>
              </a:rPr>
              <a:t xml:space="preserve">SubClassOf:</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hasPatientData</a:t>
            </a:r>
            <a:r>
              <a:rPr lang="en-US" sz="1150" b="0" i="0" dirty="0">
                <a:solidFill>
                  <a:srgbClr val="1F2328"/>
                </a:solidFill>
                <a:latin typeface="Consolas"/>
                <a:cs typeface="Consolas"/>
              </a:rPr>
              <a:t xml:space="preserve"> </a:t>
            </a:r>
            <a:r>
              <a:rPr lang="en-US" sz="1150" b="1" i="0" dirty="0">
                <a:solidFill>
                  <a:srgbClr val="0B6E4F"/>
                </a:solidFill>
                <a:latin typeface="Consolas"/>
                <a:cs typeface="Consolas"/>
              </a:rPr>
              <a:t xml:space="preserve">some</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PatientData</a:t>
            </a:r>
            <a:endParaRPr lang="en-US" sz="1150"/>
          </a:p>
        </p:txBody>
      </p:sp>
      <p:sp>
        <p:nvSpPr>
          <p:cNvPr id="389" name="Evidence tag"/>
          <p:cNvSpPr/>
          <p:nvPr/>
        </p:nvSpPr>
        <p:spPr>
          <a:xfrm>
            <a:off x="10040112" y="2973558"/>
            <a:ext cx="987552" cy="173736"/>
          </a:xfrm>
          <a:prstGeom prst="roundRect">
            <a:avLst>
              <a:gd name="adj" fmla="val 9000"/>
            </a:avLst>
          </a:prstGeom>
          <a:solidFill>
            <a:srgbClr val="FFFFFF"/>
          </a:solidFill>
          <a:ln w="9525">
            <a:solidFill>
              <a:srgbClr val="5B6770"/>
            </a:solidFill>
          </a:ln>
        </p:spPr>
        <p:txBody>
          <a:bodyPr wrap="square" lIns="0" tIns="0" rIns="0" bIns="0" anchor="ctr">
            <a:noAutofit/>
          </a:bodyPr>
          <a:lstStyle/>
          <a:p>
            <a:pPr algn="ctr">
              <a:spcAft>
                <a:spcPts val="0"/>
              </a:spcAft>
            </a:pPr>
            <a:r>
              <a:rPr lang="en-US" sz="850" b="1" i="0" dirty="0">
                <a:solidFill>
                  <a:srgbClr val="5B6770"/>
                </a:solidFill>
                <a:latin typeface="Consolas"/>
                <a:cs typeface="Consolas"/>
              </a:rPr>
              <a:t xml:space="preserve">SCHEMA</a:t>
            </a:r>
          </a:p>
        </p:txBody>
      </p:sp>
      <p:sp>
        <p:nvSpPr>
          <p:cNvPr id="390" name="Code line 390"/>
          <p:cNvSpPr txBox="1"/>
          <p:nvPr/>
        </p:nvSpPr>
        <p:spPr>
          <a:xfrm>
            <a:off x="4937760" y="3153976"/>
            <a:ext cx="4983480" cy="18710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1" i="0" dirty="0">
                <a:solidFill>
                  <a:srgbClr val="0B6E4F"/>
                </a:solidFill>
                <a:latin typeface="Consolas"/>
                <a:cs typeface="Consolas"/>
              </a:rPr>
              <a:t xml:space="preserve">DisjointWith:</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PatientData</a:t>
            </a:r>
            <a:endParaRPr lang="en-US" sz="1150"/>
          </a:p>
        </p:txBody>
      </p:sp>
      <p:sp>
        <p:nvSpPr>
          <p:cNvPr id="391" name="Evidence tag"/>
          <p:cNvSpPr/>
          <p:nvPr/>
        </p:nvSpPr>
        <p:spPr>
          <a:xfrm>
            <a:off x="10040112" y="3160658"/>
            <a:ext cx="987552" cy="173736"/>
          </a:xfrm>
          <a:prstGeom prst="roundRect">
            <a:avLst>
              <a:gd name="adj" fmla="val 9000"/>
            </a:avLst>
          </a:prstGeom>
          <a:solidFill>
            <a:srgbClr val="FFFFFF"/>
          </a:solidFill>
          <a:ln w="9525">
            <a:solidFill>
              <a:srgbClr val="6F42C1"/>
            </a:solidFill>
          </a:ln>
        </p:spPr>
        <p:txBody>
          <a:bodyPr wrap="square" lIns="0" tIns="0" rIns="0" bIns="0" anchor="ctr">
            <a:noAutofit/>
          </a:bodyPr>
          <a:lstStyle/>
          <a:p>
            <a:pPr algn="ctr">
              <a:spcAft>
                <a:spcPts val="0"/>
              </a:spcAft>
            </a:pPr>
            <a:r>
              <a:rPr lang="en-US" sz="850" b="1" i="0" dirty="0">
                <a:solidFill>
                  <a:srgbClr val="6F42C1"/>
                </a:solidFill>
                <a:latin typeface="Consolas"/>
                <a:cs typeface="Consolas"/>
              </a:rPr>
              <a:t xml:space="preserve">LLM</a:t>
            </a:r>
          </a:p>
        </p:txBody>
      </p:sp>
      <p:sp>
        <p:nvSpPr>
          <p:cNvPr id="392" name="Code line 392"/>
          <p:cNvSpPr txBox="1"/>
          <p:nvPr/>
        </p:nvSpPr>
        <p:spPr>
          <a:xfrm>
            <a:off x="4937760" y="3432516"/>
            <a:ext cx="4983480" cy="187100"/>
          </a:xfrm>
          <a:prstGeom prst="rect">
            <a:avLst/>
          </a:prstGeom>
          <a:noFill/>
        </p:spPr>
        <p:txBody>
          <a:bodyPr wrap="none" lIns="146304" tIns="0" rIns="0" bIns="0" anchor="ctr">
            <a:noAutofit/>
          </a:bodyPr>
          <a:lstStyle/>
          <a:p>
            <a:pPr>
              <a:tabLst>
                <a:tab pos="4224528" algn="l"/>
              </a:tabLst>
            </a:pPr>
            <a:r>
              <a:rPr lang="en-US" sz="1150" b="1" i="0" dirty="0">
                <a:solidFill>
                  <a:srgbClr val="0B6E4F"/>
                </a:solidFill>
                <a:latin typeface="Consolas"/>
                <a:cs typeface="Consolas"/>
              </a:rPr>
              <a:t xml:space="preserve">DataProperty:</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BM_DEP</a:t>
            </a:r>
            <a:endParaRPr lang="en-US" sz="1150"/>
          </a:p>
        </p:txBody>
      </p:sp>
      <p:sp>
        <p:nvSpPr>
          <p:cNvPr id="393" name="Code line 393"/>
          <p:cNvSpPr txBox="1"/>
          <p:nvPr/>
        </p:nvSpPr>
        <p:spPr>
          <a:xfrm>
            <a:off x="4937760" y="3619617"/>
            <a:ext cx="4983480" cy="18710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1" i="0" dirty="0">
                <a:solidFill>
                  <a:srgbClr val="0B6E4F"/>
                </a:solidFill>
                <a:latin typeface="Consolas"/>
                <a:cs typeface="Consolas"/>
              </a:rPr>
              <a:t xml:space="preserve">Annotations:</a:t>
            </a:r>
            <a:endParaRPr lang="en-US" sz="1150"/>
          </a:p>
        </p:txBody>
      </p:sp>
      <p:sp>
        <p:nvSpPr>
          <p:cNvPr id="394" name="Code line 394"/>
          <p:cNvSpPr txBox="1"/>
          <p:nvPr/>
        </p:nvSpPr>
        <p:spPr>
          <a:xfrm>
            <a:off x="4937760" y="3806717"/>
            <a:ext cx="4983480" cy="18710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rdfs:label</a:t>
            </a:r>
            <a:r>
              <a:rPr lang="en-US" sz="1150" b="0" i="0" dirty="0">
                <a:solidFill>
                  <a:srgbClr val="1F2328"/>
                </a:solidFill>
                <a:latin typeface="Consolas"/>
                <a:cs typeface="Consolas"/>
              </a:rPr>
              <a:t xml:space="preserve"> </a:t>
            </a:r>
            <a:r>
              <a:rPr lang="en-US" sz="1150" b="0" i="0" dirty="0">
                <a:solidFill>
                  <a:srgbClr val="A3401E"/>
                </a:solidFill>
                <a:latin typeface="Consolas"/>
                <a:cs typeface="Consolas"/>
              </a:rPr>
              <a:t xml:space="preserve">"Bone Marrow Depression"@en</a:t>
            </a:r>
            <a:r>
              <a:rPr lang="en-US" sz="1150" b="0" i="0" dirty="0">
                <a:solidFill>
                  <a:srgbClr val="1F2328"/>
                </a:solidFill>
                <a:latin typeface="Consolas"/>
                <a:cs typeface="Consolas"/>
              </a:rPr>
              <a:t xml:space="preserve">,</a:t>
            </a:r>
            <a:endParaRPr lang="en-US" sz="1150"/>
          </a:p>
        </p:txBody>
      </p:sp>
      <p:sp>
        <p:nvSpPr>
          <p:cNvPr id="395" name="Evidence tag"/>
          <p:cNvSpPr/>
          <p:nvPr/>
        </p:nvSpPr>
        <p:spPr>
          <a:xfrm>
            <a:off x="10040112" y="3813399"/>
            <a:ext cx="987552" cy="173736"/>
          </a:xfrm>
          <a:prstGeom prst="roundRect">
            <a:avLst>
              <a:gd name="adj" fmla="val 9000"/>
            </a:avLst>
          </a:prstGeom>
          <a:solidFill>
            <a:srgbClr val="FFFFFF"/>
          </a:solidFill>
          <a:ln w="9525">
            <a:solidFill>
              <a:srgbClr val="2F6B78"/>
            </a:solidFill>
          </a:ln>
        </p:spPr>
        <p:txBody>
          <a:bodyPr wrap="square" lIns="0" tIns="0" rIns="0" bIns="0" anchor="ctr">
            <a:noAutofit/>
          </a:bodyPr>
          <a:lstStyle/>
          <a:p>
            <a:pPr algn="ctr">
              <a:spcAft>
                <a:spcPts val="0"/>
              </a:spcAft>
            </a:pPr>
            <a:r>
              <a:rPr lang="en-US" sz="850" b="1" i="0" dirty="0">
                <a:solidFill>
                  <a:srgbClr val="2F6B78"/>
                </a:solidFill>
                <a:latin typeface="Consolas"/>
                <a:cs typeface="Consolas"/>
              </a:rPr>
              <a:t xml:space="preserve">DOCS</a:t>
            </a:r>
          </a:p>
        </p:txBody>
      </p:sp>
      <p:sp>
        <p:nvSpPr>
          <p:cNvPr id="396" name="Code line 396"/>
          <p:cNvSpPr txBox="1"/>
          <p:nvPr/>
        </p:nvSpPr>
        <p:spPr>
          <a:xfrm>
            <a:off x="4937760" y="3993817"/>
            <a:ext cx="4983480" cy="18710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skos:relatedMatch</a:t>
            </a:r>
            <a:r>
              <a:rPr lang="en-US" sz="1150" b="0" i="0" dirty="0">
                <a:solidFill>
                  <a:srgbClr val="1F2328"/>
                </a:solidFill>
                <a:latin typeface="Consolas"/>
                <a:cs typeface="Consolas"/>
              </a:rPr>
              <a:t xml:space="preserve"> </a:t>
            </a:r>
            <a:r>
              <a:rPr lang="en-US" sz="1150" b="0" i="0" dirty="0">
                <a:solidFill>
                  <a:srgbClr val="2F6B78"/>
                </a:solidFill>
                <a:latin typeface="Consolas"/>
                <a:cs typeface="Consolas"/>
              </a:rPr>
              <a:t xml:space="preserve">obo:DOID_4961</a:t>
            </a:r>
            <a:r>
              <a:rPr lang="en-US" sz="1150" b="0" i="0" dirty="0">
                <a:solidFill>
                  <a:srgbClr val="1F2328"/>
                </a:solidFill>
                <a:latin typeface="Consolas"/>
                <a:cs typeface="Consolas"/>
              </a:rPr>
              <a:t xml:space="preserve">,</a:t>
            </a:r>
            <a:endParaRPr lang="en-US" sz="1150"/>
          </a:p>
        </p:txBody>
      </p:sp>
      <p:sp>
        <p:nvSpPr>
          <p:cNvPr id="397" name="Evidence tag"/>
          <p:cNvSpPr/>
          <p:nvPr/>
        </p:nvSpPr>
        <p:spPr>
          <a:xfrm>
            <a:off x="10040112" y="4000499"/>
            <a:ext cx="987552" cy="173736"/>
          </a:xfrm>
          <a:prstGeom prst="roundRect">
            <a:avLst>
              <a:gd name="adj" fmla="val 9000"/>
            </a:avLst>
          </a:prstGeom>
          <a:solidFill>
            <a:srgbClr val="FFFFFF"/>
          </a:solidFill>
          <a:ln w="9525">
            <a:solidFill>
              <a:srgbClr val="0B6E4F"/>
            </a:solidFill>
          </a:ln>
        </p:spPr>
        <p:txBody>
          <a:bodyPr wrap="square" lIns="0" tIns="0" rIns="0" bIns="0" anchor="ctr">
            <a:noAutofit/>
          </a:bodyPr>
          <a:lstStyle/>
          <a:p>
            <a:pPr algn="ctr">
              <a:spcAft>
                <a:spcPts val="0"/>
              </a:spcAft>
            </a:pPr>
            <a:r>
              <a:rPr lang="en-US" sz="850" b="1" i="0" dirty="0">
                <a:solidFill>
                  <a:srgbClr val="0B6E4F"/>
                </a:solidFill>
                <a:latin typeface="Consolas"/>
                <a:cs typeface="Consolas"/>
              </a:rPr>
              <a:t xml:space="preserve">ONTOLOGY</a:t>
            </a:r>
          </a:p>
        </p:txBody>
      </p:sp>
      <p:sp>
        <p:nvSpPr>
          <p:cNvPr id="398" name="Code line 398"/>
          <p:cNvSpPr txBox="1"/>
          <p:nvPr/>
        </p:nvSpPr>
        <p:spPr>
          <a:xfrm>
            <a:off x="4937760" y="4180918"/>
            <a:ext cx="4983480" cy="18710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prov:wasDerivedFrom</a:t>
            </a:r>
            <a:r>
              <a:rPr lang="en-US" sz="1150" b="0" i="0" dirty="0">
                <a:solidFill>
                  <a:srgbClr val="1F2328"/>
                </a:solidFill>
                <a:latin typeface="Consolas"/>
                <a:cs typeface="Consolas"/>
              </a:rPr>
              <a:t xml:space="preserve"> </a:t>
            </a:r>
            <a:r>
              <a:rPr lang="en-US" sz="1150" b="0" i="0" dirty="0">
                <a:solidFill>
                  <a:srgbClr val="2F6B78"/>
                </a:solidFill>
                <a:latin typeface="Consolas"/>
                <a:cs typeface="Consolas"/>
              </a:rPr>
              <a:t xml:space="preserve">admission:BM_DEP</a:t>
            </a:r>
            <a:endParaRPr lang="en-US" sz="1150"/>
          </a:p>
        </p:txBody>
      </p:sp>
      <p:sp>
        <p:nvSpPr>
          <p:cNvPr id="399" name="Evidence tag"/>
          <p:cNvSpPr/>
          <p:nvPr/>
        </p:nvSpPr>
        <p:spPr>
          <a:xfrm>
            <a:off x="10040112" y="4187600"/>
            <a:ext cx="987552" cy="173736"/>
          </a:xfrm>
          <a:prstGeom prst="roundRect">
            <a:avLst>
              <a:gd name="adj" fmla="val 9000"/>
            </a:avLst>
          </a:prstGeom>
          <a:solidFill>
            <a:srgbClr val="FFFFFF"/>
          </a:solidFill>
          <a:ln w="9525">
            <a:solidFill>
              <a:srgbClr val="5B6770"/>
            </a:solidFill>
          </a:ln>
        </p:spPr>
        <p:txBody>
          <a:bodyPr wrap="square" lIns="0" tIns="0" rIns="0" bIns="0" anchor="ctr">
            <a:noAutofit/>
          </a:bodyPr>
          <a:lstStyle/>
          <a:p>
            <a:pPr algn="ctr">
              <a:spcAft>
                <a:spcPts val="0"/>
              </a:spcAft>
            </a:pPr>
            <a:r>
              <a:rPr lang="en-US" sz="850" b="1" i="0" dirty="0">
                <a:solidFill>
                  <a:srgbClr val="5B6770"/>
                </a:solidFill>
                <a:latin typeface="Consolas"/>
                <a:cs typeface="Consolas"/>
              </a:rPr>
              <a:t xml:space="preserve">SCHEMA</a:t>
            </a:r>
          </a:p>
        </p:txBody>
      </p:sp>
      <p:sp>
        <p:nvSpPr>
          <p:cNvPr id="400" name="Code line 400"/>
          <p:cNvSpPr txBox="1"/>
          <p:nvPr/>
        </p:nvSpPr>
        <p:spPr>
          <a:xfrm>
            <a:off x="4937760" y="4459458"/>
            <a:ext cx="4983480" cy="187100"/>
          </a:xfrm>
          <a:prstGeom prst="rect">
            <a:avLst/>
          </a:prstGeom>
          <a:noFill/>
        </p:spPr>
        <p:txBody>
          <a:bodyPr wrap="none" lIns="146304" tIns="0" rIns="0" bIns="0" anchor="ctr">
            <a:noAutofit/>
          </a:bodyPr>
          <a:lstStyle/>
          <a:p>
            <a:pPr>
              <a:tabLst>
                <a:tab pos="4224528" algn="l"/>
              </a:tabLst>
            </a:pPr>
            <a:r>
              <a:rPr lang="en-US" sz="1150" b="1" i="0" dirty="0">
                <a:solidFill>
                  <a:srgbClr val="0B6E4F"/>
                </a:solidFill>
                <a:latin typeface="Consolas"/>
                <a:cs typeface="Consolas"/>
              </a:rPr>
              <a:t xml:space="preserve">DataProperty:</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ecog_stage</a:t>
            </a:r>
            <a:endParaRPr lang="en-US" sz="1150"/>
          </a:p>
        </p:txBody>
      </p:sp>
      <p:sp>
        <p:nvSpPr>
          <p:cNvPr id="401" name="Code line 401"/>
          <p:cNvSpPr txBox="1"/>
          <p:nvPr/>
        </p:nvSpPr>
        <p:spPr>
          <a:xfrm>
            <a:off x="4937760" y="4646558"/>
            <a:ext cx="4983480" cy="18710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1" i="0" dirty="0">
                <a:solidFill>
                  <a:srgbClr val="0B6E4F"/>
                </a:solidFill>
                <a:latin typeface="Consolas"/>
                <a:cs typeface="Consolas"/>
              </a:rPr>
              <a:t xml:space="preserve">Annotations:</a:t>
            </a:r>
            <a:endParaRPr lang="en-US" sz="1150"/>
          </a:p>
        </p:txBody>
      </p:sp>
      <p:sp>
        <p:nvSpPr>
          <p:cNvPr id="402" name="Code line 402"/>
          <p:cNvSpPr txBox="1"/>
          <p:nvPr/>
        </p:nvSpPr>
        <p:spPr>
          <a:xfrm>
            <a:off x="4937760" y="4833659"/>
            <a:ext cx="4983480" cy="18710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rdfs:label</a:t>
            </a:r>
            <a:r>
              <a:rPr lang="en-US" sz="1150" b="0" i="0" dirty="0">
                <a:solidFill>
                  <a:srgbClr val="1F2328"/>
                </a:solidFill>
                <a:latin typeface="Consolas"/>
                <a:cs typeface="Consolas"/>
              </a:rPr>
              <a:t xml:space="preserve"> </a:t>
            </a:r>
            <a:r>
              <a:rPr lang="en-US" sz="1150" b="0" i="0" dirty="0">
                <a:solidFill>
                  <a:srgbClr val="A3401E"/>
                </a:solidFill>
                <a:latin typeface="Consolas"/>
                <a:cs typeface="Consolas"/>
              </a:rPr>
              <a:t xml:space="preserve">"ECOG Performance Status"@en</a:t>
            </a:r>
            <a:r>
              <a:rPr lang="en-US" sz="1150" b="0" i="0" dirty="0">
                <a:solidFill>
                  <a:srgbClr val="1F2328"/>
                </a:solidFill>
                <a:latin typeface="Consolas"/>
                <a:cs typeface="Consolas"/>
              </a:rPr>
              <a:t xml:space="preserve">,</a:t>
            </a:r>
            <a:endParaRPr lang="en-US" sz="1150"/>
          </a:p>
        </p:txBody>
      </p:sp>
      <p:sp>
        <p:nvSpPr>
          <p:cNvPr id="403" name="Evidence tag"/>
          <p:cNvSpPr/>
          <p:nvPr/>
        </p:nvSpPr>
        <p:spPr>
          <a:xfrm>
            <a:off x="10040112" y="4840341"/>
            <a:ext cx="987552" cy="173736"/>
          </a:xfrm>
          <a:prstGeom prst="roundRect">
            <a:avLst>
              <a:gd name="adj" fmla="val 9000"/>
            </a:avLst>
          </a:prstGeom>
          <a:solidFill>
            <a:srgbClr val="FFFFFF"/>
          </a:solidFill>
          <a:ln w="9525">
            <a:solidFill>
              <a:srgbClr val="2F6B78"/>
            </a:solidFill>
          </a:ln>
        </p:spPr>
        <p:txBody>
          <a:bodyPr wrap="square" lIns="0" tIns="0" rIns="0" bIns="0" anchor="ctr">
            <a:noAutofit/>
          </a:bodyPr>
          <a:lstStyle/>
          <a:p>
            <a:pPr algn="ctr">
              <a:spcAft>
                <a:spcPts val="0"/>
              </a:spcAft>
            </a:pPr>
            <a:r>
              <a:rPr lang="en-US" sz="850" b="1" i="0" dirty="0">
                <a:solidFill>
                  <a:srgbClr val="2F6B78"/>
                </a:solidFill>
                <a:latin typeface="Consolas"/>
                <a:cs typeface="Consolas"/>
              </a:rPr>
              <a:t xml:space="preserve">DOCS</a:t>
            </a:r>
          </a:p>
        </p:txBody>
      </p:sp>
      <p:sp>
        <p:nvSpPr>
          <p:cNvPr id="404" name="Code line 404"/>
          <p:cNvSpPr txBox="1"/>
          <p:nvPr/>
        </p:nvSpPr>
        <p:spPr>
          <a:xfrm>
            <a:off x="4937760" y="5020759"/>
            <a:ext cx="4983480" cy="18710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rdfs:comment</a:t>
            </a:r>
            <a:r>
              <a:rPr lang="en-US" sz="1150" b="0" i="0" dirty="0">
                <a:solidFill>
                  <a:srgbClr val="1F2328"/>
                </a:solidFill>
                <a:latin typeface="Consolas"/>
                <a:cs typeface="Consolas"/>
              </a:rPr>
              <a:t xml:space="preserve"> </a:t>
            </a:r>
            <a:r>
              <a:rPr lang="en-US" sz="1150" b="0" i="0" dirty="0">
                <a:solidFill>
                  <a:srgbClr val="A3401E"/>
                </a:solidFill>
                <a:latin typeface="Consolas"/>
                <a:cs typeface="Consolas"/>
              </a:rPr>
              <a:t xml:space="preserve">"0 = fully active … 5 = dead"@en</a:t>
            </a:r>
            <a:r>
              <a:rPr lang="en-US" sz="1150" b="0" i="0" dirty="0">
                <a:solidFill>
                  <a:srgbClr val="1F2328"/>
                </a:solidFill>
                <a:latin typeface="Consolas"/>
                <a:cs typeface="Consolas"/>
              </a:rPr>
              <a:t xml:space="preserve">,</a:t>
            </a:r>
            <a:endParaRPr lang="en-US" sz="1150"/>
          </a:p>
        </p:txBody>
      </p:sp>
      <p:sp>
        <p:nvSpPr>
          <p:cNvPr id="405" name="Evidence tag"/>
          <p:cNvSpPr/>
          <p:nvPr/>
        </p:nvSpPr>
        <p:spPr>
          <a:xfrm>
            <a:off x="10040112" y="5027441"/>
            <a:ext cx="987552" cy="173736"/>
          </a:xfrm>
          <a:prstGeom prst="roundRect">
            <a:avLst>
              <a:gd name="adj" fmla="val 9000"/>
            </a:avLst>
          </a:prstGeom>
          <a:solidFill>
            <a:srgbClr val="FFFFFF"/>
          </a:solidFill>
          <a:ln w="9525">
            <a:solidFill>
              <a:srgbClr val="6F42C1"/>
            </a:solidFill>
          </a:ln>
        </p:spPr>
        <p:txBody>
          <a:bodyPr wrap="square" lIns="0" tIns="0" rIns="0" bIns="0" anchor="ctr">
            <a:noAutofit/>
          </a:bodyPr>
          <a:lstStyle/>
          <a:p>
            <a:pPr algn="ctr">
              <a:spcAft>
                <a:spcPts val="0"/>
              </a:spcAft>
            </a:pPr>
            <a:r>
              <a:rPr lang="en-US" sz="850" b="1" i="0" dirty="0">
                <a:solidFill>
                  <a:srgbClr val="6F42C1"/>
                </a:solidFill>
                <a:latin typeface="Consolas"/>
                <a:cs typeface="Consolas"/>
              </a:rPr>
              <a:t xml:space="preserve">LLM</a:t>
            </a:r>
          </a:p>
        </p:txBody>
      </p:sp>
      <p:sp>
        <p:nvSpPr>
          <p:cNvPr id="406" name="Code line 406"/>
          <p:cNvSpPr txBox="1"/>
          <p:nvPr/>
        </p:nvSpPr>
        <p:spPr>
          <a:xfrm>
            <a:off x="4937760" y="5207859"/>
            <a:ext cx="4983480" cy="18710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prov:wasDerivedFrom</a:t>
            </a:r>
            <a:r>
              <a:rPr lang="en-US" sz="1150" b="0" i="0" dirty="0">
                <a:solidFill>
                  <a:srgbClr val="1F2328"/>
                </a:solidFill>
                <a:latin typeface="Consolas"/>
                <a:cs typeface="Consolas"/>
              </a:rPr>
              <a:t xml:space="preserve"> </a:t>
            </a:r>
            <a:r>
              <a:rPr lang="en-US" sz="1150" b="0" i="0" dirty="0">
                <a:solidFill>
                  <a:srgbClr val="2F6B78"/>
                </a:solidFill>
                <a:latin typeface="Consolas"/>
                <a:cs typeface="Consolas"/>
              </a:rPr>
              <a:t xml:space="preserve">admission:ecog_stage</a:t>
            </a:r>
            <a:endParaRPr lang="en-US" sz="1150"/>
          </a:p>
        </p:txBody>
      </p:sp>
      <p:sp>
        <p:nvSpPr>
          <p:cNvPr id="407" name="Evidence tag"/>
          <p:cNvSpPr/>
          <p:nvPr/>
        </p:nvSpPr>
        <p:spPr>
          <a:xfrm>
            <a:off x="10040112" y="5214541"/>
            <a:ext cx="987552" cy="173736"/>
          </a:xfrm>
          <a:prstGeom prst="roundRect">
            <a:avLst>
              <a:gd name="adj" fmla="val 9000"/>
            </a:avLst>
          </a:prstGeom>
          <a:solidFill>
            <a:srgbClr val="FFFFFF"/>
          </a:solidFill>
          <a:ln w="9525">
            <a:solidFill>
              <a:srgbClr val="5B6770"/>
            </a:solidFill>
          </a:ln>
        </p:spPr>
        <p:txBody>
          <a:bodyPr wrap="square" lIns="0" tIns="0" rIns="0" bIns="0" anchor="ctr">
            <a:noAutofit/>
          </a:bodyPr>
          <a:lstStyle/>
          <a:p>
            <a:pPr algn="ctr">
              <a:spcAft>
                <a:spcPts val="0"/>
              </a:spcAft>
            </a:pPr>
            <a:r>
              <a:rPr lang="en-US" sz="850" b="1" i="0" dirty="0">
                <a:solidFill>
                  <a:srgbClr val="5B6770"/>
                </a:solidFill>
                <a:latin typeface="Consolas"/>
                <a:cs typeface="Consolas"/>
              </a:rPr>
              <a:t xml:space="preserve">SCHEMA</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10"/>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5 / VALIDATE</a:t>
            </a:r>
            <a:endParaRPr/>
          </a:p>
        </p:txBody>
      </p:sp>
      <p:sp>
        <p:nvSpPr>
          <p:cNvPr id="340" name="Google Shape;340;p10"/>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Why validate? Plausible fragments can still break the ontology.</a:t>
            </a:r>
            <a:endParaRPr/>
          </a:p>
        </p:txBody>
      </p:sp>
      <p:sp>
        <p:nvSpPr>
          <p:cNvPr id="341" name="Google Shape;341;p10"/>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A fluent LLM rarely gets syntax wrong. The risk is fragments that clash with the ontology built so far.</a:t>
            </a:r>
            <a:endParaRPr/>
          </a:p>
        </p:txBody>
      </p:sp>
      <p:sp>
        <p:nvSpPr>
          <p:cNvPr id="364" name="Google Shape;364;p10"/>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5" name="Google Shape;365;p10"/>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66" name="Google Shape;366;p10"/>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7" name="Google Shape;367;p10"/>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68" name="Google Shape;368;p10"/>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10"/>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70" name="Google Shape;370;p10"/>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10"/>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372" name="Google Shape;372;p10"/>
          <p:cNvSpPr/>
          <p:nvPr/>
        </p:nvSpPr>
        <p:spPr>
          <a:xfrm>
            <a:off x="8156448"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3" name="Google Shape;373;p10"/>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5  VALIDATE</a:t>
            </a:r>
            <a:endParaRPr/>
          </a:p>
        </p:txBody>
      </p:sp>
      <p:sp>
        <p:nvSpPr>
          <p:cNvPr id="374" name="Google Shape;374;p10"/>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5" name="Google Shape;375;p10"/>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376" name="Rounded Rectangle 375"/>
          <p:cNvSpPr/>
          <p:nvPr/>
        </p:nvSpPr>
        <p:spPr>
          <a:xfrm>
            <a:off x="832104"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ounded Rectangle 376"/>
          <p:cNvSpPr/>
          <p:nvPr/>
        </p:nvSpPr>
        <p:spPr>
          <a:xfrm>
            <a:off x="6172200"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TextBox 377"/>
          <p:cNvSpPr txBox="1"/>
          <p:nvPr/>
        </p:nvSpPr>
        <p:spPr>
          <a:xfrm>
            <a:off x="1060704" y="2331720"/>
            <a:ext cx="4626864" cy="274320"/>
          </a:xfrm>
          <a:prstGeom prst="rect">
            <a:avLst/>
          </a:prstGeom>
          <a:noFill/>
        </p:spPr>
        <p:txBody>
          <a:bodyPr wrap="square" lIns="0" rIns="0" tIns="0" bIns="0" anchor="ctr">
            <a:spAutoFit/>
          </a:bodyPr>
          <a:lstStyle/>
          <a:p>
            <a:r>
              <a:rPr sz="1600" b="1">
                <a:solidFill>
                  <a:srgbClr val="0B6E4F"/>
                </a:solidFill>
                <a:latin typeface="Consolas"/>
              </a:rPr>
              <a:t>SEMANTIC ERROR · JUDGE-LLM</a:t>
            </a:r>
          </a:p>
        </p:txBody>
      </p:sp>
      <p:sp>
        <p:nvSpPr>
          <p:cNvPr id="379" name="TextBox 378"/>
          <p:cNvSpPr txBox="1"/>
          <p:nvPr/>
        </p:nvSpPr>
        <p:spPr>
          <a:xfrm>
            <a:off x="1069848" y="2834640"/>
            <a:ext cx="4617720" cy="274320"/>
          </a:xfrm>
          <a:prstGeom prst="rect">
            <a:avLst/>
          </a:prstGeom>
          <a:noFill/>
        </p:spPr>
        <p:txBody>
          <a:bodyPr wrap="square" lIns="0" rIns="0" tIns="0" bIns="0" anchor="ctr">
            <a:spAutoFit/>
          </a:bodyPr>
          <a:lstStyle/>
          <a:p>
            <a:r>
              <a:rPr sz="1430" b="0">
                <a:solidFill>
                  <a:srgbClr val="5B6770"/>
                </a:solidFill>
                <a:latin typeface="Calibri"/>
              </a:rPr>
              <a:t>Generated link for admission:</a:t>
            </a:r>
          </a:p>
        </p:txBody>
      </p:sp>
      <p:sp>
        <p:nvSpPr>
          <p:cNvPr id="380" name="Rectangle 379"/>
          <p:cNvSpPr/>
          <p:nvPr/>
        </p:nvSpPr>
        <p:spPr>
          <a:xfrm>
            <a:off x="1069848" y="3191256"/>
            <a:ext cx="4562856"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TextBox 380"/>
          <p:cNvSpPr txBox="1"/>
          <p:nvPr/>
        </p:nvSpPr>
        <p:spPr>
          <a:xfrm>
            <a:off x="1143000" y="3227832"/>
            <a:ext cx="4434840"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ObjectProperty: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hasPatient</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Range:</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Patient</a:t>
            </a:r>
          </a:p>
        </p:txBody>
      </p:sp>
      <p:sp>
        <p:nvSpPr>
          <p:cNvPr id="382" name="TextBox 381"/>
          <p:cNvSpPr txBox="1"/>
          <p:nvPr/>
        </p:nvSpPr>
        <p:spPr>
          <a:xfrm>
            <a:off x="1069848" y="3675887"/>
            <a:ext cx="4572000" cy="621792"/>
          </a:xfrm>
          <a:prstGeom prst="rect">
            <a:avLst/>
          </a:prstGeom>
          <a:noFill/>
        </p:spPr>
        <p:txBody>
          <a:bodyPr wrap="square" lIns="0" rIns="0" tIns="0" bIns="0" anchor="ctr">
            <a:spAutoFit/>
          </a:bodyPr>
          <a:lstStyle/>
          <a:p>
            <a:r>
              <a:rPr sz="1330" b="0">
                <a:solidFill>
                  <a:srgbClr val="1F2328"/>
                </a:solidFill>
                <a:latin typeface="Calibri"/>
              </a:rPr>
              <a:t>Valid OWL, but the core already has PatientData: now two classes mean the same thing. The Judge-LLM sees the core and asks to reuse it.</a:t>
            </a:r>
          </a:p>
        </p:txBody>
      </p:sp>
      <p:sp>
        <p:nvSpPr>
          <p:cNvPr id="383" name="TextBox 382"/>
          <p:cNvSpPr txBox="1"/>
          <p:nvPr/>
        </p:nvSpPr>
        <p:spPr>
          <a:xfrm>
            <a:off x="6400800" y="2331720"/>
            <a:ext cx="4572000" cy="274320"/>
          </a:xfrm>
          <a:prstGeom prst="rect">
            <a:avLst/>
          </a:prstGeom>
          <a:noFill/>
        </p:spPr>
        <p:txBody>
          <a:bodyPr wrap="square" lIns="0" rIns="0" tIns="0" bIns="0" anchor="ctr">
            <a:spAutoFit/>
          </a:bodyPr>
          <a:lstStyle/>
          <a:p>
            <a:r>
              <a:rPr sz="1540" b="1">
                <a:solidFill>
                  <a:srgbClr val="0B6E4F"/>
                </a:solidFill>
                <a:latin typeface="Consolas"/>
              </a:rPr>
              <a:t>STRUCTURAL ERROR · GRAPH CHECKS</a:t>
            </a:r>
          </a:p>
        </p:txBody>
      </p:sp>
      <p:sp>
        <p:nvSpPr>
          <p:cNvPr id="384" name="TextBox 383"/>
          <p:cNvSpPr txBox="1"/>
          <p:nvPr/>
        </p:nvSpPr>
        <p:spPr>
          <a:xfrm>
            <a:off x="6400800" y="2834640"/>
            <a:ext cx="4572000" cy="274320"/>
          </a:xfrm>
          <a:prstGeom prst="rect">
            <a:avLst/>
          </a:prstGeom>
          <a:noFill/>
        </p:spPr>
        <p:txBody>
          <a:bodyPr wrap="square" lIns="0" rIns="0" tIns="0" bIns="0" anchor="ctr">
            <a:spAutoFit/>
          </a:bodyPr>
          <a:lstStyle/>
          <a:p>
            <a:r>
              <a:rPr sz="1430" b="0">
                <a:solidFill>
                  <a:srgbClr val="5B6770"/>
                </a:solidFill>
                <a:latin typeface="Calibri"/>
              </a:rPr>
              <a:t>Later table lab_result reuses a core property:</a:t>
            </a:r>
          </a:p>
        </p:txBody>
      </p:sp>
      <p:sp>
        <p:nvSpPr>
          <p:cNvPr id="385" name="Rectangle 384"/>
          <p:cNvSpPr/>
          <p:nvPr/>
        </p:nvSpPr>
        <p:spPr>
          <a:xfrm>
            <a:off x="6400800" y="3191256"/>
            <a:ext cx="4572000"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TextBox 385"/>
          <p:cNvSpPr txBox="1"/>
          <p:nvPr/>
        </p:nvSpPr>
        <p:spPr>
          <a:xfrm>
            <a:off x="6537960" y="3227832"/>
            <a:ext cx="4242816"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ObjectProperty: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hasPatientData</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Domain:</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LabResult</a:t>
            </a:r>
          </a:p>
        </p:txBody>
      </p:sp>
      <p:sp>
        <p:nvSpPr>
          <p:cNvPr id="387" name="TextBox 386"/>
          <p:cNvSpPr txBox="1"/>
          <p:nvPr/>
        </p:nvSpPr>
        <p:spPr>
          <a:xfrm>
            <a:off x="6400800" y="3675887"/>
            <a:ext cx="4572000" cy="621792"/>
          </a:xfrm>
          <a:prstGeom prst="rect">
            <a:avLst/>
          </a:prstGeom>
          <a:noFill/>
        </p:spPr>
        <p:txBody>
          <a:bodyPr wrap="square" lIns="0" rIns="0" tIns="0" bIns="0" anchor="ctr">
            <a:spAutoFit/>
          </a:bodyPr>
          <a:lstStyle/>
          <a:p>
            <a:r>
              <a:rPr sz="1330" b="0">
                <a:solidFill>
                  <a:srgbClr val="1F2328"/>
                </a:solidFill>
                <a:latin typeface="Calibri"/>
              </a:rPr>
              <a:t>Merged with Domain: Admission, OWL infers that every lab result is an admission (pitfall P19). Graph checks allow one domain per property.</a:t>
            </a:r>
          </a:p>
        </p:txBody>
      </p:sp>
      <p:sp>
        <p:nvSpPr>
          <p:cNvPr id="388" name="Rounded Rectangle 387"/>
          <p:cNvSpPr/>
          <p:nvPr/>
        </p:nvSpPr>
        <p:spPr>
          <a:xfrm>
            <a:off x="841248" y="4718304"/>
            <a:ext cx="10515600" cy="658368"/>
          </a:xfrm>
          <a:prstGeom prst="roundRect">
            <a:avLst/>
          </a:prstGeom>
          <a:solidFill>
            <a:srgbClr val="E6F2EC"/>
          </a:solidFill>
          <a:ln w="8890">
            <a:solidFill>
              <a:srgbClr val="B7D7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1024128" y="4800600"/>
            <a:ext cx="9985248" cy="237744"/>
          </a:xfrm>
          <a:prstGeom prst="rect">
            <a:avLst/>
          </a:prstGeom>
          <a:noFill/>
        </p:spPr>
        <p:txBody>
          <a:bodyPr wrap="square" lIns="0" rIns="0" tIns="0" bIns="0" anchor="ctr">
            <a:spAutoFit/>
          </a:bodyPr>
          <a:lstStyle/>
          <a:p>
            <a:r>
              <a:rPr lang="en-US" sz="1300" b="1" i="0" dirty="0">
                <a:solidFill>
                  <a:srgbClr val="0B6E4F"/>
                </a:solidFill>
                <a:latin typeface="Calibri"/>
                <a:cs typeface="Calibri"/>
              </a:rPr>
              <a:t xml:space="preserve">CORRECTION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hasPatientData</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Range:</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PatientData</a:t>
            </a:r>
            <a:r>
              <a:rPr lang="en-US" sz="1300" b="0" i="0" dirty="0">
                <a:solidFill>
                  <a:srgbClr val="5B6770"/>
                </a:solidFill>
                <a:latin typeface="Calibri"/>
                <a:cs typeface="Calibri"/>
              </a:rPr>
              <a:t xml:space="preserve">    |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labResultOf</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Domain:</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LabResult</a:t>
            </a:r>
          </a:p>
        </p:txBody>
      </p:sp>
      <p:sp>
        <p:nvSpPr>
          <p:cNvPr id="390" name="TextBox 389"/>
          <p:cNvSpPr txBox="1"/>
          <p:nvPr/>
        </p:nvSpPr>
        <p:spPr>
          <a:xfrm>
            <a:off x="1024128" y="5120640"/>
            <a:ext cx="10021824" cy="201168"/>
          </a:xfrm>
          <a:prstGeom prst="rect">
            <a:avLst/>
          </a:prstGeom>
          <a:noFill/>
        </p:spPr>
        <p:txBody>
          <a:bodyPr wrap="square" lIns="0" rIns="0" tIns="0" bIns="0" anchor="ctr">
            <a:spAutoFit/>
          </a:bodyPr>
          <a:lstStyle/>
          <a:p>
            <a:r>
              <a:rPr sz="1230" b="0">
                <a:solidFill>
                  <a:srgbClr val="5B6770"/>
                </a:solidFill>
                <a:latin typeface="Calibri"/>
              </a:rPr>
              <a:t>Issues → generator correction (up to 2 retries) → graph validation → accepted fragment or fallback</a:t>
            </a:r>
          </a:p>
        </p:txBody>
      </p:sp>
      <p:sp>
        <p:nvSpPr>
          <p:cNvPr id="391" name="Added 391"/>
          <p:cNvSpPr txBox="1"/>
          <p:nvPr/>
        </p:nvSpPr>
        <p:spPr>
          <a:xfrm>
            <a:off x="7013448" y="448056"/>
            <a:ext cx="4572000" cy="310896"/>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5B6770"/>
                </a:solidFill>
                <a:latin typeface="Consolas"/>
                <a:ea typeface="Consolas"/>
                <a:cs typeface="Consolas"/>
                <a:sym typeface="Consolas"/>
              </a:rPr>
              <a:t>ILLUSTRATIVE EXAMPLES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0" name="Shape 380"/>
        <p:cNvGrpSpPr/>
        <p:nvPr/>
      </p:nvGrpSpPr>
      <p:grpSpPr>
        <a:xfrm>
          <a:off x="0" y="0"/>
          <a:ext cx="0" cy="0"/>
          <a:chOff x="0" y="0"/>
          <a:chExt cx="0" cy="0"/>
        </a:xfrm>
      </p:grpSpPr>
      <p:sp>
        <p:nvSpPr>
          <p:cNvPr id="381" name="Google Shape;381;p11"/>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6 / MERGE</a:t>
            </a:r>
            <a:endParaRPr/>
          </a:p>
        </p:txBody>
      </p:sp>
      <p:sp>
        <p:nvSpPr>
          <p:cNvPr id="382" name="Google Shape;382;p11"/>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ontology we built now helps build the next part.</a:t>
            </a:r>
            <a:endParaRPr/>
          </a:p>
        </p:txBody>
      </p:sp>
      <p:sp>
        <p:nvSpPr>
          <p:cNvPr id="383" name="Google Shape;383;p11"/>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Integrate the refined fragment; use the expanded core as retrieval context.</a:t>
            </a:r>
            <a:endParaRPr/>
          </a:p>
        </p:txBody>
      </p:sp>
      <p:sp>
        <p:nvSpPr>
          <p:cNvPr id="384" name="Google Shape;384;p11"/>
          <p:cNvSpPr/>
          <p:nvPr/>
        </p:nvSpPr>
        <p:spPr>
          <a:xfrm>
            <a:off x="813816" y="2139696"/>
            <a:ext cx="3017520" cy="254203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5" name="Google Shape;385;p11"/>
          <p:cNvSpPr txBox="1"/>
          <p:nvPr/>
        </p:nvSpPr>
        <p:spPr>
          <a:xfrm>
            <a:off x="1069848" y="2304288"/>
            <a:ext cx="257860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EXISTING CORE  O₁</a:t>
            </a:r>
            <a:endParaRPr/>
          </a:p>
        </p:txBody>
      </p:sp>
      <p:sp>
        <p:nvSpPr>
          <p:cNvPr id="386" name="Google Shape;386;p11"/>
          <p:cNvSpPr/>
          <p:nvPr/>
        </p:nvSpPr>
        <p:spPr>
          <a:xfrm>
            <a:off x="1408176" y="3017520"/>
            <a:ext cx="1847088" cy="630936"/>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1"/>
          <p:cNvSpPr txBox="1"/>
          <p:nvPr/>
        </p:nvSpPr>
        <p:spPr>
          <a:xfrm>
            <a:off x="1563624" y="3182112"/>
            <a:ext cx="153619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sp>
        <p:nvSpPr>
          <p:cNvPr id="388" name="Google Shape;388;p11"/>
          <p:cNvSpPr txBox="1"/>
          <p:nvPr/>
        </p:nvSpPr>
        <p:spPr>
          <a:xfrm>
            <a:off x="1380744" y="4005072"/>
            <a:ext cx="2029968" cy="27432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US" sz="1550">
                <a:solidFill>
                  <a:srgbClr val="5B6770"/>
                </a:solidFill>
                <a:latin typeface="Calibri"/>
                <a:ea typeface="Calibri"/>
                <a:cs typeface="Calibri"/>
                <a:sym typeface="Calibri"/>
              </a:rPr>
              <a:t>already validated</a:t>
            </a:r>
            <a:endParaRPr/>
          </a:p>
        </p:txBody>
      </p:sp>
      <p:sp>
        <p:nvSpPr>
          <p:cNvPr id="389" name="Google Shape;389;p11"/>
          <p:cNvSpPr txBox="1"/>
          <p:nvPr/>
        </p:nvSpPr>
        <p:spPr>
          <a:xfrm>
            <a:off x="3968496" y="3108960"/>
            <a:ext cx="36576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3500">
                <a:solidFill>
                  <a:srgbClr val="0B6E4F"/>
                </a:solidFill>
                <a:latin typeface="Cambria"/>
                <a:ea typeface="Calibri"/>
                <a:cs typeface="Calibri"/>
                <a:sym typeface="Calibri"/>
              </a:rPr>
              <a:t>+</a:t>
            </a:r>
            <a:endParaRPr/>
          </a:p>
        </p:txBody>
      </p:sp>
      <p:sp>
        <p:nvSpPr>
          <p:cNvPr id="390" name="Google Shape;390;p11"/>
          <p:cNvSpPr/>
          <p:nvPr/>
        </p:nvSpPr>
        <p:spPr>
          <a:xfrm>
            <a:off x="4471416" y="2139696"/>
            <a:ext cx="2944368" cy="2542032"/>
          </a:xfrm>
          <a:prstGeom prst="roundRect">
            <a:avLst>
              <a:gd fmla="val 10000" name="adj"/>
            </a:avLst>
          </a:prstGeom>
          <a:solidFill>
            <a:srgbClr val="FFFFFF"/>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1" name="Google Shape;391;p11"/>
          <p:cNvSpPr txBox="1"/>
          <p:nvPr/>
        </p:nvSpPr>
        <p:spPr>
          <a:xfrm>
            <a:off x="4700016" y="2304288"/>
            <a:ext cx="2551176"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REFINED DELTA  ΔOadmission</a:t>
            </a:r>
            <a:endParaRPr/>
          </a:p>
        </p:txBody>
      </p:sp>
      <p:sp>
        <p:nvSpPr>
          <p:cNvPr id="392" name="Google Shape;392;p11"/>
          <p:cNvSpPr/>
          <p:nvPr/>
        </p:nvSpPr>
        <p:spPr>
          <a:xfrm>
            <a:off x="4956048" y="3017520"/>
            <a:ext cx="1956816" cy="630936"/>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11"/>
          <p:cNvSpPr txBox="1"/>
          <p:nvPr/>
        </p:nvSpPr>
        <p:spPr>
          <a:xfrm>
            <a:off x="5175504" y="3172968"/>
            <a:ext cx="156362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394" name="Google Shape;394;p11"/>
          <p:cNvSpPr txBox="1"/>
          <p:nvPr/>
        </p:nvSpPr>
        <p:spPr>
          <a:xfrm>
            <a:off x="4645152" y="3968496"/>
            <a:ext cx="2633472" cy="31089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550">
                <a:solidFill>
                  <a:srgbClr val="5B6770"/>
                </a:solidFill>
                <a:latin typeface="Calibri"/>
                <a:ea typeface="Calibri"/>
                <a:cs typeface="Calibri"/>
                <a:sym typeface="Calibri"/>
              </a:rPr>
              <a:t>Relations · labels · provenance</a:t>
            </a:r>
            <a:endParaRPr/>
          </a:p>
        </p:txBody>
      </p:sp>
      <p:cxnSp>
        <p:nvCxnSpPr>
          <p:cNvPr id="395" name="Google Shape;395;p11"/>
          <p:cNvCxnSpPr/>
          <p:nvPr/>
        </p:nvCxnSpPr>
        <p:spPr>
          <a:xfrm>
            <a:off x="7552944" y="3310128"/>
            <a:ext cx="502920" cy="0"/>
          </a:xfrm>
          <a:prstGeom prst="straightConnector1">
            <a:avLst/>
          </a:prstGeom>
          <a:noFill/>
          <a:ln cap="flat" cmpd="sng" w="31750">
            <a:solidFill>
              <a:srgbClr val="0B6E4F"/>
            </a:solidFill>
            <a:prstDash val="solid"/>
            <a:miter lim="8000"/>
            <a:headEnd len="sm" w="sm" type="none"/>
            <a:tailEnd len="med" w="med" type="triangle"/>
          </a:ln>
        </p:spPr>
      </p:cxnSp>
      <p:sp>
        <p:nvSpPr>
          <p:cNvPr id="396" name="Google Shape;396;p11"/>
          <p:cNvSpPr/>
          <p:nvPr/>
        </p:nvSpPr>
        <p:spPr>
          <a:xfrm>
            <a:off x="8220456" y="2139696"/>
            <a:ext cx="3191256" cy="2542032"/>
          </a:xfrm>
          <a:prstGeom prst="roundRect">
            <a:avLst>
              <a:gd fmla="val 10000" name="adj"/>
            </a:avLst>
          </a:prstGeom>
          <a:solidFill>
            <a:srgbClr val="FFFFFF"/>
          </a:solidFill>
          <a:ln cap="flat" cmpd="sng" w="1777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7" name="Google Shape;397;p11"/>
          <p:cNvSpPr txBox="1"/>
          <p:nvPr/>
        </p:nvSpPr>
        <p:spPr>
          <a:xfrm>
            <a:off x="8476488" y="2304288"/>
            <a:ext cx="272491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EXPANDED CORE  O₂</a:t>
            </a:r>
            <a:endParaRPr/>
          </a:p>
        </p:txBody>
      </p:sp>
      <p:sp>
        <p:nvSpPr>
          <p:cNvPr id="398" name="Google Shape;398;p11"/>
          <p:cNvSpPr/>
          <p:nvPr/>
        </p:nvSpPr>
        <p:spPr>
          <a:xfrm>
            <a:off x="8375904" y="2926080"/>
            <a:ext cx="1234440"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1"/>
          <p:cNvSpPr txBox="1"/>
          <p:nvPr/>
        </p:nvSpPr>
        <p:spPr>
          <a:xfrm>
            <a:off x="8485632" y="3072384"/>
            <a:ext cx="1033271"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Admission</a:t>
            </a:r>
            <a:endParaRPr/>
          </a:p>
        </p:txBody>
      </p:sp>
      <p:sp>
        <p:nvSpPr>
          <p:cNvPr id="400" name="Google Shape;400;p11"/>
          <p:cNvSpPr/>
          <p:nvPr/>
        </p:nvSpPr>
        <p:spPr>
          <a:xfrm>
            <a:off x="10003536" y="2926080"/>
            <a:ext cx="1271016"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11"/>
          <p:cNvSpPr txBox="1"/>
          <p:nvPr/>
        </p:nvSpPr>
        <p:spPr>
          <a:xfrm>
            <a:off x="10094976" y="3072384"/>
            <a:ext cx="1106424"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PatientData</a:t>
            </a:r>
            <a:endParaRPr/>
          </a:p>
        </p:txBody>
      </p:sp>
      <p:cxnSp>
        <p:nvCxnSpPr>
          <p:cNvPr id="402" name="Google Shape;402;p11"/>
          <p:cNvCxnSpPr/>
          <p:nvPr/>
        </p:nvCxnSpPr>
        <p:spPr>
          <a:xfrm>
            <a:off x="9637776" y="3182112"/>
            <a:ext cx="320040" cy="0"/>
          </a:xfrm>
          <a:prstGeom prst="straightConnector1">
            <a:avLst/>
          </a:prstGeom>
          <a:noFill/>
          <a:ln cap="flat" cmpd="sng" w="29200">
            <a:solidFill>
              <a:srgbClr val="3A7D8C"/>
            </a:solidFill>
            <a:prstDash val="solid"/>
            <a:miter lim="8000"/>
            <a:headEnd len="sm" w="sm" type="none"/>
            <a:tailEnd len="med" w="med" type="triangle"/>
          </a:ln>
        </p:spPr>
      </p:cxnSp>
      <p:sp>
        <p:nvSpPr>
          <p:cNvPr id="403" name="Google Shape;403;p11"/>
          <p:cNvSpPr txBox="1"/>
          <p:nvPr/>
        </p:nvSpPr>
        <p:spPr>
          <a:xfrm>
            <a:off x="9473184" y="3547872"/>
            <a:ext cx="1609344" cy="246888"/>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2F6B78"/>
                </a:solidFill>
                <a:latin typeface="Consolas"/>
                <a:ea typeface="Consolas"/>
                <a:cs typeface="Consolas"/>
                <a:sym typeface="Consolas"/>
              </a:rPr>
              <a:t>hasPatientData</a:t>
            </a:r>
            <a:endParaRPr/>
          </a:p>
        </p:txBody>
      </p:sp>
      <p:sp>
        <p:nvSpPr>
          <p:cNvPr id="404" name="Google Shape;404;p11"/>
          <p:cNvSpPr txBox="1"/>
          <p:nvPr/>
        </p:nvSpPr>
        <p:spPr>
          <a:xfrm>
            <a:off x="8513064" y="4151376"/>
            <a:ext cx="269748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50">
                <a:solidFill>
                  <a:srgbClr val="5B6770"/>
                </a:solidFill>
                <a:latin typeface="Calibri"/>
                <a:ea typeface="Calibri"/>
                <a:cs typeface="Calibri"/>
                <a:sym typeface="Calibri"/>
              </a:rPr>
              <a:t>+ enriched annotations</a:t>
            </a:r>
            <a:endParaRPr/>
          </a:p>
        </p:txBody>
      </p:sp>
      <p:sp>
        <p:nvSpPr>
          <p:cNvPr id="405" name="Google Shape;405;p11"/>
          <p:cNvSpPr/>
          <p:nvPr/>
        </p:nvSpPr>
        <p:spPr>
          <a:xfrm>
            <a:off x="822960" y="4892040"/>
            <a:ext cx="10561320" cy="5943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6" name="Google Shape;406;p11"/>
          <p:cNvSpPr txBox="1"/>
          <p:nvPr/>
        </p:nvSpPr>
        <p:spPr>
          <a:xfrm>
            <a:off x="1024128" y="5038344"/>
            <a:ext cx="10131552" cy="265176"/>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600">
                <a:solidFill>
                  <a:srgbClr val="0B6E4F"/>
                </a:solidFill>
                <a:latin typeface="Calibri"/>
                <a:ea typeface="Calibri"/>
                <a:cs typeface="Calibri"/>
                <a:sym typeface="Calibri"/>
              </a:rPr>
              <a:t>THE LOOP   </a:t>
            </a:r>
            <a:r>
              <a:rPr b="0" lang="en-US" sz="1600">
                <a:solidFill>
                  <a:srgbClr val="1F2328"/>
                </a:solidFill>
                <a:latin typeface="Calibri"/>
                <a:ea typeface="Calibri"/>
                <a:cs typeface="Calibri"/>
                <a:sym typeface="Calibri"/>
              </a:rPr>
              <a:t>O₂ becomes a retrieval source for the next table → a coherent ontology grows.</a:t>
            </a:r>
            <a:endParaRPr/>
          </a:p>
        </p:txBody>
      </p:sp>
      <p:sp>
        <p:nvSpPr>
          <p:cNvPr id="407" name="Google Shape;407;p11"/>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11"/>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409" name="Google Shape;409;p11"/>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0" name="Google Shape;410;p11"/>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411" name="Google Shape;411;p11"/>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2" name="Google Shape;412;p11"/>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413" name="Google Shape;413;p11"/>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11"/>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415" name="Google Shape;415;p11"/>
          <p:cNvSpPr/>
          <p:nvPr/>
        </p:nvSpPr>
        <p:spPr>
          <a:xfrm>
            <a:off x="8156448"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6" name="Google Shape;416;p11"/>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5  VALIDATE</a:t>
            </a:r>
            <a:endParaRPr/>
          </a:p>
        </p:txBody>
      </p:sp>
      <p:sp>
        <p:nvSpPr>
          <p:cNvPr id="417" name="Google Shape;417;p11"/>
          <p:cNvSpPr/>
          <p:nvPr/>
        </p:nvSpPr>
        <p:spPr>
          <a:xfrm>
            <a:off x="999439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11"/>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6  MERGE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12"/>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25" name="Google Shape;425;p12"/>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1. Follow the foreign keys</a:t>
            </a:r>
            <a:endParaRPr/>
          </a:p>
        </p:txBody>
      </p:sp>
      <p:sp>
        <p:nvSpPr>
          <p:cNvPr id="426" name="Google Shape;426;p12"/>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1(a)  ·  Start where the foreign-key dependencies begin.</a:t>
            </a:r>
            <a:endParaRPr/>
          </a:p>
        </p:txBody>
      </p:sp>
      <p:sp>
        <p:nvSpPr>
          <p:cNvPr id="427" name="Google Shape;427;p12"/>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12"/>
          <p:cNvSpPr/>
          <p:nvPr/>
        </p:nvSpPr>
        <p:spPr>
          <a:xfrm>
            <a:off x="10049256"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12"/>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0" name="Google Shape;430;p12"/>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1" name="Google Shape;431;p12"/>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2" name="Google Shape;432;p12"/>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3" name="Google Shape;433;p12"/>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4" name="Google Shape;434;p12"/>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6  •  Parent tables must exist before their dependent tables are processed.</a:t>
            </a:r>
            <a:endParaRPr/>
          </a:p>
        </p:txBody>
      </p:sp>
      <p:sp>
        <p:nvSpPr>
          <p:cNvPr id="435" name="Google Shape;435;p12"/>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1 / 6</a:t>
            </a:r>
            <a:endParaRPr/>
          </a:p>
        </p:txBody>
      </p:sp>
      <p:cxnSp>
        <p:nvCxnSpPr>
          <p:cNvPr id="436" name="Google Shape;436;p12"/>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37" name="Google Shape;437;p12"/>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12"/>
          <p:cNvSpPr/>
          <p:nvPr/>
        </p:nvSpPr>
        <p:spPr>
          <a:xfrm>
            <a:off x="621792" y="3282696"/>
            <a:ext cx="1170432" cy="1133856"/>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2"/>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0" name="Google Shape;440;p12"/>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1" name="Google Shape;441;p12"/>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2" name="Google Shape;442;p12"/>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3" name="Google Shape;443;p12"/>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4" name="Google Shape;444;p12"/>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5" name="Google Shape;445;p12"/>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6" name="Google Shape;446;p12"/>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7" name="Google Shape;447;p12"/>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8" name="Google Shape;448;p12"/>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49" name="Google Shape;449;p12"/>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(a)</a:t>
            </a:r>
            <a:endParaRPr/>
          </a:p>
        </p:txBody>
      </p:sp>
      <p:sp>
        <p:nvSpPr>
          <p:cNvPr id="450" name="Google Shape;450;p12"/>
          <p:cNvSpPr/>
          <p:nvPr/>
        </p:nvSpPr>
        <p:spPr>
          <a:xfrm>
            <a:off x="1956816" y="3483864"/>
            <a:ext cx="1444752" cy="69494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12"/>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52" name="Google Shape;452;p12"/>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53" name="Google Shape;453;p12"/>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12"/>
          <p:cNvSpPr txBox="1"/>
          <p:nvPr/>
        </p:nvSpPr>
        <p:spPr>
          <a:xfrm>
            <a:off x="7315200" y="3374136"/>
            <a:ext cx="3639312" cy="27432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WHY THIS ORDER?</a:t>
            </a:r>
            <a:endParaRPr/>
          </a:p>
        </p:txBody>
      </p:sp>
      <p:sp>
        <p:nvSpPr>
          <p:cNvPr id="455" name="Google Shape;455;p12"/>
          <p:cNvSpPr txBox="1"/>
          <p:nvPr/>
        </p:nvSpPr>
        <p:spPr>
          <a:xfrm>
            <a:off x="7315200" y="3730752"/>
            <a:ext cx="3657600" cy="7132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800">
                <a:solidFill>
                  <a:srgbClr val="1F2328"/>
                </a:solidFill>
                <a:latin typeface="Calibri"/>
                <a:ea typeface="Calibri"/>
                <a:cs typeface="Calibri"/>
                <a:sym typeface="Calibri"/>
              </a:rPr>
              <a:t>PatientData is processed before admission, so later generation can reuse an existing class.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13"/>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62" name="Google Shape;462;p13"/>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2. Anchor generation in the schema</a:t>
            </a:r>
            <a:endParaRPr/>
          </a:p>
        </p:txBody>
      </p:sp>
      <p:sp>
        <p:nvSpPr>
          <p:cNvPr id="463" name="Google Shape;463;p13"/>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1(b)  ·  The schema-grounded branch feeds the generation step.</a:t>
            </a:r>
            <a:endParaRPr/>
          </a:p>
        </p:txBody>
      </p:sp>
      <p:sp>
        <p:nvSpPr>
          <p:cNvPr id="464" name="Google Shape;464;p13"/>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5" name="Google Shape;465;p13"/>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13"/>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13"/>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3"/>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3"/>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3"/>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3"/>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7  •  The deterministic seed covers the cleaned table before LLM enrichment.</a:t>
            </a:r>
            <a:endParaRPr/>
          </a:p>
        </p:txBody>
      </p:sp>
      <p:sp>
        <p:nvSpPr>
          <p:cNvPr id="472" name="Google Shape;472;p13"/>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2 / 6</a:t>
            </a:r>
            <a:endParaRPr/>
          </a:p>
        </p:txBody>
      </p:sp>
      <p:cxnSp>
        <p:nvCxnSpPr>
          <p:cNvPr id="473" name="Google Shape;473;p13"/>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74" name="Google Shape;474;p13"/>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75" name="Google Shape;475;p13"/>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476" name="Google Shape;476;p13"/>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477" name="Google Shape;477;p13"/>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478" name="Google Shape;478;p13"/>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13"/>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80" name="Google Shape;480;p13"/>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1" name="Google Shape;481;p13"/>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2" name="Google Shape;482;p13"/>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3" name="Google Shape;483;p13"/>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4" name="Google Shape;484;p13"/>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5" name="Google Shape;485;p13"/>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6" name="Google Shape;486;p13"/>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7" name="Google Shape;487;p13"/>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8" name="Google Shape;488;p13"/>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9" name="Google Shape;489;p13"/>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90" name="Google Shape;490;p13"/>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491" name="Google Shape;491;p13"/>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13"/>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93" name="Google Shape;493;p13"/>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94" name="Google Shape;494;p13"/>
          <p:cNvSpPr/>
          <p:nvPr/>
        </p:nvSpPr>
        <p:spPr>
          <a:xfrm>
            <a:off x="3776472" y="2148840"/>
            <a:ext cx="2103120" cy="758952"/>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13"/>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(b)</a:t>
            </a:r>
            <a:endParaRPr/>
          </a:p>
        </p:txBody>
      </p:sp>
      <p:sp>
        <p:nvSpPr>
          <p:cNvPr id="496" name="Google Shape;496;p13"/>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497" name="Google Shape;497;p13"/>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498" name="Google Shape;498;p13"/>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9" name="Google Shape;499;p13"/>
          <p:cNvSpPr txBox="1"/>
          <p:nvPr/>
        </p:nvSpPr>
        <p:spPr>
          <a:xfrm>
            <a:off x="7315200" y="3355848"/>
            <a:ext cx="3611880" cy="23774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800">
                <a:solidFill>
                  <a:srgbClr val="0B6E4F"/>
                </a:solidFill>
                <a:latin typeface="Calibri"/>
                <a:ea typeface="Calibri"/>
                <a:cs typeface="Calibri"/>
                <a:sym typeface="Calibri"/>
              </a:rPr>
              <a:t>WHY SEED FIRST?</a:t>
            </a:r>
            <a:endParaRPr/>
          </a:p>
        </p:txBody>
      </p:sp>
      <p:sp>
        <p:nvSpPr>
          <p:cNvPr id="500" name="Google Shape;500;p13"/>
          <p:cNvSpPr txBox="1"/>
          <p:nvPr/>
        </p:nvSpPr>
        <p:spPr>
          <a:xfrm>
            <a:off x="7315200" y="3721608"/>
            <a:ext cx="3593592" cy="7589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700">
                <a:solidFill>
                  <a:srgbClr val="1F2328"/>
                </a:solidFill>
                <a:latin typeface="Calibri"/>
                <a:ea typeface="Calibri"/>
                <a:cs typeface="Calibri"/>
                <a:sym typeface="Calibri"/>
              </a:rPr>
              <a:t>Tables, columns and foreign keys are represented before semantic enrichment.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14"/>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07" name="Google Shape;507;p14"/>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3. Retrieve the missing semantics</a:t>
            </a:r>
            <a:endParaRPr/>
          </a:p>
        </p:txBody>
      </p:sp>
      <p:sp>
        <p:nvSpPr>
          <p:cNvPr id="508" name="Google Shape;508;p14"/>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1(c–e)  ·  Context is retrieved independently from three sources.</a:t>
            </a:r>
            <a:endParaRPr/>
          </a:p>
        </p:txBody>
      </p:sp>
      <p:sp>
        <p:nvSpPr>
          <p:cNvPr id="509" name="Google Shape;509;p14"/>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14"/>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1" name="Google Shape;511;p14"/>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2" name="Google Shape;512;p14"/>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3" name="Google Shape;513;p14"/>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4" name="Google Shape;514;p14"/>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5" name="Google Shape;515;p14"/>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14"/>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8  •  Three sources feed generation: external ontologies, documentation, and core.</a:t>
            </a:r>
            <a:endParaRPr/>
          </a:p>
        </p:txBody>
      </p:sp>
      <p:sp>
        <p:nvSpPr>
          <p:cNvPr id="517" name="Google Shape;517;p14"/>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3 / 6</a:t>
            </a:r>
            <a:endParaRPr/>
          </a:p>
        </p:txBody>
      </p:sp>
      <p:cxnSp>
        <p:nvCxnSpPr>
          <p:cNvPr id="518" name="Google Shape;518;p14"/>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19" name="Google Shape;519;p14"/>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0" name="Google Shape;520;p14"/>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21" name="Google Shape;521;p14"/>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22" name="Google Shape;522;p14"/>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23" name="Google Shape;523;p14"/>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4" name="Google Shape;524;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5" name="Google Shape;525;p14"/>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26" name="Google Shape;526;p14"/>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27" name="Google Shape;527;p14"/>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8" name="Google Shape;528;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9" name="Google Shape;529;p14"/>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530" name="Google Shape;530;p14"/>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1" name="Google Shape;531;p14"/>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2" name="Google Shape;532;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33" name="Google Shape;533;p14"/>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534" name="Google Shape;534;p14"/>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5" name="Google Shape;535;p14"/>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6" name="Google Shape;536;p14"/>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4"/>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8" name="Google Shape;538;p14"/>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39" name="Google Shape;539;p14"/>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0" name="Google Shape;540;p14"/>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1" name="Google Shape;541;p14"/>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2" name="Google Shape;542;p14"/>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3" name="Google Shape;543;p14"/>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4" name="Google Shape;544;p14"/>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5" name="Google Shape;545;p14"/>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6" name="Google Shape;546;p14"/>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547" name="Google Shape;547;p14"/>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548" name="Google Shape;548;p14"/>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14"/>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550" name="Google Shape;550;p14"/>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551" name="Google Shape;551;p14"/>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4"/>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553" name="Google Shape;553;p14"/>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554" name="Google Shape;554;p14"/>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555" name="Google Shape;555;p14"/>
          <p:cNvSpPr/>
          <p:nvPr/>
        </p:nvSpPr>
        <p:spPr>
          <a:xfrm>
            <a:off x="3630168" y="3063240"/>
            <a:ext cx="3218688" cy="2432304"/>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14"/>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0B6E4F"/>
                </a:solidFill>
                <a:latin typeface="Calibri"/>
                <a:ea typeface="Calibri"/>
                <a:cs typeface="Calibri"/>
                <a:sym typeface="Calibri"/>
              </a:rPr>
              <a:t>RETRIEVAL  •  top-k per source</a:t>
            </a:r>
            <a:endParaRPr/>
          </a:p>
        </p:txBody>
      </p:sp>
      <p:sp>
        <p:nvSpPr>
          <p:cNvPr id="557" name="Google Shape;557;p14"/>
          <p:cNvSpPr/>
          <p:nvPr/>
        </p:nvSpPr>
        <p:spPr>
          <a:xfrm>
            <a:off x="3776472" y="3383280"/>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8" name="Google Shape;558;p14"/>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559" name="Google Shape;559;p14"/>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560" name="Google Shape;560;p14"/>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561" name="Google Shape;561;p14"/>
          <p:cNvSpPr/>
          <p:nvPr/>
        </p:nvSpPr>
        <p:spPr>
          <a:xfrm>
            <a:off x="3776472" y="4087368"/>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14"/>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563" name="Google Shape;563;p14"/>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564" name="Google Shape;564;p14"/>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565" name="Google Shape;565;p14"/>
          <p:cNvSpPr/>
          <p:nvPr/>
        </p:nvSpPr>
        <p:spPr>
          <a:xfrm>
            <a:off x="3776472" y="4791456"/>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6" name="Google Shape;566;p14"/>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567" name="Google Shape;567;p14"/>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568" name="Google Shape;568;p14"/>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569" name="Google Shape;569;p14"/>
          <p:cNvSpPr/>
          <p:nvPr/>
        </p:nvSpPr>
        <p:spPr>
          <a:xfrm>
            <a:off x="7141464" y="3127248"/>
            <a:ext cx="4059936" cy="1746504"/>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14"/>
          <p:cNvSpPr txBox="1"/>
          <p:nvPr/>
        </p:nvSpPr>
        <p:spPr>
          <a:xfrm>
            <a:off x="7388352" y="3355848"/>
            <a:ext cx="3621024"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THREE SOURCES, THREE ROLES</a:t>
            </a:r>
            <a:endParaRPr/>
          </a:p>
        </p:txBody>
      </p:sp>
      <p:sp>
        <p:nvSpPr>
          <p:cNvPr id="571" name="Google Shape;571;p14"/>
          <p:cNvSpPr txBox="1"/>
          <p:nvPr/>
        </p:nvSpPr>
        <p:spPr>
          <a:xfrm>
            <a:off x="7388352" y="3749039"/>
            <a:ext cx="3621024" cy="85039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900">
                <a:solidFill>
                  <a:srgbClr val="1F2328"/>
                </a:solidFill>
                <a:latin typeface="Calibri"/>
                <a:ea typeface="Calibri"/>
                <a:cs typeface="Calibri"/>
                <a:sym typeface="Calibri"/>
              </a:rPr>
              <a:t>Domain reuse   •   Meaning of codes</a:t>
            </a:r>
            <a:br>
              <a:rPr b="0" lang="en-US" sz="1900">
                <a:solidFill>
                  <a:srgbClr val="1F2328"/>
                </a:solidFill>
                <a:latin typeface="Calibri"/>
                <a:ea typeface="Calibri"/>
                <a:cs typeface="Calibri"/>
                <a:sym typeface="Calibri"/>
              </a:rPr>
            </a:br>
            <a:r>
              <a:rPr b="0" lang="en-US" sz="1900">
                <a:solidFill>
                  <a:srgbClr val="1F2328"/>
                </a:solidFill>
                <a:latin typeface="Calibri"/>
                <a:ea typeface="Calibri"/>
                <a:cs typeface="Calibri"/>
                <a:sym typeface="Calibri"/>
              </a:rPr>
              <a:t>Cross-table coherence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15"/>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78" name="Google Shape;578;p15"/>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4. Generate a delta ontology</a:t>
            </a:r>
            <a:endParaRPr/>
          </a:p>
        </p:txBody>
      </p:sp>
      <p:sp>
        <p:nvSpPr>
          <p:cNvPr id="579" name="Google Shape;579;p15"/>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1(f–g)  ·  The Gen-LLM receives the seed and retrieved context.</a:t>
            </a:r>
            <a:endParaRPr/>
          </a:p>
        </p:txBody>
      </p:sp>
      <p:sp>
        <p:nvSpPr>
          <p:cNvPr id="580" name="Google Shape;580;p15"/>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15"/>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2" name="Google Shape;582;p15"/>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15"/>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4" name="Google Shape;584;p15"/>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15"/>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15"/>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7" name="Google Shape;587;p15"/>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9  •  The Gen-LLM enriches the structural seed; the output is a delta ontology.</a:t>
            </a:r>
            <a:endParaRPr/>
          </a:p>
        </p:txBody>
      </p:sp>
      <p:sp>
        <p:nvSpPr>
          <p:cNvPr id="588" name="Google Shape;588;p15"/>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4 / 6</a:t>
            </a:r>
            <a:endParaRPr/>
          </a:p>
        </p:txBody>
      </p:sp>
      <p:cxnSp>
        <p:nvCxnSpPr>
          <p:cNvPr id="589" name="Google Shape;589;p15"/>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90" name="Google Shape;590;p15"/>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1" name="Google Shape;591;p15"/>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92" name="Google Shape;592;p15"/>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93" name="Google Shape;593;p15"/>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94" name="Google Shape;594;p15"/>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5" name="Google Shape;595;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96" name="Google Shape;596;p15"/>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97" name="Google Shape;597;p15"/>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98" name="Google Shape;598;p15"/>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9" name="Google Shape;599;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0" name="Google Shape;600;p15"/>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01" name="Google Shape;601;p15"/>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2" name="Google Shape;602;p15"/>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3" name="Google Shape;603;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4" name="Google Shape;604;p15"/>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05" name="Google Shape;605;p15"/>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6" name="Google Shape;606;p15"/>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7" name="Google Shape;607;p15"/>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08" name="Google Shape;608;p15"/>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09" name="Google Shape;609;p15"/>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0" name="Google Shape;610;p15"/>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1" name="Google Shape;611;p15"/>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612" name="Google Shape;612;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3" name="Google Shape;613;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4" name="Google Shape;614;p15"/>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615" name="Google Shape;615;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6" name="Google Shape;616;p15"/>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7" name="Google Shape;617;p15"/>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618" name="Google Shape;618;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9" name="Google Shape;619;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0" name="Google Shape;620;p15"/>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15"/>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2" name="Google Shape;622;p15"/>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3" name="Google Shape;623;p15"/>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4" name="Google Shape;624;p15"/>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5" name="Google Shape;625;p15"/>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6" name="Google Shape;626;p15"/>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7" name="Google Shape;627;p15"/>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8" name="Google Shape;628;p15"/>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9" name="Google Shape;629;p15"/>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30" name="Google Shape;630;p15"/>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631" name="Google Shape;631;p15"/>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632" name="Google Shape;632;p15"/>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3" name="Google Shape;633;p15"/>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634" name="Google Shape;634;p15"/>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635" name="Google Shape;635;p15"/>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15"/>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637" name="Google Shape;637;p15"/>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638" name="Google Shape;638;p15"/>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639" name="Google Shape;639;p15"/>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15"/>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641" name="Google Shape;641;p15"/>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15"/>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643" name="Google Shape;643;p15"/>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644" name="Google Shape;644;p15"/>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645" name="Google Shape;645;p15"/>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15"/>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647" name="Google Shape;647;p15"/>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648" name="Google Shape;648;p15"/>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649" name="Google Shape;649;p15"/>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15"/>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651" name="Google Shape;651;p15"/>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652" name="Google Shape;652;p15"/>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653" name="Google Shape;653;p15"/>
          <p:cNvSpPr/>
          <p:nvPr/>
        </p:nvSpPr>
        <p:spPr>
          <a:xfrm>
            <a:off x="7150608" y="3666744"/>
            <a:ext cx="1335024" cy="822960"/>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15"/>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(f)</a:t>
            </a:r>
            <a:endParaRPr/>
          </a:p>
        </p:txBody>
      </p:sp>
      <p:sp>
        <p:nvSpPr>
          <p:cNvPr id="655" name="Google Shape;655;p15"/>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656" name="Google Shape;656;p15"/>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657" name="Google Shape;657;p15"/>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658" name="Google Shape;658;p15"/>
          <p:cNvSpPr/>
          <p:nvPr/>
        </p:nvSpPr>
        <p:spPr>
          <a:xfrm>
            <a:off x="9208008" y="3355848"/>
            <a:ext cx="2176272" cy="1325880"/>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9" name="Google Shape;659;p15"/>
          <p:cNvSpPr txBox="1"/>
          <p:nvPr/>
        </p:nvSpPr>
        <p:spPr>
          <a:xfrm>
            <a:off x="9400032" y="3547872"/>
            <a:ext cx="1783080" cy="26517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0B6E4F"/>
                </a:solidFill>
                <a:latin typeface="Calibri"/>
                <a:ea typeface="Calibri"/>
                <a:cs typeface="Calibri"/>
                <a:sym typeface="Calibri"/>
              </a:rPr>
              <a:t>DELTA ONTOLOGY</a:t>
            </a:r>
            <a:endParaRPr/>
          </a:p>
        </p:txBody>
      </p:sp>
      <p:sp>
        <p:nvSpPr>
          <p:cNvPr id="660" name="Google Shape;660;p15"/>
          <p:cNvSpPr txBox="1"/>
          <p:nvPr/>
        </p:nvSpPr>
        <p:spPr>
          <a:xfrm>
            <a:off x="9400032" y="3886200"/>
            <a:ext cx="1764792" cy="63093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1F2328"/>
                </a:solidFill>
                <a:latin typeface="Calibri"/>
                <a:ea typeface="Calibri"/>
                <a:cs typeface="Calibri"/>
                <a:sym typeface="Calibri"/>
              </a:rPr>
              <a:t>Semantic axioms + provenance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5" name="Shape 665"/>
        <p:cNvGrpSpPr/>
        <p:nvPr/>
      </p:nvGrpSpPr>
      <p:grpSpPr>
        <a:xfrm>
          <a:off x="0" y="0"/>
          <a:ext cx="0" cy="0"/>
          <a:chOff x="0" y="0"/>
          <a:chExt cx="0" cy="0"/>
        </a:xfrm>
      </p:grpSpPr>
      <p:sp>
        <p:nvSpPr>
          <p:cNvPr id="666" name="Google Shape;666;p16"/>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667" name="Google Shape;667;p16"/>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5. Validate before integration</a:t>
            </a:r>
            <a:endParaRPr/>
          </a:p>
        </p:txBody>
      </p:sp>
      <p:sp>
        <p:nvSpPr>
          <p:cNvPr id="668" name="Google Shape;668;p16"/>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1(h)  ·  Validate and refine each delta before it joins the core.</a:t>
            </a:r>
            <a:endParaRPr/>
          </a:p>
        </p:txBody>
      </p:sp>
      <p:sp>
        <p:nvSpPr>
          <p:cNvPr id="669" name="Google Shape;669;p16"/>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16"/>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1" name="Google Shape;671;p16"/>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16"/>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3" name="Google Shape;673;p16"/>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16"/>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5" name="Google Shape;675;p16"/>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16"/>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10  •  Reject or correct errors before allowing a fragment into the core ontology.</a:t>
            </a:r>
            <a:endParaRPr/>
          </a:p>
        </p:txBody>
      </p:sp>
      <p:sp>
        <p:nvSpPr>
          <p:cNvPr id="677" name="Google Shape;677;p16"/>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5 / 6</a:t>
            </a:r>
            <a:endParaRPr/>
          </a:p>
        </p:txBody>
      </p:sp>
      <p:cxnSp>
        <p:nvCxnSpPr>
          <p:cNvPr id="678" name="Google Shape;678;p16"/>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679" name="Google Shape;679;p16"/>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0" name="Google Shape;680;p16"/>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681" name="Google Shape;681;p16"/>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682" name="Google Shape;682;p16"/>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683" name="Google Shape;683;p16"/>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4" name="Google Shape;684;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5" name="Google Shape;685;p16"/>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686" name="Google Shape;686;p16"/>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87" name="Google Shape;687;p16"/>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8" name="Google Shape;688;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9" name="Google Shape;689;p16"/>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90" name="Google Shape;690;p16"/>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1" name="Google Shape;691;p16"/>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2" name="Google Shape;692;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93" name="Google Shape;693;p16"/>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94" name="Google Shape;694;p16"/>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5" name="Google Shape;695;p16"/>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6" name="Google Shape;696;p16"/>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97" name="Google Shape;697;p16"/>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98" name="Google Shape;698;p16"/>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9" name="Google Shape;699;p16"/>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0" name="Google Shape;700;p16"/>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01" name="Google Shape;701;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2" name="Google Shape;702;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3" name="Google Shape;703;p16"/>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04" name="Google Shape;704;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5" name="Google Shape;705;p16"/>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6" name="Google Shape;706;p16"/>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707" name="Google Shape;707;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8" name="Google Shape;708;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9" name="Google Shape;709;p16"/>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710" name="Google Shape;710;p16"/>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1" name="Google Shape;711;p16"/>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2" name="Google Shape;712;p16"/>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3" name="Google Shape;713;p16"/>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4" name="Google Shape;714;p16"/>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5" name="Google Shape;715;p16"/>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6" name="Google Shape;716;p16"/>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7" name="Google Shape;717;p16"/>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8" name="Google Shape;718;p16"/>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9" name="Google Shape;719;p16"/>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20" name="Google Shape;720;p16"/>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21" name="Google Shape;721;p16"/>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722" name="Google Shape;722;p16"/>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723" name="Google Shape;723;p16"/>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4" name="Google Shape;724;p16"/>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725" name="Google Shape;725;p16"/>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726" name="Google Shape;726;p16"/>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7" name="Google Shape;727;p16"/>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728" name="Google Shape;728;p16"/>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729" name="Google Shape;729;p16"/>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730" name="Google Shape;730;p16"/>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1" name="Google Shape;731;p16"/>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732" name="Google Shape;732;p16"/>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3" name="Google Shape;733;p16"/>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734" name="Google Shape;734;p16"/>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735" name="Google Shape;735;p16"/>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736" name="Google Shape;736;p16"/>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7" name="Google Shape;737;p16"/>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738" name="Google Shape;738;p16"/>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739" name="Google Shape;739;p16"/>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740" name="Google Shape;740;p16"/>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1" name="Google Shape;741;p16"/>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742" name="Google Shape;742;p16"/>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743" name="Google Shape;743;p16"/>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744" name="Google Shape;744;p16"/>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5" name="Google Shape;745;p16"/>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746" name="Google Shape;746;p16"/>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747" name="Google Shape;747;p16"/>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748" name="Google Shape;748;p16"/>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749" name="Google Shape;749;p16"/>
          <p:cNvSpPr/>
          <p:nvPr/>
        </p:nvSpPr>
        <p:spPr>
          <a:xfrm>
            <a:off x="9354312" y="3502152"/>
            <a:ext cx="2121408" cy="1115568"/>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0" name="Google Shape;750;p16"/>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(h)</a:t>
            </a:r>
            <a:endParaRPr/>
          </a:p>
        </p:txBody>
      </p:sp>
      <p:sp>
        <p:nvSpPr>
          <p:cNvPr id="751" name="Google Shape;751;p16"/>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752" name="Google Shape;752;p16"/>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753" name="Google Shape;753;p16"/>
          <p:cNvSpPr txBox="1"/>
          <p:nvPr/>
        </p:nvSpPr>
        <p:spPr>
          <a:xfrm>
            <a:off x="9326880" y="4992624"/>
            <a:ext cx="2194560" cy="62179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550">
                <a:solidFill>
                  <a:srgbClr val="0B6E4F"/>
                </a:solidFill>
                <a:latin typeface="Calibri"/>
                <a:ea typeface="Calibri"/>
                <a:cs typeface="Calibri"/>
                <a:sym typeface="Calibri"/>
              </a:rPr>
              <a:t>Next: integrate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17"/>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760" name="Google Shape;760;p17"/>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6. Integrate and reuse the growing core</a:t>
            </a:r>
            <a:endParaRPr/>
          </a:p>
        </p:txBody>
      </p:sp>
      <p:sp>
        <p:nvSpPr>
          <p:cNvPr id="761" name="Google Shape;761;p17"/>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1(i)  ·  The growing core feeds the next generation iteration.</a:t>
            </a:r>
            <a:endParaRPr/>
          </a:p>
        </p:txBody>
      </p:sp>
      <p:sp>
        <p:nvSpPr>
          <p:cNvPr id="762" name="Google Shape;762;p17"/>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3" name="Google Shape;763;p17"/>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4" name="Google Shape;764;p17"/>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5" name="Google Shape;765;p17"/>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6" name="Google Shape;766;p17"/>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7" name="Google Shape;767;p17"/>
          <p:cNvSpPr/>
          <p:nvPr/>
        </p:nvSpPr>
        <p:spPr>
          <a:xfrm>
            <a:off x="1147572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8" name="Google Shape;768;p17"/>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9" name="Google Shape;769;p17"/>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11  •  The validated result becomes context for generating the next table.</a:t>
            </a:r>
            <a:endParaRPr/>
          </a:p>
        </p:txBody>
      </p:sp>
      <p:sp>
        <p:nvSpPr>
          <p:cNvPr id="770" name="Google Shape;770;p17"/>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6 / 6</a:t>
            </a:r>
            <a:endParaRPr/>
          </a:p>
        </p:txBody>
      </p:sp>
      <p:cxnSp>
        <p:nvCxnSpPr>
          <p:cNvPr id="771" name="Google Shape;771;p17"/>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772" name="Google Shape;772;p17"/>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3" name="Google Shape;773;p17"/>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774" name="Google Shape;774;p17"/>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775" name="Google Shape;775;p17"/>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776" name="Google Shape;776;p17"/>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7" name="Google Shape;777;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78" name="Google Shape;778;p17"/>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779" name="Google Shape;779;p17"/>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0" name="Google Shape;780;p17"/>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1" name="Google Shape;781;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2" name="Google Shape;782;p17"/>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783" name="Google Shape;783;p17"/>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4" name="Google Shape;784;p17"/>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5" name="Google Shape;785;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6" name="Google Shape;786;p17"/>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787" name="Google Shape;787;p17"/>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8" name="Google Shape;788;p17"/>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9" name="Google Shape;789;p17"/>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790" name="Google Shape;790;p17"/>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791" name="Google Shape;791;p17"/>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2" name="Google Shape;792;p17"/>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3" name="Google Shape;793;p17"/>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94" name="Google Shape;794;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95" name="Google Shape;795;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6" name="Google Shape;796;p17"/>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97" name="Google Shape;797;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8" name="Google Shape;798;p17"/>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9" name="Google Shape;799;p17"/>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800" name="Google Shape;800;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801" name="Google Shape;801;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2" name="Google Shape;802;p17"/>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803" name="Google Shape;803;p17"/>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4" name="Google Shape;804;p17"/>
          <p:cNvCxnSpPr/>
          <p:nvPr/>
        </p:nvCxnSpPr>
        <p:spPr>
          <a:xfrm>
            <a:off x="10451592" y="4608576"/>
            <a:ext cx="0" cy="438912"/>
          </a:xfrm>
          <a:prstGeom prst="straightConnector1">
            <a:avLst/>
          </a:prstGeom>
          <a:noFill/>
          <a:ln cap="flat" cmpd="sng" w="33000">
            <a:solidFill>
              <a:srgbClr val="177A55"/>
            </a:solidFill>
            <a:prstDash val="solid"/>
            <a:miter lim="8000"/>
            <a:headEnd len="sm" w="sm" type="none"/>
            <a:tailEnd len="sm" w="sm" type="none"/>
          </a:ln>
        </p:spPr>
      </p:cxnSp>
      <p:sp>
        <p:nvSpPr>
          <p:cNvPr id="805" name="Google Shape;805;p17"/>
          <p:cNvSpPr/>
          <p:nvPr/>
        </p:nvSpPr>
        <p:spPr>
          <a:xfrm rot="10800000">
            <a:off x="10387584" y="4983479"/>
            <a:ext cx="128016" cy="128016"/>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6" name="Google Shape;806;p17"/>
          <p:cNvCxnSpPr/>
          <p:nvPr/>
        </p:nvCxnSpPr>
        <p:spPr>
          <a:xfrm rot="10800000">
            <a:off x="8924544" y="5449824"/>
            <a:ext cx="466344" cy="0"/>
          </a:xfrm>
          <a:prstGeom prst="straightConnector1">
            <a:avLst/>
          </a:prstGeom>
          <a:noFill/>
          <a:ln cap="flat" cmpd="sng" w="31750">
            <a:solidFill>
              <a:srgbClr val="177A55"/>
            </a:solidFill>
            <a:prstDash val="solid"/>
            <a:miter lim="8000"/>
            <a:headEnd len="sm" w="sm" type="none"/>
            <a:tailEnd len="sm" w="sm" type="none"/>
          </a:ln>
        </p:spPr>
      </p:cxnSp>
      <p:cxnSp>
        <p:nvCxnSpPr>
          <p:cNvPr id="807" name="Google Shape;807;p17"/>
          <p:cNvCxnSpPr/>
          <p:nvPr/>
        </p:nvCxnSpPr>
        <p:spPr>
          <a:xfrm>
            <a:off x="8924544" y="5449824"/>
            <a:ext cx="0" cy="365760"/>
          </a:xfrm>
          <a:prstGeom prst="straightConnector1">
            <a:avLst/>
          </a:prstGeom>
          <a:noFill/>
          <a:ln cap="flat" cmpd="sng" w="31750">
            <a:solidFill>
              <a:srgbClr val="177A55"/>
            </a:solidFill>
            <a:prstDash val="solid"/>
            <a:miter lim="8000"/>
            <a:headEnd len="sm" w="sm" type="none"/>
            <a:tailEnd len="sm" w="sm" type="none"/>
          </a:ln>
        </p:spPr>
      </p:cxnSp>
      <p:cxnSp>
        <p:nvCxnSpPr>
          <p:cNvPr id="808" name="Google Shape;808;p17"/>
          <p:cNvCxnSpPr/>
          <p:nvPr/>
        </p:nvCxnSpPr>
        <p:spPr>
          <a:xfrm rot="10800000">
            <a:off x="6967728" y="5815584"/>
            <a:ext cx="1956816" cy="0"/>
          </a:xfrm>
          <a:prstGeom prst="straightConnector1">
            <a:avLst/>
          </a:prstGeom>
          <a:noFill/>
          <a:ln cap="flat" cmpd="sng" w="31750">
            <a:solidFill>
              <a:srgbClr val="177A55"/>
            </a:solidFill>
            <a:prstDash val="solid"/>
            <a:miter lim="8000"/>
            <a:headEnd len="sm" w="sm" type="none"/>
            <a:tailEnd len="sm" w="sm" type="none"/>
          </a:ln>
        </p:spPr>
      </p:cxnSp>
      <p:cxnSp>
        <p:nvCxnSpPr>
          <p:cNvPr id="809" name="Google Shape;809;p17"/>
          <p:cNvCxnSpPr/>
          <p:nvPr/>
        </p:nvCxnSpPr>
        <p:spPr>
          <a:xfrm rot="10800000">
            <a:off x="6967728" y="5020056"/>
            <a:ext cx="0" cy="795528"/>
          </a:xfrm>
          <a:prstGeom prst="straightConnector1">
            <a:avLst/>
          </a:prstGeom>
          <a:noFill/>
          <a:ln cap="flat" cmpd="sng" w="31750">
            <a:solidFill>
              <a:srgbClr val="177A55"/>
            </a:solidFill>
            <a:prstDash val="solid"/>
            <a:miter lim="8000"/>
            <a:headEnd len="sm" w="sm" type="none"/>
            <a:tailEnd len="sm" w="sm" type="none"/>
          </a:ln>
        </p:spPr>
      </p:cxnSp>
      <p:cxnSp>
        <p:nvCxnSpPr>
          <p:cNvPr id="810" name="Google Shape;810;p17"/>
          <p:cNvCxnSpPr/>
          <p:nvPr/>
        </p:nvCxnSpPr>
        <p:spPr>
          <a:xfrm rot="10800000">
            <a:off x="6766560" y="5020056"/>
            <a:ext cx="201168" cy="0"/>
          </a:xfrm>
          <a:prstGeom prst="straightConnector1">
            <a:avLst/>
          </a:prstGeom>
          <a:noFill/>
          <a:ln cap="flat" cmpd="sng" w="31750">
            <a:solidFill>
              <a:srgbClr val="177A55"/>
            </a:solidFill>
            <a:prstDash val="solid"/>
            <a:miter lim="8000"/>
            <a:headEnd len="sm" w="sm" type="none"/>
            <a:tailEnd len="sm" w="sm" type="none"/>
          </a:ln>
        </p:spPr>
      </p:cxnSp>
      <p:sp>
        <p:nvSpPr>
          <p:cNvPr id="812" name="Google Shape;812;p17"/>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13" name="Google Shape;813;p17"/>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4" name="Google Shape;814;p17"/>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5" name="Google Shape;815;p17"/>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6" name="Google Shape;816;p17"/>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7" name="Google Shape;817;p17"/>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8" name="Google Shape;818;p17"/>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9" name="Google Shape;819;p17"/>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20" name="Google Shape;820;p17"/>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21" name="Google Shape;821;p17"/>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22" name="Google Shape;822;p17"/>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823" name="Google Shape;823;p17"/>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824" name="Google Shape;824;p17"/>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5" name="Google Shape;825;p17"/>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826" name="Google Shape;826;p17"/>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827" name="Google Shape;827;p17"/>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8" name="Google Shape;828;p17"/>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829" name="Google Shape;829;p17"/>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830" name="Google Shape;830;p17"/>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831" name="Google Shape;831;p17"/>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2" name="Google Shape;832;p17"/>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833" name="Google Shape;833;p17"/>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4" name="Google Shape;834;p17"/>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835" name="Google Shape;835;p17"/>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836" name="Google Shape;836;p17"/>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837" name="Google Shape;837;p17"/>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8" name="Google Shape;838;p17"/>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839" name="Google Shape;839;p17"/>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840" name="Google Shape;840;p17"/>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841" name="Google Shape;841;p17"/>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2" name="Google Shape;842;p17"/>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843" name="Google Shape;843;p17"/>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844" name="Google Shape;844;p17"/>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845" name="Google Shape;845;p17"/>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6" name="Google Shape;846;p17"/>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847" name="Google Shape;847;p17"/>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848" name="Google Shape;848;p17"/>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849" name="Google Shape;849;p17"/>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850" name="Google Shape;850;p17"/>
          <p:cNvSpPr/>
          <p:nvPr/>
        </p:nvSpPr>
        <p:spPr>
          <a:xfrm>
            <a:off x="9354312" y="3502152"/>
            <a:ext cx="2121408" cy="1115568"/>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1" name="Google Shape;851;p17"/>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(h)</a:t>
            </a:r>
            <a:endParaRPr/>
          </a:p>
        </p:txBody>
      </p:sp>
      <p:sp>
        <p:nvSpPr>
          <p:cNvPr id="852" name="Google Shape;852;p17"/>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853" name="Google Shape;853;p17"/>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854" name="Google Shape;854;p17"/>
          <p:cNvSpPr/>
          <p:nvPr/>
        </p:nvSpPr>
        <p:spPr>
          <a:xfrm>
            <a:off x="9390888" y="5047488"/>
            <a:ext cx="2084831" cy="78638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5" name="Google Shape;855;p17"/>
          <p:cNvSpPr txBox="1"/>
          <p:nvPr/>
        </p:nvSpPr>
        <p:spPr>
          <a:xfrm>
            <a:off x="9464040" y="4837175"/>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(i)</a:t>
            </a:r>
            <a:endParaRPr/>
          </a:p>
        </p:txBody>
      </p:sp>
      <p:sp>
        <p:nvSpPr>
          <p:cNvPr id="856" name="Google Shape;856;p17"/>
          <p:cNvSpPr txBox="1"/>
          <p:nvPr/>
        </p:nvSpPr>
        <p:spPr>
          <a:xfrm>
            <a:off x="9473184" y="5166359"/>
            <a:ext cx="1920239"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Integrate ΔOᵣ</a:t>
            </a:r>
            <a:endParaRPr/>
          </a:p>
        </p:txBody>
      </p:sp>
      <p:sp>
        <p:nvSpPr>
          <p:cNvPr id="857" name="Google Shape;857;p17"/>
          <p:cNvSpPr txBox="1"/>
          <p:nvPr/>
        </p:nvSpPr>
        <p:spPr>
          <a:xfrm>
            <a:off x="9482328" y="5440679"/>
            <a:ext cx="1901951" cy="34747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Core Oₜ</a:t>
            </a:r>
            <a:endParaRPr/>
          </a:p>
        </p:txBody>
      </p:sp>
      <p:sp>
        <p:nvSpPr>
          <p:cNvPr id="858" name="Google Shape;858;p17"/>
          <p:cNvSpPr txBox="1"/>
          <p:nvPr/>
        </p:nvSpPr>
        <p:spPr>
          <a:xfrm>
            <a:off x="7214616" y="5522976"/>
            <a:ext cx="1737360" cy="20116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250">
                <a:solidFill>
                  <a:srgbClr val="177A55"/>
                </a:solidFill>
                <a:latin typeface="Calibri"/>
                <a:ea typeface="Calibri"/>
                <a:cs typeface="Calibri"/>
                <a:sym typeface="Calibri"/>
              </a:rPr>
              <a:t>Oₜ → next retrieval</a:t>
            </a:r>
            <a:endParaRPr/>
          </a:p>
        </p:txBody>
      </p:sp>
      <p:sp>
        <p:nvSpPr>
          <p:cNvPr id="811" name="Google Shape;811;p17"/>
          <p:cNvSpPr/>
          <p:nvPr/>
        </p:nvSpPr>
        <p:spPr>
          <a:xfrm rot="16200000">
            <a:off x="6638544" y="4956048"/>
            <a:ext cx="164592" cy="146304"/>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3" name="Shape 863"/>
        <p:cNvGrpSpPr/>
        <p:nvPr/>
      </p:nvGrpSpPr>
      <p:grpSpPr>
        <a:xfrm>
          <a:off x="0" y="0"/>
          <a:ext cx="0" cy="0"/>
          <a:chOff x="0" y="0"/>
          <a:chExt cx="0" cy="0"/>
        </a:xfrm>
      </p:grpSpPr>
      <p:sp>
        <p:nvSpPr>
          <p:cNvPr id="864" name="Google Shape;864;p1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TESTING THE PIPELINE</a:t>
            </a:r>
            <a:endParaRPr/>
          </a:p>
        </p:txBody>
      </p:sp>
      <p:sp>
        <p:nvSpPr>
          <p:cNvPr id="865" name="Google Shape;865;p1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Does the method work beyond our running example?</a:t>
            </a:r>
            <a:endParaRPr/>
          </a:p>
        </p:txBody>
      </p:sp>
      <p:sp>
        <p:nvSpPr>
          <p:cNvPr id="866" name="Google Shape;866;p1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Three databases, three generator models, four methods, evaluated from complementary angles.</a:t>
            </a:r>
            <a:endParaRPr/>
          </a:p>
        </p:txBody>
      </p:sp>
      <p:sp>
        <p:nvSpPr>
          <p:cNvPr id="867" name="Google Shape;867;p18"/>
          <p:cNvSpPr/>
          <p:nvPr/>
        </p:nvSpPr>
        <p:spPr>
          <a:xfrm>
            <a:off x="8321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8" name="Google Shape;868;p18"/>
          <p:cNvSpPr/>
          <p:nvPr/>
        </p:nvSpPr>
        <p:spPr>
          <a:xfrm>
            <a:off x="8321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9" name="Google Shape;869;p18"/>
          <p:cNvSpPr txBox="1"/>
          <p:nvPr/>
        </p:nvSpPr>
        <p:spPr>
          <a:xfrm>
            <a:off x="10241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LIVER CANCER</a:t>
            </a:r>
            <a:endParaRPr/>
          </a:p>
        </p:txBody>
      </p:sp>
      <p:sp>
        <p:nvSpPr>
          <p:cNvPr id="870" name="Google Shape;870;p18"/>
          <p:cNvSpPr txBox="1"/>
          <p:nvPr/>
        </p:nvSpPr>
        <p:spPr>
          <a:xfrm>
            <a:off x="10241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16 tables  ·  350 columns</a:t>
            </a:r>
            <a:endParaRPr/>
          </a:p>
        </p:txBody>
      </p:sp>
      <p:sp>
        <p:nvSpPr>
          <p:cNvPr id="871" name="Google Shape;871;p18"/>
          <p:cNvSpPr txBox="1"/>
          <p:nvPr/>
        </p:nvSpPr>
        <p:spPr>
          <a:xfrm>
            <a:off x="10241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specialist clinical registry</a:t>
            </a:r>
            <a:endParaRPr/>
          </a:p>
        </p:txBody>
      </p:sp>
      <p:sp>
        <p:nvSpPr>
          <p:cNvPr id="872" name="Google Shape;872;p18"/>
          <p:cNvSpPr/>
          <p:nvPr/>
        </p:nvSpPr>
        <p:spPr>
          <a:xfrm>
            <a:off x="44897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3" name="Google Shape;873;p18"/>
          <p:cNvSpPr/>
          <p:nvPr/>
        </p:nvSpPr>
        <p:spPr>
          <a:xfrm>
            <a:off x="44897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4" name="Google Shape;874;p18"/>
          <p:cNvSpPr txBox="1"/>
          <p:nvPr/>
        </p:nvSpPr>
        <p:spPr>
          <a:xfrm>
            <a:off x="46817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eICU-CRD</a:t>
            </a:r>
            <a:endParaRPr/>
          </a:p>
        </p:txBody>
      </p:sp>
      <p:sp>
        <p:nvSpPr>
          <p:cNvPr id="875" name="Google Shape;875;p18"/>
          <p:cNvSpPr txBox="1"/>
          <p:nvPr/>
        </p:nvSpPr>
        <p:spPr>
          <a:xfrm>
            <a:off x="46817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31 tables  ·  559 columns</a:t>
            </a:r>
            <a:endParaRPr/>
          </a:p>
        </p:txBody>
      </p:sp>
      <p:sp>
        <p:nvSpPr>
          <p:cNvPr id="876" name="Google Shape;876;p18"/>
          <p:cNvSpPr txBox="1"/>
          <p:nvPr/>
        </p:nvSpPr>
        <p:spPr>
          <a:xfrm>
            <a:off x="46817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large ICU schema</a:t>
            </a:r>
            <a:endParaRPr/>
          </a:p>
        </p:txBody>
      </p:sp>
      <p:sp>
        <p:nvSpPr>
          <p:cNvPr id="877" name="Google Shape;877;p18"/>
          <p:cNvSpPr/>
          <p:nvPr/>
        </p:nvSpPr>
        <p:spPr>
          <a:xfrm>
            <a:off x="81473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8" name="Google Shape;878;p18"/>
          <p:cNvSpPr/>
          <p:nvPr/>
        </p:nvSpPr>
        <p:spPr>
          <a:xfrm>
            <a:off x="8147304" y="2121408"/>
            <a:ext cx="3410712" cy="59436"/>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9" name="Google Shape;879;p18"/>
          <p:cNvSpPr txBox="1"/>
          <p:nvPr/>
        </p:nvSpPr>
        <p:spPr>
          <a:xfrm>
            <a:off x="83393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CHINOOK</a:t>
            </a:r>
            <a:endParaRPr/>
          </a:p>
        </p:txBody>
      </p:sp>
      <p:sp>
        <p:nvSpPr>
          <p:cNvPr id="880" name="Google Shape;880;p18"/>
          <p:cNvSpPr txBox="1"/>
          <p:nvPr/>
        </p:nvSpPr>
        <p:spPr>
          <a:xfrm>
            <a:off x="83393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11 tables  ·  67 columns</a:t>
            </a:r>
            <a:endParaRPr/>
          </a:p>
        </p:txBody>
      </p:sp>
      <p:sp>
        <p:nvSpPr>
          <p:cNvPr id="881" name="Google Shape;881;p18"/>
          <p:cNvSpPr txBox="1"/>
          <p:nvPr/>
        </p:nvSpPr>
        <p:spPr>
          <a:xfrm>
            <a:off x="83393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music store · second domain</a:t>
            </a:r>
            <a:endParaRPr/>
          </a:p>
        </p:txBody>
      </p:sp>
      <p:sp>
        <p:nvSpPr>
          <p:cNvPr id="882" name="Google Shape;882;p18"/>
          <p:cNvSpPr txBox="1"/>
          <p:nvPr/>
        </p:nvSpPr>
        <p:spPr>
          <a:xfrm>
            <a:off x="832104" y="3575304"/>
            <a:ext cx="987552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FOUR WAYS TO GENERATE AN ONTOLOGY</a:t>
            </a:r>
            <a:endParaRPr/>
          </a:p>
        </p:txBody>
      </p:sp>
      <p:sp>
        <p:nvSpPr>
          <p:cNvPr id="883" name="Google Shape;883;p18"/>
          <p:cNvSpPr/>
          <p:nvPr/>
        </p:nvSpPr>
        <p:spPr>
          <a:xfrm>
            <a:off x="832104"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4" name="Google Shape;884;p18"/>
          <p:cNvSpPr/>
          <p:nvPr/>
        </p:nvSpPr>
        <p:spPr>
          <a:xfrm>
            <a:off x="960120"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5" name="Google Shape;885;p18"/>
          <p:cNvSpPr txBox="1"/>
          <p:nvPr/>
        </p:nvSpPr>
        <p:spPr>
          <a:xfrm>
            <a:off x="1028700"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1</a:t>
            </a:r>
            <a:endParaRPr/>
          </a:p>
        </p:txBody>
      </p:sp>
      <p:sp>
        <p:nvSpPr>
          <p:cNvPr id="886" name="Google Shape;886;p18"/>
          <p:cNvSpPr txBox="1"/>
          <p:nvPr/>
        </p:nvSpPr>
        <p:spPr>
          <a:xfrm>
            <a:off x="1344168"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Direct Mapping</a:t>
            </a:r>
            <a:endParaRPr/>
          </a:p>
        </p:txBody>
      </p:sp>
      <p:sp>
        <p:nvSpPr>
          <p:cNvPr id="887" name="Google Shape;887;p18"/>
          <p:cNvSpPr txBox="1"/>
          <p:nvPr/>
        </p:nvSpPr>
        <p:spPr>
          <a:xfrm>
            <a:off x="996696"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Deterministic</a:t>
            </a:r>
            <a:endParaRPr/>
          </a:p>
        </p:txBody>
      </p:sp>
      <p:cxnSp>
        <p:nvCxnSpPr>
          <p:cNvPr id="888" name="Google Shape;888;p18"/>
          <p:cNvCxnSpPr/>
          <p:nvPr/>
        </p:nvCxnSpPr>
        <p:spPr>
          <a:xfrm>
            <a:off x="3401568"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89" name="Google Shape;889;p18"/>
          <p:cNvSpPr/>
          <p:nvPr/>
        </p:nvSpPr>
        <p:spPr>
          <a:xfrm>
            <a:off x="3630168"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0" name="Google Shape;890;p18"/>
          <p:cNvSpPr/>
          <p:nvPr/>
        </p:nvSpPr>
        <p:spPr>
          <a:xfrm>
            <a:off x="3758184"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1" name="Google Shape;891;p18"/>
          <p:cNvSpPr txBox="1"/>
          <p:nvPr/>
        </p:nvSpPr>
        <p:spPr>
          <a:xfrm>
            <a:off x="3826763"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2</a:t>
            </a:r>
            <a:endParaRPr/>
          </a:p>
        </p:txBody>
      </p:sp>
      <p:sp>
        <p:nvSpPr>
          <p:cNvPr id="892" name="Google Shape;892;p18"/>
          <p:cNvSpPr txBox="1"/>
          <p:nvPr/>
        </p:nvSpPr>
        <p:spPr>
          <a:xfrm>
            <a:off x="4142232"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LLM baseline</a:t>
            </a:r>
            <a:endParaRPr/>
          </a:p>
        </p:txBody>
      </p:sp>
      <p:sp>
        <p:nvSpPr>
          <p:cNvPr id="893" name="Google Shape;893;p18"/>
          <p:cNvSpPr txBox="1"/>
          <p:nvPr/>
        </p:nvSpPr>
        <p:spPr>
          <a:xfrm>
            <a:off x="3794760"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Table only</a:t>
            </a:r>
            <a:endParaRPr/>
          </a:p>
        </p:txBody>
      </p:sp>
      <p:cxnSp>
        <p:nvCxnSpPr>
          <p:cNvPr id="894" name="Google Shape;894;p18"/>
          <p:cNvCxnSpPr/>
          <p:nvPr/>
        </p:nvCxnSpPr>
        <p:spPr>
          <a:xfrm>
            <a:off x="6199632"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95" name="Google Shape;895;p18"/>
          <p:cNvSpPr/>
          <p:nvPr/>
        </p:nvSpPr>
        <p:spPr>
          <a:xfrm>
            <a:off x="6428232"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6" name="Google Shape;896;p18"/>
          <p:cNvSpPr/>
          <p:nvPr/>
        </p:nvSpPr>
        <p:spPr>
          <a:xfrm>
            <a:off x="6556248"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7" name="Google Shape;897;p18"/>
          <p:cNvSpPr txBox="1"/>
          <p:nvPr/>
        </p:nvSpPr>
        <p:spPr>
          <a:xfrm>
            <a:off x="6624828"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3</a:t>
            </a:r>
            <a:endParaRPr/>
          </a:p>
        </p:txBody>
      </p:sp>
      <p:sp>
        <p:nvSpPr>
          <p:cNvPr id="898" name="Google Shape;898;p18"/>
          <p:cNvSpPr txBox="1"/>
          <p:nvPr/>
        </p:nvSpPr>
        <p:spPr>
          <a:xfrm>
            <a:off x="6940296"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Non-Iterative</a:t>
            </a:r>
            <a:endParaRPr/>
          </a:p>
        </p:txBody>
      </p:sp>
      <p:sp>
        <p:nvSpPr>
          <p:cNvPr id="899" name="Google Shape;899;p18"/>
          <p:cNvSpPr txBox="1"/>
          <p:nvPr/>
        </p:nvSpPr>
        <p:spPr>
          <a:xfrm>
            <a:off x="6592824"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One-pass RAG</a:t>
            </a:r>
            <a:endParaRPr/>
          </a:p>
        </p:txBody>
      </p:sp>
      <p:cxnSp>
        <p:nvCxnSpPr>
          <p:cNvPr id="900" name="Google Shape;900;p18"/>
          <p:cNvCxnSpPr/>
          <p:nvPr/>
        </p:nvCxnSpPr>
        <p:spPr>
          <a:xfrm>
            <a:off x="8997696"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901" name="Google Shape;901;p18"/>
          <p:cNvSpPr/>
          <p:nvPr/>
        </p:nvSpPr>
        <p:spPr>
          <a:xfrm>
            <a:off x="9226296" y="3950208"/>
            <a:ext cx="2542032" cy="960120"/>
          </a:xfrm>
          <a:prstGeom prst="roundRect">
            <a:avLst>
              <a:gd fmla="val 10000" name="adj"/>
            </a:avLst>
          </a:prstGeom>
          <a:solidFill>
            <a:srgbClr val="E6F2EC"/>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2" name="Google Shape;902;p18"/>
          <p:cNvSpPr/>
          <p:nvPr/>
        </p:nvSpPr>
        <p:spPr>
          <a:xfrm>
            <a:off x="9354312" y="4123944"/>
            <a:ext cx="310896" cy="310896"/>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3" name="Google Shape;903;p18"/>
          <p:cNvSpPr txBox="1"/>
          <p:nvPr/>
        </p:nvSpPr>
        <p:spPr>
          <a:xfrm>
            <a:off x="9422892"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FFFFFF"/>
                </a:solidFill>
                <a:latin typeface="Consolas"/>
                <a:ea typeface="Consolas"/>
                <a:cs typeface="Consolas"/>
                <a:sym typeface="Consolas"/>
              </a:rPr>
              <a:t>4</a:t>
            </a:r>
            <a:endParaRPr/>
          </a:p>
        </p:txBody>
      </p:sp>
      <p:sp>
        <p:nvSpPr>
          <p:cNvPr id="904" name="Google Shape;904;p18"/>
          <p:cNvSpPr txBox="1"/>
          <p:nvPr/>
        </p:nvSpPr>
        <p:spPr>
          <a:xfrm>
            <a:off x="9738360"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RIGOR</a:t>
            </a:r>
            <a:endParaRPr/>
          </a:p>
        </p:txBody>
      </p:sp>
      <p:sp>
        <p:nvSpPr>
          <p:cNvPr id="905" name="Google Shape;905;p18"/>
          <p:cNvSpPr txBox="1"/>
          <p:nvPr/>
        </p:nvSpPr>
        <p:spPr>
          <a:xfrm>
            <a:off x="9390888"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Ground + grow + check</a:t>
            </a:r>
            <a:endParaRPr/>
          </a:p>
        </p:txBody>
      </p:sp>
      <p:sp>
        <p:nvSpPr>
          <p:cNvPr id="906" name="Google Shape;906;p18"/>
          <p:cNvSpPr/>
          <p:nvPr/>
        </p:nvSpPr>
        <p:spPr>
          <a:xfrm>
            <a:off x="841248" y="5166360"/>
            <a:ext cx="10460736" cy="539496"/>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7" name="Google Shape;907;p18"/>
          <p:cNvSpPr txBox="1"/>
          <p:nvPr/>
        </p:nvSpPr>
        <p:spPr>
          <a:xfrm>
            <a:off x="1033271" y="5312664"/>
            <a:ext cx="10076688" cy="25603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30 ONTOLOGIES   </a:t>
            </a:r>
            <a:r>
              <a:rPr b="0" lang="en-US" sz="1550">
                <a:solidFill>
                  <a:srgbClr val="1F2328"/>
                </a:solidFill>
                <a:latin typeface="Calibri"/>
                <a:ea typeface="Calibri"/>
                <a:cs typeface="Calibri"/>
                <a:sym typeface="Calibri"/>
              </a:rPr>
              <a:t>quality checks  ·  independent evaluation judge (GPT-5.4)  ·  10 human experts  ·  BURR benchmark</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2" name="Shape 912"/>
        <p:cNvGrpSpPr/>
        <p:nvPr/>
      </p:nvGrpSpPr>
      <p:grpSpPr>
        <a:xfrm>
          <a:off x="0" y="0"/>
          <a:ext cx="0" cy="0"/>
          <a:chOff x="0" y="0"/>
          <a:chExt cx="0" cy="0"/>
        </a:xfrm>
      </p:grpSpPr>
      <p:sp>
        <p:nvSpPr>
          <p:cNvPr id="913" name="Google Shape;913;p19"/>
          <p:cNvSpPr txBox="1"/>
          <p:nvPr/>
        </p:nvSpPr>
        <p:spPr>
          <a:xfrm>
            <a:off x="804672" y="512064"/>
            <a:ext cx="108813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3  /  HUMAN AND LLM EVALUATION</a:t>
            </a:r>
            <a:endParaRPr/>
          </a:p>
        </p:txBody>
      </p:sp>
      <p:sp>
        <p:nvSpPr>
          <p:cNvPr id="914" name="Google Shape;914;p19"/>
          <p:cNvSpPr txBox="1"/>
          <p:nvPr/>
        </p:nvSpPr>
        <p:spPr>
          <a:xfrm>
            <a:off x="804672" y="914400"/>
            <a:ext cx="10789920" cy="6583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Experts prefer RIGOR's ontologies.</a:t>
            </a:r>
            <a:endParaRPr/>
          </a:p>
        </p:txBody>
      </p:sp>
      <p:sp>
        <p:nvSpPr>
          <p:cNvPr id="915" name="Google Shape;915;p19"/>
          <p:cNvSpPr/>
          <p:nvPr/>
        </p:nvSpPr>
        <p:spPr>
          <a:xfrm>
            <a:off x="822960" y="1911095"/>
            <a:ext cx="3877056" cy="3346704"/>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6" name="Google Shape;916;p19"/>
          <p:cNvSpPr txBox="1"/>
          <p:nvPr/>
        </p:nvSpPr>
        <p:spPr>
          <a:xfrm>
            <a:off x="1069848" y="2139696"/>
            <a:ext cx="3291840" cy="96926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6300">
                <a:solidFill>
                  <a:srgbClr val="1F2328"/>
                </a:solidFill>
                <a:latin typeface="Cambria"/>
                <a:ea typeface="Calibri"/>
                <a:cs typeface="Calibri"/>
                <a:sym typeface="Calibri"/>
              </a:rPr>
              <a:t>70%</a:t>
            </a:r>
            <a:endParaRPr/>
          </a:p>
        </p:txBody>
      </p:sp>
      <p:sp>
        <p:nvSpPr>
          <p:cNvPr id="917" name="Google Shape;917;p19"/>
          <p:cNvSpPr txBox="1"/>
          <p:nvPr/>
        </p:nvSpPr>
        <p:spPr>
          <a:xfrm>
            <a:off x="1088136" y="3191256"/>
            <a:ext cx="3026664"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0B6E4F"/>
                </a:solidFill>
                <a:latin typeface="Cambria"/>
                <a:ea typeface="Calibri"/>
                <a:cs typeface="Calibri"/>
                <a:sym typeface="Calibri"/>
              </a:rPr>
              <a:t>28 of 40</a:t>
            </a:r>
            <a:endParaRPr/>
          </a:p>
        </p:txBody>
      </p:sp>
      <p:sp>
        <p:nvSpPr>
          <p:cNvPr id="918" name="Google Shape;918;p19"/>
          <p:cNvSpPr txBox="1"/>
          <p:nvPr/>
        </p:nvSpPr>
        <p:spPr>
          <a:xfrm>
            <a:off x="1088136" y="3721608"/>
            <a:ext cx="315468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first-place expert rankings</a:t>
            </a:r>
            <a:endParaRPr/>
          </a:p>
        </p:txBody>
      </p:sp>
      <p:sp>
        <p:nvSpPr>
          <p:cNvPr id="919" name="Google Shape;919;p19"/>
          <p:cNvSpPr txBox="1"/>
          <p:nvPr/>
        </p:nvSpPr>
        <p:spPr>
          <a:xfrm>
            <a:off x="1088136" y="4700016"/>
            <a:ext cx="3182112"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20">
                <a:solidFill>
                  <a:srgbClr val="5B6770"/>
                </a:solidFill>
                <a:latin typeface="Calibri"/>
                <a:ea typeface="Calibri"/>
                <a:cs typeface="Calibri"/>
                <a:sym typeface="Calibri"/>
              </a:rPr>
              <a:t>10 experts · 4 medical tables</a:t>
            </a:r>
            <a:endParaRPr/>
          </a:p>
        </p:txBody>
      </p:sp>
      <p:sp>
        <p:nvSpPr>
          <p:cNvPr id="920" name="Google Shape;920;p19"/>
          <p:cNvSpPr/>
          <p:nvPr/>
        </p:nvSpPr>
        <p:spPr>
          <a:xfrm>
            <a:off x="4983480" y="1911095"/>
            <a:ext cx="6373368" cy="334670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1" name="Google Shape;921;p19"/>
          <p:cNvSpPr txBox="1"/>
          <p:nvPr/>
        </p:nvSpPr>
        <p:spPr>
          <a:xfrm>
            <a:off x="5230368" y="2130552"/>
            <a:ext cx="58155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FIRST PLACE, ACROSS 40 BLIND EXPERT RANKINGS</a:t>
            </a:r>
            <a:endParaRPr/>
          </a:p>
        </p:txBody>
      </p:sp>
      <p:sp>
        <p:nvSpPr>
          <p:cNvPr id="922" name="Google Shape;922;p19"/>
          <p:cNvSpPr txBox="1"/>
          <p:nvPr/>
        </p:nvSpPr>
        <p:spPr>
          <a:xfrm>
            <a:off x="5248656" y="264261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Direct Mapping</a:t>
            </a:r>
            <a:endParaRPr/>
          </a:p>
        </p:txBody>
      </p:sp>
      <p:sp>
        <p:nvSpPr>
          <p:cNvPr id="923" name="Google Shape;923;p19"/>
          <p:cNvSpPr/>
          <p:nvPr/>
        </p:nvSpPr>
        <p:spPr>
          <a:xfrm>
            <a:off x="7178040" y="270662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4" name="Google Shape;924;p19"/>
          <p:cNvSpPr/>
          <p:nvPr/>
        </p:nvSpPr>
        <p:spPr>
          <a:xfrm>
            <a:off x="7178040" y="270662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5" name="Google Shape;925;p19"/>
          <p:cNvSpPr txBox="1"/>
          <p:nvPr/>
        </p:nvSpPr>
        <p:spPr>
          <a:xfrm>
            <a:off x="10424160" y="263347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26" name="Google Shape;926;p19"/>
          <p:cNvSpPr txBox="1"/>
          <p:nvPr/>
        </p:nvSpPr>
        <p:spPr>
          <a:xfrm>
            <a:off x="5248656" y="319125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LLM baseline</a:t>
            </a:r>
            <a:endParaRPr/>
          </a:p>
        </p:txBody>
      </p:sp>
      <p:sp>
        <p:nvSpPr>
          <p:cNvPr id="927" name="Google Shape;927;p19"/>
          <p:cNvSpPr/>
          <p:nvPr/>
        </p:nvSpPr>
        <p:spPr>
          <a:xfrm>
            <a:off x="7178040" y="325526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8" name="Google Shape;928;p19"/>
          <p:cNvSpPr/>
          <p:nvPr/>
        </p:nvSpPr>
        <p:spPr>
          <a:xfrm>
            <a:off x="7178040" y="325526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9" name="Google Shape;929;p19"/>
          <p:cNvSpPr txBox="1"/>
          <p:nvPr/>
        </p:nvSpPr>
        <p:spPr>
          <a:xfrm>
            <a:off x="10424160" y="318211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30" name="Google Shape;930;p19"/>
          <p:cNvSpPr txBox="1"/>
          <p:nvPr/>
        </p:nvSpPr>
        <p:spPr>
          <a:xfrm>
            <a:off x="5248656" y="373989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Non-Iterative</a:t>
            </a:r>
            <a:endParaRPr/>
          </a:p>
        </p:txBody>
      </p:sp>
      <p:sp>
        <p:nvSpPr>
          <p:cNvPr id="931" name="Google Shape;931;p19"/>
          <p:cNvSpPr/>
          <p:nvPr/>
        </p:nvSpPr>
        <p:spPr>
          <a:xfrm>
            <a:off x="7178040" y="380390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2" name="Google Shape;932;p19"/>
          <p:cNvSpPr/>
          <p:nvPr/>
        </p:nvSpPr>
        <p:spPr>
          <a:xfrm>
            <a:off x="7178040" y="3803904"/>
            <a:ext cx="157734"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3" name="Google Shape;933;p19"/>
          <p:cNvSpPr txBox="1"/>
          <p:nvPr/>
        </p:nvSpPr>
        <p:spPr>
          <a:xfrm>
            <a:off x="10424160" y="373075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2/40</a:t>
            </a:r>
            <a:endParaRPr/>
          </a:p>
        </p:txBody>
      </p:sp>
      <p:sp>
        <p:nvSpPr>
          <p:cNvPr id="934" name="Google Shape;934;p19"/>
          <p:cNvSpPr txBox="1"/>
          <p:nvPr/>
        </p:nvSpPr>
        <p:spPr>
          <a:xfrm>
            <a:off x="5248656" y="428853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RIGOR</a:t>
            </a:r>
            <a:endParaRPr/>
          </a:p>
        </p:txBody>
      </p:sp>
      <p:sp>
        <p:nvSpPr>
          <p:cNvPr id="935" name="Google Shape;935;p19"/>
          <p:cNvSpPr/>
          <p:nvPr/>
        </p:nvSpPr>
        <p:spPr>
          <a:xfrm>
            <a:off x="7178040" y="435254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6" name="Google Shape;936;p19"/>
          <p:cNvSpPr/>
          <p:nvPr/>
        </p:nvSpPr>
        <p:spPr>
          <a:xfrm>
            <a:off x="7178040" y="4352544"/>
            <a:ext cx="2208276" cy="155448"/>
          </a:xfrm>
          <a:prstGeom prst="roundRect">
            <a:avLst>
              <a:gd fmla="val 1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7" name="Google Shape;937;p19"/>
          <p:cNvSpPr txBox="1"/>
          <p:nvPr/>
        </p:nvSpPr>
        <p:spPr>
          <a:xfrm>
            <a:off x="10424160" y="427939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1F2328"/>
                </a:solidFill>
                <a:latin typeface="Consolas"/>
                <a:ea typeface="Consolas"/>
                <a:cs typeface="Consolas"/>
                <a:sym typeface="Consolas"/>
              </a:rPr>
              <a:t>28/40</a:t>
            </a:r>
            <a:endParaRPr/>
          </a:p>
        </p:txBody>
      </p:sp>
      <p:sp>
        <p:nvSpPr>
          <p:cNvPr id="938" name="Google Shape;938;p19"/>
          <p:cNvSpPr txBox="1"/>
          <p:nvPr/>
        </p:nvSpPr>
        <p:spPr>
          <a:xfrm>
            <a:off x="5257800" y="4773168"/>
            <a:ext cx="55869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Expert agreement: Kendall’s W = 0.39–0.72</a:t>
            </a:r>
            <a:endParaRPr/>
          </a:p>
        </p:txBody>
      </p:sp>
      <p:sp>
        <p:nvSpPr>
          <p:cNvPr id="939" name="Google Shape;939;p19"/>
          <p:cNvSpPr/>
          <p:nvPr/>
        </p:nvSpPr>
        <p:spPr>
          <a:xfrm>
            <a:off x="832104" y="5504688"/>
            <a:ext cx="10506456" cy="393192"/>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0" name="Google Shape;940;p19"/>
          <p:cNvSpPr txBox="1"/>
          <p:nvPr/>
        </p:nvSpPr>
        <p:spPr>
          <a:xfrm>
            <a:off x="1033271" y="5596128"/>
            <a:ext cx="1009497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INDEPENDENT LLM JUDGE   </a:t>
            </a:r>
            <a:r>
              <a:rPr b="0" lang="en-US" sz="1550">
                <a:solidFill>
                  <a:srgbClr val="1F2328"/>
                </a:solidFill>
                <a:latin typeface="Calibri"/>
                <a:ea typeface="Calibri"/>
                <a:cs typeface="Calibri"/>
                <a:sym typeface="Calibri"/>
              </a:rPr>
              <a:t>RIGOR ranked 1st for 58/58 tables · 290 competency questions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RESULT 1  /  MEANING AND STRUCTURE</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Only RIGOR adds meaning without losing structure.</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What the generated ontologies contain  ·  3 databases × 3 LLMs  ·  Direct Mapping: one ontology per database</a:t>
            </a:r>
          </a:p>
        </p:txBody>
      </p:sp>
      <p:sp>
        <p:nvSpPr>
          <p:cNvPr id="993" name="TextBox 992"/>
          <p:cNvSpPr txBox="1"/>
          <p:nvPr/>
        </p:nvSpPr>
        <p:spPr>
          <a:xfrm>
            <a:off x="960120" y="5193792"/>
            <a:ext cx="10268711" cy="329184"/>
          </a:xfrm>
          <a:prstGeom prst="rect">
            <a:avLst/>
          </a:prstGeom>
          <a:noFill/>
        </p:spPr>
        <p:txBody>
          <a:bodyPr wrap="square" lIns="0" rIns="0" tIns="0" bIns="0">
            <a:spAutoFit/>
          </a:bodyPr>
          <a:lstStyle/>
          <a:p>
            <a:pPr algn="l"/>
            <a:r>
              <a:rPr sz="1400" b="1">
                <a:solidFill>
                  <a:srgbClr val="0B6E4F"/>
                </a:solidFill>
                <a:latin typeface="Calibri"/>
              </a:rPr>
              <a:t>MODELING PITFALLS (OOPS!)   </a:t>
            </a:r>
            <a:r>
              <a:rPr sz="1400" b="0">
                <a:solidFill>
                  <a:srgbClr val="1F2328"/>
                </a:solidFill>
                <a:latin typeface="Calibri"/>
              </a:rPr>
              <a:t>Fewer than every other method in 9/9 like-for-like runs  ·  zero on Chinook with all three LLMs</a:t>
            </a:r>
          </a:p>
        </p:txBody>
      </p:sp>
      <p:sp>
        <p:nvSpPr>
          <p:cNvPr id="994" name="TextBox 993"/>
          <p:cNvSpPr txBox="1"/>
          <p:nvPr/>
        </p:nvSpPr>
        <p:spPr>
          <a:xfrm>
            <a:off x="850392" y="5897880"/>
            <a:ext cx="10789920" cy="246888"/>
          </a:xfrm>
          <a:prstGeom prst="rect">
            <a:avLst/>
          </a:prstGeom>
          <a:noFill/>
        </p:spPr>
        <p:txBody>
          <a:bodyPr wrap="square" lIns="0" rIns="0" tIns="0" bIns="0">
            <a:spAutoFit/>
          </a:bodyPr>
          <a:lstStyle/>
          <a:p>
            <a:pPr algn="l"/>
            <a:r>
              <a:rPr sz="1200" b="0">
                <a:solidFill>
                  <a:srgbClr val="5B6770"/>
                </a:solidFill>
                <a:latin typeface="Calibri"/>
              </a:rPr>
              <a:t>Coverage = embedding-based proxy (cosine ≥ 0.55); Direct Mapping is complete by construction. Like-for-like = same database and same LLM.</a:t>
            </a:r>
          </a:p>
        </p:txBody>
      </p:sp>
      <p:sp>
        <p:nvSpPr>
          <p:cNvPr id="995" name="TextBox 994"/>
          <p:cNvSpPr txBox="1"/>
          <p:nvPr/>
        </p:nvSpPr>
        <p:spPr>
          <a:xfrm>
            <a:off x="850392" y="6172200"/>
            <a:ext cx="10789920" cy="274320"/>
          </a:xfrm>
          <a:prstGeom prst="rect">
            <a:avLst/>
          </a:prstGeom>
          <a:noFill/>
        </p:spPr>
        <p:txBody>
          <a:bodyPr wrap="square" lIns="0" rIns="0" tIns="0" bIns="0">
            <a:spAutoFit/>
          </a:bodyPr>
          <a:lstStyle/>
          <a:p>
            <a:pPr algn="l"/>
            <a:r>
              <a:rPr sz="1200" b="0">
                <a:solidFill>
                  <a:srgbClr val="5B6770"/>
                </a:solidFill>
                <a:latin typeface="Calibri"/>
              </a:rPr>
              <a:t>Sources: paper Tables 7 (pitfalls), 8 (labels, SubClassOf, provenance), 9 (coverage). Raw pitfall counts: backup slide B1.</a:t>
            </a:r>
          </a:p>
        </p:txBody>
      </p:sp>
      <p:sp>
        <p:nvSpPr>
          <p:cNvPr id="996" name="Col head"/>
          <p:cNvSpPr txBox="1"/>
          <p:nvPr/>
        </p:nvSpPr>
        <p:spPr>
          <a:xfrm>
            <a:off x="960120" y="1901952"/>
            <a:ext cx="210312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METHOD</a:t>
            </a:r>
          </a:p>
        </p:txBody>
      </p:sp>
      <p:sp>
        <p:nvSpPr>
          <p:cNvPr id="997" name="Col sub"/>
          <p:cNvSpPr txBox="1"/>
          <p:nvPr/>
        </p:nvSpPr>
        <p:spPr>
          <a:xfrm>
            <a:off x="960120" y="2148840"/>
            <a:ext cx="210312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
            </a:r>
          </a:p>
        </p:txBody>
      </p:sp>
      <p:sp>
        <p:nvSpPr>
          <p:cNvPr id="998" name="Col head"/>
          <p:cNvSpPr txBox="1"/>
          <p:nvPr/>
        </p:nvSpPr>
        <p:spPr>
          <a:xfrm>
            <a:off x="3246120" y="1901952"/>
            <a:ext cx="393192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COLUMNS KEPT</a:t>
            </a:r>
          </a:p>
        </p:txBody>
      </p:sp>
      <p:sp>
        <p:nvSpPr>
          <p:cNvPr id="999" name="Col sub"/>
          <p:cNvSpPr txBox="1"/>
          <p:nvPr/>
        </p:nvSpPr>
        <p:spPr>
          <a:xfrm>
            <a:off x="3246120" y="2148840"/>
            <a:ext cx="393192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final schema coverage, range over the runs</a:t>
            </a:r>
          </a:p>
        </p:txBody>
      </p:sp>
      <p:sp>
        <p:nvSpPr>
          <p:cNvPr id="1000" name="Col head"/>
          <p:cNvSpPr txBox="1"/>
          <p:nvPr/>
        </p:nvSpPr>
        <p:spPr>
          <a:xfrm>
            <a:off x="7543800" y="1901952"/>
            <a:ext cx="192024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LABELS &amp; COMMENTS</a:t>
            </a:r>
          </a:p>
        </p:txBody>
      </p:sp>
      <p:sp>
        <p:nvSpPr>
          <p:cNvPr id="1001" name="Col sub"/>
          <p:cNvSpPr txBox="1"/>
          <p:nvPr/>
        </p:nvSpPr>
        <p:spPr>
          <a:xfrm>
            <a:off x="7543800" y="2148840"/>
            <a:ext cx="192024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runs that have them</a:t>
            </a:r>
          </a:p>
        </p:txBody>
      </p:sp>
      <p:sp>
        <p:nvSpPr>
          <p:cNvPr id="1002" name="Col head"/>
          <p:cNvSpPr txBox="1"/>
          <p:nvPr/>
        </p:nvSpPr>
        <p:spPr>
          <a:xfrm>
            <a:off x="9555480" y="1901952"/>
            <a:ext cx="192024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HIERARCHY + PROVENANCE</a:t>
            </a:r>
          </a:p>
        </p:txBody>
      </p:sp>
      <p:sp>
        <p:nvSpPr>
          <p:cNvPr id="1003" name="Col sub"/>
          <p:cNvSpPr txBox="1"/>
          <p:nvPr/>
        </p:nvSpPr>
        <p:spPr>
          <a:xfrm>
            <a:off x="9555480" y="2148840"/>
            <a:ext cx="192024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runs that have them</a:t>
            </a:r>
          </a:p>
        </p:txBody>
      </p:sp>
      <p:sp>
        <p:nvSpPr>
          <p:cNvPr id="1004" name="Head rule"/>
          <p:cNvSpPr/>
          <p:nvPr/>
        </p:nvSpPr>
        <p:spPr>
          <a:xfrm>
            <a:off x="822960" y="2487168"/>
            <a:ext cx="10543032" cy="10972"/>
          </a:xfrm>
          <a:prstGeom prst="rect">
            <a:avLst/>
          </a:prstGeom>
          <a:solidFill>
            <a:srgbClr val="9AA3A9"/>
          </a:solidFill>
          <a:ln>
            <a:noFill/>
          </a:ln>
        </p:spPr>
        <p:txBody>
          <a:bodyPr wrap="square" lIns="0" tIns="0" rIns="0" bIns="0" anchor="t">
            <a:noAutofit/>
          </a:bodyPr>
          <a:lstStyle/>
          <a:p>
            <a:pPr algn="l"/>
          </a:p>
        </p:txBody>
      </p:sp>
      <p:sp>
        <p:nvSpPr>
          <p:cNvPr id="1005" name="Method"/>
          <p:cNvSpPr txBox="1"/>
          <p:nvPr/>
        </p:nvSpPr>
        <p:spPr>
          <a:xfrm>
            <a:off x="960120" y="2688336"/>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Direct Mapping</a:t>
            </a:r>
          </a:p>
        </p:txBody>
      </p:sp>
      <p:sp>
        <p:nvSpPr>
          <p:cNvPr id="1006" name="Coverage"/>
          <p:cNvSpPr txBox="1"/>
          <p:nvPr/>
        </p:nvSpPr>
        <p:spPr>
          <a:xfrm>
            <a:off x="3246120" y="2688336"/>
            <a:ext cx="10515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0.78–0.99</a:t>
            </a:r>
          </a:p>
        </p:txBody>
      </p:sp>
      <p:sp>
        <p:nvSpPr>
          <p:cNvPr id="1007" name="Bar track"/>
          <p:cNvSpPr/>
          <p:nvPr/>
        </p:nvSpPr>
        <p:spPr>
          <a:xfrm>
            <a:off x="4343400" y="2788920"/>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08" name="Bar range" descr="coverage 0.78–0.99"/>
          <p:cNvSpPr/>
          <p:nvPr/>
        </p:nvSpPr>
        <p:spPr>
          <a:xfrm>
            <a:off x="6304788" y="2788920"/>
            <a:ext cx="528065" cy="109728"/>
          </a:xfrm>
          <a:prstGeom prst="roundRect">
            <a:avLst>
              <a:gd name="adj" fmla="val 12000"/>
            </a:avLst>
          </a:prstGeom>
          <a:solidFill>
            <a:srgbClr val="8E989E"/>
          </a:solidFill>
          <a:ln>
            <a:noFill/>
          </a:ln>
        </p:spPr>
        <p:txBody>
          <a:bodyPr wrap="square" lIns="0" tIns="0" rIns="0" bIns="0" anchor="t">
            <a:noAutofit/>
          </a:bodyPr>
          <a:lstStyle/>
          <a:p>
            <a:pPr algn="l"/>
          </a:p>
        </p:txBody>
      </p:sp>
      <p:sp>
        <p:nvSpPr>
          <p:cNvPr id="1009" name="Marker" descr="absent"/>
          <p:cNvSpPr/>
          <p:nvPr/>
        </p:nvSpPr>
        <p:spPr>
          <a:xfrm>
            <a:off x="7543800" y="2761488"/>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0" name="Count"/>
          <p:cNvSpPr txBox="1"/>
          <p:nvPr/>
        </p:nvSpPr>
        <p:spPr>
          <a:xfrm>
            <a:off x="7818120" y="2688336"/>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3</a:t>
            </a:r>
          </a:p>
        </p:txBody>
      </p:sp>
      <p:sp>
        <p:nvSpPr>
          <p:cNvPr id="1011" name="Marker" descr="absent"/>
          <p:cNvSpPr/>
          <p:nvPr/>
        </p:nvSpPr>
        <p:spPr>
          <a:xfrm>
            <a:off x="9555480" y="2761488"/>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2" name="Count"/>
          <p:cNvSpPr txBox="1"/>
          <p:nvPr/>
        </p:nvSpPr>
        <p:spPr>
          <a:xfrm>
            <a:off x="9829800" y="2688336"/>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3</a:t>
            </a:r>
          </a:p>
        </p:txBody>
      </p:sp>
      <p:sp>
        <p:nvSpPr>
          <p:cNvPr id="1013" name="Row rule"/>
          <p:cNvSpPr/>
          <p:nvPr/>
        </p:nvSpPr>
        <p:spPr>
          <a:xfrm>
            <a:off x="822960" y="3127248"/>
            <a:ext cx="10543032" cy="9144"/>
          </a:xfrm>
          <a:prstGeom prst="rect">
            <a:avLst/>
          </a:prstGeom>
          <a:solidFill>
            <a:srgbClr val="D9DEDB"/>
          </a:solidFill>
          <a:ln>
            <a:noFill/>
          </a:ln>
        </p:spPr>
        <p:txBody>
          <a:bodyPr wrap="square" lIns="0" tIns="0" rIns="0" bIns="0" anchor="t">
            <a:noAutofit/>
          </a:bodyPr>
          <a:lstStyle/>
          <a:p>
            <a:pPr algn="l"/>
          </a:p>
        </p:txBody>
      </p:sp>
      <p:sp>
        <p:nvSpPr>
          <p:cNvPr id="1014" name="Method"/>
          <p:cNvSpPr txBox="1"/>
          <p:nvPr/>
        </p:nvSpPr>
        <p:spPr>
          <a:xfrm>
            <a:off x="960120" y="3255264"/>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LLM baseline</a:t>
            </a:r>
          </a:p>
        </p:txBody>
      </p:sp>
      <p:sp>
        <p:nvSpPr>
          <p:cNvPr id="1015" name="Coverage"/>
          <p:cNvSpPr txBox="1"/>
          <p:nvPr/>
        </p:nvSpPr>
        <p:spPr>
          <a:xfrm>
            <a:off x="3246120" y="3255264"/>
            <a:ext cx="10515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0.31–1.00</a:t>
            </a:r>
          </a:p>
        </p:txBody>
      </p:sp>
      <p:sp>
        <p:nvSpPr>
          <p:cNvPr id="1016" name="Bar track"/>
          <p:cNvSpPr/>
          <p:nvPr/>
        </p:nvSpPr>
        <p:spPr>
          <a:xfrm>
            <a:off x="4343400" y="3355848"/>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17" name="Bar range" descr="coverage 0.31–1.00"/>
          <p:cNvSpPr/>
          <p:nvPr/>
        </p:nvSpPr>
        <p:spPr>
          <a:xfrm>
            <a:off x="5122926" y="3355848"/>
            <a:ext cx="1735074" cy="109728"/>
          </a:xfrm>
          <a:prstGeom prst="roundRect">
            <a:avLst>
              <a:gd name="adj" fmla="val 12000"/>
            </a:avLst>
          </a:prstGeom>
          <a:solidFill>
            <a:srgbClr val="8E989E"/>
          </a:solidFill>
          <a:ln>
            <a:noFill/>
          </a:ln>
        </p:spPr>
        <p:txBody>
          <a:bodyPr wrap="square" lIns="0" tIns="0" rIns="0" bIns="0" anchor="t">
            <a:noAutofit/>
          </a:bodyPr>
          <a:lstStyle/>
          <a:p>
            <a:pPr algn="l"/>
          </a:p>
        </p:txBody>
      </p:sp>
      <p:sp>
        <p:nvSpPr>
          <p:cNvPr id="1018" name="Marker" descr="absent"/>
          <p:cNvSpPr/>
          <p:nvPr/>
        </p:nvSpPr>
        <p:spPr>
          <a:xfrm>
            <a:off x="7543800" y="3328416"/>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9" name="Count"/>
          <p:cNvSpPr txBox="1"/>
          <p:nvPr/>
        </p:nvSpPr>
        <p:spPr>
          <a:xfrm>
            <a:off x="7818120" y="3255264"/>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20" name="Marker" descr="absent"/>
          <p:cNvSpPr/>
          <p:nvPr/>
        </p:nvSpPr>
        <p:spPr>
          <a:xfrm>
            <a:off x="9555480" y="3328416"/>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21" name="Count"/>
          <p:cNvSpPr txBox="1"/>
          <p:nvPr/>
        </p:nvSpPr>
        <p:spPr>
          <a:xfrm>
            <a:off x="9829800" y="3255264"/>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22" name="Row rule"/>
          <p:cNvSpPr/>
          <p:nvPr/>
        </p:nvSpPr>
        <p:spPr>
          <a:xfrm>
            <a:off x="822960" y="3694176"/>
            <a:ext cx="10543032" cy="9144"/>
          </a:xfrm>
          <a:prstGeom prst="rect">
            <a:avLst/>
          </a:prstGeom>
          <a:solidFill>
            <a:srgbClr val="D9DEDB"/>
          </a:solidFill>
          <a:ln>
            <a:noFill/>
          </a:ln>
        </p:spPr>
        <p:txBody>
          <a:bodyPr wrap="square" lIns="0" tIns="0" rIns="0" bIns="0" anchor="t">
            <a:noAutofit/>
          </a:bodyPr>
          <a:lstStyle/>
          <a:p>
            <a:pPr algn="l"/>
          </a:p>
        </p:txBody>
      </p:sp>
      <p:sp>
        <p:nvSpPr>
          <p:cNvPr id="1023" name="Method"/>
          <p:cNvSpPr txBox="1"/>
          <p:nvPr/>
        </p:nvSpPr>
        <p:spPr>
          <a:xfrm>
            <a:off x="960120" y="3822191"/>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Non-Iterative</a:t>
            </a:r>
          </a:p>
        </p:txBody>
      </p:sp>
      <p:sp>
        <p:nvSpPr>
          <p:cNvPr id="1024" name="Coverage"/>
          <p:cNvSpPr txBox="1"/>
          <p:nvPr/>
        </p:nvSpPr>
        <p:spPr>
          <a:xfrm>
            <a:off x="3246120" y="3822191"/>
            <a:ext cx="1051560" cy="310896"/>
          </a:xfrm>
          <a:prstGeom prst="rect">
            <a:avLst/>
          </a:prstGeom>
          <a:noFill/>
          <a:ln>
            <a:noFill/>
          </a:ln>
        </p:spPr>
        <p:txBody>
          <a:bodyPr wrap="square" lIns="0" tIns="0" rIns="0" bIns="0" anchor="ctr">
            <a:noAutofit/>
          </a:bodyPr>
          <a:lstStyle/>
          <a:p>
            <a:pPr algn="l"/>
            <a:r>
              <a:rPr lang="en-US" sz="1500" b="1" dirty="0">
                <a:solidFill>
                  <a:srgbClr val="B23A1E"/>
                </a:solidFill>
                <a:latin typeface="Calibri"/>
                <a:cs typeface="Calibri"/>
              </a:rPr>
              <a:t xml:space="preserve">0.06–0.78</a:t>
            </a:r>
          </a:p>
        </p:txBody>
      </p:sp>
      <p:sp>
        <p:nvSpPr>
          <p:cNvPr id="1025" name="Bar track"/>
          <p:cNvSpPr/>
          <p:nvPr/>
        </p:nvSpPr>
        <p:spPr>
          <a:xfrm>
            <a:off x="4343400" y="3922776"/>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26" name="Bar range" descr="coverage 0.06–0.78"/>
          <p:cNvSpPr/>
          <p:nvPr/>
        </p:nvSpPr>
        <p:spPr>
          <a:xfrm>
            <a:off x="4494276" y="3922776"/>
            <a:ext cx="1810512" cy="109728"/>
          </a:xfrm>
          <a:prstGeom prst="roundRect">
            <a:avLst>
              <a:gd name="adj" fmla="val 12000"/>
            </a:avLst>
          </a:prstGeom>
          <a:solidFill>
            <a:srgbClr val="B23A1E"/>
          </a:solidFill>
          <a:ln>
            <a:noFill/>
          </a:ln>
        </p:spPr>
        <p:txBody>
          <a:bodyPr wrap="square" lIns="0" tIns="0" rIns="0" bIns="0" anchor="t">
            <a:noAutofit/>
          </a:bodyPr>
          <a:lstStyle/>
          <a:p>
            <a:pPr algn="l"/>
          </a:p>
        </p:txBody>
      </p:sp>
      <p:sp>
        <p:nvSpPr>
          <p:cNvPr id="1027" name="Marker" descr="present"/>
          <p:cNvSpPr/>
          <p:nvPr/>
        </p:nvSpPr>
        <p:spPr>
          <a:xfrm>
            <a:off x="7543800" y="3895344"/>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28" name="Count"/>
          <p:cNvSpPr txBox="1"/>
          <p:nvPr/>
        </p:nvSpPr>
        <p:spPr>
          <a:xfrm>
            <a:off x="7818120" y="3822191"/>
            <a:ext cx="12801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9 / 9</a:t>
            </a:r>
          </a:p>
        </p:txBody>
      </p:sp>
      <p:sp>
        <p:nvSpPr>
          <p:cNvPr id="1029" name="Marker" descr="absent"/>
          <p:cNvSpPr/>
          <p:nvPr/>
        </p:nvSpPr>
        <p:spPr>
          <a:xfrm>
            <a:off x="9555480" y="3895344"/>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30" name="Count"/>
          <p:cNvSpPr txBox="1"/>
          <p:nvPr/>
        </p:nvSpPr>
        <p:spPr>
          <a:xfrm>
            <a:off x="9829800" y="3822191"/>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31" name="RIGOR band"/>
          <p:cNvSpPr/>
          <p:nvPr/>
        </p:nvSpPr>
        <p:spPr>
          <a:xfrm>
            <a:off x="822960" y="4297680"/>
            <a:ext cx="10543032" cy="493776"/>
          </a:xfrm>
          <a:prstGeom prst="roundRect">
            <a:avLst>
              <a:gd name="adj" fmla="val 12000"/>
            </a:avLst>
          </a:prstGeom>
          <a:solidFill>
            <a:srgbClr val="E6F2EC"/>
          </a:solidFill>
          <a:ln>
            <a:noFill/>
          </a:ln>
        </p:spPr>
        <p:txBody>
          <a:bodyPr wrap="square" lIns="0" tIns="0" rIns="0" bIns="0" anchor="t">
            <a:noAutofit/>
          </a:bodyPr>
          <a:lstStyle/>
          <a:p>
            <a:pPr algn="l"/>
          </a:p>
        </p:txBody>
      </p:sp>
      <p:sp>
        <p:nvSpPr>
          <p:cNvPr id="1032" name="Method"/>
          <p:cNvSpPr txBox="1"/>
          <p:nvPr/>
        </p:nvSpPr>
        <p:spPr>
          <a:xfrm>
            <a:off x="960120" y="4389120"/>
            <a:ext cx="2194560" cy="310896"/>
          </a:xfrm>
          <a:prstGeom prst="rect">
            <a:avLst/>
          </a:prstGeom>
          <a:noFill/>
          <a:ln>
            <a:noFill/>
          </a:ln>
        </p:spPr>
        <p:txBody>
          <a:bodyPr wrap="square" lIns="0" tIns="0" rIns="0" bIns="0" anchor="ctr">
            <a:noAutofit/>
          </a:bodyPr>
          <a:lstStyle/>
          <a:p>
            <a:pPr algn="l"/>
            <a:r>
              <a:rPr lang="en-US" sz="1600" b="1" dirty="0">
                <a:solidFill>
                  <a:srgbClr val="0B6E4F"/>
                </a:solidFill>
                <a:latin typeface="Calibri"/>
                <a:cs typeface="Calibri"/>
              </a:rPr>
              <a:t xml:space="preserve">RIGOR</a:t>
            </a:r>
          </a:p>
        </p:txBody>
      </p:sp>
      <p:sp>
        <p:nvSpPr>
          <p:cNvPr id="1033" name="Coverage"/>
          <p:cNvSpPr txBox="1"/>
          <p:nvPr/>
        </p:nvSpPr>
        <p:spPr>
          <a:xfrm>
            <a:off x="3246120" y="4389120"/>
            <a:ext cx="10515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0.77–1.00</a:t>
            </a:r>
          </a:p>
        </p:txBody>
      </p:sp>
      <p:sp>
        <p:nvSpPr>
          <p:cNvPr id="1034" name="Bar track"/>
          <p:cNvSpPr/>
          <p:nvPr/>
        </p:nvSpPr>
        <p:spPr>
          <a:xfrm>
            <a:off x="4343400" y="4489704"/>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35" name="Bar range" descr="coverage 0.77–1.00"/>
          <p:cNvSpPr/>
          <p:nvPr/>
        </p:nvSpPr>
        <p:spPr>
          <a:xfrm>
            <a:off x="6279642" y="4489704"/>
            <a:ext cx="578358" cy="109728"/>
          </a:xfrm>
          <a:prstGeom prst="roundRect">
            <a:avLst>
              <a:gd name="adj" fmla="val 12000"/>
            </a:avLst>
          </a:prstGeom>
          <a:solidFill>
            <a:srgbClr val="0B6E4F"/>
          </a:solidFill>
          <a:ln>
            <a:noFill/>
          </a:ln>
        </p:spPr>
        <p:txBody>
          <a:bodyPr wrap="square" lIns="0" tIns="0" rIns="0" bIns="0" anchor="t">
            <a:noAutofit/>
          </a:bodyPr>
          <a:lstStyle/>
          <a:p>
            <a:pPr algn="l"/>
          </a:p>
        </p:txBody>
      </p:sp>
      <p:sp>
        <p:nvSpPr>
          <p:cNvPr id="1036" name="Marker" descr="present"/>
          <p:cNvSpPr/>
          <p:nvPr/>
        </p:nvSpPr>
        <p:spPr>
          <a:xfrm>
            <a:off x="7543800" y="4462272"/>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37" name="Count"/>
          <p:cNvSpPr txBox="1"/>
          <p:nvPr/>
        </p:nvSpPr>
        <p:spPr>
          <a:xfrm>
            <a:off x="7818120" y="4389120"/>
            <a:ext cx="12801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9 / 9</a:t>
            </a:r>
          </a:p>
        </p:txBody>
      </p:sp>
      <p:sp>
        <p:nvSpPr>
          <p:cNvPr id="1038" name="Marker" descr="present"/>
          <p:cNvSpPr/>
          <p:nvPr/>
        </p:nvSpPr>
        <p:spPr>
          <a:xfrm>
            <a:off x="9555480" y="4462272"/>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39" name="Count"/>
          <p:cNvSpPr txBox="1"/>
          <p:nvPr/>
        </p:nvSpPr>
        <p:spPr>
          <a:xfrm>
            <a:off x="9829800" y="4389120"/>
            <a:ext cx="12801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9 / 9</a:t>
            </a:r>
          </a:p>
        </p:txBody>
      </p:sp>
      <p:sp>
        <p:nvSpPr>
          <p:cNvPr id="1040" name="End rule"/>
          <p:cNvSpPr/>
          <p:nvPr/>
        </p:nvSpPr>
        <p:spPr>
          <a:xfrm>
            <a:off x="822960" y="4846319"/>
            <a:ext cx="10543032" cy="10972"/>
          </a:xfrm>
          <a:prstGeom prst="rect">
            <a:avLst/>
          </a:prstGeom>
          <a:solidFill>
            <a:srgbClr val="9AA3A9"/>
          </a:solidFill>
          <a:ln>
            <a:noFill/>
          </a:ln>
        </p:spPr>
        <p:txBody>
          <a:bodyPr wrap="square" lIns="0" tIns="0" rIns="0" bIns="0" anchor="t">
            <a:noAutofit/>
          </a:bodyPr>
          <a:lstStyle/>
          <a:p>
            <a:pPr algn="l"/>
          </a:p>
        </p:txBody>
      </p:sp>
      <p:sp>
        <p:nvSpPr>
          <p:cNvPr id="1041" name="Bar tick"/>
          <p:cNvSpPr txBox="1"/>
          <p:nvPr/>
        </p:nvSpPr>
        <p:spPr>
          <a:xfrm>
            <a:off x="41148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0</a:t>
            </a:r>
          </a:p>
        </p:txBody>
      </p:sp>
      <p:sp>
        <p:nvSpPr>
          <p:cNvPr id="1042" name="Bar tick"/>
          <p:cNvSpPr txBox="1"/>
          <p:nvPr/>
        </p:nvSpPr>
        <p:spPr>
          <a:xfrm>
            <a:off x="53721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0.5</a:t>
            </a:r>
          </a:p>
        </p:txBody>
      </p:sp>
      <p:sp>
        <p:nvSpPr>
          <p:cNvPr id="1043" name="Bar tick"/>
          <p:cNvSpPr txBox="1"/>
          <p:nvPr/>
        </p:nvSpPr>
        <p:spPr>
          <a:xfrm>
            <a:off x="66294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1</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21"/>
          <p:cNvSpPr txBox="1"/>
          <p:nvPr/>
        </p:nvSpPr>
        <p:spPr>
          <a:xfrm>
            <a:off x="804672" y="512064"/>
            <a:ext cx="10753344"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2  /  EXTERNAL BENCHMARK</a:t>
            </a:r>
            <a:endParaRPr/>
          </a:p>
        </p:txBody>
      </p:sp>
      <p:sp>
        <p:nvSpPr>
          <p:cNvPr id="976" name="Google Shape;976;p21"/>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RIGOR keeps the link to the data.</a:t>
            </a:r>
            <a:endParaRPr/>
          </a:p>
        </p:txBody>
      </p:sp>
      <p:sp>
        <p:nvSpPr>
          <p:cNvPr id="977" name="Google Shape;977;p21"/>
          <p:cNvSpPr txBox="1"/>
          <p:nvPr/>
        </p:nvSpPr>
        <p:spPr>
          <a:xfrm>
            <a:off x="822960" y="1645920"/>
            <a:ext cx="1068019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BURR benchmark (Laskowski et al., 2025)  ·  ISWC scenario  ·  highest F1 among the compared ontology-learning systems</a:t>
            </a:r>
            <a:endParaRPr/>
          </a:p>
        </p:txBody>
      </p:sp>
      <p:sp>
        <p:nvSpPr>
          <p:cNvPr id="978" name="Rounded Rectangle 977"/>
          <p:cNvSpPr/>
          <p:nvPr/>
        </p:nvSpPr>
        <p:spPr>
          <a:xfrm>
            <a:off x="5870448" y="2139696"/>
            <a:ext cx="5468112" cy="3063240"/>
          </a:xfrm>
          <a:prstGeom prst="roundRect">
            <a:avLst/>
          </a:prstGeom>
          <a:solidFill>
            <a:srgbClr val="FFFFFF"/>
          </a:solidFill>
          <a:ln w="10795">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6099048" y="2322576"/>
            <a:ext cx="1828800" cy="329184"/>
          </a:xfrm>
          <a:prstGeom prst="rect">
            <a:avLst/>
          </a:prstGeom>
          <a:noFill/>
        </p:spPr>
        <p:txBody>
          <a:bodyPr wrap="square" lIns="0" rIns="0" tIns="0" bIns="0" anchor="ctr">
            <a:spAutoFit/>
          </a:bodyPr>
          <a:lstStyle/>
          <a:p>
            <a:r>
              <a:rPr sz="1150" b="1">
                <a:solidFill>
                  <a:srgbClr val="2F6B78"/>
                </a:solidFill>
                <a:latin typeface="Consolas"/>
              </a:rPr>
              <a:t>SYSTEM</a:t>
            </a:r>
          </a:p>
        </p:txBody>
      </p:sp>
      <p:sp>
        <p:nvSpPr>
          <p:cNvPr id="980" name="TextBox 979"/>
          <p:cNvSpPr txBox="1"/>
          <p:nvPr/>
        </p:nvSpPr>
        <p:spPr>
          <a:xfrm>
            <a:off x="815644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CLASSES</a:t>
            </a:r>
          </a:p>
        </p:txBody>
      </p:sp>
      <p:sp>
        <p:nvSpPr>
          <p:cNvPr id="981" name="TextBox 980"/>
          <p:cNvSpPr txBox="1"/>
          <p:nvPr/>
        </p:nvSpPr>
        <p:spPr>
          <a:xfrm>
            <a:off x="9208008"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RELATIONS</a:t>
            </a:r>
          </a:p>
        </p:txBody>
      </p:sp>
      <p:sp>
        <p:nvSpPr>
          <p:cNvPr id="982" name="TextBox 981"/>
          <p:cNvSpPr txBox="1"/>
          <p:nvPr/>
        </p:nvSpPr>
        <p:spPr>
          <a:xfrm>
            <a:off x="1025956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ATTRIBUTES</a:t>
            </a:r>
          </a:p>
        </p:txBody>
      </p:sp>
      <p:cxnSp>
        <p:nvCxnSpPr>
          <p:cNvPr id="983" name="Connector 982"/>
          <p:cNvCxnSpPr/>
          <p:nvPr/>
        </p:nvCxnSpPr>
        <p:spPr>
          <a:xfrm>
            <a:off x="6071616" y="2761488"/>
            <a:ext cx="5065776" cy="0"/>
          </a:xfrm>
          <a:prstGeom prst="line">
            <a:avLst/>
          </a:prstGeom>
          <a:ln w="13970">
            <a:solidFill>
              <a:srgbClr val="D9DEDB"/>
            </a:solidFill>
          </a:ln>
        </p:spPr>
        <p:style>
          <a:lnRef idx="2">
            <a:schemeClr val="accent1"/>
          </a:lnRef>
          <a:fillRef idx="0">
            <a:schemeClr val="accent1"/>
          </a:fillRef>
          <a:effectRef idx="1">
            <a:schemeClr val="accent1"/>
          </a:effectRef>
          <a:fontRef idx="minor">
            <a:schemeClr val="tx1"/>
          </a:fontRef>
        </p:style>
      </p:cxnSp>
      <p:sp>
        <p:nvSpPr>
          <p:cNvPr id="984" name="TextBox 983"/>
          <p:cNvSpPr txBox="1"/>
          <p:nvPr/>
        </p:nvSpPr>
        <p:spPr>
          <a:xfrm>
            <a:off x="6117336" y="2798064"/>
            <a:ext cx="2011680" cy="274320"/>
          </a:xfrm>
          <a:prstGeom prst="rect">
            <a:avLst/>
          </a:prstGeom>
          <a:noFill/>
        </p:spPr>
        <p:txBody>
          <a:bodyPr wrap="square" lIns="0" rIns="0" tIns="0" bIns="0" anchor="ctr">
            <a:spAutoFit/>
          </a:bodyPr>
          <a:lstStyle/>
          <a:p>
            <a:r>
              <a:rPr sz="1639" b="0">
                <a:solidFill>
                  <a:srgbClr val="3A434C"/>
                </a:solidFill>
                <a:latin typeface="Calibri"/>
              </a:rPr>
              <a:t>W3C-Mapper / Ontop</a:t>
            </a:r>
          </a:p>
        </p:txBody>
      </p:sp>
      <p:sp>
        <p:nvSpPr>
          <p:cNvPr id="985" name="TextBox 984"/>
          <p:cNvSpPr txBox="1"/>
          <p:nvPr/>
        </p:nvSpPr>
        <p:spPr>
          <a:xfrm>
            <a:off x="6117336" y="3054096"/>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86" name="TextBox 985"/>
          <p:cNvSpPr txBox="1"/>
          <p:nvPr/>
        </p:nvSpPr>
        <p:spPr>
          <a:xfrm>
            <a:off x="8202167"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0.53</a:t>
            </a:r>
          </a:p>
        </p:txBody>
      </p:sp>
      <p:sp>
        <p:nvSpPr>
          <p:cNvPr id="987" name="TextBox 986"/>
          <p:cNvSpPr txBox="1"/>
          <p:nvPr/>
        </p:nvSpPr>
        <p:spPr>
          <a:xfrm>
            <a:off x="925372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0.11</a:t>
            </a:r>
          </a:p>
        </p:txBody>
      </p:sp>
      <p:sp>
        <p:nvSpPr>
          <p:cNvPr id="988" name="TextBox 987"/>
          <p:cNvSpPr txBox="1"/>
          <p:nvPr/>
        </p:nvSpPr>
        <p:spPr>
          <a:xfrm>
            <a:off x="1030528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0.39</a:t>
            </a:r>
          </a:p>
        </p:txBody>
      </p:sp>
      <p:sp>
        <p:nvSpPr>
          <p:cNvPr id="989" name="TextBox 988"/>
          <p:cNvSpPr txBox="1"/>
          <p:nvPr/>
        </p:nvSpPr>
        <p:spPr>
          <a:xfrm>
            <a:off x="6117336" y="3355848"/>
            <a:ext cx="2011680" cy="274320"/>
          </a:xfrm>
          <a:prstGeom prst="rect">
            <a:avLst/>
          </a:prstGeom>
          <a:noFill/>
        </p:spPr>
        <p:txBody>
          <a:bodyPr wrap="square" lIns="0" rIns="0" tIns="0" bIns="0" anchor="ctr">
            <a:spAutoFit/>
          </a:bodyPr>
          <a:lstStyle/>
          <a:p>
            <a:r>
              <a:rPr sz="1639" b="0">
                <a:solidFill>
                  <a:srgbClr val="3A434C"/>
                </a:solidFill>
                <a:latin typeface="Calibri"/>
              </a:rPr>
              <a:t>RDB2Onto</a:t>
            </a:r>
          </a:p>
        </p:txBody>
      </p:sp>
      <p:sp>
        <p:nvSpPr>
          <p:cNvPr id="990" name="TextBox 989"/>
          <p:cNvSpPr txBox="1"/>
          <p:nvPr/>
        </p:nvSpPr>
        <p:spPr>
          <a:xfrm>
            <a:off x="6117336" y="3611880"/>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91" name="TextBox 990"/>
          <p:cNvSpPr txBox="1"/>
          <p:nvPr/>
        </p:nvSpPr>
        <p:spPr>
          <a:xfrm>
            <a:off x="8202167"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0.67</a:t>
            </a:r>
          </a:p>
        </p:txBody>
      </p:sp>
      <p:sp>
        <p:nvSpPr>
          <p:cNvPr id="992" name="TextBox 991"/>
          <p:cNvSpPr txBox="1"/>
          <p:nvPr/>
        </p:nvSpPr>
        <p:spPr>
          <a:xfrm>
            <a:off x="925372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0.62</a:t>
            </a:r>
          </a:p>
        </p:txBody>
      </p:sp>
      <p:sp>
        <p:nvSpPr>
          <p:cNvPr id="993" name="TextBox 992"/>
          <p:cNvSpPr txBox="1"/>
          <p:nvPr/>
        </p:nvSpPr>
        <p:spPr>
          <a:xfrm>
            <a:off x="1030528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4" name="TextBox 993"/>
          <p:cNvSpPr txBox="1"/>
          <p:nvPr/>
        </p:nvSpPr>
        <p:spPr>
          <a:xfrm>
            <a:off x="6117336" y="3913632"/>
            <a:ext cx="2011680" cy="274320"/>
          </a:xfrm>
          <a:prstGeom prst="rect">
            <a:avLst/>
          </a:prstGeom>
          <a:noFill/>
        </p:spPr>
        <p:txBody>
          <a:bodyPr wrap="square" lIns="0" rIns="0" tIns="0" bIns="0" anchor="ctr">
            <a:spAutoFit/>
          </a:bodyPr>
          <a:lstStyle/>
          <a:p>
            <a:r>
              <a:rPr sz="1639" b="0">
                <a:solidFill>
                  <a:srgbClr val="3A434C"/>
                </a:solidFill>
                <a:latin typeface="Calibri"/>
              </a:rPr>
              <a:t>OntoGenix</a:t>
            </a:r>
          </a:p>
        </p:txBody>
      </p:sp>
      <p:sp>
        <p:nvSpPr>
          <p:cNvPr id="995" name="TextBox 994"/>
          <p:cNvSpPr txBox="1"/>
          <p:nvPr/>
        </p:nvSpPr>
        <p:spPr>
          <a:xfrm>
            <a:off x="6117336" y="4169664"/>
            <a:ext cx="1828800" cy="201168"/>
          </a:xfrm>
          <a:prstGeom prst="rect">
            <a:avLst/>
          </a:prstGeom>
          <a:noFill/>
        </p:spPr>
        <p:txBody>
          <a:bodyPr wrap="square" lIns="0" rIns="0" tIns="0" bIns="0" anchor="ctr">
            <a:spAutoFit/>
          </a:bodyPr>
          <a:lstStyle/>
          <a:p>
            <a:r>
              <a:rPr sz="1130" b="0">
                <a:solidFill>
                  <a:srgbClr val="5B6770"/>
                </a:solidFill>
                <a:latin typeface="Calibri"/>
              </a:rPr>
              <a:t>LLM-based</a:t>
            </a:r>
          </a:p>
        </p:txBody>
      </p:sp>
      <p:sp>
        <p:nvSpPr>
          <p:cNvPr id="996" name="TextBox 995"/>
          <p:cNvSpPr txBox="1"/>
          <p:nvPr/>
        </p:nvSpPr>
        <p:spPr>
          <a:xfrm>
            <a:off x="8202167"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0.58</a:t>
            </a:r>
          </a:p>
        </p:txBody>
      </p:sp>
      <p:sp>
        <p:nvSpPr>
          <p:cNvPr id="997" name="TextBox 996"/>
          <p:cNvSpPr txBox="1"/>
          <p:nvPr/>
        </p:nvSpPr>
        <p:spPr>
          <a:xfrm>
            <a:off x="925372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0.35</a:t>
            </a:r>
          </a:p>
        </p:txBody>
      </p:sp>
      <p:sp>
        <p:nvSpPr>
          <p:cNvPr id="998" name="TextBox 997"/>
          <p:cNvSpPr txBox="1"/>
          <p:nvPr/>
        </p:nvSpPr>
        <p:spPr>
          <a:xfrm>
            <a:off x="1030528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9" name="Rectangle 998"/>
          <p:cNvSpPr/>
          <p:nvPr/>
        </p:nvSpPr>
        <p:spPr>
          <a:xfrm>
            <a:off x="5980176" y="4507992"/>
            <a:ext cx="5248656" cy="512064"/>
          </a:xfrm>
          <a:prstGeom prst="rect">
            <a:avLst/>
          </a:prstGeom>
          <a:solidFill>
            <a:srgbClr val="E9EEEB"/>
          </a:solidFill>
          <a:ln w="9525">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TextBox 999"/>
          <p:cNvSpPr txBox="1"/>
          <p:nvPr/>
        </p:nvSpPr>
        <p:spPr>
          <a:xfrm>
            <a:off x="6117336" y="4471416"/>
            <a:ext cx="2011680" cy="274320"/>
          </a:xfrm>
          <a:prstGeom prst="rect">
            <a:avLst/>
          </a:prstGeom>
          <a:noFill/>
        </p:spPr>
        <p:txBody>
          <a:bodyPr wrap="square" lIns="0" rIns="0" tIns="0" bIns="0" anchor="ctr">
            <a:spAutoFit/>
          </a:bodyPr>
          <a:lstStyle/>
          <a:p>
            <a:r>
              <a:rPr sz="1800" b="1">
                <a:solidFill>
                  <a:srgbClr val="1F2328"/>
                </a:solidFill>
                <a:latin typeface="Calibri"/>
              </a:rPr>
              <a:t>RIGOR</a:t>
            </a:r>
          </a:p>
        </p:txBody>
      </p:sp>
      <p:sp>
        <p:nvSpPr>
          <p:cNvPr id="1001" name="TextBox 1000"/>
          <p:cNvSpPr txBox="1"/>
          <p:nvPr/>
        </p:nvSpPr>
        <p:spPr>
          <a:xfrm>
            <a:off x="6117336" y="4727448"/>
            <a:ext cx="1828800" cy="201168"/>
          </a:xfrm>
          <a:prstGeom prst="rect">
            <a:avLst/>
          </a:prstGeom>
          <a:noFill/>
        </p:spPr>
        <p:txBody>
          <a:bodyPr wrap="square" lIns="0" rIns="0" tIns="0" bIns="0" anchor="ctr">
            <a:spAutoFit/>
          </a:bodyPr>
          <a:lstStyle/>
          <a:p>
            <a:r>
              <a:rPr sz="1130" b="0">
                <a:solidFill>
                  <a:srgbClr val="2F6B78"/>
                </a:solidFill>
                <a:latin typeface="Calibri"/>
              </a:rPr>
              <a:t>LLM + rules</a:t>
            </a:r>
          </a:p>
        </p:txBody>
      </p:sp>
      <p:sp>
        <p:nvSpPr>
          <p:cNvPr id="1002" name="TextBox 1001"/>
          <p:cNvSpPr txBox="1"/>
          <p:nvPr/>
        </p:nvSpPr>
        <p:spPr>
          <a:xfrm>
            <a:off x="8202167"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0.73</a:t>
            </a:r>
          </a:p>
        </p:txBody>
      </p:sp>
      <p:sp>
        <p:nvSpPr>
          <p:cNvPr id="1003" name="TextBox 1002"/>
          <p:cNvSpPr txBox="1"/>
          <p:nvPr/>
        </p:nvSpPr>
        <p:spPr>
          <a:xfrm>
            <a:off x="925372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0.67</a:t>
            </a:r>
          </a:p>
        </p:txBody>
      </p:sp>
      <p:sp>
        <p:nvSpPr>
          <p:cNvPr id="1004" name="TextBox 1003"/>
          <p:cNvSpPr txBox="1"/>
          <p:nvPr/>
        </p:nvSpPr>
        <p:spPr>
          <a:xfrm>
            <a:off x="1030528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0.52</a:t>
            </a:r>
          </a:p>
        </p:txBody>
      </p:sp>
      <p:sp>
        <p:nvSpPr>
          <p:cNvPr id="1007" name="BURR card"/>
          <p:cNvSpPr/>
          <p:nvPr/>
        </p:nvSpPr>
        <p:spPr>
          <a:xfrm>
            <a:off x="841248" y="2139696"/>
            <a:ext cx="4846320" cy="3063240"/>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1008" name="BURR card label"/>
          <p:cNvSpPr txBox="1"/>
          <p:nvPr/>
        </p:nvSpPr>
        <p:spPr>
          <a:xfrm>
            <a:off x="1069848" y="2322576"/>
            <a:ext cx="438912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WHAT BURR CHECKS</a:t>
            </a:r>
          </a:p>
        </p:txBody>
      </p:sp>
      <p:sp>
        <p:nvSpPr>
          <p:cNvPr id="1009" name="BURR card lead"/>
          <p:cNvSpPr txBox="1"/>
          <p:nvPr/>
        </p:nvSpPr>
        <p:spPr>
          <a:xfrm>
            <a:off x="1069848" y="2651760"/>
            <a:ext cx="4389120" cy="310896"/>
          </a:xfrm>
          <a:prstGeom prst="rect">
            <a:avLst/>
          </a:prstGeom>
          <a:noFill/>
          <a:ln>
            <a:noFill/>
          </a:ln>
        </p:spPr>
        <p:txBody>
          <a:bodyPr wrap="square" lIns="0" tIns="0" rIns="0" bIns="0" anchor="t">
            <a:noAutofit/>
          </a:bodyPr>
          <a:lstStyle/>
          <a:p>
            <a:pPr algn="l"/>
            <a:r>
              <a:rPr lang="en-US" sz="1500" b="0" dirty="0">
                <a:solidFill>
                  <a:srgbClr val="1F2328"/>
                </a:solidFill>
                <a:latin typeface="Calibri"/>
                <a:cs typeface="Calibri"/>
              </a:rPr>
              <a:t xml:space="preserve">Every ontology element must map back to the database.</a:t>
            </a:r>
          </a:p>
        </p:txBody>
      </p:sp>
      <p:sp>
        <p:nvSpPr>
          <p:cNvPr id="1010" name="BURR kind 0"/>
          <p:cNvSpPr txBox="1"/>
          <p:nvPr/>
        </p:nvSpPr>
        <p:spPr>
          <a:xfrm>
            <a:off x="1069848" y="3090672"/>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CLASSES</a:t>
            </a:r>
          </a:p>
        </p:txBody>
      </p:sp>
      <p:sp>
        <p:nvSpPr>
          <p:cNvPr id="1011" name="BURR db 0" descr="database element"/>
          <p:cNvSpPr/>
          <p:nvPr/>
        </p:nvSpPr>
        <p:spPr>
          <a:xfrm>
            <a:off x="2075688" y="3090672"/>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a:t>
            </a:r>
          </a:p>
        </p:txBody>
      </p:sp>
      <p:sp>
        <p:nvSpPr>
          <p:cNvPr id="1012" name="BURR arrow 0"/>
          <p:cNvSpPr txBox="1"/>
          <p:nvPr/>
        </p:nvSpPr>
        <p:spPr>
          <a:xfrm>
            <a:off x="3392424" y="3090672"/>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3" name="BURR onto 0" descr="ontology element"/>
          <p:cNvSpPr/>
          <p:nvPr/>
        </p:nvSpPr>
        <p:spPr>
          <a:xfrm>
            <a:off x="3648456" y="3090672"/>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Class: </a:t>
            </a:r>
            <a:r>
              <a:rPr lang="en-US" sz="1050" b="0" dirty="0">
                <a:solidFill>
                  <a:srgbClr val="1F2328"/>
                </a:solidFill>
                <a:latin typeface="Consolas"/>
                <a:cs typeface="Consolas"/>
              </a:rPr>
              <a:t xml:space="preserve">Person</a:t>
            </a:r>
          </a:p>
        </p:txBody>
      </p:sp>
      <p:sp>
        <p:nvSpPr>
          <p:cNvPr id="1014" name="BURR kind 1"/>
          <p:cNvSpPr txBox="1"/>
          <p:nvPr/>
        </p:nvSpPr>
        <p:spPr>
          <a:xfrm>
            <a:off x="1069848" y="3511296"/>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RELATIONS</a:t>
            </a:r>
          </a:p>
        </p:txBody>
      </p:sp>
      <p:sp>
        <p:nvSpPr>
          <p:cNvPr id="1015" name="BURR db 1" descr="database element"/>
          <p:cNvSpPr/>
          <p:nvPr/>
        </p:nvSpPr>
        <p:spPr>
          <a:xfrm>
            <a:off x="2075688" y="3511296"/>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paper.author_id</a:t>
            </a:r>
          </a:p>
        </p:txBody>
      </p:sp>
      <p:sp>
        <p:nvSpPr>
          <p:cNvPr id="1016" name="BURR arrow 1"/>
          <p:cNvSpPr txBox="1"/>
          <p:nvPr/>
        </p:nvSpPr>
        <p:spPr>
          <a:xfrm>
            <a:off x="3392424" y="3511296"/>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7" name="BURR onto 1" descr="ontology element"/>
          <p:cNvSpPr/>
          <p:nvPr/>
        </p:nvSpPr>
        <p:spPr>
          <a:xfrm>
            <a:off x="3648456" y="3511296"/>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ObjectProperty: </a:t>
            </a:r>
            <a:r>
              <a:rPr lang="en-US" sz="1050" b="0" dirty="0">
                <a:solidFill>
                  <a:srgbClr val="1F2328"/>
                </a:solidFill>
                <a:latin typeface="Consolas"/>
                <a:cs typeface="Consolas"/>
              </a:rPr>
              <a:t xml:space="preserve">author</a:t>
            </a:r>
          </a:p>
        </p:txBody>
      </p:sp>
      <p:sp>
        <p:nvSpPr>
          <p:cNvPr id="1018" name="BURR kind 2"/>
          <p:cNvSpPr txBox="1"/>
          <p:nvPr/>
        </p:nvSpPr>
        <p:spPr>
          <a:xfrm>
            <a:off x="1069848" y="3931920"/>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ATTRIBUTES</a:t>
            </a:r>
          </a:p>
        </p:txBody>
      </p:sp>
      <p:sp>
        <p:nvSpPr>
          <p:cNvPr id="1019" name="BURR db 2" descr="database element"/>
          <p:cNvSpPr/>
          <p:nvPr/>
        </p:nvSpPr>
        <p:spPr>
          <a:xfrm>
            <a:off x="2075688" y="3931920"/>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person.name</a:t>
            </a:r>
          </a:p>
        </p:txBody>
      </p:sp>
      <p:sp>
        <p:nvSpPr>
          <p:cNvPr id="1020" name="BURR arrow 2"/>
          <p:cNvSpPr txBox="1"/>
          <p:nvPr/>
        </p:nvSpPr>
        <p:spPr>
          <a:xfrm>
            <a:off x="3392424" y="3931920"/>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21" name="BURR onto 2" descr="ontology element"/>
          <p:cNvSpPr/>
          <p:nvPr/>
        </p:nvSpPr>
        <p:spPr>
          <a:xfrm>
            <a:off x="3648456" y="3931920"/>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DataProperty: </a:t>
            </a:r>
            <a:r>
              <a:rPr lang="en-US" sz="1050" b="0" dirty="0">
                <a:solidFill>
                  <a:srgbClr val="1F2328"/>
                </a:solidFill>
                <a:latin typeface="Consolas"/>
                <a:cs typeface="Consolas"/>
              </a:rPr>
              <a:t xml:space="preserve">name</a:t>
            </a:r>
          </a:p>
        </p:txBody>
      </p:sp>
      <p:sp>
        <p:nvSpPr>
          <p:cNvPr id="1022" name="BURR card how"/>
          <p:cNvSpPr txBox="1"/>
          <p:nvPr/>
        </p:nvSpPr>
        <p:spPr>
          <a:xfrm>
            <a:off x="1069848" y="4352544"/>
            <a:ext cx="4389120" cy="585216"/>
          </a:xfrm>
          <a:prstGeom prst="rect">
            <a:avLst/>
          </a:prstGeom>
          <a:noFill/>
          <a:ln>
            <a:noFill/>
          </a:ln>
        </p:spPr>
        <p:txBody>
          <a:bodyPr wrap="square" lIns="0" tIns="0" rIns="0" bIns="0" anchor="t">
            <a:noAutofit/>
          </a:bodyPr>
          <a:lstStyle/>
          <a:p>
            <a:pPr algn="l"/>
            <a:r>
              <a:rPr lang="en-US" sz="1300" b="0" dirty="0">
                <a:solidFill>
                  <a:srgbClr val="3A434C"/>
                </a:solidFill>
                <a:latin typeface="Calibri"/>
                <a:cs typeface="Calibri"/>
              </a:rPr>
              <a:t xml:space="preserve">Elements match when they map to the same database elements, whatever their names. F1 per element type.</a:t>
            </a:r>
          </a:p>
        </p:txBody>
      </p:sp>
      <p:sp>
        <p:nvSpPr>
          <p:cNvPr id="1023" name="BURR card note"/>
          <p:cNvSpPr txBox="1"/>
          <p:nvPr/>
        </p:nvSpPr>
        <p:spPr>
          <a:xfrm>
            <a:off x="1069848" y="4974336"/>
            <a:ext cx="4389120" cy="182880"/>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Illustrative elements  ·  ISWC gold mapping: D2RQ example by Bizer &amp; Seaborne</a:t>
            </a:r>
          </a:p>
        </p:txBody>
      </p:sp>
      <p:sp>
        <p:nvSpPr>
          <p:cNvPr id="1024" name="BURR caption"/>
          <p:cNvSpPr txBox="1"/>
          <p:nvPr/>
        </p:nvSpPr>
        <p:spPr>
          <a:xfrm>
            <a:off x="850392" y="5413248"/>
            <a:ext cx="10488168" cy="24688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One scenario  ·  9 tables · 46 columns · 11 FKs  ·  RIGOR with Claude  ·  its prov:wasDerivedFrom links exported as a D2RQ mapping  ·  Source: paper Table 13</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2" name="Shape 1012"/>
        <p:cNvGrpSpPr/>
        <p:nvPr/>
      </p:nvGrpSpPr>
      <p:grpSpPr>
        <a:xfrm>
          <a:off x="0" y="0"/>
          <a:ext cx="0" cy="0"/>
          <a:chOff x="0" y="0"/>
          <a:chExt cx="0" cy="0"/>
        </a:xfrm>
      </p:grpSpPr>
      <p:sp>
        <p:nvSpPr>
          <p:cNvPr id="1013" name="Google Shape;1013;p22"/>
          <p:cNvSpPr txBox="1"/>
          <p:nvPr/>
        </p:nvSpPr>
        <p:spPr>
          <a:xfrm>
            <a:off x="813816" y="493776"/>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400">
                <a:solidFill>
                  <a:srgbClr val="0B6E4F"/>
                </a:solidFill>
                <a:latin typeface="Consolas"/>
                <a:ea typeface="Consolas"/>
                <a:cs typeface="Consolas"/>
                <a:sym typeface="Consolas"/>
              </a:rPr>
              <a:t>FUTURE WORK  /  FROM SCHEMAS TO INSTANCES</a:t>
            </a:r>
            <a:endParaRPr/>
          </a:p>
        </p:txBody>
      </p:sp>
      <p:sp>
        <p:nvSpPr>
          <p:cNvPr id="1014" name="Google Shape;1014;p22"/>
          <p:cNvSpPr txBox="1"/>
          <p:nvPr/>
        </p:nvSpPr>
        <p:spPr>
          <a:xfrm>
            <a:off x="813816" y="923544"/>
            <a:ext cx="10698480" cy="64008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1" lang="en-US" sz="3000">
                <a:solidFill>
                  <a:srgbClr val="1F2328"/>
                </a:solidFill>
                <a:latin typeface="Cambria"/>
                <a:ea typeface="Calibri"/>
                <a:cs typeface="Calibri"/>
                <a:sym typeface="Calibri"/>
              </a:rPr>
              <a:t>Next: let the data speak.</a:t>
            </a:r>
            <a:endParaRPr/>
          </a:p>
        </p:txBody>
      </p:sp>
      <p:sp>
        <p:nvSpPr>
          <p:cNvPr id="1015" name="Google Shape;1015;p22"/>
          <p:cNvSpPr txBox="1"/>
          <p:nvPr/>
        </p:nvSpPr>
        <p:spPr>
          <a:xfrm>
            <a:off x="822960" y="1709928"/>
            <a:ext cx="10332720" cy="329184"/>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700">
                <a:solidFill>
                  <a:srgbClr val="5B6770"/>
                </a:solidFill>
                <a:latin typeface="Calibri"/>
                <a:ea typeface="Calibri"/>
                <a:cs typeface="Calibri"/>
                <a:sym typeface="Calibri"/>
              </a:rPr>
              <a:t>Today RIGOR reads schemas and documentation. Instance data could propose new knowledge, for experts to review.</a:t>
            </a:r>
            <a:endParaRPr/>
          </a:p>
        </p:txBody>
      </p:sp>
      <p:sp>
        <p:nvSpPr>
          <p:cNvPr id="1031" name="Future card 1"/>
          <p:cNvSpPr/>
          <p:nvPr/>
        </p:nvSpPr>
        <p:spPr>
          <a:xfrm>
            <a:off x="822960" y="2194560"/>
            <a:ext cx="30175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2" name="Future card 2"/>
          <p:cNvSpPr/>
          <p:nvPr/>
        </p:nvSpPr>
        <p:spPr>
          <a:xfrm>
            <a:off x="4224528" y="2194560"/>
            <a:ext cx="27889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3" name="Future card 3"/>
          <p:cNvSpPr/>
          <p:nvPr/>
        </p:nvSpPr>
        <p:spPr>
          <a:xfrm>
            <a:off x="7397496" y="2194560"/>
            <a:ext cx="3941063"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4" name="Flow arrow"/>
          <p:cNvSpPr/>
          <p:nvPr/>
        </p:nvSpPr>
        <p:spPr>
          <a:xfrm>
            <a:off x="3877056"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5" name="Flow arrow"/>
          <p:cNvSpPr/>
          <p:nvPr/>
        </p:nvSpPr>
        <p:spPr>
          <a:xfrm>
            <a:off x="7050024"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6" name="Card 1 label"/>
          <p:cNvSpPr txBox="1"/>
          <p:nvPr/>
        </p:nvSpPr>
        <p:spPr>
          <a:xfrm>
            <a:off x="1024128" y="2359152"/>
            <a:ext cx="26517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1  INSTANCES</a:t>
            </a:r>
          </a:p>
        </p:txBody>
      </p:sp>
      <p:sp>
        <p:nvSpPr>
          <p:cNvPr id="1037" name="Card 1 sub"/>
          <p:cNvSpPr txBox="1"/>
          <p:nvPr/>
        </p:nvSpPr>
        <p:spPr>
          <a:xfrm>
            <a:off x="1024128" y="2651760"/>
            <a:ext cx="26517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patient rows show</a:t>
            </a:r>
          </a:p>
        </p:txBody>
      </p:sp>
      <p:sp>
        <p:nvSpPr>
          <p:cNvPr id="1038" name="Instance row 0"/>
          <p:cNvSpPr txBox="1"/>
          <p:nvPr/>
        </p:nvSpPr>
        <p:spPr>
          <a:xfrm>
            <a:off x="960120" y="30175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950" b="1" dirty="0">
                <a:solidFill>
                  <a:srgbClr val="5B6770"/>
                </a:solidFill>
                <a:latin typeface="Consolas"/>
                <a:cs typeface="Consolas"/>
              </a:rPr>
              <a:t xml:space="preserve">PATIENT	CISPLATIN	BM_DEP AFTER</a:t>
            </a:r>
          </a:p>
        </p:txBody>
      </p:sp>
      <p:sp>
        <p:nvSpPr>
          <p:cNvPr id="1039" name="Instance row 1"/>
          <p:cNvSpPr/>
          <p:nvPr/>
        </p:nvSpPr>
        <p:spPr>
          <a:xfrm>
            <a:off x="960120" y="3291839"/>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P01	yes	1</a:t>
            </a:r>
          </a:p>
        </p:txBody>
      </p:sp>
      <p:sp>
        <p:nvSpPr>
          <p:cNvPr id="1040" name="Instance row 2"/>
          <p:cNvSpPr/>
          <p:nvPr/>
        </p:nvSpPr>
        <p:spPr>
          <a:xfrm>
            <a:off x="960120" y="356616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P02	yes	1</a:t>
            </a:r>
          </a:p>
        </p:txBody>
      </p:sp>
      <p:sp>
        <p:nvSpPr>
          <p:cNvPr id="1041" name="Instance row 3"/>
          <p:cNvSpPr txBox="1"/>
          <p:nvPr/>
        </p:nvSpPr>
        <p:spPr>
          <a:xfrm>
            <a:off x="960120" y="3840479"/>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P03	no	0</a:t>
            </a:r>
          </a:p>
        </p:txBody>
      </p:sp>
      <p:sp>
        <p:nvSpPr>
          <p:cNvPr id="1042" name="Instance row 4"/>
          <p:cNvSpPr/>
          <p:nvPr/>
        </p:nvSpPr>
        <p:spPr>
          <a:xfrm>
            <a:off x="960120" y="411480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P04	yes	1</a:t>
            </a:r>
          </a:p>
        </p:txBody>
      </p:sp>
      <p:sp>
        <p:nvSpPr>
          <p:cNvPr id="1043" name="Instance row 5"/>
          <p:cNvSpPr txBox="1"/>
          <p:nvPr/>
        </p:nvSpPr>
        <p:spPr>
          <a:xfrm>
            <a:off x="960120" y="43891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P05	no	0</a:t>
            </a:r>
          </a:p>
        </p:txBody>
      </p:sp>
      <p:sp>
        <p:nvSpPr>
          <p:cNvPr id="1044" name="Card 1 note"/>
          <p:cNvSpPr txBox="1"/>
          <p:nvPr/>
        </p:nvSpPr>
        <p:spPr>
          <a:xfrm>
            <a:off x="1024128" y="4736592"/>
            <a:ext cx="2651760" cy="384048"/>
          </a:xfrm>
          <a:prstGeom prst="rect">
            <a:avLst/>
          </a:prstGeom>
          <a:noFill/>
          <a:ln>
            <a:noFill/>
          </a:ln>
        </p:spPr>
        <p:txBody>
          <a:bodyPr wrap="square" lIns="0" tIns="0" rIns="0" bIns="0" anchor="t">
            <a:noAutofit/>
          </a:bodyPr>
          <a:lstStyle/>
          <a:p>
            <a:pPr algn="l"/>
            <a:r>
              <a:rPr lang="en-US" sz="1100" b="0" dirty="0">
                <a:solidFill>
                  <a:srgbClr val="5B6770"/>
                </a:solidFill>
                <a:latin typeface="Calibri"/>
                <a:cs typeface="Calibri"/>
              </a:rPr>
              <a:t xml:space="preserve">Synthetic illustration. Rows also reveal codes: BM_DEP is only 0 or 1.</a:t>
            </a:r>
          </a:p>
        </p:txBody>
      </p:sp>
      <p:sp>
        <p:nvSpPr>
          <p:cNvPr id="1045" name="Card 2 label"/>
          <p:cNvSpPr txBox="1"/>
          <p:nvPr/>
        </p:nvSpPr>
        <p:spPr>
          <a:xfrm>
            <a:off x="4425696" y="2359152"/>
            <a:ext cx="24231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2  + DOCUMENTATION</a:t>
            </a:r>
          </a:p>
        </p:txBody>
      </p:sp>
      <p:sp>
        <p:nvSpPr>
          <p:cNvPr id="1046" name="Card 2 sub"/>
          <p:cNvSpPr txBox="1"/>
          <p:nvPr/>
        </p:nvSpPr>
        <p:spPr>
          <a:xfrm>
            <a:off x="4425696" y="2651760"/>
            <a:ext cx="24231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the drug label says</a:t>
            </a:r>
          </a:p>
        </p:txBody>
      </p:sp>
      <p:sp>
        <p:nvSpPr>
          <p:cNvPr id="1047" name="Drug label quote"/>
          <p:cNvSpPr/>
          <p:nvPr/>
        </p:nvSpPr>
        <p:spPr>
          <a:xfrm>
            <a:off x="4389120" y="3017520"/>
            <a:ext cx="2459736" cy="1115568"/>
          </a:xfrm>
          <a:prstGeom prst="roundRect">
            <a:avLst>
              <a:gd name="adj" fmla="val 12000"/>
            </a:avLst>
          </a:prstGeom>
          <a:solidFill>
            <a:srgbClr val="F3F5F4"/>
          </a:solidFill>
          <a:ln>
            <a:noFill/>
          </a:ln>
        </p:spPr>
        <p:txBody>
          <a:bodyPr wrap="square" lIns="128016" tIns="0" rIns="128016" bIns="0" anchor="ctr">
            <a:noAutofit/>
          </a:bodyPr>
          <a:lstStyle/>
          <a:p>
            <a:pPr algn="l"/>
            <a:r>
              <a:rPr lang="en-US" sz="1400" b="0" dirty="0" i="1">
                <a:solidFill>
                  <a:srgbClr val="1F2328"/>
                </a:solidFill>
                <a:latin typeface="Calibri"/>
                <a:cs typeface="Calibri"/>
              </a:rPr>
              <a:t xml:space="preserve">Myelosuppression (bone-marrow suppression) is a documented adverse reaction of cisplatin.</a:t>
            </a:r>
          </a:p>
        </p:txBody>
      </p:sp>
      <p:sp>
        <p:nvSpPr>
          <p:cNvPr id="1048" name="Quote source"/>
          <p:cNvSpPr txBox="1"/>
          <p:nvPr/>
        </p:nvSpPr>
        <p:spPr>
          <a:xfrm>
            <a:off x="4425696" y="4169664"/>
            <a:ext cx="2423160" cy="201168"/>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Cisplatin drug label, paraphrased</a:t>
            </a:r>
          </a:p>
        </p:txBody>
      </p:sp>
      <p:sp>
        <p:nvSpPr>
          <p:cNvPr id="1049" name="Card 2 note"/>
          <p:cNvSpPr txBox="1"/>
          <p:nvPr/>
        </p:nvSpPr>
        <p:spPr>
          <a:xfrm>
            <a:off x="4425696" y="4480560"/>
            <a:ext cx="2423160" cy="548640"/>
          </a:xfrm>
          <a:prstGeom prst="rect">
            <a:avLst/>
          </a:prstGeom>
          <a:noFill/>
          <a:ln>
            <a:noFill/>
          </a:ln>
        </p:spPr>
        <p:txBody>
          <a:bodyPr wrap="square" lIns="0" tIns="0" rIns="0" bIns="0" anchor="t">
            <a:noAutofit/>
          </a:bodyPr>
          <a:lstStyle/>
          <a:p>
            <a:pPr algn="l"/>
            <a:r>
              <a:rPr lang="en-US" sz="1200" b="0" dirty="0">
                <a:solidFill>
                  <a:srgbClr val="3A434C"/>
                </a:solidFill>
                <a:latin typeface="Calibri"/>
                <a:cs typeface="Calibri"/>
              </a:rPr>
              <a:t xml:space="preserve">Timing is evidence too: BM_DEP is recorded after the first cycle.</a:t>
            </a:r>
          </a:p>
        </p:txBody>
      </p:sp>
      <p:sp>
        <p:nvSpPr>
          <p:cNvPr id="1050" name="Card 3 label"/>
          <p:cNvSpPr txBox="1"/>
          <p:nvPr/>
        </p:nvSpPr>
        <p:spPr>
          <a:xfrm>
            <a:off x="7598664" y="2359152"/>
            <a:ext cx="3575303" cy="274320"/>
          </a:xfrm>
          <a:prstGeom prst="rect">
            <a:avLst/>
          </a:prstGeom>
          <a:noFill/>
          <a:ln>
            <a:noFill/>
          </a:ln>
        </p:spPr>
        <p:txBody>
          <a:bodyPr wrap="square" lIns="0" tIns="0" rIns="0" bIns="0" anchor="t">
            <a:noAutofit/>
          </a:bodyPr>
          <a:lstStyle/>
          <a:p>
            <a:pPr algn="l"/>
            <a:r>
              <a:rPr lang="en-US" sz="1300" b="1" dirty="0">
                <a:solidFill>
                  <a:srgbClr val="0B6E4F"/>
                </a:solidFill>
                <a:latin typeface="Consolas"/>
                <a:cs typeface="Consolas"/>
              </a:rPr>
              <a:t xml:space="preserve">3  CANDIDATE KNOWLEDGE</a:t>
            </a:r>
          </a:p>
        </p:txBody>
      </p:sp>
      <p:sp>
        <p:nvSpPr>
          <p:cNvPr id="1051" name="Card 3 sub"/>
          <p:cNvSpPr txBox="1"/>
          <p:nvPr/>
        </p:nvSpPr>
        <p:spPr>
          <a:xfrm>
            <a:off x="7598664" y="2651760"/>
            <a:ext cx="3575303"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A reviewable hypothesis, not a fact</a:t>
            </a:r>
          </a:p>
        </p:txBody>
      </p:sp>
      <p:sp>
        <p:nvSpPr>
          <p:cNvPr id="1052" name="Code 1052" descr="OWL Manchester Syntax excerpt"/>
          <p:cNvSpPr txBox="1"/>
          <p:nvPr/>
        </p:nvSpPr>
        <p:spPr>
          <a:xfrm>
            <a:off x="7534656" y="2962656"/>
            <a:ext cx="3666744" cy="1575054"/>
          </a:xfrm>
          <a:prstGeom prst="roundRect">
            <a:avLst>
              <a:gd name="adj" fmla="val 5000"/>
            </a:avLst>
          </a:prstGeom>
          <a:solidFill>
            <a:srgbClr val="F6F8FA"/>
          </a:solidFill>
          <a:ln w="9525">
            <a:solidFill>
              <a:srgbClr val="D0D7DE"/>
            </a:solidFill>
          </a:ln>
        </p:spPr>
        <p:txBody>
          <a:bodyPr wrap="none" lIns="91440" tIns="73152" rIns="91440" bIns="54864" anchor="t">
            <a:noAutofit/>
          </a:bodyPr>
          <a:lstStyle/>
          <a:p>
            <a:pPr>
              <a:lnSpc>
                <a:spcPts val="1250"/>
              </a:lnSpc>
              <a:spcBef>
                <a:spcPts val="0"/>
              </a:spcBef>
            </a:pPr>
            <a:r>
              <a:rPr lang="en-US" sz="1100" b="1" i="0" dirty="0">
                <a:solidFill>
                  <a:srgbClr val="0B6E4F"/>
                </a:solidFill>
                <a:latin typeface="Consolas"/>
                <a:cs typeface="Consolas"/>
              </a:rPr>
              <a:t xml:space="preserve">Individual:</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cisplatin_bmdep</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Types: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CandidateAssociation</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Facts: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hasDrug</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hasCondition</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BoneMarrowDepression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status</a:t>
            </a:r>
            <a:r>
              <a:rPr lang="en-US" sz="1100" b="0" i="0" dirty="0">
                <a:solidFill>
                  <a:srgbClr val="1F2328"/>
                </a:solidFill>
                <a:latin typeface="Consolas"/>
                <a:cs typeface="Consolas"/>
              </a:rPr>
              <a:t xml:space="preserve"> </a:t>
            </a:r>
            <a:r>
              <a:rPr lang="en-US" sz="1100" b="0" i="0" dirty="0">
                <a:solidFill>
                  <a:srgbClr val="A3401E"/>
                </a:solidFill>
                <a:latin typeface="Consolas"/>
                <a:cs typeface="Consolas"/>
              </a:rPr>
              <a:t xml:space="preserve">"needs expert review"</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Annotations: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src:BM_DEP</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doc:cisplatin_label</a:t>
            </a:r>
            <a:endParaRPr lang="en-US" sz="1100"/>
          </a:p>
        </p:txBody>
      </p:sp>
      <p:sp>
        <p:nvSpPr>
          <p:cNvPr id="1053" name="Card 3 note"/>
          <p:cNvSpPr txBox="1"/>
          <p:nvPr/>
        </p:nvSpPr>
        <p:spPr>
          <a:xfrm>
            <a:off x="7598664" y="4626864"/>
            <a:ext cx="3575303" cy="475488"/>
          </a:xfrm>
          <a:prstGeom prst="rect">
            <a:avLst/>
          </a:prstGeom>
          <a:noFill/>
          <a:ln>
            <a:noFill/>
          </a:ln>
        </p:spPr>
        <p:txBody>
          <a:bodyPr wrap="square" lIns="0" tIns="0" rIns="0" bIns="0" anchor="t">
            <a:noAutofit/>
          </a:bodyPr>
          <a:lstStyle/>
          <a:p>
            <a:pPr algn="l"/>
            <a:r>
              <a:rPr lang="en-US" sz="1100" b="1" dirty="0">
                <a:solidFill>
                  <a:srgbClr val="B23A1E"/>
                </a:solidFill>
                <a:latin typeface="Calibri"/>
                <a:cs typeface="Calibri"/>
              </a:rPr>
              <a:t xml:space="preserve">No causes axiom. </a:t>
            </a:r>
            <a:r>
              <a:rPr lang="en-US" sz="1100" b="0" dirty="0">
                <a:solidFill>
                  <a:srgbClr val="3A434C"/>
                </a:solidFill>
                <a:latin typeface="Calibri"/>
                <a:cs typeface="Calibri"/>
              </a:rPr>
              <a:t xml:space="preserve">Co-administered gemcitabine, radiotherapy or cirrhosis can also suppress the marrow.</a:t>
            </a:r>
          </a:p>
        </p:txBody>
      </p:sp>
      <p:sp>
        <p:nvSpPr>
          <p:cNvPr id="1054" name="Also next strip"/>
          <p:cNvSpPr/>
          <p:nvPr/>
        </p:nvSpPr>
        <p:spPr>
          <a:xfrm>
            <a:off x="822960" y="5340096"/>
            <a:ext cx="10515600" cy="420624"/>
          </a:xfrm>
          <a:prstGeom prst="roundRect">
            <a:avLst>
              <a:gd name="adj" fmla="val 12000"/>
            </a:avLst>
          </a:prstGeom>
          <a:solidFill>
            <a:srgbClr val="E6F2EC"/>
          </a:solidFill>
          <a:ln>
            <a:noFill/>
          </a:ln>
        </p:spPr>
        <p:txBody>
          <a:bodyPr wrap="square" lIns="182880" tIns="0" rIns="182880" bIns="0" anchor="ctr">
            <a:noAutofit/>
          </a:bodyPr>
          <a:lstStyle/>
          <a:p>
            <a:pPr algn="l"/>
            <a:r>
              <a:rPr lang="en-US" sz="1250" b="1" dirty="0">
                <a:solidFill>
                  <a:srgbClr val="0B6E4F"/>
                </a:solidFill>
                <a:latin typeface="Calibri"/>
                <a:cs typeface="Calibri"/>
              </a:rPr>
              <a:t xml:space="preserve">ALSO NEXT   </a:t>
            </a:r>
            <a:r>
              <a:rPr lang="en-US" sz="1250" b="0" dirty="0">
                <a:solidFill>
                  <a:srgbClr val="1F2328"/>
                </a:solidFill>
                <a:latin typeface="Calibri"/>
                <a:cs typeface="Calibri"/>
              </a:rPr>
              <a:t xml:space="preserve">Validator and reasoner feedback inside the loop, to catch residual P19  ·  aggregate statistics only, so patient data stays in the hospital</a:t>
            </a:r>
          </a:p>
        </p:txBody>
      </p:sp>
      <p:sp>
        <p:nvSpPr>
          <p:cNvPr id="1055" name="Future caption"/>
          <p:cNvSpPr txBox="1"/>
          <p:nvPr/>
        </p:nvSpPr>
        <p:spPr>
          <a:xfrm>
            <a:off x="850392" y="587044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Instance rows are synthetic. Future directions follow paper Section 5 (instance-level signals, tool feedback, symbolic reasoning).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5" name="Shape 1035"/>
        <p:cNvGrpSpPr/>
        <p:nvPr/>
      </p:nvGrpSpPr>
      <p:grpSpPr>
        <a:xfrm>
          <a:off x="0" y="0"/>
          <a:ext cx="0" cy="0"/>
          <a:chOff x="0" y="0"/>
          <a:chExt cx="0" cy="0"/>
        </a:xfrm>
      </p:grpSpPr>
      <p:sp>
        <p:nvSpPr>
          <p:cNvPr id="1036" name="TextBox 1035"/>
          <p:cNvSpPr txBox="1"/>
          <p:nvPr/>
        </p:nvSpPr>
        <p:spPr>
          <a:xfrm>
            <a:off x="813816" y="466344"/>
            <a:ext cx="10515600" cy="310896"/>
          </a:xfrm>
          <a:prstGeom prst="rect">
            <a:avLst/>
          </a:prstGeom>
          <a:noFill/>
        </p:spPr>
        <p:txBody>
          <a:bodyPr wrap="square" lIns="0" rIns="0" tIns="0" bIns="0" anchor="ctr">
            <a:spAutoFit/>
          </a:bodyPr>
          <a:lstStyle/>
          <a:p>
            <a:r>
              <a:rPr sz="1400" b="1">
                <a:solidFill>
                  <a:srgbClr val="0B6E4F"/>
                </a:solidFill>
                <a:latin typeface="Consolas"/>
              </a:rPr>
              <a:t>RIGOR  /  ISWC 2026</a:t>
            </a:r>
          </a:p>
        </p:txBody>
      </p:sp>
      <p:sp>
        <p:nvSpPr>
          <p:cNvPr id="1037" name="TextBox 1036"/>
          <p:cNvSpPr txBox="1"/>
          <p:nvPr/>
        </p:nvSpPr>
        <p:spPr>
          <a:xfrm>
            <a:off x="813816" y="914400"/>
            <a:ext cx="6766560" cy="758952"/>
          </a:xfrm>
          <a:prstGeom prst="rect">
            <a:avLst/>
          </a:prstGeom>
          <a:noFill/>
        </p:spPr>
        <p:txBody>
          <a:bodyPr wrap="square" lIns="0" rIns="0" tIns="0" bIns="0" anchor="ctr">
            <a:spAutoFit/>
          </a:bodyPr>
          <a:lstStyle/>
          <a:p>
            <a:r>
              <a:rPr sz="4600" b="1">
                <a:solidFill>
                  <a:srgbClr val="1F2328"/>
                </a:solidFill>
                <a:latin typeface="Cambria"/>
              </a:rPr>
              <a:t>Thank you.</a:t>
            </a:r>
          </a:p>
        </p:txBody>
      </p:sp>
      <p:sp>
        <p:nvSpPr>
          <p:cNvPr id="1038" name="TextBox 1037"/>
          <p:cNvSpPr txBox="1"/>
          <p:nvPr/>
        </p:nvSpPr>
        <p:spPr>
          <a:xfrm>
            <a:off x="841248" y="1773936"/>
            <a:ext cx="6949440" cy="493776"/>
          </a:xfrm>
          <a:prstGeom prst="rect">
            <a:avLst/>
          </a:prstGeom>
          <a:noFill/>
        </p:spPr>
        <p:txBody>
          <a:bodyPr wrap="square" lIns="0" rIns="0" tIns="0" bIns="0" anchor="ctr">
            <a:spAutoFit/>
          </a:bodyPr>
          <a:lstStyle/>
          <a:p>
            <a:r>
              <a:rPr sz="2600" b="0">
                <a:solidFill>
                  <a:srgbClr val="2F6B78"/>
                </a:solidFill>
                <a:latin typeface="Cambria"/>
              </a:rPr>
              <a:t>Questions?</a:t>
            </a:r>
          </a:p>
        </p:txBody>
      </p:sp>
      <p:sp>
        <p:nvSpPr>
          <p:cNvPr id="1039" name="Rounded Rectangle 1038"/>
          <p:cNvSpPr/>
          <p:nvPr/>
        </p:nvSpPr>
        <p:spPr>
          <a:xfrm>
            <a:off x="822960" y="2532888"/>
            <a:ext cx="7114032" cy="2560320"/>
          </a:xfrm>
          <a:prstGeom prst="roundRect">
            <a:avLst/>
          </a:prstGeom>
          <a:solidFill>
            <a:srgbClr val="F3F5F4"/>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TextBox 1039"/>
          <p:cNvSpPr txBox="1"/>
          <p:nvPr/>
        </p:nvSpPr>
        <p:spPr>
          <a:xfrm>
            <a:off x="1078992" y="2743200"/>
            <a:ext cx="6537960" cy="329184"/>
          </a:xfrm>
          <a:prstGeom prst="rect">
            <a:avLst/>
          </a:prstGeom>
          <a:noFill/>
        </p:spPr>
        <p:txBody>
          <a:bodyPr wrap="square" lIns="0" rIns="0" tIns="0" bIns="0" anchor="ctr">
            <a:spAutoFit/>
          </a:bodyPr>
          <a:lstStyle/>
          <a:p>
            <a:r>
              <a:rPr sz="1450" b="1">
                <a:solidFill>
                  <a:srgbClr val="2F6B78"/>
                </a:solidFill>
                <a:latin typeface="Consolas"/>
              </a:rPr>
              <a:t>FROM A DATABASE SCHEMA TO AN ONTOLOGY</a:t>
            </a:r>
          </a:p>
        </p:txBody>
      </p:sp>
      <p:sp>
        <p:nvSpPr>
          <p:cNvPr id="1041" name="Rounded Rectangle 1040"/>
          <p:cNvSpPr/>
          <p:nvPr/>
        </p:nvSpPr>
        <p:spPr>
          <a:xfrm>
            <a:off x="1143000" y="3264408"/>
            <a:ext cx="1874519" cy="914400"/>
          </a:xfrm>
          <a:prstGeom prst="roundRect">
            <a:avLst/>
          </a:prstGeom>
          <a:solidFill>
            <a:srgbClr val="FFFFFF"/>
          </a:solidFill>
          <a:ln w="1270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TextBox 1041"/>
          <p:cNvSpPr txBox="1"/>
          <p:nvPr/>
        </p:nvSpPr>
        <p:spPr>
          <a:xfrm>
            <a:off x="1280160" y="3355848"/>
            <a:ext cx="1600200" cy="274320"/>
          </a:xfrm>
          <a:prstGeom prst="rect">
            <a:avLst/>
          </a:prstGeom>
          <a:noFill/>
        </p:spPr>
        <p:txBody>
          <a:bodyPr wrap="square" lIns="0" rIns="0" tIns="0" bIns="0" anchor="ctr">
            <a:spAutoFit/>
          </a:bodyPr>
          <a:lstStyle/>
          <a:p>
            <a:r>
              <a:rPr sz="1900" b="1">
                <a:solidFill>
                  <a:srgbClr val="1F2328"/>
                </a:solidFill>
                <a:latin typeface="Calibri"/>
              </a:rPr>
              <a:t>admission</a:t>
            </a:r>
          </a:p>
        </p:txBody>
      </p:sp>
      <p:sp>
        <p:nvSpPr>
          <p:cNvPr id="1043" name="TextBox 1042"/>
          <p:cNvSpPr txBox="1"/>
          <p:nvPr/>
        </p:nvSpPr>
        <p:spPr>
          <a:xfrm>
            <a:off x="1280160" y="3675887"/>
            <a:ext cx="1554480" cy="219456"/>
          </a:xfrm>
          <a:prstGeom prst="rect">
            <a:avLst/>
          </a:prstGeom>
          <a:noFill/>
        </p:spPr>
        <p:txBody>
          <a:bodyPr wrap="square" lIns="0" rIns="0" tIns="0" bIns="0" anchor="ctr">
            <a:spAutoFit/>
          </a:bodyPr>
          <a:lstStyle/>
          <a:p>
            <a:r>
              <a:rPr sz="1230" b="0">
                <a:solidFill>
                  <a:srgbClr val="5B6770"/>
                </a:solidFill>
                <a:latin typeface="Consolas"/>
              </a:rPr>
              <a:t>patient_id  FK</a:t>
            </a:r>
          </a:p>
        </p:txBody>
      </p:sp>
      <p:sp>
        <p:nvSpPr>
          <p:cNvPr id="1044" name="Chevron 1043"/>
          <p:cNvSpPr/>
          <p:nvPr/>
        </p:nvSpPr>
        <p:spPr>
          <a:xfrm>
            <a:off x="3282696" y="3483864"/>
            <a:ext cx="621792" cy="411480"/>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TextBox 1044"/>
          <p:cNvSpPr txBox="1"/>
          <p:nvPr/>
        </p:nvSpPr>
        <p:spPr>
          <a:xfrm>
            <a:off x="3291840" y="3986784"/>
            <a:ext cx="685800" cy="228600"/>
          </a:xfrm>
          <a:prstGeom prst="rect">
            <a:avLst/>
          </a:prstGeom>
          <a:noFill/>
        </p:spPr>
        <p:txBody>
          <a:bodyPr wrap="square" lIns="0" rIns="0" tIns="0" bIns="0" anchor="ctr">
            <a:spAutoFit/>
          </a:bodyPr>
          <a:lstStyle/>
          <a:p>
            <a:pPr algn="ctr"/>
            <a:r>
              <a:rPr sz="1200" b="1">
                <a:solidFill>
                  <a:srgbClr val="0B6E4F"/>
                </a:solidFill>
                <a:latin typeface="Consolas"/>
              </a:rPr>
              <a:t>RIGOR</a:t>
            </a:r>
          </a:p>
        </p:txBody>
      </p:sp>
      <p:sp>
        <p:nvSpPr>
          <p:cNvPr id="1046" name="Rounded Rectangle 1045"/>
          <p:cNvSpPr/>
          <p:nvPr/>
        </p:nvSpPr>
        <p:spPr>
          <a:xfrm>
            <a:off x="4206240" y="3264408"/>
            <a:ext cx="3383280" cy="914400"/>
          </a:xfrm>
          <a:prstGeom prst="roundRect">
            <a:avLst/>
          </a:prstGeom>
          <a:solidFill>
            <a:srgbClr val="FFFFFF"/>
          </a:solidFill>
          <a:ln w="1270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TextBox 1046"/>
          <p:cNvSpPr txBox="1"/>
          <p:nvPr/>
        </p:nvSpPr>
        <p:spPr>
          <a:xfrm>
            <a:off x="4343400" y="3337560"/>
            <a:ext cx="3127248" cy="310896"/>
          </a:xfrm>
          <a:prstGeom prst="rect">
            <a:avLst/>
          </a:prstGeom>
          <a:noFill/>
        </p:spPr>
        <p:txBody>
          <a:bodyPr wrap="square" lIns="0" rIns="0" tIns="0" bIns="0" anchor="ctr">
            <a:spAutoFit/>
          </a:bodyPr>
          <a:lstStyle/>
          <a:p>
            <a:r>
              <a:rPr sz="1700" b="1">
                <a:solidFill>
                  <a:srgbClr val="1F2328"/>
                </a:solidFill>
                <a:latin typeface="Calibri"/>
              </a:rPr>
              <a:t>Admission → PatientData</a:t>
            </a:r>
          </a:p>
        </p:txBody>
      </p:sp>
      <p:sp>
        <p:nvSpPr>
          <p:cNvPr id="1048" name="TextBox 1047"/>
          <p:cNvSpPr txBox="1"/>
          <p:nvPr/>
        </p:nvSpPr>
        <p:spPr>
          <a:xfrm>
            <a:off x="4343400" y="3675887"/>
            <a:ext cx="3127248" cy="246888"/>
          </a:xfrm>
          <a:prstGeom prst="rect">
            <a:avLst/>
          </a:prstGeom>
          <a:noFill/>
        </p:spPr>
        <p:txBody>
          <a:bodyPr wrap="square" lIns="0" rIns="0" tIns="0" bIns="0" anchor="ctr">
            <a:spAutoFit/>
          </a:bodyPr>
          <a:lstStyle/>
          <a:p>
            <a:r>
              <a:rPr sz="1250" b="0">
                <a:solidFill>
                  <a:srgbClr val="5B6770"/>
                </a:solidFill>
                <a:latin typeface="Calibri"/>
              </a:rPr>
              <a:t>Meaningful labels + provenance</a:t>
            </a:r>
          </a:p>
        </p:txBody>
      </p:sp>
      <p:sp>
        <p:nvSpPr>
          <p:cNvPr id="1049" name="TextBox 1048"/>
          <p:cNvSpPr txBox="1"/>
          <p:nvPr/>
        </p:nvSpPr>
        <p:spPr>
          <a:xfrm>
            <a:off x="1133856" y="4471416"/>
            <a:ext cx="6364224" cy="320040"/>
          </a:xfrm>
          <a:prstGeom prst="rect">
            <a:avLst/>
          </a:prstGeom>
          <a:noFill/>
        </p:spPr>
        <p:txBody>
          <a:bodyPr wrap="square" lIns="0" rIns="0" tIns="0" bIns="0" anchor="ctr">
            <a:spAutoFit/>
          </a:bodyPr>
          <a:lstStyle/>
          <a:p>
            <a:r>
              <a:rPr sz="1560" b="0">
                <a:solidFill>
                  <a:srgbClr val="1F2328"/>
                </a:solidFill>
                <a:latin typeface="Calibri"/>
              </a:rPr>
              <a:t>Meaning without losing structure · link to the data intact · preferred by experts</a:t>
            </a:r>
          </a:p>
        </p:txBody>
      </p:sp>
      <p:sp>
        <p:nvSpPr>
          <p:cNvPr id="1050" name="Rounded Rectangle 1049"/>
          <p:cNvSpPr/>
          <p:nvPr/>
        </p:nvSpPr>
        <p:spPr>
          <a:xfrm>
            <a:off x="8183879" y="2523744"/>
            <a:ext cx="3136392" cy="2871216"/>
          </a:xfrm>
          <a:prstGeom prst="roundRect">
            <a:avLst/>
          </a:prstGeom>
          <a:solidFill>
            <a:srgbClr val="F3F5F4"/>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TextBox 1050"/>
          <p:cNvSpPr txBox="1"/>
          <p:nvPr/>
        </p:nvSpPr>
        <p:spPr>
          <a:xfrm>
            <a:off x="8403336" y="2724912"/>
            <a:ext cx="2724912" cy="274320"/>
          </a:xfrm>
          <a:prstGeom prst="rect">
            <a:avLst/>
          </a:prstGeom>
          <a:noFill/>
        </p:spPr>
        <p:txBody>
          <a:bodyPr wrap="square" lIns="0" rIns="0" tIns="0" bIns="0" anchor="ctr">
            <a:spAutoFit/>
          </a:bodyPr>
          <a:lstStyle/>
          <a:p>
            <a:r>
              <a:rPr sz="1400" b="1">
                <a:solidFill>
                  <a:srgbClr val="2F6B78"/>
                </a:solidFill>
                <a:latin typeface="Consolas"/>
              </a:rPr>
              <a:t>PAPER + OPEN SOURCE</a:t>
            </a:r>
          </a:p>
        </p:txBody>
      </p:sp>
      <p:pic>
        <p:nvPicPr>
          <p:cNvPr id="1052" name="Picture 1051" descr="QR code: https://arxiv.org/abs/2506.01232 (paper)"/>
          <p:cNvPicPr>
            <a:picLocks noChangeAspect="1"/>
          </p:cNvPicPr>
          <p:nvPr/>
        </p:nvPicPr>
        <p:blipFill>
          <a:blip r:embed="rId3"/>
          <a:stretch>
            <a:fillRect/>
          </a:stretch>
        </p:blipFill>
        <p:spPr>
          <a:xfrm>
            <a:off x="8458200" y="3182112"/>
            <a:ext cx="1316736" cy="1316736"/>
          </a:xfrm>
          <a:prstGeom prst="rect">
            <a:avLst/>
          </a:prstGeom>
        </p:spPr>
      </p:pic>
      <p:sp>
        <p:nvSpPr>
          <p:cNvPr id="1053" name="TextBox 1052"/>
          <p:cNvSpPr txBox="1"/>
          <p:nvPr/>
        </p:nvSpPr>
        <p:spPr>
          <a:xfrm>
            <a:off x="8412480" y="4572000"/>
            <a:ext cx="1408176" cy="265176"/>
          </a:xfrm>
          <a:prstGeom prst="rect">
            <a:avLst/>
          </a:prstGeom>
          <a:noFill/>
        </p:spPr>
        <p:txBody>
          <a:bodyPr wrap="square" lIns="0" rIns="0" tIns="0" bIns="0" anchor="ctr">
            <a:spAutoFit/>
          </a:bodyPr>
          <a:lstStyle/>
          <a:p>
            <a:pPr algn="ctr"/>
            <a:r>
              <a:rPr sz="1500" b="1">
                <a:solidFill>
                  <a:srgbClr val="1F2328"/>
                </a:solidFill>
                <a:latin typeface="Calibri"/>
              </a:rPr>
              <a:t>Paper</a:t>
            </a:r>
          </a:p>
        </p:txBody>
      </p:sp>
      <p:pic>
        <p:nvPicPr>
          <p:cNvPr id="1054" name="Picture 1053" descr="QR code: https://github.com/NadeenAhmad/RIGOR (code)"/>
          <p:cNvPicPr>
            <a:picLocks noChangeAspect="1"/>
          </p:cNvPicPr>
          <p:nvPr/>
        </p:nvPicPr>
        <p:blipFill>
          <a:blip r:embed="rId4"/>
          <a:stretch>
            <a:fillRect/>
          </a:stretch>
        </p:blipFill>
        <p:spPr>
          <a:xfrm>
            <a:off x="10012680" y="3182112"/>
            <a:ext cx="1316736" cy="1316736"/>
          </a:xfrm>
          <a:prstGeom prst="rect">
            <a:avLst/>
          </a:prstGeom>
        </p:spPr>
      </p:pic>
      <p:sp>
        <p:nvSpPr>
          <p:cNvPr id="1055" name="TextBox 1054"/>
          <p:cNvSpPr txBox="1"/>
          <p:nvPr/>
        </p:nvSpPr>
        <p:spPr>
          <a:xfrm>
            <a:off x="9966959" y="4572000"/>
            <a:ext cx="1408176" cy="265176"/>
          </a:xfrm>
          <a:prstGeom prst="rect">
            <a:avLst/>
          </a:prstGeom>
          <a:noFill/>
        </p:spPr>
        <p:txBody>
          <a:bodyPr wrap="square" lIns="0" rIns="0" tIns="0" bIns="0" anchor="ctr">
            <a:spAutoFit/>
          </a:bodyPr>
          <a:lstStyle/>
          <a:p>
            <a:pPr algn="ctr"/>
            <a:r>
              <a:rPr sz="1500" b="1">
                <a:solidFill>
                  <a:srgbClr val="1F2328"/>
                </a:solidFill>
                <a:latin typeface="Calibri"/>
              </a:rPr>
              <a:t>GitHub</a:t>
            </a:r>
          </a:p>
        </p:txBody>
      </p:sp>
      <p:cxnSp>
        <p:nvCxnSpPr>
          <p:cNvPr id="1056" name="Connector 1055"/>
          <p:cNvCxnSpPr/>
          <p:nvPr/>
        </p:nvCxnSpPr>
        <p:spPr>
          <a:xfrm>
            <a:off x="832104" y="5660136"/>
            <a:ext cx="10488168" cy="0"/>
          </a:xfrm>
          <a:prstGeom prst="line">
            <a:avLst/>
          </a:prstGeom>
          <a:ln w="12700">
            <a:solidFill>
              <a:srgbClr val="D9DEDB"/>
            </a:solidFill>
          </a:ln>
        </p:spPr>
        <p:style>
          <a:lnRef idx="2">
            <a:schemeClr val="accent1"/>
          </a:lnRef>
          <a:fillRef idx="0">
            <a:schemeClr val="accent1"/>
          </a:fillRef>
          <a:effectRef idx="1">
            <a:schemeClr val="accent1"/>
          </a:effectRef>
          <a:fontRef idx="minor">
            <a:schemeClr val="tx1"/>
          </a:fontRef>
        </p:style>
      </p:cxnSp>
      <p:sp>
        <p:nvSpPr>
          <p:cNvPr id="1057" name="TextBox 1056"/>
          <p:cNvSpPr txBox="1"/>
          <p:nvPr/>
        </p:nvSpPr>
        <p:spPr>
          <a:xfrm>
            <a:off x="841248" y="5788152"/>
            <a:ext cx="8778240" cy="292608"/>
          </a:xfrm>
          <a:prstGeom prst="rect">
            <a:avLst/>
          </a:prstGeom>
          <a:noFill/>
        </p:spPr>
        <p:txBody>
          <a:bodyPr wrap="square" lIns="0" rIns="0" tIns="0" bIns="0" anchor="ctr">
            <a:spAutoFit/>
          </a:bodyPr>
          <a:lstStyle/>
          <a:p>
            <a:r>
              <a:rPr sz="1700" b="0">
                <a:solidFill>
                  <a:srgbClr val="1F2328"/>
                </a:solidFill>
                <a:latin typeface="Calibri"/>
              </a:rPr>
              <a:t>nadeen.fathallah@ki.uni-stuttgart.de</a:t>
            </a:r>
          </a:p>
        </p:txBody>
      </p:sp>
      <p:sp>
        <p:nvSpPr>
          <p:cNvPr id="1058" name="TextBox 1057"/>
          <p:cNvSpPr txBox="1"/>
          <p:nvPr/>
        </p:nvSpPr>
        <p:spPr>
          <a:xfrm>
            <a:off x="9418320" y="5769864"/>
            <a:ext cx="1883664" cy="274320"/>
          </a:xfrm>
          <a:prstGeom prst="rect">
            <a:avLst/>
          </a:prstGeom>
          <a:noFill/>
        </p:spPr>
        <p:txBody>
          <a:bodyPr wrap="square" lIns="0" rIns="0" tIns="0" bIns="0" anchor="ctr">
            <a:spAutoFit/>
          </a:bodyPr>
          <a:lstStyle/>
          <a:p>
            <a:pPr algn="r"/>
            <a:r>
              <a:rPr sz="1270" b="0">
                <a:solidFill>
                  <a:srgbClr val="5B6770"/>
                </a:solidFill>
                <a:latin typeface="Calibri"/>
              </a:rPr>
              <a:t>ISWC 2026 · Bari</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B1</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Raw OOPS! pitfall counts (paper Table 7).</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OOPS! findings per ontology (lower is better) · Same dataset and generator model in each comparison</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5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500" b="1">
                <a:solidFill>
                  <a:srgbClr val="2F6B78"/>
                </a:solidFill>
                <a:latin typeface="Calibri"/>
              </a:rPr>
              <a:t>LIVER CANCER</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16 tables</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500" b="1">
                <a:solidFill>
                  <a:srgbClr val="2F6B78"/>
                </a:solidFill>
                <a:latin typeface="Calibri"/>
              </a:rPr>
              <a:t>eICU-CRD</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31 tables</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500" b="1">
                <a:solidFill>
                  <a:srgbClr val="2F6B78"/>
                </a:solidFill>
                <a:latin typeface="Calibri"/>
              </a:rPr>
              <a:t>CHINOOK</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11 tables</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731</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1F2328"/>
                </a:solidFill>
                <a:latin typeface="Calibri"/>
              </a:rPr>
              <a:t>665</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1F2328"/>
                </a:solidFill>
                <a:latin typeface="Calibri"/>
              </a:rPr>
              <a:t>102</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422 / 397 / 403</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1F2328"/>
                </a:solidFill>
                <a:latin typeface="Calibri"/>
              </a:rPr>
              <a:t>434 / 440 / 421</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1F2328"/>
                </a:solidFill>
                <a:latin typeface="Calibri"/>
              </a:rPr>
              <a:t>95 / 74 / 81</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0">
                <a:solidFill>
                  <a:srgbClr val="1F2328"/>
                </a:solidFill>
                <a:latin typeface="Calibri"/>
              </a:rPr>
              <a:t>29 / 61 / 18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39 / 220 / 27</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1F2328"/>
                </a:solidFill>
                <a:latin typeface="Calibri"/>
              </a:rPr>
              <a:t>24 / 35 / 14</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20 / 23 / 3</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2 / 2 / 26</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0 / 0 / 0</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700" b="1">
                <a:solidFill>
                  <a:srgbClr val="1F2328"/>
                </a:solidFill>
                <a:latin typeface="Calibri"/>
              </a:rPr>
              <a:t>RIGOR improves on Non-Iterative in 9/9 matched runs; Chinook has zero findings in all 3.</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Numbers in each LLM cell: Claude / Mistral / DeepSeek. Direct Mapping uses no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Interpret carefully: many findings concern missing annotations; critical P19 remains in 3/9 RIGOR runs. Source: Table 7.</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B2</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Experts score RIGOR highest on average in both databases.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Human expert scores (0–5) per quality dimension  ·  10 experts, 2 tables per database  ·  best value per row in bold</a:t>
            </a:r>
          </a:p>
        </p:txBody>
      </p:sp>
      <p:sp>
        <p:nvSpPr>
          <p:cNvPr id="949" name="DB label"/>
          <p:cNvSpPr txBox="1"/>
          <p:nvPr/>
        </p:nvSpPr>
        <p:spPr>
          <a:xfrm>
            <a:off x="82296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Liver cancer</a:t>
            </a:r>
          </a:p>
        </p:txBody>
      </p:sp>
      <p:sp>
        <p:nvSpPr>
          <p:cNvPr id="950" name="Table header rule"/>
          <p:cNvSpPr/>
          <p:nvPr/>
        </p:nvSpPr>
        <p:spPr>
          <a:xfrm>
            <a:off x="822960" y="2596896"/>
            <a:ext cx="5138928" cy="9144"/>
          </a:xfrm>
          <a:prstGeom prst="rect">
            <a:avLst/>
          </a:prstGeom>
          <a:solidFill>
            <a:srgbClr val="D9DEDB"/>
          </a:solidFill>
          <a:ln>
            <a:noFill/>
          </a:ln>
        </p:spPr>
        <p:txBody>
          <a:bodyPr wrap="square" lIns="0" tIns="0" rIns="0" bIns="0" anchor="t">
            <a:noAutofit/>
          </a:bodyPr>
          <a:lstStyle/>
          <a:p>
            <a:pPr algn="l"/>
          </a:p>
        </p:txBody>
      </p:sp>
      <p:sp>
        <p:nvSpPr>
          <p:cNvPr id="951" name="Cell 0-0"/>
          <p:cNvSpPr txBox="1"/>
          <p:nvPr/>
        </p:nvSpPr>
        <p:spPr>
          <a:xfrm>
            <a:off x="82296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952" name="Cell 0-1"/>
          <p:cNvSpPr txBox="1"/>
          <p:nvPr/>
        </p:nvSpPr>
        <p:spPr>
          <a:xfrm>
            <a:off x="2377440"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953" name="Cell 0-2"/>
          <p:cNvSpPr txBox="1"/>
          <p:nvPr/>
        </p:nvSpPr>
        <p:spPr>
          <a:xfrm>
            <a:off x="327355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954" name="Cell 0-3"/>
          <p:cNvSpPr txBox="1"/>
          <p:nvPr/>
        </p:nvSpPr>
        <p:spPr>
          <a:xfrm>
            <a:off x="416966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955" name="Cell 0-4"/>
          <p:cNvSpPr txBox="1"/>
          <p:nvPr/>
        </p:nvSpPr>
        <p:spPr>
          <a:xfrm>
            <a:off x="506577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956" name="Cell 1-0"/>
          <p:cNvSpPr txBox="1"/>
          <p:nvPr/>
        </p:nvSpPr>
        <p:spPr>
          <a:xfrm>
            <a:off x="82296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957" name="Cell 1-1"/>
          <p:cNvSpPr txBox="1"/>
          <p:nvPr/>
        </p:nvSpPr>
        <p:spPr>
          <a:xfrm>
            <a:off x="2377440"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58" name="Cell 1-2"/>
          <p:cNvSpPr txBox="1"/>
          <p:nvPr/>
        </p:nvSpPr>
        <p:spPr>
          <a:xfrm>
            <a:off x="327355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59" name="Cell 1-3"/>
          <p:cNvSpPr txBox="1"/>
          <p:nvPr/>
        </p:nvSpPr>
        <p:spPr>
          <a:xfrm>
            <a:off x="416966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60" name="Cell 1-4"/>
          <p:cNvSpPr txBox="1"/>
          <p:nvPr/>
        </p:nvSpPr>
        <p:spPr>
          <a:xfrm>
            <a:off x="506577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61" name="Row tint"/>
          <p:cNvSpPr/>
          <p:nvPr/>
        </p:nvSpPr>
        <p:spPr>
          <a:xfrm>
            <a:off x="822960" y="2999232"/>
            <a:ext cx="5138928" cy="384048"/>
          </a:xfrm>
          <a:prstGeom prst="rect">
            <a:avLst/>
          </a:prstGeom>
          <a:solidFill>
            <a:srgbClr val="F3F5F4"/>
          </a:solidFill>
          <a:ln>
            <a:noFill/>
          </a:ln>
        </p:spPr>
        <p:txBody>
          <a:bodyPr wrap="square" lIns="0" tIns="0" rIns="0" bIns="0" anchor="t">
            <a:noAutofit/>
          </a:bodyPr>
          <a:lstStyle/>
          <a:p>
            <a:pPr algn="l"/>
          </a:p>
        </p:txBody>
      </p:sp>
      <p:sp>
        <p:nvSpPr>
          <p:cNvPr id="962" name="Cell 2-0"/>
          <p:cNvSpPr txBox="1"/>
          <p:nvPr/>
        </p:nvSpPr>
        <p:spPr>
          <a:xfrm>
            <a:off x="82296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963" name="Cell 2-1"/>
          <p:cNvSpPr txBox="1"/>
          <p:nvPr/>
        </p:nvSpPr>
        <p:spPr>
          <a:xfrm>
            <a:off x="2377440"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964" name="Cell 2-2"/>
          <p:cNvSpPr txBox="1"/>
          <p:nvPr/>
        </p:nvSpPr>
        <p:spPr>
          <a:xfrm>
            <a:off x="327355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3.00</a:t>
            </a:r>
          </a:p>
        </p:txBody>
      </p:sp>
      <p:sp>
        <p:nvSpPr>
          <p:cNvPr id="965" name="Cell 2-3"/>
          <p:cNvSpPr txBox="1"/>
          <p:nvPr/>
        </p:nvSpPr>
        <p:spPr>
          <a:xfrm>
            <a:off x="416966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2.25</a:t>
            </a:r>
          </a:p>
        </p:txBody>
      </p:sp>
      <p:sp>
        <p:nvSpPr>
          <p:cNvPr id="966" name="Cell 2-4"/>
          <p:cNvSpPr txBox="1"/>
          <p:nvPr/>
        </p:nvSpPr>
        <p:spPr>
          <a:xfrm>
            <a:off x="506577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3.85</a:t>
            </a:r>
          </a:p>
        </p:txBody>
      </p:sp>
      <p:sp>
        <p:nvSpPr>
          <p:cNvPr id="967" name="Cell 3-0"/>
          <p:cNvSpPr txBox="1"/>
          <p:nvPr/>
        </p:nvSpPr>
        <p:spPr>
          <a:xfrm>
            <a:off x="82296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968" name="Cell 3-1"/>
          <p:cNvSpPr txBox="1"/>
          <p:nvPr/>
        </p:nvSpPr>
        <p:spPr>
          <a:xfrm>
            <a:off x="2377440"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4.05</a:t>
            </a:r>
          </a:p>
        </p:txBody>
      </p:sp>
      <p:sp>
        <p:nvSpPr>
          <p:cNvPr id="969" name="Cell 3-2"/>
          <p:cNvSpPr txBox="1"/>
          <p:nvPr/>
        </p:nvSpPr>
        <p:spPr>
          <a:xfrm>
            <a:off x="3273552"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970" name="Cell 3-3"/>
          <p:cNvSpPr txBox="1"/>
          <p:nvPr/>
        </p:nvSpPr>
        <p:spPr>
          <a:xfrm>
            <a:off x="416966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71" name="Cell 3-4"/>
          <p:cNvSpPr txBox="1"/>
          <p:nvPr/>
        </p:nvSpPr>
        <p:spPr>
          <a:xfrm>
            <a:off x="5065776"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3.60</a:t>
            </a:r>
          </a:p>
        </p:txBody>
      </p:sp>
      <p:sp>
        <p:nvSpPr>
          <p:cNvPr id="972" name="Row tint"/>
          <p:cNvSpPr/>
          <p:nvPr/>
        </p:nvSpPr>
        <p:spPr>
          <a:xfrm>
            <a:off x="822960" y="3767327"/>
            <a:ext cx="5138928" cy="384048"/>
          </a:xfrm>
          <a:prstGeom prst="rect">
            <a:avLst/>
          </a:prstGeom>
          <a:solidFill>
            <a:srgbClr val="F3F5F4"/>
          </a:solidFill>
          <a:ln>
            <a:noFill/>
          </a:ln>
        </p:spPr>
        <p:txBody>
          <a:bodyPr wrap="square" lIns="0" tIns="0" rIns="0" bIns="0" anchor="t">
            <a:noAutofit/>
          </a:bodyPr>
          <a:lstStyle/>
          <a:p>
            <a:pPr algn="l"/>
          </a:p>
        </p:txBody>
      </p:sp>
      <p:sp>
        <p:nvSpPr>
          <p:cNvPr id="973" name="Cell 4-0"/>
          <p:cNvSpPr txBox="1"/>
          <p:nvPr/>
        </p:nvSpPr>
        <p:spPr>
          <a:xfrm>
            <a:off x="82296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974" name="Cell 4-1"/>
          <p:cNvSpPr txBox="1"/>
          <p:nvPr/>
        </p:nvSpPr>
        <p:spPr>
          <a:xfrm>
            <a:off x="2377440"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5" name="Cell 4-2"/>
          <p:cNvSpPr txBox="1"/>
          <p:nvPr/>
        </p:nvSpPr>
        <p:spPr>
          <a:xfrm>
            <a:off x="327355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1.95</a:t>
            </a:r>
          </a:p>
        </p:txBody>
      </p:sp>
      <p:sp>
        <p:nvSpPr>
          <p:cNvPr id="976" name="Cell 4-3"/>
          <p:cNvSpPr txBox="1"/>
          <p:nvPr/>
        </p:nvSpPr>
        <p:spPr>
          <a:xfrm>
            <a:off x="416966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1.55</a:t>
            </a:r>
          </a:p>
        </p:txBody>
      </p:sp>
      <p:sp>
        <p:nvSpPr>
          <p:cNvPr id="977" name="Cell 4-4"/>
          <p:cNvSpPr txBox="1"/>
          <p:nvPr/>
        </p:nvSpPr>
        <p:spPr>
          <a:xfrm>
            <a:off x="506577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8" name="Cell 5-0"/>
          <p:cNvSpPr txBox="1"/>
          <p:nvPr/>
        </p:nvSpPr>
        <p:spPr>
          <a:xfrm>
            <a:off x="82296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979" name="Cell 5-1"/>
          <p:cNvSpPr txBox="1"/>
          <p:nvPr/>
        </p:nvSpPr>
        <p:spPr>
          <a:xfrm>
            <a:off x="2377440"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2.50</a:t>
            </a:r>
          </a:p>
        </p:txBody>
      </p:sp>
      <p:sp>
        <p:nvSpPr>
          <p:cNvPr id="980" name="Cell 5-2"/>
          <p:cNvSpPr txBox="1"/>
          <p:nvPr/>
        </p:nvSpPr>
        <p:spPr>
          <a:xfrm>
            <a:off x="327355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981" name="Cell 5-3"/>
          <p:cNvSpPr txBox="1"/>
          <p:nvPr/>
        </p:nvSpPr>
        <p:spPr>
          <a:xfrm>
            <a:off x="416966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2.90</a:t>
            </a:r>
          </a:p>
        </p:txBody>
      </p:sp>
      <p:sp>
        <p:nvSpPr>
          <p:cNvPr id="982" name="Cell 5-4"/>
          <p:cNvSpPr txBox="1"/>
          <p:nvPr/>
        </p:nvSpPr>
        <p:spPr>
          <a:xfrm>
            <a:off x="506577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3.90</a:t>
            </a:r>
          </a:p>
        </p:txBody>
      </p:sp>
      <p:sp>
        <p:nvSpPr>
          <p:cNvPr id="983" name="Row tint"/>
          <p:cNvSpPr/>
          <p:nvPr/>
        </p:nvSpPr>
        <p:spPr>
          <a:xfrm>
            <a:off x="822960" y="4535423"/>
            <a:ext cx="5138928" cy="384048"/>
          </a:xfrm>
          <a:prstGeom prst="rect">
            <a:avLst/>
          </a:prstGeom>
          <a:solidFill>
            <a:srgbClr val="F3F5F4"/>
          </a:solidFill>
          <a:ln>
            <a:noFill/>
          </a:ln>
        </p:spPr>
        <p:txBody>
          <a:bodyPr wrap="square" lIns="0" tIns="0" rIns="0" bIns="0" anchor="t">
            <a:noAutofit/>
          </a:bodyPr>
          <a:lstStyle/>
          <a:p>
            <a:pPr algn="l"/>
          </a:p>
        </p:txBody>
      </p:sp>
      <p:sp>
        <p:nvSpPr>
          <p:cNvPr id="984" name="Cell 6-0"/>
          <p:cNvSpPr txBox="1"/>
          <p:nvPr/>
        </p:nvSpPr>
        <p:spPr>
          <a:xfrm>
            <a:off x="82296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985" name="Cell 6-1"/>
          <p:cNvSpPr txBox="1"/>
          <p:nvPr/>
        </p:nvSpPr>
        <p:spPr>
          <a:xfrm>
            <a:off x="2377440"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86" name="Cell 6-2"/>
          <p:cNvSpPr txBox="1"/>
          <p:nvPr/>
        </p:nvSpPr>
        <p:spPr>
          <a:xfrm>
            <a:off x="3273552"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2.85</a:t>
            </a:r>
          </a:p>
        </p:txBody>
      </p:sp>
      <p:sp>
        <p:nvSpPr>
          <p:cNvPr id="987" name="Cell 6-3"/>
          <p:cNvSpPr txBox="1"/>
          <p:nvPr/>
        </p:nvSpPr>
        <p:spPr>
          <a:xfrm>
            <a:off x="416966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88" name="Cell 6-4"/>
          <p:cNvSpPr txBox="1"/>
          <p:nvPr/>
        </p:nvSpPr>
        <p:spPr>
          <a:xfrm>
            <a:off x="5065776"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989" name="Cell 7-0"/>
          <p:cNvSpPr txBox="1"/>
          <p:nvPr/>
        </p:nvSpPr>
        <p:spPr>
          <a:xfrm>
            <a:off x="82296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990" name="Cell 7-1"/>
          <p:cNvSpPr txBox="1"/>
          <p:nvPr/>
        </p:nvSpPr>
        <p:spPr>
          <a:xfrm>
            <a:off x="2377440"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2.20</a:t>
            </a:r>
          </a:p>
        </p:txBody>
      </p:sp>
      <p:sp>
        <p:nvSpPr>
          <p:cNvPr id="991" name="Cell 7-2"/>
          <p:cNvSpPr txBox="1"/>
          <p:nvPr/>
        </p:nvSpPr>
        <p:spPr>
          <a:xfrm>
            <a:off x="327355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992" name="Cell 7-3"/>
          <p:cNvSpPr txBox="1"/>
          <p:nvPr/>
        </p:nvSpPr>
        <p:spPr>
          <a:xfrm>
            <a:off x="416966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93" name="Cell 7-4"/>
          <p:cNvSpPr txBox="1"/>
          <p:nvPr/>
        </p:nvSpPr>
        <p:spPr>
          <a:xfrm>
            <a:off x="506577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3.50</a:t>
            </a:r>
          </a:p>
        </p:txBody>
      </p:sp>
      <p:sp>
        <p:nvSpPr>
          <p:cNvPr id="994" name="Row tint"/>
          <p:cNvSpPr/>
          <p:nvPr/>
        </p:nvSpPr>
        <p:spPr>
          <a:xfrm>
            <a:off x="822960" y="5303519"/>
            <a:ext cx="5138928" cy="384048"/>
          </a:xfrm>
          <a:prstGeom prst="rect">
            <a:avLst/>
          </a:prstGeom>
          <a:solidFill>
            <a:srgbClr val="F3F5F4"/>
          </a:solidFill>
          <a:ln>
            <a:noFill/>
          </a:ln>
        </p:spPr>
        <p:txBody>
          <a:bodyPr wrap="square" lIns="0" tIns="0" rIns="0" bIns="0" anchor="t">
            <a:noAutofit/>
          </a:bodyPr>
          <a:lstStyle/>
          <a:p>
            <a:pPr algn="l"/>
          </a:p>
        </p:txBody>
      </p:sp>
      <p:sp>
        <p:nvSpPr>
          <p:cNvPr id="995" name="Cell 8-0"/>
          <p:cNvSpPr txBox="1"/>
          <p:nvPr/>
        </p:nvSpPr>
        <p:spPr>
          <a:xfrm>
            <a:off x="82296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996" name="Cell 8-1"/>
          <p:cNvSpPr txBox="1"/>
          <p:nvPr/>
        </p:nvSpPr>
        <p:spPr>
          <a:xfrm>
            <a:off x="2377440"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97" name="Cell 8-2"/>
          <p:cNvSpPr txBox="1"/>
          <p:nvPr/>
        </p:nvSpPr>
        <p:spPr>
          <a:xfrm>
            <a:off x="327355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2.74</a:t>
            </a:r>
          </a:p>
        </p:txBody>
      </p:sp>
      <p:sp>
        <p:nvSpPr>
          <p:cNvPr id="998" name="Cell 8-3"/>
          <p:cNvSpPr txBox="1"/>
          <p:nvPr/>
        </p:nvSpPr>
        <p:spPr>
          <a:xfrm>
            <a:off x="416966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2.39</a:t>
            </a:r>
          </a:p>
        </p:txBody>
      </p:sp>
      <p:sp>
        <p:nvSpPr>
          <p:cNvPr id="999" name="Cell 8-4"/>
          <p:cNvSpPr txBox="1"/>
          <p:nvPr/>
        </p:nvSpPr>
        <p:spPr>
          <a:xfrm>
            <a:off x="506577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3.44</a:t>
            </a:r>
          </a:p>
        </p:txBody>
      </p:sp>
      <p:sp>
        <p:nvSpPr>
          <p:cNvPr id="1000" name="DB label"/>
          <p:cNvSpPr txBox="1"/>
          <p:nvPr/>
        </p:nvSpPr>
        <p:spPr>
          <a:xfrm>
            <a:off x="617220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eICU-CRD</a:t>
            </a:r>
          </a:p>
        </p:txBody>
      </p:sp>
      <p:sp>
        <p:nvSpPr>
          <p:cNvPr id="1001" name="Table header rule"/>
          <p:cNvSpPr/>
          <p:nvPr/>
        </p:nvSpPr>
        <p:spPr>
          <a:xfrm>
            <a:off x="6172200" y="2596896"/>
            <a:ext cx="5138928" cy="9144"/>
          </a:xfrm>
          <a:prstGeom prst="rect">
            <a:avLst/>
          </a:prstGeom>
          <a:solidFill>
            <a:srgbClr val="D9DEDB"/>
          </a:solidFill>
          <a:ln>
            <a:noFill/>
          </a:ln>
        </p:spPr>
        <p:txBody>
          <a:bodyPr wrap="square" lIns="0" tIns="0" rIns="0" bIns="0" anchor="t">
            <a:noAutofit/>
          </a:bodyPr>
          <a:lstStyle/>
          <a:p>
            <a:pPr algn="l"/>
          </a:p>
        </p:txBody>
      </p:sp>
      <p:sp>
        <p:nvSpPr>
          <p:cNvPr id="1002" name="Cell 0-0"/>
          <p:cNvSpPr txBox="1"/>
          <p:nvPr/>
        </p:nvSpPr>
        <p:spPr>
          <a:xfrm>
            <a:off x="617220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1003" name="Cell 0-1"/>
          <p:cNvSpPr txBox="1"/>
          <p:nvPr/>
        </p:nvSpPr>
        <p:spPr>
          <a:xfrm>
            <a:off x="7726679"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1004" name="Cell 0-2"/>
          <p:cNvSpPr txBox="1"/>
          <p:nvPr/>
        </p:nvSpPr>
        <p:spPr>
          <a:xfrm>
            <a:off x="862279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1005" name="Cell 0-3"/>
          <p:cNvSpPr txBox="1"/>
          <p:nvPr/>
        </p:nvSpPr>
        <p:spPr>
          <a:xfrm>
            <a:off x="951890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1006" name="Cell 0-4"/>
          <p:cNvSpPr txBox="1"/>
          <p:nvPr/>
        </p:nvSpPr>
        <p:spPr>
          <a:xfrm>
            <a:off x="1041501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1007" name="Cell 1-0"/>
          <p:cNvSpPr txBox="1"/>
          <p:nvPr/>
        </p:nvSpPr>
        <p:spPr>
          <a:xfrm>
            <a:off x="617220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1008" name="Cell 1-1"/>
          <p:cNvSpPr txBox="1"/>
          <p:nvPr/>
        </p:nvSpPr>
        <p:spPr>
          <a:xfrm>
            <a:off x="7726679"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3.05</a:t>
            </a:r>
          </a:p>
        </p:txBody>
      </p:sp>
      <p:sp>
        <p:nvSpPr>
          <p:cNvPr id="1009" name="Cell 1-2"/>
          <p:cNvSpPr txBox="1"/>
          <p:nvPr/>
        </p:nvSpPr>
        <p:spPr>
          <a:xfrm>
            <a:off x="862279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3.90</a:t>
            </a:r>
          </a:p>
        </p:txBody>
      </p:sp>
      <p:sp>
        <p:nvSpPr>
          <p:cNvPr id="1010" name="Cell 1-3"/>
          <p:cNvSpPr txBox="1"/>
          <p:nvPr/>
        </p:nvSpPr>
        <p:spPr>
          <a:xfrm>
            <a:off x="951890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0.85</a:t>
            </a:r>
          </a:p>
        </p:txBody>
      </p:sp>
      <p:sp>
        <p:nvSpPr>
          <p:cNvPr id="1011" name="Cell 1-4"/>
          <p:cNvSpPr txBox="1"/>
          <p:nvPr/>
        </p:nvSpPr>
        <p:spPr>
          <a:xfrm>
            <a:off x="1041501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4.00</a:t>
            </a:r>
          </a:p>
        </p:txBody>
      </p:sp>
      <p:sp>
        <p:nvSpPr>
          <p:cNvPr id="1012" name="Row tint"/>
          <p:cNvSpPr/>
          <p:nvPr/>
        </p:nvSpPr>
        <p:spPr>
          <a:xfrm>
            <a:off x="6172200" y="2999232"/>
            <a:ext cx="5138928" cy="384048"/>
          </a:xfrm>
          <a:prstGeom prst="rect">
            <a:avLst/>
          </a:prstGeom>
          <a:solidFill>
            <a:srgbClr val="F3F5F4"/>
          </a:solidFill>
          <a:ln>
            <a:noFill/>
          </a:ln>
        </p:spPr>
        <p:txBody>
          <a:bodyPr wrap="square" lIns="0" tIns="0" rIns="0" bIns="0" anchor="t">
            <a:noAutofit/>
          </a:bodyPr>
          <a:lstStyle/>
          <a:p>
            <a:pPr algn="l"/>
          </a:p>
        </p:txBody>
      </p:sp>
      <p:sp>
        <p:nvSpPr>
          <p:cNvPr id="1013" name="Cell 2-0"/>
          <p:cNvSpPr txBox="1"/>
          <p:nvPr/>
        </p:nvSpPr>
        <p:spPr>
          <a:xfrm>
            <a:off x="617220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1014" name="Cell 2-1"/>
          <p:cNvSpPr txBox="1"/>
          <p:nvPr/>
        </p:nvSpPr>
        <p:spPr>
          <a:xfrm>
            <a:off x="7726679"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1015" name="Cell 2-2"/>
          <p:cNvSpPr txBox="1"/>
          <p:nvPr/>
        </p:nvSpPr>
        <p:spPr>
          <a:xfrm>
            <a:off x="862279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3.10</a:t>
            </a:r>
          </a:p>
        </p:txBody>
      </p:sp>
      <p:sp>
        <p:nvSpPr>
          <p:cNvPr id="1016" name="Cell 2-3"/>
          <p:cNvSpPr txBox="1"/>
          <p:nvPr/>
        </p:nvSpPr>
        <p:spPr>
          <a:xfrm>
            <a:off x="951890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0.80</a:t>
            </a:r>
          </a:p>
        </p:txBody>
      </p:sp>
      <p:sp>
        <p:nvSpPr>
          <p:cNvPr id="1017" name="Cell 2-4"/>
          <p:cNvSpPr txBox="1"/>
          <p:nvPr/>
        </p:nvSpPr>
        <p:spPr>
          <a:xfrm>
            <a:off x="1041501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18" name="Cell 3-0"/>
          <p:cNvSpPr txBox="1"/>
          <p:nvPr/>
        </p:nvSpPr>
        <p:spPr>
          <a:xfrm>
            <a:off x="617220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1019" name="Cell 3-1"/>
          <p:cNvSpPr txBox="1"/>
          <p:nvPr/>
        </p:nvSpPr>
        <p:spPr>
          <a:xfrm>
            <a:off x="7726679"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1020" name="Cell 3-2"/>
          <p:cNvSpPr txBox="1"/>
          <p:nvPr/>
        </p:nvSpPr>
        <p:spPr>
          <a:xfrm>
            <a:off x="8622792"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1" name="Cell 3-3"/>
          <p:cNvSpPr txBox="1"/>
          <p:nvPr/>
        </p:nvSpPr>
        <p:spPr>
          <a:xfrm>
            <a:off x="951890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2.05</a:t>
            </a:r>
          </a:p>
        </p:txBody>
      </p:sp>
      <p:sp>
        <p:nvSpPr>
          <p:cNvPr id="1022" name="Cell 3-4"/>
          <p:cNvSpPr txBox="1"/>
          <p:nvPr/>
        </p:nvSpPr>
        <p:spPr>
          <a:xfrm>
            <a:off x="10415016"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3" name="Row tint"/>
          <p:cNvSpPr/>
          <p:nvPr/>
        </p:nvSpPr>
        <p:spPr>
          <a:xfrm>
            <a:off x="6172200" y="3767327"/>
            <a:ext cx="5138928" cy="384048"/>
          </a:xfrm>
          <a:prstGeom prst="rect">
            <a:avLst/>
          </a:prstGeom>
          <a:solidFill>
            <a:srgbClr val="F3F5F4"/>
          </a:solidFill>
          <a:ln>
            <a:noFill/>
          </a:ln>
        </p:spPr>
        <p:txBody>
          <a:bodyPr wrap="square" lIns="0" tIns="0" rIns="0" bIns="0" anchor="t">
            <a:noAutofit/>
          </a:bodyPr>
          <a:lstStyle/>
          <a:p>
            <a:pPr algn="l"/>
          </a:p>
        </p:txBody>
      </p:sp>
      <p:sp>
        <p:nvSpPr>
          <p:cNvPr id="1024" name="Cell 4-0"/>
          <p:cNvSpPr txBox="1"/>
          <p:nvPr/>
        </p:nvSpPr>
        <p:spPr>
          <a:xfrm>
            <a:off x="617220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1025" name="Cell 4-1"/>
          <p:cNvSpPr txBox="1"/>
          <p:nvPr/>
        </p:nvSpPr>
        <p:spPr>
          <a:xfrm>
            <a:off x="7726679"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26" name="Cell 4-2"/>
          <p:cNvSpPr txBox="1"/>
          <p:nvPr/>
        </p:nvSpPr>
        <p:spPr>
          <a:xfrm>
            <a:off x="862279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2.10</a:t>
            </a:r>
          </a:p>
        </p:txBody>
      </p:sp>
      <p:sp>
        <p:nvSpPr>
          <p:cNvPr id="1027" name="Cell 4-3"/>
          <p:cNvSpPr txBox="1"/>
          <p:nvPr/>
        </p:nvSpPr>
        <p:spPr>
          <a:xfrm>
            <a:off x="951890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1.00</a:t>
            </a:r>
          </a:p>
        </p:txBody>
      </p:sp>
      <p:sp>
        <p:nvSpPr>
          <p:cNvPr id="1028" name="Cell 4-4"/>
          <p:cNvSpPr txBox="1"/>
          <p:nvPr/>
        </p:nvSpPr>
        <p:spPr>
          <a:xfrm>
            <a:off x="1041501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2.20</a:t>
            </a:r>
          </a:p>
        </p:txBody>
      </p:sp>
      <p:sp>
        <p:nvSpPr>
          <p:cNvPr id="1029" name="Cell 5-0"/>
          <p:cNvSpPr txBox="1"/>
          <p:nvPr/>
        </p:nvSpPr>
        <p:spPr>
          <a:xfrm>
            <a:off x="617220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1030" name="Cell 5-1"/>
          <p:cNvSpPr txBox="1"/>
          <p:nvPr/>
        </p:nvSpPr>
        <p:spPr>
          <a:xfrm>
            <a:off x="7726679"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2.55</a:t>
            </a:r>
          </a:p>
        </p:txBody>
      </p:sp>
      <p:sp>
        <p:nvSpPr>
          <p:cNvPr id="1031" name="Cell 5-2"/>
          <p:cNvSpPr txBox="1"/>
          <p:nvPr/>
        </p:nvSpPr>
        <p:spPr>
          <a:xfrm>
            <a:off x="862279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1032" name="Cell 5-3"/>
          <p:cNvSpPr txBox="1"/>
          <p:nvPr/>
        </p:nvSpPr>
        <p:spPr>
          <a:xfrm>
            <a:off x="951890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1.50</a:t>
            </a:r>
          </a:p>
        </p:txBody>
      </p:sp>
      <p:sp>
        <p:nvSpPr>
          <p:cNvPr id="1033" name="Cell 5-4"/>
          <p:cNvSpPr txBox="1"/>
          <p:nvPr/>
        </p:nvSpPr>
        <p:spPr>
          <a:xfrm>
            <a:off x="1041501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34" name="Row tint"/>
          <p:cNvSpPr/>
          <p:nvPr/>
        </p:nvSpPr>
        <p:spPr>
          <a:xfrm>
            <a:off x="6172200" y="4535423"/>
            <a:ext cx="5138928" cy="384048"/>
          </a:xfrm>
          <a:prstGeom prst="rect">
            <a:avLst/>
          </a:prstGeom>
          <a:solidFill>
            <a:srgbClr val="F3F5F4"/>
          </a:solidFill>
          <a:ln>
            <a:noFill/>
          </a:ln>
        </p:spPr>
        <p:txBody>
          <a:bodyPr wrap="square" lIns="0" tIns="0" rIns="0" bIns="0" anchor="t">
            <a:noAutofit/>
          </a:bodyPr>
          <a:lstStyle/>
          <a:p>
            <a:pPr algn="l"/>
          </a:p>
        </p:txBody>
      </p:sp>
      <p:sp>
        <p:nvSpPr>
          <p:cNvPr id="1035" name="Cell 6-0"/>
          <p:cNvSpPr txBox="1"/>
          <p:nvPr/>
        </p:nvSpPr>
        <p:spPr>
          <a:xfrm>
            <a:off x="617220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1036" name="Cell 6-1"/>
          <p:cNvSpPr txBox="1"/>
          <p:nvPr/>
        </p:nvSpPr>
        <p:spPr>
          <a:xfrm>
            <a:off x="7726679"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2.60</a:t>
            </a:r>
          </a:p>
        </p:txBody>
      </p:sp>
      <p:sp>
        <p:nvSpPr>
          <p:cNvPr id="1037" name="Cell 6-2"/>
          <p:cNvSpPr txBox="1"/>
          <p:nvPr/>
        </p:nvSpPr>
        <p:spPr>
          <a:xfrm>
            <a:off x="8622792"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3.40</a:t>
            </a:r>
          </a:p>
        </p:txBody>
      </p:sp>
      <p:sp>
        <p:nvSpPr>
          <p:cNvPr id="1038" name="Cell 6-3"/>
          <p:cNvSpPr txBox="1"/>
          <p:nvPr/>
        </p:nvSpPr>
        <p:spPr>
          <a:xfrm>
            <a:off x="951890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1.30</a:t>
            </a:r>
          </a:p>
        </p:txBody>
      </p:sp>
      <p:sp>
        <p:nvSpPr>
          <p:cNvPr id="1039" name="Cell 6-4"/>
          <p:cNvSpPr txBox="1"/>
          <p:nvPr/>
        </p:nvSpPr>
        <p:spPr>
          <a:xfrm>
            <a:off x="10415016"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3.15</a:t>
            </a:r>
          </a:p>
        </p:txBody>
      </p:sp>
      <p:sp>
        <p:nvSpPr>
          <p:cNvPr id="1040" name="Cell 7-0"/>
          <p:cNvSpPr txBox="1"/>
          <p:nvPr/>
        </p:nvSpPr>
        <p:spPr>
          <a:xfrm>
            <a:off x="617220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1041" name="Cell 7-1"/>
          <p:cNvSpPr txBox="1"/>
          <p:nvPr/>
        </p:nvSpPr>
        <p:spPr>
          <a:xfrm>
            <a:off x="7726679"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42" name="Cell 7-2"/>
          <p:cNvSpPr txBox="1"/>
          <p:nvPr/>
        </p:nvSpPr>
        <p:spPr>
          <a:xfrm>
            <a:off x="862279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1043" name="Cell 7-3"/>
          <p:cNvSpPr txBox="1"/>
          <p:nvPr/>
        </p:nvSpPr>
        <p:spPr>
          <a:xfrm>
            <a:off x="951890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1.15</a:t>
            </a:r>
          </a:p>
        </p:txBody>
      </p:sp>
      <p:sp>
        <p:nvSpPr>
          <p:cNvPr id="1044" name="Cell 7-4"/>
          <p:cNvSpPr txBox="1"/>
          <p:nvPr/>
        </p:nvSpPr>
        <p:spPr>
          <a:xfrm>
            <a:off x="1041501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1045" name="Row tint"/>
          <p:cNvSpPr/>
          <p:nvPr/>
        </p:nvSpPr>
        <p:spPr>
          <a:xfrm>
            <a:off x="6172200" y="5303519"/>
            <a:ext cx="5138928" cy="384048"/>
          </a:xfrm>
          <a:prstGeom prst="rect">
            <a:avLst/>
          </a:prstGeom>
          <a:solidFill>
            <a:srgbClr val="F3F5F4"/>
          </a:solidFill>
          <a:ln>
            <a:noFill/>
          </a:ln>
        </p:spPr>
        <p:txBody>
          <a:bodyPr wrap="square" lIns="0" tIns="0" rIns="0" bIns="0" anchor="t">
            <a:noAutofit/>
          </a:bodyPr>
          <a:lstStyle/>
          <a:p>
            <a:pPr algn="l"/>
          </a:p>
        </p:txBody>
      </p:sp>
      <p:sp>
        <p:nvSpPr>
          <p:cNvPr id="1046" name="Cell 8-0"/>
          <p:cNvSpPr txBox="1"/>
          <p:nvPr/>
        </p:nvSpPr>
        <p:spPr>
          <a:xfrm>
            <a:off x="617220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1047" name="Cell 8-1"/>
          <p:cNvSpPr txBox="1"/>
          <p:nvPr/>
        </p:nvSpPr>
        <p:spPr>
          <a:xfrm>
            <a:off x="7726679"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2.59</a:t>
            </a:r>
          </a:p>
        </p:txBody>
      </p:sp>
      <p:sp>
        <p:nvSpPr>
          <p:cNvPr id="1048" name="Cell 8-2"/>
          <p:cNvSpPr txBox="1"/>
          <p:nvPr/>
        </p:nvSpPr>
        <p:spPr>
          <a:xfrm>
            <a:off x="862279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3.01</a:t>
            </a:r>
          </a:p>
        </p:txBody>
      </p:sp>
      <p:sp>
        <p:nvSpPr>
          <p:cNvPr id="1049" name="Cell 8-3"/>
          <p:cNvSpPr txBox="1"/>
          <p:nvPr/>
        </p:nvSpPr>
        <p:spPr>
          <a:xfrm>
            <a:off x="951890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1.24</a:t>
            </a:r>
          </a:p>
        </p:txBody>
      </p:sp>
      <p:sp>
        <p:nvSpPr>
          <p:cNvPr id="1050" name="Cell 8-4"/>
          <p:cNvSpPr txBox="1"/>
          <p:nvPr/>
        </p:nvSpPr>
        <p:spPr>
          <a:xfrm>
            <a:off x="1041501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3.53</a:t>
            </a:r>
          </a:p>
        </p:txBody>
      </p:sp>
      <p:sp>
        <p:nvSpPr>
          <p:cNvPr id="105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Where RIGOR is not best: Conciseness (Direct Mapping on liver cancer), Consistency (LLM baseline on eICU-CRD).  Source: paper Table 11; LLM-judge scores in Table 10.</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B3</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Full retrieval gives the best overall alignment, by a small margin.</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Retrieval ablation on Chinook with Claude  ·  F1 of alignment between the ontology and each resource (cosine ≥ 0.55)</a:t>
            </a:r>
          </a:p>
        </p:txBody>
      </p:sp>
      <p:sp>
        <p:nvSpPr>
          <p:cNvPr id="949" name="Table header rule"/>
          <p:cNvSpPr/>
          <p:nvPr/>
        </p:nvSpPr>
        <p:spPr>
          <a:xfrm>
            <a:off x="822960" y="2487168"/>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2011680"/>
            <a:ext cx="2834640" cy="47548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VARIANT</a:t>
            </a:r>
          </a:p>
        </p:txBody>
      </p:sp>
      <p:sp>
        <p:nvSpPr>
          <p:cNvPr id="951" name="Cell 0-1"/>
          <p:cNvSpPr txBox="1"/>
          <p:nvPr/>
        </p:nvSpPr>
        <p:spPr>
          <a:xfrm>
            <a:off x="36576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SCHEMA F1</a:t>
            </a:r>
          </a:p>
        </p:txBody>
      </p:sp>
      <p:sp>
        <p:nvSpPr>
          <p:cNvPr id="952" name="Cell 0-2"/>
          <p:cNvSpPr txBox="1"/>
          <p:nvPr/>
        </p:nvSpPr>
        <p:spPr>
          <a:xfrm>
            <a:off x="493776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EXTERNAL F1</a:t>
            </a:r>
          </a:p>
        </p:txBody>
      </p:sp>
      <p:sp>
        <p:nvSpPr>
          <p:cNvPr id="953" name="Cell 0-3"/>
          <p:cNvSpPr txBox="1"/>
          <p:nvPr/>
        </p:nvSpPr>
        <p:spPr>
          <a:xfrm>
            <a:off x="621792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DOCS F1</a:t>
            </a:r>
          </a:p>
        </p:txBody>
      </p:sp>
      <p:sp>
        <p:nvSpPr>
          <p:cNvPr id="954" name="Cell 0-4"/>
          <p:cNvSpPr txBox="1"/>
          <p:nvPr/>
        </p:nvSpPr>
        <p:spPr>
          <a:xfrm>
            <a:off x="749808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P</a:t>
            </a:r>
          </a:p>
        </p:txBody>
      </p:sp>
      <p:sp>
        <p:nvSpPr>
          <p:cNvPr id="955" name="Cell 0-5"/>
          <p:cNvSpPr txBox="1"/>
          <p:nvPr/>
        </p:nvSpPr>
        <p:spPr>
          <a:xfrm>
            <a:off x="877824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R</a:t>
            </a:r>
          </a:p>
        </p:txBody>
      </p:sp>
      <p:sp>
        <p:nvSpPr>
          <p:cNvPr id="956" name="Cell 0-6"/>
          <p:cNvSpPr txBox="1"/>
          <p:nvPr/>
        </p:nvSpPr>
        <p:spPr>
          <a:xfrm>
            <a:off x="100584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F1</a:t>
            </a:r>
          </a:p>
        </p:txBody>
      </p:sp>
      <p:sp>
        <p:nvSpPr>
          <p:cNvPr id="957" name="Cell 1-0"/>
          <p:cNvSpPr txBox="1"/>
          <p:nvPr/>
        </p:nvSpPr>
        <p:spPr>
          <a:xfrm>
            <a:off x="822960" y="2505456"/>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no retrieval</a:t>
            </a:r>
          </a:p>
        </p:txBody>
      </p:sp>
      <p:sp>
        <p:nvSpPr>
          <p:cNvPr id="958" name="Cell 1-1"/>
          <p:cNvSpPr txBox="1"/>
          <p:nvPr/>
        </p:nvSpPr>
        <p:spPr>
          <a:xfrm>
            <a:off x="365760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59" name="Cell 1-2"/>
          <p:cNvSpPr txBox="1"/>
          <p:nvPr/>
        </p:nvSpPr>
        <p:spPr>
          <a:xfrm>
            <a:off x="493776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0" name="Cell 1-3"/>
          <p:cNvSpPr txBox="1"/>
          <p:nvPr/>
        </p:nvSpPr>
        <p:spPr>
          <a:xfrm>
            <a:off x="621792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61" name="Cell 1-4"/>
          <p:cNvSpPr txBox="1"/>
          <p:nvPr/>
        </p:nvSpPr>
        <p:spPr>
          <a:xfrm>
            <a:off x="749808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0.772</a:t>
            </a:r>
          </a:p>
        </p:txBody>
      </p:sp>
      <p:sp>
        <p:nvSpPr>
          <p:cNvPr id="962" name="Cell 1-5"/>
          <p:cNvSpPr txBox="1"/>
          <p:nvPr/>
        </p:nvSpPr>
        <p:spPr>
          <a:xfrm>
            <a:off x="877824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63" name="Cell 1-6"/>
          <p:cNvSpPr txBox="1"/>
          <p:nvPr/>
        </p:nvSpPr>
        <p:spPr>
          <a:xfrm>
            <a:off x="1005840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64" name="Row tint"/>
          <p:cNvSpPr/>
          <p:nvPr/>
        </p:nvSpPr>
        <p:spPr>
          <a:xfrm>
            <a:off x="822960" y="2980944"/>
            <a:ext cx="10515600" cy="475488"/>
          </a:xfrm>
          <a:prstGeom prst="rect">
            <a:avLst/>
          </a:prstGeom>
          <a:solidFill>
            <a:srgbClr val="F3F5F4"/>
          </a:solidFill>
          <a:ln>
            <a:noFill/>
          </a:ln>
        </p:spPr>
        <p:txBody>
          <a:bodyPr wrap="square" lIns="0" tIns="0" rIns="0" bIns="0" anchor="t">
            <a:noAutofit/>
          </a:bodyPr>
          <a:lstStyle/>
          <a:p>
            <a:pPr algn="l"/>
          </a:p>
        </p:txBody>
      </p:sp>
      <p:sp>
        <p:nvSpPr>
          <p:cNvPr id="965" name="Cell 2-0"/>
          <p:cNvSpPr txBox="1"/>
          <p:nvPr/>
        </p:nvSpPr>
        <p:spPr>
          <a:xfrm>
            <a:off x="822960" y="2980944"/>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schema + core</a:t>
            </a:r>
          </a:p>
        </p:txBody>
      </p:sp>
      <p:sp>
        <p:nvSpPr>
          <p:cNvPr id="966" name="Cell 2-1"/>
          <p:cNvSpPr txBox="1"/>
          <p:nvPr/>
        </p:nvSpPr>
        <p:spPr>
          <a:xfrm>
            <a:off x="36576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0.997</a:t>
            </a:r>
          </a:p>
        </p:txBody>
      </p:sp>
      <p:sp>
        <p:nvSpPr>
          <p:cNvPr id="967" name="Cell 2-2"/>
          <p:cNvSpPr txBox="1"/>
          <p:nvPr/>
        </p:nvSpPr>
        <p:spPr>
          <a:xfrm>
            <a:off x="493776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8" name="Cell 2-3"/>
          <p:cNvSpPr txBox="1"/>
          <p:nvPr/>
        </p:nvSpPr>
        <p:spPr>
          <a:xfrm>
            <a:off x="621792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0.916</a:t>
            </a:r>
          </a:p>
        </p:txBody>
      </p:sp>
      <p:sp>
        <p:nvSpPr>
          <p:cNvPr id="969" name="Cell 2-4"/>
          <p:cNvSpPr txBox="1"/>
          <p:nvPr/>
        </p:nvSpPr>
        <p:spPr>
          <a:xfrm>
            <a:off x="749808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0.758</a:t>
            </a:r>
          </a:p>
        </p:txBody>
      </p:sp>
      <p:sp>
        <p:nvSpPr>
          <p:cNvPr id="970" name="Cell 2-5"/>
          <p:cNvSpPr txBox="1"/>
          <p:nvPr/>
        </p:nvSpPr>
        <p:spPr>
          <a:xfrm>
            <a:off x="877824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1" name="Cell 2-6"/>
          <p:cNvSpPr txBox="1"/>
          <p:nvPr/>
        </p:nvSpPr>
        <p:spPr>
          <a:xfrm>
            <a:off x="100584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0.648</a:t>
            </a:r>
          </a:p>
        </p:txBody>
      </p:sp>
      <p:sp>
        <p:nvSpPr>
          <p:cNvPr id="972" name="Cell 3-0"/>
          <p:cNvSpPr txBox="1"/>
          <p:nvPr/>
        </p:nvSpPr>
        <p:spPr>
          <a:xfrm>
            <a:off x="822960" y="3456432"/>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external ontologies</a:t>
            </a:r>
          </a:p>
        </p:txBody>
      </p:sp>
      <p:sp>
        <p:nvSpPr>
          <p:cNvPr id="973" name="Cell 3-1"/>
          <p:cNvSpPr txBox="1"/>
          <p:nvPr/>
        </p:nvSpPr>
        <p:spPr>
          <a:xfrm>
            <a:off x="3657600" y="3456432"/>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74" name="Cell 3-2"/>
          <p:cNvSpPr txBox="1"/>
          <p:nvPr/>
        </p:nvSpPr>
        <p:spPr>
          <a:xfrm>
            <a:off x="493776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75" name="Cell 3-3"/>
          <p:cNvSpPr txBox="1"/>
          <p:nvPr/>
        </p:nvSpPr>
        <p:spPr>
          <a:xfrm>
            <a:off x="621792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76" name="Cell 3-4"/>
          <p:cNvSpPr txBox="1"/>
          <p:nvPr/>
        </p:nvSpPr>
        <p:spPr>
          <a:xfrm>
            <a:off x="749808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0.763</a:t>
            </a:r>
          </a:p>
        </p:txBody>
      </p:sp>
      <p:sp>
        <p:nvSpPr>
          <p:cNvPr id="977" name="Cell 3-5"/>
          <p:cNvSpPr txBox="1"/>
          <p:nvPr/>
        </p:nvSpPr>
        <p:spPr>
          <a:xfrm>
            <a:off x="877824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8" name="Cell 3-6"/>
          <p:cNvSpPr txBox="1"/>
          <p:nvPr/>
        </p:nvSpPr>
        <p:spPr>
          <a:xfrm>
            <a:off x="1005840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79" name="Row tint"/>
          <p:cNvSpPr/>
          <p:nvPr/>
        </p:nvSpPr>
        <p:spPr>
          <a:xfrm>
            <a:off x="822960" y="3931920"/>
            <a:ext cx="10515600" cy="475488"/>
          </a:xfrm>
          <a:prstGeom prst="rect">
            <a:avLst/>
          </a:prstGeom>
          <a:solidFill>
            <a:srgbClr val="F3F5F4"/>
          </a:solidFill>
          <a:ln>
            <a:noFill/>
          </a:ln>
        </p:spPr>
        <p:txBody>
          <a:bodyPr wrap="square" lIns="0" tIns="0" rIns="0" bIns="0" anchor="t">
            <a:noAutofit/>
          </a:bodyPr>
          <a:lstStyle/>
          <a:p>
            <a:pPr algn="l"/>
          </a:p>
        </p:txBody>
      </p:sp>
      <p:sp>
        <p:nvSpPr>
          <p:cNvPr id="980" name="Cell 4-0"/>
          <p:cNvSpPr txBox="1"/>
          <p:nvPr/>
        </p:nvSpPr>
        <p:spPr>
          <a:xfrm>
            <a:off x="822960" y="3931920"/>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documentation</a:t>
            </a:r>
          </a:p>
        </p:txBody>
      </p:sp>
      <p:sp>
        <p:nvSpPr>
          <p:cNvPr id="981" name="Cell 4-1"/>
          <p:cNvSpPr txBox="1"/>
          <p:nvPr/>
        </p:nvSpPr>
        <p:spPr>
          <a:xfrm>
            <a:off x="365760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82" name="Cell 4-2"/>
          <p:cNvSpPr txBox="1"/>
          <p:nvPr/>
        </p:nvSpPr>
        <p:spPr>
          <a:xfrm>
            <a:off x="493776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0.035</a:t>
            </a:r>
          </a:p>
        </p:txBody>
      </p:sp>
      <p:sp>
        <p:nvSpPr>
          <p:cNvPr id="983" name="Cell 4-3"/>
          <p:cNvSpPr txBox="1"/>
          <p:nvPr/>
        </p:nvSpPr>
        <p:spPr>
          <a:xfrm>
            <a:off x="621792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0.921</a:t>
            </a:r>
          </a:p>
        </p:txBody>
      </p:sp>
      <p:sp>
        <p:nvSpPr>
          <p:cNvPr id="984" name="Cell 4-4"/>
          <p:cNvSpPr txBox="1"/>
          <p:nvPr/>
        </p:nvSpPr>
        <p:spPr>
          <a:xfrm>
            <a:off x="749808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0.769</a:t>
            </a:r>
          </a:p>
        </p:txBody>
      </p:sp>
      <p:sp>
        <p:nvSpPr>
          <p:cNvPr id="985" name="Cell 4-5"/>
          <p:cNvSpPr txBox="1"/>
          <p:nvPr/>
        </p:nvSpPr>
        <p:spPr>
          <a:xfrm>
            <a:off x="877824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0.624</a:t>
            </a:r>
          </a:p>
        </p:txBody>
      </p:sp>
      <p:sp>
        <p:nvSpPr>
          <p:cNvPr id="986" name="Cell 4-6"/>
          <p:cNvSpPr txBox="1"/>
          <p:nvPr/>
        </p:nvSpPr>
        <p:spPr>
          <a:xfrm>
            <a:off x="1005840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0.652</a:t>
            </a:r>
          </a:p>
        </p:txBody>
      </p:sp>
      <p:sp>
        <p:nvSpPr>
          <p:cNvPr id="987" name="Cell 5-0"/>
          <p:cNvSpPr txBox="1"/>
          <p:nvPr/>
        </p:nvSpPr>
        <p:spPr>
          <a:xfrm>
            <a:off x="822960" y="4407408"/>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full RIGOR</a:t>
            </a:r>
          </a:p>
        </p:txBody>
      </p:sp>
      <p:sp>
        <p:nvSpPr>
          <p:cNvPr id="988" name="Cell 5-1"/>
          <p:cNvSpPr txBox="1"/>
          <p:nvPr/>
        </p:nvSpPr>
        <p:spPr>
          <a:xfrm>
            <a:off x="365760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0.993</a:t>
            </a:r>
          </a:p>
        </p:txBody>
      </p:sp>
      <p:sp>
        <p:nvSpPr>
          <p:cNvPr id="989" name="Cell 5-2"/>
          <p:cNvSpPr txBox="1"/>
          <p:nvPr/>
        </p:nvSpPr>
        <p:spPr>
          <a:xfrm>
            <a:off x="493776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0.059</a:t>
            </a:r>
          </a:p>
        </p:txBody>
      </p:sp>
      <p:sp>
        <p:nvSpPr>
          <p:cNvPr id="990" name="Cell 5-3"/>
          <p:cNvSpPr txBox="1"/>
          <p:nvPr/>
        </p:nvSpPr>
        <p:spPr>
          <a:xfrm>
            <a:off x="621792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0.914</a:t>
            </a:r>
          </a:p>
        </p:txBody>
      </p:sp>
      <p:sp>
        <p:nvSpPr>
          <p:cNvPr id="991" name="Cell 5-4"/>
          <p:cNvSpPr txBox="1"/>
          <p:nvPr/>
        </p:nvSpPr>
        <p:spPr>
          <a:xfrm>
            <a:off x="749808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0.756</a:t>
            </a:r>
          </a:p>
        </p:txBody>
      </p:sp>
      <p:sp>
        <p:nvSpPr>
          <p:cNvPr id="992" name="Cell 5-5"/>
          <p:cNvSpPr txBox="1"/>
          <p:nvPr/>
        </p:nvSpPr>
        <p:spPr>
          <a:xfrm>
            <a:off x="877824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0.630</a:t>
            </a:r>
          </a:p>
        </p:txBody>
      </p:sp>
      <p:sp>
        <p:nvSpPr>
          <p:cNvPr id="993" name="Cell 5-6"/>
          <p:cNvSpPr txBox="1"/>
          <p:nvPr/>
        </p:nvSpPr>
        <p:spPr>
          <a:xfrm>
            <a:off x="1005840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0.655</a:t>
            </a:r>
          </a:p>
        </p:txBody>
      </p:sp>
      <p:sp>
        <p:nvSpPr>
          <p:cNvPr id="994" name="Ablation note"/>
          <p:cNvSpPr/>
          <p:nvPr/>
        </p:nvSpPr>
        <p:spPr>
          <a:xfrm>
            <a:off x="822960" y="5074920"/>
            <a:ext cx="10515600" cy="566928"/>
          </a:xfrm>
          <a:prstGeom prst="roundRect">
            <a:avLst>
              <a:gd name="adj" fmla="val 12000"/>
            </a:avLst>
          </a:prstGeom>
          <a:solidFill>
            <a:srgbClr val="E6F2EC"/>
          </a:solidFill>
          <a:ln>
            <a:noFill/>
          </a:ln>
        </p:spPr>
        <p:txBody>
          <a:bodyPr wrap="square" lIns="182880" tIns="0" rIns="182880" bIns="0" anchor="ctr">
            <a:noAutofit/>
          </a:bodyPr>
          <a:lstStyle/>
          <a:p>
            <a:pPr algn="l"/>
            <a:r>
              <a:rPr lang="en-US" sz="1300" b="1" dirty="0">
                <a:solidFill>
                  <a:srgbClr val="0B6E4F"/>
                </a:solidFill>
                <a:latin typeface="Calibri"/>
                <a:cs typeface="Calibri"/>
              </a:rPr>
              <a:t xml:space="preserve">Read with care: </a:t>
            </a:r>
            <a:r>
              <a:rPr lang="en-US" sz="1300" b="0" dirty="0">
                <a:solidFill>
                  <a:srgbClr val="3A434C"/>
                </a:solidFill>
                <a:latin typeface="Calibri"/>
                <a:cs typeface="Calibri"/>
              </a:rPr>
              <a:t xml:space="preserve">schema alignment is saturated because every variant keeps the direct-mapping seed, and external-ontology F1 is low in absolute terms. Full RIGOR is best on external F1, average recall and average F1.</a:t>
            </a:r>
          </a:p>
        </p:txBody>
      </p:sp>
      <p:sp>
        <p:nvSpPr>
          <p:cNvPr id="995"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14 (Chinook, Claude). One database and one model.</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B4</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All nine RIGOR runs together cost about 33 dollars.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Generation cost and runtime per database and model, including Gen-LLM and Judge-LLM calls</a:t>
            </a:r>
          </a:p>
        </p:txBody>
      </p:sp>
      <p:sp>
        <p:nvSpPr>
          <p:cNvPr id="949" name="Table header rule"/>
          <p:cNvSpPr/>
          <p:nvPr/>
        </p:nvSpPr>
        <p:spPr>
          <a:xfrm>
            <a:off x="822960" y="2240279"/>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1874519"/>
            <a:ext cx="210312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DATABASE</a:t>
            </a:r>
          </a:p>
        </p:txBody>
      </p:sp>
      <p:sp>
        <p:nvSpPr>
          <p:cNvPr id="951" name="Cell 0-1"/>
          <p:cNvSpPr txBox="1"/>
          <p:nvPr/>
        </p:nvSpPr>
        <p:spPr>
          <a:xfrm>
            <a:off x="2926079" y="1874519"/>
            <a:ext cx="246888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MODEL</a:t>
            </a:r>
          </a:p>
        </p:txBody>
      </p:sp>
      <p:sp>
        <p:nvSpPr>
          <p:cNvPr id="952" name="Cell 0-2"/>
          <p:cNvSpPr txBox="1"/>
          <p:nvPr/>
        </p:nvSpPr>
        <p:spPr>
          <a:xfrm>
            <a:off x="539496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REQUESTS</a:t>
            </a:r>
          </a:p>
        </p:txBody>
      </p:sp>
      <p:sp>
        <p:nvSpPr>
          <p:cNvPr id="953" name="Cell 0-3"/>
          <p:cNvSpPr txBox="1"/>
          <p:nvPr/>
        </p:nvSpPr>
        <p:spPr>
          <a:xfrm>
            <a:off x="6766560" y="1874519"/>
            <a:ext cx="173736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TOKENS</a:t>
            </a:r>
          </a:p>
        </p:txBody>
      </p:sp>
      <p:sp>
        <p:nvSpPr>
          <p:cNvPr id="954" name="Cell 0-4"/>
          <p:cNvSpPr txBox="1"/>
          <p:nvPr/>
        </p:nvSpPr>
        <p:spPr>
          <a:xfrm>
            <a:off x="850392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COST (USD)</a:t>
            </a:r>
          </a:p>
        </p:txBody>
      </p:sp>
      <p:sp>
        <p:nvSpPr>
          <p:cNvPr id="955" name="Cell 0-5"/>
          <p:cNvSpPr txBox="1"/>
          <p:nvPr/>
        </p:nvSpPr>
        <p:spPr>
          <a:xfrm>
            <a:off x="9875520" y="1874519"/>
            <a:ext cx="146304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RUNTIME (MIN)</a:t>
            </a:r>
          </a:p>
        </p:txBody>
      </p:sp>
      <p:sp>
        <p:nvSpPr>
          <p:cNvPr id="956" name="Cell 1-0"/>
          <p:cNvSpPr txBox="1"/>
          <p:nvPr/>
        </p:nvSpPr>
        <p:spPr>
          <a:xfrm>
            <a:off x="822960" y="22585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57" name="Cell 1-1"/>
          <p:cNvSpPr txBox="1"/>
          <p:nvPr/>
        </p:nvSpPr>
        <p:spPr>
          <a:xfrm>
            <a:off x="2926079" y="22585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58" name="Cell 1-2"/>
          <p:cNvSpPr txBox="1"/>
          <p:nvPr/>
        </p:nvSpPr>
        <p:spPr>
          <a:xfrm>
            <a:off x="539496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168</a:t>
            </a:r>
          </a:p>
        </p:txBody>
      </p:sp>
      <p:sp>
        <p:nvSpPr>
          <p:cNvPr id="959" name="Cell 1-3"/>
          <p:cNvSpPr txBox="1"/>
          <p:nvPr/>
        </p:nvSpPr>
        <p:spPr>
          <a:xfrm>
            <a:off x="6766560" y="22585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1,660,000</a:t>
            </a:r>
          </a:p>
        </p:txBody>
      </p:sp>
      <p:sp>
        <p:nvSpPr>
          <p:cNvPr id="960" name="Cell 1-4"/>
          <p:cNvSpPr txBox="1"/>
          <p:nvPr/>
        </p:nvSpPr>
        <p:spPr>
          <a:xfrm>
            <a:off x="850392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$21.30</a:t>
            </a:r>
          </a:p>
        </p:txBody>
      </p:sp>
      <p:sp>
        <p:nvSpPr>
          <p:cNvPr id="961" name="Cell 1-5"/>
          <p:cNvSpPr txBox="1"/>
          <p:nvPr/>
        </p:nvSpPr>
        <p:spPr>
          <a:xfrm>
            <a:off x="9875520" y="22585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182.4</a:t>
            </a:r>
          </a:p>
        </p:txBody>
      </p:sp>
      <p:sp>
        <p:nvSpPr>
          <p:cNvPr id="962" name="Row tint"/>
          <p:cNvSpPr/>
          <p:nvPr/>
        </p:nvSpPr>
        <p:spPr>
          <a:xfrm>
            <a:off x="822960" y="2624327"/>
            <a:ext cx="10515600" cy="365760"/>
          </a:xfrm>
          <a:prstGeom prst="rect">
            <a:avLst/>
          </a:prstGeom>
          <a:solidFill>
            <a:srgbClr val="F3F5F4"/>
          </a:solidFill>
          <a:ln>
            <a:noFill/>
          </a:ln>
        </p:spPr>
        <p:txBody>
          <a:bodyPr wrap="square" lIns="0" tIns="0" rIns="0" bIns="0" anchor="t">
            <a:noAutofit/>
          </a:bodyPr>
          <a:lstStyle/>
          <a:p>
            <a:pPr algn="l"/>
          </a:p>
        </p:txBody>
      </p:sp>
      <p:sp>
        <p:nvSpPr>
          <p:cNvPr id="963" name="Cell 2-0"/>
          <p:cNvSpPr txBox="1"/>
          <p:nvPr/>
        </p:nvSpPr>
        <p:spPr>
          <a:xfrm>
            <a:off x="822960" y="26243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64" name="Cell 2-1"/>
          <p:cNvSpPr txBox="1"/>
          <p:nvPr/>
        </p:nvSpPr>
        <p:spPr>
          <a:xfrm>
            <a:off x="2926079" y="26243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65" name="Cell 2-2"/>
          <p:cNvSpPr txBox="1"/>
          <p:nvPr/>
        </p:nvSpPr>
        <p:spPr>
          <a:xfrm>
            <a:off x="539496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96</a:t>
            </a:r>
          </a:p>
        </p:txBody>
      </p:sp>
      <p:sp>
        <p:nvSpPr>
          <p:cNvPr id="966" name="Cell 2-3"/>
          <p:cNvSpPr txBox="1"/>
          <p:nvPr/>
        </p:nvSpPr>
        <p:spPr>
          <a:xfrm>
            <a:off x="6766560" y="26243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1,290,000</a:t>
            </a:r>
          </a:p>
        </p:txBody>
      </p:sp>
      <p:sp>
        <p:nvSpPr>
          <p:cNvPr id="967" name="Cell 2-4"/>
          <p:cNvSpPr txBox="1"/>
          <p:nvPr/>
        </p:nvSpPr>
        <p:spPr>
          <a:xfrm>
            <a:off x="850392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$0.08</a:t>
            </a:r>
          </a:p>
        </p:txBody>
      </p:sp>
      <p:sp>
        <p:nvSpPr>
          <p:cNvPr id="968" name="Cell 2-5"/>
          <p:cNvSpPr txBox="1"/>
          <p:nvPr/>
        </p:nvSpPr>
        <p:spPr>
          <a:xfrm>
            <a:off x="9875520" y="26243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188.4</a:t>
            </a:r>
          </a:p>
        </p:txBody>
      </p:sp>
      <p:sp>
        <p:nvSpPr>
          <p:cNvPr id="969" name="Cell 3-0"/>
          <p:cNvSpPr txBox="1"/>
          <p:nvPr/>
        </p:nvSpPr>
        <p:spPr>
          <a:xfrm>
            <a:off x="822960" y="29900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70" name="Cell 3-1"/>
          <p:cNvSpPr txBox="1"/>
          <p:nvPr/>
        </p:nvSpPr>
        <p:spPr>
          <a:xfrm>
            <a:off x="2926079" y="29900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71" name="Cell 3-2"/>
          <p:cNvSpPr txBox="1"/>
          <p:nvPr/>
        </p:nvSpPr>
        <p:spPr>
          <a:xfrm>
            <a:off x="539496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52</a:t>
            </a:r>
          </a:p>
        </p:txBody>
      </p:sp>
      <p:sp>
        <p:nvSpPr>
          <p:cNvPr id="972" name="Cell 3-3"/>
          <p:cNvSpPr txBox="1"/>
          <p:nvPr/>
        </p:nvSpPr>
        <p:spPr>
          <a:xfrm>
            <a:off x="6766560" y="29900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334,000</a:t>
            </a:r>
          </a:p>
        </p:txBody>
      </p:sp>
      <p:sp>
        <p:nvSpPr>
          <p:cNvPr id="973" name="Cell 3-4"/>
          <p:cNvSpPr txBox="1"/>
          <p:nvPr/>
        </p:nvSpPr>
        <p:spPr>
          <a:xfrm>
            <a:off x="850392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$0.18</a:t>
            </a:r>
          </a:p>
        </p:txBody>
      </p:sp>
      <p:sp>
        <p:nvSpPr>
          <p:cNvPr id="974" name="Cell 3-5"/>
          <p:cNvSpPr txBox="1"/>
          <p:nvPr/>
        </p:nvSpPr>
        <p:spPr>
          <a:xfrm>
            <a:off x="9875520" y="29900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20.6</a:t>
            </a:r>
          </a:p>
        </p:txBody>
      </p:sp>
      <p:sp>
        <p:nvSpPr>
          <p:cNvPr id="975" name="Row tint"/>
          <p:cNvSpPr/>
          <p:nvPr/>
        </p:nvSpPr>
        <p:spPr>
          <a:xfrm>
            <a:off x="822960" y="3355848"/>
            <a:ext cx="10515600" cy="365760"/>
          </a:xfrm>
          <a:prstGeom prst="rect">
            <a:avLst/>
          </a:prstGeom>
          <a:solidFill>
            <a:srgbClr val="F3F5F4"/>
          </a:solidFill>
          <a:ln>
            <a:noFill/>
          </a:ln>
        </p:spPr>
        <p:txBody>
          <a:bodyPr wrap="square" lIns="0" tIns="0" rIns="0" bIns="0" anchor="t">
            <a:noAutofit/>
          </a:bodyPr>
          <a:lstStyle/>
          <a:p>
            <a:pPr algn="l"/>
          </a:p>
        </p:txBody>
      </p:sp>
      <p:sp>
        <p:nvSpPr>
          <p:cNvPr id="976" name="Cell 4-0"/>
          <p:cNvSpPr txBox="1"/>
          <p:nvPr/>
        </p:nvSpPr>
        <p:spPr>
          <a:xfrm>
            <a:off x="822960" y="33558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77" name="Cell 4-1"/>
          <p:cNvSpPr txBox="1"/>
          <p:nvPr/>
        </p:nvSpPr>
        <p:spPr>
          <a:xfrm>
            <a:off x="2926079" y="33558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78" name="Cell 4-2"/>
          <p:cNvSpPr txBox="1"/>
          <p:nvPr/>
        </p:nvSpPr>
        <p:spPr>
          <a:xfrm>
            <a:off x="539496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70</a:t>
            </a:r>
          </a:p>
        </p:txBody>
      </p:sp>
      <p:sp>
        <p:nvSpPr>
          <p:cNvPr id="979" name="Cell 4-3"/>
          <p:cNvSpPr txBox="1"/>
          <p:nvPr/>
        </p:nvSpPr>
        <p:spPr>
          <a:xfrm>
            <a:off x="6766560" y="33558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731,000</a:t>
            </a:r>
          </a:p>
        </p:txBody>
      </p:sp>
      <p:sp>
        <p:nvSpPr>
          <p:cNvPr id="980" name="Cell 4-4"/>
          <p:cNvSpPr txBox="1"/>
          <p:nvPr/>
        </p:nvSpPr>
        <p:spPr>
          <a:xfrm>
            <a:off x="850392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$10.30</a:t>
            </a:r>
          </a:p>
        </p:txBody>
      </p:sp>
      <p:sp>
        <p:nvSpPr>
          <p:cNvPr id="981" name="Cell 4-5"/>
          <p:cNvSpPr txBox="1"/>
          <p:nvPr/>
        </p:nvSpPr>
        <p:spPr>
          <a:xfrm>
            <a:off x="9875520" y="33558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94.4</a:t>
            </a:r>
          </a:p>
        </p:txBody>
      </p:sp>
      <p:sp>
        <p:nvSpPr>
          <p:cNvPr id="982" name="Cell 5-0"/>
          <p:cNvSpPr txBox="1"/>
          <p:nvPr/>
        </p:nvSpPr>
        <p:spPr>
          <a:xfrm>
            <a:off x="822960" y="372160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83" name="Cell 5-1"/>
          <p:cNvSpPr txBox="1"/>
          <p:nvPr/>
        </p:nvSpPr>
        <p:spPr>
          <a:xfrm>
            <a:off x="2926079" y="372160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84" name="Cell 5-2"/>
          <p:cNvSpPr txBox="1"/>
          <p:nvPr/>
        </p:nvSpPr>
        <p:spPr>
          <a:xfrm>
            <a:off x="539496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a:t>
            </a:r>
          </a:p>
        </p:txBody>
      </p:sp>
      <p:sp>
        <p:nvSpPr>
          <p:cNvPr id="985" name="Cell 5-3"/>
          <p:cNvSpPr txBox="1"/>
          <p:nvPr/>
        </p:nvSpPr>
        <p:spPr>
          <a:xfrm>
            <a:off x="6766560" y="372160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246,000</a:t>
            </a:r>
          </a:p>
        </p:txBody>
      </p:sp>
      <p:sp>
        <p:nvSpPr>
          <p:cNvPr id="986" name="Cell 5-4"/>
          <p:cNvSpPr txBox="1"/>
          <p:nvPr/>
        </p:nvSpPr>
        <p:spPr>
          <a:xfrm>
            <a:off x="850392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987" name="Cell 5-5"/>
          <p:cNvSpPr txBox="1"/>
          <p:nvPr/>
        </p:nvSpPr>
        <p:spPr>
          <a:xfrm>
            <a:off x="9875520" y="372160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20.5</a:t>
            </a:r>
          </a:p>
        </p:txBody>
      </p:sp>
      <p:sp>
        <p:nvSpPr>
          <p:cNvPr id="988" name="Row tint"/>
          <p:cNvSpPr/>
          <p:nvPr/>
        </p:nvSpPr>
        <p:spPr>
          <a:xfrm>
            <a:off x="822960" y="4087368"/>
            <a:ext cx="10515600" cy="365760"/>
          </a:xfrm>
          <a:prstGeom prst="rect">
            <a:avLst/>
          </a:prstGeom>
          <a:solidFill>
            <a:srgbClr val="F3F5F4"/>
          </a:solidFill>
          <a:ln>
            <a:noFill/>
          </a:ln>
        </p:spPr>
        <p:txBody>
          <a:bodyPr wrap="square" lIns="0" tIns="0" rIns="0" bIns="0" anchor="t">
            <a:noAutofit/>
          </a:bodyPr>
          <a:lstStyle/>
          <a:p>
            <a:pPr algn="l"/>
          </a:p>
        </p:txBody>
      </p:sp>
      <p:sp>
        <p:nvSpPr>
          <p:cNvPr id="989" name="Cell 6-0"/>
          <p:cNvSpPr txBox="1"/>
          <p:nvPr/>
        </p:nvSpPr>
        <p:spPr>
          <a:xfrm>
            <a:off x="822960" y="40873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90" name="Cell 6-1"/>
          <p:cNvSpPr txBox="1"/>
          <p:nvPr/>
        </p:nvSpPr>
        <p:spPr>
          <a:xfrm>
            <a:off x="2926079" y="40873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91" name="Cell 6-2"/>
          <p:cNvSpPr txBox="1"/>
          <p:nvPr/>
        </p:nvSpPr>
        <p:spPr>
          <a:xfrm>
            <a:off x="539496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a:t>
            </a:r>
          </a:p>
        </p:txBody>
      </p:sp>
      <p:sp>
        <p:nvSpPr>
          <p:cNvPr id="992" name="Cell 6-3"/>
          <p:cNvSpPr txBox="1"/>
          <p:nvPr/>
        </p:nvSpPr>
        <p:spPr>
          <a:xfrm>
            <a:off x="6766560" y="40873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142,000</a:t>
            </a:r>
          </a:p>
        </p:txBody>
      </p:sp>
      <p:sp>
        <p:nvSpPr>
          <p:cNvPr id="993" name="Cell 6-4"/>
          <p:cNvSpPr txBox="1"/>
          <p:nvPr/>
        </p:nvSpPr>
        <p:spPr>
          <a:xfrm>
            <a:off x="850392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$0.07</a:t>
            </a:r>
          </a:p>
        </p:txBody>
      </p:sp>
      <p:sp>
        <p:nvSpPr>
          <p:cNvPr id="994" name="Cell 6-5"/>
          <p:cNvSpPr txBox="1"/>
          <p:nvPr/>
        </p:nvSpPr>
        <p:spPr>
          <a:xfrm>
            <a:off x="9875520" y="40873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23.8</a:t>
            </a:r>
          </a:p>
        </p:txBody>
      </p:sp>
      <p:sp>
        <p:nvSpPr>
          <p:cNvPr id="995" name="Cell 7-0"/>
          <p:cNvSpPr txBox="1"/>
          <p:nvPr/>
        </p:nvSpPr>
        <p:spPr>
          <a:xfrm>
            <a:off x="822960" y="44531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996" name="Cell 7-1"/>
          <p:cNvSpPr txBox="1"/>
          <p:nvPr/>
        </p:nvSpPr>
        <p:spPr>
          <a:xfrm>
            <a:off x="2926079" y="44531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97" name="Cell 7-2"/>
          <p:cNvSpPr txBox="1"/>
          <p:nvPr/>
        </p:nvSpPr>
        <p:spPr>
          <a:xfrm>
            <a:off x="539496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a:t>
            </a:r>
          </a:p>
        </p:txBody>
      </p:sp>
      <p:sp>
        <p:nvSpPr>
          <p:cNvPr id="998" name="Cell 7-3"/>
          <p:cNvSpPr txBox="1"/>
          <p:nvPr/>
        </p:nvSpPr>
        <p:spPr>
          <a:xfrm>
            <a:off x="6766560" y="44531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119,000</a:t>
            </a:r>
          </a:p>
        </p:txBody>
      </p:sp>
      <p:sp>
        <p:nvSpPr>
          <p:cNvPr id="999" name="Cell 7-4"/>
          <p:cNvSpPr txBox="1"/>
          <p:nvPr/>
        </p:nvSpPr>
        <p:spPr>
          <a:xfrm>
            <a:off x="850392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$1.28</a:t>
            </a:r>
          </a:p>
        </p:txBody>
      </p:sp>
      <p:sp>
        <p:nvSpPr>
          <p:cNvPr id="1000" name="Cell 7-5"/>
          <p:cNvSpPr txBox="1"/>
          <p:nvPr/>
        </p:nvSpPr>
        <p:spPr>
          <a:xfrm>
            <a:off x="9875520" y="44531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9.0</a:t>
            </a:r>
          </a:p>
        </p:txBody>
      </p:sp>
      <p:sp>
        <p:nvSpPr>
          <p:cNvPr id="1001" name="Row tint"/>
          <p:cNvSpPr/>
          <p:nvPr/>
        </p:nvSpPr>
        <p:spPr>
          <a:xfrm>
            <a:off x="822960" y="4818888"/>
            <a:ext cx="10515600" cy="365760"/>
          </a:xfrm>
          <a:prstGeom prst="rect">
            <a:avLst/>
          </a:prstGeom>
          <a:solidFill>
            <a:srgbClr val="F3F5F4"/>
          </a:solidFill>
          <a:ln>
            <a:noFill/>
          </a:ln>
        </p:spPr>
        <p:txBody>
          <a:bodyPr wrap="square" lIns="0" tIns="0" rIns="0" bIns="0" anchor="t">
            <a:noAutofit/>
          </a:bodyPr>
          <a:lstStyle/>
          <a:p>
            <a:pPr algn="l"/>
          </a:p>
        </p:txBody>
      </p:sp>
      <p:sp>
        <p:nvSpPr>
          <p:cNvPr id="1002" name="Cell 8-0"/>
          <p:cNvSpPr txBox="1"/>
          <p:nvPr/>
        </p:nvSpPr>
        <p:spPr>
          <a:xfrm>
            <a:off x="822960" y="48188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3" name="Cell 8-1"/>
          <p:cNvSpPr txBox="1"/>
          <p:nvPr/>
        </p:nvSpPr>
        <p:spPr>
          <a:xfrm>
            <a:off x="2926079" y="48188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1004" name="Cell 8-2"/>
          <p:cNvSpPr txBox="1"/>
          <p:nvPr/>
        </p:nvSpPr>
        <p:spPr>
          <a:xfrm>
            <a:off x="539496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53</a:t>
            </a:r>
          </a:p>
        </p:txBody>
      </p:sp>
      <p:sp>
        <p:nvSpPr>
          <p:cNvPr id="1005" name="Cell 8-3"/>
          <p:cNvSpPr txBox="1"/>
          <p:nvPr/>
        </p:nvSpPr>
        <p:spPr>
          <a:xfrm>
            <a:off x="6766560" y="48188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344,000</a:t>
            </a:r>
          </a:p>
        </p:txBody>
      </p:sp>
      <p:sp>
        <p:nvSpPr>
          <p:cNvPr id="1006" name="Cell 8-4"/>
          <p:cNvSpPr txBox="1"/>
          <p:nvPr/>
        </p:nvSpPr>
        <p:spPr>
          <a:xfrm>
            <a:off x="850392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1007" name="Cell 8-5"/>
          <p:cNvSpPr txBox="1"/>
          <p:nvPr/>
        </p:nvSpPr>
        <p:spPr>
          <a:xfrm>
            <a:off x="9875520" y="48188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65.0</a:t>
            </a:r>
          </a:p>
        </p:txBody>
      </p:sp>
      <p:sp>
        <p:nvSpPr>
          <p:cNvPr id="1008" name="Cell 9-0"/>
          <p:cNvSpPr txBox="1"/>
          <p:nvPr/>
        </p:nvSpPr>
        <p:spPr>
          <a:xfrm>
            <a:off x="822960" y="51846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9" name="Cell 9-1"/>
          <p:cNvSpPr txBox="1"/>
          <p:nvPr/>
        </p:nvSpPr>
        <p:spPr>
          <a:xfrm>
            <a:off x="2926079" y="51846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1010" name="Cell 9-2"/>
          <p:cNvSpPr txBox="1"/>
          <p:nvPr/>
        </p:nvSpPr>
        <p:spPr>
          <a:xfrm>
            <a:off x="539496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22</a:t>
            </a:r>
          </a:p>
        </p:txBody>
      </p:sp>
      <p:sp>
        <p:nvSpPr>
          <p:cNvPr id="1011" name="Cell 9-3"/>
          <p:cNvSpPr txBox="1"/>
          <p:nvPr/>
        </p:nvSpPr>
        <p:spPr>
          <a:xfrm>
            <a:off x="6766560" y="51846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71,000</a:t>
            </a:r>
          </a:p>
        </p:txBody>
      </p:sp>
      <p:sp>
        <p:nvSpPr>
          <p:cNvPr id="1012" name="Cell 9-4"/>
          <p:cNvSpPr txBox="1"/>
          <p:nvPr/>
        </p:nvSpPr>
        <p:spPr>
          <a:xfrm>
            <a:off x="850392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$0.03</a:t>
            </a:r>
          </a:p>
        </p:txBody>
      </p:sp>
      <p:sp>
        <p:nvSpPr>
          <p:cNvPr id="1013" name="Cell 9-5"/>
          <p:cNvSpPr txBox="1"/>
          <p:nvPr/>
        </p:nvSpPr>
        <p:spPr>
          <a:xfrm>
            <a:off x="9875520" y="51846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12.0</a:t>
            </a:r>
          </a:p>
        </p:txBody>
      </p:sp>
      <p:sp>
        <p:nvSpPr>
          <p:cNvPr id="1014" name="Row tint"/>
          <p:cNvSpPr/>
          <p:nvPr/>
        </p:nvSpPr>
        <p:spPr>
          <a:xfrm>
            <a:off x="822960" y="5550407"/>
            <a:ext cx="10515600" cy="365760"/>
          </a:xfrm>
          <a:prstGeom prst="rect">
            <a:avLst/>
          </a:prstGeom>
          <a:solidFill>
            <a:srgbClr val="F3F5F4"/>
          </a:solidFill>
          <a:ln>
            <a:noFill/>
          </a:ln>
        </p:spPr>
        <p:txBody>
          <a:bodyPr wrap="square" lIns="0" tIns="0" rIns="0" bIns="0" anchor="t">
            <a:noAutofit/>
          </a:bodyPr>
          <a:lstStyle/>
          <a:p>
            <a:pPr algn="l"/>
          </a:p>
        </p:txBody>
      </p:sp>
      <p:sp>
        <p:nvSpPr>
          <p:cNvPr id="1015" name="Cell 10-0"/>
          <p:cNvSpPr txBox="1"/>
          <p:nvPr/>
        </p:nvSpPr>
        <p:spPr>
          <a:xfrm>
            <a:off x="822960" y="5550407"/>
            <a:ext cx="210312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Total</a:t>
            </a:r>
          </a:p>
        </p:txBody>
      </p:sp>
      <p:sp>
        <p:nvSpPr>
          <p:cNvPr id="1016" name="Cell 10-1"/>
          <p:cNvSpPr txBox="1"/>
          <p:nvPr/>
        </p:nvSpPr>
        <p:spPr>
          <a:xfrm>
            <a:off x="2926079" y="5550407"/>
            <a:ext cx="246888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
            </a:r>
          </a:p>
        </p:txBody>
      </p:sp>
      <p:sp>
        <p:nvSpPr>
          <p:cNvPr id="1017" name="Cell 10-2"/>
          <p:cNvSpPr txBox="1"/>
          <p:nvPr/>
        </p:nvSpPr>
        <p:spPr>
          <a:xfrm>
            <a:off x="539496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552</a:t>
            </a:r>
          </a:p>
        </p:txBody>
      </p:sp>
      <p:sp>
        <p:nvSpPr>
          <p:cNvPr id="1018" name="Cell 10-3"/>
          <p:cNvSpPr txBox="1"/>
          <p:nvPr/>
        </p:nvSpPr>
        <p:spPr>
          <a:xfrm>
            <a:off x="6766560" y="5550407"/>
            <a:ext cx="173736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4,937,000</a:t>
            </a:r>
          </a:p>
        </p:txBody>
      </p:sp>
      <p:sp>
        <p:nvSpPr>
          <p:cNvPr id="1019" name="Cell 10-4"/>
          <p:cNvSpPr txBox="1"/>
          <p:nvPr/>
        </p:nvSpPr>
        <p:spPr>
          <a:xfrm>
            <a:off x="850392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$33.28</a:t>
            </a:r>
          </a:p>
        </p:txBody>
      </p:sp>
      <p:sp>
        <p:nvSpPr>
          <p:cNvPr id="1020" name="Cell 10-5"/>
          <p:cNvSpPr txBox="1"/>
          <p:nvPr/>
        </p:nvSpPr>
        <p:spPr>
          <a:xfrm>
            <a:off x="9875520" y="5550407"/>
            <a:ext cx="146304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616.1</a:t>
            </a:r>
          </a:p>
        </p:txBody>
      </p:sp>
      <p:sp>
        <p:nvSpPr>
          <p:cNvPr id="102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15. Totals are summed from the nine rows; the paper's printed totals (651 requests, $34.28) also include runs not listed in the table.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B5</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(1/2)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The Judge-LLM is the same model as the generator. Isn't that self-evaluation?</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Inside the loop, yes: the same model generates and judges, so RIGOR needs no second model. Two things do not depend on it. The rule-based graph checks are deterministic. And the evaluation used a different model family, GPT-5.4, plus ten human experts, who ranked RIGOR first in 70% of cases.</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Is the Non-Iterative baseline a strawman?</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It receives the same retrieved context, but its prompt asks for less (labels and comments). Its biggest failure is dropping columns, down to 6%, which RIGOR prevents by construction with the seed. A prompt-matched ablation is a fair next experiment.</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 judge have position bias?</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Fragments were anonymized, but the order was fixed (paper Fig. 7), so we do not rely on the LLM judge alone. The human study points the same way: 28 of 40 first places, with significant agreement. Future runs should randomize the order.</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do critical P19 pitfalls remain (multiple domains or ranges)?</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They appear in 3 of 9 runs. A likely source is the union merge: when a property such as a patient link is reused across tables, each table adds its own domain. Merge-time checks and validator feedback inside the loop are the planned fix.</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only schemas and documentation, not the data?</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Portability and privacy. Clinical data often cannot leave the hospital, while schemas and documentation can. Instance-level signals, computed as aggregates, are our next step.</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B6</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(2/2)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Column coverage drops to 0.77. Why?</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That is DeepSeek on eICU. The seed is complete by construction, but enrichment can drop columns, and coverage is an embedding-based proxy. Stronger per-fragment coverage checks are planned.</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LLMs have seen these databases in training?</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eICU and Chinook are public. The liver-cancer registry is private, so no model saw it, and the LLM judge still ranked RIGOR first on all 16 of its tables.</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Are the external ontologies actually used?</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Retrieved external concepts are passed as context, and alignment axioms are added only on a good match. In the ablation, full RIGOR has the highest external-ontology alignment (F1 0.059 vs 0.033 without retrieval), though absolute values are small.</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How does the traversal handle self-referencing foreign keys (Chinook Employee.ReportsTo)?</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A self-reference does not wait on another table, so it does not affect the order; it becomes an object property from the class to itself, which the prompt allows for meaningful recursive relations.</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not compare with Gemini 2.5 Pro on BURR?</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 BURR it is a general-purpose LLM prompted to write the mapping directly: a mapping generator, not an ontology-learning system. Against it, RIGOR's class F1 is higher (.73 vs .65), relations are on par (.67 vs .68), attributes lower (.52 vs .56), and RIGOR also produces labels, hierarchy and provenance.</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