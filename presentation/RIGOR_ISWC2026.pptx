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[0:00–0:25]  SPOKEN SCRIPT (52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Good morning, I’m Nadeen Fathallah. Relational databases are excellent at representing how information is stored and linked. But a schema rarely tells us the full meaning of the data. RIGOR asks whether we can turn those structures into semantically useful OWL ontologies, without asking experts to model every table by hand.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State the thesis calmly. Do not read author affiliations.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We need semantic meaning beyond SQL structure.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§1; this is the paper’s high-level motivation.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[0:25–1:10]  SPOKEN SCRIPT (91 words)</a:t>
            </a:r>
          </a:p>
          <a:p>
            <a:r>
              <a:t>Imagine inheriting a clinical database. In this schema excerpt, admission.patient_id references PatientData.patient_id; the arrow connects those two columns directly. Both tables have additional fields omitted. But look at the attributes beneath it. What is BM_DEP? What does an ECOG score mean? The schema does not answer. And those are precisely the meanings an ontology-based query or integrated knowledge graph would need. This table is illustrative, assembled from examples in the paper, not a literal evaluation table. Our problem is not reading the SQL: it is recovering intended domain semantics while respecting the structure we can trust.</a:t>
            </a:r>
          </a:p>
          <a:p/>
          <a:p>
            <a:r>
              <a:t>PRESENTER / POINTER: Point to FK first, then BM_DEP and ecog_stage. Pause briefly for the audience to wonder.</a:t>
            </a:r>
          </a:p>
          <a:p>
            <a:r>
              <a:t>AUDIENCE TAKEAWAY: The schema knows storage and links, not full clinical semantics.</a:t>
            </a:r>
          </a:p>
          <a:p>
            <a:r>
              <a:t>SOURCE AND SCOPE: Illustrative table assembled from examples in paper §3.2 and §3.4—not actual trial output.</a:t>
            </a:r>
          </a:p>
          <a:p>
            <a:r>
              <a:t>Timing targets include normal visual pauses; verify with a recorded rehearsal.</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[1:10–2:05]  SPOKEN SCRIPT (87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Here is the target. Admission becomes a class linked to PatientData by an object property, rather than treating patient_id as just an integer. BM_DEP receives the label Bone Marrow Depression; ecog_stage gets an explanation of its clinical values; and provenance ties ontology elements back to their sources. The right-hand side is illustrative. Such a model supports concept-based access and makes information easier to interpret and reuse. Notice the tension: we want to add meaning, but cannot afford to lose the foreign key or columns along the way.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Trace input to class/relation, then labels, values, provenance; pause on the complete right panel.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goal is a linked, annotated, traceable ontology without losing structural fidelity.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Illustrative target based on paper §3; no claim that this is a captured run.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[2:05–2:50]  SPOKEN SCRIPT (78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Existing approaches each solve half of that challenge. A deterministic mapping respects explicit tables, columns, and foreign keys, but does not infer clinical meaning or useful hierarchies. An LLM can propose labels and relationships, but can omit fields or model a foreign key incorrectly. Neither alone gives us both fidelity and semantic enrichment across an interconnected schema. Our question is: can we use the database as a structural anchor, while adding grounded domain knowledge automatically? Here is how.</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Contrast left and right in one pass; land on the research question.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Rules and LLMs have complementary strengths and different weaknesses.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§1–2 and §4.5; mapping approaches are not all equivalent.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[2:50–3:15]  SPOKEN SCRIPT (57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Let’s build the solution on this same admission table. We begin with a schema and want an ontology that preserves the relationship to PatientData, explains coded values, and remains traceable to the source. RIGOR does this table by table. We will construct the pipeline in six moves, starting with one question: which table should come first?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Indicate the input/output panels; invite the audience into the next six decisions.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We will build RIGOR around the same example.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§3.1 and Fig. 1; example illustrative.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[3:15–3:50]  SPOKEN SCRIPT (66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Admission references PatientData, so RIGOR processes PatientData first. Across a database, it uses a foreign-key-guided breadth-first order: a table is taken once the tables it depends on have been processed. By the time we reach Admission, PatientData is already in the core ontology. We can reuse that class, rather than generating an incompatible second version. The output of this step is an ordered sequence of tables.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Follow foreign-key arrows; show why PatientData precedes admission.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Foreign-key traversal makes prior conceptual context available.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§3.1–3.2; FK-guided breadth-first order.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[3:50–4:40]  SPOKEN SCRIPT</a:t>
            </a:r>
          </a:p>
          <a:p>
            <a:r>
              <a:t>Now we create a deterministic ontology fragment, before involving an LLM. Direct Mapping transforms the cleaned admission table: the table becomes an OWL class, its ordinary columns become data properties, and its foreign key is represented by an object property linked to PatientData. This guarantees that each column of the cleaned schema is represented in the initial draft. Notice the scope of that guarantee: it applies to the seed, not automatically to the final LLM-enriched ontology. That distinction is important when we later measure final column coverage.</a:t>
            </a:r>
          </a:p>
          <a:p/>
          <a:p>
            <a:r>
              <a:t>AUDIENCE TAKEAWAY</a:t>
            </a:r>
          </a:p>
          <a:p>
            <a:r>
              <a:t>The deterministic direct mapping DMᵣ anchors generation and guarantees coverage of the cleaned schema at the seed stage.</a:t>
            </a:r>
          </a:p>
          <a:p>
            <a:r>
              <a:t>SOURCE: RIGOR paper §3.2, Algorithm 1.</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[4:40–5:25]  SPOKEN SCRIPT (81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How do we give that draft meaning? We retrieve from three places. Documentation explains BM_DEP and ECOG values. External domain ontologies supply candidates for established vocabulary links. And the growing core tells us which classes and identifiers have already been accepted, including PatientData. For each table, RIGOR embeds a query derived from its names and foreign-key targets, retrieving the top three matches per source. The third source is the distinctive one: results of earlier iterations become evidence for what comes next.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Walk the three sources slowly; emphasize the core ontology grows.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Three retrieval sources provide domain meaning and reusable context.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§3.3; all-MiniLM-L6-v2, FAISS, k=3 per source.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[5:25–6:15] SPOKEN SCRIPT</a:t>
            </a:r>
          </a:p>
          <a:p>
            <a:r>
              <a:t>The generator receives the direct mapping and retrieved context. Read the code top to bottom: each block is one ontology element, and the tag on the right shows the evidence that informed it. The schema grounds the Admission-to-PatientData relation; documentation explains BM_DEP and the ECOG codes. For ECOG, the LLM records the code meanings in an rdfs:comment. Notice the separate provenance statement: prov:wasDerivedFrom traces the ontology element to its source database column, not to the document retrieved during generation. If a suitable external concept is found, RIGOR can additionally align to that vocabulary. This is an illustrative fragment, not a logged model output.</a:t>
            </a:r>
          </a:p>
          <a:p/>
          <a:p>
            <a:r>
              <a:t>AUDIENCE TAKEAWAY</a:t>
            </a:r>
          </a:p>
          <a:p>
            <a:r>
              <a:t>Each code block is an ontology contribution; context-source labels are explanatory, while prov:wasDerivedFrom is formal database-schema provenance.</a:t>
            </a:r>
          </a:p>
          <a:p/>
          <a:p>
            <a:r>
              <a:t>SOURCE AND SCOPE</a:t>
            </a:r>
          </a:p>
          <a:p>
            <a:r>
              <a:t>Paper §3.3–3.4; illustrative example, no asserted external alignment.</a:t>
            </a:r>
          </a:p>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[6:15–7:15]  SPOKEN SCRIPT</a:t>
            </a:r>
          </a:p>
          <a:p>
            <a:r>
              <a:t>Why do we need validation rather than trusting a plausible-looking answer? Consider two hypothetical errors. First, the model might reverse the meanings of ECOG zero and five. That comment could be perfectly valid OWL syntax, so a graph-level constraint check alone would not catch the clinical mistake. A Judge-LLM can compare it with retrieved documentation. Second, the model could treat patient_id as a data property, ignoring the foreign-key relationship. Deterministic graph checks can flag that structural error. RIGOR uses both kinds of checks, returning problems for correction with a limited retry budget before fallback. These examples illustrate the purpose of validation; they are not observed RIGOR outputs.</a:t>
            </a:r>
          </a:p>
          <a:p/>
          <a:p>
            <a:r>
              <a:t>AUDIENCE TAKEAWAY</a:t>
            </a:r>
          </a:p>
          <a:p>
            <a:r>
              <a:t>Semantic review and deterministic graph validation complement one another; neither guarantees all errors will be caught.</a:t>
            </a:r>
          </a:p>
          <a:p>
            <a:r>
              <a:t>SOURCE: paper §3.5, Judge-LLM prompt appendix; examples explicitly hypothetical.</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[7:15–7:55]  SPOKEN SCRIPT (64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Now we merge the refined delta with the ontology built so far. PatientData was already there; Admission, its properties, annotations, and provenance now join it, reusing established identifiers. Merging is an axiom-set union. Then we move to the next table. The important moment is this: the expanded ontology becomes retrieval context for the next iteration. The model does not start from scratch every time.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Trace core + delta → expanded core → feedback to retrieval.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growing ontology is both the output and an input to the next step.</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§3.6; axiom union and IRI reuse.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[7:55–8:07]  SPOKEN SCRIPT (19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First, the database determines the order: process parent tables before dependent tables. In our example, PatientData comes before admission.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Foreign-key order gives context from parents.</a:t>
            </a:r>
            <a:endParaRP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[8:07–8:21]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Next, each table receives a deterministic OWL seed. This is the structural anchor that the generative model must enrich, not invent.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Direct mapping provides the structural anchor.</a:t>
            </a:r>
            <a:endParaRP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[8:21–8:39]  SPOKEN SCRIPT (23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Now add three retrieval channels: domain ontologies for alignments, documentation for encoded meanings, and the ontology already built for consistency and IRI reuse.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Three retrieval sources give complementary semantics.</a:t>
            </a:r>
            <a:endParaRP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[8:39–8:53]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Gen-LLM receives both the direct mapping and that context. It produces a delta ontology containing the semantic enrichment and provenance.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LLM produces a delta grounded in direct mapping and context.</a:t>
            </a:r>
            <a:endParaRP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[8:53–9:07]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Before a delta can join the core, a Judge-LLM assesses it and deterministic graph checks enforce structural constraints. Problems trigger correction.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Validation occurs before integration.</a:t>
            </a:r>
            <a:endParaRP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[9:07–9:22]  SPOKEN SCRIPT (23 words)</a:t>
            </a:r>
          </a:p>
          <a:p>
            <a:r>
              <a:t>Only a validated fragment is integrated. Follow the green return arrow from Integration (i) back into the growing core retrieval source (e), for the next table. The core ontology grows, and becomes retrieval context for the next table. That feedback loop completes RIGOR.</a:t>
            </a:r>
          </a:p>
          <a:p/>
          <a:p>
            <a:r>
              <a:t>PRESENTER CUE</a:t>
            </a:r>
          </a:p>
          <a:p>
            <a:r>
              <a:t>This is a cumulative reveal of the paper’s Figure 1, faithfully preserving its components and edges. Refer to the earlier method slide shown in the footer. Do not re-explain the full step: reconnect it to the full architecture.</a:t>
            </a:r>
          </a:p>
          <a:p/>
          <a:p>
            <a:r>
              <a:t>AUDIENCE TAKEAWAY</a:t>
            </a:r>
          </a:p>
          <a:p>
            <a:r>
              <a:t>The growing core is both the evolving output and a retrieval source.</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[9:22–10:07]  SPOKEN SCRIPT (73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We evaluated three databases: a specialist liver-cancer registry, the larger eICU schema, and Chinook, a music-store database. We compared deterministic mapping, a zero-shot LLM baseline, one-pass retrieval-augmented generation, and RIGOR. Three generator models across the LLM methods, plus one deterministic mapping per dataset, yielded thirty ontologies. We assessed ontology structure and pitfalls, gathered independent LLM and human judgments, and tested mapping fidelity on BURR. This comparison does not separately isolate every RIGOR component.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Tour datasets, then comparison spectrum. Do not read every number.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study tests distinct datasets, models and comparison methods.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§4.1–4.6. Ontologies = 3 models × 3 methods × 3 databases + 3 direct-mapped.</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[10:07–11:02]  SPOKEN SCRIPT (80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Finally, what do ontology experts think? Ten experts reviewed anonymized outputs for four representative medical tables. They ranked RIGOR first in twenty-eight of forty rankings—seventy percent—with statistically significant agreement across raters. They especially valued domain enrichment, clarity, and completeness. Separately, GPT-5.4 evaluated Claude-generated fragments for all fifty-eight tables, using five competency questions per table, and ranked RIGOR first in all fifty-eight. The human sample is limited, and LLM judgments cannot replace it; together, they offer complementary evidence.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Pause for the 70% headline, then comparison bars; explain LLM judge as corroboration.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Human and independent LLM evaluations favor RIGOR on the assessed fragments.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Table 1, §4.6–4.7; 4 expert-evaluated medical tables; 58 table-based LLM ranks only Claude outputs.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[9:05–10:00]  SPOKEN SCRIPT (interim; final wording in Phase 6)</a:t>
            </a:r>
          </a:p>
          <a:p>
            <a:r>
              <a:t>First: does RIGOR really add meaning, and does it keep the schema? This table shows what each method's ontologies contain. Direct mapping keeps the columns but adds no meaning. Single-pass retrieval adds labels, but drops columns: in one run it keeps only six percent of them. RIGOR is the only method that produces class hierarchies and provenance in all nine runs, while keeping 77 to 100 percent of the columns. And its ontologies have the fewest modeling pitfalls in every like-for-like comparison: zero on Chinook.</a:t>
            </a:r>
          </a:p>
          <a:p/>
          <a:p>
            <a:r>
              <a:t>PRESENTER / POINTER: Read across the RIGOR row last. Point at Non-Iterative's 0.06 first.</a:t>
            </a:r>
          </a:p>
          <a:p>
            <a:r>
              <a:t>AUDIENCE TAKEAWAY: Only RIGOR adds hierarchy and provenance and still keeps the schema.</a:t>
            </a:r>
          </a:p>
          <a:p>
            <a:r>
              <a:t>SOURCE AND SCOPE: Paper Tables 7, 8, 9. Coverage is an embedding-based proxy; Direct Mapping is complete by construction. Disjointness (1/9 runs) is deliberately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[10:00–11:05]  SPOKEN SCRIPT (interim; final wording in Phase 6)</a:t>
            </a:r>
          </a:p>
          <a:p>
            <a:r>
              <a:t>Second: is that link back to the data real? BURR is an external benchmark that asks exactly this. A system must say which part of the database each ontology element comes from: which table becomes a class, which foreign key becomes a relation, which column becomes an attribute. BURR compares that mapping with a gold-standard mapping and reports F1 for each type. RIGOR's provenance annotations give us this mapping directly; we export them as D2RQ. On the ISWC scenario, RIGOR has the best F1 for classes, relations and attributes. BURR's authors found that LLM methods trail rule-based systems on this task; here RIGOR leads both. It is one scenario, with Claude.</a:t>
            </a:r>
          </a:p>
          <a:p/>
          <a:p>
            <a:r>
              <a:t>PRESENTER / POINTER: Walk the three mapping rows on the left first, then land on the RIGOR row.</a:t>
            </a:r>
          </a:p>
          <a:p>
            <a:r>
              <a:t>AUDIENCE TAKEAWAY: Semantic enrichment did not break the correspondence that OBDA and KG population need.</a:t>
            </a:r>
          </a:p>
          <a:p>
            <a:r>
              <a:t>SOURCE AND SCOPE: Paper Table 13, Strategy 8. BURR = Laskowski et al., PACMMOD 2025. Left-card elements are illustrative, not the gold standard's actual names.</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[12:52–13:40]  SPOKEN SCRIPT (77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Two challenges remain. First, the deterministic seed covers the cleaned schema, but enrichment does not always preserve every column; our embedding-based coverage proxy ranges from 0.77 to 1.00. Second, validation still misses some modeling pitfalls, and disjointness is rare. These suggest feeding validator feedback into generation, using instance-level signals where documentation is weak, and incorporating symbolic reasoning. We have not yet measured downstream OBDA or knowledge-graph tasks, and the expert study covers only four tables.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Two cards only. Avoid enumerating every supplementary limitation.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Final fidelity and semantic validation remain open work.</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§5 limitations and §4.7 evaluation; future steps grounded in conclusion.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[13:40–14:18] SPOKEN SCRIPT</a:t>
            </a:r>
          </a:p>
          <a:p>
            <a:r>
              <a:t>To close, RIGOR starts from the structure of a relational database and produces a semantically enriched ontology, iteratively and with validation before integration. The schema provides the structural anchor, retrieval supplies meaning, and the growing ontology helps guide subsequent tables. Thank you for your attention. I would be happy to take questions; the paper and code are available using the QR codes, and you can contact me by email.</a:t>
            </a:r>
          </a:p>
          <a:p/>
          <a:p>
            <a:r>
              <a:t>PRESENTER CUE</a:t>
            </a:r>
          </a:p>
          <a:p>
            <a:r>
              <a:t>Finish speaking before 14:30. Leave this slide projected throughout questions. QR images are preserved from the original deck.</a:t>
            </a:r>
          </a:p>
          <a:p>
            <a:r>
              <a:t>SOURCE: conceptual recap from the RIGOR paper and user-provided contact address.</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IBM Plex Sans"/>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IBM Plex Sans"/>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Arial"/>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20" name="Shape 20"/>
        <p:cNvGrpSpPr/>
        <p:nvPr/>
      </p:nvGrpSpPr>
      <p:grpSpPr>
        <a:xfrm>
          <a:off x="0" y="0"/>
          <a:ext cx="0" cy="0"/>
          <a:chOff x="0" y="0"/>
          <a:chExt cx="0" cy="0"/>
        </a:xfrm>
      </p:grpSpPr>
      <p:sp>
        <p:nvSpPr>
          <p:cNvPr id="21" name="Google Shape;21;p1"/>
          <p:cNvSpPr txBox="1"/>
          <p:nvPr/>
        </p:nvSpPr>
        <p:spPr>
          <a:xfrm>
            <a:off x="795528" y="585216"/>
            <a:ext cx="88696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F6CF6A"/>
                </a:solidFill>
                <a:latin typeface="Consolas"/>
                <a:ea typeface="Consolas"/>
                <a:cs typeface="Consolas"/>
                <a:sym typeface="Consolas"/>
              </a:rPr>
              <a:t>ISWC 2026  /  RESEARCH PAPER</a:t>
            </a:r>
            <a:endParaRPr/>
          </a:p>
        </p:txBody>
      </p:sp>
      <p:sp>
        <p:nvSpPr>
          <p:cNvPr id="22" name="Google Shape;22;p1"/>
          <p:cNvSpPr txBox="1"/>
          <p:nvPr/>
        </p:nvSpPr>
        <p:spPr>
          <a:xfrm>
            <a:off x="795528" y="2267692"/>
            <a:ext cx="79554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Retrieval-Augmented</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Generation of Ontologies</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from Relati</a:t>
            </a:r>
            <a:r>
              <a:rPr b="1" i="0" lang="en-US" sz="3300" u="none" cap="none" strike="noStrike">
                <a:solidFill>
                  <a:srgbClr val="FFFFFF"/>
                </a:solidFill>
                <a:latin typeface="Cambria"/>
                <a:ea typeface="Calibri"/>
                <a:cs typeface="Calibri"/>
                <a:sym typeface="Calibri"/>
              </a:rPr>
              <a:t>o</a:t>
            </a:r>
            <a:r>
              <a:rPr b="1" i="0" lang="en-US" sz="3300" u="none" cap="none" strike="noStrike">
                <a:solidFill>
                  <a:srgbClr val="FFFFFF"/>
                </a:solidFill>
                <a:latin typeface="Cambria"/>
                <a:ea typeface="Calibri"/>
                <a:cs typeface="Calibri"/>
                <a:sym typeface="Calibri"/>
              </a:rPr>
              <a:t>nal Databases</a:t>
            </a:r>
            <a:endParaRPr/>
          </a:p>
        </p:txBody>
      </p:sp>
      <p:sp>
        <p:nvSpPr>
          <p:cNvPr id="23" name="Google Shape;23;p1"/>
          <p:cNvSpPr txBox="1"/>
          <p:nvPr/>
        </p:nvSpPr>
        <p:spPr>
          <a:xfrm>
            <a:off x="795463" y="5359389"/>
            <a:ext cx="8869800" cy="615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600" u="none" cap="none" strike="noStrike">
                <a:solidFill>
                  <a:schemeClr val="lt1"/>
                </a:solidFill>
                <a:latin typeface="Calibri"/>
                <a:ea typeface="Calibri"/>
                <a:cs typeface="Calibri"/>
                <a:sym typeface="Calibri"/>
              </a:rPr>
              <a:t>Nadeen Fathallah</a:t>
            </a:r>
            <a:r>
              <a:rPr b="0" i="0" lang="en-US" sz="1600" u="none" cap="none" strike="noStrike">
                <a:solidFill>
                  <a:schemeClr val="lt1"/>
                </a:solidFill>
                <a:latin typeface="Calibri"/>
                <a:ea typeface="Calibri"/>
                <a:cs typeface="Calibri"/>
                <a:sym typeface="Calibri"/>
              </a:rPr>
              <a:t>¹ · Mojtaba Nayyeri¹ · Athish A Yogi¹ · Ratan Bahadur Thapa¹ · Hans-Michael Tautenhahn³ · Anton Schnurpel³ · Steffen Staab¹,²</a:t>
            </a:r>
            <a:endParaRPr sz="1600">
              <a:solidFill>
                <a:schemeClr val="lt1"/>
              </a:solidFill>
            </a:endParaRPr>
          </a:p>
        </p:txBody>
      </p:sp>
      <p:sp>
        <p:nvSpPr>
          <p:cNvPr id="24" name="Google Shape;24;p1"/>
          <p:cNvSpPr txBox="1"/>
          <p:nvPr/>
        </p:nvSpPr>
        <p:spPr>
          <a:xfrm>
            <a:off x="695411" y="6109694"/>
            <a:ext cx="108357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600" u="none" cap="none" strike="noStrike">
                <a:solidFill>
                  <a:schemeClr val="lt1"/>
                </a:solidFill>
                <a:latin typeface="Calibri"/>
                <a:ea typeface="Calibri"/>
                <a:cs typeface="Calibri"/>
                <a:sym typeface="Calibri"/>
              </a:rPr>
              <a:t>¹ University of Stuttgart   ·   ² University of Southampton   ·   ³ Universitätsklinikum Leipzig</a:t>
            </a:r>
            <a:endParaRPr sz="1600">
              <a:solidFill>
                <a:schemeClr val="lt1"/>
              </a:solidFill>
            </a:endParaRPr>
          </a:p>
        </p:txBody>
      </p:sp>
      <p:sp>
        <p:nvSpPr>
          <p:cNvPr id="25" name="Google Shape;25;p1"/>
          <p:cNvSpPr txBox="1"/>
          <p:nvPr/>
        </p:nvSpPr>
        <p:spPr>
          <a:xfrm>
            <a:off x="795528" y="6482195"/>
            <a:ext cx="106986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600">
                <a:solidFill>
                  <a:schemeClr val="lt1"/>
                </a:solidFill>
                <a:latin typeface="Consolas"/>
                <a:ea typeface="Consolas"/>
                <a:cs typeface="Consolas"/>
                <a:sym typeface="Consolas"/>
              </a:rPr>
              <a:t>Paper: </a:t>
            </a:r>
            <a:r>
              <a:rPr b="0" i="0" lang="en-US" sz="1600" u="none" cap="none" strike="noStrike">
                <a:solidFill>
                  <a:schemeClr val="lt1"/>
                </a:solidFill>
                <a:latin typeface="Consolas"/>
                <a:ea typeface="Consolas"/>
                <a:cs typeface="Consolas"/>
                <a:sym typeface="Consolas"/>
              </a:rPr>
              <a:t>arXiv:2506.01232  ·  Code</a:t>
            </a:r>
            <a:r>
              <a:rPr lang="en-US" sz="1600">
                <a:solidFill>
                  <a:schemeClr val="lt1"/>
                </a:solidFill>
                <a:latin typeface="Consolas"/>
                <a:ea typeface="Consolas"/>
                <a:cs typeface="Consolas"/>
                <a:sym typeface="Consolas"/>
              </a:rPr>
              <a:t>: </a:t>
            </a:r>
            <a:r>
              <a:rPr b="0" i="0" lang="en-US" sz="1600" u="none" cap="none" strike="noStrike">
                <a:solidFill>
                  <a:schemeClr val="lt1"/>
                </a:solidFill>
                <a:latin typeface="Consolas"/>
                <a:ea typeface="Consolas"/>
                <a:cs typeface="Consolas"/>
                <a:sym typeface="Consolas"/>
              </a:rPr>
              <a:t>github.com/NadeenAhmad/RIGOR</a:t>
            </a:r>
            <a:endParaRPr sz="1600">
              <a:solidFill>
                <a:schemeClr val="lt1"/>
              </a:solidFill>
            </a:endParaRPr>
          </a:p>
        </p:txBody>
      </p:sp>
      <p:pic>
        <p:nvPicPr>
          <p:cNvPr descr="Motif: rows of a database table linked to nodes of a graph; one highlighted row links to a highlighted node" id="26" name="Google Shape;26;p1"/>
          <p:cNvPicPr preferRelativeResize="0"/>
          <p:nvPr/>
        </p:nvPicPr>
        <p:blipFill rotWithShape="1">
          <a:blip r:embed="rId3">
            <a:alphaModFix/>
          </a:blip>
          <a:srcRect b="0" l="0" r="0" t="0"/>
          <a:stretch/>
        </p:blipFill>
        <p:spPr>
          <a:xfrm>
            <a:off x="6721972" y="793871"/>
            <a:ext cx="4433648" cy="3965047"/>
          </a:xfrm>
          <a:prstGeom prst="rect">
            <a:avLst/>
          </a:prstGeom>
          <a:noFill/>
          <a:ln>
            <a:noFill/>
          </a:ln>
        </p:spPr>
      </p:pic>
      <p:sp>
        <p:nvSpPr>
          <p:cNvPr id="27" name="Google Shape;27;p1"/>
          <p:cNvSpPr txBox="1"/>
          <p:nvPr/>
        </p:nvSpPr>
        <p:spPr>
          <a:xfrm>
            <a:off x="6350050" y="4377934"/>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Relational Database</a:t>
            </a:r>
            <a:endParaRPr sz="1761">
              <a:solidFill>
                <a:schemeClr val="lt1"/>
              </a:solidFill>
            </a:endParaRPr>
          </a:p>
        </p:txBody>
      </p:sp>
      <p:sp>
        <p:nvSpPr>
          <p:cNvPr id="28" name="Google Shape;28;p1"/>
          <p:cNvSpPr txBox="1"/>
          <p:nvPr/>
        </p:nvSpPr>
        <p:spPr>
          <a:xfrm>
            <a:off x="9011081" y="4649040"/>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Ontology</a:t>
            </a:r>
            <a:endParaRPr sz="1761">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best F1 on the BURR benchmark</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Some errors are plausible—and still wrong.</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Semantic errors and structural errors require complementary checks before merging.</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ECOG documentation: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0" i="0" dirty="0">
                <a:solidFill>
                  <a:srgbClr val="B23A1E"/>
                </a:solidFill>
                <a:latin typeface="Consolas"/>
                <a:cs typeface="Consolas"/>
              </a:rPr>
              <a:t xml:space="preserve">rdfs:comment</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"ECOG 0 = dead … 5 = fully active"@en</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The ontology may be syntactically valid,
but contradicts the retrieved clinical scale.</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Generated foreign-key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DataProperty: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patient_id</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xsd:integer</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The schema identifies patient_id as an FK;
it requires an object-property link.</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0" i="0" dirty="0">
                <a:solidFill>
                  <a:srgbClr val="5B6770"/>
                </a:solidFill>
                <a:latin typeface="Consolas"/>
                <a:cs typeface="Consolas"/>
              </a:rPr>
              <a:t xml:space="preserve">rdfs:comment</a:t>
            </a:r>
            <a:r>
              <a:rPr lang="en-US" sz="1200" b="0" i="0" dirty="0">
                <a:solidFill>
                  <a:srgbClr val="1F2328"/>
                </a:solidFill>
                <a:latin typeface="Consolas"/>
                <a:cs typeface="Consolas"/>
              </a:rPr>
              <a:t xml:space="preserve"> </a:t>
            </a:r>
            <a:r>
              <a:rPr lang="en-US" sz="1200" b="0" i="0" dirty="0">
                <a:solidFill>
                  <a:srgbClr val="A3401E"/>
                </a:solidFill>
                <a:latin typeface="Consolas"/>
                <a:cs typeface="Consolas"/>
              </a:rPr>
              <a:t xml:space="preserve">"ECOG 0 = fully active … 5 = dead"@en</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patient_id</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ERRORS, NOT OBSERVED OUTPUTS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E8A5E"/>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E8A5E"/>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E8A5E"/>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E8A5E"/>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E8A5E"/>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E8A5E"/>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E8A5E"/>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2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200" b="1">
                <a:solidFill>
                  <a:srgbClr val="2F6B78"/>
                </a:solidFill>
                <a:latin typeface="Calibri"/>
              </a:rPr>
              <a:t>COLUMNS KEPT</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final schema coverage</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200" b="1">
                <a:solidFill>
                  <a:srgbClr val="2F6B78"/>
                </a:solidFill>
                <a:latin typeface="Calibri"/>
              </a:rPr>
              <a:t>LABELS &amp; COMMENTS</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runs that have them</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200" b="1">
                <a:solidFill>
                  <a:srgbClr val="2F6B78"/>
                </a:solidFill>
                <a:latin typeface="Calibri"/>
              </a:rPr>
              <a:t>HIERARCHY + PROVENANCE</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runs that have them</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0.78–0.99</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8A949B"/>
                </a:solidFill>
                <a:latin typeface="Calibri"/>
              </a:rPr>
              <a:t>0 / 3</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8A949B"/>
                </a:solidFill>
                <a:latin typeface="Calibri"/>
              </a:rPr>
              <a:t>0 / 3</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0.31–1.00</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8A949B"/>
                </a:solidFill>
                <a:latin typeface="Calibri"/>
              </a:rPr>
              <a:t>0 / 9</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8A949B"/>
                </a:solidFill>
                <a:latin typeface="Calibri"/>
              </a:rPr>
              <a:t>0 / 9</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1">
                <a:solidFill>
                  <a:srgbClr val="B23A1E"/>
                </a:solidFill>
                <a:latin typeface="Calibri"/>
              </a:rPr>
              <a:t>0.06–0.78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9 / 9</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8A949B"/>
                </a:solidFill>
                <a:latin typeface="Calibri"/>
              </a:rPr>
              <a:t>0 / 9</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0.77–1.00</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9 / 9</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9 / 9</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Marker 965" descr="absent"/>
          <p:cNvSpPr/>
          <p:nvPr/>
        </p:nvSpPr>
        <p:spPr>
          <a:xfrm>
            <a:off x="6935723" y="2651760"/>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7" name="Marker 967" descr="absent"/>
          <p:cNvSpPr/>
          <p:nvPr/>
        </p:nvSpPr>
        <p:spPr>
          <a:xfrm>
            <a:off x="9587483" y="2651760"/>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8" name="Marker 973" descr="absent"/>
          <p:cNvSpPr/>
          <p:nvPr/>
        </p:nvSpPr>
        <p:spPr>
          <a:xfrm>
            <a:off x="6935723" y="3310128"/>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9" name="Marker 975" descr="absent"/>
          <p:cNvSpPr/>
          <p:nvPr/>
        </p:nvSpPr>
        <p:spPr>
          <a:xfrm>
            <a:off x="9587483" y="3310128"/>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1000" name="Marker 981" descr="present"/>
          <p:cNvSpPr/>
          <p:nvPr/>
        </p:nvSpPr>
        <p:spPr>
          <a:xfrm>
            <a:off x="6935723" y="3968496"/>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01" name="Marker 983" descr="absent"/>
          <p:cNvSpPr/>
          <p:nvPr/>
        </p:nvSpPr>
        <p:spPr>
          <a:xfrm>
            <a:off x="9587483" y="3968496"/>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1002" name="Marker 989" descr="present"/>
          <p:cNvSpPr/>
          <p:nvPr/>
        </p:nvSpPr>
        <p:spPr>
          <a:xfrm>
            <a:off x="6935723" y="462686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03" name="Marker 991" descr="present"/>
          <p:cNvSpPr/>
          <p:nvPr/>
        </p:nvSpPr>
        <p:spPr>
          <a:xfrm>
            <a:off x="9587483" y="462686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 best on BURR.</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(Laskowski et al., 2025) scores ontology learning against a gold standard  ·  ISWC scenario</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5" name="Rounded Rectangle 1004"/>
          <p:cNvSpPr/>
          <p:nvPr/>
        </p:nvSpPr>
        <p:spPr>
          <a:xfrm>
            <a:off x="841248" y="5422392"/>
            <a:ext cx="10497312" cy="45720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TextBox 1005"/>
          <p:cNvSpPr txBox="1"/>
          <p:nvPr/>
        </p:nvSpPr>
        <p:spPr>
          <a:xfrm>
            <a:off x="1014984" y="5486400"/>
            <a:ext cx="10131552" cy="310896"/>
          </a:xfrm>
          <a:prstGeom prst="rect">
            <a:avLst/>
          </a:prstGeom>
          <a:noFill/>
        </p:spPr>
        <p:txBody>
          <a:bodyPr wrap="square" lIns="0" rIns="0" tIns="0" bIns="0" anchor="ctr">
            <a:spAutoFit/>
          </a:bodyPr>
          <a:lstStyle/>
          <a:p>
            <a:r>
              <a:rPr sz="1280" b="0">
                <a:solidFill>
                  <a:srgbClr val="3A434C"/>
                </a:solidFill>
                <a:latin typeface="Calibri"/>
              </a:rPr>
              <a:t>BURR's own finding: LLM-based methods trail rule-based ones.   </a:t>
            </a:r>
            <a:r>
              <a:rPr sz="1280" b="1">
                <a:solidFill>
                  <a:srgbClr val="0B6E4F"/>
                </a:solidFill>
                <a:latin typeface="Calibri"/>
              </a:rPr>
              <a:t>Here RIGOR leads both.</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127248"/>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127248"/>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127248"/>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127248"/>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84448"/>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84448"/>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84448"/>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84448"/>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4041648"/>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4041648"/>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4041648"/>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4041648"/>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443983"/>
            <a:ext cx="4389120" cy="438912"/>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BURR compares each system's mapping with a gold-standard mapping and reports F1 per element type.</a:t>
            </a:r>
          </a:p>
        </p:txBody>
      </p:sp>
      <p:sp>
        <p:nvSpPr>
          <p:cNvPr id="1023" name="BURR card note"/>
          <p:cNvSpPr txBox="1"/>
          <p:nvPr/>
        </p:nvSpPr>
        <p:spPr>
          <a:xfrm>
            <a:off x="1069848" y="4937760"/>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from the ISWC domain</a:t>
            </a:r>
          </a:p>
        </p:txBody>
      </p:sp>
      <p:sp>
        <p:nvSpPr>
          <p:cNvPr id="1024" name="BURR caption"/>
          <p:cNvSpPr txBox="1"/>
          <p:nvPr/>
        </p:nvSpPr>
        <p:spPr>
          <a:xfrm>
            <a:off x="850392" y="5943600"/>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LIMITS  /  NEXT STEPS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Two challenges remain.</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The direct-mapping backbone is strong. Semantic enrichment is not yet error-free.</a:t>
            </a:r>
            <a:endParaRPr/>
          </a:p>
        </p:txBody>
      </p:sp>
      <p:sp>
        <p:nvSpPr>
          <p:cNvPr id="1016" name="Google Shape;1016;p22"/>
          <p:cNvSpPr/>
          <p:nvPr/>
        </p:nvSpPr>
        <p:spPr>
          <a:xfrm>
            <a:off x="914400" y="2322576"/>
            <a:ext cx="5038344" cy="2450592"/>
          </a:xfrm>
          <a:prstGeom prst="roundRect">
            <a:avLst>
              <a:gd fmla="val 9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17" name="Google Shape;1017;p22"/>
          <p:cNvSpPr/>
          <p:nvPr/>
        </p:nvSpPr>
        <p:spPr>
          <a:xfrm>
            <a:off x="914400" y="2322576"/>
            <a:ext cx="5038344"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18" name="Google Shape;1018;p22"/>
          <p:cNvSpPr txBox="1"/>
          <p:nvPr/>
        </p:nvSpPr>
        <p:spPr>
          <a:xfrm>
            <a:off x="1133856" y="2551176"/>
            <a:ext cx="453542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20">
                <a:solidFill>
                  <a:srgbClr val="0B6E4F"/>
                </a:solidFill>
                <a:latin typeface="Consolas"/>
                <a:ea typeface="Consolas"/>
                <a:cs typeface="Consolas"/>
                <a:sym typeface="Consolas"/>
              </a:rPr>
              <a:t>PRESERVING COVERAGE</a:t>
            </a:r>
            <a:endParaRPr/>
          </a:p>
        </p:txBody>
      </p:sp>
      <p:sp>
        <p:nvSpPr>
          <p:cNvPr id="1019" name="Google Shape;1019;p22"/>
          <p:cNvSpPr txBox="1"/>
          <p:nvPr/>
        </p:nvSpPr>
        <p:spPr>
          <a:xfrm>
            <a:off x="1133856" y="2926080"/>
            <a:ext cx="4526280" cy="56692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1" lang="en-US" sz="2900">
                <a:solidFill>
                  <a:srgbClr val="1F2328"/>
                </a:solidFill>
                <a:latin typeface="Cambria"/>
                <a:ea typeface="Calibri"/>
                <a:cs typeface="Calibri"/>
                <a:sym typeface="Calibri"/>
              </a:rPr>
              <a:t>0.77–1.00</a:t>
            </a:r>
            <a:endParaRPr/>
          </a:p>
        </p:txBody>
      </p:sp>
      <p:sp>
        <p:nvSpPr>
          <p:cNvPr id="1020" name="Google Shape;1020;p22"/>
          <p:cNvSpPr txBox="1"/>
          <p:nvPr/>
        </p:nvSpPr>
        <p:spPr>
          <a:xfrm>
            <a:off x="1133856" y="3621024"/>
            <a:ext cx="4562856" cy="658368"/>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10">
                <a:solidFill>
                  <a:srgbClr val="5B6770"/>
                </a:solidFill>
                <a:latin typeface="Calibri"/>
                <a:ea typeface="Calibri"/>
                <a:cs typeface="Calibri"/>
                <a:sym typeface="Calibri"/>
              </a:rPr>
              <a:t>Measured column coverage after enrichment; the cleaned direct-mapping seed is complete by construction.</a:t>
            </a:r>
            <a:endParaRPr/>
          </a:p>
        </p:txBody>
      </p:sp>
      <p:sp>
        <p:nvSpPr>
          <p:cNvPr id="1021" name="Google Shape;1021;p22"/>
          <p:cNvSpPr/>
          <p:nvPr/>
        </p:nvSpPr>
        <p:spPr>
          <a:xfrm>
            <a:off x="914400" y="5029200"/>
            <a:ext cx="5038344" cy="585216"/>
          </a:xfrm>
          <a:prstGeom prst="roundRect">
            <a:avLst>
              <a:gd fmla="val 9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2" name="Google Shape;1022;p22"/>
          <p:cNvSpPr txBox="1"/>
          <p:nvPr/>
        </p:nvSpPr>
        <p:spPr>
          <a:xfrm>
            <a:off x="1078992" y="5074920"/>
            <a:ext cx="4700016" cy="43891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1F2328"/>
                </a:solidFill>
                <a:latin typeface="Calibri"/>
                <a:ea typeface="Calibri"/>
                <a:cs typeface="Calibri"/>
                <a:sym typeface="Calibri"/>
              </a:rPr>
              <a:t>NEXT  ·  Strengthen coverage checks for each fragment.</a:t>
            </a:r>
            <a:endParaRPr/>
          </a:p>
        </p:txBody>
      </p:sp>
      <p:sp>
        <p:nvSpPr>
          <p:cNvPr id="1023" name="Google Shape;1023;p22"/>
          <p:cNvSpPr/>
          <p:nvPr/>
        </p:nvSpPr>
        <p:spPr>
          <a:xfrm>
            <a:off x="6208776" y="2322576"/>
            <a:ext cx="5038344" cy="2450592"/>
          </a:xfrm>
          <a:prstGeom prst="roundRect">
            <a:avLst>
              <a:gd fmla="val 9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4" name="Google Shape;1024;p22"/>
          <p:cNvSpPr/>
          <p:nvPr/>
        </p:nvSpPr>
        <p:spPr>
          <a:xfrm>
            <a:off x="6208776" y="2322576"/>
            <a:ext cx="5038344"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5" name="Google Shape;1025;p22"/>
          <p:cNvSpPr txBox="1"/>
          <p:nvPr/>
        </p:nvSpPr>
        <p:spPr>
          <a:xfrm>
            <a:off x="6428232" y="2551176"/>
            <a:ext cx="453542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20">
                <a:solidFill>
                  <a:srgbClr val="0B6E4F"/>
                </a:solidFill>
                <a:latin typeface="Consolas"/>
                <a:ea typeface="Consolas"/>
                <a:cs typeface="Consolas"/>
                <a:sym typeface="Consolas"/>
              </a:rPr>
              <a:t>CATCHING SEMANTIC ERRORS</a:t>
            </a:r>
            <a:endParaRPr/>
          </a:p>
        </p:txBody>
      </p:sp>
      <p:sp>
        <p:nvSpPr>
          <p:cNvPr id="1026" name="Google Shape;1026;p22"/>
          <p:cNvSpPr txBox="1"/>
          <p:nvPr/>
        </p:nvSpPr>
        <p:spPr>
          <a:xfrm>
            <a:off x="6428232" y="2926080"/>
            <a:ext cx="4526280" cy="56692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1" lang="en-US" sz="2900">
                <a:solidFill>
                  <a:srgbClr val="1F2328"/>
                </a:solidFill>
                <a:latin typeface="Cambria"/>
                <a:ea typeface="Calibri"/>
                <a:cs typeface="Calibri"/>
                <a:sym typeface="Calibri"/>
              </a:rPr>
              <a:t>3 of 9</a:t>
            </a:r>
            <a:endParaRPr/>
          </a:p>
        </p:txBody>
      </p:sp>
      <p:sp>
        <p:nvSpPr>
          <p:cNvPr id="1027" name="Google Shape;1027;p22"/>
          <p:cNvSpPr txBox="1"/>
          <p:nvPr/>
        </p:nvSpPr>
        <p:spPr>
          <a:xfrm>
            <a:off x="6428232" y="3621024"/>
            <a:ext cx="4562856" cy="658368"/>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10">
                <a:solidFill>
                  <a:srgbClr val="5B6770"/>
                </a:solidFill>
                <a:latin typeface="Calibri"/>
                <a:ea typeface="Calibri"/>
                <a:cs typeface="Calibri"/>
                <a:sym typeface="Calibri"/>
              </a:rPr>
              <a:t>RIGOR runs still contain critical P19 pitfalls; justified disjointness is rarely generated.</a:t>
            </a:r>
            <a:endParaRPr/>
          </a:p>
        </p:txBody>
      </p:sp>
      <p:sp>
        <p:nvSpPr>
          <p:cNvPr id="1028" name="Google Shape;1028;p22"/>
          <p:cNvSpPr/>
          <p:nvPr/>
        </p:nvSpPr>
        <p:spPr>
          <a:xfrm>
            <a:off x="6208776" y="5029200"/>
            <a:ext cx="5038344" cy="585216"/>
          </a:xfrm>
          <a:prstGeom prst="roundRect">
            <a:avLst>
              <a:gd fmla="val 9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9" name="Google Shape;1029;p22"/>
          <p:cNvSpPr txBox="1"/>
          <p:nvPr/>
        </p:nvSpPr>
        <p:spPr>
          <a:xfrm>
            <a:off x="6373368" y="5074920"/>
            <a:ext cx="4700016" cy="43891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1F2328"/>
                </a:solidFill>
                <a:latin typeface="Calibri"/>
                <a:ea typeface="Calibri"/>
                <a:cs typeface="Calibri"/>
                <a:sym typeface="Calibri"/>
              </a:rPr>
              <a:t>NEXT  ·  Add tool feedback and symbolic reasoning.</a:t>
            </a:r>
            <a:endParaRPr/>
          </a:p>
        </p:txBody>
      </p:sp>
      <p:sp>
        <p:nvSpPr>
          <p:cNvPr id="1030" name="Google Shape;1030;p22"/>
          <p:cNvSpPr txBox="1"/>
          <p:nvPr/>
        </p:nvSpPr>
        <p:spPr>
          <a:xfrm>
            <a:off x="932688" y="5852160"/>
            <a:ext cx="10058400"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study: 4 medical tables. Downstream applications remain untested.</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F6CF6A"/>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FFFFFF"/>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BFE6D3"/>
                </a:solidFill>
                <a:latin typeface="Cambria"/>
              </a:rPr>
              <a:t>Questions?</a:t>
            </a:r>
          </a:p>
        </p:txBody>
      </p:sp>
      <p:sp>
        <p:nvSpPr>
          <p:cNvPr id="1039" name="Rounded Rectangle 1038"/>
          <p:cNvSpPr/>
          <p:nvPr/>
        </p:nvSpPr>
        <p:spPr>
          <a:xfrm>
            <a:off x="822960" y="2532888"/>
            <a:ext cx="7114032" cy="2560320"/>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BFE6D3"/>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FFFFFF"/>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D3EDE0"/>
                </a:solidFill>
                <a:latin typeface="Consolas"/>
              </a:rPr>
              <a:t>patient_id  FK</a:t>
            </a:r>
          </a:p>
        </p:txBody>
      </p:sp>
      <p:sp>
        <p:nvSpPr>
          <p:cNvPr id="1044" name="Chevron 1043"/>
          <p:cNvSpPr/>
          <p:nvPr/>
        </p:nvSpPr>
        <p:spPr>
          <a:xfrm>
            <a:off x="3282696" y="3483864"/>
            <a:ext cx="621792" cy="411480"/>
          </a:xfrm>
          <a:prstGeom prst="chevron">
            <a:avLst/>
          </a:prstGeom>
          <a:solidFill>
            <a:srgbClr val="F6CF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F6CF6A"/>
                </a:solidFill>
                <a:latin typeface="Consolas"/>
              </a:rPr>
              <a:t>RIGOR</a:t>
            </a:r>
          </a:p>
        </p:txBody>
      </p:sp>
      <p:sp>
        <p:nvSpPr>
          <p:cNvPr id="1046" name="Rounded Rectangle 1045"/>
          <p:cNvSpPr/>
          <p:nvPr/>
        </p:nvSpPr>
        <p:spPr>
          <a:xfrm>
            <a:off x="4206240" y="3264408"/>
            <a:ext cx="3383280"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FFFFFF"/>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D3EDE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FFFFFF"/>
                </a:solidFill>
                <a:latin typeface="Calibri"/>
              </a:rPr>
              <a:t>Schema grounding · Retrieved semantics · Validated growth</a:t>
            </a:r>
          </a:p>
        </p:txBody>
      </p:sp>
      <p:sp>
        <p:nvSpPr>
          <p:cNvPr id="1050" name="Rounded Rectangle 1049"/>
          <p:cNvSpPr/>
          <p:nvPr/>
        </p:nvSpPr>
        <p:spPr>
          <a:xfrm>
            <a:off x="8183879" y="2523744"/>
            <a:ext cx="3136392" cy="2871216"/>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BFE6D3"/>
                </a:solidFill>
                <a:latin typeface="Consolas"/>
              </a:rPr>
              <a:t>PAPER + OPEN SOURCE</a:t>
            </a:r>
          </a:p>
        </p:txBody>
      </p:sp>
      <p:pic>
        <p:nvPicPr>
          <p:cNvPr id="1052" name="Picture 1051" descr="image.png"/>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Paper</a:t>
            </a:r>
          </a:p>
        </p:txBody>
      </p:sp>
      <p:pic>
        <p:nvPicPr>
          <p:cNvPr id="1054" name="Picture 1053" descr="image.png"/>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GitHub</a:t>
            </a:r>
          </a:p>
        </p:txBody>
      </p:sp>
      <p:cxnSp>
        <p:nvCxnSpPr>
          <p:cNvPr id="1056" name="Connector 1055"/>
          <p:cNvCxnSpPr/>
          <p:nvPr/>
        </p:nvCxnSpPr>
        <p:spPr>
          <a:xfrm>
            <a:off x="832104" y="5660136"/>
            <a:ext cx="10488168" cy="0"/>
          </a:xfrm>
          <a:prstGeom prst="line">
            <a:avLst/>
          </a:prstGeom>
          <a:ln w="12700">
            <a:solidFill>
              <a:srgbClr val="4FAE88"/>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FFFFFF"/>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D3EDE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