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[5:22–6:25]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[6:25–6:53]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[6:53–7:03]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[7:03–7:11]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[7:11–7:20]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[7:20–7:26]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[7:26–7:33]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[7:33–7:44]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[7:44–8:19]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[10:18–11:05]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[8:19–9:14]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[9:14–10:18]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[11:05–12:00]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[12:00–12:33]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9" name="Cover panel"/>
          <p:cNvSpPr/>
          <p:nvPr/>
        </p:nvSpPr>
        <p:spPr>
          <a:xfrm>
            <a:off x="8092440" y="0"/>
            <a:ext cx="4099255" cy="6858000"/>
          </a:xfrm>
          <a:prstGeom prst="rect">
            <a:avLst/>
          </a:prstGeom>
          <a:solidFill>
            <a:srgbClr val="0B6E4F"/>
          </a:solidFill>
          <a:ln>
            <a:noFill/>
          </a:ln>
        </p:spPr>
        <p:txBody>
          <a:bodyPr wrap="square" lIns="0" tIns="0" rIns="0" bIns="0" anchor="t">
            <a:noAutofit/>
          </a:bodyPr>
          <a:lstStyle/>
          <a:p>
            <a:pPr algn="l"/>
          </a:p>
        </p:txBody>
      </p:sp>
      <p:sp>
        <p:nvSpPr>
          <p:cNvPr id="21" name="Google Shape;21;p1"/>
          <p:cNvSpPr txBox="1"/>
          <p:nvPr/>
        </p:nvSpPr>
        <p:spPr>
          <a:xfrm>
            <a:off x="795528" y="566928"/>
            <a:ext cx="67665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RESEARCH PAPER</a:t>
            </a:r>
            <a:endParaRPr/>
          </a:p>
        </p:txBody>
      </p:sp>
      <p:sp>
        <p:nvSpPr>
          <p:cNvPr id="22" name="Google Shape;22;p1"/>
          <p:cNvSpPr txBox="1"/>
          <p:nvPr/>
        </p:nvSpPr>
        <p:spPr>
          <a:xfrm>
            <a:off x="795528" y="1938528"/>
            <a:ext cx="6949440" cy="1481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Retrieval-Augmented</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Generation of Ontologies</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from Relati</a:t>
            </a:r>
            <a:r>
              <a:rPr b="1" i="0" lang="en-US" sz="3000" u="none" cap="none" strike="noStrike">
                <a:solidFill>
                  <a:srgbClr val="1F2328"/>
                </a:solidFill>
                <a:latin typeface="Cambria"/>
                <a:ea typeface="Calibri"/>
                <a:cs typeface="Calibri"/>
                <a:sym typeface="Calibri"/>
              </a:rPr>
              <a:t>o</a:t>
            </a:r>
            <a:r>
              <a:rPr b="1" i="0" lang="en-US" sz="3000" u="none" cap="none" strike="noStrike">
                <a:solidFill>
                  <a:srgbClr val="1F2328"/>
                </a:solidFill>
                <a:latin typeface="Cambria"/>
                <a:ea typeface="Calibri"/>
                <a:cs typeface="Calibri"/>
                <a:sym typeface="Calibri"/>
              </a:rPr>
              <a:t>nal Databases</a:t>
            </a:r>
            <a:endParaRPr sz="3000"/>
          </a:p>
        </p:txBody>
      </p:sp>
      <p:sp>
        <p:nvSpPr>
          <p:cNvPr id="25" name="Google Shape;25;p1"/>
          <p:cNvSpPr txBox="1"/>
          <p:nvPr/>
        </p:nvSpPr>
        <p:spPr>
          <a:xfrm>
            <a:off x="795528" y="6053328"/>
            <a:ext cx="694944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250" b="1">
                <a:solidFill>
                  <a:srgbClr val="5B6770"/>
                </a:solidFill>
                <a:latin typeface="Consolas"/>
                <a:ea typeface="Consolas"/>
                <a:cs typeface="Consolas"/>
                <a:sym typeface="Consolas"/>
              </a:rPr>
              <a:t>PAPER  </a:t>
            </a:r>
            <a:r>
              <a:rPr lang="en-US" sz="1250" b="0">
                <a:solidFill>
                  <a:srgbClr val="2F6B78"/>
                </a:solidFill>
                <a:latin typeface="Consolas"/>
                <a:ea typeface="Consolas"/>
                <a:cs typeface="Consolas"/>
                <a:sym typeface="Consolas"/>
              </a:rPr>
              <a:t>arXiv:2506.01232</a:t>
            </a:r>
            <a:r>
              <a:rPr lang="en-US" sz="1250" b="1">
                <a:solidFill>
                  <a:srgbClr val="5B6770"/>
                </a:solidFill>
                <a:latin typeface="Consolas"/>
                <a:ea typeface="Consolas"/>
                <a:cs typeface="Consolas"/>
                <a:sym typeface="Consolas"/>
              </a:rPr>
              <a:t>        CODE  </a:t>
            </a:r>
            <a:r>
              <a:rPr lang="en-US" sz="1250" b="0">
                <a:solidFill>
                  <a:srgbClr val="2F6B78"/>
                </a:solidFill>
                <a:latin typeface="Consolas"/>
                <a:ea typeface="Consolas"/>
                <a:cs typeface="Consolas"/>
                <a:sym typeface="Consolas"/>
              </a:rPr>
              <a:t>github.com/NadeenAhmad/RIGOR</a:t>
            </a:r>
            <a:endParaRPr sz="1250">
              <a:solidFill>
                <a:srgbClr val="1F2328"/>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8450427" y="1417320"/>
            <a:ext cx="3383280" cy="3025697"/>
          </a:xfrm>
          <a:prstGeom prst="rect">
            <a:avLst/>
          </a:prstGeom>
          <a:noFill/>
          <a:ln>
            <a:noFill/>
          </a:ln>
        </p:spPr>
      </p:pic>
      <p:sp>
        <p:nvSpPr>
          <p:cNvPr id="27" name="Google Shape;27;p1"/>
          <p:cNvSpPr txBox="1"/>
          <p:nvPr/>
        </p:nvSpPr>
        <p:spPr>
          <a:xfrm>
            <a:off x="8292236" y="4552745"/>
            <a:ext cx="1737360" cy="23774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200" b="0">
                <a:solidFill>
                  <a:srgbClr val="CFE8DC"/>
                </a:solidFill>
                <a:latin typeface="Consolas"/>
                <a:ea typeface="Consolas"/>
                <a:cs typeface="Consolas"/>
                <a:sym typeface="Consolas"/>
              </a:rPr>
              <a:t>relational database</a:t>
            </a:r>
            <a:endParaRPr sz="1200">
              <a:solidFill>
                <a:srgbClr val="1F2328"/>
              </a:solidFill>
            </a:endParaRPr>
          </a:p>
        </p:txBody>
      </p:sp>
      <p:sp>
        <p:nvSpPr>
          <p:cNvPr id="28" name="Google Shape;28;p1"/>
          <p:cNvSpPr txBox="1"/>
          <p:nvPr/>
        </p:nvSpPr>
        <p:spPr>
          <a:xfrm>
            <a:off x="10153040" y="4552745"/>
            <a:ext cx="1737360" cy="23774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200" b="0">
                <a:solidFill>
                  <a:srgbClr val="CFE8DC"/>
                </a:solidFill>
                <a:latin typeface="Consolas"/>
                <a:ea typeface="Consolas"/>
                <a:cs typeface="Consolas"/>
                <a:sym typeface="Consolas"/>
              </a:rPr>
              <a:t>ontology</a:t>
            </a:r>
            <a:endParaRPr sz="1200">
              <a:solidFill>
                <a:srgbClr val="1F2328"/>
              </a:solidFill>
            </a:endParaRPr>
          </a:p>
        </p:txBody>
      </p:sp>
      <p:sp>
        <p:nvSpPr>
          <p:cNvPr id="30" name="Wordmark"/>
          <p:cNvSpPr txBox="1"/>
          <p:nvPr/>
        </p:nvSpPr>
        <p:spPr>
          <a:xfrm>
            <a:off x="768096" y="987552"/>
            <a:ext cx="6766560" cy="868680"/>
          </a:xfrm>
          <a:prstGeom prst="rect">
            <a:avLst/>
          </a:prstGeom>
          <a:noFill/>
        </p:spPr>
        <p:txBody>
          <a:bodyPr wrap="square" lIns="0" tIns="0" rIns="0" bIns="0" anchor="t">
            <a:noAutofit/>
          </a:bodyPr>
          <a:lstStyle/>
          <a:p>
            <a:pPr/>
            <a:r>
              <a:rPr lang="en-US" sz="5400" b="1" i="0" spc="300" dirty="0">
                <a:solidFill>
                  <a:srgbClr val="0B6E4F"/>
                </a:solidFill>
                <a:latin typeface="Cambria"/>
                <a:cs typeface="Cambria"/>
              </a:rPr>
              <a:t xml:space="preserve">RIGOR</a:t>
            </a:r>
          </a:p>
        </p:txBody>
      </p:sp>
      <p:sp>
        <p:nvSpPr>
          <p:cNvPr id="31" name="Authors"/>
          <p:cNvSpPr txBox="1"/>
          <p:nvPr/>
        </p:nvSpPr>
        <p:spPr>
          <a:xfrm>
            <a:off x="795528" y="3822191"/>
            <a:ext cx="6949440" cy="960120"/>
          </a:xfrm>
          <a:prstGeom prst="rect">
            <a:avLst/>
          </a:prstGeom>
          <a:noFill/>
        </p:spPr>
        <p:txBody>
          <a:bodyPr wrap="square" lIns="0" tIns="0" rIns="0" bIns="0" anchor="t">
            <a:noAutofit/>
          </a:bodyPr>
          <a:lstStyle/>
          <a:p>
            <a:pPr>
              <a:lnSpc>
                <a:spcPts val="2300"/>
              </a:lnSpc>
            </a:pPr>
            <a:r>
              <a:rPr lang="en-US" sz="1500" b="1" i="0" dirty="0">
                <a:solidFill>
                  <a:srgbClr val="1F2328"/>
                </a:solidFill>
                <a:latin typeface="Calibri"/>
                <a:cs typeface="Calibri"/>
              </a:rPr>
              <a:t xml:space="preserve">Nadeen Fathallah</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Mojtaba Nayyeri</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Athish A Yogi</a:t>
            </a:r>
            <a:r>
              <a:rPr lang="en-US" sz="1500" b="1" i="0" baseline="30000" dirty="0">
                <a:solidFill>
                  <a:srgbClr val="0B6E4F"/>
                </a:solidFill>
                <a:latin typeface="Calibri"/>
                <a:cs typeface="Calibri"/>
              </a:rPr>
              <a:t xml:space="preserve">1</a:t>
            </a:r>
          </a:p>
          <a:p>
            <a:pPr>
              <a:lnSpc>
                <a:spcPts val="2300"/>
              </a:lnSpc>
            </a:pPr>
            <a:r>
              <a:rPr lang="en-US" sz="1500" b="0" i="0" dirty="0">
                <a:solidFill>
                  <a:srgbClr val="3A434C"/>
                </a:solidFill>
                <a:latin typeface="Calibri"/>
                <a:cs typeface="Calibri"/>
              </a:rPr>
              <a:t xml:space="preserve">Ratan Bahadur Thapa</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Hans-Michael Tautenhahn</a:t>
            </a:r>
            <a:r>
              <a:rPr lang="en-US" sz="1500" b="1" i="0" baseline="30000" dirty="0">
                <a:solidFill>
                  <a:srgbClr val="0B6E4F"/>
                </a:solidFill>
                <a:latin typeface="Calibri"/>
                <a:cs typeface="Calibri"/>
              </a:rPr>
              <a:t xml:space="preserve">3</a:t>
            </a:r>
          </a:p>
          <a:p>
            <a:pPr>
              <a:lnSpc>
                <a:spcPts val="2300"/>
              </a:lnSpc>
            </a:pPr>
            <a:r>
              <a:rPr lang="en-US" sz="1500" b="0" i="0" dirty="0">
                <a:solidFill>
                  <a:srgbClr val="3A434C"/>
                </a:solidFill>
                <a:latin typeface="Calibri"/>
                <a:cs typeface="Calibri"/>
              </a:rPr>
              <a:t xml:space="preserve">Anton Schnurpel</a:t>
            </a:r>
            <a:r>
              <a:rPr lang="en-US" sz="1500" b="1" i="0" baseline="30000" dirty="0">
                <a:solidFill>
                  <a:srgbClr val="0B6E4F"/>
                </a:solidFill>
                <a:latin typeface="Calibri"/>
                <a:cs typeface="Calibri"/>
              </a:rPr>
              <a:t xml:space="preserve">3</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Steffen Staab</a:t>
            </a:r>
            <a:r>
              <a:rPr lang="en-US" sz="1500" b="1" i="0" baseline="30000" dirty="0">
                <a:solidFill>
                  <a:srgbClr val="0B6E4F"/>
                </a:solidFill>
                <a:latin typeface="Calibri"/>
                <a:cs typeface="Calibri"/>
              </a:rPr>
              <a:t xml:space="preserve">1,2</a:t>
            </a:r>
          </a:p>
        </p:txBody>
      </p:sp>
      <p:sp>
        <p:nvSpPr>
          <p:cNvPr id="32" name="Affiliations"/>
          <p:cNvSpPr txBox="1"/>
          <p:nvPr/>
        </p:nvSpPr>
        <p:spPr>
          <a:xfrm>
            <a:off x="795528" y="4919472"/>
            <a:ext cx="6949440" cy="731520"/>
          </a:xfrm>
          <a:prstGeom prst="rect">
            <a:avLst/>
          </a:prstGeom>
          <a:noFill/>
        </p:spPr>
        <p:txBody>
          <a:bodyPr wrap="square" lIns="0" tIns="0" rIns="0" bIns="0" anchor="t">
            <a:noAutofit/>
          </a:bodyPr>
          <a:lstStyle/>
          <a:p>
            <a:pPr>
              <a:lnSpc>
                <a:spcPts val="1700"/>
              </a:lnSpc>
            </a:pPr>
            <a:r>
              <a:rPr lang="en-US" sz="1200" b="1" i="0" baseline="30000" dirty="0">
                <a:solidFill>
                  <a:srgbClr val="0B6E4F"/>
                </a:solidFill>
                <a:latin typeface="Calibri"/>
                <a:cs typeface="Calibri"/>
              </a:rPr>
              <a:t xml:space="preserve">1</a:t>
            </a:r>
            <a:r>
              <a:rPr lang="en-US" sz="1200" b="0" i="0" dirty="0">
                <a:solidFill>
                  <a:srgbClr val="5B6770"/>
                </a:solidFill>
                <a:latin typeface="Calibri"/>
                <a:cs typeface="Calibri"/>
              </a:rPr>
              <a:t xml:space="preserve"> Institute for Artificial Intelligence, University of Stuttgart, Germany</a:t>
            </a:r>
          </a:p>
          <a:p>
            <a:pPr>
              <a:lnSpc>
                <a:spcPts val="1700"/>
              </a:lnSpc>
            </a:pPr>
            <a:r>
              <a:rPr lang="en-US" sz="1200" b="1" i="0" baseline="30000" dirty="0">
                <a:solidFill>
                  <a:srgbClr val="0B6E4F"/>
                </a:solidFill>
                <a:latin typeface="Calibri"/>
                <a:cs typeface="Calibri"/>
              </a:rPr>
              <a:t xml:space="preserve">2</a:t>
            </a:r>
            <a:r>
              <a:rPr lang="en-US" sz="1200" b="0" i="0" dirty="0">
                <a:solidFill>
                  <a:srgbClr val="5B6770"/>
                </a:solidFill>
                <a:latin typeface="Calibri"/>
                <a:cs typeface="Calibri"/>
              </a:rPr>
              <a:t xml:space="preserve"> University of Southampton, United Kingdom</a:t>
            </a:r>
          </a:p>
          <a:p>
            <a:pPr>
              <a:lnSpc>
                <a:spcPts val="1700"/>
              </a:lnSpc>
            </a:pPr>
            <a:r>
              <a:rPr lang="en-US" sz="1200" b="1" i="0" baseline="30000" dirty="0">
                <a:solidFill>
                  <a:srgbClr val="0B6E4F"/>
                </a:solidFill>
                <a:latin typeface="Calibri"/>
                <a:cs typeface="Calibri"/>
              </a:rPr>
              <a:t xml:space="preserve">3</a:t>
            </a:r>
            <a:r>
              <a:rPr lang="en-US" sz="1200" b="0" i="0" dirty="0">
                <a:solidFill>
                  <a:srgbClr val="5B6770"/>
                </a:solidFill>
                <a:latin typeface="Calibri"/>
                <a:cs typeface="Calibri"/>
              </a:rPr>
              <a:t xml:space="preserve"> Universitätsklinikum Leipzig, Germany</a:t>
            </a:r>
          </a:p>
        </p:txBody>
      </p:sp>
      <p:sp>
        <p:nvSpPr>
          <p:cNvPr id="33" name="Venue"/>
          <p:cNvSpPr txBox="1"/>
          <p:nvPr/>
        </p:nvSpPr>
        <p:spPr>
          <a:xfrm>
            <a:off x="8503919" y="5760720"/>
            <a:ext cx="3367735" cy="566928"/>
          </a:xfrm>
          <a:prstGeom prst="rect">
            <a:avLst/>
          </a:prstGeom>
          <a:noFill/>
        </p:spPr>
        <p:txBody>
          <a:bodyPr wrap="square" lIns="0" tIns="0" rIns="0" bIns="0" anchor="t">
            <a:noAutofit/>
          </a:bodyPr>
          <a:lstStyle/>
          <a:p>
            <a:pPr>
              <a:lnSpc>
                <a:spcPts val="2000"/>
              </a:lnSpc>
            </a:pPr>
            <a:r>
              <a:rPr lang="en-US" sz="1400" b="1" i="0" dirty="0">
                <a:solidFill>
                  <a:srgbClr val="F9DD8F"/>
                </a:solidFill>
                <a:latin typeface="Consolas"/>
                <a:cs typeface="Consolas"/>
              </a:rPr>
              <a:t xml:space="preserve">ISWC 2026</a:t>
            </a:r>
          </a:p>
          <a:p>
            <a:pPr>
              <a:lnSpc>
                <a:spcPts val="2000"/>
              </a:lnSpc>
            </a:pPr>
            <a:r>
              <a:rPr lang="en-US" sz="1300" b="0" i="0" dirty="0">
                <a:solidFill>
                  <a:srgbClr val="FFFFFF"/>
                </a:solidFill>
                <a:latin typeface="Calibri"/>
                <a:cs typeface="Calibri"/>
              </a:rPr>
              <a:t xml:space="preserve">Bari, Italy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