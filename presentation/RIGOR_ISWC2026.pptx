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5" r:id="rId24"/>
    <p:sldId id="276" r:id="rId25"/>
    <p:sldId id="274" r:id="rId23"/>
    <p:sldId id="277" r:id="rId26"/>
    <p:sldId id="278" r:id="rId27"/>
    <p:sldId id="279" r:id="rId3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6" roundtripDataSignature="AMtx7miSAKVMm4+QvifYUYUK20LMzWgfy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36" Type="http://customschemas.google.com/relationships/presentationmetadata" Target="metadata"/>  <Relationship Id="rId37"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IBM Plex Sans"/>
                <a:ea typeface="IBM Plex Sans"/>
                <a:cs typeface="IBM Plex Sans"/>
                <a:sym typeface="IBM Plex Sans"/>
              </a:defRPr>
            </a:lvl1pPr>
            <a:lvl2pPr lvl="1"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2pPr>
            <a:lvl3pPr lvl="2"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3pPr>
            <a:lvl4pPr lvl="3"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4pPr>
            <a:lvl5pPr lvl="4"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5pPr>
            <a:lvl6pPr lvl="5"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6pPr>
            <a:lvl7pPr lvl="6"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7pPr>
            <a:lvl8pPr lvl="7"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8pPr>
            <a:lvl9pPr lvl="8" marR="0" rtl="0" algn="l">
              <a:spcBef>
                <a:spcPts val="0"/>
              </a:spcBef>
              <a:spcAft>
                <a:spcPts val="0"/>
              </a:spcAft>
              <a:buSzPts val="1400"/>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[0:00–0:25]  SPOKEN SCRIPT (52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Good morning, I’m Nadeen Fathallah. Relational databases are excellent at representing how information is stored and linked. But a schema rarely tells us the full meaning of the data. RIGOR asks whether we can turn those structures into semantically useful OWL ontologies, without asking experts to model every table by hand.</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State the thesis calmly. Do not read author affiliations.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need semantic meaning beyond SQL structure.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 this is the paper’s high-level motivation.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[0:25–1:10]  SPOKEN SCRIPT (91 words)</a:t>
            </a:r>
          </a:p>
          <a:p>
            <a:r>
              <a:t>Imagine inheriting a clinical database. In this schema excerpt, admission.patient_id references PatientData.patient_id; the arrow connects those two columns directly. Both tables have additional fields omitted. But look at the attributes beneath it. What is BM_DEP? What does an ECOG score mean? The schema does not answer. And those are precisely the meanings an ontology-based query or integrated knowledge graph would need. This table is illustrative, assembled from examples in the paper, not a literal evaluation table. Our problem is not reading the SQL: it is recovering intended domain semantics while respecting the structure we can trust.</a:t>
            </a:r>
          </a:p>
          <a:p/>
          <a:p>
            <a:r>
              <a:t>PRESENTER / POINTER: Point to FK first, then BM_DEP and ecog_stage. Pause briefly for the audience to wonder.</a:t>
            </a:r>
          </a:p>
          <a:p>
            <a:r>
              <a:t>AUDIENCE TAKEAWAY: The schema knows storage and links, not full clinical semantics.</a:t>
            </a:r>
          </a:p>
          <a:p>
            <a:r>
              <a:t>SOURCE AND SCOPE: Illustrative table assembled from examples in paper §3.2 and §3.4—not actual trial output.</a:t>
            </a:r>
          </a:p>
          <a:p>
            <a:r>
              <a:t>Timing targets include normal visual pauses; verify with a recorded rehearsal.</a:t>
            </a: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[1:10–2:05]  SPOKEN SCRIPT (87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Here is the target. Admission becomes a class linked to PatientData by an object property, rather than treating patient_id as just an integer. BM_DEP receives the label Bone Marrow Depression; ecog_stage gets an explanation of its clinical values; and provenance ties ontology elements back to their sources. The right-hand side is illustrative. Such a model supports concept-based access and makes information easier to interpret and reuse. Notice the tension: we want to add meaning, but cannot afford to lose the foreign key or columns along the way.</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input to class/relation, then labels, values, provenance; pause on the complete right panel.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goal is a linked, annotated, traceable ontology without losing structural fidelity.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Illustrative target based on paper §3; no claim that this is a captured run.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73" name="Google Shape;73;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[2:05–2:50]  SPOKEN SCRIPT (78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Existing approaches each solve half of that challenge. A deterministic mapping respects explicit tables, columns, and foreign keys, but does not infer clinical meaning or useful hierarchies. An LLM can propose labels and relationships, but can omit fields or model a foreign key incorrectly. Neither alone gives us both fidelity and semantic enrichment across an interconnected schema. Our question is: can we use the database as a structural anchor, while adding grounded domain knowledge automatically? Here is how.</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Contrast left and right in one pass; land on the research question.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Rules and LLMs have complementary strengths and different weaknesses.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§1–2 and §4.5; mapping approaches are not all equivalent.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07" name="Google Shape;10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[2:50–3:15]  SPOKEN SCRIPT (57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Let’s build the solution on this same admission table. We begin with a schema and want an ontology that preserves the relationship to PatientData, explains coded values, and remains traceable to the source. RIGOR does this table by table. We will construct the pipeline in six moves, starting with one question: which table should come first?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Indicate the input/output panels; invite the audience into the next six decisions.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We will build RIGOR around the same example.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 and Fig. 1; example illustrative.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29" name="Google Shape;129;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[3:15–3:50]  SPOKEN SCRIPT (66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Admission references PatientData, so RIGOR processes PatientData first. Across a database, it uses a foreign-key-guided breadth-first order: a table is taken once the tables it depends on have been processed. By the time we reach Admission, PatientData is already in the core ontology. We can reuse that class, rather than generating an incompatible second version. The output of this step is an ordered sequence of tables.</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Follow foreign-key arrows; show why PatientData precedes admission.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Foreign-key traversal makes prior conceptual context available.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§3.1–3.2; FK-guided breadth-first order.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168" name="Google Shape;16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09" name="Google Shape;20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[3:50–4:40]  SPOKEN SCRIPT</a:t>
            </a:r>
          </a:p>
          <a:p>
            <a:r>
              <a:t>Now we create a deterministic ontology fragment, before involving an LLM. Direct Mapping transforms the cleaned admission table: the table becomes an OWL class, its ordinary columns become data properties, and its foreign key is represented by an object property linked to PatientData. This guarantees that each column of the cleaned schema is represented in the initial draft. Notice the scope of that guarantee: it applies to the seed, not automatically to the final LLM-enriched ontology. That distinction is important when we later measure final column coverage.</a:t>
            </a:r>
          </a:p>
          <a:p/>
          <a:p>
            <a:r>
              <a:t>AUDIENCE TAKEAWAY</a:t>
            </a:r>
          </a:p>
          <a:p>
            <a:r>
              <a:t>The deterministic direct mapping DMᵣ anchors generation and guarantees coverage of the cleaned schema at the seed stage.</a:t>
            </a:r>
          </a:p>
          <a:p>
            <a:r>
              <a:t>SOURCE: RIGOR paper §3.2, Algorithm 1.</a:t>
            </a:r>
          </a:p>
        </p:txBody>
      </p:sp>
      <p:sp>
        <p:nvSpPr>
          <p:cNvPr id="210" name="Google Shape;21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[4:40–5:25]  SPOKEN SCRIPT (81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How do we give that draft meaning? We retrieve from three places. Documentation explains BM_DEP and ECOG values. External domain ontologies supply candidates for established vocabulary links. And the growing core tells us which classes and identifiers have already been accepted, including PatientData. For each table, RIGOR embeds a query derived from its names and foreign-key targets, retrieving the top three matches per source. The third source is the distinctive one: results of earlier iterations become evidence for what comes next.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Walk the three sources slowly; emphasize the core ontology grows.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Three retrieval sources provide domain meaning and reusable context.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§3.3; all-MiniLM-L6-v2, FAISS, k=3 per source.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255" name="Google Shape;25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297" name="Google Shape;29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[5:25–6:15] SPOKEN SCRIPT</a:t>
            </a:r>
          </a:p>
          <a:p>
            <a:r>
              <a:t>The generator receives the direct mapping and retrieved context. Read the code top to bottom: each block is one ontology element, and the tag on the right shows the evidence that informed it. The schema grounds the Admission-to-PatientData relation; documentation explains BM_DEP and the ECOG codes. For ECOG, the LLM records the code meanings in an rdfs:comment. Notice the separate provenance statement: prov:wasDerivedFrom traces the ontology element to its source database column, not to the document retrieved during generation. If a suitable external concept is found, RIGOR can additionally align to that vocabulary. This is an illustrative fragment, not a logged model output.</a:t>
            </a:r>
          </a:p>
          <a:p/>
          <a:p>
            <a:r>
              <a:t>AUDIENCE TAKEAWAY</a:t>
            </a:r>
          </a:p>
          <a:p>
            <a:r>
              <a:t>Each code block is an ontology contribution; context-source labels are explanatory, while prov:wasDerivedFrom is formal database-schema provenance.</a:t>
            </a:r>
          </a:p>
          <a:p/>
          <a:p>
            <a:r>
              <a:t>SOURCE AND SCOPE</a:t>
            </a:r>
          </a:p>
          <a:p>
            <a:r>
              <a:t>Paper §3.3–3.4; illustrative example, no asserted external alignment.</a:t>
            </a:r>
          </a:p>
          <a:p/>
        </p:txBody>
      </p:sp>
      <p:sp>
        <p:nvSpPr>
          <p:cNvPr id="298" name="Google Shape;29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336" name="Google Shape;3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[6:15–7:15]  SPOKEN SCRIPT</a:t>
            </a:r>
          </a:p>
          <a:p>
            <a:r>
              <a:t>Why do we need validation rather than trusting a plausible-looking answer? Consider two hypothetical errors. First, the model might reverse the meanings of ECOG zero and five. That comment could be perfectly valid OWL syntax, so a graph-level constraint check alone would not catch the clinical mistake. A Judge-LLM can compare it with retrieved documentation. Second, the model could treat patient_id as a data property, ignoring the foreign-key relationship. Deterministic graph checks can flag that structural error. RIGOR uses both kinds of checks, returning problems for correction with a limited retry budget before fallback. These examples illustrate the purpose of validation; they are not observed RIGOR outputs.</a:t>
            </a:r>
          </a:p>
          <a:p/>
          <a:p>
            <a:r>
              <a:t>AUDIENCE TAKEAWAY</a:t>
            </a:r>
          </a:p>
          <a:p>
            <a:r>
              <a:t>Semantic review and deterministic graph validation complement one another; neither guarantees all errors will be caught.</a:t>
            </a:r>
          </a:p>
          <a:p>
            <a:r>
              <a:t>SOURCE: paper §3.5, Judge-LLM prompt appendix; examples explicitly hypothetical.</a:t>
            </a:r>
          </a:p>
        </p:txBody>
      </p:sp>
      <p:sp>
        <p:nvSpPr>
          <p:cNvPr id="337" name="Google Shape;3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8" name="Google Shape;37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[7:15–7:55]  SPOKEN SCRIPT (64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we merge the refined delta with the ontology built so far. PatientData was already there; Admission, its properties, annotations, and provenance now join it, reusing established identifiers. Merging is an axiom-set union. Then we move to the next table. The important moment is this: the expanded ontology becomes retrieval context for the next iteration. The model does not start from scratch every time.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Trace core + delta → expanded core → feedback to retrieval.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growing ontology is both the output and an input to the next step.</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§3.6; axiom union and IRI reuse.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379" name="Google Shape;37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[7:55–8:07]  SPOKEN SCRIPT (19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First, the database determines the order: process parent tables before dependent tables. In our example, PatientData comes before admission.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Foreign-key order gives context from parents.</a:t>
            </a:r>
            <a:endParaRPr/>
          </a:p>
        </p:txBody>
      </p:sp>
      <p:sp>
        <p:nvSpPr>
          <p:cNvPr id="422" name="Google Shape;422;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[8:07–8:21]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Next, each table receives a deterministic OWL seed. This is the structural anchor that the generative model must enrich, not invent.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Direct mapping provides the structural anchor.</a:t>
            </a:r>
            <a:endParaRP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[8:21–8:39]  SPOKEN SCRIPT (23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Now add three retrieval channels: domain ontologies for alignments, documentation for encoded meanings, and the ontology already built for consistency and IRI reuse.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Three retrieval sources give complementary semantics.</a:t>
            </a:r>
            <a:endParaRPr/>
          </a:p>
        </p:txBody>
      </p:sp>
      <p:sp>
        <p:nvSpPr>
          <p:cNvPr id="504" name="Google Shape;50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[8:39–8:53]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Gen-LLM receives both the direct mapping and that context. It produces a delta ontology containing the semantic enrichment and provenance.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LLM produces a delta grounded in direct mapping and context.</a:t>
            </a:r>
            <a:endParaRPr/>
          </a:p>
        </p:txBody>
      </p:sp>
      <p:sp>
        <p:nvSpPr>
          <p:cNvPr id="575" name="Google Shape;575;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[8:53–9:07]  SPOKEN SCRIPT (21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Before a delta can join the core, a Judge-LLM assesses it and deterministic graph checks enforce structural constraints. Problems trigger correction.</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CUE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This is a cumulative reveal of the paper’s Figure 1, faithfully preserving its components and edges. Refer to the earlier method slide shown in the footer. Do not re-explain the full step: reconnect it to the full architecture.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Validation occurs before integration.</a:t>
            </a:r>
            <a:endParaRPr/>
          </a:p>
        </p:txBody>
      </p:sp>
      <p:sp>
        <p:nvSpPr>
          <p:cNvPr id="664" name="Google Shape;66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756" name="Google Shape;756;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[9:07–9:22]  SPOKEN SCRIPT (23 words)</a:t>
            </a:r>
          </a:p>
          <a:p>
            <a:r>
              <a:t>Only a validated fragment is integrated. Follow the green return arrow from Integration (i) back into the growing core retrieval source (e), for the next table. The core ontology grows, and becomes retrieval context for the next table. That feedback loop completes RIGOR.</a:t>
            </a:r>
          </a:p>
          <a:p/>
          <a:p>
            <a:r>
              <a:t>PRESENTER CUE</a:t>
            </a:r>
          </a:p>
          <a:p>
            <a:r>
              <a:t>This is a cumulative reveal of the paper’s Figure 1, faithfully preserving its components and edges. Refer to the earlier method slide shown in the footer. Do not re-explain the full step: reconnect it to the full architecture.</a:t>
            </a:r>
          </a:p>
          <a:p/>
          <a:p>
            <a:r>
              <a:t>AUDIENCE TAKEAWAY</a:t>
            </a:r>
          </a:p>
          <a:p>
            <a:r>
              <a:t>The growing core is both the evolving output and a retrieval source.</a:t>
            </a:r>
          </a:p>
        </p:txBody>
      </p:sp>
      <p:sp>
        <p:nvSpPr>
          <p:cNvPr id="757" name="Google Shape;757;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9" name="Shape 859"/>
        <p:cNvGrpSpPr/>
        <p:nvPr/>
      </p:nvGrpSpPr>
      <p:grpSpPr>
        <a:xfrm>
          <a:off x="0" y="0"/>
          <a:ext cx="0" cy="0"/>
          <a:chOff x="0" y="0"/>
          <a:chExt cx="0" cy="0"/>
        </a:xfrm>
      </p:grpSpPr>
      <p:sp>
        <p:nvSpPr>
          <p:cNvPr id="860" name="Google Shape;86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1" name="Google Shape;86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[9:22–10:07]  SPOKEN SCRIPT (73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We evaluated three databases: a specialist liver-cancer registry, the larger eICU schema, and Chinook, a music-store database. We compared deterministic mapping, a zero-shot LLM baseline, one-pass retrieval-augmented generation, and RIGOR. Three generator models across the LLM methods, plus one deterministic mapping per dataset, yielded thirty ontologies. We assessed ontology structure and pitfalls, gathered independent LLM and human judgments, and tested mapping fidelity on BURR. This comparison does not separately isolate every RIGOR component.</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Tour datasets, then comparison spectrum. Do not read every number.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The study tests distinct datasets, models and comparison methods.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§4.1–4.6. Ontologies = 3 models × 3 methods × 3 databases + 3 direct-mapped.</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862" name="Google Shape;86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[10:07–11:02]  SPOKEN SCRIPT (80 words)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Finally, what do ontology experts think? Ten experts reviewed anonymized outputs for four representative medical tables. They ranked RIGOR first in twenty-eight of forty rankings—seventy percent—with statistically significant agreement across raters. They especially valued domain enrichment, clarity, and completeness. Separately, GPT-5.4 evaluated Claude-generated fragments for all fifty-eight tables, using five competency questions per table, and ranked RIGOR first in all fifty-eight. The human sample is limited, and LLM judgments cannot replace it; together, they offer complementary evidence.</a:t>
            </a:r>
            <a:endParaRPr/>
          </a:p>
          <a:p>
            <a:pPr indent="0" lvl="0" marL="0" rtl="0" algn="l">
              <a:spcBef>
                <a:spcPts val="0"/>
              </a:spcBef>
              <a:spcAft>
                <a:spcPts val="0"/>
              </a:spcAft>
              <a:buNone/>
            </a:pPr>
            <a:r>
              <a:t/>
            </a:r>
            <a:endParaRPr sz="1200">
              <a:solidFill>
                <a:schemeClr val="dk1"/>
              </a:solidFill>
              <a:latin typeface="Calibri"/>
              <a:ea typeface="Calibri"/>
              <a:cs typeface="Calibri"/>
              <a:sym typeface="Calibri"/>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PRESENTER / POINTER: Pause for the 70% headline, then comparison bars; explain LLM judge as corroboration.</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AUDIENCE TAKEAWAY: Human and independent LLM evaluations favor RIGOR on the assessed fragments.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SOURCE AND SCOPE: Paper Table 1, §4.6–4.7; 4 expert-evaluated medical tables; 58 table-based LLM ranks only Claude outputs.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Timing targets include normal visual pauses; verify with a recorded rehearsal.</a:t>
            </a:r>
            <a:endParaRPr/>
          </a:p>
        </p:txBody>
      </p:sp>
      <p:sp>
        <p:nvSpPr>
          <p:cNvPr id="911" name="Google Shape;91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1" name="Shape 941"/>
        <p:cNvGrpSpPr/>
        <p:nvPr/>
      </p:nvGrpSpPr>
      <p:grpSpPr>
        <a:xfrm>
          <a:off x="0" y="0"/>
          <a:ext cx="0" cy="0"/>
          <a:chOff x="0" y="0"/>
          <a:chExt cx="0" cy="0"/>
        </a:xfrm>
      </p:grpSpPr>
      <p:sp>
        <p:nvSpPr>
          <p:cNvPr id="942" name="Google Shape;942;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43" name="Google Shape;94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[9:05–10:00]  SPOKEN SCRIPT (interim; final wording in Phase 6)</a:t>
            </a:r>
          </a:p>
          <a:p>
            <a:r>
              <a:t>First: does RIGOR really add meaning, and does it keep the schema? This table shows what each method's ontologies contain. Direct mapping keeps the columns but adds no meaning. Single-pass retrieval adds labels, but drops columns: in one run it keeps only six percent of them. RIGOR is the only method that produces class hierarchies and provenance in all nine runs, while keeping 77 to 100 percent of the columns. And its ontologies have the fewest modeling pitfalls in every like-for-like comparison: zero on Chinook.</a:t>
            </a:r>
          </a:p>
          <a:p/>
          <a:p>
            <a:r>
              <a:t>PRESENTER / POINTER: Read across the RIGOR row last. Point at Non-Iterative's 0.06 first.</a:t>
            </a:r>
          </a:p>
          <a:p>
            <a:r>
              <a:t>AUDIENCE TAKEAWAY: Only RIGOR adds hierarchy and provenance and still keeps the schema.</a:t>
            </a:r>
          </a:p>
          <a:p>
            <a:r>
              <a:t>SOURCE AND SCOPE: Paper Tables 7, 8, 9. Coverage is an embedding-based proxy; Direct Mapping is complete by construction. Disjointness (1/9 runs) is deliberately left for Q&amp;A.</a:t>
            </a:r>
          </a:p>
        </p:txBody>
      </p:sp>
      <p:sp>
        <p:nvSpPr>
          <p:cNvPr id="944" name="Google Shape;944;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972" name="Google Shape;97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[10:00–11:05]  SPOKEN SCRIPT (interim; final wording in Phase 6)</a:t>
            </a:r>
          </a:p>
          <a:p>
            <a:r>
              <a:t>Second: is that link back to the data real? BURR is an external benchmark that asks exactly this. A system must say which part of the database each ontology element comes from: which table becomes a class, which foreign key becomes a relation, which column becomes an attribute. BURR compares that mapping with a gold-standard mapping and reports F1 for each type. RIGOR's provenance annotations give us this mapping directly; we export them as D2RQ. On the ISWC scenario, RIGOR has the highest F1 for classes, relations and attributes among the compared ontology-learning systems, including both rule-based ones. It is one scenario, with Claude.</a:t>
            </a:r>
          </a:p>
          <a:p/>
          <a:p>
            <a:r>
              <a:t>PRESENTER / POINTER: Walk the three mapping rows on the left first, then land on the RIGOR row.</a:t>
            </a:r>
          </a:p>
          <a:p>
            <a:r>
              <a:t>AUDIENCE TAKEAWAY: Semantic enrichment did not break the correspondence that OBDA and KG population need.</a:t>
            </a:r>
          </a:p>
          <a:p>
            <a:r>
              <a:t>SOURCE AND SCOPE: Paper Table 13, Strategy 8. BURR = Laskowski et al., PACMMOD 2025. Matching rule: BURR Section 4, Eq. 3. Left-card elements are illustrative, not the gold standard's actual names.</a:t>
            </a:r>
          </a:p>
          <a:p/>
          <a:p>
            <a:r>
              <a:t>DO NOT SAY: 'BURR found LLMs trail rule-based systems'. BURR's results show Gemini 2.5 Pro ahead of the rule-based systems overall (rule-based win only on NPD).</a:t>
            </a:r>
          </a:p>
          <a:p>
            <a:r>
              <a:t>IF ASKED ABOUT GEMINI 2.5 PRO (BURR Table 3, ISWC .65 / .68 / .56): In BURR it is a general-purpose LLM prompted with few-shot BURR-style examples and a checklist to write the D2RQ mapping directly. It is a mapping generator, not an ontology-learning system that builds an enriched ontology, so we compare with the ontology-learning systems. Against it, RIGOR's class F1 is higher, relations are on par, and attributes are lower; RIGOR additionally produces labels, hierarchy and provenance. (It is prompted, not fine-tuned.)</a:t>
            </a:r>
          </a:p>
        </p:txBody>
      </p:sp>
      <p:sp>
        <p:nvSpPr>
          <p:cNvPr id="973" name="Google Shape;97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0" name="Google Shape;101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[11:55–12:55]  SPOKEN SCRIPT (interim; final wording in Phase 6)</a:t>
            </a:r>
          </a:p>
          <a:p>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tells us bone-marrow suppression is a known side effect of cisplatin. Together, they let RIGOR propose new knowledge: a candidate association between cisplatin and bone marrow depression, with provenance to both sources. Note the word candidate. Co-occurrence is not causation: gemcitabine, radiotherapy or cirrhosis can also suppress the marrow. So the ontology records a reviewable hypothesis, not a causal axiom, for an expert to confirm. Instance data also helps right away: it shows how BM_DEP is coded. And we want validator and reasoner feedback inside the loop.</a:t>
            </a:r>
          </a:p>
          <a:p/>
          <a:p>
            <a:r>
              <a:rPr lang="en-US" sz="1200">
                <a:solidFill>
                  <a:schemeClr val="dk1"/>
                </a:solidFill>
                <a:latin typeface="Calibri"/>
                <a:ea typeface="Calibri"/>
                <a:cs typeface="Calibri"/>
                <a:sym typeface="Calibri"/>
              </a:rPr>
              <a:t>PRESENTER / POINTER: Left to right: rows, label, code. Say 'candidate' or 'may have contributed', never 'caused'.</a:t>
            </a:r>
          </a:p>
          <a:p>
            <a:r>
              <a:rPr lang="en-US" sz="1200">
                <a:solidFill>
                  <a:schemeClr val="dk1"/>
                </a:solidFill>
                <a:latin typeface="Calibri"/>
                <a:ea typeface="Calibri"/>
                <a:cs typeface="Calibri"/>
                <a:sym typeface="Calibri"/>
              </a:rPr>
              <a:t>AUDIENCE TAKEAWAY: Instances plus documentation can propose knowledge; experts confirm it.</a:t>
            </a:r>
          </a:p>
          <a:p>
            <a:r>
              <a:rPr lang="en-US" sz="1200">
                <a:solidFill>
                  <a:schemeClr val="dk1"/>
                </a:solidFill>
                <a:latin typeface="Calibri"/>
                <a:ea typeface="Calibri"/>
                <a:cs typeface="Calibri"/>
                <a:sym typeface="Calibri"/>
              </a:rPr>
              <a:t>SOURCE AND SCOPE: Paper Section 5 (instance-level signals, OOPS!/tool feedback, symbolic reasoning). Rows are synthetic. The OWL excerpt is verified (presentation/excerpts/slide22_future_candidate.omn): a typed individual with facts and provenance, no causal axiom. If asked why not OWL causation: OWL reasoning is deductive and open-world; it cannot derive causation from statistics, and 'Cisplatin SubClassOf causes some BoneMarrowDepression' would wrongly claim it for every case.</a:t>
            </a:r>
          </a:p>
        </p:txBody>
      </p:sp>
      <p:sp>
        <p:nvSpPr>
          <p:cNvPr id="1011" name="Google Shape;101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1" name="Shape 1031"/>
        <p:cNvGrpSpPr/>
        <p:nvPr/>
      </p:nvGrpSpPr>
      <p:grpSpPr>
        <a:xfrm>
          <a:off x="0" y="0"/>
          <a:ext cx="0" cy="0"/>
          <a:chOff x="0" y="0"/>
          <a:chExt cx="0" cy="0"/>
        </a:xfrm>
      </p:grpSpPr>
      <p:sp>
        <p:nvSpPr>
          <p:cNvPr id="1032" name="Google Shape;103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txBody>
          <a:bodyPr/>
          <a:p/>
        </p:txBody>
      </p:sp>
      <p:sp>
        <p:nvSpPr>
          <p:cNvPr id="1033" name="Google Shape;103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[13:40–14:18] SPOKEN SCRIPT</a:t>
            </a:r>
          </a:p>
          <a:p>
            <a:r>
              <a:t>To close, RIGOR starts from the structure of a relational database and produces a semantically enriched ontology, iteratively and with validation before integration. The schema provides the structural anchor, retrieval supplies meaning, and the growing ontology helps guide subsequent tables. Thank you for your attention. I would be happy to take questions; the paper and code are available using the QR codes, and you can contact me by email.</a:t>
            </a:r>
          </a:p>
          <a:p/>
          <a:p>
            <a:r>
              <a:t>PRESENTER CUE</a:t>
            </a:r>
          </a:p>
          <a:p>
            <a:r>
              <a:t>Finish speaking before 14:30. Leave this slide projected throughout questions. QR images are preserved from the original deck.</a:t>
            </a:r>
          </a:p>
          <a:p>
            <a:r>
              <a:t>SOURCE: conceptual recap from the RIGOR paper and user-provided contact address.</a:t>
            </a:r>
          </a:p>
        </p:txBody>
      </p:sp>
      <p:sp>
        <p:nvSpPr>
          <p:cNvPr id="1034" name="Google Shape;103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IBM Plex Sans"/>
              <a:buNone/>
              <a:defRPr sz="2800">
                <a:solidFill>
                  <a:srgbClr val="1F2328"/>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IBM Plex Sans"/>
              <a:buNone/>
              <a:defRPr b="0" i="0" sz="2800" u="none" cap="none" strike="noStrike">
                <a:solidFill>
                  <a:srgbClr val="1F232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Arial"/>
              <a:buNone/>
              <a:defRPr b="0" i="0" sz="1600" u="none" cap="none" strike="noStrike">
                <a:solidFill>
                  <a:srgbClr val="1F2328"/>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Calibri"/>
          <a:ea typeface="Calibri"/>
          <a:cs typeface="Calibri"/>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20" name="Shape 20"/>
        <p:cNvGrpSpPr/>
        <p:nvPr/>
      </p:nvGrpSpPr>
      <p:grpSpPr>
        <a:xfrm>
          <a:off x="0" y="0"/>
          <a:ext cx="0" cy="0"/>
          <a:chOff x="0" y="0"/>
          <a:chExt cx="0" cy="0"/>
        </a:xfrm>
      </p:grpSpPr>
      <p:sp>
        <p:nvSpPr>
          <p:cNvPr id="21" name="Google Shape;21;p1"/>
          <p:cNvSpPr txBox="1"/>
          <p:nvPr/>
        </p:nvSpPr>
        <p:spPr>
          <a:xfrm>
            <a:off x="795528" y="585216"/>
            <a:ext cx="88696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F6CF6A"/>
                </a:solidFill>
                <a:latin typeface="Consolas"/>
                <a:ea typeface="Consolas"/>
                <a:cs typeface="Consolas"/>
                <a:sym typeface="Consolas"/>
              </a:rPr>
              <a:t>ISWC 2026  /  RESEARCH PAPER</a:t>
            </a:r>
            <a:endParaRPr/>
          </a:p>
        </p:txBody>
      </p:sp>
      <p:sp>
        <p:nvSpPr>
          <p:cNvPr id="22" name="Google Shape;22;p1"/>
          <p:cNvSpPr txBox="1"/>
          <p:nvPr/>
        </p:nvSpPr>
        <p:spPr>
          <a:xfrm>
            <a:off x="795528" y="2267692"/>
            <a:ext cx="7955400" cy="1523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Retrieval-Augmented</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Generation of Ontologies</a:t>
            </a:r>
            <a:endParaRPr/>
          </a:p>
          <a:p>
            <a:pPr indent="0" lvl="0" marL="0" marR="0" rtl="0" algn="l">
              <a:lnSpc>
                <a:spcPct val="100000"/>
              </a:lnSpc>
              <a:spcBef>
                <a:spcPts val="0"/>
              </a:spcBef>
              <a:spcAft>
                <a:spcPts val="0"/>
              </a:spcAft>
              <a:buNone/>
            </a:pPr>
            <a:r>
              <a:rPr b="1" i="0" lang="en-US" sz="3300" u="none" cap="none" strike="noStrike">
                <a:solidFill>
                  <a:srgbClr val="FFFFFF"/>
                </a:solidFill>
                <a:latin typeface="Cambria"/>
                <a:ea typeface="Calibri"/>
                <a:cs typeface="Calibri"/>
                <a:sym typeface="Calibri"/>
              </a:rPr>
              <a:t>from Relati</a:t>
            </a:r>
            <a:r>
              <a:rPr b="1" i="0" lang="en-US" sz="3300" u="none" cap="none" strike="noStrike">
                <a:solidFill>
                  <a:srgbClr val="FFFFFF"/>
                </a:solidFill>
                <a:latin typeface="Cambria"/>
                <a:ea typeface="Calibri"/>
                <a:cs typeface="Calibri"/>
                <a:sym typeface="Calibri"/>
              </a:rPr>
              <a:t>o</a:t>
            </a:r>
            <a:r>
              <a:rPr b="1" i="0" lang="en-US" sz="3300" u="none" cap="none" strike="noStrike">
                <a:solidFill>
                  <a:srgbClr val="FFFFFF"/>
                </a:solidFill>
                <a:latin typeface="Cambria"/>
                <a:ea typeface="Calibri"/>
                <a:cs typeface="Calibri"/>
                <a:sym typeface="Calibri"/>
              </a:rPr>
              <a:t>nal Databases</a:t>
            </a:r>
            <a:endParaRPr/>
          </a:p>
        </p:txBody>
      </p:sp>
      <p:sp>
        <p:nvSpPr>
          <p:cNvPr id="23" name="Google Shape;23;p1"/>
          <p:cNvSpPr txBox="1"/>
          <p:nvPr/>
        </p:nvSpPr>
        <p:spPr>
          <a:xfrm>
            <a:off x="795463" y="5359389"/>
            <a:ext cx="8869800" cy="615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1600" u="none" cap="none" strike="noStrike">
                <a:solidFill>
                  <a:schemeClr val="lt1"/>
                </a:solidFill>
                <a:latin typeface="Calibri"/>
                <a:ea typeface="Calibri"/>
                <a:cs typeface="Calibri"/>
                <a:sym typeface="Calibri"/>
              </a:rPr>
              <a:t>Nadeen Fathallah</a:t>
            </a:r>
            <a:r>
              <a:rPr b="0" i="0" lang="en-US" sz="1600" u="none" cap="none" strike="noStrike">
                <a:solidFill>
                  <a:schemeClr val="lt1"/>
                </a:solidFill>
                <a:latin typeface="Calibri"/>
                <a:ea typeface="Calibri"/>
                <a:cs typeface="Calibri"/>
                <a:sym typeface="Calibri"/>
              </a:rPr>
              <a:t>¹ · Mojtaba Nayyeri¹ · Athish A Yogi¹ · Ratan Bahadur Thapa¹ · Hans-Michael Tautenhahn³ · Anton Schnurpel³ · Steffen Staab¹,²</a:t>
            </a:r>
            <a:endParaRPr sz="1600">
              <a:solidFill>
                <a:schemeClr val="lt1"/>
              </a:solidFill>
            </a:endParaRPr>
          </a:p>
        </p:txBody>
      </p:sp>
      <p:sp>
        <p:nvSpPr>
          <p:cNvPr id="24" name="Google Shape;24;p1"/>
          <p:cNvSpPr txBox="1"/>
          <p:nvPr/>
        </p:nvSpPr>
        <p:spPr>
          <a:xfrm>
            <a:off x="695411" y="6109694"/>
            <a:ext cx="108357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600" u="none" cap="none" strike="noStrike">
                <a:solidFill>
                  <a:schemeClr val="lt1"/>
                </a:solidFill>
                <a:latin typeface="Calibri"/>
                <a:ea typeface="Calibri"/>
                <a:cs typeface="Calibri"/>
                <a:sym typeface="Calibri"/>
              </a:rPr>
              <a:t>¹ University of Stuttgart   ·   ² University of Southampton   ·   ³ Universitätsklinikum Leipzig</a:t>
            </a:r>
            <a:endParaRPr sz="1600">
              <a:solidFill>
                <a:schemeClr val="lt1"/>
              </a:solidFill>
            </a:endParaRPr>
          </a:p>
        </p:txBody>
      </p:sp>
      <p:sp>
        <p:nvSpPr>
          <p:cNvPr id="25" name="Google Shape;25;p1"/>
          <p:cNvSpPr txBox="1"/>
          <p:nvPr/>
        </p:nvSpPr>
        <p:spPr>
          <a:xfrm>
            <a:off x="795528" y="6482195"/>
            <a:ext cx="106986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lang="en-US" sz="1600">
                <a:solidFill>
                  <a:schemeClr val="lt1"/>
                </a:solidFill>
                <a:latin typeface="Consolas"/>
                <a:ea typeface="Consolas"/>
                <a:cs typeface="Consolas"/>
                <a:sym typeface="Consolas"/>
              </a:rPr>
              <a:t>Paper: </a:t>
            </a:r>
            <a:r>
              <a:rPr b="0" i="0" lang="en-US" sz="1600" u="none" cap="none" strike="noStrike">
                <a:solidFill>
                  <a:schemeClr val="lt1"/>
                </a:solidFill>
                <a:latin typeface="Consolas"/>
                <a:ea typeface="Consolas"/>
                <a:cs typeface="Consolas"/>
                <a:sym typeface="Consolas"/>
              </a:rPr>
              <a:t>arXiv:2506.01232  ·  Code</a:t>
            </a:r>
            <a:r>
              <a:rPr lang="en-US" sz="1600">
                <a:solidFill>
                  <a:schemeClr val="lt1"/>
                </a:solidFill>
                <a:latin typeface="Consolas"/>
                <a:ea typeface="Consolas"/>
                <a:cs typeface="Consolas"/>
                <a:sym typeface="Consolas"/>
              </a:rPr>
              <a:t>: </a:t>
            </a:r>
            <a:r>
              <a:rPr b="0" i="0" lang="en-US" sz="1600" u="none" cap="none" strike="noStrike">
                <a:solidFill>
                  <a:schemeClr val="lt1"/>
                </a:solidFill>
                <a:latin typeface="Consolas"/>
                <a:ea typeface="Consolas"/>
                <a:cs typeface="Consolas"/>
                <a:sym typeface="Consolas"/>
              </a:rPr>
              <a:t>github.com/NadeenAhmad/RIGOR</a:t>
            </a:r>
            <a:endParaRPr sz="1600">
              <a:solidFill>
                <a:schemeClr val="lt1"/>
              </a:solidFill>
            </a:endParaRPr>
          </a:p>
        </p:txBody>
      </p:sp>
      <p:pic>
        <p:nvPicPr>
          <p:cNvPr descr="Motif: rows of a database table linked to nodes of a graph; one highlighted row links to a highlighted node" id="26" name="Google Shape;26;p1"/>
          <p:cNvPicPr preferRelativeResize="0"/>
          <p:nvPr/>
        </p:nvPicPr>
        <p:blipFill rotWithShape="1">
          <a:blip r:embed="rId3">
            <a:alphaModFix/>
          </a:blip>
          <a:srcRect b="0" l="0" r="0" t="0"/>
          <a:stretch/>
        </p:blipFill>
        <p:spPr>
          <a:xfrm>
            <a:off x="6721972" y="793871"/>
            <a:ext cx="4433648" cy="3965047"/>
          </a:xfrm>
          <a:prstGeom prst="rect">
            <a:avLst/>
          </a:prstGeom>
          <a:noFill/>
          <a:ln>
            <a:noFill/>
          </a:ln>
        </p:spPr>
      </p:pic>
      <p:sp>
        <p:nvSpPr>
          <p:cNvPr id="27" name="Google Shape;27;p1"/>
          <p:cNvSpPr txBox="1"/>
          <p:nvPr/>
        </p:nvSpPr>
        <p:spPr>
          <a:xfrm>
            <a:off x="6350050" y="4377934"/>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Relational Database</a:t>
            </a:r>
            <a:endParaRPr sz="1761">
              <a:solidFill>
                <a:schemeClr val="lt1"/>
              </a:solidFill>
            </a:endParaRPr>
          </a:p>
        </p:txBody>
      </p:sp>
      <p:sp>
        <p:nvSpPr>
          <p:cNvPr id="28" name="Google Shape;28;p1"/>
          <p:cNvSpPr txBox="1"/>
          <p:nvPr/>
        </p:nvSpPr>
        <p:spPr>
          <a:xfrm>
            <a:off x="9011081" y="4649040"/>
            <a:ext cx="2943000" cy="2712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lang="en-US" sz="1761">
                <a:solidFill>
                  <a:schemeClr val="lt1"/>
                </a:solidFill>
                <a:latin typeface="Consolas"/>
                <a:ea typeface="Consolas"/>
                <a:cs typeface="Consolas"/>
                <a:sym typeface="Consolas"/>
              </a:rPr>
              <a:t>Ontology</a:t>
            </a:r>
            <a:endParaRPr sz="1761">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 name="Shape 33"/>
        <p:cNvGrpSpPr/>
        <p:nvPr/>
      </p:nvGrpSpPr>
      <p:grpSpPr>
        <a:xfrm>
          <a:off x="0" y="0"/>
          <a:ext cx="0" cy="0"/>
          <a:chOff x="0" y="0"/>
          <a:chExt cx="0" cy="0"/>
        </a:xfrm>
      </p:grpSpPr>
      <p:sp>
        <p:nvSpPr>
          <p:cNvPr id="34" name="Google Shape;34;p2"/>
          <p:cNvSpPr txBox="1"/>
          <p:nvPr/>
        </p:nvSpPr>
        <p:spPr>
          <a:xfrm>
            <a:off x="804672"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u="none" cap="none" strike="noStrike">
                <a:solidFill>
                  <a:srgbClr val="0B6E4F"/>
                </a:solidFill>
                <a:latin typeface="Consolas"/>
                <a:ea typeface="Consolas"/>
                <a:cs typeface="Consolas"/>
                <a:sym typeface="Consolas"/>
              </a:rPr>
              <a:t>MOTIVATION  /  ILLUSTRATIVE CLINICAL EXAMPLE</a:t>
            </a:r>
            <a:endParaRPr/>
          </a:p>
        </p:txBody>
      </p:sp>
      <p:sp>
        <p:nvSpPr>
          <p:cNvPr id="35" name="Google Shape;35;p2"/>
          <p:cNvSpPr txBox="1"/>
          <p:nvPr/>
        </p:nvSpPr>
        <p:spPr>
          <a:xfrm>
            <a:off x="804672" y="932688"/>
            <a:ext cx="10762488" cy="8961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A database can tell us how data is stored.</a:t>
            </a:r>
            <a:endParaRPr/>
          </a:p>
          <a:p>
            <a:pPr indent="0" lvl="0" marL="0" marR="0" rtl="0" algn="l">
              <a:lnSpc>
                <a:spcPct val="100000"/>
              </a:lnSpc>
              <a:spcBef>
                <a:spcPts val="0"/>
              </a:spcBef>
              <a:spcAft>
                <a:spcPts val="0"/>
              </a:spcAft>
              <a:buNone/>
            </a:pPr>
            <a:r>
              <a:rPr b="1" i="0" lang="en-US" sz="3000" u="none" cap="none" strike="noStrike">
                <a:solidFill>
                  <a:srgbClr val="1F2328"/>
                </a:solidFill>
                <a:latin typeface="Cambria"/>
                <a:ea typeface="Calibri"/>
                <a:cs typeface="Calibri"/>
                <a:sym typeface="Calibri"/>
              </a:rPr>
              <a:t>Can it tell us what the data means?</a:t>
            </a:r>
            <a:endParaRPr/>
          </a:p>
        </p:txBody>
      </p:sp>
      <p:sp>
        <p:nvSpPr>
          <p:cNvPr id="36" name="Google Shape;36;p2"/>
          <p:cNvSpPr/>
          <p:nvPr/>
        </p:nvSpPr>
        <p:spPr>
          <a:xfrm>
            <a:off x="804672" y="2048256"/>
            <a:ext cx="5486400" cy="327355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2"/>
          <p:cNvSpPr txBox="1"/>
          <p:nvPr/>
        </p:nvSpPr>
        <p:spPr>
          <a:xfrm>
            <a:off x="1069848" y="2276856"/>
            <a:ext cx="492861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u="none" cap="none" strike="noStrike">
                <a:solidFill>
                  <a:srgbClr val="5B6770"/>
                </a:solidFill>
                <a:latin typeface="Consolas"/>
                <a:ea typeface="Consolas"/>
                <a:cs typeface="Consolas"/>
                <a:sym typeface="Consolas"/>
              </a:rPr>
              <a:t>RELATIONAL SCHEMA · EXCERPT</a:t>
            </a:r>
            <a:endParaRPr/>
          </a:p>
        </p:txBody>
      </p:sp>
      <p:sp>
        <p:nvSpPr>
          <p:cNvPr id="50" name="Google Shape;50;p2"/>
          <p:cNvSpPr txBox="1"/>
          <p:nvPr/>
        </p:nvSpPr>
        <p:spPr>
          <a:xfrm>
            <a:off x="6665976" y="2176272"/>
            <a:ext cx="480974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u="none" cap="none" strike="noStrike">
                <a:solidFill>
                  <a:srgbClr val="5B6770"/>
                </a:solidFill>
                <a:latin typeface="Consolas"/>
                <a:ea typeface="Consolas"/>
                <a:cs typeface="Consolas"/>
                <a:sym typeface="Consolas"/>
              </a:rPr>
              <a:t>WHAT WE STILL NEED TO UNDERSTAND</a:t>
            </a:r>
            <a:endParaRPr/>
          </a:p>
        </p:txBody>
      </p:sp>
      <p:sp>
        <p:nvSpPr>
          <p:cNvPr id="51" name="Google Shape;51;p2"/>
          <p:cNvSpPr/>
          <p:nvPr/>
        </p:nvSpPr>
        <p:spPr>
          <a:xfrm>
            <a:off x="6684264" y="26426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 name="Google Shape;52;p2"/>
          <p:cNvSpPr/>
          <p:nvPr/>
        </p:nvSpPr>
        <p:spPr>
          <a:xfrm>
            <a:off x="6858000" y="28803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 name="Google Shape;53;p2"/>
          <p:cNvSpPr txBox="1"/>
          <p:nvPr/>
        </p:nvSpPr>
        <p:spPr>
          <a:xfrm>
            <a:off x="6894576" y="28803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01</a:t>
            </a:r>
            <a:endParaRPr/>
          </a:p>
        </p:txBody>
      </p:sp>
      <p:sp>
        <p:nvSpPr>
          <p:cNvPr id="54" name="Google Shape;54;p2"/>
          <p:cNvSpPr txBox="1"/>
          <p:nvPr/>
        </p:nvSpPr>
        <p:spPr>
          <a:xfrm>
            <a:off x="7324344" y="27614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patient_id</a:t>
            </a:r>
            <a:endParaRPr/>
          </a:p>
        </p:txBody>
      </p:sp>
      <p:sp>
        <p:nvSpPr>
          <p:cNvPr id="55" name="Google Shape;55;p2"/>
          <p:cNvSpPr txBox="1"/>
          <p:nvPr/>
        </p:nvSpPr>
        <p:spPr>
          <a:xfrm>
            <a:off x="8677656" y="2752344"/>
            <a:ext cx="2596896" cy="557784"/>
          </a:xfrm>
          <a:prstGeom prst="rect">
            <a:avLst/>
          </a:prstGeom>
          <a:noFill/>
          <a:ln>
            <a:noFill/>
          </a:ln>
        </p:spPr>
        <p:txBody>
          <a:bodyPr anchorCtr="0" anchor="ctr" bIns="0" lIns="0" spcFirstLastPara="1" rIns="0" wrap="none" tIns="0">
            <a:spAutoFit/>
          </a:bodyPr>
          <a:lstStyle/>
          <a:p>
            <a:pPr indent="0" lvl="0" marL="0" marR="0" rtl="0" algn="l">
              <a:lnSpc>
                <a:spcPct val="100000"/>
              </a:lnSpc>
              <a:spcBef>
                <a:spcPts val="0"/>
              </a:spcBef>
              <a:spcAft>
                <a:spcPts val="0"/>
              </a:spcAft>
              <a:buNone/>
            </a:pPr>
            <a:r>
              <a:rPr sz="1450">
                <a:solidFill>
                  <a:srgbClr val="1F2328"/>
                </a:solidFill>
                <a:latin typeface="Calibri"/>
              </a:rPr>
              <a:t>How do we represent the link</a:t>
            </a:r>
            <a:endParaRPr/>
          </a:p>
          <a:p>
            <a:pPr algn="l">
              <a:spcBef>
                <a:spcPts val="0"/>
              </a:spcBef>
              <a:spcAft>
                <a:spcPts val="0"/>
              </a:spcAft>
            </a:pPr>
            <a:r>
              <a:rPr sz="1450">
                <a:solidFill>
                  <a:srgbClr val="1F2328"/>
                </a:solidFill>
                <a:latin typeface="Calibri"/>
              </a:rPr>
              <a:t>from an admission to its patient?</a:t>
            </a:r>
          </a:p>
        </p:txBody>
      </p:sp>
      <p:sp>
        <p:nvSpPr>
          <p:cNvPr id="56" name="Google Shape;56;p2"/>
          <p:cNvSpPr/>
          <p:nvPr/>
        </p:nvSpPr>
        <p:spPr>
          <a:xfrm>
            <a:off x="6684264" y="35570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 name="Google Shape;57;p2"/>
          <p:cNvSpPr/>
          <p:nvPr/>
        </p:nvSpPr>
        <p:spPr>
          <a:xfrm>
            <a:off x="6858000" y="37947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 name="Google Shape;58;p2"/>
          <p:cNvSpPr txBox="1"/>
          <p:nvPr/>
        </p:nvSpPr>
        <p:spPr>
          <a:xfrm>
            <a:off x="6894576" y="37947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02</a:t>
            </a:r>
            <a:endParaRPr/>
          </a:p>
        </p:txBody>
      </p:sp>
      <p:sp>
        <p:nvSpPr>
          <p:cNvPr id="59" name="Google Shape;59;p2"/>
          <p:cNvSpPr txBox="1"/>
          <p:nvPr/>
        </p:nvSpPr>
        <p:spPr>
          <a:xfrm>
            <a:off x="7324344" y="36758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BM_DEP</a:t>
            </a:r>
            <a:endParaRPr/>
          </a:p>
        </p:txBody>
      </p:sp>
      <p:sp>
        <p:nvSpPr>
          <p:cNvPr id="60" name="Google Shape;60;p2"/>
          <p:cNvSpPr txBox="1"/>
          <p:nvPr/>
        </p:nvSpPr>
        <p:spPr>
          <a:xfrm>
            <a:off x="8695944" y="36393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Which clinical concept</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does this abbreviation mean?</a:t>
            </a:r>
            <a:endParaRPr/>
          </a:p>
        </p:txBody>
      </p:sp>
      <p:sp>
        <p:nvSpPr>
          <p:cNvPr id="61" name="Google Shape;61;p2"/>
          <p:cNvSpPr/>
          <p:nvPr/>
        </p:nvSpPr>
        <p:spPr>
          <a:xfrm>
            <a:off x="6684264" y="4471416"/>
            <a:ext cx="4718304" cy="795528"/>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2"/>
          <p:cNvSpPr/>
          <p:nvPr/>
        </p:nvSpPr>
        <p:spPr>
          <a:xfrm>
            <a:off x="6858000" y="4709160"/>
            <a:ext cx="310896" cy="310896"/>
          </a:xfrm>
          <a:prstGeom prst="ellipse">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2"/>
          <p:cNvSpPr txBox="1"/>
          <p:nvPr/>
        </p:nvSpPr>
        <p:spPr>
          <a:xfrm>
            <a:off x="6894576" y="4709160"/>
            <a:ext cx="310896" cy="256032"/>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u="none" cap="none" strike="noStrike">
                <a:solidFill>
                  <a:srgbClr val="2F6B78"/>
                </a:solidFill>
                <a:latin typeface="Consolas"/>
                <a:ea typeface="Consolas"/>
                <a:cs typeface="Consolas"/>
                <a:sym typeface="Consolas"/>
              </a:rPr>
              <a:t>03</a:t>
            </a:r>
            <a:endParaRPr/>
          </a:p>
        </p:txBody>
      </p:sp>
      <p:sp>
        <p:nvSpPr>
          <p:cNvPr id="64" name="Google Shape;64;p2"/>
          <p:cNvSpPr txBox="1"/>
          <p:nvPr/>
        </p:nvSpPr>
        <p:spPr>
          <a:xfrm>
            <a:off x="7324344" y="4590288"/>
            <a:ext cx="1408176"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onsolas"/>
                <a:ea typeface="Consolas"/>
                <a:cs typeface="Consolas"/>
                <a:sym typeface="Consolas"/>
              </a:rPr>
              <a:t>ecog_stage</a:t>
            </a:r>
            <a:endParaRPr/>
          </a:p>
        </p:txBody>
      </p:sp>
      <p:sp>
        <p:nvSpPr>
          <p:cNvPr id="65" name="Google Shape;65;p2"/>
          <p:cNvSpPr txBox="1"/>
          <p:nvPr/>
        </p:nvSpPr>
        <p:spPr>
          <a:xfrm>
            <a:off x="8695944" y="4553712"/>
            <a:ext cx="2514600" cy="5760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What do the encoded</a:t>
            </a:r>
            <a:endParaRPr/>
          </a:p>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score values mean?</a:t>
            </a:r>
            <a:endParaRPr/>
          </a:p>
        </p:txBody>
      </p:sp>
      <p:sp>
        <p:nvSpPr>
          <p:cNvPr id="66" name="Google Shape;66;p2"/>
          <p:cNvSpPr txBox="1"/>
          <p:nvPr/>
        </p:nvSpPr>
        <p:spPr>
          <a:xfrm>
            <a:off x="804672" y="5632704"/>
            <a:ext cx="1058875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a:p>
        </p:txBody>
      </p:sp>
      <p:sp>
        <p:nvSpPr>
          <p:cNvPr id="67" name="Google Shape;67;p2"/>
          <p:cNvSpPr txBox="1"/>
          <p:nvPr/>
        </p:nvSpPr>
        <p:spPr>
          <a:xfrm>
            <a:off x="4992624" y="3218688"/>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50" u="none" cap="none" strike="noStrike">
                <a:solidFill>
                  <a:srgbClr val="3A434C"/>
                </a:solidFill>
                <a:latin typeface="Consolas"/>
                <a:ea typeface="Consolas"/>
                <a:cs typeface="Consolas"/>
                <a:sym typeface="Consolas"/>
              </a:rPr>
              <a:t>FK</a:t>
            </a:r>
            <a:endParaRPr/>
          </a:p>
        </p:txBody>
      </p:sp>
      <p:sp>
        <p:nvSpPr>
          <p:cNvPr id="68" name="Google Shape;68;p2"/>
          <p:cNvSpPr txBox="1"/>
          <p:nvPr/>
        </p:nvSpPr>
        <p:spPr>
          <a:xfrm>
            <a:off x="4992624" y="3575304"/>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69" name="Google Shape;69;p2"/>
          <p:cNvSpPr txBox="1"/>
          <p:nvPr/>
        </p:nvSpPr>
        <p:spPr>
          <a:xfrm>
            <a:off x="4992624" y="3931920"/>
            <a:ext cx="704088" cy="29260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50">
                <a:solidFill>
                  <a:srgbClr val="3A434C"/>
                </a:solidFill>
                <a:latin typeface="Consolas"/>
                <a:ea typeface="Consolas"/>
                <a:cs typeface="Consolas"/>
                <a:sym typeface="Consolas"/>
              </a:rPr>
              <a:t>INT</a:t>
            </a:r>
            <a:endParaRPr/>
          </a:p>
        </p:txBody>
      </p:sp>
      <p:sp>
        <p:nvSpPr>
          <p:cNvPr id="70" name="Rounded Rectangle 69"/>
          <p:cNvSpPr/>
          <p:nvPr/>
        </p:nvSpPr>
        <p:spPr>
          <a:xfrm>
            <a:off x="1051560" y="2660904"/>
            <a:ext cx="188366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3383280" y="2660904"/>
            <a:ext cx="2615184" cy="1673352"/>
          </a:xfrm>
          <a:prstGeom prst="roundRect">
            <a:avLst/>
          </a:prstGeom>
          <a:solidFill>
            <a:srgbClr val="E9EE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197864" y="2770632"/>
            <a:ext cx="1655064" cy="292608"/>
          </a:xfrm>
          <a:prstGeom prst="rect">
            <a:avLst/>
          </a:prstGeom>
          <a:noFill/>
        </p:spPr>
        <p:txBody>
          <a:bodyPr wrap="square" lIns="0" rIns="0" tIns="0" bIns="0" anchor="ctr">
            <a:spAutoFit/>
          </a:bodyPr>
          <a:lstStyle/>
          <a:p>
            <a:pPr algn="l"/>
            <a:r>
              <a:rPr sz="1900" b="1">
                <a:solidFill>
                  <a:srgbClr val="1F2328"/>
                </a:solidFill>
                <a:latin typeface="Calibri"/>
              </a:rPr>
              <a:t>PatientData</a:t>
            </a:r>
          </a:p>
        </p:txBody>
      </p:sp>
      <p:sp>
        <p:nvSpPr>
          <p:cNvPr id="73" name="TextBox 72"/>
          <p:cNvSpPr txBox="1"/>
          <p:nvPr/>
        </p:nvSpPr>
        <p:spPr>
          <a:xfrm>
            <a:off x="3547872" y="2770632"/>
            <a:ext cx="2267712" cy="292608"/>
          </a:xfrm>
          <a:prstGeom prst="rect">
            <a:avLst/>
          </a:prstGeom>
          <a:noFill/>
        </p:spPr>
        <p:txBody>
          <a:bodyPr wrap="square" lIns="0" rIns="0" tIns="0" bIns="0" anchor="ctr">
            <a:spAutoFit/>
          </a:bodyPr>
          <a:lstStyle/>
          <a:p>
            <a:pPr algn="l"/>
            <a:r>
              <a:rPr sz="2200" b="1">
                <a:solidFill>
                  <a:srgbClr val="1F2328"/>
                </a:solidFill>
                <a:latin typeface="Calibri"/>
              </a:rPr>
              <a:t>admission</a:t>
            </a:r>
          </a:p>
        </p:txBody>
      </p:sp>
      <p:cxnSp>
        <p:nvCxnSpPr>
          <p:cNvPr id="74" name="Connector 73"/>
          <p:cNvCxnSpPr/>
          <p:nvPr/>
        </p:nvCxnSpPr>
        <p:spPr>
          <a:xfrm>
            <a:off x="1188720" y="3154680"/>
            <a:ext cx="1609344"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3529584" y="3154680"/>
            <a:ext cx="2313432" cy="0"/>
          </a:xfrm>
          <a:prstGeom prst="line">
            <a:avLst/>
          </a:prstGeom>
          <a:ln w="12700">
            <a:solidFill>
              <a:srgbClr val="8E989E"/>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1197864" y="3264408"/>
            <a:ext cx="1097280" cy="237744"/>
          </a:xfrm>
          <a:prstGeom prst="rect">
            <a:avLst/>
          </a:prstGeom>
          <a:noFill/>
        </p:spPr>
        <p:txBody>
          <a:bodyPr wrap="square" lIns="0" rIns="0" tIns="0" bIns="0" anchor="ctr">
            <a:spAutoFit/>
          </a:bodyPr>
          <a:lstStyle/>
          <a:p>
            <a:pPr algn="l"/>
            <a:r>
              <a:rPr sz="1500" b="0">
                <a:solidFill>
                  <a:srgbClr val="1F2328"/>
                </a:solidFill>
                <a:latin typeface="Calibri"/>
              </a:rPr>
              <a:t>patient_id</a:t>
            </a:r>
          </a:p>
        </p:txBody>
      </p:sp>
      <p:sp>
        <p:nvSpPr>
          <p:cNvPr id="77" name="TextBox 76"/>
          <p:cNvSpPr txBox="1"/>
          <p:nvPr/>
        </p:nvSpPr>
        <p:spPr>
          <a:xfrm>
            <a:off x="2468880" y="3264408"/>
            <a:ext cx="301752" cy="237744"/>
          </a:xfrm>
          <a:prstGeom prst="rect">
            <a:avLst/>
          </a:prstGeom>
          <a:noFill/>
        </p:spPr>
        <p:txBody>
          <a:bodyPr wrap="square" lIns="0" rIns="0" tIns="0" bIns="0" anchor="ctr">
            <a:spAutoFit/>
          </a:bodyPr>
          <a:lstStyle/>
          <a:p>
            <a:pPr algn="l"/>
            <a:r>
              <a:rPr sz="1400" b="0">
                <a:solidFill>
                  <a:srgbClr val="5B6770"/>
                </a:solidFill>
                <a:latin typeface="Calibri"/>
              </a:rPr>
              <a:t>PK</a:t>
            </a:r>
          </a:p>
        </p:txBody>
      </p:sp>
      <p:sp>
        <p:nvSpPr>
          <p:cNvPr id="78" name="TextBox 77"/>
          <p:cNvSpPr txBox="1"/>
          <p:nvPr/>
        </p:nvSpPr>
        <p:spPr>
          <a:xfrm>
            <a:off x="3547872" y="3264408"/>
            <a:ext cx="1417320" cy="237744"/>
          </a:xfrm>
          <a:prstGeom prst="rect">
            <a:avLst/>
          </a:prstGeom>
          <a:noFill/>
        </p:spPr>
        <p:txBody>
          <a:bodyPr wrap="square" lIns="0" rIns="0" tIns="0" bIns="0" anchor="ctr">
            <a:spAutoFit/>
          </a:bodyPr>
          <a:lstStyle/>
          <a:p>
            <a:pPr algn="l"/>
            <a:r>
              <a:rPr sz="1600" b="1">
                <a:solidFill>
                  <a:srgbClr val="0B6E4F"/>
                </a:solidFill>
                <a:latin typeface="Calibri"/>
              </a:rPr>
              <a:t>patient_id</a:t>
            </a:r>
          </a:p>
        </p:txBody>
      </p:sp>
      <p:sp>
        <p:nvSpPr>
          <p:cNvPr id="79" name="TextBox 78"/>
          <p:cNvSpPr txBox="1"/>
          <p:nvPr/>
        </p:nvSpPr>
        <p:spPr>
          <a:xfrm>
            <a:off x="5294376" y="3264408"/>
            <a:ext cx="457200" cy="237744"/>
          </a:xfrm>
          <a:prstGeom prst="rect">
            <a:avLst/>
          </a:prstGeom>
          <a:noFill/>
        </p:spPr>
        <p:txBody>
          <a:bodyPr wrap="square" lIns="0" rIns="0" tIns="0" bIns="0" anchor="ctr">
            <a:spAutoFit/>
          </a:bodyPr>
          <a:lstStyle/>
          <a:p>
            <a:pPr algn="l"/>
            <a:r>
              <a:rPr sz="1500" b="0">
                <a:solidFill>
                  <a:srgbClr val="5B6770"/>
                </a:solidFill>
                <a:latin typeface="Calibri"/>
              </a:rPr>
              <a:t>FK</a:t>
            </a:r>
          </a:p>
        </p:txBody>
      </p:sp>
      <p:sp>
        <p:nvSpPr>
          <p:cNvPr id="80" name="TextBox 79"/>
          <p:cNvSpPr txBox="1"/>
          <p:nvPr/>
        </p:nvSpPr>
        <p:spPr>
          <a:xfrm>
            <a:off x="3547872" y="3611880"/>
            <a:ext cx="1417320" cy="237744"/>
          </a:xfrm>
          <a:prstGeom prst="rect">
            <a:avLst/>
          </a:prstGeom>
          <a:noFill/>
        </p:spPr>
        <p:txBody>
          <a:bodyPr wrap="square" lIns="0" rIns="0" tIns="0" bIns="0" anchor="ctr">
            <a:spAutoFit/>
          </a:bodyPr>
          <a:lstStyle/>
          <a:p>
            <a:pPr algn="l"/>
            <a:r>
              <a:rPr sz="1600" b="1">
                <a:solidFill>
                  <a:srgbClr val="0B6E4F"/>
                </a:solidFill>
                <a:latin typeface="Calibri"/>
              </a:rPr>
              <a:t>BM_DEP</a:t>
            </a:r>
          </a:p>
        </p:txBody>
      </p:sp>
      <p:sp>
        <p:nvSpPr>
          <p:cNvPr id="81" name="TextBox 80"/>
          <p:cNvSpPr txBox="1"/>
          <p:nvPr/>
        </p:nvSpPr>
        <p:spPr>
          <a:xfrm>
            <a:off x="5294376" y="3611880"/>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sp>
        <p:nvSpPr>
          <p:cNvPr id="82" name="TextBox 81"/>
          <p:cNvSpPr txBox="1"/>
          <p:nvPr/>
        </p:nvSpPr>
        <p:spPr>
          <a:xfrm>
            <a:off x="3547872" y="3959352"/>
            <a:ext cx="1417320" cy="237744"/>
          </a:xfrm>
          <a:prstGeom prst="rect">
            <a:avLst/>
          </a:prstGeom>
          <a:noFill/>
        </p:spPr>
        <p:txBody>
          <a:bodyPr wrap="square" lIns="0" rIns="0" tIns="0" bIns="0" anchor="ctr">
            <a:spAutoFit/>
          </a:bodyPr>
          <a:lstStyle/>
          <a:p>
            <a:pPr algn="l"/>
            <a:r>
              <a:rPr sz="1500" b="1">
                <a:solidFill>
                  <a:srgbClr val="0B6E4F"/>
                </a:solidFill>
                <a:latin typeface="Calibri"/>
              </a:rPr>
              <a:t>ecog_stage</a:t>
            </a:r>
          </a:p>
        </p:txBody>
      </p:sp>
      <p:sp>
        <p:nvSpPr>
          <p:cNvPr id="83" name="TextBox 82"/>
          <p:cNvSpPr txBox="1"/>
          <p:nvPr/>
        </p:nvSpPr>
        <p:spPr>
          <a:xfrm>
            <a:off x="5294376" y="3959352"/>
            <a:ext cx="457200" cy="237744"/>
          </a:xfrm>
          <a:prstGeom prst="rect">
            <a:avLst/>
          </a:prstGeom>
          <a:noFill/>
        </p:spPr>
        <p:txBody>
          <a:bodyPr wrap="square" lIns="0" rIns="0" tIns="0" bIns="0" anchor="ctr">
            <a:spAutoFit/>
          </a:bodyPr>
          <a:lstStyle/>
          <a:p>
            <a:pPr algn="l"/>
            <a:r>
              <a:rPr sz="1500" b="0">
                <a:solidFill>
                  <a:srgbClr val="5B6770"/>
                </a:solidFill>
                <a:latin typeface="Calibri"/>
              </a:rPr>
              <a:t>INT</a:t>
            </a:r>
          </a:p>
        </p:txBody>
      </p:sp>
      <p:cxnSp>
        <p:nvCxnSpPr>
          <p:cNvPr id="85" name="Connector 84"/>
          <p:cNvCxnSpPr/>
          <p:nvPr/>
        </p:nvCxnSpPr>
        <p:spPr>
          <a:xfrm flipH="1">
            <a:off x="2907792" y="3401568"/>
            <a:ext cx="466344" cy="0"/>
          </a:xfrm>
          <a:prstGeom prst="line">
            <a:avLst/>
          </a:prstGeom>
          <a:ln w="31750">
            <a:solidFill>
              <a:srgbClr val="3A7D8C"/>
            </a:solidFill>
          </a:ln>
        </p:spPr>
        <p:style>
          <a:lnRef idx="2">
            <a:schemeClr val="accent1"/>
          </a:lnRef>
          <a:fillRef idx="0">
            <a:schemeClr val="accent1"/>
          </a:fillRef>
          <a:effectRef idx="1">
            <a:schemeClr val="accent1"/>
          </a:effectRef>
          <a:fontRef idx="minor">
            <a:schemeClr val="tx1"/>
          </a:fontRef>
        </p:style>
      </p:cxnSp>
      <p:sp>
        <p:nvSpPr>
          <p:cNvPr id="86" name="Isosceles Triangle 85"/>
          <p:cNvSpPr/>
          <p:nvPr/>
        </p:nvSpPr>
        <p:spPr>
          <a:xfrm rot="16200000">
            <a:off x="2825496" y="3328416"/>
            <a:ext cx="155448" cy="146304"/>
          </a:xfrm>
          <a:prstGeom prst="triangle">
            <a:avLst/>
          </a:prstGeom>
          <a:solidFill>
            <a:srgbClr val="3A7D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97280" y="4892040"/>
            <a:ext cx="4937760" cy="274320"/>
          </a:xfrm>
          <a:prstGeom prst="rect">
            <a:avLst/>
          </a:prstGeom>
          <a:noFill/>
        </p:spPr>
        <p:txBody>
          <a:bodyPr wrap="none" lIns="0" rIns="0" tIns="0" bIns="0" anchor="ctr">
            <a:spAutoFit/>
          </a:bodyPr>
          <a:lstStyle/>
          <a:p>
            <a:pPr algn="l"/>
            <a:r>
              <a:rPr sz="1320" b="0">
                <a:solidFill>
                  <a:srgbClr val="1F2328"/>
                </a:solidFill>
                <a:latin typeface="Calibri"/>
              </a:rPr>
              <a:t>Illustrative fields. The FK links an admission to a patient.</a:t>
            </a:r>
          </a:p>
        </p:txBody>
      </p:sp>
      <p:sp>
        <p:nvSpPr>
          <p:cNvPr id="89" name="PatientData age label"/>
          <p:cNvSpPr txBox="1"/>
          <p:nvPr/>
        </p:nvSpPr>
        <p:spPr>
          <a:xfrm>
            <a:off x="1197864" y="3611880"/>
            <a:ext cx="1106424" cy="246888"/>
          </a:xfrm>
          <a:prstGeom prst="rect">
            <a:avLst/>
          </a:prstGeom>
          <a:noFill/>
        </p:spPr>
        <p:txBody>
          <a:bodyPr wrap="none" lIns="0" rIns="0" tIns="0" bIns="0">
            <a:spAutoFit/>
          </a:bodyPr>
          <a:lstStyle/>
          <a:p>
            <a:pPr algn="l"/>
            <a:r>
              <a:rPr sz="1500" b="0">
                <a:solidFill>
                  <a:srgbClr val="1F2328"/>
                </a:solidFill>
                <a:latin typeface="Calibri"/>
              </a:rPr>
              <a:t>age</a:t>
            </a:r>
          </a:p>
        </p:txBody>
      </p:sp>
      <p:sp>
        <p:nvSpPr>
          <p:cNvPr id="90" name="PatientData age datatype"/>
          <p:cNvSpPr txBox="1"/>
          <p:nvPr/>
        </p:nvSpPr>
        <p:spPr>
          <a:xfrm>
            <a:off x="2441448" y="3611880"/>
            <a:ext cx="420624" cy="246888"/>
          </a:xfrm>
          <a:prstGeom prst="rect">
            <a:avLst/>
          </a:prstGeom>
          <a:noFill/>
        </p:spPr>
        <p:txBody>
          <a:bodyPr wrap="none" lIns="0" rIns="0" tIns="0" bIns="0">
            <a:spAutoFit/>
          </a:bodyPr>
          <a:lstStyle/>
          <a:p>
            <a:pPr algn="l"/>
            <a:r>
              <a:rPr sz="1350" b="0">
                <a:solidFill>
                  <a:srgbClr val="5B6770"/>
                </a:solidFill>
                <a:latin typeface="Calibri"/>
              </a:rPr>
              <a:t>INT</a:t>
            </a:r>
          </a:p>
        </p:txBody>
      </p:sp>
      <p:sp>
        <p:nvSpPr>
          <p:cNvPr id="91" name="PatientData gender label"/>
          <p:cNvSpPr txBox="1"/>
          <p:nvPr/>
        </p:nvSpPr>
        <p:spPr>
          <a:xfrm>
            <a:off x="1197864" y="3959352"/>
            <a:ext cx="1106424" cy="246888"/>
          </a:xfrm>
          <a:prstGeom prst="rect">
            <a:avLst/>
          </a:prstGeom>
          <a:noFill/>
        </p:spPr>
        <p:txBody>
          <a:bodyPr wrap="none" lIns="0" rIns="0" tIns="0" bIns="0">
            <a:spAutoFit/>
          </a:bodyPr>
          <a:lstStyle/>
          <a:p>
            <a:pPr algn="l"/>
            <a:r>
              <a:rPr sz="1500" b="0">
                <a:solidFill>
                  <a:srgbClr val="1F2328"/>
                </a:solidFill>
                <a:latin typeface="Calibri"/>
              </a:rPr>
              <a:t>gender</a:t>
            </a:r>
          </a:p>
        </p:txBody>
      </p:sp>
      <p:sp>
        <p:nvSpPr>
          <p:cNvPr id="92" name="PatientData gender datatype"/>
          <p:cNvSpPr txBox="1"/>
          <p:nvPr/>
        </p:nvSpPr>
        <p:spPr>
          <a:xfrm>
            <a:off x="2441448" y="3959352"/>
            <a:ext cx="420624" cy="246888"/>
          </a:xfrm>
          <a:prstGeom prst="rect">
            <a:avLst/>
          </a:prstGeom>
          <a:noFill/>
        </p:spPr>
        <p:txBody>
          <a:bodyPr wrap="none" lIns="0" rIns="0" tIns="0" bIns="0">
            <a:spAutoFit/>
          </a:bodyPr>
          <a:lstStyle/>
          <a:p>
            <a:pPr algn="l"/>
            <a:r>
              <a:rPr sz="1350" b="0">
                <a:solidFill>
                  <a:srgbClr val="5B6770"/>
                </a:solidFill>
                <a:latin typeface="Calibri"/>
              </a:rPr>
              <a:t>TEXT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3"/>
          <p:cNvSpPr txBox="1"/>
          <p:nvPr/>
        </p:nvSpPr>
        <p:spPr>
          <a:xfrm>
            <a:off x="804672" y="521207"/>
            <a:ext cx="1069848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WHAT WE WANT TO BUILD</a:t>
            </a:r>
            <a:endParaRPr/>
          </a:p>
        </p:txBody>
      </p:sp>
      <p:sp>
        <p:nvSpPr>
          <p:cNvPr id="76" name="Google Shape;76;p3"/>
          <p:cNvSpPr txBox="1"/>
          <p:nvPr/>
        </p:nvSpPr>
        <p:spPr>
          <a:xfrm>
            <a:off x="804672" y="923544"/>
            <a:ext cx="10789920" cy="86868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Not just a cleaner schema.</a:t>
            </a:r>
            <a:endParaRPr/>
          </a:p>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A usable semantic model.</a:t>
            </a:r>
            <a:endParaRPr/>
          </a:p>
        </p:txBody>
      </p:sp>
      <p:sp>
        <p:nvSpPr>
          <p:cNvPr id="77" name="Google Shape;77;p3"/>
          <p:cNvSpPr/>
          <p:nvPr/>
        </p:nvSpPr>
        <p:spPr>
          <a:xfrm>
            <a:off x="804672" y="2029968"/>
            <a:ext cx="2971800" cy="32644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1024128" y="2267712"/>
            <a:ext cx="251460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INPUT  /  TABLE</a:t>
            </a:r>
            <a:endParaRPr/>
          </a:p>
        </p:txBody>
      </p:sp>
      <p:sp>
        <p:nvSpPr>
          <p:cNvPr id="79" name="Google Shape;79;p3"/>
          <p:cNvSpPr txBox="1"/>
          <p:nvPr/>
        </p:nvSpPr>
        <p:spPr>
          <a:xfrm>
            <a:off x="1024128" y="2706624"/>
            <a:ext cx="2514600" cy="3383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admission</a:t>
            </a:r>
            <a:endParaRPr/>
          </a:p>
        </p:txBody>
      </p:sp>
      <p:cxnSp>
        <p:nvCxnSpPr>
          <p:cNvPr id="80" name="Google Shape;80;p3"/>
          <p:cNvCxnSpPr/>
          <p:nvPr/>
        </p:nvCxnSpPr>
        <p:spPr>
          <a:xfrm>
            <a:off x="1033271" y="3154680"/>
            <a:ext cx="2441449" cy="0"/>
          </a:xfrm>
          <a:prstGeom prst="straightConnector1">
            <a:avLst/>
          </a:prstGeom>
          <a:noFill/>
          <a:ln cap="flat" cmpd="sng" w="19050">
            <a:solidFill>
              <a:srgbClr val="8E989E"/>
            </a:solidFill>
            <a:prstDash val="solid"/>
            <a:miter lim="8000"/>
            <a:headEnd len="sm" w="sm" type="none"/>
            <a:tailEnd len="sm" w="sm" type="none"/>
          </a:ln>
        </p:spPr>
      </p:cxnSp>
      <p:sp>
        <p:nvSpPr>
          <p:cNvPr id="81" name="Google Shape;81;p3"/>
          <p:cNvSpPr txBox="1"/>
          <p:nvPr/>
        </p:nvSpPr>
        <p:spPr>
          <a:xfrm>
            <a:off x="1014984" y="3355848"/>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82" name="Google Shape;82;p3"/>
          <p:cNvSpPr txBox="1"/>
          <p:nvPr/>
        </p:nvSpPr>
        <p:spPr>
          <a:xfrm>
            <a:off x="1014984" y="3758184"/>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83" name="Google Shape;83;p3"/>
          <p:cNvSpPr txBox="1"/>
          <p:nvPr/>
        </p:nvSpPr>
        <p:spPr>
          <a:xfrm>
            <a:off x="1014984" y="4160520"/>
            <a:ext cx="2523744"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84" name="Google Shape;84;p3"/>
          <p:cNvSpPr txBox="1"/>
          <p:nvPr/>
        </p:nvSpPr>
        <p:spPr>
          <a:xfrm>
            <a:off x="1024128" y="4873752"/>
            <a:ext cx="248716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SQL structure</a:t>
            </a:r>
            <a:endParaRPr/>
          </a:p>
        </p:txBody>
      </p:sp>
      <p:sp>
        <p:nvSpPr>
          <p:cNvPr id="85" name="Google Shape;85;p3"/>
          <p:cNvSpPr/>
          <p:nvPr/>
        </p:nvSpPr>
        <p:spPr>
          <a:xfrm>
            <a:off x="3977639" y="3328416"/>
            <a:ext cx="566928" cy="429768"/>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3"/>
          <p:cNvSpPr/>
          <p:nvPr/>
        </p:nvSpPr>
        <p:spPr>
          <a:xfrm>
            <a:off x="4754880" y="2029968"/>
            <a:ext cx="6656832" cy="3264408"/>
          </a:xfrm>
          <a:prstGeom prst="roundRect">
            <a:avLst>
              <a:gd fmla="val 10000" name="adj"/>
            </a:avLst>
          </a:prstGeom>
          <a:solidFill>
            <a:srgbClr val="F3F5F4"/>
          </a:solidFill>
          <a:ln cap="flat" cmpd="sng" w="1777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3"/>
          <p:cNvSpPr txBox="1"/>
          <p:nvPr/>
        </p:nvSpPr>
        <p:spPr>
          <a:xfrm>
            <a:off x="5038344" y="2249424"/>
            <a:ext cx="6044184"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600">
                <a:solidFill>
                  <a:srgbClr val="2F6B78"/>
                </a:solidFill>
                <a:latin typeface="Consolas"/>
                <a:ea typeface="Consolas"/>
                <a:cs typeface="Consolas"/>
                <a:sym typeface="Consolas"/>
              </a:rPr>
              <a:t>TARGET  /  ILLUSTRATIVE OWL FRAGMENT</a:t>
            </a:r>
            <a:endParaRPr/>
          </a:p>
        </p:txBody>
      </p:sp>
      <p:sp>
        <p:nvSpPr>
          <p:cNvPr id="88" name="Google Shape;88;p3"/>
          <p:cNvSpPr/>
          <p:nvPr/>
        </p:nvSpPr>
        <p:spPr>
          <a:xfrm>
            <a:off x="5093208" y="2688336"/>
            <a:ext cx="210312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 name="Google Shape;89;p3"/>
          <p:cNvSpPr txBox="1"/>
          <p:nvPr/>
        </p:nvSpPr>
        <p:spPr>
          <a:xfrm>
            <a:off x="5248656" y="2852928"/>
            <a:ext cx="174650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000">
                <a:solidFill>
                  <a:srgbClr val="1F2328"/>
                </a:solidFill>
                <a:latin typeface="Calibri"/>
                <a:ea typeface="Calibri"/>
                <a:cs typeface="Calibri"/>
                <a:sym typeface="Calibri"/>
              </a:rPr>
              <a:t>Admission</a:t>
            </a:r>
            <a:endParaRPr/>
          </a:p>
        </p:txBody>
      </p:sp>
      <p:sp>
        <p:nvSpPr>
          <p:cNvPr id="90" name="Google Shape;90;p3"/>
          <p:cNvSpPr/>
          <p:nvPr/>
        </p:nvSpPr>
        <p:spPr>
          <a:xfrm>
            <a:off x="9253728" y="2688336"/>
            <a:ext cx="1828800" cy="63093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 name="Google Shape;91;p3"/>
          <p:cNvSpPr txBox="1"/>
          <p:nvPr/>
        </p:nvSpPr>
        <p:spPr>
          <a:xfrm>
            <a:off x="9354312" y="2852928"/>
            <a:ext cx="1645920"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92" name="Google Shape;92;p3"/>
          <p:cNvCxnSpPr/>
          <p:nvPr/>
        </p:nvCxnSpPr>
        <p:spPr>
          <a:xfrm>
            <a:off x="7278624" y="2990088"/>
            <a:ext cx="1865376" cy="0"/>
          </a:xfrm>
          <a:prstGeom prst="straightConnector1">
            <a:avLst/>
          </a:prstGeom>
          <a:noFill/>
          <a:ln cap="flat" cmpd="sng" w="31750">
            <a:solidFill>
              <a:srgbClr val="0B6E4F"/>
            </a:solidFill>
            <a:prstDash val="solid"/>
            <a:miter lim="8000"/>
            <a:headEnd len="sm" w="sm" type="none"/>
            <a:tailEnd len="med" w="med" type="triangle"/>
          </a:ln>
        </p:spPr>
      </p:cxnSp>
      <p:sp>
        <p:nvSpPr>
          <p:cNvPr id="93" name="Google Shape;93;p3"/>
          <p:cNvSpPr/>
          <p:nvPr/>
        </p:nvSpPr>
        <p:spPr>
          <a:xfrm>
            <a:off x="7388352" y="2587752"/>
            <a:ext cx="1591056" cy="329184"/>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3"/>
          <p:cNvSpPr txBox="1"/>
          <p:nvPr/>
        </p:nvSpPr>
        <p:spPr>
          <a:xfrm>
            <a:off x="7278624" y="2642616"/>
            <a:ext cx="1783080"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02" name="Google Shape;102;p3"/>
          <p:cNvSpPr/>
          <p:nvPr/>
        </p:nvSpPr>
        <p:spPr>
          <a:xfrm>
            <a:off x="804672" y="5522976"/>
            <a:ext cx="10607040" cy="42976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3" name="Google Shape;103;p3"/>
          <p:cNvSpPr txBox="1"/>
          <p:nvPr/>
        </p:nvSpPr>
        <p:spPr>
          <a:xfrm>
            <a:off x="996696" y="5596128"/>
            <a:ext cx="1010412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WHAT THIS ENABLES   </a:t>
            </a:r>
            <a:r>
              <a:rPr b="0" lang="en-US" sz="1550">
                <a:solidFill>
                  <a:srgbClr val="1F2328"/>
                </a:solidFill>
                <a:latin typeface="Calibri"/>
                <a:ea typeface="Calibri"/>
                <a:cs typeface="Calibri"/>
                <a:sym typeface="Calibri"/>
              </a:rPr>
              <a:t>Concept-based access  ·  KG population  ·  Cross-system interoperability</a:t>
            </a:r>
            <a:endParaRPr/>
          </a:p>
        </p:txBody>
      </p:sp>
      <p:sp>
        <p:nvSpPr>
          <p:cNvPr id="104" name="Code 104" descr="OWL Manchester Syntax excerpt"/>
          <p:cNvSpPr txBox="1"/>
          <p:nvPr/>
        </p:nvSpPr>
        <p:spPr>
          <a:xfrm>
            <a:off x="5093208" y="3529584"/>
            <a:ext cx="5989320" cy="1498091"/>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r>
              <a:rPr lang="en-US" sz="1200" b="0" i="1" dirty="0">
                <a:solidFill>
                  <a:srgbClr val="5B6770"/>
                </a:solidFill>
                <a:latin typeface="Calibri"/>
                <a:cs typeface="Calibri"/>
              </a:rPr>
              <a:t xml:space="preserve">	← human-readable name</a:t>
            </a:r>
            <a:endParaRPr lang="en-US" sz="1300"/>
          </a:p>
          <a:p>
            <a:pPr>
              <a:lnSpc>
                <a:spcPts val="1500"/>
              </a:lnSpc>
              <a:spcBef>
                <a:spcPts val="0"/>
              </a:spcBef>
              <a:tabLst>
                <a:tab pos="3977639" algn="l"/>
              </a:tabLst>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 … 5 = dead"@en</a:t>
            </a:r>
            <a:r>
              <a:rPr lang="en-US" sz="1300" b="0" i="0" dirty="0">
                <a:solidFill>
                  <a:srgbClr val="1F2328"/>
                </a:solidFill>
                <a:latin typeface="Consolas"/>
                <a:cs typeface="Consolas"/>
              </a:rPr>
              <a:t xml:space="preserve">,</a:t>
            </a:r>
            <a:r>
              <a:rPr lang="en-US" sz="1200" b="0" i="1" dirty="0">
                <a:solidFill>
                  <a:srgbClr val="5B6770"/>
                </a:solidFill>
                <a:latin typeface="Calibri"/>
                <a:cs typeface="Calibri"/>
              </a:rPr>
              <a:t xml:space="preserve">	← what the codes mean</a:t>
            </a:r>
            <a:endParaRPr lang="en-US" sz="1300"/>
          </a:p>
          <a:p>
            <a:pPr>
              <a:lnSpc>
                <a:spcPts val="1500"/>
              </a:lnSpc>
              <a:spcBef>
                <a:spcPts val="0"/>
              </a:spcBef>
              <a:tabLst>
                <a:tab pos="3977639" algn="l"/>
              </a:tabLst>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r>
              <a:rPr lang="en-US" sz="1200" b="0" i="1" dirty="0">
                <a:solidFill>
                  <a:srgbClr val="5B6770"/>
                </a:solidFill>
                <a:latin typeface="Calibri"/>
                <a:cs typeface="Calibri"/>
              </a:rPr>
              <a:t xml:space="preserve">	← where it came from</a:t>
            </a:r>
            <a:endParaRPr lang="en-US" sz="13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4"/>
          <p:cNvSpPr txBox="1"/>
          <p:nvPr/>
        </p:nvSpPr>
        <p:spPr>
          <a:xfrm>
            <a:off x="804672" y="521207"/>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THE RESEARCH GAP</a:t>
            </a:r>
            <a:endParaRPr/>
          </a:p>
        </p:txBody>
      </p:sp>
      <p:sp>
        <p:nvSpPr>
          <p:cNvPr id="110" name="Google Shape;110;p4"/>
          <p:cNvSpPr txBox="1"/>
          <p:nvPr/>
        </p:nvSpPr>
        <p:spPr>
          <a:xfrm>
            <a:off x="804672" y="960120"/>
            <a:ext cx="10689336" cy="7132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Two partial solutions. Neither solves the whole problem.</a:t>
            </a:r>
            <a:endParaRPr/>
          </a:p>
        </p:txBody>
      </p:sp>
      <p:sp>
        <p:nvSpPr>
          <p:cNvPr id="111" name="Google Shape;111;p4"/>
          <p:cNvSpPr/>
          <p:nvPr/>
        </p:nvSpPr>
        <p:spPr>
          <a:xfrm>
            <a:off x="804672" y="1920240"/>
            <a:ext cx="5148072"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804672" y="1920240"/>
            <a:ext cx="51480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1069848" y="2130552"/>
            <a:ext cx="4654296"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SCHEMA-FIRST RULES</a:t>
            </a:r>
            <a:endParaRPr/>
          </a:p>
        </p:txBody>
      </p:sp>
      <p:sp>
        <p:nvSpPr>
          <p:cNvPr id="114" name="Google Shape;114;p4"/>
          <p:cNvSpPr txBox="1"/>
          <p:nvPr/>
        </p:nvSpPr>
        <p:spPr>
          <a:xfrm>
            <a:off x="1069848" y="2587752"/>
            <a:ext cx="4645152"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Preserve the structure</a:t>
            </a:r>
            <a:endParaRPr/>
          </a:p>
        </p:txBody>
      </p:sp>
      <p:sp>
        <p:nvSpPr>
          <p:cNvPr id="115" name="Google Shape;115;p4"/>
          <p:cNvSpPr txBox="1"/>
          <p:nvPr/>
        </p:nvSpPr>
        <p:spPr>
          <a:xfrm>
            <a:off x="1069848" y="3072384"/>
            <a:ext cx="4526280"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Tables, columns and foreign keys can be mapped systematically.</a:t>
            </a:r>
            <a:endParaRPr/>
          </a:p>
        </p:txBody>
      </p:sp>
      <p:sp>
        <p:nvSpPr>
          <p:cNvPr id="116" name="Google Shape;116;p4"/>
          <p:cNvSpPr txBox="1"/>
          <p:nvPr/>
        </p:nvSpPr>
        <p:spPr>
          <a:xfrm>
            <a:off x="1069848" y="3895344"/>
            <a:ext cx="461772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implicit domain semantics remain missing.</a:t>
            </a:r>
            <a:endParaRPr/>
          </a:p>
        </p:txBody>
      </p:sp>
      <p:sp>
        <p:nvSpPr>
          <p:cNvPr id="117" name="Google Shape;117;p4"/>
          <p:cNvSpPr/>
          <p:nvPr/>
        </p:nvSpPr>
        <p:spPr>
          <a:xfrm>
            <a:off x="6208776" y="1920240"/>
            <a:ext cx="5184648" cy="252374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4"/>
          <p:cNvSpPr/>
          <p:nvPr/>
        </p:nvSpPr>
        <p:spPr>
          <a:xfrm>
            <a:off x="6208776" y="1920240"/>
            <a:ext cx="5184648" cy="64008"/>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9" name="Google Shape;119;p4"/>
          <p:cNvSpPr txBox="1"/>
          <p:nvPr/>
        </p:nvSpPr>
        <p:spPr>
          <a:xfrm>
            <a:off x="6473952" y="2130552"/>
            <a:ext cx="464515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2F6B78"/>
                </a:solidFill>
                <a:latin typeface="Consolas"/>
                <a:ea typeface="Consolas"/>
                <a:cs typeface="Consolas"/>
                <a:sym typeface="Consolas"/>
              </a:rPr>
              <a:t>LLM-FIRST GENERATION</a:t>
            </a:r>
            <a:endParaRPr/>
          </a:p>
        </p:txBody>
      </p:sp>
      <p:sp>
        <p:nvSpPr>
          <p:cNvPr id="120" name="Google Shape;120;p4"/>
          <p:cNvSpPr txBox="1"/>
          <p:nvPr/>
        </p:nvSpPr>
        <p:spPr>
          <a:xfrm>
            <a:off x="6473952" y="2587752"/>
            <a:ext cx="4608576"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100">
                <a:solidFill>
                  <a:srgbClr val="1F2328"/>
                </a:solidFill>
                <a:latin typeface="Calibri"/>
                <a:ea typeface="Calibri"/>
                <a:cs typeface="Calibri"/>
                <a:sym typeface="Calibri"/>
              </a:rPr>
              <a:t>Suggest the meaning</a:t>
            </a:r>
            <a:endParaRPr/>
          </a:p>
        </p:txBody>
      </p:sp>
      <p:sp>
        <p:nvSpPr>
          <p:cNvPr id="121" name="Google Shape;121;p4"/>
          <p:cNvSpPr txBox="1"/>
          <p:nvPr/>
        </p:nvSpPr>
        <p:spPr>
          <a:xfrm>
            <a:off x="6473952" y="3072384"/>
            <a:ext cx="4553712" cy="53949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Labels, concepts and plausible relationships can be proposed.</a:t>
            </a:r>
            <a:endParaRPr/>
          </a:p>
        </p:txBody>
      </p:sp>
      <p:sp>
        <p:nvSpPr>
          <p:cNvPr id="122" name="Google Shape;122;p4"/>
          <p:cNvSpPr txBox="1"/>
          <p:nvPr/>
        </p:nvSpPr>
        <p:spPr>
          <a:xfrm>
            <a:off x="6473952" y="3895344"/>
            <a:ext cx="46634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But elements may be omitted or modeled incorrectly.</a:t>
            </a:r>
            <a:endParaRPr/>
          </a:p>
        </p:txBody>
      </p:sp>
      <p:sp>
        <p:nvSpPr>
          <p:cNvPr id="123" name="Google Shape;123;p4"/>
          <p:cNvSpPr/>
          <p:nvPr/>
        </p:nvSpPr>
        <p:spPr>
          <a:xfrm>
            <a:off x="804672" y="4745736"/>
            <a:ext cx="10588752" cy="96012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4"/>
          <p:cNvSpPr txBox="1"/>
          <p:nvPr/>
        </p:nvSpPr>
        <p:spPr>
          <a:xfrm>
            <a:off x="1051560" y="4919472"/>
            <a:ext cx="2039112"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50">
                <a:solidFill>
                  <a:srgbClr val="0B6E4F"/>
                </a:solidFill>
                <a:latin typeface="Consolas"/>
                <a:ea typeface="Consolas"/>
                <a:cs typeface="Consolas"/>
                <a:sym typeface="Consolas"/>
              </a:rPr>
              <a:t>OUR QUESTION</a:t>
            </a:r>
            <a:endParaRPr/>
          </a:p>
        </p:txBody>
      </p:sp>
      <p:sp>
        <p:nvSpPr>
          <p:cNvPr id="125" name="Google Shape;125;p4"/>
          <p:cNvSpPr txBox="1"/>
          <p:nvPr/>
        </p:nvSpPr>
        <p:spPr>
          <a:xfrm>
            <a:off x="2907792" y="4864608"/>
            <a:ext cx="8156448" cy="667512"/>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800">
                <a:solidFill>
                  <a:srgbClr val="1F2328"/>
                </a:solidFill>
                <a:latin typeface="Calibri"/>
                <a:ea typeface="Calibri"/>
                <a:cs typeface="Calibri"/>
                <a:sym typeface="Calibri"/>
              </a:rPr>
              <a:t>Can we preserve schema fidelity </a:t>
            </a:r>
            <a:r>
              <a:rPr b="1" lang="en-US" sz="1800">
                <a:solidFill>
                  <a:srgbClr val="0B6E4F"/>
                </a:solidFill>
                <a:latin typeface="Calibri"/>
                <a:ea typeface="Calibri"/>
                <a:cs typeface="Calibri"/>
                <a:sym typeface="Calibri"/>
              </a:rPr>
              <a:t>and</a:t>
            </a:r>
            <a:r>
              <a:rPr b="1" lang="en-US" sz="1800">
                <a:solidFill>
                  <a:srgbClr val="1F2328"/>
                </a:solidFill>
                <a:latin typeface="Calibri"/>
                <a:ea typeface="Calibri"/>
                <a:cs typeface="Calibri"/>
                <a:sym typeface="Calibri"/>
              </a:rPr>
              <a:t> add domain semantics,</a:t>
            </a:r>
            <a:br>
              <a:rPr b="1" lang="en-US" sz="1800">
                <a:solidFill>
                  <a:srgbClr val="1F2328"/>
                </a:solidFill>
                <a:latin typeface="Calibri"/>
                <a:ea typeface="Calibri"/>
                <a:cs typeface="Calibri"/>
                <a:sym typeface="Calibri"/>
              </a:rPr>
            </a:br>
            <a:r>
              <a:rPr b="1" lang="en-US" sz="1800">
                <a:solidFill>
                  <a:srgbClr val="1F2328"/>
                </a:solidFill>
                <a:latin typeface="Calibri"/>
                <a:ea typeface="Calibri"/>
                <a:cs typeface="Calibri"/>
                <a:sym typeface="Calibri"/>
              </a:rPr>
              <a:t>across the full database—without expert intervention during generation?</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5"/>
          <p:cNvSpPr txBox="1"/>
          <p:nvPr/>
        </p:nvSpPr>
        <p:spPr>
          <a:xfrm>
            <a:off x="822960" y="521207"/>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OUR ANSWER  /  RIGOR</a:t>
            </a:r>
            <a:endParaRPr/>
          </a:p>
        </p:txBody>
      </p:sp>
      <p:sp>
        <p:nvSpPr>
          <p:cNvPr id="132" name="Google Shape;132;p5"/>
          <p:cNvSpPr txBox="1"/>
          <p:nvPr/>
        </p:nvSpPr>
        <p:spPr>
          <a:xfrm>
            <a:off x="804672" y="978408"/>
            <a:ext cx="1062532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3100">
                <a:solidFill>
                  <a:srgbClr val="1F2328"/>
                </a:solidFill>
                <a:latin typeface="Cambria"/>
                <a:ea typeface="Calibri"/>
                <a:cs typeface="Calibri"/>
                <a:sym typeface="Calibri"/>
              </a:rPr>
              <a:t>Build the ontology one table at a time.</a:t>
            </a:r>
            <a:endParaRPr/>
          </a:p>
        </p:txBody>
      </p:sp>
      <p:sp>
        <p:nvSpPr>
          <p:cNvPr id="133" name="Google Shape;133;p5"/>
          <p:cNvSpPr txBox="1"/>
          <p:nvPr/>
        </p:nvSpPr>
        <p:spPr>
          <a:xfrm>
            <a:off x="804672" y="1673352"/>
            <a:ext cx="10634472"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We will construct the answer to our admission example, together.</a:t>
            </a:r>
            <a:endParaRPr/>
          </a:p>
        </p:txBody>
      </p:sp>
      <p:sp>
        <p:nvSpPr>
          <p:cNvPr id="134" name="Google Shape;134;p5"/>
          <p:cNvSpPr/>
          <p:nvPr/>
        </p:nvSpPr>
        <p:spPr>
          <a:xfrm>
            <a:off x="813816" y="2441448"/>
            <a:ext cx="3026664" cy="226771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txBox="1"/>
          <p:nvPr/>
        </p:nvSpPr>
        <p:spPr>
          <a:xfrm>
            <a:off x="1033271" y="2651760"/>
            <a:ext cx="260604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5B6770"/>
                </a:solidFill>
                <a:latin typeface="Consolas"/>
                <a:ea typeface="Consolas"/>
                <a:cs typeface="Consolas"/>
                <a:sym typeface="Consolas"/>
              </a:rPr>
              <a:t>WHAT WE HAVE</a:t>
            </a:r>
            <a:endParaRPr/>
          </a:p>
        </p:txBody>
      </p:sp>
      <p:sp>
        <p:nvSpPr>
          <p:cNvPr id="136" name="Google Shape;136;p5"/>
          <p:cNvSpPr txBox="1"/>
          <p:nvPr/>
        </p:nvSpPr>
        <p:spPr>
          <a:xfrm>
            <a:off x="1042415" y="3072384"/>
            <a:ext cx="2542032" cy="3017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300">
                <a:solidFill>
                  <a:srgbClr val="1F2328"/>
                </a:solidFill>
                <a:latin typeface="Calibri"/>
                <a:ea typeface="Calibri"/>
                <a:cs typeface="Calibri"/>
                <a:sym typeface="Calibri"/>
              </a:rPr>
              <a:t>admission</a:t>
            </a:r>
            <a:endParaRPr/>
          </a:p>
        </p:txBody>
      </p:sp>
      <p:cxnSp>
        <p:nvCxnSpPr>
          <p:cNvPr id="137" name="Google Shape;137;p5"/>
          <p:cNvCxnSpPr/>
          <p:nvPr/>
        </p:nvCxnSpPr>
        <p:spPr>
          <a:xfrm>
            <a:off x="1033271" y="3456432"/>
            <a:ext cx="2542033" cy="0"/>
          </a:xfrm>
          <a:prstGeom prst="straightConnector1">
            <a:avLst/>
          </a:prstGeom>
          <a:noFill/>
          <a:ln cap="flat" cmpd="sng" w="19050">
            <a:solidFill>
              <a:srgbClr val="8E989E"/>
            </a:solidFill>
            <a:prstDash val="solid"/>
            <a:miter lim="8000"/>
            <a:headEnd len="sm" w="sm" type="none"/>
            <a:tailEnd len="sm" w="sm" type="none"/>
          </a:ln>
        </p:spPr>
      </p:cxnSp>
      <p:sp>
        <p:nvSpPr>
          <p:cNvPr id="138" name="Google Shape;138;p5"/>
          <p:cNvSpPr txBox="1"/>
          <p:nvPr/>
        </p:nvSpPr>
        <p:spPr>
          <a:xfrm>
            <a:off x="1033271" y="3611880"/>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patient_id   FK</a:t>
            </a:r>
            <a:endParaRPr/>
          </a:p>
        </p:txBody>
      </p:sp>
      <p:sp>
        <p:nvSpPr>
          <p:cNvPr id="139" name="Google Shape;139;p5"/>
          <p:cNvSpPr txBox="1"/>
          <p:nvPr/>
        </p:nvSpPr>
        <p:spPr>
          <a:xfrm>
            <a:off x="1033271" y="3904487"/>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BM_DEP       INT</a:t>
            </a:r>
            <a:endParaRPr/>
          </a:p>
        </p:txBody>
      </p:sp>
      <p:sp>
        <p:nvSpPr>
          <p:cNvPr id="140" name="Google Shape;140;p5"/>
          <p:cNvSpPr txBox="1"/>
          <p:nvPr/>
        </p:nvSpPr>
        <p:spPr>
          <a:xfrm>
            <a:off x="1033271" y="4187952"/>
            <a:ext cx="2596896"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onsolas"/>
                <a:ea typeface="Consolas"/>
                <a:cs typeface="Consolas"/>
                <a:sym typeface="Consolas"/>
              </a:rPr>
              <a:t>ecog_stage   INT</a:t>
            </a:r>
            <a:endParaRPr/>
          </a:p>
        </p:txBody>
      </p:sp>
      <p:sp>
        <p:nvSpPr>
          <p:cNvPr id="141" name="Google Shape;141;p5"/>
          <p:cNvSpPr/>
          <p:nvPr/>
        </p:nvSpPr>
        <p:spPr>
          <a:xfrm>
            <a:off x="4123944" y="3282696"/>
            <a:ext cx="557784"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5"/>
          <p:cNvSpPr/>
          <p:nvPr/>
        </p:nvSpPr>
        <p:spPr>
          <a:xfrm>
            <a:off x="5020056" y="2441448"/>
            <a:ext cx="6391656" cy="2267712"/>
          </a:xfrm>
          <a:prstGeom prst="roundRect">
            <a:avLst>
              <a:gd fmla="val 10000"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5257800" y="2642616"/>
            <a:ext cx="584301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WHAT WE WANT</a:t>
            </a:r>
            <a:endParaRPr/>
          </a:p>
        </p:txBody>
      </p:sp>
      <p:sp>
        <p:nvSpPr>
          <p:cNvPr id="144" name="Google Shape;144;p5"/>
          <p:cNvSpPr/>
          <p:nvPr/>
        </p:nvSpPr>
        <p:spPr>
          <a:xfrm>
            <a:off x="5266944" y="3063240"/>
            <a:ext cx="2157984"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5468112" y="3182112"/>
            <a:ext cx="178308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46" name="Google Shape;146;p5"/>
          <p:cNvSpPr/>
          <p:nvPr/>
        </p:nvSpPr>
        <p:spPr>
          <a:xfrm>
            <a:off x="9189720" y="3063240"/>
            <a:ext cx="1938528" cy="493776"/>
          </a:xfrm>
          <a:prstGeom prst="roundRect">
            <a:avLst>
              <a:gd fmla="val 10000" name="adj"/>
            </a:avLst>
          </a:prstGeom>
          <a:solidFill>
            <a:srgbClr val="E9EEEB"/>
          </a:solidFill>
          <a:ln cap="flat" cmpd="sng" w="127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5"/>
          <p:cNvSpPr txBox="1"/>
          <p:nvPr/>
        </p:nvSpPr>
        <p:spPr>
          <a:xfrm>
            <a:off x="9317736" y="3182112"/>
            <a:ext cx="1682496"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700">
                <a:solidFill>
                  <a:srgbClr val="1F2328"/>
                </a:solidFill>
                <a:latin typeface="Calibri"/>
                <a:ea typeface="Calibri"/>
                <a:cs typeface="Calibri"/>
                <a:sym typeface="Calibri"/>
              </a:rPr>
              <a:t>PatientData</a:t>
            </a:r>
            <a:endParaRPr/>
          </a:p>
        </p:txBody>
      </p:sp>
      <p:cxnSp>
        <p:nvCxnSpPr>
          <p:cNvPr id="148" name="Google Shape;148;p5"/>
          <p:cNvCxnSpPr/>
          <p:nvPr/>
        </p:nvCxnSpPr>
        <p:spPr>
          <a:xfrm>
            <a:off x="7452360" y="3310128"/>
            <a:ext cx="1664208" cy="0"/>
          </a:xfrm>
          <a:prstGeom prst="straightConnector1">
            <a:avLst/>
          </a:prstGeom>
          <a:noFill/>
          <a:ln cap="flat" cmpd="sng" w="30475">
            <a:solidFill>
              <a:srgbClr val="0B6E4F"/>
            </a:solidFill>
            <a:prstDash val="solid"/>
            <a:miter lim="8000"/>
            <a:headEnd len="sm" w="sm" type="none"/>
            <a:tailEnd len="med" w="med" type="triangle"/>
          </a:ln>
        </p:spPr>
      </p:cxnSp>
      <p:sp>
        <p:nvSpPr>
          <p:cNvPr id="149" name="Google Shape;149;p5"/>
          <p:cNvSpPr txBox="1"/>
          <p:nvPr/>
        </p:nvSpPr>
        <p:spPr>
          <a:xfrm>
            <a:off x="7470648" y="2980944"/>
            <a:ext cx="1810512" cy="228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hasPatientData</a:t>
            </a:r>
            <a:endParaRPr/>
          </a:p>
        </p:txBody>
      </p:sp>
      <p:sp>
        <p:nvSpPr>
          <p:cNvPr id="150" name="Google Shape;150;p5"/>
          <p:cNvSpPr txBox="1"/>
          <p:nvPr/>
        </p:nvSpPr>
        <p:spPr>
          <a:xfrm>
            <a:off x="5330952" y="3785615"/>
            <a:ext cx="558698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700">
                <a:solidFill>
                  <a:srgbClr val="1F2328"/>
                </a:solidFill>
                <a:latin typeface="Calibri"/>
                <a:ea typeface="Calibri"/>
                <a:cs typeface="Calibri"/>
                <a:sym typeface="Calibri"/>
              </a:rPr>
              <a:t>+ meaningful labels   + encoded values</a:t>
            </a:r>
            <a:endParaRPr/>
          </a:p>
        </p:txBody>
      </p:sp>
      <p:sp>
        <p:nvSpPr>
          <p:cNvPr id="151" name="Google Shape;151;p5"/>
          <p:cNvSpPr txBox="1"/>
          <p:nvPr/>
        </p:nvSpPr>
        <p:spPr>
          <a:xfrm>
            <a:off x="5330952" y="4151376"/>
            <a:ext cx="5586984"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50">
                <a:solidFill>
                  <a:srgbClr val="3A434C"/>
                </a:solidFill>
                <a:latin typeface="Calibri"/>
                <a:ea typeface="Calibri"/>
                <a:cs typeface="Calibri"/>
                <a:sym typeface="Calibri"/>
              </a:rPr>
              <a:t>+ provenance   + justified axioms / links</a:t>
            </a:r>
            <a:endParaRPr/>
          </a:p>
        </p:txBody>
      </p:sp>
      <p:sp>
        <p:nvSpPr>
          <p:cNvPr id="152" name="Google Shape;152;p5"/>
          <p:cNvSpPr txBox="1"/>
          <p:nvPr/>
        </p:nvSpPr>
        <p:spPr>
          <a:xfrm>
            <a:off x="859536" y="5020056"/>
            <a:ext cx="10460736" cy="42976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We need to preserve structure, discover meaning, and prevent mistakes—at database scale.</a:t>
            </a:r>
            <a:endParaRPr/>
          </a:p>
        </p:txBody>
      </p:sp>
      <p:sp>
        <p:nvSpPr>
          <p:cNvPr id="153" name="Google Shape;153;p5"/>
          <p:cNvSpPr/>
          <p:nvPr/>
        </p:nvSpPr>
        <p:spPr>
          <a:xfrm>
            <a:off x="80467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4" name="Google Shape;154;p5"/>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1  ORDER</a:t>
            </a:r>
            <a:endParaRPr/>
          </a:p>
        </p:txBody>
      </p:sp>
      <p:sp>
        <p:nvSpPr>
          <p:cNvPr id="155" name="Google Shape;155;p5"/>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5"/>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57" name="Google Shape;157;p5"/>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8" name="Google Shape;158;p5"/>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159" name="Google Shape;159;p5"/>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5"/>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161" name="Google Shape;161;p5"/>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5"/>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163" name="Google Shape;163;p5"/>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4" name="Google Shape;164;p5"/>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165" name="Added 165"/>
          <p:cNvSpPr txBox="1"/>
          <p:nvPr/>
        </p:nvSpPr>
        <p:spPr>
          <a:xfrm>
            <a:off x="859536" y="6272784"/>
            <a:ext cx="10460736" cy="29260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a:solidFill>
                  <a:srgbClr val="0B6E4F"/>
                </a:solidFill>
                <a:latin typeface="Calibri"/>
                <a:ea typeface="Calibri"/>
                <a:cs typeface="Calibri"/>
                <a:sym typeface="Calibri"/>
              </a:rPr>
              <a:t>RESULT PREVIEW   </a:t>
            </a:r>
            <a:r>
              <a:rPr b="0" i="0" lang="en-US" sz="1300">
                <a:solidFill>
                  <a:srgbClr val="5B6770"/>
                </a:solidFill>
                <a:latin typeface="Calibri"/>
                <a:ea typeface="Calibri"/>
                <a:cs typeface="Calibri"/>
                <a:sym typeface="Calibri"/>
              </a:rPr>
              <a:t>Ranked first in 70% of expert rankings  ·  highest BURR F1 among compared ontology-learning systems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6"/>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1 / ORDER</a:t>
            </a:r>
            <a:endParaRPr/>
          </a:p>
        </p:txBody>
      </p:sp>
      <p:sp>
        <p:nvSpPr>
          <p:cNvPr id="171" name="Google Shape;171;p6"/>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To understand this table, build its parent first.</a:t>
            </a:r>
            <a:endParaRPr/>
          </a:p>
        </p:txBody>
      </p:sp>
      <p:sp>
        <p:nvSpPr>
          <p:cNvPr id="172" name="Google Shape;172;p6"/>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We follow foreign-key dependencies, so known concepts are available when needed.</a:t>
            </a:r>
            <a:endParaRPr/>
          </a:p>
        </p:txBody>
      </p:sp>
      <p:sp>
        <p:nvSpPr>
          <p:cNvPr id="173" name="Google Shape;173;p6"/>
          <p:cNvSpPr/>
          <p:nvPr/>
        </p:nvSpPr>
        <p:spPr>
          <a:xfrm>
            <a:off x="822960" y="2130552"/>
            <a:ext cx="4910328"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6"/>
          <p:cNvSpPr txBox="1"/>
          <p:nvPr/>
        </p:nvSpPr>
        <p:spPr>
          <a:xfrm>
            <a:off x="1069848" y="2313432"/>
            <a:ext cx="448056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DATABASE DEPENDENCIES</a:t>
            </a:r>
            <a:endParaRPr/>
          </a:p>
        </p:txBody>
      </p:sp>
      <p:sp>
        <p:nvSpPr>
          <p:cNvPr id="175" name="Google Shape;175;p6"/>
          <p:cNvSpPr/>
          <p:nvPr/>
        </p:nvSpPr>
        <p:spPr>
          <a:xfrm>
            <a:off x="1143000" y="2816352"/>
            <a:ext cx="1874519" cy="850392"/>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6" name="Google Shape;176;p6"/>
          <p:cNvSpPr txBox="1"/>
          <p:nvPr/>
        </p:nvSpPr>
        <p:spPr>
          <a:xfrm>
            <a:off x="1280160" y="2944368"/>
            <a:ext cx="160934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PatientData</a:t>
            </a:r>
            <a:endParaRPr/>
          </a:p>
        </p:txBody>
      </p:sp>
      <p:sp>
        <p:nvSpPr>
          <p:cNvPr id="177" name="Google Shape;177;p6"/>
          <p:cNvSpPr txBox="1"/>
          <p:nvPr/>
        </p:nvSpPr>
        <p:spPr>
          <a:xfrm>
            <a:off x="1280160" y="3227832"/>
            <a:ext cx="1673352"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400">
                <a:solidFill>
                  <a:srgbClr val="5B6770"/>
                </a:solidFill>
                <a:latin typeface="Calibri"/>
                <a:ea typeface="Calibri"/>
                <a:cs typeface="Calibri"/>
                <a:sym typeface="Calibri"/>
              </a:rPr>
              <a:t>No FKs</a:t>
            </a:r>
            <a:endParaRPr/>
          </a:p>
        </p:txBody>
      </p:sp>
      <p:sp>
        <p:nvSpPr>
          <p:cNvPr id="178" name="Google Shape;178;p6"/>
          <p:cNvSpPr/>
          <p:nvPr/>
        </p:nvSpPr>
        <p:spPr>
          <a:xfrm>
            <a:off x="3758184" y="2816352"/>
            <a:ext cx="1709928" cy="850392"/>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txBox="1"/>
          <p:nvPr/>
        </p:nvSpPr>
        <p:spPr>
          <a:xfrm>
            <a:off x="3904487" y="2944368"/>
            <a:ext cx="144475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a:solidFill>
                  <a:srgbClr val="1F2328"/>
                </a:solidFill>
                <a:latin typeface="Calibri"/>
                <a:ea typeface="Calibri"/>
                <a:cs typeface="Calibri"/>
                <a:sym typeface="Calibri"/>
              </a:rPr>
              <a:t>admission</a:t>
            </a:r>
            <a:endParaRPr/>
          </a:p>
        </p:txBody>
      </p:sp>
      <p:sp>
        <p:nvSpPr>
          <p:cNvPr id="180" name="Google Shape;180;p6"/>
          <p:cNvSpPr txBox="1"/>
          <p:nvPr/>
        </p:nvSpPr>
        <p:spPr>
          <a:xfrm>
            <a:off x="3895344" y="3227832"/>
            <a:ext cx="1499616"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400">
                <a:solidFill>
                  <a:srgbClr val="5B6770"/>
                </a:solidFill>
                <a:latin typeface="Consolas"/>
                <a:ea typeface="Consolas"/>
                <a:cs typeface="Consolas"/>
                <a:sym typeface="Consolas"/>
              </a:rPr>
              <a:t>patient_id FK</a:t>
            </a:r>
            <a:endParaRPr/>
          </a:p>
        </p:txBody>
      </p:sp>
      <p:cxnSp>
        <p:nvCxnSpPr>
          <p:cNvPr id="181" name="Google Shape;181;p6"/>
          <p:cNvCxnSpPr/>
          <p:nvPr/>
        </p:nvCxnSpPr>
        <p:spPr>
          <a:xfrm rot="10800000">
            <a:off x="3099816" y="3255264"/>
            <a:ext cx="594360" cy="0"/>
          </a:xfrm>
          <a:prstGeom prst="straightConnector1">
            <a:avLst/>
          </a:prstGeom>
          <a:noFill/>
          <a:ln cap="flat" cmpd="sng" w="30475">
            <a:solidFill>
              <a:srgbClr val="3A7D8C"/>
            </a:solidFill>
            <a:prstDash val="solid"/>
            <a:miter lim="8000"/>
            <a:headEnd len="sm" w="sm" type="none"/>
            <a:tailEnd len="med" w="med" type="triangle"/>
          </a:ln>
        </p:spPr>
      </p:cxnSp>
      <p:sp>
        <p:nvSpPr>
          <p:cNvPr id="182" name="Google Shape;182;p6"/>
          <p:cNvSpPr txBox="1"/>
          <p:nvPr/>
        </p:nvSpPr>
        <p:spPr>
          <a:xfrm>
            <a:off x="2350008" y="3877056"/>
            <a:ext cx="1874519" cy="283464"/>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400">
                <a:solidFill>
                  <a:srgbClr val="5B6770"/>
                </a:solidFill>
                <a:latin typeface="Calibri"/>
                <a:ea typeface="Calibri"/>
                <a:cs typeface="Calibri"/>
                <a:sym typeface="Calibri"/>
              </a:rPr>
              <a:t>FK points to parent</a:t>
            </a:r>
            <a:endParaRPr/>
          </a:p>
        </p:txBody>
      </p:sp>
      <p:sp>
        <p:nvSpPr>
          <p:cNvPr id="183" name="Google Shape;183;p6"/>
          <p:cNvSpPr/>
          <p:nvPr/>
        </p:nvSpPr>
        <p:spPr>
          <a:xfrm>
            <a:off x="5961888" y="2130552"/>
            <a:ext cx="5376672" cy="256946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4" name="Google Shape;184;p6"/>
          <p:cNvSpPr txBox="1"/>
          <p:nvPr/>
        </p:nvSpPr>
        <p:spPr>
          <a:xfrm>
            <a:off x="6208776" y="2313432"/>
            <a:ext cx="4837176"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PROCESSING ORDER  /  OUTPUT</a:t>
            </a:r>
            <a:endParaRPr/>
          </a:p>
        </p:txBody>
      </p:sp>
      <p:sp>
        <p:nvSpPr>
          <p:cNvPr id="185" name="Google Shape;185;p6"/>
          <p:cNvSpPr/>
          <p:nvPr/>
        </p:nvSpPr>
        <p:spPr>
          <a:xfrm>
            <a:off x="6300216" y="2807208"/>
            <a:ext cx="1901952" cy="1051560"/>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6"/>
          <p:cNvSpPr txBox="1"/>
          <p:nvPr/>
        </p:nvSpPr>
        <p:spPr>
          <a:xfrm>
            <a:off x="6455664" y="2971800"/>
            <a:ext cx="1554480"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 = 1</a:t>
            </a:r>
            <a:endParaRPr/>
          </a:p>
        </p:txBody>
      </p:sp>
      <p:sp>
        <p:nvSpPr>
          <p:cNvPr id="187" name="Google Shape;187;p6"/>
          <p:cNvSpPr txBox="1"/>
          <p:nvPr/>
        </p:nvSpPr>
        <p:spPr>
          <a:xfrm>
            <a:off x="6446520" y="3255264"/>
            <a:ext cx="1563624"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cxnSp>
        <p:nvCxnSpPr>
          <p:cNvPr id="188" name="Google Shape;188;p6"/>
          <p:cNvCxnSpPr/>
          <p:nvPr/>
        </p:nvCxnSpPr>
        <p:spPr>
          <a:xfrm>
            <a:off x="8311896" y="3310128"/>
            <a:ext cx="420624" cy="0"/>
          </a:xfrm>
          <a:prstGeom prst="straightConnector1">
            <a:avLst/>
          </a:prstGeom>
          <a:noFill/>
          <a:ln cap="flat" cmpd="sng" w="31750">
            <a:solidFill>
              <a:srgbClr val="0B6E4F"/>
            </a:solidFill>
            <a:prstDash val="solid"/>
            <a:miter lim="8000"/>
            <a:headEnd len="sm" w="sm" type="none"/>
            <a:tailEnd len="med" w="med" type="triangle"/>
          </a:ln>
        </p:spPr>
      </p:cxnSp>
      <p:sp>
        <p:nvSpPr>
          <p:cNvPr id="189" name="Google Shape;189;p6"/>
          <p:cNvSpPr/>
          <p:nvPr/>
        </p:nvSpPr>
        <p:spPr>
          <a:xfrm>
            <a:off x="8833104" y="2807208"/>
            <a:ext cx="2112264" cy="1051560"/>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6"/>
          <p:cNvSpPr txBox="1"/>
          <p:nvPr/>
        </p:nvSpPr>
        <p:spPr>
          <a:xfrm>
            <a:off x="8988552" y="2971800"/>
            <a:ext cx="176479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2F6B78"/>
                </a:solidFill>
                <a:latin typeface="Consolas"/>
                <a:ea typeface="Consolas"/>
                <a:cs typeface="Consolas"/>
                <a:sym typeface="Consolas"/>
              </a:rPr>
              <a:t>t = 2</a:t>
            </a:r>
            <a:endParaRPr/>
          </a:p>
        </p:txBody>
      </p:sp>
      <p:sp>
        <p:nvSpPr>
          <p:cNvPr id="191" name="Google Shape;191;p6"/>
          <p:cNvSpPr txBox="1"/>
          <p:nvPr/>
        </p:nvSpPr>
        <p:spPr>
          <a:xfrm>
            <a:off x="8988552" y="3255264"/>
            <a:ext cx="1764792"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192" name="Google Shape;192;p6"/>
          <p:cNvSpPr txBox="1"/>
          <p:nvPr/>
        </p:nvSpPr>
        <p:spPr>
          <a:xfrm>
            <a:off x="6190488" y="4133087"/>
            <a:ext cx="4882896" cy="3840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Before generating Admission, PatientData already exists in the core ontology.</a:t>
            </a:r>
            <a:endParaRPr/>
          </a:p>
        </p:txBody>
      </p:sp>
      <p:sp>
        <p:nvSpPr>
          <p:cNvPr id="193" name="Google Shape;193;p6"/>
          <p:cNvSpPr/>
          <p:nvPr/>
        </p:nvSpPr>
        <p:spPr>
          <a:xfrm>
            <a:off x="822960" y="4956048"/>
            <a:ext cx="10515600" cy="475488"/>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6"/>
          <p:cNvSpPr txBox="1"/>
          <p:nvPr/>
        </p:nvSpPr>
        <p:spPr>
          <a:xfrm>
            <a:off x="1014984" y="5056632"/>
            <a:ext cx="10168128" cy="246888"/>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500">
                <a:solidFill>
                  <a:srgbClr val="0B6E4F"/>
                </a:solidFill>
                <a:latin typeface="Calibri"/>
                <a:ea typeface="Calibri"/>
                <a:cs typeface="Calibri"/>
                <a:sym typeface="Calibri"/>
              </a:rPr>
              <a:t>WHY IT MATTERS   </a:t>
            </a:r>
            <a:r>
              <a:rPr b="0" lang="en-US" sz="1500">
                <a:solidFill>
                  <a:srgbClr val="1F2328"/>
                </a:solidFill>
                <a:latin typeface="Calibri"/>
                <a:ea typeface="Calibri"/>
                <a:cs typeface="Calibri"/>
                <a:sym typeface="Calibri"/>
              </a:rPr>
              <a:t>The next fragment can reuse known classes and IRIs instead of inventing duplicates.</a:t>
            </a:r>
            <a:endParaRPr/>
          </a:p>
        </p:txBody>
      </p:sp>
      <p:sp>
        <p:nvSpPr>
          <p:cNvPr id="195" name="Google Shape;195;p6"/>
          <p:cNvSpPr/>
          <p:nvPr/>
        </p:nvSpPr>
        <p:spPr>
          <a:xfrm>
            <a:off x="80467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6"/>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1  ORDER</a:t>
            </a:r>
            <a:endParaRPr/>
          </a:p>
        </p:txBody>
      </p:sp>
      <p:sp>
        <p:nvSpPr>
          <p:cNvPr id="197" name="Google Shape;197;p6"/>
          <p:cNvSpPr/>
          <p:nvPr/>
        </p:nvSpPr>
        <p:spPr>
          <a:xfrm>
            <a:off x="2642615"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8" name="Google Shape;198;p6"/>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2  SEED</a:t>
            </a:r>
            <a:endParaRPr/>
          </a:p>
        </p:txBody>
      </p:sp>
      <p:sp>
        <p:nvSpPr>
          <p:cNvPr id="199" name="Google Shape;199;p6"/>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0" name="Google Shape;200;p6"/>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01" name="Google Shape;201;p6"/>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p6"/>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03" name="Google Shape;203;p6"/>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6"/>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05" name="Google Shape;205;p6"/>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6"/>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7"/>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2 / SEED</a:t>
            </a:r>
            <a:endParaRPr/>
          </a:p>
        </p:txBody>
      </p:sp>
      <p:sp>
        <p:nvSpPr>
          <p:cNvPr id="213" name="Google Shape;213;p7"/>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Guarantee schema coverage before LLM enrichment.</a:t>
            </a:r>
            <a:endParaRPr/>
          </a:p>
        </p:txBody>
      </p:sp>
      <p:sp>
        <p:nvSpPr>
          <p:cNvPr id="214" name="Google Shape;214;p7"/>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Direct Mapping (DMᵣ) represents every column in the cleaned table before generation.</a:t>
            </a:r>
            <a:endParaRPr/>
          </a:p>
        </p:txBody>
      </p:sp>
      <p:sp>
        <p:nvSpPr>
          <p:cNvPr id="215" name="Google Shape;215;p7"/>
          <p:cNvSpPr/>
          <p:nvPr/>
        </p:nvSpPr>
        <p:spPr>
          <a:xfrm>
            <a:off x="813816" y="2048256"/>
            <a:ext cx="3685032" cy="292608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7"/>
          <p:cNvSpPr txBox="1"/>
          <p:nvPr/>
        </p:nvSpPr>
        <p:spPr>
          <a:xfrm>
            <a:off x="1042415" y="2203704"/>
            <a:ext cx="32644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INPUT  /  admission (excerpt)</a:t>
            </a:r>
            <a:endParaRPr sz="1500"/>
          </a:p>
        </p:txBody>
      </p:sp>
      <p:sp>
        <p:nvSpPr>
          <p:cNvPr id="217" name="Google Shape;217;p7"/>
          <p:cNvSpPr/>
          <p:nvPr/>
        </p:nvSpPr>
        <p:spPr>
          <a:xfrm>
            <a:off x="1060704" y="2752344"/>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7"/>
          <p:cNvSpPr txBox="1"/>
          <p:nvPr/>
        </p:nvSpPr>
        <p:spPr>
          <a:xfrm>
            <a:off x="1188720" y="2852927"/>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patient_id</a:t>
            </a:r>
            <a:endParaRPr/>
          </a:p>
        </p:txBody>
      </p:sp>
      <p:sp>
        <p:nvSpPr>
          <p:cNvPr id="219" name="Google Shape;219;p7"/>
          <p:cNvSpPr txBox="1"/>
          <p:nvPr/>
        </p:nvSpPr>
        <p:spPr>
          <a:xfrm>
            <a:off x="2615184" y="2834639"/>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250">
                <a:solidFill>
                  <a:srgbClr val="5B6770"/>
                </a:solidFill>
                <a:latin typeface="Consolas"/>
                <a:ea typeface="Consolas"/>
                <a:cs typeface="Consolas"/>
                <a:sym typeface="Consolas"/>
              </a:rPr>
              <a:t>FK → PatientData</a:t>
            </a:r>
            <a:endParaRPr sz="1250"/>
          </a:p>
        </p:txBody>
      </p:sp>
      <p:sp>
        <p:nvSpPr>
          <p:cNvPr id="220" name="Google Shape;220;p7"/>
          <p:cNvSpPr/>
          <p:nvPr/>
        </p:nvSpPr>
        <p:spPr>
          <a:xfrm>
            <a:off x="1060704" y="3319272"/>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txBox="1"/>
          <p:nvPr/>
        </p:nvSpPr>
        <p:spPr>
          <a:xfrm>
            <a:off x="1188720" y="3419856"/>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BM_DEP</a:t>
            </a:r>
            <a:endParaRPr/>
          </a:p>
        </p:txBody>
      </p:sp>
      <p:sp>
        <p:nvSpPr>
          <p:cNvPr id="222" name="Google Shape;222;p7"/>
          <p:cNvSpPr txBox="1"/>
          <p:nvPr/>
        </p:nvSpPr>
        <p:spPr>
          <a:xfrm>
            <a:off x="2615184" y="3401568"/>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3" name="Google Shape;223;p7"/>
          <p:cNvSpPr/>
          <p:nvPr/>
        </p:nvSpPr>
        <p:spPr>
          <a:xfrm>
            <a:off x="1060704" y="3886200"/>
            <a:ext cx="3154680" cy="448056"/>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7"/>
          <p:cNvSpPr txBox="1"/>
          <p:nvPr/>
        </p:nvSpPr>
        <p:spPr>
          <a:xfrm>
            <a:off x="1188720" y="3986784"/>
            <a:ext cx="1417320" cy="21945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70">
                <a:solidFill>
                  <a:srgbClr val="1F2328"/>
                </a:solidFill>
                <a:latin typeface="Consolas"/>
                <a:ea typeface="Consolas"/>
                <a:cs typeface="Consolas"/>
                <a:sym typeface="Consolas"/>
              </a:rPr>
              <a:t>ecog_stage</a:t>
            </a:r>
            <a:endParaRPr/>
          </a:p>
        </p:txBody>
      </p:sp>
      <p:sp>
        <p:nvSpPr>
          <p:cNvPr id="225" name="Google Shape;225;p7"/>
          <p:cNvSpPr txBox="1"/>
          <p:nvPr/>
        </p:nvSpPr>
        <p:spPr>
          <a:xfrm>
            <a:off x="2615184" y="3968496"/>
            <a:ext cx="1490472" cy="246888"/>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0" i="0" lang="en-US" sz="1400">
                <a:solidFill>
                  <a:srgbClr val="5B6770"/>
                </a:solidFill>
                <a:latin typeface="Consolas"/>
                <a:ea typeface="Consolas"/>
                <a:cs typeface="Consolas"/>
                <a:sym typeface="Consolas"/>
              </a:rPr>
              <a:t>INT</a:t>
            </a:r>
            <a:endParaRPr/>
          </a:p>
        </p:txBody>
      </p:sp>
      <p:sp>
        <p:nvSpPr>
          <p:cNvPr id="226" name="Google Shape;226;p7"/>
          <p:cNvSpPr txBox="1"/>
          <p:nvPr/>
        </p:nvSpPr>
        <p:spPr>
          <a:xfrm>
            <a:off x="1088136" y="4645152"/>
            <a:ext cx="3209544"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400">
                <a:solidFill>
                  <a:srgbClr val="5B6770"/>
                </a:solidFill>
                <a:latin typeface="Calibri"/>
                <a:ea typeface="Calibri"/>
                <a:cs typeface="Calibri"/>
                <a:sym typeface="Calibri"/>
              </a:rPr>
              <a:t>Other columns are also mapped.</a:t>
            </a:r>
            <a:endParaRPr/>
          </a:p>
        </p:txBody>
      </p:sp>
      <p:sp>
        <p:nvSpPr>
          <p:cNvPr id="227" name="Google Shape;227;p7"/>
          <p:cNvSpPr/>
          <p:nvPr/>
        </p:nvSpPr>
        <p:spPr>
          <a:xfrm>
            <a:off x="4672584" y="3255264"/>
            <a:ext cx="612648" cy="475488"/>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7"/>
          <p:cNvSpPr/>
          <p:nvPr/>
        </p:nvSpPr>
        <p:spPr>
          <a:xfrm>
            <a:off x="5458968" y="2048256"/>
            <a:ext cx="5879592" cy="2926080"/>
          </a:xfrm>
          <a:prstGeom prst="roundRect">
            <a:avLst>
              <a:gd fmla="val 10000" name="adj"/>
            </a:avLst>
          </a:prstGeom>
          <a:solidFill>
            <a:srgbClr val="FFFFFF"/>
          </a:solidFill>
          <a:ln cap="flat" cmpd="sng" w="1905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7"/>
          <p:cNvSpPr txBox="1"/>
          <p:nvPr/>
        </p:nvSpPr>
        <p:spPr>
          <a:xfrm>
            <a:off x="5669280" y="2203704"/>
            <a:ext cx="5321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00">
                <a:solidFill>
                  <a:srgbClr val="0B6E4F"/>
                </a:solidFill>
                <a:latin typeface="Consolas"/>
                <a:ea typeface="Consolas"/>
                <a:cs typeface="Consolas"/>
                <a:sym typeface="Consolas"/>
              </a:rPr>
              <a:t>OUTPUT  /  DMr (excerpt) — NO LLM</a:t>
            </a:r>
            <a:endParaRPr sz="1500"/>
          </a:p>
        </p:txBody>
      </p:sp>
      <p:sp>
        <p:nvSpPr>
          <p:cNvPr id="238" name="Google Shape;238;p7"/>
          <p:cNvSpPr/>
          <p:nvPr/>
        </p:nvSpPr>
        <p:spPr>
          <a:xfrm>
            <a:off x="822960" y="5166360"/>
            <a:ext cx="10515600" cy="3657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7"/>
          <p:cNvSpPr txBox="1"/>
          <p:nvPr/>
        </p:nvSpPr>
        <p:spPr>
          <a:xfrm>
            <a:off x="1024128" y="5248656"/>
            <a:ext cx="10131552" cy="23774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GUARANTEE   Every cleaned-schema column is represented in the deterministic seed.</a:t>
            </a:r>
            <a:r>
              <a:rPr b="0" lang="en-US" sz="1550">
                <a:solidFill>
                  <a:srgbClr val="1F2328"/>
                </a:solidFill>
                <a:latin typeface="Calibri"/>
                <a:ea typeface="Calibri"/>
                <a:cs typeface="Calibri"/>
                <a:sym typeface="Calibri"/>
              </a:rPr>
              <a:t/>
            </a:r>
            <a:endParaRPr/>
          </a:p>
        </p:txBody>
      </p:sp>
      <p:sp>
        <p:nvSpPr>
          <p:cNvPr id="240" name="Google Shape;240;p7"/>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7"/>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42" name="Google Shape;242;p7"/>
          <p:cNvSpPr/>
          <p:nvPr/>
        </p:nvSpPr>
        <p:spPr>
          <a:xfrm>
            <a:off x="2642615"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7"/>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2  SEED</a:t>
            </a:r>
            <a:endParaRPr/>
          </a:p>
        </p:txBody>
      </p:sp>
      <p:sp>
        <p:nvSpPr>
          <p:cNvPr id="244" name="Google Shape;244;p7"/>
          <p:cNvSpPr/>
          <p:nvPr/>
        </p:nvSpPr>
        <p:spPr>
          <a:xfrm>
            <a:off x="4480559"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7"/>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3  RETRIEVE</a:t>
            </a:r>
            <a:endParaRPr/>
          </a:p>
        </p:txBody>
      </p:sp>
      <p:sp>
        <p:nvSpPr>
          <p:cNvPr id="246" name="Google Shape;246;p7"/>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7"/>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48" name="Google Shape;248;p7"/>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7"/>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50" name="Google Shape;250;p7"/>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7"/>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252" name="Code 252" descr="OWL Manchester Syntax excerpt"/>
          <p:cNvSpPr txBox="1"/>
          <p:nvPr/>
        </p:nvSpPr>
        <p:spPr>
          <a:xfrm>
            <a:off x="5733288" y="2697480"/>
            <a:ext cx="5266944" cy="1956816"/>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600"/>
              </a:lnSpc>
              <a:spcBef>
                <a:spcPts val="0"/>
              </a:spcBef>
              <a:tabLst>
                <a:tab pos="3246120" algn="l"/>
              </a:tabLst>
            </a:pPr>
            <a:r>
              <a:rPr lang="en-US" sz="1400" b="1" i="0" dirty="0">
                <a:solidFill>
                  <a:srgbClr val="0B6E4F"/>
                </a:solidFill>
                <a:latin typeface="Consolas"/>
                <a:cs typeface="Consolas"/>
              </a:rPr>
              <a:t xml:space="preserve">Class:</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Admission</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SubClassOf:</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some</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PatientData</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each has a patient</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r>
              <a:rPr lang="en-US" sz="1400" b="0" i="0" dirty="0">
                <a:solidFill>
                  <a:srgbClr val="1F2328"/>
                </a:solidFill>
                <a:latin typeface="Consolas"/>
                <a:cs typeface="Consolas"/>
              </a:rPr>
              <a:t xml:space="preserve">,</a:t>
            </a:r>
            <a:r>
              <a:rPr lang="en-US" sz="1200" b="0" i="1" dirty="0">
                <a:solidFill>
                  <a:srgbClr val="5B6770"/>
                </a:solidFill>
                <a:latin typeface="Calibri"/>
                <a:cs typeface="Calibri"/>
              </a:rPr>
              <a:t xml:space="preserve">	← if present, an integer</a:t>
            </a:r>
            <a:endParaRPr lang="en-US" sz="1400"/>
          </a:p>
          <a:p>
            <a:pPr>
              <a:lnSpc>
                <a:spcPts val="1600"/>
              </a:lnSpc>
              <a:spcBef>
                <a:spcPts val="0"/>
              </a:spcBef>
              <a:tabLst>
                <a:tab pos="3246120" algn="l"/>
              </a:tabLst>
            </a:pP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r>
              <a:rPr lang="en-US" sz="1400" b="0" i="0" dirty="0">
                <a:solidFill>
                  <a:srgbClr val="1F2328"/>
                </a:solidFill>
                <a:latin typeface="Consolas"/>
                <a:cs typeface="Consolas"/>
              </a:rPr>
              <a:t xml:space="preserve"> </a:t>
            </a:r>
            <a:r>
              <a:rPr lang="en-US" sz="1400" b="1" i="0" dirty="0">
                <a:solidFill>
                  <a:srgbClr val="0B6E4F"/>
                </a:solidFill>
                <a:latin typeface="Consolas"/>
                <a:cs typeface="Consolas"/>
              </a:rPr>
              <a:t xml:space="preserve">only</a:t>
            </a:r>
            <a:r>
              <a:rPr lang="en-US" sz="1400" b="0" i="0" dirty="0">
                <a:solidFill>
                  <a:srgbClr val="1F2328"/>
                </a:solidFill>
                <a:latin typeface="Consolas"/>
                <a:cs typeface="Consolas"/>
              </a:rPr>
              <a:t xml:space="preserve"> </a:t>
            </a:r>
            <a:r>
              <a:rPr lang="en-US" sz="1400" b="0" i="0" dirty="0">
                <a:solidFill>
                  <a:srgbClr val="6F42C1"/>
                </a:solidFill>
                <a:latin typeface="Consolas"/>
                <a:cs typeface="Consolas"/>
              </a:rPr>
              <a:t xml:space="preserve">xsd:integer</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ObjectProperty: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patient_id</a:t>
            </a:r>
            <a:r>
              <a:rPr lang="en-US" sz="1200" b="0" i="1" dirty="0">
                <a:solidFill>
                  <a:srgbClr val="5B6770"/>
                </a:solidFill>
                <a:latin typeface="Calibri"/>
                <a:cs typeface="Calibri"/>
              </a:rPr>
              <a:t xml:space="preserve">	← the FK becomes a link</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BM_DEP</a:t>
            </a:r>
            <a:endParaRPr lang="en-US" sz="1400"/>
          </a:p>
          <a:p>
            <a:pPr>
              <a:lnSpc>
                <a:spcPts val="1600"/>
              </a:lnSpc>
              <a:spcBef>
                <a:spcPts val="0"/>
              </a:spcBef>
              <a:tabLst>
                <a:tab pos="3246120" algn="l"/>
              </a:tabLst>
            </a:pPr>
            <a:r>
              <a:rPr lang="en-US" sz="1400" b="1" i="0" dirty="0">
                <a:solidFill>
                  <a:srgbClr val="0B6E4F"/>
                </a:solidFill>
                <a:latin typeface="Consolas"/>
                <a:cs typeface="Consolas"/>
              </a:rPr>
              <a:t xml:space="preserve">DataProperty:</a:t>
            </a:r>
            <a:r>
              <a:rPr lang="en-US" sz="1400" b="0" i="0" dirty="0">
                <a:solidFill>
                  <a:srgbClr val="1F2328"/>
                </a:solidFill>
                <a:latin typeface="Consolas"/>
                <a:cs typeface="Consolas"/>
              </a:rPr>
              <a:t xml:space="preserve"> </a:t>
            </a:r>
            <a:r>
              <a:rPr lang="en-US" sz="1400" b="0" i="0" dirty="0">
                <a:solidFill>
                  <a:srgbClr val="1F2328"/>
                </a:solidFill>
                <a:latin typeface="Consolas"/>
                <a:cs typeface="Consolas"/>
              </a:rPr>
              <a:t xml:space="preserve">ecog_stage</a:t>
            </a:r>
            <a:endParaRPr lang="en-US" sz="1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3 / RETRIEVE</a:t>
            </a:r>
            <a:endParaRPr/>
          </a:p>
        </p:txBody>
      </p:sp>
      <p:sp>
        <p:nvSpPr>
          <p:cNvPr id="258" name="Google Shape;258;p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draft is structurally faithful—but what does it mean?</a:t>
            </a:r>
            <a:endParaRPr/>
          </a:p>
        </p:txBody>
      </p:sp>
      <p:sp>
        <p:nvSpPr>
          <p:cNvPr id="259" name="Google Shape;259;p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RIGOR gathers a small context package from three complementary sources.</a:t>
            </a:r>
            <a:endParaRPr/>
          </a:p>
        </p:txBody>
      </p:sp>
      <p:sp>
        <p:nvSpPr>
          <p:cNvPr id="260" name="Google Shape;260;p8"/>
          <p:cNvSpPr/>
          <p:nvPr/>
        </p:nvSpPr>
        <p:spPr>
          <a:xfrm>
            <a:off x="822960"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1" name="Google Shape;261;p8"/>
          <p:cNvSpPr/>
          <p:nvPr/>
        </p:nvSpPr>
        <p:spPr>
          <a:xfrm>
            <a:off x="822960"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8"/>
          <p:cNvSpPr txBox="1"/>
          <p:nvPr/>
        </p:nvSpPr>
        <p:spPr>
          <a:xfrm>
            <a:off x="1005840"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1  DOCUMENTATION</a:t>
            </a:r>
            <a:endParaRPr/>
          </a:p>
        </p:txBody>
      </p:sp>
      <p:sp>
        <p:nvSpPr>
          <p:cNvPr id="263" name="Google Shape;263;p8"/>
          <p:cNvSpPr txBox="1"/>
          <p:nvPr/>
        </p:nvSpPr>
        <p:spPr>
          <a:xfrm>
            <a:off x="1005840"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do column names mean?</a:t>
            </a:r>
            <a:endParaRPr/>
          </a:p>
        </p:txBody>
      </p:sp>
      <p:sp>
        <p:nvSpPr>
          <p:cNvPr id="264" name="Google Shape;264;p8"/>
          <p:cNvSpPr/>
          <p:nvPr/>
        </p:nvSpPr>
        <p:spPr>
          <a:xfrm>
            <a:off x="996696"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8"/>
          <p:cNvSpPr txBox="1"/>
          <p:nvPr/>
        </p:nvSpPr>
        <p:spPr>
          <a:xfrm>
            <a:off x="1124712" y="3511296"/>
            <a:ext cx="2706624" cy="54864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BM_DEP → Bone Marrow</a:t>
            </a:r>
            <a:endParaRPr/>
          </a:p>
          <a:p>
            <a:pPr indent="0" lvl="0" marL="0" marR="0" rtl="0" algn="l">
              <a:lnSpc>
                <a:spcPct val="106000"/>
              </a:lnSpc>
              <a:spcBef>
                <a:spcPts val="0"/>
              </a:spcBef>
              <a:spcAft>
                <a:spcPts val="0"/>
              </a:spcAft>
              <a:buNone/>
            </a:pPr>
            <a:r>
              <a:rPr b="0" lang="en-US" sz="1520">
                <a:solidFill>
                  <a:srgbClr val="1F2328"/>
                </a:solidFill>
                <a:latin typeface="Calibri"/>
                <a:ea typeface="Calibri"/>
                <a:cs typeface="Calibri"/>
                <a:sym typeface="Calibri"/>
              </a:rPr>
              <a:t>Depression</a:t>
            </a:r>
            <a:endParaRPr/>
          </a:p>
        </p:txBody>
      </p:sp>
      <p:sp>
        <p:nvSpPr>
          <p:cNvPr id="266" name="Google Shape;266;p8"/>
          <p:cNvSpPr txBox="1"/>
          <p:nvPr/>
        </p:nvSpPr>
        <p:spPr>
          <a:xfrm>
            <a:off x="1005840" y="4261104"/>
            <a:ext cx="2944368" cy="292608"/>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550">
                <a:solidFill>
                  <a:srgbClr val="5B6770"/>
                </a:solidFill>
                <a:latin typeface="Calibri"/>
                <a:ea typeface="Calibri"/>
                <a:cs typeface="Calibri"/>
                <a:sym typeface="Calibri"/>
              </a:rPr>
              <a:t>Defines cryptic names</a:t>
            </a:r>
            <a:endParaRPr/>
          </a:p>
        </p:txBody>
      </p:sp>
      <p:sp>
        <p:nvSpPr>
          <p:cNvPr id="267" name="Google Shape;267;p8"/>
          <p:cNvSpPr/>
          <p:nvPr/>
        </p:nvSpPr>
        <p:spPr>
          <a:xfrm>
            <a:off x="4416552"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8"/>
          <p:cNvSpPr/>
          <p:nvPr/>
        </p:nvSpPr>
        <p:spPr>
          <a:xfrm>
            <a:off x="4416552" y="2185416"/>
            <a:ext cx="3319272" cy="64008"/>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8"/>
          <p:cNvSpPr txBox="1"/>
          <p:nvPr/>
        </p:nvSpPr>
        <p:spPr>
          <a:xfrm>
            <a:off x="4599432"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2  EXTERNAL ONTOLOGIES</a:t>
            </a:r>
            <a:endParaRPr/>
          </a:p>
        </p:txBody>
      </p:sp>
      <p:sp>
        <p:nvSpPr>
          <p:cNvPr id="270" name="Google Shape;270;p8"/>
          <p:cNvSpPr txBox="1"/>
          <p:nvPr/>
        </p:nvSpPr>
        <p:spPr>
          <a:xfrm>
            <a:off x="4599432"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Which domain concepts exist?</a:t>
            </a:r>
            <a:endParaRPr/>
          </a:p>
        </p:txBody>
      </p:sp>
      <p:sp>
        <p:nvSpPr>
          <p:cNvPr id="271" name="Google Shape;271;p8"/>
          <p:cNvSpPr/>
          <p:nvPr/>
        </p:nvSpPr>
        <p:spPr>
          <a:xfrm>
            <a:off x="4590288"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8"/>
          <p:cNvSpPr txBox="1"/>
          <p:nvPr/>
        </p:nvSpPr>
        <p:spPr>
          <a:xfrm>
            <a:off x="4718304"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ICD-10 · Disease Ontology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Cell and nutrition ontologies</a:t>
            </a:r>
            <a:endParaRPr/>
          </a:p>
        </p:txBody>
      </p:sp>
      <p:sp>
        <p:nvSpPr>
          <p:cNvPr id="273" name="Google Shape;273;p8"/>
          <p:cNvSpPr txBox="1"/>
          <p:nvPr/>
        </p:nvSpPr>
        <p:spPr>
          <a:xfrm>
            <a:off x="4599432"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Suggests established concepts</a:t>
            </a:r>
            <a:endParaRPr/>
          </a:p>
        </p:txBody>
      </p:sp>
      <p:sp>
        <p:nvSpPr>
          <p:cNvPr id="274" name="Google Shape;274;p8"/>
          <p:cNvSpPr/>
          <p:nvPr/>
        </p:nvSpPr>
        <p:spPr>
          <a:xfrm>
            <a:off x="8010144" y="2185416"/>
            <a:ext cx="3319272" cy="251460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8"/>
          <p:cNvSpPr/>
          <p:nvPr/>
        </p:nvSpPr>
        <p:spPr>
          <a:xfrm>
            <a:off x="8010144" y="2185416"/>
            <a:ext cx="3319272" cy="64008"/>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8"/>
          <p:cNvSpPr txBox="1"/>
          <p:nvPr/>
        </p:nvSpPr>
        <p:spPr>
          <a:xfrm>
            <a:off x="8193023" y="2395728"/>
            <a:ext cx="299923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3  GROWING CORE</a:t>
            </a:r>
            <a:endParaRPr/>
          </a:p>
        </p:txBody>
      </p:sp>
      <p:sp>
        <p:nvSpPr>
          <p:cNvPr id="277" name="Google Shape;277;p8"/>
          <p:cNvSpPr txBox="1"/>
          <p:nvPr/>
        </p:nvSpPr>
        <p:spPr>
          <a:xfrm>
            <a:off x="8193023" y="2807208"/>
            <a:ext cx="2990088" cy="53035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730">
                <a:solidFill>
                  <a:srgbClr val="1F2328"/>
                </a:solidFill>
                <a:latin typeface="Calibri"/>
                <a:ea typeface="Calibri"/>
                <a:cs typeface="Calibri"/>
                <a:sym typeface="Calibri"/>
              </a:rPr>
              <a:t>What have we already defined?</a:t>
            </a:r>
            <a:endParaRPr/>
          </a:p>
        </p:txBody>
      </p:sp>
      <p:sp>
        <p:nvSpPr>
          <p:cNvPr id="278" name="Google Shape;278;p8"/>
          <p:cNvSpPr/>
          <p:nvPr/>
        </p:nvSpPr>
        <p:spPr>
          <a:xfrm>
            <a:off x="8183879" y="3483864"/>
            <a:ext cx="2962656" cy="55778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9" name="Google Shape;279;p8"/>
          <p:cNvSpPr txBox="1"/>
          <p:nvPr/>
        </p:nvSpPr>
        <p:spPr>
          <a:xfrm>
            <a:off x="8311896" y="3520440"/>
            <a:ext cx="2706624" cy="5577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PatientData + previously</a:t>
            </a:r>
            <a:endParaRPr/>
          </a:p>
          <a:p>
            <a:pPr indent="0" lvl="0" marL="0" marR="0" rtl="0" algn="l">
              <a:lnSpc>
                <a:spcPct val="105000"/>
              </a:lnSpc>
              <a:spcBef>
                <a:spcPts val="0"/>
              </a:spcBef>
              <a:spcAft>
                <a:spcPts val="0"/>
              </a:spcAft>
              <a:buNone/>
            </a:pPr>
            <a:r>
              <a:rPr b="0" lang="en-US" sz="1520">
                <a:solidFill>
                  <a:srgbClr val="1F2328"/>
                </a:solidFill>
                <a:latin typeface="Calibri"/>
                <a:ea typeface="Calibri"/>
                <a:cs typeface="Calibri"/>
                <a:sym typeface="Calibri"/>
              </a:rPr>
              <a:t>accepted ontology terms</a:t>
            </a:r>
            <a:endParaRPr/>
          </a:p>
        </p:txBody>
      </p:sp>
      <p:sp>
        <p:nvSpPr>
          <p:cNvPr id="280" name="Google Shape;280;p8"/>
          <p:cNvSpPr txBox="1"/>
          <p:nvPr/>
        </p:nvSpPr>
        <p:spPr>
          <a:xfrm>
            <a:off x="8193023" y="4215384"/>
            <a:ext cx="2944368" cy="36576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50">
                <a:solidFill>
                  <a:srgbClr val="5B6770"/>
                </a:solidFill>
                <a:latin typeface="Calibri"/>
                <a:ea typeface="Calibri"/>
                <a:cs typeface="Calibri"/>
                <a:sym typeface="Calibri"/>
              </a:rPr>
              <a:t>Reuses established concepts</a:t>
            </a:r>
            <a:endParaRPr/>
          </a:p>
        </p:txBody>
      </p:sp>
      <p:sp>
        <p:nvSpPr>
          <p:cNvPr id="281" name="Google Shape;281;p8"/>
          <p:cNvSpPr/>
          <p:nvPr/>
        </p:nvSpPr>
        <p:spPr>
          <a:xfrm>
            <a:off x="832104" y="4965192"/>
            <a:ext cx="10469880" cy="521207"/>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8"/>
          <p:cNvSpPr txBox="1"/>
          <p:nvPr/>
        </p:nvSpPr>
        <p:spPr>
          <a:xfrm>
            <a:off x="1033271" y="5074920"/>
            <a:ext cx="1007668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ONE RETRIEVAL QUERY PER TABLE   </a:t>
            </a:r>
            <a:r>
              <a:rPr b="0" lang="en-US" sz="1550">
                <a:solidFill>
                  <a:srgbClr val="1F2328"/>
                </a:solidFill>
                <a:latin typeface="Calibri"/>
                <a:ea typeface="Calibri"/>
                <a:cs typeface="Calibri"/>
                <a:sym typeface="Calibri"/>
              </a:rPr>
              <a:t>table + columns + FK targets  →  top-3 per source</a:t>
            </a:r>
            <a:endParaRPr/>
          </a:p>
        </p:txBody>
      </p:sp>
      <p:sp>
        <p:nvSpPr>
          <p:cNvPr id="283" name="Google Shape;283;p8"/>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8"/>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285" name="Google Shape;285;p8"/>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8"/>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287" name="Google Shape;287;p8"/>
          <p:cNvSpPr/>
          <p:nvPr/>
        </p:nvSpPr>
        <p:spPr>
          <a:xfrm>
            <a:off x="4480559"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8"/>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3  RETRIEVE</a:t>
            </a:r>
            <a:endParaRPr/>
          </a:p>
        </p:txBody>
      </p:sp>
      <p:sp>
        <p:nvSpPr>
          <p:cNvPr id="289" name="Google Shape;289;p8"/>
          <p:cNvSpPr/>
          <p:nvPr/>
        </p:nvSpPr>
        <p:spPr>
          <a:xfrm>
            <a:off x="6318503"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p8"/>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4  GENERATE</a:t>
            </a:r>
            <a:endParaRPr/>
          </a:p>
        </p:txBody>
      </p:sp>
      <p:sp>
        <p:nvSpPr>
          <p:cNvPr id="291" name="Google Shape;291;p8"/>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8"/>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293" name="Google Shape;293;p8"/>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8"/>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9"/>
          <p:cNvSpPr txBox="1"/>
          <p:nvPr/>
        </p:nvSpPr>
        <p:spPr>
          <a:xfrm>
            <a:off x="804672" y="448056"/>
            <a:ext cx="10716768"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4 / GENERATE</a:t>
            </a:r>
            <a:endParaRPr/>
          </a:p>
        </p:txBody>
      </p:sp>
      <p:sp>
        <p:nvSpPr>
          <p:cNvPr id="301" name="Google Shape;301;p9"/>
          <p:cNvSpPr txBox="1"/>
          <p:nvPr/>
        </p:nvSpPr>
        <p:spPr>
          <a:xfrm>
            <a:off x="804672" y="859536"/>
            <a:ext cx="10716768" cy="6949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LLM enriches a schema-grounded draft.</a:t>
            </a:r>
            <a:endParaRPr/>
          </a:p>
        </p:txBody>
      </p:sp>
      <p:sp>
        <p:nvSpPr>
          <p:cNvPr id="302" name="Google Shape;302;p9"/>
          <p:cNvSpPr txBox="1"/>
          <p:nvPr/>
        </p:nvSpPr>
        <p:spPr>
          <a:xfrm>
            <a:off x="804672" y="1609344"/>
            <a:ext cx="10607040" cy="3200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One prompt combines the direct mapping, retrieved context, and enrichment instructions.</a:t>
            </a:r>
            <a:endParaRPr/>
          </a:p>
        </p:txBody>
      </p:sp>
      <p:sp>
        <p:nvSpPr>
          <p:cNvPr id="322" name="Google Shape;322;p9"/>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9"/>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24" name="Google Shape;324;p9"/>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9"/>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26" name="Google Shape;326;p9"/>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9"/>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28" name="Google Shape;328;p9"/>
          <p:cNvSpPr/>
          <p:nvPr/>
        </p:nvSpPr>
        <p:spPr>
          <a:xfrm>
            <a:off x="6318503"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9" name="Google Shape;329;p9"/>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4  GENERATE</a:t>
            </a:r>
            <a:endParaRPr/>
          </a:p>
        </p:txBody>
      </p:sp>
      <p:sp>
        <p:nvSpPr>
          <p:cNvPr id="330" name="Google Shape;330;p9"/>
          <p:cNvSpPr/>
          <p:nvPr/>
        </p:nvSpPr>
        <p:spPr>
          <a:xfrm>
            <a:off x="8156448"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1" name="Google Shape;331;p9"/>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5  VALIDATE</a:t>
            </a:r>
            <a:endParaRPr/>
          </a:p>
        </p:txBody>
      </p:sp>
      <p:sp>
        <p:nvSpPr>
          <p:cNvPr id="332" name="Google Shape;332;p9"/>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9"/>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34" name="Rounded Rectangle 333"/>
          <p:cNvSpPr/>
          <p:nvPr/>
        </p:nvSpPr>
        <p:spPr>
          <a:xfrm>
            <a:off x="795528" y="2148840"/>
            <a:ext cx="2971800" cy="3273552"/>
          </a:xfrm>
          <a:prstGeom prst="roundRect">
            <a:avLst/>
          </a:prstGeom>
          <a:solidFill>
            <a:srgbClr val="FFFFFF"/>
          </a:solidFill>
          <a:ln w="1397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TextBox 334"/>
          <p:cNvSpPr txBox="1"/>
          <p:nvPr/>
        </p:nvSpPr>
        <p:spPr>
          <a:xfrm>
            <a:off x="1005840" y="2313432"/>
            <a:ext cx="2468880" cy="310896"/>
          </a:xfrm>
          <a:prstGeom prst="rect">
            <a:avLst/>
          </a:prstGeom>
          <a:noFill/>
        </p:spPr>
        <p:txBody>
          <a:bodyPr wrap="square" lIns="0" rIns="0" tIns="0" bIns="0" anchor="ctr">
            <a:spAutoFit/>
          </a:bodyPr>
          <a:lstStyle/>
          <a:p>
            <a:r>
              <a:rPr sz="1500" b="1">
                <a:solidFill>
                  <a:srgbClr val="3A434C"/>
                </a:solidFill>
                <a:latin typeface="Consolas"/>
              </a:rPr>
              <a:t>BEFORE / DMᵣ</a:t>
            </a:r>
          </a:p>
        </p:txBody>
      </p:sp>
      <p:sp>
        <p:nvSpPr>
          <p:cNvPr id="340" name="TextBox 339"/>
          <p:cNvSpPr txBox="1"/>
          <p:nvPr/>
        </p:nvSpPr>
        <p:spPr>
          <a:xfrm>
            <a:off x="1005840" y="4315968"/>
            <a:ext cx="2560320" cy="393192"/>
          </a:xfrm>
          <a:prstGeom prst="rect">
            <a:avLst/>
          </a:prstGeom>
          <a:noFill/>
        </p:spPr>
        <p:txBody>
          <a:bodyPr wrap="square" lIns="0" rIns="0" tIns="0" bIns="0" anchor="ctr">
            <a:spAutoFit/>
          </a:bodyPr>
          <a:lstStyle/>
          <a:p>
            <a:r>
              <a:rPr sz="1300" b="0">
                <a:solidFill>
                  <a:srgbClr val="3A434C"/>
                </a:solidFill>
                <a:latin typeface="Calibri"/>
              </a:rPr>
              <a:t>Structure only.
Meaning remains implicit.</a:t>
            </a:r>
          </a:p>
        </p:txBody>
      </p:sp>
      <p:sp>
        <p:nvSpPr>
          <p:cNvPr id="341" name="Chevron 340"/>
          <p:cNvSpPr/>
          <p:nvPr/>
        </p:nvSpPr>
        <p:spPr>
          <a:xfrm>
            <a:off x="3968496" y="3447288"/>
            <a:ext cx="603504" cy="429768"/>
          </a:xfrm>
          <a:prstGeom prst="chevron">
            <a:avLst/>
          </a:prstGeom>
          <a:solidFill>
            <a:srgbClr val="0B6E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TextBox 341"/>
          <p:cNvSpPr txBox="1"/>
          <p:nvPr/>
        </p:nvSpPr>
        <p:spPr>
          <a:xfrm>
            <a:off x="3858768" y="3913632"/>
            <a:ext cx="832104" cy="320040"/>
          </a:xfrm>
          <a:prstGeom prst="rect">
            <a:avLst/>
          </a:prstGeom>
          <a:noFill/>
        </p:spPr>
        <p:txBody>
          <a:bodyPr wrap="square" lIns="0" rIns="0" tIns="0" bIns="0" anchor="ctr">
            <a:spAutoFit/>
          </a:bodyPr>
          <a:lstStyle/>
          <a:p>
            <a:pPr algn="ctr"/>
            <a:r>
              <a:rPr sz="1200" b="1">
                <a:solidFill>
                  <a:srgbClr val="0B6E4F"/>
                </a:solidFill>
                <a:latin typeface="Consolas"/>
              </a:rPr>
              <a:t>Gen-LLM</a:t>
            </a:r>
          </a:p>
        </p:txBody>
      </p:sp>
      <p:sp>
        <p:nvSpPr>
          <p:cNvPr id="343" name="Rounded Rectangle 342"/>
          <p:cNvSpPr/>
          <p:nvPr/>
        </p:nvSpPr>
        <p:spPr>
          <a:xfrm>
            <a:off x="4736592" y="2148840"/>
            <a:ext cx="6565392" cy="3273552"/>
          </a:xfrm>
          <a:prstGeom prst="roundRect">
            <a:avLst/>
          </a:prstGeom>
          <a:solidFill>
            <a:srgbClr val="F3F5F4"/>
          </a:solidFill>
          <a:ln w="1397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859536" y="5504688"/>
            <a:ext cx="10396728" cy="210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914400" y="5495544"/>
            <a:ext cx="10259568" cy="228600"/>
          </a:xfrm>
          <a:prstGeom prst="rect">
            <a:avLst/>
          </a:prstGeom>
          <a:noFill/>
        </p:spPr>
        <p:txBody>
          <a:bodyPr wrap="square" lIns="0" rIns="0" tIns="0" bIns="0" anchor="ctr">
            <a:spAutoFit/>
          </a:bodyPr>
          <a:lstStyle/>
          <a:p>
            <a:r>
              <a:rPr sz="1100">
                <a:solidFill>
                  <a:srgbClr val="3A434C"/>
                </a:solidFill>
                <a:latin typeface="Calibri"/>
              </a:rPr>
              <a:t>Source tags show context used; provenance traces the source column. External alignments are conditional.</a:t>
            </a:r>
          </a:p>
        </p:txBody>
      </p:sp>
      <p:sp>
        <p:nvSpPr>
          <p:cNvPr id="364" name="TextBox 363"/>
          <p:cNvSpPr txBox="1"/>
          <p:nvPr/>
        </p:nvSpPr>
        <p:spPr>
          <a:xfrm>
            <a:off x="4946904" y="2313432"/>
            <a:ext cx="6016752" cy="274320"/>
          </a:xfrm>
          <a:prstGeom prst="rect">
            <a:avLst/>
          </a:prstGeom>
          <a:noFill/>
        </p:spPr>
        <p:txBody>
          <a:bodyPr wrap="square" lIns="0" rIns="0" tIns="0" bIns="0" anchor="ctr">
            <a:spAutoFit/>
          </a:bodyPr>
          <a:lstStyle/>
          <a:p>
            <a:pPr algn="l">
              <a:spcBef>
                <a:spcPts val="0"/>
              </a:spcBef>
              <a:spcAft>
                <a:spcPts val="0"/>
              </a:spcAft>
            </a:pPr>
            <a:r>
              <a:rPr sz="1450" b="1">
                <a:solidFill>
                  <a:srgbClr val="2F6B78"/>
                </a:solidFill>
                <a:latin typeface="Consolas"/>
              </a:rPr>
              <a:t>AFTER  /  ENRICHED ΔOᵣ  (illustrative)</a:t>
            </a:r>
          </a:p>
        </p:txBody>
      </p:sp>
      <p:sp>
        <p:nvSpPr>
          <p:cNvPr id="385" name="Code 385" descr="OWL Manchester Syntax excerpt"/>
          <p:cNvSpPr txBox="1"/>
          <p:nvPr/>
        </p:nvSpPr>
        <p:spPr>
          <a:xfrm>
            <a:off x="950976" y="3017520"/>
            <a:ext cx="2670048" cy="1097280"/>
          </a:xfrm>
          <a:prstGeom prst="roundRect">
            <a:avLst>
              <a:gd name="adj" fmla="val 5000"/>
            </a:avLst>
          </a:prstGeom>
          <a:solidFill>
            <a:srgbClr val="F6F8FA"/>
          </a:solidFill>
          <a:ln w="9525">
            <a:solidFill>
              <a:srgbClr val="D0D7DE"/>
            </a:solidFill>
          </a:ln>
        </p:spPr>
        <p:txBody>
          <a:bodyPr wrap="none" lIns="73152" tIns="73152" rIns="73152" bIns="54864" anchor="t">
            <a:noAutofit/>
          </a:bodyPr>
          <a:lstStyle/>
          <a:p>
            <a:pPr>
              <a:lnSpc>
                <a:spcPts val="1350"/>
              </a:lnSpc>
              <a:spcBef>
                <a:spcPts val="0"/>
              </a:spcBef>
            </a:pPr>
            <a:r>
              <a:rPr lang="en-US" sz="1100" b="1" i="0" dirty="0">
                <a:solidFill>
                  <a:srgbClr val="0B6E4F"/>
                </a:solidFill>
                <a:latin typeface="Consolas"/>
                <a:cs typeface="Consolas"/>
              </a:rPr>
              <a:t xml:space="preserve">Class: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Admission</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SubClassOf:</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patient_id</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some</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PatientData</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BM_DEP</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r>
              <a:rPr lang="en-US" sz="1100" b="0" i="0" dirty="0">
                <a:solidFill>
                  <a:srgbClr val="1F2328"/>
                </a:solidFill>
                <a:latin typeface="Consolas"/>
                <a:cs typeface="Consolas"/>
              </a:rPr>
              <a:t xml:space="preserve">,</a:t>
            </a:r>
            <a:endParaRPr lang="en-US" sz="1100"/>
          </a:p>
          <a:p>
            <a:pPr>
              <a:lnSpc>
                <a:spcPts val="13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ecog_stage</a:t>
            </a: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only</a:t>
            </a:r>
            <a:r>
              <a:rPr lang="en-US" sz="1100" b="0" i="0" dirty="0">
                <a:solidFill>
                  <a:srgbClr val="1F2328"/>
                </a:solidFill>
                <a:latin typeface="Consolas"/>
                <a:cs typeface="Consolas"/>
              </a:rPr>
              <a:t xml:space="preserve"> </a:t>
            </a:r>
            <a:r>
              <a:rPr lang="en-US" sz="1100" b="0" i="0" dirty="0">
                <a:solidFill>
                  <a:srgbClr val="6F42C1"/>
                </a:solidFill>
                <a:latin typeface="Consolas"/>
                <a:cs typeface="Consolas"/>
              </a:rPr>
              <a:t xml:space="preserve">xsd:integer</a:t>
            </a:r>
            <a:endParaRPr lang="en-US" sz="1100"/>
          </a:p>
        </p:txBody>
      </p:sp>
      <p:sp>
        <p:nvSpPr>
          <p:cNvPr id="386" name="Code 386" descr="OWL Manchester Syntax excerpt"/>
          <p:cNvSpPr txBox="1"/>
          <p:nvPr/>
        </p:nvSpPr>
        <p:spPr>
          <a:xfrm>
            <a:off x="4937760" y="2724912"/>
            <a:ext cx="6172200" cy="2226818"/>
          </a:xfrm>
          <a:prstGeom prst="roundRect">
            <a:avLst>
              <a:gd name="adj" fmla="val 5000"/>
            </a:avLst>
          </a:prstGeom>
          <a:solidFill>
            <a:srgbClr val="F6F8FA"/>
          </a:solidFill>
          <a:ln w="9525">
            <a:solidFill>
              <a:srgbClr val="D0D7DE"/>
            </a:solidFill>
          </a:ln>
        </p:spPr>
        <p:txBody>
          <a:bodyPr wrap="none" lIns="109728" tIns="73152" rIns="109728" bIns="54864" anchor="t">
            <a:noAutofit/>
          </a:bodyPr>
          <a:lstStyle/>
          <a:p>
            <a:pPr>
              <a:lnSpc>
                <a:spcPts val="1450"/>
              </a:lnSpc>
              <a:spcBef>
                <a:spcPts val="0"/>
              </a:spcBef>
            </a:pPr>
            <a:r>
              <a:rPr lang="en-US" sz="1300" b="1" i="0" dirty="0">
                <a:solidFill>
                  <a:srgbClr val="0B6E4F"/>
                </a:solidFill>
                <a:latin typeface="Consolas"/>
                <a:cs typeface="Consolas"/>
              </a:rPr>
              <a:t xml:space="preserve">ObjectProperty: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hasPatientData</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Domain:</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Admission</a:t>
            </a: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Range:</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PatientData</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BM_DEP</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rdfs:label</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"Bone Marrow Depression"@en</a:t>
            </a:r>
            <a:endParaRPr lang="en-US" sz="1300"/>
          </a:p>
          <a:p>
            <a:pPr>
              <a:lnSpc>
                <a:spcPts val="1450"/>
              </a:lnSpc>
              <a:spcBef>
                <a:spcPts val="0"/>
              </a:spcBef>
            </a:pPr>
            <a:r>
              <a:rPr lang="en-US" sz="1300" b="1" i="0" dirty="0">
                <a:solidFill>
                  <a:srgbClr val="0B6E4F"/>
                </a:solidFill>
                <a:latin typeface="Consolas"/>
                <a:cs typeface="Consolas"/>
              </a:rPr>
              <a:t xml:space="preserve">DataProperty:</a:t>
            </a:r>
            <a:r>
              <a:rPr lang="en-US" sz="1300" b="0" i="0" dirty="0">
                <a:solidFill>
                  <a:srgbClr val="1F2328"/>
                </a:solidFill>
                <a:latin typeface="Consolas"/>
                <a:cs typeface="Consolas"/>
              </a:rPr>
              <a:t xml:space="preserve"> </a:t>
            </a:r>
            <a:r>
              <a:rPr lang="en-US" sz="1300" b="0" i="0" dirty="0">
                <a:solidFill>
                  <a:srgbClr val="1F2328"/>
                </a:solidFill>
                <a:latin typeface="Consolas"/>
                <a:cs typeface="Consolas"/>
              </a:rPr>
              <a:t xml:space="preserve">ecog_stage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1" i="0" dirty="0">
                <a:solidFill>
                  <a:srgbClr val="0B6E4F"/>
                </a:solidFill>
                <a:latin typeface="Consolas"/>
                <a:cs typeface="Consolas"/>
              </a:rPr>
              <a:t xml:space="preserve">Annotations:</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rdfs:comment</a:t>
            </a:r>
            <a:r>
              <a:rPr lang="en-US" sz="1300" b="0" i="0" dirty="0">
                <a:solidFill>
                  <a:srgbClr val="1F2328"/>
                </a:solidFill>
                <a:latin typeface="Consolas"/>
                <a:cs typeface="Consolas"/>
              </a:rPr>
              <a:t xml:space="preserve"> </a:t>
            </a:r>
            <a:r>
              <a:rPr lang="en-US" sz="1300" b="0" i="0" dirty="0">
                <a:solidFill>
                  <a:srgbClr val="A3401E"/>
                </a:solidFill>
                <a:latin typeface="Consolas"/>
                <a:cs typeface="Consolas"/>
              </a:rPr>
              <a:t xml:space="preserve">"ECOG 0 = fully active,</a:t>
            </a:r>
            <a:endParaRPr lang="en-US" sz="1300"/>
          </a:p>
          <a:p>
            <a:pPr>
              <a:lnSpc>
                <a:spcPts val="1450"/>
              </a:lnSpc>
              <a:spcBef>
                <a:spcPts val="0"/>
              </a:spcBef>
            </a:pPr>
            <a:r>
              <a:rPr lang="en-US" sz="1300" b="0" i="0" dirty="0">
                <a:solidFill>
                  <a:srgbClr val="A3401E"/>
                </a:solidFill>
                <a:latin typeface="Consolas"/>
                <a:cs typeface="Consolas"/>
              </a:rPr>
              <a:t xml:space="preserve">      1 = restricted, 2 = ambulatory,</a:t>
            </a:r>
            <a:endParaRPr lang="en-US" sz="1300"/>
          </a:p>
          <a:p>
            <a:pPr>
              <a:lnSpc>
                <a:spcPts val="1450"/>
              </a:lnSpc>
              <a:spcBef>
                <a:spcPts val="0"/>
              </a:spcBef>
            </a:pPr>
            <a:r>
              <a:rPr lang="en-US" sz="1300" b="0" i="0" dirty="0">
                <a:solidFill>
                  <a:srgbClr val="A3401E"/>
                </a:solidFill>
                <a:latin typeface="Consolas"/>
                <a:cs typeface="Consolas"/>
              </a:rPr>
              <a:t xml:space="preserve">      3 = limited self-care,</a:t>
            </a:r>
            <a:endParaRPr lang="en-US" sz="1300"/>
          </a:p>
          <a:p>
            <a:pPr>
              <a:lnSpc>
                <a:spcPts val="1450"/>
              </a:lnSpc>
              <a:spcBef>
                <a:spcPts val="0"/>
              </a:spcBef>
            </a:pPr>
            <a:r>
              <a:rPr lang="en-US" sz="1300" b="0" i="0" dirty="0">
                <a:solidFill>
                  <a:srgbClr val="A3401E"/>
                </a:solidFill>
                <a:latin typeface="Consolas"/>
                <a:cs typeface="Consolas"/>
              </a:rPr>
              <a:t xml:space="preserve">      4 = completely disabled, 5 = dead"@en</a:t>
            </a:r>
            <a:r>
              <a:rPr lang="en-US" sz="1300" b="0" i="0" dirty="0">
                <a:solidFill>
                  <a:srgbClr val="1F2328"/>
                </a:solidFill>
                <a:latin typeface="Consolas"/>
                <a:cs typeface="Consolas"/>
              </a:rPr>
              <a:t xml:space="preserve">,</a:t>
            </a:r>
            <a:endParaRPr lang="en-US" sz="1300"/>
          </a:p>
          <a:p>
            <a:pPr>
              <a:lnSpc>
                <a:spcPts val="1450"/>
              </a:lnSpc>
              <a:spcBef>
                <a:spcPts val="0"/>
              </a:spcBef>
            </a:pPr>
            <a:r>
              <a:rPr lang="en-US" sz="1300" b="0" i="0" dirty="0">
                <a:solidFill>
                  <a:srgbClr val="1F2328"/>
                </a:solidFill>
                <a:latin typeface="Consolas"/>
                <a:cs typeface="Consolas"/>
              </a:rPr>
              <a:t xml:space="preserve">    </a:t>
            </a:r>
            <a:r>
              <a:rPr lang="en-US" sz="1300" b="0" i="0" dirty="0">
                <a:solidFill>
                  <a:srgbClr val="5B6770"/>
                </a:solidFill>
                <a:latin typeface="Consolas"/>
                <a:cs typeface="Consolas"/>
              </a:rPr>
              <a:t xml:space="preserve">prov:wasDerivedFrom</a:t>
            </a:r>
            <a:r>
              <a:rPr lang="en-US" sz="1300" b="0" i="0" dirty="0">
                <a:solidFill>
                  <a:srgbClr val="1F2328"/>
                </a:solidFill>
                <a:latin typeface="Consolas"/>
                <a:cs typeface="Consolas"/>
              </a:rPr>
              <a:t xml:space="preserve"> </a:t>
            </a:r>
            <a:r>
              <a:rPr lang="en-US" sz="1300" b="0" i="0" dirty="0">
                <a:solidFill>
                  <a:srgbClr val="2F6B78"/>
                </a:solidFill>
                <a:latin typeface="Consolas"/>
                <a:cs typeface="Consolas"/>
              </a:rPr>
              <a:t xml:space="preserve">src:ecog_stage</a:t>
            </a:r>
            <a:endParaRPr lang="en-US" sz="1300"/>
          </a:p>
        </p:txBody>
      </p:sp>
      <p:sp>
        <p:nvSpPr>
          <p:cNvPr id="372" name="Rounded Rectangle 371"/>
          <p:cNvSpPr/>
          <p:nvPr/>
        </p:nvSpPr>
        <p:spPr>
          <a:xfrm>
            <a:off x="10104120" y="27895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
        <p:nvSpPr>
          <p:cNvPr id="376" name="Rounded Rectangle 375"/>
          <p:cNvSpPr/>
          <p:nvPr/>
        </p:nvSpPr>
        <p:spPr>
          <a:xfrm>
            <a:off x="10104120" y="334200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0" name="Rounded Rectangle 379"/>
          <p:cNvSpPr/>
          <p:nvPr/>
        </p:nvSpPr>
        <p:spPr>
          <a:xfrm>
            <a:off x="10104120" y="3894455"/>
            <a:ext cx="914400" cy="201168"/>
          </a:xfrm>
          <a:prstGeom prst="roundRect">
            <a:avLst/>
          </a:prstGeom>
          <a:solidFill>
            <a:srgbClr val="FFFFFF"/>
          </a:solidFill>
          <a:ln w="11430">
            <a:solidFill>
              <a:srgbClr val="0B6E4F"/>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0B6E4F"/>
                </a:solidFill>
                <a:latin typeface="Consolas"/>
              </a:rPr>
              <a:t>DOCS</a:t>
            </a:r>
          </a:p>
        </p:txBody>
      </p:sp>
      <p:sp>
        <p:nvSpPr>
          <p:cNvPr id="384" name="Rounded Rectangle 383"/>
          <p:cNvSpPr/>
          <p:nvPr/>
        </p:nvSpPr>
        <p:spPr>
          <a:xfrm>
            <a:off x="10104120" y="4631055"/>
            <a:ext cx="914400" cy="201168"/>
          </a:xfrm>
          <a:prstGeom prst="roundRect">
            <a:avLst/>
          </a:prstGeom>
          <a:solidFill>
            <a:srgbClr val="FFFFFF"/>
          </a:solidFill>
          <a:ln w="11430">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80" b="1">
                <a:solidFill>
                  <a:srgbClr val="2F6B78"/>
                </a:solidFill>
                <a:latin typeface="Consolas"/>
              </a:rPr>
              <a:t>SCHEMA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10"/>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5 / VALIDATE</a:t>
            </a:r>
            <a:endParaRPr/>
          </a:p>
        </p:txBody>
      </p:sp>
      <p:sp>
        <p:nvSpPr>
          <p:cNvPr id="340" name="Google Shape;340;p10"/>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Why validate? Some errors are plausible—and still wrong.</a:t>
            </a:r>
            <a:endParaRPr/>
          </a:p>
        </p:txBody>
      </p:sp>
      <p:sp>
        <p:nvSpPr>
          <p:cNvPr id="341" name="Google Shape;341;p10"/>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Semantic errors and structural errors require complementary checks before merging.</a:t>
            </a:r>
            <a:endParaRPr/>
          </a:p>
        </p:txBody>
      </p:sp>
      <p:sp>
        <p:nvSpPr>
          <p:cNvPr id="364" name="Google Shape;364;p10"/>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10"/>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366" name="Google Shape;366;p10"/>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0"/>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368" name="Google Shape;368;p10"/>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10"/>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370" name="Google Shape;370;p10"/>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0"/>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372" name="Google Shape;372;p10"/>
          <p:cNvSpPr/>
          <p:nvPr/>
        </p:nvSpPr>
        <p:spPr>
          <a:xfrm>
            <a:off x="8156448"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10"/>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5  VALIDATE</a:t>
            </a:r>
            <a:endParaRPr/>
          </a:p>
        </p:txBody>
      </p:sp>
      <p:sp>
        <p:nvSpPr>
          <p:cNvPr id="374" name="Google Shape;374;p10"/>
          <p:cNvSpPr/>
          <p:nvPr/>
        </p:nvSpPr>
        <p:spPr>
          <a:xfrm>
            <a:off x="9994392" y="5797296"/>
            <a:ext cx="1645920" cy="310896"/>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0"/>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8A949B"/>
                </a:solidFill>
                <a:latin typeface="Consolas"/>
                <a:ea typeface="Consolas"/>
                <a:cs typeface="Consolas"/>
                <a:sym typeface="Consolas"/>
              </a:rPr>
              <a:t>6  MERGE</a:t>
            </a:r>
            <a:endParaRPr/>
          </a:p>
        </p:txBody>
      </p:sp>
      <p:sp>
        <p:nvSpPr>
          <p:cNvPr id="376" name="Rounded Rectangle 375"/>
          <p:cNvSpPr/>
          <p:nvPr/>
        </p:nvSpPr>
        <p:spPr>
          <a:xfrm>
            <a:off x="832104"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ounded Rectangle 376"/>
          <p:cNvSpPr/>
          <p:nvPr/>
        </p:nvSpPr>
        <p:spPr>
          <a:xfrm>
            <a:off x="6172200" y="2148840"/>
            <a:ext cx="5193792" cy="2468880"/>
          </a:xfrm>
          <a:prstGeom prst="roundRect">
            <a:avLst/>
          </a:prstGeom>
          <a:solidFill>
            <a:srgbClr val="FFFFFF"/>
          </a:solidFill>
          <a:ln w="12700">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TextBox 377"/>
          <p:cNvSpPr txBox="1"/>
          <p:nvPr/>
        </p:nvSpPr>
        <p:spPr>
          <a:xfrm>
            <a:off x="1060704" y="2331720"/>
            <a:ext cx="4626864" cy="274320"/>
          </a:xfrm>
          <a:prstGeom prst="rect">
            <a:avLst/>
          </a:prstGeom>
          <a:noFill/>
        </p:spPr>
        <p:txBody>
          <a:bodyPr wrap="square" lIns="0" rIns="0" tIns="0" bIns="0" anchor="ctr">
            <a:spAutoFit/>
          </a:bodyPr>
          <a:lstStyle/>
          <a:p>
            <a:r>
              <a:rPr sz="1600" b="1">
                <a:solidFill>
                  <a:srgbClr val="0B6E4F"/>
                </a:solidFill>
                <a:latin typeface="Consolas"/>
              </a:rPr>
              <a:t>SEMANTIC ERROR · JUDGE-LLM</a:t>
            </a:r>
          </a:p>
        </p:txBody>
      </p:sp>
      <p:sp>
        <p:nvSpPr>
          <p:cNvPr id="379" name="TextBox 378"/>
          <p:cNvSpPr txBox="1"/>
          <p:nvPr/>
        </p:nvSpPr>
        <p:spPr>
          <a:xfrm>
            <a:off x="1069848" y="2834640"/>
            <a:ext cx="4617720" cy="274320"/>
          </a:xfrm>
          <a:prstGeom prst="rect">
            <a:avLst/>
          </a:prstGeom>
          <a:noFill/>
        </p:spPr>
        <p:txBody>
          <a:bodyPr wrap="square" lIns="0" rIns="0" tIns="0" bIns="0" anchor="ctr">
            <a:spAutoFit/>
          </a:bodyPr>
          <a:lstStyle/>
          <a:p>
            <a:r>
              <a:rPr sz="1430" b="0">
                <a:solidFill>
                  <a:srgbClr val="5B6770"/>
                </a:solidFill>
                <a:latin typeface="Calibri"/>
              </a:rPr>
              <a:t>Generated ECOG documentation:</a:t>
            </a:r>
          </a:p>
        </p:txBody>
      </p:sp>
      <p:sp>
        <p:nvSpPr>
          <p:cNvPr id="380" name="Rectangle 379"/>
          <p:cNvSpPr/>
          <p:nvPr/>
        </p:nvSpPr>
        <p:spPr>
          <a:xfrm>
            <a:off x="1069848" y="3191256"/>
            <a:ext cx="4562856"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TextBox 380"/>
          <p:cNvSpPr txBox="1"/>
          <p:nvPr/>
        </p:nvSpPr>
        <p:spPr>
          <a:xfrm>
            <a:off x="1143000" y="3227832"/>
            <a:ext cx="4434840" cy="274320"/>
          </a:xfrm>
          <a:prstGeom prst="rect">
            <a:avLst/>
          </a:prstGeom>
          <a:noFill/>
        </p:spPr>
        <p:txBody>
          <a:bodyPr wrap="square" lIns="0" rIns="0" tIns="0" bIns="0" anchor="ctr">
            <a:spAutoFit/>
          </a:bodyPr>
          <a:lstStyle/>
          <a:p>
            <a:r>
              <a:rPr lang="en-US" sz="1200" b="0" i="0" dirty="0">
                <a:solidFill>
                  <a:srgbClr val="B23A1E"/>
                </a:solidFill>
                <a:latin typeface="Consolas"/>
                <a:cs typeface="Consolas"/>
              </a:rPr>
              <a:t xml:space="preserve">rdfs:comment</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"ECOG 0 = dead … 5 = fully active"@en</a:t>
            </a:r>
          </a:p>
        </p:txBody>
      </p:sp>
      <p:sp>
        <p:nvSpPr>
          <p:cNvPr id="382" name="TextBox 381"/>
          <p:cNvSpPr txBox="1"/>
          <p:nvPr/>
        </p:nvSpPr>
        <p:spPr>
          <a:xfrm>
            <a:off x="1069848" y="3675887"/>
            <a:ext cx="4572000" cy="621792"/>
          </a:xfrm>
          <a:prstGeom prst="rect">
            <a:avLst/>
          </a:prstGeom>
          <a:noFill/>
        </p:spPr>
        <p:txBody>
          <a:bodyPr wrap="square" lIns="0" rIns="0" tIns="0" bIns="0" anchor="ctr">
            <a:spAutoFit/>
          </a:bodyPr>
          <a:lstStyle/>
          <a:p>
            <a:r>
              <a:rPr sz="1330" b="0">
                <a:solidFill>
                  <a:srgbClr val="1F2328"/>
                </a:solidFill>
                <a:latin typeface="Calibri"/>
              </a:rPr>
              <a:t>The ontology may be syntactically valid,
but contradicts the retrieved clinical scale.</a:t>
            </a:r>
          </a:p>
        </p:txBody>
      </p:sp>
      <p:sp>
        <p:nvSpPr>
          <p:cNvPr id="383" name="TextBox 382"/>
          <p:cNvSpPr txBox="1"/>
          <p:nvPr/>
        </p:nvSpPr>
        <p:spPr>
          <a:xfrm>
            <a:off x="6400800" y="2331720"/>
            <a:ext cx="4572000" cy="274320"/>
          </a:xfrm>
          <a:prstGeom prst="rect">
            <a:avLst/>
          </a:prstGeom>
          <a:noFill/>
        </p:spPr>
        <p:txBody>
          <a:bodyPr wrap="square" lIns="0" rIns="0" tIns="0" bIns="0" anchor="ctr">
            <a:spAutoFit/>
          </a:bodyPr>
          <a:lstStyle/>
          <a:p>
            <a:r>
              <a:rPr sz="1540" b="1">
                <a:solidFill>
                  <a:srgbClr val="0B6E4F"/>
                </a:solidFill>
                <a:latin typeface="Consolas"/>
              </a:rPr>
              <a:t>STRUCTURAL ERROR · GRAPH CHECKS</a:t>
            </a:r>
          </a:p>
        </p:txBody>
      </p:sp>
      <p:sp>
        <p:nvSpPr>
          <p:cNvPr id="384" name="TextBox 383"/>
          <p:cNvSpPr txBox="1"/>
          <p:nvPr/>
        </p:nvSpPr>
        <p:spPr>
          <a:xfrm>
            <a:off x="6400800" y="2834640"/>
            <a:ext cx="4572000" cy="274320"/>
          </a:xfrm>
          <a:prstGeom prst="rect">
            <a:avLst/>
          </a:prstGeom>
          <a:noFill/>
        </p:spPr>
        <p:txBody>
          <a:bodyPr wrap="square" lIns="0" rIns="0" tIns="0" bIns="0" anchor="ctr">
            <a:spAutoFit/>
          </a:bodyPr>
          <a:lstStyle/>
          <a:p>
            <a:r>
              <a:rPr sz="1430" b="0">
                <a:solidFill>
                  <a:srgbClr val="5B6770"/>
                </a:solidFill>
                <a:latin typeface="Calibri"/>
              </a:rPr>
              <a:t>Generated foreign-key property:</a:t>
            </a:r>
          </a:p>
        </p:txBody>
      </p:sp>
      <p:sp>
        <p:nvSpPr>
          <p:cNvPr id="385" name="Rectangle 384"/>
          <p:cNvSpPr/>
          <p:nvPr/>
        </p:nvSpPr>
        <p:spPr>
          <a:xfrm>
            <a:off x="6400800" y="3191256"/>
            <a:ext cx="4572000" cy="374904"/>
          </a:xfrm>
          <a:prstGeom prst="rect">
            <a:avLst/>
          </a:prstGeom>
          <a:solidFill>
            <a:srgbClr val="FBE9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TextBox 385"/>
          <p:cNvSpPr txBox="1"/>
          <p:nvPr/>
        </p:nvSpPr>
        <p:spPr>
          <a:xfrm>
            <a:off x="6537960" y="3227832"/>
            <a:ext cx="4242816" cy="274320"/>
          </a:xfrm>
          <a:prstGeom prst="rect">
            <a:avLst/>
          </a:prstGeom>
          <a:noFill/>
        </p:spPr>
        <p:txBody>
          <a:bodyPr wrap="square" lIns="0" rIns="0" tIns="0" bIns="0" anchor="ctr">
            <a:spAutoFit/>
          </a:bodyPr>
          <a:lstStyle/>
          <a:p>
            <a:r>
              <a:rPr lang="en-US" sz="1200" b="1" i="0" dirty="0">
                <a:solidFill>
                  <a:srgbClr val="B23A1E"/>
                </a:solidFill>
                <a:latin typeface="Consolas"/>
                <a:cs typeface="Consolas"/>
              </a:rPr>
              <a:t xml:space="preserve">DataProperty:</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patient_id</a:t>
            </a:r>
            <a:r>
              <a:rPr lang="en-US" sz="1200" b="0" i="0" dirty="0">
                <a:solidFill>
                  <a:srgbClr val="B23A1E"/>
                </a:solidFill>
                <a:latin typeface="Consolas"/>
                <a:cs typeface="Consolas"/>
              </a:rPr>
              <a:t xml:space="preserve">  </a:t>
            </a:r>
            <a:r>
              <a:rPr lang="en-US" sz="1200" b="1" i="0" dirty="0">
                <a:solidFill>
                  <a:srgbClr val="B23A1E"/>
                </a:solidFill>
                <a:latin typeface="Consolas"/>
                <a:cs typeface="Consolas"/>
              </a:rPr>
              <a:t xml:space="preserve">Range:</a:t>
            </a:r>
            <a:r>
              <a:rPr lang="en-US" sz="1200" b="0" i="0" dirty="0">
                <a:solidFill>
                  <a:srgbClr val="B23A1E"/>
                </a:solidFill>
                <a:latin typeface="Consolas"/>
                <a:cs typeface="Consolas"/>
              </a:rPr>
              <a:t xml:space="preserve"> </a:t>
            </a:r>
            <a:r>
              <a:rPr lang="en-US" sz="1200" b="0" i="0" dirty="0">
                <a:solidFill>
                  <a:srgbClr val="B23A1E"/>
                </a:solidFill>
                <a:latin typeface="Consolas"/>
                <a:cs typeface="Consolas"/>
              </a:rPr>
              <a:t xml:space="preserve">xsd:integer</a:t>
            </a:r>
          </a:p>
        </p:txBody>
      </p:sp>
      <p:sp>
        <p:nvSpPr>
          <p:cNvPr id="387" name="TextBox 386"/>
          <p:cNvSpPr txBox="1"/>
          <p:nvPr/>
        </p:nvSpPr>
        <p:spPr>
          <a:xfrm>
            <a:off x="6400800" y="3675887"/>
            <a:ext cx="4572000" cy="621792"/>
          </a:xfrm>
          <a:prstGeom prst="rect">
            <a:avLst/>
          </a:prstGeom>
          <a:noFill/>
        </p:spPr>
        <p:txBody>
          <a:bodyPr wrap="square" lIns="0" rIns="0" tIns="0" bIns="0" anchor="ctr">
            <a:spAutoFit/>
          </a:bodyPr>
          <a:lstStyle/>
          <a:p>
            <a:r>
              <a:rPr sz="1330" b="0">
                <a:solidFill>
                  <a:srgbClr val="1F2328"/>
                </a:solidFill>
                <a:latin typeface="Calibri"/>
              </a:rPr>
              <a:t>The schema identifies patient_id as an FK;
it requires an object-property link.</a:t>
            </a:r>
          </a:p>
        </p:txBody>
      </p:sp>
      <p:sp>
        <p:nvSpPr>
          <p:cNvPr id="388" name="Rounded Rectangle 387"/>
          <p:cNvSpPr/>
          <p:nvPr/>
        </p:nvSpPr>
        <p:spPr>
          <a:xfrm>
            <a:off x="841248" y="4718304"/>
            <a:ext cx="10515600" cy="658368"/>
          </a:xfrm>
          <a:prstGeom prst="roundRect">
            <a:avLst/>
          </a:prstGeom>
          <a:solidFill>
            <a:srgbClr val="E6F2EC"/>
          </a:solidFill>
          <a:ln w="8890">
            <a:solidFill>
              <a:srgbClr val="B7D7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1024128" y="4800600"/>
            <a:ext cx="9985248" cy="237744"/>
          </a:xfrm>
          <a:prstGeom prst="rect">
            <a:avLst/>
          </a:prstGeom>
          <a:noFill/>
        </p:spPr>
        <p:txBody>
          <a:bodyPr wrap="square" lIns="0" rIns="0" tIns="0" bIns="0" anchor="ctr">
            <a:spAutoFit/>
          </a:bodyPr>
          <a:lstStyle/>
          <a:p>
            <a:r>
              <a:rPr lang="en-US" sz="1300" b="1" i="0" dirty="0">
                <a:solidFill>
                  <a:srgbClr val="0B6E4F"/>
                </a:solidFill>
                <a:latin typeface="Calibri"/>
                <a:cs typeface="Calibri"/>
              </a:rPr>
              <a:t xml:space="preserve">CORRECTION   </a:t>
            </a:r>
            <a:r>
              <a:rPr lang="en-US" sz="1200" b="0" i="0" dirty="0">
                <a:solidFill>
                  <a:srgbClr val="5B6770"/>
                </a:solidFill>
                <a:latin typeface="Consolas"/>
                <a:cs typeface="Consolas"/>
              </a:rPr>
              <a:t xml:space="preserve">rdfs:comment</a:t>
            </a:r>
            <a:r>
              <a:rPr lang="en-US" sz="1200" b="0" i="0" dirty="0">
                <a:solidFill>
                  <a:srgbClr val="1F2328"/>
                </a:solidFill>
                <a:latin typeface="Consolas"/>
                <a:cs typeface="Consolas"/>
              </a:rPr>
              <a:t xml:space="preserve"> </a:t>
            </a:r>
            <a:r>
              <a:rPr lang="en-US" sz="1200" b="0" i="0" dirty="0">
                <a:solidFill>
                  <a:srgbClr val="A3401E"/>
                </a:solidFill>
                <a:latin typeface="Consolas"/>
                <a:cs typeface="Consolas"/>
              </a:rPr>
              <a:t xml:space="preserve">"ECOG 0 = fully active … 5 = dead"@en</a:t>
            </a:r>
            <a:r>
              <a:rPr lang="en-US" sz="1300" b="0" i="0" dirty="0">
                <a:solidFill>
                  <a:srgbClr val="5B6770"/>
                </a:solidFill>
                <a:latin typeface="Calibri"/>
                <a:cs typeface="Calibri"/>
              </a:rPr>
              <a:t xml:space="preserve">    |    </a:t>
            </a:r>
            <a:r>
              <a:rPr lang="en-US" sz="1200" b="1" i="0" dirty="0">
                <a:solidFill>
                  <a:srgbClr val="0B6E4F"/>
                </a:solidFill>
                <a:latin typeface="Consolas"/>
                <a:cs typeface="Consolas"/>
              </a:rPr>
              <a:t xml:space="preserve">ObjectProperty:</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patient_id</a:t>
            </a:r>
            <a:r>
              <a:rPr lang="en-US" sz="1200" b="0" i="0" dirty="0">
                <a:solidFill>
                  <a:srgbClr val="1F2328"/>
                </a:solidFill>
                <a:latin typeface="Consolas"/>
                <a:cs typeface="Consolas"/>
              </a:rPr>
              <a:t xml:space="preserve">  </a:t>
            </a:r>
            <a:r>
              <a:rPr lang="en-US" sz="1200" b="1" i="0" dirty="0">
                <a:solidFill>
                  <a:srgbClr val="0B6E4F"/>
                </a:solidFill>
                <a:latin typeface="Consolas"/>
                <a:cs typeface="Consolas"/>
              </a:rPr>
              <a:t xml:space="preserve">Range:</a:t>
            </a:r>
            <a:r>
              <a:rPr lang="en-US" sz="1200" b="0" i="0" dirty="0">
                <a:solidFill>
                  <a:srgbClr val="1F2328"/>
                </a:solidFill>
                <a:latin typeface="Consolas"/>
                <a:cs typeface="Consolas"/>
              </a:rPr>
              <a:t xml:space="preserve"> </a:t>
            </a:r>
            <a:r>
              <a:rPr lang="en-US" sz="1200" b="0" i="0" dirty="0">
                <a:solidFill>
                  <a:srgbClr val="1F2328"/>
                </a:solidFill>
                <a:latin typeface="Consolas"/>
                <a:cs typeface="Consolas"/>
              </a:rPr>
              <a:t xml:space="preserve">PatientData</a:t>
            </a:r>
          </a:p>
        </p:txBody>
      </p:sp>
      <p:sp>
        <p:nvSpPr>
          <p:cNvPr id="390" name="TextBox 389"/>
          <p:cNvSpPr txBox="1"/>
          <p:nvPr/>
        </p:nvSpPr>
        <p:spPr>
          <a:xfrm>
            <a:off x="1024128" y="5120640"/>
            <a:ext cx="10021824" cy="201168"/>
          </a:xfrm>
          <a:prstGeom prst="rect">
            <a:avLst/>
          </a:prstGeom>
          <a:noFill/>
        </p:spPr>
        <p:txBody>
          <a:bodyPr wrap="square" lIns="0" rIns="0" tIns="0" bIns="0" anchor="ctr">
            <a:spAutoFit/>
          </a:bodyPr>
          <a:lstStyle/>
          <a:p>
            <a:r>
              <a:rPr sz="1230" b="0">
                <a:solidFill>
                  <a:srgbClr val="5B6770"/>
                </a:solidFill>
                <a:latin typeface="Calibri"/>
              </a:rPr>
              <a:t>Issues → generator correction (up to 2 retries) → graph validation → accepted fragment or fallback</a:t>
            </a:r>
          </a:p>
        </p:txBody>
      </p:sp>
      <p:sp>
        <p:nvSpPr>
          <p:cNvPr id="391" name="Added 391"/>
          <p:cNvSpPr txBox="1"/>
          <p:nvPr/>
        </p:nvSpPr>
        <p:spPr>
          <a:xfrm>
            <a:off x="7013448" y="448056"/>
            <a:ext cx="4572000" cy="310896"/>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5B6770"/>
                </a:solidFill>
                <a:latin typeface="Consolas"/>
                <a:ea typeface="Consolas"/>
                <a:cs typeface="Consolas"/>
                <a:sym typeface="Consolas"/>
              </a:rPr>
              <a:t>ILLUSTRATIVE ERRORS, NOT OBSERVED OUTPUTS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11"/>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STEP 6 / MERGE</a:t>
            </a:r>
            <a:endParaRPr/>
          </a:p>
        </p:txBody>
      </p:sp>
      <p:sp>
        <p:nvSpPr>
          <p:cNvPr id="382" name="Google Shape;382;p11"/>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The ontology we built now helps build the next part.</a:t>
            </a:r>
            <a:endParaRPr/>
          </a:p>
        </p:txBody>
      </p:sp>
      <p:sp>
        <p:nvSpPr>
          <p:cNvPr id="383" name="Google Shape;383;p11"/>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Integrate the refined fragment; use the expanded core as retrieval context.</a:t>
            </a:r>
            <a:endParaRPr/>
          </a:p>
        </p:txBody>
      </p:sp>
      <p:sp>
        <p:nvSpPr>
          <p:cNvPr id="384" name="Google Shape;384;p11"/>
          <p:cNvSpPr/>
          <p:nvPr/>
        </p:nvSpPr>
        <p:spPr>
          <a:xfrm>
            <a:off x="813816" y="2139696"/>
            <a:ext cx="3017520" cy="2542032"/>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5" name="Google Shape;385;p11"/>
          <p:cNvSpPr txBox="1"/>
          <p:nvPr/>
        </p:nvSpPr>
        <p:spPr>
          <a:xfrm>
            <a:off x="1069848" y="2304288"/>
            <a:ext cx="2578608"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EXISTING CORE  O₁</a:t>
            </a:r>
            <a:endParaRPr/>
          </a:p>
        </p:txBody>
      </p:sp>
      <p:sp>
        <p:nvSpPr>
          <p:cNvPr id="386" name="Google Shape;386;p11"/>
          <p:cNvSpPr/>
          <p:nvPr/>
        </p:nvSpPr>
        <p:spPr>
          <a:xfrm>
            <a:off x="1408176" y="3017520"/>
            <a:ext cx="1847088" cy="630936"/>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txBox="1"/>
          <p:nvPr/>
        </p:nvSpPr>
        <p:spPr>
          <a:xfrm>
            <a:off x="1563624" y="3182112"/>
            <a:ext cx="153619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PatientData</a:t>
            </a:r>
            <a:endParaRPr/>
          </a:p>
        </p:txBody>
      </p:sp>
      <p:sp>
        <p:nvSpPr>
          <p:cNvPr id="388" name="Google Shape;388;p11"/>
          <p:cNvSpPr txBox="1"/>
          <p:nvPr/>
        </p:nvSpPr>
        <p:spPr>
          <a:xfrm>
            <a:off x="1380744" y="4005072"/>
            <a:ext cx="2029968" cy="27432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US" sz="1550">
                <a:solidFill>
                  <a:srgbClr val="5B6770"/>
                </a:solidFill>
                <a:latin typeface="Calibri"/>
                <a:ea typeface="Calibri"/>
                <a:cs typeface="Calibri"/>
                <a:sym typeface="Calibri"/>
              </a:rPr>
              <a:t>already validated</a:t>
            </a:r>
            <a:endParaRPr/>
          </a:p>
        </p:txBody>
      </p:sp>
      <p:sp>
        <p:nvSpPr>
          <p:cNvPr id="389" name="Google Shape;389;p11"/>
          <p:cNvSpPr txBox="1"/>
          <p:nvPr/>
        </p:nvSpPr>
        <p:spPr>
          <a:xfrm>
            <a:off x="3968496" y="3108960"/>
            <a:ext cx="36576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3500">
                <a:solidFill>
                  <a:srgbClr val="0B6E4F"/>
                </a:solidFill>
                <a:latin typeface="Cambria"/>
                <a:ea typeface="Calibri"/>
                <a:cs typeface="Calibri"/>
                <a:sym typeface="Calibri"/>
              </a:rPr>
              <a:t>+</a:t>
            </a:r>
            <a:endParaRPr/>
          </a:p>
        </p:txBody>
      </p:sp>
      <p:sp>
        <p:nvSpPr>
          <p:cNvPr id="390" name="Google Shape;390;p11"/>
          <p:cNvSpPr/>
          <p:nvPr/>
        </p:nvSpPr>
        <p:spPr>
          <a:xfrm>
            <a:off x="4471416" y="2139696"/>
            <a:ext cx="2944368" cy="2542032"/>
          </a:xfrm>
          <a:prstGeom prst="roundRect">
            <a:avLst>
              <a:gd fmla="val 10000" name="adj"/>
            </a:avLst>
          </a:prstGeom>
          <a:solidFill>
            <a:srgbClr val="FFFFFF"/>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1"/>
          <p:cNvSpPr txBox="1"/>
          <p:nvPr/>
        </p:nvSpPr>
        <p:spPr>
          <a:xfrm>
            <a:off x="4700016" y="2304288"/>
            <a:ext cx="2551176"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REFINED DELTA  ΔOadmission</a:t>
            </a:r>
            <a:endParaRPr/>
          </a:p>
        </p:txBody>
      </p:sp>
      <p:sp>
        <p:nvSpPr>
          <p:cNvPr id="392" name="Google Shape;392;p11"/>
          <p:cNvSpPr/>
          <p:nvPr/>
        </p:nvSpPr>
        <p:spPr>
          <a:xfrm>
            <a:off x="4956048" y="3017520"/>
            <a:ext cx="1956816" cy="630936"/>
          </a:xfrm>
          <a:prstGeom prst="roundRect">
            <a:avLst>
              <a:gd fmla="val 10000" name="adj"/>
            </a:avLst>
          </a:prstGeom>
          <a:solidFill>
            <a:srgbClr val="F3F5F4"/>
          </a:solidFill>
          <a:ln cap="flat" cmpd="sng" w="12700">
            <a:solidFill>
              <a:srgbClr val="2F6B78"/>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txBox="1"/>
          <p:nvPr/>
        </p:nvSpPr>
        <p:spPr>
          <a:xfrm>
            <a:off x="5175504" y="3172968"/>
            <a:ext cx="1563624"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00">
                <a:solidFill>
                  <a:srgbClr val="1F2328"/>
                </a:solidFill>
                <a:latin typeface="Calibri"/>
                <a:ea typeface="Calibri"/>
                <a:cs typeface="Calibri"/>
                <a:sym typeface="Calibri"/>
              </a:rPr>
              <a:t>Admission</a:t>
            </a:r>
            <a:endParaRPr/>
          </a:p>
        </p:txBody>
      </p:sp>
      <p:sp>
        <p:nvSpPr>
          <p:cNvPr id="394" name="Google Shape;394;p11"/>
          <p:cNvSpPr txBox="1"/>
          <p:nvPr/>
        </p:nvSpPr>
        <p:spPr>
          <a:xfrm>
            <a:off x="4645152" y="3968496"/>
            <a:ext cx="2633472" cy="31089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lang="en-US" sz="1550">
                <a:solidFill>
                  <a:srgbClr val="5B6770"/>
                </a:solidFill>
                <a:latin typeface="Calibri"/>
                <a:ea typeface="Calibri"/>
                <a:cs typeface="Calibri"/>
                <a:sym typeface="Calibri"/>
              </a:rPr>
              <a:t>Relations · labels · provenance</a:t>
            </a:r>
            <a:endParaRPr/>
          </a:p>
        </p:txBody>
      </p:sp>
      <p:cxnSp>
        <p:nvCxnSpPr>
          <p:cNvPr id="395" name="Google Shape;395;p11"/>
          <p:cNvCxnSpPr/>
          <p:nvPr/>
        </p:nvCxnSpPr>
        <p:spPr>
          <a:xfrm>
            <a:off x="7552944" y="3310128"/>
            <a:ext cx="502920" cy="0"/>
          </a:xfrm>
          <a:prstGeom prst="straightConnector1">
            <a:avLst/>
          </a:prstGeom>
          <a:noFill/>
          <a:ln cap="flat" cmpd="sng" w="31750">
            <a:solidFill>
              <a:srgbClr val="0B6E4F"/>
            </a:solidFill>
            <a:prstDash val="solid"/>
            <a:miter lim="8000"/>
            <a:headEnd len="sm" w="sm" type="none"/>
            <a:tailEnd len="med" w="med" type="triangle"/>
          </a:ln>
        </p:spPr>
      </p:cxnSp>
      <p:sp>
        <p:nvSpPr>
          <p:cNvPr id="396" name="Google Shape;396;p11"/>
          <p:cNvSpPr/>
          <p:nvPr/>
        </p:nvSpPr>
        <p:spPr>
          <a:xfrm>
            <a:off x="8220456" y="2139696"/>
            <a:ext cx="3191256" cy="2542032"/>
          </a:xfrm>
          <a:prstGeom prst="roundRect">
            <a:avLst>
              <a:gd fmla="val 10000" name="adj"/>
            </a:avLst>
          </a:prstGeom>
          <a:solidFill>
            <a:srgbClr val="FFFFFF"/>
          </a:solidFill>
          <a:ln cap="flat" cmpd="sng" w="1777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1"/>
          <p:cNvSpPr txBox="1"/>
          <p:nvPr/>
        </p:nvSpPr>
        <p:spPr>
          <a:xfrm>
            <a:off x="8476488" y="2304288"/>
            <a:ext cx="2724912" cy="30175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EXPANDED CORE  O₂</a:t>
            </a:r>
            <a:endParaRPr/>
          </a:p>
        </p:txBody>
      </p:sp>
      <p:sp>
        <p:nvSpPr>
          <p:cNvPr id="398" name="Google Shape;398;p11"/>
          <p:cNvSpPr/>
          <p:nvPr/>
        </p:nvSpPr>
        <p:spPr>
          <a:xfrm>
            <a:off x="8375904" y="2926080"/>
            <a:ext cx="1234440"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txBox="1"/>
          <p:nvPr/>
        </p:nvSpPr>
        <p:spPr>
          <a:xfrm>
            <a:off x="8485632" y="3072384"/>
            <a:ext cx="1033271"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Admission</a:t>
            </a:r>
            <a:endParaRPr/>
          </a:p>
        </p:txBody>
      </p:sp>
      <p:sp>
        <p:nvSpPr>
          <p:cNvPr id="400" name="Google Shape;400;p11"/>
          <p:cNvSpPr/>
          <p:nvPr/>
        </p:nvSpPr>
        <p:spPr>
          <a:xfrm>
            <a:off x="10003536" y="2926080"/>
            <a:ext cx="1271016" cy="521207"/>
          </a:xfrm>
          <a:prstGeom prst="roundRect">
            <a:avLst>
              <a:gd fmla="val 10000" name="adj"/>
            </a:avLst>
          </a:prstGeom>
          <a:solidFill>
            <a:srgbClr val="E6F2EC"/>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1"/>
          <p:cNvSpPr txBox="1"/>
          <p:nvPr/>
        </p:nvSpPr>
        <p:spPr>
          <a:xfrm>
            <a:off x="10094976" y="3072384"/>
            <a:ext cx="1106424"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1F2328"/>
                </a:solidFill>
                <a:latin typeface="Calibri"/>
                <a:ea typeface="Calibri"/>
                <a:cs typeface="Calibri"/>
                <a:sym typeface="Calibri"/>
              </a:rPr>
              <a:t>PatientData</a:t>
            </a:r>
            <a:endParaRPr/>
          </a:p>
        </p:txBody>
      </p:sp>
      <p:cxnSp>
        <p:nvCxnSpPr>
          <p:cNvPr id="402" name="Google Shape;402;p11"/>
          <p:cNvCxnSpPr/>
          <p:nvPr/>
        </p:nvCxnSpPr>
        <p:spPr>
          <a:xfrm>
            <a:off x="9637776" y="3182112"/>
            <a:ext cx="320040" cy="0"/>
          </a:xfrm>
          <a:prstGeom prst="straightConnector1">
            <a:avLst/>
          </a:prstGeom>
          <a:noFill/>
          <a:ln cap="flat" cmpd="sng" w="29200">
            <a:solidFill>
              <a:srgbClr val="3A7D8C"/>
            </a:solidFill>
            <a:prstDash val="solid"/>
            <a:miter lim="8000"/>
            <a:headEnd len="sm" w="sm" type="none"/>
            <a:tailEnd len="med" w="med" type="triangle"/>
          </a:ln>
        </p:spPr>
      </p:cxnSp>
      <p:sp>
        <p:nvSpPr>
          <p:cNvPr id="403" name="Google Shape;403;p11"/>
          <p:cNvSpPr txBox="1"/>
          <p:nvPr/>
        </p:nvSpPr>
        <p:spPr>
          <a:xfrm>
            <a:off x="9473184" y="3547872"/>
            <a:ext cx="1609344" cy="246888"/>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2F6B78"/>
                </a:solidFill>
                <a:latin typeface="Consolas"/>
                <a:ea typeface="Consolas"/>
                <a:cs typeface="Consolas"/>
                <a:sym typeface="Consolas"/>
              </a:rPr>
              <a:t>hasPatientData</a:t>
            </a:r>
            <a:endParaRPr/>
          </a:p>
        </p:txBody>
      </p:sp>
      <p:sp>
        <p:nvSpPr>
          <p:cNvPr id="404" name="Google Shape;404;p11"/>
          <p:cNvSpPr txBox="1"/>
          <p:nvPr/>
        </p:nvSpPr>
        <p:spPr>
          <a:xfrm>
            <a:off x="8513064" y="4151376"/>
            <a:ext cx="2697480"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50">
                <a:solidFill>
                  <a:srgbClr val="5B6770"/>
                </a:solidFill>
                <a:latin typeface="Calibri"/>
                <a:ea typeface="Calibri"/>
                <a:cs typeface="Calibri"/>
                <a:sym typeface="Calibri"/>
              </a:rPr>
              <a:t>+ enriched annotations</a:t>
            </a:r>
            <a:endParaRPr/>
          </a:p>
        </p:txBody>
      </p:sp>
      <p:sp>
        <p:nvSpPr>
          <p:cNvPr id="405" name="Google Shape;405;p11"/>
          <p:cNvSpPr/>
          <p:nvPr/>
        </p:nvSpPr>
        <p:spPr>
          <a:xfrm>
            <a:off x="822960" y="4892040"/>
            <a:ext cx="10561320" cy="59436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1"/>
          <p:cNvSpPr txBox="1"/>
          <p:nvPr/>
        </p:nvSpPr>
        <p:spPr>
          <a:xfrm>
            <a:off x="1024128" y="5038344"/>
            <a:ext cx="10131552" cy="265176"/>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None/>
            </a:pPr>
            <a:r>
              <a:rPr b="1" lang="en-US" sz="1600">
                <a:solidFill>
                  <a:srgbClr val="0B6E4F"/>
                </a:solidFill>
                <a:latin typeface="Calibri"/>
                <a:ea typeface="Calibri"/>
                <a:cs typeface="Calibri"/>
                <a:sym typeface="Calibri"/>
              </a:rPr>
              <a:t>THE LOOP   </a:t>
            </a:r>
            <a:r>
              <a:rPr b="0" lang="en-US" sz="1600">
                <a:solidFill>
                  <a:srgbClr val="1F2328"/>
                </a:solidFill>
                <a:latin typeface="Calibri"/>
                <a:ea typeface="Calibri"/>
                <a:cs typeface="Calibri"/>
                <a:sym typeface="Calibri"/>
              </a:rPr>
              <a:t>O₂ becomes a retrieval source for the next table → a coherent ontology grows.</a:t>
            </a:r>
            <a:endParaRPr/>
          </a:p>
        </p:txBody>
      </p:sp>
      <p:sp>
        <p:nvSpPr>
          <p:cNvPr id="407" name="Google Shape;407;p11"/>
          <p:cNvSpPr/>
          <p:nvPr/>
        </p:nvSpPr>
        <p:spPr>
          <a:xfrm>
            <a:off x="804672"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1"/>
          <p:cNvSpPr txBox="1"/>
          <p:nvPr/>
        </p:nvSpPr>
        <p:spPr>
          <a:xfrm>
            <a:off x="85953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1  ORDER</a:t>
            </a:r>
            <a:endParaRPr/>
          </a:p>
        </p:txBody>
      </p:sp>
      <p:sp>
        <p:nvSpPr>
          <p:cNvPr id="409" name="Google Shape;409;p11"/>
          <p:cNvSpPr/>
          <p:nvPr/>
        </p:nvSpPr>
        <p:spPr>
          <a:xfrm>
            <a:off x="2642615"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0" name="Google Shape;410;p11"/>
          <p:cNvSpPr txBox="1"/>
          <p:nvPr/>
        </p:nvSpPr>
        <p:spPr>
          <a:xfrm>
            <a:off x="2697479"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2  SEED</a:t>
            </a:r>
            <a:endParaRPr/>
          </a:p>
        </p:txBody>
      </p:sp>
      <p:sp>
        <p:nvSpPr>
          <p:cNvPr id="411" name="Google Shape;411;p11"/>
          <p:cNvSpPr/>
          <p:nvPr/>
        </p:nvSpPr>
        <p:spPr>
          <a:xfrm>
            <a:off x="4480559"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1"/>
          <p:cNvSpPr txBox="1"/>
          <p:nvPr/>
        </p:nvSpPr>
        <p:spPr>
          <a:xfrm>
            <a:off x="4535423"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3  RETRIEVE</a:t>
            </a:r>
            <a:endParaRPr/>
          </a:p>
        </p:txBody>
      </p:sp>
      <p:sp>
        <p:nvSpPr>
          <p:cNvPr id="413" name="Google Shape;413;p11"/>
          <p:cNvSpPr/>
          <p:nvPr/>
        </p:nvSpPr>
        <p:spPr>
          <a:xfrm>
            <a:off x="6318503"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11"/>
          <p:cNvSpPr txBox="1"/>
          <p:nvPr/>
        </p:nvSpPr>
        <p:spPr>
          <a:xfrm>
            <a:off x="6373367"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4  GENERATE</a:t>
            </a:r>
            <a:endParaRPr/>
          </a:p>
        </p:txBody>
      </p:sp>
      <p:sp>
        <p:nvSpPr>
          <p:cNvPr id="415" name="Google Shape;415;p11"/>
          <p:cNvSpPr/>
          <p:nvPr/>
        </p:nvSpPr>
        <p:spPr>
          <a:xfrm>
            <a:off x="8156448" y="5797296"/>
            <a:ext cx="1645920" cy="310896"/>
          </a:xfrm>
          <a:prstGeom prst="roundRect">
            <a:avLst>
              <a:gd fmla="val 10000" name="adj"/>
            </a:avLst>
          </a:prstGeom>
          <a:solidFill>
            <a:srgbClr val="E6F2EC"/>
          </a:solidFill>
          <a:ln cap="flat" cmpd="sng" w="12700">
            <a:solidFill>
              <a:srgbClr val="E6F2E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6" name="Google Shape;416;p11"/>
          <p:cNvSpPr txBox="1"/>
          <p:nvPr/>
        </p:nvSpPr>
        <p:spPr>
          <a:xfrm>
            <a:off x="8211312"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5  VALIDATE</a:t>
            </a:r>
            <a:endParaRPr/>
          </a:p>
        </p:txBody>
      </p:sp>
      <p:sp>
        <p:nvSpPr>
          <p:cNvPr id="417" name="Google Shape;417;p11"/>
          <p:cNvSpPr/>
          <p:nvPr/>
        </p:nvSpPr>
        <p:spPr>
          <a:xfrm>
            <a:off x="9994392" y="5797296"/>
            <a:ext cx="1645920" cy="310896"/>
          </a:xfrm>
          <a:prstGeom prst="roundRect">
            <a:avLst>
              <a:gd fmla="val 10000" name="adj"/>
            </a:avLst>
          </a:prstGeom>
          <a:solidFill>
            <a:srgbClr val="0B6E4F"/>
          </a:solidFill>
          <a:ln cap="flat" cmpd="sng" w="127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8" name="Google Shape;418;p11"/>
          <p:cNvSpPr txBox="1"/>
          <p:nvPr/>
        </p:nvSpPr>
        <p:spPr>
          <a:xfrm>
            <a:off x="10049256" y="5833872"/>
            <a:ext cx="1527048" cy="24688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FFFFFF"/>
                </a:solidFill>
                <a:latin typeface="Consolas"/>
                <a:ea typeface="Consolas"/>
                <a:cs typeface="Consolas"/>
                <a:sym typeface="Consolas"/>
              </a:rPr>
              <a:t>6  MERGE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12"/>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25" name="Google Shape;425;p12"/>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1. Follow the foreign keys</a:t>
            </a:r>
            <a:endParaRPr/>
          </a:p>
        </p:txBody>
      </p:sp>
      <p:sp>
        <p:nvSpPr>
          <p:cNvPr id="426" name="Google Shape;426;p12"/>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1(a)  ·  Start where the foreign-key dependencies begin.</a:t>
            </a:r>
            <a:endParaRPr/>
          </a:p>
        </p:txBody>
      </p:sp>
      <p:sp>
        <p:nvSpPr>
          <p:cNvPr id="427" name="Google Shape;427;p12"/>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2"/>
          <p:cNvSpPr/>
          <p:nvPr/>
        </p:nvSpPr>
        <p:spPr>
          <a:xfrm>
            <a:off x="10049256"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12"/>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12"/>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12"/>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2" name="Google Shape;432;p12"/>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2"/>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4" name="Google Shape;434;p12"/>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6  •  Parent tables must exist before their dependent tables are processed.</a:t>
            </a:r>
            <a:endParaRPr/>
          </a:p>
        </p:txBody>
      </p:sp>
      <p:sp>
        <p:nvSpPr>
          <p:cNvPr id="435" name="Google Shape;435;p12"/>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1 / 6</a:t>
            </a:r>
            <a:endParaRPr/>
          </a:p>
        </p:txBody>
      </p:sp>
      <p:cxnSp>
        <p:nvCxnSpPr>
          <p:cNvPr id="436" name="Google Shape;436;p12"/>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37" name="Google Shape;437;p12"/>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2"/>
          <p:cNvSpPr/>
          <p:nvPr/>
        </p:nvSpPr>
        <p:spPr>
          <a:xfrm>
            <a:off x="621792" y="3282696"/>
            <a:ext cx="1170432" cy="1133856"/>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0" name="Google Shape;440;p12"/>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1" name="Google Shape;441;p12"/>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2" name="Google Shape;442;p12"/>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3" name="Google Shape;443;p12"/>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4" name="Google Shape;444;p12"/>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5" name="Google Shape;445;p12"/>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46" name="Google Shape;446;p12"/>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47" name="Google Shape;447;p12"/>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48" name="Google Shape;448;p12"/>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49" name="Google Shape;449;p12"/>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(a)</a:t>
            </a:r>
            <a:endParaRPr/>
          </a:p>
        </p:txBody>
      </p:sp>
      <p:sp>
        <p:nvSpPr>
          <p:cNvPr id="450" name="Google Shape;450;p12"/>
          <p:cNvSpPr/>
          <p:nvPr/>
        </p:nvSpPr>
        <p:spPr>
          <a:xfrm>
            <a:off x="1956816" y="3483864"/>
            <a:ext cx="1444752" cy="69494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2"/>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52" name="Google Shape;452;p12"/>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53" name="Google Shape;453;p12"/>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4" name="Google Shape;454;p12"/>
          <p:cNvSpPr txBox="1"/>
          <p:nvPr/>
        </p:nvSpPr>
        <p:spPr>
          <a:xfrm>
            <a:off x="7315200" y="3374136"/>
            <a:ext cx="3639312" cy="27432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WHY THIS ORDER?</a:t>
            </a:r>
            <a:endParaRPr/>
          </a:p>
        </p:txBody>
      </p:sp>
      <p:sp>
        <p:nvSpPr>
          <p:cNvPr id="455" name="Google Shape;455;p12"/>
          <p:cNvSpPr txBox="1"/>
          <p:nvPr/>
        </p:nvSpPr>
        <p:spPr>
          <a:xfrm>
            <a:off x="7315200" y="3730752"/>
            <a:ext cx="3657600" cy="71323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800">
                <a:solidFill>
                  <a:srgbClr val="1F2328"/>
                </a:solidFill>
                <a:latin typeface="Calibri"/>
                <a:ea typeface="Calibri"/>
                <a:cs typeface="Calibri"/>
                <a:sym typeface="Calibri"/>
              </a:rPr>
              <a:t>PatientData is processed before admission, so later generation can reuse an existing class.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0" name="Shape 460"/>
        <p:cNvGrpSpPr/>
        <p:nvPr/>
      </p:nvGrpSpPr>
      <p:grpSpPr>
        <a:xfrm>
          <a:off x="0" y="0"/>
          <a:ext cx="0" cy="0"/>
          <a:chOff x="0" y="0"/>
          <a:chExt cx="0" cy="0"/>
        </a:xfrm>
      </p:grpSpPr>
      <p:sp>
        <p:nvSpPr>
          <p:cNvPr id="461" name="Google Shape;461;p13"/>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462" name="Google Shape;462;p13"/>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2. Anchor generation in the schema</a:t>
            </a:r>
            <a:endParaRPr/>
          </a:p>
        </p:txBody>
      </p:sp>
      <p:sp>
        <p:nvSpPr>
          <p:cNvPr id="463" name="Google Shape;463;p13"/>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1(b)  ·  The schema-grounded branch feeds the generation step.</a:t>
            </a:r>
            <a:endParaRPr/>
          </a:p>
        </p:txBody>
      </p:sp>
      <p:sp>
        <p:nvSpPr>
          <p:cNvPr id="464" name="Google Shape;464;p13"/>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3"/>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3"/>
          <p:cNvSpPr/>
          <p:nvPr/>
        </p:nvSpPr>
        <p:spPr>
          <a:xfrm>
            <a:off x="10405872"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3"/>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3"/>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3"/>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7  •  The deterministic seed covers the cleaned table before LLM enrichment.</a:t>
            </a:r>
            <a:endParaRPr/>
          </a:p>
        </p:txBody>
      </p:sp>
      <p:sp>
        <p:nvSpPr>
          <p:cNvPr id="472" name="Google Shape;472;p13"/>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2 / 6</a:t>
            </a:r>
            <a:endParaRPr/>
          </a:p>
        </p:txBody>
      </p:sp>
      <p:cxnSp>
        <p:nvCxnSpPr>
          <p:cNvPr id="473" name="Google Shape;473;p13"/>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474" name="Google Shape;474;p13"/>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75" name="Google Shape;475;p13"/>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476" name="Google Shape;476;p13"/>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477" name="Google Shape;477;p13"/>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478" name="Google Shape;478;p13"/>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13"/>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80" name="Google Shape;480;p13"/>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1" name="Google Shape;481;p13"/>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2" name="Google Shape;482;p13"/>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3" name="Google Shape;483;p13"/>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4" name="Google Shape;484;p13"/>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5" name="Google Shape;485;p13"/>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6" name="Google Shape;486;p13"/>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487" name="Google Shape;487;p13"/>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488" name="Google Shape;488;p13"/>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489" name="Google Shape;489;p13"/>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490" name="Google Shape;490;p13"/>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491" name="Google Shape;491;p13"/>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3"/>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493" name="Google Shape;493;p13"/>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494" name="Google Shape;494;p13"/>
          <p:cNvSpPr/>
          <p:nvPr/>
        </p:nvSpPr>
        <p:spPr>
          <a:xfrm>
            <a:off x="3776472" y="2148840"/>
            <a:ext cx="2103120" cy="758952"/>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5" name="Google Shape;495;p13"/>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(b)</a:t>
            </a:r>
            <a:endParaRPr/>
          </a:p>
        </p:txBody>
      </p:sp>
      <p:sp>
        <p:nvSpPr>
          <p:cNvPr id="496" name="Google Shape;496;p13"/>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497" name="Google Shape;497;p13"/>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498" name="Google Shape;498;p13"/>
          <p:cNvSpPr/>
          <p:nvPr/>
        </p:nvSpPr>
        <p:spPr>
          <a:xfrm>
            <a:off x="7059168" y="3118104"/>
            <a:ext cx="4114800" cy="1591056"/>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99" name="Google Shape;499;p13"/>
          <p:cNvSpPr txBox="1"/>
          <p:nvPr/>
        </p:nvSpPr>
        <p:spPr>
          <a:xfrm>
            <a:off x="7315200" y="3355848"/>
            <a:ext cx="3611880" cy="23774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800">
                <a:solidFill>
                  <a:srgbClr val="0B6E4F"/>
                </a:solidFill>
                <a:latin typeface="Calibri"/>
                <a:ea typeface="Calibri"/>
                <a:cs typeface="Calibri"/>
                <a:sym typeface="Calibri"/>
              </a:rPr>
              <a:t>WHY SEED FIRST?</a:t>
            </a:r>
            <a:endParaRPr/>
          </a:p>
        </p:txBody>
      </p:sp>
      <p:sp>
        <p:nvSpPr>
          <p:cNvPr id="500" name="Google Shape;500;p13"/>
          <p:cNvSpPr txBox="1"/>
          <p:nvPr/>
        </p:nvSpPr>
        <p:spPr>
          <a:xfrm>
            <a:off x="7315200" y="3721608"/>
            <a:ext cx="3593592" cy="7589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700">
                <a:solidFill>
                  <a:srgbClr val="1F2328"/>
                </a:solidFill>
                <a:latin typeface="Calibri"/>
                <a:ea typeface="Calibri"/>
                <a:cs typeface="Calibri"/>
                <a:sym typeface="Calibri"/>
              </a:rPr>
              <a:t>Tables, columns and foreign keys are represented before semantic enrichment.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5" name="Shape 505"/>
        <p:cNvGrpSpPr/>
        <p:nvPr/>
      </p:nvGrpSpPr>
      <p:grpSpPr>
        <a:xfrm>
          <a:off x="0" y="0"/>
          <a:ext cx="0" cy="0"/>
          <a:chOff x="0" y="0"/>
          <a:chExt cx="0" cy="0"/>
        </a:xfrm>
      </p:grpSpPr>
      <p:sp>
        <p:nvSpPr>
          <p:cNvPr id="506" name="Google Shape;506;p14"/>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07" name="Google Shape;507;p14"/>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3. Retrieve the missing semantics</a:t>
            </a:r>
            <a:endParaRPr/>
          </a:p>
        </p:txBody>
      </p:sp>
      <p:sp>
        <p:nvSpPr>
          <p:cNvPr id="508" name="Google Shape;508;p14"/>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1(c–e)  ·  Context is retrieved independently from three sources.</a:t>
            </a:r>
            <a:endParaRPr/>
          </a:p>
        </p:txBody>
      </p:sp>
      <p:sp>
        <p:nvSpPr>
          <p:cNvPr id="509" name="Google Shape;509;p14"/>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0" name="Google Shape;510;p14"/>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4"/>
          <p:cNvSpPr/>
          <p:nvPr/>
        </p:nvSpPr>
        <p:spPr>
          <a:xfrm>
            <a:off x="10762488"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14"/>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14"/>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8  •  Three sources feed generation: external ontologies, documentation, and core.</a:t>
            </a:r>
            <a:endParaRPr/>
          </a:p>
        </p:txBody>
      </p:sp>
      <p:sp>
        <p:nvSpPr>
          <p:cNvPr id="517" name="Google Shape;517;p14"/>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3 / 6</a:t>
            </a:r>
            <a:endParaRPr/>
          </a:p>
        </p:txBody>
      </p:sp>
      <p:cxnSp>
        <p:nvCxnSpPr>
          <p:cNvPr id="518" name="Google Shape;518;p14"/>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19" name="Google Shape;519;p14"/>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0" name="Google Shape;520;p14"/>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21" name="Google Shape;521;p14"/>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22" name="Google Shape;522;p14"/>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23" name="Google Shape;523;p14"/>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4" name="Google Shape;524;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5" name="Google Shape;525;p14"/>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26" name="Google Shape;526;p14"/>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27" name="Google Shape;527;p14"/>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28" name="Google Shape;528;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29" name="Google Shape;529;p14"/>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530" name="Google Shape;530;p14"/>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1" name="Google Shape;531;p14"/>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2" name="Google Shape;532;p14"/>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33" name="Google Shape;533;p14"/>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534" name="Google Shape;534;p14"/>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35" name="Google Shape;535;p14"/>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14"/>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4"/>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38" name="Google Shape;538;p14"/>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39" name="Google Shape;539;p14"/>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0" name="Google Shape;540;p14"/>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1" name="Google Shape;541;p14"/>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2" name="Google Shape;542;p14"/>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3" name="Google Shape;543;p14"/>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44" name="Google Shape;544;p14"/>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545" name="Google Shape;545;p14"/>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546" name="Google Shape;546;p14"/>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547" name="Google Shape;547;p14"/>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548" name="Google Shape;548;p14"/>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4"/>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550" name="Google Shape;550;p14"/>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551" name="Google Shape;551;p14"/>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4"/>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553" name="Google Shape;553;p14"/>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554" name="Google Shape;554;p14"/>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555" name="Google Shape;555;p14"/>
          <p:cNvSpPr/>
          <p:nvPr/>
        </p:nvSpPr>
        <p:spPr>
          <a:xfrm>
            <a:off x="3630168" y="3063240"/>
            <a:ext cx="3218688" cy="2432304"/>
          </a:xfrm>
          <a:prstGeom prst="roundRect">
            <a:avLst>
              <a:gd fmla="val 16667" name="adj"/>
            </a:avLst>
          </a:prstGeom>
          <a:solidFill>
            <a:srgbClr val="FFFFFF"/>
          </a:solidFill>
          <a:ln cap="flat" cmpd="sng" w="254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4"/>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0B6E4F"/>
                </a:solidFill>
                <a:latin typeface="Calibri"/>
                <a:ea typeface="Calibri"/>
                <a:cs typeface="Calibri"/>
                <a:sym typeface="Calibri"/>
              </a:rPr>
              <a:t>RETRIEVAL  •  top-k per source</a:t>
            </a:r>
            <a:endParaRPr/>
          </a:p>
        </p:txBody>
      </p:sp>
      <p:sp>
        <p:nvSpPr>
          <p:cNvPr id="557" name="Google Shape;557;p14"/>
          <p:cNvSpPr/>
          <p:nvPr/>
        </p:nvSpPr>
        <p:spPr>
          <a:xfrm>
            <a:off x="3776472" y="3383280"/>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58" name="Google Shape;558;p14"/>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559" name="Google Shape;559;p14"/>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560" name="Google Shape;560;p14"/>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561" name="Google Shape;561;p14"/>
          <p:cNvSpPr/>
          <p:nvPr/>
        </p:nvSpPr>
        <p:spPr>
          <a:xfrm>
            <a:off x="3776472" y="4087368"/>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4"/>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563" name="Google Shape;563;p14"/>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564" name="Google Shape;564;p14"/>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565" name="Google Shape;565;p14"/>
          <p:cNvSpPr/>
          <p:nvPr/>
        </p:nvSpPr>
        <p:spPr>
          <a:xfrm>
            <a:off x="3776472" y="4791456"/>
            <a:ext cx="2980944" cy="603504"/>
          </a:xfrm>
          <a:prstGeom prst="roundRect">
            <a:avLst>
              <a:gd fmla="val 16667" name="adj"/>
            </a:avLst>
          </a:prstGeom>
          <a:solidFill>
            <a:srgbClr val="DDE5E1"/>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4"/>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567" name="Google Shape;567;p14"/>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568" name="Google Shape;568;p14"/>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569" name="Google Shape;569;p14"/>
          <p:cNvSpPr/>
          <p:nvPr/>
        </p:nvSpPr>
        <p:spPr>
          <a:xfrm>
            <a:off x="7141464" y="3127248"/>
            <a:ext cx="4059936" cy="1746504"/>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4"/>
          <p:cNvSpPr txBox="1"/>
          <p:nvPr/>
        </p:nvSpPr>
        <p:spPr>
          <a:xfrm>
            <a:off x="7388352" y="3355848"/>
            <a:ext cx="3621024"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700">
                <a:solidFill>
                  <a:srgbClr val="0B6E4F"/>
                </a:solidFill>
                <a:latin typeface="Calibri"/>
                <a:ea typeface="Calibri"/>
                <a:cs typeface="Calibri"/>
                <a:sym typeface="Calibri"/>
              </a:rPr>
              <a:t>THREE SOURCES, THREE ROLES</a:t>
            </a:r>
            <a:endParaRPr/>
          </a:p>
        </p:txBody>
      </p:sp>
      <p:sp>
        <p:nvSpPr>
          <p:cNvPr id="571" name="Google Shape;571;p14"/>
          <p:cNvSpPr txBox="1"/>
          <p:nvPr/>
        </p:nvSpPr>
        <p:spPr>
          <a:xfrm>
            <a:off x="7388352" y="3749039"/>
            <a:ext cx="3621024" cy="85039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900">
                <a:solidFill>
                  <a:srgbClr val="1F2328"/>
                </a:solidFill>
                <a:latin typeface="Calibri"/>
                <a:ea typeface="Calibri"/>
                <a:cs typeface="Calibri"/>
                <a:sym typeface="Calibri"/>
              </a:rPr>
              <a:t>Domain reuse   •   Meaning of codes</a:t>
            </a:r>
            <a:br>
              <a:rPr b="0" lang="en-US" sz="1900">
                <a:solidFill>
                  <a:srgbClr val="1F2328"/>
                </a:solidFill>
                <a:latin typeface="Calibri"/>
                <a:ea typeface="Calibri"/>
                <a:cs typeface="Calibri"/>
                <a:sym typeface="Calibri"/>
              </a:rPr>
            </a:br>
            <a:r>
              <a:rPr b="0" lang="en-US" sz="1900">
                <a:solidFill>
                  <a:srgbClr val="1F2328"/>
                </a:solidFill>
                <a:latin typeface="Calibri"/>
                <a:ea typeface="Calibri"/>
                <a:cs typeface="Calibri"/>
                <a:sym typeface="Calibri"/>
              </a:rPr>
              <a:t>Cross-table coherence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15"/>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578" name="Google Shape;578;p15"/>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4. Generate a delta ontology</a:t>
            </a:r>
            <a:endParaRPr/>
          </a:p>
        </p:txBody>
      </p:sp>
      <p:sp>
        <p:nvSpPr>
          <p:cNvPr id="579" name="Google Shape;579;p15"/>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1(f–g)  ·  The Gen-LLM receives the seed and retrieved context.</a:t>
            </a:r>
            <a:endParaRPr/>
          </a:p>
        </p:txBody>
      </p:sp>
      <p:sp>
        <p:nvSpPr>
          <p:cNvPr id="580" name="Google Shape;580;p15"/>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5"/>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2" name="Google Shape;582;p15"/>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3" name="Google Shape;583;p15"/>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5"/>
          <p:cNvSpPr/>
          <p:nvPr/>
        </p:nvSpPr>
        <p:spPr>
          <a:xfrm>
            <a:off x="11119104"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15"/>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6" name="Google Shape;586;p15"/>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7" name="Google Shape;587;p15"/>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9  •  The Gen-LLM enriches the structural seed; the output is a delta ontology.</a:t>
            </a:r>
            <a:endParaRPr/>
          </a:p>
        </p:txBody>
      </p:sp>
      <p:sp>
        <p:nvSpPr>
          <p:cNvPr id="588" name="Google Shape;588;p15"/>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4 / 6</a:t>
            </a:r>
            <a:endParaRPr/>
          </a:p>
        </p:txBody>
      </p:sp>
      <p:cxnSp>
        <p:nvCxnSpPr>
          <p:cNvPr id="589" name="Google Shape;589;p15"/>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590" name="Google Shape;590;p15"/>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1" name="Google Shape;591;p15"/>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592" name="Google Shape;592;p15"/>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593" name="Google Shape;593;p15"/>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594" name="Google Shape;594;p15"/>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5" name="Google Shape;595;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596" name="Google Shape;596;p15"/>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597" name="Google Shape;597;p15"/>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598" name="Google Shape;598;p15"/>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599" name="Google Shape;599;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0" name="Google Shape;600;p15"/>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01" name="Google Shape;601;p15"/>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2" name="Google Shape;602;p15"/>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3" name="Google Shape;603;p15"/>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04" name="Google Shape;604;p15"/>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05" name="Google Shape;605;p15"/>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06" name="Google Shape;606;p15"/>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07" name="Google Shape;607;p15"/>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08" name="Google Shape;608;p15"/>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09" name="Google Shape;609;p15"/>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0" name="Google Shape;610;p15"/>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1" name="Google Shape;611;p15"/>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612" name="Google Shape;612;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3" name="Google Shape;613;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4" name="Google Shape;614;p15"/>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615" name="Google Shape;615;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16" name="Google Shape;616;p15"/>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617" name="Google Shape;617;p15"/>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618" name="Google Shape;618;p15"/>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619" name="Google Shape;619;p15"/>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15"/>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21" name="Google Shape;621;p15"/>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2" name="Google Shape;622;p15"/>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3" name="Google Shape;623;p15"/>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4" name="Google Shape;624;p15"/>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5" name="Google Shape;625;p15"/>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6" name="Google Shape;626;p15"/>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27" name="Google Shape;627;p15"/>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28" name="Google Shape;628;p15"/>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629" name="Google Shape;629;p15"/>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630" name="Google Shape;630;p15"/>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631" name="Google Shape;631;p15"/>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632" name="Google Shape;632;p15"/>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3" name="Google Shape;633;p15"/>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634" name="Google Shape;634;p15"/>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635" name="Google Shape;635;p15"/>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36" name="Google Shape;636;p15"/>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637" name="Google Shape;637;p15"/>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638" name="Google Shape;638;p15"/>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639" name="Google Shape;639;p15"/>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15"/>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641" name="Google Shape;641;p15"/>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2" name="Google Shape;642;p15"/>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643" name="Google Shape;643;p15"/>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644" name="Google Shape;644;p15"/>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645" name="Google Shape;645;p15"/>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46" name="Google Shape;646;p15"/>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647" name="Google Shape;647;p15"/>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648" name="Google Shape;648;p15"/>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649" name="Google Shape;649;p15"/>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15"/>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651" name="Google Shape;651;p15"/>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652" name="Google Shape;652;p15"/>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653" name="Google Shape;653;p15"/>
          <p:cNvSpPr/>
          <p:nvPr/>
        </p:nvSpPr>
        <p:spPr>
          <a:xfrm>
            <a:off x="7150608" y="3666744"/>
            <a:ext cx="1335024" cy="822960"/>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5"/>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(f)</a:t>
            </a:r>
            <a:endParaRPr/>
          </a:p>
        </p:txBody>
      </p:sp>
      <p:sp>
        <p:nvSpPr>
          <p:cNvPr id="655" name="Google Shape;655;p15"/>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656" name="Google Shape;656;p15"/>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657" name="Google Shape;657;p15"/>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658" name="Google Shape;658;p15"/>
          <p:cNvSpPr/>
          <p:nvPr/>
        </p:nvSpPr>
        <p:spPr>
          <a:xfrm>
            <a:off x="9208008" y="3355848"/>
            <a:ext cx="2176272" cy="1325880"/>
          </a:xfrm>
          <a:prstGeom prst="roundRect">
            <a:avLst>
              <a:gd fmla="val 16667" name="adj"/>
            </a:avLst>
          </a:prstGeom>
          <a:solidFill>
            <a:srgbClr val="E9EEEB"/>
          </a:solidFill>
          <a:ln cap="flat" cmpd="sng" w="203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59" name="Google Shape;659;p15"/>
          <p:cNvSpPr txBox="1"/>
          <p:nvPr/>
        </p:nvSpPr>
        <p:spPr>
          <a:xfrm>
            <a:off x="9400032" y="3547872"/>
            <a:ext cx="1783080" cy="26517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0B6E4F"/>
                </a:solidFill>
                <a:latin typeface="Calibri"/>
                <a:ea typeface="Calibri"/>
                <a:cs typeface="Calibri"/>
                <a:sym typeface="Calibri"/>
              </a:rPr>
              <a:t>DELTA ONTOLOGY</a:t>
            </a:r>
            <a:endParaRPr/>
          </a:p>
        </p:txBody>
      </p:sp>
      <p:sp>
        <p:nvSpPr>
          <p:cNvPr id="660" name="Google Shape;660;p15"/>
          <p:cNvSpPr txBox="1"/>
          <p:nvPr/>
        </p:nvSpPr>
        <p:spPr>
          <a:xfrm>
            <a:off x="9400032" y="3886200"/>
            <a:ext cx="1764792" cy="63093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1F2328"/>
                </a:solidFill>
                <a:latin typeface="Calibri"/>
                <a:ea typeface="Calibri"/>
                <a:cs typeface="Calibri"/>
                <a:sym typeface="Calibri"/>
              </a:rPr>
              <a:t>Semantic axioms + provenance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5" name="Shape 665"/>
        <p:cNvGrpSpPr/>
        <p:nvPr/>
      </p:nvGrpSpPr>
      <p:grpSpPr>
        <a:xfrm>
          <a:off x="0" y="0"/>
          <a:ext cx="0" cy="0"/>
          <a:chOff x="0" y="0"/>
          <a:chExt cx="0" cy="0"/>
        </a:xfrm>
      </p:grpSpPr>
      <p:sp>
        <p:nvSpPr>
          <p:cNvPr id="666" name="Google Shape;666;p16"/>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667" name="Google Shape;667;p16"/>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5. Validate before integration</a:t>
            </a:r>
            <a:endParaRPr/>
          </a:p>
        </p:txBody>
      </p:sp>
      <p:sp>
        <p:nvSpPr>
          <p:cNvPr id="668" name="Google Shape;668;p16"/>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1(h)  ·  Validate and refine each delta before it joins the core.</a:t>
            </a:r>
            <a:endParaRPr/>
          </a:p>
        </p:txBody>
      </p:sp>
      <p:sp>
        <p:nvSpPr>
          <p:cNvPr id="669" name="Google Shape;669;p16"/>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16"/>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1" name="Google Shape;671;p16"/>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16"/>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3" name="Google Shape;673;p16"/>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16"/>
          <p:cNvSpPr/>
          <p:nvPr/>
        </p:nvSpPr>
        <p:spPr>
          <a:xfrm>
            <a:off x="11475720" y="356616"/>
            <a:ext cx="274320" cy="64008"/>
          </a:xfrm>
          <a:prstGeom prst="rect">
            <a:avLst/>
          </a:prstGeom>
          <a:solidFill>
            <a:srgbClr val="D3DAD6"/>
          </a:solidFill>
          <a:ln cap="flat" cmpd="sng" w="95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5" name="Google Shape;675;p16"/>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16"/>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10  •  Reject or correct errors before allowing a fragment into the core ontology.</a:t>
            </a:r>
            <a:endParaRPr/>
          </a:p>
        </p:txBody>
      </p:sp>
      <p:sp>
        <p:nvSpPr>
          <p:cNvPr id="677" name="Google Shape;677;p16"/>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5 / 6</a:t>
            </a:r>
            <a:endParaRPr/>
          </a:p>
        </p:txBody>
      </p:sp>
      <p:cxnSp>
        <p:nvCxnSpPr>
          <p:cNvPr id="678" name="Google Shape;678;p16"/>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679" name="Google Shape;679;p16"/>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0" name="Google Shape;680;p16"/>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681" name="Google Shape;681;p16"/>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682" name="Google Shape;682;p16"/>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683" name="Google Shape;683;p16"/>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4" name="Google Shape;684;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5" name="Google Shape;685;p16"/>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686" name="Google Shape;686;p16"/>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87" name="Google Shape;687;p16"/>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88" name="Google Shape;688;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89" name="Google Shape;689;p16"/>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690" name="Google Shape;690;p16"/>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1" name="Google Shape;691;p16"/>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2" name="Google Shape;692;p16"/>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693" name="Google Shape;693;p16"/>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694" name="Google Shape;694;p16"/>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695" name="Google Shape;695;p16"/>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6" name="Google Shape;696;p16"/>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697" name="Google Shape;697;p16"/>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698" name="Google Shape;698;p16"/>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699" name="Google Shape;699;p16"/>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0" name="Google Shape;700;p16"/>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01" name="Google Shape;701;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2" name="Google Shape;702;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3" name="Google Shape;703;p16"/>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04" name="Google Shape;704;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5" name="Google Shape;705;p16"/>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06" name="Google Shape;706;p16"/>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707" name="Google Shape;707;p16"/>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08" name="Google Shape;708;p16"/>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09" name="Google Shape;709;p16"/>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710" name="Google Shape;710;p16"/>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1" name="Google Shape;711;p16"/>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16"/>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3" name="Google Shape;713;p16"/>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4" name="Google Shape;714;p16"/>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5" name="Google Shape;715;p16"/>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6" name="Google Shape;716;p16"/>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17" name="Google Shape;717;p16"/>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18" name="Google Shape;718;p16"/>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19" name="Google Shape;719;p16"/>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720" name="Google Shape;720;p16"/>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721" name="Google Shape;721;p16"/>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722" name="Google Shape;722;p16"/>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723" name="Google Shape;723;p16"/>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4" name="Google Shape;724;p16"/>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725" name="Google Shape;725;p16"/>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726" name="Google Shape;726;p16"/>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16"/>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728" name="Google Shape;728;p16"/>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729" name="Google Shape;729;p16"/>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730" name="Google Shape;730;p16"/>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1" name="Google Shape;731;p16"/>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732" name="Google Shape;732;p16"/>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16"/>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734" name="Google Shape;734;p16"/>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735" name="Google Shape;735;p16"/>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736" name="Google Shape;736;p16"/>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16"/>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738" name="Google Shape;738;p16"/>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739" name="Google Shape;739;p16"/>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740" name="Google Shape;740;p16"/>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16"/>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742" name="Google Shape;742;p16"/>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743" name="Google Shape;743;p16"/>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744" name="Google Shape;744;p16"/>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45" name="Google Shape;745;p16"/>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746" name="Google Shape;746;p16"/>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747" name="Google Shape;747;p16"/>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748" name="Google Shape;748;p16"/>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749" name="Google Shape;749;p16"/>
          <p:cNvSpPr/>
          <p:nvPr/>
        </p:nvSpPr>
        <p:spPr>
          <a:xfrm>
            <a:off x="9354312" y="3502152"/>
            <a:ext cx="2121408" cy="1115568"/>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16"/>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(h)</a:t>
            </a:r>
            <a:endParaRPr/>
          </a:p>
        </p:txBody>
      </p:sp>
      <p:sp>
        <p:nvSpPr>
          <p:cNvPr id="751" name="Google Shape;751;p16"/>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752" name="Google Shape;752;p16"/>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753" name="Google Shape;753;p16"/>
          <p:cNvSpPr txBox="1"/>
          <p:nvPr/>
        </p:nvSpPr>
        <p:spPr>
          <a:xfrm>
            <a:off x="9326880" y="4992624"/>
            <a:ext cx="2194560" cy="62179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550">
                <a:solidFill>
                  <a:srgbClr val="0B6E4F"/>
                </a:solidFill>
                <a:latin typeface="Calibri"/>
                <a:ea typeface="Calibri"/>
                <a:cs typeface="Calibri"/>
                <a:sym typeface="Calibri"/>
              </a:rPr>
              <a:t>Next: integrate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17"/>
          <p:cNvSpPr txBox="1"/>
          <p:nvPr/>
        </p:nvSpPr>
        <p:spPr>
          <a:xfrm>
            <a:off x="512064" y="320040"/>
            <a:ext cx="6675120" cy="301752"/>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0B6E4F"/>
                </a:solidFill>
                <a:latin typeface="Consolas"/>
                <a:ea typeface="Calibri"/>
                <a:cs typeface="Calibri"/>
                <a:sym typeface="Calibri"/>
              </a:rPr>
              <a:t>RIGOR  /  REASSEMBLING THE ARCHITECTURE</a:t>
            </a:r>
            <a:endParaRPr>
              <a:latin typeface="Consolas"/>
            </a:endParaRPr>
          </a:p>
        </p:txBody>
      </p:sp>
      <p:sp>
        <p:nvSpPr>
          <p:cNvPr id="760" name="Google Shape;760;p17"/>
          <p:cNvSpPr txBox="1"/>
          <p:nvPr/>
        </p:nvSpPr>
        <p:spPr>
          <a:xfrm>
            <a:off x="512064" y="685800"/>
            <a:ext cx="10881360" cy="4754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2900">
                <a:solidFill>
                  <a:srgbClr val="1F2328"/>
                </a:solidFill>
                <a:latin typeface="Cambria"/>
                <a:ea typeface="Calibri"/>
                <a:cs typeface="Calibri"/>
                <a:sym typeface="Calibri"/>
              </a:rPr>
              <a:t>6. Integrate and reuse the growing core</a:t>
            </a:r>
            <a:endParaRPr/>
          </a:p>
        </p:txBody>
      </p:sp>
      <p:sp>
        <p:nvSpPr>
          <p:cNvPr id="761" name="Google Shape;761;p17"/>
          <p:cNvSpPr txBox="1"/>
          <p:nvPr/>
        </p:nvSpPr>
        <p:spPr>
          <a:xfrm>
            <a:off x="512064" y="1271016"/>
            <a:ext cx="10607040" cy="310896"/>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600">
                <a:solidFill>
                  <a:srgbClr val="3A434C"/>
                </a:solidFill>
                <a:latin typeface="Calibri"/>
                <a:ea typeface="Calibri"/>
                <a:cs typeface="Calibri"/>
                <a:sym typeface="Calibri"/>
              </a:rPr>
              <a:t>Paper Fig. 1(i)  ·  The growing core feeds the next generation iteration.</a:t>
            </a:r>
            <a:endParaRPr/>
          </a:p>
        </p:txBody>
      </p:sp>
      <p:sp>
        <p:nvSpPr>
          <p:cNvPr id="762" name="Google Shape;762;p17"/>
          <p:cNvSpPr/>
          <p:nvPr/>
        </p:nvSpPr>
        <p:spPr>
          <a:xfrm>
            <a:off x="969264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3" name="Google Shape;763;p17"/>
          <p:cNvSpPr/>
          <p:nvPr/>
        </p:nvSpPr>
        <p:spPr>
          <a:xfrm>
            <a:off x="10049256"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4" name="Google Shape;764;p17"/>
          <p:cNvSpPr/>
          <p:nvPr/>
        </p:nvSpPr>
        <p:spPr>
          <a:xfrm>
            <a:off x="10405872"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5" name="Google Shape;765;p17"/>
          <p:cNvSpPr/>
          <p:nvPr/>
        </p:nvSpPr>
        <p:spPr>
          <a:xfrm>
            <a:off x="10762488"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6" name="Google Shape;766;p17"/>
          <p:cNvSpPr/>
          <p:nvPr/>
        </p:nvSpPr>
        <p:spPr>
          <a:xfrm>
            <a:off x="11119104"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7" name="Google Shape;767;p17"/>
          <p:cNvSpPr/>
          <p:nvPr/>
        </p:nvSpPr>
        <p:spPr>
          <a:xfrm>
            <a:off x="11475720" y="356616"/>
            <a:ext cx="274320" cy="64008"/>
          </a:xfrm>
          <a:prstGeom prst="rect">
            <a:avLst/>
          </a:prstGeom>
          <a:solidFill>
            <a:srgbClr val="0B6E4F"/>
          </a:solidFill>
          <a:ln cap="flat" cmpd="sng" w="95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8" name="Google Shape;768;p17"/>
          <p:cNvSpPr/>
          <p:nvPr/>
        </p:nvSpPr>
        <p:spPr>
          <a:xfrm>
            <a:off x="438912" y="1792224"/>
            <a:ext cx="11301984" cy="4187952"/>
          </a:xfrm>
          <a:prstGeom prst="roundRect">
            <a:avLst>
              <a:gd fmla="val 16667"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769" name="Google Shape;769;p17"/>
          <p:cNvSpPr txBox="1"/>
          <p:nvPr/>
        </p:nvSpPr>
        <p:spPr>
          <a:xfrm>
            <a:off x="566928" y="6208776"/>
            <a:ext cx="10881360" cy="29260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50">
                <a:solidFill>
                  <a:srgbClr val="1F2328"/>
                </a:solidFill>
                <a:latin typeface="Calibri"/>
                <a:ea typeface="Calibri"/>
                <a:cs typeface="Calibri"/>
                <a:sym typeface="Calibri"/>
              </a:rPr>
              <a:t>Recall slide 11  •  The validated result becomes context for generating the next table.</a:t>
            </a:r>
            <a:endParaRPr/>
          </a:p>
        </p:txBody>
      </p:sp>
      <p:sp>
        <p:nvSpPr>
          <p:cNvPr id="770" name="Google Shape;770;p17"/>
          <p:cNvSpPr txBox="1"/>
          <p:nvPr/>
        </p:nvSpPr>
        <p:spPr>
          <a:xfrm>
            <a:off x="10917936" y="6519672"/>
            <a:ext cx="804672" cy="18288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0" lang="en-US" sz="1400">
                <a:solidFill>
                  <a:srgbClr val="3A434C"/>
                </a:solidFill>
                <a:latin typeface="Calibri"/>
                <a:ea typeface="Calibri"/>
                <a:cs typeface="Calibri"/>
                <a:sym typeface="Calibri"/>
              </a:rPr>
              <a:t>6 / 6</a:t>
            </a:r>
            <a:endParaRPr/>
          </a:p>
        </p:txBody>
      </p:sp>
      <p:cxnSp>
        <p:nvCxnSpPr>
          <p:cNvPr id="771" name="Google Shape;771;p17"/>
          <p:cNvCxnSpPr/>
          <p:nvPr/>
        </p:nvCxnSpPr>
        <p:spPr>
          <a:xfrm>
            <a:off x="1792224" y="3831336"/>
            <a:ext cx="164592" cy="0"/>
          </a:xfrm>
          <a:prstGeom prst="straightConnector1">
            <a:avLst/>
          </a:prstGeom>
          <a:noFill/>
          <a:ln cap="flat" cmpd="sng" w="38100">
            <a:solidFill>
              <a:srgbClr val="3A7D8C"/>
            </a:solidFill>
            <a:prstDash val="solid"/>
            <a:miter lim="8000"/>
            <a:headEnd len="sm" w="sm" type="none"/>
            <a:tailEnd len="sm" w="sm" type="none"/>
          </a:ln>
        </p:spPr>
      </p:cxnSp>
      <p:sp>
        <p:nvSpPr>
          <p:cNvPr id="772" name="Google Shape;772;p17"/>
          <p:cNvSpPr/>
          <p:nvPr/>
        </p:nvSpPr>
        <p:spPr>
          <a:xfrm rot="5400000">
            <a:off x="1892808" y="3767328"/>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3" name="Google Shape;773;p17"/>
          <p:cNvCxnSpPr/>
          <p:nvPr/>
        </p:nvCxnSpPr>
        <p:spPr>
          <a:xfrm>
            <a:off x="3401568" y="3794760"/>
            <a:ext cx="100584" cy="0"/>
          </a:xfrm>
          <a:prstGeom prst="straightConnector1">
            <a:avLst/>
          </a:prstGeom>
          <a:noFill/>
          <a:ln cap="flat" cmpd="sng" w="29200">
            <a:solidFill>
              <a:srgbClr val="3A7D8C"/>
            </a:solidFill>
            <a:prstDash val="solid"/>
            <a:miter lim="8000"/>
            <a:headEnd len="sm" w="sm" type="none"/>
            <a:tailEnd len="sm" w="sm" type="none"/>
          </a:ln>
        </p:spPr>
      </p:cxnSp>
      <p:cxnSp>
        <p:nvCxnSpPr>
          <p:cNvPr id="774" name="Google Shape;774;p17"/>
          <p:cNvCxnSpPr/>
          <p:nvPr/>
        </p:nvCxnSpPr>
        <p:spPr>
          <a:xfrm rot="10800000">
            <a:off x="3502152" y="2523744"/>
            <a:ext cx="0" cy="1271016"/>
          </a:xfrm>
          <a:prstGeom prst="straightConnector1">
            <a:avLst/>
          </a:prstGeom>
          <a:noFill/>
          <a:ln cap="flat" cmpd="sng" w="29200">
            <a:solidFill>
              <a:srgbClr val="3A7D8C"/>
            </a:solidFill>
            <a:prstDash val="solid"/>
            <a:miter lim="8000"/>
            <a:headEnd len="sm" w="sm" type="none"/>
            <a:tailEnd len="sm" w="sm" type="none"/>
          </a:ln>
        </p:spPr>
      </p:cxnSp>
      <p:cxnSp>
        <p:nvCxnSpPr>
          <p:cNvPr id="775" name="Google Shape;775;p17"/>
          <p:cNvCxnSpPr/>
          <p:nvPr/>
        </p:nvCxnSpPr>
        <p:spPr>
          <a:xfrm>
            <a:off x="3502152" y="2523744"/>
            <a:ext cx="265176" cy="0"/>
          </a:xfrm>
          <a:prstGeom prst="straightConnector1">
            <a:avLst/>
          </a:prstGeom>
          <a:noFill/>
          <a:ln cap="flat" cmpd="sng" w="29200">
            <a:solidFill>
              <a:srgbClr val="3A7D8C"/>
            </a:solidFill>
            <a:prstDash val="solid"/>
            <a:miter lim="8000"/>
            <a:headEnd len="sm" w="sm" type="none"/>
            <a:tailEnd len="sm" w="sm" type="none"/>
          </a:ln>
        </p:spPr>
      </p:cxnSp>
      <p:sp>
        <p:nvSpPr>
          <p:cNvPr id="776" name="Google Shape;776;p17"/>
          <p:cNvSpPr/>
          <p:nvPr/>
        </p:nvSpPr>
        <p:spPr>
          <a:xfrm rot="5400000">
            <a:off x="3703320" y="245973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77" name="Google Shape;777;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78" name="Google Shape;778;p17"/>
          <p:cNvCxnSpPr/>
          <p:nvPr/>
        </p:nvCxnSpPr>
        <p:spPr>
          <a:xfrm rot="10800000">
            <a:off x="3520440" y="3621024"/>
            <a:ext cx="0" cy="310896"/>
          </a:xfrm>
          <a:prstGeom prst="straightConnector1">
            <a:avLst/>
          </a:prstGeom>
          <a:noFill/>
          <a:ln cap="flat" cmpd="sng" w="26650">
            <a:solidFill>
              <a:srgbClr val="3A7D8C"/>
            </a:solidFill>
            <a:prstDash val="solid"/>
            <a:miter lim="8000"/>
            <a:headEnd len="sm" w="sm" type="none"/>
            <a:tailEnd len="sm" w="sm" type="none"/>
          </a:ln>
        </p:spPr>
      </p:cxnSp>
      <p:cxnSp>
        <p:nvCxnSpPr>
          <p:cNvPr id="779" name="Google Shape;779;p17"/>
          <p:cNvCxnSpPr/>
          <p:nvPr/>
        </p:nvCxnSpPr>
        <p:spPr>
          <a:xfrm>
            <a:off x="3520440" y="3621024"/>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0" name="Google Shape;780;p17"/>
          <p:cNvSpPr/>
          <p:nvPr/>
        </p:nvSpPr>
        <p:spPr>
          <a:xfrm rot="5400000">
            <a:off x="3712463" y="3557016"/>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1" name="Google Shape;781;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2" name="Google Shape;782;p17"/>
          <p:cNvCxnSpPr/>
          <p:nvPr/>
        </p:nvCxnSpPr>
        <p:spPr>
          <a:xfrm>
            <a:off x="3520440" y="3931920"/>
            <a:ext cx="0" cy="384048"/>
          </a:xfrm>
          <a:prstGeom prst="straightConnector1">
            <a:avLst/>
          </a:prstGeom>
          <a:noFill/>
          <a:ln cap="flat" cmpd="sng" w="26650">
            <a:solidFill>
              <a:srgbClr val="3A7D8C"/>
            </a:solidFill>
            <a:prstDash val="solid"/>
            <a:miter lim="8000"/>
            <a:headEnd len="sm" w="sm" type="none"/>
            <a:tailEnd len="sm" w="sm" type="none"/>
          </a:ln>
        </p:spPr>
      </p:cxnSp>
      <p:cxnSp>
        <p:nvCxnSpPr>
          <p:cNvPr id="783" name="Google Shape;783;p17"/>
          <p:cNvCxnSpPr/>
          <p:nvPr/>
        </p:nvCxnSpPr>
        <p:spPr>
          <a:xfrm>
            <a:off x="3520440" y="4315968"/>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4" name="Google Shape;784;p17"/>
          <p:cNvSpPr/>
          <p:nvPr/>
        </p:nvSpPr>
        <p:spPr>
          <a:xfrm rot="5400000">
            <a:off x="3712463" y="4251959"/>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5" name="Google Shape;785;p17"/>
          <p:cNvCxnSpPr/>
          <p:nvPr/>
        </p:nvCxnSpPr>
        <p:spPr>
          <a:xfrm>
            <a:off x="3401568" y="3931920"/>
            <a:ext cx="118872" cy="0"/>
          </a:xfrm>
          <a:prstGeom prst="straightConnector1">
            <a:avLst/>
          </a:prstGeom>
          <a:noFill/>
          <a:ln cap="flat" cmpd="sng" w="26650">
            <a:solidFill>
              <a:srgbClr val="3A7D8C"/>
            </a:solidFill>
            <a:prstDash val="solid"/>
            <a:miter lim="8000"/>
            <a:headEnd len="sm" w="sm" type="none"/>
            <a:tailEnd len="sm" w="sm" type="none"/>
          </a:ln>
        </p:spPr>
      </p:cxnSp>
      <p:cxnSp>
        <p:nvCxnSpPr>
          <p:cNvPr id="786" name="Google Shape;786;p17"/>
          <p:cNvCxnSpPr/>
          <p:nvPr/>
        </p:nvCxnSpPr>
        <p:spPr>
          <a:xfrm>
            <a:off x="3520440" y="3931920"/>
            <a:ext cx="0" cy="1078992"/>
          </a:xfrm>
          <a:prstGeom prst="straightConnector1">
            <a:avLst/>
          </a:prstGeom>
          <a:noFill/>
          <a:ln cap="flat" cmpd="sng" w="26650">
            <a:solidFill>
              <a:srgbClr val="3A7D8C"/>
            </a:solidFill>
            <a:prstDash val="solid"/>
            <a:miter lim="8000"/>
            <a:headEnd len="sm" w="sm" type="none"/>
            <a:tailEnd len="sm" w="sm" type="none"/>
          </a:ln>
        </p:spPr>
      </p:cxnSp>
      <p:cxnSp>
        <p:nvCxnSpPr>
          <p:cNvPr id="787" name="Google Shape;787;p17"/>
          <p:cNvCxnSpPr/>
          <p:nvPr/>
        </p:nvCxnSpPr>
        <p:spPr>
          <a:xfrm>
            <a:off x="3520440" y="5010912"/>
            <a:ext cx="256032" cy="0"/>
          </a:xfrm>
          <a:prstGeom prst="straightConnector1">
            <a:avLst/>
          </a:prstGeom>
          <a:noFill/>
          <a:ln cap="flat" cmpd="sng" w="26650">
            <a:solidFill>
              <a:srgbClr val="3A7D8C"/>
            </a:solidFill>
            <a:prstDash val="solid"/>
            <a:miter lim="8000"/>
            <a:headEnd len="sm" w="sm" type="none"/>
            <a:tailEnd len="sm" w="sm" type="none"/>
          </a:ln>
        </p:spPr>
      </p:cxnSp>
      <p:sp>
        <p:nvSpPr>
          <p:cNvPr id="788" name="Google Shape;788;p17"/>
          <p:cNvSpPr/>
          <p:nvPr/>
        </p:nvSpPr>
        <p:spPr>
          <a:xfrm rot="5400000">
            <a:off x="3712463" y="49469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89" name="Google Shape;789;p17"/>
          <p:cNvCxnSpPr/>
          <p:nvPr/>
        </p:nvCxnSpPr>
        <p:spPr>
          <a:xfrm>
            <a:off x="5879592" y="2505456"/>
            <a:ext cx="1874520" cy="0"/>
          </a:xfrm>
          <a:prstGeom prst="straightConnector1">
            <a:avLst/>
          </a:prstGeom>
          <a:noFill/>
          <a:ln cap="flat" cmpd="sng" w="29200">
            <a:solidFill>
              <a:srgbClr val="3A7D8C"/>
            </a:solidFill>
            <a:prstDash val="solid"/>
            <a:miter lim="8000"/>
            <a:headEnd len="sm" w="sm" type="none"/>
            <a:tailEnd len="sm" w="sm" type="none"/>
          </a:ln>
        </p:spPr>
      </p:cxnSp>
      <p:cxnSp>
        <p:nvCxnSpPr>
          <p:cNvPr id="790" name="Google Shape;790;p17"/>
          <p:cNvCxnSpPr/>
          <p:nvPr/>
        </p:nvCxnSpPr>
        <p:spPr>
          <a:xfrm>
            <a:off x="7754112" y="2505456"/>
            <a:ext cx="0" cy="1133856"/>
          </a:xfrm>
          <a:prstGeom prst="straightConnector1">
            <a:avLst/>
          </a:prstGeom>
          <a:noFill/>
          <a:ln cap="flat" cmpd="sng" w="29200">
            <a:solidFill>
              <a:srgbClr val="3A7D8C"/>
            </a:solidFill>
            <a:prstDash val="solid"/>
            <a:miter lim="8000"/>
            <a:headEnd len="sm" w="sm" type="none"/>
            <a:tailEnd len="sm" w="sm" type="none"/>
          </a:ln>
        </p:spPr>
      </p:cxnSp>
      <p:sp>
        <p:nvSpPr>
          <p:cNvPr id="791" name="Google Shape;791;p17"/>
          <p:cNvSpPr/>
          <p:nvPr/>
        </p:nvSpPr>
        <p:spPr>
          <a:xfrm rot="10800000">
            <a:off x="7690104" y="3575304"/>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2" name="Google Shape;792;p17"/>
          <p:cNvCxnSpPr/>
          <p:nvPr/>
        </p:nvCxnSpPr>
        <p:spPr>
          <a:xfrm>
            <a:off x="6757416" y="3621024"/>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3" name="Google Shape;793;p17"/>
          <p:cNvCxnSpPr/>
          <p:nvPr/>
        </p:nvCxnSpPr>
        <p:spPr>
          <a:xfrm>
            <a:off x="6903720" y="3621024"/>
            <a:ext cx="0" cy="448056"/>
          </a:xfrm>
          <a:prstGeom prst="straightConnector1">
            <a:avLst/>
          </a:prstGeom>
          <a:noFill/>
          <a:ln cap="flat" cmpd="sng" w="26650">
            <a:solidFill>
              <a:srgbClr val="3A7D8C"/>
            </a:solidFill>
            <a:prstDash val="solid"/>
            <a:miter lim="8000"/>
            <a:headEnd len="sm" w="sm" type="none"/>
            <a:tailEnd len="sm" w="sm" type="none"/>
          </a:ln>
        </p:spPr>
      </p:cxnSp>
      <p:cxnSp>
        <p:nvCxnSpPr>
          <p:cNvPr id="794" name="Google Shape;794;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795" name="Google Shape;795;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6" name="Google Shape;796;p17"/>
          <p:cNvCxnSpPr/>
          <p:nvPr/>
        </p:nvCxnSpPr>
        <p:spPr>
          <a:xfrm flipH="1" rot="10800000">
            <a:off x="6757416" y="4069080"/>
            <a:ext cx="374904" cy="256032"/>
          </a:xfrm>
          <a:prstGeom prst="straightConnector1">
            <a:avLst/>
          </a:prstGeom>
          <a:noFill/>
          <a:ln cap="flat" cmpd="sng" w="26650">
            <a:solidFill>
              <a:srgbClr val="3A7D8C"/>
            </a:solidFill>
            <a:prstDash val="solid"/>
            <a:miter lim="8000"/>
            <a:headEnd len="sm" w="sm" type="none"/>
            <a:tailEnd len="sm" w="sm" type="none"/>
          </a:ln>
        </p:spPr>
      </p:cxnSp>
      <p:sp>
        <p:nvSpPr>
          <p:cNvPr id="797" name="Google Shape;797;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798" name="Google Shape;798;p17"/>
          <p:cNvCxnSpPr/>
          <p:nvPr/>
        </p:nvCxnSpPr>
        <p:spPr>
          <a:xfrm>
            <a:off x="6757416" y="5020056"/>
            <a:ext cx="146304" cy="0"/>
          </a:xfrm>
          <a:prstGeom prst="straightConnector1">
            <a:avLst/>
          </a:prstGeom>
          <a:noFill/>
          <a:ln cap="flat" cmpd="sng" w="26650">
            <a:solidFill>
              <a:srgbClr val="3A7D8C"/>
            </a:solidFill>
            <a:prstDash val="solid"/>
            <a:miter lim="8000"/>
            <a:headEnd len="sm" w="sm" type="none"/>
            <a:tailEnd len="sm" w="sm" type="none"/>
          </a:ln>
        </p:spPr>
      </p:cxnSp>
      <p:cxnSp>
        <p:nvCxnSpPr>
          <p:cNvPr id="799" name="Google Shape;799;p17"/>
          <p:cNvCxnSpPr/>
          <p:nvPr/>
        </p:nvCxnSpPr>
        <p:spPr>
          <a:xfrm rot="10800000">
            <a:off x="6903720" y="4069080"/>
            <a:ext cx="0" cy="950976"/>
          </a:xfrm>
          <a:prstGeom prst="straightConnector1">
            <a:avLst/>
          </a:prstGeom>
          <a:noFill/>
          <a:ln cap="flat" cmpd="sng" w="26650">
            <a:solidFill>
              <a:srgbClr val="3A7D8C"/>
            </a:solidFill>
            <a:prstDash val="solid"/>
            <a:miter lim="8000"/>
            <a:headEnd len="sm" w="sm" type="none"/>
            <a:tailEnd len="sm" w="sm" type="none"/>
          </a:ln>
        </p:spPr>
      </p:cxnSp>
      <p:cxnSp>
        <p:nvCxnSpPr>
          <p:cNvPr id="800" name="Google Shape;800;p17"/>
          <p:cNvCxnSpPr/>
          <p:nvPr/>
        </p:nvCxnSpPr>
        <p:spPr>
          <a:xfrm>
            <a:off x="6903720" y="4069080"/>
            <a:ext cx="228600" cy="0"/>
          </a:xfrm>
          <a:prstGeom prst="straightConnector1">
            <a:avLst/>
          </a:prstGeom>
          <a:noFill/>
          <a:ln cap="flat" cmpd="sng" w="26650">
            <a:solidFill>
              <a:srgbClr val="3A7D8C"/>
            </a:solidFill>
            <a:prstDash val="solid"/>
            <a:miter lim="8000"/>
            <a:headEnd len="sm" w="sm" type="none"/>
            <a:tailEnd len="sm" w="sm" type="none"/>
          </a:ln>
        </p:spPr>
      </p:cxnSp>
      <p:sp>
        <p:nvSpPr>
          <p:cNvPr id="801" name="Google Shape;801;p17"/>
          <p:cNvSpPr/>
          <p:nvPr/>
        </p:nvSpPr>
        <p:spPr>
          <a:xfrm rot="5400000">
            <a:off x="7068312" y="4005072"/>
            <a:ext cx="128016" cy="128016"/>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2" name="Google Shape;802;p17"/>
          <p:cNvCxnSpPr/>
          <p:nvPr/>
        </p:nvCxnSpPr>
        <p:spPr>
          <a:xfrm>
            <a:off x="8485632" y="4059936"/>
            <a:ext cx="868680" cy="0"/>
          </a:xfrm>
          <a:prstGeom prst="straightConnector1">
            <a:avLst/>
          </a:prstGeom>
          <a:noFill/>
          <a:ln cap="flat" cmpd="sng" w="38100">
            <a:solidFill>
              <a:srgbClr val="0B6E4F"/>
            </a:solidFill>
            <a:prstDash val="solid"/>
            <a:miter lim="8000"/>
            <a:headEnd len="sm" w="sm" type="none"/>
            <a:tailEnd len="sm" w="sm" type="none"/>
          </a:ln>
        </p:spPr>
      </p:cxnSp>
      <p:sp>
        <p:nvSpPr>
          <p:cNvPr id="803" name="Google Shape;803;p17"/>
          <p:cNvSpPr/>
          <p:nvPr/>
        </p:nvSpPr>
        <p:spPr>
          <a:xfrm rot="5400000">
            <a:off x="9290304" y="3995928"/>
            <a:ext cx="128016" cy="128016"/>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4" name="Google Shape;804;p17"/>
          <p:cNvCxnSpPr/>
          <p:nvPr/>
        </p:nvCxnSpPr>
        <p:spPr>
          <a:xfrm>
            <a:off x="10451592" y="4608576"/>
            <a:ext cx="0" cy="438912"/>
          </a:xfrm>
          <a:prstGeom prst="straightConnector1">
            <a:avLst/>
          </a:prstGeom>
          <a:noFill/>
          <a:ln cap="flat" cmpd="sng" w="33000">
            <a:solidFill>
              <a:srgbClr val="1E8A5E"/>
            </a:solidFill>
            <a:prstDash val="solid"/>
            <a:miter lim="8000"/>
            <a:headEnd len="sm" w="sm" type="none"/>
            <a:tailEnd len="sm" w="sm" type="none"/>
          </a:ln>
        </p:spPr>
      </p:cxnSp>
      <p:sp>
        <p:nvSpPr>
          <p:cNvPr id="805" name="Google Shape;805;p17"/>
          <p:cNvSpPr/>
          <p:nvPr/>
        </p:nvSpPr>
        <p:spPr>
          <a:xfrm rot="10800000">
            <a:off x="10387584" y="4983479"/>
            <a:ext cx="128016" cy="128016"/>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06" name="Google Shape;806;p17"/>
          <p:cNvCxnSpPr/>
          <p:nvPr/>
        </p:nvCxnSpPr>
        <p:spPr>
          <a:xfrm rot="10800000">
            <a:off x="8924544" y="5449824"/>
            <a:ext cx="466344" cy="0"/>
          </a:xfrm>
          <a:prstGeom prst="straightConnector1">
            <a:avLst/>
          </a:prstGeom>
          <a:noFill/>
          <a:ln cap="flat" cmpd="sng" w="31750">
            <a:solidFill>
              <a:srgbClr val="1E8A5E"/>
            </a:solidFill>
            <a:prstDash val="solid"/>
            <a:miter lim="8000"/>
            <a:headEnd len="sm" w="sm" type="none"/>
            <a:tailEnd len="sm" w="sm" type="none"/>
          </a:ln>
        </p:spPr>
      </p:cxnSp>
      <p:cxnSp>
        <p:nvCxnSpPr>
          <p:cNvPr id="807" name="Google Shape;807;p17"/>
          <p:cNvCxnSpPr/>
          <p:nvPr/>
        </p:nvCxnSpPr>
        <p:spPr>
          <a:xfrm>
            <a:off x="8924544" y="5449824"/>
            <a:ext cx="0" cy="365760"/>
          </a:xfrm>
          <a:prstGeom prst="straightConnector1">
            <a:avLst/>
          </a:prstGeom>
          <a:noFill/>
          <a:ln cap="flat" cmpd="sng" w="31750">
            <a:solidFill>
              <a:srgbClr val="1E8A5E"/>
            </a:solidFill>
            <a:prstDash val="solid"/>
            <a:miter lim="8000"/>
            <a:headEnd len="sm" w="sm" type="none"/>
            <a:tailEnd len="sm" w="sm" type="none"/>
          </a:ln>
        </p:spPr>
      </p:cxnSp>
      <p:cxnSp>
        <p:nvCxnSpPr>
          <p:cNvPr id="808" name="Google Shape;808;p17"/>
          <p:cNvCxnSpPr/>
          <p:nvPr/>
        </p:nvCxnSpPr>
        <p:spPr>
          <a:xfrm rot="10800000">
            <a:off x="6967728" y="5815584"/>
            <a:ext cx="1956816" cy="0"/>
          </a:xfrm>
          <a:prstGeom prst="straightConnector1">
            <a:avLst/>
          </a:prstGeom>
          <a:noFill/>
          <a:ln cap="flat" cmpd="sng" w="31750">
            <a:solidFill>
              <a:srgbClr val="1E8A5E"/>
            </a:solidFill>
            <a:prstDash val="solid"/>
            <a:miter lim="8000"/>
            <a:headEnd len="sm" w="sm" type="none"/>
            <a:tailEnd len="sm" w="sm" type="none"/>
          </a:ln>
        </p:spPr>
      </p:cxnSp>
      <p:cxnSp>
        <p:nvCxnSpPr>
          <p:cNvPr id="809" name="Google Shape;809;p17"/>
          <p:cNvCxnSpPr/>
          <p:nvPr/>
        </p:nvCxnSpPr>
        <p:spPr>
          <a:xfrm rot="10800000">
            <a:off x="6967728" y="5020056"/>
            <a:ext cx="0" cy="795528"/>
          </a:xfrm>
          <a:prstGeom prst="straightConnector1">
            <a:avLst/>
          </a:prstGeom>
          <a:noFill/>
          <a:ln cap="flat" cmpd="sng" w="31750">
            <a:solidFill>
              <a:srgbClr val="1E8A5E"/>
            </a:solidFill>
            <a:prstDash val="solid"/>
            <a:miter lim="8000"/>
            <a:headEnd len="sm" w="sm" type="none"/>
            <a:tailEnd len="sm" w="sm" type="none"/>
          </a:ln>
        </p:spPr>
      </p:cxnSp>
      <p:cxnSp>
        <p:nvCxnSpPr>
          <p:cNvPr id="810" name="Google Shape;810;p17"/>
          <p:cNvCxnSpPr/>
          <p:nvPr/>
        </p:nvCxnSpPr>
        <p:spPr>
          <a:xfrm rot="10800000">
            <a:off x="6766560" y="5020056"/>
            <a:ext cx="201168" cy="0"/>
          </a:xfrm>
          <a:prstGeom prst="straightConnector1">
            <a:avLst/>
          </a:prstGeom>
          <a:noFill/>
          <a:ln cap="flat" cmpd="sng" w="31750">
            <a:solidFill>
              <a:srgbClr val="1E8A5E"/>
            </a:solidFill>
            <a:prstDash val="solid"/>
            <a:miter lim="8000"/>
            <a:headEnd len="sm" w="sm" type="none"/>
            <a:tailEnd len="sm" w="sm" type="none"/>
          </a:ln>
        </p:spPr>
      </p:cxnSp>
      <p:sp>
        <p:nvSpPr>
          <p:cNvPr id="812" name="Google Shape;812;p17"/>
          <p:cNvSpPr/>
          <p:nvPr/>
        </p:nvSpPr>
        <p:spPr>
          <a:xfrm>
            <a:off x="621792" y="3282696"/>
            <a:ext cx="1170432" cy="1133856"/>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13" name="Google Shape;813;p17"/>
          <p:cNvSpPr/>
          <p:nvPr/>
        </p:nvSpPr>
        <p:spPr>
          <a:xfrm>
            <a:off x="740664"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4" name="Google Shape;814;p17"/>
          <p:cNvCxnSpPr/>
          <p:nvPr/>
        </p:nvCxnSpPr>
        <p:spPr>
          <a:xfrm>
            <a:off x="781812"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5" name="Google Shape;815;p17"/>
          <p:cNvCxnSpPr/>
          <p:nvPr/>
        </p:nvCxnSpPr>
        <p:spPr>
          <a:xfrm>
            <a:off x="781812"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6" name="Google Shape;816;p17"/>
          <p:cNvSpPr/>
          <p:nvPr/>
        </p:nvSpPr>
        <p:spPr>
          <a:xfrm>
            <a:off x="1051560"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17" name="Google Shape;817;p17"/>
          <p:cNvCxnSpPr/>
          <p:nvPr/>
        </p:nvCxnSpPr>
        <p:spPr>
          <a:xfrm>
            <a:off x="1092708"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18" name="Google Shape;818;p17"/>
          <p:cNvCxnSpPr/>
          <p:nvPr/>
        </p:nvCxnSpPr>
        <p:spPr>
          <a:xfrm>
            <a:off x="1092708"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19" name="Google Shape;819;p17"/>
          <p:cNvSpPr/>
          <p:nvPr/>
        </p:nvSpPr>
        <p:spPr>
          <a:xfrm>
            <a:off x="1362456" y="3447288"/>
            <a:ext cx="256032" cy="402336"/>
          </a:xfrm>
          <a:prstGeom prst="rect">
            <a:avLst/>
          </a:prstGeom>
          <a:solidFill>
            <a:srgbClr val="DDE5E1"/>
          </a:solidFill>
          <a:ln cap="flat" cmpd="sng" w="10150">
            <a:solidFill>
              <a:srgbClr val="1E8A5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cxnSp>
        <p:nvCxnSpPr>
          <p:cNvPr id="820" name="Google Shape;820;p17"/>
          <p:cNvCxnSpPr/>
          <p:nvPr/>
        </p:nvCxnSpPr>
        <p:spPr>
          <a:xfrm>
            <a:off x="1403604" y="3566160"/>
            <a:ext cx="169164" cy="0"/>
          </a:xfrm>
          <a:prstGeom prst="straightConnector1">
            <a:avLst/>
          </a:prstGeom>
          <a:noFill/>
          <a:ln cap="flat" cmpd="sng" w="9525">
            <a:solidFill>
              <a:srgbClr val="8E989E"/>
            </a:solidFill>
            <a:prstDash val="solid"/>
            <a:miter lim="8000"/>
            <a:headEnd len="sm" w="sm" type="none"/>
            <a:tailEnd len="sm" w="sm" type="none"/>
          </a:ln>
        </p:spPr>
      </p:cxnSp>
      <p:cxnSp>
        <p:nvCxnSpPr>
          <p:cNvPr id="821" name="Google Shape;821;p17"/>
          <p:cNvCxnSpPr/>
          <p:nvPr/>
        </p:nvCxnSpPr>
        <p:spPr>
          <a:xfrm>
            <a:off x="1403604" y="3648456"/>
            <a:ext cx="169164" cy="0"/>
          </a:xfrm>
          <a:prstGeom prst="straightConnector1">
            <a:avLst/>
          </a:prstGeom>
          <a:noFill/>
          <a:ln cap="flat" cmpd="sng" w="9525">
            <a:solidFill>
              <a:srgbClr val="8E989E"/>
            </a:solidFill>
            <a:prstDash val="solid"/>
            <a:miter lim="8000"/>
            <a:headEnd len="sm" w="sm" type="none"/>
            <a:tailEnd len="sm" w="sm" type="none"/>
          </a:ln>
        </p:spPr>
      </p:cxnSp>
      <p:sp>
        <p:nvSpPr>
          <p:cNvPr id="822" name="Google Shape;822;p17"/>
          <p:cNvSpPr txBox="1"/>
          <p:nvPr/>
        </p:nvSpPr>
        <p:spPr>
          <a:xfrm>
            <a:off x="630936" y="3941063"/>
            <a:ext cx="1152144" cy="28346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1F2328"/>
                </a:solidFill>
                <a:latin typeface="Calibri"/>
                <a:ea typeface="Calibri"/>
                <a:cs typeface="Calibri"/>
                <a:sym typeface="Calibri"/>
              </a:rPr>
              <a:t>Schema S</a:t>
            </a:r>
            <a:endParaRPr/>
          </a:p>
        </p:txBody>
      </p:sp>
      <p:sp>
        <p:nvSpPr>
          <p:cNvPr id="823" name="Google Shape;823;p17"/>
          <p:cNvSpPr txBox="1"/>
          <p:nvPr/>
        </p:nvSpPr>
        <p:spPr>
          <a:xfrm>
            <a:off x="1490472" y="3072384"/>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(a)</a:t>
            </a:r>
            <a:endParaRPr/>
          </a:p>
        </p:txBody>
      </p:sp>
      <p:sp>
        <p:nvSpPr>
          <p:cNvPr id="824" name="Google Shape;824;p17"/>
          <p:cNvSpPr/>
          <p:nvPr/>
        </p:nvSpPr>
        <p:spPr>
          <a:xfrm>
            <a:off x="1956816" y="3483864"/>
            <a:ext cx="1444752" cy="694944"/>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5" name="Google Shape;825;p17"/>
          <p:cNvSpPr txBox="1"/>
          <p:nvPr/>
        </p:nvSpPr>
        <p:spPr>
          <a:xfrm>
            <a:off x="2039112" y="3602736"/>
            <a:ext cx="1280160"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Iterate</a:t>
            </a:r>
            <a:endParaRPr/>
          </a:p>
        </p:txBody>
      </p:sp>
      <p:sp>
        <p:nvSpPr>
          <p:cNvPr id="826" name="Google Shape;826;p17"/>
          <p:cNvSpPr txBox="1"/>
          <p:nvPr/>
        </p:nvSpPr>
        <p:spPr>
          <a:xfrm>
            <a:off x="2048256" y="3877056"/>
            <a:ext cx="1261872" cy="25603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FK-BFS</a:t>
            </a:r>
            <a:endParaRPr/>
          </a:p>
        </p:txBody>
      </p:sp>
      <p:sp>
        <p:nvSpPr>
          <p:cNvPr id="827" name="Google Shape;827;p17"/>
          <p:cNvSpPr/>
          <p:nvPr/>
        </p:nvSpPr>
        <p:spPr>
          <a:xfrm>
            <a:off x="3776472" y="2148840"/>
            <a:ext cx="2103120" cy="758952"/>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28" name="Google Shape;828;p17"/>
          <p:cNvSpPr txBox="1"/>
          <p:nvPr/>
        </p:nvSpPr>
        <p:spPr>
          <a:xfrm>
            <a:off x="3849624" y="1938528"/>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(b)</a:t>
            </a:r>
            <a:endParaRPr/>
          </a:p>
        </p:txBody>
      </p:sp>
      <p:sp>
        <p:nvSpPr>
          <p:cNvPr id="829" name="Google Shape;829;p17"/>
          <p:cNvSpPr txBox="1"/>
          <p:nvPr/>
        </p:nvSpPr>
        <p:spPr>
          <a:xfrm>
            <a:off x="3858768" y="2267712"/>
            <a:ext cx="1938527"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Direct mapping</a:t>
            </a:r>
            <a:endParaRPr/>
          </a:p>
        </p:txBody>
      </p:sp>
      <p:sp>
        <p:nvSpPr>
          <p:cNvPr id="830" name="Google Shape;830;p17"/>
          <p:cNvSpPr txBox="1"/>
          <p:nvPr/>
        </p:nvSpPr>
        <p:spPr>
          <a:xfrm>
            <a:off x="3867911" y="2542032"/>
            <a:ext cx="1920239" cy="320040"/>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OWL seed DMᵣ</a:t>
            </a:r>
            <a:endParaRPr/>
          </a:p>
        </p:txBody>
      </p:sp>
      <p:sp>
        <p:nvSpPr>
          <p:cNvPr id="831" name="Google Shape;831;p17"/>
          <p:cNvSpPr/>
          <p:nvPr/>
        </p:nvSpPr>
        <p:spPr>
          <a:xfrm>
            <a:off x="3630168" y="3063240"/>
            <a:ext cx="3218688" cy="2432304"/>
          </a:xfrm>
          <a:prstGeom prst="roundRect">
            <a:avLst>
              <a:gd fmla="val 16667" name="adj"/>
            </a:avLst>
          </a:prstGeom>
          <a:solidFill>
            <a:srgbClr val="FFFFFF"/>
          </a:solidFill>
          <a:ln cap="flat" cmpd="sng" w="15225">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2" name="Google Shape;832;p17"/>
          <p:cNvSpPr txBox="1"/>
          <p:nvPr/>
        </p:nvSpPr>
        <p:spPr>
          <a:xfrm>
            <a:off x="3758184" y="3099816"/>
            <a:ext cx="2990088" cy="21031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400">
                <a:solidFill>
                  <a:srgbClr val="3A434C"/>
                </a:solidFill>
                <a:latin typeface="Calibri"/>
                <a:ea typeface="Calibri"/>
                <a:cs typeface="Calibri"/>
                <a:sym typeface="Calibri"/>
              </a:rPr>
              <a:t>RETRIEVAL  •  top-k per source</a:t>
            </a:r>
            <a:endParaRPr/>
          </a:p>
        </p:txBody>
      </p:sp>
      <p:sp>
        <p:nvSpPr>
          <p:cNvPr id="833" name="Google Shape;833;p17"/>
          <p:cNvSpPr/>
          <p:nvPr/>
        </p:nvSpPr>
        <p:spPr>
          <a:xfrm>
            <a:off x="3776472" y="3383280"/>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4" name="Google Shape;834;p17"/>
          <p:cNvSpPr txBox="1"/>
          <p:nvPr/>
        </p:nvSpPr>
        <p:spPr>
          <a:xfrm>
            <a:off x="3877056" y="3415284"/>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(c)</a:t>
            </a:r>
            <a:endParaRPr/>
          </a:p>
        </p:txBody>
      </p:sp>
      <p:sp>
        <p:nvSpPr>
          <p:cNvPr id="835" name="Google Shape;835;p17"/>
          <p:cNvSpPr txBox="1"/>
          <p:nvPr/>
        </p:nvSpPr>
        <p:spPr>
          <a:xfrm>
            <a:off x="4224528" y="3396996"/>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External ontologies</a:t>
            </a:r>
            <a:endParaRPr/>
          </a:p>
        </p:txBody>
      </p:sp>
      <p:sp>
        <p:nvSpPr>
          <p:cNvPr id="836" name="Google Shape;836;p17"/>
          <p:cNvSpPr txBox="1"/>
          <p:nvPr/>
        </p:nvSpPr>
        <p:spPr>
          <a:xfrm>
            <a:off x="4224528" y="3703320"/>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Domain alignments</a:t>
            </a:r>
            <a:endParaRPr/>
          </a:p>
        </p:txBody>
      </p:sp>
      <p:sp>
        <p:nvSpPr>
          <p:cNvPr id="837" name="Google Shape;837;p17"/>
          <p:cNvSpPr/>
          <p:nvPr/>
        </p:nvSpPr>
        <p:spPr>
          <a:xfrm>
            <a:off x="3776472" y="4087368"/>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38" name="Google Shape;838;p17"/>
          <p:cNvSpPr txBox="1"/>
          <p:nvPr/>
        </p:nvSpPr>
        <p:spPr>
          <a:xfrm>
            <a:off x="3877056" y="4119372"/>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(d)</a:t>
            </a:r>
            <a:endParaRPr/>
          </a:p>
        </p:txBody>
      </p:sp>
      <p:sp>
        <p:nvSpPr>
          <p:cNvPr id="839" name="Google Shape;839;p17"/>
          <p:cNvSpPr txBox="1"/>
          <p:nvPr/>
        </p:nvSpPr>
        <p:spPr>
          <a:xfrm>
            <a:off x="4224528" y="4101084"/>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Documentation</a:t>
            </a:r>
            <a:endParaRPr/>
          </a:p>
        </p:txBody>
      </p:sp>
      <p:sp>
        <p:nvSpPr>
          <p:cNvPr id="840" name="Google Shape;840;p17"/>
          <p:cNvSpPr txBox="1"/>
          <p:nvPr/>
        </p:nvSpPr>
        <p:spPr>
          <a:xfrm>
            <a:off x="4224528" y="4407408"/>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Cryptic fields and codes</a:t>
            </a:r>
            <a:endParaRPr/>
          </a:p>
        </p:txBody>
      </p:sp>
      <p:sp>
        <p:nvSpPr>
          <p:cNvPr id="841" name="Google Shape;841;p17"/>
          <p:cNvSpPr/>
          <p:nvPr/>
        </p:nvSpPr>
        <p:spPr>
          <a:xfrm>
            <a:off x="3776472" y="4791456"/>
            <a:ext cx="2980944" cy="603504"/>
          </a:xfrm>
          <a:prstGeom prst="roundRect">
            <a:avLst>
              <a:gd fmla="val 16667" name="adj"/>
            </a:avLst>
          </a:prstGeom>
          <a:solidFill>
            <a:srgbClr val="F3F5F4"/>
          </a:solidFill>
          <a:ln cap="flat" cmpd="sng" w="15225">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2" name="Google Shape;842;p17"/>
          <p:cNvSpPr txBox="1"/>
          <p:nvPr/>
        </p:nvSpPr>
        <p:spPr>
          <a:xfrm>
            <a:off x="3877056" y="4823460"/>
            <a:ext cx="365760" cy="19202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(e)</a:t>
            </a:r>
            <a:endParaRPr/>
          </a:p>
        </p:txBody>
      </p:sp>
      <p:sp>
        <p:nvSpPr>
          <p:cNvPr id="843" name="Google Shape;843;p17"/>
          <p:cNvSpPr txBox="1"/>
          <p:nvPr/>
        </p:nvSpPr>
        <p:spPr>
          <a:xfrm>
            <a:off x="4224528" y="4805172"/>
            <a:ext cx="2404872" cy="28346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500">
                <a:solidFill>
                  <a:srgbClr val="1F2328"/>
                </a:solidFill>
                <a:latin typeface="Calibri"/>
                <a:ea typeface="Calibri"/>
                <a:cs typeface="Calibri"/>
                <a:sym typeface="Calibri"/>
              </a:rPr>
              <a:t>Growing core ontology</a:t>
            </a:r>
            <a:endParaRPr/>
          </a:p>
        </p:txBody>
      </p:sp>
      <p:sp>
        <p:nvSpPr>
          <p:cNvPr id="844" name="Google Shape;844;p17"/>
          <p:cNvSpPr txBox="1"/>
          <p:nvPr/>
        </p:nvSpPr>
        <p:spPr>
          <a:xfrm>
            <a:off x="4224528" y="5111496"/>
            <a:ext cx="2404872" cy="20116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lang="en-US" sz="1400">
                <a:solidFill>
                  <a:srgbClr val="3A434C"/>
                </a:solidFill>
                <a:latin typeface="Calibri"/>
                <a:ea typeface="Calibri"/>
                <a:cs typeface="Calibri"/>
                <a:sym typeface="Calibri"/>
              </a:rPr>
              <a:t>Reuse validated IRIs</a:t>
            </a:r>
            <a:endParaRPr/>
          </a:p>
        </p:txBody>
      </p:sp>
      <p:sp>
        <p:nvSpPr>
          <p:cNvPr id="845" name="Google Shape;845;p17"/>
          <p:cNvSpPr/>
          <p:nvPr/>
        </p:nvSpPr>
        <p:spPr>
          <a:xfrm>
            <a:off x="7150608" y="3666744"/>
            <a:ext cx="1335024" cy="822960"/>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46" name="Google Shape;846;p17"/>
          <p:cNvSpPr txBox="1"/>
          <p:nvPr/>
        </p:nvSpPr>
        <p:spPr>
          <a:xfrm>
            <a:off x="7223760" y="3456432"/>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(f)</a:t>
            </a:r>
            <a:endParaRPr/>
          </a:p>
        </p:txBody>
      </p:sp>
      <p:sp>
        <p:nvSpPr>
          <p:cNvPr id="847" name="Google Shape;847;p17"/>
          <p:cNvSpPr txBox="1"/>
          <p:nvPr/>
        </p:nvSpPr>
        <p:spPr>
          <a:xfrm>
            <a:off x="7232904" y="3785615"/>
            <a:ext cx="1170432"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Gen-LLM</a:t>
            </a:r>
            <a:endParaRPr/>
          </a:p>
        </p:txBody>
      </p:sp>
      <p:sp>
        <p:nvSpPr>
          <p:cNvPr id="848" name="Google Shape;848;p17"/>
          <p:cNvSpPr txBox="1"/>
          <p:nvPr/>
        </p:nvSpPr>
        <p:spPr>
          <a:xfrm>
            <a:off x="7242048" y="4059935"/>
            <a:ext cx="1152144" cy="38404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creates ΔOᵣ</a:t>
            </a:r>
            <a:endParaRPr/>
          </a:p>
        </p:txBody>
      </p:sp>
      <p:sp>
        <p:nvSpPr>
          <p:cNvPr id="849" name="Google Shape;849;p17"/>
          <p:cNvSpPr txBox="1"/>
          <p:nvPr/>
        </p:nvSpPr>
        <p:spPr>
          <a:xfrm>
            <a:off x="8586216" y="3648456"/>
            <a:ext cx="713232" cy="246888"/>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(g) ΔOᵣ</a:t>
            </a:r>
            <a:endParaRPr/>
          </a:p>
        </p:txBody>
      </p:sp>
      <p:sp>
        <p:nvSpPr>
          <p:cNvPr id="850" name="Google Shape;850;p17"/>
          <p:cNvSpPr/>
          <p:nvPr/>
        </p:nvSpPr>
        <p:spPr>
          <a:xfrm>
            <a:off x="9354312" y="3502152"/>
            <a:ext cx="2121408" cy="1115568"/>
          </a:xfrm>
          <a:prstGeom prst="roundRect">
            <a:avLst>
              <a:gd fmla="val 16667" name="adj"/>
            </a:avLst>
          </a:prstGeom>
          <a:solidFill>
            <a:srgbClr val="F3F5F4"/>
          </a:solidFill>
          <a:ln cap="flat" cmpd="sng" w="16500">
            <a:solidFill>
              <a:srgbClr val="3A7D8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1" name="Google Shape;851;p17"/>
          <p:cNvSpPr txBox="1"/>
          <p:nvPr/>
        </p:nvSpPr>
        <p:spPr>
          <a:xfrm>
            <a:off x="9427464" y="3291840"/>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3A434C"/>
                </a:solidFill>
                <a:latin typeface="Calibri"/>
                <a:ea typeface="Calibri"/>
                <a:cs typeface="Calibri"/>
                <a:sym typeface="Calibri"/>
              </a:rPr>
              <a:t>(h)</a:t>
            </a:r>
            <a:endParaRPr/>
          </a:p>
        </p:txBody>
      </p:sp>
      <p:sp>
        <p:nvSpPr>
          <p:cNvPr id="852" name="Google Shape;852;p17"/>
          <p:cNvSpPr txBox="1"/>
          <p:nvPr/>
        </p:nvSpPr>
        <p:spPr>
          <a:xfrm>
            <a:off x="9436608" y="3621024"/>
            <a:ext cx="1956815"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Validate + refine</a:t>
            </a:r>
            <a:endParaRPr/>
          </a:p>
        </p:txBody>
      </p:sp>
      <p:sp>
        <p:nvSpPr>
          <p:cNvPr id="853" name="Google Shape;853;p17"/>
          <p:cNvSpPr txBox="1"/>
          <p:nvPr/>
        </p:nvSpPr>
        <p:spPr>
          <a:xfrm>
            <a:off x="9445752" y="3895344"/>
            <a:ext cx="1938527" cy="676656"/>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Judge-LLM + rules</a:t>
            </a:r>
            <a:endParaRPr/>
          </a:p>
        </p:txBody>
      </p:sp>
      <p:sp>
        <p:nvSpPr>
          <p:cNvPr id="854" name="Google Shape;854;p17"/>
          <p:cNvSpPr/>
          <p:nvPr/>
        </p:nvSpPr>
        <p:spPr>
          <a:xfrm>
            <a:off x="9390888" y="5047488"/>
            <a:ext cx="2084831" cy="786384"/>
          </a:xfrm>
          <a:prstGeom prst="roundRect">
            <a:avLst>
              <a:gd fmla="val 16667" name="adj"/>
            </a:avLst>
          </a:prstGeom>
          <a:solidFill>
            <a:srgbClr val="DDE5E1"/>
          </a:solidFill>
          <a:ln cap="flat" cmpd="sng" w="29200">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55" name="Google Shape;855;p17"/>
          <p:cNvSpPr txBox="1"/>
          <p:nvPr/>
        </p:nvSpPr>
        <p:spPr>
          <a:xfrm>
            <a:off x="9464040" y="4837175"/>
            <a:ext cx="384048" cy="228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lang="en-US" sz="1400">
                <a:solidFill>
                  <a:srgbClr val="0B6E4F"/>
                </a:solidFill>
                <a:latin typeface="Calibri"/>
                <a:ea typeface="Calibri"/>
                <a:cs typeface="Calibri"/>
                <a:sym typeface="Calibri"/>
              </a:rPr>
              <a:t>(i)</a:t>
            </a:r>
            <a:endParaRPr/>
          </a:p>
        </p:txBody>
      </p:sp>
      <p:sp>
        <p:nvSpPr>
          <p:cNvPr id="856" name="Google Shape;856;p17"/>
          <p:cNvSpPr txBox="1"/>
          <p:nvPr/>
        </p:nvSpPr>
        <p:spPr>
          <a:xfrm>
            <a:off x="9473184" y="5166359"/>
            <a:ext cx="1920239" cy="24688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550">
                <a:solidFill>
                  <a:srgbClr val="1F2328"/>
                </a:solidFill>
                <a:latin typeface="Calibri"/>
                <a:ea typeface="Calibri"/>
                <a:cs typeface="Calibri"/>
                <a:sym typeface="Calibri"/>
              </a:rPr>
              <a:t>Integrate ΔOᵣ</a:t>
            </a:r>
            <a:endParaRPr/>
          </a:p>
        </p:txBody>
      </p:sp>
      <p:sp>
        <p:nvSpPr>
          <p:cNvPr id="857" name="Google Shape;857;p17"/>
          <p:cNvSpPr txBox="1"/>
          <p:nvPr/>
        </p:nvSpPr>
        <p:spPr>
          <a:xfrm>
            <a:off x="9482328" y="5440679"/>
            <a:ext cx="1901951" cy="347472"/>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0" lang="en-US" sz="1400">
                <a:solidFill>
                  <a:srgbClr val="3A434C"/>
                </a:solidFill>
                <a:latin typeface="Calibri"/>
                <a:ea typeface="Calibri"/>
                <a:cs typeface="Calibri"/>
                <a:sym typeface="Calibri"/>
              </a:rPr>
              <a:t>Core Oₜ</a:t>
            </a:r>
            <a:endParaRPr/>
          </a:p>
        </p:txBody>
      </p:sp>
      <p:sp>
        <p:nvSpPr>
          <p:cNvPr id="858" name="Google Shape;858;p17"/>
          <p:cNvSpPr txBox="1"/>
          <p:nvPr/>
        </p:nvSpPr>
        <p:spPr>
          <a:xfrm>
            <a:off x="7214616" y="5522976"/>
            <a:ext cx="1737360" cy="201168"/>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lang="en-US" sz="1250">
                <a:solidFill>
                  <a:srgbClr val="1E8A5E"/>
                </a:solidFill>
                <a:latin typeface="Calibri"/>
                <a:ea typeface="Calibri"/>
                <a:cs typeface="Calibri"/>
                <a:sym typeface="Calibri"/>
              </a:rPr>
              <a:t>Oₜ → next retrieval</a:t>
            </a:r>
            <a:endParaRPr/>
          </a:p>
        </p:txBody>
      </p:sp>
      <p:sp>
        <p:nvSpPr>
          <p:cNvPr id="811" name="Google Shape;811;p17"/>
          <p:cNvSpPr/>
          <p:nvPr/>
        </p:nvSpPr>
        <p:spPr>
          <a:xfrm rot="16200000">
            <a:off x="6638544" y="4956048"/>
            <a:ext cx="164592" cy="146304"/>
          </a:xfrm>
          <a:prstGeom prst="triangle">
            <a:avLst>
              <a:gd fmla="val 50000" name="adj"/>
            </a:avLst>
          </a:prstGeom>
          <a:solidFill>
            <a:srgbClr val="1E8A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3" name="Shape 863"/>
        <p:cNvGrpSpPr/>
        <p:nvPr/>
      </p:nvGrpSpPr>
      <p:grpSpPr>
        <a:xfrm>
          <a:off x="0" y="0"/>
          <a:ext cx="0" cy="0"/>
          <a:chOff x="0" y="0"/>
          <a:chExt cx="0" cy="0"/>
        </a:xfrm>
      </p:grpSpPr>
      <p:sp>
        <p:nvSpPr>
          <p:cNvPr id="864" name="Google Shape;864;p18"/>
          <p:cNvSpPr txBox="1"/>
          <p:nvPr/>
        </p:nvSpPr>
        <p:spPr>
          <a:xfrm>
            <a:off x="795528" y="448056"/>
            <a:ext cx="1078992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TESTING THE PIPELINE</a:t>
            </a:r>
            <a:endParaRPr/>
          </a:p>
        </p:txBody>
      </p:sp>
      <p:sp>
        <p:nvSpPr>
          <p:cNvPr id="865" name="Google Shape;865;p18"/>
          <p:cNvSpPr txBox="1"/>
          <p:nvPr/>
        </p:nvSpPr>
        <p:spPr>
          <a:xfrm>
            <a:off x="795528" y="850392"/>
            <a:ext cx="1083564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1F2328"/>
                </a:solidFill>
                <a:latin typeface="Cambria"/>
                <a:ea typeface="Calibri"/>
                <a:cs typeface="Calibri"/>
                <a:sym typeface="Calibri"/>
              </a:rPr>
              <a:t>Does the method work beyond our running example?</a:t>
            </a:r>
            <a:endParaRPr/>
          </a:p>
        </p:txBody>
      </p:sp>
      <p:sp>
        <p:nvSpPr>
          <p:cNvPr id="866" name="Google Shape;866;p18"/>
          <p:cNvSpPr txBox="1"/>
          <p:nvPr/>
        </p:nvSpPr>
        <p:spPr>
          <a:xfrm>
            <a:off x="795528" y="1609344"/>
            <a:ext cx="10607040" cy="3474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5B6770"/>
                </a:solidFill>
                <a:latin typeface="Calibri"/>
                <a:ea typeface="Calibri"/>
                <a:cs typeface="Calibri"/>
                <a:sym typeface="Calibri"/>
              </a:rPr>
              <a:t>Three databases, three generator models, four methods—evaluated from complementary angles.</a:t>
            </a:r>
            <a:endParaRPr/>
          </a:p>
        </p:txBody>
      </p:sp>
      <p:sp>
        <p:nvSpPr>
          <p:cNvPr id="867" name="Google Shape;867;p18"/>
          <p:cNvSpPr/>
          <p:nvPr/>
        </p:nvSpPr>
        <p:spPr>
          <a:xfrm>
            <a:off x="8321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8" name="Google Shape;868;p18"/>
          <p:cNvSpPr/>
          <p:nvPr/>
        </p:nvSpPr>
        <p:spPr>
          <a:xfrm>
            <a:off x="8321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69" name="Google Shape;869;p18"/>
          <p:cNvSpPr txBox="1"/>
          <p:nvPr/>
        </p:nvSpPr>
        <p:spPr>
          <a:xfrm>
            <a:off x="10241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LIVER CANCER</a:t>
            </a:r>
            <a:endParaRPr/>
          </a:p>
        </p:txBody>
      </p:sp>
      <p:sp>
        <p:nvSpPr>
          <p:cNvPr id="870" name="Google Shape;870;p18"/>
          <p:cNvSpPr txBox="1"/>
          <p:nvPr/>
        </p:nvSpPr>
        <p:spPr>
          <a:xfrm>
            <a:off x="10241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16 tables  ·  350 columns</a:t>
            </a:r>
            <a:endParaRPr/>
          </a:p>
        </p:txBody>
      </p:sp>
      <p:sp>
        <p:nvSpPr>
          <p:cNvPr id="871" name="Google Shape;871;p18"/>
          <p:cNvSpPr txBox="1"/>
          <p:nvPr/>
        </p:nvSpPr>
        <p:spPr>
          <a:xfrm>
            <a:off x="10241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specialist clinical registry</a:t>
            </a:r>
            <a:endParaRPr/>
          </a:p>
        </p:txBody>
      </p:sp>
      <p:sp>
        <p:nvSpPr>
          <p:cNvPr id="872" name="Google Shape;872;p18"/>
          <p:cNvSpPr/>
          <p:nvPr/>
        </p:nvSpPr>
        <p:spPr>
          <a:xfrm>
            <a:off x="44897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3" name="Google Shape;873;p18"/>
          <p:cNvSpPr/>
          <p:nvPr/>
        </p:nvSpPr>
        <p:spPr>
          <a:xfrm>
            <a:off x="4489704" y="2121408"/>
            <a:ext cx="3410712" cy="59436"/>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4" name="Google Shape;874;p18"/>
          <p:cNvSpPr txBox="1"/>
          <p:nvPr/>
        </p:nvSpPr>
        <p:spPr>
          <a:xfrm>
            <a:off x="46817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eICU-CRD</a:t>
            </a:r>
            <a:endParaRPr/>
          </a:p>
        </p:txBody>
      </p:sp>
      <p:sp>
        <p:nvSpPr>
          <p:cNvPr id="875" name="Google Shape;875;p18"/>
          <p:cNvSpPr txBox="1"/>
          <p:nvPr/>
        </p:nvSpPr>
        <p:spPr>
          <a:xfrm>
            <a:off x="46817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31 tables  ·  559 columns</a:t>
            </a:r>
            <a:endParaRPr/>
          </a:p>
        </p:txBody>
      </p:sp>
      <p:sp>
        <p:nvSpPr>
          <p:cNvPr id="876" name="Google Shape;876;p18"/>
          <p:cNvSpPr txBox="1"/>
          <p:nvPr/>
        </p:nvSpPr>
        <p:spPr>
          <a:xfrm>
            <a:off x="46817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large ICU schema</a:t>
            </a:r>
            <a:endParaRPr/>
          </a:p>
        </p:txBody>
      </p:sp>
      <p:sp>
        <p:nvSpPr>
          <p:cNvPr id="877" name="Google Shape;877;p18"/>
          <p:cNvSpPr/>
          <p:nvPr/>
        </p:nvSpPr>
        <p:spPr>
          <a:xfrm>
            <a:off x="8147304" y="2121408"/>
            <a:ext cx="3410712" cy="1207008"/>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8" name="Google Shape;878;p18"/>
          <p:cNvSpPr/>
          <p:nvPr/>
        </p:nvSpPr>
        <p:spPr>
          <a:xfrm>
            <a:off x="8147304" y="2121408"/>
            <a:ext cx="3410712" cy="59436"/>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79" name="Google Shape;879;p18"/>
          <p:cNvSpPr txBox="1"/>
          <p:nvPr/>
        </p:nvSpPr>
        <p:spPr>
          <a:xfrm>
            <a:off x="8339328" y="2304288"/>
            <a:ext cx="3035808"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CHINOOK</a:t>
            </a:r>
            <a:endParaRPr/>
          </a:p>
        </p:txBody>
      </p:sp>
      <p:sp>
        <p:nvSpPr>
          <p:cNvPr id="880" name="Google Shape;880;p18"/>
          <p:cNvSpPr txBox="1"/>
          <p:nvPr/>
        </p:nvSpPr>
        <p:spPr>
          <a:xfrm>
            <a:off x="8339328" y="2670048"/>
            <a:ext cx="3026664" cy="26517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830">
                <a:solidFill>
                  <a:srgbClr val="1F2328"/>
                </a:solidFill>
                <a:latin typeface="Calibri"/>
                <a:ea typeface="Calibri"/>
                <a:cs typeface="Calibri"/>
                <a:sym typeface="Calibri"/>
              </a:rPr>
              <a:t>11 tables  ·  67 columns</a:t>
            </a:r>
            <a:endParaRPr/>
          </a:p>
        </p:txBody>
      </p:sp>
      <p:sp>
        <p:nvSpPr>
          <p:cNvPr id="881" name="Google Shape;881;p18"/>
          <p:cNvSpPr txBox="1"/>
          <p:nvPr/>
        </p:nvSpPr>
        <p:spPr>
          <a:xfrm>
            <a:off x="8339328" y="2962656"/>
            <a:ext cx="2999232"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music store · second domain</a:t>
            </a:r>
            <a:endParaRPr/>
          </a:p>
        </p:txBody>
      </p:sp>
      <p:sp>
        <p:nvSpPr>
          <p:cNvPr id="882" name="Google Shape;882;p18"/>
          <p:cNvSpPr txBox="1"/>
          <p:nvPr/>
        </p:nvSpPr>
        <p:spPr>
          <a:xfrm>
            <a:off x="832104" y="3575304"/>
            <a:ext cx="9875520"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0B6E4F"/>
                </a:solidFill>
                <a:latin typeface="Consolas"/>
                <a:ea typeface="Consolas"/>
                <a:cs typeface="Consolas"/>
                <a:sym typeface="Consolas"/>
              </a:rPr>
              <a:t>FOUR WAYS TO GENERATE AN ONTOLOGY</a:t>
            </a:r>
            <a:endParaRPr/>
          </a:p>
        </p:txBody>
      </p:sp>
      <p:sp>
        <p:nvSpPr>
          <p:cNvPr id="883" name="Google Shape;883;p18"/>
          <p:cNvSpPr/>
          <p:nvPr/>
        </p:nvSpPr>
        <p:spPr>
          <a:xfrm>
            <a:off x="832104"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4" name="Google Shape;884;p18"/>
          <p:cNvSpPr/>
          <p:nvPr/>
        </p:nvSpPr>
        <p:spPr>
          <a:xfrm>
            <a:off x="960120"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85" name="Google Shape;885;p18"/>
          <p:cNvSpPr txBox="1"/>
          <p:nvPr/>
        </p:nvSpPr>
        <p:spPr>
          <a:xfrm>
            <a:off x="1028700"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1</a:t>
            </a:r>
            <a:endParaRPr/>
          </a:p>
        </p:txBody>
      </p:sp>
      <p:sp>
        <p:nvSpPr>
          <p:cNvPr id="886" name="Google Shape;886;p18"/>
          <p:cNvSpPr txBox="1"/>
          <p:nvPr/>
        </p:nvSpPr>
        <p:spPr>
          <a:xfrm>
            <a:off x="1344168"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Direct Mapping</a:t>
            </a:r>
            <a:endParaRPr/>
          </a:p>
        </p:txBody>
      </p:sp>
      <p:sp>
        <p:nvSpPr>
          <p:cNvPr id="887" name="Google Shape;887;p18"/>
          <p:cNvSpPr txBox="1"/>
          <p:nvPr/>
        </p:nvSpPr>
        <p:spPr>
          <a:xfrm>
            <a:off x="996696"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Deterministic</a:t>
            </a:r>
            <a:endParaRPr/>
          </a:p>
        </p:txBody>
      </p:sp>
      <p:cxnSp>
        <p:nvCxnSpPr>
          <p:cNvPr id="888" name="Google Shape;888;p18"/>
          <p:cNvCxnSpPr/>
          <p:nvPr/>
        </p:nvCxnSpPr>
        <p:spPr>
          <a:xfrm>
            <a:off x="3401568"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89" name="Google Shape;889;p18"/>
          <p:cNvSpPr/>
          <p:nvPr/>
        </p:nvSpPr>
        <p:spPr>
          <a:xfrm>
            <a:off x="3630168"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0" name="Google Shape;890;p18"/>
          <p:cNvSpPr/>
          <p:nvPr/>
        </p:nvSpPr>
        <p:spPr>
          <a:xfrm>
            <a:off x="3758184"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1" name="Google Shape;891;p18"/>
          <p:cNvSpPr txBox="1"/>
          <p:nvPr/>
        </p:nvSpPr>
        <p:spPr>
          <a:xfrm>
            <a:off x="3826763"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2</a:t>
            </a:r>
            <a:endParaRPr/>
          </a:p>
        </p:txBody>
      </p:sp>
      <p:sp>
        <p:nvSpPr>
          <p:cNvPr id="892" name="Google Shape;892;p18"/>
          <p:cNvSpPr txBox="1"/>
          <p:nvPr/>
        </p:nvSpPr>
        <p:spPr>
          <a:xfrm>
            <a:off x="4142232"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LLM baseline</a:t>
            </a:r>
            <a:endParaRPr/>
          </a:p>
        </p:txBody>
      </p:sp>
      <p:sp>
        <p:nvSpPr>
          <p:cNvPr id="893" name="Google Shape;893;p18"/>
          <p:cNvSpPr txBox="1"/>
          <p:nvPr/>
        </p:nvSpPr>
        <p:spPr>
          <a:xfrm>
            <a:off x="3794760"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Table only</a:t>
            </a:r>
            <a:endParaRPr/>
          </a:p>
        </p:txBody>
      </p:sp>
      <p:cxnSp>
        <p:nvCxnSpPr>
          <p:cNvPr id="894" name="Google Shape;894;p18"/>
          <p:cNvCxnSpPr/>
          <p:nvPr/>
        </p:nvCxnSpPr>
        <p:spPr>
          <a:xfrm>
            <a:off x="6199632"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895" name="Google Shape;895;p18"/>
          <p:cNvSpPr/>
          <p:nvPr/>
        </p:nvSpPr>
        <p:spPr>
          <a:xfrm>
            <a:off x="6428232" y="3950208"/>
            <a:ext cx="2542032" cy="960120"/>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6" name="Google Shape;896;p18"/>
          <p:cNvSpPr/>
          <p:nvPr/>
        </p:nvSpPr>
        <p:spPr>
          <a:xfrm>
            <a:off x="6556248" y="4123944"/>
            <a:ext cx="310896" cy="310896"/>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897" name="Google Shape;897;p18"/>
          <p:cNvSpPr txBox="1"/>
          <p:nvPr/>
        </p:nvSpPr>
        <p:spPr>
          <a:xfrm>
            <a:off x="6624828"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5B6770"/>
                </a:solidFill>
                <a:latin typeface="Consolas"/>
                <a:ea typeface="Consolas"/>
                <a:cs typeface="Consolas"/>
                <a:sym typeface="Consolas"/>
              </a:rPr>
              <a:t>3</a:t>
            </a:r>
            <a:endParaRPr/>
          </a:p>
        </p:txBody>
      </p:sp>
      <p:sp>
        <p:nvSpPr>
          <p:cNvPr id="898" name="Google Shape;898;p18"/>
          <p:cNvSpPr txBox="1"/>
          <p:nvPr/>
        </p:nvSpPr>
        <p:spPr>
          <a:xfrm>
            <a:off x="6940296"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Non-Iterative</a:t>
            </a:r>
            <a:endParaRPr/>
          </a:p>
        </p:txBody>
      </p:sp>
      <p:sp>
        <p:nvSpPr>
          <p:cNvPr id="899" name="Google Shape;899;p18"/>
          <p:cNvSpPr txBox="1"/>
          <p:nvPr/>
        </p:nvSpPr>
        <p:spPr>
          <a:xfrm>
            <a:off x="6592824"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One-pass RAG</a:t>
            </a:r>
            <a:endParaRPr/>
          </a:p>
        </p:txBody>
      </p:sp>
      <p:cxnSp>
        <p:nvCxnSpPr>
          <p:cNvPr id="900" name="Google Shape;900;p18"/>
          <p:cNvCxnSpPr/>
          <p:nvPr/>
        </p:nvCxnSpPr>
        <p:spPr>
          <a:xfrm>
            <a:off x="8997696" y="4453128"/>
            <a:ext cx="192024" cy="0"/>
          </a:xfrm>
          <a:prstGeom prst="straightConnector1">
            <a:avLst/>
          </a:prstGeom>
          <a:noFill/>
          <a:ln cap="flat" cmpd="sng" w="17775">
            <a:solidFill>
              <a:srgbClr val="0B6E4F"/>
            </a:solidFill>
            <a:prstDash val="solid"/>
            <a:miter lim="8000"/>
            <a:headEnd len="sm" w="sm" type="none"/>
            <a:tailEnd len="med" w="med" type="triangle"/>
          </a:ln>
        </p:spPr>
      </p:cxnSp>
      <p:sp>
        <p:nvSpPr>
          <p:cNvPr id="901" name="Google Shape;901;p18"/>
          <p:cNvSpPr/>
          <p:nvPr/>
        </p:nvSpPr>
        <p:spPr>
          <a:xfrm>
            <a:off x="9226296" y="3950208"/>
            <a:ext cx="2542032" cy="960120"/>
          </a:xfrm>
          <a:prstGeom prst="roundRect">
            <a:avLst>
              <a:gd fmla="val 10000" name="adj"/>
            </a:avLst>
          </a:prstGeom>
          <a:solidFill>
            <a:srgbClr val="E6F2EC"/>
          </a:solidFill>
          <a:ln cap="flat" cmpd="sng" w="15225">
            <a:solidFill>
              <a:srgbClr val="0B6E4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2" name="Google Shape;902;p18"/>
          <p:cNvSpPr/>
          <p:nvPr/>
        </p:nvSpPr>
        <p:spPr>
          <a:xfrm>
            <a:off x="9354312" y="4123944"/>
            <a:ext cx="310896" cy="310896"/>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3" name="Google Shape;903;p18"/>
          <p:cNvSpPr txBox="1"/>
          <p:nvPr/>
        </p:nvSpPr>
        <p:spPr>
          <a:xfrm>
            <a:off x="9422892" y="4187952"/>
            <a:ext cx="219456"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1" i="0" lang="en-US" sz="1400">
                <a:solidFill>
                  <a:srgbClr val="FFFFFF"/>
                </a:solidFill>
                <a:latin typeface="Consolas"/>
                <a:ea typeface="Consolas"/>
                <a:cs typeface="Consolas"/>
                <a:sym typeface="Consolas"/>
              </a:rPr>
              <a:t>4</a:t>
            </a:r>
            <a:endParaRPr/>
          </a:p>
        </p:txBody>
      </p:sp>
      <p:sp>
        <p:nvSpPr>
          <p:cNvPr id="904" name="Google Shape;904;p18"/>
          <p:cNvSpPr txBox="1"/>
          <p:nvPr/>
        </p:nvSpPr>
        <p:spPr>
          <a:xfrm>
            <a:off x="9738360" y="4096512"/>
            <a:ext cx="1901952" cy="23774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a:solidFill>
                  <a:srgbClr val="1F2328"/>
                </a:solidFill>
                <a:latin typeface="Calibri"/>
                <a:ea typeface="Calibri"/>
                <a:cs typeface="Calibri"/>
                <a:sym typeface="Calibri"/>
              </a:rPr>
              <a:t>RIGOR</a:t>
            </a:r>
            <a:endParaRPr/>
          </a:p>
        </p:txBody>
      </p:sp>
      <p:sp>
        <p:nvSpPr>
          <p:cNvPr id="905" name="Google Shape;905;p18"/>
          <p:cNvSpPr txBox="1"/>
          <p:nvPr/>
        </p:nvSpPr>
        <p:spPr>
          <a:xfrm>
            <a:off x="9390888" y="4453128"/>
            <a:ext cx="2221992" cy="283464"/>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Ground + grow + check</a:t>
            </a:r>
            <a:endParaRPr/>
          </a:p>
        </p:txBody>
      </p:sp>
      <p:sp>
        <p:nvSpPr>
          <p:cNvPr id="906" name="Google Shape;906;p18"/>
          <p:cNvSpPr/>
          <p:nvPr/>
        </p:nvSpPr>
        <p:spPr>
          <a:xfrm>
            <a:off x="841248" y="5166360"/>
            <a:ext cx="10460736" cy="539496"/>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07" name="Google Shape;907;p18"/>
          <p:cNvSpPr txBox="1"/>
          <p:nvPr/>
        </p:nvSpPr>
        <p:spPr>
          <a:xfrm>
            <a:off x="1033271" y="5312664"/>
            <a:ext cx="10076688" cy="25603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30 ONTOLOGIES   </a:t>
            </a:r>
            <a:r>
              <a:rPr b="0" lang="en-US" sz="1550">
                <a:solidFill>
                  <a:srgbClr val="1F2328"/>
                </a:solidFill>
                <a:latin typeface="Calibri"/>
                <a:ea typeface="Calibri"/>
                <a:cs typeface="Calibri"/>
                <a:sym typeface="Calibri"/>
              </a:rPr>
              <a:t>quality checks  ·  independent evaluation judge (GPT-5.4)  ·  10 human experts  ·  BURR benchmark</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2" name="Shape 912"/>
        <p:cNvGrpSpPr/>
        <p:nvPr/>
      </p:nvGrpSpPr>
      <p:grpSpPr>
        <a:xfrm>
          <a:off x="0" y="0"/>
          <a:ext cx="0" cy="0"/>
          <a:chOff x="0" y="0"/>
          <a:chExt cx="0" cy="0"/>
        </a:xfrm>
      </p:grpSpPr>
      <p:sp>
        <p:nvSpPr>
          <p:cNvPr id="913" name="Google Shape;913;p19"/>
          <p:cNvSpPr txBox="1"/>
          <p:nvPr/>
        </p:nvSpPr>
        <p:spPr>
          <a:xfrm>
            <a:off x="804672" y="512064"/>
            <a:ext cx="1088136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3  /  HUMAN AND LLM EVALUATION</a:t>
            </a:r>
            <a:endParaRPr/>
          </a:p>
        </p:txBody>
      </p:sp>
      <p:sp>
        <p:nvSpPr>
          <p:cNvPr id="914" name="Google Shape;914;p19"/>
          <p:cNvSpPr txBox="1"/>
          <p:nvPr/>
        </p:nvSpPr>
        <p:spPr>
          <a:xfrm>
            <a:off x="804672" y="914400"/>
            <a:ext cx="10789920" cy="6583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Experts prefer RIGOR's ontologies.</a:t>
            </a:r>
            <a:endParaRPr/>
          </a:p>
        </p:txBody>
      </p:sp>
      <p:sp>
        <p:nvSpPr>
          <p:cNvPr id="915" name="Google Shape;915;p19"/>
          <p:cNvSpPr/>
          <p:nvPr/>
        </p:nvSpPr>
        <p:spPr>
          <a:xfrm>
            <a:off x="822960" y="1911095"/>
            <a:ext cx="3877056" cy="3346704"/>
          </a:xfrm>
          <a:prstGeom prst="roundRect">
            <a:avLst>
              <a:gd fmla="val 10000" name="adj"/>
            </a:avLst>
          </a:prstGeom>
          <a:solidFill>
            <a:srgbClr val="F3F5F4"/>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16" name="Google Shape;916;p19"/>
          <p:cNvSpPr txBox="1"/>
          <p:nvPr/>
        </p:nvSpPr>
        <p:spPr>
          <a:xfrm>
            <a:off x="1069848" y="2139696"/>
            <a:ext cx="3291840" cy="96926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6300">
                <a:solidFill>
                  <a:srgbClr val="1F2328"/>
                </a:solidFill>
                <a:latin typeface="Cambria"/>
                <a:ea typeface="Calibri"/>
                <a:cs typeface="Calibri"/>
                <a:sym typeface="Calibri"/>
              </a:rPr>
              <a:t>70%</a:t>
            </a:r>
            <a:endParaRPr/>
          </a:p>
        </p:txBody>
      </p:sp>
      <p:sp>
        <p:nvSpPr>
          <p:cNvPr id="917" name="Google Shape;917;p19"/>
          <p:cNvSpPr txBox="1"/>
          <p:nvPr/>
        </p:nvSpPr>
        <p:spPr>
          <a:xfrm>
            <a:off x="1088136" y="3191256"/>
            <a:ext cx="3026664"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800">
                <a:solidFill>
                  <a:srgbClr val="0B6E4F"/>
                </a:solidFill>
                <a:latin typeface="Cambria"/>
                <a:ea typeface="Calibri"/>
                <a:cs typeface="Calibri"/>
                <a:sym typeface="Calibri"/>
              </a:rPr>
              <a:t>28 of 40</a:t>
            </a:r>
            <a:endParaRPr/>
          </a:p>
        </p:txBody>
      </p:sp>
      <p:sp>
        <p:nvSpPr>
          <p:cNvPr id="918" name="Google Shape;918;p19"/>
          <p:cNvSpPr txBox="1"/>
          <p:nvPr/>
        </p:nvSpPr>
        <p:spPr>
          <a:xfrm>
            <a:off x="1088136" y="3721608"/>
            <a:ext cx="3154680" cy="52120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900">
                <a:solidFill>
                  <a:srgbClr val="3A434C"/>
                </a:solidFill>
                <a:latin typeface="Calibri"/>
                <a:ea typeface="Calibri"/>
                <a:cs typeface="Calibri"/>
                <a:sym typeface="Calibri"/>
              </a:rPr>
              <a:t>first-place expert rankings</a:t>
            </a:r>
            <a:endParaRPr/>
          </a:p>
        </p:txBody>
      </p:sp>
      <p:sp>
        <p:nvSpPr>
          <p:cNvPr id="919" name="Google Shape;919;p19"/>
          <p:cNvSpPr txBox="1"/>
          <p:nvPr/>
        </p:nvSpPr>
        <p:spPr>
          <a:xfrm>
            <a:off x="1088136" y="4700016"/>
            <a:ext cx="3182112"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US" sz="1520">
                <a:solidFill>
                  <a:srgbClr val="5B6770"/>
                </a:solidFill>
                <a:latin typeface="Calibri"/>
                <a:ea typeface="Calibri"/>
                <a:cs typeface="Calibri"/>
                <a:sym typeface="Calibri"/>
              </a:rPr>
              <a:t>10 experts · 4 medical tables</a:t>
            </a:r>
            <a:endParaRPr/>
          </a:p>
        </p:txBody>
      </p:sp>
      <p:sp>
        <p:nvSpPr>
          <p:cNvPr id="920" name="Google Shape;920;p19"/>
          <p:cNvSpPr/>
          <p:nvPr/>
        </p:nvSpPr>
        <p:spPr>
          <a:xfrm>
            <a:off x="4983480" y="1911095"/>
            <a:ext cx="6373368" cy="3346704"/>
          </a:xfrm>
          <a:prstGeom prst="roundRect">
            <a:avLst>
              <a:gd fmla="val 10000" name="adj"/>
            </a:avLst>
          </a:prstGeom>
          <a:solidFill>
            <a:srgbClr val="FFFFFF"/>
          </a:solidFill>
          <a:ln cap="flat" cmpd="sng" w="12700">
            <a:solidFill>
              <a:srgbClr val="D9DED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1" name="Google Shape;921;p19"/>
          <p:cNvSpPr txBox="1"/>
          <p:nvPr/>
        </p:nvSpPr>
        <p:spPr>
          <a:xfrm>
            <a:off x="5230368" y="2130552"/>
            <a:ext cx="58155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520">
                <a:solidFill>
                  <a:srgbClr val="2F6B78"/>
                </a:solidFill>
                <a:latin typeface="Consolas"/>
                <a:ea typeface="Consolas"/>
                <a:cs typeface="Consolas"/>
                <a:sym typeface="Consolas"/>
              </a:rPr>
              <a:t>FIRST PLACE, ACROSS 40 BLIND EXPERT RANKINGS</a:t>
            </a:r>
            <a:endParaRPr/>
          </a:p>
        </p:txBody>
      </p:sp>
      <p:sp>
        <p:nvSpPr>
          <p:cNvPr id="922" name="Google Shape;922;p19"/>
          <p:cNvSpPr txBox="1"/>
          <p:nvPr/>
        </p:nvSpPr>
        <p:spPr>
          <a:xfrm>
            <a:off x="5248656" y="264261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Direct Mapping</a:t>
            </a:r>
            <a:endParaRPr/>
          </a:p>
        </p:txBody>
      </p:sp>
      <p:sp>
        <p:nvSpPr>
          <p:cNvPr id="923" name="Google Shape;923;p19"/>
          <p:cNvSpPr/>
          <p:nvPr/>
        </p:nvSpPr>
        <p:spPr>
          <a:xfrm>
            <a:off x="7178040" y="270662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4" name="Google Shape;924;p19"/>
          <p:cNvSpPr/>
          <p:nvPr/>
        </p:nvSpPr>
        <p:spPr>
          <a:xfrm>
            <a:off x="7178040" y="270662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5" name="Google Shape;925;p19"/>
          <p:cNvSpPr txBox="1"/>
          <p:nvPr/>
        </p:nvSpPr>
        <p:spPr>
          <a:xfrm>
            <a:off x="10424160" y="263347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26" name="Google Shape;926;p19"/>
          <p:cNvSpPr txBox="1"/>
          <p:nvPr/>
        </p:nvSpPr>
        <p:spPr>
          <a:xfrm>
            <a:off x="5248656" y="319125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LLM baseline</a:t>
            </a:r>
            <a:endParaRPr/>
          </a:p>
        </p:txBody>
      </p:sp>
      <p:sp>
        <p:nvSpPr>
          <p:cNvPr id="927" name="Google Shape;927;p19"/>
          <p:cNvSpPr/>
          <p:nvPr/>
        </p:nvSpPr>
        <p:spPr>
          <a:xfrm>
            <a:off x="7178040" y="325526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8" name="Google Shape;928;p19"/>
          <p:cNvSpPr/>
          <p:nvPr/>
        </p:nvSpPr>
        <p:spPr>
          <a:xfrm>
            <a:off x="7178040" y="3255264"/>
            <a:ext cx="394335"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29" name="Google Shape;929;p19"/>
          <p:cNvSpPr txBox="1"/>
          <p:nvPr/>
        </p:nvSpPr>
        <p:spPr>
          <a:xfrm>
            <a:off x="10424160" y="318211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5/40</a:t>
            </a:r>
            <a:endParaRPr/>
          </a:p>
        </p:txBody>
      </p:sp>
      <p:sp>
        <p:nvSpPr>
          <p:cNvPr id="930" name="Google Shape;930;p19"/>
          <p:cNvSpPr txBox="1"/>
          <p:nvPr/>
        </p:nvSpPr>
        <p:spPr>
          <a:xfrm>
            <a:off x="5248656" y="373989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a:solidFill>
                  <a:srgbClr val="3A434C"/>
                </a:solidFill>
                <a:latin typeface="Calibri"/>
                <a:ea typeface="Calibri"/>
                <a:cs typeface="Calibri"/>
                <a:sym typeface="Calibri"/>
              </a:rPr>
              <a:t>Non-Iterative</a:t>
            </a:r>
            <a:endParaRPr/>
          </a:p>
        </p:txBody>
      </p:sp>
      <p:sp>
        <p:nvSpPr>
          <p:cNvPr id="931" name="Google Shape;931;p19"/>
          <p:cNvSpPr/>
          <p:nvPr/>
        </p:nvSpPr>
        <p:spPr>
          <a:xfrm>
            <a:off x="7178040" y="380390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2" name="Google Shape;932;p19"/>
          <p:cNvSpPr/>
          <p:nvPr/>
        </p:nvSpPr>
        <p:spPr>
          <a:xfrm>
            <a:off x="7178040" y="3803904"/>
            <a:ext cx="157734" cy="155448"/>
          </a:xfrm>
          <a:prstGeom prst="roundRect">
            <a:avLst>
              <a:gd fmla="val 10000" name="adj"/>
            </a:avLst>
          </a:prstGeom>
          <a:solidFill>
            <a:srgbClr val="3A7D8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3" name="Google Shape;933;p19"/>
          <p:cNvSpPr txBox="1"/>
          <p:nvPr/>
        </p:nvSpPr>
        <p:spPr>
          <a:xfrm>
            <a:off x="10424160" y="373075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3A434C"/>
                </a:solidFill>
                <a:latin typeface="Consolas"/>
                <a:ea typeface="Consolas"/>
                <a:cs typeface="Consolas"/>
                <a:sym typeface="Consolas"/>
              </a:rPr>
              <a:t>2/40</a:t>
            </a:r>
            <a:endParaRPr/>
          </a:p>
        </p:txBody>
      </p:sp>
      <p:sp>
        <p:nvSpPr>
          <p:cNvPr id="934" name="Google Shape;934;p19"/>
          <p:cNvSpPr txBox="1"/>
          <p:nvPr/>
        </p:nvSpPr>
        <p:spPr>
          <a:xfrm>
            <a:off x="5248656" y="4288536"/>
            <a:ext cx="1856231" cy="2468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00">
                <a:solidFill>
                  <a:srgbClr val="1F2328"/>
                </a:solidFill>
                <a:latin typeface="Calibri"/>
                <a:ea typeface="Calibri"/>
                <a:cs typeface="Calibri"/>
                <a:sym typeface="Calibri"/>
              </a:rPr>
              <a:t>RIGOR</a:t>
            </a:r>
            <a:endParaRPr/>
          </a:p>
        </p:txBody>
      </p:sp>
      <p:sp>
        <p:nvSpPr>
          <p:cNvPr id="935" name="Google Shape;935;p19"/>
          <p:cNvSpPr/>
          <p:nvPr/>
        </p:nvSpPr>
        <p:spPr>
          <a:xfrm>
            <a:off x="7178040" y="4352544"/>
            <a:ext cx="3154680" cy="155448"/>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6" name="Google Shape;936;p19"/>
          <p:cNvSpPr/>
          <p:nvPr/>
        </p:nvSpPr>
        <p:spPr>
          <a:xfrm>
            <a:off x="7178040" y="4352544"/>
            <a:ext cx="2208276" cy="155448"/>
          </a:xfrm>
          <a:prstGeom prst="roundRect">
            <a:avLst>
              <a:gd fmla="val 10000" name="adj"/>
            </a:avLst>
          </a:prstGeom>
          <a:solidFill>
            <a:srgbClr val="0B6E4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37" name="Google Shape;937;p19"/>
          <p:cNvSpPr txBox="1"/>
          <p:nvPr/>
        </p:nvSpPr>
        <p:spPr>
          <a:xfrm>
            <a:off x="10424160" y="4279392"/>
            <a:ext cx="658368" cy="228600"/>
          </a:xfrm>
          <a:prstGeom prst="rect">
            <a:avLst/>
          </a:prstGeom>
          <a:noFill/>
          <a:ln>
            <a:noFill/>
          </a:ln>
        </p:spPr>
        <p:txBody>
          <a:bodyPr anchorCtr="0" anchor="ctr" bIns="0" lIns="0" spcFirstLastPara="1" rIns="0" wrap="square" tIns="0">
            <a:spAutoFit/>
          </a:bodyPr>
          <a:lstStyle/>
          <a:p>
            <a:pPr indent="0" lvl="0" marL="0" marR="0" rtl="0" algn="r">
              <a:lnSpc>
                <a:spcPct val="105000"/>
              </a:lnSpc>
              <a:spcBef>
                <a:spcPts val="0"/>
              </a:spcBef>
              <a:spcAft>
                <a:spcPts val="0"/>
              </a:spcAft>
              <a:buNone/>
            </a:pPr>
            <a:r>
              <a:rPr b="1" i="0" lang="en-US" sz="1400">
                <a:solidFill>
                  <a:srgbClr val="1F2328"/>
                </a:solidFill>
                <a:latin typeface="Consolas"/>
                <a:ea typeface="Consolas"/>
                <a:cs typeface="Consolas"/>
                <a:sym typeface="Consolas"/>
              </a:rPr>
              <a:t>28/40</a:t>
            </a:r>
            <a:endParaRPr/>
          </a:p>
        </p:txBody>
      </p:sp>
      <p:sp>
        <p:nvSpPr>
          <p:cNvPr id="938" name="Google Shape;938;p19"/>
          <p:cNvSpPr txBox="1"/>
          <p:nvPr/>
        </p:nvSpPr>
        <p:spPr>
          <a:xfrm>
            <a:off x="5257800" y="4773168"/>
            <a:ext cx="5586984" cy="292608"/>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lang="en-US" sz="1520">
                <a:solidFill>
                  <a:srgbClr val="5B6770"/>
                </a:solidFill>
                <a:latin typeface="Calibri"/>
                <a:ea typeface="Calibri"/>
                <a:cs typeface="Calibri"/>
                <a:sym typeface="Calibri"/>
              </a:rPr>
              <a:t>Expert agreement: Kendall’s W = 0.39–0.72</a:t>
            </a:r>
            <a:endParaRPr/>
          </a:p>
        </p:txBody>
      </p:sp>
      <p:sp>
        <p:nvSpPr>
          <p:cNvPr id="939" name="Google Shape;939;p19"/>
          <p:cNvSpPr/>
          <p:nvPr/>
        </p:nvSpPr>
        <p:spPr>
          <a:xfrm>
            <a:off x="832104" y="5504688"/>
            <a:ext cx="10506456" cy="393192"/>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940" name="Google Shape;940;p19"/>
          <p:cNvSpPr txBox="1"/>
          <p:nvPr/>
        </p:nvSpPr>
        <p:spPr>
          <a:xfrm>
            <a:off x="1033271" y="5596128"/>
            <a:ext cx="10094976" cy="27432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550">
                <a:solidFill>
                  <a:srgbClr val="0B6E4F"/>
                </a:solidFill>
                <a:latin typeface="Calibri"/>
                <a:ea typeface="Calibri"/>
                <a:cs typeface="Calibri"/>
                <a:sym typeface="Calibri"/>
              </a:rPr>
              <a:t>INDEPENDENT LLM JUDGE   </a:t>
            </a:r>
            <a:r>
              <a:rPr b="0" lang="en-US" sz="1550">
                <a:solidFill>
                  <a:srgbClr val="1F2328"/>
                </a:solidFill>
                <a:latin typeface="Calibri"/>
                <a:ea typeface="Calibri"/>
                <a:cs typeface="Calibri"/>
                <a:sym typeface="Calibri"/>
              </a:rPr>
              <a:t>RIGOR ranked 1st for 58/58 tables · 290 competency questions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RESULT 1  /  MEANING AND STRUCTURE</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Only RIGOR adds meaning without losing structure.</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What the generated ontologies contain  ·  3 databases × 3 LLMs  ·  Direct Mapping: one ontology per database</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2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200" b="1">
                <a:solidFill>
                  <a:srgbClr val="2F6B78"/>
                </a:solidFill>
                <a:latin typeface="Calibri"/>
              </a:rPr>
              <a:t>COLUMNS KEPT</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final schema coverage</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200" b="1">
                <a:solidFill>
                  <a:srgbClr val="2F6B78"/>
                </a:solidFill>
                <a:latin typeface="Calibri"/>
              </a:rPr>
              <a:t>LABELS &amp; COMMENTS</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200" b="1">
                <a:solidFill>
                  <a:srgbClr val="2F6B78"/>
                </a:solidFill>
                <a:latin typeface="Calibri"/>
              </a:rPr>
              <a:t>HIERARCHY + PROVENANCE</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runs that have them</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0.78–0.99</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8A949B"/>
                </a:solidFill>
                <a:latin typeface="Calibri"/>
              </a:rPr>
              <a:t>0 / 3</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8A949B"/>
                </a:solidFill>
                <a:latin typeface="Calibri"/>
              </a:rPr>
              <a:t>0 / 3</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0.31–1.00</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8A949B"/>
                </a:solidFill>
                <a:latin typeface="Calibri"/>
              </a:rPr>
              <a:t>0 / 9</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8A949B"/>
                </a:solidFill>
                <a:latin typeface="Calibri"/>
              </a:rPr>
              <a:t>0 / 9</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1">
                <a:solidFill>
                  <a:srgbClr val="B23A1E"/>
                </a:solidFill>
                <a:latin typeface="Calibri"/>
              </a:rPr>
              <a:t>0.06–0.78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9 / 9</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8A949B"/>
                </a:solidFill>
                <a:latin typeface="Calibri"/>
              </a:rPr>
              <a:t>0 / 9</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0.77–1.00</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9 / 9</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400" b="1">
                <a:solidFill>
                  <a:srgbClr val="0B6E4F"/>
                </a:solidFill>
                <a:latin typeface="Calibri"/>
              </a:rPr>
              <a:t>MODELING PITFALLS (OOPS!)   </a:t>
            </a:r>
            <a:r>
              <a:rPr sz="1400" b="0">
                <a:solidFill>
                  <a:srgbClr val="1F2328"/>
                </a:solidFill>
                <a:latin typeface="Calibri"/>
              </a:rPr>
              <a:t>Fewer than every other method in 9/9 like-for-like runs  ·  zero on Chinook with all three LLMs</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Coverage = embedding-based proxy (cosine ≥ 0.55); Direct Mapping is complete by construction. Like-for-like = same database and same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Sources: paper Tables 7 (pitfalls), 8 (labels, SubClassOf, provenance), 9 (coverage). Raw pitfall counts: backup slide B1.</a:t>
            </a:r>
          </a:p>
        </p:txBody>
      </p:sp>
      <p:sp>
        <p:nvSpPr>
          <p:cNvPr id="996" name="Marker 965" descr="absent"/>
          <p:cNvSpPr/>
          <p:nvPr/>
        </p:nvSpPr>
        <p:spPr>
          <a:xfrm>
            <a:off x="6935723" y="2651760"/>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7" name="Marker 967" descr="absent"/>
          <p:cNvSpPr/>
          <p:nvPr/>
        </p:nvSpPr>
        <p:spPr>
          <a:xfrm>
            <a:off x="9587483" y="2651760"/>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8" name="Marker 973" descr="absent"/>
          <p:cNvSpPr/>
          <p:nvPr/>
        </p:nvSpPr>
        <p:spPr>
          <a:xfrm>
            <a:off x="6935723" y="3310128"/>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999" name="Marker 975" descr="absent"/>
          <p:cNvSpPr/>
          <p:nvPr/>
        </p:nvSpPr>
        <p:spPr>
          <a:xfrm>
            <a:off x="9587483" y="3310128"/>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1000" name="Marker 981" descr="present"/>
          <p:cNvSpPr/>
          <p:nvPr/>
        </p:nvSpPr>
        <p:spPr>
          <a:xfrm>
            <a:off x="6935723" y="3968496"/>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1" name="Marker 983" descr="absent"/>
          <p:cNvSpPr/>
          <p:nvPr/>
        </p:nvSpPr>
        <p:spPr>
          <a:xfrm>
            <a:off x="9587483" y="3968496"/>
            <a:ext cx="164592" cy="164592"/>
          </a:xfrm>
          <a:prstGeom prst="ellipse">
            <a:avLst/>
          </a:prstGeom>
          <a:solidFill>
            <a:srgbClr val="FFFFFF"/>
          </a:solidFill>
          <a:ln w="9525">
            <a:solidFill>
              <a:srgbClr val="8A949B"/>
            </a:solidFill>
          </a:ln>
        </p:spPr>
        <p:txBody>
          <a:bodyPr wrap="square" lIns="0" tIns="0" rIns="0" bIns="0" anchor="t">
            <a:noAutofit/>
          </a:bodyPr>
          <a:lstStyle/>
          <a:p>
            <a:pPr algn="l"/>
          </a:p>
        </p:txBody>
      </p:sp>
      <p:sp>
        <p:nvSpPr>
          <p:cNvPr id="1002" name="Marker 989" descr="present"/>
          <p:cNvSpPr/>
          <p:nvPr/>
        </p:nvSpPr>
        <p:spPr>
          <a:xfrm>
            <a:off x="693572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
        <p:nvSpPr>
          <p:cNvPr id="1003" name="Marker 991" descr="present"/>
          <p:cNvSpPr/>
          <p:nvPr/>
        </p:nvSpPr>
        <p:spPr>
          <a:xfrm>
            <a:off x="9587483" y="4626864"/>
            <a:ext cx="164592" cy="164592"/>
          </a:xfrm>
          <a:prstGeom prst="ellipse">
            <a:avLst/>
          </a:prstGeom>
          <a:solidFill>
            <a:srgbClr val="0B6E4F"/>
          </a:solidFill>
          <a:ln w="9525">
            <a:solidFill>
              <a:srgbClr val="0B6E4F"/>
            </a:solidFill>
          </a:ln>
        </p:spPr>
        <p:txBody>
          <a:bodyPr wrap="square" lIns="0" tIns="0" rIns="0" bIns="0" anchor="t">
            <a:noAutofit/>
          </a:bodyPr>
          <a:lstStyle/>
          <a:p>
            <a:pPr algn="l"/>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21"/>
          <p:cNvSpPr txBox="1"/>
          <p:nvPr/>
        </p:nvSpPr>
        <p:spPr>
          <a:xfrm>
            <a:off x="804672" y="512064"/>
            <a:ext cx="10753344"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i="0" lang="en-US" sz="1400">
                <a:solidFill>
                  <a:srgbClr val="0B6E4F"/>
                </a:solidFill>
                <a:latin typeface="Consolas"/>
                <a:ea typeface="Consolas"/>
                <a:cs typeface="Consolas"/>
                <a:sym typeface="Consolas"/>
              </a:rPr>
              <a:t>RESULT 2  /  EXTERNAL BENCHMARK</a:t>
            </a:r>
            <a:endParaRPr/>
          </a:p>
        </p:txBody>
      </p:sp>
      <p:sp>
        <p:nvSpPr>
          <p:cNvPr id="976" name="Google Shape;976;p21"/>
          <p:cNvSpPr txBox="1"/>
          <p:nvPr/>
        </p:nvSpPr>
        <p:spPr>
          <a:xfrm>
            <a:off x="804672" y="914400"/>
            <a:ext cx="10762488" cy="66751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900">
                <a:solidFill>
                  <a:srgbClr val="1F2328"/>
                </a:solidFill>
                <a:latin typeface="Cambria"/>
                <a:ea typeface="Calibri"/>
                <a:cs typeface="Calibri"/>
                <a:sym typeface="Calibri"/>
              </a:rPr>
              <a:t>RIGOR keeps the link to the data.</a:t>
            </a:r>
            <a:endParaRPr/>
          </a:p>
        </p:txBody>
      </p:sp>
      <p:sp>
        <p:nvSpPr>
          <p:cNvPr id="977" name="Google Shape;977;p21"/>
          <p:cNvSpPr txBox="1"/>
          <p:nvPr/>
        </p:nvSpPr>
        <p:spPr>
          <a:xfrm>
            <a:off x="822960" y="1645920"/>
            <a:ext cx="10680192" cy="3291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600">
                <a:solidFill>
                  <a:srgbClr val="3A434C"/>
                </a:solidFill>
                <a:latin typeface="Calibri"/>
                <a:ea typeface="Calibri"/>
                <a:cs typeface="Calibri"/>
                <a:sym typeface="Calibri"/>
              </a:rPr>
              <a:t>BURR benchmark (Laskowski et al., 2025)  ·  ISWC scenario  ·  highest F1 among the compared ontology-learning systems</a:t>
            </a:r>
            <a:endParaRPr/>
          </a:p>
        </p:txBody>
      </p:sp>
      <p:sp>
        <p:nvSpPr>
          <p:cNvPr id="978" name="Rounded Rectangle 977"/>
          <p:cNvSpPr/>
          <p:nvPr/>
        </p:nvSpPr>
        <p:spPr>
          <a:xfrm>
            <a:off x="5870448" y="2139696"/>
            <a:ext cx="5468112" cy="3063240"/>
          </a:xfrm>
          <a:prstGeom prst="roundRect">
            <a:avLst/>
          </a:prstGeom>
          <a:solidFill>
            <a:srgbClr val="FFFFFF"/>
          </a:solidFill>
          <a:ln w="10795">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6099048" y="2322576"/>
            <a:ext cx="1828800" cy="329184"/>
          </a:xfrm>
          <a:prstGeom prst="rect">
            <a:avLst/>
          </a:prstGeom>
          <a:noFill/>
        </p:spPr>
        <p:txBody>
          <a:bodyPr wrap="square" lIns="0" rIns="0" tIns="0" bIns="0" anchor="ctr">
            <a:spAutoFit/>
          </a:bodyPr>
          <a:lstStyle/>
          <a:p>
            <a:r>
              <a:rPr sz="1150" b="1">
                <a:solidFill>
                  <a:srgbClr val="2F6B78"/>
                </a:solidFill>
                <a:latin typeface="Consolas"/>
              </a:rPr>
              <a:t>SYSTEM</a:t>
            </a:r>
          </a:p>
        </p:txBody>
      </p:sp>
      <p:sp>
        <p:nvSpPr>
          <p:cNvPr id="980" name="TextBox 979"/>
          <p:cNvSpPr txBox="1"/>
          <p:nvPr/>
        </p:nvSpPr>
        <p:spPr>
          <a:xfrm>
            <a:off x="815644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CLASSES</a:t>
            </a:r>
          </a:p>
        </p:txBody>
      </p:sp>
      <p:sp>
        <p:nvSpPr>
          <p:cNvPr id="981" name="TextBox 980"/>
          <p:cNvSpPr txBox="1"/>
          <p:nvPr/>
        </p:nvSpPr>
        <p:spPr>
          <a:xfrm>
            <a:off x="9208008"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RELATIONS</a:t>
            </a:r>
          </a:p>
        </p:txBody>
      </p:sp>
      <p:sp>
        <p:nvSpPr>
          <p:cNvPr id="982" name="TextBox 981"/>
          <p:cNvSpPr txBox="1"/>
          <p:nvPr/>
        </p:nvSpPr>
        <p:spPr>
          <a:xfrm>
            <a:off x="10259567" y="2322576"/>
            <a:ext cx="1051560" cy="329184"/>
          </a:xfrm>
          <a:prstGeom prst="rect">
            <a:avLst/>
          </a:prstGeom>
          <a:noFill/>
        </p:spPr>
        <p:txBody>
          <a:bodyPr wrap="square" lIns="0" rIns="0" tIns="0" bIns="0" anchor="ctr">
            <a:spAutoFit/>
          </a:bodyPr>
          <a:lstStyle/>
          <a:p>
            <a:pPr algn="ctr"/>
            <a:r>
              <a:rPr sz="1150" b="1">
                <a:solidFill>
                  <a:srgbClr val="2F6B78"/>
                </a:solidFill>
                <a:latin typeface="Consolas"/>
              </a:rPr>
              <a:t>ATTRIBUTES</a:t>
            </a:r>
          </a:p>
        </p:txBody>
      </p:sp>
      <p:cxnSp>
        <p:nvCxnSpPr>
          <p:cNvPr id="983" name="Connector 982"/>
          <p:cNvCxnSpPr/>
          <p:nvPr/>
        </p:nvCxnSpPr>
        <p:spPr>
          <a:xfrm>
            <a:off x="6071616" y="2761488"/>
            <a:ext cx="5065776" cy="0"/>
          </a:xfrm>
          <a:prstGeom prst="line">
            <a:avLst/>
          </a:prstGeom>
          <a:ln w="13970">
            <a:solidFill>
              <a:srgbClr val="D9DEDB"/>
            </a:solidFill>
          </a:ln>
        </p:spPr>
        <p:style>
          <a:lnRef idx="2">
            <a:schemeClr val="accent1"/>
          </a:lnRef>
          <a:fillRef idx="0">
            <a:schemeClr val="accent1"/>
          </a:fillRef>
          <a:effectRef idx="1">
            <a:schemeClr val="accent1"/>
          </a:effectRef>
          <a:fontRef idx="minor">
            <a:schemeClr val="tx1"/>
          </a:fontRef>
        </p:style>
      </p:cxnSp>
      <p:sp>
        <p:nvSpPr>
          <p:cNvPr id="984" name="TextBox 983"/>
          <p:cNvSpPr txBox="1"/>
          <p:nvPr/>
        </p:nvSpPr>
        <p:spPr>
          <a:xfrm>
            <a:off x="6117336" y="2798064"/>
            <a:ext cx="2011680" cy="274320"/>
          </a:xfrm>
          <a:prstGeom prst="rect">
            <a:avLst/>
          </a:prstGeom>
          <a:noFill/>
        </p:spPr>
        <p:txBody>
          <a:bodyPr wrap="square" lIns="0" rIns="0" tIns="0" bIns="0" anchor="ctr">
            <a:spAutoFit/>
          </a:bodyPr>
          <a:lstStyle/>
          <a:p>
            <a:r>
              <a:rPr sz="1639" b="0">
                <a:solidFill>
                  <a:srgbClr val="3A434C"/>
                </a:solidFill>
                <a:latin typeface="Calibri"/>
              </a:rPr>
              <a:t>W3C-Mapper / Ontop</a:t>
            </a:r>
          </a:p>
        </p:txBody>
      </p:sp>
      <p:sp>
        <p:nvSpPr>
          <p:cNvPr id="985" name="TextBox 984"/>
          <p:cNvSpPr txBox="1"/>
          <p:nvPr/>
        </p:nvSpPr>
        <p:spPr>
          <a:xfrm>
            <a:off x="6117336" y="3054096"/>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86" name="TextBox 985"/>
          <p:cNvSpPr txBox="1"/>
          <p:nvPr/>
        </p:nvSpPr>
        <p:spPr>
          <a:xfrm>
            <a:off x="8202167"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0.53</a:t>
            </a:r>
          </a:p>
        </p:txBody>
      </p:sp>
      <p:sp>
        <p:nvSpPr>
          <p:cNvPr id="987" name="TextBox 986"/>
          <p:cNvSpPr txBox="1"/>
          <p:nvPr/>
        </p:nvSpPr>
        <p:spPr>
          <a:xfrm>
            <a:off x="925372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0.11</a:t>
            </a:r>
          </a:p>
        </p:txBody>
      </p:sp>
      <p:sp>
        <p:nvSpPr>
          <p:cNvPr id="988" name="TextBox 987"/>
          <p:cNvSpPr txBox="1"/>
          <p:nvPr/>
        </p:nvSpPr>
        <p:spPr>
          <a:xfrm>
            <a:off x="10305288" y="2857500"/>
            <a:ext cx="960120" cy="320040"/>
          </a:xfrm>
          <a:prstGeom prst="rect">
            <a:avLst/>
          </a:prstGeom>
          <a:noFill/>
        </p:spPr>
        <p:txBody>
          <a:bodyPr wrap="square" lIns="0" rIns="0" tIns="0" bIns="0" anchor="ctr">
            <a:spAutoFit/>
          </a:bodyPr>
          <a:lstStyle/>
          <a:p>
            <a:pPr algn="ctr"/>
            <a:r>
              <a:rPr sz="1839" b="0">
                <a:solidFill>
                  <a:srgbClr val="3A434C"/>
                </a:solidFill>
                <a:latin typeface="Calibri"/>
              </a:rPr>
              <a:t>0.39</a:t>
            </a:r>
          </a:p>
        </p:txBody>
      </p:sp>
      <p:sp>
        <p:nvSpPr>
          <p:cNvPr id="989" name="TextBox 988"/>
          <p:cNvSpPr txBox="1"/>
          <p:nvPr/>
        </p:nvSpPr>
        <p:spPr>
          <a:xfrm>
            <a:off x="6117336" y="3355848"/>
            <a:ext cx="2011680" cy="274320"/>
          </a:xfrm>
          <a:prstGeom prst="rect">
            <a:avLst/>
          </a:prstGeom>
          <a:noFill/>
        </p:spPr>
        <p:txBody>
          <a:bodyPr wrap="square" lIns="0" rIns="0" tIns="0" bIns="0" anchor="ctr">
            <a:spAutoFit/>
          </a:bodyPr>
          <a:lstStyle/>
          <a:p>
            <a:r>
              <a:rPr sz="1639" b="0">
                <a:solidFill>
                  <a:srgbClr val="3A434C"/>
                </a:solidFill>
                <a:latin typeface="Calibri"/>
              </a:rPr>
              <a:t>RDB2Onto</a:t>
            </a:r>
          </a:p>
        </p:txBody>
      </p:sp>
      <p:sp>
        <p:nvSpPr>
          <p:cNvPr id="990" name="TextBox 989"/>
          <p:cNvSpPr txBox="1"/>
          <p:nvPr/>
        </p:nvSpPr>
        <p:spPr>
          <a:xfrm>
            <a:off x="6117336" y="3611880"/>
            <a:ext cx="1828800" cy="201168"/>
          </a:xfrm>
          <a:prstGeom prst="rect">
            <a:avLst/>
          </a:prstGeom>
          <a:noFill/>
        </p:spPr>
        <p:txBody>
          <a:bodyPr wrap="square" lIns="0" rIns="0" tIns="0" bIns="0" anchor="ctr">
            <a:spAutoFit/>
          </a:bodyPr>
          <a:lstStyle/>
          <a:p>
            <a:r>
              <a:rPr sz="1130" b="0">
                <a:solidFill>
                  <a:srgbClr val="5B6770"/>
                </a:solidFill>
                <a:latin typeface="Calibri"/>
              </a:rPr>
              <a:t>rule-based</a:t>
            </a:r>
          </a:p>
        </p:txBody>
      </p:sp>
      <p:sp>
        <p:nvSpPr>
          <p:cNvPr id="991" name="TextBox 990"/>
          <p:cNvSpPr txBox="1"/>
          <p:nvPr/>
        </p:nvSpPr>
        <p:spPr>
          <a:xfrm>
            <a:off x="8202167"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0.67</a:t>
            </a:r>
          </a:p>
        </p:txBody>
      </p:sp>
      <p:sp>
        <p:nvSpPr>
          <p:cNvPr id="992" name="TextBox 991"/>
          <p:cNvSpPr txBox="1"/>
          <p:nvPr/>
        </p:nvSpPr>
        <p:spPr>
          <a:xfrm>
            <a:off x="925372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0.62</a:t>
            </a:r>
          </a:p>
        </p:txBody>
      </p:sp>
      <p:sp>
        <p:nvSpPr>
          <p:cNvPr id="993" name="TextBox 992"/>
          <p:cNvSpPr txBox="1"/>
          <p:nvPr/>
        </p:nvSpPr>
        <p:spPr>
          <a:xfrm>
            <a:off x="10305288" y="3415284"/>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4" name="TextBox 993"/>
          <p:cNvSpPr txBox="1"/>
          <p:nvPr/>
        </p:nvSpPr>
        <p:spPr>
          <a:xfrm>
            <a:off x="6117336" y="3913632"/>
            <a:ext cx="2011680" cy="274320"/>
          </a:xfrm>
          <a:prstGeom prst="rect">
            <a:avLst/>
          </a:prstGeom>
          <a:noFill/>
        </p:spPr>
        <p:txBody>
          <a:bodyPr wrap="square" lIns="0" rIns="0" tIns="0" bIns="0" anchor="ctr">
            <a:spAutoFit/>
          </a:bodyPr>
          <a:lstStyle/>
          <a:p>
            <a:r>
              <a:rPr sz="1639" b="0">
                <a:solidFill>
                  <a:srgbClr val="3A434C"/>
                </a:solidFill>
                <a:latin typeface="Calibri"/>
              </a:rPr>
              <a:t>OntoGenix</a:t>
            </a:r>
          </a:p>
        </p:txBody>
      </p:sp>
      <p:sp>
        <p:nvSpPr>
          <p:cNvPr id="995" name="TextBox 994"/>
          <p:cNvSpPr txBox="1"/>
          <p:nvPr/>
        </p:nvSpPr>
        <p:spPr>
          <a:xfrm>
            <a:off x="6117336" y="4169664"/>
            <a:ext cx="1828800" cy="201168"/>
          </a:xfrm>
          <a:prstGeom prst="rect">
            <a:avLst/>
          </a:prstGeom>
          <a:noFill/>
        </p:spPr>
        <p:txBody>
          <a:bodyPr wrap="square" lIns="0" rIns="0" tIns="0" bIns="0" anchor="ctr">
            <a:spAutoFit/>
          </a:bodyPr>
          <a:lstStyle/>
          <a:p>
            <a:r>
              <a:rPr sz="1130" b="0">
                <a:solidFill>
                  <a:srgbClr val="5B6770"/>
                </a:solidFill>
                <a:latin typeface="Calibri"/>
              </a:rPr>
              <a:t>LLM-based</a:t>
            </a:r>
          </a:p>
        </p:txBody>
      </p:sp>
      <p:sp>
        <p:nvSpPr>
          <p:cNvPr id="996" name="TextBox 995"/>
          <p:cNvSpPr txBox="1"/>
          <p:nvPr/>
        </p:nvSpPr>
        <p:spPr>
          <a:xfrm>
            <a:off x="8202167"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0.58</a:t>
            </a:r>
          </a:p>
        </p:txBody>
      </p:sp>
      <p:sp>
        <p:nvSpPr>
          <p:cNvPr id="997" name="TextBox 996"/>
          <p:cNvSpPr txBox="1"/>
          <p:nvPr/>
        </p:nvSpPr>
        <p:spPr>
          <a:xfrm>
            <a:off x="925372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0.35</a:t>
            </a:r>
          </a:p>
        </p:txBody>
      </p:sp>
      <p:sp>
        <p:nvSpPr>
          <p:cNvPr id="998" name="TextBox 997"/>
          <p:cNvSpPr txBox="1"/>
          <p:nvPr/>
        </p:nvSpPr>
        <p:spPr>
          <a:xfrm>
            <a:off x="10305288" y="3973068"/>
            <a:ext cx="960120" cy="320040"/>
          </a:xfrm>
          <a:prstGeom prst="rect">
            <a:avLst/>
          </a:prstGeom>
          <a:noFill/>
        </p:spPr>
        <p:txBody>
          <a:bodyPr wrap="square" lIns="0" rIns="0" tIns="0" bIns="0" anchor="ctr">
            <a:spAutoFit/>
          </a:bodyPr>
          <a:lstStyle/>
          <a:p>
            <a:pPr algn="ctr"/>
            <a:r>
              <a:rPr sz="1839" b="0">
                <a:solidFill>
                  <a:srgbClr val="3A434C"/>
                </a:solidFill>
                <a:latin typeface="Calibri"/>
              </a:rPr>
              <a:t>0.44</a:t>
            </a:r>
          </a:p>
        </p:txBody>
      </p:sp>
      <p:sp>
        <p:nvSpPr>
          <p:cNvPr id="999" name="Rectangle 998"/>
          <p:cNvSpPr/>
          <p:nvPr/>
        </p:nvSpPr>
        <p:spPr>
          <a:xfrm>
            <a:off x="5980176" y="4507992"/>
            <a:ext cx="5248656" cy="512064"/>
          </a:xfrm>
          <a:prstGeom prst="rect">
            <a:avLst/>
          </a:prstGeom>
          <a:solidFill>
            <a:srgbClr val="E9EEEB"/>
          </a:solidFill>
          <a:ln w="9525">
            <a:solidFill>
              <a:srgbClr val="3A7D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TextBox 999"/>
          <p:cNvSpPr txBox="1"/>
          <p:nvPr/>
        </p:nvSpPr>
        <p:spPr>
          <a:xfrm>
            <a:off x="6117336" y="4471416"/>
            <a:ext cx="2011680" cy="274320"/>
          </a:xfrm>
          <a:prstGeom prst="rect">
            <a:avLst/>
          </a:prstGeom>
          <a:noFill/>
        </p:spPr>
        <p:txBody>
          <a:bodyPr wrap="square" lIns="0" rIns="0" tIns="0" bIns="0" anchor="ctr">
            <a:spAutoFit/>
          </a:bodyPr>
          <a:lstStyle/>
          <a:p>
            <a:r>
              <a:rPr sz="1800" b="1">
                <a:solidFill>
                  <a:srgbClr val="1F2328"/>
                </a:solidFill>
                <a:latin typeface="Calibri"/>
              </a:rPr>
              <a:t>RIGOR</a:t>
            </a:r>
          </a:p>
        </p:txBody>
      </p:sp>
      <p:sp>
        <p:nvSpPr>
          <p:cNvPr id="1001" name="TextBox 1000"/>
          <p:cNvSpPr txBox="1"/>
          <p:nvPr/>
        </p:nvSpPr>
        <p:spPr>
          <a:xfrm>
            <a:off x="6117336" y="4727448"/>
            <a:ext cx="1828800" cy="201168"/>
          </a:xfrm>
          <a:prstGeom prst="rect">
            <a:avLst/>
          </a:prstGeom>
          <a:noFill/>
        </p:spPr>
        <p:txBody>
          <a:bodyPr wrap="square" lIns="0" rIns="0" tIns="0" bIns="0" anchor="ctr">
            <a:spAutoFit/>
          </a:bodyPr>
          <a:lstStyle/>
          <a:p>
            <a:r>
              <a:rPr sz="1130" b="0">
                <a:solidFill>
                  <a:srgbClr val="2F6B78"/>
                </a:solidFill>
                <a:latin typeface="Calibri"/>
              </a:rPr>
              <a:t>LLM + rules</a:t>
            </a:r>
          </a:p>
        </p:txBody>
      </p:sp>
      <p:sp>
        <p:nvSpPr>
          <p:cNvPr id="1002" name="TextBox 1001"/>
          <p:cNvSpPr txBox="1"/>
          <p:nvPr/>
        </p:nvSpPr>
        <p:spPr>
          <a:xfrm>
            <a:off x="8202167"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0.73</a:t>
            </a:r>
          </a:p>
        </p:txBody>
      </p:sp>
      <p:sp>
        <p:nvSpPr>
          <p:cNvPr id="1003" name="TextBox 1002"/>
          <p:cNvSpPr txBox="1"/>
          <p:nvPr/>
        </p:nvSpPr>
        <p:spPr>
          <a:xfrm>
            <a:off x="925372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0.67</a:t>
            </a:r>
          </a:p>
        </p:txBody>
      </p:sp>
      <p:sp>
        <p:nvSpPr>
          <p:cNvPr id="1004" name="TextBox 1003"/>
          <p:cNvSpPr txBox="1"/>
          <p:nvPr/>
        </p:nvSpPr>
        <p:spPr>
          <a:xfrm>
            <a:off x="10305288" y="4530852"/>
            <a:ext cx="960120" cy="320040"/>
          </a:xfrm>
          <a:prstGeom prst="rect">
            <a:avLst/>
          </a:prstGeom>
          <a:noFill/>
        </p:spPr>
        <p:txBody>
          <a:bodyPr wrap="square" lIns="0" rIns="0" tIns="0" bIns="0" anchor="ctr">
            <a:spAutoFit/>
          </a:bodyPr>
          <a:lstStyle/>
          <a:p>
            <a:pPr algn="ctr"/>
            <a:r>
              <a:rPr sz="2000" b="1">
                <a:solidFill>
                  <a:srgbClr val="1F2328"/>
                </a:solidFill>
                <a:latin typeface="Calibri"/>
              </a:rPr>
              <a:t>0.52</a:t>
            </a:r>
          </a:p>
        </p:txBody>
      </p:sp>
      <p:sp>
        <p:nvSpPr>
          <p:cNvPr id="1007" name="BURR card"/>
          <p:cNvSpPr/>
          <p:nvPr/>
        </p:nvSpPr>
        <p:spPr>
          <a:xfrm>
            <a:off x="841248" y="2139696"/>
            <a:ext cx="4846320" cy="3063240"/>
          </a:xfrm>
          <a:prstGeom prst="roundRect">
            <a:avLst>
              <a:gd name="adj" fmla="val 12000"/>
            </a:avLst>
          </a:prstGeom>
          <a:solidFill>
            <a:srgbClr val="F3F5F4"/>
          </a:solidFill>
          <a:ln w="9525">
            <a:solidFill>
              <a:srgbClr val="D9DEDB"/>
            </a:solidFill>
          </a:ln>
        </p:spPr>
        <p:txBody>
          <a:bodyPr wrap="square" lIns="0" tIns="0" rIns="0" bIns="0" anchor="t">
            <a:noAutofit/>
          </a:bodyPr>
          <a:lstStyle/>
          <a:p>
            <a:pPr algn="l"/>
          </a:p>
        </p:txBody>
      </p:sp>
      <p:sp>
        <p:nvSpPr>
          <p:cNvPr id="1008" name="BURR card label"/>
          <p:cNvSpPr txBox="1"/>
          <p:nvPr/>
        </p:nvSpPr>
        <p:spPr>
          <a:xfrm>
            <a:off x="1069848" y="2322576"/>
            <a:ext cx="438912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WHAT BURR CHECKS</a:t>
            </a:r>
          </a:p>
        </p:txBody>
      </p:sp>
      <p:sp>
        <p:nvSpPr>
          <p:cNvPr id="1009" name="BURR card lead"/>
          <p:cNvSpPr txBox="1"/>
          <p:nvPr/>
        </p:nvSpPr>
        <p:spPr>
          <a:xfrm>
            <a:off x="1069848" y="2651760"/>
            <a:ext cx="4389120" cy="310896"/>
          </a:xfrm>
          <a:prstGeom prst="rect">
            <a:avLst/>
          </a:prstGeom>
          <a:noFill/>
          <a:ln>
            <a:noFill/>
          </a:ln>
        </p:spPr>
        <p:txBody>
          <a:bodyPr wrap="square" lIns="0" tIns="0" rIns="0" bIns="0" anchor="t">
            <a:noAutofit/>
          </a:bodyPr>
          <a:lstStyle/>
          <a:p>
            <a:pPr algn="l"/>
            <a:r>
              <a:rPr lang="en-US" sz="1500" b="0" dirty="0">
                <a:solidFill>
                  <a:srgbClr val="1F2328"/>
                </a:solidFill>
                <a:latin typeface="Calibri"/>
                <a:cs typeface="Calibri"/>
              </a:rPr>
              <a:t xml:space="preserve">Every ontology element must map back to the database.</a:t>
            </a:r>
          </a:p>
        </p:txBody>
      </p:sp>
      <p:sp>
        <p:nvSpPr>
          <p:cNvPr id="1010" name="BURR kind 0"/>
          <p:cNvSpPr txBox="1"/>
          <p:nvPr/>
        </p:nvSpPr>
        <p:spPr>
          <a:xfrm>
            <a:off x="1069848" y="3090672"/>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CLASSES</a:t>
            </a:r>
          </a:p>
        </p:txBody>
      </p:sp>
      <p:sp>
        <p:nvSpPr>
          <p:cNvPr id="1011" name="BURR db 0" descr="database element"/>
          <p:cNvSpPr/>
          <p:nvPr/>
        </p:nvSpPr>
        <p:spPr>
          <a:xfrm>
            <a:off x="2075688" y="3090672"/>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a:t>
            </a:r>
          </a:p>
        </p:txBody>
      </p:sp>
      <p:sp>
        <p:nvSpPr>
          <p:cNvPr id="1012" name="BURR arrow 0"/>
          <p:cNvSpPr txBox="1"/>
          <p:nvPr/>
        </p:nvSpPr>
        <p:spPr>
          <a:xfrm>
            <a:off x="3392424" y="3090672"/>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3" name="BURR onto 0" descr="ontology element"/>
          <p:cNvSpPr/>
          <p:nvPr/>
        </p:nvSpPr>
        <p:spPr>
          <a:xfrm>
            <a:off x="3648456" y="3090672"/>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Class: </a:t>
            </a:r>
            <a:r>
              <a:rPr lang="en-US" sz="1050" b="0" dirty="0">
                <a:solidFill>
                  <a:srgbClr val="1F2328"/>
                </a:solidFill>
                <a:latin typeface="Consolas"/>
                <a:cs typeface="Consolas"/>
              </a:rPr>
              <a:t xml:space="preserve">Person</a:t>
            </a:r>
          </a:p>
        </p:txBody>
      </p:sp>
      <p:sp>
        <p:nvSpPr>
          <p:cNvPr id="1014" name="BURR kind 1"/>
          <p:cNvSpPr txBox="1"/>
          <p:nvPr/>
        </p:nvSpPr>
        <p:spPr>
          <a:xfrm>
            <a:off x="1069848" y="3511296"/>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RELATIONS</a:t>
            </a:r>
          </a:p>
        </p:txBody>
      </p:sp>
      <p:sp>
        <p:nvSpPr>
          <p:cNvPr id="1015" name="BURR db 1" descr="database element"/>
          <p:cNvSpPr/>
          <p:nvPr/>
        </p:nvSpPr>
        <p:spPr>
          <a:xfrm>
            <a:off x="2075688" y="3511296"/>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paper.author_id</a:t>
            </a:r>
          </a:p>
        </p:txBody>
      </p:sp>
      <p:sp>
        <p:nvSpPr>
          <p:cNvPr id="1016" name="BURR arrow 1"/>
          <p:cNvSpPr txBox="1"/>
          <p:nvPr/>
        </p:nvSpPr>
        <p:spPr>
          <a:xfrm>
            <a:off x="3392424" y="3511296"/>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17" name="BURR onto 1" descr="ontology element"/>
          <p:cNvSpPr/>
          <p:nvPr/>
        </p:nvSpPr>
        <p:spPr>
          <a:xfrm>
            <a:off x="3648456" y="3511296"/>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ObjectProperty: </a:t>
            </a:r>
            <a:r>
              <a:rPr lang="en-US" sz="1050" b="0" dirty="0">
                <a:solidFill>
                  <a:srgbClr val="1F2328"/>
                </a:solidFill>
                <a:latin typeface="Consolas"/>
                <a:cs typeface="Consolas"/>
              </a:rPr>
              <a:t xml:space="preserve">author</a:t>
            </a:r>
          </a:p>
        </p:txBody>
      </p:sp>
      <p:sp>
        <p:nvSpPr>
          <p:cNvPr id="1018" name="BURR kind 2"/>
          <p:cNvSpPr txBox="1"/>
          <p:nvPr/>
        </p:nvSpPr>
        <p:spPr>
          <a:xfrm>
            <a:off x="1069848" y="3931920"/>
            <a:ext cx="1005840" cy="329184"/>
          </a:xfrm>
          <a:prstGeom prst="rect">
            <a:avLst/>
          </a:prstGeom>
          <a:noFill/>
          <a:ln>
            <a:noFill/>
          </a:ln>
        </p:spPr>
        <p:txBody>
          <a:bodyPr wrap="square" lIns="0" tIns="0" rIns="0" bIns="0" anchor="ctr">
            <a:noAutofit/>
          </a:bodyPr>
          <a:lstStyle/>
          <a:p>
            <a:pPr algn="l"/>
            <a:r>
              <a:rPr lang="en-US" sz="1050" b="1" dirty="0">
                <a:solidFill>
                  <a:srgbClr val="2F6B78"/>
                </a:solidFill>
                <a:latin typeface="Consolas"/>
                <a:cs typeface="Consolas"/>
              </a:rPr>
              <a:t xml:space="preserve">ATTRIBUTES</a:t>
            </a:r>
          </a:p>
        </p:txBody>
      </p:sp>
      <p:sp>
        <p:nvSpPr>
          <p:cNvPr id="1019" name="BURR db 2" descr="database element"/>
          <p:cNvSpPr/>
          <p:nvPr/>
        </p:nvSpPr>
        <p:spPr>
          <a:xfrm>
            <a:off x="2075688" y="3931920"/>
            <a:ext cx="1298448"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0" dirty="0">
                <a:solidFill>
                  <a:srgbClr val="1F2328"/>
                </a:solidFill>
                <a:latin typeface="Consolas"/>
                <a:cs typeface="Consolas"/>
              </a:rPr>
              <a:t xml:space="preserve">person.name</a:t>
            </a:r>
          </a:p>
        </p:txBody>
      </p:sp>
      <p:sp>
        <p:nvSpPr>
          <p:cNvPr id="1020" name="BURR arrow 2"/>
          <p:cNvSpPr txBox="1"/>
          <p:nvPr/>
        </p:nvSpPr>
        <p:spPr>
          <a:xfrm>
            <a:off x="3392424" y="3931920"/>
            <a:ext cx="237744" cy="329184"/>
          </a:xfrm>
          <a:prstGeom prst="rect">
            <a:avLst/>
          </a:prstGeom>
          <a:noFill/>
          <a:ln>
            <a:noFill/>
          </a:ln>
        </p:spPr>
        <p:txBody>
          <a:bodyPr wrap="square" lIns="0" tIns="0" rIns="0" bIns="0" anchor="ctr">
            <a:noAutofit/>
          </a:bodyPr>
          <a:lstStyle/>
          <a:p>
            <a:pPr algn="ctr"/>
            <a:r>
              <a:rPr lang="en-US" sz="1400" b="0" dirty="0">
                <a:solidFill>
                  <a:srgbClr val="5B6770"/>
                </a:solidFill>
                <a:latin typeface="Calibri"/>
                <a:cs typeface="Calibri"/>
              </a:rPr>
              <a:t xml:space="preserve">→</a:t>
            </a:r>
          </a:p>
        </p:txBody>
      </p:sp>
      <p:sp>
        <p:nvSpPr>
          <p:cNvPr id="1021" name="BURR onto 2" descr="ontology element"/>
          <p:cNvSpPr/>
          <p:nvPr/>
        </p:nvSpPr>
        <p:spPr>
          <a:xfrm>
            <a:off x="3648456" y="3931920"/>
            <a:ext cx="1856231" cy="329184"/>
          </a:xfrm>
          <a:prstGeom prst="roundRect">
            <a:avLst>
              <a:gd name="adj" fmla="val 12000"/>
            </a:avLst>
          </a:prstGeom>
          <a:solidFill>
            <a:srgbClr val="FFFFFF"/>
          </a:solidFill>
          <a:ln w="9525">
            <a:solidFill>
              <a:srgbClr val="D0D7DE"/>
            </a:solidFill>
          </a:ln>
        </p:spPr>
        <p:txBody>
          <a:bodyPr wrap="square" lIns="73152" tIns="0" rIns="73152" bIns="0" anchor="ctr">
            <a:noAutofit/>
          </a:bodyPr>
          <a:lstStyle/>
          <a:p>
            <a:pPr algn="l"/>
            <a:r>
              <a:rPr lang="en-US" sz="1050" b="1" dirty="0">
                <a:solidFill>
                  <a:srgbClr val="0B6E4F"/>
                </a:solidFill>
                <a:latin typeface="Consolas"/>
                <a:cs typeface="Consolas"/>
              </a:rPr>
              <a:t xml:space="preserve">DataProperty: </a:t>
            </a:r>
            <a:r>
              <a:rPr lang="en-US" sz="1050" b="0" dirty="0">
                <a:solidFill>
                  <a:srgbClr val="1F2328"/>
                </a:solidFill>
                <a:latin typeface="Consolas"/>
                <a:cs typeface="Consolas"/>
              </a:rPr>
              <a:t xml:space="preserve">name</a:t>
            </a:r>
          </a:p>
        </p:txBody>
      </p:sp>
      <p:sp>
        <p:nvSpPr>
          <p:cNvPr id="1022" name="BURR card how"/>
          <p:cNvSpPr txBox="1"/>
          <p:nvPr/>
        </p:nvSpPr>
        <p:spPr>
          <a:xfrm>
            <a:off x="1069848" y="4352544"/>
            <a:ext cx="4389120" cy="585216"/>
          </a:xfrm>
          <a:prstGeom prst="rect">
            <a:avLst/>
          </a:prstGeom>
          <a:noFill/>
          <a:ln>
            <a:noFill/>
          </a:ln>
        </p:spPr>
        <p:txBody>
          <a:bodyPr wrap="square" lIns="0" tIns="0" rIns="0" bIns="0" anchor="t">
            <a:noAutofit/>
          </a:bodyPr>
          <a:lstStyle/>
          <a:p>
            <a:pPr algn="l"/>
            <a:r>
              <a:rPr lang="en-US" sz="1300" b="0" dirty="0">
                <a:solidFill>
                  <a:srgbClr val="3A434C"/>
                </a:solidFill>
                <a:latin typeface="Calibri"/>
                <a:cs typeface="Calibri"/>
              </a:rPr>
              <a:t xml:space="preserve">Elements match when they map to the same database elements, whatever their names. F1 per element type.</a:t>
            </a:r>
          </a:p>
        </p:txBody>
      </p:sp>
      <p:sp>
        <p:nvSpPr>
          <p:cNvPr id="1023" name="BURR card note"/>
          <p:cNvSpPr txBox="1"/>
          <p:nvPr/>
        </p:nvSpPr>
        <p:spPr>
          <a:xfrm>
            <a:off x="1069848" y="4974336"/>
            <a:ext cx="4389120" cy="182880"/>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Illustrative elements  ·  ISWC gold mapping: D2RQ example by Bizer &amp; Seaborne</a:t>
            </a:r>
          </a:p>
        </p:txBody>
      </p:sp>
      <p:sp>
        <p:nvSpPr>
          <p:cNvPr id="1024" name="BURR caption"/>
          <p:cNvSpPr txBox="1"/>
          <p:nvPr/>
        </p:nvSpPr>
        <p:spPr>
          <a:xfrm>
            <a:off x="850392" y="5413248"/>
            <a:ext cx="10488168" cy="246888"/>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One scenario  ·  9 tables · 46 columns · 11 FKs  ·  RIGOR with Claude  ·  its prov:wasDerivedFrom links exported as a D2RQ mapping  ·  Source: paper Table 13</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2" name="Shape 1012"/>
        <p:cNvGrpSpPr/>
        <p:nvPr/>
      </p:nvGrpSpPr>
      <p:grpSpPr>
        <a:xfrm>
          <a:off x="0" y="0"/>
          <a:ext cx="0" cy="0"/>
          <a:chOff x="0" y="0"/>
          <a:chExt cx="0" cy="0"/>
        </a:xfrm>
      </p:grpSpPr>
      <p:sp>
        <p:nvSpPr>
          <p:cNvPr id="1013" name="Google Shape;1013;p22"/>
          <p:cNvSpPr txBox="1"/>
          <p:nvPr/>
        </p:nvSpPr>
        <p:spPr>
          <a:xfrm>
            <a:off x="813816" y="493776"/>
            <a:ext cx="10607040" cy="310896"/>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1" lang="en-US" sz="1400">
                <a:solidFill>
                  <a:srgbClr val="0B6E4F"/>
                </a:solidFill>
                <a:latin typeface="Consolas"/>
                <a:ea typeface="Consolas"/>
                <a:cs typeface="Consolas"/>
                <a:sym typeface="Consolas"/>
              </a:rPr>
              <a:t>FUTURE WORK  /  FROM SCHEMAS TO INSTANCES</a:t>
            </a:r>
            <a:endParaRPr/>
          </a:p>
        </p:txBody>
      </p:sp>
      <p:sp>
        <p:nvSpPr>
          <p:cNvPr id="1014" name="Google Shape;1014;p22"/>
          <p:cNvSpPr txBox="1"/>
          <p:nvPr/>
        </p:nvSpPr>
        <p:spPr>
          <a:xfrm>
            <a:off x="813816" y="923544"/>
            <a:ext cx="10698480" cy="64008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1" lang="en-US" sz="3000">
                <a:solidFill>
                  <a:srgbClr val="1F2328"/>
                </a:solidFill>
                <a:latin typeface="Cambria"/>
                <a:ea typeface="Calibri"/>
                <a:cs typeface="Calibri"/>
                <a:sym typeface="Calibri"/>
              </a:rPr>
              <a:t>Next: let the data speak.</a:t>
            </a:r>
            <a:endParaRPr/>
          </a:p>
        </p:txBody>
      </p:sp>
      <p:sp>
        <p:nvSpPr>
          <p:cNvPr id="1015" name="Google Shape;1015;p22"/>
          <p:cNvSpPr txBox="1"/>
          <p:nvPr/>
        </p:nvSpPr>
        <p:spPr>
          <a:xfrm>
            <a:off x="822960" y="1709928"/>
            <a:ext cx="10332720" cy="329184"/>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None/>
            </a:pPr>
            <a:r>
              <a:rPr b="0" lang="en-US" sz="1700">
                <a:solidFill>
                  <a:srgbClr val="5B6770"/>
                </a:solidFill>
                <a:latin typeface="Calibri"/>
                <a:ea typeface="Calibri"/>
                <a:cs typeface="Calibri"/>
                <a:sym typeface="Calibri"/>
              </a:rPr>
              <a:t>Today RIGOR reads schemas and documentation. Instance data could propose new knowledge, for experts to review.</a:t>
            </a:r>
            <a:endParaRPr/>
          </a:p>
        </p:txBody>
      </p:sp>
      <p:sp>
        <p:nvSpPr>
          <p:cNvPr id="1031" name="Future card 1"/>
          <p:cNvSpPr/>
          <p:nvPr/>
        </p:nvSpPr>
        <p:spPr>
          <a:xfrm>
            <a:off x="822960" y="2194560"/>
            <a:ext cx="30175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2" name="Future card 2"/>
          <p:cNvSpPr/>
          <p:nvPr/>
        </p:nvSpPr>
        <p:spPr>
          <a:xfrm>
            <a:off x="4224528" y="2194560"/>
            <a:ext cx="2788920"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3" name="Future card 3"/>
          <p:cNvSpPr/>
          <p:nvPr/>
        </p:nvSpPr>
        <p:spPr>
          <a:xfrm>
            <a:off x="7397496" y="2194560"/>
            <a:ext cx="3941063" cy="2962656"/>
          </a:xfrm>
          <a:prstGeom prst="roundRect">
            <a:avLst>
              <a:gd name="adj" fmla="val 12000"/>
            </a:avLst>
          </a:prstGeom>
          <a:solidFill>
            <a:srgbClr val="FFFFFF"/>
          </a:solidFill>
          <a:ln w="9525">
            <a:solidFill>
              <a:srgbClr val="D9DEDB"/>
            </a:solidFill>
          </a:ln>
        </p:spPr>
        <p:txBody>
          <a:bodyPr wrap="square" lIns="0" tIns="0" rIns="0" bIns="0" anchor="t">
            <a:noAutofit/>
          </a:bodyPr>
          <a:lstStyle/>
          <a:p>
            <a:pPr algn="l"/>
          </a:p>
        </p:txBody>
      </p:sp>
      <p:sp>
        <p:nvSpPr>
          <p:cNvPr id="1034" name="Flow arrow"/>
          <p:cNvSpPr/>
          <p:nvPr/>
        </p:nvSpPr>
        <p:spPr>
          <a:xfrm>
            <a:off x="3877056"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5" name="Flow arrow"/>
          <p:cNvSpPr/>
          <p:nvPr/>
        </p:nvSpPr>
        <p:spPr>
          <a:xfrm>
            <a:off x="7050024" y="3456432"/>
            <a:ext cx="310896" cy="384048"/>
          </a:xfrm>
          <a:prstGeom prst="rightArrow">
            <a:avLst/>
          </a:prstGeom>
          <a:solidFill>
            <a:srgbClr val="0B6E4F"/>
          </a:solidFill>
          <a:ln>
            <a:noFill/>
          </a:ln>
        </p:spPr>
        <p:txBody>
          <a:bodyPr wrap="square" lIns="0" tIns="0" rIns="0" bIns="0" anchor="t">
            <a:noAutofit/>
          </a:bodyPr>
          <a:lstStyle/>
          <a:p>
            <a:pPr algn="l"/>
          </a:p>
        </p:txBody>
      </p:sp>
      <p:sp>
        <p:nvSpPr>
          <p:cNvPr id="1036" name="Card 1 label"/>
          <p:cNvSpPr txBox="1"/>
          <p:nvPr/>
        </p:nvSpPr>
        <p:spPr>
          <a:xfrm>
            <a:off x="1024128" y="2359152"/>
            <a:ext cx="26517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1  INSTANCES</a:t>
            </a:r>
          </a:p>
        </p:txBody>
      </p:sp>
      <p:sp>
        <p:nvSpPr>
          <p:cNvPr id="1037" name="Card 1 sub"/>
          <p:cNvSpPr txBox="1"/>
          <p:nvPr/>
        </p:nvSpPr>
        <p:spPr>
          <a:xfrm>
            <a:off x="1024128" y="2651760"/>
            <a:ext cx="26517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patient rows show</a:t>
            </a:r>
          </a:p>
        </p:txBody>
      </p:sp>
      <p:sp>
        <p:nvSpPr>
          <p:cNvPr id="1038" name="Instance row 0"/>
          <p:cNvSpPr txBox="1"/>
          <p:nvPr/>
        </p:nvSpPr>
        <p:spPr>
          <a:xfrm>
            <a:off x="960120" y="30175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950" b="1" dirty="0">
                <a:solidFill>
                  <a:srgbClr val="5B6770"/>
                </a:solidFill>
                <a:latin typeface="Consolas"/>
                <a:cs typeface="Consolas"/>
              </a:rPr>
              <a:t xml:space="preserve">PATIENT	CISPLATIN	BM_DEP AFTER</a:t>
            </a:r>
          </a:p>
        </p:txBody>
      </p:sp>
      <p:sp>
        <p:nvSpPr>
          <p:cNvPr id="1039" name="Instance row 1"/>
          <p:cNvSpPr/>
          <p:nvPr/>
        </p:nvSpPr>
        <p:spPr>
          <a:xfrm>
            <a:off x="960120" y="3291839"/>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P01	yes	1</a:t>
            </a:r>
          </a:p>
        </p:txBody>
      </p:sp>
      <p:sp>
        <p:nvSpPr>
          <p:cNvPr id="1040" name="Instance row 2"/>
          <p:cNvSpPr/>
          <p:nvPr/>
        </p:nvSpPr>
        <p:spPr>
          <a:xfrm>
            <a:off x="960120" y="356616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P02	yes	1</a:t>
            </a:r>
          </a:p>
        </p:txBody>
      </p:sp>
      <p:sp>
        <p:nvSpPr>
          <p:cNvPr id="1041" name="Instance row 3"/>
          <p:cNvSpPr txBox="1"/>
          <p:nvPr/>
        </p:nvSpPr>
        <p:spPr>
          <a:xfrm>
            <a:off x="960120" y="3840479"/>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P03	no	0</a:t>
            </a:r>
          </a:p>
        </p:txBody>
      </p:sp>
      <p:sp>
        <p:nvSpPr>
          <p:cNvPr id="1042" name="Instance row 4"/>
          <p:cNvSpPr/>
          <p:nvPr/>
        </p:nvSpPr>
        <p:spPr>
          <a:xfrm>
            <a:off x="960120" y="4114800"/>
            <a:ext cx="2743200" cy="246888"/>
          </a:xfrm>
          <a:prstGeom prst="roundRect">
            <a:avLst>
              <a:gd name="adj" fmla="val 12000"/>
            </a:avLst>
          </a:prstGeom>
          <a:solidFill>
            <a:srgbClr val="E6F2EC"/>
          </a:solid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P04	yes	1</a:t>
            </a:r>
          </a:p>
        </p:txBody>
      </p:sp>
      <p:sp>
        <p:nvSpPr>
          <p:cNvPr id="1043" name="Instance row 5"/>
          <p:cNvSpPr txBox="1"/>
          <p:nvPr/>
        </p:nvSpPr>
        <p:spPr>
          <a:xfrm>
            <a:off x="960120" y="4389120"/>
            <a:ext cx="2743200" cy="246888"/>
          </a:xfrm>
          <a:prstGeom prst="roundRect">
            <a:avLst>
              <a:gd name="adj" fmla="val 12000"/>
            </a:avLst>
          </a:prstGeom>
          <a:noFill/>
          <a:ln>
            <a:noFill/>
          </a:ln>
        </p:spPr>
        <p:txBody>
          <a:bodyPr wrap="square" lIns="91440" tIns="0" rIns="91440" bIns="0" anchor="ctr">
            <a:noAutofit/>
          </a:bodyPr>
          <a:lstStyle/>
          <a:p>
            <a:pPr algn="l">
              <a:tabLst>
                <a:tab pos="777240" algn="l"/>
                <a:tab pos="1737360" algn="l"/>
              </a:tabLst>
            </a:pPr>
            <a:r>
              <a:rPr lang="en-US" sz="1150" b="0" dirty="0">
                <a:solidFill>
                  <a:srgbClr val="1F2328"/>
                </a:solidFill>
                <a:latin typeface="Consolas"/>
                <a:cs typeface="Consolas"/>
              </a:rPr>
              <a:t xml:space="preserve">P05	no	0</a:t>
            </a:r>
          </a:p>
        </p:txBody>
      </p:sp>
      <p:sp>
        <p:nvSpPr>
          <p:cNvPr id="1044" name="Card 1 note"/>
          <p:cNvSpPr txBox="1"/>
          <p:nvPr/>
        </p:nvSpPr>
        <p:spPr>
          <a:xfrm>
            <a:off x="1024128" y="4736592"/>
            <a:ext cx="2651760" cy="384048"/>
          </a:xfrm>
          <a:prstGeom prst="rect">
            <a:avLst/>
          </a:prstGeom>
          <a:noFill/>
          <a:ln>
            <a:noFill/>
          </a:ln>
        </p:spPr>
        <p:txBody>
          <a:bodyPr wrap="square" lIns="0" tIns="0" rIns="0" bIns="0" anchor="t">
            <a:noAutofit/>
          </a:bodyPr>
          <a:lstStyle/>
          <a:p>
            <a:pPr algn="l"/>
            <a:r>
              <a:rPr lang="en-US" sz="1100" b="0" dirty="0">
                <a:solidFill>
                  <a:srgbClr val="5B6770"/>
                </a:solidFill>
                <a:latin typeface="Calibri"/>
                <a:cs typeface="Calibri"/>
              </a:rPr>
              <a:t xml:space="preserve">Synthetic illustration. Rows also reveal codes: BM_DEP is only 0 or 1.</a:t>
            </a:r>
          </a:p>
        </p:txBody>
      </p:sp>
      <p:sp>
        <p:nvSpPr>
          <p:cNvPr id="1045" name="Card 2 label"/>
          <p:cNvSpPr txBox="1"/>
          <p:nvPr/>
        </p:nvSpPr>
        <p:spPr>
          <a:xfrm>
            <a:off x="4425696" y="2359152"/>
            <a:ext cx="2423160" cy="274320"/>
          </a:xfrm>
          <a:prstGeom prst="rect">
            <a:avLst/>
          </a:prstGeom>
          <a:noFill/>
          <a:ln>
            <a:noFill/>
          </a:ln>
        </p:spPr>
        <p:txBody>
          <a:bodyPr wrap="square" lIns="0" tIns="0" rIns="0" bIns="0" anchor="t">
            <a:noAutofit/>
          </a:bodyPr>
          <a:lstStyle/>
          <a:p>
            <a:pPr algn="l"/>
            <a:r>
              <a:rPr lang="en-US" sz="1300" b="1" dirty="0">
                <a:solidFill>
                  <a:srgbClr val="2F6B78"/>
                </a:solidFill>
                <a:latin typeface="Consolas"/>
                <a:cs typeface="Consolas"/>
              </a:rPr>
              <a:t xml:space="preserve">2  + DOCUMENTATION</a:t>
            </a:r>
          </a:p>
        </p:txBody>
      </p:sp>
      <p:sp>
        <p:nvSpPr>
          <p:cNvPr id="1046" name="Card 2 sub"/>
          <p:cNvSpPr txBox="1"/>
          <p:nvPr/>
        </p:nvSpPr>
        <p:spPr>
          <a:xfrm>
            <a:off x="4425696" y="2651760"/>
            <a:ext cx="2423160"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What the drug label says</a:t>
            </a:r>
          </a:p>
        </p:txBody>
      </p:sp>
      <p:sp>
        <p:nvSpPr>
          <p:cNvPr id="1047" name="Drug label quote"/>
          <p:cNvSpPr/>
          <p:nvPr/>
        </p:nvSpPr>
        <p:spPr>
          <a:xfrm>
            <a:off x="4389120" y="3017520"/>
            <a:ext cx="2459736" cy="1115568"/>
          </a:xfrm>
          <a:prstGeom prst="roundRect">
            <a:avLst>
              <a:gd name="adj" fmla="val 12000"/>
            </a:avLst>
          </a:prstGeom>
          <a:solidFill>
            <a:srgbClr val="F3F5F4"/>
          </a:solidFill>
          <a:ln>
            <a:noFill/>
          </a:ln>
        </p:spPr>
        <p:txBody>
          <a:bodyPr wrap="square" lIns="128016" tIns="0" rIns="128016" bIns="0" anchor="ctr">
            <a:noAutofit/>
          </a:bodyPr>
          <a:lstStyle/>
          <a:p>
            <a:pPr algn="l"/>
            <a:r>
              <a:rPr lang="en-US" sz="1400" b="0" dirty="0" i="1">
                <a:solidFill>
                  <a:srgbClr val="1F2328"/>
                </a:solidFill>
                <a:latin typeface="Calibri"/>
                <a:cs typeface="Calibri"/>
              </a:rPr>
              <a:t xml:space="preserve">Myelosuppression (bone-marrow suppression) is a documented adverse reaction of cisplatin.</a:t>
            </a:r>
          </a:p>
        </p:txBody>
      </p:sp>
      <p:sp>
        <p:nvSpPr>
          <p:cNvPr id="1048" name="Quote source"/>
          <p:cNvSpPr txBox="1"/>
          <p:nvPr/>
        </p:nvSpPr>
        <p:spPr>
          <a:xfrm>
            <a:off x="4425696" y="4169664"/>
            <a:ext cx="2423160" cy="201168"/>
          </a:xfrm>
          <a:prstGeom prst="rect">
            <a:avLst/>
          </a:prstGeom>
          <a:noFill/>
          <a:ln>
            <a:noFill/>
          </a:ln>
        </p:spPr>
        <p:txBody>
          <a:bodyPr wrap="square" lIns="0" tIns="0" rIns="0" bIns="0" anchor="t">
            <a:noAutofit/>
          </a:bodyPr>
          <a:lstStyle/>
          <a:p>
            <a:pPr algn="l"/>
            <a:r>
              <a:rPr lang="en-US" sz="1000" b="0" dirty="0">
                <a:solidFill>
                  <a:srgbClr val="5B6770"/>
                </a:solidFill>
                <a:latin typeface="Calibri"/>
                <a:cs typeface="Calibri"/>
              </a:rPr>
              <a:t xml:space="preserve">Cisplatin drug label, paraphrased</a:t>
            </a:r>
          </a:p>
        </p:txBody>
      </p:sp>
      <p:sp>
        <p:nvSpPr>
          <p:cNvPr id="1049" name="Card 2 note"/>
          <p:cNvSpPr txBox="1"/>
          <p:nvPr/>
        </p:nvSpPr>
        <p:spPr>
          <a:xfrm>
            <a:off x="4425696" y="4480560"/>
            <a:ext cx="2423160" cy="548640"/>
          </a:xfrm>
          <a:prstGeom prst="rect">
            <a:avLst/>
          </a:prstGeom>
          <a:noFill/>
          <a:ln>
            <a:noFill/>
          </a:ln>
        </p:spPr>
        <p:txBody>
          <a:bodyPr wrap="square" lIns="0" tIns="0" rIns="0" bIns="0" anchor="t">
            <a:noAutofit/>
          </a:bodyPr>
          <a:lstStyle/>
          <a:p>
            <a:pPr algn="l"/>
            <a:r>
              <a:rPr lang="en-US" sz="1200" b="0" dirty="0">
                <a:solidFill>
                  <a:srgbClr val="3A434C"/>
                </a:solidFill>
                <a:latin typeface="Calibri"/>
                <a:cs typeface="Calibri"/>
              </a:rPr>
              <a:t xml:space="preserve">Timing is evidence too: BM_DEP is recorded after the first cycle.</a:t>
            </a:r>
          </a:p>
        </p:txBody>
      </p:sp>
      <p:sp>
        <p:nvSpPr>
          <p:cNvPr id="1050" name="Card 3 label"/>
          <p:cNvSpPr txBox="1"/>
          <p:nvPr/>
        </p:nvSpPr>
        <p:spPr>
          <a:xfrm>
            <a:off x="7598664" y="2359152"/>
            <a:ext cx="3575303" cy="274320"/>
          </a:xfrm>
          <a:prstGeom prst="rect">
            <a:avLst/>
          </a:prstGeom>
          <a:noFill/>
          <a:ln>
            <a:noFill/>
          </a:ln>
        </p:spPr>
        <p:txBody>
          <a:bodyPr wrap="square" lIns="0" tIns="0" rIns="0" bIns="0" anchor="t">
            <a:noAutofit/>
          </a:bodyPr>
          <a:lstStyle/>
          <a:p>
            <a:pPr algn="l"/>
            <a:r>
              <a:rPr lang="en-US" sz="1300" b="1" dirty="0">
                <a:solidFill>
                  <a:srgbClr val="0B6E4F"/>
                </a:solidFill>
                <a:latin typeface="Consolas"/>
                <a:cs typeface="Consolas"/>
              </a:rPr>
              <a:t xml:space="preserve">3  CANDIDATE KNOWLEDGE</a:t>
            </a:r>
          </a:p>
        </p:txBody>
      </p:sp>
      <p:sp>
        <p:nvSpPr>
          <p:cNvPr id="1051" name="Card 3 sub"/>
          <p:cNvSpPr txBox="1"/>
          <p:nvPr/>
        </p:nvSpPr>
        <p:spPr>
          <a:xfrm>
            <a:off x="7598664" y="2651760"/>
            <a:ext cx="3575303" cy="256032"/>
          </a:xfrm>
          <a:prstGeom prst="rect">
            <a:avLst/>
          </a:prstGeom>
          <a:noFill/>
          <a:ln>
            <a:noFill/>
          </a:ln>
        </p:spPr>
        <p:txBody>
          <a:bodyPr wrap="square" lIns="0" tIns="0" rIns="0" bIns="0" anchor="t">
            <a:noAutofit/>
          </a:bodyPr>
          <a:lstStyle/>
          <a:p>
            <a:pPr algn="l"/>
            <a:r>
              <a:rPr lang="en-US" sz="1300" b="0" dirty="0">
                <a:solidFill>
                  <a:srgbClr val="5B6770"/>
                </a:solidFill>
                <a:latin typeface="Calibri"/>
                <a:cs typeface="Calibri"/>
              </a:rPr>
              <a:t xml:space="preserve">A reviewable hypothesis, not a fact</a:t>
            </a:r>
          </a:p>
        </p:txBody>
      </p:sp>
      <p:sp>
        <p:nvSpPr>
          <p:cNvPr id="1052" name="Code 1052" descr="OWL Manchester Syntax excerpt"/>
          <p:cNvSpPr txBox="1"/>
          <p:nvPr/>
        </p:nvSpPr>
        <p:spPr>
          <a:xfrm>
            <a:off x="7534656" y="2962656"/>
            <a:ext cx="3666744" cy="1575054"/>
          </a:xfrm>
          <a:prstGeom prst="roundRect">
            <a:avLst>
              <a:gd name="adj" fmla="val 5000"/>
            </a:avLst>
          </a:prstGeom>
          <a:solidFill>
            <a:srgbClr val="F6F8FA"/>
          </a:solidFill>
          <a:ln w="9525">
            <a:solidFill>
              <a:srgbClr val="D0D7DE"/>
            </a:solidFill>
          </a:ln>
        </p:spPr>
        <p:txBody>
          <a:bodyPr wrap="none" lIns="91440" tIns="73152" rIns="91440" bIns="54864" anchor="t">
            <a:noAutofit/>
          </a:bodyPr>
          <a:lstStyle/>
          <a:p>
            <a:pPr>
              <a:lnSpc>
                <a:spcPts val="1250"/>
              </a:lnSpc>
              <a:spcBef>
                <a:spcPts val="0"/>
              </a:spcBef>
            </a:pPr>
            <a:r>
              <a:rPr lang="en-US" sz="1100" b="1" i="0" dirty="0">
                <a:solidFill>
                  <a:srgbClr val="0B6E4F"/>
                </a:solidFill>
                <a:latin typeface="Consolas"/>
                <a:cs typeface="Consolas"/>
              </a:rPr>
              <a:t xml:space="preserve">Individual:</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cisplatin_bmdep</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Types:</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CandidateAssociation</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Facts: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hasDrug</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Cisplatin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hasCondition</a:t>
            </a: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BoneMarrowDepression</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1F2328"/>
                </a:solidFill>
                <a:latin typeface="Consolas"/>
                <a:cs typeface="Consolas"/>
              </a:rPr>
              <a:t xml:space="preserve">status</a:t>
            </a:r>
            <a:r>
              <a:rPr lang="en-US" sz="1100" b="0" i="0" dirty="0">
                <a:solidFill>
                  <a:srgbClr val="1F2328"/>
                </a:solidFill>
                <a:latin typeface="Consolas"/>
                <a:cs typeface="Consolas"/>
              </a:rPr>
              <a:t xml:space="preserve"> </a:t>
            </a:r>
            <a:r>
              <a:rPr lang="en-US" sz="1100" b="0" i="0" dirty="0">
                <a:solidFill>
                  <a:srgbClr val="A3401E"/>
                </a:solidFill>
                <a:latin typeface="Consolas"/>
                <a:cs typeface="Consolas"/>
              </a:rPr>
              <a:t xml:space="preserve">"needs expert review"</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1" i="0" dirty="0">
                <a:solidFill>
                  <a:srgbClr val="0B6E4F"/>
                </a:solidFill>
                <a:latin typeface="Consolas"/>
                <a:cs typeface="Consolas"/>
              </a:rPr>
              <a:t xml:space="preserve">Annotations:</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src:BM_DEP</a:t>
            </a:r>
            <a:r>
              <a:rPr lang="en-US" sz="1100" b="0" i="0" dirty="0">
                <a:solidFill>
                  <a:srgbClr val="1F2328"/>
                </a:solidFill>
                <a:latin typeface="Consolas"/>
                <a:cs typeface="Consolas"/>
              </a:rPr>
              <a:t xml:space="preserve">,</a:t>
            </a:r>
            <a:endParaRPr lang="en-US" sz="1100"/>
          </a:p>
          <a:p>
            <a:pPr>
              <a:lnSpc>
                <a:spcPts val="1250"/>
              </a:lnSpc>
              <a:spcBef>
                <a:spcPts val="0"/>
              </a:spcBef>
            </a:pPr>
            <a:r>
              <a:rPr lang="en-US" sz="1100" b="0" i="0" dirty="0">
                <a:solidFill>
                  <a:srgbClr val="1F2328"/>
                </a:solidFill>
                <a:latin typeface="Consolas"/>
                <a:cs typeface="Consolas"/>
              </a:rPr>
              <a:t xml:space="preserve">    </a:t>
            </a:r>
            <a:r>
              <a:rPr lang="en-US" sz="1100" b="0" i="0" dirty="0">
                <a:solidFill>
                  <a:srgbClr val="5B6770"/>
                </a:solidFill>
                <a:latin typeface="Consolas"/>
                <a:cs typeface="Consolas"/>
              </a:rPr>
              <a:t xml:space="preserve">prov:wasDerivedFrom</a:t>
            </a:r>
            <a:r>
              <a:rPr lang="en-US" sz="1100" b="0" i="0" dirty="0">
                <a:solidFill>
                  <a:srgbClr val="1F2328"/>
                </a:solidFill>
                <a:latin typeface="Consolas"/>
                <a:cs typeface="Consolas"/>
              </a:rPr>
              <a:t xml:space="preserve"> </a:t>
            </a:r>
            <a:r>
              <a:rPr lang="en-US" sz="1100" b="0" i="0" dirty="0">
                <a:solidFill>
                  <a:srgbClr val="2F6B78"/>
                </a:solidFill>
                <a:latin typeface="Consolas"/>
                <a:cs typeface="Consolas"/>
              </a:rPr>
              <a:t xml:space="preserve">doc:cisplatin_label</a:t>
            </a:r>
            <a:endParaRPr lang="en-US" sz="1100"/>
          </a:p>
        </p:txBody>
      </p:sp>
      <p:sp>
        <p:nvSpPr>
          <p:cNvPr id="1053" name="Card 3 note"/>
          <p:cNvSpPr txBox="1"/>
          <p:nvPr/>
        </p:nvSpPr>
        <p:spPr>
          <a:xfrm>
            <a:off x="7598664" y="4626864"/>
            <a:ext cx="3575303" cy="475488"/>
          </a:xfrm>
          <a:prstGeom prst="rect">
            <a:avLst/>
          </a:prstGeom>
          <a:noFill/>
          <a:ln>
            <a:noFill/>
          </a:ln>
        </p:spPr>
        <p:txBody>
          <a:bodyPr wrap="square" lIns="0" tIns="0" rIns="0" bIns="0" anchor="t">
            <a:noAutofit/>
          </a:bodyPr>
          <a:lstStyle/>
          <a:p>
            <a:pPr algn="l"/>
            <a:r>
              <a:rPr lang="en-US" sz="1100" b="1" dirty="0">
                <a:solidFill>
                  <a:srgbClr val="B23A1E"/>
                </a:solidFill>
                <a:latin typeface="Calibri"/>
                <a:cs typeface="Calibri"/>
              </a:rPr>
              <a:t xml:space="preserve">No causes axiom. </a:t>
            </a:r>
            <a:r>
              <a:rPr lang="en-US" sz="1100" b="0" dirty="0">
                <a:solidFill>
                  <a:srgbClr val="3A434C"/>
                </a:solidFill>
                <a:latin typeface="Calibri"/>
                <a:cs typeface="Calibri"/>
              </a:rPr>
              <a:t xml:space="preserve">Co-administered gemcitabine, radiotherapy or cirrhosis can also suppress the marrow.</a:t>
            </a:r>
          </a:p>
        </p:txBody>
      </p:sp>
      <p:sp>
        <p:nvSpPr>
          <p:cNvPr id="1054" name="Also next strip"/>
          <p:cNvSpPr/>
          <p:nvPr/>
        </p:nvSpPr>
        <p:spPr>
          <a:xfrm>
            <a:off x="822960" y="5340096"/>
            <a:ext cx="10515600" cy="420624"/>
          </a:xfrm>
          <a:prstGeom prst="roundRect">
            <a:avLst>
              <a:gd name="adj" fmla="val 12000"/>
            </a:avLst>
          </a:prstGeom>
          <a:solidFill>
            <a:srgbClr val="E6F2EC"/>
          </a:solidFill>
          <a:ln>
            <a:noFill/>
          </a:ln>
        </p:spPr>
        <p:txBody>
          <a:bodyPr wrap="square" lIns="182880" tIns="0" rIns="182880" bIns="0" anchor="ctr">
            <a:noAutofit/>
          </a:bodyPr>
          <a:lstStyle/>
          <a:p>
            <a:pPr algn="l"/>
            <a:r>
              <a:rPr lang="en-US" sz="1250" b="1" dirty="0">
                <a:solidFill>
                  <a:srgbClr val="0B6E4F"/>
                </a:solidFill>
                <a:latin typeface="Calibri"/>
                <a:cs typeface="Calibri"/>
              </a:rPr>
              <a:t xml:space="preserve">ALSO NEXT   </a:t>
            </a:r>
            <a:r>
              <a:rPr lang="en-US" sz="1250" b="0" dirty="0">
                <a:solidFill>
                  <a:srgbClr val="1F2328"/>
                </a:solidFill>
                <a:latin typeface="Calibri"/>
                <a:cs typeface="Calibri"/>
              </a:rPr>
              <a:t xml:space="preserve">Validator and reasoner feedback inside the loop, to catch residual P19  ·  aggregate statistics only, so patient data stays in the hospital</a:t>
            </a:r>
          </a:p>
        </p:txBody>
      </p:sp>
      <p:sp>
        <p:nvSpPr>
          <p:cNvPr id="1055" name="Future caption"/>
          <p:cNvSpPr txBox="1"/>
          <p:nvPr/>
        </p:nvSpPr>
        <p:spPr>
          <a:xfrm>
            <a:off x="850392" y="5870448"/>
            <a:ext cx="10488168" cy="237744"/>
          </a:xfrm>
          <a:prstGeom prst="rect">
            <a:avLst/>
          </a:prstGeom>
          <a:noFill/>
          <a:ln>
            <a:noFill/>
          </a:ln>
        </p:spPr>
        <p:txBody>
          <a:bodyPr wrap="square" lIns="0" tIns="0" rIns="0" bIns="0" anchor="t">
            <a:noAutofit/>
          </a:bodyPr>
          <a:lstStyle/>
          <a:p>
            <a:pPr algn="l"/>
            <a:r>
              <a:rPr lang="en-US" sz="1050" b="0" dirty="0">
                <a:solidFill>
                  <a:srgbClr val="5B6770"/>
                </a:solidFill>
                <a:latin typeface="Calibri"/>
                <a:cs typeface="Calibri"/>
              </a:rPr>
              <a:t xml:space="preserve">Instance rows are synthetic. Future directions follow paper Section 5 (instance-level signals, tool feedback, symbolic reasoning).</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B6E4F"/>
        </a:solidFill>
      </p:bgPr>
    </p:bg>
    <p:spTree>
      <p:nvGrpSpPr>
        <p:cNvPr id="1035" name="Shape 1035"/>
        <p:cNvGrpSpPr/>
        <p:nvPr/>
      </p:nvGrpSpPr>
      <p:grpSpPr>
        <a:xfrm>
          <a:off x="0" y="0"/>
          <a:ext cx="0" cy="0"/>
          <a:chOff x="0" y="0"/>
          <a:chExt cx="0" cy="0"/>
        </a:xfrm>
      </p:grpSpPr>
      <p:sp>
        <p:nvSpPr>
          <p:cNvPr id="1036" name="TextBox 1035"/>
          <p:cNvSpPr txBox="1"/>
          <p:nvPr/>
        </p:nvSpPr>
        <p:spPr>
          <a:xfrm>
            <a:off x="813816" y="466344"/>
            <a:ext cx="10515600" cy="310896"/>
          </a:xfrm>
          <a:prstGeom prst="rect">
            <a:avLst/>
          </a:prstGeom>
          <a:noFill/>
        </p:spPr>
        <p:txBody>
          <a:bodyPr wrap="square" lIns="0" rIns="0" tIns="0" bIns="0" anchor="ctr">
            <a:spAutoFit/>
          </a:bodyPr>
          <a:lstStyle/>
          <a:p>
            <a:r>
              <a:rPr sz="1400" b="1">
                <a:solidFill>
                  <a:srgbClr val="F6CF6A"/>
                </a:solidFill>
                <a:latin typeface="Consolas"/>
              </a:rPr>
              <a:t>RIGOR  /  ISWC 2026</a:t>
            </a:r>
          </a:p>
        </p:txBody>
      </p:sp>
      <p:sp>
        <p:nvSpPr>
          <p:cNvPr id="1037" name="TextBox 1036"/>
          <p:cNvSpPr txBox="1"/>
          <p:nvPr/>
        </p:nvSpPr>
        <p:spPr>
          <a:xfrm>
            <a:off x="813816" y="914400"/>
            <a:ext cx="6766560" cy="758952"/>
          </a:xfrm>
          <a:prstGeom prst="rect">
            <a:avLst/>
          </a:prstGeom>
          <a:noFill/>
        </p:spPr>
        <p:txBody>
          <a:bodyPr wrap="square" lIns="0" rIns="0" tIns="0" bIns="0" anchor="ctr">
            <a:spAutoFit/>
          </a:bodyPr>
          <a:lstStyle/>
          <a:p>
            <a:r>
              <a:rPr sz="4600" b="1">
                <a:solidFill>
                  <a:srgbClr val="FFFFFF"/>
                </a:solidFill>
                <a:latin typeface="Cambria"/>
              </a:rPr>
              <a:t>Thank you.</a:t>
            </a:r>
          </a:p>
        </p:txBody>
      </p:sp>
      <p:sp>
        <p:nvSpPr>
          <p:cNvPr id="1038" name="TextBox 1037"/>
          <p:cNvSpPr txBox="1"/>
          <p:nvPr/>
        </p:nvSpPr>
        <p:spPr>
          <a:xfrm>
            <a:off x="841248" y="1773936"/>
            <a:ext cx="6949440" cy="493776"/>
          </a:xfrm>
          <a:prstGeom prst="rect">
            <a:avLst/>
          </a:prstGeom>
          <a:noFill/>
        </p:spPr>
        <p:txBody>
          <a:bodyPr wrap="square" lIns="0" rIns="0" tIns="0" bIns="0" anchor="ctr">
            <a:spAutoFit/>
          </a:bodyPr>
          <a:lstStyle/>
          <a:p>
            <a:r>
              <a:rPr sz="2600" b="0">
                <a:solidFill>
                  <a:srgbClr val="BFE6D3"/>
                </a:solidFill>
                <a:latin typeface="Cambria"/>
              </a:rPr>
              <a:t>Questions?</a:t>
            </a:r>
          </a:p>
        </p:txBody>
      </p:sp>
      <p:sp>
        <p:nvSpPr>
          <p:cNvPr id="1039" name="Rounded Rectangle 1038"/>
          <p:cNvSpPr/>
          <p:nvPr/>
        </p:nvSpPr>
        <p:spPr>
          <a:xfrm>
            <a:off x="822960" y="2532888"/>
            <a:ext cx="7114032" cy="2560320"/>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TextBox 1039"/>
          <p:cNvSpPr txBox="1"/>
          <p:nvPr/>
        </p:nvSpPr>
        <p:spPr>
          <a:xfrm>
            <a:off x="1078992" y="2743200"/>
            <a:ext cx="6537960" cy="329184"/>
          </a:xfrm>
          <a:prstGeom prst="rect">
            <a:avLst/>
          </a:prstGeom>
          <a:noFill/>
        </p:spPr>
        <p:txBody>
          <a:bodyPr wrap="square" lIns="0" rIns="0" tIns="0" bIns="0" anchor="ctr">
            <a:spAutoFit/>
          </a:bodyPr>
          <a:lstStyle/>
          <a:p>
            <a:r>
              <a:rPr sz="1450" b="1">
                <a:solidFill>
                  <a:srgbClr val="BFE6D3"/>
                </a:solidFill>
                <a:latin typeface="Consolas"/>
              </a:rPr>
              <a:t>FROM A DATABASE SCHEMA TO AN ONTOLOGY</a:t>
            </a:r>
          </a:p>
        </p:txBody>
      </p:sp>
      <p:sp>
        <p:nvSpPr>
          <p:cNvPr id="1041" name="Rounded Rectangle 1040"/>
          <p:cNvSpPr/>
          <p:nvPr/>
        </p:nvSpPr>
        <p:spPr>
          <a:xfrm>
            <a:off x="1143000" y="3264408"/>
            <a:ext cx="1874519"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TextBox 1041"/>
          <p:cNvSpPr txBox="1"/>
          <p:nvPr/>
        </p:nvSpPr>
        <p:spPr>
          <a:xfrm>
            <a:off x="1280160" y="3355848"/>
            <a:ext cx="1600200" cy="274320"/>
          </a:xfrm>
          <a:prstGeom prst="rect">
            <a:avLst/>
          </a:prstGeom>
          <a:noFill/>
        </p:spPr>
        <p:txBody>
          <a:bodyPr wrap="square" lIns="0" rIns="0" tIns="0" bIns="0" anchor="ctr">
            <a:spAutoFit/>
          </a:bodyPr>
          <a:lstStyle/>
          <a:p>
            <a:r>
              <a:rPr sz="1900" b="1">
                <a:solidFill>
                  <a:srgbClr val="FFFFFF"/>
                </a:solidFill>
                <a:latin typeface="Calibri"/>
              </a:rPr>
              <a:t>admission</a:t>
            </a:r>
          </a:p>
        </p:txBody>
      </p:sp>
      <p:sp>
        <p:nvSpPr>
          <p:cNvPr id="1043" name="TextBox 1042"/>
          <p:cNvSpPr txBox="1"/>
          <p:nvPr/>
        </p:nvSpPr>
        <p:spPr>
          <a:xfrm>
            <a:off x="1280160" y="3675887"/>
            <a:ext cx="1554480" cy="219456"/>
          </a:xfrm>
          <a:prstGeom prst="rect">
            <a:avLst/>
          </a:prstGeom>
          <a:noFill/>
        </p:spPr>
        <p:txBody>
          <a:bodyPr wrap="square" lIns="0" rIns="0" tIns="0" bIns="0" anchor="ctr">
            <a:spAutoFit/>
          </a:bodyPr>
          <a:lstStyle/>
          <a:p>
            <a:r>
              <a:rPr sz="1230" b="0">
                <a:solidFill>
                  <a:srgbClr val="D3EDE0"/>
                </a:solidFill>
                <a:latin typeface="Consolas"/>
              </a:rPr>
              <a:t>patient_id  FK</a:t>
            </a:r>
          </a:p>
        </p:txBody>
      </p:sp>
      <p:sp>
        <p:nvSpPr>
          <p:cNvPr id="1044" name="Chevron 1043"/>
          <p:cNvSpPr/>
          <p:nvPr/>
        </p:nvSpPr>
        <p:spPr>
          <a:xfrm>
            <a:off x="3282696" y="3483864"/>
            <a:ext cx="621792" cy="411480"/>
          </a:xfrm>
          <a:prstGeom prst="chevron">
            <a:avLst/>
          </a:prstGeom>
          <a:solidFill>
            <a:srgbClr val="F6CF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TextBox 1044"/>
          <p:cNvSpPr txBox="1"/>
          <p:nvPr/>
        </p:nvSpPr>
        <p:spPr>
          <a:xfrm>
            <a:off x="3291840" y="3986784"/>
            <a:ext cx="685800" cy="228600"/>
          </a:xfrm>
          <a:prstGeom prst="rect">
            <a:avLst/>
          </a:prstGeom>
          <a:noFill/>
        </p:spPr>
        <p:txBody>
          <a:bodyPr wrap="square" lIns="0" rIns="0" tIns="0" bIns="0" anchor="ctr">
            <a:spAutoFit/>
          </a:bodyPr>
          <a:lstStyle/>
          <a:p>
            <a:pPr algn="ctr"/>
            <a:r>
              <a:rPr sz="1200" b="1">
                <a:solidFill>
                  <a:srgbClr val="F6CF6A"/>
                </a:solidFill>
                <a:latin typeface="Consolas"/>
              </a:rPr>
              <a:t>RIGOR</a:t>
            </a:r>
          </a:p>
        </p:txBody>
      </p:sp>
      <p:sp>
        <p:nvSpPr>
          <p:cNvPr id="1046" name="Rounded Rectangle 1045"/>
          <p:cNvSpPr/>
          <p:nvPr/>
        </p:nvSpPr>
        <p:spPr>
          <a:xfrm>
            <a:off x="4206240" y="3264408"/>
            <a:ext cx="3383280" cy="914400"/>
          </a:xfrm>
          <a:prstGeom prst="roundRect">
            <a:avLst/>
          </a:prstGeom>
          <a:solidFill>
            <a:srgbClr val="0D7A58"/>
          </a:solidFill>
          <a:ln w="12700">
            <a:solidFill>
              <a:srgbClr val="8FD3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TextBox 1046"/>
          <p:cNvSpPr txBox="1"/>
          <p:nvPr/>
        </p:nvSpPr>
        <p:spPr>
          <a:xfrm>
            <a:off x="4343400" y="3337560"/>
            <a:ext cx="3127248" cy="310896"/>
          </a:xfrm>
          <a:prstGeom prst="rect">
            <a:avLst/>
          </a:prstGeom>
          <a:noFill/>
        </p:spPr>
        <p:txBody>
          <a:bodyPr wrap="square" lIns="0" rIns="0" tIns="0" bIns="0" anchor="ctr">
            <a:spAutoFit/>
          </a:bodyPr>
          <a:lstStyle/>
          <a:p>
            <a:r>
              <a:rPr sz="1700" b="1">
                <a:solidFill>
                  <a:srgbClr val="FFFFFF"/>
                </a:solidFill>
                <a:latin typeface="Calibri"/>
              </a:rPr>
              <a:t>Admission → PatientData</a:t>
            </a:r>
          </a:p>
        </p:txBody>
      </p:sp>
      <p:sp>
        <p:nvSpPr>
          <p:cNvPr id="1048" name="TextBox 1047"/>
          <p:cNvSpPr txBox="1"/>
          <p:nvPr/>
        </p:nvSpPr>
        <p:spPr>
          <a:xfrm>
            <a:off x="4343400" y="3675887"/>
            <a:ext cx="3127248" cy="246888"/>
          </a:xfrm>
          <a:prstGeom prst="rect">
            <a:avLst/>
          </a:prstGeom>
          <a:noFill/>
        </p:spPr>
        <p:txBody>
          <a:bodyPr wrap="square" lIns="0" rIns="0" tIns="0" bIns="0" anchor="ctr">
            <a:spAutoFit/>
          </a:bodyPr>
          <a:lstStyle/>
          <a:p>
            <a:r>
              <a:rPr sz="1250" b="0">
                <a:solidFill>
                  <a:srgbClr val="D3EDE0"/>
                </a:solidFill>
                <a:latin typeface="Calibri"/>
              </a:rPr>
              <a:t>Meaningful labels + provenance</a:t>
            </a:r>
          </a:p>
        </p:txBody>
      </p:sp>
      <p:sp>
        <p:nvSpPr>
          <p:cNvPr id="1049" name="TextBox 1048"/>
          <p:cNvSpPr txBox="1"/>
          <p:nvPr/>
        </p:nvSpPr>
        <p:spPr>
          <a:xfrm>
            <a:off x="1133856" y="4471416"/>
            <a:ext cx="6364224" cy="320040"/>
          </a:xfrm>
          <a:prstGeom prst="rect">
            <a:avLst/>
          </a:prstGeom>
          <a:noFill/>
        </p:spPr>
        <p:txBody>
          <a:bodyPr wrap="square" lIns="0" rIns="0" tIns="0" bIns="0" anchor="ctr">
            <a:spAutoFit/>
          </a:bodyPr>
          <a:lstStyle/>
          <a:p>
            <a:r>
              <a:rPr sz="1560" b="0">
                <a:solidFill>
                  <a:srgbClr val="FFFFFF"/>
                </a:solidFill>
                <a:latin typeface="Calibri"/>
              </a:rPr>
              <a:t>Schema grounding · Retrieved semantics · Validated growth</a:t>
            </a:r>
          </a:p>
        </p:txBody>
      </p:sp>
      <p:sp>
        <p:nvSpPr>
          <p:cNvPr id="1050" name="Rounded Rectangle 1049"/>
          <p:cNvSpPr/>
          <p:nvPr/>
        </p:nvSpPr>
        <p:spPr>
          <a:xfrm>
            <a:off x="8183879" y="2523744"/>
            <a:ext cx="3136392" cy="2871216"/>
          </a:xfrm>
          <a:prstGeom prst="roundRect">
            <a:avLst/>
          </a:prstGeom>
          <a:solidFill>
            <a:srgbClr val="095C42"/>
          </a:solidFill>
          <a:ln w="12700">
            <a:solidFill>
              <a:srgbClr val="4FA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TextBox 1050"/>
          <p:cNvSpPr txBox="1"/>
          <p:nvPr/>
        </p:nvSpPr>
        <p:spPr>
          <a:xfrm>
            <a:off x="8403336" y="2724912"/>
            <a:ext cx="2724912" cy="274320"/>
          </a:xfrm>
          <a:prstGeom prst="rect">
            <a:avLst/>
          </a:prstGeom>
          <a:noFill/>
        </p:spPr>
        <p:txBody>
          <a:bodyPr wrap="square" lIns="0" rIns="0" tIns="0" bIns="0" anchor="ctr">
            <a:spAutoFit/>
          </a:bodyPr>
          <a:lstStyle/>
          <a:p>
            <a:r>
              <a:rPr sz="1400" b="1">
                <a:solidFill>
                  <a:srgbClr val="BFE6D3"/>
                </a:solidFill>
                <a:latin typeface="Consolas"/>
              </a:rPr>
              <a:t>PAPER + OPEN SOURCE</a:t>
            </a:r>
          </a:p>
        </p:txBody>
      </p:sp>
      <p:pic>
        <p:nvPicPr>
          <p:cNvPr id="1052" name="Picture 1051" descr="image.png"/>
          <p:cNvPicPr>
            <a:picLocks noChangeAspect="1"/>
          </p:cNvPicPr>
          <p:nvPr/>
        </p:nvPicPr>
        <p:blipFill>
          <a:blip r:embed="rId3"/>
          <a:stretch>
            <a:fillRect/>
          </a:stretch>
        </p:blipFill>
        <p:spPr>
          <a:xfrm>
            <a:off x="8458200" y="3182112"/>
            <a:ext cx="1316736" cy="1316736"/>
          </a:xfrm>
          <a:prstGeom prst="rect">
            <a:avLst/>
          </a:prstGeom>
        </p:spPr>
      </p:pic>
      <p:sp>
        <p:nvSpPr>
          <p:cNvPr id="1053" name="TextBox 1052"/>
          <p:cNvSpPr txBox="1"/>
          <p:nvPr/>
        </p:nvSpPr>
        <p:spPr>
          <a:xfrm>
            <a:off x="8412480"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Paper</a:t>
            </a:r>
          </a:p>
        </p:txBody>
      </p:sp>
      <p:pic>
        <p:nvPicPr>
          <p:cNvPr id="1054" name="Picture 1053" descr="image.png"/>
          <p:cNvPicPr>
            <a:picLocks noChangeAspect="1"/>
          </p:cNvPicPr>
          <p:nvPr/>
        </p:nvPicPr>
        <p:blipFill>
          <a:blip r:embed="rId4"/>
          <a:stretch>
            <a:fillRect/>
          </a:stretch>
        </p:blipFill>
        <p:spPr>
          <a:xfrm>
            <a:off x="10012680" y="3182112"/>
            <a:ext cx="1316736" cy="1316736"/>
          </a:xfrm>
          <a:prstGeom prst="rect">
            <a:avLst/>
          </a:prstGeom>
        </p:spPr>
      </p:pic>
      <p:sp>
        <p:nvSpPr>
          <p:cNvPr id="1055" name="TextBox 1054"/>
          <p:cNvSpPr txBox="1"/>
          <p:nvPr/>
        </p:nvSpPr>
        <p:spPr>
          <a:xfrm>
            <a:off x="9966959" y="4572000"/>
            <a:ext cx="1408176" cy="265176"/>
          </a:xfrm>
          <a:prstGeom prst="rect">
            <a:avLst/>
          </a:prstGeom>
          <a:noFill/>
        </p:spPr>
        <p:txBody>
          <a:bodyPr wrap="square" lIns="0" rIns="0" tIns="0" bIns="0" anchor="ctr">
            <a:spAutoFit/>
          </a:bodyPr>
          <a:lstStyle/>
          <a:p>
            <a:pPr algn="ctr"/>
            <a:r>
              <a:rPr sz="1500" b="1">
                <a:solidFill>
                  <a:srgbClr val="FFFFFF"/>
                </a:solidFill>
                <a:latin typeface="Calibri"/>
              </a:rPr>
              <a:t>GitHub</a:t>
            </a:r>
          </a:p>
        </p:txBody>
      </p:sp>
      <p:cxnSp>
        <p:nvCxnSpPr>
          <p:cNvPr id="1056" name="Connector 1055"/>
          <p:cNvCxnSpPr/>
          <p:nvPr/>
        </p:nvCxnSpPr>
        <p:spPr>
          <a:xfrm>
            <a:off x="832104" y="5660136"/>
            <a:ext cx="10488168" cy="0"/>
          </a:xfrm>
          <a:prstGeom prst="line">
            <a:avLst/>
          </a:prstGeom>
          <a:ln w="12700">
            <a:solidFill>
              <a:srgbClr val="4FAE88"/>
            </a:solidFill>
          </a:ln>
        </p:spPr>
        <p:style>
          <a:lnRef idx="2">
            <a:schemeClr val="accent1"/>
          </a:lnRef>
          <a:fillRef idx="0">
            <a:schemeClr val="accent1"/>
          </a:fillRef>
          <a:effectRef idx="1">
            <a:schemeClr val="accent1"/>
          </a:effectRef>
          <a:fontRef idx="minor">
            <a:schemeClr val="tx1"/>
          </a:fontRef>
        </p:style>
      </p:cxnSp>
      <p:sp>
        <p:nvSpPr>
          <p:cNvPr id="1057" name="TextBox 1056"/>
          <p:cNvSpPr txBox="1"/>
          <p:nvPr/>
        </p:nvSpPr>
        <p:spPr>
          <a:xfrm>
            <a:off x="841248" y="5788152"/>
            <a:ext cx="8778240" cy="292608"/>
          </a:xfrm>
          <a:prstGeom prst="rect">
            <a:avLst/>
          </a:prstGeom>
          <a:noFill/>
        </p:spPr>
        <p:txBody>
          <a:bodyPr wrap="square" lIns="0" rIns="0" tIns="0" bIns="0" anchor="ctr">
            <a:spAutoFit/>
          </a:bodyPr>
          <a:lstStyle/>
          <a:p>
            <a:r>
              <a:rPr sz="1700" b="0">
                <a:solidFill>
                  <a:srgbClr val="FFFFFF"/>
                </a:solidFill>
                <a:latin typeface="Calibri"/>
              </a:rPr>
              <a:t>nadeen.fathallah@ki.uni-stuttgart.de</a:t>
            </a:r>
          </a:p>
        </p:txBody>
      </p:sp>
      <p:sp>
        <p:nvSpPr>
          <p:cNvPr id="1058" name="TextBox 1057"/>
          <p:cNvSpPr txBox="1"/>
          <p:nvPr/>
        </p:nvSpPr>
        <p:spPr>
          <a:xfrm>
            <a:off x="9418320" y="5769864"/>
            <a:ext cx="1883664" cy="274320"/>
          </a:xfrm>
          <a:prstGeom prst="rect">
            <a:avLst/>
          </a:prstGeom>
          <a:noFill/>
        </p:spPr>
        <p:txBody>
          <a:bodyPr wrap="square" lIns="0" rIns="0" tIns="0" bIns="0" anchor="ctr">
            <a:spAutoFit/>
          </a:bodyPr>
          <a:lstStyle/>
          <a:p>
            <a:pPr algn="r"/>
            <a:r>
              <a:rPr sz="1270" b="0">
                <a:solidFill>
                  <a:srgbClr val="D3EDE0"/>
                </a:solidFill>
                <a:latin typeface="Calibri"/>
              </a:rPr>
              <a:t>ISWC 2026 · Bari</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5" name="Shape 945"/>
        <p:cNvGrpSpPr/>
        <p:nvPr/>
      </p:nvGrpSpPr>
      <p:grpSpPr>
        <a:xfrm>
          <a:off x="0" y="0"/>
          <a:ext cx="0" cy="0"/>
          <a:chOff x="0" y="0"/>
          <a:chExt cx="0" cy="0"/>
        </a:xfrm>
      </p:grpSpPr>
      <p:sp>
        <p:nvSpPr>
          <p:cNvPr id="946" name="TextBox 945"/>
          <p:cNvSpPr txBox="1"/>
          <p:nvPr/>
        </p:nvSpPr>
        <p:spPr>
          <a:xfrm>
            <a:off x="777240" y="347472"/>
            <a:ext cx="10058400" cy="292608"/>
          </a:xfrm>
          <a:prstGeom prst="rect">
            <a:avLst/>
          </a:prstGeom>
          <a:noFill/>
        </p:spPr>
        <p:txBody>
          <a:bodyPr wrap="square" lIns="0" rIns="0" tIns="0" bIns="0">
            <a:spAutoFit/>
          </a:bodyPr>
          <a:lstStyle/>
          <a:p>
            <a:pPr algn="l"/>
            <a:r>
              <a:rPr sz="1500" b="1">
                <a:solidFill>
                  <a:srgbClr val="0B6E4F"/>
                </a:solidFill>
                <a:latin typeface="Consolas"/>
              </a:rPr>
              <a:t>BACKUP  /  B1</a:t>
            </a:r>
          </a:p>
        </p:txBody>
      </p:sp>
      <p:sp>
        <p:nvSpPr>
          <p:cNvPr id="947" name="TextBox 946"/>
          <p:cNvSpPr txBox="1"/>
          <p:nvPr/>
        </p:nvSpPr>
        <p:spPr>
          <a:xfrm>
            <a:off x="777240" y="768096"/>
            <a:ext cx="10881360" cy="530352"/>
          </a:xfrm>
          <a:prstGeom prst="rect">
            <a:avLst/>
          </a:prstGeom>
          <a:noFill/>
        </p:spPr>
        <p:txBody>
          <a:bodyPr wrap="square" lIns="0" rIns="0" tIns="0" bIns="0">
            <a:spAutoFit/>
          </a:bodyPr>
          <a:lstStyle/>
          <a:p>
            <a:pPr algn="l"/>
            <a:r>
              <a:rPr sz="2600" b="1">
                <a:solidFill>
                  <a:srgbClr val="1F2328"/>
                </a:solidFill>
                <a:latin typeface="Cambria"/>
              </a:rPr>
              <a:t>Raw OOPS! pitfall counts (paper Table 7).</a:t>
            </a:r>
          </a:p>
        </p:txBody>
      </p:sp>
      <p:sp>
        <p:nvSpPr>
          <p:cNvPr id="948" name="TextBox 947"/>
          <p:cNvSpPr txBox="1"/>
          <p:nvPr/>
        </p:nvSpPr>
        <p:spPr>
          <a:xfrm>
            <a:off x="777240" y="1371600"/>
            <a:ext cx="10789920" cy="347472"/>
          </a:xfrm>
          <a:prstGeom prst="rect">
            <a:avLst/>
          </a:prstGeom>
          <a:noFill/>
        </p:spPr>
        <p:txBody>
          <a:bodyPr wrap="square" lIns="0" rIns="0" tIns="0" bIns="0">
            <a:spAutoFit/>
          </a:bodyPr>
          <a:lstStyle/>
          <a:p>
            <a:pPr algn="l"/>
            <a:r>
              <a:rPr sz="1400" b="0">
                <a:solidFill>
                  <a:srgbClr val="5B6770"/>
                </a:solidFill>
                <a:latin typeface="Calibri"/>
              </a:rPr>
              <a:t>OOPS! findings per ontology (lower is better) · Same dataset and generator model in each comparison</a:t>
            </a:r>
          </a:p>
        </p:txBody>
      </p:sp>
      <p:sp>
        <p:nvSpPr>
          <p:cNvPr id="949" name="Rectangle 948"/>
          <p:cNvSpPr/>
          <p:nvPr/>
        </p:nvSpPr>
        <p:spPr>
          <a:xfrm>
            <a:off x="822960" y="1874519"/>
            <a:ext cx="251460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TextBox 949"/>
          <p:cNvSpPr txBox="1"/>
          <p:nvPr/>
        </p:nvSpPr>
        <p:spPr>
          <a:xfrm>
            <a:off x="969264" y="1984248"/>
            <a:ext cx="2258568" cy="237744"/>
          </a:xfrm>
          <a:prstGeom prst="rect">
            <a:avLst/>
          </a:prstGeom>
          <a:noFill/>
        </p:spPr>
        <p:txBody>
          <a:bodyPr wrap="square" lIns="0" rIns="0" tIns="0" bIns="0">
            <a:spAutoFit/>
          </a:bodyPr>
          <a:lstStyle/>
          <a:p>
            <a:pPr algn="l"/>
            <a:r>
              <a:rPr sz="1500" b="1">
                <a:solidFill>
                  <a:srgbClr val="2F6B78"/>
                </a:solidFill>
                <a:latin typeface="Calibri"/>
              </a:rPr>
              <a:t>METHOD</a:t>
            </a:r>
          </a:p>
        </p:txBody>
      </p:sp>
      <p:sp>
        <p:nvSpPr>
          <p:cNvPr id="951" name="Rectangle 950"/>
          <p:cNvSpPr/>
          <p:nvPr/>
        </p:nvSpPr>
        <p:spPr>
          <a:xfrm>
            <a:off x="34747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TextBox 951"/>
          <p:cNvSpPr txBox="1"/>
          <p:nvPr/>
        </p:nvSpPr>
        <p:spPr>
          <a:xfrm>
            <a:off x="3621024" y="1984248"/>
            <a:ext cx="2350008" cy="237744"/>
          </a:xfrm>
          <a:prstGeom prst="rect">
            <a:avLst/>
          </a:prstGeom>
          <a:noFill/>
        </p:spPr>
        <p:txBody>
          <a:bodyPr wrap="square" lIns="0" rIns="0" tIns="0" bIns="0">
            <a:spAutoFit/>
          </a:bodyPr>
          <a:lstStyle/>
          <a:p>
            <a:pPr algn="l"/>
            <a:r>
              <a:rPr sz="1500" b="1">
                <a:solidFill>
                  <a:srgbClr val="2F6B78"/>
                </a:solidFill>
                <a:latin typeface="Calibri"/>
              </a:rPr>
              <a:t>LIVER CANCER</a:t>
            </a:r>
          </a:p>
        </p:txBody>
      </p:sp>
      <p:sp>
        <p:nvSpPr>
          <p:cNvPr id="953" name="TextBox 952"/>
          <p:cNvSpPr txBox="1"/>
          <p:nvPr/>
        </p:nvSpPr>
        <p:spPr>
          <a:xfrm>
            <a:off x="3621024" y="2212848"/>
            <a:ext cx="2350008" cy="182880"/>
          </a:xfrm>
          <a:prstGeom prst="rect">
            <a:avLst/>
          </a:prstGeom>
          <a:noFill/>
        </p:spPr>
        <p:txBody>
          <a:bodyPr wrap="square" lIns="0" rIns="0" tIns="0" bIns="0">
            <a:spAutoFit/>
          </a:bodyPr>
          <a:lstStyle/>
          <a:p>
            <a:pPr algn="l"/>
            <a:r>
              <a:rPr sz="1000" b="0">
                <a:solidFill>
                  <a:srgbClr val="5B6770"/>
                </a:solidFill>
                <a:latin typeface="Calibri"/>
              </a:rPr>
              <a:t>16 tables</a:t>
            </a:r>
          </a:p>
        </p:txBody>
      </p:sp>
      <p:sp>
        <p:nvSpPr>
          <p:cNvPr id="954" name="Rectangle 953"/>
          <p:cNvSpPr/>
          <p:nvPr/>
        </p:nvSpPr>
        <p:spPr>
          <a:xfrm>
            <a:off x="6217920" y="1874519"/>
            <a:ext cx="260604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TextBox 954"/>
          <p:cNvSpPr txBox="1"/>
          <p:nvPr/>
        </p:nvSpPr>
        <p:spPr>
          <a:xfrm>
            <a:off x="6364224" y="1984248"/>
            <a:ext cx="2350008" cy="237744"/>
          </a:xfrm>
          <a:prstGeom prst="rect">
            <a:avLst/>
          </a:prstGeom>
          <a:noFill/>
        </p:spPr>
        <p:txBody>
          <a:bodyPr wrap="square" lIns="0" rIns="0" tIns="0" bIns="0">
            <a:spAutoFit/>
          </a:bodyPr>
          <a:lstStyle/>
          <a:p>
            <a:pPr algn="l"/>
            <a:r>
              <a:rPr sz="1500" b="1">
                <a:solidFill>
                  <a:srgbClr val="2F6B78"/>
                </a:solidFill>
                <a:latin typeface="Calibri"/>
              </a:rPr>
              <a:t>eICU-CRD</a:t>
            </a:r>
          </a:p>
        </p:txBody>
      </p:sp>
      <p:sp>
        <p:nvSpPr>
          <p:cNvPr id="956" name="TextBox 955"/>
          <p:cNvSpPr txBox="1"/>
          <p:nvPr/>
        </p:nvSpPr>
        <p:spPr>
          <a:xfrm>
            <a:off x="6364224" y="2212848"/>
            <a:ext cx="2350008" cy="182880"/>
          </a:xfrm>
          <a:prstGeom prst="rect">
            <a:avLst/>
          </a:prstGeom>
          <a:noFill/>
        </p:spPr>
        <p:txBody>
          <a:bodyPr wrap="square" lIns="0" rIns="0" tIns="0" bIns="0">
            <a:spAutoFit/>
          </a:bodyPr>
          <a:lstStyle/>
          <a:p>
            <a:pPr algn="l"/>
            <a:r>
              <a:rPr sz="1000" b="0">
                <a:solidFill>
                  <a:srgbClr val="5B6770"/>
                </a:solidFill>
                <a:latin typeface="Calibri"/>
              </a:rPr>
              <a:t>31 tables</a:t>
            </a:r>
          </a:p>
        </p:txBody>
      </p:sp>
      <p:sp>
        <p:nvSpPr>
          <p:cNvPr id="957" name="Rectangle 956"/>
          <p:cNvSpPr/>
          <p:nvPr/>
        </p:nvSpPr>
        <p:spPr>
          <a:xfrm>
            <a:off x="8961120" y="1874519"/>
            <a:ext cx="2423160" cy="475488"/>
          </a:xfrm>
          <a:prstGeom prst="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TextBox 957"/>
          <p:cNvSpPr txBox="1"/>
          <p:nvPr/>
        </p:nvSpPr>
        <p:spPr>
          <a:xfrm>
            <a:off x="9107424" y="1984248"/>
            <a:ext cx="2167128" cy="237744"/>
          </a:xfrm>
          <a:prstGeom prst="rect">
            <a:avLst/>
          </a:prstGeom>
          <a:noFill/>
        </p:spPr>
        <p:txBody>
          <a:bodyPr wrap="square" lIns="0" rIns="0" tIns="0" bIns="0">
            <a:spAutoFit/>
          </a:bodyPr>
          <a:lstStyle/>
          <a:p>
            <a:pPr algn="l"/>
            <a:r>
              <a:rPr sz="1500" b="1">
                <a:solidFill>
                  <a:srgbClr val="2F6B78"/>
                </a:solidFill>
                <a:latin typeface="Calibri"/>
              </a:rPr>
              <a:t>CHINOOK</a:t>
            </a:r>
          </a:p>
        </p:txBody>
      </p:sp>
      <p:sp>
        <p:nvSpPr>
          <p:cNvPr id="959" name="TextBox 958"/>
          <p:cNvSpPr txBox="1"/>
          <p:nvPr/>
        </p:nvSpPr>
        <p:spPr>
          <a:xfrm>
            <a:off x="9107424" y="2212848"/>
            <a:ext cx="2167128" cy="182880"/>
          </a:xfrm>
          <a:prstGeom prst="rect">
            <a:avLst/>
          </a:prstGeom>
          <a:noFill/>
        </p:spPr>
        <p:txBody>
          <a:bodyPr wrap="square" lIns="0" rIns="0" tIns="0" bIns="0">
            <a:spAutoFit/>
          </a:bodyPr>
          <a:lstStyle/>
          <a:p>
            <a:pPr algn="l"/>
            <a:r>
              <a:rPr sz="1000" b="0">
                <a:solidFill>
                  <a:srgbClr val="5B6770"/>
                </a:solidFill>
                <a:latin typeface="Calibri"/>
              </a:rPr>
              <a:t>11 tables</a:t>
            </a:r>
          </a:p>
        </p:txBody>
      </p:sp>
      <p:sp>
        <p:nvSpPr>
          <p:cNvPr id="960" name="Rounded Rectangle 959"/>
          <p:cNvSpPr/>
          <p:nvPr/>
        </p:nvSpPr>
        <p:spPr>
          <a:xfrm>
            <a:off x="822960" y="2432304"/>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TextBox 960"/>
          <p:cNvSpPr txBox="1"/>
          <p:nvPr/>
        </p:nvSpPr>
        <p:spPr>
          <a:xfrm>
            <a:off x="996696" y="2578608"/>
            <a:ext cx="2240280" cy="292608"/>
          </a:xfrm>
          <a:prstGeom prst="rect">
            <a:avLst/>
          </a:prstGeom>
          <a:noFill/>
        </p:spPr>
        <p:txBody>
          <a:bodyPr wrap="square" lIns="0" rIns="0" tIns="0" bIns="0">
            <a:spAutoFit/>
          </a:bodyPr>
          <a:lstStyle/>
          <a:p>
            <a:pPr algn="l"/>
            <a:r>
              <a:rPr sz="1700" b="1">
                <a:solidFill>
                  <a:srgbClr val="1F2328"/>
                </a:solidFill>
                <a:latin typeface="Calibri"/>
              </a:rPr>
              <a:t>Direct Mapping</a:t>
            </a:r>
          </a:p>
        </p:txBody>
      </p:sp>
      <p:sp>
        <p:nvSpPr>
          <p:cNvPr id="962" name="Rounded Rectangle 961"/>
          <p:cNvSpPr/>
          <p:nvPr/>
        </p:nvSpPr>
        <p:spPr>
          <a:xfrm>
            <a:off x="34747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TextBox 962"/>
          <p:cNvSpPr txBox="1"/>
          <p:nvPr/>
        </p:nvSpPr>
        <p:spPr>
          <a:xfrm>
            <a:off x="3611879" y="2569464"/>
            <a:ext cx="2368296" cy="329184"/>
          </a:xfrm>
          <a:prstGeom prst="rect">
            <a:avLst/>
          </a:prstGeom>
          <a:noFill/>
        </p:spPr>
        <p:txBody>
          <a:bodyPr wrap="square" lIns="0" rIns="0" tIns="0" bIns="0">
            <a:spAutoFit/>
          </a:bodyPr>
          <a:lstStyle/>
          <a:p>
            <a:pPr algn="ctr"/>
            <a:r>
              <a:rPr sz="1900" b="0">
                <a:solidFill>
                  <a:srgbClr val="1F2328"/>
                </a:solidFill>
                <a:latin typeface="Calibri"/>
              </a:rPr>
              <a:t>731</a:t>
            </a:r>
          </a:p>
        </p:txBody>
      </p:sp>
      <p:sp>
        <p:nvSpPr>
          <p:cNvPr id="964" name="Rounded Rectangle 963"/>
          <p:cNvSpPr/>
          <p:nvPr/>
        </p:nvSpPr>
        <p:spPr>
          <a:xfrm>
            <a:off x="6217920" y="2432304"/>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TextBox 964"/>
          <p:cNvSpPr txBox="1"/>
          <p:nvPr/>
        </p:nvSpPr>
        <p:spPr>
          <a:xfrm>
            <a:off x="6355080" y="2569464"/>
            <a:ext cx="2368296" cy="329184"/>
          </a:xfrm>
          <a:prstGeom prst="rect">
            <a:avLst/>
          </a:prstGeom>
          <a:noFill/>
        </p:spPr>
        <p:txBody>
          <a:bodyPr wrap="square" lIns="0" rIns="0" tIns="0" bIns="0">
            <a:spAutoFit/>
          </a:bodyPr>
          <a:lstStyle/>
          <a:p>
            <a:pPr algn="ctr"/>
            <a:r>
              <a:rPr sz="1900" b="0">
                <a:solidFill>
                  <a:srgbClr val="1F2328"/>
                </a:solidFill>
                <a:latin typeface="Calibri"/>
              </a:rPr>
              <a:t>665</a:t>
            </a:r>
          </a:p>
        </p:txBody>
      </p:sp>
      <p:sp>
        <p:nvSpPr>
          <p:cNvPr id="966" name="Rounded Rectangle 965"/>
          <p:cNvSpPr/>
          <p:nvPr/>
        </p:nvSpPr>
        <p:spPr>
          <a:xfrm>
            <a:off x="8961120" y="2432304"/>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TextBox 966"/>
          <p:cNvSpPr txBox="1"/>
          <p:nvPr/>
        </p:nvSpPr>
        <p:spPr>
          <a:xfrm>
            <a:off x="9098280" y="2569464"/>
            <a:ext cx="2185415" cy="329184"/>
          </a:xfrm>
          <a:prstGeom prst="rect">
            <a:avLst/>
          </a:prstGeom>
          <a:noFill/>
        </p:spPr>
        <p:txBody>
          <a:bodyPr wrap="square" lIns="0" rIns="0" tIns="0" bIns="0">
            <a:spAutoFit/>
          </a:bodyPr>
          <a:lstStyle/>
          <a:p>
            <a:pPr algn="ctr"/>
            <a:r>
              <a:rPr sz="1900" b="0">
                <a:solidFill>
                  <a:srgbClr val="1F2328"/>
                </a:solidFill>
                <a:latin typeface="Calibri"/>
              </a:rPr>
              <a:t>102</a:t>
            </a:r>
          </a:p>
        </p:txBody>
      </p:sp>
      <p:sp>
        <p:nvSpPr>
          <p:cNvPr id="968" name="Rounded Rectangle 967"/>
          <p:cNvSpPr/>
          <p:nvPr/>
        </p:nvSpPr>
        <p:spPr>
          <a:xfrm>
            <a:off x="822960" y="3090672"/>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TextBox 968"/>
          <p:cNvSpPr txBox="1"/>
          <p:nvPr/>
        </p:nvSpPr>
        <p:spPr>
          <a:xfrm>
            <a:off x="996696" y="3236976"/>
            <a:ext cx="2240280" cy="292608"/>
          </a:xfrm>
          <a:prstGeom prst="rect">
            <a:avLst/>
          </a:prstGeom>
          <a:noFill/>
        </p:spPr>
        <p:txBody>
          <a:bodyPr wrap="square" lIns="0" rIns="0" tIns="0" bIns="0">
            <a:spAutoFit/>
          </a:bodyPr>
          <a:lstStyle/>
          <a:p>
            <a:pPr algn="l"/>
            <a:r>
              <a:rPr sz="1700" b="1">
                <a:solidFill>
                  <a:srgbClr val="1F2328"/>
                </a:solidFill>
                <a:latin typeface="Calibri"/>
              </a:rPr>
              <a:t>LLM baseline</a:t>
            </a:r>
          </a:p>
        </p:txBody>
      </p:sp>
      <p:sp>
        <p:nvSpPr>
          <p:cNvPr id="970" name="Rounded Rectangle 969"/>
          <p:cNvSpPr/>
          <p:nvPr/>
        </p:nvSpPr>
        <p:spPr>
          <a:xfrm>
            <a:off x="34747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TextBox 970"/>
          <p:cNvSpPr txBox="1"/>
          <p:nvPr/>
        </p:nvSpPr>
        <p:spPr>
          <a:xfrm>
            <a:off x="3611879" y="3227832"/>
            <a:ext cx="2368296" cy="329184"/>
          </a:xfrm>
          <a:prstGeom prst="rect">
            <a:avLst/>
          </a:prstGeom>
          <a:noFill/>
        </p:spPr>
        <p:txBody>
          <a:bodyPr wrap="square" lIns="0" rIns="0" tIns="0" bIns="0">
            <a:spAutoFit/>
          </a:bodyPr>
          <a:lstStyle/>
          <a:p>
            <a:pPr algn="ctr"/>
            <a:r>
              <a:rPr sz="1900" b="0">
                <a:solidFill>
                  <a:srgbClr val="1F2328"/>
                </a:solidFill>
                <a:latin typeface="Calibri"/>
              </a:rPr>
              <a:t>422 / 397 / 403</a:t>
            </a:r>
          </a:p>
        </p:txBody>
      </p:sp>
      <p:sp>
        <p:nvSpPr>
          <p:cNvPr id="972" name="Rounded Rectangle 971"/>
          <p:cNvSpPr/>
          <p:nvPr/>
        </p:nvSpPr>
        <p:spPr>
          <a:xfrm>
            <a:off x="6217920" y="3090672"/>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TextBox 972"/>
          <p:cNvSpPr txBox="1"/>
          <p:nvPr/>
        </p:nvSpPr>
        <p:spPr>
          <a:xfrm>
            <a:off x="6355080" y="3227832"/>
            <a:ext cx="2368296" cy="329184"/>
          </a:xfrm>
          <a:prstGeom prst="rect">
            <a:avLst/>
          </a:prstGeom>
          <a:noFill/>
        </p:spPr>
        <p:txBody>
          <a:bodyPr wrap="square" lIns="0" rIns="0" tIns="0" bIns="0">
            <a:spAutoFit/>
          </a:bodyPr>
          <a:lstStyle/>
          <a:p>
            <a:pPr algn="ctr"/>
            <a:r>
              <a:rPr sz="1900" b="0">
                <a:solidFill>
                  <a:srgbClr val="1F2328"/>
                </a:solidFill>
                <a:latin typeface="Calibri"/>
              </a:rPr>
              <a:t>434 / 440 / 421</a:t>
            </a:r>
          </a:p>
        </p:txBody>
      </p:sp>
      <p:sp>
        <p:nvSpPr>
          <p:cNvPr id="974" name="Rounded Rectangle 973"/>
          <p:cNvSpPr/>
          <p:nvPr/>
        </p:nvSpPr>
        <p:spPr>
          <a:xfrm>
            <a:off x="8961120" y="3090672"/>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TextBox 974"/>
          <p:cNvSpPr txBox="1"/>
          <p:nvPr/>
        </p:nvSpPr>
        <p:spPr>
          <a:xfrm>
            <a:off x="9098280" y="3227832"/>
            <a:ext cx="2185415" cy="329184"/>
          </a:xfrm>
          <a:prstGeom prst="rect">
            <a:avLst/>
          </a:prstGeom>
          <a:noFill/>
        </p:spPr>
        <p:txBody>
          <a:bodyPr wrap="square" lIns="0" rIns="0" tIns="0" bIns="0">
            <a:spAutoFit/>
          </a:bodyPr>
          <a:lstStyle/>
          <a:p>
            <a:pPr algn="ctr"/>
            <a:r>
              <a:rPr sz="1900" b="0">
                <a:solidFill>
                  <a:srgbClr val="1F2328"/>
                </a:solidFill>
                <a:latin typeface="Calibri"/>
              </a:rPr>
              <a:t>95 / 74 / 81</a:t>
            </a:r>
          </a:p>
        </p:txBody>
      </p:sp>
      <p:sp>
        <p:nvSpPr>
          <p:cNvPr id="976" name="Rounded Rectangle 975"/>
          <p:cNvSpPr/>
          <p:nvPr/>
        </p:nvSpPr>
        <p:spPr>
          <a:xfrm>
            <a:off x="822960" y="3749039"/>
            <a:ext cx="251460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TextBox 976"/>
          <p:cNvSpPr txBox="1"/>
          <p:nvPr/>
        </p:nvSpPr>
        <p:spPr>
          <a:xfrm>
            <a:off x="996696" y="3895344"/>
            <a:ext cx="2240280" cy="292608"/>
          </a:xfrm>
          <a:prstGeom prst="rect">
            <a:avLst/>
          </a:prstGeom>
          <a:noFill/>
        </p:spPr>
        <p:txBody>
          <a:bodyPr wrap="square" lIns="0" rIns="0" tIns="0" bIns="0">
            <a:spAutoFit/>
          </a:bodyPr>
          <a:lstStyle/>
          <a:p>
            <a:pPr algn="l"/>
            <a:r>
              <a:rPr sz="1700" b="1">
                <a:solidFill>
                  <a:srgbClr val="1F2328"/>
                </a:solidFill>
                <a:latin typeface="Calibri"/>
              </a:rPr>
              <a:t>Non-Iterative</a:t>
            </a:r>
          </a:p>
        </p:txBody>
      </p:sp>
      <p:sp>
        <p:nvSpPr>
          <p:cNvPr id="978" name="Rounded Rectangle 977"/>
          <p:cNvSpPr/>
          <p:nvPr/>
        </p:nvSpPr>
        <p:spPr>
          <a:xfrm>
            <a:off x="34747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TextBox 978"/>
          <p:cNvSpPr txBox="1"/>
          <p:nvPr/>
        </p:nvSpPr>
        <p:spPr>
          <a:xfrm>
            <a:off x="3611879" y="3886200"/>
            <a:ext cx="2368296" cy="329184"/>
          </a:xfrm>
          <a:prstGeom prst="rect">
            <a:avLst/>
          </a:prstGeom>
          <a:noFill/>
        </p:spPr>
        <p:txBody>
          <a:bodyPr wrap="square" lIns="0" rIns="0" tIns="0" bIns="0">
            <a:spAutoFit/>
          </a:bodyPr>
          <a:lstStyle/>
          <a:p>
            <a:pPr algn="ctr"/>
            <a:r>
              <a:rPr sz="1800" b="0">
                <a:solidFill>
                  <a:srgbClr val="1F2328"/>
                </a:solidFill>
                <a:latin typeface="Calibri"/>
              </a:rPr>
              <a:t>29 / 61 / 18</a:t>
            </a:r>
          </a:p>
        </p:txBody>
      </p:sp>
      <p:sp>
        <p:nvSpPr>
          <p:cNvPr id="980" name="Rounded Rectangle 979"/>
          <p:cNvSpPr/>
          <p:nvPr/>
        </p:nvSpPr>
        <p:spPr>
          <a:xfrm>
            <a:off x="6217920" y="3749039"/>
            <a:ext cx="260604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TextBox 980"/>
          <p:cNvSpPr txBox="1"/>
          <p:nvPr/>
        </p:nvSpPr>
        <p:spPr>
          <a:xfrm>
            <a:off x="6355080" y="3886200"/>
            <a:ext cx="2368296" cy="329184"/>
          </a:xfrm>
          <a:prstGeom prst="rect">
            <a:avLst/>
          </a:prstGeom>
          <a:noFill/>
        </p:spPr>
        <p:txBody>
          <a:bodyPr wrap="square" lIns="0" rIns="0" tIns="0" bIns="0">
            <a:spAutoFit/>
          </a:bodyPr>
          <a:lstStyle/>
          <a:p>
            <a:pPr algn="ctr"/>
            <a:r>
              <a:rPr sz="1800" b="0">
                <a:solidFill>
                  <a:srgbClr val="1F2328"/>
                </a:solidFill>
                <a:latin typeface="Calibri"/>
              </a:rPr>
              <a:t>39 / 220 / 27</a:t>
            </a:r>
          </a:p>
        </p:txBody>
      </p:sp>
      <p:sp>
        <p:nvSpPr>
          <p:cNvPr id="982" name="Rounded Rectangle 981"/>
          <p:cNvSpPr/>
          <p:nvPr/>
        </p:nvSpPr>
        <p:spPr>
          <a:xfrm>
            <a:off x="8961120" y="3749039"/>
            <a:ext cx="2423160" cy="603504"/>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TextBox 982"/>
          <p:cNvSpPr txBox="1"/>
          <p:nvPr/>
        </p:nvSpPr>
        <p:spPr>
          <a:xfrm>
            <a:off x="9098280" y="3886200"/>
            <a:ext cx="2185415" cy="329184"/>
          </a:xfrm>
          <a:prstGeom prst="rect">
            <a:avLst/>
          </a:prstGeom>
          <a:noFill/>
        </p:spPr>
        <p:txBody>
          <a:bodyPr wrap="square" lIns="0" rIns="0" tIns="0" bIns="0">
            <a:spAutoFit/>
          </a:bodyPr>
          <a:lstStyle/>
          <a:p>
            <a:pPr algn="ctr"/>
            <a:r>
              <a:rPr sz="1800" b="0">
                <a:solidFill>
                  <a:srgbClr val="1F2328"/>
                </a:solidFill>
                <a:latin typeface="Calibri"/>
              </a:rPr>
              <a:t>24 / 35 / 14</a:t>
            </a:r>
          </a:p>
        </p:txBody>
      </p:sp>
      <p:sp>
        <p:nvSpPr>
          <p:cNvPr id="984" name="Rounded Rectangle 983"/>
          <p:cNvSpPr/>
          <p:nvPr/>
        </p:nvSpPr>
        <p:spPr>
          <a:xfrm>
            <a:off x="822960" y="4407408"/>
            <a:ext cx="251460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TextBox 984"/>
          <p:cNvSpPr txBox="1"/>
          <p:nvPr/>
        </p:nvSpPr>
        <p:spPr>
          <a:xfrm>
            <a:off x="996696" y="4553712"/>
            <a:ext cx="2240280" cy="292608"/>
          </a:xfrm>
          <a:prstGeom prst="rect">
            <a:avLst/>
          </a:prstGeom>
          <a:noFill/>
        </p:spPr>
        <p:txBody>
          <a:bodyPr wrap="square" lIns="0" rIns="0" tIns="0" bIns="0">
            <a:spAutoFit/>
          </a:bodyPr>
          <a:lstStyle/>
          <a:p>
            <a:pPr algn="l"/>
            <a:r>
              <a:rPr sz="1700" b="1">
                <a:solidFill>
                  <a:srgbClr val="0B6E4F"/>
                </a:solidFill>
                <a:latin typeface="Calibri"/>
              </a:rPr>
              <a:t>RIGOR</a:t>
            </a:r>
          </a:p>
        </p:txBody>
      </p:sp>
      <p:sp>
        <p:nvSpPr>
          <p:cNvPr id="986" name="Rounded Rectangle 985"/>
          <p:cNvSpPr/>
          <p:nvPr/>
        </p:nvSpPr>
        <p:spPr>
          <a:xfrm>
            <a:off x="34747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TextBox 986"/>
          <p:cNvSpPr txBox="1"/>
          <p:nvPr/>
        </p:nvSpPr>
        <p:spPr>
          <a:xfrm>
            <a:off x="3611879" y="4544568"/>
            <a:ext cx="2368296" cy="329184"/>
          </a:xfrm>
          <a:prstGeom prst="rect">
            <a:avLst/>
          </a:prstGeom>
          <a:noFill/>
        </p:spPr>
        <p:txBody>
          <a:bodyPr wrap="square" lIns="0" rIns="0" tIns="0" bIns="0">
            <a:spAutoFit/>
          </a:bodyPr>
          <a:lstStyle/>
          <a:p>
            <a:pPr algn="ctr"/>
            <a:r>
              <a:rPr sz="1800" b="1">
                <a:solidFill>
                  <a:srgbClr val="0B6E4F"/>
                </a:solidFill>
                <a:latin typeface="Calibri"/>
              </a:rPr>
              <a:t>20 / 23 / 3</a:t>
            </a:r>
          </a:p>
        </p:txBody>
      </p:sp>
      <p:sp>
        <p:nvSpPr>
          <p:cNvPr id="988" name="Rounded Rectangle 987"/>
          <p:cNvSpPr/>
          <p:nvPr/>
        </p:nvSpPr>
        <p:spPr>
          <a:xfrm>
            <a:off x="6217920" y="4407408"/>
            <a:ext cx="260604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TextBox 988"/>
          <p:cNvSpPr txBox="1"/>
          <p:nvPr/>
        </p:nvSpPr>
        <p:spPr>
          <a:xfrm>
            <a:off x="6355080" y="4544568"/>
            <a:ext cx="2368296" cy="329184"/>
          </a:xfrm>
          <a:prstGeom prst="rect">
            <a:avLst/>
          </a:prstGeom>
          <a:noFill/>
        </p:spPr>
        <p:txBody>
          <a:bodyPr wrap="square" lIns="0" rIns="0" tIns="0" bIns="0">
            <a:spAutoFit/>
          </a:bodyPr>
          <a:lstStyle/>
          <a:p>
            <a:pPr algn="ctr"/>
            <a:r>
              <a:rPr sz="1800" b="1">
                <a:solidFill>
                  <a:srgbClr val="0B6E4F"/>
                </a:solidFill>
                <a:latin typeface="Calibri"/>
              </a:rPr>
              <a:t>2 / 2 / 26</a:t>
            </a:r>
          </a:p>
        </p:txBody>
      </p:sp>
      <p:sp>
        <p:nvSpPr>
          <p:cNvPr id="990" name="Rounded Rectangle 989"/>
          <p:cNvSpPr/>
          <p:nvPr/>
        </p:nvSpPr>
        <p:spPr>
          <a:xfrm>
            <a:off x="8961120" y="4407408"/>
            <a:ext cx="2423160" cy="603504"/>
          </a:xfrm>
          <a:prstGeom prst="roundRect">
            <a:avLst/>
          </a:prstGeom>
          <a:solidFill>
            <a:srgbClr val="E9EEEB"/>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TextBox 990"/>
          <p:cNvSpPr txBox="1"/>
          <p:nvPr/>
        </p:nvSpPr>
        <p:spPr>
          <a:xfrm>
            <a:off x="9098280" y="4544568"/>
            <a:ext cx="2185415" cy="329184"/>
          </a:xfrm>
          <a:prstGeom prst="rect">
            <a:avLst/>
          </a:prstGeom>
          <a:noFill/>
        </p:spPr>
        <p:txBody>
          <a:bodyPr wrap="square" lIns="0" rIns="0" tIns="0" bIns="0">
            <a:spAutoFit/>
          </a:bodyPr>
          <a:lstStyle/>
          <a:p>
            <a:pPr algn="ctr"/>
            <a:r>
              <a:rPr sz="1800" b="1">
                <a:solidFill>
                  <a:srgbClr val="0B6E4F"/>
                </a:solidFill>
                <a:latin typeface="Calibri"/>
              </a:rPr>
              <a:t>0 / 0 / 0</a:t>
            </a:r>
          </a:p>
        </p:txBody>
      </p:sp>
      <p:sp>
        <p:nvSpPr>
          <p:cNvPr id="992" name="Rounded Rectangle 991"/>
          <p:cNvSpPr/>
          <p:nvPr/>
        </p:nvSpPr>
        <p:spPr>
          <a:xfrm>
            <a:off x="822960" y="5221224"/>
            <a:ext cx="10561320" cy="530352"/>
          </a:xfrm>
          <a:prstGeom prst="roundRect">
            <a:avLst/>
          </a:prstGeom>
          <a:solidFill>
            <a:srgbClr val="FFFFFF"/>
          </a:solidFill>
          <a:ln>
            <a:solidFill>
              <a:srgbClr val="D9D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TextBox 992"/>
          <p:cNvSpPr txBox="1"/>
          <p:nvPr/>
        </p:nvSpPr>
        <p:spPr>
          <a:xfrm>
            <a:off x="1024128" y="5340096"/>
            <a:ext cx="10149840" cy="329184"/>
          </a:xfrm>
          <a:prstGeom prst="rect">
            <a:avLst/>
          </a:prstGeom>
          <a:noFill/>
        </p:spPr>
        <p:txBody>
          <a:bodyPr wrap="square" lIns="0" rIns="0" tIns="0" bIns="0">
            <a:spAutoFit/>
          </a:bodyPr>
          <a:lstStyle/>
          <a:p>
            <a:pPr algn="l"/>
            <a:r>
              <a:rPr sz="1700" b="1">
                <a:solidFill>
                  <a:srgbClr val="1F2328"/>
                </a:solidFill>
                <a:latin typeface="Calibri"/>
              </a:rPr>
              <a:t>RIGOR improves on Non-Iterative in 9/9 matched runs; Chinook has zero findings in all 3.</a:t>
            </a:r>
          </a:p>
        </p:txBody>
      </p:sp>
      <p:sp>
        <p:nvSpPr>
          <p:cNvPr id="994" name="TextBox 993"/>
          <p:cNvSpPr txBox="1"/>
          <p:nvPr/>
        </p:nvSpPr>
        <p:spPr>
          <a:xfrm>
            <a:off x="850392" y="5925312"/>
            <a:ext cx="10789920" cy="246888"/>
          </a:xfrm>
          <a:prstGeom prst="rect">
            <a:avLst/>
          </a:prstGeom>
          <a:noFill/>
        </p:spPr>
        <p:txBody>
          <a:bodyPr wrap="square" lIns="0" rIns="0" tIns="0" bIns="0">
            <a:spAutoFit/>
          </a:bodyPr>
          <a:lstStyle/>
          <a:p>
            <a:pPr algn="l"/>
            <a:r>
              <a:rPr sz="1200" b="0">
                <a:solidFill>
                  <a:srgbClr val="5B6770"/>
                </a:solidFill>
                <a:latin typeface="Calibri"/>
              </a:rPr>
              <a:t>Numbers in each LLM cell: Claude / Mistral / DeepSeek. Direct Mapping uses no LLM.</a:t>
            </a:r>
          </a:p>
        </p:txBody>
      </p:sp>
      <p:sp>
        <p:nvSpPr>
          <p:cNvPr id="995" name="TextBox 994"/>
          <p:cNvSpPr txBox="1"/>
          <p:nvPr/>
        </p:nvSpPr>
        <p:spPr>
          <a:xfrm>
            <a:off x="850392" y="6208776"/>
            <a:ext cx="10789920" cy="274320"/>
          </a:xfrm>
          <a:prstGeom prst="rect">
            <a:avLst/>
          </a:prstGeom>
          <a:noFill/>
        </p:spPr>
        <p:txBody>
          <a:bodyPr wrap="square" lIns="0" rIns="0" tIns="0" bIns="0">
            <a:spAutoFit/>
          </a:bodyPr>
          <a:lstStyle/>
          <a:p>
            <a:pPr algn="l"/>
            <a:r>
              <a:rPr sz="1200" b="0">
                <a:solidFill>
                  <a:srgbClr val="5B6770"/>
                </a:solidFill>
                <a:latin typeface="Calibri"/>
              </a:rPr>
              <a:t>Interpret carefully: many findings concern missing annotations; critical P19 remains in 3/9 RIGOR runs. Source: Table 7.</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