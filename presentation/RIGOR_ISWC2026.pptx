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5" r:id="rId24"/>
    <p:sldId id="276" r:id="rId25"/>
    <p:sldId id="274" r:id="rId23"/>
    <p:sldId id="277" r:id="rId26"/>
    <p:sldId id="278" r:id="rId27"/>
    <p:sldId id="279" r:id="rId37"/>
    <p:sldId id="280" r:id="rId38"/>
    <p:sldId id="281" r:id="rId39"/>
    <p:sldId id="282" r:id="rId40"/>
    <p:sldId id="283" r:id="rId41"/>
    <p:sldId id="284" r:id="rId42"/>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6" roundtripDataSignature="AMtx7miSAKVMm4+QvifYUYUK20LMzWgfy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36" Type="http://customschemas.google.com/relationships/presentationmetadata" Target="metadata"/>  <Relationship Id="rId37" Type="http://schemas.openxmlformats.org/officeDocument/2006/relationships/slide" Target="slides/slide24.xml"/>
  <Relationship Id="rId38" Type="http://schemas.openxmlformats.org/officeDocument/2006/relationships/slide" Target="slides/slide25.xml"/>
  <Relationship Id="rId39" Type="http://schemas.openxmlformats.org/officeDocument/2006/relationships/slide" Target="slides/slide26.xml"/>
  <Relationship Id="rId40" Type="http://schemas.openxmlformats.org/officeDocument/2006/relationships/slide" Target="slides/slide27.xml"/>
  <Relationship Id="rId41" Type="http://schemas.openxmlformats.org/officeDocument/2006/relationships/slide" Target="slides/slide28.xml"/>
  <Relationship Id="rId42" Type="http://schemas.openxmlformats.org/officeDocument/2006/relationships/slide" Target="slides/slide29.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1pPr>
            <a:lvl2pPr lvl="1"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2pPr>
            <a:lvl3pPr lvl="2"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3pPr>
            <a:lvl4pPr lvl="3"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4pPr>
            <a:lvl5pPr lvl="4"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5pPr>
            <a:lvl6pPr lvl="5"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6pPr>
            <a:lvl7pPr lvl="6"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7pPr>
            <a:lvl8pPr lvl="7"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8pPr>
            <a:lvl9pPr lvl="8"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1pPr>
            <a:lvl2pPr lvl="1"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2pPr>
            <a:lvl3pPr lvl="2"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3pPr>
            <a:lvl4pPr lvl="3"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4pPr>
            <a:lvl5pPr lvl="4"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5pPr>
            <a:lvl6pPr lvl="5"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6pPr>
            <a:lvl7pPr lvl="6"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7pPr>
            <a:lvl8pPr lvl="7"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8pPr>
            <a:lvl9pPr lvl="8"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1pPr>
            <a:lvl2pPr indent="-228600" lvl="1" marL="9144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2pPr>
            <a:lvl3pPr indent="-228600" lvl="2" marL="13716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3pPr>
            <a:lvl4pPr indent="-228600" lvl="3" marL="18288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4pPr>
            <a:lvl5pPr indent="-228600" lvl="4" marL="22860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5pPr>
            <a:lvl6pPr indent="-228600" lvl="5" marL="27432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6pPr>
            <a:lvl7pPr indent="-228600" lvl="6" marL="32004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7pPr>
            <a:lvl8pPr indent="-228600" lvl="7" marL="36576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8pPr>
            <a:lvl9pPr indent="-228600" lvl="8" marL="41148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1pPr>
            <a:lvl2pPr lvl="1"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2pPr>
            <a:lvl3pPr lvl="2"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3pPr>
            <a:lvl4pPr lvl="3"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4pPr>
            <a:lvl5pPr lvl="4"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5pPr>
            <a:lvl6pPr lvl="5"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6pPr>
            <a:lvl7pPr lvl="6"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7pPr>
            <a:lvl8pPr lvl="7"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8pPr>
            <a:lvl9pPr lvl="8"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IBM Plex Sans"/>
                <a:ea typeface="IBM Plex Sans"/>
                <a:cs typeface="IBM Plex Sans"/>
                <a:sym typeface="IBM Plex Sans"/>
              </a:rPr>
              <a:t>‹#›</a:t>
            </a:fld>
            <a:endParaRPr b="0" i="0" sz="1200" u="none" cap="none" strike="noStrike">
              <a:solidFill>
                <a:schemeClr val="dk1"/>
              </a:solidFill>
              <a:latin typeface="IBM Plex Sans"/>
              <a:ea typeface="IBM Plex Sans"/>
              <a:cs typeface="IBM Plex Sans"/>
              <a:sym typeface="IBM Plex Sans"/>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 name="Shape 16"/>
        <p:cNvGrpSpPr/>
        <p:nvPr/>
      </p:nvGrpSpPr>
      <p:grpSpPr>
        <a:xfrm>
          <a:off x="0" y="0"/>
          <a:ext cx="0" cy="0"/>
          <a:chOff x="0" y="0"/>
          <a:chExt cx="0" cy="0"/>
        </a:xfrm>
      </p:grpSpPr>
      <p:sp>
        <p:nvSpPr>
          <p:cNvPr id="17" name="Google Shape;1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 name="Google Shape;1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rPr lang="en-US" sz="1200">
                <a:solidFill>
                  <a:schemeClr val="dk1"/>
                </a:solidFill>
                <a:latin typeface="Calibri"/>
                <a:ea typeface="Calibri"/>
                <a:cs typeface="Calibri"/>
                <a:sym typeface="Calibri"/>
              </a:rPr>
              <a:t>[0:00–0:25]  SPOKEN SCRIPT (43 words)</a:t>
            </a:r>
          </a:p>
          <a:p>
            <a:r>
              <a:rPr lang="en-US" sz="1200">
                <a:solidFill>
                  <a:schemeClr val="dk1"/>
                </a:solidFill>
                <a:latin typeface="Calibri"/>
                <a:ea typeface="Calibri"/>
                <a:cs typeface="Calibri"/>
                <a:sym typeface="Calibri"/>
              </a:rPr>
              <a:t>Good morning. I'm Nadeen Fathallah, from the University of Stuttgart. Relational databases run hospitals, banks and governments. But their schemas tell us how data is stored, not what it means. This talk is about RIGOR: turning those schemas into rich OWL ontologies, automatically.</a:t>
            </a:r>
          </a:p>
          <a:p/>
          <a:p>
            <a:r>
              <a:rPr lang="en-US" sz="1200">
                <a:solidFill>
                  <a:schemeClr val="dk1"/>
                </a:solidFill>
                <a:latin typeface="Calibri"/>
                <a:ea typeface="Calibri"/>
                <a:cs typeface="Calibri"/>
                <a:sym typeface="Calibri"/>
              </a:rPr>
              <a:t>PRESENTER / POINTER: Calm, slow start. Do not read the author list.</a:t>
            </a:r>
          </a:p>
          <a:p>
            <a:r>
              <a:rPr lang="en-US" sz="1200">
                <a:solidFill>
                  <a:schemeClr val="dk1"/>
                </a:solidFill>
                <a:latin typeface="Calibri"/>
                <a:ea typeface="Calibri"/>
                <a:cs typeface="Calibri"/>
                <a:sym typeface="Calibri"/>
              </a:rPr>
              <a:t>AUDIENCE TAKEAWAY: Schemas store data, not meaning.</a:t>
            </a:r>
          </a:p>
          <a:p>
            <a:r>
              <a:rPr lang="en-US" sz="1200">
                <a:solidFill>
                  <a:schemeClr val="dk1"/>
                </a:solidFill>
                <a:latin typeface="Calibri"/>
                <a:ea typeface="Calibri"/>
                <a:cs typeface="Calibri"/>
                <a:sym typeface="Calibri"/>
              </a:rPr>
              <a:t>SOURCE AND SCOPE: Paper Section 1.</a:t>
            </a:r>
          </a:p>
        </p:txBody>
      </p:sp>
      <p:sp>
        <p:nvSpPr>
          <p:cNvPr id="19" name="Google Shape;19;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 name="Shape 29"/>
        <p:cNvGrpSpPr/>
        <p:nvPr/>
      </p:nvGrpSpPr>
      <p:grpSpPr>
        <a:xfrm>
          <a:off x="0" y="0"/>
          <a:ext cx="0" cy="0"/>
          <a:chOff x="0" y="0"/>
          <a:chExt cx="0" cy="0"/>
        </a:xfrm>
      </p:grpSpPr>
      <p:sp>
        <p:nvSpPr>
          <p:cNvPr id="30" name="Google Shape;3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txBody>
          <a:bodyPr/>
          <a:p/>
        </p:txBody>
      </p:sp>
      <p:sp>
        <p:nvSpPr>
          <p:cNvPr id="31" name="Google Shape;3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[0:25–1:07]  SPOKEN SCRIPT (74 words)</a:t>
            </a:r>
          </a:p>
          <a:p>
            <a:r>
              <a:t>Imagine you inherit this clinical database. Admission points to PatientData through a foreign key. That link is clear. But look at the columns. What is BM_DEP? What does an ECOG stage of three mean? The schema cannot tell you. Yet these meanings are exactly what ontology-based access, knowledge graphs and data integration need. So our problem is not reading the SQL. It is recovering the domain meaning, while keeping the structure we can trust.</a:t>
            </a:r>
          </a:p>
          <a:p/>
          <a:p>
            <a:r>
              <a:t>PRESENTER / POINTER: Point at the FK arrow, then BM_DEP, then ecog_stage. Let the questions hang for a second.</a:t>
            </a:r>
          </a:p>
          <a:p>
            <a:r>
              <a:t>AUDIENCE TAKEAWAY: The schema knows storage and links, not clinical meaning.</a:t>
            </a:r>
          </a:p>
          <a:p>
            <a:r>
              <a:t>SOURCE AND SCOPE: Illustrative table assembled from examples in paper Sections 3.2 and 3.4.</a:t>
            </a:r>
          </a:p>
        </p:txBody>
      </p:sp>
      <p:sp>
        <p:nvSpPr>
          <p:cNvPr id="32" name="Google Shape;32;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 name="Google Shape;7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rPr lang="en-US" sz="1200">
                <a:solidFill>
                  <a:schemeClr val="dk1"/>
                </a:solidFill>
                <a:latin typeface="Calibri"/>
                <a:ea typeface="Calibri"/>
                <a:cs typeface="Calibri"/>
                <a:sym typeface="Calibri"/>
              </a:rPr>
              <a:t>[1:07–1:59]  SPOKEN SCRIPT (91 words)</a:t>
            </a:r>
          </a:p>
          <a:p>
            <a:r>
              <a:rPr lang="en-US" sz="1200">
                <a:solidFill>
                  <a:schemeClr val="dk1"/>
                </a:solidFill>
                <a:latin typeface="Calibri"/>
                <a:ea typeface="Calibri"/>
                <a:cs typeface="Calibri"/>
                <a:sym typeface="Calibri"/>
              </a:rPr>
              <a:t>Here is what we want. [click] First, what the schema alone gives us: Admission becomes a class with a real relation to PatientData, and every property points back to its source column. [click] The documentation adds human-readable labels: Bone Marrow Depression, ECOG Performance Status. [click] A standard vocabulary adds a link to the Disease Ontology. [click] And the LLM's own knowledge adds what the ECOG codes mean, and that an admission is not a patient. [click] That is a usable semantic model. The challenge is to add all this without losing a single column or link.</a:t>
            </a:r>
          </a:p>
          <a:p/>
          <a:p>
            <a:r>
              <a:rPr lang="en-US" sz="1200">
                <a:solidFill>
                  <a:schemeClr val="dk1"/>
                </a:solidFill>
                <a:latin typeface="Calibri"/>
                <a:ea typeface="Calibri"/>
                <a:cs typeface="Calibri"/>
                <a:sym typeface="Calibri"/>
              </a:rPr>
              <a:t>PRESENTER / POINTER: Five clicks, one per knowledge source: schema, documentation, Disease Ontology, LLM knowledge, then 'What this enables'. The gloss colours match the sources.</a:t>
            </a:r>
          </a:p>
          <a:p>
            <a:r>
              <a:rPr lang="en-US" sz="1200">
                <a:solidFill>
                  <a:schemeClr val="dk1"/>
                </a:solidFill>
                <a:latin typeface="Calibri"/>
                <a:ea typeface="Calibri"/>
                <a:cs typeface="Calibri"/>
                <a:sym typeface="Calibri"/>
              </a:rPr>
              <a:t>AUDIENCE TAKEAWAY: A usable model combines schema, documentation, standard vocabularies and LLM knowledge.</a:t>
            </a:r>
          </a:p>
          <a:p>
            <a:r>
              <a:rPr lang="en-US" sz="1200">
                <a:solidFill>
                  <a:schemeClr val="dk1"/>
                </a:solidFill>
                <a:latin typeface="Calibri"/>
                <a:ea typeface="Calibri"/>
                <a:cs typeface="Calibri"/>
                <a:sym typeface="Calibri"/>
              </a:rPr>
              <a:t>SOURCE AND SCOPE: Illustrative fragment, verified with the OWL API at every reveal step (presentation/excerpts/slide03_*.omn). obo:DOID_4961 = Disease Ontology 'bone marrow disease'; skos:relatedMatch, not exactMatch, because BM_DEP is a yes/no column, not the disease. Provenance is column-level, as defined in paper Section 3.2.</a:t>
            </a:r>
          </a:p>
        </p:txBody>
      </p:sp>
      <p:sp>
        <p:nvSpPr>
          <p:cNvPr id="73" name="Google Shape;73;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 name="Google Shape;10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rPr lang="en-US" sz="1200">
                <a:solidFill>
                  <a:schemeClr val="dk1"/>
                </a:solidFill>
                <a:latin typeface="Calibri"/>
                <a:ea typeface="Calibri"/>
                <a:cs typeface="Calibri"/>
                <a:sym typeface="Calibri"/>
              </a:rPr>
              <a:t>[1:59–2:37]  SPOKEN SCRIPT (66 words)</a:t>
            </a:r>
          </a:p>
          <a:p>
            <a:r>
              <a:rPr lang="en-US" sz="1200">
                <a:solidFill>
                  <a:schemeClr val="dk1"/>
                </a:solidFill>
                <a:latin typeface="Calibri"/>
                <a:ea typeface="Calibri"/>
                <a:cs typeface="Calibri"/>
                <a:sym typeface="Calibri"/>
              </a:rPr>
              <a:t>Existing work solves half of this. Schema-first rules, like direct mapping, preserve the structure: every table, column and foreign key. But they add no domain meaning. LLMs can suggest meaning: labels, concepts, relations. But they omit columns, or model keys wrongly. So our question is: can we keep schema fidelity and add domain semantics, across a whole database, with no expert in the loop during generation?</a:t>
            </a:r>
          </a:p>
          <a:p/>
          <a:p>
            <a:r>
              <a:rPr lang="en-US" sz="1200">
                <a:solidFill>
                  <a:schemeClr val="dk1"/>
                </a:solidFill>
                <a:latin typeface="Calibri"/>
                <a:ea typeface="Calibri"/>
                <a:cs typeface="Calibri"/>
                <a:sym typeface="Calibri"/>
              </a:rPr>
              <a:t>PRESENTER / POINTER: Left card, right card, then land on the question.</a:t>
            </a:r>
          </a:p>
          <a:p>
            <a:r>
              <a:rPr lang="en-US" sz="1200">
                <a:solidFill>
                  <a:schemeClr val="dk1"/>
                </a:solidFill>
                <a:latin typeface="Calibri"/>
                <a:ea typeface="Calibri"/>
                <a:cs typeface="Calibri"/>
                <a:sym typeface="Calibri"/>
              </a:rPr>
              <a:t>AUDIENCE TAKEAWAY: Rules keep structure; LLMs suggest meaning; we need both.</a:t>
            </a:r>
          </a:p>
          <a:p>
            <a:r>
              <a:rPr lang="en-US" sz="1200">
                <a:solidFill>
                  <a:schemeClr val="dk1"/>
                </a:solidFill>
                <a:latin typeface="Calibri"/>
                <a:ea typeface="Calibri"/>
                <a:cs typeface="Calibri"/>
                <a:sym typeface="Calibri"/>
              </a:rPr>
              <a:t>SOURCE AND SCOPE: Paper Sections 1-2.</a:t>
            </a:r>
          </a:p>
        </p:txBody>
      </p:sp>
      <p:sp>
        <p:nvSpPr>
          <p:cNvPr id="107" name="Google Shape;10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 name="Google Shape;12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rPr lang="en-US" sz="1200">
                <a:solidFill>
                  <a:schemeClr val="dk1"/>
                </a:solidFill>
                <a:latin typeface="Calibri"/>
                <a:ea typeface="Calibri"/>
                <a:cs typeface="Calibri"/>
                <a:sym typeface="Calibri"/>
              </a:rPr>
              <a:t>[2:37–3:01]  SPOKEN SCRIPT (42 words)</a:t>
            </a:r>
          </a:p>
          <a:p>
            <a:r>
              <a:rPr lang="en-US" sz="1200">
                <a:solidFill>
                  <a:schemeClr val="dk1"/>
                </a:solidFill>
                <a:latin typeface="Calibri"/>
                <a:ea typeface="Calibri"/>
                <a:cs typeface="Calibri"/>
                <a:sym typeface="Calibri"/>
              </a:rPr>
              <a:t>Our answer is RIGOR. It builds the ontology one table at a time, in six steps: order, seed, retrieve, generate, validate, merge. And as a preview: experts ranked it first in seventy percent of their rankings. Let's build it on our example.</a:t>
            </a:r>
          </a:p>
          <a:p/>
          <a:p>
            <a:r>
              <a:rPr lang="en-US" sz="1200">
                <a:solidFill>
                  <a:schemeClr val="dk1"/>
                </a:solidFill>
                <a:latin typeface="Calibri"/>
                <a:ea typeface="Calibri"/>
                <a:cs typeface="Calibri"/>
                <a:sym typeface="Calibri"/>
              </a:rPr>
              <a:t>PRESENTER / POINTER: Sweep along the six steps. Point at the result preview once.</a:t>
            </a:r>
          </a:p>
          <a:p>
            <a:r>
              <a:rPr lang="en-US" sz="1200">
                <a:solidFill>
                  <a:schemeClr val="dk1"/>
                </a:solidFill>
                <a:latin typeface="Calibri"/>
                <a:ea typeface="Calibri"/>
                <a:cs typeface="Calibri"/>
                <a:sym typeface="Calibri"/>
              </a:rPr>
              <a:t>AUDIENCE TAKEAWAY: Six steps, one table at a time.</a:t>
            </a:r>
          </a:p>
          <a:p>
            <a:r>
              <a:rPr lang="en-US" sz="1200">
                <a:solidFill>
                  <a:schemeClr val="dk1"/>
                </a:solidFill>
                <a:latin typeface="Calibri"/>
                <a:ea typeface="Calibri"/>
                <a:cs typeface="Calibri"/>
                <a:sym typeface="Calibri"/>
              </a:rPr>
              <a:t>SOURCE AND SCOPE: Paper Section 3.1, Fig. 1; preview from Table 1.</a:t>
            </a:r>
          </a:p>
        </p:txBody>
      </p:sp>
      <p:sp>
        <p:nvSpPr>
          <p:cNvPr id="129" name="Google Shape;129;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7" name="Google Shape;16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rPr lang="en-US" sz="1200">
                <a:solidFill>
                  <a:schemeClr val="dk1"/>
                </a:solidFill>
                <a:latin typeface="Calibri"/>
                <a:ea typeface="Calibri"/>
                <a:cs typeface="Calibri"/>
                <a:sym typeface="Calibri"/>
              </a:rPr>
              <a:t>[3:01–3:33]  SPOKEN SCRIPT (56 words)</a:t>
            </a:r>
          </a:p>
          <a:p>
            <a:r>
              <a:rPr lang="en-US" sz="1200">
                <a:solidFill>
                  <a:schemeClr val="dk1"/>
                </a:solidFill>
                <a:latin typeface="Calibri"/>
                <a:ea typeface="Calibri"/>
                <a:cs typeface="Calibri"/>
                <a:sym typeface="Calibri"/>
              </a:rPr>
              <a:t>Step one: order. Admission points to PatientData, so we build PatientData first. In general, RIGOR follows the foreign keys breadth-first: a table is processed once the tables it references are done. Why? By the time we reach Admission, PatientData already exists in our ontology. So we reuse that class, instead of inventing a second, incompatible one.</a:t>
            </a:r>
          </a:p>
          <a:p/>
          <a:p>
            <a:r>
              <a:rPr lang="en-US" sz="1200">
                <a:solidFill>
                  <a:schemeClr val="dk1"/>
                </a:solidFill>
                <a:latin typeface="Calibri"/>
                <a:ea typeface="Calibri"/>
                <a:cs typeface="Calibri"/>
                <a:sym typeface="Calibri"/>
              </a:rPr>
              <a:t>PRESENTER / POINTER: Follow the FK arrow, then the processing order.</a:t>
            </a:r>
          </a:p>
          <a:p>
            <a:r>
              <a:rPr lang="en-US" sz="1200">
                <a:solidFill>
                  <a:schemeClr val="dk1"/>
                </a:solidFill>
                <a:latin typeface="Calibri"/>
                <a:ea typeface="Calibri"/>
                <a:cs typeface="Calibri"/>
                <a:sym typeface="Calibri"/>
              </a:rPr>
              <a:t>AUDIENCE TAKEAWAY: Parents first, so later tables reuse known classes.</a:t>
            </a:r>
          </a:p>
          <a:p>
            <a:r>
              <a:rPr lang="en-US" sz="1200">
                <a:solidFill>
                  <a:schemeClr val="dk1"/>
                </a:solidFill>
                <a:latin typeface="Calibri"/>
                <a:ea typeface="Calibri"/>
                <a:cs typeface="Calibri"/>
                <a:sym typeface="Calibri"/>
              </a:rPr>
              <a:t>SOURCE AND SCOPE: Paper Sections 3.1-3.2 (FK-guided breadth-first order).</a:t>
            </a:r>
          </a:p>
        </p:txBody>
      </p:sp>
      <p:sp>
        <p:nvSpPr>
          <p:cNvPr id="168" name="Google Shape;168;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txBody>
          <a:bodyPr/>
          <a:p/>
        </p:txBody>
      </p:sp>
      <p:sp>
        <p:nvSpPr>
          <p:cNvPr id="209" name="Google Shape;209;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[3:33–4:10]  SPOKEN SCRIPT (66 words)</a:t>
            </a:r>
          </a:p>
          <a:p>
            <a:r>
              <a:t>Step two: seed. Before any LLM is involved, a deterministic direct mapping turns the table into OWL. Admission becomes a class. The foreign key becomes an object property, and every admission must have a patient. Each column becomes a data property with its XSD type. This seed covers every column of the cleaned table, by construction. So the LLM's job is to enrich, not to invent.</a:t>
            </a:r>
          </a:p>
          <a:p/>
          <a:p>
            <a:r>
              <a:t>PRESENTER / POINTER: Read the glosses: 'each has a patient', 'the FK becomes a link'.</a:t>
            </a:r>
          </a:p>
          <a:p>
            <a:r>
              <a:t>AUDIENCE TAKEAWAY: A deterministic seed guarantees coverage before the LLM starts.</a:t>
            </a:r>
          </a:p>
          <a:p>
            <a:r>
              <a:t>SOURCE AND SCOPE: Paper Section 3.2. The guarantee holds for the seed; final coverage is reported later.</a:t>
            </a:r>
          </a:p>
          <a:p>
            <a:r>
              <a:t>IF RUNNING LATE, DROP: "So the LLM's job is to enrich, not to invent."</a:t>
            </a:r>
          </a:p>
        </p:txBody>
      </p:sp>
      <p:sp>
        <p:nvSpPr>
          <p:cNvPr id="210" name="Google Shape;210;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4" name="Google Shape;25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rPr lang="en-US" sz="1200">
                <a:solidFill>
                  <a:schemeClr val="dk1"/>
                </a:solidFill>
                <a:latin typeface="Calibri"/>
                <a:ea typeface="Calibri"/>
                <a:cs typeface="Calibri"/>
                <a:sym typeface="Calibri"/>
              </a:rPr>
              <a:t>[4:10–4:52]  SPOKEN SCRIPT (73 words)</a:t>
            </a:r>
          </a:p>
          <a:p>
            <a:r>
              <a:rPr lang="en-US" sz="1200">
                <a:solidFill>
                  <a:schemeClr val="dk1"/>
                </a:solidFill>
                <a:latin typeface="Calibri"/>
                <a:ea typeface="Calibri"/>
                <a:cs typeface="Calibri"/>
                <a:sym typeface="Calibri"/>
              </a:rPr>
              <a:t>The seed is faithful, but it still doesn't say what BM_DEP means. So step three retrieves context from three sources. Documentation explains cryptic names and codes. External domain ontologies suggest established concepts. And the third source is the distinctive one: the ontology we have built so far. Earlier tables become evidence for the next. One query per table, built from its name, columns and foreign keys, retrieves the top three matches per source.</a:t>
            </a:r>
          </a:p>
          <a:p/>
          <a:p>
            <a:r>
              <a:rPr lang="en-US" sz="1200">
                <a:solidFill>
                  <a:schemeClr val="dk1"/>
                </a:solidFill>
                <a:latin typeface="Calibri"/>
                <a:ea typeface="Calibri"/>
                <a:cs typeface="Calibri"/>
                <a:sym typeface="Calibri"/>
              </a:rPr>
              <a:t>PRESENTER / POINTER: Walk the three cards; slow down on the growing core.</a:t>
            </a:r>
          </a:p>
          <a:p>
            <a:r>
              <a:rPr lang="en-US" sz="1200">
                <a:solidFill>
                  <a:schemeClr val="dk1"/>
                </a:solidFill>
                <a:latin typeface="Calibri"/>
                <a:ea typeface="Calibri"/>
                <a:cs typeface="Calibri"/>
                <a:sym typeface="Calibri"/>
              </a:rPr>
              <a:t>AUDIENCE TAKEAWAY: Three sources supply meaning; the growing core is unique to RIGOR.</a:t>
            </a:r>
          </a:p>
          <a:p>
            <a:r>
              <a:rPr lang="en-US" sz="1200">
                <a:solidFill>
                  <a:schemeClr val="dk1"/>
                </a:solidFill>
                <a:latin typeface="Calibri"/>
                <a:ea typeface="Calibri"/>
                <a:cs typeface="Calibri"/>
                <a:sym typeface="Calibri"/>
              </a:rPr>
              <a:t>SOURCE AND SCOPE: Paper Section 3.3 (all-MiniLM-L6-v2, Faiss, k = 3 per source).</a:t>
            </a:r>
          </a:p>
          <a:p>
            <a:r>
              <a:rPr lang="en-US" sz="1200">
                <a:solidFill>
                  <a:schemeClr val="dk1"/>
                </a:solidFill>
                <a:latin typeface="Calibri"/>
                <a:ea typeface="Calibri"/>
                <a:cs typeface="Calibri"/>
                <a:sym typeface="Calibri"/>
              </a:rPr>
              <a:t>IF RUNNING LATE, DROP: "One query per table, built from its name, columns and foreign keys, retrieves the top three matches per source."</a:t>
            </a:r>
          </a:p>
        </p:txBody>
      </p:sp>
      <p:sp>
        <p:nvSpPr>
          <p:cNvPr id="255" name="Google Shape;255;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txBody>
          <a:bodyPr/>
          <a:p/>
        </p:txBody>
      </p:sp>
      <p:sp>
        <p:nvSpPr>
          <p:cNvPr id="297" name="Google Shape;29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[4:52–5:33]  SPOKEN SCRIPT (72 words)</a:t>
            </a:r>
          </a:p>
          <a:p>
            <a:r>
              <a:t>Step four: generate. One prompt combines the seed, the retrieved context and our enrichment instructions. The Gen-LLM returns a delta ontology. Read the code from top to bottom. The foreign key is now a named relation, hasPatientData, from the schema. BM_DEP gets its label, and ECOG its scale, both from the documentation. And provenance links ecog_stage back to its source column. The tags on the right show which evidence informed each part.</a:t>
            </a:r>
          </a:p>
          <a:p/>
          <a:p>
            <a:r>
              <a:t>PRESENTER / POINTER: Top to bottom through the code; touch each evidence tag.</a:t>
            </a:r>
          </a:p>
          <a:p>
            <a:r>
              <a:t>AUDIENCE TAKEAWAY: The LLM enriches a grounded draft, and every addition is traceable.</a:t>
            </a:r>
          </a:p>
          <a:p>
            <a:r>
              <a:t>SOURCE AND SCOPE: Paper Sections 3.3-3.4. Illustrative fragment, verified with the OWL API.</a:t>
            </a:r>
          </a:p>
        </p:txBody>
      </p:sp>
      <p:sp>
        <p:nvSpPr>
          <p:cNvPr id="298" name="Google Shape;298;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txBody>
          <a:bodyPr/>
          <a:p/>
        </p:txBody>
      </p:sp>
      <p:sp>
        <p:nvSpPr>
          <p:cNvPr id="336" name="Google Shape;336;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[5:33–6:36]  SPOKEN SCRIPT (110 words)</a:t>
            </a:r>
          </a:p>
          <a:p>
            <a:r>
              <a:t>A capable LLM rarely gets syntax wrong. The real risk is a fragment that looks right but clashes with the ontology built so far. So step five validates every delta before it is merged. On the left, the model names the target class Patient, although the core already has PatientData. That is valid OWL, but now two classes mean the same thing. The Judge-LLM sees the core and asks to reuse it. On the right, a later table reuses hasPatientData with a second domain. OWL then infers that every lab result is an admission. Rule-based graph checks catch this. Failed fragments go back for correction, with up to two retries.</a:t>
            </a:r>
          </a:p>
          <a:p/>
          <a:p>
            <a:r>
              <a:t>PRESENTER / POINTER: Left, right, then the correction strip.</a:t>
            </a:r>
          </a:p>
          <a:p>
            <a:r>
              <a:t>AUDIENCE TAKEAWAY: The Judge catches clashes in meaning; rules catch clashes in structure.</a:t>
            </a:r>
          </a:p>
          <a:p>
            <a:r>
              <a:t>SOURCE AND SCOPE: Paper Section 3.5 (Judge criterion 9: core ontology consistency; graph check: domain/range cardinality). Two domains = OOPS! pitfall P19, still reported in 3/9 RIGOR runs (Table 7). Examples verified with the OWL API (presentation/excerpts/slide10_*.omn).</a:t>
            </a:r>
          </a:p>
          <a:p/>
          <a:p>
            <a:r>
              <a:t>IF ASKED: P19 is exactly the error that sometimes still slips through (3 of 9 runs); feeding validator output back into generation is our next step (slide 22).</a:t>
            </a:r>
          </a:p>
        </p:txBody>
      </p:sp>
      <p:sp>
        <p:nvSpPr>
          <p:cNvPr id="337" name="Google Shape;337;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8" name="Google Shape;378;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rPr lang="en-US" sz="1200">
                <a:solidFill>
                  <a:schemeClr val="dk1"/>
                </a:solidFill>
                <a:latin typeface="Calibri"/>
                <a:ea typeface="Calibri"/>
                <a:cs typeface="Calibri"/>
                <a:sym typeface="Calibri"/>
              </a:rPr>
              <a:t>[6:36–7:04]  SPOKEN SCRIPT (49 words)</a:t>
            </a:r>
          </a:p>
          <a:p>
            <a:r>
              <a:rPr lang="en-US" sz="1200">
                <a:solidFill>
                  <a:schemeClr val="dk1"/>
                </a:solidFill>
                <a:latin typeface="Calibri"/>
                <a:ea typeface="Calibri"/>
                <a:cs typeface="Calibri"/>
                <a:sym typeface="Calibri"/>
              </a:rPr>
              <a:t>Step six: merge. The validated delta joins the core ontology. Because RIGOR reuses identifiers, this is a simple union of axioms. And here is the loop. The expanded ontology becomes a retrieval source for the next table. RIGOR never starts from scratch: each table builds on the ones before.</a:t>
            </a:r>
          </a:p>
          <a:p/>
          <a:p>
            <a:r>
              <a:rPr lang="en-US" sz="1200">
                <a:solidFill>
                  <a:schemeClr val="dk1"/>
                </a:solidFill>
                <a:latin typeface="Calibri"/>
                <a:ea typeface="Calibri"/>
                <a:cs typeface="Calibri"/>
                <a:sym typeface="Calibri"/>
              </a:rPr>
              <a:t>PRESENTER / POINTER: Core plus delta, then the arrow back to retrieval.</a:t>
            </a:r>
          </a:p>
          <a:p>
            <a:r>
              <a:rPr lang="en-US" sz="1200">
                <a:solidFill>
                  <a:schemeClr val="dk1"/>
                </a:solidFill>
                <a:latin typeface="Calibri"/>
                <a:ea typeface="Calibri"/>
                <a:cs typeface="Calibri"/>
                <a:sym typeface="Calibri"/>
              </a:rPr>
              <a:t>AUDIENCE TAKEAWAY: The ontology is both the output and the next input.</a:t>
            </a:r>
          </a:p>
          <a:p>
            <a:r>
              <a:rPr lang="en-US" sz="1200">
                <a:solidFill>
                  <a:schemeClr val="dk1"/>
                </a:solidFill>
                <a:latin typeface="Calibri"/>
                <a:ea typeface="Calibri"/>
                <a:cs typeface="Calibri"/>
                <a:sym typeface="Calibri"/>
              </a:rPr>
              <a:t>SOURCE AND SCOPE: Paper Section 3.6.</a:t>
            </a:r>
          </a:p>
        </p:txBody>
      </p:sp>
      <p:sp>
        <p:nvSpPr>
          <p:cNvPr id="379" name="Google Shape;379;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1" name="Google Shape;421;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rPr lang="en-US" sz="1200">
                <a:solidFill>
                  <a:schemeClr val="dk1"/>
                </a:solidFill>
                <a:latin typeface="Calibri"/>
                <a:ea typeface="Calibri"/>
                <a:cs typeface="Calibri"/>
                <a:sym typeface="Calibri"/>
              </a:rPr>
              <a:t>[7:04–7:14]  SPOKEN SCRIPT (18 words)</a:t>
            </a:r>
          </a:p>
          <a:p>
            <a:r>
              <a:rPr lang="en-US" sz="1200">
                <a:solidFill>
                  <a:schemeClr val="dk1"/>
                </a:solidFill>
                <a:latin typeface="Calibri"/>
                <a:ea typeface="Calibri"/>
                <a:cs typeface="Calibri"/>
                <a:sym typeface="Calibri"/>
              </a:rPr>
              <a:t>Let me put the pieces together, as in the paper's Figure 1. First, the schema decides the order.</a:t>
            </a:r>
          </a:p>
          <a:p/>
          <a:p>
            <a:r>
              <a:rPr lang="en-US" sz="1200">
                <a:solidFill>
                  <a:schemeClr val="dk1"/>
                </a:solidFill>
                <a:latin typeface="Calibri"/>
                <a:ea typeface="Calibri"/>
                <a:cs typeface="Calibri"/>
                <a:sym typeface="Calibri"/>
              </a:rPr>
              <a:t>PRESENTER / POINTER: Quick click. Reconnect, do not re-explain.</a:t>
            </a:r>
          </a:p>
          <a:p>
            <a:r>
              <a:rPr lang="en-US" sz="1200">
                <a:solidFill>
                  <a:schemeClr val="dk1"/>
                </a:solidFill>
                <a:latin typeface="Calibri"/>
                <a:ea typeface="Calibri"/>
                <a:cs typeface="Calibri"/>
                <a:sym typeface="Calibri"/>
              </a:rPr>
              <a:t>AUDIENCE TAKEAWAY: Order.</a:t>
            </a:r>
          </a:p>
          <a:p>
            <a:r>
              <a:rPr lang="en-US" sz="1200">
                <a:solidFill>
                  <a:schemeClr val="dk1"/>
                </a:solidFill>
                <a:latin typeface="Calibri"/>
                <a:ea typeface="Calibri"/>
                <a:cs typeface="Calibri"/>
                <a:sym typeface="Calibri"/>
              </a:rPr>
              <a:t>SOURCE AND SCOPE: Paper Fig. 1(a).</a:t>
            </a:r>
          </a:p>
        </p:txBody>
      </p:sp>
      <p:sp>
        <p:nvSpPr>
          <p:cNvPr id="422" name="Google Shape;422;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8" name="Google Shape;45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rPr lang="en-US" sz="1200">
                <a:solidFill>
                  <a:schemeClr val="dk1"/>
                </a:solidFill>
                <a:latin typeface="Calibri"/>
                <a:ea typeface="Calibri"/>
                <a:cs typeface="Calibri"/>
                <a:sym typeface="Calibri"/>
              </a:rPr>
              <a:t>[7:14–7:22]  SPOKEN SCRIPT (14 words)</a:t>
            </a:r>
          </a:p>
          <a:p>
            <a:r>
              <a:rPr lang="en-US" sz="1200">
                <a:solidFill>
                  <a:schemeClr val="dk1"/>
                </a:solidFill>
                <a:latin typeface="Calibri"/>
                <a:ea typeface="Calibri"/>
                <a:cs typeface="Calibri"/>
                <a:sym typeface="Calibri"/>
              </a:rPr>
              <a:t>Each table then gets its deterministic seed: the structural anchor for everything that follows.</a:t>
            </a:r>
          </a:p>
          <a:p/>
          <a:p>
            <a:r>
              <a:rPr lang="en-US" sz="1200">
                <a:solidFill>
                  <a:schemeClr val="dk1"/>
                </a:solidFill>
                <a:latin typeface="Calibri"/>
                <a:ea typeface="Calibri"/>
                <a:cs typeface="Calibri"/>
                <a:sym typeface="Calibri"/>
              </a:rPr>
              <a:t>PRESENTER / POINTER: Quick click.</a:t>
            </a:r>
          </a:p>
          <a:p>
            <a:r>
              <a:rPr lang="en-US" sz="1200">
                <a:solidFill>
                  <a:schemeClr val="dk1"/>
                </a:solidFill>
                <a:latin typeface="Calibri"/>
                <a:ea typeface="Calibri"/>
                <a:cs typeface="Calibri"/>
                <a:sym typeface="Calibri"/>
              </a:rPr>
              <a:t>AUDIENCE TAKEAWAY: Seed.</a:t>
            </a:r>
          </a:p>
          <a:p>
            <a:r>
              <a:rPr lang="en-US" sz="1200">
                <a:solidFill>
                  <a:schemeClr val="dk1"/>
                </a:solidFill>
                <a:latin typeface="Calibri"/>
                <a:ea typeface="Calibri"/>
                <a:cs typeface="Calibri"/>
                <a:sym typeface="Calibri"/>
              </a:rPr>
              <a:t>SOURCE AND SCOPE: Paper Fig. 1(b).</a:t>
            </a:r>
          </a:p>
        </p:txBody>
      </p:sp>
      <p:sp>
        <p:nvSpPr>
          <p:cNvPr id="459" name="Google Shape;459;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3" name="Google Shape;503;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rPr lang="en-US" sz="1200">
                <a:solidFill>
                  <a:schemeClr val="dk1"/>
                </a:solidFill>
                <a:latin typeface="Calibri"/>
                <a:ea typeface="Calibri"/>
                <a:cs typeface="Calibri"/>
                <a:sym typeface="Calibri"/>
              </a:rPr>
              <a:t>[7:22–7:31]  SPOKEN SCRIPT (15 words)</a:t>
            </a:r>
          </a:p>
          <a:p>
            <a:r>
              <a:rPr lang="en-US" sz="1200">
                <a:solidFill>
                  <a:schemeClr val="dk1"/>
                </a:solidFill>
                <a:latin typeface="Calibri"/>
                <a:ea typeface="Calibri"/>
                <a:cs typeface="Calibri"/>
                <a:sym typeface="Calibri"/>
              </a:rPr>
              <a:t>Three retrieval channels add meaning: external ontologies, documentation, and the core ontology built so far.</a:t>
            </a:r>
          </a:p>
          <a:p/>
          <a:p>
            <a:r>
              <a:rPr lang="en-US" sz="1200">
                <a:solidFill>
                  <a:schemeClr val="dk1"/>
                </a:solidFill>
                <a:latin typeface="Calibri"/>
                <a:ea typeface="Calibri"/>
                <a:cs typeface="Calibri"/>
                <a:sym typeface="Calibri"/>
              </a:rPr>
              <a:t>PRESENTER / POINTER: Quick click.</a:t>
            </a:r>
          </a:p>
          <a:p>
            <a:r>
              <a:rPr lang="en-US" sz="1200">
                <a:solidFill>
                  <a:schemeClr val="dk1"/>
                </a:solidFill>
                <a:latin typeface="Calibri"/>
                <a:ea typeface="Calibri"/>
                <a:cs typeface="Calibri"/>
                <a:sym typeface="Calibri"/>
              </a:rPr>
              <a:t>AUDIENCE TAKEAWAY: Retrieve.</a:t>
            </a:r>
          </a:p>
          <a:p>
            <a:r>
              <a:rPr lang="en-US" sz="1200">
                <a:solidFill>
                  <a:schemeClr val="dk1"/>
                </a:solidFill>
                <a:latin typeface="Calibri"/>
                <a:ea typeface="Calibri"/>
                <a:cs typeface="Calibri"/>
                <a:sym typeface="Calibri"/>
              </a:rPr>
              <a:t>SOURCE AND SCOPE: Paper Fig. 1(c-e).</a:t>
            </a:r>
          </a:p>
        </p:txBody>
      </p:sp>
      <p:sp>
        <p:nvSpPr>
          <p:cNvPr id="504" name="Google Shape;504;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4" name="Google Shape;574;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rPr lang="en-US" sz="1200">
                <a:solidFill>
                  <a:schemeClr val="dk1"/>
                </a:solidFill>
                <a:latin typeface="Calibri"/>
                <a:ea typeface="Calibri"/>
                <a:cs typeface="Calibri"/>
                <a:sym typeface="Calibri"/>
              </a:rPr>
              <a:t>[7:31–7:37]  SPOKEN SCRIPT (10 words)</a:t>
            </a:r>
          </a:p>
          <a:p>
            <a:r>
              <a:rPr lang="en-US" sz="1200">
                <a:solidFill>
                  <a:schemeClr val="dk1"/>
                </a:solidFill>
                <a:latin typeface="Calibri"/>
                <a:ea typeface="Calibri"/>
                <a:cs typeface="Calibri"/>
                <a:sym typeface="Calibri"/>
              </a:rPr>
              <a:t>The Gen-LLM combines seed and context into a delta ontology.</a:t>
            </a:r>
          </a:p>
          <a:p/>
          <a:p>
            <a:r>
              <a:rPr lang="en-US" sz="1200">
                <a:solidFill>
                  <a:schemeClr val="dk1"/>
                </a:solidFill>
                <a:latin typeface="Calibri"/>
                <a:ea typeface="Calibri"/>
                <a:cs typeface="Calibri"/>
                <a:sym typeface="Calibri"/>
              </a:rPr>
              <a:t>PRESENTER / POINTER: Quick click.</a:t>
            </a:r>
          </a:p>
          <a:p>
            <a:r>
              <a:rPr lang="en-US" sz="1200">
                <a:solidFill>
                  <a:schemeClr val="dk1"/>
                </a:solidFill>
                <a:latin typeface="Calibri"/>
                <a:ea typeface="Calibri"/>
                <a:cs typeface="Calibri"/>
                <a:sym typeface="Calibri"/>
              </a:rPr>
              <a:t>AUDIENCE TAKEAWAY: Generate.</a:t>
            </a:r>
          </a:p>
          <a:p>
            <a:r>
              <a:rPr lang="en-US" sz="1200">
                <a:solidFill>
                  <a:schemeClr val="dk1"/>
                </a:solidFill>
                <a:latin typeface="Calibri"/>
                <a:ea typeface="Calibri"/>
                <a:cs typeface="Calibri"/>
                <a:sym typeface="Calibri"/>
              </a:rPr>
              <a:t>SOURCE AND SCOPE: Paper Fig. 1(f-g).</a:t>
            </a:r>
          </a:p>
        </p:txBody>
      </p:sp>
      <p:sp>
        <p:nvSpPr>
          <p:cNvPr id="575" name="Google Shape;575;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3" name="Google Shape;663;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rPr lang="en-US" sz="1200">
                <a:solidFill>
                  <a:schemeClr val="dk1"/>
                </a:solidFill>
                <a:latin typeface="Calibri"/>
                <a:ea typeface="Calibri"/>
                <a:cs typeface="Calibri"/>
                <a:sym typeface="Calibri"/>
              </a:rPr>
              <a:t>[7:37–7:43]  SPOKEN SCRIPT (12 words)</a:t>
            </a:r>
          </a:p>
          <a:p>
            <a:r>
              <a:rPr lang="en-US" sz="1200">
                <a:solidFill>
                  <a:schemeClr val="dk1"/>
                </a:solidFill>
                <a:latin typeface="Calibri"/>
                <a:ea typeface="Calibri"/>
                <a:cs typeface="Calibri"/>
                <a:sym typeface="Calibri"/>
              </a:rPr>
              <a:t>A Judge-LLM and rule-based checks validate the delta before it can join.</a:t>
            </a:r>
          </a:p>
          <a:p/>
          <a:p>
            <a:r>
              <a:rPr lang="en-US" sz="1200">
                <a:solidFill>
                  <a:schemeClr val="dk1"/>
                </a:solidFill>
                <a:latin typeface="Calibri"/>
                <a:ea typeface="Calibri"/>
                <a:cs typeface="Calibri"/>
                <a:sym typeface="Calibri"/>
              </a:rPr>
              <a:t>PRESENTER / POINTER: Quick click.</a:t>
            </a:r>
          </a:p>
          <a:p>
            <a:r>
              <a:rPr lang="en-US" sz="1200">
                <a:solidFill>
                  <a:schemeClr val="dk1"/>
                </a:solidFill>
                <a:latin typeface="Calibri"/>
                <a:ea typeface="Calibri"/>
                <a:cs typeface="Calibri"/>
                <a:sym typeface="Calibri"/>
              </a:rPr>
              <a:t>AUDIENCE TAKEAWAY: Validate.</a:t>
            </a:r>
          </a:p>
          <a:p>
            <a:r>
              <a:rPr lang="en-US" sz="1200">
                <a:solidFill>
                  <a:schemeClr val="dk1"/>
                </a:solidFill>
                <a:latin typeface="Calibri"/>
                <a:ea typeface="Calibri"/>
                <a:cs typeface="Calibri"/>
                <a:sym typeface="Calibri"/>
              </a:rPr>
              <a:t>SOURCE AND SCOPE: Paper Fig. 1(h).</a:t>
            </a:r>
          </a:p>
        </p:txBody>
      </p:sp>
      <p:sp>
        <p:nvSpPr>
          <p:cNvPr id="664" name="Google Shape;664;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txBody>
          <a:bodyPr/>
          <a:p/>
        </p:txBody>
      </p:sp>
      <p:sp>
        <p:nvSpPr>
          <p:cNvPr id="756" name="Google Shape;756;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[7:43–7:55]  SPOKEN SCRIPT (20 words)</a:t>
            </a:r>
          </a:p>
          <a:p>
            <a:r>
              <a:t>And the validated delta is merged into the core, which feeds retrieval for the next table. That loop is RIGOR.</a:t>
            </a:r>
          </a:p>
          <a:p/>
          <a:p>
            <a:r>
              <a:t>PRESENTER / POINTER: Trace the green return arrow from (i) back to (e).</a:t>
            </a:r>
          </a:p>
          <a:p>
            <a:r>
              <a:t>AUDIENCE TAKEAWAY: Merge, and loop.</a:t>
            </a:r>
          </a:p>
          <a:p>
            <a:r>
              <a:t>SOURCE AND SCOPE: Paper Fig. 1(i).</a:t>
            </a:r>
          </a:p>
        </p:txBody>
      </p:sp>
      <p:sp>
        <p:nvSpPr>
          <p:cNvPr id="757" name="Google Shape;757;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9" name="Shape 859"/>
        <p:cNvGrpSpPr/>
        <p:nvPr/>
      </p:nvGrpSpPr>
      <p:grpSpPr>
        <a:xfrm>
          <a:off x="0" y="0"/>
          <a:ext cx="0" cy="0"/>
          <a:chOff x="0" y="0"/>
          <a:chExt cx="0" cy="0"/>
        </a:xfrm>
      </p:grpSpPr>
      <p:sp>
        <p:nvSpPr>
          <p:cNvPr id="860" name="Google Shape;860;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1" name="Google Shape;861;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rPr lang="en-US" sz="1200">
                <a:solidFill>
                  <a:schemeClr val="dk1"/>
                </a:solidFill>
                <a:latin typeface="Calibri"/>
                <a:ea typeface="Calibri"/>
                <a:cs typeface="Calibri"/>
                <a:sym typeface="Calibri"/>
              </a:rPr>
              <a:t>[7:55–8:30]  SPOKEN SCRIPT (62 words)</a:t>
            </a:r>
          </a:p>
          <a:p>
            <a:r>
              <a:rPr lang="en-US" sz="1200">
                <a:solidFill>
                  <a:schemeClr val="dk1"/>
                </a:solidFill>
                <a:latin typeface="Calibri"/>
                <a:ea typeface="Calibri"/>
                <a:cs typeface="Calibri"/>
                <a:sym typeface="Calibri"/>
              </a:rPr>
              <a:t>Does this work beyond one example? We tested three databases: a private liver-cancer registry, the large eICU intensive-care schema, and Chinook, a music store, as a second domain. Three generator LLMs. And four methods: direct mapping, a zero-shot LLM, single-pass retrieval, and RIGOR. That gives thirty ontologies, judged by quality checks, an independent evaluation judge, ten human experts, and the BURR benchmark.</a:t>
            </a:r>
          </a:p>
          <a:p/>
          <a:p>
            <a:r>
              <a:rPr lang="en-US" sz="1200">
                <a:solidFill>
                  <a:schemeClr val="dk1"/>
                </a:solidFill>
                <a:latin typeface="Calibri"/>
                <a:ea typeface="Calibri"/>
                <a:cs typeface="Calibri"/>
                <a:sym typeface="Calibri"/>
              </a:rPr>
              <a:t>PRESENTER / POINTER: Datasets, then the four methods. Do not read every number.</a:t>
            </a:r>
          </a:p>
          <a:p>
            <a:r>
              <a:rPr lang="en-US" sz="1200">
                <a:solidFill>
                  <a:schemeClr val="dk1"/>
                </a:solidFill>
                <a:latin typeface="Calibri"/>
                <a:ea typeface="Calibri"/>
                <a:cs typeface="Calibri"/>
                <a:sym typeface="Calibri"/>
              </a:rPr>
              <a:t>AUDIENCE TAKEAWAY: Three databases, three LLMs, four methods, four kinds of evidence.</a:t>
            </a:r>
          </a:p>
          <a:p>
            <a:r>
              <a:rPr lang="en-US" sz="1200">
                <a:solidFill>
                  <a:schemeClr val="dk1"/>
                </a:solidFill>
                <a:latin typeface="Calibri"/>
                <a:ea typeface="Calibri"/>
                <a:cs typeface="Calibri"/>
                <a:sym typeface="Calibri"/>
              </a:rPr>
              <a:t>SOURCE AND SCOPE: Paper Sections 4.1-4.6. 30 ontologies = 3 LLMs x 3 methods x 3 databases + 3 direct mappings.</a:t>
            </a:r>
          </a:p>
        </p:txBody>
      </p:sp>
      <p:sp>
        <p:nvSpPr>
          <p:cNvPr id="862" name="Google Shape;862;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0" name="Google Shape;910;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rPr lang="en-US" sz="1200">
                <a:solidFill>
                  <a:schemeClr val="dk1"/>
                </a:solidFill>
                <a:latin typeface="Calibri"/>
                <a:ea typeface="Calibri"/>
                <a:cs typeface="Calibri"/>
                <a:sym typeface="Calibri"/>
              </a:rPr>
              <a:t>[10:29–11:16]  SPOKEN SCRIPT (80 words)</a:t>
            </a:r>
          </a:p>
          <a:p>
            <a:r>
              <a:rPr lang="en-US" sz="1200">
                <a:solidFill>
                  <a:schemeClr val="dk1"/>
                </a:solidFill>
                <a:latin typeface="Calibri"/>
                <a:ea typeface="Calibri"/>
                <a:cs typeface="Calibri"/>
                <a:sym typeface="Calibri"/>
              </a:rPr>
              <a:t>Finally, the most important question: do people prefer it? Ten ontology experts compared anonymized fragments for four medical tables, and ranked them. RIGOR came first in twenty-eight of forty rankings. [pause] That is seventy percent. Their agreement was statistically significant, with Kendall's W between 0.39 and 0.72. An independent LLM judge, GPT-5.4, then ranked Claude's fragments for all fifty-eight tables, against five competency questions each. It put RIGOR first on every table. The expert sample is small, but both signals agree.</a:t>
            </a:r>
          </a:p>
          <a:p/>
          <a:p>
            <a:r>
              <a:rPr lang="en-US" sz="1200">
                <a:solidFill>
                  <a:schemeClr val="dk1"/>
                </a:solidFill>
                <a:latin typeface="Calibri"/>
                <a:ea typeface="Calibri"/>
                <a:cs typeface="Calibri"/>
                <a:sym typeface="Calibri"/>
              </a:rPr>
              <a:t>PRESENTER / POINTER: Pause on 70%. Then the bars, then the LLM-judge strip.</a:t>
            </a:r>
          </a:p>
          <a:p>
            <a:r>
              <a:rPr lang="en-US" sz="1200">
                <a:solidFill>
                  <a:schemeClr val="dk1"/>
                </a:solidFill>
                <a:latin typeface="Calibri"/>
                <a:ea typeface="Calibri"/>
                <a:cs typeface="Calibri"/>
                <a:sym typeface="Calibri"/>
              </a:rPr>
              <a:t>AUDIENCE TAKEAWAY: Human experts and an independent LLM judge both prefer RIGOR.</a:t>
            </a:r>
          </a:p>
          <a:p>
            <a:r>
              <a:rPr lang="en-US" sz="1200">
                <a:solidFill>
                  <a:schemeClr val="dk1"/>
                </a:solidFill>
                <a:latin typeface="Calibri"/>
                <a:ea typeface="Calibri"/>
                <a:cs typeface="Calibri"/>
                <a:sym typeface="Calibri"/>
              </a:rPr>
              <a:t>SOURCE AND SCOPE: Paper Tables 1 and 12. LLM judge: Claude outputs only, 290 competency questions.</a:t>
            </a:r>
          </a:p>
          <a:p>
            <a:r>
              <a:rPr lang="en-US" sz="1200">
                <a:solidFill>
                  <a:schemeClr val="dk1"/>
                </a:solidFill>
                <a:latin typeface="Calibri"/>
                <a:ea typeface="Calibri"/>
                <a:cs typeface="Calibri"/>
                <a:sym typeface="Calibri"/>
              </a:rPr>
              <a:t>IF RUNNING LATE, DROP: "Their agreement was statistically significant, with Kendall's W between 0.39 and 0.72."</a:t>
            </a:r>
          </a:p>
        </p:txBody>
      </p:sp>
      <p:sp>
        <p:nvSpPr>
          <p:cNvPr id="911" name="Google Shape;911;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1" name="Shape 941"/>
        <p:cNvGrpSpPr/>
        <p:nvPr/>
      </p:nvGrpSpPr>
      <p:grpSpPr>
        <a:xfrm>
          <a:off x="0" y="0"/>
          <a:ext cx="0" cy="0"/>
          <a:chOff x="0" y="0"/>
          <a:chExt cx="0" cy="0"/>
        </a:xfrm>
      </p:grpSpPr>
      <p:sp>
        <p:nvSpPr>
          <p:cNvPr id="942" name="Google Shape;942;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txBody>
          <a:bodyPr/>
          <a:p/>
        </p:txBody>
      </p:sp>
      <p:sp>
        <p:nvSpPr>
          <p:cNvPr id="943" name="Google Shape;943;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[8:30–9:25]  SPOKEN SCRIPT (88 words)</a:t>
            </a:r>
          </a:p>
          <a:p>
            <a:r>
              <a:t>First result: does RIGOR add meaning without losing structure? This table shows what each method's ontologies contain. Direct mapping keeps the columns, but adds no labels, no hierarchy, no provenance. Single-pass retrieval adds labels, but it drops columns: in one run it kept only six percent. [pause] RIGOR is the only method with class hierarchies and provenance in all nine runs, while keeping seventy-seven to one hundred percent of the columns. And it has the fewest modeling pitfalls in every like-for-like comparison: zero on Chinook, with all three LLMs. [pause]</a:t>
            </a:r>
          </a:p>
          <a:p/>
          <a:p>
            <a:r>
              <a:t>PRESENTER / POINTER: Point at Non-Iterative's 0.06 first; read the RIGOR row last.</a:t>
            </a:r>
          </a:p>
          <a:p>
            <a:r>
              <a:t>AUDIENCE TAKEAWAY: Only RIGOR adds hierarchy and provenance and still keeps the schema.</a:t>
            </a:r>
          </a:p>
          <a:p>
            <a:r>
              <a:t>SOURCE AND SCOPE: Paper Tables 7, 8, 9. Coverage is an embedding-based proxy; Direct Mapping is complete by construction. Like-for-like = same database and same LLM. Disjointness (1/9 runs) is left for Q&amp;A.</a:t>
            </a:r>
          </a:p>
        </p:txBody>
      </p:sp>
      <p:sp>
        <p:nvSpPr>
          <p:cNvPr id="944" name="Google Shape;944;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0" name="Shape 970"/>
        <p:cNvGrpSpPr/>
        <p:nvPr/>
      </p:nvGrpSpPr>
      <p:grpSpPr>
        <a:xfrm>
          <a:off x="0" y="0"/>
          <a:ext cx="0" cy="0"/>
          <a:chOff x="0" y="0"/>
          <a:chExt cx="0" cy="0"/>
        </a:xfrm>
      </p:grpSpPr>
      <p:sp>
        <p:nvSpPr>
          <p:cNvPr id="971" name="Google Shape;971;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txBody>
          <a:bodyPr/>
          <a:p/>
        </p:txBody>
      </p:sp>
      <p:sp>
        <p:nvSpPr>
          <p:cNvPr id="972" name="Google Shape;972;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[9:25–10:29]  SPOKEN SCRIPT (112 words)</a:t>
            </a:r>
          </a:p>
          <a:p>
            <a:r>
              <a:t>Second: is the link back to the data real? We checked with BURR, an external benchmark for ontology learning from relational databases. BURR asks every system for a mapping: which table becomes a class, which foreign key a relation, which column an attribute. Two elements match when they map to the same database elements, whatever they are called. BURR scores this against a gold mapping, with F1 per element type. RIGOR's provenance gives us this mapping directly; we export it as D2RQ. On BURR's ISWC scenario, RIGOR has the highest F1 for classes, relations and attributes among the compared ontology-learning systems, including both rule-based ones. So enrichment did not cost us fidelity.</a:t>
            </a:r>
          </a:p>
          <a:p/>
          <a:p>
            <a:r>
              <a:t>PRESENTER / POINTER: Left card first, then land on the RIGOR row.</a:t>
            </a:r>
          </a:p>
          <a:p>
            <a:r>
              <a:t>AUDIENCE TAKEAWAY: Semantic enrichment did not break the correspondence that OBDA and KG population need.</a:t>
            </a:r>
          </a:p>
          <a:p>
            <a:r>
              <a:t>SOURCE AND SCOPE: Paper Table 13. BURR = Laskowski et al., PACMMOD 2025; matching rule from BURR Section 4, Eq. 3. Left-card element names are illustrative.</a:t>
            </a:r>
          </a:p>
          <a:p>
            <a:r>
              <a:t>IF RUNNING LATE, DROP: "Two elements match when they map to the same database elements, whatever they are called."</a:t>
            </a:r>
          </a:p>
          <a:p/>
          <a:p>
            <a:r>
              <a:t>DO NOT SAY: 'BURR found LLMs trail rule-based systems'. BURR's results show Gemini 2.5 Pro ahead of the rule-based systems overall (rule-based systems win only on NPD).</a:t>
            </a:r>
          </a:p>
          <a:p/>
          <a:p>
            <a:r>
              <a:t>IF ASKED ABOUT GEMINI 2.5 PRO (BURR Table 3, ISWC .65 / .68 / .56): in BURR it is a general-purpose LLM prompted with few-shot examples and a checklist to write the D2RQ mapping directly. It is a mapping generator, not an ontology-learning system that builds an enriched ontology, so we compare with ontology-learning systems. Against it, RIGOR's class F1 is higher, relations are on par, attributes lower, and RIGOR also produces labels, hierarchy and provenance. It is prompted, not fine-tuned.</a:t>
            </a:r>
          </a:p>
        </p:txBody>
      </p:sp>
      <p:sp>
        <p:nvSpPr>
          <p:cNvPr id="973" name="Google Shape;973;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8" name="Shape 1008"/>
        <p:cNvGrpSpPr/>
        <p:nvPr/>
      </p:nvGrpSpPr>
      <p:grpSpPr>
        <a:xfrm>
          <a:off x="0" y="0"/>
          <a:ext cx="0" cy="0"/>
          <a:chOff x="0" y="0"/>
          <a:chExt cx="0" cy="0"/>
        </a:xfrm>
      </p:grpSpPr>
      <p:sp>
        <p:nvSpPr>
          <p:cNvPr id="1009" name="Google Shape;1009;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0" name="Google Shape;1010;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rPr lang="en-US" sz="1200">
                <a:solidFill>
                  <a:schemeClr val="dk1"/>
                </a:solidFill>
                <a:latin typeface="Calibri"/>
                <a:ea typeface="Calibri"/>
                <a:cs typeface="Calibri"/>
                <a:sym typeface="Calibri"/>
              </a:rPr>
              <a:t>[11:16–12:11]  SPOKEN SCRIPT (96 words)</a:t>
            </a:r>
          </a:p>
          <a:p>
            <a:r>
              <a:rPr lang="en-US" sz="1200">
                <a:solidFill>
                  <a:schemeClr val="dk1"/>
                </a:solidFill>
                <a:latin typeface="Calibri"/>
                <a:ea typeface="Calibri"/>
                <a:cs typeface="Calibri"/>
                <a:sym typeface="Calibri"/>
              </a:rPr>
              <a:t>Where next? Today RIGOR reads schemas and documentation. The next step is to let the data speak. Imagine several patients whose records show bone marrow depression after cisplatin cycles. The rows alone show a pattern. The drug label adds that bone-marrow suppression is a known adverse reaction of cisplatin. Together, they let RIGOR propose new knowledge: a candidate association between cisplatin and bone marrow depression, with provenance to both sources. Candidate, not cause. Gemcitabine, radiotherapy or cirrhosis could also explain it. So an expert reviews it. We also want validator and reasoner feedback inside the loop.</a:t>
            </a:r>
          </a:p>
          <a:p/>
          <a:p>
            <a:r>
              <a:rPr lang="en-US" sz="1200">
                <a:solidFill>
                  <a:schemeClr val="dk1"/>
                </a:solidFill>
                <a:latin typeface="Calibri"/>
                <a:ea typeface="Calibri"/>
                <a:cs typeface="Calibri"/>
                <a:sym typeface="Calibri"/>
              </a:rPr>
              <a:t>PRESENTER / POINTER: Rows, label, code, left to right. Say 'candidate' or 'may have contributed', never 'caused'.</a:t>
            </a:r>
          </a:p>
          <a:p>
            <a:r>
              <a:rPr lang="en-US" sz="1200">
                <a:solidFill>
                  <a:schemeClr val="dk1"/>
                </a:solidFill>
                <a:latin typeface="Calibri"/>
                <a:ea typeface="Calibri"/>
                <a:cs typeface="Calibri"/>
                <a:sym typeface="Calibri"/>
              </a:rPr>
              <a:t>AUDIENCE TAKEAWAY: Instances plus documentation can propose knowledge; experts confirm it.</a:t>
            </a:r>
          </a:p>
          <a:p>
            <a:r>
              <a:rPr lang="en-US" sz="1200">
                <a:solidFill>
                  <a:schemeClr val="dk1"/>
                </a:solidFill>
                <a:latin typeface="Calibri"/>
                <a:ea typeface="Calibri"/>
                <a:cs typeface="Calibri"/>
                <a:sym typeface="Calibri"/>
              </a:rPr>
              <a:t>SOURCE AND SCOPE: Paper Section 5. Rows are synthetic. OWL verified (presentation/excerpts/slide22_future_candidate.omn): a typed individual with provenance, no causal axiom.</a:t>
            </a:r>
          </a:p>
          <a:p>
            <a:r>
              <a:rPr lang="en-US" sz="1200">
                <a:solidFill>
                  <a:schemeClr val="dk1"/>
                </a:solidFill>
                <a:latin typeface="Calibri"/>
                <a:ea typeface="Calibri"/>
                <a:cs typeface="Calibri"/>
                <a:sym typeface="Calibri"/>
              </a:rPr>
              <a:t>IF RUNNING LATE, DROP: "We also want validator and reasoner feedback inside the loop."</a:t>
            </a:r>
          </a:p>
          <a:p/>
          <a:p>
            <a:r>
              <a:rPr lang="en-US" sz="1200">
                <a:solidFill>
                  <a:schemeClr val="dk1"/>
                </a:solidFill>
                <a:latin typeface="Calibri"/>
                <a:ea typeface="Calibri"/>
                <a:cs typeface="Calibri"/>
                <a:sym typeface="Calibri"/>
              </a:rPr>
              <a:t>IF ASKED WHY NOT AN OWL CAUSAL AXIOM: OWL reasoning is deductive and open-world; it cannot derive causation from statistics, and 'Cisplatin SubClassOf causes some BoneMarrowDepression' would wrongly claim it for every case.</a:t>
            </a:r>
          </a:p>
        </p:txBody>
      </p:sp>
      <p:sp>
        <p:nvSpPr>
          <p:cNvPr id="1011" name="Google Shape;1011;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1" name="Shape 1031"/>
        <p:cNvGrpSpPr/>
        <p:nvPr/>
      </p:nvGrpSpPr>
      <p:grpSpPr>
        <a:xfrm>
          <a:off x="0" y="0"/>
          <a:ext cx="0" cy="0"/>
          <a:chOff x="0" y="0"/>
          <a:chExt cx="0" cy="0"/>
        </a:xfrm>
      </p:grpSpPr>
      <p:sp>
        <p:nvSpPr>
          <p:cNvPr id="1032" name="Google Shape;1032;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txBody>
          <a:bodyPr/>
          <a:p/>
        </p:txBody>
      </p:sp>
      <p:sp>
        <p:nvSpPr>
          <p:cNvPr id="1033" name="Google Shape;1033;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[12:11–12:44]  SPOKEN SCRIPT (57 words)</a:t>
            </a:r>
          </a:p>
          <a:p>
            <a:r>
              <a:t>To conclude. RIGOR anchors LLM generation in the database itself, grounds it in retrieved knowledge, and checks every step before the ontology grows. The result: meaning without losing structure, the link to the data intact, and ontologies that experts prefer. The paper and code are behind these QR codes. Thank you. I'm happy to take your questions.</a:t>
            </a:r>
          </a:p>
          <a:p/>
          <a:p>
            <a:r>
              <a:t>PRESENTER / POINTER: Finish speaking by 13:30. Leave this slide up during questions; backups follow it.</a:t>
            </a:r>
          </a:p>
          <a:p>
            <a:r>
              <a:t>AUDIENCE TAKEAWAY: Grounded, retrieved, validated.</a:t>
            </a:r>
          </a:p>
          <a:p>
            <a:r>
              <a:t>SOURCE AND SCOPE: Recap of the paper; contact address on the slide.</a:t>
            </a:r>
          </a:p>
        </p:txBody>
      </p:sp>
      <p:sp>
        <p:nvSpPr>
          <p:cNvPr id="1034" name="Google Shape;1034;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bg>
      <p:bgPr>
        <a:solidFill>
          <a:srgbClr val="FFFFFF"/>
        </a:solidFill>
      </p:bgPr>
    </p:bg>
    <p:spTree>
      <p:nvGrpSpPr>
        <p:cNvPr id="12" name="Shape 12"/>
        <p:cNvGrpSpPr/>
        <p:nvPr/>
      </p:nvGrpSpPr>
      <p:grpSpPr>
        <a:xfrm>
          <a:off x="0" y="0"/>
          <a:ext cx="0" cy="0"/>
          <a:chOff x="0" y="0"/>
          <a:chExt cx="0" cy="0"/>
        </a:xfrm>
      </p:grpSpPr>
      <p:sp>
        <p:nvSpPr>
          <p:cNvPr id="13" name="Google Shape;13;p25"/>
          <p:cNvSpPr txBox="1"/>
          <p:nvPr>
            <p:ph type="title"/>
          </p:nvPr>
        </p:nvSpPr>
        <p:spPr>
          <a:xfrm>
            <a:off x="812800" y="1153120"/>
            <a:ext cx="10566400" cy="39112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1F2328"/>
              </a:buClr>
              <a:buSzPts val="2800"/>
              <a:buFont typeface="Calibri"/>
              <a:buNone/>
              <a:defRPr sz="2800">
                <a:solidFill>
                  <a:srgbClr val="1F2328"/>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25"/>
          <p:cNvSpPr txBox="1"/>
          <p:nvPr>
            <p:ph idx="1" type="body"/>
          </p:nvPr>
        </p:nvSpPr>
        <p:spPr>
          <a:xfrm>
            <a:off x="812800" y="1849041"/>
            <a:ext cx="10566400" cy="4196159"/>
          </a:xfrm>
          <a:prstGeom prst="rect">
            <a:avLst/>
          </a:prstGeom>
          <a:noFill/>
          <a:ln>
            <a:noFill/>
          </a:ln>
        </p:spPr>
        <p:txBody>
          <a:bodyPr anchorCtr="0" anchor="t" bIns="0" lIns="0" spcFirstLastPara="1" rIns="0" wrap="square" tIns="0">
            <a:noAutofit/>
          </a:bodyPr>
          <a:lstStyle>
            <a:lvl1pPr indent="-228600" lvl="0" marL="457200" algn="l">
              <a:lnSpc>
                <a:spcPct val="140000"/>
              </a:lnSpc>
              <a:spcBef>
                <a:spcPts val="320"/>
              </a:spcBef>
              <a:spcAft>
                <a:spcPts val="0"/>
              </a:spcAft>
              <a:buClr>
                <a:srgbClr val="1F2328"/>
              </a:buClr>
              <a:buSzPts val="1600"/>
              <a:buNone/>
              <a:defRPr sz="1600">
                <a:solidFill>
                  <a:srgbClr val="1F2328"/>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5" name="Shape 1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 name="Shape 9"/>
        <p:cNvGrpSpPr/>
        <p:nvPr/>
      </p:nvGrpSpPr>
      <p:grpSpPr>
        <a:xfrm>
          <a:off x="0" y="0"/>
          <a:ext cx="0" cy="0"/>
          <a:chOff x="0" y="0"/>
          <a:chExt cx="0" cy="0"/>
        </a:xfrm>
      </p:grpSpPr>
      <p:sp>
        <p:nvSpPr>
          <p:cNvPr id="10" name="Google Shape;10;p24"/>
          <p:cNvSpPr txBox="1"/>
          <p:nvPr>
            <p:ph type="title"/>
          </p:nvPr>
        </p:nvSpPr>
        <p:spPr>
          <a:xfrm>
            <a:off x="812800" y="1153120"/>
            <a:ext cx="10566400" cy="391120"/>
          </a:xfrm>
          <a:prstGeom prst="rect">
            <a:avLst/>
          </a:prstGeom>
          <a:noFill/>
          <a:ln>
            <a:noFill/>
          </a:ln>
        </p:spPr>
        <p:txBody>
          <a:bodyPr anchorCtr="0" anchor="t" bIns="0" lIns="0" spcFirstLastPara="1" rIns="0" wrap="square" tIns="0">
            <a:noAutofit/>
          </a:bodyPr>
          <a:lstStyle>
            <a:lvl1pPr lvl="0" marR="0" rtl="0" algn="l">
              <a:lnSpc>
                <a:spcPct val="115000"/>
              </a:lnSpc>
              <a:spcBef>
                <a:spcPts val="0"/>
              </a:spcBef>
              <a:spcAft>
                <a:spcPts val="0"/>
              </a:spcAft>
              <a:buClr>
                <a:srgbClr val="1F2328"/>
              </a:buClr>
              <a:buSzPts val="2800"/>
              <a:buFont typeface="Calibri"/>
              <a:buNone/>
              <a:defRPr b="0" i="0" sz="2800" u="none" cap="none" strike="noStrike">
                <a:solidFill>
                  <a:srgbClr val="1F2328"/>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4"/>
          <p:cNvSpPr txBox="1"/>
          <p:nvPr>
            <p:ph idx="1" type="body"/>
          </p:nvPr>
        </p:nvSpPr>
        <p:spPr>
          <a:xfrm>
            <a:off x="812800" y="1849041"/>
            <a:ext cx="10566400" cy="4196159"/>
          </a:xfrm>
          <a:prstGeom prst="rect">
            <a:avLst/>
          </a:prstGeom>
          <a:noFill/>
          <a:ln>
            <a:noFill/>
          </a:ln>
        </p:spPr>
        <p:txBody>
          <a:bodyPr anchorCtr="0" anchor="t" bIns="0" lIns="0" spcFirstLastPara="1" rIns="0" wrap="square" tIns="0">
            <a:noAutofit/>
          </a:bodyPr>
          <a:lstStyle>
            <a:lvl1pPr indent="-228600" lvl="0" marL="457200" marR="0" rtl="0" algn="l">
              <a:lnSpc>
                <a:spcPct val="140000"/>
              </a:lnSpc>
              <a:spcBef>
                <a:spcPts val="320"/>
              </a:spcBef>
              <a:spcAft>
                <a:spcPts val="0"/>
              </a:spcAft>
              <a:buClr>
                <a:srgbClr val="1F2328"/>
              </a:buClr>
              <a:buSzPts val="1600"/>
              <a:buFont typeface="Calibri"/>
              <a:buNone/>
              <a:defRPr b="0" i="0" sz="1600" u="none" cap="none" strike="noStrike">
                <a:solidFill>
                  <a:srgbClr val="1F2328"/>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Calibri"/>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Calibri"/>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Calibri"/>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Calibri"/>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Calibri"/>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Calibri"/>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Calibri"/>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Calibri"/>
              <a:buChar char="•"/>
              <a:defRPr b="0" i="0" sz="20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2pPr>
      <a:lvl3pPr lvl="2"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3pPr>
      <a:lvl4pPr lvl="3"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4pPr>
      <a:lvl5pPr lvl="4"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5pPr>
      <a:lvl6pPr lvl="5"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6pPr>
      <a:lvl7pPr lvl="6"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7pPr>
      <a:lvl8pPr lvl="7"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8pPr>
      <a:lvl9pPr lvl="8"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2pPr>
      <a:lvl3pPr lvl="2"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3pPr>
      <a:lvl4pPr lvl="3"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4pPr>
      <a:lvl5pPr lvl="4"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5pPr>
      <a:lvl6pPr lvl="5"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6pPr>
      <a:lvl7pPr lvl="6"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7pPr>
      <a:lvl8pPr lvl="7"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8pPr>
      <a:lvl9pPr lvl="8"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2pPr>
      <a:lvl3pPr lvl="2"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3pPr>
      <a:lvl4pPr lvl="3"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4pPr>
      <a:lvl5pPr lvl="4"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5pPr>
      <a:lvl6pPr lvl="5"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6pPr>
      <a:lvl7pPr lvl="6"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7pPr>
      <a:lvl8pPr lvl="7"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8pPr>
      <a:lvl9pPr lvl="8"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 name="Shape 20"/>
        <p:cNvGrpSpPr/>
        <p:nvPr/>
      </p:nvGrpSpPr>
      <p:grpSpPr>
        <a:xfrm>
          <a:off x="0" y="0"/>
          <a:ext cx="0" cy="0"/>
          <a:chOff x="0" y="0"/>
          <a:chExt cx="0" cy="0"/>
        </a:xfrm>
      </p:grpSpPr>
      <p:sp>
        <p:nvSpPr>
          <p:cNvPr id="29" name="Cover panel"/>
          <p:cNvSpPr/>
          <p:nvPr/>
        </p:nvSpPr>
        <p:spPr>
          <a:xfrm>
            <a:off x="8092440" y="0"/>
            <a:ext cx="4099255" cy="6858000"/>
          </a:xfrm>
          <a:prstGeom prst="rect">
            <a:avLst/>
          </a:prstGeom>
          <a:solidFill>
            <a:srgbClr val="FAFBFA"/>
          </a:solidFill>
          <a:ln>
            <a:noFill/>
          </a:ln>
        </p:spPr>
        <p:txBody>
          <a:bodyPr wrap="square" lIns="0" tIns="0" rIns="0" bIns="0" anchor="t">
            <a:noAutofit/>
          </a:bodyPr>
          <a:lstStyle/>
          <a:p>
            <a:pPr algn="l"/>
          </a:p>
        </p:txBody>
      </p:sp>
      <p:sp>
        <p:nvSpPr>
          <p:cNvPr id="30" name="Grid line"/>
          <p:cNvSpPr/>
          <p:nvPr/>
        </p:nvSpPr>
        <p:spPr>
          <a:xfrm>
            <a:off x="8366760" y="0"/>
            <a:ext cx="6400" cy="6858000"/>
          </a:xfrm>
          <a:prstGeom prst="rect">
            <a:avLst/>
          </a:prstGeom>
          <a:solidFill>
            <a:srgbClr val="E6ECE8"/>
          </a:solidFill>
          <a:ln>
            <a:noFill/>
          </a:ln>
        </p:spPr>
        <p:txBody>
          <a:bodyPr wrap="square" lIns="0" tIns="0" rIns="0" bIns="0" anchor="t">
            <a:noAutofit/>
          </a:bodyPr>
          <a:lstStyle/>
          <a:p>
            <a:pPr algn="l"/>
          </a:p>
        </p:txBody>
      </p:sp>
      <p:sp>
        <p:nvSpPr>
          <p:cNvPr id="31" name="Grid line"/>
          <p:cNvSpPr/>
          <p:nvPr/>
        </p:nvSpPr>
        <p:spPr>
          <a:xfrm>
            <a:off x="8641080" y="0"/>
            <a:ext cx="6400" cy="6858000"/>
          </a:xfrm>
          <a:prstGeom prst="rect">
            <a:avLst/>
          </a:prstGeom>
          <a:solidFill>
            <a:srgbClr val="E6ECE8"/>
          </a:solidFill>
          <a:ln>
            <a:noFill/>
          </a:ln>
        </p:spPr>
        <p:txBody>
          <a:bodyPr wrap="square" lIns="0" tIns="0" rIns="0" bIns="0" anchor="t">
            <a:noAutofit/>
          </a:bodyPr>
          <a:lstStyle/>
          <a:p>
            <a:pPr algn="l"/>
          </a:p>
        </p:txBody>
      </p:sp>
      <p:sp>
        <p:nvSpPr>
          <p:cNvPr id="32" name="Grid line"/>
          <p:cNvSpPr/>
          <p:nvPr/>
        </p:nvSpPr>
        <p:spPr>
          <a:xfrm>
            <a:off x="8915400" y="0"/>
            <a:ext cx="6400" cy="6858000"/>
          </a:xfrm>
          <a:prstGeom prst="rect">
            <a:avLst/>
          </a:prstGeom>
          <a:solidFill>
            <a:srgbClr val="E6ECE8"/>
          </a:solidFill>
          <a:ln>
            <a:noFill/>
          </a:ln>
        </p:spPr>
        <p:txBody>
          <a:bodyPr wrap="square" lIns="0" tIns="0" rIns="0" bIns="0" anchor="t">
            <a:noAutofit/>
          </a:bodyPr>
          <a:lstStyle/>
          <a:p>
            <a:pPr algn="l"/>
          </a:p>
        </p:txBody>
      </p:sp>
      <p:sp>
        <p:nvSpPr>
          <p:cNvPr id="33" name="Grid line"/>
          <p:cNvSpPr/>
          <p:nvPr/>
        </p:nvSpPr>
        <p:spPr>
          <a:xfrm>
            <a:off x="9189720" y="0"/>
            <a:ext cx="6400" cy="6858000"/>
          </a:xfrm>
          <a:prstGeom prst="rect">
            <a:avLst/>
          </a:prstGeom>
          <a:solidFill>
            <a:srgbClr val="E6ECE8"/>
          </a:solidFill>
          <a:ln>
            <a:noFill/>
          </a:ln>
        </p:spPr>
        <p:txBody>
          <a:bodyPr wrap="square" lIns="0" tIns="0" rIns="0" bIns="0" anchor="t">
            <a:noAutofit/>
          </a:bodyPr>
          <a:lstStyle/>
          <a:p>
            <a:pPr algn="l"/>
          </a:p>
        </p:txBody>
      </p:sp>
      <p:sp>
        <p:nvSpPr>
          <p:cNvPr id="34" name="Grid line"/>
          <p:cNvSpPr/>
          <p:nvPr/>
        </p:nvSpPr>
        <p:spPr>
          <a:xfrm>
            <a:off x="9464040" y="0"/>
            <a:ext cx="6400" cy="6858000"/>
          </a:xfrm>
          <a:prstGeom prst="rect">
            <a:avLst/>
          </a:prstGeom>
          <a:solidFill>
            <a:srgbClr val="E6ECE8"/>
          </a:solidFill>
          <a:ln>
            <a:noFill/>
          </a:ln>
        </p:spPr>
        <p:txBody>
          <a:bodyPr wrap="square" lIns="0" tIns="0" rIns="0" bIns="0" anchor="t">
            <a:noAutofit/>
          </a:bodyPr>
          <a:lstStyle/>
          <a:p>
            <a:pPr algn="l"/>
          </a:p>
        </p:txBody>
      </p:sp>
      <p:sp>
        <p:nvSpPr>
          <p:cNvPr id="35" name="Grid line"/>
          <p:cNvSpPr/>
          <p:nvPr/>
        </p:nvSpPr>
        <p:spPr>
          <a:xfrm>
            <a:off x="9738360" y="0"/>
            <a:ext cx="6400" cy="6858000"/>
          </a:xfrm>
          <a:prstGeom prst="rect">
            <a:avLst/>
          </a:prstGeom>
          <a:solidFill>
            <a:srgbClr val="E6ECE8"/>
          </a:solidFill>
          <a:ln>
            <a:noFill/>
          </a:ln>
        </p:spPr>
        <p:txBody>
          <a:bodyPr wrap="square" lIns="0" tIns="0" rIns="0" bIns="0" anchor="t">
            <a:noAutofit/>
          </a:bodyPr>
          <a:lstStyle/>
          <a:p>
            <a:pPr algn="l"/>
          </a:p>
        </p:txBody>
      </p:sp>
      <p:sp>
        <p:nvSpPr>
          <p:cNvPr id="36" name="Grid line"/>
          <p:cNvSpPr/>
          <p:nvPr/>
        </p:nvSpPr>
        <p:spPr>
          <a:xfrm>
            <a:off x="10012680" y="0"/>
            <a:ext cx="6400" cy="6858000"/>
          </a:xfrm>
          <a:prstGeom prst="rect">
            <a:avLst/>
          </a:prstGeom>
          <a:solidFill>
            <a:srgbClr val="E6ECE8"/>
          </a:solidFill>
          <a:ln>
            <a:noFill/>
          </a:ln>
        </p:spPr>
        <p:txBody>
          <a:bodyPr wrap="square" lIns="0" tIns="0" rIns="0" bIns="0" anchor="t">
            <a:noAutofit/>
          </a:bodyPr>
          <a:lstStyle/>
          <a:p>
            <a:pPr algn="l"/>
          </a:p>
        </p:txBody>
      </p:sp>
      <p:sp>
        <p:nvSpPr>
          <p:cNvPr id="37" name="Grid line"/>
          <p:cNvSpPr/>
          <p:nvPr/>
        </p:nvSpPr>
        <p:spPr>
          <a:xfrm>
            <a:off x="10287000" y="0"/>
            <a:ext cx="6400" cy="6858000"/>
          </a:xfrm>
          <a:prstGeom prst="rect">
            <a:avLst/>
          </a:prstGeom>
          <a:solidFill>
            <a:srgbClr val="E6ECE8"/>
          </a:solidFill>
          <a:ln>
            <a:noFill/>
          </a:ln>
        </p:spPr>
        <p:txBody>
          <a:bodyPr wrap="square" lIns="0" tIns="0" rIns="0" bIns="0" anchor="t">
            <a:noAutofit/>
          </a:bodyPr>
          <a:lstStyle/>
          <a:p>
            <a:pPr algn="l"/>
          </a:p>
        </p:txBody>
      </p:sp>
      <p:sp>
        <p:nvSpPr>
          <p:cNvPr id="38" name="Grid line"/>
          <p:cNvSpPr/>
          <p:nvPr/>
        </p:nvSpPr>
        <p:spPr>
          <a:xfrm>
            <a:off x="10561320" y="0"/>
            <a:ext cx="6400" cy="6858000"/>
          </a:xfrm>
          <a:prstGeom prst="rect">
            <a:avLst/>
          </a:prstGeom>
          <a:solidFill>
            <a:srgbClr val="E6ECE8"/>
          </a:solidFill>
          <a:ln>
            <a:noFill/>
          </a:ln>
        </p:spPr>
        <p:txBody>
          <a:bodyPr wrap="square" lIns="0" tIns="0" rIns="0" bIns="0" anchor="t">
            <a:noAutofit/>
          </a:bodyPr>
          <a:lstStyle/>
          <a:p>
            <a:pPr algn="l"/>
          </a:p>
        </p:txBody>
      </p:sp>
      <p:sp>
        <p:nvSpPr>
          <p:cNvPr id="39" name="Grid line"/>
          <p:cNvSpPr/>
          <p:nvPr/>
        </p:nvSpPr>
        <p:spPr>
          <a:xfrm>
            <a:off x="10835640" y="0"/>
            <a:ext cx="6400" cy="6858000"/>
          </a:xfrm>
          <a:prstGeom prst="rect">
            <a:avLst/>
          </a:prstGeom>
          <a:solidFill>
            <a:srgbClr val="E6ECE8"/>
          </a:solidFill>
          <a:ln>
            <a:noFill/>
          </a:ln>
        </p:spPr>
        <p:txBody>
          <a:bodyPr wrap="square" lIns="0" tIns="0" rIns="0" bIns="0" anchor="t">
            <a:noAutofit/>
          </a:bodyPr>
          <a:lstStyle/>
          <a:p>
            <a:pPr algn="l"/>
          </a:p>
        </p:txBody>
      </p:sp>
      <p:sp>
        <p:nvSpPr>
          <p:cNvPr id="40" name="Grid line"/>
          <p:cNvSpPr/>
          <p:nvPr/>
        </p:nvSpPr>
        <p:spPr>
          <a:xfrm>
            <a:off x="11109960" y="0"/>
            <a:ext cx="6400" cy="6858000"/>
          </a:xfrm>
          <a:prstGeom prst="rect">
            <a:avLst/>
          </a:prstGeom>
          <a:solidFill>
            <a:srgbClr val="E6ECE8"/>
          </a:solidFill>
          <a:ln>
            <a:noFill/>
          </a:ln>
        </p:spPr>
        <p:txBody>
          <a:bodyPr wrap="square" lIns="0" tIns="0" rIns="0" bIns="0" anchor="t">
            <a:noAutofit/>
          </a:bodyPr>
          <a:lstStyle/>
          <a:p>
            <a:pPr algn="l"/>
          </a:p>
        </p:txBody>
      </p:sp>
      <p:sp>
        <p:nvSpPr>
          <p:cNvPr id="41" name="Grid line"/>
          <p:cNvSpPr/>
          <p:nvPr/>
        </p:nvSpPr>
        <p:spPr>
          <a:xfrm>
            <a:off x="11384280" y="0"/>
            <a:ext cx="6400" cy="6858000"/>
          </a:xfrm>
          <a:prstGeom prst="rect">
            <a:avLst/>
          </a:prstGeom>
          <a:solidFill>
            <a:srgbClr val="E6ECE8"/>
          </a:solidFill>
          <a:ln>
            <a:noFill/>
          </a:ln>
        </p:spPr>
        <p:txBody>
          <a:bodyPr wrap="square" lIns="0" tIns="0" rIns="0" bIns="0" anchor="t">
            <a:noAutofit/>
          </a:bodyPr>
          <a:lstStyle/>
          <a:p>
            <a:pPr algn="l"/>
          </a:p>
        </p:txBody>
      </p:sp>
      <p:sp>
        <p:nvSpPr>
          <p:cNvPr id="42" name="Grid line"/>
          <p:cNvSpPr/>
          <p:nvPr/>
        </p:nvSpPr>
        <p:spPr>
          <a:xfrm>
            <a:off x="11658600" y="0"/>
            <a:ext cx="6400" cy="6858000"/>
          </a:xfrm>
          <a:prstGeom prst="rect">
            <a:avLst/>
          </a:prstGeom>
          <a:solidFill>
            <a:srgbClr val="E6ECE8"/>
          </a:solidFill>
          <a:ln>
            <a:noFill/>
          </a:ln>
        </p:spPr>
        <p:txBody>
          <a:bodyPr wrap="square" lIns="0" tIns="0" rIns="0" bIns="0" anchor="t">
            <a:noAutofit/>
          </a:bodyPr>
          <a:lstStyle/>
          <a:p>
            <a:pPr algn="l"/>
          </a:p>
        </p:txBody>
      </p:sp>
      <p:sp>
        <p:nvSpPr>
          <p:cNvPr id="43" name="Grid line"/>
          <p:cNvSpPr/>
          <p:nvPr/>
        </p:nvSpPr>
        <p:spPr>
          <a:xfrm>
            <a:off x="11932920" y="0"/>
            <a:ext cx="6400" cy="6858000"/>
          </a:xfrm>
          <a:prstGeom prst="rect">
            <a:avLst/>
          </a:prstGeom>
          <a:solidFill>
            <a:srgbClr val="E6ECE8"/>
          </a:solidFill>
          <a:ln>
            <a:noFill/>
          </a:ln>
        </p:spPr>
        <p:txBody>
          <a:bodyPr wrap="square" lIns="0" tIns="0" rIns="0" bIns="0" anchor="t">
            <a:noAutofit/>
          </a:bodyPr>
          <a:lstStyle/>
          <a:p>
            <a:pPr algn="l"/>
          </a:p>
        </p:txBody>
      </p:sp>
      <p:sp>
        <p:nvSpPr>
          <p:cNvPr id="44" name="Grid line"/>
          <p:cNvSpPr/>
          <p:nvPr/>
        </p:nvSpPr>
        <p:spPr>
          <a:xfrm>
            <a:off x="8092440" y="274320"/>
            <a:ext cx="4099255" cy="6400"/>
          </a:xfrm>
          <a:prstGeom prst="rect">
            <a:avLst/>
          </a:prstGeom>
          <a:solidFill>
            <a:srgbClr val="E6ECE8"/>
          </a:solidFill>
          <a:ln>
            <a:noFill/>
          </a:ln>
        </p:spPr>
        <p:txBody>
          <a:bodyPr wrap="square" lIns="0" tIns="0" rIns="0" bIns="0" anchor="t">
            <a:noAutofit/>
          </a:bodyPr>
          <a:lstStyle/>
          <a:p>
            <a:pPr algn="l"/>
          </a:p>
        </p:txBody>
      </p:sp>
      <p:sp>
        <p:nvSpPr>
          <p:cNvPr id="45" name="Grid line"/>
          <p:cNvSpPr/>
          <p:nvPr/>
        </p:nvSpPr>
        <p:spPr>
          <a:xfrm>
            <a:off x="8092440" y="548640"/>
            <a:ext cx="4099255" cy="6400"/>
          </a:xfrm>
          <a:prstGeom prst="rect">
            <a:avLst/>
          </a:prstGeom>
          <a:solidFill>
            <a:srgbClr val="E6ECE8"/>
          </a:solidFill>
          <a:ln>
            <a:noFill/>
          </a:ln>
        </p:spPr>
        <p:txBody>
          <a:bodyPr wrap="square" lIns="0" tIns="0" rIns="0" bIns="0" anchor="t">
            <a:noAutofit/>
          </a:bodyPr>
          <a:lstStyle/>
          <a:p>
            <a:pPr algn="l"/>
          </a:p>
        </p:txBody>
      </p:sp>
      <p:sp>
        <p:nvSpPr>
          <p:cNvPr id="46" name="Grid line"/>
          <p:cNvSpPr/>
          <p:nvPr/>
        </p:nvSpPr>
        <p:spPr>
          <a:xfrm>
            <a:off x="8092440" y="822959"/>
            <a:ext cx="4099255" cy="6400"/>
          </a:xfrm>
          <a:prstGeom prst="rect">
            <a:avLst/>
          </a:prstGeom>
          <a:solidFill>
            <a:srgbClr val="E6ECE8"/>
          </a:solidFill>
          <a:ln>
            <a:noFill/>
          </a:ln>
        </p:spPr>
        <p:txBody>
          <a:bodyPr wrap="square" lIns="0" tIns="0" rIns="0" bIns="0" anchor="t">
            <a:noAutofit/>
          </a:bodyPr>
          <a:lstStyle/>
          <a:p>
            <a:pPr algn="l"/>
          </a:p>
        </p:txBody>
      </p:sp>
      <p:sp>
        <p:nvSpPr>
          <p:cNvPr id="47" name="Grid line"/>
          <p:cNvSpPr/>
          <p:nvPr/>
        </p:nvSpPr>
        <p:spPr>
          <a:xfrm>
            <a:off x="8092440" y="1097280"/>
            <a:ext cx="4099255" cy="6400"/>
          </a:xfrm>
          <a:prstGeom prst="rect">
            <a:avLst/>
          </a:prstGeom>
          <a:solidFill>
            <a:srgbClr val="E6ECE8"/>
          </a:solidFill>
          <a:ln>
            <a:noFill/>
          </a:ln>
        </p:spPr>
        <p:txBody>
          <a:bodyPr wrap="square" lIns="0" tIns="0" rIns="0" bIns="0" anchor="t">
            <a:noAutofit/>
          </a:bodyPr>
          <a:lstStyle/>
          <a:p>
            <a:pPr algn="l"/>
          </a:p>
        </p:txBody>
      </p:sp>
      <p:sp>
        <p:nvSpPr>
          <p:cNvPr id="48" name="Grid line"/>
          <p:cNvSpPr/>
          <p:nvPr/>
        </p:nvSpPr>
        <p:spPr>
          <a:xfrm>
            <a:off x="8092440" y="1371600"/>
            <a:ext cx="4099255" cy="6400"/>
          </a:xfrm>
          <a:prstGeom prst="rect">
            <a:avLst/>
          </a:prstGeom>
          <a:solidFill>
            <a:srgbClr val="E6ECE8"/>
          </a:solidFill>
          <a:ln>
            <a:noFill/>
          </a:ln>
        </p:spPr>
        <p:txBody>
          <a:bodyPr wrap="square" lIns="0" tIns="0" rIns="0" bIns="0" anchor="t">
            <a:noAutofit/>
          </a:bodyPr>
          <a:lstStyle/>
          <a:p>
            <a:pPr algn="l"/>
          </a:p>
        </p:txBody>
      </p:sp>
      <p:sp>
        <p:nvSpPr>
          <p:cNvPr id="49" name="Grid line"/>
          <p:cNvSpPr/>
          <p:nvPr/>
        </p:nvSpPr>
        <p:spPr>
          <a:xfrm>
            <a:off x="8092440" y="1645920"/>
            <a:ext cx="4099255" cy="6400"/>
          </a:xfrm>
          <a:prstGeom prst="rect">
            <a:avLst/>
          </a:prstGeom>
          <a:solidFill>
            <a:srgbClr val="E6ECE8"/>
          </a:solidFill>
          <a:ln>
            <a:noFill/>
          </a:ln>
        </p:spPr>
        <p:txBody>
          <a:bodyPr wrap="square" lIns="0" tIns="0" rIns="0" bIns="0" anchor="t">
            <a:noAutofit/>
          </a:bodyPr>
          <a:lstStyle/>
          <a:p>
            <a:pPr algn="l"/>
          </a:p>
        </p:txBody>
      </p:sp>
      <p:sp>
        <p:nvSpPr>
          <p:cNvPr id="50" name="Grid line"/>
          <p:cNvSpPr/>
          <p:nvPr/>
        </p:nvSpPr>
        <p:spPr>
          <a:xfrm>
            <a:off x="8092440" y="1920240"/>
            <a:ext cx="4099255" cy="6400"/>
          </a:xfrm>
          <a:prstGeom prst="rect">
            <a:avLst/>
          </a:prstGeom>
          <a:solidFill>
            <a:srgbClr val="E6ECE8"/>
          </a:solidFill>
          <a:ln>
            <a:noFill/>
          </a:ln>
        </p:spPr>
        <p:txBody>
          <a:bodyPr wrap="square" lIns="0" tIns="0" rIns="0" bIns="0" anchor="t">
            <a:noAutofit/>
          </a:bodyPr>
          <a:lstStyle/>
          <a:p>
            <a:pPr algn="l"/>
          </a:p>
        </p:txBody>
      </p:sp>
      <p:sp>
        <p:nvSpPr>
          <p:cNvPr id="51" name="Grid line"/>
          <p:cNvSpPr/>
          <p:nvPr/>
        </p:nvSpPr>
        <p:spPr>
          <a:xfrm>
            <a:off x="8092440" y="2194560"/>
            <a:ext cx="4099255" cy="6400"/>
          </a:xfrm>
          <a:prstGeom prst="rect">
            <a:avLst/>
          </a:prstGeom>
          <a:solidFill>
            <a:srgbClr val="E6ECE8"/>
          </a:solidFill>
          <a:ln>
            <a:noFill/>
          </a:ln>
        </p:spPr>
        <p:txBody>
          <a:bodyPr wrap="square" lIns="0" tIns="0" rIns="0" bIns="0" anchor="t">
            <a:noAutofit/>
          </a:bodyPr>
          <a:lstStyle/>
          <a:p>
            <a:pPr algn="l"/>
          </a:p>
        </p:txBody>
      </p:sp>
      <p:sp>
        <p:nvSpPr>
          <p:cNvPr id="52" name="Grid line"/>
          <p:cNvSpPr/>
          <p:nvPr/>
        </p:nvSpPr>
        <p:spPr>
          <a:xfrm>
            <a:off x="8092440" y="2468879"/>
            <a:ext cx="4099255" cy="6400"/>
          </a:xfrm>
          <a:prstGeom prst="rect">
            <a:avLst/>
          </a:prstGeom>
          <a:solidFill>
            <a:srgbClr val="E6ECE8"/>
          </a:solidFill>
          <a:ln>
            <a:noFill/>
          </a:ln>
        </p:spPr>
        <p:txBody>
          <a:bodyPr wrap="square" lIns="0" tIns="0" rIns="0" bIns="0" anchor="t">
            <a:noAutofit/>
          </a:bodyPr>
          <a:lstStyle/>
          <a:p>
            <a:pPr algn="l"/>
          </a:p>
        </p:txBody>
      </p:sp>
      <p:sp>
        <p:nvSpPr>
          <p:cNvPr id="53" name="Grid line"/>
          <p:cNvSpPr/>
          <p:nvPr/>
        </p:nvSpPr>
        <p:spPr>
          <a:xfrm>
            <a:off x="8092440" y="2743199"/>
            <a:ext cx="4099255" cy="6400"/>
          </a:xfrm>
          <a:prstGeom prst="rect">
            <a:avLst/>
          </a:prstGeom>
          <a:solidFill>
            <a:srgbClr val="E6ECE8"/>
          </a:solidFill>
          <a:ln>
            <a:noFill/>
          </a:ln>
        </p:spPr>
        <p:txBody>
          <a:bodyPr wrap="square" lIns="0" tIns="0" rIns="0" bIns="0" anchor="t">
            <a:noAutofit/>
          </a:bodyPr>
          <a:lstStyle/>
          <a:p>
            <a:pPr algn="l"/>
          </a:p>
        </p:txBody>
      </p:sp>
      <p:sp>
        <p:nvSpPr>
          <p:cNvPr id="54" name="Grid line"/>
          <p:cNvSpPr/>
          <p:nvPr/>
        </p:nvSpPr>
        <p:spPr>
          <a:xfrm>
            <a:off x="8092440" y="3017519"/>
            <a:ext cx="4099255" cy="6400"/>
          </a:xfrm>
          <a:prstGeom prst="rect">
            <a:avLst/>
          </a:prstGeom>
          <a:solidFill>
            <a:srgbClr val="E6ECE8"/>
          </a:solidFill>
          <a:ln>
            <a:noFill/>
          </a:ln>
        </p:spPr>
        <p:txBody>
          <a:bodyPr wrap="square" lIns="0" tIns="0" rIns="0" bIns="0" anchor="t">
            <a:noAutofit/>
          </a:bodyPr>
          <a:lstStyle/>
          <a:p>
            <a:pPr algn="l"/>
          </a:p>
        </p:txBody>
      </p:sp>
      <p:sp>
        <p:nvSpPr>
          <p:cNvPr id="55" name="Grid line"/>
          <p:cNvSpPr/>
          <p:nvPr/>
        </p:nvSpPr>
        <p:spPr>
          <a:xfrm>
            <a:off x="8092440" y="3291839"/>
            <a:ext cx="4099255" cy="6400"/>
          </a:xfrm>
          <a:prstGeom prst="rect">
            <a:avLst/>
          </a:prstGeom>
          <a:solidFill>
            <a:srgbClr val="E6ECE8"/>
          </a:solidFill>
          <a:ln>
            <a:noFill/>
          </a:ln>
        </p:spPr>
        <p:txBody>
          <a:bodyPr wrap="square" lIns="0" tIns="0" rIns="0" bIns="0" anchor="t">
            <a:noAutofit/>
          </a:bodyPr>
          <a:lstStyle/>
          <a:p>
            <a:pPr algn="l"/>
          </a:p>
        </p:txBody>
      </p:sp>
      <p:sp>
        <p:nvSpPr>
          <p:cNvPr id="56" name="Grid line"/>
          <p:cNvSpPr/>
          <p:nvPr/>
        </p:nvSpPr>
        <p:spPr>
          <a:xfrm>
            <a:off x="8092440" y="3566159"/>
            <a:ext cx="4099255" cy="6400"/>
          </a:xfrm>
          <a:prstGeom prst="rect">
            <a:avLst/>
          </a:prstGeom>
          <a:solidFill>
            <a:srgbClr val="E6ECE8"/>
          </a:solidFill>
          <a:ln>
            <a:noFill/>
          </a:ln>
        </p:spPr>
        <p:txBody>
          <a:bodyPr wrap="square" lIns="0" tIns="0" rIns="0" bIns="0" anchor="t">
            <a:noAutofit/>
          </a:bodyPr>
          <a:lstStyle/>
          <a:p>
            <a:pPr algn="l"/>
          </a:p>
        </p:txBody>
      </p:sp>
      <p:sp>
        <p:nvSpPr>
          <p:cNvPr id="57" name="Grid line"/>
          <p:cNvSpPr/>
          <p:nvPr/>
        </p:nvSpPr>
        <p:spPr>
          <a:xfrm>
            <a:off x="8092440" y="3840479"/>
            <a:ext cx="4099255" cy="6400"/>
          </a:xfrm>
          <a:prstGeom prst="rect">
            <a:avLst/>
          </a:prstGeom>
          <a:solidFill>
            <a:srgbClr val="E6ECE8"/>
          </a:solidFill>
          <a:ln>
            <a:noFill/>
          </a:ln>
        </p:spPr>
        <p:txBody>
          <a:bodyPr wrap="square" lIns="0" tIns="0" rIns="0" bIns="0" anchor="t">
            <a:noAutofit/>
          </a:bodyPr>
          <a:lstStyle/>
          <a:p>
            <a:pPr algn="l"/>
          </a:p>
        </p:txBody>
      </p:sp>
      <p:sp>
        <p:nvSpPr>
          <p:cNvPr id="58" name="Grid line"/>
          <p:cNvSpPr/>
          <p:nvPr/>
        </p:nvSpPr>
        <p:spPr>
          <a:xfrm>
            <a:off x="8092440" y="4114799"/>
            <a:ext cx="4099255" cy="6400"/>
          </a:xfrm>
          <a:prstGeom prst="rect">
            <a:avLst/>
          </a:prstGeom>
          <a:solidFill>
            <a:srgbClr val="E6ECE8"/>
          </a:solidFill>
          <a:ln>
            <a:noFill/>
          </a:ln>
        </p:spPr>
        <p:txBody>
          <a:bodyPr wrap="square" lIns="0" tIns="0" rIns="0" bIns="0" anchor="t">
            <a:noAutofit/>
          </a:bodyPr>
          <a:lstStyle/>
          <a:p>
            <a:pPr algn="l"/>
          </a:p>
        </p:txBody>
      </p:sp>
      <p:sp>
        <p:nvSpPr>
          <p:cNvPr id="59" name="Grid line"/>
          <p:cNvSpPr/>
          <p:nvPr/>
        </p:nvSpPr>
        <p:spPr>
          <a:xfrm>
            <a:off x="8092440" y="4389119"/>
            <a:ext cx="4099255" cy="6400"/>
          </a:xfrm>
          <a:prstGeom prst="rect">
            <a:avLst/>
          </a:prstGeom>
          <a:solidFill>
            <a:srgbClr val="E6ECE8"/>
          </a:solidFill>
          <a:ln>
            <a:noFill/>
          </a:ln>
        </p:spPr>
        <p:txBody>
          <a:bodyPr wrap="square" lIns="0" tIns="0" rIns="0" bIns="0" anchor="t">
            <a:noAutofit/>
          </a:bodyPr>
          <a:lstStyle/>
          <a:p>
            <a:pPr algn="l"/>
          </a:p>
        </p:txBody>
      </p:sp>
      <p:sp>
        <p:nvSpPr>
          <p:cNvPr id="60" name="Grid line"/>
          <p:cNvSpPr/>
          <p:nvPr/>
        </p:nvSpPr>
        <p:spPr>
          <a:xfrm>
            <a:off x="8092440" y="4663439"/>
            <a:ext cx="4099255" cy="6400"/>
          </a:xfrm>
          <a:prstGeom prst="rect">
            <a:avLst/>
          </a:prstGeom>
          <a:solidFill>
            <a:srgbClr val="E6ECE8"/>
          </a:solidFill>
          <a:ln>
            <a:noFill/>
          </a:ln>
        </p:spPr>
        <p:txBody>
          <a:bodyPr wrap="square" lIns="0" tIns="0" rIns="0" bIns="0" anchor="t">
            <a:noAutofit/>
          </a:bodyPr>
          <a:lstStyle/>
          <a:p>
            <a:pPr algn="l"/>
          </a:p>
        </p:txBody>
      </p:sp>
      <p:sp>
        <p:nvSpPr>
          <p:cNvPr id="61" name="Grid line"/>
          <p:cNvSpPr/>
          <p:nvPr/>
        </p:nvSpPr>
        <p:spPr>
          <a:xfrm>
            <a:off x="8092440" y="4937759"/>
            <a:ext cx="4099255" cy="6400"/>
          </a:xfrm>
          <a:prstGeom prst="rect">
            <a:avLst/>
          </a:prstGeom>
          <a:solidFill>
            <a:srgbClr val="E6ECE8"/>
          </a:solidFill>
          <a:ln>
            <a:noFill/>
          </a:ln>
        </p:spPr>
        <p:txBody>
          <a:bodyPr wrap="square" lIns="0" tIns="0" rIns="0" bIns="0" anchor="t">
            <a:noAutofit/>
          </a:bodyPr>
          <a:lstStyle/>
          <a:p>
            <a:pPr algn="l"/>
          </a:p>
        </p:txBody>
      </p:sp>
      <p:sp>
        <p:nvSpPr>
          <p:cNvPr id="62" name="Grid line"/>
          <p:cNvSpPr/>
          <p:nvPr/>
        </p:nvSpPr>
        <p:spPr>
          <a:xfrm>
            <a:off x="8092440" y="5212079"/>
            <a:ext cx="4099255" cy="6400"/>
          </a:xfrm>
          <a:prstGeom prst="rect">
            <a:avLst/>
          </a:prstGeom>
          <a:solidFill>
            <a:srgbClr val="E6ECE8"/>
          </a:solidFill>
          <a:ln>
            <a:noFill/>
          </a:ln>
        </p:spPr>
        <p:txBody>
          <a:bodyPr wrap="square" lIns="0" tIns="0" rIns="0" bIns="0" anchor="t">
            <a:noAutofit/>
          </a:bodyPr>
          <a:lstStyle/>
          <a:p>
            <a:pPr algn="l"/>
          </a:p>
        </p:txBody>
      </p:sp>
      <p:sp>
        <p:nvSpPr>
          <p:cNvPr id="63" name="Grid line"/>
          <p:cNvSpPr/>
          <p:nvPr/>
        </p:nvSpPr>
        <p:spPr>
          <a:xfrm>
            <a:off x="8092440" y="5486399"/>
            <a:ext cx="4099255" cy="6400"/>
          </a:xfrm>
          <a:prstGeom prst="rect">
            <a:avLst/>
          </a:prstGeom>
          <a:solidFill>
            <a:srgbClr val="E6ECE8"/>
          </a:solidFill>
          <a:ln>
            <a:noFill/>
          </a:ln>
        </p:spPr>
        <p:txBody>
          <a:bodyPr wrap="square" lIns="0" tIns="0" rIns="0" bIns="0" anchor="t">
            <a:noAutofit/>
          </a:bodyPr>
          <a:lstStyle/>
          <a:p>
            <a:pPr algn="l"/>
          </a:p>
        </p:txBody>
      </p:sp>
      <p:sp>
        <p:nvSpPr>
          <p:cNvPr id="64" name="Grid line"/>
          <p:cNvSpPr/>
          <p:nvPr/>
        </p:nvSpPr>
        <p:spPr>
          <a:xfrm>
            <a:off x="8092440" y="5760719"/>
            <a:ext cx="4099255" cy="6400"/>
          </a:xfrm>
          <a:prstGeom prst="rect">
            <a:avLst/>
          </a:prstGeom>
          <a:solidFill>
            <a:srgbClr val="E6ECE8"/>
          </a:solidFill>
          <a:ln>
            <a:noFill/>
          </a:ln>
        </p:spPr>
        <p:txBody>
          <a:bodyPr wrap="square" lIns="0" tIns="0" rIns="0" bIns="0" anchor="t">
            <a:noAutofit/>
          </a:bodyPr>
          <a:lstStyle/>
          <a:p>
            <a:pPr algn="l"/>
          </a:p>
        </p:txBody>
      </p:sp>
      <p:sp>
        <p:nvSpPr>
          <p:cNvPr id="65" name="Grid line"/>
          <p:cNvSpPr/>
          <p:nvPr/>
        </p:nvSpPr>
        <p:spPr>
          <a:xfrm>
            <a:off x="8092440" y="6035039"/>
            <a:ext cx="4099255" cy="6400"/>
          </a:xfrm>
          <a:prstGeom prst="rect">
            <a:avLst/>
          </a:prstGeom>
          <a:solidFill>
            <a:srgbClr val="E6ECE8"/>
          </a:solidFill>
          <a:ln>
            <a:noFill/>
          </a:ln>
        </p:spPr>
        <p:txBody>
          <a:bodyPr wrap="square" lIns="0" tIns="0" rIns="0" bIns="0" anchor="t">
            <a:noAutofit/>
          </a:bodyPr>
          <a:lstStyle/>
          <a:p>
            <a:pPr algn="l"/>
          </a:p>
        </p:txBody>
      </p:sp>
      <p:sp>
        <p:nvSpPr>
          <p:cNvPr id="66" name="Grid line"/>
          <p:cNvSpPr/>
          <p:nvPr/>
        </p:nvSpPr>
        <p:spPr>
          <a:xfrm>
            <a:off x="8092440" y="6309359"/>
            <a:ext cx="4099255" cy="6400"/>
          </a:xfrm>
          <a:prstGeom prst="rect">
            <a:avLst/>
          </a:prstGeom>
          <a:solidFill>
            <a:srgbClr val="E6ECE8"/>
          </a:solidFill>
          <a:ln>
            <a:noFill/>
          </a:ln>
        </p:spPr>
        <p:txBody>
          <a:bodyPr wrap="square" lIns="0" tIns="0" rIns="0" bIns="0" anchor="t">
            <a:noAutofit/>
          </a:bodyPr>
          <a:lstStyle/>
          <a:p>
            <a:pPr algn="l"/>
          </a:p>
        </p:txBody>
      </p:sp>
      <p:sp>
        <p:nvSpPr>
          <p:cNvPr id="67" name="Grid line"/>
          <p:cNvSpPr/>
          <p:nvPr/>
        </p:nvSpPr>
        <p:spPr>
          <a:xfrm>
            <a:off x="8092440" y="6583679"/>
            <a:ext cx="4099255" cy="6400"/>
          </a:xfrm>
          <a:prstGeom prst="rect">
            <a:avLst/>
          </a:prstGeom>
          <a:solidFill>
            <a:srgbClr val="E6ECE8"/>
          </a:solidFill>
          <a:ln>
            <a:noFill/>
          </a:ln>
        </p:spPr>
        <p:txBody>
          <a:bodyPr wrap="square" lIns="0" tIns="0" rIns="0" bIns="0" anchor="t">
            <a:noAutofit/>
          </a:bodyPr>
          <a:lstStyle/>
          <a:p>
            <a:pPr algn="l"/>
          </a:p>
        </p:txBody>
      </p:sp>
      <p:sp>
        <p:nvSpPr>
          <p:cNvPr id="21" name="Google Shape;21;p1"/>
          <p:cNvSpPr txBox="1"/>
          <p:nvPr/>
        </p:nvSpPr>
        <p:spPr>
          <a:xfrm>
            <a:off x="795528" y="566928"/>
            <a:ext cx="6766560" cy="31089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u="none" cap="none" strike="noStrike">
                <a:solidFill>
                  <a:srgbClr val="0B6E4F"/>
                </a:solidFill>
                <a:latin typeface="Consolas"/>
                <a:ea typeface="Consolas"/>
                <a:cs typeface="Consolas"/>
                <a:sym typeface="Consolas"/>
              </a:rPr>
              <a:t>RESEARCH PAPER</a:t>
            </a:r>
            <a:endParaRPr/>
          </a:p>
        </p:txBody>
      </p:sp>
      <p:sp>
        <p:nvSpPr>
          <p:cNvPr id="22" name="Google Shape;22;p1"/>
          <p:cNvSpPr txBox="1"/>
          <p:nvPr/>
        </p:nvSpPr>
        <p:spPr>
          <a:xfrm>
            <a:off x="795528" y="1938528"/>
            <a:ext cx="6949440" cy="148132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000" u="none" cap="none" strike="noStrike">
                <a:solidFill>
                  <a:srgbClr val="1F2328"/>
                </a:solidFill>
                <a:latin typeface="Cambria"/>
                <a:ea typeface="Calibri"/>
                <a:cs typeface="Calibri"/>
                <a:sym typeface="Calibri"/>
              </a:rPr>
              <a:t>Retrieval-Augmented</a:t>
            </a:r>
            <a:endParaRPr sz="3000"/>
          </a:p>
          <a:p>
            <a:pPr indent="0" lvl="0" marL="0" marR="0" rtl="0" algn="l">
              <a:lnSpc>
                <a:spcPct val="100000"/>
              </a:lnSpc>
              <a:spcBef>
                <a:spcPts val="0"/>
              </a:spcBef>
              <a:spcAft>
                <a:spcPts val="0"/>
              </a:spcAft>
              <a:buNone/>
            </a:pPr>
            <a:r>
              <a:rPr b="1" i="0" lang="en-US" sz="3000" u="none" cap="none" strike="noStrike">
                <a:solidFill>
                  <a:srgbClr val="1F2328"/>
                </a:solidFill>
                <a:latin typeface="Cambria"/>
                <a:ea typeface="Calibri"/>
                <a:cs typeface="Calibri"/>
                <a:sym typeface="Calibri"/>
              </a:rPr>
              <a:t>Generation of Ontologies</a:t>
            </a:r>
            <a:endParaRPr sz="3000"/>
          </a:p>
          <a:p>
            <a:pPr indent="0" lvl="0" marL="0" marR="0" rtl="0" algn="l">
              <a:lnSpc>
                <a:spcPct val="100000"/>
              </a:lnSpc>
              <a:spcBef>
                <a:spcPts val="0"/>
              </a:spcBef>
              <a:spcAft>
                <a:spcPts val="0"/>
              </a:spcAft>
              <a:buNone/>
            </a:pPr>
            <a:r>
              <a:rPr b="1" i="0" lang="en-US" sz="3000" u="none" cap="none" strike="noStrike">
                <a:solidFill>
                  <a:srgbClr val="1F2328"/>
                </a:solidFill>
                <a:latin typeface="Cambria"/>
                <a:ea typeface="Calibri"/>
                <a:cs typeface="Calibri"/>
                <a:sym typeface="Calibri"/>
              </a:rPr>
              <a:t>from Relati</a:t>
            </a:r>
            <a:r>
              <a:rPr b="1" i="0" lang="en-US" sz="3000" u="none" cap="none" strike="noStrike">
                <a:solidFill>
                  <a:srgbClr val="1F2328"/>
                </a:solidFill>
                <a:latin typeface="Cambria"/>
                <a:ea typeface="Calibri"/>
                <a:cs typeface="Calibri"/>
                <a:sym typeface="Calibri"/>
              </a:rPr>
              <a:t>o</a:t>
            </a:r>
            <a:r>
              <a:rPr b="1" i="0" lang="en-US" sz="3000" u="none" cap="none" strike="noStrike">
                <a:solidFill>
                  <a:srgbClr val="1F2328"/>
                </a:solidFill>
                <a:latin typeface="Cambria"/>
                <a:ea typeface="Calibri"/>
                <a:cs typeface="Calibri"/>
                <a:sym typeface="Calibri"/>
              </a:rPr>
              <a:t>nal Databases</a:t>
            </a:r>
            <a:endParaRPr sz="3000"/>
          </a:p>
        </p:txBody>
      </p:sp>
      <p:sp>
        <p:nvSpPr>
          <p:cNvPr id="25" name="Google Shape;25;p1"/>
          <p:cNvSpPr txBox="1"/>
          <p:nvPr/>
        </p:nvSpPr>
        <p:spPr>
          <a:xfrm>
            <a:off x="795528" y="6053328"/>
            <a:ext cx="6949440" cy="27432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lang="en-US" sz="1250" b="1">
                <a:solidFill>
                  <a:srgbClr val="5B6770"/>
                </a:solidFill>
                <a:latin typeface="Consolas"/>
                <a:ea typeface="Consolas"/>
                <a:cs typeface="Consolas"/>
                <a:sym typeface="Consolas"/>
              </a:rPr>
              <a:t>PAPER  </a:t>
            </a:r>
            <a:r>
              <a:rPr lang="en-US" sz="1250" b="0">
                <a:solidFill>
                  <a:srgbClr val="2F6B78"/>
                </a:solidFill>
                <a:latin typeface="Consolas"/>
                <a:ea typeface="Consolas"/>
                <a:cs typeface="Consolas"/>
                <a:sym typeface="Consolas"/>
              </a:rPr>
              <a:t>arXiv:2506.01232</a:t>
            </a:r>
            <a:r>
              <a:rPr lang="en-US" sz="1250" b="1">
                <a:solidFill>
                  <a:srgbClr val="5B6770"/>
                </a:solidFill>
                <a:latin typeface="Consolas"/>
                <a:ea typeface="Consolas"/>
                <a:cs typeface="Consolas"/>
                <a:sym typeface="Consolas"/>
              </a:rPr>
              <a:t>        CODE  </a:t>
            </a:r>
            <a:r>
              <a:rPr lang="en-US" sz="1250" b="0">
                <a:solidFill>
                  <a:srgbClr val="2F6B78"/>
                </a:solidFill>
                <a:latin typeface="Consolas"/>
                <a:ea typeface="Consolas"/>
                <a:cs typeface="Consolas"/>
                <a:sym typeface="Consolas"/>
              </a:rPr>
              <a:t>github.com/NadeenAhmad/RIGOR</a:t>
            </a:r>
            <a:endParaRPr sz="1250">
              <a:solidFill>
                <a:srgbClr val="1F2328"/>
              </a:solidFill>
            </a:endParaRPr>
          </a:p>
        </p:txBody>
      </p:sp>
      <p:pic>
        <p:nvPicPr>
          <p:cNvPr descr="A relational table whose highlighted row is mapped by RIGOR to a node of an ontology graph" id="26" name="Google Shape;26;p1"/>
          <p:cNvPicPr preferRelativeResize="0"/>
          <p:nvPr/>
        </p:nvPicPr>
        <p:blipFill rotWithShape="1">
          <a:blip r:embed="rId3">
            <a:alphaModFix/>
          </a:blip>
          <a:srcRect b="0" l="0" r="0" t="0"/>
          <a:stretch/>
        </p:blipFill>
        <p:spPr>
          <a:xfrm>
            <a:off x="8427567" y="1325880"/>
            <a:ext cx="3429000" cy="3066585"/>
          </a:xfrm>
          <a:prstGeom prst="rect">
            <a:avLst/>
          </a:prstGeom>
          <a:noFill/>
          <a:ln>
            <a:noFill/>
          </a:ln>
        </p:spPr>
      </p:pic>
      <p:sp>
        <p:nvSpPr>
          <p:cNvPr id="27" name="Google Shape;27;p1"/>
          <p:cNvSpPr txBox="1"/>
          <p:nvPr/>
        </p:nvSpPr>
        <p:spPr>
          <a:xfrm>
            <a:off x="8233257" y="4502193"/>
            <a:ext cx="1828800" cy="256032"/>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None/>
            </a:pPr>
            <a:r>
              <a:rPr lang="en-US" sz="1300" b="1">
                <a:solidFill>
                  <a:srgbClr val="1F2328"/>
                </a:solidFill>
                <a:latin typeface="Consolas"/>
                <a:ea typeface="Consolas"/>
                <a:cs typeface="Consolas"/>
                <a:sym typeface="Consolas"/>
              </a:rPr>
              <a:t>relational database</a:t>
            </a:r>
            <a:endParaRPr sz="1300">
              <a:solidFill>
                <a:srgbClr val="1F2328"/>
              </a:solidFill>
            </a:endParaRPr>
          </a:p>
        </p:txBody>
      </p:sp>
      <p:sp>
        <p:nvSpPr>
          <p:cNvPr id="28" name="Google Shape;28;p1"/>
          <p:cNvSpPr txBox="1"/>
          <p:nvPr/>
        </p:nvSpPr>
        <p:spPr>
          <a:xfrm>
            <a:off x="10119207" y="4502193"/>
            <a:ext cx="1828800" cy="256032"/>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None/>
            </a:pPr>
            <a:r>
              <a:rPr lang="en-US" sz="1300" b="1">
                <a:solidFill>
                  <a:srgbClr val="1F2328"/>
                </a:solidFill>
                <a:latin typeface="Consolas"/>
                <a:ea typeface="Consolas"/>
                <a:cs typeface="Consolas"/>
                <a:sym typeface="Consolas"/>
              </a:rPr>
              <a:t>ontology</a:t>
            </a:r>
            <a:endParaRPr sz="1300">
              <a:solidFill>
                <a:srgbClr val="1F2328"/>
              </a:solidFill>
            </a:endParaRPr>
          </a:p>
        </p:txBody>
      </p:sp>
      <p:sp>
        <p:nvSpPr>
          <p:cNvPr id="68" name="Wordmark"/>
          <p:cNvSpPr txBox="1"/>
          <p:nvPr/>
        </p:nvSpPr>
        <p:spPr>
          <a:xfrm>
            <a:off x="768096" y="987552"/>
            <a:ext cx="6766560" cy="868680"/>
          </a:xfrm>
          <a:prstGeom prst="rect">
            <a:avLst/>
          </a:prstGeom>
          <a:noFill/>
        </p:spPr>
        <p:txBody>
          <a:bodyPr wrap="square" lIns="0" tIns="0" rIns="0" bIns="0" anchor="t">
            <a:noAutofit/>
          </a:bodyPr>
          <a:lstStyle/>
          <a:p>
            <a:pPr/>
            <a:r>
              <a:rPr lang="en-US" sz="5400" b="1" i="0" spc="300" dirty="0">
                <a:solidFill>
                  <a:srgbClr val="0B6E4F"/>
                </a:solidFill>
                <a:latin typeface="Cambria"/>
                <a:cs typeface="Cambria"/>
              </a:rPr>
              <a:t xml:space="preserve">RIGOR</a:t>
            </a:r>
          </a:p>
        </p:txBody>
      </p:sp>
      <p:sp>
        <p:nvSpPr>
          <p:cNvPr id="69" name="Authors"/>
          <p:cNvSpPr txBox="1"/>
          <p:nvPr/>
        </p:nvSpPr>
        <p:spPr>
          <a:xfrm>
            <a:off x="795528" y="3822191"/>
            <a:ext cx="6949440" cy="960120"/>
          </a:xfrm>
          <a:prstGeom prst="rect">
            <a:avLst/>
          </a:prstGeom>
          <a:noFill/>
        </p:spPr>
        <p:txBody>
          <a:bodyPr wrap="square" lIns="0" tIns="0" rIns="0" bIns="0" anchor="t">
            <a:noAutofit/>
          </a:bodyPr>
          <a:lstStyle/>
          <a:p>
            <a:pPr>
              <a:lnSpc>
                <a:spcPts val="2300"/>
              </a:lnSpc>
            </a:pPr>
            <a:r>
              <a:rPr lang="en-US" sz="1500" b="1" i="0" dirty="0">
                <a:solidFill>
                  <a:srgbClr val="1F2328"/>
                </a:solidFill>
                <a:latin typeface="Calibri"/>
                <a:cs typeface="Calibri"/>
              </a:rPr>
              <a:t xml:space="preserve">Nadeen Fathallah</a:t>
            </a:r>
            <a:r>
              <a:rPr lang="en-US" sz="1500" b="1" i="0" baseline="30000" dirty="0">
                <a:solidFill>
                  <a:srgbClr val="0B6E4F"/>
                </a:solidFill>
                <a:latin typeface="Calibri"/>
                <a:cs typeface="Calibri"/>
              </a:rPr>
              <a:t xml:space="preserve">1</a:t>
            </a:r>
            <a:r>
              <a:rPr lang="en-US" sz="1500" b="0" i="0" dirty="0">
                <a:solidFill>
                  <a:srgbClr val="6B747B"/>
                </a:solidFill>
                <a:latin typeface="Calibri"/>
                <a:cs typeface="Calibri"/>
              </a:rPr>
              <a:t xml:space="preserve">   ·   </a:t>
            </a:r>
            <a:r>
              <a:rPr lang="en-US" sz="1500" b="0" i="0" dirty="0">
                <a:solidFill>
                  <a:srgbClr val="3A434C"/>
                </a:solidFill>
                <a:latin typeface="Calibri"/>
                <a:cs typeface="Calibri"/>
              </a:rPr>
              <a:t xml:space="preserve">Mojtaba Nayyeri</a:t>
            </a:r>
            <a:r>
              <a:rPr lang="en-US" sz="1500" b="1" i="0" baseline="30000" dirty="0">
                <a:solidFill>
                  <a:srgbClr val="0B6E4F"/>
                </a:solidFill>
                <a:latin typeface="Calibri"/>
                <a:cs typeface="Calibri"/>
              </a:rPr>
              <a:t xml:space="preserve">1</a:t>
            </a:r>
            <a:r>
              <a:rPr lang="en-US" sz="1500" b="0" i="0" dirty="0">
                <a:solidFill>
                  <a:srgbClr val="6B747B"/>
                </a:solidFill>
                <a:latin typeface="Calibri"/>
                <a:cs typeface="Calibri"/>
              </a:rPr>
              <a:t xml:space="preserve">   ·   </a:t>
            </a:r>
            <a:r>
              <a:rPr lang="en-US" sz="1500" b="0" i="0" dirty="0">
                <a:solidFill>
                  <a:srgbClr val="3A434C"/>
                </a:solidFill>
                <a:latin typeface="Calibri"/>
                <a:cs typeface="Calibri"/>
              </a:rPr>
              <a:t xml:space="preserve">Athish A Yogi</a:t>
            </a:r>
            <a:r>
              <a:rPr lang="en-US" sz="1500" b="1" i="0" baseline="30000" dirty="0">
                <a:solidFill>
                  <a:srgbClr val="0B6E4F"/>
                </a:solidFill>
                <a:latin typeface="Calibri"/>
                <a:cs typeface="Calibri"/>
              </a:rPr>
              <a:t xml:space="preserve">1</a:t>
            </a:r>
          </a:p>
          <a:p>
            <a:pPr>
              <a:lnSpc>
                <a:spcPts val="2300"/>
              </a:lnSpc>
            </a:pPr>
            <a:r>
              <a:rPr lang="en-US" sz="1500" b="0" i="0" dirty="0">
                <a:solidFill>
                  <a:srgbClr val="3A434C"/>
                </a:solidFill>
                <a:latin typeface="Calibri"/>
                <a:cs typeface="Calibri"/>
              </a:rPr>
              <a:t xml:space="preserve">Ratan Bahadur Thapa</a:t>
            </a:r>
            <a:r>
              <a:rPr lang="en-US" sz="1500" b="1" i="0" baseline="30000" dirty="0">
                <a:solidFill>
                  <a:srgbClr val="0B6E4F"/>
                </a:solidFill>
                <a:latin typeface="Calibri"/>
                <a:cs typeface="Calibri"/>
              </a:rPr>
              <a:t xml:space="preserve">1</a:t>
            </a:r>
            <a:r>
              <a:rPr lang="en-US" sz="1500" b="0" i="0" dirty="0">
                <a:solidFill>
                  <a:srgbClr val="6B747B"/>
                </a:solidFill>
                <a:latin typeface="Calibri"/>
                <a:cs typeface="Calibri"/>
              </a:rPr>
              <a:t xml:space="preserve">   ·   </a:t>
            </a:r>
            <a:r>
              <a:rPr lang="en-US" sz="1500" b="0" i="0" dirty="0">
                <a:solidFill>
                  <a:srgbClr val="3A434C"/>
                </a:solidFill>
                <a:latin typeface="Calibri"/>
                <a:cs typeface="Calibri"/>
              </a:rPr>
              <a:t xml:space="preserve">Hans-Michael Tautenhahn</a:t>
            </a:r>
            <a:r>
              <a:rPr lang="en-US" sz="1500" b="1" i="0" baseline="30000" dirty="0">
                <a:solidFill>
                  <a:srgbClr val="0B6E4F"/>
                </a:solidFill>
                <a:latin typeface="Calibri"/>
                <a:cs typeface="Calibri"/>
              </a:rPr>
              <a:t xml:space="preserve">3</a:t>
            </a:r>
          </a:p>
          <a:p>
            <a:pPr>
              <a:lnSpc>
                <a:spcPts val="2300"/>
              </a:lnSpc>
            </a:pPr>
            <a:r>
              <a:rPr lang="en-US" sz="1500" b="0" i="0" dirty="0">
                <a:solidFill>
                  <a:srgbClr val="3A434C"/>
                </a:solidFill>
                <a:latin typeface="Calibri"/>
                <a:cs typeface="Calibri"/>
              </a:rPr>
              <a:t xml:space="preserve">Anton Schnurpel</a:t>
            </a:r>
            <a:r>
              <a:rPr lang="en-US" sz="1500" b="1" i="0" baseline="30000" dirty="0">
                <a:solidFill>
                  <a:srgbClr val="0B6E4F"/>
                </a:solidFill>
                <a:latin typeface="Calibri"/>
                <a:cs typeface="Calibri"/>
              </a:rPr>
              <a:t xml:space="preserve">3</a:t>
            </a:r>
            <a:r>
              <a:rPr lang="en-US" sz="1500" b="0" i="0" dirty="0">
                <a:solidFill>
                  <a:srgbClr val="6B747B"/>
                </a:solidFill>
                <a:latin typeface="Calibri"/>
                <a:cs typeface="Calibri"/>
              </a:rPr>
              <a:t xml:space="preserve">   ·   </a:t>
            </a:r>
            <a:r>
              <a:rPr lang="en-US" sz="1500" b="0" i="0" dirty="0">
                <a:solidFill>
                  <a:srgbClr val="3A434C"/>
                </a:solidFill>
                <a:latin typeface="Calibri"/>
                <a:cs typeface="Calibri"/>
              </a:rPr>
              <a:t xml:space="preserve">Steffen Staab</a:t>
            </a:r>
            <a:r>
              <a:rPr lang="en-US" sz="1500" b="1" i="0" baseline="30000" dirty="0">
                <a:solidFill>
                  <a:srgbClr val="0B6E4F"/>
                </a:solidFill>
                <a:latin typeface="Calibri"/>
                <a:cs typeface="Calibri"/>
              </a:rPr>
              <a:t xml:space="preserve">1,2</a:t>
            </a:r>
          </a:p>
        </p:txBody>
      </p:sp>
      <p:sp>
        <p:nvSpPr>
          <p:cNvPr id="70" name="Affiliations"/>
          <p:cNvSpPr txBox="1"/>
          <p:nvPr/>
        </p:nvSpPr>
        <p:spPr>
          <a:xfrm>
            <a:off x="795528" y="4919472"/>
            <a:ext cx="6949440" cy="731520"/>
          </a:xfrm>
          <a:prstGeom prst="rect">
            <a:avLst/>
          </a:prstGeom>
          <a:noFill/>
        </p:spPr>
        <p:txBody>
          <a:bodyPr wrap="square" lIns="0" tIns="0" rIns="0" bIns="0" anchor="t">
            <a:noAutofit/>
          </a:bodyPr>
          <a:lstStyle/>
          <a:p>
            <a:pPr>
              <a:lnSpc>
                <a:spcPts val="1700"/>
              </a:lnSpc>
            </a:pPr>
            <a:r>
              <a:rPr lang="en-US" sz="1200" b="1" i="0" baseline="30000" dirty="0">
                <a:solidFill>
                  <a:srgbClr val="0B6E4F"/>
                </a:solidFill>
                <a:latin typeface="Calibri"/>
                <a:cs typeface="Calibri"/>
              </a:rPr>
              <a:t xml:space="preserve">1</a:t>
            </a:r>
            <a:r>
              <a:rPr lang="en-US" sz="1200" b="0" i="0" dirty="0">
                <a:solidFill>
                  <a:srgbClr val="5B6770"/>
                </a:solidFill>
                <a:latin typeface="Calibri"/>
                <a:cs typeface="Calibri"/>
              </a:rPr>
              <a:t xml:space="preserve"> Institute for Artificial Intelligence, University of Stuttgart, Germany</a:t>
            </a:r>
          </a:p>
          <a:p>
            <a:pPr>
              <a:lnSpc>
                <a:spcPts val="1700"/>
              </a:lnSpc>
            </a:pPr>
            <a:r>
              <a:rPr lang="en-US" sz="1200" b="1" i="0" baseline="30000" dirty="0">
                <a:solidFill>
                  <a:srgbClr val="0B6E4F"/>
                </a:solidFill>
                <a:latin typeface="Calibri"/>
                <a:cs typeface="Calibri"/>
              </a:rPr>
              <a:t xml:space="preserve">2</a:t>
            </a:r>
            <a:r>
              <a:rPr lang="en-US" sz="1200" b="0" i="0" dirty="0">
                <a:solidFill>
                  <a:srgbClr val="5B6770"/>
                </a:solidFill>
                <a:latin typeface="Calibri"/>
                <a:cs typeface="Calibri"/>
              </a:rPr>
              <a:t xml:space="preserve"> University of Southampton, United Kingdom</a:t>
            </a:r>
          </a:p>
          <a:p>
            <a:pPr>
              <a:lnSpc>
                <a:spcPts val="1700"/>
              </a:lnSpc>
            </a:pPr>
            <a:r>
              <a:rPr lang="en-US" sz="1200" b="1" i="0" baseline="30000" dirty="0">
                <a:solidFill>
                  <a:srgbClr val="0B6E4F"/>
                </a:solidFill>
                <a:latin typeface="Calibri"/>
                <a:cs typeface="Calibri"/>
              </a:rPr>
              <a:t xml:space="preserve">3</a:t>
            </a:r>
            <a:r>
              <a:rPr lang="en-US" sz="1200" b="0" i="0" dirty="0">
                <a:solidFill>
                  <a:srgbClr val="5B6770"/>
                </a:solidFill>
                <a:latin typeface="Calibri"/>
                <a:cs typeface="Calibri"/>
              </a:rPr>
              <a:t xml:space="preserve"> Universitätsklinikum Leipzig, Germany</a:t>
            </a:r>
          </a:p>
        </p:txBody>
      </p:sp>
      <p:sp>
        <p:nvSpPr>
          <p:cNvPr id="71" name="RIGOR pill"/>
          <p:cNvSpPr/>
          <p:nvPr/>
        </p:nvSpPr>
        <p:spPr>
          <a:xfrm>
            <a:off x="10015194" y="2150512"/>
            <a:ext cx="768096" cy="274320"/>
          </a:xfrm>
          <a:prstGeom prst="roundRect">
            <a:avLst>
              <a:gd name="adj" fmla="val 12000"/>
            </a:avLst>
          </a:prstGeom>
          <a:solidFill>
            <a:srgbClr val="0B6E4F"/>
          </a:solidFill>
          <a:ln>
            <a:noFill/>
          </a:ln>
        </p:spPr>
        <p:txBody>
          <a:bodyPr wrap="square" lIns="0" tIns="0" rIns="0" bIns="0" anchor="ctr">
            <a:noAutofit/>
          </a:bodyPr>
          <a:lstStyle/>
          <a:p>
            <a:pPr algn="ctr"/>
            <a:r>
              <a:rPr lang="en-US" sz="1150" b="1" i="0" dirty="0">
                <a:solidFill>
                  <a:srgbClr val="FFFFFF"/>
                </a:solidFill>
                <a:latin typeface="Consolas"/>
                <a:cs typeface="Consolas"/>
              </a:rPr>
              <a:t xml:space="preserve">RIGOR</a:t>
            </a:r>
          </a:p>
        </p:txBody>
      </p:sp>
      <p:sp>
        <p:nvSpPr>
          <p:cNvPr id="72" name="Venue"/>
          <p:cNvSpPr txBox="1"/>
          <p:nvPr/>
        </p:nvSpPr>
        <p:spPr>
          <a:xfrm>
            <a:off x="8549640" y="5779008"/>
            <a:ext cx="3108960" cy="566928"/>
          </a:xfrm>
          <a:prstGeom prst="rect">
            <a:avLst/>
          </a:prstGeom>
          <a:noFill/>
        </p:spPr>
        <p:txBody>
          <a:bodyPr wrap="square" lIns="0" tIns="0" rIns="0" bIns="0" anchor="t">
            <a:noAutofit/>
          </a:bodyPr>
          <a:lstStyle/>
          <a:p>
            <a:pPr>
              <a:lnSpc>
                <a:spcPts val="2000"/>
              </a:lnSpc>
            </a:pPr>
            <a:r>
              <a:rPr lang="en-US" sz="1400" b="1" i="0" dirty="0">
                <a:solidFill>
                  <a:srgbClr val="0B6E4F"/>
                </a:solidFill>
                <a:latin typeface="Consolas"/>
                <a:cs typeface="Consolas"/>
              </a:rPr>
              <a:t xml:space="preserve">ISWC 2026</a:t>
            </a:r>
          </a:p>
          <a:p>
            <a:pPr>
              <a:lnSpc>
                <a:spcPts val="2000"/>
              </a:lnSpc>
            </a:pPr>
            <a:r>
              <a:rPr lang="en-US" sz="1300" b="0" i="0" dirty="0">
                <a:solidFill>
                  <a:srgbClr val="1F2328"/>
                </a:solidFill>
                <a:latin typeface="Calibri"/>
                <a:cs typeface="Calibri"/>
              </a:rPr>
              <a:t xml:space="preserve">Bari, Italy</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 name="Shape 33"/>
        <p:cNvGrpSpPr/>
        <p:nvPr/>
      </p:nvGrpSpPr>
      <p:grpSpPr>
        <a:xfrm>
          <a:off x="0" y="0"/>
          <a:ext cx="0" cy="0"/>
          <a:chOff x="0" y="0"/>
          <a:chExt cx="0" cy="0"/>
        </a:xfrm>
      </p:grpSpPr>
      <p:sp>
        <p:nvSpPr>
          <p:cNvPr id="34" name="Google Shape;34;p2"/>
          <p:cNvSpPr txBox="1"/>
          <p:nvPr/>
        </p:nvSpPr>
        <p:spPr>
          <a:xfrm>
            <a:off x="804672" y="521207"/>
            <a:ext cx="10789920" cy="31089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u="none" cap="none" strike="noStrike">
                <a:solidFill>
                  <a:srgbClr val="0B6E4F"/>
                </a:solidFill>
                <a:latin typeface="Consolas"/>
                <a:ea typeface="Consolas"/>
                <a:cs typeface="Consolas"/>
                <a:sym typeface="Consolas"/>
              </a:rPr>
              <a:t>MOTIVATION  /  ILLUSTRATIVE CLINICAL EXAMPLE</a:t>
            </a:r>
            <a:endParaRPr/>
          </a:p>
        </p:txBody>
      </p:sp>
      <p:sp>
        <p:nvSpPr>
          <p:cNvPr id="35" name="Google Shape;35;p2"/>
          <p:cNvSpPr txBox="1"/>
          <p:nvPr/>
        </p:nvSpPr>
        <p:spPr>
          <a:xfrm>
            <a:off x="804672" y="932688"/>
            <a:ext cx="10762488" cy="89611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000" u="none" cap="none" strike="noStrike">
                <a:solidFill>
                  <a:srgbClr val="1F2328"/>
                </a:solidFill>
                <a:latin typeface="Cambria"/>
                <a:ea typeface="Calibri"/>
                <a:cs typeface="Calibri"/>
                <a:sym typeface="Calibri"/>
              </a:rPr>
              <a:t>A database can tell us how data is stored.</a:t>
            </a:r>
            <a:endParaRPr/>
          </a:p>
          <a:p>
            <a:pPr indent="0" lvl="0" marL="0" marR="0" rtl="0" algn="l">
              <a:lnSpc>
                <a:spcPct val="100000"/>
              </a:lnSpc>
              <a:spcBef>
                <a:spcPts val="0"/>
              </a:spcBef>
              <a:spcAft>
                <a:spcPts val="0"/>
              </a:spcAft>
              <a:buNone/>
            </a:pPr>
            <a:r>
              <a:rPr b="1" i="0" lang="en-US" sz="3000" u="none" cap="none" strike="noStrike">
                <a:solidFill>
                  <a:srgbClr val="1F2328"/>
                </a:solidFill>
                <a:latin typeface="Cambria"/>
                <a:ea typeface="Calibri"/>
                <a:cs typeface="Calibri"/>
                <a:sym typeface="Calibri"/>
              </a:rPr>
              <a:t>Can it tell us what the data means?</a:t>
            </a:r>
            <a:endParaRPr/>
          </a:p>
        </p:txBody>
      </p:sp>
      <p:sp>
        <p:nvSpPr>
          <p:cNvPr id="36" name="Google Shape;36;p2"/>
          <p:cNvSpPr/>
          <p:nvPr/>
        </p:nvSpPr>
        <p:spPr>
          <a:xfrm>
            <a:off x="804672" y="2048256"/>
            <a:ext cx="5486400" cy="3273552"/>
          </a:xfrm>
          <a:prstGeom prst="roundRect">
            <a:avLst>
              <a:gd fmla="val 10000" name="adj"/>
            </a:avLst>
          </a:prstGeom>
          <a:solidFill>
            <a:srgbClr val="FFFFFF"/>
          </a:solidFill>
          <a:ln cap="flat" cmpd="sng" w="12700">
            <a:solidFill>
              <a:srgbClr val="D9DED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 name="Google Shape;37;p2"/>
          <p:cNvSpPr txBox="1"/>
          <p:nvPr/>
        </p:nvSpPr>
        <p:spPr>
          <a:xfrm>
            <a:off x="1069848" y="2276856"/>
            <a:ext cx="4928616" cy="27432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500" u="none" cap="none" strike="noStrike">
                <a:solidFill>
                  <a:srgbClr val="5B6770"/>
                </a:solidFill>
                <a:latin typeface="Consolas"/>
                <a:ea typeface="Consolas"/>
                <a:cs typeface="Consolas"/>
                <a:sym typeface="Consolas"/>
              </a:rPr>
              <a:t>RELATIONAL SCHEMA · EXCERPT</a:t>
            </a:r>
            <a:endParaRPr/>
          </a:p>
        </p:txBody>
      </p:sp>
      <p:sp>
        <p:nvSpPr>
          <p:cNvPr id="50" name="Google Shape;50;p2"/>
          <p:cNvSpPr txBox="1"/>
          <p:nvPr/>
        </p:nvSpPr>
        <p:spPr>
          <a:xfrm>
            <a:off x="6665976" y="2176272"/>
            <a:ext cx="4809744" cy="29260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520" u="none" cap="none" strike="noStrike">
                <a:solidFill>
                  <a:srgbClr val="5B6770"/>
                </a:solidFill>
                <a:latin typeface="Consolas"/>
                <a:ea typeface="Consolas"/>
                <a:cs typeface="Consolas"/>
                <a:sym typeface="Consolas"/>
              </a:rPr>
              <a:t>WHAT WE STILL NEED TO UNDERSTAND</a:t>
            </a:r>
            <a:endParaRPr/>
          </a:p>
        </p:txBody>
      </p:sp>
      <p:sp>
        <p:nvSpPr>
          <p:cNvPr id="51" name="Google Shape;51;p2"/>
          <p:cNvSpPr/>
          <p:nvPr/>
        </p:nvSpPr>
        <p:spPr>
          <a:xfrm>
            <a:off x="6684264" y="2642616"/>
            <a:ext cx="4718304" cy="795528"/>
          </a:xfrm>
          <a:prstGeom prst="roundRect">
            <a:avLst>
              <a:gd fmla="val 10000" name="adj"/>
            </a:avLst>
          </a:prstGeom>
          <a:solidFill>
            <a:srgbClr val="F3F5F4"/>
          </a:solidFill>
          <a:ln cap="flat" cmpd="sng" w="12700">
            <a:solidFill>
              <a:srgbClr val="D9DED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 name="Google Shape;52;p2"/>
          <p:cNvSpPr/>
          <p:nvPr/>
        </p:nvSpPr>
        <p:spPr>
          <a:xfrm>
            <a:off x="6858000" y="2880360"/>
            <a:ext cx="310896" cy="310896"/>
          </a:xfrm>
          <a:prstGeom prst="ellipse">
            <a:avLst/>
          </a:prstGeom>
          <a:solidFill>
            <a:srgbClr val="E9EEEB"/>
          </a:solidFill>
          <a:ln cap="flat" cmpd="sng" w="12700">
            <a:solidFill>
              <a:srgbClr val="3A7D8C"/>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 name="Google Shape;53;p2"/>
          <p:cNvSpPr txBox="1"/>
          <p:nvPr/>
        </p:nvSpPr>
        <p:spPr>
          <a:xfrm>
            <a:off x="6894576" y="2880360"/>
            <a:ext cx="310896" cy="256032"/>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None/>
            </a:pPr>
            <a:r>
              <a:rPr b="1" i="0" lang="en-US" sz="1400" u="none" cap="none" strike="noStrike">
                <a:solidFill>
                  <a:srgbClr val="2F6B78"/>
                </a:solidFill>
                <a:latin typeface="Consolas"/>
                <a:ea typeface="Consolas"/>
                <a:cs typeface="Consolas"/>
                <a:sym typeface="Consolas"/>
              </a:rPr>
              <a:t>01</a:t>
            </a:r>
            <a:endParaRPr/>
          </a:p>
        </p:txBody>
      </p:sp>
      <p:sp>
        <p:nvSpPr>
          <p:cNvPr id="54" name="Google Shape;54;p2"/>
          <p:cNvSpPr txBox="1"/>
          <p:nvPr/>
        </p:nvSpPr>
        <p:spPr>
          <a:xfrm>
            <a:off x="7324344" y="2761488"/>
            <a:ext cx="1408176"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0B6E4F"/>
                </a:solidFill>
                <a:latin typeface="Consolas"/>
                <a:ea typeface="Consolas"/>
                <a:cs typeface="Consolas"/>
                <a:sym typeface="Consolas"/>
              </a:rPr>
              <a:t>patient_id</a:t>
            </a:r>
            <a:endParaRPr/>
          </a:p>
        </p:txBody>
      </p:sp>
      <p:sp>
        <p:nvSpPr>
          <p:cNvPr id="55" name="Google Shape;55;p2"/>
          <p:cNvSpPr txBox="1"/>
          <p:nvPr/>
        </p:nvSpPr>
        <p:spPr>
          <a:xfrm>
            <a:off x="8677656" y="2752344"/>
            <a:ext cx="2596896" cy="557784"/>
          </a:xfrm>
          <a:prstGeom prst="rect">
            <a:avLst/>
          </a:prstGeom>
          <a:noFill/>
          <a:ln>
            <a:noFill/>
          </a:ln>
        </p:spPr>
        <p:txBody>
          <a:bodyPr anchorCtr="0" anchor="ctr" bIns="0" lIns="0" spcFirstLastPara="1" rIns="0" wrap="none" tIns="0">
            <a:spAutoFit/>
          </a:bodyPr>
          <a:lstStyle/>
          <a:p>
            <a:pPr indent="0" lvl="0" marL="0" marR="0" rtl="0" algn="l">
              <a:lnSpc>
                <a:spcPct val="100000"/>
              </a:lnSpc>
              <a:spcBef>
                <a:spcPts val="0"/>
              </a:spcBef>
              <a:spcAft>
                <a:spcPts val="0"/>
              </a:spcAft>
              <a:buNone/>
            </a:pPr>
            <a:r>
              <a:rPr sz="1450">
                <a:solidFill>
                  <a:srgbClr val="1F2328"/>
                </a:solidFill>
                <a:latin typeface="Calibri"/>
              </a:rPr>
              <a:t>How do we represent the link</a:t>
            </a:r>
            <a:endParaRPr/>
          </a:p>
          <a:p>
            <a:pPr algn="l">
              <a:spcBef>
                <a:spcPts val="0"/>
              </a:spcBef>
              <a:spcAft>
                <a:spcPts val="0"/>
              </a:spcAft>
            </a:pPr>
            <a:r>
              <a:rPr sz="1450">
                <a:solidFill>
                  <a:srgbClr val="1F2328"/>
                </a:solidFill>
                <a:latin typeface="Calibri"/>
              </a:rPr>
              <a:t>from an admission to its patient?</a:t>
            </a:r>
          </a:p>
        </p:txBody>
      </p:sp>
      <p:sp>
        <p:nvSpPr>
          <p:cNvPr id="56" name="Google Shape;56;p2"/>
          <p:cNvSpPr/>
          <p:nvPr/>
        </p:nvSpPr>
        <p:spPr>
          <a:xfrm>
            <a:off x="6684264" y="3557016"/>
            <a:ext cx="4718304" cy="795528"/>
          </a:xfrm>
          <a:prstGeom prst="roundRect">
            <a:avLst>
              <a:gd fmla="val 10000" name="adj"/>
            </a:avLst>
          </a:prstGeom>
          <a:solidFill>
            <a:srgbClr val="F3F5F4"/>
          </a:solidFill>
          <a:ln cap="flat" cmpd="sng" w="12700">
            <a:solidFill>
              <a:srgbClr val="D9DED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7" name="Google Shape;57;p2"/>
          <p:cNvSpPr/>
          <p:nvPr/>
        </p:nvSpPr>
        <p:spPr>
          <a:xfrm>
            <a:off x="6858000" y="3794760"/>
            <a:ext cx="310896" cy="310896"/>
          </a:xfrm>
          <a:prstGeom prst="ellipse">
            <a:avLst/>
          </a:prstGeom>
          <a:solidFill>
            <a:srgbClr val="E9EEEB"/>
          </a:solidFill>
          <a:ln cap="flat" cmpd="sng" w="12700">
            <a:solidFill>
              <a:srgbClr val="3A7D8C"/>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8" name="Google Shape;58;p2"/>
          <p:cNvSpPr txBox="1"/>
          <p:nvPr/>
        </p:nvSpPr>
        <p:spPr>
          <a:xfrm>
            <a:off x="6894576" y="3794760"/>
            <a:ext cx="310896" cy="256032"/>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None/>
            </a:pPr>
            <a:r>
              <a:rPr b="1" i="0" lang="en-US" sz="1400" u="none" cap="none" strike="noStrike">
                <a:solidFill>
                  <a:srgbClr val="2F6B78"/>
                </a:solidFill>
                <a:latin typeface="Consolas"/>
                <a:ea typeface="Consolas"/>
                <a:cs typeface="Consolas"/>
                <a:sym typeface="Consolas"/>
              </a:rPr>
              <a:t>02</a:t>
            </a:r>
            <a:endParaRPr/>
          </a:p>
        </p:txBody>
      </p:sp>
      <p:sp>
        <p:nvSpPr>
          <p:cNvPr id="59" name="Google Shape;59;p2"/>
          <p:cNvSpPr txBox="1"/>
          <p:nvPr/>
        </p:nvSpPr>
        <p:spPr>
          <a:xfrm>
            <a:off x="7324344" y="3675888"/>
            <a:ext cx="1408176"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0B6E4F"/>
                </a:solidFill>
                <a:latin typeface="Consolas"/>
                <a:ea typeface="Consolas"/>
                <a:cs typeface="Consolas"/>
                <a:sym typeface="Consolas"/>
              </a:rPr>
              <a:t>BM_DEP</a:t>
            </a:r>
            <a:endParaRPr/>
          </a:p>
        </p:txBody>
      </p:sp>
      <p:sp>
        <p:nvSpPr>
          <p:cNvPr id="60" name="Google Shape;60;p2"/>
          <p:cNvSpPr txBox="1"/>
          <p:nvPr/>
        </p:nvSpPr>
        <p:spPr>
          <a:xfrm>
            <a:off x="8695944" y="3639312"/>
            <a:ext cx="2514600" cy="57607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500" u="none" cap="none" strike="noStrike">
                <a:solidFill>
                  <a:srgbClr val="1F2328"/>
                </a:solidFill>
                <a:latin typeface="Calibri"/>
                <a:ea typeface="Calibri"/>
                <a:cs typeface="Calibri"/>
                <a:sym typeface="Calibri"/>
              </a:rPr>
              <a:t>Which clinical concept</a:t>
            </a:r>
            <a:endParaRPr/>
          </a:p>
          <a:p>
            <a:pPr indent="0" lvl="0" marL="0" marR="0" rtl="0" algn="l">
              <a:lnSpc>
                <a:spcPct val="100000"/>
              </a:lnSpc>
              <a:spcBef>
                <a:spcPts val="0"/>
              </a:spcBef>
              <a:spcAft>
                <a:spcPts val="0"/>
              </a:spcAft>
              <a:buNone/>
            </a:pPr>
            <a:r>
              <a:rPr b="0" i="0" lang="en-US" sz="1500" u="none" cap="none" strike="noStrike">
                <a:solidFill>
                  <a:srgbClr val="1F2328"/>
                </a:solidFill>
                <a:latin typeface="Calibri"/>
                <a:ea typeface="Calibri"/>
                <a:cs typeface="Calibri"/>
                <a:sym typeface="Calibri"/>
              </a:rPr>
              <a:t>does this abbreviation mean?</a:t>
            </a:r>
            <a:endParaRPr/>
          </a:p>
        </p:txBody>
      </p:sp>
      <p:sp>
        <p:nvSpPr>
          <p:cNvPr id="61" name="Google Shape;61;p2"/>
          <p:cNvSpPr/>
          <p:nvPr/>
        </p:nvSpPr>
        <p:spPr>
          <a:xfrm>
            <a:off x="6684264" y="4471416"/>
            <a:ext cx="4718304" cy="795528"/>
          </a:xfrm>
          <a:prstGeom prst="roundRect">
            <a:avLst>
              <a:gd fmla="val 10000" name="adj"/>
            </a:avLst>
          </a:prstGeom>
          <a:solidFill>
            <a:srgbClr val="F3F5F4"/>
          </a:solidFill>
          <a:ln cap="flat" cmpd="sng" w="12700">
            <a:solidFill>
              <a:srgbClr val="D9DED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2" name="Google Shape;62;p2"/>
          <p:cNvSpPr/>
          <p:nvPr/>
        </p:nvSpPr>
        <p:spPr>
          <a:xfrm>
            <a:off x="6858000" y="4709160"/>
            <a:ext cx="310896" cy="310896"/>
          </a:xfrm>
          <a:prstGeom prst="ellipse">
            <a:avLst/>
          </a:prstGeom>
          <a:solidFill>
            <a:srgbClr val="E9EEEB"/>
          </a:solidFill>
          <a:ln cap="flat" cmpd="sng" w="12700">
            <a:solidFill>
              <a:srgbClr val="3A7D8C"/>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 name="Google Shape;63;p2"/>
          <p:cNvSpPr txBox="1"/>
          <p:nvPr/>
        </p:nvSpPr>
        <p:spPr>
          <a:xfrm>
            <a:off x="6894576" y="4709160"/>
            <a:ext cx="310896" cy="256032"/>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None/>
            </a:pPr>
            <a:r>
              <a:rPr b="1" i="0" lang="en-US" sz="1400" u="none" cap="none" strike="noStrike">
                <a:solidFill>
                  <a:srgbClr val="2F6B78"/>
                </a:solidFill>
                <a:latin typeface="Consolas"/>
                <a:ea typeface="Consolas"/>
                <a:cs typeface="Consolas"/>
                <a:sym typeface="Consolas"/>
              </a:rPr>
              <a:t>03</a:t>
            </a:r>
            <a:endParaRPr/>
          </a:p>
        </p:txBody>
      </p:sp>
      <p:sp>
        <p:nvSpPr>
          <p:cNvPr id="64" name="Google Shape;64;p2"/>
          <p:cNvSpPr txBox="1"/>
          <p:nvPr/>
        </p:nvSpPr>
        <p:spPr>
          <a:xfrm>
            <a:off x="7324344" y="4590288"/>
            <a:ext cx="1408176"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0B6E4F"/>
                </a:solidFill>
                <a:latin typeface="Consolas"/>
                <a:ea typeface="Consolas"/>
                <a:cs typeface="Consolas"/>
                <a:sym typeface="Consolas"/>
              </a:rPr>
              <a:t>ecog_stage</a:t>
            </a:r>
            <a:endParaRPr/>
          </a:p>
        </p:txBody>
      </p:sp>
      <p:sp>
        <p:nvSpPr>
          <p:cNvPr id="65" name="Google Shape;65;p2"/>
          <p:cNvSpPr txBox="1"/>
          <p:nvPr/>
        </p:nvSpPr>
        <p:spPr>
          <a:xfrm>
            <a:off x="8695944" y="4553712"/>
            <a:ext cx="2514600" cy="57607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500" u="none" cap="none" strike="noStrike">
                <a:solidFill>
                  <a:srgbClr val="1F2328"/>
                </a:solidFill>
                <a:latin typeface="Calibri"/>
                <a:ea typeface="Calibri"/>
                <a:cs typeface="Calibri"/>
                <a:sym typeface="Calibri"/>
              </a:rPr>
              <a:t>What do the encoded</a:t>
            </a:r>
            <a:endParaRPr/>
          </a:p>
          <a:p>
            <a:pPr indent="0" lvl="0" marL="0" marR="0" rtl="0" algn="l">
              <a:lnSpc>
                <a:spcPct val="100000"/>
              </a:lnSpc>
              <a:spcBef>
                <a:spcPts val="0"/>
              </a:spcBef>
              <a:spcAft>
                <a:spcPts val="0"/>
              </a:spcAft>
              <a:buNone/>
            </a:pPr>
            <a:r>
              <a:rPr b="0" i="0" lang="en-US" sz="1500" u="none" cap="none" strike="noStrike">
                <a:solidFill>
                  <a:srgbClr val="1F2328"/>
                </a:solidFill>
                <a:latin typeface="Calibri"/>
                <a:ea typeface="Calibri"/>
                <a:cs typeface="Calibri"/>
                <a:sym typeface="Calibri"/>
              </a:rPr>
              <a:t>score values mean?</a:t>
            </a:r>
            <a:endParaRPr/>
          </a:p>
        </p:txBody>
      </p:sp>
      <p:sp>
        <p:nvSpPr>
          <p:cNvPr id="66" name="Google Shape;66;p2"/>
          <p:cNvSpPr txBox="1"/>
          <p:nvPr/>
        </p:nvSpPr>
        <p:spPr>
          <a:xfrm>
            <a:off x="804672" y="5632704"/>
            <a:ext cx="10588752" cy="32918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600" u="none" cap="none" strike="noStrike">
                <a:solidFill>
                  <a:srgbClr val="1F2328"/>
                </a:solidFill>
                <a:latin typeface="Calibri"/>
                <a:ea typeface="Calibri"/>
                <a:cs typeface="Calibri"/>
                <a:sym typeface="Calibri"/>
              </a:rPr>
              <a:t>Those meanings matter for ontology-based access, knowledge graphs and integration.</a:t>
            </a:r>
            <a:endParaRPr/>
          </a:p>
        </p:txBody>
      </p:sp>
      <p:sp>
        <p:nvSpPr>
          <p:cNvPr id="67" name="Google Shape;67;p2"/>
          <p:cNvSpPr txBox="1"/>
          <p:nvPr/>
        </p:nvSpPr>
        <p:spPr>
          <a:xfrm>
            <a:off x="4992624" y="3218688"/>
            <a:ext cx="704088"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50" u="none" cap="none" strike="noStrike">
                <a:solidFill>
                  <a:srgbClr val="3A434C"/>
                </a:solidFill>
                <a:latin typeface="Consolas"/>
                <a:ea typeface="Consolas"/>
                <a:cs typeface="Consolas"/>
                <a:sym typeface="Consolas"/>
              </a:rPr>
              <a:t>FK</a:t>
            </a:r>
            <a:endParaRPr/>
          </a:p>
        </p:txBody>
      </p:sp>
      <p:sp>
        <p:nvSpPr>
          <p:cNvPr id="68" name="Google Shape;68;p2"/>
          <p:cNvSpPr txBox="1"/>
          <p:nvPr/>
        </p:nvSpPr>
        <p:spPr>
          <a:xfrm>
            <a:off x="4992624" y="3575304"/>
            <a:ext cx="704088"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550">
                <a:solidFill>
                  <a:srgbClr val="3A434C"/>
                </a:solidFill>
                <a:latin typeface="Consolas"/>
                <a:ea typeface="Consolas"/>
                <a:cs typeface="Consolas"/>
                <a:sym typeface="Consolas"/>
              </a:rPr>
              <a:t>INT</a:t>
            </a:r>
            <a:endParaRPr/>
          </a:p>
        </p:txBody>
      </p:sp>
      <p:sp>
        <p:nvSpPr>
          <p:cNvPr id="69" name="Google Shape;69;p2"/>
          <p:cNvSpPr txBox="1"/>
          <p:nvPr/>
        </p:nvSpPr>
        <p:spPr>
          <a:xfrm>
            <a:off x="4992624" y="3931920"/>
            <a:ext cx="704088"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550">
                <a:solidFill>
                  <a:srgbClr val="3A434C"/>
                </a:solidFill>
                <a:latin typeface="Consolas"/>
                <a:ea typeface="Consolas"/>
                <a:cs typeface="Consolas"/>
                <a:sym typeface="Consolas"/>
              </a:rPr>
              <a:t>INT</a:t>
            </a:r>
            <a:endParaRPr/>
          </a:p>
        </p:txBody>
      </p:sp>
      <p:sp>
        <p:nvSpPr>
          <p:cNvPr id="70" name="Rounded Rectangle 69"/>
          <p:cNvSpPr/>
          <p:nvPr/>
        </p:nvSpPr>
        <p:spPr>
          <a:xfrm>
            <a:off x="1051560" y="2660904"/>
            <a:ext cx="1883664" cy="1673352"/>
          </a:xfrm>
          <a:prstGeom prst="roundRect">
            <a:avLst/>
          </a:prstGeom>
          <a:solidFill>
            <a:srgbClr val="E9EE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3383280" y="2660904"/>
            <a:ext cx="2615184" cy="1673352"/>
          </a:xfrm>
          <a:prstGeom prst="roundRect">
            <a:avLst/>
          </a:prstGeom>
          <a:solidFill>
            <a:srgbClr val="E9EE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1197864" y="2770632"/>
            <a:ext cx="1655064" cy="292608"/>
          </a:xfrm>
          <a:prstGeom prst="rect">
            <a:avLst/>
          </a:prstGeom>
          <a:noFill/>
        </p:spPr>
        <p:txBody>
          <a:bodyPr wrap="square" lIns="0" rIns="0" tIns="0" bIns="0" anchor="ctr">
            <a:spAutoFit/>
          </a:bodyPr>
          <a:lstStyle/>
          <a:p>
            <a:pPr algn="l"/>
            <a:r>
              <a:rPr sz="1900" b="1">
                <a:solidFill>
                  <a:srgbClr val="1F2328"/>
                </a:solidFill>
                <a:latin typeface="Calibri"/>
              </a:rPr>
              <a:t>PatientData</a:t>
            </a:r>
          </a:p>
        </p:txBody>
      </p:sp>
      <p:sp>
        <p:nvSpPr>
          <p:cNvPr id="73" name="TextBox 72"/>
          <p:cNvSpPr txBox="1"/>
          <p:nvPr/>
        </p:nvSpPr>
        <p:spPr>
          <a:xfrm>
            <a:off x="3547872" y="2770632"/>
            <a:ext cx="2267712" cy="292608"/>
          </a:xfrm>
          <a:prstGeom prst="rect">
            <a:avLst/>
          </a:prstGeom>
          <a:noFill/>
        </p:spPr>
        <p:txBody>
          <a:bodyPr wrap="square" lIns="0" rIns="0" tIns="0" bIns="0" anchor="ctr">
            <a:spAutoFit/>
          </a:bodyPr>
          <a:lstStyle/>
          <a:p>
            <a:pPr algn="l"/>
            <a:r>
              <a:rPr sz="2200" b="1">
                <a:solidFill>
                  <a:srgbClr val="1F2328"/>
                </a:solidFill>
                <a:latin typeface="Calibri"/>
              </a:rPr>
              <a:t>admission</a:t>
            </a:r>
          </a:p>
        </p:txBody>
      </p:sp>
      <p:cxnSp>
        <p:nvCxnSpPr>
          <p:cNvPr id="74" name="Connector 73"/>
          <p:cNvCxnSpPr/>
          <p:nvPr/>
        </p:nvCxnSpPr>
        <p:spPr>
          <a:xfrm>
            <a:off x="1188720" y="3154680"/>
            <a:ext cx="1609344" cy="0"/>
          </a:xfrm>
          <a:prstGeom prst="line">
            <a:avLst/>
          </a:prstGeom>
          <a:ln w="12700">
            <a:solidFill>
              <a:srgbClr val="8E989E"/>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3529584" y="3154680"/>
            <a:ext cx="2313432" cy="0"/>
          </a:xfrm>
          <a:prstGeom prst="line">
            <a:avLst/>
          </a:prstGeom>
          <a:ln w="12700">
            <a:solidFill>
              <a:srgbClr val="8E989E"/>
            </a:solidFill>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1197864" y="3264408"/>
            <a:ext cx="1097280" cy="237744"/>
          </a:xfrm>
          <a:prstGeom prst="rect">
            <a:avLst/>
          </a:prstGeom>
          <a:noFill/>
        </p:spPr>
        <p:txBody>
          <a:bodyPr wrap="square" lIns="0" rIns="0" tIns="0" bIns="0" anchor="ctr">
            <a:spAutoFit/>
          </a:bodyPr>
          <a:lstStyle/>
          <a:p>
            <a:pPr algn="l"/>
            <a:r>
              <a:rPr sz="1500" b="0">
                <a:solidFill>
                  <a:srgbClr val="1F2328"/>
                </a:solidFill>
                <a:latin typeface="Calibri"/>
              </a:rPr>
              <a:t>patient_id</a:t>
            </a:r>
          </a:p>
        </p:txBody>
      </p:sp>
      <p:sp>
        <p:nvSpPr>
          <p:cNvPr id="77" name="TextBox 76"/>
          <p:cNvSpPr txBox="1"/>
          <p:nvPr/>
        </p:nvSpPr>
        <p:spPr>
          <a:xfrm>
            <a:off x="2468880" y="3264408"/>
            <a:ext cx="301752" cy="237744"/>
          </a:xfrm>
          <a:prstGeom prst="rect">
            <a:avLst/>
          </a:prstGeom>
          <a:noFill/>
        </p:spPr>
        <p:txBody>
          <a:bodyPr wrap="square" lIns="0" rIns="0" tIns="0" bIns="0" anchor="ctr">
            <a:spAutoFit/>
          </a:bodyPr>
          <a:lstStyle/>
          <a:p>
            <a:pPr algn="l"/>
            <a:r>
              <a:rPr sz="1400" b="0">
                <a:solidFill>
                  <a:srgbClr val="5B6770"/>
                </a:solidFill>
                <a:latin typeface="Calibri"/>
              </a:rPr>
              <a:t>PK</a:t>
            </a:r>
          </a:p>
        </p:txBody>
      </p:sp>
      <p:sp>
        <p:nvSpPr>
          <p:cNvPr id="78" name="TextBox 77"/>
          <p:cNvSpPr txBox="1"/>
          <p:nvPr/>
        </p:nvSpPr>
        <p:spPr>
          <a:xfrm>
            <a:off x="3547872" y="3264408"/>
            <a:ext cx="1417320" cy="237744"/>
          </a:xfrm>
          <a:prstGeom prst="rect">
            <a:avLst/>
          </a:prstGeom>
          <a:noFill/>
        </p:spPr>
        <p:txBody>
          <a:bodyPr wrap="square" lIns="0" rIns="0" tIns="0" bIns="0" anchor="ctr">
            <a:spAutoFit/>
          </a:bodyPr>
          <a:lstStyle/>
          <a:p>
            <a:pPr algn="l"/>
            <a:r>
              <a:rPr sz="1600" b="1">
                <a:solidFill>
                  <a:srgbClr val="0B6E4F"/>
                </a:solidFill>
                <a:latin typeface="Calibri"/>
              </a:rPr>
              <a:t>patient_id</a:t>
            </a:r>
          </a:p>
        </p:txBody>
      </p:sp>
      <p:sp>
        <p:nvSpPr>
          <p:cNvPr id="79" name="TextBox 78"/>
          <p:cNvSpPr txBox="1"/>
          <p:nvPr/>
        </p:nvSpPr>
        <p:spPr>
          <a:xfrm>
            <a:off x="5294376" y="3264408"/>
            <a:ext cx="457200" cy="237744"/>
          </a:xfrm>
          <a:prstGeom prst="rect">
            <a:avLst/>
          </a:prstGeom>
          <a:noFill/>
        </p:spPr>
        <p:txBody>
          <a:bodyPr wrap="square" lIns="0" rIns="0" tIns="0" bIns="0" anchor="ctr">
            <a:spAutoFit/>
          </a:bodyPr>
          <a:lstStyle/>
          <a:p>
            <a:pPr algn="l"/>
            <a:r>
              <a:rPr sz="1500" b="0">
                <a:solidFill>
                  <a:srgbClr val="5B6770"/>
                </a:solidFill>
                <a:latin typeface="Calibri"/>
              </a:rPr>
              <a:t>FK</a:t>
            </a:r>
          </a:p>
        </p:txBody>
      </p:sp>
      <p:sp>
        <p:nvSpPr>
          <p:cNvPr id="80" name="TextBox 79"/>
          <p:cNvSpPr txBox="1"/>
          <p:nvPr/>
        </p:nvSpPr>
        <p:spPr>
          <a:xfrm>
            <a:off x="3547872" y="3611880"/>
            <a:ext cx="1417320" cy="237744"/>
          </a:xfrm>
          <a:prstGeom prst="rect">
            <a:avLst/>
          </a:prstGeom>
          <a:noFill/>
        </p:spPr>
        <p:txBody>
          <a:bodyPr wrap="square" lIns="0" rIns="0" tIns="0" bIns="0" anchor="ctr">
            <a:spAutoFit/>
          </a:bodyPr>
          <a:lstStyle/>
          <a:p>
            <a:pPr algn="l"/>
            <a:r>
              <a:rPr sz="1600" b="1">
                <a:solidFill>
                  <a:srgbClr val="0B6E4F"/>
                </a:solidFill>
                <a:latin typeface="Calibri"/>
              </a:rPr>
              <a:t>BM_DEP</a:t>
            </a:r>
          </a:p>
        </p:txBody>
      </p:sp>
      <p:sp>
        <p:nvSpPr>
          <p:cNvPr id="81" name="TextBox 80"/>
          <p:cNvSpPr txBox="1"/>
          <p:nvPr/>
        </p:nvSpPr>
        <p:spPr>
          <a:xfrm>
            <a:off x="5294376" y="3611880"/>
            <a:ext cx="457200" cy="237744"/>
          </a:xfrm>
          <a:prstGeom prst="rect">
            <a:avLst/>
          </a:prstGeom>
          <a:noFill/>
        </p:spPr>
        <p:txBody>
          <a:bodyPr wrap="square" lIns="0" rIns="0" tIns="0" bIns="0" anchor="ctr">
            <a:spAutoFit/>
          </a:bodyPr>
          <a:lstStyle/>
          <a:p>
            <a:pPr algn="l"/>
            <a:r>
              <a:rPr sz="1500" b="0">
                <a:solidFill>
                  <a:srgbClr val="5B6770"/>
                </a:solidFill>
                <a:latin typeface="Calibri"/>
              </a:rPr>
              <a:t>INT</a:t>
            </a:r>
          </a:p>
        </p:txBody>
      </p:sp>
      <p:sp>
        <p:nvSpPr>
          <p:cNvPr id="82" name="TextBox 81"/>
          <p:cNvSpPr txBox="1"/>
          <p:nvPr/>
        </p:nvSpPr>
        <p:spPr>
          <a:xfrm>
            <a:off x="3547872" y="3959352"/>
            <a:ext cx="1417320" cy="237744"/>
          </a:xfrm>
          <a:prstGeom prst="rect">
            <a:avLst/>
          </a:prstGeom>
          <a:noFill/>
        </p:spPr>
        <p:txBody>
          <a:bodyPr wrap="square" lIns="0" rIns="0" tIns="0" bIns="0" anchor="ctr">
            <a:spAutoFit/>
          </a:bodyPr>
          <a:lstStyle/>
          <a:p>
            <a:pPr algn="l"/>
            <a:r>
              <a:rPr sz="1500" b="1">
                <a:solidFill>
                  <a:srgbClr val="0B6E4F"/>
                </a:solidFill>
                <a:latin typeface="Calibri"/>
              </a:rPr>
              <a:t>ecog_stage</a:t>
            </a:r>
          </a:p>
        </p:txBody>
      </p:sp>
      <p:sp>
        <p:nvSpPr>
          <p:cNvPr id="83" name="TextBox 82"/>
          <p:cNvSpPr txBox="1"/>
          <p:nvPr/>
        </p:nvSpPr>
        <p:spPr>
          <a:xfrm>
            <a:off x="5294376" y="3959352"/>
            <a:ext cx="457200" cy="237744"/>
          </a:xfrm>
          <a:prstGeom prst="rect">
            <a:avLst/>
          </a:prstGeom>
          <a:noFill/>
        </p:spPr>
        <p:txBody>
          <a:bodyPr wrap="square" lIns="0" rIns="0" tIns="0" bIns="0" anchor="ctr">
            <a:spAutoFit/>
          </a:bodyPr>
          <a:lstStyle/>
          <a:p>
            <a:pPr algn="l"/>
            <a:r>
              <a:rPr sz="1500" b="0">
                <a:solidFill>
                  <a:srgbClr val="5B6770"/>
                </a:solidFill>
                <a:latin typeface="Calibri"/>
              </a:rPr>
              <a:t>INT</a:t>
            </a:r>
          </a:p>
        </p:txBody>
      </p:sp>
      <p:cxnSp>
        <p:nvCxnSpPr>
          <p:cNvPr id="85" name="Connector 84"/>
          <p:cNvCxnSpPr/>
          <p:nvPr/>
        </p:nvCxnSpPr>
        <p:spPr>
          <a:xfrm flipH="1">
            <a:off x="2907792" y="3401568"/>
            <a:ext cx="466344" cy="0"/>
          </a:xfrm>
          <a:prstGeom prst="line">
            <a:avLst/>
          </a:prstGeom>
          <a:ln w="31750">
            <a:solidFill>
              <a:srgbClr val="3A7D8C"/>
            </a:solidFill>
          </a:ln>
        </p:spPr>
        <p:style>
          <a:lnRef idx="2">
            <a:schemeClr val="accent1"/>
          </a:lnRef>
          <a:fillRef idx="0">
            <a:schemeClr val="accent1"/>
          </a:fillRef>
          <a:effectRef idx="1">
            <a:schemeClr val="accent1"/>
          </a:effectRef>
          <a:fontRef idx="minor">
            <a:schemeClr val="tx1"/>
          </a:fontRef>
        </p:style>
      </p:cxnSp>
      <p:sp>
        <p:nvSpPr>
          <p:cNvPr id="86" name="Isosceles Triangle 85"/>
          <p:cNvSpPr/>
          <p:nvPr/>
        </p:nvSpPr>
        <p:spPr>
          <a:xfrm rot="16200000">
            <a:off x="2825496" y="3328416"/>
            <a:ext cx="155448" cy="146304"/>
          </a:xfrm>
          <a:prstGeom prst="triangle">
            <a:avLst/>
          </a:prstGeom>
          <a:solidFill>
            <a:srgbClr val="3A7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1097280" y="4892040"/>
            <a:ext cx="4937760" cy="274320"/>
          </a:xfrm>
          <a:prstGeom prst="rect">
            <a:avLst/>
          </a:prstGeom>
          <a:noFill/>
        </p:spPr>
        <p:txBody>
          <a:bodyPr wrap="none" lIns="0" rIns="0" tIns="0" bIns="0" anchor="ctr">
            <a:spAutoFit/>
          </a:bodyPr>
          <a:lstStyle/>
          <a:p>
            <a:pPr algn="l"/>
            <a:r>
              <a:rPr sz="1320" b="0">
                <a:solidFill>
                  <a:srgbClr val="1F2328"/>
                </a:solidFill>
                <a:latin typeface="Calibri"/>
              </a:rPr>
              <a:t>Illustrative fields. The FK links an admission to a patient.</a:t>
            </a:r>
          </a:p>
        </p:txBody>
      </p:sp>
      <p:sp>
        <p:nvSpPr>
          <p:cNvPr id="89" name="PatientData age label"/>
          <p:cNvSpPr txBox="1"/>
          <p:nvPr/>
        </p:nvSpPr>
        <p:spPr>
          <a:xfrm>
            <a:off x="1197864" y="3611880"/>
            <a:ext cx="1106424" cy="246888"/>
          </a:xfrm>
          <a:prstGeom prst="rect">
            <a:avLst/>
          </a:prstGeom>
          <a:noFill/>
        </p:spPr>
        <p:txBody>
          <a:bodyPr wrap="none" lIns="0" rIns="0" tIns="0" bIns="0">
            <a:spAutoFit/>
          </a:bodyPr>
          <a:lstStyle/>
          <a:p>
            <a:pPr algn="l"/>
            <a:r>
              <a:rPr sz="1500" b="0">
                <a:solidFill>
                  <a:srgbClr val="1F2328"/>
                </a:solidFill>
                <a:latin typeface="Calibri"/>
              </a:rPr>
              <a:t>age</a:t>
            </a:r>
          </a:p>
        </p:txBody>
      </p:sp>
      <p:sp>
        <p:nvSpPr>
          <p:cNvPr id="90" name="PatientData age datatype"/>
          <p:cNvSpPr txBox="1"/>
          <p:nvPr/>
        </p:nvSpPr>
        <p:spPr>
          <a:xfrm>
            <a:off x="2441448" y="3611880"/>
            <a:ext cx="420624" cy="246888"/>
          </a:xfrm>
          <a:prstGeom prst="rect">
            <a:avLst/>
          </a:prstGeom>
          <a:noFill/>
        </p:spPr>
        <p:txBody>
          <a:bodyPr wrap="none" lIns="0" rIns="0" tIns="0" bIns="0">
            <a:spAutoFit/>
          </a:bodyPr>
          <a:lstStyle/>
          <a:p>
            <a:pPr algn="l"/>
            <a:r>
              <a:rPr sz="1350" b="0">
                <a:solidFill>
                  <a:srgbClr val="5B6770"/>
                </a:solidFill>
                <a:latin typeface="Calibri"/>
              </a:rPr>
              <a:t>INT</a:t>
            </a:r>
          </a:p>
        </p:txBody>
      </p:sp>
      <p:sp>
        <p:nvSpPr>
          <p:cNvPr id="91" name="PatientData gender label"/>
          <p:cNvSpPr txBox="1"/>
          <p:nvPr/>
        </p:nvSpPr>
        <p:spPr>
          <a:xfrm>
            <a:off x="1197864" y="3959352"/>
            <a:ext cx="1106424" cy="246888"/>
          </a:xfrm>
          <a:prstGeom prst="rect">
            <a:avLst/>
          </a:prstGeom>
          <a:noFill/>
        </p:spPr>
        <p:txBody>
          <a:bodyPr wrap="none" lIns="0" rIns="0" tIns="0" bIns="0">
            <a:spAutoFit/>
          </a:bodyPr>
          <a:lstStyle/>
          <a:p>
            <a:pPr algn="l"/>
            <a:r>
              <a:rPr sz="1500" b="0">
                <a:solidFill>
                  <a:srgbClr val="1F2328"/>
                </a:solidFill>
                <a:latin typeface="Calibri"/>
              </a:rPr>
              <a:t>gender</a:t>
            </a:r>
          </a:p>
        </p:txBody>
      </p:sp>
      <p:sp>
        <p:nvSpPr>
          <p:cNvPr id="92" name="PatientData gender datatype"/>
          <p:cNvSpPr txBox="1"/>
          <p:nvPr/>
        </p:nvSpPr>
        <p:spPr>
          <a:xfrm>
            <a:off x="2441448" y="3959352"/>
            <a:ext cx="420624" cy="246888"/>
          </a:xfrm>
          <a:prstGeom prst="rect">
            <a:avLst/>
          </a:prstGeom>
          <a:noFill/>
        </p:spPr>
        <p:txBody>
          <a:bodyPr wrap="none" lIns="0" rIns="0" tIns="0" bIns="0">
            <a:spAutoFit/>
          </a:bodyPr>
          <a:lstStyle/>
          <a:p>
            <a:pPr algn="l"/>
            <a:r>
              <a:rPr sz="1350" b="0">
                <a:solidFill>
                  <a:srgbClr val="5B6770"/>
                </a:solidFill>
                <a:latin typeface="Calibri"/>
              </a:rPr>
              <a:t>TEXT</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4" name="Shape 74"/>
        <p:cNvGrpSpPr/>
        <p:nvPr/>
      </p:nvGrpSpPr>
      <p:grpSpPr>
        <a:xfrm>
          <a:off x="0" y="0"/>
          <a:ext cx="0" cy="0"/>
          <a:chOff x="0" y="0"/>
          <a:chExt cx="0" cy="0"/>
        </a:xfrm>
      </p:grpSpPr>
      <p:sp>
        <p:nvSpPr>
          <p:cNvPr id="75" name="Google Shape;75;p3"/>
          <p:cNvSpPr txBox="1"/>
          <p:nvPr/>
        </p:nvSpPr>
        <p:spPr>
          <a:xfrm>
            <a:off x="804672" y="521207"/>
            <a:ext cx="10698480" cy="31089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0B6E4F"/>
                </a:solidFill>
                <a:latin typeface="Consolas"/>
                <a:ea typeface="Consolas"/>
                <a:cs typeface="Consolas"/>
                <a:sym typeface="Consolas"/>
              </a:rPr>
              <a:t>WHAT WE WANT TO BUILD</a:t>
            </a:r>
            <a:endParaRPr/>
          </a:p>
        </p:txBody>
      </p:sp>
      <p:sp>
        <p:nvSpPr>
          <p:cNvPr id="76" name="Google Shape;76;p3"/>
          <p:cNvSpPr txBox="1"/>
          <p:nvPr/>
        </p:nvSpPr>
        <p:spPr>
          <a:xfrm>
            <a:off x="804672" y="923544"/>
            <a:ext cx="10789920" cy="8686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100">
                <a:solidFill>
                  <a:srgbClr val="1F2328"/>
                </a:solidFill>
                <a:latin typeface="Cambria"/>
                <a:ea typeface="Calibri"/>
                <a:cs typeface="Calibri"/>
                <a:sym typeface="Calibri"/>
              </a:rPr>
              <a:t>Not just a cleaner schema.</a:t>
            </a:r>
            <a:endParaRPr/>
          </a:p>
          <a:p>
            <a:pPr indent="0" lvl="0" marL="0" marR="0" rtl="0" algn="l">
              <a:lnSpc>
                <a:spcPct val="100000"/>
              </a:lnSpc>
              <a:spcBef>
                <a:spcPts val="0"/>
              </a:spcBef>
              <a:spcAft>
                <a:spcPts val="0"/>
              </a:spcAft>
              <a:buNone/>
            </a:pPr>
            <a:r>
              <a:rPr b="1" i="0" lang="en-US" sz="3100">
                <a:solidFill>
                  <a:srgbClr val="1F2328"/>
                </a:solidFill>
                <a:latin typeface="Cambria"/>
                <a:ea typeface="Calibri"/>
                <a:cs typeface="Calibri"/>
                <a:sym typeface="Calibri"/>
              </a:rPr>
              <a:t>A usable semantic model.</a:t>
            </a:r>
            <a:endParaRPr/>
          </a:p>
        </p:txBody>
      </p:sp>
      <p:sp>
        <p:nvSpPr>
          <p:cNvPr id="77" name="Google Shape;77;p3"/>
          <p:cNvSpPr/>
          <p:nvPr/>
        </p:nvSpPr>
        <p:spPr>
          <a:xfrm>
            <a:off x="804672" y="2057400"/>
            <a:ext cx="2971800" cy="2532888"/>
          </a:xfrm>
          <a:prstGeom prst="roundRect">
            <a:avLst>
              <a:gd fmla="val 10000" name="adj"/>
            </a:avLst>
          </a:prstGeom>
          <a:solidFill>
            <a:srgbClr val="FFFFFF"/>
          </a:solidFill>
          <a:ln cap="flat" cmpd="sng" w="12700">
            <a:solidFill>
              <a:srgbClr val="D9DED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8" name="Google Shape;78;p3"/>
          <p:cNvSpPr txBox="1"/>
          <p:nvPr/>
        </p:nvSpPr>
        <p:spPr>
          <a:xfrm>
            <a:off x="1024128" y="2212848"/>
            <a:ext cx="2514600" cy="27432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520">
                <a:solidFill>
                  <a:srgbClr val="5B6770"/>
                </a:solidFill>
                <a:latin typeface="Consolas"/>
                <a:ea typeface="Consolas"/>
                <a:cs typeface="Consolas"/>
                <a:sym typeface="Consolas"/>
              </a:rPr>
              <a:t>INPUT</a:t>
            </a:r>
            <a:endParaRPr/>
          </a:p>
        </p:txBody>
      </p:sp>
      <p:sp>
        <p:nvSpPr>
          <p:cNvPr id="85" name="Google Shape;85;p3"/>
          <p:cNvSpPr/>
          <p:nvPr/>
        </p:nvSpPr>
        <p:spPr>
          <a:xfrm>
            <a:off x="3977639" y="3291840"/>
            <a:ext cx="566928" cy="429768"/>
          </a:xfrm>
          <a:prstGeom prst="rightArrow">
            <a:avLst>
              <a:gd fmla="val 50000" name="adj1"/>
              <a:gd fmla="val 50000" name="adj2"/>
            </a:avLst>
          </a:prstGeom>
          <a:solidFill>
            <a:srgbClr val="3A7D8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6" name="Google Shape;86;p3"/>
          <p:cNvSpPr/>
          <p:nvPr/>
        </p:nvSpPr>
        <p:spPr>
          <a:xfrm>
            <a:off x="4754880" y="2057400"/>
            <a:ext cx="6656832" cy="4361688"/>
          </a:xfrm>
          <a:prstGeom prst="roundRect">
            <a:avLst>
              <a:gd fmla="val 10000" name="adj"/>
            </a:avLst>
          </a:prstGeom>
          <a:solidFill>
            <a:srgbClr val="F3F5F4"/>
          </a:solidFill>
          <a:ln cap="flat" cmpd="sng" w="17775">
            <a:solidFill>
              <a:srgbClr val="3A7D8C"/>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7" name="Google Shape;87;p3"/>
          <p:cNvSpPr txBox="1"/>
          <p:nvPr/>
        </p:nvSpPr>
        <p:spPr>
          <a:xfrm>
            <a:off x="5038344" y="2212848"/>
            <a:ext cx="6044184" cy="27432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600">
                <a:solidFill>
                  <a:srgbClr val="2F6B78"/>
                </a:solidFill>
                <a:latin typeface="Consolas"/>
                <a:ea typeface="Consolas"/>
                <a:cs typeface="Consolas"/>
                <a:sym typeface="Consolas"/>
              </a:rPr>
              <a:t>TARGET</a:t>
            </a:r>
            <a:endParaRPr/>
          </a:p>
        </p:txBody>
      </p:sp>
      <p:sp>
        <p:nvSpPr>
          <p:cNvPr id="88" name="Google Shape;88;p3"/>
          <p:cNvSpPr/>
          <p:nvPr/>
        </p:nvSpPr>
        <p:spPr>
          <a:xfrm>
            <a:off x="5093208" y="2633472"/>
            <a:ext cx="2103120" cy="475488"/>
          </a:xfrm>
          <a:prstGeom prst="roundRect">
            <a:avLst>
              <a:gd fmla="val 10000" name="adj"/>
            </a:avLst>
          </a:prstGeom>
          <a:solidFill>
            <a:srgbClr val="E9EEEB"/>
          </a:solidFill>
          <a:ln cap="flat" cmpd="sng" w="12700">
            <a:solidFill>
              <a:srgbClr val="3A7D8C"/>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9" name="Google Shape;89;p3"/>
          <p:cNvSpPr txBox="1"/>
          <p:nvPr/>
        </p:nvSpPr>
        <p:spPr>
          <a:xfrm>
            <a:off x="5248656" y="2743200"/>
            <a:ext cx="1746504" cy="265176"/>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a:solidFill>
                  <a:srgbClr val="1F2328"/>
                </a:solidFill>
                <a:latin typeface="Calibri"/>
                <a:ea typeface="Calibri"/>
                <a:cs typeface="Calibri"/>
                <a:sym typeface="Calibri"/>
              </a:rPr>
              <a:t>Admission</a:t>
            </a:r>
            <a:endParaRPr/>
          </a:p>
        </p:txBody>
      </p:sp>
      <p:sp>
        <p:nvSpPr>
          <p:cNvPr id="90" name="Google Shape;90;p3"/>
          <p:cNvSpPr/>
          <p:nvPr/>
        </p:nvSpPr>
        <p:spPr>
          <a:xfrm>
            <a:off x="9253728" y="2633472"/>
            <a:ext cx="1828800" cy="475488"/>
          </a:xfrm>
          <a:prstGeom prst="roundRect">
            <a:avLst>
              <a:gd fmla="val 10000" name="adj"/>
            </a:avLst>
          </a:prstGeom>
          <a:solidFill>
            <a:srgbClr val="E9EEEB"/>
          </a:solidFill>
          <a:ln cap="flat" cmpd="sng" w="12700">
            <a:solidFill>
              <a:srgbClr val="3A7D8C"/>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1" name="Google Shape;91;p3"/>
          <p:cNvSpPr txBox="1"/>
          <p:nvPr/>
        </p:nvSpPr>
        <p:spPr>
          <a:xfrm>
            <a:off x="9354312" y="2743200"/>
            <a:ext cx="1645920" cy="265176"/>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800">
                <a:solidFill>
                  <a:srgbClr val="1F2328"/>
                </a:solidFill>
                <a:latin typeface="Calibri"/>
                <a:ea typeface="Calibri"/>
                <a:cs typeface="Calibri"/>
                <a:sym typeface="Calibri"/>
              </a:rPr>
              <a:t>PatientData</a:t>
            </a:r>
            <a:endParaRPr/>
          </a:p>
        </p:txBody>
      </p:sp>
      <p:cxnSp>
        <p:nvCxnSpPr>
          <p:cNvPr id="92" name="Google Shape;92;p3"/>
          <p:cNvCxnSpPr/>
          <p:nvPr/>
        </p:nvCxnSpPr>
        <p:spPr>
          <a:xfrm>
            <a:off x="7278624" y="2871216"/>
            <a:ext cx="1865376" cy="0"/>
          </a:xfrm>
          <a:prstGeom prst="straightConnector1">
            <a:avLst/>
          </a:prstGeom>
          <a:noFill/>
          <a:ln cap="flat" cmpd="sng" w="31750">
            <a:solidFill>
              <a:srgbClr val="0B6E4F"/>
            </a:solidFill>
            <a:prstDash val="solid"/>
            <a:miter lim="8000"/>
            <a:headEnd len="sm" w="sm" type="none"/>
            <a:tailEnd len="med" w="med" type="triangle"/>
          </a:ln>
        </p:spPr>
      </p:cxnSp>
      <p:sp>
        <p:nvSpPr>
          <p:cNvPr id="93" name="Google Shape;93;p3"/>
          <p:cNvSpPr/>
          <p:nvPr/>
        </p:nvSpPr>
        <p:spPr>
          <a:xfrm>
            <a:off x="7388352" y="2487168"/>
            <a:ext cx="1591056" cy="274320"/>
          </a:xfrm>
          <a:prstGeom prst="roundRect">
            <a:avLst>
              <a:gd fmla="val 10000"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4" name="Google Shape;94;p3"/>
          <p:cNvSpPr txBox="1"/>
          <p:nvPr/>
        </p:nvSpPr>
        <p:spPr>
          <a:xfrm>
            <a:off x="7278624" y="2514600"/>
            <a:ext cx="1783080" cy="2286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None/>
            </a:pPr>
            <a:r>
              <a:rPr b="1" i="0" lang="en-US" sz="1400">
                <a:solidFill>
                  <a:srgbClr val="0B6E4F"/>
                </a:solidFill>
                <a:latin typeface="Consolas"/>
                <a:ea typeface="Consolas"/>
                <a:cs typeface="Consolas"/>
                <a:sym typeface="Consolas"/>
              </a:rPr>
              <a:t>hasPatientData</a:t>
            </a:r>
            <a:endParaRPr/>
          </a:p>
        </p:txBody>
      </p:sp>
      <p:sp>
        <p:nvSpPr>
          <p:cNvPr id="102" name="Google Shape;102;p3"/>
          <p:cNvSpPr/>
          <p:nvPr/>
        </p:nvSpPr>
        <p:spPr>
          <a:xfrm>
            <a:off x="804672" y="4809744"/>
            <a:ext cx="2971800" cy="1609344"/>
          </a:xfrm>
          <a:prstGeom prst="roundRect">
            <a:avLst>
              <a:gd fmla="val 10000" name="adj"/>
            </a:avLst>
          </a:prstGeom>
          <a:solidFill>
            <a:srgbClr val="F3F5F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04" name="Table card"/>
          <p:cNvSpPr/>
          <p:nvPr/>
        </p:nvSpPr>
        <p:spPr>
          <a:xfrm>
            <a:off x="969264" y="2615184"/>
            <a:ext cx="2642616" cy="1792224"/>
          </a:xfrm>
          <a:prstGeom prst="roundRect">
            <a:avLst>
              <a:gd name="adj" fmla="val 9000"/>
            </a:avLst>
          </a:prstGeom>
          <a:solidFill>
            <a:srgbClr val="E9EEEB"/>
          </a:solidFill>
          <a:ln>
            <a:noFill/>
          </a:ln>
          <a:effectLst>
            <a:outerShdw blurRad="76200" dist="25400" dir="5400000" algn="t" rotWithShape="0">
              <a:srgbClr val="000000">
                <a:alpha val="16000"/>
              </a:srgbClr>
            </a:outerShdw>
          </a:effectLst>
        </p:spPr>
        <p:txBody>
          <a:bodyPr wrap="square" lIns="0" tIns="0" rIns="0" bIns="0" anchor="ctr">
            <a:noAutofit/>
          </a:bodyPr>
          <a:lstStyle/>
          <a:p>
            <a:endParaRPr lang="en-US"/>
          </a:p>
        </p:txBody>
      </p:sp>
      <p:sp>
        <p:nvSpPr>
          <p:cNvPr id="79" name="Google Shape;79;p3"/>
          <p:cNvSpPr txBox="1"/>
          <p:nvPr/>
        </p:nvSpPr>
        <p:spPr>
          <a:xfrm>
            <a:off x="1133856" y="2724912"/>
            <a:ext cx="2331720" cy="36576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100">
                <a:solidFill>
                  <a:srgbClr val="1F2328"/>
                </a:solidFill>
                <a:latin typeface="Calibri"/>
                <a:ea typeface="Calibri"/>
                <a:cs typeface="Calibri"/>
                <a:sym typeface="Calibri"/>
              </a:rPr>
              <a:t>admission</a:t>
            </a:r>
            <a:endParaRPr/>
          </a:p>
        </p:txBody>
      </p:sp>
      <p:cxnSp>
        <p:nvCxnSpPr>
          <p:cNvPr id="80" name="Google Shape;80;p3"/>
          <p:cNvCxnSpPr/>
          <p:nvPr/>
        </p:nvCxnSpPr>
        <p:spPr>
          <a:xfrm>
            <a:off x="1133856" y="3145536"/>
            <a:ext cx="2313432" cy="0"/>
          </a:xfrm>
          <a:prstGeom prst="straightConnector1">
            <a:avLst/>
          </a:prstGeom>
          <a:noFill/>
          <a:ln cap="flat" cmpd="sng" w="19050">
            <a:solidFill>
              <a:srgbClr val="8E989E"/>
            </a:solidFill>
            <a:prstDash val="solid"/>
            <a:miter lim="8000"/>
            <a:headEnd len="sm" w="sm" type="none"/>
            <a:tailEnd len="sm" w="sm" type="none"/>
          </a:ln>
        </p:spPr>
      </p:cxnSp>
      <p:sp>
        <p:nvSpPr>
          <p:cNvPr id="105" name="Column"/>
          <p:cNvSpPr/>
          <p:nvPr/>
        </p:nvSpPr>
        <p:spPr>
          <a:xfrm>
            <a:off x="1133856" y="3273552"/>
            <a:ext cx="1600200" cy="292608"/>
          </a:xfrm>
          <a:prstGeom prst="rect">
            <a:avLst/>
          </a:prstGeom>
          <a:noFill/>
          <a:ln>
            <a:noFill/>
          </a:ln>
        </p:spPr>
        <p:txBody>
          <a:bodyPr wrap="square" lIns="0" tIns="0" rIns="0" bIns="0" anchor="ctr">
            <a:noAutofit/>
          </a:bodyPr>
          <a:lstStyle/>
          <a:p>
            <a:pPr algn="l">
              <a:spcAft>
                <a:spcPts val="0"/>
              </a:spcAft>
            </a:pPr>
            <a:r>
              <a:rPr lang="en-US" sz="1500" b="1" i="0" dirty="0">
                <a:solidFill>
                  <a:srgbClr val="0B6E4F"/>
                </a:solidFill>
                <a:latin typeface="Calibri"/>
                <a:cs typeface="Calibri"/>
              </a:rPr>
              <a:t xml:space="preserve">patient_id</a:t>
            </a:r>
          </a:p>
        </p:txBody>
      </p:sp>
      <p:sp>
        <p:nvSpPr>
          <p:cNvPr id="106" name="Type"/>
          <p:cNvSpPr/>
          <p:nvPr/>
        </p:nvSpPr>
        <p:spPr>
          <a:xfrm>
            <a:off x="2697480" y="3273552"/>
            <a:ext cx="749808" cy="292608"/>
          </a:xfrm>
          <a:prstGeom prst="rect">
            <a:avLst/>
          </a:prstGeom>
          <a:noFill/>
          <a:ln>
            <a:noFill/>
          </a:ln>
        </p:spPr>
        <p:txBody>
          <a:bodyPr wrap="square" lIns="0" tIns="0" rIns="0" bIns="0" anchor="ctr">
            <a:noAutofit/>
          </a:bodyPr>
          <a:lstStyle/>
          <a:p>
            <a:pPr algn="r">
              <a:spcAft>
                <a:spcPts val="0"/>
              </a:spcAft>
            </a:pPr>
            <a:r>
              <a:rPr lang="en-US" sz="1400" b="0" i="0" dirty="0">
                <a:solidFill>
                  <a:srgbClr val="5B6770"/>
                </a:solidFill>
                <a:latin typeface="Calibri"/>
                <a:cs typeface="Calibri"/>
              </a:rPr>
              <a:t xml:space="preserve">FK</a:t>
            </a:r>
          </a:p>
        </p:txBody>
      </p:sp>
      <p:sp>
        <p:nvSpPr>
          <p:cNvPr id="107" name="Column"/>
          <p:cNvSpPr/>
          <p:nvPr/>
        </p:nvSpPr>
        <p:spPr>
          <a:xfrm>
            <a:off x="1133856" y="3621024"/>
            <a:ext cx="1600200" cy="292608"/>
          </a:xfrm>
          <a:prstGeom prst="rect">
            <a:avLst/>
          </a:prstGeom>
          <a:noFill/>
          <a:ln>
            <a:noFill/>
          </a:ln>
        </p:spPr>
        <p:txBody>
          <a:bodyPr wrap="square" lIns="0" tIns="0" rIns="0" bIns="0" anchor="ctr">
            <a:noAutofit/>
          </a:bodyPr>
          <a:lstStyle/>
          <a:p>
            <a:pPr algn="l">
              <a:spcAft>
                <a:spcPts val="0"/>
              </a:spcAft>
            </a:pPr>
            <a:r>
              <a:rPr lang="en-US" sz="1500" b="1" i="0" dirty="0">
                <a:solidFill>
                  <a:srgbClr val="0B6E4F"/>
                </a:solidFill>
                <a:latin typeface="Calibri"/>
                <a:cs typeface="Calibri"/>
              </a:rPr>
              <a:t xml:space="preserve">BM_DEP</a:t>
            </a:r>
          </a:p>
        </p:txBody>
      </p:sp>
      <p:sp>
        <p:nvSpPr>
          <p:cNvPr id="108" name="Type"/>
          <p:cNvSpPr/>
          <p:nvPr/>
        </p:nvSpPr>
        <p:spPr>
          <a:xfrm>
            <a:off x="2697480" y="3621024"/>
            <a:ext cx="749808" cy="292608"/>
          </a:xfrm>
          <a:prstGeom prst="rect">
            <a:avLst/>
          </a:prstGeom>
          <a:noFill/>
          <a:ln>
            <a:noFill/>
          </a:ln>
        </p:spPr>
        <p:txBody>
          <a:bodyPr wrap="square" lIns="0" tIns="0" rIns="0" bIns="0" anchor="ctr">
            <a:noAutofit/>
          </a:bodyPr>
          <a:lstStyle/>
          <a:p>
            <a:pPr algn="r">
              <a:spcAft>
                <a:spcPts val="0"/>
              </a:spcAft>
            </a:pPr>
            <a:r>
              <a:rPr lang="en-US" sz="1400" b="0" i="0" dirty="0">
                <a:solidFill>
                  <a:srgbClr val="5B6770"/>
                </a:solidFill>
                <a:latin typeface="Calibri"/>
                <a:cs typeface="Calibri"/>
              </a:rPr>
              <a:t xml:space="preserve">INT</a:t>
            </a:r>
          </a:p>
        </p:txBody>
      </p:sp>
      <p:sp>
        <p:nvSpPr>
          <p:cNvPr id="109" name="Column"/>
          <p:cNvSpPr/>
          <p:nvPr/>
        </p:nvSpPr>
        <p:spPr>
          <a:xfrm>
            <a:off x="1133856" y="3968496"/>
            <a:ext cx="1600200" cy="292608"/>
          </a:xfrm>
          <a:prstGeom prst="rect">
            <a:avLst/>
          </a:prstGeom>
          <a:noFill/>
          <a:ln>
            <a:noFill/>
          </a:ln>
        </p:spPr>
        <p:txBody>
          <a:bodyPr wrap="square" lIns="0" tIns="0" rIns="0" bIns="0" anchor="ctr">
            <a:noAutofit/>
          </a:bodyPr>
          <a:lstStyle/>
          <a:p>
            <a:pPr algn="l">
              <a:spcAft>
                <a:spcPts val="0"/>
              </a:spcAft>
            </a:pPr>
            <a:r>
              <a:rPr lang="en-US" sz="1500" b="1" i="0" dirty="0">
                <a:solidFill>
                  <a:srgbClr val="0B6E4F"/>
                </a:solidFill>
                <a:latin typeface="Calibri"/>
                <a:cs typeface="Calibri"/>
              </a:rPr>
              <a:t xml:space="preserve">ecog_stage</a:t>
            </a:r>
          </a:p>
        </p:txBody>
      </p:sp>
      <p:sp>
        <p:nvSpPr>
          <p:cNvPr id="110" name="Type"/>
          <p:cNvSpPr/>
          <p:nvPr/>
        </p:nvSpPr>
        <p:spPr>
          <a:xfrm>
            <a:off x="2697480" y="3968496"/>
            <a:ext cx="749808" cy="292608"/>
          </a:xfrm>
          <a:prstGeom prst="rect">
            <a:avLst/>
          </a:prstGeom>
          <a:noFill/>
          <a:ln>
            <a:noFill/>
          </a:ln>
        </p:spPr>
        <p:txBody>
          <a:bodyPr wrap="square" lIns="0" tIns="0" rIns="0" bIns="0" anchor="ctr">
            <a:noAutofit/>
          </a:bodyPr>
          <a:lstStyle/>
          <a:p>
            <a:pPr algn="r">
              <a:spcAft>
                <a:spcPts val="0"/>
              </a:spcAft>
            </a:pPr>
            <a:r>
              <a:rPr lang="en-US" sz="1400" b="0" i="0" dirty="0">
                <a:solidFill>
                  <a:srgbClr val="5B6770"/>
                </a:solidFill>
                <a:latin typeface="Calibri"/>
                <a:cs typeface="Calibri"/>
              </a:rPr>
              <a:t xml:space="preserve">INT</a:t>
            </a:r>
          </a:p>
        </p:txBody>
      </p:sp>
      <p:sp>
        <p:nvSpPr>
          <p:cNvPr id="111" name="Code panel"/>
          <p:cNvSpPr/>
          <p:nvPr/>
        </p:nvSpPr>
        <p:spPr>
          <a:xfrm>
            <a:off x="4983480" y="3310128"/>
            <a:ext cx="6217920" cy="2962656"/>
          </a:xfrm>
          <a:prstGeom prst="roundRect">
            <a:avLst>
              <a:gd name="adj" fmla="val 9000"/>
            </a:avLst>
          </a:prstGeom>
          <a:solidFill>
            <a:srgbClr val="F6F8FA"/>
          </a:solidFill>
          <a:ln w="9525">
            <a:solidFill>
              <a:srgbClr val="D0D7DE"/>
            </a:solidFill>
          </a:ln>
        </p:spPr>
        <p:txBody>
          <a:bodyPr wrap="square" lIns="0" tIns="0" rIns="0" bIns="0" anchor="ctr">
            <a:noAutofit/>
          </a:bodyPr>
          <a:lstStyle/>
          <a:p>
            <a:endParaRPr lang="en-US"/>
          </a:p>
        </p:txBody>
      </p:sp>
      <p:sp>
        <p:nvSpPr>
          <p:cNvPr id="112" name="Code line 112"/>
          <p:cNvSpPr txBox="1"/>
          <p:nvPr/>
        </p:nvSpPr>
        <p:spPr>
          <a:xfrm>
            <a:off x="4983480" y="3429000"/>
            <a:ext cx="6217920" cy="195540"/>
          </a:xfrm>
          <a:prstGeom prst="rect">
            <a:avLst/>
          </a:prstGeom>
          <a:noFill/>
        </p:spPr>
        <p:txBody>
          <a:bodyPr wrap="none" lIns="146304" tIns="0" rIns="0" bIns="0" anchor="ctr">
            <a:noAutofit/>
          </a:bodyPr>
          <a:lstStyle/>
          <a:p>
            <a:pPr>
              <a:tabLst>
                <a:tab pos="4224528" algn="l"/>
              </a:tabLst>
            </a:pPr>
            <a:r>
              <a:rPr lang="en-US" sz="1150" b="1" i="0" dirty="0">
                <a:solidFill>
                  <a:srgbClr val="0B6E4F"/>
                </a:solidFill>
                <a:latin typeface="Consolas"/>
                <a:cs typeface="Consolas"/>
              </a:rPr>
              <a:t xml:space="preserve">Class:</a:t>
            </a:r>
            <a:r>
              <a:rPr lang="en-US" sz="1150" b="0" i="0" dirty="0">
                <a:solidFill>
                  <a:srgbClr val="1F2328"/>
                </a:solidFill>
                <a:latin typeface="Consolas"/>
                <a:cs typeface="Consolas"/>
              </a:rPr>
              <a:t xml:space="preserve"> </a:t>
            </a:r>
            <a:r>
              <a:rPr lang="en-US" sz="1150" b="0" i="0" dirty="0">
                <a:solidFill>
                  <a:srgbClr val="1F2328"/>
                </a:solidFill>
                <a:latin typeface="Consolas"/>
                <a:cs typeface="Consolas"/>
              </a:rPr>
              <a:t xml:space="preserve">Admission</a:t>
            </a:r>
            <a:endParaRPr lang="en-US" sz="1150"/>
          </a:p>
        </p:txBody>
      </p:sp>
      <p:sp>
        <p:nvSpPr>
          <p:cNvPr id="113" name="Code line 113"/>
          <p:cNvSpPr txBox="1"/>
          <p:nvPr/>
        </p:nvSpPr>
        <p:spPr>
          <a:xfrm>
            <a:off x="4983480" y="3624540"/>
            <a:ext cx="6217920" cy="195540"/>
          </a:xfrm>
          <a:prstGeom prst="rect">
            <a:avLst/>
          </a:prstGeom>
          <a:noFill/>
        </p:spPr>
        <p:txBody>
          <a:bodyPr wrap="none" lIns="146304" tIns="0" rIns="0" bIns="0" anchor="ctr">
            <a:noAutofit/>
          </a:bodyPr>
          <a:lstStyle/>
          <a:p>
            <a:pPr>
              <a:tabLst>
                <a:tab pos="4224528" algn="l"/>
              </a:tabLst>
            </a:pPr>
            <a:r>
              <a:rPr lang="en-US" sz="1150" b="0" i="0" dirty="0">
                <a:solidFill>
                  <a:srgbClr val="1F2328"/>
                </a:solidFill>
                <a:latin typeface="Consolas"/>
                <a:cs typeface="Consolas"/>
              </a:rPr>
              <a:t xml:space="preserve">  </a:t>
            </a:r>
            <a:r>
              <a:rPr lang="en-US" sz="1150" b="1" i="0" dirty="0">
                <a:solidFill>
                  <a:srgbClr val="0B6E4F"/>
                </a:solidFill>
                <a:latin typeface="Consolas"/>
                <a:cs typeface="Consolas"/>
              </a:rPr>
              <a:t xml:space="preserve">SubClassOf:</a:t>
            </a:r>
            <a:r>
              <a:rPr lang="en-US" sz="1150" b="0" i="0" dirty="0">
                <a:solidFill>
                  <a:srgbClr val="1F2328"/>
                </a:solidFill>
                <a:latin typeface="Consolas"/>
                <a:cs typeface="Consolas"/>
              </a:rPr>
              <a:t xml:space="preserve"> </a:t>
            </a:r>
            <a:r>
              <a:rPr lang="en-US" sz="1150" b="0" i="0" dirty="0">
                <a:solidFill>
                  <a:srgbClr val="1F2328"/>
                </a:solidFill>
                <a:latin typeface="Consolas"/>
                <a:cs typeface="Consolas"/>
              </a:rPr>
              <a:t xml:space="preserve">hasPatientData</a:t>
            </a:r>
            <a:r>
              <a:rPr lang="en-US" sz="1150" b="0" i="0" dirty="0">
                <a:solidFill>
                  <a:srgbClr val="1F2328"/>
                </a:solidFill>
                <a:latin typeface="Consolas"/>
                <a:cs typeface="Consolas"/>
              </a:rPr>
              <a:t xml:space="preserve"> </a:t>
            </a:r>
            <a:r>
              <a:rPr lang="en-US" sz="1150" b="1" i="0" dirty="0">
                <a:solidFill>
                  <a:srgbClr val="0B6E4F"/>
                </a:solidFill>
                <a:latin typeface="Consolas"/>
                <a:cs typeface="Consolas"/>
              </a:rPr>
              <a:t xml:space="preserve">some</a:t>
            </a:r>
            <a:r>
              <a:rPr lang="en-US" sz="1150" b="0" i="0" dirty="0">
                <a:solidFill>
                  <a:srgbClr val="1F2328"/>
                </a:solidFill>
                <a:latin typeface="Consolas"/>
                <a:cs typeface="Consolas"/>
              </a:rPr>
              <a:t xml:space="preserve"> </a:t>
            </a:r>
            <a:r>
              <a:rPr lang="en-US" sz="1150" b="0" i="0" dirty="0">
                <a:solidFill>
                  <a:srgbClr val="1F2328"/>
                </a:solidFill>
                <a:latin typeface="Consolas"/>
                <a:cs typeface="Consolas"/>
              </a:rPr>
              <a:t xml:space="preserve">PatientData</a:t>
            </a:r>
            <a:r>
              <a:rPr lang="en-US" sz="1100" b="0" i="1" dirty="0">
                <a:solidFill>
                  <a:srgbClr val="5B6770"/>
                </a:solidFill>
                <a:latin typeface="Calibri"/>
                <a:cs typeface="Calibri"/>
              </a:rPr>
              <a:t xml:space="preserve">	← schema (foreign key)</a:t>
            </a:r>
            <a:endParaRPr lang="en-US" sz="1150"/>
          </a:p>
        </p:txBody>
      </p:sp>
      <p:sp>
        <p:nvSpPr>
          <p:cNvPr id="114" name="Code line 114"/>
          <p:cNvSpPr txBox="1"/>
          <p:nvPr/>
        </p:nvSpPr>
        <p:spPr>
          <a:xfrm>
            <a:off x="4983480" y="3820081"/>
            <a:ext cx="6217920" cy="195540"/>
          </a:xfrm>
          <a:prstGeom prst="rect">
            <a:avLst/>
          </a:prstGeom>
          <a:noFill/>
        </p:spPr>
        <p:txBody>
          <a:bodyPr wrap="none" lIns="146304" tIns="0" rIns="0" bIns="0" anchor="ctr">
            <a:noAutofit/>
          </a:bodyPr>
          <a:lstStyle/>
          <a:p>
            <a:pPr>
              <a:tabLst>
                <a:tab pos="4224528" algn="l"/>
              </a:tabLst>
            </a:pPr>
            <a:r>
              <a:rPr lang="en-US" sz="1150" b="0" i="0" dirty="0">
                <a:solidFill>
                  <a:srgbClr val="1F2328"/>
                </a:solidFill>
                <a:latin typeface="Consolas"/>
                <a:cs typeface="Consolas"/>
              </a:rPr>
              <a:t xml:space="preserve">  </a:t>
            </a:r>
            <a:r>
              <a:rPr lang="en-US" sz="1150" b="1" i="0" dirty="0">
                <a:solidFill>
                  <a:srgbClr val="0B6E4F"/>
                </a:solidFill>
                <a:latin typeface="Consolas"/>
                <a:cs typeface="Consolas"/>
              </a:rPr>
              <a:t xml:space="preserve">DisjointWith:</a:t>
            </a:r>
            <a:r>
              <a:rPr lang="en-US" sz="1150" b="0" i="0" dirty="0">
                <a:solidFill>
                  <a:srgbClr val="1F2328"/>
                </a:solidFill>
                <a:latin typeface="Consolas"/>
                <a:cs typeface="Consolas"/>
              </a:rPr>
              <a:t xml:space="preserve"> </a:t>
            </a:r>
            <a:r>
              <a:rPr lang="en-US" sz="1150" b="0" i="0" dirty="0">
                <a:solidFill>
                  <a:srgbClr val="1F2328"/>
                </a:solidFill>
                <a:latin typeface="Consolas"/>
                <a:cs typeface="Consolas"/>
              </a:rPr>
              <a:t xml:space="preserve">PatientData</a:t>
            </a:r>
            <a:r>
              <a:rPr lang="en-US" sz="1100" b="0" i="1" dirty="0">
                <a:solidFill>
                  <a:srgbClr val="6F42C1"/>
                </a:solidFill>
                <a:latin typeface="Calibri"/>
                <a:cs typeface="Calibri"/>
              </a:rPr>
              <a:t xml:space="preserve">	← LLM knowledge</a:t>
            </a:r>
            <a:endParaRPr lang="en-US" sz="1150"/>
          </a:p>
        </p:txBody>
      </p:sp>
      <p:sp>
        <p:nvSpPr>
          <p:cNvPr id="115" name="Code line 115"/>
          <p:cNvSpPr txBox="1"/>
          <p:nvPr/>
        </p:nvSpPr>
        <p:spPr>
          <a:xfrm>
            <a:off x="4983480" y="4107062"/>
            <a:ext cx="6217920" cy="195540"/>
          </a:xfrm>
          <a:prstGeom prst="rect">
            <a:avLst/>
          </a:prstGeom>
          <a:noFill/>
        </p:spPr>
        <p:txBody>
          <a:bodyPr wrap="none" lIns="146304" tIns="0" rIns="0" bIns="0" anchor="ctr">
            <a:noAutofit/>
          </a:bodyPr>
          <a:lstStyle/>
          <a:p>
            <a:pPr>
              <a:tabLst>
                <a:tab pos="4224528" algn="l"/>
              </a:tabLst>
            </a:pPr>
            <a:r>
              <a:rPr lang="en-US" sz="1150" b="1" i="0" dirty="0">
                <a:solidFill>
                  <a:srgbClr val="0B6E4F"/>
                </a:solidFill>
                <a:latin typeface="Consolas"/>
                <a:cs typeface="Consolas"/>
              </a:rPr>
              <a:t xml:space="preserve">DataProperty:</a:t>
            </a:r>
            <a:r>
              <a:rPr lang="en-US" sz="1150" b="0" i="0" dirty="0">
                <a:solidFill>
                  <a:srgbClr val="1F2328"/>
                </a:solidFill>
                <a:latin typeface="Consolas"/>
                <a:cs typeface="Consolas"/>
              </a:rPr>
              <a:t xml:space="preserve"> </a:t>
            </a:r>
            <a:r>
              <a:rPr lang="en-US" sz="1150" b="0" i="0" dirty="0">
                <a:solidFill>
                  <a:srgbClr val="1F2328"/>
                </a:solidFill>
                <a:latin typeface="Consolas"/>
                <a:cs typeface="Consolas"/>
              </a:rPr>
              <a:t xml:space="preserve">BM_DEP</a:t>
            </a:r>
            <a:endParaRPr lang="en-US" sz="1150"/>
          </a:p>
        </p:txBody>
      </p:sp>
      <p:sp>
        <p:nvSpPr>
          <p:cNvPr id="116" name="Code line 116"/>
          <p:cNvSpPr txBox="1"/>
          <p:nvPr/>
        </p:nvSpPr>
        <p:spPr>
          <a:xfrm>
            <a:off x="4983480" y="4302603"/>
            <a:ext cx="6217920" cy="195540"/>
          </a:xfrm>
          <a:prstGeom prst="rect">
            <a:avLst/>
          </a:prstGeom>
          <a:noFill/>
        </p:spPr>
        <p:txBody>
          <a:bodyPr wrap="none" lIns="146304" tIns="0" rIns="0" bIns="0" anchor="ctr">
            <a:noAutofit/>
          </a:bodyPr>
          <a:lstStyle/>
          <a:p>
            <a:pPr>
              <a:tabLst>
                <a:tab pos="4224528" algn="l"/>
              </a:tabLst>
            </a:pPr>
            <a:r>
              <a:rPr lang="en-US" sz="1150" b="0" i="0" dirty="0">
                <a:solidFill>
                  <a:srgbClr val="1F2328"/>
                </a:solidFill>
                <a:latin typeface="Consolas"/>
                <a:cs typeface="Consolas"/>
              </a:rPr>
              <a:t xml:space="preserve">  </a:t>
            </a:r>
            <a:r>
              <a:rPr lang="en-US" sz="1150" b="1" i="0" dirty="0">
                <a:solidFill>
                  <a:srgbClr val="0B6E4F"/>
                </a:solidFill>
                <a:latin typeface="Consolas"/>
                <a:cs typeface="Consolas"/>
              </a:rPr>
              <a:t xml:space="preserve">Annotations:</a:t>
            </a:r>
            <a:endParaRPr lang="en-US" sz="1150"/>
          </a:p>
        </p:txBody>
      </p:sp>
      <p:sp>
        <p:nvSpPr>
          <p:cNvPr id="117" name="Code line 117"/>
          <p:cNvSpPr txBox="1"/>
          <p:nvPr/>
        </p:nvSpPr>
        <p:spPr>
          <a:xfrm>
            <a:off x="4983480" y="4498144"/>
            <a:ext cx="6217920" cy="195540"/>
          </a:xfrm>
          <a:prstGeom prst="rect">
            <a:avLst/>
          </a:prstGeom>
          <a:noFill/>
        </p:spPr>
        <p:txBody>
          <a:bodyPr wrap="none" lIns="146304" tIns="0" rIns="0" bIns="0" anchor="ctr">
            <a:noAutofit/>
          </a:bodyPr>
          <a:lstStyle/>
          <a:p>
            <a:pPr>
              <a:tabLst>
                <a:tab pos="4224528" algn="l"/>
              </a:tabLst>
            </a:pPr>
            <a:r>
              <a:rPr lang="en-US" sz="1150" b="0" i="0" dirty="0">
                <a:solidFill>
                  <a:srgbClr val="1F2328"/>
                </a:solidFill>
                <a:latin typeface="Consolas"/>
                <a:cs typeface="Consolas"/>
              </a:rPr>
              <a:t xml:space="preserve">    </a:t>
            </a:r>
            <a:r>
              <a:rPr lang="en-US" sz="1150" b="0" i="0" dirty="0">
                <a:solidFill>
                  <a:srgbClr val="5B6770"/>
                </a:solidFill>
                <a:latin typeface="Consolas"/>
                <a:cs typeface="Consolas"/>
              </a:rPr>
              <a:t xml:space="preserve">rdfs:label</a:t>
            </a:r>
            <a:r>
              <a:rPr lang="en-US" sz="1150" b="0" i="0" dirty="0">
                <a:solidFill>
                  <a:srgbClr val="1F2328"/>
                </a:solidFill>
                <a:latin typeface="Consolas"/>
                <a:cs typeface="Consolas"/>
              </a:rPr>
              <a:t xml:space="preserve"> </a:t>
            </a:r>
            <a:r>
              <a:rPr lang="en-US" sz="1150" b="0" i="0" dirty="0">
                <a:solidFill>
                  <a:srgbClr val="A3401E"/>
                </a:solidFill>
                <a:latin typeface="Consolas"/>
                <a:cs typeface="Consolas"/>
              </a:rPr>
              <a:t xml:space="preserve">"Bone Marrow Depression"@en</a:t>
            </a:r>
            <a:r>
              <a:rPr lang="en-US" sz="1150" b="0" i="0" dirty="0">
                <a:solidFill>
                  <a:srgbClr val="1F2328"/>
                </a:solidFill>
                <a:latin typeface="Consolas"/>
                <a:cs typeface="Consolas"/>
              </a:rPr>
              <a:t xml:space="preserve">,</a:t>
            </a:r>
            <a:r>
              <a:rPr lang="en-US" sz="1100" b="0" i="1" dirty="0">
                <a:solidFill>
                  <a:srgbClr val="2F6B78"/>
                </a:solidFill>
                <a:latin typeface="Calibri"/>
                <a:cs typeface="Calibri"/>
              </a:rPr>
              <a:t xml:space="preserve">	← documentation</a:t>
            </a:r>
            <a:endParaRPr lang="en-US" sz="1150"/>
          </a:p>
        </p:txBody>
      </p:sp>
      <p:sp>
        <p:nvSpPr>
          <p:cNvPr id="118" name="Code line 118"/>
          <p:cNvSpPr txBox="1"/>
          <p:nvPr/>
        </p:nvSpPr>
        <p:spPr>
          <a:xfrm>
            <a:off x="4983480" y="4693685"/>
            <a:ext cx="6217920" cy="195540"/>
          </a:xfrm>
          <a:prstGeom prst="rect">
            <a:avLst/>
          </a:prstGeom>
          <a:noFill/>
        </p:spPr>
        <p:txBody>
          <a:bodyPr wrap="none" lIns="146304" tIns="0" rIns="0" bIns="0" anchor="ctr">
            <a:noAutofit/>
          </a:bodyPr>
          <a:lstStyle/>
          <a:p>
            <a:pPr>
              <a:tabLst>
                <a:tab pos="4224528" algn="l"/>
              </a:tabLst>
            </a:pPr>
            <a:r>
              <a:rPr lang="en-US" sz="1150" b="0" i="0" dirty="0">
                <a:solidFill>
                  <a:srgbClr val="1F2328"/>
                </a:solidFill>
                <a:latin typeface="Consolas"/>
                <a:cs typeface="Consolas"/>
              </a:rPr>
              <a:t xml:space="preserve">    </a:t>
            </a:r>
            <a:r>
              <a:rPr lang="en-US" sz="1150" b="0" i="0" dirty="0">
                <a:solidFill>
                  <a:srgbClr val="5B6770"/>
                </a:solidFill>
                <a:latin typeface="Consolas"/>
                <a:cs typeface="Consolas"/>
              </a:rPr>
              <a:t xml:space="preserve">skos:relatedMatch</a:t>
            </a:r>
            <a:r>
              <a:rPr lang="en-US" sz="1150" b="0" i="0" dirty="0">
                <a:solidFill>
                  <a:srgbClr val="1F2328"/>
                </a:solidFill>
                <a:latin typeface="Consolas"/>
                <a:cs typeface="Consolas"/>
              </a:rPr>
              <a:t xml:space="preserve"> </a:t>
            </a:r>
            <a:r>
              <a:rPr lang="en-US" sz="1150" b="0" i="0" dirty="0">
                <a:solidFill>
                  <a:srgbClr val="2F6B78"/>
                </a:solidFill>
                <a:latin typeface="Consolas"/>
                <a:cs typeface="Consolas"/>
              </a:rPr>
              <a:t xml:space="preserve">obo:DOID_4961</a:t>
            </a:r>
            <a:r>
              <a:rPr lang="en-US" sz="1150" b="0" i="0" dirty="0">
                <a:solidFill>
                  <a:srgbClr val="1F2328"/>
                </a:solidFill>
                <a:latin typeface="Consolas"/>
                <a:cs typeface="Consolas"/>
              </a:rPr>
              <a:t xml:space="preserve">,</a:t>
            </a:r>
            <a:r>
              <a:rPr lang="en-US" sz="1100" b="0" i="1" dirty="0">
                <a:solidFill>
                  <a:srgbClr val="0B6E4F"/>
                </a:solidFill>
                <a:latin typeface="Calibri"/>
                <a:cs typeface="Calibri"/>
              </a:rPr>
              <a:t xml:space="preserve">	← Disease Ontology</a:t>
            </a:r>
            <a:endParaRPr lang="en-US" sz="1150"/>
          </a:p>
        </p:txBody>
      </p:sp>
      <p:sp>
        <p:nvSpPr>
          <p:cNvPr id="119" name="Code line 119"/>
          <p:cNvSpPr txBox="1"/>
          <p:nvPr/>
        </p:nvSpPr>
        <p:spPr>
          <a:xfrm>
            <a:off x="4983480" y="4889226"/>
            <a:ext cx="6217920" cy="195540"/>
          </a:xfrm>
          <a:prstGeom prst="rect">
            <a:avLst/>
          </a:prstGeom>
          <a:noFill/>
        </p:spPr>
        <p:txBody>
          <a:bodyPr wrap="none" lIns="146304" tIns="0" rIns="0" bIns="0" anchor="ctr">
            <a:noAutofit/>
          </a:bodyPr>
          <a:lstStyle/>
          <a:p>
            <a:pPr>
              <a:tabLst>
                <a:tab pos="4224528" algn="l"/>
              </a:tabLst>
            </a:pPr>
            <a:r>
              <a:rPr lang="en-US" sz="1150" b="0" i="0" dirty="0">
                <a:solidFill>
                  <a:srgbClr val="1F2328"/>
                </a:solidFill>
                <a:latin typeface="Consolas"/>
                <a:cs typeface="Consolas"/>
              </a:rPr>
              <a:t xml:space="preserve">    </a:t>
            </a:r>
            <a:r>
              <a:rPr lang="en-US" sz="1150" b="0" i="0" dirty="0">
                <a:solidFill>
                  <a:srgbClr val="5B6770"/>
                </a:solidFill>
                <a:latin typeface="Consolas"/>
                <a:cs typeface="Consolas"/>
              </a:rPr>
              <a:t xml:space="preserve">prov:wasDerivedFrom</a:t>
            </a:r>
            <a:r>
              <a:rPr lang="en-US" sz="1150" b="0" i="0" dirty="0">
                <a:solidFill>
                  <a:srgbClr val="1F2328"/>
                </a:solidFill>
                <a:latin typeface="Consolas"/>
                <a:cs typeface="Consolas"/>
              </a:rPr>
              <a:t xml:space="preserve"> </a:t>
            </a:r>
            <a:r>
              <a:rPr lang="en-US" sz="1150" b="0" i="0" dirty="0">
                <a:solidFill>
                  <a:srgbClr val="2F6B78"/>
                </a:solidFill>
                <a:latin typeface="Consolas"/>
                <a:cs typeface="Consolas"/>
              </a:rPr>
              <a:t xml:space="preserve">admission:BM_DEP</a:t>
            </a:r>
            <a:r>
              <a:rPr lang="en-US" sz="1100" b="0" i="1" dirty="0">
                <a:solidFill>
                  <a:srgbClr val="5B6770"/>
                </a:solidFill>
                <a:latin typeface="Calibri"/>
                <a:cs typeface="Calibri"/>
              </a:rPr>
              <a:t xml:space="preserve">	← source column</a:t>
            </a:r>
            <a:endParaRPr lang="en-US" sz="1150"/>
          </a:p>
        </p:txBody>
      </p:sp>
      <p:sp>
        <p:nvSpPr>
          <p:cNvPr id="120" name="Code line 120"/>
          <p:cNvSpPr txBox="1"/>
          <p:nvPr/>
        </p:nvSpPr>
        <p:spPr>
          <a:xfrm>
            <a:off x="4983480" y="5176207"/>
            <a:ext cx="6217920" cy="195540"/>
          </a:xfrm>
          <a:prstGeom prst="rect">
            <a:avLst/>
          </a:prstGeom>
          <a:noFill/>
        </p:spPr>
        <p:txBody>
          <a:bodyPr wrap="none" lIns="146304" tIns="0" rIns="0" bIns="0" anchor="ctr">
            <a:noAutofit/>
          </a:bodyPr>
          <a:lstStyle/>
          <a:p>
            <a:pPr>
              <a:tabLst>
                <a:tab pos="4224528" algn="l"/>
              </a:tabLst>
            </a:pPr>
            <a:r>
              <a:rPr lang="en-US" sz="1150" b="1" i="0" dirty="0">
                <a:solidFill>
                  <a:srgbClr val="0B6E4F"/>
                </a:solidFill>
                <a:latin typeface="Consolas"/>
                <a:cs typeface="Consolas"/>
              </a:rPr>
              <a:t xml:space="preserve">DataProperty:</a:t>
            </a:r>
            <a:r>
              <a:rPr lang="en-US" sz="1150" b="0" i="0" dirty="0">
                <a:solidFill>
                  <a:srgbClr val="1F2328"/>
                </a:solidFill>
                <a:latin typeface="Consolas"/>
                <a:cs typeface="Consolas"/>
              </a:rPr>
              <a:t xml:space="preserve"> </a:t>
            </a:r>
            <a:r>
              <a:rPr lang="en-US" sz="1150" b="0" i="0" dirty="0">
                <a:solidFill>
                  <a:srgbClr val="1F2328"/>
                </a:solidFill>
                <a:latin typeface="Consolas"/>
                <a:cs typeface="Consolas"/>
              </a:rPr>
              <a:t xml:space="preserve">ecog_stage</a:t>
            </a:r>
            <a:endParaRPr lang="en-US" sz="1150"/>
          </a:p>
        </p:txBody>
      </p:sp>
      <p:sp>
        <p:nvSpPr>
          <p:cNvPr id="121" name="Code line 121"/>
          <p:cNvSpPr txBox="1"/>
          <p:nvPr/>
        </p:nvSpPr>
        <p:spPr>
          <a:xfrm>
            <a:off x="4983480" y="5371748"/>
            <a:ext cx="6217920" cy="195540"/>
          </a:xfrm>
          <a:prstGeom prst="rect">
            <a:avLst/>
          </a:prstGeom>
          <a:noFill/>
        </p:spPr>
        <p:txBody>
          <a:bodyPr wrap="none" lIns="146304" tIns="0" rIns="0" bIns="0" anchor="ctr">
            <a:noAutofit/>
          </a:bodyPr>
          <a:lstStyle/>
          <a:p>
            <a:pPr>
              <a:tabLst>
                <a:tab pos="4224528" algn="l"/>
              </a:tabLst>
            </a:pPr>
            <a:r>
              <a:rPr lang="en-US" sz="1150" b="0" i="0" dirty="0">
                <a:solidFill>
                  <a:srgbClr val="1F2328"/>
                </a:solidFill>
                <a:latin typeface="Consolas"/>
                <a:cs typeface="Consolas"/>
              </a:rPr>
              <a:t xml:space="preserve">  </a:t>
            </a:r>
            <a:r>
              <a:rPr lang="en-US" sz="1150" b="1" i="0" dirty="0">
                <a:solidFill>
                  <a:srgbClr val="0B6E4F"/>
                </a:solidFill>
                <a:latin typeface="Consolas"/>
                <a:cs typeface="Consolas"/>
              </a:rPr>
              <a:t xml:space="preserve">Annotations:</a:t>
            </a:r>
            <a:endParaRPr lang="en-US" sz="1150"/>
          </a:p>
        </p:txBody>
      </p:sp>
      <p:sp>
        <p:nvSpPr>
          <p:cNvPr id="122" name="Code line 122"/>
          <p:cNvSpPr txBox="1"/>
          <p:nvPr/>
        </p:nvSpPr>
        <p:spPr>
          <a:xfrm>
            <a:off x="4983480" y="5567289"/>
            <a:ext cx="6217920" cy="195540"/>
          </a:xfrm>
          <a:prstGeom prst="rect">
            <a:avLst/>
          </a:prstGeom>
          <a:noFill/>
        </p:spPr>
        <p:txBody>
          <a:bodyPr wrap="none" lIns="146304" tIns="0" rIns="0" bIns="0" anchor="ctr">
            <a:noAutofit/>
          </a:bodyPr>
          <a:lstStyle/>
          <a:p>
            <a:pPr>
              <a:tabLst>
                <a:tab pos="4224528" algn="l"/>
              </a:tabLst>
            </a:pPr>
            <a:r>
              <a:rPr lang="en-US" sz="1150" b="0" i="0" dirty="0">
                <a:solidFill>
                  <a:srgbClr val="1F2328"/>
                </a:solidFill>
                <a:latin typeface="Consolas"/>
                <a:cs typeface="Consolas"/>
              </a:rPr>
              <a:t xml:space="preserve">    </a:t>
            </a:r>
            <a:r>
              <a:rPr lang="en-US" sz="1150" b="0" i="0" dirty="0">
                <a:solidFill>
                  <a:srgbClr val="5B6770"/>
                </a:solidFill>
                <a:latin typeface="Consolas"/>
                <a:cs typeface="Consolas"/>
              </a:rPr>
              <a:t xml:space="preserve">rdfs:label</a:t>
            </a:r>
            <a:r>
              <a:rPr lang="en-US" sz="1150" b="0" i="0" dirty="0">
                <a:solidFill>
                  <a:srgbClr val="1F2328"/>
                </a:solidFill>
                <a:latin typeface="Consolas"/>
                <a:cs typeface="Consolas"/>
              </a:rPr>
              <a:t xml:space="preserve"> </a:t>
            </a:r>
            <a:r>
              <a:rPr lang="en-US" sz="1150" b="0" i="0" dirty="0">
                <a:solidFill>
                  <a:srgbClr val="A3401E"/>
                </a:solidFill>
                <a:latin typeface="Consolas"/>
                <a:cs typeface="Consolas"/>
              </a:rPr>
              <a:t xml:space="preserve">"ECOG Performance Status"@en</a:t>
            </a:r>
            <a:r>
              <a:rPr lang="en-US" sz="1150" b="0" i="0" dirty="0">
                <a:solidFill>
                  <a:srgbClr val="1F2328"/>
                </a:solidFill>
                <a:latin typeface="Consolas"/>
                <a:cs typeface="Consolas"/>
              </a:rPr>
              <a:t xml:space="preserve">,</a:t>
            </a:r>
            <a:r>
              <a:rPr lang="en-US" sz="1100" b="0" i="1" dirty="0">
                <a:solidFill>
                  <a:srgbClr val="2F6B78"/>
                </a:solidFill>
                <a:latin typeface="Calibri"/>
                <a:cs typeface="Calibri"/>
              </a:rPr>
              <a:t xml:space="preserve">	← documentation</a:t>
            </a:r>
            <a:endParaRPr lang="en-US" sz="1150"/>
          </a:p>
        </p:txBody>
      </p:sp>
      <p:sp>
        <p:nvSpPr>
          <p:cNvPr id="123" name="Code line 123"/>
          <p:cNvSpPr txBox="1"/>
          <p:nvPr/>
        </p:nvSpPr>
        <p:spPr>
          <a:xfrm>
            <a:off x="4983480" y="5762830"/>
            <a:ext cx="6217920" cy="195540"/>
          </a:xfrm>
          <a:prstGeom prst="rect">
            <a:avLst/>
          </a:prstGeom>
          <a:noFill/>
        </p:spPr>
        <p:txBody>
          <a:bodyPr wrap="none" lIns="146304" tIns="0" rIns="0" bIns="0" anchor="ctr">
            <a:noAutofit/>
          </a:bodyPr>
          <a:lstStyle/>
          <a:p>
            <a:pPr>
              <a:tabLst>
                <a:tab pos="4224528" algn="l"/>
              </a:tabLst>
            </a:pPr>
            <a:r>
              <a:rPr lang="en-US" sz="1150" b="0" i="0" dirty="0">
                <a:solidFill>
                  <a:srgbClr val="1F2328"/>
                </a:solidFill>
                <a:latin typeface="Consolas"/>
                <a:cs typeface="Consolas"/>
              </a:rPr>
              <a:t xml:space="preserve">    </a:t>
            </a:r>
            <a:r>
              <a:rPr lang="en-US" sz="1150" b="0" i="0" dirty="0">
                <a:solidFill>
                  <a:srgbClr val="5B6770"/>
                </a:solidFill>
                <a:latin typeface="Consolas"/>
                <a:cs typeface="Consolas"/>
              </a:rPr>
              <a:t xml:space="preserve">rdfs:comment</a:t>
            </a:r>
            <a:r>
              <a:rPr lang="en-US" sz="1150" b="0" i="0" dirty="0">
                <a:solidFill>
                  <a:srgbClr val="1F2328"/>
                </a:solidFill>
                <a:latin typeface="Consolas"/>
                <a:cs typeface="Consolas"/>
              </a:rPr>
              <a:t xml:space="preserve"> </a:t>
            </a:r>
            <a:r>
              <a:rPr lang="en-US" sz="1150" b="0" i="0" dirty="0">
                <a:solidFill>
                  <a:srgbClr val="A3401E"/>
                </a:solidFill>
                <a:latin typeface="Consolas"/>
                <a:cs typeface="Consolas"/>
              </a:rPr>
              <a:t xml:space="preserve">"0 = fully active … 5 = dead"@en</a:t>
            </a:r>
            <a:r>
              <a:rPr lang="en-US" sz="1150" b="0" i="0" dirty="0">
                <a:solidFill>
                  <a:srgbClr val="1F2328"/>
                </a:solidFill>
                <a:latin typeface="Consolas"/>
                <a:cs typeface="Consolas"/>
              </a:rPr>
              <a:t xml:space="preserve">,</a:t>
            </a:r>
            <a:r>
              <a:rPr lang="en-US" sz="1100" b="0" i="1" dirty="0">
                <a:solidFill>
                  <a:srgbClr val="6F42C1"/>
                </a:solidFill>
                <a:latin typeface="Calibri"/>
                <a:cs typeface="Calibri"/>
              </a:rPr>
              <a:t xml:space="preserve">	← LLM knowledge</a:t>
            </a:r>
            <a:endParaRPr lang="en-US" sz="1150"/>
          </a:p>
        </p:txBody>
      </p:sp>
      <p:sp>
        <p:nvSpPr>
          <p:cNvPr id="124" name="Code line 124"/>
          <p:cNvSpPr txBox="1"/>
          <p:nvPr/>
        </p:nvSpPr>
        <p:spPr>
          <a:xfrm>
            <a:off x="4983480" y="5958371"/>
            <a:ext cx="6217920" cy="195540"/>
          </a:xfrm>
          <a:prstGeom prst="rect">
            <a:avLst/>
          </a:prstGeom>
          <a:noFill/>
        </p:spPr>
        <p:txBody>
          <a:bodyPr wrap="none" lIns="146304" tIns="0" rIns="0" bIns="0" anchor="ctr">
            <a:noAutofit/>
          </a:bodyPr>
          <a:lstStyle/>
          <a:p>
            <a:pPr>
              <a:tabLst>
                <a:tab pos="4224528" algn="l"/>
              </a:tabLst>
            </a:pPr>
            <a:r>
              <a:rPr lang="en-US" sz="1150" b="0" i="0" dirty="0">
                <a:solidFill>
                  <a:srgbClr val="1F2328"/>
                </a:solidFill>
                <a:latin typeface="Consolas"/>
                <a:cs typeface="Consolas"/>
              </a:rPr>
              <a:t xml:space="preserve">    </a:t>
            </a:r>
            <a:r>
              <a:rPr lang="en-US" sz="1150" b="0" i="0" dirty="0">
                <a:solidFill>
                  <a:srgbClr val="5B6770"/>
                </a:solidFill>
                <a:latin typeface="Consolas"/>
                <a:cs typeface="Consolas"/>
              </a:rPr>
              <a:t xml:space="preserve">prov:wasDerivedFrom</a:t>
            </a:r>
            <a:r>
              <a:rPr lang="en-US" sz="1150" b="0" i="0" dirty="0">
                <a:solidFill>
                  <a:srgbClr val="1F2328"/>
                </a:solidFill>
                <a:latin typeface="Consolas"/>
                <a:cs typeface="Consolas"/>
              </a:rPr>
              <a:t xml:space="preserve"> </a:t>
            </a:r>
            <a:r>
              <a:rPr lang="en-US" sz="1150" b="0" i="0" dirty="0">
                <a:solidFill>
                  <a:srgbClr val="2F6B78"/>
                </a:solidFill>
                <a:latin typeface="Consolas"/>
                <a:cs typeface="Consolas"/>
              </a:rPr>
              <a:t xml:space="preserve">admission:ecog_stage</a:t>
            </a:r>
            <a:r>
              <a:rPr lang="en-US" sz="1100" b="0" i="1" dirty="0">
                <a:solidFill>
                  <a:srgbClr val="5B6770"/>
                </a:solidFill>
                <a:latin typeface="Calibri"/>
                <a:cs typeface="Calibri"/>
              </a:rPr>
              <a:t xml:space="preserve">	← source column</a:t>
            </a:r>
            <a:endParaRPr lang="en-US" sz="1150"/>
          </a:p>
        </p:txBody>
      </p:sp>
      <p:sp>
        <p:nvSpPr>
          <p:cNvPr id="125" name="What this enables"/>
          <p:cNvSpPr/>
          <p:nvPr/>
        </p:nvSpPr>
        <p:spPr>
          <a:xfrm>
            <a:off x="1005840" y="4919472"/>
            <a:ext cx="2606040" cy="1261872"/>
          </a:xfrm>
          <a:prstGeom prst="rect">
            <a:avLst/>
          </a:prstGeom>
          <a:noFill/>
          <a:ln>
            <a:noFill/>
          </a:ln>
        </p:spPr>
        <p:txBody>
          <a:bodyPr wrap="square" lIns="0" tIns="0" rIns="0" bIns="0" anchor="t">
            <a:noAutofit/>
          </a:bodyPr>
          <a:lstStyle/>
          <a:p>
            <a:pPr algn="l">
              <a:spcAft>
                <a:spcPts val="500"/>
              </a:spcAft>
            </a:pPr>
            <a:r>
              <a:rPr lang="en-US" sz="1150" b="1" i="0" dirty="0">
                <a:solidFill>
                  <a:srgbClr val="0B6E4F"/>
                </a:solidFill>
                <a:latin typeface="Consolas"/>
                <a:cs typeface="Consolas"/>
              </a:rPr>
              <a:t xml:space="preserve">WHAT THIS ENABLES</a:t>
            </a:r>
          </a:p>
          <a:p>
            <a:pPr algn="l">
              <a:spcAft>
                <a:spcPts val="300"/>
              </a:spcAft>
            </a:pPr>
            <a:r>
              <a:rPr lang="en-US" sz="1400" b="0" i="0" dirty="0">
                <a:solidFill>
                  <a:srgbClr val="1F2328"/>
                </a:solidFill>
                <a:latin typeface="Calibri"/>
                <a:cs typeface="Calibri"/>
              </a:rPr>
              <a:t xml:space="preserve">Concept-based access</a:t>
            </a:r>
          </a:p>
          <a:p>
            <a:pPr algn="l">
              <a:spcAft>
                <a:spcPts val="300"/>
              </a:spcAft>
            </a:pPr>
            <a:r>
              <a:rPr lang="en-US" sz="1400" b="0" i="0" dirty="0">
                <a:solidFill>
                  <a:srgbClr val="1F2328"/>
                </a:solidFill>
                <a:latin typeface="Calibri"/>
                <a:cs typeface="Calibri"/>
              </a:rPr>
              <a:t xml:space="preserve">Knowledge graph population</a:t>
            </a:r>
          </a:p>
          <a:p>
            <a:pPr algn="l">
              <a:spcAft>
                <a:spcPts val="300"/>
              </a:spcAft>
            </a:pPr>
            <a:r>
              <a:rPr lang="en-US" sz="1400" b="0" i="0" dirty="0">
                <a:solidFill>
                  <a:srgbClr val="1F2328"/>
                </a:solidFill>
                <a:latin typeface="Calibri"/>
                <a:cs typeface="Calibri"/>
              </a:rPr>
              <a:t xml:space="preserve">Cross-system interoperability</a:t>
            </a:r>
          </a:p>
        </p:txBody>
      </p:sp>
    </p:spTree>
  </p:cSld>
  <p:clrMapOvr>
    <a:masterClrMapping/>
  </p:clrMapOvr>
  <p:timing>
    <p:tnLst>
      <p:par>
        <p:cTn id="1" dur="indefinite" restart="never" nodeType="tmRoot">
          <p:childTnLst>
            <p:seq concurrent="1" nextAc="seek">
              <p:cTn id="2" dur="indefinite" nodeType="mainSeq">
                <p:childTnLst>
                  <p:par>
                    <p:cTn id="48" fill="hold">
                      <p:stCondLst>
                        <p:cond delay="indefinite"/>
                      </p:stCondLst>
                      <p:childTnLst>
                        <p:par>
                          <p:cTn id="49"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88"/>
                                        </p:tgtEl>
                                        <p:attrNameLst>
                                          <p:attrName>style.visibility</p:attrName>
                                        </p:attrNameLst>
                                      </p:cBhvr>
                                      <p:to>
                                        <p:strVal val="visible"/>
                                      </p:to>
                                    </p:set>
                                    <p:animEffect transition="in" filter="fade">
                                      <p:cBhvr>
                                        <p:cTn id="5" dur="250"/>
                                        <p:tgtEl>
                                          <p:spTgt spid="8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89"/>
                                        </p:tgtEl>
                                        <p:attrNameLst>
                                          <p:attrName>style.visibility</p:attrName>
                                        </p:attrNameLst>
                                      </p:cBhvr>
                                      <p:to>
                                        <p:strVal val="visible"/>
                                      </p:to>
                                    </p:set>
                                    <p:animEffect transition="in" filter="fade">
                                      <p:cBhvr>
                                        <p:cTn id="8" dur="250"/>
                                        <p:tgtEl>
                                          <p:spTgt spid="8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0"/>
                                        </p:tgtEl>
                                        <p:attrNameLst>
                                          <p:attrName>style.visibility</p:attrName>
                                        </p:attrNameLst>
                                      </p:cBhvr>
                                      <p:to>
                                        <p:strVal val="visible"/>
                                      </p:to>
                                    </p:set>
                                    <p:animEffect transition="in" filter="fade">
                                      <p:cBhvr>
                                        <p:cTn id="11" dur="250"/>
                                        <p:tgtEl>
                                          <p:spTgt spid="9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91"/>
                                        </p:tgtEl>
                                        <p:attrNameLst>
                                          <p:attrName>style.visibility</p:attrName>
                                        </p:attrNameLst>
                                      </p:cBhvr>
                                      <p:to>
                                        <p:strVal val="visible"/>
                                      </p:to>
                                    </p:set>
                                    <p:animEffect transition="in" filter="fade">
                                      <p:cBhvr>
                                        <p:cTn id="14" dur="250"/>
                                        <p:tgtEl>
                                          <p:spTgt spid="91"/>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92"/>
                                        </p:tgtEl>
                                        <p:attrNameLst>
                                          <p:attrName>style.visibility</p:attrName>
                                        </p:attrNameLst>
                                      </p:cBhvr>
                                      <p:to>
                                        <p:strVal val="visible"/>
                                      </p:to>
                                    </p:set>
                                    <p:animEffect transition="in" filter="fade">
                                      <p:cBhvr>
                                        <p:cTn id="17" dur="250"/>
                                        <p:tgtEl>
                                          <p:spTgt spid="9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93"/>
                                        </p:tgtEl>
                                        <p:attrNameLst>
                                          <p:attrName>style.visibility</p:attrName>
                                        </p:attrNameLst>
                                      </p:cBhvr>
                                      <p:to>
                                        <p:strVal val="visible"/>
                                      </p:to>
                                    </p:set>
                                    <p:animEffect transition="in" filter="fade">
                                      <p:cBhvr>
                                        <p:cTn id="20" dur="250"/>
                                        <p:tgtEl>
                                          <p:spTgt spid="9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94"/>
                                        </p:tgtEl>
                                        <p:attrNameLst>
                                          <p:attrName>style.visibility</p:attrName>
                                        </p:attrNameLst>
                                      </p:cBhvr>
                                      <p:to>
                                        <p:strVal val="visible"/>
                                      </p:to>
                                    </p:set>
                                    <p:animEffect transition="in" filter="fade">
                                      <p:cBhvr>
                                        <p:cTn id="23" dur="250"/>
                                        <p:tgtEl>
                                          <p:spTgt spid="9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12"/>
                                        </p:tgtEl>
                                        <p:attrNameLst>
                                          <p:attrName>style.visibility</p:attrName>
                                        </p:attrNameLst>
                                      </p:cBhvr>
                                      <p:to>
                                        <p:strVal val="visible"/>
                                      </p:to>
                                    </p:set>
                                    <p:animEffect transition="in" filter="fade">
                                      <p:cBhvr>
                                        <p:cTn id="26" dur="250"/>
                                        <p:tgtEl>
                                          <p:spTgt spid="11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13"/>
                                        </p:tgtEl>
                                        <p:attrNameLst>
                                          <p:attrName>style.visibility</p:attrName>
                                        </p:attrNameLst>
                                      </p:cBhvr>
                                      <p:to>
                                        <p:strVal val="visible"/>
                                      </p:to>
                                    </p:set>
                                    <p:animEffect transition="in" filter="fade">
                                      <p:cBhvr>
                                        <p:cTn id="29" dur="250"/>
                                        <p:tgtEl>
                                          <p:spTgt spid="11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5"/>
                                        </p:tgtEl>
                                        <p:attrNameLst>
                                          <p:attrName>style.visibility</p:attrName>
                                        </p:attrNameLst>
                                      </p:cBhvr>
                                      <p:to>
                                        <p:strVal val="visible"/>
                                      </p:to>
                                    </p:set>
                                    <p:animEffect transition="in" filter="fade">
                                      <p:cBhvr>
                                        <p:cTn id="32" dur="250"/>
                                        <p:tgtEl>
                                          <p:spTgt spid="11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16"/>
                                        </p:tgtEl>
                                        <p:attrNameLst>
                                          <p:attrName>style.visibility</p:attrName>
                                        </p:attrNameLst>
                                      </p:cBhvr>
                                      <p:to>
                                        <p:strVal val="visible"/>
                                      </p:to>
                                    </p:set>
                                    <p:animEffect transition="in" filter="fade">
                                      <p:cBhvr>
                                        <p:cTn id="35" dur="250"/>
                                        <p:tgtEl>
                                          <p:spTgt spid="11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19"/>
                                        </p:tgtEl>
                                        <p:attrNameLst>
                                          <p:attrName>style.visibility</p:attrName>
                                        </p:attrNameLst>
                                      </p:cBhvr>
                                      <p:to>
                                        <p:strVal val="visible"/>
                                      </p:to>
                                    </p:set>
                                    <p:animEffect transition="in" filter="fade">
                                      <p:cBhvr>
                                        <p:cTn id="38" dur="250"/>
                                        <p:tgtEl>
                                          <p:spTgt spid="119"/>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20"/>
                                        </p:tgtEl>
                                        <p:attrNameLst>
                                          <p:attrName>style.visibility</p:attrName>
                                        </p:attrNameLst>
                                      </p:cBhvr>
                                      <p:to>
                                        <p:strVal val="visible"/>
                                      </p:to>
                                    </p:set>
                                    <p:animEffect transition="in" filter="fade">
                                      <p:cBhvr>
                                        <p:cTn id="41" dur="250"/>
                                        <p:tgtEl>
                                          <p:spTgt spid="120"/>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21"/>
                                        </p:tgtEl>
                                        <p:attrNameLst>
                                          <p:attrName>style.visibility</p:attrName>
                                        </p:attrNameLst>
                                      </p:cBhvr>
                                      <p:to>
                                        <p:strVal val="visible"/>
                                      </p:to>
                                    </p:set>
                                    <p:animEffect transition="in" filter="fade">
                                      <p:cBhvr>
                                        <p:cTn id="44" dur="250"/>
                                        <p:tgtEl>
                                          <p:spTgt spid="121"/>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24"/>
                                        </p:tgtEl>
                                        <p:attrNameLst>
                                          <p:attrName>style.visibility</p:attrName>
                                        </p:attrNameLst>
                                      </p:cBhvr>
                                      <p:to>
                                        <p:strVal val="visible"/>
                                      </p:to>
                                    </p:set>
                                    <p:animEffect transition="in" filter="fade">
                                      <p:cBhvr>
                                        <p:cTn id="47" dur="250"/>
                                        <p:tgtEl>
                                          <p:spTgt spid="124"/>
                                        </p:tgtEl>
                                      </p:cBhvr>
                                    </p:animEffect>
                                  </p:childTnLst>
                                </p:cTn>
                              </p:par>
                            </p:childTnLst>
                          </p:cTn>
                        </p:par>
                      </p:childTnLst>
                    </p:cTn>
                  </p:par>
                  <p:par>
                    <p:cTn id="56" fill="hold">
                      <p:stCondLst>
                        <p:cond delay="indefinite"/>
                      </p:stCondLst>
                      <p:childTnLst>
                        <p:par>
                          <p:cTn id="57"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17"/>
                                        </p:tgtEl>
                                        <p:attrNameLst>
                                          <p:attrName>style.visibility</p:attrName>
                                        </p:attrNameLst>
                                      </p:cBhvr>
                                      <p:to>
                                        <p:strVal val="visible"/>
                                      </p:to>
                                    </p:set>
                                    <p:animEffect transition="in" filter="fade">
                                      <p:cBhvr>
                                        <p:cTn id="52" dur="250"/>
                                        <p:tgtEl>
                                          <p:spTgt spid="117"/>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22"/>
                                        </p:tgtEl>
                                        <p:attrNameLst>
                                          <p:attrName>style.visibility</p:attrName>
                                        </p:attrNameLst>
                                      </p:cBhvr>
                                      <p:to>
                                        <p:strVal val="visible"/>
                                      </p:to>
                                    </p:set>
                                    <p:animEffect transition="in" filter="fade">
                                      <p:cBhvr>
                                        <p:cTn id="55" dur="250"/>
                                        <p:tgtEl>
                                          <p:spTgt spid="122"/>
                                        </p:tgtEl>
                                      </p:cBhvr>
                                    </p:animEffect>
                                  </p:childTnLst>
                                </p:cTn>
                              </p:par>
                            </p:childTnLst>
                          </p:cTn>
                        </p:par>
                      </p:childTnLst>
                    </p:cTn>
                  </p:par>
                  <p:par>
                    <p:cTn id="61" fill="hold">
                      <p:stCondLst>
                        <p:cond delay="indefinite"/>
                      </p:stCondLst>
                      <p:childTnLst>
                        <p:par>
                          <p:cTn id="62"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18"/>
                                        </p:tgtEl>
                                        <p:attrNameLst>
                                          <p:attrName>style.visibility</p:attrName>
                                        </p:attrNameLst>
                                      </p:cBhvr>
                                      <p:to>
                                        <p:strVal val="visible"/>
                                      </p:to>
                                    </p:set>
                                    <p:animEffect transition="in" filter="fade">
                                      <p:cBhvr>
                                        <p:cTn id="60" dur="250"/>
                                        <p:tgtEl>
                                          <p:spTgt spid="118"/>
                                        </p:tgtEl>
                                      </p:cBhvr>
                                    </p:animEffect>
                                  </p:childTnLst>
                                </p:cTn>
                              </p:par>
                            </p:childTnLst>
                          </p:cTn>
                        </p:par>
                      </p:childTnLst>
                    </p:cTn>
                  </p:par>
                  <p:par>
                    <p:cTn id="69" fill="hold">
                      <p:stCondLst>
                        <p:cond delay="indefinite"/>
                      </p:stCondLst>
                      <p:childTnLst>
                        <p:par>
                          <p:cTn id="70"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114"/>
                                        </p:tgtEl>
                                        <p:attrNameLst>
                                          <p:attrName>style.visibility</p:attrName>
                                        </p:attrNameLst>
                                      </p:cBhvr>
                                      <p:to>
                                        <p:strVal val="visible"/>
                                      </p:to>
                                    </p:set>
                                    <p:animEffect transition="in" filter="fade">
                                      <p:cBhvr>
                                        <p:cTn id="65" dur="250"/>
                                        <p:tgtEl>
                                          <p:spTgt spid="114"/>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123"/>
                                        </p:tgtEl>
                                        <p:attrNameLst>
                                          <p:attrName>style.visibility</p:attrName>
                                        </p:attrNameLst>
                                      </p:cBhvr>
                                      <p:to>
                                        <p:strVal val="visible"/>
                                      </p:to>
                                    </p:set>
                                    <p:animEffect transition="in" filter="fade">
                                      <p:cBhvr>
                                        <p:cTn id="68" dur="250"/>
                                        <p:tgtEl>
                                          <p:spTgt spid="123"/>
                                        </p:tgtEl>
                                      </p:cBhvr>
                                    </p:animEffect>
                                  </p:childTnLst>
                                </p:cTn>
                              </p:par>
                            </p:childTnLst>
                          </p:cTn>
                        </p:par>
                      </p:childTnLst>
                    </p:cTn>
                  </p:par>
                  <p:par>
                    <p:cTn id="77" fill="hold">
                      <p:stCondLst>
                        <p:cond delay="indefinite"/>
                      </p:stCondLst>
                      <p:childTnLst>
                        <p:par>
                          <p:cTn id="78"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102"/>
                                        </p:tgtEl>
                                        <p:attrNameLst>
                                          <p:attrName>style.visibility</p:attrName>
                                        </p:attrNameLst>
                                      </p:cBhvr>
                                      <p:to>
                                        <p:strVal val="visible"/>
                                      </p:to>
                                    </p:set>
                                    <p:animEffect transition="in" filter="fade">
                                      <p:cBhvr>
                                        <p:cTn id="73" dur="250"/>
                                        <p:tgtEl>
                                          <p:spTgt spid="102"/>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125"/>
                                        </p:tgtEl>
                                        <p:attrNameLst>
                                          <p:attrName>style.visibility</p:attrName>
                                        </p:attrNameLst>
                                      </p:cBhvr>
                                      <p:to>
                                        <p:strVal val="visible"/>
                                      </p:to>
                                    </p:set>
                                    <p:animEffect transition="in" filter="fade">
                                      <p:cBhvr>
                                        <p:cTn id="76" dur="250"/>
                                        <p:tgtEl>
                                          <p:spTgt spid="1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 grpId="0" animBg="1"/>
      <p:bldP spid="89" grpId="0" animBg="1"/>
      <p:bldP spid="90" grpId="0" animBg="1"/>
      <p:bldP spid="91" grpId="0" animBg="1"/>
      <p:bldP spid="93" grpId="0" animBg="1"/>
      <p:bldP spid="94" grpId="0" animBg="1"/>
      <p:bldP spid="112" grpId="0" animBg="1"/>
      <p:bldP spid="113" grpId="0" animBg="1"/>
      <p:bldP spid="115" grpId="0" animBg="1"/>
      <p:bldP spid="116" grpId="0" animBg="1"/>
      <p:bldP spid="119" grpId="0" animBg="1"/>
      <p:bldP spid="120" grpId="0" animBg="1"/>
      <p:bldP spid="121" grpId="0" animBg="1"/>
      <p:bldP spid="124" grpId="0" animBg="1"/>
      <p:bldP spid="117" grpId="0" animBg="1"/>
      <p:bldP spid="122" grpId="0" animBg="1"/>
      <p:bldP spid="118" grpId="0" animBg="1"/>
      <p:bldP spid="114" grpId="0" animBg="1"/>
      <p:bldP spid="123" grpId="0" animBg="1"/>
      <p:bldP spid="102" grpId="0" animBg="1"/>
      <p:bldP spid="125" grpId="0" animBg="1"/>
    </p:bld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8" name="Shape 108"/>
        <p:cNvGrpSpPr/>
        <p:nvPr/>
      </p:nvGrpSpPr>
      <p:grpSpPr>
        <a:xfrm>
          <a:off x="0" y="0"/>
          <a:ext cx="0" cy="0"/>
          <a:chOff x="0" y="0"/>
          <a:chExt cx="0" cy="0"/>
        </a:xfrm>
      </p:grpSpPr>
      <p:sp>
        <p:nvSpPr>
          <p:cNvPr id="109" name="Google Shape;109;p4"/>
          <p:cNvSpPr txBox="1"/>
          <p:nvPr/>
        </p:nvSpPr>
        <p:spPr>
          <a:xfrm>
            <a:off x="804672" y="521207"/>
            <a:ext cx="10607040" cy="31089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0B6E4F"/>
                </a:solidFill>
                <a:latin typeface="Consolas"/>
                <a:ea typeface="Consolas"/>
                <a:cs typeface="Consolas"/>
                <a:sym typeface="Consolas"/>
              </a:rPr>
              <a:t>THE RESEARCH GAP</a:t>
            </a:r>
            <a:endParaRPr/>
          </a:p>
        </p:txBody>
      </p:sp>
      <p:sp>
        <p:nvSpPr>
          <p:cNvPr id="110" name="Google Shape;110;p4"/>
          <p:cNvSpPr txBox="1"/>
          <p:nvPr/>
        </p:nvSpPr>
        <p:spPr>
          <a:xfrm>
            <a:off x="804672" y="960120"/>
            <a:ext cx="10689336" cy="7132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800">
                <a:solidFill>
                  <a:srgbClr val="1F2328"/>
                </a:solidFill>
                <a:latin typeface="Cambria"/>
                <a:ea typeface="Calibri"/>
                <a:cs typeface="Calibri"/>
                <a:sym typeface="Calibri"/>
              </a:rPr>
              <a:t>Two partial solutions. Neither solves the whole problem.</a:t>
            </a:r>
            <a:endParaRPr/>
          </a:p>
        </p:txBody>
      </p:sp>
      <p:sp>
        <p:nvSpPr>
          <p:cNvPr id="111" name="Google Shape;111;p4"/>
          <p:cNvSpPr/>
          <p:nvPr/>
        </p:nvSpPr>
        <p:spPr>
          <a:xfrm>
            <a:off x="804672" y="1920240"/>
            <a:ext cx="5148072" cy="2523744"/>
          </a:xfrm>
          <a:prstGeom prst="roundRect">
            <a:avLst>
              <a:gd fmla="val 10000" name="adj"/>
            </a:avLst>
          </a:prstGeom>
          <a:solidFill>
            <a:srgbClr val="FFFFFF"/>
          </a:solidFill>
          <a:ln cap="flat" cmpd="sng" w="12700">
            <a:solidFill>
              <a:srgbClr val="D9DED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2" name="Google Shape;112;p4"/>
          <p:cNvSpPr/>
          <p:nvPr/>
        </p:nvSpPr>
        <p:spPr>
          <a:xfrm>
            <a:off x="804672" y="1920240"/>
            <a:ext cx="5148072" cy="64008"/>
          </a:xfrm>
          <a:prstGeom prst="rect">
            <a:avLst/>
          </a:prstGeom>
          <a:solidFill>
            <a:srgbClr val="0B6E4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3" name="Google Shape;113;p4"/>
          <p:cNvSpPr txBox="1"/>
          <p:nvPr/>
        </p:nvSpPr>
        <p:spPr>
          <a:xfrm>
            <a:off x="1069848" y="2130552"/>
            <a:ext cx="4654296" cy="31089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550">
                <a:solidFill>
                  <a:srgbClr val="0B6E4F"/>
                </a:solidFill>
                <a:latin typeface="Consolas"/>
                <a:ea typeface="Consolas"/>
                <a:cs typeface="Consolas"/>
                <a:sym typeface="Consolas"/>
              </a:rPr>
              <a:t>SCHEMA-FIRST RULES</a:t>
            </a:r>
            <a:endParaRPr/>
          </a:p>
        </p:txBody>
      </p:sp>
      <p:sp>
        <p:nvSpPr>
          <p:cNvPr id="114" name="Google Shape;114;p4"/>
          <p:cNvSpPr txBox="1"/>
          <p:nvPr/>
        </p:nvSpPr>
        <p:spPr>
          <a:xfrm>
            <a:off x="1069848" y="2587752"/>
            <a:ext cx="4645152" cy="32004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100">
                <a:solidFill>
                  <a:srgbClr val="1F2328"/>
                </a:solidFill>
                <a:latin typeface="Calibri"/>
                <a:ea typeface="Calibri"/>
                <a:cs typeface="Calibri"/>
                <a:sym typeface="Calibri"/>
              </a:rPr>
              <a:t>Preserve the structure</a:t>
            </a:r>
            <a:endParaRPr/>
          </a:p>
        </p:txBody>
      </p:sp>
      <p:sp>
        <p:nvSpPr>
          <p:cNvPr id="115" name="Google Shape;115;p4"/>
          <p:cNvSpPr txBox="1"/>
          <p:nvPr/>
        </p:nvSpPr>
        <p:spPr>
          <a:xfrm>
            <a:off x="1069848" y="3072384"/>
            <a:ext cx="4526280" cy="5394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700">
                <a:solidFill>
                  <a:srgbClr val="1F2328"/>
                </a:solidFill>
                <a:latin typeface="Calibri"/>
                <a:ea typeface="Calibri"/>
                <a:cs typeface="Calibri"/>
                <a:sym typeface="Calibri"/>
              </a:rPr>
              <a:t>Tables, columns and foreign keys can be mapped systematically.</a:t>
            </a:r>
            <a:endParaRPr/>
          </a:p>
        </p:txBody>
      </p:sp>
      <p:sp>
        <p:nvSpPr>
          <p:cNvPr id="116" name="Google Shape;116;p4"/>
          <p:cNvSpPr txBox="1"/>
          <p:nvPr/>
        </p:nvSpPr>
        <p:spPr>
          <a:xfrm>
            <a:off x="1069848" y="3895344"/>
            <a:ext cx="4617720" cy="32004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600">
                <a:solidFill>
                  <a:srgbClr val="5B6770"/>
                </a:solidFill>
                <a:latin typeface="Calibri"/>
                <a:ea typeface="Calibri"/>
                <a:cs typeface="Calibri"/>
                <a:sym typeface="Calibri"/>
              </a:rPr>
              <a:t>But implicit domain semantics remain missing.</a:t>
            </a:r>
            <a:endParaRPr/>
          </a:p>
        </p:txBody>
      </p:sp>
      <p:sp>
        <p:nvSpPr>
          <p:cNvPr id="117" name="Google Shape;117;p4"/>
          <p:cNvSpPr/>
          <p:nvPr/>
        </p:nvSpPr>
        <p:spPr>
          <a:xfrm>
            <a:off x="6208776" y="1920240"/>
            <a:ext cx="5184648" cy="2523744"/>
          </a:xfrm>
          <a:prstGeom prst="roundRect">
            <a:avLst>
              <a:gd fmla="val 10000" name="adj"/>
            </a:avLst>
          </a:prstGeom>
          <a:solidFill>
            <a:srgbClr val="FFFFFF"/>
          </a:solidFill>
          <a:ln cap="flat" cmpd="sng" w="12700">
            <a:solidFill>
              <a:srgbClr val="D9DED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8" name="Google Shape;118;p4"/>
          <p:cNvSpPr/>
          <p:nvPr/>
        </p:nvSpPr>
        <p:spPr>
          <a:xfrm>
            <a:off x="6208776" y="1920240"/>
            <a:ext cx="5184648" cy="64008"/>
          </a:xfrm>
          <a:prstGeom prst="rect">
            <a:avLst/>
          </a:prstGeom>
          <a:solidFill>
            <a:srgbClr val="3A7D8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9" name="Google Shape;119;p4"/>
          <p:cNvSpPr txBox="1"/>
          <p:nvPr/>
        </p:nvSpPr>
        <p:spPr>
          <a:xfrm>
            <a:off x="6473952" y="2130552"/>
            <a:ext cx="4645152" cy="31089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550">
                <a:solidFill>
                  <a:srgbClr val="2F6B78"/>
                </a:solidFill>
                <a:latin typeface="Consolas"/>
                <a:ea typeface="Consolas"/>
                <a:cs typeface="Consolas"/>
                <a:sym typeface="Consolas"/>
              </a:rPr>
              <a:t>LLM-FIRST GENERATION</a:t>
            </a:r>
            <a:endParaRPr/>
          </a:p>
        </p:txBody>
      </p:sp>
      <p:sp>
        <p:nvSpPr>
          <p:cNvPr id="120" name="Google Shape;120;p4"/>
          <p:cNvSpPr txBox="1"/>
          <p:nvPr/>
        </p:nvSpPr>
        <p:spPr>
          <a:xfrm>
            <a:off x="6473952" y="2587752"/>
            <a:ext cx="4608576" cy="32004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100">
                <a:solidFill>
                  <a:srgbClr val="1F2328"/>
                </a:solidFill>
                <a:latin typeface="Calibri"/>
                <a:ea typeface="Calibri"/>
                <a:cs typeface="Calibri"/>
                <a:sym typeface="Calibri"/>
              </a:rPr>
              <a:t>Suggest the meaning</a:t>
            </a:r>
            <a:endParaRPr/>
          </a:p>
        </p:txBody>
      </p:sp>
      <p:sp>
        <p:nvSpPr>
          <p:cNvPr id="121" name="Google Shape;121;p4"/>
          <p:cNvSpPr txBox="1"/>
          <p:nvPr/>
        </p:nvSpPr>
        <p:spPr>
          <a:xfrm>
            <a:off x="6473952" y="3072384"/>
            <a:ext cx="4553712" cy="5394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700">
                <a:solidFill>
                  <a:srgbClr val="1F2328"/>
                </a:solidFill>
                <a:latin typeface="Calibri"/>
                <a:ea typeface="Calibri"/>
                <a:cs typeface="Calibri"/>
                <a:sym typeface="Calibri"/>
              </a:rPr>
              <a:t>Labels, concepts and plausible relationships can be proposed.</a:t>
            </a:r>
            <a:endParaRPr/>
          </a:p>
        </p:txBody>
      </p:sp>
      <p:sp>
        <p:nvSpPr>
          <p:cNvPr id="122" name="Google Shape;122;p4"/>
          <p:cNvSpPr txBox="1"/>
          <p:nvPr/>
        </p:nvSpPr>
        <p:spPr>
          <a:xfrm>
            <a:off x="6473952" y="3895344"/>
            <a:ext cx="4663440" cy="32004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600">
                <a:solidFill>
                  <a:srgbClr val="5B6770"/>
                </a:solidFill>
                <a:latin typeface="Calibri"/>
                <a:ea typeface="Calibri"/>
                <a:cs typeface="Calibri"/>
                <a:sym typeface="Calibri"/>
              </a:rPr>
              <a:t>But elements may be omitted or modeled incorrectly.</a:t>
            </a:r>
            <a:endParaRPr/>
          </a:p>
        </p:txBody>
      </p:sp>
      <p:sp>
        <p:nvSpPr>
          <p:cNvPr id="123" name="Google Shape;123;p4"/>
          <p:cNvSpPr/>
          <p:nvPr/>
        </p:nvSpPr>
        <p:spPr>
          <a:xfrm>
            <a:off x="804672" y="4745736"/>
            <a:ext cx="10588752" cy="960120"/>
          </a:xfrm>
          <a:prstGeom prst="roundRect">
            <a:avLst>
              <a:gd fmla="val 10000" name="adj"/>
            </a:avLst>
          </a:prstGeom>
          <a:solidFill>
            <a:srgbClr val="E6F2E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4" name="Google Shape;124;p4"/>
          <p:cNvSpPr txBox="1"/>
          <p:nvPr/>
        </p:nvSpPr>
        <p:spPr>
          <a:xfrm>
            <a:off x="1051560" y="4919472"/>
            <a:ext cx="2039112" cy="31089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550">
                <a:solidFill>
                  <a:srgbClr val="0B6E4F"/>
                </a:solidFill>
                <a:latin typeface="Consolas"/>
                <a:ea typeface="Consolas"/>
                <a:cs typeface="Consolas"/>
                <a:sym typeface="Consolas"/>
              </a:rPr>
              <a:t>OUR QUESTION</a:t>
            </a:r>
            <a:endParaRPr/>
          </a:p>
        </p:txBody>
      </p:sp>
      <p:sp>
        <p:nvSpPr>
          <p:cNvPr id="125" name="Google Shape;125;p4"/>
          <p:cNvSpPr txBox="1"/>
          <p:nvPr/>
        </p:nvSpPr>
        <p:spPr>
          <a:xfrm>
            <a:off x="2907792" y="4864608"/>
            <a:ext cx="8156448" cy="667512"/>
          </a:xfrm>
          <a:prstGeom prst="rect">
            <a:avLst/>
          </a:prstGeom>
          <a:noFill/>
          <a:ln>
            <a:noFill/>
          </a:ln>
        </p:spPr>
        <p:txBody>
          <a:bodyPr anchorCtr="0" anchor="ctr" bIns="0" lIns="0" spcFirstLastPara="1" rIns="0" wrap="square" tIns="0">
            <a:spAutoFit/>
          </a:bodyPr>
          <a:lstStyle/>
          <a:p>
            <a:pPr indent="0" lvl="0" marL="0" marR="0" rtl="0" algn="l">
              <a:lnSpc>
                <a:spcPct val="107000"/>
              </a:lnSpc>
              <a:spcBef>
                <a:spcPts val="0"/>
              </a:spcBef>
              <a:spcAft>
                <a:spcPts val="0"/>
              </a:spcAft>
              <a:buNone/>
            </a:pPr>
            <a:r>
              <a:rPr b="1" lang="en-US" sz="1800">
                <a:solidFill>
                  <a:srgbClr val="1F2328"/>
                </a:solidFill>
                <a:latin typeface="Calibri"/>
                <a:ea typeface="Calibri"/>
                <a:cs typeface="Calibri"/>
                <a:sym typeface="Calibri"/>
              </a:rPr>
              <a:t>Can we preserve schema fidelity </a:t>
            </a:r>
            <a:r>
              <a:rPr b="1" lang="en-US" sz="1800">
                <a:solidFill>
                  <a:srgbClr val="0B6E4F"/>
                </a:solidFill>
                <a:latin typeface="Calibri"/>
                <a:ea typeface="Calibri"/>
                <a:cs typeface="Calibri"/>
                <a:sym typeface="Calibri"/>
              </a:rPr>
              <a:t>and</a:t>
            </a:r>
            <a:r>
              <a:rPr b="1" lang="en-US" sz="1800">
                <a:solidFill>
                  <a:srgbClr val="1F2328"/>
                </a:solidFill>
                <a:latin typeface="Calibri"/>
                <a:ea typeface="Calibri"/>
                <a:cs typeface="Calibri"/>
                <a:sym typeface="Calibri"/>
              </a:rPr>
              <a:t> add domain semantics,</a:t>
            </a:r>
            <a:br>
              <a:rPr b="1" lang="en-US" sz="1800">
                <a:solidFill>
                  <a:srgbClr val="1F2328"/>
                </a:solidFill>
                <a:latin typeface="Calibri"/>
                <a:ea typeface="Calibri"/>
                <a:cs typeface="Calibri"/>
                <a:sym typeface="Calibri"/>
              </a:rPr>
            </a:br>
            <a:r>
              <a:rPr b="1" lang="en-US" sz="1800">
                <a:solidFill>
                  <a:srgbClr val="1F2328"/>
                </a:solidFill>
                <a:latin typeface="Calibri"/>
                <a:ea typeface="Calibri"/>
                <a:cs typeface="Calibri"/>
                <a:sym typeface="Calibri"/>
              </a:rPr>
              <a:t>across the full database, without expert intervention during generation?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0" name="Shape 130"/>
        <p:cNvGrpSpPr/>
        <p:nvPr/>
      </p:nvGrpSpPr>
      <p:grpSpPr>
        <a:xfrm>
          <a:off x="0" y="0"/>
          <a:ext cx="0" cy="0"/>
          <a:chOff x="0" y="0"/>
          <a:chExt cx="0" cy="0"/>
        </a:xfrm>
      </p:grpSpPr>
      <p:sp>
        <p:nvSpPr>
          <p:cNvPr id="131" name="Google Shape;131;p5"/>
          <p:cNvSpPr txBox="1"/>
          <p:nvPr/>
        </p:nvSpPr>
        <p:spPr>
          <a:xfrm>
            <a:off x="822960" y="521207"/>
            <a:ext cx="10789920" cy="31089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0B6E4F"/>
                </a:solidFill>
                <a:latin typeface="Consolas"/>
                <a:ea typeface="Consolas"/>
                <a:cs typeface="Consolas"/>
                <a:sym typeface="Consolas"/>
              </a:rPr>
              <a:t>OUR ANSWER  /  RIGOR</a:t>
            </a:r>
            <a:endParaRPr/>
          </a:p>
        </p:txBody>
      </p:sp>
      <p:sp>
        <p:nvSpPr>
          <p:cNvPr id="132" name="Google Shape;132;p5"/>
          <p:cNvSpPr txBox="1"/>
          <p:nvPr/>
        </p:nvSpPr>
        <p:spPr>
          <a:xfrm>
            <a:off x="804672" y="978408"/>
            <a:ext cx="10625328" cy="66751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100">
                <a:solidFill>
                  <a:srgbClr val="1F2328"/>
                </a:solidFill>
                <a:latin typeface="Cambria"/>
                <a:ea typeface="Calibri"/>
                <a:cs typeface="Calibri"/>
                <a:sym typeface="Calibri"/>
              </a:rPr>
              <a:t>Build the ontology one table at a time.</a:t>
            </a:r>
            <a:endParaRPr/>
          </a:p>
        </p:txBody>
      </p:sp>
      <p:sp>
        <p:nvSpPr>
          <p:cNvPr id="133" name="Google Shape;133;p5"/>
          <p:cNvSpPr txBox="1"/>
          <p:nvPr/>
        </p:nvSpPr>
        <p:spPr>
          <a:xfrm>
            <a:off x="804672" y="1673352"/>
            <a:ext cx="10634472" cy="4297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900">
                <a:solidFill>
                  <a:srgbClr val="3A434C"/>
                </a:solidFill>
                <a:latin typeface="Calibri"/>
                <a:ea typeface="Calibri"/>
                <a:cs typeface="Calibri"/>
                <a:sym typeface="Calibri"/>
              </a:rPr>
              <a:t>We will construct the answer to our admission example, together.</a:t>
            </a:r>
            <a:endParaRPr/>
          </a:p>
        </p:txBody>
      </p:sp>
      <p:sp>
        <p:nvSpPr>
          <p:cNvPr id="134" name="Google Shape;134;p5"/>
          <p:cNvSpPr/>
          <p:nvPr/>
        </p:nvSpPr>
        <p:spPr>
          <a:xfrm>
            <a:off x="813816" y="2441448"/>
            <a:ext cx="3026664" cy="2267712"/>
          </a:xfrm>
          <a:prstGeom prst="roundRect">
            <a:avLst>
              <a:gd fmla="val 10000" name="adj"/>
            </a:avLst>
          </a:prstGeom>
          <a:solidFill>
            <a:srgbClr val="FFFFFF"/>
          </a:solidFill>
          <a:ln cap="flat" cmpd="sng" w="12700">
            <a:solidFill>
              <a:srgbClr val="D9DED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35" name="Google Shape;135;p5"/>
          <p:cNvSpPr txBox="1"/>
          <p:nvPr/>
        </p:nvSpPr>
        <p:spPr>
          <a:xfrm>
            <a:off x="1033271" y="2651760"/>
            <a:ext cx="2606040" cy="283464"/>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520">
                <a:solidFill>
                  <a:srgbClr val="5B6770"/>
                </a:solidFill>
                <a:latin typeface="Consolas"/>
                <a:ea typeface="Consolas"/>
                <a:cs typeface="Consolas"/>
                <a:sym typeface="Consolas"/>
              </a:rPr>
              <a:t>WHAT WE HAVE</a:t>
            </a:r>
            <a:endParaRPr/>
          </a:p>
        </p:txBody>
      </p:sp>
      <p:sp>
        <p:nvSpPr>
          <p:cNvPr id="136" name="Google Shape;136;p5"/>
          <p:cNvSpPr txBox="1"/>
          <p:nvPr/>
        </p:nvSpPr>
        <p:spPr>
          <a:xfrm>
            <a:off x="1042415" y="3072384"/>
            <a:ext cx="2542032" cy="30175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300">
                <a:solidFill>
                  <a:srgbClr val="1F2328"/>
                </a:solidFill>
                <a:latin typeface="Calibri"/>
                <a:ea typeface="Calibri"/>
                <a:cs typeface="Calibri"/>
                <a:sym typeface="Calibri"/>
              </a:rPr>
              <a:t>admission</a:t>
            </a:r>
            <a:endParaRPr/>
          </a:p>
        </p:txBody>
      </p:sp>
      <p:cxnSp>
        <p:nvCxnSpPr>
          <p:cNvPr id="137" name="Google Shape;137;p5"/>
          <p:cNvCxnSpPr/>
          <p:nvPr/>
        </p:nvCxnSpPr>
        <p:spPr>
          <a:xfrm>
            <a:off x="1033271" y="3456432"/>
            <a:ext cx="2542033" cy="0"/>
          </a:xfrm>
          <a:prstGeom prst="straightConnector1">
            <a:avLst/>
          </a:prstGeom>
          <a:noFill/>
          <a:ln cap="flat" cmpd="sng" w="19050">
            <a:solidFill>
              <a:srgbClr val="8E989E"/>
            </a:solidFill>
            <a:prstDash val="solid"/>
            <a:miter lim="8000"/>
            <a:headEnd len="sm" w="sm" type="none"/>
            <a:tailEnd len="sm" w="sm" type="none"/>
          </a:ln>
        </p:spPr>
      </p:cxnSp>
      <p:sp>
        <p:nvSpPr>
          <p:cNvPr id="138" name="Google Shape;138;p5"/>
          <p:cNvSpPr txBox="1"/>
          <p:nvPr/>
        </p:nvSpPr>
        <p:spPr>
          <a:xfrm>
            <a:off x="1033271" y="3611880"/>
            <a:ext cx="2596896" cy="24688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500">
                <a:solidFill>
                  <a:srgbClr val="3A434C"/>
                </a:solidFill>
                <a:latin typeface="Consolas"/>
                <a:ea typeface="Consolas"/>
                <a:cs typeface="Consolas"/>
                <a:sym typeface="Consolas"/>
              </a:rPr>
              <a:t>patient_id   FK</a:t>
            </a:r>
            <a:endParaRPr/>
          </a:p>
        </p:txBody>
      </p:sp>
      <p:sp>
        <p:nvSpPr>
          <p:cNvPr id="139" name="Google Shape;139;p5"/>
          <p:cNvSpPr txBox="1"/>
          <p:nvPr/>
        </p:nvSpPr>
        <p:spPr>
          <a:xfrm>
            <a:off x="1033271" y="3904487"/>
            <a:ext cx="2596896" cy="24688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500">
                <a:solidFill>
                  <a:srgbClr val="3A434C"/>
                </a:solidFill>
                <a:latin typeface="Consolas"/>
                <a:ea typeface="Consolas"/>
                <a:cs typeface="Consolas"/>
                <a:sym typeface="Consolas"/>
              </a:rPr>
              <a:t>BM_DEP       INT</a:t>
            </a:r>
            <a:endParaRPr/>
          </a:p>
        </p:txBody>
      </p:sp>
      <p:sp>
        <p:nvSpPr>
          <p:cNvPr id="140" name="Google Shape;140;p5"/>
          <p:cNvSpPr txBox="1"/>
          <p:nvPr/>
        </p:nvSpPr>
        <p:spPr>
          <a:xfrm>
            <a:off x="1033271" y="4187952"/>
            <a:ext cx="2596896" cy="24688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500">
                <a:solidFill>
                  <a:srgbClr val="3A434C"/>
                </a:solidFill>
                <a:latin typeface="Consolas"/>
                <a:ea typeface="Consolas"/>
                <a:cs typeface="Consolas"/>
                <a:sym typeface="Consolas"/>
              </a:rPr>
              <a:t>ecog_stage   INT</a:t>
            </a:r>
            <a:endParaRPr/>
          </a:p>
        </p:txBody>
      </p:sp>
      <p:sp>
        <p:nvSpPr>
          <p:cNvPr id="141" name="Google Shape;141;p5"/>
          <p:cNvSpPr/>
          <p:nvPr/>
        </p:nvSpPr>
        <p:spPr>
          <a:xfrm>
            <a:off x="4123944" y="3282696"/>
            <a:ext cx="557784" cy="457200"/>
          </a:xfrm>
          <a:prstGeom prst="rightArrow">
            <a:avLst>
              <a:gd fmla="val 50000" name="adj1"/>
              <a:gd fmla="val 50000" name="adj2"/>
            </a:avLst>
          </a:prstGeom>
          <a:solidFill>
            <a:srgbClr val="0B6E4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2" name="Google Shape;142;p5"/>
          <p:cNvSpPr/>
          <p:nvPr/>
        </p:nvSpPr>
        <p:spPr>
          <a:xfrm>
            <a:off x="5020056" y="2441448"/>
            <a:ext cx="6391656" cy="2267712"/>
          </a:xfrm>
          <a:prstGeom prst="roundRect">
            <a:avLst>
              <a:gd fmla="val 10000" name="adj"/>
            </a:avLst>
          </a:prstGeom>
          <a:solidFill>
            <a:srgbClr val="F3F5F4"/>
          </a:solidFill>
          <a:ln cap="flat" cmpd="sng" w="15225">
            <a:solidFill>
              <a:srgbClr val="3A7D8C"/>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3" name="Google Shape;143;p5"/>
          <p:cNvSpPr txBox="1"/>
          <p:nvPr/>
        </p:nvSpPr>
        <p:spPr>
          <a:xfrm>
            <a:off x="5257800" y="2642616"/>
            <a:ext cx="5843016" cy="283464"/>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520">
                <a:solidFill>
                  <a:srgbClr val="2F6B78"/>
                </a:solidFill>
                <a:latin typeface="Consolas"/>
                <a:ea typeface="Consolas"/>
                <a:cs typeface="Consolas"/>
                <a:sym typeface="Consolas"/>
              </a:rPr>
              <a:t>WHAT WE WANT</a:t>
            </a:r>
            <a:endParaRPr/>
          </a:p>
        </p:txBody>
      </p:sp>
      <p:sp>
        <p:nvSpPr>
          <p:cNvPr id="144" name="Google Shape;144;p5"/>
          <p:cNvSpPr/>
          <p:nvPr/>
        </p:nvSpPr>
        <p:spPr>
          <a:xfrm>
            <a:off x="5266944" y="3063240"/>
            <a:ext cx="2157984" cy="493776"/>
          </a:xfrm>
          <a:prstGeom prst="roundRect">
            <a:avLst>
              <a:gd fmla="val 10000" name="adj"/>
            </a:avLst>
          </a:prstGeom>
          <a:solidFill>
            <a:srgbClr val="E9EEEB"/>
          </a:solidFill>
          <a:ln cap="flat" cmpd="sng" w="12700">
            <a:solidFill>
              <a:srgbClr val="3A7D8C"/>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5" name="Google Shape;145;p5"/>
          <p:cNvSpPr txBox="1"/>
          <p:nvPr/>
        </p:nvSpPr>
        <p:spPr>
          <a:xfrm>
            <a:off x="5468112" y="3182112"/>
            <a:ext cx="1783080" cy="219456"/>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800">
                <a:solidFill>
                  <a:srgbClr val="1F2328"/>
                </a:solidFill>
                <a:latin typeface="Calibri"/>
                <a:ea typeface="Calibri"/>
                <a:cs typeface="Calibri"/>
                <a:sym typeface="Calibri"/>
              </a:rPr>
              <a:t>Admission</a:t>
            </a:r>
            <a:endParaRPr/>
          </a:p>
        </p:txBody>
      </p:sp>
      <p:sp>
        <p:nvSpPr>
          <p:cNvPr id="146" name="Google Shape;146;p5"/>
          <p:cNvSpPr/>
          <p:nvPr/>
        </p:nvSpPr>
        <p:spPr>
          <a:xfrm>
            <a:off x="9189720" y="3063240"/>
            <a:ext cx="1938528" cy="493776"/>
          </a:xfrm>
          <a:prstGeom prst="roundRect">
            <a:avLst>
              <a:gd fmla="val 10000" name="adj"/>
            </a:avLst>
          </a:prstGeom>
          <a:solidFill>
            <a:srgbClr val="E9EEEB"/>
          </a:solidFill>
          <a:ln cap="flat" cmpd="sng" w="12700">
            <a:solidFill>
              <a:srgbClr val="3A7D8C"/>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7" name="Google Shape;147;p5"/>
          <p:cNvSpPr txBox="1"/>
          <p:nvPr/>
        </p:nvSpPr>
        <p:spPr>
          <a:xfrm>
            <a:off x="9317736" y="3182112"/>
            <a:ext cx="1682496" cy="219456"/>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700">
                <a:solidFill>
                  <a:srgbClr val="1F2328"/>
                </a:solidFill>
                <a:latin typeface="Calibri"/>
                <a:ea typeface="Calibri"/>
                <a:cs typeface="Calibri"/>
                <a:sym typeface="Calibri"/>
              </a:rPr>
              <a:t>PatientData</a:t>
            </a:r>
            <a:endParaRPr/>
          </a:p>
        </p:txBody>
      </p:sp>
      <p:cxnSp>
        <p:nvCxnSpPr>
          <p:cNvPr id="148" name="Google Shape;148;p5"/>
          <p:cNvCxnSpPr/>
          <p:nvPr/>
        </p:nvCxnSpPr>
        <p:spPr>
          <a:xfrm>
            <a:off x="7452360" y="3310128"/>
            <a:ext cx="1664208" cy="0"/>
          </a:xfrm>
          <a:prstGeom prst="straightConnector1">
            <a:avLst/>
          </a:prstGeom>
          <a:noFill/>
          <a:ln cap="flat" cmpd="sng" w="30475">
            <a:solidFill>
              <a:srgbClr val="0B6E4F"/>
            </a:solidFill>
            <a:prstDash val="solid"/>
            <a:miter lim="8000"/>
            <a:headEnd len="sm" w="sm" type="none"/>
            <a:tailEnd len="med" w="med" type="triangle"/>
          </a:ln>
        </p:spPr>
      </p:cxnSp>
      <p:sp>
        <p:nvSpPr>
          <p:cNvPr id="149" name="Google Shape;149;p5"/>
          <p:cNvSpPr txBox="1"/>
          <p:nvPr/>
        </p:nvSpPr>
        <p:spPr>
          <a:xfrm>
            <a:off x="7470648" y="2980944"/>
            <a:ext cx="1810512" cy="2286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0B6E4F"/>
                </a:solidFill>
                <a:latin typeface="Consolas"/>
                <a:ea typeface="Consolas"/>
                <a:cs typeface="Consolas"/>
                <a:sym typeface="Consolas"/>
              </a:rPr>
              <a:t>hasPatientData</a:t>
            </a:r>
            <a:endParaRPr/>
          </a:p>
        </p:txBody>
      </p:sp>
      <p:sp>
        <p:nvSpPr>
          <p:cNvPr id="150" name="Google Shape;150;p5"/>
          <p:cNvSpPr txBox="1"/>
          <p:nvPr/>
        </p:nvSpPr>
        <p:spPr>
          <a:xfrm>
            <a:off x="5330952" y="3785615"/>
            <a:ext cx="5586984" cy="265176"/>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700">
                <a:solidFill>
                  <a:srgbClr val="1F2328"/>
                </a:solidFill>
                <a:latin typeface="Calibri"/>
                <a:ea typeface="Calibri"/>
                <a:cs typeface="Calibri"/>
                <a:sym typeface="Calibri"/>
              </a:rPr>
              <a:t>+ meaningful labels   + encoded values</a:t>
            </a:r>
            <a:endParaRPr/>
          </a:p>
        </p:txBody>
      </p:sp>
      <p:sp>
        <p:nvSpPr>
          <p:cNvPr id="151" name="Google Shape;151;p5"/>
          <p:cNvSpPr txBox="1"/>
          <p:nvPr/>
        </p:nvSpPr>
        <p:spPr>
          <a:xfrm>
            <a:off x="5330952" y="4151376"/>
            <a:ext cx="5586984"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650">
                <a:solidFill>
                  <a:srgbClr val="3A434C"/>
                </a:solidFill>
                <a:latin typeface="Calibri"/>
                <a:ea typeface="Calibri"/>
                <a:cs typeface="Calibri"/>
                <a:sym typeface="Calibri"/>
              </a:rPr>
              <a:t>+ provenance   + justified axioms / links</a:t>
            </a:r>
            <a:endParaRPr/>
          </a:p>
        </p:txBody>
      </p:sp>
      <p:sp>
        <p:nvSpPr>
          <p:cNvPr id="152" name="Google Shape;152;p5"/>
          <p:cNvSpPr txBox="1"/>
          <p:nvPr/>
        </p:nvSpPr>
        <p:spPr>
          <a:xfrm>
            <a:off x="859536" y="5020056"/>
            <a:ext cx="10460736" cy="4297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800">
                <a:solidFill>
                  <a:srgbClr val="1F2328"/>
                </a:solidFill>
                <a:latin typeface="Calibri"/>
                <a:ea typeface="Calibri"/>
                <a:cs typeface="Calibri"/>
                <a:sym typeface="Calibri"/>
              </a:rPr>
              <a:t>We need to preserve structure, discover meaning, and prevent mistakes, at database scale.</a:t>
            </a:r>
            <a:endParaRPr/>
          </a:p>
        </p:txBody>
      </p:sp>
      <p:sp>
        <p:nvSpPr>
          <p:cNvPr id="153" name="Google Shape;153;p5"/>
          <p:cNvSpPr/>
          <p:nvPr/>
        </p:nvSpPr>
        <p:spPr>
          <a:xfrm>
            <a:off x="804672" y="5797296"/>
            <a:ext cx="1645920" cy="310896"/>
          </a:xfrm>
          <a:prstGeom prst="roundRect">
            <a:avLst>
              <a:gd fmla="val 10000" name="adj"/>
            </a:avLst>
          </a:prstGeom>
          <a:solidFill>
            <a:srgbClr val="FFFFFF"/>
          </a:solidFill>
          <a:ln cap="flat" cmpd="sng" w="12700">
            <a:solidFill>
              <a:srgbClr val="D9DED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54" name="Google Shape;154;p5"/>
          <p:cNvSpPr txBox="1"/>
          <p:nvPr/>
        </p:nvSpPr>
        <p:spPr>
          <a:xfrm>
            <a:off x="859536"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6B747B"/>
                </a:solidFill>
                <a:latin typeface="Consolas"/>
                <a:ea typeface="Consolas"/>
                <a:cs typeface="Consolas"/>
                <a:sym typeface="Consolas"/>
              </a:rPr>
              <a:t>1  ORDER</a:t>
            </a:r>
            <a:endParaRPr/>
          </a:p>
        </p:txBody>
      </p:sp>
      <p:sp>
        <p:nvSpPr>
          <p:cNvPr id="155" name="Google Shape;155;p5"/>
          <p:cNvSpPr/>
          <p:nvPr/>
        </p:nvSpPr>
        <p:spPr>
          <a:xfrm>
            <a:off x="2642615" y="5797296"/>
            <a:ext cx="1645920" cy="310896"/>
          </a:xfrm>
          <a:prstGeom prst="roundRect">
            <a:avLst>
              <a:gd fmla="val 10000" name="adj"/>
            </a:avLst>
          </a:prstGeom>
          <a:solidFill>
            <a:srgbClr val="FFFFFF"/>
          </a:solidFill>
          <a:ln cap="flat" cmpd="sng" w="12700">
            <a:solidFill>
              <a:srgbClr val="D9DED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56" name="Google Shape;156;p5"/>
          <p:cNvSpPr txBox="1"/>
          <p:nvPr/>
        </p:nvSpPr>
        <p:spPr>
          <a:xfrm>
            <a:off x="2697479"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6B747B"/>
                </a:solidFill>
                <a:latin typeface="Consolas"/>
                <a:ea typeface="Consolas"/>
                <a:cs typeface="Consolas"/>
                <a:sym typeface="Consolas"/>
              </a:rPr>
              <a:t>2  SEED</a:t>
            </a:r>
            <a:endParaRPr/>
          </a:p>
        </p:txBody>
      </p:sp>
      <p:sp>
        <p:nvSpPr>
          <p:cNvPr id="157" name="Google Shape;157;p5"/>
          <p:cNvSpPr/>
          <p:nvPr/>
        </p:nvSpPr>
        <p:spPr>
          <a:xfrm>
            <a:off x="4480559" y="5797296"/>
            <a:ext cx="1645920" cy="310896"/>
          </a:xfrm>
          <a:prstGeom prst="roundRect">
            <a:avLst>
              <a:gd fmla="val 10000" name="adj"/>
            </a:avLst>
          </a:prstGeom>
          <a:solidFill>
            <a:srgbClr val="FFFFFF"/>
          </a:solidFill>
          <a:ln cap="flat" cmpd="sng" w="12700">
            <a:solidFill>
              <a:srgbClr val="D9DED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58" name="Google Shape;158;p5"/>
          <p:cNvSpPr txBox="1"/>
          <p:nvPr/>
        </p:nvSpPr>
        <p:spPr>
          <a:xfrm>
            <a:off x="4535423"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6B747B"/>
                </a:solidFill>
                <a:latin typeface="Consolas"/>
                <a:ea typeface="Consolas"/>
                <a:cs typeface="Consolas"/>
                <a:sym typeface="Consolas"/>
              </a:rPr>
              <a:t>3  RETRIEVE</a:t>
            </a:r>
            <a:endParaRPr/>
          </a:p>
        </p:txBody>
      </p:sp>
      <p:sp>
        <p:nvSpPr>
          <p:cNvPr id="159" name="Google Shape;159;p5"/>
          <p:cNvSpPr/>
          <p:nvPr/>
        </p:nvSpPr>
        <p:spPr>
          <a:xfrm>
            <a:off x="6318503" y="5797296"/>
            <a:ext cx="1645920" cy="310896"/>
          </a:xfrm>
          <a:prstGeom prst="roundRect">
            <a:avLst>
              <a:gd fmla="val 10000" name="adj"/>
            </a:avLst>
          </a:prstGeom>
          <a:solidFill>
            <a:srgbClr val="FFFFFF"/>
          </a:solidFill>
          <a:ln cap="flat" cmpd="sng" w="12700">
            <a:solidFill>
              <a:srgbClr val="D9DED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60" name="Google Shape;160;p5"/>
          <p:cNvSpPr txBox="1"/>
          <p:nvPr/>
        </p:nvSpPr>
        <p:spPr>
          <a:xfrm>
            <a:off x="6373367"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6B747B"/>
                </a:solidFill>
                <a:latin typeface="Consolas"/>
                <a:ea typeface="Consolas"/>
                <a:cs typeface="Consolas"/>
                <a:sym typeface="Consolas"/>
              </a:rPr>
              <a:t>4  GENERATE</a:t>
            </a:r>
            <a:endParaRPr/>
          </a:p>
        </p:txBody>
      </p:sp>
      <p:sp>
        <p:nvSpPr>
          <p:cNvPr id="161" name="Google Shape;161;p5"/>
          <p:cNvSpPr/>
          <p:nvPr/>
        </p:nvSpPr>
        <p:spPr>
          <a:xfrm>
            <a:off x="8156448" y="5797296"/>
            <a:ext cx="1645920" cy="310896"/>
          </a:xfrm>
          <a:prstGeom prst="roundRect">
            <a:avLst>
              <a:gd fmla="val 10000" name="adj"/>
            </a:avLst>
          </a:prstGeom>
          <a:solidFill>
            <a:srgbClr val="FFFFFF"/>
          </a:solidFill>
          <a:ln cap="flat" cmpd="sng" w="12700">
            <a:solidFill>
              <a:srgbClr val="D9DED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62" name="Google Shape;162;p5"/>
          <p:cNvSpPr txBox="1"/>
          <p:nvPr/>
        </p:nvSpPr>
        <p:spPr>
          <a:xfrm>
            <a:off x="8211312"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6B747B"/>
                </a:solidFill>
                <a:latin typeface="Consolas"/>
                <a:ea typeface="Consolas"/>
                <a:cs typeface="Consolas"/>
                <a:sym typeface="Consolas"/>
              </a:rPr>
              <a:t>5  VALIDATE</a:t>
            </a:r>
            <a:endParaRPr/>
          </a:p>
        </p:txBody>
      </p:sp>
      <p:sp>
        <p:nvSpPr>
          <p:cNvPr id="163" name="Google Shape;163;p5"/>
          <p:cNvSpPr/>
          <p:nvPr/>
        </p:nvSpPr>
        <p:spPr>
          <a:xfrm>
            <a:off x="9994392" y="5797296"/>
            <a:ext cx="1645920" cy="310896"/>
          </a:xfrm>
          <a:prstGeom prst="roundRect">
            <a:avLst>
              <a:gd fmla="val 10000" name="adj"/>
            </a:avLst>
          </a:prstGeom>
          <a:solidFill>
            <a:srgbClr val="FFFFFF"/>
          </a:solidFill>
          <a:ln cap="flat" cmpd="sng" w="12700">
            <a:solidFill>
              <a:srgbClr val="D9DED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64" name="Google Shape;164;p5"/>
          <p:cNvSpPr txBox="1"/>
          <p:nvPr/>
        </p:nvSpPr>
        <p:spPr>
          <a:xfrm>
            <a:off x="10049256"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6B747B"/>
                </a:solidFill>
                <a:latin typeface="Consolas"/>
                <a:ea typeface="Consolas"/>
                <a:cs typeface="Consolas"/>
                <a:sym typeface="Consolas"/>
              </a:rPr>
              <a:t>6  MERGE</a:t>
            </a:r>
            <a:endParaRPr/>
          </a:p>
        </p:txBody>
      </p:sp>
      <p:sp>
        <p:nvSpPr>
          <p:cNvPr id="165" name="Added 165"/>
          <p:cNvSpPr txBox="1"/>
          <p:nvPr/>
        </p:nvSpPr>
        <p:spPr>
          <a:xfrm>
            <a:off x="859536" y="6272784"/>
            <a:ext cx="10460736" cy="29260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300">
                <a:solidFill>
                  <a:srgbClr val="0B6E4F"/>
                </a:solidFill>
                <a:latin typeface="Calibri"/>
                <a:ea typeface="Calibri"/>
                <a:cs typeface="Calibri"/>
                <a:sym typeface="Calibri"/>
              </a:rPr>
              <a:t>RESULT PREVIEW   </a:t>
            </a:r>
            <a:r>
              <a:rPr b="0" i="0" lang="en-US" sz="1300">
                <a:solidFill>
                  <a:srgbClr val="5B6770"/>
                </a:solidFill>
                <a:latin typeface="Calibri"/>
                <a:ea typeface="Calibri"/>
                <a:cs typeface="Calibri"/>
                <a:sym typeface="Calibri"/>
              </a:rPr>
              <a:t>Ranked first in 70% of expert rankings  ·  highest BURR F1 among compared ontology-learning systems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9" name="Shape 169"/>
        <p:cNvGrpSpPr/>
        <p:nvPr/>
      </p:nvGrpSpPr>
      <p:grpSpPr>
        <a:xfrm>
          <a:off x="0" y="0"/>
          <a:ext cx="0" cy="0"/>
          <a:chOff x="0" y="0"/>
          <a:chExt cx="0" cy="0"/>
        </a:xfrm>
      </p:grpSpPr>
      <p:sp>
        <p:nvSpPr>
          <p:cNvPr id="170" name="Google Shape;170;p6"/>
          <p:cNvSpPr txBox="1"/>
          <p:nvPr/>
        </p:nvSpPr>
        <p:spPr>
          <a:xfrm>
            <a:off x="795528" y="448056"/>
            <a:ext cx="10789920" cy="31089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0B6E4F"/>
                </a:solidFill>
                <a:latin typeface="Consolas"/>
                <a:ea typeface="Consolas"/>
                <a:cs typeface="Consolas"/>
                <a:sym typeface="Consolas"/>
              </a:rPr>
              <a:t>STEP 1 / ORDER</a:t>
            </a:r>
            <a:endParaRPr/>
          </a:p>
        </p:txBody>
      </p:sp>
      <p:sp>
        <p:nvSpPr>
          <p:cNvPr id="171" name="Google Shape;171;p6"/>
          <p:cNvSpPr txBox="1"/>
          <p:nvPr/>
        </p:nvSpPr>
        <p:spPr>
          <a:xfrm>
            <a:off x="795528" y="850392"/>
            <a:ext cx="10835640" cy="685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800">
                <a:solidFill>
                  <a:srgbClr val="1F2328"/>
                </a:solidFill>
                <a:latin typeface="Cambria"/>
                <a:ea typeface="Calibri"/>
                <a:cs typeface="Calibri"/>
                <a:sym typeface="Calibri"/>
              </a:rPr>
              <a:t>To understand this table, build its parent first.</a:t>
            </a:r>
            <a:endParaRPr/>
          </a:p>
        </p:txBody>
      </p:sp>
      <p:sp>
        <p:nvSpPr>
          <p:cNvPr id="172" name="Google Shape;172;p6"/>
          <p:cNvSpPr txBox="1"/>
          <p:nvPr/>
        </p:nvSpPr>
        <p:spPr>
          <a:xfrm>
            <a:off x="795528" y="1609344"/>
            <a:ext cx="10607040" cy="34747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600">
                <a:solidFill>
                  <a:srgbClr val="5B6770"/>
                </a:solidFill>
                <a:latin typeface="Calibri"/>
                <a:ea typeface="Calibri"/>
                <a:cs typeface="Calibri"/>
                <a:sym typeface="Calibri"/>
              </a:rPr>
              <a:t>We follow foreign-key dependencies, so known concepts are available when needed.</a:t>
            </a:r>
            <a:endParaRPr/>
          </a:p>
        </p:txBody>
      </p:sp>
      <p:sp>
        <p:nvSpPr>
          <p:cNvPr id="173" name="Google Shape;173;p6"/>
          <p:cNvSpPr/>
          <p:nvPr/>
        </p:nvSpPr>
        <p:spPr>
          <a:xfrm>
            <a:off x="822960" y="2130552"/>
            <a:ext cx="4910328" cy="2569464"/>
          </a:xfrm>
          <a:prstGeom prst="roundRect">
            <a:avLst>
              <a:gd fmla="val 10000" name="adj"/>
            </a:avLst>
          </a:prstGeom>
          <a:solidFill>
            <a:srgbClr val="FFFFFF"/>
          </a:solidFill>
          <a:ln cap="flat" cmpd="sng" w="12700">
            <a:solidFill>
              <a:srgbClr val="D9DED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4" name="Google Shape;174;p6"/>
          <p:cNvSpPr txBox="1"/>
          <p:nvPr/>
        </p:nvSpPr>
        <p:spPr>
          <a:xfrm>
            <a:off x="1069848" y="2313432"/>
            <a:ext cx="4480560" cy="283464"/>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520">
                <a:solidFill>
                  <a:srgbClr val="0B6E4F"/>
                </a:solidFill>
                <a:latin typeface="Consolas"/>
                <a:ea typeface="Consolas"/>
                <a:cs typeface="Consolas"/>
                <a:sym typeface="Consolas"/>
              </a:rPr>
              <a:t>DATABASE DEPENDENCIES</a:t>
            </a:r>
            <a:endParaRPr/>
          </a:p>
        </p:txBody>
      </p:sp>
      <p:sp>
        <p:nvSpPr>
          <p:cNvPr id="175" name="Google Shape;175;p6"/>
          <p:cNvSpPr/>
          <p:nvPr/>
        </p:nvSpPr>
        <p:spPr>
          <a:xfrm>
            <a:off x="1143000" y="2816352"/>
            <a:ext cx="1874519" cy="850392"/>
          </a:xfrm>
          <a:prstGeom prst="roundRect">
            <a:avLst>
              <a:gd fmla="val 10000" name="adj"/>
            </a:avLst>
          </a:prstGeom>
          <a:solidFill>
            <a:srgbClr val="E6F2EC"/>
          </a:solidFill>
          <a:ln cap="flat" cmpd="sng" w="12700">
            <a:solidFill>
              <a:srgbClr val="0B6E4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6" name="Google Shape;176;p6"/>
          <p:cNvSpPr txBox="1"/>
          <p:nvPr/>
        </p:nvSpPr>
        <p:spPr>
          <a:xfrm>
            <a:off x="1280160" y="2944368"/>
            <a:ext cx="1609344" cy="23774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900">
                <a:solidFill>
                  <a:srgbClr val="1F2328"/>
                </a:solidFill>
                <a:latin typeface="Calibri"/>
                <a:ea typeface="Calibri"/>
                <a:cs typeface="Calibri"/>
                <a:sym typeface="Calibri"/>
              </a:rPr>
              <a:t>PatientData</a:t>
            </a:r>
            <a:endParaRPr/>
          </a:p>
        </p:txBody>
      </p:sp>
      <p:sp>
        <p:nvSpPr>
          <p:cNvPr id="177" name="Google Shape;177;p6"/>
          <p:cNvSpPr txBox="1"/>
          <p:nvPr/>
        </p:nvSpPr>
        <p:spPr>
          <a:xfrm>
            <a:off x="1280160" y="3227832"/>
            <a:ext cx="1673352"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lang="en-US" sz="1400">
                <a:solidFill>
                  <a:srgbClr val="5B6770"/>
                </a:solidFill>
                <a:latin typeface="Calibri"/>
                <a:ea typeface="Calibri"/>
                <a:cs typeface="Calibri"/>
                <a:sym typeface="Calibri"/>
              </a:rPr>
              <a:t>No FKs</a:t>
            </a:r>
            <a:endParaRPr/>
          </a:p>
        </p:txBody>
      </p:sp>
      <p:sp>
        <p:nvSpPr>
          <p:cNvPr id="178" name="Google Shape;178;p6"/>
          <p:cNvSpPr/>
          <p:nvPr/>
        </p:nvSpPr>
        <p:spPr>
          <a:xfrm>
            <a:off x="3758184" y="2816352"/>
            <a:ext cx="1709928" cy="850392"/>
          </a:xfrm>
          <a:prstGeom prst="roundRect">
            <a:avLst>
              <a:gd fmla="val 10000" name="adj"/>
            </a:avLst>
          </a:prstGeom>
          <a:solidFill>
            <a:srgbClr val="F3F5F4"/>
          </a:solidFill>
          <a:ln cap="flat" cmpd="sng" w="12700">
            <a:solidFill>
              <a:srgbClr val="2F6B7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9" name="Google Shape;179;p6"/>
          <p:cNvSpPr txBox="1"/>
          <p:nvPr/>
        </p:nvSpPr>
        <p:spPr>
          <a:xfrm>
            <a:off x="3904487" y="2944368"/>
            <a:ext cx="1444752" cy="2286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900">
                <a:solidFill>
                  <a:srgbClr val="1F2328"/>
                </a:solidFill>
                <a:latin typeface="Calibri"/>
                <a:ea typeface="Calibri"/>
                <a:cs typeface="Calibri"/>
                <a:sym typeface="Calibri"/>
              </a:rPr>
              <a:t>admission</a:t>
            </a:r>
            <a:endParaRPr/>
          </a:p>
        </p:txBody>
      </p:sp>
      <p:sp>
        <p:nvSpPr>
          <p:cNvPr id="180" name="Google Shape;180;p6"/>
          <p:cNvSpPr txBox="1"/>
          <p:nvPr/>
        </p:nvSpPr>
        <p:spPr>
          <a:xfrm>
            <a:off x="3895344" y="3227832"/>
            <a:ext cx="1499616"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i="0" lang="en-US" sz="1400">
                <a:solidFill>
                  <a:srgbClr val="5B6770"/>
                </a:solidFill>
                <a:latin typeface="Consolas"/>
                <a:ea typeface="Consolas"/>
                <a:cs typeface="Consolas"/>
                <a:sym typeface="Consolas"/>
              </a:rPr>
              <a:t>patient_id FK</a:t>
            </a:r>
            <a:endParaRPr/>
          </a:p>
        </p:txBody>
      </p:sp>
      <p:cxnSp>
        <p:nvCxnSpPr>
          <p:cNvPr id="181" name="Google Shape;181;p6"/>
          <p:cNvCxnSpPr/>
          <p:nvPr/>
        </p:nvCxnSpPr>
        <p:spPr>
          <a:xfrm rot="10800000">
            <a:off x="3099816" y="3255264"/>
            <a:ext cx="594360" cy="0"/>
          </a:xfrm>
          <a:prstGeom prst="straightConnector1">
            <a:avLst/>
          </a:prstGeom>
          <a:noFill/>
          <a:ln cap="flat" cmpd="sng" w="30475">
            <a:solidFill>
              <a:srgbClr val="3A7D8C"/>
            </a:solidFill>
            <a:prstDash val="solid"/>
            <a:miter lim="8000"/>
            <a:headEnd len="sm" w="sm" type="none"/>
            <a:tailEnd len="med" w="med" type="triangle"/>
          </a:ln>
        </p:spPr>
      </p:cxnSp>
      <p:sp>
        <p:nvSpPr>
          <p:cNvPr id="182" name="Google Shape;182;p6"/>
          <p:cNvSpPr txBox="1"/>
          <p:nvPr/>
        </p:nvSpPr>
        <p:spPr>
          <a:xfrm>
            <a:off x="2350008" y="3877056"/>
            <a:ext cx="1874519" cy="283464"/>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None/>
            </a:pPr>
            <a:r>
              <a:rPr b="0" lang="en-US" sz="1400">
                <a:solidFill>
                  <a:srgbClr val="5B6770"/>
                </a:solidFill>
                <a:latin typeface="Calibri"/>
                <a:ea typeface="Calibri"/>
                <a:cs typeface="Calibri"/>
                <a:sym typeface="Calibri"/>
              </a:rPr>
              <a:t>FK points to parent</a:t>
            </a:r>
            <a:endParaRPr/>
          </a:p>
        </p:txBody>
      </p:sp>
      <p:sp>
        <p:nvSpPr>
          <p:cNvPr id="183" name="Google Shape;183;p6"/>
          <p:cNvSpPr/>
          <p:nvPr/>
        </p:nvSpPr>
        <p:spPr>
          <a:xfrm>
            <a:off x="5961888" y="2130552"/>
            <a:ext cx="5376672" cy="2569464"/>
          </a:xfrm>
          <a:prstGeom prst="roundRect">
            <a:avLst>
              <a:gd fmla="val 10000" name="adj"/>
            </a:avLst>
          </a:prstGeom>
          <a:solidFill>
            <a:srgbClr val="FFFFFF"/>
          </a:solidFill>
          <a:ln cap="flat" cmpd="sng" w="12700">
            <a:solidFill>
              <a:srgbClr val="D9DED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4" name="Google Shape;184;p6"/>
          <p:cNvSpPr txBox="1"/>
          <p:nvPr/>
        </p:nvSpPr>
        <p:spPr>
          <a:xfrm>
            <a:off x="6208776" y="2313432"/>
            <a:ext cx="4837176" cy="283464"/>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520">
                <a:solidFill>
                  <a:srgbClr val="0B6E4F"/>
                </a:solidFill>
                <a:latin typeface="Consolas"/>
                <a:ea typeface="Consolas"/>
                <a:cs typeface="Consolas"/>
                <a:sym typeface="Consolas"/>
              </a:rPr>
              <a:t>PROCESSING ORDER  /  OUTPUT</a:t>
            </a:r>
            <a:endParaRPr/>
          </a:p>
        </p:txBody>
      </p:sp>
      <p:sp>
        <p:nvSpPr>
          <p:cNvPr id="185" name="Google Shape;185;p6"/>
          <p:cNvSpPr/>
          <p:nvPr/>
        </p:nvSpPr>
        <p:spPr>
          <a:xfrm>
            <a:off x="6300216" y="2807208"/>
            <a:ext cx="1901952" cy="1051560"/>
          </a:xfrm>
          <a:prstGeom prst="roundRect">
            <a:avLst>
              <a:gd fmla="val 10000" name="adj"/>
            </a:avLst>
          </a:prstGeom>
          <a:solidFill>
            <a:srgbClr val="E6F2EC"/>
          </a:solidFill>
          <a:ln cap="flat" cmpd="sng" w="12700">
            <a:solidFill>
              <a:srgbClr val="0B6E4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6" name="Google Shape;186;p6"/>
          <p:cNvSpPr txBox="1"/>
          <p:nvPr/>
        </p:nvSpPr>
        <p:spPr>
          <a:xfrm>
            <a:off x="6455664" y="2971800"/>
            <a:ext cx="1554480" cy="237744"/>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0B6E4F"/>
                </a:solidFill>
                <a:latin typeface="Consolas"/>
                <a:ea typeface="Consolas"/>
                <a:cs typeface="Consolas"/>
                <a:sym typeface="Consolas"/>
              </a:rPr>
              <a:t>t = 1</a:t>
            </a:r>
            <a:endParaRPr/>
          </a:p>
        </p:txBody>
      </p:sp>
      <p:sp>
        <p:nvSpPr>
          <p:cNvPr id="187" name="Google Shape;187;p6"/>
          <p:cNvSpPr txBox="1"/>
          <p:nvPr/>
        </p:nvSpPr>
        <p:spPr>
          <a:xfrm>
            <a:off x="6446520" y="3255264"/>
            <a:ext cx="1563624" cy="2286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800">
                <a:solidFill>
                  <a:srgbClr val="1F2328"/>
                </a:solidFill>
                <a:latin typeface="Calibri"/>
                <a:ea typeface="Calibri"/>
                <a:cs typeface="Calibri"/>
                <a:sym typeface="Calibri"/>
              </a:rPr>
              <a:t>PatientData</a:t>
            </a:r>
            <a:endParaRPr/>
          </a:p>
        </p:txBody>
      </p:sp>
      <p:cxnSp>
        <p:nvCxnSpPr>
          <p:cNvPr id="188" name="Google Shape;188;p6"/>
          <p:cNvCxnSpPr/>
          <p:nvPr/>
        </p:nvCxnSpPr>
        <p:spPr>
          <a:xfrm>
            <a:off x="8311896" y="3310128"/>
            <a:ext cx="420624" cy="0"/>
          </a:xfrm>
          <a:prstGeom prst="straightConnector1">
            <a:avLst/>
          </a:prstGeom>
          <a:noFill/>
          <a:ln cap="flat" cmpd="sng" w="31750">
            <a:solidFill>
              <a:srgbClr val="0B6E4F"/>
            </a:solidFill>
            <a:prstDash val="solid"/>
            <a:miter lim="8000"/>
            <a:headEnd len="sm" w="sm" type="none"/>
            <a:tailEnd len="med" w="med" type="triangle"/>
          </a:ln>
        </p:spPr>
      </p:cxnSp>
      <p:sp>
        <p:nvSpPr>
          <p:cNvPr id="189" name="Google Shape;189;p6"/>
          <p:cNvSpPr/>
          <p:nvPr/>
        </p:nvSpPr>
        <p:spPr>
          <a:xfrm>
            <a:off x="8833104" y="2807208"/>
            <a:ext cx="2112264" cy="1051560"/>
          </a:xfrm>
          <a:prstGeom prst="roundRect">
            <a:avLst>
              <a:gd fmla="val 10000" name="adj"/>
            </a:avLst>
          </a:prstGeom>
          <a:solidFill>
            <a:srgbClr val="F3F5F4"/>
          </a:solidFill>
          <a:ln cap="flat" cmpd="sng" w="12700">
            <a:solidFill>
              <a:srgbClr val="2F6B7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0" name="Google Shape;190;p6"/>
          <p:cNvSpPr txBox="1"/>
          <p:nvPr/>
        </p:nvSpPr>
        <p:spPr>
          <a:xfrm>
            <a:off x="8988552" y="2971800"/>
            <a:ext cx="1764792" cy="237744"/>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2F6B78"/>
                </a:solidFill>
                <a:latin typeface="Consolas"/>
                <a:ea typeface="Consolas"/>
                <a:cs typeface="Consolas"/>
                <a:sym typeface="Consolas"/>
              </a:rPr>
              <a:t>t = 2</a:t>
            </a:r>
            <a:endParaRPr/>
          </a:p>
        </p:txBody>
      </p:sp>
      <p:sp>
        <p:nvSpPr>
          <p:cNvPr id="191" name="Google Shape;191;p6"/>
          <p:cNvSpPr txBox="1"/>
          <p:nvPr/>
        </p:nvSpPr>
        <p:spPr>
          <a:xfrm>
            <a:off x="8988552" y="3255264"/>
            <a:ext cx="1764792" cy="2286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800">
                <a:solidFill>
                  <a:srgbClr val="1F2328"/>
                </a:solidFill>
                <a:latin typeface="Calibri"/>
                <a:ea typeface="Calibri"/>
                <a:cs typeface="Calibri"/>
                <a:sym typeface="Calibri"/>
              </a:rPr>
              <a:t>admission</a:t>
            </a:r>
            <a:endParaRPr/>
          </a:p>
        </p:txBody>
      </p:sp>
      <p:sp>
        <p:nvSpPr>
          <p:cNvPr id="192" name="Google Shape;192;p6"/>
          <p:cNvSpPr txBox="1"/>
          <p:nvPr/>
        </p:nvSpPr>
        <p:spPr>
          <a:xfrm>
            <a:off x="6190488" y="4133087"/>
            <a:ext cx="4882896" cy="38404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500">
                <a:solidFill>
                  <a:srgbClr val="1F2328"/>
                </a:solidFill>
                <a:latin typeface="Calibri"/>
                <a:ea typeface="Calibri"/>
                <a:cs typeface="Calibri"/>
                <a:sym typeface="Calibri"/>
              </a:rPr>
              <a:t>Before generating Admission, PatientData already exists in the core ontology.</a:t>
            </a:r>
            <a:endParaRPr/>
          </a:p>
        </p:txBody>
      </p:sp>
      <p:sp>
        <p:nvSpPr>
          <p:cNvPr id="193" name="Google Shape;193;p6"/>
          <p:cNvSpPr/>
          <p:nvPr/>
        </p:nvSpPr>
        <p:spPr>
          <a:xfrm>
            <a:off x="822960" y="4956048"/>
            <a:ext cx="10515600" cy="475488"/>
          </a:xfrm>
          <a:prstGeom prst="roundRect">
            <a:avLst>
              <a:gd fmla="val 10000" name="adj"/>
            </a:avLst>
          </a:prstGeom>
          <a:solidFill>
            <a:srgbClr val="E6F2E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4" name="Google Shape;194;p6"/>
          <p:cNvSpPr txBox="1"/>
          <p:nvPr/>
        </p:nvSpPr>
        <p:spPr>
          <a:xfrm>
            <a:off x="1014984" y="5056632"/>
            <a:ext cx="10168128" cy="246888"/>
          </a:xfrm>
          <a:prstGeom prst="rect">
            <a:avLst/>
          </a:prstGeom>
          <a:noFill/>
          <a:ln>
            <a:noFill/>
          </a:ln>
        </p:spPr>
        <p:txBody>
          <a:bodyPr anchorCtr="0" anchor="ctr" bIns="0" lIns="0" spcFirstLastPara="1" rIns="0" wrap="square" tIns="0">
            <a:spAutoFit/>
          </a:bodyPr>
          <a:lstStyle/>
          <a:p>
            <a:pPr indent="0" lvl="0" marL="0" marR="0" rtl="0" algn="l">
              <a:lnSpc>
                <a:spcPct val="107000"/>
              </a:lnSpc>
              <a:spcBef>
                <a:spcPts val="0"/>
              </a:spcBef>
              <a:spcAft>
                <a:spcPts val="0"/>
              </a:spcAft>
              <a:buNone/>
            </a:pPr>
            <a:r>
              <a:rPr b="1" lang="en-US" sz="1500">
                <a:solidFill>
                  <a:srgbClr val="0B6E4F"/>
                </a:solidFill>
                <a:latin typeface="Calibri"/>
                <a:ea typeface="Calibri"/>
                <a:cs typeface="Calibri"/>
                <a:sym typeface="Calibri"/>
              </a:rPr>
              <a:t>WHY IT MATTERS   </a:t>
            </a:r>
            <a:r>
              <a:rPr b="0" lang="en-US" sz="1500">
                <a:solidFill>
                  <a:srgbClr val="1F2328"/>
                </a:solidFill>
                <a:latin typeface="Calibri"/>
                <a:ea typeface="Calibri"/>
                <a:cs typeface="Calibri"/>
                <a:sym typeface="Calibri"/>
              </a:rPr>
              <a:t>The next fragment can reuse known classes and IRIs instead of inventing duplicates.</a:t>
            </a:r>
            <a:endParaRPr/>
          </a:p>
        </p:txBody>
      </p:sp>
      <p:sp>
        <p:nvSpPr>
          <p:cNvPr id="195" name="Google Shape;195;p6"/>
          <p:cNvSpPr/>
          <p:nvPr/>
        </p:nvSpPr>
        <p:spPr>
          <a:xfrm>
            <a:off x="804672" y="5797296"/>
            <a:ext cx="1645920" cy="310896"/>
          </a:xfrm>
          <a:prstGeom prst="roundRect">
            <a:avLst>
              <a:gd fmla="val 10000" name="adj"/>
            </a:avLst>
          </a:prstGeom>
          <a:solidFill>
            <a:srgbClr val="0B6E4F"/>
          </a:solidFill>
          <a:ln cap="flat" cmpd="sng" w="12700">
            <a:solidFill>
              <a:srgbClr val="0B6E4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6" name="Google Shape;196;p6"/>
          <p:cNvSpPr txBox="1"/>
          <p:nvPr/>
        </p:nvSpPr>
        <p:spPr>
          <a:xfrm>
            <a:off x="859536"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FFFFFF"/>
                </a:solidFill>
                <a:latin typeface="Consolas"/>
                <a:ea typeface="Consolas"/>
                <a:cs typeface="Consolas"/>
                <a:sym typeface="Consolas"/>
              </a:rPr>
              <a:t>1  ORDER</a:t>
            </a:r>
            <a:endParaRPr/>
          </a:p>
        </p:txBody>
      </p:sp>
      <p:sp>
        <p:nvSpPr>
          <p:cNvPr id="197" name="Google Shape;197;p6"/>
          <p:cNvSpPr/>
          <p:nvPr/>
        </p:nvSpPr>
        <p:spPr>
          <a:xfrm>
            <a:off x="2642615" y="5797296"/>
            <a:ext cx="1645920" cy="310896"/>
          </a:xfrm>
          <a:prstGeom prst="roundRect">
            <a:avLst>
              <a:gd fmla="val 10000" name="adj"/>
            </a:avLst>
          </a:prstGeom>
          <a:solidFill>
            <a:srgbClr val="FFFFFF"/>
          </a:solidFill>
          <a:ln cap="flat" cmpd="sng" w="12700">
            <a:solidFill>
              <a:srgbClr val="D9DED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8" name="Google Shape;198;p6"/>
          <p:cNvSpPr txBox="1"/>
          <p:nvPr/>
        </p:nvSpPr>
        <p:spPr>
          <a:xfrm>
            <a:off x="2697479"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6B747B"/>
                </a:solidFill>
                <a:latin typeface="Consolas"/>
                <a:ea typeface="Consolas"/>
                <a:cs typeface="Consolas"/>
                <a:sym typeface="Consolas"/>
              </a:rPr>
              <a:t>2  SEED</a:t>
            </a:r>
            <a:endParaRPr/>
          </a:p>
        </p:txBody>
      </p:sp>
      <p:sp>
        <p:nvSpPr>
          <p:cNvPr id="199" name="Google Shape;199;p6"/>
          <p:cNvSpPr/>
          <p:nvPr/>
        </p:nvSpPr>
        <p:spPr>
          <a:xfrm>
            <a:off x="4480559" y="5797296"/>
            <a:ext cx="1645920" cy="310896"/>
          </a:xfrm>
          <a:prstGeom prst="roundRect">
            <a:avLst>
              <a:gd fmla="val 10000" name="adj"/>
            </a:avLst>
          </a:prstGeom>
          <a:solidFill>
            <a:srgbClr val="FFFFFF"/>
          </a:solidFill>
          <a:ln cap="flat" cmpd="sng" w="12700">
            <a:solidFill>
              <a:srgbClr val="D9DED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00" name="Google Shape;200;p6"/>
          <p:cNvSpPr txBox="1"/>
          <p:nvPr/>
        </p:nvSpPr>
        <p:spPr>
          <a:xfrm>
            <a:off x="4535423"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6B747B"/>
                </a:solidFill>
                <a:latin typeface="Consolas"/>
                <a:ea typeface="Consolas"/>
                <a:cs typeface="Consolas"/>
                <a:sym typeface="Consolas"/>
              </a:rPr>
              <a:t>3  RETRIEVE</a:t>
            </a:r>
            <a:endParaRPr/>
          </a:p>
        </p:txBody>
      </p:sp>
      <p:sp>
        <p:nvSpPr>
          <p:cNvPr id="201" name="Google Shape;201;p6"/>
          <p:cNvSpPr/>
          <p:nvPr/>
        </p:nvSpPr>
        <p:spPr>
          <a:xfrm>
            <a:off x="6318503" y="5797296"/>
            <a:ext cx="1645920" cy="310896"/>
          </a:xfrm>
          <a:prstGeom prst="roundRect">
            <a:avLst>
              <a:gd fmla="val 10000" name="adj"/>
            </a:avLst>
          </a:prstGeom>
          <a:solidFill>
            <a:srgbClr val="FFFFFF"/>
          </a:solidFill>
          <a:ln cap="flat" cmpd="sng" w="12700">
            <a:solidFill>
              <a:srgbClr val="D9DED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02" name="Google Shape;202;p6"/>
          <p:cNvSpPr txBox="1"/>
          <p:nvPr/>
        </p:nvSpPr>
        <p:spPr>
          <a:xfrm>
            <a:off x="6373367"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6B747B"/>
                </a:solidFill>
                <a:latin typeface="Consolas"/>
                <a:ea typeface="Consolas"/>
                <a:cs typeface="Consolas"/>
                <a:sym typeface="Consolas"/>
              </a:rPr>
              <a:t>4  GENERATE</a:t>
            </a:r>
            <a:endParaRPr/>
          </a:p>
        </p:txBody>
      </p:sp>
      <p:sp>
        <p:nvSpPr>
          <p:cNvPr id="203" name="Google Shape;203;p6"/>
          <p:cNvSpPr/>
          <p:nvPr/>
        </p:nvSpPr>
        <p:spPr>
          <a:xfrm>
            <a:off x="8156448" y="5797296"/>
            <a:ext cx="1645920" cy="310896"/>
          </a:xfrm>
          <a:prstGeom prst="roundRect">
            <a:avLst>
              <a:gd fmla="val 10000" name="adj"/>
            </a:avLst>
          </a:prstGeom>
          <a:solidFill>
            <a:srgbClr val="FFFFFF"/>
          </a:solidFill>
          <a:ln cap="flat" cmpd="sng" w="12700">
            <a:solidFill>
              <a:srgbClr val="D9DED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04" name="Google Shape;204;p6"/>
          <p:cNvSpPr txBox="1"/>
          <p:nvPr/>
        </p:nvSpPr>
        <p:spPr>
          <a:xfrm>
            <a:off x="8211312"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6B747B"/>
                </a:solidFill>
                <a:latin typeface="Consolas"/>
                <a:ea typeface="Consolas"/>
                <a:cs typeface="Consolas"/>
                <a:sym typeface="Consolas"/>
              </a:rPr>
              <a:t>5  VALIDATE</a:t>
            </a:r>
            <a:endParaRPr/>
          </a:p>
        </p:txBody>
      </p:sp>
      <p:sp>
        <p:nvSpPr>
          <p:cNvPr id="205" name="Google Shape;205;p6"/>
          <p:cNvSpPr/>
          <p:nvPr/>
        </p:nvSpPr>
        <p:spPr>
          <a:xfrm>
            <a:off x="9994392" y="5797296"/>
            <a:ext cx="1645920" cy="310896"/>
          </a:xfrm>
          <a:prstGeom prst="roundRect">
            <a:avLst>
              <a:gd fmla="val 10000" name="adj"/>
            </a:avLst>
          </a:prstGeom>
          <a:solidFill>
            <a:srgbClr val="FFFFFF"/>
          </a:solidFill>
          <a:ln cap="flat" cmpd="sng" w="12700">
            <a:solidFill>
              <a:srgbClr val="D9DED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06" name="Google Shape;206;p6"/>
          <p:cNvSpPr txBox="1"/>
          <p:nvPr/>
        </p:nvSpPr>
        <p:spPr>
          <a:xfrm>
            <a:off x="10049256"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6B747B"/>
                </a:solidFill>
                <a:latin typeface="Consolas"/>
                <a:ea typeface="Consolas"/>
                <a:cs typeface="Consolas"/>
                <a:sym typeface="Consolas"/>
              </a:rPr>
              <a:t>6  MERGE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1" name="Shape 211"/>
        <p:cNvGrpSpPr/>
        <p:nvPr/>
      </p:nvGrpSpPr>
      <p:grpSpPr>
        <a:xfrm>
          <a:off x="0" y="0"/>
          <a:ext cx="0" cy="0"/>
          <a:chOff x="0" y="0"/>
          <a:chExt cx="0" cy="0"/>
        </a:xfrm>
      </p:grpSpPr>
      <p:sp>
        <p:nvSpPr>
          <p:cNvPr id="212" name="Google Shape;212;p7"/>
          <p:cNvSpPr txBox="1"/>
          <p:nvPr/>
        </p:nvSpPr>
        <p:spPr>
          <a:xfrm>
            <a:off x="795528" y="448056"/>
            <a:ext cx="10789920" cy="31089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0B6E4F"/>
                </a:solidFill>
                <a:latin typeface="Consolas"/>
                <a:ea typeface="Consolas"/>
                <a:cs typeface="Consolas"/>
                <a:sym typeface="Consolas"/>
              </a:rPr>
              <a:t>STEP 2 / SEED</a:t>
            </a:r>
            <a:endParaRPr/>
          </a:p>
        </p:txBody>
      </p:sp>
      <p:sp>
        <p:nvSpPr>
          <p:cNvPr id="213" name="Google Shape;213;p7"/>
          <p:cNvSpPr txBox="1"/>
          <p:nvPr/>
        </p:nvSpPr>
        <p:spPr>
          <a:xfrm>
            <a:off x="795528" y="850392"/>
            <a:ext cx="10835640" cy="685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800">
                <a:solidFill>
                  <a:srgbClr val="1F2328"/>
                </a:solidFill>
                <a:latin typeface="Cambria"/>
                <a:ea typeface="Calibri"/>
                <a:cs typeface="Calibri"/>
                <a:sym typeface="Calibri"/>
              </a:rPr>
              <a:t>Guarantee schema coverage before LLM enrichment.</a:t>
            </a:r>
            <a:endParaRPr/>
          </a:p>
        </p:txBody>
      </p:sp>
      <p:sp>
        <p:nvSpPr>
          <p:cNvPr id="214" name="Google Shape;214;p7"/>
          <p:cNvSpPr txBox="1"/>
          <p:nvPr/>
        </p:nvSpPr>
        <p:spPr>
          <a:xfrm>
            <a:off x="795528" y="1609344"/>
            <a:ext cx="10607040" cy="34747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600">
                <a:solidFill>
                  <a:srgbClr val="5B6770"/>
                </a:solidFill>
                <a:latin typeface="Calibri"/>
                <a:ea typeface="Calibri"/>
                <a:cs typeface="Calibri"/>
                <a:sym typeface="Calibri"/>
              </a:rPr>
              <a:t>Direct Mapping (DMᵣ) represents every column in the cleaned table before generation.</a:t>
            </a:r>
            <a:endParaRPr/>
          </a:p>
        </p:txBody>
      </p:sp>
      <p:sp>
        <p:nvSpPr>
          <p:cNvPr id="215" name="Google Shape;215;p7"/>
          <p:cNvSpPr/>
          <p:nvPr/>
        </p:nvSpPr>
        <p:spPr>
          <a:xfrm>
            <a:off x="813816" y="2048256"/>
            <a:ext cx="3685032" cy="2926080"/>
          </a:xfrm>
          <a:prstGeom prst="roundRect">
            <a:avLst>
              <a:gd fmla="val 10000" name="adj"/>
            </a:avLst>
          </a:prstGeom>
          <a:solidFill>
            <a:srgbClr val="FFFFFF"/>
          </a:solidFill>
          <a:ln cap="flat" cmpd="sng" w="12700">
            <a:solidFill>
              <a:srgbClr val="D9DED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16" name="Google Shape;216;p7"/>
          <p:cNvSpPr txBox="1"/>
          <p:nvPr/>
        </p:nvSpPr>
        <p:spPr>
          <a:xfrm>
            <a:off x="1042415" y="2203704"/>
            <a:ext cx="3264408" cy="29260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500">
                <a:solidFill>
                  <a:srgbClr val="0B6E4F"/>
                </a:solidFill>
                <a:latin typeface="Consolas"/>
                <a:ea typeface="Consolas"/>
                <a:cs typeface="Consolas"/>
                <a:sym typeface="Consolas"/>
              </a:rPr>
              <a:t>INPUT  /  admission (excerpt)</a:t>
            </a:r>
            <a:endParaRPr sz="1500"/>
          </a:p>
        </p:txBody>
      </p:sp>
      <p:sp>
        <p:nvSpPr>
          <p:cNvPr id="217" name="Google Shape;217;p7"/>
          <p:cNvSpPr/>
          <p:nvPr/>
        </p:nvSpPr>
        <p:spPr>
          <a:xfrm>
            <a:off x="1060704" y="2752344"/>
            <a:ext cx="3154680" cy="448056"/>
          </a:xfrm>
          <a:prstGeom prst="roundRect">
            <a:avLst>
              <a:gd fmla="val 10000" name="adj"/>
            </a:avLst>
          </a:prstGeom>
          <a:solidFill>
            <a:srgbClr val="F3F5F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18" name="Google Shape;218;p7"/>
          <p:cNvSpPr txBox="1"/>
          <p:nvPr/>
        </p:nvSpPr>
        <p:spPr>
          <a:xfrm>
            <a:off x="1188720" y="2852927"/>
            <a:ext cx="1417320" cy="219456"/>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570">
                <a:solidFill>
                  <a:srgbClr val="1F2328"/>
                </a:solidFill>
                <a:latin typeface="Consolas"/>
                <a:ea typeface="Consolas"/>
                <a:cs typeface="Consolas"/>
                <a:sym typeface="Consolas"/>
              </a:rPr>
              <a:t>patient_id</a:t>
            </a:r>
            <a:endParaRPr/>
          </a:p>
        </p:txBody>
      </p:sp>
      <p:sp>
        <p:nvSpPr>
          <p:cNvPr id="219" name="Google Shape;219;p7"/>
          <p:cNvSpPr txBox="1"/>
          <p:nvPr/>
        </p:nvSpPr>
        <p:spPr>
          <a:xfrm>
            <a:off x="2615184" y="2834639"/>
            <a:ext cx="1490472" cy="246888"/>
          </a:xfrm>
          <a:prstGeom prst="rect">
            <a:avLst/>
          </a:prstGeom>
          <a:noFill/>
          <a:ln>
            <a:noFill/>
          </a:ln>
        </p:spPr>
        <p:txBody>
          <a:bodyPr anchorCtr="0" anchor="ctr" bIns="0" lIns="0" spcFirstLastPara="1" rIns="0" wrap="square" tIns="0">
            <a:spAutoFit/>
          </a:bodyPr>
          <a:lstStyle/>
          <a:p>
            <a:pPr indent="0" lvl="0" marL="0" marR="0" rtl="0" algn="r">
              <a:lnSpc>
                <a:spcPct val="105000"/>
              </a:lnSpc>
              <a:spcBef>
                <a:spcPts val="0"/>
              </a:spcBef>
              <a:spcAft>
                <a:spcPts val="0"/>
              </a:spcAft>
              <a:buNone/>
            </a:pPr>
            <a:r>
              <a:rPr b="0" i="0" lang="en-US" sz="1250">
                <a:solidFill>
                  <a:srgbClr val="5B6770"/>
                </a:solidFill>
                <a:latin typeface="Consolas"/>
                <a:ea typeface="Consolas"/>
                <a:cs typeface="Consolas"/>
                <a:sym typeface="Consolas"/>
              </a:rPr>
              <a:t>FK → PatientData</a:t>
            </a:r>
            <a:endParaRPr sz="1250"/>
          </a:p>
        </p:txBody>
      </p:sp>
      <p:sp>
        <p:nvSpPr>
          <p:cNvPr id="220" name="Google Shape;220;p7"/>
          <p:cNvSpPr/>
          <p:nvPr/>
        </p:nvSpPr>
        <p:spPr>
          <a:xfrm>
            <a:off x="1060704" y="3319272"/>
            <a:ext cx="3154680" cy="448056"/>
          </a:xfrm>
          <a:prstGeom prst="roundRect">
            <a:avLst>
              <a:gd fmla="val 10000" name="adj"/>
            </a:avLst>
          </a:prstGeom>
          <a:solidFill>
            <a:srgbClr val="F3F5F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1" name="Google Shape;221;p7"/>
          <p:cNvSpPr txBox="1"/>
          <p:nvPr/>
        </p:nvSpPr>
        <p:spPr>
          <a:xfrm>
            <a:off x="1188720" y="3419856"/>
            <a:ext cx="1417320" cy="219456"/>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570">
                <a:solidFill>
                  <a:srgbClr val="1F2328"/>
                </a:solidFill>
                <a:latin typeface="Consolas"/>
                <a:ea typeface="Consolas"/>
                <a:cs typeface="Consolas"/>
                <a:sym typeface="Consolas"/>
              </a:rPr>
              <a:t>BM_DEP</a:t>
            </a:r>
            <a:endParaRPr/>
          </a:p>
        </p:txBody>
      </p:sp>
      <p:sp>
        <p:nvSpPr>
          <p:cNvPr id="222" name="Google Shape;222;p7"/>
          <p:cNvSpPr txBox="1"/>
          <p:nvPr/>
        </p:nvSpPr>
        <p:spPr>
          <a:xfrm>
            <a:off x="2615184" y="3401568"/>
            <a:ext cx="1490472" cy="246888"/>
          </a:xfrm>
          <a:prstGeom prst="rect">
            <a:avLst/>
          </a:prstGeom>
          <a:noFill/>
          <a:ln>
            <a:noFill/>
          </a:ln>
        </p:spPr>
        <p:txBody>
          <a:bodyPr anchorCtr="0" anchor="ctr" bIns="0" lIns="0" spcFirstLastPara="1" rIns="0" wrap="square" tIns="0">
            <a:spAutoFit/>
          </a:bodyPr>
          <a:lstStyle/>
          <a:p>
            <a:pPr indent="0" lvl="0" marL="0" marR="0" rtl="0" algn="r">
              <a:lnSpc>
                <a:spcPct val="105000"/>
              </a:lnSpc>
              <a:spcBef>
                <a:spcPts val="0"/>
              </a:spcBef>
              <a:spcAft>
                <a:spcPts val="0"/>
              </a:spcAft>
              <a:buNone/>
            </a:pPr>
            <a:r>
              <a:rPr b="0" i="0" lang="en-US" sz="1400">
                <a:solidFill>
                  <a:srgbClr val="5B6770"/>
                </a:solidFill>
                <a:latin typeface="Consolas"/>
                <a:ea typeface="Consolas"/>
                <a:cs typeface="Consolas"/>
                <a:sym typeface="Consolas"/>
              </a:rPr>
              <a:t>INT</a:t>
            </a:r>
            <a:endParaRPr/>
          </a:p>
        </p:txBody>
      </p:sp>
      <p:sp>
        <p:nvSpPr>
          <p:cNvPr id="223" name="Google Shape;223;p7"/>
          <p:cNvSpPr/>
          <p:nvPr/>
        </p:nvSpPr>
        <p:spPr>
          <a:xfrm>
            <a:off x="1060704" y="3886200"/>
            <a:ext cx="3154680" cy="448056"/>
          </a:xfrm>
          <a:prstGeom prst="roundRect">
            <a:avLst>
              <a:gd fmla="val 10000" name="adj"/>
            </a:avLst>
          </a:prstGeom>
          <a:solidFill>
            <a:srgbClr val="F3F5F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4" name="Google Shape;224;p7"/>
          <p:cNvSpPr txBox="1"/>
          <p:nvPr/>
        </p:nvSpPr>
        <p:spPr>
          <a:xfrm>
            <a:off x="1188720" y="3986784"/>
            <a:ext cx="1417320" cy="219456"/>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570">
                <a:solidFill>
                  <a:srgbClr val="1F2328"/>
                </a:solidFill>
                <a:latin typeface="Consolas"/>
                <a:ea typeface="Consolas"/>
                <a:cs typeface="Consolas"/>
                <a:sym typeface="Consolas"/>
              </a:rPr>
              <a:t>ecog_stage</a:t>
            </a:r>
            <a:endParaRPr/>
          </a:p>
        </p:txBody>
      </p:sp>
      <p:sp>
        <p:nvSpPr>
          <p:cNvPr id="225" name="Google Shape;225;p7"/>
          <p:cNvSpPr txBox="1"/>
          <p:nvPr/>
        </p:nvSpPr>
        <p:spPr>
          <a:xfrm>
            <a:off x="2615184" y="3968496"/>
            <a:ext cx="1490472" cy="246888"/>
          </a:xfrm>
          <a:prstGeom prst="rect">
            <a:avLst/>
          </a:prstGeom>
          <a:noFill/>
          <a:ln>
            <a:noFill/>
          </a:ln>
        </p:spPr>
        <p:txBody>
          <a:bodyPr anchorCtr="0" anchor="ctr" bIns="0" lIns="0" spcFirstLastPara="1" rIns="0" wrap="square" tIns="0">
            <a:spAutoFit/>
          </a:bodyPr>
          <a:lstStyle/>
          <a:p>
            <a:pPr indent="0" lvl="0" marL="0" marR="0" rtl="0" algn="r">
              <a:lnSpc>
                <a:spcPct val="105000"/>
              </a:lnSpc>
              <a:spcBef>
                <a:spcPts val="0"/>
              </a:spcBef>
              <a:spcAft>
                <a:spcPts val="0"/>
              </a:spcAft>
              <a:buNone/>
            </a:pPr>
            <a:r>
              <a:rPr b="0" i="0" lang="en-US" sz="1400">
                <a:solidFill>
                  <a:srgbClr val="5B6770"/>
                </a:solidFill>
                <a:latin typeface="Consolas"/>
                <a:ea typeface="Consolas"/>
                <a:cs typeface="Consolas"/>
                <a:sym typeface="Consolas"/>
              </a:rPr>
              <a:t>INT</a:t>
            </a:r>
            <a:endParaRPr/>
          </a:p>
        </p:txBody>
      </p:sp>
      <p:sp>
        <p:nvSpPr>
          <p:cNvPr id="226" name="Google Shape;226;p7"/>
          <p:cNvSpPr txBox="1"/>
          <p:nvPr/>
        </p:nvSpPr>
        <p:spPr>
          <a:xfrm>
            <a:off x="1088136" y="4645152"/>
            <a:ext cx="3209544" cy="292608"/>
          </a:xfrm>
          <a:prstGeom prst="rect">
            <a:avLst/>
          </a:prstGeom>
          <a:noFill/>
          <a:ln>
            <a:noFill/>
          </a:ln>
        </p:spPr>
        <p:txBody>
          <a:bodyPr anchorCtr="0" anchor="ctr" bIns="0" lIns="0" spcFirstLastPara="1" rIns="0" wrap="square" tIns="0">
            <a:spAutoFit/>
          </a:bodyPr>
          <a:lstStyle/>
          <a:p>
            <a:pPr indent="0" lvl="0" marL="0" marR="0" rtl="0" algn="l">
              <a:lnSpc>
                <a:spcPct val="106000"/>
              </a:lnSpc>
              <a:spcBef>
                <a:spcPts val="0"/>
              </a:spcBef>
              <a:spcAft>
                <a:spcPts val="0"/>
              </a:spcAft>
              <a:buNone/>
            </a:pPr>
            <a:r>
              <a:rPr b="0" lang="en-US" sz="1400">
                <a:solidFill>
                  <a:srgbClr val="5B6770"/>
                </a:solidFill>
                <a:latin typeface="Calibri"/>
                <a:ea typeface="Calibri"/>
                <a:cs typeface="Calibri"/>
                <a:sym typeface="Calibri"/>
              </a:rPr>
              <a:t>Other columns are also mapped.</a:t>
            </a:r>
            <a:endParaRPr/>
          </a:p>
        </p:txBody>
      </p:sp>
      <p:sp>
        <p:nvSpPr>
          <p:cNvPr id="227" name="Google Shape;227;p7"/>
          <p:cNvSpPr/>
          <p:nvPr/>
        </p:nvSpPr>
        <p:spPr>
          <a:xfrm>
            <a:off x="4672584" y="3255264"/>
            <a:ext cx="612648" cy="475488"/>
          </a:xfrm>
          <a:prstGeom prst="rightArrow">
            <a:avLst>
              <a:gd fmla="val 50000" name="adj1"/>
              <a:gd fmla="val 50000" name="adj2"/>
            </a:avLst>
          </a:prstGeom>
          <a:solidFill>
            <a:srgbClr val="0B6E4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8" name="Google Shape;228;p7"/>
          <p:cNvSpPr/>
          <p:nvPr/>
        </p:nvSpPr>
        <p:spPr>
          <a:xfrm>
            <a:off x="5458968" y="2048256"/>
            <a:ext cx="5879592" cy="2926080"/>
          </a:xfrm>
          <a:prstGeom prst="roundRect">
            <a:avLst>
              <a:gd fmla="val 10000" name="adj"/>
            </a:avLst>
          </a:prstGeom>
          <a:solidFill>
            <a:srgbClr val="FFFFFF"/>
          </a:solidFill>
          <a:ln cap="flat" cmpd="sng" w="19050">
            <a:solidFill>
              <a:srgbClr val="0B6E4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9" name="Google Shape;229;p7"/>
          <p:cNvSpPr txBox="1"/>
          <p:nvPr/>
        </p:nvSpPr>
        <p:spPr>
          <a:xfrm>
            <a:off x="5669280" y="2203704"/>
            <a:ext cx="5321808" cy="29260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500">
                <a:solidFill>
                  <a:srgbClr val="0B6E4F"/>
                </a:solidFill>
                <a:latin typeface="Consolas"/>
                <a:ea typeface="Consolas"/>
                <a:cs typeface="Consolas"/>
                <a:sym typeface="Consolas"/>
              </a:rPr>
              <a:t>OUTPUT  /  DMr (excerpt)  ·  NO LLM</a:t>
            </a:r>
            <a:endParaRPr sz="1500"/>
          </a:p>
        </p:txBody>
      </p:sp>
      <p:sp>
        <p:nvSpPr>
          <p:cNvPr id="238" name="Google Shape;238;p7"/>
          <p:cNvSpPr/>
          <p:nvPr/>
        </p:nvSpPr>
        <p:spPr>
          <a:xfrm>
            <a:off x="822960" y="5166360"/>
            <a:ext cx="10515600" cy="365760"/>
          </a:xfrm>
          <a:prstGeom prst="roundRect">
            <a:avLst>
              <a:gd fmla="val 10000" name="adj"/>
            </a:avLst>
          </a:prstGeom>
          <a:solidFill>
            <a:srgbClr val="E6F2E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39" name="Google Shape;239;p7"/>
          <p:cNvSpPr txBox="1"/>
          <p:nvPr/>
        </p:nvSpPr>
        <p:spPr>
          <a:xfrm>
            <a:off x="1024128" y="5248656"/>
            <a:ext cx="10131552" cy="237744"/>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lang="en-US" sz="1550">
                <a:solidFill>
                  <a:srgbClr val="0B6E4F"/>
                </a:solidFill>
                <a:latin typeface="Calibri"/>
                <a:ea typeface="Calibri"/>
                <a:cs typeface="Calibri"/>
                <a:sym typeface="Calibri"/>
              </a:rPr>
              <a:t>GUARANTEE   Every cleaned-schema column is represented in the deterministic seed.</a:t>
            </a:r>
            <a:r>
              <a:rPr b="0" lang="en-US" sz="1550">
                <a:solidFill>
                  <a:srgbClr val="1F2328"/>
                </a:solidFill>
                <a:latin typeface="Calibri"/>
                <a:ea typeface="Calibri"/>
                <a:cs typeface="Calibri"/>
                <a:sym typeface="Calibri"/>
              </a:rPr>
              <a:t/>
            </a:r>
            <a:endParaRPr/>
          </a:p>
        </p:txBody>
      </p:sp>
      <p:sp>
        <p:nvSpPr>
          <p:cNvPr id="240" name="Google Shape;240;p7"/>
          <p:cNvSpPr/>
          <p:nvPr/>
        </p:nvSpPr>
        <p:spPr>
          <a:xfrm>
            <a:off x="804672" y="5797296"/>
            <a:ext cx="1645920" cy="310896"/>
          </a:xfrm>
          <a:prstGeom prst="roundRect">
            <a:avLst>
              <a:gd fmla="val 10000" name="adj"/>
            </a:avLst>
          </a:prstGeom>
          <a:solidFill>
            <a:srgbClr val="E6F2EC"/>
          </a:solidFill>
          <a:ln cap="flat" cmpd="sng" w="12700">
            <a:solidFill>
              <a:srgbClr val="E6F2EC"/>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41" name="Google Shape;241;p7"/>
          <p:cNvSpPr txBox="1"/>
          <p:nvPr/>
        </p:nvSpPr>
        <p:spPr>
          <a:xfrm>
            <a:off x="859536"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0B6E4F"/>
                </a:solidFill>
                <a:latin typeface="Consolas"/>
                <a:ea typeface="Consolas"/>
                <a:cs typeface="Consolas"/>
                <a:sym typeface="Consolas"/>
              </a:rPr>
              <a:t>1  ORDER</a:t>
            </a:r>
            <a:endParaRPr/>
          </a:p>
        </p:txBody>
      </p:sp>
      <p:sp>
        <p:nvSpPr>
          <p:cNvPr id="242" name="Google Shape;242;p7"/>
          <p:cNvSpPr/>
          <p:nvPr/>
        </p:nvSpPr>
        <p:spPr>
          <a:xfrm>
            <a:off x="2642615" y="5797296"/>
            <a:ext cx="1645920" cy="310896"/>
          </a:xfrm>
          <a:prstGeom prst="roundRect">
            <a:avLst>
              <a:gd fmla="val 10000" name="adj"/>
            </a:avLst>
          </a:prstGeom>
          <a:solidFill>
            <a:srgbClr val="0B6E4F"/>
          </a:solidFill>
          <a:ln cap="flat" cmpd="sng" w="12700">
            <a:solidFill>
              <a:srgbClr val="0B6E4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43" name="Google Shape;243;p7"/>
          <p:cNvSpPr txBox="1"/>
          <p:nvPr/>
        </p:nvSpPr>
        <p:spPr>
          <a:xfrm>
            <a:off x="2697479"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FFFFFF"/>
                </a:solidFill>
                <a:latin typeface="Consolas"/>
                <a:ea typeface="Consolas"/>
                <a:cs typeface="Consolas"/>
                <a:sym typeface="Consolas"/>
              </a:rPr>
              <a:t>2  SEED</a:t>
            </a:r>
            <a:endParaRPr/>
          </a:p>
        </p:txBody>
      </p:sp>
      <p:sp>
        <p:nvSpPr>
          <p:cNvPr id="244" name="Google Shape;244;p7"/>
          <p:cNvSpPr/>
          <p:nvPr/>
        </p:nvSpPr>
        <p:spPr>
          <a:xfrm>
            <a:off x="4480559" y="5797296"/>
            <a:ext cx="1645920" cy="310896"/>
          </a:xfrm>
          <a:prstGeom prst="roundRect">
            <a:avLst>
              <a:gd fmla="val 10000" name="adj"/>
            </a:avLst>
          </a:prstGeom>
          <a:solidFill>
            <a:srgbClr val="FFFFFF"/>
          </a:solidFill>
          <a:ln cap="flat" cmpd="sng" w="12700">
            <a:solidFill>
              <a:srgbClr val="D9DED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45" name="Google Shape;245;p7"/>
          <p:cNvSpPr txBox="1"/>
          <p:nvPr/>
        </p:nvSpPr>
        <p:spPr>
          <a:xfrm>
            <a:off x="4535423"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6B747B"/>
                </a:solidFill>
                <a:latin typeface="Consolas"/>
                <a:ea typeface="Consolas"/>
                <a:cs typeface="Consolas"/>
                <a:sym typeface="Consolas"/>
              </a:rPr>
              <a:t>3  RETRIEVE</a:t>
            </a:r>
            <a:endParaRPr/>
          </a:p>
        </p:txBody>
      </p:sp>
      <p:sp>
        <p:nvSpPr>
          <p:cNvPr id="246" name="Google Shape;246;p7"/>
          <p:cNvSpPr/>
          <p:nvPr/>
        </p:nvSpPr>
        <p:spPr>
          <a:xfrm>
            <a:off x="6318503" y="5797296"/>
            <a:ext cx="1645920" cy="310896"/>
          </a:xfrm>
          <a:prstGeom prst="roundRect">
            <a:avLst>
              <a:gd fmla="val 10000" name="adj"/>
            </a:avLst>
          </a:prstGeom>
          <a:solidFill>
            <a:srgbClr val="FFFFFF"/>
          </a:solidFill>
          <a:ln cap="flat" cmpd="sng" w="12700">
            <a:solidFill>
              <a:srgbClr val="D9DED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47" name="Google Shape;247;p7"/>
          <p:cNvSpPr txBox="1"/>
          <p:nvPr/>
        </p:nvSpPr>
        <p:spPr>
          <a:xfrm>
            <a:off x="6373367"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6B747B"/>
                </a:solidFill>
                <a:latin typeface="Consolas"/>
                <a:ea typeface="Consolas"/>
                <a:cs typeface="Consolas"/>
                <a:sym typeface="Consolas"/>
              </a:rPr>
              <a:t>4  GENERATE</a:t>
            </a:r>
            <a:endParaRPr/>
          </a:p>
        </p:txBody>
      </p:sp>
      <p:sp>
        <p:nvSpPr>
          <p:cNvPr id="248" name="Google Shape;248;p7"/>
          <p:cNvSpPr/>
          <p:nvPr/>
        </p:nvSpPr>
        <p:spPr>
          <a:xfrm>
            <a:off x="8156448" y="5797296"/>
            <a:ext cx="1645920" cy="310896"/>
          </a:xfrm>
          <a:prstGeom prst="roundRect">
            <a:avLst>
              <a:gd fmla="val 10000" name="adj"/>
            </a:avLst>
          </a:prstGeom>
          <a:solidFill>
            <a:srgbClr val="FFFFFF"/>
          </a:solidFill>
          <a:ln cap="flat" cmpd="sng" w="12700">
            <a:solidFill>
              <a:srgbClr val="D9DED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49" name="Google Shape;249;p7"/>
          <p:cNvSpPr txBox="1"/>
          <p:nvPr/>
        </p:nvSpPr>
        <p:spPr>
          <a:xfrm>
            <a:off x="8211312"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6B747B"/>
                </a:solidFill>
                <a:latin typeface="Consolas"/>
                <a:ea typeface="Consolas"/>
                <a:cs typeface="Consolas"/>
                <a:sym typeface="Consolas"/>
              </a:rPr>
              <a:t>5  VALIDATE</a:t>
            </a:r>
            <a:endParaRPr/>
          </a:p>
        </p:txBody>
      </p:sp>
      <p:sp>
        <p:nvSpPr>
          <p:cNvPr id="250" name="Google Shape;250;p7"/>
          <p:cNvSpPr/>
          <p:nvPr/>
        </p:nvSpPr>
        <p:spPr>
          <a:xfrm>
            <a:off x="9994392" y="5797296"/>
            <a:ext cx="1645920" cy="310896"/>
          </a:xfrm>
          <a:prstGeom prst="roundRect">
            <a:avLst>
              <a:gd fmla="val 10000" name="adj"/>
            </a:avLst>
          </a:prstGeom>
          <a:solidFill>
            <a:srgbClr val="FFFFFF"/>
          </a:solidFill>
          <a:ln cap="flat" cmpd="sng" w="12700">
            <a:solidFill>
              <a:srgbClr val="D9DED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1" name="Google Shape;251;p7"/>
          <p:cNvSpPr txBox="1"/>
          <p:nvPr/>
        </p:nvSpPr>
        <p:spPr>
          <a:xfrm>
            <a:off x="10049256"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6B747B"/>
                </a:solidFill>
                <a:latin typeface="Consolas"/>
                <a:ea typeface="Consolas"/>
                <a:cs typeface="Consolas"/>
                <a:sym typeface="Consolas"/>
              </a:rPr>
              <a:t>6  MERGE</a:t>
            </a:r>
            <a:endParaRPr/>
          </a:p>
        </p:txBody>
      </p:sp>
      <p:sp>
        <p:nvSpPr>
          <p:cNvPr id="252" name="Code 252" descr="OWL Manchester Syntax excerpt"/>
          <p:cNvSpPr txBox="1"/>
          <p:nvPr/>
        </p:nvSpPr>
        <p:spPr>
          <a:xfrm>
            <a:off x="5733288" y="2697480"/>
            <a:ext cx="5266944" cy="1956816"/>
          </a:xfrm>
          <a:prstGeom prst="roundRect">
            <a:avLst>
              <a:gd name="adj" fmla="val 5000"/>
            </a:avLst>
          </a:prstGeom>
          <a:solidFill>
            <a:srgbClr val="F6F8FA"/>
          </a:solidFill>
          <a:ln w="9525">
            <a:solidFill>
              <a:srgbClr val="D0D7DE"/>
            </a:solidFill>
          </a:ln>
        </p:spPr>
        <p:txBody>
          <a:bodyPr wrap="none" lIns="109728" tIns="73152" rIns="109728" bIns="54864" anchor="t">
            <a:noAutofit/>
          </a:bodyPr>
          <a:lstStyle/>
          <a:p>
            <a:pPr>
              <a:lnSpc>
                <a:spcPts val="1600"/>
              </a:lnSpc>
              <a:spcBef>
                <a:spcPts val="0"/>
              </a:spcBef>
              <a:tabLst>
                <a:tab pos="3246120" algn="l"/>
              </a:tabLst>
            </a:pPr>
            <a:r>
              <a:rPr lang="en-US" sz="1400" b="1" i="0" dirty="0">
                <a:solidFill>
                  <a:srgbClr val="0B6E4F"/>
                </a:solidFill>
                <a:latin typeface="Consolas"/>
                <a:cs typeface="Consolas"/>
              </a:rPr>
              <a:t xml:space="preserve">Class:</a:t>
            </a:r>
            <a:r>
              <a:rPr lang="en-US" sz="1400" b="0" i="0" dirty="0">
                <a:solidFill>
                  <a:srgbClr val="1F2328"/>
                </a:solidFill>
                <a:latin typeface="Consolas"/>
                <a:cs typeface="Consolas"/>
              </a:rPr>
              <a:t xml:space="preserve"> </a:t>
            </a:r>
            <a:r>
              <a:rPr lang="en-US" sz="1400" b="0" i="0" dirty="0">
                <a:solidFill>
                  <a:srgbClr val="1F2328"/>
                </a:solidFill>
                <a:latin typeface="Consolas"/>
                <a:cs typeface="Consolas"/>
              </a:rPr>
              <a:t xml:space="preserve">Admission</a:t>
            </a:r>
            <a:endParaRPr lang="en-US" sz="1400"/>
          </a:p>
          <a:p>
            <a:pPr>
              <a:lnSpc>
                <a:spcPts val="1600"/>
              </a:lnSpc>
              <a:spcBef>
                <a:spcPts val="0"/>
              </a:spcBef>
              <a:tabLst>
                <a:tab pos="3246120" algn="l"/>
              </a:tabLst>
            </a:pPr>
            <a:r>
              <a:rPr lang="en-US" sz="1400" b="0" i="0" dirty="0">
                <a:solidFill>
                  <a:srgbClr val="1F2328"/>
                </a:solidFill>
                <a:latin typeface="Consolas"/>
                <a:cs typeface="Consolas"/>
              </a:rPr>
              <a:t xml:space="preserve">  </a:t>
            </a:r>
            <a:r>
              <a:rPr lang="en-US" sz="1400" b="1" i="0" dirty="0">
                <a:solidFill>
                  <a:srgbClr val="0B6E4F"/>
                </a:solidFill>
                <a:latin typeface="Consolas"/>
                <a:cs typeface="Consolas"/>
              </a:rPr>
              <a:t xml:space="preserve">SubClassOf:</a:t>
            </a:r>
            <a:endParaRPr lang="en-US" sz="1400"/>
          </a:p>
          <a:p>
            <a:pPr>
              <a:lnSpc>
                <a:spcPts val="1600"/>
              </a:lnSpc>
              <a:spcBef>
                <a:spcPts val="0"/>
              </a:spcBef>
              <a:tabLst>
                <a:tab pos="3246120" algn="l"/>
              </a:tabLst>
            </a:pPr>
            <a:r>
              <a:rPr lang="en-US" sz="1400" b="0" i="0" dirty="0">
                <a:solidFill>
                  <a:srgbClr val="1F2328"/>
                </a:solidFill>
                <a:latin typeface="Consolas"/>
                <a:cs typeface="Consolas"/>
              </a:rPr>
              <a:t xml:space="preserve">    </a:t>
            </a:r>
            <a:r>
              <a:rPr lang="en-US" sz="1400" b="0" i="0" dirty="0">
                <a:solidFill>
                  <a:srgbClr val="1F2328"/>
                </a:solidFill>
                <a:latin typeface="Consolas"/>
                <a:cs typeface="Consolas"/>
              </a:rPr>
              <a:t xml:space="preserve">patient_id</a:t>
            </a:r>
            <a:r>
              <a:rPr lang="en-US" sz="1400" b="0" i="0" dirty="0">
                <a:solidFill>
                  <a:srgbClr val="1F2328"/>
                </a:solidFill>
                <a:latin typeface="Consolas"/>
                <a:cs typeface="Consolas"/>
              </a:rPr>
              <a:t xml:space="preserve"> </a:t>
            </a:r>
            <a:r>
              <a:rPr lang="en-US" sz="1400" b="1" i="0" dirty="0">
                <a:solidFill>
                  <a:srgbClr val="0B6E4F"/>
                </a:solidFill>
                <a:latin typeface="Consolas"/>
                <a:cs typeface="Consolas"/>
              </a:rPr>
              <a:t xml:space="preserve">some</a:t>
            </a:r>
            <a:r>
              <a:rPr lang="en-US" sz="1400" b="0" i="0" dirty="0">
                <a:solidFill>
                  <a:srgbClr val="1F2328"/>
                </a:solidFill>
                <a:latin typeface="Consolas"/>
                <a:cs typeface="Consolas"/>
              </a:rPr>
              <a:t xml:space="preserve"> </a:t>
            </a:r>
            <a:r>
              <a:rPr lang="en-US" sz="1400" b="0" i="0" dirty="0">
                <a:solidFill>
                  <a:srgbClr val="1F2328"/>
                </a:solidFill>
                <a:latin typeface="Consolas"/>
                <a:cs typeface="Consolas"/>
              </a:rPr>
              <a:t xml:space="preserve">PatientData</a:t>
            </a:r>
            <a:r>
              <a:rPr lang="en-US" sz="1400" b="0" i="0" dirty="0">
                <a:solidFill>
                  <a:srgbClr val="1F2328"/>
                </a:solidFill>
                <a:latin typeface="Consolas"/>
                <a:cs typeface="Consolas"/>
              </a:rPr>
              <a:t xml:space="preserve">,</a:t>
            </a:r>
            <a:r>
              <a:rPr lang="en-US" sz="1200" b="0" i="1" dirty="0">
                <a:solidFill>
                  <a:srgbClr val="5B6770"/>
                </a:solidFill>
                <a:latin typeface="Calibri"/>
                <a:cs typeface="Calibri"/>
              </a:rPr>
              <a:t xml:space="preserve">	← each has a patient</a:t>
            </a:r>
            <a:endParaRPr lang="en-US" sz="1400"/>
          </a:p>
          <a:p>
            <a:pPr>
              <a:lnSpc>
                <a:spcPts val="1600"/>
              </a:lnSpc>
              <a:spcBef>
                <a:spcPts val="0"/>
              </a:spcBef>
              <a:tabLst>
                <a:tab pos="3246120" algn="l"/>
              </a:tabLst>
            </a:pPr>
            <a:r>
              <a:rPr lang="en-US" sz="1400" b="0" i="0" dirty="0">
                <a:solidFill>
                  <a:srgbClr val="1F2328"/>
                </a:solidFill>
                <a:latin typeface="Consolas"/>
                <a:cs typeface="Consolas"/>
              </a:rPr>
              <a:t xml:space="preserve">    </a:t>
            </a:r>
            <a:r>
              <a:rPr lang="en-US" sz="1400" b="0" i="0" dirty="0">
                <a:solidFill>
                  <a:srgbClr val="1F2328"/>
                </a:solidFill>
                <a:latin typeface="Consolas"/>
                <a:cs typeface="Consolas"/>
              </a:rPr>
              <a:t xml:space="preserve">BM_DEP</a:t>
            </a:r>
            <a:r>
              <a:rPr lang="en-US" sz="1400" b="0" i="0" dirty="0">
                <a:solidFill>
                  <a:srgbClr val="1F2328"/>
                </a:solidFill>
                <a:latin typeface="Consolas"/>
                <a:cs typeface="Consolas"/>
              </a:rPr>
              <a:t xml:space="preserve"> </a:t>
            </a:r>
            <a:r>
              <a:rPr lang="en-US" sz="1400" b="1" i="0" dirty="0">
                <a:solidFill>
                  <a:srgbClr val="0B6E4F"/>
                </a:solidFill>
                <a:latin typeface="Consolas"/>
                <a:cs typeface="Consolas"/>
              </a:rPr>
              <a:t xml:space="preserve">only</a:t>
            </a:r>
            <a:r>
              <a:rPr lang="en-US" sz="1400" b="0" i="0" dirty="0">
                <a:solidFill>
                  <a:srgbClr val="1F2328"/>
                </a:solidFill>
                <a:latin typeface="Consolas"/>
                <a:cs typeface="Consolas"/>
              </a:rPr>
              <a:t xml:space="preserve"> </a:t>
            </a:r>
            <a:r>
              <a:rPr lang="en-US" sz="1400" b="0" i="0" dirty="0">
                <a:solidFill>
                  <a:srgbClr val="6F42C1"/>
                </a:solidFill>
                <a:latin typeface="Consolas"/>
                <a:cs typeface="Consolas"/>
              </a:rPr>
              <a:t xml:space="preserve">xsd:integer</a:t>
            </a:r>
            <a:r>
              <a:rPr lang="en-US" sz="1400" b="0" i="0" dirty="0">
                <a:solidFill>
                  <a:srgbClr val="1F2328"/>
                </a:solidFill>
                <a:latin typeface="Consolas"/>
                <a:cs typeface="Consolas"/>
              </a:rPr>
              <a:t xml:space="preserve">,</a:t>
            </a:r>
            <a:r>
              <a:rPr lang="en-US" sz="1200" b="0" i="1" dirty="0">
                <a:solidFill>
                  <a:srgbClr val="5B6770"/>
                </a:solidFill>
                <a:latin typeface="Calibri"/>
                <a:cs typeface="Calibri"/>
              </a:rPr>
              <a:t xml:space="preserve">	← if present, an integer</a:t>
            </a:r>
            <a:endParaRPr lang="en-US" sz="1400"/>
          </a:p>
          <a:p>
            <a:pPr>
              <a:lnSpc>
                <a:spcPts val="1600"/>
              </a:lnSpc>
              <a:spcBef>
                <a:spcPts val="0"/>
              </a:spcBef>
              <a:tabLst>
                <a:tab pos="3246120" algn="l"/>
              </a:tabLst>
            </a:pPr>
            <a:r>
              <a:rPr lang="en-US" sz="1400" b="0" i="0" dirty="0">
                <a:solidFill>
                  <a:srgbClr val="1F2328"/>
                </a:solidFill>
                <a:latin typeface="Consolas"/>
                <a:cs typeface="Consolas"/>
              </a:rPr>
              <a:t xml:space="preserve">    </a:t>
            </a:r>
            <a:r>
              <a:rPr lang="en-US" sz="1400" b="0" i="0" dirty="0">
                <a:solidFill>
                  <a:srgbClr val="1F2328"/>
                </a:solidFill>
                <a:latin typeface="Consolas"/>
                <a:cs typeface="Consolas"/>
              </a:rPr>
              <a:t xml:space="preserve">ecog_stage</a:t>
            </a:r>
            <a:r>
              <a:rPr lang="en-US" sz="1400" b="0" i="0" dirty="0">
                <a:solidFill>
                  <a:srgbClr val="1F2328"/>
                </a:solidFill>
                <a:latin typeface="Consolas"/>
                <a:cs typeface="Consolas"/>
              </a:rPr>
              <a:t xml:space="preserve"> </a:t>
            </a:r>
            <a:r>
              <a:rPr lang="en-US" sz="1400" b="1" i="0" dirty="0">
                <a:solidFill>
                  <a:srgbClr val="0B6E4F"/>
                </a:solidFill>
                <a:latin typeface="Consolas"/>
                <a:cs typeface="Consolas"/>
              </a:rPr>
              <a:t xml:space="preserve">only</a:t>
            </a:r>
            <a:r>
              <a:rPr lang="en-US" sz="1400" b="0" i="0" dirty="0">
                <a:solidFill>
                  <a:srgbClr val="1F2328"/>
                </a:solidFill>
                <a:latin typeface="Consolas"/>
                <a:cs typeface="Consolas"/>
              </a:rPr>
              <a:t xml:space="preserve"> </a:t>
            </a:r>
            <a:r>
              <a:rPr lang="en-US" sz="1400" b="0" i="0" dirty="0">
                <a:solidFill>
                  <a:srgbClr val="6F42C1"/>
                </a:solidFill>
                <a:latin typeface="Consolas"/>
                <a:cs typeface="Consolas"/>
              </a:rPr>
              <a:t xml:space="preserve">xsd:integer</a:t>
            </a:r>
            <a:endParaRPr lang="en-US" sz="1400"/>
          </a:p>
          <a:p>
            <a:pPr>
              <a:lnSpc>
                <a:spcPts val="1600"/>
              </a:lnSpc>
              <a:spcBef>
                <a:spcPts val="0"/>
              </a:spcBef>
              <a:tabLst>
                <a:tab pos="3246120" algn="l"/>
              </a:tabLst>
            </a:pPr>
            <a:r>
              <a:rPr lang="en-US" sz="1400" b="1" i="0" dirty="0">
                <a:solidFill>
                  <a:srgbClr val="0B6E4F"/>
                </a:solidFill>
                <a:latin typeface="Consolas"/>
                <a:cs typeface="Consolas"/>
              </a:rPr>
              <a:t xml:space="preserve">ObjectProperty:</a:t>
            </a:r>
            <a:r>
              <a:rPr lang="en-US" sz="1400" b="0" i="0" dirty="0">
                <a:solidFill>
                  <a:srgbClr val="1F2328"/>
                </a:solidFill>
                <a:latin typeface="Consolas"/>
                <a:cs typeface="Consolas"/>
              </a:rPr>
              <a:t xml:space="preserve"> </a:t>
            </a:r>
            <a:r>
              <a:rPr lang="en-US" sz="1400" b="0" i="0" dirty="0">
                <a:solidFill>
                  <a:srgbClr val="1F2328"/>
                </a:solidFill>
                <a:latin typeface="Consolas"/>
                <a:cs typeface="Consolas"/>
              </a:rPr>
              <a:t xml:space="preserve">patient_id</a:t>
            </a:r>
            <a:r>
              <a:rPr lang="en-US" sz="1200" b="0" i="1" dirty="0">
                <a:solidFill>
                  <a:srgbClr val="5B6770"/>
                </a:solidFill>
                <a:latin typeface="Calibri"/>
                <a:cs typeface="Calibri"/>
              </a:rPr>
              <a:t xml:space="preserve">	← the FK becomes a link</a:t>
            </a:r>
            <a:endParaRPr lang="en-US" sz="1400"/>
          </a:p>
          <a:p>
            <a:pPr>
              <a:lnSpc>
                <a:spcPts val="1600"/>
              </a:lnSpc>
              <a:spcBef>
                <a:spcPts val="0"/>
              </a:spcBef>
              <a:tabLst>
                <a:tab pos="3246120" algn="l"/>
              </a:tabLst>
            </a:pPr>
            <a:r>
              <a:rPr lang="en-US" sz="1400" b="1" i="0" dirty="0">
                <a:solidFill>
                  <a:srgbClr val="0B6E4F"/>
                </a:solidFill>
                <a:latin typeface="Consolas"/>
                <a:cs typeface="Consolas"/>
              </a:rPr>
              <a:t xml:space="preserve">DataProperty:</a:t>
            </a:r>
            <a:r>
              <a:rPr lang="en-US" sz="1400" b="0" i="0" dirty="0">
                <a:solidFill>
                  <a:srgbClr val="1F2328"/>
                </a:solidFill>
                <a:latin typeface="Consolas"/>
                <a:cs typeface="Consolas"/>
              </a:rPr>
              <a:t xml:space="preserve"> </a:t>
            </a:r>
            <a:r>
              <a:rPr lang="en-US" sz="1400" b="0" i="0" dirty="0">
                <a:solidFill>
                  <a:srgbClr val="1F2328"/>
                </a:solidFill>
                <a:latin typeface="Consolas"/>
                <a:cs typeface="Consolas"/>
              </a:rPr>
              <a:t xml:space="preserve">BM_DEP</a:t>
            </a:r>
            <a:endParaRPr lang="en-US" sz="1400"/>
          </a:p>
          <a:p>
            <a:pPr>
              <a:lnSpc>
                <a:spcPts val="1600"/>
              </a:lnSpc>
              <a:spcBef>
                <a:spcPts val="0"/>
              </a:spcBef>
              <a:tabLst>
                <a:tab pos="3246120" algn="l"/>
              </a:tabLst>
            </a:pPr>
            <a:r>
              <a:rPr lang="en-US" sz="1400" b="1" i="0" dirty="0">
                <a:solidFill>
                  <a:srgbClr val="0B6E4F"/>
                </a:solidFill>
                <a:latin typeface="Consolas"/>
                <a:cs typeface="Consolas"/>
              </a:rPr>
              <a:t xml:space="preserve">DataProperty:</a:t>
            </a:r>
            <a:r>
              <a:rPr lang="en-US" sz="1400" b="0" i="0" dirty="0">
                <a:solidFill>
                  <a:srgbClr val="1F2328"/>
                </a:solidFill>
                <a:latin typeface="Consolas"/>
                <a:cs typeface="Consolas"/>
              </a:rPr>
              <a:t xml:space="preserve"> </a:t>
            </a:r>
            <a:r>
              <a:rPr lang="en-US" sz="1400" b="0" i="0" dirty="0">
                <a:solidFill>
                  <a:srgbClr val="1F2328"/>
                </a:solidFill>
                <a:latin typeface="Consolas"/>
                <a:cs typeface="Consolas"/>
              </a:rPr>
              <a:t xml:space="preserve">ecog_stage</a:t>
            </a:r>
            <a:endParaRPr lang="en-US" sz="14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6" name="Shape 256"/>
        <p:cNvGrpSpPr/>
        <p:nvPr/>
      </p:nvGrpSpPr>
      <p:grpSpPr>
        <a:xfrm>
          <a:off x="0" y="0"/>
          <a:ext cx="0" cy="0"/>
          <a:chOff x="0" y="0"/>
          <a:chExt cx="0" cy="0"/>
        </a:xfrm>
      </p:grpSpPr>
      <p:sp>
        <p:nvSpPr>
          <p:cNvPr id="257" name="Google Shape;257;p8"/>
          <p:cNvSpPr txBox="1"/>
          <p:nvPr/>
        </p:nvSpPr>
        <p:spPr>
          <a:xfrm>
            <a:off x="795528" y="448056"/>
            <a:ext cx="10789920" cy="31089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0B6E4F"/>
                </a:solidFill>
                <a:latin typeface="Consolas"/>
                <a:ea typeface="Consolas"/>
                <a:cs typeface="Consolas"/>
                <a:sym typeface="Consolas"/>
              </a:rPr>
              <a:t>STEP 3 / RETRIEVE</a:t>
            </a:r>
            <a:endParaRPr/>
          </a:p>
        </p:txBody>
      </p:sp>
      <p:sp>
        <p:nvSpPr>
          <p:cNvPr id="258" name="Google Shape;258;p8"/>
          <p:cNvSpPr txBox="1"/>
          <p:nvPr/>
        </p:nvSpPr>
        <p:spPr>
          <a:xfrm>
            <a:off x="795528" y="850392"/>
            <a:ext cx="10835640" cy="685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800">
                <a:solidFill>
                  <a:srgbClr val="1F2328"/>
                </a:solidFill>
                <a:latin typeface="Cambria"/>
                <a:ea typeface="Calibri"/>
                <a:cs typeface="Calibri"/>
                <a:sym typeface="Calibri"/>
              </a:rPr>
              <a:t>The draft is structurally faithful. But what does it mean?</a:t>
            </a:r>
            <a:endParaRPr/>
          </a:p>
        </p:txBody>
      </p:sp>
      <p:sp>
        <p:nvSpPr>
          <p:cNvPr id="259" name="Google Shape;259;p8"/>
          <p:cNvSpPr txBox="1"/>
          <p:nvPr/>
        </p:nvSpPr>
        <p:spPr>
          <a:xfrm>
            <a:off x="795528" y="1609344"/>
            <a:ext cx="10607040" cy="34747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600">
                <a:solidFill>
                  <a:srgbClr val="5B6770"/>
                </a:solidFill>
                <a:latin typeface="Calibri"/>
                <a:ea typeface="Calibri"/>
                <a:cs typeface="Calibri"/>
                <a:sym typeface="Calibri"/>
              </a:rPr>
              <a:t>RIGOR gathers a small context package from three complementary sources.</a:t>
            </a:r>
            <a:endParaRPr/>
          </a:p>
        </p:txBody>
      </p:sp>
      <p:sp>
        <p:nvSpPr>
          <p:cNvPr id="260" name="Google Shape;260;p8"/>
          <p:cNvSpPr/>
          <p:nvPr/>
        </p:nvSpPr>
        <p:spPr>
          <a:xfrm>
            <a:off x="822960" y="2185416"/>
            <a:ext cx="3319272" cy="2514600"/>
          </a:xfrm>
          <a:prstGeom prst="roundRect">
            <a:avLst>
              <a:gd fmla="val 10000" name="adj"/>
            </a:avLst>
          </a:prstGeom>
          <a:solidFill>
            <a:srgbClr val="FFFFFF"/>
          </a:solidFill>
          <a:ln cap="flat" cmpd="sng" w="12700">
            <a:solidFill>
              <a:srgbClr val="D9DED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61" name="Google Shape;261;p8"/>
          <p:cNvSpPr/>
          <p:nvPr/>
        </p:nvSpPr>
        <p:spPr>
          <a:xfrm>
            <a:off x="822960" y="2185416"/>
            <a:ext cx="3319272" cy="64008"/>
          </a:xfrm>
          <a:prstGeom prst="rect">
            <a:avLst/>
          </a:prstGeom>
          <a:solidFill>
            <a:srgbClr val="0B6E4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62" name="Google Shape;262;p8"/>
          <p:cNvSpPr txBox="1"/>
          <p:nvPr/>
        </p:nvSpPr>
        <p:spPr>
          <a:xfrm>
            <a:off x="1005840" y="2395728"/>
            <a:ext cx="2999232" cy="301752"/>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520">
                <a:solidFill>
                  <a:srgbClr val="0B6E4F"/>
                </a:solidFill>
                <a:latin typeface="Consolas"/>
                <a:ea typeface="Consolas"/>
                <a:cs typeface="Consolas"/>
                <a:sym typeface="Consolas"/>
              </a:rPr>
              <a:t>1  DOCUMENTATION</a:t>
            </a:r>
            <a:endParaRPr/>
          </a:p>
        </p:txBody>
      </p:sp>
      <p:sp>
        <p:nvSpPr>
          <p:cNvPr id="263" name="Google Shape;263;p8"/>
          <p:cNvSpPr txBox="1"/>
          <p:nvPr/>
        </p:nvSpPr>
        <p:spPr>
          <a:xfrm>
            <a:off x="1005840" y="2807208"/>
            <a:ext cx="2990088" cy="53035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730">
                <a:solidFill>
                  <a:srgbClr val="1F2328"/>
                </a:solidFill>
                <a:latin typeface="Calibri"/>
                <a:ea typeface="Calibri"/>
                <a:cs typeface="Calibri"/>
                <a:sym typeface="Calibri"/>
              </a:rPr>
              <a:t>What do column names mean?</a:t>
            </a:r>
            <a:endParaRPr/>
          </a:p>
        </p:txBody>
      </p:sp>
      <p:sp>
        <p:nvSpPr>
          <p:cNvPr id="264" name="Google Shape;264;p8"/>
          <p:cNvSpPr/>
          <p:nvPr/>
        </p:nvSpPr>
        <p:spPr>
          <a:xfrm>
            <a:off x="996696" y="3483864"/>
            <a:ext cx="2962656" cy="557784"/>
          </a:xfrm>
          <a:prstGeom prst="roundRect">
            <a:avLst>
              <a:gd fmla="val 10000" name="adj"/>
            </a:avLst>
          </a:prstGeom>
          <a:solidFill>
            <a:srgbClr val="F3F5F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65" name="Google Shape;265;p8"/>
          <p:cNvSpPr txBox="1"/>
          <p:nvPr/>
        </p:nvSpPr>
        <p:spPr>
          <a:xfrm>
            <a:off x="1124712" y="3511296"/>
            <a:ext cx="2706624" cy="548640"/>
          </a:xfrm>
          <a:prstGeom prst="rect">
            <a:avLst/>
          </a:prstGeom>
          <a:noFill/>
          <a:ln>
            <a:noFill/>
          </a:ln>
        </p:spPr>
        <p:txBody>
          <a:bodyPr anchorCtr="0" anchor="t" bIns="0" lIns="0" spcFirstLastPara="1" rIns="0" wrap="square" tIns="0">
            <a:spAutoFit/>
          </a:bodyPr>
          <a:lstStyle/>
          <a:p>
            <a:pPr indent="0" lvl="0" marL="0" marR="0" rtl="0" algn="l">
              <a:lnSpc>
                <a:spcPct val="106000"/>
              </a:lnSpc>
              <a:spcBef>
                <a:spcPts val="0"/>
              </a:spcBef>
              <a:spcAft>
                <a:spcPts val="0"/>
              </a:spcAft>
              <a:buNone/>
            </a:pPr>
            <a:r>
              <a:rPr b="0" lang="en-US" sz="1520">
                <a:solidFill>
                  <a:srgbClr val="1F2328"/>
                </a:solidFill>
                <a:latin typeface="Calibri"/>
                <a:ea typeface="Calibri"/>
                <a:cs typeface="Calibri"/>
                <a:sym typeface="Calibri"/>
              </a:rPr>
              <a:t>BM_DEP → Bone Marrow</a:t>
            </a:r>
            <a:endParaRPr/>
          </a:p>
          <a:p>
            <a:pPr indent="0" lvl="0" marL="0" marR="0" rtl="0" algn="l">
              <a:lnSpc>
                <a:spcPct val="106000"/>
              </a:lnSpc>
              <a:spcBef>
                <a:spcPts val="0"/>
              </a:spcBef>
              <a:spcAft>
                <a:spcPts val="0"/>
              </a:spcAft>
              <a:buNone/>
            </a:pPr>
            <a:r>
              <a:rPr b="0" lang="en-US" sz="1520">
                <a:solidFill>
                  <a:srgbClr val="1F2328"/>
                </a:solidFill>
                <a:latin typeface="Calibri"/>
                <a:ea typeface="Calibri"/>
                <a:cs typeface="Calibri"/>
                <a:sym typeface="Calibri"/>
              </a:rPr>
              <a:t>Depression</a:t>
            </a:r>
            <a:endParaRPr/>
          </a:p>
        </p:txBody>
      </p:sp>
      <p:sp>
        <p:nvSpPr>
          <p:cNvPr id="266" name="Google Shape;266;p8"/>
          <p:cNvSpPr txBox="1"/>
          <p:nvPr/>
        </p:nvSpPr>
        <p:spPr>
          <a:xfrm>
            <a:off x="1005840" y="4261104"/>
            <a:ext cx="2944368" cy="292608"/>
          </a:xfrm>
          <a:prstGeom prst="rect">
            <a:avLst/>
          </a:prstGeom>
          <a:noFill/>
          <a:ln>
            <a:noFill/>
          </a:ln>
        </p:spPr>
        <p:txBody>
          <a:bodyPr anchorCtr="0" anchor="ctr" bIns="0" lIns="0" spcFirstLastPara="1" rIns="0" wrap="square" tIns="0">
            <a:spAutoFit/>
          </a:bodyPr>
          <a:lstStyle/>
          <a:p>
            <a:pPr indent="0" lvl="0" marL="0" marR="0" rtl="0" algn="l">
              <a:lnSpc>
                <a:spcPct val="106000"/>
              </a:lnSpc>
              <a:spcBef>
                <a:spcPts val="0"/>
              </a:spcBef>
              <a:spcAft>
                <a:spcPts val="0"/>
              </a:spcAft>
              <a:buNone/>
            </a:pPr>
            <a:r>
              <a:rPr b="0" lang="en-US" sz="1550">
                <a:solidFill>
                  <a:srgbClr val="5B6770"/>
                </a:solidFill>
                <a:latin typeface="Calibri"/>
                <a:ea typeface="Calibri"/>
                <a:cs typeface="Calibri"/>
                <a:sym typeface="Calibri"/>
              </a:rPr>
              <a:t>Defines cryptic names</a:t>
            </a:r>
            <a:endParaRPr/>
          </a:p>
        </p:txBody>
      </p:sp>
      <p:sp>
        <p:nvSpPr>
          <p:cNvPr id="267" name="Google Shape;267;p8"/>
          <p:cNvSpPr/>
          <p:nvPr/>
        </p:nvSpPr>
        <p:spPr>
          <a:xfrm>
            <a:off x="4416552" y="2185416"/>
            <a:ext cx="3319272" cy="2514600"/>
          </a:xfrm>
          <a:prstGeom prst="roundRect">
            <a:avLst>
              <a:gd fmla="val 10000" name="adj"/>
            </a:avLst>
          </a:prstGeom>
          <a:solidFill>
            <a:srgbClr val="FFFFFF"/>
          </a:solidFill>
          <a:ln cap="flat" cmpd="sng" w="12700">
            <a:solidFill>
              <a:srgbClr val="D9DED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68" name="Google Shape;268;p8"/>
          <p:cNvSpPr/>
          <p:nvPr/>
        </p:nvSpPr>
        <p:spPr>
          <a:xfrm>
            <a:off x="4416552" y="2185416"/>
            <a:ext cx="3319272" cy="64008"/>
          </a:xfrm>
          <a:prstGeom prst="rect">
            <a:avLst/>
          </a:prstGeom>
          <a:solidFill>
            <a:srgbClr val="2F6B7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69" name="Google Shape;269;p8"/>
          <p:cNvSpPr txBox="1"/>
          <p:nvPr/>
        </p:nvSpPr>
        <p:spPr>
          <a:xfrm>
            <a:off x="4599432" y="2395728"/>
            <a:ext cx="2999232" cy="301752"/>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520">
                <a:solidFill>
                  <a:srgbClr val="2F6B78"/>
                </a:solidFill>
                <a:latin typeface="Consolas"/>
                <a:ea typeface="Consolas"/>
                <a:cs typeface="Consolas"/>
                <a:sym typeface="Consolas"/>
              </a:rPr>
              <a:t>2  EXTERNAL ONTOLOGIES</a:t>
            </a:r>
            <a:endParaRPr/>
          </a:p>
        </p:txBody>
      </p:sp>
      <p:sp>
        <p:nvSpPr>
          <p:cNvPr id="270" name="Google Shape;270;p8"/>
          <p:cNvSpPr txBox="1"/>
          <p:nvPr/>
        </p:nvSpPr>
        <p:spPr>
          <a:xfrm>
            <a:off x="4599432" y="2807208"/>
            <a:ext cx="2990088" cy="53035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730">
                <a:solidFill>
                  <a:srgbClr val="1F2328"/>
                </a:solidFill>
                <a:latin typeface="Calibri"/>
                <a:ea typeface="Calibri"/>
                <a:cs typeface="Calibri"/>
                <a:sym typeface="Calibri"/>
              </a:rPr>
              <a:t>Which domain concepts exist?</a:t>
            </a:r>
            <a:endParaRPr/>
          </a:p>
        </p:txBody>
      </p:sp>
      <p:sp>
        <p:nvSpPr>
          <p:cNvPr id="271" name="Google Shape;271;p8"/>
          <p:cNvSpPr/>
          <p:nvPr/>
        </p:nvSpPr>
        <p:spPr>
          <a:xfrm>
            <a:off x="4590288" y="3483864"/>
            <a:ext cx="2962656" cy="557784"/>
          </a:xfrm>
          <a:prstGeom prst="roundRect">
            <a:avLst>
              <a:gd fmla="val 10000" name="adj"/>
            </a:avLst>
          </a:prstGeom>
          <a:solidFill>
            <a:srgbClr val="F3F5F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72" name="Google Shape;272;p8"/>
          <p:cNvSpPr txBox="1"/>
          <p:nvPr/>
        </p:nvSpPr>
        <p:spPr>
          <a:xfrm>
            <a:off x="4718304" y="3520440"/>
            <a:ext cx="2706624" cy="557784"/>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lang="en-US" sz="1520">
                <a:solidFill>
                  <a:srgbClr val="1F2328"/>
                </a:solidFill>
                <a:latin typeface="Calibri"/>
                <a:ea typeface="Calibri"/>
                <a:cs typeface="Calibri"/>
                <a:sym typeface="Calibri"/>
              </a:rPr>
              <a:t>ICD-10 · Disease Ontology</a:t>
            </a:r>
            <a:endParaRPr/>
          </a:p>
          <a:p>
            <a:pPr indent="0" lvl="0" marL="0" marR="0" rtl="0" algn="l">
              <a:lnSpc>
                <a:spcPct val="105000"/>
              </a:lnSpc>
              <a:spcBef>
                <a:spcPts val="0"/>
              </a:spcBef>
              <a:spcAft>
                <a:spcPts val="0"/>
              </a:spcAft>
              <a:buNone/>
            </a:pPr>
            <a:r>
              <a:rPr b="0" lang="en-US" sz="1520">
                <a:solidFill>
                  <a:srgbClr val="1F2328"/>
                </a:solidFill>
                <a:latin typeface="Calibri"/>
                <a:ea typeface="Calibri"/>
                <a:cs typeface="Calibri"/>
                <a:sym typeface="Calibri"/>
              </a:rPr>
              <a:t>Cell and nutrition ontologies</a:t>
            </a:r>
            <a:endParaRPr/>
          </a:p>
        </p:txBody>
      </p:sp>
      <p:sp>
        <p:nvSpPr>
          <p:cNvPr id="273" name="Google Shape;273;p8"/>
          <p:cNvSpPr txBox="1"/>
          <p:nvPr/>
        </p:nvSpPr>
        <p:spPr>
          <a:xfrm>
            <a:off x="4599432" y="4215384"/>
            <a:ext cx="2944368" cy="36576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lang="en-US" sz="1550">
                <a:solidFill>
                  <a:srgbClr val="5B6770"/>
                </a:solidFill>
                <a:latin typeface="Calibri"/>
                <a:ea typeface="Calibri"/>
                <a:cs typeface="Calibri"/>
                <a:sym typeface="Calibri"/>
              </a:rPr>
              <a:t>Suggests established concepts</a:t>
            </a:r>
            <a:endParaRPr/>
          </a:p>
        </p:txBody>
      </p:sp>
      <p:sp>
        <p:nvSpPr>
          <p:cNvPr id="274" name="Google Shape;274;p8"/>
          <p:cNvSpPr/>
          <p:nvPr/>
        </p:nvSpPr>
        <p:spPr>
          <a:xfrm>
            <a:off x="8010144" y="2185416"/>
            <a:ext cx="3319272" cy="2514600"/>
          </a:xfrm>
          <a:prstGeom prst="roundRect">
            <a:avLst>
              <a:gd fmla="val 10000" name="adj"/>
            </a:avLst>
          </a:prstGeom>
          <a:solidFill>
            <a:srgbClr val="FFFFFF"/>
          </a:solidFill>
          <a:ln cap="flat" cmpd="sng" w="12700">
            <a:solidFill>
              <a:srgbClr val="D9DED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75" name="Google Shape;275;p8"/>
          <p:cNvSpPr/>
          <p:nvPr/>
        </p:nvSpPr>
        <p:spPr>
          <a:xfrm>
            <a:off x="8010144" y="2185416"/>
            <a:ext cx="3319272" cy="64008"/>
          </a:xfrm>
          <a:prstGeom prst="rect">
            <a:avLst/>
          </a:prstGeom>
          <a:solidFill>
            <a:srgbClr val="0B6E4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76" name="Google Shape;276;p8"/>
          <p:cNvSpPr txBox="1"/>
          <p:nvPr/>
        </p:nvSpPr>
        <p:spPr>
          <a:xfrm>
            <a:off x="8193023" y="2395728"/>
            <a:ext cx="2999232" cy="301752"/>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520">
                <a:solidFill>
                  <a:srgbClr val="0B6E4F"/>
                </a:solidFill>
                <a:latin typeface="Consolas"/>
                <a:ea typeface="Consolas"/>
                <a:cs typeface="Consolas"/>
                <a:sym typeface="Consolas"/>
              </a:rPr>
              <a:t>3  GROWING CORE</a:t>
            </a:r>
            <a:endParaRPr/>
          </a:p>
        </p:txBody>
      </p:sp>
      <p:sp>
        <p:nvSpPr>
          <p:cNvPr id="277" name="Google Shape;277;p8"/>
          <p:cNvSpPr txBox="1"/>
          <p:nvPr/>
        </p:nvSpPr>
        <p:spPr>
          <a:xfrm>
            <a:off x="8193023" y="2807208"/>
            <a:ext cx="2990088" cy="53035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730">
                <a:solidFill>
                  <a:srgbClr val="1F2328"/>
                </a:solidFill>
                <a:latin typeface="Calibri"/>
                <a:ea typeface="Calibri"/>
                <a:cs typeface="Calibri"/>
                <a:sym typeface="Calibri"/>
              </a:rPr>
              <a:t>What have we already defined?</a:t>
            </a:r>
            <a:endParaRPr/>
          </a:p>
        </p:txBody>
      </p:sp>
      <p:sp>
        <p:nvSpPr>
          <p:cNvPr id="278" name="Google Shape;278;p8"/>
          <p:cNvSpPr/>
          <p:nvPr/>
        </p:nvSpPr>
        <p:spPr>
          <a:xfrm>
            <a:off x="8183879" y="3483864"/>
            <a:ext cx="2962656" cy="557784"/>
          </a:xfrm>
          <a:prstGeom prst="roundRect">
            <a:avLst>
              <a:gd fmla="val 10000" name="adj"/>
            </a:avLst>
          </a:prstGeom>
          <a:solidFill>
            <a:srgbClr val="F3F5F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79" name="Google Shape;279;p8"/>
          <p:cNvSpPr txBox="1"/>
          <p:nvPr/>
        </p:nvSpPr>
        <p:spPr>
          <a:xfrm>
            <a:off x="8311896" y="3520440"/>
            <a:ext cx="2706624" cy="557784"/>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lang="en-US" sz="1520">
                <a:solidFill>
                  <a:srgbClr val="1F2328"/>
                </a:solidFill>
                <a:latin typeface="Calibri"/>
                <a:ea typeface="Calibri"/>
                <a:cs typeface="Calibri"/>
                <a:sym typeface="Calibri"/>
              </a:rPr>
              <a:t>PatientData + previously</a:t>
            </a:r>
            <a:endParaRPr/>
          </a:p>
          <a:p>
            <a:pPr indent="0" lvl="0" marL="0" marR="0" rtl="0" algn="l">
              <a:lnSpc>
                <a:spcPct val="105000"/>
              </a:lnSpc>
              <a:spcBef>
                <a:spcPts val="0"/>
              </a:spcBef>
              <a:spcAft>
                <a:spcPts val="0"/>
              </a:spcAft>
              <a:buNone/>
            </a:pPr>
            <a:r>
              <a:rPr b="0" lang="en-US" sz="1520">
                <a:solidFill>
                  <a:srgbClr val="1F2328"/>
                </a:solidFill>
                <a:latin typeface="Calibri"/>
                <a:ea typeface="Calibri"/>
                <a:cs typeface="Calibri"/>
                <a:sym typeface="Calibri"/>
              </a:rPr>
              <a:t>accepted ontology terms</a:t>
            </a:r>
            <a:endParaRPr/>
          </a:p>
        </p:txBody>
      </p:sp>
      <p:sp>
        <p:nvSpPr>
          <p:cNvPr id="280" name="Google Shape;280;p8"/>
          <p:cNvSpPr txBox="1"/>
          <p:nvPr/>
        </p:nvSpPr>
        <p:spPr>
          <a:xfrm>
            <a:off x="8193023" y="4215384"/>
            <a:ext cx="2944368" cy="36576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lang="en-US" sz="1550">
                <a:solidFill>
                  <a:srgbClr val="5B6770"/>
                </a:solidFill>
                <a:latin typeface="Calibri"/>
                <a:ea typeface="Calibri"/>
                <a:cs typeface="Calibri"/>
                <a:sym typeface="Calibri"/>
              </a:rPr>
              <a:t>Reuses established concepts</a:t>
            </a:r>
            <a:endParaRPr/>
          </a:p>
        </p:txBody>
      </p:sp>
      <p:sp>
        <p:nvSpPr>
          <p:cNvPr id="281" name="Google Shape;281;p8"/>
          <p:cNvSpPr/>
          <p:nvPr/>
        </p:nvSpPr>
        <p:spPr>
          <a:xfrm>
            <a:off x="832104" y="4965192"/>
            <a:ext cx="10469880" cy="521207"/>
          </a:xfrm>
          <a:prstGeom prst="roundRect">
            <a:avLst>
              <a:gd fmla="val 10000" name="adj"/>
            </a:avLst>
          </a:prstGeom>
          <a:solidFill>
            <a:srgbClr val="E6F2E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82" name="Google Shape;282;p8"/>
          <p:cNvSpPr txBox="1"/>
          <p:nvPr/>
        </p:nvSpPr>
        <p:spPr>
          <a:xfrm>
            <a:off x="1033271" y="5074920"/>
            <a:ext cx="10076688" cy="301752"/>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lang="en-US" sz="1550">
                <a:solidFill>
                  <a:srgbClr val="0B6E4F"/>
                </a:solidFill>
                <a:latin typeface="Calibri"/>
                <a:ea typeface="Calibri"/>
                <a:cs typeface="Calibri"/>
                <a:sym typeface="Calibri"/>
              </a:rPr>
              <a:t>ONE RETRIEVAL QUERY PER TABLE   </a:t>
            </a:r>
            <a:r>
              <a:rPr b="0" lang="en-US" sz="1550">
                <a:solidFill>
                  <a:srgbClr val="1F2328"/>
                </a:solidFill>
                <a:latin typeface="Calibri"/>
                <a:ea typeface="Calibri"/>
                <a:cs typeface="Calibri"/>
                <a:sym typeface="Calibri"/>
              </a:rPr>
              <a:t>table + columns + FK targets  →  top-3 per source</a:t>
            </a:r>
            <a:endParaRPr/>
          </a:p>
        </p:txBody>
      </p:sp>
      <p:sp>
        <p:nvSpPr>
          <p:cNvPr id="283" name="Google Shape;283;p8"/>
          <p:cNvSpPr/>
          <p:nvPr/>
        </p:nvSpPr>
        <p:spPr>
          <a:xfrm>
            <a:off x="804672" y="5797296"/>
            <a:ext cx="1645920" cy="310896"/>
          </a:xfrm>
          <a:prstGeom prst="roundRect">
            <a:avLst>
              <a:gd fmla="val 10000" name="adj"/>
            </a:avLst>
          </a:prstGeom>
          <a:solidFill>
            <a:srgbClr val="E6F2EC"/>
          </a:solidFill>
          <a:ln cap="flat" cmpd="sng" w="12700">
            <a:solidFill>
              <a:srgbClr val="E6F2EC"/>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84" name="Google Shape;284;p8"/>
          <p:cNvSpPr txBox="1"/>
          <p:nvPr/>
        </p:nvSpPr>
        <p:spPr>
          <a:xfrm>
            <a:off x="859536"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0B6E4F"/>
                </a:solidFill>
                <a:latin typeface="Consolas"/>
                <a:ea typeface="Consolas"/>
                <a:cs typeface="Consolas"/>
                <a:sym typeface="Consolas"/>
              </a:rPr>
              <a:t>1  ORDER</a:t>
            </a:r>
            <a:endParaRPr/>
          </a:p>
        </p:txBody>
      </p:sp>
      <p:sp>
        <p:nvSpPr>
          <p:cNvPr id="285" name="Google Shape;285;p8"/>
          <p:cNvSpPr/>
          <p:nvPr/>
        </p:nvSpPr>
        <p:spPr>
          <a:xfrm>
            <a:off x="2642615" y="5797296"/>
            <a:ext cx="1645920" cy="310896"/>
          </a:xfrm>
          <a:prstGeom prst="roundRect">
            <a:avLst>
              <a:gd fmla="val 10000" name="adj"/>
            </a:avLst>
          </a:prstGeom>
          <a:solidFill>
            <a:srgbClr val="E6F2EC"/>
          </a:solidFill>
          <a:ln cap="flat" cmpd="sng" w="12700">
            <a:solidFill>
              <a:srgbClr val="E6F2EC"/>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86" name="Google Shape;286;p8"/>
          <p:cNvSpPr txBox="1"/>
          <p:nvPr/>
        </p:nvSpPr>
        <p:spPr>
          <a:xfrm>
            <a:off x="2697479"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0B6E4F"/>
                </a:solidFill>
                <a:latin typeface="Consolas"/>
                <a:ea typeface="Consolas"/>
                <a:cs typeface="Consolas"/>
                <a:sym typeface="Consolas"/>
              </a:rPr>
              <a:t>2  SEED</a:t>
            </a:r>
            <a:endParaRPr/>
          </a:p>
        </p:txBody>
      </p:sp>
      <p:sp>
        <p:nvSpPr>
          <p:cNvPr id="287" name="Google Shape;287;p8"/>
          <p:cNvSpPr/>
          <p:nvPr/>
        </p:nvSpPr>
        <p:spPr>
          <a:xfrm>
            <a:off x="4480559" y="5797296"/>
            <a:ext cx="1645920" cy="310896"/>
          </a:xfrm>
          <a:prstGeom prst="roundRect">
            <a:avLst>
              <a:gd fmla="val 10000" name="adj"/>
            </a:avLst>
          </a:prstGeom>
          <a:solidFill>
            <a:srgbClr val="0B6E4F"/>
          </a:solidFill>
          <a:ln cap="flat" cmpd="sng" w="12700">
            <a:solidFill>
              <a:srgbClr val="0B6E4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88" name="Google Shape;288;p8"/>
          <p:cNvSpPr txBox="1"/>
          <p:nvPr/>
        </p:nvSpPr>
        <p:spPr>
          <a:xfrm>
            <a:off x="4535423"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FFFFFF"/>
                </a:solidFill>
                <a:latin typeface="Consolas"/>
                <a:ea typeface="Consolas"/>
                <a:cs typeface="Consolas"/>
                <a:sym typeface="Consolas"/>
              </a:rPr>
              <a:t>3  RETRIEVE</a:t>
            </a:r>
            <a:endParaRPr/>
          </a:p>
        </p:txBody>
      </p:sp>
      <p:sp>
        <p:nvSpPr>
          <p:cNvPr id="289" name="Google Shape;289;p8"/>
          <p:cNvSpPr/>
          <p:nvPr/>
        </p:nvSpPr>
        <p:spPr>
          <a:xfrm>
            <a:off x="6318503" y="5797296"/>
            <a:ext cx="1645920" cy="310896"/>
          </a:xfrm>
          <a:prstGeom prst="roundRect">
            <a:avLst>
              <a:gd fmla="val 10000" name="adj"/>
            </a:avLst>
          </a:prstGeom>
          <a:solidFill>
            <a:srgbClr val="FFFFFF"/>
          </a:solidFill>
          <a:ln cap="flat" cmpd="sng" w="12700">
            <a:solidFill>
              <a:srgbClr val="D9DED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90" name="Google Shape;290;p8"/>
          <p:cNvSpPr txBox="1"/>
          <p:nvPr/>
        </p:nvSpPr>
        <p:spPr>
          <a:xfrm>
            <a:off x="6373367"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6B747B"/>
                </a:solidFill>
                <a:latin typeface="Consolas"/>
                <a:ea typeface="Consolas"/>
                <a:cs typeface="Consolas"/>
                <a:sym typeface="Consolas"/>
              </a:rPr>
              <a:t>4  GENERATE</a:t>
            </a:r>
            <a:endParaRPr/>
          </a:p>
        </p:txBody>
      </p:sp>
      <p:sp>
        <p:nvSpPr>
          <p:cNvPr id="291" name="Google Shape;291;p8"/>
          <p:cNvSpPr/>
          <p:nvPr/>
        </p:nvSpPr>
        <p:spPr>
          <a:xfrm>
            <a:off x="8156448" y="5797296"/>
            <a:ext cx="1645920" cy="310896"/>
          </a:xfrm>
          <a:prstGeom prst="roundRect">
            <a:avLst>
              <a:gd fmla="val 10000" name="adj"/>
            </a:avLst>
          </a:prstGeom>
          <a:solidFill>
            <a:srgbClr val="FFFFFF"/>
          </a:solidFill>
          <a:ln cap="flat" cmpd="sng" w="12700">
            <a:solidFill>
              <a:srgbClr val="D9DED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92" name="Google Shape;292;p8"/>
          <p:cNvSpPr txBox="1"/>
          <p:nvPr/>
        </p:nvSpPr>
        <p:spPr>
          <a:xfrm>
            <a:off x="8211312"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6B747B"/>
                </a:solidFill>
                <a:latin typeface="Consolas"/>
                <a:ea typeface="Consolas"/>
                <a:cs typeface="Consolas"/>
                <a:sym typeface="Consolas"/>
              </a:rPr>
              <a:t>5  VALIDATE</a:t>
            </a:r>
            <a:endParaRPr/>
          </a:p>
        </p:txBody>
      </p:sp>
      <p:sp>
        <p:nvSpPr>
          <p:cNvPr id="293" name="Google Shape;293;p8"/>
          <p:cNvSpPr/>
          <p:nvPr/>
        </p:nvSpPr>
        <p:spPr>
          <a:xfrm>
            <a:off x="9994392" y="5797296"/>
            <a:ext cx="1645920" cy="310896"/>
          </a:xfrm>
          <a:prstGeom prst="roundRect">
            <a:avLst>
              <a:gd fmla="val 10000" name="adj"/>
            </a:avLst>
          </a:prstGeom>
          <a:solidFill>
            <a:srgbClr val="FFFFFF"/>
          </a:solidFill>
          <a:ln cap="flat" cmpd="sng" w="12700">
            <a:solidFill>
              <a:srgbClr val="D9DED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94" name="Google Shape;294;p8"/>
          <p:cNvSpPr txBox="1"/>
          <p:nvPr/>
        </p:nvSpPr>
        <p:spPr>
          <a:xfrm>
            <a:off x="10049256"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6B747B"/>
                </a:solidFill>
                <a:latin typeface="Consolas"/>
                <a:ea typeface="Consolas"/>
                <a:cs typeface="Consolas"/>
                <a:sym typeface="Consolas"/>
              </a:rPr>
              <a:t>6  MERGE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9" name="Shape 299"/>
        <p:cNvGrpSpPr/>
        <p:nvPr/>
      </p:nvGrpSpPr>
      <p:grpSpPr>
        <a:xfrm>
          <a:off x="0" y="0"/>
          <a:ext cx="0" cy="0"/>
          <a:chOff x="0" y="0"/>
          <a:chExt cx="0" cy="0"/>
        </a:xfrm>
      </p:grpSpPr>
      <p:sp>
        <p:nvSpPr>
          <p:cNvPr id="300" name="Google Shape;300;p9"/>
          <p:cNvSpPr txBox="1"/>
          <p:nvPr/>
        </p:nvSpPr>
        <p:spPr>
          <a:xfrm>
            <a:off x="804672" y="448056"/>
            <a:ext cx="10716768" cy="31089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0B6E4F"/>
                </a:solidFill>
                <a:latin typeface="Consolas"/>
                <a:ea typeface="Consolas"/>
                <a:cs typeface="Consolas"/>
                <a:sym typeface="Consolas"/>
              </a:rPr>
              <a:t>STEP 4 / GENERATE</a:t>
            </a:r>
            <a:endParaRPr/>
          </a:p>
        </p:txBody>
      </p:sp>
      <p:sp>
        <p:nvSpPr>
          <p:cNvPr id="301" name="Google Shape;301;p9"/>
          <p:cNvSpPr txBox="1"/>
          <p:nvPr/>
        </p:nvSpPr>
        <p:spPr>
          <a:xfrm>
            <a:off x="804672" y="859536"/>
            <a:ext cx="10716768" cy="6949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800">
                <a:solidFill>
                  <a:srgbClr val="1F2328"/>
                </a:solidFill>
                <a:latin typeface="Cambria"/>
                <a:ea typeface="Calibri"/>
                <a:cs typeface="Calibri"/>
                <a:sym typeface="Calibri"/>
              </a:rPr>
              <a:t>The LLM enriches a schema-grounded draft.</a:t>
            </a:r>
            <a:endParaRPr/>
          </a:p>
        </p:txBody>
      </p:sp>
      <p:sp>
        <p:nvSpPr>
          <p:cNvPr id="302" name="Google Shape;302;p9"/>
          <p:cNvSpPr txBox="1"/>
          <p:nvPr/>
        </p:nvSpPr>
        <p:spPr>
          <a:xfrm>
            <a:off x="804672" y="1609344"/>
            <a:ext cx="10607040" cy="32004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600">
                <a:solidFill>
                  <a:srgbClr val="3A434C"/>
                </a:solidFill>
                <a:latin typeface="Calibri"/>
                <a:ea typeface="Calibri"/>
                <a:cs typeface="Calibri"/>
                <a:sym typeface="Calibri"/>
              </a:rPr>
              <a:t>One prompt combines the direct mapping, retrieved context, and enrichment instructions.</a:t>
            </a:r>
            <a:endParaRPr/>
          </a:p>
        </p:txBody>
      </p:sp>
      <p:sp>
        <p:nvSpPr>
          <p:cNvPr id="322" name="Google Shape;322;p9"/>
          <p:cNvSpPr/>
          <p:nvPr/>
        </p:nvSpPr>
        <p:spPr>
          <a:xfrm>
            <a:off x="804672" y="5797296"/>
            <a:ext cx="1645920" cy="310896"/>
          </a:xfrm>
          <a:prstGeom prst="roundRect">
            <a:avLst>
              <a:gd fmla="val 10000" name="adj"/>
            </a:avLst>
          </a:prstGeom>
          <a:solidFill>
            <a:srgbClr val="E6F2EC"/>
          </a:solidFill>
          <a:ln cap="flat" cmpd="sng" w="12700">
            <a:solidFill>
              <a:srgbClr val="E6F2EC"/>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23" name="Google Shape;323;p9"/>
          <p:cNvSpPr txBox="1"/>
          <p:nvPr/>
        </p:nvSpPr>
        <p:spPr>
          <a:xfrm>
            <a:off x="859536"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0B6E4F"/>
                </a:solidFill>
                <a:latin typeface="Consolas"/>
                <a:ea typeface="Consolas"/>
                <a:cs typeface="Consolas"/>
                <a:sym typeface="Consolas"/>
              </a:rPr>
              <a:t>1  ORDER</a:t>
            </a:r>
            <a:endParaRPr/>
          </a:p>
        </p:txBody>
      </p:sp>
      <p:sp>
        <p:nvSpPr>
          <p:cNvPr id="324" name="Google Shape;324;p9"/>
          <p:cNvSpPr/>
          <p:nvPr/>
        </p:nvSpPr>
        <p:spPr>
          <a:xfrm>
            <a:off x="2642615" y="5797296"/>
            <a:ext cx="1645920" cy="310896"/>
          </a:xfrm>
          <a:prstGeom prst="roundRect">
            <a:avLst>
              <a:gd fmla="val 10000" name="adj"/>
            </a:avLst>
          </a:prstGeom>
          <a:solidFill>
            <a:srgbClr val="E6F2EC"/>
          </a:solidFill>
          <a:ln cap="flat" cmpd="sng" w="12700">
            <a:solidFill>
              <a:srgbClr val="E6F2EC"/>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25" name="Google Shape;325;p9"/>
          <p:cNvSpPr txBox="1"/>
          <p:nvPr/>
        </p:nvSpPr>
        <p:spPr>
          <a:xfrm>
            <a:off x="2697479"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0B6E4F"/>
                </a:solidFill>
                <a:latin typeface="Consolas"/>
                <a:ea typeface="Consolas"/>
                <a:cs typeface="Consolas"/>
                <a:sym typeface="Consolas"/>
              </a:rPr>
              <a:t>2  SEED</a:t>
            </a:r>
            <a:endParaRPr/>
          </a:p>
        </p:txBody>
      </p:sp>
      <p:sp>
        <p:nvSpPr>
          <p:cNvPr id="326" name="Google Shape;326;p9"/>
          <p:cNvSpPr/>
          <p:nvPr/>
        </p:nvSpPr>
        <p:spPr>
          <a:xfrm>
            <a:off x="4480559" y="5797296"/>
            <a:ext cx="1645920" cy="310896"/>
          </a:xfrm>
          <a:prstGeom prst="roundRect">
            <a:avLst>
              <a:gd fmla="val 10000" name="adj"/>
            </a:avLst>
          </a:prstGeom>
          <a:solidFill>
            <a:srgbClr val="E6F2EC"/>
          </a:solidFill>
          <a:ln cap="flat" cmpd="sng" w="12700">
            <a:solidFill>
              <a:srgbClr val="E6F2EC"/>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27" name="Google Shape;327;p9"/>
          <p:cNvSpPr txBox="1"/>
          <p:nvPr/>
        </p:nvSpPr>
        <p:spPr>
          <a:xfrm>
            <a:off x="4535423"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0B6E4F"/>
                </a:solidFill>
                <a:latin typeface="Consolas"/>
                <a:ea typeface="Consolas"/>
                <a:cs typeface="Consolas"/>
                <a:sym typeface="Consolas"/>
              </a:rPr>
              <a:t>3  RETRIEVE</a:t>
            </a:r>
            <a:endParaRPr/>
          </a:p>
        </p:txBody>
      </p:sp>
      <p:sp>
        <p:nvSpPr>
          <p:cNvPr id="328" name="Google Shape;328;p9"/>
          <p:cNvSpPr/>
          <p:nvPr/>
        </p:nvSpPr>
        <p:spPr>
          <a:xfrm>
            <a:off x="6318503" y="5797296"/>
            <a:ext cx="1645920" cy="310896"/>
          </a:xfrm>
          <a:prstGeom prst="roundRect">
            <a:avLst>
              <a:gd fmla="val 10000" name="adj"/>
            </a:avLst>
          </a:prstGeom>
          <a:solidFill>
            <a:srgbClr val="0B6E4F"/>
          </a:solidFill>
          <a:ln cap="flat" cmpd="sng" w="12700">
            <a:solidFill>
              <a:srgbClr val="0B6E4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29" name="Google Shape;329;p9"/>
          <p:cNvSpPr txBox="1"/>
          <p:nvPr/>
        </p:nvSpPr>
        <p:spPr>
          <a:xfrm>
            <a:off x="6373367"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FFFFFF"/>
                </a:solidFill>
                <a:latin typeface="Consolas"/>
                <a:ea typeface="Consolas"/>
                <a:cs typeface="Consolas"/>
                <a:sym typeface="Consolas"/>
              </a:rPr>
              <a:t>4  GENERATE</a:t>
            </a:r>
            <a:endParaRPr/>
          </a:p>
        </p:txBody>
      </p:sp>
      <p:sp>
        <p:nvSpPr>
          <p:cNvPr id="330" name="Google Shape;330;p9"/>
          <p:cNvSpPr/>
          <p:nvPr/>
        </p:nvSpPr>
        <p:spPr>
          <a:xfrm>
            <a:off x="8156448" y="5797296"/>
            <a:ext cx="1645920" cy="310896"/>
          </a:xfrm>
          <a:prstGeom prst="roundRect">
            <a:avLst>
              <a:gd fmla="val 10000" name="adj"/>
            </a:avLst>
          </a:prstGeom>
          <a:solidFill>
            <a:srgbClr val="FFFFFF"/>
          </a:solidFill>
          <a:ln cap="flat" cmpd="sng" w="12700">
            <a:solidFill>
              <a:srgbClr val="D9DED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31" name="Google Shape;331;p9"/>
          <p:cNvSpPr txBox="1"/>
          <p:nvPr/>
        </p:nvSpPr>
        <p:spPr>
          <a:xfrm>
            <a:off x="8211312"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6B747B"/>
                </a:solidFill>
                <a:latin typeface="Consolas"/>
                <a:ea typeface="Consolas"/>
                <a:cs typeface="Consolas"/>
                <a:sym typeface="Consolas"/>
              </a:rPr>
              <a:t>5  VALIDATE</a:t>
            </a:r>
            <a:endParaRPr/>
          </a:p>
        </p:txBody>
      </p:sp>
      <p:sp>
        <p:nvSpPr>
          <p:cNvPr id="332" name="Google Shape;332;p9"/>
          <p:cNvSpPr/>
          <p:nvPr/>
        </p:nvSpPr>
        <p:spPr>
          <a:xfrm>
            <a:off x="9994392" y="5797296"/>
            <a:ext cx="1645920" cy="310896"/>
          </a:xfrm>
          <a:prstGeom prst="roundRect">
            <a:avLst>
              <a:gd fmla="val 10000" name="adj"/>
            </a:avLst>
          </a:prstGeom>
          <a:solidFill>
            <a:srgbClr val="FFFFFF"/>
          </a:solidFill>
          <a:ln cap="flat" cmpd="sng" w="12700">
            <a:solidFill>
              <a:srgbClr val="D9DED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33" name="Google Shape;333;p9"/>
          <p:cNvSpPr txBox="1"/>
          <p:nvPr/>
        </p:nvSpPr>
        <p:spPr>
          <a:xfrm>
            <a:off x="10049256"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6B747B"/>
                </a:solidFill>
                <a:latin typeface="Consolas"/>
                <a:ea typeface="Consolas"/>
                <a:cs typeface="Consolas"/>
                <a:sym typeface="Consolas"/>
              </a:rPr>
              <a:t>6  MERGE</a:t>
            </a:r>
            <a:endParaRPr/>
          </a:p>
        </p:txBody>
      </p:sp>
      <p:sp>
        <p:nvSpPr>
          <p:cNvPr id="334" name="Rounded Rectangle 333"/>
          <p:cNvSpPr/>
          <p:nvPr/>
        </p:nvSpPr>
        <p:spPr>
          <a:xfrm>
            <a:off x="795528" y="2148840"/>
            <a:ext cx="2971800" cy="3273552"/>
          </a:xfrm>
          <a:prstGeom prst="roundRect">
            <a:avLst/>
          </a:prstGeom>
          <a:solidFill>
            <a:srgbClr val="FFFFFF"/>
          </a:solidFill>
          <a:ln w="13970">
            <a:solidFill>
              <a:srgbClr val="D9DE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5" name="TextBox 334"/>
          <p:cNvSpPr txBox="1"/>
          <p:nvPr/>
        </p:nvSpPr>
        <p:spPr>
          <a:xfrm>
            <a:off x="1005840" y="2313432"/>
            <a:ext cx="2468880" cy="310896"/>
          </a:xfrm>
          <a:prstGeom prst="rect">
            <a:avLst/>
          </a:prstGeom>
          <a:noFill/>
        </p:spPr>
        <p:txBody>
          <a:bodyPr wrap="square" lIns="0" rIns="0" tIns="0" bIns="0" anchor="ctr">
            <a:spAutoFit/>
          </a:bodyPr>
          <a:lstStyle/>
          <a:p>
            <a:r>
              <a:rPr sz="1500" b="1">
                <a:solidFill>
                  <a:srgbClr val="3A434C"/>
                </a:solidFill>
                <a:latin typeface="Consolas"/>
              </a:rPr>
              <a:t>BEFORE / DMᵣ</a:t>
            </a:r>
          </a:p>
        </p:txBody>
      </p:sp>
      <p:sp>
        <p:nvSpPr>
          <p:cNvPr id="340" name="TextBox 339"/>
          <p:cNvSpPr txBox="1"/>
          <p:nvPr/>
        </p:nvSpPr>
        <p:spPr>
          <a:xfrm>
            <a:off x="1005840" y="4315968"/>
            <a:ext cx="2560320" cy="393192"/>
          </a:xfrm>
          <a:prstGeom prst="rect">
            <a:avLst/>
          </a:prstGeom>
          <a:noFill/>
        </p:spPr>
        <p:txBody>
          <a:bodyPr wrap="square" lIns="0" rIns="0" tIns="0" bIns="0" anchor="ctr">
            <a:spAutoFit/>
          </a:bodyPr>
          <a:lstStyle/>
          <a:p>
            <a:r>
              <a:rPr sz="1300" b="0">
                <a:solidFill>
                  <a:srgbClr val="3A434C"/>
                </a:solidFill>
                <a:latin typeface="Calibri"/>
              </a:rPr>
              <a:t>Structure only.
Meaning remains implicit.</a:t>
            </a:r>
          </a:p>
        </p:txBody>
      </p:sp>
      <p:sp>
        <p:nvSpPr>
          <p:cNvPr id="341" name="Chevron 340"/>
          <p:cNvSpPr/>
          <p:nvPr/>
        </p:nvSpPr>
        <p:spPr>
          <a:xfrm>
            <a:off x="3968496" y="3447288"/>
            <a:ext cx="603504" cy="429768"/>
          </a:xfrm>
          <a:prstGeom prst="chevron">
            <a:avLst/>
          </a:prstGeom>
          <a:solidFill>
            <a:srgbClr val="0B6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2" name="TextBox 341"/>
          <p:cNvSpPr txBox="1"/>
          <p:nvPr/>
        </p:nvSpPr>
        <p:spPr>
          <a:xfrm>
            <a:off x="3858768" y="3913632"/>
            <a:ext cx="832104" cy="320040"/>
          </a:xfrm>
          <a:prstGeom prst="rect">
            <a:avLst/>
          </a:prstGeom>
          <a:noFill/>
        </p:spPr>
        <p:txBody>
          <a:bodyPr wrap="square" lIns="0" rIns="0" tIns="0" bIns="0" anchor="ctr">
            <a:spAutoFit/>
          </a:bodyPr>
          <a:lstStyle/>
          <a:p>
            <a:pPr algn="ctr"/>
            <a:r>
              <a:rPr sz="1200" b="1">
                <a:solidFill>
                  <a:srgbClr val="0B6E4F"/>
                </a:solidFill>
                <a:latin typeface="Consolas"/>
              </a:rPr>
              <a:t>Gen-LLM</a:t>
            </a:r>
          </a:p>
        </p:txBody>
      </p:sp>
      <p:sp>
        <p:nvSpPr>
          <p:cNvPr id="343" name="Rounded Rectangle 342"/>
          <p:cNvSpPr/>
          <p:nvPr/>
        </p:nvSpPr>
        <p:spPr>
          <a:xfrm>
            <a:off x="4736592" y="2148840"/>
            <a:ext cx="6565392" cy="3273552"/>
          </a:xfrm>
          <a:prstGeom prst="roundRect">
            <a:avLst/>
          </a:prstGeom>
          <a:solidFill>
            <a:srgbClr val="F3F5F4"/>
          </a:solidFill>
          <a:ln w="13970">
            <a:solidFill>
              <a:srgbClr val="3A7D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2" name="Rectangle 361"/>
          <p:cNvSpPr/>
          <p:nvPr/>
        </p:nvSpPr>
        <p:spPr>
          <a:xfrm>
            <a:off x="859536" y="5504688"/>
            <a:ext cx="10396728" cy="2103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3" name="TextBox 362"/>
          <p:cNvSpPr txBox="1"/>
          <p:nvPr/>
        </p:nvSpPr>
        <p:spPr>
          <a:xfrm>
            <a:off x="914400" y="5495544"/>
            <a:ext cx="10259568" cy="228600"/>
          </a:xfrm>
          <a:prstGeom prst="rect">
            <a:avLst/>
          </a:prstGeom>
          <a:noFill/>
        </p:spPr>
        <p:txBody>
          <a:bodyPr wrap="square" lIns="0" rIns="0" tIns="0" bIns="0" anchor="ctr">
            <a:spAutoFit/>
          </a:bodyPr>
          <a:lstStyle/>
          <a:p>
            <a:r>
              <a:rPr sz="1100">
                <a:solidFill>
                  <a:srgbClr val="3A434C"/>
                </a:solidFill>
                <a:latin typeface="Calibri"/>
              </a:rPr>
              <a:t>Source tags show context used; provenance traces the source column. External alignments are conditional.</a:t>
            </a:r>
          </a:p>
        </p:txBody>
      </p:sp>
      <p:sp>
        <p:nvSpPr>
          <p:cNvPr id="364" name="TextBox 363"/>
          <p:cNvSpPr txBox="1"/>
          <p:nvPr/>
        </p:nvSpPr>
        <p:spPr>
          <a:xfrm>
            <a:off x="4946904" y="2313432"/>
            <a:ext cx="6016752" cy="274320"/>
          </a:xfrm>
          <a:prstGeom prst="rect">
            <a:avLst/>
          </a:prstGeom>
          <a:noFill/>
        </p:spPr>
        <p:txBody>
          <a:bodyPr wrap="square" lIns="0" rIns="0" tIns="0" bIns="0" anchor="ctr">
            <a:spAutoFit/>
          </a:bodyPr>
          <a:lstStyle/>
          <a:p>
            <a:pPr algn="l">
              <a:spcBef>
                <a:spcPts val="0"/>
              </a:spcBef>
              <a:spcAft>
                <a:spcPts val="0"/>
              </a:spcAft>
            </a:pPr>
            <a:r>
              <a:rPr sz="1450" b="1">
                <a:solidFill>
                  <a:srgbClr val="2F6B78"/>
                </a:solidFill>
                <a:latin typeface="Consolas"/>
              </a:rPr>
              <a:t>AFTER  /  ENRICHED ΔOᵣ  (illustrative)</a:t>
            </a:r>
          </a:p>
        </p:txBody>
      </p:sp>
      <p:sp>
        <p:nvSpPr>
          <p:cNvPr id="385" name="Code 385" descr="OWL Manchester Syntax excerpt"/>
          <p:cNvSpPr txBox="1"/>
          <p:nvPr/>
        </p:nvSpPr>
        <p:spPr>
          <a:xfrm>
            <a:off x="950976" y="3017520"/>
            <a:ext cx="2670048" cy="1097280"/>
          </a:xfrm>
          <a:prstGeom prst="roundRect">
            <a:avLst>
              <a:gd name="adj" fmla="val 5000"/>
            </a:avLst>
          </a:prstGeom>
          <a:solidFill>
            <a:srgbClr val="F6F8FA"/>
          </a:solidFill>
          <a:ln w="9525">
            <a:solidFill>
              <a:srgbClr val="D0D7DE"/>
            </a:solidFill>
          </a:ln>
        </p:spPr>
        <p:txBody>
          <a:bodyPr wrap="none" lIns="73152" tIns="73152" rIns="73152" bIns="54864" anchor="t">
            <a:noAutofit/>
          </a:bodyPr>
          <a:lstStyle/>
          <a:p>
            <a:pPr>
              <a:lnSpc>
                <a:spcPts val="1350"/>
              </a:lnSpc>
              <a:spcBef>
                <a:spcPts val="0"/>
              </a:spcBef>
            </a:pPr>
            <a:r>
              <a:rPr lang="en-US" sz="1100" b="1" i="0" dirty="0">
                <a:solidFill>
                  <a:srgbClr val="0B6E4F"/>
                </a:solidFill>
                <a:latin typeface="Consolas"/>
                <a:cs typeface="Consolas"/>
              </a:rPr>
              <a:t xml:space="preserve">Class:</a:t>
            </a:r>
            <a:r>
              <a:rPr lang="en-US" sz="1100" b="0" i="0" dirty="0">
                <a:solidFill>
                  <a:srgbClr val="1F2328"/>
                </a:solidFill>
                <a:latin typeface="Consolas"/>
                <a:cs typeface="Consolas"/>
              </a:rPr>
              <a:t xml:space="preserve"> </a:t>
            </a:r>
            <a:r>
              <a:rPr lang="en-US" sz="1100" b="0" i="0" dirty="0">
                <a:solidFill>
                  <a:srgbClr val="1F2328"/>
                </a:solidFill>
                <a:latin typeface="Consolas"/>
                <a:cs typeface="Consolas"/>
              </a:rPr>
              <a:t xml:space="preserve">Admission</a:t>
            </a:r>
            <a:endParaRPr lang="en-US" sz="1100"/>
          </a:p>
          <a:p>
            <a:pPr>
              <a:lnSpc>
                <a:spcPts val="1350"/>
              </a:lnSpc>
              <a:spcBef>
                <a:spcPts val="0"/>
              </a:spcBef>
            </a:pPr>
            <a:r>
              <a:rPr lang="en-US" sz="1100" b="0" i="0" dirty="0">
                <a:solidFill>
                  <a:srgbClr val="1F2328"/>
                </a:solidFill>
                <a:latin typeface="Consolas"/>
                <a:cs typeface="Consolas"/>
              </a:rPr>
              <a:t xml:space="preserve">  </a:t>
            </a:r>
            <a:r>
              <a:rPr lang="en-US" sz="1100" b="1" i="0" dirty="0">
                <a:solidFill>
                  <a:srgbClr val="0B6E4F"/>
                </a:solidFill>
                <a:latin typeface="Consolas"/>
                <a:cs typeface="Consolas"/>
              </a:rPr>
              <a:t xml:space="preserve">SubClassOf:</a:t>
            </a:r>
            <a:endParaRPr lang="en-US" sz="1100"/>
          </a:p>
          <a:p>
            <a:pPr>
              <a:lnSpc>
                <a:spcPts val="1350"/>
              </a:lnSpc>
              <a:spcBef>
                <a:spcPts val="0"/>
              </a:spcBef>
            </a:pPr>
            <a:r>
              <a:rPr lang="en-US" sz="1100" b="0" i="0" dirty="0">
                <a:solidFill>
                  <a:srgbClr val="1F2328"/>
                </a:solidFill>
                <a:latin typeface="Consolas"/>
                <a:cs typeface="Consolas"/>
              </a:rPr>
              <a:t xml:space="preserve">    </a:t>
            </a:r>
            <a:r>
              <a:rPr lang="en-US" sz="1100" b="0" i="0" dirty="0">
                <a:solidFill>
                  <a:srgbClr val="1F2328"/>
                </a:solidFill>
                <a:latin typeface="Consolas"/>
                <a:cs typeface="Consolas"/>
              </a:rPr>
              <a:t xml:space="preserve">patient_id</a:t>
            </a:r>
            <a:r>
              <a:rPr lang="en-US" sz="1100" b="0" i="0" dirty="0">
                <a:solidFill>
                  <a:srgbClr val="1F2328"/>
                </a:solidFill>
                <a:latin typeface="Consolas"/>
                <a:cs typeface="Consolas"/>
              </a:rPr>
              <a:t xml:space="preserve"> </a:t>
            </a:r>
            <a:r>
              <a:rPr lang="en-US" sz="1100" b="1" i="0" dirty="0">
                <a:solidFill>
                  <a:srgbClr val="0B6E4F"/>
                </a:solidFill>
                <a:latin typeface="Consolas"/>
                <a:cs typeface="Consolas"/>
              </a:rPr>
              <a:t xml:space="preserve">some</a:t>
            </a:r>
            <a:r>
              <a:rPr lang="en-US" sz="1100" b="0" i="0" dirty="0">
                <a:solidFill>
                  <a:srgbClr val="1F2328"/>
                </a:solidFill>
                <a:latin typeface="Consolas"/>
                <a:cs typeface="Consolas"/>
              </a:rPr>
              <a:t xml:space="preserve"> </a:t>
            </a:r>
            <a:r>
              <a:rPr lang="en-US" sz="1100" b="0" i="0" dirty="0">
                <a:solidFill>
                  <a:srgbClr val="1F2328"/>
                </a:solidFill>
                <a:latin typeface="Consolas"/>
                <a:cs typeface="Consolas"/>
              </a:rPr>
              <a:t xml:space="preserve">PatientData</a:t>
            </a:r>
            <a:r>
              <a:rPr lang="en-US" sz="1100" b="0" i="0" dirty="0">
                <a:solidFill>
                  <a:srgbClr val="1F2328"/>
                </a:solidFill>
                <a:latin typeface="Consolas"/>
                <a:cs typeface="Consolas"/>
              </a:rPr>
              <a:t xml:space="preserve">,</a:t>
            </a:r>
            <a:endParaRPr lang="en-US" sz="1100"/>
          </a:p>
          <a:p>
            <a:pPr>
              <a:lnSpc>
                <a:spcPts val="1350"/>
              </a:lnSpc>
              <a:spcBef>
                <a:spcPts val="0"/>
              </a:spcBef>
            </a:pPr>
            <a:r>
              <a:rPr lang="en-US" sz="1100" b="0" i="0" dirty="0">
                <a:solidFill>
                  <a:srgbClr val="1F2328"/>
                </a:solidFill>
                <a:latin typeface="Consolas"/>
                <a:cs typeface="Consolas"/>
              </a:rPr>
              <a:t xml:space="preserve">    </a:t>
            </a:r>
            <a:r>
              <a:rPr lang="en-US" sz="1100" b="0" i="0" dirty="0">
                <a:solidFill>
                  <a:srgbClr val="1F2328"/>
                </a:solidFill>
                <a:latin typeface="Consolas"/>
                <a:cs typeface="Consolas"/>
              </a:rPr>
              <a:t xml:space="preserve">BM_DEP</a:t>
            </a:r>
            <a:r>
              <a:rPr lang="en-US" sz="1100" b="0" i="0" dirty="0">
                <a:solidFill>
                  <a:srgbClr val="1F2328"/>
                </a:solidFill>
                <a:latin typeface="Consolas"/>
                <a:cs typeface="Consolas"/>
              </a:rPr>
              <a:t xml:space="preserve"> </a:t>
            </a:r>
            <a:r>
              <a:rPr lang="en-US" sz="1100" b="1" i="0" dirty="0">
                <a:solidFill>
                  <a:srgbClr val="0B6E4F"/>
                </a:solidFill>
                <a:latin typeface="Consolas"/>
                <a:cs typeface="Consolas"/>
              </a:rPr>
              <a:t xml:space="preserve">only</a:t>
            </a:r>
            <a:r>
              <a:rPr lang="en-US" sz="1100" b="0" i="0" dirty="0">
                <a:solidFill>
                  <a:srgbClr val="1F2328"/>
                </a:solidFill>
                <a:latin typeface="Consolas"/>
                <a:cs typeface="Consolas"/>
              </a:rPr>
              <a:t xml:space="preserve"> </a:t>
            </a:r>
            <a:r>
              <a:rPr lang="en-US" sz="1100" b="0" i="0" dirty="0">
                <a:solidFill>
                  <a:srgbClr val="6F42C1"/>
                </a:solidFill>
                <a:latin typeface="Consolas"/>
                <a:cs typeface="Consolas"/>
              </a:rPr>
              <a:t xml:space="preserve">xsd:integer</a:t>
            </a:r>
            <a:r>
              <a:rPr lang="en-US" sz="1100" b="0" i="0" dirty="0">
                <a:solidFill>
                  <a:srgbClr val="1F2328"/>
                </a:solidFill>
                <a:latin typeface="Consolas"/>
                <a:cs typeface="Consolas"/>
              </a:rPr>
              <a:t xml:space="preserve">,</a:t>
            </a:r>
            <a:endParaRPr lang="en-US" sz="1100"/>
          </a:p>
          <a:p>
            <a:pPr>
              <a:lnSpc>
                <a:spcPts val="1350"/>
              </a:lnSpc>
              <a:spcBef>
                <a:spcPts val="0"/>
              </a:spcBef>
            </a:pPr>
            <a:r>
              <a:rPr lang="en-US" sz="1100" b="0" i="0" dirty="0">
                <a:solidFill>
                  <a:srgbClr val="1F2328"/>
                </a:solidFill>
                <a:latin typeface="Consolas"/>
                <a:cs typeface="Consolas"/>
              </a:rPr>
              <a:t xml:space="preserve">    </a:t>
            </a:r>
            <a:r>
              <a:rPr lang="en-US" sz="1100" b="0" i="0" dirty="0">
                <a:solidFill>
                  <a:srgbClr val="1F2328"/>
                </a:solidFill>
                <a:latin typeface="Consolas"/>
                <a:cs typeface="Consolas"/>
              </a:rPr>
              <a:t xml:space="preserve">ecog_stage</a:t>
            </a:r>
            <a:r>
              <a:rPr lang="en-US" sz="1100" b="0" i="0" dirty="0">
                <a:solidFill>
                  <a:srgbClr val="1F2328"/>
                </a:solidFill>
                <a:latin typeface="Consolas"/>
                <a:cs typeface="Consolas"/>
              </a:rPr>
              <a:t xml:space="preserve"> </a:t>
            </a:r>
            <a:r>
              <a:rPr lang="en-US" sz="1100" b="1" i="0" dirty="0">
                <a:solidFill>
                  <a:srgbClr val="0B6E4F"/>
                </a:solidFill>
                <a:latin typeface="Consolas"/>
                <a:cs typeface="Consolas"/>
              </a:rPr>
              <a:t xml:space="preserve">only</a:t>
            </a:r>
            <a:r>
              <a:rPr lang="en-US" sz="1100" b="0" i="0" dirty="0">
                <a:solidFill>
                  <a:srgbClr val="1F2328"/>
                </a:solidFill>
                <a:latin typeface="Consolas"/>
                <a:cs typeface="Consolas"/>
              </a:rPr>
              <a:t xml:space="preserve"> </a:t>
            </a:r>
            <a:r>
              <a:rPr lang="en-US" sz="1100" b="0" i="0" dirty="0">
                <a:solidFill>
                  <a:srgbClr val="6F42C1"/>
                </a:solidFill>
                <a:latin typeface="Consolas"/>
                <a:cs typeface="Consolas"/>
              </a:rPr>
              <a:t xml:space="preserve">xsd:integer</a:t>
            </a:r>
            <a:endParaRPr lang="en-US" sz="1100"/>
          </a:p>
        </p:txBody>
      </p:sp>
      <p:sp>
        <p:nvSpPr>
          <p:cNvPr id="386" name="Code 386" descr="OWL Manchester Syntax excerpt"/>
          <p:cNvSpPr txBox="1"/>
          <p:nvPr/>
        </p:nvSpPr>
        <p:spPr>
          <a:xfrm>
            <a:off x="4937760" y="2724912"/>
            <a:ext cx="6172200" cy="2226818"/>
          </a:xfrm>
          <a:prstGeom prst="roundRect">
            <a:avLst>
              <a:gd name="adj" fmla="val 5000"/>
            </a:avLst>
          </a:prstGeom>
          <a:solidFill>
            <a:srgbClr val="F6F8FA"/>
          </a:solidFill>
          <a:ln w="9525">
            <a:solidFill>
              <a:srgbClr val="D0D7DE"/>
            </a:solidFill>
          </a:ln>
        </p:spPr>
        <p:txBody>
          <a:bodyPr wrap="none" lIns="109728" tIns="73152" rIns="109728" bIns="54864" anchor="t">
            <a:noAutofit/>
          </a:bodyPr>
          <a:lstStyle/>
          <a:p>
            <a:pPr>
              <a:lnSpc>
                <a:spcPts val="1450"/>
              </a:lnSpc>
              <a:spcBef>
                <a:spcPts val="0"/>
              </a:spcBef>
            </a:pPr>
            <a:r>
              <a:rPr lang="en-US" sz="1300" b="1" i="0" dirty="0">
                <a:solidFill>
                  <a:srgbClr val="0B6E4F"/>
                </a:solidFill>
                <a:latin typeface="Consolas"/>
                <a:cs typeface="Consolas"/>
              </a:rPr>
              <a:t xml:space="preserve">ObjectProperty:</a:t>
            </a:r>
            <a:r>
              <a:rPr lang="en-US" sz="1300" b="0" i="0" dirty="0">
                <a:solidFill>
                  <a:srgbClr val="1F2328"/>
                </a:solidFill>
                <a:latin typeface="Consolas"/>
                <a:cs typeface="Consolas"/>
              </a:rPr>
              <a:t xml:space="preserve"> </a:t>
            </a:r>
            <a:r>
              <a:rPr lang="en-US" sz="1300" b="0" i="0" dirty="0">
                <a:solidFill>
                  <a:srgbClr val="1F2328"/>
                </a:solidFill>
                <a:latin typeface="Consolas"/>
                <a:cs typeface="Consolas"/>
              </a:rPr>
              <a:t xml:space="preserve">hasPatientData</a:t>
            </a:r>
            <a:endParaRPr lang="en-US" sz="1300"/>
          </a:p>
          <a:p>
            <a:pPr>
              <a:lnSpc>
                <a:spcPts val="1450"/>
              </a:lnSpc>
              <a:spcBef>
                <a:spcPts val="0"/>
              </a:spcBef>
            </a:pPr>
            <a:r>
              <a:rPr lang="en-US" sz="1300" b="0" i="0" dirty="0">
                <a:solidFill>
                  <a:srgbClr val="1F2328"/>
                </a:solidFill>
                <a:latin typeface="Consolas"/>
                <a:cs typeface="Consolas"/>
              </a:rPr>
              <a:t xml:space="preserve">  </a:t>
            </a:r>
            <a:r>
              <a:rPr lang="en-US" sz="1300" b="1" i="0" dirty="0">
                <a:solidFill>
                  <a:srgbClr val="0B6E4F"/>
                </a:solidFill>
                <a:latin typeface="Consolas"/>
                <a:cs typeface="Consolas"/>
              </a:rPr>
              <a:t xml:space="preserve">Domain:</a:t>
            </a:r>
            <a:r>
              <a:rPr lang="en-US" sz="1300" b="0" i="0" dirty="0">
                <a:solidFill>
                  <a:srgbClr val="1F2328"/>
                </a:solidFill>
                <a:latin typeface="Consolas"/>
                <a:cs typeface="Consolas"/>
              </a:rPr>
              <a:t xml:space="preserve"> </a:t>
            </a:r>
            <a:r>
              <a:rPr lang="en-US" sz="1300" b="0" i="0" dirty="0">
                <a:solidFill>
                  <a:srgbClr val="1F2328"/>
                </a:solidFill>
                <a:latin typeface="Consolas"/>
                <a:cs typeface="Consolas"/>
              </a:rPr>
              <a:t xml:space="preserve">Admission</a:t>
            </a:r>
            <a:r>
              <a:rPr lang="en-US" sz="1300" b="0" i="0" dirty="0">
                <a:solidFill>
                  <a:srgbClr val="1F2328"/>
                </a:solidFill>
                <a:latin typeface="Consolas"/>
                <a:cs typeface="Consolas"/>
              </a:rPr>
              <a:t xml:space="preserve">  </a:t>
            </a:r>
            <a:r>
              <a:rPr lang="en-US" sz="1300" b="1" i="0" dirty="0">
                <a:solidFill>
                  <a:srgbClr val="0B6E4F"/>
                </a:solidFill>
                <a:latin typeface="Consolas"/>
                <a:cs typeface="Consolas"/>
              </a:rPr>
              <a:t xml:space="preserve">Range:</a:t>
            </a:r>
            <a:r>
              <a:rPr lang="en-US" sz="1300" b="0" i="0" dirty="0">
                <a:solidFill>
                  <a:srgbClr val="1F2328"/>
                </a:solidFill>
                <a:latin typeface="Consolas"/>
                <a:cs typeface="Consolas"/>
              </a:rPr>
              <a:t xml:space="preserve"> </a:t>
            </a:r>
            <a:r>
              <a:rPr lang="en-US" sz="1300" b="0" i="0" dirty="0">
                <a:solidFill>
                  <a:srgbClr val="1F2328"/>
                </a:solidFill>
                <a:latin typeface="Consolas"/>
                <a:cs typeface="Consolas"/>
              </a:rPr>
              <a:t xml:space="preserve">PatientData</a:t>
            </a:r>
            <a:endParaRPr lang="en-US" sz="1300"/>
          </a:p>
          <a:p>
            <a:pPr>
              <a:lnSpc>
                <a:spcPts val="1450"/>
              </a:lnSpc>
              <a:spcBef>
                <a:spcPts val="0"/>
              </a:spcBef>
            </a:pPr>
            <a:r>
              <a:rPr lang="en-US" sz="1300" b="1" i="0" dirty="0">
                <a:solidFill>
                  <a:srgbClr val="0B6E4F"/>
                </a:solidFill>
                <a:latin typeface="Consolas"/>
                <a:cs typeface="Consolas"/>
              </a:rPr>
              <a:t xml:space="preserve">DataProperty:</a:t>
            </a:r>
            <a:r>
              <a:rPr lang="en-US" sz="1300" b="0" i="0" dirty="0">
                <a:solidFill>
                  <a:srgbClr val="1F2328"/>
                </a:solidFill>
                <a:latin typeface="Consolas"/>
                <a:cs typeface="Consolas"/>
              </a:rPr>
              <a:t xml:space="preserve"> </a:t>
            </a:r>
            <a:r>
              <a:rPr lang="en-US" sz="1300" b="0" i="0" dirty="0">
                <a:solidFill>
                  <a:srgbClr val="1F2328"/>
                </a:solidFill>
                <a:latin typeface="Consolas"/>
                <a:cs typeface="Consolas"/>
              </a:rPr>
              <a:t xml:space="preserve">BM_DEP</a:t>
            </a:r>
            <a:endParaRPr lang="en-US" sz="1300"/>
          </a:p>
          <a:p>
            <a:pPr>
              <a:lnSpc>
                <a:spcPts val="1450"/>
              </a:lnSpc>
              <a:spcBef>
                <a:spcPts val="0"/>
              </a:spcBef>
            </a:pPr>
            <a:r>
              <a:rPr lang="en-US" sz="1300" b="0" i="0" dirty="0">
                <a:solidFill>
                  <a:srgbClr val="1F2328"/>
                </a:solidFill>
                <a:latin typeface="Consolas"/>
                <a:cs typeface="Consolas"/>
              </a:rPr>
              <a:t xml:space="preserve">  </a:t>
            </a:r>
            <a:r>
              <a:rPr lang="en-US" sz="1300" b="1" i="0" dirty="0">
                <a:solidFill>
                  <a:srgbClr val="0B6E4F"/>
                </a:solidFill>
                <a:latin typeface="Consolas"/>
                <a:cs typeface="Consolas"/>
              </a:rPr>
              <a:t xml:space="preserve">Annotations:</a:t>
            </a:r>
            <a:r>
              <a:rPr lang="en-US" sz="1300" b="0" i="0" dirty="0">
                <a:solidFill>
                  <a:srgbClr val="1F2328"/>
                </a:solidFill>
                <a:latin typeface="Consolas"/>
                <a:cs typeface="Consolas"/>
              </a:rPr>
              <a:t xml:space="preserve"> </a:t>
            </a:r>
            <a:r>
              <a:rPr lang="en-US" sz="1300" b="0" i="0" dirty="0">
                <a:solidFill>
                  <a:srgbClr val="5B6770"/>
                </a:solidFill>
                <a:latin typeface="Consolas"/>
                <a:cs typeface="Consolas"/>
              </a:rPr>
              <a:t xml:space="preserve">rdfs:label</a:t>
            </a:r>
            <a:r>
              <a:rPr lang="en-US" sz="1300" b="0" i="0" dirty="0">
                <a:solidFill>
                  <a:srgbClr val="1F2328"/>
                </a:solidFill>
                <a:latin typeface="Consolas"/>
                <a:cs typeface="Consolas"/>
              </a:rPr>
              <a:t xml:space="preserve"> </a:t>
            </a:r>
            <a:r>
              <a:rPr lang="en-US" sz="1300" b="0" i="0" dirty="0">
                <a:solidFill>
                  <a:srgbClr val="A3401E"/>
                </a:solidFill>
                <a:latin typeface="Consolas"/>
                <a:cs typeface="Consolas"/>
              </a:rPr>
              <a:t xml:space="preserve">"Bone Marrow Depression"@en</a:t>
            </a:r>
            <a:endParaRPr lang="en-US" sz="1300"/>
          </a:p>
          <a:p>
            <a:pPr>
              <a:lnSpc>
                <a:spcPts val="1450"/>
              </a:lnSpc>
              <a:spcBef>
                <a:spcPts val="0"/>
              </a:spcBef>
            </a:pPr>
            <a:r>
              <a:rPr lang="en-US" sz="1300" b="1" i="0" dirty="0">
                <a:solidFill>
                  <a:srgbClr val="0B6E4F"/>
                </a:solidFill>
                <a:latin typeface="Consolas"/>
                <a:cs typeface="Consolas"/>
              </a:rPr>
              <a:t xml:space="preserve">DataProperty:</a:t>
            </a:r>
            <a:r>
              <a:rPr lang="en-US" sz="1300" b="0" i="0" dirty="0">
                <a:solidFill>
                  <a:srgbClr val="1F2328"/>
                </a:solidFill>
                <a:latin typeface="Consolas"/>
                <a:cs typeface="Consolas"/>
              </a:rPr>
              <a:t xml:space="preserve"> </a:t>
            </a:r>
            <a:r>
              <a:rPr lang="en-US" sz="1300" b="0" i="0" dirty="0">
                <a:solidFill>
                  <a:srgbClr val="1F2328"/>
                </a:solidFill>
                <a:latin typeface="Consolas"/>
                <a:cs typeface="Consolas"/>
              </a:rPr>
              <a:t xml:space="preserve">ecog_stage</a:t>
            </a:r>
            <a:endParaRPr lang="en-US" sz="1300"/>
          </a:p>
          <a:p>
            <a:pPr>
              <a:lnSpc>
                <a:spcPts val="1450"/>
              </a:lnSpc>
              <a:spcBef>
                <a:spcPts val="0"/>
              </a:spcBef>
            </a:pPr>
            <a:r>
              <a:rPr lang="en-US" sz="1300" b="0" i="0" dirty="0">
                <a:solidFill>
                  <a:srgbClr val="1F2328"/>
                </a:solidFill>
                <a:latin typeface="Consolas"/>
                <a:cs typeface="Consolas"/>
              </a:rPr>
              <a:t xml:space="preserve">  </a:t>
            </a:r>
            <a:r>
              <a:rPr lang="en-US" sz="1300" b="1" i="0" dirty="0">
                <a:solidFill>
                  <a:srgbClr val="0B6E4F"/>
                </a:solidFill>
                <a:latin typeface="Consolas"/>
                <a:cs typeface="Consolas"/>
              </a:rPr>
              <a:t xml:space="preserve">Annotations:</a:t>
            </a:r>
            <a:endParaRPr lang="en-US" sz="1300"/>
          </a:p>
          <a:p>
            <a:pPr>
              <a:lnSpc>
                <a:spcPts val="1450"/>
              </a:lnSpc>
              <a:spcBef>
                <a:spcPts val="0"/>
              </a:spcBef>
            </a:pPr>
            <a:r>
              <a:rPr lang="en-US" sz="1300" b="0" i="0" dirty="0">
                <a:solidFill>
                  <a:srgbClr val="1F2328"/>
                </a:solidFill>
                <a:latin typeface="Consolas"/>
                <a:cs typeface="Consolas"/>
              </a:rPr>
              <a:t xml:space="preserve">    </a:t>
            </a:r>
            <a:r>
              <a:rPr lang="en-US" sz="1300" b="0" i="0" dirty="0">
                <a:solidFill>
                  <a:srgbClr val="5B6770"/>
                </a:solidFill>
                <a:latin typeface="Consolas"/>
                <a:cs typeface="Consolas"/>
              </a:rPr>
              <a:t xml:space="preserve">rdfs:comment</a:t>
            </a:r>
            <a:r>
              <a:rPr lang="en-US" sz="1300" b="0" i="0" dirty="0">
                <a:solidFill>
                  <a:srgbClr val="1F2328"/>
                </a:solidFill>
                <a:latin typeface="Consolas"/>
                <a:cs typeface="Consolas"/>
              </a:rPr>
              <a:t xml:space="preserve"> </a:t>
            </a:r>
            <a:r>
              <a:rPr lang="en-US" sz="1300" b="0" i="0" dirty="0">
                <a:solidFill>
                  <a:srgbClr val="A3401E"/>
                </a:solidFill>
                <a:latin typeface="Consolas"/>
                <a:cs typeface="Consolas"/>
              </a:rPr>
              <a:t xml:space="preserve">"ECOG 0 = fully active,</a:t>
            </a:r>
            <a:endParaRPr lang="en-US" sz="1300"/>
          </a:p>
          <a:p>
            <a:pPr>
              <a:lnSpc>
                <a:spcPts val="1450"/>
              </a:lnSpc>
              <a:spcBef>
                <a:spcPts val="0"/>
              </a:spcBef>
            </a:pPr>
            <a:r>
              <a:rPr lang="en-US" sz="1300" b="0" i="0" dirty="0">
                <a:solidFill>
                  <a:srgbClr val="A3401E"/>
                </a:solidFill>
                <a:latin typeface="Consolas"/>
                <a:cs typeface="Consolas"/>
              </a:rPr>
              <a:t xml:space="preserve">      1 = restricted, 2 = ambulatory,</a:t>
            </a:r>
            <a:endParaRPr lang="en-US" sz="1300"/>
          </a:p>
          <a:p>
            <a:pPr>
              <a:lnSpc>
                <a:spcPts val="1450"/>
              </a:lnSpc>
              <a:spcBef>
                <a:spcPts val="0"/>
              </a:spcBef>
            </a:pPr>
            <a:r>
              <a:rPr lang="en-US" sz="1300" b="0" i="0" dirty="0">
                <a:solidFill>
                  <a:srgbClr val="A3401E"/>
                </a:solidFill>
                <a:latin typeface="Consolas"/>
                <a:cs typeface="Consolas"/>
              </a:rPr>
              <a:t xml:space="preserve">      3 = limited self-care,</a:t>
            </a:r>
            <a:endParaRPr lang="en-US" sz="1300"/>
          </a:p>
          <a:p>
            <a:pPr>
              <a:lnSpc>
                <a:spcPts val="1450"/>
              </a:lnSpc>
              <a:spcBef>
                <a:spcPts val="0"/>
              </a:spcBef>
            </a:pPr>
            <a:r>
              <a:rPr lang="en-US" sz="1300" b="0" i="0" dirty="0">
                <a:solidFill>
                  <a:srgbClr val="A3401E"/>
                </a:solidFill>
                <a:latin typeface="Consolas"/>
                <a:cs typeface="Consolas"/>
              </a:rPr>
              <a:t xml:space="preserve">      4 = completely disabled, 5 = dead"@en</a:t>
            </a:r>
            <a:r>
              <a:rPr lang="en-US" sz="1300" b="0" i="0" dirty="0">
                <a:solidFill>
                  <a:srgbClr val="1F2328"/>
                </a:solidFill>
                <a:latin typeface="Consolas"/>
                <a:cs typeface="Consolas"/>
              </a:rPr>
              <a:t xml:space="preserve">,</a:t>
            </a:r>
            <a:endParaRPr lang="en-US" sz="1300"/>
          </a:p>
          <a:p>
            <a:pPr>
              <a:lnSpc>
                <a:spcPts val="1450"/>
              </a:lnSpc>
              <a:spcBef>
                <a:spcPts val="0"/>
              </a:spcBef>
            </a:pPr>
            <a:r>
              <a:rPr lang="en-US" sz="1300" b="0" i="0" dirty="0">
                <a:solidFill>
                  <a:srgbClr val="1F2328"/>
                </a:solidFill>
                <a:latin typeface="Consolas"/>
                <a:cs typeface="Consolas"/>
              </a:rPr>
              <a:t xml:space="preserve">    </a:t>
            </a:r>
            <a:r>
              <a:rPr lang="en-US" sz="1300" b="0" i="0" dirty="0">
                <a:solidFill>
                  <a:srgbClr val="5B6770"/>
                </a:solidFill>
                <a:latin typeface="Consolas"/>
                <a:cs typeface="Consolas"/>
              </a:rPr>
              <a:t xml:space="preserve">prov:wasDerivedFrom</a:t>
            </a:r>
            <a:r>
              <a:rPr lang="en-US" sz="1300" b="0" i="0" dirty="0">
                <a:solidFill>
                  <a:srgbClr val="1F2328"/>
                </a:solidFill>
                <a:latin typeface="Consolas"/>
                <a:cs typeface="Consolas"/>
              </a:rPr>
              <a:t xml:space="preserve"> </a:t>
            </a:r>
            <a:r>
              <a:rPr lang="en-US" sz="1300" b="0" i="0" dirty="0">
                <a:solidFill>
                  <a:srgbClr val="2F6B78"/>
                </a:solidFill>
                <a:latin typeface="Consolas"/>
                <a:cs typeface="Consolas"/>
              </a:rPr>
              <a:t xml:space="preserve">src:ecog_stage</a:t>
            </a:r>
            <a:endParaRPr lang="en-US" sz="1300"/>
          </a:p>
        </p:txBody>
      </p:sp>
      <p:sp>
        <p:nvSpPr>
          <p:cNvPr id="372" name="Rounded Rectangle 371"/>
          <p:cNvSpPr/>
          <p:nvPr/>
        </p:nvSpPr>
        <p:spPr>
          <a:xfrm>
            <a:off x="10104120" y="2789555"/>
            <a:ext cx="914400" cy="201168"/>
          </a:xfrm>
          <a:prstGeom prst="roundRect">
            <a:avLst/>
          </a:prstGeom>
          <a:solidFill>
            <a:srgbClr val="FFFFFF"/>
          </a:solidFill>
          <a:ln w="11430">
            <a:solidFill>
              <a:srgbClr val="3A7D8C"/>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80" b="1">
                <a:solidFill>
                  <a:srgbClr val="2F6B78"/>
                </a:solidFill>
                <a:latin typeface="Consolas"/>
              </a:rPr>
              <a:t>SCHEMA</a:t>
            </a:r>
          </a:p>
        </p:txBody>
      </p:sp>
      <p:sp>
        <p:nvSpPr>
          <p:cNvPr id="376" name="Rounded Rectangle 375"/>
          <p:cNvSpPr/>
          <p:nvPr/>
        </p:nvSpPr>
        <p:spPr>
          <a:xfrm>
            <a:off x="10104120" y="3342005"/>
            <a:ext cx="914400" cy="201168"/>
          </a:xfrm>
          <a:prstGeom prst="roundRect">
            <a:avLst/>
          </a:prstGeom>
          <a:solidFill>
            <a:srgbClr val="FFFFFF"/>
          </a:solidFill>
          <a:ln w="11430">
            <a:solidFill>
              <a:srgbClr val="0B6E4F"/>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80" b="1">
                <a:solidFill>
                  <a:srgbClr val="0B6E4F"/>
                </a:solidFill>
                <a:latin typeface="Consolas"/>
              </a:rPr>
              <a:t>DOCS</a:t>
            </a:r>
          </a:p>
        </p:txBody>
      </p:sp>
      <p:sp>
        <p:nvSpPr>
          <p:cNvPr id="380" name="Rounded Rectangle 379"/>
          <p:cNvSpPr/>
          <p:nvPr/>
        </p:nvSpPr>
        <p:spPr>
          <a:xfrm>
            <a:off x="10104120" y="3894455"/>
            <a:ext cx="914400" cy="201168"/>
          </a:xfrm>
          <a:prstGeom prst="roundRect">
            <a:avLst/>
          </a:prstGeom>
          <a:solidFill>
            <a:srgbClr val="FFFFFF"/>
          </a:solidFill>
          <a:ln w="11430">
            <a:solidFill>
              <a:srgbClr val="0B6E4F"/>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80" b="1">
                <a:solidFill>
                  <a:srgbClr val="0B6E4F"/>
                </a:solidFill>
                <a:latin typeface="Consolas"/>
              </a:rPr>
              <a:t>DOCS</a:t>
            </a:r>
          </a:p>
        </p:txBody>
      </p:sp>
      <p:sp>
        <p:nvSpPr>
          <p:cNvPr id="384" name="Rounded Rectangle 383"/>
          <p:cNvSpPr/>
          <p:nvPr/>
        </p:nvSpPr>
        <p:spPr>
          <a:xfrm>
            <a:off x="10104120" y="4631055"/>
            <a:ext cx="914400" cy="201168"/>
          </a:xfrm>
          <a:prstGeom prst="roundRect">
            <a:avLst/>
          </a:prstGeom>
          <a:solidFill>
            <a:srgbClr val="FFFFFF"/>
          </a:solidFill>
          <a:ln w="11430">
            <a:solidFill>
              <a:srgbClr val="3A7D8C"/>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80" b="1">
                <a:solidFill>
                  <a:srgbClr val="2F6B78"/>
                </a:solidFill>
                <a:latin typeface="Consolas"/>
              </a:rPr>
              <a:t>SCHEMA</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8" name="Shape 338"/>
        <p:cNvGrpSpPr/>
        <p:nvPr/>
      </p:nvGrpSpPr>
      <p:grpSpPr>
        <a:xfrm>
          <a:off x="0" y="0"/>
          <a:ext cx="0" cy="0"/>
          <a:chOff x="0" y="0"/>
          <a:chExt cx="0" cy="0"/>
        </a:xfrm>
      </p:grpSpPr>
      <p:sp>
        <p:nvSpPr>
          <p:cNvPr id="339" name="Google Shape;339;p10"/>
          <p:cNvSpPr txBox="1"/>
          <p:nvPr/>
        </p:nvSpPr>
        <p:spPr>
          <a:xfrm>
            <a:off x="795528" y="448056"/>
            <a:ext cx="10789920" cy="31089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0B6E4F"/>
                </a:solidFill>
                <a:latin typeface="Consolas"/>
                <a:ea typeface="Consolas"/>
                <a:cs typeface="Consolas"/>
                <a:sym typeface="Consolas"/>
              </a:rPr>
              <a:t>STEP 5 / VALIDATE</a:t>
            </a:r>
            <a:endParaRPr/>
          </a:p>
        </p:txBody>
      </p:sp>
      <p:sp>
        <p:nvSpPr>
          <p:cNvPr id="340" name="Google Shape;340;p10"/>
          <p:cNvSpPr txBox="1"/>
          <p:nvPr/>
        </p:nvSpPr>
        <p:spPr>
          <a:xfrm>
            <a:off x="795528" y="850392"/>
            <a:ext cx="10835640" cy="685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800">
                <a:solidFill>
                  <a:srgbClr val="1F2328"/>
                </a:solidFill>
                <a:latin typeface="Cambria"/>
                <a:ea typeface="Calibri"/>
                <a:cs typeface="Calibri"/>
                <a:sym typeface="Calibri"/>
              </a:rPr>
              <a:t>Why validate? Plausible fragments can still break the ontology.</a:t>
            </a:r>
            <a:endParaRPr/>
          </a:p>
        </p:txBody>
      </p:sp>
      <p:sp>
        <p:nvSpPr>
          <p:cNvPr id="341" name="Google Shape;341;p10"/>
          <p:cNvSpPr txBox="1"/>
          <p:nvPr/>
        </p:nvSpPr>
        <p:spPr>
          <a:xfrm>
            <a:off x="795528" y="1609344"/>
            <a:ext cx="10607040" cy="34747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600">
                <a:solidFill>
                  <a:srgbClr val="5B6770"/>
                </a:solidFill>
                <a:latin typeface="Calibri"/>
                <a:ea typeface="Calibri"/>
                <a:cs typeface="Calibri"/>
                <a:sym typeface="Calibri"/>
              </a:rPr>
              <a:t>A fluent LLM rarely gets syntax wrong. The risk is fragments that clash with the ontology built so far.</a:t>
            </a:r>
            <a:endParaRPr/>
          </a:p>
        </p:txBody>
      </p:sp>
      <p:sp>
        <p:nvSpPr>
          <p:cNvPr id="364" name="Google Shape;364;p10"/>
          <p:cNvSpPr/>
          <p:nvPr/>
        </p:nvSpPr>
        <p:spPr>
          <a:xfrm>
            <a:off x="804672" y="5797296"/>
            <a:ext cx="1645920" cy="310896"/>
          </a:xfrm>
          <a:prstGeom prst="roundRect">
            <a:avLst>
              <a:gd fmla="val 10000" name="adj"/>
            </a:avLst>
          </a:prstGeom>
          <a:solidFill>
            <a:srgbClr val="E6F2EC"/>
          </a:solidFill>
          <a:ln cap="flat" cmpd="sng" w="12700">
            <a:solidFill>
              <a:srgbClr val="E6F2EC"/>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65" name="Google Shape;365;p10"/>
          <p:cNvSpPr txBox="1"/>
          <p:nvPr/>
        </p:nvSpPr>
        <p:spPr>
          <a:xfrm>
            <a:off x="859536"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0B6E4F"/>
                </a:solidFill>
                <a:latin typeface="Consolas"/>
                <a:ea typeface="Consolas"/>
                <a:cs typeface="Consolas"/>
                <a:sym typeface="Consolas"/>
              </a:rPr>
              <a:t>1  ORDER</a:t>
            </a:r>
            <a:endParaRPr/>
          </a:p>
        </p:txBody>
      </p:sp>
      <p:sp>
        <p:nvSpPr>
          <p:cNvPr id="366" name="Google Shape;366;p10"/>
          <p:cNvSpPr/>
          <p:nvPr/>
        </p:nvSpPr>
        <p:spPr>
          <a:xfrm>
            <a:off x="2642615" y="5797296"/>
            <a:ext cx="1645920" cy="310896"/>
          </a:xfrm>
          <a:prstGeom prst="roundRect">
            <a:avLst>
              <a:gd fmla="val 10000" name="adj"/>
            </a:avLst>
          </a:prstGeom>
          <a:solidFill>
            <a:srgbClr val="E6F2EC"/>
          </a:solidFill>
          <a:ln cap="flat" cmpd="sng" w="12700">
            <a:solidFill>
              <a:srgbClr val="E6F2EC"/>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67" name="Google Shape;367;p10"/>
          <p:cNvSpPr txBox="1"/>
          <p:nvPr/>
        </p:nvSpPr>
        <p:spPr>
          <a:xfrm>
            <a:off x="2697479"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0B6E4F"/>
                </a:solidFill>
                <a:latin typeface="Consolas"/>
                <a:ea typeface="Consolas"/>
                <a:cs typeface="Consolas"/>
                <a:sym typeface="Consolas"/>
              </a:rPr>
              <a:t>2  SEED</a:t>
            </a:r>
            <a:endParaRPr/>
          </a:p>
        </p:txBody>
      </p:sp>
      <p:sp>
        <p:nvSpPr>
          <p:cNvPr id="368" name="Google Shape;368;p10"/>
          <p:cNvSpPr/>
          <p:nvPr/>
        </p:nvSpPr>
        <p:spPr>
          <a:xfrm>
            <a:off x="4480559" y="5797296"/>
            <a:ext cx="1645920" cy="310896"/>
          </a:xfrm>
          <a:prstGeom prst="roundRect">
            <a:avLst>
              <a:gd fmla="val 10000" name="adj"/>
            </a:avLst>
          </a:prstGeom>
          <a:solidFill>
            <a:srgbClr val="E6F2EC"/>
          </a:solidFill>
          <a:ln cap="flat" cmpd="sng" w="12700">
            <a:solidFill>
              <a:srgbClr val="E6F2EC"/>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69" name="Google Shape;369;p10"/>
          <p:cNvSpPr txBox="1"/>
          <p:nvPr/>
        </p:nvSpPr>
        <p:spPr>
          <a:xfrm>
            <a:off x="4535423"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0B6E4F"/>
                </a:solidFill>
                <a:latin typeface="Consolas"/>
                <a:ea typeface="Consolas"/>
                <a:cs typeface="Consolas"/>
                <a:sym typeface="Consolas"/>
              </a:rPr>
              <a:t>3  RETRIEVE</a:t>
            </a:r>
            <a:endParaRPr/>
          </a:p>
        </p:txBody>
      </p:sp>
      <p:sp>
        <p:nvSpPr>
          <p:cNvPr id="370" name="Google Shape;370;p10"/>
          <p:cNvSpPr/>
          <p:nvPr/>
        </p:nvSpPr>
        <p:spPr>
          <a:xfrm>
            <a:off x="6318503" y="5797296"/>
            <a:ext cx="1645920" cy="310896"/>
          </a:xfrm>
          <a:prstGeom prst="roundRect">
            <a:avLst>
              <a:gd fmla="val 10000" name="adj"/>
            </a:avLst>
          </a:prstGeom>
          <a:solidFill>
            <a:srgbClr val="E6F2EC"/>
          </a:solidFill>
          <a:ln cap="flat" cmpd="sng" w="12700">
            <a:solidFill>
              <a:srgbClr val="E6F2EC"/>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71" name="Google Shape;371;p10"/>
          <p:cNvSpPr txBox="1"/>
          <p:nvPr/>
        </p:nvSpPr>
        <p:spPr>
          <a:xfrm>
            <a:off x="6373367"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0B6E4F"/>
                </a:solidFill>
                <a:latin typeface="Consolas"/>
                <a:ea typeface="Consolas"/>
                <a:cs typeface="Consolas"/>
                <a:sym typeface="Consolas"/>
              </a:rPr>
              <a:t>4  GENERATE</a:t>
            </a:r>
            <a:endParaRPr/>
          </a:p>
        </p:txBody>
      </p:sp>
      <p:sp>
        <p:nvSpPr>
          <p:cNvPr id="372" name="Google Shape;372;p10"/>
          <p:cNvSpPr/>
          <p:nvPr/>
        </p:nvSpPr>
        <p:spPr>
          <a:xfrm>
            <a:off x="8156448" y="5797296"/>
            <a:ext cx="1645920" cy="310896"/>
          </a:xfrm>
          <a:prstGeom prst="roundRect">
            <a:avLst>
              <a:gd fmla="val 10000" name="adj"/>
            </a:avLst>
          </a:prstGeom>
          <a:solidFill>
            <a:srgbClr val="0B6E4F"/>
          </a:solidFill>
          <a:ln cap="flat" cmpd="sng" w="12700">
            <a:solidFill>
              <a:srgbClr val="0B6E4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73" name="Google Shape;373;p10"/>
          <p:cNvSpPr txBox="1"/>
          <p:nvPr/>
        </p:nvSpPr>
        <p:spPr>
          <a:xfrm>
            <a:off x="8211312"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FFFFFF"/>
                </a:solidFill>
                <a:latin typeface="Consolas"/>
                <a:ea typeface="Consolas"/>
                <a:cs typeface="Consolas"/>
                <a:sym typeface="Consolas"/>
              </a:rPr>
              <a:t>5  VALIDATE</a:t>
            </a:r>
            <a:endParaRPr/>
          </a:p>
        </p:txBody>
      </p:sp>
      <p:sp>
        <p:nvSpPr>
          <p:cNvPr id="374" name="Google Shape;374;p10"/>
          <p:cNvSpPr/>
          <p:nvPr/>
        </p:nvSpPr>
        <p:spPr>
          <a:xfrm>
            <a:off x="9994392" y="5797296"/>
            <a:ext cx="1645920" cy="310896"/>
          </a:xfrm>
          <a:prstGeom prst="roundRect">
            <a:avLst>
              <a:gd fmla="val 10000" name="adj"/>
            </a:avLst>
          </a:prstGeom>
          <a:solidFill>
            <a:srgbClr val="FFFFFF"/>
          </a:solidFill>
          <a:ln cap="flat" cmpd="sng" w="12700">
            <a:solidFill>
              <a:srgbClr val="D9DED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75" name="Google Shape;375;p10"/>
          <p:cNvSpPr txBox="1"/>
          <p:nvPr/>
        </p:nvSpPr>
        <p:spPr>
          <a:xfrm>
            <a:off x="10049256"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6B747B"/>
                </a:solidFill>
                <a:latin typeface="Consolas"/>
                <a:ea typeface="Consolas"/>
                <a:cs typeface="Consolas"/>
                <a:sym typeface="Consolas"/>
              </a:rPr>
              <a:t>6  MERGE</a:t>
            </a:r>
            <a:endParaRPr/>
          </a:p>
        </p:txBody>
      </p:sp>
      <p:sp>
        <p:nvSpPr>
          <p:cNvPr id="376" name="Rounded Rectangle 375"/>
          <p:cNvSpPr/>
          <p:nvPr/>
        </p:nvSpPr>
        <p:spPr>
          <a:xfrm>
            <a:off x="832104" y="2148840"/>
            <a:ext cx="5193792" cy="2468880"/>
          </a:xfrm>
          <a:prstGeom prst="roundRect">
            <a:avLst/>
          </a:prstGeom>
          <a:solidFill>
            <a:srgbClr val="FFFFFF"/>
          </a:solidFill>
          <a:ln w="12700">
            <a:solidFill>
              <a:srgbClr val="D9DE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7" name="Rounded Rectangle 376"/>
          <p:cNvSpPr/>
          <p:nvPr/>
        </p:nvSpPr>
        <p:spPr>
          <a:xfrm>
            <a:off x="6172200" y="2148840"/>
            <a:ext cx="5193792" cy="2468880"/>
          </a:xfrm>
          <a:prstGeom prst="roundRect">
            <a:avLst/>
          </a:prstGeom>
          <a:solidFill>
            <a:srgbClr val="FFFFFF"/>
          </a:solidFill>
          <a:ln w="12700">
            <a:solidFill>
              <a:srgbClr val="D9DE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8" name="TextBox 377"/>
          <p:cNvSpPr txBox="1"/>
          <p:nvPr/>
        </p:nvSpPr>
        <p:spPr>
          <a:xfrm>
            <a:off x="1060704" y="2331720"/>
            <a:ext cx="4626864" cy="274320"/>
          </a:xfrm>
          <a:prstGeom prst="rect">
            <a:avLst/>
          </a:prstGeom>
          <a:noFill/>
        </p:spPr>
        <p:txBody>
          <a:bodyPr wrap="square" lIns="0" rIns="0" tIns="0" bIns="0" anchor="ctr">
            <a:spAutoFit/>
          </a:bodyPr>
          <a:lstStyle/>
          <a:p>
            <a:r>
              <a:rPr sz="1600" b="1">
                <a:solidFill>
                  <a:srgbClr val="0B6E4F"/>
                </a:solidFill>
                <a:latin typeface="Consolas"/>
              </a:rPr>
              <a:t>SEMANTIC ERROR · JUDGE-LLM</a:t>
            </a:r>
          </a:p>
        </p:txBody>
      </p:sp>
      <p:sp>
        <p:nvSpPr>
          <p:cNvPr id="379" name="TextBox 378"/>
          <p:cNvSpPr txBox="1"/>
          <p:nvPr/>
        </p:nvSpPr>
        <p:spPr>
          <a:xfrm>
            <a:off x="1069848" y="2834640"/>
            <a:ext cx="4617720" cy="274320"/>
          </a:xfrm>
          <a:prstGeom prst="rect">
            <a:avLst/>
          </a:prstGeom>
          <a:noFill/>
        </p:spPr>
        <p:txBody>
          <a:bodyPr wrap="square" lIns="0" rIns="0" tIns="0" bIns="0" anchor="ctr">
            <a:spAutoFit/>
          </a:bodyPr>
          <a:lstStyle/>
          <a:p>
            <a:r>
              <a:rPr sz="1430" b="0">
                <a:solidFill>
                  <a:srgbClr val="5B6770"/>
                </a:solidFill>
                <a:latin typeface="Calibri"/>
              </a:rPr>
              <a:t>Generated link for admission:</a:t>
            </a:r>
          </a:p>
        </p:txBody>
      </p:sp>
      <p:sp>
        <p:nvSpPr>
          <p:cNvPr id="380" name="Rectangle 379"/>
          <p:cNvSpPr/>
          <p:nvPr/>
        </p:nvSpPr>
        <p:spPr>
          <a:xfrm>
            <a:off x="1069848" y="3191256"/>
            <a:ext cx="4562856" cy="374904"/>
          </a:xfrm>
          <a:prstGeom prst="rect">
            <a:avLst/>
          </a:prstGeom>
          <a:solidFill>
            <a:srgbClr val="FBE9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1" name="TextBox 380"/>
          <p:cNvSpPr txBox="1"/>
          <p:nvPr/>
        </p:nvSpPr>
        <p:spPr>
          <a:xfrm>
            <a:off x="1143000" y="3227832"/>
            <a:ext cx="4434840" cy="274320"/>
          </a:xfrm>
          <a:prstGeom prst="rect">
            <a:avLst/>
          </a:prstGeom>
          <a:noFill/>
        </p:spPr>
        <p:txBody>
          <a:bodyPr wrap="square" lIns="0" rIns="0" tIns="0" bIns="0" anchor="ctr">
            <a:spAutoFit/>
          </a:bodyPr>
          <a:lstStyle/>
          <a:p>
            <a:r>
              <a:rPr lang="en-US" sz="1200" b="1" i="0" dirty="0">
                <a:solidFill>
                  <a:srgbClr val="B23A1E"/>
                </a:solidFill>
                <a:latin typeface="Consolas"/>
                <a:cs typeface="Consolas"/>
              </a:rPr>
              <a:t xml:space="preserve">ObjectProperty:</a:t>
            </a:r>
            <a:r>
              <a:rPr lang="en-US" sz="1200" b="0" i="0" dirty="0">
                <a:solidFill>
                  <a:srgbClr val="B23A1E"/>
                </a:solidFill>
                <a:latin typeface="Consolas"/>
                <a:cs typeface="Consolas"/>
              </a:rPr>
              <a:t xml:space="preserve"> </a:t>
            </a:r>
            <a:r>
              <a:rPr lang="en-US" sz="1200" b="0" i="0" dirty="0">
                <a:solidFill>
                  <a:srgbClr val="B23A1E"/>
                </a:solidFill>
                <a:latin typeface="Consolas"/>
                <a:cs typeface="Consolas"/>
              </a:rPr>
              <a:t xml:space="preserve">hasPatient</a:t>
            </a:r>
            <a:r>
              <a:rPr lang="en-US" sz="1200" b="0" i="0" dirty="0">
                <a:solidFill>
                  <a:srgbClr val="B23A1E"/>
                </a:solidFill>
                <a:latin typeface="Consolas"/>
                <a:cs typeface="Consolas"/>
              </a:rPr>
              <a:t xml:space="preserve">  </a:t>
            </a:r>
            <a:r>
              <a:rPr lang="en-US" sz="1200" b="1" i="0" dirty="0">
                <a:solidFill>
                  <a:srgbClr val="B23A1E"/>
                </a:solidFill>
                <a:latin typeface="Consolas"/>
                <a:cs typeface="Consolas"/>
              </a:rPr>
              <a:t xml:space="preserve">Range:</a:t>
            </a:r>
            <a:r>
              <a:rPr lang="en-US" sz="1200" b="0" i="0" dirty="0">
                <a:solidFill>
                  <a:srgbClr val="B23A1E"/>
                </a:solidFill>
                <a:latin typeface="Consolas"/>
                <a:cs typeface="Consolas"/>
              </a:rPr>
              <a:t xml:space="preserve"> </a:t>
            </a:r>
            <a:r>
              <a:rPr lang="en-US" sz="1200" b="0" i="0" dirty="0">
                <a:solidFill>
                  <a:srgbClr val="B23A1E"/>
                </a:solidFill>
                <a:latin typeface="Consolas"/>
                <a:cs typeface="Consolas"/>
              </a:rPr>
              <a:t xml:space="preserve">Patient</a:t>
            </a:r>
          </a:p>
        </p:txBody>
      </p:sp>
      <p:sp>
        <p:nvSpPr>
          <p:cNvPr id="382" name="TextBox 381"/>
          <p:cNvSpPr txBox="1"/>
          <p:nvPr/>
        </p:nvSpPr>
        <p:spPr>
          <a:xfrm>
            <a:off x="1069848" y="3675887"/>
            <a:ext cx="4572000" cy="621792"/>
          </a:xfrm>
          <a:prstGeom prst="rect">
            <a:avLst/>
          </a:prstGeom>
          <a:noFill/>
        </p:spPr>
        <p:txBody>
          <a:bodyPr wrap="square" lIns="0" rIns="0" tIns="0" bIns="0" anchor="ctr">
            <a:spAutoFit/>
          </a:bodyPr>
          <a:lstStyle/>
          <a:p>
            <a:r>
              <a:rPr sz="1330" b="0">
                <a:solidFill>
                  <a:srgbClr val="1F2328"/>
                </a:solidFill>
                <a:latin typeface="Calibri"/>
              </a:rPr>
              <a:t>Valid OWL, but the core already has PatientData: now two classes mean the same thing. The Judge-LLM sees the core and asks to reuse it.</a:t>
            </a:r>
          </a:p>
        </p:txBody>
      </p:sp>
      <p:sp>
        <p:nvSpPr>
          <p:cNvPr id="383" name="TextBox 382"/>
          <p:cNvSpPr txBox="1"/>
          <p:nvPr/>
        </p:nvSpPr>
        <p:spPr>
          <a:xfrm>
            <a:off x="6400800" y="2331720"/>
            <a:ext cx="4572000" cy="274320"/>
          </a:xfrm>
          <a:prstGeom prst="rect">
            <a:avLst/>
          </a:prstGeom>
          <a:noFill/>
        </p:spPr>
        <p:txBody>
          <a:bodyPr wrap="square" lIns="0" rIns="0" tIns="0" bIns="0" anchor="ctr">
            <a:spAutoFit/>
          </a:bodyPr>
          <a:lstStyle/>
          <a:p>
            <a:r>
              <a:rPr sz="1540" b="1">
                <a:solidFill>
                  <a:srgbClr val="0B6E4F"/>
                </a:solidFill>
                <a:latin typeface="Consolas"/>
              </a:rPr>
              <a:t>STRUCTURAL ERROR · GRAPH CHECKS</a:t>
            </a:r>
          </a:p>
        </p:txBody>
      </p:sp>
      <p:sp>
        <p:nvSpPr>
          <p:cNvPr id="384" name="TextBox 383"/>
          <p:cNvSpPr txBox="1"/>
          <p:nvPr/>
        </p:nvSpPr>
        <p:spPr>
          <a:xfrm>
            <a:off x="6400800" y="2834640"/>
            <a:ext cx="4572000" cy="274320"/>
          </a:xfrm>
          <a:prstGeom prst="rect">
            <a:avLst/>
          </a:prstGeom>
          <a:noFill/>
        </p:spPr>
        <p:txBody>
          <a:bodyPr wrap="square" lIns="0" rIns="0" tIns="0" bIns="0" anchor="ctr">
            <a:spAutoFit/>
          </a:bodyPr>
          <a:lstStyle/>
          <a:p>
            <a:r>
              <a:rPr sz="1430" b="0">
                <a:solidFill>
                  <a:srgbClr val="5B6770"/>
                </a:solidFill>
                <a:latin typeface="Calibri"/>
              </a:rPr>
              <a:t>Later table lab_result reuses a core property:</a:t>
            </a:r>
          </a:p>
        </p:txBody>
      </p:sp>
      <p:sp>
        <p:nvSpPr>
          <p:cNvPr id="385" name="Rectangle 384"/>
          <p:cNvSpPr/>
          <p:nvPr/>
        </p:nvSpPr>
        <p:spPr>
          <a:xfrm>
            <a:off x="6400800" y="3191256"/>
            <a:ext cx="4572000" cy="374904"/>
          </a:xfrm>
          <a:prstGeom prst="rect">
            <a:avLst/>
          </a:prstGeom>
          <a:solidFill>
            <a:srgbClr val="FBE9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6" name="TextBox 385"/>
          <p:cNvSpPr txBox="1"/>
          <p:nvPr/>
        </p:nvSpPr>
        <p:spPr>
          <a:xfrm>
            <a:off x="6537960" y="3227832"/>
            <a:ext cx="4242816" cy="274320"/>
          </a:xfrm>
          <a:prstGeom prst="rect">
            <a:avLst/>
          </a:prstGeom>
          <a:noFill/>
        </p:spPr>
        <p:txBody>
          <a:bodyPr wrap="square" lIns="0" rIns="0" tIns="0" bIns="0" anchor="ctr">
            <a:spAutoFit/>
          </a:bodyPr>
          <a:lstStyle/>
          <a:p>
            <a:r>
              <a:rPr lang="en-US" sz="1200" b="1" i="0" dirty="0">
                <a:solidFill>
                  <a:srgbClr val="B23A1E"/>
                </a:solidFill>
                <a:latin typeface="Consolas"/>
                <a:cs typeface="Consolas"/>
              </a:rPr>
              <a:t xml:space="preserve">ObjectProperty:</a:t>
            </a:r>
            <a:r>
              <a:rPr lang="en-US" sz="1200" b="0" i="0" dirty="0">
                <a:solidFill>
                  <a:srgbClr val="B23A1E"/>
                </a:solidFill>
                <a:latin typeface="Consolas"/>
                <a:cs typeface="Consolas"/>
              </a:rPr>
              <a:t xml:space="preserve"> </a:t>
            </a:r>
            <a:r>
              <a:rPr lang="en-US" sz="1200" b="0" i="0" dirty="0">
                <a:solidFill>
                  <a:srgbClr val="B23A1E"/>
                </a:solidFill>
                <a:latin typeface="Consolas"/>
                <a:cs typeface="Consolas"/>
              </a:rPr>
              <a:t xml:space="preserve">hasPatientData</a:t>
            </a:r>
            <a:r>
              <a:rPr lang="en-US" sz="1200" b="0" i="0" dirty="0">
                <a:solidFill>
                  <a:srgbClr val="B23A1E"/>
                </a:solidFill>
                <a:latin typeface="Consolas"/>
                <a:cs typeface="Consolas"/>
              </a:rPr>
              <a:t xml:space="preserve">  </a:t>
            </a:r>
            <a:r>
              <a:rPr lang="en-US" sz="1200" b="1" i="0" dirty="0">
                <a:solidFill>
                  <a:srgbClr val="B23A1E"/>
                </a:solidFill>
                <a:latin typeface="Consolas"/>
                <a:cs typeface="Consolas"/>
              </a:rPr>
              <a:t xml:space="preserve">Domain:</a:t>
            </a:r>
            <a:r>
              <a:rPr lang="en-US" sz="1200" b="0" i="0" dirty="0">
                <a:solidFill>
                  <a:srgbClr val="B23A1E"/>
                </a:solidFill>
                <a:latin typeface="Consolas"/>
                <a:cs typeface="Consolas"/>
              </a:rPr>
              <a:t xml:space="preserve"> </a:t>
            </a:r>
            <a:r>
              <a:rPr lang="en-US" sz="1200" b="0" i="0" dirty="0">
                <a:solidFill>
                  <a:srgbClr val="B23A1E"/>
                </a:solidFill>
                <a:latin typeface="Consolas"/>
                <a:cs typeface="Consolas"/>
              </a:rPr>
              <a:t xml:space="preserve">LabResult</a:t>
            </a:r>
          </a:p>
        </p:txBody>
      </p:sp>
      <p:sp>
        <p:nvSpPr>
          <p:cNvPr id="387" name="TextBox 386"/>
          <p:cNvSpPr txBox="1"/>
          <p:nvPr/>
        </p:nvSpPr>
        <p:spPr>
          <a:xfrm>
            <a:off x="6400800" y="3675887"/>
            <a:ext cx="4572000" cy="621792"/>
          </a:xfrm>
          <a:prstGeom prst="rect">
            <a:avLst/>
          </a:prstGeom>
          <a:noFill/>
        </p:spPr>
        <p:txBody>
          <a:bodyPr wrap="square" lIns="0" rIns="0" tIns="0" bIns="0" anchor="ctr">
            <a:spAutoFit/>
          </a:bodyPr>
          <a:lstStyle/>
          <a:p>
            <a:r>
              <a:rPr sz="1330" b="0">
                <a:solidFill>
                  <a:srgbClr val="1F2328"/>
                </a:solidFill>
                <a:latin typeface="Calibri"/>
              </a:rPr>
              <a:t>Merged with Domain: Admission, OWL infers that every lab result is an admission (pitfall P19). Graph checks allow one domain per property.</a:t>
            </a:r>
          </a:p>
        </p:txBody>
      </p:sp>
      <p:sp>
        <p:nvSpPr>
          <p:cNvPr id="388" name="Rounded Rectangle 387"/>
          <p:cNvSpPr/>
          <p:nvPr/>
        </p:nvSpPr>
        <p:spPr>
          <a:xfrm>
            <a:off x="841248" y="4718304"/>
            <a:ext cx="10515600" cy="658368"/>
          </a:xfrm>
          <a:prstGeom prst="roundRect">
            <a:avLst/>
          </a:prstGeom>
          <a:solidFill>
            <a:srgbClr val="E6F2EC"/>
          </a:solidFill>
          <a:ln w="8890">
            <a:solidFill>
              <a:srgbClr val="B7D7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9" name="TextBox 388"/>
          <p:cNvSpPr txBox="1"/>
          <p:nvPr/>
        </p:nvSpPr>
        <p:spPr>
          <a:xfrm>
            <a:off x="1024128" y="4800600"/>
            <a:ext cx="9985248" cy="237744"/>
          </a:xfrm>
          <a:prstGeom prst="rect">
            <a:avLst/>
          </a:prstGeom>
          <a:noFill/>
        </p:spPr>
        <p:txBody>
          <a:bodyPr wrap="square" lIns="0" rIns="0" tIns="0" bIns="0" anchor="ctr">
            <a:spAutoFit/>
          </a:bodyPr>
          <a:lstStyle/>
          <a:p>
            <a:r>
              <a:rPr lang="en-US" sz="1300" b="1" i="0" dirty="0">
                <a:solidFill>
                  <a:srgbClr val="0B6E4F"/>
                </a:solidFill>
                <a:latin typeface="Calibri"/>
                <a:cs typeface="Calibri"/>
              </a:rPr>
              <a:t xml:space="preserve">CORRECTION   </a:t>
            </a:r>
            <a:r>
              <a:rPr lang="en-US" sz="1200" b="1" i="0" dirty="0">
                <a:solidFill>
                  <a:srgbClr val="0B6E4F"/>
                </a:solidFill>
                <a:latin typeface="Consolas"/>
                <a:cs typeface="Consolas"/>
              </a:rPr>
              <a:t xml:space="preserve">ObjectProperty:</a:t>
            </a:r>
            <a:r>
              <a:rPr lang="en-US" sz="1200" b="0" i="0" dirty="0">
                <a:solidFill>
                  <a:srgbClr val="1F2328"/>
                </a:solidFill>
                <a:latin typeface="Consolas"/>
                <a:cs typeface="Consolas"/>
              </a:rPr>
              <a:t xml:space="preserve"> </a:t>
            </a:r>
            <a:r>
              <a:rPr lang="en-US" sz="1200" b="0" i="0" dirty="0">
                <a:solidFill>
                  <a:srgbClr val="1F2328"/>
                </a:solidFill>
                <a:latin typeface="Consolas"/>
                <a:cs typeface="Consolas"/>
              </a:rPr>
              <a:t xml:space="preserve">hasPatientData</a:t>
            </a:r>
            <a:r>
              <a:rPr lang="en-US" sz="1200" b="0" i="0" dirty="0">
                <a:solidFill>
                  <a:srgbClr val="1F2328"/>
                </a:solidFill>
                <a:latin typeface="Consolas"/>
                <a:cs typeface="Consolas"/>
              </a:rPr>
              <a:t xml:space="preserve">  </a:t>
            </a:r>
            <a:r>
              <a:rPr lang="en-US" sz="1200" b="1" i="0" dirty="0">
                <a:solidFill>
                  <a:srgbClr val="0B6E4F"/>
                </a:solidFill>
                <a:latin typeface="Consolas"/>
                <a:cs typeface="Consolas"/>
              </a:rPr>
              <a:t xml:space="preserve">Range:</a:t>
            </a:r>
            <a:r>
              <a:rPr lang="en-US" sz="1200" b="0" i="0" dirty="0">
                <a:solidFill>
                  <a:srgbClr val="1F2328"/>
                </a:solidFill>
                <a:latin typeface="Consolas"/>
                <a:cs typeface="Consolas"/>
              </a:rPr>
              <a:t xml:space="preserve"> </a:t>
            </a:r>
            <a:r>
              <a:rPr lang="en-US" sz="1200" b="0" i="0" dirty="0">
                <a:solidFill>
                  <a:srgbClr val="1F2328"/>
                </a:solidFill>
                <a:latin typeface="Consolas"/>
                <a:cs typeface="Consolas"/>
              </a:rPr>
              <a:t xml:space="preserve">PatientData</a:t>
            </a:r>
            <a:r>
              <a:rPr lang="en-US" sz="1300" b="0" i="0" dirty="0">
                <a:solidFill>
                  <a:srgbClr val="5B6770"/>
                </a:solidFill>
                <a:latin typeface="Calibri"/>
                <a:cs typeface="Calibri"/>
              </a:rPr>
              <a:t xml:space="preserve">    |    </a:t>
            </a:r>
            <a:r>
              <a:rPr lang="en-US" sz="1200" b="1" i="0" dirty="0">
                <a:solidFill>
                  <a:srgbClr val="0B6E4F"/>
                </a:solidFill>
                <a:latin typeface="Consolas"/>
                <a:cs typeface="Consolas"/>
              </a:rPr>
              <a:t xml:space="preserve">ObjectProperty:</a:t>
            </a:r>
            <a:r>
              <a:rPr lang="en-US" sz="1200" b="0" i="0" dirty="0">
                <a:solidFill>
                  <a:srgbClr val="1F2328"/>
                </a:solidFill>
                <a:latin typeface="Consolas"/>
                <a:cs typeface="Consolas"/>
              </a:rPr>
              <a:t xml:space="preserve"> </a:t>
            </a:r>
            <a:r>
              <a:rPr lang="en-US" sz="1200" b="0" i="0" dirty="0">
                <a:solidFill>
                  <a:srgbClr val="1F2328"/>
                </a:solidFill>
                <a:latin typeface="Consolas"/>
                <a:cs typeface="Consolas"/>
              </a:rPr>
              <a:t xml:space="preserve">labResultOf</a:t>
            </a:r>
            <a:r>
              <a:rPr lang="en-US" sz="1200" b="0" i="0" dirty="0">
                <a:solidFill>
                  <a:srgbClr val="1F2328"/>
                </a:solidFill>
                <a:latin typeface="Consolas"/>
                <a:cs typeface="Consolas"/>
              </a:rPr>
              <a:t xml:space="preserve">  </a:t>
            </a:r>
            <a:r>
              <a:rPr lang="en-US" sz="1200" b="1" i="0" dirty="0">
                <a:solidFill>
                  <a:srgbClr val="0B6E4F"/>
                </a:solidFill>
                <a:latin typeface="Consolas"/>
                <a:cs typeface="Consolas"/>
              </a:rPr>
              <a:t xml:space="preserve">Domain:</a:t>
            </a:r>
            <a:r>
              <a:rPr lang="en-US" sz="1200" b="0" i="0" dirty="0">
                <a:solidFill>
                  <a:srgbClr val="1F2328"/>
                </a:solidFill>
                <a:latin typeface="Consolas"/>
                <a:cs typeface="Consolas"/>
              </a:rPr>
              <a:t xml:space="preserve"> </a:t>
            </a:r>
            <a:r>
              <a:rPr lang="en-US" sz="1200" b="0" i="0" dirty="0">
                <a:solidFill>
                  <a:srgbClr val="1F2328"/>
                </a:solidFill>
                <a:latin typeface="Consolas"/>
                <a:cs typeface="Consolas"/>
              </a:rPr>
              <a:t xml:space="preserve">LabResult</a:t>
            </a:r>
          </a:p>
        </p:txBody>
      </p:sp>
      <p:sp>
        <p:nvSpPr>
          <p:cNvPr id="390" name="TextBox 389"/>
          <p:cNvSpPr txBox="1"/>
          <p:nvPr/>
        </p:nvSpPr>
        <p:spPr>
          <a:xfrm>
            <a:off x="1024128" y="5120640"/>
            <a:ext cx="10021824" cy="201168"/>
          </a:xfrm>
          <a:prstGeom prst="rect">
            <a:avLst/>
          </a:prstGeom>
          <a:noFill/>
        </p:spPr>
        <p:txBody>
          <a:bodyPr wrap="square" lIns="0" rIns="0" tIns="0" bIns="0" anchor="ctr">
            <a:spAutoFit/>
          </a:bodyPr>
          <a:lstStyle/>
          <a:p>
            <a:r>
              <a:rPr sz="1230" b="0">
                <a:solidFill>
                  <a:srgbClr val="5B6770"/>
                </a:solidFill>
                <a:latin typeface="Calibri"/>
              </a:rPr>
              <a:t>Issues → generator correction (up to 2 retries) → graph validation → accepted fragment or fallback</a:t>
            </a:r>
          </a:p>
        </p:txBody>
      </p:sp>
      <p:sp>
        <p:nvSpPr>
          <p:cNvPr id="391" name="Added 391"/>
          <p:cNvSpPr txBox="1"/>
          <p:nvPr/>
        </p:nvSpPr>
        <p:spPr>
          <a:xfrm>
            <a:off x="7013448" y="448056"/>
            <a:ext cx="4572000" cy="310896"/>
          </a:xfrm>
          <a:prstGeom prst="rect">
            <a:avLst/>
          </a:prstGeom>
          <a:noFill/>
          <a:ln>
            <a:noFill/>
          </a:ln>
        </p:spPr>
        <p:txBody>
          <a:bodyPr anchorCtr="0" anchor="ctr" bIns="0" lIns="0" spcFirstLastPara="1" rIns="0" wrap="square" tIns="0">
            <a:spAutoFit/>
          </a:bodyPr>
          <a:lstStyle/>
          <a:p>
            <a:pPr indent="0" lvl="0" marL="0" marR="0" rtl="0" algn="r">
              <a:lnSpc>
                <a:spcPct val="105000"/>
              </a:lnSpc>
              <a:spcBef>
                <a:spcPts val="0"/>
              </a:spcBef>
              <a:spcAft>
                <a:spcPts val="0"/>
              </a:spcAft>
              <a:buNone/>
            </a:pPr>
            <a:r>
              <a:rPr b="1" i="0" lang="en-US" sz="1400">
                <a:solidFill>
                  <a:srgbClr val="5B6770"/>
                </a:solidFill>
                <a:latin typeface="Consolas"/>
                <a:ea typeface="Consolas"/>
                <a:cs typeface="Consolas"/>
                <a:sym typeface="Consolas"/>
              </a:rPr>
              <a:t>ILLUSTRATIVE EXAMPLES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0" name="Shape 380"/>
        <p:cNvGrpSpPr/>
        <p:nvPr/>
      </p:nvGrpSpPr>
      <p:grpSpPr>
        <a:xfrm>
          <a:off x="0" y="0"/>
          <a:ext cx="0" cy="0"/>
          <a:chOff x="0" y="0"/>
          <a:chExt cx="0" cy="0"/>
        </a:xfrm>
      </p:grpSpPr>
      <p:sp>
        <p:nvSpPr>
          <p:cNvPr id="381" name="Google Shape;381;p11"/>
          <p:cNvSpPr txBox="1"/>
          <p:nvPr/>
        </p:nvSpPr>
        <p:spPr>
          <a:xfrm>
            <a:off x="795528" y="448056"/>
            <a:ext cx="10789920" cy="31089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0B6E4F"/>
                </a:solidFill>
                <a:latin typeface="Consolas"/>
                <a:ea typeface="Consolas"/>
                <a:cs typeface="Consolas"/>
                <a:sym typeface="Consolas"/>
              </a:rPr>
              <a:t>STEP 6 / MERGE</a:t>
            </a:r>
            <a:endParaRPr/>
          </a:p>
        </p:txBody>
      </p:sp>
      <p:sp>
        <p:nvSpPr>
          <p:cNvPr id="382" name="Google Shape;382;p11"/>
          <p:cNvSpPr txBox="1"/>
          <p:nvPr/>
        </p:nvSpPr>
        <p:spPr>
          <a:xfrm>
            <a:off x="795528" y="850392"/>
            <a:ext cx="10835640" cy="685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800">
                <a:solidFill>
                  <a:srgbClr val="1F2328"/>
                </a:solidFill>
                <a:latin typeface="Cambria"/>
                <a:ea typeface="Calibri"/>
                <a:cs typeface="Calibri"/>
                <a:sym typeface="Calibri"/>
              </a:rPr>
              <a:t>The ontology we built now helps build the next part.</a:t>
            </a:r>
            <a:endParaRPr/>
          </a:p>
        </p:txBody>
      </p:sp>
      <p:sp>
        <p:nvSpPr>
          <p:cNvPr id="383" name="Google Shape;383;p11"/>
          <p:cNvSpPr txBox="1"/>
          <p:nvPr/>
        </p:nvSpPr>
        <p:spPr>
          <a:xfrm>
            <a:off x="795528" y="1609344"/>
            <a:ext cx="10607040" cy="34747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600">
                <a:solidFill>
                  <a:srgbClr val="5B6770"/>
                </a:solidFill>
                <a:latin typeface="Calibri"/>
                <a:ea typeface="Calibri"/>
                <a:cs typeface="Calibri"/>
                <a:sym typeface="Calibri"/>
              </a:rPr>
              <a:t>Integrate the refined fragment; use the expanded core as retrieval context.</a:t>
            </a:r>
            <a:endParaRPr/>
          </a:p>
        </p:txBody>
      </p:sp>
      <p:sp>
        <p:nvSpPr>
          <p:cNvPr id="384" name="Google Shape;384;p11"/>
          <p:cNvSpPr/>
          <p:nvPr/>
        </p:nvSpPr>
        <p:spPr>
          <a:xfrm>
            <a:off x="813816" y="2139696"/>
            <a:ext cx="3017520" cy="2542032"/>
          </a:xfrm>
          <a:prstGeom prst="roundRect">
            <a:avLst>
              <a:gd fmla="val 10000" name="adj"/>
            </a:avLst>
          </a:prstGeom>
          <a:solidFill>
            <a:srgbClr val="FFFFFF"/>
          </a:solidFill>
          <a:ln cap="flat" cmpd="sng" w="12700">
            <a:solidFill>
              <a:srgbClr val="D9DED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85" name="Google Shape;385;p11"/>
          <p:cNvSpPr txBox="1"/>
          <p:nvPr/>
        </p:nvSpPr>
        <p:spPr>
          <a:xfrm>
            <a:off x="1069848" y="2304288"/>
            <a:ext cx="2578608" cy="301752"/>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520">
                <a:solidFill>
                  <a:srgbClr val="0B6E4F"/>
                </a:solidFill>
                <a:latin typeface="Consolas"/>
                <a:ea typeface="Consolas"/>
                <a:cs typeface="Consolas"/>
                <a:sym typeface="Consolas"/>
              </a:rPr>
              <a:t>EXISTING CORE  O₁</a:t>
            </a:r>
            <a:endParaRPr/>
          </a:p>
        </p:txBody>
      </p:sp>
      <p:sp>
        <p:nvSpPr>
          <p:cNvPr id="386" name="Google Shape;386;p11"/>
          <p:cNvSpPr/>
          <p:nvPr/>
        </p:nvSpPr>
        <p:spPr>
          <a:xfrm>
            <a:off x="1408176" y="3017520"/>
            <a:ext cx="1847088" cy="630936"/>
          </a:xfrm>
          <a:prstGeom prst="roundRect">
            <a:avLst>
              <a:gd fmla="val 10000" name="adj"/>
            </a:avLst>
          </a:prstGeom>
          <a:solidFill>
            <a:srgbClr val="E6F2EC"/>
          </a:solidFill>
          <a:ln cap="flat" cmpd="sng" w="12700">
            <a:solidFill>
              <a:srgbClr val="0B6E4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87" name="Google Shape;387;p11"/>
          <p:cNvSpPr txBox="1"/>
          <p:nvPr/>
        </p:nvSpPr>
        <p:spPr>
          <a:xfrm>
            <a:off x="1563624" y="3182112"/>
            <a:ext cx="1536192" cy="23774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800">
                <a:solidFill>
                  <a:srgbClr val="1F2328"/>
                </a:solidFill>
                <a:latin typeface="Calibri"/>
                <a:ea typeface="Calibri"/>
                <a:cs typeface="Calibri"/>
                <a:sym typeface="Calibri"/>
              </a:rPr>
              <a:t>PatientData</a:t>
            </a:r>
            <a:endParaRPr/>
          </a:p>
        </p:txBody>
      </p:sp>
      <p:sp>
        <p:nvSpPr>
          <p:cNvPr id="388" name="Google Shape;388;p11"/>
          <p:cNvSpPr txBox="1"/>
          <p:nvPr/>
        </p:nvSpPr>
        <p:spPr>
          <a:xfrm>
            <a:off x="1380744" y="4005072"/>
            <a:ext cx="2029968" cy="27432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None/>
            </a:pPr>
            <a:r>
              <a:rPr b="0" i="0" lang="en-US" sz="1550">
                <a:solidFill>
                  <a:srgbClr val="5B6770"/>
                </a:solidFill>
                <a:latin typeface="Calibri"/>
                <a:ea typeface="Calibri"/>
                <a:cs typeface="Calibri"/>
                <a:sym typeface="Calibri"/>
              </a:rPr>
              <a:t>already validated</a:t>
            </a:r>
            <a:endParaRPr/>
          </a:p>
        </p:txBody>
      </p:sp>
      <p:sp>
        <p:nvSpPr>
          <p:cNvPr id="389" name="Google Shape;389;p11"/>
          <p:cNvSpPr txBox="1"/>
          <p:nvPr/>
        </p:nvSpPr>
        <p:spPr>
          <a:xfrm>
            <a:off x="3968496" y="3108960"/>
            <a:ext cx="365760" cy="521207"/>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3500">
                <a:solidFill>
                  <a:srgbClr val="0B6E4F"/>
                </a:solidFill>
                <a:latin typeface="Cambria"/>
                <a:ea typeface="Calibri"/>
                <a:cs typeface="Calibri"/>
                <a:sym typeface="Calibri"/>
              </a:rPr>
              <a:t>+</a:t>
            </a:r>
            <a:endParaRPr/>
          </a:p>
        </p:txBody>
      </p:sp>
      <p:sp>
        <p:nvSpPr>
          <p:cNvPr id="390" name="Google Shape;390;p11"/>
          <p:cNvSpPr/>
          <p:nvPr/>
        </p:nvSpPr>
        <p:spPr>
          <a:xfrm>
            <a:off x="4471416" y="2139696"/>
            <a:ext cx="2944368" cy="2542032"/>
          </a:xfrm>
          <a:prstGeom prst="roundRect">
            <a:avLst>
              <a:gd fmla="val 10000" name="adj"/>
            </a:avLst>
          </a:prstGeom>
          <a:solidFill>
            <a:srgbClr val="FFFFFF"/>
          </a:solidFill>
          <a:ln cap="flat" cmpd="sng" w="12700">
            <a:solidFill>
              <a:srgbClr val="2F6B7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91" name="Google Shape;391;p11"/>
          <p:cNvSpPr txBox="1"/>
          <p:nvPr/>
        </p:nvSpPr>
        <p:spPr>
          <a:xfrm>
            <a:off x="4700016" y="2304288"/>
            <a:ext cx="2551176" cy="301752"/>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520">
                <a:solidFill>
                  <a:srgbClr val="2F6B78"/>
                </a:solidFill>
                <a:latin typeface="Consolas"/>
                <a:ea typeface="Consolas"/>
                <a:cs typeface="Consolas"/>
                <a:sym typeface="Consolas"/>
              </a:rPr>
              <a:t>REFINED DELTA  ΔOadmission</a:t>
            </a:r>
            <a:endParaRPr/>
          </a:p>
        </p:txBody>
      </p:sp>
      <p:sp>
        <p:nvSpPr>
          <p:cNvPr id="392" name="Google Shape;392;p11"/>
          <p:cNvSpPr/>
          <p:nvPr/>
        </p:nvSpPr>
        <p:spPr>
          <a:xfrm>
            <a:off x="4956048" y="3017520"/>
            <a:ext cx="1956816" cy="630936"/>
          </a:xfrm>
          <a:prstGeom prst="roundRect">
            <a:avLst>
              <a:gd fmla="val 10000" name="adj"/>
            </a:avLst>
          </a:prstGeom>
          <a:solidFill>
            <a:srgbClr val="F3F5F4"/>
          </a:solidFill>
          <a:ln cap="flat" cmpd="sng" w="12700">
            <a:solidFill>
              <a:srgbClr val="2F6B7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93" name="Google Shape;393;p11"/>
          <p:cNvSpPr txBox="1"/>
          <p:nvPr/>
        </p:nvSpPr>
        <p:spPr>
          <a:xfrm>
            <a:off x="5175504" y="3172968"/>
            <a:ext cx="1563624" cy="23774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800">
                <a:solidFill>
                  <a:srgbClr val="1F2328"/>
                </a:solidFill>
                <a:latin typeface="Calibri"/>
                <a:ea typeface="Calibri"/>
                <a:cs typeface="Calibri"/>
                <a:sym typeface="Calibri"/>
              </a:rPr>
              <a:t>Admission</a:t>
            </a:r>
            <a:endParaRPr/>
          </a:p>
        </p:txBody>
      </p:sp>
      <p:sp>
        <p:nvSpPr>
          <p:cNvPr id="394" name="Google Shape;394;p11"/>
          <p:cNvSpPr txBox="1"/>
          <p:nvPr/>
        </p:nvSpPr>
        <p:spPr>
          <a:xfrm>
            <a:off x="4645152" y="3968496"/>
            <a:ext cx="2633472" cy="310896"/>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None/>
            </a:pPr>
            <a:r>
              <a:rPr b="0" lang="en-US" sz="1550">
                <a:solidFill>
                  <a:srgbClr val="5B6770"/>
                </a:solidFill>
                <a:latin typeface="Calibri"/>
                <a:ea typeface="Calibri"/>
                <a:cs typeface="Calibri"/>
                <a:sym typeface="Calibri"/>
              </a:rPr>
              <a:t>Relations · labels · provenance</a:t>
            </a:r>
            <a:endParaRPr/>
          </a:p>
        </p:txBody>
      </p:sp>
      <p:cxnSp>
        <p:nvCxnSpPr>
          <p:cNvPr id="395" name="Google Shape;395;p11"/>
          <p:cNvCxnSpPr/>
          <p:nvPr/>
        </p:nvCxnSpPr>
        <p:spPr>
          <a:xfrm>
            <a:off x="7552944" y="3310128"/>
            <a:ext cx="502920" cy="0"/>
          </a:xfrm>
          <a:prstGeom prst="straightConnector1">
            <a:avLst/>
          </a:prstGeom>
          <a:noFill/>
          <a:ln cap="flat" cmpd="sng" w="31750">
            <a:solidFill>
              <a:srgbClr val="0B6E4F"/>
            </a:solidFill>
            <a:prstDash val="solid"/>
            <a:miter lim="8000"/>
            <a:headEnd len="sm" w="sm" type="none"/>
            <a:tailEnd len="med" w="med" type="triangle"/>
          </a:ln>
        </p:spPr>
      </p:cxnSp>
      <p:sp>
        <p:nvSpPr>
          <p:cNvPr id="396" name="Google Shape;396;p11"/>
          <p:cNvSpPr/>
          <p:nvPr/>
        </p:nvSpPr>
        <p:spPr>
          <a:xfrm>
            <a:off x="8220456" y="2139696"/>
            <a:ext cx="3191256" cy="2542032"/>
          </a:xfrm>
          <a:prstGeom prst="roundRect">
            <a:avLst>
              <a:gd fmla="val 10000" name="adj"/>
            </a:avLst>
          </a:prstGeom>
          <a:solidFill>
            <a:srgbClr val="FFFFFF"/>
          </a:solidFill>
          <a:ln cap="flat" cmpd="sng" w="17775">
            <a:solidFill>
              <a:srgbClr val="0B6E4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97" name="Google Shape;397;p11"/>
          <p:cNvSpPr txBox="1"/>
          <p:nvPr/>
        </p:nvSpPr>
        <p:spPr>
          <a:xfrm>
            <a:off x="8476488" y="2304288"/>
            <a:ext cx="2724912" cy="301752"/>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520">
                <a:solidFill>
                  <a:srgbClr val="0B6E4F"/>
                </a:solidFill>
                <a:latin typeface="Consolas"/>
                <a:ea typeface="Consolas"/>
                <a:cs typeface="Consolas"/>
                <a:sym typeface="Consolas"/>
              </a:rPr>
              <a:t>EXPANDED CORE  O₂</a:t>
            </a:r>
            <a:endParaRPr/>
          </a:p>
        </p:txBody>
      </p:sp>
      <p:sp>
        <p:nvSpPr>
          <p:cNvPr id="398" name="Google Shape;398;p11"/>
          <p:cNvSpPr/>
          <p:nvPr/>
        </p:nvSpPr>
        <p:spPr>
          <a:xfrm>
            <a:off x="8375904" y="2926080"/>
            <a:ext cx="1234440" cy="521207"/>
          </a:xfrm>
          <a:prstGeom prst="roundRect">
            <a:avLst>
              <a:gd fmla="val 10000" name="adj"/>
            </a:avLst>
          </a:prstGeom>
          <a:solidFill>
            <a:srgbClr val="E6F2EC"/>
          </a:solidFill>
          <a:ln cap="flat" cmpd="sng" w="12700">
            <a:solidFill>
              <a:srgbClr val="0B6E4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99" name="Google Shape;399;p11"/>
          <p:cNvSpPr txBox="1"/>
          <p:nvPr/>
        </p:nvSpPr>
        <p:spPr>
          <a:xfrm>
            <a:off x="8485632" y="3072384"/>
            <a:ext cx="1033271"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1F2328"/>
                </a:solidFill>
                <a:latin typeface="Calibri"/>
                <a:ea typeface="Calibri"/>
                <a:cs typeface="Calibri"/>
                <a:sym typeface="Calibri"/>
              </a:rPr>
              <a:t>Admission</a:t>
            </a:r>
            <a:endParaRPr/>
          </a:p>
        </p:txBody>
      </p:sp>
      <p:sp>
        <p:nvSpPr>
          <p:cNvPr id="400" name="Google Shape;400;p11"/>
          <p:cNvSpPr/>
          <p:nvPr/>
        </p:nvSpPr>
        <p:spPr>
          <a:xfrm>
            <a:off x="10003536" y="2926080"/>
            <a:ext cx="1271016" cy="521207"/>
          </a:xfrm>
          <a:prstGeom prst="roundRect">
            <a:avLst>
              <a:gd fmla="val 10000" name="adj"/>
            </a:avLst>
          </a:prstGeom>
          <a:solidFill>
            <a:srgbClr val="E6F2EC"/>
          </a:solidFill>
          <a:ln cap="flat" cmpd="sng" w="12700">
            <a:solidFill>
              <a:srgbClr val="0B6E4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01" name="Google Shape;401;p11"/>
          <p:cNvSpPr txBox="1"/>
          <p:nvPr/>
        </p:nvSpPr>
        <p:spPr>
          <a:xfrm>
            <a:off x="10094976" y="3072384"/>
            <a:ext cx="1106424"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1F2328"/>
                </a:solidFill>
                <a:latin typeface="Calibri"/>
                <a:ea typeface="Calibri"/>
                <a:cs typeface="Calibri"/>
                <a:sym typeface="Calibri"/>
              </a:rPr>
              <a:t>PatientData</a:t>
            </a:r>
            <a:endParaRPr/>
          </a:p>
        </p:txBody>
      </p:sp>
      <p:cxnSp>
        <p:nvCxnSpPr>
          <p:cNvPr id="402" name="Google Shape;402;p11"/>
          <p:cNvCxnSpPr/>
          <p:nvPr/>
        </p:nvCxnSpPr>
        <p:spPr>
          <a:xfrm>
            <a:off x="9637776" y="3182112"/>
            <a:ext cx="320040" cy="0"/>
          </a:xfrm>
          <a:prstGeom prst="straightConnector1">
            <a:avLst/>
          </a:prstGeom>
          <a:noFill/>
          <a:ln cap="flat" cmpd="sng" w="29200">
            <a:solidFill>
              <a:srgbClr val="3A7D8C"/>
            </a:solidFill>
            <a:prstDash val="solid"/>
            <a:miter lim="8000"/>
            <a:headEnd len="sm" w="sm" type="none"/>
            <a:tailEnd len="med" w="med" type="triangle"/>
          </a:ln>
        </p:spPr>
      </p:cxnSp>
      <p:sp>
        <p:nvSpPr>
          <p:cNvPr id="403" name="Google Shape;403;p11"/>
          <p:cNvSpPr txBox="1"/>
          <p:nvPr/>
        </p:nvSpPr>
        <p:spPr>
          <a:xfrm>
            <a:off x="9473184" y="3547872"/>
            <a:ext cx="1609344" cy="246888"/>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None/>
            </a:pPr>
            <a:r>
              <a:rPr b="1" i="0" lang="en-US" sz="1400">
                <a:solidFill>
                  <a:srgbClr val="2F6B78"/>
                </a:solidFill>
                <a:latin typeface="Consolas"/>
                <a:ea typeface="Consolas"/>
                <a:cs typeface="Consolas"/>
                <a:sym typeface="Consolas"/>
              </a:rPr>
              <a:t>hasPatientData</a:t>
            </a:r>
            <a:endParaRPr/>
          </a:p>
        </p:txBody>
      </p:sp>
      <p:sp>
        <p:nvSpPr>
          <p:cNvPr id="404" name="Google Shape;404;p11"/>
          <p:cNvSpPr txBox="1"/>
          <p:nvPr/>
        </p:nvSpPr>
        <p:spPr>
          <a:xfrm>
            <a:off x="8513064" y="4151376"/>
            <a:ext cx="2697480" cy="27432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i="0" lang="en-US" sz="1550">
                <a:solidFill>
                  <a:srgbClr val="5B6770"/>
                </a:solidFill>
                <a:latin typeface="Calibri"/>
                <a:ea typeface="Calibri"/>
                <a:cs typeface="Calibri"/>
                <a:sym typeface="Calibri"/>
              </a:rPr>
              <a:t>+ enriched annotations</a:t>
            </a:r>
            <a:endParaRPr/>
          </a:p>
        </p:txBody>
      </p:sp>
      <p:sp>
        <p:nvSpPr>
          <p:cNvPr id="405" name="Google Shape;405;p11"/>
          <p:cNvSpPr/>
          <p:nvPr/>
        </p:nvSpPr>
        <p:spPr>
          <a:xfrm>
            <a:off x="822960" y="4892040"/>
            <a:ext cx="10561320" cy="594360"/>
          </a:xfrm>
          <a:prstGeom prst="roundRect">
            <a:avLst>
              <a:gd fmla="val 10000" name="adj"/>
            </a:avLst>
          </a:prstGeom>
          <a:solidFill>
            <a:srgbClr val="E6F2E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06" name="Google Shape;406;p11"/>
          <p:cNvSpPr txBox="1"/>
          <p:nvPr/>
        </p:nvSpPr>
        <p:spPr>
          <a:xfrm>
            <a:off x="1024128" y="5038344"/>
            <a:ext cx="10131552" cy="265176"/>
          </a:xfrm>
          <a:prstGeom prst="rect">
            <a:avLst/>
          </a:prstGeom>
          <a:noFill/>
          <a:ln>
            <a:noFill/>
          </a:ln>
        </p:spPr>
        <p:txBody>
          <a:bodyPr anchorCtr="0" anchor="ctr" bIns="0" lIns="0" spcFirstLastPara="1" rIns="0" wrap="square" tIns="0">
            <a:spAutoFit/>
          </a:bodyPr>
          <a:lstStyle/>
          <a:p>
            <a:pPr indent="0" lvl="0" marL="0" marR="0" rtl="0" algn="l">
              <a:lnSpc>
                <a:spcPct val="107000"/>
              </a:lnSpc>
              <a:spcBef>
                <a:spcPts val="0"/>
              </a:spcBef>
              <a:spcAft>
                <a:spcPts val="0"/>
              </a:spcAft>
              <a:buNone/>
            </a:pPr>
            <a:r>
              <a:rPr b="1" lang="en-US" sz="1600">
                <a:solidFill>
                  <a:srgbClr val="0B6E4F"/>
                </a:solidFill>
                <a:latin typeface="Calibri"/>
                <a:ea typeface="Calibri"/>
                <a:cs typeface="Calibri"/>
                <a:sym typeface="Calibri"/>
              </a:rPr>
              <a:t>THE LOOP   </a:t>
            </a:r>
            <a:r>
              <a:rPr b="0" lang="en-US" sz="1600">
                <a:solidFill>
                  <a:srgbClr val="1F2328"/>
                </a:solidFill>
                <a:latin typeface="Calibri"/>
                <a:ea typeface="Calibri"/>
                <a:cs typeface="Calibri"/>
                <a:sym typeface="Calibri"/>
              </a:rPr>
              <a:t>O₂ becomes a retrieval source for the next table → a coherent ontology grows.</a:t>
            </a:r>
            <a:endParaRPr/>
          </a:p>
        </p:txBody>
      </p:sp>
      <p:sp>
        <p:nvSpPr>
          <p:cNvPr id="407" name="Google Shape;407;p11"/>
          <p:cNvSpPr/>
          <p:nvPr/>
        </p:nvSpPr>
        <p:spPr>
          <a:xfrm>
            <a:off x="804672" y="5797296"/>
            <a:ext cx="1645920" cy="310896"/>
          </a:xfrm>
          <a:prstGeom prst="roundRect">
            <a:avLst>
              <a:gd fmla="val 10000" name="adj"/>
            </a:avLst>
          </a:prstGeom>
          <a:solidFill>
            <a:srgbClr val="E6F2EC"/>
          </a:solidFill>
          <a:ln cap="flat" cmpd="sng" w="12700">
            <a:solidFill>
              <a:srgbClr val="E6F2EC"/>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08" name="Google Shape;408;p11"/>
          <p:cNvSpPr txBox="1"/>
          <p:nvPr/>
        </p:nvSpPr>
        <p:spPr>
          <a:xfrm>
            <a:off x="859536"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0B6E4F"/>
                </a:solidFill>
                <a:latin typeface="Consolas"/>
                <a:ea typeface="Consolas"/>
                <a:cs typeface="Consolas"/>
                <a:sym typeface="Consolas"/>
              </a:rPr>
              <a:t>1  ORDER</a:t>
            </a:r>
            <a:endParaRPr/>
          </a:p>
        </p:txBody>
      </p:sp>
      <p:sp>
        <p:nvSpPr>
          <p:cNvPr id="409" name="Google Shape;409;p11"/>
          <p:cNvSpPr/>
          <p:nvPr/>
        </p:nvSpPr>
        <p:spPr>
          <a:xfrm>
            <a:off x="2642615" y="5797296"/>
            <a:ext cx="1645920" cy="310896"/>
          </a:xfrm>
          <a:prstGeom prst="roundRect">
            <a:avLst>
              <a:gd fmla="val 10000" name="adj"/>
            </a:avLst>
          </a:prstGeom>
          <a:solidFill>
            <a:srgbClr val="E6F2EC"/>
          </a:solidFill>
          <a:ln cap="flat" cmpd="sng" w="12700">
            <a:solidFill>
              <a:srgbClr val="E6F2EC"/>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10" name="Google Shape;410;p11"/>
          <p:cNvSpPr txBox="1"/>
          <p:nvPr/>
        </p:nvSpPr>
        <p:spPr>
          <a:xfrm>
            <a:off x="2697479"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0B6E4F"/>
                </a:solidFill>
                <a:latin typeface="Consolas"/>
                <a:ea typeface="Consolas"/>
                <a:cs typeface="Consolas"/>
                <a:sym typeface="Consolas"/>
              </a:rPr>
              <a:t>2  SEED</a:t>
            </a:r>
            <a:endParaRPr/>
          </a:p>
        </p:txBody>
      </p:sp>
      <p:sp>
        <p:nvSpPr>
          <p:cNvPr id="411" name="Google Shape;411;p11"/>
          <p:cNvSpPr/>
          <p:nvPr/>
        </p:nvSpPr>
        <p:spPr>
          <a:xfrm>
            <a:off x="4480559" y="5797296"/>
            <a:ext cx="1645920" cy="310896"/>
          </a:xfrm>
          <a:prstGeom prst="roundRect">
            <a:avLst>
              <a:gd fmla="val 10000" name="adj"/>
            </a:avLst>
          </a:prstGeom>
          <a:solidFill>
            <a:srgbClr val="E6F2EC"/>
          </a:solidFill>
          <a:ln cap="flat" cmpd="sng" w="12700">
            <a:solidFill>
              <a:srgbClr val="E6F2EC"/>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12" name="Google Shape;412;p11"/>
          <p:cNvSpPr txBox="1"/>
          <p:nvPr/>
        </p:nvSpPr>
        <p:spPr>
          <a:xfrm>
            <a:off x="4535423"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0B6E4F"/>
                </a:solidFill>
                <a:latin typeface="Consolas"/>
                <a:ea typeface="Consolas"/>
                <a:cs typeface="Consolas"/>
                <a:sym typeface="Consolas"/>
              </a:rPr>
              <a:t>3  RETRIEVE</a:t>
            </a:r>
            <a:endParaRPr/>
          </a:p>
        </p:txBody>
      </p:sp>
      <p:sp>
        <p:nvSpPr>
          <p:cNvPr id="413" name="Google Shape;413;p11"/>
          <p:cNvSpPr/>
          <p:nvPr/>
        </p:nvSpPr>
        <p:spPr>
          <a:xfrm>
            <a:off x="6318503" y="5797296"/>
            <a:ext cx="1645920" cy="310896"/>
          </a:xfrm>
          <a:prstGeom prst="roundRect">
            <a:avLst>
              <a:gd fmla="val 10000" name="adj"/>
            </a:avLst>
          </a:prstGeom>
          <a:solidFill>
            <a:srgbClr val="E6F2EC"/>
          </a:solidFill>
          <a:ln cap="flat" cmpd="sng" w="12700">
            <a:solidFill>
              <a:srgbClr val="E6F2EC"/>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14" name="Google Shape;414;p11"/>
          <p:cNvSpPr txBox="1"/>
          <p:nvPr/>
        </p:nvSpPr>
        <p:spPr>
          <a:xfrm>
            <a:off x="6373367"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0B6E4F"/>
                </a:solidFill>
                <a:latin typeface="Consolas"/>
                <a:ea typeface="Consolas"/>
                <a:cs typeface="Consolas"/>
                <a:sym typeface="Consolas"/>
              </a:rPr>
              <a:t>4  GENERATE</a:t>
            </a:r>
            <a:endParaRPr/>
          </a:p>
        </p:txBody>
      </p:sp>
      <p:sp>
        <p:nvSpPr>
          <p:cNvPr id="415" name="Google Shape;415;p11"/>
          <p:cNvSpPr/>
          <p:nvPr/>
        </p:nvSpPr>
        <p:spPr>
          <a:xfrm>
            <a:off x="8156448" y="5797296"/>
            <a:ext cx="1645920" cy="310896"/>
          </a:xfrm>
          <a:prstGeom prst="roundRect">
            <a:avLst>
              <a:gd fmla="val 10000" name="adj"/>
            </a:avLst>
          </a:prstGeom>
          <a:solidFill>
            <a:srgbClr val="E6F2EC"/>
          </a:solidFill>
          <a:ln cap="flat" cmpd="sng" w="12700">
            <a:solidFill>
              <a:srgbClr val="E6F2EC"/>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16" name="Google Shape;416;p11"/>
          <p:cNvSpPr txBox="1"/>
          <p:nvPr/>
        </p:nvSpPr>
        <p:spPr>
          <a:xfrm>
            <a:off x="8211312"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0B6E4F"/>
                </a:solidFill>
                <a:latin typeface="Consolas"/>
                <a:ea typeface="Consolas"/>
                <a:cs typeface="Consolas"/>
                <a:sym typeface="Consolas"/>
              </a:rPr>
              <a:t>5  VALIDATE</a:t>
            </a:r>
            <a:endParaRPr/>
          </a:p>
        </p:txBody>
      </p:sp>
      <p:sp>
        <p:nvSpPr>
          <p:cNvPr id="417" name="Google Shape;417;p11"/>
          <p:cNvSpPr/>
          <p:nvPr/>
        </p:nvSpPr>
        <p:spPr>
          <a:xfrm>
            <a:off x="9994392" y="5797296"/>
            <a:ext cx="1645920" cy="310896"/>
          </a:xfrm>
          <a:prstGeom prst="roundRect">
            <a:avLst>
              <a:gd fmla="val 10000" name="adj"/>
            </a:avLst>
          </a:prstGeom>
          <a:solidFill>
            <a:srgbClr val="0B6E4F"/>
          </a:solidFill>
          <a:ln cap="flat" cmpd="sng" w="12700">
            <a:solidFill>
              <a:srgbClr val="0B6E4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18" name="Google Shape;418;p11"/>
          <p:cNvSpPr txBox="1"/>
          <p:nvPr/>
        </p:nvSpPr>
        <p:spPr>
          <a:xfrm>
            <a:off x="10049256"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FFFFFF"/>
                </a:solidFill>
                <a:latin typeface="Consolas"/>
                <a:ea typeface="Consolas"/>
                <a:cs typeface="Consolas"/>
                <a:sym typeface="Consolas"/>
              </a:rPr>
              <a:t>6  MERGE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3" name="Shape 423"/>
        <p:cNvGrpSpPr/>
        <p:nvPr/>
      </p:nvGrpSpPr>
      <p:grpSpPr>
        <a:xfrm>
          <a:off x="0" y="0"/>
          <a:ext cx="0" cy="0"/>
          <a:chOff x="0" y="0"/>
          <a:chExt cx="0" cy="0"/>
        </a:xfrm>
      </p:grpSpPr>
      <p:sp>
        <p:nvSpPr>
          <p:cNvPr id="424" name="Google Shape;424;p12"/>
          <p:cNvSpPr txBox="1"/>
          <p:nvPr/>
        </p:nvSpPr>
        <p:spPr>
          <a:xfrm>
            <a:off x="512064" y="320040"/>
            <a:ext cx="6675120" cy="30175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500">
                <a:solidFill>
                  <a:srgbClr val="0B6E4F"/>
                </a:solidFill>
                <a:latin typeface="Consolas"/>
                <a:ea typeface="Calibri"/>
                <a:cs typeface="Calibri"/>
                <a:sym typeface="Calibri"/>
              </a:rPr>
              <a:t>RIGOR  /  REASSEMBLING THE ARCHITECTURE</a:t>
            </a:r>
            <a:endParaRPr>
              <a:latin typeface="Consolas"/>
            </a:endParaRPr>
          </a:p>
        </p:txBody>
      </p:sp>
      <p:sp>
        <p:nvSpPr>
          <p:cNvPr id="425" name="Google Shape;425;p12"/>
          <p:cNvSpPr txBox="1"/>
          <p:nvPr/>
        </p:nvSpPr>
        <p:spPr>
          <a:xfrm>
            <a:off x="512064" y="685800"/>
            <a:ext cx="10881360" cy="475488"/>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2900">
                <a:solidFill>
                  <a:srgbClr val="1F2328"/>
                </a:solidFill>
                <a:latin typeface="Cambria"/>
                <a:ea typeface="Calibri"/>
                <a:cs typeface="Calibri"/>
                <a:sym typeface="Calibri"/>
              </a:rPr>
              <a:t>1. Follow the foreign keys</a:t>
            </a:r>
            <a:endParaRPr/>
          </a:p>
        </p:txBody>
      </p:sp>
      <p:sp>
        <p:nvSpPr>
          <p:cNvPr id="426" name="Google Shape;426;p12"/>
          <p:cNvSpPr txBox="1"/>
          <p:nvPr/>
        </p:nvSpPr>
        <p:spPr>
          <a:xfrm>
            <a:off x="512064" y="1271016"/>
            <a:ext cx="10607040" cy="310896"/>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600">
                <a:solidFill>
                  <a:srgbClr val="3A434C"/>
                </a:solidFill>
                <a:latin typeface="Calibri"/>
                <a:ea typeface="Calibri"/>
                <a:cs typeface="Calibri"/>
                <a:sym typeface="Calibri"/>
              </a:rPr>
              <a:t>Paper Fig. 1(a)  ·  Start where the foreign-key dependencies begin.</a:t>
            </a:r>
            <a:endParaRPr/>
          </a:p>
        </p:txBody>
      </p:sp>
      <p:sp>
        <p:nvSpPr>
          <p:cNvPr id="427" name="Google Shape;427;p12"/>
          <p:cNvSpPr/>
          <p:nvPr/>
        </p:nvSpPr>
        <p:spPr>
          <a:xfrm>
            <a:off x="9692640" y="356616"/>
            <a:ext cx="274320" cy="64008"/>
          </a:xfrm>
          <a:prstGeom prst="rect">
            <a:avLst/>
          </a:prstGeom>
          <a:solidFill>
            <a:srgbClr val="0B6E4F"/>
          </a:solidFill>
          <a:ln cap="flat" cmpd="sng" w="9525">
            <a:solidFill>
              <a:srgbClr val="0B6E4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28" name="Google Shape;428;p12"/>
          <p:cNvSpPr/>
          <p:nvPr/>
        </p:nvSpPr>
        <p:spPr>
          <a:xfrm>
            <a:off x="10049256" y="356616"/>
            <a:ext cx="274320" cy="64008"/>
          </a:xfrm>
          <a:prstGeom prst="rect">
            <a:avLst/>
          </a:prstGeom>
          <a:solidFill>
            <a:srgbClr val="D3DAD6"/>
          </a:solidFill>
          <a:ln cap="flat" cmpd="sng" w="9525">
            <a:solidFill>
              <a:srgbClr val="D9DED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29" name="Google Shape;429;p12"/>
          <p:cNvSpPr/>
          <p:nvPr/>
        </p:nvSpPr>
        <p:spPr>
          <a:xfrm>
            <a:off x="10405872" y="356616"/>
            <a:ext cx="274320" cy="64008"/>
          </a:xfrm>
          <a:prstGeom prst="rect">
            <a:avLst/>
          </a:prstGeom>
          <a:solidFill>
            <a:srgbClr val="D3DAD6"/>
          </a:solidFill>
          <a:ln cap="flat" cmpd="sng" w="9525">
            <a:solidFill>
              <a:srgbClr val="D9DED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30" name="Google Shape;430;p12"/>
          <p:cNvSpPr/>
          <p:nvPr/>
        </p:nvSpPr>
        <p:spPr>
          <a:xfrm>
            <a:off x="10762488" y="356616"/>
            <a:ext cx="274320" cy="64008"/>
          </a:xfrm>
          <a:prstGeom prst="rect">
            <a:avLst/>
          </a:prstGeom>
          <a:solidFill>
            <a:srgbClr val="D3DAD6"/>
          </a:solidFill>
          <a:ln cap="flat" cmpd="sng" w="9525">
            <a:solidFill>
              <a:srgbClr val="D9DED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31" name="Google Shape;431;p12"/>
          <p:cNvSpPr/>
          <p:nvPr/>
        </p:nvSpPr>
        <p:spPr>
          <a:xfrm>
            <a:off x="11119104" y="356616"/>
            <a:ext cx="274320" cy="64008"/>
          </a:xfrm>
          <a:prstGeom prst="rect">
            <a:avLst/>
          </a:prstGeom>
          <a:solidFill>
            <a:srgbClr val="D3DAD6"/>
          </a:solidFill>
          <a:ln cap="flat" cmpd="sng" w="9525">
            <a:solidFill>
              <a:srgbClr val="D9DED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32" name="Google Shape;432;p12"/>
          <p:cNvSpPr/>
          <p:nvPr/>
        </p:nvSpPr>
        <p:spPr>
          <a:xfrm>
            <a:off x="11475720" y="356616"/>
            <a:ext cx="274320" cy="64008"/>
          </a:xfrm>
          <a:prstGeom prst="rect">
            <a:avLst/>
          </a:prstGeom>
          <a:solidFill>
            <a:srgbClr val="D3DAD6"/>
          </a:solidFill>
          <a:ln cap="flat" cmpd="sng" w="9525">
            <a:solidFill>
              <a:srgbClr val="D9DED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33" name="Google Shape;433;p12"/>
          <p:cNvSpPr/>
          <p:nvPr/>
        </p:nvSpPr>
        <p:spPr>
          <a:xfrm>
            <a:off x="438912" y="1792224"/>
            <a:ext cx="11301984" cy="4187952"/>
          </a:xfrm>
          <a:prstGeom prst="roundRect">
            <a:avLst>
              <a:gd fmla="val 16667" name="adj"/>
            </a:avLst>
          </a:prstGeom>
          <a:solidFill>
            <a:srgbClr val="FFFFFF"/>
          </a:solidFill>
          <a:ln cap="flat" cmpd="sng" w="12700">
            <a:solidFill>
              <a:srgbClr val="D9DED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34" name="Google Shape;434;p12"/>
          <p:cNvSpPr txBox="1"/>
          <p:nvPr/>
        </p:nvSpPr>
        <p:spPr>
          <a:xfrm>
            <a:off x="566928" y="6208776"/>
            <a:ext cx="10881360" cy="292608"/>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550">
                <a:solidFill>
                  <a:srgbClr val="1F2328"/>
                </a:solidFill>
                <a:latin typeface="Calibri"/>
                <a:ea typeface="Calibri"/>
                <a:cs typeface="Calibri"/>
                <a:sym typeface="Calibri"/>
              </a:rPr>
              <a:t>Recall slide 6  •  Parent tables must exist before their dependent tables are processed.</a:t>
            </a:r>
            <a:endParaRPr/>
          </a:p>
        </p:txBody>
      </p:sp>
      <p:sp>
        <p:nvSpPr>
          <p:cNvPr id="435" name="Google Shape;435;p12"/>
          <p:cNvSpPr txBox="1"/>
          <p:nvPr/>
        </p:nvSpPr>
        <p:spPr>
          <a:xfrm>
            <a:off x="10917936" y="6519672"/>
            <a:ext cx="804672" cy="18288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US" sz="1400">
                <a:solidFill>
                  <a:srgbClr val="3A434C"/>
                </a:solidFill>
                <a:latin typeface="Calibri"/>
                <a:ea typeface="Calibri"/>
                <a:cs typeface="Calibri"/>
                <a:sym typeface="Calibri"/>
              </a:rPr>
              <a:t>1 / 6</a:t>
            </a:r>
            <a:endParaRPr/>
          </a:p>
        </p:txBody>
      </p:sp>
      <p:cxnSp>
        <p:nvCxnSpPr>
          <p:cNvPr id="436" name="Google Shape;436;p12"/>
          <p:cNvCxnSpPr/>
          <p:nvPr/>
        </p:nvCxnSpPr>
        <p:spPr>
          <a:xfrm>
            <a:off x="1792224" y="3831336"/>
            <a:ext cx="164592" cy="0"/>
          </a:xfrm>
          <a:prstGeom prst="straightConnector1">
            <a:avLst/>
          </a:prstGeom>
          <a:noFill/>
          <a:ln cap="flat" cmpd="sng" w="38100">
            <a:solidFill>
              <a:srgbClr val="3A7D8C"/>
            </a:solidFill>
            <a:prstDash val="solid"/>
            <a:miter lim="8000"/>
            <a:headEnd len="sm" w="sm" type="none"/>
            <a:tailEnd len="sm" w="sm" type="none"/>
          </a:ln>
        </p:spPr>
      </p:cxnSp>
      <p:sp>
        <p:nvSpPr>
          <p:cNvPr id="437" name="Google Shape;437;p12"/>
          <p:cNvSpPr/>
          <p:nvPr/>
        </p:nvSpPr>
        <p:spPr>
          <a:xfrm rot="5400000">
            <a:off x="1892808" y="3767328"/>
            <a:ext cx="128016" cy="128016"/>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38" name="Google Shape;438;p12"/>
          <p:cNvSpPr/>
          <p:nvPr/>
        </p:nvSpPr>
        <p:spPr>
          <a:xfrm>
            <a:off x="621792" y="3282696"/>
            <a:ext cx="1170432" cy="1133856"/>
          </a:xfrm>
          <a:prstGeom prst="roundRect">
            <a:avLst>
              <a:gd fmla="val 16667" name="adj"/>
            </a:avLst>
          </a:prstGeom>
          <a:solidFill>
            <a:srgbClr val="FFFFFF"/>
          </a:solidFill>
          <a:ln cap="flat" cmpd="sng" w="25400">
            <a:solidFill>
              <a:srgbClr val="0B6E4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39" name="Google Shape;439;p12"/>
          <p:cNvSpPr/>
          <p:nvPr/>
        </p:nvSpPr>
        <p:spPr>
          <a:xfrm>
            <a:off x="740664" y="3447288"/>
            <a:ext cx="256032" cy="402336"/>
          </a:xfrm>
          <a:prstGeom prst="rect">
            <a:avLst/>
          </a:prstGeom>
          <a:solidFill>
            <a:srgbClr val="DDE5E1"/>
          </a:solidFill>
          <a:ln cap="flat" cmpd="sng" w="10150">
            <a:solidFill>
              <a:srgbClr val="177A5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440" name="Google Shape;440;p12"/>
          <p:cNvCxnSpPr/>
          <p:nvPr/>
        </p:nvCxnSpPr>
        <p:spPr>
          <a:xfrm>
            <a:off x="781812" y="3566160"/>
            <a:ext cx="169164" cy="0"/>
          </a:xfrm>
          <a:prstGeom prst="straightConnector1">
            <a:avLst/>
          </a:prstGeom>
          <a:noFill/>
          <a:ln cap="flat" cmpd="sng" w="9525">
            <a:solidFill>
              <a:srgbClr val="8E989E"/>
            </a:solidFill>
            <a:prstDash val="solid"/>
            <a:miter lim="8000"/>
            <a:headEnd len="sm" w="sm" type="none"/>
            <a:tailEnd len="sm" w="sm" type="none"/>
          </a:ln>
        </p:spPr>
      </p:cxnSp>
      <p:cxnSp>
        <p:nvCxnSpPr>
          <p:cNvPr id="441" name="Google Shape;441;p12"/>
          <p:cNvCxnSpPr/>
          <p:nvPr/>
        </p:nvCxnSpPr>
        <p:spPr>
          <a:xfrm>
            <a:off x="781812" y="3648456"/>
            <a:ext cx="169164" cy="0"/>
          </a:xfrm>
          <a:prstGeom prst="straightConnector1">
            <a:avLst/>
          </a:prstGeom>
          <a:noFill/>
          <a:ln cap="flat" cmpd="sng" w="9525">
            <a:solidFill>
              <a:srgbClr val="8E989E"/>
            </a:solidFill>
            <a:prstDash val="solid"/>
            <a:miter lim="8000"/>
            <a:headEnd len="sm" w="sm" type="none"/>
            <a:tailEnd len="sm" w="sm" type="none"/>
          </a:ln>
        </p:spPr>
      </p:cxnSp>
      <p:sp>
        <p:nvSpPr>
          <p:cNvPr id="442" name="Google Shape;442;p12"/>
          <p:cNvSpPr/>
          <p:nvPr/>
        </p:nvSpPr>
        <p:spPr>
          <a:xfrm>
            <a:off x="1051560" y="3447288"/>
            <a:ext cx="256032" cy="402336"/>
          </a:xfrm>
          <a:prstGeom prst="rect">
            <a:avLst/>
          </a:prstGeom>
          <a:solidFill>
            <a:srgbClr val="DDE5E1"/>
          </a:solidFill>
          <a:ln cap="flat" cmpd="sng" w="10150">
            <a:solidFill>
              <a:srgbClr val="177A5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443" name="Google Shape;443;p12"/>
          <p:cNvCxnSpPr/>
          <p:nvPr/>
        </p:nvCxnSpPr>
        <p:spPr>
          <a:xfrm>
            <a:off x="1092708" y="3566160"/>
            <a:ext cx="169164" cy="0"/>
          </a:xfrm>
          <a:prstGeom prst="straightConnector1">
            <a:avLst/>
          </a:prstGeom>
          <a:noFill/>
          <a:ln cap="flat" cmpd="sng" w="9525">
            <a:solidFill>
              <a:srgbClr val="8E989E"/>
            </a:solidFill>
            <a:prstDash val="solid"/>
            <a:miter lim="8000"/>
            <a:headEnd len="sm" w="sm" type="none"/>
            <a:tailEnd len="sm" w="sm" type="none"/>
          </a:ln>
        </p:spPr>
      </p:cxnSp>
      <p:cxnSp>
        <p:nvCxnSpPr>
          <p:cNvPr id="444" name="Google Shape;444;p12"/>
          <p:cNvCxnSpPr/>
          <p:nvPr/>
        </p:nvCxnSpPr>
        <p:spPr>
          <a:xfrm>
            <a:off x="1092708" y="3648456"/>
            <a:ext cx="169164" cy="0"/>
          </a:xfrm>
          <a:prstGeom prst="straightConnector1">
            <a:avLst/>
          </a:prstGeom>
          <a:noFill/>
          <a:ln cap="flat" cmpd="sng" w="9525">
            <a:solidFill>
              <a:srgbClr val="8E989E"/>
            </a:solidFill>
            <a:prstDash val="solid"/>
            <a:miter lim="8000"/>
            <a:headEnd len="sm" w="sm" type="none"/>
            <a:tailEnd len="sm" w="sm" type="none"/>
          </a:ln>
        </p:spPr>
      </p:cxnSp>
      <p:sp>
        <p:nvSpPr>
          <p:cNvPr id="445" name="Google Shape;445;p12"/>
          <p:cNvSpPr/>
          <p:nvPr/>
        </p:nvSpPr>
        <p:spPr>
          <a:xfrm>
            <a:off x="1362456" y="3447288"/>
            <a:ext cx="256032" cy="402336"/>
          </a:xfrm>
          <a:prstGeom prst="rect">
            <a:avLst/>
          </a:prstGeom>
          <a:solidFill>
            <a:srgbClr val="DDE5E1"/>
          </a:solidFill>
          <a:ln cap="flat" cmpd="sng" w="10150">
            <a:solidFill>
              <a:srgbClr val="177A5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446" name="Google Shape;446;p12"/>
          <p:cNvCxnSpPr/>
          <p:nvPr/>
        </p:nvCxnSpPr>
        <p:spPr>
          <a:xfrm>
            <a:off x="1403604" y="3566160"/>
            <a:ext cx="169164" cy="0"/>
          </a:xfrm>
          <a:prstGeom prst="straightConnector1">
            <a:avLst/>
          </a:prstGeom>
          <a:noFill/>
          <a:ln cap="flat" cmpd="sng" w="9525">
            <a:solidFill>
              <a:srgbClr val="8E989E"/>
            </a:solidFill>
            <a:prstDash val="solid"/>
            <a:miter lim="8000"/>
            <a:headEnd len="sm" w="sm" type="none"/>
            <a:tailEnd len="sm" w="sm" type="none"/>
          </a:ln>
        </p:spPr>
      </p:cxnSp>
      <p:cxnSp>
        <p:nvCxnSpPr>
          <p:cNvPr id="447" name="Google Shape;447;p12"/>
          <p:cNvCxnSpPr/>
          <p:nvPr/>
        </p:nvCxnSpPr>
        <p:spPr>
          <a:xfrm>
            <a:off x="1403604" y="3648456"/>
            <a:ext cx="169164" cy="0"/>
          </a:xfrm>
          <a:prstGeom prst="straightConnector1">
            <a:avLst/>
          </a:prstGeom>
          <a:noFill/>
          <a:ln cap="flat" cmpd="sng" w="9525">
            <a:solidFill>
              <a:srgbClr val="8E989E"/>
            </a:solidFill>
            <a:prstDash val="solid"/>
            <a:miter lim="8000"/>
            <a:headEnd len="sm" w="sm" type="none"/>
            <a:tailEnd len="sm" w="sm" type="none"/>
          </a:ln>
        </p:spPr>
      </p:cxnSp>
      <p:sp>
        <p:nvSpPr>
          <p:cNvPr id="448" name="Google Shape;448;p12"/>
          <p:cNvSpPr txBox="1"/>
          <p:nvPr/>
        </p:nvSpPr>
        <p:spPr>
          <a:xfrm>
            <a:off x="630936" y="3941063"/>
            <a:ext cx="1152144" cy="283464"/>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1400">
                <a:solidFill>
                  <a:srgbClr val="1F2328"/>
                </a:solidFill>
                <a:latin typeface="Calibri"/>
                <a:ea typeface="Calibri"/>
                <a:cs typeface="Calibri"/>
                <a:sym typeface="Calibri"/>
              </a:rPr>
              <a:t>Schema S</a:t>
            </a:r>
            <a:endParaRPr/>
          </a:p>
        </p:txBody>
      </p:sp>
      <p:sp>
        <p:nvSpPr>
          <p:cNvPr id="449" name="Google Shape;449;p12"/>
          <p:cNvSpPr txBox="1"/>
          <p:nvPr/>
        </p:nvSpPr>
        <p:spPr>
          <a:xfrm>
            <a:off x="1490472" y="3072384"/>
            <a:ext cx="384048" cy="228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0B6E4F"/>
                </a:solidFill>
                <a:latin typeface="Calibri"/>
                <a:ea typeface="Calibri"/>
                <a:cs typeface="Calibri"/>
                <a:sym typeface="Calibri"/>
              </a:rPr>
              <a:t>(a)</a:t>
            </a:r>
            <a:endParaRPr/>
          </a:p>
        </p:txBody>
      </p:sp>
      <p:sp>
        <p:nvSpPr>
          <p:cNvPr id="450" name="Google Shape;450;p12"/>
          <p:cNvSpPr/>
          <p:nvPr/>
        </p:nvSpPr>
        <p:spPr>
          <a:xfrm>
            <a:off x="1956816" y="3483864"/>
            <a:ext cx="1444752" cy="694944"/>
          </a:xfrm>
          <a:prstGeom prst="roundRect">
            <a:avLst>
              <a:gd fmla="val 16667" name="adj"/>
            </a:avLst>
          </a:prstGeom>
          <a:solidFill>
            <a:srgbClr val="DDE5E1"/>
          </a:solidFill>
          <a:ln cap="flat" cmpd="sng" w="29200">
            <a:solidFill>
              <a:srgbClr val="0B6E4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51" name="Google Shape;451;p12"/>
          <p:cNvSpPr txBox="1"/>
          <p:nvPr/>
        </p:nvSpPr>
        <p:spPr>
          <a:xfrm>
            <a:off x="2039112" y="3602736"/>
            <a:ext cx="1280160" cy="246888"/>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1550">
                <a:solidFill>
                  <a:srgbClr val="1F2328"/>
                </a:solidFill>
                <a:latin typeface="Calibri"/>
                <a:ea typeface="Calibri"/>
                <a:cs typeface="Calibri"/>
                <a:sym typeface="Calibri"/>
              </a:rPr>
              <a:t>Iterate</a:t>
            </a:r>
            <a:endParaRPr/>
          </a:p>
        </p:txBody>
      </p:sp>
      <p:sp>
        <p:nvSpPr>
          <p:cNvPr id="452" name="Google Shape;452;p12"/>
          <p:cNvSpPr txBox="1"/>
          <p:nvPr/>
        </p:nvSpPr>
        <p:spPr>
          <a:xfrm>
            <a:off x="2048256" y="3877056"/>
            <a:ext cx="1261872" cy="256032"/>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US" sz="1400">
                <a:solidFill>
                  <a:srgbClr val="3A434C"/>
                </a:solidFill>
                <a:latin typeface="Calibri"/>
                <a:ea typeface="Calibri"/>
                <a:cs typeface="Calibri"/>
                <a:sym typeface="Calibri"/>
              </a:rPr>
              <a:t>FK-BFS</a:t>
            </a:r>
            <a:endParaRPr/>
          </a:p>
        </p:txBody>
      </p:sp>
      <p:sp>
        <p:nvSpPr>
          <p:cNvPr id="453" name="Google Shape;453;p12"/>
          <p:cNvSpPr/>
          <p:nvPr/>
        </p:nvSpPr>
        <p:spPr>
          <a:xfrm>
            <a:off x="7059168" y="3118104"/>
            <a:ext cx="4114800" cy="1591056"/>
          </a:xfrm>
          <a:prstGeom prst="roundRect">
            <a:avLst>
              <a:gd fmla="val 16667" name="adj"/>
            </a:avLst>
          </a:prstGeom>
          <a:solidFill>
            <a:srgbClr val="E9EEEB"/>
          </a:solidFill>
          <a:ln cap="flat" cmpd="sng" w="20300">
            <a:solidFill>
              <a:srgbClr val="0B6E4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54" name="Google Shape;454;p12"/>
          <p:cNvSpPr txBox="1"/>
          <p:nvPr/>
        </p:nvSpPr>
        <p:spPr>
          <a:xfrm>
            <a:off x="7315200" y="3374136"/>
            <a:ext cx="3639312" cy="27432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700">
                <a:solidFill>
                  <a:srgbClr val="0B6E4F"/>
                </a:solidFill>
                <a:latin typeface="Calibri"/>
                <a:ea typeface="Calibri"/>
                <a:cs typeface="Calibri"/>
                <a:sym typeface="Calibri"/>
              </a:rPr>
              <a:t>WHY THIS ORDER?</a:t>
            </a:r>
            <a:endParaRPr/>
          </a:p>
        </p:txBody>
      </p:sp>
      <p:sp>
        <p:nvSpPr>
          <p:cNvPr id="455" name="Google Shape;455;p12"/>
          <p:cNvSpPr txBox="1"/>
          <p:nvPr/>
        </p:nvSpPr>
        <p:spPr>
          <a:xfrm>
            <a:off x="7315200" y="3730752"/>
            <a:ext cx="3657600" cy="71323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800">
                <a:solidFill>
                  <a:srgbClr val="1F2328"/>
                </a:solidFill>
                <a:latin typeface="Calibri"/>
                <a:ea typeface="Calibri"/>
                <a:cs typeface="Calibri"/>
                <a:sym typeface="Calibri"/>
              </a:rPr>
              <a:t>PatientData is processed before admission, so later generation can reuse an existing class.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0" name="Shape 460"/>
        <p:cNvGrpSpPr/>
        <p:nvPr/>
      </p:nvGrpSpPr>
      <p:grpSpPr>
        <a:xfrm>
          <a:off x="0" y="0"/>
          <a:ext cx="0" cy="0"/>
          <a:chOff x="0" y="0"/>
          <a:chExt cx="0" cy="0"/>
        </a:xfrm>
      </p:grpSpPr>
      <p:sp>
        <p:nvSpPr>
          <p:cNvPr id="461" name="Google Shape;461;p13"/>
          <p:cNvSpPr txBox="1"/>
          <p:nvPr/>
        </p:nvSpPr>
        <p:spPr>
          <a:xfrm>
            <a:off x="512064" y="320040"/>
            <a:ext cx="6675120" cy="30175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500">
                <a:solidFill>
                  <a:srgbClr val="0B6E4F"/>
                </a:solidFill>
                <a:latin typeface="Consolas"/>
                <a:ea typeface="Calibri"/>
                <a:cs typeface="Calibri"/>
                <a:sym typeface="Calibri"/>
              </a:rPr>
              <a:t>RIGOR  /  REASSEMBLING THE ARCHITECTURE</a:t>
            </a:r>
            <a:endParaRPr>
              <a:latin typeface="Consolas"/>
            </a:endParaRPr>
          </a:p>
        </p:txBody>
      </p:sp>
      <p:sp>
        <p:nvSpPr>
          <p:cNvPr id="462" name="Google Shape;462;p13"/>
          <p:cNvSpPr txBox="1"/>
          <p:nvPr/>
        </p:nvSpPr>
        <p:spPr>
          <a:xfrm>
            <a:off x="512064" y="685800"/>
            <a:ext cx="10881360" cy="475488"/>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2900">
                <a:solidFill>
                  <a:srgbClr val="1F2328"/>
                </a:solidFill>
                <a:latin typeface="Cambria"/>
                <a:ea typeface="Calibri"/>
                <a:cs typeface="Calibri"/>
                <a:sym typeface="Calibri"/>
              </a:rPr>
              <a:t>2. Anchor generation in the schema</a:t>
            </a:r>
            <a:endParaRPr/>
          </a:p>
        </p:txBody>
      </p:sp>
      <p:sp>
        <p:nvSpPr>
          <p:cNvPr id="463" name="Google Shape;463;p13"/>
          <p:cNvSpPr txBox="1"/>
          <p:nvPr/>
        </p:nvSpPr>
        <p:spPr>
          <a:xfrm>
            <a:off x="512064" y="1271016"/>
            <a:ext cx="10607040" cy="310896"/>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600">
                <a:solidFill>
                  <a:srgbClr val="3A434C"/>
                </a:solidFill>
                <a:latin typeface="Calibri"/>
                <a:ea typeface="Calibri"/>
                <a:cs typeface="Calibri"/>
                <a:sym typeface="Calibri"/>
              </a:rPr>
              <a:t>Paper Fig. 1(b)  ·  The schema-grounded branch feeds the generation step.</a:t>
            </a:r>
            <a:endParaRPr/>
          </a:p>
        </p:txBody>
      </p:sp>
      <p:sp>
        <p:nvSpPr>
          <p:cNvPr id="464" name="Google Shape;464;p13"/>
          <p:cNvSpPr/>
          <p:nvPr/>
        </p:nvSpPr>
        <p:spPr>
          <a:xfrm>
            <a:off x="9692640" y="356616"/>
            <a:ext cx="274320" cy="64008"/>
          </a:xfrm>
          <a:prstGeom prst="rect">
            <a:avLst/>
          </a:prstGeom>
          <a:solidFill>
            <a:srgbClr val="0B6E4F"/>
          </a:solidFill>
          <a:ln cap="flat" cmpd="sng" w="9525">
            <a:solidFill>
              <a:srgbClr val="0B6E4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65" name="Google Shape;465;p13"/>
          <p:cNvSpPr/>
          <p:nvPr/>
        </p:nvSpPr>
        <p:spPr>
          <a:xfrm>
            <a:off x="10049256" y="356616"/>
            <a:ext cx="274320" cy="64008"/>
          </a:xfrm>
          <a:prstGeom prst="rect">
            <a:avLst/>
          </a:prstGeom>
          <a:solidFill>
            <a:srgbClr val="0B6E4F"/>
          </a:solidFill>
          <a:ln cap="flat" cmpd="sng" w="9525">
            <a:solidFill>
              <a:srgbClr val="0B6E4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66" name="Google Shape;466;p13"/>
          <p:cNvSpPr/>
          <p:nvPr/>
        </p:nvSpPr>
        <p:spPr>
          <a:xfrm>
            <a:off x="10405872" y="356616"/>
            <a:ext cx="274320" cy="64008"/>
          </a:xfrm>
          <a:prstGeom prst="rect">
            <a:avLst/>
          </a:prstGeom>
          <a:solidFill>
            <a:srgbClr val="D3DAD6"/>
          </a:solidFill>
          <a:ln cap="flat" cmpd="sng" w="9525">
            <a:solidFill>
              <a:srgbClr val="D9DED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67" name="Google Shape;467;p13"/>
          <p:cNvSpPr/>
          <p:nvPr/>
        </p:nvSpPr>
        <p:spPr>
          <a:xfrm>
            <a:off x="10762488" y="356616"/>
            <a:ext cx="274320" cy="64008"/>
          </a:xfrm>
          <a:prstGeom prst="rect">
            <a:avLst/>
          </a:prstGeom>
          <a:solidFill>
            <a:srgbClr val="D3DAD6"/>
          </a:solidFill>
          <a:ln cap="flat" cmpd="sng" w="9525">
            <a:solidFill>
              <a:srgbClr val="D9DED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68" name="Google Shape;468;p13"/>
          <p:cNvSpPr/>
          <p:nvPr/>
        </p:nvSpPr>
        <p:spPr>
          <a:xfrm>
            <a:off x="11119104" y="356616"/>
            <a:ext cx="274320" cy="64008"/>
          </a:xfrm>
          <a:prstGeom prst="rect">
            <a:avLst/>
          </a:prstGeom>
          <a:solidFill>
            <a:srgbClr val="D3DAD6"/>
          </a:solidFill>
          <a:ln cap="flat" cmpd="sng" w="9525">
            <a:solidFill>
              <a:srgbClr val="D9DED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69" name="Google Shape;469;p13"/>
          <p:cNvSpPr/>
          <p:nvPr/>
        </p:nvSpPr>
        <p:spPr>
          <a:xfrm>
            <a:off x="11475720" y="356616"/>
            <a:ext cx="274320" cy="64008"/>
          </a:xfrm>
          <a:prstGeom prst="rect">
            <a:avLst/>
          </a:prstGeom>
          <a:solidFill>
            <a:srgbClr val="D3DAD6"/>
          </a:solidFill>
          <a:ln cap="flat" cmpd="sng" w="9525">
            <a:solidFill>
              <a:srgbClr val="D9DED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70" name="Google Shape;470;p13"/>
          <p:cNvSpPr/>
          <p:nvPr/>
        </p:nvSpPr>
        <p:spPr>
          <a:xfrm>
            <a:off x="438912" y="1792224"/>
            <a:ext cx="11301984" cy="4187952"/>
          </a:xfrm>
          <a:prstGeom prst="roundRect">
            <a:avLst>
              <a:gd fmla="val 16667" name="adj"/>
            </a:avLst>
          </a:prstGeom>
          <a:solidFill>
            <a:srgbClr val="FFFFFF"/>
          </a:solidFill>
          <a:ln cap="flat" cmpd="sng" w="12700">
            <a:solidFill>
              <a:srgbClr val="D9DED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71" name="Google Shape;471;p13"/>
          <p:cNvSpPr txBox="1"/>
          <p:nvPr/>
        </p:nvSpPr>
        <p:spPr>
          <a:xfrm>
            <a:off x="566928" y="6208776"/>
            <a:ext cx="10881360" cy="292608"/>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550">
                <a:solidFill>
                  <a:srgbClr val="1F2328"/>
                </a:solidFill>
                <a:latin typeface="Calibri"/>
                <a:ea typeface="Calibri"/>
                <a:cs typeface="Calibri"/>
                <a:sym typeface="Calibri"/>
              </a:rPr>
              <a:t>Recall slide 7  •  The deterministic seed covers the cleaned table before LLM enrichment.</a:t>
            </a:r>
            <a:endParaRPr/>
          </a:p>
        </p:txBody>
      </p:sp>
      <p:sp>
        <p:nvSpPr>
          <p:cNvPr id="472" name="Google Shape;472;p13"/>
          <p:cNvSpPr txBox="1"/>
          <p:nvPr/>
        </p:nvSpPr>
        <p:spPr>
          <a:xfrm>
            <a:off x="10917936" y="6519672"/>
            <a:ext cx="804672" cy="18288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US" sz="1400">
                <a:solidFill>
                  <a:srgbClr val="3A434C"/>
                </a:solidFill>
                <a:latin typeface="Calibri"/>
                <a:ea typeface="Calibri"/>
                <a:cs typeface="Calibri"/>
                <a:sym typeface="Calibri"/>
              </a:rPr>
              <a:t>2 / 6</a:t>
            </a:r>
            <a:endParaRPr/>
          </a:p>
        </p:txBody>
      </p:sp>
      <p:cxnSp>
        <p:nvCxnSpPr>
          <p:cNvPr id="473" name="Google Shape;473;p13"/>
          <p:cNvCxnSpPr/>
          <p:nvPr/>
        </p:nvCxnSpPr>
        <p:spPr>
          <a:xfrm>
            <a:off x="1792224" y="3831336"/>
            <a:ext cx="164592" cy="0"/>
          </a:xfrm>
          <a:prstGeom prst="straightConnector1">
            <a:avLst/>
          </a:prstGeom>
          <a:noFill/>
          <a:ln cap="flat" cmpd="sng" w="38100">
            <a:solidFill>
              <a:srgbClr val="3A7D8C"/>
            </a:solidFill>
            <a:prstDash val="solid"/>
            <a:miter lim="8000"/>
            <a:headEnd len="sm" w="sm" type="none"/>
            <a:tailEnd len="sm" w="sm" type="none"/>
          </a:ln>
        </p:spPr>
      </p:cxnSp>
      <p:sp>
        <p:nvSpPr>
          <p:cNvPr id="474" name="Google Shape;474;p13"/>
          <p:cNvSpPr/>
          <p:nvPr/>
        </p:nvSpPr>
        <p:spPr>
          <a:xfrm rot="5400000">
            <a:off x="1892808" y="3767328"/>
            <a:ext cx="128016" cy="128016"/>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475" name="Google Shape;475;p13"/>
          <p:cNvCxnSpPr/>
          <p:nvPr/>
        </p:nvCxnSpPr>
        <p:spPr>
          <a:xfrm>
            <a:off x="3401568" y="3794760"/>
            <a:ext cx="100584" cy="0"/>
          </a:xfrm>
          <a:prstGeom prst="straightConnector1">
            <a:avLst/>
          </a:prstGeom>
          <a:noFill/>
          <a:ln cap="flat" cmpd="sng" w="29200">
            <a:solidFill>
              <a:srgbClr val="3A7D8C"/>
            </a:solidFill>
            <a:prstDash val="solid"/>
            <a:miter lim="8000"/>
            <a:headEnd len="sm" w="sm" type="none"/>
            <a:tailEnd len="sm" w="sm" type="none"/>
          </a:ln>
        </p:spPr>
      </p:cxnSp>
      <p:cxnSp>
        <p:nvCxnSpPr>
          <p:cNvPr id="476" name="Google Shape;476;p13"/>
          <p:cNvCxnSpPr/>
          <p:nvPr/>
        </p:nvCxnSpPr>
        <p:spPr>
          <a:xfrm rot="10800000">
            <a:off x="3502152" y="2523744"/>
            <a:ext cx="0" cy="1271016"/>
          </a:xfrm>
          <a:prstGeom prst="straightConnector1">
            <a:avLst/>
          </a:prstGeom>
          <a:noFill/>
          <a:ln cap="flat" cmpd="sng" w="29200">
            <a:solidFill>
              <a:srgbClr val="3A7D8C"/>
            </a:solidFill>
            <a:prstDash val="solid"/>
            <a:miter lim="8000"/>
            <a:headEnd len="sm" w="sm" type="none"/>
            <a:tailEnd len="sm" w="sm" type="none"/>
          </a:ln>
        </p:spPr>
      </p:cxnSp>
      <p:cxnSp>
        <p:nvCxnSpPr>
          <p:cNvPr id="477" name="Google Shape;477;p13"/>
          <p:cNvCxnSpPr/>
          <p:nvPr/>
        </p:nvCxnSpPr>
        <p:spPr>
          <a:xfrm>
            <a:off x="3502152" y="2523744"/>
            <a:ext cx="265176" cy="0"/>
          </a:xfrm>
          <a:prstGeom prst="straightConnector1">
            <a:avLst/>
          </a:prstGeom>
          <a:noFill/>
          <a:ln cap="flat" cmpd="sng" w="29200">
            <a:solidFill>
              <a:srgbClr val="3A7D8C"/>
            </a:solidFill>
            <a:prstDash val="solid"/>
            <a:miter lim="8000"/>
            <a:headEnd len="sm" w="sm" type="none"/>
            <a:tailEnd len="sm" w="sm" type="none"/>
          </a:ln>
        </p:spPr>
      </p:cxnSp>
      <p:sp>
        <p:nvSpPr>
          <p:cNvPr id="478" name="Google Shape;478;p13"/>
          <p:cNvSpPr/>
          <p:nvPr/>
        </p:nvSpPr>
        <p:spPr>
          <a:xfrm rot="5400000">
            <a:off x="3703320" y="2459736"/>
            <a:ext cx="128016" cy="128016"/>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79" name="Google Shape;479;p13"/>
          <p:cNvSpPr/>
          <p:nvPr/>
        </p:nvSpPr>
        <p:spPr>
          <a:xfrm>
            <a:off x="621792" y="3282696"/>
            <a:ext cx="1170432" cy="1133856"/>
          </a:xfrm>
          <a:prstGeom prst="roundRect">
            <a:avLst>
              <a:gd fmla="val 16667" name="adj"/>
            </a:avLst>
          </a:prstGeom>
          <a:solidFill>
            <a:srgbClr val="FFFFFF"/>
          </a:solidFill>
          <a:ln cap="flat" cmpd="sng" w="15225">
            <a:solidFill>
              <a:srgbClr val="D9DED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80" name="Google Shape;480;p13"/>
          <p:cNvSpPr/>
          <p:nvPr/>
        </p:nvSpPr>
        <p:spPr>
          <a:xfrm>
            <a:off x="740664" y="3447288"/>
            <a:ext cx="256032" cy="402336"/>
          </a:xfrm>
          <a:prstGeom prst="rect">
            <a:avLst/>
          </a:prstGeom>
          <a:solidFill>
            <a:srgbClr val="DDE5E1"/>
          </a:solidFill>
          <a:ln cap="flat" cmpd="sng" w="10150">
            <a:solidFill>
              <a:srgbClr val="177A5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481" name="Google Shape;481;p13"/>
          <p:cNvCxnSpPr/>
          <p:nvPr/>
        </p:nvCxnSpPr>
        <p:spPr>
          <a:xfrm>
            <a:off x="781812" y="3566160"/>
            <a:ext cx="169164" cy="0"/>
          </a:xfrm>
          <a:prstGeom prst="straightConnector1">
            <a:avLst/>
          </a:prstGeom>
          <a:noFill/>
          <a:ln cap="flat" cmpd="sng" w="9525">
            <a:solidFill>
              <a:srgbClr val="8E989E"/>
            </a:solidFill>
            <a:prstDash val="solid"/>
            <a:miter lim="8000"/>
            <a:headEnd len="sm" w="sm" type="none"/>
            <a:tailEnd len="sm" w="sm" type="none"/>
          </a:ln>
        </p:spPr>
      </p:cxnSp>
      <p:cxnSp>
        <p:nvCxnSpPr>
          <p:cNvPr id="482" name="Google Shape;482;p13"/>
          <p:cNvCxnSpPr/>
          <p:nvPr/>
        </p:nvCxnSpPr>
        <p:spPr>
          <a:xfrm>
            <a:off x="781812" y="3648456"/>
            <a:ext cx="169164" cy="0"/>
          </a:xfrm>
          <a:prstGeom prst="straightConnector1">
            <a:avLst/>
          </a:prstGeom>
          <a:noFill/>
          <a:ln cap="flat" cmpd="sng" w="9525">
            <a:solidFill>
              <a:srgbClr val="8E989E"/>
            </a:solidFill>
            <a:prstDash val="solid"/>
            <a:miter lim="8000"/>
            <a:headEnd len="sm" w="sm" type="none"/>
            <a:tailEnd len="sm" w="sm" type="none"/>
          </a:ln>
        </p:spPr>
      </p:cxnSp>
      <p:sp>
        <p:nvSpPr>
          <p:cNvPr id="483" name="Google Shape;483;p13"/>
          <p:cNvSpPr/>
          <p:nvPr/>
        </p:nvSpPr>
        <p:spPr>
          <a:xfrm>
            <a:off x="1051560" y="3447288"/>
            <a:ext cx="256032" cy="402336"/>
          </a:xfrm>
          <a:prstGeom prst="rect">
            <a:avLst/>
          </a:prstGeom>
          <a:solidFill>
            <a:srgbClr val="DDE5E1"/>
          </a:solidFill>
          <a:ln cap="flat" cmpd="sng" w="10150">
            <a:solidFill>
              <a:srgbClr val="177A5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484" name="Google Shape;484;p13"/>
          <p:cNvCxnSpPr/>
          <p:nvPr/>
        </p:nvCxnSpPr>
        <p:spPr>
          <a:xfrm>
            <a:off x="1092708" y="3566160"/>
            <a:ext cx="169164" cy="0"/>
          </a:xfrm>
          <a:prstGeom prst="straightConnector1">
            <a:avLst/>
          </a:prstGeom>
          <a:noFill/>
          <a:ln cap="flat" cmpd="sng" w="9525">
            <a:solidFill>
              <a:srgbClr val="8E989E"/>
            </a:solidFill>
            <a:prstDash val="solid"/>
            <a:miter lim="8000"/>
            <a:headEnd len="sm" w="sm" type="none"/>
            <a:tailEnd len="sm" w="sm" type="none"/>
          </a:ln>
        </p:spPr>
      </p:cxnSp>
      <p:cxnSp>
        <p:nvCxnSpPr>
          <p:cNvPr id="485" name="Google Shape;485;p13"/>
          <p:cNvCxnSpPr/>
          <p:nvPr/>
        </p:nvCxnSpPr>
        <p:spPr>
          <a:xfrm>
            <a:off x="1092708" y="3648456"/>
            <a:ext cx="169164" cy="0"/>
          </a:xfrm>
          <a:prstGeom prst="straightConnector1">
            <a:avLst/>
          </a:prstGeom>
          <a:noFill/>
          <a:ln cap="flat" cmpd="sng" w="9525">
            <a:solidFill>
              <a:srgbClr val="8E989E"/>
            </a:solidFill>
            <a:prstDash val="solid"/>
            <a:miter lim="8000"/>
            <a:headEnd len="sm" w="sm" type="none"/>
            <a:tailEnd len="sm" w="sm" type="none"/>
          </a:ln>
        </p:spPr>
      </p:cxnSp>
      <p:sp>
        <p:nvSpPr>
          <p:cNvPr id="486" name="Google Shape;486;p13"/>
          <p:cNvSpPr/>
          <p:nvPr/>
        </p:nvSpPr>
        <p:spPr>
          <a:xfrm>
            <a:off x="1362456" y="3447288"/>
            <a:ext cx="256032" cy="402336"/>
          </a:xfrm>
          <a:prstGeom prst="rect">
            <a:avLst/>
          </a:prstGeom>
          <a:solidFill>
            <a:srgbClr val="DDE5E1"/>
          </a:solidFill>
          <a:ln cap="flat" cmpd="sng" w="10150">
            <a:solidFill>
              <a:srgbClr val="177A5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487" name="Google Shape;487;p13"/>
          <p:cNvCxnSpPr/>
          <p:nvPr/>
        </p:nvCxnSpPr>
        <p:spPr>
          <a:xfrm>
            <a:off x="1403604" y="3566160"/>
            <a:ext cx="169164" cy="0"/>
          </a:xfrm>
          <a:prstGeom prst="straightConnector1">
            <a:avLst/>
          </a:prstGeom>
          <a:noFill/>
          <a:ln cap="flat" cmpd="sng" w="9525">
            <a:solidFill>
              <a:srgbClr val="8E989E"/>
            </a:solidFill>
            <a:prstDash val="solid"/>
            <a:miter lim="8000"/>
            <a:headEnd len="sm" w="sm" type="none"/>
            <a:tailEnd len="sm" w="sm" type="none"/>
          </a:ln>
        </p:spPr>
      </p:cxnSp>
      <p:cxnSp>
        <p:nvCxnSpPr>
          <p:cNvPr id="488" name="Google Shape;488;p13"/>
          <p:cNvCxnSpPr/>
          <p:nvPr/>
        </p:nvCxnSpPr>
        <p:spPr>
          <a:xfrm>
            <a:off x="1403604" y="3648456"/>
            <a:ext cx="169164" cy="0"/>
          </a:xfrm>
          <a:prstGeom prst="straightConnector1">
            <a:avLst/>
          </a:prstGeom>
          <a:noFill/>
          <a:ln cap="flat" cmpd="sng" w="9525">
            <a:solidFill>
              <a:srgbClr val="8E989E"/>
            </a:solidFill>
            <a:prstDash val="solid"/>
            <a:miter lim="8000"/>
            <a:headEnd len="sm" w="sm" type="none"/>
            <a:tailEnd len="sm" w="sm" type="none"/>
          </a:ln>
        </p:spPr>
      </p:cxnSp>
      <p:sp>
        <p:nvSpPr>
          <p:cNvPr id="489" name="Google Shape;489;p13"/>
          <p:cNvSpPr txBox="1"/>
          <p:nvPr/>
        </p:nvSpPr>
        <p:spPr>
          <a:xfrm>
            <a:off x="630936" y="3941063"/>
            <a:ext cx="1152144" cy="283464"/>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1400">
                <a:solidFill>
                  <a:srgbClr val="1F2328"/>
                </a:solidFill>
                <a:latin typeface="Calibri"/>
                <a:ea typeface="Calibri"/>
                <a:cs typeface="Calibri"/>
                <a:sym typeface="Calibri"/>
              </a:rPr>
              <a:t>Schema S</a:t>
            </a:r>
            <a:endParaRPr/>
          </a:p>
        </p:txBody>
      </p:sp>
      <p:sp>
        <p:nvSpPr>
          <p:cNvPr id="490" name="Google Shape;490;p13"/>
          <p:cNvSpPr txBox="1"/>
          <p:nvPr/>
        </p:nvSpPr>
        <p:spPr>
          <a:xfrm>
            <a:off x="1490472" y="3072384"/>
            <a:ext cx="384048" cy="228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3A434C"/>
                </a:solidFill>
                <a:latin typeface="Calibri"/>
                <a:ea typeface="Calibri"/>
                <a:cs typeface="Calibri"/>
                <a:sym typeface="Calibri"/>
              </a:rPr>
              <a:t>(a)</a:t>
            </a:r>
            <a:endParaRPr/>
          </a:p>
        </p:txBody>
      </p:sp>
      <p:sp>
        <p:nvSpPr>
          <p:cNvPr id="491" name="Google Shape;491;p13"/>
          <p:cNvSpPr/>
          <p:nvPr/>
        </p:nvSpPr>
        <p:spPr>
          <a:xfrm>
            <a:off x="1956816" y="3483864"/>
            <a:ext cx="1444752" cy="694944"/>
          </a:xfrm>
          <a:prstGeom prst="roundRect">
            <a:avLst>
              <a:gd fmla="val 16667" name="adj"/>
            </a:avLst>
          </a:prstGeom>
          <a:solidFill>
            <a:srgbClr val="F3F5F4"/>
          </a:solidFill>
          <a:ln cap="flat" cmpd="sng" w="16500">
            <a:solidFill>
              <a:srgbClr val="3A7D8C"/>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92" name="Google Shape;492;p13"/>
          <p:cNvSpPr txBox="1"/>
          <p:nvPr/>
        </p:nvSpPr>
        <p:spPr>
          <a:xfrm>
            <a:off x="2039112" y="3602736"/>
            <a:ext cx="1280160" cy="246888"/>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1550">
                <a:solidFill>
                  <a:srgbClr val="1F2328"/>
                </a:solidFill>
                <a:latin typeface="Calibri"/>
                <a:ea typeface="Calibri"/>
                <a:cs typeface="Calibri"/>
                <a:sym typeface="Calibri"/>
              </a:rPr>
              <a:t>Iterate</a:t>
            </a:r>
            <a:endParaRPr/>
          </a:p>
        </p:txBody>
      </p:sp>
      <p:sp>
        <p:nvSpPr>
          <p:cNvPr id="493" name="Google Shape;493;p13"/>
          <p:cNvSpPr txBox="1"/>
          <p:nvPr/>
        </p:nvSpPr>
        <p:spPr>
          <a:xfrm>
            <a:off x="2048256" y="3877056"/>
            <a:ext cx="1261872" cy="256032"/>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US" sz="1400">
                <a:solidFill>
                  <a:srgbClr val="3A434C"/>
                </a:solidFill>
                <a:latin typeface="Calibri"/>
                <a:ea typeface="Calibri"/>
                <a:cs typeface="Calibri"/>
                <a:sym typeface="Calibri"/>
              </a:rPr>
              <a:t>FK-BFS</a:t>
            </a:r>
            <a:endParaRPr/>
          </a:p>
        </p:txBody>
      </p:sp>
      <p:sp>
        <p:nvSpPr>
          <p:cNvPr id="494" name="Google Shape;494;p13"/>
          <p:cNvSpPr/>
          <p:nvPr/>
        </p:nvSpPr>
        <p:spPr>
          <a:xfrm>
            <a:off x="3776472" y="2148840"/>
            <a:ext cx="2103120" cy="758952"/>
          </a:xfrm>
          <a:prstGeom prst="roundRect">
            <a:avLst>
              <a:gd fmla="val 16667" name="adj"/>
            </a:avLst>
          </a:prstGeom>
          <a:solidFill>
            <a:srgbClr val="DDE5E1"/>
          </a:solidFill>
          <a:ln cap="flat" cmpd="sng" w="29200">
            <a:solidFill>
              <a:srgbClr val="0B6E4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95" name="Google Shape;495;p13"/>
          <p:cNvSpPr txBox="1"/>
          <p:nvPr/>
        </p:nvSpPr>
        <p:spPr>
          <a:xfrm>
            <a:off x="3849624" y="1938528"/>
            <a:ext cx="384048" cy="228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0B6E4F"/>
                </a:solidFill>
                <a:latin typeface="Calibri"/>
                <a:ea typeface="Calibri"/>
                <a:cs typeface="Calibri"/>
                <a:sym typeface="Calibri"/>
              </a:rPr>
              <a:t>(b)</a:t>
            </a:r>
            <a:endParaRPr/>
          </a:p>
        </p:txBody>
      </p:sp>
      <p:sp>
        <p:nvSpPr>
          <p:cNvPr id="496" name="Google Shape;496;p13"/>
          <p:cNvSpPr txBox="1"/>
          <p:nvPr/>
        </p:nvSpPr>
        <p:spPr>
          <a:xfrm>
            <a:off x="3858768" y="2267712"/>
            <a:ext cx="1938527" cy="246888"/>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1550">
                <a:solidFill>
                  <a:srgbClr val="1F2328"/>
                </a:solidFill>
                <a:latin typeface="Calibri"/>
                <a:ea typeface="Calibri"/>
                <a:cs typeface="Calibri"/>
                <a:sym typeface="Calibri"/>
              </a:rPr>
              <a:t>Direct mapping</a:t>
            </a:r>
            <a:endParaRPr/>
          </a:p>
        </p:txBody>
      </p:sp>
      <p:sp>
        <p:nvSpPr>
          <p:cNvPr id="497" name="Google Shape;497;p13"/>
          <p:cNvSpPr txBox="1"/>
          <p:nvPr/>
        </p:nvSpPr>
        <p:spPr>
          <a:xfrm>
            <a:off x="3867911" y="2542032"/>
            <a:ext cx="1920239" cy="32004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US" sz="1400">
                <a:solidFill>
                  <a:srgbClr val="3A434C"/>
                </a:solidFill>
                <a:latin typeface="Calibri"/>
                <a:ea typeface="Calibri"/>
                <a:cs typeface="Calibri"/>
                <a:sym typeface="Calibri"/>
              </a:rPr>
              <a:t>OWL seed DMᵣ</a:t>
            </a:r>
            <a:endParaRPr/>
          </a:p>
        </p:txBody>
      </p:sp>
      <p:sp>
        <p:nvSpPr>
          <p:cNvPr id="498" name="Google Shape;498;p13"/>
          <p:cNvSpPr/>
          <p:nvPr/>
        </p:nvSpPr>
        <p:spPr>
          <a:xfrm>
            <a:off x="7059168" y="3118104"/>
            <a:ext cx="4114800" cy="1591056"/>
          </a:xfrm>
          <a:prstGeom prst="roundRect">
            <a:avLst>
              <a:gd fmla="val 16667" name="adj"/>
            </a:avLst>
          </a:prstGeom>
          <a:solidFill>
            <a:srgbClr val="E9EEEB"/>
          </a:solidFill>
          <a:ln cap="flat" cmpd="sng" w="20300">
            <a:solidFill>
              <a:srgbClr val="0B6E4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99" name="Google Shape;499;p13"/>
          <p:cNvSpPr txBox="1"/>
          <p:nvPr/>
        </p:nvSpPr>
        <p:spPr>
          <a:xfrm>
            <a:off x="7315200" y="3355848"/>
            <a:ext cx="3611880" cy="237744"/>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800">
                <a:solidFill>
                  <a:srgbClr val="0B6E4F"/>
                </a:solidFill>
                <a:latin typeface="Calibri"/>
                <a:ea typeface="Calibri"/>
                <a:cs typeface="Calibri"/>
                <a:sym typeface="Calibri"/>
              </a:rPr>
              <a:t>WHY SEED FIRST?</a:t>
            </a:r>
            <a:endParaRPr/>
          </a:p>
        </p:txBody>
      </p:sp>
      <p:sp>
        <p:nvSpPr>
          <p:cNvPr id="500" name="Google Shape;500;p13"/>
          <p:cNvSpPr txBox="1"/>
          <p:nvPr/>
        </p:nvSpPr>
        <p:spPr>
          <a:xfrm>
            <a:off x="7315200" y="3721608"/>
            <a:ext cx="3593592" cy="75895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700">
                <a:solidFill>
                  <a:srgbClr val="1F2328"/>
                </a:solidFill>
                <a:latin typeface="Calibri"/>
                <a:ea typeface="Calibri"/>
                <a:cs typeface="Calibri"/>
                <a:sym typeface="Calibri"/>
              </a:rPr>
              <a:t>Tables, columns and foreign keys are represented before semantic enrichment.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5" name="Shape 505"/>
        <p:cNvGrpSpPr/>
        <p:nvPr/>
      </p:nvGrpSpPr>
      <p:grpSpPr>
        <a:xfrm>
          <a:off x="0" y="0"/>
          <a:ext cx="0" cy="0"/>
          <a:chOff x="0" y="0"/>
          <a:chExt cx="0" cy="0"/>
        </a:xfrm>
      </p:grpSpPr>
      <p:sp>
        <p:nvSpPr>
          <p:cNvPr id="506" name="Google Shape;506;p14"/>
          <p:cNvSpPr txBox="1"/>
          <p:nvPr/>
        </p:nvSpPr>
        <p:spPr>
          <a:xfrm>
            <a:off x="512064" y="320040"/>
            <a:ext cx="6675120" cy="30175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500">
                <a:solidFill>
                  <a:srgbClr val="0B6E4F"/>
                </a:solidFill>
                <a:latin typeface="Consolas"/>
                <a:ea typeface="Calibri"/>
                <a:cs typeface="Calibri"/>
                <a:sym typeface="Calibri"/>
              </a:rPr>
              <a:t>RIGOR  /  REASSEMBLING THE ARCHITECTURE</a:t>
            </a:r>
            <a:endParaRPr>
              <a:latin typeface="Consolas"/>
            </a:endParaRPr>
          </a:p>
        </p:txBody>
      </p:sp>
      <p:sp>
        <p:nvSpPr>
          <p:cNvPr id="507" name="Google Shape;507;p14"/>
          <p:cNvSpPr txBox="1"/>
          <p:nvPr/>
        </p:nvSpPr>
        <p:spPr>
          <a:xfrm>
            <a:off x="512064" y="685800"/>
            <a:ext cx="10881360" cy="475488"/>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2900">
                <a:solidFill>
                  <a:srgbClr val="1F2328"/>
                </a:solidFill>
                <a:latin typeface="Cambria"/>
                <a:ea typeface="Calibri"/>
                <a:cs typeface="Calibri"/>
                <a:sym typeface="Calibri"/>
              </a:rPr>
              <a:t>3. Retrieve the missing semantics</a:t>
            </a:r>
            <a:endParaRPr/>
          </a:p>
        </p:txBody>
      </p:sp>
      <p:sp>
        <p:nvSpPr>
          <p:cNvPr id="508" name="Google Shape;508;p14"/>
          <p:cNvSpPr txBox="1"/>
          <p:nvPr/>
        </p:nvSpPr>
        <p:spPr>
          <a:xfrm>
            <a:off x="512064" y="1271016"/>
            <a:ext cx="10607040" cy="310896"/>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600">
                <a:solidFill>
                  <a:srgbClr val="3A434C"/>
                </a:solidFill>
                <a:latin typeface="Calibri"/>
                <a:ea typeface="Calibri"/>
                <a:cs typeface="Calibri"/>
                <a:sym typeface="Calibri"/>
              </a:rPr>
              <a:t>Paper Fig. 1(c–e)  ·  Context is retrieved independently from three sources.</a:t>
            </a:r>
            <a:endParaRPr/>
          </a:p>
        </p:txBody>
      </p:sp>
      <p:sp>
        <p:nvSpPr>
          <p:cNvPr id="509" name="Google Shape;509;p14"/>
          <p:cNvSpPr/>
          <p:nvPr/>
        </p:nvSpPr>
        <p:spPr>
          <a:xfrm>
            <a:off x="9692640" y="356616"/>
            <a:ext cx="274320" cy="64008"/>
          </a:xfrm>
          <a:prstGeom prst="rect">
            <a:avLst/>
          </a:prstGeom>
          <a:solidFill>
            <a:srgbClr val="0B6E4F"/>
          </a:solidFill>
          <a:ln cap="flat" cmpd="sng" w="9525">
            <a:solidFill>
              <a:srgbClr val="0B6E4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10" name="Google Shape;510;p14"/>
          <p:cNvSpPr/>
          <p:nvPr/>
        </p:nvSpPr>
        <p:spPr>
          <a:xfrm>
            <a:off x="10049256" y="356616"/>
            <a:ext cx="274320" cy="64008"/>
          </a:xfrm>
          <a:prstGeom prst="rect">
            <a:avLst/>
          </a:prstGeom>
          <a:solidFill>
            <a:srgbClr val="0B6E4F"/>
          </a:solidFill>
          <a:ln cap="flat" cmpd="sng" w="9525">
            <a:solidFill>
              <a:srgbClr val="0B6E4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11" name="Google Shape;511;p14"/>
          <p:cNvSpPr/>
          <p:nvPr/>
        </p:nvSpPr>
        <p:spPr>
          <a:xfrm>
            <a:off x="10405872" y="356616"/>
            <a:ext cx="274320" cy="64008"/>
          </a:xfrm>
          <a:prstGeom prst="rect">
            <a:avLst/>
          </a:prstGeom>
          <a:solidFill>
            <a:srgbClr val="0B6E4F"/>
          </a:solidFill>
          <a:ln cap="flat" cmpd="sng" w="9525">
            <a:solidFill>
              <a:srgbClr val="0B6E4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12" name="Google Shape;512;p14"/>
          <p:cNvSpPr/>
          <p:nvPr/>
        </p:nvSpPr>
        <p:spPr>
          <a:xfrm>
            <a:off x="10762488" y="356616"/>
            <a:ext cx="274320" cy="64008"/>
          </a:xfrm>
          <a:prstGeom prst="rect">
            <a:avLst/>
          </a:prstGeom>
          <a:solidFill>
            <a:srgbClr val="D3DAD6"/>
          </a:solidFill>
          <a:ln cap="flat" cmpd="sng" w="9525">
            <a:solidFill>
              <a:srgbClr val="D9DED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13" name="Google Shape;513;p14"/>
          <p:cNvSpPr/>
          <p:nvPr/>
        </p:nvSpPr>
        <p:spPr>
          <a:xfrm>
            <a:off x="11119104" y="356616"/>
            <a:ext cx="274320" cy="64008"/>
          </a:xfrm>
          <a:prstGeom prst="rect">
            <a:avLst/>
          </a:prstGeom>
          <a:solidFill>
            <a:srgbClr val="D3DAD6"/>
          </a:solidFill>
          <a:ln cap="flat" cmpd="sng" w="9525">
            <a:solidFill>
              <a:srgbClr val="D9DED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14" name="Google Shape;514;p14"/>
          <p:cNvSpPr/>
          <p:nvPr/>
        </p:nvSpPr>
        <p:spPr>
          <a:xfrm>
            <a:off x="11475720" y="356616"/>
            <a:ext cx="274320" cy="64008"/>
          </a:xfrm>
          <a:prstGeom prst="rect">
            <a:avLst/>
          </a:prstGeom>
          <a:solidFill>
            <a:srgbClr val="D3DAD6"/>
          </a:solidFill>
          <a:ln cap="flat" cmpd="sng" w="9525">
            <a:solidFill>
              <a:srgbClr val="D9DED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15" name="Google Shape;515;p14"/>
          <p:cNvSpPr/>
          <p:nvPr/>
        </p:nvSpPr>
        <p:spPr>
          <a:xfrm>
            <a:off x="438912" y="1792224"/>
            <a:ext cx="11301984" cy="4187952"/>
          </a:xfrm>
          <a:prstGeom prst="roundRect">
            <a:avLst>
              <a:gd fmla="val 16667" name="adj"/>
            </a:avLst>
          </a:prstGeom>
          <a:solidFill>
            <a:srgbClr val="FFFFFF"/>
          </a:solidFill>
          <a:ln cap="flat" cmpd="sng" w="12700">
            <a:solidFill>
              <a:srgbClr val="D9DED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16" name="Google Shape;516;p14"/>
          <p:cNvSpPr txBox="1"/>
          <p:nvPr/>
        </p:nvSpPr>
        <p:spPr>
          <a:xfrm>
            <a:off x="566928" y="6208776"/>
            <a:ext cx="10881360" cy="292608"/>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550">
                <a:solidFill>
                  <a:srgbClr val="1F2328"/>
                </a:solidFill>
                <a:latin typeface="Calibri"/>
                <a:ea typeface="Calibri"/>
                <a:cs typeface="Calibri"/>
                <a:sym typeface="Calibri"/>
              </a:rPr>
              <a:t>Recall slide 8  •  Three sources feed generation: external ontologies, documentation, and core.</a:t>
            </a:r>
            <a:endParaRPr/>
          </a:p>
        </p:txBody>
      </p:sp>
      <p:sp>
        <p:nvSpPr>
          <p:cNvPr id="517" name="Google Shape;517;p14"/>
          <p:cNvSpPr txBox="1"/>
          <p:nvPr/>
        </p:nvSpPr>
        <p:spPr>
          <a:xfrm>
            <a:off x="10917936" y="6519672"/>
            <a:ext cx="804672" cy="18288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US" sz="1400">
                <a:solidFill>
                  <a:srgbClr val="3A434C"/>
                </a:solidFill>
                <a:latin typeface="Calibri"/>
                <a:ea typeface="Calibri"/>
                <a:cs typeface="Calibri"/>
                <a:sym typeface="Calibri"/>
              </a:rPr>
              <a:t>3 / 6</a:t>
            </a:r>
            <a:endParaRPr/>
          </a:p>
        </p:txBody>
      </p:sp>
      <p:cxnSp>
        <p:nvCxnSpPr>
          <p:cNvPr id="518" name="Google Shape;518;p14"/>
          <p:cNvCxnSpPr/>
          <p:nvPr/>
        </p:nvCxnSpPr>
        <p:spPr>
          <a:xfrm>
            <a:off x="1792224" y="3831336"/>
            <a:ext cx="164592" cy="0"/>
          </a:xfrm>
          <a:prstGeom prst="straightConnector1">
            <a:avLst/>
          </a:prstGeom>
          <a:noFill/>
          <a:ln cap="flat" cmpd="sng" w="38100">
            <a:solidFill>
              <a:srgbClr val="3A7D8C"/>
            </a:solidFill>
            <a:prstDash val="solid"/>
            <a:miter lim="8000"/>
            <a:headEnd len="sm" w="sm" type="none"/>
            <a:tailEnd len="sm" w="sm" type="none"/>
          </a:ln>
        </p:spPr>
      </p:cxnSp>
      <p:sp>
        <p:nvSpPr>
          <p:cNvPr id="519" name="Google Shape;519;p14"/>
          <p:cNvSpPr/>
          <p:nvPr/>
        </p:nvSpPr>
        <p:spPr>
          <a:xfrm rot="5400000">
            <a:off x="1892808" y="3767328"/>
            <a:ext cx="128016" cy="128016"/>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520" name="Google Shape;520;p14"/>
          <p:cNvCxnSpPr/>
          <p:nvPr/>
        </p:nvCxnSpPr>
        <p:spPr>
          <a:xfrm>
            <a:off x="3401568" y="3794760"/>
            <a:ext cx="100584" cy="0"/>
          </a:xfrm>
          <a:prstGeom prst="straightConnector1">
            <a:avLst/>
          </a:prstGeom>
          <a:noFill/>
          <a:ln cap="flat" cmpd="sng" w="29200">
            <a:solidFill>
              <a:srgbClr val="3A7D8C"/>
            </a:solidFill>
            <a:prstDash val="solid"/>
            <a:miter lim="8000"/>
            <a:headEnd len="sm" w="sm" type="none"/>
            <a:tailEnd len="sm" w="sm" type="none"/>
          </a:ln>
        </p:spPr>
      </p:cxnSp>
      <p:cxnSp>
        <p:nvCxnSpPr>
          <p:cNvPr id="521" name="Google Shape;521;p14"/>
          <p:cNvCxnSpPr/>
          <p:nvPr/>
        </p:nvCxnSpPr>
        <p:spPr>
          <a:xfrm rot="10800000">
            <a:off x="3502152" y="2523744"/>
            <a:ext cx="0" cy="1271016"/>
          </a:xfrm>
          <a:prstGeom prst="straightConnector1">
            <a:avLst/>
          </a:prstGeom>
          <a:noFill/>
          <a:ln cap="flat" cmpd="sng" w="29200">
            <a:solidFill>
              <a:srgbClr val="3A7D8C"/>
            </a:solidFill>
            <a:prstDash val="solid"/>
            <a:miter lim="8000"/>
            <a:headEnd len="sm" w="sm" type="none"/>
            <a:tailEnd len="sm" w="sm" type="none"/>
          </a:ln>
        </p:spPr>
      </p:cxnSp>
      <p:cxnSp>
        <p:nvCxnSpPr>
          <p:cNvPr id="522" name="Google Shape;522;p14"/>
          <p:cNvCxnSpPr/>
          <p:nvPr/>
        </p:nvCxnSpPr>
        <p:spPr>
          <a:xfrm>
            <a:off x="3502152" y="2523744"/>
            <a:ext cx="265176" cy="0"/>
          </a:xfrm>
          <a:prstGeom prst="straightConnector1">
            <a:avLst/>
          </a:prstGeom>
          <a:noFill/>
          <a:ln cap="flat" cmpd="sng" w="29200">
            <a:solidFill>
              <a:srgbClr val="3A7D8C"/>
            </a:solidFill>
            <a:prstDash val="solid"/>
            <a:miter lim="8000"/>
            <a:headEnd len="sm" w="sm" type="none"/>
            <a:tailEnd len="sm" w="sm" type="none"/>
          </a:ln>
        </p:spPr>
      </p:cxnSp>
      <p:sp>
        <p:nvSpPr>
          <p:cNvPr id="523" name="Google Shape;523;p14"/>
          <p:cNvSpPr/>
          <p:nvPr/>
        </p:nvSpPr>
        <p:spPr>
          <a:xfrm rot="5400000">
            <a:off x="3703320" y="2459736"/>
            <a:ext cx="128016" cy="128016"/>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524" name="Google Shape;524;p14"/>
          <p:cNvCxnSpPr/>
          <p:nvPr/>
        </p:nvCxnSpPr>
        <p:spPr>
          <a:xfrm>
            <a:off x="3401568" y="3931920"/>
            <a:ext cx="118872" cy="0"/>
          </a:xfrm>
          <a:prstGeom prst="straightConnector1">
            <a:avLst/>
          </a:prstGeom>
          <a:noFill/>
          <a:ln cap="flat" cmpd="sng" w="26650">
            <a:solidFill>
              <a:srgbClr val="3A7D8C"/>
            </a:solidFill>
            <a:prstDash val="solid"/>
            <a:miter lim="8000"/>
            <a:headEnd len="sm" w="sm" type="none"/>
            <a:tailEnd len="sm" w="sm" type="none"/>
          </a:ln>
        </p:spPr>
      </p:cxnSp>
      <p:cxnSp>
        <p:nvCxnSpPr>
          <p:cNvPr id="525" name="Google Shape;525;p14"/>
          <p:cNvCxnSpPr/>
          <p:nvPr/>
        </p:nvCxnSpPr>
        <p:spPr>
          <a:xfrm rot="10800000">
            <a:off x="3520440" y="3621024"/>
            <a:ext cx="0" cy="310896"/>
          </a:xfrm>
          <a:prstGeom prst="straightConnector1">
            <a:avLst/>
          </a:prstGeom>
          <a:noFill/>
          <a:ln cap="flat" cmpd="sng" w="26650">
            <a:solidFill>
              <a:srgbClr val="3A7D8C"/>
            </a:solidFill>
            <a:prstDash val="solid"/>
            <a:miter lim="8000"/>
            <a:headEnd len="sm" w="sm" type="none"/>
            <a:tailEnd len="sm" w="sm" type="none"/>
          </a:ln>
        </p:spPr>
      </p:cxnSp>
      <p:cxnSp>
        <p:nvCxnSpPr>
          <p:cNvPr id="526" name="Google Shape;526;p14"/>
          <p:cNvCxnSpPr/>
          <p:nvPr/>
        </p:nvCxnSpPr>
        <p:spPr>
          <a:xfrm>
            <a:off x="3520440" y="3621024"/>
            <a:ext cx="256032" cy="0"/>
          </a:xfrm>
          <a:prstGeom prst="straightConnector1">
            <a:avLst/>
          </a:prstGeom>
          <a:noFill/>
          <a:ln cap="flat" cmpd="sng" w="26650">
            <a:solidFill>
              <a:srgbClr val="3A7D8C"/>
            </a:solidFill>
            <a:prstDash val="solid"/>
            <a:miter lim="8000"/>
            <a:headEnd len="sm" w="sm" type="none"/>
            <a:tailEnd len="sm" w="sm" type="none"/>
          </a:ln>
        </p:spPr>
      </p:cxnSp>
      <p:sp>
        <p:nvSpPr>
          <p:cNvPr id="527" name="Google Shape;527;p14"/>
          <p:cNvSpPr/>
          <p:nvPr/>
        </p:nvSpPr>
        <p:spPr>
          <a:xfrm rot="5400000">
            <a:off x="3712463" y="3557016"/>
            <a:ext cx="128016" cy="128016"/>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528" name="Google Shape;528;p14"/>
          <p:cNvCxnSpPr/>
          <p:nvPr/>
        </p:nvCxnSpPr>
        <p:spPr>
          <a:xfrm>
            <a:off x="3401568" y="3931920"/>
            <a:ext cx="118872" cy="0"/>
          </a:xfrm>
          <a:prstGeom prst="straightConnector1">
            <a:avLst/>
          </a:prstGeom>
          <a:noFill/>
          <a:ln cap="flat" cmpd="sng" w="26650">
            <a:solidFill>
              <a:srgbClr val="3A7D8C"/>
            </a:solidFill>
            <a:prstDash val="solid"/>
            <a:miter lim="8000"/>
            <a:headEnd len="sm" w="sm" type="none"/>
            <a:tailEnd len="sm" w="sm" type="none"/>
          </a:ln>
        </p:spPr>
      </p:cxnSp>
      <p:cxnSp>
        <p:nvCxnSpPr>
          <p:cNvPr id="529" name="Google Shape;529;p14"/>
          <p:cNvCxnSpPr/>
          <p:nvPr/>
        </p:nvCxnSpPr>
        <p:spPr>
          <a:xfrm>
            <a:off x="3520440" y="3931920"/>
            <a:ext cx="0" cy="384048"/>
          </a:xfrm>
          <a:prstGeom prst="straightConnector1">
            <a:avLst/>
          </a:prstGeom>
          <a:noFill/>
          <a:ln cap="flat" cmpd="sng" w="26650">
            <a:solidFill>
              <a:srgbClr val="3A7D8C"/>
            </a:solidFill>
            <a:prstDash val="solid"/>
            <a:miter lim="8000"/>
            <a:headEnd len="sm" w="sm" type="none"/>
            <a:tailEnd len="sm" w="sm" type="none"/>
          </a:ln>
        </p:spPr>
      </p:cxnSp>
      <p:cxnSp>
        <p:nvCxnSpPr>
          <p:cNvPr id="530" name="Google Shape;530;p14"/>
          <p:cNvCxnSpPr/>
          <p:nvPr/>
        </p:nvCxnSpPr>
        <p:spPr>
          <a:xfrm>
            <a:off x="3520440" y="4315968"/>
            <a:ext cx="256032" cy="0"/>
          </a:xfrm>
          <a:prstGeom prst="straightConnector1">
            <a:avLst/>
          </a:prstGeom>
          <a:noFill/>
          <a:ln cap="flat" cmpd="sng" w="26650">
            <a:solidFill>
              <a:srgbClr val="3A7D8C"/>
            </a:solidFill>
            <a:prstDash val="solid"/>
            <a:miter lim="8000"/>
            <a:headEnd len="sm" w="sm" type="none"/>
            <a:tailEnd len="sm" w="sm" type="none"/>
          </a:ln>
        </p:spPr>
      </p:cxnSp>
      <p:sp>
        <p:nvSpPr>
          <p:cNvPr id="531" name="Google Shape;531;p14"/>
          <p:cNvSpPr/>
          <p:nvPr/>
        </p:nvSpPr>
        <p:spPr>
          <a:xfrm rot="5400000">
            <a:off x="3712463" y="4251959"/>
            <a:ext cx="128016" cy="128016"/>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532" name="Google Shape;532;p14"/>
          <p:cNvCxnSpPr/>
          <p:nvPr/>
        </p:nvCxnSpPr>
        <p:spPr>
          <a:xfrm>
            <a:off x="3401568" y="3931920"/>
            <a:ext cx="118872" cy="0"/>
          </a:xfrm>
          <a:prstGeom prst="straightConnector1">
            <a:avLst/>
          </a:prstGeom>
          <a:noFill/>
          <a:ln cap="flat" cmpd="sng" w="26650">
            <a:solidFill>
              <a:srgbClr val="3A7D8C"/>
            </a:solidFill>
            <a:prstDash val="solid"/>
            <a:miter lim="8000"/>
            <a:headEnd len="sm" w="sm" type="none"/>
            <a:tailEnd len="sm" w="sm" type="none"/>
          </a:ln>
        </p:spPr>
      </p:cxnSp>
      <p:cxnSp>
        <p:nvCxnSpPr>
          <p:cNvPr id="533" name="Google Shape;533;p14"/>
          <p:cNvCxnSpPr/>
          <p:nvPr/>
        </p:nvCxnSpPr>
        <p:spPr>
          <a:xfrm>
            <a:off x="3520440" y="3931920"/>
            <a:ext cx="0" cy="1078992"/>
          </a:xfrm>
          <a:prstGeom prst="straightConnector1">
            <a:avLst/>
          </a:prstGeom>
          <a:noFill/>
          <a:ln cap="flat" cmpd="sng" w="26650">
            <a:solidFill>
              <a:srgbClr val="3A7D8C"/>
            </a:solidFill>
            <a:prstDash val="solid"/>
            <a:miter lim="8000"/>
            <a:headEnd len="sm" w="sm" type="none"/>
            <a:tailEnd len="sm" w="sm" type="none"/>
          </a:ln>
        </p:spPr>
      </p:cxnSp>
      <p:cxnSp>
        <p:nvCxnSpPr>
          <p:cNvPr id="534" name="Google Shape;534;p14"/>
          <p:cNvCxnSpPr/>
          <p:nvPr/>
        </p:nvCxnSpPr>
        <p:spPr>
          <a:xfrm>
            <a:off x="3520440" y="5010912"/>
            <a:ext cx="256032" cy="0"/>
          </a:xfrm>
          <a:prstGeom prst="straightConnector1">
            <a:avLst/>
          </a:prstGeom>
          <a:noFill/>
          <a:ln cap="flat" cmpd="sng" w="26650">
            <a:solidFill>
              <a:srgbClr val="3A7D8C"/>
            </a:solidFill>
            <a:prstDash val="solid"/>
            <a:miter lim="8000"/>
            <a:headEnd len="sm" w="sm" type="none"/>
            <a:tailEnd len="sm" w="sm" type="none"/>
          </a:ln>
        </p:spPr>
      </p:cxnSp>
      <p:sp>
        <p:nvSpPr>
          <p:cNvPr id="535" name="Google Shape;535;p14"/>
          <p:cNvSpPr/>
          <p:nvPr/>
        </p:nvSpPr>
        <p:spPr>
          <a:xfrm rot="5400000">
            <a:off x="3712463" y="4946904"/>
            <a:ext cx="128016" cy="128016"/>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36" name="Google Shape;536;p14"/>
          <p:cNvSpPr/>
          <p:nvPr/>
        </p:nvSpPr>
        <p:spPr>
          <a:xfrm>
            <a:off x="621792" y="3282696"/>
            <a:ext cx="1170432" cy="1133856"/>
          </a:xfrm>
          <a:prstGeom prst="roundRect">
            <a:avLst>
              <a:gd fmla="val 16667" name="adj"/>
            </a:avLst>
          </a:prstGeom>
          <a:solidFill>
            <a:srgbClr val="FFFFFF"/>
          </a:solidFill>
          <a:ln cap="flat" cmpd="sng" w="15225">
            <a:solidFill>
              <a:srgbClr val="D9DED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37" name="Google Shape;537;p14"/>
          <p:cNvSpPr/>
          <p:nvPr/>
        </p:nvSpPr>
        <p:spPr>
          <a:xfrm>
            <a:off x="740664" y="3447288"/>
            <a:ext cx="256032" cy="402336"/>
          </a:xfrm>
          <a:prstGeom prst="rect">
            <a:avLst/>
          </a:prstGeom>
          <a:solidFill>
            <a:srgbClr val="DDE5E1"/>
          </a:solidFill>
          <a:ln cap="flat" cmpd="sng" w="10150">
            <a:solidFill>
              <a:srgbClr val="177A5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538" name="Google Shape;538;p14"/>
          <p:cNvCxnSpPr/>
          <p:nvPr/>
        </p:nvCxnSpPr>
        <p:spPr>
          <a:xfrm>
            <a:off x="781812" y="3566160"/>
            <a:ext cx="169164" cy="0"/>
          </a:xfrm>
          <a:prstGeom prst="straightConnector1">
            <a:avLst/>
          </a:prstGeom>
          <a:noFill/>
          <a:ln cap="flat" cmpd="sng" w="9525">
            <a:solidFill>
              <a:srgbClr val="8E989E"/>
            </a:solidFill>
            <a:prstDash val="solid"/>
            <a:miter lim="8000"/>
            <a:headEnd len="sm" w="sm" type="none"/>
            <a:tailEnd len="sm" w="sm" type="none"/>
          </a:ln>
        </p:spPr>
      </p:cxnSp>
      <p:cxnSp>
        <p:nvCxnSpPr>
          <p:cNvPr id="539" name="Google Shape;539;p14"/>
          <p:cNvCxnSpPr/>
          <p:nvPr/>
        </p:nvCxnSpPr>
        <p:spPr>
          <a:xfrm>
            <a:off x="781812" y="3648456"/>
            <a:ext cx="169164" cy="0"/>
          </a:xfrm>
          <a:prstGeom prst="straightConnector1">
            <a:avLst/>
          </a:prstGeom>
          <a:noFill/>
          <a:ln cap="flat" cmpd="sng" w="9525">
            <a:solidFill>
              <a:srgbClr val="8E989E"/>
            </a:solidFill>
            <a:prstDash val="solid"/>
            <a:miter lim="8000"/>
            <a:headEnd len="sm" w="sm" type="none"/>
            <a:tailEnd len="sm" w="sm" type="none"/>
          </a:ln>
        </p:spPr>
      </p:cxnSp>
      <p:sp>
        <p:nvSpPr>
          <p:cNvPr id="540" name="Google Shape;540;p14"/>
          <p:cNvSpPr/>
          <p:nvPr/>
        </p:nvSpPr>
        <p:spPr>
          <a:xfrm>
            <a:off x="1051560" y="3447288"/>
            <a:ext cx="256032" cy="402336"/>
          </a:xfrm>
          <a:prstGeom prst="rect">
            <a:avLst/>
          </a:prstGeom>
          <a:solidFill>
            <a:srgbClr val="DDE5E1"/>
          </a:solidFill>
          <a:ln cap="flat" cmpd="sng" w="10150">
            <a:solidFill>
              <a:srgbClr val="177A5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541" name="Google Shape;541;p14"/>
          <p:cNvCxnSpPr/>
          <p:nvPr/>
        </p:nvCxnSpPr>
        <p:spPr>
          <a:xfrm>
            <a:off x="1092708" y="3566160"/>
            <a:ext cx="169164" cy="0"/>
          </a:xfrm>
          <a:prstGeom prst="straightConnector1">
            <a:avLst/>
          </a:prstGeom>
          <a:noFill/>
          <a:ln cap="flat" cmpd="sng" w="9525">
            <a:solidFill>
              <a:srgbClr val="8E989E"/>
            </a:solidFill>
            <a:prstDash val="solid"/>
            <a:miter lim="8000"/>
            <a:headEnd len="sm" w="sm" type="none"/>
            <a:tailEnd len="sm" w="sm" type="none"/>
          </a:ln>
        </p:spPr>
      </p:cxnSp>
      <p:cxnSp>
        <p:nvCxnSpPr>
          <p:cNvPr id="542" name="Google Shape;542;p14"/>
          <p:cNvCxnSpPr/>
          <p:nvPr/>
        </p:nvCxnSpPr>
        <p:spPr>
          <a:xfrm>
            <a:off x="1092708" y="3648456"/>
            <a:ext cx="169164" cy="0"/>
          </a:xfrm>
          <a:prstGeom prst="straightConnector1">
            <a:avLst/>
          </a:prstGeom>
          <a:noFill/>
          <a:ln cap="flat" cmpd="sng" w="9525">
            <a:solidFill>
              <a:srgbClr val="8E989E"/>
            </a:solidFill>
            <a:prstDash val="solid"/>
            <a:miter lim="8000"/>
            <a:headEnd len="sm" w="sm" type="none"/>
            <a:tailEnd len="sm" w="sm" type="none"/>
          </a:ln>
        </p:spPr>
      </p:cxnSp>
      <p:sp>
        <p:nvSpPr>
          <p:cNvPr id="543" name="Google Shape;543;p14"/>
          <p:cNvSpPr/>
          <p:nvPr/>
        </p:nvSpPr>
        <p:spPr>
          <a:xfrm>
            <a:off x="1362456" y="3447288"/>
            <a:ext cx="256032" cy="402336"/>
          </a:xfrm>
          <a:prstGeom prst="rect">
            <a:avLst/>
          </a:prstGeom>
          <a:solidFill>
            <a:srgbClr val="DDE5E1"/>
          </a:solidFill>
          <a:ln cap="flat" cmpd="sng" w="10150">
            <a:solidFill>
              <a:srgbClr val="177A5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544" name="Google Shape;544;p14"/>
          <p:cNvCxnSpPr/>
          <p:nvPr/>
        </p:nvCxnSpPr>
        <p:spPr>
          <a:xfrm>
            <a:off x="1403604" y="3566160"/>
            <a:ext cx="169164" cy="0"/>
          </a:xfrm>
          <a:prstGeom prst="straightConnector1">
            <a:avLst/>
          </a:prstGeom>
          <a:noFill/>
          <a:ln cap="flat" cmpd="sng" w="9525">
            <a:solidFill>
              <a:srgbClr val="8E989E"/>
            </a:solidFill>
            <a:prstDash val="solid"/>
            <a:miter lim="8000"/>
            <a:headEnd len="sm" w="sm" type="none"/>
            <a:tailEnd len="sm" w="sm" type="none"/>
          </a:ln>
        </p:spPr>
      </p:cxnSp>
      <p:cxnSp>
        <p:nvCxnSpPr>
          <p:cNvPr id="545" name="Google Shape;545;p14"/>
          <p:cNvCxnSpPr/>
          <p:nvPr/>
        </p:nvCxnSpPr>
        <p:spPr>
          <a:xfrm>
            <a:off x="1403604" y="3648456"/>
            <a:ext cx="169164" cy="0"/>
          </a:xfrm>
          <a:prstGeom prst="straightConnector1">
            <a:avLst/>
          </a:prstGeom>
          <a:noFill/>
          <a:ln cap="flat" cmpd="sng" w="9525">
            <a:solidFill>
              <a:srgbClr val="8E989E"/>
            </a:solidFill>
            <a:prstDash val="solid"/>
            <a:miter lim="8000"/>
            <a:headEnd len="sm" w="sm" type="none"/>
            <a:tailEnd len="sm" w="sm" type="none"/>
          </a:ln>
        </p:spPr>
      </p:cxnSp>
      <p:sp>
        <p:nvSpPr>
          <p:cNvPr id="546" name="Google Shape;546;p14"/>
          <p:cNvSpPr txBox="1"/>
          <p:nvPr/>
        </p:nvSpPr>
        <p:spPr>
          <a:xfrm>
            <a:off x="630936" y="3941063"/>
            <a:ext cx="1152144" cy="283464"/>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1400">
                <a:solidFill>
                  <a:srgbClr val="1F2328"/>
                </a:solidFill>
                <a:latin typeface="Calibri"/>
                <a:ea typeface="Calibri"/>
                <a:cs typeface="Calibri"/>
                <a:sym typeface="Calibri"/>
              </a:rPr>
              <a:t>Schema S</a:t>
            </a:r>
            <a:endParaRPr/>
          </a:p>
        </p:txBody>
      </p:sp>
      <p:sp>
        <p:nvSpPr>
          <p:cNvPr id="547" name="Google Shape;547;p14"/>
          <p:cNvSpPr txBox="1"/>
          <p:nvPr/>
        </p:nvSpPr>
        <p:spPr>
          <a:xfrm>
            <a:off x="1490472" y="3072384"/>
            <a:ext cx="384048" cy="228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3A434C"/>
                </a:solidFill>
                <a:latin typeface="Calibri"/>
                <a:ea typeface="Calibri"/>
                <a:cs typeface="Calibri"/>
                <a:sym typeface="Calibri"/>
              </a:rPr>
              <a:t>(a)</a:t>
            </a:r>
            <a:endParaRPr/>
          </a:p>
        </p:txBody>
      </p:sp>
      <p:sp>
        <p:nvSpPr>
          <p:cNvPr id="548" name="Google Shape;548;p14"/>
          <p:cNvSpPr/>
          <p:nvPr/>
        </p:nvSpPr>
        <p:spPr>
          <a:xfrm>
            <a:off x="1956816" y="3483864"/>
            <a:ext cx="1444752" cy="694944"/>
          </a:xfrm>
          <a:prstGeom prst="roundRect">
            <a:avLst>
              <a:gd fmla="val 16667" name="adj"/>
            </a:avLst>
          </a:prstGeom>
          <a:solidFill>
            <a:srgbClr val="F3F5F4"/>
          </a:solidFill>
          <a:ln cap="flat" cmpd="sng" w="16500">
            <a:solidFill>
              <a:srgbClr val="3A7D8C"/>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49" name="Google Shape;549;p14"/>
          <p:cNvSpPr txBox="1"/>
          <p:nvPr/>
        </p:nvSpPr>
        <p:spPr>
          <a:xfrm>
            <a:off x="2039112" y="3602736"/>
            <a:ext cx="1280160" cy="246888"/>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1550">
                <a:solidFill>
                  <a:srgbClr val="1F2328"/>
                </a:solidFill>
                <a:latin typeface="Calibri"/>
                <a:ea typeface="Calibri"/>
                <a:cs typeface="Calibri"/>
                <a:sym typeface="Calibri"/>
              </a:rPr>
              <a:t>Iterate</a:t>
            </a:r>
            <a:endParaRPr/>
          </a:p>
        </p:txBody>
      </p:sp>
      <p:sp>
        <p:nvSpPr>
          <p:cNvPr id="550" name="Google Shape;550;p14"/>
          <p:cNvSpPr txBox="1"/>
          <p:nvPr/>
        </p:nvSpPr>
        <p:spPr>
          <a:xfrm>
            <a:off x="2048256" y="3877056"/>
            <a:ext cx="1261872" cy="256032"/>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US" sz="1400">
                <a:solidFill>
                  <a:srgbClr val="3A434C"/>
                </a:solidFill>
                <a:latin typeface="Calibri"/>
                <a:ea typeface="Calibri"/>
                <a:cs typeface="Calibri"/>
                <a:sym typeface="Calibri"/>
              </a:rPr>
              <a:t>FK-BFS</a:t>
            </a:r>
            <a:endParaRPr/>
          </a:p>
        </p:txBody>
      </p:sp>
      <p:sp>
        <p:nvSpPr>
          <p:cNvPr id="551" name="Google Shape;551;p14"/>
          <p:cNvSpPr/>
          <p:nvPr/>
        </p:nvSpPr>
        <p:spPr>
          <a:xfrm>
            <a:off x="3776472" y="2148840"/>
            <a:ext cx="2103120" cy="758952"/>
          </a:xfrm>
          <a:prstGeom prst="roundRect">
            <a:avLst>
              <a:gd fmla="val 16667" name="adj"/>
            </a:avLst>
          </a:prstGeom>
          <a:solidFill>
            <a:srgbClr val="F3F5F4"/>
          </a:solidFill>
          <a:ln cap="flat" cmpd="sng" w="16500">
            <a:solidFill>
              <a:srgbClr val="3A7D8C"/>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52" name="Google Shape;552;p14"/>
          <p:cNvSpPr txBox="1"/>
          <p:nvPr/>
        </p:nvSpPr>
        <p:spPr>
          <a:xfrm>
            <a:off x="3849624" y="1938528"/>
            <a:ext cx="384048" cy="228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3A434C"/>
                </a:solidFill>
                <a:latin typeface="Calibri"/>
                <a:ea typeface="Calibri"/>
                <a:cs typeface="Calibri"/>
                <a:sym typeface="Calibri"/>
              </a:rPr>
              <a:t>(b)</a:t>
            </a:r>
            <a:endParaRPr/>
          </a:p>
        </p:txBody>
      </p:sp>
      <p:sp>
        <p:nvSpPr>
          <p:cNvPr id="553" name="Google Shape;553;p14"/>
          <p:cNvSpPr txBox="1"/>
          <p:nvPr/>
        </p:nvSpPr>
        <p:spPr>
          <a:xfrm>
            <a:off x="3858768" y="2267712"/>
            <a:ext cx="1938527" cy="246888"/>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1550">
                <a:solidFill>
                  <a:srgbClr val="1F2328"/>
                </a:solidFill>
                <a:latin typeface="Calibri"/>
                <a:ea typeface="Calibri"/>
                <a:cs typeface="Calibri"/>
                <a:sym typeface="Calibri"/>
              </a:rPr>
              <a:t>Direct mapping</a:t>
            </a:r>
            <a:endParaRPr/>
          </a:p>
        </p:txBody>
      </p:sp>
      <p:sp>
        <p:nvSpPr>
          <p:cNvPr id="554" name="Google Shape;554;p14"/>
          <p:cNvSpPr txBox="1"/>
          <p:nvPr/>
        </p:nvSpPr>
        <p:spPr>
          <a:xfrm>
            <a:off x="3867911" y="2542032"/>
            <a:ext cx="1920239" cy="32004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US" sz="1400">
                <a:solidFill>
                  <a:srgbClr val="3A434C"/>
                </a:solidFill>
                <a:latin typeface="Calibri"/>
                <a:ea typeface="Calibri"/>
                <a:cs typeface="Calibri"/>
                <a:sym typeface="Calibri"/>
              </a:rPr>
              <a:t>OWL seed DMᵣ</a:t>
            </a:r>
            <a:endParaRPr/>
          </a:p>
        </p:txBody>
      </p:sp>
      <p:sp>
        <p:nvSpPr>
          <p:cNvPr id="555" name="Google Shape;555;p14"/>
          <p:cNvSpPr/>
          <p:nvPr/>
        </p:nvSpPr>
        <p:spPr>
          <a:xfrm>
            <a:off x="3630168" y="3063240"/>
            <a:ext cx="3218688" cy="2432304"/>
          </a:xfrm>
          <a:prstGeom prst="roundRect">
            <a:avLst>
              <a:gd fmla="val 16667" name="adj"/>
            </a:avLst>
          </a:prstGeom>
          <a:solidFill>
            <a:srgbClr val="FFFFFF"/>
          </a:solidFill>
          <a:ln cap="flat" cmpd="sng" w="25400">
            <a:solidFill>
              <a:srgbClr val="0B6E4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56" name="Google Shape;556;p14"/>
          <p:cNvSpPr txBox="1"/>
          <p:nvPr/>
        </p:nvSpPr>
        <p:spPr>
          <a:xfrm>
            <a:off x="3758184" y="3099816"/>
            <a:ext cx="2990088" cy="210312"/>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1400">
                <a:solidFill>
                  <a:srgbClr val="0B6E4F"/>
                </a:solidFill>
                <a:latin typeface="Calibri"/>
                <a:ea typeface="Calibri"/>
                <a:cs typeface="Calibri"/>
                <a:sym typeface="Calibri"/>
              </a:rPr>
              <a:t>RETRIEVAL  •  top-k per source</a:t>
            </a:r>
            <a:endParaRPr/>
          </a:p>
        </p:txBody>
      </p:sp>
      <p:sp>
        <p:nvSpPr>
          <p:cNvPr id="557" name="Google Shape;557;p14"/>
          <p:cNvSpPr/>
          <p:nvPr/>
        </p:nvSpPr>
        <p:spPr>
          <a:xfrm>
            <a:off x="3776472" y="3383280"/>
            <a:ext cx="2980944" cy="603504"/>
          </a:xfrm>
          <a:prstGeom prst="roundRect">
            <a:avLst>
              <a:gd fmla="val 16667" name="adj"/>
            </a:avLst>
          </a:prstGeom>
          <a:solidFill>
            <a:srgbClr val="DDE5E1"/>
          </a:solidFill>
          <a:ln cap="flat" cmpd="sng" w="15225">
            <a:solidFill>
              <a:srgbClr val="0B6E4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58" name="Google Shape;558;p14"/>
          <p:cNvSpPr txBox="1"/>
          <p:nvPr/>
        </p:nvSpPr>
        <p:spPr>
          <a:xfrm>
            <a:off x="3877056" y="3415284"/>
            <a:ext cx="365760" cy="192024"/>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0B6E4F"/>
                </a:solidFill>
                <a:latin typeface="Calibri"/>
                <a:ea typeface="Calibri"/>
                <a:cs typeface="Calibri"/>
                <a:sym typeface="Calibri"/>
              </a:rPr>
              <a:t>(c)</a:t>
            </a:r>
            <a:endParaRPr/>
          </a:p>
        </p:txBody>
      </p:sp>
      <p:sp>
        <p:nvSpPr>
          <p:cNvPr id="559" name="Google Shape;559;p14"/>
          <p:cNvSpPr txBox="1"/>
          <p:nvPr/>
        </p:nvSpPr>
        <p:spPr>
          <a:xfrm>
            <a:off x="4224528" y="3396996"/>
            <a:ext cx="2404872" cy="283464"/>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500">
                <a:solidFill>
                  <a:srgbClr val="1F2328"/>
                </a:solidFill>
                <a:latin typeface="Calibri"/>
                <a:ea typeface="Calibri"/>
                <a:cs typeface="Calibri"/>
                <a:sym typeface="Calibri"/>
              </a:rPr>
              <a:t>External ontologies</a:t>
            </a:r>
            <a:endParaRPr/>
          </a:p>
        </p:txBody>
      </p:sp>
      <p:sp>
        <p:nvSpPr>
          <p:cNvPr id="560" name="Google Shape;560;p14"/>
          <p:cNvSpPr txBox="1"/>
          <p:nvPr/>
        </p:nvSpPr>
        <p:spPr>
          <a:xfrm>
            <a:off x="4224528" y="3703320"/>
            <a:ext cx="2404872" cy="201168"/>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400">
                <a:solidFill>
                  <a:srgbClr val="3A434C"/>
                </a:solidFill>
                <a:latin typeface="Calibri"/>
                <a:ea typeface="Calibri"/>
                <a:cs typeface="Calibri"/>
                <a:sym typeface="Calibri"/>
              </a:rPr>
              <a:t>Domain alignments</a:t>
            </a:r>
            <a:endParaRPr/>
          </a:p>
        </p:txBody>
      </p:sp>
      <p:sp>
        <p:nvSpPr>
          <p:cNvPr id="561" name="Google Shape;561;p14"/>
          <p:cNvSpPr/>
          <p:nvPr/>
        </p:nvSpPr>
        <p:spPr>
          <a:xfrm>
            <a:off x="3776472" y="4087368"/>
            <a:ext cx="2980944" cy="603504"/>
          </a:xfrm>
          <a:prstGeom prst="roundRect">
            <a:avLst>
              <a:gd fmla="val 16667" name="adj"/>
            </a:avLst>
          </a:prstGeom>
          <a:solidFill>
            <a:srgbClr val="DDE5E1"/>
          </a:solidFill>
          <a:ln cap="flat" cmpd="sng" w="15225">
            <a:solidFill>
              <a:srgbClr val="0B6E4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62" name="Google Shape;562;p14"/>
          <p:cNvSpPr txBox="1"/>
          <p:nvPr/>
        </p:nvSpPr>
        <p:spPr>
          <a:xfrm>
            <a:off x="3877056" y="4119372"/>
            <a:ext cx="365760" cy="192024"/>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0B6E4F"/>
                </a:solidFill>
                <a:latin typeface="Calibri"/>
                <a:ea typeface="Calibri"/>
                <a:cs typeface="Calibri"/>
                <a:sym typeface="Calibri"/>
              </a:rPr>
              <a:t>(d)</a:t>
            </a:r>
            <a:endParaRPr/>
          </a:p>
        </p:txBody>
      </p:sp>
      <p:sp>
        <p:nvSpPr>
          <p:cNvPr id="563" name="Google Shape;563;p14"/>
          <p:cNvSpPr txBox="1"/>
          <p:nvPr/>
        </p:nvSpPr>
        <p:spPr>
          <a:xfrm>
            <a:off x="4224528" y="4101084"/>
            <a:ext cx="2404872" cy="283464"/>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500">
                <a:solidFill>
                  <a:srgbClr val="1F2328"/>
                </a:solidFill>
                <a:latin typeface="Calibri"/>
                <a:ea typeface="Calibri"/>
                <a:cs typeface="Calibri"/>
                <a:sym typeface="Calibri"/>
              </a:rPr>
              <a:t>Documentation</a:t>
            </a:r>
            <a:endParaRPr/>
          </a:p>
        </p:txBody>
      </p:sp>
      <p:sp>
        <p:nvSpPr>
          <p:cNvPr id="564" name="Google Shape;564;p14"/>
          <p:cNvSpPr txBox="1"/>
          <p:nvPr/>
        </p:nvSpPr>
        <p:spPr>
          <a:xfrm>
            <a:off x="4224528" y="4407408"/>
            <a:ext cx="2404872" cy="201168"/>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400">
                <a:solidFill>
                  <a:srgbClr val="3A434C"/>
                </a:solidFill>
                <a:latin typeface="Calibri"/>
                <a:ea typeface="Calibri"/>
                <a:cs typeface="Calibri"/>
                <a:sym typeface="Calibri"/>
              </a:rPr>
              <a:t>Cryptic fields and codes</a:t>
            </a:r>
            <a:endParaRPr/>
          </a:p>
        </p:txBody>
      </p:sp>
      <p:sp>
        <p:nvSpPr>
          <p:cNvPr id="565" name="Google Shape;565;p14"/>
          <p:cNvSpPr/>
          <p:nvPr/>
        </p:nvSpPr>
        <p:spPr>
          <a:xfrm>
            <a:off x="3776472" y="4791456"/>
            <a:ext cx="2980944" cy="603504"/>
          </a:xfrm>
          <a:prstGeom prst="roundRect">
            <a:avLst>
              <a:gd fmla="val 16667" name="adj"/>
            </a:avLst>
          </a:prstGeom>
          <a:solidFill>
            <a:srgbClr val="DDE5E1"/>
          </a:solidFill>
          <a:ln cap="flat" cmpd="sng" w="15225">
            <a:solidFill>
              <a:srgbClr val="0B6E4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66" name="Google Shape;566;p14"/>
          <p:cNvSpPr txBox="1"/>
          <p:nvPr/>
        </p:nvSpPr>
        <p:spPr>
          <a:xfrm>
            <a:off x="3877056" y="4823460"/>
            <a:ext cx="365760" cy="192024"/>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0B6E4F"/>
                </a:solidFill>
                <a:latin typeface="Calibri"/>
                <a:ea typeface="Calibri"/>
                <a:cs typeface="Calibri"/>
                <a:sym typeface="Calibri"/>
              </a:rPr>
              <a:t>(e)</a:t>
            </a:r>
            <a:endParaRPr/>
          </a:p>
        </p:txBody>
      </p:sp>
      <p:sp>
        <p:nvSpPr>
          <p:cNvPr id="567" name="Google Shape;567;p14"/>
          <p:cNvSpPr txBox="1"/>
          <p:nvPr/>
        </p:nvSpPr>
        <p:spPr>
          <a:xfrm>
            <a:off x="4224528" y="4805172"/>
            <a:ext cx="2404872" cy="283464"/>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500">
                <a:solidFill>
                  <a:srgbClr val="1F2328"/>
                </a:solidFill>
                <a:latin typeface="Calibri"/>
                <a:ea typeface="Calibri"/>
                <a:cs typeface="Calibri"/>
                <a:sym typeface="Calibri"/>
              </a:rPr>
              <a:t>Growing core ontology</a:t>
            </a:r>
            <a:endParaRPr/>
          </a:p>
        </p:txBody>
      </p:sp>
      <p:sp>
        <p:nvSpPr>
          <p:cNvPr id="568" name="Google Shape;568;p14"/>
          <p:cNvSpPr txBox="1"/>
          <p:nvPr/>
        </p:nvSpPr>
        <p:spPr>
          <a:xfrm>
            <a:off x="4224528" y="5111496"/>
            <a:ext cx="2404872" cy="201168"/>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400">
                <a:solidFill>
                  <a:srgbClr val="3A434C"/>
                </a:solidFill>
                <a:latin typeface="Calibri"/>
                <a:ea typeface="Calibri"/>
                <a:cs typeface="Calibri"/>
                <a:sym typeface="Calibri"/>
              </a:rPr>
              <a:t>Reuse validated IRIs</a:t>
            </a:r>
            <a:endParaRPr/>
          </a:p>
        </p:txBody>
      </p:sp>
      <p:sp>
        <p:nvSpPr>
          <p:cNvPr id="569" name="Google Shape;569;p14"/>
          <p:cNvSpPr/>
          <p:nvPr/>
        </p:nvSpPr>
        <p:spPr>
          <a:xfrm>
            <a:off x="7141464" y="3127248"/>
            <a:ext cx="4059936" cy="1746504"/>
          </a:xfrm>
          <a:prstGeom prst="roundRect">
            <a:avLst>
              <a:gd fmla="val 16667" name="adj"/>
            </a:avLst>
          </a:prstGeom>
          <a:solidFill>
            <a:srgbClr val="E9EEEB"/>
          </a:solidFill>
          <a:ln cap="flat" cmpd="sng" w="20300">
            <a:solidFill>
              <a:srgbClr val="0B6E4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70" name="Google Shape;570;p14"/>
          <p:cNvSpPr txBox="1"/>
          <p:nvPr/>
        </p:nvSpPr>
        <p:spPr>
          <a:xfrm>
            <a:off x="7388352" y="3355848"/>
            <a:ext cx="3621024" cy="283464"/>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700">
                <a:solidFill>
                  <a:srgbClr val="0B6E4F"/>
                </a:solidFill>
                <a:latin typeface="Calibri"/>
                <a:ea typeface="Calibri"/>
                <a:cs typeface="Calibri"/>
                <a:sym typeface="Calibri"/>
              </a:rPr>
              <a:t>THREE SOURCES, THREE ROLES</a:t>
            </a:r>
            <a:endParaRPr/>
          </a:p>
        </p:txBody>
      </p:sp>
      <p:sp>
        <p:nvSpPr>
          <p:cNvPr id="571" name="Google Shape;571;p14"/>
          <p:cNvSpPr txBox="1"/>
          <p:nvPr/>
        </p:nvSpPr>
        <p:spPr>
          <a:xfrm>
            <a:off x="7388352" y="3749039"/>
            <a:ext cx="3621024" cy="85039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900">
                <a:solidFill>
                  <a:srgbClr val="1F2328"/>
                </a:solidFill>
                <a:latin typeface="Calibri"/>
                <a:ea typeface="Calibri"/>
                <a:cs typeface="Calibri"/>
                <a:sym typeface="Calibri"/>
              </a:rPr>
              <a:t>Domain reuse   •   Meaning of codes</a:t>
            </a:r>
            <a:br>
              <a:rPr b="0" lang="en-US" sz="1900">
                <a:solidFill>
                  <a:srgbClr val="1F2328"/>
                </a:solidFill>
                <a:latin typeface="Calibri"/>
                <a:ea typeface="Calibri"/>
                <a:cs typeface="Calibri"/>
                <a:sym typeface="Calibri"/>
              </a:rPr>
            </a:br>
            <a:r>
              <a:rPr b="0" lang="en-US" sz="1900">
                <a:solidFill>
                  <a:srgbClr val="1F2328"/>
                </a:solidFill>
                <a:latin typeface="Calibri"/>
                <a:ea typeface="Calibri"/>
                <a:cs typeface="Calibri"/>
                <a:sym typeface="Calibri"/>
              </a:rPr>
              <a:t>Cross-table coherence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6" name="Shape 576"/>
        <p:cNvGrpSpPr/>
        <p:nvPr/>
      </p:nvGrpSpPr>
      <p:grpSpPr>
        <a:xfrm>
          <a:off x="0" y="0"/>
          <a:ext cx="0" cy="0"/>
          <a:chOff x="0" y="0"/>
          <a:chExt cx="0" cy="0"/>
        </a:xfrm>
      </p:grpSpPr>
      <p:sp>
        <p:nvSpPr>
          <p:cNvPr id="577" name="Google Shape;577;p15"/>
          <p:cNvSpPr txBox="1"/>
          <p:nvPr/>
        </p:nvSpPr>
        <p:spPr>
          <a:xfrm>
            <a:off x="512064" y="320040"/>
            <a:ext cx="6675120" cy="30175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500">
                <a:solidFill>
                  <a:srgbClr val="0B6E4F"/>
                </a:solidFill>
                <a:latin typeface="Consolas"/>
                <a:ea typeface="Calibri"/>
                <a:cs typeface="Calibri"/>
                <a:sym typeface="Calibri"/>
              </a:rPr>
              <a:t>RIGOR  /  REASSEMBLING THE ARCHITECTURE</a:t>
            </a:r>
            <a:endParaRPr>
              <a:latin typeface="Consolas"/>
            </a:endParaRPr>
          </a:p>
        </p:txBody>
      </p:sp>
      <p:sp>
        <p:nvSpPr>
          <p:cNvPr id="578" name="Google Shape;578;p15"/>
          <p:cNvSpPr txBox="1"/>
          <p:nvPr/>
        </p:nvSpPr>
        <p:spPr>
          <a:xfrm>
            <a:off x="512064" y="685800"/>
            <a:ext cx="10881360" cy="475488"/>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2900">
                <a:solidFill>
                  <a:srgbClr val="1F2328"/>
                </a:solidFill>
                <a:latin typeface="Cambria"/>
                <a:ea typeface="Calibri"/>
                <a:cs typeface="Calibri"/>
                <a:sym typeface="Calibri"/>
              </a:rPr>
              <a:t>4. Generate a delta ontology</a:t>
            </a:r>
            <a:endParaRPr/>
          </a:p>
        </p:txBody>
      </p:sp>
      <p:sp>
        <p:nvSpPr>
          <p:cNvPr id="579" name="Google Shape;579;p15"/>
          <p:cNvSpPr txBox="1"/>
          <p:nvPr/>
        </p:nvSpPr>
        <p:spPr>
          <a:xfrm>
            <a:off x="512064" y="1271016"/>
            <a:ext cx="10607040" cy="310896"/>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600">
                <a:solidFill>
                  <a:srgbClr val="3A434C"/>
                </a:solidFill>
                <a:latin typeface="Calibri"/>
                <a:ea typeface="Calibri"/>
                <a:cs typeface="Calibri"/>
                <a:sym typeface="Calibri"/>
              </a:rPr>
              <a:t>Paper Fig. 1(f–g)  ·  The Gen-LLM receives the seed and retrieved context.</a:t>
            </a:r>
            <a:endParaRPr/>
          </a:p>
        </p:txBody>
      </p:sp>
      <p:sp>
        <p:nvSpPr>
          <p:cNvPr id="580" name="Google Shape;580;p15"/>
          <p:cNvSpPr/>
          <p:nvPr/>
        </p:nvSpPr>
        <p:spPr>
          <a:xfrm>
            <a:off x="9692640" y="356616"/>
            <a:ext cx="274320" cy="64008"/>
          </a:xfrm>
          <a:prstGeom prst="rect">
            <a:avLst/>
          </a:prstGeom>
          <a:solidFill>
            <a:srgbClr val="0B6E4F"/>
          </a:solidFill>
          <a:ln cap="flat" cmpd="sng" w="9525">
            <a:solidFill>
              <a:srgbClr val="0B6E4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81" name="Google Shape;581;p15"/>
          <p:cNvSpPr/>
          <p:nvPr/>
        </p:nvSpPr>
        <p:spPr>
          <a:xfrm>
            <a:off x="10049256" y="356616"/>
            <a:ext cx="274320" cy="64008"/>
          </a:xfrm>
          <a:prstGeom prst="rect">
            <a:avLst/>
          </a:prstGeom>
          <a:solidFill>
            <a:srgbClr val="0B6E4F"/>
          </a:solidFill>
          <a:ln cap="flat" cmpd="sng" w="9525">
            <a:solidFill>
              <a:srgbClr val="0B6E4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82" name="Google Shape;582;p15"/>
          <p:cNvSpPr/>
          <p:nvPr/>
        </p:nvSpPr>
        <p:spPr>
          <a:xfrm>
            <a:off x="10405872" y="356616"/>
            <a:ext cx="274320" cy="64008"/>
          </a:xfrm>
          <a:prstGeom prst="rect">
            <a:avLst/>
          </a:prstGeom>
          <a:solidFill>
            <a:srgbClr val="0B6E4F"/>
          </a:solidFill>
          <a:ln cap="flat" cmpd="sng" w="9525">
            <a:solidFill>
              <a:srgbClr val="0B6E4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83" name="Google Shape;583;p15"/>
          <p:cNvSpPr/>
          <p:nvPr/>
        </p:nvSpPr>
        <p:spPr>
          <a:xfrm>
            <a:off x="10762488" y="356616"/>
            <a:ext cx="274320" cy="64008"/>
          </a:xfrm>
          <a:prstGeom prst="rect">
            <a:avLst/>
          </a:prstGeom>
          <a:solidFill>
            <a:srgbClr val="0B6E4F"/>
          </a:solidFill>
          <a:ln cap="flat" cmpd="sng" w="9525">
            <a:solidFill>
              <a:srgbClr val="0B6E4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84" name="Google Shape;584;p15"/>
          <p:cNvSpPr/>
          <p:nvPr/>
        </p:nvSpPr>
        <p:spPr>
          <a:xfrm>
            <a:off x="11119104" y="356616"/>
            <a:ext cx="274320" cy="64008"/>
          </a:xfrm>
          <a:prstGeom prst="rect">
            <a:avLst/>
          </a:prstGeom>
          <a:solidFill>
            <a:srgbClr val="D3DAD6"/>
          </a:solidFill>
          <a:ln cap="flat" cmpd="sng" w="9525">
            <a:solidFill>
              <a:srgbClr val="D9DED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85" name="Google Shape;585;p15"/>
          <p:cNvSpPr/>
          <p:nvPr/>
        </p:nvSpPr>
        <p:spPr>
          <a:xfrm>
            <a:off x="11475720" y="356616"/>
            <a:ext cx="274320" cy="64008"/>
          </a:xfrm>
          <a:prstGeom prst="rect">
            <a:avLst/>
          </a:prstGeom>
          <a:solidFill>
            <a:srgbClr val="D3DAD6"/>
          </a:solidFill>
          <a:ln cap="flat" cmpd="sng" w="9525">
            <a:solidFill>
              <a:srgbClr val="D9DED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86" name="Google Shape;586;p15"/>
          <p:cNvSpPr/>
          <p:nvPr/>
        </p:nvSpPr>
        <p:spPr>
          <a:xfrm>
            <a:off x="438912" y="1792224"/>
            <a:ext cx="11301984" cy="4187952"/>
          </a:xfrm>
          <a:prstGeom prst="roundRect">
            <a:avLst>
              <a:gd fmla="val 16667" name="adj"/>
            </a:avLst>
          </a:prstGeom>
          <a:solidFill>
            <a:srgbClr val="FFFFFF"/>
          </a:solidFill>
          <a:ln cap="flat" cmpd="sng" w="12700">
            <a:solidFill>
              <a:srgbClr val="D9DED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87" name="Google Shape;587;p15"/>
          <p:cNvSpPr txBox="1"/>
          <p:nvPr/>
        </p:nvSpPr>
        <p:spPr>
          <a:xfrm>
            <a:off x="566928" y="6208776"/>
            <a:ext cx="10881360" cy="292608"/>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550">
                <a:solidFill>
                  <a:srgbClr val="1F2328"/>
                </a:solidFill>
                <a:latin typeface="Calibri"/>
                <a:ea typeface="Calibri"/>
                <a:cs typeface="Calibri"/>
                <a:sym typeface="Calibri"/>
              </a:rPr>
              <a:t>Recall slide 9  •  The Gen-LLM enriches the structural seed; the output is a delta ontology.</a:t>
            </a:r>
            <a:endParaRPr/>
          </a:p>
        </p:txBody>
      </p:sp>
      <p:sp>
        <p:nvSpPr>
          <p:cNvPr id="588" name="Google Shape;588;p15"/>
          <p:cNvSpPr txBox="1"/>
          <p:nvPr/>
        </p:nvSpPr>
        <p:spPr>
          <a:xfrm>
            <a:off x="10917936" y="6519672"/>
            <a:ext cx="804672" cy="18288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US" sz="1400">
                <a:solidFill>
                  <a:srgbClr val="3A434C"/>
                </a:solidFill>
                <a:latin typeface="Calibri"/>
                <a:ea typeface="Calibri"/>
                <a:cs typeface="Calibri"/>
                <a:sym typeface="Calibri"/>
              </a:rPr>
              <a:t>4 / 6</a:t>
            </a:r>
            <a:endParaRPr/>
          </a:p>
        </p:txBody>
      </p:sp>
      <p:cxnSp>
        <p:nvCxnSpPr>
          <p:cNvPr id="589" name="Google Shape;589;p15"/>
          <p:cNvCxnSpPr/>
          <p:nvPr/>
        </p:nvCxnSpPr>
        <p:spPr>
          <a:xfrm>
            <a:off x="1792224" y="3831336"/>
            <a:ext cx="164592" cy="0"/>
          </a:xfrm>
          <a:prstGeom prst="straightConnector1">
            <a:avLst/>
          </a:prstGeom>
          <a:noFill/>
          <a:ln cap="flat" cmpd="sng" w="38100">
            <a:solidFill>
              <a:srgbClr val="3A7D8C"/>
            </a:solidFill>
            <a:prstDash val="solid"/>
            <a:miter lim="8000"/>
            <a:headEnd len="sm" w="sm" type="none"/>
            <a:tailEnd len="sm" w="sm" type="none"/>
          </a:ln>
        </p:spPr>
      </p:cxnSp>
      <p:sp>
        <p:nvSpPr>
          <p:cNvPr id="590" name="Google Shape;590;p15"/>
          <p:cNvSpPr/>
          <p:nvPr/>
        </p:nvSpPr>
        <p:spPr>
          <a:xfrm rot="5400000">
            <a:off x="1892808" y="3767328"/>
            <a:ext cx="128016" cy="128016"/>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591" name="Google Shape;591;p15"/>
          <p:cNvCxnSpPr/>
          <p:nvPr/>
        </p:nvCxnSpPr>
        <p:spPr>
          <a:xfrm>
            <a:off x="3401568" y="3794760"/>
            <a:ext cx="100584" cy="0"/>
          </a:xfrm>
          <a:prstGeom prst="straightConnector1">
            <a:avLst/>
          </a:prstGeom>
          <a:noFill/>
          <a:ln cap="flat" cmpd="sng" w="29200">
            <a:solidFill>
              <a:srgbClr val="3A7D8C"/>
            </a:solidFill>
            <a:prstDash val="solid"/>
            <a:miter lim="8000"/>
            <a:headEnd len="sm" w="sm" type="none"/>
            <a:tailEnd len="sm" w="sm" type="none"/>
          </a:ln>
        </p:spPr>
      </p:cxnSp>
      <p:cxnSp>
        <p:nvCxnSpPr>
          <p:cNvPr id="592" name="Google Shape;592;p15"/>
          <p:cNvCxnSpPr/>
          <p:nvPr/>
        </p:nvCxnSpPr>
        <p:spPr>
          <a:xfrm rot="10800000">
            <a:off x="3502152" y="2523744"/>
            <a:ext cx="0" cy="1271016"/>
          </a:xfrm>
          <a:prstGeom prst="straightConnector1">
            <a:avLst/>
          </a:prstGeom>
          <a:noFill/>
          <a:ln cap="flat" cmpd="sng" w="29200">
            <a:solidFill>
              <a:srgbClr val="3A7D8C"/>
            </a:solidFill>
            <a:prstDash val="solid"/>
            <a:miter lim="8000"/>
            <a:headEnd len="sm" w="sm" type="none"/>
            <a:tailEnd len="sm" w="sm" type="none"/>
          </a:ln>
        </p:spPr>
      </p:cxnSp>
      <p:cxnSp>
        <p:nvCxnSpPr>
          <p:cNvPr id="593" name="Google Shape;593;p15"/>
          <p:cNvCxnSpPr/>
          <p:nvPr/>
        </p:nvCxnSpPr>
        <p:spPr>
          <a:xfrm>
            <a:off x="3502152" y="2523744"/>
            <a:ext cx="265176" cy="0"/>
          </a:xfrm>
          <a:prstGeom prst="straightConnector1">
            <a:avLst/>
          </a:prstGeom>
          <a:noFill/>
          <a:ln cap="flat" cmpd="sng" w="29200">
            <a:solidFill>
              <a:srgbClr val="3A7D8C"/>
            </a:solidFill>
            <a:prstDash val="solid"/>
            <a:miter lim="8000"/>
            <a:headEnd len="sm" w="sm" type="none"/>
            <a:tailEnd len="sm" w="sm" type="none"/>
          </a:ln>
        </p:spPr>
      </p:cxnSp>
      <p:sp>
        <p:nvSpPr>
          <p:cNvPr id="594" name="Google Shape;594;p15"/>
          <p:cNvSpPr/>
          <p:nvPr/>
        </p:nvSpPr>
        <p:spPr>
          <a:xfrm rot="5400000">
            <a:off x="3703320" y="2459736"/>
            <a:ext cx="128016" cy="128016"/>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595" name="Google Shape;595;p15"/>
          <p:cNvCxnSpPr/>
          <p:nvPr/>
        </p:nvCxnSpPr>
        <p:spPr>
          <a:xfrm>
            <a:off x="3401568" y="3931920"/>
            <a:ext cx="118872" cy="0"/>
          </a:xfrm>
          <a:prstGeom prst="straightConnector1">
            <a:avLst/>
          </a:prstGeom>
          <a:noFill/>
          <a:ln cap="flat" cmpd="sng" w="26650">
            <a:solidFill>
              <a:srgbClr val="3A7D8C"/>
            </a:solidFill>
            <a:prstDash val="solid"/>
            <a:miter lim="8000"/>
            <a:headEnd len="sm" w="sm" type="none"/>
            <a:tailEnd len="sm" w="sm" type="none"/>
          </a:ln>
        </p:spPr>
      </p:cxnSp>
      <p:cxnSp>
        <p:nvCxnSpPr>
          <p:cNvPr id="596" name="Google Shape;596;p15"/>
          <p:cNvCxnSpPr/>
          <p:nvPr/>
        </p:nvCxnSpPr>
        <p:spPr>
          <a:xfrm rot="10800000">
            <a:off x="3520440" y="3621024"/>
            <a:ext cx="0" cy="310896"/>
          </a:xfrm>
          <a:prstGeom prst="straightConnector1">
            <a:avLst/>
          </a:prstGeom>
          <a:noFill/>
          <a:ln cap="flat" cmpd="sng" w="26650">
            <a:solidFill>
              <a:srgbClr val="3A7D8C"/>
            </a:solidFill>
            <a:prstDash val="solid"/>
            <a:miter lim="8000"/>
            <a:headEnd len="sm" w="sm" type="none"/>
            <a:tailEnd len="sm" w="sm" type="none"/>
          </a:ln>
        </p:spPr>
      </p:cxnSp>
      <p:cxnSp>
        <p:nvCxnSpPr>
          <p:cNvPr id="597" name="Google Shape;597;p15"/>
          <p:cNvCxnSpPr/>
          <p:nvPr/>
        </p:nvCxnSpPr>
        <p:spPr>
          <a:xfrm>
            <a:off x="3520440" y="3621024"/>
            <a:ext cx="256032" cy="0"/>
          </a:xfrm>
          <a:prstGeom prst="straightConnector1">
            <a:avLst/>
          </a:prstGeom>
          <a:noFill/>
          <a:ln cap="flat" cmpd="sng" w="26650">
            <a:solidFill>
              <a:srgbClr val="3A7D8C"/>
            </a:solidFill>
            <a:prstDash val="solid"/>
            <a:miter lim="8000"/>
            <a:headEnd len="sm" w="sm" type="none"/>
            <a:tailEnd len="sm" w="sm" type="none"/>
          </a:ln>
        </p:spPr>
      </p:cxnSp>
      <p:sp>
        <p:nvSpPr>
          <p:cNvPr id="598" name="Google Shape;598;p15"/>
          <p:cNvSpPr/>
          <p:nvPr/>
        </p:nvSpPr>
        <p:spPr>
          <a:xfrm rot="5400000">
            <a:off x="3712463" y="3557016"/>
            <a:ext cx="128016" cy="128016"/>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599" name="Google Shape;599;p15"/>
          <p:cNvCxnSpPr/>
          <p:nvPr/>
        </p:nvCxnSpPr>
        <p:spPr>
          <a:xfrm>
            <a:off x="3401568" y="3931920"/>
            <a:ext cx="118872" cy="0"/>
          </a:xfrm>
          <a:prstGeom prst="straightConnector1">
            <a:avLst/>
          </a:prstGeom>
          <a:noFill/>
          <a:ln cap="flat" cmpd="sng" w="26650">
            <a:solidFill>
              <a:srgbClr val="3A7D8C"/>
            </a:solidFill>
            <a:prstDash val="solid"/>
            <a:miter lim="8000"/>
            <a:headEnd len="sm" w="sm" type="none"/>
            <a:tailEnd len="sm" w="sm" type="none"/>
          </a:ln>
        </p:spPr>
      </p:cxnSp>
      <p:cxnSp>
        <p:nvCxnSpPr>
          <p:cNvPr id="600" name="Google Shape;600;p15"/>
          <p:cNvCxnSpPr/>
          <p:nvPr/>
        </p:nvCxnSpPr>
        <p:spPr>
          <a:xfrm>
            <a:off x="3520440" y="3931920"/>
            <a:ext cx="0" cy="384048"/>
          </a:xfrm>
          <a:prstGeom prst="straightConnector1">
            <a:avLst/>
          </a:prstGeom>
          <a:noFill/>
          <a:ln cap="flat" cmpd="sng" w="26650">
            <a:solidFill>
              <a:srgbClr val="3A7D8C"/>
            </a:solidFill>
            <a:prstDash val="solid"/>
            <a:miter lim="8000"/>
            <a:headEnd len="sm" w="sm" type="none"/>
            <a:tailEnd len="sm" w="sm" type="none"/>
          </a:ln>
        </p:spPr>
      </p:cxnSp>
      <p:cxnSp>
        <p:nvCxnSpPr>
          <p:cNvPr id="601" name="Google Shape;601;p15"/>
          <p:cNvCxnSpPr/>
          <p:nvPr/>
        </p:nvCxnSpPr>
        <p:spPr>
          <a:xfrm>
            <a:off x="3520440" y="4315968"/>
            <a:ext cx="256032" cy="0"/>
          </a:xfrm>
          <a:prstGeom prst="straightConnector1">
            <a:avLst/>
          </a:prstGeom>
          <a:noFill/>
          <a:ln cap="flat" cmpd="sng" w="26650">
            <a:solidFill>
              <a:srgbClr val="3A7D8C"/>
            </a:solidFill>
            <a:prstDash val="solid"/>
            <a:miter lim="8000"/>
            <a:headEnd len="sm" w="sm" type="none"/>
            <a:tailEnd len="sm" w="sm" type="none"/>
          </a:ln>
        </p:spPr>
      </p:cxnSp>
      <p:sp>
        <p:nvSpPr>
          <p:cNvPr id="602" name="Google Shape;602;p15"/>
          <p:cNvSpPr/>
          <p:nvPr/>
        </p:nvSpPr>
        <p:spPr>
          <a:xfrm rot="5400000">
            <a:off x="3712463" y="4251959"/>
            <a:ext cx="128016" cy="128016"/>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603" name="Google Shape;603;p15"/>
          <p:cNvCxnSpPr/>
          <p:nvPr/>
        </p:nvCxnSpPr>
        <p:spPr>
          <a:xfrm>
            <a:off x="3401568" y="3931920"/>
            <a:ext cx="118872" cy="0"/>
          </a:xfrm>
          <a:prstGeom prst="straightConnector1">
            <a:avLst/>
          </a:prstGeom>
          <a:noFill/>
          <a:ln cap="flat" cmpd="sng" w="26650">
            <a:solidFill>
              <a:srgbClr val="3A7D8C"/>
            </a:solidFill>
            <a:prstDash val="solid"/>
            <a:miter lim="8000"/>
            <a:headEnd len="sm" w="sm" type="none"/>
            <a:tailEnd len="sm" w="sm" type="none"/>
          </a:ln>
        </p:spPr>
      </p:cxnSp>
      <p:cxnSp>
        <p:nvCxnSpPr>
          <p:cNvPr id="604" name="Google Shape;604;p15"/>
          <p:cNvCxnSpPr/>
          <p:nvPr/>
        </p:nvCxnSpPr>
        <p:spPr>
          <a:xfrm>
            <a:off x="3520440" y="3931920"/>
            <a:ext cx="0" cy="1078992"/>
          </a:xfrm>
          <a:prstGeom prst="straightConnector1">
            <a:avLst/>
          </a:prstGeom>
          <a:noFill/>
          <a:ln cap="flat" cmpd="sng" w="26650">
            <a:solidFill>
              <a:srgbClr val="3A7D8C"/>
            </a:solidFill>
            <a:prstDash val="solid"/>
            <a:miter lim="8000"/>
            <a:headEnd len="sm" w="sm" type="none"/>
            <a:tailEnd len="sm" w="sm" type="none"/>
          </a:ln>
        </p:spPr>
      </p:cxnSp>
      <p:cxnSp>
        <p:nvCxnSpPr>
          <p:cNvPr id="605" name="Google Shape;605;p15"/>
          <p:cNvCxnSpPr/>
          <p:nvPr/>
        </p:nvCxnSpPr>
        <p:spPr>
          <a:xfrm>
            <a:off x="3520440" y="5010912"/>
            <a:ext cx="256032" cy="0"/>
          </a:xfrm>
          <a:prstGeom prst="straightConnector1">
            <a:avLst/>
          </a:prstGeom>
          <a:noFill/>
          <a:ln cap="flat" cmpd="sng" w="26650">
            <a:solidFill>
              <a:srgbClr val="3A7D8C"/>
            </a:solidFill>
            <a:prstDash val="solid"/>
            <a:miter lim="8000"/>
            <a:headEnd len="sm" w="sm" type="none"/>
            <a:tailEnd len="sm" w="sm" type="none"/>
          </a:ln>
        </p:spPr>
      </p:cxnSp>
      <p:sp>
        <p:nvSpPr>
          <p:cNvPr id="606" name="Google Shape;606;p15"/>
          <p:cNvSpPr/>
          <p:nvPr/>
        </p:nvSpPr>
        <p:spPr>
          <a:xfrm rot="5400000">
            <a:off x="3712463" y="4946904"/>
            <a:ext cx="128016" cy="128016"/>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607" name="Google Shape;607;p15"/>
          <p:cNvCxnSpPr/>
          <p:nvPr/>
        </p:nvCxnSpPr>
        <p:spPr>
          <a:xfrm>
            <a:off x="5879592" y="2505456"/>
            <a:ext cx="1874520" cy="0"/>
          </a:xfrm>
          <a:prstGeom prst="straightConnector1">
            <a:avLst/>
          </a:prstGeom>
          <a:noFill/>
          <a:ln cap="flat" cmpd="sng" w="29200">
            <a:solidFill>
              <a:srgbClr val="3A7D8C"/>
            </a:solidFill>
            <a:prstDash val="solid"/>
            <a:miter lim="8000"/>
            <a:headEnd len="sm" w="sm" type="none"/>
            <a:tailEnd len="sm" w="sm" type="none"/>
          </a:ln>
        </p:spPr>
      </p:cxnSp>
      <p:cxnSp>
        <p:nvCxnSpPr>
          <p:cNvPr id="608" name="Google Shape;608;p15"/>
          <p:cNvCxnSpPr/>
          <p:nvPr/>
        </p:nvCxnSpPr>
        <p:spPr>
          <a:xfrm>
            <a:off x="7754112" y="2505456"/>
            <a:ext cx="0" cy="1133856"/>
          </a:xfrm>
          <a:prstGeom prst="straightConnector1">
            <a:avLst/>
          </a:prstGeom>
          <a:noFill/>
          <a:ln cap="flat" cmpd="sng" w="29200">
            <a:solidFill>
              <a:srgbClr val="3A7D8C"/>
            </a:solidFill>
            <a:prstDash val="solid"/>
            <a:miter lim="8000"/>
            <a:headEnd len="sm" w="sm" type="none"/>
            <a:tailEnd len="sm" w="sm" type="none"/>
          </a:ln>
        </p:spPr>
      </p:cxnSp>
      <p:sp>
        <p:nvSpPr>
          <p:cNvPr id="609" name="Google Shape;609;p15"/>
          <p:cNvSpPr/>
          <p:nvPr/>
        </p:nvSpPr>
        <p:spPr>
          <a:xfrm rot="10800000">
            <a:off x="7690104" y="3575304"/>
            <a:ext cx="128016" cy="128016"/>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610" name="Google Shape;610;p15"/>
          <p:cNvCxnSpPr/>
          <p:nvPr/>
        </p:nvCxnSpPr>
        <p:spPr>
          <a:xfrm>
            <a:off x="6757416" y="3621024"/>
            <a:ext cx="146304" cy="0"/>
          </a:xfrm>
          <a:prstGeom prst="straightConnector1">
            <a:avLst/>
          </a:prstGeom>
          <a:noFill/>
          <a:ln cap="flat" cmpd="sng" w="26650">
            <a:solidFill>
              <a:srgbClr val="3A7D8C"/>
            </a:solidFill>
            <a:prstDash val="solid"/>
            <a:miter lim="8000"/>
            <a:headEnd len="sm" w="sm" type="none"/>
            <a:tailEnd len="sm" w="sm" type="none"/>
          </a:ln>
        </p:spPr>
      </p:cxnSp>
      <p:cxnSp>
        <p:nvCxnSpPr>
          <p:cNvPr id="611" name="Google Shape;611;p15"/>
          <p:cNvCxnSpPr/>
          <p:nvPr/>
        </p:nvCxnSpPr>
        <p:spPr>
          <a:xfrm>
            <a:off x="6903720" y="3621024"/>
            <a:ext cx="0" cy="448056"/>
          </a:xfrm>
          <a:prstGeom prst="straightConnector1">
            <a:avLst/>
          </a:prstGeom>
          <a:noFill/>
          <a:ln cap="flat" cmpd="sng" w="26650">
            <a:solidFill>
              <a:srgbClr val="3A7D8C"/>
            </a:solidFill>
            <a:prstDash val="solid"/>
            <a:miter lim="8000"/>
            <a:headEnd len="sm" w="sm" type="none"/>
            <a:tailEnd len="sm" w="sm" type="none"/>
          </a:ln>
        </p:spPr>
      </p:cxnSp>
      <p:cxnSp>
        <p:nvCxnSpPr>
          <p:cNvPr id="612" name="Google Shape;612;p15"/>
          <p:cNvCxnSpPr/>
          <p:nvPr/>
        </p:nvCxnSpPr>
        <p:spPr>
          <a:xfrm>
            <a:off x="6903720" y="4069080"/>
            <a:ext cx="228600" cy="0"/>
          </a:xfrm>
          <a:prstGeom prst="straightConnector1">
            <a:avLst/>
          </a:prstGeom>
          <a:noFill/>
          <a:ln cap="flat" cmpd="sng" w="26650">
            <a:solidFill>
              <a:srgbClr val="3A7D8C"/>
            </a:solidFill>
            <a:prstDash val="solid"/>
            <a:miter lim="8000"/>
            <a:headEnd len="sm" w="sm" type="none"/>
            <a:tailEnd len="sm" w="sm" type="none"/>
          </a:ln>
        </p:spPr>
      </p:cxnSp>
      <p:sp>
        <p:nvSpPr>
          <p:cNvPr id="613" name="Google Shape;613;p15"/>
          <p:cNvSpPr/>
          <p:nvPr/>
        </p:nvSpPr>
        <p:spPr>
          <a:xfrm rot="5400000">
            <a:off x="7068312" y="4005072"/>
            <a:ext cx="128016" cy="128016"/>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614" name="Google Shape;614;p15"/>
          <p:cNvCxnSpPr/>
          <p:nvPr/>
        </p:nvCxnSpPr>
        <p:spPr>
          <a:xfrm flipH="1" rot="10800000">
            <a:off x="6757416" y="4069080"/>
            <a:ext cx="374904" cy="256032"/>
          </a:xfrm>
          <a:prstGeom prst="straightConnector1">
            <a:avLst/>
          </a:prstGeom>
          <a:noFill/>
          <a:ln cap="flat" cmpd="sng" w="26650">
            <a:solidFill>
              <a:srgbClr val="3A7D8C"/>
            </a:solidFill>
            <a:prstDash val="solid"/>
            <a:miter lim="8000"/>
            <a:headEnd len="sm" w="sm" type="none"/>
            <a:tailEnd len="sm" w="sm" type="none"/>
          </a:ln>
        </p:spPr>
      </p:cxnSp>
      <p:sp>
        <p:nvSpPr>
          <p:cNvPr id="615" name="Google Shape;615;p15"/>
          <p:cNvSpPr/>
          <p:nvPr/>
        </p:nvSpPr>
        <p:spPr>
          <a:xfrm rot="5400000">
            <a:off x="7068312" y="4005072"/>
            <a:ext cx="128016" cy="128016"/>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616" name="Google Shape;616;p15"/>
          <p:cNvCxnSpPr/>
          <p:nvPr/>
        </p:nvCxnSpPr>
        <p:spPr>
          <a:xfrm>
            <a:off x="6757416" y="5020056"/>
            <a:ext cx="146304" cy="0"/>
          </a:xfrm>
          <a:prstGeom prst="straightConnector1">
            <a:avLst/>
          </a:prstGeom>
          <a:noFill/>
          <a:ln cap="flat" cmpd="sng" w="26650">
            <a:solidFill>
              <a:srgbClr val="3A7D8C"/>
            </a:solidFill>
            <a:prstDash val="solid"/>
            <a:miter lim="8000"/>
            <a:headEnd len="sm" w="sm" type="none"/>
            <a:tailEnd len="sm" w="sm" type="none"/>
          </a:ln>
        </p:spPr>
      </p:cxnSp>
      <p:cxnSp>
        <p:nvCxnSpPr>
          <p:cNvPr id="617" name="Google Shape;617;p15"/>
          <p:cNvCxnSpPr/>
          <p:nvPr/>
        </p:nvCxnSpPr>
        <p:spPr>
          <a:xfrm rot="10800000">
            <a:off x="6903720" y="4069080"/>
            <a:ext cx="0" cy="950976"/>
          </a:xfrm>
          <a:prstGeom prst="straightConnector1">
            <a:avLst/>
          </a:prstGeom>
          <a:noFill/>
          <a:ln cap="flat" cmpd="sng" w="26650">
            <a:solidFill>
              <a:srgbClr val="3A7D8C"/>
            </a:solidFill>
            <a:prstDash val="solid"/>
            <a:miter lim="8000"/>
            <a:headEnd len="sm" w="sm" type="none"/>
            <a:tailEnd len="sm" w="sm" type="none"/>
          </a:ln>
        </p:spPr>
      </p:cxnSp>
      <p:cxnSp>
        <p:nvCxnSpPr>
          <p:cNvPr id="618" name="Google Shape;618;p15"/>
          <p:cNvCxnSpPr/>
          <p:nvPr/>
        </p:nvCxnSpPr>
        <p:spPr>
          <a:xfrm>
            <a:off x="6903720" y="4069080"/>
            <a:ext cx="228600" cy="0"/>
          </a:xfrm>
          <a:prstGeom prst="straightConnector1">
            <a:avLst/>
          </a:prstGeom>
          <a:noFill/>
          <a:ln cap="flat" cmpd="sng" w="26650">
            <a:solidFill>
              <a:srgbClr val="3A7D8C"/>
            </a:solidFill>
            <a:prstDash val="solid"/>
            <a:miter lim="8000"/>
            <a:headEnd len="sm" w="sm" type="none"/>
            <a:tailEnd len="sm" w="sm" type="none"/>
          </a:ln>
        </p:spPr>
      </p:cxnSp>
      <p:sp>
        <p:nvSpPr>
          <p:cNvPr id="619" name="Google Shape;619;p15"/>
          <p:cNvSpPr/>
          <p:nvPr/>
        </p:nvSpPr>
        <p:spPr>
          <a:xfrm rot="5400000">
            <a:off x="7068312" y="4005072"/>
            <a:ext cx="128016" cy="128016"/>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20" name="Google Shape;620;p15"/>
          <p:cNvSpPr/>
          <p:nvPr/>
        </p:nvSpPr>
        <p:spPr>
          <a:xfrm>
            <a:off x="621792" y="3282696"/>
            <a:ext cx="1170432" cy="1133856"/>
          </a:xfrm>
          <a:prstGeom prst="roundRect">
            <a:avLst>
              <a:gd fmla="val 16667" name="adj"/>
            </a:avLst>
          </a:prstGeom>
          <a:solidFill>
            <a:srgbClr val="FFFFFF"/>
          </a:solidFill>
          <a:ln cap="flat" cmpd="sng" w="15225">
            <a:solidFill>
              <a:srgbClr val="D9DED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21" name="Google Shape;621;p15"/>
          <p:cNvSpPr/>
          <p:nvPr/>
        </p:nvSpPr>
        <p:spPr>
          <a:xfrm>
            <a:off x="740664" y="3447288"/>
            <a:ext cx="256032" cy="402336"/>
          </a:xfrm>
          <a:prstGeom prst="rect">
            <a:avLst/>
          </a:prstGeom>
          <a:solidFill>
            <a:srgbClr val="DDE5E1"/>
          </a:solidFill>
          <a:ln cap="flat" cmpd="sng" w="10150">
            <a:solidFill>
              <a:srgbClr val="177A5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622" name="Google Shape;622;p15"/>
          <p:cNvCxnSpPr/>
          <p:nvPr/>
        </p:nvCxnSpPr>
        <p:spPr>
          <a:xfrm>
            <a:off x="781812" y="3566160"/>
            <a:ext cx="169164" cy="0"/>
          </a:xfrm>
          <a:prstGeom prst="straightConnector1">
            <a:avLst/>
          </a:prstGeom>
          <a:noFill/>
          <a:ln cap="flat" cmpd="sng" w="9525">
            <a:solidFill>
              <a:srgbClr val="8E989E"/>
            </a:solidFill>
            <a:prstDash val="solid"/>
            <a:miter lim="8000"/>
            <a:headEnd len="sm" w="sm" type="none"/>
            <a:tailEnd len="sm" w="sm" type="none"/>
          </a:ln>
        </p:spPr>
      </p:cxnSp>
      <p:cxnSp>
        <p:nvCxnSpPr>
          <p:cNvPr id="623" name="Google Shape;623;p15"/>
          <p:cNvCxnSpPr/>
          <p:nvPr/>
        </p:nvCxnSpPr>
        <p:spPr>
          <a:xfrm>
            <a:off x="781812" y="3648456"/>
            <a:ext cx="169164" cy="0"/>
          </a:xfrm>
          <a:prstGeom prst="straightConnector1">
            <a:avLst/>
          </a:prstGeom>
          <a:noFill/>
          <a:ln cap="flat" cmpd="sng" w="9525">
            <a:solidFill>
              <a:srgbClr val="8E989E"/>
            </a:solidFill>
            <a:prstDash val="solid"/>
            <a:miter lim="8000"/>
            <a:headEnd len="sm" w="sm" type="none"/>
            <a:tailEnd len="sm" w="sm" type="none"/>
          </a:ln>
        </p:spPr>
      </p:cxnSp>
      <p:sp>
        <p:nvSpPr>
          <p:cNvPr id="624" name="Google Shape;624;p15"/>
          <p:cNvSpPr/>
          <p:nvPr/>
        </p:nvSpPr>
        <p:spPr>
          <a:xfrm>
            <a:off x="1051560" y="3447288"/>
            <a:ext cx="256032" cy="402336"/>
          </a:xfrm>
          <a:prstGeom prst="rect">
            <a:avLst/>
          </a:prstGeom>
          <a:solidFill>
            <a:srgbClr val="DDE5E1"/>
          </a:solidFill>
          <a:ln cap="flat" cmpd="sng" w="10150">
            <a:solidFill>
              <a:srgbClr val="177A5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625" name="Google Shape;625;p15"/>
          <p:cNvCxnSpPr/>
          <p:nvPr/>
        </p:nvCxnSpPr>
        <p:spPr>
          <a:xfrm>
            <a:off x="1092708" y="3566160"/>
            <a:ext cx="169164" cy="0"/>
          </a:xfrm>
          <a:prstGeom prst="straightConnector1">
            <a:avLst/>
          </a:prstGeom>
          <a:noFill/>
          <a:ln cap="flat" cmpd="sng" w="9525">
            <a:solidFill>
              <a:srgbClr val="8E989E"/>
            </a:solidFill>
            <a:prstDash val="solid"/>
            <a:miter lim="8000"/>
            <a:headEnd len="sm" w="sm" type="none"/>
            <a:tailEnd len="sm" w="sm" type="none"/>
          </a:ln>
        </p:spPr>
      </p:cxnSp>
      <p:cxnSp>
        <p:nvCxnSpPr>
          <p:cNvPr id="626" name="Google Shape;626;p15"/>
          <p:cNvCxnSpPr/>
          <p:nvPr/>
        </p:nvCxnSpPr>
        <p:spPr>
          <a:xfrm>
            <a:off x="1092708" y="3648456"/>
            <a:ext cx="169164" cy="0"/>
          </a:xfrm>
          <a:prstGeom prst="straightConnector1">
            <a:avLst/>
          </a:prstGeom>
          <a:noFill/>
          <a:ln cap="flat" cmpd="sng" w="9525">
            <a:solidFill>
              <a:srgbClr val="8E989E"/>
            </a:solidFill>
            <a:prstDash val="solid"/>
            <a:miter lim="8000"/>
            <a:headEnd len="sm" w="sm" type="none"/>
            <a:tailEnd len="sm" w="sm" type="none"/>
          </a:ln>
        </p:spPr>
      </p:cxnSp>
      <p:sp>
        <p:nvSpPr>
          <p:cNvPr id="627" name="Google Shape;627;p15"/>
          <p:cNvSpPr/>
          <p:nvPr/>
        </p:nvSpPr>
        <p:spPr>
          <a:xfrm>
            <a:off x="1362456" y="3447288"/>
            <a:ext cx="256032" cy="402336"/>
          </a:xfrm>
          <a:prstGeom prst="rect">
            <a:avLst/>
          </a:prstGeom>
          <a:solidFill>
            <a:srgbClr val="DDE5E1"/>
          </a:solidFill>
          <a:ln cap="flat" cmpd="sng" w="10150">
            <a:solidFill>
              <a:srgbClr val="177A5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628" name="Google Shape;628;p15"/>
          <p:cNvCxnSpPr/>
          <p:nvPr/>
        </p:nvCxnSpPr>
        <p:spPr>
          <a:xfrm>
            <a:off x="1403604" y="3566160"/>
            <a:ext cx="169164" cy="0"/>
          </a:xfrm>
          <a:prstGeom prst="straightConnector1">
            <a:avLst/>
          </a:prstGeom>
          <a:noFill/>
          <a:ln cap="flat" cmpd="sng" w="9525">
            <a:solidFill>
              <a:srgbClr val="8E989E"/>
            </a:solidFill>
            <a:prstDash val="solid"/>
            <a:miter lim="8000"/>
            <a:headEnd len="sm" w="sm" type="none"/>
            <a:tailEnd len="sm" w="sm" type="none"/>
          </a:ln>
        </p:spPr>
      </p:cxnSp>
      <p:cxnSp>
        <p:nvCxnSpPr>
          <p:cNvPr id="629" name="Google Shape;629;p15"/>
          <p:cNvCxnSpPr/>
          <p:nvPr/>
        </p:nvCxnSpPr>
        <p:spPr>
          <a:xfrm>
            <a:off x="1403604" y="3648456"/>
            <a:ext cx="169164" cy="0"/>
          </a:xfrm>
          <a:prstGeom prst="straightConnector1">
            <a:avLst/>
          </a:prstGeom>
          <a:noFill/>
          <a:ln cap="flat" cmpd="sng" w="9525">
            <a:solidFill>
              <a:srgbClr val="8E989E"/>
            </a:solidFill>
            <a:prstDash val="solid"/>
            <a:miter lim="8000"/>
            <a:headEnd len="sm" w="sm" type="none"/>
            <a:tailEnd len="sm" w="sm" type="none"/>
          </a:ln>
        </p:spPr>
      </p:cxnSp>
      <p:sp>
        <p:nvSpPr>
          <p:cNvPr id="630" name="Google Shape;630;p15"/>
          <p:cNvSpPr txBox="1"/>
          <p:nvPr/>
        </p:nvSpPr>
        <p:spPr>
          <a:xfrm>
            <a:off x="630936" y="3941063"/>
            <a:ext cx="1152144" cy="283464"/>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1400">
                <a:solidFill>
                  <a:srgbClr val="1F2328"/>
                </a:solidFill>
                <a:latin typeface="Calibri"/>
                <a:ea typeface="Calibri"/>
                <a:cs typeface="Calibri"/>
                <a:sym typeface="Calibri"/>
              </a:rPr>
              <a:t>Schema S</a:t>
            </a:r>
            <a:endParaRPr/>
          </a:p>
        </p:txBody>
      </p:sp>
      <p:sp>
        <p:nvSpPr>
          <p:cNvPr id="631" name="Google Shape;631;p15"/>
          <p:cNvSpPr txBox="1"/>
          <p:nvPr/>
        </p:nvSpPr>
        <p:spPr>
          <a:xfrm>
            <a:off x="1490472" y="3072384"/>
            <a:ext cx="384048" cy="228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3A434C"/>
                </a:solidFill>
                <a:latin typeface="Calibri"/>
                <a:ea typeface="Calibri"/>
                <a:cs typeface="Calibri"/>
                <a:sym typeface="Calibri"/>
              </a:rPr>
              <a:t>(a)</a:t>
            </a:r>
            <a:endParaRPr/>
          </a:p>
        </p:txBody>
      </p:sp>
      <p:sp>
        <p:nvSpPr>
          <p:cNvPr id="632" name="Google Shape;632;p15"/>
          <p:cNvSpPr/>
          <p:nvPr/>
        </p:nvSpPr>
        <p:spPr>
          <a:xfrm>
            <a:off x="1956816" y="3483864"/>
            <a:ext cx="1444752" cy="694944"/>
          </a:xfrm>
          <a:prstGeom prst="roundRect">
            <a:avLst>
              <a:gd fmla="val 16667" name="adj"/>
            </a:avLst>
          </a:prstGeom>
          <a:solidFill>
            <a:srgbClr val="F3F5F4"/>
          </a:solidFill>
          <a:ln cap="flat" cmpd="sng" w="16500">
            <a:solidFill>
              <a:srgbClr val="3A7D8C"/>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33" name="Google Shape;633;p15"/>
          <p:cNvSpPr txBox="1"/>
          <p:nvPr/>
        </p:nvSpPr>
        <p:spPr>
          <a:xfrm>
            <a:off x="2039112" y="3602736"/>
            <a:ext cx="1280160" cy="246888"/>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1550">
                <a:solidFill>
                  <a:srgbClr val="1F2328"/>
                </a:solidFill>
                <a:latin typeface="Calibri"/>
                <a:ea typeface="Calibri"/>
                <a:cs typeface="Calibri"/>
                <a:sym typeface="Calibri"/>
              </a:rPr>
              <a:t>Iterate</a:t>
            </a:r>
            <a:endParaRPr/>
          </a:p>
        </p:txBody>
      </p:sp>
      <p:sp>
        <p:nvSpPr>
          <p:cNvPr id="634" name="Google Shape;634;p15"/>
          <p:cNvSpPr txBox="1"/>
          <p:nvPr/>
        </p:nvSpPr>
        <p:spPr>
          <a:xfrm>
            <a:off x="2048256" y="3877056"/>
            <a:ext cx="1261872" cy="256032"/>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US" sz="1400">
                <a:solidFill>
                  <a:srgbClr val="3A434C"/>
                </a:solidFill>
                <a:latin typeface="Calibri"/>
                <a:ea typeface="Calibri"/>
                <a:cs typeface="Calibri"/>
                <a:sym typeface="Calibri"/>
              </a:rPr>
              <a:t>FK-BFS</a:t>
            </a:r>
            <a:endParaRPr/>
          </a:p>
        </p:txBody>
      </p:sp>
      <p:sp>
        <p:nvSpPr>
          <p:cNvPr id="635" name="Google Shape;635;p15"/>
          <p:cNvSpPr/>
          <p:nvPr/>
        </p:nvSpPr>
        <p:spPr>
          <a:xfrm>
            <a:off x="3776472" y="2148840"/>
            <a:ext cx="2103120" cy="758952"/>
          </a:xfrm>
          <a:prstGeom prst="roundRect">
            <a:avLst>
              <a:gd fmla="val 16667" name="adj"/>
            </a:avLst>
          </a:prstGeom>
          <a:solidFill>
            <a:srgbClr val="F3F5F4"/>
          </a:solidFill>
          <a:ln cap="flat" cmpd="sng" w="16500">
            <a:solidFill>
              <a:srgbClr val="3A7D8C"/>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36" name="Google Shape;636;p15"/>
          <p:cNvSpPr txBox="1"/>
          <p:nvPr/>
        </p:nvSpPr>
        <p:spPr>
          <a:xfrm>
            <a:off x="3849624" y="1938528"/>
            <a:ext cx="384048" cy="228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3A434C"/>
                </a:solidFill>
                <a:latin typeface="Calibri"/>
                <a:ea typeface="Calibri"/>
                <a:cs typeface="Calibri"/>
                <a:sym typeface="Calibri"/>
              </a:rPr>
              <a:t>(b)</a:t>
            </a:r>
            <a:endParaRPr/>
          </a:p>
        </p:txBody>
      </p:sp>
      <p:sp>
        <p:nvSpPr>
          <p:cNvPr id="637" name="Google Shape;637;p15"/>
          <p:cNvSpPr txBox="1"/>
          <p:nvPr/>
        </p:nvSpPr>
        <p:spPr>
          <a:xfrm>
            <a:off x="3858768" y="2267712"/>
            <a:ext cx="1938527" cy="246888"/>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1550">
                <a:solidFill>
                  <a:srgbClr val="1F2328"/>
                </a:solidFill>
                <a:latin typeface="Calibri"/>
                <a:ea typeface="Calibri"/>
                <a:cs typeface="Calibri"/>
                <a:sym typeface="Calibri"/>
              </a:rPr>
              <a:t>Direct mapping</a:t>
            </a:r>
            <a:endParaRPr/>
          </a:p>
        </p:txBody>
      </p:sp>
      <p:sp>
        <p:nvSpPr>
          <p:cNvPr id="638" name="Google Shape;638;p15"/>
          <p:cNvSpPr txBox="1"/>
          <p:nvPr/>
        </p:nvSpPr>
        <p:spPr>
          <a:xfrm>
            <a:off x="3867911" y="2542032"/>
            <a:ext cx="1920239" cy="32004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US" sz="1400">
                <a:solidFill>
                  <a:srgbClr val="3A434C"/>
                </a:solidFill>
                <a:latin typeface="Calibri"/>
                <a:ea typeface="Calibri"/>
                <a:cs typeface="Calibri"/>
                <a:sym typeface="Calibri"/>
              </a:rPr>
              <a:t>OWL seed DMᵣ</a:t>
            </a:r>
            <a:endParaRPr/>
          </a:p>
        </p:txBody>
      </p:sp>
      <p:sp>
        <p:nvSpPr>
          <p:cNvPr id="639" name="Google Shape;639;p15"/>
          <p:cNvSpPr/>
          <p:nvPr/>
        </p:nvSpPr>
        <p:spPr>
          <a:xfrm>
            <a:off x="3630168" y="3063240"/>
            <a:ext cx="3218688" cy="2432304"/>
          </a:xfrm>
          <a:prstGeom prst="roundRect">
            <a:avLst>
              <a:gd fmla="val 16667" name="adj"/>
            </a:avLst>
          </a:prstGeom>
          <a:solidFill>
            <a:srgbClr val="FFFFFF"/>
          </a:solidFill>
          <a:ln cap="flat" cmpd="sng" w="15225">
            <a:solidFill>
              <a:srgbClr val="D9DED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40" name="Google Shape;640;p15"/>
          <p:cNvSpPr txBox="1"/>
          <p:nvPr/>
        </p:nvSpPr>
        <p:spPr>
          <a:xfrm>
            <a:off x="3758184" y="3099816"/>
            <a:ext cx="2990088" cy="210312"/>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1400">
                <a:solidFill>
                  <a:srgbClr val="3A434C"/>
                </a:solidFill>
                <a:latin typeface="Calibri"/>
                <a:ea typeface="Calibri"/>
                <a:cs typeface="Calibri"/>
                <a:sym typeface="Calibri"/>
              </a:rPr>
              <a:t>RETRIEVAL  •  top-k per source</a:t>
            </a:r>
            <a:endParaRPr/>
          </a:p>
        </p:txBody>
      </p:sp>
      <p:sp>
        <p:nvSpPr>
          <p:cNvPr id="641" name="Google Shape;641;p15"/>
          <p:cNvSpPr/>
          <p:nvPr/>
        </p:nvSpPr>
        <p:spPr>
          <a:xfrm>
            <a:off x="3776472" y="3383280"/>
            <a:ext cx="2980944" cy="603504"/>
          </a:xfrm>
          <a:prstGeom prst="roundRect">
            <a:avLst>
              <a:gd fmla="val 16667" name="adj"/>
            </a:avLst>
          </a:prstGeom>
          <a:solidFill>
            <a:srgbClr val="F3F5F4"/>
          </a:solidFill>
          <a:ln cap="flat" cmpd="sng" w="15225">
            <a:solidFill>
              <a:srgbClr val="3A7D8C"/>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42" name="Google Shape;642;p15"/>
          <p:cNvSpPr txBox="1"/>
          <p:nvPr/>
        </p:nvSpPr>
        <p:spPr>
          <a:xfrm>
            <a:off x="3877056" y="3415284"/>
            <a:ext cx="365760" cy="192024"/>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0B6E4F"/>
                </a:solidFill>
                <a:latin typeface="Calibri"/>
                <a:ea typeface="Calibri"/>
                <a:cs typeface="Calibri"/>
                <a:sym typeface="Calibri"/>
              </a:rPr>
              <a:t>(c)</a:t>
            </a:r>
            <a:endParaRPr/>
          </a:p>
        </p:txBody>
      </p:sp>
      <p:sp>
        <p:nvSpPr>
          <p:cNvPr id="643" name="Google Shape;643;p15"/>
          <p:cNvSpPr txBox="1"/>
          <p:nvPr/>
        </p:nvSpPr>
        <p:spPr>
          <a:xfrm>
            <a:off x="4224528" y="3396996"/>
            <a:ext cx="2404872" cy="283464"/>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500">
                <a:solidFill>
                  <a:srgbClr val="1F2328"/>
                </a:solidFill>
                <a:latin typeface="Calibri"/>
                <a:ea typeface="Calibri"/>
                <a:cs typeface="Calibri"/>
                <a:sym typeface="Calibri"/>
              </a:rPr>
              <a:t>External ontologies</a:t>
            </a:r>
            <a:endParaRPr/>
          </a:p>
        </p:txBody>
      </p:sp>
      <p:sp>
        <p:nvSpPr>
          <p:cNvPr id="644" name="Google Shape;644;p15"/>
          <p:cNvSpPr txBox="1"/>
          <p:nvPr/>
        </p:nvSpPr>
        <p:spPr>
          <a:xfrm>
            <a:off x="4224528" y="3703320"/>
            <a:ext cx="2404872" cy="201168"/>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400">
                <a:solidFill>
                  <a:srgbClr val="3A434C"/>
                </a:solidFill>
                <a:latin typeface="Calibri"/>
                <a:ea typeface="Calibri"/>
                <a:cs typeface="Calibri"/>
                <a:sym typeface="Calibri"/>
              </a:rPr>
              <a:t>Domain alignments</a:t>
            </a:r>
            <a:endParaRPr/>
          </a:p>
        </p:txBody>
      </p:sp>
      <p:sp>
        <p:nvSpPr>
          <p:cNvPr id="645" name="Google Shape;645;p15"/>
          <p:cNvSpPr/>
          <p:nvPr/>
        </p:nvSpPr>
        <p:spPr>
          <a:xfrm>
            <a:off x="3776472" y="4087368"/>
            <a:ext cx="2980944" cy="603504"/>
          </a:xfrm>
          <a:prstGeom prst="roundRect">
            <a:avLst>
              <a:gd fmla="val 16667" name="adj"/>
            </a:avLst>
          </a:prstGeom>
          <a:solidFill>
            <a:srgbClr val="F3F5F4"/>
          </a:solidFill>
          <a:ln cap="flat" cmpd="sng" w="15225">
            <a:solidFill>
              <a:srgbClr val="3A7D8C"/>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46" name="Google Shape;646;p15"/>
          <p:cNvSpPr txBox="1"/>
          <p:nvPr/>
        </p:nvSpPr>
        <p:spPr>
          <a:xfrm>
            <a:off x="3877056" y="4119372"/>
            <a:ext cx="365760" cy="192024"/>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0B6E4F"/>
                </a:solidFill>
                <a:latin typeface="Calibri"/>
                <a:ea typeface="Calibri"/>
                <a:cs typeface="Calibri"/>
                <a:sym typeface="Calibri"/>
              </a:rPr>
              <a:t>(d)</a:t>
            </a:r>
            <a:endParaRPr/>
          </a:p>
        </p:txBody>
      </p:sp>
      <p:sp>
        <p:nvSpPr>
          <p:cNvPr id="647" name="Google Shape;647;p15"/>
          <p:cNvSpPr txBox="1"/>
          <p:nvPr/>
        </p:nvSpPr>
        <p:spPr>
          <a:xfrm>
            <a:off x="4224528" y="4101084"/>
            <a:ext cx="2404872" cy="283464"/>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500">
                <a:solidFill>
                  <a:srgbClr val="1F2328"/>
                </a:solidFill>
                <a:latin typeface="Calibri"/>
                <a:ea typeface="Calibri"/>
                <a:cs typeface="Calibri"/>
                <a:sym typeface="Calibri"/>
              </a:rPr>
              <a:t>Documentation</a:t>
            </a:r>
            <a:endParaRPr/>
          </a:p>
        </p:txBody>
      </p:sp>
      <p:sp>
        <p:nvSpPr>
          <p:cNvPr id="648" name="Google Shape;648;p15"/>
          <p:cNvSpPr txBox="1"/>
          <p:nvPr/>
        </p:nvSpPr>
        <p:spPr>
          <a:xfrm>
            <a:off x="4224528" y="4407408"/>
            <a:ext cx="2404872" cy="201168"/>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400">
                <a:solidFill>
                  <a:srgbClr val="3A434C"/>
                </a:solidFill>
                <a:latin typeface="Calibri"/>
                <a:ea typeface="Calibri"/>
                <a:cs typeface="Calibri"/>
                <a:sym typeface="Calibri"/>
              </a:rPr>
              <a:t>Cryptic fields and codes</a:t>
            </a:r>
            <a:endParaRPr/>
          </a:p>
        </p:txBody>
      </p:sp>
      <p:sp>
        <p:nvSpPr>
          <p:cNvPr id="649" name="Google Shape;649;p15"/>
          <p:cNvSpPr/>
          <p:nvPr/>
        </p:nvSpPr>
        <p:spPr>
          <a:xfrm>
            <a:off x="3776472" y="4791456"/>
            <a:ext cx="2980944" cy="603504"/>
          </a:xfrm>
          <a:prstGeom prst="roundRect">
            <a:avLst>
              <a:gd fmla="val 16667" name="adj"/>
            </a:avLst>
          </a:prstGeom>
          <a:solidFill>
            <a:srgbClr val="F3F5F4"/>
          </a:solidFill>
          <a:ln cap="flat" cmpd="sng" w="15225">
            <a:solidFill>
              <a:srgbClr val="3A7D8C"/>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50" name="Google Shape;650;p15"/>
          <p:cNvSpPr txBox="1"/>
          <p:nvPr/>
        </p:nvSpPr>
        <p:spPr>
          <a:xfrm>
            <a:off x="3877056" y="4823460"/>
            <a:ext cx="365760" cy="192024"/>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0B6E4F"/>
                </a:solidFill>
                <a:latin typeface="Calibri"/>
                <a:ea typeface="Calibri"/>
                <a:cs typeface="Calibri"/>
                <a:sym typeface="Calibri"/>
              </a:rPr>
              <a:t>(e)</a:t>
            </a:r>
            <a:endParaRPr/>
          </a:p>
        </p:txBody>
      </p:sp>
      <p:sp>
        <p:nvSpPr>
          <p:cNvPr id="651" name="Google Shape;651;p15"/>
          <p:cNvSpPr txBox="1"/>
          <p:nvPr/>
        </p:nvSpPr>
        <p:spPr>
          <a:xfrm>
            <a:off x="4224528" y="4805172"/>
            <a:ext cx="2404872" cy="283464"/>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500">
                <a:solidFill>
                  <a:srgbClr val="1F2328"/>
                </a:solidFill>
                <a:latin typeface="Calibri"/>
                <a:ea typeface="Calibri"/>
                <a:cs typeface="Calibri"/>
                <a:sym typeface="Calibri"/>
              </a:rPr>
              <a:t>Growing core ontology</a:t>
            </a:r>
            <a:endParaRPr/>
          </a:p>
        </p:txBody>
      </p:sp>
      <p:sp>
        <p:nvSpPr>
          <p:cNvPr id="652" name="Google Shape;652;p15"/>
          <p:cNvSpPr txBox="1"/>
          <p:nvPr/>
        </p:nvSpPr>
        <p:spPr>
          <a:xfrm>
            <a:off x="4224528" y="5111496"/>
            <a:ext cx="2404872" cy="201168"/>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400">
                <a:solidFill>
                  <a:srgbClr val="3A434C"/>
                </a:solidFill>
                <a:latin typeface="Calibri"/>
                <a:ea typeface="Calibri"/>
                <a:cs typeface="Calibri"/>
                <a:sym typeface="Calibri"/>
              </a:rPr>
              <a:t>Reuse validated IRIs</a:t>
            </a:r>
            <a:endParaRPr/>
          </a:p>
        </p:txBody>
      </p:sp>
      <p:sp>
        <p:nvSpPr>
          <p:cNvPr id="653" name="Google Shape;653;p15"/>
          <p:cNvSpPr/>
          <p:nvPr/>
        </p:nvSpPr>
        <p:spPr>
          <a:xfrm>
            <a:off x="7150608" y="3666744"/>
            <a:ext cx="1335024" cy="822960"/>
          </a:xfrm>
          <a:prstGeom prst="roundRect">
            <a:avLst>
              <a:gd fmla="val 16667" name="adj"/>
            </a:avLst>
          </a:prstGeom>
          <a:solidFill>
            <a:srgbClr val="DDE5E1"/>
          </a:solidFill>
          <a:ln cap="flat" cmpd="sng" w="29200">
            <a:solidFill>
              <a:srgbClr val="0B6E4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54" name="Google Shape;654;p15"/>
          <p:cNvSpPr txBox="1"/>
          <p:nvPr/>
        </p:nvSpPr>
        <p:spPr>
          <a:xfrm>
            <a:off x="7223760" y="3456432"/>
            <a:ext cx="384048" cy="228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0B6E4F"/>
                </a:solidFill>
                <a:latin typeface="Calibri"/>
                <a:ea typeface="Calibri"/>
                <a:cs typeface="Calibri"/>
                <a:sym typeface="Calibri"/>
              </a:rPr>
              <a:t>(f)</a:t>
            </a:r>
            <a:endParaRPr/>
          </a:p>
        </p:txBody>
      </p:sp>
      <p:sp>
        <p:nvSpPr>
          <p:cNvPr id="655" name="Google Shape;655;p15"/>
          <p:cNvSpPr txBox="1"/>
          <p:nvPr/>
        </p:nvSpPr>
        <p:spPr>
          <a:xfrm>
            <a:off x="7232904" y="3785615"/>
            <a:ext cx="1170432" cy="246888"/>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1550">
                <a:solidFill>
                  <a:srgbClr val="1F2328"/>
                </a:solidFill>
                <a:latin typeface="Calibri"/>
                <a:ea typeface="Calibri"/>
                <a:cs typeface="Calibri"/>
                <a:sym typeface="Calibri"/>
              </a:rPr>
              <a:t>Gen-LLM</a:t>
            </a:r>
            <a:endParaRPr/>
          </a:p>
        </p:txBody>
      </p:sp>
      <p:sp>
        <p:nvSpPr>
          <p:cNvPr id="656" name="Google Shape;656;p15"/>
          <p:cNvSpPr txBox="1"/>
          <p:nvPr/>
        </p:nvSpPr>
        <p:spPr>
          <a:xfrm>
            <a:off x="7242048" y="4059935"/>
            <a:ext cx="1152144" cy="384048"/>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US" sz="1400">
                <a:solidFill>
                  <a:srgbClr val="3A434C"/>
                </a:solidFill>
                <a:latin typeface="Calibri"/>
                <a:ea typeface="Calibri"/>
                <a:cs typeface="Calibri"/>
                <a:sym typeface="Calibri"/>
              </a:rPr>
              <a:t>creates ΔOᵣ</a:t>
            </a:r>
            <a:endParaRPr/>
          </a:p>
        </p:txBody>
      </p:sp>
      <p:sp>
        <p:nvSpPr>
          <p:cNvPr id="657" name="Google Shape;657;p15"/>
          <p:cNvSpPr txBox="1"/>
          <p:nvPr/>
        </p:nvSpPr>
        <p:spPr>
          <a:xfrm>
            <a:off x="8586216" y="3648456"/>
            <a:ext cx="713232" cy="246888"/>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0B6E4F"/>
                </a:solidFill>
                <a:latin typeface="Calibri"/>
                <a:ea typeface="Calibri"/>
                <a:cs typeface="Calibri"/>
                <a:sym typeface="Calibri"/>
              </a:rPr>
              <a:t>(g) ΔOᵣ</a:t>
            </a:r>
            <a:endParaRPr/>
          </a:p>
        </p:txBody>
      </p:sp>
      <p:sp>
        <p:nvSpPr>
          <p:cNvPr id="658" name="Google Shape;658;p15"/>
          <p:cNvSpPr/>
          <p:nvPr/>
        </p:nvSpPr>
        <p:spPr>
          <a:xfrm>
            <a:off x="9208008" y="3355848"/>
            <a:ext cx="2176272" cy="1325880"/>
          </a:xfrm>
          <a:prstGeom prst="roundRect">
            <a:avLst>
              <a:gd fmla="val 16667" name="adj"/>
            </a:avLst>
          </a:prstGeom>
          <a:solidFill>
            <a:srgbClr val="E9EEEB"/>
          </a:solidFill>
          <a:ln cap="flat" cmpd="sng" w="20300">
            <a:solidFill>
              <a:srgbClr val="0B6E4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59" name="Google Shape;659;p15"/>
          <p:cNvSpPr txBox="1"/>
          <p:nvPr/>
        </p:nvSpPr>
        <p:spPr>
          <a:xfrm>
            <a:off x="9400032" y="3547872"/>
            <a:ext cx="1783080" cy="265176"/>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550">
                <a:solidFill>
                  <a:srgbClr val="0B6E4F"/>
                </a:solidFill>
                <a:latin typeface="Calibri"/>
                <a:ea typeface="Calibri"/>
                <a:cs typeface="Calibri"/>
                <a:sym typeface="Calibri"/>
              </a:rPr>
              <a:t>DELTA ONTOLOGY</a:t>
            </a:r>
            <a:endParaRPr/>
          </a:p>
        </p:txBody>
      </p:sp>
      <p:sp>
        <p:nvSpPr>
          <p:cNvPr id="660" name="Google Shape;660;p15"/>
          <p:cNvSpPr txBox="1"/>
          <p:nvPr/>
        </p:nvSpPr>
        <p:spPr>
          <a:xfrm>
            <a:off x="9400032" y="3886200"/>
            <a:ext cx="1764792" cy="630936"/>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600">
                <a:solidFill>
                  <a:srgbClr val="1F2328"/>
                </a:solidFill>
                <a:latin typeface="Calibri"/>
                <a:ea typeface="Calibri"/>
                <a:cs typeface="Calibri"/>
                <a:sym typeface="Calibri"/>
              </a:rPr>
              <a:t>Semantic axioms + provenance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65" name="Shape 665"/>
        <p:cNvGrpSpPr/>
        <p:nvPr/>
      </p:nvGrpSpPr>
      <p:grpSpPr>
        <a:xfrm>
          <a:off x="0" y="0"/>
          <a:ext cx="0" cy="0"/>
          <a:chOff x="0" y="0"/>
          <a:chExt cx="0" cy="0"/>
        </a:xfrm>
      </p:grpSpPr>
      <p:sp>
        <p:nvSpPr>
          <p:cNvPr id="666" name="Google Shape;666;p16"/>
          <p:cNvSpPr txBox="1"/>
          <p:nvPr/>
        </p:nvSpPr>
        <p:spPr>
          <a:xfrm>
            <a:off x="512064" y="320040"/>
            <a:ext cx="6675120" cy="30175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500">
                <a:solidFill>
                  <a:srgbClr val="0B6E4F"/>
                </a:solidFill>
                <a:latin typeface="Consolas"/>
                <a:ea typeface="Calibri"/>
                <a:cs typeface="Calibri"/>
                <a:sym typeface="Calibri"/>
              </a:rPr>
              <a:t>RIGOR  /  REASSEMBLING THE ARCHITECTURE</a:t>
            </a:r>
            <a:endParaRPr>
              <a:latin typeface="Consolas"/>
            </a:endParaRPr>
          </a:p>
        </p:txBody>
      </p:sp>
      <p:sp>
        <p:nvSpPr>
          <p:cNvPr id="667" name="Google Shape;667;p16"/>
          <p:cNvSpPr txBox="1"/>
          <p:nvPr/>
        </p:nvSpPr>
        <p:spPr>
          <a:xfrm>
            <a:off x="512064" y="685800"/>
            <a:ext cx="10881360" cy="475488"/>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2900">
                <a:solidFill>
                  <a:srgbClr val="1F2328"/>
                </a:solidFill>
                <a:latin typeface="Cambria"/>
                <a:ea typeface="Calibri"/>
                <a:cs typeface="Calibri"/>
                <a:sym typeface="Calibri"/>
              </a:rPr>
              <a:t>5. Validate before integration</a:t>
            </a:r>
            <a:endParaRPr/>
          </a:p>
        </p:txBody>
      </p:sp>
      <p:sp>
        <p:nvSpPr>
          <p:cNvPr id="668" name="Google Shape;668;p16"/>
          <p:cNvSpPr txBox="1"/>
          <p:nvPr/>
        </p:nvSpPr>
        <p:spPr>
          <a:xfrm>
            <a:off x="512064" y="1271016"/>
            <a:ext cx="10607040" cy="310896"/>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600">
                <a:solidFill>
                  <a:srgbClr val="3A434C"/>
                </a:solidFill>
                <a:latin typeface="Calibri"/>
                <a:ea typeface="Calibri"/>
                <a:cs typeface="Calibri"/>
                <a:sym typeface="Calibri"/>
              </a:rPr>
              <a:t>Paper Fig. 1(h)  ·  Validate and refine each delta before it joins the core.</a:t>
            </a:r>
            <a:endParaRPr/>
          </a:p>
        </p:txBody>
      </p:sp>
      <p:sp>
        <p:nvSpPr>
          <p:cNvPr id="669" name="Google Shape;669;p16"/>
          <p:cNvSpPr/>
          <p:nvPr/>
        </p:nvSpPr>
        <p:spPr>
          <a:xfrm>
            <a:off x="9692640" y="356616"/>
            <a:ext cx="274320" cy="64008"/>
          </a:xfrm>
          <a:prstGeom prst="rect">
            <a:avLst/>
          </a:prstGeom>
          <a:solidFill>
            <a:srgbClr val="0B6E4F"/>
          </a:solidFill>
          <a:ln cap="flat" cmpd="sng" w="9525">
            <a:solidFill>
              <a:srgbClr val="0B6E4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70" name="Google Shape;670;p16"/>
          <p:cNvSpPr/>
          <p:nvPr/>
        </p:nvSpPr>
        <p:spPr>
          <a:xfrm>
            <a:off x="10049256" y="356616"/>
            <a:ext cx="274320" cy="64008"/>
          </a:xfrm>
          <a:prstGeom prst="rect">
            <a:avLst/>
          </a:prstGeom>
          <a:solidFill>
            <a:srgbClr val="0B6E4F"/>
          </a:solidFill>
          <a:ln cap="flat" cmpd="sng" w="9525">
            <a:solidFill>
              <a:srgbClr val="0B6E4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71" name="Google Shape;671;p16"/>
          <p:cNvSpPr/>
          <p:nvPr/>
        </p:nvSpPr>
        <p:spPr>
          <a:xfrm>
            <a:off x="10405872" y="356616"/>
            <a:ext cx="274320" cy="64008"/>
          </a:xfrm>
          <a:prstGeom prst="rect">
            <a:avLst/>
          </a:prstGeom>
          <a:solidFill>
            <a:srgbClr val="0B6E4F"/>
          </a:solidFill>
          <a:ln cap="flat" cmpd="sng" w="9525">
            <a:solidFill>
              <a:srgbClr val="0B6E4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72" name="Google Shape;672;p16"/>
          <p:cNvSpPr/>
          <p:nvPr/>
        </p:nvSpPr>
        <p:spPr>
          <a:xfrm>
            <a:off x="10762488" y="356616"/>
            <a:ext cx="274320" cy="64008"/>
          </a:xfrm>
          <a:prstGeom prst="rect">
            <a:avLst/>
          </a:prstGeom>
          <a:solidFill>
            <a:srgbClr val="0B6E4F"/>
          </a:solidFill>
          <a:ln cap="flat" cmpd="sng" w="9525">
            <a:solidFill>
              <a:srgbClr val="0B6E4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73" name="Google Shape;673;p16"/>
          <p:cNvSpPr/>
          <p:nvPr/>
        </p:nvSpPr>
        <p:spPr>
          <a:xfrm>
            <a:off x="11119104" y="356616"/>
            <a:ext cx="274320" cy="64008"/>
          </a:xfrm>
          <a:prstGeom prst="rect">
            <a:avLst/>
          </a:prstGeom>
          <a:solidFill>
            <a:srgbClr val="0B6E4F"/>
          </a:solidFill>
          <a:ln cap="flat" cmpd="sng" w="9525">
            <a:solidFill>
              <a:srgbClr val="0B6E4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74" name="Google Shape;674;p16"/>
          <p:cNvSpPr/>
          <p:nvPr/>
        </p:nvSpPr>
        <p:spPr>
          <a:xfrm>
            <a:off x="11475720" y="356616"/>
            <a:ext cx="274320" cy="64008"/>
          </a:xfrm>
          <a:prstGeom prst="rect">
            <a:avLst/>
          </a:prstGeom>
          <a:solidFill>
            <a:srgbClr val="D3DAD6"/>
          </a:solidFill>
          <a:ln cap="flat" cmpd="sng" w="9525">
            <a:solidFill>
              <a:srgbClr val="D9DED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75" name="Google Shape;675;p16"/>
          <p:cNvSpPr/>
          <p:nvPr/>
        </p:nvSpPr>
        <p:spPr>
          <a:xfrm>
            <a:off x="438912" y="1792224"/>
            <a:ext cx="11301984" cy="4187952"/>
          </a:xfrm>
          <a:prstGeom prst="roundRect">
            <a:avLst>
              <a:gd fmla="val 16667" name="adj"/>
            </a:avLst>
          </a:prstGeom>
          <a:solidFill>
            <a:srgbClr val="FFFFFF"/>
          </a:solidFill>
          <a:ln cap="flat" cmpd="sng" w="12700">
            <a:solidFill>
              <a:srgbClr val="D9DED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76" name="Google Shape;676;p16"/>
          <p:cNvSpPr txBox="1"/>
          <p:nvPr/>
        </p:nvSpPr>
        <p:spPr>
          <a:xfrm>
            <a:off x="566928" y="6208776"/>
            <a:ext cx="10881360" cy="292608"/>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550">
                <a:solidFill>
                  <a:srgbClr val="1F2328"/>
                </a:solidFill>
                <a:latin typeface="Calibri"/>
                <a:ea typeface="Calibri"/>
                <a:cs typeface="Calibri"/>
                <a:sym typeface="Calibri"/>
              </a:rPr>
              <a:t>Recall slide 10  •  Reject or correct errors before allowing a fragment into the core ontology.</a:t>
            </a:r>
            <a:endParaRPr/>
          </a:p>
        </p:txBody>
      </p:sp>
      <p:sp>
        <p:nvSpPr>
          <p:cNvPr id="677" name="Google Shape;677;p16"/>
          <p:cNvSpPr txBox="1"/>
          <p:nvPr/>
        </p:nvSpPr>
        <p:spPr>
          <a:xfrm>
            <a:off x="10917936" y="6519672"/>
            <a:ext cx="804672" cy="18288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US" sz="1400">
                <a:solidFill>
                  <a:srgbClr val="3A434C"/>
                </a:solidFill>
                <a:latin typeface="Calibri"/>
                <a:ea typeface="Calibri"/>
                <a:cs typeface="Calibri"/>
                <a:sym typeface="Calibri"/>
              </a:rPr>
              <a:t>5 / 6</a:t>
            </a:r>
            <a:endParaRPr/>
          </a:p>
        </p:txBody>
      </p:sp>
      <p:cxnSp>
        <p:nvCxnSpPr>
          <p:cNvPr id="678" name="Google Shape;678;p16"/>
          <p:cNvCxnSpPr/>
          <p:nvPr/>
        </p:nvCxnSpPr>
        <p:spPr>
          <a:xfrm>
            <a:off x="1792224" y="3831336"/>
            <a:ext cx="164592" cy="0"/>
          </a:xfrm>
          <a:prstGeom prst="straightConnector1">
            <a:avLst/>
          </a:prstGeom>
          <a:noFill/>
          <a:ln cap="flat" cmpd="sng" w="38100">
            <a:solidFill>
              <a:srgbClr val="3A7D8C"/>
            </a:solidFill>
            <a:prstDash val="solid"/>
            <a:miter lim="8000"/>
            <a:headEnd len="sm" w="sm" type="none"/>
            <a:tailEnd len="sm" w="sm" type="none"/>
          </a:ln>
        </p:spPr>
      </p:cxnSp>
      <p:sp>
        <p:nvSpPr>
          <p:cNvPr id="679" name="Google Shape;679;p16"/>
          <p:cNvSpPr/>
          <p:nvPr/>
        </p:nvSpPr>
        <p:spPr>
          <a:xfrm rot="5400000">
            <a:off x="1892808" y="3767328"/>
            <a:ext cx="128016" cy="128016"/>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680" name="Google Shape;680;p16"/>
          <p:cNvCxnSpPr/>
          <p:nvPr/>
        </p:nvCxnSpPr>
        <p:spPr>
          <a:xfrm>
            <a:off x="3401568" y="3794760"/>
            <a:ext cx="100584" cy="0"/>
          </a:xfrm>
          <a:prstGeom prst="straightConnector1">
            <a:avLst/>
          </a:prstGeom>
          <a:noFill/>
          <a:ln cap="flat" cmpd="sng" w="29200">
            <a:solidFill>
              <a:srgbClr val="3A7D8C"/>
            </a:solidFill>
            <a:prstDash val="solid"/>
            <a:miter lim="8000"/>
            <a:headEnd len="sm" w="sm" type="none"/>
            <a:tailEnd len="sm" w="sm" type="none"/>
          </a:ln>
        </p:spPr>
      </p:cxnSp>
      <p:cxnSp>
        <p:nvCxnSpPr>
          <p:cNvPr id="681" name="Google Shape;681;p16"/>
          <p:cNvCxnSpPr/>
          <p:nvPr/>
        </p:nvCxnSpPr>
        <p:spPr>
          <a:xfrm rot="10800000">
            <a:off x="3502152" y="2523744"/>
            <a:ext cx="0" cy="1271016"/>
          </a:xfrm>
          <a:prstGeom prst="straightConnector1">
            <a:avLst/>
          </a:prstGeom>
          <a:noFill/>
          <a:ln cap="flat" cmpd="sng" w="29200">
            <a:solidFill>
              <a:srgbClr val="3A7D8C"/>
            </a:solidFill>
            <a:prstDash val="solid"/>
            <a:miter lim="8000"/>
            <a:headEnd len="sm" w="sm" type="none"/>
            <a:tailEnd len="sm" w="sm" type="none"/>
          </a:ln>
        </p:spPr>
      </p:cxnSp>
      <p:cxnSp>
        <p:nvCxnSpPr>
          <p:cNvPr id="682" name="Google Shape;682;p16"/>
          <p:cNvCxnSpPr/>
          <p:nvPr/>
        </p:nvCxnSpPr>
        <p:spPr>
          <a:xfrm>
            <a:off x="3502152" y="2523744"/>
            <a:ext cx="265176" cy="0"/>
          </a:xfrm>
          <a:prstGeom prst="straightConnector1">
            <a:avLst/>
          </a:prstGeom>
          <a:noFill/>
          <a:ln cap="flat" cmpd="sng" w="29200">
            <a:solidFill>
              <a:srgbClr val="3A7D8C"/>
            </a:solidFill>
            <a:prstDash val="solid"/>
            <a:miter lim="8000"/>
            <a:headEnd len="sm" w="sm" type="none"/>
            <a:tailEnd len="sm" w="sm" type="none"/>
          </a:ln>
        </p:spPr>
      </p:cxnSp>
      <p:sp>
        <p:nvSpPr>
          <p:cNvPr id="683" name="Google Shape;683;p16"/>
          <p:cNvSpPr/>
          <p:nvPr/>
        </p:nvSpPr>
        <p:spPr>
          <a:xfrm rot="5400000">
            <a:off x="3703320" y="2459736"/>
            <a:ext cx="128016" cy="128016"/>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684" name="Google Shape;684;p16"/>
          <p:cNvCxnSpPr/>
          <p:nvPr/>
        </p:nvCxnSpPr>
        <p:spPr>
          <a:xfrm>
            <a:off x="3401568" y="3931920"/>
            <a:ext cx="118872" cy="0"/>
          </a:xfrm>
          <a:prstGeom prst="straightConnector1">
            <a:avLst/>
          </a:prstGeom>
          <a:noFill/>
          <a:ln cap="flat" cmpd="sng" w="26650">
            <a:solidFill>
              <a:srgbClr val="3A7D8C"/>
            </a:solidFill>
            <a:prstDash val="solid"/>
            <a:miter lim="8000"/>
            <a:headEnd len="sm" w="sm" type="none"/>
            <a:tailEnd len="sm" w="sm" type="none"/>
          </a:ln>
        </p:spPr>
      </p:cxnSp>
      <p:cxnSp>
        <p:nvCxnSpPr>
          <p:cNvPr id="685" name="Google Shape;685;p16"/>
          <p:cNvCxnSpPr/>
          <p:nvPr/>
        </p:nvCxnSpPr>
        <p:spPr>
          <a:xfrm rot="10800000">
            <a:off x="3520440" y="3621024"/>
            <a:ext cx="0" cy="310896"/>
          </a:xfrm>
          <a:prstGeom prst="straightConnector1">
            <a:avLst/>
          </a:prstGeom>
          <a:noFill/>
          <a:ln cap="flat" cmpd="sng" w="26650">
            <a:solidFill>
              <a:srgbClr val="3A7D8C"/>
            </a:solidFill>
            <a:prstDash val="solid"/>
            <a:miter lim="8000"/>
            <a:headEnd len="sm" w="sm" type="none"/>
            <a:tailEnd len="sm" w="sm" type="none"/>
          </a:ln>
        </p:spPr>
      </p:cxnSp>
      <p:cxnSp>
        <p:nvCxnSpPr>
          <p:cNvPr id="686" name="Google Shape;686;p16"/>
          <p:cNvCxnSpPr/>
          <p:nvPr/>
        </p:nvCxnSpPr>
        <p:spPr>
          <a:xfrm>
            <a:off x="3520440" y="3621024"/>
            <a:ext cx="256032" cy="0"/>
          </a:xfrm>
          <a:prstGeom prst="straightConnector1">
            <a:avLst/>
          </a:prstGeom>
          <a:noFill/>
          <a:ln cap="flat" cmpd="sng" w="26650">
            <a:solidFill>
              <a:srgbClr val="3A7D8C"/>
            </a:solidFill>
            <a:prstDash val="solid"/>
            <a:miter lim="8000"/>
            <a:headEnd len="sm" w="sm" type="none"/>
            <a:tailEnd len="sm" w="sm" type="none"/>
          </a:ln>
        </p:spPr>
      </p:cxnSp>
      <p:sp>
        <p:nvSpPr>
          <p:cNvPr id="687" name="Google Shape;687;p16"/>
          <p:cNvSpPr/>
          <p:nvPr/>
        </p:nvSpPr>
        <p:spPr>
          <a:xfrm rot="5400000">
            <a:off x="3712463" y="3557016"/>
            <a:ext cx="128016" cy="128016"/>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688" name="Google Shape;688;p16"/>
          <p:cNvCxnSpPr/>
          <p:nvPr/>
        </p:nvCxnSpPr>
        <p:spPr>
          <a:xfrm>
            <a:off x="3401568" y="3931920"/>
            <a:ext cx="118872" cy="0"/>
          </a:xfrm>
          <a:prstGeom prst="straightConnector1">
            <a:avLst/>
          </a:prstGeom>
          <a:noFill/>
          <a:ln cap="flat" cmpd="sng" w="26650">
            <a:solidFill>
              <a:srgbClr val="3A7D8C"/>
            </a:solidFill>
            <a:prstDash val="solid"/>
            <a:miter lim="8000"/>
            <a:headEnd len="sm" w="sm" type="none"/>
            <a:tailEnd len="sm" w="sm" type="none"/>
          </a:ln>
        </p:spPr>
      </p:cxnSp>
      <p:cxnSp>
        <p:nvCxnSpPr>
          <p:cNvPr id="689" name="Google Shape;689;p16"/>
          <p:cNvCxnSpPr/>
          <p:nvPr/>
        </p:nvCxnSpPr>
        <p:spPr>
          <a:xfrm>
            <a:off x="3520440" y="3931920"/>
            <a:ext cx="0" cy="384048"/>
          </a:xfrm>
          <a:prstGeom prst="straightConnector1">
            <a:avLst/>
          </a:prstGeom>
          <a:noFill/>
          <a:ln cap="flat" cmpd="sng" w="26650">
            <a:solidFill>
              <a:srgbClr val="3A7D8C"/>
            </a:solidFill>
            <a:prstDash val="solid"/>
            <a:miter lim="8000"/>
            <a:headEnd len="sm" w="sm" type="none"/>
            <a:tailEnd len="sm" w="sm" type="none"/>
          </a:ln>
        </p:spPr>
      </p:cxnSp>
      <p:cxnSp>
        <p:nvCxnSpPr>
          <p:cNvPr id="690" name="Google Shape;690;p16"/>
          <p:cNvCxnSpPr/>
          <p:nvPr/>
        </p:nvCxnSpPr>
        <p:spPr>
          <a:xfrm>
            <a:off x="3520440" y="4315968"/>
            <a:ext cx="256032" cy="0"/>
          </a:xfrm>
          <a:prstGeom prst="straightConnector1">
            <a:avLst/>
          </a:prstGeom>
          <a:noFill/>
          <a:ln cap="flat" cmpd="sng" w="26650">
            <a:solidFill>
              <a:srgbClr val="3A7D8C"/>
            </a:solidFill>
            <a:prstDash val="solid"/>
            <a:miter lim="8000"/>
            <a:headEnd len="sm" w="sm" type="none"/>
            <a:tailEnd len="sm" w="sm" type="none"/>
          </a:ln>
        </p:spPr>
      </p:cxnSp>
      <p:sp>
        <p:nvSpPr>
          <p:cNvPr id="691" name="Google Shape;691;p16"/>
          <p:cNvSpPr/>
          <p:nvPr/>
        </p:nvSpPr>
        <p:spPr>
          <a:xfrm rot="5400000">
            <a:off x="3712463" y="4251959"/>
            <a:ext cx="128016" cy="128016"/>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692" name="Google Shape;692;p16"/>
          <p:cNvCxnSpPr/>
          <p:nvPr/>
        </p:nvCxnSpPr>
        <p:spPr>
          <a:xfrm>
            <a:off x="3401568" y="3931920"/>
            <a:ext cx="118872" cy="0"/>
          </a:xfrm>
          <a:prstGeom prst="straightConnector1">
            <a:avLst/>
          </a:prstGeom>
          <a:noFill/>
          <a:ln cap="flat" cmpd="sng" w="26650">
            <a:solidFill>
              <a:srgbClr val="3A7D8C"/>
            </a:solidFill>
            <a:prstDash val="solid"/>
            <a:miter lim="8000"/>
            <a:headEnd len="sm" w="sm" type="none"/>
            <a:tailEnd len="sm" w="sm" type="none"/>
          </a:ln>
        </p:spPr>
      </p:cxnSp>
      <p:cxnSp>
        <p:nvCxnSpPr>
          <p:cNvPr id="693" name="Google Shape;693;p16"/>
          <p:cNvCxnSpPr/>
          <p:nvPr/>
        </p:nvCxnSpPr>
        <p:spPr>
          <a:xfrm>
            <a:off x="3520440" y="3931920"/>
            <a:ext cx="0" cy="1078992"/>
          </a:xfrm>
          <a:prstGeom prst="straightConnector1">
            <a:avLst/>
          </a:prstGeom>
          <a:noFill/>
          <a:ln cap="flat" cmpd="sng" w="26650">
            <a:solidFill>
              <a:srgbClr val="3A7D8C"/>
            </a:solidFill>
            <a:prstDash val="solid"/>
            <a:miter lim="8000"/>
            <a:headEnd len="sm" w="sm" type="none"/>
            <a:tailEnd len="sm" w="sm" type="none"/>
          </a:ln>
        </p:spPr>
      </p:cxnSp>
      <p:cxnSp>
        <p:nvCxnSpPr>
          <p:cNvPr id="694" name="Google Shape;694;p16"/>
          <p:cNvCxnSpPr/>
          <p:nvPr/>
        </p:nvCxnSpPr>
        <p:spPr>
          <a:xfrm>
            <a:off x="3520440" y="5010912"/>
            <a:ext cx="256032" cy="0"/>
          </a:xfrm>
          <a:prstGeom prst="straightConnector1">
            <a:avLst/>
          </a:prstGeom>
          <a:noFill/>
          <a:ln cap="flat" cmpd="sng" w="26650">
            <a:solidFill>
              <a:srgbClr val="3A7D8C"/>
            </a:solidFill>
            <a:prstDash val="solid"/>
            <a:miter lim="8000"/>
            <a:headEnd len="sm" w="sm" type="none"/>
            <a:tailEnd len="sm" w="sm" type="none"/>
          </a:ln>
        </p:spPr>
      </p:cxnSp>
      <p:sp>
        <p:nvSpPr>
          <p:cNvPr id="695" name="Google Shape;695;p16"/>
          <p:cNvSpPr/>
          <p:nvPr/>
        </p:nvSpPr>
        <p:spPr>
          <a:xfrm rot="5400000">
            <a:off x="3712463" y="4946904"/>
            <a:ext cx="128016" cy="128016"/>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696" name="Google Shape;696;p16"/>
          <p:cNvCxnSpPr/>
          <p:nvPr/>
        </p:nvCxnSpPr>
        <p:spPr>
          <a:xfrm>
            <a:off x="5879592" y="2505456"/>
            <a:ext cx="1874520" cy="0"/>
          </a:xfrm>
          <a:prstGeom prst="straightConnector1">
            <a:avLst/>
          </a:prstGeom>
          <a:noFill/>
          <a:ln cap="flat" cmpd="sng" w="29200">
            <a:solidFill>
              <a:srgbClr val="3A7D8C"/>
            </a:solidFill>
            <a:prstDash val="solid"/>
            <a:miter lim="8000"/>
            <a:headEnd len="sm" w="sm" type="none"/>
            <a:tailEnd len="sm" w="sm" type="none"/>
          </a:ln>
        </p:spPr>
      </p:cxnSp>
      <p:cxnSp>
        <p:nvCxnSpPr>
          <p:cNvPr id="697" name="Google Shape;697;p16"/>
          <p:cNvCxnSpPr/>
          <p:nvPr/>
        </p:nvCxnSpPr>
        <p:spPr>
          <a:xfrm>
            <a:off x="7754112" y="2505456"/>
            <a:ext cx="0" cy="1133856"/>
          </a:xfrm>
          <a:prstGeom prst="straightConnector1">
            <a:avLst/>
          </a:prstGeom>
          <a:noFill/>
          <a:ln cap="flat" cmpd="sng" w="29200">
            <a:solidFill>
              <a:srgbClr val="3A7D8C"/>
            </a:solidFill>
            <a:prstDash val="solid"/>
            <a:miter lim="8000"/>
            <a:headEnd len="sm" w="sm" type="none"/>
            <a:tailEnd len="sm" w="sm" type="none"/>
          </a:ln>
        </p:spPr>
      </p:cxnSp>
      <p:sp>
        <p:nvSpPr>
          <p:cNvPr id="698" name="Google Shape;698;p16"/>
          <p:cNvSpPr/>
          <p:nvPr/>
        </p:nvSpPr>
        <p:spPr>
          <a:xfrm rot="10800000">
            <a:off x="7690104" y="3575304"/>
            <a:ext cx="128016" cy="128016"/>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699" name="Google Shape;699;p16"/>
          <p:cNvCxnSpPr/>
          <p:nvPr/>
        </p:nvCxnSpPr>
        <p:spPr>
          <a:xfrm>
            <a:off x="6757416" y="3621024"/>
            <a:ext cx="146304" cy="0"/>
          </a:xfrm>
          <a:prstGeom prst="straightConnector1">
            <a:avLst/>
          </a:prstGeom>
          <a:noFill/>
          <a:ln cap="flat" cmpd="sng" w="26650">
            <a:solidFill>
              <a:srgbClr val="3A7D8C"/>
            </a:solidFill>
            <a:prstDash val="solid"/>
            <a:miter lim="8000"/>
            <a:headEnd len="sm" w="sm" type="none"/>
            <a:tailEnd len="sm" w="sm" type="none"/>
          </a:ln>
        </p:spPr>
      </p:cxnSp>
      <p:cxnSp>
        <p:nvCxnSpPr>
          <p:cNvPr id="700" name="Google Shape;700;p16"/>
          <p:cNvCxnSpPr/>
          <p:nvPr/>
        </p:nvCxnSpPr>
        <p:spPr>
          <a:xfrm>
            <a:off x="6903720" y="3621024"/>
            <a:ext cx="0" cy="448056"/>
          </a:xfrm>
          <a:prstGeom prst="straightConnector1">
            <a:avLst/>
          </a:prstGeom>
          <a:noFill/>
          <a:ln cap="flat" cmpd="sng" w="26650">
            <a:solidFill>
              <a:srgbClr val="3A7D8C"/>
            </a:solidFill>
            <a:prstDash val="solid"/>
            <a:miter lim="8000"/>
            <a:headEnd len="sm" w="sm" type="none"/>
            <a:tailEnd len="sm" w="sm" type="none"/>
          </a:ln>
        </p:spPr>
      </p:cxnSp>
      <p:cxnSp>
        <p:nvCxnSpPr>
          <p:cNvPr id="701" name="Google Shape;701;p16"/>
          <p:cNvCxnSpPr/>
          <p:nvPr/>
        </p:nvCxnSpPr>
        <p:spPr>
          <a:xfrm>
            <a:off x="6903720" y="4069080"/>
            <a:ext cx="228600" cy="0"/>
          </a:xfrm>
          <a:prstGeom prst="straightConnector1">
            <a:avLst/>
          </a:prstGeom>
          <a:noFill/>
          <a:ln cap="flat" cmpd="sng" w="26650">
            <a:solidFill>
              <a:srgbClr val="3A7D8C"/>
            </a:solidFill>
            <a:prstDash val="solid"/>
            <a:miter lim="8000"/>
            <a:headEnd len="sm" w="sm" type="none"/>
            <a:tailEnd len="sm" w="sm" type="none"/>
          </a:ln>
        </p:spPr>
      </p:cxnSp>
      <p:sp>
        <p:nvSpPr>
          <p:cNvPr id="702" name="Google Shape;702;p16"/>
          <p:cNvSpPr/>
          <p:nvPr/>
        </p:nvSpPr>
        <p:spPr>
          <a:xfrm rot="5400000">
            <a:off x="7068312" y="4005072"/>
            <a:ext cx="128016" cy="128016"/>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703" name="Google Shape;703;p16"/>
          <p:cNvCxnSpPr/>
          <p:nvPr/>
        </p:nvCxnSpPr>
        <p:spPr>
          <a:xfrm flipH="1" rot="10800000">
            <a:off x="6757416" y="4069080"/>
            <a:ext cx="374904" cy="256032"/>
          </a:xfrm>
          <a:prstGeom prst="straightConnector1">
            <a:avLst/>
          </a:prstGeom>
          <a:noFill/>
          <a:ln cap="flat" cmpd="sng" w="26650">
            <a:solidFill>
              <a:srgbClr val="3A7D8C"/>
            </a:solidFill>
            <a:prstDash val="solid"/>
            <a:miter lim="8000"/>
            <a:headEnd len="sm" w="sm" type="none"/>
            <a:tailEnd len="sm" w="sm" type="none"/>
          </a:ln>
        </p:spPr>
      </p:cxnSp>
      <p:sp>
        <p:nvSpPr>
          <p:cNvPr id="704" name="Google Shape;704;p16"/>
          <p:cNvSpPr/>
          <p:nvPr/>
        </p:nvSpPr>
        <p:spPr>
          <a:xfrm rot="5400000">
            <a:off x="7068312" y="4005072"/>
            <a:ext cx="128016" cy="128016"/>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705" name="Google Shape;705;p16"/>
          <p:cNvCxnSpPr/>
          <p:nvPr/>
        </p:nvCxnSpPr>
        <p:spPr>
          <a:xfrm>
            <a:off x="6757416" y="5020056"/>
            <a:ext cx="146304" cy="0"/>
          </a:xfrm>
          <a:prstGeom prst="straightConnector1">
            <a:avLst/>
          </a:prstGeom>
          <a:noFill/>
          <a:ln cap="flat" cmpd="sng" w="26650">
            <a:solidFill>
              <a:srgbClr val="3A7D8C"/>
            </a:solidFill>
            <a:prstDash val="solid"/>
            <a:miter lim="8000"/>
            <a:headEnd len="sm" w="sm" type="none"/>
            <a:tailEnd len="sm" w="sm" type="none"/>
          </a:ln>
        </p:spPr>
      </p:cxnSp>
      <p:cxnSp>
        <p:nvCxnSpPr>
          <p:cNvPr id="706" name="Google Shape;706;p16"/>
          <p:cNvCxnSpPr/>
          <p:nvPr/>
        </p:nvCxnSpPr>
        <p:spPr>
          <a:xfrm rot="10800000">
            <a:off x="6903720" y="4069080"/>
            <a:ext cx="0" cy="950976"/>
          </a:xfrm>
          <a:prstGeom prst="straightConnector1">
            <a:avLst/>
          </a:prstGeom>
          <a:noFill/>
          <a:ln cap="flat" cmpd="sng" w="26650">
            <a:solidFill>
              <a:srgbClr val="3A7D8C"/>
            </a:solidFill>
            <a:prstDash val="solid"/>
            <a:miter lim="8000"/>
            <a:headEnd len="sm" w="sm" type="none"/>
            <a:tailEnd len="sm" w="sm" type="none"/>
          </a:ln>
        </p:spPr>
      </p:cxnSp>
      <p:cxnSp>
        <p:nvCxnSpPr>
          <p:cNvPr id="707" name="Google Shape;707;p16"/>
          <p:cNvCxnSpPr/>
          <p:nvPr/>
        </p:nvCxnSpPr>
        <p:spPr>
          <a:xfrm>
            <a:off x="6903720" y="4069080"/>
            <a:ext cx="228600" cy="0"/>
          </a:xfrm>
          <a:prstGeom prst="straightConnector1">
            <a:avLst/>
          </a:prstGeom>
          <a:noFill/>
          <a:ln cap="flat" cmpd="sng" w="26650">
            <a:solidFill>
              <a:srgbClr val="3A7D8C"/>
            </a:solidFill>
            <a:prstDash val="solid"/>
            <a:miter lim="8000"/>
            <a:headEnd len="sm" w="sm" type="none"/>
            <a:tailEnd len="sm" w="sm" type="none"/>
          </a:ln>
        </p:spPr>
      </p:cxnSp>
      <p:sp>
        <p:nvSpPr>
          <p:cNvPr id="708" name="Google Shape;708;p16"/>
          <p:cNvSpPr/>
          <p:nvPr/>
        </p:nvSpPr>
        <p:spPr>
          <a:xfrm rot="5400000">
            <a:off x="7068312" y="4005072"/>
            <a:ext cx="128016" cy="128016"/>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709" name="Google Shape;709;p16"/>
          <p:cNvCxnSpPr/>
          <p:nvPr/>
        </p:nvCxnSpPr>
        <p:spPr>
          <a:xfrm>
            <a:off x="8485632" y="4059936"/>
            <a:ext cx="868680" cy="0"/>
          </a:xfrm>
          <a:prstGeom prst="straightConnector1">
            <a:avLst/>
          </a:prstGeom>
          <a:noFill/>
          <a:ln cap="flat" cmpd="sng" w="38100">
            <a:solidFill>
              <a:srgbClr val="0B6E4F"/>
            </a:solidFill>
            <a:prstDash val="solid"/>
            <a:miter lim="8000"/>
            <a:headEnd len="sm" w="sm" type="none"/>
            <a:tailEnd len="sm" w="sm" type="none"/>
          </a:ln>
        </p:spPr>
      </p:cxnSp>
      <p:sp>
        <p:nvSpPr>
          <p:cNvPr id="710" name="Google Shape;710;p16"/>
          <p:cNvSpPr/>
          <p:nvPr/>
        </p:nvSpPr>
        <p:spPr>
          <a:xfrm rot="5400000">
            <a:off x="9290304" y="3995928"/>
            <a:ext cx="128016" cy="128016"/>
          </a:xfrm>
          <a:prstGeom prst="triangle">
            <a:avLst>
              <a:gd fmla="val 50000" name="adj"/>
            </a:avLst>
          </a:prstGeom>
          <a:solidFill>
            <a:srgbClr val="0B6E4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11" name="Google Shape;711;p16"/>
          <p:cNvSpPr/>
          <p:nvPr/>
        </p:nvSpPr>
        <p:spPr>
          <a:xfrm>
            <a:off x="621792" y="3282696"/>
            <a:ext cx="1170432" cy="1133856"/>
          </a:xfrm>
          <a:prstGeom prst="roundRect">
            <a:avLst>
              <a:gd fmla="val 16667" name="adj"/>
            </a:avLst>
          </a:prstGeom>
          <a:solidFill>
            <a:srgbClr val="FFFFFF"/>
          </a:solidFill>
          <a:ln cap="flat" cmpd="sng" w="15225">
            <a:solidFill>
              <a:srgbClr val="D9DED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12" name="Google Shape;712;p16"/>
          <p:cNvSpPr/>
          <p:nvPr/>
        </p:nvSpPr>
        <p:spPr>
          <a:xfrm>
            <a:off x="740664" y="3447288"/>
            <a:ext cx="256032" cy="402336"/>
          </a:xfrm>
          <a:prstGeom prst="rect">
            <a:avLst/>
          </a:prstGeom>
          <a:solidFill>
            <a:srgbClr val="DDE5E1"/>
          </a:solidFill>
          <a:ln cap="flat" cmpd="sng" w="10150">
            <a:solidFill>
              <a:srgbClr val="177A5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713" name="Google Shape;713;p16"/>
          <p:cNvCxnSpPr/>
          <p:nvPr/>
        </p:nvCxnSpPr>
        <p:spPr>
          <a:xfrm>
            <a:off x="781812" y="3566160"/>
            <a:ext cx="169164" cy="0"/>
          </a:xfrm>
          <a:prstGeom prst="straightConnector1">
            <a:avLst/>
          </a:prstGeom>
          <a:noFill/>
          <a:ln cap="flat" cmpd="sng" w="9525">
            <a:solidFill>
              <a:srgbClr val="8E989E"/>
            </a:solidFill>
            <a:prstDash val="solid"/>
            <a:miter lim="8000"/>
            <a:headEnd len="sm" w="sm" type="none"/>
            <a:tailEnd len="sm" w="sm" type="none"/>
          </a:ln>
        </p:spPr>
      </p:cxnSp>
      <p:cxnSp>
        <p:nvCxnSpPr>
          <p:cNvPr id="714" name="Google Shape;714;p16"/>
          <p:cNvCxnSpPr/>
          <p:nvPr/>
        </p:nvCxnSpPr>
        <p:spPr>
          <a:xfrm>
            <a:off x="781812" y="3648456"/>
            <a:ext cx="169164" cy="0"/>
          </a:xfrm>
          <a:prstGeom prst="straightConnector1">
            <a:avLst/>
          </a:prstGeom>
          <a:noFill/>
          <a:ln cap="flat" cmpd="sng" w="9525">
            <a:solidFill>
              <a:srgbClr val="8E989E"/>
            </a:solidFill>
            <a:prstDash val="solid"/>
            <a:miter lim="8000"/>
            <a:headEnd len="sm" w="sm" type="none"/>
            <a:tailEnd len="sm" w="sm" type="none"/>
          </a:ln>
        </p:spPr>
      </p:cxnSp>
      <p:sp>
        <p:nvSpPr>
          <p:cNvPr id="715" name="Google Shape;715;p16"/>
          <p:cNvSpPr/>
          <p:nvPr/>
        </p:nvSpPr>
        <p:spPr>
          <a:xfrm>
            <a:off x="1051560" y="3447288"/>
            <a:ext cx="256032" cy="402336"/>
          </a:xfrm>
          <a:prstGeom prst="rect">
            <a:avLst/>
          </a:prstGeom>
          <a:solidFill>
            <a:srgbClr val="DDE5E1"/>
          </a:solidFill>
          <a:ln cap="flat" cmpd="sng" w="10150">
            <a:solidFill>
              <a:srgbClr val="177A5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716" name="Google Shape;716;p16"/>
          <p:cNvCxnSpPr/>
          <p:nvPr/>
        </p:nvCxnSpPr>
        <p:spPr>
          <a:xfrm>
            <a:off x="1092708" y="3566160"/>
            <a:ext cx="169164" cy="0"/>
          </a:xfrm>
          <a:prstGeom prst="straightConnector1">
            <a:avLst/>
          </a:prstGeom>
          <a:noFill/>
          <a:ln cap="flat" cmpd="sng" w="9525">
            <a:solidFill>
              <a:srgbClr val="8E989E"/>
            </a:solidFill>
            <a:prstDash val="solid"/>
            <a:miter lim="8000"/>
            <a:headEnd len="sm" w="sm" type="none"/>
            <a:tailEnd len="sm" w="sm" type="none"/>
          </a:ln>
        </p:spPr>
      </p:cxnSp>
      <p:cxnSp>
        <p:nvCxnSpPr>
          <p:cNvPr id="717" name="Google Shape;717;p16"/>
          <p:cNvCxnSpPr/>
          <p:nvPr/>
        </p:nvCxnSpPr>
        <p:spPr>
          <a:xfrm>
            <a:off x="1092708" y="3648456"/>
            <a:ext cx="169164" cy="0"/>
          </a:xfrm>
          <a:prstGeom prst="straightConnector1">
            <a:avLst/>
          </a:prstGeom>
          <a:noFill/>
          <a:ln cap="flat" cmpd="sng" w="9525">
            <a:solidFill>
              <a:srgbClr val="8E989E"/>
            </a:solidFill>
            <a:prstDash val="solid"/>
            <a:miter lim="8000"/>
            <a:headEnd len="sm" w="sm" type="none"/>
            <a:tailEnd len="sm" w="sm" type="none"/>
          </a:ln>
        </p:spPr>
      </p:cxnSp>
      <p:sp>
        <p:nvSpPr>
          <p:cNvPr id="718" name="Google Shape;718;p16"/>
          <p:cNvSpPr/>
          <p:nvPr/>
        </p:nvSpPr>
        <p:spPr>
          <a:xfrm>
            <a:off x="1362456" y="3447288"/>
            <a:ext cx="256032" cy="402336"/>
          </a:xfrm>
          <a:prstGeom prst="rect">
            <a:avLst/>
          </a:prstGeom>
          <a:solidFill>
            <a:srgbClr val="DDE5E1"/>
          </a:solidFill>
          <a:ln cap="flat" cmpd="sng" w="10150">
            <a:solidFill>
              <a:srgbClr val="177A5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719" name="Google Shape;719;p16"/>
          <p:cNvCxnSpPr/>
          <p:nvPr/>
        </p:nvCxnSpPr>
        <p:spPr>
          <a:xfrm>
            <a:off x="1403604" y="3566160"/>
            <a:ext cx="169164" cy="0"/>
          </a:xfrm>
          <a:prstGeom prst="straightConnector1">
            <a:avLst/>
          </a:prstGeom>
          <a:noFill/>
          <a:ln cap="flat" cmpd="sng" w="9525">
            <a:solidFill>
              <a:srgbClr val="8E989E"/>
            </a:solidFill>
            <a:prstDash val="solid"/>
            <a:miter lim="8000"/>
            <a:headEnd len="sm" w="sm" type="none"/>
            <a:tailEnd len="sm" w="sm" type="none"/>
          </a:ln>
        </p:spPr>
      </p:cxnSp>
      <p:cxnSp>
        <p:nvCxnSpPr>
          <p:cNvPr id="720" name="Google Shape;720;p16"/>
          <p:cNvCxnSpPr/>
          <p:nvPr/>
        </p:nvCxnSpPr>
        <p:spPr>
          <a:xfrm>
            <a:off x="1403604" y="3648456"/>
            <a:ext cx="169164" cy="0"/>
          </a:xfrm>
          <a:prstGeom prst="straightConnector1">
            <a:avLst/>
          </a:prstGeom>
          <a:noFill/>
          <a:ln cap="flat" cmpd="sng" w="9525">
            <a:solidFill>
              <a:srgbClr val="8E989E"/>
            </a:solidFill>
            <a:prstDash val="solid"/>
            <a:miter lim="8000"/>
            <a:headEnd len="sm" w="sm" type="none"/>
            <a:tailEnd len="sm" w="sm" type="none"/>
          </a:ln>
        </p:spPr>
      </p:cxnSp>
      <p:sp>
        <p:nvSpPr>
          <p:cNvPr id="721" name="Google Shape;721;p16"/>
          <p:cNvSpPr txBox="1"/>
          <p:nvPr/>
        </p:nvSpPr>
        <p:spPr>
          <a:xfrm>
            <a:off x="630936" y="3941063"/>
            <a:ext cx="1152144" cy="283464"/>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1400">
                <a:solidFill>
                  <a:srgbClr val="1F2328"/>
                </a:solidFill>
                <a:latin typeface="Calibri"/>
                <a:ea typeface="Calibri"/>
                <a:cs typeface="Calibri"/>
                <a:sym typeface="Calibri"/>
              </a:rPr>
              <a:t>Schema S</a:t>
            </a:r>
            <a:endParaRPr/>
          </a:p>
        </p:txBody>
      </p:sp>
      <p:sp>
        <p:nvSpPr>
          <p:cNvPr id="722" name="Google Shape;722;p16"/>
          <p:cNvSpPr txBox="1"/>
          <p:nvPr/>
        </p:nvSpPr>
        <p:spPr>
          <a:xfrm>
            <a:off x="1490472" y="3072384"/>
            <a:ext cx="384048" cy="228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3A434C"/>
                </a:solidFill>
                <a:latin typeface="Calibri"/>
                <a:ea typeface="Calibri"/>
                <a:cs typeface="Calibri"/>
                <a:sym typeface="Calibri"/>
              </a:rPr>
              <a:t>(a)</a:t>
            </a:r>
            <a:endParaRPr/>
          </a:p>
        </p:txBody>
      </p:sp>
      <p:sp>
        <p:nvSpPr>
          <p:cNvPr id="723" name="Google Shape;723;p16"/>
          <p:cNvSpPr/>
          <p:nvPr/>
        </p:nvSpPr>
        <p:spPr>
          <a:xfrm>
            <a:off x="1956816" y="3483864"/>
            <a:ext cx="1444752" cy="694944"/>
          </a:xfrm>
          <a:prstGeom prst="roundRect">
            <a:avLst>
              <a:gd fmla="val 16667" name="adj"/>
            </a:avLst>
          </a:prstGeom>
          <a:solidFill>
            <a:srgbClr val="F3F5F4"/>
          </a:solidFill>
          <a:ln cap="flat" cmpd="sng" w="16500">
            <a:solidFill>
              <a:srgbClr val="3A7D8C"/>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24" name="Google Shape;724;p16"/>
          <p:cNvSpPr txBox="1"/>
          <p:nvPr/>
        </p:nvSpPr>
        <p:spPr>
          <a:xfrm>
            <a:off x="2039112" y="3602736"/>
            <a:ext cx="1280160" cy="246888"/>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1550">
                <a:solidFill>
                  <a:srgbClr val="1F2328"/>
                </a:solidFill>
                <a:latin typeface="Calibri"/>
                <a:ea typeface="Calibri"/>
                <a:cs typeface="Calibri"/>
                <a:sym typeface="Calibri"/>
              </a:rPr>
              <a:t>Iterate</a:t>
            </a:r>
            <a:endParaRPr/>
          </a:p>
        </p:txBody>
      </p:sp>
      <p:sp>
        <p:nvSpPr>
          <p:cNvPr id="725" name="Google Shape;725;p16"/>
          <p:cNvSpPr txBox="1"/>
          <p:nvPr/>
        </p:nvSpPr>
        <p:spPr>
          <a:xfrm>
            <a:off x="2048256" y="3877056"/>
            <a:ext cx="1261872" cy="256032"/>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US" sz="1400">
                <a:solidFill>
                  <a:srgbClr val="3A434C"/>
                </a:solidFill>
                <a:latin typeface="Calibri"/>
                <a:ea typeface="Calibri"/>
                <a:cs typeface="Calibri"/>
                <a:sym typeface="Calibri"/>
              </a:rPr>
              <a:t>FK-BFS</a:t>
            </a:r>
            <a:endParaRPr/>
          </a:p>
        </p:txBody>
      </p:sp>
      <p:sp>
        <p:nvSpPr>
          <p:cNvPr id="726" name="Google Shape;726;p16"/>
          <p:cNvSpPr/>
          <p:nvPr/>
        </p:nvSpPr>
        <p:spPr>
          <a:xfrm>
            <a:off x="3776472" y="2148840"/>
            <a:ext cx="2103120" cy="758952"/>
          </a:xfrm>
          <a:prstGeom prst="roundRect">
            <a:avLst>
              <a:gd fmla="val 16667" name="adj"/>
            </a:avLst>
          </a:prstGeom>
          <a:solidFill>
            <a:srgbClr val="F3F5F4"/>
          </a:solidFill>
          <a:ln cap="flat" cmpd="sng" w="16500">
            <a:solidFill>
              <a:srgbClr val="3A7D8C"/>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27" name="Google Shape;727;p16"/>
          <p:cNvSpPr txBox="1"/>
          <p:nvPr/>
        </p:nvSpPr>
        <p:spPr>
          <a:xfrm>
            <a:off x="3849624" y="1938528"/>
            <a:ext cx="384048" cy="228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3A434C"/>
                </a:solidFill>
                <a:latin typeface="Calibri"/>
                <a:ea typeface="Calibri"/>
                <a:cs typeface="Calibri"/>
                <a:sym typeface="Calibri"/>
              </a:rPr>
              <a:t>(b)</a:t>
            </a:r>
            <a:endParaRPr/>
          </a:p>
        </p:txBody>
      </p:sp>
      <p:sp>
        <p:nvSpPr>
          <p:cNvPr id="728" name="Google Shape;728;p16"/>
          <p:cNvSpPr txBox="1"/>
          <p:nvPr/>
        </p:nvSpPr>
        <p:spPr>
          <a:xfrm>
            <a:off x="3858768" y="2267712"/>
            <a:ext cx="1938527" cy="246888"/>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1550">
                <a:solidFill>
                  <a:srgbClr val="1F2328"/>
                </a:solidFill>
                <a:latin typeface="Calibri"/>
                <a:ea typeface="Calibri"/>
                <a:cs typeface="Calibri"/>
                <a:sym typeface="Calibri"/>
              </a:rPr>
              <a:t>Direct mapping</a:t>
            </a:r>
            <a:endParaRPr/>
          </a:p>
        </p:txBody>
      </p:sp>
      <p:sp>
        <p:nvSpPr>
          <p:cNvPr id="729" name="Google Shape;729;p16"/>
          <p:cNvSpPr txBox="1"/>
          <p:nvPr/>
        </p:nvSpPr>
        <p:spPr>
          <a:xfrm>
            <a:off x="3867911" y="2542032"/>
            <a:ext cx="1920239" cy="32004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US" sz="1400">
                <a:solidFill>
                  <a:srgbClr val="3A434C"/>
                </a:solidFill>
                <a:latin typeface="Calibri"/>
                <a:ea typeface="Calibri"/>
                <a:cs typeface="Calibri"/>
                <a:sym typeface="Calibri"/>
              </a:rPr>
              <a:t>OWL seed DMᵣ</a:t>
            </a:r>
            <a:endParaRPr/>
          </a:p>
        </p:txBody>
      </p:sp>
      <p:sp>
        <p:nvSpPr>
          <p:cNvPr id="730" name="Google Shape;730;p16"/>
          <p:cNvSpPr/>
          <p:nvPr/>
        </p:nvSpPr>
        <p:spPr>
          <a:xfrm>
            <a:off x="3630168" y="3063240"/>
            <a:ext cx="3218688" cy="2432304"/>
          </a:xfrm>
          <a:prstGeom prst="roundRect">
            <a:avLst>
              <a:gd fmla="val 16667" name="adj"/>
            </a:avLst>
          </a:prstGeom>
          <a:solidFill>
            <a:srgbClr val="FFFFFF"/>
          </a:solidFill>
          <a:ln cap="flat" cmpd="sng" w="15225">
            <a:solidFill>
              <a:srgbClr val="D9DED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31" name="Google Shape;731;p16"/>
          <p:cNvSpPr txBox="1"/>
          <p:nvPr/>
        </p:nvSpPr>
        <p:spPr>
          <a:xfrm>
            <a:off x="3758184" y="3099816"/>
            <a:ext cx="2990088" cy="210312"/>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1400">
                <a:solidFill>
                  <a:srgbClr val="3A434C"/>
                </a:solidFill>
                <a:latin typeface="Calibri"/>
                <a:ea typeface="Calibri"/>
                <a:cs typeface="Calibri"/>
                <a:sym typeface="Calibri"/>
              </a:rPr>
              <a:t>RETRIEVAL  •  top-k per source</a:t>
            </a:r>
            <a:endParaRPr/>
          </a:p>
        </p:txBody>
      </p:sp>
      <p:sp>
        <p:nvSpPr>
          <p:cNvPr id="732" name="Google Shape;732;p16"/>
          <p:cNvSpPr/>
          <p:nvPr/>
        </p:nvSpPr>
        <p:spPr>
          <a:xfrm>
            <a:off x="3776472" y="3383280"/>
            <a:ext cx="2980944" cy="603504"/>
          </a:xfrm>
          <a:prstGeom prst="roundRect">
            <a:avLst>
              <a:gd fmla="val 16667" name="adj"/>
            </a:avLst>
          </a:prstGeom>
          <a:solidFill>
            <a:srgbClr val="F3F5F4"/>
          </a:solidFill>
          <a:ln cap="flat" cmpd="sng" w="15225">
            <a:solidFill>
              <a:srgbClr val="3A7D8C"/>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33" name="Google Shape;733;p16"/>
          <p:cNvSpPr txBox="1"/>
          <p:nvPr/>
        </p:nvSpPr>
        <p:spPr>
          <a:xfrm>
            <a:off x="3877056" y="3415284"/>
            <a:ext cx="365760" cy="192024"/>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0B6E4F"/>
                </a:solidFill>
                <a:latin typeface="Calibri"/>
                <a:ea typeface="Calibri"/>
                <a:cs typeface="Calibri"/>
                <a:sym typeface="Calibri"/>
              </a:rPr>
              <a:t>(c)</a:t>
            </a:r>
            <a:endParaRPr/>
          </a:p>
        </p:txBody>
      </p:sp>
      <p:sp>
        <p:nvSpPr>
          <p:cNvPr id="734" name="Google Shape;734;p16"/>
          <p:cNvSpPr txBox="1"/>
          <p:nvPr/>
        </p:nvSpPr>
        <p:spPr>
          <a:xfrm>
            <a:off x="4224528" y="3396996"/>
            <a:ext cx="2404872" cy="283464"/>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500">
                <a:solidFill>
                  <a:srgbClr val="1F2328"/>
                </a:solidFill>
                <a:latin typeface="Calibri"/>
                <a:ea typeface="Calibri"/>
                <a:cs typeface="Calibri"/>
                <a:sym typeface="Calibri"/>
              </a:rPr>
              <a:t>External ontologies</a:t>
            </a:r>
            <a:endParaRPr/>
          </a:p>
        </p:txBody>
      </p:sp>
      <p:sp>
        <p:nvSpPr>
          <p:cNvPr id="735" name="Google Shape;735;p16"/>
          <p:cNvSpPr txBox="1"/>
          <p:nvPr/>
        </p:nvSpPr>
        <p:spPr>
          <a:xfrm>
            <a:off x="4224528" y="3703320"/>
            <a:ext cx="2404872" cy="201168"/>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400">
                <a:solidFill>
                  <a:srgbClr val="3A434C"/>
                </a:solidFill>
                <a:latin typeface="Calibri"/>
                <a:ea typeface="Calibri"/>
                <a:cs typeface="Calibri"/>
                <a:sym typeface="Calibri"/>
              </a:rPr>
              <a:t>Domain alignments</a:t>
            </a:r>
            <a:endParaRPr/>
          </a:p>
        </p:txBody>
      </p:sp>
      <p:sp>
        <p:nvSpPr>
          <p:cNvPr id="736" name="Google Shape;736;p16"/>
          <p:cNvSpPr/>
          <p:nvPr/>
        </p:nvSpPr>
        <p:spPr>
          <a:xfrm>
            <a:off x="3776472" y="4087368"/>
            <a:ext cx="2980944" cy="603504"/>
          </a:xfrm>
          <a:prstGeom prst="roundRect">
            <a:avLst>
              <a:gd fmla="val 16667" name="adj"/>
            </a:avLst>
          </a:prstGeom>
          <a:solidFill>
            <a:srgbClr val="F3F5F4"/>
          </a:solidFill>
          <a:ln cap="flat" cmpd="sng" w="15225">
            <a:solidFill>
              <a:srgbClr val="3A7D8C"/>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37" name="Google Shape;737;p16"/>
          <p:cNvSpPr txBox="1"/>
          <p:nvPr/>
        </p:nvSpPr>
        <p:spPr>
          <a:xfrm>
            <a:off x="3877056" y="4119372"/>
            <a:ext cx="365760" cy="192024"/>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0B6E4F"/>
                </a:solidFill>
                <a:latin typeface="Calibri"/>
                <a:ea typeface="Calibri"/>
                <a:cs typeface="Calibri"/>
                <a:sym typeface="Calibri"/>
              </a:rPr>
              <a:t>(d)</a:t>
            </a:r>
            <a:endParaRPr/>
          </a:p>
        </p:txBody>
      </p:sp>
      <p:sp>
        <p:nvSpPr>
          <p:cNvPr id="738" name="Google Shape;738;p16"/>
          <p:cNvSpPr txBox="1"/>
          <p:nvPr/>
        </p:nvSpPr>
        <p:spPr>
          <a:xfrm>
            <a:off x="4224528" y="4101084"/>
            <a:ext cx="2404872" cy="283464"/>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500">
                <a:solidFill>
                  <a:srgbClr val="1F2328"/>
                </a:solidFill>
                <a:latin typeface="Calibri"/>
                <a:ea typeface="Calibri"/>
                <a:cs typeface="Calibri"/>
                <a:sym typeface="Calibri"/>
              </a:rPr>
              <a:t>Documentation</a:t>
            </a:r>
            <a:endParaRPr/>
          </a:p>
        </p:txBody>
      </p:sp>
      <p:sp>
        <p:nvSpPr>
          <p:cNvPr id="739" name="Google Shape;739;p16"/>
          <p:cNvSpPr txBox="1"/>
          <p:nvPr/>
        </p:nvSpPr>
        <p:spPr>
          <a:xfrm>
            <a:off x="4224528" y="4407408"/>
            <a:ext cx="2404872" cy="201168"/>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400">
                <a:solidFill>
                  <a:srgbClr val="3A434C"/>
                </a:solidFill>
                <a:latin typeface="Calibri"/>
                <a:ea typeface="Calibri"/>
                <a:cs typeface="Calibri"/>
                <a:sym typeface="Calibri"/>
              </a:rPr>
              <a:t>Cryptic fields and codes</a:t>
            </a:r>
            <a:endParaRPr/>
          </a:p>
        </p:txBody>
      </p:sp>
      <p:sp>
        <p:nvSpPr>
          <p:cNvPr id="740" name="Google Shape;740;p16"/>
          <p:cNvSpPr/>
          <p:nvPr/>
        </p:nvSpPr>
        <p:spPr>
          <a:xfrm>
            <a:off x="3776472" y="4791456"/>
            <a:ext cx="2980944" cy="603504"/>
          </a:xfrm>
          <a:prstGeom prst="roundRect">
            <a:avLst>
              <a:gd fmla="val 16667" name="adj"/>
            </a:avLst>
          </a:prstGeom>
          <a:solidFill>
            <a:srgbClr val="F3F5F4"/>
          </a:solidFill>
          <a:ln cap="flat" cmpd="sng" w="15225">
            <a:solidFill>
              <a:srgbClr val="3A7D8C"/>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41" name="Google Shape;741;p16"/>
          <p:cNvSpPr txBox="1"/>
          <p:nvPr/>
        </p:nvSpPr>
        <p:spPr>
          <a:xfrm>
            <a:off x="3877056" y="4823460"/>
            <a:ext cx="365760" cy="192024"/>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0B6E4F"/>
                </a:solidFill>
                <a:latin typeface="Calibri"/>
                <a:ea typeface="Calibri"/>
                <a:cs typeface="Calibri"/>
                <a:sym typeface="Calibri"/>
              </a:rPr>
              <a:t>(e)</a:t>
            </a:r>
            <a:endParaRPr/>
          </a:p>
        </p:txBody>
      </p:sp>
      <p:sp>
        <p:nvSpPr>
          <p:cNvPr id="742" name="Google Shape;742;p16"/>
          <p:cNvSpPr txBox="1"/>
          <p:nvPr/>
        </p:nvSpPr>
        <p:spPr>
          <a:xfrm>
            <a:off x="4224528" y="4805172"/>
            <a:ext cx="2404872" cy="283464"/>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500">
                <a:solidFill>
                  <a:srgbClr val="1F2328"/>
                </a:solidFill>
                <a:latin typeface="Calibri"/>
                <a:ea typeface="Calibri"/>
                <a:cs typeface="Calibri"/>
                <a:sym typeface="Calibri"/>
              </a:rPr>
              <a:t>Growing core ontology</a:t>
            </a:r>
            <a:endParaRPr/>
          </a:p>
        </p:txBody>
      </p:sp>
      <p:sp>
        <p:nvSpPr>
          <p:cNvPr id="743" name="Google Shape;743;p16"/>
          <p:cNvSpPr txBox="1"/>
          <p:nvPr/>
        </p:nvSpPr>
        <p:spPr>
          <a:xfrm>
            <a:off x="4224528" y="5111496"/>
            <a:ext cx="2404872" cy="201168"/>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400">
                <a:solidFill>
                  <a:srgbClr val="3A434C"/>
                </a:solidFill>
                <a:latin typeface="Calibri"/>
                <a:ea typeface="Calibri"/>
                <a:cs typeface="Calibri"/>
                <a:sym typeface="Calibri"/>
              </a:rPr>
              <a:t>Reuse validated IRIs</a:t>
            </a:r>
            <a:endParaRPr/>
          </a:p>
        </p:txBody>
      </p:sp>
      <p:sp>
        <p:nvSpPr>
          <p:cNvPr id="744" name="Google Shape;744;p16"/>
          <p:cNvSpPr/>
          <p:nvPr/>
        </p:nvSpPr>
        <p:spPr>
          <a:xfrm>
            <a:off x="7150608" y="3666744"/>
            <a:ext cx="1335024" cy="822960"/>
          </a:xfrm>
          <a:prstGeom prst="roundRect">
            <a:avLst>
              <a:gd fmla="val 16667" name="adj"/>
            </a:avLst>
          </a:prstGeom>
          <a:solidFill>
            <a:srgbClr val="F3F5F4"/>
          </a:solidFill>
          <a:ln cap="flat" cmpd="sng" w="16500">
            <a:solidFill>
              <a:srgbClr val="3A7D8C"/>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45" name="Google Shape;745;p16"/>
          <p:cNvSpPr txBox="1"/>
          <p:nvPr/>
        </p:nvSpPr>
        <p:spPr>
          <a:xfrm>
            <a:off x="7223760" y="3456432"/>
            <a:ext cx="384048" cy="228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3A434C"/>
                </a:solidFill>
                <a:latin typeface="Calibri"/>
                <a:ea typeface="Calibri"/>
                <a:cs typeface="Calibri"/>
                <a:sym typeface="Calibri"/>
              </a:rPr>
              <a:t>(f)</a:t>
            </a:r>
            <a:endParaRPr/>
          </a:p>
        </p:txBody>
      </p:sp>
      <p:sp>
        <p:nvSpPr>
          <p:cNvPr id="746" name="Google Shape;746;p16"/>
          <p:cNvSpPr txBox="1"/>
          <p:nvPr/>
        </p:nvSpPr>
        <p:spPr>
          <a:xfrm>
            <a:off x="7232904" y="3785615"/>
            <a:ext cx="1170432" cy="246888"/>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1550">
                <a:solidFill>
                  <a:srgbClr val="1F2328"/>
                </a:solidFill>
                <a:latin typeface="Calibri"/>
                <a:ea typeface="Calibri"/>
                <a:cs typeface="Calibri"/>
                <a:sym typeface="Calibri"/>
              </a:rPr>
              <a:t>Gen-LLM</a:t>
            </a:r>
            <a:endParaRPr/>
          </a:p>
        </p:txBody>
      </p:sp>
      <p:sp>
        <p:nvSpPr>
          <p:cNvPr id="747" name="Google Shape;747;p16"/>
          <p:cNvSpPr txBox="1"/>
          <p:nvPr/>
        </p:nvSpPr>
        <p:spPr>
          <a:xfrm>
            <a:off x="7242048" y="4059935"/>
            <a:ext cx="1152144" cy="384048"/>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US" sz="1400">
                <a:solidFill>
                  <a:srgbClr val="3A434C"/>
                </a:solidFill>
                <a:latin typeface="Calibri"/>
                <a:ea typeface="Calibri"/>
                <a:cs typeface="Calibri"/>
                <a:sym typeface="Calibri"/>
              </a:rPr>
              <a:t>creates ΔOᵣ</a:t>
            </a:r>
            <a:endParaRPr/>
          </a:p>
        </p:txBody>
      </p:sp>
      <p:sp>
        <p:nvSpPr>
          <p:cNvPr id="748" name="Google Shape;748;p16"/>
          <p:cNvSpPr txBox="1"/>
          <p:nvPr/>
        </p:nvSpPr>
        <p:spPr>
          <a:xfrm>
            <a:off x="8586216" y="3648456"/>
            <a:ext cx="713232" cy="246888"/>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0B6E4F"/>
                </a:solidFill>
                <a:latin typeface="Calibri"/>
                <a:ea typeface="Calibri"/>
                <a:cs typeface="Calibri"/>
                <a:sym typeface="Calibri"/>
              </a:rPr>
              <a:t>(g) ΔOᵣ</a:t>
            </a:r>
            <a:endParaRPr/>
          </a:p>
        </p:txBody>
      </p:sp>
      <p:sp>
        <p:nvSpPr>
          <p:cNvPr id="749" name="Google Shape;749;p16"/>
          <p:cNvSpPr/>
          <p:nvPr/>
        </p:nvSpPr>
        <p:spPr>
          <a:xfrm>
            <a:off x="9354312" y="3502152"/>
            <a:ext cx="2121408" cy="1115568"/>
          </a:xfrm>
          <a:prstGeom prst="roundRect">
            <a:avLst>
              <a:gd fmla="val 16667" name="adj"/>
            </a:avLst>
          </a:prstGeom>
          <a:solidFill>
            <a:srgbClr val="DDE5E1"/>
          </a:solidFill>
          <a:ln cap="flat" cmpd="sng" w="29200">
            <a:solidFill>
              <a:srgbClr val="0B6E4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50" name="Google Shape;750;p16"/>
          <p:cNvSpPr txBox="1"/>
          <p:nvPr/>
        </p:nvSpPr>
        <p:spPr>
          <a:xfrm>
            <a:off x="9427464" y="3291840"/>
            <a:ext cx="384048" cy="228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0B6E4F"/>
                </a:solidFill>
                <a:latin typeface="Calibri"/>
                <a:ea typeface="Calibri"/>
                <a:cs typeface="Calibri"/>
                <a:sym typeface="Calibri"/>
              </a:rPr>
              <a:t>(h)</a:t>
            </a:r>
            <a:endParaRPr/>
          </a:p>
        </p:txBody>
      </p:sp>
      <p:sp>
        <p:nvSpPr>
          <p:cNvPr id="751" name="Google Shape;751;p16"/>
          <p:cNvSpPr txBox="1"/>
          <p:nvPr/>
        </p:nvSpPr>
        <p:spPr>
          <a:xfrm>
            <a:off x="9436608" y="3621024"/>
            <a:ext cx="1956815" cy="246888"/>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1550">
                <a:solidFill>
                  <a:srgbClr val="1F2328"/>
                </a:solidFill>
                <a:latin typeface="Calibri"/>
                <a:ea typeface="Calibri"/>
                <a:cs typeface="Calibri"/>
                <a:sym typeface="Calibri"/>
              </a:rPr>
              <a:t>Validate + refine</a:t>
            </a:r>
            <a:endParaRPr/>
          </a:p>
        </p:txBody>
      </p:sp>
      <p:sp>
        <p:nvSpPr>
          <p:cNvPr id="752" name="Google Shape;752;p16"/>
          <p:cNvSpPr txBox="1"/>
          <p:nvPr/>
        </p:nvSpPr>
        <p:spPr>
          <a:xfrm>
            <a:off x="9445752" y="3895344"/>
            <a:ext cx="1938527" cy="676656"/>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US" sz="1400">
                <a:solidFill>
                  <a:srgbClr val="3A434C"/>
                </a:solidFill>
                <a:latin typeface="Calibri"/>
                <a:ea typeface="Calibri"/>
                <a:cs typeface="Calibri"/>
                <a:sym typeface="Calibri"/>
              </a:rPr>
              <a:t>Judge-LLM + rules</a:t>
            </a:r>
            <a:endParaRPr/>
          </a:p>
        </p:txBody>
      </p:sp>
      <p:sp>
        <p:nvSpPr>
          <p:cNvPr id="753" name="Google Shape;753;p16"/>
          <p:cNvSpPr txBox="1"/>
          <p:nvPr/>
        </p:nvSpPr>
        <p:spPr>
          <a:xfrm>
            <a:off x="9326880" y="4992624"/>
            <a:ext cx="2194560" cy="621792"/>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US" sz="1550">
                <a:solidFill>
                  <a:srgbClr val="0B6E4F"/>
                </a:solidFill>
                <a:latin typeface="Calibri"/>
                <a:ea typeface="Calibri"/>
                <a:cs typeface="Calibri"/>
                <a:sym typeface="Calibri"/>
              </a:rPr>
              <a:t>Next: integrate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58" name="Shape 758"/>
        <p:cNvGrpSpPr/>
        <p:nvPr/>
      </p:nvGrpSpPr>
      <p:grpSpPr>
        <a:xfrm>
          <a:off x="0" y="0"/>
          <a:ext cx="0" cy="0"/>
          <a:chOff x="0" y="0"/>
          <a:chExt cx="0" cy="0"/>
        </a:xfrm>
      </p:grpSpPr>
      <p:sp>
        <p:nvSpPr>
          <p:cNvPr id="759" name="Google Shape;759;p17"/>
          <p:cNvSpPr txBox="1"/>
          <p:nvPr/>
        </p:nvSpPr>
        <p:spPr>
          <a:xfrm>
            <a:off x="512064" y="320040"/>
            <a:ext cx="6675120" cy="30175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500">
                <a:solidFill>
                  <a:srgbClr val="0B6E4F"/>
                </a:solidFill>
                <a:latin typeface="Consolas"/>
                <a:ea typeface="Calibri"/>
                <a:cs typeface="Calibri"/>
                <a:sym typeface="Calibri"/>
              </a:rPr>
              <a:t>RIGOR  /  REASSEMBLING THE ARCHITECTURE</a:t>
            </a:r>
            <a:endParaRPr>
              <a:latin typeface="Consolas"/>
            </a:endParaRPr>
          </a:p>
        </p:txBody>
      </p:sp>
      <p:sp>
        <p:nvSpPr>
          <p:cNvPr id="760" name="Google Shape;760;p17"/>
          <p:cNvSpPr txBox="1"/>
          <p:nvPr/>
        </p:nvSpPr>
        <p:spPr>
          <a:xfrm>
            <a:off x="512064" y="685800"/>
            <a:ext cx="10881360" cy="475488"/>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2900">
                <a:solidFill>
                  <a:srgbClr val="1F2328"/>
                </a:solidFill>
                <a:latin typeface="Cambria"/>
                <a:ea typeface="Calibri"/>
                <a:cs typeface="Calibri"/>
                <a:sym typeface="Calibri"/>
              </a:rPr>
              <a:t>6. Integrate and reuse the growing core</a:t>
            </a:r>
            <a:endParaRPr/>
          </a:p>
        </p:txBody>
      </p:sp>
      <p:sp>
        <p:nvSpPr>
          <p:cNvPr id="761" name="Google Shape;761;p17"/>
          <p:cNvSpPr txBox="1"/>
          <p:nvPr/>
        </p:nvSpPr>
        <p:spPr>
          <a:xfrm>
            <a:off x="512064" y="1271016"/>
            <a:ext cx="10607040" cy="310896"/>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600">
                <a:solidFill>
                  <a:srgbClr val="3A434C"/>
                </a:solidFill>
                <a:latin typeface="Calibri"/>
                <a:ea typeface="Calibri"/>
                <a:cs typeface="Calibri"/>
                <a:sym typeface="Calibri"/>
              </a:rPr>
              <a:t>Paper Fig. 1(i)  ·  The growing core feeds the next generation iteration.</a:t>
            </a:r>
            <a:endParaRPr/>
          </a:p>
        </p:txBody>
      </p:sp>
      <p:sp>
        <p:nvSpPr>
          <p:cNvPr id="762" name="Google Shape;762;p17"/>
          <p:cNvSpPr/>
          <p:nvPr/>
        </p:nvSpPr>
        <p:spPr>
          <a:xfrm>
            <a:off x="9692640" y="356616"/>
            <a:ext cx="274320" cy="64008"/>
          </a:xfrm>
          <a:prstGeom prst="rect">
            <a:avLst/>
          </a:prstGeom>
          <a:solidFill>
            <a:srgbClr val="0B6E4F"/>
          </a:solidFill>
          <a:ln cap="flat" cmpd="sng" w="9525">
            <a:solidFill>
              <a:srgbClr val="0B6E4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63" name="Google Shape;763;p17"/>
          <p:cNvSpPr/>
          <p:nvPr/>
        </p:nvSpPr>
        <p:spPr>
          <a:xfrm>
            <a:off x="10049256" y="356616"/>
            <a:ext cx="274320" cy="64008"/>
          </a:xfrm>
          <a:prstGeom prst="rect">
            <a:avLst/>
          </a:prstGeom>
          <a:solidFill>
            <a:srgbClr val="0B6E4F"/>
          </a:solidFill>
          <a:ln cap="flat" cmpd="sng" w="9525">
            <a:solidFill>
              <a:srgbClr val="0B6E4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64" name="Google Shape;764;p17"/>
          <p:cNvSpPr/>
          <p:nvPr/>
        </p:nvSpPr>
        <p:spPr>
          <a:xfrm>
            <a:off x="10405872" y="356616"/>
            <a:ext cx="274320" cy="64008"/>
          </a:xfrm>
          <a:prstGeom prst="rect">
            <a:avLst/>
          </a:prstGeom>
          <a:solidFill>
            <a:srgbClr val="0B6E4F"/>
          </a:solidFill>
          <a:ln cap="flat" cmpd="sng" w="9525">
            <a:solidFill>
              <a:srgbClr val="0B6E4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65" name="Google Shape;765;p17"/>
          <p:cNvSpPr/>
          <p:nvPr/>
        </p:nvSpPr>
        <p:spPr>
          <a:xfrm>
            <a:off x="10762488" y="356616"/>
            <a:ext cx="274320" cy="64008"/>
          </a:xfrm>
          <a:prstGeom prst="rect">
            <a:avLst/>
          </a:prstGeom>
          <a:solidFill>
            <a:srgbClr val="0B6E4F"/>
          </a:solidFill>
          <a:ln cap="flat" cmpd="sng" w="9525">
            <a:solidFill>
              <a:srgbClr val="0B6E4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66" name="Google Shape;766;p17"/>
          <p:cNvSpPr/>
          <p:nvPr/>
        </p:nvSpPr>
        <p:spPr>
          <a:xfrm>
            <a:off x="11119104" y="356616"/>
            <a:ext cx="274320" cy="64008"/>
          </a:xfrm>
          <a:prstGeom prst="rect">
            <a:avLst/>
          </a:prstGeom>
          <a:solidFill>
            <a:srgbClr val="0B6E4F"/>
          </a:solidFill>
          <a:ln cap="flat" cmpd="sng" w="9525">
            <a:solidFill>
              <a:srgbClr val="0B6E4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67" name="Google Shape;767;p17"/>
          <p:cNvSpPr/>
          <p:nvPr/>
        </p:nvSpPr>
        <p:spPr>
          <a:xfrm>
            <a:off x="11475720" y="356616"/>
            <a:ext cx="274320" cy="64008"/>
          </a:xfrm>
          <a:prstGeom prst="rect">
            <a:avLst/>
          </a:prstGeom>
          <a:solidFill>
            <a:srgbClr val="0B6E4F"/>
          </a:solidFill>
          <a:ln cap="flat" cmpd="sng" w="9525">
            <a:solidFill>
              <a:srgbClr val="0B6E4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68" name="Google Shape;768;p17"/>
          <p:cNvSpPr/>
          <p:nvPr/>
        </p:nvSpPr>
        <p:spPr>
          <a:xfrm>
            <a:off x="438912" y="1792224"/>
            <a:ext cx="11301984" cy="4187952"/>
          </a:xfrm>
          <a:prstGeom prst="roundRect">
            <a:avLst>
              <a:gd fmla="val 16667" name="adj"/>
            </a:avLst>
          </a:prstGeom>
          <a:solidFill>
            <a:srgbClr val="FFFFFF"/>
          </a:solidFill>
          <a:ln cap="flat" cmpd="sng" w="12700">
            <a:solidFill>
              <a:srgbClr val="D9DED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69" name="Google Shape;769;p17"/>
          <p:cNvSpPr txBox="1"/>
          <p:nvPr/>
        </p:nvSpPr>
        <p:spPr>
          <a:xfrm>
            <a:off x="566928" y="6208776"/>
            <a:ext cx="10881360" cy="292608"/>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550">
                <a:solidFill>
                  <a:srgbClr val="1F2328"/>
                </a:solidFill>
                <a:latin typeface="Calibri"/>
                <a:ea typeface="Calibri"/>
                <a:cs typeface="Calibri"/>
                <a:sym typeface="Calibri"/>
              </a:rPr>
              <a:t>Recall slide 11  •  The validated result becomes context for generating the next table.</a:t>
            </a:r>
            <a:endParaRPr/>
          </a:p>
        </p:txBody>
      </p:sp>
      <p:sp>
        <p:nvSpPr>
          <p:cNvPr id="770" name="Google Shape;770;p17"/>
          <p:cNvSpPr txBox="1"/>
          <p:nvPr/>
        </p:nvSpPr>
        <p:spPr>
          <a:xfrm>
            <a:off x="10917936" y="6519672"/>
            <a:ext cx="804672" cy="18288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US" sz="1400">
                <a:solidFill>
                  <a:srgbClr val="3A434C"/>
                </a:solidFill>
                <a:latin typeface="Calibri"/>
                <a:ea typeface="Calibri"/>
                <a:cs typeface="Calibri"/>
                <a:sym typeface="Calibri"/>
              </a:rPr>
              <a:t>6 / 6</a:t>
            </a:r>
            <a:endParaRPr/>
          </a:p>
        </p:txBody>
      </p:sp>
      <p:cxnSp>
        <p:nvCxnSpPr>
          <p:cNvPr id="771" name="Google Shape;771;p17"/>
          <p:cNvCxnSpPr/>
          <p:nvPr/>
        </p:nvCxnSpPr>
        <p:spPr>
          <a:xfrm>
            <a:off x="1792224" y="3831336"/>
            <a:ext cx="164592" cy="0"/>
          </a:xfrm>
          <a:prstGeom prst="straightConnector1">
            <a:avLst/>
          </a:prstGeom>
          <a:noFill/>
          <a:ln cap="flat" cmpd="sng" w="38100">
            <a:solidFill>
              <a:srgbClr val="3A7D8C"/>
            </a:solidFill>
            <a:prstDash val="solid"/>
            <a:miter lim="8000"/>
            <a:headEnd len="sm" w="sm" type="none"/>
            <a:tailEnd len="sm" w="sm" type="none"/>
          </a:ln>
        </p:spPr>
      </p:cxnSp>
      <p:sp>
        <p:nvSpPr>
          <p:cNvPr id="772" name="Google Shape;772;p17"/>
          <p:cNvSpPr/>
          <p:nvPr/>
        </p:nvSpPr>
        <p:spPr>
          <a:xfrm rot="5400000">
            <a:off x="1892808" y="3767328"/>
            <a:ext cx="128016" cy="128016"/>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773" name="Google Shape;773;p17"/>
          <p:cNvCxnSpPr/>
          <p:nvPr/>
        </p:nvCxnSpPr>
        <p:spPr>
          <a:xfrm>
            <a:off x="3401568" y="3794760"/>
            <a:ext cx="100584" cy="0"/>
          </a:xfrm>
          <a:prstGeom prst="straightConnector1">
            <a:avLst/>
          </a:prstGeom>
          <a:noFill/>
          <a:ln cap="flat" cmpd="sng" w="29200">
            <a:solidFill>
              <a:srgbClr val="3A7D8C"/>
            </a:solidFill>
            <a:prstDash val="solid"/>
            <a:miter lim="8000"/>
            <a:headEnd len="sm" w="sm" type="none"/>
            <a:tailEnd len="sm" w="sm" type="none"/>
          </a:ln>
        </p:spPr>
      </p:cxnSp>
      <p:cxnSp>
        <p:nvCxnSpPr>
          <p:cNvPr id="774" name="Google Shape;774;p17"/>
          <p:cNvCxnSpPr/>
          <p:nvPr/>
        </p:nvCxnSpPr>
        <p:spPr>
          <a:xfrm rot="10800000">
            <a:off x="3502152" y="2523744"/>
            <a:ext cx="0" cy="1271016"/>
          </a:xfrm>
          <a:prstGeom prst="straightConnector1">
            <a:avLst/>
          </a:prstGeom>
          <a:noFill/>
          <a:ln cap="flat" cmpd="sng" w="29200">
            <a:solidFill>
              <a:srgbClr val="3A7D8C"/>
            </a:solidFill>
            <a:prstDash val="solid"/>
            <a:miter lim="8000"/>
            <a:headEnd len="sm" w="sm" type="none"/>
            <a:tailEnd len="sm" w="sm" type="none"/>
          </a:ln>
        </p:spPr>
      </p:cxnSp>
      <p:cxnSp>
        <p:nvCxnSpPr>
          <p:cNvPr id="775" name="Google Shape;775;p17"/>
          <p:cNvCxnSpPr/>
          <p:nvPr/>
        </p:nvCxnSpPr>
        <p:spPr>
          <a:xfrm>
            <a:off x="3502152" y="2523744"/>
            <a:ext cx="265176" cy="0"/>
          </a:xfrm>
          <a:prstGeom prst="straightConnector1">
            <a:avLst/>
          </a:prstGeom>
          <a:noFill/>
          <a:ln cap="flat" cmpd="sng" w="29200">
            <a:solidFill>
              <a:srgbClr val="3A7D8C"/>
            </a:solidFill>
            <a:prstDash val="solid"/>
            <a:miter lim="8000"/>
            <a:headEnd len="sm" w="sm" type="none"/>
            <a:tailEnd len="sm" w="sm" type="none"/>
          </a:ln>
        </p:spPr>
      </p:cxnSp>
      <p:sp>
        <p:nvSpPr>
          <p:cNvPr id="776" name="Google Shape;776;p17"/>
          <p:cNvSpPr/>
          <p:nvPr/>
        </p:nvSpPr>
        <p:spPr>
          <a:xfrm rot="5400000">
            <a:off x="3703320" y="2459736"/>
            <a:ext cx="128016" cy="128016"/>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777" name="Google Shape;777;p17"/>
          <p:cNvCxnSpPr/>
          <p:nvPr/>
        </p:nvCxnSpPr>
        <p:spPr>
          <a:xfrm>
            <a:off x="3401568" y="3931920"/>
            <a:ext cx="118872" cy="0"/>
          </a:xfrm>
          <a:prstGeom prst="straightConnector1">
            <a:avLst/>
          </a:prstGeom>
          <a:noFill/>
          <a:ln cap="flat" cmpd="sng" w="26650">
            <a:solidFill>
              <a:srgbClr val="3A7D8C"/>
            </a:solidFill>
            <a:prstDash val="solid"/>
            <a:miter lim="8000"/>
            <a:headEnd len="sm" w="sm" type="none"/>
            <a:tailEnd len="sm" w="sm" type="none"/>
          </a:ln>
        </p:spPr>
      </p:cxnSp>
      <p:cxnSp>
        <p:nvCxnSpPr>
          <p:cNvPr id="778" name="Google Shape;778;p17"/>
          <p:cNvCxnSpPr/>
          <p:nvPr/>
        </p:nvCxnSpPr>
        <p:spPr>
          <a:xfrm rot="10800000">
            <a:off x="3520440" y="3621024"/>
            <a:ext cx="0" cy="310896"/>
          </a:xfrm>
          <a:prstGeom prst="straightConnector1">
            <a:avLst/>
          </a:prstGeom>
          <a:noFill/>
          <a:ln cap="flat" cmpd="sng" w="26650">
            <a:solidFill>
              <a:srgbClr val="3A7D8C"/>
            </a:solidFill>
            <a:prstDash val="solid"/>
            <a:miter lim="8000"/>
            <a:headEnd len="sm" w="sm" type="none"/>
            <a:tailEnd len="sm" w="sm" type="none"/>
          </a:ln>
        </p:spPr>
      </p:cxnSp>
      <p:cxnSp>
        <p:nvCxnSpPr>
          <p:cNvPr id="779" name="Google Shape;779;p17"/>
          <p:cNvCxnSpPr/>
          <p:nvPr/>
        </p:nvCxnSpPr>
        <p:spPr>
          <a:xfrm>
            <a:off x="3520440" y="3621024"/>
            <a:ext cx="256032" cy="0"/>
          </a:xfrm>
          <a:prstGeom prst="straightConnector1">
            <a:avLst/>
          </a:prstGeom>
          <a:noFill/>
          <a:ln cap="flat" cmpd="sng" w="26650">
            <a:solidFill>
              <a:srgbClr val="3A7D8C"/>
            </a:solidFill>
            <a:prstDash val="solid"/>
            <a:miter lim="8000"/>
            <a:headEnd len="sm" w="sm" type="none"/>
            <a:tailEnd len="sm" w="sm" type="none"/>
          </a:ln>
        </p:spPr>
      </p:cxnSp>
      <p:sp>
        <p:nvSpPr>
          <p:cNvPr id="780" name="Google Shape;780;p17"/>
          <p:cNvSpPr/>
          <p:nvPr/>
        </p:nvSpPr>
        <p:spPr>
          <a:xfrm rot="5400000">
            <a:off x="3712463" y="3557016"/>
            <a:ext cx="128016" cy="128016"/>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781" name="Google Shape;781;p17"/>
          <p:cNvCxnSpPr/>
          <p:nvPr/>
        </p:nvCxnSpPr>
        <p:spPr>
          <a:xfrm>
            <a:off x="3401568" y="3931920"/>
            <a:ext cx="118872" cy="0"/>
          </a:xfrm>
          <a:prstGeom prst="straightConnector1">
            <a:avLst/>
          </a:prstGeom>
          <a:noFill/>
          <a:ln cap="flat" cmpd="sng" w="26650">
            <a:solidFill>
              <a:srgbClr val="3A7D8C"/>
            </a:solidFill>
            <a:prstDash val="solid"/>
            <a:miter lim="8000"/>
            <a:headEnd len="sm" w="sm" type="none"/>
            <a:tailEnd len="sm" w="sm" type="none"/>
          </a:ln>
        </p:spPr>
      </p:cxnSp>
      <p:cxnSp>
        <p:nvCxnSpPr>
          <p:cNvPr id="782" name="Google Shape;782;p17"/>
          <p:cNvCxnSpPr/>
          <p:nvPr/>
        </p:nvCxnSpPr>
        <p:spPr>
          <a:xfrm>
            <a:off x="3520440" y="3931920"/>
            <a:ext cx="0" cy="384048"/>
          </a:xfrm>
          <a:prstGeom prst="straightConnector1">
            <a:avLst/>
          </a:prstGeom>
          <a:noFill/>
          <a:ln cap="flat" cmpd="sng" w="26650">
            <a:solidFill>
              <a:srgbClr val="3A7D8C"/>
            </a:solidFill>
            <a:prstDash val="solid"/>
            <a:miter lim="8000"/>
            <a:headEnd len="sm" w="sm" type="none"/>
            <a:tailEnd len="sm" w="sm" type="none"/>
          </a:ln>
        </p:spPr>
      </p:cxnSp>
      <p:cxnSp>
        <p:nvCxnSpPr>
          <p:cNvPr id="783" name="Google Shape;783;p17"/>
          <p:cNvCxnSpPr/>
          <p:nvPr/>
        </p:nvCxnSpPr>
        <p:spPr>
          <a:xfrm>
            <a:off x="3520440" y="4315968"/>
            <a:ext cx="256032" cy="0"/>
          </a:xfrm>
          <a:prstGeom prst="straightConnector1">
            <a:avLst/>
          </a:prstGeom>
          <a:noFill/>
          <a:ln cap="flat" cmpd="sng" w="26650">
            <a:solidFill>
              <a:srgbClr val="3A7D8C"/>
            </a:solidFill>
            <a:prstDash val="solid"/>
            <a:miter lim="8000"/>
            <a:headEnd len="sm" w="sm" type="none"/>
            <a:tailEnd len="sm" w="sm" type="none"/>
          </a:ln>
        </p:spPr>
      </p:cxnSp>
      <p:sp>
        <p:nvSpPr>
          <p:cNvPr id="784" name="Google Shape;784;p17"/>
          <p:cNvSpPr/>
          <p:nvPr/>
        </p:nvSpPr>
        <p:spPr>
          <a:xfrm rot="5400000">
            <a:off x="3712463" y="4251959"/>
            <a:ext cx="128016" cy="128016"/>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785" name="Google Shape;785;p17"/>
          <p:cNvCxnSpPr/>
          <p:nvPr/>
        </p:nvCxnSpPr>
        <p:spPr>
          <a:xfrm>
            <a:off x="3401568" y="3931920"/>
            <a:ext cx="118872" cy="0"/>
          </a:xfrm>
          <a:prstGeom prst="straightConnector1">
            <a:avLst/>
          </a:prstGeom>
          <a:noFill/>
          <a:ln cap="flat" cmpd="sng" w="26650">
            <a:solidFill>
              <a:srgbClr val="3A7D8C"/>
            </a:solidFill>
            <a:prstDash val="solid"/>
            <a:miter lim="8000"/>
            <a:headEnd len="sm" w="sm" type="none"/>
            <a:tailEnd len="sm" w="sm" type="none"/>
          </a:ln>
        </p:spPr>
      </p:cxnSp>
      <p:cxnSp>
        <p:nvCxnSpPr>
          <p:cNvPr id="786" name="Google Shape;786;p17"/>
          <p:cNvCxnSpPr/>
          <p:nvPr/>
        </p:nvCxnSpPr>
        <p:spPr>
          <a:xfrm>
            <a:off x="3520440" y="3931920"/>
            <a:ext cx="0" cy="1078992"/>
          </a:xfrm>
          <a:prstGeom prst="straightConnector1">
            <a:avLst/>
          </a:prstGeom>
          <a:noFill/>
          <a:ln cap="flat" cmpd="sng" w="26650">
            <a:solidFill>
              <a:srgbClr val="3A7D8C"/>
            </a:solidFill>
            <a:prstDash val="solid"/>
            <a:miter lim="8000"/>
            <a:headEnd len="sm" w="sm" type="none"/>
            <a:tailEnd len="sm" w="sm" type="none"/>
          </a:ln>
        </p:spPr>
      </p:cxnSp>
      <p:cxnSp>
        <p:nvCxnSpPr>
          <p:cNvPr id="787" name="Google Shape;787;p17"/>
          <p:cNvCxnSpPr/>
          <p:nvPr/>
        </p:nvCxnSpPr>
        <p:spPr>
          <a:xfrm>
            <a:off x="3520440" y="5010912"/>
            <a:ext cx="256032" cy="0"/>
          </a:xfrm>
          <a:prstGeom prst="straightConnector1">
            <a:avLst/>
          </a:prstGeom>
          <a:noFill/>
          <a:ln cap="flat" cmpd="sng" w="26650">
            <a:solidFill>
              <a:srgbClr val="3A7D8C"/>
            </a:solidFill>
            <a:prstDash val="solid"/>
            <a:miter lim="8000"/>
            <a:headEnd len="sm" w="sm" type="none"/>
            <a:tailEnd len="sm" w="sm" type="none"/>
          </a:ln>
        </p:spPr>
      </p:cxnSp>
      <p:sp>
        <p:nvSpPr>
          <p:cNvPr id="788" name="Google Shape;788;p17"/>
          <p:cNvSpPr/>
          <p:nvPr/>
        </p:nvSpPr>
        <p:spPr>
          <a:xfrm rot="5400000">
            <a:off x="3712463" y="4946904"/>
            <a:ext cx="128016" cy="128016"/>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789" name="Google Shape;789;p17"/>
          <p:cNvCxnSpPr/>
          <p:nvPr/>
        </p:nvCxnSpPr>
        <p:spPr>
          <a:xfrm>
            <a:off x="5879592" y="2505456"/>
            <a:ext cx="1874520" cy="0"/>
          </a:xfrm>
          <a:prstGeom prst="straightConnector1">
            <a:avLst/>
          </a:prstGeom>
          <a:noFill/>
          <a:ln cap="flat" cmpd="sng" w="29200">
            <a:solidFill>
              <a:srgbClr val="3A7D8C"/>
            </a:solidFill>
            <a:prstDash val="solid"/>
            <a:miter lim="8000"/>
            <a:headEnd len="sm" w="sm" type="none"/>
            <a:tailEnd len="sm" w="sm" type="none"/>
          </a:ln>
        </p:spPr>
      </p:cxnSp>
      <p:cxnSp>
        <p:nvCxnSpPr>
          <p:cNvPr id="790" name="Google Shape;790;p17"/>
          <p:cNvCxnSpPr/>
          <p:nvPr/>
        </p:nvCxnSpPr>
        <p:spPr>
          <a:xfrm>
            <a:off x="7754112" y="2505456"/>
            <a:ext cx="0" cy="1133856"/>
          </a:xfrm>
          <a:prstGeom prst="straightConnector1">
            <a:avLst/>
          </a:prstGeom>
          <a:noFill/>
          <a:ln cap="flat" cmpd="sng" w="29200">
            <a:solidFill>
              <a:srgbClr val="3A7D8C"/>
            </a:solidFill>
            <a:prstDash val="solid"/>
            <a:miter lim="8000"/>
            <a:headEnd len="sm" w="sm" type="none"/>
            <a:tailEnd len="sm" w="sm" type="none"/>
          </a:ln>
        </p:spPr>
      </p:cxnSp>
      <p:sp>
        <p:nvSpPr>
          <p:cNvPr id="791" name="Google Shape;791;p17"/>
          <p:cNvSpPr/>
          <p:nvPr/>
        </p:nvSpPr>
        <p:spPr>
          <a:xfrm rot="10800000">
            <a:off x="7690104" y="3575304"/>
            <a:ext cx="128016" cy="128016"/>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792" name="Google Shape;792;p17"/>
          <p:cNvCxnSpPr/>
          <p:nvPr/>
        </p:nvCxnSpPr>
        <p:spPr>
          <a:xfrm>
            <a:off x="6757416" y="3621024"/>
            <a:ext cx="146304" cy="0"/>
          </a:xfrm>
          <a:prstGeom prst="straightConnector1">
            <a:avLst/>
          </a:prstGeom>
          <a:noFill/>
          <a:ln cap="flat" cmpd="sng" w="26650">
            <a:solidFill>
              <a:srgbClr val="3A7D8C"/>
            </a:solidFill>
            <a:prstDash val="solid"/>
            <a:miter lim="8000"/>
            <a:headEnd len="sm" w="sm" type="none"/>
            <a:tailEnd len="sm" w="sm" type="none"/>
          </a:ln>
        </p:spPr>
      </p:cxnSp>
      <p:cxnSp>
        <p:nvCxnSpPr>
          <p:cNvPr id="793" name="Google Shape;793;p17"/>
          <p:cNvCxnSpPr/>
          <p:nvPr/>
        </p:nvCxnSpPr>
        <p:spPr>
          <a:xfrm>
            <a:off x="6903720" y="3621024"/>
            <a:ext cx="0" cy="448056"/>
          </a:xfrm>
          <a:prstGeom prst="straightConnector1">
            <a:avLst/>
          </a:prstGeom>
          <a:noFill/>
          <a:ln cap="flat" cmpd="sng" w="26650">
            <a:solidFill>
              <a:srgbClr val="3A7D8C"/>
            </a:solidFill>
            <a:prstDash val="solid"/>
            <a:miter lim="8000"/>
            <a:headEnd len="sm" w="sm" type="none"/>
            <a:tailEnd len="sm" w="sm" type="none"/>
          </a:ln>
        </p:spPr>
      </p:cxnSp>
      <p:cxnSp>
        <p:nvCxnSpPr>
          <p:cNvPr id="794" name="Google Shape;794;p17"/>
          <p:cNvCxnSpPr/>
          <p:nvPr/>
        </p:nvCxnSpPr>
        <p:spPr>
          <a:xfrm>
            <a:off x="6903720" y="4069080"/>
            <a:ext cx="228600" cy="0"/>
          </a:xfrm>
          <a:prstGeom prst="straightConnector1">
            <a:avLst/>
          </a:prstGeom>
          <a:noFill/>
          <a:ln cap="flat" cmpd="sng" w="26650">
            <a:solidFill>
              <a:srgbClr val="3A7D8C"/>
            </a:solidFill>
            <a:prstDash val="solid"/>
            <a:miter lim="8000"/>
            <a:headEnd len="sm" w="sm" type="none"/>
            <a:tailEnd len="sm" w="sm" type="none"/>
          </a:ln>
        </p:spPr>
      </p:cxnSp>
      <p:sp>
        <p:nvSpPr>
          <p:cNvPr id="795" name="Google Shape;795;p17"/>
          <p:cNvSpPr/>
          <p:nvPr/>
        </p:nvSpPr>
        <p:spPr>
          <a:xfrm rot="5400000">
            <a:off x="7068312" y="4005072"/>
            <a:ext cx="128016" cy="128016"/>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796" name="Google Shape;796;p17"/>
          <p:cNvCxnSpPr/>
          <p:nvPr/>
        </p:nvCxnSpPr>
        <p:spPr>
          <a:xfrm flipH="1" rot="10800000">
            <a:off x="6757416" y="4069080"/>
            <a:ext cx="374904" cy="256032"/>
          </a:xfrm>
          <a:prstGeom prst="straightConnector1">
            <a:avLst/>
          </a:prstGeom>
          <a:noFill/>
          <a:ln cap="flat" cmpd="sng" w="26650">
            <a:solidFill>
              <a:srgbClr val="3A7D8C"/>
            </a:solidFill>
            <a:prstDash val="solid"/>
            <a:miter lim="8000"/>
            <a:headEnd len="sm" w="sm" type="none"/>
            <a:tailEnd len="sm" w="sm" type="none"/>
          </a:ln>
        </p:spPr>
      </p:cxnSp>
      <p:sp>
        <p:nvSpPr>
          <p:cNvPr id="797" name="Google Shape;797;p17"/>
          <p:cNvSpPr/>
          <p:nvPr/>
        </p:nvSpPr>
        <p:spPr>
          <a:xfrm rot="5400000">
            <a:off x="7068312" y="4005072"/>
            <a:ext cx="128016" cy="128016"/>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798" name="Google Shape;798;p17"/>
          <p:cNvCxnSpPr/>
          <p:nvPr/>
        </p:nvCxnSpPr>
        <p:spPr>
          <a:xfrm>
            <a:off x="6757416" y="5020056"/>
            <a:ext cx="146304" cy="0"/>
          </a:xfrm>
          <a:prstGeom prst="straightConnector1">
            <a:avLst/>
          </a:prstGeom>
          <a:noFill/>
          <a:ln cap="flat" cmpd="sng" w="26650">
            <a:solidFill>
              <a:srgbClr val="3A7D8C"/>
            </a:solidFill>
            <a:prstDash val="solid"/>
            <a:miter lim="8000"/>
            <a:headEnd len="sm" w="sm" type="none"/>
            <a:tailEnd len="sm" w="sm" type="none"/>
          </a:ln>
        </p:spPr>
      </p:cxnSp>
      <p:cxnSp>
        <p:nvCxnSpPr>
          <p:cNvPr id="799" name="Google Shape;799;p17"/>
          <p:cNvCxnSpPr/>
          <p:nvPr/>
        </p:nvCxnSpPr>
        <p:spPr>
          <a:xfrm rot="10800000">
            <a:off x="6903720" y="4069080"/>
            <a:ext cx="0" cy="950976"/>
          </a:xfrm>
          <a:prstGeom prst="straightConnector1">
            <a:avLst/>
          </a:prstGeom>
          <a:noFill/>
          <a:ln cap="flat" cmpd="sng" w="26650">
            <a:solidFill>
              <a:srgbClr val="3A7D8C"/>
            </a:solidFill>
            <a:prstDash val="solid"/>
            <a:miter lim="8000"/>
            <a:headEnd len="sm" w="sm" type="none"/>
            <a:tailEnd len="sm" w="sm" type="none"/>
          </a:ln>
        </p:spPr>
      </p:cxnSp>
      <p:cxnSp>
        <p:nvCxnSpPr>
          <p:cNvPr id="800" name="Google Shape;800;p17"/>
          <p:cNvCxnSpPr/>
          <p:nvPr/>
        </p:nvCxnSpPr>
        <p:spPr>
          <a:xfrm>
            <a:off x="6903720" y="4069080"/>
            <a:ext cx="228600" cy="0"/>
          </a:xfrm>
          <a:prstGeom prst="straightConnector1">
            <a:avLst/>
          </a:prstGeom>
          <a:noFill/>
          <a:ln cap="flat" cmpd="sng" w="26650">
            <a:solidFill>
              <a:srgbClr val="3A7D8C"/>
            </a:solidFill>
            <a:prstDash val="solid"/>
            <a:miter lim="8000"/>
            <a:headEnd len="sm" w="sm" type="none"/>
            <a:tailEnd len="sm" w="sm" type="none"/>
          </a:ln>
        </p:spPr>
      </p:cxnSp>
      <p:sp>
        <p:nvSpPr>
          <p:cNvPr id="801" name="Google Shape;801;p17"/>
          <p:cNvSpPr/>
          <p:nvPr/>
        </p:nvSpPr>
        <p:spPr>
          <a:xfrm rot="5400000">
            <a:off x="7068312" y="4005072"/>
            <a:ext cx="128016" cy="128016"/>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802" name="Google Shape;802;p17"/>
          <p:cNvCxnSpPr/>
          <p:nvPr/>
        </p:nvCxnSpPr>
        <p:spPr>
          <a:xfrm>
            <a:off x="8485632" y="4059936"/>
            <a:ext cx="868680" cy="0"/>
          </a:xfrm>
          <a:prstGeom prst="straightConnector1">
            <a:avLst/>
          </a:prstGeom>
          <a:noFill/>
          <a:ln cap="flat" cmpd="sng" w="38100">
            <a:solidFill>
              <a:srgbClr val="0B6E4F"/>
            </a:solidFill>
            <a:prstDash val="solid"/>
            <a:miter lim="8000"/>
            <a:headEnd len="sm" w="sm" type="none"/>
            <a:tailEnd len="sm" w="sm" type="none"/>
          </a:ln>
        </p:spPr>
      </p:cxnSp>
      <p:sp>
        <p:nvSpPr>
          <p:cNvPr id="803" name="Google Shape;803;p17"/>
          <p:cNvSpPr/>
          <p:nvPr/>
        </p:nvSpPr>
        <p:spPr>
          <a:xfrm rot="5400000">
            <a:off x="9290304" y="3995928"/>
            <a:ext cx="128016" cy="128016"/>
          </a:xfrm>
          <a:prstGeom prst="triangle">
            <a:avLst>
              <a:gd fmla="val 50000" name="adj"/>
            </a:avLst>
          </a:prstGeom>
          <a:solidFill>
            <a:srgbClr val="0B6E4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804" name="Google Shape;804;p17"/>
          <p:cNvCxnSpPr/>
          <p:nvPr/>
        </p:nvCxnSpPr>
        <p:spPr>
          <a:xfrm>
            <a:off x="10451592" y="4608576"/>
            <a:ext cx="0" cy="438912"/>
          </a:xfrm>
          <a:prstGeom prst="straightConnector1">
            <a:avLst/>
          </a:prstGeom>
          <a:noFill/>
          <a:ln cap="flat" cmpd="sng" w="33000">
            <a:solidFill>
              <a:srgbClr val="177A55"/>
            </a:solidFill>
            <a:prstDash val="solid"/>
            <a:miter lim="8000"/>
            <a:headEnd len="sm" w="sm" type="none"/>
            <a:tailEnd len="sm" w="sm" type="none"/>
          </a:ln>
        </p:spPr>
      </p:cxnSp>
      <p:sp>
        <p:nvSpPr>
          <p:cNvPr id="805" name="Google Shape;805;p17"/>
          <p:cNvSpPr/>
          <p:nvPr/>
        </p:nvSpPr>
        <p:spPr>
          <a:xfrm rot="10800000">
            <a:off x="10387584" y="4983479"/>
            <a:ext cx="128016" cy="128016"/>
          </a:xfrm>
          <a:prstGeom prst="triangle">
            <a:avLst>
              <a:gd fmla="val 50000" name="adj"/>
            </a:avLst>
          </a:prstGeom>
          <a:solidFill>
            <a:srgbClr val="177A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806" name="Google Shape;806;p17"/>
          <p:cNvCxnSpPr/>
          <p:nvPr/>
        </p:nvCxnSpPr>
        <p:spPr>
          <a:xfrm rot="10800000">
            <a:off x="8924544" y="5449824"/>
            <a:ext cx="466344" cy="0"/>
          </a:xfrm>
          <a:prstGeom prst="straightConnector1">
            <a:avLst/>
          </a:prstGeom>
          <a:noFill/>
          <a:ln cap="flat" cmpd="sng" w="31750">
            <a:solidFill>
              <a:srgbClr val="177A55"/>
            </a:solidFill>
            <a:prstDash val="solid"/>
            <a:miter lim="8000"/>
            <a:headEnd len="sm" w="sm" type="none"/>
            <a:tailEnd len="sm" w="sm" type="none"/>
          </a:ln>
        </p:spPr>
      </p:cxnSp>
      <p:cxnSp>
        <p:nvCxnSpPr>
          <p:cNvPr id="807" name="Google Shape;807;p17"/>
          <p:cNvCxnSpPr/>
          <p:nvPr/>
        </p:nvCxnSpPr>
        <p:spPr>
          <a:xfrm>
            <a:off x="8924544" y="5449824"/>
            <a:ext cx="0" cy="365760"/>
          </a:xfrm>
          <a:prstGeom prst="straightConnector1">
            <a:avLst/>
          </a:prstGeom>
          <a:noFill/>
          <a:ln cap="flat" cmpd="sng" w="31750">
            <a:solidFill>
              <a:srgbClr val="177A55"/>
            </a:solidFill>
            <a:prstDash val="solid"/>
            <a:miter lim="8000"/>
            <a:headEnd len="sm" w="sm" type="none"/>
            <a:tailEnd len="sm" w="sm" type="none"/>
          </a:ln>
        </p:spPr>
      </p:cxnSp>
      <p:cxnSp>
        <p:nvCxnSpPr>
          <p:cNvPr id="808" name="Google Shape;808;p17"/>
          <p:cNvCxnSpPr/>
          <p:nvPr/>
        </p:nvCxnSpPr>
        <p:spPr>
          <a:xfrm rot="10800000">
            <a:off x="6967728" y="5815584"/>
            <a:ext cx="1956816" cy="0"/>
          </a:xfrm>
          <a:prstGeom prst="straightConnector1">
            <a:avLst/>
          </a:prstGeom>
          <a:noFill/>
          <a:ln cap="flat" cmpd="sng" w="31750">
            <a:solidFill>
              <a:srgbClr val="177A55"/>
            </a:solidFill>
            <a:prstDash val="solid"/>
            <a:miter lim="8000"/>
            <a:headEnd len="sm" w="sm" type="none"/>
            <a:tailEnd len="sm" w="sm" type="none"/>
          </a:ln>
        </p:spPr>
      </p:cxnSp>
      <p:cxnSp>
        <p:nvCxnSpPr>
          <p:cNvPr id="809" name="Google Shape;809;p17"/>
          <p:cNvCxnSpPr/>
          <p:nvPr/>
        </p:nvCxnSpPr>
        <p:spPr>
          <a:xfrm rot="10800000">
            <a:off x="6967728" y="5020056"/>
            <a:ext cx="0" cy="795528"/>
          </a:xfrm>
          <a:prstGeom prst="straightConnector1">
            <a:avLst/>
          </a:prstGeom>
          <a:noFill/>
          <a:ln cap="flat" cmpd="sng" w="31750">
            <a:solidFill>
              <a:srgbClr val="177A55"/>
            </a:solidFill>
            <a:prstDash val="solid"/>
            <a:miter lim="8000"/>
            <a:headEnd len="sm" w="sm" type="none"/>
            <a:tailEnd len="sm" w="sm" type="none"/>
          </a:ln>
        </p:spPr>
      </p:cxnSp>
      <p:cxnSp>
        <p:nvCxnSpPr>
          <p:cNvPr id="810" name="Google Shape;810;p17"/>
          <p:cNvCxnSpPr/>
          <p:nvPr/>
        </p:nvCxnSpPr>
        <p:spPr>
          <a:xfrm rot="10800000">
            <a:off x="6766560" y="5020056"/>
            <a:ext cx="201168" cy="0"/>
          </a:xfrm>
          <a:prstGeom prst="straightConnector1">
            <a:avLst/>
          </a:prstGeom>
          <a:noFill/>
          <a:ln cap="flat" cmpd="sng" w="31750">
            <a:solidFill>
              <a:srgbClr val="177A55"/>
            </a:solidFill>
            <a:prstDash val="solid"/>
            <a:miter lim="8000"/>
            <a:headEnd len="sm" w="sm" type="none"/>
            <a:tailEnd len="sm" w="sm" type="none"/>
          </a:ln>
        </p:spPr>
      </p:cxnSp>
      <p:sp>
        <p:nvSpPr>
          <p:cNvPr id="812" name="Google Shape;812;p17"/>
          <p:cNvSpPr/>
          <p:nvPr/>
        </p:nvSpPr>
        <p:spPr>
          <a:xfrm>
            <a:off x="621792" y="3282696"/>
            <a:ext cx="1170432" cy="1133856"/>
          </a:xfrm>
          <a:prstGeom prst="roundRect">
            <a:avLst>
              <a:gd fmla="val 16667" name="adj"/>
            </a:avLst>
          </a:prstGeom>
          <a:solidFill>
            <a:srgbClr val="FFFFFF"/>
          </a:solidFill>
          <a:ln cap="flat" cmpd="sng" w="15225">
            <a:solidFill>
              <a:srgbClr val="D9DED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13" name="Google Shape;813;p17"/>
          <p:cNvSpPr/>
          <p:nvPr/>
        </p:nvSpPr>
        <p:spPr>
          <a:xfrm>
            <a:off x="740664" y="3447288"/>
            <a:ext cx="256032" cy="402336"/>
          </a:xfrm>
          <a:prstGeom prst="rect">
            <a:avLst/>
          </a:prstGeom>
          <a:solidFill>
            <a:srgbClr val="DDE5E1"/>
          </a:solidFill>
          <a:ln cap="flat" cmpd="sng" w="10150">
            <a:solidFill>
              <a:srgbClr val="177A5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814" name="Google Shape;814;p17"/>
          <p:cNvCxnSpPr/>
          <p:nvPr/>
        </p:nvCxnSpPr>
        <p:spPr>
          <a:xfrm>
            <a:off x="781812" y="3566160"/>
            <a:ext cx="169164" cy="0"/>
          </a:xfrm>
          <a:prstGeom prst="straightConnector1">
            <a:avLst/>
          </a:prstGeom>
          <a:noFill/>
          <a:ln cap="flat" cmpd="sng" w="9525">
            <a:solidFill>
              <a:srgbClr val="8E989E"/>
            </a:solidFill>
            <a:prstDash val="solid"/>
            <a:miter lim="8000"/>
            <a:headEnd len="sm" w="sm" type="none"/>
            <a:tailEnd len="sm" w="sm" type="none"/>
          </a:ln>
        </p:spPr>
      </p:cxnSp>
      <p:cxnSp>
        <p:nvCxnSpPr>
          <p:cNvPr id="815" name="Google Shape;815;p17"/>
          <p:cNvCxnSpPr/>
          <p:nvPr/>
        </p:nvCxnSpPr>
        <p:spPr>
          <a:xfrm>
            <a:off x="781812" y="3648456"/>
            <a:ext cx="169164" cy="0"/>
          </a:xfrm>
          <a:prstGeom prst="straightConnector1">
            <a:avLst/>
          </a:prstGeom>
          <a:noFill/>
          <a:ln cap="flat" cmpd="sng" w="9525">
            <a:solidFill>
              <a:srgbClr val="8E989E"/>
            </a:solidFill>
            <a:prstDash val="solid"/>
            <a:miter lim="8000"/>
            <a:headEnd len="sm" w="sm" type="none"/>
            <a:tailEnd len="sm" w="sm" type="none"/>
          </a:ln>
        </p:spPr>
      </p:cxnSp>
      <p:sp>
        <p:nvSpPr>
          <p:cNvPr id="816" name="Google Shape;816;p17"/>
          <p:cNvSpPr/>
          <p:nvPr/>
        </p:nvSpPr>
        <p:spPr>
          <a:xfrm>
            <a:off x="1051560" y="3447288"/>
            <a:ext cx="256032" cy="402336"/>
          </a:xfrm>
          <a:prstGeom prst="rect">
            <a:avLst/>
          </a:prstGeom>
          <a:solidFill>
            <a:srgbClr val="DDE5E1"/>
          </a:solidFill>
          <a:ln cap="flat" cmpd="sng" w="10150">
            <a:solidFill>
              <a:srgbClr val="177A5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817" name="Google Shape;817;p17"/>
          <p:cNvCxnSpPr/>
          <p:nvPr/>
        </p:nvCxnSpPr>
        <p:spPr>
          <a:xfrm>
            <a:off x="1092708" y="3566160"/>
            <a:ext cx="169164" cy="0"/>
          </a:xfrm>
          <a:prstGeom prst="straightConnector1">
            <a:avLst/>
          </a:prstGeom>
          <a:noFill/>
          <a:ln cap="flat" cmpd="sng" w="9525">
            <a:solidFill>
              <a:srgbClr val="8E989E"/>
            </a:solidFill>
            <a:prstDash val="solid"/>
            <a:miter lim="8000"/>
            <a:headEnd len="sm" w="sm" type="none"/>
            <a:tailEnd len="sm" w="sm" type="none"/>
          </a:ln>
        </p:spPr>
      </p:cxnSp>
      <p:cxnSp>
        <p:nvCxnSpPr>
          <p:cNvPr id="818" name="Google Shape;818;p17"/>
          <p:cNvCxnSpPr/>
          <p:nvPr/>
        </p:nvCxnSpPr>
        <p:spPr>
          <a:xfrm>
            <a:off x="1092708" y="3648456"/>
            <a:ext cx="169164" cy="0"/>
          </a:xfrm>
          <a:prstGeom prst="straightConnector1">
            <a:avLst/>
          </a:prstGeom>
          <a:noFill/>
          <a:ln cap="flat" cmpd="sng" w="9525">
            <a:solidFill>
              <a:srgbClr val="8E989E"/>
            </a:solidFill>
            <a:prstDash val="solid"/>
            <a:miter lim="8000"/>
            <a:headEnd len="sm" w="sm" type="none"/>
            <a:tailEnd len="sm" w="sm" type="none"/>
          </a:ln>
        </p:spPr>
      </p:cxnSp>
      <p:sp>
        <p:nvSpPr>
          <p:cNvPr id="819" name="Google Shape;819;p17"/>
          <p:cNvSpPr/>
          <p:nvPr/>
        </p:nvSpPr>
        <p:spPr>
          <a:xfrm>
            <a:off x="1362456" y="3447288"/>
            <a:ext cx="256032" cy="402336"/>
          </a:xfrm>
          <a:prstGeom prst="rect">
            <a:avLst/>
          </a:prstGeom>
          <a:solidFill>
            <a:srgbClr val="DDE5E1"/>
          </a:solidFill>
          <a:ln cap="flat" cmpd="sng" w="10150">
            <a:solidFill>
              <a:srgbClr val="177A5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820" name="Google Shape;820;p17"/>
          <p:cNvCxnSpPr/>
          <p:nvPr/>
        </p:nvCxnSpPr>
        <p:spPr>
          <a:xfrm>
            <a:off x="1403604" y="3566160"/>
            <a:ext cx="169164" cy="0"/>
          </a:xfrm>
          <a:prstGeom prst="straightConnector1">
            <a:avLst/>
          </a:prstGeom>
          <a:noFill/>
          <a:ln cap="flat" cmpd="sng" w="9525">
            <a:solidFill>
              <a:srgbClr val="8E989E"/>
            </a:solidFill>
            <a:prstDash val="solid"/>
            <a:miter lim="8000"/>
            <a:headEnd len="sm" w="sm" type="none"/>
            <a:tailEnd len="sm" w="sm" type="none"/>
          </a:ln>
        </p:spPr>
      </p:cxnSp>
      <p:cxnSp>
        <p:nvCxnSpPr>
          <p:cNvPr id="821" name="Google Shape;821;p17"/>
          <p:cNvCxnSpPr/>
          <p:nvPr/>
        </p:nvCxnSpPr>
        <p:spPr>
          <a:xfrm>
            <a:off x="1403604" y="3648456"/>
            <a:ext cx="169164" cy="0"/>
          </a:xfrm>
          <a:prstGeom prst="straightConnector1">
            <a:avLst/>
          </a:prstGeom>
          <a:noFill/>
          <a:ln cap="flat" cmpd="sng" w="9525">
            <a:solidFill>
              <a:srgbClr val="8E989E"/>
            </a:solidFill>
            <a:prstDash val="solid"/>
            <a:miter lim="8000"/>
            <a:headEnd len="sm" w="sm" type="none"/>
            <a:tailEnd len="sm" w="sm" type="none"/>
          </a:ln>
        </p:spPr>
      </p:cxnSp>
      <p:sp>
        <p:nvSpPr>
          <p:cNvPr id="822" name="Google Shape;822;p17"/>
          <p:cNvSpPr txBox="1"/>
          <p:nvPr/>
        </p:nvSpPr>
        <p:spPr>
          <a:xfrm>
            <a:off x="630936" y="3941063"/>
            <a:ext cx="1152144" cy="283464"/>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1400">
                <a:solidFill>
                  <a:srgbClr val="1F2328"/>
                </a:solidFill>
                <a:latin typeface="Calibri"/>
                <a:ea typeface="Calibri"/>
                <a:cs typeface="Calibri"/>
                <a:sym typeface="Calibri"/>
              </a:rPr>
              <a:t>Schema S</a:t>
            </a:r>
            <a:endParaRPr/>
          </a:p>
        </p:txBody>
      </p:sp>
      <p:sp>
        <p:nvSpPr>
          <p:cNvPr id="823" name="Google Shape;823;p17"/>
          <p:cNvSpPr txBox="1"/>
          <p:nvPr/>
        </p:nvSpPr>
        <p:spPr>
          <a:xfrm>
            <a:off x="1490472" y="3072384"/>
            <a:ext cx="384048" cy="228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3A434C"/>
                </a:solidFill>
                <a:latin typeface="Calibri"/>
                <a:ea typeface="Calibri"/>
                <a:cs typeface="Calibri"/>
                <a:sym typeface="Calibri"/>
              </a:rPr>
              <a:t>(a)</a:t>
            </a:r>
            <a:endParaRPr/>
          </a:p>
        </p:txBody>
      </p:sp>
      <p:sp>
        <p:nvSpPr>
          <p:cNvPr id="824" name="Google Shape;824;p17"/>
          <p:cNvSpPr/>
          <p:nvPr/>
        </p:nvSpPr>
        <p:spPr>
          <a:xfrm>
            <a:off x="1956816" y="3483864"/>
            <a:ext cx="1444752" cy="694944"/>
          </a:xfrm>
          <a:prstGeom prst="roundRect">
            <a:avLst>
              <a:gd fmla="val 16667" name="adj"/>
            </a:avLst>
          </a:prstGeom>
          <a:solidFill>
            <a:srgbClr val="F3F5F4"/>
          </a:solidFill>
          <a:ln cap="flat" cmpd="sng" w="16500">
            <a:solidFill>
              <a:srgbClr val="3A7D8C"/>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25" name="Google Shape;825;p17"/>
          <p:cNvSpPr txBox="1"/>
          <p:nvPr/>
        </p:nvSpPr>
        <p:spPr>
          <a:xfrm>
            <a:off x="2039112" y="3602736"/>
            <a:ext cx="1280160" cy="246888"/>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1550">
                <a:solidFill>
                  <a:srgbClr val="1F2328"/>
                </a:solidFill>
                <a:latin typeface="Calibri"/>
                <a:ea typeface="Calibri"/>
                <a:cs typeface="Calibri"/>
                <a:sym typeface="Calibri"/>
              </a:rPr>
              <a:t>Iterate</a:t>
            </a:r>
            <a:endParaRPr/>
          </a:p>
        </p:txBody>
      </p:sp>
      <p:sp>
        <p:nvSpPr>
          <p:cNvPr id="826" name="Google Shape;826;p17"/>
          <p:cNvSpPr txBox="1"/>
          <p:nvPr/>
        </p:nvSpPr>
        <p:spPr>
          <a:xfrm>
            <a:off x="2048256" y="3877056"/>
            <a:ext cx="1261872" cy="256032"/>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US" sz="1400">
                <a:solidFill>
                  <a:srgbClr val="3A434C"/>
                </a:solidFill>
                <a:latin typeface="Calibri"/>
                <a:ea typeface="Calibri"/>
                <a:cs typeface="Calibri"/>
                <a:sym typeface="Calibri"/>
              </a:rPr>
              <a:t>FK-BFS</a:t>
            </a:r>
            <a:endParaRPr/>
          </a:p>
        </p:txBody>
      </p:sp>
      <p:sp>
        <p:nvSpPr>
          <p:cNvPr id="827" name="Google Shape;827;p17"/>
          <p:cNvSpPr/>
          <p:nvPr/>
        </p:nvSpPr>
        <p:spPr>
          <a:xfrm>
            <a:off x="3776472" y="2148840"/>
            <a:ext cx="2103120" cy="758952"/>
          </a:xfrm>
          <a:prstGeom prst="roundRect">
            <a:avLst>
              <a:gd fmla="val 16667" name="adj"/>
            </a:avLst>
          </a:prstGeom>
          <a:solidFill>
            <a:srgbClr val="F3F5F4"/>
          </a:solidFill>
          <a:ln cap="flat" cmpd="sng" w="16500">
            <a:solidFill>
              <a:srgbClr val="3A7D8C"/>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28" name="Google Shape;828;p17"/>
          <p:cNvSpPr txBox="1"/>
          <p:nvPr/>
        </p:nvSpPr>
        <p:spPr>
          <a:xfrm>
            <a:off x="3849624" y="1938528"/>
            <a:ext cx="384048" cy="228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3A434C"/>
                </a:solidFill>
                <a:latin typeface="Calibri"/>
                <a:ea typeface="Calibri"/>
                <a:cs typeface="Calibri"/>
                <a:sym typeface="Calibri"/>
              </a:rPr>
              <a:t>(b)</a:t>
            </a:r>
            <a:endParaRPr/>
          </a:p>
        </p:txBody>
      </p:sp>
      <p:sp>
        <p:nvSpPr>
          <p:cNvPr id="829" name="Google Shape;829;p17"/>
          <p:cNvSpPr txBox="1"/>
          <p:nvPr/>
        </p:nvSpPr>
        <p:spPr>
          <a:xfrm>
            <a:off x="3858768" y="2267712"/>
            <a:ext cx="1938527" cy="246888"/>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1550">
                <a:solidFill>
                  <a:srgbClr val="1F2328"/>
                </a:solidFill>
                <a:latin typeface="Calibri"/>
                <a:ea typeface="Calibri"/>
                <a:cs typeface="Calibri"/>
                <a:sym typeface="Calibri"/>
              </a:rPr>
              <a:t>Direct mapping</a:t>
            </a:r>
            <a:endParaRPr/>
          </a:p>
        </p:txBody>
      </p:sp>
      <p:sp>
        <p:nvSpPr>
          <p:cNvPr id="830" name="Google Shape;830;p17"/>
          <p:cNvSpPr txBox="1"/>
          <p:nvPr/>
        </p:nvSpPr>
        <p:spPr>
          <a:xfrm>
            <a:off x="3867911" y="2542032"/>
            <a:ext cx="1920239" cy="32004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US" sz="1400">
                <a:solidFill>
                  <a:srgbClr val="3A434C"/>
                </a:solidFill>
                <a:latin typeface="Calibri"/>
                <a:ea typeface="Calibri"/>
                <a:cs typeface="Calibri"/>
                <a:sym typeface="Calibri"/>
              </a:rPr>
              <a:t>OWL seed DMᵣ</a:t>
            </a:r>
            <a:endParaRPr/>
          </a:p>
        </p:txBody>
      </p:sp>
      <p:sp>
        <p:nvSpPr>
          <p:cNvPr id="831" name="Google Shape;831;p17"/>
          <p:cNvSpPr/>
          <p:nvPr/>
        </p:nvSpPr>
        <p:spPr>
          <a:xfrm>
            <a:off x="3630168" y="3063240"/>
            <a:ext cx="3218688" cy="2432304"/>
          </a:xfrm>
          <a:prstGeom prst="roundRect">
            <a:avLst>
              <a:gd fmla="val 16667" name="adj"/>
            </a:avLst>
          </a:prstGeom>
          <a:solidFill>
            <a:srgbClr val="FFFFFF"/>
          </a:solidFill>
          <a:ln cap="flat" cmpd="sng" w="15225">
            <a:solidFill>
              <a:srgbClr val="D9DED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32" name="Google Shape;832;p17"/>
          <p:cNvSpPr txBox="1"/>
          <p:nvPr/>
        </p:nvSpPr>
        <p:spPr>
          <a:xfrm>
            <a:off x="3758184" y="3099816"/>
            <a:ext cx="2990088" cy="210312"/>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1400">
                <a:solidFill>
                  <a:srgbClr val="3A434C"/>
                </a:solidFill>
                <a:latin typeface="Calibri"/>
                <a:ea typeface="Calibri"/>
                <a:cs typeface="Calibri"/>
                <a:sym typeface="Calibri"/>
              </a:rPr>
              <a:t>RETRIEVAL  •  top-k per source</a:t>
            </a:r>
            <a:endParaRPr/>
          </a:p>
        </p:txBody>
      </p:sp>
      <p:sp>
        <p:nvSpPr>
          <p:cNvPr id="833" name="Google Shape;833;p17"/>
          <p:cNvSpPr/>
          <p:nvPr/>
        </p:nvSpPr>
        <p:spPr>
          <a:xfrm>
            <a:off x="3776472" y="3383280"/>
            <a:ext cx="2980944" cy="603504"/>
          </a:xfrm>
          <a:prstGeom prst="roundRect">
            <a:avLst>
              <a:gd fmla="val 16667" name="adj"/>
            </a:avLst>
          </a:prstGeom>
          <a:solidFill>
            <a:srgbClr val="F3F5F4"/>
          </a:solidFill>
          <a:ln cap="flat" cmpd="sng" w="15225">
            <a:solidFill>
              <a:srgbClr val="3A7D8C"/>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34" name="Google Shape;834;p17"/>
          <p:cNvSpPr txBox="1"/>
          <p:nvPr/>
        </p:nvSpPr>
        <p:spPr>
          <a:xfrm>
            <a:off x="3877056" y="3415284"/>
            <a:ext cx="365760" cy="192024"/>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0B6E4F"/>
                </a:solidFill>
                <a:latin typeface="Calibri"/>
                <a:ea typeface="Calibri"/>
                <a:cs typeface="Calibri"/>
                <a:sym typeface="Calibri"/>
              </a:rPr>
              <a:t>(c)</a:t>
            </a:r>
            <a:endParaRPr/>
          </a:p>
        </p:txBody>
      </p:sp>
      <p:sp>
        <p:nvSpPr>
          <p:cNvPr id="835" name="Google Shape;835;p17"/>
          <p:cNvSpPr txBox="1"/>
          <p:nvPr/>
        </p:nvSpPr>
        <p:spPr>
          <a:xfrm>
            <a:off x="4224528" y="3396996"/>
            <a:ext cx="2404872" cy="283464"/>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500">
                <a:solidFill>
                  <a:srgbClr val="1F2328"/>
                </a:solidFill>
                <a:latin typeface="Calibri"/>
                <a:ea typeface="Calibri"/>
                <a:cs typeface="Calibri"/>
                <a:sym typeface="Calibri"/>
              </a:rPr>
              <a:t>External ontologies</a:t>
            </a:r>
            <a:endParaRPr/>
          </a:p>
        </p:txBody>
      </p:sp>
      <p:sp>
        <p:nvSpPr>
          <p:cNvPr id="836" name="Google Shape;836;p17"/>
          <p:cNvSpPr txBox="1"/>
          <p:nvPr/>
        </p:nvSpPr>
        <p:spPr>
          <a:xfrm>
            <a:off x="4224528" y="3703320"/>
            <a:ext cx="2404872" cy="201168"/>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400">
                <a:solidFill>
                  <a:srgbClr val="3A434C"/>
                </a:solidFill>
                <a:latin typeface="Calibri"/>
                <a:ea typeface="Calibri"/>
                <a:cs typeface="Calibri"/>
                <a:sym typeface="Calibri"/>
              </a:rPr>
              <a:t>Domain alignments</a:t>
            </a:r>
            <a:endParaRPr/>
          </a:p>
        </p:txBody>
      </p:sp>
      <p:sp>
        <p:nvSpPr>
          <p:cNvPr id="837" name="Google Shape;837;p17"/>
          <p:cNvSpPr/>
          <p:nvPr/>
        </p:nvSpPr>
        <p:spPr>
          <a:xfrm>
            <a:off x="3776472" y="4087368"/>
            <a:ext cx="2980944" cy="603504"/>
          </a:xfrm>
          <a:prstGeom prst="roundRect">
            <a:avLst>
              <a:gd fmla="val 16667" name="adj"/>
            </a:avLst>
          </a:prstGeom>
          <a:solidFill>
            <a:srgbClr val="F3F5F4"/>
          </a:solidFill>
          <a:ln cap="flat" cmpd="sng" w="15225">
            <a:solidFill>
              <a:srgbClr val="3A7D8C"/>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38" name="Google Shape;838;p17"/>
          <p:cNvSpPr txBox="1"/>
          <p:nvPr/>
        </p:nvSpPr>
        <p:spPr>
          <a:xfrm>
            <a:off x="3877056" y="4119372"/>
            <a:ext cx="365760" cy="192024"/>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0B6E4F"/>
                </a:solidFill>
                <a:latin typeface="Calibri"/>
                <a:ea typeface="Calibri"/>
                <a:cs typeface="Calibri"/>
                <a:sym typeface="Calibri"/>
              </a:rPr>
              <a:t>(d)</a:t>
            </a:r>
            <a:endParaRPr/>
          </a:p>
        </p:txBody>
      </p:sp>
      <p:sp>
        <p:nvSpPr>
          <p:cNvPr id="839" name="Google Shape;839;p17"/>
          <p:cNvSpPr txBox="1"/>
          <p:nvPr/>
        </p:nvSpPr>
        <p:spPr>
          <a:xfrm>
            <a:off x="4224528" y="4101084"/>
            <a:ext cx="2404872" cy="283464"/>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500">
                <a:solidFill>
                  <a:srgbClr val="1F2328"/>
                </a:solidFill>
                <a:latin typeface="Calibri"/>
                <a:ea typeface="Calibri"/>
                <a:cs typeface="Calibri"/>
                <a:sym typeface="Calibri"/>
              </a:rPr>
              <a:t>Documentation</a:t>
            </a:r>
            <a:endParaRPr/>
          </a:p>
        </p:txBody>
      </p:sp>
      <p:sp>
        <p:nvSpPr>
          <p:cNvPr id="840" name="Google Shape;840;p17"/>
          <p:cNvSpPr txBox="1"/>
          <p:nvPr/>
        </p:nvSpPr>
        <p:spPr>
          <a:xfrm>
            <a:off x="4224528" y="4407408"/>
            <a:ext cx="2404872" cy="201168"/>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400">
                <a:solidFill>
                  <a:srgbClr val="3A434C"/>
                </a:solidFill>
                <a:latin typeface="Calibri"/>
                <a:ea typeface="Calibri"/>
                <a:cs typeface="Calibri"/>
                <a:sym typeface="Calibri"/>
              </a:rPr>
              <a:t>Cryptic fields and codes</a:t>
            </a:r>
            <a:endParaRPr/>
          </a:p>
        </p:txBody>
      </p:sp>
      <p:sp>
        <p:nvSpPr>
          <p:cNvPr id="841" name="Google Shape;841;p17"/>
          <p:cNvSpPr/>
          <p:nvPr/>
        </p:nvSpPr>
        <p:spPr>
          <a:xfrm>
            <a:off x="3776472" y="4791456"/>
            <a:ext cx="2980944" cy="603504"/>
          </a:xfrm>
          <a:prstGeom prst="roundRect">
            <a:avLst>
              <a:gd fmla="val 16667" name="adj"/>
            </a:avLst>
          </a:prstGeom>
          <a:solidFill>
            <a:srgbClr val="F3F5F4"/>
          </a:solidFill>
          <a:ln cap="flat" cmpd="sng" w="15225">
            <a:solidFill>
              <a:srgbClr val="3A7D8C"/>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42" name="Google Shape;842;p17"/>
          <p:cNvSpPr txBox="1"/>
          <p:nvPr/>
        </p:nvSpPr>
        <p:spPr>
          <a:xfrm>
            <a:off x="3877056" y="4823460"/>
            <a:ext cx="365760" cy="192024"/>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0B6E4F"/>
                </a:solidFill>
                <a:latin typeface="Calibri"/>
                <a:ea typeface="Calibri"/>
                <a:cs typeface="Calibri"/>
                <a:sym typeface="Calibri"/>
              </a:rPr>
              <a:t>(e)</a:t>
            </a:r>
            <a:endParaRPr/>
          </a:p>
        </p:txBody>
      </p:sp>
      <p:sp>
        <p:nvSpPr>
          <p:cNvPr id="843" name="Google Shape;843;p17"/>
          <p:cNvSpPr txBox="1"/>
          <p:nvPr/>
        </p:nvSpPr>
        <p:spPr>
          <a:xfrm>
            <a:off x="4224528" y="4805172"/>
            <a:ext cx="2404872" cy="283464"/>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500">
                <a:solidFill>
                  <a:srgbClr val="1F2328"/>
                </a:solidFill>
                <a:latin typeface="Calibri"/>
                <a:ea typeface="Calibri"/>
                <a:cs typeface="Calibri"/>
                <a:sym typeface="Calibri"/>
              </a:rPr>
              <a:t>Growing core ontology</a:t>
            </a:r>
            <a:endParaRPr/>
          </a:p>
        </p:txBody>
      </p:sp>
      <p:sp>
        <p:nvSpPr>
          <p:cNvPr id="844" name="Google Shape;844;p17"/>
          <p:cNvSpPr txBox="1"/>
          <p:nvPr/>
        </p:nvSpPr>
        <p:spPr>
          <a:xfrm>
            <a:off x="4224528" y="5111496"/>
            <a:ext cx="2404872" cy="201168"/>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400">
                <a:solidFill>
                  <a:srgbClr val="3A434C"/>
                </a:solidFill>
                <a:latin typeface="Calibri"/>
                <a:ea typeface="Calibri"/>
                <a:cs typeface="Calibri"/>
                <a:sym typeface="Calibri"/>
              </a:rPr>
              <a:t>Reuse validated IRIs</a:t>
            </a:r>
            <a:endParaRPr/>
          </a:p>
        </p:txBody>
      </p:sp>
      <p:sp>
        <p:nvSpPr>
          <p:cNvPr id="845" name="Google Shape;845;p17"/>
          <p:cNvSpPr/>
          <p:nvPr/>
        </p:nvSpPr>
        <p:spPr>
          <a:xfrm>
            <a:off x="7150608" y="3666744"/>
            <a:ext cx="1335024" cy="822960"/>
          </a:xfrm>
          <a:prstGeom prst="roundRect">
            <a:avLst>
              <a:gd fmla="val 16667" name="adj"/>
            </a:avLst>
          </a:prstGeom>
          <a:solidFill>
            <a:srgbClr val="F3F5F4"/>
          </a:solidFill>
          <a:ln cap="flat" cmpd="sng" w="16500">
            <a:solidFill>
              <a:srgbClr val="3A7D8C"/>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46" name="Google Shape;846;p17"/>
          <p:cNvSpPr txBox="1"/>
          <p:nvPr/>
        </p:nvSpPr>
        <p:spPr>
          <a:xfrm>
            <a:off x="7223760" y="3456432"/>
            <a:ext cx="384048" cy="228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3A434C"/>
                </a:solidFill>
                <a:latin typeface="Calibri"/>
                <a:ea typeface="Calibri"/>
                <a:cs typeface="Calibri"/>
                <a:sym typeface="Calibri"/>
              </a:rPr>
              <a:t>(f)</a:t>
            </a:r>
            <a:endParaRPr/>
          </a:p>
        </p:txBody>
      </p:sp>
      <p:sp>
        <p:nvSpPr>
          <p:cNvPr id="847" name="Google Shape;847;p17"/>
          <p:cNvSpPr txBox="1"/>
          <p:nvPr/>
        </p:nvSpPr>
        <p:spPr>
          <a:xfrm>
            <a:off x="7232904" y="3785615"/>
            <a:ext cx="1170432" cy="246888"/>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1550">
                <a:solidFill>
                  <a:srgbClr val="1F2328"/>
                </a:solidFill>
                <a:latin typeface="Calibri"/>
                <a:ea typeface="Calibri"/>
                <a:cs typeface="Calibri"/>
                <a:sym typeface="Calibri"/>
              </a:rPr>
              <a:t>Gen-LLM</a:t>
            </a:r>
            <a:endParaRPr/>
          </a:p>
        </p:txBody>
      </p:sp>
      <p:sp>
        <p:nvSpPr>
          <p:cNvPr id="848" name="Google Shape;848;p17"/>
          <p:cNvSpPr txBox="1"/>
          <p:nvPr/>
        </p:nvSpPr>
        <p:spPr>
          <a:xfrm>
            <a:off x="7242048" y="4059935"/>
            <a:ext cx="1152144" cy="384048"/>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US" sz="1400">
                <a:solidFill>
                  <a:srgbClr val="3A434C"/>
                </a:solidFill>
                <a:latin typeface="Calibri"/>
                <a:ea typeface="Calibri"/>
                <a:cs typeface="Calibri"/>
                <a:sym typeface="Calibri"/>
              </a:rPr>
              <a:t>creates ΔOᵣ</a:t>
            </a:r>
            <a:endParaRPr/>
          </a:p>
        </p:txBody>
      </p:sp>
      <p:sp>
        <p:nvSpPr>
          <p:cNvPr id="849" name="Google Shape;849;p17"/>
          <p:cNvSpPr txBox="1"/>
          <p:nvPr/>
        </p:nvSpPr>
        <p:spPr>
          <a:xfrm>
            <a:off x="8586216" y="3648456"/>
            <a:ext cx="713232" cy="246888"/>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0B6E4F"/>
                </a:solidFill>
                <a:latin typeface="Calibri"/>
                <a:ea typeface="Calibri"/>
                <a:cs typeface="Calibri"/>
                <a:sym typeface="Calibri"/>
              </a:rPr>
              <a:t>(g) ΔOᵣ</a:t>
            </a:r>
            <a:endParaRPr/>
          </a:p>
        </p:txBody>
      </p:sp>
      <p:sp>
        <p:nvSpPr>
          <p:cNvPr id="850" name="Google Shape;850;p17"/>
          <p:cNvSpPr/>
          <p:nvPr/>
        </p:nvSpPr>
        <p:spPr>
          <a:xfrm>
            <a:off x="9354312" y="3502152"/>
            <a:ext cx="2121408" cy="1115568"/>
          </a:xfrm>
          <a:prstGeom prst="roundRect">
            <a:avLst>
              <a:gd fmla="val 16667" name="adj"/>
            </a:avLst>
          </a:prstGeom>
          <a:solidFill>
            <a:srgbClr val="F3F5F4"/>
          </a:solidFill>
          <a:ln cap="flat" cmpd="sng" w="16500">
            <a:solidFill>
              <a:srgbClr val="3A7D8C"/>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51" name="Google Shape;851;p17"/>
          <p:cNvSpPr txBox="1"/>
          <p:nvPr/>
        </p:nvSpPr>
        <p:spPr>
          <a:xfrm>
            <a:off x="9427464" y="3291840"/>
            <a:ext cx="384048" cy="228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3A434C"/>
                </a:solidFill>
                <a:latin typeface="Calibri"/>
                <a:ea typeface="Calibri"/>
                <a:cs typeface="Calibri"/>
                <a:sym typeface="Calibri"/>
              </a:rPr>
              <a:t>(h)</a:t>
            </a:r>
            <a:endParaRPr/>
          </a:p>
        </p:txBody>
      </p:sp>
      <p:sp>
        <p:nvSpPr>
          <p:cNvPr id="852" name="Google Shape;852;p17"/>
          <p:cNvSpPr txBox="1"/>
          <p:nvPr/>
        </p:nvSpPr>
        <p:spPr>
          <a:xfrm>
            <a:off x="9436608" y="3621024"/>
            <a:ext cx="1956815" cy="246888"/>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1550">
                <a:solidFill>
                  <a:srgbClr val="1F2328"/>
                </a:solidFill>
                <a:latin typeface="Calibri"/>
                <a:ea typeface="Calibri"/>
                <a:cs typeface="Calibri"/>
                <a:sym typeface="Calibri"/>
              </a:rPr>
              <a:t>Validate + refine</a:t>
            </a:r>
            <a:endParaRPr/>
          </a:p>
        </p:txBody>
      </p:sp>
      <p:sp>
        <p:nvSpPr>
          <p:cNvPr id="853" name="Google Shape;853;p17"/>
          <p:cNvSpPr txBox="1"/>
          <p:nvPr/>
        </p:nvSpPr>
        <p:spPr>
          <a:xfrm>
            <a:off x="9445752" y="3895344"/>
            <a:ext cx="1938527" cy="676656"/>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US" sz="1400">
                <a:solidFill>
                  <a:srgbClr val="3A434C"/>
                </a:solidFill>
                <a:latin typeface="Calibri"/>
                <a:ea typeface="Calibri"/>
                <a:cs typeface="Calibri"/>
                <a:sym typeface="Calibri"/>
              </a:rPr>
              <a:t>Judge-LLM + rules</a:t>
            </a:r>
            <a:endParaRPr/>
          </a:p>
        </p:txBody>
      </p:sp>
      <p:sp>
        <p:nvSpPr>
          <p:cNvPr id="854" name="Google Shape;854;p17"/>
          <p:cNvSpPr/>
          <p:nvPr/>
        </p:nvSpPr>
        <p:spPr>
          <a:xfrm>
            <a:off x="9390888" y="5047488"/>
            <a:ext cx="2084831" cy="786384"/>
          </a:xfrm>
          <a:prstGeom prst="roundRect">
            <a:avLst>
              <a:gd fmla="val 16667" name="adj"/>
            </a:avLst>
          </a:prstGeom>
          <a:solidFill>
            <a:srgbClr val="DDE5E1"/>
          </a:solidFill>
          <a:ln cap="flat" cmpd="sng" w="29200">
            <a:solidFill>
              <a:srgbClr val="0B6E4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55" name="Google Shape;855;p17"/>
          <p:cNvSpPr txBox="1"/>
          <p:nvPr/>
        </p:nvSpPr>
        <p:spPr>
          <a:xfrm>
            <a:off x="9464040" y="4837175"/>
            <a:ext cx="384048" cy="228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0B6E4F"/>
                </a:solidFill>
                <a:latin typeface="Calibri"/>
                <a:ea typeface="Calibri"/>
                <a:cs typeface="Calibri"/>
                <a:sym typeface="Calibri"/>
              </a:rPr>
              <a:t>(i)</a:t>
            </a:r>
            <a:endParaRPr/>
          </a:p>
        </p:txBody>
      </p:sp>
      <p:sp>
        <p:nvSpPr>
          <p:cNvPr id="856" name="Google Shape;856;p17"/>
          <p:cNvSpPr txBox="1"/>
          <p:nvPr/>
        </p:nvSpPr>
        <p:spPr>
          <a:xfrm>
            <a:off x="9473184" y="5166359"/>
            <a:ext cx="1920239" cy="246888"/>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1550">
                <a:solidFill>
                  <a:srgbClr val="1F2328"/>
                </a:solidFill>
                <a:latin typeface="Calibri"/>
                <a:ea typeface="Calibri"/>
                <a:cs typeface="Calibri"/>
                <a:sym typeface="Calibri"/>
              </a:rPr>
              <a:t>Integrate ΔOᵣ</a:t>
            </a:r>
            <a:endParaRPr/>
          </a:p>
        </p:txBody>
      </p:sp>
      <p:sp>
        <p:nvSpPr>
          <p:cNvPr id="857" name="Google Shape;857;p17"/>
          <p:cNvSpPr txBox="1"/>
          <p:nvPr/>
        </p:nvSpPr>
        <p:spPr>
          <a:xfrm>
            <a:off x="9482328" y="5440679"/>
            <a:ext cx="1901951" cy="347472"/>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US" sz="1400">
                <a:solidFill>
                  <a:srgbClr val="3A434C"/>
                </a:solidFill>
                <a:latin typeface="Calibri"/>
                <a:ea typeface="Calibri"/>
                <a:cs typeface="Calibri"/>
                <a:sym typeface="Calibri"/>
              </a:rPr>
              <a:t>Core Oₜ</a:t>
            </a:r>
            <a:endParaRPr/>
          </a:p>
        </p:txBody>
      </p:sp>
      <p:sp>
        <p:nvSpPr>
          <p:cNvPr id="858" name="Google Shape;858;p17"/>
          <p:cNvSpPr txBox="1"/>
          <p:nvPr/>
        </p:nvSpPr>
        <p:spPr>
          <a:xfrm>
            <a:off x="7214616" y="5522976"/>
            <a:ext cx="1737360" cy="201168"/>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1250">
                <a:solidFill>
                  <a:srgbClr val="177A55"/>
                </a:solidFill>
                <a:latin typeface="Calibri"/>
                <a:ea typeface="Calibri"/>
                <a:cs typeface="Calibri"/>
                <a:sym typeface="Calibri"/>
              </a:rPr>
              <a:t>Oₜ → next retrieval</a:t>
            </a:r>
            <a:endParaRPr/>
          </a:p>
        </p:txBody>
      </p:sp>
      <p:sp>
        <p:nvSpPr>
          <p:cNvPr id="811" name="Google Shape;811;p17"/>
          <p:cNvSpPr/>
          <p:nvPr/>
        </p:nvSpPr>
        <p:spPr>
          <a:xfrm rot="16200000">
            <a:off x="6638544" y="4956048"/>
            <a:ext cx="164592" cy="146304"/>
          </a:xfrm>
          <a:prstGeom prst="triangle">
            <a:avLst>
              <a:gd fmla="val 50000" name="adj"/>
            </a:avLst>
          </a:prstGeom>
          <a:solidFill>
            <a:srgbClr val="177A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63" name="Shape 863"/>
        <p:cNvGrpSpPr/>
        <p:nvPr/>
      </p:nvGrpSpPr>
      <p:grpSpPr>
        <a:xfrm>
          <a:off x="0" y="0"/>
          <a:ext cx="0" cy="0"/>
          <a:chOff x="0" y="0"/>
          <a:chExt cx="0" cy="0"/>
        </a:xfrm>
      </p:grpSpPr>
      <p:sp>
        <p:nvSpPr>
          <p:cNvPr id="864" name="Google Shape;864;p18"/>
          <p:cNvSpPr txBox="1"/>
          <p:nvPr/>
        </p:nvSpPr>
        <p:spPr>
          <a:xfrm>
            <a:off x="795528" y="448056"/>
            <a:ext cx="10789920" cy="31089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0B6E4F"/>
                </a:solidFill>
                <a:latin typeface="Consolas"/>
                <a:ea typeface="Consolas"/>
                <a:cs typeface="Consolas"/>
                <a:sym typeface="Consolas"/>
              </a:rPr>
              <a:t>TESTING THE PIPELINE</a:t>
            </a:r>
            <a:endParaRPr/>
          </a:p>
        </p:txBody>
      </p:sp>
      <p:sp>
        <p:nvSpPr>
          <p:cNvPr id="865" name="Google Shape;865;p18"/>
          <p:cNvSpPr txBox="1"/>
          <p:nvPr/>
        </p:nvSpPr>
        <p:spPr>
          <a:xfrm>
            <a:off x="795528" y="850392"/>
            <a:ext cx="10835640" cy="685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800">
                <a:solidFill>
                  <a:srgbClr val="1F2328"/>
                </a:solidFill>
                <a:latin typeface="Cambria"/>
                <a:ea typeface="Calibri"/>
                <a:cs typeface="Calibri"/>
                <a:sym typeface="Calibri"/>
              </a:rPr>
              <a:t>Does the method work beyond our running example?</a:t>
            </a:r>
            <a:endParaRPr/>
          </a:p>
        </p:txBody>
      </p:sp>
      <p:sp>
        <p:nvSpPr>
          <p:cNvPr id="866" name="Google Shape;866;p18"/>
          <p:cNvSpPr txBox="1"/>
          <p:nvPr/>
        </p:nvSpPr>
        <p:spPr>
          <a:xfrm>
            <a:off x="795528" y="1609344"/>
            <a:ext cx="10607040" cy="34747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600">
                <a:solidFill>
                  <a:srgbClr val="5B6770"/>
                </a:solidFill>
                <a:latin typeface="Calibri"/>
                <a:ea typeface="Calibri"/>
                <a:cs typeface="Calibri"/>
                <a:sym typeface="Calibri"/>
              </a:rPr>
              <a:t>Three databases, three generator models, four methods, evaluated from complementary angles.</a:t>
            </a:r>
            <a:endParaRPr/>
          </a:p>
        </p:txBody>
      </p:sp>
      <p:sp>
        <p:nvSpPr>
          <p:cNvPr id="867" name="Google Shape;867;p18"/>
          <p:cNvSpPr/>
          <p:nvPr/>
        </p:nvSpPr>
        <p:spPr>
          <a:xfrm>
            <a:off x="832104" y="2121408"/>
            <a:ext cx="3410712" cy="1207008"/>
          </a:xfrm>
          <a:prstGeom prst="roundRect">
            <a:avLst>
              <a:gd fmla="val 10000" name="adj"/>
            </a:avLst>
          </a:prstGeom>
          <a:solidFill>
            <a:srgbClr val="FFFFFF"/>
          </a:solidFill>
          <a:ln cap="flat" cmpd="sng" w="12700">
            <a:solidFill>
              <a:srgbClr val="D9DED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68" name="Google Shape;868;p18"/>
          <p:cNvSpPr/>
          <p:nvPr/>
        </p:nvSpPr>
        <p:spPr>
          <a:xfrm>
            <a:off x="832104" y="2121408"/>
            <a:ext cx="3410712" cy="59436"/>
          </a:xfrm>
          <a:prstGeom prst="rect">
            <a:avLst/>
          </a:prstGeom>
          <a:solidFill>
            <a:srgbClr val="0B6E4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69" name="Google Shape;869;p18"/>
          <p:cNvSpPr txBox="1"/>
          <p:nvPr/>
        </p:nvSpPr>
        <p:spPr>
          <a:xfrm>
            <a:off x="1024128" y="2304288"/>
            <a:ext cx="3035808" cy="29260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520">
                <a:solidFill>
                  <a:srgbClr val="0B6E4F"/>
                </a:solidFill>
                <a:latin typeface="Consolas"/>
                <a:ea typeface="Consolas"/>
                <a:cs typeface="Consolas"/>
                <a:sym typeface="Consolas"/>
              </a:rPr>
              <a:t>LIVER CANCER</a:t>
            </a:r>
            <a:endParaRPr/>
          </a:p>
        </p:txBody>
      </p:sp>
      <p:sp>
        <p:nvSpPr>
          <p:cNvPr id="870" name="Google Shape;870;p18"/>
          <p:cNvSpPr txBox="1"/>
          <p:nvPr/>
        </p:nvSpPr>
        <p:spPr>
          <a:xfrm>
            <a:off x="1024128" y="2670048"/>
            <a:ext cx="3026664" cy="265176"/>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830">
                <a:solidFill>
                  <a:srgbClr val="1F2328"/>
                </a:solidFill>
                <a:latin typeface="Calibri"/>
                <a:ea typeface="Calibri"/>
                <a:cs typeface="Calibri"/>
                <a:sym typeface="Calibri"/>
              </a:rPr>
              <a:t>16 tables  ·  350 columns</a:t>
            </a:r>
            <a:endParaRPr/>
          </a:p>
        </p:txBody>
      </p:sp>
      <p:sp>
        <p:nvSpPr>
          <p:cNvPr id="871" name="Google Shape;871;p18"/>
          <p:cNvSpPr txBox="1"/>
          <p:nvPr/>
        </p:nvSpPr>
        <p:spPr>
          <a:xfrm>
            <a:off x="1024128" y="2962656"/>
            <a:ext cx="2999232" cy="27432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lang="en-US" sz="1520">
                <a:solidFill>
                  <a:srgbClr val="5B6770"/>
                </a:solidFill>
                <a:latin typeface="Calibri"/>
                <a:ea typeface="Calibri"/>
                <a:cs typeface="Calibri"/>
                <a:sym typeface="Calibri"/>
              </a:rPr>
              <a:t>specialist clinical registry</a:t>
            </a:r>
            <a:endParaRPr/>
          </a:p>
        </p:txBody>
      </p:sp>
      <p:sp>
        <p:nvSpPr>
          <p:cNvPr id="872" name="Google Shape;872;p18"/>
          <p:cNvSpPr/>
          <p:nvPr/>
        </p:nvSpPr>
        <p:spPr>
          <a:xfrm>
            <a:off x="4489704" y="2121408"/>
            <a:ext cx="3410712" cy="1207008"/>
          </a:xfrm>
          <a:prstGeom prst="roundRect">
            <a:avLst>
              <a:gd fmla="val 10000" name="adj"/>
            </a:avLst>
          </a:prstGeom>
          <a:solidFill>
            <a:srgbClr val="FFFFFF"/>
          </a:solidFill>
          <a:ln cap="flat" cmpd="sng" w="12700">
            <a:solidFill>
              <a:srgbClr val="D9DED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73" name="Google Shape;873;p18"/>
          <p:cNvSpPr/>
          <p:nvPr/>
        </p:nvSpPr>
        <p:spPr>
          <a:xfrm>
            <a:off x="4489704" y="2121408"/>
            <a:ext cx="3410712" cy="59436"/>
          </a:xfrm>
          <a:prstGeom prst="rect">
            <a:avLst/>
          </a:prstGeom>
          <a:solidFill>
            <a:srgbClr val="0B6E4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74" name="Google Shape;874;p18"/>
          <p:cNvSpPr txBox="1"/>
          <p:nvPr/>
        </p:nvSpPr>
        <p:spPr>
          <a:xfrm>
            <a:off x="4681728" y="2304288"/>
            <a:ext cx="3035808" cy="29260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520">
                <a:solidFill>
                  <a:srgbClr val="0B6E4F"/>
                </a:solidFill>
                <a:latin typeface="Consolas"/>
                <a:ea typeface="Consolas"/>
                <a:cs typeface="Consolas"/>
                <a:sym typeface="Consolas"/>
              </a:rPr>
              <a:t>eICU-CRD</a:t>
            </a:r>
            <a:endParaRPr/>
          </a:p>
        </p:txBody>
      </p:sp>
      <p:sp>
        <p:nvSpPr>
          <p:cNvPr id="875" name="Google Shape;875;p18"/>
          <p:cNvSpPr txBox="1"/>
          <p:nvPr/>
        </p:nvSpPr>
        <p:spPr>
          <a:xfrm>
            <a:off x="4681728" y="2670048"/>
            <a:ext cx="3026664" cy="265176"/>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830">
                <a:solidFill>
                  <a:srgbClr val="1F2328"/>
                </a:solidFill>
                <a:latin typeface="Calibri"/>
                <a:ea typeface="Calibri"/>
                <a:cs typeface="Calibri"/>
                <a:sym typeface="Calibri"/>
              </a:rPr>
              <a:t>31 tables  ·  559 columns</a:t>
            </a:r>
            <a:endParaRPr/>
          </a:p>
        </p:txBody>
      </p:sp>
      <p:sp>
        <p:nvSpPr>
          <p:cNvPr id="876" name="Google Shape;876;p18"/>
          <p:cNvSpPr txBox="1"/>
          <p:nvPr/>
        </p:nvSpPr>
        <p:spPr>
          <a:xfrm>
            <a:off x="4681728" y="2962656"/>
            <a:ext cx="2999232" cy="27432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lang="en-US" sz="1520">
                <a:solidFill>
                  <a:srgbClr val="5B6770"/>
                </a:solidFill>
                <a:latin typeface="Calibri"/>
                <a:ea typeface="Calibri"/>
                <a:cs typeface="Calibri"/>
                <a:sym typeface="Calibri"/>
              </a:rPr>
              <a:t>large ICU schema</a:t>
            </a:r>
            <a:endParaRPr/>
          </a:p>
        </p:txBody>
      </p:sp>
      <p:sp>
        <p:nvSpPr>
          <p:cNvPr id="877" name="Google Shape;877;p18"/>
          <p:cNvSpPr/>
          <p:nvPr/>
        </p:nvSpPr>
        <p:spPr>
          <a:xfrm>
            <a:off x="8147304" y="2121408"/>
            <a:ext cx="3410712" cy="1207008"/>
          </a:xfrm>
          <a:prstGeom prst="roundRect">
            <a:avLst>
              <a:gd fmla="val 10000" name="adj"/>
            </a:avLst>
          </a:prstGeom>
          <a:solidFill>
            <a:srgbClr val="FFFFFF"/>
          </a:solidFill>
          <a:ln cap="flat" cmpd="sng" w="12700">
            <a:solidFill>
              <a:srgbClr val="D9DED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78" name="Google Shape;878;p18"/>
          <p:cNvSpPr/>
          <p:nvPr/>
        </p:nvSpPr>
        <p:spPr>
          <a:xfrm>
            <a:off x="8147304" y="2121408"/>
            <a:ext cx="3410712" cy="59436"/>
          </a:xfrm>
          <a:prstGeom prst="rect">
            <a:avLst/>
          </a:prstGeom>
          <a:solidFill>
            <a:srgbClr val="2F6B7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79" name="Google Shape;879;p18"/>
          <p:cNvSpPr txBox="1"/>
          <p:nvPr/>
        </p:nvSpPr>
        <p:spPr>
          <a:xfrm>
            <a:off x="8339328" y="2304288"/>
            <a:ext cx="3035808" cy="29260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520">
                <a:solidFill>
                  <a:srgbClr val="2F6B78"/>
                </a:solidFill>
                <a:latin typeface="Consolas"/>
                <a:ea typeface="Consolas"/>
                <a:cs typeface="Consolas"/>
                <a:sym typeface="Consolas"/>
              </a:rPr>
              <a:t>CHINOOK</a:t>
            </a:r>
            <a:endParaRPr/>
          </a:p>
        </p:txBody>
      </p:sp>
      <p:sp>
        <p:nvSpPr>
          <p:cNvPr id="880" name="Google Shape;880;p18"/>
          <p:cNvSpPr txBox="1"/>
          <p:nvPr/>
        </p:nvSpPr>
        <p:spPr>
          <a:xfrm>
            <a:off x="8339328" y="2670048"/>
            <a:ext cx="3026664" cy="265176"/>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830">
                <a:solidFill>
                  <a:srgbClr val="1F2328"/>
                </a:solidFill>
                <a:latin typeface="Calibri"/>
                <a:ea typeface="Calibri"/>
                <a:cs typeface="Calibri"/>
                <a:sym typeface="Calibri"/>
              </a:rPr>
              <a:t>11 tables  ·  67 columns</a:t>
            </a:r>
            <a:endParaRPr/>
          </a:p>
        </p:txBody>
      </p:sp>
      <p:sp>
        <p:nvSpPr>
          <p:cNvPr id="881" name="Google Shape;881;p18"/>
          <p:cNvSpPr txBox="1"/>
          <p:nvPr/>
        </p:nvSpPr>
        <p:spPr>
          <a:xfrm>
            <a:off x="8339328" y="2962656"/>
            <a:ext cx="2999232" cy="27432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lang="en-US" sz="1520">
                <a:solidFill>
                  <a:srgbClr val="5B6770"/>
                </a:solidFill>
                <a:latin typeface="Calibri"/>
                <a:ea typeface="Calibri"/>
                <a:cs typeface="Calibri"/>
                <a:sym typeface="Calibri"/>
              </a:rPr>
              <a:t>music store · second domain</a:t>
            </a:r>
            <a:endParaRPr/>
          </a:p>
        </p:txBody>
      </p:sp>
      <p:sp>
        <p:nvSpPr>
          <p:cNvPr id="882" name="Google Shape;882;p18"/>
          <p:cNvSpPr txBox="1"/>
          <p:nvPr/>
        </p:nvSpPr>
        <p:spPr>
          <a:xfrm>
            <a:off x="832104" y="3575304"/>
            <a:ext cx="9875520" cy="283464"/>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520">
                <a:solidFill>
                  <a:srgbClr val="0B6E4F"/>
                </a:solidFill>
                <a:latin typeface="Consolas"/>
                <a:ea typeface="Consolas"/>
                <a:cs typeface="Consolas"/>
                <a:sym typeface="Consolas"/>
              </a:rPr>
              <a:t>FOUR WAYS TO GENERATE AN ONTOLOGY</a:t>
            </a:r>
            <a:endParaRPr/>
          </a:p>
        </p:txBody>
      </p:sp>
      <p:sp>
        <p:nvSpPr>
          <p:cNvPr id="883" name="Google Shape;883;p18"/>
          <p:cNvSpPr/>
          <p:nvPr/>
        </p:nvSpPr>
        <p:spPr>
          <a:xfrm>
            <a:off x="832104" y="3950208"/>
            <a:ext cx="2542032" cy="960120"/>
          </a:xfrm>
          <a:prstGeom prst="roundRect">
            <a:avLst>
              <a:gd fmla="val 10000" name="adj"/>
            </a:avLst>
          </a:prstGeom>
          <a:solidFill>
            <a:srgbClr val="FFFFFF"/>
          </a:solidFill>
          <a:ln cap="flat" cmpd="sng" w="12700">
            <a:solidFill>
              <a:srgbClr val="D9DED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84" name="Google Shape;884;p18"/>
          <p:cNvSpPr/>
          <p:nvPr/>
        </p:nvSpPr>
        <p:spPr>
          <a:xfrm>
            <a:off x="960120" y="4123944"/>
            <a:ext cx="310896" cy="310896"/>
          </a:xfrm>
          <a:prstGeom prst="ellipse">
            <a:avLst/>
          </a:prstGeom>
          <a:solidFill>
            <a:srgbClr val="F3F5F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85" name="Google Shape;885;p18"/>
          <p:cNvSpPr txBox="1"/>
          <p:nvPr/>
        </p:nvSpPr>
        <p:spPr>
          <a:xfrm>
            <a:off x="1028700" y="4187952"/>
            <a:ext cx="219456" cy="219456"/>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None/>
            </a:pPr>
            <a:r>
              <a:rPr b="1" i="0" lang="en-US" sz="1400">
                <a:solidFill>
                  <a:srgbClr val="5B6770"/>
                </a:solidFill>
                <a:latin typeface="Consolas"/>
                <a:ea typeface="Consolas"/>
                <a:cs typeface="Consolas"/>
                <a:sym typeface="Consolas"/>
              </a:rPr>
              <a:t>1</a:t>
            </a:r>
            <a:endParaRPr/>
          </a:p>
        </p:txBody>
      </p:sp>
      <p:sp>
        <p:nvSpPr>
          <p:cNvPr id="886" name="Google Shape;886;p18"/>
          <p:cNvSpPr txBox="1"/>
          <p:nvPr/>
        </p:nvSpPr>
        <p:spPr>
          <a:xfrm>
            <a:off x="1344168" y="4096512"/>
            <a:ext cx="1901952" cy="23774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540">
                <a:solidFill>
                  <a:srgbClr val="1F2328"/>
                </a:solidFill>
                <a:latin typeface="Calibri"/>
                <a:ea typeface="Calibri"/>
                <a:cs typeface="Calibri"/>
                <a:sym typeface="Calibri"/>
              </a:rPr>
              <a:t>Direct Mapping</a:t>
            </a:r>
            <a:endParaRPr/>
          </a:p>
        </p:txBody>
      </p:sp>
      <p:sp>
        <p:nvSpPr>
          <p:cNvPr id="887" name="Google Shape;887;p18"/>
          <p:cNvSpPr txBox="1"/>
          <p:nvPr/>
        </p:nvSpPr>
        <p:spPr>
          <a:xfrm>
            <a:off x="996696" y="4453128"/>
            <a:ext cx="2221992" cy="283464"/>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lang="en-US" sz="1520">
                <a:solidFill>
                  <a:srgbClr val="5B6770"/>
                </a:solidFill>
                <a:latin typeface="Calibri"/>
                <a:ea typeface="Calibri"/>
                <a:cs typeface="Calibri"/>
                <a:sym typeface="Calibri"/>
              </a:rPr>
              <a:t>Deterministic</a:t>
            </a:r>
            <a:endParaRPr/>
          </a:p>
        </p:txBody>
      </p:sp>
      <p:cxnSp>
        <p:nvCxnSpPr>
          <p:cNvPr id="888" name="Google Shape;888;p18"/>
          <p:cNvCxnSpPr/>
          <p:nvPr/>
        </p:nvCxnSpPr>
        <p:spPr>
          <a:xfrm>
            <a:off x="3401568" y="4453128"/>
            <a:ext cx="192024" cy="0"/>
          </a:xfrm>
          <a:prstGeom prst="straightConnector1">
            <a:avLst/>
          </a:prstGeom>
          <a:noFill/>
          <a:ln cap="flat" cmpd="sng" w="17775">
            <a:solidFill>
              <a:srgbClr val="0B6E4F"/>
            </a:solidFill>
            <a:prstDash val="solid"/>
            <a:miter lim="8000"/>
            <a:headEnd len="sm" w="sm" type="none"/>
            <a:tailEnd len="med" w="med" type="triangle"/>
          </a:ln>
        </p:spPr>
      </p:cxnSp>
      <p:sp>
        <p:nvSpPr>
          <p:cNvPr id="889" name="Google Shape;889;p18"/>
          <p:cNvSpPr/>
          <p:nvPr/>
        </p:nvSpPr>
        <p:spPr>
          <a:xfrm>
            <a:off x="3630168" y="3950208"/>
            <a:ext cx="2542032" cy="960120"/>
          </a:xfrm>
          <a:prstGeom prst="roundRect">
            <a:avLst>
              <a:gd fmla="val 10000" name="adj"/>
            </a:avLst>
          </a:prstGeom>
          <a:solidFill>
            <a:srgbClr val="FFFFFF"/>
          </a:solidFill>
          <a:ln cap="flat" cmpd="sng" w="12700">
            <a:solidFill>
              <a:srgbClr val="D9DED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90" name="Google Shape;890;p18"/>
          <p:cNvSpPr/>
          <p:nvPr/>
        </p:nvSpPr>
        <p:spPr>
          <a:xfrm>
            <a:off x="3758184" y="4123944"/>
            <a:ext cx="310896" cy="310896"/>
          </a:xfrm>
          <a:prstGeom prst="ellipse">
            <a:avLst/>
          </a:prstGeom>
          <a:solidFill>
            <a:srgbClr val="F3F5F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91" name="Google Shape;891;p18"/>
          <p:cNvSpPr txBox="1"/>
          <p:nvPr/>
        </p:nvSpPr>
        <p:spPr>
          <a:xfrm>
            <a:off x="3826763" y="4187952"/>
            <a:ext cx="219456" cy="219456"/>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None/>
            </a:pPr>
            <a:r>
              <a:rPr b="1" i="0" lang="en-US" sz="1400">
                <a:solidFill>
                  <a:srgbClr val="5B6770"/>
                </a:solidFill>
                <a:latin typeface="Consolas"/>
                <a:ea typeface="Consolas"/>
                <a:cs typeface="Consolas"/>
                <a:sym typeface="Consolas"/>
              </a:rPr>
              <a:t>2</a:t>
            </a:r>
            <a:endParaRPr/>
          </a:p>
        </p:txBody>
      </p:sp>
      <p:sp>
        <p:nvSpPr>
          <p:cNvPr id="892" name="Google Shape;892;p18"/>
          <p:cNvSpPr txBox="1"/>
          <p:nvPr/>
        </p:nvSpPr>
        <p:spPr>
          <a:xfrm>
            <a:off x="4142232" y="4096512"/>
            <a:ext cx="1901952" cy="23774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540">
                <a:solidFill>
                  <a:srgbClr val="1F2328"/>
                </a:solidFill>
                <a:latin typeface="Calibri"/>
                <a:ea typeface="Calibri"/>
                <a:cs typeface="Calibri"/>
                <a:sym typeface="Calibri"/>
              </a:rPr>
              <a:t>LLM baseline</a:t>
            </a:r>
            <a:endParaRPr/>
          </a:p>
        </p:txBody>
      </p:sp>
      <p:sp>
        <p:nvSpPr>
          <p:cNvPr id="893" name="Google Shape;893;p18"/>
          <p:cNvSpPr txBox="1"/>
          <p:nvPr/>
        </p:nvSpPr>
        <p:spPr>
          <a:xfrm>
            <a:off x="3794760" y="4453128"/>
            <a:ext cx="2221992" cy="283464"/>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lang="en-US" sz="1520">
                <a:solidFill>
                  <a:srgbClr val="5B6770"/>
                </a:solidFill>
                <a:latin typeface="Calibri"/>
                <a:ea typeface="Calibri"/>
                <a:cs typeface="Calibri"/>
                <a:sym typeface="Calibri"/>
              </a:rPr>
              <a:t>Table only</a:t>
            </a:r>
            <a:endParaRPr/>
          </a:p>
        </p:txBody>
      </p:sp>
      <p:cxnSp>
        <p:nvCxnSpPr>
          <p:cNvPr id="894" name="Google Shape;894;p18"/>
          <p:cNvCxnSpPr/>
          <p:nvPr/>
        </p:nvCxnSpPr>
        <p:spPr>
          <a:xfrm>
            <a:off x="6199632" y="4453128"/>
            <a:ext cx="192024" cy="0"/>
          </a:xfrm>
          <a:prstGeom prst="straightConnector1">
            <a:avLst/>
          </a:prstGeom>
          <a:noFill/>
          <a:ln cap="flat" cmpd="sng" w="17775">
            <a:solidFill>
              <a:srgbClr val="0B6E4F"/>
            </a:solidFill>
            <a:prstDash val="solid"/>
            <a:miter lim="8000"/>
            <a:headEnd len="sm" w="sm" type="none"/>
            <a:tailEnd len="med" w="med" type="triangle"/>
          </a:ln>
        </p:spPr>
      </p:cxnSp>
      <p:sp>
        <p:nvSpPr>
          <p:cNvPr id="895" name="Google Shape;895;p18"/>
          <p:cNvSpPr/>
          <p:nvPr/>
        </p:nvSpPr>
        <p:spPr>
          <a:xfrm>
            <a:off x="6428232" y="3950208"/>
            <a:ext cx="2542032" cy="960120"/>
          </a:xfrm>
          <a:prstGeom prst="roundRect">
            <a:avLst>
              <a:gd fmla="val 10000" name="adj"/>
            </a:avLst>
          </a:prstGeom>
          <a:solidFill>
            <a:srgbClr val="FFFFFF"/>
          </a:solidFill>
          <a:ln cap="flat" cmpd="sng" w="12700">
            <a:solidFill>
              <a:srgbClr val="D9DED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96" name="Google Shape;896;p18"/>
          <p:cNvSpPr/>
          <p:nvPr/>
        </p:nvSpPr>
        <p:spPr>
          <a:xfrm>
            <a:off x="6556248" y="4123944"/>
            <a:ext cx="310896" cy="310896"/>
          </a:xfrm>
          <a:prstGeom prst="ellipse">
            <a:avLst/>
          </a:prstGeom>
          <a:solidFill>
            <a:srgbClr val="F3F5F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97" name="Google Shape;897;p18"/>
          <p:cNvSpPr txBox="1"/>
          <p:nvPr/>
        </p:nvSpPr>
        <p:spPr>
          <a:xfrm>
            <a:off x="6624828" y="4187952"/>
            <a:ext cx="219456" cy="219456"/>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None/>
            </a:pPr>
            <a:r>
              <a:rPr b="1" i="0" lang="en-US" sz="1400">
                <a:solidFill>
                  <a:srgbClr val="5B6770"/>
                </a:solidFill>
                <a:latin typeface="Consolas"/>
                <a:ea typeface="Consolas"/>
                <a:cs typeface="Consolas"/>
                <a:sym typeface="Consolas"/>
              </a:rPr>
              <a:t>3</a:t>
            </a:r>
            <a:endParaRPr/>
          </a:p>
        </p:txBody>
      </p:sp>
      <p:sp>
        <p:nvSpPr>
          <p:cNvPr id="898" name="Google Shape;898;p18"/>
          <p:cNvSpPr txBox="1"/>
          <p:nvPr/>
        </p:nvSpPr>
        <p:spPr>
          <a:xfrm>
            <a:off x="6940296" y="4096512"/>
            <a:ext cx="1901952" cy="23774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540">
                <a:solidFill>
                  <a:srgbClr val="1F2328"/>
                </a:solidFill>
                <a:latin typeface="Calibri"/>
                <a:ea typeface="Calibri"/>
                <a:cs typeface="Calibri"/>
                <a:sym typeface="Calibri"/>
              </a:rPr>
              <a:t>Non-Iterative</a:t>
            </a:r>
            <a:endParaRPr/>
          </a:p>
        </p:txBody>
      </p:sp>
      <p:sp>
        <p:nvSpPr>
          <p:cNvPr id="899" name="Google Shape;899;p18"/>
          <p:cNvSpPr txBox="1"/>
          <p:nvPr/>
        </p:nvSpPr>
        <p:spPr>
          <a:xfrm>
            <a:off x="6592824" y="4453128"/>
            <a:ext cx="2221992" cy="283464"/>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lang="en-US" sz="1520">
                <a:solidFill>
                  <a:srgbClr val="5B6770"/>
                </a:solidFill>
                <a:latin typeface="Calibri"/>
                <a:ea typeface="Calibri"/>
                <a:cs typeface="Calibri"/>
                <a:sym typeface="Calibri"/>
              </a:rPr>
              <a:t>One-pass RAG</a:t>
            </a:r>
            <a:endParaRPr/>
          </a:p>
        </p:txBody>
      </p:sp>
      <p:cxnSp>
        <p:nvCxnSpPr>
          <p:cNvPr id="900" name="Google Shape;900;p18"/>
          <p:cNvCxnSpPr/>
          <p:nvPr/>
        </p:nvCxnSpPr>
        <p:spPr>
          <a:xfrm>
            <a:off x="8997696" y="4453128"/>
            <a:ext cx="192024" cy="0"/>
          </a:xfrm>
          <a:prstGeom prst="straightConnector1">
            <a:avLst/>
          </a:prstGeom>
          <a:noFill/>
          <a:ln cap="flat" cmpd="sng" w="17775">
            <a:solidFill>
              <a:srgbClr val="0B6E4F"/>
            </a:solidFill>
            <a:prstDash val="solid"/>
            <a:miter lim="8000"/>
            <a:headEnd len="sm" w="sm" type="none"/>
            <a:tailEnd len="med" w="med" type="triangle"/>
          </a:ln>
        </p:spPr>
      </p:cxnSp>
      <p:sp>
        <p:nvSpPr>
          <p:cNvPr id="901" name="Google Shape;901;p18"/>
          <p:cNvSpPr/>
          <p:nvPr/>
        </p:nvSpPr>
        <p:spPr>
          <a:xfrm>
            <a:off x="9226296" y="3950208"/>
            <a:ext cx="2542032" cy="960120"/>
          </a:xfrm>
          <a:prstGeom prst="roundRect">
            <a:avLst>
              <a:gd fmla="val 10000" name="adj"/>
            </a:avLst>
          </a:prstGeom>
          <a:solidFill>
            <a:srgbClr val="E6F2EC"/>
          </a:solidFill>
          <a:ln cap="flat" cmpd="sng" w="15225">
            <a:solidFill>
              <a:srgbClr val="0B6E4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02" name="Google Shape;902;p18"/>
          <p:cNvSpPr/>
          <p:nvPr/>
        </p:nvSpPr>
        <p:spPr>
          <a:xfrm>
            <a:off x="9354312" y="4123944"/>
            <a:ext cx="310896" cy="310896"/>
          </a:xfrm>
          <a:prstGeom prst="ellipse">
            <a:avLst/>
          </a:prstGeom>
          <a:solidFill>
            <a:srgbClr val="0B6E4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03" name="Google Shape;903;p18"/>
          <p:cNvSpPr txBox="1"/>
          <p:nvPr/>
        </p:nvSpPr>
        <p:spPr>
          <a:xfrm>
            <a:off x="9422892" y="4187952"/>
            <a:ext cx="219456" cy="219456"/>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None/>
            </a:pPr>
            <a:r>
              <a:rPr b="1" i="0" lang="en-US" sz="1400">
                <a:solidFill>
                  <a:srgbClr val="FFFFFF"/>
                </a:solidFill>
                <a:latin typeface="Consolas"/>
                <a:ea typeface="Consolas"/>
                <a:cs typeface="Consolas"/>
                <a:sym typeface="Consolas"/>
              </a:rPr>
              <a:t>4</a:t>
            </a:r>
            <a:endParaRPr/>
          </a:p>
        </p:txBody>
      </p:sp>
      <p:sp>
        <p:nvSpPr>
          <p:cNvPr id="904" name="Google Shape;904;p18"/>
          <p:cNvSpPr txBox="1"/>
          <p:nvPr/>
        </p:nvSpPr>
        <p:spPr>
          <a:xfrm>
            <a:off x="9738360" y="4096512"/>
            <a:ext cx="1901952" cy="23774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540">
                <a:solidFill>
                  <a:srgbClr val="1F2328"/>
                </a:solidFill>
                <a:latin typeface="Calibri"/>
                <a:ea typeface="Calibri"/>
                <a:cs typeface="Calibri"/>
                <a:sym typeface="Calibri"/>
              </a:rPr>
              <a:t>RIGOR</a:t>
            </a:r>
            <a:endParaRPr/>
          </a:p>
        </p:txBody>
      </p:sp>
      <p:sp>
        <p:nvSpPr>
          <p:cNvPr id="905" name="Google Shape;905;p18"/>
          <p:cNvSpPr txBox="1"/>
          <p:nvPr/>
        </p:nvSpPr>
        <p:spPr>
          <a:xfrm>
            <a:off x="9390888" y="4453128"/>
            <a:ext cx="2221992" cy="283464"/>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lang="en-US" sz="1520">
                <a:solidFill>
                  <a:srgbClr val="5B6770"/>
                </a:solidFill>
                <a:latin typeface="Calibri"/>
                <a:ea typeface="Calibri"/>
                <a:cs typeface="Calibri"/>
                <a:sym typeface="Calibri"/>
              </a:rPr>
              <a:t>Ground + grow + check</a:t>
            </a:r>
            <a:endParaRPr/>
          </a:p>
        </p:txBody>
      </p:sp>
      <p:sp>
        <p:nvSpPr>
          <p:cNvPr id="906" name="Google Shape;906;p18"/>
          <p:cNvSpPr/>
          <p:nvPr/>
        </p:nvSpPr>
        <p:spPr>
          <a:xfrm>
            <a:off x="841248" y="5166360"/>
            <a:ext cx="10460736" cy="539496"/>
          </a:xfrm>
          <a:prstGeom prst="roundRect">
            <a:avLst>
              <a:gd fmla="val 10000" name="adj"/>
            </a:avLst>
          </a:prstGeom>
          <a:solidFill>
            <a:srgbClr val="E6F2E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07" name="Google Shape;907;p18"/>
          <p:cNvSpPr txBox="1"/>
          <p:nvPr/>
        </p:nvSpPr>
        <p:spPr>
          <a:xfrm>
            <a:off x="1033271" y="5312664"/>
            <a:ext cx="10076688" cy="256032"/>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lang="en-US" sz="1550">
                <a:solidFill>
                  <a:srgbClr val="0B6E4F"/>
                </a:solidFill>
                <a:latin typeface="Calibri"/>
                <a:ea typeface="Calibri"/>
                <a:cs typeface="Calibri"/>
                <a:sym typeface="Calibri"/>
              </a:rPr>
              <a:t>30 ONTOLOGIES   </a:t>
            </a:r>
            <a:r>
              <a:rPr b="0" lang="en-US" sz="1550">
                <a:solidFill>
                  <a:srgbClr val="1F2328"/>
                </a:solidFill>
                <a:latin typeface="Calibri"/>
                <a:ea typeface="Calibri"/>
                <a:cs typeface="Calibri"/>
                <a:sym typeface="Calibri"/>
              </a:rPr>
              <a:t>quality checks  ·  independent evaluation judge (GPT-5.4)  ·  10 human experts  ·  BURR benchmark</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12" name="Shape 912"/>
        <p:cNvGrpSpPr/>
        <p:nvPr/>
      </p:nvGrpSpPr>
      <p:grpSpPr>
        <a:xfrm>
          <a:off x="0" y="0"/>
          <a:ext cx="0" cy="0"/>
          <a:chOff x="0" y="0"/>
          <a:chExt cx="0" cy="0"/>
        </a:xfrm>
      </p:grpSpPr>
      <p:sp>
        <p:nvSpPr>
          <p:cNvPr id="913" name="Google Shape;913;p19"/>
          <p:cNvSpPr txBox="1"/>
          <p:nvPr/>
        </p:nvSpPr>
        <p:spPr>
          <a:xfrm>
            <a:off x="804672" y="512064"/>
            <a:ext cx="10881360" cy="31089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0B6E4F"/>
                </a:solidFill>
                <a:latin typeface="Consolas"/>
                <a:ea typeface="Consolas"/>
                <a:cs typeface="Consolas"/>
                <a:sym typeface="Consolas"/>
              </a:rPr>
              <a:t>RESULT 3  /  HUMAN AND LLM EVALUATION</a:t>
            </a:r>
            <a:endParaRPr/>
          </a:p>
        </p:txBody>
      </p:sp>
      <p:sp>
        <p:nvSpPr>
          <p:cNvPr id="914" name="Google Shape;914;p19"/>
          <p:cNvSpPr txBox="1"/>
          <p:nvPr/>
        </p:nvSpPr>
        <p:spPr>
          <a:xfrm>
            <a:off x="804672" y="914400"/>
            <a:ext cx="10789920" cy="65836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900">
                <a:solidFill>
                  <a:srgbClr val="1F2328"/>
                </a:solidFill>
                <a:latin typeface="Cambria"/>
                <a:ea typeface="Calibri"/>
                <a:cs typeface="Calibri"/>
                <a:sym typeface="Calibri"/>
              </a:rPr>
              <a:t>Experts prefer RIGOR's ontologies.</a:t>
            </a:r>
            <a:endParaRPr/>
          </a:p>
        </p:txBody>
      </p:sp>
      <p:sp>
        <p:nvSpPr>
          <p:cNvPr id="915" name="Google Shape;915;p19"/>
          <p:cNvSpPr/>
          <p:nvPr/>
        </p:nvSpPr>
        <p:spPr>
          <a:xfrm>
            <a:off x="822960" y="1911095"/>
            <a:ext cx="3877056" cy="3346704"/>
          </a:xfrm>
          <a:prstGeom prst="roundRect">
            <a:avLst>
              <a:gd fmla="val 10000" name="adj"/>
            </a:avLst>
          </a:prstGeom>
          <a:solidFill>
            <a:srgbClr val="F3F5F4"/>
          </a:solidFill>
          <a:ln cap="flat" cmpd="sng" w="12700">
            <a:solidFill>
              <a:srgbClr val="D9DED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16" name="Google Shape;916;p19"/>
          <p:cNvSpPr txBox="1"/>
          <p:nvPr/>
        </p:nvSpPr>
        <p:spPr>
          <a:xfrm>
            <a:off x="1069848" y="2139696"/>
            <a:ext cx="3291840" cy="96926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6300">
                <a:solidFill>
                  <a:srgbClr val="1F2328"/>
                </a:solidFill>
                <a:latin typeface="Cambria"/>
                <a:ea typeface="Calibri"/>
                <a:cs typeface="Calibri"/>
                <a:sym typeface="Calibri"/>
              </a:rPr>
              <a:t>70%</a:t>
            </a:r>
            <a:endParaRPr/>
          </a:p>
        </p:txBody>
      </p:sp>
      <p:sp>
        <p:nvSpPr>
          <p:cNvPr id="917" name="Google Shape;917;p19"/>
          <p:cNvSpPr txBox="1"/>
          <p:nvPr/>
        </p:nvSpPr>
        <p:spPr>
          <a:xfrm>
            <a:off x="1088136" y="3191256"/>
            <a:ext cx="3026664"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800">
                <a:solidFill>
                  <a:srgbClr val="0B6E4F"/>
                </a:solidFill>
                <a:latin typeface="Cambria"/>
                <a:ea typeface="Calibri"/>
                <a:cs typeface="Calibri"/>
                <a:sym typeface="Calibri"/>
              </a:rPr>
              <a:t>28 of 40</a:t>
            </a:r>
            <a:endParaRPr/>
          </a:p>
        </p:txBody>
      </p:sp>
      <p:sp>
        <p:nvSpPr>
          <p:cNvPr id="918" name="Google Shape;918;p19"/>
          <p:cNvSpPr txBox="1"/>
          <p:nvPr/>
        </p:nvSpPr>
        <p:spPr>
          <a:xfrm>
            <a:off x="1088136" y="3721608"/>
            <a:ext cx="3154680" cy="521207"/>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900">
                <a:solidFill>
                  <a:srgbClr val="3A434C"/>
                </a:solidFill>
                <a:latin typeface="Calibri"/>
                <a:ea typeface="Calibri"/>
                <a:cs typeface="Calibri"/>
                <a:sym typeface="Calibri"/>
              </a:rPr>
              <a:t>first-place expert rankings</a:t>
            </a:r>
            <a:endParaRPr/>
          </a:p>
        </p:txBody>
      </p:sp>
      <p:sp>
        <p:nvSpPr>
          <p:cNvPr id="919" name="Google Shape;919;p19"/>
          <p:cNvSpPr txBox="1"/>
          <p:nvPr/>
        </p:nvSpPr>
        <p:spPr>
          <a:xfrm>
            <a:off x="1088136" y="4700016"/>
            <a:ext cx="3182112" cy="29260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i="0" lang="en-US" sz="1520">
                <a:solidFill>
                  <a:srgbClr val="5B6770"/>
                </a:solidFill>
                <a:latin typeface="Calibri"/>
                <a:ea typeface="Calibri"/>
                <a:cs typeface="Calibri"/>
                <a:sym typeface="Calibri"/>
              </a:rPr>
              <a:t>10 experts · 4 medical tables</a:t>
            </a:r>
            <a:endParaRPr/>
          </a:p>
        </p:txBody>
      </p:sp>
      <p:sp>
        <p:nvSpPr>
          <p:cNvPr id="920" name="Google Shape;920;p19"/>
          <p:cNvSpPr/>
          <p:nvPr/>
        </p:nvSpPr>
        <p:spPr>
          <a:xfrm>
            <a:off x="4983480" y="1911095"/>
            <a:ext cx="6373368" cy="3346704"/>
          </a:xfrm>
          <a:prstGeom prst="roundRect">
            <a:avLst>
              <a:gd fmla="val 10000" name="adj"/>
            </a:avLst>
          </a:prstGeom>
          <a:solidFill>
            <a:srgbClr val="FFFFFF"/>
          </a:solidFill>
          <a:ln cap="flat" cmpd="sng" w="12700">
            <a:solidFill>
              <a:srgbClr val="D9DED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21" name="Google Shape;921;p19"/>
          <p:cNvSpPr txBox="1"/>
          <p:nvPr/>
        </p:nvSpPr>
        <p:spPr>
          <a:xfrm>
            <a:off x="5230368" y="2130552"/>
            <a:ext cx="5815584" cy="29260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520">
                <a:solidFill>
                  <a:srgbClr val="2F6B78"/>
                </a:solidFill>
                <a:latin typeface="Consolas"/>
                <a:ea typeface="Consolas"/>
                <a:cs typeface="Consolas"/>
                <a:sym typeface="Consolas"/>
              </a:rPr>
              <a:t>FIRST PLACE, ACROSS 40 BLIND EXPERT RANKINGS</a:t>
            </a:r>
            <a:endParaRPr/>
          </a:p>
        </p:txBody>
      </p:sp>
      <p:sp>
        <p:nvSpPr>
          <p:cNvPr id="922" name="Google Shape;922;p19"/>
          <p:cNvSpPr txBox="1"/>
          <p:nvPr/>
        </p:nvSpPr>
        <p:spPr>
          <a:xfrm>
            <a:off x="5248656" y="2642616"/>
            <a:ext cx="1856231" cy="24688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500">
                <a:solidFill>
                  <a:srgbClr val="3A434C"/>
                </a:solidFill>
                <a:latin typeface="Calibri"/>
                <a:ea typeface="Calibri"/>
                <a:cs typeface="Calibri"/>
                <a:sym typeface="Calibri"/>
              </a:rPr>
              <a:t>Direct Mapping</a:t>
            </a:r>
            <a:endParaRPr/>
          </a:p>
        </p:txBody>
      </p:sp>
      <p:sp>
        <p:nvSpPr>
          <p:cNvPr id="923" name="Google Shape;923;p19"/>
          <p:cNvSpPr/>
          <p:nvPr/>
        </p:nvSpPr>
        <p:spPr>
          <a:xfrm>
            <a:off x="7178040" y="2706624"/>
            <a:ext cx="3154680" cy="155448"/>
          </a:xfrm>
          <a:prstGeom prst="roundRect">
            <a:avLst>
              <a:gd fmla="val 10000" name="adj"/>
            </a:avLst>
          </a:prstGeom>
          <a:solidFill>
            <a:srgbClr val="F3F5F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24" name="Google Shape;924;p19"/>
          <p:cNvSpPr/>
          <p:nvPr/>
        </p:nvSpPr>
        <p:spPr>
          <a:xfrm>
            <a:off x="7178040" y="2706624"/>
            <a:ext cx="394335" cy="155448"/>
          </a:xfrm>
          <a:prstGeom prst="roundRect">
            <a:avLst>
              <a:gd fmla="val 10000" name="adj"/>
            </a:avLst>
          </a:prstGeom>
          <a:solidFill>
            <a:srgbClr val="3A7D8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25" name="Google Shape;925;p19"/>
          <p:cNvSpPr txBox="1"/>
          <p:nvPr/>
        </p:nvSpPr>
        <p:spPr>
          <a:xfrm>
            <a:off x="10424160" y="2633472"/>
            <a:ext cx="658368" cy="228600"/>
          </a:xfrm>
          <a:prstGeom prst="rect">
            <a:avLst/>
          </a:prstGeom>
          <a:noFill/>
          <a:ln>
            <a:noFill/>
          </a:ln>
        </p:spPr>
        <p:txBody>
          <a:bodyPr anchorCtr="0" anchor="ctr" bIns="0" lIns="0" spcFirstLastPara="1" rIns="0" wrap="square" tIns="0">
            <a:spAutoFit/>
          </a:bodyPr>
          <a:lstStyle/>
          <a:p>
            <a:pPr indent="0" lvl="0" marL="0" marR="0" rtl="0" algn="r">
              <a:lnSpc>
                <a:spcPct val="105000"/>
              </a:lnSpc>
              <a:spcBef>
                <a:spcPts val="0"/>
              </a:spcBef>
              <a:spcAft>
                <a:spcPts val="0"/>
              </a:spcAft>
              <a:buNone/>
            </a:pPr>
            <a:r>
              <a:rPr b="1" i="0" lang="en-US" sz="1400">
                <a:solidFill>
                  <a:srgbClr val="3A434C"/>
                </a:solidFill>
                <a:latin typeface="Consolas"/>
                <a:ea typeface="Consolas"/>
                <a:cs typeface="Consolas"/>
                <a:sym typeface="Consolas"/>
              </a:rPr>
              <a:t>5/40</a:t>
            </a:r>
            <a:endParaRPr/>
          </a:p>
        </p:txBody>
      </p:sp>
      <p:sp>
        <p:nvSpPr>
          <p:cNvPr id="926" name="Google Shape;926;p19"/>
          <p:cNvSpPr txBox="1"/>
          <p:nvPr/>
        </p:nvSpPr>
        <p:spPr>
          <a:xfrm>
            <a:off x="5248656" y="3191256"/>
            <a:ext cx="1856231" cy="24688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500">
                <a:solidFill>
                  <a:srgbClr val="3A434C"/>
                </a:solidFill>
                <a:latin typeface="Calibri"/>
                <a:ea typeface="Calibri"/>
                <a:cs typeface="Calibri"/>
                <a:sym typeface="Calibri"/>
              </a:rPr>
              <a:t>LLM baseline</a:t>
            </a:r>
            <a:endParaRPr/>
          </a:p>
        </p:txBody>
      </p:sp>
      <p:sp>
        <p:nvSpPr>
          <p:cNvPr id="927" name="Google Shape;927;p19"/>
          <p:cNvSpPr/>
          <p:nvPr/>
        </p:nvSpPr>
        <p:spPr>
          <a:xfrm>
            <a:off x="7178040" y="3255264"/>
            <a:ext cx="3154680" cy="155448"/>
          </a:xfrm>
          <a:prstGeom prst="roundRect">
            <a:avLst>
              <a:gd fmla="val 10000" name="adj"/>
            </a:avLst>
          </a:prstGeom>
          <a:solidFill>
            <a:srgbClr val="F3F5F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28" name="Google Shape;928;p19"/>
          <p:cNvSpPr/>
          <p:nvPr/>
        </p:nvSpPr>
        <p:spPr>
          <a:xfrm>
            <a:off x="7178040" y="3255264"/>
            <a:ext cx="394335" cy="155448"/>
          </a:xfrm>
          <a:prstGeom prst="roundRect">
            <a:avLst>
              <a:gd fmla="val 10000" name="adj"/>
            </a:avLst>
          </a:prstGeom>
          <a:solidFill>
            <a:srgbClr val="3A7D8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29" name="Google Shape;929;p19"/>
          <p:cNvSpPr txBox="1"/>
          <p:nvPr/>
        </p:nvSpPr>
        <p:spPr>
          <a:xfrm>
            <a:off x="10424160" y="3182112"/>
            <a:ext cx="658368" cy="228600"/>
          </a:xfrm>
          <a:prstGeom prst="rect">
            <a:avLst/>
          </a:prstGeom>
          <a:noFill/>
          <a:ln>
            <a:noFill/>
          </a:ln>
        </p:spPr>
        <p:txBody>
          <a:bodyPr anchorCtr="0" anchor="ctr" bIns="0" lIns="0" spcFirstLastPara="1" rIns="0" wrap="square" tIns="0">
            <a:spAutoFit/>
          </a:bodyPr>
          <a:lstStyle/>
          <a:p>
            <a:pPr indent="0" lvl="0" marL="0" marR="0" rtl="0" algn="r">
              <a:lnSpc>
                <a:spcPct val="105000"/>
              </a:lnSpc>
              <a:spcBef>
                <a:spcPts val="0"/>
              </a:spcBef>
              <a:spcAft>
                <a:spcPts val="0"/>
              </a:spcAft>
              <a:buNone/>
            </a:pPr>
            <a:r>
              <a:rPr b="1" i="0" lang="en-US" sz="1400">
                <a:solidFill>
                  <a:srgbClr val="3A434C"/>
                </a:solidFill>
                <a:latin typeface="Consolas"/>
                <a:ea typeface="Consolas"/>
                <a:cs typeface="Consolas"/>
                <a:sym typeface="Consolas"/>
              </a:rPr>
              <a:t>5/40</a:t>
            </a:r>
            <a:endParaRPr/>
          </a:p>
        </p:txBody>
      </p:sp>
      <p:sp>
        <p:nvSpPr>
          <p:cNvPr id="930" name="Google Shape;930;p19"/>
          <p:cNvSpPr txBox="1"/>
          <p:nvPr/>
        </p:nvSpPr>
        <p:spPr>
          <a:xfrm>
            <a:off x="5248656" y="3739896"/>
            <a:ext cx="1856231" cy="24688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500">
                <a:solidFill>
                  <a:srgbClr val="3A434C"/>
                </a:solidFill>
                <a:latin typeface="Calibri"/>
                <a:ea typeface="Calibri"/>
                <a:cs typeface="Calibri"/>
                <a:sym typeface="Calibri"/>
              </a:rPr>
              <a:t>Non-Iterative</a:t>
            </a:r>
            <a:endParaRPr/>
          </a:p>
        </p:txBody>
      </p:sp>
      <p:sp>
        <p:nvSpPr>
          <p:cNvPr id="931" name="Google Shape;931;p19"/>
          <p:cNvSpPr/>
          <p:nvPr/>
        </p:nvSpPr>
        <p:spPr>
          <a:xfrm>
            <a:off x="7178040" y="3803904"/>
            <a:ext cx="3154680" cy="155448"/>
          </a:xfrm>
          <a:prstGeom prst="roundRect">
            <a:avLst>
              <a:gd fmla="val 10000" name="adj"/>
            </a:avLst>
          </a:prstGeom>
          <a:solidFill>
            <a:srgbClr val="F3F5F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32" name="Google Shape;932;p19"/>
          <p:cNvSpPr/>
          <p:nvPr/>
        </p:nvSpPr>
        <p:spPr>
          <a:xfrm>
            <a:off x="7178040" y="3803904"/>
            <a:ext cx="157734" cy="155448"/>
          </a:xfrm>
          <a:prstGeom prst="roundRect">
            <a:avLst>
              <a:gd fmla="val 10000" name="adj"/>
            </a:avLst>
          </a:prstGeom>
          <a:solidFill>
            <a:srgbClr val="3A7D8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33" name="Google Shape;933;p19"/>
          <p:cNvSpPr txBox="1"/>
          <p:nvPr/>
        </p:nvSpPr>
        <p:spPr>
          <a:xfrm>
            <a:off x="10424160" y="3730752"/>
            <a:ext cx="658368" cy="228600"/>
          </a:xfrm>
          <a:prstGeom prst="rect">
            <a:avLst/>
          </a:prstGeom>
          <a:noFill/>
          <a:ln>
            <a:noFill/>
          </a:ln>
        </p:spPr>
        <p:txBody>
          <a:bodyPr anchorCtr="0" anchor="ctr" bIns="0" lIns="0" spcFirstLastPara="1" rIns="0" wrap="square" tIns="0">
            <a:spAutoFit/>
          </a:bodyPr>
          <a:lstStyle/>
          <a:p>
            <a:pPr indent="0" lvl="0" marL="0" marR="0" rtl="0" algn="r">
              <a:lnSpc>
                <a:spcPct val="105000"/>
              </a:lnSpc>
              <a:spcBef>
                <a:spcPts val="0"/>
              </a:spcBef>
              <a:spcAft>
                <a:spcPts val="0"/>
              </a:spcAft>
              <a:buNone/>
            </a:pPr>
            <a:r>
              <a:rPr b="1" i="0" lang="en-US" sz="1400">
                <a:solidFill>
                  <a:srgbClr val="3A434C"/>
                </a:solidFill>
                <a:latin typeface="Consolas"/>
                <a:ea typeface="Consolas"/>
                <a:cs typeface="Consolas"/>
                <a:sym typeface="Consolas"/>
              </a:rPr>
              <a:t>2/40</a:t>
            </a:r>
            <a:endParaRPr/>
          </a:p>
        </p:txBody>
      </p:sp>
      <p:sp>
        <p:nvSpPr>
          <p:cNvPr id="934" name="Google Shape;934;p19"/>
          <p:cNvSpPr txBox="1"/>
          <p:nvPr/>
        </p:nvSpPr>
        <p:spPr>
          <a:xfrm>
            <a:off x="5248656" y="4288536"/>
            <a:ext cx="1856231" cy="24688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500">
                <a:solidFill>
                  <a:srgbClr val="1F2328"/>
                </a:solidFill>
                <a:latin typeface="Calibri"/>
                <a:ea typeface="Calibri"/>
                <a:cs typeface="Calibri"/>
                <a:sym typeface="Calibri"/>
              </a:rPr>
              <a:t>RIGOR</a:t>
            </a:r>
            <a:endParaRPr/>
          </a:p>
        </p:txBody>
      </p:sp>
      <p:sp>
        <p:nvSpPr>
          <p:cNvPr id="935" name="Google Shape;935;p19"/>
          <p:cNvSpPr/>
          <p:nvPr/>
        </p:nvSpPr>
        <p:spPr>
          <a:xfrm>
            <a:off x="7178040" y="4352544"/>
            <a:ext cx="3154680" cy="155448"/>
          </a:xfrm>
          <a:prstGeom prst="roundRect">
            <a:avLst>
              <a:gd fmla="val 10000" name="adj"/>
            </a:avLst>
          </a:prstGeom>
          <a:solidFill>
            <a:srgbClr val="F3F5F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36" name="Google Shape;936;p19"/>
          <p:cNvSpPr/>
          <p:nvPr/>
        </p:nvSpPr>
        <p:spPr>
          <a:xfrm>
            <a:off x="7178040" y="4352544"/>
            <a:ext cx="2208276" cy="155448"/>
          </a:xfrm>
          <a:prstGeom prst="roundRect">
            <a:avLst>
              <a:gd fmla="val 10000" name="adj"/>
            </a:avLst>
          </a:prstGeom>
          <a:solidFill>
            <a:srgbClr val="0B6E4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37" name="Google Shape;937;p19"/>
          <p:cNvSpPr txBox="1"/>
          <p:nvPr/>
        </p:nvSpPr>
        <p:spPr>
          <a:xfrm>
            <a:off x="10424160" y="4279392"/>
            <a:ext cx="658368" cy="228600"/>
          </a:xfrm>
          <a:prstGeom prst="rect">
            <a:avLst/>
          </a:prstGeom>
          <a:noFill/>
          <a:ln>
            <a:noFill/>
          </a:ln>
        </p:spPr>
        <p:txBody>
          <a:bodyPr anchorCtr="0" anchor="ctr" bIns="0" lIns="0" spcFirstLastPara="1" rIns="0" wrap="square" tIns="0">
            <a:spAutoFit/>
          </a:bodyPr>
          <a:lstStyle/>
          <a:p>
            <a:pPr indent="0" lvl="0" marL="0" marR="0" rtl="0" algn="r">
              <a:lnSpc>
                <a:spcPct val="105000"/>
              </a:lnSpc>
              <a:spcBef>
                <a:spcPts val="0"/>
              </a:spcBef>
              <a:spcAft>
                <a:spcPts val="0"/>
              </a:spcAft>
              <a:buNone/>
            </a:pPr>
            <a:r>
              <a:rPr b="1" i="0" lang="en-US" sz="1400">
                <a:solidFill>
                  <a:srgbClr val="1F2328"/>
                </a:solidFill>
                <a:latin typeface="Consolas"/>
                <a:ea typeface="Consolas"/>
                <a:cs typeface="Consolas"/>
                <a:sym typeface="Consolas"/>
              </a:rPr>
              <a:t>28/40</a:t>
            </a:r>
            <a:endParaRPr/>
          </a:p>
        </p:txBody>
      </p:sp>
      <p:sp>
        <p:nvSpPr>
          <p:cNvPr id="938" name="Google Shape;938;p19"/>
          <p:cNvSpPr txBox="1"/>
          <p:nvPr/>
        </p:nvSpPr>
        <p:spPr>
          <a:xfrm>
            <a:off x="5257800" y="4773168"/>
            <a:ext cx="5586984" cy="29260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lang="en-US" sz="1520">
                <a:solidFill>
                  <a:srgbClr val="5B6770"/>
                </a:solidFill>
                <a:latin typeface="Calibri"/>
                <a:ea typeface="Calibri"/>
                <a:cs typeface="Calibri"/>
                <a:sym typeface="Calibri"/>
              </a:rPr>
              <a:t>Expert agreement: Kendall’s W = 0.39–0.72</a:t>
            </a:r>
            <a:endParaRPr/>
          </a:p>
        </p:txBody>
      </p:sp>
      <p:sp>
        <p:nvSpPr>
          <p:cNvPr id="939" name="Google Shape;939;p19"/>
          <p:cNvSpPr/>
          <p:nvPr/>
        </p:nvSpPr>
        <p:spPr>
          <a:xfrm>
            <a:off x="832104" y="5504688"/>
            <a:ext cx="10506456" cy="393192"/>
          </a:xfrm>
          <a:prstGeom prst="roundRect">
            <a:avLst>
              <a:gd fmla="val 10000" name="adj"/>
            </a:avLst>
          </a:prstGeom>
          <a:solidFill>
            <a:srgbClr val="F3F5F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40" name="Google Shape;940;p19"/>
          <p:cNvSpPr txBox="1"/>
          <p:nvPr/>
        </p:nvSpPr>
        <p:spPr>
          <a:xfrm>
            <a:off x="1033271" y="5596128"/>
            <a:ext cx="10094976" cy="27432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lang="en-US" sz="1550">
                <a:solidFill>
                  <a:srgbClr val="0B6E4F"/>
                </a:solidFill>
                <a:latin typeface="Calibri"/>
                <a:ea typeface="Calibri"/>
                <a:cs typeface="Calibri"/>
                <a:sym typeface="Calibri"/>
              </a:rPr>
              <a:t>INDEPENDENT LLM JUDGE   </a:t>
            </a:r>
            <a:r>
              <a:rPr b="0" lang="en-US" sz="1550">
                <a:solidFill>
                  <a:srgbClr val="1F2328"/>
                </a:solidFill>
                <a:latin typeface="Calibri"/>
                <a:ea typeface="Calibri"/>
                <a:cs typeface="Calibri"/>
                <a:sym typeface="Calibri"/>
              </a:rPr>
              <a:t>RIGOR ranked 1st for 58/58 tables · 290 competency questions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45" name="Shape 945"/>
        <p:cNvGrpSpPr/>
        <p:nvPr/>
      </p:nvGrpSpPr>
      <p:grpSpPr>
        <a:xfrm>
          <a:off x="0" y="0"/>
          <a:ext cx="0" cy="0"/>
          <a:chOff x="0" y="0"/>
          <a:chExt cx="0" cy="0"/>
        </a:xfrm>
      </p:grpSpPr>
      <p:sp>
        <p:nvSpPr>
          <p:cNvPr id="946" name="TextBox 945"/>
          <p:cNvSpPr txBox="1"/>
          <p:nvPr/>
        </p:nvSpPr>
        <p:spPr>
          <a:xfrm>
            <a:off x="777240" y="347472"/>
            <a:ext cx="10058400" cy="292608"/>
          </a:xfrm>
          <a:prstGeom prst="rect">
            <a:avLst/>
          </a:prstGeom>
          <a:noFill/>
        </p:spPr>
        <p:txBody>
          <a:bodyPr wrap="square" lIns="0" rIns="0" tIns="0" bIns="0">
            <a:spAutoFit/>
          </a:bodyPr>
          <a:lstStyle/>
          <a:p>
            <a:pPr algn="l"/>
            <a:r>
              <a:rPr sz="1500" b="1">
                <a:solidFill>
                  <a:srgbClr val="0B6E4F"/>
                </a:solidFill>
                <a:latin typeface="Consolas"/>
              </a:rPr>
              <a:t>RESULT 1  /  MEANING AND STRUCTURE</a:t>
            </a:r>
          </a:p>
        </p:txBody>
      </p:sp>
      <p:sp>
        <p:nvSpPr>
          <p:cNvPr id="947" name="TextBox 946"/>
          <p:cNvSpPr txBox="1"/>
          <p:nvPr/>
        </p:nvSpPr>
        <p:spPr>
          <a:xfrm>
            <a:off x="777240" y="768096"/>
            <a:ext cx="10881360" cy="530352"/>
          </a:xfrm>
          <a:prstGeom prst="rect">
            <a:avLst/>
          </a:prstGeom>
          <a:noFill/>
        </p:spPr>
        <p:txBody>
          <a:bodyPr wrap="square" lIns="0" rIns="0" tIns="0" bIns="0">
            <a:spAutoFit/>
          </a:bodyPr>
          <a:lstStyle/>
          <a:p>
            <a:pPr algn="l"/>
            <a:r>
              <a:rPr sz="2600" b="1">
                <a:solidFill>
                  <a:srgbClr val="1F2328"/>
                </a:solidFill>
                <a:latin typeface="Cambria"/>
              </a:rPr>
              <a:t>Only RIGOR adds meaning without losing structure.</a:t>
            </a:r>
          </a:p>
        </p:txBody>
      </p:sp>
      <p:sp>
        <p:nvSpPr>
          <p:cNvPr id="948" name="TextBox 947"/>
          <p:cNvSpPr txBox="1"/>
          <p:nvPr/>
        </p:nvSpPr>
        <p:spPr>
          <a:xfrm>
            <a:off x="777240" y="1371600"/>
            <a:ext cx="10789920" cy="347472"/>
          </a:xfrm>
          <a:prstGeom prst="rect">
            <a:avLst/>
          </a:prstGeom>
          <a:noFill/>
        </p:spPr>
        <p:txBody>
          <a:bodyPr wrap="square" lIns="0" rIns="0" tIns="0" bIns="0">
            <a:spAutoFit/>
          </a:bodyPr>
          <a:lstStyle/>
          <a:p>
            <a:pPr algn="l"/>
            <a:r>
              <a:rPr sz="1400" b="0">
                <a:solidFill>
                  <a:srgbClr val="5B6770"/>
                </a:solidFill>
                <a:latin typeface="Calibri"/>
              </a:rPr>
              <a:t>What the generated ontologies contain  ·  3 databases × 3 LLMs  ·  Direct Mapping: one ontology per database</a:t>
            </a:r>
          </a:p>
        </p:txBody>
      </p:sp>
      <p:sp>
        <p:nvSpPr>
          <p:cNvPr id="993" name="TextBox 992"/>
          <p:cNvSpPr txBox="1"/>
          <p:nvPr/>
        </p:nvSpPr>
        <p:spPr>
          <a:xfrm>
            <a:off x="960120" y="5193792"/>
            <a:ext cx="10268711" cy="329184"/>
          </a:xfrm>
          <a:prstGeom prst="rect">
            <a:avLst/>
          </a:prstGeom>
          <a:noFill/>
        </p:spPr>
        <p:txBody>
          <a:bodyPr wrap="square" lIns="0" rIns="0" tIns="0" bIns="0">
            <a:spAutoFit/>
          </a:bodyPr>
          <a:lstStyle/>
          <a:p>
            <a:pPr algn="l"/>
            <a:r>
              <a:rPr sz="1400" b="1">
                <a:solidFill>
                  <a:srgbClr val="0B6E4F"/>
                </a:solidFill>
                <a:latin typeface="Calibri"/>
              </a:rPr>
              <a:t>MODELING PITFALLS (OOPS!)   </a:t>
            </a:r>
            <a:r>
              <a:rPr sz="1400" b="0">
                <a:solidFill>
                  <a:srgbClr val="1F2328"/>
                </a:solidFill>
                <a:latin typeface="Calibri"/>
              </a:rPr>
              <a:t>Fewer than every other method in 9/9 like-for-like runs  ·  zero on Chinook with all three LLMs</a:t>
            </a:r>
          </a:p>
        </p:txBody>
      </p:sp>
      <p:sp>
        <p:nvSpPr>
          <p:cNvPr id="994" name="TextBox 993"/>
          <p:cNvSpPr txBox="1"/>
          <p:nvPr/>
        </p:nvSpPr>
        <p:spPr>
          <a:xfrm>
            <a:off x="850392" y="5897880"/>
            <a:ext cx="10789920" cy="246888"/>
          </a:xfrm>
          <a:prstGeom prst="rect">
            <a:avLst/>
          </a:prstGeom>
          <a:noFill/>
        </p:spPr>
        <p:txBody>
          <a:bodyPr wrap="square" lIns="0" rIns="0" tIns="0" bIns="0">
            <a:spAutoFit/>
          </a:bodyPr>
          <a:lstStyle/>
          <a:p>
            <a:pPr algn="l"/>
            <a:r>
              <a:rPr sz="1200" b="0">
                <a:solidFill>
                  <a:srgbClr val="5B6770"/>
                </a:solidFill>
                <a:latin typeface="Calibri"/>
              </a:rPr>
              <a:t>Coverage = embedding-based proxy (cosine ≥ 0.55); Direct Mapping is complete by construction. Like-for-like = same database and same LLM.</a:t>
            </a:r>
          </a:p>
        </p:txBody>
      </p:sp>
      <p:sp>
        <p:nvSpPr>
          <p:cNvPr id="995" name="TextBox 994"/>
          <p:cNvSpPr txBox="1"/>
          <p:nvPr/>
        </p:nvSpPr>
        <p:spPr>
          <a:xfrm>
            <a:off x="850392" y="6172200"/>
            <a:ext cx="10789920" cy="274320"/>
          </a:xfrm>
          <a:prstGeom prst="rect">
            <a:avLst/>
          </a:prstGeom>
          <a:noFill/>
        </p:spPr>
        <p:txBody>
          <a:bodyPr wrap="square" lIns="0" rIns="0" tIns="0" bIns="0">
            <a:spAutoFit/>
          </a:bodyPr>
          <a:lstStyle/>
          <a:p>
            <a:pPr algn="l"/>
            <a:r>
              <a:rPr sz="1200" b="0">
                <a:solidFill>
                  <a:srgbClr val="5B6770"/>
                </a:solidFill>
                <a:latin typeface="Calibri"/>
              </a:rPr>
              <a:t>Sources: paper Tables 7 (pitfalls), 8 (labels, SubClassOf, provenance), 9 (coverage). Raw pitfall counts: backup slide B1.</a:t>
            </a:r>
          </a:p>
        </p:txBody>
      </p:sp>
      <p:sp>
        <p:nvSpPr>
          <p:cNvPr id="996" name="Col head"/>
          <p:cNvSpPr txBox="1"/>
          <p:nvPr/>
        </p:nvSpPr>
        <p:spPr>
          <a:xfrm>
            <a:off x="960120" y="1901952"/>
            <a:ext cx="2103120" cy="237744"/>
          </a:xfrm>
          <a:prstGeom prst="rect">
            <a:avLst/>
          </a:prstGeom>
          <a:noFill/>
          <a:ln>
            <a:noFill/>
          </a:ln>
        </p:spPr>
        <p:txBody>
          <a:bodyPr wrap="square" lIns="0" tIns="0" rIns="0" bIns="0" anchor="t">
            <a:noAutofit/>
          </a:bodyPr>
          <a:lstStyle/>
          <a:p>
            <a:pPr algn="l"/>
            <a:r>
              <a:rPr lang="en-US" sz="1150" b="1" dirty="0">
                <a:solidFill>
                  <a:srgbClr val="2F6B78"/>
                </a:solidFill>
                <a:latin typeface="Consolas"/>
                <a:cs typeface="Consolas"/>
              </a:rPr>
              <a:t xml:space="preserve">METHOD</a:t>
            </a:r>
          </a:p>
        </p:txBody>
      </p:sp>
      <p:sp>
        <p:nvSpPr>
          <p:cNvPr id="997" name="Col sub"/>
          <p:cNvSpPr txBox="1"/>
          <p:nvPr/>
        </p:nvSpPr>
        <p:spPr>
          <a:xfrm>
            <a:off x="960120" y="2148840"/>
            <a:ext cx="2103120" cy="201168"/>
          </a:xfrm>
          <a:prstGeom prst="rect">
            <a:avLst/>
          </a:prstGeom>
          <a:noFill/>
          <a:ln>
            <a:noFill/>
          </a:ln>
        </p:spPr>
        <p:txBody>
          <a:bodyPr wrap="square" lIns="0" tIns="0" rIns="0" bIns="0" anchor="t">
            <a:noAutofit/>
          </a:bodyPr>
          <a:lstStyle/>
          <a:p>
            <a:pPr algn="l"/>
            <a:r>
              <a:rPr lang="en-US" sz="1050" b="0" dirty="0">
                <a:solidFill>
                  <a:srgbClr val="5B6770"/>
                </a:solidFill>
                <a:latin typeface="Calibri"/>
                <a:cs typeface="Calibri"/>
              </a:rPr>
              <a:t xml:space="preserve"/>
            </a:r>
          </a:p>
        </p:txBody>
      </p:sp>
      <p:sp>
        <p:nvSpPr>
          <p:cNvPr id="998" name="Col head"/>
          <p:cNvSpPr txBox="1"/>
          <p:nvPr/>
        </p:nvSpPr>
        <p:spPr>
          <a:xfrm>
            <a:off x="3246120" y="1901952"/>
            <a:ext cx="3931920" cy="237744"/>
          </a:xfrm>
          <a:prstGeom prst="rect">
            <a:avLst/>
          </a:prstGeom>
          <a:noFill/>
          <a:ln>
            <a:noFill/>
          </a:ln>
        </p:spPr>
        <p:txBody>
          <a:bodyPr wrap="square" lIns="0" tIns="0" rIns="0" bIns="0" anchor="t">
            <a:noAutofit/>
          </a:bodyPr>
          <a:lstStyle/>
          <a:p>
            <a:pPr algn="l"/>
            <a:r>
              <a:rPr lang="en-US" sz="1150" b="1" dirty="0">
                <a:solidFill>
                  <a:srgbClr val="2F6B78"/>
                </a:solidFill>
                <a:latin typeface="Consolas"/>
                <a:cs typeface="Consolas"/>
              </a:rPr>
              <a:t xml:space="preserve">COLUMNS KEPT</a:t>
            </a:r>
          </a:p>
        </p:txBody>
      </p:sp>
      <p:sp>
        <p:nvSpPr>
          <p:cNvPr id="999" name="Col sub"/>
          <p:cNvSpPr txBox="1"/>
          <p:nvPr/>
        </p:nvSpPr>
        <p:spPr>
          <a:xfrm>
            <a:off x="3246120" y="2148840"/>
            <a:ext cx="3931920" cy="201168"/>
          </a:xfrm>
          <a:prstGeom prst="rect">
            <a:avLst/>
          </a:prstGeom>
          <a:noFill/>
          <a:ln>
            <a:noFill/>
          </a:ln>
        </p:spPr>
        <p:txBody>
          <a:bodyPr wrap="square" lIns="0" tIns="0" rIns="0" bIns="0" anchor="t">
            <a:noAutofit/>
          </a:bodyPr>
          <a:lstStyle/>
          <a:p>
            <a:pPr algn="l"/>
            <a:r>
              <a:rPr lang="en-US" sz="1050" b="0" dirty="0">
                <a:solidFill>
                  <a:srgbClr val="5B6770"/>
                </a:solidFill>
                <a:latin typeface="Calibri"/>
                <a:cs typeface="Calibri"/>
              </a:rPr>
              <a:t xml:space="preserve">final schema coverage, range over the runs</a:t>
            </a:r>
          </a:p>
        </p:txBody>
      </p:sp>
      <p:sp>
        <p:nvSpPr>
          <p:cNvPr id="1000" name="Col head"/>
          <p:cNvSpPr txBox="1"/>
          <p:nvPr/>
        </p:nvSpPr>
        <p:spPr>
          <a:xfrm>
            <a:off x="7543800" y="1901952"/>
            <a:ext cx="1920240" cy="237744"/>
          </a:xfrm>
          <a:prstGeom prst="rect">
            <a:avLst/>
          </a:prstGeom>
          <a:noFill/>
          <a:ln>
            <a:noFill/>
          </a:ln>
        </p:spPr>
        <p:txBody>
          <a:bodyPr wrap="square" lIns="0" tIns="0" rIns="0" bIns="0" anchor="t">
            <a:noAutofit/>
          </a:bodyPr>
          <a:lstStyle/>
          <a:p>
            <a:pPr algn="l"/>
            <a:r>
              <a:rPr lang="en-US" sz="1150" b="1" dirty="0">
                <a:solidFill>
                  <a:srgbClr val="2F6B78"/>
                </a:solidFill>
                <a:latin typeface="Consolas"/>
                <a:cs typeface="Consolas"/>
              </a:rPr>
              <a:t xml:space="preserve">LABELS &amp; COMMENTS</a:t>
            </a:r>
          </a:p>
        </p:txBody>
      </p:sp>
      <p:sp>
        <p:nvSpPr>
          <p:cNvPr id="1001" name="Col sub"/>
          <p:cNvSpPr txBox="1"/>
          <p:nvPr/>
        </p:nvSpPr>
        <p:spPr>
          <a:xfrm>
            <a:off x="7543800" y="2148840"/>
            <a:ext cx="1920240" cy="201168"/>
          </a:xfrm>
          <a:prstGeom prst="rect">
            <a:avLst/>
          </a:prstGeom>
          <a:noFill/>
          <a:ln>
            <a:noFill/>
          </a:ln>
        </p:spPr>
        <p:txBody>
          <a:bodyPr wrap="square" lIns="0" tIns="0" rIns="0" bIns="0" anchor="t">
            <a:noAutofit/>
          </a:bodyPr>
          <a:lstStyle/>
          <a:p>
            <a:pPr algn="l"/>
            <a:r>
              <a:rPr lang="en-US" sz="1050" b="0" dirty="0">
                <a:solidFill>
                  <a:srgbClr val="5B6770"/>
                </a:solidFill>
                <a:latin typeface="Calibri"/>
                <a:cs typeface="Calibri"/>
              </a:rPr>
              <a:t xml:space="preserve">runs that have them</a:t>
            </a:r>
          </a:p>
        </p:txBody>
      </p:sp>
      <p:sp>
        <p:nvSpPr>
          <p:cNvPr id="1002" name="Col head"/>
          <p:cNvSpPr txBox="1"/>
          <p:nvPr/>
        </p:nvSpPr>
        <p:spPr>
          <a:xfrm>
            <a:off x="9555480" y="1901952"/>
            <a:ext cx="1920240" cy="237744"/>
          </a:xfrm>
          <a:prstGeom prst="rect">
            <a:avLst/>
          </a:prstGeom>
          <a:noFill/>
          <a:ln>
            <a:noFill/>
          </a:ln>
        </p:spPr>
        <p:txBody>
          <a:bodyPr wrap="square" lIns="0" tIns="0" rIns="0" bIns="0" anchor="t">
            <a:noAutofit/>
          </a:bodyPr>
          <a:lstStyle/>
          <a:p>
            <a:pPr algn="l"/>
            <a:r>
              <a:rPr lang="en-US" sz="1150" b="1" dirty="0">
                <a:solidFill>
                  <a:srgbClr val="2F6B78"/>
                </a:solidFill>
                <a:latin typeface="Consolas"/>
                <a:cs typeface="Consolas"/>
              </a:rPr>
              <a:t xml:space="preserve">HIERARCHY + PROVENANCE</a:t>
            </a:r>
          </a:p>
        </p:txBody>
      </p:sp>
      <p:sp>
        <p:nvSpPr>
          <p:cNvPr id="1003" name="Col sub"/>
          <p:cNvSpPr txBox="1"/>
          <p:nvPr/>
        </p:nvSpPr>
        <p:spPr>
          <a:xfrm>
            <a:off x="9555480" y="2148840"/>
            <a:ext cx="1920240" cy="201168"/>
          </a:xfrm>
          <a:prstGeom prst="rect">
            <a:avLst/>
          </a:prstGeom>
          <a:noFill/>
          <a:ln>
            <a:noFill/>
          </a:ln>
        </p:spPr>
        <p:txBody>
          <a:bodyPr wrap="square" lIns="0" tIns="0" rIns="0" bIns="0" anchor="t">
            <a:noAutofit/>
          </a:bodyPr>
          <a:lstStyle/>
          <a:p>
            <a:pPr algn="l"/>
            <a:r>
              <a:rPr lang="en-US" sz="1050" b="0" dirty="0">
                <a:solidFill>
                  <a:srgbClr val="5B6770"/>
                </a:solidFill>
                <a:latin typeface="Calibri"/>
                <a:cs typeface="Calibri"/>
              </a:rPr>
              <a:t xml:space="preserve">runs that have them</a:t>
            </a:r>
          </a:p>
        </p:txBody>
      </p:sp>
      <p:sp>
        <p:nvSpPr>
          <p:cNvPr id="1004" name="Head rule"/>
          <p:cNvSpPr/>
          <p:nvPr/>
        </p:nvSpPr>
        <p:spPr>
          <a:xfrm>
            <a:off x="822960" y="2487168"/>
            <a:ext cx="10543032" cy="10972"/>
          </a:xfrm>
          <a:prstGeom prst="rect">
            <a:avLst/>
          </a:prstGeom>
          <a:solidFill>
            <a:srgbClr val="9AA3A9"/>
          </a:solidFill>
          <a:ln>
            <a:noFill/>
          </a:ln>
        </p:spPr>
        <p:txBody>
          <a:bodyPr wrap="square" lIns="0" tIns="0" rIns="0" bIns="0" anchor="t">
            <a:noAutofit/>
          </a:bodyPr>
          <a:lstStyle/>
          <a:p>
            <a:pPr algn="l"/>
          </a:p>
        </p:txBody>
      </p:sp>
      <p:sp>
        <p:nvSpPr>
          <p:cNvPr id="1005" name="Method"/>
          <p:cNvSpPr txBox="1"/>
          <p:nvPr/>
        </p:nvSpPr>
        <p:spPr>
          <a:xfrm>
            <a:off x="960120" y="2688336"/>
            <a:ext cx="2194560" cy="310896"/>
          </a:xfrm>
          <a:prstGeom prst="rect">
            <a:avLst/>
          </a:prstGeom>
          <a:noFill/>
          <a:ln>
            <a:noFill/>
          </a:ln>
        </p:spPr>
        <p:txBody>
          <a:bodyPr wrap="square" lIns="0" tIns="0" rIns="0" bIns="0" anchor="ctr">
            <a:noAutofit/>
          </a:bodyPr>
          <a:lstStyle/>
          <a:p>
            <a:pPr algn="l"/>
            <a:r>
              <a:rPr lang="en-US" sz="1600" b="1" dirty="0">
                <a:solidFill>
                  <a:srgbClr val="1F2328"/>
                </a:solidFill>
                <a:latin typeface="Calibri"/>
                <a:cs typeface="Calibri"/>
              </a:rPr>
              <a:t xml:space="preserve">Direct Mapping</a:t>
            </a:r>
          </a:p>
        </p:txBody>
      </p:sp>
      <p:sp>
        <p:nvSpPr>
          <p:cNvPr id="1006" name="Coverage"/>
          <p:cNvSpPr txBox="1"/>
          <p:nvPr/>
        </p:nvSpPr>
        <p:spPr>
          <a:xfrm>
            <a:off x="3246120" y="2688336"/>
            <a:ext cx="1051560" cy="310896"/>
          </a:xfrm>
          <a:prstGeom prst="rect">
            <a:avLst/>
          </a:prstGeom>
          <a:noFill/>
          <a:ln>
            <a:noFill/>
          </a:ln>
        </p:spPr>
        <p:txBody>
          <a:bodyPr wrap="square" lIns="0" tIns="0" rIns="0" bIns="0" anchor="ctr">
            <a:noAutofit/>
          </a:bodyPr>
          <a:lstStyle/>
          <a:p>
            <a:pPr algn="l"/>
            <a:r>
              <a:rPr lang="en-US" sz="1500" b="0" dirty="0">
                <a:solidFill>
                  <a:srgbClr val="1F2328"/>
                </a:solidFill>
                <a:latin typeface="Calibri"/>
                <a:cs typeface="Calibri"/>
              </a:rPr>
              <a:t xml:space="preserve">0.78–0.99</a:t>
            </a:r>
          </a:p>
        </p:txBody>
      </p:sp>
      <p:sp>
        <p:nvSpPr>
          <p:cNvPr id="1007" name="Bar track"/>
          <p:cNvSpPr/>
          <p:nvPr/>
        </p:nvSpPr>
        <p:spPr>
          <a:xfrm>
            <a:off x="4343400" y="2788920"/>
            <a:ext cx="2514600" cy="109728"/>
          </a:xfrm>
          <a:prstGeom prst="roundRect">
            <a:avLst>
              <a:gd name="adj" fmla="val 12000"/>
            </a:avLst>
          </a:prstGeom>
          <a:solidFill>
            <a:srgbClr val="EEF1EF"/>
          </a:solidFill>
          <a:ln>
            <a:noFill/>
          </a:ln>
        </p:spPr>
        <p:txBody>
          <a:bodyPr wrap="square" lIns="0" tIns="0" rIns="0" bIns="0" anchor="t">
            <a:noAutofit/>
          </a:bodyPr>
          <a:lstStyle/>
          <a:p>
            <a:pPr algn="l"/>
          </a:p>
        </p:txBody>
      </p:sp>
      <p:sp>
        <p:nvSpPr>
          <p:cNvPr id="1008" name="Bar range" descr="coverage 0.78–0.99"/>
          <p:cNvSpPr/>
          <p:nvPr/>
        </p:nvSpPr>
        <p:spPr>
          <a:xfrm>
            <a:off x="6304788" y="2788920"/>
            <a:ext cx="528065" cy="109728"/>
          </a:xfrm>
          <a:prstGeom prst="roundRect">
            <a:avLst>
              <a:gd name="adj" fmla="val 12000"/>
            </a:avLst>
          </a:prstGeom>
          <a:solidFill>
            <a:srgbClr val="8E989E"/>
          </a:solidFill>
          <a:ln>
            <a:noFill/>
          </a:ln>
        </p:spPr>
        <p:txBody>
          <a:bodyPr wrap="square" lIns="0" tIns="0" rIns="0" bIns="0" anchor="t">
            <a:noAutofit/>
          </a:bodyPr>
          <a:lstStyle/>
          <a:p>
            <a:pPr algn="l"/>
          </a:p>
        </p:txBody>
      </p:sp>
      <p:sp>
        <p:nvSpPr>
          <p:cNvPr id="1009" name="Marker" descr="absent"/>
          <p:cNvSpPr/>
          <p:nvPr/>
        </p:nvSpPr>
        <p:spPr>
          <a:xfrm>
            <a:off x="7543800" y="2761488"/>
            <a:ext cx="164592" cy="164592"/>
          </a:xfrm>
          <a:prstGeom prst="ellipse">
            <a:avLst/>
          </a:prstGeom>
          <a:solidFill>
            <a:srgbClr val="FFFFFF"/>
          </a:solidFill>
          <a:ln w="9525">
            <a:solidFill>
              <a:srgbClr val="6B747B"/>
            </a:solidFill>
          </a:ln>
        </p:spPr>
        <p:txBody>
          <a:bodyPr wrap="square" lIns="0" tIns="0" rIns="0" bIns="0" anchor="t">
            <a:noAutofit/>
          </a:bodyPr>
          <a:lstStyle/>
          <a:p>
            <a:pPr algn="l"/>
          </a:p>
        </p:txBody>
      </p:sp>
      <p:sp>
        <p:nvSpPr>
          <p:cNvPr id="1010" name="Count"/>
          <p:cNvSpPr txBox="1"/>
          <p:nvPr/>
        </p:nvSpPr>
        <p:spPr>
          <a:xfrm>
            <a:off x="7818120" y="2688336"/>
            <a:ext cx="1280160" cy="310896"/>
          </a:xfrm>
          <a:prstGeom prst="rect">
            <a:avLst/>
          </a:prstGeom>
          <a:noFill/>
          <a:ln>
            <a:noFill/>
          </a:ln>
        </p:spPr>
        <p:txBody>
          <a:bodyPr wrap="square" lIns="0" tIns="0" rIns="0" bIns="0" anchor="ctr">
            <a:noAutofit/>
          </a:bodyPr>
          <a:lstStyle/>
          <a:p>
            <a:pPr algn="l"/>
            <a:r>
              <a:rPr lang="en-US" sz="1500" b="0" dirty="0">
                <a:solidFill>
                  <a:srgbClr val="6B747B"/>
                </a:solidFill>
                <a:latin typeface="Calibri"/>
                <a:cs typeface="Calibri"/>
              </a:rPr>
              <a:t xml:space="preserve">0 / 3</a:t>
            </a:r>
          </a:p>
        </p:txBody>
      </p:sp>
      <p:sp>
        <p:nvSpPr>
          <p:cNvPr id="1011" name="Marker" descr="absent"/>
          <p:cNvSpPr/>
          <p:nvPr/>
        </p:nvSpPr>
        <p:spPr>
          <a:xfrm>
            <a:off x="9555480" y="2761488"/>
            <a:ext cx="164592" cy="164592"/>
          </a:xfrm>
          <a:prstGeom prst="ellipse">
            <a:avLst/>
          </a:prstGeom>
          <a:solidFill>
            <a:srgbClr val="FFFFFF"/>
          </a:solidFill>
          <a:ln w="9525">
            <a:solidFill>
              <a:srgbClr val="6B747B"/>
            </a:solidFill>
          </a:ln>
        </p:spPr>
        <p:txBody>
          <a:bodyPr wrap="square" lIns="0" tIns="0" rIns="0" bIns="0" anchor="t">
            <a:noAutofit/>
          </a:bodyPr>
          <a:lstStyle/>
          <a:p>
            <a:pPr algn="l"/>
          </a:p>
        </p:txBody>
      </p:sp>
      <p:sp>
        <p:nvSpPr>
          <p:cNvPr id="1012" name="Count"/>
          <p:cNvSpPr txBox="1"/>
          <p:nvPr/>
        </p:nvSpPr>
        <p:spPr>
          <a:xfrm>
            <a:off x="9829800" y="2688336"/>
            <a:ext cx="1280160" cy="310896"/>
          </a:xfrm>
          <a:prstGeom prst="rect">
            <a:avLst/>
          </a:prstGeom>
          <a:noFill/>
          <a:ln>
            <a:noFill/>
          </a:ln>
        </p:spPr>
        <p:txBody>
          <a:bodyPr wrap="square" lIns="0" tIns="0" rIns="0" bIns="0" anchor="ctr">
            <a:noAutofit/>
          </a:bodyPr>
          <a:lstStyle/>
          <a:p>
            <a:pPr algn="l"/>
            <a:r>
              <a:rPr lang="en-US" sz="1500" b="0" dirty="0">
                <a:solidFill>
                  <a:srgbClr val="6B747B"/>
                </a:solidFill>
                <a:latin typeface="Calibri"/>
                <a:cs typeface="Calibri"/>
              </a:rPr>
              <a:t xml:space="preserve">0 / 3</a:t>
            </a:r>
          </a:p>
        </p:txBody>
      </p:sp>
      <p:sp>
        <p:nvSpPr>
          <p:cNvPr id="1013" name="Row rule"/>
          <p:cNvSpPr/>
          <p:nvPr/>
        </p:nvSpPr>
        <p:spPr>
          <a:xfrm>
            <a:off x="822960" y="3127248"/>
            <a:ext cx="10543032" cy="9144"/>
          </a:xfrm>
          <a:prstGeom prst="rect">
            <a:avLst/>
          </a:prstGeom>
          <a:solidFill>
            <a:srgbClr val="D9DEDB"/>
          </a:solidFill>
          <a:ln>
            <a:noFill/>
          </a:ln>
        </p:spPr>
        <p:txBody>
          <a:bodyPr wrap="square" lIns="0" tIns="0" rIns="0" bIns="0" anchor="t">
            <a:noAutofit/>
          </a:bodyPr>
          <a:lstStyle/>
          <a:p>
            <a:pPr algn="l"/>
          </a:p>
        </p:txBody>
      </p:sp>
      <p:sp>
        <p:nvSpPr>
          <p:cNvPr id="1014" name="Method"/>
          <p:cNvSpPr txBox="1"/>
          <p:nvPr/>
        </p:nvSpPr>
        <p:spPr>
          <a:xfrm>
            <a:off x="960120" y="3255264"/>
            <a:ext cx="2194560" cy="310896"/>
          </a:xfrm>
          <a:prstGeom prst="rect">
            <a:avLst/>
          </a:prstGeom>
          <a:noFill/>
          <a:ln>
            <a:noFill/>
          </a:ln>
        </p:spPr>
        <p:txBody>
          <a:bodyPr wrap="square" lIns="0" tIns="0" rIns="0" bIns="0" anchor="ctr">
            <a:noAutofit/>
          </a:bodyPr>
          <a:lstStyle/>
          <a:p>
            <a:pPr algn="l"/>
            <a:r>
              <a:rPr lang="en-US" sz="1600" b="1" dirty="0">
                <a:solidFill>
                  <a:srgbClr val="1F2328"/>
                </a:solidFill>
                <a:latin typeface="Calibri"/>
                <a:cs typeface="Calibri"/>
              </a:rPr>
              <a:t xml:space="preserve">LLM baseline</a:t>
            </a:r>
          </a:p>
        </p:txBody>
      </p:sp>
      <p:sp>
        <p:nvSpPr>
          <p:cNvPr id="1015" name="Coverage"/>
          <p:cNvSpPr txBox="1"/>
          <p:nvPr/>
        </p:nvSpPr>
        <p:spPr>
          <a:xfrm>
            <a:off x="3246120" y="3255264"/>
            <a:ext cx="1051560" cy="310896"/>
          </a:xfrm>
          <a:prstGeom prst="rect">
            <a:avLst/>
          </a:prstGeom>
          <a:noFill/>
          <a:ln>
            <a:noFill/>
          </a:ln>
        </p:spPr>
        <p:txBody>
          <a:bodyPr wrap="square" lIns="0" tIns="0" rIns="0" bIns="0" anchor="ctr">
            <a:noAutofit/>
          </a:bodyPr>
          <a:lstStyle/>
          <a:p>
            <a:pPr algn="l"/>
            <a:r>
              <a:rPr lang="en-US" sz="1500" b="0" dirty="0">
                <a:solidFill>
                  <a:srgbClr val="1F2328"/>
                </a:solidFill>
                <a:latin typeface="Calibri"/>
                <a:cs typeface="Calibri"/>
              </a:rPr>
              <a:t xml:space="preserve">0.31–1.00</a:t>
            </a:r>
          </a:p>
        </p:txBody>
      </p:sp>
      <p:sp>
        <p:nvSpPr>
          <p:cNvPr id="1016" name="Bar track"/>
          <p:cNvSpPr/>
          <p:nvPr/>
        </p:nvSpPr>
        <p:spPr>
          <a:xfrm>
            <a:off x="4343400" y="3355848"/>
            <a:ext cx="2514600" cy="109728"/>
          </a:xfrm>
          <a:prstGeom prst="roundRect">
            <a:avLst>
              <a:gd name="adj" fmla="val 12000"/>
            </a:avLst>
          </a:prstGeom>
          <a:solidFill>
            <a:srgbClr val="EEF1EF"/>
          </a:solidFill>
          <a:ln>
            <a:noFill/>
          </a:ln>
        </p:spPr>
        <p:txBody>
          <a:bodyPr wrap="square" lIns="0" tIns="0" rIns="0" bIns="0" anchor="t">
            <a:noAutofit/>
          </a:bodyPr>
          <a:lstStyle/>
          <a:p>
            <a:pPr algn="l"/>
          </a:p>
        </p:txBody>
      </p:sp>
      <p:sp>
        <p:nvSpPr>
          <p:cNvPr id="1017" name="Bar range" descr="coverage 0.31–1.00"/>
          <p:cNvSpPr/>
          <p:nvPr/>
        </p:nvSpPr>
        <p:spPr>
          <a:xfrm>
            <a:off x="5122926" y="3355848"/>
            <a:ext cx="1735074" cy="109728"/>
          </a:xfrm>
          <a:prstGeom prst="roundRect">
            <a:avLst>
              <a:gd name="adj" fmla="val 12000"/>
            </a:avLst>
          </a:prstGeom>
          <a:solidFill>
            <a:srgbClr val="8E989E"/>
          </a:solidFill>
          <a:ln>
            <a:noFill/>
          </a:ln>
        </p:spPr>
        <p:txBody>
          <a:bodyPr wrap="square" lIns="0" tIns="0" rIns="0" bIns="0" anchor="t">
            <a:noAutofit/>
          </a:bodyPr>
          <a:lstStyle/>
          <a:p>
            <a:pPr algn="l"/>
          </a:p>
        </p:txBody>
      </p:sp>
      <p:sp>
        <p:nvSpPr>
          <p:cNvPr id="1018" name="Marker" descr="absent"/>
          <p:cNvSpPr/>
          <p:nvPr/>
        </p:nvSpPr>
        <p:spPr>
          <a:xfrm>
            <a:off x="7543800" y="3328416"/>
            <a:ext cx="164592" cy="164592"/>
          </a:xfrm>
          <a:prstGeom prst="ellipse">
            <a:avLst/>
          </a:prstGeom>
          <a:solidFill>
            <a:srgbClr val="FFFFFF"/>
          </a:solidFill>
          <a:ln w="9525">
            <a:solidFill>
              <a:srgbClr val="6B747B"/>
            </a:solidFill>
          </a:ln>
        </p:spPr>
        <p:txBody>
          <a:bodyPr wrap="square" lIns="0" tIns="0" rIns="0" bIns="0" anchor="t">
            <a:noAutofit/>
          </a:bodyPr>
          <a:lstStyle/>
          <a:p>
            <a:pPr algn="l"/>
          </a:p>
        </p:txBody>
      </p:sp>
      <p:sp>
        <p:nvSpPr>
          <p:cNvPr id="1019" name="Count"/>
          <p:cNvSpPr txBox="1"/>
          <p:nvPr/>
        </p:nvSpPr>
        <p:spPr>
          <a:xfrm>
            <a:off x="7818120" y="3255264"/>
            <a:ext cx="1280160" cy="310896"/>
          </a:xfrm>
          <a:prstGeom prst="rect">
            <a:avLst/>
          </a:prstGeom>
          <a:noFill/>
          <a:ln>
            <a:noFill/>
          </a:ln>
        </p:spPr>
        <p:txBody>
          <a:bodyPr wrap="square" lIns="0" tIns="0" rIns="0" bIns="0" anchor="ctr">
            <a:noAutofit/>
          </a:bodyPr>
          <a:lstStyle/>
          <a:p>
            <a:pPr algn="l"/>
            <a:r>
              <a:rPr lang="en-US" sz="1500" b="0" dirty="0">
                <a:solidFill>
                  <a:srgbClr val="6B747B"/>
                </a:solidFill>
                <a:latin typeface="Calibri"/>
                <a:cs typeface="Calibri"/>
              </a:rPr>
              <a:t xml:space="preserve">0 / 9</a:t>
            </a:r>
          </a:p>
        </p:txBody>
      </p:sp>
      <p:sp>
        <p:nvSpPr>
          <p:cNvPr id="1020" name="Marker" descr="absent"/>
          <p:cNvSpPr/>
          <p:nvPr/>
        </p:nvSpPr>
        <p:spPr>
          <a:xfrm>
            <a:off x="9555480" y="3328416"/>
            <a:ext cx="164592" cy="164592"/>
          </a:xfrm>
          <a:prstGeom prst="ellipse">
            <a:avLst/>
          </a:prstGeom>
          <a:solidFill>
            <a:srgbClr val="FFFFFF"/>
          </a:solidFill>
          <a:ln w="9525">
            <a:solidFill>
              <a:srgbClr val="6B747B"/>
            </a:solidFill>
          </a:ln>
        </p:spPr>
        <p:txBody>
          <a:bodyPr wrap="square" lIns="0" tIns="0" rIns="0" bIns="0" anchor="t">
            <a:noAutofit/>
          </a:bodyPr>
          <a:lstStyle/>
          <a:p>
            <a:pPr algn="l"/>
          </a:p>
        </p:txBody>
      </p:sp>
      <p:sp>
        <p:nvSpPr>
          <p:cNvPr id="1021" name="Count"/>
          <p:cNvSpPr txBox="1"/>
          <p:nvPr/>
        </p:nvSpPr>
        <p:spPr>
          <a:xfrm>
            <a:off x="9829800" y="3255264"/>
            <a:ext cx="1280160" cy="310896"/>
          </a:xfrm>
          <a:prstGeom prst="rect">
            <a:avLst/>
          </a:prstGeom>
          <a:noFill/>
          <a:ln>
            <a:noFill/>
          </a:ln>
        </p:spPr>
        <p:txBody>
          <a:bodyPr wrap="square" lIns="0" tIns="0" rIns="0" bIns="0" anchor="ctr">
            <a:noAutofit/>
          </a:bodyPr>
          <a:lstStyle/>
          <a:p>
            <a:pPr algn="l"/>
            <a:r>
              <a:rPr lang="en-US" sz="1500" b="0" dirty="0">
                <a:solidFill>
                  <a:srgbClr val="6B747B"/>
                </a:solidFill>
                <a:latin typeface="Calibri"/>
                <a:cs typeface="Calibri"/>
              </a:rPr>
              <a:t xml:space="preserve">0 / 9</a:t>
            </a:r>
          </a:p>
        </p:txBody>
      </p:sp>
      <p:sp>
        <p:nvSpPr>
          <p:cNvPr id="1022" name="Row rule"/>
          <p:cNvSpPr/>
          <p:nvPr/>
        </p:nvSpPr>
        <p:spPr>
          <a:xfrm>
            <a:off x="822960" y="3694176"/>
            <a:ext cx="10543032" cy="9144"/>
          </a:xfrm>
          <a:prstGeom prst="rect">
            <a:avLst/>
          </a:prstGeom>
          <a:solidFill>
            <a:srgbClr val="D9DEDB"/>
          </a:solidFill>
          <a:ln>
            <a:noFill/>
          </a:ln>
        </p:spPr>
        <p:txBody>
          <a:bodyPr wrap="square" lIns="0" tIns="0" rIns="0" bIns="0" anchor="t">
            <a:noAutofit/>
          </a:bodyPr>
          <a:lstStyle/>
          <a:p>
            <a:pPr algn="l"/>
          </a:p>
        </p:txBody>
      </p:sp>
      <p:sp>
        <p:nvSpPr>
          <p:cNvPr id="1023" name="Method"/>
          <p:cNvSpPr txBox="1"/>
          <p:nvPr/>
        </p:nvSpPr>
        <p:spPr>
          <a:xfrm>
            <a:off x="960120" y="3822191"/>
            <a:ext cx="2194560" cy="310896"/>
          </a:xfrm>
          <a:prstGeom prst="rect">
            <a:avLst/>
          </a:prstGeom>
          <a:noFill/>
          <a:ln>
            <a:noFill/>
          </a:ln>
        </p:spPr>
        <p:txBody>
          <a:bodyPr wrap="square" lIns="0" tIns="0" rIns="0" bIns="0" anchor="ctr">
            <a:noAutofit/>
          </a:bodyPr>
          <a:lstStyle/>
          <a:p>
            <a:pPr algn="l"/>
            <a:r>
              <a:rPr lang="en-US" sz="1600" b="1" dirty="0">
                <a:solidFill>
                  <a:srgbClr val="1F2328"/>
                </a:solidFill>
                <a:latin typeface="Calibri"/>
                <a:cs typeface="Calibri"/>
              </a:rPr>
              <a:t xml:space="preserve">Non-Iterative</a:t>
            </a:r>
          </a:p>
        </p:txBody>
      </p:sp>
      <p:sp>
        <p:nvSpPr>
          <p:cNvPr id="1024" name="Coverage"/>
          <p:cNvSpPr txBox="1"/>
          <p:nvPr/>
        </p:nvSpPr>
        <p:spPr>
          <a:xfrm>
            <a:off x="3246120" y="3822191"/>
            <a:ext cx="1051560" cy="310896"/>
          </a:xfrm>
          <a:prstGeom prst="rect">
            <a:avLst/>
          </a:prstGeom>
          <a:noFill/>
          <a:ln>
            <a:noFill/>
          </a:ln>
        </p:spPr>
        <p:txBody>
          <a:bodyPr wrap="square" lIns="0" tIns="0" rIns="0" bIns="0" anchor="ctr">
            <a:noAutofit/>
          </a:bodyPr>
          <a:lstStyle/>
          <a:p>
            <a:pPr algn="l"/>
            <a:r>
              <a:rPr lang="en-US" sz="1500" b="1" dirty="0">
                <a:solidFill>
                  <a:srgbClr val="B23A1E"/>
                </a:solidFill>
                <a:latin typeface="Calibri"/>
                <a:cs typeface="Calibri"/>
              </a:rPr>
              <a:t xml:space="preserve">0.06–0.78</a:t>
            </a:r>
          </a:p>
        </p:txBody>
      </p:sp>
      <p:sp>
        <p:nvSpPr>
          <p:cNvPr id="1025" name="Bar track"/>
          <p:cNvSpPr/>
          <p:nvPr/>
        </p:nvSpPr>
        <p:spPr>
          <a:xfrm>
            <a:off x="4343400" y="3922776"/>
            <a:ext cx="2514600" cy="109728"/>
          </a:xfrm>
          <a:prstGeom prst="roundRect">
            <a:avLst>
              <a:gd name="adj" fmla="val 12000"/>
            </a:avLst>
          </a:prstGeom>
          <a:solidFill>
            <a:srgbClr val="EEF1EF"/>
          </a:solidFill>
          <a:ln>
            <a:noFill/>
          </a:ln>
        </p:spPr>
        <p:txBody>
          <a:bodyPr wrap="square" lIns="0" tIns="0" rIns="0" bIns="0" anchor="t">
            <a:noAutofit/>
          </a:bodyPr>
          <a:lstStyle/>
          <a:p>
            <a:pPr algn="l"/>
          </a:p>
        </p:txBody>
      </p:sp>
      <p:sp>
        <p:nvSpPr>
          <p:cNvPr id="1026" name="Bar range" descr="coverage 0.06–0.78"/>
          <p:cNvSpPr/>
          <p:nvPr/>
        </p:nvSpPr>
        <p:spPr>
          <a:xfrm>
            <a:off x="4494276" y="3922776"/>
            <a:ext cx="1810512" cy="109728"/>
          </a:xfrm>
          <a:prstGeom prst="roundRect">
            <a:avLst>
              <a:gd name="adj" fmla="val 12000"/>
            </a:avLst>
          </a:prstGeom>
          <a:solidFill>
            <a:srgbClr val="B23A1E"/>
          </a:solidFill>
          <a:ln>
            <a:noFill/>
          </a:ln>
        </p:spPr>
        <p:txBody>
          <a:bodyPr wrap="square" lIns="0" tIns="0" rIns="0" bIns="0" anchor="t">
            <a:noAutofit/>
          </a:bodyPr>
          <a:lstStyle/>
          <a:p>
            <a:pPr algn="l"/>
          </a:p>
        </p:txBody>
      </p:sp>
      <p:sp>
        <p:nvSpPr>
          <p:cNvPr id="1027" name="Marker" descr="present"/>
          <p:cNvSpPr/>
          <p:nvPr/>
        </p:nvSpPr>
        <p:spPr>
          <a:xfrm>
            <a:off x="7543800" y="3895344"/>
            <a:ext cx="164592" cy="164592"/>
          </a:xfrm>
          <a:prstGeom prst="ellipse">
            <a:avLst/>
          </a:prstGeom>
          <a:solidFill>
            <a:srgbClr val="0B6E4F"/>
          </a:solidFill>
          <a:ln w="9525">
            <a:solidFill>
              <a:srgbClr val="0B6E4F"/>
            </a:solidFill>
          </a:ln>
        </p:spPr>
        <p:txBody>
          <a:bodyPr wrap="square" lIns="0" tIns="0" rIns="0" bIns="0" anchor="t">
            <a:noAutofit/>
          </a:bodyPr>
          <a:lstStyle/>
          <a:p>
            <a:pPr algn="l"/>
          </a:p>
        </p:txBody>
      </p:sp>
      <p:sp>
        <p:nvSpPr>
          <p:cNvPr id="1028" name="Count"/>
          <p:cNvSpPr txBox="1"/>
          <p:nvPr/>
        </p:nvSpPr>
        <p:spPr>
          <a:xfrm>
            <a:off x="7818120" y="3822191"/>
            <a:ext cx="1280160" cy="310896"/>
          </a:xfrm>
          <a:prstGeom prst="rect">
            <a:avLst/>
          </a:prstGeom>
          <a:noFill/>
          <a:ln>
            <a:noFill/>
          </a:ln>
        </p:spPr>
        <p:txBody>
          <a:bodyPr wrap="square" lIns="0" tIns="0" rIns="0" bIns="0" anchor="ctr">
            <a:noAutofit/>
          </a:bodyPr>
          <a:lstStyle/>
          <a:p>
            <a:pPr algn="l"/>
            <a:r>
              <a:rPr lang="en-US" sz="1500" b="0" dirty="0">
                <a:solidFill>
                  <a:srgbClr val="1F2328"/>
                </a:solidFill>
                <a:latin typeface="Calibri"/>
                <a:cs typeface="Calibri"/>
              </a:rPr>
              <a:t xml:space="preserve">9 / 9</a:t>
            </a:r>
          </a:p>
        </p:txBody>
      </p:sp>
      <p:sp>
        <p:nvSpPr>
          <p:cNvPr id="1029" name="Marker" descr="absent"/>
          <p:cNvSpPr/>
          <p:nvPr/>
        </p:nvSpPr>
        <p:spPr>
          <a:xfrm>
            <a:off x="9555480" y="3895344"/>
            <a:ext cx="164592" cy="164592"/>
          </a:xfrm>
          <a:prstGeom prst="ellipse">
            <a:avLst/>
          </a:prstGeom>
          <a:solidFill>
            <a:srgbClr val="FFFFFF"/>
          </a:solidFill>
          <a:ln w="9525">
            <a:solidFill>
              <a:srgbClr val="6B747B"/>
            </a:solidFill>
          </a:ln>
        </p:spPr>
        <p:txBody>
          <a:bodyPr wrap="square" lIns="0" tIns="0" rIns="0" bIns="0" anchor="t">
            <a:noAutofit/>
          </a:bodyPr>
          <a:lstStyle/>
          <a:p>
            <a:pPr algn="l"/>
          </a:p>
        </p:txBody>
      </p:sp>
      <p:sp>
        <p:nvSpPr>
          <p:cNvPr id="1030" name="Count"/>
          <p:cNvSpPr txBox="1"/>
          <p:nvPr/>
        </p:nvSpPr>
        <p:spPr>
          <a:xfrm>
            <a:off x="9829800" y="3822191"/>
            <a:ext cx="1280160" cy="310896"/>
          </a:xfrm>
          <a:prstGeom prst="rect">
            <a:avLst/>
          </a:prstGeom>
          <a:noFill/>
          <a:ln>
            <a:noFill/>
          </a:ln>
        </p:spPr>
        <p:txBody>
          <a:bodyPr wrap="square" lIns="0" tIns="0" rIns="0" bIns="0" anchor="ctr">
            <a:noAutofit/>
          </a:bodyPr>
          <a:lstStyle/>
          <a:p>
            <a:pPr algn="l"/>
            <a:r>
              <a:rPr lang="en-US" sz="1500" b="0" dirty="0">
                <a:solidFill>
                  <a:srgbClr val="6B747B"/>
                </a:solidFill>
                <a:latin typeface="Calibri"/>
                <a:cs typeface="Calibri"/>
              </a:rPr>
              <a:t xml:space="preserve">0 / 9</a:t>
            </a:r>
          </a:p>
        </p:txBody>
      </p:sp>
      <p:sp>
        <p:nvSpPr>
          <p:cNvPr id="1031" name="RIGOR band"/>
          <p:cNvSpPr/>
          <p:nvPr/>
        </p:nvSpPr>
        <p:spPr>
          <a:xfrm>
            <a:off x="822960" y="4297680"/>
            <a:ext cx="10543032" cy="493776"/>
          </a:xfrm>
          <a:prstGeom prst="roundRect">
            <a:avLst>
              <a:gd name="adj" fmla="val 12000"/>
            </a:avLst>
          </a:prstGeom>
          <a:solidFill>
            <a:srgbClr val="E6F2EC"/>
          </a:solidFill>
          <a:ln>
            <a:noFill/>
          </a:ln>
        </p:spPr>
        <p:txBody>
          <a:bodyPr wrap="square" lIns="0" tIns="0" rIns="0" bIns="0" anchor="t">
            <a:noAutofit/>
          </a:bodyPr>
          <a:lstStyle/>
          <a:p>
            <a:pPr algn="l"/>
          </a:p>
        </p:txBody>
      </p:sp>
      <p:sp>
        <p:nvSpPr>
          <p:cNvPr id="1032" name="Method"/>
          <p:cNvSpPr txBox="1"/>
          <p:nvPr/>
        </p:nvSpPr>
        <p:spPr>
          <a:xfrm>
            <a:off x="960120" y="4389120"/>
            <a:ext cx="2194560" cy="310896"/>
          </a:xfrm>
          <a:prstGeom prst="rect">
            <a:avLst/>
          </a:prstGeom>
          <a:noFill/>
          <a:ln>
            <a:noFill/>
          </a:ln>
        </p:spPr>
        <p:txBody>
          <a:bodyPr wrap="square" lIns="0" tIns="0" rIns="0" bIns="0" anchor="ctr">
            <a:noAutofit/>
          </a:bodyPr>
          <a:lstStyle/>
          <a:p>
            <a:pPr algn="l"/>
            <a:r>
              <a:rPr lang="en-US" sz="1600" b="1" dirty="0">
                <a:solidFill>
                  <a:srgbClr val="0B6E4F"/>
                </a:solidFill>
                <a:latin typeface="Calibri"/>
                <a:cs typeface="Calibri"/>
              </a:rPr>
              <a:t xml:space="preserve">RIGOR</a:t>
            </a:r>
          </a:p>
        </p:txBody>
      </p:sp>
      <p:sp>
        <p:nvSpPr>
          <p:cNvPr id="1033" name="Coverage"/>
          <p:cNvSpPr txBox="1"/>
          <p:nvPr/>
        </p:nvSpPr>
        <p:spPr>
          <a:xfrm>
            <a:off x="3246120" y="4389120"/>
            <a:ext cx="1051560" cy="310896"/>
          </a:xfrm>
          <a:prstGeom prst="rect">
            <a:avLst/>
          </a:prstGeom>
          <a:noFill/>
          <a:ln>
            <a:noFill/>
          </a:ln>
        </p:spPr>
        <p:txBody>
          <a:bodyPr wrap="square" lIns="0" tIns="0" rIns="0" bIns="0" anchor="ctr">
            <a:noAutofit/>
          </a:bodyPr>
          <a:lstStyle/>
          <a:p>
            <a:pPr algn="l"/>
            <a:r>
              <a:rPr lang="en-US" sz="1500" b="1" dirty="0">
                <a:solidFill>
                  <a:srgbClr val="0B6E4F"/>
                </a:solidFill>
                <a:latin typeface="Calibri"/>
                <a:cs typeface="Calibri"/>
              </a:rPr>
              <a:t xml:space="preserve">0.77–1.00</a:t>
            </a:r>
          </a:p>
        </p:txBody>
      </p:sp>
      <p:sp>
        <p:nvSpPr>
          <p:cNvPr id="1034" name="Bar track"/>
          <p:cNvSpPr/>
          <p:nvPr/>
        </p:nvSpPr>
        <p:spPr>
          <a:xfrm>
            <a:off x="4343400" y="4489704"/>
            <a:ext cx="2514600" cy="109728"/>
          </a:xfrm>
          <a:prstGeom prst="roundRect">
            <a:avLst>
              <a:gd name="adj" fmla="val 12000"/>
            </a:avLst>
          </a:prstGeom>
          <a:solidFill>
            <a:srgbClr val="EEF1EF"/>
          </a:solidFill>
          <a:ln>
            <a:noFill/>
          </a:ln>
        </p:spPr>
        <p:txBody>
          <a:bodyPr wrap="square" lIns="0" tIns="0" rIns="0" bIns="0" anchor="t">
            <a:noAutofit/>
          </a:bodyPr>
          <a:lstStyle/>
          <a:p>
            <a:pPr algn="l"/>
          </a:p>
        </p:txBody>
      </p:sp>
      <p:sp>
        <p:nvSpPr>
          <p:cNvPr id="1035" name="Bar range" descr="coverage 0.77–1.00"/>
          <p:cNvSpPr/>
          <p:nvPr/>
        </p:nvSpPr>
        <p:spPr>
          <a:xfrm>
            <a:off x="6279642" y="4489704"/>
            <a:ext cx="578358" cy="109728"/>
          </a:xfrm>
          <a:prstGeom prst="roundRect">
            <a:avLst>
              <a:gd name="adj" fmla="val 12000"/>
            </a:avLst>
          </a:prstGeom>
          <a:solidFill>
            <a:srgbClr val="0B6E4F"/>
          </a:solidFill>
          <a:ln>
            <a:noFill/>
          </a:ln>
        </p:spPr>
        <p:txBody>
          <a:bodyPr wrap="square" lIns="0" tIns="0" rIns="0" bIns="0" anchor="t">
            <a:noAutofit/>
          </a:bodyPr>
          <a:lstStyle/>
          <a:p>
            <a:pPr algn="l"/>
          </a:p>
        </p:txBody>
      </p:sp>
      <p:sp>
        <p:nvSpPr>
          <p:cNvPr id="1036" name="Marker" descr="present"/>
          <p:cNvSpPr/>
          <p:nvPr/>
        </p:nvSpPr>
        <p:spPr>
          <a:xfrm>
            <a:off x="7543800" y="4462272"/>
            <a:ext cx="164592" cy="164592"/>
          </a:xfrm>
          <a:prstGeom prst="ellipse">
            <a:avLst/>
          </a:prstGeom>
          <a:solidFill>
            <a:srgbClr val="0B6E4F"/>
          </a:solidFill>
          <a:ln w="9525">
            <a:solidFill>
              <a:srgbClr val="0B6E4F"/>
            </a:solidFill>
          </a:ln>
        </p:spPr>
        <p:txBody>
          <a:bodyPr wrap="square" lIns="0" tIns="0" rIns="0" bIns="0" anchor="t">
            <a:noAutofit/>
          </a:bodyPr>
          <a:lstStyle/>
          <a:p>
            <a:pPr algn="l"/>
          </a:p>
        </p:txBody>
      </p:sp>
      <p:sp>
        <p:nvSpPr>
          <p:cNvPr id="1037" name="Count"/>
          <p:cNvSpPr txBox="1"/>
          <p:nvPr/>
        </p:nvSpPr>
        <p:spPr>
          <a:xfrm>
            <a:off x="7818120" y="4389120"/>
            <a:ext cx="1280160" cy="310896"/>
          </a:xfrm>
          <a:prstGeom prst="rect">
            <a:avLst/>
          </a:prstGeom>
          <a:noFill/>
          <a:ln>
            <a:noFill/>
          </a:ln>
        </p:spPr>
        <p:txBody>
          <a:bodyPr wrap="square" lIns="0" tIns="0" rIns="0" bIns="0" anchor="ctr">
            <a:noAutofit/>
          </a:bodyPr>
          <a:lstStyle/>
          <a:p>
            <a:pPr algn="l"/>
            <a:r>
              <a:rPr lang="en-US" sz="1500" b="1" dirty="0">
                <a:solidFill>
                  <a:srgbClr val="0B6E4F"/>
                </a:solidFill>
                <a:latin typeface="Calibri"/>
                <a:cs typeface="Calibri"/>
              </a:rPr>
              <a:t xml:space="preserve">9 / 9</a:t>
            </a:r>
          </a:p>
        </p:txBody>
      </p:sp>
      <p:sp>
        <p:nvSpPr>
          <p:cNvPr id="1038" name="Marker" descr="present"/>
          <p:cNvSpPr/>
          <p:nvPr/>
        </p:nvSpPr>
        <p:spPr>
          <a:xfrm>
            <a:off x="9555480" y="4462272"/>
            <a:ext cx="164592" cy="164592"/>
          </a:xfrm>
          <a:prstGeom prst="ellipse">
            <a:avLst/>
          </a:prstGeom>
          <a:solidFill>
            <a:srgbClr val="0B6E4F"/>
          </a:solidFill>
          <a:ln w="9525">
            <a:solidFill>
              <a:srgbClr val="0B6E4F"/>
            </a:solidFill>
          </a:ln>
        </p:spPr>
        <p:txBody>
          <a:bodyPr wrap="square" lIns="0" tIns="0" rIns="0" bIns="0" anchor="t">
            <a:noAutofit/>
          </a:bodyPr>
          <a:lstStyle/>
          <a:p>
            <a:pPr algn="l"/>
          </a:p>
        </p:txBody>
      </p:sp>
      <p:sp>
        <p:nvSpPr>
          <p:cNvPr id="1039" name="Count"/>
          <p:cNvSpPr txBox="1"/>
          <p:nvPr/>
        </p:nvSpPr>
        <p:spPr>
          <a:xfrm>
            <a:off x="9829800" y="4389120"/>
            <a:ext cx="1280160" cy="310896"/>
          </a:xfrm>
          <a:prstGeom prst="rect">
            <a:avLst/>
          </a:prstGeom>
          <a:noFill/>
          <a:ln>
            <a:noFill/>
          </a:ln>
        </p:spPr>
        <p:txBody>
          <a:bodyPr wrap="square" lIns="0" tIns="0" rIns="0" bIns="0" anchor="ctr">
            <a:noAutofit/>
          </a:bodyPr>
          <a:lstStyle/>
          <a:p>
            <a:pPr algn="l"/>
            <a:r>
              <a:rPr lang="en-US" sz="1500" b="1" dirty="0">
                <a:solidFill>
                  <a:srgbClr val="0B6E4F"/>
                </a:solidFill>
                <a:latin typeface="Calibri"/>
                <a:cs typeface="Calibri"/>
              </a:rPr>
              <a:t xml:space="preserve">9 / 9</a:t>
            </a:r>
          </a:p>
        </p:txBody>
      </p:sp>
      <p:sp>
        <p:nvSpPr>
          <p:cNvPr id="1040" name="End rule"/>
          <p:cNvSpPr/>
          <p:nvPr/>
        </p:nvSpPr>
        <p:spPr>
          <a:xfrm>
            <a:off x="822960" y="4846319"/>
            <a:ext cx="10543032" cy="10972"/>
          </a:xfrm>
          <a:prstGeom prst="rect">
            <a:avLst/>
          </a:prstGeom>
          <a:solidFill>
            <a:srgbClr val="9AA3A9"/>
          </a:solidFill>
          <a:ln>
            <a:noFill/>
          </a:ln>
        </p:spPr>
        <p:txBody>
          <a:bodyPr wrap="square" lIns="0" tIns="0" rIns="0" bIns="0" anchor="t">
            <a:noAutofit/>
          </a:bodyPr>
          <a:lstStyle/>
          <a:p>
            <a:pPr algn="l"/>
          </a:p>
        </p:txBody>
      </p:sp>
      <p:sp>
        <p:nvSpPr>
          <p:cNvPr id="1041" name="Bar tick"/>
          <p:cNvSpPr txBox="1"/>
          <p:nvPr/>
        </p:nvSpPr>
        <p:spPr>
          <a:xfrm>
            <a:off x="4114800" y="4873751"/>
            <a:ext cx="457200" cy="182880"/>
          </a:xfrm>
          <a:prstGeom prst="rect">
            <a:avLst/>
          </a:prstGeom>
          <a:noFill/>
          <a:ln>
            <a:noFill/>
          </a:ln>
        </p:spPr>
        <p:txBody>
          <a:bodyPr wrap="square" lIns="0" tIns="0" rIns="0" bIns="0" anchor="t">
            <a:noAutofit/>
          </a:bodyPr>
          <a:lstStyle/>
          <a:p>
            <a:pPr algn="ctr"/>
            <a:r>
              <a:rPr lang="en-US" sz="1000" b="0" dirty="0">
                <a:solidFill>
                  <a:srgbClr val="5B6770"/>
                </a:solidFill>
                <a:latin typeface="Calibri"/>
                <a:cs typeface="Calibri"/>
              </a:rPr>
              <a:t xml:space="preserve">0</a:t>
            </a:r>
          </a:p>
        </p:txBody>
      </p:sp>
      <p:sp>
        <p:nvSpPr>
          <p:cNvPr id="1042" name="Bar tick"/>
          <p:cNvSpPr txBox="1"/>
          <p:nvPr/>
        </p:nvSpPr>
        <p:spPr>
          <a:xfrm>
            <a:off x="5372100" y="4873751"/>
            <a:ext cx="457200" cy="182880"/>
          </a:xfrm>
          <a:prstGeom prst="rect">
            <a:avLst/>
          </a:prstGeom>
          <a:noFill/>
          <a:ln>
            <a:noFill/>
          </a:ln>
        </p:spPr>
        <p:txBody>
          <a:bodyPr wrap="square" lIns="0" tIns="0" rIns="0" bIns="0" anchor="t">
            <a:noAutofit/>
          </a:bodyPr>
          <a:lstStyle/>
          <a:p>
            <a:pPr algn="ctr"/>
            <a:r>
              <a:rPr lang="en-US" sz="1000" b="0" dirty="0">
                <a:solidFill>
                  <a:srgbClr val="5B6770"/>
                </a:solidFill>
                <a:latin typeface="Calibri"/>
                <a:cs typeface="Calibri"/>
              </a:rPr>
              <a:t xml:space="preserve">0.5</a:t>
            </a:r>
          </a:p>
        </p:txBody>
      </p:sp>
      <p:sp>
        <p:nvSpPr>
          <p:cNvPr id="1043" name="Bar tick"/>
          <p:cNvSpPr txBox="1"/>
          <p:nvPr/>
        </p:nvSpPr>
        <p:spPr>
          <a:xfrm>
            <a:off x="6629400" y="4873751"/>
            <a:ext cx="457200" cy="182880"/>
          </a:xfrm>
          <a:prstGeom prst="rect">
            <a:avLst/>
          </a:prstGeom>
          <a:noFill/>
          <a:ln>
            <a:noFill/>
          </a:ln>
        </p:spPr>
        <p:txBody>
          <a:bodyPr wrap="square" lIns="0" tIns="0" rIns="0" bIns="0" anchor="t">
            <a:noAutofit/>
          </a:bodyPr>
          <a:lstStyle/>
          <a:p>
            <a:pPr algn="ctr"/>
            <a:r>
              <a:rPr lang="en-US" sz="1000" b="0" dirty="0">
                <a:solidFill>
                  <a:srgbClr val="5B6770"/>
                </a:solidFill>
                <a:latin typeface="Calibri"/>
                <a:cs typeface="Calibri"/>
              </a:rPr>
              <a:t xml:space="preserve">1</a:t>
            </a: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74" name="Shape 974"/>
        <p:cNvGrpSpPr/>
        <p:nvPr/>
      </p:nvGrpSpPr>
      <p:grpSpPr>
        <a:xfrm>
          <a:off x="0" y="0"/>
          <a:ext cx="0" cy="0"/>
          <a:chOff x="0" y="0"/>
          <a:chExt cx="0" cy="0"/>
        </a:xfrm>
      </p:grpSpPr>
      <p:sp>
        <p:nvSpPr>
          <p:cNvPr id="975" name="Google Shape;975;p21"/>
          <p:cNvSpPr txBox="1"/>
          <p:nvPr/>
        </p:nvSpPr>
        <p:spPr>
          <a:xfrm>
            <a:off x="804672" y="512064"/>
            <a:ext cx="10753344" cy="31089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0B6E4F"/>
                </a:solidFill>
                <a:latin typeface="Consolas"/>
                <a:ea typeface="Consolas"/>
                <a:cs typeface="Consolas"/>
                <a:sym typeface="Consolas"/>
              </a:rPr>
              <a:t>RESULT 2  /  EXTERNAL BENCHMARK</a:t>
            </a:r>
            <a:endParaRPr/>
          </a:p>
        </p:txBody>
      </p:sp>
      <p:sp>
        <p:nvSpPr>
          <p:cNvPr id="976" name="Google Shape;976;p21"/>
          <p:cNvSpPr txBox="1"/>
          <p:nvPr/>
        </p:nvSpPr>
        <p:spPr>
          <a:xfrm>
            <a:off x="804672" y="914400"/>
            <a:ext cx="10762488" cy="66751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900">
                <a:solidFill>
                  <a:srgbClr val="1F2328"/>
                </a:solidFill>
                <a:latin typeface="Cambria"/>
                <a:ea typeface="Calibri"/>
                <a:cs typeface="Calibri"/>
                <a:sym typeface="Calibri"/>
              </a:rPr>
              <a:t>RIGOR keeps the link to the data.</a:t>
            </a:r>
            <a:endParaRPr/>
          </a:p>
        </p:txBody>
      </p:sp>
      <p:sp>
        <p:nvSpPr>
          <p:cNvPr id="977" name="Google Shape;977;p21"/>
          <p:cNvSpPr txBox="1"/>
          <p:nvPr/>
        </p:nvSpPr>
        <p:spPr>
          <a:xfrm>
            <a:off x="822960" y="1645920"/>
            <a:ext cx="10680192" cy="32918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600">
                <a:solidFill>
                  <a:srgbClr val="3A434C"/>
                </a:solidFill>
                <a:latin typeface="Calibri"/>
                <a:ea typeface="Calibri"/>
                <a:cs typeface="Calibri"/>
                <a:sym typeface="Calibri"/>
              </a:rPr>
              <a:t>BURR benchmark (Laskowski et al., 2025)  ·  ISWC scenario  ·  highest F1 among the compared ontology-learning systems</a:t>
            </a:r>
            <a:endParaRPr/>
          </a:p>
        </p:txBody>
      </p:sp>
      <p:sp>
        <p:nvSpPr>
          <p:cNvPr id="978" name="Rounded Rectangle 977"/>
          <p:cNvSpPr/>
          <p:nvPr/>
        </p:nvSpPr>
        <p:spPr>
          <a:xfrm>
            <a:off x="5870448" y="2139696"/>
            <a:ext cx="5468112" cy="3063240"/>
          </a:xfrm>
          <a:prstGeom prst="roundRect">
            <a:avLst/>
          </a:prstGeom>
          <a:solidFill>
            <a:srgbClr val="FFFFFF"/>
          </a:solidFill>
          <a:ln w="10795">
            <a:solidFill>
              <a:srgbClr val="D9DE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9" name="TextBox 978"/>
          <p:cNvSpPr txBox="1"/>
          <p:nvPr/>
        </p:nvSpPr>
        <p:spPr>
          <a:xfrm>
            <a:off x="6099048" y="2322576"/>
            <a:ext cx="1828800" cy="329184"/>
          </a:xfrm>
          <a:prstGeom prst="rect">
            <a:avLst/>
          </a:prstGeom>
          <a:noFill/>
        </p:spPr>
        <p:txBody>
          <a:bodyPr wrap="square" lIns="0" rIns="0" tIns="0" bIns="0" anchor="ctr">
            <a:spAutoFit/>
          </a:bodyPr>
          <a:lstStyle/>
          <a:p>
            <a:r>
              <a:rPr sz="1150" b="1">
                <a:solidFill>
                  <a:srgbClr val="2F6B78"/>
                </a:solidFill>
                <a:latin typeface="Consolas"/>
              </a:rPr>
              <a:t>SYSTEM</a:t>
            </a:r>
          </a:p>
        </p:txBody>
      </p:sp>
      <p:sp>
        <p:nvSpPr>
          <p:cNvPr id="980" name="TextBox 979"/>
          <p:cNvSpPr txBox="1"/>
          <p:nvPr/>
        </p:nvSpPr>
        <p:spPr>
          <a:xfrm>
            <a:off x="8156447" y="2322576"/>
            <a:ext cx="1051560" cy="329184"/>
          </a:xfrm>
          <a:prstGeom prst="rect">
            <a:avLst/>
          </a:prstGeom>
          <a:noFill/>
        </p:spPr>
        <p:txBody>
          <a:bodyPr wrap="square" lIns="0" rIns="0" tIns="0" bIns="0" anchor="ctr">
            <a:spAutoFit/>
          </a:bodyPr>
          <a:lstStyle/>
          <a:p>
            <a:pPr algn="ctr"/>
            <a:r>
              <a:rPr sz="1150" b="1">
                <a:solidFill>
                  <a:srgbClr val="2F6B78"/>
                </a:solidFill>
                <a:latin typeface="Consolas"/>
              </a:rPr>
              <a:t>CLASSES</a:t>
            </a:r>
          </a:p>
        </p:txBody>
      </p:sp>
      <p:sp>
        <p:nvSpPr>
          <p:cNvPr id="981" name="TextBox 980"/>
          <p:cNvSpPr txBox="1"/>
          <p:nvPr/>
        </p:nvSpPr>
        <p:spPr>
          <a:xfrm>
            <a:off x="9208008" y="2322576"/>
            <a:ext cx="1051560" cy="329184"/>
          </a:xfrm>
          <a:prstGeom prst="rect">
            <a:avLst/>
          </a:prstGeom>
          <a:noFill/>
        </p:spPr>
        <p:txBody>
          <a:bodyPr wrap="square" lIns="0" rIns="0" tIns="0" bIns="0" anchor="ctr">
            <a:spAutoFit/>
          </a:bodyPr>
          <a:lstStyle/>
          <a:p>
            <a:pPr algn="ctr"/>
            <a:r>
              <a:rPr sz="1150" b="1">
                <a:solidFill>
                  <a:srgbClr val="2F6B78"/>
                </a:solidFill>
                <a:latin typeface="Consolas"/>
              </a:rPr>
              <a:t>RELATIONS</a:t>
            </a:r>
          </a:p>
        </p:txBody>
      </p:sp>
      <p:sp>
        <p:nvSpPr>
          <p:cNvPr id="982" name="TextBox 981"/>
          <p:cNvSpPr txBox="1"/>
          <p:nvPr/>
        </p:nvSpPr>
        <p:spPr>
          <a:xfrm>
            <a:off x="10259567" y="2322576"/>
            <a:ext cx="1051560" cy="329184"/>
          </a:xfrm>
          <a:prstGeom prst="rect">
            <a:avLst/>
          </a:prstGeom>
          <a:noFill/>
        </p:spPr>
        <p:txBody>
          <a:bodyPr wrap="square" lIns="0" rIns="0" tIns="0" bIns="0" anchor="ctr">
            <a:spAutoFit/>
          </a:bodyPr>
          <a:lstStyle/>
          <a:p>
            <a:pPr algn="ctr"/>
            <a:r>
              <a:rPr sz="1150" b="1">
                <a:solidFill>
                  <a:srgbClr val="2F6B78"/>
                </a:solidFill>
                <a:latin typeface="Consolas"/>
              </a:rPr>
              <a:t>ATTRIBUTES</a:t>
            </a:r>
          </a:p>
        </p:txBody>
      </p:sp>
      <p:cxnSp>
        <p:nvCxnSpPr>
          <p:cNvPr id="983" name="Connector 982"/>
          <p:cNvCxnSpPr/>
          <p:nvPr/>
        </p:nvCxnSpPr>
        <p:spPr>
          <a:xfrm>
            <a:off x="6071616" y="2761488"/>
            <a:ext cx="5065776" cy="0"/>
          </a:xfrm>
          <a:prstGeom prst="line">
            <a:avLst/>
          </a:prstGeom>
          <a:ln w="13970">
            <a:solidFill>
              <a:srgbClr val="D9DEDB"/>
            </a:solidFill>
          </a:ln>
        </p:spPr>
        <p:style>
          <a:lnRef idx="2">
            <a:schemeClr val="accent1"/>
          </a:lnRef>
          <a:fillRef idx="0">
            <a:schemeClr val="accent1"/>
          </a:fillRef>
          <a:effectRef idx="1">
            <a:schemeClr val="accent1"/>
          </a:effectRef>
          <a:fontRef idx="minor">
            <a:schemeClr val="tx1"/>
          </a:fontRef>
        </p:style>
      </p:cxnSp>
      <p:sp>
        <p:nvSpPr>
          <p:cNvPr id="984" name="TextBox 983"/>
          <p:cNvSpPr txBox="1"/>
          <p:nvPr/>
        </p:nvSpPr>
        <p:spPr>
          <a:xfrm>
            <a:off x="6117336" y="2798064"/>
            <a:ext cx="2011680" cy="274320"/>
          </a:xfrm>
          <a:prstGeom prst="rect">
            <a:avLst/>
          </a:prstGeom>
          <a:noFill/>
        </p:spPr>
        <p:txBody>
          <a:bodyPr wrap="square" lIns="0" rIns="0" tIns="0" bIns="0" anchor="ctr">
            <a:spAutoFit/>
          </a:bodyPr>
          <a:lstStyle/>
          <a:p>
            <a:r>
              <a:rPr sz="1639" b="0">
                <a:solidFill>
                  <a:srgbClr val="3A434C"/>
                </a:solidFill>
                <a:latin typeface="Calibri"/>
              </a:rPr>
              <a:t>W3C-Mapper / Ontop</a:t>
            </a:r>
          </a:p>
        </p:txBody>
      </p:sp>
      <p:sp>
        <p:nvSpPr>
          <p:cNvPr id="985" name="TextBox 984"/>
          <p:cNvSpPr txBox="1"/>
          <p:nvPr/>
        </p:nvSpPr>
        <p:spPr>
          <a:xfrm>
            <a:off x="6117336" y="3054096"/>
            <a:ext cx="1828800" cy="201168"/>
          </a:xfrm>
          <a:prstGeom prst="rect">
            <a:avLst/>
          </a:prstGeom>
          <a:noFill/>
        </p:spPr>
        <p:txBody>
          <a:bodyPr wrap="square" lIns="0" rIns="0" tIns="0" bIns="0" anchor="ctr">
            <a:spAutoFit/>
          </a:bodyPr>
          <a:lstStyle/>
          <a:p>
            <a:r>
              <a:rPr sz="1130" b="0">
                <a:solidFill>
                  <a:srgbClr val="5B6770"/>
                </a:solidFill>
                <a:latin typeface="Calibri"/>
              </a:rPr>
              <a:t>rule-based</a:t>
            </a:r>
          </a:p>
        </p:txBody>
      </p:sp>
      <p:sp>
        <p:nvSpPr>
          <p:cNvPr id="986" name="TextBox 985"/>
          <p:cNvSpPr txBox="1"/>
          <p:nvPr/>
        </p:nvSpPr>
        <p:spPr>
          <a:xfrm>
            <a:off x="8202167" y="2857500"/>
            <a:ext cx="960120" cy="320040"/>
          </a:xfrm>
          <a:prstGeom prst="rect">
            <a:avLst/>
          </a:prstGeom>
          <a:noFill/>
        </p:spPr>
        <p:txBody>
          <a:bodyPr wrap="square" lIns="0" rIns="0" tIns="0" bIns="0" anchor="ctr">
            <a:spAutoFit/>
          </a:bodyPr>
          <a:lstStyle/>
          <a:p>
            <a:pPr algn="ctr"/>
            <a:r>
              <a:rPr sz="1839" b="0">
                <a:solidFill>
                  <a:srgbClr val="3A434C"/>
                </a:solidFill>
                <a:latin typeface="Calibri"/>
              </a:rPr>
              <a:t>0.53</a:t>
            </a:r>
          </a:p>
        </p:txBody>
      </p:sp>
      <p:sp>
        <p:nvSpPr>
          <p:cNvPr id="987" name="TextBox 986"/>
          <p:cNvSpPr txBox="1"/>
          <p:nvPr/>
        </p:nvSpPr>
        <p:spPr>
          <a:xfrm>
            <a:off x="9253728" y="2857500"/>
            <a:ext cx="960120" cy="320040"/>
          </a:xfrm>
          <a:prstGeom prst="rect">
            <a:avLst/>
          </a:prstGeom>
          <a:noFill/>
        </p:spPr>
        <p:txBody>
          <a:bodyPr wrap="square" lIns="0" rIns="0" tIns="0" bIns="0" anchor="ctr">
            <a:spAutoFit/>
          </a:bodyPr>
          <a:lstStyle/>
          <a:p>
            <a:pPr algn="ctr"/>
            <a:r>
              <a:rPr sz="1839" b="0">
                <a:solidFill>
                  <a:srgbClr val="3A434C"/>
                </a:solidFill>
                <a:latin typeface="Calibri"/>
              </a:rPr>
              <a:t>0.11</a:t>
            </a:r>
          </a:p>
        </p:txBody>
      </p:sp>
      <p:sp>
        <p:nvSpPr>
          <p:cNvPr id="988" name="TextBox 987"/>
          <p:cNvSpPr txBox="1"/>
          <p:nvPr/>
        </p:nvSpPr>
        <p:spPr>
          <a:xfrm>
            <a:off x="10305288" y="2857500"/>
            <a:ext cx="960120" cy="320040"/>
          </a:xfrm>
          <a:prstGeom prst="rect">
            <a:avLst/>
          </a:prstGeom>
          <a:noFill/>
        </p:spPr>
        <p:txBody>
          <a:bodyPr wrap="square" lIns="0" rIns="0" tIns="0" bIns="0" anchor="ctr">
            <a:spAutoFit/>
          </a:bodyPr>
          <a:lstStyle/>
          <a:p>
            <a:pPr algn="ctr"/>
            <a:r>
              <a:rPr sz="1839" b="0">
                <a:solidFill>
                  <a:srgbClr val="3A434C"/>
                </a:solidFill>
                <a:latin typeface="Calibri"/>
              </a:rPr>
              <a:t>0.39</a:t>
            </a:r>
          </a:p>
        </p:txBody>
      </p:sp>
      <p:sp>
        <p:nvSpPr>
          <p:cNvPr id="989" name="TextBox 988"/>
          <p:cNvSpPr txBox="1"/>
          <p:nvPr/>
        </p:nvSpPr>
        <p:spPr>
          <a:xfrm>
            <a:off x="6117336" y="3355848"/>
            <a:ext cx="2011680" cy="274320"/>
          </a:xfrm>
          <a:prstGeom prst="rect">
            <a:avLst/>
          </a:prstGeom>
          <a:noFill/>
        </p:spPr>
        <p:txBody>
          <a:bodyPr wrap="square" lIns="0" rIns="0" tIns="0" bIns="0" anchor="ctr">
            <a:spAutoFit/>
          </a:bodyPr>
          <a:lstStyle/>
          <a:p>
            <a:r>
              <a:rPr sz="1639" b="0">
                <a:solidFill>
                  <a:srgbClr val="3A434C"/>
                </a:solidFill>
                <a:latin typeface="Calibri"/>
              </a:rPr>
              <a:t>RDB2Onto</a:t>
            </a:r>
          </a:p>
        </p:txBody>
      </p:sp>
      <p:sp>
        <p:nvSpPr>
          <p:cNvPr id="990" name="TextBox 989"/>
          <p:cNvSpPr txBox="1"/>
          <p:nvPr/>
        </p:nvSpPr>
        <p:spPr>
          <a:xfrm>
            <a:off x="6117336" y="3611880"/>
            <a:ext cx="1828800" cy="201168"/>
          </a:xfrm>
          <a:prstGeom prst="rect">
            <a:avLst/>
          </a:prstGeom>
          <a:noFill/>
        </p:spPr>
        <p:txBody>
          <a:bodyPr wrap="square" lIns="0" rIns="0" tIns="0" bIns="0" anchor="ctr">
            <a:spAutoFit/>
          </a:bodyPr>
          <a:lstStyle/>
          <a:p>
            <a:r>
              <a:rPr sz="1130" b="0">
                <a:solidFill>
                  <a:srgbClr val="5B6770"/>
                </a:solidFill>
                <a:latin typeface="Calibri"/>
              </a:rPr>
              <a:t>rule-based</a:t>
            </a:r>
          </a:p>
        </p:txBody>
      </p:sp>
      <p:sp>
        <p:nvSpPr>
          <p:cNvPr id="991" name="TextBox 990"/>
          <p:cNvSpPr txBox="1"/>
          <p:nvPr/>
        </p:nvSpPr>
        <p:spPr>
          <a:xfrm>
            <a:off x="8202167" y="3415284"/>
            <a:ext cx="960120" cy="320040"/>
          </a:xfrm>
          <a:prstGeom prst="rect">
            <a:avLst/>
          </a:prstGeom>
          <a:noFill/>
        </p:spPr>
        <p:txBody>
          <a:bodyPr wrap="square" lIns="0" rIns="0" tIns="0" bIns="0" anchor="ctr">
            <a:spAutoFit/>
          </a:bodyPr>
          <a:lstStyle/>
          <a:p>
            <a:pPr algn="ctr"/>
            <a:r>
              <a:rPr sz="1839" b="0">
                <a:solidFill>
                  <a:srgbClr val="3A434C"/>
                </a:solidFill>
                <a:latin typeface="Calibri"/>
              </a:rPr>
              <a:t>0.67</a:t>
            </a:r>
          </a:p>
        </p:txBody>
      </p:sp>
      <p:sp>
        <p:nvSpPr>
          <p:cNvPr id="992" name="TextBox 991"/>
          <p:cNvSpPr txBox="1"/>
          <p:nvPr/>
        </p:nvSpPr>
        <p:spPr>
          <a:xfrm>
            <a:off x="9253728" y="3415284"/>
            <a:ext cx="960120" cy="320040"/>
          </a:xfrm>
          <a:prstGeom prst="rect">
            <a:avLst/>
          </a:prstGeom>
          <a:noFill/>
        </p:spPr>
        <p:txBody>
          <a:bodyPr wrap="square" lIns="0" rIns="0" tIns="0" bIns="0" anchor="ctr">
            <a:spAutoFit/>
          </a:bodyPr>
          <a:lstStyle/>
          <a:p>
            <a:pPr algn="ctr"/>
            <a:r>
              <a:rPr sz="1839" b="0">
                <a:solidFill>
                  <a:srgbClr val="3A434C"/>
                </a:solidFill>
                <a:latin typeface="Calibri"/>
              </a:rPr>
              <a:t>0.62</a:t>
            </a:r>
          </a:p>
        </p:txBody>
      </p:sp>
      <p:sp>
        <p:nvSpPr>
          <p:cNvPr id="993" name="TextBox 992"/>
          <p:cNvSpPr txBox="1"/>
          <p:nvPr/>
        </p:nvSpPr>
        <p:spPr>
          <a:xfrm>
            <a:off x="10305288" y="3415284"/>
            <a:ext cx="960120" cy="320040"/>
          </a:xfrm>
          <a:prstGeom prst="rect">
            <a:avLst/>
          </a:prstGeom>
          <a:noFill/>
        </p:spPr>
        <p:txBody>
          <a:bodyPr wrap="square" lIns="0" rIns="0" tIns="0" bIns="0" anchor="ctr">
            <a:spAutoFit/>
          </a:bodyPr>
          <a:lstStyle/>
          <a:p>
            <a:pPr algn="ctr"/>
            <a:r>
              <a:rPr sz="1839" b="0">
                <a:solidFill>
                  <a:srgbClr val="3A434C"/>
                </a:solidFill>
                <a:latin typeface="Calibri"/>
              </a:rPr>
              <a:t>0.44</a:t>
            </a:r>
          </a:p>
        </p:txBody>
      </p:sp>
      <p:sp>
        <p:nvSpPr>
          <p:cNvPr id="994" name="TextBox 993"/>
          <p:cNvSpPr txBox="1"/>
          <p:nvPr/>
        </p:nvSpPr>
        <p:spPr>
          <a:xfrm>
            <a:off x="6117336" y="3913632"/>
            <a:ext cx="2011680" cy="274320"/>
          </a:xfrm>
          <a:prstGeom prst="rect">
            <a:avLst/>
          </a:prstGeom>
          <a:noFill/>
        </p:spPr>
        <p:txBody>
          <a:bodyPr wrap="square" lIns="0" rIns="0" tIns="0" bIns="0" anchor="ctr">
            <a:spAutoFit/>
          </a:bodyPr>
          <a:lstStyle/>
          <a:p>
            <a:r>
              <a:rPr sz="1639" b="0">
                <a:solidFill>
                  <a:srgbClr val="3A434C"/>
                </a:solidFill>
                <a:latin typeface="Calibri"/>
              </a:rPr>
              <a:t>OntoGenix</a:t>
            </a:r>
          </a:p>
        </p:txBody>
      </p:sp>
      <p:sp>
        <p:nvSpPr>
          <p:cNvPr id="995" name="TextBox 994"/>
          <p:cNvSpPr txBox="1"/>
          <p:nvPr/>
        </p:nvSpPr>
        <p:spPr>
          <a:xfrm>
            <a:off x="6117336" y="4169664"/>
            <a:ext cx="1828800" cy="201168"/>
          </a:xfrm>
          <a:prstGeom prst="rect">
            <a:avLst/>
          </a:prstGeom>
          <a:noFill/>
        </p:spPr>
        <p:txBody>
          <a:bodyPr wrap="square" lIns="0" rIns="0" tIns="0" bIns="0" anchor="ctr">
            <a:spAutoFit/>
          </a:bodyPr>
          <a:lstStyle/>
          <a:p>
            <a:r>
              <a:rPr sz="1130" b="0">
                <a:solidFill>
                  <a:srgbClr val="5B6770"/>
                </a:solidFill>
                <a:latin typeface="Calibri"/>
              </a:rPr>
              <a:t>LLM-based</a:t>
            </a:r>
          </a:p>
        </p:txBody>
      </p:sp>
      <p:sp>
        <p:nvSpPr>
          <p:cNvPr id="996" name="TextBox 995"/>
          <p:cNvSpPr txBox="1"/>
          <p:nvPr/>
        </p:nvSpPr>
        <p:spPr>
          <a:xfrm>
            <a:off x="8202167" y="3973068"/>
            <a:ext cx="960120" cy="320040"/>
          </a:xfrm>
          <a:prstGeom prst="rect">
            <a:avLst/>
          </a:prstGeom>
          <a:noFill/>
        </p:spPr>
        <p:txBody>
          <a:bodyPr wrap="square" lIns="0" rIns="0" tIns="0" bIns="0" anchor="ctr">
            <a:spAutoFit/>
          </a:bodyPr>
          <a:lstStyle/>
          <a:p>
            <a:pPr algn="ctr"/>
            <a:r>
              <a:rPr sz="1839" b="0">
                <a:solidFill>
                  <a:srgbClr val="3A434C"/>
                </a:solidFill>
                <a:latin typeface="Calibri"/>
              </a:rPr>
              <a:t>0.58</a:t>
            </a:r>
          </a:p>
        </p:txBody>
      </p:sp>
      <p:sp>
        <p:nvSpPr>
          <p:cNvPr id="997" name="TextBox 996"/>
          <p:cNvSpPr txBox="1"/>
          <p:nvPr/>
        </p:nvSpPr>
        <p:spPr>
          <a:xfrm>
            <a:off x="9253728" y="3973068"/>
            <a:ext cx="960120" cy="320040"/>
          </a:xfrm>
          <a:prstGeom prst="rect">
            <a:avLst/>
          </a:prstGeom>
          <a:noFill/>
        </p:spPr>
        <p:txBody>
          <a:bodyPr wrap="square" lIns="0" rIns="0" tIns="0" bIns="0" anchor="ctr">
            <a:spAutoFit/>
          </a:bodyPr>
          <a:lstStyle/>
          <a:p>
            <a:pPr algn="ctr"/>
            <a:r>
              <a:rPr sz="1839" b="0">
                <a:solidFill>
                  <a:srgbClr val="3A434C"/>
                </a:solidFill>
                <a:latin typeface="Calibri"/>
              </a:rPr>
              <a:t>0.35</a:t>
            </a:r>
          </a:p>
        </p:txBody>
      </p:sp>
      <p:sp>
        <p:nvSpPr>
          <p:cNvPr id="998" name="TextBox 997"/>
          <p:cNvSpPr txBox="1"/>
          <p:nvPr/>
        </p:nvSpPr>
        <p:spPr>
          <a:xfrm>
            <a:off x="10305288" y="3973068"/>
            <a:ext cx="960120" cy="320040"/>
          </a:xfrm>
          <a:prstGeom prst="rect">
            <a:avLst/>
          </a:prstGeom>
          <a:noFill/>
        </p:spPr>
        <p:txBody>
          <a:bodyPr wrap="square" lIns="0" rIns="0" tIns="0" bIns="0" anchor="ctr">
            <a:spAutoFit/>
          </a:bodyPr>
          <a:lstStyle/>
          <a:p>
            <a:pPr algn="ctr"/>
            <a:r>
              <a:rPr sz="1839" b="0">
                <a:solidFill>
                  <a:srgbClr val="3A434C"/>
                </a:solidFill>
                <a:latin typeface="Calibri"/>
              </a:rPr>
              <a:t>0.44</a:t>
            </a:r>
          </a:p>
        </p:txBody>
      </p:sp>
      <p:sp>
        <p:nvSpPr>
          <p:cNvPr id="999" name="Rectangle 998"/>
          <p:cNvSpPr/>
          <p:nvPr/>
        </p:nvSpPr>
        <p:spPr>
          <a:xfrm>
            <a:off x="5980176" y="4507992"/>
            <a:ext cx="5248656" cy="512064"/>
          </a:xfrm>
          <a:prstGeom prst="rect">
            <a:avLst/>
          </a:prstGeom>
          <a:solidFill>
            <a:srgbClr val="E9EEEB"/>
          </a:solidFill>
          <a:ln w="9525">
            <a:solidFill>
              <a:srgbClr val="3A7D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0" name="TextBox 999"/>
          <p:cNvSpPr txBox="1"/>
          <p:nvPr/>
        </p:nvSpPr>
        <p:spPr>
          <a:xfrm>
            <a:off x="6117336" y="4471416"/>
            <a:ext cx="2011680" cy="274320"/>
          </a:xfrm>
          <a:prstGeom prst="rect">
            <a:avLst/>
          </a:prstGeom>
          <a:noFill/>
        </p:spPr>
        <p:txBody>
          <a:bodyPr wrap="square" lIns="0" rIns="0" tIns="0" bIns="0" anchor="ctr">
            <a:spAutoFit/>
          </a:bodyPr>
          <a:lstStyle/>
          <a:p>
            <a:r>
              <a:rPr sz="1800" b="1">
                <a:solidFill>
                  <a:srgbClr val="1F2328"/>
                </a:solidFill>
                <a:latin typeface="Calibri"/>
              </a:rPr>
              <a:t>RIGOR</a:t>
            </a:r>
          </a:p>
        </p:txBody>
      </p:sp>
      <p:sp>
        <p:nvSpPr>
          <p:cNvPr id="1001" name="TextBox 1000"/>
          <p:cNvSpPr txBox="1"/>
          <p:nvPr/>
        </p:nvSpPr>
        <p:spPr>
          <a:xfrm>
            <a:off x="6117336" y="4727448"/>
            <a:ext cx="1828800" cy="201168"/>
          </a:xfrm>
          <a:prstGeom prst="rect">
            <a:avLst/>
          </a:prstGeom>
          <a:noFill/>
        </p:spPr>
        <p:txBody>
          <a:bodyPr wrap="square" lIns="0" rIns="0" tIns="0" bIns="0" anchor="ctr">
            <a:spAutoFit/>
          </a:bodyPr>
          <a:lstStyle/>
          <a:p>
            <a:r>
              <a:rPr sz="1130" b="0">
                <a:solidFill>
                  <a:srgbClr val="2F6B78"/>
                </a:solidFill>
                <a:latin typeface="Calibri"/>
              </a:rPr>
              <a:t>LLM + rules</a:t>
            </a:r>
          </a:p>
        </p:txBody>
      </p:sp>
      <p:sp>
        <p:nvSpPr>
          <p:cNvPr id="1002" name="TextBox 1001"/>
          <p:cNvSpPr txBox="1"/>
          <p:nvPr/>
        </p:nvSpPr>
        <p:spPr>
          <a:xfrm>
            <a:off x="8202167" y="4530852"/>
            <a:ext cx="960120" cy="320040"/>
          </a:xfrm>
          <a:prstGeom prst="rect">
            <a:avLst/>
          </a:prstGeom>
          <a:noFill/>
        </p:spPr>
        <p:txBody>
          <a:bodyPr wrap="square" lIns="0" rIns="0" tIns="0" bIns="0" anchor="ctr">
            <a:spAutoFit/>
          </a:bodyPr>
          <a:lstStyle/>
          <a:p>
            <a:pPr algn="ctr"/>
            <a:r>
              <a:rPr sz="2000" b="1">
                <a:solidFill>
                  <a:srgbClr val="1F2328"/>
                </a:solidFill>
                <a:latin typeface="Calibri"/>
              </a:rPr>
              <a:t>0.73</a:t>
            </a:r>
          </a:p>
        </p:txBody>
      </p:sp>
      <p:sp>
        <p:nvSpPr>
          <p:cNvPr id="1003" name="TextBox 1002"/>
          <p:cNvSpPr txBox="1"/>
          <p:nvPr/>
        </p:nvSpPr>
        <p:spPr>
          <a:xfrm>
            <a:off x="9253728" y="4530852"/>
            <a:ext cx="960120" cy="320040"/>
          </a:xfrm>
          <a:prstGeom prst="rect">
            <a:avLst/>
          </a:prstGeom>
          <a:noFill/>
        </p:spPr>
        <p:txBody>
          <a:bodyPr wrap="square" lIns="0" rIns="0" tIns="0" bIns="0" anchor="ctr">
            <a:spAutoFit/>
          </a:bodyPr>
          <a:lstStyle/>
          <a:p>
            <a:pPr algn="ctr"/>
            <a:r>
              <a:rPr sz="2000" b="1">
                <a:solidFill>
                  <a:srgbClr val="1F2328"/>
                </a:solidFill>
                <a:latin typeface="Calibri"/>
              </a:rPr>
              <a:t>0.67</a:t>
            </a:r>
          </a:p>
        </p:txBody>
      </p:sp>
      <p:sp>
        <p:nvSpPr>
          <p:cNvPr id="1004" name="TextBox 1003"/>
          <p:cNvSpPr txBox="1"/>
          <p:nvPr/>
        </p:nvSpPr>
        <p:spPr>
          <a:xfrm>
            <a:off x="10305288" y="4530852"/>
            <a:ext cx="960120" cy="320040"/>
          </a:xfrm>
          <a:prstGeom prst="rect">
            <a:avLst/>
          </a:prstGeom>
          <a:noFill/>
        </p:spPr>
        <p:txBody>
          <a:bodyPr wrap="square" lIns="0" rIns="0" tIns="0" bIns="0" anchor="ctr">
            <a:spAutoFit/>
          </a:bodyPr>
          <a:lstStyle/>
          <a:p>
            <a:pPr algn="ctr"/>
            <a:r>
              <a:rPr sz="2000" b="1">
                <a:solidFill>
                  <a:srgbClr val="1F2328"/>
                </a:solidFill>
                <a:latin typeface="Calibri"/>
              </a:rPr>
              <a:t>0.52</a:t>
            </a:r>
          </a:p>
        </p:txBody>
      </p:sp>
      <p:sp>
        <p:nvSpPr>
          <p:cNvPr id="1007" name="BURR card"/>
          <p:cNvSpPr/>
          <p:nvPr/>
        </p:nvSpPr>
        <p:spPr>
          <a:xfrm>
            <a:off x="841248" y="2139696"/>
            <a:ext cx="4846320" cy="3063240"/>
          </a:xfrm>
          <a:prstGeom prst="roundRect">
            <a:avLst>
              <a:gd name="adj" fmla="val 12000"/>
            </a:avLst>
          </a:prstGeom>
          <a:solidFill>
            <a:srgbClr val="F3F5F4"/>
          </a:solidFill>
          <a:ln w="9525">
            <a:solidFill>
              <a:srgbClr val="D9DEDB"/>
            </a:solidFill>
          </a:ln>
        </p:spPr>
        <p:txBody>
          <a:bodyPr wrap="square" lIns="0" tIns="0" rIns="0" bIns="0" anchor="t">
            <a:noAutofit/>
          </a:bodyPr>
          <a:lstStyle/>
          <a:p>
            <a:pPr algn="l"/>
          </a:p>
        </p:txBody>
      </p:sp>
      <p:sp>
        <p:nvSpPr>
          <p:cNvPr id="1008" name="BURR card label"/>
          <p:cNvSpPr txBox="1"/>
          <p:nvPr/>
        </p:nvSpPr>
        <p:spPr>
          <a:xfrm>
            <a:off x="1069848" y="2322576"/>
            <a:ext cx="4389120" cy="274320"/>
          </a:xfrm>
          <a:prstGeom prst="rect">
            <a:avLst/>
          </a:prstGeom>
          <a:noFill/>
          <a:ln>
            <a:noFill/>
          </a:ln>
        </p:spPr>
        <p:txBody>
          <a:bodyPr wrap="square" lIns="0" tIns="0" rIns="0" bIns="0" anchor="t">
            <a:noAutofit/>
          </a:bodyPr>
          <a:lstStyle/>
          <a:p>
            <a:pPr algn="l"/>
            <a:r>
              <a:rPr lang="en-US" sz="1300" b="1" dirty="0">
                <a:solidFill>
                  <a:srgbClr val="2F6B78"/>
                </a:solidFill>
                <a:latin typeface="Consolas"/>
                <a:cs typeface="Consolas"/>
              </a:rPr>
              <a:t xml:space="preserve">WHAT BURR CHECKS</a:t>
            </a:r>
          </a:p>
        </p:txBody>
      </p:sp>
      <p:sp>
        <p:nvSpPr>
          <p:cNvPr id="1009" name="BURR card lead"/>
          <p:cNvSpPr txBox="1"/>
          <p:nvPr/>
        </p:nvSpPr>
        <p:spPr>
          <a:xfrm>
            <a:off x="1069848" y="2651760"/>
            <a:ext cx="4389120" cy="310896"/>
          </a:xfrm>
          <a:prstGeom prst="rect">
            <a:avLst/>
          </a:prstGeom>
          <a:noFill/>
          <a:ln>
            <a:noFill/>
          </a:ln>
        </p:spPr>
        <p:txBody>
          <a:bodyPr wrap="square" lIns="0" tIns="0" rIns="0" bIns="0" anchor="t">
            <a:noAutofit/>
          </a:bodyPr>
          <a:lstStyle/>
          <a:p>
            <a:pPr algn="l"/>
            <a:r>
              <a:rPr lang="en-US" sz="1500" b="0" dirty="0">
                <a:solidFill>
                  <a:srgbClr val="1F2328"/>
                </a:solidFill>
                <a:latin typeface="Calibri"/>
                <a:cs typeface="Calibri"/>
              </a:rPr>
              <a:t xml:space="preserve">Every ontology element must map back to the database.</a:t>
            </a:r>
          </a:p>
        </p:txBody>
      </p:sp>
      <p:sp>
        <p:nvSpPr>
          <p:cNvPr id="1010" name="BURR kind 0"/>
          <p:cNvSpPr txBox="1"/>
          <p:nvPr/>
        </p:nvSpPr>
        <p:spPr>
          <a:xfrm>
            <a:off x="1069848" y="3090672"/>
            <a:ext cx="1005840" cy="329184"/>
          </a:xfrm>
          <a:prstGeom prst="rect">
            <a:avLst/>
          </a:prstGeom>
          <a:noFill/>
          <a:ln>
            <a:noFill/>
          </a:ln>
        </p:spPr>
        <p:txBody>
          <a:bodyPr wrap="square" lIns="0" tIns="0" rIns="0" bIns="0" anchor="ctr">
            <a:noAutofit/>
          </a:bodyPr>
          <a:lstStyle/>
          <a:p>
            <a:pPr algn="l"/>
            <a:r>
              <a:rPr lang="en-US" sz="1050" b="1" dirty="0">
                <a:solidFill>
                  <a:srgbClr val="2F6B78"/>
                </a:solidFill>
                <a:latin typeface="Consolas"/>
                <a:cs typeface="Consolas"/>
              </a:rPr>
              <a:t xml:space="preserve">CLASSES</a:t>
            </a:r>
          </a:p>
        </p:txBody>
      </p:sp>
      <p:sp>
        <p:nvSpPr>
          <p:cNvPr id="1011" name="BURR db 0" descr="database element"/>
          <p:cNvSpPr/>
          <p:nvPr/>
        </p:nvSpPr>
        <p:spPr>
          <a:xfrm>
            <a:off x="2075688" y="3090672"/>
            <a:ext cx="1298448" cy="329184"/>
          </a:xfrm>
          <a:prstGeom prst="roundRect">
            <a:avLst>
              <a:gd name="adj" fmla="val 12000"/>
            </a:avLst>
          </a:prstGeom>
          <a:solidFill>
            <a:srgbClr val="FFFFFF"/>
          </a:solidFill>
          <a:ln w="9525">
            <a:solidFill>
              <a:srgbClr val="D0D7DE"/>
            </a:solidFill>
          </a:ln>
        </p:spPr>
        <p:txBody>
          <a:bodyPr wrap="square" lIns="73152" tIns="0" rIns="73152" bIns="0" anchor="ctr">
            <a:noAutofit/>
          </a:bodyPr>
          <a:lstStyle/>
          <a:p>
            <a:pPr algn="l"/>
            <a:r>
              <a:rPr lang="en-US" sz="1050" b="0" dirty="0">
                <a:solidFill>
                  <a:srgbClr val="1F2328"/>
                </a:solidFill>
                <a:latin typeface="Consolas"/>
                <a:cs typeface="Consolas"/>
              </a:rPr>
              <a:t xml:space="preserve">person</a:t>
            </a:r>
          </a:p>
        </p:txBody>
      </p:sp>
      <p:sp>
        <p:nvSpPr>
          <p:cNvPr id="1012" name="BURR arrow 0"/>
          <p:cNvSpPr txBox="1"/>
          <p:nvPr/>
        </p:nvSpPr>
        <p:spPr>
          <a:xfrm>
            <a:off x="3392424" y="3090672"/>
            <a:ext cx="237744" cy="329184"/>
          </a:xfrm>
          <a:prstGeom prst="rect">
            <a:avLst/>
          </a:prstGeom>
          <a:noFill/>
          <a:ln>
            <a:noFill/>
          </a:ln>
        </p:spPr>
        <p:txBody>
          <a:bodyPr wrap="square" lIns="0" tIns="0" rIns="0" bIns="0" anchor="ctr">
            <a:noAutofit/>
          </a:bodyPr>
          <a:lstStyle/>
          <a:p>
            <a:pPr algn="ctr"/>
            <a:r>
              <a:rPr lang="en-US" sz="1400" b="0" dirty="0">
                <a:solidFill>
                  <a:srgbClr val="5B6770"/>
                </a:solidFill>
                <a:latin typeface="Calibri"/>
                <a:cs typeface="Calibri"/>
              </a:rPr>
              <a:t xml:space="preserve">→</a:t>
            </a:r>
          </a:p>
        </p:txBody>
      </p:sp>
      <p:sp>
        <p:nvSpPr>
          <p:cNvPr id="1013" name="BURR onto 0" descr="ontology element"/>
          <p:cNvSpPr/>
          <p:nvPr/>
        </p:nvSpPr>
        <p:spPr>
          <a:xfrm>
            <a:off x="3648456" y="3090672"/>
            <a:ext cx="1856231" cy="329184"/>
          </a:xfrm>
          <a:prstGeom prst="roundRect">
            <a:avLst>
              <a:gd name="adj" fmla="val 12000"/>
            </a:avLst>
          </a:prstGeom>
          <a:solidFill>
            <a:srgbClr val="FFFFFF"/>
          </a:solidFill>
          <a:ln w="9525">
            <a:solidFill>
              <a:srgbClr val="D0D7DE"/>
            </a:solidFill>
          </a:ln>
        </p:spPr>
        <p:txBody>
          <a:bodyPr wrap="square" lIns="73152" tIns="0" rIns="73152" bIns="0" anchor="ctr">
            <a:noAutofit/>
          </a:bodyPr>
          <a:lstStyle/>
          <a:p>
            <a:pPr algn="l"/>
            <a:r>
              <a:rPr lang="en-US" sz="1050" b="1" dirty="0">
                <a:solidFill>
                  <a:srgbClr val="0B6E4F"/>
                </a:solidFill>
                <a:latin typeface="Consolas"/>
                <a:cs typeface="Consolas"/>
              </a:rPr>
              <a:t xml:space="preserve">Class: </a:t>
            </a:r>
            <a:r>
              <a:rPr lang="en-US" sz="1050" b="0" dirty="0">
                <a:solidFill>
                  <a:srgbClr val="1F2328"/>
                </a:solidFill>
                <a:latin typeface="Consolas"/>
                <a:cs typeface="Consolas"/>
              </a:rPr>
              <a:t xml:space="preserve">Person</a:t>
            </a:r>
          </a:p>
        </p:txBody>
      </p:sp>
      <p:sp>
        <p:nvSpPr>
          <p:cNvPr id="1014" name="BURR kind 1"/>
          <p:cNvSpPr txBox="1"/>
          <p:nvPr/>
        </p:nvSpPr>
        <p:spPr>
          <a:xfrm>
            <a:off x="1069848" y="3511296"/>
            <a:ext cx="1005840" cy="329184"/>
          </a:xfrm>
          <a:prstGeom prst="rect">
            <a:avLst/>
          </a:prstGeom>
          <a:noFill/>
          <a:ln>
            <a:noFill/>
          </a:ln>
        </p:spPr>
        <p:txBody>
          <a:bodyPr wrap="square" lIns="0" tIns="0" rIns="0" bIns="0" anchor="ctr">
            <a:noAutofit/>
          </a:bodyPr>
          <a:lstStyle/>
          <a:p>
            <a:pPr algn="l"/>
            <a:r>
              <a:rPr lang="en-US" sz="1050" b="1" dirty="0">
                <a:solidFill>
                  <a:srgbClr val="2F6B78"/>
                </a:solidFill>
                <a:latin typeface="Consolas"/>
                <a:cs typeface="Consolas"/>
              </a:rPr>
              <a:t xml:space="preserve">RELATIONS</a:t>
            </a:r>
          </a:p>
        </p:txBody>
      </p:sp>
      <p:sp>
        <p:nvSpPr>
          <p:cNvPr id="1015" name="BURR db 1" descr="database element"/>
          <p:cNvSpPr/>
          <p:nvPr/>
        </p:nvSpPr>
        <p:spPr>
          <a:xfrm>
            <a:off x="2075688" y="3511296"/>
            <a:ext cx="1298448" cy="329184"/>
          </a:xfrm>
          <a:prstGeom prst="roundRect">
            <a:avLst>
              <a:gd name="adj" fmla="val 12000"/>
            </a:avLst>
          </a:prstGeom>
          <a:solidFill>
            <a:srgbClr val="FFFFFF"/>
          </a:solidFill>
          <a:ln w="9525">
            <a:solidFill>
              <a:srgbClr val="D0D7DE"/>
            </a:solidFill>
          </a:ln>
        </p:spPr>
        <p:txBody>
          <a:bodyPr wrap="square" lIns="73152" tIns="0" rIns="73152" bIns="0" anchor="ctr">
            <a:noAutofit/>
          </a:bodyPr>
          <a:lstStyle/>
          <a:p>
            <a:pPr algn="l"/>
            <a:r>
              <a:rPr lang="en-US" sz="1050" b="0" dirty="0">
                <a:solidFill>
                  <a:srgbClr val="1F2328"/>
                </a:solidFill>
                <a:latin typeface="Consolas"/>
                <a:cs typeface="Consolas"/>
              </a:rPr>
              <a:t xml:space="preserve">paper.author_id</a:t>
            </a:r>
          </a:p>
        </p:txBody>
      </p:sp>
      <p:sp>
        <p:nvSpPr>
          <p:cNvPr id="1016" name="BURR arrow 1"/>
          <p:cNvSpPr txBox="1"/>
          <p:nvPr/>
        </p:nvSpPr>
        <p:spPr>
          <a:xfrm>
            <a:off x="3392424" y="3511296"/>
            <a:ext cx="237744" cy="329184"/>
          </a:xfrm>
          <a:prstGeom prst="rect">
            <a:avLst/>
          </a:prstGeom>
          <a:noFill/>
          <a:ln>
            <a:noFill/>
          </a:ln>
        </p:spPr>
        <p:txBody>
          <a:bodyPr wrap="square" lIns="0" tIns="0" rIns="0" bIns="0" anchor="ctr">
            <a:noAutofit/>
          </a:bodyPr>
          <a:lstStyle/>
          <a:p>
            <a:pPr algn="ctr"/>
            <a:r>
              <a:rPr lang="en-US" sz="1400" b="0" dirty="0">
                <a:solidFill>
                  <a:srgbClr val="5B6770"/>
                </a:solidFill>
                <a:latin typeface="Calibri"/>
                <a:cs typeface="Calibri"/>
              </a:rPr>
              <a:t xml:space="preserve">→</a:t>
            </a:r>
          </a:p>
        </p:txBody>
      </p:sp>
      <p:sp>
        <p:nvSpPr>
          <p:cNvPr id="1017" name="BURR onto 1" descr="ontology element"/>
          <p:cNvSpPr/>
          <p:nvPr/>
        </p:nvSpPr>
        <p:spPr>
          <a:xfrm>
            <a:off x="3648456" y="3511296"/>
            <a:ext cx="1856231" cy="329184"/>
          </a:xfrm>
          <a:prstGeom prst="roundRect">
            <a:avLst>
              <a:gd name="adj" fmla="val 12000"/>
            </a:avLst>
          </a:prstGeom>
          <a:solidFill>
            <a:srgbClr val="FFFFFF"/>
          </a:solidFill>
          <a:ln w="9525">
            <a:solidFill>
              <a:srgbClr val="D0D7DE"/>
            </a:solidFill>
          </a:ln>
        </p:spPr>
        <p:txBody>
          <a:bodyPr wrap="square" lIns="73152" tIns="0" rIns="73152" bIns="0" anchor="ctr">
            <a:noAutofit/>
          </a:bodyPr>
          <a:lstStyle/>
          <a:p>
            <a:pPr algn="l"/>
            <a:r>
              <a:rPr lang="en-US" sz="1050" b="1" dirty="0">
                <a:solidFill>
                  <a:srgbClr val="0B6E4F"/>
                </a:solidFill>
                <a:latin typeface="Consolas"/>
                <a:cs typeface="Consolas"/>
              </a:rPr>
              <a:t xml:space="preserve">ObjectProperty: </a:t>
            </a:r>
            <a:r>
              <a:rPr lang="en-US" sz="1050" b="0" dirty="0">
                <a:solidFill>
                  <a:srgbClr val="1F2328"/>
                </a:solidFill>
                <a:latin typeface="Consolas"/>
                <a:cs typeface="Consolas"/>
              </a:rPr>
              <a:t xml:space="preserve">author</a:t>
            </a:r>
          </a:p>
        </p:txBody>
      </p:sp>
      <p:sp>
        <p:nvSpPr>
          <p:cNvPr id="1018" name="BURR kind 2"/>
          <p:cNvSpPr txBox="1"/>
          <p:nvPr/>
        </p:nvSpPr>
        <p:spPr>
          <a:xfrm>
            <a:off x="1069848" y="3931920"/>
            <a:ext cx="1005840" cy="329184"/>
          </a:xfrm>
          <a:prstGeom prst="rect">
            <a:avLst/>
          </a:prstGeom>
          <a:noFill/>
          <a:ln>
            <a:noFill/>
          </a:ln>
        </p:spPr>
        <p:txBody>
          <a:bodyPr wrap="square" lIns="0" tIns="0" rIns="0" bIns="0" anchor="ctr">
            <a:noAutofit/>
          </a:bodyPr>
          <a:lstStyle/>
          <a:p>
            <a:pPr algn="l"/>
            <a:r>
              <a:rPr lang="en-US" sz="1050" b="1" dirty="0">
                <a:solidFill>
                  <a:srgbClr val="2F6B78"/>
                </a:solidFill>
                <a:latin typeface="Consolas"/>
                <a:cs typeface="Consolas"/>
              </a:rPr>
              <a:t xml:space="preserve">ATTRIBUTES</a:t>
            </a:r>
          </a:p>
        </p:txBody>
      </p:sp>
      <p:sp>
        <p:nvSpPr>
          <p:cNvPr id="1019" name="BURR db 2" descr="database element"/>
          <p:cNvSpPr/>
          <p:nvPr/>
        </p:nvSpPr>
        <p:spPr>
          <a:xfrm>
            <a:off x="2075688" y="3931920"/>
            <a:ext cx="1298448" cy="329184"/>
          </a:xfrm>
          <a:prstGeom prst="roundRect">
            <a:avLst>
              <a:gd name="adj" fmla="val 12000"/>
            </a:avLst>
          </a:prstGeom>
          <a:solidFill>
            <a:srgbClr val="FFFFFF"/>
          </a:solidFill>
          <a:ln w="9525">
            <a:solidFill>
              <a:srgbClr val="D0D7DE"/>
            </a:solidFill>
          </a:ln>
        </p:spPr>
        <p:txBody>
          <a:bodyPr wrap="square" lIns="73152" tIns="0" rIns="73152" bIns="0" anchor="ctr">
            <a:noAutofit/>
          </a:bodyPr>
          <a:lstStyle/>
          <a:p>
            <a:pPr algn="l"/>
            <a:r>
              <a:rPr lang="en-US" sz="1050" b="0" dirty="0">
                <a:solidFill>
                  <a:srgbClr val="1F2328"/>
                </a:solidFill>
                <a:latin typeface="Consolas"/>
                <a:cs typeface="Consolas"/>
              </a:rPr>
              <a:t xml:space="preserve">person.name</a:t>
            </a:r>
          </a:p>
        </p:txBody>
      </p:sp>
      <p:sp>
        <p:nvSpPr>
          <p:cNvPr id="1020" name="BURR arrow 2"/>
          <p:cNvSpPr txBox="1"/>
          <p:nvPr/>
        </p:nvSpPr>
        <p:spPr>
          <a:xfrm>
            <a:off x="3392424" y="3931920"/>
            <a:ext cx="237744" cy="329184"/>
          </a:xfrm>
          <a:prstGeom prst="rect">
            <a:avLst/>
          </a:prstGeom>
          <a:noFill/>
          <a:ln>
            <a:noFill/>
          </a:ln>
        </p:spPr>
        <p:txBody>
          <a:bodyPr wrap="square" lIns="0" tIns="0" rIns="0" bIns="0" anchor="ctr">
            <a:noAutofit/>
          </a:bodyPr>
          <a:lstStyle/>
          <a:p>
            <a:pPr algn="ctr"/>
            <a:r>
              <a:rPr lang="en-US" sz="1400" b="0" dirty="0">
                <a:solidFill>
                  <a:srgbClr val="5B6770"/>
                </a:solidFill>
                <a:latin typeface="Calibri"/>
                <a:cs typeface="Calibri"/>
              </a:rPr>
              <a:t xml:space="preserve">→</a:t>
            </a:r>
          </a:p>
        </p:txBody>
      </p:sp>
      <p:sp>
        <p:nvSpPr>
          <p:cNvPr id="1021" name="BURR onto 2" descr="ontology element"/>
          <p:cNvSpPr/>
          <p:nvPr/>
        </p:nvSpPr>
        <p:spPr>
          <a:xfrm>
            <a:off x="3648456" y="3931920"/>
            <a:ext cx="1856231" cy="329184"/>
          </a:xfrm>
          <a:prstGeom prst="roundRect">
            <a:avLst>
              <a:gd name="adj" fmla="val 12000"/>
            </a:avLst>
          </a:prstGeom>
          <a:solidFill>
            <a:srgbClr val="FFFFFF"/>
          </a:solidFill>
          <a:ln w="9525">
            <a:solidFill>
              <a:srgbClr val="D0D7DE"/>
            </a:solidFill>
          </a:ln>
        </p:spPr>
        <p:txBody>
          <a:bodyPr wrap="square" lIns="73152" tIns="0" rIns="73152" bIns="0" anchor="ctr">
            <a:noAutofit/>
          </a:bodyPr>
          <a:lstStyle/>
          <a:p>
            <a:pPr algn="l"/>
            <a:r>
              <a:rPr lang="en-US" sz="1050" b="1" dirty="0">
                <a:solidFill>
                  <a:srgbClr val="0B6E4F"/>
                </a:solidFill>
                <a:latin typeface="Consolas"/>
                <a:cs typeface="Consolas"/>
              </a:rPr>
              <a:t xml:space="preserve">DataProperty: </a:t>
            </a:r>
            <a:r>
              <a:rPr lang="en-US" sz="1050" b="0" dirty="0">
                <a:solidFill>
                  <a:srgbClr val="1F2328"/>
                </a:solidFill>
                <a:latin typeface="Consolas"/>
                <a:cs typeface="Consolas"/>
              </a:rPr>
              <a:t xml:space="preserve">name</a:t>
            </a:r>
          </a:p>
        </p:txBody>
      </p:sp>
      <p:sp>
        <p:nvSpPr>
          <p:cNvPr id="1022" name="BURR card how"/>
          <p:cNvSpPr txBox="1"/>
          <p:nvPr/>
        </p:nvSpPr>
        <p:spPr>
          <a:xfrm>
            <a:off x="1069848" y="4352544"/>
            <a:ext cx="4389120" cy="585216"/>
          </a:xfrm>
          <a:prstGeom prst="rect">
            <a:avLst/>
          </a:prstGeom>
          <a:noFill/>
          <a:ln>
            <a:noFill/>
          </a:ln>
        </p:spPr>
        <p:txBody>
          <a:bodyPr wrap="square" lIns="0" tIns="0" rIns="0" bIns="0" anchor="t">
            <a:noAutofit/>
          </a:bodyPr>
          <a:lstStyle/>
          <a:p>
            <a:pPr algn="l"/>
            <a:r>
              <a:rPr lang="en-US" sz="1300" b="0" dirty="0">
                <a:solidFill>
                  <a:srgbClr val="3A434C"/>
                </a:solidFill>
                <a:latin typeface="Calibri"/>
                <a:cs typeface="Calibri"/>
              </a:rPr>
              <a:t xml:space="preserve">Elements match when they map to the same database elements, whatever their names. F1 per element type.</a:t>
            </a:r>
          </a:p>
        </p:txBody>
      </p:sp>
      <p:sp>
        <p:nvSpPr>
          <p:cNvPr id="1023" name="BURR card note"/>
          <p:cNvSpPr txBox="1"/>
          <p:nvPr/>
        </p:nvSpPr>
        <p:spPr>
          <a:xfrm>
            <a:off x="1069848" y="4974336"/>
            <a:ext cx="4389120" cy="182880"/>
          </a:xfrm>
          <a:prstGeom prst="rect">
            <a:avLst/>
          </a:prstGeom>
          <a:noFill/>
          <a:ln>
            <a:noFill/>
          </a:ln>
        </p:spPr>
        <p:txBody>
          <a:bodyPr wrap="square" lIns="0" tIns="0" rIns="0" bIns="0" anchor="t">
            <a:noAutofit/>
          </a:bodyPr>
          <a:lstStyle/>
          <a:p>
            <a:pPr algn="l"/>
            <a:r>
              <a:rPr lang="en-US" sz="1000" b="0" dirty="0">
                <a:solidFill>
                  <a:srgbClr val="5B6770"/>
                </a:solidFill>
                <a:latin typeface="Calibri"/>
                <a:cs typeface="Calibri"/>
              </a:rPr>
              <a:t xml:space="preserve">Illustrative elements  ·  ISWC gold mapping: D2RQ example by Bizer &amp; Seaborne</a:t>
            </a:r>
          </a:p>
        </p:txBody>
      </p:sp>
      <p:sp>
        <p:nvSpPr>
          <p:cNvPr id="1024" name="BURR caption"/>
          <p:cNvSpPr txBox="1"/>
          <p:nvPr/>
        </p:nvSpPr>
        <p:spPr>
          <a:xfrm>
            <a:off x="850392" y="5413248"/>
            <a:ext cx="10488168" cy="246888"/>
          </a:xfrm>
          <a:prstGeom prst="rect">
            <a:avLst/>
          </a:prstGeom>
          <a:noFill/>
          <a:ln>
            <a:noFill/>
          </a:ln>
        </p:spPr>
        <p:txBody>
          <a:bodyPr wrap="square" lIns="0" tIns="0" rIns="0" bIns="0" anchor="t">
            <a:noAutofit/>
          </a:bodyPr>
          <a:lstStyle/>
          <a:p>
            <a:pPr algn="l"/>
            <a:r>
              <a:rPr lang="en-US" sz="1050" b="0" dirty="0">
                <a:solidFill>
                  <a:srgbClr val="5B6770"/>
                </a:solidFill>
                <a:latin typeface="Calibri"/>
                <a:cs typeface="Calibri"/>
              </a:rPr>
              <a:t xml:space="preserve">One scenario  ·  9 tables · 46 columns · 11 FKs  ·  RIGOR with Claude  ·  its prov:wasDerivedFrom links exported as a D2RQ mapping  ·  Source: paper Table 13</a:t>
            </a: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12" name="Shape 1012"/>
        <p:cNvGrpSpPr/>
        <p:nvPr/>
      </p:nvGrpSpPr>
      <p:grpSpPr>
        <a:xfrm>
          <a:off x="0" y="0"/>
          <a:ext cx="0" cy="0"/>
          <a:chOff x="0" y="0"/>
          <a:chExt cx="0" cy="0"/>
        </a:xfrm>
      </p:grpSpPr>
      <p:sp>
        <p:nvSpPr>
          <p:cNvPr id="1013" name="Google Shape;1013;p22"/>
          <p:cNvSpPr txBox="1"/>
          <p:nvPr/>
        </p:nvSpPr>
        <p:spPr>
          <a:xfrm>
            <a:off x="813816" y="493776"/>
            <a:ext cx="10607040" cy="31089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lang="en-US" sz="1400">
                <a:solidFill>
                  <a:srgbClr val="0B6E4F"/>
                </a:solidFill>
                <a:latin typeface="Consolas"/>
                <a:ea typeface="Consolas"/>
                <a:cs typeface="Consolas"/>
                <a:sym typeface="Consolas"/>
              </a:rPr>
              <a:t>FUTURE WORK  /  FROM SCHEMAS TO INSTANCES</a:t>
            </a:r>
            <a:endParaRPr/>
          </a:p>
        </p:txBody>
      </p:sp>
      <p:sp>
        <p:nvSpPr>
          <p:cNvPr id="1014" name="Google Shape;1014;p22"/>
          <p:cNvSpPr txBox="1"/>
          <p:nvPr/>
        </p:nvSpPr>
        <p:spPr>
          <a:xfrm>
            <a:off x="813816" y="923544"/>
            <a:ext cx="10698480" cy="640080"/>
          </a:xfrm>
          <a:prstGeom prst="rect">
            <a:avLst/>
          </a:prstGeom>
          <a:noFill/>
          <a:ln>
            <a:noFill/>
          </a:ln>
        </p:spPr>
        <p:txBody>
          <a:bodyPr anchorCtr="0" anchor="t" bIns="0" lIns="0" spcFirstLastPara="1" rIns="0" wrap="square" tIns="0">
            <a:spAutoFit/>
          </a:bodyPr>
          <a:lstStyle/>
          <a:p>
            <a:pPr indent="0" lvl="0" marL="0" marR="0" rtl="0" algn="l">
              <a:lnSpc>
                <a:spcPct val="106000"/>
              </a:lnSpc>
              <a:spcBef>
                <a:spcPts val="0"/>
              </a:spcBef>
              <a:spcAft>
                <a:spcPts val="0"/>
              </a:spcAft>
              <a:buNone/>
            </a:pPr>
            <a:r>
              <a:rPr b="1" lang="en-US" sz="3000">
                <a:solidFill>
                  <a:srgbClr val="1F2328"/>
                </a:solidFill>
                <a:latin typeface="Cambria"/>
                <a:ea typeface="Calibri"/>
                <a:cs typeface="Calibri"/>
                <a:sym typeface="Calibri"/>
              </a:rPr>
              <a:t>Next: let the data speak.</a:t>
            </a:r>
            <a:endParaRPr/>
          </a:p>
        </p:txBody>
      </p:sp>
      <p:sp>
        <p:nvSpPr>
          <p:cNvPr id="1015" name="Google Shape;1015;p22"/>
          <p:cNvSpPr txBox="1"/>
          <p:nvPr/>
        </p:nvSpPr>
        <p:spPr>
          <a:xfrm>
            <a:off x="822960" y="1709928"/>
            <a:ext cx="10332720" cy="329184"/>
          </a:xfrm>
          <a:prstGeom prst="rect">
            <a:avLst/>
          </a:prstGeom>
          <a:noFill/>
          <a:ln>
            <a:noFill/>
          </a:ln>
        </p:spPr>
        <p:txBody>
          <a:bodyPr anchorCtr="0" anchor="ctr" bIns="0" lIns="0" spcFirstLastPara="1" rIns="0" wrap="square" tIns="0">
            <a:spAutoFit/>
          </a:bodyPr>
          <a:lstStyle/>
          <a:p>
            <a:pPr indent="0" lvl="0" marL="0" marR="0" rtl="0" algn="l">
              <a:lnSpc>
                <a:spcPct val="106000"/>
              </a:lnSpc>
              <a:spcBef>
                <a:spcPts val="0"/>
              </a:spcBef>
              <a:spcAft>
                <a:spcPts val="0"/>
              </a:spcAft>
              <a:buNone/>
            </a:pPr>
            <a:r>
              <a:rPr b="0" lang="en-US" sz="1700">
                <a:solidFill>
                  <a:srgbClr val="5B6770"/>
                </a:solidFill>
                <a:latin typeface="Calibri"/>
                <a:ea typeface="Calibri"/>
                <a:cs typeface="Calibri"/>
                <a:sym typeface="Calibri"/>
              </a:rPr>
              <a:t>Today RIGOR reads schemas and documentation. Instance data could propose new knowledge, for experts to review.</a:t>
            </a:r>
            <a:endParaRPr/>
          </a:p>
        </p:txBody>
      </p:sp>
      <p:sp>
        <p:nvSpPr>
          <p:cNvPr id="1031" name="Future card 1"/>
          <p:cNvSpPr/>
          <p:nvPr/>
        </p:nvSpPr>
        <p:spPr>
          <a:xfrm>
            <a:off x="822960" y="2194560"/>
            <a:ext cx="3017520" cy="2962656"/>
          </a:xfrm>
          <a:prstGeom prst="roundRect">
            <a:avLst>
              <a:gd name="adj" fmla="val 12000"/>
            </a:avLst>
          </a:prstGeom>
          <a:solidFill>
            <a:srgbClr val="FFFFFF"/>
          </a:solidFill>
          <a:ln w="9525">
            <a:solidFill>
              <a:srgbClr val="D9DEDB"/>
            </a:solidFill>
          </a:ln>
        </p:spPr>
        <p:txBody>
          <a:bodyPr wrap="square" lIns="0" tIns="0" rIns="0" bIns="0" anchor="t">
            <a:noAutofit/>
          </a:bodyPr>
          <a:lstStyle/>
          <a:p>
            <a:pPr algn="l"/>
          </a:p>
        </p:txBody>
      </p:sp>
      <p:sp>
        <p:nvSpPr>
          <p:cNvPr id="1032" name="Future card 2"/>
          <p:cNvSpPr/>
          <p:nvPr/>
        </p:nvSpPr>
        <p:spPr>
          <a:xfrm>
            <a:off x="4224528" y="2194560"/>
            <a:ext cx="2788920" cy="2962656"/>
          </a:xfrm>
          <a:prstGeom prst="roundRect">
            <a:avLst>
              <a:gd name="adj" fmla="val 12000"/>
            </a:avLst>
          </a:prstGeom>
          <a:solidFill>
            <a:srgbClr val="FFFFFF"/>
          </a:solidFill>
          <a:ln w="9525">
            <a:solidFill>
              <a:srgbClr val="D9DEDB"/>
            </a:solidFill>
          </a:ln>
        </p:spPr>
        <p:txBody>
          <a:bodyPr wrap="square" lIns="0" tIns="0" rIns="0" bIns="0" anchor="t">
            <a:noAutofit/>
          </a:bodyPr>
          <a:lstStyle/>
          <a:p>
            <a:pPr algn="l"/>
          </a:p>
        </p:txBody>
      </p:sp>
      <p:sp>
        <p:nvSpPr>
          <p:cNvPr id="1033" name="Future card 3"/>
          <p:cNvSpPr/>
          <p:nvPr/>
        </p:nvSpPr>
        <p:spPr>
          <a:xfrm>
            <a:off x="7397496" y="2194560"/>
            <a:ext cx="3941063" cy="2962656"/>
          </a:xfrm>
          <a:prstGeom prst="roundRect">
            <a:avLst>
              <a:gd name="adj" fmla="val 12000"/>
            </a:avLst>
          </a:prstGeom>
          <a:solidFill>
            <a:srgbClr val="FFFFFF"/>
          </a:solidFill>
          <a:ln w="9525">
            <a:solidFill>
              <a:srgbClr val="D9DEDB"/>
            </a:solidFill>
          </a:ln>
        </p:spPr>
        <p:txBody>
          <a:bodyPr wrap="square" lIns="0" tIns="0" rIns="0" bIns="0" anchor="t">
            <a:noAutofit/>
          </a:bodyPr>
          <a:lstStyle/>
          <a:p>
            <a:pPr algn="l"/>
          </a:p>
        </p:txBody>
      </p:sp>
      <p:sp>
        <p:nvSpPr>
          <p:cNvPr id="1034" name="Flow arrow"/>
          <p:cNvSpPr/>
          <p:nvPr/>
        </p:nvSpPr>
        <p:spPr>
          <a:xfrm>
            <a:off x="3877056" y="3456432"/>
            <a:ext cx="310896" cy="384048"/>
          </a:xfrm>
          <a:prstGeom prst="rightArrow">
            <a:avLst/>
          </a:prstGeom>
          <a:solidFill>
            <a:srgbClr val="0B6E4F"/>
          </a:solidFill>
          <a:ln>
            <a:noFill/>
          </a:ln>
        </p:spPr>
        <p:txBody>
          <a:bodyPr wrap="square" lIns="0" tIns="0" rIns="0" bIns="0" anchor="t">
            <a:noAutofit/>
          </a:bodyPr>
          <a:lstStyle/>
          <a:p>
            <a:pPr algn="l"/>
          </a:p>
        </p:txBody>
      </p:sp>
      <p:sp>
        <p:nvSpPr>
          <p:cNvPr id="1035" name="Flow arrow"/>
          <p:cNvSpPr/>
          <p:nvPr/>
        </p:nvSpPr>
        <p:spPr>
          <a:xfrm>
            <a:off x="7050024" y="3456432"/>
            <a:ext cx="310896" cy="384048"/>
          </a:xfrm>
          <a:prstGeom prst="rightArrow">
            <a:avLst/>
          </a:prstGeom>
          <a:solidFill>
            <a:srgbClr val="0B6E4F"/>
          </a:solidFill>
          <a:ln>
            <a:noFill/>
          </a:ln>
        </p:spPr>
        <p:txBody>
          <a:bodyPr wrap="square" lIns="0" tIns="0" rIns="0" bIns="0" anchor="t">
            <a:noAutofit/>
          </a:bodyPr>
          <a:lstStyle/>
          <a:p>
            <a:pPr algn="l"/>
          </a:p>
        </p:txBody>
      </p:sp>
      <p:sp>
        <p:nvSpPr>
          <p:cNvPr id="1036" name="Card 1 label"/>
          <p:cNvSpPr txBox="1"/>
          <p:nvPr/>
        </p:nvSpPr>
        <p:spPr>
          <a:xfrm>
            <a:off x="1024128" y="2359152"/>
            <a:ext cx="2651760" cy="274320"/>
          </a:xfrm>
          <a:prstGeom prst="rect">
            <a:avLst/>
          </a:prstGeom>
          <a:noFill/>
          <a:ln>
            <a:noFill/>
          </a:ln>
        </p:spPr>
        <p:txBody>
          <a:bodyPr wrap="square" lIns="0" tIns="0" rIns="0" bIns="0" anchor="t">
            <a:noAutofit/>
          </a:bodyPr>
          <a:lstStyle/>
          <a:p>
            <a:pPr algn="l"/>
            <a:r>
              <a:rPr lang="en-US" sz="1300" b="1" dirty="0">
                <a:solidFill>
                  <a:srgbClr val="2F6B78"/>
                </a:solidFill>
                <a:latin typeface="Consolas"/>
                <a:cs typeface="Consolas"/>
              </a:rPr>
              <a:t xml:space="preserve">1  INSTANCES</a:t>
            </a:r>
          </a:p>
        </p:txBody>
      </p:sp>
      <p:sp>
        <p:nvSpPr>
          <p:cNvPr id="1037" name="Card 1 sub"/>
          <p:cNvSpPr txBox="1"/>
          <p:nvPr/>
        </p:nvSpPr>
        <p:spPr>
          <a:xfrm>
            <a:off x="1024128" y="2651760"/>
            <a:ext cx="2651760" cy="256032"/>
          </a:xfrm>
          <a:prstGeom prst="rect">
            <a:avLst/>
          </a:prstGeom>
          <a:noFill/>
          <a:ln>
            <a:noFill/>
          </a:ln>
        </p:spPr>
        <p:txBody>
          <a:bodyPr wrap="square" lIns="0" tIns="0" rIns="0" bIns="0" anchor="t">
            <a:noAutofit/>
          </a:bodyPr>
          <a:lstStyle/>
          <a:p>
            <a:pPr algn="l"/>
            <a:r>
              <a:rPr lang="en-US" sz="1300" b="0" dirty="0">
                <a:solidFill>
                  <a:srgbClr val="5B6770"/>
                </a:solidFill>
                <a:latin typeface="Calibri"/>
                <a:cs typeface="Calibri"/>
              </a:rPr>
              <a:t xml:space="preserve">What patient rows show</a:t>
            </a:r>
          </a:p>
        </p:txBody>
      </p:sp>
      <p:sp>
        <p:nvSpPr>
          <p:cNvPr id="1038" name="Instance row 0"/>
          <p:cNvSpPr txBox="1"/>
          <p:nvPr/>
        </p:nvSpPr>
        <p:spPr>
          <a:xfrm>
            <a:off x="960120" y="3017520"/>
            <a:ext cx="2743200" cy="246888"/>
          </a:xfrm>
          <a:prstGeom prst="roundRect">
            <a:avLst>
              <a:gd name="adj" fmla="val 12000"/>
            </a:avLst>
          </a:prstGeom>
          <a:noFill/>
          <a:ln>
            <a:noFill/>
          </a:ln>
        </p:spPr>
        <p:txBody>
          <a:bodyPr wrap="square" lIns="91440" tIns="0" rIns="91440" bIns="0" anchor="ctr">
            <a:noAutofit/>
          </a:bodyPr>
          <a:lstStyle/>
          <a:p>
            <a:pPr algn="l">
              <a:tabLst>
                <a:tab pos="777240" algn="l"/>
                <a:tab pos="1737360" algn="l"/>
              </a:tabLst>
            </a:pPr>
            <a:r>
              <a:rPr lang="en-US" sz="950" b="1" dirty="0">
                <a:solidFill>
                  <a:srgbClr val="5B6770"/>
                </a:solidFill>
                <a:latin typeface="Consolas"/>
                <a:cs typeface="Consolas"/>
              </a:rPr>
              <a:t xml:space="preserve">PATIENT	CISPLATIN	BM_DEP AFTER</a:t>
            </a:r>
          </a:p>
        </p:txBody>
      </p:sp>
      <p:sp>
        <p:nvSpPr>
          <p:cNvPr id="1039" name="Instance row 1"/>
          <p:cNvSpPr/>
          <p:nvPr/>
        </p:nvSpPr>
        <p:spPr>
          <a:xfrm>
            <a:off x="960120" y="3291839"/>
            <a:ext cx="2743200" cy="246888"/>
          </a:xfrm>
          <a:prstGeom prst="roundRect">
            <a:avLst>
              <a:gd name="adj" fmla="val 12000"/>
            </a:avLst>
          </a:prstGeom>
          <a:solidFill>
            <a:srgbClr val="E6F2EC"/>
          </a:solidFill>
          <a:ln>
            <a:noFill/>
          </a:ln>
        </p:spPr>
        <p:txBody>
          <a:bodyPr wrap="square" lIns="91440" tIns="0" rIns="91440" bIns="0" anchor="ctr">
            <a:noAutofit/>
          </a:bodyPr>
          <a:lstStyle/>
          <a:p>
            <a:pPr algn="l">
              <a:tabLst>
                <a:tab pos="777240" algn="l"/>
                <a:tab pos="1737360" algn="l"/>
              </a:tabLst>
            </a:pPr>
            <a:r>
              <a:rPr lang="en-US" sz="1150" b="0" dirty="0">
                <a:solidFill>
                  <a:srgbClr val="1F2328"/>
                </a:solidFill>
                <a:latin typeface="Consolas"/>
                <a:cs typeface="Consolas"/>
              </a:rPr>
              <a:t xml:space="preserve">P01	yes	1</a:t>
            </a:r>
          </a:p>
        </p:txBody>
      </p:sp>
      <p:sp>
        <p:nvSpPr>
          <p:cNvPr id="1040" name="Instance row 2"/>
          <p:cNvSpPr/>
          <p:nvPr/>
        </p:nvSpPr>
        <p:spPr>
          <a:xfrm>
            <a:off x="960120" y="3566160"/>
            <a:ext cx="2743200" cy="246888"/>
          </a:xfrm>
          <a:prstGeom prst="roundRect">
            <a:avLst>
              <a:gd name="adj" fmla="val 12000"/>
            </a:avLst>
          </a:prstGeom>
          <a:solidFill>
            <a:srgbClr val="E6F2EC"/>
          </a:solidFill>
          <a:ln>
            <a:noFill/>
          </a:ln>
        </p:spPr>
        <p:txBody>
          <a:bodyPr wrap="square" lIns="91440" tIns="0" rIns="91440" bIns="0" anchor="ctr">
            <a:noAutofit/>
          </a:bodyPr>
          <a:lstStyle/>
          <a:p>
            <a:pPr algn="l">
              <a:tabLst>
                <a:tab pos="777240" algn="l"/>
                <a:tab pos="1737360" algn="l"/>
              </a:tabLst>
            </a:pPr>
            <a:r>
              <a:rPr lang="en-US" sz="1150" b="0" dirty="0">
                <a:solidFill>
                  <a:srgbClr val="1F2328"/>
                </a:solidFill>
                <a:latin typeface="Consolas"/>
                <a:cs typeface="Consolas"/>
              </a:rPr>
              <a:t xml:space="preserve">P02	yes	1</a:t>
            </a:r>
          </a:p>
        </p:txBody>
      </p:sp>
      <p:sp>
        <p:nvSpPr>
          <p:cNvPr id="1041" name="Instance row 3"/>
          <p:cNvSpPr txBox="1"/>
          <p:nvPr/>
        </p:nvSpPr>
        <p:spPr>
          <a:xfrm>
            <a:off x="960120" y="3840479"/>
            <a:ext cx="2743200" cy="246888"/>
          </a:xfrm>
          <a:prstGeom prst="roundRect">
            <a:avLst>
              <a:gd name="adj" fmla="val 12000"/>
            </a:avLst>
          </a:prstGeom>
          <a:noFill/>
          <a:ln>
            <a:noFill/>
          </a:ln>
        </p:spPr>
        <p:txBody>
          <a:bodyPr wrap="square" lIns="91440" tIns="0" rIns="91440" bIns="0" anchor="ctr">
            <a:noAutofit/>
          </a:bodyPr>
          <a:lstStyle/>
          <a:p>
            <a:pPr algn="l">
              <a:tabLst>
                <a:tab pos="777240" algn="l"/>
                <a:tab pos="1737360" algn="l"/>
              </a:tabLst>
            </a:pPr>
            <a:r>
              <a:rPr lang="en-US" sz="1150" b="0" dirty="0">
                <a:solidFill>
                  <a:srgbClr val="1F2328"/>
                </a:solidFill>
                <a:latin typeface="Consolas"/>
                <a:cs typeface="Consolas"/>
              </a:rPr>
              <a:t xml:space="preserve">P03	no	0</a:t>
            </a:r>
          </a:p>
        </p:txBody>
      </p:sp>
      <p:sp>
        <p:nvSpPr>
          <p:cNvPr id="1042" name="Instance row 4"/>
          <p:cNvSpPr/>
          <p:nvPr/>
        </p:nvSpPr>
        <p:spPr>
          <a:xfrm>
            <a:off x="960120" y="4114800"/>
            <a:ext cx="2743200" cy="246888"/>
          </a:xfrm>
          <a:prstGeom prst="roundRect">
            <a:avLst>
              <a:gd name="adj" fmla="val 12000"/>
            </a:avLst>
          </a:prstGeom>
          <a:solidFill>
            <a:srgbClr val="E6F2EC"/>
          </a:solidFill>
          <a:ln>
            <a:noFill/>
          </a:ln>
        </p:spPr>
        <p:txBody>
          <a:bodyPr wrap="square" lIns="91440" tIns="0" rIns="91440" bIns="0" anchor="ctr">
            <a:noAutofit/>
          </a:bodyPr>
          <a:lstStyle/>
          <a:p>
            <a:pPr algn="l">
              <a:tabLst>
                <a:tab pos="777240" algn="l"/>
                <a:tab pos="1737360" algn="l"/>
              </a:tabLst>
            </a:pPr>
            <a:r>
              <a:rPr lang="en-US" sz="1150" b="0" dirty="0">
                <a:solidFill>
                  <a:srgbClr val="1F2328"/>
                </a:solidFill>
                <a:latin typeface="Consolas"/>
                <a:cs typeface="Consolas"/>
              </a:rPr>
              <a:t xml:space="preserve">P04	yes	1</a:t>
            </a:r>
          </a:p>
        </p:txBody>
      </p:sp>
      <p:sp>
        <p:nvSpPr>
          <p:cNvPr id="1043" name="Instance row 5"/>
          <p:cNvSpPr txBox="1"/>
          <p:nvPr/>
        </p:nvSpPr>
        <p:spPr>
          <a:xfrm>
            <a:off x="960120" y="4389120"/>
            <a:ext cx="2743200" cy="246888"/>
          </a:xfrm>
          <a:prstGeom prst="roundRect">
            <a:avLst>
              <a:gd name="adj" fmla="val 12000"/>
            </a:avLst>
          </a:prstGeom>
          <a:noFill/>
          <a:ln>
            <a:noFill/>
          </a:ln>
        </p:spPr>
        <p:txBody>
          <a:bodyPr wrap="square" lIns="91440" tIns="0" rIns="91440" bIns="0" anchor="ctr">
            <a:noAutofit/>
          </a:bodyPr>
          <a:lstStyle/>
          <a:p>
            <a:pPr algn="l">
              <a:tabLst>
                <a:tab pos="777240" algn="l"/>
                <a:tab pos="1737360" algn="l"/>
              </a:tabLst>
            </a:pPr>
            <a:r>
              <a:rPr lang="en-US" sz="1150" b="0" dirty="0">
                <a:solidFill>
                  <a:srgbClr val="1F2328"/>
                </a:solidFill>
                <a:latin typeface="Consolas"/>
                <a:cs typeface="Consolas"/>
              </a:rPr>
              <a:t xml:space="preserve">P05	no	0</a:t>
            </a:r>
          </a:p>
        </p:txBody>
      </p:sp>
      <p:sp>
        <p:nvSpPr>
          <p:cNvPr id="1044" name="Card 1 note"/>
          <p:cNvSpPr txBox="1"/>
          <p:nvPr/>
        </p:nvSpPr>
        <p:spPr>
          <a:xfrm>
            <a:off x="1024128" y="4736592"/>
            <a:ext cx="2651760" cy="384048"/>
          </a:xfrm>
          <a:prstGeom prst="rect">
            <a:avLst/>
          </a:prstGeom>
          <a:noFill/>
          <a:ln>
            <a:noFill/>
          </a:ln>
        </p:spPr>
        <p:txBody>
          <a:bodyPr wrap="square" lIns="0" tIns="0" rIns="0" bIns="0" anchor="t">
            <a:noAutofit/>
          </a:bodyPr>
          <a:lstStyle/>
          <a:p>
            <a:pPr algn="l"/>
            <a:r>
              <a:rPr lang="en-US" sz="1100" b="0" dirty="0">
                <a:solidFill>
                  <a:srgbClr val="5B6770"/>
                </a:solidFill>
                <a:latin typeface="Calibri"/>
                <a:cs typeface="Calibri"/>
              </a:rPr>
              <a:t xml:space="preserve">Synthetic illustration. Rows also reveal codes: BM_DEP is only 0 or 1.</a:t>
            </a:r>
          </a:p>
        </p:txBody>
      </p:sp>
      <p:sp>
        <p:nvSpPr>
          <p:cNvPr id="1045" name="Card 2 label"/>
          <p:cNvSpPr txBox="1"/>
          <p:nvPr/>
        </p:nvSpPr>
        <p:spPr>
          <a:xfrm>
            <a:off x="4425696" y="2359152"/>
            <a:ext cx="2423160" cy="274320"/>
          </a:xfrm>
          <a:prstGeom prst="rect">
            <a:avLst/>
          </a:prstGeom>
          <a:noFill/>
          <a:ln>
            <a:noFill/>
          </a:ln>
        </p:spPr>
        <p:txBody>
          <a:bodyPr wrap="square" lIns="0" tIns="0" rIns="0" bIns="0" anchor="t">
            <a:noAutofit/>
          </a:bodyPr>
          <a:lstStyle/>
          <a:p>
            <a:pPr algn="l"/>
            <a:r>
              <a:rPr lang="en-US" sz="1300" b="1" dirty="0">
                <a:solidFill>
                  <a:srgbClr val="2F6B78"/>
                </a:solidFill>
                <a:latin typeface="Consolas"/>
                <a:cs typeface="Consolas"/>
              </a:rPr>
              <a:t xml:space="preserve">2  + DOCUMENTATION</a:t>
            </a:r>
          </a:p>
        </p:txBody>
      </p:sp>
      <p:sp>
        <p:nvSpPr>
          <p:cNvPr id="1046" name="Card 2 sub"/>
          <p:cNvSpPr txBox="1"/>
          <p:nvPr/>
        </p:nvSpPr>
        <p:spPr>
          <a:xfrm>
            <a:off x="4425696" y="2651760"/>
            <a:ext cx="2423160" cy="256032"/>
          </a:xfrm>
          <a:prstGeom prst="rect">
            <a:avLst/>
          </a:prstGeom>
          <a:noFill/>
          <a:ln>
            <a:noFill/>
          </a:ln>
        </p:spPr>
        <p:txBody>
          <a:bodyPr wrap="square" lIns="0" tIns="0" rIns="0" bIns="0" anchor="t">
            <a:noAutofit/>
          </a:bodyPr>
          <a:lstStyle/>
          <a:p>
            <a:pPr algn="l"/>
            <a:r>
              <a:rPr lang="en-US" sz="1300" b="0" dirty="0">
                <a:solidFill>
                  <a:srgbClr val="5B6770"/>
                </a:solidFill>
                <a:latin typeface="Calibri"/>
                <a:cs typeface="Calibri"/>
              </a:rPr>
              <a:t xml:space="preserve">What the drug label says</a:t>
            </a:r>
          </a:p>
        </p:txBody>
      </p:sp>
      <p:sp>
        <p:nvSpPr>
          <p:cNvPr id="1047" name="Drug label quote"/>
          <p:cNvSpPr/>
          <p:nvPr/>
        </p:nvSpPr>
        <p:spPr>
          <a:xfrm>
            <a:off x="4389120" y="3017520"/>
            <a:ext cx="2459736" cy="1115568"/>
          </a:xfrm>
          <a:prstGeom prst="roundRect">
            <a:avLst>
              <a:gd name="adj" fmla="val 12000"/>
            </a:avLst>
          </a:prstGeom>
          <a:solidFill>
            <a:srgbClr val="F3F5F4"/>
          </a:solidFill>
          <a:ln>
            <a:noFill/>
          </a:ln>
        </p:spPr>
        <p:txBody>
          <a:bodyPr wrap="square" lIns="128016" tIns="0" rIns="128016" bIns="0" anchor="ctr">
            <a:noAutofit/>
          </a:bodyPr>
          <a:lstStyle/>
          <a:p>
            <a:pPr algn="l"/>
            <a:r>
              <a:rPr lang="en-US" sz="1400" b="0" dirty="0" i="1">
                <a:solidFill>
                  <a:srgbClr val="1F2328"/>
                </a:solidFill>
                <a:latin typeface="Calibri"/>
                <a:cs typeface="Calibri"/>
              </a:rPr>
              <a:t xml:space="preserve">Myelosuppression (bone-marrow suppression) is a documented adverse reaction of cisplatin.</a:t>
            </a:r>
          </a:p>
        </p:txBody>
      </p:sp>
      <p:sp>
        <p:nvSpPr>
          <p:cNvPr id="1048" name="Quote source"/>
          <p:cNvSpPr txBox="1"/>
          <p:nvPr/>
        </p:nvSpPr>
        <p:spPr>
          <a:xfrm>
            <a:off x="4425696" y="4169664"/>
            <a:ext cx="2423160" cy="201168"/>
          </a:xfrm>
          <a:prstGeom prst="rect">
            <a:avLst/>
          </a:prstGeom>
          <a:noFill/>
          <a:ln>
            <a:noFill/>
          </a:ln>
        </p:spPr>
        <p:txBody>
          <a:bodyPr wrap="square" lIns="0" tIns="0" rIns="0" bIns="0" anchor="t">
            <a:noAutofit/>
          </a:bodyPr>
          <a:lstStyle/>
          <a:p>
            <a:pPr algn="l"/>
            <a:r>
              <a:rPr lang="en-US" sz="1000" b="0" dirty="0">
                <a:solidFill>
                  <a:srgbClr val="5B6770"/>
                </a:solidFill>
                <a:latin typeface="Calibri"/>
                <a:cs typeface="Calibri"/>
              </a:rPr>
              <a:t xml:space="preserve">Cisplatin drug label, paraphrased</a:t>
            </a:r>
          </a:p>
        </p:txBody>
      </p:sp>
      <p:sp>
        <p:nvSpPr>
          <p:cNvPr id="1049" name="Card 2 note"/>
          <p:cNvSpPr txBox="1"/>
          <p:nvPr/>
        </p:nvSpPr>
        <p:spPr>
          <a:xfrm>
            <a:off x="4425696" y="4480560"/>
            <a:ext cx="2423160" cy="548640"/>
          </a:xfrm>
          <a:prstGeom prst="rect">
            <a:avLst/>
          </a:prstGeom>
          <a:noFill/>
          <a:ln>
            <a:noFill/>
          </a:ln>
        </p:spPr>
        <p:txBody>
          <a:bodyPr wrap="square" lIns="0" tIns="0" rIns="0" bIns="0" anchor="t">
            <a:noAutofit/>
          </a:bodyPr>
          <a:lstStyle/>
          <a:p>
            <a:pPr algn="l"/>
            <a:r>
              <a:rPr lang="en-US" sz="1200" b="0" dirty="0">
                <a:solidFill>
                  <a:srgbClr val="3A434C"/>
                </a:solidFill>
                <a:latin typeface="Calibri"/>
                <a:cs typeface="Calibri"/>
              </a:rPr>
              <a:t xml:space="preserve">Timing is evidence too: BM_DEP is recorded after the first cycle.</a:t>
            </a:r>
          </a:p>
        </p:txBody>
      </p:sp>
      <p:sp>
        <p:nvSpPr>
          <p:cNvPr id="1050" name="Card 3 label"/>
          <p:cNvSpPr txBox="1"/>
          <p:nvPr/>
        </p:nvSpPr>
        <p:spPr>
          <a:xfrm>
            <a:off x="7598664" y="2359152"/>
            <a:ext cx="3575303" cy="274320"/>
          </a:xfrm>
          <a:prstGeom prst="rect">
            <a:avLst/>
          </a:prstGeom>
          <a:noFill/>
          <a:ln>
            <a:noFill/>
          </a:ln>
        </p:spPr>
        <p:txBody>
          <a:bodyPr wrap="square" lIns="0" tIns="0" rIns="0" bIns="0" anchor="t">
            <a:noAutofit/>
          </a:bodyPr>
          <a:lstStyle/>
          <a:p>
            <a:pPr algn="l"/>
            <a:r>
              <a:rPr lang="en-US" sz="1300" b="1" dirty="0">
                <a:solidFill>
                  <a:srgbClr val="0B6E4F"/>
                </a:solidFill>
                <a:latin typeface="Consolas"/>
                <a:cs typeface="Consolas"/>
              </a:rPr>
              <a:t xml:space="preserve">3  CANDIDATE KNOWLEDGE</a:t>
            </a:r>
          </a:p>
        </p:txBody>
      </p:sp>
      <p:sp>
        <p:nvSpPr>
          <p:cNvPr id="1051" name="Card 3 sub"/>
          <p:cNvSpPr txBox="1"/>
          <p:nvPr/>
        </p:nvSpPr>
        <p:spPr>
          <a:xfrm>
            <a:off x="7598664" y="2651760"/>
            <a:ext cx="3575303" cy="256032"/>
          </a:xfrm>
          <a:prstGeom prst="rect">
            <a:avLst/>
          </a:prstGeom>
          <a:noFill/>
          <a:ln>
            <a:noFill/>
          </a:ln>
        </p:spPr>
        <p:txBody>
          <a:bodyPr wrap="square" lIns="0" tIns="0" rIns="0" bIns="0" anchor="t">
            <a:noAutofit/>
          </a:bodyPr>
          <a:lstStyle/>
          <a:p>
            <a:pPr algn="l"/>
            <a:r>
              <a:rPr lang="en-US" sz="1300" b="0" dirty="0">
                <a:solidFill>
                  <a:srgbClr val="5B6770"/>
                </a:solidFill>
                <a:latin typeface="Calibri"/>
                <a:cs typeface="Calibri"/>
              </a:rPr>
              <a:t xml:space="preserve">A reviewable hypothesis, not a fact</a:t>
            </a:r>
          </a:p>
        </p:txBody>
      </p:sp>
      <p:sp>
        <p:nvSpPr>
          <p:cNvPr id="1052" name="Code 1052" descr="OWL Manchester Syntax excerpt"/>
          <p:cNvSpPr txBox="1"/>
          <p:nvPr/>
        </p:nvSpPr>
        <p:spPr>
          <a:xfrm>
            <a:off x="7534656" y="2962656"/>
            <a:ext cx="3666744" cy="1575054"/>
          </a:xfrm>
          <a:prstGeom prst="roundRect">
            <a:avLst>
              <a:gd name="adj" fmla="val 5000"/>
            </a:avLst>
          </a:prstGeom>
          <a:solidFill>
            <a:srgbClr val="F6F8FA"/>
          </a:solidFill>
          <a:ln w="9525">
            <a:solidFill>
              <a:srgbClr val="D0D7DE"/>
            </a:solidFill>
          </a:ln>
        </p:spPr>
        <p:txBody>
          <a:bodyPr wrap="none" lIns="91440" tIns="73152" rIns="91440" bIns="54864" anchor="t">
            <a:noAutofit/>
          </a:bodyPr>
          <a:lstStyle/>
          <a:p>
            <a:pPr>
              <a:lnSpc>
                <a:spcPts val="1250"/>
              </a:lnSpc>
              <a:spcBef>
                <a:spcPts val="0"/>
              </a:spcBef>
            </a:pPr>
            <a:r>
              <a:rPr lang="en-US" sz="1100" b="1" i="0" dirty="0">
                <a:solidFill>
                  <a:srgbClr val="0B6E4F"/>
                </a:solidFill>
                <a:latin typeface="Consolas"/>
                <a:cs typeface="Consolas"/>
              </a:rPr>
              <a:t xml:space="preserve">Individual:</a:t>
            </a:r>
            <a:r>
              <a:rPr lang="en-US" sz="1100" b="0" i="0" dirty="0">
                <a:solidFill>
                  <a:srgbClr val="1F2328"/>
                </a:solidFill>
                <a:latin typeface="Consolas"/>
                <a:cs typeface="Consolas"/>
              </a:rPr>
              <a:t xml:space="preserve"> </a:t>
            </a:r>
            <a:r>
              <a:rPr lang="en-US" sz="1100" b="0" i="0" dirty="0">
                <a:solidFill>
                  <a:srgbClr val="1F2328"/>
                </a:solidFill>
                <a:latin typeface="Consolas"/>
                <a:cs typeface="Consolas"/>
              </a:rPr>
              <a:t xml:space="preserve">cisplatin_bmdep</a:t>
            </a:r>
            <a:endParaRPr lang="en-US" sz="1100"/>
          </a:p>
          <a:p>
            <a:pPr>
              <a:lnSpc>
                <a:spcPts val="1250"/>
              </a:lnSpc>
              <a:spcBef>
                <a:spcPts val="0"/>
              </a:spcBef>
            </a:pPr>
            <a:r>
              <a:rPr lang="en-US" sz="1100" b="0" i="0" dirty="0">
                <a:solidFill>
                  <a:srgbClr val="1F2328"/>
                </a:solidFill>
                <a:latin typeface="Consolas"/>
                <a:cs typeface="Consolas"/>
              </a:rPr>
              <a:t xml:space="preserve">  </a:t>
            </a:r>
            <a:r>
              <a:rPr lang="en-US" sz="1100" b="1" i="0" dirty="0">
                <a:solidFill>
                  <a:srgbClr val="0B6E4F"/>
                </a:solidFill>
                <a:latin typeface="Consolas"/>
                <a:cs typeface="Consolas"/>
              </a:rPr>
              <a:t xml:space="preserve">Types:</a:t>
            </a:r>
            <a:r>
              <a:rPr lang="en-US" sz="1100" b="0" i="0" dirty="0">
                <a:solidFill>
                  <a:srgbClr val="1F2328"/>
                </a:solidFill>
                <a:latin typeface="Consolas"/>
                <a:cs typeface="Consolas"/>
              </a:rPr>
              <a:t xml:space="preserve"> </a:t>
            </a:r>
            <a:r>
              <a:rPr lang="en-US" sz="1100" b="0" i="0" dirty="0">
                <a:solidFill>
                  <a:srgbClr val="1F2328"/>
                </a:solidFill>
                <a:latin typeface="Consolas"/>
                <a:cs typeface="Consolas"/>
              </a:rPr>
              <a:t xml:space="preserve">CandidateAssociation</a:t>
            </a:r>
            <a:endParaRPr lang="en-US" sz="1100"/>
          </a:p>
          <a:p>
            <a:pPr>
              <a:lnSpc>
                <a:spcPts val="1250"/>
              </a:lnSpc>
              <a:spcBef>
                <a:spcPts val="0"/>
              </a:spcBef>
            </a:pPr>
            <a:r>
              <a:rPr lang="en-US" sz="1100" b="0" i="0" dirty="0">
                <a:solidFill>
                  <a:srgbClr val="1F2328"/>
                </a:solidFill>
                <a:latin typeface="Consolas"/>
                <a:cs typeface="Consolas"/>
              </a:rPr>
              <a:t xml:space="preserve">  </a:t>
            </a:r>
            <a:r>
              <a:rPr lang="en-US" sz="1100" b="1" i="0" dirty="0">
                <a:solidFill>
                  <a:srgbClr val="0B6E4F"/>
                </a:solidFill>
                <a:latin typeface="Consolas"/>
                <a:cs typeface="Consolas"/>
              </a:rPr>
              <a:t xml:space="preserve">Facts:</a:t>
            </a:r>
            <a:endParaRPr lang="en-US" sz="1100"/>
          </a:p>
          <a:p>
            <a:pPr>
              <a:lnSpc>
                <a:spcPts val="1250"/>
              </a:lnSpc>
              <a:spcBef>
                <a:spcPts val="0"/>
              </a:spcBef>
            </a:pPr>
            <a:r>
              <a:rPr lang="en-US" sz="1100" b="0" i="0" dirty="0">
                <a:solidFill>
                  <a:srgbClr val="1F2328"/>
                </a:solidFill>
                <a:latin typeface="Consolas"/>
                <a:cs typeface="Consolas"/>
              </a:rPr>
              <a:t xml:space="preserve">    </a:t>
            </a:r>
            <a:r>
              <a:rPr lang="en-US" sz="1100" b="0" i="0" dirty="0">
                <a:solidFill>
                  <a:srgbClr val="1F2328"/>
                </a:solidFill>
                <a:latin typeface="Consolas"/>
                <a:cs typeface="Consolas"/>
              </a:rPr>
              <a:t xml:space="preserve">hasDrug</a:t>
            </a:r>
            <a:r>
              <a:rPr lang="en-US" sz="1100" b="0" i="0" dirty="0">
                <a:solidFill>
                  <a:srgbClr val="1F2328"/>
                </a:solidFill>
                <a:latin typeface="Consolas"/>
                <a:cs typeface="Consolas"/>
              </a:rPr>
              <a:t xml:space="preserve"> </a:t>
            </a:r>
            <a:r>
              <a:rPr lang="en-US" sz="1100" b="0" i="0" dirty="0">
                <a:solidFill>
                  <a:srgbClr val="1F2328"/>
                </a:solidFill>
                <a:latin typeface="Consolas"/>
                <a:cs typeface="Consolas"/>
              </a:rPr>
              <a:t xml:space="preserve">Cisplatin</a:t>
            </a:r>
            <a:r>
              <a:rPr lang="en-US" sz="1100" b="0" i="0" dirty="0">
                <a:solidFill>
                  <a:srgbClr val="1F2328"/>
                </a:solidFill>
                <a:latin typeface="Consolas"/>
                <a:cs typeface="Consolas"/>
              </a:rPr>
              <a:t xml:space="preserve">,</a:t>
            </a:r>
            <a:endParaRPr lang="en-US" sz="1100"/>
          </a:p>
          <a:p>
            <a:pPr>
              <a:lnSpc>
                <a:spcPts val="1250"/>
              </a:lnSpc>
              <a:spcBef>
                <a:spcPts val="0"/>
              </a:spcBef>
            </a:pPr>
            <a:r>
              <a:rPr lang="en-US" sz="1100" b="0" i="0" dirty="0">
                <a:solidFill>
                  <a:srgbClr val="1F2328"/>
                </a:solidFill>
                <a:latin typeface="Consolas"/>
                <a:cs typeface="Consolas"/>
              </a:rPr>
              <a:t xml:space="preserve">    </a:t>
            </a:r>
            <a:r>
              <a:rPr lang="en-US" sz="1100" b="0" i="0" dirty="0">
                <a:solidFill>
                  <a:srgbClr val="1F2328"/>
                </a:solidFill>
                <a:latin typeface="Consolas"/>
                <a:cs typeface="Consolas"/>
              </a:rPr>
              <a:t xml:space="preserve">hasCondition</a:t>
            </a:r>
            <a:r>
              <a:rPr lang="en-US" sz="1100" b="0" i="0" dirty="0">
                <a:solidFill>
                  <a:srgbClr val="1F2328"/>
                </a:solidFill>
                <a:latin typeface="Consolas"/>
                <a:cs typeface="Consolas"/>
              </a:rPr>
              <a:t xml:space="preserve"> </a:t>
            </a:r>
            <a:r>
              <a:rPr lang="en-US" sz="1100" b="0" i="0" dirty="0">
                <a:solidFill>
                  <a:srgbClr val="1F2328"/>
                </a:solidFill>
                <a:latin typeface="Consolas"/>
                <a:cs typeface="Consolas"/>
              </a:rPr>
              <a:t xml:space="preserve">BoneMarrowDepression</a:t>
            </a:r>
            <a:r>
              <a:rPr lang="en-US" sz="1100" b="0" i="0" dirty="0">
                <a:solidFill>
                  <a:srgbClr val="1F2328"/>
                </a:solidFill>
                <a:latin typeface="Consolas"/>
                <a:cs typeface="Consolas"/>
              </a:rPr>
              <a:t xml:space="preserve">,</a:t>
            </a:r>
            <a:endParaRPr lang="en-US" sz="1100"/>
          </a:p>
          <a:p>
            <a:pPr>
              <a:lnSpc>
                <a:spcPts val="1250"/>
              </a:lnSpc>
              <a:spcBef>
                <a:spcPts val="0"/>
              </a:spcBef>
            </a:pPr>
            <a:r>
              <a:rPr lang="en-US" sz="1100" b="0" i="0" dirty="0">
                <a:solidFill>
                  <a:srgbClr val="1F2328"/>
                </a:solidFill>
                <a:latin typeface="Consolas"/>
                <a:cs typeface="Consolas"/>
              </a:rPr>
              <a:t xml:space="preserve">    </a:t>
            </a:r>
            <a:r>
              <a:rPr lang="en-US" sz="1100" b="0" i="0" dirty="0">
                <a:solidFill>
                  <a:srgbClr val="1F2328"/>
                </a:solidFill>
                <a:latin typeface="Consolas"/>
                <a:cs typeface="Consolas"/>
              </a:rPr>
              <a:t xml:space="preserve">status</a:t>
            </a:r>
            <a:r>
              <a:rPr lang="en-US" sz="1100" b="0" i="0" dirty="0">
                <a:solidFill>
                  <a:srgbClr val="1F2328"/>
                </a:solidFill>
                <a:latin typeface="Consolas"/>
                <a:cs typeface="Consolas"/>
              </a:rPr>
              <a:t xml:space="preserve"> </a:t>
            </a:r>
            <a:r>
              <a:rPr lang="en-US" sz="1100" b="0" i="0" dirty="0">
                <a:solidFill>
                  <a:srgbClr val="A3401E"/>
                </a:solidFill>
                <a:latin typeface="Consolas"/>
                <a:cs typeface="Consolas"/>
              </a:rPr>
              <a:t xml:space="preserve">"needs expert review"</a:t>
            </a:r>
            <a:endParaRPr lang="en-US" sz="1100"/>
          </a:p>
          <a:p>
            <a:pPr>
              <a:lnSpc>
                <a:spcPts val="1250"/>
              </a:lnSpc>
              <a:spcBef>
                <a:spcPts val="0"/>
              </a:spcBef>
            </a:pPr>
            <a:r>
              <a:rPr lang="en-US" sz="1100" b="0" i="0" dirty="0">
                <a:solidFill>
                  <a:srgbClr val="1F2328"/>
                </a:solidFill>
                <a:latin typeface="Consolas"/>
                <a:cs typeface="Consolas"/>
              </a:rPr>
              <a:t xml:space="preserve">  </a:t>
            </a:r>
            <a:r>
              <a:rPr lang="en-US" sz="1100" b="1" i="0" dirty="0">
                <a:solidFill>
                  <a:srgbClr val="0B6E4F"/>
                </a:solidFill>
                <a:latin typeface="Consolas"/>
                <a:cs typeface="Consolas"/>
              </a:rPr>
              <a:t xml:space="preserve">Annotations:</a:t>
            </a:r>
            <a:endParaRPr lang="en-US" sz="1100"/>
          </a:p>
          <a:p>
            <a:pPr>
              <a:lnSpc>
                <a:spcPts val="1250"/>
              </a:lnSpc>
              <a:spcBef>
                <a:spcPts val="0"/>
              </a:spcBef>
            </a:pPr>
            <a:r>
              <a:rPr lang="en-US" sz="1100" b="0" i="0" dirty="0">
                <a:solidFill>
                  <a:srgbClr val="1F2328"/>
                </a:solidFill>
                <a:latin typeface="Consolas"/>
                <a:cs typeface="Consolas"/>
              </a:rPr>
              <a:t xml:space="preserve">    </a:t>
            </a:r>
            <a:r>
              <a:rPr lang="en-US" sz="1100" b="0" i="0" dirty="0">
                <a:solidFill>
                  <a:srgbClr val="5B6770"/>
                </a:solidFill>
                <a:latin typeface="Consolas"/>
                <a:cs typeface="Consolas"/>
              </a:rPr>
              <a:t xml:space="preserve">prov:wasDerivedFrom</a:t>
            </a:r>
            <a:r>
              <a:rPr lang="en-US" sz="1100" b="0" i="0" dirty="0">
                <a:solidFill>
                  <a:srgbClr val="1F2328"/>
                </a:solidFill>
                <a:latin typeface="Consolas"/>
                <a:cs typeface="Consolas"/>
              </a:rPr>
              <a:t xml:space="preserve"> </a:t>
            </a:r>
            <a:r>
              <a:rPr lang="en-US" sz="1100" b="0" i="0" dirty="0">
                <a:solidFill>
                  <a:srgbClr val="2F6B78"/>
                </a:solidFill>
                <a:latin typeface="Consolas"/>
                <a:cs typeface="Consolas"/>
              </a:rPr>
              <a:t xml:space="preserve">src:BM_DEP</a:t>
            </a:r>
            <a:r>
              <a:rPr lang="en-US" sz="1100" b="0" i="0" dirty="0">
                <a:solidFill>
                  <a:srgbClr val="1F2328"/>
                </a:solidFill>
                <a:latin typeface="Consolas"/>
                <a:cs typeface="Consolas"/>
              </a:rPr>
              <a:t xml:space="preserve">,</a:t>
            </a:r>
            <a:endParaRPr lang="en-US" sz="1100"/>
          </a:p>
          <a:p>
            <a:pPr>
              <a:lnSpc>
                <a:spcPts val="1250"/>
              </a:lnSpc>
              <a:spcBef>
                <a:spcPts val="0"/>
              </a:spcBef>
            </a:pPr>
            <a:r>
              <a:rPr lang="en-US" sz="1100" b="0" i="0" dirty="0">
                <a:solidFill>
                  <a:srgbClr val="1F2328"/>
                </a:solidFill>
                <a:latin typeface="Consolas"/>
                <a:cs typeface="Consolas"/>
              </a:rPr>
              <a:t xml:space="preserve">    </a:t>
            </a:r>
            <a:r>
              <a:rPr lang="en-US" sz="1100" b="0" i="0" dirty="0">
                <a:solidFill>
                  <a:srgbClr val="5B6770"/>
                </a:solidFill>
                <a:latin typeface="Consolas"/>
                <a:cs typeface="Consolas"/>
              </a:rPr>
              <a:t xml:space="preserve">prov:wasDerivedFrom</a:t>
            </a:r>
            <a:r>
              <a:rPr lang="en-US" sz="1100" b="0" i="0" dirty="0">
                <a:solidFill>
                  <a:srgbClr val="1F2328"/>
                </a:solidFill>
                <a:latin typeface="Consolas"/>
                <a:cs typeface="Consolas"/>
              </a:rPr>
              <a:t xml:space="preserve"> </a:t>
            </a:r>
            <a:r>
              <a:rPr lang="en-US" sz="1100" b="0" i="0" dirty="0">
                <a:solidFill>
                  <a:srgbClr val="2F6B78"/>
                </a:solidFill>
                <a:latin typeface="Consolas"/>
                <a:cs typeface="Consolas"/>
              </a:rPr>
              <a:t xml:space="preserve">doc:cisplatin_label</a:t>
            </a:r>
            <a:endParaRPr lang="en-US" sz="1100"/>
          </a:p>
        </p:txBody>
      </p:sp>
      <p:sp>
        <p:nvSpPr>
          <p:cNvPr id="1053" name="Card 3 note"/>
          <p:cNvSpPr txBox="1"/>
          <p:nvPr/>
        </p:nvSpPr>
        <p:spPr>
          <a:xfrm>
            <a:off x="7598664" y="4626864"/>
            <a:ext cx="3575303" cy="475488"/>
          </a:xfrm>
          <a:prstGeom prst="rect">
            <a:avLst/>
          </a:prstGeom>
          <a:noFill/>
          <a:ln>
            <a:noFill/>
          </a:ln>
        </p:spPr>
        <p:txBody>
          <a:bodyPr wrap="square" lIns="0" tIns="0" rIns="0" bIns="0" anchor="t">
            <a:noAutofit/>
          </a:bodyPr>
          <a:lstStyle/>
          <a:p>
            <a:pPr algn="l"/>
            <a:r>
              <a:rPr lang="en-US" sz="1100" b="1" dirty="0">
                <a:solidFill>
                  <a:srgbClr val="B23A1E"/>
                </a:solidFill>
                <a:latin typeface="Calibri"/>
                <a:cs typeface="Calibri"/>
              </a:rPr>
              <a:t xml:space="preserve">No causes axiom. </a:t>
            </a:r>
            <a:r>
              <a:rPr lang="en-US" sz="1100" b="0" dirty="0">
                <a:solidFill>
                  <a:srgbClr val="3A434C"/>
                </a:solidFill>
                <a:latin typeface="Calibri"/>
                <a:cs typeface="Calibri"/>
              </a:rPr>
              <a:t xml:space="preserve">Co-administered gemcitabine, radiotherapy or cirrhosis can also suppress the marrow.</a:t>
            </a:r>
          </a:p>
        </p:txBody>
      </p:sp>
      <p:sp>
        <p:nvSpPr>
          <p:cNvPr id="1054" name="Also next strip"/>
          <p:cNvSpPr/>
          <p:nvPr/>
        </p:nvSpPr>
        <p:spPr>
          <a:xfrm>
            <a:off x="822960" y="5340096"/>
            <a:ext cx="10515600" cy="420624"/>
          </a:xfrm>
          <a:prstGeom prst="roundRect">
            <a:avLst>
              <a:gd name="adj" fmla="val 12000"/>
            </a:avLst>
          </a:prstGeom>
          <a:solidFill>
            <a:srgbClr val="E6F2EC"/>
          </a:solidFill>
          <a:ln>
            <a:noFill/>
          </a:ln>
        </p:spPr>
        <p:txBody>
          <a:bodyPr wrap="square" lIns="182880" tIns="0" rIns="182880" bIns="0" anchor="ctr">
            <a:noAutofit/>
          </a:bodyPr>
          <a:lstStyle/>
          <a:p>
            <a:pPr algn="l"/>
            <a:r>
              <a:rPr lang="en-US" sz="1250" b="1" dirty="0">
                <a:solidFill>
                  <a:srgbClr val="0B6E4F"/>
                </a:solidFill>
                <a:latin typeface="Calibri"/>
                <a:cs typeface="Calibri"/>
              </a:rPr>
              <a:t xml:space="preserve">ALSO NEXT   </a:t>
            </a:r>
            <a:r>
              <a:rPr lang="en-US" sz="1250" b="0" dirty="0">
                <a:solidFill>
                  <a:srgbClr val="1F2328"/>
                </a:solidFill>
                <a:latin typeface="Calibri"/>
                <a:cs typeface="Calibri"/>
              </a:rPr>
              <a:t xml:space="preserve">Validator and reasoner feedback inside the loop, to catch residual P19  ·  aggregate statistics only, so patient data stays in the hospital</a:t>
            </a:r>
          </a:p>
        </p:txBody>
      </p:sp>
      <p:sp>
        <p:nvSpPr>
          <p:cNvPr id="1055" name="Future caption"/>
          <p:cNvSpPr txBox="1"/>
          <p:nvPr/>
        </p:nvSpPr>
        <p:spPr>
          <a:xfrm>
            <a:off x="850392" y="5870448"/>
            <a:ext cx="10488168" cy="237744"/>
          </a:xfrm>
          <a:prstGeom prst="rect">
            <a:avLst/>
          </a:prstGeom>
          <a:noFill/>
          <a:ln>
            <a:noFill/>
          </a:ln>
        </p:spPr>
        <p:txBody>
          <a:bodyPr wrap="square" lIns="0" tIns="0" rIns="0" bIns="0" anchor="t">
            <a:noAutofit/>
          </a:bodyPr>
          <a:lstStyle/>
          <a:p>
            <a:pPr algn="l"/>
            <a:r>
              <a:rPr lang="en-US" sz="1050" b="0" dirty="0">
                <a:solidFill>
                  <a:srgbClr val="5B6770"/>
                </a:solidFill>
                <a:latin typeface="Calibri"/>
                <a:cs typeface="Calibri"/>
              </a:rPr>
              <a:t xml:space="preserve">Instance rows are synthetic. Future directions follow paper Section 5 (instance-level signals, tool feedback, symbolic reasoning).</a:t>
            </a: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35" name="Shape 1035"/>
        <p:cNvGrpSpPr/>
        <p:nvPr/>
      </p:nvGrpSpPr>
      <p:grpSpPr>
        <a:xfrm>
          <a:off x="0" y="0"/>
          <a:ext cx="0" cy="0"/>
          <a:chOff x="0" y="0"/>
          <a:chExt cx="0" cy="0"/>
        </a:xfrm>
      </p:grpSpPr>
      <p:sp>
        <p:nvSpPr>
          <p:cNvPr id="1036" name="TextBox 1035"/>
          <p:cNvSpPr txBox="1"/>
          <p:nvPr/>
        </p:nvSpPr>
        <p:spPr>
          <a:xfrm>
            <a:off x="813816" y="466344"/>
            <a:ext cx="10515600" cy="310896"/>
          </a:xfrm>
          <a:prstGeom prst="rect">
            <a:avLst/>
          </a:prstGeom>
          <a:noFill/>
        </p:spPr>
        <p:txBody>
          <a:bodyPr wrap="square" lIns="0" rIns="0" tIns="0" bIns="0" anchor="ctr">
            <a:spAutoFit/>
          </a:bodyPr>
          <a:lstStyle/>
          <a:p>
            <a:r>
              <a:rPr sz="1400" b="1">
                <a:solidFill>
                  <a:srgbClr val="0B6E4F"/>
                </a:solidFill>
                <a:latin typeface="Consolas"/>
              </a:rPr>
              <a:t>RIGOR  /  ISWC 2026</a:t>
            </a:r>
          </a:p>
        </p:txBody>
      </p:sp>
      <p:sp>
        <p:nvSpPr>
          <p:cNvPr id="1037" name="TextBox 1036"/>
          <p:cNvSpPr txBox="1"/>
          <p:nvPr/>
        </p:nvSpPr>
        <p:spPr>
          <a:xfrm>
            <a:off x="813816" y="914400"/>
            <a:ext cx="6766560" cy="758952"/>
          </a:xfrm>
          <a:prstGeom prst="rect">
            <a:avLst/>
          </a:prstGeom>
          <a:noFill/>
        </p:spPr>
        <p:txBody>
          <a:bodyPr wrap="square" lIns="0" rIns="0" tIns="0" bIns="0" anchor="ctr">
            <a:spAutoFit/>
          </a:bodyPr>
          <a:lstStyle/>
          <a:p>
            <a:r>
              <a:rPr sz="4600" b="1">
                <a:solidFill>
                  <a:srgbClr val="1F2328"/>
                </a:solidFill>
                <a:latin typeface="Cambria"/>
              </a:rPr>
              <a:t>Thank you.</a:t>
            </a:r>
          </a:p>
        </p:txBody>
      </p:sp>
      <p:sp>
        <p:nvSpPr>
          <p:cNvPr id="1038" name="TextBox 1037"/>
          <p:cNvSpPr txBox="1"/>
          <p:nvPr/>
        </p:nvSpPr>
        <p:spPr>
          <a:xfrm>
            <a:off x="841248" y="1773936"/>
            <a:ext cx="6949440" cy="493776"/>
          </a:xfrm>
          <a:prstGeom prst="rect">
            <a:avLst/>
          </a:prstGeom>
          <a:noFill/>
        </p:spPr>
        <p:txBody>
          <a:bodyPr wrap="square" lIns="0" rIns="0" tIns="0" bIns="0" anchor="ctr">
            <a:spAutoFit/>
          </a:bodyPr>
          <a:lstStyle/>
          <a:p>
            <a:r>
              <a:rPr sz="2600" b="0">
                <a:solidFill>
                  <a:srgbClr val="2F6B78"/>
                </a:solidFill>
                <a:latin typeface="Cambria"/>
              </a:rPr>
              <a:t>Questions?</a:t>
            </a:r>
          </a:p>
        </p:txBody>
      </p:sp>
      <p:sp>
        <p:nvSpPr>
          <p:cNvPr id="1039" name="Rounded Rectangle 1038"/>
          <p:cNvSpPr/>
          <p:nvPr/>
        </p:nvSpPr>
        <p:spPr>
          <a:xfrm>
            <a:off x="822960" y="2532888"/>
            <a:ext cx="7114032" cy="2560320"/>
          </a:xfrm>
          <a:prstGeom prst="roundRect">
            <a:avLst/>
          </a:prstGeom>
          <a:solidFill>
            <a:srgbClr val="F3F5F4"/>
          </a:solidFill>
          <a:ln w="12700">
            <a:solidFill>
              <a:srgbClr val="D9DE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0" name="TextBox 1039"/>
          <p:cNvSpPr txBox="1"/>
          <p:nvPr/>
        </p:nvSpPr>
        <p:spPr>
          <a:xfrm>
            <a:off x="1078992" y="2743200"/>
            <a:ext cx="6537960" cy="329184"/>
          </a:xfrm>
          <a:prstGeom prst="rect">
            <a:avLst/>
          </a:prstGeom>
          <a:noFill/>
        </p:spPr>
        <p:txBody>
          <a:bodyPr wrap="square" lIns="0" rIns="0" tIns="0" bIns="0" anchor="ctr">
            <a:spAutoFit/>
          </a:bodyPr>
          <a:lstStyle/>
          <a:p>
            <a:r>
              <a:rPr sz="1450" b="1">
                <a:solidFill>
                  <a:srgbClr val="2F6B78"/>
                </a:solidFill>
                <a:latin typeface="Consolas"/>
              </a:rPr>
              <a:t>FROM A DATABASE SCHEMA TO AN ONTOLOGY</a:t>
            </a:r>
          </a:p>
        </p:txBody>
      </p:sp>
      <p:sp>
        <p:nvSpPr>
          <p:cNvPr id="1041" name="Rounded Rectangle 1040"/>
          <p:cNvSpPr/>
          <p:nvPr/>
        </p:nvSpPr>
        <p:spPr>
          <a:xfrm>
            <a:off x="1143000" y="3264408"/>
            <a:ext cx="1874519" cy="914400"/>
          </a:xfrm>
          <a:prstGeom prst="roundRect">
            <a:avLst/>
          </a:prstGeom>
          <a:solidFill>
            <a:srgbClr val="FFFFFF"/>
          </a:solidFill>
          <a:ln w="12700">
            <a:solidFill>
              <a:srgbClr val="3A7D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2" name="TextBox 1041"/>
          <p:cNvSpPr txBox="1"/>
          <p:nvPr/>
        </p:nvSpPr>
        <p:spPr>
          <a:xfrm>
            <a:off x="1280160" y="3355848"/>
            <a:ext cx="1600200" cy="274320"/>
          </a:xfrm>
          <a:prstGeom prst="rect">
            <a:avLst/>
          </a:prstGeom>
          <a:noFill/>
        </p:spPr>
        <p:txBody>
          <a:bodyPr wrap="square" lIns="0" rIns="0" tIns="0" bIns="0" anchor="ctr">
            <a:spAutoFit/>
          </a:bodyPr>
          <a:lstStyle/>
          <a:p>
            <a:r>
              <a:rPr sz="1900" b="1">
                <a:solidFill>
                  <a:srgbClr val="1F2328"/>
                </a:solidFill>
                <a:latin typeface="Calibri"/>
              </a:rPr>
              <a:t>admission</a:t>
            </a:r>
          </a:p>
        </p:txBody>
      </p:sp>
      <p:sp>
        <p:nvSpPr>
          <p:cNvPr id="1043" name="TextBox 1042"/>
          <p:cNvSpPr txBox="1"/>
          <p:nvPr/>
        </p:nvSpPr>
        <p:spPr>
          <a:xfrm>
            <a:off x="1280160" y="3675887"/>
            <a:ext cx="1554480" cy="219456"/>
          </a:xfrm>
          <a:prstGeom prst="rect">
            <a:avLst/>
          </a:prstGeom>
          <a:noFill/>
        </p:spPr>
        <p:txBody>
          <a:bodyPr wrap="square" lIns="0" rIns="0" tIns="0" bIns="0" anchor="ctr">
            <a:spAutoFit/>
          </a:bodyPr>
          <a:lstStyle/>
          <a:p>
            <a:r>
              <a:rPr sz="1230" b="0">
                <a:solidFill>
                  <a:srgbClr val="5B6770"/>
                </a:solidFill>
                <a:latin typeface="Consolas"/>
              </a:rPr>
              <a:t>patient_id  FK</a:t>
            </a:r>
          </a:p>
        </p:txBody>
      </p:sp>
      <p:sp>
        <p:nvSpPr>
          <p:cNvPr id="1044" name="Chevron 1043"/>
          <p:cNvSpPr/>
          <p:nvPr/>
        </p:nvSpPr>
        <p:spPr>
          <a:xfrm>
            <a:off x="3282696" y="3483864"/>
            <a:ext cx="621792" cy="411480"/>
          </a:xfrm>
          <a:prstGeom prst="chevron">
            <a:avLst/>
          </a:prstGeom>
          <a:solidFill>
            <a:srgbClr val="0B6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5" name="TextBox 1044"/>
          <p:cNvSpPr txBox="1"/>
          <p:nvPr/>
        </p:nvSpPr>
        <p:spPr>
          <a:xfrm>
            <a:off x="3291840" y="3986784"/>
            <a:ext cx="685800" cy="228600"/>
          </a:xfrm>
          <a:prstGeom prst="rect">
            <a:avLst/>
          </a:prstGeom>
          <a:noFill/>
        </p:spPr>
        <p:txBody>
          <a:bodyPr wrap="square" lIns="0" rIns="0" tIns="0" bIns="0" anchor="ctr">
            <a:spAutoFit/>
          </a:bodyPr>
          <a:lstStyle/>
          <a:p>
            <a:pPr algn="ctr"/>
            <a:r>
              <a:rPr sz="1200" b="1">
                <a:solidFill>
                  <a:srgbClr val="0B6E4F"/>
                </a:solidFill>
                <a:latin typeface="Consolas"/>
              </a:rPr>
              <a:t>RIGOR</a:t>
            </a:r>
          </a:p>
        </p:txBody>
      </p:sp>
      <p:sp>
        <p:nvSpPr>
          <p:cNvPr id="1046" name="Rounded Rectangle 1045"/>
          <p:cNvSpPr/>
          <p:nvPr/>
        </p:nvSpPr>
        <p:spPr>
          <a:xfrm>
            <a:off x="4206240" y="3264408"/>
            <a:ext cx="3383280" cy="914400"/>
          </a:xfrm>
          <a:prstGeom prst="roundRect">
            <a:avLst/>
          </a:prstGeom>
          <a:solidFill>
            <a:srgbClr val="FFFFFF"/>
          </a:solidFill>
          <a:ln w="12700">
            <a:solidFill>
              <a:srgbClr val="3A7D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7" name="TextBox 1046"/>
          <p:cNvSpPr txBox="1"/>
          <p:nvPr/>
        </p:nvSpPr>
        <p:spPr>
          <a:xfrm>
            <a:off x="4343400" y="3337560"/>
            <a:ext cx="3127248" cy="310896"/>
          </a:xfrm>
          <a:prstGeom prst="rect">
            <a:avLst/>
          </a:prstGeom>
          <a:noFill/>
        </p:spPr>
        <p:txBody>
          <a:bodyPr wrap="square" lIns="0" rIns="0" tIns="0" bIns="0" anchor="ctr">
            <a:spAutoFit/>
          </a:bodyPr>
          <a:lstStyle/>
          <a:p>
            <a:r>
              <a:rPr sz="1700" b="1">
                <a:solidFill>
                  <a:srgbClr val="1F2328"/>
                </a:solidFill>
                <a:latin typeface="Calibri"/>
              </a:rPr>
              <a:t>Admission → PatientData</a:t>
            </a:r>
          </a:p>
        </p:txBody>
      </p:sp>
      <p:sp>
        <p:nvSpPr>
          <p:cNvPr id="1048" name="TextBox 1047"/>
          <p:cNvSpPr txBox="1"/>
          <p:nvPr/>
        </p:nvSpPr>
        <p:spPr>
          <a:xfrm>
            <a:off x="4343400" y="3675887"/>
            <a:ext cx="3127248" cy="246888"/>
          </a:xfrm>
          <a:prstGeom prst="rect">
            <a:avLst/>
          </a:prstGeom>
          <a:noFill/>
        </p:spPr>
        <p:txBody>
          <a:bodyPr wrap="square" lIns="0" rIns="0" tIns="0" bIns="0" anchor="ctr">
            <a:spAutoFit/>
          </a:bodyPr>
          <a:lstStyle/>
          <a:p>
            <a:r>
              <a:rPr sz="1250" b="0">
                <a:solidFill>
                  <a:srgbClr val="5B6770"/>
                </a:solidFill>
                <a:latin typeface="Calibri"/>
              </a:rPr>
              <a:t>Meaningful labels + provenance</a:t>
            </a:r>
          </a:p>
        </p:txBody>
      </p:sp>
      <p:sp>
        <p:nvSpPr>
          <p:cNvPr id="1049" name="TextBox 1048"/>
          <p:cNvSpPr txBox="1"/>
          <p:nvPr/>
        </p:nvSpPr>
        <p:spPr>
          <a:xfrm>
            <a:off x="1133856" y="4471416"/>
            <a:ext cx="6364224" cy="320040"/>
          </a:xfrm>
          <a:prstGeom prst="rect">
            <a:avLst/>
          </a:prstGeom>
          <a:noFill/>
        </p:spPr>
        <p:txBody>
          <a:bodyPr wrap="square" lIns="0" rIns="0" tIns="0" bIns="0" anchor="ctr">
            <a:spAutoFit/>
          </a:bodyPr>
          <a:lstStyle/>
          <a:p>
            <a:r>
              <a:rPr sz="1560" b="0">
                <a:solidFill>
                  <a:srgbClr val="1F2328"/>
                </a:solidFill>
                <a:latin typeface="Calibri"/>
              </a:rPr>
              <a:t>Meaning without losing structure · link to the data intact · preferred by experts</a:t>
            </a:r>
          </a:p>
        </p:txBody>
      </p:sp>
      <p:sp>
        <p:nvSpPr>
          <p:cNvPr id="1050" name="Rounded Rectangle 1049"/>
          <p:cNvSpPr/>
          <p:nvPr/>
        </p:nvSpPr>
        <p:spPr>
          <a:xfrm>
            <a:off x="8183879" y="2523744"/>
            <a:ext cx="3136392" cy="2871216"/>
          </a:xfrm>
          <a:prstGeom prst="roundRect">
            <a:avLst/>
          </a:prstGeom>
          <a:solidFill>
            <a:srgbClr val="F3F5F4"/>
          </a:solidFill>
          <a:ln w="12700">
            <a:solidFill>
              <a:srgbClr val="D9DE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1" name="TextBox 1050"/>
          <p:cNvSpPr txBox="1"/>
          <p:nvPr/>
        </p:nvSpPr>
        <p:spPr>
          <a:xfrm>
            <a:off x="8403336" y="2724912"/>
            <a:ext cx="2724912" cy="274320"/>
          </a:xfrm>
          <a:prstGeom prst="rect">
            <a:avLst/>
          </a:prstGeom>
          <a:noFill/>
        </p:spPr>
        <p:txBody>
          <a:bodyPr wrap="square" lIns="0" rIns="0" tIns="0" bIns="0" anchor="ctr">
            <a:spAutoFit/>
          </a:bodyPr>
          <a:lstStyle/>
          <a:p>
            <a:r>
              <a:rPr sz="1400" b="1">
                <a:solidFill>
                  <a:srgbClr val="2F6B78"/>
                </a:solidFill>
                <a:latin typeface="Consolas"/>
              </a:rPr>
              <a:t>PAPER + OPEN SOURCE</a:t>
            </a:r>
          </a:p>
        </p:txBody>
      </p:sp>
      <p:pic>
        <p:nvPicPr>
          <p:cNvPr id="1052" name="Picture 1051" descr="QR code: https://arxiv.org/abs/2506.01232 (paper)"/>
          <p:cNvPicPr>
            <a:picLocks noChangeAspect="1"/>
          </p:cNvPicPr>
          <p:nvPr/>
        </p:nvPicPr>
        <p:blipFill>
          <a:blip r:embed="rId3"/>
          <a:stretch>
            <a:fillRect/>
          </a:stretch>
        </p:blipFill>
        <p:spPr>
          <a:xfrm>
            <a:off x="8458200" y="3182112"/>
            <a:ext cx="1316736" cy="1316736"/>
          </a:xfrm>
          <a:prstGeom prst="rect">
            <a:avLst/>
          </a:prstGeom>
        </p:spPr>
      </p:pic>
      <p:sp>
        <p:nvSpPr>
          <p:cNvPr id="1053" name="TextBox 1052"/>
          <p:cNvSpPr txBox="1"/>
          <p:nvPr/>
        </p:nvSpPr>
        <p:spPr>
          <a:xfrm>
            <a:off x="8412480" y="4572000"/>
            <a:ext cx="1408176" cy="265176"/>
          </a:xfrm>
          <a:prstGeom prst="rect">
            <a:avLst/>
          </a:prstGeom>
          <a:noFill/>
        </p:spPr>
        <p:txBody>
          <a:bodyPr wrap="square" lIns="0" rIns="0" tIns="0" bIns="0" anchor="ctr">
            <a:spAutoFit/>
          </a:bodyPr>
          <a:lstStyle/>
          <a:p>
            <a:pPr algn="ctr"/>
            <a:r>
              <a:rPr sz="1500" b="1">
                <a:solidFill>
                  <a:srgbClr val="1F2328"/>
                </a:solidFill>
                <a:latin typeface="Calibri"/>
              </a:rPr>
              <a:t>Paper</a:t>
            </a:r>
          </a:p>
        </p:txBody>
      </p:sp>
      <p:pic>
        <p:nvPicPr>
          <p:cNvPr id="1054" name="Picture 1053" descr="QR code: https://github.com/NadeenAhmad/RIGOR (code)"/>
          <p:cNvPicPr>
            <a:picLocks noChangeAspect="1"/>
          </p:cNvPicPr>
          <p:nvPr/>
        </p:nvPicPr>
        <p:blipFill>
          <a:blip r:embed="rId4"/>
          <a:stretch>
            <a:fillRect/>
          </a:stretch>
        </p:blipFill>
        <p:spPr>
          <a:xfrm>
            <a:off x="10012680" y="3182112"/>
            <a:ext cx="1316736" cy="1316736"/>
          </a:xfrm>
          <a:prstGeom prst="rect">
            <a:avLst/>
          </a:prstGeom>
        </p:spPr>
      </p:pic>
      <p:sp>
        <p:nvSpPr>
          <p:cNvPr id="1055" name="TextBox 1054"/>
          <p:cNvSpPr txBox="1"/>
          <p:nvPr/>
        </p:nvSpPr>
        <p:spPr>
          <a:xfrm>
            <a:off x="9966959" y="4572000"/>
            <a:ext cx="1408176" cy="265176"/>
          </a:xfrm>
          <a:prstGeom prst="rect">
            <a:avLst/>
          </a:prstGeom>
          <a:noFill/>
        </p:spPr>
        <p:txBody>
          <a:bodyPr wrap="square" lIns="0" rIns="0" tIns="0" bIns="0" anchor="ctr">
            <a:spAutoFit/>
          </a:bodyPr>
          <a:lstStyle/>
          <a:p>
            <a:pPr algn="ctr"/>
            <a:r>
              <a:rPr sz="1500" b="1">
                <a:solidFill>
                  <a:srgbClr val="1F2328"/>
                </a:solidFill>
                <a:latin typeface="Calibri"/>
              </a:rPr>
              <a:t>GitHub</a:t>
            </a:r>
          </a:p>
        </p:txBody>
      </p:sp>
      <p:cxnSp>
        <p:nvCxnSpPr>
          <p:cNvPr id="1056" name="Connector 1055"/>
          <p:cNvCxnSpPr/>
          <p:nvPr/>
        </p:nvCxnSpPr>
        <p:spPr>
          <a:xfrm>
            <a:off x="832104" y="5660136"/>
            <a:ext cx="10488168" cy="0"/>
          </a:xfrm>
          <a:prstGeom prst="line">
            <a:avLst/>
          </a:prstGeom>
          <a:ln w="12700">
            <a:solidFill>
              <a:srgbClr val="D9DEDB"/>
            </a:solidFill>
          </a:ln>
        </p:spPr>
        <p:style>
          <a:lnRef idx="2">
            <a:schemeClr val="accent1"/>
          </a:lnRef>
          <a:fillRef idx="0">
            <a:schemeClr val="accent1"/>
          </a:fillRef>
          <a:effectRef idx="1">
            <a:schemeClr val="accent1"/>
          </a:effectRef>
          <a:fontRef idx="minor">
            <a:schemeClr val="tx1"/>
          </a:fontRef>
        </p:style>
      </p:cxnSp>
      <p:sp>
        <p:nvSpPr>
          <p:cNvPr id="1057" name="TextBox 1056"/>
          <p:cNvSpPr txBox="1"/>
          <p:nvPr/>
        </p:nvSpPr>
        <p:spPr>
          <a:xfrm>
            <a:off x="841248" y="5788152"/>
            <a:ext cx="8778240" cy="292608"/>
          </a:xfrm>
          <a:prstGeom prst="rect">
            <a:avLst/>
          </a:prstGeom>
          <a:noFill/>
        </p:spPr>
        <p:txBody>
          <a:bodyPr wrap="square" lIns="0" rIns="0" tIns="0" bIns="0" anchor="ctr">
            <a:spAutoFit/>
          </a:bodyPr>
          <a:lstStyle/>
          <a:p>
            <a:r>
              <a:rPr sz="1700" b="0">
                <a:solidFill>
                  <a:srgbClr val="1F2328"/>
                </a:solidFill>
                <a:latin typeface="Calibri"/>
              </a:rPr>
              <a:t>nadeen.fathallah@ki.uni-stuttgart.de</a:t>
            </a:r>
          </a:p>
        </p:txBody>
      </p:sp>
      <p:sp>
        <p:nvSpPr>
          <p:cNvPr id="1058" name="TextBox 1057"/>
          <p:cNvSpPr txBox="1"/>
          <p:nvPr/>
        </p:nvSpPr>
        <p:spPr>
          <a:xfrm>
            <a:off x="9418320" y="5769864"/>
            <a:ext cx="1883664" cy="274320"/>
          </a:xfrm>
          <a:prstGeom prst="rect">
            <a:avLst/>
          </a:prstGeom>
          <a:noFill/>
        </p:spPr>
        <p:txBody>
          <a:bodyPr wrap="square" lIns="0" rIns="0" tIns="0" bIns="0" anchor="ctr">
            <a:spAutoFit/>
          </a:bodyPr>
          <a:lstStyle/>
          <a:p>
            <a:pPr algn="r"/>
            <a:r>
              <a:rPr sz="1270" b="0">
                <a:solidFill>
                  <a:srgbClr val="5B6770"/>
                </a:solidFill>
                <a:latin typeface="Calibri"/>
              </a:rPr>
              <a:t>ISWC 2026 · Bari</a:t>
            </a: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45" name="Shape 945"/>
        <p:cNvGrpSpPr/>
        <p:nvPr/>
      </p:nvGrpSpPr>
      <p:grpSpPr>
        <a:xfrm>
          <a:off x="0" y="0"/>
          <a:ext cx="0" cy="0"/>
          <a:chOff x="0" y="0"/>
          <a:chExt cx="0" cy="0"/>
        </a:xfrm>
      </p:grpSpPr>
      <p:sp>
        <p:nvSpPr>
          <p:cNvPr id="946" name="TextBox 945"/>
          <p:cNvSpPr txBox="1"/>
          <p:nvPr/>
        </p:nvSpPr>
        <p:spPr>
          <a:xfrm>
            <a:off x="777240" y="347472"/>
            <a:ext cx="10058400" cy="292608"/>
          </a:xfrm>
          <a:prstGeom prst="rect">
            <a:avLst/>
          </a:prstGeom>
          <a:noFill/>
        </p:spPr>
        <p:txBody>
          <a:bodyPr wrap="square" lIns="0" rIns="0" tIns="0" bIns="0">
            <a:spAutoFit/>
          </a:bodyPr>
          <a:lstStyle/>
          <a:p>
            <a:pPr algn="l"/>
            <a:r>
              <a:rPr sz="1500" b="1">
                <a:solidFill>
                  <a:srgbClr val="0B6E4F"/>
                </a:solidFill>
                <a:latin typeface="Consolas"/>
              </a:rPr>
              <a:t>BACKUP  /  B1</a:t>
            </a:r>
          </a:p>
        </p:txBody>
      </p:sp>
      <p:sp>
        <p:nvSpPr>
          <p:cNvPr id="947" name="TextBox 946"/>
          <p:cNvSpPr txBox="1"/>
          <p:nvPr/>
        </p:nvSpPr>
        <p:spPr>
          <a:xfrm>
            <a:off x="777240" y="768096"/>
            <a:ext cx="10881360" cy="530352"/>
          </a:xfrm>
          <a:prstGeom prst="rect">
            <a:avLst/>
          </a:prstGeom>
          <a:noFill/>
        </p:spPr>
        <p:txBody>
          <a:bodyPr wrap="square" lIns="0" rIns="0" tIns="0" bIns="0">
            <a:spAutoFit/>
          </a:bodyPr>
          <a:lstStyle/>
          <a:p>
            <a:pPr algn="l"/>
            <a:r>
              <a:rPr sz="2600" b="1">
                <a:solidFill>
                  <a:srgbClr val="1F2328"/>
                </a:solidFill>
                <a:latin typeface="Cambria"/>
              </a:rPr>
              <a:t>Raw OOPS! pitfall counts (paper Table 7).</a:t>
            </a:r>
          </a:p>
        </p:txBody>
      </p:sp>
      <p:sp>
        <p:nvSpPr>
          <p:cNvPr id="948" name="TextBox 947"/>
          <p:cNvSpPr txBox="1"/>
          <p:nvPr/>
        </p:nvSpPr>
        <p:spPr>
          <a:xfrm>
            <a:off x="777240" y="1371600"/>
            <a:ext cx="10789920" cy="347472"/>
          </a:xfrm>
          <a:prstGeom prst="rect">
            <a:avLst/>
          </a:prstGeom>
          <a:noFill/>
        </p:spPr>
        <p:txBody>
          <a:bodyPr wrap="square" lIns="0" rIns="0" tIns="0" bIns="0">
            <a:spAutoFit/>
          </a:bodyPr>
          <a:lstStyle/>
          <a:p>
            <a:pPr algn="l"/>
            <a:r>
              <a:rPr sz="1400" b="0">
                <a:solidFill>
                  <a:srgbClr val="5B6770"/>
                </a:solidFill>
                <a:latin typeface="Calibri"/>
              </a:rPr>
              <a:t>OOPS! findings per ontology (lower is better) · Same dataset and generator model in each comparison</a:t>
            </a:r>
          </a:p>
        </p:txBody>
      </p:sp>
      <p:sp>
        <p:nvSpPr>
          <p:cNvPr id="949" name="Rectangle 948"/>
          <p:cNvSpPr/>
          <p:nvPr/>
        </p:nvSpPr>
        <p:spPr>
          <a:xfrm>
            <a:off x="822960" y="1874519"/>
            <a:ext cx="2514600" cy="475488"/>
          </a:xfrm>
          <a:prstGeom prst="rect">
            <a:avLst/>
          </a:prstGeom>
          <a:solidFill>
            <a:srgbClr val="FFFFFF"/>
          </a:solidFill>
          <a:ln>
            <a:solidFill>
              <a:srgbClr val="D9DE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0" name="TextBox 949"/>
          <p:cNvSpPr txBox="1"/>
          <p:nvPr/>
        </p:nvSpPr>
        <p:spPr>
          <a:xfrm>
            <a:off x="969264" y="1984248"/>
            <a:ext cx="2258568" cy="237744"/>
          </a:xfrm>
          <a:prstGeom prst="rect">
            <a:avLst/>
          </a:prstGeom>
          <a:noFill/>
        </p:spPr>
        <p:txBody>
          <a:bodyPr wrap="square" lIns="0" rIns="0" tIns="0" bIns="0">
            <a:spAutoFit/>
          </a:bodyPr>
          <a:lstStyle/>
          <a:p>
            <a:pPr algn="l"/>
            <a:r>
              <a:rPr sz="1500" b="1">
                <a:solidFill>
                  <a:srgbClr val="2F6B78"/>
                </a:solidFill>
                <a:latin typeface="Calibri"/>
              </a:rPr>
              <a:t>METHOD</a:t>
            </a:r>
          </a:p>
        </p:txBody>
      </p:sp>
      <p:sp>
        <p:nvSpPr>
          <p:cNvPr id="951" name="Rectangle 950"/>
          <p:cNvSpPr/>
          <p:nvPr/>
        </p:nvSpPr>
        <p:spPr>
          <a:xfrm>
            <a:off x="3474720" y="1874519"/>
            <a:ext cx="2606040" cy="475488"/>
          </a:xfrm>
          <a:prstGeom prst="rect">
            <a:avLst/>
          </a:prstGeom>
          <a:solidFill>
            <a:srgbClr val="FFFFFF"/>
          </a:solidFill>
          <a:ln>
            <a:solidFill>
              <a:srgbClr val="D9DE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2" name="TextBox 951"/>
          <p:cNvSpPr txBox="1"/>
          <p:nvPr/>
        </p:nvSpPr>
        <p:spPr>
          <a:xfrm>
            <a:off x="3621024" y="1984248"/>
            <a:ext cx="2350008" cy="237744"/>
          </a:xfrm>
          <a:prstGeom prst="rect">
            <a:avLst/>
          </a:prstGeom>
          <a:noFill/>
        </p:spPr>
        <p:txBody>
          <a:bodyPr wrap="square" lIns="0" rIns="0" tIns="0" bIns="0">
            <a:spAutoFit/>
          </a:bodyPr>
          <a:lstStyle/>
          <a:p>
            <a:pPr algn="l"/>
            <a:r>
              <a:rPr sz="1500" b="1">
                <a:solidFill>
                  <a:srgbClr val="2F6B78"/>
                </a:solidFill>
                <a:latin typeface="Calibri"/>
              </a:rPr>
              <a:t>LIVER CANCER</a:t>
            </a:r>
          </a:p>
        </p:txBody>
      </p:sp>
      <p:sp>
        <p:nvSpPr>
          <p:cNvPr id="953" name="TextBox 952"/>
          <p:cNvSpPr txBox="1"/>
          <p:nvPr/>
        </p:nvSpPr>
        <p:spPr>
          <a:xfrm>
            <a:off x="3621024" y="2212848"/>
            <a:ext cx="2350008" cy="182880"/>
          </a:xfrm>
          <a:prstGeom prst="rect">
            <a:avLst/>
          </a:prstGeom>
          <a:noFill/>
        </p:spPr>
        <p:txBody>
          <a:bodyPr wrap="square" lIns="0" rIns="0" tIns="0" bIns="0">
            <a:spAutoFit/>
          </a:bodyPr>
          <a:lstStyle/>
          <a:p>
            <a:pPr algn="l"/>
            <a:r>
              <a:rPr sz="1000" b="0">
                <a:solidFill>
                  <a:srgbClr val="5B6770"/>
                </a:solidFill>
                <a:latin typeface="Calibri"/>
              </a:rPr>
              <a:t>16 tables</a:t>
            </a:r>
          </a:p>
        </p:txBody>
      </p:sp>
      <p:sp>
        <p:nvSpPr>
          <p:cNvPr id="954" name="Rectangle 953"/>
          <p:cNvSpPr/>
          <p:nvPr/>
        </p:nvSpPr>
        <p:spPr>
          <a:xfrm>
            <a:off x="6217920" y="1874519"/>
            <a:ext cx="2606040" cy="475488"/>
          </a:xfrm>
          <a:prstGeom prst="rect">
            <a:avLst/>
          </a:prstGeom>
          <a:solidFill>
            <a:srgbClr val="FFFFFF"/>
          </a:solidFill>
          <a:ln>
            <a:solidFill>
              <a:srgbClr val="D9DE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5" name="TextBox 954"/>
          <p:cNvSpPr txBox="1"/>
          <p:nvPr/>
        </p:nvSpPr>
        <p:spPr>
          <a:xfrm>
            <a:off x="6364224" y="1984248"/>
            <a:ext cx="2350008" cy="237744"/>
          </a:xfrm>
          <a:prstGeom prst="rect">
            <a:avLst/>
          </a:prstGeom>
          <a:noFill/>
        </p:spPr>
        <p:txBody>
          <a:bodyPr wrap="square" lIns="0" rIns="0" tIns="0" bIns="0">
            <a:spAutoFit/>
          </a:bodyPr>
          <a:lstStyle/>
          <a:p>
            <a:pPr algn="l"/>
            <a:r>
              <a:rPr sz="1500" b="1">
                <a:solidFill>
                  <a:srgbClr val="2F6B78"/>
                </a:solidFill>
                <a:latin typeface="Calibri"/>
              </a:rPr>
              <a:t>eICU-CRD</a:t>
            </a:r>
          </a:p>
        </p:txBody>
      </p:sp>
      <p:sp>
        <p:nvSpPr>
          <p:cNvPr id="956" name="TextBox 955"/>
          <p:cNvSpPr txBox="1"/>
          <p:nvPr/>
        </p:nvSpPr>
        <p:spPr>
          <a:xfrm>
            <a:off x="6364224" y="2212848"/>
            <a:ext cx="2350008" cy="182880"/>
          </a:xfrm>
          <a:prstGeom prst="rect">
            <a:avLst/>
          </a:prstGeom>
          <a:noFill/>
        </p:spPr>
        <p:txBody>
          <a:bodyPr wrap="square" lIns="0" rIns="0" tIns="0" bIns="0">
            <a:spAutoFit/>
          </a:bodyPr>
          <a:lstStyle/>
          <a:p>
            <a:pPr algn="l"/>
            <a:r>
              <a:rPr sz="1000" b="0">
                <a:solidFill>
                  <a:srgbClr val="5B6770"/>
                </a:solidFill>
                <a:latin typeface="Calibri"/>
              </a:rPr>
              <a:t>31 tables</a:t>
            </a:r>
          </a:p>
        </p:txBody>
      </p:sp>
      <p:sp>
        <p:nvSpPr>
          <p:cNvPr id="957" name="Rectangle 956"/>
          <p:cNvSpPr/>
          <p:nvPr/>
        </p:nvSpPr>
        <p:spPr>
          <a:xfrm>
            <a:off x="8961120" y="1874519"/>
            <a:ext cx="2423160" cy="475488"/>
          </a:xfrm>
          <a:prstGeom prst="rect">
            <a:avLst/>
          </a:prstGeom>
          <a:solidFill>
            <a:srgbClr val="FFFFFF"/>
          </a:solidFill>
          <a:ln>
            <a:solidFill>
              <a:srgbClr val="D9DE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8" name="TextBox 957"/>
          <p:cNvSpPr txBox="1"/>
          <p:nvPr/>
        </p:nvSpPr>
        <p:spPr>
          <a:xfrm>
            <a:off x="9107424" y="1984248"/>
            <a:ext cx="2167128" cy="237744"/>
          </a:xfrm>
          <a:prstGeom prst="rect">
            <a:avLst/>
          </a:prstGeom>
          <a:noFill/>
        </p:spPr>
        <p:txBody>
          <a:bodyPr wrap="square" lIns="0" rIns="0" tIns="0" bIns="0">
            <a:spAutoFit/>
          </a:bodyPr>
          <a:lstStyle/>
          <a:p>
            <a:pPr algn="l"/>
            <a:r>
              <a:rPr sz="1500" b="1">
                <a:solidFill>
                  <a:srgbClr val="2F6B78"/>
                </a:solidFill>
                <a:latin typeface="Calibri"/>
              </a:rPr>
              <a:t>CHINOOK</a:t>
            </a:r>
          </a:p>
        </p:txBody>
      </p:sp>
      <p:sp>
        <p:nvSpPr>
          <p:cNvPr id="959" name="TextBox 958"/>
          <p:cNvSpPr txBox="1"/>
          <p:nvPr/>
        </p:nvSpPr>
        <p:spPr>
          <a:xfrm>
            <a:off x="9107424" y="2212848"/>
            <a:ext cx="2167128" cy="182880"/>
          </a:xfrm>
          <a:prstGeom prst="rect">
            <a:avLst/>
          </a:prstGeom>
          <a:noFill/>
        </p:spPr>
        <p:txBody>
          <a:bodyPr wrap="square" lIns="0" rIns="0" tIns="0" bIns="0">
            <a:spAutoFit/>
          </a:bodyPr>
          <a:lstStyle/>
          <a:p>
            <a:pPr algn="l"/>
            <a:r>
              <a:rPr sz="1000" b="0">
                <a:solidFill>
                  <a:srgbClr val="5B6770"/>
                </a:solidFill>
                <a:latin typeface="Calibri"/>
              </a:rPr>
              <a:t>11 tables</a:t>
            </a:r>
          </a:p>
        </p:txBody>
      </p:sp>
      <p:sp>
        <p:nvSpPr>
          <p:cNvPr id="960" name="Rounded Rectangle 959"/>
          <p:cNvSpPr/>
          <p:nvPr/>
        </p:nvSpPr>
        <p:spPr>
          <a:xfrm>
            <a:off x="822960" y="2432304"/>
            <a:ext cx="2514600" cy="603504"/>
          </a:xfrm>
          <a:prstGeom prst="roundRect">
            <a:avLst/>
          </a:prstGeom>
          <a:solidFill>
            <a:srgbClr val="FFFFFF"/>
          </a:solidFill>
          <a:ln>
            <a:solidFill>
              <a:srgbClr val="D9DE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1" name="TextBox 960"/>
          <p:cNvSpPr txBox="1"/>
          <p:nvPr/>
        </p:nvSpPr>
        <p:spPr>
          <a:xfrm>
            <a:off x="996696" y="2578608"/>
            <a:ext cx="2240280" cy="292608"/>
          </a:xfrm>
          <a:prstGeom prst="rect">
            <a:avLst/>
          </a:prstGeom>
          <a:noFill/>
        </p:spPr>
        <p:txBody>
          <a:bodyPr wrap="square" lIns="0" rIns="0" tIns="0" bIns="0">
            <a:spAutoFit/>
          </a:bodyPr>
          <a:lstStyle/>
          <a:p>
            <a:pPr algn="l"/>
            <a:r>
              <a:rPr sz="1700" b="1">
                <a:solidFill>
                  <a:srgbClr val="1F2328"/>
                </a:solidFill>
                <a:latin typeface="Calibri"/>
              </a:rPr>
              <a:t>Direct Mapping</a:t>
            </a:r>
          </a:p>
        </p:txBody>
      </p:sp>
      <p:sp>
        <p:nvSpPr>
          <p:cNvPr id="962" name="Rounded Rectangle 961"/>
          <p:cNvSpPr/>
          <p:nvPr/>
        </p:nvSpPr>
        <p:spPr>
          <a:xfrm>
            <a:off x="3474720" y="2432304"/>
            <a:ext cx="2606040" cy="603504"/>
          </a:xfrm>
          <a:prstGeom prst="roundRect">
            <a:avLst/>
          </a:prstGeom>
          <a:solidFill>
            <a:srgbClr val="FFFFFF"/>
          </a:solidFill>
          <a:ln>
            <a:solidFill>
              <a:srgbClr val="D9DE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3" name="TextBox 962"/>
          <p:cNvSpPr txBox="1"/>
          <p:nvPr/>
        </p:nvSpPr>
        <p:spPr>
          <a:xfrm>
            <a:off x="3611879" y="2569464"/>
            <a:ext cx="2368296" cy="329184"/>
          </a:xfrm>
          <a:prstGeom prst="rect">
            <a:avLst/>
          </a:prstGeom>
          <a:noFill/>
        </p:spPr>
        <p:txBody>
          <a:bodyPr wrap="square" lIns="0" rIns="0" tIns="0" bIns="0">
            <a:spAutoFit/>
          </a:bodyPr>
          <a:lstStyle/>
          <a:p>
            <a:pPr algn="ctr"/>
            <a:r>
              <a:rPr sz="1900" b="0">
                <a:solidFill>
                  <a:srgbClr val="1F2328"/>
                </a:solidFill>
                <a:latin typeface="Calibri"/>
              </a:rPr>
              <a:t>731</a:t>
            </a:r>
          </a:p>
        </p:txBody>
      </p:sp>
      <p:sp>
        <p:nvSpPr>
          <p:cNvPr id="964" name="Rounded Rectangle 963"/>
          <p:cNvSpPr/>
          <p:nvPr/>
        </p:nvSpPr>
        <p:spPr>
          <a:xfrm>
            <a:off x="6217920" y="2432304"/>
            <a:ext cx="2606040" cy="603504"/>
          </a:xfrm>
          <a:prstGeom prst="roundRect">
            <a:avLst/>
          </a:prstGeom>
          <a:solidFill>
            <a:srgbClr val="FFFFFF"/>
          </a:solidFill>
          <a:ln>
            <a:solidFill>
              <a:srgbClr val="D9DE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5" name="TextBox 964"/>
          <p:cNvSpPr txBox="1"/>
          <p:nvPr/>
        </p:nvSpPr>
        <p:spPr>
          <a:xfrm>
            <a:off x="6355080" y="2569464"/>
            <a:ext cx="2368296" cy="329184"/>
          </a:xfrm>
          <a:prstGeom prst="rect">
            <a:avLst/>
          </a:prstGeom>
          <a:noFill/>
        </p:spPr>
        <p:txBody>
          <a:bodyPr wrap="square" lIns="0" rIns="0" tIns="0" bIns="0">
            <a:spAutoFit/>
          </a:bodyPr>
          <a:lstStyle/>
          <a:p>
            <a:pPr algn="ctr"/>
            <a:r>
              <a:rPr sz="1900" b="0">
                <a:solidFill>
                  <a:srgbClr val="1F2328"/>
                </a:solidFill>
                <a:latin typeface="Calibri"/>
              </a:rPr>
              <a:t>665</a:t>
            </a:r>
          </a:p>
        </p:txBody>
      </p:sp>
      <p:sp>
        <p:nvSpPr>
          <p:cNvPr id="966" name="Rounded Rectangle 965"/>
          <p:cNvSpPr/>
          <p:nvPr/>
        </p:nvSpPr>
        <p:spPr>
          <a:xfrm>
            <a:off x="8961120" y="2432304"/>
            <a:ext cx="2423160" cy="603504"/>
          </a:xfrm>
          <a:prstGeom prst="roundRect">
            <a:avLst/>
          </a:prstGeom>
          <a:solidFill>
            <a:srgbClr val="FFFFFF"/>
          </a:solidFill>
          <a:ln>
            <a:solidFill>
              <a:srgbClr val="D9DE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7" name="TextBox 966"/>
          <p:cNvSpPr txBox="1"/>
          <p:nvPr/>
        </p:nvSpPr>
        <p:spPr>
          <a:xfrm>
            <a:off x="9098280" y="2569464"/>
            <a:ext cx="2185415" cy="329184"/>
          </a:xfrm>
          <a:prstGeom prst="rect">
            <a:avLst/>
          </a:prstGeom>
          <a:noFill/>
        </p:spPr>
        <p:txBody>
          <a:bodyPr wrap="square" lIns="0" rIns="0" tIns="0" bIns="0">
            <a:spAutoFit/>
          </a:bodyPr>
          <a:lstStyle/>
          <a:p>
            <a:pPr algn="ctr"/>
            <a:r>
              <a:rPr sz="1900" b="0">
                <a:solidFill>
                  <a:srgbClr val="1F2328"/>
                </a:solidFill>
                <a:latin typeface="Calibri"/>
              </a:rPr>
              <a:t>102</a:t>
            </a:r>
          </a:p>
        </p:txBody>
      </p:sp>
      <p:sp>
        <p:nvSpPr>
          <p:cNvPr id="968" name="Rounded Rectangle 967"/>
          <p:cNvSpPr/>
          <p:nvPr/>
        </p:nvSpPr>
        <p:spPr>
          <a:xfrm>
            <a:off x="822960" y="3090672"/>
            <a:ext cx="2514600" cy="603504"/>
          </a:xfrm>
          <a:prstGeom prst="roundRect">
            <a:avLst/>
          </a:prstGeom>
          <a:solidFill>
            <a:srgbClr val="FFFFFF"/>
          </a:solidFill>
          <a:ln>
            <a:solidFill>
              <a:srgbClr val="D9DE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9" name="TextBox 968"/>
          <p:cNvSpPr txBox="1"/>
          <p:nvPr/>
        </p:nvSpPr>
        <p:spPr>
          <a:xfrm>
            <a:off x="996696" y="3236976"/>
            <a:ext cx="2240280" cy="292608"/>
          </a:xfrm>
          <a:prstGeom prst="rect">
            <a:avLst/>
          </a:prstGeom>
          <a:noFill/>
        </p:spPr>
        <p:txBody>
          <a:bodyPr wrap="square" lIns="0" rIns="0" tIns="0" bIns="0">
            <a:spAutoFit/>
          </a:bodyPr>
          <a:lstStyle/>
          <a:p>
            <a:pPr algn="l"/>
            <a:r>
              <a:rPr sz="1700" b="1">
                <a:solidFill>
                  <a:srgbClr val="1F2328"/>
                </a:solidFill>
                <a:latin typeface="Calibri"/>
              </a:rPr>
              <a:t>LLM baseline</a:t>
            </a:r>
          </a:p>
        </p:txBody>
      </p:sp>
      <p:sp>
        <p:nvSpPr>
          <p:cNvPr id="970" name="Rounded Rectangle 969"/>
          <p:cNvSpPr/>
          <p:nvPr/>
        </p:nvSpPr>
        <p:spPr>
          <a:xfrm>
            <a:off x="3474720" y="3090672"/>
            <a:ext cx="2606040" cy="603504"/>
          </a:xfrm>
          <a:prstGeom prst="roundRect">
            <a:avLst/>
          </a:prstGeom>
          <a:solidFill>
            <a:srgbClr val="FFFFFF"/>
          </a:solidFill>
          <a:ln>
            <a:solidFill>
              <a:srgbClr val="D9DE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1" name="TextBox 970"/>
          <p:cNvSpPr txBox="1"/>
          <p:nvPr/>
        </p:nvSpPr>
        <p:spPr>
          <a:xfrm>
            <a:off x="3611879" y="3227832"/>
            <a:ext cx="2368296" cy="329184"/>
          </a:xfrm>
          <a:prstGeom prst="rect">
            <a:avLst/>
          </a:prstGeom>
          <a:noFill/>
        </p:spPr>
        <p:txBody>
          <a:bodyPr wrap="square" lIns="0" rIns="0" tIns="0" bIns="0">
            <a:spAutoFit/>
          </a:bodyPr>
          <a:lstStyle/>
          <a:p>
            <a:pPr algn="ctr"/>
            <a:r>
              <a:rPr sz="1900" b="0">
                <a:solidFill>
                  <a:srgbClr val="1F2328"/>
                </a:solidFill>
                <a:latin typeface="Calibri"/>
              </a:rPr>
              <a:t>422 / 397 / 403</a:t>
            </a:r>
          </a:p>
        </p:txBody>
      </p:sp>
      <p:sp>
        <p:nvSpPr>
          <p:cNvPr id="972" name="Rounded Rectangle 971"/>
          <p:cNvSpPr/>
          <p:nvPr/>
        </p:nvSpPr>
        <p:spPr>
          <a:xfrm>
            <a:off x="6217920" y="3090672"/>
            <a:ext cx="2606040" cy="603504"/>
          </a:xfrm>
          <a:prstGeom prst="roundRect">
            <a:avLst/>
          </a:prstGeom>
          <a:solidFill>
            <a:srgbClr val="FFFFFF"/>
          </a:solidFill>
          <a:ln>
            <a:solidFill>
              <a:srgbClr val="D9DE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3" name="TextBox 972"/>
          <p:cNvSpPr txBox="1"/>
          <p:nvPr/>
        </p:nvSpPr>
        <p:spPr>
          <a:xfrm>
            <a:off x="6355080" y="3227832"/>
            <a:ext cx="2368296" cy="329184"/>
          </a:xfrm>
          <a:prstGeom prst="rect">
            <a:avLst/>
          </a:prstGeom>
          <a:noFill/>
        </p:spPr>
        <p:txBody>
          <a:bodyPr wrap="square" lIns="0" rIns="0" tIns="0" bIns="0">
            <a:spAutoFit/>
          </a:bodyPr>
          <a:lstStyle/>
          <a:p>
            <a:pPr algn="ctr"/>
            <a:r>
              <a:rPr sz="1900" b="0">
                <a:solidFill>
                  <a:srgbClr val="1F2328"/>
                </a:solidFill>
                <a:latin typeface="Calibri"/>
              </a:rPr>
              <a:t>434 / 440 / 421</a:t>
            </a:r>
          </a:p>
        </p:txBody>
      </p:sp>
      <p:sp>
        <p:nvSpPr>
          <p:cNvPr id="974" name="Rounded Rectangle 973"/>
          <p:cNvSpPr/>
          <p:nvPr/>
        </p:nvSpPr>
        <p:spPr>
          <a:xfrm>
            <a:off x="8961120" y="3090672"/>
            <a:ext cx="2423160" cy="603504"/>
          </a:xfrm>
          <a:prstGeom prst="roundRect">
            <a:avLst/>
          </a:prstGeom>
          <a:solidFill>
            <a:srgbClr val="FFFFFF"/>
          </a:solidFill>
          <a:ln>
            <a:solidFill>
              <a:srgbClr val="D9DE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5" name="TextBox 974"/>
          <p:cNvSpPr txBox="1"/>
          <p:nvPr/>
        </p:nvSpPr>
        <p:spPr>
          <a:xfrm>
            <a:off x="9098280" y="3227832"/>
            <a:ext cx="2185415" cy="329184"/>
          </a:xfrm>
          <a:prstGeom prst="rect">
            <a:avLst/>
          </a:prstGeom>
          <a:noFill/>
        </p:spPr>
        <p:txBody>
          <a:bodyPr wrap="square" lIns="0" rIns="0" tIns="0" bIns="0">
            <a:spAutoFit/>
          </a:bodyPr>
          <a:lstStyle/>
          <a:p>
            <a:pPr algn="ctr"/>
            <a:r>
              <a:rPr sz="1900" b="0">
                <a:solidFill>
                  <a:srgbClr val="1F2328"/>
                </a:solidFill>
                <a:latin typeface="Calibri"/>
              </a:rPr>
              <a:t>95 / 74 / 81</a:t>
            </a:r>
          </a:p>
        </p:txBody>
      </p:sp>
      <p:sp>
        <p:nvSpPr>
          <p:cNvPr id="976" name="Rounded Rectangle 975"/>
          <p:cNvSpPr/>
          <p:nvPr/>
        </p:nvSpPr>
        <p:spPr>
          <a:xfrm>
            <a:off x="822960" y="3749039"/>
            <a:ext cx="2514600" cy="603504"/>
          </a:xfrm>
          <a:prstGeom prst="roundRect">
            <a:avLst/>
          </a:prstGeom>
          <a:solidFill>
            <a:srgbClr val="FFFFFF"/>
          </a:solidFill>
          <a:ln>
            <a:solidFill>
              <a:srgbClr val="D9DE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7" name="TextBox 976"/>
          <p:cNvSpPr txBox="1"/>
          <p:nvPr/>
        </p:nvSpPr>
        <p:spPr>
          <a:xfrm>
            <a:off x="996696" y="3895344"/>
            <a:ext cx="2240280" cy="292608"/>
          </a:xfrm>
          <a:prstGeom prst="rect">
            <a:avLst/>
          </a:prstGeom>
          <a:noFill/>
        </p:spPr>
        <p:txBody>
          <a:bodyPr wrap="square" lIns="0" rIns="0" tIns="0" bIns="0">
            <a:spAutoFit/>
          </a:bodyPr>
          <a:lstStyle/>
          <a:p>
            <a:pPr algn="l"/>
            <a:r>
              <a:rPr sz="1700" b="1">
                <a:solidFill>
                  <a:srgbClr val="1F2328"/>
                </a:solidFill>
                <a:latin typeface="Calibri"/>
              </a:rPr>
              <a:t>Non-Iterative</a:t>
            </a:r>
          </a:p>
        </p:txBody>
      </p:sp>
      <p:sp>
        <p:nvSpPr>
          <p:cNvPr id="978" name="Rounded Rectangle 977"/>
          <p:cNvSpPr/>
          <p:nvPr/>
        </p:nvSpPr>
        <p:spPr>
          <a:xfrm>
            <a:off x="3474720" y="3749039"/>
            <a:ext cx="2606040" cy="603504"/>
          </a:xfrm>
          <a:prstGeom prst="roundRect">
            <a:avLst/>
          </a:prstGeom>
          <a:solidFill>
            <a:srgbClr val="FFFFFF"/>
          </a:solidFill>
          <a:ln>
            <a:solidFill>
              <a:srgbClr val="D9DE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9" name="TextBox 978"/>
          <p:cNvSpPr txBox="1"/>
          <p:nvPr/>
        </p:nvSpPr>
        <p:spPr>
          <a:xfrm>
            <a:off x="3611879" y="3886200"/>
            <a:ext cx="2368296" cy="329184"/>
          </a:xfrm>
          <a:prstGeom prst="rect">
            <a:avLst/>
          </a:prstGeom>
          <a:noFill/>
        </p:spPr>
        <p:txBody>
          <a:bodyPr wrap="square" lIns="0" rIns="0" tIns="0" bIns="0">
            <a:spAutoFit/>
          </a:bodyPr>
          <a:lstStyle/>
          <a:p>
            <a:pPr algn="ctr"/>
            <a:r>
              <a:rPr sz="1800" b="0">
                <a:solidFill>
                  <a:srgbClr val="1F2328"/>
                </a:solidFill>
                <a:latin typeface="Calibri"/>
              </a:rPr>
              <a:t>29 / 61 / 18</a:t>
            </a:r>
          </a:p>
        </p:txBody>
      </p:sp>
      <p:sp>
        <p:nvSpPr>
          <p:cNvPr id="980" name="Rounded Rectangle 979"/>
          <p:cNvSpPr/>
          <p:nvPr/>
        </p:nvSpPr>
        <p:spPr>
          <a:xfrm>
            <a:off x="6217920" y="3749039"/>
            <a:ext cx="2606040" cy="603504"/>
          </a:xfrm>
          <a:prstGeom prst="roundRect">
            <a:avLst/>
          </a:prstGeom>
          <a:solidFill>
            <a:srgbClr val="FFFFFF"/>
          </a:solidFill>
          <a:ln>
            <a:solidFill>
              <a:srgbClr val="D9DE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1" name="TextBox 980"/>
          <p:cNvSpPr txBox="1"/>
          <p:nvPr/>
        </p:nvSpPr>
        <p:spPr>
          <a:xfrm>
            <a:off x="6355080" y="3886200"/>
            <a:ext cx="2368296" cy="329184"/>
          </a:xfrm>
          <a:prstGeom prst="rect">
            <a:avLst/>
          </a:prstGeom>
          <a:noFill/>
        </p:spPr>
        <p:txBody>
          <a:bodyPr wrap="square" lIns="0" rIns="0" tIns="0" bIns="0">
            <a:spAutoFit/>
          </a:bodyPr>
          <a:lstStyle/>
          <a:p>
            <a:pPr algn="ctr"/>
            <a:r>
              <a:rPr sz="1800" b="0">
                <a:solidFill>
                  <a:srgbClr val="1F2328"/>
                </a:solidFill>
                <a:latin typeface="Calibri"/>
              </a:rPr>
              <a:t>39 / 220 / 27</a:t>
            </a:r>
          </a:p>
        </p:txBody>
      </p:sp>
      <p:sp>
        <p:nvSpPr>
          <p:cNvPr id="982" name="Rounded Rectangle 981"/>
          <p:cNvSpPr/>
          <p:nvPr/>
        </p:nvSpPr>
        <p:spPr>
          <a:xfrm>
            <a:off x="8961120" y="3749039"/>
            <a:ext cx="2423160" cy="603504"/>
          </a:xfrm>
          <a:prstGeom prst="roundRect">
            <a:avLst/>
          </a:prstGeom>
          <a:solidFill>
            <a:srgbClr val="FFFFFF"/>
          </a:solidFill>
          <a:ln>
            <a:solidFill>
              <a:srgbClr val="D9DE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3" name="TextBox 982"/>
          <p:cNvSpPr txBox="1"/>
          <p:nvPr/>
        </p:nvSpPr>
        <p:spPr>
          <a:xfrm>
            <a:off x="9098280" y="3886200"/>
            <a:ext cx="2185415" cy="329184"/>
          </a:xfrm>
          <a:prstGeom prst="rect">
            <a:avLst/>
          </a:prstGeom>
          <a:noFill/>
        </p:spPr>
        <p:txBody>
          <a:bodyPr wrap="square" lIns="0" rIns="0" tIns="0" bIns="0">
            <a:spAutoFit/>
          </a:bodyPr>
          <a:lstStyle/>
          <a:p>
            <a:pPr algn="ctr"/>
            <a:r>
              <a:rPr sz="1800" b="0">
                <a:solidFill>
                  <a:srgbClr val="1F2328"/>
                </a:solidFill>
                <a:latin typeface="Calibri"/>
              </a:rPr>
              <a:t>24 / 35 / 14</a:t>
            </a:r>
          </a:p>
        </p:txBody>
      </p:sp>
      <p:sp>
        <p:nvSpPr>
          <p:cNvPr id="984" name="Rounded Rectangle 983"/>
          <p:cNvSpPr/>
          <p:nvPr/>
        </p:nvSpPr>
        <p:spPr>
          <a:xfrm>
            <a:off x="822960" y="4407408"/>
            <a:ext cx="2514600" cy="603504"/>
          </a:xfrm>
          <a:prstGeom prst="roundRect">
            <a:avLst/>
          </a:prstGeom>
          <a:solidFill>
            <a:srgbClr val="E9EEEB"/>
          </a:solidFill>
          <a:ln>
            <a:solidFill>
              <a:srgbClr val="D9DE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5" name="TextBox 984"/>
          <p:cNvSpPr txBox="1"/>
          <p:nvPr/>
        </p:nvSpPr>
        <p:spPr>
          <a:xfrm>
            <a:off x="996696" y="4553712"/>
            <a:ext cx="2240280" cy="292608"/>
          </a:xfrm>
          <a:prstGeom prst="rect">
            <a:avLst/>
          </a:prstGeom>
          <a:noFill/>
        </p:spPr>
        <p:txBody>
          <a:bodyPr wrap="square" lIns="0" rIns="0" tIns="0" bIns="0">
            <a:spAutoFit/>
          </a:bodyPr>
          <a:lstStyle/>
          <a:p>
            <a:pPr algn="l"/>
            <a:r>
              <a:rPr sz="1700" b="1">
                <a:solidFill>
                  <a:srgbClr val="0B6E4F"/>
                </a:solidFill>
                <a:latin typeface="Calibri"/>
              </a:rPr>
              <a:t>RIGOR</a:t>
            </a:r>
          </a:p>
        </p:txBody>
      </p:sp>
      <p:sp>
        <p:nvSpPr>
          <p:cNvPr id="986" name="Rounded Rectangle 985"/>
          <p:cNvSpPr/>
          <p:nvPr/>
        </p:nvSpPr>
        <p:spPr>
          <a:xfrm>
            <a:off x="3474720" y="4407408"/>
            <a:ext cx="2606040" cy="603504"/>
          </a:xfrm>
          <a:prstGeom prst="roundRect">
            <a:avLst/>
          </a:prstGeom>
          <a:solidFill>
            <a:srgbClr val="E9EEEB"/>
          </a:solidFill>
          <a:ln>
            <a:solidFill>
              <a:srgbClr val="D9DE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7" name="TextBox 986"/>
          <p:cNvSpPr txBox="1"/>
          <p:nvPr/>
        </p:nvSpPr>
        <p:spPr>
          <a:xfrm>
            <a:off x="3611879" y="4544568"/>
            <a:ext cx="2368296" cy="329184"/>
          </a:xfrm>
          <a:prstGeom prst="rect">
            <a:avLst/>
          </a:prstGeom>
          <a:noFill/>
        </p:spPr>
        <p:txBody>
          <a:bodyPr wrap="square" lIns="0" rIns="0" tIns="0" bIns="0">
            <a:spAutoFit/>
          </a:bodyPr>
          <a:lstStyle/>
          <a:p>
            <a:pPr algn="ctr"/>
            <a:r>
              <a:rPr sz="1800" b="1">
                <a:solidFill>
                  <a:srgbClr val="0B6E4F"/>
                </a:solidFill>
                <a:latin typeface="Calibri"/>
              </a:rPr>
              <a:t>20 / 23 / 3</a:t>
            </a:r>
          </a:p>
        </p:txBody>
      </p:sp>
      <p:sp>
        <p:nvSpPr>
          <p:cNvPr id="988" name="Rounded Rectangle 987"/>
          <p:cNvSpPr/>
          <p:nvPr/>
        </p:nvSpPr>
        <p:spPr>
          <a:xfrm>
            <a:off x="6217920" y="4407408"/>
            <a:ext cx="2606040" cy="603504"/>
          </a:xfrm>
          <a:prstGeom prst="roundRect">
            <a:avLst/>
          </a:prstGeom>
          <a:solidFill>
            <a:srgbClr val="E9EEEB"/>
          </a:solidFill>
          <a:ln>
            <a:solidFill>
              <a:srgbClr val="D9DE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9" name="TextBox 988"/>
          <p:cNvSpPr txBox="1"/>
          <p:nvPr/>
        </p:nvSpPr>
        <p:spPr>
          <a:xfrm>
            <a:off x="6355080" y="4544568"/>
            <a:ext cx="2368296" cy="329184"/>
          </a:xfrm>
          <a:prstGeom prst="rect">
            <a:avLst/>
          </a:prstGeom>
          <a:noFill/>
        </p:spPr>
        <p:txBody>
          <a:bodyPr wrap="square" lIns="0" rIns="0" tIns="0" bIns="0">
            <a:spAutoFit/>
          </a:bodyPr>
          <a:lstStyle/>
          <a:p>
            <a:pPr algn="ctr"/>
            <a:r>
              <a:rPr sz="1800" b="1">
                <a:solidFill>
                  <a:srgbClr val="0B6E4F"/>
                </a:solidFill>
                <a:latin typeface="Calibri"/>
              </a:rPr>
              <a:t>2 / 2 / 26</a:t>
            </a:r>
          </a:p>
        </p:txBody>
      </p:sp>
      <p:sp>
        <p:nvSpPr>
          <p:cNvPr id="990" name="Rounded Rectangle 989"/>
          <p:cNvSpPr/>
          <p:nvPr/>
        </p:nvSpPr>
        <p:spPr>
          <a:xfrm>
            <a:off x="8961120" y="4407408"/>
            <a:ext cx="2423160" cy="603504"/>
          </a:xfrm>
          <a:prstGeom prst="roundRect">
            <a:avLst/>
          </a:prstGeom>
          <a:solidFill>
            <a:srgbClr val="E9EEEB"/>
          </a:solidFill>
          <a:ln>
            <a:solidFill>
              <a:srgbClr val="D9DE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1" name="TextBox 990"/>
          <p:cNvSpPr txBox="1"/>
          <p:nvPr/>
        </p:nvSpPr>
        <p:spPr>
          <a:xfrm>
            <a:off x="9098280" y="4544568"/>
            <a:ext cx="2185415" cy="329184"/>
          </a:xfrm>
          <a:prstGeom prst="rect">
            <a:avLst/>
          </a:prstGeom>
          <a:noFill/>
        </p:spPr>
        <p:txBody>
          <a:bodyPr wrap="square" lIns="0" rIns="0" tIns="0" bIns="0">
            <a:spAutoFit/>
          </a:bodyPr>
          <a:lstStyle/>
          <a:p>
            <a:pPr algn="ctr"/>
            <a:r>
              <a:rPr sz="1800" b="1">
                <a:solidFill>
                  <a:srgbClr val="0B6E4F"/>
                </a:solidFill>
                <a:latin typeface="Calibri"/>
              </a:rPr>
              <a:t>0 / 0 / 0</a:t>
            </a:r>
          </a:p>
        </p:txBody>
      </p:sp>
      <p:sp>
        <p:nvSpPr>
          <p:cNvPr id="992" name="Rounded Rectangle 991"/>
          <p:cNvSpPr/>
          <p:nvPr/>
        </p:nvSpPr>
        <p:spPr>
          <a:xfrm>
            <a:off x="822960" y="5221224"/>
            <a:ext cx="10561320" cy="530352"/>
          </a:xfrm>
          <a:prstGeom prst="roundRect">
            <a:avLst/>
          </a:prstGeom>
          <a:solidFill>
            <a:srgbClr val="FFFFFF"/>
          </a:solidFill>
          <a:ln>
            <a:solidFill>
              <a:srgbClr val="D9DE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3" name="TextBox 992"/>
          <p:cNvSpPr txBox="1"/>
          <p:nvPr/>
        </p:nvSpPr>
        <p:spPr>
          <a:xfrm>
            <a:off x="1024128" y="5340096"/>
            <a:ext cx="10149840" cy="329184"/>
          </a:xfrm>
          <a:prstGeom prst="rect">
            <a:avLst/>
          </a:prstGeom>
          <a:noFill/>
        </p:spPr>
        <p:txBody>
          <a:bodyPr wrap="square" lIns="0" rIns="0" tIns="0" bIns="0">
            <a:spAutoFit/>
          </a:bodyPr>
          <a:lstStyle/>
          <a:p>
            <a:pPr algn="l"/>
            <a:r>
              <a:rPr sz="1700" b="1">
                <a:solidFill>
                  <a:srgbClr val="1F2328"/>
                </a:solidFill>
                <a:latin typeface="Calibri"/>
              </a:rPr>
              <a:t>RIGOR improves on Non-Iterative in 9/9 matched runs; Chinook has zero findings in all 3.</a:t>
            </a:r>
          </a:p>
        </p:txBody>
      </p:sp>
      <p:sp>
        <p:nvSpPr>
          <p:cNvPr id="994" name="TextBox 993"/>
          <p:cNvSpPr txBox="1"/>
          <p:nvPr/>
        </p:nvSpPr>
        <p:spPr>
          <a:xfrm>
            <a:off x="850392" y="5925312"/>
            <a:ext cx="10789920" cy="246888"/>
          </a:xfrm>
          <a:prstGeom prst="rect">
            <a:avLst/>
          </a:prstGeom>
          <a:noFill/>
        </p:spPr>
        <p:txBody>
          <a:bodyPr wrap="square" lIns="0" rIns="0" tIns="0" bIns="0">
            <a:spAutoFit/>
          </a:bodyPr>
          <a:lstStyle/>
          <a:p>
            <a:pPr algn="l"/>
            <a:r>
              <a:rPr sz="1200" b="0">
                <a:solidFill>
                  <a:srgbClr val="5B6770"/>
                </a:solidFill>
                <a:latin typeface="Calibri"/>
              </a:rPr>
              <a:t>Numbers in each LLM cell: Claude / Mistral / DeepSeek. Direct Mapping uses no LLM.</a:t>
            </a:r>
          </a:p>
        </p:txBody>
      </p:sp>
      <p:sp>
        <p:nvSpPr>
          <p:cNvPr id="995" name="TextBox 994"/>
          <p:cNvSpPr txBox="1"/>
          <p:nvPr/>
        </p:nvSpPr>
        <p:spPr>
          <a:xfrm>
            <a:off x="850392" y="6208776"/>
            <a:ext cx="10789920" cy="274320"/>
          </a:xfrm>
          <a:prstGeom prst="rect">
            <a:avLst/>
          </a:prstGeom>
          <a:noFill/>
        </p:spPr>
        <p:txBody>
          <a:bodyPr wrap="square" lIns="0" rIns="0" tIns="0" bIns="0">
            <a:spAutoFit/>
          </a:bodyPr>
          <a:lstStyle/>
          <a:p>
            <a:pPr algn="l"/>
            <a:r>
              <a:rPr sz="1200" b="0">
                <a:solidFill>
                  <a:srgbClr val="5B6770"/>
                </a:solidFill>
                <a:latin typeface="Calibri"/>
              </a:rPr>
              <a:t>Interpret carefully: many findings concern missing annotations; critical P19 remains in 3/9 RIGOR runs. Source: Table 7.</a:t>
            </a: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45" name="Shape 945"/>
        <p:cNvGrpSpPr/>
        <p:nvPr/>
      </p:nvGrpSpPr>
      <p:grpSpPr>
        <a:xfrm>
          <a:off x="0" y="0"/>
          <a:ext cx="0" cy="0"/>
          <a:chOff x="0" y="0"/>
          <a:chExt cx="0" cy="0"/>
        </a:xfrm>
      </p:grpSpPr>
      <p:sp>
        <p:nvSpPr>
          <p:cNvPr id="946" name="TextBox 945"/>
          <p:cNvSpPr txBox="1"/>
          <p:nvPr/>
        </p:nvSpPr>
        <p:spPr>
          <a:xfrm>
            <a:off x="777240" y="347472"/>
            <a:ext cx="10058400" cy="292608"/>
          </a:xfrm>
          <a:prstGeom prst="rect">
            <a:avLst/>
          </a:prstGeom>
          <a:noFill/>
        </p:spPr>
        <p:txBody>
          <a:bodyPr wrap="square" lIns="0" rIns="0" tIns="0" bIns="0">
            <a:spAutoFit/>
          </a:bodyPr>
          <a:lstStyle/>
          <a:p>
            <a:pPr algn="l"/>
            <a:r>
              <a:rPr sz="1500" b="1">
                <a:solidFill>
                  <a:srgbClr val="0B6E4F"/>
                </a:solidFill>
                <a:latin typeface="Consolas"/>
              </a:rPr>
              <a:t>BACKUP  /  B2</a:t>
            </a:r>
          </a:p>
        </p:txBody>
      </p:sp>
      <p:sp>
        <p:nvSpPr>
          <p:cNvPr id="947" name="TextBox 946"/>
          <p:cNvSpPr txBox="1"/>
          <p:nvPr/>
        </p:nvSpPr>
        <p:spPr>
          <a:xfrm>
            <a:off x="777240" y="768096"/>
            <a:ext cx="10881360" cy="530352"/>
          </a:xfrm>
          <a:prstGeom prst="rect">
            <a:avLst/>
          </a:prstGeom>
          <a:noFill/>
        </p:spPr>
        <p:txBody>
          <a:bodyPr wrap="square" lIns="0" rIns="0" tIns="0" bIns="0">
            <a:spAutoFit/>
          </a:bodyPr>
          <a:lstStyle/>
          <a:p>
            <a:pPr algn="l"/>
            <a:r>
              <a:rPr sz="2600" b="1">
                <a:solidFill>
                  <a:srgbClr val="1F2328"/>
                </a:solidFill>
                <a:latin typeface="Cambria"/>
              </a:rPr>
              <a:t>Experts score RIGOR highest on average in both databases.</a:t>
            </a:r>
          </a:p>
        </p:txBody>
      </p:sp>
      <p:sp>
        <p:nvSpPr>
          <p:cNvPr id="948" name="TextBox 947"/>
          <p:cNvSpPr txBox="1"/>
          <p:nvPr/>
        </p:nvSpPr>
        <p:spPr>
          <a:xfrm>
            <a:off x="777240" y="1371600"/>
            <a:ext cx="10789920" cy="347472"/>
          </a:xfrm>
          <a:prstGeom prst="rect">
            <a:avLst/>
          </a:prstGeom>
          <a:noFill/>
        </p:spPr>
        <p:txBody>
          <a:bodyPr wrap="square" lIns="0" rIns="0" tIns="0" bIns="0">
            <a:spAutoFit/>
          </a:bodyPr>
          <a:lstStyle/>
          <a:p>
            <a:pPr algn="l"/>
            <a:r>
              <a:rPr sz="1400" b="0">
                <a:solidFill>
                  <a:srgbClr val="5B6770"/>
                </a:solidFill>
                <a:latin typeface="Calibri"/>
              </a:rPr>
              <a:t>Human expert scores (0–5) per quality dimension  ·  10 experts, 2 tables per database  ·  best value per row in bold</a:t>
            </a:r>
          </a:p>
        </p:txBody>
      </p:sp>
      <p:sp>
        <p:nvSpPr>
          <p:cNvPr id="949" name="DB label"/>
          <p:cNvSpPr txBox="1"/>
          <p:nvPr/>
        </p:nvSpPr>
        <p:spPr>
          <a:xfrm>
            <a:off x="822960" y="1874519"/>
            <a:ext cx="5120640" cy="274320"/>
          </a:xfrm>
          <a:prstGeom prst="rect">
            <a:avLst/>
          </a:prstGeom>
          <a:noFill/>
          <a:ln>
            <a:noFill/>
          </a:ln>
        </p:spPr>
        <p:txBody>
          <a:bodyPr wrap="square" lIns="0" tIns="0" rIns="0" bIns="0" anchor="t">
            <a:noAutofit/>
          </a:bodyPr>
          <a:lstStyle/>
          <a:p>
            <a:pPr algn="l"/>
            <a:r>
              <a:rPr lang="en-US" sz="1200" b="1" dirty="0">
                <a:solidFill>
                  <a:srgbClr val="0B6E4F"/>
                </a:solidFill>
                <a:latin typeface="Consolas"/>
                <a:cs typeface="Consolas"/>
              </a:rPr>
              <a:t xml:space="preserve">Liver cancer</a:t>
            </a:r>
          </a:p>
        </p:txBody>
      </p:sp>
      <p:sp>
        <p:nvSpPr>
          <p:cNvPr id="950" name="Table header rule"/>
          <p:cNvSpPr/>
          <p:nvPr/>
        </p:nvSpPr>
        <p:spPr>
          <a:xfrm>
            <a:off x="822960" y="2596896"/>
            <a:ext cx="5138928" cy="9144"/>
          </a:xfrm>
          <a:prstGeom prst="rect">
            <a:avLst/>
          </a:prstGeom>
          <a:solidFill>
            <a:srgbClr val="D9DEDB"/>
          </a:solidFill>
          <a:ln>
            <a:noFill/>
          </a:ln>
        </p:spPr>
        <p:txBody>
          <a:bodyPr wrap="square" lIns="0" tIns="0" rIns="0" bIns="0" anchor="t">
            <a:noAutofit/>
          </a:bodyPr>
          <a:lstStyle/>
          <a:p>
            <a:pPr algn="l"/>
          </a:p>
        </p:txBody>
      </p:sp>
      <p:sp>
        <p:nvSpPr>
          <p:cNvPr id="951" name="Cell 0-0"/>
          <p:cNvSpPr txBox="1"/>
          <p:nvPr/>
        </p:nvSpPr>
        <p:spPr>
          <a:xfrm>
            <a:off x="822960" y="2212848"/>
            <a:ext cx="1554480" cy="384048"/>
          </a:xfrm>
          <a:prstGeom prst="rect">
            <a:avLst/>
          </a:prstGeom>
          <a:noFill/>
          <a:ln>
            <a:noFill/>
          </a:ln>
        </p:spPr>
        <p:txBody>
          <a:bodyPr wrap="square" lIns="73152" tIns="0" rIns="73152" bIns="0" anchor="ctr">
            <a:noAutofit/>
          </a:bodyPr>
          <a:lstStyle/>
          <a:p>
            <a:pPr algn="l"/>
            <a:r>
              <a:rPr lang="en-US" sz="1000" b="1" dirty="0">
                <a:solidFill>
                  <a:srgbClr val="2F6B78"/>
                </a:solidFill>
                <a:latin typeface="Consolas"/>
                <a:cs typeface="Consolas"/>
              </a:rPr>
              <a:t xml:space="preserve">DIMENSION</a:t>
            </a:r>
          </a:p>
        </p:txBody>
      </p:sp>
      <p:sp>
        <p:nvSpPr>
          <p:cNvPr id="952" name="Cell 0-1"/>
          <p:cNvSpPr txBox="1"/>
          <p:nvPr/>
        </p:nvSpPr>
        <p:spPr>
          <a:xfrm>
            <a:off x="2377440" y="2212848"/>
            <a:ext cx="896112" cy="384048"/>
          </a:xfrm>
          <a:prstGeom prst="rect">
            <a:avLst/>
          </a:prstGeom>
          <a:noFill/>
          <a:ln>
            <a:noFill/>
          </a:ln>
        </p:spPr>
        <p:txBody>
          <a:bodyPr wrap="square" lIns="73152" tIns="0" rIns="73152" bIns="0" anchor="ctr">
            <a:noAutofit/>
          </a:bodyPr>
          <a:lstStyle/>
          <a:p>
            <a:pPr algn="r"/>
            <a:r>
              <a:rPr lang="en-US" sz="1000" b="1" dirty="0">
                <a:solidFill>
                  <a:srgbClr val="2F6B78"/>
                </a:solidFill>
                <a:latin typeface="Consolas"/>
                <a:cs typeface="Consolas"/>
              </a:rPr>
              <a:t xml:space="preserve">DIRECT MAP.</a:t>
            </a:r>
          </a:p>
        </p:txBody>
      </p:sp>
      <p:sp>
        <p:nvSpPr>
          <p:cNvPr id="953" name="Cell 0-2"/>
          <p:cNvSpPr txBox="1"/>
          <p:nvPr/>
        </p:nvSpPr>
        <p:spPr>
          <a:xfrm>
            <a:off x="3273552" y="2212848"/>
            <a:ext cx="896112" cy="384048"/>
          </a:xfrm>
          <a:prstGeom prst="rect">
            <a:avLst/>
          </a:prstGeom>
          <a:noFill/>
          <a:ln>
            <a:noFill/>
          </a:ln>
        </p:spPr>
        <p:txBody>
          <a:bodyPr wrap="square" lIns="73152" tIns="0" rIns="73152" bIns="0" anchor="ctr">
            <a:noAutofit/>
          </a:bodyPr>
          <a:lstStyle/>
          <a:p>
            <a:pPr algn="r"/>
            <a:r>
              <a:rPr lang="en-US" sz="1000" b="1" dirty="0">
                <a:solidFill>
                  <a:srgbClr val="2F6B78"/>
                </a:solidFill>
                <a:latin typeface="Consolas"/>
                <a:cs typeface="Consolas"/>
              </a:rPr>
              <a:t xml:space="preserve">LLM BASELINE</a:t>
            </a:r>
          </a:p>
        </p:txBody>
      </p:sp>
      <p:sp>
        <p:nvSpPr>
          <p:cNvPr id="954" name="Cell 0-3"/>
          <p:cNvSpPr txBox="1"/>
          <p:nvPr/>
        </p:nvSpPr>
        <p:spPr>
          <a:xfrm>
            <a:off x="4169664" y="2212848"/>
            <a:ext cx="896112" cy="384048"/>
          </a:xfrm>
          <a:prstGeom prst="rect">
            <a:avLst/>
          </a:prstGeom>
          <a:noFill/>
          <a:ln>
            <a:noFill/>
          </a:ln>
        </p:spPr>
        <p:txBody>
          <a:bodyPr wrap="square" lIns="73152" tIns="0" rIns="73152" bIns="0" anchor="ctr">
            <a:noAutofit/>
          </a:bodyPr>
          <a:lstStyle/>
          <a:p>
            <a:pPr algn="r"/>
            <a:r>
              <a:rPr lang="en-US" sz="1000" b="1" dirty="0">
                <a:solidFill>
                  <a:srgbClr val="2F6B78"/>
                </a:solidFill>
                <a:latin typeface="Consolas"/>
                <a:cs typeface="Consolas"/>
              </a:rPr>
              <a:t xml:space="preserve">NON-ITER.</a:t>
            </a:r>
          </a:p>
        </p:txBody>
      </p:sp>
      <p:sp>
        <p:nvSpPr>
          <p:cNvPr id="955" name="Cell 0-4"/>
          <p:cNvSpPr txBox="1"/>
          <p:nvPr/>
        </p:nvSpPr>
        <p:spPr>
          <a:xfrm>
            <a:off x="5065776" y="2212848"/>
            <a:ext cx="896112" cy="384048"/>
          </a:xfrm>
          <a:prstGeom prst="rect">
            <a:avLst/>
          </a:prstGeom>
          <a:noFill/>
          <a:ln>
            <a:noFill/>
          </a:ln>
        </p:spPr>
        <p:txBody>
          <a:bodyPr wrap="square" lIns="73152" tIns="0" rIns="73152" bIns="0" anchor="ctr">
            <a:noAutofit/>
          </a:bodyPr>
          <a:lstStyle/>
          <a:p>
            <a:pPr algn="r"/>
            <a:r>
              <a:rPr lang="en-US" sz="1000" b="1" dirty="0">
                <a:solidFill>
                  <a:srgbClr val="2F6B78"/>
                </a:solidFill>
                <a:latin typeface="Consolas"/>
                <a:cs typeface="Consolas"/>
              </a:rPr>
              <a:t xml:space="preserve">RIGOR</a:t>
            </a:r>
          </a:p>
        </p:txBody>
      </p:sp>
      <p:sp>
        <p:nvSpPr>
          <p:cNvPr id="956" name="Cell 1-0"/>
          <p:cNvSpPr txBox="1"/>
          <p:nvPr/>
        </p:nvSpPr>
        <p:spPr>
          <a:xfrm>
            <a:off x="822960" y="2615184"/>
            <a:ext cx="1554480" cy="384048"/>
          </a:xfrm>
          <a:prstGeom prst="rect">
            <a:avLst/>
          </a:prstGeom>
          <a:noFill/>
          <a:ln>
            <a:noFill/>
          </a:ln>
        </p:spPr>
        <p:txBody>
          <a:bodyPr wrap="square" lIns="73152" tIns="0" rIns="73152" bIns="0" anchor="ctr">
            <a:noAutofit/>
          </a:bodyPr>
          <a:lstStyle/>
          <a:p>
            <a:pPr algn="l"/>
            <a:r>
              <a:rPr lang="en-US" sz="1150" b="0" dirty="0">
                <a:solidFill>
                  <a:srgbClr val="1F2328"/>
                </a:solidFill>
                <a:latin typeface="Calibri"/>
                <a:cs typeface="Calibri"/>
              </a:rPr>
              <a:t xml:space="preserve">Accuracy</a:t>
            </a:r>
          </a:p>
        </p:txBody>
      </p:sp>
      <p:sp>
        <p:nvSpPr>
          <p:cNvPr id="957" name="Cell 1-1"/>
          <p:cNvSpPr txBox="1"/>
          <p:nvPr/>
        </p:nvSpPr>
        <p:spPr>
          <a:xfrm>
            <a:off x="2377440" y="2615184"/>
            <a:ext cx="896112" cy="384048"/>
          </a:xfrm>
          <a:prstGeom prst="rect">
            <a:avLst/>
          </a:prstGeom>
          <a:noFill/>
          <a:ln>
            <a:noFill/>
          </a:ln>
        </p:spPr>
        <p:txBody>
          <a:bodyPr wrap="square" lIns="73152" tIns="0" rIns="73152" bIns="0" anchor="ctr">
            <a:noAutofit/>
          </a:bodyPr>
          <a:lstStyle/>
          <a:p>
            <a:pPr algn="r"/>
            <a:r>
              <a:rPr lang="en-US" sz="1150" b="1" dirty="0">
                <a:solidFill>
                  <a:srgbClr val="0B6E4F"/>
                </a:solidFill>
                <a:latin typeface="Calibri"/>
                <a:cs typeface="Calibri"/>
              </a:rPr>
              <a:t xml:space="preserve">3.75</a:t>
            </a:r>
          </a:p>
        </p:txBody>
      </p:sp>
      <p:sp>
        <p:nvSpPr>
          <p:cNvPr id="958" name="Cell 1-2"/>
          <p:cNvSpPr txBox="1"/>
          <p:nvPr/>
        </p:nvSpPr>
        <p:spPr>
          <a:xfrm>
            <a:off x="3273552" y="2615184"/>
            <a:ext cx="896112" cy="384048"/>
          </a:xfrm>
          <a:prstGeom prst="rect">
            <a:avLst/>
          </a:prstGeom>
          <a:noFill/>
          <a:ln>
            <a:noFill/>
          </a:ln>
        </p:spPr>
        <p:txBody>
          <a:bodyPr wrap="square" lIns="73152" tIns="0" rIns="73152" bIns="0" anchor="ctr">
            <a:noAutofit/>
          </a:bodyPr>
          <a:lstStyle/>
          <a:p>
            <a:pPr algn="r"/>
            <a:r>
              <a:rPr lang="en-US" sz="1150" b="0" dirty="0">
                <a:solidFill>
                  <a:srgbClr val="1F2328"/>
                </a:solidFill>
                <a:latin typeface="Calibri"/>
                <a:cs typeface="Calibri"/>
              </a:rPr>
              <a:t xml:space="preserve">3.30</a:t>
            </a:r>
          </a:p>
        </p:txBody>
      </p:sp>
      <p:sp>
        <p:nvSpPr>
          <p:cNvPr id="959" name="Cell 1-3"/>
          <p:cNvSpPr txBox="1"/>
          <p:nvPr/>
        </p:nvSpPr>
        <p:spPr>
          <a:xfrm>
            <a:off x="4169664" y="2615184"/>
            <a:ext cx="896112" cy="384048"/>
          </a:xfrm>
          <a:prstGeom prst="rect">
            <a:avLst/>
          </a:prstGeom>
          <a:noFill/>
          <a:ln>
            <a:noFill/>
          </a:ln>
        </p:spPr>
        <p:txBody>
          <a:bodyPr wrap="square" lIns="73152" tIns="0" rIns="73152" bIns="0" anchor="ctr">
            <a:noAutofit/>
          </a:bodyPr>
          <a:lstStyle/>
          <a:p>
            <a:pPr algn="r"/>
            <a:r>
              <a:rPr lang="en-US" sz="1150" b="0" dirty="0">
                <a:solidFill>
                  <a:srgbClr val="1F2328"/>
                </a:solidFill>
                <a:latin typeface="Calibri"/>
                <a:cs typeface="Calibri"/>
              </a:rPr>
              <a:t xml:space="preserve">2.35</a:t>
            </a:r>
          </a:p>
        </p:txBody>
      </p:sp>
      <p:sp>
        <p:nvSpPr>
          <p:cNvPr id="960" name="Cell 1-4"/>
          <p:cNvSpPr txBox="1"/>
          <p:nvPr/>
        </p:nvSpPr>
        <p:spPr>
          <a:xfrm>
            <a:off x="5065776" y="2615184"/>
            <a:ext cx="896112" cy="384048"/>
          </a:xfrm>
          <a:prstGeom prst="rect">
            <a:avLst/>
          </a:prstGeom>
          <a:noFill/>
          <a:ln>
            <a:noFill/>
          </a:ln>
        </p:spPr>
        <p:txBody>
          <a:bodyPr wrap="square" lIns="73152" tIns="0" rIns="73152" bIns="0" anchor="ctr">
            <a:noAutofit/>
          </a:bodyPr>
          <a:lstStyle/>
          <a:p>
            <a:pPr algn="r"/>
            <a:r>
              <a:rPr lang="en-US" sz="1150" b="1" dirty="0">
                <a:solidFill>
                  <a:srgbClr val="0B6E4F"/>
                </a:solidFill>
                <a:latin typeface="Calibri"/>
                <a:cs typeface="Calibri"/>
              </a:rPr>
              <a:t xml:space="preserve">3.75</a:t>
            </a:r>
          </a:p>
        </p:txBody>
      </p:sp>
      <p:sp>
        <p:nvSpPr>
          <p:cNvPr id="961" name="Row tint"/>
          <p:cNvSpPr/>
          <p:nvPr/>
        </p:nvSpPr>
        <p:spPr>
          <a:xfrm>
            <a:off x="822960" y="2999232"/>
            <a:ext cx="5138928" cy="384048"/>
          </a:xfrm>
          <a:prstGeom prst="rect">
            <a:avLst/>
          </a:prstGeom>
          <a:solidFill>
            <a:srgbClr val="F3F5F4"/>
          </a:solidFill>
          <a:ln>
            <a:noFill/>
          </a:ln>
        </p:spPr>
        <p:txBody>
          <a:bodyPr wrap="square" lIns="0" tIns="0" rIns="0" bIns="0" anchor="t">
            <a:noAutofit/>
          </a:bodyPr>
          <a:lstStyle/>
          <a:p>
            <a:pPr algn="l"/>
          </a:p>
        </p:txBody>
      </p:sp>
      <p:sp>
        <p:nvSpPr>
          <p:cNvPr id="962" name="Cell 2-0"/>
          <p:cNvSpPr txBox="1"/>
          <p:nvPr/>
        </p:nvSpPr>
        <p:spPr>
          <a:xfrm>
            <a:off x="822960" y="2999232"/>
            <a:ext cx="1554480" cy="384048"/>
          </a:xfrm>
          <a:prstGeom prst="rect">
            <a:avLst/>
          </a:prstGeom>
          <a:noFill/>
          <a:ln>
            <a:noFill/>
          </a:ln>
        </p:spPr>
        <p:txBody>
          <a:bodyPr wrap="square" lIns="73152" tIns="0" rIns="73152" bIns="0" anchor="ctr">
            <a:noAutofit/>
          </a:bodyPr>
          <a:lstStyle/>
          <a:p>
            <a:pPr algn="l"/>
            <a:r>
              <a:rPr lang="en-US" sz="1150" b="0" dirty="0">
                <a:solidFill>
                  <a:srgbClr val="1F2328"/>
                </a:solidFill>
                <a:latin typeface="Calibri"/>
                <a:cs typeface="Calibri"/>
              </a:rPr>
              <a:t xml:space="preserve">Completeness</a:t>
            </a:r>
          </a:p>
        </p:txBody>
      </p:sp>
      <p:sp>
        <p:nvSpPr>
          <p:cNvPr id="963" name="Cell 2-1"/>
          <p:cNvSpPr txBox="1"/>
          <p:nvPr/>
        </p:nvSpPr>
        <p:spPr>
          <a:xfrm>
            <a:off x="2377440" y="2999232"/>
            <a:ext cx="896112" cy="384048"/>
          </a:xfrm>
          <a:prstGeom prst="rect">
            <a:avLst/>
          </a:prstGeom>
          <a:noFill/>
          <a:ln>
            <a:noFill/>
          </a:ln>
        </p:spPr>
        <p:txBody>
          <a:bodyPr wrap="square" lIns="73152" tIns="0" rIns="73152" bIns="0" anchor="ctr">
            <a:noAutofit/>
          </a:bodyPr>
          <a:lstStyle/>
          <a:p>
            <a:pPr algn="r"/>
            <a:r>
              <a:rPr lang="en-US" sz="1150" b="0" dirty="0">
                <a:solidFill>
                  <a:srgbClr val="1F2328"/>
                </a:solidFill>
                <a:latin typeface="Calibri"/>
                <a:cs typeface="Calibri"/>
              </a:rPr>
              <a:t xml:space="preserve">2.75</a:t>
            </a:r>
          </a:p>
        </p:txBody>
      </p:sp>
      <p:sp>
        <p:nvSpPr>
          <p:cNvPr id="964" name="Cell 2-2"/>
          <p:cNvSpPr txBox="1"/>
          <p:nvPr/>
        </p:nvSpPr>
        <p:spPr>
          <a:xfrm>
            <a:off x="3273552" y="2999232"/>
            <a:ext cx="896112" cy="384048"/>
          </a:xfrm>
          <a:prstGeom prst="rect">
            <a:avLst/>
          </a:prstGeom>
          <a:noFill/>
          <a:ln>
            <a:noFill/>
          </a:ln>
        </p:spPr>
        <p:txBody>
          <a:bodyPr wrap="square" lIns="73152" tIns="0" rIns="73152" bIns="0" anchor="ctr">
            <a:noAutofit/>
          </a:bodyPr>
          <a:lstStyle/>
          <a:p>
            <a:pPr algn="r"/>
            <a:r>
              <a:rPr lang="en-US" sz="1150" b="0" dirty="0">
                <a:solidFill>
                  <a:srgbClr val="1F2328"/>
                </a:solidFill>
                <a:latin typeface="Calibri"/>
                <a:cs typeface="Calibri"/>
              </a:rPr>
              <a:t xml:space="preserve">3.00</a:t>
            </a:r>
          </a:p>
        </p:txBody>
      </p:sp>
      <p:sp>
        <p:nvSpPr>
          <p:cNvPr id="965" name="Cell 2-3"/>
          <p:cNvSpPr txBox="1"/>
          <p:nvPr/>
        </p:nvSpPr>
        <p:spPr>
          <a:xfrm>
            <a:off x="4169664" y="2999232"/>
            <a:ext cx="896112" cy="384048"/>
          </a:xfrm>
          <a:prstGeom prst="rect">
            <a:avLst/>
          </a:prstGeom>
          <a:noFill/>
          <a:ln>
            <a:noFill/>
          </a:ln>
        </p:spPr>
        <p:txBody>
          <a:bodyPr wrap="square" lIns="73152" tIns="0" rIns="73152" bIns="0" anchor="ctr">
            <a:noAutofit/>
          </a:bodyPr>
          <a:lstStyle/>
          <a:p>
            <a:pPr algn="r"/>
            <a:r>
              <a:rPr lang="en-US" sz="1150" b="0" dirty="0">
                <a:solidFill>
                  <a:srgbClr val="1F2328"/>
                </a:solidFill>
                <a:latin typeface="Calibri"/>
                <a:cs typeface="Calibri"/>
              </a:rPr>
              <a:t xml:space="preserve">2.25</a:t>
            </a:r>
          </a:p>
        </p:txBody>
      </p:sp>
      <p:sp>
        <p:nvSpPr>
          <p:cNvPr id="966" name="Cell 2-4"/>
          <p:cNvSpPr txBox="1"/>
          <p:nvPr/>
        </p:nvSpPr>
        <p:spPr>
          <a:xfrm>
            <a:off x="5065776" y="2999232"/>
            <a:ext cx="896112" cy="384048"/>
          </a:xfrm>
          <a:prstGeom prst="rect">
            <a:avLst/>
          </a:prstGeom>
          <a:noFill/>
          <a:ln>
            <a:noFill/>
          </a:ln>
        </p:spPr>
        <p:txBody>
          <a:bodyPr wrap="square" lIns="73152" tIns="0" rIns="73152" bIns="0" anchor="ctr">
            <a:noAutofit/>
          </a:bodyPr>
          <a:lstStyle/>
          <a:p>
            <a:pPr algn="r"/>
            <a:r>
              <a:rPr lang="en-US" sz="1150" b="1" dirty="0">
                <a:solidFill>
                  <a:srgbClr val="0B6E4F"/>
                </a:solidFill>
                <a:latin typeface="Calibri"/>
                <a:cs typeface="Calibri"/>
              </a:rPr>
              <a:t xml:space="preserve">3.85</a:t>
            </a:r>
          </a:p>
        </p:txBody>
      </p:sp>
      <p:sp>
        <p:nvSpPr>
          <p:cNvPr id="967" name="Cell 3-0"/>
          <p:cNvSpPr txBox="1"/>
          <p:nvPr/>
        </p:nvSpPr>
        <p:spPr>
          <a:xfrm>
            <a:off x="822960" y="3383279"/>
            <a:ext cx="1554480" cy="384048"/>
          </a:xfrm>
          <a:prstGeom prst="rect">
            <a:avLst/>
          </a:prstGeom>
          <a:noFill/>
          <a:ln>
            <a:noFill/>
          </a:ln>
        </p:spPr>
        <p:txBody>
          <a:bodyPr wrap="square" lIns="73152" tIns="0" rIns="73152" bIns="0" anchor="ctr">
            <a:noAutofit/>
          </a:bodyPr>
          <a:lstStyle/>
          <a:p>
            <a:pPr algn="l"/>
            <a:r>
              <a:rPr lang="en-US" sz="1150" b="0" dirty="0">
                <a:solidFill>
                  <a:srgbClr val="1F2328"/>
                </a:solidFill>
                <a:latin typeface="Calibri"/>
                <a:cs typeface="Calibri"/>
              </a:rPr>
              <a:t xml:space="preserve">Conciseness</a:t>
            </a:r>
          </a:p>
        </p:txBody>
      </p:sp>
      <p:sp>
        <p:nvSpPr>
          <p:cNvPr id="968" name="Cell 3-1"/>
          <p:cNvSpPr txBox="1"/>
          <p:nvPr/>
        </p:nvSpPr>
        <p:spPr>
          <a:xfrm>
            <a:off x="2377440" y="3383279"/>
            <a:ext cx="896112" cy="384048"/>
          </a:xfrm>
          <a:prstGeom prst="rect">
            <a:avLst/>
          </a:prstGeom>
          <a:noFill/>
          <a:ln>
            <a:noFill/>
          </a:ln>
        </p:spPr>
        <p:txBody>
          <a:bodyPr wrap="square" lIns="73152" tIns="0" rIns="73152" bIns="0" anchor="ctr">
            <a:noAutofit/>
          </a:bodyPr>
          <a:lstStyle/>
          <a:p>
            <a:pPr algn="r"/>
            <a:r>
              <a:rPr lang="en-US" sz="1150" b="1" dirty="0">
                <a:solidFill>
                  <a:srgbClr val="0B6E4F"/>
                </a:solidFill>
                <a:latin typeface="Calibri"/>
                <a:cs typeface="Calibri"/>
              </a:rPr>
              <a:t xml:space="preserve">4.05</a:t>
            </a:r>
          </a:p>
        </p:txBody>
      </p:sp>
      <p:sp>
        <p:nvSpPr>
          <p:cNvPr id="969" name="Cell 3-2"/>
          <p:cNvSpPr txBox="1"/>
          <p:nvPr/>
        </p:nvSpPr>
        <p:spPr>
          <a:xfrm>
            <a:off x="3273552" y="3383279"/>
            <a:ext cx="896112" cy="384048"/>
          </a:xfrm>
          <a:prstGeom prst="rect">
            <a:avLst/>
          </a:prstGeom>
          <a:noFill/>
          <a:ln>
            <a:noFill/>
          </a:ln>
        </p:spPr>
        <p:txBody>
          <a:bodyPr wrap="square" lIns="73152" tIns="0" rIns="73152" bIns="0" anchor="ctr">
            <a:noAutofit/>
          </a:bodyPr>
          <a:lstStyle/>
          <a:p>
            <a:pPr algn="r"/>
            <a:r>
              <a:rPr lang="en-US" sz="1150" b="0" dirty="0">
                <a:solidFill>
                  <a:srgbClr val="1F2328"/>
                </a:solidFill>
                <a:latin typeface="Calibri"/>
                <a:cs typeface="Calibri"/>
              </a:rPr>
              <a:t xml:space="preserve">3.65</a:t>
            </a:r>
          </a:p>
        </p:txBody>
      </p:sp>
      <p:sp>
        <p:nvSpPr>
          <p:cNvPr id="970" name="Cell 3-3"/>
          <p:cNvSpPr txBox="1"/>
          <p:nvPr/>
        </p:nvSpPr>
        <p:spPr>
          <a:xfrm>
            <a:off x="4169664" y="3383279"/>
            <a:ext cx="896112" cy="384048"/>
          </a:xfrm>
          <a:prstGeom prst="rect">
            <a:avLst/>
          </a:prstGeom>
          <a:noFill/>
          <a:ln>
            <a:noFill/>
          </a:ln>
        </p:spPr>
        <p:txBody>
          <a:bodyPr wrap="square" lIns="73152" tIns="0" rIns="73152" bIns="0" anchor="ctr">
            <a:noAutofit/>
          </a:bodyPr>
          <a:lstStyle/>
          <a:p>
            <a:pPr algn="r"/>
            <a:r>
              <a:rPr lang="en-US" sz="1150" b="0" dirty="0">
                <a:solidFill>
                  <a:srgbClr val="1F2328"/>
                </a:solidFill>
                <a:latin typeface="Calibri"/>
                <a:cs typeface="Calibri"/>
              </a:rPr>
              <a:t xml:space="preserve">2.95</a:t>
            </a:r>
          </a:p>
        </p:txBody>
      </p:sp>
      <p:sp>
        <p:nvSpPr>
          <p:cNvPr id="971" name="Cell 3-4"/>
          <p:cNvSpPr txBox="1"/>
          <p:nvPr/>
        </p:nvSpPr>
        <p:spPr>
          <a:xfrm>
            <a:off x="5065776" y="3383279"/>
            <a:ext cx="896112" cy="384048"/>
          </a:xfrm>
          <a:prstGeom prst="rect">
            <a:avLst/>
          </a:prstGeom>
          <a:noFill/>
          <a:ln>
            <a:noFill/>
          </a:ln>
        </p:spPr>
        <p:txBody>
          <a:bodyPr wrap="square" lIns="73152" tIns="0" rIns="73152" bIns="0" anchor="ctr">
            <a:noAutofit/>
          </a:bodyPr>
          <a:lstStyle/>
          <a:p>
            <a:pPr algn="r"/>
            <a:r>
              <a:rPr lang="en-US" sz="1150" b="0" dirty="0">
                <a:solidFill>
                  <a:srgbClr val="1F2328"/>
                </a:solidFill>
                <a:latin typeface="Calibri"/>
                <a:cs typeface="Calibri"/>
              </a:rPr>
              <a:t xml:space="preserve">3.60</a:t>
            </a:r>
          </a:p>
        </p:txBody>
      </p:sp>
      <p:sp>
        <p:nvSpPr>
          <p:cNvPr id="972" name="Row tint"/>
          <p:cNvSpPr/>
          <p:nvPr/>
        </p:nvSpPr>
        <p:spPr>
          <a:xfrm>
            <a:off x="822960" y="3767327"/>
            <a:ext cx="5138928" cy="384048"/>
          </a:xfrm>
          <a:prstGeom prst="rect">
            <a:avLst/>
          </a:prstGeom>
          <a:solidFill>
            <a:srgbClr val="F3F5F4"/>
          </a:solidFill>
          <a:ln>
            <a:noFill/>
          </a:ln>
        </p:spPr>
        <p:txBody>
          <a:bodyPr wrap="square" lIns="0" tIns="0" rIns="0" bIns="0" anchor="t">
            <a:noAutofit/>
          </a:bodyPr>
          <a:lstStyle/>
          <a:p>
            <a:pPr algn="l"/>
          </a:p>
        </p:txBody>
      </p:sp>
      <p:sp>
        <p:nvSpPr>
          <p:cNvPr id="973" name="Cell 4-0"/>
          <p:cNvSpPr txBox="1"/>
          <p:nvPr/>
        </p:nvSpPr>
        <p:spPr>
          <a:xfrm>
            <a:off x="822960" y="3767327"/>
            <a:ext cx="1554480" cy="384048"/>
          </a:xfrm>
          <a:prstGeom prst="rect">
            <a:avLst/>
          </a:prstGeom>
          <a:noFill/>
          <a:ln>
            <a:noFill/>
          </a:ln>
        </p:spPr>
        <p:txBody>
          <a:bodyPr wrap="square" lIns="73152" tIns="0" rIns="73152" bIns="0" anchor="ctr">
            <a:noAutofit/>
          </a:bodyPr>
          <a:lstStyle/>
          <a:p>
            <a:pPr algn="l"/>
            <a:r>
              <a:rPr lang="en-US" sz="1150" b="0" dirty="0">
                <a:solidFill>
                  <a:srgbClr val="1F2328"/>
                </a:solidFill>
                <a:latin typeface="Calibri"/>
                <a:cs typeface="Calibri"/>
              </a:rPr>
              <a:t xml:space="preserve">Adaptability</a:t>
            </a:r>
          </a:p>
        </p:txBody>
      </p:sp>
      <p:sp>
        <p:nvSpPr>
          <p:cNvPr id="974" name="Cell 4-1"/>
          <p:cNvSpPr txBox="1"/>
          <p:nvPr/>
        </p:nvSpPr>
        <p:spPr>
          <a:xfrm>
            <a:off x="2377440" y="3767327"/>
            <a:ext cx="896112" cy="384048"/>
          </a:xfrm>
          <a:prstGeom prst="rect">
            <a:avLst/>
          </a:prstGeom>
          <a:noFill/>
          <a:ln>
            <a:noFill/>
          </a:ln>
        </p:spPr>
        <p:txBody>
          <a:bodyPr wrap="square" lIns="73152" tIns="0" rIns="73152" bIns="0" anchor="ctr">
            <a:noAutofit/>
          </a:bodyPr>
          <a:lstStyle/>
          <a:p>
            <a:pPr algn="r"/>
            <a:r>
              <a:rPr lang="en-US" sz="1150" b="1" dirty="0">
                <a:solidFill>
                  <a:srgbClr val="0B6E4F"/>
                </a:solidFill>
                <a:latin typeface="Calibri"/>
                <a:cs typeface="Calibri"/>
              </a:rPr>
              <a:t xml:space="preserve">2.10</a:t>
            </a:r>
          </a:p>
        </p:txBody>
      </p:sp>
      <p:sp>
        <p:nvSpPr>
          <p:cNvPr id="975" name="Cell 4-2"/>
          <p:cNvSpPr txBox="1"/>
          <p:nvPr/>
        </p:nvSpPr>
        <p:spPr>
          <a:xfrm>
            <a:off x="3273552" y="3767327"/>
            <a:ext cx="896112" cy="384048"/>
          </a:xfrm>
          <a:prstGeom prst="rect">
            <a:avLst/>
          </a:prstGeom>
          <a:noFill/>
          <a:ln>
            <a:noFill/>
          </a:ln>
        </p:spPr>
        <p:txBody>
          <a:bodyPr wrap="square" lIns="73152" tIns="0" rIns="73152" bIns="0" anchor="ctr">
            <a:noAutofit/>
          </a:bodyPr>
          <a:lstStyle/>
          <a:p>
            <a:pPr algn="r"/>
            <a:r>
              <a:rPr lang="en-US" sz="1150" b="0" dirty="0">
                <a:solidFill>
                  <a:srgbClr val="1F2328"/>
                </a:solidFill>
                <a:latin typeface="Calibri"/>
                <a:cs typeface="Calibri"/>
              </a:rPr>
              <a:t xml:space="preserve">1.95</a:t>
            </a:r>
          </a:p>
        </p:txBody>
      </p:sp>
      <p:sp>
        <p:nvSpPr>
          <p:cNvPr id="976" name="Cell 4-3"/>
          <p:cNvSpPr txBox="1"/>
          <p:nvPr/>
        </p:nvSpPr>
        <p:spPr>
          <a:xfrm>
            <a:off x="4169664" y="3767327"/>
            <a:ext cx="896112" cy="384048"/>
          </a:xfrm>
          <a:prstGeom prst="rect">
            <a:avLst/>
          </a:prstGeom>
          <a:noFill/>
          <a:ln>
            <a:noFill/>
          </a:ln>
        </p:spPr>
        <p:txBody>
          <a:bodyPr wrap="square" lIns="73152" tIns="0" rIns="73152" bIns="0" anchor="ctr">
            <a:noAutofit/>
          </a:bodyPr>
          <a:lstStyle/>
          <a:p>
            <a:pPr algn="r"/>
            <a:r>
              <a:rPr lang="en-US" sz="1150" b="0" dirty="0">
                <a:solidFill>
                  <a:srgbClr val="1F2328"/>
                </a:solidFill>
                <a:latin typeface="Calibri"/>
                <a:cs typeface="Calibri"/>
              </a:rPr>
              <a:t xml:space="preserve">1.55</a:t>
            </a:r>
          </a:p>
        </p:txBody>
      </p:sp>
      <p:sp>
        <p:nvSpPr>
          <p:cNvPr id="977" name="Cell 4-4"/>
          <p:cNvSpPr txBox="1"/>
          <p:nvPr/>
        </p:nvSpPr>
        <p:spPr>
          <a:xfrm>
            <a:off x="5065776" y="3767327"/>
            <a:ext cx="896112" cy="384048"/>
          </a:xfrm>
          <a:prstGeom prst="rect">
            <a:avLst/>
          </a:prstGeom>
          <a:noFill/>
          <a:ln>
            <a:noFill/>
          </a:ln>
        </p:spPr>
        <p:txBody>
          <a:bodyPr wrap="square" lIns="73152" tIns="0" rIns="73152" bIns="0" anchor="ctr">
            <a:noAutofit/>
          </a:bodyPr>
          <a:lstStyle/>
          <a:p>
            <a:pPr algn="r"/>
            <a:r>
              <a:rPr lang="en-US" sz="1150" b="1" dirty="0">
                <a:solidFill>
                  <a:srgbClr val="0B6E4F"/>
                </a:solidFill>
                <a:latin typeface="Calibri"/>
                <a:cs typeface="Calibri"/>
              </a:rPr>
              <a:t xml:space="preserve">2.10</a:t>
            </a:r>
          </a:p>
        </p:txBody>
      </p:sp>
      <p:sp>
        <p:nvSpPr>
          <p:cNvPr id="978" name="Cell 5-0"/>
          <p:cNvSpPr txBox="1"/>
          <p:nvPr/>
        </p:nvSpPr>
        <p:spPr>
          <a:xfrm>
            <a:off x="822960" y="4151375"/>
            <a:ext cx="1554480" cy="384048"/>
          </a:xfrm>
          <a:prstGeom prst="rect">
            <a:avLst/>
          </a:prstGeom>
          <a:noFill/>
          <a:ln>
            <a:noFill/>
          </a:ln>
        </p:spPr>
        <p:txBody>
          <a:bodyPr wrap="square" lIns="73152" tIns="0" rIns="73152" bIns="0" anchor="ctr">
            <a:noAutofit/>
          </a:bodyPr>
          <a:lstStyle/>
          <a:p>
            <a:pPr algn="l"/>
            <a:r>
              <a:rPr lang="en-US" sz="1150" b="0" dirty="0">
                <a:solidFill>
                  <a:srgbClr val="1F2328"/>
                </a:solidFill>
                <a:latin typeface="Calibri"/>
                <a:cs typeface="Calibri"/>
              </a:rPr>
              <a:t xml:space="preserve">Clarity</a:t>
            </a:r>
          </a:p>
        </p:txBody>
      </p:sp>
      <p:sp>
        <p:nvSpPr>
          <p:cNvPr id="979" name="Cell 5-1"/>
          <p:cNvSpPr txBox="1"/>
          <p:nvPr/>
        </p:nvSpPr>
        <p:spPr>
          <a:xfrm>
            <a:off x="2377440" y="4151375"/>
            <a:ext cx="896112" cy="384048"/>
          </a:xfrm>
          <a:prstGeom prst="rect">
            <a:avLst/>
          </a:prstGeom>
          <a:noFill/>
          <a:ln>
            <a:noFill/>
          </a:ln>
        </p:spPr>
        <p:txBody>
          <a:bodyPr wrap="square" lIns="73152" tIns="0" rIns="73152" bIns="0" anchor="ctr">
            <a:noAutofit/>
          </a:bodyPr>
          <a:lstStyle/>
          <a:p>
            <a:pPr algn="r"/>
            <a:r>
              <a:rPr lang="en-US" sz="1150" b="0" dirty="0">
                <a:solidFill>
                  <a:srgbClr val="1F2328"/>
                </a:solidFill>
                <a:latin typeface="Calibri"/>
                <a:cs typeface="Calibri"/>
              </a:rPr>
              <a:t xml:space="preserve">2.50</a:t>
            </a:r>
          </a:p>
        </p:txBody>
      </p:sp>
      <p:sp>
        <p:nvSpPr>
          <p:cNvPr id="980" name="Cell 5-2"/>
          <p:cNvSpPr txBox="1"/>
          <p:nvPr/>
        </p:nvSpPr>
        <p:spPr>
          <a:xfrm>
            <a:off x="3273552" y="4151375"/>
            <a:ext cx="896112" cy="384048"/>
          </a:xfrm>
          <a:prstGeom prst="rect">
            <a:avLst/>
          </a:prstGeom>
          <a:noFill/>
          <a:ln>
            <a:noFill/>
          </a:ln>
        </p:spPr>
        <p:txBody>
          <a:bodyPr wrap="square" lIns="73152" tIns="0" rIns="73152" bIns="0" anchor="ctr">
            <a:noAutofit/>
          </a:bodyPr>
          <a:lstStyle/>
          <a:p>
            <a:pPr algn="r"/>
            <a:r>
              <a:rPr lang="en-US" sz="1150" b="0" dirty="0">
                <a:solidFill>
                  <a:srgbClr val="1F2328"/>
                </a:solidFill>
                <a:latin typeface="Calibri"/>
                <a:cs typeface="Calibri"/>
              </a:rPr>
              <a:t xml:space="preserve">2.45</a:t>
            </a:r>
          </a:p>
        </p:txBody>
      </p:sp>
      <p:sp>
        <p:nvSpPr>
          <p:cNvPr id="981" name="Cell 5-3"/>
          <p:cNvSpPr txBox="1"/>
          <p:nvPr/>
        </p:nvSpPr>
        <p:spPr>
          <a:xfrm>
            <a:off x="4169664" y="4151375"/>
            <a:ext cx="896112" cy="384048"/>
          </a:xfrm>
          <a:prstGeom prst="rect">
            <a:avLst/>
          </a:prstGeom>
          <a:noFill/>
          <a:ln>
            <a:noFill/>
          </a:ln>
        </p:spPr>
        <p:txBody>
          <a:bodyPr wrap="square" lIns="73152" tIns="0" rIns="73152" bIns="0" anchor="ctr">
            <a:noAutofit/>
          </a:bodyPr>
          <a:lstStyle/>
          <a:p>
            <a:pPr algn="r"/>
            <a:r>
              <a:rPr lang="en-US" sz="1150" b="0" dirty="0">
                <a:solidFill>
                  <a:srgbClr val="1F2328"/>
                </a:solidFill>
                <a:latin typeface="Calibri"/>
                <a:cs typeface="Calibri"/>
              </a:rPr>
              <a:t xml:space="preserve">2.90</a:t>
            </a:r>
          </a:p>
        </p:txBody>
      </p:sp>
      <p:sp>
        <p:nvSpPr>
          <p:cNvPr id="982" name="Cell 5-4"/>
          <p:cNvSpPr txBox="1"/>
          <p:nvPr/>
        </p:nvSpPr>
        <p:spPr>
          <a:xfrm>
            <a:off x="5065776" y="4151375"/>
            <a:ext cx="896112" cy="384048"/>
          </a:xfrm>
          <a:prstGeom prst="rect">
            <a:avLst/>
          </a:prstGeom>
          <a:noFill/>
          <a:ln>
            <a:noFill/>
          </a:ln>
        </p:spPr>
        <p:txBody>
          <a:bodyPr wrap="square" lIns="73152" tIns="0" rIns="73152" bIns="0" anchor="ctr">
            <a:noAutofit/>
          </a:bodyPr>
          <a:lstStyle/>
          <a:p>
            <a:pPr algn="r"/>
            <a:r>
              <a:rPr lang="en-US" sz="1150" b="1" dirty="0">
                <a:solidFill>
                  <a:srgbClr val="0B6E4F"/>
                </a:solidFill>
                <a:latin typeface="Calibri"/>
                <a:cs typeface="Calibri"/>
              </a:rPr>
              <a:t xml:space="preserve">3.90</a:t>
            </a:r>
          </a:p>
        </p:txBody>
      </p:sp>
      <p:sp>
        <p:nvSpPr>
          <p:cNvPr id="983" name="Row tint"/>
          <p:cNvSpPr/>
          <p:nvPr/>
        </p:nvSpPr>
        <p:spPr>
          <a:xfrm>
            <a:off x="822960" y="4535423"/>
            <a:ext cx="5138928" cy="384048"/>
          </a:xfrm>
          <a:prstGeom prst="rect">
            <a:avLst/>
          </a:prstGeom>
          <a:solidFill>
            <a:srgbClr val="F3F5F4"/>
          </a:solidFill>
          <a:ln>
            <a:noFill/>
          </a:ln>
        </p:spPr>
        <p:txBody>
          <a:bodyPr wrap="square" lIns="0" tIns="0" rIns="0" bIns="0" anchor="t">
            <a:noAutofit/>
          </a:bodyPr>
          <a:lstStyle/>
          <a:p>
            <a:pPr algn="l"/>
          </a:p>
        </p:txBody>
      </p:sp>
      <p:sp>
        <p:nvSpPr>
          <p:cNvPr id="984" name="Cell 6-0"/>
          <p:cNvSpPr txBox="1"/>
          <p:nvPr/>
        </p:nvSpPr>
        <p:spPr>
          <a:xfrm>
            <a:off x="822960" y="4535423"/>
            <a:ext cx="1554480" cy="384048"/>
          </a:xfrm>
          <a:prstGeom prst="rect">
            <a:avLst/>
          </a:prstGeom>
          <a:noFill/>
          <a:ln>
            <a:noFill/>
          </a:ln>
        </p:spPr>
        <p:txBody>
          <a:bodyPr wrap="square" lIns="73152" tIns="0" rIns="73152" bIns="0" anchor="ctr">
            <a:noAutofit/>
          </a:bodyPr>
          <a:lstStyle/>
          <a:p>
            <a:pPr algn="l"/>
            <a:r>
              <a:rPr lang="en-US" sz="1150" b="0" dirty="0">
                <a:solidFill>
                  <a:srgbClr val="1F2328"/>
                </a:solidFill>
                <a:latin typeface="Calibri"/>
                <a:cs typeface="Calibri"/>
              </a:rPr>
              <a:t xml:space="preserve">Consistency</a:t>
            </a:r>
          </a:p>
        </p:txBody>
      </p:sp>
      <p:sp>
        <p:nvSpPr>
          <p:cNvPr id="985" name="Cell 6-1"/>
          <p:cNvSpPr txBox="1"/>
          <p:nvPr/>
        </p:nvSpPr>
        <p:spPr>
          <a:xfrm>
            <a:off x="2377440" y="4535423"/>
            <a:ext cx="896112" cy="384048"/>
          </a:xfrm>
          <a:prstGeom prst="rect">
            <a:avLst/>
          </a:prstGeom>
          <a:noFill/>
          <a:ln>
            <a:noFill/>
          </a:ln>
        </p:spPr>
        <p:txBody>
          <a:bodyPr wrap="square" lIns="73152" tIns="0" rIns="73152" bIns="0" anchor="ctr">
            <a:noAutofit/>
          </a:bodyPr>
          <a:lstStyle/>
          <a:p>
            <a:pPr algn="r"/>
            <a:r>
              <a:rPr lang="en-US" sz="1150" b="0" dirty="0">
                <a:solidFill>
                  <a:srgbClr val="1F2328"/>
                </a:solidFill>
                <a:latin typeface="Calibri"/>
                <a:cs typeface="Calibri"/>
              </a:rPr>
              <a:t xml:space="preserve">3.30</a:t>
            </a:r>
          </a:p>
        </p:txBody>
      </p:sp>
      <p:sp>
        <p:nvSpPr>
          <p:cNvPr id="986" name="Cell 6-2"/>
          <p:cNvSpPr txBox="1"/>
          <p:nvPr/>
        </p:nvSpPr>
        <p:spPr>
          <a:xfrm>
            <a:off x="3273552" y="4535423"/>
            <a:ext cx="896112" cy="384048"/>
          </a:xfrm>
          <a:prstGeom prst="rect">
            <a:avLst/>
          </a:prstGeom>
          <a:noFill/>
          <a:ln>
            <a:noFill/>
          </a:ln>
        </p:spPr>
        <p:txBody>
          <a:bodyPr wrap="square" lIns="73152" tIns="0" rIns="73152" bIns="0" anchor="ctr">
            <a:noAutofit/>
          </a:bodyPr>
          <a:lstStyle/>
          <a:p>
            <a:pPr algn="r"/>
            <a:r>
              <a:rPr lang="en-US" sz="1150" b="0" dirty="0">
                <a:solidFill>
                  <a:srgbClr val="1F2328"/>
                </a:solidFill>
                <a:latin typeface="Calibri"/>
                <a:cs typeface="Calibri"/>
              </a:rPr>
              <a:t xml:space="preserve">2.85</a:t>
            </a:r>
          </a:p>
        </p:txBody>
      </p:sp>
      <p:sp>
        <p:nvSpPr>
          <p:cNvPr id="987" name="Cell 6-3"/>
          <p:cNvSpPr txBox="1"/>
          <p:nvPr/>
        </p:nvSpPr>
        <p:spPr>
          <a:xfrm>
            <a:off x="4169664" y="4535423"/>
            <a:ext cx="896112" cy="384048"/>
          </a:xfrm>
          <a:prstGeom prst="rect">
            <a:avLst/>
          </a:prstGeom>
          <a:noFill/>
          <a:ln>
            <a:noFill/>
          </a:ln>
        </p:spPr>
        <p:txBody>
          <a:bodyPr wrap="square" lIns="73152" tIns="0" rIns="73152" bIns="0" anchor="ctr">
            <a:noAutofit/>
          </a:bodyPr>
          <a:lstStyle/>
          <a:p>
            <a:pPr algn="r"/>
            <a:r>
              <a:rPr lang="en-US" sz="1150" b="0" dirty="0">
                <a:solidFill>
                  <a:srgbClr val="1F2328"/>
                </a:solidFill>
                <a:latin typeface="Calibri"/>
                <a:cs typeface="Calibri"/>
              </a:rPr>
              <a:t xml:space="preserve">2.35</a:t>
            </a:r>
          </a:p>
        </p:txBody>
      </p:sp>
      <p:sp>
        <p:nvSpPr>
          <p:cNvPr id="988" name="Cell 6-4"/>
          <p:cNvSpPr txBox="1"/>
          <p:nvPr/>
        </p:nvSpPr>
        <p:spPr>
          <a:xfrm>
            <a:off x="5065776" y="4535423"/>
            <a:ext cx="896112" cy="384048"/>
          </a:xfrm>
          <a:prstGeom prst="rect">
            <a:avLst/>
          </a:prstGeom>
          <a:noFill/>
          <a:ln>
            <a:noFill/>
          </a:ln>
        </p:spPr>
        <p:txBody>
          <a:bodyPr wrap="square" lIns="73152" tIns="0" rIns="73152" bIns="0" anchor="ctr">
            <a:noAutofit/>
          </a:bodyPr>
          <a:lstStyle/>
          <a:p>
            <a:pPr algn="r"/>
            <a:r>
              <a:rPr lang="en-US" sz="1150" b="1" dirty="0">
                <a:solidFill>
                  <a:srgbClr val="0B6E4F"/>
                </a:solidFill>
                <a:latin typeface="Calibri"/>
                <a:cs typeface="Calibri"/>
              </a:rPr>
              <a:t xml:space="preserve">3.35</a:t>
            </a:r>
          </a:p>
        </p:txBody>
      </p:sp>
      <p:sp>
        <p:nvSpPr>
          <p:cNvPr id="989" name="Cell 7-0"/>
          <p:cNvSpPr txBox="1"/>
          <p:nvPr/>
        </p:nvSpPr>
        <p:spPr>
          <a:xfrm>
            <a:off x="822960" y="4919471"/>
            <a:ext cx="1554480" cy="384048"/>
          </a:xfrm>
          <a:prstGeom prst="rect">
            <a:avLst/>
          </a:prstGeom>
          <a:noFill/>
          <a:ln>
            <a:noFill/>
          </a:ln>
        </p:spPr>
        <p:txBody>
          <a:bodyPr wrap="square" lIns="73152" tIns="0" rIns="73152" bIns="0" anchor="ctr">
            <a:noAutofit/>
          </a:bodyPr>
          <a:lstStyle/>
          <a:p>
            <a:pPr algn="l"/>
            <a:r>
              <a:rPr lang="en-US" sz="1150" b="0" dirty="0">
                <a:solidFill>
                  <a:srgbClr val="1F2328"/>
                </a:solidFill>
                <a:latin typeface="Calibri"/>
                <a:cs typeface="Calibri"/>
              </a:rPr>
              <a:t xml:space="preserve">Domain enrichment</a:t>
            </a:r>
          </a:p>
        </p:txBody>
      </p:sp>
      <p:sp>
        <p:nvSpPr>
          <p:cNvPr id="990" name="Cell 7-1"/>
          <p:cNvSpPr txBox="1"/>
          <p:nvPr/>
        </p:nvSpPr>
        <p:spPr>
          <a:xfrm>
            <a:off x="2377440" y="4919471"/>
            <a:ext cx="896112" cy="384048"/>
          </a:xfrm>
          <a:prstGeom prst="rect">
            <a:avLst/>
          </a:prstGeom>
          <a:noFill/>
          <a:ln>
            <a:noFill/>
          </a:ln>
        </p:spPr>
        <p:txBody>
          <a:bodyPr wrap="square" lIns="73152" tIns="0" rIns="73152" bIns="0" anchor="ctr">
            <a:noAutofit/>
          </a:bodyPr>
          <a:lstStyle/>
          <a:p>
            <a:pPr algn="r"/>
            <a:r>
              <a:rPr lang="en-US" sz="1150" b="0" dirty="0">
                <a:solidFill>
                  <a:srgbClr val="1F2328"/>
                </a:solidFill>
                <a:latin typeface="Calibri"/>
                <a:cs typeface="Calibri"/>
              </a:rPr>
              <a:t xml:space="preserve">2.20</a:t>
            </a:r>
          </a:p>
        </p:txBody>
      </p:sp>
      <p:sp>
        <p:nvSpPr>
          <p:cNvPr id="991" name="Cell 7-2"/>
          <p:cNvSpPr txBox="1"/>
          <p:nvPr/>
        </p:nvSpPr>
        <p:spPr>
          <a:xfrm>
            <a:off x="3273552" y="4919471"/>
            <a:ext cx="896112" cy="384048"/>
          </a:xfrm>
          <a:prstGeom prst="rect">
            <a:avLst/>
          </a:prstGeom>
          <a:noFill/>
          <a:ln>
            <a:noFill/>
          </a:ln>
        </p:spPr>
        <p:txBody>
          <a:bodyPr wrap="square" lIns="73152" tIns="0" rIns="73152" bIns="0" anchor="ctr">
            <a:noAutofit/>
          </a:bodyPr>
          <a:lstStyle/>
          <a:p>
            <a:pPr algn="r"/>
            <a:r>
              <a:rPr lang="en-US" sz="1150" b="0" dirty="0">
                <a:solidFill>
                  <a:srgbClr val="1F2328"/>
                </a:solidFill>
                <a:latin typeface="Calibri"/>
                <a:cs typeface="Calibri"/>
              </a:rPr>
              <a:t xml:space="preserve">2.00</a:t>
            </a:r>
          </a:p>
        </p:txBody>
      </p:sp>
      <p:sp>
        <p:nvSpPr>
          <p:cNvPr id="992" name="Cell 7-3"/>
          <p:cNvSpPr txBox="1"/>
          <p:nvPr/>
        </p:nvSpPr>
        <p:spPr>
          <a:xfrm>
            <a:off x="4169664" y="4919471"/>
            <a:ext cx="896112" cy="384048"/>
          </a:xfrm>
          <a:prstGeom prst="rect">
            <a:avLst/>
          </a:prstGeom>
          <a:noFill/>
          <a:ln>
            <a:noFill/>
          </a:ln>
        </p:spPr>
        <p:txBody>
          <a:bodyPr wrap="square" lIns="73152" tIns="0" rIns="73152" bIns="0" anchor="ctr">
            <a:noAutofit/>
          </a:bodyPr>
          <a:lstStyle/>
          <a:p>
            <a:pPr algn="r"/>
            <a:r>
              <a:rPr lang="en-US" sz="1150" b="0" dirty="0">
                <a:solidFill>
                  <a:srgbClr val="1F2328"/>
                </a:solidFill>
                <a:latin typeface="Calibri"/>
                <a:cs typeface="Calibri"/>
              </a:rPr>
              <a:t xml:space="preserve">2.35</a:t>
            </a:r>
          </a:p>
        </p:txBody>
      </p:sp>
      <p:sp>
        <p:nvSpPr>
          <p:cNvPr id="993" name="Cell 7-4"/>
          <p:cNvSpPr txBox="1"/>
          <p:nvPr/>
        </p:nvSpPr>
        <p:spPr>
          <a:xfrm>
            <a:off x="5065776" y="4919471"/>
            <a:ext cx="896112" cy="384048"/>
          </a:xfrm>
          <a:prstGeom prst="rect">
            <a:avLst/>
          </a:prstGeom>
          <a:noFill/>
          <a:ln>
            <a:noFill/>
          </a:ln>
        </p:spPr>
        <p:txBody>
          <a:bodyPr wrap="square" lIns="73152" tIns="0" rIns="73152" bIns="0" anchor="ctr">
            <a:noAutofit/>
          </a:bodyPr>
          <a:lstStyle/>
          <a:p>
            <a:pPr algn="r"/>
            <a:r>
              <a:rPr lang="en-US" sz="1150" b="1" dirty="0">
                <a:solidFill>
                  <a:srgbClr val="0B6E4F"/>
                </a:solidFill>
                <a:latin typeface="Calibri"/>
                <a:cs typeface="Calibri"/>
              </a:rPr>
              <a:t xml:space="preserve">3.50</a:t>
            </a:r>
          </a:p>
        </p:txBody>
      </p:sp>
      <p:sp>
        <p:nvSpPr>
          <p:cNvPr id="994" name="Row tint"/>
          <p:cNvSpPr/>
          <p:nvPr/>
        </p:nvSpPr>
        <p:spPr>
          <a:xfrm>
            <a:off x="822960" y="5303519"/>
            <a:ext cx="5138928" cy="384048"/>
          </a:xfrm>
          <a:prstGeom prst="rect">
            <a:avLst/>
          </a:prstGeom>
          <a:solidFill>
            <a:srgbClr val="F3F5F4"/>
          </a:solidFill>
          <a:ln>
            <a:noFill/>
          </a:ln>
        </p:spPr>
        <p:txBody>
          <a:bodyPr wrap="square" lIns="0" tIns="0" rIns="0" bIns="0" anchor="t">
            <a:noAutofit/>
          </a:bodyPr>
          <a:lstStyle/>
          <a:p>
            <a:pPr algn="l"/>
          </a:p>
        </p:txBody>
      </p:sp>
      <p:sp>
        <p:nvSpPr>
          <p:cNvPr id="995" name="Cell 8-0"/>
          <p:cNvSpPr txBox="1"/>
          <p:nvPr/>
        </p:nvSpPr>
        <p:spPr>
          <a:xfrm>
            <a:off x="822960" y="5303519"/>
            <a:ext cx="1554480" cy="384048"/>
          </a:xfrm>
          <a:prstGeom prst="rect">
            <a:avLst/>
          </a:prstGeom>
          <a:noFill/>
          <a:ln>
            <a:noFill/>
          </a:ln>
        </p:spPr>
        <p:txBody>
          <a:bodyPr wrap="square" lIns="73152" tIns="0" rIns="73152" bIns="0" anchor="ctr">
            <a:noAutofit/>
          </a:bodyPr>
          <a:lstStyle/>
          <a:p>
            <a:pPr algn="l"/>
            <a:r>
              <a:rPr lang="en-US" sz="1150" b="0" dirty="0">
                <a:solidFill>
                  <a:srgbClr val="1F2328"/>
                </a:solidFill>
                <a:latin typeface="Calibri"/>
                <a:cs typeface="Calibri"/>
              </a:rPr>
              <a:t xml:space="preserve">Average</a:t>
            </a:r>
          </a:p>
        </p:txBody>
      </p:sp>
      <p:sp>
        <p:nvSpPr>
          <p:cNvPr id="996" name="Cell 8-1"/>
          <p:cNvSpPr txBox="1"/>
          <p:nvPr/>
        </p:nvSpPr>
        <p:spPr>
          <a:xfrm>
            <a:off x="2377440" y="5303519"/>
            <a:ext cx="896112" cy="384048"/>
          </a:xfrm>
          <a:prstGeom prst="rect">
            <a:avLst/>
          </a:prstGeom>
          <a:noFill/>
          <a:ln>
            <a:noFill/>
          </a:ln>
        </p:spPr>
        <p:txBody>
          <a:bodyPr wrap="square" lIns="73152" tIns="0" rIns="73152" bIns="0" anchor="ctr">
            <a:noAutofit/>
          </a:bodyPr>
          <a:lstStyle/>
          <a:p>
            <a:pPr algn="r"/>
            <a:r>
              <a:rPr lang="en-US" sz="1150" b="0" dirty="0">
                <a:solidFill>
                  <a:srgbClr val="1F2328"/>
                </a:solidFill>
                <a:latin typeface="Calibri"/>
                <a:cs typeface="Calibri"/>
              </a:rPr>
              <a:t xml:space="preserve">2.95</a:t>
            </a:r>
          </a:p>
        </p:txBody>
      </p:sp>
      <p:sp>
        <p:nvSpPr>
          <p:cNvPr id="997" name="Cell 8-2"/>
          <p:cNvSpPr txBox="1"/>
          <p:nvPr/>
        </p:nvSpPr>
        <p:spPr>
          <a:xfrm>
            <a:off x="3273552" y="5303519"/>
            <a:ext cx="896112" cy="384048"/>
          </a:xfrm>
          <a:prstGeom prst="rect">
            <a:avLst/>
          </a:prstGeom>
          <a:noFill/>
          <a:ln>
            <a:noFill/>
          </a:ln>
        </p:spPr>
        <p:txBody>
          <a:bodyPr wrap="square" lIns="73152" tIns="0" rIns="73152" bIns="0" anchor="ctr">
            <a:noAutofit/>
          </a:bodyPr>
          <a:lstStyle/>
          <a:p>
            <a:pPr algn="r"/>
            <a:r>
              <a:rPr lang="en-US" sz="1150" b="0" dirty="0">
                <a:solidFill>
                  <a:srgbClr val="1F2328"/>
                </a:solidFill>
                <a:latin typeface="Calibri"/>
                <a:cs typeface="Calibri"/>
              </a:rPr>
              <a:t xml:space="preserve">2.74</a:t>
            </a:r>
          </a:p>
        </p:txBody>
      </p:sp>
      <p:sp>
        <p:nvSpPr>
          <p:cNvPr id="998" name="Cell 8-3"/>
          <p:cNvSpPr txBox="1"/>
          <p:nvPr/>
        </p:nvSpPr>
        <p:spPr>
          <a:xfrm>
            <a:off x="4169664" y="5303519"/>
            <a:ext cx="896112" cy="384048"/>
          </a:xfrm>
          <a:prstGeom prst="rect">
            <a:avLst/>
          </a:prstGeom>
          <a:noFill/>
          <a:ln>
            <a:noFill/>
          </a:ln>
        </p:spPr>
        <p:txBody>
          <a:bodyPr wrap="square" lIns="73152" tIns="0" rIns="73152" bIns="0" anchor="ctr">
            <a:noAutofit/>
          </a:bodyPr>
          <a:lstStyle/>
          <a:p>
            <a:pPr algn="r"/>
            <a:r>
              <a:rPr lang="en-US" sz="1150" b="0" dirty="0">
                <a:solidFill>
                  <a:srgbClr val="1F2328"/>
                </a:solidFill>
                <a:latin typeface="Calibri"/>
                <a:cs typeface="Calibri"/>
              </a:rPr>
              <a:t xml:space="preserve">2.39</a:t>
            </a:r>
          </a:p>
        </p:txBody>
      </p:sp>
      <p:sp>
        <p:nvSpPr>
          <p:cNvPr id="999" name="Cell 8-4"/>
          <p:cNvSpPr txBox="1"/>
          <p:nvPr/>
        </p:nvSpPr>
        <p:spPr>
          <a:xfrm>
            <a:off x="5065776" y="5303519"/>
            <a:ext cx="896112" cy="384048"/>
          </a:xfrm>
          <a:prstGeom prst="rect">
            <a:avLst/>
          </a:prstGeom>
          <a:noFill/>
          <a:ln>
            <a:noFill/>
          </a:ln>
        </p:spPr>
        <p:txBody>
          <a:bodyPr wrap="square" lIns="73152" tIns="0" rIns="73152" bIns="0" anchor="ctr">
            <a:noAutofit/>
          </a:bodyPr>
          <a:lstStyle/>
          <a:p>
            <a:pPr algn="r"/>
            <a:r>
              <a:rPr lang="en-US" sz="1150" b="1" dirty="0">
                <a:solidFill>
                  <a:srgbClr val="0B6E4F"/>
                </a:solidFill>
                <a:latin typeface="Calibri"/>
                <a:cs typeface="Calibri"/>
              </a:rPr>
              <a:t xml:space="preserve">3.44</a:t>
            </a:r>
          </a:p>
        </p:txBody>
      </p:sp>
      <p:sp>
        <p:nvSpPr>
          <p:cNvPr id="1000" name="DB label"/>
          <p:cNvSpPr txBox="1"/>
          <p:nvPr/>
        </p:nvSpPr>
        <p:spPr>
          <a:xfrm>
            <a:off x="6172200" y="1874519"/>
            <a:ext cx="5120640" cy="274320"/>
          </a:xfrm>
          <a:prstGeom prst="rect">
            <a:avLst/>
          </a:prstGeom>
          <a:noFill/>
          <a:ln>
            <a:noFill/>
          </a:ln>
        </p:spPr>
        <p:txBody>
          <a:bodyPr wrap="square" lIns="0" tIns="0" rIns="0" bIns="0" anchor="t">
            <a:noAutofit/>
          </a:bodyPr>
          <a:lstStyle/>
          <a:p>
            <a:pPr algn="l"/>
            <a:r>
              <a:rPr lang="en-US" sz="1200" b="1" dirty="0">
                <a:solidFill>
                  <a:srgbClr val="0B6E4F"/>
                </a:solidFill>
                <a:latin typeface="Consolas"/>
                <a:cs typeface="Consolas"/>
              </a:rPr>
              <a:t xml:space="preserve">eICU-CRD</a:t>
            </a:r>
          </a:p>
        </p:txBody>
      </p:sp>
      <p:sp>
        <p:nvSpPr>
          <p:cNvPr id="1001" name="Table header rule"/>
          <p:cNvSpPr/>
          <p:nvPr/>
        </p:nvSpPr>
        <p:spPr>
          <a:xfrm>
            <a:off x="6172200" y="2596896"/>
            <a:ext cx="5138928" cy="9144"/>
          </a:xfrm>
          <a:prstGeom prst="rect">
            <a:avLst/>
          </a:prstGeom>
          <a:solidFill>
            <a:srgbClr val="D9DEDB"/>
          </a:solidFill>
          <a:ln>
            <a:noFill/>
          </a:ln>
        </p:spPr>
        <p:txBody>
          <a:bodyPr wrap="square" lIns="0" tIns="0" rIns="0" bIns="0" anchor="t">
            <a:noAutofit/>
          </a:bodyPr>
          <a:lstStyle/>
          <a:p>
            <a:pPr algn="l"/>
          </a:p>
        </p:txBody>
      </p:sp>
      <p:sp>
        <p:nvSpPr>
          <p:cNvPr id="1002" name="Cell 0-0"/>
          <p:cNvSpPr txBox="1"/>
          <p:nvPr/>
        </p:nvSpPr>
        <p:spPr>
          <a:xfrm>
            <a:off x="6172200" y="2212848"/>
            <a:ext cx="1554480" cy="384048"/>
          </a:xfrm>
          <a:prstGeom prst="rect">
            <a:avLst/>
          </a:prstGeom>
          <a:noFill/>
          <a:ln>
            <a:noFill/>
          </a:ln>
        </p:spPr>
        <p:txBody>
          <a:bodyPr wrap="square" lIns="73152" tIns="0" rIns="73152" bIns="0" anchor="ctr">
            <a:noAutofit/>
          </a:bodyPr>
          <a:lstStyle/>
          <a:p>
            <a:pPr algn="l"/>
            <a:r>
              <a:rPr lang="en-US" sz="1000" b="1" dirty="0">
                <a:solidFill>
                  <a:srgbClr val="2F6B78"/>
                </a:solidFill>
                <a:latin typeface="Consolas"/>
                <a:cs typeface="Consolas"/>
              </a:rPr>
              <a:t xml:space="preserve">DIMENSION</a:t>
            </a:r>
          </a:p>
        </p:txBody>
      </p:sp>
      <p:sp>
        <p:nvSpPr>
          <p:cNvPr id="1003" name="Cell 0-1"/>
          <p:cNvSpPr txBox="1"/>
          <p:nvPr/>
        </p:nvSpPr>
        <p:spPr>
          <a:xfrm>
            <a:off x="7726679" y="2212848"/>
            <a:ext cx="896112" cy="384048"/>
          </a:xfrm>
          <a:prstGeom prst="rect">
            <a:avLst/>
          </a:prstGeom>
          <a:noFill/>
          <a:ln>
            <a:noFill/>
          </a:ln>
        </p:spPr>
        <p:txBody>
          <a:bodyPr wrap="square" lIns="73152" tIns="0" rIns="73152" bIns="0" anchor="ctr">
            <a:noAutofit/>
          </a:bodyPr>
          <a:lstStyle/>
          <a:p>
            <a:pPr algn="r"/>
            <a:r>
              <a:rPr lang="en-US" sz="1000" b="1" dirty="0">
                <a:solidFill>
                  <a:srgbClr val="2F6B78"/>
                </a:solidFill>
                <a:latin typeface="Consolas"/>
                <a:cs typeface="Consolas"/>
              </a:rPr>
              <a:t xml:space="preserve">DIRECT MAP.</a:t>
            </a:r>
          </a:p>
        </p:txBody>
      </p:sp>
      <p:sp>
        <p:nvSpPr>
          <p:cNvPr id="1004" name="Cell 0-2"/>
          <p:cNvSpPr txBox="1"/>
          <p:nvPr/>
        </p:nvSpPr>
        <p:spPr>
          <a:xfrm>
            <a:off x="8622792" y="2212848"/>
            <a:ext cx="896112" cy="384048"/>
          </a:xfrm>
          <a:prstGeom prst="rect">
            <a:avLst/>
          </a:prstGeom>
          <a:noFill/>
          <a:ln>
            <a:noFill/>
          </a:ln>
        </p:spPr>
        <p:txBody>
          <a:bodyPr wrap="square" lIns="73152" tIns="0" rIns="73152" bIns="0" anchor="ctr">
            <a:noAutofit/>
          </a:bodyPr>
          <a:lstStyle/>
          <a:p>
            <a:pPr algn="r"/>
            <a:r>
              <a:rPr lang="en-US" sz="1000" b="1" dirty="0">
                <a:solidFill>
                  <a:srgbClr val="2F6B78"/>
                </a:solidFill>
                <a:latin typeface="Consolas"/>
                <a:cs typeface="Consolas"/>
              </a:rPr>
              <a:t xml:space="preserve">LLM BASELINE</a:t>
            </a:r>
          </a:p>
        </p:txBody>
      </p:sp>
      <p:sp>
        <p:nvSpPr>
          <p:cNvPr id="1005" name="Cell 0-3"/>
          <p:cNvSpPr txBox="1"/>
          <p:nvPr/>
        </p:nvSpPr>
        <p:spPr>
          <a:xfrm>
            <a:off x="9518904" y="2212848"/>
            <a:ext cx="896112" cy="384048"/>
          </a:xfrm>
          <a:prstGeom prst="rect">
            <a:avLst/>
          </a:prstGeom>
          <a:noFill/>
          <a:ln>
            <a:noFill/>
          </a:ln>
        </p:spPr>
        <p:txBody>
          <a:bodyPr wrap="square" lIns="73152" tIns="0" rIns="73152" bIns="0" anchor="ctr">
            <a:noAutofit/>
          </a:bodyPr>
          <a:lstStyle/>
          <a:p>
            <a:pPr algn="r"/>
            <a:r>
              <a:rPr lang="en-US" sz="1000" b="1" dirty="0">
                <a:solidFill>
                  <a:srgbClr val="2F6B78"/>
                </a:solidFill>
                <a:latin typeface="Consolas"/>
                <a:cs typeface="Consolas"/>
              </a:rPr>
              <a:t xml:space="preserve">NON-ITER.</a:t>
            </a:r>
          </a:p>
        </p:txBody>
      </p:sp>
      <p:sp>
        <p:nvSpPr>
          <p:cNvPr id="1006" name="Cell 0-4"/>
          <p:cNvSpPr txBox="1"/>
          <p:nvPr/>
        </p:nvSpPr>
        <p:spPr>
          <a:xfrm>
            <a:off x="10415016" y="2212848"/>
            <a:ext cx="896112" cy="384048"/>
          </a:xfrm>
          <a:prstGeom prst="rect">
            <a:avLst/>
          </a:prstGeom>
          <a:noFill/>
          <a:ln>
            <a:noFill/>
          </a:ln>
        </p:spPr>
        <p:txBody>
          <a:bodyPr wrap="square" lIns="73152" tIns="0" rIns="73152" bIns="0" anchor="ctr">
            <a:noAutofit/>
          </a:bodyPr>
          <a:lstStyle/>
          <a:p>
            <a:pPr algn="r"/>
            <a:r>
              <a:rPr lang="en-US" sz="1000" b="1" dirty="0">
                <a:solidFill>
                  <a:srgbClr val="2F6B78"/>
                </a:solidFill>
                <a:latin typeface="Consolas"/>
                <a:cs typeface="Consolas"/>
              </a:rPr>
              <a:t xml:space="preserve">RIGOR</a:t>
            </a:r>
          </a:p>
        </p:txBody>
      </p:sp>
      <p:sp>
        <p:nvSpPr>
          <p:cNvPr id="1007" name="Cell 1-0"/>
          <p:cNvSpPr txBox="1"/>
          <p:nvPr/>
        </p:nvSpPr>
        <p:spPr>
          <a:xfrm>
            <a:off x="6172200" y="2615184"/>
            <a:ext cx="1554480" cy="384048"/>
          </a:xfrm>
          <a:prstGeom prst="rect">
            <a:avLst/>
          </a:prstGeom>
          <a:noFill/>
          <a:ln>
            <a:noFill/>
          </a:ln>
        </p:spPr>
        <p:txBody>
          <a:bodyPr wrap="square" lIns="73152" tIns="0" rIns="73152" bIns="0" anchor="ctr">
            <a:noAutofit/>
          </a:bodyPr>
          <a:lstStyle/>
          <a:p>
            <a:pPr algn="l"/>
            <a:r>
              <a:rPr lang="en-US" sz="1150" b="0" dirty="0">
                <a:solidFill>
                  <a:srgbClr val="1F2328"/>
                </a:solidFill>
                <a:latin typeface="Calibri"/>
                <a:cs typeface="Calibri"/>
              </a:rPr>
              <a:t xml:space="preserve">Accuracy</a:t>
            </a:r>
          </a:p>
        </p:txBody>
      </p:sp>
      <p:sp>
        <p:nvSpPr>
          <p:cNvPr id="1008" name="Cell 1-1"/>
          <p:cNvSpPr txBox="1"/>
          <p:nvPr/>
        </p:nvSpPr>
        <p:spPr>
          <a:xfrm>
            <a:off x="7726679" y="2615184"/>
            <a:ext cx="896112" cy="384048"/>
          </a:xfrm>
          <a:prstGeom prst="rect">
            <a:avLst/>
          </a:prstGeom>
          <a:noFill/>
          <a:ln>
            <a:noFill/>
          </a:ln>
        </p:spPr>
        <p:txBody>
          <a:bodyPr wrap="square" lIns="73152" tIns="0" rIns="73152" bIns="0" anchor="ctr">
            <a:noAutofit/>
          </a:bodyPr>
          <a:lstStyle/>
          <a:p>
            <a:pPr algn="r"/>
            <a:r>
              <a:rPr lang="en-US" sz="1150" b="0" dirty="0">
                <a:solidFill>
                  <a:srgbClr val="1F2328"/>
                </a:solidFill>
                <a:latin typeface="Calibri"/>
                <a:cs typeface="Calibri"/>
              </a:rPr>
              <a:t xml:space="preserve">3.05</a:t>
            </a:r>
          </a:p>
        </p:txBody>
      </p:sp>
      <p:sp>
        <p:nvSpPr>
          <p:cNvPr id="1009" name="Cell 1-2"/>
          <p:cNvSpPr txBox="1"/>
          <p:nvPr/>
        </p:nvSpPr>
        <p:spPr>
          <a:xfrm>
            <a:off x="8622792" y="2615184"/>
            <a:ext cx="896112" cy="384048"/>
          </a:xfrm>
          <a:prstGeom prst="rect">
            <a:avLst/>
          </a:prstGeom>
          <a:noFill/>
          <a:ln>
            <a:noFill/>
          </a:ln>
        </p:spPr>
        <p:txBody>
          <a:bodyPr wrap="square" lIns="73152" tIns="0" rIns="73152" bIns="0" anchor="ctr">
            <a:noAutofit/>
          </a:bodyPr>
          <a:lstStyle/>
          <a:p>
            <a:pPr algn="r"/>
            <a:r>
              <a:rPr lang="en-US" sz="1150" b="0" dirty="0">
                <a:solidFill>
                  <a:srgbClr val="1F2328"/>
                </a:solidFill>
                <a:latin typeface="Calibri"/>
                <a:cs typeface="Calibri"/>
              </a:rPr>
              <a:t xml:space="preserve">3.90</a:t>
            </a:r>
          </a:p>
        </p:txBody>
      </p:sp>
      <p:sp>
        <p:nvSpPr>
          <p:cNvPr id="1010" name="Cell 1-3"/>
          <p:cNvSpPr txBox="1"/>
          <p:nvPr/>
        </p:nvSpPr>
        <p:spPr>
          <a:xfrm>
            <a:off x="9518904" y="2615184"/>
            <a:ext cx="896112" cy="384048"/>
          </a:xfrm>
          <a:prstGeom prst="rect">
            <a:avLst/>
          </a:prstGeom>
          <a:noFill/>
          <a:ln>
            <a:noFill/>
          </a:ln>
        </p:spPr>
        <p:txBody>
          <a:bodyPr wrap="square" lIns="73152" tIns="0" rIns="73152" bIns="0" anchor="ctr">
            <a:noAutofit/>
          </a:bodyPr>
          <a:lstStyle/>
          <a:p>
            <a:pPr algn="r"/>
            <a:r>
              <a:rPr lang="en-US" sz="1150" b="0" dirty="0">
                <a:solidFill>
                  <a:srgbClr val="1F2328"/>
                </a:solidFill>
                <a:latin typeface="Calibri"/>
                <a:cs typeface="Calibri"/>
              </a:rPr>
              <a:t xml:space="preserve">0.85</a:t>
            </a:r>
          </a:p>
        </p:txBody>
      </p:sp>
      <p:sp>
        <p:nvSpPr>
          <p:cNvPr id="1011" name="Cell 1-4"/>
          <p:cNvSpPr txBox="1"/>
          <p:nvPr/>
        </p:nvSpPr>
        <p:spPr>
          <a:xfrm>
            <a:off x="10415016" y="2615184"/>
            <a:ext cx="896112" cy="384048"/>
          </a:xfrm>
          <a:prstGeom prst="rect">
            <a:avLst/>
          </a:prstGeom>
          <a:noFill/>
          <a:ln>
            <a:noFill/>
          </a:ln>
        </p:spPr>
        <p:txBody>
          <a:bodyPr wrap="square" lIns="73152" tIns="0" rIns="73152" bIns="0" anchor="ctr">
            <a:noAutofit/>
          </a:bodyPr>
          <a:lstStyle/>
          <a:p>
            <a:pPr algn="r"/>
            <a:r>
              <a:rPr lang="en-US" sz="1150" b="1" dirty="0">
                <a:solidFill>
                  <a:srgbClr val="0B6E4F"/>
                </a:solidFill>
                <a:latin typeface="Calibri"/>
                <a:cs typeface="Calibri"/>
              </a:rPr>
              <a:t xml:space="preserve">4.00</a:t>
            </a:r>
          </a:p>
        </p:txBody>
      </p:sp>
      <p:sp>
        <p:nvSpPr>
          <p:cNvPr id="1012" name="Row tint"/>
          <p:cNvSpPr/>
          <p:nvPr/>
        </p:nvSpPr>
        <p:spPr>
          <a:xfrm>
            <a:off x="6172200" y="2999232"/>
            <a:ext cx="5138928" cy="384048"/>
          </a:xfrm>
          <a:prstGeom prst="rect">
            <a:avLst/>
          </a:prstGeom>
          <a:solidFill>
            <a:srgbClr val="F3F5F4"/>
          </a:solidFill>
          <a:ln>
            <a:noFill/>
          </a:ln>
        </p:spPr>
        <p:txBody>
          <a:bodyPr wrap="square" lIns="0" tIns="0" rIns="0" bIns="0" anchor="t">
            <a:noAutofit/>
          </a:bodyPr>
          <a:lstStyle/>
          <a:p>
            <a:pPr algn="l"/>
          </a:p>
        </p:txBody>
      </p:sp>
      <p:sp>
        <p:nvSpPr>
          <p:cNvPr id="1013" name="Cell 2-0"/>
          <p:cNvSpPr txBox="1"/>
          <p:nvPr/>
        </p:nvSpPr>
        <p:spPr>
          <a:xfrm>
            <a:off x="6172200" y="2999232"/>
            <a:ext cx="1554480" cy="384048"/>
          </a:xfrm>
          <a:prstGeom prst="rect">
            <a:avLst/>
          </a:prstGeom>
          <a:noFill/>
          <a:ln>
            <a:noFill/>
          </a:ln>
        </p:spPr>
        <p:txBody>
          <a:bodyPr wrap="square" lIns="73152" tIns="0" rIns="73152" bIns="0" anchor="ctr">
            <a:noAutofit/>
          </a:bodyPr>
          <a:lstStyle/>
          <a:p>
            <a:pPr algn="l"/>
            <a:r>
              <a:rPr lang="en-US" sz="1150" b="0" dirty="0">
                <a:solidFill>
                  <a:srgbClr val="1F2328"/>
                </a:solidFill>
                <a:latin typeface="Calibri"/>
                <a:cs typeface="Calibri"/>
              </a:rPr>
              <a:t xml:space="preserve">Completeness</a:t>
            </a:r>
          </a:p>
        </p:txBody>
      </p:sp>
      <p:sp>
        <p:nvSpPr>
          <p:cNvPr id="1014" name="Cell 2-1"/>
          <p:cNvSpPr txBox="1"/>
          <p:nvPr/>
        </p:nvSpPr>
        <p:spPr>
          <a:xfrm>
            <a:off x="7726679" y="2999232"/>
            <a:ext cx="896112" cy="384048"/>
          </a:xfrm>
          <a:prstGeom prst="rect">
            <a:avLst/>
          </a:prstGeom>
          <a:noFill/>
          <a:ln>
            <a:noFill/>
          </a:ln>
        </p:spPr>
        <p:txBody>
          <a:bodyPr wrap="square" lIns="73152" tIns="0" rIns="73152" bIns="0" anchor="ctr">
            <a:noAutofit/>
          </a:bodyPr>
          <a:lstStyle/>
          <a:p>
            <a:pPr algn="r"/>
            <a:r>
              <a:rPr lang="en-US" sz="1150" b="0" dirty="0">
                <a:solidFill>
                  <a:srgbClr val="1F2328"/>
                </a:solidFill>
                <a:latin typeface="Calibri"/>
                <a:cs typeface="Calibri"/>
              </a:rPr>
              <a:t xml:space="preserve">2.45</a:t>
            </a:r>
          </a:p>
        </p:txBody>
      </p:sp>
      <p:sp>
        <p:nvSpPr>
          <p:cNvPr id="1015" name="Cell 2-2"/>
          <p:cNvSpPr txBox="1"/>
          <p:nvPr/>
        </p:nvSpPr>
        <p:spPr>
          <a:xfrm>
            <a:off x="8622792" y="2999232"/>
            <a:ext cx="896112" cy="384048"/>
          </a:xfrm>
          <a:prstGeom prst="rect">
            <a:avLst/>
          </a:prstGeom>
          <a:noFill/>
          <a:ln>
            <a:noFill/>
          </a:ln>
        </p:spPr>
        <p:txBody>
          <a:bodyPr wrap="square" lIns="73152" tIns="0" rIns="73152" bIns="0" anchor="ctr">
            <a:noAutofit/>
          </a:bodyPr>
          <a:lstStyle/>
          <a:p>
            <a:pPr algn="r"/>
            <a:r>
              <a:rPr lang="en-US" sz="1150" b="0" dirty="0">
                <a:solidFill>
                  <a:srgbClr val="1F2328"/>
                </a:solidFill>
                <a:latin typeface="Calibri"/>
                <a:cs typeface="Calibri"/>
              </a:rPr>
              <a:t xml:space="preserve">3.10</a:t>
            </a:r>
          </a:p>
        </p:txBody>
      </p:sp>
      <p:sp>
        <p:nvSpPr>
          <p:cNvPr id="1016" name="Cell 2-3"/>
          <p:cNvSpPr txBox="1"/>
          <p:nvPr/>
        </p:nvSpPr>
        <p:spPr>
          <a:xfrm>
            <a:off x="9518904" y="2999232"/>
            <a:ext cx="896112" cy="384048"/>
          </a:xfrm>
          <a:prstGeom prst="rect">
            <a:avLst/>
          </a:prstGeom>
          <a:noFill/>
          <a:ln>
            <a:noFill/>
          </a:ln>
        </p:spPr>
        <p:txBody>
          <a:bodyPr wrap="square" lIns="73152" tIns="0" rIns="73152" bIns="0" anchor="ctr">
            <a:noAutofit/>
          </a:bodyPr>
          <a:lstStyle/>
          <a:p>
            <a:pPr algn="r"/>
            <a:r>
              <a:rPr lang="en-US" sz="1150" b="0" dirty="0">
                <a:solidFill>
                  <a:srgbClr val="1F2328"/>
                </a:solidFill>
                <a:latin typeface="Calibri"/>
                <a:cs typeface="Calibri"/>
              </a:rPr>
              <a:t xml:space="preserve">0.80</a:t>
            </a:r>
          </a:p>
        </p:txBody>
      </p:sp>
      <p:sp>
        <p:nvSpPr>
          <p:cNvPr id="1017" name="Cell 2-4"/>
          <p:cNvSpPr txBox="1"/>
          <p:nvPr/>
        </p:nvSpPr>
        <p:spPr>
          <a:xfrm>
            <a:off x="10415016" y="2999232"/>
            <a:ext cx="896112" cy="384048"/>
          </a:xfrm>
          <a:prstGeom prst="rect">
            <a:avLst/>
          </a:prstGeom>
          <a:noFill/>
          <a:ln>
            <a:noFill/>
          </a:ln>
        </p:spPr>
        <p:txBody>
          <a:bodyPr wrap="square" lIns="73152" tIns="0" rIns="73152" bIns="0" anchor="ctr">
            <a:noAutofit/>
          </a:bodyPr>
          <a:lstStyle/>
          <a:p>
            <a:pPr algn="r"/>
            <a:r>
              <a:rPr lang="en-US" sz="1150" b="1" dirty="0">
                <a:solidFill>
                  <a:srgbClr val="0B6E4F"/>
                </a:solidFill>
                <a:latin typeface="Calibri"/>
                <a:cs typeface="Calibri"/>
              </a:rPr>
              <a:t xml:space="preserve">4.10</a:t>
            </a:r>
          </a:p>
        </p:txBody>
      </p:sp>
      <p:sp>
        <p:nvSpPr>
          <p:cNvPr id="1018" name="Cell 3-0"/>
          <p:cNvSpPr txBox="1"/>
          <p:nvPr/>
        </p:nvSpPr>
        <p:spPr>
          <a:xfrm>
            <a:off x="6172200" y="3383279"/>
            <a:ext cx="1554480" cy="384048"/>
          </a:xfrm>
          <a:prstGeom prst="rect">
            <a:avLst/>
          </a:prstGeom>
          <a:noFill/>
          <a:ln>
            <a:noFill/>
          </a:ln>
        </p:spPr>
        <p:txBody>
          <a:bodyPr wrap="square" lIns="73152" tIns="0" rIns="73152" bIns="0" anchor="ctr">
            <a:noAutofit/>
          </a:bodyPr>
          <a:lstStyle/>
          <a:p>
            <a:pPr algn="l"/>
            <a:r>
              <a:rPr lang="en-US" sz="1150" b="0" dirty="0">
                <a:solidFill>
                  <a:srgbClr val="1F2328"/>
                </a:solidFill>
                <a:latin typeface="Calibri"/>
                <a:cs typeface="Calibri"/>
              </a:rPr>
              <a:t xml:space="preserve">Conciseness</a:t>
            </a:r>
          </a:p>
        </p:txBody>
      </p:sp>
      <p:sp>
        <p:nvSpPr>
          <p:cNvPr id="1019" name="Cell 3-1"/>
          <p:cNvSpPr txBox="1"/>
          <p:nvPr/>
        </p:nvSpPr>
        <p:spPr>
          <a:xfrm>
            <a:off x="7726679" y="3383279"/>
            <a:ext cx="896112" cy="384048"/>
          </a:xfrm>
          <a:prstGeom prst="rect">
            <a:avLst/>
          </a:prstGeom>
          <a:noFill/>
          <a:ln>
            <a:noFill/>
          </a:ln>
        </p:spPr>
        <p:txBody>
          <a:bodyPr wrap="square" lIns="73152" tIns="0" rIns="73152" bIns="0" anchor="ctr">
            <a:noAutofit/>
          </a:bodyPr>
          <a:lstStyle/>
          <a:p>
            <a:pPr algn="r"/>
            <a:r>
              <a:rPr lang="en-US" sz="1150" b="0" dirty="0">
                <a:solidFill>
                  <a:srgbClr val="1F2328"/>
                </a:solidFill>
                <a:latin typeface="Calibri"/>
                <a:cs typeface="Calibri"/>
              </a:rPr>
              <a:t xml:space="preserve">3.65</a:t>
            </a:r>
          </a:p>
        </p:txBody>
      </p:sp>
      <p:sp>
        <p:nvSpPr>
          <p:cNvPr id="1020" name="Cell 3-2"/>
          <p:cNvSpPr txBox="1"/>
          <p:nvPr/>
        </p:nvSpPr>
        <p:spPr>
          <a:xfrm>
            <a:off x="8622792" y="3383279"/>
            <a:ext cx="896112" cy="384048"/>
          </a:xfrm>
          <a:prstGeom prst="rect">
            <a:avLst/>
          </a:prstGeom>
          <a:noFill/>
          <a:ln>
            <a:noFill/>
          </a:ln>
        </p:spPr>
        <p:txBody>
          <a:bodyPr wrap="square" lIns="73152" tIns="0" rIns="73152" bIns="0" anchor="ctr">
            <a:noAutofit/>
          </a:bodyPr>
          <a:lstStyle/>
          <a:p>
            <a:pPr algn="r"/>
            <a:r>
              <a:rPr lang="en-US" sz="1150" b="1" dirty="0">
                <a:solidFill>
                  <a:srgbClr val="0B6E4F"/>
                </a:solidFill>
                <a:latin typeface="Calibri"/>
                <a:cs typeface="Calibri"/>
              </a:rPr>
              <a:t xml:space="preserve">3.80</a:t>
            </a:r>
          </a:p>
        </p:txBody>
      </p:sp>
      <p:sp>
        <p:nvSpPr>
          <p:cNvPr id="1021" name="Cell 3-3"/>
          <p:cNvSpPr txBox="1"/>
          <p:nvPr/>
        </p:nvSpPr>
        <p:spPr>
          <a:xfrm>
            <a:off x="9518904" y="3383279"/>
            <a:ext cx="896112" cy="384048"/>
          </a:xfrm>
          <a:prstGeom prst="rect">
            <a:avLst/>
          </a:prstGeom>
          <a:noFill/>
          <a:ln>
            <a:noFill/>
          </a:ln>
        </p:spPr>
        <p:txBody>
          <a:bodyPr wrap="square" lIns="73152" tIns="0" rIns="73152" bIns="0" anchor="ctr">
            <a:noAutofit/>
          </a:bodyPr>
          <a:lstStyle/>
          <a:p>
            <a:pPr algn="r"/>
            <a:r>
              <a:rPr lang="en-US" sz="1150" b="0" dirty="0">
                <a:solidFill>
                  <a:srgbClr val="1F2328"/>
                </a:solidFill>
                <a:latin typeface="Calibri"/>
                <a:cs typeface="Calibri"/>
              </a:rPr>
              <a:t xml:space="preserve">2.05</a:t>
            </a:r>
          </a:p>
        </p:txBody>
      </p:sp>
      <p:sp>
        <p:nvSpPr>
          <p:cNvPr id="1022" name="Cell 3-4"/>
          <p:cNvSpPr txBox="1"/>
          <p:nvPr/>
        </p:nvSpPr>
        <p:spPr>
          <a:xfrm>
            <a:off x="10415016" y="3383279"/>
            <a:ext cx="896112" cy="384048"/>
          </a:xfrm>
          <a:prstGeom prst="rect">
            <a:avLst/>
          </a:prstGeom>
          <a:noFill/>
          <a:ln>
            <a:noFill/>
          </a:ln>
        </p:spPr>
        <p:txBody>
          <a:bodyPr wrap="square" lIns="73152" tIns="0" rIns="73152" bIns="0" anchor="ctr">
            <a:noAutofit/>
          </a:bodyPr>
          <a:lstStyle/>
          <a:p>
            <a:pPr algn="r"/>
            <a:r>
              <a:rPr lang="en-US" sz="1150" b="1" dirty="0">
                <a:solidFill>
                  <a:srgbClr val="0B6E4F"/>
                </a:solidFill>
                <a:latin typeface="Calibri"/>
                <a:cs typeface="Calibri"/>
              </a:rPr>
              <a:t xml:space="preserve">3.80</a:t>
            </a:r>
          </a:p>
        </p:txBody>
      </p:sp>
      <p:sp>
        <p:nvSpPr>
          <p:cNvPr id="1023" name="Row tint"/>
          <p:cNvSpPr/>
          <p:nvPr/>
        </p:nvSpPr>
        <p:spPr>
          <a:xfrm>
            <a:off x="6172200" y="3767327"/>
            <a:ext cx="5138928" cy="384048"/>
          </a:xfrm>
          <a:prstGeom prst="rect">
            <a:avLst/>
          </a:prstGeom>
          <a:solidFill>
            <a:srgbClr val="F3F5F4"/>
          </a:solidFill>
          <a:ln>
            <a:noFill/>
          </a:ln>
        </p:spPr>
        <p:txBody>
          <a:bodyPr wrap="square" lIns="0" tIns="0" rIns="0" bIns="0" anchor="t">
            <a:noAutofit/>
          </a:bodyPr>
          <a:lstStyle/>
          <a:p>
            <a:pPr algn="l"/>
          </a:p>
        </p:txBody>
      </p:sp>
      <p:sp>
        <p:nvSpPr>
          <p:cNvPr id="1024" name="Cell 4-0"/>
          <p:cNvSpPr txBox="1"/>
          <p:nvPr/>
        </p:nvSpPr>
        <p:spPr>
          <a:xfrm>
            <a:off x="6172200" y="3767327"/>
            <a:ext cx="1554480" cy="384048"/>
          </a:xfrm>
          <a:prstGeom prst="rect">
            <a:avLst/>
          </a:prstGeom>
          <a:noFill/>
          <a:ln>
            <a:noFill/>
          </a:ln>
        </p:spPr>
        <p:txBody>
          <a:bodyPr wrap="square" lIns="73152" tIns="0" rIns="73152" bIns="0" anchor="ctr">
            <a:noAutofit/>
          </a:bodyPr>
          <a:lstStyle/>
          <a:p>
            <a:pPr algn="l"/>
            <a:r>
              <a:rPr lang="en-US" sz="1150" b="0" dirty="0">
                <a:solidFill>
                  <a:srgbClr val="1F2328"/>
                </a:solidFill>
                <a:latin typeface="Calibri"/>
                <a:cs typeface="Calibri"/>
              </a:rPr>
              <a:t xml:space="preserve">Adaptability</a:t>
            </a:r>
          </a:p>
        </p:txBody>
      </p:sp>
      <p:sp>
        <p:nvSpPr>
          <p:cNvPr id="1025" name="Cell 4-1"/>
          <p:cNvSpPr txBox="1"/>
          <p:nvPr/>
        </p:nvSpPr>
        <p:spPr>
          <a:xfrm>
            <a:off x="7726679" y="3767327"/>
            <a:ext cx="896112" cy="384048"/>
          </a:xfrm>
          <a:prstGeom prst="rect">
            <a:avLst/>
          </a:prstGeom>
          <a:noFill/>
          <a:ln>
            <a:noFill/>
          </a:ln>
        </p:spPr>
        <p:txBody>
          <a:bodyPr wrap="square" lIns="73152" tIns="0" rIns="73152" bIns="0" anchor="ctr">
            <a:noAutofit/>
          </a:bodyPr>
          <a:lstStyle/>
          <a:p>
            <a:pPr algn="r"/>
            <a:r>
              <a:rPr lang="en-US" sz="1150" b="0" dirty="0">
                <a:solidFill>
                  <a:srgbClr val="1F2328"/>
                </a:solidFill>
                <a:latin typeface="Calibri"/>
                <a:cs typeface="Calibri"/>
              </a:rPr>
              <a:t xml:space="preserve">1.90</a:t>
            </a:r>
          </a:p>
        </p:txBody>
      </p:sp>
      <p:sp>
        <p:nvSpPr>
          <p:cNvPr id="1026" name="Cell 4-2"/>
          <p:cNvSpPr txBox="1"/>
          <p:nvPr/>
        </p:nvSpPr>
        <p:spPr>
          <a:xfrm>
            <a:off x="8622792" y="3767327"/>
            <a:ext cx="896112" cy="384048"/>
          </a:xfrm>
          <a:prstGeom prst="rect">
            <a:avLst/>
          </a:prstGeom>
          <a:noFill/>
          <a:ln>
            <a:noFill/>
          </a:ln>
        </p:spPr>
        <p:txBody>
          <a:bodyPr wrap="square" lIns="73152" tIns="0" rIns="73152" bIns="0" anchor="ctr">
            <a:noAutofit/>
          </a:bodyPr>
          <a:lstStyle/>
          <a:p>
            <a:pPr algn="r"/>
            <a:r>
              <a:rPr lang="en-US" sz="1150" b="0" dirty="0">
                <a:solidFill>
                  <a:srgbClr val="1F2328"/>
                </a:solidFill>
                <a:latin typeface="Calibri"/>
                <a:cs typeface="Calibri"/>
              </a:rPr>
              <a:t xml:space="preserve">2.10</a:t>
            </a:r>
          </a:p>
        </p:txBody>
      </p:sp>
      <p:sp>
        <p:nvSpPr>
          <p:cNvPr id="1027" name="Cell 4-3"/>
          <p:cNvSpPr txBox="1"/>
          <p:nvPr/>
        </p:nvSpPr>
        <p:spPr>
          <a:xfrm>
            <a:off x="9518904" y="3767327"/>
            <a:ext cx="896112" cy="384048"/>
          </a:xfrm>
          <a:prstGeom prst="rect">
            <a:avLst/>
          </a:prstGeom>
          <a:noFill/>
          <a:ln>
            <a:noFill/>
          </a:ln>
        </p:spPr>
        <p:txBody>
          <a:bodyPr wrap="square" lIns="73152" tIns="0" rIns="73152" bIns="0" anchor="ctr">
            <a:noAutofit/>
          </a:bodyPr>
          <a:lstStyle/>
          <a:p>
            <a:pPr algn="r"/>
            <a:r>
              <a:rPr lang="en-US" sz="1150" b="0" dirty="0">
                <a:solidFill>
                  <a:srgbClr val="1F2328"/>
                </a:solidFill>
                <a:latin typeface="Calibri"/>
                <a:cs typeface="Calibri"/>
              </a:rPr>
              <a:t xml:space="preserve">1.00</a:t>
            </a:r>
          </a:p>
        </p:txBody>
      </p:sp>
      <p:sp>
        <p:nvSpPr>
          <p:cNvPr id="1028" name="Cell 4-4"/>
          <p:cNvSpPr txBox="1"/>
          <p:nvPr/>
        </p:nvSpPr>
        <p:spPr>
          <a:xfrm>
            <a:off x="10415016" y="3767327"/>
            <a:ext cx="896112" cy="384048"/>
          </a:xfrm>
          <a:prstGeom prst="rect">
            <a:avLst/>
          </a:prstGeom>
          <a:noFill/>
          <a:ln>
            <a:noFill/>
          </a:ln>
        </p:spPr>
        <p:txBody>
          <a:bodyPr wrap="square" lIns="73152" tIns="0" rIns="73152" bIns="0" anchor="ctr">
            <a:noAutofit/>
          </a:bodyPr>
          <a:lstStyle/>
          <a:p>
            <a:pPr algn="r"/>
            <a:r>
              <a:rPr lang="en-US" sz="1150" b="1" dirty="0">
                <a:solidFill>
                  <a:srgbClr val="0B6E4F"/>
                </a:solidFill>
                <a:latin typeface="Calibri"/>
                <a:cs typeface="Calibri"/>
              </a:rPr>
              <a:t xml:space="preserve">2.20</a:t>
            </a:r>
          </a:p>
        </p:txBody>
      </p:sp>
      <p:sp>
        <p:nvSpPr>
          <p:cNvPr id="1029" name="Cell 5-0"/>
          <p:cNvSpPr txBox="1"/>
          <p:nvPr/>
        </p:nvSpPr>
        <p:spPr>
          <a:xfrm>
            <a:off x="6172200" y="4151375"/>
            <a:ext cx="1554480" cy="384048"/>
          </a:xfrm>
          <a:prstGeom prst="rect">
            <a:avLst/>
          </a:prstGeom>
          <a:noFill/>
          <a:ln>
            <a:noFill/>
          </a:ln>
        </p:spPr>
        <p:txBody>
          <a:bodyPr wrap="square" lIns="73152" tIns="0" rIns="73152" bIns="0" anchor="ctr">
            <a:noAutofit/>
          </a:bodyPr>
          <a:lstStyle/>
          <a:p>
            <a:pPr algn="l"/>
            <a:r>
              <a:rPr lang="en-US" sz="1150" b="0" dirty="0">
                <a:solidFill>
                  <a:srgbClr val="1F2328"/>
                </a:solidFill>
                <a:latin typeface="Calibri"/>
                <a:cs typeface="Calibri"/>
              </a:rPr>
              <a:t xml:space="preserve">Clarity</a:t>
            </a:r>
          </a:p>
        </p:txBody>
      </p:sp>
      <p:sp>
        <p:nvSpPr>
          <p:cNvPr id="1030" name="Cell 5-1"/>
          <p:cNvSpPr txBox="1"/>
          <p:nvPr/>
        </p:nvSpPr>
        <p:spPr>
          <a:xfrm>
            <a:off x="7726679" y="4151375"/>
            <a:ext cx="896112" cy="384048"/>
          </a:xfrm>
          <a:prstGeom prst="rect">
            <a:avLst/>
          </a:prstGeom>
          <a:noFill/>
          <a:ln>
            <a:noFill/>
          </a:ln>
        </p:spPr>
        <p:txBody>
          <a:bodyPr wrap="square" lIns="73152" tIns="0" rIns="73152" bIns="0" anchor="ctr">
            <a:noAutofit/>
          </a:bodyPr>
          <a:lstStyle/>
          <a:p>
            <a:pPr algn="r"/>
            <a:r>
              <a:rPr lang="en-US" sz="1150" b="0" dirty="0">
                <a:solidFill>
                  <a:srgbClr val="1F2328"/>
                </a:solidFill>
                <a:latin typeface="Calibri"/>
                <a:cs typeface="Calibri"/>
              </a:rPr>
              <a:t xml:space="preserve">2.55</a:t>
            </a:r>
          </a:p>
        </p:txBody>
      </p:sp>
      <p:sp>
        <p:nvSpPr>
          <p:cNvPr id="1031" name="Cell 5-2"/>
          <p:cNvSpPr txBox="1"/>
          <p:nvPr/>
        </p:nvSpPr>
        <p:spPr>
          <a:xfrm>
            <a:off x="8622792" y="4151375"/>
            <a:ext cx="896112" cy="384048"/>
          </a:xfrm>
          <a:prstGeom prst="rect">
            <a:avLst/>
          </a:prstGeom>
          <a:noFill/>
          <a:ln>
            <a:noFill/>
          </a:ln>
        </p:spPr>
        <p:txBody>
          <a:bodyPr wrap="square" lIns="73152" tIns="0" rIns="73152" bIns="0" anchor="ctr">
            <a:noAutofit/>
          </a:bodyPr>
          <a:lstStyle/>
          <a:p>
            <a:pPr algn="r"/>
            <a:r>
              <a:rPr lang="en-US" sz="1150" b="0" dirty="0">
                <a:solidFill>
                  <a:srgbClr val="1F2328"/>
                </a:solidFill>
                <a:latin typeface="Calibri"/>
                <a:cs typeface="Calibri"/>
              </a:rPr>
              <a:t xml:space="preserve">2.75</a:t>
            </a:r>
          </a:p>
        </p:txBody>
      </p:sp>
      <p:sp>
        <p:nvSpPr>
          <p:cNvPr id="1032" name="Cell 5-3"/>
          <p:cNvSpPr txBox="1"/>
          <p:nvPr/>
        </p:nvSpPr>
        <p:spPr>
          <a:xfrm>
            <a:off x="9518904" y="4151375"/>
            <a:ext cx="896112" cy="384048"/>
          </a:xfrm>
          <a:prstGeom prst="rect">
            <a:avLst/>
          </a:prstGeom>
          <a:noFill/>
          <a:ln>
            <a:noFill/>
          </a:ln>
        </p:spPr>
        <p:txBody>
          <a:bodyPr wrap="square" lIns="73152" tIns="0" rIns="73152" bIns="0" anchor="ctr">
            <a:noAutofit/>
          </a:bodyPr>
          <a:lstStyle/>
          <a:p>
            <a:pPr algn="r"/>
            <a:r>
              <a:rPr lang="en-US" sz="1150" b="0" dirty="0">
                <a:solidFill>
                  <a:srgbClr val="1F2328"/>
                </a:solidFill>
                <a:latin typeface="Calibri"/>
                <a:cs typeface="Calibri"/>
              </a:rPr>
              <a:t xml:space="preserve">1.50</a:t>
            </a:r>
          </a:p>
        </p:txBody>
      </p:sp>
      <p:sp>
        <p:nvSpPr>
          <p:cNvPr id="1033" name="Cell 5-4"/>
          <p:cNvSpPr txBox="1"/>
          <p:nvPr/>
        </p:nvSpPr>
        <p:spPr>
          <a:xfrm>
            <a:off x="10415016" y="4151375"/>
            <a:ext cx="896112" cy="384048"/>
          </a:xfrm>
          <a:prstGeom prst="rect">
            <a:avLst/>
          </a:prstGeom>
          <a:noFill/>
          <a:ln>
            <a:noFill/>
          </a:ln>
        </p:spPr>
        <p:txBody>
          <a:bodyPr wrap="square" lIns="73152" tIns="0" rIns="73152" bIns="0" anchor="ctr">
            <a:noAutofit/>
          </a:bodyPr>
          <a:lstStyle/>
          <a:p>
            <a:pPr algn="r"/>
            <a:r>
              <a:rPr lang="en-US" sz="1150" b="1" dirty="0">
                <a:solidFill>
                  <a:srgbClr val="0B6E4F"/>
                </a:solidFill>
                <a:latin typeface="Calibri"/>
                <a:cs typeface="Calibri"/>
              </a:rPr>
              <a:t xml:space="preserve">4.10</a:t>
            </a:r>
          </a:p>
        </p:txBody>
      </p:sp>
      <p:sp>
        <p:nvSpPr>
          <p:cNvPr id="1034" name="Row tint"/>
          <p:cNvSpPr/>
          <p:nvPr/>
        </p:nvSpPr>
        <p:spPr>
          <a:xfrm>
            <a:off x="6172200" y="4535423"/>
            <a:ext cx="5138928" cy="384048"/>
          </a:xfrm>
          <a:prstGeom prst="rect">
            <a:avLst/>
          </a:prstGeom>
          <a:solidFill>
            <a:srgbClr val="F3F5F4"/>
          </a:solidFill>
          <a:ln>
            <a:noFill/>
          </a:ln>
        </p:spPr>
        <p:txBody>
          <a:bodyPr wrap="square" lIns="0" tIns="0" rIns="0" bIns="0" anchor="t">
            <a:noAutofit/>
          </a:bodyPr>
          <a:lstStyle/>
          <a:p>
            <a:pPr algn="l"/>
          </a:p>
        </p:txBody>
      </p:sp>
      <p:sp>
        <p:nvSpPr>
          <p:cNvPr id="1035" name="Cell 6-0"/>
          <p:cNvSpPr txBox="1"/>
          <p:nvPr/>
        </p:nvSpPr>
        <p:spPr>
          <a:xfrm>
            <a:off x="6172200" y="4535423"/>
            <a:ext cx="1554480" cy="384048"/>
          </a:xfrm>
          <a:prstGeom prst="rect">
            <a:avLst/>
          </a:prstGeom>
          <a:noFill/>
          <a:ln>
            <a:noFill/>
          </a:ln>
        </p:spPr>
        <p:txBody>
          <a:bodyPr wrap="square" lIns="73152" tIns="0" rIns="73152" bIns="0" anchor="ctr">
            <a:noAutofit/>
          </a:bodyPr>
          <a:lstStyle/>
          <a:p>
            <a:pPr algn="l"/>
            <a:r>
              <a:rPr lang="en-US" sz="1150" b="0" dirty="0">
                <a:solidFill>
                  <a:srgbClr val="1F2328"/>
                </a:solidFill>
                <a:latin typeface="Calibri"/>
                <a:cs typeface="Calibri"/>
              </a:rPr>
              <a:t xml:space="preserve">Consistency</a:t>
            </a:r>
          </a:p>
        </p:txBody>
      </p:sp>
      <p:sp>
        <p:nvSpPr>
          <p:cNvPr id="1036" name="Cell 6-1"/>
          <p:cNvSpPr txBox="1"/>
          <p:nvPr/>
        </p:nvSpPr>
        <p:spPr>
          <a:xfrm>
            <a:off x="7726679" y="4535423"/>
            <a:ext cx="896112" cy="384048"/>
          </a:xfrm>
          <a:prstGeom prst="rect">
            <a:avLst/>
          </a:prstGeom>
          <a:noFill/>
          <a:ln>
            <a:noFill/>
          </a:ln>
        </p:spPr>
        <p:txBody>
          <a:bodyPr wrap="square" lIns="73152" tIns="0" rIns="73152" bIns="0" anchor="ctr">
            <a:noAutofit/>
          </a:bodyPr>
          <a:lstStyle/>
          <a:p>
            <a:pPr algn="r"/>
            <a:r>
              <a:rPr lang="en-US" sz="1150" b="0" dirty="0">
                <a:solidFill>
                  <a:srgbClr val="1F2328"/>
                </a:solidFill>
                <a:latin typeface="Calibri"/>
                <a:cs typeface="Calibri"/>
              </a:rPr>
              <a:t xml:space="preserve">2.60</a:t>
            </a:r>
          </a:p>
        </p:txBody>
      </p:sp>
      <p:sp>
        <p:nvSpPr>
          <p:cNvPr id="1037" name="Cell 6-2"/>
          <p:cNvSpPr txBox="1"/>
          <p:nvPr/>
        </p:nvSpPr>
        <p:spPr>
          <a:xfrm>
            <a:off x="8622792" y="4535423"/>
            <a:ext cx="896112" cy="384048"/>
          </a:xfrm>
          <a:prstGeom prst="rect">
            <a:avLst/>
          </a:prstGeom>
          <a:noFill/>
          <a:ln>
            <a:noFill/>
          </a:ln>
        </p:spPr>
        <p:txBody>
          <a:bodyPr wrap="square" lIns="73152" tIns="0" rIns="73152" bIns="0" anchor="ctr">
            <a:noAutofit/>
          </a:bodyPr>
          <a:lstStyle/>
          <a:p>
            <a:pPr algn="r"/>
            <a:r>
              <a:rPr lang="en-US" sz="1150" b="1" dirty="0">
                <a:solidFill>
                  <a:srgbClr val="0B6E4F"/>
                </a:solidFill>
                <a:latin typeface="Calibri"/>
                <a:cs typeface="Calibri"/>
              </a:rPr>
              <a:t xml:space="preserve">3.40</a:t>
            </a:r>
          </a:p>
        </p:txBody>
      </p:sp>
      <p:sp>
        <p:nvSpPr>
          <p:cNvPr id="1038" name="Cell 6-3"/>
          <p:cNvSpPr txBox="1"/>
          <p:nvPr/>
        </p:nvSpPr>
        <p:spPr>
          <a:xfrm>
            <a:off x="9518904" y="4535423"/>
            <a:ext cx="896112" cy="384048"/>
          </a:xfrm>
          <a:prstGeom prst="rect">
            <a:avLst/>
          </a:prstGeom>
          <a:noFill/>
          <a:ln>
            <a:noFill/>
          </a:ln>
        </p:spPr>
        <p:txBody>
          <a:bodyPr wrap="square" lIns="73152" tIns="0" rIns="73152" bIns="0" anchor="ctr">
            <a:noAutofit/>
          </a:bodyPr>
          <a:lstStyle/>
          <a:p>
            <a:pPr algn="r"/>
            <a:r>
              <a:rPr lang="en-US" sz="1150" b="0" dirty="0">
                <a:solidFill>
                  <a:srgbClr val="1F2328"/>
                </a:solidFill>
                <a:latin typeface="Calibri"/>
                <a:cs typeface="Calibri"/>
              </a:rPr>
              <a:t xml:space="preserve">1.30</a:t>
            </a:r>
          </a:p>
        </p:txBody>
      </p:sp>
      <p:sp>
        <p:nvSpPr>
          <p:cNvPr id="1039" name="Cell 6-4"/>
          <p:cNvSpPr txBox="1"/>
          <p:nvPr/>
        </p:nvSpPr>
        <p:spPr>
          <a:xfrm>
            <a:off x="10415016" y="4535423"/>
            <a:ext cx="896112" cy="384048"/>
          </a:xfrm>
          <a:prstGeom prst="rect">
            <a:avLst/>
          </a:prstGeom>
          <a:noFill/>
          <a:ln>
            <a:noFill/>
          </a:ln>
        </p:spPr>
        <p:txBody>
          <a:bodyPr wrap="square" lIns="73152" tIns="0" rIns="73152" bIns="0" anchor="ctr">
            <a:noAutofit/>
          </a:bodyPr>
          <a:lstStyle/>
          <a:p>
            <a:pPr algn="r"/>
            <a:r>
              <a:rPr lang="en-US" sz="1150" b="0" dirty="0">
                <a:solidFill>
                  <a:srgbClr val="1F2328"/>
                </a:solidFill>
                <a:latin typeface="Calibri"/>
                <a:cs typeface="Calibri"/>
              </a:rPr>
              <a:t xml:space="preserve">3.15</a:t>
            </a:r>
          </a:p>
        </p:txBody>
      </p:sp>
      <p:sp>
        <p:nvSpPr>
          <p:cNvPr id="1040" name="Cell 7-0"/>
          <p:cNvSpPr txBox="1"/>
          <p:nvPr/>
        </p:nvSpPr>
        <p:spPr>
          <a:xfrm>
            <a:off x="6172200" y="4919471"/>
            <a:ext cx="1554480" cy="384048"/>
          </a:xfrm>
          <a:prstGeom prst="rect">
            <a:avLst/>
          </a:prstGeom>
          <a:noFill/>
          <a:ln>
            <a:noFill/>
          </a:ln>
        </p:spPr>
        <p:txBody>
          <a:bodyPr wrap="square" lIns="73152" tIns="0" rIns="73152" bIns="0" anchor="ctr">
            <a:noAutofit/>
          </a:bodyPr>
          <a:lstStyle/>
          <a:p>
            <a:pPr algn="l"/>
            <a:r>
              <a:rPr lang="en-US" sz="1150" b="0" dirty="0">
                <a:solidFill>
                  <a:srgbClr val="1F2328"/>
                </a:solidFill>
                <a:latin typeface="Calibri"/>
                <a:cs typeface="Calibri"/>
              </a:rPr>
              <a:t xml:space="preserve">Domain enrichment</a:t>
            </a:r>
          </a:p>
        </p:txBody>
      </p:sp>
      <p:sp>
        <p:nvSpPr>
          <p:cNvPr id="1041" name="Cell 7-1"/>
          <p:cNvSpPr txBox="1"/>
          <p:nvPr/>
        </p:nvSpPr>
        <p:spPr>
          <a:xfrm>
            <a:off x="7726679" y="4919471"/>
            <a:ext cx="896112" cy="384048"/>
          </a:xfrm>
          <a:prstGeom prst="rect">
            <a:avLst/>
          </a:prstGeom>
          <a:noFill/>
          <a:ln>
            <a:noFill/>
          </a:ln>
        </p:spPr>
        <p:txBody>
          <a:bodyPr wrap="square" lIns="73152" tIns="0" rIns="73152" bIns="0" anchor="ctr">
            <a:noAutofit/>
          </a:bodyPr>
          <a:lstStyle/>
          <a:p>
            <a:pPr algn="r"/>
            <a:r>
              <a:rPr lang="en-US" sz="1150" b="0" dirty="0">
                <a:solidFill>
                  <a:srgbClr val="1F2328"/>
                </a:solidFill>
                <a:latin typeface="Calibri"/>
                <a:cs typeface="Calibri"/>
              </a:rPr>
              <a:t xml:space="preserve">1.90</a:t>
            </a:r>
          </a:p>
        </p:txBody>
      </p:sp>
      <p:sp>
        <p:nvSpPr>
          <p:cNvPr id="1042" name="Cell 7-2"/>
          <p:cNvSpPr txBox="1"/>
          <p:nvPr/>
        </p:nvSpPr>
        <p:spPr>
          <a:xfrm>
            <a:off x="8622792" y="4919471"/>
            <a:ext cx="896112" cy="384048"/>
          </a:xfrm>
          <a:prstGeom prst="rect">
            <a:avLst/>
          </a:prstGeom>
          <a:noFill/>
          <a:ln>
            <a:noFill/>
          </a:ln>
        </p:spPr>
        <p:txBody>
          <a:bodyPr wrap="square" lIns="73152" tIns="0" rIns="73152" bIns="0" anchor="ctr">
            <a:noAutofit/>
          </a:bodyPr>
          <a:lstStyle/>
          <a:p>
            <a:pPr algn="r"/>
            <a:r>
              <a:rPr lang="en-US" sz="1150" b="0" dirty="0">
                <a:solidFill>
                  <a:srgbClr val="1F2328"/>
                </a:solidFill>
                <a:latin typeface="Calibri"/>
                <a:cs typeface="Calibri"/>
              </a:rPr>
              <a:t xml:space="preserve">2.00</a:t>
            </a:r>
          </a:p>
        </p:txBody>
      </p:sp>
      <p:sp>
        <p:nvSpPr>
          <p:cNvPr id="1043" name="Cell 7-3"/>
          <p:cNvSpPr txBox="1"/>
          <p:nvPr/>
        </p:nvSpPr>
        <p:spPr>
          <a:xfrm>
            <a:off x="9518904" y="4919471"/>
            <a:ext cx="896112" cy="384048"/>
          </a:xfrm>
          <a:prstGeom prst="rect">
            <a:avLst/>
          </a:prstGeom>
          <a:noFill/>
          <a:ln>
            <a:noFill/>
          </a:ln>
        </p:spPr>
        <p:txBody>
          <a:bodyPr wrap="square" lIns="73152" tIns="0" rIns="73152" bIns="0" anchor="ctr">
            <a:noAutofit/>
          </a:bodyPr>
          <a:lstStyle/>
          <a:p>
            <a:pPr algn="r"/>
            <a:r>
              <a:rPr lang="en-US" sz="1150" b="0" dirty="0">
                <a:solidFill>
                  <a:srgbClr val="1F2328"/>
                </a:solidFill>
                <a:latin typeface="Calibri"/>
                <a:cs typeface="Calibri"/>
              </a:rPr>
              <a:t xml:space="preserve">1.15</a:t>
            </a:r>
          </a:p>
        </p:txBody>
      </p:sp>
      <p:sp>
        <p:nvSpPr>
          <p:cNvPr id="1044" name="Cell 7-4"/>
          <p:cNvSpPr txBox="1"/>
          <p:nvPr/>
        </p:nvSpPr>
        <p:spPr>
          <a:xfrm>
            <a:off x="10415016" y="4919471"/>
            <a:ext cx="896112" cy="384048"/>
          </a:xfrm>
          <a:prstGeom prst="rect">
            <a:avLst/>
          </a:prstGeom>
          <a:noFill/>
          <a:ln>
            <a:noFill/>
          </a:ln>
        </p:spPr>
        <p:txBody>
          <a:bodyPr wrap="square" lIns="73152" tIns="0" rIns="73152" bIns="0" anchor="ctr">
            <a:noAutofit/>
          </a:bodyPr>
          <a:lstStyle/>
          <a:p>
            <a:pPr algn="r"/>
            <a:r>
              <a:rPr lang="en-US" sz="1150" b="1" dirty="0">
                <a:solidFill>
                  <a:srgbClr val="0B6E4F"/>
                </a:solidFill>
                <a:latin typeface="Calibri"/>
                <a:cs typeface="Calibri"/>
              </a:rPr>
              <a:t xml:space="preserve">3.35</a:t>
            </a:r>
          </a:p>
        </p:txBody>
      </p:sp>
      <p:sp>
        <p:nvSpPr>
          <p:cNvPr id="1045" name="Row tint"/>
          <p:cNvSpPr/>
          <p:nvPr/>
        </p:nvSpPr>
        <p:spPr>
          <a:xfrm>
            <a:off x="6172200" y="5303519"/>
            <a:ext cx="5138928" cy="384048"/>
          </a:xfrm>
          <a:prstGeom prst="rect">
            <a:avLst/>
          </a:prstGeom>
          <a:solidFill>
            <a:srgbClr val="F3F5F4"/>
          </a:solidFill>
          <a:ln>
            <a:noFill/>
          </a:ln>
        </p:spPr>
        <p:txBody>
          <a:bodyPr wrap="square" lIns="0" tIns="0" rIns="0" bIns="0" anchor="t">
            <a:noAutofit/>
          </a:bodyPr>
          <a:lstStyle/>
          <a:p>
            <a:pPr algn="l"/>
          </a:p>
        </p:txBody>
      </p:sp>
      <p:sp>
        <p:nvSpPr>
          <p:cNvPr id="1046" name="Cell 8-0"/>
          <p:cNvSpPr txBox="1"/>
          <p:nvPr/>
        </p:nvSpPr>
        <p:spPr>
          <a:xfrm>
            <a:off x="6172200" y="5303519"/>
            <a:ext cx="1554480" cy="384048"/>
          </a:xfrm>
          <a:prstGeom prst="rect">
            <a:avLst/>
          </a:prstGeom>
          <a:noFill/>
          <a:ln>
            <a:noFill/>
          </a:ln>
        </p:spPr>
        <p:txBody>
          <a:bodyPr wrap="square" lIns="73152" tIns="0" rIns="73152" bIns="0" anchor="ctr">
            <a:noAutofit/>
          </a:bodyPr>
          <a:lstStyle/>
          <a:p>
            <a:pPr algn="l"/>
            <a:r>
              <a:rPr lang="en-US" sz="1150" b="0" dirty="0">
                <a:solidFill>
                  <a:srgbClr val="1F2328"/>
                </a:solidFill>
                <a:latin typeface="Calibri"/>
                <a:cs typeface="Calibri"/>
              </a:rPr>
              <a:t xml:space="preserve">Average</a:t>
            </a:r>
          </a:p>
        </p:txBody>
      </p:sp>
      <p:sp>
        <p:nvSpPr>
          <p:cNvPr id="1047" name="Cell 8-1"/>
          <p:cNvSpPr txBox="1"/>
          <p:nvPr/>
        </p:nvSpPr>
        <p:spPr>
          <a:xfrm>
            <a:off x="7726679" y="5303519"/>
            <a:ext cx="896112" cy="384048"/>
          </a:xfrm>
          <a:prstGeom prst="rect">
            <a:avLst/>
          </a:prstGeom>
          <a:noFill/>
          <a:ln>
            <a:noFill/>
          </a:ln>
        </p:spPr>
        <p:txBody>
          <a:bodyPr wrap="square" lIns="73152" tIns="0" rIns="73152" bIns="0" anchor="ctr">
            <a:noAutofit/>
          </a:bodyPr>
          <a:lstStyle/>
          <a:p>
            <a:pPr algn="r"/>
            <a:r>
              <a:rPr lang="en-US" sz="1150" b="0" dirty="0">
                <a:solidFill>
                  <a:srgbClr val="1F2328"/>
                </a:solidFill>
                <a:latin typeface="Calibri"/>
                <a:cs typeface="Calibri"/>
              </a:rPr>
              <a:t xml:space="preserve">2.59</a:t>
            </a:r>
          </a:p>
        </p:txBody>
      </p:sp>
      <p:sp>
        <p:nvSpPr>
          <p:cNvPr id="1048" name="Cell 8-2"/>
          <p:cNvSpPr txBox="1"/>
          <p:nvPr/>
        </p:nvSpPr>
        <p:spPr>
          <a:xfrm>
            <a:off x="8622792" y="5303519"/>
            <a:ext cx="896112" cy="384048"/>
          </a:xfrm>
          <a:prstGeom prst="rect">
            <a:avLst/>
          </a:prstGeom>
          <a:noFill/>
          <a:ln>
            <a:noFill/>
          </a:ln>
        </p:spPr>
        <p:txBody>
          <a:bodyPr wrap="square" lIns="73152" tIns="0" rIns="73152" bIns="0" anchor="ctr">
            <a:noAutofit/>
          </a:bodyPr>
          <a:lstStyle/>
          <a:p>
            <a:pPr algn="r"/>
            <a:r>
              <a:rPr lang="en-US" sz="1150" b="0" dirty="0">
                <a:solidFill>
                  <a:srgbClr val="1F2328"/>
                </a:solidFill>
                <a:latin typeface="Calibri"/>
                <a:cs typeface="Calibri"/>
              </a:rPr>
              <a:t xml:space="preserve">3.01</a:t>
            </a:r>
          </a:p>
        </p:txBody>
      </p:sp>
      <p:sp>
        <p:nvSpPr>
          <p:cNvPr id="1049" name="Cell 8-3"/>
          <p:cNvSpPr txBox="1"/>
          <p:nvPr/>
        </p:nvSpPr>
        <p:spPr>
          <a:xfrm>
            <a:off x="9518904" y="5303519"/>
            <a:ext cx="896112" cy="384048"/>
          </a:xfrm>
          <a:prstGeom prst="rect">
            <a:avLst/>
          </a:prstGeom>
          <a:noFill/>
          <a:ln>
            <a:noFill/>
          </a:ln>
        </p:spPr>
        <p:txBody>
          <a:bodyPr wrap="square" lIns="73152" tIns="0" rIns="73152" bIns="0" anchor="ctr">
            <a:noAutofit/>
          </a:bodyPr>
          <a:lstStyle/>
          <a:p>
            <a:pPr algn="r"/>
            <a:r>
              <a:rPr lang="en-US" sz="1150" b="0" dirty="0">
                <a:solidFill>
                  <a:srgbClr val="1F2328"/>
                </a:solidFill>
                <a:latin typeface="Calibri"/>
                <a:cs typeface="Calibri"/>
              </a:rPr>
              <a:t xml:space="preserve">1.24</a:t>
            </a:r>
          </a:p>
        </p:txBody>
      </p:sp>
      <p:sp>
        <p:nvSpPr>
          <p:cNvPr id="1050" name="Cell 8-4"/>
          <p:cNvSpPr txBox="1"/>
          <p:nvPr/>
        </p:nvSpPr>
        <p:spPr>
          <a:xfrm>
            <a:off x="10415016" y="5303519"/>
            <a:ext cx="896112" cy="384048"/>
          </a:xfrm>
          <a:prstGeom prst="rect">
            <a:avLst/>
          </a:prstGeom>
          <a:noFill/>
          <a:ln>
            <a:noFill/>
          </a:ln>
        </p:spPr>
        <p:txBody>
          <a:bodyPr wrap="square" lIns="73152" tIns="0" rIns="73152" bIns="0" anchor="ctr">
            <a:noAutofit/>
          </a:bodyPr>
          <a:lstStyle/>
          <a:p>
            <a:pPr algn="r"/>
            <a:r>
              <a:rPr lang="en-US" sz="1150" b="1" dirty="0">
                <a:solidFill>
                  <a:srgbClr val="0B6E4F"/>
                </a:solidFill>
                <a:latin typeface="Calibri"/>
                <a:cs typeface="Calibri"/>
              </a:rPr>
              <a:t xml:space="preserve">3.53</a:t>
            </a:r>
          </a:p>
        </p:txBody>
      </p:sp>
      <p:sp>
        <p:nvSpPr>
          <p:cNvPr id="1051" name="Backup caption"/>
          <p:cNvSpPr txBox="1"/>
          <p:nvPr/>
        </p:nvSpPr>
        <p:spPr>
          <a:xfrm>
            <a:off x="850392" y="6053328"/>
            <a:ext cx="10488168" cy="237744"/>
          </a:xfrm>
          <a:prstGeom prst="rect">
            <a:avLst/>
          </a:prstGeom>
          <a:noFill/>
          <a:ln>
            <a:noFill/>
          </a:ln>
        </p:spPr>
        <p:txBody>
          <a:bodyPr wrap="square" lIns="0" tIns="0" rIns="0" bIns="0" anchor="t">
            <a:noAutofit/>
          </a:bodyPr>
          <a:lstStyle/>
          <a:p>
            <a:pPr algn="l"/>
            <a:r>
              <a:rPr lang="en-US" sz="1050" b="0" dirty="0">
                <a:solidFill>
                  <a:srgbClr val="5B6770"/>
                </a:solidFill>
                <a:latin typeface="Calibri"/>
                <a:cs typeface="Calibri"/>
              </a:rPr>
              <a:t xml:space="preserve">Where RIGOR is not best: Conciseness (Direct Mapping on liver cancer), Consistency (LLM baseline on eICU-CRD).  Source: paper Table 11; LLM-judge scores in Table 10.</a:t>
            </a: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45" name="Shape 945"/>
        <p:cNvGrpSpPr/>
        <p:nvPr/>
      </p:nvGrpSpPr>
      <p:grpSpPr>
        <a:xfrm>
          <a:off x="0" y="0"/>
          <a:ext cx="0" cy="0"/>
          <a:chOff x="0" y="0"/>
          <a:chExt cx="0" cy="0"/>
        </a:xfrm>
      </p:grpSpPr>
      <p:sp>
        <p:nvSpPr>
          <p:cNvPr id="946" name="TextBox 945"/>
          <p:cNvSpPr txBox="1"/>
          <p:nvPr/>
        </p:nvSpPr>
        <p:spPr>
          <a:xfrm>
            <a:off x="777240" y="347472"/>
            <a:ext cx="10058400" cy="292608"/>
          </a:xfrm>
          <a:prstGeom prst="rect">
            <a:avLst/>
          </a:prstGeom>
          <a:noFill/>
        </p:spPr>
        <p:txBody>
          <a:bodyPr wrap="square" lIns="0" rIns="0" tIns="0" bIns="0">
            <a:spAutoFit/>
          </a:bodyPr>
          <a:lstStyle/>
          <a:p>
            <a:pPr algn="l"/>
            <a:r>
              <a:rPr sz="1500" b="1">
                <a:solidFill>
                  <a:srgbClr val="0B6E4F"/>
                </a:solidFill>
                <a:latin typeface="Consolas"/>
              </a:rPr>
              <a:t>BACKUP  /  B3</a:t>
            </a:r>
          </a:p>
        </p:txBody>
      </p:sp>
      <p:sp>
        <p:nvSpPr>
          <p:cNvPr id="947" name="TextBox 946"/>
          <p:cNvSpPr txBox="1"/>
          <p:nvPr/>
        </p:nvSpPr>
        <p:spPr>
          <a:xfrm>
            <a:off x="777240" y="768096"/>
            <a:ext cx="10881360" cy="530352"/>
          </a:xfrm>
          <a:prstGeom prst="rect">
            <a:avLst/>
          </a:prstGeom>
          <a:noFill/>
        </p:spPr>
        <p:txBody>
          <a:bodyPr wrap="square" lIns="0" rIns="0" tIns="0" bIns="0">
            <a:spAutoFit/>
          </a:bodyPr>
          <a:lstStyle/>
          <a:p>
            <a:pPr algn="l"/>
            <a:r>
              <a:rPr sz="2600" b="1">
                <a:solidFill>
                  <a:srgbClr val="1F2328"/>
                </a:solidFill>
                <a:latin typeface="Cambria"/>
              </a:rPr>
              <a:t>Full retrieval gives the best overall alignment, by a small margin.</a:t>
            </a:r>
          </a:p>
        </p:txBody>
      </p:sp>
      <p:sp>
        <p:nvSpPr>
          <p:cNvPr id="948" name="TextBox 947"/>
          <p:cNvSpPr txBox="1"/>
          <p:nvPr/>
        </p:nvSpPr>
        <p:spPr>
          <a:xfrm>
            <a:off x="777240" y="1371600"/>
            <a:ext cx="10789920" cy="347472"/>
          </a:xfrm>
          <a:prstGeom prst="rect">
            <a:avLst/>
          </a:prstGeom>
          <a:noFill/>
        </p:spPr>
        <p:txBody>
          <a:bodyPr wrap="square" lIns="0" rIns="0" tIns="0" bIns="0">
            <a:spAutoFit/>
          </a:bodyPr>
          <a:lstStyle/>
          <a:p>
            <a:pPr algn="l"/>
            <a:r>
              <a:rPr sz="1400" b="0">
                <a:solidFill>
                  <a:srgbClr val="5B6770"/>
                </a:solidFill>
                <a:latin typeface="Calibri"/>
              </a:rPr>
              <a:t>Retrieval ablation on Chinook with Claude  ·  F1 of alignment between the ontology and each resource (cosine ≥ 0.55)</a:t>
            </a:r>
          </a:p>
        </p:txBody>
      </p:sp>
      <p:sp>
        <p:nvSpPr>
          <p:cNvPr id="949" name="Table header rule"/>
          <p:cNvSpPr/>
          <p:nvPr/>
        </p:nvSpPr>
        <p:spPr>
          <a:xfrm>
            <a:off x="822960" y="2487168"/>
            <a:ext cx="10515600" cy="9144"/>
          </a:xfrm>
          <a:prstGeom prst="rect">
            <a:avLst/>
          </a:prstGeom>
          <a:solidFill>
            <a:srgbClr val="D9DEDB"/>
          </a:solidFill>
          <a:ln>
            <a:noFill/>
          </a:ln>
        </p:spPr>
        <p:txBody>
          <a:bodyPr wrap="square" lIns="0" tIns="0" rIns="0" bIns="0" anchor="t">
            <a:noAutofit/>
          </a:bodyPr>
          <a:lstStyle/>
          <a:p>
            <a:pPr algn="l"/>
          </a:p>
        </p:txBody>
      </p:sp>
      <p:sp>
        <p:nvSpPr>
          <p:cNvPr id="950" name="Cell 0-0"/>
          <p:cNvSpPr txBox="1"/>
          <p:nvPr/>
        </p:nvSpPr>
        <p:spPr>
          <a:xfrm>
            <a:off x="822960" y="2011680"/>
            <a:ext cx="2834640" cy="475488"/>
          </a:xfrm>
          <a:prstGeom prst="rect">
            <a:avLst/>
          </a:prstGeom>
          <a:noFill/>
          <a:ln>
            <a:noFill/>
          </a:ln>
        </p:spPr>
        <p:txBody>
          <a:bodyPr wrap="square" lIns="73152" tIns="0" rIns="73152" bIns="0" anchor="ctr">
            <a:noAutofit/>
          </a:bodyPr>
          <a:lstStyle/>
          <a:p>
            <a:pPr algn="l"/>
            <a:r>
              <a:rPr lang="en-US" sz="1000" b="1" dirty="0">
                <a:solidFill>
                  <a:srgbClr val="2F6B78"/>
                </a:solidFill>
                <a:latin typeface="Consolas"/>
                <a:cs typeface="Consolas"/>
              </a:rPr>
              <a:t xml:space="preserve">VARIANT</a:t>
            </a:r>
          </a:p>
        </p:txBody>
      </p:sp>
      <p:sp>
        <p:nvSpPr>
          <p:cNvPr id="951" name="Cell 0-1"/>
          <p:cNvSpPr txBox="1"/>
          <p:nvPr/>
        </p:nvSpPr>
        <p:spPr>
          <a:xfrm>
            <a:off x="3657600" y="2011680"/>
            <a:ext cx="1280160" cy="475488"/>
          </a:xfrm>
          <a:prstGeom prst="rect">
            <a:avLst/>
          </a:prstGeom>
          <a:noFill/>
          <a:ln>
            <a:noFill/>
          </a:ln>
        </p:spPr>
        <p:txBody>
          <a:bodyPr wrap="square" lIns="73152" tIns="0" rIns="73152" bIns="0" anchor="ctr">
            <a:noAutofit/>
          </a:bodyPr>
          <a:lstStyle/>
          <a:p>
            <a:pPr algn="r"/>
            <a:r>
              <a:rPr lang="en-US" sz="1000" b="1" dirty="0">
                <a:solidFill>
                  <a:srgbClr val="2F6B78"/>
                </a:solidFill>
                <a:latin typeface="Consolas"/>
                <a:cs typeface="Consolas"/>
              </a:rPr>
              <a:t xml:space="preserve">SCHEMA F1</a:t>
            </a:r>
          </a:p>
        </p:txBody>
      </p:sp>
      <p:sp>
        <p:nvSpPr>
          <p:cNvPr id="952" name="Cell 0-2"/>
          <p:cNvSpPr txBox="1"/>
          <p:nvPr/>
        </p:nvSpPr>
        <p:spPr>
          <a:xfrm>
            <a:off x="4937760" y="2011680"/>
            <a:ext cx="1280160" cy="475488"/>
          </a:xfrm>
          <a:prstGeom prst="rect">
            <a:avLst/>
          </a:prstGeom>
          <a:noFill/>
          <a:ln>
            <a:noFill/>
          </a:ln>
        </p:spPr>
        <p:txBody>
          <a:bodyPr wrap="square" lIns="73152" tIns="0" rIns="73152" bIns="0" anchor="ctr">
            <a:noAutofit/>
          </a:bodyPr>
          <a:lstStyle/>
          <a:p>
            <a:pPr algn="r"/>
            <a:r>
              <a:rPr lang="en-US" sz="1000" b="1" dirty="0">
                <a:solidFill>
                  <a:srgbClr val="2F6B78"/>
                </a:solidFill>
                <a:latin typeface="Consolas"/>
                <a:cs typeface="Consolas"/>
              </a:rPr>
              <a:t xml:space="preserve">EXTERNAL F1</a:t>
            </a:r>
          </a:p>
        </p:txBody>
      </p:sp>
      <p:sp>
        <p:nvSpPr>
          <p:cNvPr id="953" name="Cell 0-3"/>
          <p:cNvSpPr txBox="1"/>
          <p:nvPr/>
        </p:nvSpPr>
        <p:spPr>
          <a:xfrm>
            <a:off x="6217920" y="2011680"/>
            <a:ext cx="1280160" cy="475488"/>
          </a:xfrm>
          <a:prstGeom prst="rect">
            <a:avLst/>
          </a:prstGeom>
          <a:noFill/>
          <a:ln>
            <a:noFill/>
          </a:ln>
        </p:spPr>
        <p:txBody>
          <a:bodyPr wrap="square" lIns="73152" tIns="0" rIns="73152" bIns="0" anchor="ctr">
            <a:noAutofit/>
          </a:bodyPr>
          <a:lstStyle/>
          <a:p>
            <a:pPr algn="r"/>
            <a:r>
              <a:rPr lang="en-US" sz="1000" b="1" dirty="0">
                <a:solidFill>
                  <a:srgbClr val="2F6B78"/>
                </a:solidFill>
                <a:latin typeface="Consolas"/>
                <a:cs typeface="Consolas"/>
              </a:rPr>
              <a:t xml:space="preserve">DOCS F1</a:t>
            </a:r>
          </a:p>
        </p:txBody>
      </p:sp>
      <p:sp>
        <p:nvSpPr>
          <p:cNvPr id="954" name="Cell 0-4"/>
          <p:cNvSpPr txBox="1"/>
          <p:nvPr/>
        </p:nvSpPr>
        <p:spPr>
          <a:xfrm>
            <a:off x="7498080" y="2011680"/>
            <a:ext cx="1280160" cy="475488"/>
          </a:xfrm>
          <a:prstGeom prst="rect">
            <a:avLst/>
          </a:prstGeom>
          <a:noFill/>
          <a:ln>
            <a:noFill/>
          </a:ln>
        </p:spPr>
        <p:txBody>
          <a:bodyPr wrap="square" lIns="73152" tIns="0" rIns="73152" bIns="0" anchor="ctr">
            <a:noAutofit/>
          </a:bodyPr>
          <a:lstStyle/>
          <a:p>
            <a:pPr algn="r"/>
            <a:r>
              <a:rPr lang="en-US" sz="1000" b="1" dirty="0">
                <a:solidFill>
                  <a:srgbClr val="2F6B78"/>
                </a:solidFill>
                <a:latin typeface="Consolas"/>
                <a:cs typeface="Consolas"/>
              </a:rPr>
              <a:t xml:space="preserve">AVG P</a:t>
            </a:r>
          </a:p>
        </p:txBody>
      </p:sp>
      <p:sp>
        <p:nvSpPr>
          <p:cNvPr id="955" name="Cell 0-5"/>
          <p:cNvSpPr txBox="1"/>
          <p:nvPr/>
        </p:nvSpPr>
        <p:spPr>
          <a:xfrm>
            <a:off x="8778240" y="2011680"/>
            <a:ext cx="1280160" cy="475488"/>
          </a:xfrm>
          <a:prstGeom prst="rect">
            <a:avLst/>
          </a:prstGeom>
          <a:noFill/>
          <a:ln>
            <a:noFill/>
          </a:ln>
        </p:spPr>
        <p:txBody>
          <a:bodyPr wrap="square" lIns="73152" tIns="0" rIns="73152" bIns="0" anchor="ctr">
            <a:noAutofit/>
          </a:bodyPr>
          <a:lstStyle/>
          <a:p>
            <a:pPr algn="r"/>
            <a:r>
              <a:rPr lang="en-US" sz="1000" b="1" dirty="0">
                <a:solidFill>
                  <a:srgbClr val="2F6B78"/>
                </a:solidFill>
                <a:latin typeface="Consolas"/>
                <a:cs typeface="Consolas"/>
              </a:rPr>
              <a:t xml:space="preserve">AVG R</a:t>
            </a:r>
          </a:p>
        </p:txBody>
      </p:sp>
      <p:sp>
        <p:nvSpPr>
          <p:cNvPr id="956" name="Cell 0-6"/>
          <p:cNvSpPr txBox="1"/>
          <p:nvPr/>
        </p:nvSpPr>
        <p:spPr>
          <a:xfrm>
            <a:off x="10058400" y="2011680"/>
            <a:ext cx="1280160" cy="475488"/>
          </a:xfrm>
          <a:prstGeom prst="rect">
            <a:avLst/>
          </a:prstGeom>
          <a:noFill/>
          <a:ln>
            <a:noFill/>
          </a:ln>
        </p:spPr>
        <p:txBody>
          <a:bodyPr wrap="square" lIns="73152" tIns="0" rIns="73152" bIns="0" anchor="ctr">
            <a:noAutofit/>
          </a:bodyPr>
          <a:lstStyle/>
          <a:p>
            <a:pPr algn="r"/>
            <a:r>
              <a:rPr lang="en-US" sz="1000" b="1" dirty="0">
                <a:solidFill>
                  <a:srgbClr val="2F6B78"/>
                </a:solidFill>
                <a:latin typeface="Consolas"/>
                <a:cs typeface="Consolas"/>
              </a:rPr>
              <a:t xml:space="preserve">AVG F1</a:t>
            </a:r>
          </a:p>
        </p:txBody>
      </p:sp>
      <p:sp>
        <p:nvSpPr>
          <p:cNvPr id="957" name="Cell 1-0"/>
          <p:cNvSpPr txBox="1"/>
          <p:nvPr/>
        </p:nvSpPr>
        <p:spPr>
          <a:xfrm>
            <a:off x="822960" y="2505456"/>
            <a:ext cx="2834640" cy="475488"/>
          </a:xfrm>
          <a:prstGeom prst="rect">
            <a:avLst/>
          </a:prstGeom>
          <a:noFill/>
          <a:ln>
            <a:noFill/>
          </a:ln>
        </p:spPr>
        <p:txBody>
          <a:bodyPr wrap="square" lIns="73152" tIns="0" rIns="73152" bIns="0" anchor="ctr">
            <a:noAutofit/>
          </a:bodyPr>
          <a:lstStyle/>
          <a:p>
            <a:pPr algn="l"/>
            <a:r>
              <a:rPr lang="en-US" sz="1300" b="0" dirty="0">
                <a:solidFill>
                  <a:srgbClr val="1F2328"/>
                </a:solidFill>
                <a:latin typeface="Calibri"/>
                <a:cs typeface="Calibri"/>
              </a:rPr>
              <a:t xml:space="preserve">no retrieval</a:t>
            </a:r>
          </a:p>
        </p:txBody>
      </p:sp>
      <p:sp>
        <p:nvSpPr>
          <p:cNvPr id="958" name="Cell 1-1"/>
          <p:cNvSpPr txBox="1"/>
          <p:nvPr/>
        </p:nvSpPr>
        <p:spPr>
          <a:xfrm>
            <a:off x="3657600" y="2505456"/>
            <a:ext cx="1280160" cy="475488"/>
          </a:xfrm>
          <a:prstGeom prst="rect">
            <a:avLst/>
          </a:prstGeom>
          <a:noFill/>
          <a:ln>
            <a:noFill/>
          </a:ln>
        </p:spPr>
        <p:txBody>
          <a:bodyPr wrap="square" lIns="73152" tIns="0" rIns="73152" bIns="0" anchor="ctr">
            <a:noAutofit/>
          </a:bodyPr>
          <a:lstStyle/>
          <a:p>
            <a:pPr algn="r"/>
            <a:r>
              <a:rPr lang="en-US" sz="1300" b="1" dirty="0">
                <a:solidFill>
                  <a:srgbClr val="0B6E4F"/>
                </a:solidFill>
                <a:latin typeface="Calibri"/>
                <a:cs typeface="Calibri"/>
              </a:rPr>
              <a:t xml:space="preserve">1.000</a:t>
            </a:r>
          </a:p>
        </p:txBody>
      </p:sp>
      <p:sp>
        <p:nvSpPr>
          <p:cNvPr id="959" name="Cell 1-2"/>
          <p:cNvSpPr txBox="1"/>
          <p:nvPr/>
        </p:nvSpPr>
        <p:spPr>
          <a:xfrm>
            <a:off x="4937760" y="2505456"/>
            <a:ext cx="1280160" cy="475488"/>
          </a:xfrm>
          <a:prstGeom prst="rect">
            <a:avLst/>
          </a:prstGeom>
          <a:noFill/>
          <a:ln>
            <a:noFill/>
          </a:ln>
        </p:spPr>
        <p:txBody>
          <a:bodyPr wrap="square" lIns="73152" tIns="0" rIns="73152" bIns="0" anchor="ctr">
            <a:noAutofit/>
          </a:bodyPr>
          <a:lstStyle/>
          <a:p>
            <a:pPr algn="r"/>
            <a:r>
              <a:rPr lang="en-US" sz="1300" b="0" dirty="0">
                <a:solidFill>
                  <a:srgbClr val="1F2328"/>
                </a:solidFill>
                <a:latin typeface="Calibri"/>
                <a:cs typeface="Calibri"/>
              </a:rPr>
              <a:t xml:space="preserve">0.033</a:t>
            </a:r>
          </a:p>
        </p:txBody>
      </p:sp>
      <p:sp>
        <p:nvSpPr>
          <p:cNvPr id="960" name="Cell 1-3"/>
          <p:cNvSpPr txBox="1"/>
          <p:nvPr/>
        </p:nvSpPr>
        <p:spPr>
          <a:xfrm>
            <a:off x="6217920" y="2505456"/>
            <a:ext cx="1280160" cy="475488"/>
          </a:xfrm>
          <a:prstGeom prst="rect">
            <a:avLst/>
          </a:prstGeom>
          <a:noFill/>
          <a:ln>
            <a:noFill/>
          </a:ln>
        </p:spPr>
        <p:txBody>
          <a:bodyPr wrap="square" lIns="73152" tIns="0" rIns="73152" bIns="0" anchor="ctr">
            <a:noAutofit/>
          </a:bodyPr>
          <a:lstStyle/>
          <a:p>
            <a:pPr algn="r"/>
            <a:r>
              <a:rPr lang="en-US" sz="1300" b="0" dirty="0">
                <a:solidFill>
                  <a:srgbClr val="1F2328"/>
                </a:solidFill>
                <a:latin typeface="Calibri"/>
                <a:cs typeface="Calibri"/>
              </a:rPr>
              <a:t xml:space="preserve">0.919</a:t>
            </a:r>
          </a:p>
        </p:txBody>
      </p:sp>
      <p:sp>
        <p:nvSpPr>
          <p:cNvPr id="961" name="Cell 1-4"/>
          <p:cNvSpPr txBox="1"/>
          <p:nvPr/>
        </p:nvSpPr>
        <p:spPr>
          <a:xfrm>
            <a:off x="7498080" y="2505456"/>
            <a:ext cx="1280160" cy="475488"/>
          </a:xfrm>
          <a:prstGeom prst="rect">
            <a:avLst/>
          </a:prstGeom>
          <a:noFill/>
          <a:ln>
            <a:noFill/>
          </a:ln>
        </p:spPr>
        <p:txBody>
          <a:bodyPr wrap="square" lIns="73152" tIns="0" rIns="73152" bIns="0" anchor="ctr">
            <a:noAutofit/>
          </a:bodyPr>
          <a:lstStyle/>
          <a:p>
            <a:pPr algn="r"/>
            <a:r>
              <a:rPr lang="en-US" sz="1300" b="1" dirty="0">
                <a:solidFill>
                  <a:srgbClr val="0B6E4F"/>
                </a:solidFill>
                <a:latin typeface="Calibri"/>
                <a:cs typeface="Calibri"/>
              </a:rPr>
              <a:t xml:space="preserve">0.772</a:t>
            </a:r>
          </a:p>
        </p:txBody>
      </p:sp>
      <p:sp>
        <p:nvSpPr>
          <p:cNvPr id="962" name="Cell 1-5"/>
          <p:cNvSpPr txBox="1"/>
          <p:nvPr/>
        </p:nvSpPr>
        <p:spPr>
          <a:xfrm>
            <a:off x="8778240" y="2505456"/>
            <a:ext cx="1280160" cy="475488"/>
          </a:xfrm>
          <a:prstGeom prst="rect">
            <a:avLst/>
          </a:prstGeom>
          <a:noFill/>
          <a:ln>
            <a:noFill/>
          </a:ln>
        </p:spPr>
        <p:txBody>
          <a:bodyPr wrap="square" lIns="73152" tIns="0" rIns="73152" bIns="0" anchor="ctr">
            <a:noAutofit/>
          </a:bodyPr>
          <a:lstStyle/>
          <a:p>
            <a:pPr algn="r"/>
            <a:r>
              <a:rPr lang="en-US" sz="1300" b="0" dirty="0">
                <a:solidFill>
                  <a:srgbClr val="1F2328"/>
                </a:solidFill>
                <a:latin typeface="Calibri"/>
                <a:cs typeface="Calibri"/>
              </a:rPr>
              <a:t xml:space="preserve">0.622</a:t>
            </a:r>
          </a:p>
        </p:txBody>
      </p:sp>
      <p:sp>
        <p:nvSpPr>
          <p:cNvPr id="963" name="Cell 1-6"/>
          <p:cNvSpPr txBox="1"/>
          <p:nvPr/>
        </p:nvSpPr>
        <p:spPr>
          <a:xfrm>
            <a:off x="10058400" y="2505456"/>
            <a:ext cx="1280160" cy="475488"/>
          </a:xfrm>
          <a:prstGeom prst="rect">
            <a:avLst/>
          </a:prstGeom>
          <a:noFill/>
          <a:ln>
            <a:noFill/>
          </a:ln>
        </p:spPr>
        <p:txBody>
          <a:bodyPr wrap="square" lIns="73152" tIns="0" rIns="73152" bIns="0" anchor="ctr">
            <a:noAutofit/>
          </a:bodyPr>
          <a:lstStyle/>
          <a:p>
            <a:pPr algn="r"/>
            <a:r>
              <a:rPr lang="en-US" sz="1300" b="0" dirty="0">
                <a:solidFill>
                  <a:srgbClr val="1F2328"/>
                </a:solidFill>
                <a:latin typeface="Calibri"/>
                <a:cs typeface="Calibri"/>
              </a:rPr>
              <a:t xml:space="preserve">0.650</a:t>
            </a:r>
          </a:p>
        </p:txBody>
      </p:sp>
      <p:sp>
        <p:nvSpPr>
          <p:cNvPr id="964" name="Row tint"/>
          <p:cNvSpPr/>
          <p:nvPr/>
        </p:nvSpPr>
        <p:spPr>
          <a:xfrm>
            <a:off x="822960" y="2980944"/>
            <a:ext cx="10515600" cy="475488"/>
          </a:xfrm>
          <a:prstGeom prst="rect">
            <a:avLst/>
          </a:prstGeom>
          <a:solidFill>
            <a:srgbClr val="F3F5F4"/>
          </a:solidFill>
          <a:ln>
            <a:noFill/>
          </a:ln>
        </p:spPr>
        <p:txBody>
          <a:bodyPr wrap="square" lIns="0" tIns="0" rIns="0" bIns="0" anchor="t">
            <a:noAutofit/>
          </a:bodyPr>
          <a:lstStyle/>
          <a:p>
            <a:pPr algn="l"/>
          </a:p>
        </p:txBody>
      </p:sp>
      <p:sp>
        <p:nvSpPr>
          <p:cNvPr id="965" name="Cell 2-0"/>
          <p:cNvSpPr txBox="1"/>
          <p:nvPr/>
        </p:nvSpPr>
        <p:spPr>
          <a:xfrm>
            <a:off x="822960" y="2980944"/>
            <a:ext cx="2834640" cy="475488"/>
          </a:xfrm>
          <a:prstGeom prst="rect">
            <a:avLst/>
          </a:prstGeom>
          <a:noFill/>
          <a:ln>
            <a:noFill/>
          </a:ln>
        </p:spPr>
        <p:txBody>
          <a:bodyPr wrap="square" lIns="73152" tIns="0" rIns="73152" bIns="0" anchor="ctr">
            <a:noAutofit/>
          </a:bodyPr>
          <a:lstStyle/>
          <a:p>
            <a:pPr algn="l"/>
            <a:r>
              <a:rPr lang="en-US" sz="1300" b="0" dirty="0">
                <a:solidFill>
                  <a:srgbClr val="1F2328"/>
                </a:solidFill>
                <a:latin typeface="Calibri"/>
                <a:cs typeface="Calibri"/>
              </a:rPr>
              <a:t xml:space="preserve">only schema + core</a:t>
            </a:r>
          </a:p>
        </p:txBody>
      </p:sp>
      <p:sp>
        <p:nvSpPr>
          <p:cNvPr id="966" name="Cell 2-1"/>
          <p:cNvSpPr txBox="1"/>
          <p:nvPr/>
        </p:nvSpPr>
        <p:spPr>
          <a:xfrm>
            <a:off x="3657600" y="2980944"/>
            <a:ext cx="1280160" cy="475488"/>
          </a:xfrm>
          <a:prstGeom prst="rect">
            <a:avLst/>
          </a:prstGeom>
          <a:noFill/>
          <a:ln>
            <a:noFill/>
          </a:ln>
        </p:spPr>
        <p:txBody>
          <a:bodyPr wrap="square" lIns="73152" tIns="0" rIns="73152" bIns="0" anchor="ctr">
            <a:noAutofit/>
          </a:bodyPr>
          <a:lstStyle/>
          <a:p>
            <a:pPr algn="r"/>
            <a:r>
              <a:rPr lang="en-US" sz="1300" b="0" dirty="0">
                <a:solidFill>
                  <a:srgbClr val="1F2328"/>
                </a:solidFill>
                <a:latin typeface="Calibri"/>
                <a:cs typeface="Calibri"/>
              </a:rPr>
              <a:t xml:space="preserve">0.997</a:t>
            </a:r>
          </a:p>
        </p:txBody>
      </p:sp>
      <p:sp>
        <p:nvSpPr>
          <p:cNvPr id="967" name="Cell 2-2"/>
          <p:cNvSpPr txBox="1"/>
          <p:nvPr/>
        </p:nvSpPr>
        <p:spPr>
          <a:xfrm>
            <a:off x="4937760" y="2980944"/>
            <a:ext cx="1280160" cy="475488"/>
          </a:xfrm>
          <a:prstGeom prst="rect">
            <a:avLst/>
          </a:prstGeom>
          <a:noFill/>
          <a:ln>
            <a:noFill/>
          </a:ln>
        </p:spPr>
        <p:txBody>
          <a:bodyPr wrap="square" lIns="73152" tIns="0" rIns="73152" bIns="0" anchor="ctr">
            <a:noAutofit/>
          </a:bodyPr>
          <a:lstStyle/>
          <a:p>
            <a:pPr algn="r"/>
            <a:r>
              <a:rPr lang="en-US" sz="1300" b="0" dirty="0">
                <a:solidFill>
                  <a:srgbClr val="1F2328"/>
                </a:solidFill>
                <a:latin typeface="Calibri"/>
                <a:cs typeface="Calibri"/>
              </a:rPr>
              <a:t xml:space="preserve">0.033</a:t>
            </a:r>
          </a:p>
        </p:txBody>
      </p:sp>
      <p:sp>
        <p:nvSpPr>
          <p:cNvPr id="968" name="Cell 2-3"/>
          <p:cNvSpPr txBox="1"/>
          <p:nvPr/>
        </p:nvSpPr>
        <p:spPr>
          <a:xfrm>
            <a:off x="6217920" y="2980944"/>
            <a:ext cx="1280160" cy="475488"/>
          </a:xfrm>
          <a:prstGeom prst="rect">
            <a:avLst/>
          </a:prstGeom>
          <a:noFill/>
          <a:ln>
            <a:noFill/>
          </a:ln>
        </p:spPr>
        <p:txBody>
          <a:bodyPr wrap="square" lIns="73152" tIns="0" rIns="73152" bIns="0" anchor="ctr">
            <a:noAutofit/>
          </a:bodyPr>
          <a:lstStyle/>
          <a:p>
            <a:pPr algn="r"/>
            <a:r>
              <a:rPr lang="en-US" sz="1300" b="0" dirty="0">
                <a:solidFill>
                  <a:srgbClr val="1F2328"/>
                </a:solidFill>
                <a:latin typeface="Calibri"/>
                <a:cs typeface="Calibri"/>
              </a:rPr>
              <a:t xml:space="preserve">0.916</a:t>
            </a:r>
          </a:p>
        </p:txBody>
      </p:sp>
      <p:sp>
        <p:nvSpPr>
          <p:cNvPr id="969" name="Cell 2-4"/>
          <p:cNvSpPr txBox="1"/>
          <p:nvPr/>
        </p:nvSpPr>
        <p:spPr>
          <a:xfrm>
            <a:off x="7498080" y="2980944"/>
            <a:ext cx="1280160" cy="475488"/>
          </a:xfrm>
          <a:prstGeom prst="rect">
            <a:avLst/>
          </a:prstGeom>
          <a:noFill/>
          <a:ln>
            <a:noFill/>
          </a:ln>
        </p:spPr>
        <p:txBody>
          <a:bodyPr wrap="square" lIns="73152" tIns="0" rIns="73152" bIns="0" anchor="ctr">
            <a:noAutofit/>
          </a:bodyPr>
          <a:lstStyle/>
          <a:p>
            <a:pPr algn="r"/>
            <a:r>
              <a:rPr lang="en-US" sz="1300" b="0" dirty="0">
                <a:solidFill>
                  <a:srgbClr val="1F2328"/>
                </a:solidFill>
                <a:latin typeface="Calibri"/>
                <a:cs typeface="Calibri"/>
              </a:rPr>
              <a:t xml:space="preserve">0.758</a:t>
            </a:r>
          </a:p>
        </p:txBody>
      </p:sp>
      <p:sp>
        <p:nvSpPr>
          <p:cNvPr id="970" name="Cell 2-5"/>
          <p:cNvSpPr txBox="1"/>
          <p:nvPr/>
        </p:nvSpPr>
        <p:spPr>
          <a:xfrm>
            <a:off x="8778240" y="2980944"/>
            <a:ext cx="1280160" cy="475488"/>
          </a:xfrm>
          <a:prstGeom prst="rect">
            <a:avLst/>
          </a:prstGeom>
          <a:noFill/>
          <a:ln>
            <a:noFill/>
          </a:ln>
        </p:spPr>
        <p:txBody>
          <a:bodyPr wrap="square" lIns="73152" tIns="0" rIns="73152" bIns="0" anchor="ctr">
            <a:noAutofit/>
          </a:bodyPr>
          <a:lstStyle/>
          <a:p>
            <a:pPr algn="r"/>
            <a:r>
              <a:rPr lang="en-US" sz="1300" b="0" dirty="0">
                <a:solidFill>
                  <a:srgbClr val="1F2328"/>
                </a:solidFill>
                <a:latin typeface="Calibri"/>
                <a:cs typeface="Calibri"/>
              </a:rPr>
              <a:t xml:space="preserve">0.622</a:t>
            </a:r>
          </a:p>
        </p:txBody>
      </p:sp>
      <p:sp>
        <p:nvSpPr>
          <p:cNvPr id="971" name="Cell 2-6"/>
          <p:cNvSpPr txBox="1"/>
          <p:nvPr/>
        </p:nvSpPr>
        <p:spPr>
          <a:xfrm>
            <a:off x="10058400" y="2980944"/>
            <a:ext cx="1280160" cy="475488"/>
          </a:xfrm>
          <a:prstGeom prst="rect">
            <a:avLst/>
          </a:prstGeom>
          <a:noFill/>
          <a:ln>
            <a:noFill/>
          </a:ln>
        </p:spPr>
        <p:txBody>
          <a:bodyPr wrap="square" lIns="73152" tIns="0" rIns="73152" bIns="0" anchor="ctr">
            <a:noAutofit/>
          </a:bodyPr>
          <a:lstStyle/>
          <a:p>
            <a:pPr algn="r"/>
            <a:r>
              <a:rPr lang="en-US" sz="1300" b="0" dirty="0">
                <a:solidFill>
                  <a:srgbClr val="1F2328"/>
                </a:solidFill>
                <a:latin typeface="Calibri"/>
                <a:cs typeface="Calibri"/>
              </a:rPr>
              <a:t xml:space="preserve">0.648</a:t>
            </a:r>
          </a:p>
        </p:txBody>
      </p:sp>
      <p:sp>
        <p:nvSpPr>
          <p:cNvPr id="972" name="Cell 3-0"/>
          <p:cNvSpPr txBox="1"/>
          <p:nvPr/>
        </p:nvSpPr>
        <p:spPr>
          <a:xfrm>
            <a:off x="822960" y="3456432"/>
            <a:ext cx="2834640" cy="475488"/>
          </a:xfrm>
          <a:prstGeom prst="rect">
            <a:avLst/>
          </a:prstGeom>
          <a:noFill/>
          <a:ln>
            <a:noFill/>
          </a:ln>
        </p:spPr>
        <p:txBody>
          <a:bodyPr wrap="square" lIns="73152" tIns="0" rIns="73152" bIns="0" anchor="ctr">
            <a:noAutofit/>
          </a:bodyPr>
          <a:lstStyle/>
          <a:p>
            <a:pPr algn="l"/>
            <a:r>
              <a:rPr lang="en-US" sz="1300" b="0" dirty="0">
                <a:solidFill>
                  <a:srgbClr val="1F2328"/>
                </a:solidFill>
                <a:latin typeface="Calibri"/>
                <a:cs typeface="Calibri"/>
              </a:rPr>
              <a:t xml:space="preserve">only external ontologies</a:t>
            </a:r>
          </a:p>
        </p:txBody>
      </p:sp>
      <p:sp>
        <p:nvSpPr>
          <p:cNvPr id="973" name="Cell 3-1"/>
          <p:cNvSpPr txBox="1"/>
          <p:nvPr/>
        </p:nvSpPr>
        <p:spPr>
          <a:xfrm>
            <a:off x="3657600" y="3456432"/>
            <a:ext cx="1280160" cy="475488"/>
          </a:xfrm>
          <a:prstGeom prst="rect">
            <a:avLst/>
          </a:prstGeom>
          <a:noFill/>
          <a:ln>
            <a:noFill/>
          </a:ln>
        </p:spPr>
        <p:txBody>
          <a:bodyPr wrap="square" lIns="73152" tIns="0" rIns="73152" bIns="0" anchor="ctr">
            <a:noAutofit/>
          </a:bodyPr>
          <a:lstStyle/>
          <a:p>
            <a:pPr algn="r"/>
            <a:r>
              <a:rPr lang="en-US" sz="1300" b="1" dirty="0">
                <a:solidFill>
                  <a:srgbClr val="0B6E4F"/>
                </a:solidFill>
                <a:latin typeface="Calibri"/>
                <a:cs typeface="Calibri"/>
              </a:rPr>
              <a:t xml:space="preserve">1.000</a:t>
            </a:r>
          </a:p>
        </p:txBody>
      </p:sp>
      <p:sp>
        <p:nvSpPr>
          <p:cNvPr id="974" name="Cell 3-2"/>
          <p:cNvSpPr txBox="1"/>
          <p:nvPr/>
        </p:nvSpPr>
        <p:spPr>
          <a:xfrm>
            <a:off x="4937760" y="3456432"/>
            <a:ext cx="1280160" cy="475488"/>
          </a:xfrm>
          <a:prstGeom prst="rect">
            <a:avLst/>
          </a:prstGeom>
          <a:noFill/>
          <a:ln>
            <a:noFill/>
          </a:ln>
        </p:spPr>
        <p:txBody>
          <a:bodyPr wrap="square" lIns="73152" tIns="0" rIns="73152" bIns="0" anchor="ctr">
            <a:noAutofit/>
          </a:bodyPr>
          <a:lstStyle/>
          <a:p>
            <a:pPr algn="r"/>
            <a:r>
              <a:rPr lang="en-US" sz="1300" b="0" dirty="0">
                <a:solidFill>
                  <a:srgbClr val="1F2328"/>
                </a:solidFill>
                <a:latin typeface="Calibri"/>
                <a:cs typeface="Calibri"/>
              </a:rPr>
              <a:t xml:space="preserve">0.033</a:t>
            </a:r>
          </a:p>
        </p:txBody>
      </p:sp>
      <p:sp>
        <p:nvSpPr>
          <p:cNvPr id="975" name="Cell 3-3"/>
          <p:cNvSpPr txBox="1"/>
          <p:nvPr/>
        </p:nvSpPr>
        <p:spPr>
          <a:xfrm>
            <a:off x="6217920" y="3456432"/>
            <a:ext cx="1280160" cy="475488"/>
          </a:xfrm>
          <a:prstGeom prst="rect">
            <a:avLst/>
          </a:prstGeom>
          <a:noFill/>
          <a:ln>
            <a:noFill/>
          </a:ln>
        </p:spPr>
        <p:txBody>
          <a:bodyPr wrap="square" lIns="73152" tIns="0" rIns="73152" bIns="0" anchor="ctr">
            <a:noAutofit/>
          </a:bodyPr>
          <a:lstStyle/>
          <a:p>
            <a:pPr algn="r"/>
            <a:r>
              <a:rPr lang="en-US" sz="1300" b="0" dirty="0">
                <a:solidFill>
                  <a:srgbClr val="1F2328"/>
                </a:solidFill>
                <a:latin typeface="Calibri"/>
                <a:cs typeface="Calibri"/>
              </a:rPr>
              <a:t xml:space="preserve">0.919</a:t>
            </a:r>
          </a:p>
        </p:txBody>
      </p:sp>
      <p:sp>
        <p:nvSpPr>
          <p:cNvPr id="976" name="Cell 3-4"/>
          <p:cNvSpPr txBox="1"/>
          <p:nvPr/>
        </p:nvSpPr>
        <p:spPr>
          <a:xfrm>
            <a:off x="7498080" y="3456432"/>
            <a:ext cx="1280160" cy="475488"/>
          </a:xfrm>
          <a:prstGeom prst="rect">
            <a:avLst/>
          </a:prstGeom>
          <a:noFill/>
          <a:ln>
            <a:noFill/>
          </a:ln>
        </p:spPr>
        <p:txBody>
          <a:bodyPr wrap="square" lIns="73152" tIns="0" rIns="73152" bIns="0" anchor="ctr">
            <a:noAutofit/>
          </a:bodyPr>
          <a:lstStyle/>
          <a:p>
            <a:pPr algn="r"/>
            <a:r>
              <a:rPr lang="en-US" sz="1300" b="0" dirty="0">
                <a:solidFill>
                  <a:srgbClr val="1F2328"/>
                </a:solidFill>
                <a:latin typeface="Calibri"/>
                <a:cs typeface="Calibri"/>
              </a:rPr>
              <a:t xml:space="preserve">0.763</a:t>
            </a:r>
          </a:p>
        </p:txBody>
      </p:sp>
      <p:sp>
        <p:nvSpPr>
          <p:cNvPr id="977" name="Cell 3-5"/>
          <p:cNvSpPr txBox="1"/>
          <p:nvPr/>
        </p:nvSpPr>
        <p:spPr>
          <a:xfrm>
            <a:off x="8778240" y="3456432"/>
            <a:ext cx="1280160" cy="475488"/>
          </a:xfrm>
          <a:prstGeom prst="rect">
            <a:avLst/>
          </a:prstGeom>
          <a:noFill/>
          <a:ln>
            <a:noFill/>
          </a:ln>
        </p:spPr>
        <p:txBody>
          <a:bodyPr wrap="square" lIns="73152" tIns="0" rIns="73152" bIns="0" anchor="ctr">
            <a:noAutofit/>
          </a:bodyPr>
          <a:lstStyle/>
          <a:p>
            <a:pPr algn="r"/>
            <a:r>
              <a:rPr lang="en-US" sz="1300" b="0" dirty="0">
                <a:solidFill>
                  <a:srgbClr val="1F2328"/>
                </a:solidFill>
                <a:latin typeface="Calibri"/>
                <a:cs typeface="Calibri"/>
              </a:rPr>
              <a:t xml:space="preserve">0.622</a:t>
            </a:r>
          </a:p>
        </p:txBody>
      </p:sp>
      <p:sp>
        <p:nvSpPr>
          <p:cNvPr id="978" name="Cell 3-6"/>
          <p:cNvSpPr txBox="1"/>
          <p:nvPr/>
        </p:nvSpPr>
        <p:spPr>
          <a:xfrm>
            <a:off x="10058400" y="3456432"/>
            <a:ext cx="1280160" cy="475488"/>
          </a:xfrm>
          <a:prstGeom prst="rect">
            <a:avLst/>
          </a:prstGeom>
          <a:noFill/>
          <a:ln>
            <a:noFill/>
          </a:ln>
        </p:spPr>
        <p:txBody>
          <a:bodyPr wrap="square" lIns="73152" tIns="0" rIns="73152" bIns="0" anchor="ctr">
            <a:noAutofit/>
          </a:bodyPr>
          <a:lstStyle/>
          <a:p>
            <a:pPr algn="r"/>
            <a:r>
              <a:rPr lang="en-US" sz="1300" b="0" dirty="0">
                <a:solidFill>
                  <a:srgbClr val="1F2328"/>
                </a:solidFill>
                <a:latin typeface="Calibri"/>
                <a:cs typeface="Calibri"/>
              </a:rPr>
              <a:t xml:space="preserve">0.650</a:t>
            </a:r>
          </a:p>
        </p:txBody>
      </p:sp>
      <p:sp>
        <p:nvSpPr>
          <p:cNvPr id="979" name="Row tint"/>
          <p:cNvSpPr/>
          <p:nvPr/>
        </p:nvSpPr>
        <p:spPr>
          <a:xfrm>
            <a:off x="822960" y="3931920"/>
            <a:ext cx="10515600" cy="475488"/>
          </a:xfrm>
          <a:prstGeom prst="rect">
            <a:avLst/>
          </a:prstGeom>
          <a:solidFill>
            <a:srgbClr val="F3F5F4"/>
          </a:solidFill>
          <a:ln>
            <a:noFill/>
          </a:ln>
        </p:spPr>
        <p:txBody>
          <a:bodyPr wrap="square" lIns="0" tIns="0" rIns="0" bIns="0" anchor="t">
            <a:noAutofit/>
          </a:bodyPr>
          <a:lstStyle/>
          <a:p>
            <a:pPr algn="l"/>
          </a:p>
        </p:txBody>
      </p:sp>
      <p:sp>
        <p:nvSpPr>
          <p:cNvPr id="980" name="Cell 4-0"/>
          <p:cNvSpPr txBox="1"/>
          <p:nvPr/>
        </p:nvSpPr>
        <p:spPr>
          <a:xfrm>
            <a:off x="822960" y="3931920"/>
            <a:ext cx="2834640" cy="475488"/>
          </a:xfrm>
          <a:prstGeom prst="rect">
            <a:avLst/>
          </a:prstGeom>
          <a:noFill/>
          <a:ln>
            <a:noFill/>
          </a:ln>
        </p:spPr>
        <p:txBody>
          <a:bodyPr wrap="square" lIns="73152" tIns="0" rIns="73152" bIns="0" anchor="ctr">
            <a:noAutofit/>
          </a:bodyPr>
          <a:lstStyle/>
          <a:p>
            <a:pPr algn="l"/>
            <a:r>
              <a:rPr lang="en-US" sz="1300" b="0" dirty="0">
                <a:solidFill>
                  <a:srgbClr val="1F2328"/>
                </a:solidFill>
                <a:latin typeface="Calibri"/>
                <a:cs typeface="Calibri"/>
              </a:rPr>
              <a:t xml:space="preserve">only documentation</a:t>
            </a:r>
          </a:p>
        </p:txBody>
      </p:sp>
      <p:sp>
        <p:nvSpPr>
          <p:cNvPr id="981" name="Cell 4-1"/>
          <p:cNvSpPr txBox="1"/>
          <p:nvPr/>
        </p:nvSpPr>
        <p:spPr>
          <a:xfrm>
            <a:off x="3657600" y="3931920"/>
            <a:ext cx="1280160" cy="475488"/>
          </a:xfrm>
          <a:prstGeom prst="rect">
            <a:avLst/>
          </a:prstGeom>
          <a:noFill/>
          <a:ln>
            <a:noFill/>
          </a:ln>
        </p:spPr>
        <p:txBody>
          <a:bodyPr wrap="square" lIns="73152" tIns="0" rIns="73152" bIns="0" anchor="ctr">
            <a:noAutofit/>
          </a:bodyPr>
          <a:lstStyle/>
          <a:p>
            <a:pPr algn="r"/>
            <a:r>
              <a:rPr lang="en-US" sz="1300" b="1" dirty="0">
                <a:solidFill>
                  <a:srgbClr val="0B6E4F"/>
                </a:solidFill>
                <a:latin typeface="Calibri"/>
                <a:cs typeface="Calibri"/>
              </a:rPr>
              <a:t xml:space="preserve">1.000</a:t>
            </a:r>
          </a:p>
        </p:txBody>
      </p:sp>
      <p:sp>
        <p:nvSpPr>
          <p:cNvPr id="982" name="Cell 4-2"/>
          <p:cNvSpPr txBox="1"/>
          <p:nvPr/>
        </p:nvSpPr>
        <p:spPr>
          <a:xfrm>
            <a:off x="4937760" y="3931920"/>
            <a:ext cx="1280160" cy="475488"/>
          </a:xfrm>
          <a:prstGeom prst="rect">
            <a:avLst/>
          </a:prstGeom>
          <a:noFill/>
          <a:ln>
            <a:noFill/>
          </a:ln>
        </p:spPr>
        <p:txBody>
          <a:bodyPr wrap="square" lIns="73152" tIns="0" rIns="73152" bIns="0" anchor="ctr">
            <a:noAutofit/>
          </a:bodyPr>
          <a:lstStyle/>
          <a:p>
            <a:pPr algn="r"/>
            <a:r>
              <a:rPr lang="en-US" sz="1300" b="0" dirty="0">
                <a:solidFill>
                  <a:srgbClr val="1F2328"/>
                </a:solidFill>
                <a:latin typeface="Calibri"/>
                <a:cs typeface="Calibri"/>
              </a:rPr>
              <a:t xml:space="preserve">0.035</a:t>
            </a:r>
          </a:p>
        </p:txBody>
      </p:sp>
      <p:sp>
        <p:nvSpPr>
          <p:cNvPr id="983" name="Cell 4-3"/>
          <p:cNvSpPr txBox="1"/>
          <p:nvPr/>
        </p:nvSpPr>
        <p:spPr>
          <a:xfrm>
            <a:off x="6217920" y="3931920"/>
            <a:ext cx="1280160" cy="475488"/>
          </a:xfrm>
          <a:prstGeom prst="rect">
            <a:avLst/>
          </a:prstGeom>
          <a:noFill/>
          <a:ln>
            <a:noFill/>
          </a:ln>
        </p:spPr>
        <p:txBody>
          <a:bodyPr wrap="square" lIns="73152" tIns="0" rIns="73152" bIns="0" anchor="ctr">
            <a:noAutofit/>
          </a:bodyPr>
          <a:lstStyle/>
          <a:p>
            <a:pPr algn="r"/>
            <a:r>
              <a:rPr lang="en-US" sz="1300" b="1" dirty="0">
                <a:solidFill>
                  <a:srgbClr val="0B6E4F"/>
                </a:solidFill>
                <a:latin typeface="Calibri"/>
                <a:cs typeface="Calibri"/>
              </a:rPr>
              <a:t xml:space="preserve">0.921</a:t>
            </a:r>
          </a:p>
        </p:txBody>
      </p:sp>
      <p:sp>
        <p:nvSpPr>
          <p:cNvPr id="984" name="Cell 4-4"/>
          <p:cNvSpPr txBox="1"/>
          <p:nvPr/>
        </p:nvSpPr>
        <p:spPr>
          <a:xfrm>
            <a:off x="7498080" y="3931920"/>
            <a:ext cx="1280160" cy="475488"/>
          </a:xfrm>
          <a:prstGeom prst="rect">
            <a:avLst/>
          </a:prstGeom>
          <a:noFill/>
          <a:ln>
            <a:noFill/>
          </a:ln>
        </p:spPr>
        <p:txBody>
          <a:bodyPr wrap="square" lIns="73152" tIns="0" rIns="73152" bIns="0" anchor="ctr">
            <a:noAutofit/>
          </a:bodyPr>
          <a:lstStyle/>
          <a:p>
            <a:pPr algn="r"/>
            <a:r>
              <a:rPr lang="en-US" sz="1300" b="0" dirty="0">
                <a:solidFill>
                  <a:srgbClr val="1F2328"/>
                </a:solidFill>
                <a:latin typeface="Calibri"/>
                <a:cs typeface="Calibri"/>
              </a:rPr>
              <a:t xml:space="preserve">0.769</a:t>
            </a:r>
          </a:p>
        </p:txBody>
      </p:sp>
      <p:sp>
        <p:nvSpPr>
          <p:cNvPr id="985" name="Cell 4-5"/>
          <p:cNvSpPr txBox="1"/>
          <p:nvPr/>
        </p:nvSpPr>
        <p:spPr>
          <a:xfrm>
            <a:off x="8778240" y="3931920"/>
            <a:ext cx="1280160" cy="475488"/>
          </a:xfrm>
          <a:prstGeom prst="rect">
            <a:avLst/>
          </a:prstGeom>
          <a:noFill/>
          <a:ln>
            <a:noFill/>
          </a:ln>
        </p:spPr>
        <p:txBody>
          <a:bodyPr wrap="square" lIns="73152" tIns="0" rIns="73152" bIns="0" anchor="ctr">
            <a:noAutofit/>
          </a:bodyPr>
          <a:lstStyle/>
          <a:p>
            <a:pPr algn="r"/>
            <a:r>
              <a:rPr lang="en-US" sz="1300" b="0" dirty="0">
                <a:solidFill>
                  <a:srgbClr val="1F2328"/>
                </a:solidFill>
                <a:latin typeface="Calibri"/>
                <a:cs typeface="Calibri"/>
              </a:rPr>
              <a:t xml:space="preserve">0.624</a:t>
            </a:r>
          </a:p>
        </p:txBody>
      </p:sp>
      <p:sp>
        <p:nvSpPr>
          <p:cNvPr id="986" name="Cell 4-6"/>
          <p:cNvSpPr txBox="1"/>
          <p:nvPr/>
        </p:nvSpPr>
        <p:spPr>
          <a:xfrm>
            <a:off x="10058400" y="3931920"/>
            <a:ext cx="1280160" cy="475488"/>
          </a:xfrm>
          <a:prstGeom prst="rect">
            <a:avLst/>
          </a:prstGeom>
          <a:noFill/>
          <a:ln>
            <a:noFill/>
          </a:ln>
        </p:spPr>
        <p:txBody>
          <a:bodyPr wrap="square" lIns="73152" tIns="0" rIns="73152" bIns="0" anchor="ctr">
            <a:noAutofit/>
          </a:bodyPr>
          <a:lstStyle/>
          <a:p>
            <a:pPr algn="r"/>
            <a:r>
              <a:rPr lang="en-US" sz="1300" b="0" dirty="0">
                <a:solidFill>
                  <a:srgbClr val="1F2328"/>
                </a:solidFill>
                <a:latin typeface="Calibri"/>
                <a:cs typeface="Calibri"/>
              </a:rPr>
              <a:t xml:space="preserve">0.652</a:t>
            </a:r>
          </a:p>
        </p:txBody>
      </p:sp>
      <p:sp>
        <p:nvSpPr>
          <p:cNvPr id="987" name="Cell 5-0"/>
          <p:cNvSpPr txBox="1"/>
          <p:nvPr/>
        </p:nvSpPr>
        <p:spPr>
          <a:xfrm>
            <a:off x="822960" y="4407408"/>
            <a:ext cx="2834640" cy="475488"/>
          </a:xfrm>
          <a:prstGeom prst="rect">
            <a:avLst/>
          </a:prstGeom>
          <a:noFill/>
          <a:ln>
            <a:noFill/>
          </a:ln>
        </p:spPr>
        <p:txBody>
          <a:bodyPr wrap="square" lIns="73152" tIns="0" rIns="73152" bIns="0" anchor="ctr">
            <a:noAutofit/>
          </a:bodyPr>
          <a:lstStyle/>
          <a:p>
            <a:pPr algn="l"/>
            <a:r>
              <a:rPr lang="en-US" sz="1300" b="0" dirty="0">
                <a:solidFill>
                  <a:srgbClr val="1F2328"/>
                </a:solidFill>
                <a:latin typeface="Calibri"/>
                <a:cs typeface="Calibri"/>
              </a:rPr>
              <a:t xml:space="preserve">full RIGOR</a:t>
            </a:r>
          </a:p>
        </p:txBody>
      </p:sp>
      <p:sp>
        <p:nvSpPr>
          <p:cNvPr id="988" name="Cell 5-1"/>
          <p:cNvSpPr txBox="1"/>
          <p:nvPr/>
        </p:nvSpPr>
        <p:spPr>
          <a:xfrm>
            <a:off x="3657600" y="4407408"/>
            <a:ext cx="1280160" cy="475488"/>
          </a:xfrm>
          <a:prstGeom prst="rect">
            <a:avLst/>
          </a:prstGeom>
          <a:noFill/>
          <a:ln>
            <a:noFill/>
          </a:ln>
        </p:spPr>
        <p:txBody>
          <a:bodyPr wrap="square" lIns="73152" tIns="0" rIns="73152" bIns="0" anchor="ctr">
            <a:noAutofit/>
          </a:bodyPr>
          <a:lstStyle/>
          <a:p>
            <a:pPr algn="r"/>
            <a:r>
              <a:rPr lang="en-US" sz="1300" b="0" dirty="0">
                <a:solidFill>
                  <a:srgbClr val="1F2328"/>
                </a:solidFill>
                <a:latin typeface="Calibri"/>
                <a:cs typeface="Calibri"/>
              </a:rPr>
              <a:t xml:space="preserve">0.993</a:t>
            </a:r>
          </a:p>
        </p:txBody>
      </p:sp>
      <p:sp>
        <p:nvSpPr>
          <p:cNvPr id="989" name="Cell 5-2"/>
          <p:cNvSpPr txBox="1"/>
          <p:nvPr/>
        </p:nvSpPr>
        <p:spPr>
          <a:xfrm>
            <a:off x="4937760" y="4407408"/>
            <a:ext cx="1280160" cy="475488"/>
          </a:xfrm>
          <a:prstGeom prst="rect">
            <a:avLst/>
          </a:prstGeom>
          <a:noFill/>
          <a:ln>
            <a:noFill/>
          </a:ln>
        </p:spPr>
        <p:txBody>
          <a:bodyPr wrap="square" lIns="73152" tIns="0" rIns="73152" bIns="0" anchor="ctr">
            <a:noAutofit/>
          </a:bodyPr>
          <a:lstStyle/>
          <a:p>
            <a:pPr algn="r"/>
            <a:r>
              <a:rPr lang="en-US" sz="1300" b="1" dirty="0">
                <a:solidFill>
                  <a:srgbClr val="0B6E4F"/>
                </a:solidFill>
                <a:latin typeface="Calibri"/>
                <a:cs typeface="Calibri"/>
              </a:rPr>
              <a:t xml:space="preserve">0.059</a:t>
            </a:r>
          </a:p>
        </p:txBody>
      </p:sp>
      <p:sp>
        <p:nvSpPr>
          <p:cNvPr id="990" name="Cell 5-3"/>
          <p:cNvSpPr txBox="1"/>
          <p:nvPr/>
        </p:nvSpPr>
        <p:spPr>
          <a:xfrm>
            <a:off x="6217920" y="4407408"/>
            <a:ext cx="1280160" cy="475488"/>
          </a:xfrm>
          <a:prstGeom prst="rect">
            <a:avLst/>
          </a:prstGeom>
          <a:noFill/>
          <a:ln>
            <a:noFill/>
          </a:ln>
        </p:spPr>
        <p:txBody>
          <a:bodyPr wrap="square" lIns="73152" tIns="0" rIns="73152" bIns="0" anchor="ctr">
            <a:noAutofit/>
          </a:bodyPr>
          <a:lstStyle/>
          <a:p>
            <a:pPr algn="r"/>
            <a:r>
              <a:rPr lang="en-US" sz="1300" b="0" dirty="0">
                <a:solidFill>
                  <a:srgbClr val="1F2328"/>
                </a:solidFill>
                <a:latin typeface="Calibri"/>
                <a:cs typeface="Calibri"/>
              </a:rPr>
              <a:t xml:space="preserve">0.914</a:t>
            </a:r>
          </a:p>
        </p:txBody>
      </p:sp>
      <p:sp>
        <p:nvSpPr>
          <p:cNvPr id="991" name="Cell 5-4"/>
          <p:cNvSpPr txBox="1"/>
          <p:nvPr/>
        </p:nvSpPr>
        <p:spPr>
          <a:xfrm>
            <a:off x="7498080" y="4407408"/>
            <a:ext cx="1280160" cy="475488"/>
          </a:xfrm>
          <a:prstGeom prst="rect">
            <a:avLst/>
          </a:prstGeom>
          <a:noFill/>
          <a:ln>
            <a:noFill/>
          </a:ln>
        </p:spPr>
        <p:txBody>
          <a:bodyPr wrap="square" lIns="73152" tIns="0" rIns="73152" bIns="0" anchor="ctr">
            <a:noAutofit/>
          </a:bodyPr>
          <a:lstStyle/>
          <a:p>
            <a:pPr algn="r"/>
            <a:r>
              <a:rPr lang="en-US" sz="1300" b="0" dirty="0">
                <a:solidFill>
                  <a:srgbClr val="1F2328"/>
                </a:solidFill>
                <a:latin typeface="Calibri"/>
                <a:cs typeface="Calibri"/>
              </a:rPr>
              <a:t xml:space="preserve">0.756</a:t>
            </a:r>
          </a:p>
        </p:txBody>
      </p:sp>
      <p:sp>
        <p:nvSpPr>
          <p:cNvPr id="992" name="Cell 5-5"/>
          <p:cNvSpPr txBox="1"/>
          <p:nvPr/>
        </p:nvSpPr>
        <p:spPr>
          <a:xfrm>
            <a:off x="8778240" y="4407408"/>
            <a:ext cx="1280160" cy="475488"/>
          </a:xfrm>
          <a:prstGeom prst="rect">
            <a:avLst/>
          </a:prstGeom>
          <a:noFill/>
          <a:ln>
            <a:noFill/>
          </a:ln>
        </p:spPr>
        <p:txBody>
          <a:bodyPr wrap="square" lIns="73152" tIns="0" rIns="73152" bIns="0" anchor="ctr">
            <a:noAutofit/>
          </a:bodyPr>
          <a:lstStyle/>
          <a:p>
            <a:pPr algn="r"/>
            <a:r>
              <a:rPr lang="en-US" sz="1300" b="1" dirty="0">
                <a:solidFill>
                  <a:srgbClr val="0B6E4F"/>
                </a:solidFill>
                <a:latin typeface="Calibri"/>
                <a:cs typeface="Calibri"/>
              </a:rPr>
              <a:t xml:space="preserve">0.630</a:t>
            </a:r>
          </a:p>
        </p:txBody>
      </p:sp>
      <p:sp>
        <p:nvSpPr>
          <p:cNvPr id="993" name="Cell 5-6"/>
          <p:cNvSpPr txBox="1"/>
          <p:nvPr/>
        </p:nvSpPr>
        <p:spPr>
          <a:xfrm>
            <a:off x="10058400" y="4407408"/>
            <a:ext cx="1280160" cy="475488"/>
          </a:xfrm>
          <a:prstGeom prst="rect">
            <a:avLst/>
          </a:prstGeom>
          <a:noFill/>
          <a:ln>
            <a:noFill/>
          </a:ln>
        </p:spPr>
        <p:txBody>
          <a:bodyPr wrap="square" lIns="73152" tIns="0" rIns="73152" bIns="0" anchor="ctr">
            <a:noAutofit/>
          </a:bodyPr>
          <a:lstStyle/>
          <a:p>
            <a:pPr algn="r"/>
            <a:r>
              <a:rPr lang="en-US" sz="1300" b="1" dirty="0">
                <a:solidFill>
                  <a:srgbClr val="0B6E4F"/>
                </a:solidFill>
                <a:latin typeface="Calibri"/>
                <a:cs typeface="Calibri"/>
              </a:rPr>
              <a:t xml:space="preserve">0.655</a:t>
            </a:r>
          </a:p>
        </p:txBody>
      </p:sp>
      <p:sp>
        <p:nvSpPr>
          <p:cNvPr id="994" name="Ablation note"/>
          <p:cNvSpPr/>
          <p:nvPr/>
        </p:nvSpPr>
        <p:spPr>
          <a:xfrm>
            <a:off x="822960" y="5074920"/>
            <a:ext cx="10515600" cy="566928"/>
          </a:xfrm>
          <a:prstGeom prst="roundRect">
            <a:avLst>
              <a:gd name="adj" fmla="val 12000"/>
            </a:avLst>
          </a:prstGeom>
          <a:solidFill>
            <a:srgbClr val="E6F2EC"/>
          </a:solidFill>
          <a:ln>
            <a:noFill/>
          </a:ln>
        </p:spPr>
        <p:txBody>
          <a:bodyPr wrap="square" lIns="182880" tIns="0" rIns="182880" bIns="0" anchor="ctr">
            <a:noAutofit/>
          </a:bodyPr>
          <a:lstStyle/>
          <a:p>
            <a:pPr algn="l"/>
            <a:r>
              <a:rPr lang="en-US" sz="1300" b="1" dirty="0">
                <a:solidFill>
                  <a:srgbClr val="0B6E4F"/>
                </a:solidFill>
                <a:latin typeface="Calibri"/>
                <a:cs typeface="Calibri"/>
              </a:rPr>
              <a:t xml:space="preserve">Read with care: </a:t>
            </a:r>
            <a:r>
              <a:rPr lang="en-US" sz="1300" b="0" dirty="0">
                <a:solidFill>
                  <a:srgbClr val="3A434C"/>
                </a:solidFill>
                <a:latin typeface="Calibri"/>
                <a:cs typeface="Calibri"/>
              </a:rPr>
              <a:t xml:space="preserve">schema alignment is saturated because every variant keeps the direct-mapping seed, and external-ontology F1 is low in absolute terms. Full RIGOR is best on external F1, average recall and average F1.</a:t>
            </a:r>
          </a:p>
        </p:txBody>
      </p:sp>
      <p:sp>
        <p:nvSpPr>
          <p:cNvPr id="995" name="Backup caption"/>
          <p:cNvSpPr txBox="1"/>
          <p:nvPr/>
        </p:nvSpPr>
        <p:spPr>
          <a:xfrm>
            <a:off x="850392" y="6053328"/>
            <a:ext cx="10488168" cy="237744"/>
          </a:xfrm>
          <a:prstGeom prst="rect">
            <a:avLst/>
          </a:prstGeom>
          <a:noFill/>
          <a:ln>
            <a:noFill/>
          </a:ln>
        </p:spPr>
        <p:txBody>
          <a:bodyPr wrap="square" lIns="0" tIns="0" rIns="0" bIns="0" anchor="t">
            <a:noAutofit/>
          </a:bodyPr>
          <a:lstStyle/>
          <a:p>
            <a:pPr algn="l"/>
            <a:r>
              <a:rPr lang="en-US" sz="1050" b="0" dirty="0">
                <a:solidFill>
                  <a:srgbClr val="5B6770"/>
                </a:solidFill>
                <a:latin typeface="Calibri"/>
                <a:cs typeface="Calibri"/>
              </a:rPr>
              <a:t xml:space="preserve">Source: paper Table 14 (Chinook, Claude). One database and one model.</a:t>
            </a: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45" name="Shape 945"/>
        <p:cNvGrpSpPr/>
        <p:nvPr/>
      </p:nvGrpSpPr>
      <p:grpSpPr>
        <a:xfrm>
          <a:off x="0" y="0"/>
          <a:ext cx="0" cy="0"/>
          <a:chOff x="0" y="0"/>
          <a:chExt cx="0" cy="0"/>
        </a:xfrm>
      </p:grpSpPr>
      <p:sp>
        <p:nvSpPr>
          <p:cNvPr id="946" name="TextBox 945"/>
          <p:cNvSpPr txBox="1"/>
          <p:nvPr/>
        </p:nvSpPr>
        <p:spPr>
          <a:xfrm>
            <a:off x="777240" y="347472"/>
            <a:ext cx="10058400" cy="292608"/>
          </a:xfrm>
          <a:prstGeom prst="rect">
            <a:avLst/>
          </a:prstGeom>
          <a:noFill/>
        </p:spPr>
        <p:txBody>
          <a:bodyPr wrap="square" lIns="0" rIns="0" tIns="0" bIns="0">
            <a:spAutoFit/>
          </a:bodyPr>
          <a:lstStyle/>
          <a:p>
            <a:pPr algn="l"/>
            <a:r>
              <a:rPr sz="1500" b="1">
                <a:solidFill>
                  <a:srgbClr val="0B6E4F"/>
                </a:solidFill>
                <a:latin typeface="Consolas"/>
              </a:rPr>
              <a:t>BACKUP  /  B4</a:t>
            </a:r>
          </a:p>
        </p:txBody>
      </p:sp>
      <p:sp>
        <p:nvSpPr>
          <p:cNvPr id="947" name="TextBox 946"/>
          <p:cNvSpPr txBox="1"/>
          <p:nvPr/>
        </p:nvSpPr>
        <p:spPr>
          <a:xfrm>
            <a:off x="777240" y="768096"/>
            <a:ext cx="10881360" cy="530352"/>
          </a:xfrm>
          <a:prstGeom prst="rect">
            <a:avLst/>
          </a:prstGeom>
          <a:noFill/>
        </p:spPr>
        <p:txBody>
          <a:bodyPr wrap="square" lIns="0" rIns="0" tIns="0" bIns="0">
            <a:spAutoFit/>
          </a:bodyPr>
          <a:lstStyle/>
          <a:p>
            <a:pPr algn="l"/>
            <a:r>
              <a:rPr sz="2600" b="1">
                <a:solidFill>
                  <a:srgbClr val="1F2328"/>
                </a:solidFill>
                <a:latin typeface="Cambria"/>
              </a:rPr>
              <a:t>All nine RIGOR runs together cost about 33 dollars.</a:t>
            </a:r>
          </a:p>
        </p:txBody>
      </p:sp>
      <p:sp>
        <p:nvSpPr>
          <p:cNvPr id="948" name="TextBox 947"/>
          <p:cNvSpPr txBox="1"/>
          <p:nvPr/>
        </p:nvSpPr>
        <p:spPr>
          <a:xfrm>
            <a:off x="777240" y="1371600"/>
            <a:ext cx="10789920" cy="347472"/>
          </a:xfrm>
          <a:prstGeom prst="rect">
            <a:avLst/>
          </a:prstGeom>
          <a:noFill/>
        </p:spPr>
        <p:txBody>
          <a:bodyPr wrap="square" lIns="0" rIns="0" tIns="0" bIns="0">
            <a:spAutoFit/>
          </a:bodyPr>
          <a:lstStyle/>
          <a:p>
            <a:pPr algn="l"/>
            <a:r>
              <a:rPr sz="1400" b="0">
                <a:solidFill>
                  <a:srgbClr val="5B6770"/>
                </a:solidFill>
                <a:latin typeface="Calibri"/>
              </a:rPr>
              <a:t>Generation cost and runtime per database and model, including Gen-LLM and Judge-LLM calls</a:t>
            </a:r>
          </a:p>
        </p:txBody>
      </p:sp>
      <p:sp>
        <p:nvSpPr>
          <p:cNvPr id="949" name="Table header rule"/>
          <p:cNvSpPr/>
          <p:nvPr/>
        </p:nvSpPr>
        <p:spPr>
          <a:xfrm>
            <a:off x="822960" y="2240279"/>
            <a:ext cx="10515600" cy="9144"/>
          </a:xfrm>
          <a:prstGeom prst="rect">
            <a:avLst/>
          </a:prstGeom>
          <a:solidFill>
            <a:srgbClr val="D9DEDB"/>
          </a:solidFill>
          <a:ln>
            <a:noFill/>
          </a:ln>
        </p:spPr>
        <p:txBody>
          <a:bodyPr wrap="square" lIns="0" tIns="0" rIns="0" bIns="0" anchor="t">
            <a:noAutofit/>
          </a:bodyPr>
          <a:lstStyle/>
          <a:p>
            <a:pPr algn="l"/>
          </a:p>
        </p:txBody>
      </p:sp>
      <p:sp>
        <p:nvSpPr>
          <p:cNvPr id="950" name="Cell 0-0"/>
          <p:cNvSpPr txBox="1"/>
          <p:nvPr/>
        </p:nvSpPr>
        <p:spPr>
          <a:xfrm>
            <a:off x="822960" y="1874519"/>
            <a:ext cx="2103120" cy="365760"/>
          </a:xfrm>
          <a:prstGeom prst="rect">
            <a:avLst/>
          </a:prstGeom>
          <a:noFill/>
          <a:ln>
            <a:noFill/>
          </a:ln>
        </p:spPr>
        <p:txBody>
          <a:bodyPr wrap="square" lIns="73152" tIns="0" rIns="73152" bIns="0" anchor="ctr">
            <a:noAutofit/>
          </a:bodyPr>
          <a:lstStyle/>
          <a:p>
            <a:pPr algn="l"/>
            <a:r>
              <a:rPr lang="en-US" sz="1000" b="1" dirty="0">
                <a:solidFill>
                  <a:srgbClr val="2F6B78"/>
                </a:solidFill>
                <a:latin typeface="Consolas"/>
                <a:cs typeface="Consolas"/>
              </a:rPr>
              <a:t xml:space="preserve">DATABASE</a:t>
            </a:r>
          </a:p>
        </p:txBody>
      </p:sp>
      <p:sp>
        <p:nvSpPr>
          <p:cNvPr id="951" name="Cell 0-1"/>
          <p:cNvSpPr txBox="1"/>
          <p:nvPr/>
        </p:nvSpPr>
        <p:spPr>
          <a:xfrm>
            <a:off x="2926079" y="1874519"/>
            <a:ext cx="2468880" cy="365760"/>
          </a:xfrm>
          <a:prstGeom prst="rect">
            <a:avLst/>
          </a:prstGeom>
          <a:noFill/>
          <a:ln>
            <a:noFill/>
          </a:ln>
        </p:spPr>
        <p:txBody>
          <a:bodyPr wrap="square" lIns="73152" tIns="0" rIns="73152" bIns="0" anchor="ctr">
            <a:noAutofit/>
          </a:bodyPr>
          <a:lstStyle/>
          <a:p>
            <a:pPr algn="l"/>
            <a:r>
              <a:rPr lang="en-US" sz="1000" b="1" dirty="0">
                <a:solidFill>
                  <a:srgbClr val="2F6B78"/>
                </a:solidFill>
                <a:latin typeface="Consolas"/>
                <a:cs typeface="Consolas"/>
              </a:rPr>
              <a:t xml:space="preserve">MODEL</a:t>
            </a:r>
          </a:p>
        </p:txBody>
      </p:sp>
      <p:sp>
        <p:nvSpPr>
          <p:cNvPr id="952" name="Cell 0-2"/>
          <p:cNvSpPr txBox="1"/>
          <p:nvPr/>
        </p:nvSpPr>
        <p:spPr>
          <a:xfrm>
            <a:off x="5394960" y="1874519"/>
            <a:ext cx="1371600" cy="365760"/>
          </a:xfrm>
          <a:prstGeom prst="rect">
            <a:avLst/>
          </a:prstGeom>
          <a:noFill/>
          <a:ln>
            <a:noFill/>
          </a:ln>
        </p:spPr>
        <p:txBody>
          <a:bodyPr wrap="square" lIns="73152" tIns="0" rIns="73152" bIns="0" anchor="ctr">
            <a:noAutofit/>
          </a:bodyPr>
          <a:lstStyle/>
          <a:p>
            <a:pPr algn="r"/>
            <a:r>
              <a:rPr lang="en-US" sz="1000" b="1" dirty="0">
                <a:solidFill>
                  <a:srgbClr val="2F6B78"/>
                </a:solidFill>
                <a:latin typeface="Consolas"/>
                <a:cs typeface="Consolas"/>
              </a:rPr>
              <a:t xml:space="preserve">REQUESTS</a:t>
            </a:r>
          </a:p>
        </p:txBody>
      </p:sp>
      <p:sp>
        <p:nvSpPr>
          <p:cNvPr id="953" name="Cell 0-3"/>
          <p:cNvSpPr txBox="1"/>
          <p:nvPr/>
        </p:nvSpPr>
        <p:spPr>
          <a:xfrm>
            <a:off x="6766560" y="1874519"/>
            <a:ext cx="1737360" cy="365760"/>
          </a:xfrm>
          <a:prstGeom prst="rect">
            <a:avLst/>
          </a:prstGeom>
          <a:noFill/>
          <a:ln>
            <a:noFill/>
          </a:ln>
        </p:spPr>
        <p:txBody>
          <a:bodyPr wrap="square" lIns="73152" tIns="0" rIns="73152" bIns="0" anchor="ctr">
            <a:noAutofit/>
          </a:bodyPr>
          <a:lstStyle/>
          <a:p>
            <a:pPr algn="r"/>
            <a:r>
              <a:rPr lang="en-US" sz="1000" b="1" dirty="0">
                <a:solidFill>
                  <a:srgbClr val="2F6B78"/>
                </a:solidFill>
                <a:latin typeface="Consolas"/>
                <a:cs typeface="Consolas"/>
              </a:rPr>
              <a:t xml:space="preserve">TOKENS</a:t>
            </a:r>
          </a:p>
        </p:txBody>
      </p:sp>
      <p:sp>
        <p:nvSpPr>
          <p:cNvPr id="954" name="Cell 0-4"/>
          <p:cNvSpPr txBox="1"/>
          <p:nvPr/>
        </p:nvSpPr>
        <p:spPr>
          <a:xfrm>
            <a:off x="8503920" y="1874519"/>
            <a:ext cx="1371600" cy="365760"/>
          </a:xfrm>
          <a:prstGeom prst="rect">
            <a:avLst/>
          </a:prstGeom>
          <a:noFill/>
          <a:ln>
            <a:noFill/>
          </a:ln>
        </p:spPr>
        <p:txBody>
          <a:bodyPr wrap="square" lIns="73152" tIns="0" rIns="73152" bIns="0" anchor="ctr">
            <a:noAutofit/>
          </a:bodyPr>
          <a:lstStyle/>
          <a:p>
            <a:pPr algn="r"/>
            <a:r>
              <a:rPr lang="en-US" sz="1000" b="1" dirty="0">
                <a:solidFill>
                  <a:srgbClr val="2F6B78"/>
                </a:solidFill>
                <a:latin typeface="Consolas"/>
                <a:cs typeface="Consolas"/>
              </a:rPr>
              <a:t xml:space="preserve">COST (USD)</a:t>
            </a:r>
          </a:p>
        </p:txBody>
      </p:sp>
      <p:sp>
        <p:nvSpPr>
          <p:cNvPr id="955" name="Cell 0-5"/>
          <p:cNvSpPr txBox="1"/>
          <p:nvPr/>
        </p:nvSpPr>
        <p:spPr>
          <a:xfrm>
            <a:off x="9875520" y="1874519"/>
            <a:ext cx="1463040" cy="365760"/>
          </a:xfrm>
          <a:prstGeom prst="rect">
            <a:avLst/>
          </a:prstGeom>
          <a:noFill/>
          <a:ln>
            <a:noFill/>
          </a:ln>
        </p:spPr>
        <p:txBody>
          <a:bodyPr wrap="square" lIns="73152" tIns="0" rIns="73152" bIns="0" anchor="ctr">
            <a:noAutofit/>
          </a:bodyPr>
          <a:lstStyle/>
          <a:p>
            <a:pPr algn="r"/>
            <a:r>
              <a:rPr lang="en-US" sz="1000" b="1" dirty="0">
                <a:solidFill>
                  <a:srgbClr val="2F6B78"/>
                </a:solidFill>
                <a:latin typeface="Consolas"/>
                <a:cs typeface="Consolas"/>
              </a:rPr>
              <a:t xml:space="preserve">RUNTIME (MIN)</a:t>
            </a:r>
          </a:p>
        </p:txBody>
      </p:sp>
      <p:sp>
        <p:nvSpPr>
          <p:cNvPr id="956" name="Cell 1-0"/>
          <p:cNvSpPr txBox="1"/>
          <p:nvPr/>
        </p:nvSpPr>
        <p:spPr>
          <a:xfrm>
            <a:off x="822960" y="2258568"/>
            <a:ext cx="2103120" cy="365760"/>
          </a:xfrm>
          <a:prstGeom prst="rect">
            <a:avLst/>
          </a:prstGeom>
          <a:noFill/>
          <a:ln>
            <a:noFill/>
          </a:ln>
        </p:spPr>
        <p:txBody>
          <a:bodyPr wrap="square" lIns="73152" tIns="0" rIns="73152" bIns="0" anchor="ctr">
            <a:noAutofit/>
          </a:bodyPr>
          <a:lstStyle/>
          <a:p>
            <a:pPr algn="l"/>
            <a:r>
              <a:rPr lang="en-US" sz="1200" b="0" dirty="0">
                <a:solidFill>
                  <a:srgbClr val="1F2328"/>
                </a:solidFill>
                <a:latin typeface="Calibri"/>
                <a:cs typeface="Calibri"/>
              </a:rPr>
              <a:t xml:space="preserve">eICU-CRD</a:t>
            </a:r>
          </a:p>
        </p:txBody>
      </p:sp>
      <p:sp>
        <p:nvSpPr>
          <p:cNvPr id="957" name="Cell 1-1"/>
          <p:cNvSpPr txBox="1"/>
          <p:nvPr/>
        </p:nvSpPr>
        <p:spPr>
          <a:xfrm>
            <a:off x="2926079" y="2258568"/>
            <a:ext cx="2468880" cy="365760"/>
          </a:xfrm>
          <a:prstGeom prst="rect">
            <a:avLst/>
          </a:prstGeom>
          <a:noFill/>
          <a:ln>
            <a:noFill/>
          </a:ln>
        </p:spPr>
        <p:txBody>
          <a:bodyPr wrap="square" lIns="73152" tIns="0" rIns="73152" bIns="0" anchor="ctr">
            <a:noAutofit/>
          </a:bodyPr>
          <a:lstStyle/>
          <a:p>
            <a:pPr algn="l"/>
            <a:r>
              <a:rPr lang="en-US" sz="1200" b="0" dirty="0">
                <a:solidFill>
                  <a:srgbClr val="1F2328"/>
                </a:solidFill>
                <a:latin typeface="Calibri"/>
                <a:cs typeface="Calibri"/>
              </a:rPr>
              <a:t xml:space="preserve">Claude Opus 4.6</a:t>
            </a:r>
          </a:p>
        </p:txBody>
      </p:sp>
      <p:sp>
        <p:nvSpPr>
          <p:cNvPr id="958" name="Cell 1-2"/>
          <p:cNvSpPr txBox="1"/>
          <p:nvPr/>
        </p:nvSpPr>
        <p:spPr>
          <a:xfrm>
            <a:off x="5394960" y="2258568"/>
            <a:ext cx="1371600" cy="365760"/>
          </a:xfrm>
          <a:prstGeom prst="rect">
            <a:avLst/>
          </a:prstGeom>
          <a:noFill/>
          <a:ln>
            <a:noFill/>
          </a:ln>
        </p:spPr>
        <p:txBody>
          <a:bodyPr wrap="square" lIns="73152" tIns="0" rIns="73152" bIns="0" anchor="ctr">
            <a:noAutofit/>
          </a:bodyPr>
          <a:lstStyle/>
          <a:p>
            <a:pPr algn="r"/>
            <a:r>
              <a:rPr lang="en-US" sz="1200" b="0" dirty="0">
                <a:solidFill>
                  <a:srgbClr val="1F2328"/>
                </a:solidFill>
                <a:latin typeface="Calibri"/>
                <a:cs typeface="Calibri"/>
              </a:rPr>
              <a:t xml:space="preserve">168</a:t>
            </a:r>
          </a:p>
        </p:txBody>
      </p:sp>
      <p:sp>
        <p:nvSpPr>
          <p:cNvPr id="959" name="Cell 1-3"/>
          <p:cNvSpPr txBox="1"/>
          <p:nvPr/>
        </p:nvSpPr>
        <p:spPr>
          <a:xfrm>
            <a:off x="6766560" y="2258568"/>
            <a:ext cx="1737360" cy="365760"/>
          </a:xfrm>
          <a:prstGeom prst="rect">
            <a:avLst/>
          </a:prstGeom>
          <a:noFill/>
          <a:ln>
            <a:noFill/>
          </a:ln>
        </p:spPr>
        <p:txBody>
          <a:bodyPr wrap="square" lIns="73152" tIns="0" rIns="73152" bIns="0" anchor="ctr">
            <a:noAutofit/>
          </a:bodyPr>
          <a:lstStyle/>
          <a:p>
            <a:pPr algn="r"/>
            <a:r>
              <a:rPr lang="en-US" sz="1200" b="0" dirty="0">
                <a:solidFill>
                  <a:srgbClr val="1F2328"/>
                </a:solidFill>
                <a:latin typeface="Calibri"/>
                <a:cs typeface="Calibri"/>
              </a:rPr>
              <a:t xml:space="preserve">1,660,000</a:t>
            </a:r>
          </a:p>
        </p:txBody>
      </p:sp>
      <p:sp>
        <p:nvSpPr>
          <p:cNvPr id="960" name="Cell 1-4"/>
          <p:cNvSpPr txBox="1"/>
          <p:nvPr/>
        </p:nvSpPr>
        <p:spPr>
          <a:xfrm>
            <a:off x="8503920" y="2258568"/>
            <a:ext cx="1371600" cy="365760"/>
          </a:xfrm>
          <a:prstGeom prst="rect">
            <a:avLst/>
          </a:prstGeom>
          <a:noFill/>
          <a:ln>
            <a:noFill/>
          </a:ln>
        </p:spPr>
        <p:txBody>
          <a:bodyPr wrap="square" lIns="73152" tIns="0" rIns="73152" bIns="0" anchor="ctr">
            <a:noAutofit/>
          </a:bodyPr>
          <a:lstStyle/>
          <a:p>
            <a:pPr algn="r"/>
            <a:r>
              <a:rPr lang="en-US" sz="1200" b="0" dirty="0">
                <a:solidFill>
                  <a:srgbClr val="1F2328"/>
                </a:solidFill>
                <a:latin typeface="Calibri"/>
                <a:cs typeface="Calibri"/>
              </a:rPr>
              <a:t xml:space="preserve">$21.30</a:t>
            </a:r>
          </a:p>
        </p:txBody>
      </p:sp>
      <p:sp>
        <p:nvSpPr>
          <p:cNvPr id="961" name="Cell 1-5"/>
          <p:cNvSpPr txBox="1"/>
          <p:nvPr/>
        </p:nvSpPr>
        <p:spPr>
          <a:xfrm>
            <a:off x="9875520" y="2258568"/>
            <a:ext cx="1463040" cy="365760"/>
          </a:xfrm>
          <a:prstGeom prst="rect">
            <a:avLst/>
          </a:prstGeom>
          <a:noFill/>
          <a:ln>
            <a:noFill/>
          </a:ln>
        </p:spPr>
        <p:txBody>
          <a:bodyPr wrap="square" lIns="73152" tIns="0" rIns="73152" bIns="0" anchor="ctr">
            <a:noAutofit/>
          </a:bodyPr>
          <a:lstStyle/>
          <a:p>
            <a:pPr algn="r"/>
            <a:r>
              <a:rPr lang="en-US" sz="1200" b="0" dirty="0">
                <a:solidFill>
                  <a:srgbClr val="1F2328"/>
                </a:solidFill>
                <a:latin typeface="Calibri"/>
                <a:cs typeface="Calibri"/>
              </a:rPr>
              <a:t xml:space="preserve">182.4</a:t>
            </a:r>
          </a:p>
        </p:txBody>
      </p:sp>
      <p:sp>
        <p:nvSpPr>
          <p:cNvPr id="962" name="Row tint"/>
          <p:cNvSpPr/>
          <p:nvPr/>
        </p:nvSpPr>
        <p:spPr>
          <a:xfrm>
            <a:off x="822960" y="2624327"/>
            <a:ext cx="10515600" cy="365760"/>
          </a:xfrm>
          <a:prstGeom prst="rect">
            <a:avLst/>
          </a:prstGeom>
          <a:solidFill>
            <a:srgbClr val="F3F5F4"/>
          </a:solidFill>
          <a:ln>
            <a:noFill/>
          </a:ln>
        </p:spPr>
        <p:txBody>
          <a:bodyPr wrap="square" lIns="0" tIns="0" rIns="0" bIns="0" anchor="t">
            <a:noAutofit/>
          </a:bodyPr>
          <a:lstStyle/>
          <a:p>
            <a:pPr algn="l"/>
          </a:p>
        </p:txBody>
      </p:sp>
      <p:sp>
        <p:nvSpPr>
          <p:cNvPr id="963" name="Cell 2-0"/>
          <p:cNvSpPr txBox="1"/>
          <p:nvPr/>
        </p:nvSpPr>
        <p:spPr>
          <a:xfrm>
            <a:off x="822960" y="2624327"/>
            <a:ext cx="2103120" cy="365760"/>
          </a:xfrm>
          <a:prstGeom prst="rect">
            <a:avLst/>
          </a:prstGeom>
          <a:noFill/>
          <a:ln>
            <a:noFill/>
          </a:ln>
        </p:spPr>
        <p:txBody>
          <a:bodyPr wrap="square" lIns="73152" tIns="0" rIns="73152" bIns="0" anchor="ctr">
            <a:noAutofit/>
          </a:bodyPr>
          <a:lstStyle/>
          <a:p>
            <a:pPr algn="l"/>
            <a:r>
              <a:rPr lang="en-US" sz="1200" b="0" dirty="0">
                <a:solidFill>
                  <a:srgbClr val="1F2328"/>
                </a:solidFill>
                <a:latin typeface="Calibri"/>
                <a:cs typeface="Calibri"/>
              </a:rPr>
              <a:t xml:space="preserve">eICU-CRD</a:t>
            </a:r>
          </a:p>
        </p:txBody>
      </p:sp>
      <p:sp>
        <p:nvSpPr>
          <p:cNvPr id="964" name="Cell 2-1"/>
          <p:cNvSpPr txBox="1"/>
          <p:nvPr/>
        </p:nvSpPr>
        <p:spPr>
          <a:xfrm>
            <a:off x="2926079" y="2624327"/>
            <a:ext cx="2468880" cy="365760"/>
          </a:xfrm>
          <a:prstGeom prst="rect">
            <a:avLst/>
          </a:prstGeom>
          <a:noFill/>
          <a:ln>
            <a:noFill/>
          </a:ln>
        </p:spPr>
        <p:txBody>
          <a:bodyPr wrap="square" lIns="73152" tIns="0" rIns="73152" bIns="0" anchor="ctr">
            <a:noAutofit/>
          </a:bodyPr>
          <a:lstStyle/>
          <a:p>
            <a:pPr algn="l"/>
            <a:r>
              <a:rPr lang="en-US" sz="1200" b="0" dirty="0">
                <a:solidFill>
                  <a:srgbClr val="1F2328"/>
                </a:solidFill>
                <a:latin typeface="Calibri"/>
                <a:cs typeface="Calibri"/>
              </a:rPr>
              <a:t xml:space="preserve">Mistral-Small-24B</a:t>
            </a:r>
          </a:p>
        </p:txBody>
      </p:sp>
      <p:sp>
        <p:nvSpPr>
          <p:cNvPr id="965" name="Cell 2-2"/>
          <p:cNvSpPr txBox="1"/>
          <p:nvPr/>
        </p:nvSpPr>
        <p:spPr>
          <a:xfrm>
            <a:off x="5394960" y="2624327"/>
            <a:ext cx="1371600" cy="365760"/>
          </a:xfrm>
          <a:prstGeom prst="rect">
            <a:avLst/>
          </a:prstGeom>
          <a:noFill/>
          <a:ln>
            <a:noFill/>
          </a:ln>
        </p:spPr>
        <p:txBody>
          <a:bodyPr wrap="square" lIns="73152" tIns="0" rIns="73152" bIns="0" anchor="ctr">
            <a:noAutofit/>
          </a:bodyPr>
          <a:lstStyle/>
          <a:p>
            <a:pPr algn="r"/>
            <a:r>
              <a:rPr lang="en-US" sz="1200" b="0" dirty="0">
                <a:solidFill>
                  <a:srgbClr val="1F2328"/>
                </a:solidFill>
                <a:latin typeface="Calibri"/>
                <a:cs typeface="Calibri"/>
              </a:rPr>
              <a:t xml:space="preserve">96</a:t>
            </a:r>
          </a:p>
        </p:txBody>
      </p:sp>
      <p:sp>
        <p:nvSpPr>
          <p:cNvPr id="966" name="Cell 2-3"/>
          <p:cNvSpPr txBox="1"/>
          <p:nvPr/>
        </p:nvSpPr>
        <p:spPr>
          <a:xfrm>
            <a:off x="6766560" y="2624327"/>
            <a:ext cx="1737360" cy="365760"/>
          </a:xfrm>
          <a:prstGeom prst="rect">
            <a:avLst/>
          </a:prstGeom>
          <a:noFill/>
          <a:ln>
            <a:noFill/>
          </a:ln>
        </p:spPr>
        <p:txBody>
          <a:bodyPr wrap="square" lIns="73152" tIns="0" rIns="73152" bIns="0" anchor="ctr">
            <a:noAutofit/>
          </a:bodyPr>
          <a:lstStyle/>
          <a:p>
            <a:pPr algn="r"/>
            <a:r>
              <a:rPr lang="en-US" sz="1200" b="0" dirty="0">
                <a:solidFill>
                  <a:srgbClr val="1F2328"/>
                </a:solidFill>
                <a:latin typeface="Calibri"/>
                <a:cs typeface="Calibri"/>
              </a:rPr>
              <a:t xml:space="preserve">1,290,000</a:t>
            </a:r>
          </a:p>
        </p:txBody>
      </p:sp>
      <p:sp>
        <p:nvSpPr>
          <p:cNvPr id="967" name="Cell 2-4"/>
          <p:cNvSpPr txBox="1"/>
          <p:nvPr/>
        </p:nvSpPr>
        <p:spPr>
          <a:xfrm>
            <a:off x="8503920" y="2624327"/>
            <a:ext cx="1371600" cy="365760"/>
          </a:xfrm>
          <a:prstGeom prst="rect">
            <a:avLst/>
          </a:prstGeom>
          <a:noFill/>
          <a:ln>
            <a:noFill/>
          </a:ln>
        </p:spPr>
        <p:txBody>
          <a:bodyPr wrap="square" lIns="73152" tIns="0" rIns="73152" bIns="0" anchor="ctr">
            <a:noAutofit/>
          </a:bodyPr>
          <a:lstStyle/>
          <a:p>
            <a:pPr algn="r"/>
            <a:r>
              <a:rPr lang="en-US" sz="1200" b="0" dirty="0">
                <a:solidFill>
                  <a:srgbClr val="1F2328"/>
                </a:solidFill>
                <a:latin typeface="Calibri"/>
                <a:cs typeface="Calibri"/>
              </a:rPr>
              <a:t xml:space="preserve">$0.08</a:t>
            </a:r>
          </a:p>
        </p:txBody>
      </p:sp>
      <p:sp>
        <p:nvSpPr>
          <p:cNvPr id="968" name="Cell 2-5"/>
          <p:cNvSpPr txBox="1"/>
          <p:nvPr/>
        </p:nvSpPr>
        <p:spPr>
          <a:xfrm>
            <a:off x="9875520" y="2624327"/>
            <a:ext cx="1463040" cy="365760"/>
          </a:xfrm>
          <a:prstGeom prst="rect">
            <a:avLst/>
          </a:prstGeom>
          <a:noFill/>
          <a:ln>
            <a:noFill/>
          </a:ln>
        </p:spPr>
        <p:txBody>
          <a:bodyPr wrap="square" lIns="73152" tIns="0" rIns="73152" bIns="0" anchor="ctr">
            <a:noAutofit/>
          </a:bodyPr>
          <a:lstStyle/>
          <a:p>
            <a:pPr algn="r"/>
            <a:r>
              <a:rPr lang="en-US" sz="1200" b="0" dirty="0">
                <a:solidFill>
                  <a:srgbClr val="1F2328"/>
                </a:solidFill>
                <a:latin typeface="Calibri"/>
                <a:cs typeface="Calibri"/>
              </a:rPr>
              <a:t xml:space="preserve">188.4</a:t>
            </a:r>
          </a:p>
        </p:txBody>
      </p:sp>
      <p:sp>
        <p:nvSpPr>
          <p:cNvPr id="969" name="Cell 3-0"/>
          <p:cNvSpPr txBox="1"/>
          <p:nvPr/>
        </p:nvSpPr>
        <p:spPr>
          <a:xfrm>
            <a:off x="822960" y="2990088"/>
            <a:ext cx="2103120" cy="365760"/>
          </a:xfrm>
          <a:prstGeom prst="rect">
            <a:avLst/>
          </a:prstGeom>
          <a:noFill/>
          <a:ln>
            <a:noFill/>
          </a:ln>
        </p:spPr>
        <p:txBody>
          <a:bodyPr wrap="square" lIns="73152" tIns="0" rIns="73152" bIns="0" anchor="ctr">
            <a:noAutofit/>
          </a:bodyPr>
          <a:lstStyle/>
          <a:p>
            <a:pPr algn="l"/>
            <a:r>
              <a:rPr lang="en-US" sz="1200" b="0" dirty="0">
                <a:solidFill>
                  <a:srgbClr val="1F2328"/>
                </a:solidFill>
                <a:latin typeface="Calibri"/>
                <a:cs typeface="Calibri"/>
              </a:rPr>
              <a:t xml:space="preserve">eICU-CRD</a:t>
            </a:r>
          </a:p>
        </p:txBody>
      </p:sp>
      <p:sp>
        <p:nvSpPr>
          <p:cNvPr id="970" name="Cell 3-1"/>
          <p:cNvSpPr txBox="1"/>
          <p:nvPr/>
        </p:nvSpPr>
        <p:spPr>
          <a:xfrm>
            <a:off x="2926079" y="2990088"/>
            <a:ext cx="2468880" cy="365760"/>
          </a:xfrm>
          <a:prstGeom prst="rect">
            <a:avLst/>
          </a:prstGeom>
          <a:noFill/>
          <a:ln>
            <a:noFill/>
          </a:ln>
        </p:spPr>
        <p:txBody>
          <a:bodyPr wrap="square" lIns="73152" tIns="0" rIns="73152" bIns="0" anchor="ctr">
            <a:noAutofit/>
          </a:bodyPr>
          <a:lstStyle/>
          <a:p>
            <a:pPr algn="l"/>
            <a:r>
              <a:rPr lang="en-US" sz="1200" b="0" dirty="0">
                <a:solidFill>
                  <a:srgbClr val="1F2328"/>
                </a:solidFill>
                <a:latin typeface="Calibri"/>
                <a:cs typeface="Calibri"/>
              </a:rPr>
              <a:t xml:space="preserve">DeepSeek-V3</a:t>
            </a:r>
          </a:p>
        </p:txBody>
      </p:sp>
      <p:sp>
        <p:nvSpPr>
          <p:cNvPr id="971" name="Cell 3-2"/>
          <p:cNvSpPr txBox="1"/>
          <p:nvPr/>
        </p:nvSpPr>
        <p:spPr>
          <a:xfrm>
            <a:off x="5394960" y="2990088"/>
            <a:ext cx="1371600" cy="365760"/>
          </a:xfrm>
          <a:prstGeom prst="rect">
            <a:avLst/>
          </a:prstGeom>
          <a:noFill/>
          <a:ln>
            <a:noFill/>
          </a:ln>
        </p:spPr>
        <p:txBody>
          <a:bodyPr wrap="square" lIns="73152" tIns="0" rIns="73152" bIns="0" anchor="ctr">
            <a:noAutofit/>
          </a:bodyPr>
          <a:lstStyle/>
          <a:p>
            <a:pPr algn="r"/>
            <a:r>
              <a:rPr lang="en-US" sz="1200" b="0" dirty="0">
                <a:solidFill>
                  <a:srgbClr val="1F2328"/>
                </a:solidFill>
                <a:latin typeface="Calibri"/>
                <a:cs typeface="Calibri"/>
              </a:rPr>
              <a:t xml:space="preserve">52</a:t>
            </a:r>
          </a:p>
        </p:txBody>
      </p:sp>
      <p:sp>
        <p:nvSpPr>
          <p:cNvPr id="972" name="Cell 3-3"/>
          <p:cNvSpPr txBox="1"/>
          <p:nvPr/>
        </p:nvSpPr>
        <p:spPr>
          <a:xfrm>
            <a:off x="6766560" y="2990088"/>
            <a:ext cx="1737360" cy="365760"/>
          </a:xfrm>
          <a:prstGeom prst="rect">
            <a:avLst/>
          </a:prstGeom>
          <a:noFill/>
          <a:ln>
            <a:noFill/>
          </a:ln>
        </p:spPr>
        <p:txBody>
          <a:bodyPr wrap="square" lIns="73152" tIns="0" rIns="73152" bIns="0" anchor="ctr">
            <a:noAutofit/>
          </a:bodyPr>
          <a:lstStyle/>
          <a:p>
            <a:pPr algn="r"/>
            <a:r>
              <a:rPr lang="en-US" sz="1200" b="0" dirty="0">
                <a:solidFill>
                  <a:srgbClr val="1F2328"/>
                </a:solidFill>
                <a:latin typeface="Calibri"/>
                <a:cs typeface="Calibri"/>
              </a:rPr>
              <a:t xml:space="preserve">334,000</a:t>
            </a:r>
          </a:p>
        </p:txBody>
      </p:sp>
      <p:sp>
        <p:nvSpPr>
          <p:cNvPr id="973" name="Cell 3-4"/>
          <p:cNvSpPr txBox="1"/>
          <p:nvPr/>
        </p:nvSpPr>
        <p:spPr>
          <a:xfrm>
            <a:off x="8503920" y="2990088"/>
            <a:ext cx="1371600" cy="365760"/>
          </a:xfrm>
          <a:prstGeom prst="rect">
            <a:avLst/>
          </a:prstGeom>
          <a:noFill/>
          <a:ln>
            <a:noFill/>
          </a:ln>
        </p:spPr>
        <p:txBody>
          <a:bodyPr wrap="square" lIns="73152" tIns="0" rIns="73152" bIns="0" anchor="ctr">
            <a:noAutofit/>
          </a:bodyPr>
          <a:lstStyle/>
          <a:p>
            <a:pPr algn="r"/>
            <a:r>
              <a:rPr lang="en-US" sz="1200" b="0" dirty="0">
                <a:solidFill>
                  <a:srgbClr val="1F2328"/>
                </a:solidFill>
                <a:latin typeface="Calibri"/>
                <a:cs typeface="Calibri"/>
              </a:rPr>
              <a:t xml:space="preserve">$0.18</a:t>
            </a:r>
          </a:p>
        </p:txBody>
      </p:sp>
      <p:sp>
        <p:nvSpPr>
          <p:cNvPr id="974" name="Cell 3-5"/>
          <p:cNvSpPr txBox="1"/>
          <p:nvPr/>
        </p:nvSpPr>
        <p:spPr>
          <a:xfrm>
            <a:off x="9875520" y="2990088"/>
            <a:ext cx="1463040" cy="365760"/>
          </a:xfrm>
          <a:prstGeom prst="rect">
            <a:avLst/>
          </a:prstGeom>
          <a:noFill/>
          <a:ln>
            <a:noFill/>
          </a:ln>
        </p:spPr>
        <p:txBody>
          <a:bodyPr wrap="square" lIns="73152" tIns="0" rIns="73152" bIns="0" anchor="ctr">
            <a:noAutofit/>
          </a:bodyPr>
          <a:lstStyle/>
          <a:p>
            <a:pPr algn="r"/>
            <a:r>
              <a:rPr lang="en-US" sz="1200" b="0" dirty="0">
                <a:solidFill>
                  <a:srgbClr val="1F2328"/>
                </a:solidFill>
                <a:latin typeface="Calibri"/>
                <a:cs typeface="Calibri"/>
              </a:rPr>
              <a:t xml:space="preserve">20.6</a:t>
            </a:r>
          </a:p>
        </p:txBody>
      </p:sp>
      <p:sp>
        <p:nvSpPr>
          <p:cNvPr id="975" name="Row tint"/>
          <p:cNvSpPr/>
          <p:nvPr/>
        </p:nvSpPr>
        <p:spPr>
          <a:xfrm>
            <a:off x="822960" y="3355848"/>
            <a:ext cx="10515600" cy="365760"/>
          </a:xfrm>
          <a:prstGeom prst="rect">
            <a:avLst/>
          </a:prstGeom>
          <a:solidFill>
            <a:srgbClr val="F3F5F4"/>
          </a:solidFill>
          <a:ln>
            <a:noFill/>
          </a:ln>
        </p:spPr>
        <p:txBody>
          <a:bodyPr wrap="square" lIns="0" tIns="0" rIns="0" bIns="0" anchor="t">
            <a:noAutofit/>
          </a:bodyPr>
          <a:lstStyle/>
          <a:p>
            <a:pPr algn="l"/>
          </a:p>
        </p:txBody>
      </p:sp>
      <p:sp>
        <p:nvSpPr>
          <p:cNvPr id="976" name="Cell 4-0"/>
          <p:cNvSpPr txBox="1"/>
          <p:nvPr/>
        </p:nvSpPr>
        <p:spPr>
          <a:xfrm>
            <a:off x="822960" y="3355848"/>
            <a:ext cx="2103120" cy="365760"/>
          </a:xfrm>
          <a:prstGeom prst="rect">
            <a:avLst/>
          </a:prstGeom>
          <a:noFill/>
          <a:ln>
            <a:noFill/>
          </a:ln>
        </p:spPr>
        <p:txBody>
          <a:bodyPr wrap="square" lIns="73152" tIns="0" rIns="73152" bIns="0" anchor="ctr">
            <a:noAutofit/>
          </a:bodyPr>
          <a:lstStyle/>
          <a:p>
            <a:pPr algn="l"/>
            <a:r>
              <a:rPr lang="en-US" sz="1200" b="0" dirty="0">
                <a:solidFill>
                  <a:srgbClr val="1F2328"/>
                </a:solidFill>
                <a:latin typeface="Calibri"/>
                <a:cs typeface="Calibri"/>
              </a:rPr>
              <a:t xml:space="preserve">Liver cancer</a:t>
            </a:r>
          </a:p>
        </p:txBody>
      </p:sp>
      <p:sp>
        <p:nvSpPr>
          <p:cNvPr id="977" name="Cell 4-1"/>
          <p:cNvSpPr txBox="1"/>
          <p:nvPr/>
        </p:nvSpPr>
        <p:spPr>
          <a:xfrm>
            <a:off x="2926079" y="3355848"/>
            <a:ext cx="2468880" cy="365760"/>
          </a:xfrm>
          <a:prstGeom prst="rect">
            <a:avLst/>
          </a:prstGeom>
          <a:noFill/>
          <a:ln>
            <a:noFill/>
          </a:ln>
        </p:spPr>
        <p:txBody>
          <a:bodyPr wrap="square" lIns="73152" tIns="0" rIns="73152" bIns="0" anchor="ctr">
            <a:noAutofit/>
          </a:bodyPr>
          <a:lstStyle/>
          <a:p>
            <a:pPr algn="l"/>
            <a:r>
              <a:rPr lang="en-US" sz="1200" b="0" dirty="0">
                <a:solidFill>
                  <a:srgbClr val="1F2328"/>
                </a:solidFill>
                <a:latin typeface="Calibri"/>
                <a:cs typeface="Calibri"/>
              </a:rPr>
              <a:t xml:space="preserve">Claude Opus 4.6</a:t>
            </a:r>
          </a:p>
        </p:txBody>
      </p:sp>
      <p:sp>
        <p:nvSpPr>
          <p:cNvPr id="978" name="Cell 4-2"/>
          <p:cNvSpPr txBox="1"/>
          <p:nvPr/>
        </p:nvSpPr>
        <p:spPr>
          <a:xfrm>
            <a:off x="5394960" y="3355848"/>
            <a:ext cx="1371600" cy="365760"/>
          </a:xfrm>
          <a:prstGeom prst="rect">
            <a:avLst/>
          </a:prstGeom>
          <a:noFill/>
          <a:ln>
            <a:noFill/>
          </a:ln>
        </p:spPr>
        <p:txBody>
          <a:bodyPr wrap="square" lIns="73152" tIns="0" rIns="73152" bIns="0" anchor="ctr">
            <a:noAutofit/>
          </a:bodyPr>
          <a:lstStyle/>
          <a:p>
            <a:pPr algn="r"/>
            <a:r>
              <a:rPr lang="en-US" sz="1200" b="0" dirty="0">
                <a:solidFill>
                  <a:srgbClr val="1F2328"/>
                </a:solidFill>
                <a:latin typeface="Calibri"/>
                <a:cs typeface="Calibri"/>
              </a:rPr>
              <a:t xml:space="preserve">70</a:t>
            </a:r>
          </a:p>
        </p:txBody>
      </p:sp>
      <p:sp>
        <p:nvSpPr>
          <p:cNvPr id="979" name="Cell 4-3"/>
          <p:cNvSpPr txBox="1"/>
          <p:nvPr/>
        </p:nvSpPr>
        <p:spPr>
          <a:xfrm>
            <a:off x="6766560" y="3355848"/>
            <a:ext cx="1737360" cy="365760"/>
          </a:xfrm>
          <a:prstGeom prst="rect">
            <a:avLst/>
          </a:prstGeom>
          <a:noFill/>
          <a:ln>
            <a:noFill/>
          </a:ln>
        </p:spPr>
        <p:txBody>
          <a:bodyPr wrap="square" lIns="73152" tIns="0" rIns="73152" bIns="0" anchor="ctr">
            <a:noAutofit/>
          </a:bodyPr>
          <a:lstStyle/>
          <a:p>
            <a:pPr algn="r"/>
            <a:r>
              <a:rPr lang="en-US" sz="1200" b="0" dirty="0">
                <a:solidFill>
                  <a:srgbClr val="1F2328"/>
                </a:solidFill>
                <a:latin typeface="Calibri"/>
                <a:cs typeface="Calibri"/>
              </a:rPr>
              <a:t xml:space="preserve">731,000</a:t>
            </a:r>
          </a:p>
        </p:txBody>
      </p:sp>
      <p:sp>
        <p:nvSpPr>
          <p:cNvPr id="980" name="Cell 4-4"/>
          <p:cNvSpPr txBox="1"/>
          <p:nvPr/>
        </p:nvSpPr>
        <p:spPr>
          <a:xfrm>
            <a:off x="8503920" y="3355848"/>
            <a:ext cx="1371600" cy="365760"/>
          </a:xfrm>
          <a:prstGeom prst="rect">
            <a:avLst/>
          </a:prstGeom>
          <a:noFill/>
          <a:ln>
            <a:noFill/>
          </a:ln>
        </p:spPr>
        <p:txBody>
          <a:bodyPr wrap="square" lIns="73152" tIns="0" rIns="73152" bIns="0" anchor="ctr">
            <a:noAutofit/>
          </a:bodyPr>
          <a:lstStyle/>
          <a:p>
            <a:pPr algn="r"/>
            <a:r>
              <a:rPr lang="en-US" sz="1200" b="0" dirty="0">
                <a:solidFill>
                  <a:srgbClr val="1F2328"/>
                </a:solidFill>
                <a:latin typeface="Calibri"/>
                <a:cs typeface="Calibri"/>
              </a:rPr>
              <a:t xml:space="preserve">$10.30</a:t>
            </a:r>
          </a:p>
        </p:txBody>
      </p:sp>
      <p:sp>
        <p:nvSpPr>
          <p:cNvPr id="981" name="Cell 4-5"/>
          <p:cNvSpPr txBox="1"/>
          <p:nvPr/>
        </p:nvSpPr>
        <p:spPr>
          <a:xfrm>
            <a:off x="9875520" y="3355848"/>
            <a:ext cx="1463040" cy="365760"/>
          </a:xfrm>
          <a:prstGeom prst="rect">
            <a:avLst/>
          </a:prstGeom>
          <a:noFill/>
          <a:ln>
            <a:noFill/>
          </a:ln>
        </p:spPr>
        <p:txBody>
          <a:bodyPr wrap="square" lIns="73152" tIns="0" rIns="73152" bIns="0" anchor="ctr">
            <a:noAutofit/>
          </a:bodyPr>
          <a:lstStyle/>
          <a:p>
            <a:pPr algn="r"/>
            <a:r>
              <a:rPr lang="en-US" sz="1200" b="0" dirty="0">
                <a:solidFill>
                  <a:srgbClr val="1F2328"/>
                </a:solidFill>
                <a:latin typeface="Calibri"/>
                <a:cs typeface="Calibri"/>
              </a:rPr>
              <a:t xml:space="preserve">94.4</a:t>
            </a:r>
          </a:p>
        </p:txBody>
      </p:sp>
      <p:sp>
        <p:nvSpPr>
          <p:cNvPr id="982" name="Cell 5-0"/>
          <p:cNvSpPr txBox="1"/>
          <p:nvPr/>
        </p:nvSpPr>
        <p:spPr>
          <a:xfrm>
            <a:off x="822960" y="3721607"/>
            <a:ext cx="2103120" cy="365760"/>
          </a:xfrm>
          <a:prstGeom prst="rect">
            <a:avLst/>
          </a:prstGeom>
          <a:noFill/>
          <a:ln>
            <a:noFill/>
          </a:ln>
        </p:spPr>
        <p:txBody>
          <a:bodyPr wrap="square" lIns="73152" tIns="0" rIns="73152" bIns="0" anchor="ctr">
            <a:noAutofit/>
          </a:bodyPr>
          <a:lstStyle/>
          <a:p>
            <a:pPr algn="l"/>
            <a:r>
              <a:rPr lang="en-US" sz="1200" b="0" dirty="0">
                <a:solidFill>
                  <a:srgbClr val="1F2328"/>
                </a:solidFill>
                <a:latin typeface="Calibri"/>
                <a:cs typeface="Calibri"/>
              </a:rPr>
              <a:t xml:space="preserve">Liver cancer</a:t>
            </a:r>
          </a:p>
        </p:txBody>
      </p:sp>
      <p:sp>
        <p:nvSpPr>
          <p:cNvPr id="983" name="Cell 5-1"/>
          <p:cNvSpPr txBox="1"/>
          <p:nvPr/>
        </p:nvSpPr>
        <p:spPr>
          <a:xfrm>
            <a:off x="2926079" y="3721607"/>
            <a:ext cx="2468880" cy="365760"/>
          </a:xfrm>
          <a:prstGeom prst="rect">
            <a:avLst/>
          </a:prstGeom>
          <a:noFill/>
          <a:ln>
            <a:noFill/>
          </a:ln>
        </p:spPr>
        <p:txBody>
          <a:bodyPr wrap="square" lIns="73152" tIns="0" rIns="73152" bIns="0" anchor="ctr">
            <a:noAutofit/>
          </a:bodyPr>
          <a:lstStyle/>
          <a:p>
            <a:pPr algn="l"/>
            <a:r>
              <a:rPr lang="en-US" sz="1200" b="0" dirty="0">
                <a:solidFill>
                  <a:srgbClr val="1F2328"/>
                </a:solidFill>
                <a:latin typeface="Calibri"/>
                <a:cs typeface="Calibri"/>
              </a:rPr>
              <a:t xml:space="preserve">Mistral-Small-24B</a:t>
            </a:r>
          </a:p>
        </p:txBody>
      </p:sp>
      <p:sp>
        <p:nvSpPr>
          <p:cNvPr id="984" name="Cell 5-2"/>
          <p:cNvSpPr txBox="1"/>
          <p:nvPr/>
        </p:nvSpPr>
        <p:spPr>
          <a:xfrm>
            <a:off x="5394960" y="3721607"/>
            <a:ext cx="1371600" cy="365760"/>
          </a:xfrm>
          <a:prstGeom prst="rect">
            <a:avLst/>
          </a:prstGeom>
          <a:noFill/>
          <a:ln>
            <a:noFill/>
          </a:ln>
        </p:spPr>
        <p:txBody>
          <a:bodyPr wrap="square" lIns="73152" tIns="0" rIns="73152" bIns="0" anchor="ctr">
            <a:noAutofit/>
          </a:bodyPr>
          <a:lstStyle/>
          <a:p>
            <a:pPr algn="r"/>
            <a:r>
              <a:rPr lang="en-US" sz="1200" b="0" dirty="0">
                <a:solidFill>
                  <a:srgbClr val="1F2328"/>
                </a:solidFill>
                <a:latin typeface="Calibri"/>
                <a:cs typeface="Calibri"/>
              </a:rPr>
              <a:t xml:space="preserve">34</a:t>
            </a:r>
          </a:p>
        </p:txBody>
      </p:sp>
      <p:sp>
        <p:nvSpPr>
          <p:cNvPr id="985" name="Cell 5-3"/>
          <p:cNvSpPr txBox="1"/>
          <p:nvPr/>
        </p:nvSpPr>
        <p:spPr>
          <a:xfrm>
            <a:off x="6766560" y="3721607"/>
            <a:ext cx="1737360" cy="365760"/>
          </a:xfrm>
          <a:prstGeom prst="rect">
            <a:avLst/>
          </a:prstGeom>
          <a:noFill/>
          <a:ln>
            <a:noFill/>
          </a:ln>
        </p:spPr>
        <p:txBody>
          <a:bodyPr wrap="square" lIns="73152" tIns="0" rIns="73152" bIns="0" anchor="ctr">
            <a:noAutofit/>
          </a:bodyPr>
          <a:lstStyle/>
          <a:p>
            <a:pPr algn="r"/>
            <a:r>
              <a:rPr lang="en-US" sz="1200" b="0" dirty="0">
                <a:solidFill>
                  <a:srgbClr val="1F2328"/>
                </a:solidFill>
                <a:latin typeface="Calibri"/>
                <a:cs typeface="Calibri"/>
              </a:rPr>
              <a:t xml:space="preserve">246,000</a:t>
            </a:r>
          </a:p>
        </p:txBody>
      </p:sp>
      <p:sp>
        <p:nvSpPr>
          <p:cNvPr id="986" name="Cell 5-4"/>
          <p:cNvSpPr txBox="1"/>
          <p:nvPr/>
        </p:nvSpPr>
        <p:spPr>
          <a:xfrm>
            <a:off x="8503920" y="3721607"/>
            <a:ext cx="1371600" cy="365760"/>
          </a:xfrm>
          <a:prstGeom prst="rect">
            <a:avLst/>
          </a:prstGeom>
          <a:noFill/>
          <a:ln>
            <a:noFill/>
          </a:ln>
        </p:spPr>
        <p:txBody>
          <a:bodyPr wrap="square" lIns="73152" tIns="0" rIns="73152" bIns="0" anchor="ctr">
            <a:noAutofit/>
          </a:bodyPr>
          <a:lstStyle/>
          <a:p>
            <a:pPr algn="r"/>
            <a:r>
              <a:rPr lang="en-US" sz="1200" b="0" dirty="0">
                <a:solidFill>
                  <a:srgbClr val="1F2328"/>
                </a:solidFill>
                <a:latin typeface="Calibri"/>
                <a:cs typeface="Calibri"/>
              </a:rPr>
              <a:t xml:space="preserve">$0.02</a:t>
            </a:r>
          </a:p>
        </p:txBody>
      </p:sp>
      <p:sp>
        <p:nvSpPr>
          <p:cNvPr id="987" name="Cell 5-5"/>
          <p:cNvSpPr txBox="1"/>
          <p:nvPr/>
        </p:nvSpPr>
        <p:spPr>
          <a:xfrm>
            <a:off x="9875520" y="3721607"/>
            <a:ext cx="1463040" cy="365760"/>
          </a:xfrm>
          <a:prstGeom prst="rect">
            <a:avLst/>
          </a:prstGeom>
          <a:noFill/>
          <a:ln>
            <a:noFill/>
          </a:ln>
        </p:spPr>
        <p:txBody>
          <a:bodyPr wrap="square" lIns="73152" tIns="0" rIns="73152" bIns="0" anchor="ctr">
            <a:noAutofit/>
          </a:bodyPr>
          <a:lstStyle/>
          <a:p>
            <a:pPr algn="r"/>
            <a:r>
              <a:rPr lang="en-US" sz="1200" b="0" dirty="0">
                <a:solidFill>
                  <a:srgbClr val="1F2328"/>
                </a:solidFill>
                <a:latin typeface="Calibri"/>
                <a:cs typeface="Calibri"/>
              </a:rPr>
              <a:t xml:space="preserve">20.5</a:t>
            </a:r>
          </a:p>
        </p:txBody>
      </p:sp>
      <p:sp>
        <p:nvSpPr>
          <p:cNvPr id="988" name="Row tint"/>
          <p:cNvSpPr/>
          <p:nvPr/>
        </p:nvSpPr>
        <p:spPr>
          <a:xfrm>
            <a:off x="822960" y="4087368"/>
            <a:ext cx="10515600" cy="365760"/>
          </a:xfrm>
          <a:prstGeom prst="rect">
            <a:avLst/>
          </a:prstGeom>
          <a:solidFill>
            <a:srgbClr val="F3F5F4"/>
          </a:solidFill>
          <a:ln>
            <a:noFill/>
          </a:ln>
        </p:spPr>
        <p:txBody>
          <a:bodyPr wrap="square" lIns="0" tIns="0" rIns="0" bIns="0" anchor="t">
            <a:noAutofit/>
          </a:bodyPr>
          <a:lstStyle/>
          <a:p>
            <a:pPr algn="l"/>
          </a:p>
        </p:txBody>
      </p:sp>
      <p:sp>
        <p:nvSpPr>
          <p:cNvPr id="989" name="Cell 6-0"/>
          <p:cNvSpPr txBox="1"/>
          <p:nvPr/>
        </p:nvSpPr>
        <p:spPr>
          <a:xfrm>
            <a:off x="822960" y="4087368"/>
            <a:ext cx="2103120" cy="365760"/>
          </a:xfrm>
          <a:prstGeom prst="rect">
            <a:avLst/>
          </a:prstGeom>
          <a:noFill/>
          <a:ln>
            <a:noFill/>
          </a:ln>
        </p:spPr>
        <p:txBody>
          <a:bodyPr wrap="square" lIns="73152" tIns="0" rIns="73152" bIns="0" anchor="ctr">
            <a:noAutofit/>
          </a:bodyPr>
          <a:lstStyle/>
          <a:p>
            <a:pPr algn="l"/>
            <a:r>
              <a:rPr lang="en-US" sz="1200" b="0" dirty="0">
                <a:solidFill>
                  <a:srgbClr val="1F2328"/>
                </a:solidFill>
                <a:latin typeface="Calibri"/>
                <a:cs typeface="Calibri"/>
              </a:rPr>
              <a:t xml:space="preserve">Liver cancer</a:t>
            </a:r>
          </a:p>
        </p:txBody>
      </p:sp>
      <p:sp>
        <p:nvSpPr>
          <p:cNvPr id="990" name="Cell 6-1"/>
          <p:cNvSpPr txBox="1"/>
          <p:nvPr/>
        </p:nvSpPr>
        <p:spPr>
          <a:xfrm>
            <a:off x="2926079" y="4087368"/>
            <a:ext cx="2468880" cy="365760"/>
          </a:xfrm>
          <a:prstGeom prst="rect">
            <a:avLst/>
          </a:prstGeom>
          <a:noFill/>
          <a:ln>
            <a:noFill/>
          </a:ln>
        </p:spPr>
        <p:txBody>
          <a:bodyPr wrap="square" lIns="73152" tIns="0" rIns="73152" bIns="0" anchor="ctr">
            <a:noAutofit/>
          </a:bodyPr>
          <a:lstStyle/>
          <a:p>
            <a:pPr algn="l"/>
            <a:r>
              <a:rPr lang="en-US" sz="1200" b="0" dirty="0">
                <a:solidFill>
                  <a:srgbClr val="1F2328"/>
                </a:solidFill>
                <a:latin typeface="Calibri"/>
                <a:cs typeface="Calibri"/>
              </a:rPr>
              <a:t xml:space="preserve">DeepSeek-V3</a:t>
            </a:r>
          </a:p>
        </p:txBody>
      </p:sp>
      <p:sp>
        <p:nvSpPr>
          <p:cNvPr id="991" name="Cell 6-2"/>
          <p:cNvSpPr txBox="1"/>
          <p:nvPr/>
        </p:nvSpPr>
        <p:spPr>
          <a:xfrm>
            <a:off x="5394960" y="4087368"/>
            <a:ext cx="1371600" cy="365760"/>
          </a:xfrm>
          <a:prstGeom prst="rect">
            <a:avLst/>
          </a:prstGeom>
          <a:noFill/>
          <a:ln>
            <a:noFill/>
          </a:ln>
        </p:spPr>
        <p:txBody>
          <a:bodyPr wrap="square" lIns="73152" tIns="0" rIns="73152" bIns="0" anchor="ctr">
            <a:noAutofit/>
          </a:bodyPr>
          <a:lstStyle/>
          <a:p>
            <a:pPr algn="r"/>
            <a:r>
              <a:rPr lang="en-US" sz="1200" b="0" dirty="0">
                <a:solidFill>
                  <a:srgbClr val="1F2328"/>
                </a:solidFill>
                <a:latin typeface="Calibri"/>
                <a:cs typeface="Calibri"/>
              </a:rPr>
              <a:t xml:space="preserve">33</a:t>
            </a:r>
          </a:p>
        </p:txBody>
      </p:sp>
      <p:sp>
        <p:nvSpPr>
          <p:cNvPr id="992" name="Cell 6-3"/>
          <p:cNvSpPr txBox="1"/>
          <p:nvPr/>
        </p:nvSpPr>
        <p:spPr>
          <a:xfrm>
            <a:off x="6766560" y="4087368"/>
            <a:ext cx="1737360" cy="365760"/>
          </a:xfrm>
          <a:prstGeom prst="rect">
            <a:avLst/>
          </a:prstGeom>
          <a:noFill/>
          <a:ln>
            <a:noFill/>
          </a:ln>
        </p:spPr>
        <p:txBody>
          <a:bodyPr wrap="square" lIns="73152" tIns="0" rIns="73152" bIns="0" anchor="ctr">
            <a:noAutofit/>
          </a:bodyPr>
          <a:lstStyle/>
          <a:p>
            <a:pPr algn="r"/>
            <a:r>
              <a:rPr lang="en-US" sz="1200" b="0" dirty="0">
                <a:solidFill>
                  <a:srgbClr val="1F2328"/>
                </a:solidFill>
                <a:latin typeface="Calibri"/>
                <a:cs typeface="Calibri"/>
              </a:rPr>
              <a:t xml:space="preserve">142,000</a:t>
            </a:r>
          </a:p>
        </p:txBody>
      </p:sp>
      <p:sp>
        <p:nvSpPr>
          <p:cNvPr id="993" name="Cell 6-4"/>
          <p:cNvSpPr txBox="1"/>
          <p:nvPr/>
        </p:nvSpPr>
        <p:spPr>
          <a:xfrm>
            <a:off x="8503920" y="4087368"/>
            <a:ext cx="1371600" cy="365760"/>
          </a:xfrm>
          <a:prstGeom prst="rect">
            <a:avLst/>
          </a:prstGeom>
          <a:noFill/>
          <a:ln>
            <a:noFill/>
          </a:ln>
        </p:spPr>
        <p:txBody>
          <a:bodyPr wrap="square" lIns="73152" tIns="0" rIns="73152" bIns="0" anchor="ctr">
            <a:noAutofit/>
          </a:bodyPr>
          <a:lstStyle/>
          <a:p>
            <a:pPr algn="r"/>
            <a:r>
              <a:rPr lang="en-US" sz="1200" b="0" dirty="0">
                <a:solidFill>
                  <a:srgbClr val="1F2328"/>
                </a:solidFill>
                <a:latin typeface="Calibri"/>
                <a:cs typeface="Calibri"/>
              </a:rPr>
              <a:t xml:space="preserve">$0.07</a:t>
            </a:r>
          </a:p>
        </p:txBody>
      </p:sp>
      <p:sp>
        <p:nvSpPr>
          <p:cNvPr id="994" name="Cell 6-5"/>
          <p:cNvSpPr txBox="1"/>
          <p:nvPr/>
        </p:nvSpPr>
        <p:spPr>
          <a:xfrm>
            <a:off x="9875520" y="4087368"/>
            <a:ext cx="1463040" cy="365760"/>
          </a:xfrm>
          <a:prstGeom prst="rect">
            <a:avLst/>
          </a:prstGeom>
          <a:noFill/>
          <a:ln>
            <a:noFill/>
          </a:ln>
        </p:spPr>
        <p:txBody>
          <a:bodyPr wrap="square" lIns="73152" tIns="0" rIns="73152" bIns="0" anchor="ctr">
            <a:noAutofit/>
          </a:bodyPr>
          <a:lstStyle/>
          <a:p>
            <a:pPr algn="r"/>
            <a:r>
              <a:rPr lang="en-US" sz="1200" b="0" dirty="0">
                <a:solidFill>
                  <a:srgbClr val="1F2328"/>
                </a:solidFill>
                <a:latin typeface="Calibri"/>
                <a:cs typeface="Calibri"/>
              </a:rPr>
              <a:t xml:space="preserve">23.8</a:t>
            </a:r>
          </a:p>
        </p:txBody>
      </p:sp>
      <p:sp>
        <p:nvSpPr>
          <p:cNvPr id="995" name="Cell 7-0"/>
          <p:cNvSpPr txBox="1"/>
          <p:nvPr/>
        </p:nvSpPr>
        <p:spPr>
          <a:xfrm>
            <a:off x="822960" y="4453127"/>
            <a:ext cx="2103120" cy="365760"/>
          </a:xfrm>
          <a:prstGeom prst="rect">
            <a:avLst/>
          </a:prstGeom>
          <a:noFill/>
          <a:ln>
            <a:noFill/>
          </a:ln>
        </p:spPr>
        <p:txBody>
          <a:bodyPr wrap="square" lIns="73152" tIns="0" rIns="73152" bIns="0" anchor="ctr">
            <a:noAutofit/>
          </a:bodyPr>
          <a:lstStyle/>
          <a:p>
            <a:pPr algn="l"/>
            <a:r>
              <a:rPr lang="en-US" sz="1200" b="0" dirty="0">
                <a:solidFill>
                  <a:srgbClr val="1F2328"/>
                </a:solidFill>
                <a:latin typeface="Calibri"/>
                <a:cs typeface="Calibri"/>
              </a:rPr>
              <a:t xml:space="preserve">Chinook</a:t>
            </a:r>
          </a:p>
        </p:txBody>
      </p:sp>
      <p:sp>
        <p:nvSpPr>
          <p:cNvPr id="996" name="Cell 7-1"/>
          <p:cNvSpPr txBox="1"/>
          <p:nvPr/>
        </p:nvSpPr>
        <p:spPr>
          <a:xfrm>
            <a:off x="2926079" y="4453127"/>
            <a:ext cx="2468880" cy="365760"/>
          </a:xfrm>
          <a:prstGeom prst="rect">
            <a:avLst/>
          </a:prstGeom>
          <a:noFill/>
          <a:ln>
            <a:noFill/>
          </a:ln>
        </p:spPr>
        <p:txBody>
          <a:bodyPr wrap="square" lIns="73152" tIns="0" rIns="73152" bIns="0" anchor="ctr">
            <a:noAutofit/>
          </a:bodyPr>
          <a:lstStyle/>
          <a:p>
            <a:pPr algn="l"/>
            <a:r>
              <a:rPr lang="en-US" sz="1200" b="0" dirty="0">
                <a:solidFill>
                  <a:srgbClr val="1F2328"/>
                </a:solidFill>
                <a:latin typeface="Calibri"/>
                <a:cs typeface="Calibri"/>
              </a:rPr>
              <a:t xml:space="preserve">Claude Opus 4.6</a:t>
            </a:r>
          </a:p>
        </p:txBody>
      </p:sp>
      <p:sp>
        <p:nvSpPr>
          <p:cNvPr id="997" name="Cell 7-2"/>
          <p:cNvSpPr txBox="1"/>
          <p:nvPr/>
        </p:nvSpPr>
        <p:spPr>
          <a:xfrm>
            <a:off x="5394960" y="4453127"/>
            <a:ext cx="1371600" cy="365760"/>
          </a:xfrm>
          <a:prstGeom prst="rect">
            <a:avLst/>
          </a:prstGeom>
          <a:noFill/>
          <a:ln>
            <a:noFill/>
          </a:ln>
        </p:spPr>
        <p:txBody>
          <a:bodyPr wrap="square" lIns="73152" tIns="0" rIns="73152" bIns="0" anchor="ctr">
            <a:noAutofit/>
          </a:bodyPr>
          <a:lstStyle/>
          <a:p>
            <a:pPr algn="r"/>
            <a:r>
              <a:rPr lang="en-US" sz="1200" b="0" dirty="0">
                <a:solidFill>
                  <a:srgbClr val="1F2328"/>
                </a:solidFill>
                <a:latin typeface="Calibri"/>
                <a:cs typeface="Calibri"/>
              </a:rPr>
              <a:t xml:space="preserve">24</a:t>
            </a:r>
          </a:p>
        </p:txBody>
      </p:sp>
      <p:sp>
        <p:nvSpPr>
          <p:cNvPr id="998" name="Cell 7-3"/>
          <p:cNvSpPr txBox="1"/>
          <p:nvPr/>
        </p:nvSpPr>
        <p:spPr>
          <a:xfrm>
            <a:off x="6766560" y="4453127"/>
            <a:ext cx="1737360" cy="365760"/>
          </a:xfrm>
          <a:prstGeom prst="rect">
            <a:avLst/>
          </a:prstGeom>
          <a:noFill/>
          <a:ln>
            <a:noFill/>
          </a:ln>
        </p:spPr>
        <p:txBody>
          <a:bodyPr wrap="square" lIns="73152" tIns="0" rIns="73152" bIns="0" anchor="ctr">
            <a:noAutofit/>
          </a:bodyPr>
          <a:lstStyle/>
          <a:p>
            <a:pPr algn="r"/>
            <a:r>
              <a:rPr lang="en-US" sz="1200" b="0" dirty="0">
                <a:solidFill>
                  <a:srgbClr val="1F2328"/>
                </a:solidFill>
                <a:latin typeface="Calibri"/>
                <a:cs typeface="Calibri"/>
              </a:rPr>
              <a:t xml:space="preserve">119,000</a:t>
            </a:r>
          </a:p>
        </p:txBody>
      </p:sp>
      <p:sp>
        <p:nvSpPr>
          <p:cNvPr id="999" name="Cell 7-4"/>
          <p:cNvSpPr txBox="1"/>
          <p:nvPr/>
        </p:nvSpPr>
        <p:spPr>
          <a:xfrm>
            <a:off x="8503920" y="4453127"/>
            <a:ext cx="1371600" cy="365760"/>
          </a:xfrm>
          <a:prstGeom prst="rect">
            <a:avLst/>
          </a:prstGeom>
          <a:noFill/>
          <a:ln>
            <a:noFill/>
          </a:ln>
        </p:spPr>
        <p:txBody>
          <a:bodyPr wrap="square" lIns="73152" tIns="0" rIns="73152" bIns="0" anchor="ctr">
            <a:noAutofit/>
          </a:bodyPr>
          <a:lstStyle/>
          <a:p>
            <a:pPr algn="r"/>
            <a:r>
              <a:rPr lang="en-US" sz="1200" b="0" dirty="0">
                <a:solidFill>
                  <a:srgbClr val="1F2328"/>
                </a:solidFill>
                <a:latin typeface="Calibri"/>
                <a:cs typeface="Calibri"/>
              </a:rPr>
              <a:t xml:space="preserve">$1.28</a:t>
            </a:r>
          </a:p>
        </p:txBody>
      </p:sp>
      <p:sp>
        <p:nvSpPr>
          <p:cNvPr id="1000" name="Cell 7-5"/>
          <p:cNvSpPr txBox="1"/>
          <p:nvPr/>
        </p:nvSpPr>
        <p:spPr>
          <a:xfrm>
            <a:off x="9875520" y="4453127"/>
            <a:ext cx="1463040" cy="365760"/>
          </a:xfrm>
          <a:prstGeom prst="rect">
            <a:avLst/>
          </a:prstGeom>
          <a:noFill/>
          <a:ln>
            <a:noFill/>
          </a:ln>
        </p:spPr>
        <p:txBody>
          <a:bodyPr wrap="square" lIns="73152" tIns="0" rIns="73152" bIns="0" anchor="ctr">
            <a:noAutofit/>
          </a:bodyPr>
          <a:lstStyle/>
          <a:p>
            <a:pPr algn="r"/>
            <a:r>
              <a:rPr lang="en-US" sz="1200" b="0" dirty="0">
                <a:solidFill>
                  <a:srgbClr val="1F2328"/>
                </a:solidFill>
                <a:latin typeface="Calibri"/>
                <a:cs typeface="Calibri"/>
              </a:rPr>
              <a:t xml:space="preserve">9.0</a:t>
            </a:r>
          </a:p>
        </p:txBody>
      </p:sp>
      <p:sp>
        <p:nvSpPr>
          <p:cNvPr id="1001" name="Row tint"/>
          <p:cNvSpPr/>
          <p:nvPr/>
        </p:nvSpPr>
        <p:spPr>
          <a:xfrm>
            <a:off x="822960" y="4818888"/>
            <a:ext cx="10515600" cy="365760"/>
          </a:xfrm>
          <a:prstGeom prst="rect">
            <a:avLst/>
          </a:prstGeom>
          <a:solidFill>
            <a:srgbClr val="F3F5F4"/>
          </a:solidFill>
          <a:ln>
            <a:noFill/>
          </a:ln>
        </p:spPr>
        <p:txBody>
          <a:bodyPr wrap="square" lIns="0" tIns="0" rIns="0" bIns="0" anchor="t">
            <a:noAutofit/>
          </a:bodyPr>
          <a:lstStyle/>
          <a:p>
            <a:pPr algn="l"/>
          </a:p>
        </p:txBody>
      </p:sp>
      <p:sp>
        <p:nvSpPr>
          <p:cNvPr id="1002" name="Cell 8-0"/>
          <p:cNvSpPr txBox="1"/>
          <p:nvPr/>
        </p:nvSpPr>
        <p:spPr>
          <a:xfrm>
            <a:off x="822960" y="4818888"/>
            <a:ext cx="2103120" cy="365760"/>
          </a:xfrm>
          <a:prstGeom prst="rect">
            <a:avLst/>
          </a:prstGeom>
          <a:noFill/>
          <a:ln>
            <a:noFill/>
          </a:ln>
        </p:spPr>
        <p:txBody>
          <a:bodyPr wrap="square" lIns="73152" tIns="0" rIns="73152" bIns="0" anchor="ctr">
            <a:noAutofit/>
          </a:bodyPr>
          <a:lstStyle/>
          <a:p>
            <a:pPr algn="l"/>
            <a:r>
              <a:rPr lang="en-US" sz="1200" b="0" dirty="0">
                <a:solidFill>
                  <a:srgbClr val="1F2328"/>
                </a:solidFill>
                <a:latin typeface="Calibri"/>
                <a:cs typeface="Calibri"/>
              </a:rPr>
              <a:t xml:space="preserve">Chinook</a:t>
            </a:r>
          </a:p>
        </p:txBody>
      </p:sp>
      <p:sp>
        <p:nvSpPr>
          <p:cNvPr id="1003" name="Cell 8-1"/>
          <p:cNvSpPr txBox="1"/>
          <p:nvPr/>
        </p:nvSpPr>
        <p:spPr>
          <a:xfrm>
            <a:off x="2926079" y="4818888"/>
            <a:ext cx="2468880" cy="365760"/>
          </a:xfrm>
          <a:prstGeom prst="rect">
            <a:avLst/>
          </a:prstGeom>
          <a:noFill/>
          <a:ln>
            <a:noFill/>
          </a:ln>
        </p:spPr>
        <p:txBody>
          <a:bodyPr wrap="square" lIns="73152" tIns="0" rIns="73152" bIns="0" anchor="ctr">
            <a:noAutofit/>
          </a:bodyPr>
          <a:lstStyle/>
          <a:p>
            <a:pPr algn="l"/>
            <a:r>
              <a:rPr lang="en-US" sz="1200" b="0" dirty="0">
                <a:solidFill>
                  <a:srgbClr val="1F2328"/>
                </a:solidFill>
                <a:latin typeface="Calibri"/>
                <a:cs typeface="Calibri"/>
              </a:rPr>
              <a:t xml:space="preserve">Mistral-Small-24B</a:t>
            </a:r>
          </a:p>
        </p:txBody>
      </p:sp>
      <p:sp>
        <p:nvSpPr>
          <p:cNvPr id="1004" name="Cell 8-2"/>
          <p:cNvSpPr txBox="1"/>
          <p:nvPr/>
        </p:nvSpPr>
        <p:spPr>
          <a:xfrm>
            <a:off x="5394960" y="4818888"/>
            <a:ext cx="1371600" cy="365760"/>
          </a:xfrm>
          <a:prstGeom prst="rect">
            <a:avLst/>
          </a:prstGeom>
          <a:noFill/>
          <a:ln>
            <a:noFill/>
          </a:ln>
        </p:spPr>
        <p:txBody>
          <a:bodyPr wrap="square" lIns="73152" tIns="0" rIns="73152" bIns="0" anchor="ctr">
            <a:noAutofit/>
          </a:bodyPr>
          <a:lstStyle/>
          <a:p>
            <a:pPr algn="r"/>
            <a:r>
              <a:rPr lang="en-US" sz="1200" b="0" dirty="0">
                <a:solidFill>
                  <a:srgbClr val="1F2328"/>
                </a:solidFill>
                <a:latin typeface="Calibri"/>
                <a:cs typeface="Calibri"/>
              </a:rPr>
              <a:t xml:space="preserve">53</a:t>
            </a:r>
          </a:p>
        </p:txBody>
      </p:sp>
      <p:sp>
        <p:nvSpPr>
          <p:cNvPr id="1005" name="Cell 8-3"/>
          <p:cNvSpPr txBox="1"/>
          <p:nvPr/>
        </p:nvSpPr>
        <p:spPr>
          <a:xfrm>
            <a:off x="6766560" y="4818888"/>
            <a:ext cx="1737360" cy="365760"/>
          </a:xfrm>
          <a:prstGeom prst="rect">
            <a:avLst/>
          </a:prstGeom>
          <a:noFill/>
          <a:ln>
            <a:noFill/>
          </a:ln>
        </p:spPr>
        <p:txBody>
          <a:bodyPr wrap="square" lIns="73152" tIns="0" rIns="73152" bIns="0" anchor="ctr">
            <a:noAutofit/>
          </a:bodyPr>
          <a:lstStyle/>
          <a:p>
            <a:pPr algn="r"/>
            <a:r>
              <a:rPr lang="en-US" sz="1200" b="0" dirty="0">
                <a:solidFill>
                  <a:srgbClr val="1F2328"/>
                </a:solidFill>
                <a:latin typeface="Calibri"/>
                <a:cs typeface="Calibri"/>
              </a:rPr>
              <a:t xml:space="preserve">344,000</a:t>
            </a:r>
          </a:p>
        </p:txBody>
      </p:sp>
      <p:sp>
        <p:nvSpPr>
          <p:cNvPr id="1006" name="Cell 8-4"/>
          <p:cNvSpPr txBox="1"/>
          <p:nvPr/>
        </p:nvSpPr>
        <p:spPr>
          <a:xfrm>
            <a:off x="8503920" y="4818888"/>
            <a:ext cx="1371600" cy="365760"/>
          </a:xfrm>
          <a:prstGeom prst="rect">
            <a:avLst/>
          </a:prstGeom>
          <a:noFill/>
          <a:ln>
            <a:noFill/>
          </a:ln>
        </p:spPr>
        <p:txBody>
          <a:bodyPr wrap="square" lIns="73152" tIns="0" rIns="73152" bIns="0" anchor="ctr">
            <a:noAutofit/>
          </a:bodyPr>
          <a:lstStyle/>
          <a:p>
            <a:pPr algn="r"/>
            <a:r>
              <a:rPr lang="en-US" sz="1200" b="0" dirty="0">
                <a:solidFill>
                  <a:srgbClr val="1F2328"/>
                </a:solidFill>
                <a:latin typeface="Calibri"/>
                <a:cs typeface="Calibri"/>
              </a:rPr>
              <a:t xml:space="preserve">$0.02</a:t>
            </a:r>
          </a:p>
        </p:txBody>
      </p:sp>
      <p:sp>
        <p:nvSpPr>
          <p:cNvPr id="1007" name="Cell 8-5"/>
          <p:cNvSpPr txBox="1"/>
          <p:nvPr/>
        </p:nvSpPr>
        <p:spPr>
          <a:xfrm>
            <a:off x="9875520" y="4818888"/>
            <a:ext cx="1463040" cy="365760"/>
          </a:xfrm>
          <a:prstGeom prst="rect">
            <a:avLst/>
          </a:prstGeom>
          <a:noFill/>
          <a:ln>
            <a:noFill/>
          </a:ln>
        </p:spPr>
        <p:txBody>
          <a:bodyPr wrap="square" lIns="73152" tIns="0" rIns="73152" bIns="0" anchor="ctr">
            <a:noAutofit/>
          </a:bodyPr>
          <a:lstStyle/>
          <a:p>
            <a:pPr algn="r"/>
            <a:r>
              <a:rPr lang="en-US" sz="1200" b="0" dirty="0">
                <a:solidFill>
                  <a:srgbClr val="1F2328"/>
                </a:solidFill>
                <a:latin typeface="Calibri"/>
                <a:cs typeface="Calibri"/>
              </a:rPr>
              <a:t xml:space="preserve">65.0</a:t>
            </a:r>
          </a:p>
        </p:txBody>
      </p:sp>
      <p:sp>
        <p:nvSpPr>
          <p:cNvPr id="1008" name="Cell 9-0"/>
          <p:cNvSpPr txBox="1"/>
          <p:nvPr/>
        </p:nvSpPr>
        <p:spPr>
          <a:xfrm>
            <a:off x="822960" y="5184648"/>
            <a:ext cx="2103120" cy="365760"/>
          </a:xfrm>
          <a:prstGeom prst="rect">
            <a:avLst/>
          </a:prstGeom>
          <a:noFill/>
          <a:ln>
            <a:noFill/>
          </a:ln>
        </p:spPr>
        <p:txBody>
          <a:bodyPr wrap="square" lIns="73152" tIns="0" rIns="73152" bIns="0" anchor="ctr">
            <a:noAutofit/>
          </a:bodyPr>
          <a:lstStyle/>
          <a:p>
            <a:pPr algn="l"/>
            <a:r>
              <a:rPr lang="en-US" sz="1200" b="0" dirty="0">
                <a:solidFill>
                  <a:srgbClr val="1F2328"/>
                </a:solidFill>
                <a:latin typeface="Calibri"/>
                <a:cs typeface="Calibri"/>
              </a:rPr>
              <a:t xml:space="preserve">Chinook</a:t>
            </a:r>
          </a:p>
        </p:txBody>
      </p:sp>
      <p:sp>
        <p:nvSpPr>
          <p:cNvPr id="1009" name="Cell 9-1"/>
          <p:cNvSpPr txBox="1"/>
          <p:nvPr/>
        </p:nvSpPr>
        <p:spPr>
          <a:xfrm>
            <a:off x="2926079" y="5184648"/>
            <a:ext cx="2468880" cy="365760"/>
          </a:xfrm>
          <a:prstGeom prst="rect">
            <a:avLst/>
          </a:prstGeom>
          <a:noFill/>
          <a:ln>
            <a:noFill/>
          </a:ln>
        </p:spPr>
        <p:txBody>
          <a:bodyPr wrap="square" lIns="73152" tIns="0" rIns="73152" bIns="0" anchor="ctr">
            <a:noAutofit/>
          </a:bodyPr>
          <a:lstStyle/>
          <a:p>
            <a:pPr algn="l"/>
            <a:r>
              <a:rPr lang="en-US" sz="1200" b="0" dirty="0">
                <a:solidFill>
                  <a:srgbClr val="1F2328"/>
                </a:solidFill>
                <a:latin typeface="Calibri"/>
                <a:cs typeface="Calibri"/>
              </a:rPr>
              <a:t xml:space="preserve">DeepSeek-V3</a:t>
            </a:r>
          </a:p>
        </p:txBody>
      </p:sp>
      <p:sp>
        <p:nvSpPr>
          <p:cNvPr id="1010" name="Cell 9-2"/>
          <p:cNvSpPr txBox="1"/>
          <p:nvPr/>
        </p:nvSpPr>
        <p:spPr>
          <a:xfrm>
            <a:off x="5394960" y="5184648"/>
            <a:ext cx="1371600" cy="365760"/>
          </a:xfrm>
          <a:prstGeom prst="rect">
            <a:avLst/>
          </a:prstGeom>
          <a:noFill/>
          <a:ln>
            <a:noFill/>
          </a:ln>
        </p:spPr>
        <p:txBody>
          <a:bodyPr wrap="square" lIns="73152" tIns="0" rIns="73152" bIns="0" anchor="ctr">
            <a:noAutofit/>
          </a:bodyPr>
          <a:lstStyle/>
          <a:p>
            <a:pPr algn="r"/>
            <a:r>
              <a:rPr lang="en-US" sz="1200" b="0" dirty="0">
                <a:solidFill>
                  <a:srgbClr val="1F2328"/>
                </a:solidFill>
                <a:latin typeface="Calibri"/>
                <a:cs typeface="Calibri"/>
              </a:rPr>
              <a:t xml:space="preserve">22</a:t>
            </a:r>
          </a:p>
        </p:txBody>
      </p:sp>
      <p:sp>
        <p:nvSpPr>
          <p:cNvPr id="1011" name="Cell 9-3"/>
          <p:cNvSpPr txBox="1"/>
          <p:nvPr/>
        </p:nvSpPr>
        <p:spPr>
          <a:xfrm>
            <a:off x="6766560" y="5184648"/>
            <a:ext cx="1737360" cy="365760"/>
          </a:xfrm>
          <a:prstGeom prst="rect">
            <a:avLst/>
          </a:prstGeom>
          <a:noFill/>
          <a:ln>
            <a:noFill/>
          </a:ln>
        </p:spPr>
        <p:txBody>
          <a:bodyPr wrap="square" lIns="73152" tIns="0" rIns="73152" bIns="0" anchor="ctr">
            <a:noAutofit/>
          </a:bodyPr>
          <a:lstStyle/>
          <a:p>
            <a:pPr algn="r"/>
            <a:r>
              <a:rPr lang="en-US" sz="1200" b="0" dirty="0">
                <a:solidFill>
                  <a:srgbClr val="1F2328"/>
                </a:solidFill>
                <a:latin typeface="Calibri"/>
                <a:cs typeface="Calibri"/>
              </a:rPr>
              <a:t xml:space="preserve">71,000</a:t>
            </a:r>
          </a:p>
        </p:txBody>
      </p:sp>
      <p:sp>
        <p:nvSpPr>
          <p:cNvPr id="1012" name="Cell 9-4"/>
          <p:cNvSpPr txBox="1"/>
          <p:nvPr/>
        </p:nvSpPr>
        <p:spPr>
          <a:xfrm>
            <a:off x="8503920" y="5184648"/>
            <a:ext cx="1371600" cy="365760"/>
          </a:xfrm>
          <a:prstGeom prst="rect">
            <a:avLst/>
          </a:prstGeom>
          <a:noFill/>
          <a:ln>
            <a:noFill/>
          </a:ln>
        </p:spPr>
        <p:txBody>
          <a:bodyPr wrap="square" lIns="73152" tIns="0" rIns="73152" bIns="0" anchor="ctr">
            <a:noAutofit/>
          </a:bodyPr>
          <a:lstStyle/>
          <a:p>
            <a:pPr algn="r"/>
            <a:r>
              <a:rPr lang="en-US" sz="1200" b="0" dirty="0">
                <a:solidFill>
                  <a:srgbClr val="1F2328"/>
                </a:solidFill>
                <a:latin typeface="Calibri"/>
                <a:cs typeface="Calibri"/>
              </a:rPr>
              <a:t xml:space="preserve">$0.03</a:t>
            </a:r>
          </a:p>
        </p:txBody>
      </p:sp>
      <p:sp>
        <p:nvSpPr>
          <p:cNvPr id="1013" name="Cell 9-5"/>
          <p:cNvSpPr txBox="1"/>
          <p:nvPr/>
        </p:nvSpPr>
        <p:spPr>
          <a:xfrm>
            <a:off x="9875520" y="5184648"/>
            <a:ext cx="1463040" cy="365760"/>
          </a:xfrm>
          <a:prstGeom prst="rect">
            <a:avLst/>
          </a:prstGeom>
          <a:noFill/>
          <a:ln>
            <a:noFill/>
          </a:ln>
        </p:spPr>
        <p:txBody>
          <a:bodyPr wrap="square" lIns="73152" tIns="0" rIns="73152" bIns="0" anchor="ctr">
            <a:noAutofit/>
          </a:bodyPr>
          <a:lstStyle/>
          <a:p>
            <a:pPr algn="r"/>
            <a:r>
              <a:rPr lang="en-US" sz="1200" b="0" dirty="0">
                <a:solidFill>
                  <a:srgbClr val="1F2328"/>
                </a:solidFill>
                <a:latin typeface="Calibri"/>
                <a:cs typeface="Calibri"/>
              </a:rPr>
              <a:t xml:space="preserve">12.0</a:t>
            </a:r>
          </a:p>
        </p:txBody>
      </p:sp>
      <p:sp>
        <p:nvSpPr>
          <p:cNvPr id="1014" name="Row tint"/>
          <p:cNvSpPr/>
          <p:nvPr/>
        </p:nvSpPr>
        <p:spPr>
          <a:xfrm>
            <a:off x="822960" y="5550407"/>
            <a:ext cx="10515600" cy="365760"/>
          </a:xfrm>
          <a:prstGeom prst="rect">
            <a:avLst/>
          </a:prstGeom>
          <a:solidFill>
            <a:srgbClr val="F3F5F4"/>
          </a:solidFill>
          <a:ln>
            <a:noFill/>
          </a:ln>
        </p:spPr>
        <p:txBody>
          <a:bodyPr wrap="square" lIns="0" tIns="0" rIns="0" bIns="0" anchor="t">
            <a:noAutofit/>
          </a:bodyPr>
          <a:lstStyle/>
          <a:p>
            <a:pPr algn="l"/>
          </a:p>
        </p:txBody>
      </p:sp>
      <p:sp>
        <p:nvSpPr>
          <p:cNvPr id="1015" name="Cell 10-0"/>
          <p:cNvSpPr txBox="1"/>
          <p:nvPr/>
        </p:nvSpPr>
        <p:spPr>
          <a:xfrm>
            <a:off x="822960" y="5550407"/>
            <a:ext cx="2103120" cy="365760"/>
          </a:xfrm>
          <a:prstGeom prst="rect">
            <a:avLst/>
          </a:prstGeom>
          <a:noFill/>
          <a:ln>
            <a:noFill/>
          </a:ln>
        </p:spPr>
        <p:txBody>
          <a:bodyPr wrap="square" lIns="73152" tIns="0" rIns="73152" bIns="0" anchor="ctr">
            <a:noAutofit/>
          </a:bodyPr>
          <a:lstStyle/>
          <a:p>
            <a:pPr algn="l"/>
            <a:r>
              <a:rPr lang="en-US" sz="1200" b="1" dirty="0">
                <a:solidFill>
                  <a:srgbClr val="0B6E4F"/>
                </a:solidFill>
                <a:latin typeface="Calibri"/>
                <a:cs typeface="Calibri"/>
              </a:rPr>
              <a:t xml:space="preserve">Total</a:t>
            </a:r>
          </a:p>
        </p:txBody>
      </p:sp>
      <p:sp>
        <p:nvSpPr>
          <p:cNvPr id="1016" name="Cell 10-1"/>
          <p:cNvSpPr txBox="1"/>
          <p:nvPr/>
        </p:nvSpPr>
        <p:spPr>
          <a:xfrm>
            <a:off x="2926079" y="5550407"/>
            <a:ext cx="2468880" cy="365760"/>
          </a:xfrm>
          <a:prstGeom prst="rect">
            <a:avLst/>
          </a:prstGeom>
          <a:noFill/>
          <a:ln>
            <a:noFill/>
          </a:ln>
        </p:spPr>
        <p:txBody>
          <a:bodyPr wrap="square" lIns="73152" tIns="0" rIns="73152" bIns="0" anchor="ctr">
            <a:noAutofit/>
          </a:bodyPr>
          <a:lstStyle/>
          <a:p>
            <a:pPr algn="l"/>
            <a:r>
              <a:rPr lang="en-US" sz="1200" b="1" dirty="0">
                <a:solidFill>
                  <a:srgbClr val="0B6E4F"/>
                </a:solidFill>
                <a:latin typeface="Calibri"/>
                <a:cs typeface="Calibri"/>
              </a:rPr>
              <a:t xml:space="preserve"/>
            </a:r>
          </a:p>
        </p:txBody>
      </p:sp>
      <p:sp>
        <p:nvSpPr>
          <p:cNvPr id="1017" name="Cell 10-2"/>
          <p:cNvSpPr txBox="1"/>
          <p:nvPr/>
        </p:nvSpPr>
        <p:spPr>
          <a:xfrm>
            <a:off x="5394960" y="5550407"/>
            <a:ext cx="1371600" cy="365760"/>
          </a:xfrm>
          <a:prstGeom prst="rect">
            <a:avLst/>
          </a:prstGeom>
          <a:noFill/>
          <a:ln>
            <a:noFill/>
          </a:ln>
        </p:spPr>
        <p:txBody>
          <a:bodyPr wrap="square" lIns="73152" tIns="0" rIns="73152" bIns="0" anchor="ctr">
            <a:noAutofit/>
          </a:bodyPr>
          <a:lstStyle/>
          <a:p>
            <a:pPr algn="r"/>
            <a:r>
              <a:rPr lang="en-US" sz="1200" b="1" dirty="0">
                <a:solidFill>
                  <a:srgbClr val="0B6E4F"/>
                </a:solidFill>
                <a:latin typeface="Calibri"/>
                <a:cs typeface="Calibri"/>
              </a:rPr>
              <a:t xml:space="preserve">552</a:t>
            </a:r>
          </a:p>
        </p:txBody>
      </p:sp>
      <p:sp>
        <p:nvSpPr>
          <p:cNvPr id="1018" name="Cell 10-3"/>
          <p:cNvSpPr txBox="1"/>
          <p:nvPr/>
        </p:nvSpPr>
        <p:spPr>
          <a:xfrm>
            <a:off x="6766560" y="5550407"/>
            <a:ext cx="1737360" cy="365760"/>
          </a:xfrm>
          <a:prstGeom prst="rect">
            <a:avLst/>
          </a:prstGeom>
          <a:noFill/>
          <a:ln>
            <a:noFill/>
          </a:ln>
        </p:spPr>
        <p:txBody>
          <a:bodyPr wrap="square" lIns="73152" tIns="0" rIns="73152" bIns="0" anchor="ctr">
            <a:noAutofit/>
          </a:bodyPr>
          <a:lstStyle/>
          <a:p>
            <a:pPr algn="r"/>
            <a:r>
              <a:rPr lang="en-US" sz="1200" b="1" dirty="0">
                <a:solidFill>
                  <a:srgbClr val="0B6E4F"/>
                </a:solidFill>
                <a:latin typeface="Calibri"/>
                <a:cs typeface="Calibri"/>
              </a:rPr>
              <a:t xml:space="preserve">4,937,000</a:t>
            </a:r>
          </a:p>
        </p:txBody>
      </p:sp>
      <p:sp>
        <p:nvSpPr>
          <p:cNvPr id="1019" name="Cell 10-4"/>
          <p:cNvSpPr txBox="1"/>
          <p:nvPr/>
        </p:nvSpPr>
        <p:spPr>
          <a:xfrm>
            <a:off x="8503920" y="5550407"/>
            <a:ext cx="1371600" cy="365760"/>
          </a:xfrm>
          <a:prstGeom prst="rect">
            <a:avLst/>
          </a:prstGeom>
          <a:noFill/>
          <a:ln>
            <a:noFill/>
          </a:ln>
        </p:spPr>
        <p:txBody>
          <a:bodyPr wrap="square" lIns="73152" tIns="0" rIns="73152" bIns="0" anchor="ctr">
            <a:noAutofit/>
          </a:bodyPr>
          <a:lstStyle/>
          <a:p>
            <a:pPr algn="r"/>
            <a:r>
              <a:rPr lang="en-US" sz="1200" b="1" dirty="0">
                <a:solidFill>
                  <a:srgbClr val="0B6E4F"/>
                </a:solidFill>
                <a:latin typeface="Calibri"/>
                <a:cs typeface="Calibri"/>
              </a:rPr>
              <a:t xml:space="preserve">$33.28</a:t>
            </a:r>
          </a:p>
        </p:txBody>
      </p:sp>
      <p:sp>
        <p:nvSpPr>
          <p:cNvPr id="1020" name="Cell 10-5"/>
          <p:cNvSpPr txBox="1"/>
          <p:nvPr/>
        </p:nvSpPr>
        <p:spPr>
          <a:xfrm>
            <a:off x="9875520" y="5550407"/>
            <a:ext cx="1463040" cy="365760"/>
          </a:xfrm>
          <a:prstGeom prst="rect">
            <a:avLst/>
          </a:prstGeom>
          <a:noFill/>
          <a:ln>
            <a:noFill/>
          </a:ln>
        </p:spPr>
        <p:txBody>
          <a:bodyPr wrap="square" lIns="73152" tIns="0" rIns="73152" bIns="0" anchor="ctr">
            <a:noAutofit/>
          </a:bodyPr>
          <a:lstStyle/>
          <a:p>
            <a:pPr algn="r"/>
            <a:r>
              <a:rPr lang="en-US" sz="1200" b="1" dirty="0">
                <a:solidFill>
                  <a:srgbClr val="0B6E4F"/>
                </a:solidFill>
                <a:latin typeface="Calibri"/>
                <a:cs typeface="Calibri"/>
              </a:rPr>
              <a:t xml:space="preserve">616.1</a:t>
            </a:r>
          </a:p>
        </p:txBody>
      </p:sp>
      <p:sp>
        <p:nvSpPr>
          <p:cNvPr id="1021" name="Backup caption"/>
          <p:cNvSpPr txBox="1"/>
          <p:nvPr/>
        </p:nvSpPr>
        <p:spPr>
          <a:xfrm>
            <a:off x="850392" y="6053328"/>
            <a:ext cx="10488168" cy="237744"/>
          </a:xfrm>
          <a:prstGeom prst="rect">
            <a:avLst/>
          </a:prstGeom>
          <a:noFill/>
          <a:ln>
            <a:noFill/>
          </a:ln>
        </p:spPr>
        <p:txBody>
          <a:bodyPr wrap="square" lIns="0" tIns="0" rIns="0" bIns="0" anchor="t">
            <a:noAutofit/>
          </a:bodyPr>
          <a:lstStyle/>
          <a:p>
            <a:pPr algn="l"/>
            <a:r>
              <a:rPr lang="en-US" sz="1050" b="0" dirty="0">
                <a:solidFill>
                  <a:srgbClr val="5B6770"/>
                </a:solidFill>
                <a:latin typeface="Calibri"/>
                <a:cs typeface="Calibri"/>
              </a:rPr>
              <a:t xml:space="preserve">Source: paper Table 15. Totals are summed from the nine rows; the paper's printed totals (651 requests, $34.28) also include runs not listed in the table.</a:t>
            </a: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45" name="Shape 945"/>
        <p:cNvGrpSpPr/>
        <p:nvPr/>
      </p:nvGrpSpPr>
      <p:grpSpPr>
        <a:xfrm>
          <a:off x="0" y="0"/>
          <a:ext cx="0" cy="0"/>
          <a:chOff x="0" y="0"/>
          <a:chExt cx="0" cy="0"/>
        </a:xfrm>
      </p:grpSpPr>
      <p:sp>
        <p:nvSpPr>
          <p:cNvPr id="946" name="TextBox 945"/>
          <p:cNvSpPr txBox="1"/>
          <p:nvPr/>
        </p:nvSpPr>
        <p:spPr>
          <a:xfrm>
            <a:off x="777240" y="347472"/>
            <a:ext cx="10058400" cy="292608"/>
          </a:xfrm>
          <a:prstGeom prst="rect">
            <a:avLst/>
          </a:prstGeom>
          <a:noFill/>
        </p:spPr>
        <p:txBody>
          <a:bodyPr wrap="square" lIns="0" rIns="0" tIns="0" bIns="0">
            <a:spAutoFit/>
          </a:bodyPr>
          <a:lstStyle/>
          <a:p>
            <a:pPr algn="l"/>
            <a:r>
              <a:rPr sz="1500" b="1">
                <a:solidFill>
                  <a:srgbClr val="0B6E4F"/>
                </a:solidFill>
                <a:latin typeface="Consolas"/>
              </a:rPr>
              <a:t>BACKUP  /  B5</a:t>
            </a:r>
          </a:p>
        </p:txBody>
      </p:sp>
      <p:sp>
        <p:nvSpPr>
          <p:cNvPr id="947" name="TextBox 946"/>
          <p:cNvSpPr txBox="1"/>
          <p:nvPr/>
        </p:nvSpPr>
        <p:spPr>
          <a:xfrm>
            <a:off x="777240" y="768096"/>
            <a:ext cx="10881360" cy="530352"/>
          </a:xfrm>
          <a:prstGeom prst="rect">
            <a:avLst/>
          </a:prstGeom>
          <a:noFill/>
        </p:spPr>
        <p:txBody>
          <a:bodyPr wrap="square" lIns="0" rIns="0" tIns="0" bIns="0">
            <a:spAutoFit/>
          </a:bodyPr>
          <a:lstStyle/>
          <a:p>
            <a:pPr algn="l"/>
            <a:r>
              <a:rPr sz="2600" b="1">
                <a:solidFill>
                  <a:srgbClr val="1F2328"/>
                </a:solidFill>
                <a:latin typeface="Cambria"/>
              </a:rPr>
              <a:t>Hard questions (1/2)</a:t>
            </a:r>
          </a:p>
        </p:txBody>
      </p:sp>
      <p:sp>
        <p:nvSpPr>
          <p:cNvPr id="948" name="TextBox 947"/>
          <p:cNvSpPr txBox="1"/>
          <p:nvPr/>
        </p:nvSpPr>
        <p:spPr>
          <a:xfrm>
            <a:off x="777240" y="1371600"/>
            <a:ext cx="10789920" cy="347472"/>
          </a:xfrm>
          <a:prstGeom prst="rect">
            <a:avLst/>
          </a:prstGeom>
          <a:noFill/>
        </p:spPr>
        <p:txBody>
          <a:bodyPr wrap="square" lIns="0" rIns="0" tIns="0" bIns="0">
            <a:spAutoFit/>
          </a:bodyPr>
          <a:lstStyle/>
          <a:p>
            <a:pPr algn="l"/>
            <a:r>
              <a:rPr sz="1400" b="0">
                <a:solidFill>
                  <a:srgbClr val="5B6770"/>
                </a:solidFill>
                <a:latin typeface="Calibri"/>
              </a:rPr>
              <a:t>Short, honest answers  ·  full versions in presentation/SPEECH.md</a:t>
            </a:r>
          </a:p>
        </p:txBody>
      </p:sp>
      <p:sp>
        <p:nvSpPr>
          <p:cNvPr id="949" name="Q card 0"/>
          <p:cNvSpPr/>
          <p:nvPr/>
        </p:nvSpPr>
        <p:spPr>
          <a:xfrm>
            <a:off x="822960" y="1810512"/>
            <a:ext cx="10515600" cy="768096"/>
          </a:xfrm>
          <a:prstGeom prst="roundRect">
            <a:avLst>
              <a:gd name="adj" fmla="val 12000"/>
            </a:avLst>
          </a:prstGeom>
          <a:solidFill>
            <a:srgbClr val="F3F5F4"/>
          </a:solidFill>
          <a:ln w="9525">
            <a:solidFill>
              <a:srgbClr val="D9DEDB"/>
            </a:solidFill>
          </a:ln>
        </p:spPr>
        <p:txBody>
          <a:bodyPr wrap="square" lIns="0" tIns="0" rIns="0" bIns="0" anchor="t">
            <a:noAutofit/>
          </a:bodyPr>
          <a:lstStyle/>
          <a:p>
            <a:pPr algn="l"/>
          </a:p>
        </p:txBody>
      </p:sp>
      <p:sp>
        <p:nvSpPr>
          <p:cNvPr id="950" name="Q 0"/>
          <p:cNvSpPr txBox="1"/>
          <p:nvPr/>
        </p:nvSpPr>
        <p:spPr>
          <a:xfrm>
            <a:off x="1005840" y="1874519"/>
            <a:ext cx="10149840" cy="256032"/>
          </a:xfrm>
          <a:prstGeom prst="rect">
            <a:avLst/>
          </a:prstGeom>
          <a:noFill/>
          <a:ln>
            <a:noFill/>
          </a:ln>
        </p:spPr>
        <p:txBody>
          <a:bodyPr wrap="square" lIns="0" tIns="0" rIns="0" bIns="0" anchor="t">
            <a:noAutofit/>
          </a:bodyPr>
          <a:lstStyle/>
          <a:p>
            <a:pPr algn="l"/>
            <a:r>
              <a:rPr lang="en-US" sz="1250" b="1" dirty="0">
                <a:solidFill>
                  <a:srgbClr val="1F2328"/>
                </a:solidFill>
                <a:latin typeface="Calibri"/>
                <a:cs typeface="Calibri"/>
              </a:rPr>
              <a:t xml:space="preserve">The Judge-LLM is the same model as the generator. Isn't that self-evaluation?</a:t>
            </a:r>
          </a:p>
        </p:txBody>
      </p:sp>
      <p:sp>
        <p:nvSpPr>
          <p:cNvPr id="951" name="A 0"/>
          <p:cNvSpPr txBox="1"/>
          <p:nvPr/>
        </p:nvSpPr>
        <p:spPr>
          <a:xfrm>
            <a:off x="1005840" y="2130552"/>
            <a:ext cx="10149840" cy="420624"/>
          </a:xfrm>
          <a:prstGeom prst="rect">
            <a:avLst/>
          </a:prstGeom>
          <a:noFill/>
          <a:ln>
            <a:noFill/>
          </a:ln>
        </p:spPr>
        <p:txBody>
          <a:bodyPr wrap="square" lIns="0" tIns="0" rIns="0" bIns="0" anchor="t">
            <a:noAutofit/>
          </a:bodyPr>
          <a:lstStyle/>
          <a:p>
            <a:pPr algn="l"/>
            <a:r>
              <a:rPr lang="en-US" sz="1100" b="0" dirty="0">
                <a:solidFill>
                  <a:srgbClr val="3A434C"/>
                </a:solidFill>
                <a:latin typeface="Calibri"/>
                <a:cs typeface="Calibri"/>
              </a:rPr>
              <a:t xml:space="preserve">Inside the loop, yes: the same model generates and judges, so RIGOR needs no second model. Two things do not depend on it. The rule-based graph checks are deterministic. And the evaluation used a different model family, GPT-5.4, plus ten human experts, who ranked RIGOR first in 70% of cases.</a:t>
            </a:r>
          </a:p>
        </p:txBody>
      </p:sp>
      <p:sp>
        <p:nvSpPr>
          <p:cNvPr id="952" name="Q card 1"/>
          <p:cNvSpPr/>
          <p:nvPr/>
        </p:nvSpPr>
        <p:spPr>
          <a:xfrm>
            <a:off x="822960" y="2651760"/>
            <a:ext cx="10515600" cy="768096"/>
          </a:xfrm>
          <a:prstGeom prst="roundRect">
            <a:avLst>
              <a:gd name="adj" fmla="val 12000"/>
            </a:avLst>
          </a:prstGeom>
          <a:solidFill>
            <a:srgbClr val="F3F5F4"/>
          </a:solidFill>
          <a:ln w="9525">
            <a:solidFill>
              <a:srgbClr val="D9DEDB"/>
            </a:solidFill>
          </a:ln>
        </p:spPr>
        <p:txBody>
          <a:bodyPr wrap="square" lIns="0" tIns="0" rIns="0" bIns="0" anchor="t">
            <a:noAutofit/>
          </a:bodyPr>
          <a:lstStyle/>
          <a:p>
            <a:pPr algn="l"/>
          </a:p>
        </p:txBody>
      </p:sp>
      <p:sp>
        <p:nvSpPr>
          <p:cNvPr id="953" name="Q 1"/>
          <p:cNvSpPr txBox="1"/>
          <p:nvPr/>
        </p:nvSpPr>
        <p:spPr>
          <a:xfrm>
            <a:off x="1005840" y="2715768"/>
            <a:ext cx="10149840" cy="256032"/>
          </a:xfrm>
          <a:prstGeom prst="rect">
            <a:avLst/>
          </a:prstGeom>
          <a:noFill/>
          <a:ln>
            <a:noFill/>
          </a:ln>
        </p:spPr>
        <p:txBody>
          <a:bodyPr wrap="square" lIns="0" tIns="0" rIns="0" bIns="0" anchor="t">
            <a:noAutofit/>
          </a:bodyPr>
          <a:lstStyle/>
          <a:p>
            <a:pPr algn="l"/>
            <a:r>
              <a:rPr lang="en-US" sz="1250" b="1" dirty="0">
                <a:solidFill>
                  <a:srgbClr val="1F2328"/>
                </a:solidFill>
                <a:latin typeface="Calibri"/>
                <a:cs typeface="Calibri"/>
              </a:rPr>
              <a:t xml:space="preserve">Is the Non-Iterative baseline a strawman?</a:t>
            </a:r>
          </a:p>
        </p:txBody>
      </p:sp>
      <p:sp>
        <p:nvSpPr>
          <p:cNvPr id="954" name="A 1"/>
          <p:cNvSpPr txBox="1"/>
          <p:nvPr/>
        </p:nvSpPr>
        <p:spPr>
          <a:xfrm>
            <a:off x="1005840" y="2971800"/>
            <a:ext cx="10149840" cy="420624"/>
          </a:xfrm>
          <a:prstGeom prst="rect">
            <a:avLst/>
          </a:prstGeom>
          <a:noFill/>
          <a:ln>
            <a:noFill/>
          </a:ln>
        </p:spPr>
        <p:txBody>
          <a:bodyPr wrap="square" lIns="0" tIns="0" rIns="0" bIns="0" anchor="t">
            <a:noAutofit/>
          </a:bodyPr>
          <a:lstStyle/>
          <a:p>
            <a:pPr algn="l"/>
            <a:r>
              <a:rPr lang="en-US" sz="1100" b="0" dirty="0">
                <a:solidFill>
                  <a:srgbClr val="3A434C"/>
                </a:solidFill>
                <a:latin typeface="Calibri"/>
                <a:cs typeface="Calibri"/>
              </a:rPr>
              <a:t xml:space="preserve">It receives the same retrieved context, but its prompt asks for less (labels and comments). Its biggest failure is dropping columns, down to 6%, which RIGOR prevents by construction with the seed. A prompt-matched ablation is a fair next experiment.</a:t>
            </a:r>
          </a:p>
        </p:txBody>
      </p:sp>
      <p:sp>
        <p:nvSpPr>
          <p:cNvPr id="955" name="Q card 2"/>
          <p:cNvSpPr/>
          <p:nvPr/>
        </p:nvSpPr>
        <p:spPr>
          <a:xfrm>
            <a:off x="822960" y="3493008"/>
            <a:ext cx="10515600" cy="768096"/>
          </a:xfrm>
          <a:prstGeom prst="roundRect">
            <a:avLst>
              <a:gd name="adj" fmla="val 12000"/>
            </a:avLst>
          </a:prstGeom>
          <a:solidFill>
            <a:srgbClr val="F3F5F4"/>
          </a:solidFill>
          <a:ln w="9525">
            <a:solidFill>
              <a:srgbClr val="D9DEDB"/>
            </a:solidFill>
          </a:ln>
        </p:spPr>
        <p:txBody>
          <a:bodyPr wrap="square" lIns="0" tIns="0" rIns="0" bIns="0" anchor="t">
            <a:noAutofit/>
          </a:bodyPr>
          <a:lstStyle/>
          <a:p>
            <a:pPr algn="l"/>
          </a:p>
        </p:txBody>
      </p:sp>
      <p:sp>
        <p:nvSpPr>
          <p:cNvPr id="956" name="Q 2"/>
          <p:cNvSpPr txBox="1"/>
          <p:nvPr/>
        </p:nvSpPr>
        <p:spPr>
          <a:xfrm>
            <a:off x="1005840" y="3557016"/>
            <a:ext cx="10149840" cy="256032"/>
          </a:xfrm>
          <a:prstGeom prst="rect">
            <a:avLst/>
          </a:prstGeom>
          <a:noFill/>
          <a:ln>
            <a:noFill/>
          </a:ln>
        </p:spPr>
        <p:txBody>
          <a:bodyPr wrap="square" lIns="0" tIns="0" rIns="0" bIns="0" anchor="t">
            <a:noAutofit/>
          </a:bodyPr>
          <a:lstStyle/>
          <a:p>
            <a:pPr algn="l"/>
            <a:r>
              <a:rPr lang="en-US" sz="1250" b="1" dirty="0">
                <a:solidFill>
                  <a:srgbClr val="1F2328"/>
                </a:solidFill>
                <a:latin typeface="Calibri"/>
                <a:cs typeface="Calibri"/>
              </a:rPr>
              <a:t xml:space="preserve">Could the LLM judge have position bias?</a:t>
            </a:r>
          </a:p>
        </p:txBody>
      </p:sp>
      <p:sp>
        <p:nvSpPr>
          <p:cNvPr id="957" name="A 2"/>
          <p:cNvSpPr txBox="1"/>
          <p:nvPr/>
        </p:nvSpPr>
        <p:spPr>
          <a:xfrm>
            <a:off x="1005840" y="3813048"/>
            <a:ext cx="10149840" cy="420624"/>
          </a:xfrm>
          <a:prstGeom prst="rect">
            <a:avLst/>
          </a:prstGeom>
          <a:noFill/>
          <a:ln>
            <a:noFill/>
          </a:ln>
        </p:spPr>
        <p:txBody>
          <a:bodyPr wrap="square" lIns="0" tIns="0" rIns="0" bIns="0" anchor="t">
            <a:noAutofit/>
          </a:bodyPr>
          <a:lstStyle/>
          <a:p>
            <a:pPr algn="l"/>
            <a:r>
              <a:rPr lang="en-US" sz="1100" b="0" dirty="0">
                <a:solidFill>
                  <a:srgbClr val="3A434C"/>
                </a:solidFill>
                <a:latin typeface="Calibri"/>
                <a:cs typeface="Calibri"/>
              </a:rPr>
              <a:t xml:space="preserve">Fragments were anonymized, but the order was fixed (paper Fig. 7), so we do not rely on the LLM judge alone. The human study points the same way: 28 of 40 first places, with significant agreement. Future runs should randomize the order.</a:t>
            </a:r>
          </a:p>
        </p:txBody>
      </p:sp>
      <p:sp>
        <p:nvSpPr>
          <p:cNvPr id="958" name="Q card 3"/>
          <p:cNvSpPr/>
          <p:nvPr/>
        </p:nvSpPr>
        <p:spPr>
          <a:xfrm>
            <a:off x="822960" y="4334256"/>
            <a:ext cx="10515600" cy="768096"/>
          </a:xfrm>
          <a:prstGeom prst="roundRect">
            <a:avLst>
              <a:gd name="adj" fmla="val 12000"/>
            </a:avLst>
          </a:prstGeom>
          <a:solidFill>
            <a:srgbClr val="F3F5F4"/>
          </a:solidFill>
          <a:ln w="9525">
            <a:solidFill>
              <a:srgbClr val="D9DEDB"/>
            </a:solidFill>
          </a:ln>
        </p:spPr>
        <p:txBody>
          <a:bodyPr wrap="square" lIns="0" tIns="0" rIns="0" bIns="0" anchor="t">
            <a:noAutofit/>
          </a:bodyPr>
          <a:lstStyle/>
          <a:p>
            <a:pPr algn="l"/>
          </a:p>
        </p:txBody>
      </p:sp>
      <p:sp>
        <p:nvSpPr>
          <p:cNvPr id="959" name="Q 3"/>
          <p:cNvSpPr txBox="1"/>
          <p:nvPr/>
        </p:nvSpPr>
        <p:spPr>
          <a:xfrm>
            <a:off x="1005840" y="4398264"/>
            <a:ext cx="10149840" cy="256032"/>
          </a:xfrm>
          <a:prstGeom prst="rect">
            <a:avLst/>
          </a:prstGeom>
          <a:noFill/>
          <a:ln>
            <a:noFill/>
          </a:ln>
        </p:spPr>
        <p:txBody>
          <a:bodyPr wrap="square" lIns="0" tIns="0" rIns="0" bIns="0" anchor="t">
            <a:noAutofit/>
          </a:bodyPr>
          <a:lstStyle/>
          <a:p>
            <a:pPr algn="l"/>
            <a:r>
              <a:rPr lang="en-US" sz="1250" b="1" dirty="0">
                <a:solidFill>
                  <a:srgbClr val="1F2328"/>
                </a:solidFill>
                <a:latin typeface="Calibri"/>
                <a:cs typeface="Calibri"/>
              </a:rPr>
              <a:t xml:space="preserve">Why do critical P19 pitfalls remain (multiple domains or ranges)?</a:t>
            </a:r>
          </a:p>
        </p:txBody>
      </p:sp>
      <p:sp>
        <p:nvSpPr>
          <p:cNvPr id="960" name="A 3"/>
          <p:cNvSpPr txBox="1"/>
          <p:nvPr/>
        </p:nvSpPr>
        <p:spPr>
          <a:xfrm>
            <a:off x="1005840" y="4654296"/>
            <a:ext cx="10149840" cy="420624"/>
          </a:xfrm>
          <a:prstGeom prst="rect">
            <a:avLst/>
          </a:prstGeom>
          <a:noFill/>
          <a:ln>
            <a:noFill/>
          </a:ln>
        </p:spPr>
        <p:txBody>
          <a:bodyPr wrap="square" lIns="0" tIns="0" rIns="0" bIns="0" anchor="t">
            <a:noAutofit/>
          </a:bodyPr>
          <a:lstStyle/>
          <a:p>
            <a:pPr algn="l"/>
            <a:r>
              <a:rPr lang="en-US" sz="1100" b="0" dirty="0">
                <a:solidFill>
                  <a:srgbClr val="3A434C"/>
                </a:solidFill>
                <a:latin typeface="Calibri"/>
                <a:cs typeface="Calibri"/>
              </a:rPr>
              <a:t xml:space="preserve">They appear in 3 of 9 runs. A likely source is the union merge: when a property such as a patient link is reused across tables, each table adds its own domain. Merge-time checks and validator feedback inside the loop are the planned fix.</a:t>
            </a:r>
          </a:p>
        </p:txBody>
      </p:sp>
      <p:sp>
        <p:nvSpPr>
          <p:cNvPr id="961" name="Q card 4"/>
          <p:cNvSpPr/>
          <p:nvPr/>
        </p:nvSpPr>
        <p:spPr>
          <a:xfrm>
            <a:off x="822960" y="5175504"/>
            <a:ext cx="10515600" cy="768096"/>
          </a:xfrm>
          <a:prstGeom prst="roundRect">
            <a:avLst>
              <a:gd name="adj" fmla="val 12000"/>
            </a:avLst>
          </a:prstGeom>
          <a:solidFill>
            <a:srgbClr val="F3F5F4"/>
          </a:solidFill>
          <a:ln w="9525">
            <a:solidFill>
              <a:srgbClr val="D9DEDB"/>
            </a:solidFill>
          </a:ln>
        </p:spPr>
        <p:txBody>
          <a:bodyPr wrap="square" lIns="0" tIns="0" rIns="0" bIns="0" anchor="t">
            <a:noAutofit/>
          </a:bodyPr>
          <a:lstStyle/>
          <a:p>
            <a:pPr algn="l"/>
          </a:p>
        </p:txBody>
      </p:sp>
      <p:sp>
        <p:nvSpPr>
          <p:cNvPr id="962" name="Q 4"/>
          <p:cNvSpPr txBox="1"/>
          <p:nvPr/>
        </p:nvSpPr>
        <p:spPr>
          <a:xfrm>
            <a:off x="1005840" y="5239512"/>
            <a:ext cx="10149840" cy="256032"/>
          </a:xfrm>
          <a:prstGeom prst="rect">
            <a:avLst/>
          </a:prstGeom>
          <a:noFill/>
          <a:ln>
            <a:noFill/>
          </a:ln>
        </p:spPr>
        <p:txBody>
          <a:bodyPr wrap="square" lIns="0" tIns="0" rIns="0" bIns="0" anchor="t">
            <a:noAutofit/>
          </a:bodyPr>
          <a:lstStyle/>
          <a:p>
            <a:pPr algn="l"/>
            <a:r>
              <a:rPr lang="en-US" sz="1250" b="1" dirty="0">
                <a:solidFill>
                  <a:srgbClr val="1F2328"/>
                </a:solidFill>
                <a:latin typeface="Calibri"/>
                <a:cs typeface="Calibri"/>
              </a:rPr>
              <a:t xml:space="preserve">Why only schemas and documentation, not the data?</a:t>
            </a:r>
          </a:p>
        </p:txBody>
      </p:sp>
      <p:sp>
        <p:nvSpPr>
          <p:cNvPr id="963" name="A 4"/>
          <p:cNvSpPr txBox="1"/>
          <p:nvPr/>
        </p:nvSpPr>
        <p:spPr>
          <a:xfrm>
            <a:off x="1005840" y="5495544"/>
            <a:ext cx="10149840" cy="420624"/>
          </a:xfrm>
          <a:prstGeom prst="rect">
            <a:avLst/>
          </a:prstGeom>
          <a:noFill/>
          <a:ln>
            <a:noFill/>
          </a:ln>
        </p:spPr>
        <p:txBody>
          <a:bodyPr wrap="square" lIns="0" tIns="0" rIns="0" bIns="0" anchor="t">
            <a:noAutofit/>
          </a:bodyPr>
          <a:lstStyle/>
          <a:p>
            <a:pPr algn="l"/>
            <a:r>
              <a:rPr lang="en-US" sz="1100" b="0" dirty="0">
                <a:solidFill>
                  <a:srgbClr val="3A434C"/>
                </a:solidFill>
                <a:latin typeface="Calibri"/>
                <a:cs typeface="Calibri"/>
              </a:rPr>
              <a:t xml:space="preserve">Portability and privacy. Clinical data often cannot leave the hospital, while schemas and documentation can. Instance-level signals, computed as aggregates, are our next step.</a:t>
            </a: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45" name="Shape 945"/>
        <p:cNvGrpSpPr/>
        <p:nvPr/>
      </p:nvGrpSpPr>
      <p:grpSpPr>
        <a:xfrm>
          <a:off x="0" y="0"/>
          <a:ext cx="0" cy="0"/>
          <a:chOff x="0" y="0"/>
          <a:chExt cx="0" cy="0"/>
        </a:xfrm>
      </p:grpSpPr>
      <p:sp>
        <p:nvSpPr>
          <p:cNvPr id="946" name="TextBox 945"/>
          <p:cNvSpPr txBox="1"/>
          <p:nvPr/>
        </p:nvSpPr>
        <p:spPr>
          <a:xfrm>
            <a:off x="777240" y="347472"/>
            <a:ext cx="10058400" cy="292608"/>
          </a:xfrm>
          <a:prstGeom prst="rect">
            <a:avLst/>
          </a:prstGeom>
          <a:noFill/>
        </p:spPr>
        <p:txBody>
          <a:bodyPr wrap="square" lIns="0" rIns="0" tIns="0" bIns="0">
            <a:spAutoFit/>
          </a:bodyPr>
          <a:lstStyle/>
          <a:p>
            <a:pPr algn="l"/>
            <a:r>
              <a:rPr sz="1500" b="1">
                <a:solidFill>
                  <a:srgbClr val="0B6E4F"/>
                </a:solidFill>
                <a:latin typeface="Consolas"/>
              </a:rPr>
              <a:t>BACKUP  /  B6</a:t>
            </a:r>
          </a:p>
        </p:txBody>
      </p:sp>
      <p:sp>
        <p:nvSpPr>
          <p:cNvPr id="947" name="TextBox 946"/>
          <p:cNvSpPr txBox="1"/>
          <p:nvPr/>
        </p:nvSpPr>
        <p:spPr>
          <a:xfrm>
            <a:off x="777240" y="768096"/>
            <a:ext cx="10881360" cy="530352"/>
          </a:xfrm>
          <a:prstGeom prst="rect">
            <a:avLst/>
          </a:prstGeom>
          <a:noFill/>
        </p:spPr>
        <p:txBody>
          <a:bodyPr wrap="square" lIns="0" rIns="0" tIns="0" bIns="0">
            <a:spAutoFit/>
          </a:bodyPr>
          <a:lstStyle/>
          <a:p>
            <a:pPr algn="l"/>
            <a:r>
              <a:rPr sz="2600" b="1">
                <a:solidFill>
                  <a:srgbClr val="1F2328"/>
                </a:solidFill>
                <a:latin typeface="Cambria"/>
              </a:rPr>
              <a:t>Hard questions (2/2)</a:t>
            </a:r>
          </a:p>
        </p:txBody>
      </p:sp>
      <p:sp>
        <p:nvSpPr>
          <p:cNvPr id="948" name="TextBox 947"/>
          <p:cNvSpPr txBox="1"/>
          <p:nvPr/>
        </p:nvSpPr>
        <p:spPr>
          <a:xfrm>
            <a:off x="777240" y="1371600"/>
            <a:ext cx="10789920" cy="347472"/>
          </a:xfrm>
          <a:prstGeom prst="rect">
            <a:avLst/>
          </a:prstGeom>
          <a:noFill/>
        </p:spPr>
        <p:txBody>
          <a:bodyPr wrap="square" lIns="0" rIns="0" tIns="0" bIns="0">
            <a:spAutoFit/>
          </a:bodyPr>
          <a:lstStyle/>
          <a:p>
            <a:pPr algn="l"/>
            <a:r>
              <a:rPr sz="1400" b="0">
                <a:solidFill>
                  <a:srgbClr val="5B6770"/>
                </a:solidFill>
                <a:latin typeface="Calibri"/>
              </a:rPr>
              <a:t>Short, honest answers  ·  full versions in presentation/SPEECH.md</a:t>
            </a:r>
          </a:p>
        </p:txBody>
      </p:sp>
      <p:sp>
        <p:nvSpPr>
          <p:cNvPr id="949" name="Q card 0"/>
          <p:cNvSpPr/>
          <p:nvPr/>
        </p:nvSpPr>
        <p:spPr>
          <a:xfrm>
            <a:off x="822960" y="1810512"/>
            <a:ext cx="10515600" cy="768096"/>
          </a:xfrm>
          <a:prstGeom prst="roundRect">
            <a:avLst>
              <a:gd name="adj" fmla="val 12000"/>
            </a:avLst>
          </a:prstGeom>
          <a:solidFill>
            <a:srgbClr val="F3F5F4"/>
          </a:solidFill>
          <a:ln w="9525">
            <a:solidFill>
              <a:srgbClr val="D9DEDB"/>
            </a:solidFill>
          </a:ln>
        </p:spPr>
        <p:txBody>
          <a:bodyPr wrap="square" lIns="0" tIns="0" rIns="0" bIns="0" anchor="t">
            <a:noAutofit/>
          </a:bodyPr>
          <a:lstStyle/>
          <a:p>
            <a:pPr algn="l"/>
          </a:p>
        </p:txBody>
      </p:sp>
      <p:sp>
        <p:nvSpPr>
          <p:cNvPr id="950" name="Q 0"/>
          <p:cNvSpPr txBox="1"/>
          <p:nvPr/>
        </p:nvSpPr>
        <p:spPr>
          <a:xfrm>
            <a:off x="1005840" y="1874519"/>
            <a:ext cx="10149840" cy="256032"/>
          </a:xfrm>
          <a:prstGeom prst="rect">
            <a:avLst/>
          </a:prstGeom>
          <a:noFill/>
          <a:ln>
            <a:noFill/>
          </a:ln>
        </p:spPr>
        <p:txBody>
          <a:bodyPr wrap="square" lIns="0" tIns="0" rIns="0" bIns="0" anchor="t">
            <a:noAutofit/>
          </a:bodyPr>
          <a:lstStyle/>
          <a:p>
            <a:pPr algn="l"/>
            <a:r>
              <a:rPr lang="en-US" sz="1250" b="1" dirty="0">
                <a:solidFill>
                  <a:srgbClr val="1F2328"/>
                </a:solidFill>
                <a:latin typeface="Calibri"/>
                <a:cs typeface="Calibri"/>
              </a:rPr>
              <a:t xml:space="preserve">Column coverage drops to 0.77. Why?</a:t>
            </a:r>
          </a:p>
        </p:txBody>
      </p:sp>
      <p:sp>
        <p:nvSpPr>
          <p:cNvPr id="951" name="A 0"/>
          <p:cNvSpPr txBox="1"/>
          <p:nvPr/>
        </p:nvSpPr>
        <p:spPr>
          <a:xfrm>
            <a:off x="1005840" y="2130552"/>
            <a:ext cx="10149840" cy="420624"/>
          </a:xfrm>
          <a:prstGeom prst="rect">
            <a:avLst/>
          </a:prstGeom>
          <a:noFill/>
          <a:ln>
            <a:noFill/>
          </a:ln>
        </p:spPr>
        <p:txBody>
          <a:bodyPr wrap="square" lIns="0" tIns="0" rIns="0" bIns="0" anchor="t">
            <a:noAutofit/>
          </a:bodyPr>
          <a:lstStyle/>
          <a:p>
            <a:pPr algn="l"/>
            <a:r>
              <a:rPr lang="en-US" sz="1100" b="0" dirty="0">
                <a:solidFill>
                  <a:srgbClr val="3A434C"/>
                </a:solidFill>
                <a:latin typeface="Calibri"/>
                <a:cs typeface="Calibri"/>
              </a:rPr>
              <a:t xml:space="preserve">That is DeepSeek on eICU. The seed is complete by construction, but enrichment can drop columns, and coverage is an embedding-based proxy. Stronger per-fragment coverage checks are planned.</a:t>
            </a:r>
          </a:p>
        </p:txBody>
      </p:sp>
      <p:sp>
        <p:nvSpPr>
          <p:cNvPr id="952" name="Q card 1"/>
          <p:cNvSpPr/>
          <p:nvPr/>
        </p:nvSpPr>
        <p:spPr>
          <a:xfrm>
            <a:off x="822960" y="2651760"/>
            <a:ext cx="10515600" cy="768096"/>
          </a:xfrm>
          <a:prstGeom prst="roundRect">
            <a:avLst>
              <a:gd name="adj" fmla="val 12000"/>
            </a:avLst>
          </a:prstGeom>
          <a:solidFill>
            <a:srgbClr val="F3F5F4"/>
          </a:solidFill>
          <a:ln w="9525">
            <a:solidFill>
              <a:srgbClr val="D9DEDB"/>
            </a:solidFill>
          </a:ln>
        </p:spPr>
        <p:txBody>
          <a:bodyPr wrap="square" lIns="0" tIns="0" rIns="0" bIns="0" anchor="t">
            <a:noAutofit/>
          </a:bodyPr>
          <a:lstStyle/>
          <a:p>
            <a:pPr algn="l"/>
          </a:p>
        </p:txBody>
      </p:sp>
      <p:sp>
        <p:nvSpPr>
          <p:cNvPr id="953" name="Q 1"/>
          <p:cNvSpPr txBox="1"/>
          <p:nvPr/>
        </p:nvSpPr>
        <p:spPr>
          <a:xfrm>
            <a:off x="1005840" y="2715768"/>
            <a:ext cx="10149840" cy="256032"/>
          </a:xfrm>
          <a:prstGeom prst="rect">
            <a:avLst/>
          </a:prstGeom>
          <a:noFill/>
          <a:ln>
            <a:noFill/>
          </a:ln>
        </p:spPr>
        <p:txBody>
          <a:bodyPr wrap="square" lIns="0" tIns="0" rIns="0" bIns="0" anchor="t">
            <a:noAutofit/>
          </a:bodyPr>
          <a:lstStyle/>
          <a:p>
            <a:pPr algn="l"/>
            <a:r>
              <a:rPr lang="en-US" sz="1250" b="1" dirty="0">
                <a:solidFill>
                  <a:srgbClr val="1F2328"/>
                </a:solidFill>
                <a:latin typeface="Calibri"/>
                <a:cs typeface="Calibri"/>
              </a:rPr>
              <a:t xml:space="preserve">Could the LLMs have seen these databases in training?</a:t>
            </a:r>
          </a:p>
        </p:txBody>
      </p:sp>
      <p:sp>
        <p:nvSpPr>
          <p:cNvPr id="954" name="A 1"/>
          <p:cNvSpPr txBox="1"/>
          <p:nvPr/>
        </p:nvSpPr>
        <p:spPr>
          <a:xfrm>
            <a:off x="1005840" y="2971800"/>
            <a:ext cx="10149840" cy="420624"/>
          </a:xfrm>
          <a:prstGeom prst="rect">
            <a:avLst/>
          </a:prstGeom>
          <a:noFill/>
          <a:ln>
            <a:noFill/>
          </a:ln>
        </p:spPr>
        <p:txBody>
          <a:bodyPr wrap="square" lIns="0" tIns="0" rIns="0" bIns="0" anchor="t">
            <a:noAutofit/>
          </a:bodyPr>
          <a:lstStyle/>
          <a:p>
            <a:pPr algn="l"/>
            <a:r>
              <a:rPr lang="en-US" sz="1100" b="0" dirty="0">
                <a:solidFill>
                  <a:srgbClr val="3A434C"/>
                </a:solidFill>
                <a:latin typeface="Calibri"/>
                <a:cs typeface="Calibri"/>
              </a:rPr>
              <a:t xml:space="preserve">eICU and Chinook are public. The liver-cancer registry is private, so no model saw it, and the LLM judge still ranked RIGOR first on all 16 of its tables.</a:t>
            </a:r>
          </a:p>
        </p:txBody>
      </p:sp>
      <p:sp>
        <p:nvSpPr>
          <p:cNvPr id="955" name="Q card 2"/>
          <p:cNvSpPr/>
          <p:nvPr/>
        </p:nvSpPr>
        <p:spPr>
          <a:xfrm>
            <a:off x="822960" y="3493008"/>
            <a:ext cx="10515600" cy="768096"/>
          </a:xfrm>
          <a:prstGeom prst="roundRect">
            <a:avLst>
              <a:gd name="adj" fmla="val 12000"/>
            </a:avLst>
          </a:prstGeom>
          <a:solidFill>
            <a:srgbClr val="F3F5F4"/>
          </a:solidFill>
          <a:ln w="9525">
            <a:solidFill>
              <a:srgbClr val="D9DEDB"/>
            </a:solidFill>
          </a:ln>
        </p:spPr>
        <p:txBody>
          <a:bodyPr wrap="square" lIns="0" tIns="0" rIns="0" bIns="0" anchor="t">
            <a:noAutofit/>
          </a:bodyPr>
          <a:lstStyle/>
          <a:p>
            <a:pPr algn="l"/>
          </a:p>
        </p:txBody>
      </p:sp>
      <p:sp>
        <p:nvSpPr>
          <p:cNvPr id="956" name="Q 2"/>
          <p:cNvSpPr txBox="1"/>
          <p:nvPr/>
        </p:nvSpPr>
        <p:spPr>
          <a:xfrm>
            <a:off x="1005840" y="3557016"/>
            <a:ext cx="10149840" cy="256032"/>
          </a:xfrm>
          <a:prstGeom prst="rect">
            <a:avLst/>
          </a:prstGeom>
          <a:noFill/>
          <a:ln>
            <a:noFill/>
          </a:ln>
        </p:spPr>
        <p:txBody>
          <a:bodyPr wrap="square" lIns="0" tIns="0" rIns="0" bIns="0" anchor="t">
            <a:noAutofit/>
          </a:bodyPr>
          <a:lstStyle/>
          <a:p>
            <a:pPr algn="l"/>
            <a:r>
              <a:rPr lang="en-US" sz="1250" b="1" dirty="0">
                <a:solidFill>
                  <a:srgbClr val="1F2328"/>
                </a:solidFill>
                <a:latin typeface="Calibri"/>
                <a:cs typeface="Calibri"/>
              </a:rPr>
              <a:t xml:space="preserve">Are the external ontologies actually used?</a:t>
            </a:r>
          </a:p>
        </p:txBody>
      </p:sp>
      <p:sp>
        <p:nvSpPr>
          <p:cNvPr id="957" name="A 2"/>
          <p:cNvSpPr txBox="1"/>
          <p:nvPr/>
        </p:nvSpPr>
        <p:spPr>
          <a:xfrm>
            <a:off x="1005840" y="3813048"/>
            <a:ext cx="10149840" cy="420624"/>
          </a:xfrm>
          <a:prstGeom prst="rect">
            <a:avLst/>
          </a:prstGeom>
          <a:noFill/>
          <a:ln>
            <a:noFill/>
          </a:ln>
        </p:spPr>
        <p:txBody>
          <a:bodyPr wrap="square" lIns="0" tIns="0" rIns="0" bIns="0" anchor="t">
            <a:noAutofit/>
          </a:bodyPr>
          <a:lstStyle/>
          <a:p>
            <a:pPr algn="l"/>
            <a:r>
              <a:rPr lang="en-US" sz="1100" b="0" dirty="0">
                <a:solidFill>
                  <a:srgbClr val="3A434C"/>
                </a:solidFill>
                <a:latin typeface="Calibri"/>
                <a:cs typeface="Calibri"/>
              </a:rPr>
              <a:t xml:space="preserve">Retrieved external concepts are passed as context, and alignment axioms are added only on a good match. In the ablation, full RIGOR has the highest external-ontology alignment (F1 0.059 vs 0.033 without retrieval), though absolute values are small.</a:t>
            </a:r>
          </a:p>
        </p:txBody>
      </p:sp>
      <p:sp>
        <p:nvSpPr>
          <p:cNvPr id="958" name="Q card 3"/>
          <p:cNvSpPr/>
          <p:nvPr/>
        </p:nvSpPr>
        <p:spPr>
          <a:xfrm>
            <a:off x="822960" y="4334256"/>
            <a:ext cx="10515600" cy="768096"/>
          </a:xfrm>
          <a:prstGeom prst="roundRect">
            <a:avLst>
              <a:gd name="adj" fmla="val 12000"/>
            </a:avLst>
          </a:prstGeom>
          <a:solidFill>
            <a:srgbClr val="F3F5F4"/>
          </a:solidFill>
          <a:ln w="9525">
            <a:solidFill>
              <a:srgbClr val="D9DEDB"/>
            </a:solidFill>
          </a:ln>
        </p:spPr>
        <p:txBody>
          <a:bodyPr wrap="square" lIns="0" tIns="0" rIns="0" bIns="0" anchor="t">
            <a:noAutofit/>
          </a:bodyPr>
          <a:lstStyle/>
          <a:p>
            <a:pPr algn="l"/>
          </a:p>
        </p:txBody>
      </p:sp>
      <p:sp>
        <p:nvSpPr>
          <p:cNvPr id="959" name="Q 3"/>
          <p:cNvSpPr txBox="1"/>
          <p:nvPr/>
        </p:nvSpPr>
        <p:spPr>
          <a:xfrm>
            <a:off x="1005840" y="4398264"/>
            <a:ext cx="10149840" cy="256032"/>
          </a:xfrm>
          <a:prstGeom prst="rect">
            <a:avLst/>
          </a:prstGeom>
          <a:noFill/>
          <a:ln>
            <a:noFill/>
          </a:ln>
        </p:spPr>
        <p:txBody>
          <a:bodyPr wrap="square" lIns="0" tIns="0" rIns="0" bIns="0" anchor="t">
            <a:noAutofit/>
          </a:bodyPr>
          <a:lstStyle/>
          <a:p>
            <a:pPr algn="l"/>
            <a:r>
              <a:rPr lang="en-US" sz="1250" b="1" dirty="0">
                <a:solidFill>
                  <a:srgbClr val="1F2328"/>
                </a:solidFill>
                <a:latin typeface="Calibri"/>
                <a:cs typeface="Calibri"/>
              </a:rPr>
              <a:t xml:space="preserve">How does the traversal handle self-referencing foreign keys (Chinook Employee.ReportsTo)?</a:t>
            </a:r>
          </a:p>
        </p:txBody>
      </p:sp>
      <p:sp>
        <p:nvSpPr>
          <p:cNvPr id="960" name="A 3"/>
          <p:cNvSpPr txBox="1"/>
          <p:nvPr/>
        </p:nvSpPr>
        <p:spPr>
          <a:xfrm>
            <a:off x="1005840" y="4654296"/>
            <a:ext cx="10149840" cy="420624"/>
          </a:xfrm>
          <a:prstGeom prst="rect">
            <a:avLst/>
          </a:prstGeom>
          <a:noFill/>
          <a:ln>
            <a:noFill/>
          </a:ln>
        </p:spPr>
        <p:txBody>
          <a:bodyPr wrap="square" lIns="0" tIns="0" rIns="0" bIns="0" anchor="t">
            <a:noAutofit/>
          </a:bodyPr>
          <a:lstStyle/>
          <a:p>
            <a:pPr algn="l"/>
            <a:r>
              <a:rPr lang="en-US" sz="1100" b="0" dirty="0">
                <a:solidFill>
                  <a:srgbClr val="3A434C"/>
                </a:solidFill>
                <a:latin typeface="Calibri"/>
                <a:cs typeface="Calibri"/>
              </a:rPr>
              <a:t xml:space="preserve">A self-reference does not wait on another table, so it does not affect the order; it becomes an object property from the class to itself, which the prompt allows for meaningful recursive relations.</a:t>
            </a:r>
          </a:p>
        </p:txBody>
      </p:sp>
      <p:sp>
        <p:nvSpPr>
          <p:cNvPr id="961" name="Q card 4"/>
          <p:cNvSpPr/>
          <p:nvPr/>
        </p:nvSpPr>
        <p:spPr>
          <a:xfrm>
            <a:off x="822960" y="5175504"/>
            <a:ext cx="10515600" cy="768096"/>
          </a:xfrm>
          <a:prstGeom prst="roundRect">
            <a:avLst>
              <a:gd name="adj" fmla="val 12000"/>
            </a:avLst>
          </a:prstGeom>
          <a:solidFill>
            <a:srgbClr val="F3F5F4"/>
          </a:solidFill>
          <a:ln w="9525">
            <a:solidFill>
              <a:srgbClr val="D9DEDB"/>
            </a:solidFill>
          </a:ln>
        </p:spPr>
        <p:txBody>
          <a:bodyPr wrap="square" lIns="0" tIns="0" rIns="0" bIns="0" anchor="t">
            <a:noAutofit/>
          </a:bodyPr>
          <a:lstStyle/>
          <a:p>
            <a:pPr algn="l"/>
          </a:p>
        </p:txBody>
      </p:sp>
      <p:sp>
        <p:nvSpPr>
          <p:cNvPr id="962" name="Q 4"/>
          <p:cNvSpPr txBox="1"/>
          <p:nvPr/>
        </p:nvSpPr>
        <p:spPr>
          <a:xfrm>
            <a:off x="1005840" y="5239512"/>
            <a:ext cx="10149840" cy="256032"/>
          </a:xfrm>
          <a:prstGeom prst="rect">
            <a:avLst/>
          </a:prstGeom>
          <a:noFill/>
          <a:ln>
            <a:noFill/>
          </a:ln>
        </p:spPr>
        <p:txBody>
          <a:bodyPr wrap="square" lIns="0" tIns="0" rIns="0" bIns="0" anchor="t">
            <a:noAutofit/>
          </a:bodyPr>
          <a:lstStyle/>
          <a:p>
            <a:pPr algn="l"/>
            <a:r>
              <a:rPr lang="en-US" sz="1250" b="1" dirty="0">
                <a:solidFill>
                  <a:srgbClr val="1F2328"/>
                </a:solidFill>
                <a:latin typeface="Calibri"/>
                <a:cs typeface="Calibri"/>
              </a:rPr>
              <a:t xml:space="preserve">Why not compare with Gemini 2.5 Pro on BURR?</a:t>
            </a:r>
          </a:p>
        </p:txBody>
      </p:sp>
      <p:sp>
        <p:nvSpPr>
          <p:cNvPr id="963" name="A 4"/>
          <p:cNvSpPr txBox="1"/>
          <p:nvPr/>
        </p:nvSpPr>
        <p:spPr>
          <a:xfrm>
            <a:off x="1005840" y="5495544"/>
            <a:ext cx="10149840" cy="420624"/>
          </a:xfrm>
          <a:prstGeom prst="rect">
            <a:avLst/>
          </a:prstGeom>
          <a:noFill/>
          <a:ln>
            <a:noFill/>
          </a:ln>
        </p:spPr>
        <p:txBody>
          <a:bodyPr wrap="square" lIns="0" tIns="0" rIns="0" bIns="0" anchor="t">
            <a:noAutofit/>
          </a:bodyPr>
          <a:lstStyle/>
          <a:p>
            <a:pPr algn="l"/>
            <a:r>
              <a:rPr lang="en-US" sz="1100" b="0" dirty="0">
                <a:solidFill>
                  <a:srgbClr val="3A434C"/>
                </a:solidFill>
                <a:latin typeface="Calibri"/>
                <a:cs typeface="Calibri"/>
              </a:rPr>
              <a:t xml:space="preserve">In BURR it is a general-purpose LLM prompted to write the mapping directly: a mapping generator, not an ontology-learning system. Against it, RIGOR's class F1 is higher (.73 vs .65), relations are on par (.67 vs .68), attributes lower (.52 vs .56), and RIGOR also produces labels, hierarchy and provenance.</a:t>
            </a:r>
          </a:p>
        </p:txBody>
      </p:sp>
    </p:spTree>
  </p:cSld>
  <p:clrMapOvr>
    <a:masterClrMapping/>
  </p:clrMapOvr>
</p:sld>
</file>

<file path=ppt/theme/theme1.xml><?xml version="1.0" encoding="utf-8"?>
<a:theme xmlns:a="http://schemas.openxmlformats.org/drawingml/2006/main" xmlns:r="http://schemas.openxmlformats.org/officeDocument/2006/relationships" name="RIGOR · ISWC 2026 Talk">
  <a:themeElements>
    <a:clrScheme name="RIGOR · ISWC 2026 Talk">
      <a:dk1>
        <a:srgbClr val="111A28"/>
      </a:dk1>
      <a:lt1>
        <a:srgbClr val="F2F4F7"/>
      </a:lt1>
      <a:dk2>
        <a:srgbClr val="49515C"/>
      </a:dk2>
      <a:lt2>
        <a:srgbClr val="DCDEE2"/>
      </a:lt2>
      <a:accent1>
        <a:srgbClr val="2345C4"/>
      </a:accent1>
      <a:accent2>
        <a:srgbClr val="F4A261"/>
      </a:accent2>
      <a:accent3>
        <a:srgbClr val="B4561C"/>
      </a:accent3>
      <a:accent4>
        <a:srgbClr val="8FA5EB"/>
      </a:accent4>
      <a:accent5>
        <a:srgbClr val="8AA4FF"/>
      </a:accent5>
      <a:accent6>
        <a:srgbClr val="E9873A"/>
      </a:accent6>
      <a:hlink>
        <a:srgbClr val="0563C1"/>
      </a:hlink>
      <a:folHlink>
        <a:srgbClr val="954F72"/>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RIGOR · ISWC 2026 Talk">
  <a:themeElements>
    <a:clrScheme name="RIGOR · ISWC 2026 Talk">
      <a:dk1>
        <a:srgbClr val="111A28"/>
      </a:dk1>
      <a:lt1>
        <a:srgbClr val="F2F4F7"/>
      </a:lt1>
      <a:dk2>
        <a:srgbClr val="49515C"/>
      </a:dk2>
      <a:lt2>
        <a:srgbClr val="DCDEE2"/>
      </a:lt2>
      <a:accent1>
        <a:srgbClr val="2345C4"/>
      </a:accent1>
      <a:accent2>
        <a:srgbClr val="F4A261"/>
      </a:accent2>
      <a:accent3>
        <a:srgbClr val="B4561C"/>
      </a:accent3>
      <a:accent4>
        <a:srgbClr val="8FA5EB"/>
      </a:accent4>
      <a:accent5>
        <a:srgbClr val="8AA4FF"/>
      </a:accent5>
      <a:accent6>
        <a:srgbClr val="E9873A"/>
      </a:accent6>
      <a:hlink>
        <a:srgbClr val="0563C1"/>
      </a:hlink>
      <a:folHlink>
        <a:srgbClr val="954F72"/>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2026-10-26T00:50:16Z</dcterms:created>
</cp:coreProperties>
</file>