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 id="280" r:id="rId38"/>
    <p:sldId id="281" r:id="rId39"/>
    <p:sldId id="282" r:id="rId40"/>
    <p:sldId id="283" r:id="rId41"/>
    <p:sldId id="284" r:id="rId4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 Id="rId38" Type="http://schemas.openxmlformats.org/officeDocument/2006/relationships/slide" Target="slides/slide25.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SPOKEN SCRIPT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[0:25–1:07]  SPOKEN SCRIPT (74 words)</a:t>
            </a:r>
          </a:p>
          <a:p>
            <a:r>
              <a:t>Imagine you inherit this clinical database. Admission points to PatientData through a foreign key. That link is clear. But look at the columns. What is BM_DEP? What does an ECOG stage of three mean? The schema cannot tell you. Yet these meanings are exactly what ontology-based access, knowledge graphs and data integration need. So our problem is not reading the SQL. It is recovering the domain meaning, while keeping the structure we can trust.</a:t>
            </a:r>
          </a:p>
          <a:p/>
          <a:p>
            <a:r>
              <a:t>PRESENTER / POINTER: Point at the FK arrow, then BM_DEP, then ecog_stage. Let the questions hang for a second.</a:t>
            </a:r>
          </a:p>
          <a:p>
            <a:r>
              <a:t>AUDIENCE TAKEAWAY: The schema knows storage and links, not clinical meaning.</a:t>
            </a:r>
          </a:p>
          <a:p>
            <a:r>
              <a:t>SOURCE AND SCOPE: Illustrative table assembled from examples in paper Sections 3.2 and 3.4.</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[1:07–1:48]  SPOKEN SCRIPT (72 words)</a:t>
            </a:r>
          </a:p>
          <a:p>
            <a:r>
              <a:rPr lang="en-US" sz="1200">
                <a:solidFill>
                  <a:schemeClr val="dk1"/>
                </a:solidFill>
                <a:latin typeface="Calibri"/>
                <a:ea typeface="Calibri"/>
                <a:cs typeface="Calibri"/>
                <a:sym typeface="Calibri"/>
              </a:rPr>
              <a:t>Here is what we want. Admission and PatientData become classes, and the foreign key becomes a real relation between them. Now look at the code. BM_DEP gets a human-readable label: Bone Marrow Depression. ECOG gets a comment that explains its codes. And every element records where it came from, with prov:wasDerivedFrom. That is a usable semantic model. The challenge is to add all this meaning without losing a single column or link.</a:t>
            </a:r>
          </a:p>
          <a:p/>
          <a:p>
            <a:r>
              <a:rPr lang="en-US" sz="1200">
                <a:solidFill>
                  <a:schemeClr val="dk1"/>
                </a:solidFill>
                <a:latin typeface="Calibri"/>
                <a:ea typeface="Calibri"/>
                <a:cs typeface="Calibri"/>
                <a:sym typeface="Calibri"/>
              </a:rPr>
              <a:t>PRESENTER / POINTER: Diagram first, then read the three code glosses on the right.</a:t>
            </a:r>
          </a:p>
          <a:p>
            <a:r>
              <a:rPr lang="en-US" sz="1200">
                <a:solidFill>
                  <a:schemeClr val="dk1"/>
                </a:solidFill>
                <a:latin typeface="Calibri"/>
                <a:ea typeface="Calibri"/>
                <a:cs typeface="Calibri"/>
                <a:sym typeface="Calibri"/>
              </a:rPr>
              <a:t>AUDIENCE TAKEAWAY: Target: linked, labelled, traceable, and nothing lost.</a:t>
            </a:r>
          </a:p>
          <a:p>
            <a:r>
              <a:rPr lang="en-US" sz="1200">
                <a:solidFill>
                  <a:schemeClr val="dk1"/>
                </a:solidFill>
                <a:latin typeface="Calibri"/>
                <a:ea typeface="Calibri"/>
                <a:cs typeface="Calibri"/>
                <a:sym typeface="Calibri"/>
              </a:rPr>
              <a:t>SOURCE AND SCOPE: Illustrative OWL fragment, verified with the OWL API (presentation/excerpts/slide03_target.omn).</a:t>
            </a: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[1:48–2:26]  SPOKEN SCRIPT (66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they add no domain meaning. LLMs can suggest meaning: labels, concepts, relations. But they omit columns, or model keys wrongly. So our question is: can we keep schema fidelity and add domain semantics, across a whole database, with no expert in the loop during generation?</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[2:26–2:50]  SPOKEN SCRIPT (42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And as a preview: experts ranked it first in seventy percent of their rankings. Let's build it on our example.</a:t>
            </a:r>
          </a:p>
          <a:p/>
          <a:p>
            <a:r>
              <a:rPr lang="en-US" sz="1200">
                <a:solidFill>
                  <a:schemeClr val="dk1"/>
                </a:solidFill>
                <a:latin typeface="Calibri"/>
                <a:ea typeface="Calibri"/>
                <a:cs typeface="Calibri"/>
                <a:sym typeface="Calibri"/>
              </a:rPr>
              <a:t>PRESENTER / POINTER: Sweep along the six steps. Point at the result preview once.</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 preview from Table 1.</a:t>
            </a: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[2:50–3:22]  SPOKEN SCRIPT (56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Why? By the time we reach Admission, PatientData already exists in our ontology. So we reuse that class, instead of inventing a second, incompatible one.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[3:22–3:59]  SPOKEN SCRIPT (66 words)</a:t>
            </a:r>
          </a:p>
          <a:p>
            <a:r>
              <a:t>Step two: seed. Before any LLM is involved, a deterministic direct mapping turns the table into OWL. Admission becomes a class. The foreign key becomes an object property, and every admission must have a patient. Each column becomes a data property with its XSD type. This seed covers every column of the cleaned table, by construction. So the LLM's job is to enrich, not to invent.</a:t>
            </a:r>
          </a:p>
          <a:p/>
          <a:p>
            <a:r>
              <a:t>PRESENTER / POINTER: Read the glosses: 'each has a patient', 'the FK becomes a link'.</a:t>
            </a:r>
          </a:p>
          <a:p>
            <a:r>
              <a:t>AUDIENCE TAKEAWAY: A deterministic seed guarantees coverage before the LLM starts.</a:t>
            </a:r>
          </a:p>
          <a:p>
            <a:r>
              <a:t>SOURCE AND SCOPE: Paper Section 3.2. The guarantee holds for the seed; final coverage is reported later.</a:t>
            </a:r>
          </a:p>
          <a:p>
            <a:r>
              <a:t>IF RUNNING LATE, DROP: "So the LLM's job is to enrich, not to invent."</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[3:59–4:41]  SPOKEN SCRIPT (73 words)</a:t>
            </a:r>
          </a:p>
          <a:p>
            <a:r>
              <a:rPr lang="en-US" sz="1200">
                <a:solidFill>
                  <a:schemeClr val="dk1"/>
                </a:solidFill>
                <a:latin typeface="Calibri"/>
                <a:ea typeface="Calibri"/>
                <a:cs typeface="Calibri"/>
                <a:sym typeface="Calibri"/>
              </a:rPr>
              <a:t>The seed is faithful, but it still doesn't say what BM_DEP means. So step three retrieves context from three sources. Documentation explains cryptic names and codes. External domain ontologies suggest established concepts. And the third source is the distinctive one: the ontology we have built so far. Earlier tables become evidence for the next. One query per table, built from its name, columns and foreign keys, retrieves the top three matches per source.</a:t>
            </a:r>
          </a:p>
          <a:p/>
          <a:p>
            <a:r>
              <a:rPr lang="en-US" sz="1200">
                <a:solidFill>
                  <a:schemeClr val="dk1"/>
                </a:solidFill>
                <a:latin typeface="Calibri"/>
                <a:ea typeface="Calibri"/>
                <a:cs typeface="Calibri"/>
                <a:sym typeface="Calibri"/>
              </a:rPr>
              <a:t>PRESENTER / POINTER: Walk the three cards; slow down on the growing core.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a:p>
            <a:r>
              <a:rPr lang="en-US" sz="1200">
                <a:solidFill>
                  <a:schemeClr val="dk1"/>
                </a:solidFill>
                <a:latin typeface="Calibri"/>
                <a:ea typeface="Calibri"/>
                <a:cs typeface="Calibri"/>
                <a:sym typeface="Calibri"/>
              </a:rPr>
              <a:t>IF RUNNING LATE, DROP: "One query per table, built from its name, columns and foreign keys, retrieves the top three matches per source."</a:t>
            </a: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[4:41–5:22]  SPOKEN SCRIPT (72 words)</a:t>
            </a:r>
          </a:p>
          <a:p>
            <a:r>
              <a:t>Step four: generate. One prompt combines the seed, the retrieved context and our enrichment instructions. The Gen-LLM returns a delta ontology. Read the code from top to bottom. The foreign key is now a named relation, hasPatientData, from the schema. BM_DEP gets its label, and ECOG its scale, both from the documentation. And provenance links ecog_stage back to its source column. The tags on the right show which evidence informed each part.</a:t>
            </a:r>
          </a:p>
          <a:p/>
          <a:p>
            <a:r>
              <a:t>PRESENTER / POINTER: Top to bottom through the code; touch each evidence tag.</a:t>
            </a:r>
          </a:p>
          <a:p>
            <a:r>
              <a:t>AUDIENCE TAKEAWAY: The LLM enriches a grounded draft, and every addition is traceable.</a:t>
            </a:r>
          </a:p>
          <a:p>
            <a:r>
              <a:t>SOURCE AND SCOPE: Paper Sections 3.3-3.4. Illustrative fragment, verified with the OWL API.</a:t>
            </a:r>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[5:22–6:25]  SPOKEN SCRIPT (110 words)</a:t>
            </a:r>
          </a:p>
          <a:p>
            <a:r>
              <a:t>A capable LLM rarely gets syntax wrong. The real risk is a fragment that looks right but clashes with the ontology built so far. So step five validates every delta before it is merged. On the left, the model names the target class Patient, although the core already has PatientData. That is valid OWL, but now two classes mean the same thing. The Judge-LLM sees the core and asks to reuse it. On the right, a later table reuses hasPatientData with a second domain. OWL then infers that every lab result is an admission. Rule-based graph checks catch this. Failed fragments go back for correction, with up to two retries.</a:t>
            </a:r>
          </a:p>
          <a:p/>
          <a:p>
            <a:r>
              <a:t>PRESENTER / POINTER: Left, right, then the correction strip.</a:t>
            </a:r>
          </a:p>
          <a:p>
            <a:r>
              <a:t>AUDIENCE TAKEAWAY: The Judge catches clashes in meaning; rules catch clashes in structure.</a:t>
            </a:r>
          </a:p>
          <a:p>
            <a:r>
              <a:t>SOURCE AND SCOPE: Paper Section 3.5 (Judge criterion 9: core ontology consistency; graph check: domain/range cardinality). Two domains = OOPS! pitfall P19, still reported in 3/9 RIGOR runs (Table 7). Examples verified with the OWL API (presentation/excerpts/slide10_*.omn).</a:t>
            </a:r>
          </a:p>
          <a:p/>
          <a:p>
            <a:r>
              <a:t>IF ASKED: P19 is exactly the error that sometimes still slips through (3 of 9 runs); feeding validator output back into generation is our next step (slide 22).</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[6:25–6:53]  SPOKEN SCRIPT (49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RIGOR never starts from scratch: each table builds on the ones before.</a:t>
            </a:r>
          </a:p>
          <a:p/>
          <a:p>
            <a:r>
              <a:rPr lang="en-US" sz="1200">
                <a:solidFill>
                  <a:schemeClr val="dk1"/>
                </a:solidFill>
                <a:latin typeface="Calibri"/>
                <a:ea typeface="Calibri"/>
                <a:cs typeface="Calibri"/>
                <a:sym typeface="Calibri"/>
              </a:rPr>
              <a:t>PRESENTER / POINTER: Core plus delta, then the arrow back to retrieval.</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[6:53–7:03]  SPOKEN SCRIPT (18 words)</a:t>
            </a:r>
          </a:p>
          <a:p>
            <a:r>
              <a:rPr lang="en-US" sz="1200">
                <a:solidFill>
                  <a:schemeClr val="dk1"/>
                </a:solidFill>
                <a:latin typeface="Calibri"/>
                <a:ea typeface="Calibri"/>
                <a:cs typeface="Calibri"/>
                <a:sym typeface="Calibri"/>
              </a:rPr>
              <a:t>Let me put the pieces together, as in the paper's Figure 1. First, the schema decides the order.</a:t>
            </a:r>
          </a:p>
          <a:p/>
          <a:p>
            <a:r>
              <a:rPr lang="en-US" sz="1200">
                <a:solidFill>
                  <a:schemeClr val="dk1"/>
                </a:solidFill>
                <a:latin typeface="Calibri"/>
                <a:ea typeface="Calibri"/>
                <a:cs typeface="Calibri"/>
                <a:sym typeface="Calibri"/>
              </a:rPr>
              <a:t>PRESENTER / POINTER: Quick click. Reconnect, do not re-explain.</a:t>
            </a:r>
          </a:p>
          <a:p>
            <a:r>
              <a:rPr lang="en-US" sz="1200">
                <a:solidFill>
                  <a:schemeClr val="dk1"/>
                </a:solidFill>
                <a:latin typeface="Calibri"/>
                <a:ea typeface="Calibri"/>
                <a:cs typeface="Calibri"/>
                <a:sym typeface="Calibri"/>
              </a:rPr>
              <a:t>AUDIENCE TAKEAWAY: Order.</a:t>
            </a:r>
          </a:p>
          <a:p>
            <a:r>
              <a:rPr lang="en-US" sz="1200">
                <a:solidFill>
                  <a:schemeClr val="dk1"/>
                </a:solidFill>
                <a:latin typeface="Calibri"/>
                <a:ea typeface="Calibri"/>
                <a:cs typeface="Calibri"/>
                <a:sym typeface="Calibri"/>
              </a:rPr>
              <a:t>SOURCE AND SCOPE: Paper Fig. 1(a).</a:t>
            </a: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[7:03–7:11]  SPOKEN SCRIPT (14 words)</a:t>
            </a:r>
          </a:p>
          <a:p>
            <a:r>
              <a:rPr lang="en-US" sz="1200">
                <a:solidFill>
                  <a:schemeClr val="dk1"/>
                </a:solidFill>
                <a:latin typeface="Calibri"/>
                <a:ea typeface="Calibri"/>
                <a:cs typeface="Calibri"/>
                <a:sym typeface="Calibri"/>
              </a:rPr>
              <a:t>Each table then gets its deterministic seed: the structural anchor for everything that follows.</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Seed.</a:t>
            </a:r>
          </a:p>
          <a:p>
            <a:r>
              <a:rPr lang="en-US" sz="1200">
                <a:solidFill>
                  <a:schemeClr val="dk1"/>
                </a:solidFill>
                <a:latin typeface="Calibri"/>
                <a:ea typeface="Calibri"/>
                <a:cs typeface="Calibri"/>
                <a:sym typeface="Calibri"/>
              </a:rPr>
              <a:t>SOURCE AND SCOPE: Paper Fig. 1(b).</a:t>
            </a: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[7:11–7:20]  SPOKEN SCRIPT (15 words)</a:t>
            </a:r>
          </a:p>
          <a:p>
            <a:r>
              <a:rPr lang="en-US" sz="1200">
                <a:solidFill>
                  <a:schemeClr val="dk1"/>
                </a:solidFill>
                <a:latin typeface="Calibri"/>
                <a:ea typeface="Calibri"/>
                <a:cs typeface="Calibri"/>
                <a:sym typeface="Calibri"/>
              </a:rPr>
              <a:t>Three retrieval channels add meaning: external ontologies, documentation, and the core ontology built so far.</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Retrieve.</a:t>
            </a:r>
          </a:p>
          <a:p>
            <a:r>
              <a:rPr lang="en-US" sz="1200">
                <a:solidFill>
                  <a:schemeClr val="dk1"/>
                </a:solidFill>
                <a:latin typeface="Calibri"/>
                <a:ea typeface="Calibri"/>
                <a:cs typeface="Calibri"/>
                <a:sym typeface="Calibri"/>
              </a:rPr>
              <a:t>SOURCE AND SCOPE: Paper Fig. 1(c-e).</a:t>
            </a: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[7:20–7:26]  SPOKEN SCRIPT (10 words)</a:t>
            </a:r>
          </a:p>
          <a:p>
            <a:r>
              <a:rPr lang="en-US" sz="1200">
                <a:solidFill>
                  <a:schemeClr val="dk1"/>
                </a:solidFill>
                <a:latin typeface="Calibri"/>
                <a:ea typeface="Calibri"/>
                <a:cs typeface="Calibri"/>
                <a:sym typeface="Calibri"/>
              </a:rPr>
              <a:t>The Gen-LLM combines seed and context into a delta ontology.</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Generate.</a:t>
            </a:r>
          </a:p>
          <a:p>
            <a:r>
              <a:rPr lang="en-US" sz="1200">
                <a:solidFill>
                  <a:schemeClr val="dk1"/>
                </a:solidFill>
                <a:latin typeface="Calibri"/>
                <a:ea typeface="Calibri"/>
                <a:cs typeface="Calibri"/>
                <a:sym typeface="Calibri"/>
              </a:rPr>
              <a:t>SOURCE AND SCOPE: Paper Fig. 1(f-g).</a:t>
            </a: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[7:26–7:33]  SPOKEN SCRIPT (12 words)</a:t>
            </a:r>
          </a:p>
          <a:p>
            <a:r>
              <a:rPr lang="en-US" sz="1200">
                <a:solidFill>
                  <a:schemeClr val="dk1"/>
                </a:solidFill>
                <a:latin typeface="Calibri"/>
                <a:ea typeface="Calibri"/>
                <a:cs typeface="Calibri"/>
                <a:sym typeface="Calibri"/>
              </a:rPr>
              <a:t>A Judge-LLM and rule-based checks validate the delta before it can join.</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Validate.</a:t>
            </a:r>
          </a:p>
          <a:p>
            <a:r>
              <a:rPr lang="en-US" sz="1200">
                <a:solidFill>
                  <a:schemeClr val="dk1"/>
                </a:solidFill>
                <a:latin typeface="Calibri"/>
                <a:ea typeface="Calibri"/>
                <a:cs typeface="Calibri"/>
                <a:sym typeface="Calibri"/>
              </a:rPr>
              <a:t>SOURCE AND SCOPE: Paper Fig. 1(h).</a:t>
            </a: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[7:33–7:44]  SPOKEN SCRIPT (20 words)</a:t>
            </a:r>
          </a:p>
          <a:p>
            <a:r>
              <a:t>And the validated delta is merged into the core, which feeds retrieval for the next table. That loop is RIGOR.</a:t>
            </a:r>
          </a:p>
          <a:p/>
          <a:p>
            <a:r>
              <a:t>PRESENTER / POINTER: Trace the green return arrow from (i) back to (e).</a:t>
            </a:r>
          </a:p>
          <a:p>
            <a:r>
              <a:t>AUDIENCE TAKEAWAY: Merge, and loop.</a:t>
            </a:r>
          </a:p>
          <a:p>
            <a:r>
              <a:t>SOURCE AND SCOPE: Paper Fig. 1(i).</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[7:44–8:19]  SPOKEN SCRIPT (62 words)</a:t>
            </a:r>
          </a:p>
          <a:p>
            <a:r>
              <a:rPr lang="en-US" sz="1200">
                <a:solidFill>
                  <a:schemeClr val="dk1"/>
                </a:solidFill>
                <a:latin typeface="Calibri"/>
                <a:ea typeface="Calibri"/>
                <a:cs typeface="Calibri"/>
                <a:sym typeface="Calibri"/>
              </a:rPr>
              <a:t>Does this work beyond one example? We tested three databases: a private liver-cancer registry, the large eICU intensive-care schema, and Chinook, a music store, as a second domain. Three generator LLMs. And four methods: direct mapping, a zero-shot LLM, single-pass retrieval, and RIGOR. That gives thirty ontologies, judged by quality checks, an independent evaluation judge, ten human experts, and the BURR benchmark.</a:t>
            </a:r>
          </a:p>
          <a:p/>
          <a:p>
            <a:r>
              <a:rPr lang="en-US" sz="1200">
                <a:solidFill>
                  <a:schemeClr val="dk1"/>
                </a:solidFill>
                <a:latin typeface="Calibri"/>
                <a:ea typeface="Calibri"/>
                <a:cs typeface="Calibri"/>
                <a:sym typeface="Calibri"/>
              </a:rPr>
              <a:t>PRESENTER / POINTER: Datasets, then the four methods. Do not read every number.</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LLMs x 3 methods x 3 databases + 3 direct mappings.</a:t>
            </a: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[10:18–11:05]  SPOKEN SCRIPT (80 words)</a:t>
            </a:r>
          </a:p>
          <a:p>
            <a:r>
              <a:rPr lang="en-US" sz="1200">
                <a:solidFill>
                  <a:schemeClr val="dk1"/>
                </a:solidFill>
                <a:latin typeface="Calibri"/>
                <a:ea typeface="Calibri"/>
                <a:cs typeface="Calibri"/>
                <a:sym typeface="Calibri"/>
              </a:rPr>
              <a:t>Finally, the most important question: do people prefer it? Ten ontology experts compared anonymized fragments for four medical tables, and ranked them. RIGOR came first in twenty-eight of forty rankings. [pause] That is seventy percent. Their agreement was statistically significant, with Kendall's W between 0.39 and 0.72. An independent LLM judge, GPT-5.4, then ranked Claude's fragments for all fifty-eight tables, against five competency questions each. It put RIGOR first on every table. The expert sample is small, but both signals agree.</a:t>
            </a:r>
          </a:p>
          <a:p/>
          <a:p>
            <a:r>
              <a:rPr lang="en-US" sz="1200">
                <a:solidFill>
                  <a:schemeClr val="dk1"/>
                </a:solidFill>
                <a:latin typeface="Calibri"/>
                <a:ea typeface="Calibri"/>
                <a:cs typeface="Calibri"/>
                <a:sym typeface="Calibri"/>
              </a:rPr>
              <a:t>PRESENTER / POINTER: Pause on 70%. Then the bars, then the LLM-judge strip.</a:t>
            </a:r>
          </a:p>
          <a:p>
            <a:r>
              <a:rPr lang="en-US" sz="1200">
                <a:solidFill>
                  <a:schemeClr val="dk1"/>
                </a:solidFill>
                <a:latin typeface="Calibri"/>
                <a:ea typeface="Calibri"/>
                <a:cs typeface="Calibri"/>
                <a:sym typeface="Calibri"/>
              </a:rPr>
              <a:t>AUDIENCE TAKEAWAY: Human experts and an independent LLM judge both prefer RIGOR.</a:t>
            </a:r>
          </a:p>
          <a:p>
            <a:r>
              <a:rPr lang="en-US" sz="1200">
                <a:solidFill>
                  <a:schemeClr val="dk1"/>
                </a:solidFill>
                <a:latin typeface="Calibri"/>
                <a:ea typeface="Calibri"/>
                <a:cs typeface="Calibri"/>
                <a:sym typeface="Calibri"/>
              </a:rPr>
              <a:t>SOURCE AND SCOPE: Paper Tables 1 and 12. LLM judge: Claude outputs only, 290 competency questions.</a:t>
            </a:r>
          </a:p>
          <a:p>
            <a:r>
              <a:rPr lang="en-US" sz="1200">
                <a:solidFill>
                  <a:schemeClr val="dk1"/>
                </a:solidFill>
                <a:latin typeface="Calibri"/>
                <a:ea typeface="Calibri"/>
                <a:cs typeface="Calibri"/>
                <a:sym typeface="Calibri"/>
              </a:rPr>
              <a:t>IF RUNNING LATE, DROP: "Their agreement was statistically significant, with Kendall's W between 0.39 and 0.72."</a:t>
            </a: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[8:19–9:14]  SPOKEN SCRIPT (88 words)</a:t>
            </a:r>
          </a:p>
          <a:p>
            <a:r>
              <a:t>First result: does RIGOR add meaning without losing structure? This table shows what each method's ontologies contain. Direct mapping keeps the columns, but adds no labels, no hierarchy, no provenance. Single-pass retrieval adds labels, but it drops columns: in one run it kept only six percent. [pause] RIGOR is the only method with class hierarchies and provenance in all nine runs, while keeping seventy-seven to one hundred percent of the columns. And it has the fewest modeling pitfalls in every like-for-like comparison: zero on Chinook, with all three LLMs. [pause]</a:t>
            </a:r>
          </a:p>
          <a:p/>
          <a:p>
            <a:r>
              <a:t>PRESENTER / POINTER: Point at Non-Iterative's 0.06 first; read the RIGOR row last.</a:t>
            </a:r>
          </a:p>
          <a:p>
            <a:r>
              <a:t>AUDIENCE TAKEAWAY: Only RIGOR adds hierarchy and provenance and still keeps the schema.</a:t>
            </a:r>
          </a:p>
          <a:p>
            <a:r>
              <a:t>SOURCE AND SCOPE: Paper Tables 7, 8, 9. Coverage is an embedding-based proxy; Direct Mapping is complete by construction. Like-for-like = same database and same LLM. Disjointness (1/9 runs) is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[9:14–10:18]  SPOKEN SCRIPT (112 words)</a:t>
            </a:r>
          </a:p>
          <a:p>
            <a:r>
              <a:t>Second: is the link back to the data real? We checked with BURR, an external benchmark for ontology learning from relational databases. BURR asks every system for a mapping: which table becomes a class, which foreign key a relation, which column an attribute. Two elements match when they map to the same database elements, whatever they are called. BURR scores this against a gold mapping, with F1 per element type. RIGOR's provenance gives us this mapping directly; we export it as D2RQ. On BURR's ISWC scenario, RIGOR has the highest F1 for classes, relations and attributes among the compared ontology-learning systems, including both rule-based ones. So enrichment did not cost us fidelity.</a:t>
            </a:r>
          </a:p>
          <a:p/>
          <a:p>
            <a:r>
              <a:t>PRESENTER / POINTER: Left card first, then land on the RIGOR row.</a:t>
            </a:r>
          </a:p>
          <a:p>
            <a:r>
              <a:t>AUDIENCE TAKEAWAY: Semantic enrichment did not break the correspondence that OBDA and KG population need.</a:t>
            </a:r>
          </a:p>
          <a:p>
            <a:r>
              <a:t>SOURCE AND SCOPE: Paper Table 13. BURR = Laskowski et al., PACMMOD 2025; matching rule from BURR Section 4, Eq. 3. Left-card element names are illustrative.</a:t>
            </a:r>
          </a:p>
          <a:p>
            <a:r>
              <a:t>IF RUNNING LATE, DROP: "Two elements match when they map to the same database elements, whatever they are called."</a:t>
            </a:r>
          </a:p>
          <a:p/>
          <a:p>
            <a:r>
              <a:t>DO NOT SAY: 'BURR found LLMs trail rule-based systems'. BURR's results show Gemini 2.5 Pro ahead of the rule-based systems overall (rule-based systems win only on NPD).</a:t>
            </a:r>
          </a:p>
          <a:p/>
          <a:p>
            <a:r>
              <a:t>IF ASKED ABOUT GEMINI 2.5 PRO (BURR Table 3, ISWC .65 / .68 / .56): in BURR it is a general-purpose LLM prompted with few-shot examples and a checklist to write the D2RQ mapping directly. It is a mapping generator, not an ontology-learning system that builds an enriched ontology, so we compare with ontology-learning systems. Against it, RIGOR's class F1 is higher, relations are on par, attributes lower, and RIGOR also produces labels, hierarchy and provenance. It is prompted, not fine-tuned.</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[11:05–12:00]  SPOKEN SCRIPT (96 words)</a:t>
            </a:r>
          </a:p>
          <a:p>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p>
          <a:p/>
          <a:p>
            <a:r>
              <a:rPr lang="en-US" sz="1200">
                <a:solidFill>
                  <a:schemeClr val="dk1"/>
                </a:solidFill>
                <a:latin typeface="Calibri"/>
                <a:ea typeface="Calibri"/>
                <a:cs typeface="Calibri"/>
                <a:sym typeface="Calibri"/>
              </a:rPr>
              <a:t>PRESENTER / POINTER: Rows, label, code, left to right. Say 'candidate' or 'may have contributed', never 'caused'.</a:t>
            </a:r>
          </a:p>
          <a:p>
            <a:r>
              <a:rPr lang="en-US" sz="1200">
                <a:solidFill>
                  <a:schemeClr val="dk1"/>
                </a:solidFill>
                <a:latin typeface="Calibri"/>
                <a:ea typeface="Calibri"/>
                <a:cs typeface="Calibri"/>
                <a:sym typeface="Calibri"/>
              </a:rPr>
              <a:t>AUDIENCE TAKEAWAY: Instances plus documentation can propose knowledge; experts confirm it.</a:t>
            </a:r>
          </a:p>
          <a:p>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"We also want validator and reasoner feedback inside the loop."</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[12:00–12:33]  SPOKEN SCRIPT (57 words)</a:t>
            </a:r>
          </a:p>
          <a:p>
            <a: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t>PRESENTER / POINTER: Finish speaking by 13:30. Leave this slide up during questions; backups follow it.</a:t>
            </a:r>
          </a:p>
          <a:p>
            <a:r>
              <a:t>AUDIENCE TAKEAWAY: Grounded, retrieved, validated.</a:t>
            </a:r>
          </a:p>
          <a:p>
            <a:r>
              <a:t>SOURCE AND SCOPE: Recap of the paper; contact address on the slide.</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Calibri"/>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9" name="Cover panel"/>
          <p:cNvSpPr/>
          <p:nvPr/>
        </p:nvSpPr>
        <p:spPr>
          <a:xfrm>
            <a:off x="8092440" y="0"/>
            <a:ext cx="4099255" cy="6858000"/>
          </a:xfrm>
          <a:prstGeom prst="rect">
            <a:avLst/>
          </a:prstGeom>
          <a:solidFill>
            <a:srgbClr val="FAFBFA"/>
          </a:solidFill>
          <a:ln>
            <a:noFill/>
          </a:ln>
        </p:spPr>
        <p:txBody>
          <a:bodyPr wrap="square" lIns="0" tIns="0" rIns="0" bIns="0" anchor="t">
            <a:noAutofit/>
          </a:bodyPr>
          <a:lstStyle/>
          <a:p>
            <a:pPr algn="l"/>
          </a:p>
        </p:txBody>
      </p:sp>
      <p:sp>
        <p:nvSpPr>
          <p:cNvPr id="30" name="Grid line"/>
          <p:cNvSpPr/>
          <p:nvPr/>
        </p:nvSpPr>
        <p:spPr>
          <a:xfrm>
            <a:off x="8366760" y="0"/>
            <a:ext cx="6400" cy="6858000"/>
          </a:xfrm>
          <a:prstGeom prst="rect">
            <a:avLst/>
          </a:prstGeom>
          <a:solidFill>
            <a:srgbClr val="E6ECE8"/>
          </a:solidFill>
          <a:ln>
            <a:noFill/>
          </a:ln>
        </p:spPr>
        <p:txBody>
          <a:bodyPr wrap="square" lIns="0" tIns="0" rIns="0" bIns="0" anchor="t">
            <a:noAutofit/>
          </a:bodyPr>
          <a:lstStyle/>
          <a:p>
            <a:pPr algn="l"/>
          </a:p>
        </p:txBody>
      </p:sp>
      <p:sp>
        <p:nvSpPr>
          <p:cNvPr id="31" name="Grid line"/>
          <p:cNvSpPr/>
          <p:nvPr/>
        </p:nvSpPr>
        <p:spPr>
          <a:xfrm>
            <a:off x="8641080" y="0"/>
            <a:ext cx="6400" cy="6858000"/>
          </a:xfrm>
          <a:prstGeom prst="rect">
            <a:avLst/>
          </a:prstGeom>
          <a:solidFill>
            <a:srgbClr val="E6ECE8"/>
          </a:solidFill>
          <a:ln>
            <a:noFill/>
          </a:ln>
        </p:spPr>
        <p:txBody>
          <a:bodyPr wrap="square" lIns="0" tIns="0" rIns="0" bIns="0" anchor="t">
            <a:noAutofit/>
          </a:bodyPr>
          <a:lstStyle/>
          <a:p>
            <a:pPr algn="l"/>
          </a:p>
        </p:txBody>
      </p:sp>
      <p:sp>
        <p:nvSpPr>
          <p:cNvPr id="32" name="Grid line"/>
          <p:cNvSpPr/>
          <p:nvPr/>
        </p:nvSpPr>
        <p:spPr>
          <a:xfrm>
            <a:off x="8915400" y="0"/>
            <a:ext cx="6400" cy="6858000"/>
          </a:xfrm>
          <a:prstGeom prst="rect">
            <a:avLst/>
          </a:prstGeom>
          <a:solidFill>
            <a:srgbClr val="E6ECE8"/>
          </a:solidFill>
          <a:ln>
            <a:noFill/>
          </a:ln>
        </p:spPr>
        <p:txBody>
          <a:bodyPr wrap="square" lIns="0" tIns="0" rIns="0" bIns="0" anchor="t">
            <a:noAutofit/>
          </a:bodyPr>
          <a:lstStyle/>
          <a:p>
            <a:pPr algn="l"/>
          </a:p>
        </p:txBody>
      </p:sp>
      <p:sp>
        <p:nvSpPr>
          <p:cNvPr id="33" name="Grid line"/>
          <p:cNvSpPr/>
          <p:nvPr/>
        </p:nvSpPr>
        <p:spPr>
          <a:xfrm>
            <a:off x="9189720" y="0"/>
            <a:ext cx="6400" cy="6858000"/>
          </a:xfrm>
          <a:prstGeom prst="rect">
            <a:avLst/>
          </a:prstGeom>
          <a:solidFill>
            <a:srgbClr val="E6ECE8"/>
          </a:solidFill>
          <a:ln>
            <a:noFill/>
          </a:ln>
        </p:spPr>
        <p:txBody>
          <a:bodyPr wrap="square" lIns="0" tIns="0" rIns="0" bIns="0" anchor="t">
            <a:noAutofit/>
          </a:bodyPr>
          <a:lstStyle/>
          <a:p>
            <a:pPr algn="l"/>
          </a:p>
        </p:txBody>
      </p:sp>
      <p:sp>
        <p:nvSpPr>
          <p:cNvPr id="34" name="Grid line"/>
          <p:cNvSpPr/>
          <p:nvPr/>
        </p:nvSpPr>
        <p:spPr>
          <a:xfrm>
            <a:off x="9464040" y="0"/>
            <a:ext cx="6400" cy="6858000"/>
          </a:xfrm>
          <a:prstGeom prst="rect">
            <a:avLst/>
          </a:prstGeom>
          <a:solidFill>
            <a:srgbClr val="E6ECE8"/>
          </a:solidFill>
          <a:ln>
            <a:noFill/>
          </a:ln>
        </p:spPr>
        <p:txBody>
          <a:bodyPr wrap="square" lIns="0" tIns="0" rIns="0" bIns="0" anchor="t">
            <a:noAutofit/>
          </a:bodyPr>
          <a:lstStyle/>
          <a:p>
            <a:pPr algn="l"/>
          </a:p>
        </p:txBody>
      </p:sp>
      <p:sp>
        <p:nvSpPr>
          <p:cNvPr id="35" name="Grid line"/>
          <p:cNvSpPr/>
          <p:nvPr/>
        </p:nvSpPr>
        <p:spPr>
          <a:xfrm>
            <a:off x="9738360" y="0"/>
            <a:ext cx="6400" cy="6858000"/>
          </a:xfrm>
          <a:prstGeom prst="rect">
            <a:avLst/>
          </a:prstGeom>
          <a:solidFill>
            <a:srgbClr val="E6ECE8"/>
          </a:solidFill>
          <a:ln>
            <a:noFill/>
          </a:ln>
        </p:spPr>
        <p:txBody>
          <a:bodyPr wrap="square" lIns="0" tIns="0" rIns="0" bIns="0" anchor="t">
            <a:noAutofit/>
          </a:bodyPr>
          <a:lstStyle/>
          <a:p>
            <a:pPr algn="l"/>
          </a:p>
        </p:txBody>
      </p:sp>
      <p:sp>
        <p:nvSpPr>
          <p:cNvPr id="36" name="Grid line"/>
          <p:cNvSpPr/>
          <p:nvPr/>
        </p:nvSpPr>
        <p:spPr>
          <a:xfrm>
            <a:off x="10012680" y="0"/>
            <a:ext cx="6400" cy="6858000"/>
          </a:xfrm>
          <a:prstGeom prst="rect">
            <a:avLst/>
          </a:prstGeom>
          <a:solidFill>
            <a:srgbClr val="E6ECE8"/>
          </a:solidFill>
          <a:ln>
            <a:noFill/>
          </a:ln>
        </p:spPr>
        <p:txBody>
          <a:bodyPr wrap="square" lIns="0" tIns="0" rIns="0" bIns="0" anchor="t">
            <a:noAutofit/>
          </a:bodyPr>
          <a:lstStyle/>
          <a:p>
            <a:pPr algn="l"/>
          </a:p>
        </p:txBody>
      </p:sp>
      <p:sp>
        <p:nvSpPr>
          <p:cNvPr id="37" name="Grid line"/>
          <p:cNvSpPr/>
          <p:nvPr/>
        </p:nvSpPr>
        <p:spPr>
          <a:xfrm>
            <a:off x="10287000" y="0"/>
            <a:ext cx="6400" cy="6858000"/>
          </a:xfrm>
          <a:prstGeom prst="rect">
            <a:avLst/>
          </a:prstGeom>
          <a:solidFill>
            <a:srgbClr val="E6ECE8"/>
          </a:solidFill>
          <a:ln>
            <a:noFill/>
          </a:ln>
        </p:spPr>
        <p:txBody>
          <a:bodyPr wrap="square" lIns="0" tIns="0" rIns="0" bIns="0" anchor="t">
            <a:noAutofit/>
          </a:bodyPr>
          <a:lstStyle/>
          <a:p>
            <a:pPr algn="l"/>
          </a:p>
        </p:txBody>
      </p:sp>
      <p:sp>
        <p:nvSpPr>
          <p:cNvPr id="38" name="Grid line"/>
          <p:cNvSpPr/>
          <p:nvPr/>
        </p:nvSpPr>
        <p:spPr>
          <a:xfrm>
            <a:off x="10561320" y="0"/>
            <a:ext cx="6400" cy="6858000"/>
          </a:xfrm>
          <a:prstGeom prst="rect">
            <a:avLst/>
          </a:prstGeom>
          <a:solidFill>
            <a:srgbClr val="E6ECE8"/>
          </a:solidFill>
          <a:ln>
            <a:noFill/>
          </a:ln>
        </p:spPr>
        <p:txBody>
          <a:bodyPr wrap="square" lIns="0" tIns="0" rIns="0" bIns="0" anchor="t">
            <a:noAutofit/>
          </a:bodyPr>
          <a:lstStyle/>
          <a:p>
            <a:pPr algn="l"/>
          </a:p>
        </p:txBody>
      </p:sp>
      <p:sp>
        <p:nvSpPr>
          <p:cNvPr id="39" name="Grid line"/>
          <p:cNvSpPr/>
          <p:nvPr/>
        </p:nvSpPr>
        <p:spPr>
          <a:xfrm>
            <a:off x="10835640" y="0"/>
            <a:ext cx="6400" cy="6858000"/>
          </a:xfrm>
          <a:prstGeom prst="rect">
            <a:avLst/>
          </a:prstGeom>
          <a:solidFill>
            <a:srgbClr val="E6ECE8"/>
          </a:solidFill>
          <a:ln>
            <a:noFill/>
          </a:ln>
        </p:spPr>
        <p:txBody>
          <a:bodyPr wrap="square" lIns="0" tIns="0" rIns="0" bIns="0" anchor="t">
            <a:noAutofit/>
          </a:bodyPr>
          <a:lstStyle/>
          <a:p>
            <a:pPr algn="l"/>
          </a:p>
        </p:txBody>
      </p:sp>
      <p:sp>
        <p:nvSpPr>
          <p:cNvPr id="40" name="Grid line"/>
          <p:cNvSpPr/>
          <p:nvPr/>
        </p:nvSpPr>
        <p:spPr>
          <a:xfrm>
            <a:off x="11109960" y="0"/>
            <a:ext cx="6400" cy="6858000"/>
          </a:xfrm>
          <a:prstGeom prst="rect">
            <a:avLst/>
          </a:prstGeom>
          <a:solidFill>
            <a:srgbClr val="E6ECE8"/>
          </a:solidFill>
          <a:ln>
            <a:noFill/>
          </a:ln>
        </p:spPr>
        <p:txBody>
          <a:bodyPr wrap="square" lIns="0" tIns="0" rIns="0" bIns="0" anchor="t">
            <a:noAutofit/>
          </a:bodyPr>
          <a:lstStyle/>
          <a:p>
            <a:pPr algn="l"/>
          </a:p>
        </p:txBody>
      </p:sp>
      <p:sp>
        <p:nvSpPr>
          <p:cNvPr id="41" name="Grid line"/>
          <p:cNvSpPr/>
          <p:nvPr/>
        </p:nvSpPr>
        <p:spPr>
          <a:xfrm>
            <a:off x="11384280" y="0"/>
            <a:ext cx="6400" cy="6858000"/>
          </a:xfrm>
          <a:prstGeom prst="rect">
            <a:avLst/>
          </a:prstGeom>
          <a:solidFill>
            <a:srgbClr val="E6ECE8"/>
          </a:solidFill>
          <a:ln>
            <a:noFill/>
          </a:ln>
        </p:spPr>
        <p:txBody>
          <a:bodyPr wrap="square" lIns="0" tIns="0" rIns="0" bIns="0" anchor="t">
            <a:noAutofit/>
          </a:bodyPr>
          <a:lstStyle/>
          <a:p>
            <a:pPr algn="l"/>
          </a:p>
        </p:txBody>
      </p:sp>
      <p:sp>
        <p:nvSpPr>
          <p:cNvPr id="42" name="Grid line"/>
          <p:cNvSpPr/>
          <p:nvPr/>
        </p:nvSpPr>
        <p:spPr>
          <a:xfrm>
            <a:off x="11658600" y="0"/>
            <a:ext cx="6400" cy="6858000"/>
          </a:xfrm>
          <a:prstGeom prst="rect">
            <a:avLst/>
          </a:prstGeom>
          <a:solidFill>
            <a:srgbClr val="E6ECE8"/>
          </a:solidFill>
          <a:ln>
            <a:noFill/>
          </a:ln>
        </p:spPr>
        <p:txBody>
          <a:bodyPr wrap="square" lIns="0" tIns="0" rIns="0" bIns="0" anchor="t">
            <a:noAutofit/>
          </a:bodyPr>
          <a:lstStyle/>
          <a:p>
            <a:pPr algn="l"/>
          </a:p>
        </p:txBody>
      </p:sp>
      <p:sp>
        <p:nvSpPr>
          <p:cNvPr id="43" name="Grid line"/>
          <p:cNvSpPr/>
          <p:nvPr/>
        </p:nvSpPr>
        <p:spPr>
          <a:xfrm>
            <a:off x="11932920" y="0"/>
            <a:ext cx="6400" cy="6858000"/>
          </a:xfrm>
          <a:prstGeom prst="rect">
            <a:avLst/>
          </a:prstGeom>
          <a:solidFill>
            <a:srgbClr val="E6ECE8"/>
          </a:solidFill>
          <a:ln>
            <a:noFill/>
          </a:ln>
        </p:spPr>
        <p:txBody>
          <a:bodyPr wrap="square" lIns="0" tIns="0" rIns="0" bIns="0" anchor="t">
            <a:noAutofit/>
          </a:bodyPr>
          <a:lstStyle/>
          <a:p>
            <a:pPr algn="l"/>
          </a:p>
        </p:txBody>
      </p:sp>
      <p:sp>
        <p:nvSpPr>
          <p:cNvPr id="44" name="Grid line"/>
          <p:cNvSpPr/>
          <p:nvPr/>
        </p:nvSpPr>
        <p:spPr>
          <a:xfrm>
            <a:off x="8092440" y="274320"/>
            <a:ext cx="4099255" cy="6400"/>
          </a:xfrm>
          <a:prstGeom prst="rect">
            <a:avLst/>
          </a:prstGeom>
          <a:solidFill>
            <a:srgbClr val="E6ECE8"/>
          </a:solidFill>
          <a:ln>
            <a:noFill/>
          </a:ln>
        </p:spPr>
        <p:txBody>
          <a:bodyPr wrap="square" lIns="0" tIns="0" rIns="0" bIns="0" anchor="t">
            <a:noAutofit/>
          </a:bodyPr>
          <a:lstStyle/>
          <a:p>
            <a:pPr algn="l"/>
          </a:p>
        </p:txBody>
      </p:sp>
      <p:sp>
        <p:nvSpPr>
          <p:cNvPr id="45" name="Grid line"/>
          <p:cNvSpPr/>
          <p:nvPr/>
        </p:nvSpPr>
        <p:spPr>
          <a:xfrm>
            <a:off x="8092440" y="548640"/>
            <a:ext cx="4099255" cy="6400"/>
          </a:xfrm>
          <a:prstGeom prst="rect">
            <a:avLst/>
          </a:prstGeom>
          <a:solidFill>
            <a:srgbClr val="E6ECE8"/>
          </a:solidFill>
          <a:ln>
            <a:noFill/>
          </a:ln>
        </p:spPr>
        <p:txBody>
          <a:bodyPr wrap="square" lIns="0" tIns="0" rIns="0" bIns="0" anchor="t">
            <a:noAutofit/>
          </a:bodyPr>
          <a:lstStyle/>
          <a:p>
            <a:pPr algn="l"/>
          </a:p>
        </p:txBody>
      </p:sp>
      <p:sp>
        <p:nvSpPr>
          <p:cNvPr id="46" name="Grid line"/>
          <p:cNvSpPr/>
          <p:nvPr/>
        </p:nvSpPr>
        <p:spPr>
          <a:xfrm>
            <a:off x="8092440" y="822959"/>
            <a:ext cx="4099255" cy="6400"/>
          </a:xfrm>
          <a:prstGeom prst="rect">
            <a:avLst/>
          </a:prstGeom>
          <a:solidFill>
            <a:srgbClr val="E6ECE8"/>
          </a:solidFill>
          <a:ln>
            <a:noFill/>
          </a:ln>
        </p:spPr>
        <p:txBody>
          <a:bodyPr wrap="square" lIns="0" tIns="0" rIns="0" bIns="0" anchor="t">
            <a:noAutofit/>
          </a:bodyPr>
          <a:lstStyle/>
          <a:p>
            <a:pPr algn="l"/>
          </a:p>
        </p:txBody>
      </p:sp>
      <p:sp>
        <p:nvSpPr>
          <p:cNvPr id="47" name="Grid line"/>
          <p:cNvSpPr/>
          <p:nvPr/>
        </p:nvSpPr>
        <p:spPr>
          <a:xfrm>
            <a:off x="8092440" y="1097280"/>
            <a:ext cx="4099255" cy="6400"/>
          </a:xfrm>
          <a:prstGeom prst="rect">
            <a:avLst/>
          </a:prstGeom>
          <a:solidFill>
            <a:srgbClr val="E6ECE8"/>
          </a:solidFill>
          <a:ln>
            <a:noFill/>
          </a:ln>
        </p:spPr>
        <p:txBody>
          <a:bodyPr wrap="square" lIns="0" tIns="0" rIns="0" bIns="0" anchor="t">
            <a:noAutofit/>
          </a:bodyPr>
          <a:lstStyle/>
          <a:p>
            <a:pPr algn="l"/>
          </a:p>
        </p:txBody>
      </p:sp>
      <p:sp>
        <p:nvSpPr>
          <p:cNvPr id="48" name="Grid line"/>
          <p:cNvSpPr/>
          <p:nvPr/>
        </p:nvSpPr>
        <p:spPr>
          <a:xfrm>
            <a:off x="8092440" y="1371600"/>
            <a:ext cx="4099255" cy="6400"/>
          </a:xfrm>
          <a:prstGeom prst="rect">
            <a:avLst/>
          </a:prstGeom>
          <a:solidFill>
            <a:srgbClr val="E6ECE8"/>
          </a:solidFill>
          <a:ln>
            <a:noFill/>
          </a:ln>
        </p:spPr>
        <p:txBody>
          <a:bodyPr wrap="square" lIns="0" tIns="0" rIns="0" bIns="0" anchor="t">
            <a:noAutofit/>
          </a:bodyPr>
          <a:lstStyle/>
          <a:p>
            <a:pPr algn="l"/>
          </a:p>
        </p:txBody>
      </p:sp>
      <p:sp>
        <p:nvSpPr>
          <p:cNvPr id="49" name="Grid line"/>
          <p:cNvSpPr/>
          <p:nvPr/>
        </p:nvSpPr>
        <p:spPr>
          <a:xfrm>
            <a:off x="8092440" y="1645920"/>
            <a:ext cx="4099255" cy="6400"/>
          </a:xfrm>
          <a:prstGeom prst="rect">
            <a:avLst/>
          </a:prstGeom>
          <a:solidFill>
            <a:srgbClr val="E6ECE8"/>
          </a:solidFill>
          <a:ln>
            <a:noFill/>
          </a:ln>
        </p:spPr>
        <p:txBody>
          <a:bodyPr wrap="square" lIns="0" tIns="0" rIns="0" bIns="0" anchor="t">
            <a:noAutofit/>
          </a:bodyPr>
          <a:lstStyle/>
          <a:p>
            <a:pPr algn="l"/>
          </a:p>
        </p:txBody>
      </p:sp>
      <p:sp>
        <p:nvSpPr>
          <p:cNvPr id="50" name="Grid line"/>
          <p:cNvSpPr/>
          <p:nvPr/>
        </p:nvSpPr>
        <p:spPr>
          <a:xfrm>
            <a:off x="8092440" y="1920240"/>
            <a:ext cx="4099255" cy="6400"/>
          </a:xfrm>
          <a:prstGeom prst="rect">
            <a:avLst/>
          </a:prstGeom>
          <a:solidFill>
            <a:srgbClr val="E6ECE8"/>
          </a:solidFill>
          <a:ln>
            <a:noFill/>
          </a:ln>
        </p:spPr>
        <p:txBody>
          <a:bodyPr wrap="square" lIns="0" tIns="0" rIns="0" bIns="0" anchor="t">
            <a:noAutofit/>
          </a:bodyPr>
          <a:lstStyle/>
          <a:p>
            <a:pPr algn="l"/>
          </a:p>
        </p:txBody>
      </p:sp>
      <p:sp>
        <p:nvSpPr>
          <p:cNvPr id="51" name="Grid line"/>
          <p:cNvSpPr/>
          <p:nvPr/>
        </p:nvSpPr>
        <p:spPr>
          <a:xfrm>
            <a:off x="8092440" y="2194560"/>
            <a:ext cx="4099255" cy="6400"/>
          </a:xfrm>
          <a:prstGeom prst="rect">
            <a:avLst/>
          </a:prstGeom>
          <a:solidFill>
            <a:srgbClr val="E6ECE8"/>
          </a:solidFill>
          <a:ln>
            <a:noFill/>
          </a:ln>
        </p:spPr>
        <p:txBody>
          <a:bodyPr wrap="square" lIns="0" tIns="0" rIns="0" bIns="0" anchor="t">
            <a:noAutofit/>
          </a:bodyPr>
          <a:lstStyle/>
          <a:p>
            <a:pPr algn="l"/>
          </a:p>
        </p:txBody>
      </p:sp>
      <p:sp>
        <p:nvSpPr>
          <p:cNvPr id="52" name="Grid line"/>
          <p:cNvSpPr/>
          <p:nvPr/>
        </p:nvSpPr>
        <p:spPr>
          <a:xfrm>
            <a:off x="8092440" y="2468879"/>
            <a:ext cx="4099255" cy="6400"/>
          </a:xfrm>
          <a:prstGeom prst="rect">
            <a:avLst/>
          </a:prstGeom>
          <a:solidFill>
            <a:srgbClr val="E6ECE8"/>
          </a:solidFill>
          <a:ln>
            <a:noFill/>
          </a:ln>
        </p:spPr>
        <p:txBody>
          <a:bodyPr wrap="square" lIns="0" tIns="0" rIns="0" bIns="0" anchor="t">
            <a:noAutofit/>
          </a:bodyPr>
          <a:lstStyle/>
          <a:p>
            <a:pPr algn="l"/>
          </a:p>
        </p:txBody>
      </p:sp>
      <p:sp>
        <p:nvSpPr>
          <p:cNvPr id="53" name="Grid line"/>
          <p:cNvSpPr/>
          <p:nvPr/>
        </p:nvSpPr>
        <p:spPr>
          <a:xfrm>
            <a:off x="8092440" y="2743199"/>
            <a:ext cx="4099255" cy="6400"/>
          </a:xfrm>
          <a:prstGeom prst="rect">
            <a:avLst/>
          </a:prstGeom>
          <a:solidFill>
            <a:srgbClr val="E6ECE8"/>
          </a:solidFill>
          <a:ln>
            <a:noFill/>
          </a:ln>
        </p:spPr>
        <p:txBody>
          <a:bodyPr wrap="square" lIns="0" tIns="0" rIns="0" bIns="0" anchor="t">
            <a:noAutofit/>
          </a:bodyPr>
          <a:lstStyle/>
          <a:p>
            <a:pPr algn="l"/>
          </a:p>
        </p:txBody>
      </p:sp>
      <p:sp>
        <p:nvSpPr>
          <p:cNvPr id="54" name="Grid line"/>
          <p:cNvSpPr/>
          <p:nvPr/>
        </p:nvSpPr>
        <p:spPr>
          <a:xfrm>
            <a:off x="8092440" y="3017519"/>
            <a:ext cx="4099255" cy="6400"/>
          </a:xfrm>
          <a:prstGeom prst="rect">
            <a:avLst/>
          </a:prstGeom>
          <a:solidFill>
            <a:srgbClr val="E6ECE8"/>
          </a:solidFill>
          <a:ln>
            <a:noFill/>
          </a:ln>
        </p:spPr>
        <p:txBody>
          <a:bodyPr wrap="square" lIns="0" tIns="0" rIns="0" bIns="0" anchor="t">
            <a:noAutofit/>
          </a:bodyPr>
          <a:lstStyle/>
          <a:p>
            <a:pPr algn="l"/>
          </a:p>
        </p:txBody>
      </p:sp>
      <p:sp>
        <p:nvSpPr>
          <p:cNvPr id="55" name="Grid line"/>
          <p:cNvSpPr/>
          <p:nvPr/>
        </p:nvSpPr>
        <p:spPr>
          <a:xfrm>
            <a:off x="8092440" y="3291839"/>
            <a:ext cx="4099255" cy="6400"/>
          </a:xfrm>
          <a:prstGeom prst="rect">
            <a:avLst/>
          </a:prstGeom>
          <a:solidFill>
            <a:srgbClr val="E6ECE8"/>
          </a:solidFill>
          <a:ln>
            <a:noFill/>
          </a:ln>
        </p:spPr>
        <p:txBody>
          <a:bodyPr wrap="square" lIns="0" tIns="0" rIns="0" bIns="0" anchor="t">
            <a:noAutofit/>
          </a:bodyPr>
          <a:lstStyle/>
          <a:p>
            <a:pPr algn="l"/>
          </a:p>
        </p:txBody>
      </p:sp>
      <p:sp>
        <p:nvSpPr>
          <p:cNvPr id="56" name="Grid line"/>
          <p:cNvSpPr/>
          <p:nvPr/>
        </p:nvSpPr>
        <p:spPr>
          <a:xfrm>
            <a:off x="8092440" y="3566159"/>
            <a:ext cx="4099255" cy="6400"/>
          </a:xfrm>
          <a:prstGeom prst="rect">
            <a:avLst/>
          </a:prstGeom>
          <a:solidFill>
            <a:srgbClr val="E6ECE8"/>
          </a:solidFill>
          <a:ln>
            <a:noFill/>
          </a:ln>
        </p:spPr>
        <p:txBody>
          <a:bodyPr wrap="square" lIns="0" tIns="0" rIns="0" bIns="0" anchor="t">
            <a:noAutofit/>
          </a:bodyPr>
          <a:lstStyle/>
          <a:p>
            <a:pPr algn="l"/>
          </a:p>
        </p:txBody>
      </p:sp>
      <p:sp>
        <p:nvSpPr>
          <p:cNvPr id="57" name="Grid line"/>
          <p:cNvSpPr/>
          <p:nvPr/>
        </p:nvSpPr>
        <p:spPr>
          <a:xfrm>
            <a:off x="8092440" y="3840479"/>
            <a:ext cx="4099255" cy="6400"/>
          </a:xfrm>
          <a:prstGeom prst="rect">
            <a:avLst/>
          </a:prstGeom>
          <a:solidFill>
            <a:srgbClr val="E6ECE8"/>
          </a:solidFill>
          <a:ln>
            <a:noFill/>
          </a:ln>
        </p:spPr>
        <p:txBody>
          <a:bodyPr wrap="square" lIns="0" tIns="0" rIns="0" bIns="0" anchor="t">
            <a:noAutofit/>
          </a:bodyPr>
          <a:lstStyle/>
          <a:p>
            <a:pPr algn="l"/>
          </a:p>
        </p:txBody>
      </p:sp>
      <p:sp>
        <p:nvSpPr>
          <p:cNvPr id="58" name="Grid line"/>
          <p:cNvSpPr/>
          <p:nvPr/>
        </p:nvSpPr>
        <p:spPr>
          <a:xfrm>
            <a:off x="8092440" y="4114799"/>
            <a:ext cx="4099255" cy="6400"/>
          </a:xfrm>
          <a:prstGeom prst="rect">
            <a:avLst/>
          </a:prstGeom>
          <a:solidFill>
            <a:srgbClr val="E6ECE8"/>
          </a:solidFill>
          <a:ln>
            <a:noFill/>
          </a:ln>
        </p:spPr>
        <p:txBody>
          <a:bodyPr wrap="square" lIns="0" tIns="0" rIns="0" bIns="0" anchor="t">
            <a:noAutofit/>
          </a:bodyPr>
          <a:lstStyle/>
          <a:p>
            <a:pPr algn="l"/>
          </a:p>
        </p:txBody>
      </p:sp>
      <p:sp>
        <p:nvSpPr>
          <p:cNvPr id="59" name="Grid line"/>
          <p:cNvSpPr/>
          <p:nvPr/>
        </p:nvSpPr>
        <p:spPr>
          <a:xfrm>
            <a:off x="8092440" y="4389119"/>
            <a:ext cx="4099255" cy="6400"/>
          </a:xfrm>
          <a:prstGeom prst="rect">
            <a:avLst/>
          </a:prstGeom>
          <a:solidFill>
            <a:srgbClr val="E6ECE8"/>
          </a:solidFill>
          <a:ln>
            <a:noFill/>
          </a:ln>
        </p:spPr>
        <p:txBody>
          <a:bodyPr wrap="square" lIns="0" tIns="0" rIns="0" bIns="0" anchor="t">
            <a:noAutofit/>
          </a:bodyPr>
          <a:lstStyle/>
          <a:p>
            <a:pPr algn="l"/>
          </a:p>
        </p:txBody>
      </p:sp>
      <p:sp>
        <p:nvSpPr>
          <p:cNvPr id="60" name="Grid line"/>
          <p:cNvSpPr/>
          <p:nvPr/>
        </p:nvSpPr>
        <p:spPr>
          <a:xfrm>
            <a:off x="8092440" y="4663439"/>
            <a:ext cx="4099255" cy="6400"/>
          </a:xfrm>
          <a:prstGeom prst="rect">
            <a:avLst/>
          </a:prstGeom>
          <a:solidFill>
            <a:srgbClr val="E6ECE8"/>
          </a:solidFill>
          <a:ln>
            <a:noFill/>
          </a:ln>
        </p:spPr>
        <p:txBody>
          <a:bodyPr wrap="square" lIns="0" tIns="0" rIns="0" bIns="0" anchor="t">
            <a:noAutofit/>
          </a:bodyPr>
          <a:lstStyle/>
          <a:p>
            <a:pPr algn="l"/>
          </a:p>
        </p:txBody>
      </p:sp>
      <p:sp>
        <p:nvSpPr>
          <p:cNvPr id="61" name="Grid line"/>
          <p:cNvSpPr/>
          <p:nvPr/>
        </p:nvSpPr>
        <p:spPr>
          <a:xfrm>
            <a:off x="8092440" y="4937759"/>
            <a:ext cx="4099255" cy="6400"/>
          </a:xfrm>
          <a:prstGeom prst="rect">
            <a:avLst/>
          </a:prstGeom>
          <a:solidFill>
            <a:srgbClr val="E6ECE8"/>
          </a:solidFill>
          <a:ln>
            <a:noFill/>
          </a:ln>
        </p:spPr>
        <p:txBody>
          <a:bodyPr wrap="square" lIns="0" tIns="0" rIns="0" bIns="0" anchor="t">
            <a:noAutofit/>
          </a:bodyPr>
          <a:lstStyle/>
          <a:p>
            <a:pPr algn="l"/>
          </a:p>
        </p:txBody>
      </p:sp>
      <p:sp>
        <p:nvSpPr>
          <p:cNvPr id="62" name="Grid line"/>
          <p:cNvSpPr/>
          <p:nvPr/>
        </p:nvSpPr>
        <p:spPr>
          <a:xfrm>
            <a:off x="8092440" y="5212079"/>
            <a:ext cx="4099255" cy="6400"/>
          </a:xfrm>
          <a:prstGeom prst="rect">
            <a:avLst/>
          </a:prstGeom>
          <a:solidFill>
            <a:srgbClr val="E6ECE8"/>
          </a:solidFill>
          <a:ln>
            <a:noFill/>
          </a:ln>
        </p:spPr>
        <p:txBody>
          <a:bodyPr wrap="square" lIns="0" tIns="0" rIns="0" bIns="0" anchor="t">
            <a:noAutofit/>
          </a:bodyPr>
          <a:lstStyle/>
          <a:p>
            <a:pPr algn="l"/>
          </a:p>
        </p:txBody>
      </p:sp>
      <p:sp>
        <p:nvSpPr>
          <p:cNvPr id="63" name="Grid line"/>
          <p:cNvSpPr/>
          <p:nvPr/>
        </p:nvSpPr>
        <p:spPr>
          <a:xfrm>
            <a:off x="8092440" y="5486399"/>
            <a:ext cx="4099255" cy="6400"/>
          </a:xfrm>
          <a:prstGeom prst="rect">
            <a:avLst/>
          </a:prstGeom>
          <a:solidFill>
            <a:srgbClr val="E6ECE8"/>
          </a:solidFill>
          <a:ln>
            <a:noFill/>
          </a:ln>
        </p:spPr>
        <p:txBody>
          <a:bodyPr wrap="square" lIns="0" tIns="0" rIns="0" bIns="0" anchor="t">
            <a:noAutofit/>
          </a:bodyPr>
          <a:lstStyle/>
          <a:p>
            <a:pPr algn="l"/>
          </a:p>
        </p:txBody>
      </p:sp>
      <p:sp>
        <p:nvSpPr>
          <p:cNvPr id="64" name="Grid line"/>
          <p:cNvSpPr/>
          <p:nvPr/>
        </p:nvSpPr>
        <p:spPr>
          <a:xfrm>
            <a:off x="8092440" y="5760719"/>
            <a:ext cx="4099255" cy="6400"/>
          </a:xfrm>
          <a:prstGeom prst="rect">
            <a:avLst/>
          </a:prstGeom>
          <a:solidFill>
            <a:srgbClr val="E6ECE8"/>
          </a:solidFill>
          <a:ln>
            <a:noFill/>
          </a:ln>
        </p:spPr>
        <p:txBody>
          <a:bodyPr wrap="square" lIns="0" tIns="0" rIns="0" bIns="0" anchor="t">
            <a:noAutofit/>
          </a:bodyPr>
          <a:lstStyle/>
          <a:p>
            <a:pPr algn="l"/>
          </a:p>
        </p:txBody>
      </p:sp>
      <p:sp>
        <p:nvSpPr>
          <p:cNvPr id="65" name="Grid line"/>
          <p:cNvSpPr/>
          <p:nvPr/>
        </p:nvSpPr>
        <p:spPr>
          <a:xfrm>
            <a:off x="8092440" y="6035039"/>
            <a:ext cx="4099255" cy="6400"/>
          </a:xfrm>
          <a:prstGeom prst="rect">
            <a:avLst/>
          </a:prstGeom>
          <a:solidFill>
            <a:srgbClr val="E6ECE8"/>
          </a:solidFill>
          <a:ln>
            <a:noFill/>
          </a:ln>
        </p:spPr>
        <p:txBody>
          <a:bodyPr wrap="square" lIns="0" tIns="0" rIns="0" bIns="0" anchor="t">
            <a:noAutofit/>
          </a:bodyPr>
          <a:lstStyle/>
          <a:p>
            <a:pPr algn="l"/>
          </a:p>
        </p:txBody>
      </p:sp>
      <p:sp>
        <p:nvSpPr>
          <p:cNvPr id="66" name="Grid line"/>
          <p:cNvSpPr/>
          <p:nvPr/>
        </p:nvSpPr>
        <p:spPr>
          <a:xfrm>
            <a:off x="8092440" y="6309359"/>
            <a:ext cx="4099255" cy="6400"/>
          </a:xfrm>
          <a:prstGeom prst="rect">
            <a:avLst/>
          </a:prstGeom>
          <a:solidFill>
            <a:srgbClr val="E6ECE8"/>
          </a:solidFill>
          <a:ln>
            <a:noFill/>
          </a:ln>
        </p:spPr>
        <p:txBody>
          <a:bodyPr wrap="square" lIns="0" tIns="0" rIns="0" bIns="0" anchor="t">
            <a:noAutofit/>
          </a:bodyPr>
          <a:lstStyle/>
          <a:p>
            <a:pPr algn="l"/>
          </a:p>
        </p:txBody>
      </p:sp>
      <p:sp>
        <p:nvSpPr>
          <p:cNvPr id="67" name="Grid line"/>
          <p:cNvSpPr/>
          <p:nvPr/>
        </p:nvSpPr>
        <p:spPr>
          <a:xfrm>
            <a:off x="8092440" y="6583679"/>
            <a:ext cx="4099255" cy="6400"/>
          </a:xfrm>
          <a:prstGeom prst="rect">
            <a:avLst/>
          </a:prstGeom>
          <a:solidFill>
            <a:srgbClr val="E6ECE8"/>
          </a:solidFill>
          <a:ln>
            <a:noFill/>
          </a:ln>
        </p:spPr>
        <p:txBody>
          <a:bodyPr wrap="square" lIns="0" tIns="0" rIns="0" bIns="0" anchor="t">
            <a:noAutofit/>
          </a:bodyPr>
          <a:lstStyle/>
          <a:p>
            <a:pPr algn="l"/>
          </a:p>
        </p:txBody>
      </p:sp>
      <p:sp>
        <p:nvSpPr>
          <p:cNvPr id="21" name="Google Shape;21;p1"/>
          <p:cNvSpPr txBox="1"/>
          <p:nvPr/>
        </p:nvSpPr>
        <p:spPr>
          <a:xfrm>
            <a:off x="795528" y="566928"/>
            <a:ext cx="67665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RESEARCH PAPER</a:t>
            </a:r>
            <a:endParaRPr/>
          </a:p>
        </p:txBody>
      </p:sp>
      <p:sp>
        <p:nvSpPr>
          <p:cNvPr id="22" name="Google Shape;22;p1"/>
          <p:cNvSpPr txBox="1"/>
          <p:nvPr/>
        </p:nvSpPr>
        <p:spPr>
          <a:xfrm>
            <a:off x="795528" y="1938528"/>
            <a:ext cx="6949440" cy="148132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Retrieval-Augmented</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Generation of Ontologies</a:t>
            </a:r>
            <a:endParaRPr sz="3000"/>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from Relati</a:t>
            </a:r>
            <a:r>
              <a:rPr b="1" i="0" lang="en-US" sz="3000" u="none" cap="none" strike="noStrike">
                <a:solidFill>
                  <a:srgbClr val="1F2328"/>
                </a:solidFill>
                <a:latin typeface="Cambria"/>
                <a:ea typeface="Calibri"/>
                <a:cs typeface="Calibri"/>
                <a:sym typeface="Calibri"/>
              </a:rPr>
              <a:t>o</a:t>
            </a:r>
            <a:r>
              <a:rPr b="1" i="0" lang="en-US" sz="3000" u="none" cap="none" strike="noStrike">
                <a:solidFill>
                  <a:srgbClr val="1F2328"/>
                </a:solidFill>
                <a:latin typeface="Cambria"/>
                <a:ea typeface="Calibri"/>
                <a:cs typeface="Calibri"/>
                <a:sym typeface="Calibri"/>
              </a:rPr>
              <a:t>nal Databases</a:t>
            </a:r>
            <a:endParaRPr sz="3000"/>
          </a:p>
        </p:txBody>
      </p:sp>
      <p:sp>
        <p:nvSpPr>
          <p:cNvPr id="25" name="Google Shape;25;p1"/>
          <p:cNvSpPr txBox="1"/>
          <p:nvPr/>
        </p:nvSpPr>
        <p:spPr>
          <a:xfrm>
            <a:off x="795528" y="6053328"/>
            <a:ext cx="694944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250" b="1">
                <a:solidFill>
                  <a:srgbClr val="5B6770"/>
                </a:solidFill>
                <a:latin typeface="Consolas"/>
                <a:ea typeface="Consolas"/>
                <a:cs typeface="Consolas"/>
                <a:sym typeface="Consolas"/>
              </a:rPr>
              <a:t>PAPER  </a:t>
            </a:r>
            <a:r>
              <a:rPr lang="en-US" sz="1250" b="0">
                <a:solidFill>
                  <a:srgbClr val="2F6B78"/>
                </a:solidFill>
                <a:latin typeface="Consolas"/>
                <a:ea typeface="Consolas"/>
                <a:cs typeface="Consolas"/>
                <a:sym typeface="Consolas"/>
              </a:rPr>
              <a:t>arXiv:2506.01232</a:t>
            </a:r>
            <a:r>
              <a:rPr lang="en-US" sz="1250" b="1">
                <a:solidFill>
                  <a:srgbClr val="5B6770"/>
                </a:solidFill>
                <a:latin typeface="Consolas"/>
                <a:ea typeface="Consolas"/>
                <a:cs typeface="Consolas"/>
                <a:sym typeface="Consolas"/>
              </a:rPr>
              <a:t>        CODE  </a:t>
            </a:r>
            <a:r>
              <a:rPr lang="en-US" sz="1250" b="0">
                <a:solidFill>
                  <a:srgbClr val="2F6B78"/>
                </a:solidFill>
                <a:latin typeface="Consolas"/>
                <a:ea typeface="Consolas"/>
                <a:cs typeface="Consolas"/>
                <a:sym typeface="Consolas"/>
              </a:rPr>
              <a:t>github.com/NadeenAhmad/RIGOR</a:t>
            </a:r>
            <a:endParaRPr sz="1250">
              <a:solidFill>
                <a:srgbClr val="1F2328"/>
              </a:solidFill>
            </a:endParaRPr>
          </a:p>
        </p:txBody>
      </p:sp>
      <p:pic>
        <p:nvPicPr>
          <p:cNvPr descr="A relational table whose highlighted row is mapped by RIGOR to a node of an ontology graph" id="26" name="Google Shape;26;p1"/>
          <p:cNvPicPr preferRelativeResize="0"/>
          <p:nvPr/>
        </p:nvPicPr>
        <p:blipFill rotWithShape="1">
          <a:blip r:embed="rId3">
            <a:alphaModFix/>
          </a:blip>
          <a:srcRect b="0" l="0" r="0" t="0"/>
          <a:stretch/>
        </p:blipFill>
        <p:spPr>
          <a:xfrm>
            <a:off x="8427567" y="1325880"/>
            <a:ext cx="3429000" cy="3066585"/>
          </a:xfrm>
          <a:prstGeom prst="rect">
            <a:avLst/>
          </a:prstGeom>
          <a:noFill/>
          <a:ln>
            <a:noFill/>
          </a:ln>
        </p:spPr>
      </p:pic>
      <p:sp>
        <p:nvSpPr>
          <p:cNvPr id="27" name="Google Shape;27;p1"/>
          <p:cNvSpPr txBox="1"/>
          <p:nvPr/>
        </p:nvSpPr>
        <p:spPr>
          <a:xfrm>
            <a:off x="8233257" y="4502193"/>
            <a:ext cx="1828800"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300" b="1">
                <a:solidFill>
                  <a:srgbClr val="1F2328"/>
                </a:solidFill>
                <a:latin typeface="Consolas"/>
                <a:ea typeface="Consolas"/>
                <a:cs typeface="Consolas"/>
                <a:sym typeface="Consolas"/>
              </a:rPr>
              <a:t>relational database</a:t>
            </a:r>
            <a:endParaRPr sz="1300">
              <a:solidFill>
                <a:srgbClr val="1F2328"/>
              </a:solidFill>
            </a:endParaRPr>
          </a:p>
        </p:txBody>
      </p:sp>
      <p:sp>
        <p:nvSpPr>
          <p:cNvPr id="28" name="Google Shape;28;p1"/>
          <p:cNvSpPr txBox="1"/>
          <p:nvPr/>
        </p:nvSpPr>
        <p:spPr>
          <a:xfrm>
            <a:off x="10119207" y="4502193"/>
            <a:ext cx="1828800"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300" b="1">
                <a:solidFill>
                  <a:srgbClr val="1F2328"/>
                </a:solidFill>
                <a:latin typeface="Consolas"/>
                <a:ea typeface="Consolas"/>
                <a:cs typeface="Consolas"/>
                <a:sym typeface="Consolas"/>
              </a:rPr>
              <a:t>ontology</a:t>
            </a:r>
            <a:endParaRPr sz="1300">
              <a:solidFill>
                <a:srgbClr val="1F2328"/>
              </a:solidFill>
            </a:endParaRPr>
          </a:p>
        </p:txBody>
      </p:sp>
      <p:sp>
        <p:nvSpPr>
          <p:cNvPr id="68" name="Wordmark"/>
          <p:cNvSpPr txBox="1"/>
          <p:nvPr/>
        </p:nvSpPr>
        <p:spPr>
          <a:xfrm>
            <a:off x="768096" y="987552"/>
            <a:ext cx="6766560" cy="868680"/>
          </a:xfrm>
          <a:prstGeom prst="rect">
            <a:avLst/>
          </a:prstGeom>
          <a:noFill/>
        </p:spPr>
        <p:txBody>
          <a:bodyPr wrap="square" lIns="0" tIns="0" rIns="0" bIns="0" anchor="t">
            <a:noAutofit/>
          </a:bodyPr>
          <a:lstStyle/>
          <a:p>
            <a:pPr/>
            <a:r>
              <a:rPr lang="en-US" sz="5400" b="1" i="0" spc="300" dirty="0">
                <a:solidFill>
                  <a:srgbClr val="0B6E4F"/>
                </a:solidFill>
                <a:latin typeface="Cambria"/>
                <a:cs typeface="Cambria"/>
              </a:rPr>
              <a:t xml:space="preserve">RIGOR</a:t>
            </a:r>
          </a:p>
        </p:txBody>
      </p:sp>
      <p:sp>
        <p:nvSpPr>
          <p:cNvPr id="69" name="Authors"/>
          <p:cNvSpPr txBox="1"/>
          <p:nvPr/>
        </p:nvSpPr>
        <p:spPr>
          <a:xfrm>
            <a:off x="795528" y="3822191"/>
            <a:ext cx="6949440" cy="960120"/>
          </a:xfrm>
          <a:prstGeom prst="rect">
            <a:avLst/>
          </a:prstGeom>
          <a:noFill/>
        </p:spPr>
        <p:txBody>
          <a:bodyPr wrap="square" lIns="0" tIns="0" rIns="0" bIns="0" anchor="t">
            <a:noAutofit/>
          </a:bodyPr>
          <a:lstStyle/>
          <a:p>
            <a:pPr>
              <a:lnSpc>
                <a:spcPts val="2300"/>
              </a:lnSpc>
            </a:pPr>
            <a:r>
              <a:rPr lang="en-US" sz="1500" b="1" i="0" dirty="0">
                <a:solidFill>
                  <a:srgbClr val="1F2328"/>
                </a:solidFill>
                <a:latin typeface="Calibri"/>
                <a:cs typeface="Calibri"/>
              </a:rPr>
              <a:t xml:space="preserve">Nadeen Fathallah</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Mojtaba Nayyeri</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Athish A Yogi</a:t>
            </a:r>
            <a:r>
              <a:rPr lang="en-US" sz="1500" b="1" i="0" baseline="30000" dirty="0">
                <a:solidFill>
                  <a:srgbClr val="0B6E4F"/>
                </a:solidFill>
                <a:latin typeface="Calibri"/>
                <a:cs typeface="Calibri"/>
              </a:rPr>
              <a:t xml:space="preserve">1</a:t>
            </a:r>
          </a:p>
          <a:p>
            <a:pPr>
              <a:lnSpc>
                <a:spcPts val="2300"/>
              </a:lnSpc>
            </a:pPr>
            <a:r>
              <a:rPr lang="en-US" sz="1500" b="0" i="0" dirty="0">
                <a:solidFill>
                  <a:srgbClr val="3A434C"/>
                </a:solidFill>
                <a:latin typeface="Calibri"/>
                <a:cs typeface="Calibri"/>
              </a:rPr>
              <a:t xml:space="preserve">Ratan Bahadur Thapa</a:t>
            </a:r>
            <a:r>
              <a:rPr lang="en-US" sz="1500" b="1" i="0" baseline="30000" dirty="0">
                <a:solidFill>
                  <a:srgbClr val="0B6E4F"/>
                </a:solidFill>
                <a:latin typeface="Calibri"/>
                <a:cs typeface="Calibri"/>
              </a:rPr>
              <a:t xml:space="preserve">1</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Hans-Michael Tautenhahn</a:t>
            </a:r>
            <a:r>
              <a:rPr lang="en-US" sz="1500" b="1" i="0" baseline="30000" dirty="0">
                <a:solidFill>
                  <a:srgbClr val="0B6E4F"/>
                </a:solidFill>
                <a:latin typeface="Calibri"/>
                <a:cs typeface="Calibri"/>
              </a:rPr>
              <a:t xml:space="preserve">3</a:t>
            </a:r>
          </a:p>
          <a:p>
            <a:pPr>
              <a:lnSpc>
                <a:spcPts val="2300"/>
              </a:lnSpc>
            </a:pPr>
            <a:r>
              <a:rPr lang="en-US" sz="1500" b="0" i="0" dirty="0">
                <a:solidFill>
                  <a:srgbClr val="3A434C"/>
                </a:solidFill>
                <a:latin typeface="Calibri"/>
                <a:cs typeface="Calibri"/>
              </a:rPr>
              <a:t xml:space="preserve">Anton Schnurpel</a:t>
            </a:r>
            <a:r>
              <a:rPr lang="en-US" sz="1500" b="1" i="0" baseline="30000" dirty="0">
                <a:solidFill>
                  <a:srgbClr val="0B6E4F"/>
                </a:solidFill>
                <a:latin typeface="Calibri"/>
                <a:cs typeface="Calibri"/>
              </a:rPr>
              <a:t xml:space="preserve">3</a:t>
            </a:r>
            <a:r>
              <a:rPr lang="en-US" sz="1500" b="0" i="0" dirty="0">
                <a:solidFill>
                  <a:srgbClr val="6B747B"/>
                </a:solidFill>
                <a:latin typeface="Calibri"/>
                <a:cs typeface="Calibri"/>
              </a:rPr>
              <a:t xml:space="preserve">   ·   </a:t>
            </a:r>
            <a:r>
              <a:rPr lang="en-US" sz="1500" b="0" i="0" dirty="0">
                <a:solidFill>
                  <a:srgbClr val="3A434C"/>
                </a:solidFill>
                <a:latin typeface="Calibri"/>
                <a:cs typeface="Calibri"/>
              </a:rPr>
              <a:t xml:space="preserve">Steffen Staab</a:t>
            </a:r>
            <a:r>
              <a:rPr lang="en-US" sz="1500" b="1" i="0" baseline="30000" dirty="0">
                <a:solidFill>
                  <a:srgbClr val="0B6E4F"/>
                </a:solidFill>
                <a:latin typeface="Calibri"/>
                <a:cs typeface="Calibri"/>
              </a:rPr>
              <a:t xml:space="preserve">1,2</a:t>
            </a:r>
          </a:p>
        </p:txBody>
      </p:sp>
      <p:sp>
        <p:nvSpPr>
          <p:cNvPr id="70" name="Affiliations"/>
          <p:cNvSpPr txBox="1"/>
          <p:nvPr/>
        </p:nvSpPr>
        <p:spPr>
          <a:xfrm>
            <a:off x="795528" y="4919472"/>
            <a:ext cx="6949440" cy="731520"/>
          </a:xfrm>
          <a:prstGeom prst="rect">
            <a:avLst/>
          </a:prstGeom>
          <a:noFill/>
        </p:spPr>
        <p:txBody>
          <a:bodyPr wrap="square" lIns="0" tIns="0" rIns="0" bIns="0" anchor="t">
            <a:noAutofit/>
          </a:bodyPr>
          <a:lstStyle/>
          <a:p>
            <a:pPr>
              <a:lnSpc>
                <a:spcPts val="1700"/>
              </a:lnSpc>
            </a:pPr>
            <a:r>
              <a:rPr lang="en-US" sz="1200" b="1" i="0" baseline="30000" dirty="0">
                <a:solidFill>
                  <a:srgbClr val="0B6E4F"/>
                </a:solidFill>
                <a:latin typeface="Calibri"/>
                <a:cs typeface="Calibri"/>
              </a:rPr>
              <a:t xml:space="preserve">1</a:t>
            </a:r>
            <a:r>
              <a:rPr lang="en-US" sz="1200" b="0" i="0" dirty="0">
                <a:solidFill>
                  <a:srgbClr val="5B6770"/>
                </a:solidFill>
                <a:latin typeface="Calibri"/>
                <a:cs typeface="Calibri"/>
              </a:rPr>
              <a:t xml:space="preserve"> Institute for Artificial Intelligence, University of Stuttgart, Germany</a:t>
            </a:r>
          </a:p>
          <a:p>
            <a:pPr>
              <a:lnSpc>
                <a:spcPts val="1700"/>
              </a:lnSpc>
            </a:pPr>
            <a:r>
              <a:rPr lang="en-US" sz="1200" b="1" i="0" baseline="30000" dirty="0">
                <a:solidFill>
                  <a:srgbClr val="0B6E4F"/>
                </a:solidFill>
                <a:latin typeface="Calibri"/>
                <a:cs typeface="Calibri"/>
              </a:rPr>
              <a:t xml:space="preserve">2</a:t>
            </a:r>
            <a:r>
              <a:rPr lang="en-US" sz="1200" b="0" i="0" dirty="0">
                <a:solidFill>
                  <a:srgbClr val="5B6770"/>
                </a:solidFill>
                <a:latin typeface="Calibri"/>
                <a:cs typeface="Calibri"/>
              </a:rPr>
              <a:t xml:space="preserve"> University of Southampton, United Kingdom</a:t>
            </a:r>
          </a:p>
          <a:p>
            <a:pPr>
              <a:lnSpc>
                <a:spcPts val="1700"/>
              </a:lnSpc>
            </a:pPr>
            <a:r>
              <a:rPr lang="en-US" sz="1200" b="1" i="0" baseline="30000" dirty="0">
                <a:solidFill>
                  <a:srgbClr val="0B6E4F"/>
                </a:solidFill>
                <a:latin typeface="Calibri"/>
                <a:cs typeface="Calibri"/>
              </a:rPr>
              <a:t xml:space="preserve">3</a:t>
            </a:r>
            <a:r>
              <a:rPr lang="en-US" sz="1200" b="0" i="0" dirty="0">
                <a:solidFill>
                  <a:srgbClr val="5B6770"/>
                </a:solidFill>
                <a:latin typeface="Calibri"/>
                <a:cs typeface="Calibri"/>
              </a:rPr>
              <a:t xml:space="preserve"> Universitätsklinikum Leipzig, Germany</a:t>
            </a:r>
          </a:p>
        </p:txBody>
      </p:sp>
      <p:sp>
        <p:nvSpPr>
          <p:cNvPr id="71" name="RIGOR pill"/>
          <p:cNvSpPr/>
          <p:nvPr/>
        </p:nvSpPr>
        <p:spPr>
          <a:xfrm>
            <a:off x="10015194" y="2150512"/>
            <a:ext cx="768096" cy="274320"/>
          </a:xfrm>
          <a:prstGeom prst="roundRect">
            <a:avLst>
              <a:gd name="adj" fmla="val 12000"/>
            </a:avLst>
          </a:prstGeom>
          <a:solidFill>
            <a:srgbClr val="0B6E4F"/>
          </a:solidFill>
          <a:ln>
            <a:noFill/>
          </a:ln>
        </p:spPr>
        <p:txBody>
          <a:bodyPr wrap="square" lIns="0" tIns="0" rIns="0" bIns="0" anchor="ctr">
            <a:noAutofit/>
          </a:bodyPr>
          <a:lstStyle/>
          <a:p>
            <a:pPr algn="ctr"/>
            <a:r>
              <a:rPr lang="en-US" sz="1150" b="1" i="0" dirty="0">
                <a:solidFill>
                  <a:srgbClr val="FFFFFF"/>
                </a:solidFill>
                <a:latin typeface="Consolas"/>
                <a:cs typeface="Consolas"/>
              </a:rPr>
              <a:t xml:space="preserve">RIGOR</a:t>
            </a:r>
          </a:p>
        </p:txBody>
      </p:sp>
      <p:sp>
        <p:nvSpPr>
          <p:cNvPr id="72" name="Venue"/>
          <p:cNvSpPr txBox="1"/>
          <p:nvPr/>
        </p:nvSpPr>
        <p:spPr>
          <a:xfrm>
            <a:off x="8549640" y="5779008"/>
            <a:ext cx="3108960" cy="566928"/>
          </a:xfrm>
          <a:prstGeom prst="rect">
            <a:avLst/>
          </a:prstGeom>
          <a:noFill/>
        </p:spPr>
        <p:txBody>
          <a:bodyPr wrap="square" lIns="0" tIns="0" rIns="0" bIns="0" anchor="t">
            <a:noAutofit/>
          </a:bodyPr>
          <a:lstStyle/>
          <a:p>
            <a:pPr>
              <a:lnSpc>
                <a:spcPts val="2000"/>
              </a:lnSpc>
            </a:pPr>
            <a:r>
              <a:rPr lang="en-US" sz="1400" b="1" i="0" dirty="0">
                <a:solidFill>
                  <a:srgbClr val="0B6E4F"/>
                </a:solidFill>
                <a:latin typeface="Consolas"/>
                <a:cs typeface="Consolas"/>
              </a:rPr>
              <a:t xml:space="preserve">ISWC 2026</a:t>
            </a:r>
          </a:p>
          <a:p>
            <a:pPr>
              <a:lnSpc>
                <a:spcPts val="2000"/>
              </a:lnSpc>
            </a:pPr>
            <a:r>
              <a:rPr lang="en-US" sz="1300" b="0" i="0" dirty="0">
                <a:solidFill>
                  <a:srgbClr val="1F2328"/>
                </a:solidFill>
                <a:latin typeface="Calibri"/>
                <a:cs typeface="Calibri"/>
              </a:rPr>
              <a:t xml:space="preserve">Bari, Italy</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
        <p:nvSpPr>
          <p:cNvPr id="104" name="Code 104" descr="OWL Manchester Syntax excerpt"/>
          <p:cNvSpPr txBox="1"/>
          <p:nvPr/>
        </p:nvSpPr>
        <p:spPr>
          <a:xfrm>
            <a:off x="5093208" y="3529584"/>
            <a:ext cx="5989320" cy="1498091"/>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r>
              <a:rPr lang="en-US" sz="1200" b="0" i="1" dirty="0">
                <a:solidFill>
                  <a:srgbClr val="5B6770"/>
                </a:solidFill>
                <a:latin typeface="Calibri"/>
                <a:cs typeface="Calibri"/>
              </a:rPr>
              <a:t xml:space="preserve">	← human-readable name</a:t>
            </a:r>
            <a:endParaRPr lang="en-US" sz="1300"/>
          </a:p>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 … 5 = dead"@en</a:t>
            </a:r>
            <a:r>
              <a:rPr lang="en-US" sz="1300" b="0" i="0" dirty="0">
                <a:solidFill>
                  <a:srgbClr val="1F2328"/>
                </a:solidFill>
                <a:latin typeface="Consolas"/>
                <a:cs typeface="Consolas"/>
              </a:rPr>
              <a:t xml:space="preserve">,</a:t>
            </a:r>
            <a:r>
              <a:rPr lang="en-US" sz="1200" b="0" i="1" dirty="0">
                <a:solidFill>
                  <a:srgbClr val="5B6770"/>
                </a:solidFill>
                <a:latin typeface="Calibri"/>
                <a:cs typeface="Calibri"/>
              </a:rPr>
              <a:t xml:space="preserve">	← what the codes mean</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r>
              <a:rPr lang="en-US" sz="1200" b="0" i="1" dirty="0">
                <a:solidFill>
                  <a:srgbClr val="5B6770"/>
                </a:solidFill>
                <a:latin typeface="Calibri"/>
                <a:cs typeface="Calibri"/>
              </a:rPr>
              <a:t xml:space="preserve">	← where it came from</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 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 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highest BURR F1 among compared ontology-learning systems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 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Plausible fragments can still break the ontology.</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A fluent LLM rarely gets syntax wrong. The risk is fragments that clash with the ontology built so far.</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6B747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link for admission: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Valid OWL, but the core already has PatientData: now two classes mean the same thing. The Judge-LLM sees the core and asks to reuse it.</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Later table lab_result reuses a core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ObjectProperty: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hasPatientData</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Domain:</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LabResult</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Merged with Domain: Admission, OWL infers that every lab result is an admission (pitfall P19). Graph checks allow one domain per property.</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hasPatientData</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labResultOf</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Domain:</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LabResult</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EXAMPLES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77A55"/>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77A55"/>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77A55"/>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77A55"/>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77A55"/>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77A55"/>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77A55"/>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77A55"/>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 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93" name="TextBox 992"/>
          <p:cNvSpPr txBox="1"/>
          <p:nvPr/>
        </p:nvSpPr>
        <p:spPr>
          <a:xfrm>
            <a:off x="960120" y="5193792"/>
            <a:ext cx="10268711"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897880"/>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172200"/>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Col head"/>
          <p:cNvSpPr txBox="1"/>
          <p:nvPr/>
        </p:nvSpPr>
        <p:spPr>
          <a:xfrm>
            <a:off x="960120" y="1901952"/>
            <a:ext cx="21031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METHOD</a:t>
            </a:r>
          </a:p>
        </p:txBody>
      </p:sp>
      <p:sp>
        <p:nvSpPr>
          <p:cNvPr id="997" name="Col sub"/>
          <p:cNvSpPr txBox="1"/>
          <p:nvPr/>
        </p:nvSpPr>
        <p:spPr>
          <a:xfrm>
            <a:off x="960120" y="2148840"/>
            <a:ext cx="21031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
            </a:r>
          </a:p>
        </p:txBody>
      </p:sp>
      <p:sp>
        <p:nvSpPr>
          <p:cNvPr id="998" name="Col head"/>
          <p:cNvSpPr txBox="1"/>
          <p:nvPr/>
        </p:nvSpPr>
        <p:spPr>
          <a:xfrm>
            <a:off x="3246120" y="1901952"/>
            <a:ext cx="393192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COLUMNS KEPT</a:t>
            </a:r>
          </a:p>
        </p:txBody>
      </p:sp>
      <p:sp>
        <p:nvSpPr>
          <p:cNvPr id="999" name="Col sub"/>
          <p:cNvSpPr txBox="1"/>
          <p:nvPr/>
        </p:nvSpPr>
        <p:spPr>
          <a:xfrm>
            <a:off x="3246120" y="2148840"/>
            <a:ext cx="393192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final schema coverage, range over the runs</a:t>
            </a:r>
          </a:p>
        </p:txBody>
      </p:sp>
      <p:sp>
        <p:nvSpPr>
          <p:cNvPr id="1000" name="Col head"/>
          <p:cNvSpPr txBox="1"/>
          <p:nvPr/>
        </p:nvSpPr>
        <p:spPr>
          <a:xfrm>
            <a:off x="754380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LABELS &amp; COMMENTS</a:t>
            </a:r>
          </a:p>
        </p:txBody>
      </p:sp>
      <p:sp>
        <p:nvSpPr>
          <p:cNvPr id="1001" name="Col sub"/>
          <p:cNvSpPr txBox="1"/>
          <p:nvPr/>
        </p:nvSpPr>
        <p:spPr>
          <a:xfrm>
            <a:off x="754380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2" name="Col head"/>
          <p:cNvSpPr txBox="1"/>
          <p:nvPr/>
        </p:nvSpPr>
        <p:spPr>
          <a:xfrm>
            <a:off x="9555480" y="1901952"/>
            <a:ext cx="1920240" cy="237744"/>
          </a:xfrm>
          <a:prstGeom prst="rect">
            <a:avLst/>
          </a:prstGeom>
          <a:noFill/>
          <a:ln>
            <a:noFill/>
          </a:ln>
        </p:spPr>
        <p:txBody>
          <a:bodyPr wrap="square" lIns="0" tIns="0" rIns="0" bIns="0" anchor="t">
            <a:noAutofit/>
          </a:bodyPr>
          <a:lstStyle/>
          <a:p>
            <a:pPr algn="l"/>
            <a:r>
              <a:rPr lang="en-US" sz="1150" b="1" dirty="0">
                <a:solidFill>
                  <a:srgbClr val="2F6B78"/>
                </a:solidFill>
                <a:latin typeface="Consolas"/>
                <a:cs typeface="Consolas"/>
              </a:rPr>
              <a:t xml:space="preserve">HIERARCHY + PROVENANCE</a:t>
            </a:r>
          </a:p>
        </p:txBody>
      </p:sp>
      <p:sp>
        <p:nvSpPr>
          <p:cNvPr id="1003" name="Col sub"/>
          <p:cNvSpPr txBox="1"/>
          <p:nvPr/>
        </p:nvSpPr>
        <p:spPr>
          <a:xfrm>
            <a:off x="9555480" y="2148840"/>
            <a:ext cx="1920240" cy="20116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runs that have them</a:t>
            </a:r>
          </a:p>
        </p:txBody>
      </p:sp>
      <p:sp>
        <p:nvSpPr>
          <p:cNvPr id="1004" name="Head rule"/>
          <p:cNvSpPr/>
          <p:nvPr/>
        </p:nvSpPr>
        <p:spPr>
          <a:xfrm>
            <a:off x="822960" y="2487168"/>
            <a:ext cx="10543032" cy="10972"/>
          </a:xfrm>
          <a:prstGeom prst="rect">
            <a:avLst/>
          </a:prstGeom>
          <a:solidFill>
            <a:srgbClr val="9AA3A9"/>
          </a:solidFill>
          <a:ln>
            <a:noFill/>
          </a:ln>
        </p:spPr>
        <p:txBody>
          <a:bodyPr wrap="square" lIns="0" tIns="0" rIns="0" bIns="0" anchor="t">
            <a:noAutofit/>
          </a:bodyPr>
          <a:lstStyle/>
          <a:p>
            <a:pPr algn="l"/>
          </a:p>
        </p:txBody>
      </p:sp>
      <p:sp>
        <p:nvSpPr>
          <p:cNvPr id="1005" name="Method"/>
          <p:cNvSpPr txBox="1"/>
          <p:nvPr/>
        </p:nvSpPr>
        <p:spPr>
          <a:xfrm>
            <a:off x="960120" y="2688336"/>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Direct Mapping</a:t>
            </a:r>
          </a:p>
        </p:txBody>
      </p:sp>
      <p:sp>
        <p:nvSpPr>
          <p:cNvPr id="1006" name="Coverage"/>
          <p:cNvSpPr txBox="1"/>
          <p:nvPr/>
        </p:nvSpPr>
        <p:spPr>
          <a:xfrm>
            <a:off x="3246120" y="2688336"/>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0.78–0.99</a:t>
            </a:r>
          </a:p>
        </p:txBody>
      </p:sp>
      <p:sp>
        <p:nvSpPr>
          <p:cNvPr id="1007" name="Bar track"/>
          <p:cNvSpPr/>
          <p:nvPr/>
        </p:nvSpPr>
        <p:spPr>
          <a:xfrm>
            <a:off x="4343400" y="2788920"/>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08" name="Bar range" descr="coverage 0.78–0.99"/>
          <p:cNvSpPr/>
          <p:nvPr/>
        </p:nvSpPr>
        <p:spPr>
          <a:xfrm>
            <a:off x="6304788" y="2788920"/>
            <a:ext cx="528065"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09" name="Marker" descr="absent"/>
          <p:cNvSpPr/>
          <p:nvPr/>
        </p:nvSpPr>
        <p:spPr>
          <a:xfrm>
            <a:off x="754380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0" name="Count"/>
          <p:cNvSpPr txBox="1"/>
          <p:nvPr/>
        </p:nvSpPr>
        <p:spPr>
          <a:xfrm>
            <a:off x="781812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1" name="Marker" descr="absent"/>
          <p:cNvSpPr/>
          <p:nvPr/>
        </p:nvSpPr>
        <p:spPr>
          <a:xfrm>
            <a:off x="9555480" y="2761488"/>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2" name="Count"/>
          <p:cNvSpPr txBox="1"/>
          <p:nvPr/>
        </p:nvSpPr>
        <p:spPr>
          <a:xfrm>
            <a:off x="9829800" y="2688336"/>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3</a:t>
            </a:r>
          </a:p>
        </p:txBody>
      </p:sp>
      <p:sp>
        <p:nvSpPr>
          <p:cNvPr id="1013" name="Row rule"/>
          <p:cNvSpPr/>
          <p:nvPr/>
        </p:nvSpPr>
        <p:spPr>
          <a:xfrm>
            <a:off x="822960" y="3127248"/>
            <a:ext cx="10543032" cy="9144"/>
          </a:xfrm>
          <a:prstGeom prst="rect">
            <a:avLst/>
          </a:prstGeom>
          <a:solidFill>
            <a:srgbClr val="D9DEDB"/>
          </a:solidFill>
          <a:ln>
            <a:noFill/>
          </a:ln>
        </p:spPr>
        <p:txBody>
          <a:bodyPr wrap="square" lIns="0" tIns="0" rIns="0" bIns="0" anchor="t">
            <a:noAutofit/>
          </a:bodyPr>
          <a:lstStyle/>
          <a:p>
            <a:pPr algn="l"/>
          </a:p>
        </p:txBody>
      </p:sp>
      <p:sp>
        <p:nvSpPr>
          <p:cNvPr id="1014" name="Method"/>
          <p:cNvSpPr txBox="1"/>
          <p:nvPr/>
        </p:nvSpPr>
        <p:spPr>
          <a:xfrm>
            <a:off x="960120" y="3255264"/>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LLM baseline</a:t>
            </a:r>
          </a:p>
        </p:txBody>
      </p:sp>
      <p:sp>
        <p:nvSpPr>
          <p:cNvPr id="1015" name="Coverage"/>
          <p:cNvSpPr txBox="1"/>
          <p:nvPr/>
        </p:nvSpPr>
        <p:spPr>
          <a:xfrm>
            <a:off x="3246120" y="3255264"/>
            <a:ext cx="10515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0.31–1.00</a:t>
            </a:r>
          </a:p>
        </p:txBody>
      </p:sp>
      <p:sp>
        <p:nvSpPr>
          <p:cNvPr id="1016" name="Bar track"/>
          <p:cNvSpPr/>
          <p:nvPr/>
        </p:nvSpPr>
        <p:spPr>
          <a:xfrm>
            <a:off x="4343400" y="3355848"/>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17" name="Bar range" descr="coverage 0.31–1.00"/>
          <p:cNvSpPr/>
          <p:nvPr/>
        </p:nvSpPr>
        <p:spPr>
          <a:xfrm>
            <a:off x="5122926" y="3355848"/>
            <a:ext cx="1735074" cy="109728"/>
          </a:xfrm>
          <a:prstGeom prst="roundRect">
            <a:avLst>
              <a:gd name="adj" fmla="val 12000"/>
            </a:avLst>
          </a:prstGeom>
          <a:solidFill>
            <a:srgbClr val="8E989E"/>
          </a:solidFill>
          <a:ln>
            <a:noFill/>
          </a:ln>
        </p:spPr>
        <p:txBody>
          <a:bodyPr wrap="square" lIns="0" tIns="0" rIns="0" bIns="0" anchor="t">
            <a:noAutofit/>
          </a:bodyPr>
          <a:lstStyle/>
          <a:p>
            <a:pPr algn="l"/>
          </a:p>
        </p:txBody>
      </p:sp>
      <p:sp>
        <p:nvSpPr>
          <p:cNvPr id="1018" name="Marker" descr="absent"/>
          <p:cNvSpPr/>
          <p:nvPr/>
        </p:nvSpPr>
        <p:spPr>
          <a:xfrm>
            <a:off x="754380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19" name="Count"/>
          <p:cNvSpPr txBox="1"/>
          <p:nvPr/>
        </p:nvSpPr>
        <p:spPr>
          <a:xfrm>
            <a:off x="781812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0" name="Marker" descr="absent"/>
          <p:cNvSpPr/>
          <p:nvPr/>
        </p:nvSpPr>
        <p:spPr>
          <a:xfrm>
            <a:off x="9555480" y="3328416"/>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21" name="Count"/>
          <p:cNvSpPr txBox="1"/>
          <p:nvPr/>
        </p:nvSpPr>
        <p:spPr>
          <a:xfrm>
            <a:off x="9829800" y="3255264"/>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22" name="Row rule"/>
          <p:cNvSpPr/>
          <p:nvPr/>
        </p:nvSpPr>
        <p:spPr>
          <a:xfrm>
            <a:off x="822960" y="3694176"/>
            <a:ext cx="10543032" cy="9144"/>
          </a:xfrm>
          <a:prstGeom prst="rect">
            <a:avLst/>
          </a:prstGeom>
          <a:solidFill>
            <a:srgbClr val="D9DEDB"/>
          </a:solidFill>
          <a:ln>
            <a:noFill/>
          </a:ln>
        </p:spPr>
        <p:txBody>
          <a:bodyPr wrap="square" lIns="0" tIns="0" rIns="0" bIns="0" anchor="t">
            <a:noAutofit/>
          </a:bodyPr>
          <a:lstStyle/>
          <a:p>
            <a:pPr algn="l"/>
          </a:p>
        </p:txBody>
      </p:sp>
      <p:sp>
        <p:nvSpPr>
          <p:cNvPr id="1023" name="Method"/>
          <p:cNvSpPr txBox="1"/>
          <p:nvPr/>
        </p:nvSpPr>
        <p:spPr>
          <a:xfrm>
            <a:off x="960120" y="3822191"/>
            <a:ext cx="2194560" cy="310896"/>
          </a:xfrm>
          <a:prstGeom prst="rect">
            <a:avLst/>
          </a:prstGeom>
          <a:noFill/>
          <a:ln>
            <a:noFill/>
          </a:ln>
        </p:spPr>
        <p:txBody>
          <a:bodyPr wrap="square" lIns="0" tIns="0" rIns="0" bIns="0" anchor="ctr">
            <a:noAutofit/>
          </a:bodyPr>
          <a:lstStyle/>
          <a:p>
            <a:pPr algn="l"/>
            <a:r>
              <a:rPr lang="en-US" sz="1600" b="1" dirty="0">
                <a:solidFill>
                  <a:srgbClr val="1F2328"/>
                </a:solidFill>
                <a:latin typeface="Calibri"/>
                <a:cs typeface="Calibri"/>
              </a:rPr>
              <a:t xml:space="preserve">Non-Iterative</a:t>
            </a:r>
          </a:p>
        </p:txBody>
      </p:sp>
      <p:sp>
        <p:nvSpPr>
          <p:cNvPr id="1024" name="Coverage"/>
          <p:cNvSpPr txBox="1"/>
          <p:nvPr/>
        </p:nvSpPr>
        <p:spPr>
          <a:xfrm>
            <a:off x="3246120" y="3822191"/>
            <a:ext cx="1051560" cy="310896"/>
          </a:xfrm>
          <a:prstGeom prst="rect">
            <a:avLst/>
          </a:prstGeom>
          <a:noFill/>
          <a:ln>
            <a:noFill/>
          </a:ln>
        </p:spPr>
        <p:txBody>
          <a:bodyPr wrap="square" lIns="0" tIns="0" rIns="0" bIns="0" anchor="ctr">
            <a:noAutofit/>
          </a:bodyPr>
          <a:lstStyle/>
          <a:p>
            <a:pPr algn="l"/>
            <a:r>
              <a:rPr lang="en-US" sz="1500" b="1" dirty="0">
                <a:solidFill>
                  <a:srgbClr val="B23A1E"/>
                </a:solidFill>
                <a:latin typeface="Calibri"/>
                <a:cs typeface="Calibri"/>
              </a:rPr>
              <a:t xml:space="preserve">0.06–0.78</a:t>
            </a:r>
          </a:p>
        </p:txBody>
      </p:sp>
      <p:sp>
        <p:nvSpPr>
          <p:cNvPr id="1025" name="Bar track"/>
          <p:cNvSpPr/>
          <p:nvPr/>
        </p:nvSpPr>
        <p:spPr>
          <a:xfrm>
            <a:off x="4343400" y="3922776"/>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26" name="Bar range" descr="coverage 0.06–0.78"/>
          <p:cNvSpPr/>
          <p:nvPr/>
        </p:nvSpPr>
        <p:spPr>
          <a:xfrm>
            <a:off x="4494276" y="3922776"/>
            <a:ext cx="1810512" cy="109728"/>
          </a:xfrm>
          <a:prstGeom prst="roundRect">
            <a:avLst>
              <a:gd name="adj" fmla="val 12000"/>
            </a:avLst>
          </a:prstGeom>
          <a:solidFill>
            <a:srgbClr val="B23A1E"/>
          </a:solidFill>
          <a:ln>
            <a:noFill/>
          </a:ln>
        </p:spPr>
        <p:txBody>
          <a:bodyPr wrap="square" lIns="0" tIns="0" rIns="0" bIns="0" anchor="t">
            <a:noAutofit/>
          </a:bodyPr>
          <a:lstStyle/>
          <a:p>
            <a:pPr algn="l"/>
          </a:p>
        </p:txBody>
      </p:sp>
      <p:sp>
        <p:nvSpPr>
          <p:cNvPr id="1027" name="Marker" descr="present"/>
          <p:cNvSpPr/>
          <p:nvPr/>
        </p:nvSpPr>
        <p:spPr>
          <a:xfrm>
            <a:off x="7543800" y="389534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28" name="Count"/>
          <p:cNvSpPr txBox="1"/>
          <p:nvPr/>
        </p:nvSpPr>
        <p:spPr>
          <a:xfrm>
            <a:off x="7818120" y="3822191"/>
            <a:ext cx="1280160" cy="310896"/>
          </a:xfrm>
          <a:prstGeom prst="rect">
            <a:avLst/>
          </a:prstGeom>
          <a:noFill/>
          <a:ln>
            <a:noFill/>
          </a:ln>
        </p:spPr>
        <p:txBody>
          <a:bodyPr wrap="square" lIns="0" tIns="0" rIns="0" bIns="0" anchor="ctr">
            <a:noAutofit/>
          </a:bodyPr>
          <a:lstStyle/>
          <a:p>
            <a:pPr algn="l"/>
            <a:r>
              <a:rPr lang="en-US" sz="1500" b="0" dirty="0">
                <a:solidFill>
                  <a:srgbClr val="1F2328"/>
                </a:solidFill>
                <a:latin typeface="Calibri"/>
                <a:cs typeface="Calibri"/>
              </a:rPr>
              <a:t xml:space="preserve">9 / 9</a:t>
            </a:r>
          </a:p>
        </p:txBody>
      </p:sp>
      <p:sp>
        <p:nvSpPr>
          <p:cNvPr id="1029" name="Marker" descr="absent"/>
          <p:cNvSpPr/>
          <p:nvPr/>
        </p:nvSpPr>
        <p:spPr>
          <a:xfrm>
            <a:off x="9555480" y="3895344"/>
            <a:ext cx="164592" cy="164592"/>
          </a:xfrm>
          <a:prstGeom prst="ellipse">
            <a:avLst/>
          </a:prstGeom>
          <a:solidFill>
            <a:srgbClr val="FFFFFF"/>
          </a:solidFill>
          <a:ln w="9525">
            <a:solidFill>
              <a:srgbClr val="6B747B"/>
            </a:solidFill>
          </a:ln>
        </p:spPr>
        <p:txBody>
          <a:bodyPr wrap="square" lIns="0" tIns="0" rIns="0" bIns="0" anchor="t">
            <a:noAutofit/>
          </a:bodyPr>
          <a:lstStyle/>
          <a:p>
            <a:pPr algn="l"/>
          </a:p>
        </p:txBody>
      </p:sp>
      <p:sp>
        <p:nvSpPr>
          <p:cNvPr id="1030" name="Count"/>
          <p:cNvSpPr txBox="1"/>
          <p:nvPr/>
        </p:nvSpPr>
        <p:spPr>
          <a:xfrm>
            <a:off x="9829800" y="3822191"/>
            <a:ext cx="1280160" cy="310896"/>
          </a:xfrm>
          <a:prstGeom prst="rect">
            <a:avLst/>
          </a:prstGeom>
          <a:noFill/>
          <a:ln>
            <a:noFill/>
          </a:ln>
        </p:spPr>
        <p:txBody>
          <a:bodyPr wrap="square" lIns="0" tIns="0" rIns="0" bIns="0" anchor="ctr">
            <a:noAutofit/>
          </a:bodyPr>
          <a:lstStyle/>
          <a:p>
            <a:pPr algn="l"/>
            <a:r>
              <a:rPr lang="en-US" sz="1500" b="0" dirty="0">
                <a:solidFill>
                  <a:srgbClr val="6B747B"/>
                </a:solidFill>
                <a:latin typeface="Calibri"/>
                <a:cs typeface="Calibri"/>
              </a:rPr>
              <a:t xml:space="preserve">0 / 9</a:t>
            </a:r>
          </a:p>
        </p:txBody>
      </p:sp>
      <p:sp>
        <p:nvSpPr>
          <p:cNvPr id="1031" name="RIGOR band"/>
          <p:cNvSpPr/>
          <p:nvPr/>
        </p:nvSpPr>
        <p:spPr>
          <a:xfrm>
            <a:off x="822960" y="4297680"/>
            <a:ext cx="10543032" cy="493776"/>
          </a:xfrm>
          <a:prstGeom prst="roundRect">
            <a:avLst>
              <a:gd name="adj" fmla="val 12000"/>
            </a:avLst>
          </a:prstGeom>
          <a:solidFill>
            <a:srgbClr val="E6F2EC"/>
          </a:solidFill>
          <a:ln>
            <a:noFill/>
          </a:ln>
        </p:spPr>
        <p:txBody>
          <a:bodyPr wrap="square" lIns="0" tIns="0" rIns="0" bIns="0" anchor="t">
            <a:noAutofit/>
          </a:bodyPr>
          <a:lstStyle/>
          <a:p>
            <a:pPr algn="l"/>
          </a:p>
        </p:txBody>
      </p:sp>
      <p:sp>
        <p:nvSpPr>
          <p:cNvPr id="1032" name="Method"/>
          <p:cNvSpPr txBox="1"/>
          <p:nvPr/>
        </p:nvSpPr>
        <p:spPr>
          <a:xfrm>
            <a:off x="960120" y="4389120"/>
            <a:ext cx="2194560" cy="310896"/>
          </a:xfrm>
          <a:prstGeom prst="rect">
            <a:avLst/>
          </a:prstGeom>
          <a:noFill/>
          <a:ln>
            <a:noFill/>
          </a:ln>
        </p:spPr>
        <p:txBody>
          <a:bodyPr wrap="square" lIns="0" tIns="0" rIns="0" bIns="0" anchor="ctr">
            <a:noAutofit/>
          </a:bodyPr>
          <a:lstStyle/>
          <a:p>
            <a:pPr algn="l"/>
            <a:r>
              <a:rPr lang="en-US" sz="1600" b="1" dirty="0">
                <a:solidFill>
                  <a:srgbClr val="0B6E4F"/>
                </a:solidFill>
                <a:latin typeface="Calibri"/>
                <a:cs typeface="Calibri"/>
              </a:rPr>
              <a:t xml:space="preserve">RIGOR</a:t>
            </a:r>
          </a:p>
        </p:txBody>
      </p:sp>
      <p:sp>
        <p:nvSpPr>
          <p:cNvPr id="1033" name="Coverage"/>
          <p:cNvSpPr txBox="1"/>
          <p:nvPr/>
        </p:nvSpPr>
        <p:spPr>
          <a:xfrm>
            <a:off x="3246120" y="4389120"/>
            <a:ext cx="10515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0.77–1.00</a:t>
            </a:r>
          </a:p>
        </p:txBody>
      </p:sp>
      <p:sp>
        <p:nvSpPr>
          <p:cNvPr id="1034" name="Bar track"/>
          <p:cNvSpPr/>
          <p:nvPr/>
        </p:nvSpPr>
        <p:spPr>
          <a:xfrm>
            <a:off x="4343400" y="4489704"/>
            <a:ext cx="2514600" cy="109728"/>
          </a:xfrm>
          <a:prstGeom prst="roundRect">
            <a:avLst>
              <a:gd name="adj" fmla="val 12000"/>
            </a:avLst>
          </a:prstGeom>
          <a:solidFill>
            <a:srgbClr val="EEF1EF"/>
          </a:solidFill>
          <a:ln>
            <a:noFill/>
          </a:ln>
        </p:spPr>
        <p:txBody>
          <a:bodyPr wrap="square" lIns="0" tIns="0" rIns="0" bIns="0" anchor="t">
            <a:noAutofit/>
          </a:bodyPr>
          <a:lstStyle/>
          <a:p>
            <a:pPr algn="l"/>
          </a:p>
        </p:txBody>
      </p:sp>
      <p:sp>
        <p:nvSpPr>
          <p:cNvPr id="1035" name="Bar range" descr="coverage 0.77–1.00"/>
          <p:cNvSpPr/>
          <p:nvPr/>
        </p:nvSpPr>
        <p:spPr>
          <a:xfrm>
            <a:off x="6279642" y="4489704"/>
            <a:ext cx="578358" cy="109728"/>
          </a:xfrm>
          <a:prstGeom prst="roundRect">
            <a:avLst>
              <a:gd name="adj" fmla="val 12000"/>
            </a:avLst>
          </a:prstGeom>
          <a:solidFill>
            <a:srgbClr val="0B6E4F"/>
          </a:solidFill>
          <a:ln>
            <a:noFill/>
          </a:ln>
        </p:spPr>
        <p:txBody>
          <a:bodyPr wrap="square" lIns="0" tIns="0" rIns="0" bIns="0" anchor="t">
            <a:noAutofit/>
          </a:bodyPr>
          <a:lstStyle/>
          <a:p>
            <a:pPr algn="l"/>
          </a:p>
        </p:txBody>
      </p:sp>
      <p:sp>
        <p:nvSpPr>
          <p:cNvPr id="1036" name="Marker" descr="present"/>
          <p:cNvSpPr/>
          <p:nvPr/>
        </p:nvSpPr>
        <p:spPr>
          <a:xfrm>
            <a:off x="754380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7" name="Count"/>
          <p:cNvSpPr txBox="1"/>
          <p:nvPr/>
        </p:nvSpPr>
        <p:spPr>
          <a:xfrm>
            <a:off x="781812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38" name="Marker" descr="present"/>
          <p:cNvSpPr/>
          <p:nvPr/>
        </p:nvSpPr>
        <p:spPr>
          <a:xfrm>
            <a:off x="9555480" y="4462272"/>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39" name="Count"/>
          <p:cNvSpPr txBox="1"/>
          <p:nvPr/>
        </p:nvSpPr>
        <p:spPr>
          <a:xfrm>
            <a:off x="9829800" y="4389120"/>
            <a:ext cx="1280160" cy="310896"/>
          </a:xfrm>
          <a:prstGeom prst="rect">
            <a:avLst/>
          </a:prstGeom>
          <a:noFill/>
          <a:ln>
            <a:noFill/>
          </a:ln>
        </p:spPr>
        <p:txBody>
          <a:bodyPr wrap="square" lIns="0" tIns="0" rIns="0" bIns="0" anchor="ctr">
            <a:noAutofit/>
          </a:bodyPr>
          <a:lstStyle/>
          <a:p>
            <a:pPr algn="l"/>
            <a:r>
              <a:rPr lang="en-US" sz="1500" b="1" dirty="0">
                <a:solidFill>
                  <a:srgbClr val="0B6E4F"/>
                </a:solidFill>
                <a:latin typeface="Calibri"/>
                <a:cs typeface="Calibri"/>
              </a:rPr>
              <a:t xml:space="preserve">9 / 9</a:t>
            </a:r>
          </a:p>
        </p:txBody>
      </p:sp>
      <p:sp>
        <p:nvSpPr>
          <p:cNvPr id="1040" name="End rule"/>
          <p:cNvSpPr/>
          <p:nvPr/>
        </p:nvSpPr>
        <p:spPr>
          <a:xfrm>
            <a:off x="822960" y="4846319"/>
            <a:ext cx="10543032" cy="10972"/>
          </a:xfrm>
          <a:prstGeom prst="rect">
            <a:avLst/>
          </a:prstGeom>
          <a:solidFill>
            <a:srgbClr val="9AA3A9"/>
          </a:solidFill>
          <a:ln>
            <a:noFill/>
          </a:ln>
        </p:spPr>
        <p:txBody>
          <a:bodyPr wrap="square" lIns="0" tIns="0" rIns="0" bIns="0" anchor="t">
            <a:noAutofit/>
          </a:bodyPr>
          <a:lstStyle/>
          <a:p>
            <a:pPr algn="l"/>
          </a:p>
        </p:txBody>
      </p:sp>
      <p:sp>
        <p:nvSpPr>
          <p:cNvPr id="1041" name="Bar tick"/>
          <p:cNvSpPr txBox="1"/>
          <p:nvPr/>
        </p:nvSpPr>
        <p:spPr>
          <a:xfrm>
            <a:off x="41148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a:t>
            </a:r>
          </a:p>
        </p:txBody>
      </p:sp>
      <p:sp>
        <p:nvSpPr>
          <p:cNvPr id="1042" name="Bar tick"/>
          <p:cNvSpPr txBox="1"/>
          <p:nvPr/>
        </p:nvSpPr>
        <p:spPr>
          <a:xfrm>
            <a:off x="53721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0.5</a:t>
            </a:r>
          </a:p>
        </p:txBody>
      </p:sp>
      <p:sp>
        <p:nvSpPr>
          <p:cNvPr id="1043" name="Bar tick"/>
          <p:cNvSpPr txBox="1"/>
          <p:nvPr/>
        </p:nvSpPr>
        <p:spPr>
          <a:xfrm>
            <a:off x="6629400" y="4873751"/>
            <a:ext cx="457200" cy="182880"/>
          </a:xfrm>
          <a:prstGeom prst="rect">
            <a:avLst/>
          </a:prstGeom>
          <a:noFill/>
          <a:ln>
            <a:noFill/>
          </a:ln>
        </p:spPr>
        <p:txBody>
          <a:bodyPr wrap="square" lIns="0" tIns="0" rIns="0" bIns="0" anchor="t">
            <a:noAutofit/>
          </a:bodyPr>
          <a:lstStyle/>
          <a:p>
            <a:pPr algn="ctr"/>
            <a:r>
              <a:rPr lang="en-US" sz="1000" b="0" dirty="0">
                <a:solidFill>
                  <a:srgbClr val="5B6770"/>
                </a:solidFill>
                <a:latin typeface="Calibri"/>
                <a:cs typeface="Calibri"/>
              </a:rPr>
              <a:t xml:space="preserve">1</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benchmark (Laskowski et al., 2025)  ·  ISWC scenario  ·  highest F1 among the compared ontology-learning systems</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090672"/>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090672"/>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090672"/>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090672"/>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11296"/>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11296"/>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11296"/>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11296"/>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3931920"/>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3931920"/>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3931920"/>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3931920"/>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352544"/>
            <a:ext cx="4389120" cy="585216"/>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Elements match when they map to the same database elements, whatever their names. F1 per element type.</a:t>
            </a:r>
          </a:p>
        </p:txBody>
      </p:sp>
      <p:sp>
        <p:nvSpPr>
          <p:cNvPr id="1023" name="BURR card note"/>
          <p:cNvSpPr txBox="1"/>
          <p:nvPr/>
        </p:nvSpPr>
        <p:spPr>
          <a:xfrm>
            <a:off x="1069848" y="4974336"/>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  ISWC gold mapping: D2RQ example by Bizer &amp; Seaborne</a:t>
            </a:r>
          </a:p>
        </p:txBody>
      </p:sp>
      <p:sp>
        <p:nvSpPr>
          <p:cNvPr id="1024" name="BURR caption"/>
          <p:cNvSpPr txBox="1"/>
          <p:nvPr/>
        </p:nvSpPr>
        <p:spPr>
          <a:xfrm>
            <a:off x="850392" y="5413248"/>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FUTURE WORK  /  FROM SCHEMAS TO INSTANCES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Next: let the data speak.</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Today RIGOR reads schemas and documentation. Instance data could propose new knowledge, for experts to review.</a:t>
            </a:r>
            <a:endParaRPr/>
          </a:p>
        </p:txBody>
      </p:sp>
      <p:sp>
        <p:nvSpPr>
          <p:cNvPr id="1031" name="Future card 1"/>
          <p:cNvSpPr/>
          <p:nvPr/>
        </p:nvSpPr>
        <p:spPr>
          <a:xfrm>
            <a:off x="822960" y="2194560"/>
            <a:ext cx="30175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2" name="Future card 2"/>
          <p:cNvSpPr/>
          <p:nvPr/>
        </p:nvSpPr>
        <p:spPr>
          <a:xfrm>
            <a:off x="4224528" y="2194560"/>
            <a:ext cx="27889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3" name="Future card 3"/>
          <p:cNvSpPr/>
          <p:nvPr/>
        </p:nvSpPr>
        <p:spPr>
          <a:xfrm>
            <a:off x="7397496" y="2194560"/>
            <a:ext cx="3941063"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4" name="Flow arrow"/>
          <p:cNvSpPr/>
          <p:nvPr/>
        </p:nvSpPr>
        <p:spPr>
          <a:xfrm>
            <a:off x="3877056"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5" name="Flow arrow"/>
          <p:cNvSpPr/>
          <p:nvPr/>
        </p:nvSpPr>
        <p:spPr>
          <a:xfrm>
            <a:off x="7050024"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6" name="Card 1 label"/>
          <p:cNvSpPr txBox="1"/>
          <p:nvPr/>
        </p:nvSpPr>
        <p:spPr>
          <a:xfrm>
            <a:off x="1024128" y="2359152"/>
            <a:ext cx="26517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1  INSTANCES</a:t>
            </a:r>
          </a:p>
        </p:txBody>
      </p:sp>
      <p:sp>
        <p:nvSpPr>
          <p:cNvPr id="1037" name="Card 1 sub"/>
          <p:cNvSpPr txBox="1"/>
          <p:nvPr/>
        </p:nvSpPr>
        <p:spPr>
          <a:xfrm>
            <a:off x="1024128" y="2651760"/>
            <a:ext cx="26517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patient rows show</a:t>
            </a:r>
          </a:p>
        </p:txBody>
      </p:sp>
      <p:sp>
        <p:nvSpPr>
          <p:cNvPr id="1038" name="Instance row 0"/>
          <p:cNvSpPr txBox="1"/>
          <p:nvPr/>
        </p:nvSpPr>
        <p:spPr>
          <a:xfrm>
            <a:off x="960120" y="30175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950" b="1" dirty="0">
                <a:solidFill>
                  <a:srgbClr val="5B6770"/>
                </a:solidFill>
                <a:latin typeface="Consolas"/>
                <a:cs typeface="Consolas"/>
              </a:rPr>
              <a:t xml:space="preserve">PATIENT	CISPLATIN	BM_DEP AFTER</a:t>
            </a:r>
          </a:p>
        </p:txBody>
      </p:sp>
      <p:sp>
        <p:nvSpPr>
          <p:cNvPr id="1039" name="Instance row 1"/>
          <p:cNvSpPr/>
          <p:nvPr/>
        </p:nvSpPr>
        <p:spPr>
          <a:xfrm>
            <a:off x="960120" y="3291839"/>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P01	yes	1</a:t>
            </a:r>
          </a:p>
        </p:txBody>
      </p:sp>
      <p:sp>
        <p:nvSpPr>
          <p:cNvPr id="1040" name="Instance row 2"/>
          <p:cNvSpPr/>
          <p:nvPr/>
        </p:nvSpPr>
        <p:spPr>
          <a:xfrm>
            <a:off x="960120" y="356616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P02	yes	1</a:t>
            </a:r>
          </a:p>
        </p:txBody>
      </p:sp>
      <p:sp>
        <p:nvSpPr>
          <p:cNvPr id="1041" name="Instance row 3"/>
          <p:cNvSpPr txBox="1"/>
          <p:nvPr/>
        </p:nvSpPr>
        <p:spPr>
          <a:xfrm>
            <a:off x="960120" y="3840479"/>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P03	no	0</a:t>
            </a:r>
          </a:p>
        </p:txBody>
      </p:sp>
      <p:sp>
        <p:nvSpPr>
          <p:cNvPr id="1042" name="Instance row 4"/>
          <p:cNvSpPr/>
          <p:nvPr/>
        </p:nvSpPr>
        <p:spPr>
          <a:xfrm>
            <a:off x="960120" y="411480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P04	yes	1</a:t>
            </a:r>
          </a:p>
        </p:txBody>
      </p:sp>
      <p:sp>
        <p:nvSpPr>
          <p:cNvPr id="1043" name="Instance row 5"/>
          <p:cNvSpPr txBox="1"/>
          <p:nvPr/>
        </p:nvSpPr>
        <p:spPr>
          <a:xfrm>
            <a:off x="960120" y="43891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P05	no	0</a:t>
            </a:r>
          </a:p>
        </p:txBody>
      </p:sp>
      <p:sp>
        <p:nvSpPr>
          <p:cNvPr id="1044" name="Card 1 note"/>
          <p:cNvSpPr txBox="1"/>
          <p:nvPr/>
        </p:nvSpPr>
        <p:spPr>
          <a:xfrm>
            <a:off x="1024128" y="4736592"/>
            <a:ext cx="2651760" cy="384048"/>
          </a:xfrm>
          <a:prstGeom prst="rect">
            <a:avLst/>
          </a:prstGeom>
          <a:noFill/>
          <a:ln>
            <a:noFill/>
          </a:ln>
        </p:spPr>
        <p:txBody>
          <a:bodyPr wrap="square" lIns="0" tIns="0" rIns="0" bIns="0" anchor="t">
            <a:noAutofit/>
          </a:bodyPr>
          <a:lstStyle/>
          <a:p>
            <a:pPr algn="l"/>
            <a:r>
              <a:rPr lang="en-US" sz="1100" b="0" dirty="0">
                <a:solidFill>
                  <a:srgbClr val="5B6770"/>
                </a:solidFill>
                <a:latin typeface="Calibri"/>
                <a:cs typeface="Calibri"/>
              </a:rPr>
              <a:t xml:space="preserve">Synthetic illustration. Rows also reveal codes: BM_DEP is only 0 or 1.</a:t>
            </a:r>
          </a:p>
        </p:txBody>
      </p:sp>
      <p:sp>
        <p:nvSpPr>
          <p:cNvPr id="1045" name="Card 2 label"/>
          <p:cNvSpPr txBox="1"/>
          <p:nvPr/>
        </p:nvSpPr>
        <p:spPr>
          <a:xfrm>
            <a:off x="4425696" y="2359152"/>
            <a:ext cx="24231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2  + DOCUMENTATION</a:t>
            </a:r>
          </a:p>
        </p:txBody>
      </p:sp>
      <p:sp>
        <p:nvSpPr>
          <p:cNvPr id="1046" name="Card 2 sub"/>
          <p:cNvSpPr txBox="1"/>
          <p:nvPr/>
        </p:nvSpPr>
        <p:spPr>
          <a:xfrm>
            <a:off x="4425696" y="2651760"/>
            <a:ext cx="24231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the drug label says</a:t>
            </a:r>
          </a:p>
        </p:txBody>
      </p:sp>
      <p:sp>
        <p:nvSpPr>
          <p:cNvPr id="1047" name="Drug label quote"/>
          <p:cNvSpPr/>
          <p:nvPr/>
        </p:nvSpPr>
        <p:spPr>
          <a:xfrm>
            <a:off x="4389120" y="3017520"/>
            <a:ext cx="2459736" cy="1115568"/>
          </a:xfrm>
          <a:prstGeom prst="roundRect">
            <a:avLst>
              <a:gd name="adj" fmla="val 12000"/>
            </a:avLst>
          </a:prstGeom>
          <a:solidFill>
            <a:srgbClr val="F3F5F4"/>
          </a:solidFill>
          <a:ln>
            <a:noFill/>
          </a:ln>
        </p:spPr>
        <p:txBody>
          <a:bodyPr wrap="square" lIns="128016" tIns="0" rIns="128016" bIns="0" anchor="ctr">
            <a:noAutofit/>
          </a:bodyPr>
          <a:lstStyle/>
          <a:p>
            <a:pPr algn="l"/>
            <a:r>
              <a:rPr lang="en-US" sz="1400" b="0" dirty="0" i="1">
                <a:solidFill>
                  <a:srgbClr val="1F2328"/>
                </a:solidFill>
                <a:latin typeface="Calibri"/>
                <a:cs typeface="Calibri"/>
              </a:rPr>
              <a:t xml:space="preserve">Myelosuppression (bone-marrow suppression) is a documented adverse reaction of cisplatin.</a:t>
            </a:r>
          </a:p>
        </p:txBody>
      </p:sp>
      <p:sp>
        <p:nvSpPr>
          <p:cNvPr id="1048" name="Quote source"/>
          <p:cNvSpPr txBox="1"/>
          <p:nvPr/>
        </p:nvSpPr>
        <p:spPr>
          <a:xfrm>
            <a:off x="4425696" y="4169664"/>
            <a:ext cx="2423160" cy="201168"/>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Cisplatin drug label, paraphrased</a:t>
            </a:r>
          </a:p>
        </p:txBody>
      </p:sp>
      <p:sp>
        <p:nvSpPr>
          <p:cNvPr id="1049" name="Card 2 note"/>
          <p:cNvSpPr txBox="1"/>
          <p:nvPr/>
        </p:nvSpPr>
        <p:spPr>
          <a:xfrm>
            <a:off x="4425696" y="4480560"/>
            <a:ext cx="2423160" cy="548640"/>
          </a:xfrm>
          <a:prstGeom prst="rect">
            <a:avLst/>
          </a:prstGeom>
          <a:noFill/>
          <a:ln>
            <a:noFill/>
          </a:ln>
        </p:spPr>
        <p:txBody>
          <a:bodyPr wrap="square" lIns="0" tIns="0" rIns="0" bIns="0" anchor="t">
            <a:noAutofit/>
          </a:bodyPr>
          <a:lstStyle/>
          <a:p>
            <a:pPr algn="l"/>
            <a:r>
              <a:rPr lang="en-US" sz="1200" b="0" dirty="0">
                <a:solidFill>
                  <a:srgbClr val="3A434C"/>
                </a:solidFill>
                <a:latin typeface="Calibri"/>
                <a:cs typeface="Calibri"/>
              </a:rPr>
              <a:t xml:space="preserve">Timing is evidence too: BM_DEP is recorded after the first cycle.</a:t>
            </a:r>
          </a:p>
        </p:txBody>
      </p:sp>
      <p:sp>
        <p:nvSpPr>
          <p:cNvPr id="1050" name="Card 3 label"/>
          <p:cNvSpPr txBox="1"/>
          <p:nvPr/>
        </p:nvSpPr>
        <p:spPr>
          <a:xfrm>
            <a:off x="7598664" y="2359152"/>
            <a:ext cx="3575303" cy="274320"/>
          </a:xfrm>
          <a:prstGeom prst="rect">
            <a:avLst/>
          </a:prstGeom>
          <a:noFill/>
          <a:ln>
            <a:noFill/>
          </a:ln>
        </p:spPr>
        <p:txBody>
          <a:bodyPr wrap="square" lIns="0" tIns="0" rIns="0" bIns="0" anchor="t">
            <a:noAutofit/>
          </a:bodyPr>
          <a:lstStyle/>
          <a:p>
            <a:pPr algn="l"/>
            <a:r>
              <a:rPr lang="en-US" sz="1300" b="1" dirty="0">
                <a:solidFill>
                  <a:srgbClr val="0B6E4F"/>
                </a:solidFill>
                <a:latin typeface="Consolas"/>
                <a:cs typeface="Consolas"/>
              </a:rPr>
              <a:t xml:space="preserve">3  CANDIDATE KNOWLEDGE</a:t>
            </a:r>
          </a:p>
        </p:txBody>
      </p:sp>
      <p:sp>
        <p:nvSpPr>
          <p:cNvPr id="1051" name="Card 3 sub"/>
          <p:cNvSpPr txBox="1"/>
          <p:nvPr/>
        </p:nvSpPr>
        <p:spPr>
          <a:xfrm>
            <a:off x="7598664" y="2651760"/>
            <a:ext cx="3575303"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A reviewable hypothesis, not a fact</a:t>
            </a:r>
          </a:p>
        </p:txBody>
      </p:sp>
      <p:sp>
        <p:nvSpPr>
          <p:cNvPr id="1052" name="Code 1052" descr="OWL Manchester Syntax excerpt"/>
          <p:cNvSpPr txBox="1"/>
          <p:nvPr/>
        </p:nvSpPr>
        <p:spPr>
          <a:xfrm>
            <a:off x="7534656" y="2962656"/>
            <a:ext cx="3666744" cy="1575054"/>
          </a:xfrm>
          <a:prstGeom prst="roundRect">
            <a:avLst>
              <a:gd name="adj" fmla="val 5000"/>
            </a:avLst>
          </a:prstGeom>
          <a:solidFill>
            <a:srgbClr val="F6F8FA"/>
          </a:solidFill>
          <a:ln w="9525">
            <a:solidFill>
              <a:srgbClr val="D0D7DE"/>
            </a:solidFill>
          </a:ln>
        </p:spPr>
        <p:txBody>
          <a:bodyPr wrap="none" lIns="91440" tIns="73152" rIns="91440" bIns="54864" anchor="t">
            <a:noAutofit/>
          </a:bodyPr>
          <a:lstStyle/>
          <a:p>
            <a:pPr>
              <a:lnSpc>
                <a:spcPts val="1250"/>
              </a:lnSpc>
              <a:spcBef>
                <a:spcPts val="0"/>
              </a:spcBef>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src:BM_DEP</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doc:cisplatin_label</a:t>
            </a:r>
            <a:endParaRPr lang="en-US" sz="1100"/>
          </a:p>
        </p:txBody>
      </p:sp>
      <p:sp>
        <p:nvSpPr>
          <p:cNvPr id="1053" name="Card 3 note"/>
          <p:cNvSpPr txBox="1"/>
          <p:nvPr/>
        </p:nvSpPr>
        <p:spPr>
          <a:xfrm>
            <a:off x="7598664" y="4626864"/>
            <a:ext cx="3575303" cy="475488"/>
          </a:xfrm>
          <a:prstGeom prst="rect">
            <a:avLst/>
          </a:prstGeom>
          <a:noFill/>
          <a:ln>
            <a:noFill/>
          </a:ln>
        </p:spPr>
        <p:txBody>
          <a:bodyPr wrap="square" lIns="0" tIns="0" rIns="0" bIns="0" anchor="t">
            <a:noAutofit/>
          </a:bodyPr>
          <a:lstStyle/>
          <a:p>
            <a:pPr algn="l"/>
            <a:r>
              <a:rPr lang="en-US" sz="1100" b="1" dirty="0">
                <a:solidFill>
                  <a:srgbClr val="B23A1E"/>
                </a:solidFill>
                <a:latin typeface="Calibri"/>
                <a:cs typeface="Calibri"/>
              </a:rPr>
              <a:t xml:space="preserve">No causes axiom. </a:t>
            </a:r>
            <a:r>
              <a:rPr lang="en-US" sz="1100" b="0" dirty="0">
                <a:solidFill>
                  <a:srgbClr val="3A434C"/>
                </a:solidFill>
                <a:latin typeface="Calibri"/>
                <a:cs typeface="Calibri"/>
              </a:rPr>
              <a:t xml:space="preserve">Co-administered gemcitabine, radiotherapy or cirrhosis can also suppress the marrow.</a:t>
            </a:r>
          </a:p>
        </p:txBody>
      </p:sp>
      <p:sp>
        <p:nvSpPr>
          <p:cNvPr id="1054" name="Also next strip"/>
          <p:cNvSpPr/>
          <p:nvPr/>
        </p:nvSpPr>
        <p:spPr>
          <a:xfrm>
            <a:off x="822960" y="5340096"/>
            <a:ext cx="10515600" cy="420624"/>
          </a:xfrm>
          <a:prstGeom prst="roundRect">
            <a:avLst>
              <a:gd name="adj" fmla="val 12000"/>
            </a:avLst>
          </a:prstGeom>
          <a:solidFill>
            <a:srgbClr val="E6F2EC"/>
          </a:solidFill>
          <a:ln>
            <a:noFill/>
          </a:ln>
        </p:spPr>
        <p:txBody>
          <a:bodyPr wrap="square" lIns="182880" tIns="0" rIns="182880" bIns="0" anchor="ctr">
            <a:noAutofit/>
          </a:bodyPr>
          <a:lstStyle/>
          <a:p>
            <a:pPr algn="l"/>
            <a:r>
              <a:rPr lang="en-US" sz="1250" b="1" dirty="0">
                <a:solidFill>
                  <a:srgbClr val="0B6E4F"/>
                </a:solidFill>
                <a:latin typeface="Calibri"/>
                <a:cs typeface="Calibri"/>
              </a:rPr>
              <a:t xml:space="preserve">ALSO NEXT   </a:t>
            </a:r>
            <a:r>
              <a:rPr lang="en-US" sz="1250" b="0" dirty="0">
                <a:solidFill>
                  <a:srgbClr val="1F2328"/>
                </a:solidFill>
                <a:latin typeface="Calibri"/>
                <a:cs typeface="Calibri"/>
              </a:rPr>
              <a:t xml:space="preserve">Validator and reasoner feedback inside the loop, to catch residual P19  ·  aggregate statistics only, so patient data stays in the hospital</a:t>
            </a:r>
          </a:p>
        </p:txBody>
      </p:sp>
      <p:sp>
        <p:nvSpPr>
          <p:cNvPr id="1055" name="Future caption"/>
          <p:cNvSpPr txBox="1"/>
          <p:nvPr/>
        </p:nvSpPr>
        <p:spPr>
          <a:xfrm>
            <a:off x="850392" y="587044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Instance rows are synthetic. Future directions follow paper Section 5 (instance-level signals, tool feedback, symbolic reasoning).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0B6E4F"/>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1F2328"/>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2F6B78"/>
                </a:solidFill>
                <a:latin typeface="Cambria"/>
              </a:rPr>
              <a:t>Questions?</a:t>
            </a:r>
          </a:p>
        </p:txBody>
      </p:sp>
      <p:sp>
        <p:nvSpPr>
          <p:cNvPr id="1039" name="Rounded Rectangle 1038"/>
          <p:cNvSpPr/>
          <p:nvPr/>
        </p:nvSpPr>
        <p:spPr>
          <a:xfrm>
            <a:off x="822960" y="2532888"/>
            <a:ext cx="7114032" cy="2560320"/>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2F6B78"/>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1F2328"/>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5B6770"/>
                </a:solidFill>
                <a:latin typeface="Consolas"/>
              </a:rPr>
              <a:t>patient_id  FK</a:t>
            </a:r>
          </a:p>
        </p:txBody>
      </p:sp>
      <p:sp>
        <p:nvSpPr>
          <p:cNvPr id="1044" name="Chevron 1043"/>
          <p:cNvSpPr/>
          <p:nvPr/>
        </p:nvSpPr>
        <p:spPr>
          <a:xfrm>
            <a:off x="3282696" y="3483864"/>
            <a:ext cx="621792" cy="411480"/>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0B6E4F"/>
                </a:solidFill>
                <a:latin typeface="Consolas"/>
              </a:rPr>
              <a:t>RIGOR</a:t>
            </a:r>
          </a:p>
        </p:txBody>
      </p:sp>
      <p:sp>
        <p:nvSpPr>
          <p:cNvPr id="1046" name="Rounded Rectangle 1045"/>
          <p:cNvSpPr/>
          <p:nvPr/>
        </p:nvSpPr>
        <p:spPr>
          <a:xfrm>
            <a:off x="4206240" y="3264408"/>
            <a:ext cx="3383280" cy="914400"/>
          </a:xfrm>
          <a:prstGeom prst="roundRect">
            <a:avLst/>
          </a:prstGeom>
          <a:solidFill>
            <a:srgbClr val="FFFFFF"/>
          </a:solidFill>
          <a:ln w="1270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1F2328"/>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5B677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1F2328"/>
                </a:solidFill>
                <a:latin typeface="Calibri"/>
              </a:rPr>
              <a:t>Meaning without losing structure · link to the data intact · preferred by experts</a:t>
            </a:r>
          </a:p>
        </p:txBody>
      </p:sp>
      <p:sp>
        <p:nvSpPr>
          <p:cNvPr id="1050" name="Rounded Rectangle 1049"/>
          <p:cNvSpPr/>
          <p:nvPr/>
        </p:nvSpPr>
        <p:spPr>
          <a:xfrm>
            <a:off x="8183879" y="2523744"/>
            <a:ext cx="3136392" cy="2871216"/>
          </a:xfrm>
          <a:prstGeom prst="roundRect">
            <a:avLst/>
          </a:prstGeom>
          <a:solidFill>
            <a:srgbClr val="F3F5F4"/>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2F6B78"/>
                </a:solidFill>
                <a:latin typeface="Consolas"/>
              </a:rPr>
              <a:t>PAPER + OPEN SOURCE</a:t>
            </a:r>
          </a:p>
        </p:txBody>
      </p:sp>
      <p:pic>
        <p:nvPicPr>
          <p:cNvPr id="1052" name="Picture 1051" descr="QR code: https://arxiv.org/abs/2506.01232 (paper)"/>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Paper</a:t>
            </a:r>
          </a:p>
        </p:txBody>
      </p:sp>
      <p:pic>
        <p:nvPicPr>
          <p:cNvPr id="1054" name="Picture 1053" descr="QR code: https://github.com/NadeenAhmad/RIGOR (code)"/>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1F2328"/>
                </a:solidFill>
                <a:latin typeface="Calibri"/>
              </a:rPr>
              <a:t>GitHub</a:t>
            </a:r>
          </a:p>
        </p:txBody>
      </p:sp>
      <p:cxnSp>
        <p:nvCxnSpPr>
          <p:cNvPr id="1056" name="Connector 1055"/>
          <p:cNvCxnSpPr/>
          <p:nvPr/>
        </p:nvCxnSpPr>
        <p:spPr>
          <a:xfrm>
            <a:off x="832104" y="5660136"/>
            <a:ext cx="10488168" cy="0"/>
          </a:xfrm>
          <a:prstGeom prst="line">
            <a:avLst/>
          </a:prstGeom>
          <a:ln w="12700">
            <a:solidFill>
              <a:srgbClr val="D9DEDB"/>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1F2328"/>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5B677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B2</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Experts score RIGOR highest on average in both databases.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Human expert scores (0–5) per quality dimension  ·  10 experts, 2 tables per database  ·  best value per row in bold</a:t>
            </a:r>
          </a:p>
        </p:txBody>
      </p:sp>
      <p:sp>
        <p:nvSpPr>
          <p:cNvPr id="949" name="DB label"/>
          <p:cNvSpPr txBox="1"/>
          <p:nvPr/>
        </p:nvSpPr>
        <p:spPr>
          <a:xfrm>
            <a:off x="82296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Liver cancer</a:t>
            </a:r>
          </a:p>
        </p:txBody>
      </p:sp>
      <p:sp>
        <p:nvSpPr>
          <p:cNvPr id="950" name="Table header rule"/>
          <p:cNvSpPr/>
          <p:nvPr/>
        </p:nvSpPr>
        <p:spPr>
          <a:xfrm>
            <a:off x="822960" y="2596896"/>
            <a:ext cx="5138928" cy="9144"/>
          </a:xfrm>
          <a:prstGeom prst="rect">
            <a:avLst/>
          </a:prstGeom>
          <a:solidFill>
            <a:srgbClr val="D9DEDB"/>
          </a:solidFill>
          <a:ln>
            <a:noFill/>
          </a:ln>
        </p:spPr>
        <p:txBody>
          <a:bodyPr wrap="square" lIns="0" tIns="0" rIns="0" bIns="0" anchor="t">
            <a:noAutofit/>
          </a:bodyPr>
          <a:lstStyle/>
          <a:p>
            <a:pPr algn="l"/>
          </a:p>
        </p:txBody>
      </p:sp>
      <p:sp>
        <p:nvSpPr>
          <p:cNvPr id="951" name="Cell 0-0"/>
          <p:cNvSpPr txBox="1"/>
          <p:nvPr/>
        </p:nvSpPr>
        <p:spPr>
          <a:xfrm>
            <a:off x="82296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952" name="Cell 0-1"/>
          <p:cNvSpPr txBox="1"/>
          <p:nvPr/>
        </p:nvSpPr>
        <p:spPr>
          <a:xfrm>
            <a:off x="2377440"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953" name="Cell 0-2"/>
          <p:cNvSpPr txBox="1"/>
          <p:nvPr/>
        </p:nvSpPr>
        <p:spPr>
          <a:xfrm>
            <a:off x="327355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954" name="Cell 0-3"/>
          <p:cNvSpPr txBox="1"/>
          <p:nvPr/>
        </p:nvSpPr>
        <p:spPr>
          <a:xfrm>
            <a:off x="416966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955" name="Cell 0-4"/>
          <p:cNvSpPr txBox="1"/>
          <p:nvPr/>
        </p:nvSpPr>
        <p:spPr>
          <a:xfrm>
            <a:off x="506577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956" name="Cell 1-0"/>
          <p:cNvSpPr txBox="1"/>
          <p:nvPr/>
        </p:nvSpPr>
        <p:spPr>
          <a:xfrm>
            <a:off x="82296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957" name="Cell 1-1"/>
          <p:cNvSpPr txBox="1"/>
          <p:nvPr/>
        </p:nvSpPr>
        <p:spPr>
          <a:xfrm>
            <a:off x="2377440"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58" name="Cell 1-2"/>
          <p:cNvSpPr txBox="1"/>
          <p:nvPr/>
        </p:nvSpPr>
        <p:spPr>
          <a:xfrm>
            <a:off x="327355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59" name="Cell 1-3"/>
          <p:cNvSpPr txBox="1"/>
          <p:nvPr/>
        </p:nvSpPr>
        <p:spPr>
          <a:xfrm>
            <a:off x="416966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60" name="Cell 1-4"/>
          <p:cNvSpPr txBox="1"/>
          <p:nvPr/>
        </p:nvSpPr>
        <p:spPr>
          <a:xfrm>
            <a:off x="506577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61" name="Row tint"/>
          <p:cNvSpPr/>
          <p:nvPr/>
        </p:nvSpPr>
        <p:spPr>
          <a:xfrm>
            <a:off x="822960" y="2999232"/>
            <a:ext cx="5138928" cy="384048"/>
          </a:xfrm>
          <a:prstGeom prst="rect">
            <a:avLst/>
          </a:prstGeom>
          <a:solidFill>
            <a:srgbClr val="F3F5F4"/>
          </a:solidFill>
          <a:ln>
            <a:noFill/>
          </a:ln>
        </p:spPr>
        <p:txBody>
          <a:bodyPr wrap="square" lIns="0" tIns="0" rIns="0" bIns="0" anchor="t">
            <a:noAutofit/>
          </a:bodyPr>
          <a:lstStyle/>
          <a:p>
            <a:pPr algn="l"/>
          </a:p>
        </p:txBody>
      </p:sp>
      <p:sp>
        <p:nvSpPr>
          <p:cNvPr id="962" name="Cell 2-0"/>
          <p:cNvSpPr txBox="1"/>
          <p:nvPr/>
        </p:nvSpPr>
        <p:spPr>
          <a:xfrm>
            <a:off x="82296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963" name="Cell 2-1"/>
          <p:cNvSpPr txBox="1"/>
          <p:nvPr/>
        </p:nvSpPr>
        <p:spPr>
          <a:xfrm>
            <a:off x="2377440"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964" name="Cell 2-2"/>
          <p:cNvSpPr txBox="1"/>
          <p:nvPr/>
        </p:nvSpPr>
        <p:spPr>
          <a:xfrm>
            <a:off x="327355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3.00</a:t>
            </a:r>
          </a:p>
        </p:txBody>
      </p:sp>
      <p:sp>
        <p:nvSpPr>
          <p:cNvPr id="965" name="Cell 2-3"/>
          <p:cNvSpPr txBox="1"/>
          <p:nvPr/>
        </p:nvSpPr>
        <p:spPr>
          <a:xfrm>
            <a:off x="416966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2.25</a:t>
            </a:r>
          </a:p>
        </p:txBody>
      </p:sp>
      <p:sp>
        <p:nvSpPr>
          <p:cNvPr id="966" name="Cell 2-4"/>
          <p:cNvSpPr txBox="1"/>
          <p:nvPr/>
        </p:nvSpPr>
        <p:spPr>
          <a:xfrm>
            <a:off x="506577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3.85</a:t>
            </a:r>
          </a:p>
        </p:txBody>
      </p:sp>
      <p:sp>
        <p:nvSpPr>
          <p:cNvPr id="967" name="Cell 3-0"/>
          <p:cNvSpPr txBox="1"/>
          <p:nvPr/>
        </p:nvSpPr>
        <p:spPr>
          <a:xfrm>
            <a:off x="82296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968" name="Cell 3-1"/>
          <p:cNvSpPr txBox="1"/>
          <p:nvPr/>
        </p:nvSpPr>
        <p:spPr>
          <a:xfrm>
            <a:off x="2377440"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4.05</a:t>
            </a:r>
          </a:p>
        </p:txBody>
      </p:sp>
      <p:sp>
        <p:nvSpPr>
          <p:cNvPr id="969" name="Cell 3-2"/>
          <p:cNvSpPr txBox="1"/>
          <p:nvPr/>
        </p:nvSpPr>
        <p:spPr>
          <a:xfrm>
            <a:off x="3273552"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970" name="Cell 3-3"/>
          <p:cNvSpPr txBox="1"/>
          <p:nvPr/>
        </p:nvSpPr>
        <p:spPr>
          <a:xfrm>
            <a:off x="416966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71" name="Cell 3-4"/>
          <p:cNvSpPr txBox="1"/>
          <p:nvPr/>
        </p:nvSpPr>
        <p:spPr>
          <a:xfrm>
            <a:off x="5065776"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3.60</a:t>
            </a:r>
          </a:p>
        </p:txBody>
      </p:sp>
      <p:sp>
        <p:nvSpPr>
          <p:cNvPr id="972" name="Row tint"/>
          <p:cNvSpPr/>
          <p:nvPr/>
        </p:nvSpPr>
        <p:spPr>
          <a:xfrm>
            <a:off x="822960" y="3767327"/>
            <a:ext cx="5138928" cy="384048"/>
          </a:xfrm>
          <a:prstGeom prst="rect">
            <a:avLst/>
          </a:prstGeom>
          <a:solidFill>
            <a:srgbClr val="F3F5F4"/>
          </a:solidFill>
          <a:ln>
            <a:noFill/>
          </a:ln>
        </p:spPr>
        <p:txBody>
          <a:bodyPr wrap="square" lIns="0" tIns="0" rIns="0" bIns="0" anchor="t">
            <a:noAutofit/>
          </a:bodyPr>
          <a:lstStyle/>
          <a:p>
            <a:pPr algn="l"/>
          </a:p>
        </p:txBody>
      </p:sp>
      <p:sp>
        <p:nvSpPr>
          <p:cNvPr id="973" name="Cell 4-0"/>
          <p:cNvSpPr txBox="1"/>
          <p:nvPr/>
        </p:nvSpPr>
        <p:spPr>
          <a:xfrm>
            <a:off x="82296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974" name="Cell 4-1"/>
          <p:cNvSpPr txBox="1"/>
          <p:nvPr/>
        </p:nvSpPr>
        <p:spPr>
          <a:xfrm>
            <a:off x="2377440"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5" name="Cell 4-2"/>
          <p:cNvSpPr txBox="1"/>
          <p:nvPr/>
        </p:nvSpPr>
        <p:spPr>
          <a:xfrm>
            <a:off x="327355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1.95</a:t>
            </a:r>
          </a:p>
        </p:txBody>
      </p:sp>
      <p:sp>
        <p:nvSpPr>
          <p:cNvPr id="976" name="Cell 4-3"/>
          <p:cNvSpPr txBox="1"/>
          <p:nvPr/>
        </p:nvSpPr>
        <p:spPr>
          <a:xfrm>
            <a:off x="416966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1.55</a:t>
            </a:r>
          </a:p>
        </p:txBody>
      </p:sp>
      <p:sp>
        <p:nvSpPr>
          <p:cNvPr id="977" name="Cell 4-4"/>
          <p:cNvSpPr txBox="1"/>
          <p:nvPr/>
        </p:nvSpPr>
        <p:spPr>
          <a:xfrm>
            <a:off x="506577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8" name="Cell 5-0"/>
          <p:cNvSpPr txBox="1"/>
          <p:nvPr/>
        </p:nvSpPr>
        <p:spPr>
          <a:xfrm>
            <a:off x="82296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979" name="Cell 5-1"/>
          <p:cNvSpPr txBox="1"/>
          <p:nvPr/>
        </p:nvSpPr>
        <p:spPr>
          <a:xfrm>
            <a:off x="2377440"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2.50</a:t>
            </a:r>
          </a:p>
        </p:txBody>
      </p:sp>
      <p:sp>
        <p:nvSpPr>
          <p:cNvPr id="980" name="Cell 5-2"/>
          <p:cNvSpPr txBox="1"/>
          <p:nvPr/>
        </p:nvSpPr>
        <p:spPr>
          <a:xfrm>
            <a:off x="327355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981" name="Cell 5-3"/>
          <p:cNvSpPr txBox="1"/>
          <p:nvPr/>
        </p:nvSpPr>
        <p:spPr>
          <a:xfrm>
            <a:off x="416966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2.90</a:t>
            </a:r>
          </a:p>
        </p:txBody>
      </p:sp>
      <p:sp>
        <p:nvSpPr>
          <p:cNvPr id="982" name="Cell 5-4"/>
          <p:cNvSpPr txBox="1"/>
          <p:nvPr/>
        </p:nvSpPr>
        <p:spPr>
          <a:xfrm>
            <a:off x="506577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3.90</a:t>
            </a:r>
          </a:p>
        </p:txBody>
      </p:sp>
      <p:sp>
        <p:nvSpPr>
          <p:cNvPr id="983" name="Row tint"/>
          <p:cNvSpPr/>
          <p:nvPr/>
        </p:nvSpPr>
        <p:spPr>
          <a:xfrm>
            <a:off x="822960" y="4535423"/>
            <a:ext cx="5138928" cy="384048"/>
          </a:xfrm>
          <a:prstGeom prst="rect">
            <a:avLst/>
          </a:prstGeom>
          <a:solidFill>
            <a:srgbClr val="F3F5F4"/>
          </a:solidFill>
          <a:ln>
            <a:noFill/>
          </a:ln>
        </p:spPr>
        <p:txBody>
          <a:bodyPr wrap="square" lIns="0" tIns="0" rIns="0" bIns="0" anchor="t">
            <a:noAutofit/>
          </a:bodyPr>
          <a:lstStyle/>
          <a:p>
            <a:pPr algn="l"/>
          </a:p>
        </p:txBody>
      </p:sp>
      <p:sp>
        <p:nvSpPr>
          <p:cNvPr id="984" name="Cell 6-0"/>
          <p:cNvSpPr txBox="1"/>
          <p:nvPr/>
        </p:nvSpPr>
        <p:spPr>
          <a:xfrm>
            <a:off x="82296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985" name="Cell 6-1"/>
          <p:cNvSpPr txBox="1"/>
          <p:nvPr/>
        </p:nvSpPr>
        <p:spPr>
          <a:xfrm>
            <a:off x="2377440"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86" name="Cell 6-2"/>
          <p:cNvSpPr txBox="1"/>
          <p:nvPr/>
        </p:nvSpPr>
        <p:spPr>
          <a:xfrm>
            <a:off x="3273552"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2.85</a:t>
            </a:r>
          </a:p>
        </p:txBody>
      </p:sp>
      <p:sp>
        <p:nvSpPr>
          <p:cNvPr id="987" name="Cell 6-3"/>
          <p:cNvSpPr txBox="1"/>
          <p:nvPr/>
        </p:nvSpPr>
        <p:spPr>
          <a:xfrm>
            <a:off x="416966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88" name="Cell 6-4"/>
          <p:cNvSpPr txBox="1"/>
          <p:nvPr/>
        </p:nvSpPr>
        <p:spPr>
          <a:xfrm>
            <a:off x="5065776"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989" name="Cell 7-0"/>
          <p:cNvSpPr txBox="1"/>
          <p:nvPr/>
        </p:nvSpPr>
        <p:spPr>
          <a:xfrm>
            <a:off x="82296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990" name="Cell 7-1"/>
          <p:cNvSpPr txBox="1"/>
          <p:nvPr/>
        </p:nvSpPr>
        <p:spPr>
          <a:xfrm>
            <a:off x="2377440"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2.20</a:t>
            </a:r>
          </a:p>
        </p:txBody>
      </p:sp>
      <p:sp>
        <p:nvSpPr>
          <p:cNvPr id="991" name="Cell 7-2"/>
          <p:cNvSpPr txBox="1"/>
          <p:nvPr/>
        </p:nvSpPr>
        <p:spPr>
          <a:xfrm>
            <a:off x="327355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992" name="Cell 7-3"/>
          <p:cNvSpPr txBox="1"/>
          <p:nvPr/>
        </p:nvSpPr>
        <p:spPr>
          <a:xfrm>
            <a:off x="416966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93" name="Cell 7-4"/>
          <p:cNvSpPr txBox="1"/>
          <p:nvPr/>
        </p:nvSpPr>
        <p:spPr>
          <a:xfrm>
            <a:off x="506577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3.50</a:t>
            </a:r>
          </a:p>
        </p:txBody>
      </p:sp>
      <p:sp>
        <p:nvSpPr>
          <p:cNvPr id="994" name="Row tint"/>
          <p:cNvSpPr/>
          <p:nvPr/>
        </p:nvSpPr>
        <p:spPr>
          <a:xfrm>
            <a:off x="822960" y="5303519"/>
            <a:ext cx="5138928" cy="384048"/>
          </a:xfrm>
          <a:prstGeom prst="rect">
            <a:avLst/>
          </a:prstGeom>
          <a:solidFill>
            <a:srgbClr val="F3F5F4"/>
          </a:solidFill>
          <a:ln>
            <a:noFill/>
          </a:ln>
        </p:spPr>
        <p:txBody>
          <a:bodyPr wrap="square" lIns="0" tIns="0" rIns="0" bIns="0" anchor="t">
            <a:noAutofit/>
          </a:bodyPr>
          <a:lstStyle/>
          <a:p>
            <a:pPr algn="l"/>
          </a:p>
        </p:txBody>
      </p:sp>
      <p:sp>
        <p:nvSpPr>
          <p:cNvPr id="995" name="Cell 8-0"/>
          <p:cNvSpPr txBox="1"/>
          <p:nvPr/>
        </p:nvSpPr>
        <p:spPr>
          <a:xfrm>
            <a:off x="82296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996" name="Cell 8-1"/>
          <p:cNvSpPr txBox="1"/>
          <p:nvPr/>
        </p:nvSpPr>
        <p:spPr>
          <a:xfrm>
            <a:off x="2377440"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97" name="Cell 8-2"/>
          <p:cNvSpPr txBox="1"/>
          <p:nvPr/>
        </p:nvSpPr>
        <p:spPr>
          <a:xfrm>
            <a:off x="327355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2.74</a:t>
            </a:r>
          </a:p>
        </p:txBody>
      </p:sp>
      <p:sp>
        <p:nvSpPr>
          <p:cNvPr id="998" name="Cell 8-3"/>
          <p:cNvSpPr txBox="1"/>
          <p:nvPr/>
        </p:nvSpPr>
        <p:spPr>
          <a:xfrm>
            <a:off x="416966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2.39</a:t>
            </a:r>
          </a:p>
        </p:txBody>
      </p:sp>
      <p:sp>
        <p:nvSpPr>
          <p:cNvPr id="999" name="Cell 8-4"/>
          <p:cNvSpPr txBox="1"/>
          <p:nvPr/>
        </p:nvSpPr>
        <p:spPr>
          <a:xfrm>
            <a:off x="506577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3.44</a:t>
            </a:r>
          </a:p>
        </p:txBody>
      </p:sp>
      <p:sp>
        <p:nvSpPr>
          <p:cNvPr id="1000" name="DB label"/>
          <p:cNvSpPr txBox="1"/>
          <p:nvPr/>
        </p:nvSpPr>
        <p:spPr>
          <a:xfrm>
            <a:off x="617220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eICU-CRD</a:t>
            </a:r>
          </a:p>
        </p:txBody>
      </p:sp>
      <p:sp>
        <p:nvSpPr>
          <p:cNvPr id="1001" name="Table header rule"/>
          <p:cNvSpPr/>
          <p:nvPr/>
        </p:nvSpPr>
        <p:spPr>
          <a:xfrm>
            <a:off x="6172200" y="2596896"/>
            <a:ext cx="5138928" cy="9144"/>
          </a:xfrm>
          <a:prstGeom prst="rect">
            <a:avLst/>
          </a:prstGeom>
          <a:solidFill>
            <a:srgbClr val="D9DEDB"/>
          </a:solidFill>
          <a:ln>
            <a:noFill/>
          </a:ln>
        </p:spPr>
        <p:txBody>
          <a:bodyPr wrap="square" lIns="0" tIns="0" rIns="0" bIns="0" anchor="t">
            <a:noAutofit/>
          </a:bodyPr>
          <a:lstStyle/>
          <a:p>
            <a:pPr algn="l"/>
          </a:p>
        </p:txBody>
      </p:sp>
      <p:sp>
        <p:nvSpPr>
          <p:cNvPr id="1002" name="Cell 0-0"/>
          <p:cNvSpPr txBox="1"/>
          <p:nvPr/>
        </p:nvSpPr>
        <p:spPr>
          <a:xfrm>
            <a:off x="617220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1003" name="Cell 0-1"/>
          <p:cNvSpPr txBox="1"/>
          <p:nvPr/>
        </p:nvSpPr>
        <p:spPr>
          <a:xfrm>
            <a:off x="7726679"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1004" name="Cell 0-2"/>
          <p:cNvSpPr txBox="1"/>
          <p:nvPr/>
        </p:nvSpPr>
        <p:spPr>
          <a:xfrm>
            <a:off x="862279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1005" name="Cell 0-3"/>
          <p:cNvSpPr txBox="1"/>
          <p:nvPr/>
        </p:nvSpPr>
        <p:spPr>
          <a:xfrm>
            <a:off x="951890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1006" name="Cell 0-4"/>
          <p:cNvSpPr txBox="1"/>
          <p:nvPr/>
        </p:nvSpPr>
        <p:spPr>
          <a:xfrm>
            <a:off x="1041501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1007" name="Cell 1-0"/>
          <p:cNvSpPr txBox="1"/>
          <p:nvPr/>
        </p:nvSpPr>
        <p:spPr>
          <a:xfrm>
            <a:off x="617220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1008" name="Cell 1-1"/>
          <p:cNvSpPr txBox="1"/>
          <p:nvPr/>
        </p:nvSpPr>
        <p:spPr>
          <a:xfrm>
            <a:off x="7726679"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3.05</a:t>
            </a:r>
          </a:p>
        </p:txBody>
      </p:sp>
      <p:sp>
        <p:nvSpPr>
          <p:cNvPr id="1009" name="Cell 1-2"/>
          <p:cNvSpPr txBox="1"/>
          <p:nvPr/>
        </p:nvSpPr>
        <p:spPr>
          <a:xfrm>
            <a:off x="862279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3.90</a:t>
            </a:r>
          </a:p>
        </p:txBody>
      </p:sp>
      <p:sp>
        <p:nvSpPr>
          <p:cNvPr id="1010" name="Cell 1-3"/>
          <p:cNvSpPr txBox="1"/>
          <p:nvPr/>
        </p:nvSpPr>
        <p:spPr>
          <a:xfrm>
            <a:off x="951890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0.85</a:t>
            </a:r>
          </a:p>
        </p:txBody>
      </p:sp>
      <p:sp>
        <p:nvSpPr>
          <p:cNvPr id="1011" name="Cell 1-4"/>
          <p:cNvSpPr txBox="1"/>
          <p:nvPr/>
        </p:nvSpPr>
        <p:spPr>
          <a:xfrm>
            <a:off x="1041501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4.00</a:t>
            </a:r>
          </a:p>
        </p:txBody>
      </p:sp>
      <p:sp>
        <p:nvSpPr>
          <p:cNvPr id="1012" name="Row tint"/>
          <p:cNvSpPr/>
          <p:nvPr/>
        </p:nvSpPr>
        <p:spPr>
          <a:xfrm>
            <a:off x="6172200" y="2999232"/>
            <a:ext cx="5138928" cy="384048"/>
          </a:xfrm>
          <a:prstGeom prst="rect">
            <a:avLst/>
          </a:prstGeom>
          <a:solidFill>
            <a:srgbClr val="F3F5F4"/>
          </a:solidFill>
          <a:ln>
            <a:noFill/>
          </a:ln>
        </p:spPr>
        <p:txBody>
          <a:bodyPr wrap="square" lIns="0" tIns="0" rIns="0" bIns="0" anchor="t">
            <a:noAutofit/>
          </a:bodyPr>
          <a:lstStyle/>
          <a:p>
            <a:pPr algn="l"/>
          </a:p>
        </p:txBody>
      </p:sp>
      <p:sp>
        <p:nvSpPr>
          <p:cNvPr id="1013" name="Cell 2-0"/>
          <p:cNvSpPr txBox="1"/>
          <p:nvPr/>
        </p:nvSpPr>
        <p:spPr>
          <a:xfrm>
            <a:off x="617220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1014" name="Cell 2-1"/>
          <p:cNvSpPr txBox="1"/>
          <p:nvPr/>
        </p:nvSpPr>
        <p:spPr>
          <a:xfrm>
            <a:off x="7726679"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1015" name="Cell 2-2"/>
          <p:cNvSpPr txBox="1"/>
          <p:nvPr/>
        </p:nvSpPr>
        <p:spPr>
          <a:xfrm>
            <a:off x="862279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3.10</a:t>
            </a:r>
          </a:p>
        </p:txBody>
      </p:sp>
      <p:sp>
        <p:nvSpPr>
          <p:cNvPr id="1016" name="Cell 2-3"/>
          <p:cNvSpPr txBox="1"/>
          <p:nvPr/>
        </p:nvSpPr>
        <p:spPr>
          <a:xfrm>
            <a:off x="951890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0.80</a:t>
            </a:r>
          </a:p>
        </p:txBody>
      </p:sp>
      <p:sp>
        <p:nvSpPr>
          <p:cNvPr id="1017" name="Cell 2-4"/>
          <p:cNvSpPr txBox="1"/>
          <p:nvPr/>
        </p:nvSpPr>
        <p:spPr>
          <a:xfrm>
            <a:off x="1041501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18" name="Cell 3-0"/>
          <p:cNvSpPr txBox="1"/>
          <p:nvPr/>
        </p:nvSpPr>
        <p:spPr>
          <a:xfrm>
            <a:off x="617220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1019" name="Cell 3-1"/>
          <p:cNvSpPr txBox="1"/>
          <p:nvPr/>
        </p:nvSpPr>
        <p:spPr>
          <a:xfrm>
            <a:off x="7726679"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1020" name="Cell 3-2"/>
          <p:cNvSpPr txBox="1"/>
          <p:nvPr/>
        </p:nvSpPr>
        <p:spPr>
          <a:xfrm>
            <a:off x="8622792"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1" name="Cell 3-3"/>
          <p:cNvSpPr txBox="1"/>
          <p:nvPr/>
        </p:nvSpPr>
        <p:spPr>
          <a:xfrm>
            <a:off x="951890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2.05</a:t>
            </a:r>
          </a:p>
        </p:txBody>
      </p:sp>
      <p:sp>
        <p:nvSpPr>
          <p:cNvPr id="1022" name="Cell 3-4"/>
          <p:cNvSpPr txBox="1"/>
          <p:nvPr/>
        </p:nvSpPr>
        <p:spPr>
          <a:xfrm>
            <a:off x="10415016"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3" name="Row tint"/>
          <p:cNvSpPr/>
          <p:nvPr/>
        </p:nvSpPr>
        <p:spPr>
          <a:xfrm>
            <a:off x="6172200" y="3767327"/>
            <a:ext cx="5138928" cy="384048"/>
          </a:xfrm>
          <a:prstGeom prst="rect">
            <a:avLst/>
          </a:prstGeom>
          <a:solidFill>
            <a:srgbClr val="F3F5F4"/>
          </a:solidFill>
          <a:ln>
            <a:noFill/>
          </a:ln>
        </p:spPr>
        <p:txBody>
          <a:bodyPr wrap="square" lIns="0" tIns="0" rIns="0" bIns="0" anchor="t">
            <a:noAutofit/>
          </a:bodyPr>
          <a:lstStyle/>
          <a:p>
            <a:pPr algn="l"/>
          </a:p>
        </p:txBody>
      </p:sp>
      <p:sp>
        <p:nvSpPr>
          <p:cNvPr id="1024" name="Cell 4-0"/>
          <p:cNvSpPr txBox="1"/>
          <p:nvPr/>
        </p:nvSpPr>
        <p:spPr>
          <a:xfrm>
            <a:off x="617220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1025" name="Cell 4-1"/>
          <p:cNvSpPr txBox="1"/>
          <p:nvPr/>
        </p:nvSpPr>
        <p:spPr>
          <a:xfrm>
            <a:off x="7726679"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26" name="Cell 4-2"/>
          <p:cNvSpPr txBox="1"/>
          <p:nvPr/>
        </p:nvSpPr>
        <p:spPr>
          <a:xfrm>
            <a:off x="862279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2.10</a:t>
            </a:r>
          </a:p>
        </p:txBody>
      </p:sp>
      <p:sp>
        <p:nvSpPr>
          <p:cNvPr id="1027" name="Cell 4-3"/>
          <p:cNvSpPr txBox="1"/>
          <p:nvPr/>
        </p:nvSpPr>
        <p:spPr>
          <a:xfrm>
            <a:off x="951890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1.00</a:t>
            </a:r>
          </a:p>
        </p:txBody>
      </p:sp>
      <p:sp>
        <p:nvSpPr>
          <p:cNvPr id="1028" name="Cell 4-4"/>
          <p:cNvSpPr txBox="1"/>
          <p:nvPr/>
        </p:nvSpPr>
        <p:spPr>
          <a:xfrm>
            <a:off x="1041501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2.20</a:t>
            </a:r>
          </a:p>
        </p:txBody>
      </p:sp>
      <p:sp>
        <p:nvSpPr>
          <p:cNvPr id="1029" name="Cell 5-0"/>
          <p:cNvSpPr txBox="1"/>
          <p:nvPr/>
        </p:nvSpPr>
        <p:spPr>
          <a:xfrm>
            <a:off x="617220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1030" name="Cell 5-1"/>
          <p:cNvSpPr txBox="1"/>
          <p:nvPr/>
        </p:nvSpPr>
        <p:spPr>
          <a:xfrm>
            <a:off x="7726679"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2.55</a:t>
            </a:r>
          </a:p>
        </p:txBody>
      </p:sp>
      <p:sp>
        <p:nvSpPr>
          <p:cNvPr id="1031" name="Cell 5-2"/>
          <p:cNvSpPr txBox="1"/>
          <p:nvPr/>
        </p:nvSpPr>
        <p:spPr>
          <a:xfrm>
            <a:off x="862279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1032" name="Cell 5-3"/>
          <p:cNvSpPr txBox="1"/>
          <p:nvPr/>
        </p:nvSpPr>
        <p:spPr>
          <a:xfrm>
            <a:off x="951890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1.50</a:t>
            </a:r>
          </a:p>
        </p:txBody>
      </p:sp>
      <p:sp>
        <p:nvSpPr>
          <p:cNvPr id="1033" name="Cell 5-4"/>
          <p:cNvSpPr txBox="1"/>
          <p:nvPr/>
        </p:nvSpPr>
        <p:spPr>
          <a:xfrm>
            <a:off x="1041501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34" name="Row tint"/>
          <p:cNvSpPr/>
          <p:nvPr/>
        </p:nvSpPr>
        <p:spPr>
          <a:xfrm>
            <a:off x="6172200" y="4535423"/>
            <a:ext cx="5138928" cy="384048"/>
          </a:xfrm>
          <a:prstGeom prst="rect">
            <a:avLst/>
          </a:prstGeom>
          <a:solidFill>
            <a:srgbClr val="F3F5F4"/>
          </a:solidFill>
          <a:ln>
            <a:noFill/>
          </a:ln>
        </p:spPr>
        <p:txBody>
          <a:bodyPr wrap="square" lIns="0" tIns="0" rIns="0" bIns="0" anchor="t">
            <a:noAutofit/>
          </a:bodyPr>
          <a:lstStyle/>
          <a:p>
            <a:pPr algn="l"/>
          </a:p>
        </p:txBody>
      </p:sp>
      <p:sp>
        <p:nvSpPr>
          <p:cNvPr id="1035" name="Cell 6-0"/>
          <p:cNvSpPr txBox="1"/>
          <p:nvPr/>
        </p:nvSpPr>
        <p:spPr>
          <a:xfrm>
            <a:off x="617220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1036" name="Cell 6-1"/>
          <p:cNvSpPr txBox="1"/>
          <p:nvPr/>
        </p:nvSpPr>
        <p:spPr>
          <a:xfrm>
            <a:off x="7726679"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2.60</a:t>
            </a:r>
          </a:p>
        </p:txBody>
      </p:sp>
      <p:sp>
        <p:nvSpPr>
          <p:cNvPr id="1037" name="Cell 6-2"/>
          <p:cNvSpPr txBox="1"/>
          <p:nvPr/>
        </p:nvSpPr>
        <p:spPr>
          <a:xfrm>
            <a:off x="8622792"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3.40</a:t>
            </a:r>
          </a:p>
        </p:txBody>
      </p:sp>
      <p:sp>
        <p:nvSpPr>
          <p:cNvPr id="1038" name="Cell 6-3"/>
          <p:cNvSpPr txBox="1"/>
          <p:nvPr/>
        </p:nvSpPr>
        <p:spPr>
          <a:xfrm>
            <a:off x="951890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1.30</a:t>
            </a:r>
          </a:p>
        </p:txBody>
      </p:sp>
      <p:sp>
        <p:nvSpPr>
          <p:cNvPr id="1039" name="Cell 6-4"/>
          <p:cNvSpPr txBox="1"/>
          <p:nvPr/>
        </p:nvSpPr>
        <p:spPr>
          <a:xfrm>
            <a:off x="10415016"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3.15</a:t>
            </a:r>
          </a:p>
        </p:txBody>
      </p:sp>
      <p:sp>
        <p:nvSpPr>
          <p:cNvPr id="1040" name="Cell 7-0"/>
          <p:cNvSpPr txBox="1"/>
          <p:nvPr/>
        </p:nvSpPr>
        <p:spPr>
          <a:xfrm>
            <a:off x="617220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1041" name="Cell 7-1"/>
          <p:cNvSpPr txBox="1"/>
          <p:nvPr/>
        </p:nvSpPr>
        <p:spPr>
          <a:xfrm>
            <a:off x="7726679"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42" name="Cell 7-2"/>
          <p:cNvSpPr txBox="1"/>
          <p:nvPr/>
        </p:nvSpPr>
        <p:spPr>
          <a:xfrm>
            <a:off x="862279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1043" name="Cell 7-3"/>
          <p:cNvSpPr txBox="1"/>
          <p:nvPr/>
        </p:nvSpPr>
        <p:spPr>
          <a:xfrm>
            <a:off x="951890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1.15</a:t>
            </a:r>
          </a:p>
        </p:txBody>
      </p:sp>
      <p:sp>
        <p:nvSpPr>
          <p:cNvPr id="1044" name="Cell 7-4"/>
          <p:cNvSpPr txBox="1"/>
          <p:nvPr/>
        </p:nvSpPr>
        <p:spPr>
          <a:xfrm>
            <a:off x="1041501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1045" name="Row tint"/>
          <p:cNvSpPr/>
          <p:nvPr/>
        </p:nvSpPr>
        <p:spPr>
          <a:xfrm>
            <a:off x="6172200" y="5303519"/>
            <a:ext cx="5138928" cy="384048"/>
          </a:xfrm>
          <a:prstGeom prst="rect">
            <a:avLst/>
          </a:prstGeom>
          <a:solidFill>
            <a:srgbClr val="F3F5F4"/>
          </a:solidFill>
          <a:ln>
            <a:noFill/>
          </a:ln>
        </p:spPr>
        <p:txBody>
          <a:bodyPr wrap="square" lIns="0" tIns="0" rIns="0" bIns="0" anchor="t">
            <a:noAutofit/>
          </a:bodyPr>
          <a:lstStyle/>
          <a:p>
            <a:pPr algn="l"/>
          </a:p>
        </p:txBody>
      </p:sp>
      <p:sp>
        <p:nvSpPr>
          <p:cNvPr id="1046" name="Cell 8-0"/>
          <p:cNvSpPr txBox="1"/>
          <p:nvPr/>
        </p:nvSpPr>
        <p:spPr>
          <a:xfrm>
            <a:off x="617220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1047" name="Cell 8-1"/>
          <p:cNvSpPr txBox="1"/>
          <p:nvPr/>
        </p:nvSpPr>
        <p:spPr>
          <a:xfrm>
            <a:off x="7726679"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2.59</a:t>
            </a:r>
          </a:p>
        </p:txBody>
      </p:sp>
      <p:sp>
        <p:nvSpPr>
          <p:cNvPr id="1048" name="Cell 8-2"/>
          <p:cNvSpPr txBox="1"/>
          <p:nvPr/>
        </p:nvSpPr>
        <p:spPr>
          <a:xfrm>
            <a:off x="862279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3.01</a:t>
            </a:r>
          </a:p>
        </p:txBody>
      </p:sp>
      <p:sp>
        <p:nvSpPr>
          <p:cNvPr id="1049" name="Cell 8-3"/>
          <p:cNvSpPr txBox="1"/>
          <p:nvPr/>
        </p:nvSpPr>
        <p:spPr>
          <a:xfrm>
            <a:off x="951890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1.24</a:t>
            </a:r>
          </a:p>
        </p:txBody>
      </p:sp>
      <p:sp>
        <p:nvSpPr>
          <p:cNvPr id="1050" name="Cell 8-4"/>
          <p:cNvSpPr txBox="1"/>
          <p:nvPr/>
        </p:nvSpPr>
        <p:spPr>
          <a:xfrm>
            <a:off x="1041501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3.53</a:t>
            </a:r>
          </a:p>
        </p:txBody>
      </p:sp>
      <p:sp>
        <p:nvSpPr>
          <p:cNvPr id="105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Where RIGOR is not best: Conciseness (Direct Mapping on liver cancer), Consistency (LLM baseline on eICU-CRD).  Source: paper Table 11; LLM-judge scores in Table 10.</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B3</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Full retrieval gives the best overall alignment, by a small margin.</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Retrieval ablation on Chinook with Claude  ·  F1 of alignment between the ontology and each resource (cosine ≥ 0.55)</a:t>
            </a:r>
          </a:p>
        </p:txBody>
      </p:sp>
      <p:sp>
        <p:nvSpPr>
          <p:cNvPr id="949" name="Table header rule"/>
          <p:cNvSpPr/>
          <p:nvPr/>
        </p:nvSpPr>
        <p:spPr>
          <a:xfrm>
            <a:off x="822960" y="2487168"/>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2011680"/>
            <a:ext cx="2834640" cy="47548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VARIANT</a:t>
            </a:r>
          </a:p>
        </p:txBody>
      </p:sp>
      <p:sp>
        <p:nvSpPr>
          <p:cNvPr id="951" name="Cell 0-1"/>
          <p:cNvSpPr txBox="1"/>
          <p:nvPr/>
        </p:nvSpPr>
        <p:spPr>
          <a:xfrm>
            <a:off x="36576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SCHEMA F1</a:t>
            </a:r>
          </a:p>
        </p:txBody>
      </p:sp>
      <p:sp>
        <p:nvSpPr>
          <p:cNvPr id="952" name="Cell 0-2"/>
          <p:cNvSpPr txBox="1"/>
          <p:nvPr/>
        </p:nvSpPr>
        <p:spPr>
          <a:xfrm>
            <a:off x="493776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EXTERNAL F1</a:t>
            </a:r>
          </a:p>
        </p:txBody>
      </p:sp>
      <p:sp>
        <p:nvSpPr>
          <p:cNvPr id="953" name="Cell 0-3"/>
          <p:cNvSpPr txBox="1"/>
          <p:nvPr/>
        </p:nvSpPr>
        <p:spPr>
          <a:xfrm>
            <a:off x="621792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DOCS F1</a:t>
            </a:r>
          </a:p>
        </p:txBody>
      </p:sp>
      <p:sp>
        <p:nvSpPr>
          <p:cNvPr id="954" name="Cell 0-4"/>
          <p:cNvSpPr txBox="1"/>
          <p:nvPr/>
        </p:nvSpPr>
        <p:spPr>
          <a:xfrm>
            <a:off x="749808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P</a:t>
            </a:r>
          </a:p>
        </p:txBody>
      </p:sp>
      <p:sp>
        <p:nvSpPr>
          <p:cNvPr id="955" name="Cell 0-5"/>
          <p:cNvSpPr txBox="1"/>
          <p:nvPr/>
        </p:nvSpPr>
        <p:spPr>
          <a:xfrm>
            <a:off x="877824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R</a:t>
            </a:r>
          </a:p>
        </p:txBody>
      </p:sp>
      <p:sp>
        <p:nvSpPr>
          <p:cNvPr id="956" name="Cell 0-6"/>
          <p:cNvSpPr txBox="1"/>
          <p:nvPr/>
        </p:nvSpPr>
        <p:spPr>
          <a:xfrm>
            <a:off x="100584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F1</a:t>
            </a:r>
          </a:p>
        </p:txBody>
      </p:sp>
      <p:sp>
        <p:nvSpPr>
          <p:cNvPr id="957" name="Cell 1-0"/>
          <p:cNvSpPr txBox="1"/>
          <p:nvPr/>
        </p:nvSpPr>
        <p:spPr>
          <a:xfrm>
            <a:off x="822960" y="2505456"/>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no retrieval</a:t>
            </a:r>
          </a:p>
        </p:txBody>
      </p:sp>
      <p:sp>
        <p:nvSpPr>
          <p:cNvPr id="958" name="Cell 1-1"/>
          <p:cNvSpPr txBox="1"/>
          <p:nvPr/>
        </p:nvSpPr>
        <p:spPr>
          <a:xfrm>
            <a:off x="365760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59" name="Cell 1-2"/>
          <p:cNvSpPr txBox="1"/>
          <p:nvPr/>
        </p:nvSpPr>
        <p:spPr>
          <a:xfrm>
            <a:off x="493776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0" name="Cell 1-3"/>
          <p:cNvSpPr txBox="1"/>
          <p:nvPr/>
        </p:nvSpPr>
        <p:spPr>
          <a:xfrm>
            <a:off x="621792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61" name="Cell 1-4"/>
          <p:cNvSpPr txBox="1"/>
          <p:nvPr/>
        </p:nvSpPr>
        <p:spPr>
          <a:xfrm>
            <a:off x="749808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0.772</a:t>
            </a:r>
          </a:p>
        </p:txBody>
      </p:sp>
      <p:sp>
        <p:nvSpPr>
          <p:cNvPr id="962" name="Cell 1-5"/>
          <p:cNvSpPr txBox="1"/>
          <p:nvPr/>
        </p:nvSpPr>
        <p:spPr>
          <a:xfrm>
            <a:off x="877824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63" name="Cell 1-6"/>
          <p:cNvSpPr txBox="1"/>
          <p:nvPr/>
        </p:nvSpPr>
        <p:spPr>
          <a:xfrm>
            <a:off x="1005840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64" name="Row tint"/>
          <p:cNvSpPr/>
          <p:nvPr/>
        </p:nvSpPr>
        <p:spPr>
          <a:xfrm>
            <a:off x="822960" y="2980944"/>
            <a:ext cx="10515600" cy="475488"/>
          </a:xfrm>
          <a:prstGeom prst="rect">
            <a:avLst/>
          </a:prstGeom>
          <a:solidFill>
            <a:srgbClr val="F3F5F4"/>
          </a:solidFill>
          <a:ln>
            <a:noFill/>
          </a:ln>
        </p:spPr>
        <p:txBody>
          <a:bodyPr wrap="square" lIns="0" tIns="0" rIns="0" bIns="0" anchor="t">
            <a:noAutofit/>
          </a:bodyPr>
          <a:lstStyle/>
          <a:p>
            <a:pPr algn="l"/>
          </a:p>
        </p:txBody>
      </p:sp>
      <p:sp>
        <p:nvSpPr>
          <p:cNvPr id="965" name="Cell 2-0"/>
          <p:cNvSpPr txBox="1"/>
          <p:nvPr/>
        </p:nvSpPr>
        <p:spPr>
          <a:xfrm>
            <a:off x="822960" y="2980944"/>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schema + core</a:t>
            </a:r>
          </a:p>
        </p:txBody>
      </p:sp>
      <p:sp>
        <p:nvSpPr>
          <p:cNvPr id="966" name="Cell 2-1"/>
          <p:cNvSpPr txBox="1"/>
          <p:nvPr/>
        </p:nvSpPr>
        <p:spPr>
          <a:xfrm>
            <a:off x="36576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0.997</a:t>
            </a:r>
          </a:p>
        </p:txBody>
      </p:sp>
      <p:sp>
        <p:nvSpPr>
          <p:cNvPr id="967" name="Cell 2-2"/>
          <p:cNvSpPr txBox="1"/>
          <p:nvPr/>
        </p:nvSpPr>
        <p:spPr>
          <a:xfrm>
            <a:off x="493776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8" name="Cell 2-3"/>
          <p:cNvSpPr txBox="1"/>
          <p:nvPr/>
        </p:nvSpPr>
        <p:spPr>
          <a:xfrm>
            <a:off x="621792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0.916</a:t>
            </a:r>
          </a:p>
        </p:txBody>
      </p:sp>
      <p:sp>
        <p:nvSpPr>
          <p:cNvPr id="969" name="Cell 2-4"/>
          <p:cNvSpPr txBox="1"/>
          <p:nvPr/>
        </p:nvSpPr>
        <p:spPr>
          <a:xfrm>
            <a:off x="749808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0.758</a:t>
            </a:r>
          </a:p>
        </p:txBody>
      </p:sp>
      <p:sp>
        <p:nvSpPr>
          <p:cNvPr id="970" name="Cell 2-5"/>
          <p:cNvSpPr txBox="1"/>
          <p:nvPr/>
        </p:nvSpPr>
        <p:spPr>
          <a:xfrm>
            <a:off x="877824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1" name="Cell 2-6"/>
          <p:cNvSpPr txBox="1"/>
          <p:nvPr/>
        </p:nvSpPr>
        <p:spPr>
          <a:xfrm>
            <a:off x="100584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0.648</a:t>
            </a:r>
          </a:p>
        </p:txBody>
      </p:sp>
      <p:sp>
        <p:nvSpPr>
          <p:cNvPr id="972" name="Cell 3-0"/>
          <p:cNvSpPr txBox="1"/>
          <p:nvPr/>
        </p:nvSpPr>
        <p:spPr>
          <a:xfrm>
            <a:off x="822960" y="3456432"/>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external ontologies</a:t>
            </a:r>
          </a:p>
        </p:txBody>
      </p:sp>
      <p:sp>
        <p:nvSpPr>
          <p:cNvPr id="973" name="Cell 3-1"/>
          <p:cNvSpPr txBox="1"/>
          <p:nvPr/>
        </p:nvSpPr>
        <p:spPr>
          <a:xfrm>
            <a:off x="3657600" y="3456432"/>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74" name="Cell 3-2"/>
          <p:cNvSpPr txBox="1"/>
          <p:nvPr/>
        </p:nvSpPr>
        <p:spPr>
          <a:xfrm>
            <a:off x="493776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75" name="Cell 3-3"/>
          <p:cNvSpPr txBox="1"/>
          <p:nvPr/>
        </p:nvSpPr>
        <p:spPr>
          <a:xfrm>
            <a:off x="621792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76" name="Cell 3-4"/>
          <p:cNvSpPr txBox="1"/>
          <p:nvPr/>
        </p:nvSpPr>
        <p:spPr>
          <a:xfrm>
            <a:off x="749808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0.763</a:t>
            </a:r>
          </a:p>
        </p:txBody>
      </p:sp>
      <p:sp>
        <p:nvSpPr>
          <p:cNvPr id="977" name="Cell 3-5"/>
          <p:cNvSpPr txBox="1"/>
          <p:nvPr/>
        </p:nvSpPr>
        <p:spPr>
          <a:xfrm>
            <a:off x="877824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8" name="Cell 3-6"/>
          <p:cNvSpPr txBox="1"/>
          <p:nvPr/>
        </p:nvSpPr>
        <p:spPr>
          <a:xfrm>
            <a:off x="1005840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79" name="Row tint"/>
          <p:cNvSpPr/>
          <p:nvPr/>
        </p:nvSpPr>
        <p:spPr>
          <a:xfrm>
            <a:off x="822960" y="3931920"/>
            <a:ext cx="10515600" cy="475488"/>
          </a:xfrm>
          <a:prstGeom prst="rect">
            <a:avLst/>
          </a:prstGeom>
          <a:solidFill>
            <a:srgbClr val="F3F5F4"/>
          </a:solidFill>
          <a:ln>
            <a:noFill/>
          </a:ln>
        </p:spPr>
        <p:txBody>
          <a:bodyPr wrap="square" lIns="0" tIns="0" rIns="0" bIns="0" anchor="t">
            <a:noAutofit/>
          </a:bodyPr>
          <a:lstStyle/>
          <a:p>
            <a:pPr algn="l"/>
          </a:p>
        </p:txBody>
      </p:sp>
      <p:sp>
        <p:nvSpPr>
          <p:cNvPr id="980" name="Cell 4-0"/>
          <p:cNvSpPr txBox="1"/>
          <p:nvPr/>
        </p:nvSpPr>
        <p:spPr>
          <a:xfrm>
            <a:off x="822960" y="3931920"/>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documentation</a:t>
            </a:r>
          </a:p>
        </p:txBody>
      </p:sp>
      <p:sp>
        <p:nvSpPr>
          <p:cNvPr id="981" name="Cell 4-1"/>
          <p:cNvSpPr txBox="1"/>
          <p:nvPr/>
        </p:nvSpPr>
        <p:spPr>
          <a:xfrm>
            <a:off x="365760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82" name="Cell 4-2"/>
          <p:cNvSpPr txBox="1"/>
          <p:nvPr/>
        </p:nvSpPr>
        <p:spPr>
          <a:xfrm>
            <a:off x="493776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0.035</a:t>
            </a:r>
          </a:p>
        </p:txBody>
      </p:sp>
      <p:sp>
        <p:nvSpPr>
          <p:cNvPr id="983" name="Cell 4-3"/>
          <p:cNvSpPr txBox="1"/>
          <p:nvPr/>
        </p:nvSpPr>
        <p:spPr>
          <a:xfrm>
            <a:off x="621792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0.921</a:t>
            </a:r>
          </a:p>
        </p:txBody>
      </p:sp>
      <p:sp>
        <p:nvSpPr>
          <p:cNvPr id="984" name="Cell 4-4"/>
          <p:cNvSpPr txBox="1"/>
          <p:nvPr/>
        </p:nvSpPr>
        <p:spPr>
          <a:xfrm>
            <a:off x="749808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0.769</a:t>
            </a:r>
          </a:p>
        </p:txBody>
      </p:sp>
      <p:sp>
        <p:nvSpPr>
          <p:cNvPr id="985" name="Cell 4-5"/>
          <p:cNvSpPr txBox="1"/>
          <p:nvPr/>
        </p:nvSpPr>
        <p:spPr>
          <a:xfrm>
            <a:off x="877824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0.624</a:t>
            </a:r>
          </a:p>
        </p:txBody>
      </p:sp>
      <p:sp>
        <p:nvSpPr>
          <p:cNvPr id="986" name="Cell 4-6"/>
          <p:cNvSpPr txBox="1"/>
          <p:nvPr/>
        </p:nvSpPr>
        <p:spPr>
          <a:xfrm>
            <a:off x="1005840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0.652</a:t>
            </a:r>
          </a:p>
        </p:txBody>
      </p:sp>
      <p:sp>
        <p:nvSpPr>
          <p:cNvPr id="987" name="Cell 5-0"/>
          <p:cNvSpPr txBox="1"/>
          <p:nvPr/>
        </p:nvSpPr>
        <p:spPr>
          <a:xfrm>
            <a:off x="822960" y="4407408"/>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full RIGOR</a:t>
            </a:r>
          </a:p>
        </p:txBody>
      </p:sp>
      <p:sp>
        <p:nvSpPr>
          <p:cNvPr id="988" name="Cell 5-1"/>
          <p:cNvSpPr txBox="1"/>
          <p:nvPr/>
        </p:nvSpPr>
        <p:spPr>
          <a:xfrm>
            <a:off x="365760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0.993</a:t>
            </a:r>
          </a:p>
        </p:txBody>
      </p:sp>
      <p:sp>
        <p:nvSpPr>
          <p:cNvPr id="989" name="Cell 5-2"/>
          <p:cNvSpPr txBox="1"/>
          <p:nvPr/>
        </p:nvSpPr>
        <p:spPr>
          <a:xfrm>
            <a:off x="493776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0.059</a:t>
            </a:r>
          </a:p>
        </p:txBody>
      </p:sp>
      <p:sp>
        <p:nvSpPr>
          <p:cNvPr id="990" name="Cell 5-3"/>
          <p:cNvSpPr txBox="1"/>
          <p:nvPr/>
        </p:nvSpPr>
        <p:spPr>
          <a:xfrm>
            <a:off x="621792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0.914</a:t>
            </a:r>
          </a:p>
        </p:txBody>
      </p:sp>
      <p:sp>
        <p:nvSpPr>
          <p:cNvPr id="991" name="Cell 5-4"/>
          <p:cNvSpPr txBox="1"/>
          <p:nvPr/>
        </p:nvSpPr>
        <p:spPr>
          <a:xfrm>
            <a:off x="749808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0.756</a:t>
            </a:r>
          </a:p>
        </p:txBody>
      </p:sp>
      <p:sp>
        <p:nvSpPr>
          <p:cNvPr id="992" name="Cell 5-5"/>
          <p:cNvSpPr txBox="1"/>
          <p:nvPr/>
        </p:nvSpPr>
        <p:spPr>
          <a:xfrm>
            <a:off x="877824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0.630</a:t>
            </a:r>
          </a:p>
        </p:txBody>
      </p:sp>
      <p:sp>
        <p:nvSpPr>
          <p:cNvPr id="993" name="Cell 5-6"/>
          <p:cNvSpPr txBox="1"/>
          <p:nvPr/>
        </p:nvSpPr>
        <p:spPr>
          <a:xfrm>
            <a:off x="1005840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0.655</a:t>
            </a:r>
          </a:p>
        </p:txBody>
      </p:sp>
      <p:sp>
        <p:nvSpPr>
          <p:cNvPr id="994" name="Ablation note"/>
          <p:cNvSpPr/>
          <p:nvPr/>
        </p:nvSpPr>
        <p:spPr>
          <a:xfrm>
            <a:off x="822960" y="5074920"/>
            <a:ext cx="10515600" cy="566928"/>
          </a:xfrm>
          <a:prstGeom prst="roundRect">
            <a:avLst>
              <a:gd name="adj" fmla="val 12000"/>
            </a:avLst>
          </a:prstGeom>
          <a:solidFill>
            <a:srgbClr val="E6F2EC"/>
          </a:solidFill>
          <a:ln>
            <a:noFill/>
          </a:ln>
        </p:spPr>
        <p:txBody>
          <a:bodyPr wrap="square" lIns="182880" tIns="0" rIns="182880" bIns="0" anchor="ctr">
            <a:noAutofit/>
          </a:bodyPr>
          <a:lstStyle/>
          <a:p>
            <a:pPr algn="l"/>
            <a:r>
              <a:rPr lang="en-US" sz="1300" b="1" dirty="0">
                <a:solidFill>
                  <a:srgbClr val="0B6E4F"/>
                </a:solidFill>
                <a:latin typeface="Calibri"/>
                <a:cs typeface="Calibri"/>
              </a:rPr>
              <a:t xml:space="preserve">Read with care: </a:t>
            </a:r>
            <a:r>
              <a:rPr lang="en-US" sz="1300" b="0" dirty="0">
                <a:solidFill>
                  <a:srgbClr val="3A434C"/>
                </a:solidFill>
                <a:latin typeface="Calibri"/>
                <a:cs typeface="Calibri"/>
              </a:rPr>
              <a:t xml:space="preserve">schema alignment is saturated because every variant keeps the direct-mapping seed, and external-ontology F1 is low in absolute terms. Full RIGOR is best on external F1, average recall and average F1.</a:t>
            </a:r>
          </a:p>
        </p:txBody>
      </p:sp>
      <p:sp>
        <p:nvSpPr>
          <p:cNvPr id="995"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14 (Chinook, Claude). One database and one model.</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B4</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All nine RIGOR runs together cost about 33 dollars.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Generation cost and runtime per database and model, including Gen-LLM and Judge-LLM calls</a:t>
            </a:r>
          </a:p>
        </p:txBody>
      </p:sp>
      <p:sp>
        <p:nvSpPr>
          <p:cNvPr id="949" name="Table header rule"/>
          <p:cNvSpPr/>
          <p:nvPr/>
        </p:nvSpPr>
        <p:spPr>
          <a:xfrm>
            <a:off x="822960" y="2240279"/>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1874519"/>
            <a:ext cx="210312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DATABASE</a:t>
            </a:r>
          </a:p>
        </p:txBody>
      </p:sp>
      <p:sp>
        <p:nvSpPr>
          <p:cNvPr id="951" name="Cell 0-1"/>
          <p:cNvSpPr txBox="1"/>
          <p:nvPr/>
        </p:nvSpPr>
        <p:spPr>
          <a:xfrm>
            <a:off x="2926079" y="1874519"/>
            <a:ext cx="246888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MODEL</a:t>
            </a:r>
          </a:p>
        </p:txBody>
      </p:sp>
      <p:sp>
        <p:nvSpPr>
          <p:cNvPr id="952" name="Cell 0-2"/>
          <p:cNvSpPr txBox="1"/>
          <p:nvPr/>
        </p:nvSpPr>
        <p:spPr>
          <a:xfrm>
            <a:off x="539496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REQUESTS</a:t>
            </a:r>
          </a:p>
        </p:txBody>
      </p:sp>
      <p:sp>
        <p:nvSpPr>
          <p:cNvPr id="953" name="Cell 0-3"/>
          <p:cNvSpPr txBox="1"/>
          <p:nvPr/>
        </p:nvSpPr>
        <p:spPr>
          <a:xfrm>
            <a:off x="6766560" y="1874519"/>
            <a:ext cx="173736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TOKENS</a:t>
            </a:r>
          </a:p>
        </p:txBody>
      </p:sp>
      <p:sp>
        <p:nvSpPr>
          <p:cNvPr id="954" name="Cell 0-4"/>
          <p:cNvSpPr txBox="1"/>
          <p:nvPr/>
        </p:nvSpPr>
        <p:spPr>
          <a:xfrm>
            <a:off x="850392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COST (USD)</a:t>
            </a:r>
          </a:p>
        </p:txBody>
      </p:sp>
      <p:sp>
        <p:nvSpPr>
          <p:cNvPr id="955" name="Cell 0-5"/>
          <p:cNvSpPr txBox="1"/>
          <p:nvPr/>
        </p:nvSpPr>
        <p:spPr>
          <a:xfrm>
            <a:off x="9875520" y="1874519"/>
            <a:ext cx="146304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RUNTIME (MIN)</a:t>
            </a:r>
          </a:p>
        </p:txBody>
      </p:sp>
      <p:sp>
        <p:nvSpPr>
          <p:cNvPr id="956" name="Cell 1-0"/>
          <p:cNvSpPr txBox="1"/>
          <p:nvPr/>
        </p:nvSpPr>
        <p:spPr>
          <a:xfrm>
            <a:off x="822960" y="22585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57" name="Cell 1-1"/>
          <p:cNvSpPr txBox="1"/>
          <p:nvPr/>
        </p:nvSpPr>
        <p:spPr>
          <a:xfrm>
            <a:off x="2926079" y="22585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58" name="Cell 1-2"/>
          <p:cNvSpPr txBox="1"/>
          <p:nvPr/>
        </p:nvSpPr>
        <p:spPr>
          <a:xfrm>
            <a:off x="539496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168</a:t>
            </a:r>
          </a:p>
        </p:txBody>
      </p:sp>
      <p:sp>
        <p:nvSpPr>
          <p:cNvPr id="959" name="Cell 1-3"/>
          <p:cNvSpPr txBox="1"/>
          <p:nvPr/>
        </p:nvSpPr>
        <p:spPr>
          <a:xfrm>
            <a:off x="6766560" y="22585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1,660,000</a:t>
            </a:r>
          </a:p>
        </p:txBody>
      </p:sp>
      <p:sp>
        <p:nvSpPr>
          <p:cNvPr id="960" name="Cell 1-4"/>
          <p:cNvSpPr txBox="1"/>
          <p:nvPr/>
        </p:nvSpPr>
        <p:spPr>
          <a:xfrm>
            <a:off x="850392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$21.30</a:t>
            </a:r>
          </a:p>
        </p:txBody>
      </p:sp>
      <p:sp>
        <p:nvSpPr>
          <p:cNvPr id="961" name="Cell 1-5"/>
          <p:cNvSpPr txBox="1"/>
          <p:nvPr/>
        </p:nvSpPr>
        <p:spPr>
          <a:xfrm>
            <a:off x="9875520" y="22585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182.4</a:t>
            </a:r>
          </a:p>
        </p:txBody>
      </p:sp>
      <p:sp>
        <p:nvSpPr>
          <p:cNvPr id="962" name="Row tint"/>
          <p:cNvSpPr/>
          <p:nvPr/>
        </p:nvSpPr>
        <p:spPr>
          <a:xfrm>
            <a:off x="822960" y="2624327"/>
            <a:ext cx="10515600" cy="365760"/>
          </a:xfrm>
          <a:prstGeom prst="rect">
            <a:avLst/>
          </a:prstGeom>
          <a:solidFill>
            <a:srgbClr val="F3F5F4"/>
          </a:solidFill>
          <a:ln>
            <a:noFill/>
          </a:ln>
        </p:spPr>
        <p:txBody>
          <a:bodyPr wrap="square" lIns="0" tIns="0" rIns="0" bIns="0" anchor="t">
            <a:noAutofit/>
          </a:bodyPr>
          <a:lstStyle/>
          <a:p>
            <a:pPr algn="l"/>
          </a:p>
        </p:txBody>
      </p:sp>
      <p:sp>
        <p:nvSpPr>
          <p:cNvPr id="963" name="Cell 2-0"/>
          <p:cNvSpPr txBox="1"/>
          <p:nvPr/>
        </p:nvSpPr>
        <p:spPr>
          <a:xfrm>
            <a:off x="822960" y="26243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64" name="Cell 2-1"/>
          <p:cNvSpPr txBox="1"/>
          <p:nvPr/>
        </p:nvSpPr>
        <p:spPr>
          <a:xfrm>
            <a:off x="2926079" y="26243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65" name="Cell 2-2"/>
          <p:cNvSpPr txBox="1"/>
          <p:nvPr/>
        </p:nvSpPr>
        <p:spPr>
          <a:xfrm>
            <a:off x="539496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96</a:t>
            </a:r>
          </a:p>
        </p:txBody>
      </p:sp>
      <p:sp>
        <p:nvSpPr>
          <p:cNvPr id="966" name="Cell 2-3"/>
          <p:cNvSpPr txBox="1"/>
          <p:nvPr/>
        </p:nvSpPr>
        <p:spPr>
          <a:xfrm>
            <a:off x="6766560" y="26243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1,290,000</a:t>
            </a:r>
          </a:p>
        </p:txBody>
      </p:sp>
      <p:sp>
        <p:nvSpPr>
          <p:cNvPr id="967" name="Cell 2-4"/>
          <p:cNvSpPr txBox="1"/>
          <p:nvPr/>
        </p:nvSpPr>
        <p:spPr>
          <a:xfrm>
            <a:off x="850392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$0.08</a:t>
            </a:r>
          </a:p>
        </p:txBody>
      </p:sp>
      <p:sp>
        <p:nvSpPr>
          <p:cNvPr id="968" name="Cell 2-5"/>
          <p:cNvSpPr txBox="1"/>
          <p:nvPr/>
        </p:nvSpPr>
        <p:spPr>
          <a:xfrm>
            <a:off x="9875520" y="26243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188.4</a:t>
            </a:r>
          </a:p>
        </p:txBody>
      </p:sp>
      <p:sp>
        <p:nvSpPr>
          <p:cNvPr id="969" name="Cell 3-0"/>
          <p:cNvSpPr txBox="1"/>
          <p:nvPr/>
        </p:nvSpPr>
        <p:spPr>
          <a:xfrm>
            <a:off x="822960" y="29900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70" name="Cell 3-1"/>
          <p:cNvSpPr txBox="1"/>
          <p:nvPr/>
        </p:nvSpPr>
        <p:spPr>
          <a:xfrm>
            <a:off x="2926079" y="29900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71" name="Cell 3-2"/>
          <p:cNvSpPr txBox="1"/>
          <p:nvPr/>
        </p:nvSpPr>
        <p:spPr>
          <a:xfrm>
            <a:off x="539496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52</a:t>
            </a:r>
          </a:p>
        </p:txBody>
      </p:sp>
      <p:sp>
        <p:nvSpPr>
          <p:cNvPr id="972" name="Cell 3-3"/>
          <p:cNvSpPr txBox="1"/>
          <p:nvPr/>
        </p:nvSpPr>
        <p:spPr>
          <a:xfrm>
            <a:off x="6766560" y="29900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334,000</a:t>
            </a:r>
          </a:p>
        </p:txBody>
      </p:sp>
      <p:sp>
        <p:nvSpPr>
          <p:cNvPr id="973" name="Cell 3-4"/>
          <p:cNvSpPr txBox="1"/>
          <p:nvPr/>
        </p:nvSpPr>
        <p:spPr>
          <a:xfrm>
            <a:off x="850392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$0.18</a:t>
            </a:r>
          </a:p>
        </p:txBody>
      </p:sp>
      <p:sp>
        <p:nvSpPr>
          <p:cNvPr id="974" name="Cell 3-5"/>
          <p:cNvSpPr txBox="1"/>
          <p:nvPr/>
        </p:nvSpPr>
        <p:spPr>
          <a:xfrm>
            <a:off x="9875520" y="29900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20.6</a:t>
            </a:r>
          </a:p>
        </p:txBody>
      </p:sp>
      <p:sp>
        <p:nvSpPr>
          <p:cNvPr id="975" name="Row tint"/>
          <p:cNvSpPr/>
          <p:nvPr/>
        </p:nvSpPr>
        <p:spPr>
          <a:xfrm>
            <a:off x="822960" y="3355848"/>
            <a:ext cx="10515600" cy="365760"/>
          </a:xfrm>
          <a:prstGeom prst="rect">
            <a:avLst/>
          </a:prstGeom>
          <a:solidFill>
            <a:srgbClr val="F3F5F4"/>
          </a:solidFill>
          <a:ln>
            <a:noFill/>
          </a:ln>
        </p:spPr>
        <p:txBody>
          <a:bodyPr wrap="square" lIns="0" tIns="0" rIns="0" bIns="0" anchor="t">
            <a:noAutofit/>
          </a:bodyPr>
          <a:lstStyle/>
          <a:p>
            <a:pPr algn="l"/>
          </a:p>
        </p:txBody>
      </p:sp>
      <p:sp>
        <p:nvSpPr>
          <p:cNvPr id="976" name="Cell 4-0"/>
          <p:cNvSpPr txBox="1"/>
          <p:nvPr/>
        </p:nvSpPr>
        <p:spPr>
          <a:xfrm>
            <a:off x="822960" y="33558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77" name="Cell 4-1"/>
          <p:cNvSpPr txBox="1"/>
          <p:nvPr/>
        </p:nvSpPr>
        <p:spPr>
          <a:xfrm>
            <a:off x="2926079" y="33558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78" name="Cell 4-2"/>
          <p:cNvSpPr txBox="1"/>
          <p:nvPr/>
        </p:nvSpPr>
        <p:spPr>
          <a:xfrm>
            <a:off x="539496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70</a:t>
            </a:r>
          </a:p>
        </p:txBody>
      </p:sp>
      <p:sp>
        <p:nvSpPr>
          <p:cNvPr id="979" name="Cell 4-3"/>
          <p:cNvSpPr txBox="1"/>
          <p:nvPr/>
        </p:nvSpPr>
        <p:spPr>
          <a:xfrm>
            <a:off x="6766560" y="33558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731,000</a:t>
            </a:r>
          </a:p>
        </p:txBody>
      </p:sp>
      <p:sp>
        <p:nvSpPr>
          <p:cNvPr id="980" name="Cell 4-4"/>
          <p:cNvSpPr txBox="1"/>
          <p:nvPr/>
        </p:nvSpPr>
        <p:spPr>
          <a:xfrm>
            <a:off x="850392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$10.30</a:t>
            </a:r>
          </a:p>
        </p:txBody>
      </p:sp>
      <p:sp>
        <p:nvSpPr>
          <p:cNvPr id="981" name="Cell 4-5"/>
          <p:cNvSpPr txBox="1"/>
          <p:nvPr/>
        </p:nvSpPr>
        <p:spPr>
          <a:xfrm>
            <a:off x="9875520" y="33558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94.4</a:t>
            </a:r>
          </a:p>
        </p:txBody>
      </p:sp>
      <p:sp>
        <p:nvSpPr>
          <p:cNvPr id="982" name="Cell 5-0"/>
          <p:cNvSpPr txBox="1"/>
          <p:nvPr/>
        </p:nvSpPr>
        <p:spPr>
          <a:xfrm>
            <a:off x="822960" y="372160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83" name="Cell 5-1"/>
          <p:cNvSpPr txBox="1"/>
          <p:nvPr/>
        </p:nvSpPr>
        <p:spPr>
          <a:xfrm>
            <a:off x="2926079" y="372160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84" name="Cell 5-2"/>
          <p:cNvSpPr txBox="1"/>
          <p:nvPr/>
        </p:nvSpPr>
        <p:spPr>
          <a:xfrm>
            <a:off x="539496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a:t>
            </a:r>
          </a:p>
        </p:txBody>
      </p:sp>
      <p:sp>
        <p:nvSpPr>
          <p:cNvPr id="985" name="Cell 5-3"/>
          <p:cNvSpPr txBox="1"/>
          <p:nvPr/>
        </p:nvSpPr>
        <p:spPr>
          <a:xfrm>
            <a:off x="6766560" y="372160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246,000</a:t>
            </a:r>
          </a:p>
        </p:txBody>
      </p:sp>
      <p:sp>
        <p:nvSpPr>
          <p:cNvPr id="986" name="Cell 5-4"/>
          <p:cNvSpPr txBox="1"/>
          <p:nvPr/>
        </p:nvSpPr>
        <p:spPr>
          <a:xfrm>
            <a:off x="850392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987" name="Cell 5-5"/>
          <p:cNvSpPr txBox="1"/>
          <p:nvPr/>
        </p:nvSpPr>
        <p:spPr>
          <a:xfrm>
            <a:off x="9875520" y="372160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20.5</a:t>
            </a:r>
          </a:p>
        </p:txBody>
      </p:sp>
      <p:sp>
        <p:nvSpPr>
          <p:cNvPr id="988" name="Row tint"/>
          <p:cNvSpPr/>
          <p:nvPr/>
        </p:nvSpPr>
        <p:spPr>
          <a:xfrm>
            <a:off x="822960" y="4087368"/>
            <a:ext cx="10515600" cy="365760"/>
          </a:xfrm>
          <a:prstGeom prst="rect">
            <a:avLst/>
          </a:prstGeom>
          <a:solidFill>
            <a:srgbClr val="F3F5F4"/>
          </a:solidFill>
          <a:ln>
            <a:noFill/>
          </a:ln>
        </p:spPr>
        <p:txBody>
          <a:bodyPr wrap="square" lIns="0" tIns="0" rIns="0" bIns="0" anchor="t">
            <a:noAutofit/>
          </a:bodyPr>
          <a:lstStyle/>
          <a:p>
            <a:pPr algn="l"/>
          </a:p>
        </p:txBody>
      </p:sp>
      <p:sp>
        <p:nvSpPr>
          <p:cNvPr id="989" name="Cell 6-0"/>
          <p:cNvSpPr txBox="1"/>
          <p:nvPr/>
        </p:nvSpPr>
        <p:spPr>
          <a:xfrm>
            <a:off x="822960" y="40873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90" name="Cell 6-1"/>
          <p:cNvSpPr txBox="1"/>
          <p:nvPr/>
        </p:nvSpPr>
        <p:spPr>
          <a:xfrm>
            <a:off x="2926079" y="40873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91" name="Cell 6-2"/>
          <p:cNvSpPr txBox="1"/>
          <p:nvPr/>
        </p:nvSpPr>
        <p:spPr>
          <a:xfrm>
            <a:off x="539496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a:t>
            </a:r>
          </a:p>
        </p:txBody>
      </p:sp>
      <p:sp>
        <p:nvSpPr>
          <p:cNvPr id="992" name="Cell 6-3"/>
          <p:cNvSpPr txBox="1"/>
          <p:nvPr/>
        </p:nvSpPr>
        <p:spPr>
          <a:xfrm>
            <a:off x="6766560" y="40873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142,000</a:t>
            </a:r>
          </a:p>
        </p:txBody>
      </p:sp>
      <p:sp>
        <p:nvSpPr>
          <p:cNvPr id="993" name="Cell 6-4"/>
          <p:cNvSpPr txBox="1"/>
          <p:nvPr/>
        </p:nvSpPr>
        <p:spPr>
          <a:xfrm>
            <a:off x="850392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$0.07</a:t>
            </a:r>
          </a:p>
        </p:txBody>
      </p:sp>
      <p:sp>
        <p:nvSpPr>
          <p:cNvPr id="994" name="Cell 6-5"/>
          <p:cNvSpPr txBox="1"/>
          <p:nvPr/>
        </p:nvSpPr>
        <p:spPr>
          <a:xfrm>
            <a:off x="9875520" y="40873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23.8</a:t>
            </a:r>
          </a:p>
        </p:txBody>
      </p:sp>
      <p:sp>
        <p:nvSpPr>
          <p:cNvPr id="995" name="Cell 7-0"/>
          <p:cNvSpPr txBox="1"/>
          <p:nvPr/>
        </p:nvSpPr>
        <p:spPr>
          <a:xfrm>
            <a:off x="822960" y="44531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996" name="Cell 7-1"/>
          <p:cNvSpPr txBox="1"/>
          <p:nvPr/>
        </p:nvSpPr>
        <p:spPr>
          <a:xfrm>
            <a:off x="2926079" y="44531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97" name="Cell 7-2"/>
          <p:cNvSpPr txBox="1"/>
          <p:nvPr/>
        </p:nvSpPr>
        <p:spPr>
          <a:xfrm>
            <a:off x="539496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a:t>
            </a:r>
          </a:p>
        </p:txBody>
      </p:sp>
      <p:sp>
        <p:nvSpPr>
          <p:cNvPr id="998" name="Cell 7-3"/>
          <p:cNvSpPr txBox="1"/>
          <p:nvPr/>
        </p:nvSpPr>
        <p:spPr>
          <a:xfrm>
            <a:off x="6766560" y="44531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119,000</a:t>
            </a:r>
          </a:p>
        </p:txBody>
      </p:sp>
      <p:sp>
        <p:nvSpPr>
          <p:cNvPr id="999" name="Cell 7-4"/>
          <p:cNvSpPr txBox="1"/>
          <p:nvPr/>
        </p:nvSpPr>
        <p:spPr>
          <a:xfrm>
            <a:off x="850392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$1.28</a:t>
            </a:r>
          </a:p>
        </p:txBody>
      </p:sp>
      <p:sp>
        <p:nvSpPr>
          <p:cNvPr id="1000" name="Cell 7-5"/>
          <p:cNvSpPr txBox="1"/>
          <p:nvPr/>
        </p:nvSpPr>
        <p:spPr>
          <a:xfrm>
            <a:off x="9875520" y="44531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9.0</a:t>
            </a:r>
          </a:p>
        </p:txBody>
      </p:sp>
      <p:sp>
        <p:nvSpPr>
          <p:cNvPr id="1001" name="Row tint"/>
          <p:cNvSpPr/>
          <p:nvPr/>
        </p:nvSpPr>
        <p:spPr>
          <a:xfrm>
            <a:off x="822960" y="4818888"/>
            <a:ext cx="10515600" cy="365760"/>
          </a:xfrm>
          <a:prstGeom prst="rect">
            <a:avLst/>
          </a:prstGeom>
          <a:solidFill>
            <a:srgbClr val="F3F5F4"/>
          </a:solidFill>
          <a:ln>
            <a:noFill/>
          </a:ln>
        </p:spPr>
        <p:txBody>
          <a:bodyPr wrap="square" lIns="0" tIns="0" rIns="0" bIns="0" anchor="t">
            <a:noAutofit/>
          </a:bodyPr>
          <a:lstStyle/>
          <a:p>
            <a:pPr algn="l"/>
          </a:p>
        </p:txBody>
      </p:sp>
      <p:sp>
        <p:nvSpPr>
          <p:cNvPr id="1002" name="Cell 8-0"/>
          <p:cNvSpPr txBox="1"/>
          <p:nvPr/>
        </p:nvSpPr>
        <p:spPr>
          <a:xfrm>
            <a:off x="822960" y="48188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3" name="Cell 8-1"/>
          <p:cNvSpPr txBox="1"/>
          <p:nvPr/>
        </p:nvSpPr>
        <p:spPr>
          <a:xfrm>
            <a:off x="2926079" y="48188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1004" name="Cell 8-2"/>
          <p:cNvSpPr txBox="1"/>
          <p:nvPr/>
        </p:nvSpPr>
        <p:spPr>
          <a:xfrm>
            <a:off x="539496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53</a:t>
            </a:r>
          </a:p>
        </p:txBody>
      </p:sp>
      <p:sp>
        <p:nvSpPr>
          <p:cNvPr id="1005" name="Cell 8-3"/>
          <p:cNvSpPr txBox="1"/>
          <p:nvPr/>
        </p:nvSpPr>
        <p:spPr>
          <a:xfrm>
            <a:off x="6766560" y="48188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344,000</a:t>
            </a:r>
          </a:p>
        </p:txBody>
      </p:sp>
      <p:sp>
        <p:nvSpPr>
          <p:cNvPr id="1006" name="Cell 8-4"/>
          <p:cNvSpPr txBox="1"/>
          <p:nvPr/>
        </p:nvSpPr>
        <p:spPr>
          <a:xfrm>
            <a:off x="850392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1007" name="Cell 8-5"/>
          <p:cNvSpPr txBox="1"/>
          <p:nvPr/>
        </p:nvSpPr>
        <p:spPr>
          <a:xfrm>
            <a:off x="9875520" y="48188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65.0</a:t>
            </a:r>
          </a:p>
        </p:txBody>
      </p:sp>
      <p:sp>
        <p:nvSpPr>
          <p:cNvPr id="1008" name="Cell 9-0"/>
          <p:cNvSpPr txBox="1"/>
          <p:nvPr/>
        </p:nvSpPr>
        <p:spPr>
          <a:xfrm>
            <a:off x="822960" y="51846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9" name="Cell 9-1"/>
          <p:cNvSpPr txBox="1"/>
          <p:nvPr/>
        </p:nvSpPr>
        <p:spPr>
          <a:xfrm>
            <a:off x="2926079" y="51846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1010" name="Cell 9-2"/>
          <p:cNvSpPr txBox="1"/>
          <p:nvPr/>
        </p:nvSpPr>
        <p:spPr>
          <a:xfrm>
            <a:off x="539496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22</a:t>
            </a:r>
          </a:p>
        </p:txBody>
      </p:sp>
      <p:sp>
        <p:nvSpPr>
          <p:cNvPr id="1011" name="Cell 9-3"/>
          <p:cNvSpPr txBox="1"/>
          <p:nvPr/>
        </p:nvSpPr>
        <p:spPr>
          <a:xfrm>
            <a:off x="6766560" y="51846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71,000</a:t>
            </a:r>
          </a:p>
        </p:txBody>
      </p:sp>
      <p:sp>
        <p:nvSpPr>
          <p:cNvPr id="1012" name="Cell 9-4"/>
          <p:cNvSpPr txBox="1"/>
          <p:nvPr/>
        </p:nvSpPr>
        <p:spPr>
          <a:xfrm>
            <a:off x="850392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$0.03</a:t>
            </a:r>
          </a:p>
        </p:txBody>
      </p:sp>
      <p:sp>
        <p:nvSpPr>
          <p:cNvPr id="1013" name="Cell 9-5"/>
          <p:cNvSpPr txBox="1"/>
          <p:nvPr/>
        </p:nvSpPr>
        <p:spPr>
          <a:xfrm>
            <a:off x="9875520" y="51846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12.0</a:t>
            </a:r>
          </a:p>
        </p:txBody>
      </p:sp>
      <p:sp>
        <p:nvSpPr>
          <p:cNvPr id="1014" name="Row tint"/>
          <p:cNvSpPr/>
          <p:nvPr/>
        </p:nvSpPr>
        <p:spPr>
          <a:xfrm>
            <a:off x="822960" y="5550407"/>
            <a:ext cx="10515600" cy="365760"/>
          </a:xfrm>
          <a:prstGeom prst="rect">
            <a:avLst/>
          </a:prstGeom>
          <a:solidFill>
            <a:srgbClr val="F3F5F4"/>
          </a:solidFill>
          <a:ln>
            <a:noFill/>
          </a:ln>
        </p:spPr>
        <p:txBody>
          <a:bodyPr wrap="square" lIns="0" tIns="0" rIns="0" bIns="0" anchor="t">
            <a:noAutofit/>
          </a:bodyPr>
          <a:lstStyle/>
          <a:p>
            <a:pPr algn="l"/>
          </a:p>
        </p:txBody>
      </p:sp>
      <p:sp>
        <p:nvSpPr>
          <p:cNvPr id="1015" name="Cell 10-0"/>
          <p:cNvSpPr txBox="1"/>
          <p:nvPr/>
        </p:nvSpPr>
        <p:spPr>
          <a:xfrm>
            <a:off x="822960" y="5550407"/>
            <a:ext cx="210312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Total</a:t>
            </a:r>
          </a:p>
        </p:txBody>
      </p:sp>
      <p:sp>
        <p:nvSpPr>
          <p:cNvPr id="1016" name="Cell 10-1"/>
          <p:cNvSpPr txBox="1"/>
          <p:nvPr/>
        </p:nvSpPr>
        <p:spPr>
          <a:xfrm>
            <a:off x="2926079" y="5550407"/>
            <a:ext cx="246888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
            </a:r>
          </a:p>
        </p:txBody>
      </p:sp>
      <p:sp>
        <p:nvSpPr>
          <p:cNvPr id="1017" name="Cell 10-2"/>
          <p:cNvSpPr txBox="1"/>
          <p:nvPr/>
        </p:nvSpPr>
        <p:spPr>
          <a:xfrm>
            <a:off x="539496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552</a:t>
            </a:r>
          </a:p>
        </p:txBody>
      </p:sp>
      <p:sp>
        <p:nvSpPr>
          <p:cNvPr id="1018" name="Cell 10-3"/>
          <p:cNvSpPr txBox="1"/>
          <p:nvPr/>
        </p:nvSpPr>
        <p:spPr>
          <a:xfrm>
            <a:off x="6766560" y="5550407"/>
            <a:ext cx="173736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4,937,000</a:t>
            </a:r>
          </a:p>
        </p:txBody>
      </p:sp>
      <p:sp>
        <p:nvSpPr>
          <p:cNvPr id="1019" name="Cell 10-4"/>
          <p:cNvSpPr txBox="1"/>
          <p:nvPr/>
        </p:nvSpPr>
        <p:spPr>
          <a:xfrm>
            <a:off x="850392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$33.28</a:t>
            </a:r>
          </a:p>
        </p:txBody>
      </p:sp>
      <p:sp>
        <p:nvSpPr>
          <p:cNvPr id="1020" name="Cell 10-5"/>
          <p:cNvSpPr txBox="1"/>
          <p:nvPr/>
        </p:nvSpPr>
        <p:spPr>
          <a:xfrm>
            <a:off x="9875520" y="5550407"/>
            <a:ext cx="146304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616.1</a:t>
            </a:r>
          </a:p>
        </p:txBody>
      </p:sp>
      <p:sp>
        <p:nvSpPr>
          <p:cNvPr id="102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15. Totals are summed from the nine rows; the paper's printed totals (651 requests, $34.28) also include runs not listed in the table.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B5</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(1/2)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The Judge-LLM is the same model as the generator. Isn't that self-evaluation?</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Inside the loop, yes: the same model generates and judges, so RIGOR needs no second model. Two things do not depend on it. The rule-based graph checks are deterministic. And the evaluation used a different model family, GPT-5.4, plus ten human experts, who ranked RIGOR first in 70% of cases.</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Is the Non-Iterative baseline a strawman?</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It receives the same retrieved context, but its prompt asks for less (labels and comments). Its biggest failure is dropping columns, down to 6%, which RIGOR prevents by construction with the seed. A prompt-matched ablation is a fair next experiment.</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 judge have position bias?</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Fragments were anonymized, but the order was fixed (paper Fig. 7), so we do not rely on the LLM judge alone. The human study points the same way: 28 of 40 first places, with significant agreement. Future runs should randomize the order.</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do critical P19 pitfalls remain (multiple domains or ranges)?</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They appear in 3 of 9 runs. A likely source is the union merge: when a property such as a patient link is reused across tables, each table adds its own domain. Merge-time checks and validator feedback inside the loop are the planned fix.</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only schemas and documentation, not the data?</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Portability and privacy. Clinical data often cannot leave the hospital, while schemas and documentation can. Instance-level signals, computed as aggregates, are our next step.</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B6</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(2/2)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Column coverage drops to 0.77. Why?</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That is DeepSeek on eICU. The seed is complete by construction, but enrichment can drop columns, and coverage is an embedding-based proxy. Stronger per-fragment coverage checks are planned.</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LLMs have seen these databases in training?</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eICU and Chinook are public. The liver-cancer registry is private, so no model saw it, and the LLM judge still ranked RIGOR first on all 16 of its tables.</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Are the external ontologies actually used?</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Retrieved external concepts are passed as context, and alignment axioms are added only on a good match. In the ablation, full RIGOR has the highest external-ontology alignment (F1 0.059 vs 0.033 without retrieval), though absolute values are small.</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How does the traversal handle self-referencing foreign keys (Chinook Employee.ReportsTo)?</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A self-reference does not wait on another table, so it does not affect the order; it becomes an object property from the class to itself, which the prompt allows for meaningful recursive relations.</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not compare with Gemini 2.5 Pro on BURR?</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 BURR it is a general-purpose LLM prompted to write the mapping directly: a mapping generator, not an ontology-learning system. Against it, RIGOR's class F1 is higher (.73 vs .65), relations are on par (.67 vs .68), attributes lower (.52 vs .56), and RIGOR also produces labels, hierarchy and provenance.</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