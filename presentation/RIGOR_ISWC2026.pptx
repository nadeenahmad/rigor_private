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[1:07–1:59]  SPOKEN SCRIPT (91 words)</a:t>
            </a:r>
          </a:p>
          <a:p>
            <a:r>
              <a:rPr lang="en-US" sz="1200">
                <a:solidFill>
                  <a:schemeClr val="dk1"/>
                </a:solidFill>
                <a:latin typeface="Calibri"/>
                <a:ea typeface="Calibri"/>
                <a:cs typeface="Calibri"/>
                <a:sym typeface="Calibri"/>
              </a:rPr>
              <a:t>Here is what we want. [click] First, what the schema alone gives us: Admission becomes a class with a real relation to PatientData, and every property points back to its source column. [click] The documentation adds human-readable labels: Bone Marrow Depression, ECOG Performance Status. [click] A standard vocabulary adds a link to the Disease Ontology. [click] And the LLM's own knowledge adds what the ECOG codes mean, and that an admission is not a patient. [click] That is a usable semantic model. The challenge is to add all this without losing a single column or link.</a:t>
            </a:r>
          </a:p>
          <a:p/>
          <a:p>
            <a:r>
              <a:rPr lang="en-US" sz="1200">
                <a:solidFill>
                  <a:schemeClr val="dk1"/>
                </a:solidFill>
                <a:latin typeface="Calibri"/>
                <a:ea typeface="Calibri"/>
                <a:cs typeface="Calibri"/>
                <a:sym typeface="Calibri"/>
              </a:rPr>
              <a:t>PRESENTER / POINTER: Five clicks, one per knowledge source: schema, documentation, Disease Ontology, LLM knowledge, then 'What this enables'. The gloss colours match the sources.</a:t>
            </a:r>
          </a:p>
          <a:p>
            <a:r>
              <a:rPr lang="en-US" sz="1200">
                <a:solidFill>
                  <a:schemeClr val="dk1"/>
                </a:solidFill>
                <a:latin typeface="Calibri"/>
                <a:ea typeface="Calibri"/>
                <a:cs typeface="Calibri"/>
                <a:sym typeface="Calibri"/>
              </a:rPr>
              <a:t>AUDIENCE TAKEAWAY: A usable model combines schema, documentation, standard vocabularies and LLM knowledge.</a:t>
            </a:r>
          </a:p>
          <a:p>
            <a:r>
              <a:rPr lang="en-US" sz="1200">
                <a:solidFill>
                  <a:schemeClr val="dk1"/>
                </a:solidFill>
                <a:latin typeface="Calibri"/>
                <a:ea typeface="Calibri"/>
                <a:cs typeface="Calibri"/>
                <a:sym typeface="Calibri"/>
              </a:rPr>
              <a:t>SOURCE AND SCOPE: Illustrative fragment, verified with the OWL API at every reveal step (presentation/excerpts/slide03_*.omn). obo:DOID_4961 = Disease Ontology 'bone marrow disease'; skos:relatedMatch, not exactMatch, because BM_DEP is a yes/no column, not the disease. Provenance is column-level, as defined in paper Section 3.2.</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[1:59–2:37]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 References on the slide (all cited in paper Section 2): Direct Mapping [Arenas 2012; Sequeda 2012], BootOX [ISWC 2015], Ben Mahria et al. 2021, RODI [SWJ 2017]; LLMs4OL [ISWC 2023], Mateiu &amp; Groza 2023, OntoGenix 2025, LLM4VKG [IJCAI 2025]. BURR deliberately not cited here: its results do not show LLMs trailing rule-based systems.</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[2:37–3:01]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[3:01–3:33]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[3:33–4:10]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[4:10–4:52]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[4:52–5:33]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[5:33–6:36]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[6:36–7:04]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[7:04–7:14]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[7:14–7:22]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[7:22–7:31]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[7:31–7:37]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[7:37–7:43]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[7:43–7:55]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[7:55–8:30]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[10:29–11:16]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[8:30–9:25]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[9:25–10:29]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[11:16–12:11]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[12:11–12:44]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9" name="Cover panel"/>
          <p:cNvSpPr/>
          <p:nvPr/>
        </p:nvSpPr>
        <p:spPr>
          <a:xfrm>
            <a:off x="8092440" y="0"/>
            <a:ext cx="4099255" cy="6858000"/>
          </a:xfrm>
          <a:prstGeom prst="rect">
            <a:avLst/>
          </a:prstGeom>
          <a:solidFill>
            <a:srgbClr val="FAFBFA"/>
          </a:solidFill>
          <a:ln>
            <a:noFill/>
          </a:ln>
        </p:spPr>
        <p:txBody>
          <a:bodyPr wrap="square" lIns="0" tIns="0" rIns="0" bIns="0" anchor="t">
            <a:noAutofit/>
          </a:bodyPr>
          <a:lstStyle/>
          <a:p>
            <a:pPr algn="l"/>
          </a:p>
        </p:txBody>
      </p:sp>
      <p:sp>
        <p:nvSpPr>
          <p:cNvPr id="30" name="Grid line"/>
          <p:cNvSpPr/>
          <p:nvPr/>
        </p:nvSpPr>
        <p:spPr>
          <a:xfrm>
            <a:off x="8366760" y="0"/>
            <a:ext cx="6400" cy="6858000"/>
          </a:xfrm>
          <a:prstGeom prst="rect">
            <a:avLst/>
          </a:prstGeom>
          <a:solidFill>
            <a:srgbClr val="E6ECE8"/>
          </a:solidFill>
          <a:ln>
            <a:noFill/>
          </a:ln>
        </p:spPr>
        <p:txBody>
          <a:bodyPr wrap="square" lIns="0" tIns="0" rIns="0" bIns="0" anchor="t">
            <a:noAutofit/>
          </a:bodyPr>
          <a:lstStyle/>
          <a:p>
            <a:pPr algn="l"/>
          </a:p>
        </p:txBody>
      </p:sp>
      <p:sp>
        <p:nvSpPr>
          <p:cNvPr id="31" name="Grid line"/>
          <p:cNvSpPr/>
          <p:nvPr/>
        </p:nvSpPr>
        <p:spPr>
          <a:xfrm>
            <a:off x="8641080" y="0"/>
            <a:ext cx="6400" cy="6858000"/>
          </a:xfrm>
          <a:prstGeom prst="rect">
            <a:avLst/>
          </a:prstGeom>
          <a:solidFill>
            <a:srgbClr val="E6ECE8"/>
          </a:solidFill>
          <a:ln>
            <a:noFill/>
          </a:ln>
        </p:spPr>
        <p:txBody>
          <a:bodyPr wrap="square" lIns="0" tIns="0" rIns="0" bIns="0" anchor="t">
            <a:noAutofit/>
          </a:bodyPr>
          <a:lstStyle/>
          <a:p>
            <a:pPr algn="l"/>
          </a:p>
        </p:txBody>
      </p:sp>
      <p:sp>
        <p:nvSpPr>
          <p:cNvPr id="32" name="Grid line"/>
          <p:cNvSpPr/>
          <p:nvPr/>
        </p:nvSpPr>
        <p:spPr>
          <a:xfrm>
            <a:off x="8915400" y="0"/>
            <a:ext cx="6400" cy="6858000"/>
          </a:xfrm>
          <a:prstGeom prst="rect">
            <a:avLst/>
          </a:prstGeom>
          <a:solidFill>
            <a:srgbClr val="E6ECE8"/>
          </a:solidFill>
          <a:ln>
            <a:noFill/>
          </a:ln>
        </p:spPr>
        <p:txBody>
          <a:bodyPr wrap="square" lIns="0" tIns="0" rIns="0" bIns="0" anchor="t">
            <a:noAutofit/>
          </a:bodyPr>
          <a:lstStyle/>
          <a:p>
            <a:pPr algn="l"/>
          </a:p>
        </p:txBody>
      </p:sp>
      <p:sp>
        <p:nvSpPr>
          <p:cNvPr id="33" name="Grid line"/>
          <p:cNvSpPr/>
          <p:nvPr/>
        </p:nvSpPr>
        <p:spPr>
          <a:xfrm>
            <a:off x="9189720" y="0"/>
            <a:ext cx="6400" cy="6858000"/>
          </a:xfrm>
          <a:prstGeom prst="rect">
            <a:avLst/>
          </a:prstGeom>
          <a:solidFill>
            <a:srgbClr val="E6ECE8"/>
          </a:solidFill>
          <a:ln>
            <a:noFill/>
          </a:ln>
        </p:spPr>
        <p:txBody>
          <a:bodyPr wrap="square" lIns="0" tIns="0" rIns="0" bIns="0" anchor="t">
            <a:noAutofit/>
          </a:bodyPr>
          <a:lstStyle/>
          <a:p>
            <a:pPr algn="l"/>
          </a:p>
        </p:txBody>
      </p:sp>
      <p:sp>
        <p:nvSpPr>
          <p:cNvPr id="34" name="Grid line"/>
          <p:cNvSpPr/>
          <p:nvPr/>
        </p:nvSpPr>
        <p:spPr>
          <a:xfrm>
            <a:off x="9464040" y="0"/>
            <a:ext cx="6400" cy="6858000"/>
          </a:xfrm>
          <a:prstGeom prst="rect">
            <a:avLst/>
          </a:prstGeom>
          <a:solidFill>
            <a:srgbClr val="E6ECE8"/>
          </a:solidFill>
          <a:ln>
            <a:noFill/>
          </a:ln>
        </p:spPr>
        <p:txBody>
          <a:bodyPr wrap="square" lIns="0" tIns="0" rIns="0" bIns="0" anchor="t">
            <a:noAutofit/>
          </a:bodyPr>
          <a:lstStyle/>
          <a:p>
            <a:pPr algn="l"/>
          </a:p>
        </p:txBody>
      </p:sp>
      <p:sp>
        <p:nvSpPr>
          <p:cNvPr id="35" name="Grid line"/>
          <p:cNvSpPr/>
          <p:nvPr/>
        </p:nvSpPr>
        <p:spPr>
          <a:xfrm>
            <a:off x="9738360" y="0"/>
            <a:ext cx="6400" cy="6858000"/>
          </a:xfrm>
          <a:prstGeom prst="rect">
            <a:avLst/>
          </a:prstGeom>
          <a:solidFill>
            <a:srgbClr val="E6ECE8"/>
          </a:solidFill>
          <a:ln>
            <a:noFill/>
          </a:ln>
        </p:spPr>
        <p:txBody>
          <a:bodyPr wrap="square" lIns="0" tIns="0" rIns="0" bIns="0" anchor="t">
            <a:noAutofit/>
          </a:bodyPr>
          <a:lstStyle/>
          <a:p>
            <a:pPr algn="l"/>
          </a:p>
        </p:txBody>
      </p:sp>
      <p:sp>
        <p:nvSpPr>
          <p:cNvPr id="36" name="Grid line"/>
          <p:cNvSpPr/>
          <p:nvPr/>
        </p:nvSpPr>
        <p:spPr>
          <a:xfrm>
            <a:off x="10012680" y="0"/>
            <a:ext cx="6400" cy="6858000"/>
          </a:xfrm>
          <a:prstGeom prst="rect">
            <a:avLst/>
          </a:prstGeom>
          <a:solidFill>
            <a:srgbClr val="E6ECE8"/>
          </a:solidFill>
          <a:ln>
            <a:noFill/>
          </a:ln>
        </p:spPr>
        <p:txBody>
          <a:bodyPr wrap="square" lIns="0" tIns="0" rIns="0" bIns="0" anchor="t">
            <a:noAutofit/>
          </a:bodyPr>
          <a:lstStyle/>
          <a:p>
            <a:pPr algn="l"/>
          </a:p>
        </p:txBody>
      </p:sp>
      <p:sp>
        <p:nvSpPr>
          <p:cNvPr id="37" name="Grid line"/>
          <p:cNvSpPr/>
          <p:nvPr/>
        </p:nvSpPr>
        <p:spPr>
          <a:xfrm>
            <a:off x="10287000" y="0"/>
            <a:ext cx="6400" cy="6858000"/>
          </a:xfrm>
          <a:prstGeom prst="rect">
            <a:avLst/>
          </a:prstGeom>
          <a:solidFill>
            <a:srgbClr val="E6ECE8"/>
          </a:solidFill>
          <a:ln>
            <a:noFill/>
          </a:ln>
        </p:spPr>
        <p:txBody>
          <a:bodyPr wrap="square" lIns="0" tIns="0" rIns="0" bIns="0" anchor="t">
            <a:noAutofit/>
          </a:bodyPr>
          <a:lstStyle/>
          <a:p>
            <a:pPr algn="l"/>
          </a:p>
        </p:txBody>
      </p:sp>
      <p:sp>
        <p:nvSpPr>
          <p:cNvPr id="38" name="Grid line"/>
          <p:cNvSpPr/>
          <p:nvPr/>
        </p:nvSpPr>
        <p:spPr>
          <a:xfrm>
            <a:off x="10561320" y="0"/>
            <a:ext cx="6400" cy="6858000"/>
          </a:xfrm>
          <a:prstGeom prst="rect">
            <a:avLst/>
          </a:prstGeom>
          <a:solidFill>
            <a:srgbClr val="E6ECE8"/>
          </a:solidFill>
          <a:ln>
            <a:noFill/>
          </a:ln>
        </p:spPr>
        <p:txBody>
          <a:bodyPr wrap="square" lIns="0" tIns="0" rIns="0" bIns="0" anchor="t">
            <a:noAutofit/>
          </a:bodyPr>
          <a:lstStyle/>
          <a:p>
            <a:pPr algn="l"/>
          </a:p>
        </p:txBody>
      </p:sp>
      <p:sp>
        <p:nvSpPr>
          <p:cNvPr id="39" name="Grid line"/>
          <p:cNvSpPr/>
          <p:nvPr/>
        </p:nvSpPr>
        <p:spPr>
          <a:xfrm>
            <a:off x="10835640" y="0"/>
            <a:ext cx="6400" cy="6858000"/>
          </a:xfrm>
          <a:prstGeom prst="rect">
            <a:avLst/>
          </a:prstGeom>
          <a:solidFill>
            <a:srgbClr val="E6ECE8"/>
          </a:solidFill>
          <a:ln>
            <a:noFill/>
          </a:ln>
        </p:spPr>
        <p:txBody>
          <a:bodyPr wrap="square" lIns="0" tIns="0" rIns="0" bIns="0" anchor="t">
            <a:noAutofit/>
          </a:bodyPr>
          <a:lstStyle/>
          <a:p>
            <a:pPr algn="l"/>
          </a:p>
        </p:txBody>
      </p:sp>
      <p:sp>
        <p:nvSpPr>
          <p:cNvPr id="40" name="Grid line"/>
          <p:cNvSpPr/>
          <p:nvPr/>
        </p:nvSpPr>
        <p:spPr>
          <a:xfrm>
            <a:off x="11109960" y="0"/>
            <a:ext cx="6400" cy="6858000"/>
          </a:xfrm>
          <a:prstGeom prst="rect">
            <a:avLst/>
          </a:prstGeom>
          <a:solidFill>
            <a:srgbClr val="E6ECE8"/>
          </a:solidFill>
          <a:ln>
            <a:noFill/>
          </a:ln>
        </p:spPr>
        <p:txBody>
          <a:bodyPr wrap="square" lIns="0" tIns="0" rIns="0" bIns="0" anchor="t">
            <a:noAutofit/>
          </a:bodyPr>
          <a:lstStyle/>
          <a:p>
            <a:pPr algn="l"/>
          </a:p>
        </p:txBody>
      </p:sp>
      <p:sp>
        <p:nvSpPr>
          <p:cNvPr id="41" name="Grid line"/>
          <p:cNvSpPr/>
          <p:nvPr/>
        </p:nvSpPr>
        <p:spPr>
          <a:xfrm>
            <a:off x="11384280" y="0"/>
            <a:ext cx="6400" cy="6858000"/>
          </a:xfrm>
          <a:prstGeom prst="rect">
            <a:avLst/>
          </a:prstGeom>
          <a:solidFill>
            <a:srgbClr val="E6ECE8"/>
          </a:solidFill>
          <a:ln>
            <a:noFill/>
          </a:ln>
        </p:spPr>
        <p:txBody>
          <a:bodyPr wrap="square" lIns="0" tIns="0" rIns="0" bIns="0" anchor="t">
            <a:noAutofit/>
          </a:bodyPr>
          <a:lstStyle/>
          <a:p>
            <a:pPr algn="l"/>
          </a:p>
        </p:txBody>
      </p:sp>
      <p:sp>
        <p:nvSpPr>
          <p:cNvPr id="42" name="Grid line"/>
          <p:cNvSpPr/>
          <p:nvPr/>
        </p:nvSpPr>
        <p:spPr>
          <a:xfrm>
            <a:off x="11658600" y="0"/>
            <a:ext cx="6400" cy="6858000"/>
          </a:xfrm>
          <a:prstGeom prst="rect">
            <a:avLst/>
          </a:prstGeom>
          <a:solidFill>
            <a:srgbClr val="E6ECE8"/>
          </a:solidFill>
          <a:ln>
            <a:noFill/>
          </a:ln>
        </p:spPr>
        <p:txBody>
          <a:bodyPr wrap="square" lIns="0" tIns="0" rIns="0" bIns="0" anchor="t">
            <a:noAutofit/>
          </a:bodyPr>
          <a:lstStyle/>
          <a:p>
            <a:pPr algn="l"/>
          </a:p>
        </p:txBody>
      </p:sp>
      <p:sp>
        <p:nvSpPr>
          <p:cNvPr id="43" name="Grid line"/>
          <p:cNvSpPr/>
          <p:nvPr/>
        </p:nvSpPr>
        <p:spPr>
          <a:xfrm>
            <a:off x="11932920" y="0"/>
            <a:ext cx="6400" cy="6858000"/>
          </a:xfrm>
          <a:prstGeom prst="rect">
            <a:avLst/>
          </a:prstGeom>
          <a:solidFill>
            <a:srgbClr val="E6ECE8"/>
          </a:solidFill>
          <a:ln>
            <a:noFill/>
          </a:ln>
        </p:spPr>
        <p:txBody>
          <a:bodyPr wrap="square" lIns="0" tIns="0" rIns="0" bIns="0" anchor="t">
            <a:noAutofit/>
          </a:bodyPr>
          <a:lstStyle/>
          <a:p>
            <a:pPr algn="l"/>
          </a:p>
        </p:txBody>
      </p:sp>
      <p:sp>
        <p:nvSpPr>
          <p:cNvPr id="44" name="Grid line"/>
          <p:cNvSpPr/>
          <p:nvPr/>
        </p:nvSpPr>
        <p:spPr>
          <a:xfrm>
            <a:off x="8092440" y="274320"/>
            <a:ext cx="4099255" cy="6400"/>
          </a:xfrm>
          <a:prstGeom prst="rect">
            <a:avLst/>
          </a:prstGeom>
          <a:solidFill>
            <a:srgbClr val="E6ECE8"/>
          </a:solidFill>
          <a:ln>
            <a:noFill/>
          </a:ln>
        </p:spPr>
        <p:txBody>
          <a:bodyPr wrap="square" lIns="0" tIns="0" rIns="0" bIns="0" anchor="t">
            <a:noAutofit/>
          </a:bodyPr>
          <a:lstStyle/>
          <a:p>
            <a:pPr algn="l"/>
          </a:p>
        </p:txBody>
      </p:sp>
      <p:sp>
        <p:nvSpPr>
          <p:cNvPr id="45" name="Grid line"/>
          <p:cNvSpPr/>
          <p:nvPr/>
        </p:nvSpPr>
        <p:spPr>
          <a:xfrm>
            <a:off x="8092440" y="548640"/>
            <a:ext cx="4099255" cy="6400"/>
          </a:xfrm>
          <a:prstGeom prst="rect">
            <a:avLst/>
          </a:prstGeom>
          <a:solidFill>
            <a:srgbClr val="E6ECE8"/>
          </a:solidFill>
          <a:ln>
            <a:noFill/>
          </a:ln>
        </p:spPr>
        <p:txBody>
          <a:bodyPr wrap="square" lIns="0" tIns="0" rIns="0" bIns="0" anchor="t">
            <a:noAutofit/>
          </a:bodyPr>
          <a:lstStyle/>
          <a:p>
            <a:pPr algn="l"/>
          </a:p>
        </p:txBody>
      </p:sp>
      <p:sp>
        <p:nvSpPr>
          <p:cNvPr id="46" name="Grid line"/>
          <p:cNvSpPr/>
          <p:nvPr/>
        </p:nvSpPr>
        <p:spPr>
          <a:xfrm>
            <a:off x="8092440" y="822959"/>
            <a:ext cx="4099255" cy="6400"/>
          </a:xfrm>
          <a:prstGeom prst="rect">
            <a:avLst/>
          </a:prstGeom>
          <a:solidFill>
            <a:srgbClr val="E6ECE8"/>
          </a:solidFill>
          <a:ln>
            <a:noFill/>
          </a:ln>
        </p:spPr>
        <p:txBody>
          <a:bodyPr wrap="square" lIns="0" tIns="0" rIns="0" bIns="0" anchor="t">
            <a:noAutofit/>
          </a:bodyPr>
          <a:lstStyle/>
          <a:p>
            <a:pPr algn="l"/>
          </a:p>
        </p:txBody>
      </p:sp>
      <p:sp>
        <p:nvSpPr>
          <p:cNvPr id="47" name="Grid line"/>
          <p:cNvSpPr/>
          <p:nvPr/>
        </p:nvSpPr>
        <p:spPr>
          <a:xfrm>
            <a:off x="8092440" y="1097280"/>
            <a:ext cx="4099255" cy="6400"/>
          </a:xfrm>
          <a:prstGeom prst="rect">
            <a:avLst/>
          </a:prstGeom>
          <a:solidFill>
            <a:srgbClr val="E6ECE8"/>
          </a:solidFill>
          <a:ln>
            <a:noFill/>
          </a:ln>
        </p:spPr>
        <p:txBody>
          <a:bodyPr wrap="square" lIns="0" tIns="0" rIns="0" bIns="0" anchor="t">
            <a:noAutofit/>
          </a:bodyPr>
          <a:lstStyle/>
          <a:p>
            <a:pPr algn="l"/>
          </a:p>
        </p:txBody>
      </p:sp>
      <p:sp>
        <p:nvSpPr>
          <p:cNvPr id="48" name="Grid line"/>
          <p:cNvSpPr/>
          <p:nvPr/>
        </p:nvSpPr>
        <p:spPr>
          <a:xfrm>
            <a:off x="8092440" y="1371600"/>
            <a:ext cx="4099255" cy="6400"/>
          </a:xfrm>
          <a:prstGeom prst="rect">
            <a:avLst/>
          </a:prstGeom>
          <a:solidFill>
            <a:srgbClr val="E6ECE8"/>
          </a:solidFill>
          <a:ln>
            <a:noFill/>
          </a:ln>
        </p:spPr>
        <p:txBody>
          <a:bodyPr wrap="square" lIns="0" tIns="0" rIns="0" bIns="0" anchor="t">
            <a:noAutofit/>
          </a:bodyPr>
          <a:lstStyle/>
          <a:p>
            <a:pPr algn="l"/>
          </a:p>
        </p:txBody>
      </p:sp>
      <p:sp>
        <p:nvSpPr>
          <p:cNvPr id="49" name="Grid line"/>
          <p:cNvSpPr/>
          <p:nvPr/>
        </p:nvSpPr>
        <p:spPr>
          <a:xfrm>
            <a:off x="8092440" y="1645920"/>
            <a:ext cx="4099255" cy="6400"/>
          </a:xfrm>
          <a:prstGeom prst="rect">
            <a:avLst/>
          </a:prstGeom>
          <a:solidFill>
            <a:srgbClr val="E6ECE8"/>
          </a:solidFill>
          <a:ln>
            <a:noFill/>
          </a:ln>
        </p:spPr>
        <p:txBody>
          <a:bodyPr wrap="square" lIns="0" tIns="0" rIns="0" bIns="0" anchor="t">
            <a:noAutofit/>
          </a:bodyPr>
          <a:lstStyle/>
          <a:p>
            <a:pPr algn="l"/>
          </a:p>
        </p:txBody>
      </p:sp>
      <p:sp>
        <p:nvSpPr>
          <p:cNvPr id="50" name="Grid line"/>
          <p:cNvSpPr/>
          <p:nvPr/>
        </p:nvSpPr>
        <p:spPr>
          <a:xfrm>
            <a:off x="8092440" y="1920240"/>
            <a:ext cx="4099255" cy="6400"/>
          </a:xfrm>
          <a:prstGeom prst="rect">
            <a:avLst/>
          </a:prstGeom>
          <a:solidFill>
            <a:srgbClr val="E6ECE8"/>
          </a:solidFill>
          <a:ln>
            <a:noFill/>
          </a:ln>
        </p:spPr>
        <p:txBody>
          <a:bodyPr wrap="square" lIns="0" tIns="0" rIns="0" bIns="0" anchor="t">
            <a:noAutofit/>
          </a:bodyPr>
          <a:lstStyle/>
          <a:p>
            <a:pPr algn="l"/>
          </a:p>
        </p:txBody>
      </p:sp>
      <p:sp>
        <p:nvSpPr>
          <p:cNvPr id="51" name="Grid line"/>
          <p:cNvSpPr/>
          <p:nvPr/>
        </p:nvSpPr>
        <p:spPr>
          <a:xfrm>
            <a:off x="8092440" y="2194560"/>
            <a:ext cx="4099255" cy="6400"/>
          </a:xfrm>
          <a:prstGeom prst="rect">
            <a:avLst/>
          </a:prstGeom>
          <a:solidFill>
            <a:srgbClr val="E6ECE8"/>
          </a:solidFill>
          <a:ln>
            <a:noFill/>
          </a:ln>
        </p:spPr>
        <p:txBody>
          <a:bodyPr wrap="square" lIns="0" tIns="0" rIns="0" bIns="0" anchor="t">
            <a:noAutofit/>
          </a:bodyPr>
          <a:lstStyle/>
          <a:p>
            <a:pPr algn="l"/>
          </a:p>
        </p:txBody>
      </p:sp>
      <p:sp>
        <p:nvSpPr>
          <p:cNvPr id="52" name="Grid line"/>
          <p:cNvSpPr/>
          <p:nvPr/>
        </p:nvSpPr>
        <p:spPr>
          <a:xfrm>
            <a:off x="8092440" y="2468879"/>
            <a:ext cx="4099255" cy="6400"/>
          </a:xfrm>
          <a:prstGeom prst="rect">
            <a:avLst/>
          </a:prstGeom>
          <a:solidFill>
            <a:srgbClr val="E6ECE8"/>
          </a:solidFill>
          <a:ln>
            <a:noFill/>
          </a:ln>
        </p:spPr>
        <p:txBody>
          <a:bodyPr wrap="square" lIns="0" tIns="0" rIns="0" bIns="0" anchor="t">
            <a:noAutofit/>
          </a:bodyPr>
          <a:lstStyle/>
          <a:p>
            <a:pPr algn="l"/>
          </a:p>
        </p:txBody>
      </p:sp>
      <p:sp>
        <p:nvSpPr>
          <p:cNvPr id="53" name="Grid line"/>
          <p:cNvSpPr/>
          <p:nvPr/>
        </p:nvSpPr>
        <p:spPr>
          <a:xfrm>
            <a:off x="8092440" y="2743199"/>
            <a:ext cx="4099255" cy="6400"/>
          </a:xfrm>
          <a:prstGeom prst="rect">
            <a:avLst/>
          </a:prstGeom>
          <a:solidFill>
            <a:srgbClr val="E6ECE8"/>
          </a:solidFill>
          <a:ln>
            <a:noFill/>
          </a:ln>
        </p:spPr>
        <p:txBody>
          <a:bodyPr wrap="square" lIns="0" tIns="0" rIns="0" bIns="0" anchor="t">
            <a:noAutofit/>
          </a:bodyPr>
          <a:lstStyle/>
          <a:p>
            <a:pPr algn="l"/>
          </a:p>
        </p:txBody>
      </p:sp>
      <p:sp>
        <p:nvSpPr>
          <p:cNvPr id="54" name="Grid line"/>
          <p:cNvSpPr/>
          <p:nvPr/>
        </p:nvSpPr>
        <p:spPr>
          <a:xfrm>
            <a:off x="8092440" y="3017519"/>
            <a:ext cx="4099255" cy="6400"/>
          </a:xfrm>
          <a:prstGeom prst="rect">
            <a:avLst/>
          </a:prstGeom>
          <a:solidFill>
            <a:srgbClr val="E6ECE8"/>
          </a:solidFill>
          <a:ln>
            <a:noFill/>
          </a:ln>
        </p:spPr>
        <p:txBody>
          <a:bodyPr wrap="square" lIns="0" tIns="0" rIns="0" bIns="0" anchor="t">
            <a:noAutofit/>
          </a:bodyPr>
          <a:lstStyle/>
          <a:p>
            <a:pPr algn="l"/>
          </a:p>
        </p:txBody>
      </p:sp>
      <p:sp>
        <p:nvSpPr>
          <p:cNvPr id="55" name="Grid line"/>
          <p:cNvSpPr/>
          <p:nvPr/>
        </p:nvSpPr>
        <p:spPr>
          <a:xfrm>
            <a:off x="8092440" y="3291839"/>
            <a:ext cx="4099255" cy="6400"/>
          </a:xfrm>
          <a:prstGeom prst="rect">
            <a:avLst/>
          </a:prstGeom>
          <a:solidFill>
            <a:srgbClr val="E6ECE8"/>
          </a:solidFill>
          <a:ln>
            <a:noFill/>
          </a:ln>
        </p:spPr>
        <p:txBody>
          <a:bodyPr wrap="square" lIns="0" tIns="0" rIns="0" bIns="0" anchor="t">
            <a:noAutofit/>
          </a:bodyPr>
          <a:lstStyle/>
          <a:p>
            <a:pPr algn="l"/>
          </a:p>
        </p:txBody>
      </p:sp>
      <p:sp>
        <p:nvSpPr>
          <p:cNvPr id="56" name="Grid line"/>
          <p:cNvSpPr/>
          <p:nvPr/>
        </p:nvSpPr>
        <p:spPr>
          <a:xfrm>
            <a:off x="8092440" y="3566159"/>
            <a:ext cx="4099255" cy="6400"/>
          </a:xfrm>
          <a:prstGeom prst="rect">
            <a:avLst/>
          </a:prstGeom>
          <a:solidFill>
            <a:srgbClr val="E6ECE8"/>
          </a:solidFill>
          <a:ln>
            <a:noFill/>
          </a:ln>
        </p:spPr>
        <p:txBody>
          <a:bodyPr wrap="square" lIns="0" tIns="0" rIns="0" bIns="0" anchor="t">
            <a:noAutofit/>
          </a:bodyPr>
          <a:lstStyle/>
          <a:p>
            <a:pPr algn="l"/>
          </a:p>
        </p:txBody>
      </p:sp>
      <p:sp>
        <p:nvSpPr>
          <p:cNvPr id="57" name="Grid line"/>
          <p:cNvSpPr/>
          <p:nvPr/>
        </p:nvSpPr>
        <p:spPr>
          <a:xfrm>
            <a:off x="8092440" y="3840479"/>
            <a:ext cx="4099255" cy="6400"/>
          </a:xfrm>
          <a:prstGeom prst="rect">
            <a:avLst/>
          </a:prstGeom>
          <a:solidFill>
            <a:srgbClr val="E6ECE8"/>
          </a:solidFill>
          <a:ln>
            <a:noFill/>
          </a:ln>
        </p:spPr>
        <p:txBody>
          <a:bodyPr wrap="square" lIns="0" tIns="0" rIns="0" bIns="0" anchor="t">
            <a:noAutofit/>
          </a:bodyPr>
          <a:lstStyle/>
          <a:p>
            <a:pPr algn="l"/>
          </a:p>
        </p:txBody>
      </p:sp>
      <p:sp>
        <p:nvSpPr>
          <p:cNvPr id="58" name="Grid line"/>
          <p:cNvSpPr/>
          <p:nvPr/>
        </p:nvSpPr>
        <p:spPr>
          <a:xfrm>
            <a:off x="8092440" y="4114799"/>
            <a:ext cx="4099255" cy="6400"/>
          </a:xfrm>
          <a:prstGeom prst="rect">
            <a:avLst/>
          </a:prstGeom>
          <a:solidFill>
            <a:srgbClr val="E6ECE8"/>
          </a:solidFill>
          <a:ln>
            <a:noFill/>
          </a:ln>
        </p:spPr>
        <p:txBody>
          <a:bodyPr wrap="square" lIns="0" tIns="0" rIns="0" bIns="0" anchor="t">
            <a:noAutofit/>
          </a:bodyPr>
          <a:lstStyle/>
          <a:p>
            <a:pPr algn="l"/>
          </a:p>
        </p:txBody>
      </p:sp>
      <p:sp>
        <p:nvSpPr>
          <p:cNvPr id="59" name="Grid line"/>
          <p:cNvSpPr/>
          <p:nvPr/>
        </p:nvSpPr>
        <p:spPr>
          <a:xfrm>
            <a:off x="8092440" y="4389119"/>
            <a:ext cx="4099255" cy="6400"/>
          </a:xfrm>
          <a:prstGeom prst="rect">
            <a:avLst/>
          </a:prstGeom>
          <a:solidFill>
            <a:srgbClr val="E6ECE8"/>
          </a:solidFill>
          <a:ln>
            <a:noFill/>
          </a:ln>
        </p:spPr>
        <p:txBody>
          <a:bodyPr wrap="square" lIns="0" tIns="0" rIns="0" bIns="0" anchor="t">
            <a:noAutofit/>
          </a:bodyPr>
          <a:lstStyle/>
          <a:p>
            <a:pPr algn="l"/>
          </a:p>
        </p:txBody>
      </p:sp>
      <p:sp>
        <p:nvSpPr>
          <p:cNvPr id="60" name="Grid line"/>
          <p:cNvSpPr/>
          <p:nvPr/>
        </p:nvSpPr>
        <p:spPr>
          <a:xfrm>
            <a:off x="8092440" y="4663439"/>
            <a:ext cx="4099255" cy="6400"/>
          </a:xfrm>
          <a:prstGeom prst="rect">
            <a:avLst/>
          </a:prstGeom>
          <a:solidFill>
            <a:srgbClr val="E6ECE8"/>
          </a:solidFill>
          <a:ln>
            <a:noFill/>
          </a:ln>
        </p:spPr>
        <p:txBody>
          <a:bodyPr wrap="square" lIns="0" tIns="0" rIns="0" bIns="0" anchor="t">
            <a:noAutofit/>
          </a:bodyPr>
          <a:lstStyle/>
          <a:p>
            <a:pPr algn="l"/>
          </a:p>
        </p:txBody>
      </p:sp>
      <p:sp>
        <p:nvSpPr>
          <p:cNvPr id="61" name="Grid line"/>
          <p:cNvSpPr/>
          <p:nvPr/>
        </p:nvSpPr>
        <p:spPr>
          <a:xfrm>
            <a:off x="8092440" y="4937759"/>
            <a:ext cx="4099255" cy="6400"/>
          </a:xfrm>
          <a:prstGeom prst="rect">
            <a:avLst/>
          </a:prstGeom>
          <a:solidFill>
            <a:srgbClr val="E6ECE8"/>
          </a:solidFill>
          <a:ln>
            <a:noFill/>
          </a:ln>
        </p:spPr>
        <p:txBody>
          <a:bodyPr wrap="square" lIns="0" tIns="0" rIns="0" bIns="0" anchor="t">
            <a:noAutofit/>
          </a:bodyPr>
          <a:lstStyle/>
          <a:p>
            <a:pPr algn="l"/>
          </a:p>
        </p:txBody>
      </p:sp>
      <p:sp>
        <p:nvSpPr>
          <p:cNvPr id="62" name="Grid line"/>
          <p:cNvSpPr/>
          <p:nvPr/>
        </p:nvSpPr>
        <p:spPr>
          <a:xfrm>
            <a:off x="8092440" y="5212079"/>
            <a:ext cx="4099255" cy="6400"/>
          </a:xfrm>
          <a:prstGeom prst="rect">
            <a:avLst/>
          </a:prstGeom>
          <a:solidFill>
            <a:srgbClr val="E6ECE8"/>
          </a:solidFill>
          <a:ln>
            <a:noFill/>
          </a:ln>
        </p:spPr>
        <p:txBody>
          <a:bodyPr wrap="square" lIns="0" tIns="0" rIns="0" bIns="0" anchor="t">
            <a:noAutofit/>
          </a:bodyPr>
          <a:lstStyle/>
          <a:p>
            <a:pPr algn="l"/>
          </a:p>
        </p:txBody>
      </p:sp>
      <p:sp>
        <p:nvSpPr>
          <p:cNvPr id="63" name="Grid line"/>
          <p:cNvSpPr/>
          <p:nvPr/>
        </p:nvSpPr>
        <p:spPr>
          <a:xfrm>
            <a:off x="8092440" y="5486399"/>
            <a:ext cx="4099255" cy="6400"/>
          </a:xfrm>
          <a:prstGeom prst="rect">
            <a:avLst/>
          </a:prstGeom>
          <a:solidFill>
            <a:srgbClr val="E6ECE8"/>
          </a:solidFill>
          <a:ln>
            <a:noFill/>
          </a:ln>
        </p:spPr>
        <p:txBody>
          <a:bodyPr wrap="square" lIns="0" tIns="0" rIns="0" bIns="0" anchor="t">
            <a:noAutofit/>
          </a:bodyPr>
          <a:lstStyle/>
          <a:p>
            <a:pPr algn="l"/>
          </a:p>
        </p:txBody>
      </p:sp>
      <p:sp>
        <p:nvSpPr>
          <p:cNvPr id="64" name="Grid line"/>
          <p:cNvSpPr/>
          <p:nvPr/>
        </p:nvSpPr>
        <p:spPr>
          <a:xfrm>
            <a:off x="8092440" y="5760719"/>
            <a:ext cx="4099255" cy="6400"/>
          </a:xfrm>
          <a:prstGeom prst="rect">
            <a:avLst/>
          </a:prstGeom>
          <a:solidFill>
            <a:srgbClr val="E6ECE8"/>
          </a:solidFill>
          <a:ln>
            <a:noFill/>
          </a:ln>
        </p:spPr>
        <p:txBody>
          <a:bodyPr wrap="square" lIns="0" tIns="0" rIns="0" bIns="0" anchor="t">
            <a:noAutofit/>
          </a:bodyPr>
          <a:lstStyle/>
          <a:p>
            <a:pPr algn="l"/>
          </a:p>
        </p:txBody>
      </p:sp>
      <p:sp>
        <p:nvSpPr>
          <p:cNvPr id="65" name="Grid line"/>
          <p:cNvSpPr/>
          <p:nvPr/>
        </p:nvSpPr>
        <p:spPr>
          <a:xfrm>
            <a:off x="8092440" y="6035039"/>
            <a:ext cx="4099255" cy="6400"/>
          </a:xfrm>
          <a:prstGeom prst="rect">
            <a:avLst/>
          </a:prstGeom>
          <a:solidFill>
            <a:srgbClr val="E6ECE8"/>
          </a:solidFill>
          <a:ln>
            <a:noFill/>
          </a:ln>
        </p:spPr>
        <p:txBody>
          <a:bodyPr wrap="square" lIns="0" tIns="0" rIns="0" bIns="0" anchor="t">
            <a:noAutofit/>
          </a:bodyPr>
          <a:lstStyle/>
          <a:p>
            <a:pPr algn="l"/>
          </a:p>
        </p:txBody>
      </p:sp>
      <p:sp>
        <p:nvSpPr>
          <p:cNvPr id="66" name="Grid line"/>
          <p:cNvSpPr/>
          <p:nvPr/>
        </p:nvSpPr>
        <p:spPr>
          <a:xfrm>
            <a:off x="8092440" y="6309359"/>
            <a:ext cx="4099255" cy="6400"/>
          </a:xfrm>
          <a:prstGeom prst="rect">
            <a:avLst/>
          </a:prstGeom>
          <a:solidFill>
            <a:srgbClr val="E6ECE8"/>
          </a:solidFill>
          <a:ln>
            <a:noFill/>
          </a:ln>
        </p:spPr>
        <p:txBody>
          <a:bodyPr wrap="square" lIns="0" tIns="0" rIns="0" bIns="0" anchor="t">
            <a:noAutofit/>
          </a:bodyPr>
          <a:lstStyle/>
          <a:p>
            <a:pPr algn="l"/>
          </a:p>
        </p:txBody>
      </p:sp>
      <p:sp>
        <p:nvSpPr>
          <p:cNvPr id="67" name="Grid line"/>
          <p:cNvSpPr/>
          <p:nvPr/>
        </p:nvSpPr>
        <p:spPr>
          <a:xfrm>
            <a:off x="8092440" y="6583679"/>
            <a:ext cx="4099255" cy="6400"/>
          </a:xfrm>
          <a:prstGeom prst="rect">
            <a:avLst/>
          </a:prstGeom>
          <a:solidFill>
            <a:srgbClr val="E6ECE8"/>
          </a:solidFill>
          <a:ln>
            <a:noFill/>
          </a:ln>
        </p:spPr>
        <p:txBody>
          <a:bodyPr wrap="square" lIns="0" tIns="0" rIns="0" bIns="0" anchor="t">
            <a:noAutofit/>
          </a:bodyPr>
          <a:lstStyle/>
          <a:p>
            <a:pPr algn="l"/>
          </a:p>
        </p:txBody>
      </p:sp>
      <p:sp>
        <p:nvSpPr>
          <p:cNvPr id="21" name="Google Shape;21;p1"/>
          <p:cNvSpPr txBox="1"/>
          <p:nvPr/>
        </p:nvSpPr>
        <p:spPr>
          <a:xfrm>
            <a:off x="795528" y="566928"/>
            <a:ext cx="67665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RESEARCH PAPER</a:t>
            </a:r>
            <a:endParaRPr/>
          </a:p>
        </p:txBody>
      </p:sp>
      <p:sp>
        <p:nvSpPr>
          <p:cNvPr id="22" name="Google Shape;22;p1"/>
          <p:cNvSpPr txBox="1"/>
          <p:nvPr/>
        </p:nvSpPr>
        <p:spPr>
          <a:xfrm>
            <a:off x="795528" y="1938528"/>
            <a:ext cx="6949440" cy="1481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Retrieval-Augmented</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Generation of Ontologies</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from Relati</a:t>
            </a:r>
            <a:r>
              <a:rPr b="1" i="0" lang="en-US" sz="3000" u="none" cap="none" strike="noStrike">
                <a:solidFill>
                  <a:srgbClr val="1F2328"/>
                </a:solidFill>
                <a:latin typeface="Cambria"/>
                <a:ea typeface="Calibri"/>
                <a:cs typeface="Calibri"/>
                <a:sym typeface="Calibri"/>
              </a:rPr>
              <a:t>o</a:t>
            </a:r>
            <a:r>
              <a:rPr b="1" i="0" lang="en-US" sz="3000" u="none" cap="none" strike="noStrike">
                <a:solidFill>
                  <a:srgbClr val="1F2328"/>
                </a:solidFill>
                <a:latin typeface="Cambria"/>
                <a:ea typeface="Calibri"/>
                <a:cs typeface="Calibri"/>
                <a:sym typeface="Calibri"/>
              </a:rPr>
              <a:t>nal Databases</a:t>
            </a:r>
            <a:endParaRPr sz="3000"/>
          </a:p>
        </p:txBody>
      </p:sp>
      <p:sp>
        <p:nvSpPr>
          <p:cNvPr id="25" name="Google Shape;25;p1"/>
          <p:cNvSpPr txBox="1"/>
          <p:nvPr/>
        </p:nvSpPr>
        <p:spPr>
          <a:xfrm>
            <a:off x="795528" y="6053328"/>
            <a:ext cx="694944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250" b="1">
                <a:solidFill>
                  <a:srgbClr val="5B6770"/>
                </a:solidFill>
                <a:latin typeface="Consolas"/>
                <a:ea typeface="Consolas"/>
                <a:cs typeface="Consolas"/>
                <a:sym typeface="Consolas"/>
              </a:rPr>
              <a:t>PAPER  </a:t>
            </a:r>
            <a:r>
              <a:rPr lang="en-US" sz="1250" b="0">
                <a:solidFill>
                  <a:srgbClr val="2F6B78"/>
                </a:solidFill>
                <a:latin typeface="Consolas"/>
                <a:ea typeface="Consolas"/>
                <a:cs typeface="Consolas"/>
                <a:sym typeface="Consolas"/>
              </a:rPr>
              <a:t>arXiv:2506.01232</a:t>
            </a:r>
            <a:r>
              <a:rPr lang="en-US" sz="1250" b="1">
                <a:solidFill>
                  <a:srgbClr val="5B6770"/>
                </a:solidFill>
                <a:latin typeface="Consolas"/>
                <a:ea typeface="Consolas"/>
                <a:cs typeface="Consolas"/>
                <a:sym typeface="Consolas"/>
              </a:rPr>
              <a:t>        CODE  </a:t>
            </a:r>
            <a:r>
              <a:rPr lang="en-US" sz="1250" b="0">
                <a:solidFill>
                  <a:srgbClr val="2F6B78"/>
                </a:solidFill>
                <a:latin typeface="Consolas"/>
                <a:ea typeface="Consolas"/>
                <a:cs typeface="Consolas"/>
                <a:sym typeface="Consolas"/>
              </a:rPr>
              <a:t>github.com/NadeenAhmad/RIGOR</a:t>
            </a:r>
            <a:endParaRPr sz="1250">
              <a:solidFill>
                <a:srgbClr val="1F2328"/>
              </a:solidFill>
            </a:endParaRPr>
          </a:p>
        </p:txBody>
      </p:sp>
      <p:pic>
        <p:nvPicPr>
          <p:cNvPr descr="A relational table whose highlighted row is mapped by RIGOR to a node of an ontology graph" id="26" name="Google Shape;26;p1"/>
          <p:cNvPicPr preferRelativeResize="0"/>
          <p:nvPr/>
        </p:nvPicPr>
        <p:blipFill rotWithShape="1">
          <a:blip r:embed="rId3">
            <a:alphaModFix/>
          </a:blip>
          <a:srcRect b="0" l="0" r="0" t="0"/>
          <a:stretch/>
        </p:blipFill>
        <p:spPr>
          <a:xfrm>
            <a:off x="8427567" y="1325880"/>
            <a:ext cx="3429000" cy="3066585"/>
          </a:xfrm>
          <a:prstGeom prst="rect">
            <a:avLst/>
          </a:prstGeom>
          <a:noFill/>
          <a:ln>
            <a:noFill/>
          </a:ln>
        </p:spPr>
      </p:pic>
      <p:sp>
        <p:nvSpPr>
          <p:cNvPr id="27" name="Google Shape;27;p1"/>
          <p:cNvSpPr txBox="1"/>
          <p:nvPr/>
        </p:nvSpPr>
        <p:spPr>
          <a:xfrm>
            <a:off x="823325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relational database</a:t>
            </a:r>
            <a:endParaRPr sz="1300">
              <a:solidFill>
                <a:srgbClr val="1F2328"/>
              </a:solidFill>
            </a:endParaRPr>
          </a:p>
        </p:txBody>
      </p:sp>
      <p:sp>
        <p:nvSpPr>
          <p:cNvPr id="28" name="Google Shape;28;p1"/>
          <p:cNvSpPr txBox="1"/>
          <p:nvPr/>
        </p:nvSpPr>
        <p:spPr>
          <a:xfrm>
            <a:off x="1011920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ontology</a:t>
            </a:r>
            <a:endParaRPr sz="1300">
              <a:solidFill>
                <a:srgbClr val="1F2328"/>
              </a:solidFill>
            </a:endParaRPr>
          </a:p>
        </p:txBody>
      </p:sp>
      <p:sp>
        <p:nvSpPr>
          <p:cNvPr id="68" name="Wordmark"/>
          <p:cNvSpPr txBox="1"/>
          <p:nvPr/>
        </p:nvSpPr>
        <p:spPr>
          <a:xfrm>
            <a:off x="768096" y="987552"/>
            <a:ext cx="6766560" cy="868680"/>
          </a:xfrm>
          <a:prstGeom prst="rect">
            <a:avLst/>
          </a:prstGeom>
          <a:noFill/>
        </p:spPr>
        <p:txBody>
          <a:bodyPr wrap="square" lIns="0" tIns="0" rIns="0" bIns="0" anchor="t">
            <a:noAutofit/>
          </a:bodyPr>
          <a:lstStyle/>
          <a:p>
            <a:pPr/>
            <a:r>
              <a:rPr lang="en-US" sz="5400" b="1" i="0" spc="300" dirty="0">
                <a:solidFill>
                  <a:srgbClr val="0B6E4F"/>
                </a:solidFill>
                <a:latin typeface="Cambria"/>
                <a:cs typeface="Cambria"/>
              </a:rPr>
              <a:t xml:space="preserve">RIGOR</a:t>
            </a:r>
          </a:p>
        </p:txBody>
      </p:sp>
      <p:sp>
        <p:nvSpPr>
          <p:cNvPr id="69" name="Authors"/>
          <p:cNvSpPr txBox="1"/>
          <p:nvPr/>
        </p:nvSpPr>
        <p:spPr>
          <a:xfrm>
            <a:off x="795528" y="3822191"/>
            <a:ext cx="6949440" cy="960120"/>
          </a:xfrm>
          <a:prstGeom prst="rect">
            <a:avLst/>
          </a:prstGeom>
          <a:noFill/>
        </p:spPr>
        <p:txBody>
          <a:bodyPr wrap="square" lIns="0" tIns="0" rIns="0" bIns="0" anchor="t">
            <a:noAutofit/>
          </a:bodyPr>
          <a:lstStyle/>
          <a:p>
            <a:pPr>
              <a:lnSpc>
                <a:spcPts val="2300"/>
              </a:lnSpc>
            </a:pPr>
            <a:r>
              <a:rPr lang="en-US" sz="1500" b="1" i="0" dirty="0">
                <a:solidFill>
                  <a:srgbClr val="1F2328"/>
                </a:solidFill>
                <a:latin typeface="Calibri"/>
                <a:cs typeface="Calibri"/>
              </a:rPr>
              <a:t xml:space="preserve">Nadeen Fathallah</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Mojtaba Nayyeri</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Athish A Yogi</a:t>
            </a:r>
            <a:r>
              <a:rPr lang="en-US" sz="1500" b="1" i="0" baseline="30000" dirty="0">
                <a:solidFill>
                  <a:srgbClr val="0B6E4F"/>
                </a:solidFill>
                <a:latin typeface="Calibri"/>
                <a:cs typeface="Calibri"/>
              </a:rPr>
              <a:t xml:space="preserve">1</a:t>
            </a:r>
          </a:p>
          <a:p>
            <a:pPr>
              <a:lnSpc>
                <a:spcPts val="2300"/>
              </a:lnSpc>
            </a:pPr>
            <a:r>
              <a:rPr lang="en-US" sz="1500" b="0" i="0" dirty="0">
                <a:solidFill>
                  <a:srgbClr val="3A434C"/>
                </a:solidFill>
                <a:latin typeface="Calibri"/>
                <a:cs typeface="Calibri"/>
              </a:rPr>
              <a:t xml:space="preserve">Ratan Bahadur Thapa</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Hans-Michael Tautenhahn</a:t>
            </a:r>
            <a:r>
              <a:rPr lang="en-US" sz="1500" b="1" i="0" baseline="30000" dirty="0">
                <a:solidFill>
                  <a:srgbClr val="0B6E4F"/>
                </a:solidFill>
                <a:latin typeface="Calibri"/>
                <a:cs typeface="Calibri"/>
              </a:rPr>
              <a:t xml:space="preserve">3</a:t>
            </a:r>
          </a:p>
          <a:p>
            <a:pPr>
              <a:lnSpc>
                <a:spcPts val="2300"/>
              </a:lnSpc>
            </a:pPr>
            <a:r>
              <a:rPr lang="en-US" sz="1500" b="0" i="0" dirty="0">
                <a:solidFill>
                  <a:srgbClr val="3A434C"/>
                </a:solidFill>
                <a:latin typeface="Calibri"/>
                <a:cs typeface="Calibri"/>
              </a:rPr>
              <a:t xml:space="preserve">Anton Schnurpel</a:t>
            </a:r>
            <a:r>
              <a:rPr lang="en-US" sz="1500" b="1" i="0" baseline="30000" dirty="0">
                <a:solidFill>
                  <a:srgbClr val="0B6E4F"/>
                </a:solidFill>
                <a:latin typeface="Calibri"/>
                <a:cs typeface="Calibri"/>
              </a:rPr>
              <a:t xml:space="preserve">3</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Steffen Staab</a:t>
            </a:r>
            <a:r>
              <a:rPr lang="en-US" sz="1500" b="1" i="0" baseline="30000" dirty="0">
                <a:solidFill>
                  <a:srgbClr val="0B6E4F"/>
                </a:solidFill>
                <a:latin typeface="Calibri"/>
                <a:cs typeface="Calibri"/>
              </a:rPr>
              <a:t xml:space="preserve">1,2</a:t>
            </a:r>
          </a:p>
        </p:txBody>
      </p:sp>
      <p:sp>
        <p:nvSpPr>
          <p:cNvPr id="70" name="Affiliations"/>
          <p:cNvSpPr txBox="1"/>
          <p:nvPr/>
        </p:nvSpPr>
        <p:spPr>
          <a:xfrm>
            <a:off x="795528" y="4919472"/>
            <a:ext cx="6949440" cy="731520"/>
          </a:xfrm>
          <a:prstGeom prst="rect">
            <a:avLst/>
          </a:prstGeom>
          <a:noFill/>
        </p:spPr>
        <p:txBody>
          <a:bodyPr wrap="square" lIns="0" tIns="0" rIns="0" bIns="0" anchor="t">
            <a:noAutofit/>
          </a:bodyPr>
          <a:lstStyle/>
          <a:p>
            <a:pPr>
              <a:lnSpc>
                <a:spcPts val="1700"/>
              </a:lnSpc>
            </a:pPr>
            <a:r>
              <a:rPr lang="en-US" sz="1200" b="1" i="0" baseline="30000" dirty="0">
                <a:solidFill>
                  <a:srgbClr val="0B6E4F"/>
                </a:solidFill>
                <a:latin typeface="Calibri"/>
                <a:cs typeface="Calibri"/>
              </a:rPr>
              <a:t xml:space="preserve">1</a:t>
            </a:r>
            <a:r>
              <a:rPr lang="en-US" sz="1200" b="0" i="0" dirty="0">
                <a:solidFill>
                  <a:srgbClr val="5B6770"/>
                </a:solidFill>
                <a:latin typeface="Calibri"/>
                <a:cs typeface="Calibri"/>
              </a:rPr>
              <a:t xml:space="preserve"> Institute for Artificial Intelligence, University of Stuttgart, Germany</a:t>
            </a:r>
          </a:p>
          <a:p>
            <a:pPr>
              <a:lnSpc>
                <a:spcPts val="1700"/>
              </a:lnSpc>
            </a:pPr>
            <a:r>
              <a:rPr lang="en-US" sz="1200" b="1" i="0" baseline="30000" dirty="0">
                <a:solidFill>
                  <a:srgbClr val="0B6E4F"/>
                </a:solidFill>
                <a:latin typeface="Calibri"/>
                <a:cs typeface="Calibri"/>
              </a:rPr>
              <a:t xml:space="preserve">2</a:t>
            </a:r>
            <a:r>
              <a:rPr lang="en-US" sz="1200" b="0" i="0" dirty="0">
                <a:solidFill>
                  <a:srgbClr val="5B6770"/>
                </a:solidFill>
                <a:latin typeface="Calibri"/>
                <a:cs typeface="Calibri"/>
              </a:rPr>
              <a:t xml:space="preserve"> University of Southampton, United Kingdom</a:t>
            </a:r>
          </a:p>
          <a:p>
            <a:pPr>
              <a:lnSpc>
                <a:spcPts val="1700"/>
              </a:lnSpc>
            </a:pPr>
            <a:r>
              <a:rPr lang="en-US" sz="1200" b="1" i="0" baseline="30000" dirty="0">
                <a:solidFill>
                  <a:srgbClr val="0B6E4F"/>
                </a:solidFill>
                <a:latin typeface="Calibri"/>
                <a:cs typeface="Calibri"/>
              </a:rPr>
              <a:t xml:space="preserve">3</a:t>
            </a:r>
            <a:r>
              <a:rPr lang="en-US" sz="1200" b="0" i="0" dirty="0">
                <a:solidFill>
                  <a:srgbClr val="5B6770"/>
                </a:solidFill>
                <a:latin typeface="Calibri"/>
                <a:cs typeface="Calibri"/>
              </a:rPr>
              <a:t xml:space="preserve"> Universitätsklinikum Leipzig, Germany</a:t>
            </a:r>
          </a:p>
        </p:txBody>
      </p:sp>
      <p:sp>
        <p:nvSpPr>
          <p:cNvPr id="71" name="RIGOR pill"/>
          <p:cNvSpPr/>
          <p:nvPr/>
        </p:nvSpPr>
        <p:spPr>
          <a:xfrm>
            <a:off x="10015194" y="2150512"/>
            <a:ext cx="768096" cy="274320"/>
          </a:xfrm>
          <a:prstGeom prst="roundRect">
            <a:avLst>
              <a:gd name="adj" fmla="val 12000"/>
            </a:avLst>
          </a:prstGeom>
          <a:solidFill>
            <a:srgbClr val="0B6E4F"/>
          </a:solidFill>
          <a:ln>
            <a:noFill/>
          </a:ln>
        </p:spPr>
        <p:txBody>
          <a:bodyPr wrap="square" lIns="0" tIns="0" rIns="0" bIns="0" anchor="ctr">
            <a:noAutofit/>
          </a:bodyPr>
          <a:lstStyle/>
          <a:p>
            <a:pPr algn="ctr"/>
            <a:r>
              <a:rPr lang="en-US" sz="1150" b="1" i="0" dirty="0">
                <a:solidFill>
                  <a:srgbClr val="FFFFFF"/>
                </a:solidFill>
                <a:latin typeface="Consolas"/>
                <a:cs typeface="Consolas"/>
              </a:rPr>
              <a:t xml:space="preserve">RIGOR</a:t>
            </a:r>
          </a:p>
        </p:txBody>
      </p:sp>
      <p:sp>
        <p:nvSpPr>
          <p:cNvPr id="72" name="Venue"/>
          <p:cNvSpPr txBox="1"/>
          <p:nvPr/>
        </p:nvSpPr>
        <p:spPr>
          <a:xfrm>
            <a:off x="8549640" y="5779008"/>
            <a:ext cx="3108960" cy="566928"/>
          </a:xfrm>
          <a:prstGeom prst="rect">
            <a:avLst/>
          </a:prstGeom>
          <a:noFill/>
        </p:spPr>
        <p:txBody>
          <a:bodyPr wrap="square" lIns="0" tIns="0" rIns="0" bIns="0" anchor="t">
            <a:noAutofit/>
          </a:bodyPr>
          <a:lstStyle/>
          <a:p>
            <a:pPr>
              <a:lnSpc>
                <a:spcPts val="2000"/>
              </a:lnSpc>
            </a:pPr>
            <a:r>
              <a:rPr lang="en-US" sz="1400" b="1" i="0" dirty="0">
                <a:solidFill>
                  <a:srgbClr val="0B6E4F"/>
                </a:solidFill>
                <a:latin typeface="Consolas"/>
                <a:cs typeface="Consolas"/>
              </a:rPr>
              <a:t xml:space="preserve">ISWC 2026</a:t>
            </a:r>
          </a:p>
          <a:p>
            <a:pPr>
              <a:lnSpc>
                <a:spcPts val="2000"/>
              </a:lnSpc>
            </a:pPr>
            <a:r>
              <a:rPr lang="en-US" sz="1300" b="0" i="0" dirty="0">
                <a:solidFill>
                  <a:srgbClr val="1F2328"/>
                </a:solidFill>
                <a:latin typeface="Calibri"/>
                <a:cs typeface="Calibri"/>
              </a:rPr>
              <a:t xml:space="preserve">Bari, Italy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57400"/>
            <a:ext cx="2971800" cy="253288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12848"/>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a:t>
            </a:r>
            <a:endParaRPr/>
          </a:p>
        </p:txBody>
      </p:sp>
      <p:sp>
        <p:nvSpPr>
          <p:cNvPr id="85" name="Google Shape;85;p3"/>
          <p:cNvSpPr/>
          <p:nvPr/>
        </p:nvSpPr>
        <p:spPr>
          <a:xfrm>
            <a:off x="3977639" y="3291840"/>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57400"/>
            <a:ext cx="6656832" cy="436168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12848"/>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a:t>
            </a:r>
            <a:endParaRPr/>
          </a:p>
        </p:txBody>
      </p:sp>
      <p:sp>
        <p:nvSpPr>
          <p:cNvPr id="88" name="Google Shape;88;p3"/>
          <p:cNvSpPr/>
          <p:nvPr/>
        </p:nvSpPr>
        <p:spPr>
          <a:xfrm>
            <a:off x="5093208" y="2633472"/>
            <a:ext cx="2103120" cy="475488"/>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743200"/>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33472"/>
            <a:ext cx="1828800" cy="475488"/>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743200"/>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871216"/>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487168"/>
            <a:ext cx="1591056" cy="27432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514600"/>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4809744"/>
            <a:ext cx="2971800" cy="16093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Table card"/>
          <p:cNvSpPr/>
          <p:nvPr/>
        </p:nvSpPr>
        <p:spPr>
          <a:xfrm>
            <a:off x="969264" y="2615184"/>
            <a:ext cx="2642616" cy="1792224"/>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79" name="Google Shape;79;p3"/>
          <p:cNvSpPr txBox="1"/>
          <p:nvPr/>
        </p:nvSpPr>
        <p:spPr>
          <a:xfrm>
            <a:off x="1133856" y="2724912"/>
            <a:ext cx="233172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133856" y="3145536"/>
            <a:ext cx="2313432" cy="0"/>
          </a:xfrm>
          <a:prstGeom prst="straightConnector1">
            <a:avLst/>
          </a:prstGeom>
          <a:noFill/>
          <a:ln cap="flat" cmpd="sng" w="19050">
            <a:solidFill>
              <a:srgbClr val="8E989E"/>
            </a:solidFill>
            <a:prstDash val="solid"/>
            <a:miter lim="8000"/>
            <a:headEnd len="sm" w="sm" type="none"/>
            <a:tailEnd len="sm" w="sm" type="none"/>
          </a:ln>
        </p:spPr>
      </p:cxnSp>
      <p:sp>
        <p:nvSpPr>
          <p:cNvPr id="105" name="Column"/>
          <p:cNvSpPr/>
          <p:nvPr/>
        </p:nvSpPr>
        <p:spPr>
          <a:xfrm>
            <a:off x="1133856" y="3273552"/>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patient_id</a:t>
            </a:r>
          </a:p>
        </p:txBody>
      </p:sp>
      <p:sp>
        <p:nvSpPr>
          <p:cNvPr id="106" name="Type"/>
          <p:cNvSpPr/>
          <p:nvPr/>
        </p:nvSpPr>
        <p:spPr>
          <a:xfrm>
            <a:off x="2697480" y="3273552"/>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FK</a:t>
            </a:r>
          </a:p>
        </p:txBody>
      </p:sp>
      <p:sp>
        <p:nvSpPr>
          <p:cNvPr id="107" name="Column"/>
          <p:cNvSpPr/>
          <p:nvPr/>
        </p:nvSpPr>
        <p:spPr>
          <a:xfrm>
            <a:off x="1133856" y="3621024"/>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BM_DEP</a:t>
            </a:r>
          </a:p>
        </p:txBody>
      </p:sp>
      <p:sp>
        <p:nvSpPr>
          <p:cNvPr id="108" name="Type"/>
          <p:cNvSpPr/>
          <p:nvPr/>
        </p:nvSpPr>
        <p:spPr>
          <a:xfrm>
            <a:off x="2697480" y="3621024"/>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INT</a:t>
            </a:r>
          </a:p>
        </p:txBody>
      </p:sp>
      <p:sp>
        <p:nvSpPr>
          <p:cNvPr id="109" name="Column"/>
          <p:cNvSpPr/>
          <p:nvPr/>
        </p:nvSpPr>
        <p:spPr>
          <a:xfrm>
            <a:off x="1133856" y="3968496"/>
            <a:ext cx="1600200" cy="292608"/>
          </a:xfrm>
          <a:prstGeom prst="rect">
            <a:avLst/>
          </a:prstGeom>
          <a:noFill/>
          <a:ln>
            <a:noFill/>
          </a:ln>
        </p:spPr>
        <p:txBody>
          <a:bodyPr wrap="square" lIns="0" tIns="0" rIns="0" bIns="0" anchor="ctr">
            <a:noAutofit/>
          </a:bodyPr>
          <a:lstStyle/>
          <a:p>
            <a:pPr algn="l">
              <a:spcAft>
                <a:spcPts val="0"/>
              </a:spcAft>
            </a:pPr>
            <a:r>
              <a:rPr lang="en-US" sz="1500" b="1" i="0" dirty="0">
                <a:solidFill>
                  <a:srgbClr val="0B6E4F"/>
                </a:solidFill>
                <a:latin typeface="Calibri"/>
                <a:cs typeface="Calibri"/>
              </a:rPr>
              <a:t xml:space="preserve">ecog_stage</a:t>
            </a:r>
          </a:p>
        </p:txBody>
      </p:sp>
      <p:sp>
        <p:nvSpPr>
          <p:cNvPr id="110" name="Type"/>
          <p:cNvSpPr/>
          <p:nvPr/>
        </p:nvSpPr>
        <p:spPr>
          <a:xfrm>
            <a:off x="2697480" y="3968496"/>
            <a:ext cx="749808" cy="292608"/>
          </a:xfrm>
          <a:prstGeom prst="rect">
            <a:avLst/>
          </a:prstGeom>
          <a:noFill/>
          <a:ln>
            <a:noFill/>
          </a:ln>
        </p:spPr>
        <p:txBody>
          <a:bodyPr wrap="square" lIns="0" tIns="0" rIns="0" bIns="0" anchor="ctr">
            <a:noAutofit/>
          </a:bodyPr>
          <a:lstStyle/>
          <a:p>
            <a:pPr algn="r">
              <a:spcAft>
                <a:spcPts val="0"/>
              </a:spcAft>
            </a:pPr>
            <a:r>
              <a:rPr lang="en-US" sz="1400" b="0" i="0" dirty="0">
                <a:solidFill>
                  <a:srgbClr val="5B6770"/>
                </a:solidFill>
                <a:latin typeface="Calibri"/>
                <a:cs typeface="Calibri"/>
              </a:rPr>
              <a:t xml:space="preserve">INT</a:t>
            </a:r>
          </a:p>
        </p:txBody>
      </p:sp>
      <p:sp>
        <p:nvSpPr>
          <p:cNvPr id="111" name="Code panel"/>
          <p:cNvSpPr/>
          <p:nvPr/>
        </p:nvSpPr>
        <p:spPr>
          <a:xfrm>
            <a:off x="4983480" y="3310128"/>
            <a:ext cx="6217920" cy="2962656"/>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12" name="Code line 112"/>
          <p:cNvSpPr txBox="1"/>
          <p:nvPr/>
        </p:nvSpPr>
        <p:spPr>
          <a:xfrm>
            <a:off x="4983480" y="3429000"/>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Class:</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Admission</a:t>
            </a:r>
            <a:endParaRPr lang="en-US" sz="1150"/>
          </a:p>
        </p:txBody>
      </p:sp>
      <p:sp>
        <p:nvSpPr>
          <p:cNvPr id="113" name="Code line 113"/>
          <p:cNvSpPr txBox="1"/>
          <p:nvPr/>
        </p:nvSpPr>
        <p:spPr>
          <a:xfrm>
            <a:off x="4983480" y="3624540"/>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SubClassOf:</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hasPatientData</a:t>
            </a: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some</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r>
              <a:rPr lang="en-US" sz="1100" b="0" i="1" dirty="0">
                <a:solidFill>
                  <a:srgbClr val="5B6770"/>
                </a:solidFill>
                <a:latin typeface="Calibri"/>
                <a:cs typeface="Calibri"/>
              </a:rPr>
              <a:t xml:space="preserve">	← schema (foreign key)</a:t>
            </a:r>
            <a:endParaRPr lang="en-US" sz="1150"/>
          </a:p>
        </p:txBody>
      </p:sp>
      <p:sp>
        <p:nvSpPr>
          <p:cNvPr id="114" name="Code line 114"/>
          <p:cNvSpPr txBox="1"/>
          <p:nvPr/>
        </p:nvSpPr>
        <p:spPr>
          <a:xfrm>
            <a:off x="4983480" y="3820081"/>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DisjointWith:</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PatientData</a:t>
            </a:r>
            <a:r>
              <a:rPr lang="en-US" sz="1100" b="0" i="1" dirty="0">
                <a:solidFill>
                  <a:srgbClr val="6F42C1"/>
                </a:solidFill>
                <a:latin typeface="Calibri"/>
                <a:cs typeface="Calibri"/>
              </a:rPr>
              <a:t xml:space="preserve">	← LLM knowledge</a:t>
            </a:r>
            <a:endParaRPr lang="en-US" sz="1150"/>
          </a:p>
        </p:txBody>
      </p:sp>
      <p:sp>
        <p:nvSpPr>
          <p:cNvPr id="115" name="Code line 115"/>
          <p:cNvSpPr txBox="1"/>
          <p:nvPr/>
        </p:nvSpPr>
        <p:spPr>
          <a:xfrm>
            <a:off x="4983480" y="4107062"/>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BM_DEP</a:t>
            </a:r>
            <a:endParaRPr lang="en-US" sz="1150"/>
          </a:p>
        </p:txBody>
      </p:sp>
      <p:sp>
        <p:nvSpPr>
          <p:cNvPr id="116" name="Code line 116"/>
          <p:cNvSpPr txBox="1"/>
          <p:nvPr/>
        </p:nvSpPr>
        <p:spPr>
          <a:xfrm>
            <a:off x="4983480" y="4302603"/>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117" name="Code line 117"/>
          <p:cNvSpPr txBox="1"/>
          <p:nvPr/>
        </p:nvSpPr>
        <p:spPr>
          <a:xfrm>
            <a:off x="4983480" y="4498144"/>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"Bone Marrow Depression"@en</a:t>
            </a:r>
            <a:r>
              <a:rPr lang="en-US" sz="1150" b="0" i="0" dirty="0">
                <a:solidFill>
                  <a:srgbClr val="1F2328"/>
                </a:solidFill>
                <a:latin typeface="Consolas"/>
                <a:cs typeface="Consolas"/>
              </a:rPr>
              <a:t xml:space="preserve">,</a:t>
            </a:r>
            <a:r>
              <a:rPr lang="en-US" sz="1100" b="0" i="1" dirty="0">
                <a:solidFill>
                  <a:srgbClr val="2F6B78"/>
                </a:solidFill>
                <a:latin typeface="Calibri"/>
                <a:cs typeface="Calibri"/>
              </a:rPr>
              <a:t xml:space="preserve">	← documentation</a:t>
            </a:r>
            <a:endParaRPr lang="en-US" sz="1150"/>
          </a:p>
        </p:txBody>
      </p:sp>
      <p:sp>
        <p:nvSpPr>
          <p:cNvPr id="118" name="Code line 118"/>
          <p:cNvSpPr txBox="1"/>
          <p:nvPr/>
        </p:nvSpPr>
        <p:spPr>
          <a:xfrm>
            <a:off x="4983480" y="4693685"/>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skos:relatedMatch</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obo:DOID_4961</a:t>
            </a:r>
            <a:r>
              <a:rPr lang="en-US" sz="1150" b="0" i="0" dirty="0">
                <a:solidFill>
                  <a:srgbClr val="1F2328"/>
                </a:solidFill>
                <a:latin typeface="Consolas"/>
                <a:cs typeface="Consolas"/>
              </a:rPr>
              <a:t xml:space="preserve">,</a:t>
            </a:r>
            <a:r>
              <a:rPr lang="en-US" sz="1100" b="0" i="1" dirty="0">
                <a:solidFill>
                  <a:srgbClr val="0B6E4F"/>
                </a:solidFill>
                <a:latin typeface="Calibri"/>
                <a:cs typeface="Calibri"/>
              </a:rPr>
              <a:t xml:space="preserve">	← Disease Ontology</a:t>
            </a:r>
            <a:endParaRPr lang="en-US" sz="1150"/>
          </a:p>
        </p:txBody>
      </p:sp>
      <p:sp>
        <p:nvSpPr>
          <p:cNvPr id="119" name="Code line 119"/>
          <p:cNvSpPr txBox="1"/>
          <p:nvPr/>
        </p:nvSpPr>
        <p:spPr>
          <a:xfrm>
            <a:off x="4983480" y="4889226"/>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admission:BM_DEP</a:t>
            </a:r>
            <a:r>
              <a:rPr lang="en-US" sz="1100" b="0" i="1" dirty="0">
                <a:solidFill>
                  <a:srgbClr val="5B6770"/>
                </a:solidFill>
                <a:latin typeface="Calibri"/>
                <a:cs typeface="Calibri"/>
              </a:rPr>
              <a:t xml:space="preserve">	← source column</a:t>
            </a:r>
            <a:endParaRPr lang="en-US" sz="1150"/>
          </a:p>
        </p:txBody>
      </p:sp>
      <p:sp>
        <p:nvSpPr>
          <p:cNvPr id="120" name="Code line 120"/>
          <p:cNvSpPr txBox="1"/>
          <p:nvPr/>
        </p:nvSpPr>
        <p:spPr>
          <a:xfrm>
            <a:off x="4983480" y="5176207"/>
            <a:ext cx="6217920" cy="195540"/>
          </a:xfrm>
          <a:prstGeom prst="rect">
            <a:avLst/>
          </a:prstGeom>
          <a:noFill/>
        </p:spPr>
        <p:txBody>
          <a:bodyPr wrap="none" lIns="146304" tIns="0" rIns="0" bIns="0" anchor="ctr">
            <a:noAutofit/>
          </a:bodyPr>
          <a:lstStyle/>
          <a:p>
            <a:pPr>
              <a:tabLst>
                <a:tab pos="4224528" algn="l"/>
              </a:tabLst>
            </a:pPr>
            <a:r>
              <a:rPr lang="en-US" sz="1150" b="1" i="0" dirty="0">
                <a:solidFill>
                  <a:srgbClr val="0B6E4F"/>
                </a:solidFill>
                <a:latin typeface="Consolas"/>
                <a:cs typeface="Consolas"/>
              </a:rPr>
              <a:t xml:space="preserve">DataProperty:</a:t>
            </a:r>
            <a:r>
              <a:rPr lang="en-US" sz="1150" b="0" i="0" dirty="0">
                <a:solidFill>
                  <a:srgbClr val="1F2328"/>
                </a:solidFill>
                <a:latin typeface="Consolas"/>
                <a:cs typeface="Consolas"/>
              </a:rPr>
              <a:t xml:space="preserve"> </a:t>
            </a:r>
            <a:r>
              <a:rPr lang="en-US" sz="1150" b="0" i="0" dirty="0">
                <a:solidFill>
                  <a:srgbClr val="1F2328"/>
                </a:solidFill>
                <a:latin typeface="Consolas"/>
                <a:cs typeface="Consolas"/>
              </a:rPr>
              <a:t xml:space="preserve">ecog_stage</a:t>
            </a:r>
            <a:endParaRPr lang="en-US" sz="1150"/>
          </a:p>
        </p:txBody>
      </p:sp>
      <p:sp>
        <p:nvSpPr>
          <p:cNvPr id="121" name="Code line 121"/>
          <p:cNvSpPr txBox="1"/>
          <p:nvPr/>
        </p:nvSpPr>
        <p:spPr>
          <a:xfrm>
            <a:off x="4983480" y="5371748"/>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1" i="0" dirty="0">
                <a:solidFill>
                  <a:srgbClr val="0B6E4F"/>
                </a:solidFill>
                <a:latin typeface="Consolas"/>
                <a:cs typeface="Consolas"/>
              </a:rPr>
              <a:t xml:space="preserve">Annotations:</a:t>
            </a:r>
            <a:endParaRPr lang="en-US" sz="1150"/>
          </a:p>
        </p:txBody>
      </p:sp>
      <p:sp>
        <p:nvSpPr>
          <p:cNvPr id="122" name="Code line 122"/>
          <p:cNvSpPr txBox="1"/>
          <p:nvPr/>
        </p:nvSpPr>
        <p:spPr>
          <a:xfrm>
            <a:off x="4983480" y="5567289"/>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rdfs:label</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"ECOG Performance Status"@en</a:t>
            </a:r>
            <a:r>
              <a:rPr lang="en-US" sz="1150" b="0" i="0" dirty="0">
                <a:solidFill>
                  <a:srgbClr val="1F2328"/>
                </a:solidFill>
                <a:latin typeface="Consolas"/>
                <a:cs typeface="Consolas"/>
              </a:rPr>
              <a:t xml:space="preserve">,</a:t>
            </a:r>
            <a:r>
              <a:rPr lang="en-US" sz="1100" b="0" i="1" dirty="0">
                <a:solidFill>
                  <a:srgbClr val="2F6B78"/>
                </a:solidFill>
                <a:latin typeface="Calibri"/>
                <a:cs typeface="Calibri"/>
              </a:rPr>
              <a:t xml:space="preserve">	← documentation</a:t>
            </a:r>
            <a:endParaRPr lang="en-US" sz="1150"/>
          </a:p>
        </p:txBody>
      </p:sp>
      <p:sp>
        <p:nvSpPr>
          <p:cNvPr id="123" name="Code line 123"/>
          <p:cNvSpPr txBox="1"/>
          <p:nvPr/>
        </p:nvSpPr>
        <p:spPr>
          <a:xfrm>
            <a:off x="4983480" y="5762830"/>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rdfs:comment</a:t>
            </a:r>
            <a:r>
              <a:rPr lang="en-US" sz="1150" b="0" i="0" dirty="0">
                <a:solidFill>
                  <a:srgbClr val="1F2328"/>
                </a:solidFill>
                <a:latin typeface="Consolas"/>
                <a:cs typeface="Consolas"/>
              </a:rPr>
              <a:t xml:space="preserve"> </a:t>
            </a:r>
            <a:r>
              <a:rPr lang="en-US" sz="1150" b="0" i="0" dirty="0">
                <a:solidFill>
                  <a:srgbClr val="A3401E"/>
                </a:solidFill>
                <a:latin typeface="Consolas"/>
                <a:cs typeface="Consolas"/>
              </a:rPr>
              <a:t xml:space="preserve">"0 = fully active … 5 = dead"@en</a:t>
            </a:r>
            <a:r>
              <a:rPr lang="en-US" sz="1150" b="0" i="0" dirty="0">
                <a:solidFill>
                  <a:srgbClr val="1F2328"/>
                </a:solidFill>
                <a:latin typeface="Consolas"/>
                <a:cs typeface="Consolas"/>
              </a:rPr>
              <a:t xml:space="preserve">,</a:t>
            </a:r>
            <a:r>
              <a:rPr lang="en-US" sz="1100" b="0" i="1" dirty="0">
                <a:solidFill>
                  <a:srgbClr val="6F42C1"/>
                </a:solidFill>
                <a:latin typeface="Calibri"/>
                <a:cs typeface="Calibri"/>
              </a:rPr>
              <a:t xml:space="preserve">	← LLM knowledge</a:t>
            </a:r>
            <a:endParaRPr lang="en-US" sz="1150"/>
          </a:p>
        </p:txBody>
      </p:sp>
      <p:sp>
        <p:nvSpPr>
          <p:cNvPr id="124" name="Code line 124"/>
          <p:cNvSpPr txBox="1"/>
          <p:nvPr/>
        </p:nvSpPr>
        <p:spPr>
          <a:xfrm>
            <a:off x="4983480" y="5958371"/>
            <a:ext cx="6217920" cy="195540"/>
          </a:xfrm>
          <a:prstGeom prst="rect">
            <a:avLst/>
          </a:prstGeom>
          <a:noFill/>
        </p:spPr>
        <p:txBody>
          <a:bodyPr wrap="none" lIns="146304" tIns="0" rIns="0" bIns="0" anchor="ctr">
            <a:noAutofit/>
          </a:bodyPr>
          <a:lstStyle/>
          <a:p>
            <a:pPr>
              <a:tabLst>
                <a:tab pos="4224528" algn="l"/>
              </a:tabLst>
            </a:pPr>
            <a:r>
              <a:rPr lang="en-US" sz="1150" b="0" i="0" dirty="0">
                <a:solidFill>
                  <a:srgbClr val="1F2328"/>
                </a:solidFill>
                <a:latin typeface="Consolas"/>
                <a:cs typeface="Consolas"/>
              </a:rPr>
              <a:t xml:space="preserve">    </a:t>
            </a:r>
            <a:r>
              <a:rPr lang="en-US" sz="1150" b="0" i="0" dirty="0">
                <a:solidFill>
                  <a:srgbClr val="5B6770"/>
                </a:solidFill>
                <a:latin typeface="Consolas"/>
                <a:cs typeface="Consolas"/>
              </a:rPr>
              <a:t xml:space="preserve">prov:wasDerivedFrom</a:t>
            </a:r>
            <a:r>
              <a:rPr lang="en-US" sz="1150" b="0" i="0" dirty="0">
                <a:solidFill>
                  <a:srgbClr val="1F2328"/>
                </a:solidFill>
                <a:latin typeface="Consolas"/>
                <a:cs typeface="Consolas"/>
              </a:rPr>
              <a:t xml:space="preserve"> </a:t>
            </a:r>
            <a:r>
              <a:rPr lang="en-US" sz="1150" b="0" i="0" dirty="0">
                <a:solidFill>
                  <a:srgbClr val="2F6B78"/>
                </a:solidFill>
                <a:latin typeface="Consolas"/>
                <a:cs typeface="Consolas"/>
              </a:rPr>
              <a:t xml:space="preserve">admission:ecog_stage</a:t>
            </a:r>
            <a:r>
              <a:rPr lang="en-US" sz="1100" b="0" i="1" dirty="0">
                <a:solidFill>
                  <a:srgbClr val="5B6770"/>
                </a:solidFill>
                <a:latin typeface="Calibri"/>
                <a:cs typeface="Calibri"/>
              </a:rPr>
              <a:t xml:space="preserve">	← source column</a:t>
            </a:r>
            <a:endParaRPr lang="en-US" sz="1150"/>
          </a:p>
        </p:txBody>
      </p:sp>
      <p:sp>
        <p:nvSpPr>
          <p:cNvPr id="125" name="What this enables"/>
          <p:cNvSpPr/>
          <p:nvPr/>
        </p:nvSpPr>
        <p:spPr>
          <a:xfrm>
            <a:off x="1005840" y="4919472"/>
            <a:ext cx="2606040" cy="1261872"/>
          </a:xfrm>
          <a:prstGeom prst="rect">
            <a:avLst/>
          </a:prstGeom>
          <a:noFill/>
          <a:ln>
            <a:noFill/>
          </a:ln>
        </p:spPr>
        <p:txBody>
          <a:bodyPr wrap="square" lIns="0" tIns="0" rIns="0" bIns="0" anchor="t">
            <a:noAutofit/>
          </a:bodyPr>
          <a:lstStyle/>
          <a:p>
            <a:pPr algn="l">
              <a:spcAft>
                <a:spcPts val="500"/>
              </a:spcAft>
            </a:pPr>
            <a:r>
              <a:rPr lang="en-US" sz="1150" b="1" i="0" dirty="0">
                <a:solidFill>
                  <a:srgbClr val="0B6E4F"/>
                </a:solidFill>
                <a:latin typeface="Consolas"/>
                <a:cs typeface="Consolas"/>
              </a:rPr>
              <a:t xml:space="preserve">WHAT THIS ENABLES</a:t>
            </a:r>
          </a:p>
          <a:p>
            <a:pPr algn="l">
              <a:spcAft>
                <a:spcPts val="300"/>
              </a:spcAft>
            </a:pPr>
            <a:r>
              <a:rPr lang="en-US" sz="1400" b="0" i="0" dirty="0">
                <a:solidFill>
                  <a:srgbClr val="1F2328"/>
                </a:solidFill>
                <a:latin typeface="Calibri"/>
                <a:cs typeface="Calibri"/>
              </a:rPr>
              <a:t xml:space="preserve">Concept-based access</a:t>
            </a:r>
          </a:p>
          <a:p>
            <a:pPr algn="l">
              <a:spcAft>
                <a:spcPts val="300"/>
              </a:spcAft>
            </a:pPr>
            <a:r>
              <a:rPr lang="en-US" sz="1400" b="0" i="0" dirty="0">
                <a:solidFill>
                  <a:srgbClr val="1F2328"/>
                </a:solidFill>
                <a:latin typeface="Calibri"/>
                <a:cs typeface="Calibri"/>
              </a:rPr>
              <a:t xml:space="preserve">Knowledge graph population</a:t>
            </a:r>
          </a:p>
          <a:p>
            <a:pPr algn="l">
              <a:spcAft>
                <a:spcPts val="300"/>
              </a:spcAft>
            </a:pPr>
            <a:r>
              <a:rPr lang="en-US" sz="1400" b="0" i="0" dirty="0">
                <a:solidFill>
                  <a:srgbClr val="1F2328"/>
                </a:solidFill>
                <a:latin typeface="Calibri"/>
                <a:cs typeface="Calibri"/>
              </a:rPr>
              <a:t xml:space="preserve">Cross-system interoperability</a:t>
            </a:r>
          </a:p>
        </p:txBody>
      </p:sp>
    </p:spTree>
  </p:cSld>
  <p:clrMapOvr>
    <a:masterClrMapping/>
  </p:clrMapOvr>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8"/>
                                        </p:tgtEl>
                                        <p:attrNameLst>
                                          <p:attrName>style.visibility</p:attrName>
                                        </p:attrNameLst>
                                      </p:cBhvr>
                                      <p:to>
                                        <p:strVal val="visible"/>
                                      </p:to>
                                    </p:set>
                                    <p:animEffect transition="in" filter="fade">
                                      <p:cBhvr>
                                        <p:cTn id="5" dur="250"/>
                                        <p:tgtEl>
                                          <p:spTgt spid="8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9"/>
                                        </p:tgtEl>
                                        <p:attrNameLst>
                                          <p:attrName>style.visibility</p:attrName>
                                        </p:attrNameLst>
                                      </p:cBhvr>
                                      <p:to>
                                        <p:strVal val="visible"/>
                                      </p:to>
                                    </p:set>
                                    <p:animEffect transition="in" filter="fade">
                                      <p:cBhvr>
                                        <p:cTn id="8" dur="250"/>
                                        <p:tgtEl>
                                          <p:spTgt spid="8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fade">
                                      <p:cBhvr>
                                        <p:cTn id="11" dur="250"/>
                                        <p:tgtEl>
                                          <p:spTgt spid="9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1"/>
                                        </p:tgtEl>
                                        <p:attrNameLst>
                                          <p:attrName>style.visibility</p:attrName>
                                        </p:attrNameLst>
                                      </p:cBhvr>
                                      <p:to>
                                        <p:strVal val="visible"/>
                                      </p:to>
                                    </p:set>
                                    <p:animEffect transition="in" filter="fade">
                                      <p:cBhvr>
                                        <p:cTn id="14" dur="250"/>
                                        <p:tgtEl>
                                          <p:spTgt spid="9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92"/>
                                        </p:tgtEl>
                                        <p:attrNameLst>
                                          <p:attrName>style.visibility</p:attrName>
                                        </p:attrNameLst>
                                      </p:cBhvr>
                                      <p:to>
                                        <p:strVal val="visible"/>
                                      </p:to>
                                    </p:set>
                                    <p:animEffect transition="in" filter="fade">
                                      <p:cBhvr>
                                        <p:cTn id="17" dur="250"/>
                                        <p:tgtEl>
                                          <p:spTgt spid="9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3"/>
                                        </p:tgtEl>
                                        <p:attrNameLst>
                                          <p:attrName>style.visibility</p:attrName>
                                        </p:attrNameLst>
                                      </p:cBhvr>
                                      <p:to>
                                        <p:strVal val="visible"/>
                                      </p:to>
                                    </p:set>
                                    <p:animEffect transition="in" filter="fade">
                                      <p:cBhvr>
                                        <p:cTn id="20" dur="250"/>
                                        <p:tgtEl>
                                          <p:spTgt spid="9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4"/>
                                        </p:tgtEl>
                                        <p:attrNameLst>
                                          <p:attrName>style.visibility</p:attrName>
                                        </p:attrNameLst>
                                      </p:cBhvr>
                                      <p:to>
                                        <p:strVal val="visible"/>
                                      </p:to>
                                    </p:set>
                                    <p:animEffect transition="in" filter="fade">
                                      <p:cBhvr>
                                        <p:cTn id="23" dur="250"/>
                                        <p:tgtEl>
                                          <p:spTgt spid="9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250"/>
                                        <p:tgtEl>
                                          <p:spTgt spid="1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3"/>
                                        </p:tgtEl>
                                        <p:attrNameLst>
                                          <p:attrName>style.visibility</p:attrName>
                                        </p:attrNameLst>
                                      </p:cBhvr>
                                      <p:to>
                                        <p:strVal val="visible"/>
                                      </p:to>
                                    </p:set>
                                    <p:animEffect transition="in" filter="fade">
                                      <p:cBhvr>
                                        <p:cTn id="29" dur="250"/>
                                        <p:tgtEl>
                                          <p:spTgt spid="1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5"/>
                                        </p:tgtEl>
                                        <p:attrNameLst>
                                          <p:attrName>style.visibility</p:attrName>
                                        </p:attrNameLst>
                                      </p:cBhvr>
                                      <p:to>
                                        <p:strVal val="visible"/>
                                      </p:to>
                                    </p:set>
                                    <p:animEffect transition="in" filter="fade">
                                      <p:cBhvr>
                                        <p:cTn id="32" dur="250"/>
                                        <p:tgtEl>
                                          <p:spTgt spid="1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6"/>
                                        </p:tgtEl>
                                        <p:attrNameLst>
                                          <p:attrName>style.visibility</p:attrName>
                                        </p:attrNameLst>
                                      </p:cBhvr>
                                      <p:to>
                                        <p:strVal val="visible"/>
                                      </p:to>
                                    </p:set>
                                    <p:animEffect transition="in" filter="fade">
                                      <p:cBhvr>
                                        <p:cTn id="35" dur="250"/>
                                        <p:tgtEl>
                                          <p:spTgt spid="1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9"/>
                                        </p:tgtEl>
                                        <p:attrNameLst>
                                          <p:attrName>style.visibility</p:attrName>
                                        </p:attrNameLst>
                                      </p:cBhvr>
                                      <p:to>
                                        <p:strVal val="visible"/>
                                      </p:to>
                                    </p:set>
                                    <p:animEffect transition="in" filter="fade">
                                      <p:cBhvr>
                                        <p:cTn id="38" dur="250"/>
                                        <p:tgtEl>
                                          <p:spTgt spid="1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0"/>
                                        </p:tgtEl>
                                        <p:attrNameLst>
                                          <p:attrName>style.visibility</p:attrName>
                                        </p:attrNameLst>
                                      </p:cBhvr>
                                      <p:to>
                                        <p:strVal val="visible"/>
                                      </p:to>
                                    </p:set>
                                    <p:animEffect transition="in" filter="fade">
                                      <p:cBhvr>
                                        <p:cTn id="41" dur="250"/>
                                        <p:tgtEl>
                                          <p:spTgt spid="1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1"/>
                                        </p:tgtEl>
                                        <p:attrNameLst>
                                          <p:attrName>style.visibility</p:attrName>
                                        </p:attrNameLst>
                                      </p:cBhvr>
                                      <p:to>
                                        <p:strVal val="visible"/>
                                      </p:to>
                                    </p:set>
                                    <p:animEffect transition="in" filter="fade">
                                      <p:cBhvr>
                                        <p:cTn id="44" dur="250"/>
                                        <p:tgtEl>
                                          <p:spTgt spid="1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4"/>
                                        </p:tgtEl>
                                        <p:attrNameLst>
                                          <p:attrName>style.visibility</p:attrName>
                                        </p:attrNameLst>
                                      </p:cBhvr>
                                      <p:to>
                                        <p:strVal val="visible"/>
                                      </p:to>
                                    </p:set>
                                    <p:animEffect transition="in" filter="fade">
                                      <p:cBhvr>
                                        <p:cTn id="47" dur="250"/>
                                        <p:tgtEl>
                                          <p:spTgt spid="124"/>
                                        </p:tgtEl>
                                      </p:cBhvr>
                                    </p:animEffect>
                                  </p:childTnLst>
                                </p:cTn>
                              </p:par>
                            </p:childTnLst>
                          </p:cTn>
                        </p:par>
                      </p:childTnLst>
                    </p:cTn>
                  </p:par>
                  <p:par>
                    <p:cTn id="56" fill="hold">
                      <p:stCondLst>
                        <p:cond delay="indefinite"/>
                      </p:stCondLst>
                      <p:childTnLst>
                        <p:par>
                          <p:cTn id="57"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17"/>
                                        </p:tgtEl>
                                        <p:attrNameLst>
                                          <p:attrName>style.visibility</p:attrName>
                                        </p:attrNameLst>
                                      </p:cBhvr>
                                      <p:to>
                                        <p:strVal val="visible"/>
                                      </p:to>
                                    </p:set>
                                    <p:animEffect transition="in" filter="fade">
                                      <p:cBhvr>
                                        <p:cTn id="52" dur="250"/>
                                        <p:tgtEl>
                                          <p:spTgt spid="1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22"/>
                                        </p:tgtEl>
                                        <p:attrNameLst>
                                          <p:attrName>style.visibility</p:attrName>
                                        </p:attrNameLst>
                                      </p:cBhvr>
                                      <p:to>
                                        <p:strVal val="visible"/>
                                      </p:to>
                                    </p:set>
                                    <p:animEffect transition="in" filter="fade">
                                      <p:cBhvr>
                                        <p:cTn id="55" dur="250"/>
                                        <p:tgtEl>
                                          <p:spTgt spid="122"/>
                                        </p:tgtEl>
                                      </p:cBhvr>
                                    </p:animEffect>
                                  </p:childTnLst>
                                </p:cTn>
                              </p:par>
                            </p:childTnLst>
                          </p:cTn>
                        </p:par>
                      </p:childTnLst>
                    </p:cTn>
                  </p:par>
                  <p:par>
                    <p:cTn id="61" fill="hold">
                      <p:stCondLst>
                        <p:cond delay="indefinite"/>
                      </p:stCondLst>
                      <p:childTnLst>
                        <p:par>
                          <p:cTn id="62"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18"/>
                                        </p:tgtEl>
                                        <p:attrNameLst>
                                          <p:attrName>style.visibility</p:attrName>
                                        </p:attrNameLst>
                                      </p:cBhvr>
                                      <p:to>
                                        <p:strVal val="visible"/>
                                      </p:to>
                                    </p:set>
                                    <p:animEffect transition="in" filter="fade">
                                      <p:cBhvr>
                                        <p:cTn id="60" dur="250"/>
                                        <p:tgtEl>
                                          <p:spTgt spid="118"/>
                                        </p:tgtEl>
                                      </p:cBhvr>
                                    </p:animEffect>
                                  </p:childTnLst>
                                </p:cTn>
                              </p:par>
                            </p:childTnLst>
                          </p:cTn>
                        </p:par>
                      </p:childTnLst>
                    </p:cTn>
                  </p:par>
                  <p:par>
                    <p:cTn id="69" fill="hold">
                      <p:stCondLst>
                        <p:cond delay="indefinite"/>
                      </p:stCondLst>
                      <p:childTnLst>
                        <p:par>
                          <p:cTn id="70"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114"/>
                                        </p:tgtEl>
                                        <p:attrNameLst>
                                          <p:attrName>style.visibility</p:attrName>
                                        </p:attrNameLst>
                                      </p:cBhvr>
                                      <p:to>
                                        <p:strVal val="visible"/>
                                      </p:to>
                                    </p:set>
                                    <p:animEffect transition="in" filter="fade">
                                      <p:cBhvr>
                                        <p:cTn id="65" dur="250"/>
                                        <p:tgtEl>
                                          <p:spTgt spid="11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23"/>
                                        </p:tgtEl>
                                        <p:attrNameLst>
                                          <p:attrName>style.visibility</p:attrName>
                                        </p:attrNameLst>
                                      </p:cBhvr>
                                      <p:to>
                                        <p:strVal val="visible"/>
                                      </p:to>
                                    </p:set>
                                    <p:animEffect transition="in" filter="fade">
                                      <p:cBhvr>
                                        <p:cTn id="68" dur="250"/>
                                        <p:tgtEl>
                                          <p:spTgt spid="123"/>
                                        </p:tgtEl>
                                      </p:cBhvr>
                                    </p:animEffect>
                                  </p:childTnLst>
                                </p:cTn>
                              </p:par>
                            </p:childTnLst>
                          </p:cTn>
                        </p:par>
                      </p:childTnLst>
                    </p:cTn>
                  </p:par>
                  <p:par>
                    <p:cTn id="77" fill="hold">
                      <p:stCondLst>
                        <p:cond delay="indefinite"/>
                      </p:stCondLst>
                      <p:childTnLst>
                        <p:par>
                          <p:cTn id="78"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02"/>
                                        </p:tgtEl>
                                        <p:attrNameLst>
                                          <p:attrName>style.visibility</p:attrName>
                                        </p:attrNameLst>
                                      </p:cBhvr>
                                      <p:to>
                                        <p:strVal val="visible"/>
                                      </p:to>
                                    </p:set>
                                    <p:animEffect transition="in" filter="fade">
                                      <p:cBhvr>
                                        <p:cTn id="73" dur="250"/>
                                        <p:tgtEl>
                                          <p:spTgt spid="10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125"/>
                                        </p:tgtEl>
                                        <p:attrNameLst>
                                          <p:attrName>style.visibility</p:attrName>
                                        </p:attrNameLst>
                                      </p:cBhvr>
                                      <p:to>
                                        <p:strVal val="visible"/>
                                      </p:to>
                                    </p:set>
                                    <p:animEffect transition="in" filter="fade">
                                      <p:cBhvr>
                                        <p:cTn id="76" dur="25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P spid="90" grpId="0" animBg="1"/>
      <p:bldP spid="91" grpId="0" animBg="1"/>
      <p:bldP spid="93" grpId="0" animBg="1"/>
      <p:bldP spid="94" grpId="0" animBg="1"/>
      <p:bldP spid="112" grpId="0" animBg="1"/>
      <p:bldP spid="113" grpId="0" animBg="1"/>
      <p:bldP spid="115" grpId="0" animBg="1"/>
      <p:bldP spid="116" grpId="0" animBg="1"/>
      <p:bldP spid="119" grpId="0" animBg="1"/>
      <p:bldP spid="120" grpId="0" animBg="1"/>
      <p:bldP spid="121" grpId="0" animBg="1"/>
      <p:bldP spid="124" grpId="0" animBg="1"/>
      <p:bldP spid="117" grpId="0" animBg="1"/>
      <p:bldP spid="122" grpId="0" animBg="1"/>
      <p:bldP spid="118" grpId="0" animBg="1"/>
      <p:bldP spid="114" grpId="0" animBg="1"/>
      <p:bldP spid="123" grpId="0" animBg="1"/>
      <p:bldP spid="102" grpId="0" animBg="1"/>
      <p:bldP spid="125" grpId="0" animBg="1"/>
    </p:bld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5138928"/>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5312664"/>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5257800"/>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
        <p:nvSpPr>
          <p:cNvPr id="126" name="References"/>
          <p:cNvSpPr/>
          <p:nvPr/>
        </p:nvSpPr>
        <p:spPr>
          <a:xfrm>
            <a:off x="841248" y="4526280"/>
            <a:ext cx="5074920" cy="457200"/>
          </a:xfrm>
          <a:prstGeom prst="rect">
            <a:avLst/>
          </a:prstGeom>
          <a:noFill/>
          <a:ln>
            <a:noFill/>
          </a:ln>
        </p:spPr>
        <p:txBody>
          <a:bodyPr wrap="square" lIns="0" tIns="0" rIns="0" bIns="0" anchor="t">
            <a:noAutofit/>
          </a:bodyPr>
          <a:lstStyle/>
          <a:p>
            <a:pPr algn="l">
              <a:spcAft>
                <a:spcPts val="0"/>
              </a:spcAft>
            </a:pPr>
            <a:r>
              <a:rPr lang="en-US" sz="1000" b="1" i="0" dirty="0">
                <a:solidFill>
                  <a:srgbClr val="5B6770"/>
                </a:solidFill>
                <a:latin typeface="Calibri"/>
                <a:cs typeface="Calibri"/>
              </a:rPr>
              <a:t xml:space="preserve">W3C Direct Mapping</a:t>
            </a:r>
            <a:r>
              <a:rPr lang="en-US" sz="1000" b="0" i="0" dirty="0">
                <a:solidFill>
                  <a:srgbClr val="5B6770"/>
                </a:solidFill>
                <a:latin typeface="Calibri"/>
                <a:cs typeface="Calibri"/>
              </a:rPr>
              <a:t xml:space="preserve"> [Arenas et al. 2012; Sequeda et al. 2012]</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BootOX</a:t>
            </a:r>
            <a:r>
              <a:rPr lang="en-US" sz="1000" b="0" i="0" dirty="0">
                <a:solidFill>
                  <a:srgbClr val="5B6770"/>
                </a:solidFill>
                <a:latin typeface="Calibri"/>
                <a:cs typeface="Calibri"/>
              </a:rPr>
              <a:t xml:space="preserve"> [Jiménez‑Ruiz et al., ISWC 2015]</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Ben Mahria et al.</a:t>
            </a:r>
            <a:r>
              <a:rPr lang="en-US" sz="1000" b="0" i="0" dirty="0">
                <a:solidFill>
                  <a:srgbClr val="5B6770"/>
                </a:solidFill>
                <a:latin typeface="Calibri"/>
                <a:cs typeface="Calibri"/>
              </a:rPr>
              <a:t xml:space="preserve"> [J. Big Data 2021]</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RODI benchmark</a:t>
            </a:r>
            <a:r>
              <a:rPr lang="en-US" sz="1000" b="0" i="0" dirty="0">
                <a:solidFill>
                  <a:srgbClr val="5B6770"/>
                </a:solidFill>
                <a:latin typeface="Calibri"/>
                <a:cs typeface="Calibri"/>
              </a:rPr>
              <a:t xml:space="preserve"> [Pinkel et al., SWJ 2017]</a:t>
            </a:r>
          </a:p>
        </p:txBody>
      </p:sp>
      <p:sp>
        <p:nvSpPr>
          <p:cNvPr id="127" name="References"/>
          <p:cNvSpPr/>
          <p:nvPr/>
        </p:nvSpPr>
        <p:spPr>
          <a:xfrm>
            <a:off x="6245352" y="4526280"/>
            <a:ext cx="5111496" cy="457200"/>
          </a:xfrm>
          <a:prstGeom prst="rect">
            <a:avLst/>
          </a:prstGeom>
          <a:noFill/>
          <a:ln>
            <a:noFill/>
          </a:ln>
        </p:spPr>
        <p:txBody>
          <a:bodyPr wrap="square" lIns="0" tIns="0" rIns="0" bIns="0" anchor="t">
            <a:noAutofit/>
          </a:bodyPr>
          <a:lstStyle/>
          <a:p>
            <a:pPr algn="l">
              <a:spcAft>
                <a:spcPts val="0"/>
              </a:spcAft>
            </a:pPr>
            <a:r>
              <a:rPr lang="en-US" sz="1000" b="1" i="0" dirty="0">
                <a:solidFill>
                  <a:srgbClr val="5B6770"/>
                </a:solidFill>
                <a:latin typeface="Calibri"/>
                <a:cs typeface="Calibri"/>
              </a:rPr>
              <a:t xml:space="preserve">LLMs4OL</a:t>
            </a:r>
            <a:r>
              <a:rPr lang="en-US" sz="1000" b="0" i="0" dirty="0">
                <a:solidFill>
                  <a:srgbClr val="5B6770"/>
                </a:solidFill>
                <a:latin typeface="Calibri"/>
                <a:cs typeface="Calibri"/>
              </a:rPr>
              <a:t xml:space="preserve"> [Babaei Giglou et al., ISWC 2023]</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Mateiu &amp; Groza</a:t>
            </a:r>
            <a:r>
              <a:rPr lang="en-US" sz="1000" b="0" i="0" dirty="0">
                <a:solidFill>
                  <a:srgbClr val="5B6770"/>
                </a:solidFill>
                <a:latin typeface="Calibri"/>
                <a:cs typeface="Calibri"/>
              </a:rPr>
              <a:t xml:space="preserve"> [SYNASC 2023]</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OntoGenix</a:t>
            </a:r>
            <a:r>
              <a:rPr lang="en-US" sz="1000" b="0" i="0" dirty="0">
                <a:solidFill>
                  <a:srgbClr val="5B6770"/>
                </a:solidFill>
                <a:latin typeface="Calibri"/>
                <a:cs typeface="Calibri"/>
              </a:rPr>
              <a:t xml:space="preserve"> [Val‑Calvo et al., IP&amp;M 2025]</a:t>
            </a:r>
            <a:r>
              <a:rPr lang="en-US" sz="1000" b="0" i="0" dirty="0">
                <a:solidFill>
                  <a:srgbClr val="5B6770"/>
                </a:solidFill>
                <a:latin typeface="Calibri"/>
                <a:cs typeface="Calibri"/>
              </a:rPr>
              <a:t xml:space="preserve">  ·  </a:t>
            </a:r>
            <a:r>
              <a:rPr lang="en-US" sz="1000" b="1" i="0" dirty="0">
                <a:solidFill>
                  <a:srgbClr val="5B6770"/>
                </a:solidFill>
                <a:latin typeface="Calibri"/>
                <a:cs typeface="Calibri"/>
              </a:rPr>
              <a:t xml:space="preserve">LLM4VKG</a:t>
            </a:r>
            <a:r>
              <a:rPr lang="en-US" sz="1000" b="0" i="0" dirty="0">
                <a:solidFill>
                  <a:srgbClr val="5B6770"/>
                </a:solidFill>
                <a:latin typeface="Calibri"/>
                <a:cs typeface="Calibri"/>
              </a:rPr>
              <a:t xml:space="preserve"> [Xiao et al., IJCAI 2025]</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