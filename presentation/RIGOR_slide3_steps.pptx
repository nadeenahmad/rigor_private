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IBM Plex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QeWckLYBefKtQvcvZEAnYe8/q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BMPlexSans-regular.fntdata"/><Relationship Id="rId10" Type="http://schemas.openxmlformats.org/officeDocument/2006/relationships/slide" Target="slides/slide6.xml"/><Relationship Id="rId13" Type="http://schemas.openxmlformats.org/officeDocument/2006/relationships/font" Target="fonts/IBMPlexSans-italic.fntdata"/><Relationship Id="rId12" Type="http://schemas.openxmlformats.org/officeDocument/2006/relationships/font" Target="fonts/IBMPlex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IBMPlex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2627160d5792b11b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h2627160d5792b11b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[1:07–1:59]  SPOKEN SCRIPT (91 words)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what we want. [click] First, what the schema alone gives us: Admission becomes a class with a real relation to PatientData, and every property points back to its source column. [click] The documentation adds human-readable labels: Bone Marrow Depression, ECOG Performance Status. [click] A standard vocabulary adds a link to the Disease Ontology. [click] And the LLM's own knowledge adds what the ECOG codes mean, and that an admission is not a patient. [click] That is a usable semantic model. The challenge is to add all this without losing a single column or link.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Five clicks, one per knowledge source: schema, documentation, Disease Ontology, LLM knowledge, then 'What this enables'. The gloss colours match the sources.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A usable model combines schema, documentation, standard vocabularies and LLM knowledge.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Illustrative fragment, verified with the OWL API at every reveal step (presentation/excerpts/slide03_*.omn). obo:DOID_4961 = Disease Ontology 'bone marrow disease'; skos:relatedMatch, not exactMatch, because BM_DEP is a yes/no column, not the disease. Provenance is column-level, as defined in paper Section 3.2.</a:t>
            </a:r>
            <a:endParaRPr/>
          </a:p>
        </p:txBody>
      </p:sp>
      <p:sp>
        <p:nvSpPr>
          <p:cNvPr id="19" name="Google Shape;19;h2627160d5792b11b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h2627160d5792b11b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h2627160d5792b11b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[1:07–1:59]  SPOKEN SCRIPT (91 words)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what we want. [click] First, what the schema alone gives us: Admission becomes a class with a real relation to PatientData, and every property points back to its source column. [click] The documentation adds human-readable labels: Bone Marrow Depression, ECOG Performance Status. [click] A standard vocabulary adds a link to the Disease Ontology. [click] And the LLM's own knowledge adds what the ECOG codes mean, and that an admission is not a patient. [click] That is a usable semantic model. The challenge is to add all this without losing a single column or link.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Five clicks, one per knowledge source: schema, documentation, Disease Ontology, LLM knowledge, then 'What this enables'. The gloss colours match the sources.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A usable model combines schema, documentation, standard vocabularies and LLM knowledge.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Illustrative fragment, verified with the OWL API at every reveal step (presentation/excerpts/slide03_*.omn). obo:DOID_4961 = Disease Ontology 'bone marrow disease'; skos:relatedMatch, not exactMatch, because BM_DEP is a yes/no column, not the disease. Provenance is column-level, as defined in paper Section 3.2.</a:t>
            </a:r>
            <a:endParaRPr/>
          </a:p>
        </p:txBody>
      </p:sp>
      <p:sp>
        <p:nvSpPr>
          <p:cNvPr id="41" name="Google Shape;41;h2627160d5792b11b_0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627160d5792b11b_0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h2627160d5792b11b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[1:07–1:59]  SPOKEN SCRIPT (91 words)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what we want. [click] First, what the schema alone gives us: Admission becomes a class with a real relation to PatientData, and every property points back to its source column. [click] The documentation adds human-readable labels: Bone Marrow Depression, ECOG Performance Status. [click] A standard vocabulary adds a link to the Disease Ontology. [click] And the LLM's own knowledge adds what the ECOG codes mean, and that an admission is not a patient. [click] That is a usable semantic model. The challenge is to add all this without losing a single column or link.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Five clicks, one per knowledge source: schema, documentation, Disease Ontology, LLM knowledge, then 'What this enables'. The gloss colours match the sources.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A usable model combines schema, documentation, standard vocabularies and LLM knowledge.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Illustrative fragment, verified with the OWL API at every reveal step (presentation/excerpts/slide03_*.omn). obo:DOID_4961 = Disease Ontology 'bone marrow disease'; skos:relatedMatch, not exactMatch, because BM_DEP is a yes/no column, not the disease. Provenance is column-level, as defined in paper Section 3.2.</a:t>
            </a:r>
            <a:endParaRPr/>
          </a:p>
        </p:txBody>
      </p:sp>
      <p:sp>
        <p:nvSpPr>
          <p:cNvPr id="78" name="Google Shape;78;h2627160d5792b11b_0_1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2627160d5792b11b_0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h2627160d5792b11b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[1:07–1:59]  SPOKEN SCRIPT (91 words)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what we want. [click] First, what the schema alone gives us: Admission becomes a class with a real relation to PatientData, and every property points back to its source column. [click] The documentation adds human-readable labels: Bone Marrow Depression, ECOG Performance Status. [click] A standard vocabulary adds a link to the Disease Ontology. [click] And the LLM's own knowledge adds what the ECOG codes mean, and that an admission is not a patient. [click] That is a usable semantic model. The challenge is to add all this without losing a single column or link.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Five clicks, one per knowledge source: schema, documentation, Disease Ontology, LLM knowledge, then 'What this enables'. The gloss colours match the sources.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A usable model combines schema, documentation, standard vocabularies and LLM knowledge.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Illustrative fragment, verified with the OWL API at every reveal step (presentation/excerpts/slide03_*.omn). obo:DOID_4961 = Disease Ontology 'bone marrow disease'; skos:relatedMatch, not exactMatch, because BM_DEP is a yes/no column, not the disease. Provenance is column-level, as defined in paper Section 3.2.</a:t>
            </a:r>
            <a:endParaRPr/>
          </a:p>
        </p:txBody>
      </p:sp>
      <p:sp>
        <p:nvSpPr>
          <p:cNvPr id="117" name="Google Shape;117;h2627160d5792b11b_0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2627160d5792b11b_0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h2627160d5792b11b_0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[1:07–1:59]  SPOKEN SCRIPT (91 words)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what we want. [click] First, what the schema alone gives us: Admission becomes a class with a real relation to PatientData, and every property points back to its source column. [click] The documentation adds human-readable labels: Bone Marrow Depression, ECOG Performance Status. [click] A standard vocabulary adds a link to the Disease Ontology. [click] And the LLM's own knowledge adds what the ECOG codes mean, and that an admission is not a patient. [click] That is a usable semantic model. The challenge is to add all this without losing a single column or link.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Five clicks, one per knowledge source: schema, documentation, Disease Ontology, LLM knowledge, then 'What this enables'. The gloss colours match the sources.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A usable model combines schema, documentation, standard vocabularies and LLM knowledge.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Illustrative fragment, verified with the OWL API at every reveal step (presentation/excerpts/slide03_*.omn). obo:DOID_4961 = Disease Ontology 'bone marrow disease'; skos:relatedMatch, not exactMatch, because BM_DEP is a yes/no column, not the disease. Provenance is column-level, as defined in paper Section 3.2.</a:t>
            </a:r>
            <a:endParaRPr/>
          </a:p>
        </p:txBody>
      </p:sp>
      <p:sp>
        <p:nvSpPr>
          <p:cNvPr id="157" name="Google Shape;157;h2627160d5792b11b_0_2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2627160d5792b11b_0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h2627160d5792b11b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[1:07–1:59]  SPOKEN SCRIPT (91 words)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what we want. [click] First, what the schema alone gives us: Admission becomes a class with a real relation to PatientData, and every property points back to its source column. [click] The documentation adds human-readable labels: Bone Marrow Depression, ECOG Performance Status. [click] A standard vocabulary adds a link to the Disease Ontology. [click] And the LLM's own knowledge adds what the ECOG codes mean, and that an admission is not a patient. [click] That is a usable semantic model. The challenge is to add all this without losing a single column or link.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Five clicks, one per knowledge source: schema, documentation, Disease Ontology, LLM knowledge, then 'What this enables'. The gloss colours match the sources.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A usable model combines schema, documentation, standard vocabularies and LLM knowledge.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Illustrative fragment, verified with the OWL API at every reveal step (presentation/excerpts/slide03_*.omn). obo:DOID_4961 = Disease Ontology 'bone marrow disease'; skos:relatedMatch, not exactMatch, because BM_DEP is a yes/no column, not the disease. Provenance is column-level, as defined in paper Section 3.2.</a:t>
            </a:r>
            <a:endParaRPr/>
          </a:p>
        </p:txBody>
      </p:sp>
      <p:sp>
        <p:nvSpPr>
          <p:cNvPr id="198" name="Google Shape;198;h2627160d5792b11b_0_2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sz="2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None/>
              <a:defRPr sz="16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b="0" i="0" sz="2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2627160d5792b11b_0_64"/>
          <p:cNvSpPr txBox="1"/>
          <p:nvPr/>
        </p:nvSpPr>
        <p:spPr>
          <a:xfrm>
            <a:off x="804672" y="521207"/>
            <a:ext cx="1069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WHAT WE WANT TO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h2627160d5792b11b_0_64"/>
          <p:cNvSpPr txBox="1"/>
          <p:nvPr/>
        </p:nvSpPr>
        <p:spPr>
          <a:xfrm>
            <a:off x="804672" y="923544"/>
            <a:ext cx="10789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Not just a cleaner schema.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A usable semantic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h2627160d5792b11b_0_64"/>
          <p:cNvSpPr/>
          <p:nvPr/>
        </p:nvSpPr>
        <p:spPr>
          <a:xfrm>
            <a:off x="804672" y="2057400"/>
            <a:ext cx="2971800" cy="2880372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h2627160d5792b11b_0_64"/>
          <p:cNvSpPr txBox="1"/>
          <p:nvPr/>
        </p:nvSpPr>
        <p:spPr>
          <a:xfrm>
            <a:off x="1024128" y="2212848"/>
            <a:ext cx="2514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5B6770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h2627160d5792b11b_0_64"/>
          <p:cNvSpPr/>
          <p:nvPr/>
        </p:nvSpPr>
        <p:spPr>
          <a:xfrm>
            <a:off x="3977639" y="3291840"/>
            <a:ext cx="567000" cy="42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h2627160d5792b11b_0_64"/>
          <p:cNvSpPr/>
          <p:nvPr/>
        </p:nvSpPr>
        <p:spPr>
          <a:xfrm>
            <a:off x="4754880" y="2057400"/>
            <a:ext cx="6656700" cy="4453128"/>
          </a:xfrm>
          <a:prstGeom prst="roundRect">
            <a:avLst>
              <a:gd fmla="val 10000" name="adj"/>
            </a:avLst>
          </a:prstGeom>
          <a:solidFill>
            <a:srgbClr val="F3F5F4"/>
          </a:solidFill>
          <a:ln cap="flat" cmpd="sng" w="1777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h2627160d5792b11b_0_64"/>
          <p:cNvSpPr txBox="1"/>
          <p:nvPr/>
        </p:nvSpPr>
        <p:spPr>
          <a:xfrm>
            <a:off x="5038344" y="2212848"/>
            <a:ext cx="604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h2627160d5792b11b_0_64"/>
          <p:cNvSpPr/>
          <p:nvPr/>
        </p:nvSpPr>
        <p:spPr>
          <a:xfrm>
            <a:off x="969264" y="2615184"/>
            <a:ext cx="2642700" cy="2139672"/>
          </a:xfrm>
          <a:prstGeom prst="roundRect">
            <a:avLst>
              <a:gd fmla="val 9000" name="adj"/>
            </a:avLst>
          </a:prstGeom>
          <a:solidFill>
            <a:srgbClr val="E9EEEB"/>
          </a:solidFill>
          <a:ln>
            <a:noFill/>
          </a:ln>
          <a:effectLst>
            <a:outerShdw blurRad="76200" rotWithShape="0" algn="t" dir="5400000" dist="25400">
              <a:srgbClr val="000000">
                <a:alpha val="160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h2627160d5792b11b_0_64"/>
          <p:cNvSpPr txBox="1"/>
          <p:nvPr/>
        </p:nvSpPr>
        <p:spPr>
          <a:xfrm>
            <a:off x="1133856" y="2724912"/>
            <a:ext cx="233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h2627160d5792b11b_0_64"/>
          <p:cNvCxnSpPr/>
          <p:nvPr/>
        </p:nvCxnSpPr>
        <p:spPr>
          <a:xfrm>
            <a:off x="1133856" y="3145536"/>
            <a:ext cx="2313300" cy="0"/>
          </a:xfrm>
          <a:prstGeom prst="straightConnector1">
            <a:avLst/>
          </a:prstGeom>
          <a:noFill/>
          <a:ln cap="flat" cmpd="sng" w="19050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8" name="Input row admission_id"/>
          <p:cNvSpPr/>
          <p:nvPr/>
        </p:nvSpPr>
        <p:spPr>
          <a:xfrm>
            <a:off x="1133856" y="3273552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admission_id</a:t>
            </a:r>
            <a:endParaRPr/>
          </a:p>
        </p:txBody>
      </p:sp>
      <p:sp>
        <p:nvSpPr>
          <p:cNvPr id="31" name="Google Shape;31;h2627160d5792b11b_0_64"/>
          <p:cNvSpPr/>
          <p:nvPr/>
        </p:nvSpPr>
        <p:spPr>
          <a:xfrm>
            <a:off x="1133856" y="3621024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patient_id</a:t>
            </a:r>
            <a:endParaRPr/>
          </a:p>
        </p:txBody>
      </p:sp>
      <p:sp>
        <p:nvSpPr>
          <p:cNvPr id="39" name="Input row PK"/>
          <p:cNvSpPr/>
          <p:nvPr/>
        </p:nvSpPr>
        <p:spPr>
          <a:xfrm>
            <a:off x="2697480" y="3273552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/>
          </a:p>
        </p:txBody>
      </p:sp>
      <p:sp>
        <p:nvSpPr>
          <p:cNvPr id="32" name="Google Shape;32;h2627160d5792b11b_0_64"/>
          <p:cNvSpPr/>
          <p:nvPr/>
        </p:nvSpPr>
        <p:spPr>
          <a:xfrm>
            <a:off x="2697480" y="3621024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endParaRPr/>
          </a:p>
        </p:txBody>
      </p:sp>
      <p:sp>
        <p:nvSpPr>
          <p:cNvPr id="33" name="Google Shape;33;h2627160d5792b11b_0_64"/>
          <p:cNvSpPr/>
          <p:nvPr/>
        </p:nvSpPr>
        <p:spPr>
          <a:xfrm>
            <a:off x="1133856" y="3968496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BM_DEP</a:t>
            </a:r>
            <a:endParaRPr/>
          </a:p>
        </p:txBody>
      </p:sp>
      <p:sp>
        <p:nvSpPr>
          <p:cNvPr id="34" name="Google Shape;34;h2627160d5792b11b_0_64"/>
          <p:cNvSpPr/>
          <p:nvPr/>
        </p:nvSpPr>
        <p:spPr>
          <a:xfrm>
            <a:off x="2697480" y="3968496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35" name="Google Shape;35;h2627160d5792b11b_0_64"/>
          <p:cNvSpPr/>
          <p:nvPr/>
        </p:nvSpPr>
        <p:spPr>
          <a:xfrm>
            <a:off x="1133856" y="431596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ecog_stage</a:t>
            </a:r>
            <a:endParaRPr/>
          </a:p>
        </p:txBody>
      </p:sp>
      <p:sp>
        <p:nvSpPr>
          <p:cNvPr id="36" name="Google Shape;36;h2627160d5792b11b_0_64"/>
          <p:cNvSpPr/>
          <p:nvPr/>
        </p:nvSpPr>
        <p:spPr>
          <a:xfrm>
            <a:off x="2697480" y="4315968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37" name="Google Shape;37;h2627160d5792b11b_0_64"/>
          <p:cNvSpPr/>
          <p:nvPr/>
        </p:nvSpPr>
        <p:spPr>
          <a:xfrm>
            <a:off x="4983480" y="3200400"/>
            <a:ext cx="6217800" cy="3200400"/>
          </a:xfrm>
          <a:prstGeom prst="roundRect">
            <a:avLst>
              <a:gd fmla="val 9000" name="adj"/>
            </a:avLst>
          </a:prstGeom>
          <a:solidFill>
            <a:srgbClr val="F6F8FA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h2627160d5792b11b_0_107"/>
          <p:cNvSpPr txBox="1"/>
          <p:nvPr/>
        </p:nvSpPr>
        <p:spPr>
          <a:xfrm>
            <a:off x="804672" y="521207"/>
            <a:ext cx="1069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WHAT WE WANT TO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h2627160d5792b11b_0_107"/>
          <p:cNvSpPr txBox="1"/>
          <p:nvPr/>
        </p:nvSpPr>
        <p:spPr>
          <a:xfrm>
            <a:off x="804672" y="923544"/>
            <a:ext cx="10789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Not just a cleaner schema.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A usable semantic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h2627160d5792b11b_0_107"/>
          <p:cNvSpPr/>
          <p:nvPr/>
        </p:nvSpPr>
        <p:spPr>
          <a:xfrm>
            <a:off x="804672" y="2057400"/>
            <a:ext cx="2971800" cy="2880372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h2627160d5792b11b_0_107"/>
          <p:cNvSpPr txBox="1"/>
          <p:nvPr/>
        </p:nvSpPr>
        <p:spPr>
          <a:xfrm>
            <a:off x="1024128" y="2212848"/>
            <a:ext cx="2514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5B6770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h2627160d5792b11b_0_107"/>
          <p:cNvSpPr/>
          <p:nvPr/>
        </p:nvSpPr>
        <p:spPr>
          <a:xfrm>
            <a:off x="3977639" y="3291840"/>
            <a:ext cx="567000" cy="42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h2627160d5792b11b_0_107"/>
          <p:cNvSpPr/>
          <p:nvPr/>
        </p:nvSpPr>
        <p:spPr>
          <a:xfrm>
            <a:off x="4754880" y="2057400"/>
            <a:ext cx="6656700" cy="4453128"/>
          </a:xfrm>
          <a:prstGeom prst="roundRect">
            <a:avLst>
              <a:gd fmla="val 10000" name="adj"/>
            </a:avLst>
          </a:prstGeom>
          <a:solidFill>
            <a:srgbClr val="F3F5F4"/>
          </a:solidFill>
          <a:ln cap="flat" cmpd="sng" w="1777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h2627160d5792b11b_0_107"/>
          <p:cNvSpPr txBox="1"/>
          <p:nvPr/>
        </p:nvSpPr>
        <p:spPr>
          <a:xfrm>
            <a:off x="5038344" y="2212848"/>
            <a:ext cx="604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h2627160d5792b11b_0_107"/>
          <p:cNvSpPr/>
          <p:nvPr/>
        </p:nvSpPr>
        <p:spPr>
          <a:xfrm>
            <a:off x="5093208" y="2633472"/>
            <a:ext cx="21030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h2627160d5792b11b_0_107"/>
          <p:cNvSpPr txBox="1"/>
          <p:nvPr/>
        </p:nvSpPr>
        <p:spPr>
          <a:xfrm>
            <a:off x="5248656" y="2743200"/>
            <a:ext cx="174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h2627160d5792b11b_0_107"/>
          <p:cNvSpPr/>
          <p:nvPr/>
        </p:nvSpPr>
        <p:spPr>
          <a:xfrm>
            <a:off x="9253728" y="2633472"/>
            <a:ext cx="18288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h2627160d5792b11b_0_107"/>
          <p:cNvSpPr txBox="1"/>
          <p:nvPr/>
        </p:nvSpPr>
        <p:spPr>
          <a:xfrm>
            <a:off x="9354312" y="2743200"/>
            <a:ext cx="164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h2627160d5792b11b_0_107"/>
          <p:cNvCxnSpPr/>
          <p:nvPr/>
        </p:nvCxnSpPr>
        <p:spPr>
          <a:xfrm>
            <a:off x="7278624" y="2871216"/>
            <a:ext cx="1865400" cy="0"/>
          </a:xfrm>
          <a:prstGeom prst="straightConnector1">
            <a:avLst/>
          </a:prstGeom>
          <a:noFill/>
          <a:ln cap="flat" cmpd="sng" w="31750">
            <a:solidFill>
              <a:srgbClr val="0B6E4F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55" name="Google Shape;55;h2627160d5792b11b_0_107"/>
          <p:cNvSpPr/>
          <p:nvPr/>
        </p:nvSpPr>
        <p:spPr>
          <a:xfrm>
            <a:off x="7388352" y="2487168"/>
            <a:ext cx="1591200" cy="274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h2627160d5792b11b_0_107"/>
          <p:cNvSpPr txBox="1"/>
          <p:nvPr/>
        </p:nvSpPr>
        <p:spPr>
          <a:xfrm>
            <a:off x="7278624" y="2514600"/>
            <a:ext cx="178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hasPatientData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h2627160d5792b11b_0_107"/>
          <p:cNvSpPr/>
          <p:nvPr/>
        </p:nvSpPr>
        <p:spPr>
          <a:xfrm>
            <a:off x="969264" y="2615184"/>
            <a:ext cx="2642700" cy="2139672"/>
          </a:xfrm>
          <a:prstGeom prst="roundRect">
            <a:avLst>
              <a:gd fmla="val 9000" name="adj"/>
            </a:avLst>
          </a:prstGeom>
          <a:solidFill>
            <a:srgbClr val="E9EEEB"/>
          </a:solidFill>
          <a:ln>
            <a:noFill/>
          </a:ln>
          <a:effectLst>
            <a:outerShdw blurRad="76200" rotWithShape="0" algn="t" dir="5400000" dist="25400">
              <a:srgbClr val="000000">
                <a:alpha val="160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h2627160d5792b11b_0_107"/>
          <p:cNvSpPr txBox="1"/>
          <p:nvPr/>
        </p:nvSpPr>
        <p:spPr>
          <a:xfrm>
            <a:off x="1133856" y="2724912"/>
            <a:ext cx="233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h2627160d5792b11b_0_107"/>
          <p:cNvCxnSpPr/>
          <p:nvPr/>
        </p:nvCxnSpPr>
        <p:spPr>
          <a:xfrm>
            <a:off x="1133856" y="3145536"/>
            <a:ext cx="2313300" cy="0"/>
          </a:xfrm>
          <a:prstGeom prst="straightConnector1">
            <a:avLst/>
          </a:prstGeom>
          <a:noFill/>
          <a:ln cap="flat" cmpd="sng" w="19050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5" name="Input row admission_id"/>
          <p:cNvSpPr/>
          <p:nvPr/>
        </p:nvSpPr>
        <p:spPr>
          <a:xfrm>
            <a:off x="1133856" y="3273552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admission_id</a:t>
            </a:r>
            <a:endParaRPr/>
          </a:p>
        </p:txBody>
      </p:sp>
      <p:sp>
        <p:nvSpPr>
          <p:cNvPr id="60" name="Google Shape;60;h2627160d5792b11b_0_107"/>
          <p:cNvSpPr/>
          <p:nvPr/>
        </p:nvSpPr>
        <p:spPr>
          <a:xfrm>
            <a:off x="1133856" y="3621024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patient_id</a:t>
            </a:r>
            <a:endParaRPr/>
          </a:p>
        </p:txBody>
      </p:sp>
      <p:sp>
        <p:nvSpPr>
          <p:cNvPr id="76" name="Input row PK"/>
          <p:cNvSpPr/>
          <p:nvPr/>
        </p:nvSpPr>
        <p:spPr>
          <a:xfrm>
            <a:off x="2697480" y="3273552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/>
          </a:p>
        </p:txBody>
      </p:sp>
      <p:sp>
        <p:nvSpPr>
          <p:cNvPr id="61" name="Google Shape;61;h2627160d5792b11b_0_107"/>
          <p:cNvSpPr/>
          <p:nvPr/>
        </p:nvSpPr>
        <p:spPr>
          <a:xfrm>
            <a:off x="2697480" y="3621024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endParaRPr/>
          </a:p>
        </p:txBody>
      </p:sp>
      <p:sp>
        <p:nvSpPr>
          <p:cNvPr id="62" name="Google Shape;62;h2627160d5792b11b_0_107"/>
          <p:cNvSpPr/>
          <p:nvPr/>
        </p:nvSpPr>
        <p:spPr>
          <a:xfrm>
            <a:off x="1133856" y="3968496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BM_DEP</a:t>
            </a:r>
            <a:endParaRPr/>
          </a:p>
        </p:txBody>
      </p:sp>
      <p:sp>
        <p:nvSpPr>
          <p:cNvPr id="63" name="Google Shape;63;h2627160d5792b11b_0_107"/>
          <p:cNvSpPr/>
          <p:nvPr/>
        </p:nvSpPr>
        <p:spPr>
          <a:xfrm>
            <a:off x="2697480" y="3968496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64" name="Google Shape;64;h2627160d5792b11b_0_107"/>
          <p:cNvSpPr/>
          <p:nvPr/>
        </p:nvSpPr>
        <p:spPr>
          <a:xfrm>
            <a:off x="1133856" y="431596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ecog_stage</a:t>
            </a:r>
            <a:endParaRPr/>
          </a:p>
        </p:txBody>
      </p:sp>
      <p:sp>
        <p:nvSpPr>
          <p:cNvPr id="65" name="Google Shape;65;h2627160d5792b11b_0_107"/>
          <p:cNvSpPr/>
          <p:nvPr/>
        </p:nvSpPr>
        <p:spPr>
          <a:xfrm>
            <a:off x="2697480" y="4315968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66" name="Google Shape;66;h2627160d5792b11b_0_107"/>
          <p:cNvSpPr/>
          <p:nvPr/>
        </p:nvSpPr>
        <p:spPr>
          <a:xfrm>
            <a:off x="4983480" y="3200400"/>
            <a:ext cx="6217800" cy="3200400"/>
          </a:xfrm>
          <a:prstGeom prst="roundRect">
            <a:avLst>
              <a:gd fmla="val 9000" name="adj"/>
            </a:avLst>
          </a:prstGeom>
          <a:solidFill>
            <a:srgbClr val="F6F8FA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Code line 77"/>
          <p:cNvSpPr txBox="1"/>
          <p:nvPr/>
        </p:nvSpPr>
        <p:spPr>
          <a:xfrm>
            <a:off x="4983480" y="326440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Class: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</a:t>
            </a:r>
            <a:endParaRPr lang="en-US" sz="1050"/>
          </a:p>
        </p:txBody>
      </p:sp>
      <p:sp>
        <p:nvSpPr>
          <p:cNvPr id="78" name="Code line 78"/>
          <p:cNvSpPr txBox="1"/>
          <p:nvPr/>
        </p:nvSpPr>
        <p:spPr>
          <a:xfrm>
            <a:off x="4983480" y="342611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SubClassOf:</a:t>
            </a:r>
            <a:endParaRPr lang="en-US" sz="1050"/>
          </a:p>
        </p:txBody>
      </p:sp>
      <p:sp>
        <p:nvSpPr>
          <p:cNvPr id="79" name="Code line 79"/>
          <p:cNvSpPr txBox="1"/>
          <p:nvPr/>
        </p:nvSpPr>
        <p:spPr>
          <a:xfrm>
            <a:off x="4983480" y="3587816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80" name="Code line 80"/>
          <p:cNvSpPr txBox="1"/>
          <p:nvPr/>
        </p:nvSpPr>
        <p:spPr>
          <a:xfrm>
            <a:off x="4983480" y="3749521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hasPatientData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PatientData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81" name="Gloss"/>
          <p:cNvSpPr/>
          <p:nvPr/>
        </p:nvSpPr>
        <p:spPr>
          <a:xfrm>
            <a:off x="9399912" y="3749521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82" name="Code line 82"/>
          <p:cNvSpPr txBox="1"/>
          <p:nvPr/>
        </p:nvSpPr>
        <p:spPr>
          <a:xfrm>
            <a:off x="4983480" y="391122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83" name="Code line 83"/>
          <p:cNvSpPr txBox="1"/>
          <p:nvPr/>
        </p:nvSpPr>
        <p:spPr>
          <a:xfrm>
            <a:off x="4983480" y="4072930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endParaRPr lang="en-US" sz="1050"/>
          </a:p>
        </p:txBody>
      </p:sp>
      <p:sp>
        <p:nvSpPr>
          <p:cNvPr id="84" name="Code line 84"/>
          <p:cNvSpPr txBox="1"/>
          <p:nvPr/>
        </p:nvSpPr>
        <p:spPr>
          <a:xfrm>
            <a:off x="4983480" y="439633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endParaRPr lang="en-US" sz="1050"/>
          </a:p>
        </p:txBody>
      </p:sp>
      <p:sp>
        <p:nvSpPr>
          <p:cNvPr id="85" name="Code line 85"/>
          <p:cNvSpPr txBox="1"/>
          <p:nvPr/>
        </p:nvSpPr>
        <p:spPr>
          <a:xfrm>
            <a:off x="4983480" y="4558043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ObjectProperty: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hasPatientData</a:t>
            </a:r>
            <a:endParaRPr lang="en-US" sz="1050"/>
          </a:p>
        </p:txBody>
      </p:sp>
      <p:sp>
        <p:nvSpPr>
          <p:cNvPr id="86" name="Gloss"/>
          <p:cNvSpPr/>
          <p:nvPr/>
        </p:nvSpPr>
        <p:spPr>
          <a:xfrm>
            <a:off x="9399912" y="4558043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87" name="Code line 87"/>
          <p:cNvSpPr txBox="1"/>
          <p:nvPr/>
        </p:nvSpPr>
        <p:spPr>
          <a:xfrm>
            <a:off x="4983480" y="471974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endParaRPr lang="en-US" sz="1050"/>
          </a:p>
        </p:txBody>
      </p:sp>
      <p:sp>
        <p:nvSpPr>
          <p:cNvPr id="88" name="Code line 88"/>
          <p:cNvSpPr txBox="1"/>
          <p:nvPr/>
        </p:nvSpPr>
        <p:spPr>
          <a:xfrm>
            <a:off x="4983480" y="488145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89" name="Code line 89"/>
          <p:cNvSpPr txBox="1"/>
          <p:nvPr/>
        </p:nvSpPr>
        <p:spPr>
          <a:xfrm>
            <a:off x="4983480" y="536656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admission:BM_DEP</a:t>
            </a:r>
            <a:endParaRPr lang="en-US" sz="1050"/>
          </a:p>
        </p:txBody>
      </p:sp>
      <p:sp>
        <p:nvSpPr>
          <p:cNvPr id="90" name="Gloss"/>
          <p:cNvSpPr/>
          <p:nvPr/>
        </p:nvSpPr>
        <p:spPr>
          <a:xfrm>
            <a:off x="9399912" y="5366565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  <p:sp>
        <p:nvSpPr>
          <p:cNvPr id="91" name="Code line 91"/>
          <p:cNvSpPr txBox="1"/>
          <p:nvPr/>
        </p:nvSpPr>
        <p:spPr>
          <a:xfrm>
            <a:off x="4983480" y="5528269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endParaRPr lang="en-US" sz="1050"/>
          </a:p>
        </p:txBody>
      </p:sp>
      <p:sp>
        <p:nvSpPr>
          <p:cNvPr id="92" name="Code line 92"/>
          <p:cNvSpPr txBox="1"/>
          <p:nvPr/>
        </p:nvSpPr>
        <p:spPr>
          <a:xfrm>
            <a:off x="4983480" y="5689974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93" name="Code line 93"/>
          <p:cNvSpPr txBox="1"/>
          <p:nvPr/>
        </p:nvSpPr>
        <p:spPr>
          <a:xfrm>
            <a:off x="4983480" y="617508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admission:ecog_stage</a:t>
            </a:r>
            <a:endParaRPr lang="en-US" sz="1050"/>
          </a:p>
        </p:txBody>
      </p:sp>
      <p:sp>
        <p:nvSpPr>
          <p:cNvPr id="94" name="Gloss"/>
          <p:cNvSpPr/>
          <p:nvPr/>
        </p:nvSpPr>
        <p:spPr>
          <a:xfrm>
            <a:off x="9399912" y="6175087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2627160d5792b11b_0_193"/>
          <p:cNvSpPr txBox="1"/>
          <p:nvPr/>
        </p:nvSpPr>
        <p:spPr>
          <a:xfrm>
            <a:off x="804672" y="521207"/>
            <a:ext cx="1069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WHAT WE WANT TO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h2627160d5792b11b_0_193"/>
          <p:cNvSpPr txBox="1"/>
          <p:nvPr/>
        </p:nvSpPr>
        <p:spPr>
          <a:xfrm>
            <a:off x="804672" y="923544"/>
            <a:ext cx="10789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Not just a cleaner schema.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A usable semantic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h2627160d5792b11b_0_193"/>
          <p:cNvSpPr/>
          <p:nvPr/>
        </p:nvSpPr>
        <p:spPr>
          <a:xfrm>
            <a:off x="804672" y="2057400"/>
            <a:ext cx="2971800" cy="2880372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h2627160d5792b11b_0_193"/>
          <p:cNvSpPr txBox="1"/>
          <p:nvPr/>
        </p:nvSpPr>
        <p:spPr>
          <a:xfrm>
            <a:off x="1024128" y="2212848"/>
            <a:ext cx="2514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5B6770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h2627160d5792b11b_0_193"/>
          <p:cNvSpPr/>
          <p:nvPr/>
        </p:nvSpPr>
        <p:spPr>
          <a:xfrm>
            <a:off x="3977639" y="3291840"/>
            <a:ext cx="567000" cy="42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h2627160d5792b11b_0_193"/>
          <p:cNvSpPr/>
          <p:nvPr/>
        </p:nvSpPr>
        <p:spPr>
          <a:xfrm>
            <a:off x="4754880" y="2057400"/>
            <a:ext cx="6656700" cy="4453128"/>
          </a:xfrm>
          <a:prstGeom prst="roundRect">
            <a:avLst>
              <a:gd fmla="val 10000" name="adj"/>
            </a:avLst>
          </a:prstGeom>
          <a:solidFill>
            <a:srgbClr val="F3F5F4"/>
          </a:solidFill>
          <a:ln cap="flat" cmpd="sng" w="1777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2627160d5792b11b_0_193"/>
          <p:cNvSpPr txBox="1"/>
          <p:nvPr/>
        </p:nvSpPr>
        <p:spPr>
          <a:xfrm>
            <a:off x="5038344" y="2212848"/>
            <a:ext cx="604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h2627160d5792b11b_0_193"/>
          <p:cNvSpPr/>
          <p:nvPr/>
        </p:nvSpPr>
        <p:spPr>
          <a:xfrm>
            <a:off x="5093208" y="2633472"/>
            <a:ext cx="21030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h2627160d5792b11b_0_193"/>
          <p:cNvSpPr txBox="1"/>
          <p:nvPr/>
        </p:nvSpPr>
        <p:spPr>
          <a:xfrm>
            <a:off x="5248656" y="2743200"/>
            <a:ext cx="174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h2627160d5792b11b_0_193"/>
          <p:cNvSpPr/>
          <p:nvPr/>
        </p:nvSpPr>
        <p:spPr>
          <a:xfrm>
            <a:off x="9253728" y="2633472"/>
            <a:ext cx="18288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h2627160d5792b11b_0_193"/>
          <p:cNvSpPr txBox="1"/>
          <p:nvPr/>
        </p:nvSpPr>
        <p:spPr>
          <a:xfrm>
            <a:off x="9354312" y="2743200"/>
            <a:ext cx="164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h2627160d5792b11b_0_193"/>
          <p:cNvCxnSpPr/>
          <p:nvPr/>
        </p:nvCxnSpPr>
        <p:spPr>
          <a:xfrm>
            <a:off x="7278624" y="2871216"/>
            <a:ext cx="1865400" cy="0"/>
          </a:xfrm>
          <a:prstGeom prst="straightConnector1">
            <a:avLst/>
          </a:prstGeom>
          <a:noFill/>
          <a:ln cap="flat" cmpd="sng" w="31750">
            <a:solidFill>
              <a:srgbClr val="0B6E4F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92" name="Google Shape;92;h2627160d5792b11b_0_193"/>
          <p:cNvSpPr/>
          <p:nvPr/>
        </p:nvSpPr>
        <p:spPr>
          <a:xfrm>
            <a:off x="7388352" y="2487168"/>
            <a:ext cx="1591200" cy="274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h2627160d5792b11b_0_193"/>
          <p:cNvSpPr txBox="1"/>
          <p:nvPr/>
        </p:nvSpPr>
        <p:spPr>
          <a:xfrm>
            <a:off x="7278624" y="2514600"/>
            <a:ext cx="178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hasPatientData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h2627160d5792b11b_0_193"/>
          <p:cNvSpPr/>
          <p:nvPr/>
        </p:nvSpPr>
        <p:spPr>
          <a:xfrm>
            <a:off x="969264" y="2615184"/>
            <a:ext cx="2642700" cy="2139672"/>
          </a:xfrm>
          <a:prstGeom prst="roundRect">
            <a:avLst>
              <a:gd fmla="val 9000" name="adj"/>
            </a:avLst>
          </a:prstGeom>
          <a:solidFill>
            <a:srgbClr val="E9EEEB"/>
          </a:solidFill>
          <a:ln>
            <a:noFill/>
          </a:ln>
          <a:effectLst>
            <a:outerShdw blurRad="76200" rotWithShape="0" algn="t" dir="5400000" dist="25400">
              <a:srgbClr val="000000">
                <a:alpha val="160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h2627160d5792b11b_0_193"/>
          <p:cNvSpPr txBox="1"/>
          <p:nvPr/>
        </p:nvSpPr>
        <p:spPr>
          <a:xfrm>
            <a:off x="1133856" y="2724912"/>
            <a:ext cx="233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h2627160d5792b11b_0_193"/>
          <p:cNvCxnSpPr/>
          <p:nvPr/>
        </p:nvCxnSpPr>
        <p:spPr>
          <a:xfrm>
            <a:off x="1133856" y="3145536"/>
            <a:ext cx="2313300" cy="0"/>
          </a:xfrm>
          <a:prstGeom prst="straightConnector1">
            <a:avLst/>
          </a:prstGeom>
          <a:noFill/>
          <a:ln cap="flat" cmpd="sng" w="19050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4" name="Input row admission_id"/>
          <p:cNvSpPr/>
          <p:nvPr/>
        </p:nvSpPr>
        <p:spPr>
          <a:xfrm>
            <a:off x="1133856" y="3273552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admission_id</a:t>
            </a:r>
            <a:endParaRPr/>
          </a:p>
        </p:txBody>
      </p:sp>
      <p:sp>
        <p:nvSpPr>
          <p:cNvPr id="97" name="Google Shape;97;h2627160d5792b11b_0_193"/>
          <p:cNvSpPr/>
          <p:nvPr/>
        </p:nvSpPr>
        <p:spPr>
          <a:xfrm>
            <a:off x="1133856" y="3621024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patient_id</a:t>
            </a:r>
            <a:endParaRPr/>
          </a:p>
        </p:txBody>
      </p:sp>
      <p:sp>
        <p:nvSpPr>
          <p:cNvPr id="115" name="Input row PK"/>
          <p:cNvSpPr/>
          <p:nvPr/>
        </p:nvSpPr>
        <p:spPr>
          <a:xfrm>
            <a:off x="2697480" y="3273552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/>
          </a:p>
        </p:txBody>
      </p:sp>
      <p:sp>
        <p:nvSpPr>
          <p:cNvPr id="98" name="Google Shape;98;h2627160d5792b11b_0_193"/>
          <p:cNvSpPr/>
          <p:nvPr/>
        </p:nvSpPr>
        <p:spPr>
          <a:xfrm>
            <a:off x="2697480" y="3621024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endParaRPr/>
          </a:p>
        </p:txBody>
      </p:sp>
      <p:sp>
        <p:nvSpPr>
          <p:cNvPr id="99" name="Google Shape;99;h2627160d5792b11b_0_193"/>
          <p:cNvSpPr/>
          <p:nvPr/>
        </p:nvSpPr>
        <p:spPr>
          <a:xfrm>
            <a:off x="1133856" y="3968496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BM_DEP</a:t>
            </a:r>
            <a:endParaRPr/>
          </a:p>
        </p:txBody>
      </p:sp>
      <p:sp>
        <p:nvSpPr>
          <p:cNvPr id="100" name="Google Shape;100;h2627160d5792b11b_0_193"/>
          <p:cNvSpPr/>
          <p:nvPr/>
        </p:nvSpPr>
        <p:spPr>
          <a:xfrm>
            <a:off x="2697480" y="3968496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101" name="Google Shape;101;h2627160d5792b11b_0_193"/>
          <p:cNvSpPr/>
          <p:nvPr/>
        </p:nvSpPr>
        <p:spPr>
          <a:xfrm>
            <a:off x="1133856" y="431596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ecog_stage</a:t>
            </a:r>
            <a:endParaRPr/>
          </a:p>
        </p:txBody>
      </p:sp>
      <p:sp>
        <p:nvSpPr>
          <p:cNvPr id="102" name="Google Shape;102;h2627160d5792b11b_0_193"/>
          <p:cNvSpPr/>
          <p:nvPr/>
        </p:nvSpPr>
        <p:spPr>
          <a:xfrm>
            <a:off x="2697480" y="4315968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103" name="Google Shape;103;h2627160d5792b11b_0_193"/>
          <p:cNvSpPr/>
          <p:nvPr/>
        </p:nvSpPr>
        <p:spPr>
          <a:xfrm>
            <a:off x="4983480" y="3200400"/>
            <a:ext cx="6217800" cy="3200400"/>
          </a:xfrm>
          <a:prstGeom prst="roundRect">
            <a:avLst>
              <a:gd fmla="val 9000" name="adj"/>
            </a:avLst>
          </a:prstGeom>
          <a:solidFill>
            <a:srgbClr val="F6F8FA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Code line 116"/>
          <p:cNvSpPr txBox="1"/>
          <p:nvPr/>
        </p:nvSpPr>
        <p:spPr>
          <a:xfrm>
            <a:off x="4983480" y="326440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Class: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</a:t>
            </a:r>
            <a:endParaRPr lang="en-US" sz="1050"/>
          </a:p>
        </p:txBody>
      </p:sp>
      <p:sp>
        <p:nvSpPr>
          <p:cNvPr id="117" name="Code line 117"/>
          <p:cNvSpPr txBox="1"/>
          <p:nvPr/>
        </p:nvSpPr>
        <p:spPr>
          <a:xfrm>
            <a:off x="4983480" y="342611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SubClassOf:</a:t>
            </a:r>
            <a:endParaRPr lang="en-US" sz="1050"/>
          </a:p>
        </p:txBody>
      </p:sp>
      <p:sp>
        <p:nvSpPr>
          <p:cNvPr id="118" name="Code line 118"/>
          <p:cNvSpPr txBox="1"/>
          <p:nvPr/>
        </p:nvSpPr>
        <p:spPr>
          <a:xfrm>
            <a:off x="4983480" y="3587816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19" name="Code line 119"/>
          <p:cNvSpPr txBox="1"/>
          <p:nvPr/>
        </p:nvSpPr>
        <p:spPr>
          <a:xfrm>
            <a:off x="4983480" y="3749521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hasPatientData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PatientData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20" name="Gloss"/>
          <p:cNvSpPr/>
          <p:nvPr/>
        </p:nvSpPr>
        <p:spPr>
          <a:xfrm>
            <a:off x="9399912" y="3749521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121" name="Code line 121"/>
          <p:cNvSpPr txBox="1"/>
          <p:nvPr/>
        </p:nvSpPr>
        <p:spPr>
          <a:xfrm>
            <a:off x="4983480" y="391122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22" name="Code line 122"/>
          <p:cNvSpPr txBox="1"/>
          <p:nvPr/>
        </p:nvSpPr>
        <p:spPr>
          <a:xfrm>
            <a:off x="4983480" y="4072930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endParaRPr lang="en-US" sz="1050"/>
          </a:p>
        </p:txBody>
      </p:sp>
      <p:sp>
        <p:nvSpPr>
          <p:cNvPr id="123" name="Code line 123"/>
          <p:cNvSpPr txBox="1"/>
          <p:nvPr/>
        </p:nvSpPr>
        <p:spPr>
          <a:xfrm>
            <a:off x="4983480" y="439633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endParaRPr lang="en-US" sz="1050"/>
          </a:p>
        </p:txBody>
      </p:sp>
      <p:sp>
        <p:nvSpPr>
          <p:cNvPr id="124" name="Code line 124"/>
          <p:cNvSpPr txBox="1"/>
          <p:nvPr/>
        </p:nvSpPr>
        <p:spPr>
          <a:xfrm>
            <a:off x="4983480" y="4558043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ObjectProperty: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hasPatientData</a:t>
            </a:r>
            <a:endParaRPr lang="en-US" sz="1050"/>
          </a:p>
        </p:txBody>
      </p:sp>
      <p:sp>
        <p:nvSpPr>
          <p:cNvPr id="125" name="Gloss"/>
          <p:cNvSpPr/>
          <p:nvPr/>
        </p:nvSpPr>
        <p:spPr>
          <a:xfrm>
            <a:off x="9399912" y="4558043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126" name="Code line 126"/>
          <p:cNvSpPr txBox="1"/>
          <p:nvPr/>
        </p:nvSpPr>
        <p:spPr>
          <a:xfrm>
            <a:off x="4983480" y="471974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endParaRPr lang="en-US" sz="1050"/>
          </a:p>
        </p:txBody>
      </p:sp>
      <p:sp>
        <p:nvSpPr>
          <p:cNvPr id="127" name="Code line 127"/>
          <p:cNvSpPr txBox="1"/>
          <p:nvPr/>
        </p:nvSpPr>
        <p:spPr>
          <a:xfrm>
            <a:off x="4983480" y="488145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128" name="Code line 128"/>
          <p:cNvSpPr txBox="1"/>
          <p:nvPr/>
        </p:nvSpPr>
        <p:spPr>
          <a:xfrm>
            <a:off x="4983480" y="5043156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rdfs:label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"Bone Marrow Depression"@en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29" name="Gloss"/>
          <p:cNvSpPr/>
          <p:nvPr/>
        </p:nvSpPr>
        <p:spPr>
          <a:xfrm>
            <a:off x="9399912" y="5043156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← documentation</a:t>
            </a:r>
          </a:p>
        </p:txBody>
      </p:sp>
      <p:sp>
        <p:nvSpPr>
          <p:cNvPr id="130" name="Code line 130"/>
          <p:cNvSpPr txBox="1"/>
          <p:nvPr/>
        </p:nvSpPr>
        <p:spPr>
          <a:xfrm>
            <a:off x="4983480" y="536656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admission:BM_DEP</a:t>
            </a:r>
            <a:endParaRPr lang="en-US" sz="1050"/>
          </a:p>
        </p:txBody>
      </p:sp>
      <p:sp>
        <p:nvSpPr>
          <p:cNvPr id="131" name="Gloss"/>
          <p:cNvSpPr/>
          <p:nvPr/>
        </p:nvSpPr>
        <p:spPr>
          <a:xfrm>
            <a:off x="9399912" y="5366565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  <p:sp>
        <p:nvSpPr>
          <p:cNvPr id="132" name="Code line 132"/>
          <p:cNvSpPr txBox="1"/>
          <p:nvPr/>
        </p:nvSpPr>
        <p:spPr>
          <a:xfrm>
            <a:off x="4983480" y="5528269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endParaRPr lang="en-US" sz="1050"/>
          </a:p>
        </p:txBody>
      </p:sp>
      <p:sp>
        <p:nvSpPr>
          <p:cNvPr id="133" name="Code line 133"/>
          <p:cNvSpPr txBox="1"/>
          <p:nvPr/>
        </p:nvSpPr>
        <p:spPr>
          <a:xfrm>
            <a:off x="4983480" y="5689974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134" name="Code line 134"/>
          <p:cNvSpPr txBox="1"/>
          <p:nvPr/>
        </p:nvSpPr>
        <p:spPr>
          <a:xfrm>
            <a:off x="4983480" y="585167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rdfs:label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"ECOG Performance Status"@en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35" name="Gloss"/>
          <p:cNvSpPr/>
          <p:nvPr/>
        </p:nvSpPr>
        <p:spPr>
          <a:xfrm>
            <a:off x="9399912" y="5851678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← documentation</a:t>
            </a:r>
          </a:p>
        </p:txBody>
      </p:sp>
      <p:sp>
        <p:nvSpPr>
          <p:cNvPr id="136" name="Code line 136"/>
          <p:cNvSpPr txBox="1"/>
          <p:nvPr/>
        </p:nvSpPr>
        <p:spPr>
          <a:xfrm>
            <a:off x="4983480" y="617508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admission:ecog_stage</a:t>
            </a:r>
            <a:endParaRPr lang="en-US" sz="1050"/>
          </a:p>
        </p:txBody>
      </p:sp>
      <p:sp>
        <p:nvSpPr>
          <p:cNvPr id="137" name="Gloss"/>
          <p:cNvSpPr/>
          <p:nvPr/>
        </p:nvSpPr>
        <p:spPr>
          <a:xfrm>
            <a:off x="9399912" y="6175087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2627160d5792b11b_0_150"/>
          <p:cNvSpPr txBox="1"/>
          <p:nvPr/>
        </p:nvSpPr>
        <p:spPr>
          <a:xfrm>
            <a:off x="804672" y="521207"/>
            <a:ext cx="1069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WHAT WE WANT TO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h2627160d5792b11b_0_150"/>
          <p:cNvSpPr txBox="1"/>
          <p:nvPr/>
        </p:nvSpPr>
        <p:spPr>
          <a:xfrm>
            <a:off x="804672" y="923544"/>
            <a:ext cx="10789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Not just a cleaner schema.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A usable semantic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h2627160d5792b11b_0_150"/>
          <p:cNvSpPr/>
          <p:nvPr/>
        </p:nvSpPr>
        <p:spPr>
          <a:xfrm>
            <a:off x="804672" y="2057400"/>
            <a:ext cx="2971800" cy="2880372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h2627160d5792b11b_0_150"/>
          <p:cNvSpPr txBox="1"/>
          <p:nvPr/>
        </p:nvSpPr>
        <p:spPr>
          <a:xfrm>
            <a:off x="1024128" y="2212848"/>
            <a:ext cx="2514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5B6770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h2627160d5792b11b_0_150"/>
          <p:cNvSpPr/>
          <p:nvPr/>
        </p:nvSpPr>
        <p:spPr>
          <a:xfrm>
            <a:off x="3977639" y="3291840"/>
            <a:ext cx="567000" cy="42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h2627160d5792b11b_0_150"/>
          <p:cNvSpPr/>
          <p:nvPr/>
        </p:nvSpPr>
        <p:spPr>
          <a:xfrm>
            <a:off x="4754880" y="2057400"/>
            <a:ext cx="6656700" cy="4453128"/>
          </a:xfrm>
          <a:prstGeom prst="roundRect">
            <a:avLst>
              <a:gd fmla="val 10000" name="adj"/>
            </a:avLst>
          </a:prstGeom>
          <a:solidFill>
            <a:srgbClr val="F3F5F4"/>
          </a:solidFill>
          <a:ln cap="flat" cmpd="sng" w="1777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h2627160d5792b11b_0_150"/>
          <p:cNvSpPr txBox="1"/>
          <p:nvPr/>
        </p:nvSpPr>
        <p:spPr>
          <a:xfrm>
            <a:off x="5038344" y="2212848"/>
            <a:ext cx="604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h2627160d5792b11b_0_150"/>
          <p:cNvSpPr/>
          <p:nvPr/>
        </p:nvSpPr>
        <p:spPr>
          <a:xfrm>
            <a:off x="5093208" y="2633472"/>
            <a:ext cx="21030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h2627160d5792b11b_0_150"/>
          <p:cNvSpPr txBox="1"/>
          <p:nvPr/>
        </p:nvSpPr>
        <p:spPr>
          <a:xfrm>
            <a:off x="5248656" y="2743200"/>
            <a:ext cx="174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h2627160d5792b11b_0_150"/>
          <p:cNvSpPr/>
          <p:nvPr/>
        </p:nvSpPr>
        <p:spPr>
          <a:xfrm>
            <a:off x="9253728" y="2633472"/>
            <a:ext cx="18288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h2627160d5792b11b_0_150"/>
          <p:cNvSpPr txBox="1"/>
          <p:nvPr/>
        </p:nvSpPr>
        <p:spPr>
          <a:xfrm>
            <a:off x="9354312" y="2743200"/>
            <a:ext cx="164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h2627160d5792b11b_0_150"/>
          <p:cNvCxnSpPr/>
          <p:nvPr/>
        </p:nvCxnSpPr>
        <p:spPr>
          <a:xfrm>
            <a:off x="7278624" y="2871216"/>
            <a:ext cx="1865400" cy="0"/>
          </a:xfrm>
          <a:prstGeom prst="straightConnector1">
            <a:avLst/>
          </a:prstGeom>
          <a:noFill/>
          <a:ln cap="flat" cmpd="sng" w="31750">
            <a:solidFill>
              <a:srgbClr val="0B6E4F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131" name="Google Shape;131;h2627160d5792b11b_0_150"/>
          <p:cNvSpPr/>
          <p:nvPr/>
        </p:nvSpPr>
        <p:spPr>
          <a:xfrm>
            <a:off x="7388352" y="2487168"/>
            <a:ext cx="1591200" cy="274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h2627160d5792b11b_0_150"/>
          <p:cNvSpPr txBox="1"/>
          <p:nvPr/>
        </p:nvSpPr>
        <p:spPr>
          <a:xfrm>
            <a:off x="7278624" y="2514600"/>
            <a:ext cx="178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hasPatientData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h2627160d5792b11b_0_150"/>
          <p:cNvSpPr/>
          <p:nvPr/>
        </p:nvSpPr>
        <p:spPr>
          <a:xfrm>
            <a:off x="969264" y="2615184"/>
            <a:ext cx="2642700" cy="2139672"/>
          </a:xfrm>
          <a:prstGeom prst="roundRect">
            <a:avLst>
              <a:gd fmla="val 9000" name="adj"/>
            </a:avLst>
          </a:prstGeom>
          <a:solidFill>
            <a:srgbClr val="E9EEEB"/>
          </a:solidFill>
          <a:ln>
            <a:noFill/>
          </a:ln>
          <a:effectLst>
            <a:outerShdw blurRad="76200" rotWithShape="0" algn="t" dir="5400000" dist="25400">
              <a:srgbClr val="000000">
                <a:alpha val="160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2627160d5792b11b_0_150"/>
          <p:cNvSpPr txBox="1"/>
          <p:nvPr/>
        </p:nvSpPr>
        <p:spPr>
          <a:xfrm>
            <a:off x="1133856" y="2724912"/>
            <a:ext cx="233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h2627160d5792b11b_0_150"/>
          <p:cNvCxnSpPr/>
          <p:nvPr/>
        </p:nvCxnSpPr>
        <p:spPr>
          <a:xfrm>
            <a:off x="1133856" y="3145536"/>
            <a:ext cx="2313300" cy="0"/>
          </a:xfrm>
          <a:prstGeom prst="straightConnector1">
            <a:avLst/>
          </a:prstGeom>
          <a:noFill/>
          <a:ln cap="flat" cmpd="sng" w="19050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54" name="Input row admission_id"/>
          <p:cNvSpPr/>
          <p:nvPr/>
        </p:nvSpPr>
        <p:spPr>
          <a:xfrm>
            <a:off x="1133856" y="3273552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admission_id</a:t>
            </a:r>
            <a:endParaRPr/>
          </a:p>
        </p:txBody>
      </p:sp>
      <p:sp>
        <p:nvSpPr>
          <p:cNvPr id="136" name="Google Shape;136;h2627160d5792b11b_0_150"/>
          <p:cNvSpPr/>
          <p:nvPr/>
        </p:nvSpPr>
        <p:spPr>
          <a:xfrm>
            <a:off x="1133856" y="3621024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patient_id</a:t>
            </a:r>
            <a:endParaRPr/>
          </a:p>
        </p:txBody>
      </p:sp>
      <p:sp>
        <p:nvSpPr>
          <p:cNvPr id="155" name="Input row PK"/>
          <p:cNvSpPr/>
          <p:nvPr/>
        </p:nvSpPr>
        <p:spPr>
          <a:xfrm>
            <a:off x="2697480" y="3273552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/>
          </a:p>
        </p:txBody>
      </p:sp>
      <p:sp>
        <p:nvSpPr>
          <p:cNvPr id="137" name="Google Shape;137;h2627160d5792b11b_0_150"/>
          <p:cNvSpPr/>
          <p:nvPr/>
        </p:nvSpPr>
        <p:spPr>
          <a:xfrm>
            <a:off x="2697480" y="3621024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endParaRPr/>
          </a:p>
        </p:txBody>
      </p:sp>
      <p:sp>
        <p:nvSpPr>
          <p:cNvPr id="138" name="Google Shape;138;h2627160d5792b11b_0_150"/>
          <p:cNvSpPr/>
          <p:nvPr/>
        </p:nvSpPr>
        <p:spPr>
          <a:xfrm>
            <a:off x="1133856" y="3968496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BM_DEP</a:t>
            </a:r>
            <a:endParaRPr/>
          </a:p>
        </p:txBody>
      </p:sp>
      <p:sp>
        <p:nvSpPr>
          <p:cNvPr id="139" name="Google Shape;139;h2627160d5792b11b_0_150"/>
          <p:cNvSpPr/>
          <p:nvPr/>
        </p:nvSpPr>
        <p:spPr>
          <a:xfrm>
            <a:off x="2697480" y="3968496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140" name="Google Shape;140;h2627160d5792b11b_0_150"/>
          <p:cNvSpPr/>
          <p:nvPr/>
        </p:nvSpPr>
        <p:spPr>
          <a:xfrm>
            <a:off x="1133856" y="431596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ecog_stage</a:t>
            </a:r>
            <a:endParaRPr/>
          </a:p>
        </p:txBody>
      </p:sp>
      <p:sp>
        <p:nvSpPr>
          <p:cNvPr id="141" name="Google Shape;141;h2627160d5792b11b_0_150"/>
          <p:cNvSpPr/>
          <p:nvPr/>
        </p:nvSpPr>
        <p:spPr>
          <a:xfrm>
            <a:off x="2697480" y="4315968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142" name="Google Shape;142;h2627160d5792b11b_0_150"/>
          <p:cNvSpPr/>
          <p:nvPr/>
        </p:nvSpPr>
        <p:spPr>
          <a:xfrm>
            <a:off x="4983480" y="3200400"/>
            <a:ext cx="6217800" cy="3200400"/>
          </a:xfrm>
          <a:prstGeom prst="roundRect">
            <a:avLst>
              <a:gd fmla="val 9000" name="adj"/>
            </a:avLst>
          </a:prstGeom>
          <a:solidFill>
            <a:srgbClr val="F6F8FA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Code line 156"/>
          <p:cNvSpPr txBox="1"/>
          <p:nvPr/>
        </p:nvSpPr>
        <p:spPr>
          <a:xfrm>
            <a:off x="4983480" y="326440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Class: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</a:t>
            </a:r>
            <a:endParaRPr lang="en-US" sz="1050"/>
          </a:p>
        </p:txBody>
      </p:sp>
      <p:sp>
        <p:nvSpPr>
          <p:cNvPr id="157" name="Code line 157"/>
          <p:cNvSpPr txBox="1"/>
          <p:nvPr/>
        </p:nvSpPr>
        <p:spPr>
          <a:xfrm>
            <a:off x="4983480" y="342611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SubClassOf:</a:t>
            </a:r>
            <a:endParaRPr lang="en-US" sz="1050"/>
          </a:p>
        </p:txBody>
      </p:sp>
      <p:sp>
        <p:nvSpPr>
          <p:cNvPr id="158" name="Code line 158"/>
          <p:cNvSpPr txBox="1"/>
          <p:nvPr/>
        </p:nvSpPr>
        <p:spPr>
          <a:xfrm>
            <a:off x="4983480" y="3587816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59" name="Code line 159"/>
          <p:cNvSpPr txBox="1"/>
          <p:nvPr/>
        </p:nvSpPr>
        <p:spPr>
          <a:xfrm>
            <a:off x="4983480" y="3749521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hasPatientData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PatientData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60" name="Gloss"/>
          <p:cNvSpPr/>
          <p:nvPr/>
        </p:nvSpPr>
        <p:spPr>
          <a:xfrm>
            <a:off x="9399912" y="3749521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161" name="Code line 161"/>
          <p:cNvSpPr txBox="1"/>
          <p:nvPr/>
        </p:nvSpPr>
        <p:spPr>
          <a:xfrm>
            <a:off x="4983480" y="391122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62" name="Code line 162"/>
          <p:cNvSpPr txBox="1"/>
          <p:nvPr/>
        </p:nvSpPr>
        <p:spPr>
          <a:xfrm>
            <a:off x="4983480" y="4072930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endParaRPr lang="en-US" sz="1050"/>
          </a:p>
        </p:txBody>
      </p:sp>
      <p:sp>
        <p:nvSpPr>
          <p:cNvPr id="163" name="Code line 163"/>
          <p:cNvSpPr txBox="1"/>
          <p:nvPr/>
        </p:nvSpPr>
        <p:spPr>
          <a:xfrm>
            <a:off x="4983480" y="439633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endParaRPr lang="en-US" sz="1050"/>
          </a:p>
        </p:txBody>
      </p:sp>
      <p:sp>
        <p:nvSpPr>
          <p:cNvPr id="164" name="Code line 164"/>
          <p:cNvSpPr txBox="1"/>
          <p:nvPr/>
        </p:nvSpPr>
        <p:spPr>
          <a:xfrm>
            <a:off x="4983480" y="4558043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ObjectProperty: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hasPatientData</a:t>
            </a:r>
            <a:endParaRPr lang="en-US" sz="1050"/>
          </a:p>
        </p:txBody>
      </p:sp>
      <p:sp>
        <p:nvSpPr>
          <p:cNvPr id="165" name="Gloss"/>
          <p:cNvSpPr/>
          <p:nvPr/>
        </p:nvSpPr>
        <p:spPr>
          <a:xfrm>
            <a:off x="9399912" y="4558043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166" name="Code line 166"/>
          <p:cNvSpPr txBox="1"/>
          <p:nvPr/>
        </p:nvSpPr>
        <p:spPr>
          <a:xfrm>
            <a:off x="4983480" y="471974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endParaRPr lang="en-US" sz="1050"/>
          </a:p>
        </p:txBody>
      </p:sp>
      <p:sp>
        <p:nvSpPr>
          <p:cNvPr id="167" name="Code line 167"/>
          <p:cNvSpPr txBox="1"/>
          <p:nvPr/>
        </p:nvSpPr>
        <p:spPr>
          <a:xfrm>
            <a:off x="4983480" y="488145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168" name="Code line 168"/>
          <p:cNvSpPr txBox="1"/>
          <p:nvPr/>
        </p:nvSpPr>
        <p:spPr>
          <a:xfrm>
            <a:off x="4983480" y="5043156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rdfs:label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"Bone Marrow Depression"@en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69" name="Gloss"/>
          <p:cNvSpPr/>
          <p:nvPr/>
        </p:nvSpPr>
        <p:spPr>
          <a:xfrm>
            <a:off x="9399912" y="5043156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← documentation</a:t>
            </a:r>
          </a:p>
        </p:txBody>
      </p:sp>
      <p:sp>
        <p:nvSpPr>
          <p:cNvPr id="170" name="Code line 170"/>
          <p:cNvSpPr txBox="1"/>
          <p:nvPr/>
        </p:nvSpPr>
        <p:spPr>
          <a:xfrm>
            <a:off x="4983480" y="5204861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skos:relatedMatch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obo:DOID_4961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71" name="Gloss"/>
          <p:cNvSpPr/>
          <p:nvPr/>
        </p:nvSpPr>
        <p:spPr>
          <a:xfrm>
            <a:off x="9399912" y="5204861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0B6E4F"/>
                </a:solidFill>
                <a:latin typeface="Calibri"/>
                <a:cs typeface="Calibri"/>
              </a:rPr>
              <a:t xml:space="preserve">← Disease Ontology</a:t>
            </a:r>
          </a:p>
        </p:txBody>
      </p:sp>
      <p:sp>
        <p:nvSpPr>
          <p:cNvPr id="172" name="Code line 172"/>
          <p:cNvSpPr txBox="1"/>
          <p:nvPr/>
        </p:nvSpPr>
        <p:spPr>
          <a:xfrm>
            <a:off x="4983480" y="536656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admission:BM_DEP</a:t>
            </a:r>
            <a:endParaRPr lang="en-US" sz="1050"/>
          </a:p>
        </p:txBody>
      </p:sp>
      <p:sp>
        <p:nvSpPr>
          <p:cNvPr id="173" name="Gloss"/>
          <p:cNvSpPr/>
          <p:nvPr/>
        </p:nvSpPr>
        <p:spPr>
          <a:xfrm>
            <a:off x="9399912" y="5366565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  <p:sp>
        <p:nvSpPr>
          <p:cNvPr id="174" name="Code line 174"/>
          <p:cNvSpPr txBox="1"/>
          <p:nvPr/>
        </p:nvSpPr>
        <p:spPr>
          <a:xfrm>
            <a:off x="4983480" y="5528269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endParaRPr lang="en-US" sz="1050"/>
          </a:p>
        </p:txBody>
      </p:sp>
      <p:sp>
        <p:nvSpPr>
          <p:cNvPr id="175" name="Code line 175"/>
          <p:cNvSpPr txBox="1"/>
          <p:nvPr/>
        </p:nvSpPr>
        <p:spPr>
          <a:xfrm>
            <a:off x="4983480" y="5689974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176" name="Code line 176"/>
          <p:cNvSpPr txBox="1"/>
          <p:nvPr/>
        </p:nvSpPr>
        <p:spPr>
          <a:xfrm>
            <a:off x="4983480" y="585167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rdfs:label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"ECOG Performance Status"@en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177" name="Gloss"/>
          <p:cNvSpPr/>
          <p:nvPr/>
        </p:nvSpPr>
        <p:spPr>
          <a:xfrm>
            <a:off x="9399912" y="5851678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← documentation</a:t>
            </a:r>
          </a:p>
        </p:txBody>
      </p:sp>
      <p:sp>
        <p:nvSpPr>
          <p:cNvPr id="178" name="Code line 178"/>
          <p:cNvSpPr txBox="1"/>
          <p:nvPr/>
        </p:nvSpPr>
        <p:spPr>
          <a:xfrm>
            <a:off x="4983480" y="617508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admission:ecog_stage</a:t>
            </a:r>
            <a:endParaRPr lang="en-US" sz="1050"/>
          </a:p>
        </p:txBody>
      </p:sp>
      <p:sp>
        <p:nvSpPr>
          <p:cNvPr id="179" name="Gloss"/>
          <p:cNvSpPr/>
          <p:nvPr/>
        </p:nvSpPr>
        <p:spPr>
          <a:xfrm>
            <a:off x="9399912" y="6175087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2627160d5792b11b_0_236"/>
          <p:cNvSpPr txBox="1"/>
          <p:nvPr/>
        </p:nvSpPr>
        <p:spPr>
          <a:xfrm>
            <a:off x="804672" y="521207"/>
            <a:ext cx="1069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WHAT WE WANT TO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h2627160d5792b11b_0_236"/>
          <p:cNvSpPr txBox="1"/>
          <p:nvPr/>
        </p:nvSpPr>
        <p:spPr>
          <a:xfrm>
            <a:off x="804672" y="923544"/>
            <a:ext cx="10789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Not just a cleaner schema.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A usable semantic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h2627160d5792b11b_0_236"/>
          <p:cNvSpPr/>
          <p:nvPr/>
        </p:nvSpPr>
        <p:spPr>
          <a:xfrm>
            <a:off x="804672" y="2057400"/>
            <a:ext cx="2971800" cy="2880372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2627160d5792b11b_0_236"/>
          <p:cNvSpPr txBox="1"/>
          <p:nvPr/>
        </p:nvSpPr>
        <p:spPr>
          <a:xfrm>
            <a:off x="1024128" y="2212848"/>
            <a:ext cx="2514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5B6770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h2627160d5792b11b_0_236"/>
          <p:cNvSpPr/>
          <p:nvPr/>
        </p:nvSpPr>
        <p:spPr>
          <a:xfrm>
            <a:off x="3977639" y="3291840"/>
            <a:ext cx="567000" cy="42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h2627160d5792b11b_0_236"/>
          <p:cNvSpPr/>
          <p:nvPr/>
        </p:nvSpPr>
        <p:spPr>
          <a:xfrm>
            <a:off x="4754880" y="2057400"/>
            <a:ext cx="6656700" cy="4453128"/>
          </a:xfrm>
          <a:prstGeom prst="roundRect">
            <a:avLst>
              <a:gd fmla="val 10000" name="adj"/>
            </a:avLst>
          </a:prstGeom>
          <a:solidFill>
            <a:srgbClr val="F3F5F4"/>
          </a:solidFill>
          <a:ln cap="flat" cmpd="sng" w="1777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h2627160d5792b11b_0_236"/>
          <p:cNvSpPr txBox="1"/>
          <p:nvPr/>
        </p:nvSpPr>
        <p:spPr>
          <a:xfrm>
            <a:off x="5038344" y="2212848"/>
            <a:ext cx="604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h2627160d5792b11b_0_236"/>
          <p:cNvSpPr/>
          <p:nvPr/>
        </p:nvSpPr>
        <p:spPr>
          <a:xfrm>
            <a:off x="5093208" y="2633472"/>
            <a:ext cx="21030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h2627160d5792b11b_0_236"/>
          <p:cNvSpPr txBox="1"/>
          <p:nvPr/>
        </p:nvSpPr>
        <p:spPr>
          <a:xfrm>
            <a:off x="5248656" y="2743200"/>
            <a:ext cx="174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h2627160d5792b11b_0_236"/>
          <p:cNvSpPr/>
          <p:nvPr/>
        </p:nvSpPr>
        <p:spPr>
          <a:xfrm>
            <a:off x="9253728" y="2633472"/>
            <a:ext cx="18288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h2627160d5792b11b_0_236"/>
          <p:cNvSpPr txBox="1"/>
          <p:nvPr/>
        </p:nvSpPr>
        <p:spPr>
          <a:xfrm>
            <a:off x="9354312" y="2743200"/>
            <a:ext cx="164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h2627160d5792b11b_0_236"/>
          <p:cNvCxnSpPr/>
          <p:nvPr/>
        </p:nvCxnSpPr>
        <p:spPr>
          <a:xfrm>
            <a:off x="7278624" y="2871216"/>
            <a:ext cx="1865400" cy="0"/>
          </a:xfrm>
          <a:prstGeom prst="straightConnector1">
            <a:avLst/>
          </a:prstGeom>
          <a:noFill/>
          <a:ln cap="flat" cmpd="sng" w="31750">
            <a:solidFill>
              <a:srgbClr val="0B6E4F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171" name="Google Shape;171;h2627160d5792b11b_0_236"/>
          <p:cNvSpPr/>
          <p:nvPr/>
        </p:nvSpPr>
        <p:spPr>
          <a:xfrm>
            <a:off x="7388352" y="2487168"/>
            <a:ext cx="1591200" cy="274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h2627160d5792b11b_0_236"/>
          <p:cNvSpPr txBox="1"/>
          <p:nvPr/>
        </p:nvSpPr>
        <p:spPr>
          <a:xfrm>
            <a:off x="7278624" y="2514600"/>
            <a:ext cx="178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hasPatientData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2627160d5792b11b_0_236"/>
          <p:cNvSpPr/>
          <p:nvPr/>
        </p:nvSpPr>
        <p:spPr>
          <a:xfrm>
            <a:off x="969264" y="2615184"/>
            <a:ext cx="2642700" cy="2139672"/>
          </a:xfrm>
          <a:prstGeom prst="roundRect">
            <a:avLst>
              <a:gd fmla="val 9000" name="adj"/>
            </a:avLst>
          </a:prstGeom>
          <a:solidFill>
            <a:srgbClr val="E9EEEB"/>
          </a:solidFill>
          <a:ln>
            <a:noFill/>
          </a:ln>
          <a:effectLst>
            <a:outerShdw blurRad="76200" rotWithShape="0" algn="t" dir="5400000" dist="25400">
              <a:srgbClr val="000000">
                <a:alpha val="160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h2627160d5792b11b_0_236"/>
          <p:cNvSpPr txBox="1"/>
          <p:nvPr/>
        </p:nvSpPr>
        <p:spPr>
          <a:xfrm>
            <a:off x="1133856" y="2724912"/>
            <a:ext cx="233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h2627160d5792b11b_0_236"/>
          <p:cNvCxnSpPr/>
          <p:nvPr/>
        </p:nvCxnSpPr>
        <p:spPr>
          <a:xfrm>
            <a:off x="1133856" y="3145536"/>
            <a:ext cx="2313300" cy="0"/>
          </a:xfrm>
          <a:prstGeom prst="straightConnector1">
            <a:avLst/>
          </a:prstGeom>
          <a:noFill/>
          <a:ln cap="flat" cmpd="sng" w="19050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95" name="Input row admission_id"/>
          <p:cNvSpPr/>
          <p:nvPr/>
        </p:nvSpPr>
        <p:spPr>
          <a:xfrm>
            <a:off x="1133856" y="3273552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admission_id</a:t>
            </a:r>
            <a:endParaRPr/>
          </a:p>
        </p:txBody>
      </p:sp>
      <p:sp>
        <p:nvSpPr>
          <p:cNvPr id="176" name="Google Shape;176;h2627160d5792b11b_0_236"/>
          <p:cNvSpPr/>
          <p:nvPr/>
        </p:nvSpPr>
        <p:spPr>
          <a:xfrm>
            <a:off x="1133856" y="3621024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patient_id</a:t>
            </a:r>
            <a:endParaRPr/>
          </a:p>
        </p:txBody>
      </p:sp>
      <p:sp>
        <p:nvSpPr>
          <p:cNvPr id="196" name="Input row PK"/>
          <p:cNvSpPr/>
          <p:nvPr/>
        </p:nvSpPr>
        <p:spPr>
          <a:xfrm>
            <a:off x="2697480" y="3273552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/>
          </a:p>
        </p:txBody>
      </p:sp>
      <p:sp>
        <p:nvSpPr>
          <p:cNvPr id="177" name="Google Shape;177;h2627160d5792b11b_0_236"/>
          <p:cNvSpPr/>
          <p:nvPr/>
        </p:nvSpPr>
        <p:spPr>
          <a:xfrm>
            <a:off x="2697480" y="3621024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endParaRPr/>
          </a:p>
        </p:txBody>
      </p:sp>
      <p:sp>
        <p:nvSpPr>
          <p:cNvPr id="178" name="Google Shape;178;h2627160d5792b11b_0_236"/>
          <p:cNvSpPr/>
          <p:nvPr/>
        </p:nvSpPr>
        <p:spPr>
          <a:xfrm>
            <a:off x="1133856" y="3968496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BM_DEP</a:t>
            </a:r>
            <a:endParaRPr/>
          </a:p>
        </p:txBody>
      </p:sp>
      <p:sp>
        <p:nvSpPr>
          <p:cNvPr id="179" name="Google Shape;179;h2627160d5792b11b_0_236"/>
          <p:cNvSpPr/>
          <p:nvPr/>
        </p:nvSpPr>
        <p:spPr>
          <a:xfrm>
            <a:off x="2697480" y="3968496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180" name="Google Shape;180;h2627160d5792b11b_0_236"/>
          <p:cNvSpPr/>
          <p:nvPr/>
        </p:nvSpPr>
        <p:spPr>
          <a:xfrm>
            <a:off x="1133856" y="431596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ecog_stage</a:t>
            </a:r>
            <a:endParaRPr/>
          </a:p>
        </p:txBody>
      </p:sp>
      <p:sp>
        <p:nvSpPr>
          <p:cNvPr id="181" name="Google Shape;181;h2627160d5792b11b_0_236"/>
          <p:cNvSpPr/>
          <p:nvPr/>
        </p:nvSpPr>
        <p:spPr>
          <a:xfrm>
            <a:off x="2697480" y="4315968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182" name="Google Shape;182;h2627160d5792b11b_0_236"/>
          <p:cNvSpPr/>
          <p:nvPr/>
        </p:nvSpPr>
        <p:spPr>
          <a:xfrm>
            <a:off x="4983480" y="3200400"/>
            <a:ext cx="6217800" cy="3200400"/>
          </a:xfrm>
          <a:prstGeom prst="roundRect">
            <a:avLst>
              <a:gd fmla="val 9000" name="adj"/>
            </a:avLst>
          </a:prstGeom>
          <a:solidFill>
            <a:srgbClr val="F6F8FA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Code line 197"/>
          <p:cNvSpPr txBox="1"/>
          <p:nvPr/>
        </p:nvSpPr>
        <p:spPr>
          <a:xfrm>
            <a:off x="4983480" y="326440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Class: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</a:t>
            </a:r>
            <a:endParaRPr lang="en-US" sz="1050"/>
          </a:p>
        </p:txBody>
      </p:sp>
      <p:sp>
        <p:nvSpPr>
          <p:cNvPr id="198" name="Code line 198"/>
          <p:cNvSpPr txBox="1"/>
          <p:nvPr/>
        </p:nvSpPr>
        <p:spPr>
          <a:xfrm>
            <a:off x="4983480" y="342611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SubClassOf:</a:t>
            </a:r>
            <a:endParaRPr lang="en-US" sz="1050"/>
          </a:p>
        </p:txBody>
      </p:sp>
      <p:sp>
        <p:nvSpPr>
          <p:cNvPr id="199" name="Code line 199"/>
          <p:cNvSpPr txBox="1"/>
          <p:nvPr/>
        </p:nvSpPr>
        <p:spPr>
          <a:xfrm>
            <a:off x="4983480" y="3587816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00" name="Code line 200"/>
          <p:cNvSpPr txBox="1"/>
          <p:nvPr/>
        </p:nvSpPr>
        <p:spPr>
          <a:xfrm>
            <a:off x="4983480" y="3749521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hasPatientData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PatientData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01" name="Gloss"/>
          <p:cNvSpPr/>
          <p:nvPr/>
        </p:nvSpPr>
        <p:spPr>
          <a:xfrm>
            <a:off x="9399912" y="3749521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202" name="Code line 202"/>
          <p:cNvSpPr txBox="1"/>
          <p:nvPr/>
        </p:nvSpPr>
        <p:spPr>
          <a:xfrm>
            <a:off x="4983480" y="391122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03" name="Code line 203"/>
          <p:cNvSpPr txBox="1"/>
          <p:nvPr/>
        </p:nvSpPr>
        <p:spPr>
          <a:xfrm>
            <a:off x="4983480" y="4072930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endParaRPr lang="en-US" sz="1050"/>
          </a:p>
        </p:txBody>
      </p:sp>
      <p:sp>
        <p:nvSpPr>
          <p:cNvPr id="204" name="Code line 204"/>
          <p:cNvSpPr txBox="1"/>
          <p:nvPr/>
        </p:nvSpPr>
        <p:spPr>
          <a:xfrm>
            <a:off x="4983480" y="4234634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DisjointWith: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PatientData</a:t>
            </a:r>
            <a:endParaRPr lang="en-US" sz="1050"/>
          </a:p>
        </p:txBody>
      </p:sp>
      <p:sp>
        <p:nvSpPr>
          <p:cNvPr id="205" name="Gloss"/>
          <p:cNvSpPr/>
          <p:nvPr/>
        </p:nvSpPr>
        <p:spPr>
          <a:xfrm>
            <a:off x="9399912" y="4234634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6F42C1"/>
                </a:solidFill>
                <a:latin typeface="Calibri"/>
                <a:cs typeface="Calibri"/>
              </a:rPr>
              <a:t xml:space="preserve">← LLM knowledge</a:t>
            </a:r>
          </a:p>
        </p:txBody>
      </p:sp>
      <p:sp>
        <p:nvSpPr>
          <p:cNvPr id="206" name="Code line 206"/>
          <p:cNvSpPr txBox="1"/>
          <p:nvPr/>
        </p:nvSpPr>
        <p:spPr>
          <a:xfrm>
            <a:off x="4983480" y="439633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endParaRPr lang="en-US" sz="1050"/>
          </a:p>
        </p:txBody>
      </p:sp>
      <p:sp>
        <p:nvSpPr>
          <p:cNvPr id="207" name="Code line 207"/>
          <p:cNvSpPr txBox="1"/>
          <p:nvPr/>
        </p:nvSpPr>
        <p:spPr>
          <a:xfrm>
            <a:off x="4983480" y="4558043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ObjectProperty: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hasPatientData</a:t>
            </a:r>
            <a:endParaRPr lang="en-US" sz="1050"/>
          </a:p>
        </p:txBody>
      </p:sp>
      <p:sp>
        <p:nvSpPr>
          <p:cNvPr id="208" name="Gloss"/>
          <p:cNvSpPr/>
          <p:nvPr/>
        </p:nvSpPr>
        <p:spPr>
          <a:xfrm>
            <a:off x="9399912" y="4558043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209" name="Code line 209"/>
          <p:cNvSpPr txBox="1"/>
          <p:nvPr/>
        </p:nvSpPr>
        <p:spPr>
          <a:xfrm>
            <a:off x="4983480" y="471974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endParaRPr lang="en-US" sz="1050"/>
          </a:p>
        </p:txBody>
      </p:sp>
      <p:sp>
        <p:nvSpPr>
          <p:cNvPr id="210" name="Code line 210"/>
          <p:cNvSpPr txBox="1"/>
          <p:nvPr/>
        </p:nvSpPr>
        <p:spPr>
          <a:xfrm>
            <a:off x="4983480" y="488145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211" name="Code line 211"/>
          <p:cNvSpPr txBox="1"/>
          <p:nvPr/>
        </p:nvSpPr>
        <p:spPr>
          <a:xfrm>
            <a:off x="4983480" y="5043156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rdfs:label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"Bone Marrow Depression"@en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12" name="Gloss"/>
          <p:cNvSpPr/>
          <p:nvPr/>
        </p:nvSpPr>
        <p:spPr>
          <a:xfrm>
            <a:off x="9399912" y="5043156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← documentation</a:t>
            </a:r>
          </a:p>
        </p:txBody>
      </p:sp>
      <p:sp>
        <p:nvSpPr>
          <p:cNvPr id="213" name="Code line 213"/>
          <p:cNvSpPr txBox="1"/>
          <p:nvPr/>
        </p:nvSpPr>
        <p:spPr>
          <a:xfrm>
            <a:off x="4983480" y="5204861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skos:relatedMatch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obo:DOID_4961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14" name="Gloss"/>
          <p:cNvSpPr/>
          <p:nvPr/>
        </p:nvSpPr>
        <p:spPr>
          <a:xfrm>
            <a:off x="9399912" y="5204861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0B6E4F"/>
                </a:solidFill>
                <a:latin typeface="Calibri"/>
                <a:cs typeface="Calibri"/>
              </a:rPr>
              <a:t xml:space="preserve">← Disease Ontology</a:t>
            </a:r>
          </a:p>
        </p:txBody>
      </p:sp>
      <p:sp>
        <p:nvSpPr>
          <p:cNvPr id="215" name="Code line 215"/>
          <p:cNvSpPr txBox="1"/>
          <p:nvPr/>
        </p:nvSpPr>
        <p:spPr>
          <a:xfrm>
            <a:off x="4983480" y="536656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admission:BM_DEP</a:t>
            </a:r>
            <a:endParaRPr lang="en-US" sz="1050"/>
          </a:p>
        </p:txBody>
      </p:sp>
      <p:sp>
        <p:nvSpPr>
          <p:cNvPr id="216" name="Gloss"/>
          <p:cNvSpPr/>
          <p:nvPr/>
        </p:nvSpPr>
        <p:spPr>
          <a:xfrm>
            <a:off x="9399912" y="5366565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  <p:sp>
        <p:nvSpPr>
          <p:cNvPr id="217" name="Code line 217"/>
          <p:cNvSpPr txBox="1"/>
          <p:nvPr/>
        </p:nvSpPr>
        <p:spPr>
          <a:xfrm>
            <a:off x="4983480" y="5528269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endParaRPr lang="en-US" sz="1050"/>
          </a:p>
        </p:txBody>
      </p:sp>
      <p:sp>
        <p:nvSpPr>
          <p:cNvPr id="218" name="Code line 218"/>
          <p:cNvSpPr txBox="1"/>
          <p:nvPr/>
        </p:nvSpPr>
        <p:spPr>
          <a:xfrm>
            <a:off x="4983480" y="5689974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219" name="Code line 219"/>
          <p:cNvSpPr txBox="1"/>
          <p:nvPr/>
        </p:nvSpPr>
        <p:spPr>
          <a:xfrm>
            <a:off x="4983480" y="585167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rdfs:label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"ECOG Performance Status"@en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20" name="Gloss"/>
          <p:cNvSpPr/>
          <p:nvPr/>
        </p:nvSpPr>
        <p:spPr>
          <a:xfrm>
            <a:off x="9399912" y="5851678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← documentation</a:t>
            </a:r>
          </a:p>
        </p:txBody>
      </p:sp>
      <p:sp>
        <p:nvSpPr>
          <p:cNvPr id="221" name="Code line 221"/>
          <p:cNvSpPr txBox="1"/>
          <p:nvPr/>
        </p:nvSpPr>
        <p:spPr>
          <a:xfrm>
            <a:off x="4983480" y="6013383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rdfs:comment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"0 = fully active … 5 = dead"@en</a:t>
            </a:r>
            <a:r>
              <a:rPr lang="en-US" sz="1050" b="0" i="0" dirty="0">
                <a:solidFill>
                  <a:srgbClr val="1F2328"/>
                </a:solidFill>
                <a:highlight>
                  <a:srgbClr val="FFE599"/>
                </a:highlight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22" name="Gloss"/>
          <p:cNvSpPr/>
          <p:nvPr/>
        </p:nvSpPr>
        <p:spPr>
          <a:xfrm>
            <a:off x="9399912" y="6013383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6F42C1"/>
                </a:solidFill>
                <a:latin typeface="Calibri"/>
                <a:cs typeface="Calibri"/>
              </a:rPr>
              <a:t xml:space="preserve">← LLM knowledge</a:t>
            </a:r>
          </a:p>
        </p:txBody>
      </p:sp>
      <p:sp>
        <p:nvSpPr>
          <p:cNvPr id="223" name="Code line 223"/>
          <p:cNvSpPr txBox="1"/>
          <p:nvPr/>
        </p:nvSpPr>
        <p:spPr>
          <a:xfrm>
            <a:off x="4983480" y="617508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admission:ecog_stage</a:t>
            </a:r>
            <a:endParaRPr lang="en-US" sz="1050"/>
          </a:p>
        </p:txBody>
      </p:sp>
      <p:sp>
        <p:nvSpPr>
          <p:cNvPr id="224" name="Gloss"/>
          <p:cNvSpPr/>
          <p:nvPr/>
        </p:nvSpPr>
        <p:spPr>
          <a:xfrm>
            <a:off x="9399912" y="6175087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2627160d5792b11b_0_294"/>
          <p:cNvSpPr txBox="1"/>
          <p:nvPr/>
        </p:nvSpPr>
        <p:spPr>
          <a:xfrm>
            <a:off x="804672" y="521207"/>
            <a:ext cx="1069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WHAT WE WANT TO 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2627160d5792b11b_0_294"/>
          <p:cNvSpPr txBox="1"/>
          <p:nvPr/>
        </p:nvSpPr>
        <p:spPr>
          <a:xfrm>
            <a:off x="804672" y="923544"/>
            <a:ext cx="10789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Not just a cleaner schema.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A usable semantic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h2627160d5792b11b_0_294"/>
          <p:cNvSpPr/>
          <p:nvPr/>
        </p:nvSpPr>
        <p:spPr>
          <a:xfrm>
            <a:off x="804672" y="2057400"/>
            <a:ext cx="2971800" cy="2880372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9DEDB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h2627160d5792b11b_0_294"/>
          <p:cNvSpPr txBox="1"/>
          <p:nvPr/>
        </p:nvSpPr>
        <p:spPr>
          <a:xfrm>
            <a:off x="1024128" y="2212848"/>
            <a:ext cx="25146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5B6770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2627160d5792b11b_0_294"/>
          <p:cNvSpPr/>
          <p:nvPr/>
        </p:nvSpPr>
        <p:spPr>
          <a:xfrm>
            <a:off x="3977639" y="3291840"/>
            <a:ext cx="567000" cy="42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D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h2627160d5792b11b_0_294"/>
          <p:cNvSpPr/>
          <p:nvPr/>
        </p:nvSpPr>
        <p:spPr>
          <a:xfrm>
            <a:off x="4754880" y="2057400"/>
            <a:ext cx="6656700" cy="4453128"/>
          </a:xfrm>
          <a:prstGeom prst="roundRect">
            <a:avLst>
              <a:gd fmla="val 10000" name="adj"/>
            </a:avLst>
          </a:prstGeom>
          <a:solidFill>
            <a:srgbClr val="F3F5F4"/>
          </a:solidFill>
          <a:ln cap="flat" cmpd="sng" w="17775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h2627160d5792b11b_0_294"/>
          <p:cNvSpPr txBox="1"/>
          <p:nvPr/>
        </p:nvSpPr>
        <p:spPr>
          <a:xfrm>
            <a:off x="5038344" y="2212848"/>
            <a:ext cx="604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2627160d5792b11b_0_294"/>
          <p:cNvSpPr/>
          <p:nvPr/>
        </p:nvSpPr>
        <p:spPr>
          <a:xfrm>
            <a:off x="5093208" y="2633472"/>
            <a:ext cx="21030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h2627160d5792b11b_0_294"/>
          <p:cNvSpPr txBox="1"/>
          <p:nvPr/>
        </p:nvSpPr>
        <p:spPr>
          <a:xfrm>
            <a:off x="5248656" y="2743200"/>
            <a:ext cx="174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h2627160d5792b11b_0_294"/>
          <p:cNvSpPr/>
          <p:nvPr/>
        </p:nvSpPr>
        <p:spPr>
          <a:xfrm>
            <a:off x="9253728" y="2633472"/>
            <a:ext cx="1828800" cy="475500"/>
          </a:xfrm>
          <a:prstGeom prst="roundRect">
            <a:avLst>
              <a:gd fmla="val 10000" name="adj"/>
            </a:avLst>
          </a:prstGeom>
          <a:solidFill>
            <a:srgbClr val="E9EEEB"/>
          </a:solidFill>
          <a:ln cap="flat" cmpd="sng" w="12700">
            <a:solidFill>
              <a:srgbClr val="3A7D8C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h2627160d5792b11b_0_294"/>
          <p:cNvSpPr txBox="1"/>
          <p:nvPr/>
        </p:nvSpPr>
        <p:spPr>
          <a:xfrm>
            <a:off x="9354312" y="2743200"/>
            <a:ext cx="164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h2627160d5792b11b_0_294"/>
          <p:cNvCxnSpPr/>
          <p:nvPr/>
        </p:nvCxnSpPr>
        <p:spPr>
          <a:xfrm>
            <a:off x="7278624" y="2871216"/>
            <a:ext cx="1865400" cy="0"/>
          </a:xfrm>
          <a:prstGeom prst="straightConnector1">
            <a:avLst/>
          </a:prstGeom>
          <a:noFill/>
          <a:ln cap="flat" cmpd="sng" w="31750">
            <a:solidFill>
              <a:srgbClr val="0B6E4F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212" name="Google Shape;212;h2627160d5792b11b_0_294"/>
          <p:cNvSpPr/>
          <p:nvPr/>
        </p:nvSpPr>
        <p:spPr>
          <a:xfrm>
            <a:off x="7388352" y="2487168"/>
            <a:ext cx="1591200" cy="274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h2627160d5792b11b_0_294"/>
          <p:cNvSpPr txBox="1"/>
          <p:nvPr/>
        </p:nvSpPr>
        <p:spPr>
          <a:xfrm>
            <a:off x="7278624" y="2514600"/>
            <a:ext cx="178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hasPatientData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h2627160d5792b11b_0_294"/>
          <p:cNvSpPr/>
          <p:nvPr/>
        </p:nvSpPr>
        <p:spPr>
          <a:xfrm>
            <a:off x="969264" y="2615184"/>
            <a:ext cx="2642700" cy="2139672"/>
          </a:xfrm>
          <a:prstGeom prst="roundRect">
            <a:avLst>
              <a:gd fmla="val 9000" name="adj"/>
            </a:avLst>
          </a:prstGeom>
          <a:solidFill>
            <a:srgbClr val="E9EEEB"/>
          </a:solidFill>
          <a:ln>
            <a:noFill/>
          </a:ln>
          <a:effectLst>
            <a:outerShdw blurRad="76200" rotWithShape="0" algn="t" dir="5400000" dist="25400">
              <a:srgbClr val="000000">
                <a:alpha val="160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h2627160d5792b11b_0_294"/>
          <p:cNvSpPr txBox="1"/>
          <p:nvPr/>
        </p:nvSpPr>
        <p:spPr>
          <a:xfrm>
            <a:off x="1133856" y="2724912"/>
            <a:ext cx="233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h2627160d5792b11b_0_294"/>
          <p:cNvCxnSpPr/>
          <p:nvPr/>
        </p:nvCxnSpPr>
        <p:spPr>
          <a:xfrm>
            <a:off x="1133856" y="3145536"/>
            <a:ext cx="2313300" cy="0"/>
          </a:xfrm>
          <a:prstGeom prst="straightConnector1">
            <a:avLst/>
          </a:prstGeom>
          <a:noFill/>
          <a:ln cap="flat" cmpd="sng" w="19050">
            <a:solidFill>
              <a:srgbClr val="8E989E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38" name="Input row admission_id"/>
          <p:cNvSpPr/>
          <p:nvPr/>
        </p:nvSpPr>
        <p:spPr>
          <a:xfrm>
            <a:off x="1133856" y="3273552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admission_id</a:t>
            </a:r>
            <a:endParaRPr/>
          </a:p>
        </p:txBody>
      </p:sp>
      <p:sp>
        <p:nvSpPr>
          <p:cNvPr id="217" name="Google Shape;217;h2627160d5792b11b_0_294"/>
          <p:cNvSpPr/>
          <p:nvPr/>
        </p:nvSpPr>
        <p:spPr>
          <a:xfrm>
            <a:off x="1133856" y="3621024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patient_id</a:t>
            </a:r>
            <a:endParaRPr/>
          </a:p>
        </p:txBody>
      </p:sp>
      <p:sp>
        <p:nvSpPr>
          <p:cNvPr id="239" name="Input row PK"/>
          <p:cNvSpPr/>
          <p:nvPr/>
        </p:nvSpPr>
        <p:spPr>
          <a:xfrm>
            <a:off x="2697480" y="3273552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/>
          </a:p>
        </p:txBody>
      </p:sp>
      <p:sp>
        <p:nvSpPr>
          <p:cNvPr id="218" name="Google Shape;218;h2627160d5792b11b_0_294"/>
          <p:cNvSpPr/>
          <p:nvPr/>
        </p:nvSpPr>
        <p:spPr>
          <a:xfrm>
            <a:off x="2697480" y="3621024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endParaRPr/>
          </a:p>
        </p:txBody>
      </p:sp>
      <p:sp>
        <p:nvSpPr>
          <p:cNvPr id="219" name="Google Shape;219;h2627160d5792b11b_0_294"/>
          <p:cNvSpPr/>
          <p:nvPr/>
        </p:nvSpPr>
        <p:spPr>
          <a:xfrm>
            <a:off x="1133856" y="3968496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BM_DEP</a:t>
            </a:r>
            <a:endParaRPr/>
          </a:p>
        </p:txBody>
      </p:sp>
      <p:sp>
        <p:nvSpPr>
          <p:cNvPr id="220" name="Google Shape;220;h2627160d5792b11b_0_294"/>
          <p:cNvSpPr/>
          <p:nvPr/>
        </p:nvSpPr>
        <p:spPr>
          <a:xfrm>
            <a:off x="2697480" y="3968496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221" name="Google Shape;221;h2627160d5792b11b_0_294"/>
          <p:cNvSpPr/>
          <p:nvPr/>
        </p:nvSpPr>
        <p:spPr>
          <a:xfrm>
            <a:off x="1133856" y="4315968"/>
            <a:ext cx="160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alibri"/>
                <a:ea typeface="Calibri"/>
                <a:cs typeface="Calibri"/>
                <a:sym typeface="Calibri"/>
              </a:rPr>
              <a:t>ecog_stage</a:t>
            </a:r>
            <a:endParaRPr/>
          </a:p>
        </p:txBody>
      </p:sp>
      <p:sp>
        <p:nvSpPr>
          <p:cNvPr id="222" name="Google Shape;222;h2627160d5792b11b_0_294"/>
          <p:cNvSpPr/>
          <p:nvPr/>
        </p:nvSpPr>
        <p:spPr>
          <a:xfrm>
            <a:off x="2697480" y="4315968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endParaRPr/>
          </a:p>
        </p:txBody>
      </p:sp>
      <p:sp>
        <p:nvSpPr>
          <p:cNvPr id="223" name="Google Shape;223;h2627160d5792b11b_0_294"/>
          <p:cNvSpPr/>
          <p:nvPr/>
        </p:nvSpPr>
        <p:spPr>
          <a:xfrm>
            <a:off x="4983480" y="3200400"/>
            <a:ext cx="6217800" cy="3200400"/>
          </a:xfrm>
          <a:prstGeom prst="roundRect">
            <a:avLst>
              <a:gd fmla="val 9000" name="adj"/>
            </a:avLst>
          </a:prstGeom>
          <a:solidFill>
            <a:srgbClr val="F6F8FA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h2627160d5792b11b_0_294"/>
          <p:cNvSpPr/>
          <p:nvPr/>
        </p:nvSpPr>
        <p:spPr>
          <a:xfrm>
            <a:off x="804672" y="5084064"/>
            <a:ext cx="2971800" cy="1472040"/>
          </a:xfrm>
          <a:prstGeom prst="roundRect">
            <a:avLst>
              <a:gd fmla="val 10000" name="adj"/>
            </a:avLst>
          </a:prstGeom>
          <a:solidFill>
            <a:srgbClr val="F3F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h2627160d5792b11b_0_294"/>
          <p:cNvSpPr/>
          <p:nvPr/>
        </p:nvSpPr>
        <p:spPr>
          <a:xfrm>
            <a:off x="1005840" y="5193792"/>
            <a:ext cx="26061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WHAT THIS ENABLES</a:t>
            </a:r>
            <a:endParaRPr b="1" i="0" sz="1150" u="none" cap="none" strike="noStrike">
              <a:solidFill>
                <a:srgbClr val="0B6E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0B6E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Ontology-based data access (OBDA)</a:t>
            </a:r>
            <a:endParaRPr>
              <a:solidFill>
                <a:srgbClr val="1F23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Knowledge graph population</a:t>
            </a:r>
            <a:endParaRPr>
              <a:solidFill>
                <a:srgbClr val="1F23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Semantic data integration</a:t>
            </a:r>
            <a:endParaRPr>
              <a:solidFill>
                <a:srgbClr val="1F23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Code line 240"/>
          <p:cNvSpPr txBox="1"/>
          <p:nvPr/>
        </p:nvSpPr>
        <p:spPr>
          <a:xfrm>
            <a:off x="4983480" y="326440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Class: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</a:t>
            </a:r>
            <a:endParaRPr lang="en-US" sz="1050"/>
          </a:p>
        </p:txBody>
      </p:sp>
      <p:sp>
        <p:nvSpPr>
          <p:cNvPr id="241" name="Code line 241"/>
          <p:cNvSpPr txBox="1"/>
          <p:nvPr/>
        </p:nvSpPr>
        <p:spPr>
          <a:xfrm>
            <a:off x="4983480" y="342611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SubClassOf:</a:t>
            </a:r>
            <a:endParaRPr lang="en-US" sz="1050"/>
          </a:p>
        </p:txBody>
      </p:sp>
      <p:sp>
        <p:nvSpPr>
          <p:cNvPr id="242" name="Code line 242"/>
          <p:cNvSpPr txBox="1"/>
          <p:nvPr/>
        </p:nvSpPr>
        <p:spPr>
          <a:xfrm>
            <a:off x="4983480" y="3587816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43" name="Code line 243"/>
          <p:cNvSpPr txBox="1"/>
          <p:nvPr/>
        </p:nvSpPr>
        <p:spPr>
          <a:xfrm>
            <a:off x="4983480" y="3749521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hasPatientData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some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PatientData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44" name="Gloss"/>
          <p:cNvSpPr/>
          <p:nvPr/>
        </p:nvSpPr>
        <p:spPr>
          <a:xfrm>
            <a:off x="9399912" y="3749521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245" name="Code line 245"/>
          <p:cNvSpPr txBox="1"/>
          <p:nvPr/>
        </p:nvSpPr>
        <p:spPr>
          <a:xfrm>
            <a:off x="4983480" y="391122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46" name="Code line 246"/>
          <p:cNvSpPr txBox="1"/>
          <p:nvPr/>
        </p:nvSpPr>
        <p:spPr>
          <a:xfrm>
            <a:off x="4983480" y="4072930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only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6F42C1"/>
                </a:solidFill>
                <a:latin typeface="Consolas"/>
                <a:cs typeface="Consolas"/>
              </a:rPr>
              <a:t xml:space="preserve">xsd:integer</a:t>
            </a:r>
            <a:endParaRPr lang="en-US" sz="1050"/>
          </a:p>
        </p:txBody>
      </p:sp>
      <p:sp>
        <p:nvSpPr>
          <p:cNvPr id="247" name="Code line 247"/>
          <p:cNvSpPr txBox="1"/>
          <p:nvPr/>
        </p:nvSpPr>
        <p:spPr>
          <a:xfrm>
            <a:off x="4983480" y="4234634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DisjointWith: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PatientData</a:t>
            </a:r>
            <a:endParaRPr lang="en-US" sz="1050"/>
          </a:p>
        </p:txBody>
      </p:sp>
      <p:sp>
        <p:nvSpPr>
          <p:cNvPr id="248" name="Gloss"/>
          <p:cNvSpPr/>
          <p:nvPr/>
        </p:nvSpPr>
        <p:spPr>
          <a:xfrm>
            <a:off x="9399912" y="4234634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6F42C1"/>
                </a:solidFill>
                <a:latin typeface="Calibri"/>
                <a:cs typeface="Calibri"/>
              </a:rPr>
              <a:t xml:space="preserve">← LLM knowledge</a:t>
            </a:r>
          </a:p>
        </p:txBody>
      </p:sp>
      <p:sp>
        <p:nvSpPr>
          <p:cNvPr id="249" name="Code line 249"/>
          <p:cNvSpPr txBox="1"/>
          <p:nvPr/>
        </p:nvSpPr>
        <p:spPr>
          <a:xfrm>
            <a:off x="4983480" y="439633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admission_id</a:t>
            </a:r>
            <a:endParaRPr lang="en-US" sz="1050"/>
          </a:p>
        </p:txBody>
      </p:sp>
      <p:sp>
        <p:nvSpPr>
          <p:cNvPr id="250" name="Code line 250"/>
          <p:cNvSpPr txBox="1"/>
          <p:nvPr/>
        </p:nvSpPr>
        <p:spPr>
          <a:xfrm>
            <a:off x="4983480" y="4558043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ObjectProperty: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hasPatientData</a:t>
            </a:r>
            <a:endParaRPr lang="en-US" sz="1050"/>
          </a:p>
        </p:txBody>
      </p:sp>
      <p:sp>
        <p:nvSpPr>
          <p:cNvPr id="251" name="Gloss"/>
          <p:cNvSpPr/>
          <p:nvPr/>
        </p:nvSpPr>
        <p:spPr>
          <a:xfrm>
            <a:off x="9399912" y="4558043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schema (foreign key)</a:t>
            </a:r>
          </a:p>
        </p:txBody>
      </p:sp>
      <p:sp>
        <p:nvSpPr>
          <p:cNvPr id="252" name="Code line 252"/>
          <p:cNvSpPr txBox="1"/>
          <p:nvPr/>
        </p:nvSpPr>
        <p:spPr>
          <a:xfrm>
            <a:off x="4983480" y="471974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BM_DEP</a:t>
            </a:r>
            <a:endParaRPr lang="en-US" sz="1050"/>
          </a:p>
        </p:txBody>
      </p:sp>
      <p:sp>
        <p:nvSpPr>
          <p:cNvPr id="253" name="Code line 253"/>
          <p:cNvSpPr txBox="1"/>
          <p:nvPr/>
        </p:nvSpPr>
        <p:spPr>
          <a:xfrm>
            <a:off x="4983480" y="4881452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254" name="Code line 254"/>
          <p:cNvSpPr txBox="1"/>
          <p:nvPr/>
        </p:nvSpPr>
        <p:spPr>
          <a:xfrm>
            <a:off x="4983480" y="5043156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rdfs:label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"Bone Marrow Depression"@en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55" name="Gloss"/>
          <p:cNvSpPr/>
          <p:nvPr/>
        </p:nvSpPr>
        <p:spPr>
          <a:xfrm>
            <a:off x="9399912" y="5043156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← documentation</a:t>
            </a:r>
          </a:p>
        </p:txBody>
      </p:sp>
      <p:sp>
        <p:nvSpPr>
          <p:cNvPr id="256" name="Code line 256"/>
          <p:cNvSpPr txBox="1"/>
          <p:nvPr/>
        </p:nvSpPr>
        <p:spPr>
          <a:xfrm>
            <a:off x="4983480" y="5204861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skos:relatedMatch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obo:DOID_4961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57" name="Gloss"/>
          <p:cNvSpPr/>
          <p:nvPr/>
        </p:nvSpPr>
        <p:spPr>
          <a:xfrm>
            <a:off x="9399912" y="5204861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0B6E4F"/>
                </a:solidFill>
                <a:latin typeface="Calibri"/>
                <a:cs typeface="Calibri"/>
              </a:rPr>
              <a:t xml:space="preserve">← Disease Ontology</a:t>
            </a:r>
          </a:p>
        </p:txBody>
      </p:sp>
      <p:sp>
        <p:nvSpPr>
          <p:cNvPr id="258" name="Code line 258"/>
          <p:cNvSpPr txBox="1"/>
          <p:nvPr/>
        </p:nvSpPr>
        <p:spPr>
          <a:xfrm>
            <a:off x="4983480" y="5366565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admission:BM_DEP</a:t>
            </a:r>
            <a:endParaRPr lang="en-US" sz="1050"/>
          </a:p>
        </p:txBody>
      </p:sp>
      <p:sp>
        <p:nvSpPr>
          <p:cNvPr id="259" name="Gloss"/>
          <p:cNvSpPr/>
          <p:nvPr/>
        </p:nvSpPr>
        <p:spPr>
          <a:xfrm>
            <a:off x="9399912" y="5366565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  <p:sp>
        <p:nvSpPr>
          <p:cNvPr id="260" name="Code line 260"/>
          <p:cNvSpPr txBox="1"/>
          <p:nvPr/>
        </p:nvSpPr>
        <p:spPr>
          <a:xfrm>
            <a:off x="4983480" y="5528269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DataProperty: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ecog_stage</a:t>
            </a:r>
            <a:endParaRPr lang="en-US" sz="1050"/>
          </a:p>
        </p:txBody>
      </p:sp>
      <p:sp>
        <p:nvSpPr>
          <p:cNvPr id="261" name="Code line 261"/>
          <p:cNvSpPr txBox="1"/>
          <p:nvPr/>
        </p:nvSpPr>
        <p:spPr>
          <a:xfrm>
            <a:off x="4983480" y="5689974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</a:t>
            </a:r>
            <a:r>
              <a:rPr lang="en-US" sz="105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Annotations:</a:t>
            </a:r>
            <a:endParaRPr lang="en-US" sz="1050"/>
          </a:p>
        </p:txBody>
      </p:sp>
      <p:sp>
        <p:nvSpPr>
          <p:cNvPr id="262" name="Code line 262"/>
          <p:cNvSpPr txBox="1"/>
          <p:nvPr/>
        </p:nvSpPr>
        <p:spPr>
          <a:xfrm>
            <a:off x="4983480" y="5851678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rdfs:label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"ECOG Performance Status"@en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63" name="Gloss"/>
          <p:cNvSpPr/>
          <p:nvPr/>
        </p:nvSpPr>
        <p:spPr>
          <a:xfrm>
            <a:off x="9399912" y="5851678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2F6B78"/>
                </a:solidFill>
                <a:latin typeface="Calibri"/>
                <a:cs typeface="Calibri"/>
              </a:rPr>
              <a:t xml:space="preserve">← documentation</a:t>
            </a:r>
          </a:p>
        </p:txBody>
      </p:sp>
      <p:sp>
        <p:nvSpPr>
          <p:cNvPr id="264" name="Code line 264"/>
          <p:cNvSpPr txBox="1"/>
          <p:nvPr/>
        </p:nvSpPr>
        <p:spPr>
          <a:xfrm>
            <a:off x="4983480" y="6013383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rdfs:comment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A3401E"/>
                </a:solidFill>
                <a:latin typeface="Consolas"/>
                <a:cs typeface="Consolas"/>
              </a:rPr>
              <a:t xml:space="preserve">"0 = fully active … 5 = dead"@en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,</a:t>
            </a:r>
            <a:endParaRPr lang="en-US" sz="1050"/>
          </a:p>
        </p:txBody>
      </p:sp>
      <p:sp>
        <p:nvSpPr>
          <p:cNvPr id="265" name="Gloss"/>
          <p:cNvSpPr/>
          <p:nvPr/>
        </p:nvSpPr>
        <p:spPr>
          <a:xfrm>
            <a:off x="9399912" y="6013383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6F42C1"/>
                </a:solidFill>
                <a:latin typeface="Calibri"/>
                <a:cs typeface="Calibri"/>
              </a:rPr>
              <a:t xml:space="preserve">← LLM knowledge</a:t>
            </a:r>
          </a:p>
        </p:txBody>
      </p:sp>
      <p:sp>
        <p:nvSpPr>
          <p:cNvPr id="266" name="Code line 266"/>
          <p:cNvSpPr txBox="1"/>
          <p:nvPr/>
        </p:nvSpPr>
        <p:spPr>
          <a:xfrm>
            <a:off x="4983480" y="6175087"/>
            <a:ext cx="4480440" cy="161704"/>
          </a:xfrm>
          <a:prstGeom prst="rect">
            <a:avLst/>
          </a:prstGeom>
          <a:noFill/>
        </p:spPr>
        <p:txBody>
          <a:bodyPr wrap="none" lIns="146304" tIns="0" rIns="0" bIns="0" anchor="ctr">
            <a:noAutofit/>
          </a:bodyPr>
          <a:lstStyle/>
          <a:p>
            <a:pPr>
              <a:tabLst>
                <a:tab pos="4224528" algn="l"/>
              </a:tabLst>
            </a:pP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   </a:t>
            </a:r>
            <a:r>
              <a:rPr lang="en-US" sz="1050" b="0" i="0" dirty="0">
                <a:solidFill>
                  <a:srgbClr val="5B6770"/>
                </a:solidFill>
                <a:latin typeface="Consolas"/>
                <a:cs typeface="Consolas"/>
              </a:rPr>
              <a:t xml:space="preserve">prov:wasDerivedFrom</a:t>
            </a:r>
            <a:r>
              <a:rPr lang="en-US" sz="1050" b="0" i="0" dirty="0">
                <a:solidFill>
                  <a:srgbClr val="1F2328"/>
                </a:solidFill>
                <a:latin typeface="Consolas"/>
                <a:cs typeface="Consolas"/>
              </a:rPr>
              <a:t xml:space="preserve"> </a:t>
            </a:r>
            <a:r>
              <a:rPr lang="en-US" sz="1050" b="0" i="0" dirty="0">
                <a:solidFill>
                  <a:srgbClr val="2F6B78"/>
                </a:solidFill>
                <a:latin typeface="Consolas"/>
                <a:cs typeface="Consolas"/>
              </a:rPr>
              <a:t xml:space="preserve">admission:ecog_stage</a:t>
            </a:r>
            <a:endParaRPr lang="en-US" sz="1050"/>
          </a:p>
        </p:txBody>
      </p:sp>
      <p:sp>
        <p:nvSpPr>
          <p:cNvPr id="267" name="Gloss"/>
          <p:cNvSpPr/>
          <p:nvPr/>
        </p:nvSpPr>
        <p:spPr>
          <a:xfrm>
            <a:off x="9399912" y="6175087"/>
            <a:ext cx="1600200" cy="161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en-US" sz="100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← source column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2026-10-26T00:50:16Z</dcterms:created>
</cp:coreProperties>
</file>