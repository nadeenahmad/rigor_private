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91" r:id="rId45"/>
    <p:sldId id="292" r:id="rId46"/>
    <p:sldId id="293" r:id="rId47"/>
    <p:sldId id="294" r:id="rId48"/>
    <p:sldId id="295" r:id="rId49"/>
    <p:sldId id="278" r:id="rId27"/>
  </p:sldIdLst>
  <p:sldSz cy="6858000" cx="12192000"/>
  <p:notesSz cx="6858000" cy="12192000"/>
  <p:embeddedFontLst>
    <p:embeddedFont>
      <p:font typeface="IBM Plex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iIhFui5hy+i4o3KOYM/gPuu+Lj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IBMPlexSans-regular.fntdata"/><Relationship Id="rId42" Type="http://schemas.openxmlformats.org/officeDocument/2006/relationships/font" Target="fonts/IBMPlexSans-italic.fntdata"/><Relationship Id="rId41" Type="http://schemas.openxmlformats.org/officeDocument/2006/relationships/font" Target="fonts/IBMPlexSans-bold.fntdata"/><Relationship Id="rId44" Type="http://customschemas.google.com/relationships/presentationmetadata" Target="metadata"/><Relationship Id="rId43" Type="http://schemas.openxmlformats.org/officeDocument/2006/relationships/font" Target="fonts/IBMPlex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27" Type="http://schemas.openxmlformats.org/officeDocument/2006/relationships/slide" Target="slides/slide23.xml"/>  <Relationship Id="rId45" Type="http://schemas.openxmlformats.org/officeDocument/2006/relationships/slide" Target="slides/slide36.xml"/>
  <Relationship Id="rId46" Type="http://schemas.openxmlformats.org/officeDocument/2006/relationships/slide" Target="slides/slide37.xml"/>
  <Relationship Id="rId47" Type="http://schemas.openxmlformats.org/officeDocument/2006/relationships/slide" Target="slides/slide38.xml"/>
  <Relationship Id="rId48" Type="http://schemas.openxmlformats.org/officeDocument/2006/relationships/slide" Target="slides/slide39.xml"/>
  <Relationship Id="rId49" Type="http://schemas.openxmlformats.org/officeDocument/2006/relationships/slide" Target="slides/slide40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[7:33–7:44]  SPOKEN SCRIPT (20 words)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 the validated delta is merged into the core, which feeds retrieval for the next table. That loop is RIGOR.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PRESENTER / POINTER: Trace the green return arrow from (i) back to (e).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AUDIENCE TAKEAWAY: Merge, and loop.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 AND SCOPE: Paper Fig. 1(i).</a:t>
            </a:r>
            <a:endParaRPr/>
          </a:p>
        </p:txBody>
      </p:sp>
      <p:sp>
        <p:nvSpPr>
          <p:cNvPr id="984" name="Google Shape;984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[7:19–7:29]  SPOKEN SCRIPT (18 words)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Let me put the pieces together, as in the paper's Figure 1. First, the schema decides the order.</a:t>
            </a:r>
          </a:p>
          <a:p/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PRESENTER / POINTER: Quick click. Reconnect, do not re-explain.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AUDIENCE TAKEAWAY: Order.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 AND SCOPE: Paper Fig. 1(a).</a:t>
            </a:r>
          </a:p>
        </p:txBody>
      </p:sp>
      <p:sp>
        <p:nvSpPr>
          <p:cNvPr id="984" name="Google Shape;984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[7:29–7:37]  SPOKEN SCRIPT (14 words)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 table then gets its deterministic seed: the structural anchor for everything that follows.</a:t>
            </a:r>
          </a:p>
          <a:p/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PRESENTER / POINTER: Quick click.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AUDIENCE TAKEAWAY: Seed.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 AND SCOPE: Paper Fig. 1(b).</a:t>
            </a:r>
          </a:p>
        </p:txBody>
      </p:sp>
      <p:sp>
        <p:nvSpPr>
          <p:cNvPr id="984" name="Google Shape;984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[7:37–7:46]  SPOKEN SCRIPT (15 words)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Three retrieval channels add meaning: external ontologies, documentation, and the core ontology built so far.</a:t>
            </a:r>
          </a:p>
          <a:p/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PRESENTER / POINTER: Quick click.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AUDIENCE TAKEAWAY: Retrieve.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 AND SCOPE: Paper Fig. 1(c-e).</a:t>
            </a:r>
          </a:p>
        </p:txBody>
      </p:sp>
      <p:sp>
        <p:nvSpPr>
          <p:cNvPr id="984" name="Google Shape;984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[7:46–7:51]  SPOKEN SCRIPT (10 words)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Gen-LLM combines seed and context into a delta ontology.</a:t>
            </a:r>
          </a:p>
          <a:p/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PRESENTER / POINTER: Quick click.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AUDIENCE TAKEAWAY: Generate.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 AND SCOPE: Paper Fig. 1(f-g).</a:t>
            </a:r>
          </a:p>
        </p:txBody>
      </p:sp>
      <p:sp>
        <p:nvSpPr>
          <p:cNvPr id="984" name="Google Shape;984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[7:51–7:58]  SPOKEN SCRIPT (12 words)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 Judge-LLM and rule-based checks validate the delta before it can join.</a:t>
            </a:r>
          </a:p>
          <a:p/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PRESENTER / POINTER: Quick click.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AUDIENCE TAKEAWAY: Validate.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 AND SCOPE: Paper Fig. 1(h).</a:t>
            </a:r>
          </a:p>
        </p:txBody>
      </p:sp>
      <p:sp>
        <p:nvSpPr>
          <p:cNvPr id="984" name="Google Shape;984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5"/>
          <p:cNvSpPr txBox="1"/>
          <p:nvPr>
            <p:ph type="title"/>
          </p:nvPr>
        </p:nvSpPr>
        <p:spPr>
          <a:xfrm>
            <a:off x="812800" y="1153120"/>
            <a:ext cx="10566400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800"/>
              <a:buFont typeface="Calibri"/>
              <a:buNone/>
              <a:defRPr sz="28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" type="body"/>
          </p:nvPr>
        </p:nvSpPr>
        <p:spPr>
          <a:xfrm>
            <a:off x="812800" y="1849041"/>
            <a:ext cx="10566400" cy="4196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F2328"/>
              </a:buClr>
              <a:buSzPts val="1600"/>
              <a:buNone/>
              <a:defRPr sz="16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812800" y="1153120"/>
            <a:ext cx="10566400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800"/>
              <a:buFont typeface="Calibri"/>
              <a:buNone/>
              <a:defRPr b="0" i="0" sz="2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812800" y="1849041"/>
            <a:ext cx="10566400" cy="4196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Notes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Notes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Notes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Notes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Notes" Type="http://schemas.openxmlformats.org/officeDocument/2006/relationships/notesSlide" Target="../notesSlides/notesSlide40.xml"/></Relationships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6" name="Google Shape;986;p17"/>
          <p:cNvCxnSpPr/>
          <p:nvPr/>
        </p:nvCxnSpPr>
        <p:spPr>
          <a:xfrm>
            <a:off x="7261490" y="3782975"/>
            <a:ext cx="2286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987" name="Google Shape;987;p17"/>
          <p:cNvCxnSpPr/>
          <p:nvPr/>
        </p:nvCxnSpPr>
        <p:spPr>
          <a:xfrm>
            <a:off x="7071140" y="3304363"/>
            <a:ext cx="1464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88" name="Google Shape;988;p17"/>
          <p:cNvSpPr txBox="1"/>
          <p:nvPr/>
        </p:nvSpPr>
        <p:spPr>
          <a:xfrm>
            <a:off x="512064" y="320040"/>
            <a:ext cx="6675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RIGOR  /  REASSEMBLING THE ARCHITECTURE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9" name="Google Shape;989;p17"/>
          <p:cNvSpPr txBox="1"/>
          <p:nvPr/>
        </p:nvSpPr>
        <p:spPr>
          <a:xfrm>
            <a:off x="512064" y="685800"/>
            <a:ext cx="10881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6. Integrate and reuse the growing 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17"/>
          <p:cNvSpPr txBox="1"/>
          <p:nvPr/>
        </p:nvSpPr>
        <p:spPr>
          <a:xfrm>
            <a:off x="512064" y="1271016"/>
            <a:ext cx="10607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 The growing core feeds the next generation iteration.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17"/>
          <p:cNvSpPr/>
          <p:nvPr/>
        </p:nvSpPr>
        <p:spPr>
          <a:xfrm>
            <a:off x="9692640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17"/>
          <p:cNvSpPr/>
          <p:nvPr/>
        </p:nvSpPr>
        <p:spPr>
          <a:xfrm>
            <a:off x="10049256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17"/>
          <p:cNvSpPr/>
          <p:nvPr/>
        </p:nvSpPr>
        <p:spPr>
          <a:xfrm>
            <a:off x="10405872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17"/>
          <p:cNvSpPr/>
          <p:nvPr/>
        </p:nvSpPr>
        <p:spPr>
          <a:xfrm>
            <a:off x="10762488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17"/>
          <p:cNvSpPr/>
          <p:nvPr/>
        </p:nvSpPr>
        <p:spPr>
          <a:xfrm>
            <a:off x="11119104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17"/>
          <p:cNvSpPr/>
          <p:nvPr/>
        </p:nvSpPr>
        <p:spPr>
          <a:xfrm>
            <a:off x="11475720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17"/>
          <p:cNvSpPr txBox="1"/>
          <p:nvPr/>
        </p:nvSpPr>
        <p:spPr>
          <a:xfrm>
            <a:off x="10917936" y="6519672"/>
            <a:ext cx="80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6 /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8" name="Google Shape;998;p17"/>
          <p:cNvCxnSpPr/>
          <p:nvPr/>
        </p:nvCxnSpPr>
        <p:spPr>
          <a:xfrm>
            <a:off x="1577684" y="3507531"/>
            <a:ext cx="164700" cy="0"/>
          </a:xfrm>
          <a:prstGeom prst="straightConnector1">
            <a:avLst/>
          </a:prstGeom>
          <a:noFill/>
          <a:ln cap="flat" cmpd="sng" w="381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99" name="Google Shape;999;p17"/>
          <p:cNvSpPr/>
          <p:nvPr/>
        </p:nvSpPr>
        <p:spPr>
          <a:xfrm rot="5400000">
            <a:off x="1678184" y="3443523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0" name="Google Shape;1000;p17"/>
          <p:cNvCxnSpPr/>
          <p:nvPr/>
        </p:nvCxnSpPr>
        <p:spPr>
          <a:xfrm>
            <a:off x="3369671" y="3446462"/>
            <a:ext cx="1005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1" name="Google Shape;1001;p17"/>
          <p:cNvCxnSpPr/>
          <p:nvPr/>
        </p:nvCxnSpPr>
        <p:spPr>
          <a:xfrm rot="10800000">
            <a:off x="3456647" y="2186248"/>
            <a:ext cx="0" cy="127110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2" name="Google Shape;1002;p17"/>
          <p:cNvCxnSpPr/>
          <p:nvPr/>
        </p:nvCxnSpPr>
        <p:spPr>
          <a:xfrm>
            <a:off x="3456647" y="2199939"/>
            <a:ext cx="2652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03" name="Google Shape;1003;p17"/>
          <p:cNvSpPr/>
          <p:nvPr/>
        </p:nvSpPr>
        <p:spPr>
          <a:xfrm rot="5400000">
            <a:off x="3918081" y="2135931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4" name="Google Shape;1004;p17"/>
          <p:cNvCxnSpPr/>
          <p:nvPr/>
        </p:nvCxnSpPr>
        <p:spPr>
          <a:xfrm>
            <a:off x="3356063" y="3608115"/>
            <a:ext cx="1188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5" name="Google Shape;1005;p17"/>
          <p:cNvCxnSpPr/>
          <p:nvPr/>
        </p:nvCxnSpPr>
        <p:spPr>
          <a:xfrm rot="10800000">
            <a:off x="3537528" y="3283708"/>
            <a:ext cx="0" cy="31080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6" name="Google Shape;1006;p17"/>
          <p:cNvCxnSpPr/>
          <p:nvPr/>
        </p:nvCxnSpPr>
        <p:spPr>
          <a:xfrm>
            <a:off x="3537528" y="3297219"/>
            <a:ext cx="2559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07" name="Google Shape;1007;p17"/>
          <p:cNvSpPr/>
          <p:nvPr/>
        </p:nvSpPr>
        <p:spPr>
          <a:xfrm rot="5400000">
            <a:off x="3729467" y="3233211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8" name="Google Shape;1008;p17"/>
          <p:cNvCxnSpPr/>
          <p:nvPr/>
        </p:nvCxnSpPr>
        <p:spPr>
          <a:xfrm>
            <a:off x="3356063" y="3608115"/>
            <a:ext cx="1188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9" name="Google Shape;1009;p17"/>
          <p:cNvCxnSpPr/>
          <p:nvPr/>
        </p:nvCxnSpPr>
        <p:spPr>
          <a:xfrm>
            <a:off x="3537528" y="3992163"/>
            <a:ext cx="2559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10" name="Google Shape;1010;p17"/>
          <p:cNvSpPr/>
          <p:nvPr/>
        </p:nvSpPr>
        <p:spPr>
          <a:xfrm rot="5400000">
            <a:off x="3729467" y="3928154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1" name="Google Shape;1011;p17"/>
          <p:cNvCxnSpPr/>
          <p:nvPr/>
        </p:nvCxnSpPr>
        <p:spPr>
          <a:xfrm>
            <a:off x="3418656" y="3608115"/>
            <a:ext cx="1188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12" name="Google Shape;1012;p17"/>
          <p:cNvCxnSpPr/>
          <p:nvPr/>
        </p:nvCxnSpPr>
        <p:spPr>
          <a:xfrm>
            <a:off x="3537528" y="3594508"/>
            <a:ext cx="0" cy="107910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13" name="Google Shape;1013;p17"/>
          <p:cNvCxnSpPr/>
          <p:nvPr/>
        </p:nvCxnSpPr>
        <p:spPr>
          <a:xfrm>
            <a:off x="3537528" y="4659893"/>
            <a:ext cx="2559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14" name="Google Shape;1014;p17"/>
          <p:cNvSpPr/>
          <p:nvPr/>
        </p:nvSpPr>
        <p:spPr>
          <a:xfrm rot="5400000">
            <a:off x="3729467" y="4595885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5" name="Google Shape;1015;p17"/>
          <p:cNvCxnSpPr/>
          <p:nvPr/>
        </p:nvCxnSpPr>
        <p:spPr>
          <a:xfrm>
            <a:off x="6340837" y="2181651"/>
            <a:ext cx="18744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16" name="Google Shape;1016;p17"/>
          <p:cNvCxnSpPr/>
          <p:nvPr/>
        </p:nvCxnSpPr>
        <p:spPr>
          <a:xfrm>
            <a:off x="8200117" y="2181651"/>
            <a:ext cx="0" cy="113400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17" name="Google Shape;1017;p17"/>
          <p:cNvSpPr/>
          <p:nvPr/>
        </p:nvSpPr>
        <p:spPr>
          <a:xfrm rot="10800000">
            <a:off x="8136025" y="3251415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8" name="Google Shape;1018;p17"/>
          <p:cNvCxnSpPr/>
          <p:nvPr/>
        </p:nvCxnSpPr>
        <p:spPr>
          <a:xfrm>
            <a:off x="7129603" y="3304363"/>
            <a:ext cx="1464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19" name="Google Shape;1019;p17"/>
          <p:cNvCxnSpPr/>
          <p:nvPr/>
        </p:nvCxnSpPr>
        <p:spPr>
          <a:xfrm>
            <a:off x="7264000" y="3297219"/>
            <a:ext cx="0" cy="44820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20" name="Google Shape;1020;p17"/>
          <p:cNvSpPr/>
          <p:nvPr/>
        </p:nvSpPr>
        <p:spPr>
          <a:xfrm rot="5400000">
            <a:off x="7462823" y="3718917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1" name="Google Shape;1021;p17"/>
          <p:cNvCxnSpPr/>
          <p:nvPr/>
        </p:nvCxnSpPr>
        <p:spPr>
          <a:xfrm>
            <a:off x="7129603" y="4693870"/>
            <a:ext cx="1464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22" name="Google Shape;1022;p17"/>
          <p:cNvCxnSpPr/>
          <p:nvPr/>
        </p:nvCxnSpPr>
        <p:spPr>
          <a:xfrm rot="10800000">
            <a:off x="7264000" y="3745251"/>
            <a:ext cx="0" cy="95100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23" name="Google Shape;1023;p17"/>
          <p:cNvCxnSpPr/>
          <p:nvPr/>
        </p:nvCxnSpPr>
        <p:spPr>
          <a:xfrm>
            <a:off x="8931637" y="3795662"/>
            <a:ext cx="868800" cy="0"/>
          </a:xfrm>
          <a:prstGeom prst="straightConnector1">
            <a:avLst/>
          </a:prstGeom>
          <a:noFill/>
          <a:ln cap="flat" cmpd="sng" w="38100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24" name="Google Shape;1024;p17"/>
          <p:cNvSpPr/>
          <p:nvPr/>
        </p:nvSpPr>
        <p:spPr>
          <a:xfrm rot="5400000">
            <a:off x="9736225" y="3731654"/>
            <a:ext cx="128100" cy="128100"/>
          </a:xfrm>
          <a:prstGeom prst="triangle">
            <a:avLst>
              <a:gd fmla="val 50000" name="adj"/>
            </a:avLst>
          </a:prstGeom>
          <a:solidFill>
            <a:srgbClr val="0B6E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5" name="Google Shape;1025;p17"/>
          <p:cNvCxnSpPr/>
          <p:nvPr/>
        </p:nvCxnSpPr>
        <p:spPr>
          <a:xfrm>
            <a:off x="10957129" y="4344302"/>
            <a:ext cx="0" cy="438900"/>
          </a:xfrm>
          <a:prstGeom prst="straightConnector1">
            <a:avLst/>
          </a:prstGeom>
          <a:noFill/>
          <a:ln cap="flat" cmpd="sng" w="3300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26" name="Google Shape;1026;p17"/>
          <p:cNvSpPr/>
          <p:nvPr/>
        </p:nvSpPr>
        <p:spPr>
          <a:xfrm rot="10800000">
            <a:off x="10893037" y="4719121"/>
            <a:ext cx="128100" cy="128100"/>
          </a:xfrm>
          <a:prstGeom prst="triangle">
            <a:avLst>
              <a:gd fmla="val 50000" name="adj"/>
            </a:avLst>
          </a:prstGeom>
          <a:solidFill>
            <a:srgbClr val="177A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7" name="Google Shape;1027;p17"/>
          <p:cNvCxnSpPr/>
          <p:nvPr/>
        </p:nvCxnSpPr>
        <p:spPr>
          <a:xfrm>
            <a:off x="10903962" y="5616919"/>
            <a:ext cx="0" cy="365700"/>
          </a:xfrm>
          <a:prstGeom prst="straightConnector1">
            <a:avLst/>
          </a:prstGeom>
          <a:noFill/>
          <a:ln cap="flat" cmpd="sng" w="317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28" name="Google Shape;1028;p17"/>
          <p:cNvCxnSpPr/>
          <p:nvPr/>
        </p:nvCxnSpPr>
        <p:spPr>
          <a:xfrm rot="10800000">
            <a:off x="8964019" y="5982679"/>
            <a:ext cx="1956900" cy="0"/>
          </a:xfrm>
          <a:prstGeom prst="straightConnector1">
            <a:avLst/>
          </a:prstGeom>
          <a:noFill/>
          <a:ln cap="flat" cmpd="sng" w="317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29" name="Google Shape;1029;p17"/>
          <p:cNvCxnSpPr/>
          <p:nvPr/>
        </p:nvCxnSpPr>
        <p:spPr>
          <a:xfrm rot="10800000">
            <a:off x="5512146" y="5203449"/>
            <a:ext cx="0" cy="795600"/>
          </a:xfrm>
          <a:prstGeom prst="straightConnector1">
            <a:avLst/>
          </a:prstGeom>
          <a:noFill/>
          <a:ln cap="flat" cmpd="sng" w="317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30" name="Google Shape;1030;p17"/>
          <p:cNvSpPr/>
          <p:nvPr/>
        </p:nvSpPr>
        <p:spPr>
          <a:xfrm>
            <a:off x="407252" y="2958891"/>
            <a:ext cx="1170300" cy="113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9DED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17"/>
          <p:cNvSpPr/>
          <p:nvPr/>
        </p:nvSpPr>
        <p:spPr>
          <a:xfrm>
            <a:off x="526124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2" name="Google Shape;1032;p17"/>
          <p:cNvCxnSpPr/>
          <p:nvPr/>
        </p:nvCxnSpPr>
        <p:spPr>
          <a:xfrm>
            <a:off x="567272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3" name="Google Shape;1033;p17"/>
          <p:cNvCxnSpPr/>
          <p:nvPr/>
        </p:nvCxnSpPr>
        <p:spPr>
          <a:xfrm>
            <a:off x="567272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34" name="Google Shape;1034;p17"/>
          <p:cNvSpPr/>
          <p:nvPr/>
        </p:nvSpPr>
        <p:spPr>
          <a:xfrm>
            <a:off x="837020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5" name="Google Shape;1035;p17"/>
          <p:cNvCxnSpPr/>
          <p:nvPr/>
        </p:nvCxnSpPr>
        <p:spPr>
          <a:xfrm>
            <a:off x="878168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6" name="Google Shape;1036;p17"/>
          <p:cNvCxnSpPr/>
          <p:nvPr/>
        </p:nvCxnSpPr>
        <p:spPr>
          <a:xfrm>
            <a:off x="878168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37" name="Google Shape;1037;p17"/>
          <p:cNvSpPr/>
          <p:nvPr/>
        </p:nvSpPr>
        <p:spPr>
          <a:xfrm>
            <a:off x="1147916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8" name="Google Shape;1038;p17"/>
          <p:cNvCxnSpPr/>
          <p:nvPr/>
        </p:nvCxnSpPr>
        <p:spPr>
          <a:xfrm>
            <a:off x="1189064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9" name="Google Shape;1039;p17"/>
          <p:cNvCxnSpPr/>
          <p:nvPr/>
        </p:nvCxnSpPr>
        <p:spPr>
          <a:xfrm>
            <a:off x="1189064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40" name="Google Shape;1040;p17"/>
          <p:cNvSpPr txBox="1"/>
          <p:nvPr/>
        </p:nvSpPr>
        <p:spPr>
          <a:xfrm>
            <a:off x="416396" y="3617258"/>
            <a:ext cx="115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Schema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7"/>
          <p:cNvSpPr txBox="1"/>
          <p:nvPr/>
        </p:nvSpPr>
        <p:spPr>
          <a:xfrm>
            <a:off x="1275932" y="2748579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17"/>
          <p:cNvSpPr/>
          <p:nvPr/>
        </p:nvSpPr>
        <p:spPr>
          <a:xfrm>
            <a:off x="4043884" y="1825035"/>
            <a:ext cx="2103000" cy="7590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65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7"/>
          <p:cNvSpPr txBox="1"/>
          <p:nvPr/>
        </p:nvSpPr>
        <p:spPr>
          <a:xfrm>
            <a:off x="4117036" y="1590575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7"/>
          <p:cNvSpPr txBox="1"/>
          <p:nvPr/>
        </p:nvSpPr>
        <p:spPr>
          <a:xfrm>
            <a:off x="4126180" y="1943907"/>
            <a:ext cx="1938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Direct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17"/>
          <p:cNvSpPr txBox="1"/>
          <p:nvPr/>
        </p:nvSpPr>
        <p:spPr>
          <a:xfrm>
            <a:off x="4135323" y="2218227"/>
            <a:ext cx="192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OWL seed DMᵣ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17"/>
          <p:cNvSpPr/>
          <p:nvPr/>
        </p:nvSpPr>
        <p:spPr>
          <a:xfrm>
            <a:off x="3897579" y="2739445"/>
            <a:ext cx="3218700" cy="2508300"/>
          </a:xfrm>
          <a:prstGeom prst="roundRect">
            <a:avLst>
              <a:gd fmla="val 8766" name="adj"/>
            </a:avLst>
          </a:prstGeom>
          <a:solidFill>
            <a:srgbClr val="FFFFFF"/>
          </a:solidFill>
          <a:ln cap="flat" cmpd="sng" w="15225">
            <a:solidFill>
              <a:srgbClr val="D9DED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17"/>
          <p:cNvSpPr txBox="1"/>
          <p:nvPr/>
        </p:nvSpPr>
        <p:spPr>
          <a:xfrm>
            <a:off x="4025596" y="2776011"/>
            <a:ext cx="299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RETRIEVAL  •  top-k per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17"/>
          <p:cNvSpPr/>
          <p:nvPr/>
        </p:nvSpPr>
        <p:spPr>
          <a:xfrm>
            <a:off x="4043884" y="3059475"/>
            <a:ext cx="2980800" cy="6036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522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17"/>
          <p:cNvSpPr txBox="1"/>
          <p:nvPr/>
        </p:nvSpPr>
        <p:spPr>
          <a:xfrm>
            <a:off x="4144468" y="3115627"/>
            <a:ext cx="36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7"/>
          <p:cNvSpPr txBox="1"/>
          <p:nvPr/>
        </p:nvSpPr>
        <p:spPr>
          <a:xfrm>
            <a:off x="4491940" y="3109413"/>
            <a:ext cx="240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External ontologies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7"/>
          <p:cNvSpPr txBox="1"/>
          <p:nvPr/>
        </p:nvSpPr>
        <p:spPr>
          <a:xfrm>
            <a:off x="4491940" y="3379515"/>
            <a:ext cx="240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Domain alignments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17"/>
          <p:cNvSpPr/>
          <p:nvPr/>
        </p:nvSpPr>
        <p:spPr>
          <a:xfrm>
            <a:off x="4043884" y="3763563"/>
            <a:ext cx="2980800" cy="6036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522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17"/>
          <p:cNvSpPr txBox="1"/>
          <p:nvPr/>
        </p:nvSpPr>
        <p:spPr>
          <a:xfrm>
            <a:off x="4144468" y="3819715"/>
            <a:ext cx="36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17"/>
          <p:cNvSpPr txBox="1"/>
          <p:nvPr/>
        </p:nvSpPr>
        <p:spPr>
          <a:xfrm>
            <a:off x="4491940" y="3813501"/>
            <a:ext cx="240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17"/>
          <p:cNvSpPr txBox="1"/>
          <p:nvPr/>
        </p:nvSpPr>
        <p:spPr>
          <a:xfrm>
            <a:off x="4491940" y="4083603"/>
            <a:ext cx="240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Cryptic fields and codes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7"/>
          <p:cNvSpPr/>
          <p:nvPr/>
        </p:nvSpPr>
        <p:spPr>
          <a:xfrm>
            <a:off x="4043884" y="4467651"/>
            <a:ext cx="2980800" cy="6036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522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7"/>
          <p:cNvSpPr txBox="1"/>
          <p:nvPr/>
        </p:nvSpPr>
        <p:spPr>
          <a:xfrm>
            <a:off x="4144468" y="4523803"/>
            <a:ext cx="36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(e)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17"/>
          <p:cNvSpPr txBox="1"/>
          <p:nvPr/>
        </p:nvSpPr>
        <p:spPr>
          <a:xfrm>
            <a:off x="4491940" y="4517589"/>
            <a:ext cx="240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Growing core ontology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7"/>
          <p:cNvSpPr txBox="1"/>
          <p:nvPr/>
        </p:nvSpPr>
        <p:spPr>
          <a:xfrm>
            <a:off x="4491940" y="4787691"/>
            <a:ext cx="240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Reuse validated IRIs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17"/>
          <p:cNvSpPr/>
          <p:nvPr/>
        </p:nvSpPr>
        <p:spPr>
          <a:xfrm>
            <a:off x="7596625" y="3402475"/>
            <a:ext cx="1335000" cy="13215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65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17"/>
          <p:cNvSpPr txBox="1"/>
          <p:nvPr/>
        </p:nvSpPr>
        <p:spPr>
          <a:xfrm>
            <a:off x="7669765" y="3192158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(f)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17"/>
          <p:cNvSpPr txBox="1"/>
          <p:nvPr/>
        </p:nvSpPr>
        <p:spPr>
          <a:xfrm>
            <a:off x="7678909" y="3521341"/>
            <a:ext cx="1170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Gen-LLM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17"/>
          <p:cNvSpPr txBox="1"/>
          <p:nvPr/>
        </p:nvSpPr>
        <p:spPr>
          <a:xfrm>
            <a:off x="7688053" y="3795661"/>
            <a:ext cx="115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creates ΔOᵣ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17"/>
          <p:cNvSpPr txBox="1"/>
          <p:nvPr/>
        </p:nvSpPr>
        <p:spPr>
          <a:xfrm>
            <a:off x="9032221" y="3384182"/>
            <a:ext cx="71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(g) ΔOᵣ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17"/>
          <p:cNvSpPr/>
          <p:nvPr/>
        </p:nvSpPr>
        <p:spPr>
          <a:xfrm>
            <a:off x="9859849" y="3237878"/>
            <a:ext cx="2121300" cy="11157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65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17"/>
          <p:cNvSpPr txBox="1"/>
          <p:nvPr/>
        </p:nvSpPr>
        <p:spPr>
          <a:xfrm>
            <a:off x="9933001" y="3027566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(h)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17"/>
          <p:cNvSpPr txBox="1"/>
          <p:nvPr/>
        </p:nvSpPr>
        <p:spPr>
          <a:xfrm>
            <a:off x="9942145" y="3272233"/>
            <a:ext cx="1956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Validate + refine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17"/>
          <p:cNvSpPr txBox="1"/>
          <p:nvPr/>
        </p:nvSpPr>
        <p:spPr>
          <a:xfrm>
            <a:off x="9951289" y="3546553"/>
            <a:ext cx="193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Judge-LLM + rules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17"/>
          <p:cNvSpPr/>
          <p:nvPr/>
        </p:nvSpPr>
        <p:spPr>
          <a:xfrm>
            <a:off x="9896425" y="4854652"/>
            <a:ext cx="2084700" cy="786300"/>
          </a:xfrm>
          <a:prstGeom prst="roundRect">
            <a:avLst>
              <a:gd fmla="val 16667" name="adj"/>
            </a:avLst>
          </a:prstGeom>
          <a:solidFill>
            <a:srgbClr val="DDE5E1"/>
          </a:solidFill>
          <a:ln cap="flat" cmpd="sng" w="29200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17"/>
          <p:cNvSpPr txBox="1"/>
          <p:nvPr/>
        </p:nvSpPr>
        <p:spPr>
          <a:xfrm>
            <a:off x="9969577" y="4609123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(i)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17"/>
          <p:cNvSpPr txBox="1"/>
          <p:nvPr/>
        </p:nvSpPr>
        <p:spPr>
          <a:xfrm>
            <a:off x="9978721" y="4973523"/>
            <a:ext cx="1920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Integrate ΔOᵣ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17"/>
          <p:cNvSpPr txBox="1"/>
          <p:nvPr/>
        </p:nvSpPr>
        <p:spPr>
          <a:xfrm>
            <a:off x="9987865" y="5247843"/>
            <a:ext cx="190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Core Oₜ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7"/>
          <p:cNvSpPr txBox="1"/>
          <p:nvPr/>
        </p:nvSpPr>
        <p:spPr>
          <a:xfrm>
            <a:off x="9194034" y="5750441"/>
            <a:ext cx="1737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77A55"/>
                </a:solidFill>
                <a:latin typeface="Calibri"/>
                <a:ea typeface="Calibri"/>
                <a:cs typeface="Calibri"/>
                <a:sym typeface="Calibri"/>
              </a:rPr>
              <a:t>Oₜ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17"/>
          <p:cNvSpPr/>
          <p:nvPr/>
        </p:nvSpPr>
        <p:spPr>
          <a:xfrm>
            <a:off x="5429812" y="5214785"/>
            <a:ext cx="164700" cy="146400"/>
          </a:xfrm>
          <a:prstGeom prst="triangle">
            <a:avLst>
              <a:gd fmla="val 50000" name="adj"/>
            </a:avLst>
          </a:prstGeom>
          <a:solidFill>
            <a:srgbClr val="177A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5" name="Google Shape;1075;p17"/>
          <p:cNvCxnSpPr/>
          <p:nvPr/>
        </p:nvCxnSpPr>
        <p:spPr>
          <a:xfrm>
            <a:off x="3280056" y="3446462"/>
            <a:ext cx="1005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76" name="Google Shape;1076;p17"/>
          <p:cNvSpPr/>
          <p:nvPr/>
        </p:nvSpPr>
        <p:spPr>
          <a:xfrm>
            <a:off x="1838868" y="3160059"/>
            <a:ext cx="1444800" cy="6948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65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17"/>
          <p:cNvSpPr txBox="1"/>
          <p:nvPr/>
        </p:nvSpPr>
        <p:spPr>
          <a:xfrm>
            <a:off x="1921164" y="3278931"/>
            <a:ext cx="1280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Iterate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7"/>
          <p:cNvSpPr txBox="1"/>
          <p:nvPr/>
        </p:nvSpPr>
        <p:spPr>
          <a:xfrm>
            <a:off x="1930308" y="3553251"/>
            <a:ext cx="126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FK-BFS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9" name="Google Shape;1079;p17"/>
          <p:cNvCxnSpPr/>
          <p:nvPr/>
        </p:nvCxnSpPr>
        <p:spPr>
          <a:xfrm>
            <a:off x="3276349" y="3608115"/>
            <a:ext cx="1188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80" name="Google Shape;1080;p17"/>
          <p:cNvCxnSpPr/>
          <p:nvPr/>
        </p:nvCxnSpPr>
        <p:spPr>
          <a:xfrm>
            <a:off x="3657665" y="2199459"/>
            <a:ext cx="2652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81" name="Google Shape;1081;p17"/>
          <p:cNvCxnSpPr/>
          <p:nvPr/>
        </p:nvCxnSpPr>
        <p:spPr>
          <a:xfrm>
            <a:off x="6144772" y="2181631"/>
            <a:ext cx="18744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82" name="Google Shape;1082;p17"/>
          <p:cNvCxnSpPr/>
          <p:nvPr/>
        </p:nvCxnSpPr>
        <p:spPr>
          <a:xfrm rot="10800000">
            <a:off x="7017019" y="5982679"/>
            <a:ext cx="1956900" cy="0"/>
          </a:xfrm>
          <a:prstGeom prst="straightConnector1">
            <a:avLst/>
          </a:prstGeom>
          <a:noFill/>
          <a:ln cap="flat" cmpd="sng" w="317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83" name="Google Shape;1083;p17"/>
          <p:cNvCxnSpPr/>
          <p:nvPr/>
        </p:nvCxnSpPr>
        <p:spPr>
          <a:xfrm rot="10800000">
            <a:off x="5504959" y="5982679"/>
            <a:ext cx="1956900" cy="0"/>
          </a:xfrm>
          <a:prstGeom prst="straightConnector1">
            <a:avLst/>
          </a:prstGeom>
          <a:noFill/>
          <a:ln cap="flat" cmpd="sng" w="317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1084" name="Google Shape;1084;p17" title="graph_checks_icon.png"/>
          <p:cNvPicPr preferRelativeResize="0"/>
          <p:nvPr/>
        </p:nvPicPr>
        <p:blipFill rotWithShape="1">
          <a:blip r:embed="rId3">
            <a:alphaModFix/>
          </a:blip>
          <a:srcRect b="19469" l="4324" r="13635" t="18031"/>
          <a:stretch/>
        </p:blipFill>
        <p:spPr>
          <a:xfrm>
            <a:off x="11109875" y="3858152"/>
            <a:ext cx="528134" cy="40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17" title="judge_llm_icon.png"/>
          <p:cNvPicPr preferRelativeResize="0"/>
          <p:nvPr/>
        </p:nvPicPr>
        <p:blipFill rotWithShape="1">
          <a:blip r:embed="rId4">
            <a:alphaModFix/>
          </a:blip>
          <a:srcRect b="12651" l="17110" r="7384" t="12532"/>
          <a:stretch/>
        </p:blipFill>
        <p:spPr>
          <a:xfrm>
            <a:off x="10278909" y="3774189"/>
            <a:ext cx="528124" cy="52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17" title="Ontology Taxonomy Documentation Icons.png"/>
          <p:cNvPicPr preferRelativeResize="0"/>
          <p:nvPr/>
        </p:nvPicPr>
        <p:blipFill rotWithShape="1">
          <a:blip r:embed="rId5">
            <a:alphaModFix/>
          </a:blip>
          <a:srcRect b="14185" l="36225" r="31825" t="16211"/>
          <a:stretch/>
        </p:blipFill>
        <p:spPr>
          <a:xfrm>
            <a:off x="6431317" y="3822390"/>
            <a:ext cx="594806" cy="475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17" title="Ontology Taxonomy Documentation Icons.png"/>
          <p:cNvPicPr preferRelativeResize="0"/>
          <p:nvPr/>
        </p:nvPicPr>
        <p:blipFill rotWithShape="1">
          <a:blip r:embed="rId5">
            <a:alphaModFix/>
          </a:blip>
          <a:srcRect b="14185" l="2070" r="65981" t="16211"/>
          <a:stretch/>
        </p:blipFill>
        <p:spPr>
          <a:xfrm>
            <a:off x="6385539" y="3137260"/>
            <a:ext cx="594801" cy="432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17" title="Ontology Taxonomy Documentation Icons.png"/>
          <p:cNvPicPr preferRelativeResize="0"/>
          <p:nvPr/>
        </p:nvPicPr>
        <p:blipFill rotWithShape="1">
          <a:blip r:embed="rId5">
            <a:alphaModFix/>
          </a:blip>
          <a:srcRect b="7505" l="70326" r="314" t="10116"/>
          <a:stretch/>
        </p:blipFill>
        <p:spPr>
          <a:xfrm>
            <a:off x="6452911" y="4535008"/>
            <a:ext cx="528123" cy="49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17" title="LLM Neural Brain Icon.png"/>
          <p:cNvPicPr preferRelativeResize="0"/>
          <p:nvPr/>
        </p:nvPicPr>
        <p:blipFill rotWithShape="1">
          <a:blip r:embed="rId6">
            <a:alphaModFix/>
          </a:blip>
          <a:srcRect b="14226" l="16398" r="17214" t="12218"/>
          <a:stretch/>
        </p:blipFill>
        <p:spPr>
          <a:xfrm>
            <a:off x="7941825" y="4070998"/>
            <a:ext cx="644449" cy="60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7"/>
          <p:cNvSpPr txBox="1"/>
          <p:nvPr/>
        </p:nvSpPr>
        <p:spPr>
          <a:xfrm>
            <a:off x="512064" y="320040"/>
            <a:ext cx="6675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RIGOR  /  REASSEMBLING THE ARCHITECTURE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9" name="Google Shape;989;p17"/>
          <p:cNvSpPr txBox="1"/>
          <p:nvPr/>
        </p:nvSpPr>
        <p:spPr>
          <a:xfrm>
            <a:off x="512064" y="685800"/>
            <a:ext cx="10881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1. Follow the foreign keys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17"/>
          <p:cNvSpPr txBox="1"/>
          <p:nvPr/>
        </p:nvSpPr>
        <p:spPr>
          <a:xfrm>
            <a:off x="512064" y="1271016"/>
            <a:ext cx="10607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 Start where the foreign-key dependencies begin.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17"/>
          <p:cNvSpPr/>
          <p:nvPr/>
        </p:nvSpPr>
        <p:spPr>
          <a:xfrm>
            <a:off x="9692640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17"/>
          <p:cNvSpPr/>
          <p:nvPr/>
        </p:nvSpPr>
        <p:spPr>
          <a:xfrm>
            <a:off x="10049256" y="356616"/>
            <a:ext cx="274200" cy="63900"/>
          </a:xfrm>
          <a:prstGeom prst="rect">
            <a:avLst/>
          </a:prstGeom>
          <a:solidFill>
            <a:srgbClr val="D3DAD6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17"/>
          <p:cNvSpPr/>
          <p:nvPr/>
        </p:nvSpPr>
        <p:spPr>
          <a:xfrm>
            <a:off x="10405872" y="356616"/>
            <a:ext cx="274200" cy="63900"/>
          </a:xfrm>
          <a:prstGeom prst="rect">
            <a:avLst/>
          </a:prstGeom>
          <a:solidFill>
            <a:srgbClr val="D3DAD6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17"/>
          <p:cNvSpPr/>
          <p:nvPr/>
        </p:nvSpPr>
        <p:spPr>
          <a:xfrm>
            <a:off x="10762488" y="356616"/>
            <a:ext cx="274200" cy="63900"/>
          </a:xfrm>
          <a:prstGeom prst="rect">
            <a:avLst/>
          </a:prstGeom>
          <a:solidFill>
            <a:srgbClr val="D3DAD6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17"/>
          <p:cNvSpPr/>
          <p:nvPr/>
        </p:nvSpPr>
        <p:spPr>
          <a:xfrm>
            <a:off x="11119104" y="356616"/>
            <a:ext cx="274200" cy="63900"/>
          </a:xfrm>
          <a:prstGeom prst="rect">
            <a:avLst/>
          </a:prstGeom>
          <a:solidFill>
            <a:srgbClr val="D3DAD6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17"/>
          <p:cNvSpPr/>
          <p:nvPr/>
        </p:nvSpPr>
        <p:spPr>
          <a:xfrm>
            <a:off x="11475720" y="356616"/>
            <a:ext cx="274200" cy="63900"/>
          </a:xfrm>
          <a:prstGeom prst="rect">
            <a:avLst/>
          </a:prstGeom>
          <a:solidFill>
            <a:srgbClr val="D3DAD6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17"/>
          <p:cNvSpPr txBox="1"/>
          <p:nvPr/>
        </p:nvSpPr>
        <p:spPr>
          <a:xfrm>
            <a:off x="10917936" y="6519672"/>
            <a:ext cx="80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1 /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8" name="Google Shape;998;p17"/>
          <p:cNvCxnSpPr/>
          <p:nvPr/>
        </p:nvCxnSpPr>
        <p:spPr>
          <a:xfrm>
            <a:off x="1577684" y="3507531"/>
            <a:ext cx="164700" cy="0"/>
          </a:xfrm>
          <a:prstGeom prst="straightConnector1">
            <a:avLst/>
          </a:prstGeom>
          <a:noFill/>
          <a:ln cap="flat" cmpd="sng" w="381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99" name="Google Shape;999;p17"/>
          <p:cNvSpPr/>
          <p:nvPr/>
        </p:nvSpPr>
        <p:spPr>
          <a:xfrm rot="5400000">
            <a:off x="1678184" y="3443523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17"/>
          <p:cNvSpPr/>
          <p:nvPr/>
        </p:nvSpPr>
        <p:spPr>
          <a:xfrm>
            <a:off x="407252" y="2958891"/>
            <a:ext cx="1170300" cy="113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9200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17"/>
          <p:cNvSpPr/>
          <p:nvPr/>
        </p:nvSpPr>
        <p:spPr>
          <a:xfrm>
            <a:off x="526124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2" name="Google Shape;1032;p17"/>
          <p:cNvCxnSpPr/>
          <p:nvPr/>
        </p:nvCxnSpPr>
        <p:spPr>
          <a:xfrm>
            <a:off x="567272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3" name="Google Shape;1033;p17"/>
          <p:cNvCxnSpPr/>
          <p:nvPr/>
        </p:nvCxnSpPr>
        <p:spPr>
          <a:xfrm>
            <a:off x="567272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34" name="Google Shape;1034;p17"/>
          <p:cNvSpPr/>
          <p:nvPr/>
        </p:nvSpPr>
        <p:spPr>
          <a:xfrm>
            <a:off x="837020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5" name="Google Shape;1035;p17"/>
          <p:cNvCxnSpPr/>
          <p:nvPr/>
        </p:nvCxnSpPr>
        <p:spPr>
          <a:xfrm>
            <a:off x="878168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6" name="Google Shape;1036;p17"/>
          <p:cNvCxnSpPr/>
          <p:nvPr/>
        </p:nvCxnSpPr>
        <p:spPr>
          <a:xfrm>
            <a:off x="878168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37" name="Google Shape;1037;p17"/>
          <p:cNvSpPr/>
          <p:nvPr/>
        </p:nvSpPr>
        <p:spPr>
          <a:xfrm>
            <a:off x="1147916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8" name="Google Shape;1038;p17"/>
          <p:cNvCxnSpPr/>
          <p:nvPr/>
        </p:nvCxnSpPr>
        <p:spPr>
          <a:xfrm>
            <a:off x="1189064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9" name="Google Shape;1039;p17"/>
          <p:cNvCxnSpPr/>
          <p:nvPr/>
        </p:nvCxnSpPr>
        <p:spPr>
          <a:xfrm>
            <a:off x="1189064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40" name="Google Shape;1040;p17"/>
          <p:cNvSpPr txBox="1"/>
          <p:nvPr/>
        </p:nvSpPr>
        <p:spPr>
          <a:xfrm>
            <a:off x="416396" y="3617258"/>
            <a:ext cx="115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Schema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7"/>
          <p:cNvSpPr txBox="1"/>
          <p:nvPr/>
        </p:nvSpPr>
        <p:spPr>
          <a:xfrm>
            <a:off x="1275932" y="2748579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17"/>
          <p:cNvSpPr/>
          <p:nvPr/>
        </p:nvSpPr>
        <p:spPr>
          <a:xfrm>
            <a:off x="1838868" y="3160059"/>
            <a:ext cx="1444800" cy="694800"/>
          </a:xfrm>
          <a:prstGeom prst="roundRect">
            <a:avLst>
              <a:gd fmla="val 16667" name="adj"/>
            </a:avLst>
          </a:prstGeom>
          <a:solidFill>
            <a:srgbClr val="DDE5E1"/>
          </a:solidFill>
          <a:ln cap="flat" cmpd="sng" w="29200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17"/>
          <p:cNvSpPr txBox="1"/>
          <p:nvPr/>
        </p:nvSpPr>
        <p:spPr>
          <a:xfrm>
            <a:off x="1921164" y="3278931"/>
            <a:ext cx="1280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Iterate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7"/>
          <p:cNvSpPr txBox="1"/>
          <p:nvPr/>
        </p:nvSpPr>
        <p:spPr>
          <a:xfrm>
            <a:off x="1930308" y="3553251"/>
            <a:ext cx="126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FK-BFS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7"/>
          <p:cNvSpPr txBox="1"/>
          <p:nvPr/>
        </p:nvSpPr>
        <p:spPr>
          <a:xfrm>
            <a:off x="512064" y="320040"/>
            <a:ext cx="6675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RIGOR  /  REASSEMBLING THE ARCHITECTURE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9" name="Google Shape;989;p17"/>
          <p:cNvSpPr txBox="1"/>
          <p:nvPr/>
        </p:nvSpPr>
        <p:spPr>
          <a:xfrm>
            <a:off x="512064" y="685800"/>
            <a:ext cx="10881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2. Anchor generation in the schema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17"/>
          <p:cNvSpPr txBox="1"/>
          <p:nvPr/>
        </p:nvSpPr>
        <p:spPr>
          <a:xfrm>
            <a:off x="512064" y="1271016"/>
            <a:ext cx="10607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 The schema-grounded branch feeds the generation step.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17"/>
          <p:cNvSpPr/>
          <p:nvPr/>
        </p:nvSpPr>
        <p:spPr>
          <a:xfrm>
            <a:off x="9692640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17"/>
          <p:cNvSpPr/>
          <p:nvPr/>
        </p:nvSpPr>
        <p:spPr>
          <a:xfrm>
            <a:off x="10049256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17"/>
          <p:cNvSpPr/>
          <p:nvPr/>
        </p:nvSpPr>
        <p:spPr>
          <a:xfrm>
            <a:off x="10405872" y="356616"/>
            <a:ext cx="274200" cy="63900"/>
          </a:xfrm>
          <a:prstGeom prst="rect">
            <a:avLst/>
          </a:prstGeom>
          <a:solidFill>
            <a:srgbClr val="D3DAD6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17"/>
          <p:cNvSpPr/>
          <p:nvPr/>
        </p:nvSpPr>
        <p:spPr>
          <a:xfrm>
            <a:off x="10762488" y="356616"/>
            <a:ext cx="274200" cy="63900"/>
          </a:xfrm>
          <a:prstGeom prst="rect">
            <a:avLst/>
          </a:prstGeom>
          <a:solidFill>
            <a:srgbClr val="D3DAD6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17"/>
          <p:cNvSpPr/>
          <p:nvPr/>
        </p:nvSpPr>
        <p:spPr>
          <a:xfrm>
            <a:off x="11119104" y="356616"/>
            <a:ext cx="274200" cy="63900"/>
          </a:xfrm>
          <a:prstGeom prst="rect">
            <a:avLst/>
          </a:prstGeom>
          <a:solidFill>
            <a:srgbClr val="D3DAD6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17"/>
          <p:cNvSpPr/>
          <p:nvPr/>
        </p:nvSpPr>
        <p:spPr>
          <a:xfrm>
            <a:off x="11475720" y="356616"/>
            <a:ext cx="274200" cy="63900"/>
          </a:xfrm>
          <a:prstGeom prst="rect">
            <a:avLst/>
          </a:prstGeom>
          <a:solidFill>
            <a:srgbClr val="D3DAD6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17"/>
          <p:cNvSpPr txBox="1"/>
          <p:nvPr/>
        </p:nvSpPr>
        <p:spPr>
          <a:xfrm>
            <a:off x="10917936" y="6519672"/>
            <a:ext cx="80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2 /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8" name="Google Shape;998;p17"/>
          <p:cNvCxnSpPr/>
          <p:nvPr/>
        </p:nvCxnSpPr>
        <p:spPr>
          <a:xfrm>
            <a:off x="1577684" y="3507531"/>
            <a:ext cx="164700" cy="0"/>
          </a:xfrm>
          <a:prstGeom prst="straightConnector1">
            <a:avLst/>
          </a:prstGeom>
          <a:noFill/>
          <a:ln cap="flat" cmpd="sng" w="381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99" name="Google Shape;999;p17"/>
          <p:cNvSpPr/>
          <p:nvPr/>
        </p:nvSpPr>
        <p:spPr>
          <a:xfrm rot="5400000">
            <a:off x="1678184" y="3443523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0" name="Google Shape;1000;p17"/>
          <p:cNvCxnSpPr/>
          <p:nvPr/>
        </p:nvCxnSpPr>
        <p:spPr>
          <a:xfrm>
            <a:off x="3369671" y="3446462"/>
            <a:ext cx="1005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1" name="Google Shape;1001;p17"/>
          <p:cNvCxnSpPr/>
          <p:nvPr/>
        </p:nvCxnSpPr>
        <p:spPr>
          <a:xfrm rot="10800000">
            <a:off x="3456647" y="2186248"/>
            <a:ext cx="0" cy="127110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2" name="Google Shape;1002;p17"/>
          <p:cNvCxnSpPr/>
          <p:nvPr/>
        </p:nvCxnSpPr>
        <p:spPr>
          <a:xfrm>
            <a:off x="3456647" y="2199939"/>
            <a:ext cx="2652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03" name="Google Shape;1003;p17"/>
          <p:cNvSpPr/>
          <p:nvPr/>
        </p:nvSpPr>
        <p:spPr>
          <a:xfrm rot="5400000">
            <a:off x="3918081" y="2135931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17"/>
          <p:cNvSpPr/>
          <p:nvPr/>
        </p:nvSpPr>
        <p:spPr>
          <a:xfrm>
            <a:off x="407252" y="2958891"/>
            <a:ext cx="1170300" cy="113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9DED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17"/>
          <p:cNvSpPr/>
          <p:nvPr/>
        </p:nvSpPr>
        <p:spPr>
          <a:xfrm>
            <a:off x="526124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2" name="Google Shape;1032;p17"/>
          <p:cNvCxnSpPr/>
          <p:nvPr/>
        </p:nvCxnSpPr>
        <p:spPr>
          <a:xfrm>
            <a:off x="567272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3" name="Google Shape;1033;p17"/>
          <p:cNvCxnSpPr/>
          <p:nvPr/>
        </p:nvCxnSpPr>
        <p:spPr>
          <a:xfrm>
            <a:off x="567272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34" name="Google Shape;1034;p17"/>
          <p:cNvSpPr/>
          <p:nvPr/>
        </p:nvSpPr>
        <p:spPr>
          <a:xfrm>
            <a:off x="837020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5" name="Google Shape;1035;p17"/>
          <p:cNvCxnSpPr/>
          <p:nvPr/>
        </p:nvCxnSpPr>
        <p:spPr>
          <a:xfrm>
            <a:off x="878168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6" name="Google Shape;1036;p17"/>
          <p:cNvCxnSpPr/>
          <p:nvPr/>
        </p:nvCxnSpPr>
        <p:spPr>
          <a:xfrm>
            <a:off x="878168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37" name="Google Shape;1037;p17"/>
          <p:cNvSpPr/>
          <p:nvPr/>
        </p:nvSpPr>
        <p:spPr>
          <a:xfrm>
            <a:off x="1147916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8" name="Google Shape;1038;p17"/>
          <p:cNvCxnSpPr/>
          <p:nvPr/>
        </p:nvCxnSpPr>
        <p:spPr>
          <a:xfrm>
            <a:off x="1189064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9" name="Google Shape;1039;p17"/>
          <p:cNvCxnSpPr/>
          <p:nvPr/>
        </p:nvCxnSpPr>
        <p:spPr>
          <a:xfrm>
            <a:off x="1189064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40" name="Google Shape;1040;p17"/>
          <p:cNvSpPr txBox="1"/>
          <p:nvPr/>
        </p:nvSpPr>
        <p:spPr>
          <a:xfrm>
            <a:off x="416396" y="3617258"/>
            <a:ext cx="115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Schema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7"/>
          <p:cNvSpPr txBox="1"/>
          <p:nvPr/>
        </p:nvSpPr>
        <p:spPr>
          <a:xfrm>
            <a:off x="1275932" y="2748579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17"/>
          <p:cNvSpPr/>
          <p:nvPr/>
        </p:nvSpPr>
        <p:spPr>
          <a:xfrm>
            <a:off x="4043884" y="1825035"/>
            <a:ext cx="2103000" cy="759000"/>
          </a:xfrm>
          <a:prstGeom prst="roundRect">
            <a:avLst>
              <a:gd fmla="val 16667" name="adj"/>
            </a:avLst>
          </a:prstGeom>
          <a:solidFill>
            <a:srgbClr val="DDE5E1"/>
          </a:solidFill>
          <a:ln cap="flat" cmpd="sng" w="29200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7"/>
          <p:cNvSpPr txBox="1"/>
          <p:nvPr/>
        </p:nvSpPr>
        <p:spPr>
          <a:xfrm>
            <a:off x="4117036" y="1590575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7"/>
          <p:cNvSpPr txBox="1"/>
          <p:nvPr/>
        </p:nvSpPr>
        <p:spPr>
          <a:xfrm>
            <a:off x="4126180" y="1943907"/>
            <a:ext cx="1938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Direct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17"/>
          <p:cNvSpPr txBox="1"/>
          <p:nvPr/>
        </p:nvSpPr>
        <p:spPr>
          <a:xfrm>
            <a:off x="4135323" y="2218227"/>
            <a:ext cx="192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OWL seed DMᵣ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5" name="Google Shape;1075;p17"/>
          <p:cNvCxnSpPr/>
          <p:nvPr/>
        </p:nvCxnSpPr>
        <p:spPr>
          <a:xfrm>
            <a:off x="3280056" y="3446462"/>
            <a:ext cx="1005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76" name="Google Shape;1076;p17"/>
          <p:cNvSpPr/>
          <p:nvPr/>
        </p:nvSpPr>
        <p:spPr>
          <a:xfrm>
            <a:off x="1838868" y="3160059"/>
            <a:ext cx="1444800" cy="6948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65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17"/>
          <p:cNvSpPr txBox="1"/>
          <p:nvPr/>
        </p:nvSpPr>
        <p:spPr>
          <a:xfrm>
            <a:off x="1921164" y="3278931"/>
            <a:ext cx="1280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Iterate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7"/>
          <p:cNvSpPr txBox="1"/>
          <p:nvPr/>
        </p:nvSpPr>
        <p:spPr>
          <a:xfrm>
            <a:off x="1930308" y="3553251"/>
            <a:ext cx="126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FK-BFS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0" name="Google Shape;1080;p17"/>
          <p:cNvCxnSpPr/>
          <p:nvPr/>
        </p:nvCxnSpPr>
        <p:spPr>
          <a:xfrm>
            <a:off x="3657665" y="2199459"/>
            <a:ext cx="2652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7"/>
          <p:cNvSpPr txBox="1"/>
          <p:nvPr/>
        </p:nvSpPr>
        <p:spPr>
          <a:xfrm>
            <a:off x="512064" y="320040"/>
            <a:ext cx="6675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RIGOR  /  REASSEMBLING THE ARCHITECTURE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9" name="Google Shape;989;p17"/>
          <p:cNvSpPr txBox="1"/>
          <p:nvPr/>
        </p:nvSpPr>
        <p:spPr>
          <a:xfrm>
            <a:off x="512064" y="685800"/>
            <a:ext cx="10881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3. Retrieve the missing semantics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17"/>
          <p:cNvSpPr txBox="1"/>
          <p:nvPr/>
        </p:nvSpPr>
        <p:spPr>
          <a:xfrm>
            <a:off x="512064" y="1271016"/>
            <a:ext cx="10607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 Context is retrieved independently from three sources.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17"/>
          <p:cNvSpPr/>
          <p:nvPr/>
        </p:nvSpPr>
        <p:spPr>
          <a:xfrm>
            <a:off x="9692640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17"/>
          <p:cNvSpPr/>
          <p:nvPr/>
        </p:nvSpPr>
        <p:spPr>
          <a:xfrm>
            <a:off x="10049256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17"/>
          <p:cNvSpPr/>
          <p:nvPr/>
        </p:nvSpPr>
        <p:spPr>
          <a:xfrm>
            <a:off x="10405872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17"/>
          <p:cNvSpPr/>
          <p:nvPr/>
        </p:nvSpPr>
        <p:spPr>
          <a:xfrm>
            <a:off x="10762488" y="356616"/>
            <a:ext cx="274200" cy="63900"/>
          </a:xfrm>
          <a:prstGeom prst="rect">
            <a:avLst/>
          </a:prstGeom>
          <a:solidFill>
            <a:srgbClr val="D3DAD6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17"/>
          <p:cNvSpPr/>
          <p:nvPr/>
        </p:nvSpPr>
        <p:spPr>
          <a:xfrm>
            <a:off x="11119104" y="356616"/>
            <a:ext cx="274200" cy="63900"/>
          </a:xfrm>
          <a:prstGeom prst="rect">
            <a:avLst/>
          </a:prstGeom>
          <a:solidFill>
            <a:srgbClr val="D3DAD6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17"/>
          <p:cNvSpPr/>
          <p:nvPr/>
        </p:nvSpPr>
        <p:spPr>
          <a:xfrm>
            <a:off x="11475720" y="356616"/>
            <a:ext cx="274200" cy="63900"/>
          </a:xfrm>
          <a:prstGeom prst="rect">
            <a:avLst/>
          </a:prstGeom>
          <a:solidFill>
            <a:srgbClr val="D3DAD6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17"/>
          <p:cNvSpPr txBox="1"/>
          <p:nvPr/>
        </p:nvSpPr>
        <p:spPr>
          <a:xfrm>
            <a:off x="10917936" y="6519672"/>
            <a:ext cx="80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3 /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8" name="Google Shape;998;p17"/>
          <p:cNvCxnSpPr/>
          <p:nvPr/>
        </p:nvCxnSpPr>
        <p:spPr>
          <a:xfrm>
            <a:off x="1577684" y="3507531"/>
            <a:ext cx="164700" cy="0"/>
          </a:xfrm>
          <a:prstGeom prst="straightConnector1">
            <a:avLst/>
          </a:prstGeom>
          <a:noFill/>
          <a:ln cap="flat" cmpd="sng" w="381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99" name="Google Shape;999;p17"/>
          <p:cNvSpPr/>
          <p:nvPr/>
        </p:nvSpPr>
        <p:spPr>
          <a:xfrm rot="5400000">
            <a:off x="1678184" y="3443523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0" name="Google Shape;1000;p17"/>
          <p:cNvCxnSpPr/>
          <p:nvPr/>
        </p:nvCxnSpPr>
        <p:spPr>
          <a:xfrm>
            <a:off x="3369671" y="3446462"/>
            <a:ext cx="1005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1" name="Google Shape;1001;p17"/>
          <p:cNvCxnSpPr/>
          <p:nvPr/>
        </p:nvCxnSpPr>
        <p:spPr>
          <a:xfrm rot="10800000">
            <a:off x="3456647" y="2186248"/>
            <a:ext cx="0" cy="127110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2" name="Google Shape;1002;p17"/>
          <p:cNvCxnSpPr/>
          <p:nvPr/>
        </p:nvCxnSpPr>
        <p:spPr>
          <a:xfrm>
            <a:off x="3456647" y="2199939"/>
            <a:ext cx="2652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03" name="Google Shape;1003;p17"/>
          <p:cNvSpPr/>
          <p:nvPr/>
        </p:nvSpPr>
        <p:spPr>
          <a:xfrm rot="5400000">
            <a:off x="3918081" y="2135931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4" name="Google Shape;1004;p17"/>
          <p:cNvCxnSpPr/>
          <p:nvPr/>
        </p:nvCxnSpPr>
        <p:spPr>
          <a:xfrm>
            <a:off x="3356063" y="3608115"/>
            <a:ext cx="1188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5" name="Google Shape;1005;p17"/>
          <p:cNvCxnSpPr/>
          <p:nvPr/>
        </p:nvCxnSpPr>
        <p:spPr>
          <a:xfrm rot="10800000">
            <a:off x="3537528" y="3283708"/>
            <a:ext cx="0" cy="31080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6" name="Google Shape;1006;p17"/>
          <p:cNvCxnSpPr/>
          <p:nvPr/>
        </p:nvCxnSpPr>
        <p:spPr>
          <a:xfrm>
            <a:off x="3537528" y="3297219"/>
            <a:ext cx="2559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07" name="Google Shape;1007;p17"/>
          <p:cNvSpPr/>
          <p:nvPr/>
        </p:nvSpPr>
        <p:spPr>
          <a:xfrm rot="5400000">
            <a:off x="3729467" y="3233211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8" name="Google Shape;1008;p17"/>
          <p:cNvCxnSpPr/>
          <p:nvPr/>
        </p:nvCxnSpPr>
        <p:spPr>
          <a:xfrm>
            <a:off x="3356063" y="3608115"/>
            <a:ext cx="1188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9" name="Google Shape;1009;p17"/>
          <p:cNvCxnSpPr/>
          <p:nvPr/>
        </p:nvCxnSpPr>
        <p:spPr>
          <a:xfrm>
            <a:off x="3537528" y="3992163"/>
            <a:ext cx="2559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10" name="Google Shape;1010;p17"/>
          <p:cNvSpPr/>
          <p:nvPr/>
        </p:nvSpPr>
        <p:spPr>
          <a:xfrm rot="5400000">
            <a:off x="3729467" y="3928154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1" name="Google Shape;1011;p17"/>
          <p:cNvCxnSpPr/>
          <p:nvPr/>
        </p:nvCxnSpPr>
        <p:spPr>
          <a:xfrm>
            <a:off x="3418656" y="3608115"/>
            <a:ext cx="1188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12" name="Google Shape;1012;p17"/>
          <p:cNvCxnSpPr/>
          <p:nvPr/>
        </p:nvCxnSpPr>
        <p:spPr>
          <a:xfrm>
            <a:off x="3537528" y="3594508"/>
            <a:ext cx="0" cy="107910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13" name="Google Shape;1013;p17"/>
          <p:cNvCxnSpPr/>
          <p:nvPr/>
        </p:nvCxnSpPr>
        <p:spPr>
          <a:xfrm>
            <a:off x="3537528" y="4659893"/>
            <a:ext cx="2559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14" name="Google Shape;1014;p17"/>
          <p:cNvSpPr/>
          <p:nvPr/>
        </p:nvSpPr>
        <p:spPr>
          <a:xfrm rot="5400000">
            <a:off x="3729467" y="4595885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17"/>
          <p:cNvSpPr/>
          <p:nvPr/>
        </p:nvSpPr>
        <p:spPr>
          <a:xfrm>
            <a:off x="407252" y="2958891"/>
            <a:ext cx="1170300" cy="113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9DED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17"/>
          <p:cNvSpPr/>
          <p:nvPr/>
        </p:nvSpPr>
        <p:spPr>
          <a:xfrm>
            <a:off x="526124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2" name="Google Shape;1032;p17"/>
          <p:cNvCxnSpPr/>
          <p:nvPr/>
        </p:nvCxnSpPr>
        <p:spPr>
          <a:xfrm>
            <a:off x="567272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3" name="Google Shape;1033;p17"/>
          <p:cNvCxnSpPr/>
          <p:nvPr/>
        </p:nvCxnSpPr>
        <p:spPr>
          <a:xfrm>
            <a:off x="567272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34" name="Google Shape;1034;p17"/>
          <p:cNvSpPr/>
          <p:nvPr/>
        </p:nvSpPr>
        <p:spPr>
          <a:xfrm>
            <a:off x="837020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5" name="Google Shape;1035;p17"/>
          <p:cNvCxnSpPr/>
          <p:nvPr/>
        </p:nvCxnSpPr>
        <p:spPr>
          <a:xfrm>
            <a:off x="878168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6" name="Google Shape;1036;p17"/>
          <p:cNvCxnSpPr/>
          <p:nvPr/>
        </p:nvCxnSpPr>
        <p:spPr>
          <a:xfrm>
            <a:off x="878168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37" name="Google Shape;1037;p17"/>
          <p:cNvSpPr/>
          <p:nvPr/>
        </p:nvSpPr>
        <p:spPr>
          <a:xfrm>
            <a:off x="1147916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8" name="Google Shape;1038;p17"/>
          <p:cNvCxnSpPr/>
          <p:nvPr/>
        </p:nvCxnSpPr>
        <p:spPr>
          <a:xfrm>
            <a:off x="1189064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9" name="Google Shape;1039;p17"/>
          <p:cNvCxnSpPr/>
          <p:nvPr/>
        </p:nvCxnSpPr>
        <p:spPr>
          <a:xfrm>
            <a:off x="1189064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40" name="Google Shape;1040;p17"/>
          <p:cNvSpPr txBox="1"/>
          <p:nvPr/>
        </p:nvSpPr>
        <p:spPr>
          <a:xfrm>
            <a:off x="416396" y="3617258"/>
            <a:ext cx="115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Schema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7"/>
          <p:cNvSpPr txBox="1"/>
          <p:nvPr/>
        </p:nvSpPr>
        <p:spPr>
          <a:xfrm>
            <a:off x="1275932" y="2748579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17"/>
          <p:cNvSpPr/>
          <p:nvPr/>
        </p:nvSpPr>
        <p:spPr>
          <a:xfrm>
            <a:off x="4043884" y="1825035"/>
            <a:ext cx="2103000" cy="7590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65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7"/>
          <p:cNvSpPr txBox="1"/>
          <p:nvPr/>
        </p:nvSpPr>
        <p:spPr>
          <a:xfrm>
            <a:off x="4117036" y="1590575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7"/>
          <p:cNvSpPr txBox="1"/>
          <p:nvPr/>
        </p:nvSpPr>
        <p:spPr>
          <a:xfrm>
            <a:off x="4126180" y="1943907"/>
            <a:ext cx="1938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Direct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17"/>
          <p:cNvSpPr txBox="1"/>
          <p:nvPr/>
        </p:nvSpPr>
        <p:spPr>
          <a:xfrm>
            <a:off x="4135323" y="2218227"/>
            <a:ext cx="192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OWL seed DMᵣ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17"/>
          <p:cNvSpPr/>
          <p:nvPr/>
        </p:nvSpPr>
        <p:spPr>
          <a:xfrm>
            <a:off x="3897579" y="2739445"/>
            <a:ext cx="3218700" cy="2508300"/>
          </a:xfrm>
          <a:prstGeom prst="roundRect">
            <a:avLst>
              <a:gd fmla="val 8766" name="adj"/>
            </a:avLst>
          </a:prstGeom>
          <a:solidFill>
            <a:srgbClr val="FFFFFF"/>
          </a:solidFill>
          <a:ln cap="flat" cmpd="sng" w="29200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17"/>
          <p:cNvSpPr txBox="1"/>
          <p:nvPr/>
        </p:nvSpPr>
        <p:spPr>
          <a:xfrm>
            <a:off x="4025596" y="2776011"/>
            <a:ext cx="299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RETRIEVAL  •  top-k per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17"/>
          <p:cNvSpPr/>
          <p:nvPr/>
        </p:nvSpPr>
        <p:spPr>
          <a:xfrm>
            <a:off x="4043884" y="3059475"/>
            <a:ext cx="2980800" cy="6036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522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17"/>
          <p:cNvSpPr txBox="1"/>
          <p:nvPr/>
        </p:nvSpPr>
        <p:spPr>
          <a:xfrm>
            <a:off x="4144468" y="3115627"/>
            <a:ext cx="36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7"/>
          <p:cNvSpPr txBox="1"/>
          <p:nvPr/>
        </p:nvSpPr>
        <p:spPr>
          <a:xfrm>
            <a:off x="4491940" y="3109413"/>
            <a:ext cx="240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External ontologies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7"/>
          <p:cNvSpPr txBox="1"/>
          <p:nvPr/>
        </p:nvSpPr>
        <p:spPr>
          <a:xfrm>
            <a:off x="4491940" y="3379515"/>
            <a:ext cx="240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Domain alignments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17"/>
          <p:cNvSpPr/>
          <p:nvPr/>
        </p:nvSpPr>
        <p:spPr>
          <a:xfrm>
            <a:off x="4043884" y="3763563"/>
            <a:ext cx="2980800" cy="6036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522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17"/>
          <p:cNvSpPr txBox="1"/>
          <p:nvPr/>
        </p:nvSpPr>
        <p:spPr>
          <a:xfrm>
            <a:off x="4144468" y="3819715"/>
            <a:ext cx="36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17"/>
          <p:cNvSpPr txBox="1"/>
          <p:nvPr/>
        </p:nvSpPr>
        <p:spPr>
          <a:xfrm>
            <a:off x="4491940" y="3813501"/>
            <a:ext cx="240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17"/>
          <p:cNvSpPr txBox="1"/>
          <p:nvPr/>
        </p:nvSpPr>
        <p:spPr>
          <a:xfrm>
            <a:off x="4491940" y="4083603"/>
            <a:ext cx="240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Cryptic fields and codes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7"/>
          <p:cNvSpPr/>
          <p:nvPr/>
        </p:nvSpPr>
        <p:spPr>
          <a:xfrm>
            <a:off x="4043884" y="4467651"/>
            <a:ext cx="2980800" cy="6036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522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7"/>
          <p:cNvSpPr txBox="1"/>
          <p:nvPr/>
        </p:nvSpPr>
        <p:spPr>
          <a:xfrm>
            <a:off x="4144468" y="4523803"/>
            <a:ext cx="36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(e)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17"/>
          <p:cNvSpPr txBox="1"/>
          <p:nvPr/>
        </p:nvSpPr>
        <p:spPr>
          <a:xfrm>
            <a:off x="4491940" y="4517589"/>
            <a:ext cx="240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Growing core ontology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7"/>
          <p:cNvSpPr txBox="1"/>
          <p:nvPr/>
        </p:nvSpPr>
        <p:spPr>
          <a:xfrm>
            <a:off x="4491940" y="4787691"/>
            <a:ext cx="240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Reuse validated IRIs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5" name="Google Shape;1075;p17"/>
          <p:cNvCxnSpPr/>
          <p:nvPr/>
        </p:nvCxnSpPr>
        <p:spPr>
          <a:xfrm>
            <a:off x="3280056" y="3446462"/>
            <a:ext cx="1005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76" name="Google Shape;1076;p17"/>
          <p:cNvSpPr/>
          <p:nvPr/>
        </p:nvSpPr>
        <p:spPr>
          <a:xfrm>
            <a:off x="1838868" y="3160059"/>
            <a:ext cx="1444800" cy="6948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65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17"/>
          <p:cNvSpPr txBox="1"/>
          <p:nvPr/>
        </p:nvSpPr>
        <p:spPr>
          <a:xfrm>
            <a:off x="1921164" y="3278931"/>
            <a:ext cx="1280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Iterate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7"/>
          <p:cNvSpPr txBox="1"/>
          <p:nvPr/>
        </p:nvSpPr>
        <p:spPr>
          <a:xfrm>
            <a:off x="1930308" y="3553251"/>
            <a:ext cx="126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FK-BFS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9" name="Google Shape;1079;p17"/>
          <p:cNvCxnSpPr/>
          <p:nvPr/>
        </p:nvCxnSpPr>
        <p:spPr>
          <a:xfrm>
            <a:off x="3276349" y="3608115"/>
            <a:ext cx="1188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80" name="Google Shape;1080;p17"/>
          <p:cNvCxnSpPr/>
          <p:nvPr/>
        </p:nvCxnSpPr>
        <p:spPr>
          <a:xfrm>
            <a:off x="3657665" y="2199459"/>
            <a:ext cx="2652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1086" name="Google Shape;1086;p17" title="Ontology Taxonomy Documentation Icons.png"/>
          <p:cNvPicPr preferRelativeResize="0"/>
          <p:nvPr/>
        </p:nvPicPr>
        <p:blipFill rotWithShape="1">
          <a:blip r:embed="rId5">
            <a:alphaModFix/>
          </a:blip>
          <a:srcRect b="14185" l="36225" r="31825" t="16211"/>
          <a:stretch/>
        </p:blipFill>
        <p:spPr>
          <a:xfrm>
            <a:off x="6431317" y="3822390"/>
            <a:ext cx="594806" cy="475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17" title="Ontology Taxonomy Documentation Icons.png"/>
          <p:cNvPicPr preferRelativeResize="0"/>
          <p:nvPr/>
        </p:nvPicPr>
        <p:blipFill rotWithShape="1">
          <a:blip r:embed="rId5">
            <a:alphaModFix/>
          </a:blip>
          <a:srcRect b="14185" l="2070" r="65981" t="16211"/>
          <a:stretch/>
        </p:blipFill>
        <p:spPr>
          <a:xfrm>
            <a:off x="6385539" y="3137260"/>
            <a:ext cx="594801" cy="432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17" title="Ontology Taxonomy Documentation Icons.png"/>
          <p:cNvPicPr preferRelativeResize="0"/>
          <p:nvPr/>
        </p:nvPicPr>
        <p:blipFill rotWithShape="1">
          <a:blip r:embed="rId5">
            <a:alphaModFix/>
          </a:blip>
          <a:srcRect b="7505" l="70326" r="314" t="10116"/>
          <a:stretch/>
        </p:blipFill>
        <p:spPr>
          <a:xfrm>
            <a:off x="6452911" y="4535008"/>
            <a:ext cx="528123" cy="494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6" name="Google Shape;986;p17"/>
          <p:cNvCxnSpPr/>
          <p:nvPr/>
        </p:nvCxnSpPr>
        <p:spPr>
          <a:xfrm>
            <a:off x="7261490" y="3782975"/>
            <a:ext cx="2286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987" name="Google Shape;987;p17"/>
          <p:cNvCxnSpPr/>
          <p:nvPr/>
        </p:nvCxnSpPr>
        <p:spPr>
          <a:xfrm>
            <a:off x="7071140" y="3304363"/>
            <a:ext cx="1464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88" name="Google Shape;988;p17"/>
          <p:cNvSpPr txBox="1"/>
          <p:nvPr/>
        </p:nvSpPr>
        <p:spPr>
          <a:xfrm>
            <a:off x="512064" y="320040"/>
            <a:ext cx="6675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RIGOR  /  REASSEMBLING THE ARCHITECTURE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9" name="Google Shape;989;p17"/>
          <p:cNvSpPr txBox="1"/>
          <p:nvPr/>
        </p:nvSpPr>
        <p:spPr>
          <a:xfrm>
            <a:off x="512064" y="685800"/>
            <a:ext cx="10881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4. Generate a delta ontology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17"/>
          <p:cNvSpPr txBox="1"/>
          <p:nvPr/>
        </p:nvSpPr>
        <p:spPr>
          <a:xfrm>
            <a:off x="512064" y="1271016"/>
            <a:ext cx="10607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 The Gen-LLM receives the direct mapping and the retrieved context.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17"/>
          <p:cNvSpPr/>
          <p:nvPr/>
        </p:nvSpPr>
        <p:spPr>
          <a:xfrm>
            <a:off x="9692640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17"/>
          <p:cNvSpPr/>
          <p:nvPr/>
        </p:nvSpPr>
        <p:spPr>
          <a:xfrm>
            <a:off x="10049256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17"/>
          <p:cNvSpPr/>
          <p:nvPr/>
        </p:nvSpPr>
        <p:spPr>
          <a:xfrm>
            <a:off x="10405872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17"/>
          <p:cNvSpPr/>
          <p:nvPr/>
        </p:nvSpPr>
        <p:spPr>
          <a:xfrm>
            <a:off x="10762488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17"/>
          <p:cNvSpPr/>
          <p:nvPr/>
        </p:nvSpPr>
        <p:spPr>
          <a:xfrm>
            <a:off x="11119104" y="356616"/>
            <a:ext cx="274200" cy="63900"/>
          </a:xfrm>
          <a:prstGeom prst="rect">
            <a:avLst/>
          </a:prstGeom>
          <a:solidFill>
            <a:srgbClr val="D3DAD6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17"/>
          <p:cNvSpPr/>
          <p:nvPr/>
        </p:nvSpPr>
        <p:spPr>
          <a:xfrm>
            <a:off x="11475720" y="356616"/>
            <a:ext cx="274200" cy="63900"/>
          </a:xfrm>
          <a:prstGeom prst="rect">
            <a:avLst/>
          </a:prstGeom>
          <a:solidFill>
            <a:srgbClr val="D3DAD6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17"/>
          <p:cNvSpPr txBox="1"/>
          <p:nvPr/>
        </p:nvSpPr>
        <p:spPr>
          <a:xfrm>
            <a:off x="10917936" y="6519672"/>
            <a:ext cx="80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4 /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8" name="Google Shape;998;p17"/>
          <p:cNvCxnSpPr/>
          <p:nvPr/>
        </p:nvCxnSpPr>
        <p:spPr>
          <a:xfrm>
            <a:off x="1577684" y="3507531"/>
            <a:ext cx="164700" cy="0"/>
          </a:xfrm>
          <a:prstGeom prst="straightConnector1">
            <a:avLst/>
          </a:prstGeom>
          <a:noFill/>
          <a:ln cap="flat" cmpd="sng" w="381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99" name="Google Shape;999;p17"/>
          <p:cNvSpPr/>
          <p:nvPr/>
        </p:nvSpPr>
        <p:spPr>
          <a:xfrm rot="5400000">
            <a:off x="1678184" y="3443523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0" name="Google Shape;1000;p17"/>
          <p:cNvCxnSpPr/>
          <p:nvPr/>
        </p:nvCxnSpPr>
        <p:spPr>
          <a:xfrm>
            <a:off x="3369671" y="3446462"/>
            <a:ext cx="1005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1" name="Google Shape;1001;p17"/>
          <p:cNvCxnSpPr/>
          <p:nvPr/>
        </p:nvCxnSpPr>
        <p:spPr>
          <a:xfrm rot="10800000">
            <a:off x="3456647" y="2186248"/>
            <a:ext cx="0" cy="127110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2" name="Google Shape;1002;p17"/>
          <p:cNvCxnSpPr/>
          <p:nvPr/>
        </p:nvCxnSpPr>
        <p:spPr>
          <a:xfrm>
            <a:off x="3456647" y="2199939"/>
            <a:ext cx="2652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03" name="Google Shape;1003;p17"/>
          <p:cNvSpPr/>
          <p:nvPr/>
        </p:nvSpPr>
        <p:spPr>
          <a:xfrm rot="5400000">
            <a:off x="3918081" y="2135931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4" name="Google Shape;1004;p17"/>
          <p:cNvCxnSpPr/>
          <p:nvPr/>
        </p:nvCxnSpPr>
        <p:spPr>
          <a:xfrm>
            <a:off x="3356063" y="3608115"/>
            <a:ext cx="1188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5" name="Google Shape;1005;p17"/>
          <p:cNvCxnSpPr/>
          <p:nvPr/>
        </p:nvCxnSpPr>
        <p:spPr>
          <a:xfrm rot="10800000">
            <a:off x="3537528" y="3283708"/>
            <a:ext cx="0" cy="31080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6" name="Google Shape;1006;p17"/>
          <p:cNvCxnSpPr/>
          <p:nvPr/>
        </p:nvCxnSpPr>
        <p:spPr>
          <a:xfrm>
            <a:off x="3537528" y="3297219"/>
            <a:ext cx="2559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07" name="Google Shape;1007;p17"/>
          <p:cNvSpPr/>
          <p:nvPr/>
        </p:nvSpPr>
        <p:spPr>
          <a:xfrm rot="5400000">
            <a:off x="3729467" y="3233211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8" name="Google Shape;1008;p17"/>
          <p:cNvCxnSpPr/>
          <p:nvPr/>
        </p:nvCxnSpPr>
        <p:spPr>
          <a:xfrm>
            <a:off x="3356063" y="3608115"/>
            <a:ext cx="1188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9" name="Google Shape;1009;p17"/>
          <p:cNvCxnSpPr/>
          <p:nvPr/>
        </p:nvCxnSpPr>
        <p:spPr>
          <a:xfrm>
            <a:off x="3537528" y="3992163"/>
            <a:ext cx="2559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10" name="Google Shape;1010;p17"/>
          <p:cNvSpPr/>
          <p:nvPr/>
        </p:nvSpPr>
        <p:spPr>
          <a:xfrm rot="5400000">
            <a:off x="3729467" y="3928154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1" name="Google Shape;1011;p17"/>
          <p:cNvCxnSpPr/>
          <p:nvPr/>
        </p:nvCxnSpPr>
        <p:spPr>
          <a:xfrm>
            <a:off x="3418656" y="3608115"/>
            <a:ext cx="1188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12" name="Google Shape;1012;p17"/>
          <p:cNvCxnSpPr/>
          <p:nvPr/>
        </p:nvCxnSpPr>
        <p:spPr>
          <a:xfrm>
            <a:off x="3537528" y="3594508"/>
            <a:ext cx="0" cy="107910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13" name="Google Shape;1013;p17"/>
          <p:cNvCxnSpPr/>
          <p:nvPr/>
        </p:nvCxnSpPr>
        <p:spPr>
          <a:xfrm>
            <a:off x="3537528" y="4659893"/>
            <a:ext cx="2559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14" name="Google Shape;1014;p17"/>
          <p:cNvSpPr/>
          <p:nvPr/>
        </p:nvSpPr>
        <p:spPr>
          <a:xfrm rot="5400000">
            <a:off x="3729467" y="4595885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5" name="Google Shape;1015;p17"/>
          <p:cNvCxnSpPr/>
          <p:nvPr/>
        </p:nvCxnSpPr>
        <p:spPr>
          <a:xfrm>
            <a:off x="6340837" y="2181651"/>
            <a:ext cx="18744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16" name="Google Shape;1016;p17"/>
          <p:cNvCxnSpPr/>
          <p:nvPr/>
        </p:nvCxnSpPr>
        <p:spPr>
          <a:xfrm>
            <a:off x="8200117" y="2181651"/>
            <a:ext cx="0" cy="113400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17" name="Google Shape;1017;p17"/>
          <p:cNvSpPr/>
          <p:nvPr/>
        </p:nvSpPr>
        <p:spPr>
          <a:xfrm rot="10800000">
            <a:off x="8136025" y="3251415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8" name="Google Shape;1018;p17"/>
          <p:cNvCxnSpPr/>
          <p:nvPr/>
        </p:nvCxnSpPr>
        <p:spPr>
          <a:xfrm>
            <a:off x="7129603" y="3304363"/>
            <a:ext cx="1464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19" name="Google Shape;1019;p17"/>
          <p:cNvCxnSpPr/>
          <p:nvPr/>
        </p:nvCxnSpPr>
        <p:spPr>
          <a:xfrm>
            <a:off x="7264000" y="3297219"/>
            <a:ext cx="0" cy="44820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20" name="Google Shape;1020;p17"/>
          <p:cNvSpPr/>
          <p:nvPr/>
        </p:nvSpPr>
        <p:spPr>
          <a:xfrm rot="5400000">
            <a:off x="7462823" y="3718917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1" name="Google Shape;1021;p17"/>
          <p:cNvCxnSpPr/>
          <p:nvPr/>
        </p:nvCxnSpPr>
        <p:spPr>
          <a:xfrm>
            <a:off x="7129603" y="4693870"/>
            <a:ext cx="1464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22" name="Google Shape;1022;p17"/>
          <p:cNvCxnSpPr/>
          <p:nvPr/>
        </p:nvCxnSpPr>
        <p:spPr>
          <a:xfrm rot="10800000">
            <a:off x="7264000" y="3745251"/>
            <a:ext cx="0" cy="95100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23" name="Google Shape;1023;p17"/>
          <p:cNvCxnSpPr/>
          <p:nvPr/>
        </p:nvCxnSpPr>
        <p:spPr>
          <a:xfrm>
            <a:off x="8931637" y="3795662"/>
            <a:ext cx="868800" cy="0"/>
          </a:xfrm>
          <a:prstGeom prst="straightConnector1">
            <a:avLst/>
          </a:prstGeom>
          <a:noFill/>
          <a:ln cap="flat" cmpd="sng" w="38100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24" name="Google Shape;1024;p17"/>
          <p:cNvSpPr/>
          <p:nvPr/>
        </p:nvSpPr>
        <p:spPr>
          <a:xfrm rot="5400000">
            <a:off x="9736225" y="3731654"/>
            <a:ext cx="128100" cy="128100"/>
          </a:xfrm>
          <a:prstGeom prst="triangle">
            <a:avLst>
              <a:gd fmla="val 50000" name="adj"/>
            </a:avLst>
          </a:prstGeom>
          <a:solidFill>
            <a:srgbClr val="0B6E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17"/>
          <p:cNvSpPr/>
          <p:nvPr/>
        </p:nvSpPr>
        <p:spPr>
          <a:xfrm>
            <a:off x="407252" y="2958891"/>
            <a:ext cx="1170300" cy="113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9DED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17"/>
          <p:cNvSpPr/>
          <p:nvPr/>
        </p:nvSpPr>
        <p:spPr>
          <a:xfrm>
            <a:off x="526124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2" name="Google Shape;1032;p17"/>
          <p:cNvCxnSpPr/>
          <p:nvPr/>
        </p:nvCxnSpPr>
        <p:spPr>
          <a:xfrm>
            <a:off x="567272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3" name="Google Shape;1033;p17"/>
          <p:cNvCxnSpPr/>
          <p:nvPr/>
        </p:nvCxnSpPr>
        <p:spPr>
          <a:xfrm>
            <a:off x="567272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34" name="Google Shape;1034;p17"/>
          <p:cNvSpPr/>
          <p:nvPr/>
        </p:nvSpPr>
        <p:spPr>
          <a:xfrm>
            <a:off x="837020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5" name="Google Shape;1035;p17"/>
          <p:cNvCxnSpPr/>
          <p:nvPr/>
        </p:nvCxnSpPr>
        <p:spPr>
          <a:xfrm>
            <a:off x="878168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6" name="Google Shape;1036;p17"/>
          <p:cNvCxnSpPr/>
          <p:nvPr/>
        </p:nvCxnSpPr>
        <p:spPr>
          <a:xfrm>
            <a:off x="878168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37" name="Google Shape;1037;p17"/>
          <p:cNvSpPr/>
          <p:nvPr/>
        </p:nvSpPr>
        <p:spPr>
          <a:xfrm>
            <a:off x="1147916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8" name="Google Shape;1038;p17"/>
          <p:cNvCxnSpPr/>
          <p:nvPr/>
        </p:nvCxnSpPr>
        <p:spPr>
          <a:xfrm>
            <a:off x="1189064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9" name="Google Shape;1039;p17"/>
          <p:cNvCxnSpPr/>
          <p:nvPr/>
        </p:nvCxnSpPr>
        <p:spPr>
          <a:xfrm>
            <a:off x="1189064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40" name="Google Shape;1040;p17"/>
          <p:cNvSpPr txBox="1"/>
          <p:nvPr/>
        </p:nvSpPr>
        <p:spPr>
          <a:xfrm>
            <a:off x="416396" y="3617258"/>
            <a:ext cx="115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Schema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7"/>
          <p:cNvSpPr txBox="1"/>
          <p:nvPr/>
        </p:nvSpPr>
        <p:spPr>
          <a:xfrm>
            <a:off x="1275932" y="2748579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17"/>
          <p:cNvSpPr/>
          <p:nvPr/>
        </p:nvSpPr>
        <p:spPr>
          <a:xfrm>
            <a:off x="4043884" y="1825035"/>
            <a:ext cx="2103000" cy="7590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65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7"/>
          <p:cNvSpPr txBox="1"/>
          <p:nvPr/>
        </p:nvSpPr>
        <p:spPr>
          <a:xfrm>
            <a:off x="4117036" y="1590575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7"/>
          <p:cNvSpPr txBox="1"/>
          <p:nvPr/>
        </p:nvSpPr>
        <p:spPr>
          <a:xfrm>
            <a:off x="4126180" y="1943907"/>
            <a:ext cx="1938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Direct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17"/>
          <p:cNvSpPr txBox="1"/>
          <p:nvPr/>
        </p:nvSpPr>
        <p:spPr>
          <a:xfrm>
            <a:off x="4135323" y="2218227"/>
            <a:ext cx="192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OWL seed DMᵣ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17"/>
          <p:cNvSpPr/>
          <p:nvPr/>
        </p:nvSpPr>
        <p:spPr>
          <a:xfrm>
            <a:off x="3897579" y="2739445"/>
            <a:ext cx="3218700" cy="2508300"/>
          </a:xfrm>
          <a:prstGeom prst="roundRect">
            <a:avLst>
              <a:gd fmla="val 8766" name="adj"/>
            </a:avLst>
          </a:prstGeom>
          <a:solidFill>
            <a:srgbClr val="FFFFFF"/>
          </a:solidFill>
          <a:ln cap="flat" cmpd="sng" w="15225">
            <a:solidFill>
              <a:srgbClr val="D9DED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17"/>
          <p:cNvSpPr txBox="1"/>
          <p:nvPr/>
        </p:nvSpPr>
        <p:spPr>
          <a:xfrm>
            <a:off x="4025596" y="2776011"/>
            <a:ext cx="299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RETRIEVAL  •  top-k per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17"/>
          <p:cNvSpPr/>
          <p:nvPr/>
        </p:nvSpPr>
        <p:spPr>
          <a:xfrm>
            <a:off x="4043884" y="3059475"/>
            <a:ext cx="2980800" cy="6036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522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17"/>
          <p:cNvSpPr txBox="1"/>
          <p:nvPr/>
        </p:nvSpPr>
        <p:spPr>
          <a:xfrm>
            <a:off x="4144468" y="3115627"/>
            <a:ext cx="36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7"/>
          <p:cNvSpPr txBox="1"/>
          <p:nvPr/>
        </p:nvSpPr>
        <p:spPr>
          <a:xfrm>
            <a:off x="4491940" y="3109413"/>
            <a:ext cx="240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External ontologies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7"/>
          <p:cNvSpPr txBox="1"/>
          <p:nvPr/>
        </p:nvSpPr>
        <p:spPr>
          <a:xfrm>
            <a:off x="4491940" y="3379515"/>
            <a:ext cx="240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Domain alignments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17"/>
          <p:cNvSpPr/>
          <p:nvPr/>
        </p:nvSpPr>
        <p:spPr>
          <a:xfrm>
            <a:off x="4043884" y="3763563"/>
            <a:ext cx="2980800" cy="6036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522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17"/>
          <p:cNvSpPr txBox="1"/>
          <p:nvPr/>
        </p:nvSpPr>
        <p:spPr>
          <a:xfrm>
            <a:off x="4144468" y="3819715"/>
            <a:ext cx="36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17"/>
          <p:cNvSpPr txBox="1"/>
          <p:nvPr/>
        </p:nvSpPr>
        <p:spPr>
          <a:xfrm>
            <a:off x="4491940" y="3813501"/>
            <a:ext cx="240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17"/>
          <p:cNvSpPr txBox="1"/>
          <p:nvPr/>
        </p:nvSpPr>
        <p:spPr>
          <a:xfrm>
            <a:off x="4491940" y="4083603"/>
            <a:ext cx="240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Cryptic fields and codes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7"/>
          <p:cNvSpPr/>
          <p:nvPr/>
        </p:nvSpPr>
        <p:spPr>
          <a:xfrm>
            <a:off x="4043884" y="4467651"/>
            <a:ext cx="2980800" cy="6036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522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7"/>
          <p:cNvSpPr txBox="1"/>
          <p:nvPr/>
        </p:nvSpPr>
        <p:spPr>
          <a:xfrm>
            <a:off x="4144468" y="4523803"/>
            <a:ext cx="36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(e)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17"/>
          <p:cNvSpPr txBox="1"/>
          <p:nvPr/>
        </p:nvSpPr>
        <p:spPr>
          <a:xfrm>
            <a:off x="4491940" y="4517589"/>
            <a:ext cx="240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Growing core ontology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7"/>
          <p:cNvSpPr txBox="1"/>
          <p:nvPr/>
        </p:nvSpPr>
        <p:spPr>
          <a:xfrm>
            <a:off x="4491940" y="4787691"/>
            <a:ext cx="240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Reuse validated IRIs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17"/>
          <p:cNvSpPr/>
          <p:nvPr/>
        </p:nvSpPr>
        <p:spPr>
          <a:xfrm>
            <a:off x="7596625" y="3402475"/>
            <a:ext cx="1335000" cy="1321500"/>
          </a:xfrm>
          <a:prstGeom prst="roundRect">
            <a:avLst>
              <a:gd fmla="val 16667" name="adj"/>
            </a:avLst>
          </a:prstGeom>
          <a:solidFill>
            <a:srgbClr val="DDE5E1"/>
          </a:solidFill>
          <a:ln cap="flat" cmpd="sng" w="29200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17"/>
          <p:cNvSpPr txBox="1"/>
          <p:nvPr/>
        </p:nvSpPr>
        <p:spPr>
          <a:xfrm>
            <a:off x="7669765" y="3192158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(f)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17"/>
          <p:cNvSpPr txBox="1"/>
          <p:nvPr/>
        </p:nvSpPr>
        <p:spPr>
          <a:xfrm>
            <a:off x="7678909" y="3521341"/>
            <a:ext cx="1170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Gen-LLM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17"/>
          <p:cNvSpPr txBox="1"/>
          <p:nvPr/>
        </p:nvSpPr>
        <p:spPr>
          <a:xfrm>
            <a:off x="7688053" y="3795661"/>
            <a:ext cx="115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creates ΔOᵣ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17"/>
          <p:cNvSpPr txBox="1"/>
          <p:nvPr/>
        </p:nvSpPr>
        <p:spPr>
          <a:xfrm>
            <a:off x="9032221" y="3384182"/>
            <a:ext cx="71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(g) ΔOᵣ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5" name="Google Shape;1075;p17"/>
          <p:cNvCxnSpPr/>
          <p:nvPr/>
        </p:nvCxnSpPr>
        <p:spPr>
          <a:xfrm>
            <a:off x="3280056" y="3446462"/>
            <a:ext cx="1005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76" name="Google Shape;1076;p17"/>
          <p:cNvSpPr/>
          <p:nvPr/>
        </p:nvSpPr>
        <p:spPr>
          <a:xfrm>
            <a:off x="1838868" y="3160059"/>
            <a:ext cx="1444800" cy="6948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65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17"/>
          <p:cNvSpPr txBox="1"/>
          <p:nvPr/>
        </p:nvSpPr>
        <p:spPr>
          <a:xfrm>
            <a:off x="1921164" y="3278931"/>
            <a:ext cx="1280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Iterate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7"/>
          <p:cNvSpPr txBox="1"/>
          <p:nvPr/>
        </p:nvSpPr>
        <p:spPr>
          <a:xfrm>
            <a:off x="1930308" y="3553251"/>
            <a:ext cx="126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FK-BFS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9" name="Google Shape;1079;p17"/>
          <p:cNvCxnSpPr/>
          <p:nvPr/>
        </p:nvCxnSpPr>
        <p:spPr>
          <a:xfrm>
            <a:off x="3276349" y="3608115"/>
            <a:ext cx="1188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80" name="Google Shape;1080;p17"/>
          <p:cNvCxnSpPr/>
          <p:nvPr/>
        </p:nvCxnSpPr>
        <p:spPr>
          <a:xfrm>
            <a:off x="3657665" y="2199459"/>
            <a:ext cx="2652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81" name="Google Shape;1081;p17"/>
          <p:cNvCxnSpPr/>
          <p:nvPr/>
        </p:nvCxnSpPr>
        <p:spPr>
          <a:xfrm>
            <a:off x="6144772" y="2181631"/>
            <a:ext cx="18744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1086" name="Google Shape;1086;p17" title="Ontology Taxonomy Documentation Icons.png"/>
          <p:cNvPicPr preferRelativeResize="0"/>
          <p:nvPr/>
        </p:nvPicPr>
        <p:blipFill rotWithShape="1">
          <a:blip r:embed="rId5">
            <a:alphaModFix/>
          </a:blip>
          <a:srcRect b="14185" l="36225" r="31825" t="16211"/>
          <a:stretch/>
        </p:blipFill>
        <p:spPr>
          <a:xfrm>
            <a:off x="6431317" y="3822390"/>
            <a:ext cx="594806" cy="475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17" title="Ontology Taxonomy Documentation Icons.png"/>
          <p:cNvPicPr preferRelativeResize="0"/>
          <p:nvPr/>
        </p:nvPicPr>
        <p:blipFill rotWithShape="1">
          <a:blip r:embed="rId5">
            <a:alphaModFix/>
          </a:blip>
          <a:srcRect b="14185" l="2070" r="65981" t="16211"/>
          <a:stretch/>
        </p:blipFill>
        <p:spPr>
          <a:xfrm>
            <a:off x="6385539" y="3137260"/>
            <a:ext cx="594801" cy="432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17" title="Ontology Taxonomy Documentation Icons.png"/>
          <p:cNvPicPr preferRelativeResize="0"/>
          <p:nvPr/>
        </p:nvPicPr>
        <p:blipFill rotWithShape="1">
          <a:blip r:embed="rId5">
            <a:alphaModFix/>
          </a:blip>
          <a:srcRect b="7505" l="70326" r="314" t="10116"/>
          <a:stretch/>
        </p:blipFill>
        <p:spPr>
          <a:xfrm>
            <a:off x="6452911" y="4535008"/>
            <a:ext cx="528123" cy="49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17" title="LLM Neural Brain Icon.png"/>
          <p:cNvPicPr preferRelativeResize="0"/>
          <p:nvPr/>
        </p:nvPicPr>
        <p:blipFill rotWithShape="1">
          <a:blip r:embed="rId6">
            <a:alphaModFix/>
          </a:blip>
          <a:srcRect b="14226" l="16398" r="17214" t="12218"/>
          <a:stretch/>
        </p:blipFill>
        <p:spPr>
          <a:xfrm>
            <a:off x="7941825" y="4070998"/>
            <a:ext cx="644449" cy="60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6" name="Google Shape;986;p17"/>
          <p:cNvCxnSpPr/>
          <p:nvPr/>
        </p:nvCxnSpPr>
        <p:spPr>
          <a:xfrm>
            <a:off x="7261490" y="3782975"/>
            <a:ext cx="2286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987" name="Google Shape;987;p17"/>
          <p:cNvCxnSpPr/>
          <p:nvPr/>
        </p:nvCxnSpPr>
        <p:spPr>
          <a:xfrm>
            <a:off x="7071140" y="3304363"/>
            <a:ext cx="1464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88" name="Google Shape;988;p17"/>
          <p:cNvSpPr txBox="1"/>
          <p:nvPr/>
        </p:nvSpPr>
        <p:spPr>
          <a:xfrm>
            <a:off x="512064" y="320040"/>
            <a:ext cx="6675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RIGOR  /  REASSEMBLING THE ARCHITECTURE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9" name="Google Shape;989;p17"/>
          <p:cNvSpPr txBox="1"/>
          <p:nvPr/>
        </p:nvSpPr>
        <p:spPr>
          <a:xfrm>
            <a:off x="512064" y="685800"/>
            <a:ext cx="10881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5. Validate before integration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17"/>
          <p:cNvSpPr txBox="1"/>
          <p:nvPr/>
        </p:nvSpPr>
        <p:spPr>
          <a:xfrm>
            <a:off x="512064" y="1271016"/>
            <a:ext cx="10607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 Validate and refine each delta before it joins the core.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17"/>
          <p:cNvSpPr/>
          <p:nvPr/>
        </p:nvSpPr>
        <p:spPr>
          <a:xfrm>
            <a:off x="9692640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17"/>
          <p:cNvSpPr/>
          <p:nvPr/>
        </p:nvSpPr>
        <p:spPr>
          <a:xfrm>
            <a:off x="10049256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17"/>
          <p:cNvSpPr/>
          <p:nvPr/>
        </p:nvSpPr>
        <p:spPr>
          <a:xfrm>
            <a:off x="10405872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17"/>
          <p:cNvSpPr/>
          <p:nvPr/>
        </p:nvSpPr>
        <p:spPr>
          <a:xfrm>
            <a:off x="10762488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17"/>
          <p:cNvSpPr/>
          <p:nvPr/>
        </p:nvSpPr>
        <p:spPr>
          <a:xfrm>
            <a:off x="11119104" y="356616"/>
            <a:ext cx="274200" cy="63900"/>
          </a:xfrm>
          <a:prstGeom prst="rect">
            <a:avLst/>
          </a:prstGeom>
          <a:solidFill>
            <a:srgbClr val="0B6E4F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17"/>
          <p:cNvSpPr/>
          <p:nvPr/>
        </p:nvSpPr>
        <p:spPr>
          <a:xfrm>
            <a:off x="11475720" y="356616"/>
            <a:ext cx="274200" cy="63900"/>
          </a:xfrm>
          <a:prstGeom prst="rect">
            <a:avLst/>
          </a:prstGeom>
          <a:solidFill>
            <a:srgbClr val="D3DAD6"/>
          </a:solidFill>
          <a:ln cap="flat" cmpd="sng" w="9525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17"/>
          <p:cNvSpPr txBox="1"/>
          <p:nvPr/>
        </p:nvSpPr>
        <p:spPr>
          <a:xfrm>
            <a:off x="10917936" y="6519672"/>
            <a:ext cx="80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5 /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8" name="Google Shape;998;p17"/>
          <p:cNvCxnSpPr/>
          <p:nvPr/>
        </p:nvCxnSpPr>
        <p:spPr>
          <a:xfrm>
            <a:off x="1577684" y="3507531"/>
            <a:ext cx="164700" cy="0"/>
          </a:xfrm>
          <a:prstGeom prst="straightConnector1">
            <a:avLst/>
          </a:prstGeom>
          <a:noFill/>
          <a:ln cap="flat" cmpd="sng" w="381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99" name="Google Shape;999;p17"/>
          <p:cNvSpPr/>
          <p:nvPr/>
        </p:nvSpPr>
        <p:spPr>
          <a:xfrm rot="5400000">
            <a:off x="1678184" y="3443523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0" name="Google Shape;1000;p17"/>
          <p:cNvCxnSpPr/>
          <p:nvPr/>
        </p:nvCxnSpPr>
        <p:spPr>
          <a:xfrm>
            <a:off x="3369671" y="3446462"/>
            <a:ext cx="1005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1" name="Google Shape;1001;p17"/>
          <p:cNvCxnSpPr/>
          <p:nvPr/>
        </p:nvCxnSpPr>
        <p:spPr>
          <a:xfrm rot="10800000">
            <a:off x="3456647" y="2186248"/>
            <a:ext cx="0" cy="127110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2" name="Google Shape;1002;p17"/>
          <p:cNvCxnSpPr/>
          <p:nvPr/>
        </p:nvCxnSpPr>
        <p:spPr>
          <a:xfrm>
            <a:off x="3456647" y="2199939"/>
            <a:ext cx="2652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03" name="Google Shape;1003;p17"/>
          <p:cNvSpPr/>
          <p:nvPr/>
        </p:nvSpPr>
        <p:spPr>
          <a:xfrm rot="5400000">
            <a:off x="3918081" y="2135931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4" name="Google Shape;1004;p17"/>
          <p:cNvCxnSpPr/>
          <p:nvPr/>
        </p:nvCxnSpPr>
        <p:spPr>
          <a:xfrm>
            <a:off x="3356063" y="3608115"/>
            <a:ext cx="1188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5" name="Google Shape;1005;p17"/>
          <p:cNvCxnSpPr/>
          <p:nvPr/>
        </p:nvCxnSpPr>
        <p:spPr>
          <a:xfrm rot="10800000">
            <a:off x="3537528" y="3283708"/>
            <a:ext cx="0" cy="31080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6" name="Google Shape;1006;p17"/>
          <p:cNvCxnSpPr/>
          <p:nvPr/>
        </p:nvCxnSpPr>
        <p:spPr>
          <a:xfrm>
            <a:off x="3537528" y="3297219"/>
            <a:ext cx="2559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07" name="Google Shape;1007;p17"/>
          <p:cNvSpPr/>
          <p:nvPr/>
        </p:nvSpPr>
        <p:spPr>
          <a:xfrm rot="5400000">
            <a:off x="3729467" y="3233211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8" name="Google Shape;1008;p17"/>
          <p:cNvCxnSpPr/>
          <p:nvPr/>
        </p:nvCxnSpPr>
        <p:spPr>
          <a:xfrm>
            <a:off x="3356063" y="3608115"/>
            <a:ext cx="1188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09" name="Google Shape;1009;p17"/>
          <p:cNvCxnSpPr/>
          <p:nvPr/>
        </p:nvCxnSpPr>
        <p:spPr>
          <a:xfrm>
            <a:off x="3537528" y="3992163"/>
            <a:ext cx="2559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10" name="Google Shape;1010;p17"/>
          <p:cNvSpPr/>
          <p:nvPr/>
        </p:nvSpPr>
        <p:spPr>
          <a:xfrm rot="5400000">
            <a:off x="3729467" y="3928154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1" name="Google Shape;1011;p17"/>
          <p:cNvCxnSpPr/>
          <p:nvPr/>
        </p:nvCxnSpPr>
        <p:spPr>
          <a:xfrm>
            <a:off x="3418656" y="3608115"/>
            <a:ext cx="1188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12" name="Google Shape;1012;p17"/>
          <p:cNvCxnSpPr/>
          <p:nvPr/>
        </p:nvCxnSpPr>
        <p:spPr>
          <a:xfrm>
            <a:off x="3537528" y="3594508"/>
            <a:ext cx="0" cy="107910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13" name="Google Shape;1013;p17"/>
          <p:cNvCxnSpPr/>
          <p:nvPr/>
        </p:nvCxnSpPr>
        <p:spPr>
          <a:xfrm>
            <a:off x="3537528" y="4659893"/>
            <a:ext cx="2559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14" name="Google Shape;1014;p17"/>
          <p:cNvSpPr/>
          <p:nvPr/>
        </p:nvSpPr>
        <p:spPr>
          <a:xfrm rot="5400000">
            <a:off x="3729467" y="4595885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5" name="Google Shape;1015;p17"/>
          <p:cNvCxnSpPr/>
          <p:nvPr/>
        </p:nvCxnSpPr>
        <p:spPr>
          <a:xfrm>
            <a:off x="6340837" y="2181651"/>
            <a:ext cx="18744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16" name="Google Shape;1016;p17"/>
          <p:cNvCxnSpPr/>
          <p:nvPr/>
        </p:nvCxnSpPr>
        <p:spPr>
          <a:xfrm>
            <a:off x="8200117" y="2181651"/>
            <a:ext cx="0" cy="113400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17" name="Google Shape;1017;p17"/>
          <p:cNvSpPr/>
          <p:nvPr/>
        </p:nvSpPr>
        <p:spPr>
          <a:xfrm rot="10800000">
            <a:off x="8136025" y="3251415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8" name="Google Shape;1018;p17"/>
          <p:cNvCxnSpPr/>
          <p:nvPr/>
        </p:nvCxnSpPr>
        <p:spPr>
          <a:xfrm>
            <a:off x="7129603" y="3304363"/>
            <a:ext cx="1464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19" name="Google Shape;1019;p17"/>
          <p:cNvCxnSpPr/>
          <p:nvPr/>
        </p:nvCxnSpPr>
        <p:spPr>
          <a:xfrm>
            <a:off x="7264000" y="3297219"/>
            <a:ext cx="0" cy="44820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20" name="Google Shape;1020;p17"/>
          <p:cNvSpPr/>
          <p:nvPr/>
        </p:nvSpPr>
        <p:spPr>
          <a:xfrm rot="5400000">
            <a:off x="7462823" y="3718917"/>
            <a:ext cx="128100" cy="128100"/>
          </a:xfrm>
          <a:prstGeom prst="triangle">
            <a:avLst>
              <a:gd fmla="val 50000" name="adj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1" name="Google Shape;1021;p17"/>
          <p:cNvCxnSpPr/>
          <p:nvPr/>
        </p:nvCxnSpPr>
        <p:spPr>
          <a:xfrm>
            <a:off x="7129603" y="4693870"/>
            <a:ext cx="1464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22" name="Google Shape;1022;p17"/>
          <p:cNvCxnSpPr/>
          <p:nvPr/>
        </p:nvCxnSpPr>
        <p:spPr>
          <a:xfrm rot="10800000">
            <a:off x="7264000" y="3745251"/>
            <a:ext cx="0" cy="95100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23" name="Google Shape;1023;p17"/>
          <p:cNvCxnSpPr/>
          <p:nvPr/>
        </p:nvCxnSpPr>
        <p:spPr>
          <a:xfrm>
            <a:off x="8931637" y="3795662"/>
            <a:ext cx="868800" cy="0"/>
          </a:xfrm>
          <a:prstGeom prst="straightConnector1">
            <a:avLst/>
          </a:prstGeom>
          <a:noFill/>
          <a:ln cap="flat" cmpd="sng" w="38100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24" name="Google Shape;1024;p17"/>
          <p:cNvSpPr/>
          <p:nvPr/>
        </p:nvSpPr>
        <p:spPr>
          <a:xfrm rot="5400000">
            <a:off x="9736225" y="3731654"/>
            <a:ext cx="128100" cy="128100"/>
          </a:xfrm>
          <a:prstGeom prst="triangle">
            <a:avLst>
              <a:gd fmla="val 50000" name="adj"/>
            </a:avLst>
          </a:prstGeom>
          <a:solidFill>
            <a:srgbClr val="0B6E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17"/>
          <p:cNvSpPr/>
          <p:nvPr/>
        </p:nvSpPr>
        <p:spPr>
          <a:xfrm>
            <a:off x="407252" y="2958891"/>
            <a:ext cx="1170300" cy="113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9DED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17"/>
          <p:cNvSpPr/>
          <p:nvPr/>
        </p:nvSpPr>
        <p:spPr>
          <a:xfrm>
            <a:off x="526124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2" name="Google Shape;1032;p17"/>
          <p:cNvCxnSpPr/>
          <p:nvPr/>
        </p:nvCxnSpPr>
        <p:spPr>
          <a:xfrm>
            <a:off x="567272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3" name="Google Shape;1033;p17"/>
          <p:cNvCxnSpPr/>
          <p:nvPr/>
        </p:nvCxnSpPr>
        <p:spPr>
          <a:xfrm>
            <a:off x="567272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34" name="Google Shape;1034;p17"/>
          <p:cNvSpPr/>
          <p:nvPr/>
        </p:nvSpPr>
        <p:spPr>
          <a:xfrm>
            <a:off x="837020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5" name="Google Shape;1035;p17"/>
          <p:cNvCxnSpPr/>
          <p:nvPr/>
        </p:nvCxnSpPr>
        <p:spPr>
          <a:xfrm>
            <a:off x="878168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6" name="Google Shape;1036;p17"/>
          <p:cNvCxnSpPr/>
          <p:nvPr/>
        </p:nvCxnSpPr>
        <p:spPr>
          <a:xfrm>
            <a:off x="878168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37" name="Google Shape;1037;p17"/>
          <p:cNvSpPr/>
          <p:nvPr/>
        </p:nvSpPr>
        <p:spPr>
          <a:xfrm>
            <a:off x="1147916" y="3123483"/>
            <a:ext cx="255900" cy="402300"/>
          </a:xfrm>
          <a:prstGeom prst="rect">
            <a:avLst/>
          </a:prstGeom>
          <a:solidFill>
            <a:srgbClr val="DDE5E1"/>
          </a:solidFill>
          <a:ln cap="flat" cmpd="sng" w="10150">
            <a:solidFill>
              <a:srgbClr val="177A5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8" name="Google Shape;1038;p17"/>
          <p:cNvCxnSpPr/>
          <p:nvPr/>
        </p:nvCxnSpPr>
        <p:spPr>
          <a:xfrm>
            <a:off x="1189064" y="3242355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39" name="Google Shape;1039;p17"/>
          <p:cNvCxnSpPr/>
          <p:nvPr/>
        </p:nvCxnSpPr>
        <p:spPr>
          <a:xfrm>
            <a:off x="1189064" y="3324651"/>
            <a:ext cx="169200" cy="0"/>
          </a:xfrm>
          <a:prstGeom prst="straightConnector1">
            <a:avLst/>
          </a:prstGeom>
          <a:noFill/>
          <a:ln cap="flat" cmpd="sng" w="9525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40" name="Google Shape;1040;p17"/>
          <p:cNvSpPr txBox="1"/>
          <p:nvPr/>
        </p:nvSpPr>
        <p:spPr>
          <a:xfrm>
            <a:off x="416396" y="3617258"/>
            <a:ext cx="115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Schema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7"/>
          <p:cNvSpPr txBox="1"/>
          <p:nvPr/>
        </p:nvSpPr>
        <p:spPr>
          <a:xfrm>
            <a:off x="1275932" y="2748579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17"/>
          <p:cNvSpPr/>
          <p:nvPr/>
        </p:nvSpPr>
        <p:spPr>
          <a:xfrm>
            <a:off x="4043884" y="1825035"/>
            <a:ext cx="2103000" cy="7590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65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7"/>
          <p:cNvSpPr txBox="1"/>
          <p:nvPr/>
        </p:nvSpPr>
        <p:spPr>
          <a:xfrm>
            <a:off x="4117036" y="1590575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7"/>
          <p:cNvSpPr txBox="1"/>
          <p:nvPr/>
        </p:nvSpPr>
        <p:spPr>
          <a:xfrm>
            <a:off x="4126180" y="1943907"/>
            <a:ext cx="1938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Direct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17"/>
          <p:cNvSpPr txBox="1"/>
          <p:nvPr/>
        </p:nvSpPr>
        <p:spPr>
          <a:xfrm>
            <a:off x="4135323" y="2218227"/>
            <a:ext cx="192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OWL seed DMᵣ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17"/>
          <p:cNvSpPr/>
          <p:nvPr/>
        </p:nvSpPr>
        <p:spPr>
          <a:xfrm>
            <a:off x="3897579" y="2739445"/>
            <a:ext cx="3218700" cy="2508300"/>
          </a:xfrm>
          <a:prstGeom prst="roundRect">
            <a:avLst>
              <a:gd fmla="val 8766" name="adj"/>
            </a:avLst>
          </a:prstGeom>
          <a:solidFill>
            <a:srgbClr val="FFFFFF"/>
          </a:solidFill>
          <a:ln cap="flat" cmpd="sng" w="15225">
            <a:solidFill>
              <a:srgbClr val="D9DED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17"/>
          <p:cNvSpPr txBox="1"/>
          <p:nvPr/>
        </p:nvSpPr>
        <p:spPr>
          <a:xfrm>
            <a:off x="4025596" y="2776011"/>
            <a:ext cx="299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RETRIEVAL  •  top-k per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17"/>
          <p:cNvSpPr/>
          <p:nvPr/>
        </p:nvSpPr>
        <p:spPr>
          <a:xfrm>
            <a:off x="4043884" y="3059475"/>
            <a:ext cx="2980800" cy="6036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522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17"/>
          <p:cNvSpPr txBox="1"/>
          <p:nvPr/>
        </p:nvSpPr>
        <p:spPr>
          <a:xfrm>
            <a:off x="4144468" y="3115627"/>
            <a:ext cx="36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7"/>
          <p:cNvSpPr txBox="1"/>
          <p:nvPr/>
        </p:nvSpPr>
        <p:spPr>
          <a:xfrm>
            <a:off x="4491940" y="3109413"/>
            <a:ext cx="240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External ontologies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7"/>
          <p:cNvSpPr txBox="1"/>
          <p:nvPr/>
        </p:nvSpPr>
        <p:spPr>
          <a:xfrm>
            <a:off x="4491940" y="3379515"/>
            <a:ext cx="240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Domain alignments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17"/>
          <p:cNvSpPr/>
          <p:nvPr/>
        </p:nvSpPr>
        <p:spPr>
          <a:xfrm>
            <a:off x="4043884" y="3763563"/>
            <a:ext cx="2980800" cy="6036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522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17"/>
          <p:cNvSpPr txBox="1"/>
          <p:nvPr/>
        </p:nvSpPr>
        <p:spPr>
          <a:xfrm>
            <a:off x="4144468" y="3819715"/>
            <a:ext cx="36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17"/>
          <p:cNvSpPr txBox="1"/>
          <p:nvPr/>
        </p:nvSpPr>
        <p:spPr>
          <a:xfrm>
            <a:off x="4491940" y="3813501"/>
            <a:ext cx="240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17"/>
          <p:cNvSpPr txBox="1"/>
          <p:nvPr/>
        </p:nvSpPr>
        <p:spPr>
          <a:xfrm>
            <a:off x="4491940" y="4083603"/>
            <a:ext cx="240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Cryptic fields and codes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7"/>
          <p:cNvSpPr/>
          <p:nvPr/>
        </p:nvSpPr>
        <p:spPr>
          <a:xfrm>
            <a:off x="4043884" y="4467651"/>
            <a:ext cx="2980800" cy="6036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522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7"/>
          <p:cNvSpPr txBox="1"/>
          <p:nvPr/>
        </p:nvSpPr>
        <p:spPr>
          <a:xfrm>
            <a:off x="4144468" y="4523803"/>
            <a:ext cx="36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(e)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17"/>
          <p:cNvSpPr txBox="1"/>
          <p:nvPr/>
        </p:nvSpPr>
        <p:spPr>
          <a:xfrm>
            <a:off x="4491940" y="4517589"/>
            <a:ext cx="240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Growing core ontology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7"/>
          <p:cNvSpPr txBox="1"/>
          <p:nvPr/>
        </p:nvSpPr>
        <p:spPr>
          <a:xfrm>
            <a:off x="4491940" y="4787691"/>
            <a:ext cx="240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Reuse validated IRIs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17"/>
          <p:cNvSpPr/>
          <p:nvPr/>
        </p:nvSpPr>
        <p:spPr>
          <a:xfrm>
            <a:off x="7596625" y="3402475"/>
            <a:ext cx="1335000" cy="13215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65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17"/>
          <p:cNvSpPr txBox="1"/>
          <p:nvPr/>
        </p:nvSpPr>
        <p:spPr>
          <a:xfrm>
            <a:off x="7669765" y="3192158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(f)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17"/>
          <p:cNvSpPr txBox="1"/>
          <p:nvPr/>
        </p:nvSpPr>
        <p:spPr>
          <a:xfrm>
            <a:off x="7678909" y="3521341"/>
            <a:ext cx="1170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Gen-LLM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17"/>
          <p:cNvSpPr txBox="1"/>
          <p:nvPr/>
        </p:nvSpPr>
        <p:spPr>
          <a:xfrm>
            <a:off x="7688053" y="3795661"/>
            <a:ext cx="115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creates ΔOᵣ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17"/>
          <p:cNvSpPr txBox="1"/>
          <p:nvPr/>
        </p:nvSpPr>
        <p:spPr>
          <a:xfrm>
            <a:off x="9032221" y="3384182"/>
            <a:ext cx="71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(g) ΔOᵣ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17"/>
          <p:cNvSpPr/>
          <p:nvPr/>
        </p:nvSpPr>
        <p:spPr>
          <a:xfrm>
            <a:off x="9859849" y="3237878"/>
            <a:ext cx="2121300" cy="1115700"/>
          </a:xfrm>
          <a:prstGeom prst="roundRect">
            <a:avLst>
              <a:gd fmla="val 16667" name="adj"/>
            </a:avLst>
          </a:prstGeom>
          <a:solidFill>
            <a:srgbClr val="DDE5E1"/>
          </a:solidFill>
          <a:ln cap="flat" cmpd="sng" w="29200">
            <a:solidFill>
              <a:srgbClr val="0B6E4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17"/>
          <p:cNvSpPr txBox="1"/>
          <p:nvPr/>
        </p:nvSpPr>
        <p:spPr>
          <a:xfrm>
            <a:off x="9933001" y="3027566"/>
            <a:ext cx="3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(h)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17"/>
          <p:cNvSpPr txBox="1"/>
          <p:nvPr/>
        </p:nvSpPr>
        <p:spPr>
          <a:xfrm>
            <a:off x="9942145" y="3272233"/>
            <a:ext cx="1956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Validate + refine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17"/>
          <p:cNvSpPr txBox="1"/>
          <p:nvPr/>
        </p:nvSpPr>
        <p:spPr>
          <a:xfrm>
            <a:off x="9951289" y="3546553"/>
            <a:ext cx="193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Judge-LLM + rules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5" name="Google Shape;1075;p17"/>
          <p:cNvCxnSpPr/>
          <p:nvPr/>
        </p:nvCxnSpPr>
        <p:spPr>
          <a:xfrm>
            <a:off x="3280056" y="3446462"/>
            <a:ext cx="1005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76" name="Google Shape;1076;p17"/>
          <p:cNvSpPr/>
          <p:nvPr/>
        </p:nvSpPr>
        <p:spPr>
          <a:xfrm>
            <a:off x="1838868" y="3160059"/>
            <a:ext cx="1444800" cy="694800"/>
          </a:xfrm>
          <a:prstGeom prst="roundRect">
            <a:avLst>
              <a:gd fmla="val 16667" name="adj"/>
            </a:avLst>
          </a:prstGeom>
          <a:solidFill>
            <a:srgbClr val="F3F5F4"/>
          </a:solidFill>
          <a:ln cap="flat" cmpd="sng" w="165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17"/>
          <p:cNvSpPr txBox="1"/>
          <p:nvPr/>
        </p:nvSpPr>
        <p:spPr>
          <a:xfrm>
            <a:off x="1921164" y="3278931"/>
            <a:ext cx="1280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Iterate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7"/>
          <p:cNvSpPr txBox="1"/>
          <p:nvPr/>
        </p:nvSpPr>
        <p:spPr>
          <a:xfrm>
            <a:off x="1930308" y="3553251"/>
            <a:ext cx="126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FK-BFS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9" name="Google Shape;1079;p17"/>
          <p:cNvCxnSpPr/>
          <p:nvPr/>
        </p:nvCxnSpPr>
        <p:spPr>
          <a:xfrm>
            <a:off x="3276349" y="3608115"/>
            <a:ext cx="118800" cy="0"/>
          </a:xfrm>
          <a:prstGeom prst="straightConnector1">
            <a:avLst/>
          </a:prstGeom>
          <a:noFill/>
          <a:ln cap="flat" cmpd="sng" w="2665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80" name="Google Shape;1080;p17"/>
          <p:cNvCxnSpPr/>
          <p:nvPr/>
        </p:nvCxnSpPr>
        <p:spPr>
          <a:xfrm>
            <a:off x="3657665" y="2199459"/>
            <a:ext cx="2652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1081" name="Google Shape;1081;p17"/>
          <p:cNvCxnSpPr/>
          <p:nvPr/>
        </p:nvCxnSpPr>
        <p:spPr>
          <a:xfrm>
            <a:off x="6144772" y="2181631"/>
            <a:ext cx="1874400" cy="0"/>
          </a:xfrm>
          <a:prstGeom prst="straightConnector1">
            <a:avLst/>
          </a:prstGeom>
          <a:noFill/>
          <a:ln cap="flat" cmpd="sng" w="292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1084" name="Google Shape;1084;p17" title="graph_checks_icon.png"/>
          <p:cNvPicPr preferRelativeResize="0"/>
          <p:nvPr/>
        </p:nvPicPr>
        <p:blipFill rotWithShape="1">
          <a:blip r:embed="rId3">
            <a:alphaModFix/>
          </a:blip>
          <a:srcRect b="19469" l="4324" r="13635" t="18031"/>
          <a:stretch/>
        </p:blipFill>
        <p:spPr>
          <a:xfrm>
            <a:off x="11109875" y="3858152"/>
            <a:ext cx="528134" cy="40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17" title="judge_llm_icon.png"/>
          <p:cNvPicPr preferRelativeResize="0"/>
          <p:nvPr/>
        </p:nvPicPr>
        <p:blipFill rotWithShape="1">
          <a:blip r:embed="rId4">
            <a:alphaModFix/>
          </a:blip>
          <a:srcRect b="12651" l="17110" r="7384" t="12532"/>
          <a:stretch/>
        </p:blipFill>
        <p:spPr>
          <a:xfrm>
            <a:off x="10278909" y="3774189"/>
            <a:ext cx="528124" cy="52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17" title="Ontology Taxonomy Documentation Icons.png"/>
          <p:cNvPicPr preferRelativeResize="0"/>
          <p:nvPr/>
        </p:nvPicPr>
        <p:blipFill rotWithShape="1">
          <a:blip r:embed="rId5">
            <a:alphaModFix/>
          </a:blip>
          <a:srcRect b="14185" l="36225" r="31825" t="16211"/>
          <a:stretch/>
        </p:blipFill>
        <p:spPr>
          <a:xfrm>
            <a:off x="6431317" y="3822390"/>
            <a:ext cx="594806" cy="475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17" title="Ontology Taxonomy Documentation Icons.png"/>
          <p:cNvPicPr preferRelativeResize="0"/>
          <p:nvPr/>
        </p:nvPicPr>
        <p:blipFill rotWithShape="1">
          <a:blip r:embed="rId5">
            <a:alphaModFix/>
          </a:blip>
          <a:srcRect b="14185" l="2070" r="65981" t="16211"/>
          <a:stretch/>
        </p:blipFill>
        <p:spPr>
          <a:xfrm>
            <a:off x="6385539" y="3137260"/>
            <a:ext cx="594801" cy="432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17" title="Ontology Taxonomy Documentation Icons.png"/>
          <p:cNvPicPr preferRelativeResize="0"/>
          <p:nvPr/>
        </p:nvPicPr>
        <p:blipFill rotWithShape="1">
          <a:blip r:embed="rId5">
            <a:alphaModFix/>
          </a:blip>
          <a:srcRect b="7505" l="70326" r="314" t="10116"/>
          <a:stretch/>
        </p:blipFill>
        <p:spPr>
          <a:xfrm>
            <a:off x="6452911" y="4535008"/>
            <a:ext cx="528123" cy="49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17" title="LLM Neural Brain Icon.png"/>
          <p:cNvPicPr preferRelativeResize="0"/>
          <p:nvPr/>
        </p:nvPicPr>
        <p:blipFill rotWithShape="1">
          <a:blip r:embed="rId6">
            <a:alphaModFix/>
          </a:blip>
          <a:srcRect b="14226" l="16398" r="17214" t="12218"/>
          <a:stretch/>
        </p:blipFill>
        <p:spPr>
          <a:xfrm>
            <a:off x="7941825" y="4070998"/>
            <a:ext cx="644449" cy="60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IGOR · ISWC 2026 Talk">
  <a:themeElements>
    <a:clrScheme name="RIGOR · ISWC 2026 Talk">
      <a:dk1>
        <a:srgbClr val="111A28"/>
      </a:dk1>
      <a:lt1>
        <a:srgbClr val="F2F4F7"/>
      </a:lt1>
      <a:dk2>
        <a:srgbClr val="49515C"/>
      </a:dk2>
      <a:lt2>
        <a:srgbClr val="DCDEE2"/>
      </a:lt2>
      <a:accent1>
        <a:srgbClr val="2345C4"/>
      </a:accent1>
      <a:accent2>
        <a:srgbClr val="F4A261"/>
      </a:accent2>
      <a:accent3>
        <a:srgbClr val="B4561C"/>
      </a:accent3>
      <a:accent4>
        <a:srgbClr val="8FA5EB"/>
      </a:accent4>
      <a:accent5>
        <a:srgbClr val="8AA4FF"/>
      </a:accent5>
      <a:accent6>
        <a:srgbClr val="E9873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IGOR · ISWC 2026 Talk">
  <a:themeElements>
    <a:clrScheme name="RIGOR · ISWC 2026 Talk">
      <a:dk1>
        <a:srgbClr val="111A28"/>
      </a:dk1>
      <a:lt1>
        <a:srgbClr val="F2F4F7"/>
      </a:lt1>
      <a:dk2>
        <a:srgbClr val="49515C"/>
      </a:dk2>
      <a:lt2>
        <a:srgbClr val="DCDEE2"/>
      </a:lt2>
      <a:accent1>
        <a:srgbClr val="2345C4"/>
      </a:accent1>
      <a:accent2>
        <a:srgbClr val="F4A261"/>
      </a:accent2>
      <a:accent3>
        <a:srgbClr val="B4561C"/>
      </a:accent3>
      <a:accent4>
        <a:srgbClr val="8FA5EB"/>
      </a:accent4>
      <a:accent5>
        <a:srgbClr val="8AA4FF"/>
      </a:accent5>
      <a:accent6>
        <a:srgbClr val="E9873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2026-10-26T00:50:16Z</dcterms:created>
</cp:coreProperties>
</file>