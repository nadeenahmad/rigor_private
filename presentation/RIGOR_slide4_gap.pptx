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9" r:id="rId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iSAKVMm4+QvifYUYUK20LMzWgf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6" Type="http://customschemas.google.com/relationships/presentationmetadata" Target="metadata"/>  
  
  
  
  
  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[1:59–2:37]  SPOKEN SCRIPT (66 words)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work solves half of this. Schema-first rules, like direct mapping, preserve the structure: every table, column and foreign key. But they add no domain meaning. LLMs can suggest meaning: labels, concepts, relations. But they omit columns, or model keys wrongly. So our question is: can we keep schema fidelity and add domain semantics, across a whole database, with no expert in the loop during generation?</a:t>
            </a:r>
          </a:p>
          <a:p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Left card, right card, then land on the question.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Rules keep structure; LLMs suggest meaning; we need both.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Paper Sections 1-2. References on the slide (all cited in paper Section 2): Direct Mapping [Arenas 2012; Sequeda 2012], BootOX [ISWC 2015], Ben Mahria et al. 2021, RODI [SWJ 2017]; LLMs4OL [ISWC 2023], Mateiu &amp; Groza 2023, OntoGenix 2025, LLM4VKG [IJCAI 2025]. BURR deliberately not cited here: its results do not show LLMs trailing rule-based systems.</a:t>
            </a:r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sz="2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None/>
              <a:defRPr sz="16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b="0" i="0" sz="2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b="0" i="0" spc="0" sz="1400" u="none" cap="none" strike="noStrik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804672" y="521207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THE RESEARCH GAP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04672" y="960120"/>
            <a:ext cx="10689336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1F2328"/>
                </a:solidFill>
                <a:latin typeface="Cambria"/>
                <a:ea typeface="Calibri"/>
                <a:cs typeface="Calibri"/>
                <a:sym typeface="Calibri"/>
              </a:rPr>
              <a:t>Two partial solutions. Neither solves the whole problem.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804672" y="1920240"/>
            <a:ext cx="5148072" cy="252374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DE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04672" y="1920240"/>
            <a:ext cx="5148072" cy="6400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069848" y="2130552"/>
            <a:ext cx="46542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SCHEMA-FIRST RULES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1069848" y="2587752"/>
            <a:ext cx="4645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Preserve the structure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1069848" y="3072384"/>
            <a:ext cx="45262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Tables, columns and foreign keys can be mapped systematically.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1069848" y="3895344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But implicit domain semantics remain missing.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208776" y="1920240"/>
            <a:ext cx="5184648" cy="252374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DE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208776" y="1920240"/>
            <a:ext cx="5184648" cy="64008"/>
          </a:xfrm>
          <a:prstGeom prst="rect">
            <a:avLst/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473952" y="2130552"/>
            <a:ext cx="4645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LLM-FIRST GENERATION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6473952" y="2587752"/>
            <a:ext cx="46085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Suggest the meaning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6473952" y="3072384"/>
            <a:ext cx="4553712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Labels, concepts and plausible relationships can be proposed.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6473952" y="389534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But elements may be omitted or modeled incorrectly.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804672" y="5138928"/>
            <a:ext cx="10588752" cy="960120"/>
          </a:xfrm>
          <a:prstGeom prst="roundRect">
            <a:avLst>
              <a:gd fmla="val 10000" name="adj"/>
            </a:avLst>
          </a:prstGeom>
          <a:solidFill>
            <a:srgbClr val="E6F2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051560" y="5312664"/>
            <a:ext cx="2039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OUR QUESTION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2907792" y="5257800"/>
            <a:ext cx="8156448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Can we preserve schema fidelity </a:t>
            </a:r>
            <a:r>
              <a:rPr b="1" lang="en-US" sz="1800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1" lang="en-US" sz="1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add domain semantics,</a:t>
            </a:r>
            <a:br>
              <a:rPr b="1" lang="en-US" sz="1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across the full database, without expert intervention during generation?</a:t>
            </a:r>
            <a:endParaRPr/>
          </a:p>
        </p:txBody>
      </p:sp>
      <p:sp>
        <p:nvSpPr>
          <p:cNvPr id="126" name="References"/>
          <p:cNvSpPr/>
          <p:nvPr/>
        </p:nvSpPr>
        <p:spPr>
          <a:xfrm>
            <a:off x="841248" y="452628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000" b="1" i="0" dirty="0">
                <a:solidFill>
                  <a:srgbClr val="5B6770"/>
                </a:solidFill>
                <a:latin typeface="Calibri"/>
                <a:cs typeface="Calibri"/>
              </a:rPr>
              <a:t xml:space="preserve">W3C Direct Mapping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 [Arenas et al. 2012; Sequeda et al. 2012]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  ·  </a:t>
            </a:r>
            <a:r>
              <a:rPr lang="en-US" sz="1000" b="1" i="0" dirty="0">
                <a:solidFill>
                  <a:srgbClr val="5B6770"/>
                </a:solidFill>
                <a:latin typeface="Calibri"/>
                <a:cs typeface="Calibri"/>
              </a:rPr>
              <a:t xml:space="preserve">BootOX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 [Jiménez‑Ruiz et al., ISWC 2015]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  ·  </a:t>
            </a:r>
            <a:r>
              <a:rPr lang="en-US" sz="1000" b="1" i="0" dirty="0">
                <a:solidFill>
                  <a:srgbClr val="5B6770"/>
                </a:solidFill>
                <a:latin typeface="Calibri"/>
                <a:cs typeface="Calibri"/>
              </a:rPr>
              <a:t xml:space="preserve">Ben Mahria et al.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 [J. Big Data 2021]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  ·  </a:t>
            </a:r>
            <a:r>
              <a:rPr lang="en-US" sz="1000" b="1" i="0" dirty="0">
                <a:solidFill>
                  <a:srgbClr val="5B6770"/>
                </a:solidFill>
                <a:latin typeface="Calibri"/>
                <a:cs typeface="Calibri"/>
              </a:rPr>
              <a:t xml:space="preserve">RODI benchmark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 [Pinkel et al., SWJ 2017]</a:t>
            </a:r>
          </a:p>
        </p:txBody>
      </p:sp>
      <p:sp>
        <p:nvSpPr>
          <p:cNvPr id="127" name="References"/>
          <p:cNvSpPr/>
          <p:nvPr/>
        </p:nvSpPr>
        <p:spPr>
          <a:xfrm>
            <a:off x="6245352" y="4526280"/>
            <a:ext cx="51114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000" b="1" i="0" dirty="0">
                <a:solidFill>
                  <a:srgbClr val="5B6770"/>
                </a:solidFill>
                <a:latin typeface="Calibri"/>
                <a:cs typeface="Calibri"/>
              </a:rPr>
              <a:t xml:space="preserve">LLMs4OL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 [Babaei Giglou et al., ISWC 2023]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  ·  </a:t>
            </a:r>
            <a:r>
              <a:rPr lang="en-US" sz="1000" b="1" i="0" dirty="0">
                <a:solidFill>
                  <a:srgbClr val="5B6770"/>
                </a:solidFill>
                <a:latin typeface="Calibri"/>
                <a:cs typeface="Calibri"/>
              </a:rPr>
              <a:t xml:space="preserve">Mateiu &amp; Groza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 [SYNASC 2023]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  ·  </a:t>
            </a:r>
            <a:r>
              <a:rPr lang="en-US" sz="1000" b="1" i="0" dirty="0">
                <a:solidFill>
                  <a:srgbClr val="5B6770"/>
                </a:solidFill>
                <a:latin typeface="Calibri"/>
                <a:cs typeface="Calibri"/>
              </a:rPr>
              <a:t xml:space="preserve">OntoGenix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 [Val‑Calvo et al., IP&amp;M 2025]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  ·  </a:t>
            </a:r>
            <a:r>
              <a:rPr lang="en-US" sz="1000" b="1" i="0" dirty="0">
                <a:solidFill>
                  <a:srgbClr val="5B6770"/>
                </a:solidFill>
                <a:latin typeface="Calibri"/>
                <a:cs typeface="Calibri"/>
              </a:rPr>
              <a:t xml:space="preserve">LLM4VKG</a:t>
            </a:r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 [Xiao et al., IJCAI 2025]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2026-10-26T00:50:16Z</dcterms:created>
</cp:coreProperties>
</file>