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92" r:id="rId46"/>
  </p:sldIdLst>
  <p:sldSz cy="6858000" cx="12192000"/>
  <p:notesSz cx="6858000" cy="12192000"/>
  <p:embeddedFontLst>
    <p:embeddedFont>
      <p:font typeface="IBM Plex Sans"/>
      <p:regular r:id="rId40"/>
      <p:bold r:id="rId41"/>
      <p:italic r:id="rId42"/>
      <p:boldItalic r:id="rId4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44" roundtripDataSignature="AMtx7miIhFui5hy+i4o3KOYM/gPuu+LjK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?><Relationships xmlns="http://schemas.openxmlformats.org/package/2006/relationships"><Relationship Id="rId40" Type="http://schemas.openxmlformats.org/officeDocument/2006/relationships/font" Target="fonts/IBMPlexSans-regular.fntdata"/><Relationship Id="rId42" Type="http://schemas.openxmlformats.org/officeDocument/2006/relationships/font" Target="fonts/IBMPlexSans-italic.fntdata"/><Relationship Id="rId41" Type="http://schemas.openxmlformats.org/officeDocument/2006/relationships/font" Target="fonts/IBMPlexSans-bold.fntdata"/><Relationship Id="rId44" Type="http://customschemas.google.com/relationships/presentationmetadata" Target="metadata"/><Relationship Id="rId43" Type="http://schemas.openxmlformats.org/officeDocument/2006/relationships/font" Target="fonts/IBMPlexSans-bold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  
  <Relationship Id="rId46" Type="http://schemas.openxmlformats.org/officeDocument/2006/relationships/slide" Target="slides/slide37.xml"/>
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3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" name="Google Shape;18;p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[9:57–10:21]  SPOKEN SCRIPT (39 words)</a:t>
            </a:r>
          </a:p>
          <a:p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Nothing is lost. Is meaning added? Direct mapping and the LLM baseline add none, in any run. Non-Iterative RAG adds labels, but no provenance and no class hierarchy. Only RIGOR adds all three, with every LLM, in every database. [pause]</a:t>
            </a:r>
          </a:p>
          <a:p/>
          <a:p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PRESENTER / POINTER: Point at the red block first, then the three RIGOR rows.</a:t>
            </a:r>
          </a:p>
          <a:p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AUDIENCE TAKEAWAY: Only RIGOR adds labels, provenance and a class hierarchy, with every LLM.</a:t>
            </a:r>
          </a:p>
          <a:p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SOURCE AND SCOPE: Paper Table 8. Hierarchy as inheritance richness (subclass axioms per class; OntoQA, Tartir et al. 2005; OntoMetrics, Lantow 2016), computed from Table 8 counts. Shading is within each database.</a:t>
            </a:r>
          </a:p>
          <a:p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RUNNING LATE, DROP: "Non-Iterative RAG adds labels, but no provenance and no class hierarchy."</a:t>
            </a:r>
          </a:p>
          <a:p/>
          <a:p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ASKED 'DOES CHINOOK NEED SO MANY SUBCLASSES?': Count is not quality, so we report whether a hierarchy exists, and only RIGOR builds one. RIGOR's Chinook ontologies have zero OOPS! pitfalls and the judge ranks RIGOR first on all 11 Chinook tables; it does score RIGOR's conciseness lower there (2.59 vs 3.32 for the baseline, Table 10), so tighter hierarchies are future work.</a:t>
            </a:r>
          </a:p>
          <a:p/>
          <a:p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DOMAIN PATTERN (notes only): inheritance richness is 0.10-0.70 on the clinical schemas and 2.1-4.1 on the music store; the LLM proposes more specializations in a familiar domain.</a:t>
            </a:r>
          </a:p>
        </p:txBody>
      </p:sp>
      <p:sp>
        <p:nvSpPr>
          <p:cNvPr id="19" name="Google Shape;19;p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bg>
      <p:bgPr>
        <a:solidFill>
          <a:srgbClr val="FFFFFF"/>
        </a:solid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5"/>
          <p:cNvSpPr txBox="1"/>
          <p:nvPr>
            <p:ph type="title"/>
          </p:nvPr>
        </p:nvSpPr>
        <p:spPr>
          <a:xfrm>
            <a:off x="812800" y="1153120"/>
            <a:ext cx="10566400" cy="391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2800"/>
              <a:buFont typeface="Calibri"/>
              <a:buNone/>
              <a:defRPr sz="2800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5"/>
          <p:cNvSpPr txBox="1"/>
          <p:nvPr>
            <p:ph idx="1" type="body"/>
          </p:nvPr>
        </p:nvSpPr>
        <p:spPr>
          <a:xfrm>
            <a:off x="812800" y="1849041"/>
            <a:ext cx="10566400" cy="41961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40000"/>
              </a:lnSpc>
              <a:spcBef>
                <a:spcPts val="320"/>
              </a:spcBef>
              <a:spcAft>
                <a:spcPts val="0"/>
              </a:spcAft>
              <a:buClr>
                <a:srgbClr val="1F2328"/>
              </a:buClr>
              <a:buSzPts val="1600"/>
              <a:buNone/>
              <a:defRPr sz="1600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4"/>
          <p:cNvSpPr txBox="1"/>
          <p:nvPr>
            <p:ph type="title"/>
          </p:nvPr>
        </p:nvSpPr>
        <p:spPr>
          <a:xfrm>
            <a:off x="812800" y="1153120"/>
            <a:ext cx="10566400" cy="391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2800"/>
              <a:buFont typeface="Calibri"/>
              <a:buNone/>
              <a:defRPr b="0" i="0" sz="28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" name="Google Shape;11;p24"/>
          <p:cNvSpPr txBox="1"/>
          <p:nvPr>
            <p:ph idx="1" type="body"/>
          </p:nvPr>
        </p:nvSpPr>
        <p:spPr>
          <a:xfrm>
            <a:off x="812800" y="1849041"/>
            <a:ext cx="10566400" cy="41961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40000"/>
              </a:lnSpc>
              <a:spcBef>
                <a:spcPts val="320"/>
              </a:spcBef>
              <a:spcAft>
                <a:spcPts val="0"/>
              </a:spcAft>
              <a:buClr>
                <a:srgbClr val="1F2328"/>
              </a:buClr>
              <a:buSzPts val="1600"/>
              <a:buFont typeface="Calibri"/>
              <a:buNone/>
              <a:defRPr b="0" i="0" sz="16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3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Notes" Type="http://schemas.openxmlformats.org/officeDocument/2006/relationships/notesSlide" Target="../notesSlides/notesSlide37.xml"/></Relationships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43" name="Shape 1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4" name="Google Shape;1144;p20"/>
          <p:cNvSpPr txBox="1"/>
          <p:nvPr/>
        </p:nvSpPr>
        <p:spPr>
          <a:xfrm>
            <a:off x="804672" y="512064"/>
            <a:ext cx="10753344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B6E4F"/>
                </a:solidFill>
                <a:latin typeface="Consolas"/>
                <a:ea typeface="Consolas"/>
                <a:cs typeface="Consolas"/>
                <a:sym typeface="Consolas"/>
              </a:rPr>
              <a:t>RESULT 3  /  MEANING IS ADDED</a:t>
            </a:r>
            <a:endParaRPr/>
          </a:p>
        </p:txBody>
      </p:sp>
      <p:sp>
        <p:nvSpPr>
          <p:cNvPr id="1145" name="Google Shape;1145;p20"/>
          <p:cNvSpPr txBox="1"/>
          <p:nvPr/>
        </p:nvSpPr>
        <p:spPr>
          <a:xfrm>
            <a:off x="804672" y="914400"/>
            <a:ext cx="10762488" cy="6675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1F2328"/>
                </a:solidFill>
                <a:latin typeface="Cambria"/>
                <a:ea typeface="Cambria"/>
                <a:cs typeface="Cambria"/>
                <a:sym typeface="Cambria"/>
              </a:rPr>
              <a:t>Meaning is added: labels, provenance and hierarchy.</a:t>
            </a:r>
            <a:endParaRPr/>
          </a:p>
        </p:txBody>
      </p:sp>
      <p:sp>
        <p:nvSpPr>
          <p:cNvPr id="1146" name="Subtitle"/>
          <p:cNvSpPr txBox="1"/>
          <p:nvPr/>
        </p:nvSpPr>
        <p:spPr>
          <a:xfrm>
            <a:off x="822960" y="1645920"/>
            <a:ext cx="10680192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600" b="0" i="0" dirty="0">
                <a:solidFill>
                  <a:srgbClr val="3A434C"/>
                </a:solidFill>
                <a:latin typeface="Calibri"/>
                <a:cs typeface="Calibri"/>
              </a:rPr>
              <a:t xml:space="preserve">Per ontology, for every LLM and database.</a:t>
            </a:r>
          </a:p>
        </p:txBody>
      </p:sp>
      <p:sp>
        <p:nvSpPr>
          <p:cNvPr id="1147" name="Ladder"/>
          <p:cNvSpPr/>
          <p:nvPr/>
        </p:nvSpPr>
        <p:spPr>
          <a:xfrm>
            <a:off x="804672" y="2103120"/>
            <a:ext cx="2042769" cy="310896"/>
          </a:xfrm>
          <a:prstGeom prst="rect">
            <a:avLst/>
          </a:prstGeom>
          <a:solidFill>
            <a:srgbClr val="E8F6E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000" b="1" i="0" dirty="0">
                <a:solidFill>
                  <a:srgbClr val="0B6E4F"/>
                </a:solidFill>
                <a:latin typeface="Consolas"/>
                <a:cs typeface="Consolas"/>
              </a:rPr>
              <a:t xml:space="preserve">1  VALID, FEWER ERRORS</a:t>
            </a:r>
          </a:p>
        </p:txBody>
      </p:sp>
      <p:sp>
        <p:nvSpPr>
          <p:cNvPr id="1148" name="Ladder"/>
          <p:cNvSpPr/>
          <p:nvPr/>
        </p:nvSpPr>
        <p:spPr>
          <a:xfrm>
            <a:off x="2938881" y="2103120"/>
            <a:ext cx="2042769" cy="310896"/>
          </a:xfrm>
          <a:prstGeom prst="rect">
            <a:avLst/>
          </a:prstGeom>
          <a:solidFill>
            <a:srgbClr val="E8F6E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000" b="1" i="0" dirty="0">
                <a:solidFill>
                  <a:srgbClr val="0B6E4F"/>
                </a:solidFill>
                <a:latin typeface="Consolas"/>
                <a:cs typeface="Consolas"/>
              </a:rPr>
              <a:t xml:space="preserve">2  KEEPS THE SCHEMA</a:t>
            </a:r>
          </a:p>
        </p:txBody>
      </p:sp>
      <p:sp>
        <p:nvSpPr>
          <p:cNvPr id="1149" name="Ladder"/>
          <p:cNvSpPr/>
          <p:nvPr/>
        </p:nvSpPr>
        <p:spPr>
          <a:xfrm>
            <a:off x="5073091" y="2103120"/>
            <a:ext cx="2042769" cy="310896"/>
          </a:xfrm>
          <a:prstGeom prst="rect">
            <a:avLst/>
          </a:prstGeom>
          <a:solidFill>
            <a:srgbClr val="0B6E4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000" b="1" i="0" dirty="0">
                <a:solidFill>
                  <a:srgbClr val="FFFFFF"/>
                </a:solidFill>
                <a:latin typeface="Consolas"/>
                <a:cs typeface="Consolas"/>
              </a:rPr>
              <a:t xml:space="preserve">3  ADDS MEANING</a:t>
            </a:r>
          </a:p>
        </p:txBody>
      </p:sp>
      <p:sp>
        <p:nvSpPr>
          <p:cNvPr id="1150" name="Ladder"/>
          <p:cNvSpPr/>
          <p:nvPr/>
        </p:nvSpPr>
        <p:spPr>
          <a:xfrm>
            <a:off x="7207300" y="2103120"/>
            <a:ext cx="2042769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D9DEDB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000" b="1" i="0" dirty="0">
                <a:solidFill>
                  <a:srgbClr val="6B747B"/>
                </a:solidFill>
                <a:latin typeface="Consolas"/>
                <a:cs typeface="Consolas"/>
              </a:rPr>
              <a:t xml:space="preserve">4  GOLD MAPPINGS</a:t>
            </a:r>
          </a:p>
        </p:txBody>
      </p:sp>
      <p:sp>
        <p:nvSpPr>
          <p:cNvPr id="1151" name="Ladder"/>
          <p:cNvSpPr/>
          <p:nvPr/>
        </p:nvSpPr>
        <p:spPr>
          <a:xfrm>
            <a:off x="9341510" y="2103120"/>
            <a:ext cx="2042769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D9DEDB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000" b="1" i="0" dirty="0">
                <a:solidFill>
                  <a:srgbClr val="6B747B"/>
                </a:solidFill>
                <a:latin typeface="Consolas"/>
                <a:cs typeface="Consolas"/>
              </a:rPr>
              <a:t xml:space="preserve">5  JUDGES</a:t>
            </a:r>
          </a:p>
        </p:txBody>
      </p:sp>
      <p:sp>
        <p:nvSpPr>
          <p:cNvPr id="1152" name="Card"/>
          <p:cNvSpPr/>
          <p:nvPr/>
        </p:nvSpPr>
        <p:spPr>
          <a:xfrm>
            <a:off x="804672" y="2606040"/>
            <a:ext cx="10579608" cy="3154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9DEDB"/>
            </a:solidFill>
          </a:ln>
        </p:spPr>
        <p:txBody>
          <a:bodyPr wrap="square" lIns="0" tIns="0" rIns="0" bIns="0" anchor="t">
            <a:noAutofit/>
          </a:bodyPr>
          <a:lstStyle/>
          <a:p>
            <a:pPr algn="l"/>
          </a:p>
        </p:txBody>
      </p:sp>
      <p:sp>
        <p:nvSpPr>
          <p:cNvPr id="1153" name="Card label"/>
          <p:cNvSpPr txBox="1"/>
          <p:nvPr/>
        </p:nvSpPr>
        <p:spPr>
          <a:xfrm>
            <a:off x="1078992" y="2788920"/>
            <a:ext cx="10030968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1" i="0" dirty="0">
                <a:solidFill>
                  <a:srgbClr val="2F6B78"/>
                </a:solidFill>
                <a:latin typeface="Consolas"/>
                <a:cs typeface="Consolas"/>
              </a:rPr>
              <a:t xml:space="preserve">ADDS MEANING</a:t>
            </a:r>
          </a:p>
        </p:txBody>
      </p:sp>
      <p:sp>
        <p:nvSpPr>
          <p:cNvPr id="1154" name="Database"/>
          <p:cNvSpPr txBox="1"/>
          <p:nvPr/>
        </p:nvSpPr>
        <p:spPr>
          <a:xfrm>
            <a:off x="3794760" y="2990088"/>
            <a:ext cx="2249424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100" b="1" i="0" dirty="0">
                <a:solidFill>
                  <a:srgbClr val="1F2328"/>
                </a:solidFill>
                <a:latin typeface="Calibri"/>
                <a:cs typeface="Calibri"/>
              </a:rPr>
              <a:t xml:space="preserve">Liver Cancer</a:t>
            </a:r>
          </a:p>
        </p:txBody>
      </p:sp>
      <p:sp>
        <p:nvSpPr>
          <p:cNvPr id="1155" name="LLM"/>
          <p:cNvSpPr txBox="1"/>
          <p:nvPr/>
        </p:nvSpPr>
        <p:spPr>
          <a:xfrm>
            <a:off x="3794760" y="3218688"/>
            <a:ext cx="749808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850" b="0" i="0" dirty="0">
                <a:solidFill>
                  <a:srgbClr val="5B6770"/>
                </a:solidFill>
                <a:latin typeface="Calibri"/>
                <a:cs typeface="Calibri"/>
              </a:rPr>
              <a:t xml:space="preserve">Claude</a:t>
            </a:r>
          </a:p>
        </p:txBody>
      </p:sp>
      <p:sp>
        <p:nvSpPr>
          <p:cNvPr id="1156" name="LLM"/>
          <p:cNvSpPr txBox="1"/>
          <p:nvPr/>
        </p:nvSpPr>
        <p:spPr>
          <a:xfrm>
            <a:off x="4544568" y="3218688"/>
            <a:ext cx="749808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850" b="0" i="0" dirty="0">
                <a:solidFill>
                  <a:srgbClr val="5B6770"/>
                </a:solidFill>
                <a:latin typeface="Calibri"/>
                <a:cs typeface="Calibri"/>
              </a:rPr>
              <a:t xml:space="preserve">Mistral</a:t>
            </a:r>
          </a:p>
        </p:txBody>
      </p:sp>
      <p:sp>
        <p:nvSpPr>
          <p:cNvPr id="1157" name="LLM"/>
          <p:cNvSpPr txBox="1"/>
          <p:nvPr/>
        </p:nvSpPr>
        <p:spPr>
          <a:xfrm>
            <a:off x="5294376" y="3218688"/>
            <a:ext cx="749808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850" b="0" i="0" dirty="0">
                <a:solidFill>
                  <a:srgbClr val="5B6770"/>
                </a:solidFill>
                <a:latin typeface="Calibri"/>
                <a:cs typeface="Calibri"/>
              </a:rPr>
              <a:t xml:space="preserve">DeepSeek</a:t>
            </a:r>
          </a:p>
        </p:txBody>
      </p:sp>
      <p:sp>
        <p:nvSpPr>
          <p:cNvPr id="1158" name="Database"/>
          <p:cNvSpPr txBox="1"/>
          <p:nvPr/>
        </p:nvSpPr>
        <p:spPr>
          <a:xfrm>
            <a:off x="6044184" y="2990088"/>
            <a:ext cx="2249424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100" b="1" i="0" dirty="0">
                <a:solidFill>
                  <a:srgbClr val="1F2328"/>
                </a:solidFill>
                <a:latin typeface="Calibri"/>
                <a:cs typeface="Calibri"/>
              </a:rPr>
              <a:t xml:space="preserve">eICU-CRD</a:t>
            </a:r>
          </a:p>
        </p:txBody>
      </p:sp>
      <p:sp>
        <p:nvSpPr>
          <p:cNvPr id="1159" name="LLM"/>
          <p:cNvSpPr txBox="1"/>
          <p:nvPr/>
        </p:nvSpPr>
        <p:spPr>
          <a:xfrm>
            <a:off x="6044184" y="3218688"/>
            <a:ext cx="749808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850" b="0" i="0" dirty="0">
                <a:solidFill>
                  <a:srgbClr val="5B6770"/>
                </a:solidFill>
                <a:latin typeface="Calibri"/>
                <a:cs typeface="Calibri"/>
              </a:rPr>
              <a:t xml:space="preserve">Claude</a:t>
            </a:r>
          </a:p>
        </p:txBody>
      </p:sp>
      <p:sp>
        <p:nvSpPr>
          <p:cNvPr id="1160" name="LLM"/>
          <p:cNvSpPr txBox="1"/>
          <p:nvPr/>
        </p:nvSpPr>
        <p:spPr>
          <a:xfrm>
            <a:off x="6793992" y="3218688"/>
            <a:ext cx="749808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850" b="0" i="0" dirty="0">
                <a:solidFill>
                  <a:srgbClr val="5B6770"/>
                </a:solidFill>
                <a:latin typeface="Calibri"/>
                <a:cs typeface="Calibri"/>
              </a:rPr>
              <a:t xml:space="preserve">Mistral</a:t>
            </a:r>
          </a:p>
        </p:txBody>
      </p:sp>
      <p:sp>
        <p:nvSpPr>
          <p:cNvPr id="1161" name="LLM"/>
          <p:cNvSpPr txBox="1"/>
          <p:nvPr/>
        </p:nvSpPr>
        <p:spPr>
          <a:xfrm>
            <a:off x="7543800" y="3218688"/>
            <a:ext cx="749808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850" b="0" i="0" dirty="0">
                <a:solidFill>
                  <a:srgbClr val="5B6770"/>
                </a:solidFill>
                <a:latin typeface="Calibri"/>
                <a:cs typeface="Calibri"/>
              </a:rPr>
              <a:t xml:space="preserve">DeepSeek</a:t>
            </a:r>
          </a:p>
        </p:txBody>
      </p:sp>
      <p:sp>
        <p:nvSpPr>
          <p:cNvPr id="1162" name="Database"/>
          <p:cNvSpPr txBox="1"/>
          <p:nvPr/>
        </p:nvSpPr>
        <p:spPr>
          <a:xfrm>
            <a:off x="8293608" y="2990088"/>
            <a:ext cx="2249424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100" b="1" i="0" dirty="0">
                <a:solidFill>
                  <a:srgbClr val="1F2328"/>
                </a:solidFill>
                <a:latin typeface="Calibri"/>
                <a:cs typeface="Calibri"/>
              </a:rPr>
              <a:t xml:space="preserve">Chinook</a:t>
            </a:r>
          </a:p>
        </p:txBody>
      </p:sp>
      <p:sp>
        <p:nvSpPr>
          <p:cNvPr id="1163" name="LLM"/>
          <p:cNvSpPr txBox="1"/>
          <p:nvPr/>
        </p:nvSpPr>
        <p:spPr>
          <a:xfrm>
            <a:off x="8293608" y="3218688"/>
            <a:ext cx="749808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850" b="0" i="0" dirty="0">
                <a:solidFill>
                  <a:srgbClr val="5B6770"/>
                </a:solidFill>
                <a:latin typeface="Calibri"/>
                <a:cs typeface="Calibri"/>
              </a:rPr>
              <a:t xml:space="preserve">Claude</a:t>
            </a:r>
          </a:p>
        </p:txBody>
      </p:sp>
      <p:sp>
        <p:nvSpPr>
          <p:cNvPr id="1164" name="LLM"/>
          <p:cNvSpPr txBox="1"/>
          <p:nvPr/>
        </p:nvSpPr>
        <p:spPr>
          <a:xfrm>
            <a:off x="9043416" y="3218688"/>
            <a:ext cx="749808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850" b="0" i="0" dirty="0">
                <a:solidFill>
                  <a:srgbClr val="5B6770"/>
                </a:solidFill>
                <a:latin typeface="Calibri"/>
                <a:cs typeface="Calibri"/>
              </a:rPr>
              <a:t xml:space="preserve">Mistral</a:t>
            </a:r>
          </a:p>
        </p:txBody>
      </p:sp>
      <p:sp>
        <p:nvSpPr>
          <p:cNvPr id="1165" name="LLM"/>
          <p:cNvSpPr txBox="1"/>
          <p:nvPr/>
        </p:nvSpPr>
        <p:spPr>
          <a:xfrm>
            <a:off x="9793224" y="3218688"/>
            <a:ext cx="749808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850" b="0" i="0" dirty="0">
                <a:solidFill>
                  <a:srgbClr val="5B6770"/>
                </a:solidFill>
                <a:latin typeface="Calibri"/>
                <a:cs typeface="Calibri"/>
              </a:rPr>
              <a:t xml:space="preserve">DeepSeek</a:t>
            </a:r>
          </a:p>
        </p:txBody>
      </p:sp>
      <p:sp>
        <p:nvSpPr>
          <p:cNvPr id="1166" name="Avg head"/>
          <p:cNvSpPr txBox="1"/>
          <p:nvPr/>
        </p:nvSpPr>
        <p:spPr>
          <a:xfrm>
            <a:off x="10588752" y="3099816"/>
            <a:ext cx="68580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000" b="1" i="0" dirty="0">
                <a:solidFill>
                  <a:srgbClr val="5B6770"/>
                </a:solidFill>
                <a:latin typeface="Calibri"/>
                <a:cs typeface="Calibri"/>
              </a:rPr>
              <a:t xml:space="preserve">Avg</a:t>
            </a:r>
          </a:p>
        </p:txBody>
      </p:sp>
      <p:sp>
        <p:nvSpPr>
          <p:cNvPr id="1167" name="Method"/>
          <p:cNvSpPr txBox="1"/>
          <p:nvPr/>
        </p:nvSpPr>
        <p:spPr>
          <a:xfrm>
            <a:off x="2514600" y="3447288"/>
            <a:ext cx="128016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100" b="0" i="0" dirty="0">
                <a:solidFill>
                  <a:srgbClr val="1F2328"/>
                </a:solidFill>
                <a:latin typeface="Calibri"/>
                <a:cs typeface="Calibri"/>
              </a:rPr>
              <a:t xml:space="preserve">Direct Mapping</a:t>
            </a:r>
          </a:p>
        </p:txBody>
      </p:sp>
      <p:sp>
        <p:nvSpPr>
          <p:cNvPr id="1168" name="Method"/>
          <p:cNvSpPr txBox="1"/>
          <p:nvPr/>
        </p:nvSpPr>
        <p:spPr>
          <a:xfrm>
            <a:off x="2514600" y="3630168"/>
            <a:ext cx="128016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100" b="0" i="0" dirty="0">
                <a:solidFill>
                  <a:srgbClr val="1F2328"/>
                </a:solidFill>
                <a:latin typeface="Calibri"/>
                <a:cs typeface="Calibri"/>
              </a:rPr>
              <a:t xml:space="preserve">LLM baseline</a:t>
            </a:r>
          </a:p>
        </p:txBody>
      </p:sp>
      <p:sp>
        <p:nvSpPr>
          <p:cNvPr id="1169" name="None"/>
          <p:cNvSpPr/>
          <p:nvPr/>
        </p:nvSpPr>
        <p:spPr>
          <a:xfrm>
            <a:off x="3813048" y="3456432"/>
            <a:ext cx="6711696" cy="347472"/>
          </a:xfrm>
          <a:prstGeom prst="rect">
            <a:avLst/>
          </a:prstGeom>
          <a:solidFill>
            <a:srgbClr val="F6DAD3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150" b="0" i="1" dirty="0">
                <a:solidFill>
                  <a:srgbClr val="1F2328"/>
                </a:solidFill>
                <a:latin typeface="Calibri"/>
                <a:cs typeface="Calibri"/>
              </a:rPr>
              <a:t xml:space="preserve">No labels, provenance or class hierarchy, in any run.</a:t>
            </a:r>
          </a:p>
        </p:txBody>
      </p:sp>
      <p:sp>
        <p:nvSpPr>
          <p:cNvPr id="1170" name="Metric"/>
          <p:cNvSpPr txBox="1"/>
          <p:nvPr/>
        </p:nvSpPr>
        <p:spPr>
          <a:xfrm>
            <a:off x="1078992" y="3867912"/>
            <a:ext cx="1417320" cy="51206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150" b="1" i="0" dirty="0">
                <a:solidFill>
                  <a:srgbClr val="2F6B78"/>
                </a:solidFill>
                <a:latin typeface="Calibri"/>
                <a:cs typeface="Calibri"/>
              </a:rPr>
              <a:t xml:space="preserve">Labels &amp; comments</a:t>
            </a:r>
          </a:p>
        </p:txBody>
      </p:sp>
      <p:sp>
        <p:nvSpPr>
          <p:cNvPr id="1171" name="Method"/>
          <p:cNvSpPr txBox="1"/>
          <p:nvPr/>
        </p:nvSpPr>
        <p:spPr>
          <a:xfrm>
            <a:off x="2514600" y="3867912"/>
            <a:ext cx="128016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200" b="0" i="0" dirty="0">
                <a:solidFill>
                  <a:srgbClr val="1F2328"/>
                </a:solidFill>
                <a:latin typeface="Calibri"/>
                <a:cs typeface="Calibri"/>
              </a:rPr>
              <a:t xml:space="preserve">Non-Iterative RAG</a:t>
            </a:r>
          </a:p>
        </p:txBody>
      </p:sp>
      <p:sp>
        <p:nvSpPr>
          <p:cNvPr id="1172" name="Cell"/>
          <p:cNvSpPr/>
          <p:nvPr/>
        </p:nvSpPr>
        <p:spPr>
          <a:xfrm>
            <a:off x="3813048" y="3886200"/>
            <a:ext cx="713231" cy="219456"/>
          </a:xfrm>
          <a:prstGeom prst="rect">
            <a:avLst/>
          </a:prstGeom>
          <a:solidFill>
            <a:srgbClr val="DDF0E5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100" b="0" i="0" dirty="0">
                <a:solidFill>
                  <a:srgbClr val="1F2328"/>
                </a:solidFill>
                <a:latin typeface="Calibri"/>
                <a:cs typeface="Calibri"/>
              </a:rPr>
              <a:t xml:space="preserve">680</a:t>
            </a:r>
          </a:p>
        </p:txBody>
      </p:sp>
      <p:sp>
        <p:nvSpPr>
          <p:cNvPr id="1173" name="Cell"/>
          <p:cNvSpPr/>
          <p:nvPr/>
        </p:nvSpPr>
        <p:spPr>
          <a:xfrm>
            <a:off x="4562856" y="3886200"/>
            <a:ext cx="713231" cy="219456"/>
          </a:xfrm>
          <a:prstGeom prst="rect">
            <a:avLst/>
          </a:prstGeom>
          <a:solidFill>
            <a:srgbClr val="F6DAD3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100" b="0" i="0" dirty="0">
                <a:solidFill>
                  <a:srgbClr val="1F2328"/>
                </a:solidFill>
                <a:latin typeface="Calibri"/>
                <a:cs typeface="Calibri"/>
              </a:rPr>
              <a:t xml:space="preserve">134</a:t>
            </a:r>
          </a:p>
        </p:txBody>
      </p:sp>
      <p:sp>
        <p:nvSpPr>
          <p:cNvPr id="1174" name="Cell"/>
          <p:cNvSpPr/>
          <p:nvPr/>
        </p:nvSpPr>
        <p:spPr>
          <a:xfrm>
            <a:off x="5312664" y="3886200"/>
            <a:ext cx="713231" cy="219456"/>
          </a:xfrm>
          <a:prstGeom prst="rect">
            <a:avLst/>
          </a:prstGeom>
          <a:solidFill>
            <a:srgbClr val="DDF0E5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100" b="0" i="0" dirty="0">
                <a:solidFill>
                  <a:srgbClr val="1F2328"/>
                </a:solidFill>
                <a:latin typeface="Calibri"/>
                <a:cs typeface="Calibri"/>
              </a:rPr>
              <a:t xml:space="preserve">736</a:t>
            </a:r>
          </a:p>
        </p:txBody>
      </p:sp>
      <p:sp>
        <p:nvSpPr>
          <p:cNvPr id="1175" name="Cell"/>
          <p:cNvSpPr/>
          <p:nvPr/>
        </p:nvSpPr>
        <p:spPr>
          <a:xfrm>
            <a:off x="6062472" y="3886200"/>
            <a:ext cx="713231" cy="219456"/>
          </a:xfrm>
          <a:prstGeom prst="rect">
            <a:avLst/>
          </a:prstGeom>
          <a:solidFill>
            <a:srgbClr val="DDF0E5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100" b="0" i="0" dirty="0">
                <a:solidFill>
                  <a:srgbClr val="1F2328"/>
                </a:solidFill>
                <a:latin typeface="Calibri"/>
                <a:cs typeface="Calibri"/>
              </a:rPr>
              <a:t xml:space="preserve">877</a:t>
            </a:r>
          </a:p>
        </p:txBody>
      </p:sp>
      <p:sp>
        <p:nvSpPr>
          <p:cNvPr id="1176" name="Cell"/>
          <p:cNvSpPr/>
          <p:nvPr/>
        </p:nvSpPr>
        <p:spPr>
          <a:xfrm>
            <a:off x="6812279" y="3886200"/>
            <a:ext cx="713231" cy="219456"/>
          </a:xfrm>
          <a:prstGeom prst="rect">
            <a:avLst/>
          </a:prstGeom>
          <a:solidFill>
            <a:srgbClr val="F6DAD3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100" b="0" i="0" dirty="0">
                <a:solidFill>
                  <a:srgbClr val="1F2328"/>
                </a:solidFill>
                <a:latin typeface="Calibri"/>
                <a:cs typeface="Calibri"/>
              </a:rPr>
              <a:t xml:space="preserve">157</a:t>
            </a:r>
          </a:p>
        </p:txBody>
      </p:sp>
      <p:sp>
        <p:nvSpPr>
          <p:cNvPr id="1177" name="Cell"/>
          <p:cNvSpPr/>
          <p:nvPr/>
        </p:nvSpPr>
        <p:spPr>
          <a:xfrm>
            <a:off x="7562088" y="3886200"/>
            <a:ext cx="713231" cy="219456"/>
          </a:xfrm>
          <a:prstGeom prst="rect">
            <a:avLst/>
          </a:prstGeom>
          <a:solidFill>
            <a:srgbClr val="F1F3F2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100" b="0" i="0" dirty="0">
                <a:solidFill>
                  <a:srgbClr val="1F2328"/>
                </a:solidFill>
                <a:latin typeface="Calibri"/>
                <a:cs typeface="Calibri"/>
              </a:rPr>
              <a:t xml:space="preserve">743</a:t>
            </a:r>
          </a:p>
        </p:txBody>
      </p:sp>
      <p:sp>
        <p:nvSpPr>
          <p:cNvPr id="1178" name="Cell"/>
          <p:cNvSpPr/>
          <p:nvPr/>
        </p:nvSpPr>
        <p:spPr>
          <a:xfrm>
            <a:off x="8311896" y="3886200"/>
            <a:ext cx="713231" cy="219456"/>
          </a:xfrm>
          <a:prstGeom prst="rect">
            <a:avLst/>
          </a:prstGeom>
          <a:solidFill>
            <a:srgbClr val="F1F3F2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100" b="0" i="0" dirty="0">
                <a:solidFill>
                  <a:srgbClr val="1F2328"/>
                </a:solidFill>
                <a:latin typeface="Calibri"/>
                <a:cs typeface="Calibri"/>
              </a:rPr>
              <a:t xml:space="preserve">98</a:t>
            </a:r>
          </a:p>
        </p:txBody>
      </p:sp>
      <p:sp>
        <p:nvSpPr>
          <p:cNvPr id="1179" name="Cell"/>
          <p:cNvSpPr/>
          <p:nvPr/>
        </p:nvSpPr>
        <p:spPr>
          <a:xfrm>
            <a:off x="9061704" y="3886200"/>
            <a:ext cx="713231" cy="219456"/>
          </a:xfrm>
          <a:prstGeom prst="rect">
            <a:avLst/>
          </a:prstGeom>
          <a:solidFill>
            <a:srgbClr val="F6DAD3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100" b="0" i="0" dirty="0">
                <a:solidFill>
                  <a:srgbClr val="1F2328"/>
                </a:solidFill>
                <a:latin typeface="Calibri"/>
                <a:cs typeface="Calibri"/>
              </a:rPr>
              <a:t xml:space="preserve">14</a:t>
            </a:r>
          </a:p>
        </p:txBody>
      </p:sp>
      <p:sp>
        <p:nvSpPr>
          <p:cNvPr id="1180" name="Cell"/>
          <p:cNvSpPr/>
          <p:nvPr/>
        </p:nvSpPr>
        <p:spPr>
          <a:xfrm>
            <a:off x="9811512" y="3886200"/>
            <a:ext cx="713231" cy="219456"/>
          </a:xfrm>
          <a:prstGeom prst="rect">
            <a:avLst/>
          </a:prstGeom>
          <a:solidFill>
            <a:srgbClr val="F6DAD3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100" b="0" i="0" dirty="0">
                <a:solidFill>
                  <a:srgbClr val="1F2328"/>
                </a:solidFill>
                <a:latin typeface="Calibri"/>
                <a:cs typeface="Calibri"/>
              </a:rPr>
              <a:t xml:space="preserve">64</a:t>
            </a:r>
          </a:p>
        </p:txBody>
      </p:sp>
      <p:sp>
        <p:nvSpPr>
          <p:cNvPr id="1181" name="Avg"/>
          <p:cNvSpPr txBox="1"/>
          <p:nvPr/>
        </p:nvSpPr>
        <p:spPr>
          <a:xfrm>
            <a:off x="10588752" y="3867912"/>
            <a:ext cx="6858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250" b="0" i="0" dirty="0">
                <a:solidFill>
                  <a:srgbClr val="1F2328"/>
                </a:solidFill>
                <a:latin typeface="Calibri"/>
                <a:cs typeface="Calibri"/>
              </a:rPr>
              <a:t xml:space="preserve">389</a:t>
            </a:r>
          </a:p>
        </p:txBody>
      </p:sp>
      <p:sp>
        <p:nvSpPr>
          <p:cNvPr id="1182" name="Method"/>
          <p:cNvSpPr txBox="1"/>
          <p:nvPr/>
        </p:nvSpPr>
        <p:spPr>
          <a:xfrm>
            <a:off x="2514600" y="4123944"/>
            <a:ext cx="128016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200" b="1" i="0" dirty="0">
                <a:solidFill>
                  <a:srgbClr val="0B6E4F"/>
                </a:solidFill>
                <a:latin typeface="Calibri"/>
                <a:cs typeface="Calibri"/>
              </a:rPr>
              <a:t xml:space="preserve">RIGOR</a:t>
            </a:r>
          </a:p>
        </p:txBody>
      </p:sp>
      <p:sp>
        <p:nvSpPr>
          <p:cNvPr id="1183" name="Cell"/>
          <p:cNvSpPr/>
          <p:nvPr/>
        </p:nvSpPr>
        <p:spPr>
          <a:xfrm>
            <a:off x="3813048" y="4142232"/>
            <a:ext cx="713231" cy="219456"/>
          </a:xfrm>
          <a:prstGeom prst="rect">
            <a:avLst/>
          </a:prstGeom>
          <a:solidFill>
            <a:srgbClr val="BFE3C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100" b="1" i="0" dirty="0">
                <a:solidFill>
                  <a:srgbClr val="1F2328"/>
                </a:solidFill>
                <a:latin typeface="Calibri"/>
                <a:cs typeface="Calibri"/>
              </a:rPr>
              <a:t xml:space="preserve">1,029</a:t>
            </a:r>
          </a:p>
        </p:txBody>
      </p:sp>
      <p:sp>
        <p:nvSpPr>
          <p:cNvPr id="1184" name="Cell"/>
          <p:cNvSpPr/>
          <p:nvPr/>
        </p:nvSpPr>
        <p:spPr>
          <a:xfrm>
            <a:off x="4562856" y="4142232"/>
            <a:ext cx="713231" cy="219456"/>
          </a:xfrm>
          <a:prstGeom prst="rect">
            <a:avLst/>
          </a:prstGeom>
          <a:solidFill>
            <a:srgbClr val="BFE3C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100" b="1" i="0" dirty="0">
                <a:solidFill>
                  <a:srgbClr val="1F2328"/>
                </a:solidFill>
                <a:latin typeface="Calibri"/>
                <a:cs typeface="Calibri"/>
              </a:rPr>
              <a:t xml:space="preserve">1,137</a:t>
            </a:r>
          </a:p>
        </p:txBody>
      </p:sp>
      <p:sp>
        <p:nvSpPr>
          <p:cNvPr id="1185" name="Cell"/>
          <p:cNvSpPr/>
          <p:nvPr/>
        </p:nvSpPr>
        <p:spPr>
          <a:xfrm>
            <a:off x="5312664" y="4142232"/>
            <a:ext cx="713231" cy="219456"/>
          </a:xfrm>
          <a:prstGeom prst="rect">
            <a:avLst/>
          </a:prstGeom>
          <a:solidFill>
            <a:srgbClr val="F1F3F2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100" b="1" i="0" dirty="0">
                <a:solidFill>
                  <a:srgbClr val="1F2328"/>
                </a:solidFill>
                <a:latin typeface="Calibri"/>
                <a:cs typeface="Calibri"/>
              </a:rPr>
              <a:t xml:space="preserve">341</a:t>
            </a:r>
          </a:p>
        </p:txBody>
      </p:sp>
      <p:sp>
        <p:nvSpPr>
          <p:cNvPr id="1186" name="Cell"/>
          <p:cNvSpPr/>
          <p:nvPr/>
        </p:nvSpPr>
        <p:spPr>
          <a:xfrm>
            <a:off x="6062472" y="4142232"/>
            <a:ext cx="713231" cy="219456"/>
          </a:xfrm>
          <a:prstGeom prst="rect">
            <a:avLst/>
          </a:prstGeom>
          <a:solidFill>
            <a:srgbClr val="BFE3C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100" b="1" i="0" dirty="0">
                <a:solidFill>
                  <a:srgbClr val="1F2328"/>
                </a:solidFill>
                <a:latin typeface="Calibri"/>
                <a:cs typeface="Calibri"/>
              </a:rPr>
              <a:t xml:space="preserve">1,291</a:t>
            </a:r>
          </a:p>
        </p:txBody>
      </p:sp>
      <p:sp>
        <p:nvSpPr>
          <p:cNvPr id="1187" name="Cell"/>
          <p:cNvSpPr/>
          <p:nvPr/>
        </p:nvSpPr>
        <p:spPr>
          <a:xfrm>
            <a:off x="6812279" y="4142232"/>
            <a:ext cx="713231" cy="219456"/>
          </a:xfrm>
          <a:prstGeom prst="rect">
            <a:avLst/>
          </a:prstGeom>
          <a:solidFill>
            <a:srgbClr val="BFE3C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100" b="1" i="0" dirty="0">
                <a:solidFill>
                  <a:srgbClr val="1F2328"/>
                </a:solidFill>
                <a:latin typeface="Calibri"/>
                <a:cs typeface="Calibri"/>
              </a:rPr>
              <a:t xml:space="preserve">1,684</a:t>
            </a:r>
          </a:p>
        </p:txBody>
      </p:sp>
      <p:sp>
        <p:nvSpPr>
          <p:cNvPr id="1188" name="Cell"/>
          <p:cNvSpPr/>
          <p:nvPr/>
        </p:nvSpPr>
        <p:spPr>
          <a:xfrm>
            <a:off x="7562088" y="4142232"/>
            <a:ext cx="713231" cy="219456"/>
          </a:xfrm>
          <a:prstGeom prst="rect">
            <a:avLst/>
          </a:prstGeom>
          <a:solidFill>
            <a:srgbClr val="F1F3F2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100" b="1" i="0" dirty="0">
                <a:solidFill>
                  <a:srgbClr val="1F2328"/>
                </a:solidFill>
                <a:latin typeface="Calibri"/>
                <a:cs typeface="Calibri"/>
              </a:rPr>
              <a:t xml:space="preserve">435</a:t>
            </a:r>
          </a:p>
        </p:txBody>
      </p:sp>
      <p:sp>
        <p:nvSpPr>
          <p:cNvPr id="1189" name="Cell"/>
          <p:cNvSpPr/>
          <p:nvPr/>
        </p:nvSpPr>
        <p:spPr>
          <a:xfrm>
            <a:off x="8311896" y="4142232"/>
            <a:ext cx="713231" cy="219456"/>
          </a:xfrm>
          <a:prstGeom prst="rect">
            <a:avLst/>
          </a:prstGeom>
          <a:solidFill>
            <a:srgbClr val="BFE3C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100" b="1" i="0" dirty="0">
                <a:solidFill>
                  <a:srgbClr val="1F2328"/>
                </a:solidFill>
                <a:latin typeface="Calibri"/>
                <a:cs typeface="Calibri"/>
              </a:rPr>
              <a:t xml:space="preserve">357</a:t>
            </a:r>
          </a:p>
        </p:txBody>
      </p:sp>
      <p:sp>
        <p:nvSpPr>
          <p:cNvPr id="1190" name="Cell"/>
          <p:cNvSpPr/>
          <p:nvPr/>
        </p:nvSpPr>
        <p:spPr>
          <a:xfrm>
            <a:off x="9061704" y="4142232"/>
            <a:ext cx="713231" cy="219456"/>
          </a:xfrm>
          <a:prstGeom prst="rect">
            <a:avLst/>
          </a:prstGeom>
          <a:solidFill>
            <a:srgbClr val="BFE3C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100" b="1" i="0" dirty="0">
                <a:solidFill>
                  <a:srgbClr val="1F2328"/>
                </a:solidFill>
                <a:latin typeface="Calibri"/>
                <a:cs typeface="Calibri"/>
              </a:rPr>
              <a:t xml:space="preserve">362</a:t>
            </a:r>
          </a:p>
        </p:txBody>
      </p:sp>
      <p:sp>
        <p:nvSpPr>
          <p:cNvPr id="1191" name="Cell"/>
          <p:cNvSpPr/>
          <p:nvPr/>
        </p:nvSpPr>
        <p:spPr>
          <a:xfrm>
            <a:off x="9811512" y="4142232"/>
            <a:ext cx="713231" cy="219456"/>
          </a:xfrm>
          <a:prstGeom prst="rect">
            <a:avLst/>
          </a:prstGeom>
          <a:solidFill>
            <a:srgbClr val="BFE3C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100" b="1" i="0" dirty="0">
                <a:solidFill>
                  <a:srgbClr val="1F2328"/>
                </a:solidFill>
                <a:latin typeface="Calibri"/>
                <a:cs typeface="Calibri"/>
              </a:rPr>
              <a:t xml:space="preserve">359</a:t>
            </a:r>
          </a:p>
        </p:txBody>
      </p:sp>
      <p:sp>
        <p:nvSpPr>
          <p:cNvPr id="1192" name="Avg"/>
          <p:cNvSpPr txBox="1"/>
          <p:nvPr/>
        </p:nvSpPr>
        <p:spPr>
          <a:xfrm>
            <a:off x="10588752" y="4123944"/>
            <a:ext cx="6858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250" b="1" i="0" dirty="0">
                <a:solidFill>
                  <a:srgbClr val="0B6E4F"/>
                </a:solidFill>
                <a:latin typeface="Calibri"/>
                <a:cs typeface="Calibri"/>
              </a:rPr>
              <a:t xml:space="preserve">777</a:t>
            </a:r>
          </a:p>
        </p:txBody>
      </p:sp>
      <p:sp>
        <p:nvSpPr>
          <p:cNvPr id="1193" name="Metric"/>
          <p:cNvSpPr txBox="1"/>
          <p:nvPr/>
        </p:nvSpPr>
        <p:spPr>
          <a:xfrm>
            <a:off x="1078992" y="4425696"/>
            <a:ext cx="1417320" cy="51206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150" b="1" i="0" dirty="0">
                <a:solidFill>
                  <a:srgbClr val="2F6B78"/>
                </a:solidFill>
                <a:latin typeface="Calibri"/>
                <a:cs typeface="Calibri"/>
              </a:rPr>
              <a:t xml:space="preserve">Provenance links</a:t>
            </a:r>
          </a:p>
        </p:txBody>
      </p:sp>
      <p:sp>
        <p:nvSpPr>
          <p:cNvPr id="1194" name="Method"/>
          <p:cNvSpPr txBox="1"/>
          <p:nvPr/>
        </p:nvSpPr>
        <p:spPr>
          <a:xfrm>
            <a:off x="2514600" y="4425696"/>
            <a:ext cx="128016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200" b="0" i="0" dirty="0">
                <a:solidFill>
                  <a:srgbClr val="1F2328"/>
                </a:solidFill>
                <a:latin typeface="Calibri"/>
                <a:cs typeface="Calibri"/>
              </a:rPr>
              <a:t xml:space="preserve">Non-Iterative RAG</a:t>
            </a:r>
          </a:p>
        </p:txBody>
      </p:sp>
      <p:sp>
        <p:nvSpPr>
          <p:cNvPr id="1195" name="Cell"/>
          <p:cNvSpPr/>
          <p:nvPr/>
        </p:nvSpPr>
        <p:spPr>
          <a:xfrm>
            <a:off x="3813048" y="4443984"/>
            <a:ext cx="713231" cy="219456"/>
          </a:xfrm>
          <a:prstGeom prst="rect">
            <a:avLst/>
          </a:prstGeom>
          <a:solidFill>
            <a:srgbClr val="EDB8AC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100" b="0" i="0" dirty="0">
                <a:solidFill>
                  <a:srgbClr val="1F2328"/>
                </a:solidFill>
                <a:latin typeface="Calibri"/>
                <a:cs typeface="Calibri"/>
              </a:rPr>
              <a:t xml:space="preserve">0</a:t>
            </a:r>
          </a:p>
        </p:txBody>
      </p:sp>
      <p:sp>
        <p:nvSpPr>
          <p:cNvPr id="1196" name="Cell"/>
          <p:cNvSpPr/>
          <p:nvPr/>
        </p:nvSpPr>
        <p:spPr>
          <a:xfrm>
            <a:off x="4562856" y="4443984"/>
            <a:ext cx="713231" cy="219456"/>
          </a:xfrm>
          <a:prstGeom prst="rect">
            <a:avLst/>
          </a:prstGeom>
          <a:solidFill>
            <a:srgbClr val="EDB8AC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100" b="0" i="0" dirty="0">
                <a:solidFill>
                  <a:srgbClr val="1F2328"/>
                </a:solidFill>
                <a:latin typeface="Calibri"/>
                <a:cs typeface="Calibri"/>
              </a:rPr>
              <a:t xml:space="preserve">0</a:t>
            </a:r>
          </a:p>
        </p:txBody>
      </p:sp>
      <p:sp>
        <p:nvSpPr>
          <p:cNvPr id="1197" name="Cell"/>
          <p:cNvSpPr/>
          <p:nvPr/>
        </p:nvSpPr>
        <p:spPr>
          <a:xfrm>
            <a:off x="5312664" y="4443984"/>
            <a:ext cx="713231" cy="219456"/>
          </a:xfrm>
          <a:prstGeom prst="rect">
            <a:avLst/>
          </a:prstGeom>
          <a:solidFill>
            <a:srgbClr val="EDB8AC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100" b="0" i="0" dirty="0">
                <a:solidFill>
                  <a:srgbClr val="1F2328"/>
                </a:solidFill>
                <a:latin typeface="Calibri"/>
                <a:cs typeface="Calibri"/>
              </a:rPr>
              <a:t xml:space="preserve">0</a:t>
            </a:r>
          </a:p>
        </p:txBody>
      </p:sp>
      <p:sp>
        <p:nvSpPr>
          <p:cNvPr id="1198" name="Cell"/>
          <p:cNvSpPr/>
          <p:nvPr/>
        </p:nvSpPr>
        <p:spPr>
          <a:xfrm>
            <a:off x="6062472" y="4443984"/>
            <a:ext cx="713231" cy="219456"/>
          </a:xfrm>
          <a:prstGeom prst="rect">
            <a:avLst/>
          </a:prstGeom>
          <a:solidFill>
            <a:srgbClr val="EDB8AC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100" b="0" i="0" dirty="0">
                <a:solidFill>
                  <a:srgbClr val="1F2328"/>
                </a:solidFill>
                <a:latin typeface="Calibri"/>
                <a:cs typeface="Calibri"/>
              </a:rPr>
              <a:t xml:space="preserve">0</a:t>
            </a:r>
          </a:p>
        </p:txBody>
      </p:sp>
      <p:sp>
        <p:nvSpPr>
          <p:cNvPr id="1199" name="Cell"/>
          <p:cNvSpPr/>
          <p:nvPr/>
        </p:nvSpPr>
        <p:spPr>
          <a:xfrm>
            <a:off x="6812279" y="4443984"/>
            <a:ext cx="713231" cy="219456"/>
          </a:xfrm>
          <a:prstGeom prst="rect">
            <a:avLst/>
          </a:prstGeom>
          <a:solidFill>
            <a:srgbClr val="EDB8AC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100" b="0" i="0" dirty="0">
                <a:solidFill>
                  <a:srgbClr val="1F2328"/>
                </a:solidFill>
                <a:latin typeface="Calibri"/>
                <a:cs typeface="Calibri"/>
              </a:rPr>
              <a:t xml:space="preserve">0</a:t>
            </a:r>
          </a:p>
        </p:txBody>
      </p:sp>
      <p:sp>
        <p:nvSpPr>
          <p:cNvPr id="1200" name="Cell"/>
          <p:cNvSpPr/>
          <p:nvPr/>
        </p:nvSpPr>
        <p:spPr>
          <a:xfrm>
            <a:off x="7562088" y="4443984"/>
            <a:ext cx="713231" cy="219456"/>
          </a:xfrm>
          <a:prstGeom prst="rect">
            <a:avLst/>
          </a:prstGeom>
          <a:solidFill>
            <a:srgbClr val="EDB8AC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100" b="0" i="0" dirty="0">
                <a:solidFill>
                  <a:srgbClr val="1F2328"/>
                </a:solidFill>
                <a:latin typeface="Calibri"/>
                <a:cs typeface="Calibri"/>
              </a:rPr>
              <a:t xml:space="preserve">0</a:t>
            </a:r>
          </a:p>
        </p:txBody>
      </p:sp>
      <p:sp>
        <p:nvSpPr>
          <p:cNvPr id="1201" name="Cell"/>
          <p:cNvSpPr/>
          <p:nvPr/>
        </p:nvSpPr>
        <p:spPr>
          <a:xfrm>
            <a:off x="8311896" y="4443984"/>
            <a:ext cx="713231" cy="219456"/>
          </a:xfrm>
          <a:prstGeom prst="rect">
            <a:avLst/>
          </a:prstGeom>
          <a:solidFill>
            <a:srgbClr val="EDB8AC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100" b="0" i="0" dirty="0">
                <a:solidFill>
                  <a:srgbClr val="1F2328"/>
                </a:solidFill>
                <a:latin typeface="Calibri"/>
                <a:cs typeface="Calibri"/>
              </a:rPr>
              <a:t xml:space="preserve">0</a:t>
            </a:r>
          </a:p>
        </p:txBody>
      </p:sp>
      <p:sp>
        <p:nvSpPr>
          <p:cNvPr id="1202" name="Cell"/>
          <p:cNvSpPr/>
          <p:nvPr/>
        </p:nvSpPr>
        <p:spPr>
          <a:xfrm>
            <a:off x="9061704" y="4443984"/>
            <a:ext cx="713231" cy="219456"/>
          </a:xfrm>
          <a:prstGeom prst="rect">
            <a:avLst/>
          </a:prstGeom>
          <a:solidFill>
            <a:srgbClr val="EDB8AC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100" b="0" i="0" dirty="0">
                <a:solidFill>
                  <a:srgbClr val="1F2328"/>
                </a:solidFill>
                <a:latin typeface="Calibri"/>
                <a:cs typeface="Calibri"/>
              </a:rPr>
              <a:t xml:space="preserve">0</a:t>
            </a:r>
          </a:p>
        </p:txBody>
      </p:sp>
      <p:sp>
        <p:nvSpPr>
          <p:cNvPr id="1203" name="Cell"/>
          <p:cNvSpPr/>
          <p:nvPr/>
        </p:nvSpPr>
        <p:spPr>
          <a:xfrm>
            <a:off x="9811512" y="4443984"/>
            <a:ext cx="713231" cy="219456"/>
          </a:xfrm>
          <a:prstGeom prst="rect">
            <a:avLst/>
          </a:prstGeom>
          <a:solidFill>
            <a:srgbClr val="EDB8AC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100" b="0" i="0" dirty="0">
                <a:solidFill>
                  <a:srgbClr val="1F2328"/>
                </a:solidFill>
                <a:latin typeface="Calibri"/>
                <a:cs typeface="Calibri"/>
              </a:rPr>
              <a:t xml:space="preserve">0</a:t>
            </a:r>
          </a:p>
        </p:txBody>
      </p:sp>
      <p:sp>
        <p:nvSpPr>
          <p:cNvPr id="1204" name="Avg"/>
          <p:cNvSpPr txBox="1"/>
          <p:nvPr/>
        </p:nvSpPr>
        <p:spPr>
          <a:xfrm>
            <a:off x="10588752" y="4425696"/>
            <a:ext cx="6858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250" b="0" i="0" dirty="0">
                <a:solidFill>
                  <a:srgbClr val="1F2328"/>
                </a:solidFill>
                <a:latin typeface="Calibri"/>
                <a:cs typeface="Calibri"/>
              </a:rPr>
              <a:t xml:space="preserve">0</a:t>
            </a:r>
          </a:p>
        </p:txBody>
      </p:sp>
      <p:sp>
        <p:nvSpPr>
          <p:cNvPr id="1205" name="Method"/>
          <p:cNvSpPr txBox="1"/>
          <p:nvPr/>
        </p:nvSpPr>
        <p:spPr>
          <a:xfrm>
            <a:off x="2514600" y="4681728"/>
            <a:ext cx="128016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200" b="1" i="0" dirty="0">
                <a:solidFill>
                  <a:srgbClr val="0B6E4F"/>
                </a:solidFill>
                <a:latin typeface="Calibri"/>
                <a:cs typeface="Calibri"/>
              </a:rPr>
              <a:t xml:space="preserve">RIGOR</a:t>
            </a:r>
          </a:p>
        </p:txBody>
      </p:sp>
      <p:sp>
        <p:nvSpPr>
          <p:cNvPr id="1206" name="Cell"/>
          <p:cNvSpPr/>
          <p:nvPr/>
        </p:nvSpPr>
        <p:spPr>
          <a:xfrm>
            <a:off x="3813048" y="4700016"/>
            <a:ext cx="713231" cy="219456"/>
          </a:xfrm>
          <a:prstGeom prst="rect">
            <a:avLst/>
          </a:prstGeom>
          <a:solidFill>
            <a:srgbClr val="BFE3C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100" b="1" i="0" dirty="0">
                <a:solidFill>
                  <a:srgbClr val="1F2328"/>
                </a:solidFill>
                <a:latin typeface="Calibri"/>
                <a:cs typeface="Calibri"/>
              </a:rPr>
              <a:t xml:space="preserve">336</a:t>
            </a:r>
          </a:p>
        </p:txBody>
      </p:sp>
      <p:sp>
        <p:nvSpPr>
          <p:cNvPr id="1207" name="Cell"/>
          <p:cNvSpPr/>
          <p:nvPr/>
        </p:nvSpPr>
        <p:spPr>
          <a:xfrm>
            <a:off x="4562856" y="4700016"/>
            <a:ext cx="713231" cy="219456"/>
          </a:xfrm>
          <a:prstGeom prst="rect">
            <a:avLst/>
          </a:prstGeom>
          <a:solidFill>
            <a:srgbClr val="BFE3C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100" b="1" i="0" dirty="0">
                <a:solidFill>
                  <a:srgbClr val="1F2328"/>
                </a:solidFill>
                <a:latin typeface="Calibri"/>
                <a:cs typeface="Calibri"/>
              </a:rPr>
              <a:t xml:space="preserve">308</a:t>
            </a:r>
          </a:p>
        </p:txBody>
      </p:sp>
      <p:sp>
        <p:nvSpPr>
          <p:cNvPr id="1208" name="Cell"/>
          <p:cNvSpPr/>
          <p:nvPr/>
        </p:nvSpPr>
        <p:spPr>
          <a:xfrm>
            <a:off x="5312664" y="4700016"/>
            <a:ext cx="713231" cy="219456"/>
          </a:xfrm>
          <a:prstGeom prst="rect">
            <a:avLst/>
          </a:prstGeom>
          <a:solidFill>
            <a:srgbClr val="F6DAD3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100" b="1" i="0" dirty="0">
                <a:solidFill>
                  <a:srgbClr val="1F2328"/>
                </a:solidFill>
                <a:latin typeface="Calibri"/>
                <a:cs typeface="Calibri"/>
              </a:rPr>
              <a:t xml:space="preserve">22</a:t>
            </a:r>
          </a:p>
        </p:txBody>
      </p:sp>
      <p:sp>
        <p:nvSpPr>
          <p:cNvPr id="1209" name="Cell"/>
          <p:cNvSpPr/>
          <p:nvPr/>
        </p:nvSpPr>
        <p:spPr>
          <a:xfrm>
            <a:off x="6062472" y="4700016"/>
            <a:ext cx="713231" cy="219456"/>
          </a:xfrm>
          <a:prstGeom prst="rect">
            <a:avLst/>
          </a:prstGeom>
          <a:solidFill>
            <a:srgbClr val="BFE3C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100" b="1" i="0" dirty="0">
                <a:solidFill>
                  <a:srgbClr val="1F2328"/>
                </a:solidFill>
                <a:latin typeface="Calibri"/>
                <a:cs typeface="Calibri"/>
              </a:rPr>
              <a:t xml:space="preserve">423</a:t>
            </a:r>
          </a:p>
        </p:txBody>
      </p:sp>
      <p:sp>
        <p:nvSpPr>
          <p:cNvPr id="1210" name="Cell"/>
          <p:cNvSpPr/>
          <p:nvPr/>
        </p:nvSpPr>
        <p:spPr>
          <a:xfrm>
            <a:off x="6812279" y="4700016"/>
            <a:ext cx="713231" cy="219456"/>
          </a:xfrm>
          <a:prstGeom prst="rect">
            <a:avLst/>
          </a:prstGeom>
          <a:solidFill>
            <a:srgbClr val="BFE3C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100" b="1" i="0" dirty="0">
                <a:solidFill>
                  <a:srgbClr val="1F2328"/>
                </a:solidFill>
                <a:latin typeface="Calibri"/>
                <a:cs typeface="Calibri"/>
              </a:rPr>
              <a:t xml:space="preserve">335</a:t>
            </a:r>
          </a:p>
        </p:txBody>
      </p:sp>
      <p:sp>
        <p:nvSpPr>
          <p:cNvPr id="1211" name="Cell"/>
          <p:cNvSpPr/>
          <p:nvPr/>
        </p:nvSpPr>
        <p:spPr>
          <a:xfrm>
            <a:off x="7562088" y="4700016"/>
            <a:ext cx="713231" cy="219456"/>
          </a:xfrm>
          <a:prstGeom prst="rect">
            <a:avLst/>
          </a:prstGeom>
          <a:solidFill>
            <a:srgbClr val="F6DAD3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100" b="1" i="0" dirty="0">
                <a:solidFill>
                  <a:srgbClr val="1F2328"/>
                </a:solidFill>
                <a:latin typeface="Calibri"/>
                <a:cs typeface="Calibri"/>
              </a:rPr>
              <a:t xml:space="preserve">99</a:t>
            </a:r>
          </a:p>
        </p:txBody>
      </p:sp>
      <p:sp>
        <p:nvSpPr>
          <p:cNvPr id="1212" name="Cell"/>
          <p:cNvSpPr/>
          <p:nvPr/>
        </p:nvSpPr>
        <p:spPr>
          <a:xfrm>
            <a:off x="8311896" y="4700016"/>
            <a:ext cx="713231" cy="219456"/>
          </a:xfrm>
          <a:prstGeom prst="rect">
            <a:avLst/>
          </a:prstGeom>
          <a:solidFill>
            <a:srgbClr val="BFE3C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100" b="1" i="0" dirty="0">
                <a:solidFill>
                  <a:srgbClr val="1F2328"/>
                </a:solidFill>
                <a:latin typeface="Calibri"/>
                <a:cs typeface="Calibri"/>
              </a:rPr>
              <a:t xml:space="preserve">81</a:t>
            </a:r>
          </a:p>
        </p:txBody>
      </p:sp>
      <p:sp>
        <p:nvSpPr>
          <p:cNvPr id="1213" name="Cell"/>
          <p:cNvSpPr/>
          <p:nvPr/>
        </p:nvSpPr>
        <p:spPr>
          <a:xfrm>
            <a:off x="9061704" y="4700016"/>
            <a:ext cx="713231" cy="219456"/>
          </a:xfrm>
          <a:prstGeom prst="rect">
            <a:avLst/>
          </a:prstGeom>
          <a:solidFill>
            <a:srgbClr val="BFE3C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100" b="1" i="0" dirty="0">
                <a:solidFill>
                  <a:srgbClr val="1F2328"/>
                </a:solidFill>
                <a:latin typeface="Calibri"/>
                <a:cs typeface="Calibri"/>
              </a:rPr>
              <a:t xml:space="preserve">83</a:t>
            </a:r>
          </a:p>
        </p:txBody>
      </p:sp>
      <p:sp>
        <p:nvSpPr>
          <p:cNvPr id="1214" name="Cell"/>
          <p:cNvSpPr/>
          <p:nvPr/>
        </p:nvSpPr>
        <p:spPr>
          <a:xfrm>
            <a:off x="9811512" y="4700016"/>
            <a:ext cx="713231" cy="219456"/>
          </a:xfrm>
          <a:prstGeom prst="rect">
            <a:avLst/>
          </a:prstGeom>
          <a:solidFill>
            <a:srgbClr val="BFE3C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100" b="1" i="0" dirty="0">
                <a:solidFill>
                  <a:srgbClr val="1F2328"/>
                </a:solidFill>
                <a:latin typeface="Calibri"/>
                <a:cs typeface="Calibri"/>
              </a:rPr>
              <a:t xml:space="preserve">75</a:t>
            </a:r>
          </a:p>
        </p:txBody>
      </p:sp>
      <p:sp>
        <p:nvSpPr>
          <p:cNvPr id="1215" name="Avg"/>
          <p:cNvSpPr txBox="1"/>
          <p:nvPr/>
        </p:nvSpPr>
        <p:spPr>
          <a:xfrm>
            <a:off x="10588752" y="4681728"/>
            <a:ext cx="6858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250" b="1" i="0" dirty="0">
                <a:solidFill>
                  <a:srgbClr val="0B6E4F"/>
                </a:solidFill>
                <a:latin typeface="Calibri"/>
                <a:cs typeface="Calibri"/>
              </a:rPr>
              <a:t xml:space="preserve">196</a:t>
            </a:r>
          </a:p>
        </p:txBody>
      </p:sp>
      <p:sp>
        <p:nvSpPr>
          <p:cNvPr id="1216" name="Metric"/>
          <p:cNvSpPr txBox="1"/>
          <p:nvPr/>
        </p:nvSpPr>
        <p:spPr>
          <a:xfrm>
            <a:off x="1078992" y="5001768"/>
            <a:ext cx="141732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150" b="1" i="0" dirty="0">
                <a:solidFill>
                  <a:srgbClr val="2F6B78"/>
                </a:solidFill>
                <a:latin typeface="Calibri"/>
                <a:cs typeface="Calibri"/>
              </a:rPr>
              <a:t xml:space="preserve">Class hierarchy</a:t>
            </a:r>
          </a:p>
        </p:txBody>
      </p:sp>
      <p:sp>
        <p:nvSpPr>
          <p:cNvPr id="1217" name="Metric note"/>
          <p:cNvSpPr txBox="1"/>
          <p:nvPr/>
        </p:nvSpPr>
        <p:spPr>
          <a:xfrm>
            <a:off x="1078992" y="5239512"/>
            <a:ext cx="141732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i="1" dirty="0">
                <a:solidFill>
                  <a:srgbClr val="5B6770"/>
                </a:solidFill>
                <a:latin typeface="Calibri"/>
                <a:cs typeface="Calibri"/>
              </a:rPr>
              <a:t xml:space="preserve">inheritance richness</a:t>
            </a:r>
          </a:p>
        </p:txBody>
      </p:sp>
      <p:sp>
        <p:nvSpPr>
          <p:cNvPr id="1218" name="Method"/>
          <p:cNvSpPr txBox="1"/>
          <p:nvPr/>
        </p:nvSpPr>
        <p:spPr>
          <a:xfrm>
            <a:off x="2514600" y="4983480"/>
            <a:ext cx="128016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200" b="0" i="0" dirty="0">
                <a:solidFill>
                  <a:srgbClr val="1F2328"/>
                </a:solidFill>
                <a:latin typeface="Calibri"/>
                <a:cs typeface="Calibri"/>
              </a:rPr>
              <a:t xml:space="preserve">Non-Iterative RAG</a:t>
            </a:r>
          </a:p>
        </p:txBody>
      </p:sp>
      <p:sp>
        <p:nvSpPr>
          <p:cNvPr id="1219" name="Cell"/>
          <p:cNvSpPr/>
          <p:nvPr/>
        </p:nvSpPr>
        <p:spPr>
          <a:xfrm>
            <a:off x="3813048" y="5001768"/>
            <a:ext cx="713231" cy="219456"/>
          </a:xfrm>
          <a:prstGeom prst="rect">
            <a:avLst/>
          </a:prstGeom>
          <a:solidFill>
            <a:srgbClr val="EDB8AC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100" b="0" i="0" dirty="0">
                <a:solidFill>
                  <a:srgbClr val="1F2328"/>
                </a:solidFill>
                <a:latin typeface="Calibri"/>
                <a:cs typeface="Calibri"/>
              </a:rPr>
              <a:t xml:space="preserve">0.00</a:t>
            </a:r>
          </a:p>
        </p:txBody>
      </p:sp>
      <p:sp>
        <p:nvSpPr>
          <p:cNvPr id="1220" name="Cell"/>
          <p:cNvSpPr/>
          <p:nvPr/>
        </p:nvSpPr>
        <p:spPr>
          <a:xfrm>
            <a:off x="4562856" y="5001768"/>
            <a:ext cx="713231" cy="219456"/>
          </a:xfrm>
          <a:prstGeom prst="rect">
            <a:avLst/>
          </a:prstGeom>
          <a:solidFill>
            <a:srgbClr val="EDB8AC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100" b="0" i="0" dirty="0">
                <a:solidFill>
                  <a:srgbClr val="1F2328"/>
                </a:solidFill>
                <a:latin typeface="Calibri"/>
                <a:cs typeface="Calibri"/>
              </a:rPr>
              <a:t xml:space="preserve">0.00</a:t>
            </a:r>
          </a:p>
        </p:txBody>
      </p:sp>
      <p:sp>
        <p:nvSpPr>
          <p:cNvPr id="1221" name="Cell"/>
          <p:cNvSpPr/>
          <p:nvPr/>
        </p:nvSpPr>
        <p:spPr>
          <a:xfrm>
            <a:off x="5312664" y="5001768"/>
            <a:ext cx="713231" cy="219456"/>
          </a:xfrm>
          <a:prstGeom prst="rect">
            <a:avLst/>
          </a:prstGeom>
          <a:solidFill>
            <a:srgbClr val="EDB8AC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100" b="0" i="0" dirty="0">
                <a:solidFill>
                  <a:srgbClr val="1F2328"/>
                </a:solidFill>
                <a:latin typeface="Calibri"/>
                <a:cs typeface="Calibri"/>
              </a:rPr>
              <a:t xml:space="preserve">0.00</a:t>
            </a:r>
          </a:p>
        </p:txBody>
      </p:sp>
      <p:sp>
        <p:nvSpPr>
          <p:cNvPr id="1222" name="Cell"/>
          <p:cNvSpPr/>
          <p:nvPr/>
        </p:nvSpPr>
        <p:spPr>
          <a:xfrm>
            <a:off x="6062472" y="5001768"/>
            <a:ext cx="713231" cy="219456"/>
          </a:xfrm>
          <a:prstGeom prst="rect">
            <a:avLst/>
          </a:prstGeom>
          <a:solidFill>
            <a:srgbClr val="EDB8AC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100" b="0" i="0" dirty="0">
                <a:solidFill>
                  <a:srgbClr val="1F2328"/>
                </a:solidFill>
                <a:latin typeface="Calibri"/>
                <a:cs typeface="Calibri"/>
              </a:rPr>
              <a:t xml:space="preserve">0.00</a:t>
            </a:r>
          </a:p>
        </p:txBody>
      </p:sp>
      <p:sp>
        <p:nvSpPr>
          <p:cNvPr id="1223" name="Cell"/>
          <p:cNvSpPr/>
          <p:nvPr/>
        </p:nvSpPr>
        <p:spPr>
          <a:xfrm>
            <a:off x="6812279" y="5001768"/>
            <a:ext cx="713231" cy="219456"/>
          </a:xfrm>
          <a:prstGeom prst="rect">
            <a:avLst/>
          </a:prstGeom>
          <a:solidFill>
            <a:srgbClr val="EDB8AC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100" b="0" i="0" dirty="0">
                <a:solidFill>
                  <a:srgbClr val="1F2328"/>
                </a:solidFill>
                <a:latin typeface="Calibri"/>
                <a:cs typeface="Calibri"/>
              </a:rPr>
              <a:t xml:space="preserve">0.00</a:t>
            </a:r>
          </a:p>
        </p:txBody>
      </p:sp>
      <p:sp>
        <p:nvSpPr>
          <p:cNvPr id="1224" name="Cell"/>
          <p:cNvSpPr/>
          <p:nvPr/>
        </p:nvSpPr>
        <p:spPr>
          <a:xfrm>
            <a:off x="7562088" y="5001768"/>
            <a:ext cx="713231" cy="219456"/>
          </a:xfrm>
          <a:prstGeom prst="rect">
            <a:avLst/>
          </a:prstGeom>
          <a:solidFill>
            <a:srgbClr val="EDB8AC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100" b="0" i="0" dirty="0">
                <a:solidFill>
                  <a:srgbClr val="1F2328"/>
                </a:solidFill>
                <a:latin typeface="Calibri"/>
                <a:cs typeface="Calibri"/>
              </a:rPr>
              <a:t xml:space="preserve">0.00</a:t>
            </a:r>
          </a:p>
        </p:txBody>
      </p:sp>
      <p:sp>
        <p:nvSpPr>
          <p:cNvPr id="1225" name="Cell"/>
          <p:cNvSpPr/>
          <p:nvPr/>
        </p:nvSpPr>
        <p:spPr>
          <a:xfrm>
            <a:off x="8311896" y="5001768"/>
            <a:ext cx="713231" cy="219456"/>
          </a:xfrm>
          <a:prstGeom prst="rect">
            <a:avLst/>
          </a:prstGeom>
          <a:solidFill>
            <a:srgbClr val="EDB8AC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100" b="0" i="0" dirty="0">
                <a:solidFill>
                  <a:srgbClr val="1F2328"/>
                </a:solidFill>
                <a:latin typeface="Calibri"/>
                <a:cs typeface="Calibri"/>
              </a:rPr>
              <a:t xml:space="preserve">0.00</a:t>
            </a:r>
          </a:p>
        </p:txBody>
      </p:sp>
      <p:sp>
        <p:nvSpPr>
          <p:cNvPr id="1226" name="Cell"/>
          <p:cNvSpPr/>
          <p:nvPr/>
        </p:nvSpPr>
        <p:spPr>
          <a:xfrm>
            <a:off x="9061704" y="5001768"/>
            <a:ext cx="713231" cy="219456"/>
          </a:xfrm>
          <a:prstGeom prst="rect">
            <a:avLst/>
          </a:prstGeom>
          <a:solidFill>
            <a:srgbClr val="EDB8AC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100" b="0" i="0" dirty="0">
                <a:solidFill>
                  <a:srgbClr val="1F2328"/>
                </a:solidFill>
                <a:latin typeface="Calibri"/>
                <a:cs typeface="Calibri"/>
              </a:rPr>
              <a:t xml:space="preserve">0.00</a:t>
            </a:r>
          </a:p>
        </p:txBody>
      </p:sp>
      <p:sp>
        <p:nvSpPr>
          <p:cNvPr id="1227" name="Cell"/>
          <p:cNvSpPr/>
          <p:nvPr/>
        </p:nvSpPr>
        <p:spPr>
          <a:xfrm>
            <a:off x="9811512" y="5001768"/>
            <a:ext cx="713231" cy="219456"/>
          </a:xfrm>
          <a:prstGeom prst="rect">
            <a:avLst/>
          </a:prstGeom>
          <a:solidFill>
            <a:srgbClr val="EDB8AC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100" b="0" i="0" dirty="0">
                <a:solidFill>
                  <a:srgbClr val="1F2328"/>
                </a:solidFill>
                <a:latin typeface="Calibri"/>
                <a:cs typeface="Calibri"/>
              </a:rPr>
              <a:t xml:space="preserve">0.00</a:t>
            </a:r>
          </a:p>
        </p:txBody>
      </p:sp>
      <p:sp>
        <p:nvSpPr>
          <p:cNvPr id="1228" name="Avg"/>
          <p:cNvSpPr txBox="1"/>
          <p:nvPr/>
        </p:nvSpPr>
        <p:spPr>
          <a:xfrm>
            <a:off x="10588752" y="4983480"/>
            <a:ext cx="6858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250" b="0" i="0" dirty="0">
                <a:solidFill>
                  <a:srgbClr val="1F2328"/>
                </a:solidFill>
                <a:latin typeface="Calibri"/>
                <a:cs typeface="Calibri"/>
              </a:rPr>
              <a:t xml:space="preserve">0.00</a:t>
            </a:r>
          </a:p>
        </p:txBody>
      </p:sp>
      <p:sp>
        <p:nvSpPr>
          <p:cNvPr id="1229" name="Method"/>
          <p:cNvSpPr txBox="1"/>
          <p:nvPr/>
        </p:nvSpPr>
        <p:spPr>
          <a:xfrm>
            <a:off x="2514600" y="5239512"/>
            <a:ext cx="128016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200" b="1" i="0" dirty="0">
                <a:solidFill>
                  <a:srgbClr val="0B6E4F"/>
                </a:solidFill>
                <a:latin typeface="Calibri"/>
                <a:cs typeface="Calibri"/>
              </a:rPr>
              <a:t xml:space="preserve">RIGOR</a:t>
            </a:r>
          </a:p>
        </p:txBody>
      </p:sp>
      <p:sp>
        <p:nvSpPr>
          <p:cNvPr id="1230" name="Cell"/>
          <p:cNvSpPr/>
          <p:nvPr/>
        </p:nvSpPr>
        <p:spPr>
          <a:xfrm>
            <a:off x="3813048" y="5257800"/>
            <a:ext cx="713231" cy="219456"/>
          </a:xfrm>
          <a:prstGeom prst="rect">
            <a:avLst/>
          </a:prstGeom>
          <a:solidFill>
            <a:srgbClr val="BFE3C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100" b="1" i="0" dirty="0">
                <a:solidFill>
                  <a:srgbClr val="1F2328"/>
                </a:solidFill>
                <a:latin typeface="Calibri"/>
                <a:cs typeface="Calibri"/>
              </a:rPr>
              <a:t xml:space="preserve">0.70</a:t>
            </a:r>
          </a:p>
        </p:txBody>
      </p:sp>
      <p:sp>
        <p:nvSpPr>
          <p:cNvPr id="1231" name="Cell"/>
          <p:cNvSpPr/>
          <p:nvPr/>
        </p:nvSpPr>
        <p:spPr>
          <a:xfrm>
            <a:off x="4562856" y="5257800"/>
            <a:ext cx="713231" cy="219456"/>
          </a:xfrm>
          <a:prstGeom prst="rect">
            <a:avLst/>
          </a:prstGeom>
          <a:solidFill>
            <a:srgbClr val="DDF0E5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100" b="1" i="0" dirty="0">
                <a:solidFill>
                  <a:srgbClr val="1F2328"/>
                </a:solidFill>
                <a:latin typeface="Calibri"/>
                <a:cs typeface="Calibri"/>
              </a:rPr>
              <a:t xml:space="preserve">0.39</a:t>
            </a:r>
          </a:p>
        </p:txBody>
      </p:sp>
      <p:sp>
        <p:nvSpPr>
          <p:cNvPr id="1232" name="Cell"/>
          <p:cNvSpPr/>
          <p:nvPr/>
        </p:nvSpPr>
        <p:spPr>
          <a:xfrm>
            <a:off x="5312664" y="5257800"/>
            <a:ext cx="713231" cy="219456"/>
          </a:xfrm>
          <a:prstGeom prst="rect">
            <a:avLst/>
          </a:prstGeom>
          <a:solidFill>
            <a:srgbClr val="F6DAD3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100" b="1" i="0" dirty="0">
                <a:solidFill>
                  <a:srgbClr val="1F2328"/>
                </a:solidFill>
                <a:latin typeface="Calibri"/>
                <a:cs typeface="Calibri"/>
              </a:rPr>
              <a:t xml:space="preserve">0.13</a:t>
            </a:r>
          </a:p>
        </p:txBody>
      </p:sp>
      <p:sp>
        <p:nvSpPr>
          <p:cNvPr id="1233" name="Cell"/>
          <p:cNvSpPr/>
          <p:nvPr/>
        </p:nvSpPr>
        <p:spPr>
          <a:xfrm>
            <a:off x="6062472" y="5257800"/>
            <a:ext cx="713231" cy="219456"/>
          </a:xfrm>
          <a:prstGeom prst="rect">
            <a:avLst/>
          </a:prstGeom>
          <a:solidFill>
            <a:srgbClr val="BFE3C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100" b="1" i="0" dirty="0">
                <a:solidFill>
                  <a:srgbClr val="1F2328"/>
                </a:solidFill>
                <a:latin typeface="Calibri"/>
                <a:cs typeface="Calibri"/>
              </a:rPr>
              <a:t xml:space="preserve">0.62</a:t>
            </a:r>
          </a:p>
        </p:txBody>
      </p:sp>
      <p:sp>
        <p:nvSpPr>
          <p:cNvPr id="1234" name="Cell"/>
          <p:cNvSpPr/>
          <p:nvPr/>
        </p:nvSpPr>
        <p:spPr>
          <a:xfrm>
            <a:off x="6812279" y="5257800"/>
            <a:ext cx="713231" cy="219456"/>
          </a:xfrm>
          <a:prstGeom prst="rect">
            <a:avLst/>
          </a:prstGeom>
          <a:solidFill>
            <a:srgbClr val="BFE3C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100" b="1" i="0" dirty="0">
                <a:solidFill>
                  <a:srgbClr val="1F2328"/>
                </a:solidFill>
                <a:latin typeface="Calibri"/>
                <a:cs typeface="Calibri"/>
              </a:rPr>
              <a:t xml:space="preserve">0.49</a:t>
            </a:r>
          </a:p>
        </p:txBody>
      </p:sp>
      <p:sp>
        <p:nvSpPr>
          <p:cNvPr id="1235" name="Cell"/>
          <p:cNvSpPr/>
          <p:nvPr/>
        </p:nvSpPr>
        <p:spPr>
          <a:xfrm>
            <a:off x="7562088" y="5257800"/>
            <a:ext cx="713231" cy="219456"/>
          </a:xfrm>
          <a:prstGeom prst="rect">
            <a:avLst/>
          </a:prstGeom>
          <a:solidFill>
            <a:srgbClr val="F6DAD3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100" b="1" i="0" dirty="0">
                <a:solidFill>
                  <a:srgbClr val="1F2328"/>
                </a:solidFill>
                <a:latin typeface="Calibri"/>
                <a:cs typeface="Calibri"/>
              </a:rPr>
              <a:t xml:space="preserve">0.10</a:t>
            </a:r>
          </a:p>
        </p:txBody>
      </p:sp>
      <p:sp>
        <p:nvSpPr>
          <p:cNvPr id="1236" name="Cell"/>
          <p:cNvSpPr/>
          <p:nvPr/>
        </p:nvSpPr>
        <p:spPr>
          <a:xfrm>
            <a:off x="8311896" y="5257800"/>
            <a:ext cx="713231" cy="219456"/>
          </a:xfrm>
          <a:prstGeom prst="rect">
            <a:avLst/>
          </a:prstGeom>
          <a:solidFill>
            <a:srgbClr val="DDF0E5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100" b="1" i="0" dirty="0">
                <a:solidFill>
                  <a:srgbClr val="1F2328"/>
                </a:solidFill>
                <a:latin typeface="Calibri"/>
                <a:cs typeface="Calibri"/>
              </a:rPr>
              <a:t xml:space="preserve">2.12</a:t>
            </a:r>
          </a:p>
        </p:txBody>
      </p:sp>
      <p:sp>
        <p:nvSpPr>
          <p:cNvPr id="1237" name="Cell"/>
          <p:cNvSpPr/>
          <p:nvPr/>
        </p:nvSpPr>
        <p:spPr>
          <a:xfrm>
            <a:off x="9061704" y="5257800"/>
            <a:ext cx="713231" cy="219456"/>
          </a:xfrm>
          <a:prstGeom prst="rect">
            <a:avLst/>
          </a:prstGeom>
          <a:solidFill>
            <a:srgbClr val="DDF0E5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100" b="1" i="0" dirty="0">
                <a:solidFill>
                  <a:srgbClr val="1F2328"/>
                </a:solidFill>
                <a:latin typeface="Calibri"/>
                <a:cs typeface="Calibri"/>
              </a:rPr>
              <a:t xml:space="preserve">2.72</a:t>
            </a:r>
          </a:p>
        </p:txBody>
      </p:sp>
      <p:sp>
        <p:nvSpPr>
          <p:cNvPr id="1238" name="Cell"/>
          <p:cNvSpPr/>
          <p:nvPr/>
        </p:nvSpPr>
        <p:spPr>
          <a:xfrm>
            <a:off x="9811512" y="5257800"/>
            <a:ext cx="713231" cy="219456"/>
          </a:xfrm>
          <a:prstGeom prst="rect">
            <a:avLst/>
          </a:prstGeom>
          <a:solidFill>
            <a:srgbClr val="BFE3C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100" b="1" i="0" dirty="0">
                <a:solidFill>
                  <a:srgbClr val="1F2328"/>
                </a:solidFill>
                <a:latin typeface="Calibri"/>
                <a:cs typeface="Calibri"/>
              </a:rPr>
              <a:t xml:space="preserve">4.07</a:t>
            </a:r>
          </a:p>
        </p:txBody>
      </p:sp>
      <p:sp>
        <p:nvSpPr>
          <p:cNvPr id="1239" name="Avg"/>
          <p:cNvSpPr txBox="1"/>
          <p:nvPr/>
        </p:nvSpPr>
        <p:spPr>
          <a:xfrm>
            <a:off x="10588752" y="5239512"/>
            <a:ext cx="6858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250" b="1" i="0" dirty="0">
                <a:solidFill>
                  <a:srgbClr val="0B6E4F"/>
                </a:solidFill>
                <a:latin typeface="Calibri"/>
                <a:cs typeface="Calibri"/>
              </a:rPr>
              <a:t xml:space="preserve">1.26</a:t>
            </a:r>
          </a:p>
        </p:txBody>
      </p:sp>
      <p:sp>
        <p:nvSpPr>
          <p:cNvPr id="1240" name="Strip"/>
          <p:cNvSpPr/>
          <p:nvPr/>
        </p:nvSpPr>
        <p:spPr>
          <a:xfrm>
            <a:off x="804672" y="5879592"/>
            <a:ext cx="10579608" cy="420624"/>
          </a:xfrm>
          <a:prstGeom prst="roundRect">
            <a:avLst>
              <a:gd name="adj" fmla="val 12000"/>
            </a:avLst>
          </a:prstGeom>
          <a:solidFill>
            <a:srgbClr val="E6F2EC"/>
          </a:solidFill>
          <a:ln>
            <a:noFill/>
          </a:ln>
        </p:spPr>
        <p:txBody>
          <a:bodyPr wrap="square" lIns="201168" tIns="0" rIns="201168" bIns="0" anchor="ctr">
            <a:noAutofit/>
          </a:bodyPr>
          <a:lstStyle/>
          <a:p>
            <a:pPr algn="l"/>
            <a:r>
              <a:rPr lang="en-US" sz="1400" b="0" i="0" dirty="0">
                <a:solidFill>
                  <a:srgbClr val="3A434C"/>
                </a:solidFill>
                <a:latin typeface="Calibri"/>
                <a:cs typeface="Calibri"/>
              </a:rPr>
              <a:t xml:space="preserve">Only RIGOR adds labels, provenance </a:t>
            </a:r>
            <a:r>
              <a:rPr lang="en-US" sz="1400" b="1" i="0" dirty="0">
                <a:solidFill>
                  <a:srgbClr val="1F2328"/>
                </a:solidFill>
                <a:latin typeface="Calibri"/>
                <a:cs typeface="Calibri"/>
              </a:rPr>
              <a:t xml:space="preserve">and</a:t>
            </a:r>
            <a:r>
              <a:rPr lang="en-US" sz="1400" b="0" i="0" dirty="0">
                <a:solidFill>
                  <a:srgbClr val="3A434C"/>
                </a:solidFill>
                <a:latin typeface="Calibri"/>
                <a:cs typeface="Calibri"/>
              </a:rPr>
              <a:t xml:space="preserve"> a class hierarchy: </a:t>
            </a:r>
            <a:r>
              <a:rPr lang="en-US" sz="1400" b="1" i="0" dirty="0">
                <a:solidFill>
                  <a:srgbClr val="0B6E4F"/>
                </a:solidFill>
                <a:latin typeface="Calibri"/>
                <a:cs typeface="Calibri"/>
              </a:rPr>
              <a:t xml:space="preserve">with every LLM, in every database.</a:t>
            </a:r>
          </a:p>
        </p:txBody>
      </p:sp>
      <p:sp>
        <p:nvSpPr>
          <p:cNvPr id="1241" name="Source"/>
          <p:cNvSpPr txBox="1"/>
          <p:nvPr/>
        </p:nvSpPr>
        <p:spPr>
          <a:xfrm>
            <a:off x="822960" y="6345936"/>
            <a:ext cx="1060704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000" b="0" i="0" dirty="0">
                <a:solidFill>
                  <a:srgbClr val="5B6770"/>
                </a:solidFill>
                <a:latin typeface="Calibri"/>
                <a:cs typeface="Calibri"/>
              </a:rPr>
              <a:t xml:space="preserve">Labels &amp; comments: annotation assertions; provenance: prov:wasDerivedFrom (paper Table 8). Hierarchy: inheritance richness, subclass axioms per class [OntoQA: Tartir et al., KADASH 2005; OntoMetrics: Lantow, KEOD 2016], from Table 8. Shading compares cells within each database.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RIGOR · ISWC 2026 Talk">
  <a:themeElements>
    <a:clrScheme name="RIGOR · ISWC 2026 Talk">
      <a:dk1>
        <a:srgbClr val="111A28"/>
      </a:dk1>
      <a:lt1>
        <a:srgbClr val="F2F4F7"/>
      </a:lt1>
      <a:dk2>
        <a:srgbClr val="49515C"/>
      </a:dk2>
      <a:lt2>
        <a:srgbClr val="DCDEE2"/>
      </a:lt2>
      <a:accent1>
        <a:srgbClr val="2345C4"/>
      </a:accent1>
      <a:accent2>
        <a:srgbClr val="F4A261"/>
      </a:accent2>
      <a:accent3>
        <a:srgbClr val="B4561C"/>
      </a:accent3>
      <a:accent4>
        <a:srgbClr val="8FA5EB"/>
      </a:accent4>
      <a:accent5>
        <a:srgbClr val="8AA4FF"/>
      </a:accent5>
      <a:accent6>
        <a:srgbClr val="E9873A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RIGOR · ISWC 2026 Talk">
  <a:themeElements>
    <a:clrScheme name="RIGOR · ISWC 2026 Talk">
      <a:dk1>
        <a:srgbClr val="111A28"/>
      </a:dk1>
      <a:lt1>
        <a:srgbClr val="F2F4F7"/>
      </a:lt1>
      <a:dk2>
        <a:srgbClr val="49515C"/>
      </a:dk2>
      <a:lt2>
        <a:srgbClr val="DCDEE2"/>
      </a:lt2>
      <a:accent1>
        <a:srgbClr val="2345C4"/>
      </a:accent1>
      <a:accent2>
        <a:srgbClr val="F4A261"/>
      </a:accent2>
      <a:accent3>
        <a:srgbClr val="B4561C"/>
      </a:accent3>
      <a:accent4>
        <a:srgbClr val="8FA5EB"/>
      </a:accent4>
      <a:accent5>
        <a:srgbClr val="8AA4FF"/>
      </a:accent5>
      <a:accent6>
        <a:srgbClr val="E9873A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2026-10-26T00:50:16Z</dcterms:created>
</cp:coreProperties>
</file>