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8.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83" r:id="rId32"/>
  </p:sldIdLst>
  <p:sldSz cy="6858000" cx="12192000"/>
  <p:notesSz cx="6858000" cy="12192000"/>
  <p:embeddedFontLst>
    <p:embeddedFont>
      <p:font typeface="IBM Plex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iIhFui5hy+i4o3KOYM/gPuu+Lj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40" Type="http://schemas.openxmlformats.org/officeDocument/2006/relationships/font" Target="fonts/IBMPlexSans-regular.fntdata"/><Relationship Id="rId42" Type="http://schemas.openxmlformats.org/officeDocument/2006/relationships/font" Target="fonts/IBMPlexSans-italic.fntdata"/><Relationship Id="rId41" Type="http://schemas.openxmlformats.org/officeDocument/2006/relationships/font" Target="fonts/IBMPlexSans-bold.fntdata"/><Relationship Id="rId44" Type="http://customschemas.google.com/relationships/presentationmetadata" Target="metadata"/><Relationship Id="rId43" Type="http://schemas.openxmlformats.org/officeDocument/2006/relationships/font" Target="fonts/IBMPlex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32"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6" name="Google Shape;1286;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[11:19–12:21]  SPOKEN SCRIPT (109 words)</a:t>
            </a:r>
          </a:p>
          <a:p>
            <a:r>
              <a:rPr lang="en-US" sz="1200">
                <a:solidFill>
                  <a:schemeClr val="dk1"/>
                </a:solidFill>
                <a:latin typeface="Calibri"/>
                <a:ea typeface="Calibri"/>
                <a:cs typeface="Calibri"/>
                <a:sym typeface="Calibri"/>
              </a:rPr>
              <a:t>Where next? Today RIGOR reads schemas and documentation. The next step is to let the data speak. Here the data sits in two tables: treatment says which admissions received cisplatin, admission records bone marrow depression. Joined on the admission id, the rows show a pattern. The drug label adds that bone-marrow suppression is a known adverse reaction of cisplatin. Together, they let RIGOR propose new knowledge: a candidate association between cisplatin and bone marrow depression, with provenance to both tables and the label. Candidate, not cause. Gemcitabine, radiotherapy or cirrhosis could also explain it. So an expert reviews it. We also want validator and reasoner feedback inside the loop.</a:t>
            </a:r>
          </a:p>
          <a:p/>
          <a:p>
            <a:r>
              <a:rPr lang="en-US" sz="1200">
                <a:solidFill>
                  <a:schemeClr val="dk1"/>
                </a:solidFill>
                <a:latin typeface="Calibri"/>
                <a:ea typeface="Calibri"/>
                <a:cs typeface="Calibri"/>
                <a:sym typeface="Calibri"/>
              </a:rPr>
              <a:t>PRESENTER / POINTER: Point at A1 and A3 in both tables, then the label, then the code. Say 'candidate', never 'caused'.</a:t>
            </a:r>
          </a:p>
          <a:p>
            <a:r>
              <a:rPr lang="en-US" sz="1200">
                <a:solidFill>
                  <a:schemeClr val="dk1"/>
                </a:solidFill>
                <a:latin typeface="Calibri"/>
                <a:ea typeface="Calibri"/>
                <a:cs typeface="Calibri"/>
                <a:sym typeface="Calibri"/>
              </a:rPr>
              <a:t>AUDIENCE TAKEAWAY: Instances plus documentation can propose knowledge; experts confirm it.</a:t>
            </a:r>
          </a:p>
          <a:p>
            <a:r>
              <a:rPr lang="en-US" sz="1200">
                <a:solidFill>
                  <a:schemeClr val="dk1"/>
                </a:solidFill>
                <a:latin typeface="Calibri"/>
                <a:ea typeface="Calibri"/>
                <a:cs typeface="Calibri"/>
                <a:sym typeface="Calibri"/>
              </a:rPr>
              <a:t>SOURCE AND SCOPE: Paper Section 5. Rows are synthetic. OWL verified (presentation/excerpts/slide22_future_candidate.omn): a typed individual with provenance, no causal axiom.</a:t>
            </a:r>
          </a:p>
          <a:p>
            <a:r>
              <a:rPr lang="en-US" sz="1200">
                <a:solidFill>
                  <a:schemeClr val="dk1"/>
                </a:solidFill>
                <a:latin typeface="Calibri"/>
                <a:ea typeface="Calibri"/>
                <a:cs typeface="Calibri"/>
                <a:sym typeface="Calibri"/>
              </a:rPr>
              <a:t>IF RUNNING LATE, DROP: "We also want validator and reasoner feedback inside the loop."</a:t>
            </a:r>
          </a:p>
          <a:p/>
          <a:p>
            <a:r>
              <a:rPr lang="en-US" sz="1200">
                <a:solidFill>
                  <a:schemeClr val="dk1"/>
                </a:solidFill>
                <a:latin typeface="Calibri"/>
                <a:ea typeface="Calibri"/>
                <a:cs typeface="Calibri"/>
                <a:sym typeface="Calibri"/>
              </a:rPr>
              <a:t>IF ASKED WHY NOT AN OWL CAUSAL AXIOM: OWL reasoning is deductive and open-world; it cannot derive causation from statistics, and 'Cisplatin SubClassOf causes some BoneMarrowDepression' would wrongly claim it for every case.</a:t>
            </a:r>
          </a:p>
        </p:txBody>
      </p:sp>
      <p:sp>
        <p:nvSpPr>
          <p:cNvPr id="1287" name="Google Shape;1287;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2" name="Shape 12"/>
        <p:cNvGrpSpPr/>
        <p:nvPr/>
      </p:nvGrpSpPr>
      <p:grpSpPr>
        <a:xfrm>
          <a:off x="0" y="0"/>
          <a:ext cx="0" cy="0"/>
          <a:chOff x="0" y="0"/>
          <a:chExt cx="0" cy="0"/>
        </a:xfrm>
      </p:grpSpPr>
      <p:sp>
        <p:nvSpPr>
          <p:cNvPr id="13" name="Google Shape;13;p25"/>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328"/>
              </a:buClr>
              <a:buSzPts val="2800"/>
              <a:buFont typeface="Calibri"/>
              <a:buNone/>
              <a:defRPr sz="2800">
                <a:solidFill>
                  <a:srgbClr val="1F232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5"/>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2328"/>
              </a:buClr>
              <a:buSzPts val="1600"/>
              <a:buNone/>
              <a:defRPr sz="1600">
                <a:solidFill>
                  <a:srgbClr val="1F2328"/>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2328"/>
              </a:buClr>
              <a:buSzPts val="2800"/>
              <a:buFont typeface="Calibri"/>
              <a:buNone/>
              <a:defRPr b="0" i="0" sz="2800" u="none" cap="none" strike="noStrike">
                <a:solidFill>
                  <a:srgbClr val="1F232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9pPr>
          </a:lstStyle>
          <a:p/>
        </p:txBody>
      </p:sp>
      <p:sp>
        <p:nvSpPr>
          <p:cNvPr id="11" name="Google Shape;11;p24"/>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2328"/>
              </a:buClr>
              <a:buSzPts val="1600"/>
              <a:buFont typeface="Calibri"/>
              <a:buNone/>
              <a:defRPr b="0" i="0" sz="1600" u="none" cap="none" strike="noStrike">
                <a:solidFill>
                  <a:srgbClr val="1F2328"/>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8" name="Shape 1288"/>
        <p:cNvGrpSpPr/>
        <p:nvPr/>
      </p:nvGrpSpPr>
      <p:grpSpPr>
        <a:xfrm>
          <a:off x="0" y="0"/>
          <a:ext cx="0" cy="0"/>
          <a:chOff x="0" y="0"/>
          <a:chExt cx="0" cy="0"/>
        </a:xfrm>
      </p:grpSpPr>
      <p:sp>
        <p:nvSpPr>
          <p:cNvPr id="1289" name="Google Shape;1289;p22"/>
          <p:cNvSpPr txBox="1"/>
          <p:nvPr/>
        </p:nvSpPr>
        <p:spPr>
          <a:xfrm>
            <a:off x="813816" y="493776"/>
            <a:ext cx="106071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FUTURE WORK  /  FROM SCHEMAS TO INSTANCES</a:t>
            </a:r>
            <a:endParaRPr b="0" i="0" sz="1400" u="none" cap="none" strike="noStrike">
              <a:solidFill>
                <a:srgbClr val="000000"/>
              </a:solidFill>
              <a:latin typeface="Arial"/>
              <a:ea typeface="Arial"/>
              <a:cs typeface="Arial"/>
              <a:sym typeface="Arial"/>
            </a:endParaRPr>
          </a:p>
        </p:txBody>
      </p:sp>
      <p:sp>
        <p:nvSpPr>
          <p:cNvPr id="1290" name="Google Shape;1290;p22"/>
          <p:cNvSpPr txBox="1"/>
          <p:nvPr/>
        </p:nvSpPr>
        <p:spPr>
          <a:xfrm>
            <a:off x="813816" y="923544"/>
            <a:ext cx="10698600" cy="6402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Next: let the data speak.</a:t>
            </a:r>
            <a:endParaRPr b="0" i="0" sz="1400" u="none" cap="none" strike="noStrike">
              <a:solidFill>
                <a:srgbClr val="000000"/>
              </a:solidFill>
              <a:latin typeface="Arial"/>
              <a:ea typeface="Arial"/>
              <a:cs typeface="Arial"/>
              <a:sym typeface="Arial"/>
            </a:endParaRPr>
          </a:p>
        </p:txBody>
      </p:sp>
      <p:sp>
        <p:nvSpPr>
          <p:cNvPr id="1291" name="Google Shape;1291;p22"/>
          <p:cNvSpPr txBox="1"/>
          <p:nvPr/>
        </p:nvSpPr>
        <p:spPr>
          <a:xfrm>
            <a:off x="822960" y="1709928"/>
            <a:ext cx="10332600" cy="3291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700"/>
              <a:buFont typeface="Arial"/>
              <a:buNone/>
            </a:pPr>
            <a:r>
              <a:rPr lang="en-US" sz="1700" b="0" i="0" dirty="0">
                <a:solidFill>
                  <a:srgbClr val="5B6770"/>
                </a:solidFill>
                <a:latin typeface="Calibri"/>
                <a:cs typeface="Calibri"/>
              </a:rPr>
              <a:t xml:space="preserve">Today </a:t>
            </a:r>
            <a:r>
              <a:rPr lang="en-US" sz="1700" b="1" i="1" dirty="0">
                <a:solidFill>
                  <a:srgbClr val="3A434C"/>
                </a:solidFill>
                <a:latin typeface="Calibri"/>
                <a:cs typeface="Calibri"/>
              </a:rPr>
              <a:t xml:space="preserve">RIGOR</a:t>
            </a:r>
            <a:r>
              <a:rPr lang="en-US" sz="1700" b="0" i="0" dirty="0">
                <a:solidFill>
                  <a:srgbClr val="5B6770"/>
                </a:solidFill>
                <a:latin typeface="Calibri"/>
                <a:cs typeface="Calibri"/>
              </a:rPr>
              <a:t xml:space="preserve"> reads </a:t>
            </a:r>
            <a:r>
              <a:rPr lang="en-US" sz="1700" b="1" i="0" dirty="0">
                <a:solidFill>
                  <a:srgbClr val="3A434C"/>
                </a:solidFill>
                <a:latin typeface="Calibri"/>
                <a:cs typeface="Calibri"/>
              </a:rPr>
              <a:t xml:space="preserve">schemas</a:t>
            </a:r>
            <a:r>
              <a:rPr lang="en-US" sz="1700" b="0" i="0" dirty="0">
                <a:solidFill>
                  <a:srgbClr val="5B6770"/>
                </a:solidFill>
                <a:latin typeface="Calibri"/>
                <a:cs typeface="Calibri"/>
              </a:rPr>
              <a:t xml:space="preserve"> and </a:t>
            </a:r>
            <a:r>
              <a:rPr lang="en-US" sz="1700" b="1" i="0" dirty="0">
                <a:solidFill>
                  <a:srgbClr val="3A434C"/>
                </a:solidFill>
                <a:latin typeface="Calibri"/>
                <a:cs typeface="Calibri"/>
              </a:rPr>
              <a:t xml:space="preserve">documentation</a:t>
            </a:r>
            <a:r>
              <a:rPr lang="en-US" sz="1700" b="0" i="0" dirty="0">
                <a:solidFill>
                  <a:srgbClr val="5B6770"/>
                </a:solidFill>
                <a:latin typeface="Calibri"/>
                <a:cs typeface="Calibri"/>
              </a:rPr>
              <a:t xml:space="preserve">. </a:t>
            </a:r>
            <a:r>
              <a:rPr lang="en-US" sz="1700" b="1" i="0" dirty="0">
                <a:solidFill>
                  <a:srgbClr val="3A434C"/>
                </a:solidFill>
                <a:latin typeface="Calibri"/>
                <a:cs typeface="Calibri"/>
              </a:rPr>
              <a:t xml:space="preserve">Instance data</a:t>
            </a:r>
            <a:r>
              <a:rPr lang="en-US" sz="1700" b="0" i="0" dirty="0">
                <a:solidFill>
                  <a:srgbClr val="5B6770"/>
                </a:solidFill>
                <a:latin typeface="Calibri"/>
                <a:cs typeface="Calibri"/>
              </a:rPr>
              <a:t xml:space="preserve"> could propose </a:t>
            </a:r>
            <a:r>
              <a:rPr lang="en-US" sz="1700" b="1" i="0" dirty="0">
                <a:solidFill>
                  <a:srgbClr val="3A434C"/>
                </a:solidFill>
                <a:latin typeface="Calibri"/>
                <a:cs typeface="Calibri"/>
              </a:rPr>
              <a:t xml:space="preserve">new knowledge</a:t>
            </a:r>
            <a:r>
              <a:rPr lang="en-US" sz="1700" b="0" i="0" dirty="0">
                <a:solidFill>
                  <a:srgbClr val="5B6770"/>
                </a:solidFill>
                <a:latin typeface="Calibri"/>
                <a:cs typeface="Calibri"/>
              </a:rPr>
              <a:t xml:space="preserve">.</a:t>
            </a:r>
          </a:p>
        </p:txBody>
      </p:sp>
      <p:sp>
        <p:nvSpPr>
          <p:cNvPr id="1292" name="Google Shape;1292;p22"/>
          <p:cNvSpPr/>
          <p:nvPr/>
        </p:nvSpPr>
        <p:spPr>
          <a:xfrm>
            <a:off x="822960" y="2194560"/>
            <a:ext cx="3017400" cy="3218688"/>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3" name="Google Shape;1293;p22"/>
          <p:cNvSpPr/>
          <p:nvPr/>
        </p:nvSpPr>
        <p:spPr>
          <a:xfrm>
            <a:off x="4224528" y="2194560"/>
            <a:ext cx="2788800" cy="3218688"/>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4" name="Google Shape;1294;p22"/>
          <p:cNvSpPr/>
          <p:nvPr/>
        </p:nvSpPr>
        <p:spPr>
          <a:xfrm>
            <a:off x="7397496" y="2194560"/>
            <a:ext cx="3941100" cy="3218688"/>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5" name="Google Shape;1295;p22"/>
          <p:cNvSpPr/>
          <p:nvPr/>
        </p:nvSpPr>
        <p:spPr>
          <a:xfrm>
            <a:off x="3877048" y="3611904"/>
            <a:ext cx="429600" cy="384000"/>
          </a:xfrm>
          <a:prstGeom prst="rightArrow">
            <a:avLst>
              <a:gd fmla="val 50000" name="adj1"/>
              <a:gd fmla="val 50000" name="adj2"/>
            </a:avLst>
          </a:prstGeom>
          <a:solidFill>
            <a:srgbClr val="0B6E4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6" name="Google Shape;1296;p22"/>
          <p:cNvSpPr/>
          <p:nvPr/>
        </p:nvSpPr>
        <p:spPr>
          <a:xfrm>
            <a:off x="7050025" y="3611904"/>
            <a:ext cx="429600" cy="384000"/>
          </a:xfrm>
          <a:prstGeom prst="rightArrow">
            <a:avLst>
              <a:gd fmla="val 50000" name="adj1"/>
              <a:gd fmla="val 50000" name="adj2"/>
            </a:avLst>
          </a:prstGeom>
          <a:solidFill>
            <a:srgbClr val="0B6E4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7" name="Google Shape;1297;p22"/>
          <p:cNvSpPr txBox="1"/>
          <p:nvPr/>
        </p:nvSpPr>
        <p:spPr>
          <a:xfrm>
            <a:off x="1024128" y="2359152"/>
            <a:ext cx="26517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1  INSTANCES</a:t>
            </a:r>
            <a:endParaRPr/>
          </a:p>
        </p:txBody>
      </p:sp>
      <p:sp>
        <p:nvSpPr>
          <p:cNvPr id="1298" name="Google Shape;1298;p22"/>
          <p:cNvSpPr txBox="1"/>
          <p:nvPr/>
        </p:nvSpPr>
        <p:spPr>
          <a:xfrm>
            <a:off x="1024128" y="2651760"/>
            <a:ext cx="26517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300" b="0" i="0" dirty="0">
                <a:solidFill>
                  <a:srgbClr val="5B6770"/>
                </a:solidFill>
                <a:latin typeface="Calibri"/>
                <a:cs typeface="Calibri"/>
              </a:rPr>
              <a:t xml:space="preserve">What the rows show, across two tables</a:t>
            </a:r>
          </a:p>
        </p:txBody>
      </p:sp>
      <p:sp>
        <p:nvSpPr>
          <p:cNvPr id="1306" name="Google Shape;1306;p22"/>
          <p:cNvSpPr txBox="1"/>
          <p:nvPr/>
        </p:nvSpPr>
        <p:spPr>
          <a:xfrm>
            <a:off x="4425696" y="2359152"/>
            <a:ext cx="2423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2  + DOCUMENTATION</a:t>
            </a:r>
            <a:endParaRPr/>
          </a:p>
        </p:txBody>
      </p:sp>
      <p:sp>
        <p:nvSpPr>
          <p:cNvPr id="1307" name="Google Shape;1307;p22"/>
          <p:cNvSpPr txBox="1"/>
          <p:nvPr/>
        </p:nvSpPr>
        <p:spPr>
          <a:xfrm>
            <a:off x="4425696" y="2651760"/>
            <a:ext cx="24231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5B6770"/>
                </a:solidFill>
                <a:latin typeface="Calibri"/>
                <a:ea typeface="Calibri"/>
                <a:cs typeface="Calibri"/>
                <a:sym typeface="Calibri"/>
              </a:rPr>
              <a:t>What the drug label says</a:t>
            </a:r>
            <a:endParaRPr/>
          </a:p>
        </p:txBody>
      </p:sp>
      <p:sp>
        <p:nvSpPr>
          <p:cNvPr id="1308" name="Google Shape;1308;p22"/>
          <p:cNvSpPr/>
          <p:nvPr/>
        </p:nvSpPr>
        <p:spPr>
          <a:xfrm>
            <a:off x="4389120" y="3017520"/>
            <a:ext cx="2459700" cy="1115700"/>
          </a:xfrm>
          <a:prstGeom prst="roundRect">
            <a:avLst>
              <a:gd fmla="val 12000" name="adj"/>
            </a:avLst>
          </a:prstGeom>
          <a:solidFill>
            <a:srgbClr val="F3F5F4"/>
          </a:solidFill>
          <a:ln>
            <a:noFill/>
          </a:ln>
        </p:spPr>
        <p:txBody>
          <a:bodyPr anchorCtr="0" anchor="ctr" bIns="0" lIns="128000" spcFirstLastPara="1" rIns="128000" wrap="square" tIns="0">
            <a:noAutofit/>
          </a:bodyPr>
          <a:lstStyle/>
          <a:p>
            <a:pPr indent="0" lvl="0" marL="0" marR="0" rtl="0" algn="l">
              <a:lnSpc>
                <a:spcPct val="100000"/>
              </a:lnSpc>
              <a:spcBef>
                <a:spcPts val="0"/>
              </a:spcBef>
              <a:spcAft>
                <a:spcPts val="0"/>
              </a:spcAft>
              <a:buNone/>
            </a:pPr>
            <a:r>
              <a:rPr b="0" i="1" lang="en-US" sz="1400" u="none" cap="none" strike="noStrike">
                <a:solidFill>
                  <a:srgbClr val="1F2328"/>
                </a:solidFill>
                <a:latin typeface="Calibri"/>
                <a:ea typeface="Calibri"/>
                <a:cs typeface="Calibri"/>
                <a:sym typeface="Calibri"/>
              </a:rPr>
              <a:t>Myelosuppression (bone-marrow suppression) is a documented adverse reaction of cisplatin.</a:t>
            </a:r>
            <a:endParaRPr/>
          </a:p>
        </p:txBody>
      </p:sp>
      <p:sp>
        <p:nvSpPr>
          <p:cNvPr id="1309" name="Google Shape;1309;p22"/>
          <p:cNvSpPr txBox="1"/>
          <p:nvPr/>
        </p:nvSpPr>
        <p:spPr>
          <a:xfrm>
            <a:off x="4425696" y="4169664"/>
            <a:ext cx="24231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Cisplatin drug label, paraphrased</a:t>
            </a:r>
            <a:endParaRPr/>
          </a:p>
        </p:txBody>
      </p:sp>
      <p:sp>
        <p:nvSpPr>
          <p:cNvPr id="1311" name="Google Shape;1311;p22"/>
          <p:cNvSpPr txBox="1"/>
          <p:nvPr/>
        </p:nvSpPr>
        <p:spPr>
          <a:xfrm>
            <a:off x="7598664" y="2359152"/>
            <a:ext cx="35754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0B6E4F"/>
                </a:solidFill>
                <a:latin typeface="Consolas"/>
                <a:ea typeface="Consolas"/>
                <a:cs typeface="Consolas"/>
                <a:sym typeface="Consolas"/>
              </a:rPr>
              <a:t>3  CANDIDATE KNOWLEDGE</a:t>
            </a:r>
            <a:endParaRPr/>
          </a:p>
        </p:txBody>
      </p:sp>
      <p:sp>
        <p:nvSpPr>
          <p:cNvPr id="1312" name="Google Shape;1312;p22"/>
          <p:cNvSpPr txBox="1"/>
          <p:nvPr/>
        </p:nvSpPr>
        <p:spPr>
          <a:xfrm>
            <a:off x="7598664" y="2651760"/>
            <a:ext cx="35754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5B6770"/>
                </a:solidFill>
                <a:latin typeface="Calibri"/>
                <a:ea typeface="Calibri"/>
                <a:cs typeface="Calibri"/>
                <a:sym typeface="Calibri"/>
              </a:rPr>
              <a:t>A reviewable hypothesis, not a fact</a:t>
            </a:r>
            <a:endParaRPr/>
          </a:p>
        </p:txBody>
      </p:sp>
      <p:sp>
        <p:nvSpPr>
          <p:cNvPr id="1314" name="Google Shape;1314;p22"/>
          <p:cNvSpPr txBox="1"/>
          <p:nvPr/>
        </p:nvSpPr>
        <p:spPr>
          <a:xfrm>
            <a:off x="7598664" y="4974336"/>
            <a:ext cx="3575400" cy="3840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100" b="1" i="0" dirty="0">
                <a:solidFill>
                  <a:srgbClr val="B23A1E"/>
                </a:solidFill>
                <a:latin typeface="Calibri"/>
                <a:cs typeface="Calibri"/>
              </a:rPr>
              <a:t xml:space="preserve">No causal claim: </a:t>
            </a:r>
            <a:r>
              <a:rPr lang="en-US" sz="1100" b="0" i="0" dirty="0">
                <a:solidFill>
                  <a:srgbClr val="3A434C"/>
                </a:solidFill>
                <a:latin typeface="Calibri"/>
                <a:cs typeface="Calibri"/>
              </a:rPr>
              <a:t xml:space="preserve">gemcitabine, radiotherapy or cirrhosis can also suppress the marrow.</a:t>
            </a:r>
          </a:p>
        </p:txBody>
      </p:sp>
      <p:sp>
        <p:nvSpPr>
          <p:cNvPr id="1315" name="Google Shape;1315;p22"/>
          <p:cNvSpPr/>
          <p:nvPr/>
        </p:nvSpPr>
        <p:spPr>
          <a:xfrm>
            <a:off x="822960" y="5559552"/>
            <a:ext cx="10515600" cy="420600"/>
          </a:xfrm>
          <a:prstGeom prst="roundRect">
            <a:avLst>
              <a:gd fmla="val 12000" name="adj"/>
            </a:avLst>
          </a:prstGeom>
          <a:solidFill>
            <a:srgbClr val="E6F2EC"/>
          </a:solidFill>
          <a:ln>
            <a:noFill/>
          </a:ln>
        </p:spPr>
        <p:txBody>
          <a:bodyPr anchorCtr="0" anchor="ctr" bIns="0" lIns="182875" spcFirstLastPara="1" rIns="182875" wrap="square" tIns="0">
            <a:noAutofit/>
          </a:bodyPr>
          <a:lstStyle/>
          <a:p>
            <a:pPr indent="0" lvl="0" marL="0" marR="0" rtl="0" algn="l">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ALSO NEXT   </a:t>
            </a:r>
            <a:r>
              <a:rPr b="0" i="0" lang="en-US" sz="1250" u="none" cap="none" strike="noStrike">
                <a:solidFill>
                  <a:srgbClr val="1F2328"/>
                </a:solidFill>
                <a:latin typeface="Calibri"/>
                <a:ea typeface="Calibri"/>
                <a:cs typeface="Calibri"/>
                <a:sym typeface="Calibri"/>
              </a:rPr>
              <a:t>Validator and reasoner feedback inside the loop, to catch residual P19  ·  aggregate statistics only, so patient data stays in the hospital</a:t>
            </a:r>
            <a:endParaRPr/>
          </a:p>
        </p:txBody>
      </p:sp>
      <p:sp>
        <p:nvSpPr>
          <p:cNvPr id="1316" name="Google Shape;1316;p22"/>
          <p:cNvSpPr txBox="1"/>
          <p:nvPr/>
        </p:nvSpPr>
        <p:spPr>
          <a:xfrm>
            <a:off x="850392" y="6108192"/>
            <a:ext cx="104883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Instance rows are synthetic. Future directions follow paper Section 5 (instance-level signals, tool feedback, symbolic reasoning).</a:t>
            </a:r>
            <a:endParaRPr/>
          </a:p>
        </p:txBody>
      </p:sp>
      <p:sp>
        <p:nvSpPr>
          <p:cNvPr id="1317" name="Table treatment"/>
          <p:cNvSpPr/>
          <p:nvPr/>
        </p:nvSpPr>
        <p:spPr>
          <a:xfrm>
            <a:off x="987552" y="2944368"/>
            <a:ext cx="2688216" cy="1120140"/>
          </a:xfrm>
          <a:prstGeom prst="roundRect">
            <a:avLst>
              <a:gd name="adj" fmla="val 9000"/>
            </a:avLst>
          </a:prstGeom>
          <a:solidFill>
            <a:srgbClr val="E9EEEB"/>
          </a:solidFill>
          <a:ln>
            <a:noFill/>
          </a:ln>
          <a:effectLst>
            <a:outerShdw blurRad="76200" dist="25400" dir="5400000" algn="t" rotWithShape="0">
              <a:srgbClr val="000000">
                <a:alpha val="16000"/>
              </a:srgbClr>
            </a:outerShdw>
          </a:effectLst>
        </p:spPr>
        <p:txBody>
          <a:bodyPr wrap="square" lIns="0" tIns="0" rIns="0" bIns="0" anchor="ctr">
            <a:noAutofit/>
          </a:bodyPr>
          <a:lstStyle/>
          <a:p>
            <a:endParaRPr lang="en-US"/>
          </a:p>
        </p:txBody>
      </p:sp>
      <p:sp>
        <p:nvSpPr>
          <p:cNvPr id="1318" name="Table name"/>
          <p:cNvSpPr txBox="1"/>
          <p:nvPr/>
        </p:nvSpPr>
        <p:spPr>
          <a:xfrm>
            <a:off x="1124712" y="2971800"/>
            <a:ext cx="2413896" cy="246888"/>
          </a:xfrm>
          <a:prstGeom prst="rect">
            <a:avLst/>
          </a:prstGeom>
          <a:noFill/>
          <a:ln>
            <a:noFill/>
          </a:ln>
        </p:spPr>
        <p:txBody>
          <a:bodyPr wrap="square" lIns="0" tIns="0" rIns="0" bIns="0" anchor="ctr">
            <a:noAutofit/>
          </a:bodyPr>
          <a:lstStyle/>
          <a:p>
            <a:pPr algn="l"/>
            <a:r>
              <a:rPr lang="en-US" sz="1450" b="1" i="0" dirty="0">
                <a:solidFill>
                  <a:srgbClr val="1F2328"/>
                </a:solidFill>
                <a:latin typeface="Calibri"/>
                <a:cs typeface="Calibri"/>
              </a:rPr>
              <a:t xml:space="preserve">treatment</a:t>
            </a:r>
          </a:p>
        </p:txBody>
      </p:sp>
      <p:sp>
        <p:nvSpPr>
          <p:cNvPr id="1319" name="Rule"/>
          <p:cNvSpPr/>
          <p:nvPr/>
        </p:nvSpPr>
        <p:spPr>
          <a:xfrm>
            <a:off x="1124712" y="3236976"/>
            <a:ext cx="2413896" cy="10972"/>
          </a:xfrm>
          <a:prstGeom prst="rect">
            <a:avLst/>
          </a:prstGeom>
          <a:solidFill>
            <a:srgbClr val="9AA3A9"/>
          </a:solidFill>
          <a:ln>
            <a:noFill/>
          </a:ln>
        </p:spPr>
        <p:txBody>
          <a:bodyPr wrap="square" lIns="0" tIns="0" rIns="0" bIns="0" anchor="t">
            <a:noAutofit/>
          </a:bodyPr>
          <a:lstStyle/>
          <a:p>
            <a:pPr algn="l"/>
          </a:p>
        </p:txBody>
      </p:sp>
      <p:sp>
        <p:nvSpPr>
          <p:cNvPr id="1320" name="Column"/>
          <p:cNvSpPr txBox="1"/>
          <p:nvPr/>
        </p:nvSpPr>
        <p:spPr>
          <a:xfrm>
            <a:off x="1124712" y="3264408"/>
            <a:ext cx="1051560" cy="182880"/>
          </a:xfrm>
          <a:prstGeom prst="rect">
            <a:avLst/>
          </a:prstGeom>
          <a:noFill/>
          <a:ln>
            <a:noFill/>
          </a:ln>
        </p:spPr>
        <p:txBody>
          <a:bodyPr wrap="square" lIns="0" tIns="0" rIns="0" bIns="0" anchor="ctr">
            <a:noAutofit/>
          </a:bodyPr>
          <a:lstStyle/>
          <a:p>
            <a:pPr algn="l"/>
            <a:r>
              <a:rPr lang="en-US" sz="1050" b="1" i="0" dirty="0">
                <a:solidFill>
                  <a:srgbClr val="0B6E4F"/>
                </a:solidFill>
                <a:latin typeface="Calibri"/>
                <a:cs typeface="Calibri"/>
              </a:rPr>
              <a:t xml:space="preserve">admission_id</a:t>
            </a:r>
            <a:r>
              <a:rPr lang="en-US" sz="900" b="0" i="0" dirty="0">
                <a:solidFill>
                  <a:srgbClr val="5B6770"/>
                </a:solidFill>
                <a:latin typeface="Calibri"/>
                <a:cs typeface="Calibri"/>
              </a:rPr>
              <a:t xml:space="preserve">  FK</a:t>
            </a:r>
          </a:p>
        </p:txBody>
      </p:sp>
      <p:sp>
        <p:nvSpPr>
          <p:cNvPr id="1321" name="Column"/>
          <p:cNvSpPr txBox="1"/>
          <p:nvPr/>
        </p:nvSpPr>
        <p:spPr>
          <a:xfrm>
            <a:off x="2176272" y="3264408"/>
            <a:ext cx="1508760" cy="182880"/>
          </a:xfrm>
          <a:prstGeom prst="rect">
            <a:avLst/>
          </a:prstGeom>
          <a:noFill/>
          <a:ln>
            <a:noFill/>
          </a:ln>
        </p:spPr>
        <p:txBody>
          <a:bodyPr wrap="square" lIns="0" tIns="0" rIns="0" bIns="0" anchor="ctr">
            <a:noAutofit/>
          </a:bodyPr>
          <a:lstStyle/>
          <a:p>
            <a:pPr algn="l"/>
            <a:r>
              <a:rPr lang="en-US" sz="1050" b="1" i="0" dirty="0">
                <a:solidFill>
                  <a:srgbClr val="0B6E4F"/>
                </a:solidFill>
                <a:latin typeface="Calibri"/>
                <a:cs typeface="Calibri"/>
              </a:rPr>
              <a:t xml:space="preserve">drug</a:t>
            </a:r>
          </a:p>
        </p:txBody>
      </p:sp>
      <p:sp>
        <p:nvSpPr>
          <p:cNvPr id="1322" name="Row band"/>
          <p:cNvSpPr/>
          <p:nvPr/>
        </p:nvSpPr>
        <p:spPr>
          <a:xfrm>
            <a:off x="1060704" y="3456432"/>
            <a:ext cx="2541912" cy="173736"/>
          </a:xfrm>
          <a:prstGeom prst="rect">
            <a:avLst/>
          </a:prstGeom>
          <a:solidFill>
            <a:srgbClr val="D7EDE2"/>
          </a:solidFill>
          <a:ln>
            <a:noFill/>
          </a:ln>
        </p:spPr>
        <p:txBody>
          <a:bodyPr wrap="square" lIns="0" tIns="0" rIns="0" bIns="0" anchor="t">
            <a:noAutofit/>
          </a:bodyPr>
          <a:lstStyle/>
          <a:p>
            <a:pPr algn="l"/>
          </a:p>
        </p:txBody>
      </p:sp>
      <p:sp>
        <p:nvSpPr>
          <p:cNvPr id="1323" name="Cell"/>
          <p:cNvSpPr txBox="1"/>
          <p:nvPr/>
        </p:nvSpPr>
        <p:spPr>
          <a:xfrm>
            <a:off x="1124712" y="3456432"/>
            <a:ext cx="105156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A1</a:t>
            </a:r>
          </a:p>
        </p:txBody>
      </p:sp>
      <p:sp>
        <p:nvSpPr>
          <p:cNvPr id="1324" name="Cell"/>
          <p:cNvSpPr txBox="1"/>
          <p:nvPr/>
        </p:nvSpPr>
        <p:spPr>
          <a:xfrm>
            <a:off x="2176272" y="3456432"/>
            <a:ext cx="150876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cisplatin</a:t>
            </a:r>
          </a:p>
        </p:txBody>
      </p:sp>
      <p:sp>
        <p:nvSpPr>
          <p:cNvPr id="1325" name="Cell"/>
          <p:cNvSpPr txBox="1"/>
          <p:nvPr/>
        </p:nvSpPr>
        <p:spPr>
          <a:xfrm>
            <a:off x="1124712" y="3643884"/>
            <a:ext cx="105156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A2</a:t>
            </a:r>
          </a:p>
        </p:txBody>
      </p:sp>
      <p:sp>
        <p:nvSpPr>
          <p:cNvPr id="1326" name="Cell"/>
          <p:cNvSpPr txBox="1"/>
          <p:nvPr/>
        </p:nvSpPr>
        <p:spPr>
          <a:xfrm>
            <a:off x="2176272" y="3643884"/>
            <a:ext cx="150876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nivolumab</a:t>
            </a:r>
          </a:p>
        </p:txBody>
      </p:sp>
      <p:sp>
        <p:nvSpPr>
          <p:cNvPr id="1327" name="Row band"/>
          <p:cNvSpPr/>
          <p:nvPr/>
        </p:nvSpPr>
        <p:spPr>
          <a:xfrm>
            <a:off x="1060704" y="3831336"/>
            <a:ext cx="2541912" cy="173736"/>
          </a:xfrm>
          <a:prstGeom prst="rect">
            <a:avLst/>
          </a:prstGeom>
          <a:solidFill>
            <a:srgbClr val="D7EDE2"/>
          </a:solidFill>
          <a:ln>
            <a:noFill/>
          </a:ln>
        </p:spPr>
        <p:txBody>
          <a:bodyPr wrap="square" lIns="0" tIns="0" rIns="0" bIns="0" anchor="t">
            <a:noAutofit/>
          </a:bodyPr>
          <a:lstStyle/>
          <a:p>
            <a:pPr algn="l"/>
          </a:p>
        </p:txBody>
      </p:sp>
      <p:sp>
        <p:nvSpPr>
          <p:cNvPr id="1328" name="Cell"/>
          <p:cNvSpPr txBox="1"/>
          <p:nvPr/>
        </p:nvSpPr>
        <p:spPr>
          <a:xfrm>
            <a:off x="1124712" y="3831336"/>
            <a:ext cx="105156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A3</a:t>
            </a:r>
          </a:p>
        </p:txBody>
      </p:sp>
      <p:sp>
        <p:nvSpPr>
          <p:cNvPr id="1329" name="Cell"/>
          <p:cNvSpPr txBox="1"/>
          <p:nvPr/>
        </p:nvSpPr>
        <p:spPr>
          <a:xfrm>
            <a:off x="2176272" y="3831336"/>
            <a:ext cx="150876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cisplatin</a:t>
            </a:r>
          </a:p>
        </p:txBody>
      </p:sp>
      <p:sp>
        <p:nvSpPr>
          <p:cNvPr id="1330" name="Table admission"/>
          <p:cNvSpPr/>
          <p:nvPr/>
        </p:nvSpPr>
        <p:spPr>
          <a:xfrm>
            <a:off x="987552" y="4155948"/>
            <a:ext cx="2688216" cy="1120140"/>
          </a:xfrm>
          <a:prstGeom prst="roundRect">
            <a:avLst>
              <a:gd name="adj" fmla="val 9000"/>
            </a:avLst>
          </a:prstGeom>
          <a:solidFill>
            <a:srgbClr val="E9EEEB"/>
          </a:solidFill>
          <a:ln>
            <a:noFill/>
          </a:ln>
          <a:effectLst>
            <a:outerShdw blurRad="76200" dist="25400" dir="5400000" algn="t" rotWithShape="0">
              <a:srgbClr val="000000">
                <a:alpha val="16000"/>
              </a:srgbClr>
            </a:outerShdw>
          </a:effectLst>
        </p:spPr>
        <p:txBody>
          <a:bodyPr wrap="square" lIns="0" tIns="0" rIns="0" bIns="0" anchor="ctr">
            <a:noAutofit/>
          </a:bodyPr>
          <a:lstStyle/>
          <a:p>
            <a:endParaRPr lang="en-US"/>
          </a:p>
        </p:txBody>
      </p:sp>
      <p:sp>
        <p:nvSpPr>
          <p:cNvPr id="1331" name="Table name"/>
          <p:cNvSpPr txBox="1"/>
          <p:nvPr/>
        </p:nvSpPr>
        <p:spPr>
          <a:xfrm>
            <a:off x="1124712" y="4183380"/>
            <a:ext cx="2413896" cy="246888"/>
          </a:xfrm>
          <a:prstGeom prst="rect">
            <a:avLst/>
          </a:prstGeom>
          <a:noFill/>
          <a:ln>
            <a:noFill/>
          </a:ln>
        </p:spPr>
        <p:txBody>
          <a:bodyPr wrap="square" lIns="0" tIns="0" rIns="0" bIns="0" anchor="ctr">
            <a:noAutofit/>
          </a:bodyPr>
          <a:lstStyle/>
          <a:p>
            <a:pPr algn="l"/>
            <a:r>
              <a:rPr lang="en-US" sz="1450" b="1" i="0" dirty="0">
                <a:solidFill>
                  <a:srgbClr val="1F2328"/>
                </a:solidFill>
                <a:latin typeface="Calibri"/>
                <a:cs typeface="Calibri"/>
              </a:rPr>
              <a:t xml:space="preserve">admission</a:t>
            </a:r>
          </a:p>
        </p:txBody>
      </p:sp>
      <p:sp>
        <p:nvSpPr>
          <p:cNvPr id="1332" name="Rule"/>
          <p:cNvSpPr/>
          <p:nvPr/>
        </p:nvSpPr>
        <p:spPr>
          <a:xfrm>
            <a:off x="1124712" y="4448556"/>
            <a:ext cx="2413896" cy="10972"/>
          </a:xfrm>
          <a:prstGeom prst="rect">
            <a:avLst/>
          </a:prstGeom>
          <a:solidFill>
            <a:srgbClr val="9AA3A9"/>
          </a:solidFill>
          <a:ln>
            <a:noFill/>
          </a:ln>
        </p:spPr>
        <p:txBody>
          <a:bodyPr wrap="square" lIns="0" tIns="0" rIns="0" bIns="0" anchor="t">
            <a:noAutofit/>
          </a:bodyPr>
          <a:lstStyle/>
          <a:p>
            <a:pPr algn="l"/>
          </a:p>
        </p:txBody>
      </p:sp>
      <p:sp>
        <p:nvSpPr>
          <p:cNvPr id="1333" name="Column"/>
          <p:cNvSpPr txBox="1"/>
          <p:nvPr/>
        </p:nvSpPr>
        <p:spPr>
          <a:xfrm>
            <a:off x="1124712" y="4475988"/>
            <a:ext cx="1051560" cy="182880"/>
          </a:xfrm>
          <a:prstGeom prst="rect">
            <a:avLst/>
          </a:prstGeom>
          <a:noFill/>
          <a:ln>
            <a:noFill/>
          </a:ln>
        </p:spPr>
        <p:txBody>
          <a:bodyPr wrap="square" lIns="0" tIns="0" rIns="0" bIns="0" anchor="ctr">
            <a:noAutofit/>
          </a:bodyPr>
          <a:lstStyle/>
          <a:p>
            <a:pPr algn="l"/>
            <a:r>
              <a:rPr lang="en-US" sz="1050" b="1" i="0" dirty="0">
                <a:solidFill>
                  <a:srgbClr val="0B6E4F"/>
                </a:solidFill>
                <a:latin typeface="Calibri"/>
                <a:cs typeface="Calibri"/>
              </a:rPr>
              <a:t xml:space="preserve">admission_id</a:t>
            </a:r>
          </a:p>
        </p:txBody>
      </p:sp>
      <p:sp>
        <p:nvSpPr>
          <p:cNvPr id="1334" name="Column"/>
          <p:cNvSpPr txBox="1"/>
          <p:nvPr/>
        </p:nvSpPr>
        <p:spPr>
          <a:xfrm>
            <a:off x="2176272" y="4475988"/>
            <a:ext cx="868680" cy="182880"/>
          </a:xfrm>
          <a:prstGeom prst="rect">
            <a:avLst/>
          </a:prstGeom>
          <a:noFill/>
          <a:ln>
            <a:noFill/>
          </a:ln>
        </p:spPr>
        <p:txBody>
          <a:bodyPr wrap="square" lIns="0" tIns="0" rIns="0" bIns="0" anchor="ctr">
            <a:noAutofit/>
          </a:bodyPr>
          <a:lstStyle/>
          <a:p>
            <a:pPr algn="l"/>
            <a:r>
              <a:rPr lang="en-US" sz="1050" b="1" i="0" dirty="0">
                <a:solidFill>
                  <a:srgbClr val="0B6E4F"/>
                </a:solidFill>
                <a:latin typeface="Calibri"/>
                <a:cs typeface="Calibri"/>
              </a:rPr>
              <a:t xml:space="preserve">patient_id</a:t>
            </a:r>
          </a:p>
        </p:txBody>
      </p:sp>
      <p:sp>
        <p:nvSpPr>
          <p:cNvPr id="1335" name="Column"/>
          <p:cNvSpPr txBox="1"/>
          <p:nvPr/>
        </p:nvSpPr>
        <p:spPr>
          <a:xfrm>
            <a:off x="3044952" y="4475988"/>
            <a:ext cx="640080" cy="182880"/>
          </a:xfrm>
          <a:prstGeom prst="rect">
            <a:avLst/>
          </a:prstGeom>
          <a:noFill/>
          <a:ln>
            <a:noFill/>
          </a:ln>
        </p:spPr>
        <p:txBody>
          <a:bodyPr wrap="square" lIns="0" tIns="0" rIns="0" bIns="0" anchor="ctr">
            <a:noAutofit/>
          </a:bodyPr>
          <a:lstStyle/>
          <a:p>
            <a:pPr algn="l"/>
            <a:r>
              <a:rPr lang="en-US" sz="1050" b="1" i="0" dirty="0">
                <a:solidFill>
                  <a:srgbClr val="0B6E4F"/>
                </a:solidFill>
                <a:latin typeface="Calibri"/>
                <a:cs typeface="Calibri"/>
              </a:rPr>
              <a:t xml:space="preserve">BM_DEP</a:t>
            </a:r>
          </a:p>
        </p:txBody>
      </p:sp>
      <p:sp>
        <p:nvSpPr>
          <p:cNvPr id="1336" name="Row band"/>
          <p:cNvSpPr/>
          <p:nvPr/>
        </p:nvSpPr>
        <p:spPr>
          <a:xfrm>
            <a:off x="1060704" y="4668012"/>
            <a:ext cx="2541912" cy="173736"/>
          </a:xfrm>
          <a:prstGeom prst="rect">
            <a:avLst/>
          </a:prstGeom>
          <a:solidFill>
            <a:srgbClr val="D7EDE2"/>
          </a:solidFill>
          <a:ln>
            <a:noFill/>
          </a:ln>
        </p:spPr>
        <p:txBody>
          <a:bodyPr wrap="square" lIns="0" tIns="0" rIns="0" bIns="0" anchor="t">
            <a:noAutofit/>
          </a:bodyPr>
          <a:lstStyle/>
          <a:p>
            <a:pPr algn="l"/>
          </a:p>
        </p:txBody>
      </p:sp>
      <p:sp>
        <p:nvSpPr>
          <p:cNvPr id="1337" name="Cell"/>
          <p:cNvSpPr txBox="1"/>
          <p:nvPr/>
        </p:nvSpPr>
        <p:spPr>
          <a:xfrm>
            <a:off x="1124712" y="4668012"/>
            <a:ext cx="105156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A1</a:t>
            </a:r>
          </a:p>
        </p:txBody>
      </p:sp>
      <p:sp>
        <p:nvSpPr>
          <p:cNvPr id="1338" name="Cell"/>
          <p:cNvSpPr txBox="1"/>
          <p:nvPr/>
        </p:nvSpPr>
        <p:spPr>
          <a:xfrm>
            <a:off x="2176272" y="4668012"/>
            <a:ext cx="86868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P1</a:t>
            </a:r>
          </a:p>
        </p:txBody>
      </p:sp>
      <p:sp>
        <p:nvSpPr>
          <p:cNvPr id="1339" name="Cell"/>
          <p:cNvSpPr txBox="1"/>
          <p:nvPr/>
        </p:nvSpPr>
        <p:spPr>
          <a:xfrm>
            <a:off x="3044952" y="4668012"/>
            <a:ext cx="64008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1</a:t>
            </a:r>
          </a:p>
        </p:txBody>
      </p:sp>
      <p:sp>
        <p:nvSpPr>
          <p:cNvPr id="1340" name="Cell"/>
          <p:cNvSpPr txBox="1"/>
          <p:nvPr/>
        </p:nvSpPr>
        <p:spPr>
          <a:xfrm>
            <a:off x="1124712" y="4855464"/>
            <a:ext cx="105156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A2</a:t>
            </a:r>
          </a:p>
        </p:txBody>
      </p:sp>
      <p:sp>
        <p:nvSpPr>
          <p:cNvPr id="1341" name="Cell"/>
          <p:cNvSpPr txBox="1"/>
          <p:nvPr/>
        </p:nvSpPr>
        <p:spPr>
          <a:xfrm>
            <a:off x="2176272" y="4855464"/>
            <a:ext cx="86868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P2</a:t>
            </a:r>
          </a:p>
        </p:txBody>
      </p:sp>
      <p:sp>
        <p:nvSpPr>
          <p:cNvPr id="1342" name="Cell"/>
          <p:cNvSpPr txBox="1"/>
          <p:nvPr/>
        </p:nvSpPr>
        <p:spPr>
          <a:xfrm>
            <a:off x="3044952" y="4855464"/>
            <a:ext cx="64008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0</a:t>
            </a:r>
          </a:p>
        </p:txBody>
      </p:sp>
      <p:sp>
        <p:nvSpPr>
          <p:cNvPr id="1343" name="Row band"/>
          <p:cNvSpPr/>
          <p:nvPr/>
        </p:nvSpPr>
        <p:spPr>
          <a:xfrm>
            <a:off x="1060704" y="5042916"/>
            <a:ext cx="2541912" cy="173736"/>
          </a:xfrm>
          <a:prstGeom prst="rect">
            <a:avLst/>
          </a:prstGeom>
          <a:solidFill>
            <a:srgbClr val="D7EDE2"/>
          </a:solidFill>
          <a:ln>
            <a:noFill/>
          </a:ln>
        </p:spPr>
        <p:txBody>
          <a:bodyPr wrap="square" lIns="0" tIns="0" rIns="0" bIns="0" anchor="t">
            <a:noAutofit/>
          </a:bodyPr>
          <a:lstStyle/>
          <a:p>
            <a:pPr algn="l"/>
          </a:p>
        </p:txBody>
      </p:sp>
      <p:sp>
        <p:nvSpPr>
          <p:cNvPr id="1344" name="Cell"/>
          <p:cNvSpPr txBox="1"/>
          <p:nvPr/>
        </p:nvSpPr>
        <p:spPr>
          <a:xfrm>
            <a:off x="1124712" y="5042916"/>
            <a:ext cx="105156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A3</a:t>
            </a:r>
          </a:p>
        </p:txBody>
      </p:sp>
      <p:sp>
        <p:nvSpPr>
          <p:cNvPr id="1345" name="Cell"/>
          <p:cNvSpPr txBox="1"/>
          <p:nvPr/>
        </p:nvSpPr>
        <p:spPr>
          <a:xfrm>
            <a:off x="2176272" y="5042916"/>
            <a:ext cx="86868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P3</a:t>
            </a:r>
          </a:p>
        </p:txBody>
      </p:sp>
      <p:sp>
        <p:nvSpPr>
          <p:cNvPr id="1346" name="Cell"/>
          <p:cNvSpPr txBox="1"/>
          <p:nvPr/>
        </p:nvSpPr>
        <p:spPr>
          <a:xfrm>
            <a:off x="3044952" y="5042916"/>
            <a:ext cx="640080" cy="173736"/>
          </a:xfrm>
          <a:prstGeom prst="rect">
            <a:avLst/>
          </a:prstGeom>
          <a:noFill/>
          <a:ln>
            <a:noFill/>
          </a:ln>
        </p:spPr>
        <p:txBody>
          <a:bodyPr wrap="square" lIns="0" tIns="0" rIns="0" bIns="0" anchor="ctr">
            <a:noAutofit/>
          </a:bodyPr>
          <a:lstStyle/>
          <a:p>
            <a:pPr algn="l"/>
            <a:r>
              <a:rPr lang="en-US" sz="1050" b="0" i="0" dirty="0">
                <a:solidFill>
                  <a:srgbClr val="1F2328"/>
                </a:solidFill>
                <a:latin typeface="Consolas"/>
                <a:cs typeface="Consolas"/>
              </a:rPr>
              <a:t xml:space="preserve">1</a:t>
            </a:r>
          </a:p>
        </p:txBody>
      </p:sp>
      <p:sp>
        <p:nvSpPr>
          <p:cNvPr id="1347" name="Bridge"/>
          <p:cNvSpPr txBox="1"/>
          <p:nvPr/>
        </p:nvSpPr>
        <p:spPr>
          <a:xfrm>
            <a:off x="4425696" y="4526280"/>
            <a:ext cx="2423040" cy="566928"/>
          </a:xfrm>
          <a:prstGeom prst="rect">
            <a:avLst/>
          </a:prstGeom>
          <a:noFill/>
          <a:ln>
            <a:noFill/>
          </a:ln>
        </p:spPr>
        <p:txBody>
          <a:bodyPr wrap="square" lIns="0" tIns="0" rIns="0" bIns="0" anchor="t">
            <a:noAutofit/>
          </a:bodyPr>
          <a:lstStyle/>
          <a:p>
            <a:pPr algn="l"/>
            <a:r>
              <a:rPr lang="en-US" sz="1200" b="0" i="0" dirty="0">
                <a:solidFill>
                  <a:srgbClr val="3A434C"/>
                </a:solidFill>
                <a:latin typeface="Calibri"/>
                <a:cs typeface="Calibri"/>
              </a:rPr>
              <a:t xml:space="preserve">Data and label point the same way: a link worth checking.</a:t>
            </a:r>
          </a:p>
        </p:txBody>
      </p:sp>
      <p:sp>
        <p:nvSpPr>
          <p:cNvPr id="1348" name="Code panel"/>
          <p:cNvSpPr/>
          <p:nvPr/>
        </p:nvSpPr>
        <p:spPr>
          <a:xfrm>
            <a:off x="7534656" y="2999232"/>
            <a:ext cx="3666780" cy="1883664"/>
          </a:xfrm>
          <a:prstGeom prst="roundRect">
            <a:avLst>
              <a:gd name="adj" fmla="val 9000"/>
            </a:avLst>
          </a:prstGeom>
          <a:solidFill>
            <a:srgbClr val="F6F8FA"/>
          </a:solidFill>
          <a:ln w="9525">
            <a:solidFill>
              <a:srgbClr val="D0D7DE"/>
            </a:solidFill>
          </a:ln>
        </p:spPr>
        <p:txBody>
          <a:bodyPr wrap="square" lIns="0" tIns="0" rIns="0" bIns="0" anchor="ctr">
            <a:noAutofit/>
          </a:bodyPr>
          <a:lstStyle/>
          <a:p>
            <a:endParaRPr lang="en-US"/>
          </a:p>
        </p:txBody>
      </p:sp>
      <p:sp>
        <p:nvSpPr>
          <p:cNvPr id="1349" name="Code line 1349"/>
          <p:cNvSpPr txBox="1"/>
          <p:nvPr/>
        </p:nvSpPr>
        <p:spPr>
          <a:xfrm>
            <a:off x="7534656" y="3072384"/>
            <a:ext cx="3621060" cy="173736"/>
          </a:xfrm>
          <a:prstGeom prst="rect">
            <a:avLst/>
          </a:prstGeom>
          <a:noFill/>
        </p:spPr>
        <p:txBody>
          <a:bodyPr wrap="none" lIns="146304" tIns="0" rIns="0" bIns="0" anchor="ctr">
            <a:noAutofit/>
          </a:bodyPr>
          <a:lstStyle/>
          <a:p>
            <a:pPr>
              <a:tabLst>
                <a:tab pos="4224528" algn="l"/>
              </a:tabLst>
            </a:pPr>
            <a:r>
              <a:rPr lang="en-US" sz="1050" b="1" i="0" dirty="0">
                <a:solidFill>
                  <a:srgbClr val="0B6E4F"/>
                </a:solidFill>
                <a:latin typeface="Consolas"/>
                <a:cs typeface="Consolas"/>
              </a:rPr>
              <a:t xml:space="preserve">Individual:</a:t>
            </a:r>
            <a:r>
              <a:rPr lang="en-US" sz="1050" b="0" i="0" dirty="0">
                <a:solidFill>
                  <a:srgbClr val="1F2328"/>
                </a:solidFill>
                <a:latin typeface="Consolas"/>
                <a:cs typeface="Consolas"/>
              </a:rPr>
              <a:t xml:space="preserve"> </a:t>
            </a:r>
            <a:r>
              <a:rPr lang="en-US" sz="1050" b="0" i="0" dirty="0">
                <a:solidFill>
                  <a:srgbClr val="1F2328"/>
                </a:solidFill>
                <a:latin typeface="Consolas"/>
                <a:cs typeface="Consolas"/>
              </a:rPr>
              <a:t xml:space="preserve">cisplatin_bmdep</a:t>
            </a:r>
            <a:endParaRPr lang="en-US" sz="1050"/>
          </a:p>
        </p:txBody>
      </p:sp>
      <p:sp>
        <p:nvSpPr>
          <p:cNvPr id="1350" name="Code line 1350"/>
          <p:cNvSpPr txBox="1"/>
          <p:nvPr/>
        </p:nvSpPr>
        <p:spPr>
          <a:xfrm>
            <a:off x="7534656" y="3246120"/>
            <a:ext cx="3621060" cy="173736"/>
          </a:xfrm>
          <a:prstGeom prst="rect">
            <a:avLst/>
          </a:prstGeom>
          <a:noFill/>
        </p:spPr>
        <p:txBody>
          <a:bodyPr wrap="none" lIns="146304" tIns="0" rIns="0" bIns="0" anchor="ctr">
            <a:noAutofit/>
          </a:bodyPr>
          <a:lstStyle/>
          <a:p>
            <a:pPr>
              <a:tabLst>
                <a:tab pos="4224528" algn="l"/>
              </a:tabLst>
            </a:pPr>
            <a:r>
              <a:rPr lang="en-US" sz="1050" b="0" i="0" dirty="0">
                <a:solidFill>
                  <a:srgbClr val="1F2328"/>
                </a:solidFill>
                <a:latin typeface="Consolas"/>
                <a:cs typeface="Consolas"/>
              </a:rPr>
              <a:t xml:space="preserve">  </a:t>
            </a:r>
            <a:r>
              <a:rPr lang="en-US" sz="1050" b="1" i="0" dirty="0">
                <a:solidFill>
                  <a:srgbClr val="0B6E4F"/>
                </a:solidFill>
                <a:latin typeface="Consolas"/>
                <a:cs typeface="Consolas"/>
              </a:rPr>
              <a:t xml:space="preserve">Types:</a:t>
            </a:r>
            <a:r>
              <a:rPr lang="en-US" sz="1050" b="0" i="0" dirty="0">
                <a:solidFill>
                  <a:srgbClr val="1F2328"/>
                </a:solidFill>
                <a:latin typeface="Consolas"/>
                <a:cs typeface="Consolas"/>
              </a:rPr>
              <a:t xml:space="preserve"> </a:t>
            </a:r>
            <a:r>
              <a:rPr lang="en-US" sz="1050" b="0" i="0" dirty="0">
                <a:solidFill>
                  <a:srgbClr val="1F2328"/>
                </a:solidFill>
                <a:latin typeface="Consolas"/>
                <a:cs typeface="Consolas"/>
              </a:rPr>
              <a:t xml:space="preserve">CandidateAssociation</a:t>
            </a:r>
            <a:endParaRPr lang="en-US" sz="1050"/>
          </a:p>
        </p:txBody>
      </p:sp>
      <p:sp>
        <p:nvSpPr>
          <p:cNvPr id="1351" name="Code line 1351"/>
          <p:cNvSpPr txBox="1"/>
          <p:nvPr/>
        </p:nvSpPr>
        <p:spPr>
          <a:xfrm>
            <a:off x="7534656" y="3419856"/>
            <a:ext cx="3621060" cy="173736"/>
          </a:xfrm>
          <a:prstGeom prst="rect">
            <a:avLst/>
          </a:prstGeom>
          <a:noFill/>
        </p:spPr>
        <p:txBody>
          <a:bodyPr wrap="none" lIns="146304" tIns="0" rIns="0" bIns="0" anchor="ctr">
            <a:noAutofit/>
          </a:bodyPr>
          <a:lstStyle/>
          <a:p>
            <a:pPr>
              <a:tabLst>
                <a:tab pos="4224528" algn="l"/>
              </a:tabLst>
            </a:pPr>
            <a:r>
              <a:rPr lang="en-US" sz="1050" b="0" i="0" dirty="0">
                <a:solidFill>
                  <a:srgbClr val="1F2328"/>
                </a:solidFill>
                <a:latin typeface="Consolas"/>
                <a:cs typeface="Consolas"/>
              </a:rPr>
              <a:t xml:space="preserve">  </a:t>
            </a:r>
            <a:r>
              <a:rPr lang="en-US" sz="1050" b="1" i="0" dirty="0">
                <a:solidFill>
                  <a:srgbClr val="0B6E4F"/>
                </a:solidFill>
                <a:latin typeface="Consolas"/>
                <a:cs typeface="Consolas"/>
              </a:rPr>
              <a:t xml:space="preserve">Facts:</a:t>
            </a:r>
            <a:endParaRPr lang="en-US" sz="1050"/>
          </a:p>
        </p:txBody>
      </p:sp>
      <p:sp>
        <p:nvSpPr>
          <p:cNvPr id="1352" name="Code line 1352"/>
          <p:cNvSpPr txBox="1"/>
          <p:nvPr/>
        </p:nvSpPr>
        <p:spPr>
          <a:xfrm>
            <a:off x="7534656" y="3593591"/>
            <a:ext cx="3621060" cy="173736"/>
          </a:xfrm>
          <a:prstGeom prst="rect">
            <a:avLst/>
          </a:prstGeom>
          <a:noFill/>
        </p:spPr>
        <p:txBody>
          <a:bodyPr wrap="none" lIns="146304" tIns="0" rIns="0" bIns="0" anchor="ctr">
            <a:noAutofit/>
          </a:bodyPr>
          <a:lstStyle/>
          <a:p>
            <a:pPr>
              <a:tabLst>
                <a:tab pos="4224528" algn="l"/>
              </a:tabLst>
            </a:pPr>
            <a:r>
              <a:rPr lang="en-US" sz="1050" b="0" i="0" dirty="0">
                <a:solidFill>
                  <a:srgbClr val="1F2328"/>
                </a:solidFill>
                <a:latin typeface="Consolas"/>
                <a:cs typeface="Consolas"/>
              </a:rPr>
              <a:t xml:space="preserve">    </a:t>
            </a:r>
            <a:r>
              <a:rPr lang="en-US" sz="1050" b="0" i="0" dirty="0">
                <a:solidFill>
                  <a:srgbClr val="1F2328"/>
                </a:solidFill>
                <a:latin typeface="Consolas"/>
                <a:cs typeface="Consolas"/>
              </a:rPr>
              <a:t xml:space="preserve">hasDrug</a:t>
            </a:r>
            <a:r>
              <a:rPr lang="en-US" sz="1050" b="0" i="0" dirty="0">
                <a:solidFill>
                  <a:srgbClr val="1F2328"/>
                </a:solidFill>
                <a:latin typeface="Consolas"/>
                <a:cs typeface="Consolas"/>
              </a:rPr>
              <a:t xml:space="preserve"> </a:t>
            </a:r>
            <a:r>
              <a:rPr lang="en-US" sz="1050" b="0" i="0" dirty="0">
                <a:solidFill>
                  <a:srgbClr val="1F2328"/>
                </a:solidFill>
                <a:latin typeface="Consolas"/>
                <a:cs typeface="Consolas"/>
              </a:rPr>
              <a:t xml:space="preserve">Cisplatin</a:t>
            </a:r>
            <a:r>
              <a:rPr lang="en-US" sz="1050" b="0" i="0" dirty="0">
                <a:solidFill>
                  <a:srgbClr val="1F2328"/>
                </a:solidFill>
                <a:latin typeface="Consolas"/>
                <a:cs typeface="Consolas"/>
              </a:rPr>
              <a:t xml:space="preserve">,</a:t>
            </a:r>
            <a:endParaRPr lang="en-US" sz="1050"/>
          </a:p>
        </p:txBody>
      </p:sp>
      <p:sp>
        <p:nvSpPr>
          <p:cNvPr id="1353" name="Code line 1353"/>
          <p:cNvSpPr txBox="1"/>
          <p:nvPr/>
        </p:nvSpPr>
        <p:spPr>
          <a:xfrm>
            <a:off x="7534656" y="3767328"/>
            <a:ext cx="3621060" cy="173736"/>
          </a:xfrm>
          <a:prstGeom prst="rect">
            <a:avLst/>
          </a:prstGeom>
          <a:noFill/>
        </p:spPr>
        <p:txBody>
          <a:bodyPr wrap="none" lIns="146304" tIns="0" rIns="0" bIns="0" anchor="ctr">
            <a:noAutofit/>
          </a:bodyPr>
          <a:lstStyle/>
          <a:p>
            <a:pPr>
              <a:tabLst>
                <a:tab pos="4224528" algn="l"/>
              </a:tabLst>
            </a:pPr>
            <a:r>
              <a:rPr lang="en-US" sz="1050" b="0" i="0" dirty="0">
                <a:solidFill>
                  <a:srgbClr val="1F2328"/>
                </a:solidFill>
                <a:latin typeface="Consolas"/>
                <a:cs typeface="Consolas"/>
              </a:rPr>
              <a:t xml:space="preserve">    </a:t>
            </a:r>
            <a:r>
              <a:rPr lang="en-US" sz="1050" b="0" i="0" dirty="0">
                <a:solidFill>
                  <a:srgbClr val="1F2328"/>
                </a:solidFill>
                <a:latin typeface="Consolas"/>
                <a:cs typeface="Consolas"/>
              </a:rPr>
              <a:t xml:space="preserve">hasCondition</a:t>
            </a:r>
            <a:r>
              <a:rPr lang="en-US" sz="1050" b="0" i="0" dirty="0">
                <a:solidFill>
                  <a:srgbClr val="1F2328"/>
                </a:solidFill>
                <a:latin typeface="Consolas"/>
                <a:cs typeface="Consolas"/>
              </a:rPr>
              <a:t xml:space="preserve"> </a:t>
            </a:r>
            <a:r>
              <a:rPr lang="en-US" sz="1050" b="0" i="0" dirty="0">
                <a:solidFill>
                  <a:srgbClr val="1F2328"/>
                </a:solidFill>
                <a:latin typeface="Consolas"/>
                <a:cs typeface="Consolas"/>
              </a:rPr>
              <a:t xml:space="preserve">BoneMarrowDepression</a:t>
            </a:r>
            <a:r>
              <a:rPr lang="en-US" sz="1050" b="0" i="0" dirty="0">
                <a:solidFill>
                  <a:srgbClr val="1F2328"/>
                </a:solidFill>
                <a:latin typeface="Consolas"/>
                <a:cs typeface="Consolas"/>
              </a:rPr>
              <a:t xml:space="preserve">,</a:t>
            </a:r>
            <a:endParaRPr lang="en-US" sz="1050"/>
          </a:p>
        </p:txBody>
      </p:sp>
      <p:sp>
        <p:nvSpPr>
          <p:cNvPr id="1354" name="Code line 1354"/>
          <p:cNvSpPr txBox="1"/>
          <p:nvPr/>
        </p:nvSpPr>
        <p:spPr>
          <a:xfrm>
            <a:off x="7534656" y="3941063"/>
            <a:ext cx="3621060" cy="173736"/>
          </a:xfrm>
          <a:prstGeom prst="rect">
            <a:avLst/>
          </a:prstGeom>
          <a:noFill/>
        </p:spPr>
        <p:txBody>
          <a:bodyPr wrap="none" lIns="146304" tIns="0" rIns="0" bIns="0" anchor="ctr">
            <a:noAutofit/>
          </a:bodyPr>
          <a:lstStyle/>
          <a:p>
            <a:pPr>
              <a:tabLst>
                <a:tab pos="4224528" algn="l"/>
              </a:tabLst>
            </a:pPr>
            <a:r>
              <a:rPr lang="en-US" sz="1050" b="0" i="0" dirty="0">
                <a:solidFill>
                  <a:srgbClr val="1F2328"/>
                </a:solidFill>
                <a:latin typeface="Consolas"/>
                <a:cs typeface="Consolas"/>
              </a:rPr>
              <a:t xml:space="preserve">    </a:t>
            </a:r>
            <a:r>
              <a:rPr lang="en-US" sz="1050" b="0" i="0" dirty="0">
                <a:solidFill>
                  <a:srgbClr val="1F2328"/>
                </a:solidFill>
                <a:latin typeface="Consolas"/>
                <a:cs typeface="Consolas"/>
              </a:rPr>
              <a:t xml:space="preserve">status</a:t>
            </a:r>
            <a:r>
              <a:rPr lang="en-US" sz="1050" b="0" i="0" dirty="0">
                <a:solidFill>
                  <a:srgbClr val="1F2328"/>
                </a:solidFill>
                <a:latin typeface="Consolas"/>
                <a:cs typeface="Consolas"/>
              </a:rPr>
              <a:t xml:space="preserve"> </a:t>
            </a:r>
            <a:r>
              <a:rPr lang="en-US" sz="1050" b="0" i="0" dirty="0">
                <a:solidFill>
                  <a:srgbClr val="A3401E"/>
                </a:solidFill>
                <a:latin typeface="Consolas"/>
                <a:cs typeface="Consolas"/>
              </a:rPr>
              <a:t xml:space="preserve">"needs expert review"</a:t>
            </a:r>
            <a:endParaRPr lang="en-US" sz="1050"/>
          </a:p>
        </p:txBody>
      </p:sp>
      <p:sp>
        <p:nvSpPr>
          <p:cNvPr id="1355" name="Code line 1355"/>
          <p:cNvSpPr txBox="1"/>
          <p:nvPr/>
        </p:nvSpPr>
        <p:spPr>
          <a:xfrm>
            <a:off x="7534656" y="4114800"/>
            <a:ext cx="3621060" cy="173736"/>
          </a:xfrm>
          <a:prstGeom prst="rect">
            <a:avLst/>
          </a:prstGeom>
          <a:noFill/>
        </p:spPr>
        <p:txBody>
          <a:bodyPr wrap="none" lIns="146304" tIns="0" rIns="0" bIns="0" anchor="ctr">
            <a:noAutofit/>
          </a:bodyPr>
          <a:lstStyle/>
          <a:p>
            <a:pPr>
              <a:tabLst>
                <a:tab pos="4224528" algn="l"/>
              </a:tabLst>
            </a:pPr>
            <a:r>
              <a:rPr lang="en-US" sz="1050" b="0" i="0" dirty="0">
                <a:solidFill>
                  <a:srgbClr val="1F2328"/>
                </a:solidFill>
                <a:latin typeface="Consolas"/>
                <a:cs typeface="Consolas"/>
              </a:rPr>
              <a:t xml:space="preserve">  </a:t>
            </a:r>
            <a:r>
              <a:rPr lang="en-US" sz="1050" b="1" i="0" dirty="0">
                <a:solidFill>
                  <a:srgbClr val="0B6E4F"/>
                </a:solidFill>
                <a:latin typeface="Consolas"/>
                <a:cs typeface="Consolas"/>
              </a:rPr>
              <a:t xml:space="preserve">Annotations:</a:t>
            </a:r>
            <a:endParaRPr lang="en-US" sz="1050"/>
          </a:p>
        </p:txBody>
      </p:sp>
      <p:sp>
        <p:nvSpPr>
          <p:cNvPr id="1356" name="Code line 1356"/>
          <p:cNvSpPr txBox="1"/>
          <p:nvPr/>
        </p:nvSpPr>
        <p:spPr>
          <a:xfrm>
            <a:off x="7534656" y="4288536"/>
            <a:ext cx="3621060" cy="173736"/>
          </a:xfrm>
          <a:prstGeom prst="rect">
            <a:avLst/>
          </a:prstGeom>
          <a:noFill/>
        </p:spPr>
        <p:txBody>
          <a:bodyPr wrap="none" lIns="146304" tIns="0" rIns="0" bIns="0" anchor="ctr">
            <a:noAutofit/>
          </a:bodyPr>
          <a:lstStyle/>
          <a:p>
            <a:pPr>
              <a:tabLst>
                <a:tab pos="4224528" algn="l"/>
              </a:tabLst>
            </a:pPr>
            <a:r>
              <a:rPr lang="en-US" sz="1050" b="0" i="0" dirty="0">
                <a:solidFill>
                  <a:srgbClr val="1F2328"/>
                </a:solidFill>
                <a:latin typeface="Consolas"/>
                <a:cs typeface="Consolas"/>
              </a:rPr>
              <a:t xml:space="preserve">    </a:t>
            </a:r>
            <a:r>
              <a:rPr lang="en-US" sz="1050" b="0" i="0" dirty="0">
                <a:solidFill>
                  <a:srgbClr val="5B6770"/>
                </a:solidFill>
                <a:latin typeface="Consolas"/>
                <a:cs typeface="Consolas"/>
              </a:rPr>
              <a:t xml:space="preserve">prov:wasDerivedFrom</a:t>
            </a:r>
            <a:r>
              <a:rPr lang="en-US" sz="1050" b="0" i="0" dirty="0">
                <a:solidFill>
                  <a:srgbClr val="1F2328"/>
                </a:solidFill>
                <a:latin typeface="Consolas"/>
                <a:cs typeface="Consolas"/>
              </a:rPr>
              <a:t xml:space="preserve"> </a:t>
            </a:r>
            <a:r>
              <a:rPr lang="en-US" sz="1050" b="0" i="0" dirty="0">
                <a:solidFill>
                  <a:srgbClr val="2F6B78"/>
                </a:solidFill>
                <a:latin typeface="Consolas"/>
                <a:cs typeface="Consolas"/>
              </a:rPr>
              <a:t xml:space="preserve">admission:BM_DEP</a:t>
            </a:r>
            <a:r>
              <a:rPr lang="en-US" sz="1050" b="0" i="0" dirty="0">
                <a:solidFill>
                  <a:srgbClr val="1F2328"/>
                </a:solidFill>
                <a:latin typeface="Consolas"/>
                <a:cs typeface="Consolas"/>
              </a:rPr>
              <a:t xml:space="preserve">,</a:t>
            </a:r>
            <a:endParaRPr lang="en-US" sz="1050"/>
          </a:p>
        </p:txBody>
      </p:sp>
      <p:sp>
        <p:nvSpPr>
          <p:cNvPr id="1357" name="Code line 1357"/>
          <p:cNvSpPr txBox="1"/>
          <p:nvPr/>
        </p:nvSpPr>
        <p:spPr>
          <a:xfrm>
            <a:off x="7534656" y="4462272"/>
            <a:ext cx="3621060" cy="173736"/>
          </a:xfrm>
          <a:prstGeom prst="rect">
            <a:avLst/>
          </a:prstGeom>
          <a:noFill/>
        </p:spPr>
        <p:txBody>
          <a:bodyPr wrap="none" lIns="146304" tIns="0" rIns="0" bIns="0" anchor="ctr">
            <a:noAutofit/>
          </a:bodyPr>
          <a:lstStyle/>
          <a:p>
            <a:pPr>
              <a:tabLst>
                <a:tab pos="4224528" algn="l"/>
              </a:tabLst>
            </a:pPr>
            <a:r>
              <a:rPr lang="en-US" sz="1050" b="0" i="0" dirty="0">
                <a:solidFill>
                  <a:srgbClr val="1F2328"/>
                </a:solidFill>
                <a:latin typeface="Consolas"/>
                <a:cs typeface="Consolas"/>
              </a:rPr>
              <a:t xml:space="preserve">    </a:t>
            </a:r>
            <a:r>
              <a:rPr lang="en-US" sz="1050" b="0" i="0" dirty="0">
                <a:solidFill>
                  <a:srgbClr val="5B6770"/>
                </a:solidFill>
                <a:latin typeface="Consolas"/>
                <a:cs typeface="Consolas"/>
              </a:rPr>
              <a:t xml:space="preserve">prov:wasDerivedFrom</a:t>
            </a:r>
            <a:r>
              <a:rPr lang="en-US" sz="1050" b="0" i="0" dirty="0">
                <a:solidFill>
                  <a:srgbClr val="1F2328"/>
                </a:solidFill>
                <a:latin typeface="Consolas"/>
                <a:cs typeface="Consolas"/>
              </a:rPr>
              <a:t xml:space="preserve"> </a:t>
            </a:r>
            <a:r>
              <a:rPr lang="en-US" sz="1050" b="0" i="0" dirty="0">
                <a:solidFill>
                  <a:srgbClr val="2F6B78"/>
                </a:solidFill>
                <a:latin typeface="Consolas"/>
                <a:cs typeface="Consolas"/>
              </a:rPr>
              <a:t xml:space="preserve">treatment:drug</a:t>
            </a:r>
            <a:r>
              <a:rPr lang="en-US" sz="1050" b="0" i="0" dirty="0">
                <a:solidFill>
                  <a:srgbClr val="1F2328"/>
                </a:solidFill>
                <a:latin typeface="Consolas"/>
                <a:cs typeface="Consolas"/>
              </a:rPr>
              <a:t xml:space="preserve">,</a:t>
            </a:r>
            <a:endParaRPr lang="en-US" sz="1050"/>
          </a:p>
        </p:txBody>
      </p:sp>
      <p:sp>
        <p:nvSpPr>
          <p:cNvPr id="1358" name="Code line 1358"/>
          <p:cNvSpPr txBox="1"/>
          <p:nvPr/>
        </p:nvSpPr>
        <p:spPr>
          <a:xfrm>
            <a:off x="7534656" y="4636008"/>
            <a:ext cx="3621060" cy="173736"/>
          </a:xfrm>
          <a:prstGeom prst="rect">
            <a:avLst/>
          </a:prstGeom>
          <a:noFill/>
        </p:spPr>
        <p:txBody>
          <a:bodyPr wrap="none" lIns="146304" tIns="0" rIns="0" bIns="0" anchor="ctr">
            <a:noAutofit/>
          </a:bodyPr>
          <a:lstStyle/>
          <a:p>
            <a:pPr>
              <a:tabLst>
                <a:tab pos="4224528" algn="l"/>
              </a:tabLst>
            </a:pPr>
            <a:r>
              <a:rPr lang="en-US" sz="1050" b="0" i="0" dirty="0">
                <a:solidFill>
                  <a:srgbClr val="1F2328"/>
                </a:solidFill>
                <a:latin typeface="Consolas"/>
                <a:cs typeface="Consolas"/>
              </a:rPr>
              <a:t xml:space="preserve">    </a:t>
            </a:r>
            <a:r>
              <a:rPr lang="en-US" sz="1050" b="0" i="0" dirty="0">
                <a:solidFill>
                  <a:srgbClr val="5B6770"/>
                </a:solidFill>
                <a:latin typeface="Consolas"/>
                <a:cs typeface="Consolas"/>
              </a:rPr>
              <a:t xml:space="preserve">prov:wasDerivedFrom</a:t>
            </a:r>
            <a:r>
              <a:rPr lang="en-US" sz="1050" b="0" i="0" dirty="0">
                <a:solidFill>
                  <a:srgbClr val="1F2328"/>
                </a:solidFill>
                <a:latin typeface="Consolas"/>
                <a:cs typeface="Consolas"/>
              </a:rPr>
              <a:t xml:space="preserve"> </a:t>
            </a:r>
            <a:r>
              <a:rPr lang="en-US" sz="1050" b="0" i="0" dirty="0">
                <a:solidFill>
                  <a:srgbClr val="2F6B78"/>
                </a:solidFill>
                <a:latin typeface="Consolas"/>
                <a:cs typeface="Consolas"/>
              </a:rPr>
              <a:t xml:space="preserve">doc:cisplatin_label</a:t>
            </a:r>
            <a:endParaRPr lang="en-US" sz="1050"/>
          </a:p>
        </p:txBody>
      </p:sp>
    </p:spTree>
  </p:cSld>
  <p:clrMapOvr>
    <a:masterClrMapping/>
  </p:clrMapOvr>
</p:sld>
</file>

<file path=ppt/theme/theme1.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2026-10-26T00:50:16Z</dcterms:created>
</cp:coreProperties>
</file>