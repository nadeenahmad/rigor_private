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83" r:id="rId32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32" Type="http://schemas.openxmlformats.org/officeDocument/2006/relationships/slide" Target="slides/slide2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6" name="Google Shape;1286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[11:58–13:08]  SPOKEN SCRIPT (119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next? First, close the loop. The tools we evaluated with, OOPS! and the reasoner, only looked at the final ontologies, which is why a few pitfalls slipped through. Next, they flag each error while RIGOR builds. We started this in NeOn-GPT, and it is already live in our RIGOR App demo. [pause] Then, let the data speak. Remember BM_DEP? Without documentation, the name alone is a guess. The data gives two clues: it is only ever zero or one, so it is a flag; and it is one exactly when the patient received cisplatin, a chemotherapy known to suppress the bone marrow. So RIGOR can propose: bone marrow depression, with provenance to both columns, for an expert to confirm.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Strip first; then the '?' on BM_DEP, the two clues, and the reveal.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Close the loop with tool feedback; let instance data explain cryptic columns.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5 (tool feedback in the loop; instance-level signals for cryptic columns when documentation is missing). NeOn-GPT (ESWC 2024), Extended NeOn-GPT (SWJ 2026), RIGOR App (ISWC 2026 Demos). Rows are synthetic. OWL verified (presentation/excerpts/slide22_future_candidate.omn).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"which is why a few pitfalls slipped through"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'WHY NOT JUST ASK THE LLM WHAT BM_DEP MEANS?': from the name alone it is a guess. The data narrows it down: a 0/1 flag that switches on with cisplatin. That is evidence, and we keep provenance to both columns.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ABOUT PRIVACY: only aggregate statistics (value ranges, co-occurrence) need to leave the database, not patient rows.</a:t>
            </a:r>
          </a:p>
        </p:txBody>
      </p:sp>
      <p:sp>
        <p:nvSpPr>
          <p:cNvPr id="1287" name="Google Shape;1287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Icon" Type="http://schemas.openxmlformats.org/officeDocument/2006/relationships/image" Target="../media/image3.png"/></Relationships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22"/>
          <p:cNvSpPr txBox="1"/>
          <p:nvPr/>
        </p:nvSpPr>
        <p:spPr>
          <a:xfrm>
            <a:off x="813816" y="493776"/>
            <a:ext cx="10607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FUTURE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22"/>
          <p:cNvSpPr txBox="1"/>
          <p:nvPr/>
        </p:nvSpPr>
        <p:spPr>
          <a:xfrm>
            <a:off x="813816" y="923544"/>
            <a:ext cx="10698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Next: close the loop, and let the data speak.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Loop strip"/>
          <p:cNvSpPr/>
          <p:nvPr/>
        </p:nvSpPr>
        <p:spPr>
          <a:xfrm>
            <a:off x="804672" y="1645920"/>
            <a:ext cx="10579608" cy="566928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pic>
        <p:nvPicPr>
          <p:cNvPr id="1292" name="Icon" descr="Graph validation icon"/>
          <p:cNvPicPr>
            <a:picLocks noChangeAspect="1"/>
          </p:cNvPicPr>
          <p:nvPr/>
        </p:nvPicPr>
        <p:blipFill>
          <a:blip r:embed="rIdIcon"/>
          <a:stretch>
            <a:fillRect/>
          </a:stretch>
        </p:blipFill>
        <p:spPr>
          <a:xfrm>
            <a:off x="932688" y="1700784"/>
            <a:ext cx="457200" cy="457200"/>
          </a:xfrm>
          <a:prstGeom prst="rect">
            <a:avLst/>
          </a:prstGeom>
        </p:spPr>
      </p:pic>
      <p:sp>
        <p:nvSpPr>
          <p:cNvPr id="1293" name="Loop text"/>
          <p:cNvSpPr txBox="1"/>
          <p:nvPr/>
        </p:nvSpPr>
        <p:spPr>
          <a:xfrm>
            <a:off x="1481328" y="1645920"/>
            <a:ext cx="97840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FIRST, MOVE THE EVALUATION TOOLS INTO THE LOOP   </a:t>
            </a:r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OOPS! and the reasoner only checked our final ontologies. Next, they flag each error while RIGOR builds, so the generator fixes it before merging.  </a:t>
            </a:r>
            <a:r>
              <a:rPr lang="en-US" sz="1250" b="1" i="1" dirty="0">
                <a:solidFill>
                  <a:srgbClr val="1F2328"/>
                </a:solidFill>
                <a:latin typeface="Calibri"/>
                <a:cs typeface="Calibri"/>
              </a:rPr>
              <a:t xml:space="preserve">Live in our RIGOR App demo.</a:t>
            </a:r>
          </a:p>
        </p:txBody>
      </p:sp>
      <p:sp>
        <p:nvSpPr>
          <p:cNvPr id="1294" name="Data lead"/>
          <p:cNvSpPr txBox="1"/>
          <p:nvPr/>
        </p:nvSpPr>
        <p:spPr>
          <a:xfrm>
            <a:off x="822960" y="2340864"/>
            <a:ext cx="10515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3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THEN, LET THE DATA SPEAK   </a:t>
            </a:r>
            <a:r>
              <a:rPr lang="en-US" sz="14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When documentation is missing, instance data can explain </a:t>
            </a:r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cryptic columns</a:t>
            </a:r>
            <a:r>
              <a:rPr lang="en-US" sz="14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.</a:t>
            </a:r>
          </a:p>
        </p:txBody>
      </p:sp>
      <p:sp>
        <p:nvSpPr>
          <p:cNvPr id="1295" name="Card"/>
          <p:cNvSpPr/>
          <p:nvPr/>
        </p:nvSpPr>
        <p:spPr>
          <a:xfrm>
            <a:off x="804672" y="2743200"/>
            <a:ext cx="32461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6" name="Card label"/>
          <p:cNvSpPr txBox="1"/>
          <p:nvPr/>
        </p:nvSpPr>
        <p:spPr>
          <a:xfrm>
            <a:off x="1033271" y="2907792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THE DATA</a:t>
            </a:r>
          </a:p>
        </p:txBody>
      </p:sp>
      <p:sp>
        <p:nvSpPr>
          <p:cNvPr id="1297" name="Question"/>
          <p:cNvSpPr txBox="1"/>
          <p:nvPr/>
        </p:nvSpPr>
        <p:spPr>
          <a:xfrm>
            <a:off x="1033271" y="3182112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What does </a:t>
            </a:r>
            <a:r>
              <a:rPr lang="en-US" sz="12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BM_DEP</a:t>
            </a:r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 mean?</a:t>
            </a:r>
          </a:p>
        </p:txBody>
      </p:sp>
      <p:sp>
        <p:nvSpPr>
          <p:cNvPr id="1298" name="Table treatment"/>
          <p:cNvSpPr/>
          <p:nvPr/>
        </p:nvSpPr>
        <p:spPr>
          <a:xfrm>
            <a:off x="941832" y="3493008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299" name="Table name"/>
          <p:cNvSpPr txBox="1"/>
          <p:nvPr/>
        </p:nvSpPr>
        <p:spPr>
          <a:xfrm>
            <a:off x="1078992" y="3520439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treatment</a:t>
            </a:r>
          </a:p>
        </p:txBody>
      </p:sp>
      <p:sp>
        <p:nvSpPr>
          <p:cNvPr id="1300" name="Rule"/>
          <p:cNvSpPr/>
          <p:nvPr/>
        </p:nvSpPr>
        <p:spPr>
          <a:xfrm>
            <a:off x="1078992" y="3785615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1" name="Column"/>
          <p:cNvSpPr txBox="1"/>
          <p:nvPr/>
        </p:nvSpPr>
        <p:spPr>
          <a:xfrm>
            <a:off x="1078992" y="381304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  <a:r>
              <a:rPr lang="en-US" sz="9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FK</a:t>
            </a:r>
          </a:p>
        </p:txBody>
      </p:sp>
      <p:sp>
        <p:nvSpPr>
          <p:cNvPr id="1302" name="Column"/>
          <p:cNvSpPr txBox="1"/>
          <p:nvPr/>
        </p:nvSpPr>
        <p:spPr>
          <a:xfrm>
            <a:off x="2130552" y="3813048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drug</a:t>
            </a:r>
          </a:p>
        </p:txBody>
      </p:sp>
      <p:sp>
        <p:nvSpPr>
          <p:cNvPr id="1303" name="Row band"/>
          <p:cNvSpPr/>
          <p:nvPr/>
        </p:nvSpPr>
        <p:spPr>
          <a:xfrm>
            <a:off x="1014984" y="4005072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4" name="Cell"/>
          <p:cNvSpPr txBox="1"/>
          <p:nvPr/>
        </p:nvSpPr>
        <p:spPr>
          <a:xfrm>
            <a:off x="1078992" y="400507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05" name="Cell"/>
          <p:cNvSpPr txBox="1"/>
          <p:nvPr/>
        </p:nvSpPr>
        <p:spPr>
          <a:xfrm>
            <a:off x="2130552" y="4005072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06" name="Cell"/>
          <p:cNvSpPr txBox="1"/>
          <p:nvPr/>
        </p:nvSpPr>
        <p:spPr>
          <a:xfrm>
            <a:off x="1078992" y="419252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07" name="Cell"/>
          <p:cNvSpPr txBox="1"/>
          <p:nvPr/>
        </p:nvSpPr>
        <p:spPr>
          <a:xfrm>
            <a:off x="2130552" y="4192524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nivolumab</a:t>
            </a:r>
          </a:p>
        </p:txBody>
      </p:sp>
      <p:sp>
        <p:nvSpPr>
          <p:cNvPr id="1308" name="Row band"/>
          <p:cNvSpPr/>
          <p:nvPr/>
        </p:nvSpPr>
        <p:spPr>
          <a:xfrm>
            <a:off x="1014984" y="4379976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9" name="Cell"/>
          <p:cNvSpPr txBox="1"/>
          <p:nvPr/>
        </p:nvSpPr>
        <p:spPr>
          <a:xfrm>
            <a:off x="1078992" y="4379976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10" name="Cell"/>
          <p:cNvSpPr txBox="1"/>
          <p:nvPr/>
        </p:nvSpPr>
        <p:spPr>
          <a:xfrm>
            <a:off x="2130552" y="4379976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11" name="Table admission"/>
          <p:cNvSpPr/>
          <p:nvPr/>
        </p:nvSpPr>
        <p:spPr>
          <a:xfrm>
            <a:off x="941832" y="4704588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12" name="Table name"/>
          <p:cNvSpPr txBox="1"/>
          <p:nvPr/>
        </p:nvSpPr>
        <p:spPr>
          <a:xfrm>
            <a:off x="1078992" y="4732020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admission</a:t>
            </a:r>
          </a:p>
        </p:txBody>
      </p:sp>
      <p:sp>
        <p:nvSpPr>
          <p:cNvPr id="1313" name="Rule"/>
          <p:cNvSpPr/>
          <p:nvPr/>
        </p:nvSpPr>
        <p:spPr>
          <a:xfrm>
            <a:off x="1078992" y="4997196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4" name="Column"/>
          <p:cNvSpPr txBox="1"/>
          <p:nvPr/>
        </p:nvSpPr>
        <p:spPr>
          <a:xfrm>
            <a:off x="1078992" y="5024627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</a:p>
        </p:txBody>
      </p:sp>
      <p:sp>
        <p:nvSpPr>
          <p:cNvPr id="1315" name="Column"/>
          <p:cNvSpPr txBox="1"/>
          <p:nvPr/>
        </p:nvSpPr>
        <p:spPr>
          <a:xfrm>
            <a:off x="2130552" y="5024627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patient_id</a:t>
            </a:r>
          </a:p>
        </p:txBody>
      </p:sp>
      <p:sp>
        <p:nvSpPr>
          <p:cNvPr id="1316" name="Column"/>
          <p:cNvSpPr txBox="1"/>
          <p:nvPr/>
        </p:nvSpPr>
        <p:spPr>
          <a:xfrm>
            <a:off x="2999232" y="5024627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BM_DEP</a:t>
            </a:r>
          </a:p>
        </p:txBody>
      </p:sp>
      <p:sp>
        <p:nvSpPr>
          <p:cNvPr id="1317" name="Question"/>
          <p:cNvSpPr/>
          <p:nvPr/>
        </p:nvSpPr>
        <p:spPr>
          <a:xfrm>
            <a:off x="3529584" y="5015483"/>
            <a:ext cx="201168" cy="201168"/>
          </a:xfrm>
          <a:prstGeom prst="ellipse">
            <a:avLst/>
          </a:prstGeom>
          <a:solidFill>
            <a:srgbClr val="93600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 xml:space="preserve">?</a:t>
            </a:r>
          </a:p>
        </p:txBody>
      </p:sp>
      <p:sp>
        <p:nvSpPr>
          <p:cNvPr id="1318" name="Row band"/>
          <p:cNvSpPr/>
          <p:nvPr/>
        </p:nvSpPr>
        <p:spPr>
          <a:xfrm>
            <a:off x="1014984" y="5216652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9" name="Cell"/>
          <p:cNvSpPr txBox="1"/>
          <p:nvPr/>
        </p:nvSpPr>
        <p:spPr>
          <a:xfrm>
            <a:off x="1078992" y="521665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20" name="Cell"/>
          <p:cNvSpPr txBox="1"/>
          <p:nvPr/>
        </p:nvSpPr>
        <p:spPr>
          <a:xfrm>
            <a:off x="2130552" y="5216652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P1</a:t>
            </a:r>
          </a:p>
        </p:txBody>
      </p:sp>
      <p:sp>
        <p:nvSpPr>
          <p:cNvPr id="1321" name="Cell"/>
          <p:cNvSpPr txBox="1"/>
          <p:nvPr/>
        </p:nvSpPr>
        <p:spPr>
          <a:xfrm>
            <a:off x="2999232" y="5216652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22" name="Cell"/>
          <p:cNvSpPr txBox="1"/>
          <p:nvPr/>
        </p:nvSpPr>
        <p:spPr>
          <a:xfrm>
            <a:off x="1078992" y="540410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23" name="Cell"/>
          <p:cNvSpPr txBox="1"/>
          <p:nvPr/>
        </p:nvSpPr>
        <p:spPr>
          <a:xfrm>
            <a:off x="2130552" y="5404104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P2</a:t>
            </a:r>
          </a:p>
        </p:txBody>
      </p:sp>
      <p:sp>
        <p:nvSpPr>
          <p:cNvPr id="1324" name="Cell"/>
          <p:cNvSpPr txBox="1"/>
          <p:nvPr/>
        </p:nvSpPr>
        <p:spPr>
          <a:xfrm>
            <a:off x="2999232" y="5404104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25" name="Row band"/>
          <p:cNvSpPr/>
          <p:nvPr/>
        </p:nvSpPr>
        <p:spPr>
          <a:xfrm>
            <a:off x="1014984" y="5591556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6" name="Cell"/>
          <p:cNvSpPr txBox="1"/>
          <p:nvPr/>
        </p:nvSpPr>
        <p:spPr>
          <a:xfrm>
            <a:off x="1078992" y="5591556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27" name="Cell"/>
          <p:cNvSpPr txBox="1"/>
          <p:nvPr/>
        </p:nvSpPr>
        <p:spPr>
          <a:xfrm>
            <a:off x="2130552" y="5591556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P3</a:t>
            </a:r>
          </a:p>
        </p:txBody>
      </p:sp>
      <p:sp>
        <p:nvSpPr>
          <p:cNvPr id="1328" name="Cell"/>
          <p:cNvSpPr txBox="1"/>
          <p:nvPr/>
        </p:nvSpPr>
        <p:spPr>
          <a:xfrm>
            <a:off x="2999232" y="5591556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29" name="Card"/>
          <p:cNvSpPr/>
          <p:nvPr/>
        </p:nvSpPr>
        <p:spPr>
          <a:xfrm>
            <a:off x="4379976" y="2743200"/>
            <a:ext cx="315468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0" name="Card label"/>
          <p:cNvSpPr txBox="1"/>
          <p:nvPr/>
        </p:nvSpPr>
        <p:spPr>
          <a:xfrm>
            <a:off x="4608576" y="2907792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THE CLUES</a:t>
            </a:r>
          </a:p>
        </p:txBody>
      </p:sp>
      <p:sp>
        <p:nvSpPr>
          <p:cNvPr id="1331" name="Clue"/>
          <p:cNvSpPr/>
          <p:nvPr/>
        </p:nvSpPr>
        <p:spPr>
          <a:xfrm>
            <a:off x="4517136" y="3310128"/>
            <a:ext cx="2880360" cy="118872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2" name="Magnifier ring"/>
          <p:cNvSpPr/>
          <p:nvPr/>
        </p:nvSpPr>
        <p:spPr>
          <a:xfrm>
            <a:off x="4636008" y="3438144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33" name="Magnifier handle"/>
          <p:cNvSpPr/>
          <p:nvPr/>
        </p:nvSpPr>
        <p:spPr>
          <a:xfrm rot="-2700000">
            <a:off x="4828763" y="3599809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34" name="Clue head"/>
          <p:cNvSpPr txBox="1"/>
          <p:nvPr/>
        </p:nvSpPr>
        <p:spPr>
          <a:xfrm>
            <a:off x="5038344" y="3401568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Only 0 and 1</a:t>
            </a:r>
          </a:p>
        </p:txBody>
      </p:sp>
      <p:sp>
        <p:nvSpPr>
          <p:cNvPr id="1335" name="Clue body"/>
          <p:cNvSpPr txBox="1"/>
          <p:nvPr/>
        </p:nvSpPr>
        <p:spPr>
          <a:xfrm>
            <a:off x="4654296" y="3913632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 yes/no flag, not a score.</a:t>
            </a:r>
          </a:p>
        </p:txBody>
      </p:sp>
      <p:sp>
        <p:nvSpPr>
          <p:cNvPr id="1336" name="Value bar"/>
          <p:cNvSpPr/>
          <p:nvPr/>
        </p:nvSpPr>
        <p:spPr>
          <a:xfrm>
            <a:off x="6757416" y="4151376"/>
            <a:ext cx="182880" cy="182880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7" name="Value label"/>
          <p:cNvSpPr txBox="1"/>
          <p:nvPr/>
        </p:nvSpPr>
        <p:spPr>
          <a:xfrm>
            <a:off x="6711696" y="434340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38" name="Value bar"/>
          <p:cNvSpPr/>
          <p:nvPr/>
        </p:nvSpPr>
        <p:spPr>
          <a:xfrm>
            <a:off x="7031736" y="3968496"/>
            <a:ext cx="182880" cy="36576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9" name="Value label"/>
          <p:cNvSpPr txBox="1"/>
          <p:nvPr/>
        </p:nvSpPr>
        <p:spPr>
          <a:xfrm>
            <a:off x="6986016" y="434340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40" name="Clue"/>
          <p:cNvSpPr/>
          <p:nvPr/>
        </p:nvSpPr>
        <p:spPr>
          <a:xfrm>
            <a:off x="4517136" y="4608576"/>
            <a:ext cx="2880360" cy="118872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41" name="Magnifier ring"/>
          <p:cNvSpPr/>
          <p:nvPr/>
        </p:nvSpPr>
        <p:spPr>
          <a:xfrm>
            <a:off x="4636008" y="4736592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42" name="Magnifier handle"/>
          <p:cNvSpPr/>
          <p:nvPr/>
        </p:nvSpPr>
        <p:spPr>
          <a:xfrm rot="-2700000">
            <a:off x="4828763" y="4898257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43" name="Clue head"/>
          <p:cNvSpPr txBox="1"/>
          <p:nvPr/>
        </p:nvSpPr>
        <p:spPr>
          <a:xfrm>
            <a:off x="5038344" y="4700016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 exactly when cisplatin was given</a:t>
            </a:r>
          </a:p>
        </p:txBody>
      </p:sp>
      <p:sp>
        <p:nvSpPr>
          <p:cNvPr id="1344" name="Clue body"/>
          <p:cNvSpPr txBox="1"/>
          <p:nvPr/>
        </p:nvSpPr>
        <p:spPr>
          <a:xfrm>
            <a:off x="4654296" y="5212080"/>
            <a:ext cx="260604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Cisplatin is a chemotherapy known to suppress the bone marrow.</a:t>
            </a:r>
          </a:p>
        </p:txBody>
      </p:sp>
      <p:sp>
        <p:nvSpPr>
          <p:cNvPr id="1345" name="Card"/>
          <p:cNvSpPr/>
          <p:nvPr/>
        </p:nvSpPr>
        <p:spPr>
          <a:xfrm>
            <a:off x="7863840" y="2743200"/>
            <a:ext cx="352044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46" name="Card label"/>
          <p:cNvSpPr txBox="1"/>
          <p:nvPr/>
        </p:nvSpPr>
        <p:spPr>
          <a:xfrm>
            <a:off x="8092440" y="2907792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THE ANSWER</a:t>
            </a:r>
          </a:p>
        </p:txBody>
      </p:sp>
      <p:sp>
        <p:nvSpPr>
          <p:cNvPr id="1347" name="Reveal key"/>
          <p:cNvSpPr txBox="1"/>
          <p:nvPr/>
        </p:nvSpPr>
        <p:spPr>
          <a:xfrm>
            <a:off x="8092440" y="3310128"/>
            <a:ext cx="3063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7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BM_DEP</a:t>
            </a:r>
            <a:r>
              <a:rPr lang="en-US" sz="17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 →</a:t>
            </a:r>
          </a:p>
        </p:txBody>
      </p:sp>
      <p:sp>
        <p:nvSpPr>
          <p:cNvPr id="1348" name="Reveal"/>
          <p:cNvSpPr txBox="1"/>
          <p:nvPr/>
        </p:nvSpPr>
        <p:spPr>
          <a:xfrm>
            <a:off x="8092440" y="3639312"/>
            <a:ext cx="3063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Bone marrow depression</a:t>
            </a:r>
          </a:p>
        </p:txBody>
      </p:sp>
      <p:sp>
        <p:nvSpPr>
          <p:cNvPr id="1349" name="Code panel"/>
          <p:cNvSpPr/>
          <p:nvPr/>
        </p:nvSpPr>
        <p:spPr>
          <a:xfrm>
            <a:off x="8001000" y="4160520"/>
            <a:ext cx="3246120" cy="1170432"/>
          </a:xfrm>
          <a:prstGeom prst="roundRect">
            <a:avLst>
              <a:gd name="adj" fmla="val 9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50" name="Code line 1350"/>
          <p:cNvSpPr txBox="1"/>
          <p:nvPr/>
        </p:nvSpPr>
        <p:spPr>
          <a:xfrm>
            <a:off x="8001000" y="4224528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DataProperty: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BM_DEP</a:t>
            </a:r>
            <a:endParaRPr lang="en-US" sz="1000"/>
          </a:p>
        </p:txBody>
      </p:sp>
      <p:sp>
        <p:nvSpPr>
          <p:cNvPr id="1351" name="Code line 1351"/>
          <p:cNvSpPr txBox="1"/>
          <p:nvPr/>
        </p:nvSpPr>
        <p:spPr>
          <a:xfrm>
            <a:off x="8001000" y="4398264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</a:t>
            </a: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Annotations:</a:t>
            </a:r>
            <a:endParaRPr lang="en-US" sz="1000"/>
          </a:p>
        </p:txBody>
      </p:sp>
      <p:sp>
        <p:nvSpPr>
          <p:cNvPr id="1352" name="Code line 1352"/>
          <p:cNvSpPr txBox="1"/>
          <p:nvPr/>
        </p:nvSpPr>
        <p:spPr>
          <a:xfrm>
            <a:off x="8001000" y="4572000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rdfs:label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"Bone marrow depression"@en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3" name="Code line 1353"/>
          <p:cNvSpPr txBox="1"/>
          <p:nvPr/>
        </p:nvSpPr>
        <p:spPr>
          <a:xfrm>
            <a:off x="8001000" y="4745736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rdfs:comment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"1 = yes, 0 = no"@en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4" name="Code line 1354"/>
          <p:cNvSpPr txBox="1"/>
          <p:nvPr/>
        </p:nvSpPr>
        <p:spPr>
          <a:xfrm>
            <a:off x="8001000" y="4919472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admission:BM_DEP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5" name="Code line 1355"/>
          <p:cNvSpPr txBox="1"/>
          <p:nvPr/>
        </p:nvSpPr>
        <p:spPr>
          <a:xfrm>
            <a:off x="8001000" y="5093208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treatment:drug</a:t>
            </a:r>
            <a:endParaRPr lang="en-US" sz="1000"/>
          </a:p>
        </p:txBody>
      </p:sp>
      <p:sp>
        <p:nvSpPr>
          <p:cNvPr id="1356" name="Candidate"/>
          <p:cNvSpPr/>
          <p:nvPr/>
        </p:nvSpPr>
        <p:spPr>
          <a:xfrm>
            <a:off x="8001000" y="5413248"/>
            <a:ext cx="3246120" cy="42062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CANDIDATE  </a:t>
            </a:r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an expert confirms it first</a:t>
            </a:r>
          </a:p>
        </p:txBody>
      </p:sp>
      <p:sp>
        <p:nvSpPr>
          <p:cNvPr id="1357" name="Arrow"/>
          <p:cNvSpPr/>
          <p:nvPr/>
        </p:nvSpPr>
        <p:spPr>
          <a:xfrm>
            <a:off x="4078224" y="4201668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8" name="Arrow"/>
          <p:cNvSpPr/>
          <p:nvPr/>
        </p:nvSpPr>
        <p:spPr>
          <a:xfrm>
            <a:off x="7562088" y="4201668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9" name="Source"/>
          <p:cNvSpPr txBox="1"/>
          <p:nvPr/>
        </p:nvSpPr>
        <p:spPr>
          <a:xfrm>
            <a:off x="822960" y="6089904"/>
            <a:ext cx="106070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Rows are synthetic. Instance-level signals for cryptic columns: paper Sec. 5. Tool feedback in the loop: NeOn-GPT [Fathallah et al., ESWC 2024]; Extended NeOn-GPT [Fathallah et al., SWJ 2026]; RIGOR App [Fathallah, Nayyeri &amp; Staab, ISWC 2026 Demos].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