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8.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28.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83" r:id="rId32"/>
  </p:sldIdLst>
  <p:sldSz cy="6858000" cx="12192000"/>
  <p:notesSz cx="6858000" cy="12192000"/>
  <p:embeddedFontLst>
    <p:embeddedFont>
      <p:font typeface="IBM Plex Sans"/>
      <p:regular r:id="rId40"/>
      <p:bold r:id="rId41"/>
      <p:italic r:id="rId42"/>
      <p:boldItalic r:id="rId4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4" roundtripDataSignature="AMtx7miIhFui5hy+i4o3KOYM/gPuu+LjK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Relationships xmlns="http://schemas.openxmlformats.org/package/2006/relationships"><Relationship Id="rId40" Type="http://schemas.openxmlformats.org/officeDocument/2006/relationships/font" Target="fonts/IBMPlexSans-regular.fntdata"/><Relationship Id="rId42" Type="http://schemas.openxmlformats.org/officeDocument/2006/relationships/font" Target="fonts/IBMPlexSans-italic.fntdata"/><Relationship Id="rId41" Type="http://schemas.openxmlformats.org/officeDocument/2006/relationships/font" Target="fonts/IBMPlexSans-bold.fntdata"/><Relationship Id="rId44" Type="http://customschemas.google.com/relationships/presentationmetadata" Target="metadata"/><Relationship Id="rId43" Type="http://schemas.openxmlformats.org/officeDocument/2006/relationships/font" Target="fonts/IBMPlexSans-boldItalic.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32"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IBM Plex Sans"/>
                <a:ea typeface="IBM Plex Sans"/>
                <a:cs typeface="IBM Plex Sans"/>
                <a:sym typeface="IBM Plex Sans"/>
              </a:rPr>
              <a:t>‹#›</a:t>
            </a:fld>
            <a:endParaRPr b="0" i="0" sz="1200" u="none" cap="none" strike="noStrike">
              <a:solidFill>
                <a:schemeClr val="dk1"/>
              </a:solidFill>
              <a:latin typeface="IBM Plex Sans"/>
              <a:ea typeface="IBM Plex Sans"/>
              <a:cs typeface="IBM Plex Sans"/>
              <a:sym typeface="IBM Plex Sans"/>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4" name="Shape 1284"/>
        <p:cNvGrpSpPr/>
        <p:nvPr/>
      </p:nvGrpSpPr>
      <p:grpSpPr>
        <a:xfrm>
          <a:off x="0" y="0"/>
          <a:ext cx="0" cy="0"/>
          <a:chOff x="0" y="0"/>
          <a:chExt cx="0" cy="0"/>
        </a:xfrm>
      </p:grpSpPr>
      <p:sp>
        <p:nvSpPr>
          <p:cNvPr id="1285" name="Google Shape;1285;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6" name="Google Shape;1286;p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lang="en-US" sz="1200">
                <a:solidFill>
                  <a:schemeClr val="dk1"/>
                </a:solidFill>
                <a:latin typeface="Calibri"/>
                <a:ea typeface="Calibri"/>
                <a:cs typeface="Calibri"/>
                <a:sym typeface="Calibri"/>
              </a:rPr>
              <a:t>[11:05–12:00]  SPOKEN SCRIPT (96 words)</a:t>
            </a:r>
            <a:endParaRPr/>
          </a:p>
          <a:p>
            <a:pPr indent="-228600" lvl="0" marL="457200" marR="0" rtl="0" algn="l">
              <a:lnSpc>
                <a:spcPct val="100000"/>
              </a:lnSpc>
              <a:spcBef>
                <a:spcPts val="0"/>
              </a:spcBef>
              <a:spcAft>
                <a:spcPts val="0"/>
              </a:spcAft>
              <a:buSzPts val="1400"/>
              <a:buNone/>
            </a:pPr>
            <a:r>
              <a:rPr lang="en-US" sz="1200">
                <a:solidFill>
                  <a:schemeClr val="dk1"/>
                </a:solidFill>
                <a:latin typeface="Calibri"/>
                <a:ea typeface="Calibri"/>
                <a:cs typeface="Calibri"/>
                <a:sym typeface="Calibri"/>
              </a:rPr>
              <a:t>Where next? Today RIGOR reads schemas and documentation. The next step is to let the data speak. Imagine several patients whose records show bone marrow depression after cisplatin cycles. The rows alone show a pattern. The drug label adds that bone-marrow suppression is a known adverse reaction of cisplatin. Together, they let RIGOR propose new knowledge: a candidate association between cisplatin and bone marrow depression, with provenance to both sources. Candidate, not cause. Gemcitabine, radiotherapy or cirrhosis could also explain it. So an expert reviews it. We also want validator and reasoner feedback inside the loop.</a:t>
            </a:r>
            <a:endParaRPr/>
          </a:p>
          <a:p>
            <a:pPr indent="-228600" lvl="0" marL="457200" marR="0" rtl="0" algn="l">
              <a:lnSpc>
                <a:spcPct val="100000"/>
              </a:lnSpc>
              <a:spcBef>
                <a:spcPts val="0"/>
              </a:spcBef>
              <a:spcAft>
                <a:spcPts val="0"/>
              </a:spcAft>
              <a:buSzPts val="1400"/>
              <a:buNone/>
            </a:pPr>
            <a:r>
              <a:t/>
            </a:r>
            <a:endParaRPr sz="1200">
              <a:solidFill>
                <a:schemeClr val="dk1"/>
              </a:solidFill>
              <a:latin typeface="Calibri"/>
              <a:ea typeface="Calibri"/>
              <a:cs typeface="Calibri"/>
              <a:sym typeface="Calibri"/>
            </a:endParaRPr>
          </a:p>
          <a:p>
            <a:pPr indent="-228600" lvl="0" marL="457200" marR="0" rtl="0" algn="l">
              <a:lnSpc>
                <a:spcPct val="100000"/>
              </a:lnSpc>
              <a:spcBef>
                <a:spcPts val="0"/>
              </a:spcBef>
              <a:spcAft>
                <a:spcPts val="0"/>
              </a:spcAft>
              <a:buSzPts val="1400"/>
              <a:buNone/>
            </a:pPr>
            <a:r>
              <a:rPr lang="en-US" sz="1200">
                <a:solidFill>
                  <a:schemeClr val="dk1"/>
                </a:solidFill>
                <a:latin typeface="Calibri"/>
                <a:ea typeface="Calibri"/>
                <a:cs typeface="Calibri"/>
                <a:sym typeface="Calibri"/>
              </a:rPr>
              <a:t>PRESENTER / POINTER: Rows, label, code, left to right. Say 'candidate' or 'may have contributed', never 'caused'.</a:t>
            </a:r>
            <a:endParaRPr/>
          </a:p>
          <a:p>
            <a:pPr indent="-228600" lvl="0" marL="457200" marR="0" rtl="0" algn="l">
              <a:lnSpc>
                <a:spcPct val="100000"/>
              </a:lnSpc>
              <a:spcBef>
                <a:spcPts val="0"/>
              </a:spcBef>
              <a:spcAft>
                <a:spcPts val="0"/>
              </a:spcAft>
              <a:buSzPts val="1400"/>
              <a:buNone/>
            </a:pPr>
            <a:r>
              <a:rPr lang="en-US" sz="1200">
                <a:solidFill>
                  <a:schemeClr val="dk1"/>
                </a:solidFill>
                <a:latin typeface="Calibri"/>
                <a:ea typeface="Calibri"/>
                <a:cs typeface="Calibri"/>
                <a:sym typeface="Calibri"/>
              </a:rPr>
              <a:t>AUDIENCE TAKEAWAY: Instances plus documentation can propose knowledge; experts confirm it.</a:t>
            </a:r>
            <a:endParaRPr/>
          </a:p>
          <a:p>
            <a:pPr indent="-228600" lvl="0" marL="457200" marR="0" rtl="0" algn="l">
              <a:lnSpc>
                <a:spcPct val="100000"/>
              </a:lnSpc>
              <a:spcBef>
                <a:spcPts val="0"/>
              </a:spcBef>
              <a:spcAft>
                <a:spcPts val="0"/>
              </a:spcAft>
              <a:buSzPts val="1400"/>
              <a:buNone/>
            </a:pPr>
            <a:r>
              <a:rPr lang="en-US" sz="1200">
                <a:solidFill>
                  <a:schemeClr val="dk1"/>
                </a:solidFill>
                <a:latin typeface="Calibri"/>
                <a:ea typeface="Calibri"/>
                <a:cs typeface="Calibri"/>
                <a:sym typeface="Calibri"/>
              </a:rPr>
              <a:t>SOURCE AND SCOPE: Paper Section 5. Rows are synthetic. OWL verified (presentation/excerpts/slide22_future_candidate.omn): a typed individual with provenance, no causal axiom.</a:t>
            </a:r>
            <a:endParaRPr/>
          </a:p>
          <a:p>
            <a:pPr indent="-228600" lvl="0" marL="457200" marR="0" rtl="0" algn="l">
              <a:lnSpc>
                <a:spcPct val="100000"/>
              </a:lnSpc>
              <a:spcBef>
                <a:spcPts val="0"/>
              </a:spcBef>
              <a:spcAft>
                <a:spcPts val="0"/>
              </a:spcAft>
              <a:buSzPts val="1400"/>
              <a:buNone/>
            </a:pPr>
            <a:r>
              <a:rPr lang="en-US" sz="1200">
                <a:solidFill>
                  <a:schemeClr val="dk1"/>
                </a:solidFill>
                <a:latin typeface="Calibri"/>
                <a:ea typeface="Calibri"/>
                <a:cs typeface="Calibri"/>
                <a:sym typeface="Calibri"/>
              </a:rPr>
              <a:t>IF RUNNING LATE, DROP: "We also want validator and reasoner feedback inside the loop."</a:t>
            </a:r>
            <a:endParaRPr/>
          </a:p>
          <a:p>
            <a:pPr indent="-228600" lvl="0" marL="457200" marR="0" rtl="0" algn="l">
              <a:lnSpc>
                <a:spcPct val="100000"/>
              </a:lnSpc>
              <a:spcBef>
                <a:spcPts val="0"/>
              </a:spcBef>
              <a:spcAft>
                <a:spcPts val="0"/>
              </a:spcAft>
              <a:buSzPts val="1400"/>
              <a:buNone/>
            </a:pPr>
            <a:r>
              <a:t/>
            </a:r>
            <a:endParaRPr sz="1200">
              <a:solidFill>
                <a:schemeClr val="dk1"/>
              </a:solidFill>
              <a:latin typeface="Calibri"/>
              <a:ea typeface="Calibri"/>
              <a:cs typeface="Calibri"/>
              <a:sym typeface="Calibri"/>
            </a:endParaRPr>
          </a:p>
          <a:p>
            <a:pPr indent="-228600" lvl="0" marL="457200" marR="0" rtl="0" algn="l">
              <a:lnSpc>
                <a:spcPct val="100000"/>
              </a:lnSpc>
              <a:spcBef>
                <a:spcPts val="0"/>
              </a:spcBef>
              <a:spcAft>
                <a:spcPts val="0"/>
              </a:spcAft>
              <a:buSzPts val="1400"/>
              <a:buNone/>
            </a:pPr>
            <a:r>
              <a:rPr lang="en-US" sz="1200">
                <a:solidFill>
                  <a:schemeClr val="dk1"/>
                </a:solidFill>
                <a:latin typeface="Calibri"/>
                <a:ea typeface="Calibri"/>
                <a:cs typeface="Calibri"/>
                <a:sym typeface="Calibri"/>
              </a:rPr>
              <a:t>IF ASKED WHY NOT AN OWL CAUSAL AXIOM: OWL reasoning is deductive and open-world; it cannot derive causation from statistics, and 'Cisplatin SubClassOf causes some BoneMarrowDepression' would wrongly claim it for every case.</a:t>
            </a:r>
            <a:endParaRPr/>
          </a:p>
        </p:txBody>
      </p:sp>
      <p:sp>
        <p:nvSpPr>
          <p:cNvPr id="1287" name="Google Shape;1287;p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bg>
      <p:bgPr>
        <a:solidFill>
          <a:srgbClr val="FFFFFF"/>
        </a:solidFill>
      </p:bgPr>
    </p:bg>
    <p:spTree>
      <p:nvGrpSpPr>
        <p:cNvPr id="12" name="Shape 12"/>
        <p:cNvGrpSpPr/>
        <p:nvPr/>
      </p:nvGrpSpPr>
      <p:grpSpPr>
        <a:xfrm>
          <a:off x="0" y="0"/>
          <a:ext cx="0" cy="0"/>
          <a:chOff x="0" y="0"/>
          <a:chExt cx="0" cy="0"/>
        </a:xfrm>
      </p:grpSpPr>
      <p:sp>
        <p:nvSpPr>
          <p:cNvPr id="13" name="Google Shape;13;p25"/>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algn="l">
              <a:lnSpc>
                <a:spcPct val="115000"/>
              </a:lnSpc>
              <a:spcBef>
                <a:spcPts val="0"/>
              </a:spcBef>
              <a:spcAft>
                <a:spcPts val="0"/>
              </a:spcAft>
              <a:buClr>
                <a:srgbClr val="1F2328"/>
              </a:buClr>
              <a:buSzPts val="2800"/>
              <a:buFont typeface="Calibri"/>
              <a:buNone/>
              <a:defRPr sz="2800">
                <a:solidFill>
                  <a:srgbClr val="1F2328"/>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25"/>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algn="l">
              <a:lnSpc>
                <a:spcPct val="140000"/>
              </a:lnSpc>
              <a:spcBef>
                <a:spcPts val="320"/>
              </a:spcBef>
              <a:spcAft>
                <a:spcPts val="0"/>
              </a:spcAft>
              <a:buClr>
                <a:srgbClr val="1F2328"/>
              </a:buClr>
              <a:buSzPts val="1600"/>
              <a:buNone/>
              <a:defRPr sz="1600">
                <a:solidFill>
                  <a:srgbClr val="1F2328"/>
                </a:solidFill>
                <a:latin typeface="Calibri"/>
                <a:ea typeface="Calibri"/>
                <a:cs typeface="Calibri"/>
                <a:sym typeface="Calibri"/>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 name="Shape 9"/>
        <p:cNvGrpSpPr/>
        <p:nvPr/>
      </p:nvGrpSpPr>
      <p:grpSpPr>
        <a:xfrm>
          <a:off x="0" y="0"/>
          <a:ext cx="0" cy="0"/>
          <a:chOff x="0" y="0"/>
          <a:chExt cx="0" cy="0"/>
        </a:xfrm>
      </p:grpSpPr>
      <p:sp>
        <p:nvSpPr>
          <p:cNvPr id="10" name="Google Shape;10;p24"/>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marR="0" rtl="0" algn="l">
              <a:lnSpc>
                <a:spcPct val="115000"/>
              </a:lnSpc>
              <a:spcBef>
                <a:spcPts val="0"/>
              </a:spcBef>
              <a:spcAft>
                <a:spcPts val="0"/>
              </a:spcAft>
              <a:buClr>
                <a:srgbClr val="1F2328"/>
              </a:buClr>
              <a:buSzPts val="2800"/>
              <a:buFont typeface="Calibri"/>
              <a:buNone/>
              <a:defRPr b="0" i="0" sz="2800" u="none" cap="none" strike="noStrike">
                <a:solidFill>
                  <a:srgbClr val="1F232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9pPr>
          </a:lstStyle>
          <a:p/>
        </p:txBody>
      </p:sp>
      <p:sp>
        <p:nvSpPr>
          <p:cNvPr id="11" name="Google Shape;11;p24"/>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marR="0" rtl="0" algn="l">
              <a:lnSpc>
                <a:spcPct val="140000"/>
              </a:lnSpc>
              <a:spcBef>
                <a:spcPts val="320"/>
              </a:spcBef>
              <a:spcAft>
                <a:spcPts val="0"/>
              </a:spcAft>
              <a:buClr>
                <a:srgbClr val="1F2328"/>
              </a:buClr>
              <a:buSzPts val="1600"/>
              <a:buFont typeface="Calibri"/>
              <a:buNone/>
              <a:defRPr b="0" i="0" sz="1600" u="none" cap="none" strike="noStrike">
                <a:solidFill>
                  <a:srgbClr val="1F2328"/>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Calibri"/>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8" name="Shape 1288"/>
        <p:cNvGrpSpPr/>
        <p:nvPr/>
      </p:nvGrpSpPr>
      <p:grpSpPr>
        <a:xfrm>
          <a:off x="0" y="0"/>
          <a:ext cx="0" cy="0"/>
          <a:chOff x="0" y="0"/>
          <a:chExt cx="0" cy="0"/>
        </a:xfrm>
      </p:grpSpPr>
      <p:sp>
        <p:nvSpPr>
          <p:cNvPr id="1289" name="Google Shape;1289;p22"/>
          <p:cNvSpPr txBox="1"/>
          <p:nvPr/>
        </p:nvSpPr>
        <p:spPr>
          <a:xfrm>
            <a:off x="813816" y="493776"/>
            <a:ext cx="106071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FUTURE WORK  /  FROM SCHEMAS TO INSTANCES</a:t>
            </a:r>
            <a:endParaRPr b="0" i="0" sz="1400" u="none" cap="none" strike="noStrike">
              <a:solidFill>
                <a:srgbClr val="000000"/>
              </a:solidFill>
              <a:latin typeface="Arial"/>
              <a:ea typeface="Arial"/>
              <a:cs typeface="Arial"/>
              <a:sym typeface="Arial"/>
            </a:endParaRPr>
          </a:p>
        </p:txBody>
      </p:sp>
      <p:sp>
        <p:nvSpPr>
          <p:cNvPr id="1290" name="Google Shape;1290;p22"/>
          <p:cNvSpPr txBox="1"/>
          <p:nvPr/>
        </p:nvSpPr>
        <p:spPr>
          <a:xfrm>
            <a:off x="813816" y="923544"/>
            <a:ext cx="10698600" cy="64020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Next: let the data speak.</a:t>
            </a:r>
            <a:endParaRPr b="0" i="0" sz="1400" u="none" cap="none" strike="noStrike">
              <a:solidFill>
                <a:srgbClr val="000000"/>
              </a:solidFill>
              <a:latin typeface="Arial"/>
              <a:ea typeface="Arial"/>
              <a:cs typeface="Arial"/>
              <a:sym typeface="Arial"/>
            </a:endParaRPr>
          </a:p>
        </p:txBody>
      </p:sp>
      <p:sp>
        <p:nvSpPr>
          <p:cNvPr id="1291" name="Google Shape;1291;p22"/>
          <p:cNvSpPr txBox="1"/>
          <p:nvPr/>
        </p:nvSpPr>
        <p:spPr>
          <a:xfrm>
            <a:off x="822960" y="1709928"/>
            <a:ext cx="10332600" cy="329100"/>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Clr>
                <a:srgbClr val="000000"/>
              </a:buClr>
              <a:buSzPts val="1700"/>
              <a:buFont typeface="Arial"/>
              <a:buNone/>
            </a:pPr>
            <a:r>
              <a:rPr lang="en-US" sz="1700" b="0" i="0" dirty="0">
                <a:solidFill>
                  <a:srgbClr val="5B6770"/>
                </a:solidFill>
                <a:latin typeface="Calibri"/>
                <a:cs typeface="Calibri"/>
              </a:rPr>
              <a:t xml:space="preserve">Today </a:t>
            </a:r>
            <a:r>
              <a:rPr lang="en-US" sz="1700" b="1" i="1" dirty="0">
                <a:solidFill>
                  <a:srgbClr val="3A434C"/>
                </a:solidFill>
                <a:latin typeface="Calibri"/>
                <a:cs typeface="Calibri"/>
              </a:rPr>
              <a:t xml:space="preserve">RIGOR</a:t>
            </a:r>
            <a:r>
              <a:rPr lang="en-US" sz="1700" b="0" i="0" dirty="0">
                <a:solidFill>
                  <a:srgbClr val="5B6770"/>
                </a:solidFill>
                <a:latin typeface="Calibri"/>
                <a:cs typeface="Calibri"/>
              </a:rPr>
              <a:t xml:space="preserve"> reads </a:t>
            </a:r>
            <a:r>
              <a:rPr lang="en-US" sz="1700" b="1" i="0" dirty="0">
                <a:solidFill>
                  <a:srgbClr val="3A434C"/>
                </a:solidFill>
                <a:latin typeface="Calibri"/>
                <a:cs typeface="Calibri"/>
              </a:rPr>
              <a:t xml:space="preserve">schemas</a:t>
            </a:r>
            <a:r>
              <a:rPr lang="en-US" sz="1700" b="0" i="0" dirty="0">
                <a:solidFill>
                  <a:srgbClr val="5B6770"/>
                </a:solidFill>
                <a:latin typeface="Calibri"/>
                <a:cs typeface="Calibri"/>
              </a:rPr>
              <a:t xml:space="preserve"> and </a:t>
            </a:r>
            <a:r>
              <a:rPr lang="en-US" sz="1700" b="1" i="0" dirty="0">
                <a:solidFill>
                  <a:srgbClr val="3A434C"/>
                </a:solidFill>
                <a:latin typeface="Calibri"/>
                <a:cs typeface="Calibri"/>
              </a:rPr>
              <a:t xml:space="preserve">documentation</a:t>
            </a:r>
            <a:r>
              <a:rPr lang="en-US" sz="1700" b="0" i="0" dirty="0">
                <a:solidFill>
                  <a:srgbClr val="5B6770"/>
                </a:solidFill>
                <a:latin typeface="Calibri"/>
                <a:cs typeface="Calibri"/>
              </a:rPr>
              <a:t xml:space="preserve">. </a:t>
            </a:r>
            <a:r>
              <a:rPr lang="en-US" sz="1700" b="1" i="0" dirty="0">
                <a:solidFill>
                  <a:srgbClr val="3A434C"/>
                </a:solidFill>
                <a:latin typeface="Calibri"/>
                <a:cs typeface="Calibri"/>
              </a:rPr>
              <a:t xml:space="preserve">Instance data</a:t>
            </a:r>
            <a:r>
              <a:rPr lang="en-US" sz="1700" b="0" i="0" dirty="0">
                <a:solidFill>
                  <a:srgbClr val="5B6770"/>
                </a:solidFill>
                <a:latin typeface="Calibri"/>
                <a:cs typeface="Calibri"/>
              </a:rPr>
              <a:t xml:space="preserve"> could propose </a:t>
            </a:r>
            <a:r>
              <a:rPr lang="en-US" sz="1700" b="1" i="0" dirty="0">
                <a:solidFill>
                  <a:srgbClr val="3A434C"/>
                </a:solidFill>
                <a:latin typeface="Calibri"/>
                <a:cs typeface="Calibri"/>
              </a:rPr>
              <a:t xml:space="preserve">new knowledge</a:t>
            </a:r>
            <a:r>
              <a:rPr lang="en-US" sz="1700" b="0" i="0" dirty="0">
                <a:solidFill>
                  <a:srgbClr val="5B6770"/>
                </a:solidFill>
                <a:latin typeface="Calibri"/>
                <a:cs typeface="Calibri"/>
              </a:rPr>
              <a:t xml:space="preserve">.</a:t>
            </a:r>
          </a:p>
        </p:txBody>
      </p:sp>
      <p:sp>
        <p:nvSpPr>
          <p:cNvPr id="1292" name="Google Shape;1292;p22"/>
          <p:cNvSpPr/>
          <p:nvPr/>
        </p:nvSpPr>
        <p:spPr>
          <a:xfrm>
            <a:off x="822960" y="2194560"/>
            <a:ext cx="3017400" cy="3127248"/>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293" name="Google Shape;1293;p22"/>
          <p:cNvSpPr/>
          <p:nvPr/>
        </p:nvSpPr>
        <p:spPr>
          <a:xfrm>
            <a:off x="4224528" y="2194560"/>
            <a:ext cx="2788800" cy="3127248"/>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294" name="Google Shape;1294;p22"/>
          <p:cNvSpPr/>
          <p:nvPr/>
        </p:nvSpPr>
        <p:spPr>
          <a:xfrm>
            <a:off x="7397496" y="2194560"/>
            <a:ext cx="3941100" cy="3127248"/>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295" name="Google Shape;1295;p22"/>
          <p:cNvSpPr/>
          <p:nvPr/>
        </p:nvSpPr>
        <p:spPr>
          <a:xfrm>
            <a:off x="3877048" y="3566184"/>
            <a:ext cx="429600" cy="384000"/>
          </a:xfrm>
          <a:prstGeom prst="rightArrow">
            <a:avLst>
              <a:gd fmla="val 50000" name="adj1"/>
              <a:gd fmla="val 50000" name="adj2"/>
            </a:avLst>
          </a:prstGeom>
          <a:solidFill>
            <a:srgbClr val="0B6E4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296" name="Google Shape;1296;p22"/>
          <p:cNvSpPr/>
          <p:nvPr/>
        </p:nvSpPr>
        <p:spPr>
          <a:xfrm>
            <a:off x="7050025" y="3566184"/>
            <a:ext cx="429600" cy="384000"/>
          </a:xfrm>
          <a:prstGeom prst="rightArrow">
            <a:avLst>
              <a:gd fmla="val 50000" name="adj1"/>
              <a:gd fmla="val 50000" name="adj2"/>
            </a:avLst>
          </a:prstGeom>
          <a:solidFill>
            <a:srgbClr val="0B6E4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297" name="Google Shape;1297;p22"/>
          <p:cNvSpPr txBox="1"/>
          <p:nvPr/>
        </p:nvSpPr>
        <p:spPr>
          <a:xfrm>
            <a:off x="1024128" y="2359152"/>
            <a:ext cx="26517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2F6B78"/>
                </a:solidFill>
                <a:latin typeface="Consolas"/>
                <a:ea typeface="Consolas"/>
                <a:cs typeface="Consolas"/>
                <a:sym typeface="Consolas"/>
              </a:rPr>
              <a:t>1  INSTANCES</a:t>
            </a:r>
            <a:endParaRPr/>
          </a:p>
        </p:txBody>
      </p:sp>
      <p:sp>
        <p:nvSpPr>
          <p:cNvPr id="1298" name="Google Shape;1298;p22"/>
          <p:cNvSpPr txBox="1"/>
          <p:nvPr/>
        </p:nvSpPr>
        <p:spPr>
          <a:xfrm>
            <a:off x="1024128" y="2651760"/>
            <a:ext cx="2651700" cy="255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300" u="none" cap="none" strike="noStrike">
                <a:solidFill>
                  <a:srgbClr val="5B6770"/>
                </a:solidFill>
                <a:latin typeface="Calibri"/>
                <a:ea typeface="Calibri"/>
                <a:cs typeface="Calibri"/>
                <a:sym typeface="Calibri"/>
              </a:rPr>
              <a:t>What patient rows show</a:t>
            </a:r>
            <a:endParaRPr/>
          </a:p>
        </p:txBody>
      </p:sp>
      <p:sp>
        <p:nvSpPr>
          <p:cNvPr id="1305" name="Google Shape;1305;p22"/>
          <p:cNvSpPr txBox="1"/>
          <p:nvPr/>
        </p:nvSpPr>
        <p:spPr>
          <a:xfrm>
            <a:off x="1024128" y="4846320"/>
            <a:ext cx="2651700" cy="3840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100" b="0" i="0" dirty="0">
                <a:solidFill>
                  <a:srgbClr val="5B6770"/>
                </a:solidFill>
                <a:latin typeface="Calibri"/>
                <a:cs typeface="Calibri"/>
              </a:rPr>
              <a:t xml:space="preserve">Synthetic rows: patients given cisplatin show bone marrow depression (BM_DEP = 1).</a:t>
            </a:r>
          </a:p>
        </p:txBody>
      </p:sp>
      <p:sp>
        <p:nvSpPr>
          <p:cNvPr id="1306" name="Google Shape;1306;p22"/>
          <p:cNvSpPr txBox="1"/>
          <p:nvPr/>
        </p:nvSpPr>
        <p:spPr>
          <a:xfrm>
            <a:off x="4425696" y="2359152"/>
            <a:ext cx="24231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2F6B78"/>
                </a:solidFill>
                <a:latin typeface="Consolas"/>
                <a:ea typeface="Consolas"/>
                <a:cs typeface="Consolas"/>
                <a:sym typeface="Consolas"/>
              </a:rPr>
              <a:t>2  + DOCUMENTATION</a:t>
            </a:r>
            <a:endParaRPr/>
          </a:p>
        </p:txBody>
      </p:sp>
      <p:sp>
        <p:nvSpPr>
          <p:cNvPr id="1307" name="Google Shape;1307;p22"/>
          <p:cNvSpPr txBox="1"/>
          <p:nvPr/>
        </p:nvSpPr>
        <p:spPr>
          <a:xfrm>
            <a:off x="4425696" y="2651760"/>
            <a:ext cx="2423100" cy="255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300" u="none" cap="none" strike="noStrike">
                <a:solidFill>
                  <a:srgbClr val="5B6770"/>
                </a:solidFill>
                <a:latin typeface="Calibri"/>
                <a:ea typeface="Calibri"/>
                <a:cs typeface="Calibri"/>
                <a:sym typeface="Calibri"/>
              </a:rPr>
              <a:t>What the drug label says</a:t>
            </a:r>
            <a:endParaRPr/>
          </a:p>
        </p:txBody>
      </p:sp>
      <p:sp>
        <p:nvSpPr>
          <p:cNvPr id="1308" name="Google Shape;1308;p22"/>
          <p:cNvSpPr/>
          <p:nvPr/>
        </p:nvSpPr>
        <p:spPr>
          <a:xfrm>
            <a:off x="4389120" y="3017520"/>
            <a:ext cx="2459700" cy="1115700"/>
          </a:xfrm>
          <a:prstGeom prst="roundRect">
            <a:avLst>
              <a:gd fmla="val 12000" name="adj"/>
            </a:avLst>
          </a:prstGeom>
          <a:solidFill>
            <a:srgbClr val="F3F5F4"/>
          </a:solidFill>
          <a:ln>
            <a:noFill/>
          </a:ln>
        </p:spPr>
        <p:txBody>
          <a:bodyPr anchorCtr="0" anchor="ctr" bIns="0" lIns="128000" spcFirstLastPara="1" rIns="128000" wrap="square" tIns="0">
            <a:noAutofit/>
          </a:bodyPr>
          <a:lstStyle/>
          <a:p>
            <a:pPr indent="0" lvl="0" marL="0" marR="0" rtl="0" algn="l">
              <a:lnSpc>
                <a:spcPct val="100000"/>
              </a:lnSpc>
              <a:spcBef>
                <a:spcPts val="0"/>
              </a:spcBef>
              <a:spcAft>
                <a:spcPts val="0"/>
              </a:spcAft>
              <a:buNone/>
            </a:pPr>
            <a:r>
              <a:rPr b="0" i="1" lang="en-US" sz="1400" u="none" cap="none" strike="noStrike">
                <a:solidFill>
                  <a:srgbClr val="1F2328"/>
                </a:solidFill>
                <a:latin typeface="Calibri"/>
                <a:ea typeface="Calibri"/>
                <a:cs typeface="Calibri"/>
                <a:sym typeface="Calibri"/>
              </a:rPr>
              <a:t>Myelosuppression (bone-marrow suppression) is a documented adverse reaction of cisplatin.</a:t>
            </a:r>
            <a:endParaRPr/>
          </a:p>
        </p:txBody>
      </p:sp>
      <p:sp>
        <p:nvSpPr>
          <p:cNvPr id="1309" name="Google Shape;1309;p22"/>
          <p:cNvSpPr txBox="1"/>
          <p:nvPr/>
        </p:nvSpPr>
        <p:spPr>
          <a:xfrm>
            <a:off x="4425696" y="4169664"/>
            <a:ext cx="2423100" cy="201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5B6770"/>
                </a:solidFill>
                <a:latin typeface="Calibri"/>
                <a:ea typeface="Calibri"/>
                <a:cs typeface="Calibri"/>
                <a:sym typeface="Calibri"/>
              </a:rPr>
              <a:t>Cisplatin drug label, paraphrased</a:t>
            </a:r>
            <a:endParaRPr/>
          </a:p>
        </p:txBody>
      </p:sp>
      <p:sp>
        <p:nvSpPr>
          <p:cNvPr id="1311" name="Google Shape;1311;p22"/>
          <p:cNvSpPr txBox="1"/>
          <p:nvPr/>
        </p:nvSpPr>
        <p:spPr>
          <a:xfrm>
            <a:off x="7598664" y="2359152"/>
            <a:ext cx="35754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0B6E4F"/>
                </a:solidFill>
                <a:latin typeface="Consolas"/>
                <a:ea typeface="Consolas"/>
                <a:cs typeface="Consolas"/>
                <a:sym typeface="Consolas"/>
              </a:rPr>
              <a:t>3  CANDIDATE KNOWLEDGE</a:t>
            </a:r>
            <a:endParaRPr/>
          </a:p>
        </p:txBody>
      </p:sp>
      <p:sp>
        <p:nvSpPr>
          <p:cNvPr id="1312" name="Google Shape;1312;p22"/>
          <p:cNvSpPr txBox="1"/>
          <p:nvPr/>
        </p:nvSpPr>
        <p:spPr>
          <a:xfrm>
            <a:off x="7598664" y="2651760"/>
            <a:ext cx="3575400" cy="255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300" u="none" cap="none" strike="noStrike">
                <a:solidFill>
                  <a:srgbClr val="5B6770"/>
                </a:solidFill>
                <a:latin typeface="Calibri"/>
                <a:ea typeface="Calibri"/>
                <a:cs typeface="Calibri"/>
                <a:sym typeface="Calibri"/>
              </a:rPr>
              <a:t>A reviewable hypothesis, not a fact</a:t>
            </a:r>
            <a:endParaRPr/>
          </a:p>
        </p:txBody>
      </p:sp>
      <p:sp>
        <p:nvSpPr>
          <p:cNvPr id="1314" name="Google Shape;1314;p22"/>
          <p:cNvSpPr txBox="1"/>
          <p:nvPr/>
        </p:nvSpPr>
        <p:spPr>
          <a:xfrm>
            <a:off x="7598664" y="4924044"/>
            <a:ext cx="3575400" cy="3840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100" b="1" i="0" dirty="0">
                <a:solidFill>
                  <a:srgbClr val="B23A1E"/>
                </a:solidFill>
                <a:latin typeface="Calibri"/>
                <a:cs typeface="Calibri"/>
              </a:rPr>
              <a:t xml:space="preserve">No causal claim: </a:t>
            </a:r>
            <a:r>
              <a:rPr lang="en-US" sz="1100" b="0" i="0" dirty="0">
                <a:solidFill>
                  <a:srgbClr val="3A434C"/>
                </a:solidFill>
                <a:latin typeface="Calibri"/>
                <a:cs typeface="Calibri"/>
              </a:rPr>
              <a:t xml:space="preserve">gemcitabine, radiotherapy or cirrhosis can also suppress the marrow.</a:t>
            </a:r>
          </a:p>
        </p:txBody>
      </p:sp>
      <p:sp>
        <p:nvSpPr>
          <p:cNvPr id="1315" name="Google Shape;1315;p22"/>
          <p:cNvSpPr/>
          <p:nvPr/>
        </p:nvSpPr>
        <p:spPr>
          <a:xfrm>
            <a:off x="822960" y="5486400"/>
            <a:ext cx="10515600" cy="420600"/>
          </a:xfrm>
          <a:prstGeom prst="roundRect">
            <a:avLst>
              <a:gd fmla="val 12000" name="adj"/>
            </a:avLst>
          </a:prstGeom>
          <a:solidFill>
            <a:srgbClr val="E6F2EC"/>
          </a:solidFill>
          <a:ln>
            <a:noFill/>
          </a:ln>
        </p:spPr>
        <p:txBody>
          <a:bodyPr anchorCtr="0" anchor="ctr" bIns="0" lIns="182875" spcFirstLastPara="1" rIns="182875" wrap="square" tIns="0">
            <a:noAutofit/>
          </a:bodyPr>
          <a:lstStyle/>
          <a:p>
            <a:pPr indent="0" lvl="0" marL="0" marR="0" rtl="0" algn="l">
              <a:lnSpc>
                <a:spcPct val="100000"/>
              </a:lnSpc>
              <a:spcBef>
                <a:spcPts val="0"/>
              </a:spcBef>
              <a:spcAft>
                <a:spcPts val="0"/>
              </a:spcAft>
              <a:buNone/>
            </a:pPr>
            <a:r>
              <a:rPr b="1" i="0" lang="en-US" sz="1250" u="none" cap="none" strike="noStrike">
                <a:solidFill>
                  <a:srgbClr val="0B6E4F"/>
                </a:solidFill>
                <a:latin typeface="Calibri"/>
                <a:ea typeface="Calibri"/>
                <a:cs typeface="Calibri"/>
                <a:sym typeface="Calibri"/>
              </a:rPr>
              <a:t>ALSO NEXT   </a:t>
            </a:r>
            <a:r>
              <a:rPr b="0" i="0" lang="en-US" sz="1250" u="none" cap="none" strike="noStrike">
                <a:solidFill>
                  <a:srgbClr val="1F2328"/>
                </a:solidFill>
                <a:latin typeface="Calibri"/>
                <a:ea typeface="Calibri"/>
                <a:cs typeface="Calibri"/>
                <a:sym typeface="Calibri"/>
              </a:rPr>
              <a:t>Validator and reasoner feedback inside the loop, to catch residual P19  ·  aggregate statistics only, so patient data stays in the hospital</a:t>
            </a:r>
            <a:endParaRPr/>
          </a:p>
        </p:txBody>
      </p:sp>
      <p:sp>
        <p:nvSpPr>
          <p:cNvPr id="1316" name="Google Shape;1316;p22"/>
          <p:cNvSpPr txBox="1"/>
          <p:nvPr/>
        </p:nvSpPr>
        <p:spPr>
          <a:xfrm>
            <a:off x="850392" y="6053328"/>
            <a:ext cx="104883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Instance rows are synthetic. Future directions follow paper Section 5 (instance-level signals, tool feedback, symbolic reasoning).</a:t>
            </a:r>
            <a:endParaRPr/>
          </a:p>
        </p:txBody>
      </p:sp>
      <p:sp>
        <p:nvSpPr>
          <p:cNvPr id="1317" name="Table header"/>
          <p:cNvSpPr txBox="1"/>
          <p:nvPr/>
        </p:nvSpPr>
        <p:spPr>
          <a:xfrm>
            <a:off x="1024128" y="3035808"/>
            <a:ext cx="914400" cy="237744"/>
          </a:xfrm>
          <a:prstGeom prst="rect">
            <a:avLst/>
          </a:prstGeom>
          <a:noFill/>
          <a:ln>
            <a:noFill/>
          </a:ln>
        </p:spPr>
        <p:txBody>
          <a:bodyPr wrap="square" lIns="0" tIns="0" rIns="0" bIns="0" anchor="ctr">
            <a:noAutofit/>
          </a:bodyPr>
          <a:lstStyle/>
          <a:p>
            <a:pPr algn="l"/>
            <a:r>
              <a:rPr lang="en-US" sz="950" b="1" i="0" dirty="0">
                <a:solidFill>
                  <a:srgbClr val="5B6770"/>
                </a:solidFill>
                <a:latin typeface="Consolas"/>
                <a:cs typeface="Consolas"/>
              </a:rPr>
              <a:t xml:space="preserve">PATIENT</a:t>
            </a:r>
          </a:p>
        </p:txBody>
      </p:sp>
      <p:sp>
        <p:nvSpPr>
          <p:cNvPr id="1318" name="Table header"/>
          <p:cNvSpPr txBox="1"/>
          <p:nvPr/>
        </p:nvSpPr>
        <p:spPr>
          <a:xfrm>
            <a:off x="1920240" y="3035808"/>
            <a:ext cx="914400" cy="237744"/>
          </a:xfrm>
          <a:prstGeom prst="rect">
            <a:avLst/>
          </a:prstGeom>
          <a:noFill/>
          <a:ln>
            <a:noFill/>
          </a:ln>
        </p:spPr>
        <p:txBody>
          <a:bodyPr wrap="square" lIns="0" tIns="0" rIns="0" bIns="0" anchor="ctr">
            <a:noAutofit/>
          </a:bodyPr>
          <a:lstStyle/>
          <a:p>
            <a:pPr algn="l"/>
            <a:r>
              <a:rPr lang="en-US" sz="950" b="1" i="0" dirty="0">
                <a:solidFill>
                  <a:srgbClr val="5B6770"/>
                </a:solidFill>
                <a:latin typeface="Consolas"/>
                <a:cs typeface="Consolas"/>
              </a:rPr>
              <a:t xml:space="preserve">CISPLATIN</a:t>
            </a:r>
          </a:p>
        </p:txBody>
      </p:sp>
      <p:sp>
        <p:nvSpPr>
          <p:cNvPr id="1319" name="Table header"/>
          <p:cNvSpPr txBox="1"/>
          <p:nvPr/>
        </p:nvSpPr>
        <p:spPr>
          <a:xfrm>
            <a:off x="2926079" y="3035808"/>
            <a:ext cx="914400" cy="237744"/>
          </a:xfrm>
          <a:prstGeom prst="rect">
            <a:avLst/>
          </a:prstGeom>
          <a:noFill/>
          <a:ln>
            <a:noFill/>
          </a:ln>
        </p:spPr>
        <p:txBody>
          <a:bodyPr wrap="square" lIns="0" tIns="0" rIns="0" bIns="0" anchor="ctr">
            <a:noAutofit/>
          </a:bodyPr>
          <a:lstStyle/>
          <a:p>
            <a:pPr algn="l"/>
            <a:r>
              <a:rPr lang="en-US" sz="950" b="1" i="0" dirty="0">
                <a:solidFill>
                  <a:srgbClr val="5B6770"/>
                </a:solidFill>
                <a:latin typeface="Consolas"/>
                <a:cs typeface="Consolas"/>
              </a:rPr>
              <a:t xml:space="preserve">BM_DEP</a:t>
            </a:r>
          </a:p>
        </p:txBody>
      </p:sp>
      <p:sp>
        <p:nvSpPr>
          <p:cNvPr id="1320" name="Row band"/>
          <p:cNvSpPr/>
          <p:nvPr/>
        </p:nvSpPr>
        <p:spPr>
          <a:xfrm>
            <a:off x="960120" y="3328416"/>
            <a:ext cx="2743080" cy="256032"/>
          </a:xfrm>
          <a:prstGeom prst="rect">
            <a:avLst/>
          </a:prstGeom>
          <a:solidFill>
            <a:srgbClr val="E6F2EC"/>
          </a:solidFill>
          <a:ln>
            <a:noFill/>
          </a:ln>
        </p:spPr>
        <p:txBody>
          <a:bodyPr wrap="square" lIns="0" tIns="0" rIns="0" bIns="0" anchor="t">
            <a:noAutofit/>
          </a:bodyPr>
          <a:lstStyle/>
          <a:p>
            <a:pPr algn="l"/>
          </a:p>
        </p:txBody>
      </p:sp>
      <p:sp>
        <p:nvSpPr>
          <p:cNvPr id="1321" name="Cell"/>
          <p:cNvSpPr txBox="1"/>
          <p:nvPr/>
        </p:nvSpPr>
        <p:spPr>
          <a:xfrm>
            <a:off x="1024128" y="3328416"/>
            <a:ext cx="914400" cy="256032"/>
          </a:xfrm>
          <a:prstGeom prst="rect">
            <a:avLst/>
          </a:prstGeom>
          <a:noFill/>
          <a:ln>
            <a:noFill/>
          </a:ln>
        </p:spPr>
        <p:txBody>
          <a:bodyPr wrap="square" lIns="0" tIns="0" rIns="0" bIns="0" anchor="ctr">
            <a:noAutofit/>
          </a:bodyPr>
          <a:lstStyle/>
          <a:p>
            <a:pPr algn="l"/>
            <a:r>
              <a:rPr lang="en-US" sz="1150" b="0" i="0" dirty="0">
                <a:solidFill>
                  <a:srgbClr val="1F2328"/>
                </a:solidFill>
                <a:latin typeface="Consolas"/>
                <a:cs typeface="Consolas"/>
              </a:rPr>
              <a:t xml:space="preserve">P01</a:t>
            </a:r>
          </a:p>
        </p:txBody>
      </p:sp>
      <p:sp>
        <p:nvSpPr>
          <p:cNvPr id="1322" name="Cell"/>
          <p:cNvSpPr txBox="1"/>
          <p:nvPr/>
        </p:nvSpPr>
        <p:spPr>
          <a:xfrm>
            <a:off x="1920240" y="3328416"/>
            <a:ext cx="914400" cy="256032"/>
          </a:xfrm>
          <a:prstGeom prst="rect">
            <a:avLst/>
          </a:prstGeom>
          <a:noFill/>
          <a:ln>
            <a:noFill/>
          </a:ln>
        </p:spPr>
        <p:txBody>
          <a:bodyPr wrap="square" lIns="0" tIns="0" rIns="0" bIns="0" anchor="ctr">
            <a:noAutofit/>
          </a:bodyPr>
          <a:lstStyle/>
          <a:p>
            <a:pPr algn="l"/>
            <a:r>
              <a:rPr lang="en-US" sz="1150" b="0" i="0" dirty="0">
                <a:solidFill>
                  <a:srgbClr val="1F2328"/>
                </a:solidFill>
                <a:latin typeface="Consolas"/>
                <a:cs typeface="Consolas"/>
              </a:rPr>
              <a:t xml:space="preserve">yes</a:t>
            </a:r>
          </a:p>
        </p:txBody>
      </p:sp>
      <p:sp>
        <p:nvSpPr>
          <p:cNvPr id="1323" name="Cell"/>
          <p:cNvSpPr txBox="1"/>
          <p:nvPr/>
        </p:nvSpPr>
        <p:spPr>
          <a:xfrm>
            <a:off x="2926079" y="3328416"/>
            <a:ext cx="914400" cy="256032"/>
          </a:xfrm>
          <a:prstGeom prst="rect">
            <a:avLst/>
          </a:prstGeom>
          <a:noFill/>
          <a:ln>
            <a:noFill/>
          </a:ln>
        </p:spPr>
        <p:txBody>
          <a:bodyPr wrap="square" lIns="0" tIns="0" rIns="0" bIns="0" anchor="ctr">
            <a:noAutofit/>
          </a:bodyPr>
          <a:lstStyle/>
          <a:p>
            <a:pPr algn="l"/>
            <a:r>
              <a:rPr lang="en-US" sz="1150" b="0" i="0" dirty="0">
                <a:solidFill>
                  <a:srgbClr val="1F2328"/>
                </a:solidFill>
                <a:latin typeface="Consolas"/>
                <a:cs typeface="Consolas"/>
              </a:rPr>
              <a:t xml:space="preserve">1</a:t>
            </a:r>
          </a:p>
        </p:txBody>
      </p:sp>
      <p:sp>
        <p:nvSpPr>
          <p:cNvPr id="1324" name="Row band"/>
          <p:cNvSpPr/>
          <p:nvPr/>
        </p:nvSpPr>
        <p:spPr>
          <a:xfrm>
            <a:off x="960120" y="3621024"/>
            <a:ext cx="2743080" cy="256032"/>
          </a:xfrm>
          <a:prstGeom prst="rect">
            <a:avLst/>
          </a:prstGeom>
          <a:solidFill>
            <a:srgbClr val="E6F2EC"/>
          </a:solidFill>
          <a:ln>
            <a:noFill/>
          </a:ln>
        </p:spPr>
        <p:txBody>
          <a:bodyPr wrap="square" lIns="0" tIns="0" rIns="0" bIns="0" anchor="t">
            <a:noAutofit/>
          </a:bodyPr>
          <a:lstStyle/>
          <a:p>
            <a:pPr algn="l"/>
          </a:p>
        </p:txBody>
      </p:sp>
      <p:sp>
        <p:nvSpPr>
          <p:cNvPr id="1325" name="Cell"/>
          <p:cNvSpPr txBox="1"/>
          <p:nvPr/>
        </p:nvSpPr>
        <p:spPr>
          <a:xfrm>
            <a:off x="1024128" y="3621024"/>
            <a:ext cx="914400" cy="256032"/>
          </a:xfrm>
          <a:prstGeom prst="rect">
            <a:avLst/>
          </a:prstGeom>
          <a:noFill/>
          <a:ln>
            <a:noFill/>
          </a:ln>
        </p:spPr>
        <p:txBody>
          <a:bodyPr wrap="square" lIns="0" tIns="0" rIns="0" bIns="0" anchor="ctr">
            <a:noAutofit/>
          </a:bodyPr>
          <a:lstStyle/>
          <a:p>
            <a:pPr algn="l"/>
            <a:r>
              <a:rPr lang="en-US" sz="1150" b="0" i="0" dirty="0">
                <a:solidFill>
                  <a:srgbClr val="1F2328"/>
                </a:solidFill>
                <a:latin typeface="Consolas"/>
                <a:cs typeface="Consolas"/>
              </a:rPr>
              <a:t xml:space="preserve">P02</a:t>
            </a:r>
          </a:p>
        </p:txBody>
      </p:sp>
      <p:sp>
        <p:nvSpPr>
          <p:cNvPr id="1326" name="Cell"/>
          <p:cNvSpPr txBox="1"/>
          <p:nvPr/>
        </p:nvSpPr>
        <p:spPr>
          <a:xfrm>
            <a:off x="1920240" y="3621024"/>
            <a:ext cx="914400" cy="256032"/>
          </a:xfrm>
          <a:prstGeom prst="rect">
            <a:avLst/>
          </a:prstGeom>
          <a:noFill/>
          <a:ln>
            <a:noFill/>
          </a:ln>
        </p:spPr>
        <p:txBody>
          <a:bodyPr wrap="square" lIns="0" tIns="0" rIns="0" bIns="0" anchor="ctr">
            <a:noAutofit/>
          </a:bodyPr>
          <a:lstStyle/>
          <a:p>
            <a:pPr algn="l"/>
            <a:r>
              <a:rPr lang="en-US" sz="1150" b="0" i="0" dirty="0">
                <a:solidFill>
                  <a:srgbClr val="1F2328"/>
                </a:solidFill>
                <a:latin typeface="Consolas"/>
                <a:cs typeface="Consolas"/>
              </a:rPr>
              <a:t xml:space="preserve">yes</a:t>
            </a:r>
          </a:p>
        </p:txBody>
      </p:sp>
      <p:sp>
        <p:nvSpPr>
          <p:cNvPr id="1327" name="Cell"/>
          <p:cNvSpPr txBox="1"/>
          <p:nvPr/>
        </p:nvSpPr>
        <p:spPr>
          <a:xfrm>
            <a:off x="2926079" y="3621024"/>
            <a:ext cx="914400" cy="256032"/>
          </a:xfrm>
          <a:prstGeom prst="rect">
            <a:avLst/>
          </a:prstGeom>
          <a:noFill/>
          <a:ln>
            <a:noFill/>
          </a:ln>
        </p:spPr>
        <p:txBody>
          <a:bodyPr wrap="square" lIns="0" tIns="0" rIns="0" bIns="0" anchor="ctr">
            <a:noAutofit/>
          </a:bodyPr>
          <a:lstStyle/>
          <a:p>
            <a:pPr algn="l"/>
            <a:r>
              <a:rPr lang="en-US" sz="1150" b="0" i="0" dirty="0">
                <a:solidFill>
                  <a:srgbClr val="1F2328"/>
                </a:solidFill>
                <a:latin typeface="Consolas"/>
                <a:cs typeface="Consolas"/>
              </a:rPr>
              <a:t xml:space="preserve">1</a:t>
            </a:r>
          </a:p>
        </p:txBody>
      </p:sp>
      <p:sp>
        <p:nvSpPr>
          <p:cNvPr id="1328" name="Cell"/>
          <p:cNvSpPr txBox="1"/>
          <p:nvPr/>
        </p:nvSpPr>
        <p:spPr>
          <a:xfrm>
            <a:off x="1024128" y="3913632"/>
            <a:ext cx="914400" cy="256032"/>
          </a:xfrm>
          <a:prstGeom prst="rect">
            <a:avLst/>
          </a:prstGeom>
          <a:noFill/>
          <a:ln>
            <a:noFill/>
          </a:ln>
        </p:spPr>
        <p:txBody>
          <a:bodyPr wrap="square" lIns="0" tIns="0" rIns="0" bIns="0" anchor="ctr">
            <a:noAutofit/>
          </a:bodyPr>
          <a:lstStyle/>
          <a:p>
            <a:pPr algn="l"/>
            <a:r>
              <a:rPr lang="en-US" sz="1150" b="0" i="0" dirty="0">
                <a:solidFill>
                  <a:srgbClr val="1F2328"/>
                </a:solidFill>
                <a:latin typeface="Consolas"/>
                <a:cs typeface="Consolas"/>
              </a:rPr>
              <a:t xml:space="preserve">P03</a:t>
            </a:r>
          </a:p>
        </p:txBody>
      </p:sp>
      <p:sp>
        <p:nvSpPr>
          <p:cNvPr id="1329" name="Cell"/>
          <p:cNvSpPr txBox="1"/>
          <p:nvPr/>
        </p:nvSpPr>
        <p:spPr>
          <a:xfrm>
            <a:off x="1920240" y="3913632"/>
            <a:ext cx="914400" cy="256032"/>
          </a:xfrm>
          <a:prstGeom prst="rect">
            <a:avLst/>
          </a:prstGeom>
          <a:noFill/>
          <a:ln>
            <a:noFill/>
          </a:ln>
        </p:spPr>
        <p:txBody>
          <a:bodyPr wrap="square" lIns="0" tIns="0" rIns="0" bIns="0" anchor="ctr">
            <a:noAutofit/>
          </a:bodyPr>
          <a:lstStyle/>
          <a:p>
            <a:pPr algn="l"/>
            <a:r>
              <a:rPr lang="en-US" sz="1150" b="0" i="0" dirty="0">
                <a:solidFill>
                  <a:srgbClr val="1F2328"/>
                </a:solidFill>
                <a:latin typeface="Consolas"/>
                <a:cs typeface="Consolas"/>
              </a:rPr>
              <a:t xml:space="preserve">no</a:t>
            </a:r>
          </a:p>
        </p:txBody>
      </p:sp>
      <p:sp>
        <p:nvSpPr>
          <p:cNvPr id="1330" name="Cell"/>
          <p:cNvSpPr txBox="1"/>
          <p:nvPr/>
        </p:nvSpPr>
        <p:spPr>
          <a:xfrm>
            <a:off x="2926079" y="3913632"/>
            <a:ext cx="914400" cy="256032"/>
          </a:xfrm>
          <a:prstGeom prst="rect">
            <a:avLst/>
          </a:prstGeom>
          <a:noFill/>
          <a:ln>
            <a:noFill/>
          </a:ln>
        </p:spPr>
        <p:txBody>
          <a:bodyPr wrap="square" lIns="0" tIns="0" rIns="0" bIns="0" anchor="ctr">
            <a:noAutofit/>
          </a:bodyPr>
          <a:lstStyle/>
          <a:p>
            <a:pPr algn="l"/>
            <a:r>
              <a:rPr lang="en-US" sz="1150" b="0" i="0" dirty="0">
                <a:solidFill>
                  <a:srgbClr val="1F2328"/>
                </a:solidFill>
                <a:latin typeface="Consolas"/>
                <a:cs typeface="Consolas"/>
              </a:rPr>
              <a:t xml:space="preserve">0</a:t>
            </a:r>
          </a:p>
        </p:txBody>
      </p:sp>
      <p:sp>
        <p:nvSpPr>
          <p:cNvPr id="1331" name="Row band"/>
          <p:cNvSpPr/>
          <p:nvPr/>
        </p:nvSpPr>
        <p:spPr>
          <a:xfrm>
            <a:off x="960120" y="4206240"/>
            <a:ext cx="2743080" cy="256032"/>
          </a:xfrm>
          <a:prstGeom prst="rect">
            <a:avLst/>
          </a:prstGeom>
          <a:solidFill>
            <a:srgbClr val="E6F2EC"/>
          </a:solidFill>
          <a:ln>
            <a:noFill/>
          </a:ln>
        </p:spPr>
        <p:txBody>
          <a:bodyPr wrap="square" lIns="0" tIns="0" rIns="0" bIns="0" anchor="t">
            <a:noAutofit/>
          </a:bodyPr>
          <a:lstStyle/>
          <a:p>
            <a:pPr algn="l"/>
          </a:p>
        </p:txBody>
      </p:sp>
      <p:sp>
        <p:nvSpPr>
          <p:cNvPr id="1332" name="Cell"/>
          <p:cNvSpPr txBox="1"/>
          <p:nvPr/>
        </p:nvSpPr>
        <p:spPr>
          <a:xfrm>
            <a:off x="1024128" y="4206240"/>
            <a:ext cx="914400" cy="256032"/>
          </a:xfrm>
          <a:prstGeom prst="rect">
            <a:avLst/>
          </a:prstGeom>
          <a:noFill/>
          <a:ln>
            <a:noFill/>
          </a:ln>
        </p:spPr>
        <p:txBody>
          <a:bodyPr wrap="square" lIns="0" tIns="0" rIns="0" bIns="0" anchor="ctr">
            <a:noAutofit/>
          </a:bodyPr>
          <a:lstStyle/>
          <a:p>
            <a:pPr algn="l"/>
            <a:r>
              <a:rPr lang="en-US" sz="1150" b="0" i="0" dirty="0">
                <a:solidFill>
                  <a:srgbClr val="1F2328"/>
                </a:solidFill>
                <a:latin typeface="Consolas"/>
                <a:cs typeface="Consolas"/>
              </a:rPr>
              <a:t xml:space="preserve">P04</a:t>
            </a:r>
          </a:p>
        </p:txBody>
      </p:sp>
      <p:sp>
        <p:nvSpPr>
          <p:cNvPr id="1333" name="Cell"/>
          <p:cNvSpPr txBox="1"/>
          <p:nvPr/>
        </p:nvSpPr>
        <p:spPr>
          <a:xfrm>
            <a:off x="1920240" y="4206240"/>
            <a:ext cx="914400" cy="256032"/>
          </a:xfrm>
          <a:prstGeom prst="rect">
            <a:avLst/>
          </a:prstGeom>
          <a:noFill/>
          <a:ln>
            <a:noFill/>
          </a:ln>
        </p:spPr>
        <p:txBody>
          <a:bodyPr wrap="square" lIns="0" tIns="0" rIns="0" bIns="0" anchor="ctr">
            <a:noAutofit/>
          </a:bodyPr>
          <a:lstStyle/>
          <a:p>
            <a:pPr algn="l"/>
            <a:r>
              <a:rPr lang="en-US" sz="1150" b="0" i="0" dirty="0">
                <a:solidFill>
                  <a:srgbClr val="1F2328"/>
                </a:solidFill>
                <a:latin typeface="Consolas"/>
                <a:cs typeface="Consolas"/>
              </a:rPr>
              <a:t xml:space="preserve">yes</a:t>
            </a:r>
          </a:p>
        </p:txBody>
      </p:sp>
      <p:sp>
        <p:nvSpPr>
          <p:cNvPr id="1334" name="Cell"/>
          <p:cNvSpPr txBox="1"/>
          <p:nvPr/>
        </p:nvSpPr>
        <p:spPr>
          <a:xfrm>
            <a:off x="2926079" y="4206240"/>
            <a:ext cx="914400" cy="256032"/>
          </a:xfrm>
          <a:prstGeom prst="rect">
            <a:avLst/>
          </a:prstGeom>
          <a:noFill/>
          <a:ln>
            <a:noFill/>
          </a:ln>
        </p:spPr>
        <p:txBody>
          <a:bodyPr wrap="square" lIns="0" tIns="0" rIns="0" bIns="0" anchor="ctr">
            <a:noAutofit/>
          </a:bodyPr>
          <a:lstStyle/>
          <a:p>
            <a:pPr algn="l"/>
            <a:r>
              <a:rPr lang="en-US" sz="1150" b="0" i="0" dirty="0">
                <a:solidFill>
                  <a:srgbClr val="1F2328"/>
                </a:solidFill>
                <a:latin typeface="Consolas"/>
                <a:cs typeface="Consolas"/>
              </a:rPr>
              <a:t xml:space="preserve">1</a:t>
            </a:r>
          </a:p>
        </p:txBody>
      </p:sp>
      <p:sp>
        <p:nvSpPr>
          <p:cNvPr id="1335" name="Cell"/>
          <p:cNvSpPr txBox="1"/>
          <p:nvPr/>
        </p:nvSpPr>
        <p:spPr>
          <a:xfrm>
            <a:off x="1024128" y="4498848"/>
            <a:ext cx="914400" cy="256032"/>
          </a:xfrm>
          <a:prstGeom prst="rect">
            <a:avLst/>
          </a:prstGeom>
          <a:noFill/>
          <a:ln>
            <a:noFill/>
          </a:ln>
        </p:spPr>
        <p:txBody>
          <a:bodyPr wrap="square" lIns="0" tIns="0" rIns="0" bIns="0" anchor="ctr">
            <a:noAutofit/>
          </a:bodyPr>
          <a:lstStyle/>
          <a:p>
            <a:pPr algn="l"/>
            <a:r>
              <a:rPr lang="en-US" sz="1150" b="0" i="0" dirty="0">
                <a:solidFill>
                  <a:srgbClr val="1F2328"/>
                </a:solidFill>
                <a:latin typeface="Consolas"/>
                <a:cs typeface="Consolas"/>
              </a:rPr>
              <a:t xml:space="preserve">P05</a:t>
            </a:r>
          </a:p>
        </p:txBody>
      </p:sp>
      <p:sp>
        <p:nvSpPr>
          <p:cNvPr id="1336" name="Cell"/>
          <p:cNvSpPr txBox="1"/>
          <p:nvPr/>
        </p:nvSpPr>
        <p:spPr>
          <a:xfrm>
            <a:off x="1920240" y="4498848"/>
            <a:ext cx="914400" cy="256032"/>
          </a:xfrm>
          <a:prstGeom prst="rect">
            <a:avLst/>
          </a:prstGeom>
          <a:noFill/>
          <a:ln>
            <a:noFill/>
          </a:ln>
        </p:spPr>
        <p:txBody>
          <a:bodyPr wrap="square" lIns="0" tIns="0" rIns="0" bIns="0" anchor="ctr">
            <a:noAutofit/>
          </a:bodyPr>
          <a:lstStyle/>
          <a:p>
            <a:pPr algn="l"/>
            <a:r>
              <a:rPr lang="en-US" sz="1150" b="0" i="0" dirty="0">
                <a:solidFill>
                  <a:srgbClr val="1F2328"/>
                </a:solidFill>
                <a:latin typeface="Consolas"/>
                <a:cs typeface="Consolas"/>
              </a:rPr>
              <a:t xml:space="preserve">no</a:t>
            </a:r>
          </a:p>
        </p:txBody>
      </p:sp>
      <p:sp>
        <p:nvSpPr>
          <p:cNvPr id="1337" name="Cell"/>
          <p:cNvSpPr txBox="1"/>
          <p:nvPr/>
        </p:nvSpPr>
        <p:spPr>
          <a:xfrm>
            <a:off x="2926079" y="4498848"/>
            <a:ext cx="914400" cy="256032"/>
          </a:xfrm>
          <a:prstGeom prst="rect">
            <a:avLst/>
          </a:prstGeom>
          <a:noFill/>
          <a:ln>
            <a:noFill/>
          </a:ln>
        </p:spPr>
        <p:txBody>
          <a:bodyPr wrap="square" lIns="0" tIns="0" rIns="0" bIns="0" anchor="ctr">
            <a:noAutofit/>
          </a:bodyPr>
          <a:lstStyle/>
          <a:p>
            <a:pPr algn="l"/>
            <a:r>
              <a:rPr lang="en-US" sz="1150" b="0" i="0" dirty="0">
                <a:solidFill>
                  <a:srgbClr val="1F2328"/>
                </a:solidFill>
                <a:latin typeface="Consolas"/>
                <a:cs typeface="Consolas"/>
              </a:rPr>
              <a:t xml:space="preserve">0</a:t>
            </a:r>
          </a:p>
        </p:txBody>
      </p:sp>
      <p:sp>
        <p:nvSpPr>
          <p:cNvPr id="1338" name="Bridge"/>
          <p:cNvSpPr txBox="1"/>
          <p:nvPr/>
        </p:nvSpPr>
        <p:spPr>
          <a:xfrm>
            <a:off x="4425696" y="4526280"/>
            <a:ext cx="2423040" cy="566928"/>
          </a:xfrm>
          <a:prstGeom prst="rect">
            <a:avLst/>
          </a:prstGeom>
          <a:noFill/>
          <a:ln>
            <a:noFill/>
          </a:ln>
        </p:spPr>
        <p:txBody>
          <a:bodyPr wrap="square" lIns="0" tIns="0" rIns="0" bIns="0" anchor="t">
            <a:noAutofit/>
          </a:bodyPr>
          <a:lstStyle/>
          <a:p>
            <a:pPr algn="l"/>
            <a:r>
              <a:rPr lang="en-US" sz="1200" b="0" i="0" dirty="0">
                <a:solidFill>
                  <a:srgbClr val="3A434C"/>
                </a:solidFill>
                <a:latin typeface="Calibri"/>
                <a:cs typeface="Calibri"/>
              </a:rPr>
              <a:t xml:space="preserve">Data and label point the same way: a link worth checking.</a:t>
            </a:r>
          </a:p>
        </p:txBody>
      </p:sp>
      <p:sp>
        <p:nvSpPr>
          <p:cNvPr id="1339" name="Code panel"/>
          <p:cNvSpPr/>
          <p:nvPr/>
        </p:nvSpPr>
        <p:spPr>
          <a:xfrm>
            <a:off x="7534656" y="2999232"/>
            <a:ext cx="3666780" cy="1833372"/>
          </a:xfrm>
          <a:prstGeom prst="roundRect">
            <a:avLst>
              <a:gd name="adj" fmla="val 9000"/>
            </a:avLst>
          </a:prstGeom>
          <a:solidFill>
            <a:srgbClr val="F6F8FA"/>
          </a:solidFill>
          <a:ln w="9525">
            <a:solidFill>
              <a:srgbClr val="D0D7DE"/>
            </a:solidFill>
          </a:ln>
        </p:spPr>
        <p:txBody>
          <a:bodyPr wrap="square" lIns="0" tIns="0" rIns="0" bIns="0" anchor="ctr">
            <a:noAutofit/>
          </a:bodyPr>
          <a:lstStyle/>
          <a:p>
            <a:endParaRPr lang="en-US"/>
          </a:p>
        </p:txBody>
      </p:sp>
      <p:sp>
        <p:nvSpPr>
          <p:cNvPr id="1340" name="Code line 1340"/>
          <p:cNvSpPr txBox="1"/>
          <p:nvPr/>
        </p:nvSpPr>
        <p:spPr>
          <a:xfrm>
            <a:off x="7534656" y="3072384"/>
            <a:ext cx="3621060" cy="187452"/>
          </a:xfrm>
          <a:prstGeom prst="rect">
            <a:avLst/>
          </a:prstGeom>
          <a:noFill/>
        </p:spPr>
        <p:txBody>
          <a:bodyPr wrap="none" lIns="146304" tIns="0" rIns="0" bIns="0" anchor="ctr">
            <a:noAutofit/>
          </a:bodyPr>
          <a:lstStyle/>
          <a:p>
            <a:pPr>
              <a:tabLst>
                <a:tab pos="4224528" algn="l"/>
              </a:tabLst>
            </a:pPr>
            <a:r>
              <a:rPr lang="en-US" sz="1050" b="1" i="0" dirty="0">
                <a:solidFill>
                  <a:srgbClr val="0B6E4F"/>
                </a:solidFill>
                <a:latin typeface="Consolas"/>
                <a:cs typeface="Consolas"/>
              </a:rPr>
              <a:t xml:space="preserve">Individual:</a:t>
            </a:r>
            <a:r>
              <a:rPr lang="en-US" sz="1050" b="0" i="0" dirty="0">
                <a:solidFill>
                  <a:srgbClr val="1F2328"/>
                </a:solidFill>
                <a:latin typeface="Consolas"/>
                <a:cs typeface="Consolas"/>
              </a:rPr>
              <a:t xml:space="preserve"> </a:t>
            </a:r>
            <a:r>
              <a:rPr lang="en-US" sz="1050" b="0" i="0" dirty="0">
                <a:solidFill>
                  <a:srgbClr val="1F2328"/>
                </a:solidFill>
                <a:latin typeface="Consolas"/>
                <a:cs typeface="Consolas"/>
              </a:rPr>
              <a:t xml:space="preserve">cisplatin_bmdep</a:t>
            </a:r>
            <a:endParaRPr lang="en-US" sz="1050"/>
          </a:p>
        </p:txBody>
      </p:sp>
      <p:sp>
        <p:nvSpPr>
          <p:cNvPr id="1341" name="Code line 1341"/>
          <p:cNvSpPr txBox="1"/>
          <p:nvPr/>
        </p:nvSpPr>
        <p:spPr>
          <a:xfrm>
            <a:off x="7534656" y="3259836"/>
            <a:ext cx="3621060" cy="187452"/>
          </a:xfrm>
          <a:prstGeom prst="rect">
            <a:avLst/>
          </a:prstGeom>
          <a:noFill/>
        </p:spPr>
        <p:txBody>
          <a:bodyPr wrap="none" lIns="146304" tIns="0" rIns="0" bIns="0" anchor="ctr">
            <a:noAutofit/>
          </a:bodyPr>
          <a:lstStyle/>
          <a:p>
            <a:pPr>
              <a:tabLst>
                <a:tab pos="4224528" algn="l"/>
              </a:tabLst>
            </a:pPr>
            <a:r>
              <a:rPr lang="en-US" sz="1050" b="0" i="0" dirty="0">
                <a:solidFill>
                  <a:srgbClr val="1F2328"/>
                </a:solidFill>
                <a:latin typeface="Consolas"/>
                <a:cs typeface="Consolas"/>
              </a:rPr>
              <a:t xml:space="preserve">  </a:t>
            </a:r>
            <a:r>
              <a:rPr lang="en-US" sz="1050" b="1" i="0" dirty="0">
                <a:solidFill>
                  <a:srgbClr val="0B6E4F"/>
                </a:solidFill>
                <a:latin typeface="Consolas"/>
                <a:cs typeface="Consolas"/>
              </a:rPr>
              <a:t xml:space="preserve">Types:</a:t>
            </a:r>
            <a:r>
              <a:rPr lang="en-US" sz="1050" b="0" i="0" dirty="0">
                <a:solidFill>
                  <a:srgbClr val="1F2328"/>
                </a:solidFill>
                <a:latin typeface="Consolas"/>
                <a:cs typeface="Consolas"/>
              </a:rPr>
              <a:t xml:space="preserve"> </a:t>
            </a:r>
            <a:r>
              <a:rPr lang="en-US" sz="1050" b="0" i="0" dirty="0">
                <a:solidFill>
                  <a:srgbClr val="1F2328"/>
                </a:solidFill>
                <a:latin typeface="Consolas"/>
                <a:cs typeface="Consolas"/>
              </a:rPr>
              <a:t xml:space="preserve">CandidateAssociation</a:t>
            </a:r>
            <a:endParaRPr lang="en-US" sz="1050"/>
          </a:p>
        </p:txBody>
      </p:sp>
      <p:sp>
        <p:nvSpPr>
          <p:cNvPr id="1342" name="Code line 1342"/>
          <p:cNvSpPr txBox="1"/>
          <p:nvPr/>
        </p:nvSpPr>
        <p:spPr>
          <a:xfrm>
            <a:off x="7534656" y="3447288"/>
            <a:ext cx="3621060" cy="187452"/>
          </a:xfrm>
          <a:prstGeom prst="rect">
            <a:avLst/>
          </a:prstGeom>
          <a:noFill/>
        </p:spPr>
        <p:txBody>
          <a:bodyPr wrap="none" lIns="146304" tIns="0" rIns="0" bIns="0" anchor="ctr">
            <a:noAutofit/>
          </a:bodyPr>
          <a:lstStyle/>
          <a:p>
            <a:pPr>
              <a:tabLst>
                <a:tab pos="4224528" algn="l"/>
              </a:tabLst>
            </a:pPr>
            <a:r>
              <a:rPr lang="en-US" sz="1050" b="0" i="0" dirty="0">
                <a:solidFill>
                  <a:srgbClr val="1F2328"/>
                </a:solidFill>
                <a:latin typeface="Consolas"/>
                <a:cs typeface="Consolas"/>
              </a:rPr>
              <a:t xml:space="preserve">  </a:t>
            </a:r>
            <a:r>
              <a:rPr lang="en-US" sz="1050" b="1" i="0" dirty="0">
                <a:solidFill>
                  <a:srgbClr val="0B6E4F"/>
                </a:solidFill>
                <a:latin typeface="Consolas"/>
                <a:cs typeface="Consolas"/>
              </a:rPr>
              <a:t xml:space="preserve">Facts:</a:t>
            </a:r>
            <a:endParaRPr lang="en-US" sz="1050"/>
          </a:p>
        </p:txBody>
      </p:sp>
      <p:sp>
        <p:nvSpPr>
          <p:cNvPr id="1343" name="Code line 1343"/>
          <p:cNvSpPr txBox="1"/>
          <p:nvPr/>
        </p:nvSpPr>
        <p:spPr>
          <a:xfrm>
            <a:off x="7534656" y="3634739"/>
            <a:ext cx="3621060" cy="187452"/>
          </a:xfrm>
          <a:prstGeom prst="rect">
            <a:avLst/>
          </a:prstGeom>
          <a:noFill/>
        </p:spPr>
        <p:txBody>
          <a:bodyPr wrap="none" lIns="146304" tIns="0" rIns="0" bIns="0" anchor="ctr">
            <a:noAutofit/>
          </a:bodyPr>
          <a:lstStyle/>
          <a:p>
            <a:pPr>
              <a:tabLst>
                <a:tab pos="4224528" algn="l"/>
              </a:tabLst>
            </a:pPr>
            <a:r>
              <a:rPr lang="en-US" sz="1050" b="0" i="0" dirty="0">
                <a:solidFill>
                  <a:srgbClr val="1F2328"/>
                </a:solidFill>
                <a:latin typeface="Consolas"/>
                <a:cs typeface="Consolas"/>
              </a:rPr>
              <a:t xml:space="preserve">    </a:t>
            </a:r>
            <a:r>
              <a:rPr lang="en-US" sz="1050" b="0" i="0" dirty="0">
                <a:solidFill>
                  <a:srgbClr val="1F2328"/>
                </a:solidFill>
                <a:latin typeface="Consolas"/>
                <a:cs typeface="Consolas"/>
              </a:rPr>
              <a:t xml:space="preserve">hasDrug</a:t>
            </a:r>
            <a:r>
              <a:rPr lang="en-US" sz="1050" b="0" i="0" dirty="0">
                <a:solidFill>
                  <a:srgbClr val="1F2328"/>
                </a:solidFill>
                <a:latin typeface="Consolas"/>
                <a:cs typeface="Consolas"/>
              </a:rPr>
              <a:t xml:space="preserve"> </a:t>
            </a:r>
            <a:r>
              <a:rPr lang="en-US" sz="1050" b="0" i="0" dirty="0">
                <a:solidFill>
                  <a:srgbClr val="1F2328"/>
                </a:solidFill>
                <a:latin typeface="Consolas"/>
                <a:cs typeface="Consolas"/>
              </a:rPr>
              <a:t xml:space="preserve">Cisplatin</a:t>
            </a:r>
            <a:r>
              <a:rPr lang="en-US" sz="1050" b="0" i="0" dirty="0">
                <a:solidFill>
                  <a:srgbClr val="1F2328"/>
                </a:solidFill>
                <a:latin typeface="Consolas"/>
                <a:cs typeface="Consolas"/>
              </a:rPr>
              <a:t xml:space="preserve">,</a:t>
            </a:r>
            <a:endParaRPr lang="en-US" sz="1050"/>
          </a:p>
        </p:txBody>
      </p:sp>
      <p:sp>
        <p:nvSpPr>
          <p:cNvPr id="1344" name="Code line 1344"/>
          <p:cNvSpPr txBox="1"/>
          <p:nvPr/>
        </p:nvSpPr>
        <p:spPr>
          <a:xfrm>
            <a:off x="7534656" y="3822191"/>
            <a:ext cx="3621060" cy="187452"/>
          </a:xfrm>
          <a:prstGeom prst="rect">
            <a:avLst/>
          </a:prstGeom>
          <a:noFill/>
        </p:spPr>
        <p:txBody>
          <a:bodyPr wrap="none" lIns="146304" tIns="0" rIns="0" bIns="0" anchor="ctr">
            <a:noAutofit/>
          </a:bodyPr>
          <a:lstStyle/>
          <a:p>
            <a:pPr>
              <a:tabLst>
                <a:tab pos="4224528" algn="l"/>
              </a:tabLst>
            </a:pPr>
            <a:r>
              <a:rPr lang="en-US" sz="1050" b="0" i="0" dirty="0">
                <a:solidFill>
                  <a:srgbClr val="1F2328"/>
                </a:solidFill>
                <a:latin typeface="Consolas"/>
                <a:cs typeface="Consolas"/>
              </a:rPr>
              <a:t xml:space="preserve">    </a:t>
            </a:r>
            <a:r>
              <a:rPr lang="en-US" sz="1050" b="0" i="0" dirty="0">
                <a:solidFill>
                  <a:srgbClr val="1F2328"/>
                </a:solidFill>
                <a:latin typeface="Consolas"/>
                <a:cs typeface="Consolas"/>
              </a:rPr>
              <a:t xml:space="preserve">hasCondition</a:t>
            </a:r>
            <a:r>
              <a:rPr lang="en-US" sz="1050" b="0" i="0" dirty="0">
                <a:solidFill>
                  <a:srgbClr val="1F2328"/>
                </a:solidFill>
                <a:latin typeface="Consolas"/>
                <a:cs typeface="Consolas"/>
              </a:rPr>
              <a:t xml:space="preserve"> </a:t>
            </a:r>
            <a:r>
              <a:rPr lang="en-US" sz="1050" b="0" i="0" dirty="0">
                <a:solidFill>
                  <a:srgbClr val="1F2328"/>
                </a:solidFill>
                <a:latin typeface="Consolas"/>
                <a:cs typeface="Consolas"/>
              </a:rPr>
              <a:t xml:space="preserve">BoneMarrowDepression</a:t>
            </a:r>
            <a:r>
              <a:rPr lang="en-US" sz="1050" b="0" i="0" dirty="0">
                <a:solidFill>
                  <a:srgbClr val="1F2328"/>
                </a:solidFill>
                <a:latin typeface="Consolas"/>
                <a:cs typeface="Consolas"/>
              </a:rPr>
              <a:t xml:space="preserve">,</a:t>
            </a:r>
            <a:endParaRPr lang="en-US" sz="1050"/>
          </a:p>
        </p:txBody>
      </p:sp>
      <p:sp>
        <p:nvSpPr>
          <p:cNvPr id="1345" name="Code line 1345"/>
          <p:cNvSpPr txBox="1"/>
          <p:nvPr/>
        </p:nvSpPr>
        <p:spPr>
          <a:xfrm>
            <a:off x="7534656" y="4009644"/>
            <a:ext cx="3621060" cy="187452"/>
          </a:xfrm>
          <a:prstGeom prst="rect">
            <a:avLst/>
          </a:prstGeom>
          <a:noFill/>
        </p:spPr>
        <p:txBody>
          <a:bodyPr wrap="none" lIns="146304" tIns="0" rIns="0" bIns="0" anchor="ctr">
            <a:noAutofit/>
          </a:bodyPr>
          <a:lstStyle/>
          <a:p>
            <a:pPr>
              <a:tabLst>
                <a:tab pos="4224528" algn="l"/>
              </a:tabLst>
            </a:pPr>
            <a:r>
              <a:rPr lang="en-US" sz="1050" b="0" i="0" dirty="0">
                <a:solidFill>
                  <a:srgbClr val="1F2328"/>
                </a:solidFill>
                <a:latin typeface="Consolas"/>
                <a:cs typeface="Consolas"/>
              </a:rPr>
              <a:t xml:space="preserve">    </a:t>
            </a:r>
            <a:r>
              <a:rPr lang="en-US" sz="1050" b="0" i="0" dirty="0">
                <a:solidFill>
                  <a:srgbClr val="1F2328"/>
                </a:solidFill>
                <a:latin typeface="Consolas"/>
                <a:cs typeface="Consolas"/>
              </a:rPr>
              <a:t xml:space="preserve">status</a:t>
            </a:r>
            <a:r>
              <a:rPr lang="en-US" sz="1050" b="0" i="0" dirty="0">
                <a:solidFill>
                  <a:srgbClr val="1F2328"/>
                </a:solidFill>
                <a:latin typeface="Consolas"/>
                <a:cs typeface="Consolas"/>
              </a:rPr>
              <a:t xml:space="preserve"> </a:t>
            </a:r>
            <a:r>
              <a:rPr lang="en-US" sz="1050" b="0" i="0" dirty="0">
                <a:solidFill>
                  <a:srgbClr val="A3401E"/>
                </a:solidFill>
                <a:latin typeface="Consolas"/>
                <a:cs typeface="Consolas"/>
              </a:rPr>
              <a:t xml:space="preserve">"needs expert review"</a:t>
            </a:r>
            <a:endParaRPr lang="en-US" sz="1050"/>
          </a:p>
        </p:txBody>
      </p:sp>
      <p:sp>
        <p:nvSpPr>
          <p:cNvPr id="1346" name="Code line 1346"/>
          <p:cNvSpPr txBox="1"/>
          <p:nvPr/>
        </p:nvSpPr>
        <p:spPr>
          <a:xfrm>
            <a:off x="7534656" y="4197096"/>
            <a:ext cx="3621060" cy="187452"/>
          </a:xfrm>
          <a:prstGeom prst="rect">
            <a:avLst/>
          </a:prstGeom>
          <a:noFill/>
        </p:spPr>
        <p:txBody>
          <a:bodyPr wrap="none" lIns="146304" tIns="0" rIns="0" bIns="0" anchor="ctr">
            <a:noAutofit/>
          </a:bodyPr>
          <a:lstStyle/>
          <a:p>
            <a:pPr>
              <a:tabLst>
                <a:tab pos="4224528" algn="l"/>
              </a:tabLst>
            </a:pPr>
            <a:r>
              <a:rPr lang="en-US" sz="1050" b="0" i="0" dirty="0">
                <a:solidFill>
                  <a:srgbClr val="1F2328"/>
                </a:solidFill>
                <a:latin typeface="Consolas"/>
                <a:cs typeface="Consolas"/>
              </a:rPr>
              <a:t xml:space="preserve">  </a:t>
            </a:r>
            <a:r>
              <a:rPr lang="en-US" sz="1050" b="1" i="0" dirty="0">
                <a:solidFill>
                  <a:srgbClr val="0B6E4F"/>
                </a:solidFill>
                <a:latin typeface="Consolas"/>
                <a:cs typeface="Consolas"/>
              </a:rPr>
              <a:t xml:space="preserve">Annotations:</a:t>
            </a:r>
            <a:endParaRPr lang="en-US" sz="1050"/>
          </a:p>
        </p:txBody>
      </p:sp>
      <p:sp>
        <p:nvSpPr>
          <p:cNvPr id="1347" name="Code line 1347"/>
          <p:cNvSpPr txBox="1"/>
          <p:nvPr/>
        </p:nvSpPr>
        <p:spPr>
          <a:xfrm>
            <a:off x="7534656" y="4384548"/>
            <a:ext cx="3621060" cy="187452"/>
          </a:xfrm>
          <a:prstGeom prst="rect">
            <a:avLst/>
          </a:prstGeom>
          <a:noFill/>
        </p:spPr>
        <p:txBody>
          <a:bodyPr wrap="none" lIns="146304" tIns="0" rIns="0" bIns="0" anchor="ctr">
            <a:noAutofit/>
          </a:bodyPr>
          <a:lstStyle/>
          <a:p>
            <a:pPr>
              <a:tabLst>
                <a:tab pos="4224528" algn="l"/>
              </a:tabLst>
            </a:pPr>
            <a:r>
              <a:rPr lang="en-US" sz="1050" b="0" i="0" dirty="0">
                <a:solidFill>
                  <a:srgbClr val="1F2328"/>
                </a:solidFill>
                <a:latin typeface="Consolas"/>
                <a:cs typeface="Consolas"/>
              </a:rPr>
              <a:t xml:space="preserve">    </a:t>
            </a:r>
            <a:r>
              <a:rPr lang="en-US" sz="1050" b="0" i="0" dirty="0">
                <a:solidFill>
                  <a:srgbClr val="5B6770"/>
                </a:solidFill>
                <a:latin typeface="Consolas"/>
                <a:cs typeface="Consolas"/>
              </a:rPr>
              <a:t xml:space="preserve">prov:wasDerivedFrom</a:t>
            </a:r>
            <a:r>
              <a:rPr lang="en-US" sz="1050" b="0" i="0" dirty="0">
                <a:solidFill>
                  <a:srgbClr val="1F2328"/>
                </a:solidFill>
                <a:latin typeface="Consolas"/>
                <a:cs typeface="Consolas"/>
              </a:rPr>
              <a:t xml:space="preserve"> </a:t>
            </a:r>
            <a:r>
              <a:rPr lang="en-US" sz="1050" b="0" i="0" dirty="0">
                <a:solidFill>
                  <a:srgbClr val="2F6B78"/>
                </a:solidFill>
                <a:latin typeface="Consolas"/>
                <a:cs typeface="Consolas"/>
              </a:rPr>
              <a:t xml:space="preserve">admission:BM_DEP</a:t>
            </a:r>
            <a:r>
              <a:rPr lang="en-US" sz="1050" b="0" i="0" dirty="0">
                <a:solidFill>
                  <a:srgbClr val="1F2328"/>
                </a:solidFill>
                <a:latin typeface="Consolas"/>
                <a:cs typeface="Consolas"/>
              </a:rPr>
              <a:t xml:space="preserve">,</a:t>
            </a:r>
            <a:endParaRPr lang="en-US" sz="1050"/>
          </a:p>
        </p:txBody>
      </p:sp>
      <p:sp>
        <p:nvSpPr>
          <p:cNvPr id="1348" name="Code line 1348"/>
          <p:cNvSpPr txBox="1"/>
          <p:nvPr/>
        </p:nvSpPr>
        <p:spPr>
          <a:xfrm>
            <a:off x="7534656" y="4572000"/>
            <a:ext cx="3621060" cy="187452"/>
          </a:xfrm>
          <a:prstGeom prst="rect">
            <a:avLst/>
          </a:prstGeom>
          <a:noFill/>
        </p:spPr>
        <p:txBody>
          <a:bodyPr wrap="none" lIns="146304" tIns="0" rIns="0" bIns="0" anchor="ctr">
            <a:noAutofit/>
          </a:bodyPr>
          <a:lstStyle/>
          <a:p>
            <a:pPr>
              <a:tabLst>
                <a:tab pos="4224528" algn="l"/>
              </a:tabLst>
            </a:pPr>
            <a:r>
              <a:rPr lang="en-US" sz="1050" b="0" i="0" dirty="0">
                <a:solidFill>
                  <a:srgbClr val="1F2328"/>
                </a:solidFill>
                <a:latin typeface="Consolas"/>
                <a:cs typeface="Consolas"/>
              </a:rPr>
              <a:t xml:space="preserve">    </a:t>
            </a:r>
            <a:r>
              <a:rPr lang="en-US" sz="1050" b="0" i="0" dirty="0">
                <a:solidFill>
                  <a:srgbClr val="5B6770"/>
                </a:solidFill>
                <a:latin typeface="Consolas"/>
                <a:cs typeface="Consolas"/>
              </a:rPr>
              <a:t xml:space="preserve">prov:wasDerivedFrom</a:t>
            </a:r>
            <a:r>
              <a:rPr lang="en-US" sz="1050" b="0" i="0" dirty="0">
                <a:solidFill>
                  <a:srgbClr val="1F2328"/>
                </a:solidFill>
                <a:latin typeface="Consolas"/>
                <a:cs typeface="Consolas"/>
              </a:rPr>
              <a:t xml:space="preserve"> </a:t>
            </a:r>
            <a:r>
              <a:rPr lang="en-US" sz="1050" b="0" i="0" dirty="0">
                <a:solidFill>
                  <a:srgbClr val="2F6B78"/>
                </a:solidFill>
                <a:latin typeface="Consolas"/>
                <a:cs typeface="Consolas"/>
              </a:rPr>
              <a:t xml:space="preserve">doc:cisplatin_label</a:t>
            </a:r>
            <a:endParaRPr lang="en-US" sz="1050"/>
          </a:p>
        </p:txBody>
      </p:sp>
    </p:spTree>
  </p:cSld>
  <p:clrMapOvr>
    <a:masterClrMapping/>
  </p:clrMapOvr>
</p:sld>
</file>

<file path=ppt/theme/theme1.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2026-10-26T00:50:16Z</dcterms:created>
</cp:coreProperties>
</file>