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83" r:id="rId32"/>
  </p:sldIdLst>
  <p:sldSz cy="6858000" cx="12192000"/>
  <p:notesSz cx="6858000" cy="12192000"/>
  <p:embeddedFontLst>
    <p:embeddedFont>
      <p:font typeface="IBM Plex Sans"/>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4" roundtripDataSignature="AMtx7miIhFui5hy+i4o3KOYM/gPuu+Lj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40" Type="http://schemas.openxmlformats.org/officeDocument/2006/relationships/font" Target="fonts/IBMPlexSans-regular.fntdata"/><Relationship Id="rId42" Type="http://schemas.openxmlformats.org/officeDocument/2006/relationships/font" Target="fonts/IBMPlexSans-italic.fntdata"/><Relationship Id="rId41" Type="http://schemas.openxmlformats.org/officeDocument/2006/relationships/font" Target="fonts/IBMPlexSans-bold.fntdata"/><Relationship Id="rId44" Type="http://customschemas.google.com/relationships/presentationmetadata" Target="metadata"/><Relationship Id="rId43" Type="http://schemas.openxmlformats.org/officeDocument/2006/relationships/font" Target="fonts/IBMPlexSans-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32"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[12:00–12:49]  SPOKEN SCRIPT (86 words)</a:t>
            </a:r>
          </a:p>
          <a:p>
            <a:r>
              <a:rPr lang="en-US" sz="1200">
                <a:solidFill>
                  <a:schemeClr val="dk1"/>
                </a:solidFill>
                <a:latin typeface="Calibri"/>
                <a:ea typeface="Calibri"/>
                <a:cs typeface="Calibri"/>
                <a:sym typeface="Calibri"/>
              </a:rPr>
              <a:t>Where next? Let the data speak. Today RIGOR reads schemas and documentation, but the data can show links the documentation does not contain. Here, the treatment table says which admissions received cisplatin, and the admission table records bone marrow depression. Joined on the admission id, every cisplatin admission has bone marrow depression. That link is not in the documentation, so RIGOR can propose it as candidate knowledge, with provenance to both columns. A pattern, not a cause: an expert reviews it before it joins the ontology.</a:t>
            </a:r>
          </a:p>
          <a:p/>
          <a:p>
            <a:r>
              <a:rPr lang="en-US" sz="1200">
                <a:solidFill>
                  <a:schemeClr val="dk1"/>
                </a:solidFill>
                <a:latin typeface="Calibri"/>
                <a:ea typeface="Calibri"/>
                <a:cs typeface="Calibri"/>
                <a:sym typeface="Calibri"/>
              </a:rPr>
              <a:t>PRESENTER / POINTER: A1 and A3 in both tables; then the pattern bars; then the candidate code and its badge.</a:t>
            </a:r>
          </a:p>
          <a:p>
            <a:r>
              <a:rPr lang="en-US" sz="1200">
                <a:solidFill>
                  <a:schemeClr val="dk1"/>
                </a:solidFill>
                <a:latin typeface="Calibri"/>
                <a:ea typeface="Calibri"/>
                <a:cs typeface="Calibri"/>
                <a:sym typeface="Calibri"/>
              </a:rPr>
              <a:t>AUDIENCE TAKEAWAY: Instance data can propose new, reviewable knowledge that the documentation does not contain.</a:t>
            </a:r>
          </a:p>
          <a:p>
            <a:r>
              <a:rPr lang="en-US" sz="1200">
                <a:solidFill>
                  <a:schemeClr val="dk1"/>
                </a:solidFill>
                <a:latin typeface="Calibri"/>
                <a:ea typeface="Calibri"/>
                <a:cs typeface="Calibri"/>
                <a:sym typeface="Calibri"/>
              </a:rPr>
              <a:t>SOURCE AND SCOPE: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"Today RIGOR reads schemas and documentation, but"</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 Other treatments or conditions could explain the pattern.</a:t>
            </a:r>
          </a:p>
          <a:p/>
          <a:p>
            <a:r>
              <a:rPr lang="en-US" sz="1200">
                <a:solidFill>
                  <a:schemeClr val="dk1"/>
                </a:solidFill>
                <a:latin typeface="Calibri"/>
                <a:ea typeface="Calibri"/>
                <a:cs typeface="Calibri"/>
                <a:sym typeface="Calibri"/>
              </a:rPr>
              <a:t>IF ASKED ABOUT PRIVACY: only aggregate statistics (co-occurrence counts) need to leave the database, not patient rows.</a:t>
            </a:r>
          </a:p>
        </p:txBody>
      </p:sp>
      <p:sp>
        <p:nvSpPr>
          <p:cNvPr id="1287" name="Google Shape;1287;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8" name="Shape 1288"/>
        <p:cNvGrpSpPr/>
        <p:nvPr/>
      </p:nvGrpSpPr>
      <p:grpSpPr>
        <a:xfrm>
          <a:off x="0" y="0"/>
          <a:ext cx="0" cy="0"/>
          <a:chOff x="0" y="0"/>
          <a:chExt cx="0" cy="0"/>
        </a:xfrm>
      </p:grpSpPr>
      <p:sp>
        <p:nvSpPr>
          <p:cNvPr id="1289" name="Google Shape;1289;p22"/>
          <p:cNvSpPr txBox="1"/>
          <p:nvPr/>
        </p:nvSpPr>
        <p:spPr>
          <a:xfrm>
            <a:off x="813816" y="493776"/>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1290" name="Google Shape;1290;p22"/>
          <p:cNvSpPr txBox="1"/>
          <p:nvPr/>
        </p:nvSpPr>
        <p:spPr>
          <a:xfrm>
            <a:off x="813816" y="923544"/>
            <a:ext cx="10698600" cy="6402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1291" name="Subtitle"/>
          <p:cNvSpPr txBox="1"/>
          <p:nvPr/>
        </p:nvSpPr>
        <p:spPr>
          <a:xfrm>
            <a:off x="822960" y="1682496"/>
            <a:ext cx="10515600" cy="365760"/>
          </a:xfrm>
          <a:prstGeom prst="rect">
            <a:avLst/>
          </a:prstGeom>
          <a:noFill/>
          <a:ln>
            <a:noFill/>
          </a:ln>
        </p:spPr>
        <p:txBody>
          <a:bodyPr wrap="square" lIns="0" tIns="0" rIns="0" bIns="0" anchor="ctr">
            <a:noAutofit/>
          </a:bodyPr>
          <a:lstStyle/>
          <a:p>
            <a:pPr algn="l"/>
            <a:r>
              <a:rPr lang="en-US" sz="1650" b="0" i="0" dirty="0">
                <a:solidFill>
                  <a:srgbClr val="5B6770"/>
                </a:solidFill>
                <a:latin typeface="Calibri"/>
                <a:cs typeface="Calibri"/>
              </a:rPr>
              <a:t xml:space="preserve">Today </a:t>
            </a:r>
            <a:r>
              <a:rPr lang="en-US" sz="1650" b="1" i="1" dirty="0">
                <a:solidFill>
                  <a:srgbClr val="3A434C"/>
                </a:solidFill>
                <a:latin typeface="Calibri"/>
                <a:cs typeface="Calibri"/>
              </a:rPr>
              <a:t xml:space="preserve">RIGOR</a:t>
            </a:r>
            <a:r>
              <a:rPr lang="en-US" sz="1650" b="0" i="0" dirty="0">
                <a:solidFill>
                  <a:srgbClr val="5B6770"/>
                </a:solidFill>
                <a:latin typeface="Calibri"/>
                <a:cs typeface="Calibri"/>
              </a:rPr>
              <a:t xml:space="preserve"> reads </a:t>
            </a:r>
            <a:r>
              <a:rPr lang="en-US" sz="1650" b="1" i="0" dirty="0">
                <a:solidFill>
                  <a:srgbClr val="3A434C"/>
                </a:solidFill>
                <a:latin typeface="Calibri"/>
                <a:cs typeface="Calibri"/>
              </a:rPr>
              <a:t xml:space="preserve">schemas</a:t>
            </a:r>
            <a:r>
              <a:rPr lang="en-US" sz="1650" b="0" i="0" dirty="0">
                <a:solidFill>
                  <a:srgbClr val="5B6770"/>
                </a:solidFill>
                <a:latin typeface="Calibri"/>
                <a:cs typeface="Calibri"/>
              </a:rPr>
              <a:t xml:space="preserve"> and </a:t>
            </a:r>
            <a:r>
              <a:rPr lang="en-US" sz="1650" b="1" i="0" dirty="0">
                <a:solidFill>
                  <a:srgbClr val="3A434C"/>
                </a:solidFill>
                <a:latin typeface="Calibri"/>
                <a:cs typeface="Calibri"/>
              </a:rPr>
              <a:t xml:space="preserve">documentation</a:t>
            </a:r>
            <a:r>
              <a:rPr lang="en-US" sz="1650" b="0" i="0" dirty="0">
                <a:solidFill>
                  <a:srgbClr val="5B6770"/>
                </a:solidFill>
                <a:latin typeface="Calibri"/>
                <a:cs typeface="Calibri"/>
              </a:rPr>
              <a:t xml:space="preserve">. </a:t>
            </a:r>
            <a:r>
              <a:rPr lang="en-US" sz="1650" b="1" i="0" dirty="0">
                <a:solidFill>
                  <a:srgbClr val="3A434C"/>
                </a:solidFill>
                <a:latin typeface="Calibri"/>
                <a:cs typeface="Calibri"/>
              </a:rPr>
              <a:t xml:space="preserve">Instance data</a:t>
            </a:r>
            <a:r>
              <a:rPr lang="en-US" sz="1650" b="0" i="0" dirty="0">
                <a:solidFill>
                  <a:srgbClr val="5B6770"/>
                </a:solidFill>
                <a:latin typeface="Calibri"/>
                <a:cs typeface="Calibri"/>
              </a:rPr>
              <a:t xml:space="preserve"> can reveal links the documentation does not contain, and propose </a:t>
            </a:r>
            <a:r>
              <a:rPr lang="en-US" sz="1650" b="1" i="0" dirty="0">
                <a:solidFill>
                  <a:srgbClr val="3A434C"/>
                </a:solidFill>
                <a:latin typeface="Calibri"/>
                <a:cs typeface="Calibri"/>
              </a:rPr>
              <a:t xml:space="preserve">new knowledge</a:t>
            </a:r>
            <a:r>
              <a:rPr lang="en-US" sz="1650" b="0" i="0" dirty="0">
                <a:solidFill>
                  <a:srgbClr val="5B6770"/>
                </a:solidFill>
                <a:latin typeface="Calibri"/>
                <a:cs typeface="Calibri"/>
              </a:rPr>
              <a:t xml:space="preserve">.</a:t>
            </a:r>
          </a:p>
        </p:txBody>
      </p:sp>
      <p:sp>
        <p:nvSpPr>
          <p:cNvPr id="1292" name="Card"/>
          <p:cNvSpPr/>
          <p:nvPr/>
        </p:nvSpPr>
        <p:spPr>
          <a:xfrm>
            <a:off x="804672" y="2304288"/>
            <a:ext cx="3246120" cy="3566160"/>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293" name="Card label"/>
          <p:cNvSpPr txBox="1"/>
          <p:nvPr/>
        </p:nvSpPr>
        <p:spPr>
          <a:xfrm>
            <a:off x="1033271" y="2468880"/>
            <a:ext cx="278892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1  THE DATA</a:t>
            </a:r>
          </a:p>
        </p:txBody>
      </p:sp>
      <p:sp>
        <p:nvSpPr>
          <p:cNvPr id="1294" name="Note"/>
          <p:cNvSpPr txBox="1"/>
          <p:nvPr/>
        </p:nvSpPr>
        <p:spPr>
          <a:xfrm>
            <a:off x="1033271" y="2743200"/>
            <a:ext cx="2788920" cy="237744"/>
          </a:xfrm>
          <a:prstGeom prst="rect">
            <a:avLst/>
          </a:prstGeom>
          <a:noFill/>
          <a:ln>
            <a:noFill/>
          </a:ln>
        </p:spPr>
        <p:txBody>
          <a:bodyPr wrap="square" lIns="0" tIns="0" rIns="0" bIns="0" anchor="t">
            <a:noAutofit/>
          </a:bodyPr>
          <a:lstStyle/>
          <a:p>
            <a:pPr algn="l"/>
            <a:r>
              <a:rPr lang="en-US" sz="1150" b="0" i="1" dirty="0">
                <a:solidFill>
                  <a:srgbClr val="5B6770"/>
                </a:solidFill>
                <a:latin typeface="Calibri"/>
                <a:cs typeface="Calibri"/>
              </a:rPr>
              <a:t xml:space="preserve">two tables, joined on admission_id</a:t>
            </a:r>
          </a:p>
        </p:txBody>
      </p:sp>
      <p:sp>
        <p:nvSpPr>
          <p:cNvPr id="1295" name="Table treatment"/>
          <p:cNvSpPr/>
          <p:nvPr/>
        </p:nvSpPr>
        <p:spPr>
          <a:xfrm>
            <a:off x="941832" y="3054096"/>
            <a:ext cx="2971800" cy="1312164"/>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1296" name="Table name"/>
          <p:cNvSpPr txBox="1"/>
          <p:nvPr/>
        </p:nvSpPr>
        <p:spPr>
          <a:xfrm>
            <a:off x="1078992" y="3081527"/>
            <a:ext cx="2697480" cy="274320"/>
          </a:xfrm>
          <a:prstGeom prst="rect">
            <a:avLst/>
          </a:prstGeom>
          <a:noFill/>
          <a:ln>
            <a:noFill/>
          </a:ln>
        </p:spPr>
        <p:txBody>
          <a:bodyPr wrap="square" lIns="0" tIns="0" rIns="0" bIns="0" anchor="ctr">
            <a:noAutofit/>
          </a:bodyPr>
          <a:lstStyle/>
          <a:p>
            <a:pPr algn="l"/>
            <a:r>
              <a:rPr lang="en-US" sz="1600" b="1" i="0" dirty="0">
                <a:solidFill>
                  <a:srgbClr val="1F2328"/>
                </a:solidFill>
                <a:latin typeface="Calibri"/>
                <a:cs typeface="Calibri"/>
              </a:rPr>
              <a:t xml:space="preserve">treatment</a:t>
            </a:r>
          </a:p>
        </p:txBody>
      </p:sp>
      <p:sp>
        <p:nvSpPr>
          <p:cNvPr id="1297" name="Rule"/>
          <p:cNvSpPr/>
          <p:nvPr/>
        </p:nvSpPr>
        <p:spPr>
          <a:xfrm>
            <a:off x="1078992" y="3383279"/>
            <a:ext cx="2697480" cy="10972"/>
          </a:xfrm>
          <a:prstGeom prst="rect">
            <a:avLst/>
          </a:prstGeom>
          <a:solidFill>
            <a:srgbClr val="9AA3A9"/>
          </a:solidFill>
          <a:ln>
            <a:noFill/>
          </a:ln>
        </p:spPr>
        <p:txBody>
          <a:bodyPr wrap="square" lIns="0" tIns="0" rIns="0" bIns="0" anchor="t">
            <a:noAutofit/>
          </a:bodyPr>
          <a:lstStyle/>
          <a:p>
            <a:pPr algn="l"/>
          </a:p>
        </p:txBody>
      </p:sp>
      <p:sp>
        <p:nvSpPr>
          <p:cNvPr id="1298" name="Column"/>
          <p:cNvSpPr txBox="1"/>
          <p:nvPr/>
        </p:nvSpPr>
        <p:spPr>
          <a:xfrm>
            <a:off x="1078992" y="3410712"/>
            <a:ext cx="1051560" cy="219456"/>
          </a:xfrm>
          <a:prstGeom prst="rect">
            <a:avLst/>
          </a:prstGeom>
          <a:noFill/>
          <a:ln>
            <a:noFill/>
          </a:ln>
        </p:spPr>
        <p:txBody>
          <a:bodyPr wrap="square" lIns="0" tIns="0" rIns="0" bIns="0" anchor="ctr">
            <a:noAutofit/>
          </a:bodyPr>
          <a:lstStyle/>
          <a:p>
            <a:pPr algn="l"/>
            <a:r>
              <a:rPr lang="en-US" sz="1150" b="1" i="0" dirty="0">
                <a:solidFill>
                  <a:srgbClr val="0B6E4F"/>
                </a:solidFill>
                <a:latin typeface="Calibri"/>
                <a:cs typeface="Calibri"/>
              </a:rPr>
              <a:t xml:space="preserve">admission_id</a:t>
            </a:r>
            <a:r>
              <a:rPr lang="en-US" sz="950" b="0" i="0" dirty="0">
                <a:solidFill>
                  <a:srgbClr val="5B6770"/>
                </a:solidFill>
                <a:latin typeface="Calibri"/>
                <a:cs typeface="Calibri"/>
              </a:rPr>
              <a:t xml:space="preserve"> FK</a:t>
            </a:r>
          </a:p>
        </p:txBody>
      </p:sp>
      <p:sp>
        <p:nvSpPr>
          <p:cNvPr id="1299" name="Column"/>
          <p:cNvSpPr txBox="1"/>
          <p:nvPr/>
        </p:nvSpPr>
        <p:spPr>
          <a:xfrm>
            <a:off x="2130552" y="3410712"/>
            <a:ext cx="1463040" cy="219456"/>
          </a:xfrm>
          <a:prstGeom prst="rect">
            <a:avLst/>
          </a:prstGeom>
          <a:noFill/>
          <a:ln>
            <a:noFill/>
          </a:ln>
        </p:spPr>
        <p:txBody>
          <a:bodyPr wrap="square" lIns="0" tIns="0" rIns="0" bIns="0" anchor="ctr">
            <a:noAutofit/>
          </a:bodyPr>
          <a:lstStyle/>
          <a:p>
            <a:pPr algn="l"/>
            <a:r>
              <a:rPr lang="en-US" sz="1150" b="1" i="0" dirty="0">
                <a:solidFill>
                  <a:srgbClr val="0B6E4F"/>
                </a:solidFill>
                <a:latin typeface="Calibri"/>
                <a:cs typeface="Calibri"/>
              </a:rPr>
              <a:t xml:space="preserve">drug</a:t>
            </a:r>
          </a:p>
        </p:txBody>
      </p:sp>
      <p:sp>
        <p:nvSpPr>
          <p:cNvPr id="1300" name="Row band"/>
          <p:cNvSpPr/>
          <p:nvPr/>
        </p:nvSpPr>
        <p:spPr>
          <a:xfrm>
            <a:off x="1014984" y="3639312"/>
            <a:ext cx="2825496" cy="205740"/>
          </a:xfrm>
          <a:prstGeom prst="rect">
            <a:avLst/>
          </a:prstGeom>
          <a:solidFill>
            <a:srgbClr val="D7EDE2"/>
          </a:solidFill>
          <a:ln>
            <a:noFill/>
          </a:ln>
        </p:spPr>
        <p:txBody>
          <a:bodyPr wrap="square" lIns="0" tIns="0" rIns="0" bIns="0" anchor="t">
            <a:noAutofit/>
          </a:bodyPr>
          <a:lstStyle/>
          <a:p>
            <a:pPr algn="l"/>
          </a:p>
        </p:txBody>
      </p:sp>
      <p:sp>
        <p:nvSpPr>
          <p:cNvPr id="1301" name="Cell"/>
          <p:cNvSpPr txBox="1"/>
          <p:nvPr/>
        </p:nvSpPr>
        <p:spPr>
          <a:xfrm>
            <a:off x="1078992" y="3639312"/>
            <a:ext cx="105156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A1</a:t>
            </a:r>
          </a:p>
        </p:txBody>
      </p:sp>
      <p:sp>
        <p:nvSpPr>
          <p:cNvPr id="1302" name="Cell"/>
          <p:cNvSpPr txBox="1"/>
          <p:nvPr/>
        </p:nvSpPr>
        <p:spPr>
          <a:xfrm>
            <a:off x="2130552" y="3639312"/>
            <a:ext cx="146304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cisplatin</a:t>
            </a:r>
          </a:p>
        </p:txBody>
      </p:sp>
      <p:sp>
        <p:nvSpPr>
          <p:cNvPr id="1303" name="Cell"/>
          <p:cNvSpPr txBox="1"/>
          <p:nvPr/>
        </p:nvSpPr>
        <p:spPr>
          <a:xfrm>
            <a:off x="1078992" y="3863339"/>
            <a:ext cx="105156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A2</a:t>
            </a:r>
          </a:p>
        </p:txBody>
      </p:sp>
      <p:sp>
        <p:nvSpPr>
          <p:cNvPr id="1304" name="Cell"/>
          <p:cNvSpPr txBox="1"/>
          <p:nvPr/>
        </p:nvSpPr>
        <p:spPr>
          <a:xfrm>
            <a:off x="2130552" y="3863339"/>
            <a:ext cx="146304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nivolumab</a:t>
            </a:r>
          </a:p>
        </p:txBody>
      </p:sp>
      <p:sp>
        <p:nvSpPr>
          <p:cNvPr id="1305" name="Row band"/>
          <p:cNvSpPr/>
          <p:nvPr/>
        </p:nvSpPr>
        <p:spPr>
          <a:xfrm>
            <a:off x="1014984" y="4087368"/>
            <a:ext cx="2825496" cy="205740"/>
          </a:xfrm>
          <a:prstGeom prst="rect">
            <a:avLst/>
          </a:prstGeom>
          <a:solidFill>
            <a:srgbClr val="D7EDE2"/>
          </a:solidFill>
          <a:ln>
            <a:noFill/>
          </a:ln>
        </p:spPr>
        <p:txBody>
          <a:bodyPr wrap="square" lIns="0" tIns="0" rIns="0" bIns="0" anchor="t">
            <a:noAutofit/>
          </a:bodyPr>
          <a:lstStyle/>
          <a:p>
            <a:pPr algn="l"/>
          </a:p>
        </p:txBody>
      </p:sp>
      <p:sp>
        <p:nvSpPr>
          <p:cNvPr id="1306" name="Cell"/>
          <p:cNvSpPr txBox="1"/>
          <p:nvPr/>
        </p:nvSpPr>
        <p:spPr>
          <a:xfrm>
            <a:off x="1078992" y="4087368"/>
            <a:ext cx="105156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A3</a:t>
            </a:r>
          </a:p>
        </p:txBody>
      </p:sp>
      <p:sp>
        <p:nvSpPr>
          <p:cNvPr id="1307" name="Cell"/>
          <p:cNvSpPr txBox="1"/>
          <p:nvPr/>
        </p:nvSpPr>
        <p:spPr>
          <a:xfrm>
            <a:off x="2130552" y="4087368"/>
            <a:ext cx="146304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cisplatin</a:t>
            </a:r>
          </a:p>
        </p:txBody>
      </p:sp>
      <p:sp>
        <p:nvSpPr>
          <p:cNvPr id="1308" name="Table admission"/>
          <p:cNvSpPr/>
          <p:nvPr/>
        </p:nvSpPr>
        <p:spPr>
          <a:xfrm>
            <a:off x="941832" y="4457700"/>
            <a:ext cx="2971800" cy="1312164"/>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1309" name="Table name"/>
          <p:cNvSpPr txBox="1"/>
          <p:nvPr/>
        </p:nvSpPr>
        <p:spPr>
          <a:xfrm>
            <a:off x="1078992" y="4485132"/>
            <a:ext cx="2697480" cy="274320"/>
          </a:xfrm>
          <a:prstGeom prst="rect">
            <a:avLst/>
          </a:prstGeom>
          <a:noFill/>
          <a:ln>
            <a:noFill/>
          </a:ln>
        </p:spPr>
        <p:txBody>
          <a:bodyPr wrap="square" lIns="0" tIns="0" rIns="0" bIns="0" anchor="ctr">
            <a:noAutofit/>
          </a:bodyPr>
          <a:lstStyle/>
          <a:p>
            <a:pPr algn="l"/>
            <a:r>
              <a:rPr lang="en-US" sz="1600" b="1" i="0" dirty="0">
                <a:solidFill>
                  <a:srgbClr val="1F2328"/>
                </a:solidFill>
                <a:latin typeface="Calibri"/>
                <a:cs typeface="Calibri"/>
              </a:rPr>
              <a:t xml:space="preserve">admission</a:t>
            </a:r>
          </a:p>
        </p:txBody>
      </p:sp>
      <p:sp>
        <p:nvSpPr>
          <p:cNvPr id="1310" name="Rule"/>
          <p:cNvSpPr/>
          <p:nvPr/>
        </p:nvSpPr>
        <p:spPr>
          <a:xfrm>
            <a:off x="1078992" y="4786884"/>
            <a:ext cx="2697480" cy="10972"/>
          </a:xfrm>
          <a:prstGeom prst="rect">
            <a:avLst/>
          </a:prstGeom>
          <a:solidFill>
            <a:srgbClr val="9AA3A9"/>
          </a:solidFill>
          <a:ln>
            <a:noFill/>
          </a:ln>
        </p:spPr>
        <p:txBody>
          <a:bodyPr wrap="square" lIns="0" tIns="0" rIns="0" bIns="0" anchor="t">
            <a:noAutofit/>
          </a:bodyPr>
          <a:lstStyle/>
          <a:p>
            <a:pPr algn="l"/>
          </a:p>
        </p:txBody>
      </p:sp>
      <p:sp>
        <p:nvSpPr>
          <p:cNvPr id="1311" name="Column"/>
          <p:cNvSpPr txBox="1"/>
          <p:nvPr/>
        </p:nvSpPr>
        <p:spPr>
          <a:xfrm>
            <a:off x="1078992" y="4814316"/>
            <a:ext cx="1051560" cy="219456"/>
          </a:xfrm>
          <a:prstGeom prst="rect">
            <a:avLst/>
          </a:prstGeom>
          <a:noFill/>
          <a:ln>
            <a:noFill/>
          </a:ln>
        </p:spPr>
        <p:txBody>
          <a:bodyPr wrap="square" lIns="0" tIns="0" rIns="0" bIns="0" anchor="ctr">
            <a:noAutofit/>
          </a:bodyPr>
          <a:lstStyle/>
          <a:p>
            <a:pPr algn="l"/>
            <a:r>
              <a:rPr lang="en-US" sz="1150" b="1" i="0" dirty="0">
                <a:solidFill>
                  <a:srgbClr val="0B6E4F"/>
                </a:solidFill>
                <a:latin typeface="Calibri"/>
                <a:cs typeface="Calibri"/>
              </a:rPr>
              <a:t xml:space="preserve">admission_id</a:t>
            </a:r>
          </a:p>
        </p:txBody>
      </p:sp>
      <p:sp>
        <p:nvSpPr>
          <p:cNvPr id="1312" name="Column"/>
          <p:cNvSpPr txBox="1"/>
          <p:nvPr/>
        </p:nvSpPr>
        <p:spPr>
          <a:xfrm>
            <a:off x="2130552" y="4814316"/>
            <a:ext cx="868680" cy="219456"/>
          </a:xfrm>
          <a:prstGeom prst="rect">
            <a:avLst/>
          </a:prstGeom>
          <a:noFill/>
          <a:ln>
            <a:noFill/>
          </a:ln>
        </p:spPr>
        <p:txBody>
          <a:bodyPr wrap="square" lIns="0" tIns="0" rIns="0" bIns="0" anchor="ctr">
            <a:noAutofit/>
          </a:bodyPr>
          <a:lstStyle/>
          <a:p>
            <a:pPr algn="l"/>
            <a:r>
              <a:rPr lang="en-US" sz="1150" b="1" i="0" dirty="0">
                <a:solidFill>
                  <a:srgbClr val="0B6E4F"/>
                </a:solidFill>
                <a:latin typeface="Calibri"/>
                <a:cs typeface="Calibri"/>
              </a:rPr>
              <a:t xml:space="preserve">patient_id</a:t>
            </a:r>
          </a:p>
        </p:txBody>
      </p:sp>
      <p:sp>
        <p:nvSpPr>
          <p:cNvPr id="1313" name="Column"/>
          <p:cNvSpPr txBox="1"/>
          <p:nvPr/>
        </p:nvSpPr>
        <p:spPr>
          <a:xfrm>
            <a:off x="2999232" y="4814316"/>
            <a:ext cx="731520" cy="219456"/>
          </a:xfrm>
          <a:prstGeom prst="rect">
            <a:avLst/>
          </a:prstGeom>
          <a:noFill/>
          <a:ln>
            <a:noFill/>
          </a:ln>
        </p:spPr>
        <p:txBody>
          <a:bodyPr wrap="square" lIns="0" tIns="0" rIns="0" bIns="0" anchor="ctr">
            <a:noAutofit/>
          </a:bodyPr>
          <a:lstStyle/>
          <a:p>
            <a:pPr algn="l"/>
            <a:r>
              <a:rPr lang="en-US" sz="1150" b="1" i="0" dirty="0">
                <a:solidFill>
                  <a:srgbClr val="0B6E4F"/>
                </a:solidFill>
                <a:latin typeface="Calibri"/>
                <a:cs typeface="Calibri"/>
              </a:rPr>
              <a:t xml:space="preserve">BM_DEP</a:t>
            </a:r>
          </a:p>
        </p:txBody>
      </p:sp>
      <p:sp>
        <p:nvSpPr>
          <p:cNvPr id="1314" name="Row band"/>
          <p:cNvSpPr/>
          <p:nvPr/>
        </p:nvSpPr>
        <p:spPr>
          <a:xfrm>
            <a:off x="1014984" y="5042916"/>
            <a:ext cx="2825496" cy="205740"/>
          </a:xfrm>
          <a:prstGeom prst="rect">
            <a:avLst/>
          </a:prstGeom>
          <a:solidFill>
            <a:srgbClr val="D7EDE2"/>
          </a:solidFill>
          <a:ln>
            <a:noFill/>
          </a:ln>
        </p:spPr>
        <p:txBody>
          <a:bodyPr wrap="square" lIns="0" tIns="0" rIns="0" bIns="0" anchor="t">
            <a:noAutofit/>
          </a:bodyPr>
          <a:lstStyle/>
          <a:p>
            <a:pPr algn="l"/>
          </a:p>
        </p:txBody>
      </p:sp>
      <p:sp>
        <p:nvSpPr>
          <p:cNvPr id="1315" name="Cell"/>
          <p:cNvSpPr txBox="1"/>
          <p:nvPr/>
        </p:nvSpPr>
        <p:spPr>
          <a:xfrm>
            <a:off x="1078992" y="5042916"/>
            <a:ext cx="105156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A1</a:t>
            </a:r>
          </a:p>
        </p:txBody>
      </p:sp>
      <p:sp>
        <p:nvSpPr>
          <p:cNvPr id="1316" name="Cell"/>
          <p:cNvSpPr txBox="1"/>
          <p:nvPr/>
        </p:nvSpPr>
        <p:spPr>
          <a:xfrm>
            <a:off x="2130552" y="5042916"/>
            <a:ext cx="86868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P1</a:t>
            </a:r>
          </a:p>
        </p:txBody>
      </p:sp>
      <p:sp>
        <p:nvSpPr>
          <p:cNvPr id="1317" name="Cell"/>
          <p:cNvSpPr txBox="1"/>
          <p:nvPr/>
        </p:nvSpPr>
        <p:spPr>
          <a:xfrm>
            <a:off x="2999232" y="5042916"/>
            <a:ext cx="73152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1</a:t>
            </a:r>
          </a:p>
        </p:txBody>
      </p:sp>
      <p:sp>
        <p:nvSpPr>
          <p:cNvPr id="1318" name="Cell"/>
          <p:cNvSpPr txBox="1"/>
          <p:nvPr/>
        </p:nvSpPr>
        <p:spPr>
          <a:xfrm>
            <a:off x="1078992" y="5266944"/>
            <a:ext cx="105156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A2</a:t>
            </a:r>
          </a:p>
        </p:txBody>
      </p:sp>
      <p:sp>
        <p:nvSpPr>
          <p:cNvPr id="1319" name="Cell"/>
          <p:cNvSpPr txBox="1"/>
          <p:nvPr/>
        </p:nvSpPr>
        <p:spPr>
          <a:xfrm>
            <a:off x="2130552" y="5266944"/>
            <a:ext cx="86868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P2</a:t>
            </a:r>
          </a:p>
        </p:txBody>
      </p:sp>
      <p:sp>
        <p:nvSpPr>
          <p:cNvPr id="1320" name="Cell"/>
          <p:cNvSpPr txBox="1"/>
          <p:nvPr/>
        </p:nvSpPr>
        <p:spPr>
          <a:xfrm>
            <a:off x="2999232" y="5266944"/>
            <a:ext cx="73152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0</a:t>
            </a:r>
          </a:p>
        </p:txBody>
      </p:sp>
      <p:sp>
        <p:nvSpPr>
          <p:cNvPr id="1321" name="Row band"/>
          <p:cNvSpPr/>
          <p:nvPr/>
        </p:nvSpPr>
        <p:spPr>
          <a:xfrm>
            <a:off x="1014984" y="5490972"/>
            <a:ext cx="2825496" cy="205740"/>
          </a:xfrm>
          <a:prstGeom prst="rect">
            <a:avLst/>
          </a:prstGeom>
          <a:solidFill>
            <a:srgbClr val="D7EDE2"/>
          </a:solidFill>
          <a:ln>
            <a:noFill/>
          </a:ln>
        </p:spPr>
        <p:txBody>
          <a:bodyPr wrap="square" lIns="0" tIns="0" rIns="0" bIns="0" anchor="t">
            <a:noAutofit/>
          </a:bodyPr>
          <a:lstStyle/>
          <a:p>
            <a:pPr algn="l"/>
          </a:p>
        </p:txBody>
      </p:sp>
      <p:sp>
        <p:nvSpPr>
          <p:cNvPr id="1322" name="Cell"/>
          <p:cNvSpPr txBox="1"/>
          <p:nvPr/>
        </p:nvSpPr>
        <p:spPr>
          <a:xfrm>
            <a:off x="1078992" y="5490972"/>
            <a:ext cx="105156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A3</a:t>
            </a:r>
          </a:p>
        </p:txBody>
      </p:sp>
      <p:sp>
        <p:nvSpPr>
          <p:cNvPr id="1323" name="Cell"/>
          <p:cNvSpPr txBox="1"/>
          <p:nvPr/>
        </p:nvSpPr>
        <p:spPr>
          <a:xfrm>
            <a:off x="2130552" y="5490972"/>
            <a:ext cx="86868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P3</a:t>
            </a:r>
          </a:p>
        </p:txBody>
      </p:sp>
      <p:sp>
        <p:nvSpPr>
          <p:cNvPr id="1324" name="Cell"/>
          <p:cNvSpPr txBox="1"/>
          <p:nvPr/>
        </p:nvSpPr>
        <p:spPr>
          <a:xfrm>
            <a:off x="2999232" y="5490972"/>
            <a:ext cx="731520" cy="205740"/>
          </a:xfrm>
          <a:prstGeom prst="rect">
            <a:avLst/>
          </a:prstGeom>
          <a:noFill/>
          <a:ln>
            <a:noFill/>
          </a:ln>
        </p:spPr>
        <p:txBody>
          <a:bodyPr wrap="square" lIns="0" tIns="0" rIns="0" bIns="0" anchor="ctr">
            <a:noAutofit/>
          </a:bodyPr>
          <a:lstStyle/>
          <a:p>
            <a:pPr algn="l"/>
            <a:r>
              <a:rPr lang="en-US" sz="1250" b="0" i="0" dirty="0">
                <a:solidFill>
                  <a:srgbClr val="1F2328"/>
                </a:solidFill>
                <a:latin typeface="Consolas"/>
                <a:cs typeface="Consolas"/>
              </a:rPr>
              <a:t xml:space="preserve">1</a:t>
            </a:r>
          </a:p>
        </p:txBody>
      </p:sp>
      <p:sp>
        <p:nvSpPr>
          <p:cNvPr id="1325" name="Card"/>
          <p:cNvSpPr/>
          <p:nvPr/>
        </p:nvSpPr>
        <p:spPr>
          <a:xfrm>
            <a:off x="4379976" y="2304288"/>
            <a:ext cx="3017520" cy="3566160"/>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326" name="Card label"/>
          <p:cNvSpPr txBox="1"/>
          <p:nvPr/>
        </p:nvSpPr>
        <p:spPr>
          <a:xfrm>
            <a:off x="4608576" y="2468880"/>
            <a:ext cx="256032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2  THE PATTERN</a:t>
            </a:r>
          </a:p>
        </p:txBody>
      </p:sp>
      <p:sp>
        <p:nvSpPr>
          <p:cNvPr id="1327" name="Note"/>
          <p:cNvSpPr txBox="1"/>
          <p:nvPr/>
        </p:nvSpPr>
        <p:spPr>
          <a:xfrm>
            <a:off x="4608576" y="2743200"/>
            <a:ext cx="2560320" cy="237744"/>
          </a:xfrm>
          <a:prstGeom prst="rect">
            <a:avLst/>
          </a:prstGeom>
          <a:noFill/>
          <a:ln>
            <a:noFill/>
          </a:ln>
        </p:spPr>
        <p:txBody>
          <a:bodyPr wrap="square" lIns="0" tIns="0" rIns="0" bIns="0" anchor="t">
            <a:noAutofit/>
          </a:bodyPr>
          <a:lstStyle/>
          <a:p>
            <a:pPr algn="l"/>
            <a:r>
              <a:rPr lang="en-US" sz="1150" b="0" i="1" dirty="0">
                <a:solidFill>
                  <a:srgbClr val="5B6770"/>
                </a:solidFill>
                <a:latin typeface="Calibri"/>
                <a:cs typeface="Calibri"/>
              </a:rPr>
              <a:t xml:space="preserve">what the joined rows show</a:t>
            </a:r>
          </a:p>
        </p:txBody>
      </p:sp>
      <p:sp>
        <p:nvSpPr>
          <p:cNvPr id="1328" name="Pattern"/>
          <p:cNvSpPr txBox="1"/>
          <p:nvPr/>
        </p:nvSpPr>
        <p:spPr>
          <a:xfrm>
            <a:off x="4608576" y="3081528"/>
            <a:ext cx="2560320" cy="731520"/>
          </a:xfrm>
          <a:prstGeom prst="rect">
            <a:avLst/>
          </a:prstGeom>
          <a:noFill/>
          <a:ln>
            <a:noFill/>
          </a:ln>
        </p:spPr>
        <p:txBody>
          <a:bodyPr wrap="square" lIns="0" tIns="0" rIns="0" bIns="0" anchor="t">
            <a:noAutofit/>
          </a:bodyPr>
          <a:lstStyle/>
          <a:p>
            <a:pPr algn="l"/>
            <a:r>
              <a:rPr lang="en-US" sz="1600" b="1" i="0" dirty="0">
                <a:solidFill>
                  <a:srgbClr val="1F2328"/>
                </a:solidFill>
                <a:latin typeface="Calibri"/>
                <a:cs typeface="Calibri"/>
              </a:rPr>
              <a:t xml:space="preserve">Every cisplatin admission has bone marrow depression.</a:t>
            </a:r>
          </a:p>
        </p:txBody>
      </p:sp>
      <p:sp>
        <p:nvSpPr>
          <p:cNvPr id="1329" name="Group"/>
          <p:cNvSpPr txBox="1"/>
          <p:nvPr/>
        </p:nvSpPr>
        <p:spPr>
          <a:xfrm>
            <a:off x="4608576" y="3995928"/>
            <a:ext cx="1188720" cy="310896"/>
          </a:xfrm>
          <a:prstGeom prst="rect">
            <a:avLst/>
          </a:prstGeom>
          <a:noFill/>
          <a:ln>
            <a:noFill/>
          </a:ln>
        </p:spPr>
        <p:txBody>
          <a:bodyPr wrap="square" lIns="0" tIns="0" rIns="0" bIns="0" anchor="ctr">
            <a:noAutofit/>
          </a:bodyPr>
          <a:lstStyle/>
          <a:p>
            <a:pPr algn="l"/>
            <a:r>
              <a:rPr lang="en-US" sz="1300" b="0" i="0" dirty="0">
                <a:solidFill>
                  <a:srgbClr val="1F2328"/>
                </a:solidFill>
                <a:latin typeface="Consolas"/>
                <a:cs typeface="Consolas"/>
              </a:rPr>
              <a:t xml:space="preserve">cisplatin</a:t>
            </a:r>
          </a:p>
        </p:txBody>
      </p:sp>
      <p:sp>
        <p:nvSpPr>
          <p:cNvPr id="1330" name="Track"/>
          <p:cNvSpPr/>
          <p:nvPr/>
        </p:nvSpPr>
        <p:spPr>
          <a:xfrm>
            <a:off x="5797296" y="4087368"/>
            <a:ext cx="777240" cy="137160"/>
          </a:xfrm>
          <a:prstGeom prst="rect">
            <a:avLst/>
          </a:prstGeom>
          <a:solidFill>
            <a:srgbClr val="E1E6E3"/>
          </a:solidFill>
          <a:ln>
            <a:noFill/>
          </a:ln>
        </p:spPr>
        <p:txBody>
          <a:bodyPr wrap="square" lIns="0" tIns="0" rIns="0" bIns="0" anchor="t">
            <a:noAutofit/>
          </a:bodyPr>
          <a:lstStyle/>
          <a:p>
            <a:pPr algn="l"/>
          </a:p>
        </p:txBody>
      </p:sp>
      <p:sp>
        <p:nvSpPr>
          <p:cNvPr id="1331" name="Bar"/>
          <p:cNvSpPr/>
          <p:nvPr/>
        </p:nvSpPr>
        <p:spPr>
          <a:xfrm>
            <a:off x="5797296" y="4087368"/>
            <a:ext cx="777240" cy="137160"/>
          </a:xfrm>
          <a:prstGeom prst="rect">
            <a:avLst/>
          </a:prstGeom>
          <a:solidFill>
            <a:srgbClr val="0B6E4F"/>
          </a:solidFill>
          <a:ln>
            <a:noFill/>
          </a:ln>
        </p:spPr>
        <p:txBody>
          <a:bodyPr wrap="square" lIns="0" tIns="0" rIns="0" bIns="0" anchor="t">
            <a:noAutofit/>
          </a:bodyPr>
          <a:lstStyle/>
          <a:p>
            <a:pPr algn="l"/>
          </a:p>
        </p:txBody>
      </p:sp>
      <p:sp>
        <p:nvSpPr>
          <p:cNvPr id="1332" name="Count"/>
          <p:cNvSpPr txBox="1"/>
          <p:nvPr/>
        </p:nvSpPr>
        <p:spPr>
          <a:xfrm>
            <a:off x="6620256" y="3995928"/>
            <a:ext cx="685800" cy="310896"/>
          </a:xfrm>
          <a:prstGeom prst="rect">
            <a:avLst/>
          </a:prstGeom>
          <a:noFill/>
          <a:ln>
            <a:noFill/>
          </a:ln>
        </p:spPr>
        <p:txBody>
          <a:bodyPr wrap="square" lIns="0" tIns="0" rIns="0" bIns="0" anchor="ctr">
            <a:noAutofit/>
          </a:bodyPr>
          <a:lstStyle/>
          <a:p>
            <a:pPr algn="l"/>
            <a:r>
              <a:rPr lang="en-US" sz="1300" b="1" i="0" dirty="0">
                <a:solidFill>
                  <a:srgbClr val="0B6E4F"/>
                </a:solidFill>
                <a:latin typeface="Calibri"/>
                <a:cs typeface="Calibri"/>
              </a:rPr>
              <a:t xml:space="preserve">2 of 2</a:t>
            </a:r>
          </a:p>
        </p:txBody>
      </p:sp>
      <p:sp>
        <p:nvSpPr>
          <p:cNvPr id="1333" name="Group"/>
          <p:cNvSpPr txBox="1"/>
          <p:nvPr/>
        </p:nvSpPr>
        <p:spPr>
          <a:xfrm>
            <a:off x="4608576" y="4398264"/>
            <a:ext cx="1188720" cy="310896"/>
          </a:xfrm>
          <a:prstGeom prst="rect">
            <a:avLst/>
          </a:prstGeom>
          <a:noFill/>
          <a:ln>
            <a:noFill/>
          </a:ln>
        </p:spPr>
        <p:txBody>
          <a:bodyPr wrap="square" lIns="0" tIns="0" rIns="0" bIns="0" anchor="ctr">
            <a:noAutofit/>
          </a:bodyPr>
          <a:lstStyle/>
          <a:p>
            <a:pPr algn="l"/>
            <a:r>
              <a:rPr lang="en-US" sz="1300" b="0" i="0" dirty="0">
                <a:solidFill>
                  <a:srgbClr val="1F2328"/>
                </a:solidFill>
                <a:latin typeface="Consolas"/>
                <a:cs typeface="Consolas"/>
              </a:rPr>
              <a:t xml:space="preserve">other drugs</a:t>
            </a:r>
          </a:p>
        </p:txBody>
      </p:sp>
      <p:sp>
        <p:nvSpPr>
          <p:cNvPr id="1334" name="Track"/>
          <p:cNvSpPr/>
          <p:nvPr/>
        </p:nvSpPr>
        <p:spPr>
          <a:xfrm>
            <a:off x="5797296" y="4489704"/>
            <a:ext cx="777240" cy="137160"/>
          </a:xfrm>
          <a:prstGeom prst="rect">
            <a:avLst/>
          </a:prstGeom>
          <a:solidFill>
            <a:srgbClr val="E1E6E3"/>
          </a:solidFill>
          <a:ln>
            <a:noFill/>
          </a:ln>
        </p:spPr>
        <p:txBody>
          <a:bodyPr wrap="square" lIns="0" tIns="0" rIns="0" bIns="0" anchor="t">
            <a:noAutofit/>
          </a:bodyPr>
          <a:lstStyle/>
          <a:p>
            <a:pPr algn="l"/>
          </a:p>
        </p:txBody>
      </p:sp>
      <p:sp>
        <p:nvSpPr>
          <p:cNvPr id="1335" name="Count"/>
          <p:cNvSpPr txBox="1"/>
          <p:nvPr/>
        </p:nvSpPr>
        <p:spPr>
          <a:xfrm>
            <a:off x="6620256" y="4398264"/>
            <a:ext cx="685800" cy="310896"/>
          </a:xfrm>
          <a:prstGeom prst="rect">
            <a:avLst/>
          </a:prstGeom>
          <a:noFill/>
          <a:ln>
            <a:noFill/>
          </a:ln>
        </p:spPr>
        <p:txBody>
          <a:bodyPr wrap="square" lIns="0" tIns="0" rIns="0" bIns="0" anchor="ctr">
            <a:noAutofit/>
          </a:bodyPr>
          <a:lstStyle/>
          <a:p>
            <a:pPr algn="l"/>
            <a:r>
              <a:rPr lang="en-US" sz="1300" b="1" i="0" dirty="0">
                <a:solidFill>
                  <a:srgbClr val="3A434C"/>
                </a:solidFill>
                <a:latin typeface="Calibri"/>
                <a:cs typeface="Calibri"/>
              </a:rPr>
              <a:t xml:space="preserve">0 of 1</a:t>
            </a:r>
          </a:p>
        </p:txBody>
      </p:sp>
      <p:sp>
        <p:nvSpPr>
          <p:cNvPr id="1336" name="Axis note"/>
          <p:cNvSpPr txBox="1"/>
          <p:nvPr/>
        </p:nvSpPr>
        <p:spPr>
          <a:xfrm>
            <a:off x="4608576" y="4800600"/>
            <a:ext cx="2560320" cy="237744"/>
          </a:xfrm>
          <a:prstGeom prst="rect">
            <a:avLst/>
          </a:prstGeom>
          <a:noFill/>
          <a:ln>
            <a:noFill/>
          </a:ln>
        </p:spPr>
        <p:txBody>
          <a:bodyPr wrap="square" lIns="0" tIns="0" rIns="0" bIns="0" anchor="t">
            <a:noAutofit/>
          </a:bodyPr>
          <a:lstStyle/>
          <a:p>
            <a:pPr algn="l"/>
            <a:r>
              <a:rPr lang="en-US" sz="1100" b="0" i="1" dirty="0">
                <a:solidFill>
                  <a:srgbClr val="5B6770"/>
                </a:solidFill>
                <a:latin typeface="Calibri"/>
                <a:cs typeface="Calibri"/>
              </a:rPr>
              <a:t xml:space="preserve">admissions with BM_DEP = 1</a:t>
            </a:r>
          </a:p>
        </p:txBody>
      </p:sp>
      <p:sp>
        <p:nvSpPr>
          <p:cNvPr id="1337" name="Not documented"/>
          <p:cNvSpPr/>
          <p:nvPr/>
        </p:nvSpPr>
        <p:spPr>
          <a:xfrm>
            <a:off x="4517136" y="5102352"/>
            <a:ext cx="2743200" cy="640080"/>
          </a:xfrm>
          <a:prstGeom prst="roundRect">
            <a:avLst>
              <a:gd name="adj" fmla="val 12000"/>
            </a:avLst>
          </a:prstGeom>
          <a:solidFill>
            <a:srgbClr val="E8F6EF"/>
          </a:solidFill>
          <a:ln>
            <a:noFill/>
          </a:ln>
        </p:spPr>
        <p:txBody>
          <a:bodyPr wrap="square" lIns="109728" tIns="0" rIns="109728" bIns="0" anchor="ctr">
            <a:noAutofit/>
          </a:bodyPr>
          <a:lstStyle/>
          <a:p>
            <a:pPr algn="ctr"/>
            <a:r>
              <a:rPr lang="en-US" sz="1300" b="1" i="0" dirty="0">
                <a:solidFill>
                  <a:srgbClr val="0B6E4F"/>
                </a:solidFill>
                <a:latin typeface="Calibri"/>
                <a:cs typeface="Calibri"/>
              </a:rPr>
              <a:t xml:space="preserve">Not in the documentation: </a:t>
            </a:r>
            <a:r>
              <a:rPr lang="en-US" sz="1300" b="0" i="0" dirty="0">
                <a:solidFill>
                  <a:srgbClr val="3A434C"/>
                </a:solidFill>
                <a:latin typeface="Calibri"/>
                <a:cs typeface="Calibri"/>
              </a:rPr>
              <a:t xml:space="preserve">a candidate for new knowledge.</a:t>
            </a:r>
          </a:p>
        </p:txBody>
      </p:sp>
      <p:sp>
        <p:nvSpPr>
          <p:cNvPr id="1338" name="Card"/>
          <p:cNvSpPr/>
          <p:nvPr/>
        </p:nvSpPr>
        <p:spPr>
          <a:xfrm>
            <a:off x="7726679" y="2304288"/>
            <a:ext cx="3657600" cy="3566160"/>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339" name="Card label"/>
          <p:cNvSpPr txBox="1"/>
          <p:nvPr/>
        </p:nvSpPr>
        <p:spPr>
          <a:xfrm>
            <a:off x="7955279" y="2468880"/>
            <a:ext cx="3200400" cy="274320"/>
          </a:xfrm>
          <a:prstGeom prst="rect">
            <a:avLst/>
          </a:prstGeom>
          <a:noFill/>
          <a:ln>
            <a:noFill/>
          </a:ln>
        </p:spPr>
        <p:txBody>
          <a:bodyPr wrap="square" lIns="0" tIns="0" rIns="0" bIns="0" anchor="t">
            <a:noAutofit/>
          </a:bodyPr>
          <a:lstStyle/>
          <a:p>
            <a:pPr algn="l"/>
            <a:r>
              <a:rPr lang="en-US" sz="1300" b="1" i="0" dirty="0">
                <a:solidFill>
                  <a:srgbClr val="2F6B78"/>
                </a:solidFill>
                <a:latin typeface="Consolas"/>
                <a:cs typeface="Consolas"/>
              </a:rPr>
              <a:t xml:space="preserve">3  CANDIDATE KNOWLEDGE</a:t>
            </a:r>
          </a:p>
        </p:txBody>
      </p:sp>
      <p:sp>
        <p:nvSpPr>
          <p:cNvPr id="1340" name="Note"/>
          <p:cNvSpPr txBox="1"/>
          <p:nvPr/>
        </p:nvSpPr>
        <p:spPr>
          <a:xfrm>
            <a:off x="7955279" y="2743200"/>
            <a:ext cx="3200400" cy="256032"/>
          </a:xfrm>
          <a:prstGeom prst="rect">
            <a:avLst/>
          </a:prstGeom>
          <a:noFill/>
          <a:ln>
            <a:noFill/>
          </a:ln>
        </p:spPr>
        <p:txBody>
          <a:bodyPr wrap="square" lIns="0" tIns="0" rIns="0" bIns="0" anchor="t">
            <a:noAutofit/>
          </a:bodyPr>
          <a:lstStyle/>
          <a:p>
            <a:pPr algn="l"/>
            <a:r>
              <a:rPr lang="en-US" sz="1250" b="0" i="1" dirty="0">
                <a:solidFill>
                  <a:srgbClr val="5B6770"/>
                </a:solidFill>
                <a:latin typeface="Calibri"/>
                <a:cs typeface="Calibri"/>
              </a:rPr>
              <a:t xml:space="preserve">A reviewable hypothesis, not a fact</a:t>
            </a:r>
          </a:p>
        </p:txBody>
      </p:sp>
      <p:sp>
        <p:nvSpPr>
          <p:cNvPr id="1341" name="Code panel"/>
          <p:cNvSpPr/>
          <p:nvPr/>
        </p:nvSpPr>
        <p:spPr>
          <a:xfrm>
            <a:off x="7863840" y="3108960"/>
            <a:ext cx="3383280" cy="1979676"/>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1342" name="Code line 1342"/>
          <p:cNvSpPr txBox="1"/>
          <p:nvPr/>
        </p:nvSpPr>
        <p:spPr>
          <a:xfrm>
            <a:off x="7863840" y="3172968"/>
            <a:ext cx="3337560" cy="205740"/>
          </a:xfrm>
          <a:prstGeom prst="rect">
            <a:avLst/>
          </a:prstGeom>
          <a:noFill/>
        </p:spPr>
        <p:txBody>
          <a:bodyPr wrap="none" lIns="146304" tIns="0" rIns="0" bIns="0" anchor="ctr">
            <a:noAutofit/>
          </a:bodyPr>
          <a:lstStyle/>
          <a:p>
            <a:pPr>
              <a:tabLst>
                <a:tab pos="4224528" algn="l"/>
              </a:tabLst>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p:txBody>
      </p:sp>
      <p:sp>
        <p:nvSpPr>
          <p:cNvPr id="1343" name="Code line 1343"/>
          <p:cNvSpPr txBox="1"/>
          <p:nvPr/>
        </p:nvSpPr>
        <p:spPr>
          <a:xfrm>
            <a:off x="7863840" y="3378708"/>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p:txBody>
      </p:sp>
      <p:sp>
        <p:nvSpPr>
          <p:cNvPr id="1344" name="Code line 1344"/>
          <p:cNvSpPr txBox="1"/>
          <p:nvPr/>
        </p:nvSpPr>
        <p:spPr>
          <a:xfrm>
            <a:off x="7863840" y="3584448"/>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p:txBody>
      </p:sp>
      <p:sp>
        <p:nvSpPr>
          <p:cNvPr id="1345" name="Code line 1345"/>
          <p:cNvSpPr txBox="1"/>
          <p:nvPr/>
        </p:nvSpPr>
        <p:spPr>
          <a:xfrm>
            <a:off x="7863840" y="3790187"/>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p:txBody>
      </p:sp>
      <p:sp>
        <p:nvSpPr>
          <p:cNvPr id="1346" name="Code line 1346"/>
          <p:cNvSpPr txBox="1"/>
          <p:nvPr/>
        </p:nvSpPr>
        <p:spPr>
          <a:xfrm>
            <a:off x="7863840" y="3995928"/>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p:txBody>
      </p:sp>
      <p:sp>
        <p:nvSpPr>
          <p:cNvPr id="1347" name="Code line 1347"/>
          <p:cNvSpPr txBox="1"/>
          <p:nvPr/>
        </p:nvSpPr>
        <p:spPr>
          <a:xfrm>
            <a:off x="7863840" y="4201668"/>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p:txBody>
      </p:sp>
      <p:sp>
        <p:nvSpPr>
          <p:cNvPr id="1348" name="Code line 1348"/>
          <p:cNvSpPr txBox="1"/>
          <p:nvPr/>
        </p:nvSpPr>
        <p:spPr>
          <a:xfrm>
            <a:off x="7863840" y="4407408"/>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p:txBody>
      </p:sp>
      <p:sp>
        <p:nvSpPr>
          <p:cNvPr id="1349" name="Code line 1349"/>
          <p:cNvSpPr txBox="1"/>
          <p:nvPr/>
        </p:nvSpPr>
        <p:spPr>
          <a:xfrm>
            <a:off x="7863840" y="4613148"/>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treatment:drug</a:t>
            </a:r>
            <a:r>
              <a:rPr lang="en-US" sz="1100" b="0" i="0" dirty="0">
                <a:solidFill>
                  <a:srgbClr val="1F2328"/>
                </a:solidFill>
                <a:latin typeface="Consolas"/>
                <a:cs typeface="Consolas"/>
              </a:rPr>
              <a:t xml:space="preserve">,</a:t>
            </a:r>
            <a:endParaRPr lang="en-US" sz="1100"/>
          </a:p>
        </p:txBody>
      </p:sp>
      <p:sp>
        <p:nvSpPr>
          <p:cNvPr id="1350" name="Code line 1350"/>
          <p:cNvSpPr txBox="1"/>
          <p:nvPr/>
        </p:nvSpPr>
        <p:spPr>
          <a:xfrm>
            <a:off x="7863840" y="4818888"/>
            <a:ext cx="3337560" cy="205740"/>
          </a:xfrm>
          <a:prstGeom prst="rect">
            <a:avLst/>
          </a:prstGeom>
          <a:noFill/>
        </p:spPr>
        <p:txBody>
          <a:bodyPr wrap="none" lIns="146304" tIns="0" rIns="0" bIns="0" anchor="ctr">
            <a:noAutofit/>
          </a:bodyPr>
          <a:lstStyle/>
          <a:p>
            <a:pPr>
              <a:tabLst>
                <a:tab pos="4224528" algn="l"/>
              </a:tabLst>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admission:BM_DEP</a:t>
            </a:r>
            <a:endParaRPr lang="en-US" sz="1100"/>
          </a:p>
        </p:txBody>
      </p:sp>
      <p:sp>
        <p:nvSpPr>
          <p:cNvPr id="1351" name="Candidate"/>
          <p:cNvSpPr/>
          <p:nvPr/>
        </p:nvSpPr>
        <p:spPr>
          <a:xfrm>
            <a:off x="7863840" y="5193792"/>
            <a:ext cx="3383280" cy="548640"/>
          </a:xfrm>
          <a:prstGeom prst="roundRect">
            <a:avLst>
              <a:gd name="adj" fmla="val 12000"/>
            </a:avLst>
          </a:prstGeom>
          <a:solidFill>
            <a:srgbClr val="FFF7E8"/>
          </a:solidFill>
          <a:ln>
            <a:noFill/>
          </a:ln>
        </p:spPr>
        <p:txBody>
          <a:bodyPr wrap="square" lIns="91440" tIns="0" rIns="91440" bIns="0" anchor="ctr">
            <a:noAutofit/>
          </a:bodyPr>
          <a:lstStyle/>
          <a:p>
            <a:pPr algn="ctr"/>
            <a:r>
              <a:rPr lang="en-US" sz="1200" b="1" i="0" dirty="0">
                <a:solidFill>
                  <a:srgbClr val="93600F"/>
                </a:solidFill>
                <a:latin typeface="Consolas"/>
                <a:cs typeface="Consolas"/>
              </a:rPr>
              <a:t xml:space="preserve">A PATTERN, NOT A CAUSE  </a:t>
            </a:r>
            <a:r>
              <a:rPr lang="en-US" sz="1250" b="0" i="0" dirty="0">
                <a:solidFill>
                  <a:srgbClr val="3A434C"/>
                </a:solidFill>
                <a:latin typeface="Calibri"/>
                <a:cs typeface="Calibri"/>
              </a:rPr>
              <a:t xml:space="preserve">an expert reviews it before it joins the ontology</a:t>
            </a:r>
          </a:p>
        </p:txBody>
      </p:sp>
      <p:sp>
        <p:nvSpPr>
          <p:cNvPr id="1352" name="Arrow"/>
          <p:cNvSpPr/>
          <p:nvPr/>
        </p:nvSpPr>
        <p:spPr>
          <a:xfrm>
            <a:off x="4078224" y="3922776"/>
            <a:ext cx="274320" cy="329184"/>
          </a:xfrm>
          <a:prstGeom prst="rightArrow">
            <a:avLst/>
          </a:prstGeom>
          <a:solidFill>
            <a:srgbClr val="0B6E4F"/>
          </a:solidFill>
          <a:ln>
            <a:noFill/>
          </a:ln>
        </p:spPr>
      </p:sp>
      <p:sp>
        <p:nvSpPr>
          <p:cNvPr id="1353" name="Arrow"/>
          <p:cNvSpPr/>
          <p:nvPr/>
        </p:nvSpPr>
        <p:spPr>
          <a:xfrm>
            <a:off x="7424927" y="3922776"/>
            <a:ext cx="274320" cy="329184"/>
          </a:xfrm>
          <a:prstGeom prst="rightArrow">
            <a:avLst/>
          </a:prstGeom>
          <a:solidFill>
            <a:srgbClr val="0B6E4F"/>
          </a:solidFill>
          <a:ln>
            <a:noFill/>
          </a:ln>
        </p:spPr>
      </p:sp>
      <p:sp>
        <p:nvSpPr>
          <p:cNvPr id="1354" name="Source"/>
          <p:cNvSpPr txBox="1"/>
          <p:nvPr/>
        </p:nvSpPr>
        <p:spPr>
          <a:xfrm>
            <a:off x="822960" y="5998464"/>
            <a:ext cx="10607040" cy="237744"/>
          </a:xfrm>
          <a:prstGeom prst="rect">
            <a:avLst/>
          </a:prstGeom>
          <a:noFill/>
          <a:ln>
            <a:noFill/>
          </a:ln>
        </p:spPr>
        <p:txBody>
          <a:bodyPr wrap="square" lIns="0" tIns="0" rIns="0" bIns="0" anchor="t">
            <a:noAutofit/>
          </a:bodyPr>
          <a:lstStyle/>
          <a:p>
            <a:pPr algn="l"/>
            <a:r>
              <a:rPr lang="en-US" sz="1000" b="0" i="0" dirty="0">
                <a:solidFill>
                  <a:srgbClr val="5B6770"/>
                </a:solidFill>
                <a:latin typeface="Calibri"/>
                <a:cs typeface="Calibri"/>
              </a:rPr>
              <a:t xml:space="preserve">Rows are synthetic. In practice, RIGOR would use aggregate statistics only, so patient data stays in the hospital.</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