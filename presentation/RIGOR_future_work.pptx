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8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83" r:id="rId32"/>
  </p:sldIdLst>
  <p:sldSz cy="6858000" cx="12192000"/>
  <p:notesSz cx="6858000" cy="12192000"/>
  <p:embeddedFontLst>
    <p:embeddedFont>
      <p:font typeface="IBM Plex Sans"/>
      <p:regular r:id="rId40"/>
      <p:bold r:id="rId41"/>
      <p:italic r:id="rId42"/>
      <p:boldItalic r:id="rId4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4" roundtripDataSignature="AMtx7miIhFui5hy+i4o3KOYM/gPuu+LjK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IBMPlexSans-regular.fntdata"/><Relationship Id="rId42" Type="http://schemas.openxmlformats.org/officeDocument/2006/relationships/font" Target="fonts/IBMPlexSans-italic.fntdata"/><Relationship Id="rId41" Type="http://schemas.openxmlformats.org/officeDocument/2006/relationships/font" Target="fonts/IBMPlexSans-bold.fntdata"/><Relationship Id="rId44" Type="http://customschemas.google.com/relationships/presentationmetadata" Target="metadata"/><Relationship Id="rId43" Type="http://schemas.openxmlformats.org/officeDocument/2006/relationships/font" Target="fonts/IBMPlexSans-bold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32" Type="http://schemas.openxmlformats.org/officeDocument/2006/relationships/slide" Target="slides/slide28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4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6" name="Google Shape;1286;p2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[11:58–12:37]  SPOKEN SCRIPT (68 words)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Where next? Let the data speak. Remember BM_DEP? Without documentation, the name alone is a guess. The data gives two clues: it is only ever zero or one, so it is a flag; and it is one exactly when the patient received cisplatin, a chemotherapy known to suppress the bone marrow. So RIGOR can propose: bone marrow depression, with provenance to both columns, for an expert to confirm.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PRESENTER / POINTER: The '?' on BM_DEP, then the two clues, then the reveal.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AUDIENCE TAKEAWAY: When documentation is missing, instance data can explain cryptic columns.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SOURCE AND SCOPE: Paper Sec. 5 (instance-level signals for cryptic columns when documentation is unavailable). Rows are synthetic. OWL verified (presentation/excerpts/slide22_future_candidate.omn).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RUNNING LATE, DROP: "Without documentation, the name alone is a guess."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ASKED 'WHY NOT JUST ASK THE LLM WHAT BM_DEP MEANS?': from the name alone it is a guess. The data narrows it down: a 0/1 flag that switches on with cisplatin. That is evidence, and we keep provenance to both columns.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ASKED ABOUT PRIVACY: only aggregate statistics (value ranges, co-occurrence) need to leave the database, not patient rows.</a:t>
            </a:r>
          </a:p>
        </p:txBody>
      </p:sp>
      <p:sp>
        <p:nvSpPr>
          <p:cNvPr id="1287" name="Google Shape;1287;p2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bg>
      <p:bgPr>
        <a:solidFill>
          <a:srgbClr val="FFFFFF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5"/>
          <p:cNvSpPr txBox="1"/>
          <p:nvPr>
            <p:ph type="title"/>
          </p:nvPr>
        </p:nvSpPr>
        <p:spPr>
          <a:xfrm>
            <a:off x="812800" y="1153120"/>
            <a:ext cx="10566400" cy="391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2800"/>
              <a:buFont typeface="Calibri"/>
              <a:buNone/>
              <a:defRPr sz="280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5"/>
          <p:cNvSpPr txBox="1"/>
          <p:nvPr>
            <p:ph idx="1" type="body"/>
          </p:nvPr>
        </p:nvSpPr>
        <p:spPr>
          <a:xfrm>
            <a:off x="812800" y="1849041"/>
            <a:ext cx="10566400" cy="41961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Clr>
                <a:srgbClr val="1F2328"/>
              </a:buClr>
              <a:buSzPts val="1600"/>
              <a:buNone/>
              <a:defRPr sz="160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/>
          <p:nvPr>
            <p:ph type="title"/>
          </p:nvPr>
        </p:nvSpPr>
        <p:spPr>
          <a:xfrm>
            <a:off x="812800" y="1153120"/>
            <a:ext cx="10566400" cy="391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2800"/>
              <a:buFont typeface="Calibri"/>
              <a:buNone/>
              <a:defRPr b="0" i="0" sz="28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" name="Google Shape;11;p24"/>
          <p:cNvSpPr txBox="1"/>
          <p:nvPr>
            <p:ph idx="1" type="body"/>
          </p:nvPr>
        </p:nvSpPr>
        <p:spPr>
          <a:xfrm>
            <a:off x="812800" y="1849041"/>
            <a:ext cx="10566400" cy="41961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Clr>
                <a:srgbClr val="1F2328"/>
              </a:buClr>
              <a:buSzPts val="1600"/>
              <a:buFont typeface="Calibri"/>
              <a:buNone/>
              <a:defRPr b="0" i="0" sz="16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88" name="Shape 1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9" name="Google Shape;1289;p22"/>
          <p:cNvSpPr txBox="1"/>
          <p:nvPr/>
        </p:nvSpPr>
        <p:spPr>
          <a:xfrm>
            <a:off x="813816" y="493776"/>
            <a:ext cx="10607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FUTURE WORK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0" name="Google Shape;1290;p22"/>
          <p:cNvSpPr txBox="1"/>
          <p:nvPr/>
        </p:nvSpPr>
        <p:spPr>
          <a:xfrm>
            <a:off x="813816" y="923544"/>
            <a:ext cx="10698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Next: let the data speak.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1" name="Subtitle"/>
          <p:cNvSpPr txBox="1"/>
          <p:nvPr/>
        </p:nvSpPr>
        <p:spPr>
          <a:xfrm>
            <a:off x="822960" y="1682496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6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Today </a:t>
            </a:r>
            <a:r>
              <a:rPr lang="en-US" sz="1650" b="1" i="1" dirty="0">
                <a:solidFill>
                  <a:srgbClr val="3A434C"/>
                </a:solidFill>
                <a:latin typeface="Calibri"/>
                <a:cs typeface="Calibri"/>
              </a:rPr>
              <a:t xml:space="preserve">RIGOR</a:t>
            </a:r>
            <a:r>
              <a:rPr lang="en-US" sz="16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 reads </a:t>
            </a:r>
            <a:r>
              <a:rPr lang="en-US" sz="1650" b="1" i="0" dirty="0">
                <a:solidFill>
                  <a:srgbClr val="3A434C"/>
                </a:solidFill>
                <a:latin typeface="Calibri"/>
                <a:cs typeface="Calibri"/>
              </a:rPr>
              <a:t xml:space="preserve">schemas</a:t>
            </a:r>
            <a:r>
              <a:rPr lang="en-US" sz="16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 and </a:t>
            </a:r>
            <a:r>
              <a:rPr lang="en-US" sz="1650" b="1" i="0" dirty="0">
                <a:solidFill>
                  <a:srgbClr val="3A434C"/>
                </a:solidFill>
                <a:latin typeface="Calibri"/>
                <a:cs typeface="Calibri"/>
              </a:rPr>
              <a:t xml:space="preserve">documentation</a:t>
            </a:r>
            <a:r>
              <a:rPr lang="en-US" sz="16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. When documentation is missing, </a:t>
            </a:r>
            <a:r>
              <a:rPr lang="en-US" sz="1650" b="1" i="0" dirty="0">
                <a:solidFill>
                  <a:srgbClr val="3A434C"/>
                </a:solidFill>
                <a:latin typeface="Calibri"/>
                <a:cs typeface="Calibri"/>
              </a:rPr>
              <a:t xml:space="preserve">instance data</a:t>
            </a:r>
            <a:r>
              <a:rPr lang="en-US" sz="16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 can explain </a:t>
            </a:r>
            <a:r>
              <a:rPr lang="en-US" sz="1650" b="1" i="0" dirty="0">
                <a:solidFill>
                  <a:srgbClr val="3A434C"/>
                </a:solidFill>
                <a:latin typeface="Calibri"/>
                <a:cs typeface="Calibri"/>
              </a:rPr>
              <a:t xml:space="preserve">cryptic columns</a:t>
            </a:r>
            <a:r>
              <a:rPr lang="en-US" sz="16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.</a:t>
            </a:r>
          </a:p>
        </p:txBody>
      </p:sp>
      <p:sp>
        <p:nvSpPr>
          <p:cNvPr id="1292" name="Card"/>
          <p:cNvSpPr/>
          <p:nvPr/>
        </p:nvSpPr>
        <p:spPr>
          <a:xfrm>
            <a:off x="804672" y="2395728"/>
            <a:ext cx="3246120" cy="33649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93" name="Card label"/>
          <p:cNvSpPr txBox="1"/>
          <p:nvPr/>
        </p:nvSpPr>
        <p:spPr>
          <a:xfrm>
            <a:off x="1033271" y="2560320"/>
            <a:ext cx="2788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1  THE DATA</a:t>
            </a:r>
          </a:p>
        </p:txBody>
      </p:sp>
      <p:sp>
        <p:nvSpPr>
          <p:cNvPr id="1294" name="Question"/>
          <p:cNvSpPr txBox="1"/>
          <p:nvPr/>
        </p:nvSpPr>
        <p:spPr>
          <a:xfrm>
            <a:off x="1033271" y="2834640"/>
            <a:ext cx="278892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0" i="1" dirty="0">
                <a:solidFill>
                  <a:srgbClr val="3A434C"/>
                </a:solidFill>
                <a:latin typeface="Calibri"/>
                <a:cs typeface="Calibri"/>
              </a:rPr>
              <a:t xml:space="preserve">What does </a:t>
            </a:r>
            <a:r>
              <a:rPr lang="en-US" sz="1250" b="1" i="0" dirty="0">
                <a:solidFill>
                  <a:srgbClr val="93600F"/>
                </a:solidFill>
                <a:latin typeface="Consolas"/>
                <a:cs typeface="Consolas"/>
              </a:rPr>
              <a:t xml:space="preserve">BM_DEP</a:t>
            </a:r>
            <a:r>
              <a:rPr lang="en-US" sz="1250" b="0" i="1" dirty="0">
                <a:solidFill>
                  <a:srgbClr val="3A434C"/>
                </a:solidFill>
                <a:latin typeface="Calibri"/>
                <a:cs typeface="Calibri"/>
              </a:rPr>
              <a:t xml:space="preserve"> mean?</a:t>
            </a:r>
          </a:p>
        </p:txBody>
      </p:sp>
      <p:sp>
        <p:nvSpPr>
          <p:cNvPr id="1295" name="Table treatment"/>
          <p:cNvSpPr/>
          <p:nvPr/>
        </p:nvSpPr>
        <p:spPr>
          <a:xfrm>
            <a:off x="941832" y="3145536"/>
            <a:ext cx="2971800" cy="1120140"/>
          </a:xfrm>
          <a:prstGeom prst="roundRect">
            <a:avLst>
              <a:gd name="adj" fmla="val 9000"/>
            </a:avLst>
          </a:prstGeom>
          <a:solidFill>
            <a:srgbClr val="E9EEEB"/>
          </a:solidFill>
          <a:ln>
            <a:noFill/>
          </a:ln>
          <a:effectLst>
            <a:outerShdw blurRad="76200" dist="25400" dir="5400000" algn="t" rotWithShape="0">
              <a:srgbClr val="000000">
                <a:alpha val="16000"/>
              </a:srgbClr>
            </a:outerShdw>
          </a:effectLst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296" name="Table name"/>
          <p:cNvSpPr txBox="1"/>
          <p:nvPr/>
        </p:nvSpPr>
        <p:spPr>
          <a:xfrm>
            <a:off x="1078992" y="3172968"/>
            <a:ext cx="269748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5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treatment</a:t>
            </a:r>
          </a:p>
        </p:txBody>
      </p:sp>
      <p:sp>
        <p:nvSpPr>
          <p:cNvPr id="1297" name="Rule"/>
          <p:cNvSpPr/>
          <p:nvPr/>
        </p:nvSpPr>
        <p:spPr>
          <a:xfrm>
            <a:off x="1078992" y="3438144"/>
            <a:ext cx="2697480" cy="10972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98" name="Column"/>
          <p:cNvSpPr txBox="1"/>
          <p:nvPr/>
        </p:nvSpPr>
        <p:spPr>
          <a:xfrm>
            <a:off x="1078992" y="3465576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admission_id</a:t>
            </a:r>
            <a:r>
              <a:rPr lang="en-US" sz="9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  FK</a:t>
            </a:r>
          </a:p>
        </p:txBody>
      </p:sp>
      <p:sp>
        <p:nvSpPr>
          <p:cNvPr id="1299" name="Column"/>
          <p:cNvSpPr txBox="1"/>
          <p:nvPr/>
        </p:nvSpPr>
        <p:spPr>
          <a:xfrm>
            <a:off x="2130552" y="3465576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drug</a:t>
            </a:r>
          </a:p>
        </p:txBody>
      </p:sp>
      <p:sp>
        <p:nvSpPr>
          <p:cNvPr id="1300" name="Row band"/>
          <p:cNvSpPr/>
          <p:nvPr/>
        </p:nvSpPr>
        <p:spPr>
          <a:xfrm>
            <a:off x="1014984" y="3657600"/>
            <a:ext cx="2825496" cy="173736"/>
          </a:xfrm>
          <a:prstGeom prst="rect">
            <a:avLst/>
          </a:prstGeom>
          <a:solidFill>
            <a:srgbClr val="D7EDE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01" name="Cell"/>
          <p:cNvSpPr txBox="1"/>
          <p:nvPr/>
        </p:nvSpPr>
        <p:spPr>
          <a:xfrm>
            <a:off x="1078992" y="3657600"/>
            <a:ext cx="105156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A1</a:t>
            </a:r>
          </a:p>
        </p:txBody>
      </p:sp>
      <p:sp>
        <p:nvSpPr>
          <p:cNvPr id="1302" name="Cell"/>
          <p:cNvSpPr txBox="1"/>
          <p:nvPr/>
        </p:nvSpPr>
        <p:spPr>
          <a:xfrm>
            <a:off x="2130552" y="3657600"/>
            <a:ext cx="146304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cisplatin</a:t>
            </a:r>
          </a:p>
        </p:txBody>
      </p:sp>
      <p:sp>
        <p:nvSpPr>
          <p:cNvPr id="1303" name="Cell"/>
          <p:cNvSpPr txBox="1"/>
          <p:nvPr/>
        </p:nvSpPr>
        <p:spPr>
          <a:xfrm>
            <a:off x="1078992" y="3845052"/>
            <a:ext cx="105156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A2</a:t>
            </a:r>
          </a:p>
        </p:txBody>
      </p:sp>
      <p:sp>
        <p:nvSpPr>
          <p:cNvPr id="1304" name="Cell"/>
          <p:cNvSpPr txBox="1"/>
          <p:nvPr/>
        </p:nvSpPr>
        <p:spPr>
          <a:xfrm>
            <a:off x="2130552" y="3845052"/>
            <a:ext cx="146304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nivolumab</a:t>
            </a:r>
          </a:p>
        </p:txBody>
      </p:sp>
      <p:sp>
        <p:nvSpPr>
          <p:cNvPr id="1305" name="Row band"/>
          <p:cNvSpPr/>
          <p:nvPr/>
        </p:nvSpPr>
        <p:spPr>
          <a:xfrm>
            <a:off x="1014984" y="4032504"/>
            <a:ext cx="2825496" cy="173736"/>
          </a:xfrm>
          <a:prstGeom prst="rect">
            <a:avLst/>
          </a:prstGeom>
          <a:solidFill>
            <a:srgbClr val="D7EDE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06" name="Cell"/>
          <p:cNvSpPr txBox="1"/>
          <p:nvPr/>
        </p:nvSpPr>
        <p:spPr>
          <a:xfrm>
            <a:off x="1078992" y="4032504"/>
            <a:ext cx="105156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A3</a:t>
            </a:r>
          </a:p>
        </p:txBody>
      </p:sp>
      <p:sp>
        <p:nvSpPr>
          <p:cNvPr id="1307" name="Cell"/>
          <p:cNvSpPr txBox="1"/>
          <p:nvPr/>
        </p:nvSpPr>
        <p:spPr>
          <a:xfrm>
            <a:off x="2130552" y="4032504"/>
            <a:ext cx="146304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cisplatin</a:t>
            </a:r>
          </a:p>
        </p:txBody>
      </p:sp>
      <p:sp>
        <p:nvSpPr>
          <p:cNvPr id="1308" name="Table admission"/>
          <p:cNvSpPr/>
          <p:nvPr/>
        </p:nvSpPr>
        <p:spPr>
          <a:xfrm>
            <a:off x="941832" y="4357116"/>
            <a:ext cx="2971800" cy="1120140"/>
          </a:xfrm>
          <a:prstGeom prst="roundRect">
            <a:avLst>
              <a:gd name="adj" fmla="val 9000"/>
            </a:avLst>
          </a:prstGeom>
          <a:solidFill>
            <a:srgbClr val="E9EEEB"/>
          </a:solidFill>
          <a:ln>
            <a:noFill/>
          </a:ln>
          <a:effectLst>
            <a:outerShdw blurRad="76200" dist="25400" dir="5400000" algn="t" rotWithShape="0">
              <a:srgbClr val="000000">
                <a:alpha val="16000"/>
              </a:srgbClr>
            </a:outerShdw>
          </a:effectLst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309" name="Table name"/>
          <p:cNvSpPr txBox="1"/>
          <p:nvPr/>
        </p:nvSpPr>
        <p:spPr>
          <a:xfrm>
            <a:off x="1078992" y="4384548"/>
            <a:ext cx="269748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5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admission</a:t>
            </a:r>
          </a:p>
        </p:txBody>
      </p:sp>
      <p:sp>
        <p:nvSpPr>
          <p:cNvPr id="1310" name="Rule"/>
          <p:cNvSpPr/>
          <p:nvPr/>
        </p:nvSpPr>
        <p:spPr>
          <a:xfrm>
            <a:off x="1078992" y="4649724"/>
            <a:ext cx="2697480" cy="10972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11" name="Column"/>
          <p:cNvSpPr txBox="1"/>
          <p:nvPr/>
        </p:nvSpPr>
        <p:spPr>
          <a:xfrm>
            <a:off x="1078992" y="4677156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admission_id</a:t>
            </a:r>
          </a:p>
        </p:txBody>
      </p:sp>
      <p:sp>
        <p:nvSpPr>
          <p:cNvPr id="1312" name="Column"/>
          <p:cNvSpPr txBox="1"/>
          <p:nvPr/>
        </p:nvSpPr>
        <p:spPr>
          <a:xfrm>
            <a:off x="2130552" y="4677156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patient_id</a:t>
            </a:r>
          </a:p>
        </p:txBody>
      </p:sp>
      <p:sp>
        <p:nvSpPr>
          <p:cNvPr id="1313" name="Column"/>
          <p:cNvSpPr txBox="1"/>
          <p:nvPr/>
        </p:nvSpPr>
        <p:spPr>
          <a:xfrm>
            <a:off x="2999232" y="4677156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BM_DEP</a:t>
            </a:r>
          </a:p>
        </p:txBody>
      </p:sp>
      <p:sp>
        <p:nvSpPr>
          <p:cNvPr id="1314" name="Question"/>
          <p:cNvSpPr/>
          <p:nvPr/>
        </p:nvSpPr>
        <p:spPr>
          <a:xfrm>
            <a:off x="3529584" y="4668012"/>
            <a:ext cx="201168" cy="201168"/>
          </a:xfrm>
          <a:prstGeom prst="ellipse">
            <a:avLst/>
          </a:prstGeom>
          <a:solidFill>
            <a:srgbClr val="93600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FFFFFF"/>
                </a:solidFill>
                <a:latin typeface="Calibri"/>
                <a:cs typeface="Calibri"/>
              </a:rPr>
              <a:t xml:space="preserve">?</a:t>
            </a:r>
          </a:p>
        </p:txBody>
      </p:sp>
      <p:sp>
        <p:nvSpPr>
          <p:cNvPr id="1315" name="Row band"/>
          <p:cNvSpPr/>
          <p:nvPr/>
        </p:nvSpPr>
        <p:spPr>
          <a:xfrm>
            <a:off x="1014984" y="4869180"/>
            <a:ext cx="2825496" cy="173736"/>
          </a:xfrm>
          <a:prstGeom prst="rect">
            <a:avLst/>
          </a:prstGeom>
          <a:solidFill>
            <a:srgbClr val="D7EDE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16" name="Cell"/>
          <p:cNvSpPr txBox="1"/>
          <p:nvPr/>
        </p:nvSpPr>
        <p:spPr>
          <a:xfrm>
            <a:off x="1078992" y="4869180"/>
            <a:ext cx="105156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A1</a:t>
            </a:r>
          </a:p>
        </p:txBody>
      </p:sp>
      <p:sp>
        <p:nvSpPr>
          <p:cNvPr id="1317" name="Cell"/>
          <p:cNvSpPr txBox="1"/>
          <p:nvPr/>
        </p:nvSpPr>
        <p:spPr>
          <a:xfrm>
            <a:off x="2130552" y="4869180"/>
            <a:ext cx="86868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P1</a:t>
            </a:r>
          </a:p>
        </p:txBody>
      </p:sp>
      <p:sp>
        <p:nvSpPr>
          <p:cNvPr id="1318" name="Cell"/>
          <p:cNvSpPr txBox="1"/>
          <p:nvPr/>
        </p:nvSpPr>
        <p:spPr>
          <a:xfrm>
            <a:off x="2999232" y="4869180"/>
            <a:ext cx="73152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1</a:t>
            </a:r>
          </a:p>
        </p:txBody>
      </p:sp>
      <p:sp>
        <p:nvSpPr>
          <p:cNvPr id="1319" name="Cell"/>
          <p:cNvSpPr txBox="1"/>
          <p:nvPr/>
        </p:nvSpPr>
        <p:spPr>
          <a:xfrm>
            <a:off x="1078992" y="5056632"/>
            <a:ext cx="105156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A2</a:t>
            </a:r>
          </a:p>
        </p:txBody>
      </p:sp>
      <p:sp>
        <p:nvSpPr>
          <p:cNvPr id="1320" name="Cell"/>
          <p:cNvSpPr txBox="1"/>
          <p:nvPr/>
        </p:nvSpPr>
        <p:spPr>
          <a:xfrm>
            <a:off x="2130552" y="5056632"/>
            <a:ext cx="86868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P2</a:t>
            </a:r>
          </a:p>
        </p:txBody>
      </p:sp>
      <p:sp>
        <p:nvSpPr>
          <p:cNvPr id="1321" name="Cell"/>
          <p:cNvSpPr txBox="1"/>
          <p:nvPr/>
        </p:nvSpPr>
        <p:spPr>
          <a:xfrm>
            <a:off x="2999232" y="5056632"/>
            <a:ext cx="73152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0</a:t>
            </a:r>
          </a:p>
        </p:txBody>
      </p:sp>
      <p:sp>
        <p:nvSpPr>
          <p:cNvPr id="1322" name="Row band"/>
          <p:cNvSpPr/>
          <p:nvPr/>
        </p:nvSpPr>
        <p:spPr>
          <a:xfrm>
            <a:off x="1014984" y="5244084"/>
            <a:ext cx="2825496" cy="173736"/>
          </a:xfrm>
          <a:prstGeom prst="rect">
            <a:avLst/>
          </a:prstGeom>
          <a:solidFill>
            <a:srgbClr val="D7EDE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23" name="Cell"/>
          <p:cNvSpPr txBox="1"/>
          <p:nvPr/>
        </p:nvSpPr>
        <p:spPr>
          <a:xfrm>
            <a:off x="1078992" y="5244084"/>
            <a:ext cx="105156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A3</a:t>
            </a:r>
          </a:p>
        </p:txBody>
      </p:sp>
      <p:sp>
        <p:nvSpPr>
          <p:cNvPr id="1324" name="Cell"/>
          <p:cNvSpPr txBox="1"/>
          <p:nvPr/>
        </p:nvSpPr>
        <p:spPr>
          <a:xfrm>
            <a:off x="2130552" y="5244084"/>
            <a:ext cx="86868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P3</a:t>
            </a:r>
          </a:p>
        </p:txBody>
      </p:sp>
      <p:sp>
        <p:nvSpPr>
          <p:cNvPr id="1325" name="Cell"/>
          <p:cNvSpPr txBox="1"/>
          <p:nvPr/>
        </p:nvSpPr>
        <p:spPr>
          <a:xfrm>
            <a:off x="2999232" y="5244084"/>
            <a:ext cx="731520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05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1</a:t>
            </a:r>
          </a:p>
        </p:txBody>
      </p:sp>
      <p:sp>
        <p:nvSpPr>
          <p:cNvPr id="1326" name="Card"/>
          <p:cNvSpPr/>
          <p:nvPr/>
        </p:nvSpPr>
        <p:spPr>
          <a:xfrm>
            <a:off x="4379976" y="2395728"/>
            <a:ext cx="3154680" cy="33649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27" name="Card label"/>
          <p:cNvSpPr txBox="1"/>
          <p:nvPr/>
        </p:nvSpPr>
        <p:spPr>
          <a:xfrm>
            <a:off x="4608576" y="256032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2  THE CLUES</a:t>
            </a:r>
          </a:p>
        </p:txBody>
      </p:sp>
      <p:sp>
        <p:nvSpPr>
          <p:cNvPr id="1328" name="Clue"/>
          <p:cNvSpPr/>
          <p:nvPr/>
        </p:nvSpPr>
        <p:spPr>
          <a:xfrm>
            <a:off x="4517136" y="2962656"/>
            <a:ext cx="2880360" cy="1188720"/>
          </a:xfrm>
          <a:prstGeom prst="roundRect">
            <a:avLst>
              <a:gd name="adj" fmla="val 12000"/>
            </a:avLst>
          </a:prstGeom>
          <a:solidFill>
            <a:srgbClr val="F6F8FA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29" name="Magnifier ring"/>
          <p:cNvSpPr/>
          <p:nvPr/>
        </p:nvSpPr>
        <p:spPr>
          <a:xfrm>
            <a:off x="4636008" y="3090672"/>
            <a:ext cx="223845" cy="22384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B6E4F"/>
            </a:solidFill>
          </a:ln>
        </p:spPr>
      </p:sp>
      <p:sp>
        <p:nvSpPr>
          <p:cNvPr id="1330" name="Magnifier handle"/>
          <p:cNvSpPr/>
          <p:nvPr/>
        </p:nvSpPr>
        <p:spPr>
          <a:xfrm rot="-2700000">
            <a:off x="4828763" y="3252337"/>
            <a:ext cx="37307" cy="124358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331" name="Clue head"/>
          <p:cNvSpPr txBox="1"/>
          <p:nvPr/>
        </p:nvSpPr>
        <p:spPr>
          <a:xfrm>
            <a:off x="5038344" y="3054096"/>
            <a:ext cx="22402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Only 0 and 1</a:t>
            </a:r>
          </a:p>
        </p:txBody>
      </p:sp>
      <p:sp>
        <p:nvSpPr>
          <p:cNvPr id="1332" name="Clue body"/>
          <p:cNvSpPr txBox="1"/>
          <p:nvPr/>
        </p:nvSpPr>
        <p:spPr>
          <a:xfrm>
            <a:off x="4654296" y="3566160"/>
            <a:ext cx="20116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A yes/no flag, not a score.</a:t>
            </a:r>
          </a:p>
        </p:txBody>
      </p:sp>
      <p:sp>
        <p:nvSpPr>
          <p:cNvPr id="1333" name="Value bar"/>
          <p:cNvSpPr/>
          <p:nvPr/>
        </p:nvSpPr>
        <p:spPr>
          <a:xfrm>
            <a:off x="6757416" y="3803904"/>
            <a:ext cx="182880" cy="182880"/>
          </a:xfrm>
          <a:prstGeom prst="rect">
            <a:avLst/>
          </a:prstGeom>
          <a:solidFill>
            <a:srgbClr val="9AA3A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34" name="Value label"/>
          <p:cNvSpPr txBox="1"/>
          <p:nvPr/>
        </p:nvSpPr>
        <p:spPr>
          <a:xfrm>
            <a:off x="6711696" y="3995928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900" b="0" i="0" dirty="0">
                <a:solidFill>
                  <a:srgbClr val="5B6770"/>
                </a:solidFill>
                <a:latin typeface="Consolas"/>
                <a:cs typeface="Consolas"/>
              </a:rPr>
              <a:t xml:space="preserve">0</a:t>
            </a:r>
          </a:p>
        </p:txBody>
      </p:sp>
      <p:sp>
        <p:nvSpPr>
          <p:cNvPr id="1335" name="Value bar"/>
          <p:cNvSpPr/>
          <p:nvPr/>
        </p:nvSpPr>
        <p:spPr>
          <a:xfrm>
            <a:off x="7031736" y="3621024"/>
            <a:ext cx="182880" cy="365760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36" name="Value label"/>
          <p:cNvSpPr txBox="1"/>
          <p:nvPr/>
        </p:nvSpPr>
        <p:spPr>
          <a:xfrm>
            <a:off x="6986016" y="3995928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900" b="0" i="0" dirty="0">
                <a:solidFill>
                  <a:srgbClr val="5B6770"/>
                </a:solidFill>
                <a:latin typeface="Consolas"/>
                <a:cs typeface="Consolas"/>
              </a:rPr>
              <a:t xml:space="preserve">1</a:t>
            </a:r>
          </a:p>
        </p:txBody>
      </p:sp>
      <p:sp>
        <p:nvSpPr>
          <p:cNvPr id="1337" name="Clue"/>
          <p:cNvSpPr/>
          <p:nvPr/>
        </p:nvSpPr>
        <p:spPr>
          <a:xfrm>
            <a:off x="4517136" y="4261104"/>
            <a:ext cx="2880360" cy="1188720"/>
          </a:xfrm>
          <a:prstGeom prst="roundRect">
            <a:avLst>
              <a:gd name="adj" fmla="val 12000"/>
            </a:avLst>
          </a:prstGeom>
          <a:solidFill>
            <a:srgbClr val="F6F8FA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38" name="Magnifier ring"/>
          <p:cNvSpPr/>
          <p:nvPr/>
        </p:nvSpPr>
        <p:spPr>
          <a:xfrm>
            <a:off x="4636008" y="4389120"/>
            <a:ext cx="223845" cy="22384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B6E4F"/>
            </a:solidFill>
          </a:ln>
        </p:spPr>
      </p:sp>
      <p:sp>
        <p:nvSpPr>
          <p:cNvPr id="1339" name="Magnifier handle"/>
          <p:cNvSpPr/>
          <p:nvPr/>
        </p:nvSpPr>
        <p:spPr>
          <a:xfrm rot="-2700000">
            <a:off x="4828763" y="4550785"/>
            <a:ext cx="37307" cy="124358"/>
          </a:xfrm>
          <a:prstGeom prst="roundRect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340" name="Clue head"/>
          <p:cNvSpPr txBox="1"/>
          <p:nvPr/>
        </p:nvSpPr>
        <p:spPr>
          <a:xfrm>
            <a:off x="5038344" y="4352544"/>
            <a:ext cx="22402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 exactly when cisplatin was given</a:t>
            </a:r>
          </a:p>
        </p:txBody>
      </p:sp>
      <p:sp>
        <p:nvSpPr>
          <p:cNvPr id="1341" name="Clue body"/>
          <p:cNvSpPr txBox="1"/>
          <p:nvPr/>
        </p:nvSpPr>
        <p:spPr>
          <a:xfrm>
            <a:off x="4654296" y="4864608"/>
            <a:ext cx="260604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Cisplatin is a chemotherapy known to suppress the bone marrow.</a:t>
            </a:r>
          </a:p>
        </p:txBody>
      </p:sp>
      <p:sp>
        <p:nvSpPr>
          <p:cNvPr id="1342" name="Card"/>
          <p:cNvSpPr/>
          <p:nvPr/>
        </p:nvSpPr>
        <p:spPr>
          <a:xfrm>
            <a:off x="7863840" y="2395728"/>
            <a:ext cx="3520440" cy="33649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343" name="Card label"/>
          <p:cNvSpPr txBox="1"/>
          <p:nvPr/>
        </p:nvSpPr>
        <p:spPr>
          <a:xfrm>
            <a:off x="8092440" y="256032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3  THE ANSWER</a:t>
            </a:r>
          </a:p>
        </p:txBody>
      </p:sp>
      <p:sp>
        <p:nvSpPr>
          <p:cNvPr id="1344" name="Reveal key"/>
          <p:cNvSpPr txBox="1"/>
          <p:nvPr/>
        </p:nvSpPr>
        <p:spPr>
          <a:xfrm>
            <a:off x="8092440" y="2962656"/>
            <a:ext cx="30632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7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BM_DEP</a:t>
            </a:r>
            <a:r>
              <a:rPr lang="en-US" sz="17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   →</a:t>
            </a:r>
          </a:p>
        </p:txBody>
      </p:sp>
      <p:sp>
        <p:nvSpPr>
          <p:cNvPr id="1345" name="Reveal"/>
          <p:cNvSpPr txBox="1"/>
          <p:nvPr/>
        </p:nvSpPr>
        <p:spPr>
          <a:xfrm>
            <a:off x="8092440" y="3291840"/>
            <a:ext cx="3063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000" b="1" i="0" dirty="0">
                <a:solidFill>
                  <a:srgbClr val="1F2328"/>
                </a:solidFill>
                <a:latin typeface="Cambria"/>
                <a:cs typeface="Cambria"/>
              </a:rPr>
              <a:t xml:space="preserve">Bone marrow depression</a:t>
            </a:r>
          </a:p>
        </p:txBody>
      </p:sp>
      <p:sp>
        <p:nvSpPr>
          <p:cNvPr id="1346" name="Code panel"/>
          <p:cNvSpPr/>
          <p:nvPr/>
        </p:nvSpPr>
        <p:spPr>
          <a:xfrm>
            <a:off x="8001000" y="3813048"/>
            <a:ext cx="3246120" cy="1170432"/>
          </a:xfrm>
          <a:prstGeom prst="roundRect">
            <a:avLst>
              <a:gd name="adj" fmla="val 9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347" name="Code line 1347"/>
          <p:cNvSpPr txBox="1"/>
          <p:nvPr/>
        </p:nvSpPr>
        <p:spPr>
          <a:xfrm>
            <a:off x="8001000" y="3877056"/>
            <a:ext cx="3200400" cy="173736"/>
          </a:xfrm>
          <a:prstGeom prst="rect">
            <a:avLst/>
          </a:prstGeom>
          <a:noFill/>
        </p:spPr>
        <p:txBody>
          <a:bodyPr wrap="none" lIns="146304" tIns="0" rIns="0" bIns="0" anchor="ctr">
            <a:noAutofit/>
          </a:bodyPr>
          <a:lstStyle/>
          <a:p>
            <a:pPr>
              <a:tabLst>
                <a:tab pos="4224528" algn="l"/>
              </a:tabLst>
            </a:pPr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DataProperty: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BM_DEP</a:t>
            </a:r>
            <a:endParaRPr lang="en-US" sz="1000"/>
          </a:p>
        </p:txBody>
      </p:sp>
      <p:sp>
        <p:nvSpPr>
          <p:cNvPr id="1348" name="Code line 1348"/>
          <p:cNvSpPr txBox="1"/>
          <p:nvPr/>
        </p:nvSpPr>
        <p:spPr>
          <a:xfrm>
            <a:off x="8001000" y="4050792"/>
            <a:ext cx="3200400" cy="173736"/>
          </a:xfrm>
          <a:prstGeom prst="rect">
            <a:avLst/>
          </a:prstGeom>
          <a:noFill/>
        </p:spPr>
        <p:txBody>
          <a:bodyPr wrap="none" lIns="146304" tIns="0" rIns="0" bIns="0" anchor="ctr">
            <a:noAutofit/>
          </a:bodyPr>
          <a:lstStyle/>
          <a:p>
            <a:pPr>
              <a:tabLst>
                <a:tab pos="4224528" algn="l"/>
              </a:tabLst>
            </a:pP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 </a:t>
            </a:r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Annotations:</a:t>
            </a:r>
            <a:endParaRPr lang="en-US" sz="1000"/>
          </a:p>
        </p:txBody>
      </p:sp>
      <p:sp>
        <p:nvSpPr>
          <p:cNvPr id="1349" name="Code line 1349"/>
          <p:cNvSpPr txBox="1"/>
          <p:nvPr/>
        </p:nvSpPr>
        <p:spPr>
          <a:xfrm>
            <a:off x="8001000" y="4224528"/>
            <a:ext cx="3200400" cy="173736"/>
          </a:xfrm>
          <a:prstGeom prst="rect">
            <a:avLst/>
          </a:prstGeom>
          <a:noFill/>
        </p:spPr>
        <p:txBody>
          <a:bodyPr wrap="none" lIns="146304" tIns="0" rIns="0" bIns="0" anchor="ctr">
            <a:noAutofit/>
          </a:bodyPr>
          <a:lstStyle/>
          <a:p>
            <a:pPr>
              <a:tabLst>
                <a:tab pos="4224528" algn="l"/>
              </a:tabLst>
            </a:pP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   </a:t>
            </a:r>
            <a:r>
              <a:rPr lang="en-US" sz="1000" b="0" i="0" dirty="0">
                <a:solidFill>
                  <a:srgbClr val="5B6770"/>
                </a:solidFill>
                <a:latin typeface="Consolas"/>
                <a:cs typeface="Consolas"/>
              </a:rPr>
              <a:t xml:space="preserve">rdfs:label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</a:t>
            </a:r>
            <a:r>
              <a:rPr lang="en-US" sz="1000" b="0" i="0" dirty="0">
                <a:solidFill>
                  <a:srgbClr val="A3401E"/>
                </a:solidFill>
                <a:latin typeface="Consolas"/>
                <a:cs typeface="Consolas"/>
              </a:rPr>
              <a:t xml:space="preserve">"Bone marrow depression"@en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,</a:t>
            </a:r>
            <a:endParaRPr lang="en-US" sz="1000"/>
          </a:p>
        </p:txBody>
      </p:sp>
      <p:sp>
        <p:nvSpPr>
          <p:cNvPr id="1350" name="Code line 1350"/>
          <p:cNvSpPr txBox="1"/>
          <p:nvPr/>
        </p:nvSpPr>
        <p:spPr>
          <a:xfrm>
            <a:off x="8001000" y="4398264"/>
            <a:ext cx="3200400" cy="173736"/>
          </a:xfrm>
          <a:prstGeom prst="rect">
            <a:avLst/>
          </a:prstGeom>
          <a:noFill/>
        </p:spPr>
        <p:txBody>
          <a:bodyPr wrap="none" lIns="146304" tIns="0" rIns="0" bIns="0" anchor="ctr">
            <a:noAutofit/>
          </a:bodyPr>
          <a:lstStyle/>
          <a:p>
            <a:pPr>
              <a:tabLst>
                <a:tab pos="4224528" algn="l"/>
              </a:tabLst>
            </a:pP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   </a:t>
            </a:r>
            <a:r>
              <a:rPr lang="en-US" sz="1000" b="0" i="0" dirty="0">
                <a:solidFill>
                  <a:srgbClr val="5B6770"/>
                </a:solidFill>
                <a:latin typeface="Consolas"/>
                <a:cs typeface="Consolas"/>
              </a:rPr>
              <a:t xml:space="preserve">rdfs:comment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</a:t>
            </a:r>
            <a:r>
              <a:rPr lang="en-US" sz="1000" b="0" i="0" dirty="0">
                <a:solidFill>
                  <a:srgbClr val="A3401E"/>
                </a:solidFill>
                <a:latin typeface="Consolas"/>
                <a:cs typeface="Consolas"/>
              </a:rPr>
              <a:t xml:space="preserve">"1 = yes, 0 = no"@en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,</a:t>
            </a:r>
            <a:endParaRPr lang="en-US" sz="1000"/>
          </a:p>
        </p:txBody>
      </p:sp>
      <p:sp>
        <p:nvSpPr>
          <p:cNvPr id="1351" name="Code line 1351"/>
          <p:cNvSpPr txBox="1"/>
          <p:nvPr/>
        </p:nvSpPr>
        <p:spPr>
          <a:xfrm>
            <a:off x="8001000" y="4572000"/>
            <a:ext cx="3200400" cy="173736"/>
          </a:xfrm>
          <a:prstGeom prst="rect">
            <a:avLst/>
          </a:prstGeom>
          <a:noFill/>
        </p:spPr>
        <p:txBody>
          <a:bodyPr wrap="none" lIns="146304" tIns="0" rIns="0" bIns="0" anchor="ctr">
            <a:noAutofit/>
          </a:bodyPr>
          <a:lstStyle/>
          <a:p>
            <a:pPr>
              <a:tabLst>
                <a:tab pos="4224528" algn="l"/>
              </a:tabLst>
            </a:pP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   </a:t>
            </a:r>
            <a:r>
              <a:rPr lang="en-US" sz="1000" b="0" i="0" dirty="0">
                <a:solidFill>
                  <a:srgbClr val="5B6770"/>
                </a:solidFill>
                <a:latin typeface="Consolas"/>
                <a:cs typeface="Consolas"/>
              </a:rPr>
              <a:t xml:space="preserve">prov:wasDerivedFrom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</a:t>
            </a:r>
            <a:r>
              <a:rPr lang="en-US" sz="1000" b="0" i="0" dirty="0">
                <a:solidFill>
                  <a:srgbClr val="2F6B78"/>
                </a:solidFill>
                <a:latin typeface="Consolas"/>
                <a:cs typeface="Consolas"/>
              </a:rPr>
              <a:t xml:space="preserve">admission:BM_DEP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,</a:t>
            </a:r>
            <a:endParaRPr lang="en-US" sz="1000"/>
          </a:p>
        </p:txBody>
      </p:sp>
      <p:sp>
        <p:nvSpPr>
          <p:cNvPr id="1352" name="Code line 1352"/>
          <p:cNvSpPr txBox="1"/>
          <p:nvPr/>
        </p:nvSpPr>
        <p:spPr>
          <a:xfrm>
            <a:off x="8001000" y="4745736"/>
            <a:ext cx="3200400" cy="173736"/>
          </a:xfrm>
          <a:prstGeom prst="rect">
            <a:avLst/>
          </a:prstGeom>
          <a:noFill/>
        </p:spPr>
        <p:txBody>
          <a:bodyPr wrap="none" lIns="146304" tIns="0" rIns="0" bIns="0" anchor="ctr">
            <a:noAutofit/>
          </a:bodyPr>
          <a:lstStyle/>
          <a:p>
            <a:pPr>
              <a:tabLst>
                <a:tab pos="4224528" algn="l"/>
              </a:tabLst>
            </a:pP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   </a:t>
            </a:r>
            <a:r>
              <a:rPr lang="en-US" sz="1000" b="0" i="0" dirty="0">
                <a:solidFill>
                  <a:srgbClr val="5B6770"/>
                </a:solidFill>
                <a:latin typeface="Consolas"/>
                <a:cs typeface="Consolas"/>
              </a:rPr>
              <a:t xml:space="preserve">prov:wasDerivedFrom</a:t>
            </a:r>
            <a:r>
              <a:rPr lang="en-US" sz="1000" b="0" i="0" dirty="0">
                <a:solidFill>
                  <a:srgbClr val="1F2328"/>
                </a:solidFill>
                <a:latin typeface="Consolas"/>
                <a:cs typeface="Consolas"/>
              </a:rPr>
              <a:t xml:space="preserve"> </a:t>
            </a:r>
            <a:r>
              <a:rPr lang="en-US" sz="1000" b="0" i="0" dirty="0">
                <a:solidFill>
                  <a:srgbClr val="2F6B78"/>
                </a:solidFill>
                <a:latin typeface="Consolas"/>
                <a:cs typeface="Consolas"/>
              </a:rPr>
              <a:t xml:space="preserve">treatment:drug</a:t>
            </a:r>
            <a:endParaRPr lang="en-US" sz="1000"/>
          </a:p>
        </p:txBody>
      </p:sp>
      <p:sp>
        <p:nvSpPr>
          <p:cNvPr id="1353" name="Candidate"/>
          <p:cNvSpPr/>
          <p:nvPr/>
        </p:nvSpPr>
        <p:spPr>
          <a:xfrm>
            <a:off x="8001000" y="5065776"/>
            <a:ext cx="3246120" cy="420624"/>
          </a:xfrm>
          <a:prstGeom prst="roundRect">
            <a:avLst>
              <a:gd name="adj" fmla="val 12000"/>
            </a:avLst>
          </a:prstGeom>
          <a:solidFill>
            <a:srgbClr val="FFF7E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50" b="1" i="0" dirty="0">
                <a:solidFill>
                  <a:srgbClr val="93600F"/>
                </a:solidFill>
                <a:latin typeface="Consolas"/>
                <a:cs typeface="Consolas"/>
              </a:rPr>
              <a:t xml:space="preserve">CANDIDATE  </a:t>
            </a:r>
            <a:r>
              <a:rPr lang="en-US" sz="12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an expert confirms it first</a:t>
            </a:r>
          </a:p>
        </p:txBody>
      </p:sp>
      <p:sp>
        <p:nvSpPr>
          <p:cNvPr id="1354" name="Arrow"/>
          <p:cNvSpPr/>
          <p:nvPr/>
        </p:nvSpPr>
        <p:spPr>
          <a:xfrm>
            <a:off x="4078224" y="3913632"/>
            <a:ext cx="274320" cy="329184"/>
          </a:xfrm>
          <a:prstGeom prst="rightArrow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355" name="Arrow"/>
          <p:cNvSpPr/>
          <p:nvPr/>
        </p:nvSpPr>
        <p:spPr>
          <a:xfrm>
            <a:off x="7562088" y="3913632"/>
            <a:ext cx="274320" cy="329184"/>
          </a:xfrm>
          <a:prstGeom prst="rightArrow">
            <a:avLst/>
          </a:prstGeom>
          <a:solidFill>
            <a:srgbClr val="0B6E4F"/>
          </a:solidFill>
          <a:ln>
            <a:noFill/>
          </a:ln>
        </p:spPr>
      </p:sp>
      <p:sp>
        <p:nvSpPr>
          <p:cNvPr id="1356" name="Source"/>
          <p:cNvSpPr txBox="1"/>
          <p:nvPr/>
        </p:nvSpPr>
        <p:spPr>
          <a:xfrm>
            <a:off x="822960" y="5961888"/>
            <a:ext cx="10607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Rows are synthetic. Instance-level signals to disambiguate cryptic columns when documentation is unavailable: paper Sec. 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RIGOR · ISWC 2026 Talk">
  <a:themeElements>
    <a:clrScheme name="RIGOR · ISWC 2026 Talk">
      <a:dk1>
        <a:srgbClr val="111A28"/>
      </a:dk1>
      <a:lt1>
        <a:srgbClr val="F2F4F7"/>
      </a:lt1>
      <a:dk2>
        <a:srgbClr val="49515C"/>
      </a:dk2>
      <a:lt2>
        <a:srgbClr val="DCDEE2"/>
      </a:lt2>
      <a:accent1>
        <a:srgbClr val="2345C4"/>
      </a:accent1>
      <a:accent2>
        <a:srgbClr val="F4A261"/>
      </a:accent2>
      <a:accent3>
        <a:srgbClr val="B4561C"/>
      </a:accent3>
      <a:accent4>
        <a:srgbClr val="8FA5EB"/>
      </a:accent4>
      <a:accent5>
        <a:srgbClr val="8AA4FF"/>
      </a:accent5>
      <a:accent6>
        <a:srgbClr val="E9873A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RIGOR · ISWC 2026 Talk">
  <a:themeElements>
    <a:clrScheme name="RIGOR · ISWC 2026 Talk">
      <a:dk1>
        <a:srgbClr val="111A28"/>
      </a:dk1>
      <a:lt1>
        <a:srgbClr val="F2F4F7"/>
      </a:lt1>
      <a:dk2>
        <a:srgbClr val="49515C"/>
      </a:dk2>
      <a:lt2>
        <a:srgbClr val="DCDEE2"/>
      </a:lt2>
      <a:accent1>
        <a:srgbClr val="2345C4"/>
      </a:accent1>
      <a:accent2>
        <a:srgbClr val="F4A261"/>
      </a:accent2>
      <a:accent3>
        <a:srgbClr val="B4561C"/>
      </a:accent3>
      <a:accent4>
        <a:srgbClr val="8FA5EB"/>
      </a:accent4>
      <a:accent5>
        <a:srgbClr val="8AA4FF"/>
      </a:accent5>
      <a:accent6>
        <a:srgbClr val="E9873A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2026-10-26T00:50:16Z</dcterms:created>
</cp:coreProperties>
</file>