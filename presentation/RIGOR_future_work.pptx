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28.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28.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3"/>
  </p:sldMasterIdLst>
  <p:notesMasterIdLst>
    <p:notesMasterId r:id="rId4"/>
  </p:notesMasterIdLst>
  <p:sldIdLst>
    <p:sldId id="283" r:id="rId32"/>
  </p:sldIdLst>
  <p:sldSz cy="6858000" cx="12192000"/>
  <p:notesSz cx="6858000" cy="12192000"/>
  <p:embeddedFontLst>
    <p:embeddedFont>
      <p:font typeface="IBM Plex Sans"/>
      <p:regular r:id="rId40"/>
      <p:bold r:id="rId41"/>
      <p:italic r:id="rId42"/>
      <p:boldItalic r:id="rId43"/>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44" roundtripDataSignature="AMtx7miIhFui5hy+i4o3KOYM/gPuu+LjK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Relationships xmlns="http://schemas.openxmlformats.org/package/2006/relationships"><Relationship Id="rId40" Type="http://schemas.openxmlformats.org/officeDocument/2006/relationships/font" Target="fonts/IBMPlexSans-regular.fntdata"/><Relationship Id="rId42" Type="http://schemas.openxmlformats.org/officeDocument/2006/relationships/font" Target="fonts/IBMPlexSans-italic.fntdata"/><Relationship Id="rId41" Type="http://schemas.openxmlformats.org/officeDocument/2006/relationships/font" Target="fonts/IBMPlexSans-bold.fntdata"/><Relationship Id="rId44" Type="http://customschemas.google.com/relationships/presentationmetadata" Target="metadata"/><Relationship Id="rId43" Type="http://schemas.openxmlformats.org/officeDocument/2006/relationships/font" Target="fonts/IBMPlexSans-boldItalic.fntdata"/><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32"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IBM Plex Sans"/>
                <a:ea typeface="IBM Plex Sans"/>
                <a:cs typeface="IBM Plex Sans"/>
                <a:sym typeface="IBM Plex Sans"/>
              </a:rPr>
              <a:t>‹#›</a:t>
            </a:fld>
            <a:endParaRPr b="0" i="0" sz="1200" u="none" cap="none" strike="noStrike">
              <a:solidFill>
                <a:schemeClr val="dk1"/>
              </a:solidFill>
              <a:latin typeface="IBM Plex Sans"/>
              <a:ea typeface="IBM Plex Sans"/>
              <a:cs typeface="IBM Plex Sans"/>
              <a:sym typeface="IBM Plex Sans"/>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4" name="Shape 1284"/>
        <p:cNvGrpSpPr/>
        <p:nvPr/>
      </p:nvGrpSpPr>
      <p:grpSpPr>
        <a:xfrm>
          <a:off x="0" y="0"/>
          <a:ext cx="0" cy="0"/>
          <a:chOff x="0" y="0"/>
          <a:chExt cx="0" cy="0"/>
        </a:xfrm>
      </p:grpSpPr>
      <p:sp>
        <p:nvSpPr>
          <p:cNvPr id="1285" name="Google Shape;1285;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86" name="Google Shape;1286;p2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[12:03–12:52]  SPOKEN SCRIPT (86 words)</a:t>
            </a:r>
          </a:p>
          <a:p>
            <a:r>
              <a:rPr lang="en-US" sz="1200">
                <a:solidFill>
                  <a:schemeClr val="dk1"/>
                </a:solidFill>
                <a:latin typeface="Calibri"/>
                <a:ea typeface="Calibri"/>
                <a:cs typeface="Calibri"/>
                <a:sym typeface="Calibri"/>
              </a:rPr>
              <a:t>Where next? Let the data speak. Today RIGOR reads schemas and documentation, but the data can show links the documentation does not contain. Here, the treatment table says which admissions received cisplatin, and the admission table records bone marrow depression. Joined on the admission id, every cisplatin admission has bone marrow depression. That link is not in the documentation, so RIGOR can propose it as candidate knowledge, with provenance to both columns. A pattern, not a cause: an expert reviews it before it joins the ontology.</a:t>
            </a:r>
          </a:p>
          <a:p/>
          <a:p>
            <a:r>
              <a:rPr lang="en-US" sz="1200">
                <a:solidFill>
                  <a:schemeClr val="dk1"/>
                </a:solidFill>
                <a:latin typeface="Calibri"/>
                <a:ea typeface="Calibri"/>
                <a:cs typeface="Calibri"/>
                <a:sym typeface="Calibri"/>
              </a:rPr>
              <a:t>PRESENTER / POINTER: A1 and A3 in both tables; then the pattern bars; then the candidate code and its badge.</a:t>
            </a:r>
          </a:p>
          <a:p>
            <a:r>
              <a:rPr lang="en-US" sz="1200">
                <a:solidFill>
                  <a:schemeClr val="dk1"/>
                </a:solidFill>
                <a:latin typeface="Calibri"/>
                <a:ea typeface="Calibri"/>
                <a:cs typeface="Calibri"/>
                <a:sym typeface="Calibri"/>
              </a:rPr>
              <a:t>AUDIENCE TAKEAWAY: Instance data can propose new, reviewable knowledge that the documentation does not contain.</a:t>
            </a:r>
          </a:p>
          <a:p>
            <a:r>
              <a:rPr lang="en-US" sz="1200">
                <a:solidFill>
                  <a:schemeClr val="dk1"/>
                </a:solidFill>
                <a:latin typeface="Calibri"/>
                <a:ea typeface="Calibri"/>
                <a:cs typeface="Calibri"/>
                <a:sym typeface="Calibri"/>
              </a:rPr>
              <a:t>SOURCE AND SCOPE: Rows are synthetic. OWL verified (presentation/excerpts/slide22_future_candidate.omn): a typed individual with provenance, no causal axiom.</a:t>
            </a:r>
          </a:p>
          <a:p>
            <a:r>
              <a:rPr lang="en-US" sz="1200">
                <a:solidFill>
                  <a:schemeClr val="dk1"/>
                </a:solidFill>
                <a:latin typeface="Calibri"/>
                <a:ea typeface="Calibri"/>
                <a:cs typeface="Calibri"/>
                <a:sym typeface="Calibri"/>
              </a:rPr>
              <a:t>IF RUNNING LATE, DROP: "Today RIGOR reads schemas and documentation, but"</a:t>
            </a:r>
          </a:p>
          <a:p/>
          <a:p>
            <a:r>
              <a:rPr lang="en-US" sz="1200">
                <a:solidFill>
                  <a:schemeClr val="dk1"/>
                </a:solidFill>
                <a:latin typeface="Calibri"/>
                <a:ea typeface="Calibri"/>
                <a:cs typeface="Calibri"/>
                <a:sym typeface="Calibri"/>
              </a:rPr>
              <a:t>IF ASKED WHY NOT AN OWL CAUSAL AXIOM: OWL reasoning is deductive and open-world; it cannot derive causation from statistics, and 'Cisplatin SubClassOf causes some BoneMarrowDepression' would wrongly claim it for every case. Other treatments or conditions could explain the pattern.</a:t>
            </a:r>
          </a:p>
          <a:p/>
          <a:p>
            <a:r>
              <a:rPr lang="en-US" sz="1200">
                <a:solidFill>
                  <a:schemeClr val="dk1"/>
                </a:solidFill>
                <a:latin typeface="Calibri"/>
                <a:ea typeface="Calibri"/>
                <a:cs typeface="Calibri"/>
                <a:sym typeface="Calibri"/>
              </a:rPr>
              <a:t>IF ASKED ABOUT PRIVACY: only aggregate statistics (co-occurrence counts) need to leave the database, not patient rows.</a:t>
            </a:r>
          </a:p>
        </p:txBody>
      </p:sp>
      <p:sp>
        <p:nvSpPr>
          <p:cNvPr id="1287" name="Google Shape;1287;p2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p:cSld name="Title and body">
    <p:bg>
      <p:bgPr>
        <a:solidFill>
          <a:srgbClr val="FFFFFF"/>
        </a:solidFill>
      </p:bgPr>
    </p:bg>
    <p:spTree>
      <p:nvGrpSpPr>
        <p:cNvPr id="12" name="Shape 12"/>
        <p:cNvGrpSpPr/>
        <p:nvPr/>
      </p:nvGrpSpPr>
      <p:grpSpPr>
        <a:xfrm>
          <a:off x="0" y="0"/>
          <a:ext cx="0" cy="0"/>
          <a:chOff x="0" y="0"/>
          <a:chExt cx="0" cy="0"/>
        </a:xfrm>
      </p:grpSpPr>
      <p:sp>
        <p:nvSpPr>
          <p:cNvPr id="13" name="Google Shape;13;p25"/>
          <p:cNvSpPr txBox="1"/>
          <p:nvPr>
            <p:ph type="title"/>
          </p:nvPr>
        </p:nvSpPr>
        <p:spPr>
          <a:xfrm>
            <a:off x="812800" y="1153120"/>
            <a:ext cx="10566400" cy="391120"/>
          </a:xfrm>
          <a:prstGeom prst="rect">
            <a:avLst/>
          </a:prstGeom>
          <a:noFill/>
          <a:ln>
            <a:noFill/>
          </a:ln>
        </p:spPr>
        <p:txBody>
          <a:bodyPr anchorCtr="0" anchor="t" bIns="0" lIns="0" spcFirstLastPara="1" rIns="0" wrap="square" tIns="0">
            <a:noAutofit/>
          </a:bodyPr>
          <a:lstStyle>
            <a:lvl1pPr lvl="0" algn="l">
              <a:lnSpc>
                <a:spcPct val="115000"/>
              </a:lnSpc>
              <a:spcBef>
                <a:spcPts val="0"/>
              </a:spcBef>
              <a:spcAft>
                <a:spcPts val="0"/>
              </a:spcAft>
              <a:buClr>
                <a:srgbClr val="1F2328"/>
              </a:buClr>
              <a:buSzPts val="2800"/>
              <a:buFont typeface="Calibri"/>
              <a:buNone/>
              <a:defRPr sz="2800">
                <a:solidFill>
                  <a:srgbClr val="1F2328"/>
                </a:solidFill>
                <a:latin typeface="Calibri"/>
                <a:ea typeface="Calibri"/>
                <a:cs typeface="Calibri"/>
                <a:sym typeface="Calibri"/>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 name="Google Shape;14;p25"/>
          <p:cNvSpPr txBox="1"/>
          <p:nvPr>
            <p:ph idx="1" type="body"/>
          </p:nvPr>
        </p:nvSpPr>
        <p:spPr>
          <a:xfrm>
            <a:off x="812800" y="1849041"/>
            <a:ext cx="10566400" cy="4196159"/>
          </a:xfrm>
          <a:prstGeom prst="rect">
            <a:avLst/>
          </a:prstGeom>
          <a:noFill/>
          <a:ln>
            <a:noFill/>
          </a:ln>
        </p:spPr>
        <p:txBody>
          <a:bodyPr anchorCtr="0" anchor="t" bIns="0" lIns="0" spcFirstLastPara="1" rIns="0" wrap="square" tIns="0">
            <a:noAutofit/>
          </a:bodyPr>
          <a:lstStyle>
            <a:lvl1pPr indent="-228600" lvl="0" marL="457200" algn="l">
              <a:lnSpc>
                <a:spcPct val="140000"/>
              </a:lnSpc>
              <a:spcBef>
                <a:spcPts val="320"/>
              </a:spcBef>
              <a:spcAft>
                <a:spcPts val="0"/>
              </a:spcAft>
              <a:buClr>
                <a:srgbClr val="1F2328"/>
              </a:buClr>
              <a:buSzPts val="1600"/>
              <a:buNone/>
              <a:defRPr sz="1600">
                <a:solidFill>
                  <a:srgbClr val="1F2328"/>
                </a:solidFill>
                <a:latin typeface="Calibri"/>
                <a:ea typeface="Calibri"/>
                <a:cs typeface="Calibri"/>
                <a:sym typeface="Calibri"/>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5" name="Shape 15"/>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 name="Shape 9"/>
        <p:cNvGrpSpPr/>
        <p:nvPr/>
      </p:nvGrpSpPr>
      <p:grpSpPr>
        <a:xfrm>
          <a:off x="0" y="0"/>
          <a:ext cx="0" cy="0"/>
          <a:chOff x="0" y="0"/>
          <a:chExt cx="0" cy="0"/>
        </a:xfrm>
      </p:grpSpPr>
      <p:sp>
        <p:nvSpPr>
          <p:cNvPr id="10" name="Google Shape;10;p24"/>
          <p:cNvSpPr txBox="1"/>
          <p:nvPr>
            <p:ph type="title"/>
          </p:nvPr>
        </p:nvSpPr>
        <p:spPr>
          <a:xfrm>
            <a:off x="812800" y="1153120"/>
            <a:ext cx="10566400" cy="391120"/>
          </a:xfrm>
          <a:prstGeom prst="rect">
            <a:avLst/>
          </a:prstGeom>
          <a:noFill/>
          <a:ln>
            <a:noFill/>
          </a:ln>
        </p:spPr>
        <p:txBody>
          <a:bodyPr anchorCtr="0" anchor="t" bIns="0" lIns="0" spcFirstLastPara="1" rIns="0" wrap="square" tIns="0">
            <a:noAutofit/>
          </a:bodyPr>
          <a:lstStyle>
            <a:lvl1pPr lvl="0" marR="0" rtl="0" algn="l">
              <a:lnSpc>
                <a:spcPct val="115000"/>
              </a:lnSpc>
              <a:spcBef>
                <a:spcPts val="0"/>
              </a:spcBef>
              <a:spcAft>
                <a:spcPts val="0"/>
              </a:spcAft>
              <a:buClr>
                <a:srgbClr val="1F2328"/>
              </a:buClr>
              <a:buSzPts val="2800"/>
              <a:buFont typeface="Calibri"/>
              <a:buNone/>
              <a:defRPr b="0" i="0" sz="2800" u="none" cap="none" strike="noStrike">
                <a:solidFill>
                  <a:srgbClr val="1F232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Calibri"/>
              <a:buNone/>
              <a:defRPr b="0" i="0" sz="1800" u="none" cap="none" strike="noStrike">
                <a:solidFill>
                  <a:srgbClr val="000000"/>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Calibri"/>
              <a:buNone/>
              <a:defRPr b="0" i="0" sz="1800" u="none" cap="none" strike="noStrike">
                <a:solidFill>
                  <a:srgbClr val="000000"/>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Calibri"/>
              <a:buNone/>
              <a:defRPr b="0" i="0" sz="1800" u="none" cap="none" strike="noStrike">
                <a:solidFill>
                  <a:srgbClr val="000000"/>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Calibri"/>
              <a:buNone/>
              <a:defRPr b="0" i="0" sz="1800" u="none" cap="none" strike="noStrike">
                <a:solidFill>
                  <a:srgbClr val="000000"/>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Calibri"/>
              <a:buNone/>
              <a:defRPr b="0" i="0" sz="1800" u="none" cap="none" strike="noStrike">
                <a:solidFill>
                  <a:srgbClr val="000000"/>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Calibri"/>
              <a:buNone/>
              <a:defRPr b="0" i="0" sz="1800" u="none" cap="none" strike="noStrike">
                <a:solidFill>
                  <a:srgbClr val="000000"/>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Calibri"/>
              <a:buNone/>
              <a:defRPr b="0" i="0" sz="1800" u="none" cap="none" strike="noStrike">
                <a:solidFill>
                  <a:srgbClr val="000000"/>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Calibri"/>
              <a:buNone/>
              <a:defRPr b="0" i="0" sz="1800" u="none" cap="none" strike="noStrike">
                <a:solidFill>
                  <a:srgbClr val="000000"/>
                </a:solidFill>
                <a:latin typeface="Calibri"/>
                <a:ea typeface="Calibri"/>
                <a:cs typeface="Calibri"/>
                <a:sym typeface="Calibri"/>
              </a:defRPr>
            </a:lvl9pPr>
          </a:lstStyle>
          <a:p/>
        </p:txBody>
      </p:sp>
      <p:sp>
        <p:nvSpPr>
          <p:cNvPr id="11" name="Google Shape;11;p24"/>
          <p:cNvSpPr txBox="1"/>
          <p:nvPr>
            <p:ph idx="1" type="body"/>
          </p:nvPr>
        </p:nvSpPr>
        <p:spPr>
          <a:xfrm>
            <a:off x="812800" y="1849041"/>
            <a:ext cx="10566400" cy="4196159"/>
          </a:xfrm>
          <a:prstGeom prst="rect">
            <a:avLst/>
          </a:prstGeom>
          <a:noFill/>
          <a:ln>
            <a:noFill/>
          </a:ln>
        </p:spPr>
        <p:txBody>
          <a:bodyPr anchorCtr="0" anchor="t" bIns="0" lIns="0" spcFirstLastPara="1" rIns="0" wrap="square" tIns="0">
            <a:noAutofit/>
          </a:bodyPr>
          <a:lstStyle>
            <a:lvl1pPr indent="-228600" lvl="0" marL="457200" marR="0" rtl="0" algn="l">
              <a:lnSpc>
                <a:spcPct val="140000"/>
              </a:lnSpc>
              <a:spcBef>
                <a:spcPts val="320"/>
              </a:spcBef>
              <a:spcAft>
                <a:spcPts val="0"/>
              </a:spcAft>
              <a:buClr>
                <a:srgbClr val="1F2328"/>
              </a:buClr>
              <a:buSzPts val="1600"/>
              <a:buFont typeface="Calibri"/>
              <a:buNone/>
              <a:defRPr b="0" i="0" sz="1600" u="none" cap="none" strike="noStrike">
                <a:solidFill>
                  <a:srgbClr val="1F2328"/>
                </a:solidFill>
                <a:latin typeface="Calibri"/>
                <a:ea typeface="Calibri"/>
                <a:cs typeface="Calibri"/>
                <a:sym typeface="Calibri"/>
              </a:defRPr>
            </a:lvl1pPr>
            <a:lvl2pPr indent="-406400" lvl="1" marL="914400" marR="0" rtl="0" algn="l">
              <a:lnSpc>
                <a:spcPct val="100000"/>
              </a:lnSpc>
              <a:spcBef>
                <a:spcPts val="560"/>
              </a:spcBef>
              <a:spcAft>
                <a:spcPts val="0"/>
              </a:spcAft>
              <a:buClr>
                <a:schemeClr val="dk1"/>
              </a:buClr>
              <a:buSzPts val="2800"/>
              <a:buFont typeface="Calibri"/>
              <a:buChar char="–"/>
              <a:defRPr b="0" i="0" sz="2800" u="none" cap="none" strike="noStrike">
                <a:solidFill>
                  <a:schemeClr val="dk1"/>
                </a:solidFill>
                <a:latin typeface="Calibri"/>
                <a:ea typeface="Calibri"/>
                <a:cs typeface="Calibri"/>
                <a:sym typeface="Calibri"/>
              </a:defRPr>
            </a:lvl2pPr>
            <a:lvl3pPr indent="-381000" lvl="2" marL="1371600" marR="0" rtl="0" algn="l">
              <a:lnSpc>
                <a:spcPct val="100000"/>
              </a:lnSpc>
              <a:spcBef>
                <a:spcPts val="480"/>
              </a:spcBef>
              <a:spcAft>
                <a:spcPts val="0"/>
              </a:spcAft>
              <a:buClr>
                <a:schemeClr val="dk1"/>
              </a:buClr>
              <a:buSzPts val="2400"/>
              <a:buFont typeface="Calibri"/>
              <a:buChar char="•"/>
              <a:defRPr b="0" i="0" sz="2400" u="none" cap="none" strike="noStrike">
                <a:solidFill>
                  <a:schemeClr val="dk1"/>
                </a:solidFill>
                <a:latin typeface="Calibri"/>
                <a:ea typeface="Calibri"/>
                <a:cs typeface="Calibri"/>
                <a:sym typeface="Calibri"/>
              </a:defRPr>
            </a:lvl3pPr>
            <a:lvl4pPr indent="-355600" lvl="3" marL="1828800" marR="0" rtl="0" algn="l">
              <a:lnSpc>
                <a:spcPct val="100000"/>
              </a:lnSpc>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4pPr>
            <a:lvl5pPr indent="-355600" lvl="4" marL="2286000" marR="0" rtl="0" algn="l">
              <a:lnSpc>
                <a:spcPct val="100000"/>
              </a:lnSpc>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5pPr>
            <a:lvl6pPr indent="-355600" lvl="5" marL="2743200" marR="0" rtl="0" algn="l">
              <a:lnSpc>
                <a:spcPct val="100000"/>
              </a:lnSpc>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88" name="Shape 1288"/>
        <p:cNvGrpSpPr/>
        <p:nvPr/>
      </p:nvGrpSpPr>
      <p:grpSpPr>
        <a:xfrm>
          <a:off x="0" y="0"/>
          <a:ext cx="0" cy="0"/>
          <a:chOff x="0" y="0"/>
          <a:chExt cx="0" cy="0"/>
        </a:xfrm>
      </p:grpSpPr>
      <p:sp>
        <p:nvSpPr>
          <p:cNvPr id="1289" name="Google Shape;1289;p22"/>
          <p:cNvSpPr txBox="1"/>
          <p:nvPr/>
        </p:nvSpPr>
        <p:spPr>
          <a:xfrm>
            <a:off x="813816" y="493776"/>
            <a:ext cx="10607100" cy="3108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FUTURE WORK</a:t>
            </a:r>
            <a:endParaRPr b="0" i="0" sz="1400" u="none" cap="none" strike="noStrike">
              <a:solidFill>
                <a:srgbClr val="000000"/>
              </a:solidFill>
              <a:latin typeface="Arial"/>
              <a:ea typeface="Arial"/>
              <a:cs typeface="Arial"/>
              <a:sym typeface="Arial"/>
            </a:endParaRPr>
          </a:p>
        </p:txBody>
      </p:sp>
      <p:sp>
        <p:nvSpPr>
          <p:cNvPr id="1290" name="Google Shape;1290;p22"/>
          <p:cNvSpPr txBox="1"/>
          <p:nvPr/>
        </p:nvSpPr>
        <p:spPr>
          <a:xfrm>
            <a:off x="813816" y="923544"/>
            <a:ext cx="10698600" cy="640200"/>
          </a:xfrm>
          <a:prstGeom prst="rect">
            <a:avLst/>
          </a:prstGeom>
          <a:noFill/>
          <a:ln>
            <a:noFill/>
          </a:ln>
        </p:spPr>
        <p:txBody>
          <a:bodyPr anchorCtr="0" anchor="t" bIns="0" lIns="0" spcFirstLastPara="1" rIns="0" wrap="square" tIns="0">
            <a:spAutoFit/>
          </a:bodyPr>
          <a:lstStyle/>
          <a:p>
            <a:pPr indent="0" lvl="0" marL="0" marR="0" rtl="0" algn="l">
              <a:lnSpc>
                <a:spcPct val="106000"/>
              </a:lnSpc>
              <a:spcBef>
                <a:spcPts val="0"/>
              </a:spcBef>
              <a:spcAft>
                <a:spcPts val="0"/>
              </a:spcAft>
              <a:buClr>
                <a:srgbClr val="000000"/>
              </a:buClr>
              <a:buSzPts val="3000"/>
              <a:buFont typeface="Arial"/>
              <a:buNone/>
            </a:pPr>
            <a:r>
              <a:rPr b="1" i="0" lang="en-US" sz="3000" u="none" cap="none" strike="noStrike">
                <a:solidFill>
                  <a:srgbClr val="1F2328"/>
                </a:solidFill>
                <a:latin typeface="Cambria"/>
                <a:ea typeface="Cambria"/>
                <a:cs typeface="Cambria"/>
                <a:sym typeface="Cambria"/>
              </a:rPr>
              <a:t>Next: let the data speak.</a:t>
            </a:r>
            <a:endParaRPr b="0" i="0" sz="1400" u="none" cap="none" strike="noStrike">
              <a:solidFill>
                <a:srgbClr val="000000"/>
              </a:solidFill>
              <a:latin typeface="Arial"/>
              <a:ea typeface="Arial"/>
              <a:cs typeface="Arial"/>
              <a:sym typeface="Arial"/>
            </a:endParaRPr>
          </a:p>
        </p:txBody>
      </p:sp>
      <p:sp>
        <p:nvSpPr>
          <p:cNvPr id="1291" name="Subtitle"/>
          <p:cNvSpPr txBox="1"/>
          <p:nvPr/>
        </p:nvSpPr>
        <p:spPr>
          <a:xfrm>
            <a:off x="822960" y="1682496"/>
            <a:ext cx="10515600" cy="365760"/>
          </a:xfrm>
          <a:prstGeom prst="rect">
            <a:avLst/>
          </a:prstGeom>
          <a:noFill/>
          <a:ln>
            <a:noFill/>
          </a:ln>
        </p:spPr>
        <p:txBody>
          <a:bodyPr wrap="square" lIns="0" tIns="0" rIns="0" bIns="0" anchor="ctr">
            <a:noAutofit/>
          </a:bodyPr>
          <a:lstStyle/>
          <a:p>
            <a:pPr algn="l"/>
            <a:r>
              <a:rPr lang="en-US" sz="1650" b="0" i="0" dirty="0">
                <a:solidFill>
                  <a:srgbClr val="5B6770"/>
                </a:solidFill>
                <a:latin typeface="Calibri"/>
                <a:cs typeface="Calibri"/>
              </a:rPr>
              <a:t xml:space="preserve">Today </a:t>
            </a:r>
            <a:r>
              <a:rPr lang="en-US" sz="1650" b="1" i="1" dirty="0">
                <a:solidFill>
                  <a:srgbClr val="3A434C"/>
                </a:solidFill>
                <a:latin typeface="Calibri"/>
                <a:cs typeface="Calibri"/>
              </a:rPr>
              <a:t xml:space="preserve">RIGOR</a:t>
            </a:r>
            <a:r>
              <a:rPr lang="en-US" sz="1650" b="0" i="0" dirty="0">
                <a:solidFill>
                  <a:srgbClr val="5B6770"/>
                </a:solidFill>
                <a:latin typeface="Calibri"/>
                <a:cs typeface="Calibri"/>
              </a:rPr>
              <a:t xml:space="preserve"> reads </a:t>
            </a:r>
            <a:r>
              <a:rPr lang="en-US" sz="1650" b="1" i="0" dirty="0">
                <a:solidFill>
                  <a:srgbClr val="3A434C"/>
                </a:solidFill>
                <a:latin typeface="Calibri"/>
                <a:cs typeface="Calibri"/>
              </a:rPr>
              <a:t xml:space="preserve">schemas</a:t>
            </a:r>
            <a:r>
              <a:rPr lang="en-US" sz="1650" b="0" i="0" dirty="0">
                <a:solidFill>
                  <a:srgbClr val="5B6770"/>
                </a:solidFill>
                <a:latin typeface="Calibri"/>
                <a:cs typeface="Calibri"/>
              </a:rPr>
              <a:t xml:space="preserve"> and </a:t>
            </a:r>
            <a:r>
              <a:rPr lang="en-US" sz="1650" b="1" i="0" dirty="0">
                <a:solidFill>
                  <a:srgbClr val="3A434C"/>
                </a:solidFill>
                <a:latin typeface="Calibri"/>
                <a:cs typeface="Calibri"/>
              </a:rPr>
              <a:t xml:space="preserve">documentation</a:t>
            </a:r>
            <a:r>
              <a:rPr lang="en-US" sz="1650" b="0" i="0" dirty="0">
                <a:solidFill>
                  <a:srgbClr val="5B6770"/>
                </a:solidFill>
                <a:latin typeface="Calibri"/>
                <a:cs typeface="Calibri"/>
              </a:rPr>
              <a:t xml:space="preserve">. </a:t>
            </a:r>
            <a:r>
              <a:rPr lang="en-US" sz="1650" b="1" i="0" dirty="0">
                <a:solidFill>
                  <a:srgbClr val="3A434C"/>
                </a:solidFill>
                <a:latin typeface="Calibri"/>
                <a:cs typeface="Calibri"/>
              </a:rPr>
              <a:t xml:space="preserve">Instance data</a:t>
            </a:r>
            <a:r>
              <a:rPr lang="en-US" sz="1650" b="0" i="0" dirty="0">
                <a:solidFill>
                  <a:srgbClr val="5B6770"/>
                </a:solidFill>
                <a:latin typeface="Calibri"/>
                <a:cs typeface="Calibri"/>
              </a:rPr>
              <a:t xml:space="preserve"> can reveal links the documentation does not contain, and propose </a:t>
            </a:r>
            <a:r>
              <a:rPr lang="en-US" sz="1650" b="1" i="0" dirty="0">
                <a:solidFill>
                  <a:srgbClr val="3A434C"/>
                </a:solidFill>
                <a:latin typeface="Calibri"/>
                <a:cs typeface="Calibri"/>
              </a:rPr>
              <a:t xml:space="preserve">new knowledge</a:t>
            </a:r>
            <a:r>
              <a:rPr lang="en-US" sz="1650" b="0" i="0" dirty="0">
                <a:solidFill>
                  <a:srgbClr val="5B6770"/>
                </a:solidFill>
                <a:latin typeface="Calibri"/>
                <a:cs typeface="Calibri"/>
              </a:rPr>
              <a:t xml:space="preserve">.</a:t>
            </a:r>
          </a:p>
        </p:txBody>
      </p:sp>
      <p:sp>
        <p:nvSpPr>
          <p:cNvPr id="1292" name="Card"/>
          <p:cNvSpPr/>
          <p:nvPr/>
        </p:nvSpPr>
        <p:spPr>
          <a:xfrm>
            <a:off x="804672" y="2395728"/>
            <a:ext cx="3246120" cy="3364992"/>
          </a:xfrm>
          <a:prstGeom prst="roundRect">
            <a:avLst>
              <a:gd name="adj" fmla="val 12000"/>
            </a:avLst>
          </a:prstGeom>
          <a:solidFill>
            <a:srgbClr val="FFFFFF"/>
          </a:solidFill>
          <a:ln w="9525">
            <a:solidFill>
              <a:srgbClr val="D9DEDB"/>
            </a:solidFill>
          </a:ln>
        </p:spPr>
        <p:txBody>
          <a:bodyPr wrap="square" lIns="0" tIns="0" rIns="0" bIns="0" anchor="t">
            <a:noAutofit/>
          </a:bodyPr>
          <a:lstStyle/>
          <a:p>
            <a:pPr algn="l"/>
          </a:p>
        </p:txBody>
      </p:sp>
      <p:sp>
        <p:nvSpPr>
          <p:cNvPr id="1293" name="Card label"/>
          <p:cNvSpPr txBox="1"/>
          <p:nvPr/>
        </p:nvSpPr>
        <p:spPr>
          <a:xfrm>
            <a:off x="1033271" y="2560320"/>
            <a:ext cx="2788920" cy="274320"/>
          </a:xfrm>
          <a:prstGeom prst="rect">
            <a:avLst/>
          </a:prstGeom>
          <a:noFill/>
          <a:ln>
            <a:noFill/>
          </a:ln>
        </p:spPr>
        <p:txBody>
          <a:bodyPr wrap="square" lIns="0" tIns="0" rIns="0" bIns="0" anchor="t">
            <a:noAutofit/>
          </a:bodyPr>
          <a:lstStyle/>
          <a:p>
            <a:pPr algn="l"/>
            <a:r>
              <a:rPr lang="en-US" sz="1300" b="1" i="0" dirty="0">
                <a:solidFill>
                  <a:srgbClr val="2F6B78"/>
                </a:solidFill>
                <a:latin typeface="Consolas"/>
                <a:cs typeface="Consolas"/>
              </a:rPr>
              <a:t xml:space="preserve">1  THE DATA</a:t>
            </a:r>
          </a:p>
        </p:txBody>
      </p:sp>
      <p:sp>
        <p:nvSpPr>
          <p:cNvPr id="1294" name="Note"/>
          <p:cNvSpPr txBox="1"/>
          <p:nvPr/>
        </p:nvSpPr>
        <p:spPr>
          <a:xfrm>
            <a:off x="1033271" y="2834640"/>
            <a:ext cx="2788920" cy="237744"/>
          </a:xfrm>
          <a:prstGeom prst="rect">
            <a:avLst/>
          </a:prstGeom>
          <a:noFill/>
          <a:ln>
            <a:noFill/>
          </a:ln>
        </p:spPr>
        <p:txBody>
          <a:bodyPr wrap="square" lIns="0" tIns="0" rIns="0" bIns="0" anchor="t">
            <a:noAutofit/>
          </a:bodyPr>
          <a:lstStyle/>
          <a:p>
            <a:pPr algn="l"/>
            <a:r>
              <a:rPr lang="en-US" sz="1150" b="0" i="1" dirty="0">
                <a:solidFill>
                  <a:srgbClr val="5B6770"/>
                </a:solidFill>
                <a:latin typeface="Calibri"/>
                <a:cs typeface="Calibri"/>
              </a:rPr>
              <a:t xml:space="preserve">two tables, joined on admission_id</a:t>
            </a:r>
          </a:p>
        </p:txBody>
      </p:sp>
      <p:sp>
        <p:nvSpPr>
          <p:cNvPr id="1295" name="Table treatment"/>
          <p:cNvSpPr/>
          <p:nvPr/>
        </p:nvSpPr>
        <p:spPr>
          <a:xfrm>
            <a:off x="941832" y="3145536"/>
            <a:ext cx="2971800" cy="1120140"/>
          </a:xfrm>
          <a:prstGeom prst="roundRect">
            <a:avLst>
              <a:gd name="adj" fmla="val 9000"/>
            </a:avLst>
          </a:prstGeom>
          <a:solidFill>
            <a:srgbClr val="E9EEEB"/>
          </a:solidFill>
          <a:ln>
            <a:noFill/>
          </a:ln>
          <a:effectLst>
            <a:outerShdw blurRad="76200" dist="25400" dir="5400000" algn="t" rotWithShape="0">
              <a:srgbClr val="000000">
                <a:alpha val="16000"/>
              </a:srgbClr>
            </a:outerShdw>
          </a:effectLst>
        </p:spPr>
        <p:txBody>
          <a:bodyPr wrap="square" lIns="0" tIns="0" rIns="0" bIns="0" anchor="ctr">
            <a:noAutofit/>
          </a:bodyPr>
          <a:lstStyle/>
          <a:p>
            <a:endParaRPr lang="en-US"/>
          </a:p>
        </p:txBody>
      </p:sp>
      <p:sp>
        <p:nvSpPr>
          <p:cNvPr id="1296" name="Table name"/>
          <p:cNvSpPr txBox="1"/>
          <p:nvPr/>
        </p:nvSpPr>
        <p:spPr>
          <a:xfrm>
            <a:off x="1078992" y="3172968"/>
            <a:ext cx="2697480" cy="246888"/>
          </a:xfrm>
          <a:prstGeom prst="rect">
            <a:avLst/>
          </a:prstGeom>
          <a:noFill/>
          <a:ln>
            <a:noFill/>
          </a:ln>
        </p:spPr>
        <p:txBody>
          <a:bodyPr wrap="square" lIns="0" tIns="0" rIns="0" bIns="0" anchor="ctr">
            <a:noAutofit/>
          </a:bodyPr>
          <a:lstStyle/>
          <a:p>
            <a:pPr algn="l"/>
            <a:r>
              <a:rPr lang="en-US" sz="1450" b="1" i="0" dirty="0">
                <a:solidFill>
                  <a:srgbClr val="1F2328"/>
                </a:solidFill>
                <a:latin typeface="Calibri"/>
                <a:cs typeface="Calibri"/>
              </a:rPr>
              <a:t xml:space="preserve">treatment</a:t>
            </a:r>
          </a:p>
        </p:txBody>
      </p:sp>
      <p:sp>
        <p:nvSpPr>
          <p:cNvPr id="1297" name="Rule"/>
          <p:cNvSpPr/>
          <p:nvPr/>
        </p:nvSpPr>
        <p:spPr>
          <a:xfrm>
            <a:off x="1078992" y="3438144"/>
            <a:ext cx="2697480" cy="10972"/>
          </a:xfrm>
          <a:prstGeom prst="rect">
            <a:avLst/>
          </a:prstGeom>
          <a:solidFill>
            <a:srgbClr val="9AA3A9"/>
          </a:solidFill>
          <a:ln>
            <a:noFill/>
          </a:ln>
        </p:spPr>
        <p:txBody>
          <a:bodyPr wrap="square" lIns="0" tIns="0" rIns="0" bIns="0" anchor="t">
            <a:noAutofit/>
          </a:bodyPr>
          <a:lstStyle/>
          <a:p>
            <a:pPr algn="l"/>
          </a:p>
        </p:txBody>
      </p:sp>
      <p:sp>
        <p:nvSpPr>
          <p:cNvPr id="1298" name="Column"/>
          <p:cNvSpPr txBox="1"/>
          <p:nvPr/>
        </p:nvSpPr>
        <p:spPr>
          <a:xfrm>
            <a:off x="1078992" y="3465576"/>
            <a:ext cx="1051560" cy="182880"/>
          </a:xfrm>
          <a:prstGeom prst="rect">
            <a:avLst/>
          </a:prstGeom>
          <a:noFill/>
          <a:ln>
            <a:noFill/>
          </a:ln>
        </p:spPr>
        <p:txBody>
          <a:bodyPr wrap="square" lIns="0" tIns="0" rIns="0" bIns="0" anchor="ctr">
            <a:noAutofit/>
          </a:bodyPr>
          <a:lstStyle/>
          <a:p>
            <a:pPr algn="l"/>
            <a:r>
              <a:rPr lang="en-US" sz="1050" b="1" i="0" dirty="0">
                <a:solidFill>
                  <a:srgbClr val="0B6E4F"/>
                </a:solidFill>
                <a:latin typeface="Calibri"/>
                <a:cs typeface="Calibri"/>
              </a:rPr>
              <a:t xml:space="preserve">admission_id</a:t>
            </a:r>
            <a:r>
              <a:rPr lang="en-US" sz="900" b="0" i="0" dirty="0">
                <a:solidFill>
                  <a:srgbClr val="5B6770"/>
                </a:solidFill>
                <a:latin typeface="Calibri"/>
                <a:cs typeface="Calibri"/>
              </a:rPr>
              <a:t xml:space="preserve">  FK</a:t>
            </a:r>
          </a:p>
        </p:txBody>
      </p:sp>
      <p:sp>
        <p:nvSpPr>
          <p:cNvPr id="1299" name="Column"/>
          <p:cNvSpPr txBox="1"/>
          <p:nvPr/>
        </p:nvSpPr>
        <p:spPr>
          <a:xfrm>
            <a:off x="2130552" y="3465576"/>
            <a:ext cx="1463040" cy="182880"/>
          </a:xfrm>
          <a:prstGeom prst="rect">
            <a:avLst/>
          </a:prstGeom>
          <a:noFill/>
          <a:ln>
            <a:noFill/>
          </a:ln>
        </p:spPr>
        <p:txBody>
          <a:bodyPr wrap="square" lIns="0" tIns="0" rIns="0" bIns="0" anchor="ctr">
            <a:noAutofit/>
          </a:bodyPr>
          <a:lstStyle/>
          <a:p>
            <a:pPr algn="l"/>
            <a:r>
              <a:rPr lang="en-US" sz="1050" b="1" i="0" dirty="0">
                <a:solidFill>
                  <a:srgbClr val="0B6E4F"/>
                </a:solidFill>
                <a:latin typeface="Calibri"/>
                <a:cs typeface="Calibri"/>
              </a:rPr>
              <a:t xml:space="preserve">drug</a:t>
            </a:r>
          </a:p>
        </p:txBody>
      </p:sp>
      <p:sp>
        <p:nvSpPr>
          <p:cNvPr id="1300" name="Row band"/>
          <p:cNvSpPr/>
          <p:nvPr/>
        </p:nvSpPr>
        <p:spPr>
          <a:xfrm>
            <a:off x="1014984" y="3657600"/>
            <a:ext cx="2825496" cy="173736"/>
          </a:xfrm>
          <a:prstGeom prst="rect">
            <a:avLst/>
          </a:prstGeom>
          <a:solidFill>
            <a:srgbClr val="D7EDE2"/>
          </a:solidFill>
          <a:ln>
            <a:noFill/>
          </a:ln>
        </p:spPr>
        <p:txBody>
          <a:bodyPr wrap="square" lIns="0" tIns="0" rIns="0" bIns="0" anchor="t">
            <a:noAutofit/>
          </a:bodyPr>
          <a:lstStyle/>
          <a:p>
            <a:pPr algn="l"/>
          </a:p>
        </p:txBody>
      </p:sp>
      <p:sp>
        <p:nvSpPr>
          <p:cNvPr id="1301" name="Cell"/>
          <p:cNvSpPr txBox="1"/>
          <p:nvPr/>
        </p:nvSpPr>
        <p:spPr>
          <a:xfrm>
            <a:off x="1078992" y="3657600"/>
            <a:ext cx="1051560" cy="173736"/>
          </a:xfrm>
          <a:prstGeom prst="rect">
            <a:avLst/>
          </a:prstGeom>
          <a:noFill/>
          <a:ln>
            <a:noFill/>
          </a:ln>
        </p:spPr>
        <p:txBody>
          <a:bodyPr wrap="square" lIns="0" tIns="0" rIns="0" bIns="0" anchor="ctr">
            <a:noAutofit/>
          </a:bodyPr>
          <a:lstStyle/>
          <a:p>
            <a:pPr algn="l"/>
            <a:r>
              <a:rPr lang="en-US" sz="1050" b="0" i="0" dirty="0">
                <a:solidFill>
                  <a:srgbClr val="1F2328"/>
                </a:solidFill>
                <a:latin typeface="Consolas"/>
                <a:cs typeface="Consolas"/>
              </a:rPr>
              <a:t xml:space="preserve">A1</a:t>
            </a:r>
          </a:p>
        </p:txBody>
      </p:sp>
      <p:sp>
        <p:nvSpPr>
          <p:cNvPr id="1302" name="Cell"/>
          <p:cNvSpPr txBox="1"/>
          <p:nvPr/>
        </p:nvSpPr>
        <p:spPr>
          <a:xfrm>
            <a:off x="2130552" y="3657600"/>
            <a:ext cx="1463040" cy="173736"/>
          </a:xfrm>
          <a:prstGeom prst="rect">
            <a:avLst/>
          </a:prstGeom>
          <a:noFill/>
          <a:ln>
            <a:noFill/>
          </a:ln>
        </p:spPr>
        <p:txBody>
          <a:bodyPr wrap="square" lIns="0" tIns="0" rIns="0" bIns="0" anchor="ctr">
            <a:noAutofit/>
          </a:bodyPr>
          <a:lstStyle/>
          <a:p>
            <a:pPr algn="l"/>
            <a:r>
              <a:rPr lang="en-US" sz="1050" b="0" i="0" dirty="0">
                <a:solidFill>
                  <a:srgbClr val="1F2328"/>
                </a:solidFill>
                <a:latin typeface="Consolas"/>
                <a:cs typeface="Consolas"/>
              </a:rPr>
              <a:t xml:space="preserve">cisplatin</a:t>
            </a:r>
          </a:p>
        </p:txBody>
      </p:sp>
      <p:sp>
        <p:nvSpPr>
          <p:cNvPr id="1303" name="Cell"/>
          <p:cNvSpPr txBox="1"/>
          <p:nvPr/>
        </p:nvSpPr>
        <p:spPr>
          <a:xfrm>
            <a:off x="1078992" y="3845052"/>
            <a:ext cx="1051560" cy="173736"/>
          </a:xfrm>
          <a:prstGeom prst="rect">
            <a:avLst/>
          </a:prstGeom>
          <a:noFill/>
          <a:ln>
            <a:noFill/>
          </a:ln>
        </p:spPr>
        <p:txBody>
          <a:bodyPr wrap="square" lIns="0" tIns="0" rIns="0" bIns="0" anchor="ctr">
            <a:noAutofit/>
          </a:bodyPr>
          <a:lstStyle/>
          <a:p>
            <a:pPr algn="l"/>
            <a:r>
              <a:rPr lang="en-US" sz="1050" b="0" i="0" dirty="0">
                <a:solidFill>
                  <a:srgbClr val="1F2328"/>
                </a:solidFill>
                <a:latin typeface="Consolas"/>
                <a:cs typeface="Consolas"/>
              </a:rPr>
              <a:t xml:space="preserve">A2</a:t>
            </a:r>
          </a:p>
        </p:txBody>
      </p:sp>
      <p:sp>
        <p:nvSpPr>
          <p:cNvPr id="1304" name="Cell"/>
          <p:cNvSpPr txBox="1"/>
          <p:nvPr/>
        </p:nvSpPr>
        <p:spPr>
          <a:xfrm>
            <a:off x="2130552" y="3845052"/>
            <a:ext cx="1463040" cy="173736"/>
          </a:xfrm>
          <a:prstGeom prst="rect">
            <a:avLst/>
          </a:prstGeom>
          <a:noFill/>
          <a:ln>
            <a:noFill/>
          </a:ln>
        </p:spPr>
        <p:txBody>
          <a:bodyPr wrap="square" lIns="0" tIns="0" rIns="0" bIns="0" anchor="ctr">
            <a:noAutofit/>
          </a:bodyPr>
          <a:lstStyle/>
          <a:p>
            <a:pPr algn="l"/>
            <a:r>
              <a:rPr lang="en-US" sz="1050" b="0" i="0" dirty="0">
                <a:solidFill>
                  <a:srgbClr val="1F2328"/>
                </a:solidFill>
                <a:latin typeface="Consolas"/>
                <a:cs typeface="Consolas"/>
              </a:rPr>
              <a:t xml:space="preserve">nivolumab</a:t>
            </a:r>
          </a:p>
        </p:txBody>
      </p:sp>
      <p:sp>
        <p:nvSpPr>
          <p:cNvPr id="1305" name="Row band"/>
          <p:cNvSpPr/>
          <p:nvPr/>
        </p:nvSpPr>
        <p:spPr>
          <a:xfrm>
            <a:off x="1014984" y="4032504"/>
            <a:ext cx="2825496" cy="173736"/>
          </a:xfrm>
          <a:prstGeom prst="rect">
            <a:avLst/>
          </a:prstGeom>
          <a:solidFill>
            <a:srgbClr val="D7EDE2"/>
          </a:solidFill>
          <a:ln>
            <a:noFill/>
          </a:ln>
        </p:spPr>
        <p:txBody>
          <a:bodyPr wrap="square" lIns="0" tIns="0" rIns="0" bIns="0" anchor="t">
            <a:noAutofit/>
          </a:bodyPr>
          <a:lstStyle/>
          <a:p>
            <a:pPr algn="l"/>
          </a:p>
        </p:txBody>
      </p:sp>
      <p:sp>
        <p:nvSpPr>
          <p:cNvPr id="1306" name="Cell"/>
          <p:cNvSpPr txBox="1"/>
          <p:nvPr/>
        </p:nvSpPr>
        <p:spPr>
          <a:xfrm>
            <a:off x="1078992" y="4032504"/>
            <a:ext cx="1051560" cy="173736"/>
          </a:xfrm>
          <a:prstGeom prst="rect">
            <a:avLst/>
          </a:prstGeom>
          <a:noFill/>
          <a:ln>
            <a:noFill/>
          </a:ln>
        </p:spPr>
        <p:txBody>
          <a:bodyPr wrap="square" lIns="0" tIns="0" rIns="0" bIns="0" anchor="ctr">
            <a:noAutofit/>
          </a:bodyPr>
          <a:lstStyle/>
          <a:p>
            <a:pPr algn="l"/>
            <a:r>
              <a:rPr lang="en-US" sz="1050" b="0" i="0" dirty="0">
                <a:solidFill>
                  <a:srgbClr val="1F2328"/>
                </a:solidFill>
                <a:latin typeface="Consolas"/>
                <a:cs typeface="Consolas"/>
              </a:rPr>
              <a:t xml:space="preserve">A3</a:t>
            </a:r>
          </a:p>
        </p:txBody>
      </p:sp>
      <p:sp>
        <p:nvSpPr>
          <p:cNvPr id="1307" name="Cell"/>
          <p:cNvSpPr txBox="1"/>
          <p:nvPr/>
        </p:nvSpPr>
        <p:spPr>
          <a:xfrm>
            <a:off x="2130552" y="4032504"/>
            <a:ext cx="1463040" cy="173736"/>
          </a:xfrm>
          <a:prstGeom prst="rect">
            <a:avLst/>
          </a:prstGeom>
          <a:noFill/>
          <a:ln>
            <a:noFill/>
          </a:ln>
        </p:spPr>
        <p:txBody>
          <a:bodyPr wrap="square" lIns="0" tIns="0" rIns="0" bIns="0" anchor="ctr">
            <a:noAutofit/>
          </a:bodyPr>
          <a:lstStyle/>
          <a:p>
            <a:pPr algn="l"/>
            <a:r>
              <a:rPr lang="en-US" sz="1050" b="0" i="0" dirty="0">
                <a:solidFill>
                  <a:srgbClr val="1F2328"/>
                </a:solidFill>
                <a:latin typeface="Consolas"/>
                <a:cs typeface="Consolas"/>
              </a:rPr>
              <a:t xml:space="preserve">cisplatin</a:t>
            </a:r>
          </a:p>
        </p:txBody>
      </p:sp>
      <p:sp>
        <p:nvSpPr>
          <p:cNvPr id="1308" name="Table admission"/>
          <p:cNvSpPr/>
          <p:nvPr/>
        </p:nvSpPr>
        <p:spPr>
          <a:xfrm>
            <a:off x="941832" y="4357116"/>
            <a:ext cx="2971800" cy="1120140"/>
          </a:xfrm>
          <a:prstGeom prst="roundRect">
            <a:avLst>
              <a:gd name="adj" fmla="val 9000"/>
            </a:avLst>
          </a:prstGeom>
          <a:solidFill>
            <a:srgbClr val="E9EEEB"/>
          </a:solidFill>
          <a:ln>
            <a:noFill/>
          </a:ln>
          <a:effectLst>
            <a:outerShdw blurRad="76200" dist="25400" dir="5400000" algn="t" rotWithShape="0">
              <a:srgbClr val="000000">
                <a:alpha val="16000"/>
              </a:srgbClr>
            </a:outerShdw>
          </a:effectLst>
        </p:spPr>
        <p:txBody>
          <a:bodyPr wrap="square" lIns="0" tIns="0" rIns="0" bIns="0" anchor="ctr">
            <a:noAutofit/>
          </a:bodyPr>
          <a:lstStyle/>
          <a:p>
            <a:endParaRPr lang="en-US"/>
          </a:p>
        </p:txBody>
      </p:sp>
      <p:sp>
        <p:nvSpPr>
          <p:cNvPr id="1309" name="Table name"/>
          <p:cNvSpPr txBox="1"/>
          <p:nvPr/>
        </p:nvSpPr>
        <p:spPr>
          <a:xfrm>
            <a:off x="1078992" y="4384548"/>
            <a:ext cx="2697480" cy="246888"/>
          </a:xfrm>
          <a:prstGeom prst="rect">
            <a:avLst/>
          </a:prstGeom>
          <a:noFill/>
          <a:ln>
            <a:noFill/>
          </a:ln>
        </p:spPr>
        <p:txBody>
          <a:bodyPr wrap="square" lIns="0" tIns="0" rIns="0" bIns="0" anchor="ctr">
            <a:noAutofit/>
          </a:bodyPr>
          <a:lstStyle/>
          <a:p>
            <a:pPr algn="l"/>
            <a:r>
              <a:rPr lang="en-US" sz="1450" b="1" i="0" dirty="0">
                <a:solidFill>
                  <a:srgbClr val="1F2328"/>
                </a:solidFill>
                <a:latin typeface="Calibri"/>
                <a:cs typeface="Calibri"/>
              </a:rPr>
              <a:t xml:space="preserve">admission</a:t>
            </a:r>
          </a:p>
        </p:txBody>
      </p:sp>
      <p:sp>
        <p:nvSpPr>
          <p:cNvPr id="1310" name="Rule"/>
          <p:cNvSpPr/>
          <p:nvPr/>
        </p:nvSpPr>
        <p:spPr>
          <a:xfrm>
            <a:off x="1078992" y="4649724"/>
            <a:ext cx="2697480" cy="10972"/>
          </a:xfrm>
          <a:prstGeom prst="rect">
            <a:avLst/>
          </a:prstGeom>
          <a:solidFill>
            <a:srgbClr val="9AA3A9"/>
          </a:solidFill>
          <a:ln>
            <a:noFill/>
          </a:ln>
        </p:spPr>
        <p:txBody>
          <a:bodyPr wrap="square" lIns="0" tIns="0" rIns="0" bIns="0" anchor="t">
            <a:noAutofit/>
          </a:bodyPr>
          <a:lstStyle/>
          <a:p>
            <a:pPr algn="l"/>
          </a:p>
        </p:txBody>
      </p:sp>
      <p:sp>
        <p:nvSpPr>
          <p:cNvPr id="1311" name="Column"/>
          <p:cNvSpPr txBox="1"/>
          <p:nvPr/>
        </p:nvSpPr>
        <p:spPr>
          <a:xfrm>
            <a:off x="1078992" y="4677156"/>
            <a:ext cx="1051560" cy="182880"/>
          </a:xfrm>
          <a:prstGeom prst="rect">
            <a:avLst/>
          </a:prstGeom>
          <a:noFill/>
          <a:ln>
            <a:noFill/>
          </a:ln>
        </p:spPr>
        <p:txBody>
          <a:bodyPr wrap="square" lIns="0" tIns="0" rIns="0" bIns="0" anchor="ctr">
            <a:noAutofit/>
          </a:bodyPr>
          <a:lstStyle/>
          <a:p>
            <a:pPr algn="l"/>
            <a:r>
              <a:rPr lang="en-US" sz="1050" b="1" i="0" dirty="0">
                <a:solidFill>
                  <a:srgbClr val="0B6E4F"/>
                </a:solidFill>
                <a:latin typeface="Calibri"/>
                <a:cs typeface="Calibri"/>
              </a:rPr>
              <a:t xml:space="preserve">admission_id</a:t>
            </a:r>
          </a:p>
        </p:txBody>
      </p:sp>
      <p:sp>
        <p:nvSpPr>
          <p:cNvPr id="1312" name="Column"/>
          <p:cNvSpPr txBox="1"/>
          <p:nvPr/>
        </p:nvSpPr>
        <p:spPr>
          <a:xfrm>
            <a:off x="2130552" y="4677156"/>
            <a:ext cx="868680" cy="182880"/>
          </a:xfrm>
          <a:prstGeom prst="rect">
            <a:avLst/>
          </a:prstGeom>
          <a:noFill/>
          <a:ln>
            <a:noFill/>
          </a:ln>
        </p:spPr>
        <p:txBody>
          <a:bodyPr wrap="square" lIns="0" tIns="0" rIns="0" bIns="0" anchor="ctr">
            <a:noAutofit/>
          </a:bodyPr>
          <a:lstStyle/>
          <a:p>
            <a:pPr algn="l"/>
            <a:r>
              <a:rPr lang="en-US" sz="1050" b="1" i="0" dirty="0">
                <a:solidFill>
                  <a:srgbClr val="0B6E4F"/>
                </a:solidFill>
                <a:latin typeface="Calibri"/>
                <a:cs typeface="Calibri"/>
              </a:rPr>
              <a:t xml:space="preserve">patient_id</a:t>
            </a:r>
          </a:p>
        </p:txBody>
      </p:sp>
      <p:sp>
        <p:nvSpPr>
          <p:cNvPr id="1313" name="Column"/>
          <p:cNvSpPr txBox="1"/>
          <p:nvPr/>
        </p:nvSpPr>
        <p:spPr>
          <a:xfrm>
            <a:off x="2999232" y="4677156"/>
            <a:ext cx="731520" cy="182880"/>
          </a:xfrm>
          <a:prstGeom prst="rect">
            <a:avLst/>
          </a:prstGeom>
          <a:noFill/>
          <a:ln>
            <a:noFill/>
          </a:ln>
        </p:spPr>
        <p:txBody>
          <a:bodyPr wrap="square" lIns="0" tIns="0" rIns="0" bIns="0" anchor="ctr">
            <a:noAutofit/>
          </a:bodyPr>
          <a:lstStyle/>
          <a:p>
            <a:pPr algn="l"/>
            <a:r>
              <a:rPr lang="en-US" sz="1050" b="1" i="0" dirty="0">
                <a:solidFill>
                  <a:srgbClr val="0B6E4F"/>
                </a:solidFill>
                <a:latin typeface="Calibri"/>
                <a:cs typeface="Calibri"/>
              </a:rPr>
              <a:t xml:space="preserve">BM_DEP</a:t>
            </a:r>
          </a:p>
        </p:txBody>
      </p:sp>
      <p:sp>
        <p:nvSpPr>
          <p:cNvPr id="1314" name="Row band"/>
          <p:cNvSpPr/>
          <p:nvPr/>
        </p:nvSpPr>
        <p:spPr>
          <a:xfrm>
            <a:off x="1014984" y="4869180"/>
            <a:ext cx="2825496" cy="173736"/>
          </a:xfrm>
          <a:prstGeom prst="rect">
            <a:avLst/>
          </a:prstGeom>
          <a:solidFill>
            <a:srgbClr val="D7EDE2"/>
          </a:solidFill>
          <a:ln>
            <a:noFill/>
          </a:ln>
        </p:spPr>
        <p:txBody>
          <a:bodyPr wrap="square" lIns="0" tIns="0" rIns="0" bIns="0" anchor="t">
            <a:noAutofit/>
          </a:bodyPr>
          <a:lstStyle/>
          <a:p>
            <a:pPr algn="l"/>
          </a:p>
        </p:txBody>
      </p:sp>
      <p:sp>
        <p:nvSpPr>
          <p:cNvPr id="1315" name="Cell"/>
          <p:cNvSpPr txBox="1"/>
          <p:nvPr/>
        </p:nvSpPr>
        <p:spPr>
          <a:xfrm>
            <a:off x="1078992" y="4869180"/>
            <a:ext cx="1051560" cy="173736"/>
          </a:xfrm>
          <a:prstGeom prst="rect">
            <a:avLst/>
          </a:prstGeom>
          <a:noFill/>
          <a:ln>
            <a:noFill/>
          </a:ln>
        </p:spPr>
        <p:txBody>
          <a:bodyPr wrap="square" lIns="0" tIns="0" rIns="0" bIns="0" anchor="ctr">
            <a:noAutofit/>
          </a:bodyPr>
          <a:lstStyle/>
          <a:p>
            <a:pPr algn="l"/>
            <a:r>
              <a:rPr lang="en-US" sz="1050" b="0" i="0" dirty="0">
                <a:solidFill>
                  <a:srgbClr val="1F2328"/>
                </a:solidFill>
                <a:latin typeface="Consolas"/>
                <a:cs typeface="Consolas"/>
              </a:rPr>
              <a:t xml:space="preserve">A1</a:t>
            </a:r>
          </a:p>
        </p:txBody>
      </p:sp>
      <p:sp>
        <p:nvSpPr>
          <p:cNvPr id="1316" name="Cell"/>
          <p:cNvSpPr txBox="1"/>
          <p:nvPr/>
        </p:nvSpPr>
        <p:spPr>
          <a:xfrm>
            <a:off x="2130552" y="4869180"/>
            <a:ext cx="868680" cy="173736"/>
          </a:xfrm>
          <a:prstGeom prst="rect">
            <a:avLst/>
          </a:prstGeom>
          <a:noFill/>
          <a:ln>
            <a:noFill/>
          </a:ln>
        </p:spPr>
        <p:txBody>
          <a:bodyPr wrap="square" lIns="0" tIns="0" rIns="0" bIns="0" anchor="ctr">
            <a:noAutofit/>
          </a:bodyPr>
          <a:lstStyle/>
          <a:p>
            <a:pPr algn="l"/>
            <a:r>
              <a:rPr lang="en-US" sz="1050" b="0" i="0" dirty="0">
                <a:solidFill>
                  <a:srgbClr val="1F2328"/>
                </a:solidFill>
                <a:latin typeface="Consolas"/>
                <a:cs typeface="Consolas"/>
              </a:rPr>
              <a:t xml:space="preserve">P1</a:t>
            </a:r>
          </a:p>
        </p:txBody>
      </p:sp>
      <p:sp>
        <p:nvSpPr>
          <p:cNvPr id="1317" name="Cell"/>
          <p:cNvSpPr txBox="1"/>
          <p:nvPr/>
        </p:nvSpPr>
        <p:spPr>
          <a:xfrm>
            <a:off x="2999232" y="4869180"/>
            <a:ext cx="731520" cy="173736"/>
          </a:xfrm>
          <a:prstGeom prst="rect">
            <a:avLst/>
          </a:prstGeom>
          <a:noFill/>
          <a:ln>
            <a:noFill/>
          </a:ln>
        </p:spPr>
        <p:txBody>
          <a:bodyPr wrap="square" lIns="0" tIns="0" rIns="0" bIns="0" anchor="ctr">
            <a:noAutofit/>
          </a:bodyPr>
          <a:lstStyle/>
          <a:p>
            <a:pPr algn="l"/>
            <a:r>
              <a:rPr lang="en-US" sz="1050" b="0" i="0" dirty="0">
                <a:solidFill>
                  <a:srgbClr val="1F2328"/>
                </a:solidFill>
                <a:latin typeface="Consolas"/>
                <a:cs typeface="Consolas"/>
              </a:rPr>
              <a:t xml:space="preserve">1</a:t>
            </a:r>
          </a:p>
        </p:txBody>
      </p:sp>
      <p:sp>
        <p:nvSpPr>
          <p:cNvPr id="1318" name="Cell"/>
          <p:cNvSpPr txBox="1"/>
          <p:nvPr/>
        </p:nvSpPr>
        <p:spPr>
          <a:xfrm>
            <a:off x="1078992" y="5056632"/>
            <a:ext cx="1051560" cy="173736"/>
          </a:xfrm>
          <a:prstGeom prst="rect">
            <a:avLst/>
          </a:prstGeom>
          <a:noFill/>
          <a:ln>
            <a:noFill/>
          </a:ln>
        </p:spPr>
        <p:txBody>
          <a:bodyPr wrap="square" lIns="0" tIns="0" rIns="0" bIns="0" anchor="ctr">
            <a:noAutofit/>
          </a:bodyPr>
          <a:lstStyle/>
          <a:p>
            <a:pPr algn="l"/>
            <a:r>
              <a:rPr lang="en-US" sz="1050" b="0" i="0" dirty="0">
                <a:solidFill>
                  <a:srgbClr val="1F2328"/>
                </a:solidFill>
                <a:latin typeface="Consolas"/>
                <a:cs typeface="Consolas"/>
              </a:rPr>
              <a:t xml:space="preserve">A2</a:t>
            </a:r>
          </a:p>
        </p:txBody>
      </p:sp>
      <p:sp>
        <p:nvSpPr>
          <p:cNvPr id="1319" name="Cell"/>
          <p:cNvSpPr txBox="1"/>
          <p:nvPr/>
        </p:nvSpPr>
        <p:spPr>
          <a:xfrm>
            <a:off x="2130552" y="5056632"/>
            <a:ext cx="868680" cy="173736"/>
          </a:xfrm>
          <a:prstGeom prst="rect">
            <a:avLst/>
          </a:prstGeom>
          <a:noFill/>
          <a:ln>
            <a:noFill/>
          </a:ln>
        </p:spPr>
        <p:txBody>
          <a:bodyPr wrap="square" lIns="0" tIns="0" rIns="0" bIns="0" anchor="ctr">
            <a:noAutofit/>
          </a:bodyPr>
          <a:lstStyle/>
          <a:p>
            <a:pPr algn="l"/>
            <a:r>
              <a:rPr lang="en-US" sz="1050" b="0" i="0" dirty="0">
                <a:solidFill>
                  <a:srgbClr val="1F2328"/>
                </a:solidFill>
                <a:latin typeface="Consolas"/>
                <a:cs typeface="Consolas"/>
              </a:rPr>
              <a:t xml:space="preserve">P2</a:t>
            </a:r>
          </a:p>
        </p:txBody>
      </p:sp>
      <p:sp>
        <p:nvSpPr>
          <p:cNvPr id="1320" name="Cell"/>
          <p:cNvSpPr txBox="1"/>
          <p:nvPr/>
        </p:nvSpPr>
        <p:spPr>
          <a:xfrm>
            <a:off x="2999232" y="5056632"/>
            <a:ext cx="731520" cy="173736"/>
          </a:xfrm>
          <a:prstGeom prst="rect">
            <a:avLst/>
          </a:prstGeom>
          <a:noFill/>
          <a:ln>
            <a:noFill/>
          </a:ln>
        </p:spPr>
        <p:txBody>
          <a:bodyPr wrap="square" lIns="0" tIns="0" rIns="0" bIns="0" anchor="ctr">
            <a:noAutofit/>
          </a:bodyPr>
          <a:lstStyle/>
          <a:p>
            <a:pPr algn="l"/>
            <a:r>
              <a:rPr lang="en-US" sz="1050" b="0" i="0" dirty="0">
                <a:solidFill>
                  <a:srgbClr val="1F2328"/>
                </a:solidFill>
                <a:latin typeface="Consolas"/>
                <a:cs typeface="Consolas"/>
              </a:rPr>
              <a:t xml:space="preserve">0</a:t>
            </a:r>
          </a:p>
        </p:txBody>
      </p:sp>
      <p:sp>
        <p:nvSpPr>
          <p:cNvPr id="1321" name="Row band"/>
          <p:cNvSpPr/>
          <p:nvPr/>
        </p:nvSpPr>
        <p:spPr>
          <a:xfrm>
            <a:off x="1014984" y="5244084"/>
            <a:ext cx="2825496" cy="173736"/>
          </a:xfrm>
          <a:prstGeom prst="rect">
            <a:avLst/>
          </a:prstGeom>
          <a:solidFill>
            <a:srgbClr val="D7EDE2"/>
          </a:solidFill>
          <a:ln>
            <a:noFill/>
          </a:ln>
        </p:spPr>
        <p:txBody>
          <a:bodyPr wrap="square" lIns="0" tIns="0" rIns="0" bIns="0" anchor="t">
            <a:noAutofit/>
          </a:bodyPr>
          <a:lstStyle/>
          <a:p>
            <a:pPr algn="l"/>
          </a:p>
        </p:txBody>
      </p:sp>
      <p:sp>
        <p:nvSpPr>
          <p:cNvPr id="1322" name="Cell"/>
          <p:cNvSpPr txBox="1"/>
          <p:nvPr/>
        </p:nvSpPr>
        <p:spPr>
          <a:xfrm>
            <a:off x="1078992" y="5244084"/>
            <a:ext cx="1051560" cy="173736"/>
          </a:xfrm>
          <a:prstGeom prst="rect">
            <a:avLst/>
          </a:prstGeom>
          <a:noFill/>
          <a:ln>
            <a:noFill/>
          </a:ln>
        </p:spPr>
        <p:txBody>
          <a:bodyPr wrap="square" lIns="0" tIns="0" rIns="0" bIns="0" anchor="ctr">
            <a:noAutofit/>
          </a:bodyPr>
          <a:lstStyle/>
          <a:p>
            <a:pPr algn="l"/>
            <a:r>
              <a:rPr lang="en-US" sz="1050" b="0" i="0" dirty="0">
                <a:solidFill>
                  <a:srgbClr val="1F2328"/>
                </a:solidFill>
                <a:latin typeface="Consolas"/>
                <a:cs typeface="Consolas"/>
              </a:rPr>
              <a:t xml:space="preserve">A3</a:t>
            </a:r>
          </a:p>
        </p:txBody>
      </p:sp>
      <p:sp>
        <p:nvSpPr>
          <p:cNvPr id="1323" name="Cell"/>
          <p:cNvSpPr txBox="1"/>
          <p:nvPr/>
        </p:nvSpPr>
        <p:spPr>
          <a:xfrm>
            <a:off x="2130552" y="5244084"/>
            <a:ext cx="868680" cy="173736"/>
          </a:xfrm>
          <a:prstGeom prst="rect">
            <a:avLst/>
          </a:prstGeom>
          <a:noFill/>
          <a:ln>
            <a:noFill/>
          </a:ln>
        </p:spPr>
        <p:txBody>
          <a:bodyPr wrap="square" lIns="0" tIns="0" rIns="0" bIns="0" anchor="ctr">
            <a:noAutofit/>
          </a:bodyPr>
          <a:lstStyle/>
          <a:p>
            <a:pPr algn="l"/>
            <a:r>
              <a:rPr lang="en-US" sz="1050" b="0" i="0" dirty="0">
                <a:solidFill>
                  <a:srgbClr val="1F2328"/>
                </a:solidFill>
                <a:latin typeface="Consolas"/>
                <a:cs typeface="Consolas"/>
              </a:rPr>
              <a:t xml:space="preserve">P3</a:t>
            </a:r>
          </a:p>
        </p:txBody>
      </p:sp>
      <p:sp>
        <p:nvSpPr>
          <p:cNvPr id="1324" name="Cell"/>
          <p:cNvSpPr txBox="1"/>
          <p:nvPr/>
        </p:nvSpPr>
        <p:spPr>
          <a:xfrm>
            <a:off x="2999232" y="5244084"/>
            <a:ext cx="731520" cy="173736"/>
          </a:xfrm>
          <a:prstGeom prst="rect">
            <a:avLst/>
          </a:prstGeom>
          <a:noFill/>
          <a:ln>
            <a:noFill/>
          </a:ln>
        </p:spPr>
        <p:txBody>
          <a:bodyPr wrap="square" lIns="0" tIns="0" rIns="0" bIns="0" anchor="ctr">
            <a:noAutofit/>
          </a:bodyPr>
          <a:lstStyle/>
          <a:p>
            <a:pPr algn="l"/>
            <a:r>
              <a:rPr lang="en-US" sz="1050" b="0" i="0" dirty="0">
                <a:solidFill>
                  <a:srgbClr val="1F2328"/>
                </a:solidFill>
                <a:latin typeface="Consolas"/>
                <a:cs typeface="Consolas"/>
              </a:rPr>
              <a:t xml:space="preserve">1</a:t>
            </a:r>
          </a:p>
        </p:txBody>
      </p:sp>
      <p:sp>
        <p:nvSpPr>
          <p:cNvPr id="1325" name="Card"/>
          <p:cNvSpPr/>
          <p:nvPr/>
        </p:nvSpPr>
        <p:spPr>
          <a:xfrm>
            <a:off x="4379976" y="2395728"/>
            <a:ext cx="3154680" cy="3364992"/>
          </a:xfrm>
          <a:prstGeom prst="roundRect">
            <a:avLst>
              <a:gd name="adj" fmla="val 12000"/>
            </a:avLst>
          </a:prstGeom>
          <a:solidFill>
            <a:srgbClr val="FFFFFF"/>
          </a:solidFill>
          <a:ln w="9525">
            <a:solidFill>
              <a:srgbClr val="D9DEDB"/>
            </a:solidFill>
          </a:ln>
        </p:spPr>
        <p:txBody>
          <a:bodyPr wrap="square" lIns="0" tIns="0" rIns="0" bIns="0" anchor="t">
            <a:noAutofit/>
          </a:bodyPr>
          <a:lstStyle/>
          <a:p>
            <a:pPr algn="l"/>
          </a:p>
        </p:txBody>
      </p:sp>
      <p:sp>
        <p:nvSpPr>
          <p:cNvPr id="1326" name="Card label"/>
          <p:cNvSpPr txBox="1"/>
          <p:nvPr/>
        </p:nvSpPr>
        <p:spPr>
          <a:xfrm>
            <a:off x="4608576" y="2560320"/>
            <a:ext cx="2697480" cy="274320"/>
          </a:xfrm>
          <a:prstGeom prst="rect">
            <a:avLst/>
          </a:prstGeom>
          <a:noFill/>
          <a:ln>
            <a:noFill/>
          </a:ln>
        </p:spPr>
        <p:txBody>
          <a:bodyPr wrap="square" lIns="0" tIns="0" rIns="0" bIns="0" anchor="t">
            <a:noAutofit/>
          </a:bodyPr>
          <a:lstStyle/>
          <a:p>
            <a:pPr algn="l"/>
            <a:r>
              <a:rPr lang="en-US" sz="1300" b="1" i="0" dirty="0">
                <a:solidFill>
                  <a:srgbClr val="2F6B78"/>
                </a:solidFill>
                <a:latin typeface="Consolas"/>
                <a:cs typeface="Consolas"/>
              </a:rPr>
              <a:t xml:space="preserve">2  THE PATTERN</a:t>
            </a:r>
          </a:p>
        </p:txBody>
      </p:sp>
      <p:sp>
        <p:nvSpPr>
          <p:cNvPr id="1327" name="Note"/>
          <p:cNvSpPr txBox="1"/>
          <p:nvPr/>
        </p:nvSpPr>
        <p:spPr>
          <a:xfrm>
            <a:off x="4608576" y="2834640"/>
            <a:ext cx="2697480" cy="237744"/>
          </a:xfrm>
          <a:prstGeom prst="rect">
            <a:avLst/>
          </a:prstGeom>
          <a:noFill/>
          <a:ln>
            <a:noFill/>
          </a:ln>
        </p:spPr>
        <p:txBody>
          <a:bodyPr wrap="square" lIns="0" tIns="0" rIns="0" bIns="0" anchor="t">
            <a:noAutofit/>
          </a:bodyPr>
          <a:lstStyle/>
          <a:p>
            <a:pPr algn="l"/>
            <a:r>
              <a:rPr lang="en-US" sz="1150" b="0" i="1" dirty="0">
                <a:solidFill>
                  <a:srgbClr val="5B6770"/>
                </a:solidFill>
                <a:latin typeface="Calibri"/>
                <a:cs typeface="Calibri"/>
              </a:rPr>
              <a:t xml:space="preserve">what the joined rows show</a:t>
            </a:r>
          </a:p>
        </p:txBody>
      </p:sp>
      <p:sp>
        <p:nvSpPr>
          <p:cNvPr id="1328" name="Pattern"/>
          <p:cNvSpPr txBox="1"/>
          <p:nvPr/>
        </p:nvSpPr>
        <p:spPr>
          <a:xfrm>
            <a:off x="4608576" y="3172968"/>
            <a:ext cx="2697480" cy="566928"/>
          </a:xfrm>
          <a:prstGeom prst="rect">
            <a:avLst/>
          </a:prstGeom>
          <a:noFill/>
          <a:ln>
            <a:noFill/>
          </a:ln>
        </p:spPr>
        <p:txBody>
          <a:bodyPr wrap="square" lIns="0" tIns="0" rIns="0" bIns="0" anchor="t">
            <a:noAutofit/>
          </a:bodyPr>
          <a:lstStyle/>
          <a:p>
            <a:pPr algn="l"/>
            <a:r>
              <a:rPr lang="en-US" sz="1400" b="1" i="0" dirty="0">
                <a:solidFill>
                  <a:srgbClr val="1F2328"/>
                </a:solidFill>
                <a:latin typeface="Calibri"/>
                <a:cs typeface="Calibri"/>
              </a:rPr>
              <a:t xml:space="preserve">Every cisplatin admission has bone marrow depression.</a:t>
            </a:r>
          </a:p>
        </p:txBody>
      </p:sp>
      <p:sp>
        <p:nvSpPr>
          <p:cNvPr id="1329" name="Group"/>
          <p:cNvSpPr txBox="1"/>
          <p:nvPr/>
        </p:nvSpPr>
        <p:spPr>
          <a:xfrm>
            <a:off x="4608576" y="3886200"/>
            <a:ext cx="1143000" cy="274320"/>
          </a:xfrm>
          <a:prstGeom prst="rect">
            <a:avLst/>
          </a:prstGeom>
          <a:noFill/>
          <a:ln>
            <a:noFill/>
          </a:ln>
        </p:spPr>
        <p:txBody>
          <a:bodyPr wrap="square" lIns="0" tIns="0" rIns="0" bIns="0" anchor="ctr">
            <a:noAutofit/>
          </a:bodyPr>
          <a:lstStyle/>
          <a:p>
            <a:pPr algn="l"/>
            <a:r>
              <a:rPr lang="en-US" sz="1150" b="0" i="0" dirty="0">
                <a:solidFill>
                  <a:srgbClr val="1F2328"/>
                </a:solidFill>
                <a:latin typeface="Consolas"/>
                <a:cs typeface="Consolas"/>
              </a:rPr>
              <a:t xml:space="preserve">cisplatin</a:t>
            </a:r>
          </a:p>
        </p:txBody>
      </p:sp>
      <p:sp>
        <p:nvSpPr>
          <p:cNvPr id="1330" name="Track"/>
          <p:cNvSpPr/>
          <p:nvPr/>
        </p:nvSpPr>
        <p:spPr>
          <a:xfrm>
            <a:off x="5751576" y="3959352"/>
            <a:ext cx="960120" cy="128016"/>
          </a:xfrm>
          <a:prstGeom prst="rect">
            <a:avLst/>
          </a:prstGeom>
          <a:solidFill>
            <a:srgbClr val="E1E6E3"/>
          </a:solidFill>
          <a:ln>
            <a:noFill/>
          </a:ln>
        </p:spPr>
        <p:txBody>
          <a:bodyPr wrap="square" lIns="0" tIns="0" rIns="0" bIns="0" anchor="t">
            <a:noAutofit/>
          </a:bodyPr>
          <a:lstStyle/>
          <a:p>
            <a:pPr algn="l"/>
          </a:p>
        </p:txBody>
      </p:sp>
      <p:sp>
        <p:nvSpPr>
          <p:cNvPr id="1331" name="Bar"/>
          <p:cNvSpPr/>
          <p:nvPr/>
        </p:nvSpPr>
        <p:spPr>
          <a:xfrm>
            <a:off x="5751576" y="3959352"/>
            <a:ext cx="960120" cy="128016"/>
          </a:xfrm>
          <a:prstGeom prst="rect">
            <a:avLst/>
          </a:prstGeom>
          <a:solidFill>
            <a:srgbClr val="0B6E4F"/>
          </a:solidFill>
          <a:ln>
            <a:noFill/>
          </a:ln>
        </p:spPr>
        <p:txBody>
          <a:bodyPr wrap="square" lIns="0" tIns="0" rIns="0" bIns="0" anchor="t">
            <a:noAutofit/>
          </a:bodyPr>
          <a:lstStyle/>
          <a:p>
            <a:pPr algn="l"/>
          </a:p>
        </p:txBody>
      </p:sp>
      <p:sp>
        <p:nvSpPr>
          <p:cNvPr id="1332" name="Count"/>
          <p:cNvSpPr txBox="1"/>
          <p:nvPr/>
        </p:nvSpPr>
        <p:spPr>
          <a:xfrm>
            <a:off x="6775704" y="3886200"/>
            <a:ext cx="594360" cy="274320"/>
          </a:xfrm>
          <a:prstGeom prst="rect">
            <a:avLst/>
          </a:prstGeom>
          <a:noFill/>
          <a:ln>
            <a:noFill/>
          </a:ln>
        </p:spPr>
        <p:txBody>
          <a:bodyPr wrap="square" lIns="0" tIns="0" rIns="0" bIns="0" anchor="ctr">
            <a:noAutofit/>
          </a:bodyPr>
          <a:lstStyle/>
          <a:p>
            <a:pPr algn="l"/>
            <a:r>
              <a:rPr lang="en-US" sz="1150" b="1" i="0" dirty="0">
                <a:solidFill>
                  <a:srgbClr val="0B6E4F"/>
                </a:solidFill>
                <a:latin typeface="Calibri"/>
                <a:cs typeface="Calibri"/>
              </a:rPr>
              <a:t xml:space="preserve">2 of 2</a:t>
            </a:r>
          </a:p>
        </p:txBody>
      </p:sp>
      <p:sp>
        <p:nvSpPr>
          <p:cNvPr id="1333" name="Group"/>
          <p:cNvSpPr txBox="1"/>
          <p:nvPr/>
        </p:nvSpPr>
        <p:spPr>
          <a:xfrm>
            <a:off x="4608576" y="4233672"/>
            <a:ext cx="1143000" cy="274320"/>
          </a:xfrm>
          <a:prstGeom prst="rect">
            <a:avLst/>
          </a:prstGeom>
          <a:noFill/>
          <a:ln>
            <a:noFill/>
          </a:ln>
        </p:spPr>
        <p:txBody>
          <a:bodyPr wrap="square" lIns="0" tIns="0" rIns="0" bIns="0" anchor="ctr">
            <a:noAutofit/>
          </a:bodyPr>
          <a:lstStyle/>
          <a:p>
            <a:pPr algn="l"/>
            <a:r>
              <a:rPr lang="en-US" sz="1150" b="0" i="0" dirty="0">
                <a:solidFill>
                  <a:srgbClr val="1F2328"/>
                </a:solidFill>
                <a:latin typeface="Consolas"/>
                <a:cs typeface="Consolas"/>
              </a:rPr>
              <a:t xml:space="preserve">other drugs</a:t>
            </a:r>
          </a:p>
        </p:txBody>
      </p:sp>
      <p:sp>
        <p:nvSpPr>
          <p:cNvPr id="1334" name="Track"/>
          <p:cNvSpPr/>
          <p:nvPr/>
        </p:nvSpPr>
        <p:spPr>
          <a:xfrm>
            <a:off x="5751576" y="4306824"/>
            <a:ext cx="960120" cy="128016"/>
          </a:xfrm>
          <a:prstGeom prst="rect">
            <a:avLst/>
          </a:prstGeom>
          <a:solidFill>
            <a:srgbClr val="E1E6E3"/>
          </a:solidFill>
          <a:ln>
            <a:noFill/>
          </a:ln>
        </p:spPr>
        <p:txBody>
          <a:bodyPr wrap="square" lIns="0" tIns="0" rIns="0" bIns="0" anchor="t">
            <a:noAutofit/>
          </a:bodyPr>
          <a:lstStyle/>
          <a:p>
            <a:pPr algn="l"/>
          </a:p>
        </p:txBody>
      </p:sp>
      <p:sp>
        <p:nvSpPr>
          <p:cNvPr id="1335" name="Count"/>
          <p:cNvSpPr txBox="1"/>
          <p:nvPr/>
        </p:nvSpPr>
        <p:spPr>
          <a:xfrm>
            <a:off x="6775704" y="4233672"/>
            <a:ext cx="594360" cy="274320"/>
          </a:xfrm>
          <a:prstGeom prst="rect">
            <a:avLst/>
          </a:prstGeom>
          <a:noFill/>
          <a:ln>
            <a:noFill/>
          </a:ln>
        </p:spPr>
        <p:txBody>
          <a:bodyPr wrap="square" lIns="0" tIns="0" rIns="0" bIns="0" anchor="ctr">
            <a:noAutofit/>
          </a:bodyPr>
          <a:lstStyle/>
          <a:p>
            <a:pPr algn="l"/>
            <a:r>
              <a:rPr lang="en-US" sz="1150" b="1" i="0" dirty="0">
                <a:solidFill>
                  <a:srgbClr val="3A434C"/>
                </a:solidFill>
                <a:latin typeface="Calibri"/>
                <a:cs typeface="Calibri"/>
              </a:rPr>
              <a:t xml:space="preserve">0 of 1</a:t>
            </a:r>
          </a:p>
        </p:txBody>
      </p:sp>
      <p:sp>
        <p:nvSpPr>
          <p:cNvPr id="1336" name="Axis note"/>
          <p:cNvSpPr txBox="1"/>
          <p:nvPr/>
        </p:nvSpPr>
        <p:spPr>
          <a:xfrm>
            <a:off x="4608576" y="4562856"/>
            <a:ext cx="2697480" cy="201168"/>
          </a:xfrm>
          <a:prstGeom prst="rect">
            <a:avLst/>
          </a:prstGeom>
          <a:noFill/>
          <a:ln>
            <a:noFill/>
          </a:ln>
        </p:spPr>
        <p:txBody>
          <a:bodyPr wrap="square" lIns="0" tIns="0" rIns="0" bIns="0" anchor="t">
            <a:noAutofit/>
          </a:bodyPr>
          <a:lstStyle/>
          <a:p>
            <a:pPr algn="l"/>
            <a:r>
              <a:rPr lang="en-US" sz="950" b="0" i="1" dirty="0">
                <a:solidFill>
                  <a:srgbClr val="5B6770"/>
                </a:solidFill>
                <a:latin typeface="Calibri"/>
                <a:cs typeface="Calibri"/>
              </a:rPr>
              <a:t xml:space="preserve">admissions with BM_DEP = 1</a:t>
            </a:r>
          </a:p>
        </p:txBody>
      </p:sp>
      <p:sp>
        <p:nvSpPr>
          <p:cNvPr id="1337" name="Not documented"/>
          <p:cNvSpPr/>
          <p:nvPr/>
        </p:nvSpPr>
        <p:spPr>
          <a:xfrm>
            <a:off x="4517136" y="4937760"/>
            <a:ext cx="2880360" cy="640080"/>
          </a:xfrm>
          <a:prstGeom prst="roundRect">
            <a:avLst>
              <a:gd name="adj" fmla="val 12000"/>
            </a:avLst>
          </a:prstGeom>
          <a:solidFill>
            <a:srgbClr val="E8F6EF"/>
          </a:solidFill>
          <a:ln>
            <a:noFill/>
          </a:ln>
        </p:spPr>
        <p:txBody>
          <a:bodyPr wrap="square" lIns="109728" tIns="0" rIns="109728" bIns="0" anchor="ctr">
            <a:noAutofit/>
          </a:bodyPr>
          <a:lstStyle/>
          <a:p>
            <a:pPr algn="ctr"/>
            <a:r>
              <a:rPr lang="en-US" sz="1200" b="1" i="0" dirty="0">
                <a:solidFill>
                  <a:srgbClr val="0B6E4F"/>
                </a:solidFill>
                <a:latin typeface="Calibri"/>
                <a:cs typeface="Calibri"/>
              </a:rPr>
              <a:t xml:space="preserve">Not in the documentation: </a:t>
            </a:r>
            <a:r>
              <a:rPr lang="en-US" sz="1200" b="0" i="0" dirty="0">
                <a:solidFill>
                  <a:srgbClr val="3A434C"/>
                </a:solidFill>
                <a:latin typeface="Calibri"/>
                <a:cs typeface="Calibri"/>
              </a:rPr>
              <a:t xml:space="preserve">a candidate for new knowledge.</a:t>
            </a:r>
          </a:p>
        </p:txBody>
      </p:sp>
      <p:sp>
        <p:nvSpPr>
          <p:cNvPr id="1338" name="Card"/>
          <p:cNvSpPr/>
          <p:nvPr/>
        </p:nvSpPr>
        <p:spPr>
          <a:xfrm>
            <a:off x="7863840" y="2395728"/>
            <a:ext cx="3520440" cy="3364992"/>
          </a:xfrm>
          <a:prstGeom prst="roundRect">
            <a:avLst>
              <a:gd name="adj" fmla="val 12000"/>
            </a:avLst>
          </a:prstGeom>
          <a:solidFill>
            <a:srgbClr val="FFFFFF"/>
          </a:solidFill>
          <a:ln w="9525">
            <a:solidFill>
              <a:srgbClr val="D9DEDB"/>
            </a:solidFill>
          </a:ln>
        </p:spPr>
        <p:txBody>
          <a:bodyPr wrap="square" lIns="0" tIns="0" rIns="0" bIns="0" anchor="t">
            <a:noAutofit/>
          </a:bodyPr>
          <a:lstStyle/>
          <a:p>
            <a:pPr algn="l"/>
          </a:p>
        </p:txBody>
      </p:sp>
      <p:sp>
        <p:nvSpPr>
          <p:cNvPr id="1339" name="Card label"/>
          <p:cNvSpPr txBox="1"/>
          <p:nvPr/>
        </p:nvSpPr>
        <p:spPr>
          <a:xfrm>
            <a:off x="8092440" y="2560320"/>
            <a:ext cx="3063240" cy="274320"/>
          </a:xfrm>
          <a:prstGeom prst="rect">
            <a:avLst/>
          </a:prstGeom>
          <a:noFill/>
          <a:ln>
            <a:noFill/>
          </a:ln>
        </p:spPr>
        <p:txBody>
          <a:bodyPr wrap="square" lIns="0" tIns="0" rIns="0" bIns="0" anchor="t">
            <a:noAutofit/>
          </a:bodyPr>
          <a:lstStyle/>
          <a:p>
            <a:pPr algn="l"/>
            <a:r>
              <a:rPr lang="en-US" sz="1300" b="1" i="0" dirty="0">
                <a:solidFill>
                  <a:srgbClr val="2F6B78"/>
                </a:solidFill>
                <a:latin typeface="Consolas"/>
                <a:cs typeface="Consolas"/>
              </a:rPr>
              <a:t xml:space="preserve">3  CANDIDATE KNOWLEDGE</a:t>
            </a:r>
          </a:p>
        </p:txBody>
      </p:sp>
      <p:sp>
        <p:nvSpPr>
          <p:cNvPr id="1340" name="Note"/>
          <p:cNvSpPr txBox="1"/>
          <p:nvPr/>
        </p:nvSpPr>
        <p:spPr>
          <a:xfrm>
            <a:off x="8092440" y="2834640"/>
            <a:ext cx="3063240" cy="256032"/>
          </a:xfrm>
          <a:prstGeom prst="rect">
            <a:avLst/>
          </a:prstGeom>
          <a:noFill/>
          <a:ln>
            <a:noFill/>
          </a:ln>
        </p:spPr>
        <p:txBody>
          <a:bodyPr wrap="square" lIns="0" tIns="0" rIns="0" bIns="0" anchor="t">
            <a:noAutofit/>
          </a:bodyPr>
          <a:lstStyle/>
          <a:p>
            <a:pPr algn="l"/>
            <a:r>
              <a:rPr lang="en-US" sz="1150" b="0" i="1" dirty="0">
                <a:solidFill>
                  <a:srgbClr val="5B6770"/>
                </a:solidFill>
                <a:latin typeface="Calibri"/>
                <a:cs typeface="Calibri"/>
              </a:rPr>
              <a:t xml:space="preserve">A reviewable hypothesis, not a fact</a:t>
            </a:r>
          </a:p>
        </p:txBody>
      </p:sp>
      <p:sp>
        <p:nvSpPr>
          <p:cNvPr id="1341" name="Code panel"/>
          <p:cNvSpPr/>
          <p:nvPr/>
        </p:nvSpPr>
        <p:spPr>
          <a:xfrm>
            <a:off x="8001000" y="3200400"/>
            <a:ext cx="3246120" cy="1691640"/>
          </a:xfrm>
          <a:prstGeom prst="roundRect">
            <a:avLst>
              <a:gd name="adj" fmla="val 9000"/>
            </a:avLst>
          </a:prstGeom>
          <a:solidFill>
            <a:srgbClr val="F6F8FA"/>
          </a:solidFill>
          <a:ln w="9525">
            <a:solidFill>
              <a:srgbClr val="D0D7DE"/>
            </a:solidFill>
          </a:ln>
        </p:spPr>
        <p:txBody>
          <a:bodyPr wrap="square" lIns="0" tIns="0" rIns="0" bIns="0" anchor="ctr">
            <a:noAutofit/>
          </a:bodyPr>
          <a:lstStyle/>
          <a:p>
            <a:endParaRPr lang="en-US"/>
          </a:p>
        </p:txBody>
      </p:sp>
      <p:sp>
        <p:nvSpPr>
          <p:cNvPr id="1342" name="Code line 1342"/>
          <p:cNvSpPr txBox="1"/>
          <p:nvPr/>
        </p:nvSpPr>
        <p:spPr>
          <a:xfrm>
            <a:off x="8001000" y="3264408"/>
            <a:ext cx="3200400" cy="173736"/>
          </a:xfrm>
          <a:prstGeom prst="rect">
            <a:avLst/>
          </a:prstGeom>
          <a:noFill/>
        </p:spPr>
        <p:txBody>
          <a:bodyPr wrap="none" lIns="146304" tIns="0" rIns="0" bIns="0" anchor="ctr">
            <a:noAutofit/>
          </a:bodyPr>
          <a:lstStyle/>
          <a:p>
            <a:pPr>
              <a:tabLst>
                <a:tab pos="4224528" algn="l"/>
              </a:tabLst>
            </a:pPr>
            <a:r>
              <a:rPr lang="en-US" sz="1000" b="1" i="0" dirty="0">
                <a:solidFill>
                  <a:srgbClr val="0B6E4F"/>
                </a:solidFill>
                <a:latin typeface="Consolas"/>
                <a:cs typeface="Consolas"/>
              </a:rPr>
              <a:t xml:space="preserve">Individual:</a:t>
            </a:r>
            <a:r>
              <a:rPr lang="en-US" sz="1000" b="0" i="0" dirty="0">
                <a:solidFill>
                  <a:srgbClr val="1F2328"/>
                </a:solidFill>
                <a:latin typeface="Consolas"/>
                <a:cs typeface="Consolas"/>
              </a:rPr>
              <a:t xml:space="preserve"> </a:t>
            </a:r>
            <a:r>
              <a:rPr lang="en-US" sz="1000" b="0" i="0" dirty="0">
                <a:solidFill>
                  <a:srgbClr val="1F2328"/>
                </a:solidFill>
                <a:latin typeface="Consolas"/>
                <a:cs typeface="Consolas"/>
              </a:rPr>
              <a:t xml:space="preserve">cisplatin_bmdep</a:t>
            </a:r>
            <a:endParaRPr lang="en-US" sz="1000"/>
          </a:p>
        </p:txBody>
      </p:sp>
      <p:sp>
        <p:nvSpPr>
          <p:cNvPr id="1343" name="Code line 1343"/>
          <p:cNvSpPr txBox="1"/>
          <p:nvPr/>
        </p:nvSpPr>
        <p:spPr>
          <a:xfrm>
            <a:off x="8001000" y="3438144"/>
            <a:ext cx="3200400" cy="173736"/>
          </a:xfrm>
          <a:prstGeom prst="rect">
            <a:avLst/>
          </a:prstGeom>
          <a:noFill/>
        </p:spPr>
        <p:txBody>
          <a:bodyPr wrap="none" lIns="146304" tIns="0" rIns="0" bIns="0" anchor="ctr">
            <a:noAutofit/>
          </a:bodyPr>
          <a:lstStyle/>
          <a:p>
            <a:pPr>
              <a:tabLst>
                <a:tab pos="4224528" algn="l"/>
              </a:tabLst>
            </a:pPr>
            <a:r>
              <a:rPr lang="en-US" sz="1000" b="0" i="0" dirty="0">
                <a:solidFill>
                  <a:srgbClr val="1F2328"/>
                </a:solidFill>
                <a:latin typeface="Consolas"/>
                <a:cs typeface="Consolas"/>
              </a:rPr>
              <a:t xml:space="preserve">  </a:t>
            </a:r>
            <a:r>
              <a:rPr lang="en-US" sz="1000" b="1" i="0" dirty="0">
                <a:solidFill>
                  <a:srgbClr val="0B6E4F"/>
                </a:solidFill>
                <a:latin typeface="Consolas"/>
                <a:cs typeface="Consolas"/>
              </a:rPr>
              <a:t xml:space="preserve">Types:</a:t>
            </a:r>
            <a:r>
              <a:rPr lang="en-US" sz="1000" b="0" i="0" dirty="0">
                <a:solidFill>
                  <a:srgbClr val="1F2328"/>
                </a:solidFill>
                <a:latin typeface="Consolas"/>
                <a:cs typeface="Consolas"/>
              </a:rPr>
              <a:t xml:space="preserve"> </a:t>
            </a:r>
            <a:r>
              <a:rPr lang="en-US" sz="1000" b="0" i="0" dirty="0">
                <a:solidFill>
                  <a:srgbClr val="1F2328"/>
                </a:solidFill>
                <a:latin typeface="Consolas"/>
                <a:cs typeface="Consolas"/>
              </a:rPr>
              <a:t xml:space="preserve">CandidateAssociation</a:t>
            </a:r>
            <a:endParaRPr lang="en-US" sz="1000"/>
          </a:p>
        </p:txBody>
      </p:sp>
      <p:sp>
        <p:nvSpPr>
          <p:cNvPr id="1344" name="Code line 1344"/>
          <p:cNvSpPr txBox="1"/>
          <p:nvPr/>
        </p:nvSpPr>
        <p:spPr>
          <a:xfrm>
            <a:off x="8001000" y="3611879"/>
            <a:ext cx="3200400" cy="173736"/>
          </a:xfrm>
          <a:prstGeom prst="rect">
            <a:avLst/>
          </a:prstGeom>
          <a:noFill/>
        </p:spPr>
        <p:txBody>
          <a:bodyPr wrap="none" lIns="146304" tIns="0" rIns="0" bIns="0" anchor="ctr">
            <a:noAutofit/>
          </a:bodyPr>
          <a:lstStyle/>
          <a:p>
            <a:pPr>
              <a:tabLst>
                <a:tab pos="4224528" algn="l"/>
              </a:tabLst>
            </a:pPr>
            <a:r>
              <a:rPr lang="en-US" sz="1000" b="0" i="0" dirty="0">
                <a:solidFill>
                  <a:srgbClr val="1F2328"/>
                </a:solidFill>
                <a:latin typeface="Consolas"/>
                <a:cs typeface="Consolas"/>
              </a:rPr>
              <a:t xml:space="preserve">  </a:t>
            </a:r>
            <a:r>
              <a:rPr lang="en-US" sz="1000" b="1" i="0" dirty="0">
                <a:solidFill>
                  <a:srgbClr val="0B6E4F"/>
                </a:solidFill>
                <a:latin typeface="Consolas"/>
                <a:cs typeface="Consolas"/>
              </a:rPr>
              <a:t xml:space="preserve">Facts:</a:t>
            </a:r>
            <a:endParaRPr lang="en-US" sz="1000"/>
          </a:p>
        </p:txBody>
      </p:sp>
      <p:sp>
        <p:nvSpPr>
          <p:cNvPr id="1345" name="Code line 1345"/>
          <p:cNvSpPr txBox="1"/>
          <p:nvPr/>
        </p:nvSpPr>
        <p:spPr>
          <a:xfrm>
            <a:off x="8001000" y="3785615"/>
            <a:ext cx="3200400" cy="173736"/>
          </a:xfrm>
          <a:prstGeom prst="rect">
            <a:avLst/>
          </a:prstGeom>
          <a:noFill/>
        </p:spPr>
        <p:txBody>
          <a:bodyPr wrap="none" lIns="146304" tIns="0" rIns="0" bIns="0" anchor="ctr">
            <a:noAutofit/>
          </a:bodyPr>
          <a:lstStyle/>
          <a:p>
            <a:pPr>
              <a:tabLst>
                <a:tab pos="4224528" algn="l"/>
              </a:tabLst>
            </a:pPr>
            <a:r>
              <a:rPr lang="en-US" sz="1000" b="0" i="0" dirty="0">
                <a:solidFill>
                  <a:srgbClr val="1F2328"/>
                </a:solidFill>
                <a:latin typeface="Consolas"/>
                <a:cs typeface="Consolas"/>
              </a:rPr>
              <a:t xml:space="preserve">    </a:t>
            </a:r>
            <a:r>
              <a:rPr lang="en-US" sz="1000" b="0" i="0" dirty="0">
                <a:solidFill>
                  <a:srgbClr val="1F2328"/>
                </a:solidFill>
                <a:latin typeface="Consolas"/>
                <a:cs typeface="Consolas"/>
              </a:rPr>
              <a:t xml:space="preserve">hasDrug</a:t>
            </a:r>
            <a:r>
              <a:rPr lang="en-US" sz="1000" b="0" i="0" dirty="0">
                <a:solidFill>
                  <a:srgbClr val="1F2328"/>
                </a:solidFill>
                <a:latin typeface="Consolas"/>
                <a:cs typeface="Consolas"/>
              </a:rPr>
              <a:t xml:space="preserve"> </a:t>
            </a:r>
            <a:r>
              <a:rPr lang="en-US" sz="1000" b="0" i="0" dirty="0">
                <a:solidFill>
                  <a:srgbClr val="1F2328"/>
                </a:solidFill>
                <a:latin typeface="Consolas"/>
                <a:cs typeface="Consolas"/>
              </a:rPr>
              <a:t xml:space="preserve">Cisplatin</a:t>
            </a:r>
            <a:r>
              <a:rPr lang="en-US" sz="1000" b="0" i="0" dirty="0">
                <a:solidFill>
                  <a:srgbClr val="1F2328"/>
                </a:solidFill>
                <a:latin typeface="Consolas"/>
                <a:cs typeface="Consolas"/>
              </a:rPr>
              <a:t xml:space="preserve">,</a:t>
            </a:r>
            <a:endParaRPr lang="en-US" sz="1000"/>
          </a:p>
        </p:txBody>
      </p:sp>
      <p:sp>
        <p:nvSpPr>
          <p:cNvPr id="1346" name="Code line 1346"/>
          <p:cNvSpPr txBox="1"/>
          <p:nvPr/>
        </p:nvSpPr>
        <p:spPr>
          <a:xfrm>
            <a:off x="8001000" y="3959352"/>
            <a:ext cx="3200400" cy="173736"/>
          </a:xfrm>
          <a:prstGeom prst="rect">
            <a:avLst/>
          </a:prstGeom>
          <a:noFill/>
        </p:spPr>
        <p:txBody>
          <a:bodyPr wrap="none" lIns="146304" tIns="0" rIns="0" bIns="0" anchor="ctr">
            <a:noAutofit/>
          </a:bodyPr>
          <a:lstStyle/>
          <a:p>
            <a:pPr>
              <a:tabLst>
                <a:tab pos="4224528" algn="l"/>
              </a:tabLst>
            </a:pPr>
            <a:r>
              <a:rPr lang="en-US" sz="1000" b="0" i="0" dirty="0">
                <a:solidFill>
                  <a:srgbClr val="1F2328"/>
                </a:solidFill>
                <a:latin typeface="Consolas"/>
                <a:cs typeface="Consolas"/>
              </a:rPr>
              <a:t xml:space="preserve">    </a:t>
            </a:r>
            <a:r>
              <a:rPr lang="en-US" sz="1000" b="0" i="0" dirty="0">
                <a:solidFill>
                  <a:srgbClr val="1F2328"/>
                </a:solidFill>
                <a:latin typeface="Consolas"/>
                <a:cs typeface="Consolas"/>
              </a:rPr>
              <a:t xml:space="preserve">hasCondition</a:t>
            </a:r>
            <a:r>
              <a:rPr lang="en-US" sz="1000" b="0" i="0" dirty="0">
                <a:solidFill>
                  <a:srgbClr val="1F2328"/>
                </a:solidFill>
                <a:latin typeface="Consolas"/>
                <a:cs typeface="Consolas"/>
              </a:rPr>
              <a:t xml:space="preserve"> </a:t>
            </a:r>
            <a:r>
              <a:rPr lang="en-US" sz="1000" b="0" i="0" dirty="0">
                <a:solidFill>
                  <a:srgbClr val="1F2328"/>
                </a:solidFill>
                <a:latin typeface="Consolas"/>
                <a:cs typeface="Consolas"/>
              </a:rPr>
              <a:t xml:space="preserve">BoneMarrowDepression</a:t>
            </a:r>
            <a:r>
              <a:rPr lang="en-US" sz="1000" b="0" i="0" dirty="0">
                <a:solidFill>
                  <a:srgbClr val="1F2328"/>
                </a:solidFill>
                <a:latin typeface="Consolas"/>
                <a:cs typeface="Consolas"/>
              </a:rPr>
              <a:t xml:space="preserve">,</a:t>
            </a:r>
            <a:endParaRPr lang="en-US" sz="1000"/>
          </a:p>
        </p:txBody>
      </p:sp>
      <p:sp>
        <p:nvSpPr>
          <p:cNvPr id="1347" name="Code line 1347"/>
          <p:cNvSpPr txBox="1"/>
          <p:nvPr/>
        </p:nvSpPr>
        <p:spPr>
          <a:xfrm>
            <a:off x="8001000" y="4133087"/>
            <a:ext cx="3200400" cy="173736"/>
          </a:xfrm>
          <a:prstGeom prst="rect">
            <a:avLst/>
          </a:prstGeom>
          <a:noFill/>
        </p:spPr>
        <p:txBody>
          <a:bodyPr wrap="none" lIns="146304" tIns="0" rIns="0" bIns="0" anchor="ctr">
            <a:noAutofit/>
          </a:bodyPr>
          <a:lstStyle/>
          <a:p>
            <a:pPr>
              <a:tabLst>
                <a:tab pos="4224528" algn="l"/>
              </a:tabLst>
            </a:pPr>
            <a:r>
              <a:rPr lang="en-US" sz="1000" b="0" i="0" dirty="0">
                <a:solidFill>
                  <a:srgbClr val="1F2328"/>
                </a:solidFill>
                <a:latin typeface="Consolas"/>
                <a:cs typeface="Consolas"/>
              </a:rPr>
              <a:t xml:space="preserve">    </a:t>
            </a:r>
            <a:r>
              <a:rPr lang="en-US" sz="1000" b="0" i="0" dirty="0">
                <a:solidFill>
                  <a:srgbClr val="1F2328"/>
                </a:solidFill>
                <a:latin typeface="Consolas"/>
                <a:cs typeface="Consolas"/>
              </a:rPr>
              <a:t xml:space="preserve">status</a:t>
            </a:r>
            <a:r>
              <a:rPr lang="en-US" sz="1000" b="0" i="0" dirty="0">
                <a:solidFill>
                  <a:srgbClr val="1F2328"/>
                </a:solidFill>
                <a:latin typeface="Consolas"/>
                <a:cs typeface="Consolas"/>
              </a:rPr>
              <a:t xml:space="preserve"> </a:t>
            </a:r>
            <a:r>
              <a:rPr lang="en-US" sz="1000" b="0" i="0" dirty="0">
                <a:solidFill>
                  <a:srgbClr val="A3401E"/>
                </a:solidFill>
                <a:latin typeface="Consolas"/>
                <a:cs typeface="Consolas"/>
              </a:rPr>
              <a:t xml:space="preserve">"needs expert review"</a:t>
            </a:r>
            <a:endParaRPr lang="en-US" sz="1000"/>
          </a:p>
        </p:txBody>
      </p:sp>
      <p:sp>
        <p:nvSpPr>
          <p:cNvPr id="1348" name="Code line 1348"/>
          <p:cNvSpPr txBox="1"/>
          <p:nvPr/>
        </p:nvSpPr>
        <p:spPr>
          <a:xfrm>
            <a:off x="8001000" y="4306824"/>
            <a:ext cx="3200400" cy="173736"/>
          </a:xfrm>
          <a:prstGeom prst="rect">
            <a:avLst/>
          </a:prstGeom>
          <a:noFill/>
        </p:spPr>
        <p:txBody>
          <a:bodyPr wrap="none" lIns="146304" tIns="0" rIns="0" bIns="0" anchor="ctr">
            <a:noAutofit/>
          </a:bodyPr>
          <a:lstStyle/>
          <a:p>
            <a:pPr>
              <a:tabLst>
                <a:tab pos="4224528" algn="l"/>
              </a:tabLst>
            </a:pPr>
            <a:r>
              <a:rPr lang="en-US" sz="1000" b="0" i="0" dirty="0">
                <a:solidFill>
                  <a:srgbClr val="1F2328"/>
                </a:solidFill>
                <a:latin typeface="Consolas"/>
                <a:cs typeface="Consolas"/>
              </a:rPr>
              <a:t xml:space="preserve">  </a:t>
            </a:r>
            <a:r>
              <a:rPr lang="en-US" sz="1000" b="1" i="0" dirty="0">
                <a:solidFill>
                  <a:srgbClr val="0B6E4F"/>
                </a:solidFill>
                <a:latin typeface="Consolas"/>
                <a:cs typeface="Consolas"/>
              </a:rPr>
              <a:t xml:space="preserve">Annotations:</a:t>
            </a:r>
            <a:endParaRPr lang="en-US" sz="1000"/>
          </a:p>
        </p:txBody>
      </p:sp>
      <p:sp>
        <p:nvSpPr>
          <p:cNvPr id="1349" name="Code line 1349"/>
          <p:cNvSpPr txBox="1"/>
          <p:nvPr/>
        </p:nvSpPr>
        <p:spPr>
          <a:xfrm>
            <a:off x="8001000" y="4480560"/>
            <a:ext cx="3200400" cy="173736"/>
          </a:xfrm>
          <a:prstGeom prst="rect">
            <a:avLst/>
          </a:prstGeom>
          <a:noFill/>
        </p:spPr>
        <p:txBody>
          <a:bodyPr wrap="none" lIns="146304" tIns="0" rIns="0" bIns="0" anchor="ctr">
            <a:noAutofit/>
          </a:bodyPr>
          <a:lstStyle/>
          <a:p>
            <a:pPr>
              <a:tabLst>
                <a:tab pos="4224528" algn="l"/>
              </a:tabLst>
            </a:pPr>
            <a:r>
              <a:rPr lang="en-US" sz="1000" b="0" i="0" dirty="0">
                <a:solidFill>
                  <a:srgbClr val="1F2328"/>
                </a:solidFill>
                <a:latin typeface="Consolas"/>
                <a:cs typeface="Consolas"/>
              </a:rPr>
              <a:t xml:space="preserve">    </a:t>
            </a:r>
            <a:r>
              <a:rPr lang="en-US" sz="1000" b="0" i="0" dirty="0">
                <a:solidFill>
                  <a:srgbClr val="5B6770"/>
                </a:solidFill>
                <a:latin typeface="Consolas"/>
                <a:cs typeface="Consolas"/>
              </a:rPr>
              <a:t xml:space="preserve">prov:wasDerivedFrom</a:t>
            </a:r>
            <a:r>
              <a:rPr lang="en-US" sz="1000" b="0" i="0" dirty="0">
                <a:solidFill>
                  <a:srgbClr val="1F2328"/>
                </a:solidFill>
                <a:latin typeface="Consolas"/>
                <a:cs typeface="Consolas"/>
              </a:rPr>
              <a:t xml:space="preserve"> </a:t>
            </a:r>
            <a:r>
              <a:rPr lang="en-US" sz="1000" b="0" i="0" dirty="0">
                <a:solidFill>
                  <a:srgbClr val="2F6B78"/>
                </a:solidFill>
                <a:latin typeface="Consolas"/>
                <a:cs typeface="Consolas"/>
              </a:rPr>
              <a:t xml:space="preserve">treatment:drug</a:t>
            </a:r>
            <a:r>
              <a:rPr lang="en-US" sz="1000" b="0" i="0" dirty="0">
                <a:solidFill>
                  <a:srgbClr val="1F2328"/>
                </a:solidFill>
                <a:latin typeface="Consolas"/>
                <a:cs typeface="Consolas"/>
              </a:rPr>
              <a:t xml:space="preserve">,</a:t>
            </a:r>
            <a:endParaRPr lang="en-US" sz="1000"/>
          </a:p>
        </p:txBody>
      </p:sp>
      <p:sp>
        <p:nvSpPr>
          <p:cNvPr id="1350" name="Code line 1350"/>
          <p:cNvSpPr txBox="1"/>
          <p:nvPr/>
        </p:nvSpPr>
        <p:spPr>
          <a:xfrm>
            <a:off x="8001000" y="4654296"/>
            <a:ext cx="3200400" cy="173736"/>
          </a:xfrm>
          <a:prstGeom prst="rect">
            <a:avLst/>
          </a:prstGeom>
          <a:noFill/>
        </p:spPr>
        <p:txBody>
          <a:bodyPr wrap="none" lIns="146304" tIns="0" rIns="0" bIns="0" anchor="ctr">
            <a:noAutofit/>
          </a:bodyPr>
          <a:lstStyle/>
          <a:p>
            <a:pPr>
              <a:tabLst>
                <a:tab pos="4224528" algn="l"/>
              </a:tabLst>
            </a:pPr>
            <a:r>
              <a:rPr lang="en-US" sz="1000" b="0" i="0" dirty="0">
                <a:solidFill>
                  <a:srgbClr val="1F2328"/>
                </a:solidFill>
                <a:latin typeface="Consolas"/>
                <a:cs typeface="Consolas"/>
              </a:rPr>
              <a:t xml:space="preserve">    </a:t>
            </a:r>
            <a:r>
              <a:rPr lang="en-US" sz="1000" b="0" i="0" dirty="0">
                <a:solidFill>
                  <a:srgbClr val="5B6770"/>
                </a:solidFill>
                <a:latin typeface="Consolas"/>
                <a:cs typeface="Consolas"/>
              </a:rPr>
              <a:t xml:space="preserve">prov:wasDerivedFrom</a:t>
            </a:r>
            <a:r>
              <a:rPr lang="en-US" sz="1000" b="0" i="0" dirty="0">
                <a:solidFill>
                  <a:srgbClr val="1F2328"/>
                </a:solidFill>
                <a:latin typeface="Consolas"/>
                <a:cs typeface="Consolas"/>
              </a:rPr>
              <a:t xml:space="preserve"> </a:t>
            </a:r>
            <a:r>
              <a:rPr lang="en-US" sz="1000" b="0" i="0" dirty="0">
                <a:solidFill>
                  <a:srgbClr val="2F6B78"/>
                </a:solidFill>
                <a:latin typeface="Consolas"/>
                <a:cs typeface="Consolas"/>
              </a:rPr>
              <a:t xml:space="preserve">admission:BM_DEP</a:t>
            </a:r>
            <a:endParaRPr lang="en-US" sz="1000"/>
          </a:p>
        </p:txBody>
      </p:sp>
      <p:sp>
        <p:nvSpPr>
          <p:cNvPr id="1351" name="Candidate"/>
          <p:cNvSpPr/>
          <p:nvPr/>
        </p:nvSpPr>
        <p:spPr>
          <a:xfrm>
            <a:off x="8001000" y="5065776"/>
            <a:ext cx="3246120" cy="512064"/>
          </a:xfrm>
          <a:prstGeom prst="roundRect">
            <a:avLst>
              <a:gd name="adj" fmla="val 12000"/>
            </a:avLst>
          </a:prstGeom>
          <a:solidFill>
            <a:srgbClr val="FFF7E8"/>
          </a:solidFill>
          <a:ln>
            <a:noFill/>
          </a:ln>
        </p:spPr>
        <p:txBody>
          <a:bodyPr wrap="square" lIns="91440" tIns="0" rIns="91440" bIns="0" anchor="ctr">
            <a:noAutofit/>
          </a:bodyPr>
          <a:lstStyle/>
          <a:p>
            <a:pPr algn="ctr"/>
            <a:r>
              <a:rPr lang="en-US" sz="1100" b="1" i="0" dirty="0">
                <a:solidFill>
                  <a:srgbClr val="93600F"/>
                </a:solidFill>
                <a:latin typeface="Consolas"/>
                <a:cs typeface="Consolas"/>
              </a:rPr>
              <a:t xml:space="preserve">A PATTERN, NOT A CAUSE  </a:t>
            </a:r>
            <a:r>
              <a:rPr lang="en-US" sz="1150" b="0" i="0" dirty="0">
                <a:solidFill>
                  <a:srgbClr val="3A434C"/>
                </a:solidFill>
                <a:latin typeface="Calibri"/>
                <a:cs typeface="Calibri"/>
              </a:rPr>
              <a:t xml:space="preserve">an expert reviews it before it joins the ontology</a:t>
            </a:r>
          </a:p>
        </p:txBody>
      </p:sp>
      <p:sp>
        <p:nvSpPr>
          <p:cNvPr id="1352" name="Arrow"/>
          <p:cNvSpPr/>
          <p:nvPr/>
        </p:nvSpPr>
        <p:spPr>
          <a:xfrm>
            <a:off x="4078224" y="3913632"/>
            <a:ext cx="274320" cy="329184"/>
          </a:xfrm>
          <a:prstGeom prst="rightArrow">
            <a:avLst/>
          </a:prstGeom>
          <a:solidFill>
            <a:srgbClr val="0B6E4F"/>
          </a:solidFill>
          <a:ln>
            <a:noFill/>
          </a:ln>
        </p:spPr>
      </p:sp>
      <p:sp>
        <p:nvSpPr>
          <p:cNvPr id="1353" name="Arrow"/>
          <p:cNvSpPr/>
          <p:nvPr/>
        </p:nvSpPr>
        <p:spPr>
          <a:xfrm>
            <a:off x="7562088" y="3913632"/>
            <a:ext cx="274320" cy="329184"/>
          </a:xfrm>
          <a:prstGeom prst="rightArrow">
            <a:avLst/>
          </a:prstGeom>
          <a:solidFill>
            <a:srgbClr val="0B6E4F"/>
          </a:solidFill>
          <a:ln>
            <a:noFill/>
          </a:ln>
        </p:spPr>
      </p:sp>
      <p:sp>
        <p:nvSpPr>
          <p:cNvPr id="1354" name="Source"/>
          <p:cNvSpPr txBox="1"/>
          <p:nvPr/>
        </p:nvSpPr>
        <p:spPr>
          <a:xfrm>
            <a:off x="822960" y="5961888"/>
            <a:ext cx="10607040" cy="237744"/>
          </a:xfrm>
          <a:prstGeom prst="rect">
            <a:avLst/>
          </a:prstGeom>
          <a:noFill/>
          <a:ln>
            <a:noFill/>
          </a:ln>
        </p:spPr>
        <p:txBody>
          <a:bodyPr wrap="square" lIns="0" tIns="0" rIns="0" bIns="0" anchor="t">
            <a:noAutofit/>
          </a:bodyPr>
          <a:lstStyle/>
          <a:p>
            <a:pPr algn="l"/>
            <a:r>
              <a:rPr lang="en-US" sz="1000" b="0" i="0" dirty="0">
                <a:solidFill>
                  <a:srgbClr val="5B6770"/>
                </a:solidFill>
                <a:latin typeface="Calibri"/>
                <a:cs typeface="Calibri"/>
              </a:rPr>
              <a:t xml:space="preserve">Rows are synthetic. In practice, RIGOR would use aggregate statistics only, so patient data stays in the hospital.</a:t>
            </a:r>
          </a:p>
        </p:txBody>
      </p:sp>
    </p:spTree>
  </p:cSld>
  <p:clrMapOvr>
    <a:masterClrMapping/>
  </p:clrMapOvr>
</p:sld>
</file>

<file path=ppt/theme/theme1.xml><?xml version="1.0" encoding="utf-8"?>
<a:theme xmlns:a="http://schemas.openxmlformats.org/drawingml/2006/main" xmlns:r="http://schemas.openxmlformats.org/officeDocument/2006/relationships" name="RIGOR · ISWC 2026 Talk">
  <a:themeElements>
    <a:clrScheme name="RIGOR · ISWC 2026 Talk">
      <a:dk1>
        <a:srgbClr val="111A28"/>
      </a:dk1>
      <a:lt1>
        <a:srgbClr val="F2F4F7"/>
      </a:lt1>
      <a:dk2>
        <a:srgbClr val="49515C"/>
      </a:dk2>
      <a:lt2>
        <a:srgbClr val="DCDEE2"/>
      </a:lt2>
      <a:accent1>
        <a:srgbClr val="2345C4"/>
      </a:accent1>
      <a:accent2>
        <a:srgbClr val="F4A261"/>
      </a:accent2>
      <a:accent3>
        <a:srgbClr val="B4561C"/>
      </a:accent3>
      <a:accent4>
        <a:srgbClr val="8FA5EB"/>
      </a:accent4>
      <a:accent5>
        <a:srgbClr val="8AA4FF"/>
      </a:accent5>
      <a:accent6>
        <a:srgbClr val="E9873A"/>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RIGOR · ISWC 2026 Talk">
  <a:themeElements>
    <a:clrScheme name="RIGOR · ISWC 2026 Talk">
      <a:dk1>
        <a:srgbClr val="111A28"/>
      </a:dk1>
      <a:lt1>
        <a:srgbClr val="F2F4F7"/>
      </a:lt1>
      <a:dk2>
        <a:srgbClr val="49515C"/>
      </a:dk2>
      <a:lt2>
        <a:srgbClr val="DCDEE2"/>
      </a:lt2>
      <a:accent1>
        <a:srgbClr val="2345C4"/>
      </a:accent1>
      <a:accent2>
        <a:srgbClr val="F4A261"/>
      </a:accent2>
      <a:accent3>
        <a:srgbClr val="B4561C"/>
      </a:accent3>
      <a:accent4>
        <a:srgbClr val="8FA5EB"/>
      </a:accent4>
      <a:accent5>
        <a:srgbClr val="8AA4FF"/>
      </a:accent5>
      <a:accent6>
        <a:srgbClr val="E9873A"/>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2026-10-26T00:50:16Z</dcterms:created>
</cp:coreProperties>
</file>