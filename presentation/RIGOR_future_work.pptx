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28.xml"/>
  <Override ContentType="application/vnd.openxmlformats-officedocument.presentationml.notesMaster+xml" PartName="/ppt/notesMasters/notesMaster1.xml"/>
  <Override ContentType="application/vnd.openxmlformats-package.core-properties+xml" PartName="/docProps/core.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3"/>
  </p:sldMasterIdLst>
  <p:notesMasterIdLst>
    <p:notesMasterId r:id="rId4"/>
  </p:notesMasterIdLst>
  <p:sldIdLst>
    <p:sldId id="283" r:id="rId32"/>
  </p:sldIdLst>
  <p:sldSz cy="6858000" cx="12192000"/>
  <p:notesSz cx="6858000" cy="12192000"/>
  <p:embeddedFontLst>
    <p:embeddedFont>
      <p:font typeface="IBM Plex Sans"/>
      <p:regular r:id="rId40"/>
      <p:bold r:id="rId41"/>
      <p:italic r:id="rId42"/>
      <p:boldItalic r:id="rId43"/>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4" roundtripDataSignature="AMtx7miIhFui5hy+i4o3KOYM/gPuu+LjKw=="/>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Relationships xmlns="http://schemas.openxmlformats.org/package/2006/relationships"><Relationship Id="rId40" Type="http://schemas.openxmlformats.org/officeDocument/2006/relationships/font" Target="fonts/IBMPlexSans-regular.fntdata"/><Relationship Id="rId42" Type="http://schemas.openxmlformats.org/officeDocument/2006/relationships/font" Target="fonts/IBMPlexSans-italic.fntdata"/><Relationship Id="rId41" Type="http://schemas.openxmlformats.org/officeDocument/2006/relationships/font" Target="fonts/IBMPlexSans-bold.fntdata"/><Relationship Id="rId44" Type="http://customschemas.google.com/relationships/presentationmetadata" Target="metadata"/><Relationship Id="rId43" Type="http://schemas.openxmlformats.org/officeDocument/2006/relationships/font" Target="fonts/IBMPlexSans-boldItalic.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32"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IBM Plex Sans"/>
                <a:ea typeface="IBM Plex Sans"/>
                <a:cs typeface="IBM Plex Sans"/>
                <a:sym typeface="IBM Plex Sans"/>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IBM Plex Sans"/>
                <a:ea typeface="IBM Plex Sans"/>
                <a:cs typeface="IBM Plex Sans"/>
                <a:sym typeface="IBM Plex Sans"/>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IBM Plex Sans"/>
                <a:ea typeface="IBM Plex Sans"/>
                <a:cs typeface="IBM Plex Sans"/>
                <a:sym typeface="IBM Plex Sans"/>
              </a:rPr>
              <a:t>‹#›</a:t>
            </a:fld>
            <a:endParaRPr b="0" i="0" sz="1200" u="none" cap="none" strike="noStrike">
              <a:solidFill>
                <a:schemeClr val="dk1"/>
              </a:solidFill>
              <a:latin typeface="IBM Plex Sans"/>
              <a:ea typeface="IBM Plex Sans"/>
              <a:cs typeface="IBM Plex Sans"/>
              <a:sym typeface="IBM Plex Sans"/>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4" name="Shape 1284"/>
        <p:cNvGrpSpPr/>
        <p:nvPr/>
      </p:nvGrpSpPr>
      <p:grpSpPr>
        <a:xfrm>
          <a:off x="0" y="0"/>
          <a:ext cx="0" cy="0"/>
          <a:chOff x="0" y="0"/>
          <a:chExt cx="0" cy="0"/>
        </a:xfrm>
      </p:grpSpPr>
      <p:sp>
        <p:nvSpPr>
          <p:cNvPr id="1285" name="Google Shape;1285;p2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286" name="Google Shape;1286;p22:notes"/>
          <p:cNvSpPr txBox="1"/>
          <p:nvPr>
            <p:ph idx="1" type="body"/>
          </p:nvPr>
        </p:nvSpPr>
        <p:spPr>
          <a:xfrm>
            <a:off x="685800" y="4400550"/>
            <a:ext cx="5486400" cy="3600600"/>
          </a:xfrm>
          <a:prstGeom prst="rect">
            <a:avLst/>
          </a:prstGeom>
          <a:noFill/>
          <a:ln>
            <a:noFill/>
          </a:ln>
        </p:spPr>
        <p:txBody>
          <a:bodyPr anchorCtr="0" anchor="t" bIns="45700" lIns="91425" spcFirstLastPara="1" rIns="91425" wrap="square" tIns="45700">
            <a:noAutofit/>
          </a:bodyPr>
          <a:lstStyle/>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[11:05–12:00]  SPOKEN SCRIPT (96 words)</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Where next? Today RIGOR reads schemas and documentation. The next step is to let the data speak. Imagine several patients whose records show bone marrow depression after cisplatin cycles. The rows alone show a pattern. The drug label adds that bone-marrow suppression is a known adverse reaction of cisplatin. Together, they let RIGOR propose new knowledge: a candidate association between cisplatin and bone marrow depression, with provenance to both sources. Candidate, not cause. Gemcitabine, radiotherapy or cirrhosis could also explain it. So an expert reviews it. We also want validator and reasoner feedback inside the loop.</a:t>
            </a:r>
            <a:endParaRPr/>
          </a:p>
          <a:p>
            <a:pPr indent="-228600" lvl="0" marL="457200" marR="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PRESENTER / POINTER: Rows, label, code, left to right. Say 'candidate' or 'may have contributed', never 'caused'.</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AUDIENCE TAKEAWAY: Instances plus documentation can propose knowledge; experts confirm it.</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SOURCE AND SCOPE: Paper Section 5. Rows are synthetic. OWL verified (presentation/excerpts/slide22_future_candidate.omn): a typed individual with provenance, no causal axiom.</a:t>
            </a:r>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RUNNING LATE, DROP: "We also want validator and reasoner feedback inside the loop."</a:t>
            </a:r>
            <a:endParaRPr/>
          </a:p>
          <a:p>
            <a:pPr indent="-228600" lvl="0" marL="457200" marR="0" rtl="0" algn="l">
              <a:lnSpc>
                <a:spcPct val="100000"/>
              </a:lnSpc>
              <a:spcBef>
                <a:spcPts val="0"/>
              </a:spcBef>
              <a:spcAft>
                <a:spcPts val="0"/>
              </a:spcAft>
              <a:buSzPts val="1400"/>
              <a:buNone/>
            </a:pPr>
            <a:r>
              <a:t/>
            </a:r>
            <a:endParaRPr sz="1200">
              <a:solidFill>
                <a:schemeClr val="dk1"/>
              </a:solidFill>
              <a:latin typeface="Calibri"/>
              <a:ea typeface="Calibri"/>
              <a:cs typeface="Calibri"/>
              <a:sym typeface="Calibri"/>
            </a:endParaRPr>
          </a:p>
          <a:p>
            <a:pPr indent="-228600" lvl="0" marL="457200" marR="0" rtl="0" algn="l">
              <a:lnSpc>
                <a:spcPct val="100000"/>
              </a:lnSpc>
              <a:spcBef>
                <a:spcPts val="0"/>
              </a:spcBef>
              <a:spcAft>
                <a:spcPts val="0"/>
              </a:spcAft>
              <a:buSzPts val="1400"/>
              <a:buNone/>
            </a:pPr>
            <a:r>
              <a:rPr lang="en-US" sz="1200">
                <a:solidFill>
                  <a:schemeClr val="dk1"/>
                </a:solidFill>
                <a:latin typeface="Calibri"/>
                <a:ea typeface="Calibri"/>
                <a:cs typeface="Calibri"/>
                <a:sym typeface="Calibri"/>
              </a:rPr>
              <a:t>IF ASKED WHY NOT AN OWL CAUSAL AXIOM: OWL reasoning is deductive and open-world; it cannot derive causation from statistics, and 'Cisplatin SubClassOf causes some BoneMarrowDepression' would wrongly claim it for every case.</a:t>
            </a:r>
            <a:endParaRPr/>
          </a:p>
        </p:txBody>
      </p:sp>
      <p:sp>
        <p:nvSpPr>
          <p:cNvPr id="1287" name="Google Shape;1287;p22:notes"/>
          <p:cNvSpPr txBox="1"/>
          <p:nvPr>
            <p:ph idx="12" type="sldNum"/>
          </p:nvPr>
        </p:nvSpPr>
        <p:spPr>
          <a:xfrm>
            <a:off x="3884613" y="8685213"/>
            <a:ext cx="2971800" cy="4587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p:cSld name="Title and body">
    <p:bg>
      <p:bgPr>
        <a:solidFill>
          <a:srgbClr val="FFFFFF"/>
        </a:solidFill>
      </p:bgPr>
    </p:bg>
    <p:spTree>
      <p:nvGrpSpPr>
        <p:cNvPr id="12" name="Shape 12"/>
        <p:cNvGrpSpPr/>
        <p:nvPr/>
      </p:nvGrpSpPr>
      <p:grpSpPr>
        <a:xfrm>
          <a:off x="0" y="0"/>
          <a:ext cx="0" cy="0"/>
          <a:chOff x="0" y="0"/>
          <a:chExt cx="0" cy="0"/>
        </a:xfrm>
      </p:grpSpPr>
      <p:sp>
        <p:nvSpPr>
          <p:cNvPr id="13" name="Google Shape;13;p25"/>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algn="l">
              <a:lnSpc>
                <a:spcPct val="115000"/>
              </a:lnSpc>
              <a:spcBef>
                <a:spcPts val="0"/>
              </a:spcBef>
              <a:spcAft>
                <a:spcPts val="0"/>
              </a:spcAft>
              <a:buClr>
                <a:srgbClr val="1F2328"/>
              </a:buClr>
              <a:buSzPts val="2800"/>
              <a:buFont typeface="Calibri"/>
              <a:buNone/>
              <a:defRPr sz="2800">
                <a:solidFill>
                  <a:srgbClr val="1F2328"/>
                </a:solidFill>
                <a:latin typeface="Calibri"/>
                <a:ea typeface="Calibri"/>
                <a:cs typeface="Calibri"/>
                <a:sym typeface="Calibri"/>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4" name="Google Shape;14;p25"/>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algn="l">
              <a:lnSpc>
                <a:spcPct val="140000"/>
              </a:lnSpc>
              <a:spcBef>
                <a:spcPts val="320"/>
              </a:spcBef>
              <a:spcAft>
                <a:spcPts val="0"/>
              </a:spcAft>
              <a:buClr>
                <a:srgbClr val="1F2328"/>
              </a:buClr>
              <a:buSzPts val="1600"/>
              <a:buNone/>
              <a:defRPr sz="1600">
                <a:solidFill>
                  <a:srgbClr val="1F2328"/>
                </a:solidFill>
                <a:latin typeface="Calibri"/>
                <a:ea typeface="Calibri"/>
                <a:cs typeface="Calibri"/>
                <a:sym typeface="Calibri"/>
              </a:defRPr>
            </a:lvl1pPr>
            <a:lvl2pPr indent="-342900" lvl="1" marL="914400" algn="l">
              <a:lnSpc>
                <a:spcPct val="100000"/>
              </a:lnSpc>
              <a:spcBef>
                <a:spcPts val="360"/>
              </a:spcBef>
              <a:spcAft>
                <a:spcPts val="0"/>
              </a:spcAft>
              <a:buClr>
                <a:schemeClr val="dk1"/>
              </a:buClr>
              <a:buSzPts val="1800"/>
              <a:buChar char="–"/>
              <a:defRPr/>
            </a:lvl2pPr>
            <a:lvl3pPr indent="-342900" lvl="2" marL="1371600" algn="l">
              <a:lnSpc>
                <a:spcPct val="100000"/>
              </a:lnSpc>
              <a:spcBef>
                <a:spcPts val="360"/>
              </a:spcBef>
              <a:spcAft>
                <a:spcPts val="0"/>
              </a:spcAft>
              <a:buClr>
                <a:schemeClr val="dk1"/>
              </a:buClr>
              <a:buSzPts val="1800"/>
              <a:buChar char="•"/>
              <a:defRPr/>
            </a:lvl3pPr>
            <a:lvl4pPr indent="-342900" lvl="3" marL="1828800" algn="l">
              <a:lnSpc>
                <a:spcPct val="100000"/>
              </a:lnSpc>
              <a:spcBef>
                <a:spcPts val="360"/>
              </a:spcBef>
              <a:spcAft>
                <a:spcPts val="0"/>
              </a:spcAft>
              <a:buClr>
                <a:schemeClr val="dk1"/>
              </a:buClr>
              <a:buSzPts val="1800"/>
              <a:buChar char="–"/>
              <a:defRPr/>
            </a:lvl4pPr>
            <a:lvl5pPr indent="-342900" lvl="4" marL="2286000" algn="l">
              <a:lnSpc>
                <a:spcPct val="100000"/>
              </a:lnSpc>
              <a:spcBef>
                <a:spcPts val="360"/>
              </a:spcBef>
              <a:spcAft>
                <a:spcPts val="0"/>
              </a:spcAft>
              <a:buClr>
                <a:schemeClr val="dk1"/>
              </a:buClr>
              <a:buSzPts val="1800"/>
              <a:buChar char="»"/>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5" name="Shape 15"/>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 name="Shape 9"/>
        <p:cNvGrpSpPr/>
        <p:nvPr/>
      </p:nvGrpSpPr>
      <p:grpSpPr>
        <a:xfrm>
          <a:off x="0" y="0"/>
          <a:ext cx="0" cy="0"/>
          <a:chOff x="0" y="0"/>
          <a:chExt cx="0" cy="0"/>
        </a:xfrm>
      </p:grpSpPr>
      <p:sp>
        <p:nvSpPr>
          <p:cNvPr id="10" name="Google Shape;10;p24"/>
          <p:cNvSpPr txBox="1"/>
          <p:nvPr>
            <p:ph type="title"/>
          </p:nvPr>
        </p:nvSpPr>
        <p:spPr>
          <a:xfrm>
            <a:off x="812800" y="1153120"/>
            <a:ext cx="10566400" cy="391120"/>
          </a:xfrm>
          <a:prstGeom prst="rect">
            <a:avLst/>
          </a:prstGeom>
          <a:noFill/>
          <a:ln>
            <a:noFill/>
          </a:ln>
        </p:spPr>
        <p:txBody>
          <a:bodyPr anchorCtr="0" anchor="t" bIns="0" lIns="0" spcFirstLastPara="1" rIns="0" wrap="square" tIns="0">
            <a:noAutofit/>
          </a:bodyPr>
          <a:lstStyle>
            <a:lvl1pPr lvl="0" marR="0" rtl="0" algn="l">
              <a:lnSpc>
                <a:spcPct val="115000"/>
              </a:lnSpc>
              <a:spcBef>
                <a:spcPts val="0"/>
              </a:spcBef>
              <a:spcAft>
                <a:spcPts val="0"/>
              </a:spcAft>
              <a:buClr>
                <a:srgbClr val="1F2328"/>
              </a:buClr>
              <a:buSzPts val="2800"/>
              <a:buFont typeface="Calibri"/>
              <a:buNone/>
              <a:defRPr b="0" i="0" sz="2800" u="none" cap="none" strike="noStrike">
                <a:solidFill>
                  <a:srgbClr val="1F2328"/>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Calibri"/>
              <a:buNone/>
              <a:defRPr b="0" i="0" sz="1800" u="none" cap="none" strike="noStrike">
                <a:solidFill>
                  <a:srgbClr val="000000"/>
                </a:solidFill>
                <a:latin typeface="Calibri"/>
                <a:ea typeface="Calibri"/>
                <a:cs typeface="Calibri"/>
                <a:sym typeface="Calibri"/>
              </a:defRPr>
            </a:lvl9pPr>
          </a:lstStyle>
          <a:p/>
        </p:txBody>
      </p:sp>
      <p:sp>
        <p:nvSpPr>
          <p:cNvPr id="11" name="Google Shape;11;p24"/>
          <p:cNvSpPr txBox="1"/>
          <p:nvPr>
            <p:ph idx="1" type="body"/>
          </p:nvPr>
        </p:nvSpPr>
        <p:spPr>
          <a:xfrm>
            <a:off x="812800" y="1849041"/>
            <a:ext cx="10566400" cy="4196159"/>
          </a:xfrm>
          <a:prstGeom prst="rect">
            <a:avLst/>
          </a:prstGeom>
          <a:noFill/>
          <a:ln>
            <a:noFill/>
          </a:ln>
        </p:spPr>
        <p:txBody>
          <a:bodyPr anchorCtr="0" anchor="t" bIns="0" lIns="0" spcFirstLastPara="1" rIns="0" wrap="square" tIns="0">
            <a:noAutofit/>
          </a:bodyPr>
          <a:lstStyle>
            <a:lvl1pPr indent="-228600" lvl="0" marL="457200" marR="0" rtl="0" algn="l">
              <a:lnSpc>
                <a:spcPct val="140000"/>
              </a:lnSpc>
              <a:spcBef>
                <a:spcPts val="320"/>
              </a:spcBef>
              <a:spcAft>
                <a:spcPts val="0"/>
              </a:spcAft>
              <a:buClr>
                <a:srgbClr val="1F2328"/>
              </a:buClr>
              <a:buSzPts val="1600"/>
              <a:buFont typeface="Calibri"/>
              <a:buNone/>
              <a:defRPr b="0" i="0" sz="1600" u="none" cap="none" strike="noStrike">
                <a:solidFill>
                  <a:srgbClr val="1F2328"/>
                </a:solidFill>
                <a:latin typeface="Calibri"/>
                <a:ea typeface="Calibri"/>
                <a:cs typeface="Calibri"/>
                <a:sym typeface="Calibri"/>
              </a:defRPr>
            </a:lvl1pPr>
            <a:lvl2pPr indent="-406400" lvl="1" marL="914400" marR="0" rtl="0" algn="l">
              <a:lnSpc>
                <a:spcPct val="100000"/>
              </a:lnSpc>
              <a:spcBef>
                <a:spcPts val="560"/>
              </a:spcBef>
              <a:spcAft>
                <a:spcPts val="0"/>
              </a:spcAft>
              <a:buClr>
                <a:schemeClr val="dk1"/>
              </a:buClr>
              <a:buSzPts val="2800"/>
              <a:buFont typeface="Calibri"/>
              <a:buChar char="–"/>
              <a:defRPr b="0" i="0" sz="2800" u="none" cap="none" strike="noStrike">
                <a:solidFill>
                  <a:schemeClr val="dk1"/>
                </a:solidFill>
                <a:latin typeface="Calibri"/>
                <a:ea typeface="Calibri"/>
                <a:cs typeface="Calibri"/>
                <a:sym typeface="Calibri"/>
              </a:defRPr>
            </a:lvl2pPr>
            <a:lvl3pPr indent="-381000" lvl="2" marL="1371600" marR="0" rtl="0" algn="l">
              <a:lnSpc>
                <a:spcPct val="100000"/>
              </a:lnSpc>
              <a:spcBef>
                <a:spcPts val="480"/>
              </a:spcBef>
              <a:spcAft>
                <a:spcPts val="0"/>
              </a:spcAft>
              <a:buClr>
                <a:schemeClr val="dk1"/>
              </a:buClr>
              <a:buSzPts val="2400"/>
              <a:buFont typeface="Calibri"/>
              <a:buChar char="•"/>
              <a:defRPr b="0" i="0" sz="2400" u="none" cap="none" strike="noStrike">
                <a:solidFill>
                  <a:schemeClr val="dk1"/>
                </a:solidFill>
                <a:latin typeface="Calibri"/>
                <a:ea typeface="Calibri"/>
                <a:cs typeface="Calibri"/>
                <a:sym typeface="Calibri"/>
              </a:defRPr>
            </a:lvl3pPr>
            <a:lvl4pPr indent="-355600" lvl="3" marL="1828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4pPr>
            <a:lvl5pPr indent="-355600" lvl="4" marL="22860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5pPr>
            <a:lvl6pPr indent="-355600" lvl="5" marL="27432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Calibri"/>
              <a:buChar char="•"/>
              <a:defRPr b="0" i="0" sz="20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88" name="Shape 1288"/>
        <p:cNvGrpSpPr/>
        <p:nvPr/>
      </p:nvGrpSpPr>
      <p:grpSpPr>
        <a:xfrm>
          <a:off x="0" y="0"/>
          <a:ext cx="0" cy="0"/>
          <a:chOff x="0" y="0"/>
          <a:chExt cx="0" cy="0"/>
        </a:xfrm>
      </p:grpSpPr>
      <p:sp>
        <p:nvSpPr>
          <p:cNvPr id="1289" name="Google Shape;1289;p22"/>
          <p:cNvSpPr txBox="1"/>
          <p:nvPr/>
        </p:nvSpPr>
        <p:spPr>
          <a:xfrm>
            <a:off x="813816" y="493776"/>
            <a:ext cx="10607100" cy="310800"/>
          </a:xfrm>
          <a:prstGeom prst="rect">
            <a:avLst/>
          </a:prstGeom>
          <a:noFill/>
          <a:ln>
            <a:noFill/>
          </a:ln>
        </p:spPr>
        <p:txBody>
          <a:bodyPr anchorCtr="0" anchor="ctr" bIns="0" lIns="0" spcFirstLastPara="1" rIns="0" wrap="square" tIns="0">
            <a:spAutoFit/>
          </a:bodyPr>
          <a:lstStyle/>
          <a:p>
            <a:pPr indent="0" lvl="0" marL="0" marR="0" rtl="0" algn="l">
              <a:lnSpc>
                <a:spcPct val="105000"/>
              </a:lnSpc>
              <a:spcBef>
                <a:spcPts val="0"/>
              </a:spcBef>
              <a:spcAft>
                <a:spcPts val="0"/>
              </a:spcAft>
              <a:buClr>
                <a:srgbClr val="000000"/>
              </a:buClr>
              <a:buSzPts val="1400"/>
              <a:buFont typeface="Arial"/>
              <a:buNone/>
            </a:pPr>
            <a:r>
              <a:rPr b="1" i="0" lang="en-US" sz="1400" u="none" cap="none" strike="noStrike">
                <a:solidFill>
                  <a:srgbClr val="0B6E4F"/>
                </a:solidFill>
                <a:latin typeface="Consolas"/>
                <a:ea typeface="Consolas"/>
                <a:cs typeface="Consolas"/>
                <a:sym typeface="Consolas"/>
              </a:rPr>
              <a:t>FUTURE WORK  /  FROM SCHEMAS TO INSTANCES</a:t>
            </a:r>
            <a:endParaRPr b="0" i="0" sz="1400" u="none" cap="none" strike="noStrike">
              <a:solidFill>
                <a:srgbClr val="000000"/>
              </a:solidFill>
              <a:latin typeface="Arial"/>
              <a:ea typeface="Arial"/>
              <a:cs typeface="Arial"/>
              <a:sym typeface="Arial"/>
            </a:endParaRPr>
          </a:p>
        </p:txBody>
      </p:sp>
      <p:sp>
        <p:nvSpPr>
          <p:cNvPr id="1290" name="Google Shape;1290;p22"/>
          <p:cNvSpPr txBox="1"/>
          <p:nvPr/>
        </p:nvSpPr>
        <p:spPr>
          <a:xfrm>
            <a:off x="813816" y="923544"/>
            <a:ext cx="10698600" cy="640200"/>
          </a:xfrm>
          <a:prstGeom prst="rect">
            <a:avLst/>
          </a:prstGeom>
          <a:noFill/>
          <a:ln>
            <a:noFill/>
          </a:ln>
        </p:spPr>
        <p:txBody>
          <a:bodyPr anchorCtr="0" anchor="t" bIns="0" lIns="0" spcFirstLastPara="1" rIns="0" wrap="square" tIns="0">
            <a:spAutoFit/>
          </a:bodyPr>
          <a:lstStyle/>
          <a:p>
            <a:pPr indent="0" lvl="0" marL="0" marR="0" rtl="0" algn="l">
              <a:lnSpc>
                <a:spcPct val="106000"/>
              </a:lnSpc>
              <a:spcBef>
                <a:spcPts val="0"/>
              </a:spcBef>
              <a:spcAft>
                <a:spcPts val="0"/>
              </a:spcAft>
              <a:buClr>
                <a:srgbClr val="000000"/>
              </a:buClr>
              <a:buSzPts val="3000"/>
              <a:buFont typeface="Arial"/>
              <a:buNone/>
            </a:pPr>
            <a:r>
              <a:rPr b="1" i="0" lang="en-US" sz="3000" u="none" cap="none" strike="noStrike">
                <a:solidFill>
                  <a:srgbClr val="1F2328"/>
                </a:solidFill>
                <a:latin typeface="Cambria"/>
                <a:ea typeface="Cambria"/>
                <a:cs typeface="Cambria"/>
                <a:sym typeface="Cambria"/>
              </a:rPr>
              <a:t>Next: check inside the loop, then let the data speak.</a:t>
            </a:r>
            <a:endParaRPr b="0" i="0" sz="1400" u="none" cap="none" strike="noStrike">
              <a:solidFill>
                <a:srgbClr val="000000"/>
              </a:solidFill>
              <a:latin typeface="Arial"/>
              <a:ea typeface="Arial"/>
              <a:cs typeface="Arial"/>
              <a:sym typeface="Arial"/>
            </a:endParaRPr>
          </a:p>
        </p:txBody>
      </p:sp>
      <p:sp>
        <p:nvSpPr>
          <p:cNvPr id="1291" name="Google Shape;1291;p22"/>
          <p:cNvSpPr txBox="1"/>
          <p:nvPr/>
        </p:nvSpPr>
        <p:spPr>
          <a:xfrm>
            <a:off x="822960" y="2331720"/>
            <a:ext cx="10332600" cy="329100"/>
          </a:xfrm>
          <a:prstGeom prst="rect">
            <a:avLst/>
          </a:prstGeom>
          <a:noFill/>
          <a:ln>
            <a:noFill/>
          </a:ln>
        </p:spPr>
        <p:txBody>
          <a:bodyPr anchorCtr="0" anchor="ctr" bIns="0" lIns="0" spcFirstLastPara="1" rIns="0" wrap="square" tIns="0">
            <a:spAutoFit/>
          </a:bodyPr>
          <a:lstStyle/>
          <a:p>
            <a:pPr indent="0" lvl="0" marL="0" marR="0" rtl="0" algn="l">
              <a:lnSpc>
                <a:spcPct val="106000"/>
              </a:lnSpc>
              <a:spcBef>
                <a:spcPts val="0"/>
              </a:spcBef>
              <a:spcAft>
                <a:spcPts val="0"/>
              </a:spcAft>
              <a:buClr>
                <a:srgbClr val="000000"/>
              </a:buClr>
              <a:buSzPts val="1700"/>
              <a:buFont typeface="Arial"/>
              <a:buNone/>
            </a:pPr>
            <a:r>
              <a:rPr lang="en-US" sz="1300" b="1" i="0" dirty="0">
                <a:solidFill>
                  <a:srgbClr val="0B6E4F"/>
                </a:solidFill>
                <a:latin typeface="Calibri"/>
                <a:cs typeface="Calibri"/>
              </a:rPr>
              <a:t xml:space="preserve">THEN, LET THE DATA SPEAK   </a:t>
            </a:r>
            <a:r>
              <a:rPr lang="en-US" sz="1500" b="0" i="0" dirty="0">
                <a:solidFill>
                  <a:srgbClr val="5B6770"/>
                </a:solidFill>
                <a:latin typeface="Calibri"/>
                <a:cs typeface="Calibri"/>
              </a:rPr>
              <a:t xml:space="preserve">Today </a:t>
            </a:r>
            <a:r>
              <a:rPr lang="en-US" sz="1500" b="1" i="1" dirty="0">
                <a:solidFill>
                  <a:srgbClr val="3A434C"/>
                </a:solidFill>
                <a:latin typeface="Calibri"/>
                <a:cs typeface="Calibri"/>
              </a:rPr>
              <a:t xml:space="preserve">RIGOR</a:t>
            </a:r>
            <a:r>
              <a:rPr lang="en-US" sz="1500" b="0" i="0" dirty="0">
                <a:solidFill>
                  <a:srgbClr val="5B6770"/>
                </a:solidFill>
                <a:latin typeface="Calibri"/>
                <a:cs typeface="Calibri"/>
              </a:rPr>
              <a:t xml:space="preserve"> reads </a:t>
            </a:r>
            <a:r>
              <a:rPr lang="en-US" sz="1500" b="1" i="0" dirty="0">
                <a:solidFill>
                  <a:srgbClr val="3A434C"/>
                </a:solidFill>
                <a:latin typeface="Calibri"/>
                <a:cs typeface="Calibri"/>
              </a:rPr>
              <a:t xml:space="preserve">schemas</a:t>
            </a:r>
            <a:r>
              <a:rPr lang="en-US" sz="1500" b="0" i="0" dirty="0">
                <a:solidFill>
                  <a:srgbClr val="5B6770"/>
                </a:solidFill>
                <a:latin typeface="Calibri"/>
                <a:cs typeface="Calibri"/>
              </a:rPr>
              <a:t xml:space="preserve"> and </a:t>
            </a:r>
            <a:r>
              <a:rPr lang="en-US" sz="1500" b="1" i="0" dirty="0">
                <a:solidFill>
                  <a:srgbClr val="3A434C"/>
                </a:solidFill>
                <a:latin typeface="Calibri"/>
                <a:cs typeface="Calibri"/>
              </a:rPr>
              <a:t xml:space="preserve">documentation</a:t>
            </a:r>
            <a:r>
              <a:rPr lang="en-US" sz="1500" b="0" i="0" dirty="0">
                <a:solidFill>
                  <a:srgbClr val="5B6770"/>
                </a:solidFill>
                <a:latin typeface="Calibri"/>
                <a:cs typeface="Calibri"/>
              </a:rPr>
              <a:t xml:space="preserve">. </a:t>
            </a:r>
            <a:r>
              <a:rPr lang="en-US" sz="1500" b="1" i="0" dirty="0">
                <a:solidFill>
                  <a:srgbClr val="3A434C"/>
                </a:solidFill>
                <a:latin typeface="Calibri"/>
                <a:cs typeface="Calibri"/>
              </a:rPr>
              <a:t xml:space="preserve">Instance data</a:t>
            </a:r>
            <a:r>
              <a:rPr lang="en-US" sz="1500" b="0" i="0" dirty="0">
                <a:solidFill>
                  <a:srgbClr val="5B6770"/>
                </a:solidFill>
                <a:latin typeface="Calibri"/>
                <a:cs typeface="Calibri"/>
              </a:rPr>
              <a:t xml:space="preserve"> could propose </a:t>
            </a:r>
            <a:r>
              <a:rPr lang="en-US" sz="1500" b="1" i="0" dirty="0">
                <a:solidFill>
                  <a:srgbClr val="3A434C"/>
                </a:solidFill>
                <a:latin typeface="Calibri"/>
                <a:cs typeface="Calibri"/>
              </a:rPr>
              <a:t xml:space="preserve">new knowledge</a:t>
            </a:r>
            <a:r>
              <a:rPr lang="en-US" sz="1500" b="0" i="0" dirty="0">
                <a:solidFill>
                  <a:srgbClr val="5B6770"/>
                </a:solidFill>
                <a:latin typeface="Calibri"/>
                <a:cs typeface="Calibri"/>
              </a:rPr>
              <a:t xml:space="preserve">.</a:t>
            </a:r>
          </a:p>
        </p:txBody>
      </p:sp>
      <p:sp>
        <p:nvSpPr>
          <p:cNvPr id="1292" name="Google Shape;1292;p22"/>
          <p:cNvSpPr/>
          <p:nvPr/>
        </p:nvSpPr>
        <p:spPr>
          <a:xfrm>
            <a:off x="822960" y="2761488"/>
            <a:ext cx="3017400" cy="321868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3" name="Google Shape;1293;p22"/>
          <p:cNvSpPr/>
          <p:nvPr/>
        </p:nvSpPr>
        <p:spPr>
          <a:xfrm>
            <a:off x="4224528" y="2761488"/>
            <a:ext cx="2788800" cy="321868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4" name="Google Shape;1294;p22"/>
          <p:cNvSpPr/>
          <p:nvPr/>
        </p:nvSpPr>
        <p:spPr>
          <a:xfrm>
            <a:off x="7397496" y="2761488"/>
            <a:ext cx="3941100" cy="3218688"/>
          </a:xfrm>
          <a:prstGeom prst="roundRect">
            <a:avLst>
              <a:gd fmla="val 12000" name="adj"/>
            </a:avLst>
          </a:prstGeom>
          <a:solidFill>
            <a:srgbClr val="FFFFFF"/>
          </a:solidFill>
          <a:ln cap="flat" cmpd="sng" w="9525">
            <a:solidFill>
              <a:srgbClr val="D9DEDB"/>
            </a:solidFill>
            <a:prstDash val="solid"/>
            <a:round/>
            <a:headEnd len="sm" w="sm" type="none"/>
            <a:tailEnd len="sm" w="sm" type="none"/>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5" name="Google Shape;1295;p22"/>
          <p:cNvSpPr/>
          <p:nvPr/>
        </p:nvSpPr>
        <p:spPr>
          <a:xfrm>
            <a:off x="3877048" y="4178832"/>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6" name="Google Shape;1296;p22"/>
          <p:cNvSpPr/>
          <p:nvPr/>
        </p:nvSpPr>
        <p:spPr>
          <a:xfrm>
            <a:off x="7050025" y="4178832"/>
            <a:ext cx="429600" cy="384000"/>
          </a:xfrm>
          <a:prstGeom prst="rightArrow">
            <a:avLst>
              <a:gd fmla="val 50000" name="adj1"/>
              <a:gd fmla="val 50000" name="adj2"/>
            </a:avLst>
          </a:prstGeom>
          <a:solidFill>
            <a:srgbClr val="0B6E4F"/>
          </a:solid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t/>
            </a:r>
            <a:endParaRPr b="0" i="0" sz="1400" u="none" cap="none" strike="noStrike">
              <a:solidFill>
                <a:srgbClr val="000000"/>
              </a:solidFill>
              <a:latin typeface="Arial"/>
              <a:ea typeface="Arial"/>
              <a:cs typeface="Arial"/>
              <a:sym typeface="Arial"/>
            </a:endParaRPr>
          </a:p>
        </p:txBody>
      </p:sp>
      <p:sp>
        <p:nvSpPr>
          <p:cNvPr id="1297" name="Google Shape;1297;p22"/>
          <p:cNvSpPr txBox="1"/>
          <p:nvPr/>
        </p:nvSpPr>
        <p:spPr>
          <a:xfrm>
            <a:off x="1024128" y="2926080"/>
            <a:ext cx="26517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1  INSTANCES</a:t>
            </a:r>
            <a:endParaRPr/>
          </a:p>
        </p:txBody>
      </p:sp>
      <p:sp>
        <p:nvSpPr>
          <p:cNvPr id="1298" name="Google Shape;1298;p22"/>
          <p:cNvSpPr txBox="1"/>
          <p:nvPr/>
        </p:nvSpPr>
        <p:spPr>
          <a:xfrm>
            <a:off x="1024128" y="3218688"/>
            <a:ext cx="26517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300" b="0" i="0" dirty="0">
                <a:solidFill>
                  <a:srgbClr val="5B6770"/>
                </a:solidFill>
                <a:latin typeface="Calibri"/>
                <a:cs typeface="Calibri"/>
              </a:rPr>
              <a:t xml:space="preserve">What the rows show, across two tables</a:t>
            </a:r>
          </a:p>
        </p:txBody>
      </p:sp>
      <p:sp>
        <p:nvSpPr>
          <p:cNvPr id="1306" name="Google Shape;1306;p22"/>
          <p:cNvSpPr txBox="1"/>
          <p:nvPr/>
        </p:nvSpPr>
        <p:spPr>
          <a:xfrm>
            <a:off x="4425696" y="2926080"/>
            <a:ext cx="24231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2F6B78"/>
                </a:solidFill>
                <a:latin typeface="Consolas"/>
                <a:ea typeface="Consolas"/>
                <a:cs typeface="Consolas"/>
                <a:sym typeface="Consolas"/>
              </a:rPr>
              <a:t>2  + DOCUMENTATION</a:t>
            </a:r>
            <a:endParaRPr/>
          </a:p>
        </p:txBody>
      </p:sp>
      <p:sp>
        <p:nvSpPr>
          <p:cNvPr id="1307" name="Google Shape;1307;p22"/>
          <p:cNvSpPr txBox="1"/>
          <p:nvPr/>
        </p:nvSpPr>
        <p:spPr>
          <a:xfrm>
            <a:off x="4425696" y="3218688"/>
            <a:ext cx="24231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5B6770"/>
                </a:solidFill>
                <a:latin typeface="Calibri"/>
                <a:ea typeface="Calibri"/>
                <a:cs typeface="Calibri"/>
                <a:sym typeface="Calibri"/>
              </a:rPr>
              <a:t>What the drug label says</a:t>
            </a:r>
            <a:endParaRPr/>
          </a:p>
        </p:txBody>
      </p:sp>
      <p:sp>
        <p:nvSpPr>
          <p:cNvPr id="1308" name="Google Shape;1308;p22"/>
          <p:cNvSpPr/>
          <p:nvPr/>
        </p:nvSpPr>
        <p:spPr>
          <a:xfrm>
            <a:off x="4389120" y="3584448"/>
            <a:ext cx="2459700" cy="1115700"/>
          </a:xfrm>
          <a:prstGeom prst="roundRect">
            <a:avLst>
              <a:gd fmla="val 12000" name="adj"/>
            </a:avLst>
          </a:prstGeom>
          <a:solidFill>
            <a:srgbClr val="F3F5F4"/>
          </a:solidFill>
          <a:ln>
            <a:noFill/>
          </a:ln>
        </p:spPr>
        <p:txBody>
          <a:bodyPr anchorCtr="0" anchor="ctr" bIns="0" lIns="128000" spcFirstLastPara="1" rIns="128000" wrap="square" tIns="0">
            <a:noAutofit/>
          </a:bodyPr>
          <a:lstStyle/>
          <a:p>
            <a:pPr indent="0" lvl="0" marL="0" marR="0" rtl="0" algn="l">
              <a:lnSpc>
                <a:spcPct val="100000"/>
              </a:lnSpc>
              <a:spcBef>
                <a:spcPts val="0"/>
              </a:spcBef>
              <a:spcAft>
                <a:spcPts val="0"/>
              </a:spcAft>
              <a:buNone/>
            </a:pPr>
            <a:r>
              <a:rPr b="0" i="1" lang="en-US" sz="1400" u="none" cap="none" strike="noStrike">
                <a:solidFill>
                  <a:srgbClr val="1F2328"/>
                </a:solidFill>
                <a:latin typeface="Calibri"/>
                <a:ea typeface="Calibri"/>
                <a:cs typeface="Calibri"/>
                <a:sym typeface="Calibri"/>
              </a:rPr>
              <a:t>Myelosuppression (bone-marrow suppression) is a documented adverse reaction of cisplatin.</a:t>
            </a:r>
            <a:endParaRPr/>
          </a:p>
        </p:txBody>
      </p:sp>
      <p:sp>
        <p:nvSpPr>
          <p:cNvPr id="1309" name="Google Shape;1309;p22"/>
          <p:cNvSpPr txBox="1"/>
          <p:nvPr/>
        </p:nvSpPr>
        <p:spPr>
          <a:xfrm>
            <a:off x="4425696" y="4736592"/>
            <a:ext cx="2423100" cy="201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00" u="none" cap="none" strike="noStrike">
                <a:solidFill>
                  <a:srgbClr val="5B6770"/>
                </a:solidFill>
                <a:latin typeface="Calibri"/>
                <a:ea typeface="Calibri"/>
                <a:cs typeface="Calibri"/>
                <a:sym typeface="Calibri"/>
              </a:rPr>
              <a:t>Cisplatin drug label, paraphrased</a:t>
            </a:r>
            <a:endParaRPr/>
          </a:p>
        </p:txBody>
      </p:sp>
      <p:sp>
        <p:nvSpPr>
          <p:cNvPr id="1311" name="Google Shape;1311;p22"/>
          <p:cNvSpPr txBox="1"/>
          <p:nvPr/>
        </p:nvSpPr>
        <p:spPr>
          <a:xfrm>
            <a:off x="7598664" y="2926080"/>
            <a:ext cx="3575400" cy="2742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1" i="0" lang="en-US" sz="1300" u="none" cap="none" strike="noStrike">
                <a:solidFill>
                  <a:srgbClr val="0B6E4F"/>
                </a:solidFill>
                <a:latin typeface="Consolas"/>
                <a:ea typeface="Consolas"/>
                <a:cs typeface="Consolas"/>
                <a:sym typeface="Consolas"/>
              </a:rPr>
              <a:t>3  CANDIDATE KNOWLEDGE</a:t>
            </a:r>
            <a:endParaRPr/>
          </a:p>
        </p:txBody>
      </p:sp>
      <p:sp>
        <p:nvSpPr>
          <p:cNvPr id="1312" name="Google Shape;1312;p22"/>
          <p:cNvSpPr txBox="1"/>
          <p:nvPr/>
        </p:nvSpPr>
        <p:spPr>
          <a:xfrm>
            <a:off x="7598664" y="3218688"/>
            <a:ext cx="3575400" cy="255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300" u="none" cap="none" strike="noStrike">
                <a:solidFill>
                  <a:srgbClr val="5B6770"/>
                </a:solidFill>
                <a:latin typeface="Calibri"/>
                <a:ea typeface="Calibri"/>
                <a:cs typeface="Calibri"/>
                <a:sym typeface="Calibri"/>
              </a:rPr>
              <a:t>A reviewable hypothesis, not a fact</a:t>
            </a:r>
            <a:endParaRPr/>
          </a:p>
        </p:txBody>
      </p:sp>
      <p:sp>
        <p:nvSpPr>
          <p:cNvPr id="1314" name="Google Shape;1314;p22"/>
          <p:cNvSpPr txBox="1"/>
          <p:nvPr/>
        </p:nvSpPr>
        <p:spPr>
          <a:xfrm>
            <a:off x="7598664" y="5541264"/>
            <a:ext cx="3575400" cy="384048"/>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lang="en-US" sz="1100" b="1" i="0" dirty="0">
                <a:solidFill>
                  <a:srgbClr val="B23A1E"/>
                </a:solidFill>
                <a:latin typeface="Calibri"/>
                <a:cs typeface="Calibri"/>
              </a:rPr>
              <a:t xml:space="preserve">No causal claim: </a:t>
            </a:r>
            <a:r>
              <a:rPr lang="en-US" sz="1100" b="0" i="0" dirty="0">
                <a:solidFill>
                  <a:srgbClr val="3A434C"/>
                </a:solidFill>
                <a:latin typeface="Calibri"/>
                <a:cs typeface="Calibri"/>
              </a:rPr>
              <a:t xml:space="preserve">gemcitabine, radiotherapy or cirrhosis can also suppress the marrow.</a:t>
            </a:r>
          </a:p>
        </p:txBody>
      </p:sp>
      <p:sp>
        <p:nvSpPr>
          <p:cNvPr id="1315" name="Google Shape;1315;p22"/>
          <p:cNvSpPr/>
          <p:nvPr/>
        </p:nvSpPr>
        <p:spPr>
          <a:xfrm>
            <a:off x="822960" y="1664208"/>
            <a:ext cx="10515600" cy="548640"/>
          </a:xfrm>
          <a:prstGeom prst="roundRect">
            <a:avLst>
              <a:gd fmla="val 12000" name="adj"/>
            </a:avLst>
          </a:prstGeom>
          <a:solidFill>
            <a:srgbClr val="E6F2EC"/>
          </a:solidFill>
          <a:ln>
            <a:noFill/>
          </a:ln>
        </p:spPr>
        <p:txBody>
          <a:bodyPr anchorCtr="0" anchor="ctr" bIns="0" lIns="182875" spcFirstLastPara="1" rIns="182875" wrap="square" tIns="0">
            <a:noAutofit/>
          </a:bodyPr>
          <a:lstStyle/>
          <a:p>
            <a:pPr indent="0" lvl="0" marL="0" marR="0" rtl="0" algn="l">
              <a:lnSpc>
                <a:spcPct val="100000"/>
              </a:lnSpc>
              <a:spcBef>
                <a:spcPts val="0"/>
              </a:spcBef>
              <a:spcAft>
                <a:spcPts val="0"/>
              </a:spcAft>
              <a:buNone/>
            </a:pPr>
            <a:r>
              <a:rPr lang="en-US" sz="1250" b="1" i="0" dirty="0">
                <a:solidFill>
                  <a:srgbClr val="0B6E4F"/>
                </a:solidFill>
                <a:latin typeface="Calibri"/>
                <a:cs typeface="Calibri"/>
              </a:rPr>
              <a:t xml:space="preserve">FIRST, VALIDATORS IN THE LOOP   </a:t>
            </a:r>
            <a:r>
              <a:rPr lang="en-US" sz="1250" b="0" i="0" dirty="0">
                <a:solidFill>
                  <a:srgbClr val="3A434C"/>
                </a:solidFill>
                <a:latin typeface="Calibri"/>
                <a:cs typeface="Calibri"/>
              </a:rPr>
              <a:t xml:space="preserve">Syntax, consistency and pitfall checks feed back to the Gen-LLM, as in </a:t>
            </a:r>
            <a:r>
              <a:rPr lang="en-US" sz="1250" b="1" i="0" dirty="0">
                <a:solidFill>
                  <a:srgbClr val="1F2328"/>
                </a:solidFill>
                <a:latin typeface="Calibri"/>
                <a:cs typeface="Calibri"/>
              </a:rPr>
              <a:t xml:space="preserve">NeOn-GPT</a:t>
            </a:r>
            <a:r>
              <a:rPr lang="en-US" sz="1250" b="0" i="0" dirty="0">
                <a:solidFill>
                  <a:srgbClr val="5B6770"/>
                </a:solidFill>
                <a:latin typeface="Calibri"/>
                <a:cs typeface="Calibri"/>
              </a:rPr>
              <a:t xml:space="preserve"> [Fathallah et al., ESWC 2024] and </a:t>
            </a:r>
            <a:r>
              <a:rPr lang="en-US" sz="1250" b="1" i="0" dirty="0">
                <a:solidFill>
                  <a:srgbClr val="1F2328"/>
                </a:solidFill>
                <a:latin typeface="Calibri"/>
                <a:cs typeface="Calibri"/>
              </a:rPr>
              <a:t xml:space="preserve">Extended NeOn-GPT</a:t>
            </a:r>
            <a:r>
              <a:rPr lang="en-US" sz="1250" b="0" i="0" dirty="0">
                <a:solidFill>
                  <a:srgbClr val="5B6770"/>
                </a:solidFill>
                <a:latin typeface="Calibri"/>
                <a:cs typeface="Calibri"/>
              </a:rPr>
              <a:t xml:space="preserve"> [Fathallah et al., SWJ 2026]. </a:t>
            </a:r>
            <a:r>
              <a:rPr lang="en-US" sz="1250" b="0" i="0" dirty="0">
                <a:solidFill>
                  <a:srgbClr val="3A434C"/>
                </a:solidFill>
                <a:latin typeface="Calibri"/>
                <a:cs typeface="Calibri"/>
              </a:rPr>
              <a:t xml:space="preserve">Now running in the </a:t>
            </a:r>
            <a:r>
              <a:rPr lang="en-US" sz="1250" b="1" i="0" dirty="0">
                <a:solidFill>
                  <a:srgbClr val="1F2328"/>
                </a:solidFill>
                <a:latin typeface="Calibri"/>
                <a:cs typeface="Calibri"/>
              </a:rPr>
              <a:t xml:space="preserve">RIGOR App</a:t>
            </a:r>
            <a:r>
              <a:rPr lang="en-US" sz="1250" b="0" i="0" dirty="0">
                <a:solidFill>
                  <a:srgbClr val="5B6770"/>
                </a:solidFill>
                <a:latin typeface="Calibri"/>
                <a:cs typeface="Calibri"/>
              </a:rPr>
              <a:t xml:space="preserve"> [Fathallah, Nayyeri &amp; Staab, ISWC 2026 Demos].</a:t>
            </a:r>
          </a:p>
        </p:txBody>
      </p:sp>
      <p:sp>
        <p:nvSpPr>
          <p:cNvPr id="1316" name="Google Shape;1316;p22"/>
          <p:cNvSpPr txBox="1"/>
          <p:nvPr/>
        </p:nvSpPr>
        <p:spPr>
          <a:xfrm>
            <a:off x="850392" y="6419088"/>
            <a:ext cx="10488300" cy="2376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None/>
            </a:pPr>
            <a:r>
              <a:rPr b="0" i="0" lang="en-US" sz="1050" u="none" cap="none" strike="noStrike">
                <a:solidFill>
                  <a:srgbClr val="5B6770"/>
                </a:solidFill>
                <a:latin typeface="Calibri"/>
                <a:ea typeface="Calibri"/>
                <a:cs typeface="Calibri"/>
                <a:sym typeface="Calibri"/>
              </a:rPr>
              <a:t>Instance rows are synthetic. Future directions follow paper Section 5 (instance-level signals, tool feedback, symbolic reasoning).</a:t>
            </a:r>
            <a:endParaRPr/>
          </a:p>
        </p:txBody>
      </p:sp>
      <p:sp>
        <p:nvSpPr>
          <p:cNvPr id="1317" name="Table treatment"/>
          <p:cNvSpPr/>
          <p:nvPr/>
        </p:nvSpPr>
        <p:spPr>
          <a:xfrm>
            <a:off x="987552" y="3511296"/>
            <a:ext cx="2688216" cy="1120140"/>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318" name="Table name"/>
          <p:cNvSpPr txBox="1"/>
          <p:nvPr/>
        </p:nvSpPr>
        <p:spPr>
          <a:xfrm>
            <a:off x="1124712" y="3538728"/>
            <a:ext cx="2413896" cy="246888"/>
          </a:xfrm>
          <a:prstGeom prst="rect">
            <a:avLst/>
          </a:prstGeom>
          <a:noFill/>
          <a:ln>
            <a:noFill/>
          </a:ln>
        </p:spPr>
        <p:txBody>
          <a:bodyPr wrap="square" lIns="0" tIns="0" rIns="0" bIns="0" anchor="ctr">
            <a:noAutofit/>
          </a:bodyPr>
          <a:lstStyle/>
          <a:p>
            <a:pPr algn="l"/>
            <a:r>
              <a:rPr lang="en-US" sz="1450" b="1" i="0" dirty="0">
                <a:solidFill>
                  <a:srgbClr val="1F2328"/>
                </a:solidFill>
                <a:latin typeface="Calibri"/>
                <a:cs typeface="Calibri"/>
              </a:rPr>
              <a:t xml:space="preserve">treatment</a:t>
            </a:r>
          </a:p>
        </p:txBody>
      </p:sp>
      <p:sp>
        <p:nvSpPr>
          <p:cNvPr id="1319" name="Rule"/>
          <p:cNvSpPr/>
          <p:nvPr/>
        </p:nvSpPr>
        <p:spPr>
          <a:xfrm>
            <a:off x="1124712" y="3803904"/>
            <a:ext cx="2413896" cy="10972"/>
          </a:xfrm>
          <a:prstGeom prst="rect">
            <a:avLst/>
          </a:prstGeom>
          <a:solidFill>
            <a:srgbClr val="9AA3A9"/>
          </a:solidFill>
          <a:ln>
            <a:noFill/>
          </a:ln>
        </p:spPr>
        <p:txBody>
          <a:bodyPr wrap="square" lIns="0" tIns="0" rIns="0" bIns="0" anchor="t">
            <a:noAutofit/>
          </a:bodyPr>
          <a:lstStyle/>
          <a:p>
            <a:pPr algn="l"/>
          </a:p>
        </p:txBody>
      </p:sp>
      <p:sp>
        <p:nvSpPr>
          <p:cNvPr id="1320" name="Column"/>
          <p:cNvSpPr txBox="1"/>
          <p:nvPr/>
        </p:nvSpPr>
        <p:spPr>
          <a:xfrm>
            <a:off x="1124712" y="3831335"/>
            <a:ext cx="105156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admission_id</a:t>
            </a:r>
            <a:r>
              <a:rPr lang="en-US" sz="900" b="0" i="0" dirty="0">
                <a:solidFill>
                  <a:srgbClr val="5B6770"/>
                </a:solidFill>
                <a:latin typeface="Calibri"/>
                <a:cs typeface="Calibri"/>
              </a:rPr>
              <a:t xml:space="preserve">  FK</a:t>
            </a:r>
          </a:p>
        </p:txBody>
      </p:sp>
      <p:sp>
        <p:nvSpPr>
          <p:cNvPr id="1321" name="Column"/>
          <p:cNvSpPr txBox="1"/>
          <p:nvPr/>
        </p:nvSpPr>
        <p:spPr>
          <a:xfrm>
            <a:off x="2176272" y="3831335"/>
            <a:ext cx="150876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drug</a:t>
            </a:r>
          </a:p>
        </p:txBody>
      </p:sp>
      <p:sp>
        <p:nvSpPr>
          <p:cNvPr id="1322" name="Row band"/>
          <p:cNvSpPr/>
          <p:nvPr/>
        </p:nvSpPr>
        <p:spPr>
          <a:xfrm>
            <a:off x="1060704" y="4023359"/>
            <a:ext cx="2541912" cy="173736"/>
          </a:xfrm>
          <a:prstGeom prst="rect">
            <a:avLst/>
          </a:prstGeom>
          <a:solidFill>
            <a:srgbClr val="D7EDE2"/>
          </a:solidFill>
          <a:ln>
            <a:noFill/>
          </a:ln>
        </p:spPr>
        <p:txBody>
          <a:bodyPr wrap="square" lIns="0" tIns="0" rIns="0" bIns="0" anchor="t">
            <a:noAutofit/>
          </a:bodyPr>
          <a:lstStyle/>
          <a:p>
            <a:pPr algn="l"/>
          </a:p>
        </p:txBody>
      </p:sp>
      <p:sp>
        <p:nvSpPr>
          <p:cNvPr id="1323" name="Cell"/>
          <p:cNvSpPr txBox="1"/>
          <p:nvPr/>
        </p:nvSpPr>
        <p:spPr>
          <a:xfrm>
            <a:off x="1124712" y="4023359"/>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A1</a:t>
            </a:r>
          </a:p>
        </p:txBody>
      </p:sp>
      <p:sp>
        <p:nvSpPr>
          <p:cNvPr id="1324" name="Cell"/>
          <p:cNvSpPr txBox="1"/>
          <p:nvPr/>
        </p:nvSpPr>
        <p:spPr>
          <a:xfrm>
            <a:off x="2176272" y="4023359"/>
            <a:ext cx="15087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cisplatin</a:t>
            </a:r>
          </a:p>
        </p:txBody>
      </p:sp>
      <p:sp>
        <p:nvSpPr>
          <p:cNvPr id="1325" name="Cell"/>
          <p:cNvSpPr txBox="1"/>
          <p:nvPr/>
        </p:nvSpPr>
        <p:spPr>
          <a:xfrm>
            <a:off x="1124712" y="4210812"/>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A2</a:t>
            </a:r>
          </a:p>
        </p:txBody>
      </p:sp>
      <p:sp>
        <p:nvSpPr>
          <p:cNvPr id="1326" name="Cell"/>
          <p:cNvSpPr txBox="1"/>
          <p:nvPr/>
        </p:nvSpPr>
        <p:spPr>
          <a:xfrm>
            <a:off x="2176272" y="4210812"/>
            <a:ext cx="15087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nivolumab</a:t>
            </a:r>
          </a:p>
        </p:txBody>
      </p:sp>
      <p:sp>
        <p:nvSpPr>
          <p:cNvPr id="1327" name="Row band"/>
          <p:cNvSpPr/>
          <p:nvPr/>
        </p:nvSpPr>
        <p:spPr>
          <a:xfrm>
            <a:off x="1060704" y="4398264"/>
            <a:ext cx="2541912" cy="173736"/>
          </a:xfrm>
          <a:prstGeom prst="rect">
            <a:avLst/>
          </a:prstGeom>
          <a:solidFill>
            <a:srgbClr val="D7EDE2"/>
          </a:solidFill>
          <a:ln>
            <a:noFill/>
          </a:ln>
        </p:spPr>
        <p:txBody>
          <a:bodyPr wrap="square" lIns="0" tIns="0" rIns="0" bIns="0" anchor="t">
            <a:noAutofit/>
          </a:bodyPr>
          <a:lstStyle/>
          <a:p>
            <a:pPr algn="l"/>
          </a:p>
        </p:txBody>
      </p:sp>
      <p:sp>
        <p:nvSpPr>
          <p:cNvPr id="1328" name="Cell"/>
          <p:cNvSpPr txBox="1"/>
          <p:nvPr/>
        </p:nvSpPr>
        <p:spPr>
          <a:xfrm>
            <a:off x="1124712" y="4398264"/>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A3</a:t>
            </a:r>
          </a:p>
        </p:txBody>
      </p:sp>
      <p:sp>
        <p:nvSpPr>
          <p:cNvPr id="1329" name="Cell"/>
          <p:cNvSpPr txBox="1"/>
          <p:nvPr/>
        </p:nvSpPr>
        <p:spPr>
          <a:xfrm>
            <a:off x="2176272" y="4398264"/>
            <a:ext cx="15087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cisplatin</a:t>
            </a:r>
          </a:p>
        </p:txBody>
      </p:sp>
      <p:sp>
        <p:nvSpPr>
          <p:cNvPr id="1330" name="Table admission"/>
          <p:cNvSpPr/>
          <p:nvPr/>
        </p:nvSpPr>
        <p:spPr>
          <a:xfrm>
            <a:off x="987552" y="4722876"/>
            <a:ext cx="2688216" cy="1120140"/>
          </a:xfrm>
          <a:prstGeom prst="roundRect">
            <a:avLst>
              <a:gd name="adj" fmla="val 9000"/>
            </a:avLst>
          </a:prstGeom>
          <a:solidFill>
            <a:srgbClr val="E9EEEB"/>
          </a:solidFill>
          <a:ln>
            <a:noFill/>
          </a:ln>
          <a:effectLst>
            <a:outerShdw blurRad="76200" dist="25400" dir="5400000" algn="t" rotWithShape="0">
              <a:srgbClr val="000000">
                <a:alpha val="16000"/>
              </a:srgbClr>
            </a:outerShdw>
          </a:effectLst>
        </p:spPr>
        <p:txBody>
          <a:bodyPr wrap="square" lIns="0" tIns="0" rIns="0" bIns="0" anchor="ctr">
            <a:noAutofit/>
          </a:bodyPr>
          <a:lstStyle/>
          <a:p>
            <a:endParaRPr lang="en-US"/>
          </a:p>
        </p:txBody>
      </p:sp>
      <p:sp>
        <p:nvSpPr>
          <p:cNvPr id="1331" name="Table name"/>
          <p:cNvSpPr txBox="1"/>
          <p:nvPr/>
        </p:nvSpPr>
        <p:spPr>
          <a:xfrm>
            <a:off x="1124712" y="4750308"/>
            <a:ext cx="2413896" cy="246888"/>
          </a:xfrm>
          <a:prstGeom prst="rect">
            <a:avLst/>
          </a:prstGeom>
          <a:noFill/>
          <a:ln>
            <a:noFill/>
          </a:ln>
        </p:spPr>
        <p:txBody>
          <a:bodyPr wrap="square" lIns="0" tIns="0" rIns="0" bIns="0" anchor="ctr">
            <a:noAutofit/>
          </a:bodyPr>
          <a:lstStyle/>
          <a:p>
            <a:pPr algn="l"/>
            <a:r>
              <a:rPr lang="en-US" sz="1450" b="1" i="0" dirty="0">
                <a:solidFill>
                  <a:srgbClr val="1F2328"/>
                </a:solidFill>
                <a:latin typeface="Calibri"/>
                <a:cs typeface="Calibri"/>
              </a:rPr>
              <a:t xml:space="preserve">admission</a:t>
            </a:r>
          </a:p>
        </p:txBody>
      </p:sp>
      <p:sp>
        <p:nvSpPr>
          <p:cNvPr id="1332" name="Rule"/>
          <p:cNvSpPr/>
          <p:nvPr/>
        </p:nvSpPr>
        <p:spPr>
          <a:xfrm>
            <a:off x="1124712" y="5015484"/>
            <a:ext cx="2413896" cy="10972"/>
          </a:xfrm>
          <a:prstGeom prst="rect">
            <a:avLst/>
          </a:prstGeom>
          <a:solidFill>
            <a:srgbClr val="9AA3A9"/>
          </a:solidFill>
          <a:ln>
            <a:noFill/>
          </a:ln>
        </p:spPr>
        <p:txBody>
          <a:bodyPr wrap="square" lIns="0" tIns="0" rIns="0" bIns="0" anchor="t">
            <a:noAutofit/>
          </a:bodyPr>
          <a:lstStyle/>
          <a:p>
            <a:pPr algn="l"/>
          </a:p>
        </p:txBody>
      </p:sp>
      <p:sp>
        <p:nvSpPr>
          <p:cNvPr id="1333" name="Column"/>
          <p:cNvSpPr txBox="1"/>
          <p:nvPr/>
        </p:nvSpPr>
        <p:spPr>
          <a:xfrm>
            <a:off x="1124712" y="5042916"/>
            <a:ext cx="105156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admission_id</a:t>
            </a:r>
          </a:p>
        </p:txBody>
      </p:sp>
      <p:sp>
        <p:nvSpPr>
          <p:cNvPr id="1334" name="Column"/>
          <p:cNvSpPr txBox="1"/>
          <p:nvPr/>
        </p:nvSpPr>
        <p:spPr>
          <a:xfrm>
            <a:off x="2176272" y="5042916"/>
            <a:ext cx="86868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patient_id</a:t>
            </a:r>
          </a:p>
        </p:txBody>
      </p:sp>
      <p:sp>
        <p:nvSpPr>
          <p:cNvPr id="1335" name="Column"/>
          <p:cNvSpPr txBox="1"/>
          <p:nvPr/>
        </p:nvSpPr>
        <p:spPr>
          <a:xfrm>
            <a:off x="3044952" y="5042916"/>
            <a:ext cx="640080" cy="182880"/>
          </a:xfrm>
          <a:prstGeom prst="rect">
            <a:avLst/>
          </a:prstGeom>
          <a:noFill/>
          <a:ln>
            <a:noFill/>
          </a:ln>
        </p:spPr>
        <p:txBody>
          <a:bodyPr wrap="square" lIns="0" tIns="0" rIns="0" bIns="0" anchor="ctr">
            <a:noAutofit/>
          </a:bodyPr>
          <a:lstStyle/>
          <a:p>
            <a:pPr algn="l"/>
            <a:r>
              <a:rPr lang="en-US" sz="1050" b="1" i="0" dirty="0">
                <a:solidFill>
                  <a:srgbClr val="0B6E4F"/>
                </a:solidFill>
                <a:latin typeface="Calibri"/>
                <a:cs typeface="Calibri"/>
              </a:rPr>
              <a:t xml:space="preserve">BM_DEP</a:t>
            </a:r>
          </a:p>
        </p:txBody>
      </p:sp>
      <p:sp>
        <p:nvSpPr>
          <p:cNvPr id="1336" name="Row band"/>
          <p:cNvSpPr/>
          <p:nvPr/>
        </p:nvSpPr>
        <p:spPr>
          <a:xfrm>
            <a:off x="1060704" y="5234940"/>
            <a:ext cx="2541912" cy="173736"/>
          </a:xfrm>
          <a:prstGeom prst="rect">
            <a:avLst/>
          </a:prstGeom>
          <a:solidFill>
            <a:srgbClr val="D7EDE2"/>
          </a:solidFill>
          <a:ln>
            <a:noFill/>
          </a:ln>
        </p:spPr>
        <p:txBody>
          <a:bodyPr wrap="square" lIns="0" tIns="0" rIns="0" bIns="0" anchor="t">
            <a:noAutofit/>
          </a:bodyPr>
          <a:lstStyle/>
          <a:p>
            <a:pPr algn="l"/>
          </a:p>
        </p:txBody>
      </p:sp>
      <p:sp>
        <p:nvSpPr>
          <p:cNvPr id="1337" name="Cell"/>
          <p:cNvSpPr txBox="1"/>
          <p:nvPr/>
        </p:nvSpPr>
        <p:spPr>
          <a:xfrm>
            <a:off x="1124712" y="5234940"/>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A1</a:t>
            </a:r>
          </a:p>
        </p:txBody>
      </p:sp>
      <p:sp>
        <p:nvSpPr>
          <p:cNvPr id="1338" name="Cell"/>
          <p:cNvSpPr txBox="1"/>
          <p:nvPr/>
        </p:nvSpPr>
        <p:spPr>
          <a:xfrm>
            <a:off x="2176272" y="5234940"/>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P1</a:t>
            </a:r>
          </a:p>
        </p:txBody>
      </p:sp>
      <p:sp>
        <p:nvSpPr>
          <p:cNvPr id="1339" name="Cell"/>
          <p:cNvSpPr txBox="1"/>
          <p:nvPr/>
        </p:nvSpPr>
        <p:spPr>
          <a:xfrm>
            <a:off x="3044952" y="5234940"/>
            <a:ext cx="6400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1</a:t>
            </a:r>
          </a:p>
        </p:txBody>
      </p:sp>
      <p:sp>
        <p:nvSpPr>
          <p:cNvPr id="1340" name="Cell"/>
          <p:cNvSpPr txBox="1"/>
          <p:nvPr/>
        </p:nvSpPr>
        <p:spPr>
          <a:xfrm>
            <a:off x="1124712" y="5422392"/>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A2</a:t>
            </a:r>
          </a:p>
        </p:txBody>
      </p:sp>
      <p:sp>
        <p:nvSpPr>
          <p:cNvPr id="1341" name="Cell"/>
          <p:cNvSpPr txBox="1"/>
          <p:nvPr/>
        </p:nvSpPr>
        <p:spPr>
          <a:xfrm>
            <a:off x="2176272" y="5422392"/>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P2</a:t>
            </a:r>
          </a:p>
        </p:txBody>
      </p:sp>
      <p:sp>
        <p:nvSpPr>
          <p:cNvPr id="1342" name="Cell"/>
          <p:cNvSpPr txBox="1"/>
          <p:nvPr/>
        </p:nvSpPr>
        <p:spPr>
          <a:xfrm>
            <a:off x="3044952" y="5422392"/>
            <a:ext cx="6400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0</a:t>
            </a:r>
          </a:p>
        </p:txBody>
      </p:sp>
      <p:sp>
        <p:nvSpPr>
          <p:cNvPr id="1343" name="Row band"/>
          <p:cNvSpPr/>
          <p:nvPr/>
        </p:nvSpPr>
        <p:spPr>
          <a:xfrm>
            <a:off x="1060704" y="5609844"/>
            <a:ext cx="2541912" cy="173736"/>
          </a:xfrm>
          <a:prstGeom prst="rect">
            <a:avLst/>
          </a:prstGeom>
          <a:solidFill>
            <a:srgbClr val="D7EDE2"/>
          </a:solidFill>
          <a:ln>
            <a:noFill/>
          </a:ln>
        </p:spPr>
        <p:txBody>
          <a:bodyPr wrap="square" lIns="0" tIns="0" rIns="0" bIns="0" anchor="t">
            <a:noAutofit/>
          </a:bodyPr>
          <a:lstStyle/>
          <a:p>
            <a:pPr algn="l"/>
          </a:p>
        </p:txBody>
      </p:sp>
      <p:sp>
        <p:nvSpPr>
          <p:cNvPr id="1344" name="Cell"/>
          <p:cNvSpPr txBox="1"/>
          <p:nvPr/>
        </p:nvSpPr>
        <p:spPr>
          <a:xfrm>
            <a:off x="1124712" y="5609844"/>
            <a:ext cx="105156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A3</a:t>
            </a:r>
          </a:p>
        </p:txBody>
      </p:sp>
      <p:sp>
        <p:nvSpPr>
          <p:cNvPr id="1345" name="Cell"/>
          <p:cNvSpPr txBox="1"/>
          <p:nvPr/>
        </p:nvSpPr>
        <p:spPr>
          <a:xfrm>
            <a:off x="2176272" y="5609844"/>
            <a:ext cx="8686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P3</a:t>
            </a:r>
          </a:p>
        </p:txBody>
      </p:sp>
      <p:sp>
        <p:nvSpPr>
          <p:cNvPr id="1346" name="Cell"/>
          <p:cNvSpPr txBox="1"/>
          <p:nvPr/>
        </p:nvSpPr>
        <p:spPr>
          <a:xfrm>
            <a:off x="3044952" y="5609844"/>
            <a:ext cx="640080" cy="173736"/>
          </a:xfrm>
          <a:prstGeom prst="rect">
            <a:avLst/>
          </a:prstGeom>
          <a:noFill/>
          <a:ln>
            <a:noFill/>
          </a:ln>
        </p:spPr>
        <p:txBody>
          <a:bodyPr wrap="square" lIns="0" tIns="0" rIns="0" bIns="0" anchor="ctr">
            <a:noAutofit/>
          </a:bodyPr>
          <a:lstStyle/>
          <a:p>
            <a:pPr algn="l"/>
            <a:r>
              <a:rPr lang="en-US" sz="1050" b="0" i="0" dirty="0">
                <a:solidFill>
                  <a:srgbClr val="1F2328"/>
                </a:solidFill>
                <a:latin typeface="Consolas"/>
                <a:cs typeface="Consolas"/>
              </a:rPr>
              <a:t xml:space="preserve">1</a:t>
            </a:r>
          </a:p>
        </p:txBody>
      </p:sp>
      <p:sp>
        <p:nvSpPr>
          <p:cNvPr id="1347" name="Bridge"/>
          <p:cNvSpPr txBox="1"/>
          <p:nvPr/>
        </p:nvSpPr>
        <p:spPr>
          <a:xfrm>
            <a:off x="4425696" y="5093208"/>
            <a:ext cx="2423040" cy="566928"/>
          </a:xfrm>
          <a:prstGeom prst="rect">
            <a:avLst/>
          </a:prstGeom>
          <a:noFill/>
          <a:ln>
            <a:noFill/>
          </a:ln>
        </p:spPr>
        <p:txBody>
          <a:bodyPr wrap="square" lIns="0" tIns="0" rIns="0" bIns="0" anchor="t">
            <a:noAutofit/>
          </a:bodyPr>
          <a:lstStyle/>
          <a:p>
            <a:pPr algn="l"/>
            <a:r>
              <a:rPr lang="en-US" sz="1200" b="0" i="0" dirty="0">
                <a:solidFill>
                  <a:srgbClr val="3A434C"/>
                </a:solidFill>
                <a:latin typeface="Calibri"/>
                <a:cs typeface="Calibri"/>
              </a:rPr>
              <a:t xml:space="preserve">Data and label point the same way: a link worth checking.</a:t>
            </a:r>
          </a:p>
        </p:txBody>
      </p:sp>
      <p:sp>
        <p:nvSpPr>
          <p:cNvPr id="1348" name="Code panel"/>
          <p:cNvSpPr/>
          <p:nvPr/>
        </p:nvSpPr>
        <p:spPr>
          <a:xfrm>
            <a:off x="7534656" y="3566160"/>
            <a:ext cx="3666780" cy="1883664"/>
          </a:xfrm>
          <a:prstGeom prst="roundRect">
            <a:avLst>
              <a:gd name="adj" fmla="val 9000"/>
            </a:avLst>
          </a:prstGeom>
          <a:solidFill>
            <a:srgbClr val="F6F8FA"/>
          </a:solidFill>
          <a:ln w="9525">
            <a:solidFill>
              <a:srgbClr val="D0D7DE"/>
            </a:solidFill>
          </a:ln>
        </p:spPr>
        <p:txBody>
          <a:bodyPr wrap="square" lIns="0" tIns="0" rIns="0" bIns="0" anchor="ctr">
            <a:noAutofit/>
          </a:bodyPr>
          <a:lstStyle/>
          <a:p>
            <a:endParaRPr lang="en-US"/>
          </a:p>
        </p:txBody>
      </p:sp>
      <p:sp>
        <p:nvSpPr>
          <p:cNvPr id="1349" name="Code line 1349"/>
          <p:cNvSpPr txBox="1"/>
          <p:nvPr/>
        </p:nvSpPr>
        <p:spPr>
          <a:xfrm>
            <a:off x="7534656" y="3639312"/>
            <a:ext cx="3621060" cy="173736"/>
          </a:xfrm>
          <a:prstGeom prst="rect">
            <a:avLst/>
          </a:prstGeom>
          <a:noFill/>
        </p:spPr>
        <p:txBody>
          <a:bodyPr wrap="none" lIns="146304" tIns="0" rIns="0" bIns="0" anchor="ctr">
            <a:noAutofit/>
          </a:bodyPr>
          <a:lstStyle/>
          <a:p>
            <a:pPr>
              <a:tabLst>
                <a:tab pos="4224528" algn="l"/>
              </a:tabLst>
            </a:pPr>
            <a:r>
              <a:rPr lang="en-US" sz="1050" b="1" i="0" dirty="0">
                <a:solidFill>
                  <a:srgbClr val="0B6E4F"/>
                </a:solidFill>
                <a:latin typeface="Consolas"/>
                <a:cs typeface="Consolas"/>
              </a:rPr>
              <a:t xml:space="preserve">Individual:</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cisplatin_bmdep</a:t>
            </a:r>
            <a:endParaRPr lang="en-US" sz="1050"/>
          </a:p>
        </p:txBody>
      </p:sp>
      <p:sp>
        <p:nvSpPr>
          <p:cNvPr id="1350" name="Code line 1350"/>
          <p:cNvSpPr txBox="1"/>
          <p:nvPr/>
        </p:nvSpPr>
        <p:spPr>
          <a:xfrm>
            <a:off x="7534656" y="3813048"/>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Types:</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CandidateAssociation</a:t>
            </a:r>
            <a:endParaRPr lang="en-US" sz="1050"/>
          </a:p>
        </p:txBody>
      </p:sp>
      <p:sp>
        <p:nvSpPr>
          <p:cNvPr id="1351" name="Code line 1351"/>
          <p:cNvSpPr txBox="1"/>
          <p:nvPr/>
        </p:nvSpPr>
        <p:spPr>
          <a:xfrm>
            <a:off x="7534656" y="3986784"/>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Facts:</a:t>
            </a:r>
            <a:endParaRPr lang="en-US" sz="1050"/>
          </a:p>
        </p:txBody>
      </p:sp>
      <p:sp>
        <p:nvSpPr>
          <p:cNvPr id="1352" name="Code line 1352"/>
          <p:cNvSpPr txBox="1"/>
          <p:nvPr/>
        </p:nvSpPr>
        <p:spPr>
          <a:xfrm>
            <a:off x="7534656" y="4160518"/>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hasDrug</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Cisplatin</a:t>
            </a:r>
            <a:r>
              <a:rPr lang="en-US" sz="1050" b="0" i="0" dirty="0">
                <a:solidFill>
                  <a:srgbClr val="1F2328"/>
                </a:solidFill>
                <a:latin typeface="Consolas"/>
                <a:cs typeface="Consolas"/>
              </a:rPr>
              <a:t xml:space="preserve">,</a:t>
            </a:r>
            <a:endParaRPr lang="en-US" sz="1050"/>
          </a:p>
        </p:txBody>
      </p:sp>
      <p:sp>
        <p:nvSpPr>
          <p:cNvPr id="1353" name="Code line 1353"/>
          <p:cNvSpPr txBox="1"/>
          <p:nvPr/>
        </p:nvSpPr>
        <p:spPr>
          <a:xfrm>
            <a:off x="7534656" y="4334256"/>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hasCondition</a:t>
            </a: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BoneMarrowDepression</a:t>
            </a:r>
            <a:r>
              <a:rPr lang="en-US" sz="1050" b="0" i="0" dirty="0">
                <a:solidFill>
                  <a:srgbClr val="1F2328"/>
                </a:solidFill>
                <a:latin typeface="Consolas"/>
                <a:cs typeface="Consolas"/>
              </a:rPr>
              <a:t xml:space="preserve">,</a:t>
            </a:r>
            <a:endParaRPr lang="en-US" sz="1050"/>
          </a:p>
        </p:txBody>
      </p:sp>
      <p:sp>
        <p:nvSpPr>
          <p:cNvPr id="1354" name="Code line 1354"/>
          <p:cNvSpPr txBox="1"/>
          <p:nvPr/>
        </p:nvSpPr>
        <p:spPr>
          <a:xfrm>
            <a:off x="7534656" y="4507991"/>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1F2328"/>
                </a:solidFill>
                <a:latin typeface="Consolas"/>
                <a:cs typeface="Consolas"/>
              </a:rPr>
              <a:t xml:space="preserve">status</a:t>
            </a:r>
            <a:r>
              <a:rPr lang="en-US" sz="1050" b="0" i="0" dirty="0">
                <a:solidFill>
                  <a:srgbClr val="1F2328"/>
                </a:solidFill>
                <a:latin typeface="Consolas"/>
                <a:cs typeface="Consolas"/>
              </a:rPr>
              <a:t xml:space="preserve"> </a:t>
            </a:r>
            <a:r>
              <a:rPr lang="en-US" sz="1050" b="0" i="0" dirty="0">
                <a:solidFill>
                  <a:srgbClr val="A3401E"/>
                </a:solidFill>
                <a:latin typeface="Consolas"/>
                <a:cs typeface="Consolas"/>
              </a:rPr>
              <a:t xml:space="preserve">"needs expert review"</a:t>
            </a:r>
            <a:endParaRPr lang="en-US" sz="1050"/>
          </a:p>
        </p:txBody>
      </p:sp>
      <p:sp>
        <p:nvSpPr>
          <p:cNvPr id="1355" name="Code line 1355"/>
          <p:cNvSpPr txBox="1"/>
          <p:nvPr/>
        </p:nvSpPr>
        <p:spPr>
          <a:xfrm>
            <a:off x="7534656" y="4681728"/>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1" i="0" dirty="0">
                <a:solidFill>
                  <a:srgbClr val="0B6E4F"/>
                </a:solidFill>
                <a:latin typeface="Consolas"/>
                <a:cs typeface="Consolas"/>
              </a:rPr>
              <a:t xml:space="preserve">Annotations:</a:t>
            </a:r>
            <a:endParaRPr lang="en-US" sz="1050"/>
          </a:p>
        </p:txBody>
      </p:sp>
      <p:sp>
        <p:nvSpPr>
          <p:cNvPr id="1356" name="Code line 1356"/>
          <p:cNvSpPr txBox="1"/>
          <p:nvPr/>
        </p:nvSpPr>
        <p:spPr>
          <a:xfrm>
            <a:off x="7534656" y="4855464"/>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5B6770"/>
                </a:solidFill>
                <a:latin typeface="Consolas"/>
                <a:cs typeface="Consolas"/>
              </a:rPr>
              <a:t xml:space="preserve">prov:wasDerivedFrom</a:t>
            </a:r>
            <a:r>
              <a:rPr lang="en-US" sz="1050" b="0" i="0" dirty="0">
                <a:solidFill>
                  <a:srgbClr val="1F2328"/>
                </a:solidFill>
                <a:latin typeface="Consolas"/>
                <a:cs typeface="Consolas"/>
              </a:rPr>
              <a:t xml:space="preserve"> </a:t>
            </a:r>
            <a:r>
              <a:rPr lang="en-US" sz="1050" b="0" i="0" dirty="0">
                <a:solidFill>
                  <a:srgbClr val="2F6B78"/>
                </a:solidFill>
                <a:latin typeface="Consolas"/>
                <a:cs typeface="Consolas"/>
              </a:rPr>
              <a:t xml:space="preserve">admission:BM_DEP</a:t>
            </a:r>
            <a:r>
              <a:rPr lang="en-US" sz="1050" b="0" i="0" dirty="0">
                <a:solidFill>
                  <a:srgbClr val="1F2328"/>
                </a:solidFill>
                <a:latin typeface="Consolas"/>
                <a:cs typeface="Consolas"/>
              </a:rPr>
              <a:t xml:space="preserve">,</a:t>
            </a:r>
            <a:endParaRPr lang="en-US" sz="1050"/>
          </a:p>
        </p:txBody>
      </p:sp>
      <p:sp>
        <p:nvSpPr>
          <p:cNvPr id="1357" name="Code line 1357"/>
          <p:cNvSpPr txBox="1"/>
          <p:nvPr/>
        </p:nvSpPr>
        <p:spPr>
          <a:xfrm>
            <a:off x="7534656" y="5029200"/>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5B6770"/>
                </a:solidFill>
                <a:latin typeface="Consolas"/>
                <a:cs typeface="Consolas"/>
              </a:rPr>
              <a:t xml:space="preserve">prov:wasDerivedFrom</a:t>
            </a:r>
            <a:r>
              <a:rPr lang="en-US" sz="1050" b="0" i="0" dirty="0">
                <a:solidFill>
                  <a:srgbClr val="1F2328"/>
                </a:solidFill>
                <a:latin typeface="Consolas"/>
                <a:cs typeface="Consolas"/>
              </a:rPr>
              <a:t xml:space="preserve"> </a:t>
            </a:r>
            <a:r>
              <a:rPr lang="en-US" sz="1050" b="0" i="0" dirty="0">
                <a:solidFill>
                  <a:srgbClr val="2F6B78"/>
                </a:solidFill>
                <a:latin typeface="Consolas"/>
                <a:cs typeface="Consolas"/>
              </a:rPr>
              <a:t xml:space="preserve">treatment:drug</a:t>
            </a:r>
            <a:r>
              <a:rPr lang="en-US" sz="1050" b="0" i="0" dirty="0">
                <a:solidFill>
                  <a:srgbClr val="1F2328"/>
                </a:solidFill>
                <a:latin typeface="Consolas"/>
                <a:cs typeface="Consolas"/>
              </a:rPr>
              <a:t xml:space="preserve">,</a:t>
            </a:r>
            <a:endParaRPr lang="en-US" sz="1050"/>
          </a:p>
        </p:txBody>
      </p:sp>
      <p:sp>
        <p:nvSpPr>
          <p:cNvPr id="1358" name="Code line 1358"/>
          <p:cNvSpPr txBox="1"/>
          <p:nvPr/>
        </p:nvSpPr>
        <p:spPr>
          <a:xfrm>
            <a:off x="7534656" y="5202936"/>
            <a:ext cx="3621060" cy="173736"/>
          </a:xfrm>
          <a:prstGeom prst="rect">
            <a:avLst/>
          </a:prstGeom>
          <a:noFill/>
        </p:spPr>
        <p:txBody>
          <a:bodyPr wrap="none" lIns="146304" tIns="0" rIns="0" bIns="0" anchor="ctr">
            <a:noAutofit/>
          </a:bodyPr>
          <a:lstStyle/>
          <a:p>
            <a:pPr>
              <a:tabLst>
                <a:tab pos="4224528" algn="l"/>
              </a:tabLst>
            </a:pPr>
            <a:r>
              <a:rPr lang="en-US" sz="1050" b="0" i="0" dirty="0">
                <a:solidFill>
                  <a:srgbClr val="1F2328"/>
                </a:solidFill>
                <a:latin typeface="Consolas"/>
                <a:cs typeface="Consolas"/>
              </a:rPr>
              <a:t xml:space="preserve">    </a:t>
            </a:r>
            <a:r>
              <a:rPr lang="en-US" sz="1050" b="0" i="0" dirty="0">
                <a:solidFill>
                  <a:srgbClr val="5B6770"/>
                </a:solidFill>
                <a:latin typeface="Consolas"/>
                <a:cs typeface="Consolas"/>
              </a:rPr>
              <a:t xml:space="preserve">prov:wasDerivedFrom</a:t>
            </a:r>
            <a:r>
              <a:rPr lang="en-US" sz="1050" b="0" i="0" dirty="0">
                <a:solidFill>
                  <a:srgbClr val="1F2328"/>
                </a:solidFill>
                <a:latin typeface="Consolas"/>
                <a:cs typeface="Consolas"/>
              </a:rPr>
              <a:t xml:space="preserve"> </a:t>
            </a:r>
            <a:r>
              <a:rPr lang="en-US" sz="1050" b="0" i="0" dirty="0">
                <a:solidFill>
                  <a:srgbClr val="2F6B78"/>
                </a:solidFill>
                <a:latin typeface="Consolas"/>
                <a:cs typeface="Consolas"/>
              </a:rPr>
              <a:t xml:space="preserve">doc:cisplatin_label</a:t>
            </a:r>
            <a:endParaRPr lang="en-US" sz="1050"/>
          </a:p>
        </p:txBody>
      </p:sp>
      <p:sp>
        <p:nvSpPr>
          <p:cNvPr id="1359" name="Privacy"/>
          <p:cNvSpPr txBox="1"/>
          <p:nvPr/>
        </p:nvSpPr>
        <p:spPr>
          <a:xfrm>
            <a:off x="822960" y="6053328"/>
            <a:ext cx="10515600" cy="256032"/>
          </a:xfrm>
          <a:prstGeom prst="rect">
            <a:avLst/>
          </a:prstGeom>
          <a:noFill/>
          <a:ln>
            <a:noFill/>
          </a:ln>
        </p:spPr>
        <p:txBody>
          <a:bodyPr wrap="square" lIns="0" tIns="0" rIns="0" bIns="0" anchor="ctr">
            <a:noAutofit/>
          </a:bodyPr>
          <a:lstStyle/>
          <a:p>
            <a:pPr algn="l"/>
            <a:r>
              <a:rPr lang="en-US" sz="1300" b="1" i="0" dirty="0">
                <a:solidFill>
                  <a:srgbClr val="0B6E4F"/>
                </a:solidFill>
                <a:latin typeface="Calibri"/>
                <a:cs typeface="Calibri"/>
              </a:rPr>
              <a:t xml:space="preserve">Only aggregate statistics would leave the hospital: </a:t>
            </a:r>
            <a:r>
              <a:rPr lang="en-US" sz="1300" b="0" i="0" dirty="0">
                <a:solidFill>
                  <a:srgbClr val="3A434C"/>
                </a:solidFill>
                <a:latin typeface="Calibri"/>
                <a:cs typeface="Calibri"/>
              </a:rPr>
              <a:t xml:space="preserve">patient data stays where it is.</a:t>
            </a:r>
          </a:p>
        </p:txBody>
      </p:sp>
    </p:spTree>
  </p:cSld>
  <p:clrMapOvr>
    <a:masterClrMapping/>
  </p:clrMapOvr>
</p:sld>
</file>

<file path=ppt/theme/theme1.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RIGOR · ISWC 2026 Talk">
  <a:themeElements>
    <a:clrScheme name="RIGOR · ISWC 2026 Talk">
      <a:dk1>
        <a:srgbClr val="111A28"/>
      </a:dk1>
      <a:lt1>
        <a:srgbClr val="F2F4F7"/>
      </a:lt1>
      <a:dk2>
        <a:srgbClr val="49515C"/>
      </a:dk2>
      <a:lt2>
        <a:srgbClr val="DCDEE2"/>
      </a:lt2>
      <a:accent1>
        <a:srgbClr val="2345C4"/>
      </a:accent1>
      <a:accent2>
        <a:srgbClr val="F4A261"/>
      </a:accent2>
      <a:accent3>
        <a:srgbClr val="B4561C"/>
      </a:accent3>
      <a:accent4>
        <a:srgbClr val="8FA5EB"/>
      </a:accent4>
      <a:accent5>
        <a:srgbClr val="8AA4FF"/>
      </a:accent5>
      <a:accent6>
        <a:srgbClr val="E9873A"/>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2026-10-26T00:50:16Z</dcterms:created>
</cp:coreProperties>
</file>