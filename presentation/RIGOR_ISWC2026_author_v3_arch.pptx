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91" r:id="rId45"/>
    <p:sldId id="292" r:id="rId46"/>
    <p:sldId id="293" r:id="rId47"/>
    <p:sldId id="294" r:id="rId48"/>
    <p:sldId id="295" r:id="rId49"/>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6858000" cx="12192000"/>
  <p:notesSz cx="6858000" cy="12192000"/>
  <p:embeddedFontLst>
    <p:embeddedFont>
      <p:font typeface="IBM Plex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iIhFui5hy+i4o3KOYM/gPuu+Lj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IBMPlexSans-regular.fntdata"/><Relationship Id="rId20" Type="http://schemas.openxmlformats.org/officeDocument/2006/relationships/slide" Target="slides/slide16.xml"/><Relationship Id="rId42" Type="http://schemas.openxmlformats.org/officeDocument/2006/relationships/font" Target="fonts/IBMPlexSans-italic.fntdata"/><Relationship Id="rId41" Type="http://schemas.openxmlformats.org/officeDocument/2006/relationships/font" Target="fonts/IBMPlexSans-bold.fntdata"/><Relationship Id="rId22" Type="http://schemas.openxmlformats.org/officeDocument/2006/relationships/slide" Target="slides/slide18.xml"/><Relationship Id="rId44" Type="http://customschemas.google.com/relationships/presentationmetadata" Target="metadata"/><Relationship Id="rId21" Type="http://schemas.openxmlformats.org/officeDocument/2006/relationships/slide" Target="slides/slide17.xml"/><Relationship Id="rId43" Type="http://schemas.openxmlformats.org/officeDocument/2006/relationships/font" Target="fonts/IBMPlexSans-bold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  <Relationship Id="rId45" Type="http://schemas.openxmlformats.org/officeDocument/2006/relationships/slide" Target="slides/slide36.xml"/>
  <Relationship Id="rId46" Type="http://schemas.openxmlformats.org/officeDocument/2006/relationships/slide" Target="slides/slide37.xml"/>
  <Relationship Id="rId47" Type="http://schemas.openxmlformats.org/officeDocument/2006/relationships/slide" Target="slides/slide38.xml"/>
  <Relationship Id="rId48" Type="http://schemas.openxmlformats.org/officeDocument/2006/relationships/slide" Target="slides/slide39.xml"/>
  <Relationship Id="rId49" Type="http://schemas.openxmlformats.org/officeDocument/2006/relationships/slide" Target="slides/slide4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[0:00–0:25]  SPOKEN SCRIPT (43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Good morning. I'm Nadeen Fathallah, from the University of Stuttgart. Relational databases run hospitals, banks and governments. But their schemas tell us how data is stored, not what it means. This talk is about RIGOR: turning those schemas into rich OWL ontologies, automatically.</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Calm, slow start. Do not read the author list.</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Schemas store data, not meaning.</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1.</a:t>
            </a:r>
            <a:endParaRP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[0:25–1:07]  SPOKEN SCRIPT (74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Imagine you inherit this clinical database. Admission points to PatientData through a foreign key. That link is clear. But look at the columns. What is BM_DEP? What does an ECOG stage of three mean? The schema cannot tell you. Yet these meanings are exactly what ontology-based access, knowledge graphs and data integration need. So our problem is not reading the SQL. It is recovering the domain meaning, while keeping the structure we can trust.</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Point at the FK arrow, then BM_DEP, then ecog_stage. Let the questions hang for a second.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The schema knows storage and links, not clinical meaning.</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Illustrative table assembled from examples in paper Sections 3.2 and 3.4.</a:t>
            </a:r>
            <a:endParaRPr/>
          </a:p>
        </p:txBody>
      </p:sp>
      <p:sp>
        <p:nvSpPr>
          <p:cNvPr id="74" name="Google Shape;74;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4e1cd23050cdd6e6_1_2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h4e1cd23050cdd6e6_1_2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[1:07–1:59]  SPOKEN SCRIPT (91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Here is what we want. [click] First, what the schema alone gives us: Admission becomes a class with a real relation to PatientData, and every property points back to its source column. [click] The documentation adds human-readable labels: Bone Marrow Depression, ECOG Performance Status. [click] A standard vocabulary adds a link to the Disease Ontology. [click] And the LLM's own knowledge adds what the ECOG codes mean, and that an admission is not a patient. [click] That is a usable semantic model. The challenge is to add all this without losing a single column or link.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Five clicks, one per knowledge source: schema, documentation, Disease Ontology, LLM knowledge, then 'What this enables'. The gloss colours match the sources.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A usable model combines schema, documentation, standard vocabularies and LLM knowledge.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Illustrative fragment, verified with the OWL API at every reveal step (presentation/excerpts/slide03_*.omn). obo:DOID_4961 = Disease Ontology 'bone marrow disease'; skos:relatedMatch, not exactMatch, because BM_DEP is a yes/no column, not the disease. Provenance is column-level, as defined in paper Section 3.2.</a:t>
            </a:r>
            <a:endParaRPr/>
          </a:p>
        </p:txBody>
      </p:sp>
      <p:sp>
        <p:nvSpPr>
          <p:cNvPr id="123" name="Google Shape;123;h4e1cd23050cdd6e6_1_2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h4e1cd23050cdd6e6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h4e1cd23050cdd6e6_1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[1:07–1:59]  SPOKEN SCRIPT (91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Here is what we want. [click] First, what the schema alone gives us: Admission becomes a class with a real relation to PatientData, and every property points back to its source column. [click] The documentation adds human-readable labels: Bone Marrow Depression, ECOG Performance Status. [click] A standard vocabulary adds a link to the Disease Ontology. [click] And the LLM's own knowledge adds what the ECOG codes mean, and that an admission is not a patient. [click] That is a usable semantic model. The challenge is to add all this without losing a single column or link.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Five clicks, one per knowledge source: schema, documentation, Disease Ontology, LLM knowledge, then 'What this enables'. The gloss colours match the sources.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A usable model combines schema, documentation, standard vocabularies and LLM knowledge.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Illustrative fragment, verified with the OWL API at every reveal step (presentation/excerpts/slide03_*.omn). obo:DOID_4961 = Disease Ontology 'bone marrow disease'; skos:relatedMatch, not exactMatch, because BM_DEP is a yes/no column, not the disease. Provenance is column-level, as defined in paper Section 3.2.</a:t>
            </a:r>
            <a:endParaRPr/>
          </a:p>
        </p:txBody>
      </p:sp>
      <p:sp>
        <p:nvSpPr>
          <p:cNvPr id="147" name="Google Shape;147;h4e1cd23050cdd6e6_1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h4e1cd23050cdd6e6_1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h4e1cd23050cdd6e6_1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[1:07–1:59]  SPOKEN SCRIPT (91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Here is what we want. [click] First, what the schema alone gives us: Admission becomes a class with a real relation to PatientData, and every property points back to its source column. [click] The documentation adds human-readable labels: Bone Marrow Depression, ECOG Performance Status. [click] A standard vocabulary adds a link to the Disease Ontology. [click] And the LLM's own knowledge adds what the ECOG codes mean, and that an admission is not a patient. [click] That is a usable semantic model. The challenge is to add all this without losing a single column or link.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Five clicks, one per knowledge source: schema, documentation, Disease Ontology, LLM knowledge, then 'What this enables'. The gloss colours match the sources.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A usable model combines schema, documentation, standard vocabularies and LLM knowledge.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Illustrative fragment, verified with the OWL API at every reveal step (presentation/excerpts/slide03_*.omn). obo:DOID_4961 = Disease Ontology 'bone marrow disease'; skos:relatedMatch, not exactMatch, because BM_DEP is a yes/no column, not the disease. Provenance is column-level, as defined in paper Section 3.2.</a:t>
            </a:r>
            <a:endParaRPr/>
          </a:p>
        </p:txBody>
      </p:sp>
      <p:sp>
        <p:nvSpPr>
          <p:cNvPr id="196" name="Google Shape;196;h4e1cd23050cdd6e6_1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4e1cd23050cdd6e6_1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h4e1cd23050cdd6e6_1_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[1:07–1:59]  SPOKEN SCRIPT (91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Here is what we want. [click] First, what the schema alone gives us: Admission becomes a class with a real relation to PatientData, and every property points back to its source column. [click] The documentation adds human-readable labels: Bone Marrow Depression, ECOG Performance Status. [click] A standard vocabulary adds a link to the Disease Ontology. [click] And the LLM's own knowledge adds what the ECOG codes mean, and that an admission is not a patient. [click] That is a usable semantic model. The challenge is to add all this without losing a single column or link.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Five clicks, one per knowledge source: schema, documentation, Disease Ontology, LLM knowledge, then 'What this enables'. The gloss colours match the sources.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A usable model combines schema, documentation, standard vocabularies and LLM knowledge.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Illustrative fragment, verified with the OWL API at every reveal step (presentation/excerpts/slide03_*.omn). obo:DOID_4961 = Disease Ontology 'bone marrow disease'; skos:relatedMatch, not exactMatch, because BM_DEP is a yes/no column, not the disease. Provenance is column-level, as defined in paper Section 3.2.</a:t>
            </a:r>
            <a:endParaRPr/>
          </a:p>
        </p:txBody>
      </p:sp>
      <p:sp>
        <p:nvSpPr>
          <p:cNvPr id="249" name="Google Shape;249;h4e1cd23050cdd6e6_1_1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h4e1cd23050cdd6e6_1_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h4e1cd23050cdd6e6_1_1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[1:07–1:59]  SPOKEN SCRIPT (91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Here is what we want. [click] First, what the schema alone gives us: Admission becomes a class with a real relation to PatientData, and every property points back to its source column. [click] The documentation adds human-readable labels: Bone Marrow Depression, ECOG Performance Status. [click] A standard vocabulary adds a link to the Disease Ontology. [click] And the LLM's own knowledge adds what the ECOG codes mean, and that an admission is not a patient. [click] That is a usable semantic model. The challenge is to add all this without losing a single column or link.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Five clicks, one per knowledge source: schema, documentation, Disease Ontology, LLM knowledge, then 'What this enables'. The gloss colours match the sources.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A usable model combines schema, documentation, standard vocabularies and LLM knowledge.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Illustrative fragment, verified with the OWL API at every reveal step (presentation/excerpts/slide03_*.omn). obo:DOID_4961 = Disease Ontology 'bone marrow disease'; skos:relatedMatch, not exactMatch, because BM_DEP is a yes/no column, not the disease. Provenance is column-level, as defined in paper Section 3.2.</a:t>
            </a:r>
            <a:endParaRPr/>
          </a:p>
        </p:txBody>
      </p:sp>
      <p:sp>
        <p:nvSpPr>
          <p:cNvPr id="304" name="Google Shape;304;h4e1cd23050cdd6e6_1_1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h4e1cd23050cdd6e6_1_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h4e1cd23050cdd6e6_1_2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[1:07–1:59]  SPOKEN SCRIPT (91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Here is what we want. [click] First, what the schema alone gives us: Admission becomes a class with a real relation to PatientData, and every property points back to its source column. [click] The documentation adds human-readable labels: Bone Marrow Depression, ECOG Performance Status. [click] A standard vocabulary adds a link to the Disease Ontology. [click] And the LLM's own knowledge adds what the ECOG codes mean, and that an admission is not a patient. [click] That is a usable semantic model. The challenge is to add all this without losing a single column or link.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Five clicks, one per knowledge source: schema, documentation, Disease Ontology, LLM knowledge, then 'What this enables'. The gloss colours match the sources.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A usable model combines schema, documentation, standard vocabularies and LLM knowledge.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Illustrative fragment, verified with the OWL API at every reveal step (presentation/excerpts/slide03_*.omn). obo:DOID_4961 = Disease Ontology 'bone marrow disease'; skos:relatedMatch, not exactMatch, because BM_DEP is a yes/no column, not the disease. Provenance is column-level, as defined in paper Section 3.2.</a:t>
            </a:r>
            <a:endParaRPr/>
          </a:p>
        </p:txBody>
      </p:sp>
      <p:sp>
        <p:nvSpPr>
          <p:cNvPr id="360" name="Google Shape;360;h4e1cd23050cdd6e6_1_2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[1:48–2:26]  SPOKEN SCRIPT (66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Existing work solves half of this. Schema-first rules, like direct mapping, preserve the structure: every table, column and foreign key. But they add no domain meaning. LLMs can suggest meaning: labels, concepts, relations. But they omit columns, or model keys wrongly. So our question is: can we keep schema fidelity and add domain semantics, across a whole database, with no expert in the loop during generation?</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Left card, right card, then land on the question.</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Rules keep structure; LLMs suggest meaning; we need both.</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Sections 1-2.</a:t>
            </a:r>
            <a:endParaRPr/>
          </a:p>
        </p:txBody>
      </p:sp>
      <p:sp>
        <p:nvSpPr>
          <p:cNvPr id="418" name="Google Shape;418;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[2:26–2:50]  SPOKEN SCRIPT (42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Our answer is RIGOR. It builds the ontology one table at a time, in six steps: order, seed, retrieve, generate, validate, merge. And as a preview: experts ranked it first in seventy percent of their rankings. Let's build it on our example.</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Sweep along the six steps. Point at the result preview once.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Six steps, one table at a time.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3.1, Fig. 1; preview from Table 1.</a:t>
            </a:r>
            <a:endParaRPr/>
          </a:p>
        </p:txBody>
      </p:sp>
      <p:sp>
        <p:nvSpPr>
          <p:cNvPr id="442" name="Google Shape;442;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[2:50–3:22]  SPOKEN SCRIPT (56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Step one: order. Admission points to PatientData, so we build PatientData first. In general, RIGOR follows the foreign keys breadth-first: a table is processed once the tables it references are done. Why? By the time we reach Admission, PatientData already exists in our ontology. So we reuse that class, instead of inventing a second, incompatible one.</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Follow the FK arrow, then the processing order.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Parents first, so later tables reuse known classes.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Sections 3.1-3.2 (FK-guided breadth-first order).</a:t>
            </a:r>
            <a:endParaRPr/>
          </a:p>
        </p:txBody>
      </p:sp>
      <p:sp>
        <p:nvSpPr>
          <p:cNvPr id="485" name="Google Shape;485;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[3:22–3:59]  SPOKEN SCRIPT (66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Step two: seed. Before any LLM is involved, a deterministic direct mapping turns the table into OWL. Admission becomes a class. The foreign key becomes an object property, and every admission must have a patient. Each column becomes a data property with its XSD type. This seed covers every column of the cleaned table, by construction. So the LLM's job is to enrich, not to invent.</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Read the glosses: 'each has a patient', 'the FK becomes a link'.</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A deterministic seed guarantees coverage before the LLM starts.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Paper Section 3.2. The guarantee holds for the seed; final coverage is reported later.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IF RUNNING LATE, DROP: "So the LLM's job is to enrich, not to invent."</a:t>
            </a:r>
            <a:endParaRPr/>
          </a:p>
        </p:txBody>
      </p:sp>
      <p:sp>
        <p:nvSpPr>
          <p:cNvPr id="527" name="Google Shape;527;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h2627160d5792b11b_0_5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 name="Google Shape;563;h2627160d5792b11b_0_5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[3:59–4:41]  SPOKEN SCRIPT (73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seed is faithful, but it still doesn't say what BM_DEP means. So step three retrieves context from three sources. Documentation explains cryptic names and codes. External domain ontologies suggest established concepts. And the third source is the distinctive one: the ontology we have built so far. Earlier tables become evidence for the next. One query per table, built from its name, columns and foreign keys, retrieves the top three matches per source.</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Walk the three cards; slow down on the growing core.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sources supply meaning; the growing core is unique to RIGOR.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3.3 (all-MiniLM-L6-v2, Faiss, k = 3 per source).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RUNNING LATE, DROP: "One query per table, built from its name, columns and foreign keys, retrieves the top three matches per source."</a:t>
            </a:r>
            <a:endParaRPr/>
          </a:p>
        </p:txBody>
      </p:sp>
      <p:sp>
        <p:nvSpPr>
          <p:cNvPr id="564" name="Google Shape;564;h2627160d5792b11b_0_5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h2627160d5792b11b_0_5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h2627160d5792b11b_0_5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[3:59–4:41]  SPOKEN SCRIPT (73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seed is faithful, but it still doesn't say what BM_DEP means. So step three retrieves context from three sources. Documentation explains cryptic names and codes. External domain ontologies suggest established concepts. And the third source is the distinctive one: the ontology we have built so far. Earlier tables become evidence for the next. One query per table, built from its name, columns and foreign keys, retrieves the top three matches per source.</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Walk the three cards; slow down on the growing core.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sources supply meaning; the growing core is unique to RIGOR.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3.3 (all-MiniLM-L6-v2, Faiss, k = 3 per source).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RUNNING LATE, DROP: "One query per table, built from its name, columns and foreign keys, retrieves the top three matches per source."</a:t>
            </a:r>
            <a:endParaRPr/>
          </a:p>
        </p:txBody>
      </p:sp>
      <p:sp>
        <p:nvSpPr>
          <p:cNvPr id="592" name="Google Shape;592;h2627160d5792b11b_0_5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h2627160d5792b11b_0_5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h2627160d5792b11b_0_5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[3:59–4:41]  SPOKEN SCRIPT (73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seed is faithful, but it still doesn't say what BM_DEP means. So step three retrieves context from three sources. Documentation explains cryptic names and codes. External domain ontologies suggest established concepts. And the third source is the distinctive one: the ontology we have built so far. Earlier tables become evidence for the next. One query per table, built from its name, columns and foreign keys, retrieves the top three matches per source.</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Walk the three cards; slow down on the growing core.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sources supply meaning; the growing core is unique to RIGOR.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3.3 (all-MiniLM-L6-v2, Faiss, k = 3 per source).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RUNNING LATE, DROP: "One query per table, built from its name, columns and foreign keys, retrieves the top three matches per source."</a:t>
            </a:r>
            <a:endParaRPr/>
          </a:p>
        </p:txBody>
      </p:sp>
      <p:sp>
        <p:nvSpPr>
          <p:cNvPr id="628" name="Google Shape;628;h2627160d5792b11b_0_5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h2627160d5792b11b_0_6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1" name="Google Shape;671;h2627160d5792b11b_0_6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[3:59–4:41]  SPOKEN SCRIPT (73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seed is faithful, but it still doesn't say what BM_DEP means. So step three retrieves context from three sources. Documentation explains cryptic names and codes. External domain ontologies suggest established concepts. And the third source is the distinctive one: the ontology we have built so far. Earlier tables become evidence for the next. One query per table, built from its name, columns and foreign keys, retrieves the top three matches per source.</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Walk the three cards; slow down on the growing core.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sources supply meaning; the growing core is unique to RIGOR.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3.3 (all-MiniLM-L6-v2, Faiss, k = 3 per source).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RUNNING LATE, DROP: "One query per table, built from its name, columns and foreign keys, retrieves the top three matches per source."</a:t>
            </a:r>
            <a:endParaRPr/>
          </a:p>
        </p:txBody>
      </p:sp>
      <p:sp>
        <p:nvSpPr>
          <p:cNvPr id="672" name="Google Shape;672;h2627160d5792b11b_0_6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h3b1f15762288d989_1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h3b1f15762288d989_1_1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[4:52–5:48]  SPOKEN SCRIPT (98 words)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Step four: generate. We prompt the Gen-LLM with the direct mapping from step two, the retrieved context and our enrichment instructions. What comes back is a delta ontology: the same lines as on the left, with new ones inserted into the gaps. The tags show where each change came from. The foreign key becomes the named relation hasPatientData, and provenance links each property to its column: both from the schema. The labels come from the documentation, the link to bone marrow disease from the Disease Ontology, and the disjointness and the ECOG scale from the model's own knowledge.</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PRESENTER / POINTER: Left to right on one row, then down the highlighted lines and their tags.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AUDIENCE TAKEAWAY: The LLM enriches a grounded draft, and every addition is traceable.</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SOURCE AND SCOPE: Paper Sections 3.2-3.4. Row-aligned BEFORE/AFTER, both verified with the OWL API.</a:t>
            </a:r>
            <a:endParaRPr/>
          </a:p>
        </p:txBody>
      </p:sp>
      <p:sp>
        <p:nvSpPr>
          <p:cNvPr id="718" name="Google Shape;718;h3b1f15762288d989_1_1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h4e1cd23050cdd6e6_1_3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h4e1cd23050cdd6e6_1_3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[4:52–5:48]  SPOKEN SCRIPT (98 words)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Step four: generate. We prompt the Gen-LLM with the direct mapping from step two, the retrieved context and our enrichment instructions. What comes back is a delta ontology: the same lines as on the left, with new ones inserted into the gaps. The tags show where each change came from. The foreign key becomes the named relation hasPatientData, and provenance links each property to its column: both from the schema. The labels come from the documentation, the link to bone marrow disease from the Disease Ontology, and the disjointness and the ECOG scale from the model's own knowledge.</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PRESENTER / POINTER: Left to right on one row, then down the highlighted lines and their tags.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AUDIENCE TAKEAWAY: The LLM enriches a grounded draft, and every addition is traceable.</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SOURCE AND SCOPE: Paper Sections 3.2-3.4. Row-aligned BEFORE/AFTER, both verified with the OWL API.</a:t>
            </a:r>
            <a:endParaRPr/>
          </a:p>
        </p:txBody>
      </p:sp>
      <p:sp>
        <p:nvSpPr>
          <p:cNvPr id="763" name="Google Shape;763;h4e1cd23050cdd6e6_1_3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h3b1f15762288d989_2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5" name="Google Shape;845;h3b1f15762288d989_2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[5:22–6:25]  SPOKEN SCRIPT (110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 capable LLM rarely gets syntax wrong. The real risk is a fragment that looks right but clashes with the ontology built so far. So step five validates every delta before it is merged. On the left, the model names the target class Patient, although the core already has PatientData. That is valid OWL, but now two classes mean the same thing. The Judge-LLM sees the core and asks to reuse it. On the right, a later table reuses hasPatientData with a second domain. OWL then infers that every lab result is an admission. Rule-based graph checks catch this. Failed fragments go back for correction, with up to two retries.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Left, right, then the correction strip.</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The Judge catches clashes in meaning; rules catch clashes in structure.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Paper Section 3.5 (Judge criterion 9: core ontology consistency; graph check: domain/range cardinality). Two domains = OOPS! pitfall P19, still reported in 3/9 RIGOR runs (Table 7). Examples verified with the OWL API (presentation/excerpts/slide10_*.omn).</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IF ASKED: P19 is exactly the error that sometimes still slips through (3 of 9 runs); feeding validator output back into generation is our next step (slide 22).</a:t>
            </a:r>
            <a:endParaRPr/>
          </a:p>
        </p:txBody>
      </p:sp>
      <p:sp>
        <p:nvSpPr>
          <p:cNvPr id="846" name="Google Shape;846;h3b1f15762288d989_2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h3b1f15762288d989_2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1" name="Google Shape;871;h3b1f15762288d989_2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[5:22–6:25]  SPOKEN SCRIPT (110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 capable LLM rarely gets syntax wrong. The real risk is a fragment that looks right but clashes with the ontology built so far. So step five validates every delta before it is merged. On the left, the model names the target class Patient, although the core already has PatientData. That is valid OWL, but now two classes mean the same thing. The Judge-LLM sees the core and asks to reuse it. On the right, a later table reuses hasPatientData with a second domain. OWL then infers that every lab result is an admission. Rule-based graph checks catch this. Failed fragments go back for correction, with up to two retries.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Left, right, then the correction strip.</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The Judge catches clashes in meaning; rules catch clashes in structure.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Paper Section 3.5 (Judge criterion 9: core ontology consistency; graph check: domain/range cardinality). Two domains = OOPS! pitfall P19, still reported in 3/9 RIGOR runs (Table 7). Examples verified with the OWL API (presentation/excerpts/slide10_*.omn).</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IF ASKED: P19 is exactly the error that sometimes still slips through (3 of 9 runs); feeding validator output back into generation is our next step (slide 22).</a:t>
            </a:r>
            <a:endParaRPr/>
          </a:p>
        </p:txBody>
      </p:sp>
      <p:sp>
        <p:nvSpPr>
          <p:cNvPr id="872" name="Google Shape;872;h3b1f15762288d989_2_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h3b1f15762288d989_2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4" name="Google Shape;904;h3b1f15762288d989_2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[5:22–6:25]  SPOKEN SCRIPT (110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 capable LLM rarely gets syntax wrong. The real risk is a fragment that looks right but clashes with the ontology built so far. So step five validates every delta before it is merged. On the left, the model names the target class Patient, although the core already has PatientData. That is valid OWL, but now two classes mean the same thing. The Judge-LLM sees the core and asks to reuse it. On the right, a later table reuses hasPatientData with a second domain. OWL then infers that every lab result is an admission. Rule-based graph checks catch this. Failed fragments go back for correction, with up to two retries.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Left, right, then the correction strip.</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The Judge catches clashes in meaning; rules catch clashes in structure.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Paper Section 3.5 (Judge criterion 9: core ontology consistency; graph check: domain/range cardinality). Two domains = OOPS! pitfall P19, still reported in 3/9 RIGOR runs (Table 7). Examples verified with the OWL API (presentation/excerpts/slide10_*.omn).</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IF ASKED: P19 is exactly the error that sometimes still slips through (3 of 9 runs); feeding validator output back into generation is our next step (slide 22).</a:t>
            </a:r>
            <a:endParaRPr/>
          </a:p>
        </p:txBody>
      </p:sp>
      <p:sp>
        <p:nvSpPr>
          <p:cNvPr id="905" name="Google Shape;905;h3b1f15762288d989_2_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0" name="Google Shape;940;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[6:25–6:53]  SPOKEN SCRIPT (49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Step six: merge. The validated delta joins the core ontology. Because RIGOR reuses identifiers, this is a simple union of axioms. And here is the loop. The expanded ontology becomes a retrieval source for the next table. RIGOR never starts from scratch: each table builds on the ones before.</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Core plus delta, then the arrow back to retrieval.</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The ontology is both the output and the next input.</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3.6.</a:t>
            </a:r>
            <a:endParaRPr/>
          </a:p>
        </p:txBody>
      </p:sp>
      <p:sp>
        <p:nvSpPr>
          <p:cNvPr id="941" name="Google Shape;941;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[7:33–7:44]  SPOKEN SCRIPT (20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And the validated delta is merged into the core, which feeds retrieval for the next table. That loop is RIGOR.</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Trace the green return arrow from (i) back to (e).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Merge, and loop.</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Paper Fig. 1(i).</a:t>
            </a:r>
            <a:endParaRPr/>
          </a:p>
        </p:txBody>
      </p:sp>
      <p:sp>
        <p:nvSpPr>
          <p:cNvPr id="984" name="Google Shape;984;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2" name="Google Shape;1092;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[7:44–8:19]  SPOKEN SCRIPT (62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Does this work beyond one example? We tested three databases: a private liver-cancer registry, the large eICU intensive-care schema, and Chinook, a music store, as a second domain. Three generator LLMs. And four methods: direct mapping, a zero-shot LLM, single-pass retrieval, and RIGOR. That gives thirty ontologies, judged by quality checks, an independent evaluation judge, ten human experts, and the BURR benchmark.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Datasets, then the four methods. Do not read every number.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databases, three LLMs, four methods, four kinds of evidence.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Sections 4.1-4.6. 30 ontologies = 3 LLMs x 3 methods x 3 databases + 3 direct mappings.</a:t>
            </a:r>
            <a:endParaRPr/>
          </a:p>
        </p:txBody>
      </p:sp>
      <p:sp>
        <p:nvSpPr>
          <p:cNvPr id="1093" name="Google Shape;1093;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1" name="Google Shape;1141;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[8:19–9:14]  SPOKEN SCRIPT (88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First result: does RIGOR add meaning without losing structure? This table shows what each method's ontologies contain. Direct mapping keeps the columns, but adds no labels, no hierarchy, no provenance. Single-pass retrieval adds labels, but it drops columns: in one run it kept only six percent. [pause] RIGOR is the only method with class hierarchies and provenance in all nine runs, while keeping seventy-seven to one hundred percent of the columns. And it has the fewest modeling pitfalls in every like-for-like comparison: zero on Chinook, with all three LLMs. [pause]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Point at Non-Iterative's 0.06 first; read the RIGOR row last.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Only RIGOR adds hierarchy and provenance and still keeps the schema.</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Paper Tables 7, 8, 9. Coverage is an embedding-based proxy; Direct Mapping is complete by construction. Like-for-like = same database and same LLM. Disjointness (1/9 runs) is left for Q&amp;A.</a:t>
            </a:r>
            <a:endParaRPr/>
          </a:p>
        </p:txBody>
      </p:sp>
      <p:sp>
        <p:nvSpPr>
          <p:cNvPr id="1142" name="Google Shape;1142;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0" name="Google Shape;1200;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[9:14–10:18]  SPOKEN SCRIPT (112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Second: is the link back to the data real? We checked with BURR, an external benchmark for ontology learning from relational databases. BURR asks every system for a mapping: which table becomes a class, which foreign key a relation, which column an attribute. Two elements match when they map to the same database elements, whatever they are called. BURR scores this against a gold mapping, with F1 per element type. RIGOR's provenance gives us this mapping directly; we export it as D2RQ. On BURR's ISWC scenario, RIGOR has the highest F1 for classes, relations and attributes among the compared ontology-learning systems, including both rule-based ones. So enrichment did not cost us fidelity.</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Left card first, then land on the RIGOR row.</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Semantic enrichment did not break the correspondence that OBDA and KG population need.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Paper Table 13. BURR = Laskowski et al., PACMMOD 2025; matching rule from BURR Section 4, Eq. 3. Left-card element names are illustrative.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IF RUNNING LATE, DROP: "Two elements match when they map to the same database elements, whatever they are called."</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DO NOT SAY: 'BURR found LLMs trail rule-based systems'. BURR's results show Gemini 2.5 Pro ahead of the rule-based systems overall (rule-based systems win only on NPD).</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IF ASKED ABOUT GEMINI 2.5 PRO (BURR Table 3, ISWC .65 / .68 / .56): in BURR it is a general-purpose LLM prompted with few-shot examples and a checklist to write the D2RQ mapping directly. It is a mapping generator, not an ontology-learning system that builds an enriched ontology, so we compare with ontology-learning systems. Against it, RIGOR's class F1 is higher, relations are on par, attributes lower, and RIGOR also produces labels, hierarchy and provenance. It is prompted, not fine-tuned.</a:t>
            </a:r>
            <a:endParaRPr/>
          </a:p>
        </p:txBody>
      </p:sp>
      <p:sp>
        <p:nvSpPr>
          <p:cNvPr id="1201" name="Google Shape;1201;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3" name="Google Shape;1253;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[10:18–11:05]  SPOKEN SCRIPT (80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Finally, the most important question: do people prefer it? Ten ontology experts compared anonymized fragments for four medical tables, and ranked them. RIGOR came first in twenty-eight of forty rankings. [pause] That is seventy percent. Their agreement was statistically significant, with Kendall's W between 0.39 and 0.72. An independent LLM judge, GPT-5.4, then ranked Claude's fragments for all fifty-eight tables, against five competency questions each. It put RIGOR first on every table. The expert sample is small, but both signals agree.</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Pause on 70%. Then the bars, then the LLM-judge strip.</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Human experts and an independent LLM judge both prefer RIGOR.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Tables 1 and 12. LLM judge: Claude outputs only, 290 competency questions.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RUNNING LATE, DROP: "Their agreement was statistically significant, with Kendall's W between 0.39 and 0.72."</a:t>
            </a:r>
            <a:endParaRPr/>
          </a:p>
        </p:txBody>
      </p:sp>
      <p:sp>
        <p:nvSpPr>
          <p:cNvPr id="1254" name="Google Shape;1254;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6" name="Google Shape;1286;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[11:05–12:00]  SPOKEN SCRIPT (96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Where next? Today RIGOR reads schemas and documentation. The next step is to let the data speak. Imagine several patients whose records show bone marrow depression after cisplatin cycles. The rows alone show a pattern. The drug label adds that bone-marrow suppression is a known adverse reaction of cisplatin. Together, they let RIGOR propose new knowledge: a candidate association between cisplatin and bone marrow depression, with provenance to both sources. Candidate, not cause. Gemcitabine, radiotherapy or cirrhosis could also explain it. So an expert reviews it. We also want validator and reasoner feedback inside the loop.</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Rows, label, code, left to right. Say 'candidate' or 'may have contributed', never 'caused'.</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Instances plus documentation can propose knowledge; experts confirm it.</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5. Rows are synthetic. OWL verified (presentation/excerpts/slide22_future_candidate.omn): a typed individual with provenance, no causal axiom.</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RUNNING LATE, DROP: "We also want validator and reasoner feedback inside the loop."</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ASKED WHY NOT AN OWL CAUSAL AXIOM: OWL reasoning is deductive and open-world; it cannot derive causation from statistics, and 'Cisplatin SubClassOf causes some BoneMarrowDepression' would wrongly claim it for every case.</a:t>
            </a:r>
            <a:endParaRPr/>
          </a:p>
        </p:txBody>
      </p:sp>
      <p:sp>
        <p:nvSpPr>
          <p:cNvPr id="1287" name="Google Shape;1287;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9" name="Google Shape;1319;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[12:00–12:33]  SPOKEN SCRIPT (57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To conclude. RIGOR anchors LLM generation in the database itself, grounds it in retrieved knowledge, and checks every step before the ontology grows. The result: meaning without losing structure, the link to the data intact, and ontologies that experts prefer. The paper and code are behind these QR codes. Thank you. I'm happy to take your questions.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Finish speaking by 13:30. Leave this slide up during questions; backups follow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Grounded, retrieved, validated.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Recap of the paper; contact address on the slide.</a:t>
            </a:r>
            <a:endParaRPr/>
          </a:p>
        </p:txBody>
      </p:sp>
      <p:sp>
        <p:nvSpPr>
          <p:cNvPr id="1320" name="Google Shape;1320;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p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2" name="Google Shape;134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p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6" name="Google Shape;139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p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6" name="Google Shape;150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p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0" name="Google Shape;156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8" name="Shape 1638"/>
        <p:cNvGrpSpPr/>
        <p:nvPr/>
      </p:nvGrpSpPr>
      <p:grpSpPr>
        <a:xfrm>
          <a:off x="0" y="0"/>
          <a:ext cx="0" cy="0"/>
          <a:chOff x="0" y="0"/>
          <a:chExt cx="0" cy="0"/>
        </a:xfrm>
      </p:grpSpPr>
      <p:sp>
        <p:nvSpPr>
          <p:cNvPr id="1639" name="Google Shape;1639;p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0" name="Google Shape;164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p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2" name="Google Shape;166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[7:19–7:29]  SPOKEN SCRIPT (18 words)</a:t>
            </a:r>
          </a:p>
          <a:p>
            <a:r>
              <a:rPr b="0" i="0" lang="en-US" sz="1200" u="none" cap="none" strike="noStrike">
                <a:solidFill>
                  <a:schemeClr val="dk1"/>
                </a:solidFill>
                <a:latin typeface="IBM Plex Sans"/>
                <a:ea typeface="IBM Plex Sans"/>
                <a:cs typeface="IBM Plex Sans"/>
                <a:sym typeface="IBM Plex Sans"/>
              </a:rPr>
              <a:t>Let me put the pieces together, as in the paper's Figure 1. First, the schema decides the order.</a:t>
            </a:r>
          </a:p>
          <a:p/>
          <a:p>
            <a:r>
              <a:rPr b="0" i="0" lang="en-US" sz="1200" u="none" cap="none" strike="noStrike">
                <a:solidFill>
                  <a:schemeClr val="dk1"/>
                </a:solidFill>
                <a:latin typeface="IBM Plex Sans"/>
                <a:ea typeface="IBM Plex Sans"/>
                <a:cs typeface="IBM Plex Sans"/>
                <a:sym typeface="IBM Plex Sans"/>
              </a:rPr>
              <a:t>PRESENTER / POINTER: Quick click. Reconnect, do not re-explain.</a:t>
            </a:r>
          </a:p>
          <a:p>
            <a:r>
              <a:rPr b="0" i="0" lang="en-US" sz="1200" u="none" cap="none" strike="noStrike">
                <a:solidFill>
                  <a:schemeClr val="dk1"/>
                </a:solidFill>
                <a:latin typeface="IBM Plex Sans"/>
                <a:ea typeface="IBM Plex Sans"/>
                <a:cs typeface="IBM Plex Sans"/>
                <a:sym typeface="IBM Plex Sans"/>
              </a:rPr>
              <a:t>AUDIENCE TAKEAWAY: Order.</a:t>
            </a:r>
          </a:p>
          <a:p>
            <a:r>
              <a:rPr b="0" i="0" lang="en-US" sz="1200" u="none" cap="none" strike="noStrike">
                <a:solidFill>
                  <a:schemeClr val="dk1"/>
                </a:solidFill>
                <a:latin typeface="IBM Plex Sans"/>
                <a:ea typeface="IBM Plex Sans"/>
                <a:cs typeface="IBM Plex Sans"/>
                <a:sym typeface="IBM Plex Sans"/>
              </a:rPr>
              <a:t>SOURCE AND SCOPE: Paper Fig. 1(a).</a:t>
            </a:r>
          </a:p>
        </p:txBody>
      </p:sp>
      <p:sp>
        <p:nvSpPr>
          <p:cNvPr id="984" name="Google Shape;984;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[7:29–7:37]  SPOKEN SCRIPT (14 words)</a:t>
            </a:r>
          </a:p>
          <a:p>
            <a:r>
              <a:rPr b="0" i="0" lang="en-US" sz="1200" u="none" cap="none" strike="noStrike">
                <a:solidFill>
                  <a:schemeClr val="dk1"/>
                </a:solidFill>
                <a:latin typeface="IBM Plex Sans"/>
                <a:ea typeface="IBM Plex Sans"/>
                <a:cs typeface="IBM Plex Sans"/>
                <a:sym typeface="IBM Plex Sans"/>
              </a:rPr>
              <a:t>Each table then gets its deterministic seed: the structural anchor for everything that follows.</a:t>
            </a:r>
          </a:p>
          <a:p/>
          <a:p>
            <a:r>
              <a:rPr b="0" i="0" lang="en-US" sz="1200" u="none" cap="none" strike="noStrike">
                <a:solidFill>
                  <a:schemeClr val="dk1"/>
                </a:solidFill>
                <a:latin typeface="IBM Plex Sans"/>
                <a:ea typeface="IBM Plex Sans"/>
                <a:cs typeface="IBM Plex Sans"/>
                <a:sym typeface="IBM Plex Sans"/>
              </a:rPr>
              <a:t>PRESENTER / POINTER: Quick click.</a:t>
            </a:r>
          </a:p>
          <a:p>
            <a:r>
              <a:rPr b="0" i="0" lang="en-US" sz="1200" u="none" cap="none" strike="noStrike">
                <a:solidFill>
                  <a:schemeClr val="dk1"/>
                </a:solidFill>
                <a:latin typeface="IBM Plex Sans"/>
                <a:ea typeface="IBM Plex Sans"/>
                <a:cs typeface="IBM Plex Sans"/>
                <a:sym typeface="IBM Plex Sans"/>
              </a:rPr>
              <a:t>AUDIENCE TAKEAWAY: Seed.</a:t>
            </a:r>
          </a:p>
          <a:p>
            <a:r>
              <a:rPr b="0" i="0" lang="en-US" sz="1200" u="none" cap="none" strike="noStrike">
                <a:solidFill>
                  <a:schemeClr val="dk1"/>
                </a:solidFill>
                <a:latin typeface="IBM Plex Sans"/>
                <a:ea typeface="IBM Plex Sans"/>
                <a:cs typeface="IBM Plex Sans"/>
                <a:sym typeface="IBM Plex Sans"/>
              </a:rPr>
              <a:t>SOURCE AND SCOPE: Paper Fig. 1(b).</a:t>
            </a:r>
          </a:p>
        </p:txBody>
      </p:sp>
      <p:sp>
        <p:nvSpPr>
          <p:cNvPr id="984" name="Google Shape;984;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[7:37–7:46]  SPOKEN SCRIPT (15 words)</a:t>
            </a:r>
          </a:p>
          <a:p>
            <a:r>
              <a:rPr b="0" i="0" lang="en-US" sz="1200" u="none" cap="none" strike="noStrike">
                <a:solidFill>
                  <a:schemeClr val="dk1"/>
                </a:solidFill>
                <a:latin typeface="IBM Plex Sans"/>
                <a:ea typeface="IBM Plex Sans"/>
                <a:cs typeface="IBM Plex Sans"/>
                <a:sym typeface="IBM Plex Sans"/>
              </a:rPr>
              <a:t>Three retrieval channels add meaning: external ontologies, documentation, and the core ontology built so far.</a:t>
            </a:r>
          </a:p>
          <a:p/>
          <a:p>
            <a:r>
              <a:rPr b="0" i="0" lang="en-US" sz="1200" u="none" cap="none" strike="noStrike">
                <a:solidFill>
                  <a:schemeClr val="dk1"/>
                </a:solidFill>
                <a:latin typeface="IBM Plex Sans"/>
                <a:ea typeface="IBM Plex Sans"/>
                <a:cs typeface="IBM Plex Sans"/>
                <a:sym typeface="IBM Plex Sans"/>
              </a:rPr>
              <a:t>PRESENTER / POINTER: Quick click.</a:t>
            </a:r>
          </a:p>
          <a:p>
            <a:r>
              <a:rPr b="0" i="0" lang="en-US" sz="1200" u="none" cap="none" strike="noStrike">
                <a:solidFill>
                  <a:schemeClr val="dk1"/>
                </a:solidFill>
                <a:latin typeface="IBM Plex Sans"/>
                <a:ea typeface="IBM Plex Sans"/>
                <a:cs typeface="IBM Plex Sans"/>
                <a:sym typeface="IBM Plex Sans"/>
              </a:rPr>
              <a:t>AUDIENCE TAKEAWAY: Retrieve.</a:t>
            </a:r>
          </a:p>
          <a:p>
            <a:r>
              <a:rPr b="0" i="0" lang="en-US" sz="1200" u="none" cap="none" strike="noStrike">
                <a:solidFill>
                  <a:schemeClr val="dk1"/>
                </a:solidFill>
                <a:latin typeface="IBM Plex Sans"/>
                <a:ea typeface="IBM Plex Sans"/>
                <a:cs typeface="IBM Plex Sans"/>
                <a:sym typeface="IBM Plex Sans"/>
              </a:rPr>
              <a:t>SOURCE AND SCOPE: Paper Fig. 1(c-e).</a:t>
            </a:r>
          </a:p>
        </p:txBody>
      </p:sp>
      <p:sp>
        <p:nvSpPr>
          <p:cNvPr id="984" name="Google Shape;984;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[7:46–7:51]  SPOKEN SCRIPT (10 words)</a:t>
            </a:r>
          </a:p>
          <a:p>
            <a:r>
              <a:rPr b="0" i="0" lang="en-US" sz="1200" u="none" cap="none" strike="noStrike">
                <a:solidFill>
                  <a:schemeClr val="dk1"/>
                </a:solidFill>
                <a:latin typeface="IBM Plex Sans"/>
                <a:ea typeface="IBM Plex Sans"/>
                <a:cs typeface="IBM Plex Sans"/>
                <a:sym typeface="IBM Plex Sans"/>
              </a:rPr>
              <a:t>The Gen-LLM combines seed and context into a delta ontology.</a:t>
            </a:r>
          </a:p>
          <a:p/>
          <a:p>
            <a:r>
              <a:rPr b="0" i="0" lang="en-US" sz="1200" u="none" cap="none" strike="noStrike">
                <a:solidFill>
                  <a:schemeClr val="dk1"/>
                </a:solidFill>
                <a:latin typeface="IBM Plex Sans"/>
                <a:ea typeface="IBM Plex Sans"/>
                <a:cs typeface="IBM Plex Sans"/>
                <a:sym typeface="IBM Plex Sans"/>
              </a:rPr>
              <a:t>PRESENTER / POINTER: Quick click.</a:t>
            </a:r>
          </a:p>
          <a:p>
            <a:r>
              <a:rPr b="0" i="0" lang="en-US" sz="1200" u="none" cap="none" strike="noStrike">
                <a:solidFill>
                  <a:schemeClr val="dk1"/>
                </a:solidFill>
                <a:latin typeface="IBM Plex Sans"/>
                <a:ea typeface="IBM Plex Sans"/>
                <a:cs typeface="IBM Plex Sans"/>
                <a:sym typeface="IBM Plex Sans"/>
              </a:rPr>
              <a:t>AUDIENCE TAKEAWAY: Generate.</a:t>
            </a:r>
          </a:p>
          <a:p>
            <a:r>
              <a:rPr b="0" i="0" lang="en-US" sz="1200" u="none" cap="none" strike="noStrike">
                <a:solidFill>
                  <a:schemeClr val="dk1"/>
                </a:solidFill>
                <a:latin typeface="IBM Plex Sans"/>
                <a:ea typeface="IBM Plex Sans"/>
                <a:cs typeface="IBM Plex Sans"/>
                <a:sym typeface="IBM Plex Sans"/>
              </a:rPr>
              <a:t>SOURCE AND SCOPE: Paper Fig. 1(f-g).</a:t>
            </a:r>
          </a:p>
        </p:txBody>
      </p:sp>
      <p:sp>
        <p:nvSpPr>
          <p:cNvPr id="984" name="Google Shape;984;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[7:51–7:58]  SPOKEN SCRIPT (12 words)</a:t>
            </a:r>
          </a:p>
          <a:p>
            <a:r>
              <a:rPr b="0" i="0" lang="en-US" sz="1200" u="none" cap="none" strike="noStrike">
                <a:solidFill>
                  <a:schemeClr val="dk1"/>
                </a:solidFill>
                <a:latin typeface="IBM Plex Sans"/>
                <a:ea typeface="IBM Plex Sans"/>
                <a:cs typeface="IBM Plex Sans"/>
                <a:sym typeface="IBM Plex Sans"/>
              </a:rPr>
              <a:t>A Judge-LLM and rule-based checks validate the delta before it can join.</a:t>
            </a:r>
          </a:p>
          <a:p/>
          <a:p>
            <a:r>
              <a:rPr b="0" i="0" lang="en-US" sz="1200" u="none" cap="none" strike="noStrike">
                <a:solidFill>
                  <a:schemeClr val="dk1"/>
                </a:solidFill>
                <a:latin typeface="IBM Plex Sans"/>
                <a:ea typeface="IBM Plex Sans"/>
                <a:cs typeface="IBM Plex Sans"/>
                <a:sym typeface="IBM Plex Sans"/>
              </a:rPr>
              <a:t>PRESENTER / POINTER: Quick click.</a:t>
            </a:r>
          </a:p>
          <a:p>
            <a:r>
              <a:rPr b="0" i="0" lang="en-US" sz="1200" u="none" cap="none" strike="noStrike">
                <a:solidFill>
                  <a:schemeClr val="dk1"/>
                </a:solidFill>
                <a:latin typeface="IBM Plex Sans"/>
                <a:ea typeface="IBM Plex Sans"/>
                <a:cs typeface="IBM Plex Sans"/>
                <a:sym typeface="IBM Plex Sans"/>
              </a:rPr>
              <a:t>AUDIENCE TAKEAWAY: Validate.</a:t>
            </a:r>
          </a:p>
          <a:p>
            <a:r>
              <a:rPr b="0" i="0" lang="en-US" sz="1200" u="none" cap="none" strike="noStrike">
                <a:solidFill>
                  <a:schemeClr val="dk1"/>
                </a:solidFill>
                <a:latin typeface="IBM Plex Sans"/>
                <a:ea typeface="IBM Plex Sans"/>
                <a:cs typeface="IBM Plex Sans"/>
                <a:sym typeface="IBM Plex Sans"/>
              </a:rPr>
              <a:t>SOURCE AND SCOPE: Paper Fig. 1(h).</a:t>
            </a:r>
          </a:p>
        </p:txBody>
      </p:sp>
      <p:sp>
        <p:nvSpPr>
          <p:cNvPr id="984" name="Google Shape;984;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FFFFF"/>
        </a:solidFill>
      </p:bgPr>
    </p:bg>
    <p:spTree>
      <p:nvGrpSpPr>
        <p:cNvPr id="12" name="Shape 12"/>
        <p:cNvGrpSpPr/>
        <p:nvPr/>
      </p:nvGrpSpPr>
      <p:grpSpPr>
        <a:xfrm>
          <a:off x="0" y="0"/>
          <a:ext cx="0" cy="0"/>
          <a:chOff x="0" y="0"/>
          <a:chExt cx="0" cy="0"/>
        </a:xfrm>
      </p:grpSpPr>
      <p:sp>
        <p:nvSpPr>
          <p:cNvPr id="13" name="Google Shape;13;p25"/>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2328"/>
              </a:buClr>
              <a:buSzPts val="2800"/>
              <a:buFont typeface="Calibri"/>
              <a:buNone/>
              <a:defRPr sz="2800">
                <a:solidFill>
                  <a:srgbClr val="1F232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5"/>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2328"/>
              </a:buClr>
              <a:buSzPts val="1600"/>
              <a:buNone/>
              <a:defRPr sz="1600">
                <a:solidFill>
                  <a:srgbClr val="1F2328"/>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2328"/>
              </a:buClr>
              <a:buSzPts val="2800"/>
              <a:buFont typeface="Calibri"/>
              <a:buNone/>
              <a:defRPr b="0" i="0" sz="2800" u="none" cap="none" strike="noStrike">
                <a:solidFill>
                  <a:srgbClr val="1F232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9pPr>
          </a:lstStyle>
          <a:p/>
        </p:txBody>
      </p:sp>
      <p:sp>
        <p:nvSpPr>
          <p:cNvPr id="11" name="Google Shape;11;p24"/>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2328"/>
              </a:buClr>
              <a:buSzPts val="1600"/>
              <a:buFont typeface="Calibri"/>
              <a:buNone/>
              <a:defRPr b="0" i="0" sz="1600" u="none" cap="none" strike="noStrike">
                <a:solidFill>
                  <a:srgbClr val="1F2328"/>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6.png"/><Relationship Id="rIdNotes"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6.png"/><Relationship Id="rIdNotes"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6.png"/><Relationship Id="rIdNotes"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6.png"/><Relationship Id="rIdNotes"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6.png"/><Relationship Id="rIdNotes"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 name="Shape 20"/>
        <p:cNvGrpSpPr/>
        <p:nvPr/>
      </p:nvGrpSpPr>
      <p:grpSpPr>
        <a:xfrm>
          <a:off x="0" y="0"/>
          <a:ext cx="0" cy="0"/>
          <a:chOff x="0" y="0"/>
          <a:chExt cx="0" cy="0"/>
        </a:xfrm>
      </p:grpSpPr>
      <p:sp>
        <p:nvSpPr>
          <p:cNvPr id="21" name="Google Shape;21;p1"/>
          <p:cNvSpPr/>
          <p:nvPr/>
        </p:nvSpPr>
        <p:spPr>
          <a:xfrm>
            <a:off x="8092440" y="0"/>
            <a:ext cx="4099200" cy="6858000"/>
          </a:xfrm>
          <a:prstGeom prst="rect">
            <a:avLst/>
          </a:prstGeom>
          <a:solidFill>
            <a:srgbClr val="FAFBF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 name="Google Shape;22;p1"/>
          <p:cNvSpPr/>
          <p:nvPr/>
        </p:nvSpPr>
        <p:spPr>
          <a:xfrm>
            <a:off x="836676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 name="Google Shape;23;p1"/>
          <p:cNvSpPr/>
          <p:nvPr/>
        </p:nvSpPr>
        <p:spPr>
          <a:xfrm>
            <a:off x="864108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 name="Google Shape;24;p1"/>
          <p:cNvSpPr/>
          <p:nvPr/>
        </p:nvSpPr>
        <p:spPr>
          <a:xfrm>
            <a:off x="891540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 name="Google Shape;25;p1"/>
          <p:cNvSpPr/>
          <p:nvPr/>
        </p:nvSpPr>
        <p:spPr>
          <a:xfrm>
            <a:off x="918972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 name="Google Shape;26;p1"/>
          <p:cNvSpPr/>
          <p:nvPr/>
        </p:nvSpPr>
        <p:spPr>
          <a:xfrm>
            <a:off x="946404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 name="Google Shape;27;p1"/>
          <p:cNvSpPr/>
          <p:nvPr/>
        </p:nvSpPr>
        <p:spPr>
          <a:xfrm>
            <a:off x="973836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 name="Google Shape;28;p1"/>
          <p:cNvSpPr/>
          <p:nvPr/>
        </p:nvSpPr>
        <p:spPr>
          <a:xfrm>
            <a:off x="1001268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 name="Google Shape;29;p1"/>
          <p:cNvSpPr/>
          <p:nvPr/>
        </p:nvSpPr>
        <p:spPr>
          <a:xfrm>
            <a:off x="1028700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 name="Google Shape;30;p1"/>
          <p:cNvSpPr/>
          <p:nvPr/>
        </p:nvSpPr>
        <p:spPr>
          <a:xfrm>
            <a:off x="1056132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 name="Google Shape;31;p1"/>
          <p:cNvSpPr/>
          <p:nvPr/>
        </p:nvSpPr>
        <p:spPr>
          <a:xfrm>
            <a:off x="1083564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 name="Google Shape;32;p1"/>
          <p:cNvSpPr/>
          <p:nvPr/>
        </p:nvSpPr>
        <p:spPr>
          <a:xfrm>
            <a:off x="1110996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 name="Google Shape;33;p1"/>
          <p:cNvSpPr/>
          <p:nvPr/>
        </p:nvSpPr>
        <p:spPr>
          <a:xfrm>
            <a:off x="1138428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 name="Google Shape;34;p1"/>
          <p:cNvSpPr/>
          <p:nvPr/>
        </p:nvSpPr>
        <p:spPr>
          <a:xfrm>
            <a:off x="1165860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 name="Google Shape;35;p1"/>
          <p:cNvSpPr/>
          <p:nvPr/>
        </p:nvSpPr>
        <p:spPr>
          <a:xfrm>
            <a:off x="1193292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 name="Google Shape;36;p1"/>
          <p:cNvSpPr/>
          <p:nvPr/>
        </p:nvSpPr>
        <p:spPr>
          <a:xfrm>
            <a:off x="8092440" y="27432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 name="Google Shape;37;p1"/>
          <p:cNvSpPr/>
          <p:nvPr/>
        </p:nvSpPr>
        <p:spPr>
          <a:xfrm>
            <a:off x="8092440" y="54864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 name="Google Shape;38;p1"/>
          <p:cNvSpPr/>
          <p:nvPr/>
        </p:nvSpPr>
        <p:spPr>
          <a:xfrm>
            <a:off x="8092440" y="82295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 name="Google Shape;39;p1"/>
          <p:cNvSpPr/>
          <p:nvPr/>
        </p:nvSpPr>
        <p:spPr>
          <a:xfrm>
            <a:off x="8092440" y="109728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 name="Google Shape;40;p1"/>
          <p:cNvSpPr/>
          <p:nvPr/>
        </p:nvSpPr>
        <p:spPr>
          <a:xfrm>
            <a:off x="8092440" y="137160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 name="Google Shape;41;p1"/>
          <p:cNvSpPr/>
          <p:nvPr/>
        </p:nvSpPr>
        <p:spPr>
          <a:xfrm>
            <a:off x="8092440" y="164592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 name="Google Shape;42;p1"/>
          <p:cNvSpPr/>
          <p:nvPr/>
        </p:nvSpPr>
        <p:spPr>
          <a:xfrm>
            <a:off x="8092440" y="192024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 name="Google Shape;43;p1"/>
          <p:cNvSpPr/>
          <p:nvPr/>
        </p:nvSpPr>
        <p:spPr>
          <a:xfrm>
            <a:off x="8092440" y="219456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 name="Google Shape;44;p1"/>
          <p:cNvSpPr/>
          <p:nvPr/>
        </p:nvSpPr>
        <p:spPr>
          <a:xfrm>
            <a:off x="8092440" y="246887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 name="Google Shape;45;p1"/>
          <p:cNvSpPr/>
          <p:nvPr/>
        </p:nvSpPr>
        <p:spPr>
          <a:xfrm>
            <a:off x="8092440" y="274319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 name="Google Shape;46;p1"/>
          <p:cNvSpPr/>
          <p:nvPr/>
        </p:nvSpPr>
        <p:spPr>
          <a:xfrm>
            <a:off x="8092440" y="301751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 name="Google Shape;47;p1"/>
          <p:cNvSpPr/>
          <p:nvPr/>
        </p:nvSpPr>
        <p:spPr>
          <a:xfrm>
            <a:off x="8092440" y="329183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 name="Google Shape;48;p1"/>
          <p:cNvSpPr/>
          <p:nvPr/>
        </p:nvSpPr>
        <p:spPr>
          <a:xfrm>
            <a:off x="8092440" y="356615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 name="Google Shape;49;p1"/>
          <p:cNvSpPr/>
          <p:nvPr/>
        </p:nvSpPr>
        <p:spPr>
          <a:xfrm>
            <a:off x="8092440" y="384047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 name="Google Shape;50;p1"/>
          <p:cNvSpPr/>
          <p:nvPr/>
        </p:nvSpPr>
        <p:spPr>
          <a:xfrm>
            <a:off x="8092440" y="411479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 name="Google Shape;51;p1"/>
          <p:cNvSpPr/>
          <p:nvPr/>
        </p:nvSpPr>
        <p:spPr>
          <a:xfrm>
            <a:off x="8092440" y="438911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 name="Google Shape;52;p1"/>
          <p:cNvSpPr/>
          <p:nvPr/>
        </p:nvSpPr>
        <p:spPr>
          <a:xfrm>
            <a:off x="8092440" y="466343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 name="Google Shape;53;p1"/>
          <p:cNvSpPr/>
          <p:nvPr/>
        </p:nvSpPr>
        <p:spPr>
          <a:xfrm>
            <a:off x="8092440" y="493775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 name="Google Shape;54;p1"/>
          <p:cNvSpPr/>
          <p:nvPr/>
        </p:nvSpPr>
        <p:spPr>
          <a:xfrm>
            <a:off x="8092440" y="521207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 name="Google Shape;55;p1"/>
          <p:cNvSpPr/>
          <p:nvPr/>
        </p:nvSpPr>
        <p:spPr>
          <a:xfrm>
            <a:off x="8092440" y="548639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 name="Google Shape;56;p1"/>
          <p:cNvSpPr/>
          <p:nvPr/>
        </p:nvSpPr>
        <p:spPr>
          <a:xfrm>
            <a:off x="8092440" y="576071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 name="Google Shape;57;p1"/>
          <p:cNvSpPr/>
          <p:nvPr/>
        </p:nvSpPr>
        <p:spPr>
          <a:xfrm>
            <a:off x="8092440" y="603503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8092440" y="630935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 name="Google Shape;59;p1"/>
          <p:cNvSpPr/>
          <p:nvPr/>
        </p:nvSpPr>
        <p:spPr>
          <a:xfrm>
            <a:off x="8092440" y="658367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 name="Google Shape;60;p1"/>
          <p:cNvSpPr txBox="1"/>
          <p:nvPr/>
        </p:nvSpPr>
        <p:spPr>
          <a:xfrm>
            <a:off x="795528" y="566928"/>
            <a:ext cx="67665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RESEARCH PAPER</a:t>
            </a:r>
            <a:endParaRPr b="0" i="0" sz="1400" u="none" cap="none" strike="noStrike">
              <a:solidFill>
                <a:srgbClr val="000000"/>
              </a:solidFill>
              <a:latin typeface="Arial"/>
              <a:ea typeface="Arial"/>
              <a:cs typeface="Arial"/>
              <a:sym typeface="Arial"/>
            </a:endParaRPr>
          </a:p>
        </p:txBody>
      </p:sp>
      <p:sp>
        <p:nvSpPr>
          <p:cNvPr id="61" name="Google Shape;61;p1"/>
          <p:cNvSpPr txBox="1"/>
          <p:nvPr/>
        </p:nvSpPr>
        <p:spPr>
          <a:xfrm>
            <a:off x="795528" y="1938528"/>
            <a:ext cx="6949500" cy="1481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Retrieval-Augmented</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Generation of Ontologies</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from Relational Databases</a:t>
            </a:r>
            <a:endParaRPr b="0" i="0" sz="3000" u="none" cap="none" strike="noStrike">
              <a:solidFill>
                <a:srgbClr val="000000"/>
              </a:solidFill>
              <a:latin typeface="Arial"/>
              <a:ea typeface="Arial"/>
              <a:cs typeface="Arial"/>
              <a:sym typeface="Arial"/>
            </a:endParaRPr>
          </a:p>
        </p:txBody>
      </p:sp>
      <p:sp>
        <p:nvSpPr>
          <p:cNvPr id="62" name="Google Shape;62;p1"/>
          <p:cNvSpPr txBox="1"/>
          <p:nvPr/>
        </p:nvSpPr>
        <p:spPr>
          <a:xfrm>
            <a:off x="795528" y="6053328"/>
            <a:ext cx="6949500" cy="274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250"/>
              <a:buFont typeface="Arial"/>
              <a:buNone/>
            </a:pPr>
            <a:r>
              <a:rPr b="1" i="0" lang="en-US" sz="1250" u="none" cap="none" strike="noStrike">
                <a:solidFill>
                  <a:srgbClr val="5B6770"/>
                </a:solidFill>
                <a:latin typeface="Consolas"/>
                <a:ea typeface="Consolas"/>
                <a:cs typeface="Consolas"/>
                <a:sym typeface="Consolas"/>
              </a:rPr>
              <a:t>PAPER  </a:t>
            </a:r>
            <a:r>
              <a:rPr b="0" i="0" lang="en-US" sz="1250" u="none" cap="none" strike="noStrike">
                <a:solidFill>
                  <a:srgbClr val="2F6B78"/>
                </a:solidFill>
                <a:latin typeface="Consolas"/>
                <a:ea typeface="Consolas"/>
                <a:cs typeface="Consolas"/>
                <a:sym typeface="Consolas"/>
              </a:rPr>
              <a:t>arXiv:2506.01232</a:t>
            </a:r>
            <a:r>
              <a:rPr b="1" i="0" lang="en-US" sz="1250" u="none" cap="none" strike="noStrike">
                <a:solidFill>
                  <a:srgbClr val="5B6770"/>
                </a:solidFill>
                <a:latin typeface="Consolas"/>
                <a:ea typeface="Consolas"/>
                <a:cs typeface="Consolas"/>
                <a:sym typeface="Consolas"/>
              </a:rPr>
              <a:t>        CODE  </a:t>
            </a:r>
            <a:r>
              <a:rPr b="0" i="0" lang="en-US" sz="1250" u="none" cap="none" strike="noStrike">
                <a:solidFill>
                  <a:srgbClr val="2F6B78"/>
                </a:solidFill>
                <a:latin typeface="Consolas"/>
                <a:ea typeface="Consolas"/>
                <a:cs typeface="Consolas"/>
                <a:sym typeface="Consolas"/>
              </a:rPr>
              <a:t>github.com/NadeenAhmad/RIGOR</a:t>
            </a:r>
            <a:endParaRPr b="0" i="0" sz="1250" u="none" cap="none" strike="noStrike">
              <a:solidFill>
                <a:srgbClr val="1F2328"/>
              </a:solidFill>
              <a:latin typeface="Arial"/>
              <a:ea typeface="Arial"/>
              <a:cs typeface="Arial"/>
              <a:sym typeface="Arial"/>
            </a:endParaRPr>
          </a:p>
        </p:txBody>
      </p:sp>
      <p:pic>
        <p:nvPicPr>
          <p:cNvPr descr="A relational table whose highlighted row is mapped by RIGOR to a node of an ontology graph" id="63" name="Google Shape;63;p1"/>
          <p:cNvPicPr preferRelativeResize="0"/>
          <p:nvPr/>
        </p:nvPicPr>
        <p:blipFill rotWithShape="1">
          <a:blip r:embed="rId3">
            <a:alphaModFix/>
          </a:blip>
          <a:srcRect b="0" l="0" r="0" t="0"/>
          <a:stretch/>
        </p:blipFill>
        <p:spPr>
          <a:xfrm>
            <a:off x="8427567" y="1325880"/>
            <a:ext cx="3428999" cy="3066584"/>
          </a:xfrm>
          <a:prstGeom prst="rect">
            <a:avLst/>
          </a:prstGeom>
          <a:noFill/>
          <a:ln>
            <a:noFill/>
          </a:ln>
        </p:spPr>
      </p:pic>
      <p:sp>
        <p:nvSpPr>
          <p:cNvPr id="64" name="Google Shape;64;p1"/>
          <p:cNvSpPr txBox="1"/>
          <p:nvPr/>
        </p:nvSpPr>
        <p:spPr>
          <a:xfrm>
            <a:off x="8233257" y="4502193"/>
            <a:ext cx="1828800" cy="2559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300"/>
              <a:buFont typeface="Arial"/>
              <a:buNone/>
            </a:pPr>
            <a:r>
              <a:rPr b="1" i="0" lang="en-US" sz="1300" u="none" cap="none" strike="noStrike">
                <a:solidFill>
                  <a:srgbClr val="1F2328"/>
                </a:solidFill>
                <a:latin typeface="Consolas"/>
                <a:ea typeface="Consolas"/>
                <a:cs typeface="Consolas"/>
                <a:sym typeface="Consolas"/>
              </a:rPr>
              <a:t>relational database</a:t>
            </a:r>
            <a:endParaRPr b="0" i="0" sz="1300" u="none" cap="none" strike="noStrike">
              <a:solidFill>
                <a:srgbClr val="1F2328"/>
              </a:solidFill>
              <a:latin typeface="Arial"/>
              <a:ea typeface="Arial"/>
              <a:cs typeface="Arial"/>
              <a:sym typeface="Arial"/>
            </a:endParaRPr>
          </a:p>
        </p:txBody>
      </p:sp>
      <p:sp>
        <p:nvSpPr>
          <p:cNvPr id="65" name="Google Shape;65;p1"/>
          <p:cNvSpPr txBox="1"/>
          <p:nvPr/>
        </p:nvSpPr>
        <p:spPr>
          <a:xfrm>
            <a:off x="10119207" y="4502193"/>
            <a:ext cx="1828800" cy="2559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300"/>
              <a:buFont typeface="Arial"/>
              <a:buNone/>
            </a:pPr>
            <a:r>
              <a:rPr b="1" i="0" lang="en-US" sz="1300" u="none" cap="none" strike="noStrike">
                <a:solidFill>
                  <a:srgbClr val="1F2328"/>
                </a:solidFill>
                <a:latin typeface="Consolas"/>
                <a:ea typeface="Consolas"/>
                <a:cs typeface="Consolas"/>
                <a:sym typeface="Consolas"/>
              </a:rPr>
              <a:t>ontology</a:t>
            </a:r>
            <a:endParaRPr b="0" i="0" sz="1300" u="none" cap="none" strike="noStrike">
              <a:solidFill>
                <a:srgbClr val="1F2328"/>
              </a:solidFill>
              <a:latin typeface="Arial"/>
              <a:ea typeface="Arial"/>
              <a:cs typeface="Arial"/>
              <a:sym typeface="Arial"/>
            </a:endParaRPr>
          </a:p>
        </p:txBody>
      </p:sp>
      <p:sp>
        <p:nvSpPr>
          <p:cNvPr id="66" name="Google Shape;66;p1"/>
          <p:cNvSpPr txBox="1"/>
          <p:nvPr/>
        </p:nvSpPr>
        <p:spPr>
          <a:xfrm>
            <a:off x="768096" y="987552"/>
            <a:ext cx="6766500" cy="86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0B6E4F"/>
                </a:solidFill>
                <a:latin typeface="Cambria"/>
                <a:ea typeface="Cambria"/>
                <a:cs typeface="Cambria"/>
                <a:sym typeface="Cambria"/>
              </a:rPr>
              <a:t>RIGOR</a:t>
            </a:r>
            <a:endParaRPr/>
          </a:p>
        </p:txBody>
      </p:sp>
      <p:sp>
        <p:nvSpPr>
          <p:cNvPr id="67" name="Google Shape;67;p1"/>
          <p:cNvSpPr txBox="1"/>
          <p:nvPr/>
        </p:nvSpPr>
        <p:spPr>
          <a:xfrm>
            <a:off x="795528" y="3822191"/>
            <a:ext cx="6949500" cy="960000"/>
          </a:xfrm>
          <a:prstGeom prst="rect">
            <a:avLst/>
          </a:prstGeom>
          <a:noFill/>
          <a:ln>
            <a:noFill/>
          </a:ln>
        </p:spPr>
        <p:txBody>
          <a:bodyPr anchorCtr="0" anchor="t" bIns="0" lIns="0" spcFirstLastPara="1" rIns="0" wrap="square" tIns="0">
            <a:noAutofit/>
          </a:bodyPr>
          <a:lstStyle/>
          <a:p>
            <a:pPr indent="0" lvl="0" marL="0" marR="0" rtl="0" algn="l">
              <a:lnSpc>
                <a:spcPct val="153333"/>
              </a:lnSpc>
              <a:spcBef>
                <a:spcPts val="0"/>
              </a:spcBef>
              <a:spcAft>
                <a:spcPts val="0"/>
              </a:spcAft>
              <a:buNone/>
            </a:pPr>
            <a:r>
              <a:rPr b="1" i="0" lang="en-US" sz="1500" u="none" cap="none" strike="noStrike">
                <a:solidFill>
                  <a:srgbClr val="1F2328"/>
                </a:solidFill>
                <a:latin typeface="Calibri"/>
                <a:ea typeface="Calibri"/>
                <a:cs typeface="Calibri"/>
                <a:sym typeface="Calibri"/>
              </a:rPr>
              <a:t>Nadeen Fathallah</a:t>
            </a:r>
            <a:r>
              <a:rPr b="1" baseline="30000" i="0" lang="en-US" sz="1500" u="none" cap="none" strike="noStrike">
                <a:solidFill>
                  <a:srgbClr val="0B6E4F"/>
                </a:solidFill>
                <a:latin typeface="Calibri"/>
                <a:ea typeface="Calibri"/>
                <a:cs typeface="Calibri"/>
                <a:sym typeface="Calibri"/>
              </a:rPr>
              <a:t>1</a:t>
            </a:r>
            <a:r>
              <a:rPr b="0" i="0" lang="en-US" sz="1500" u="none" cap="none" strike="noStrike">
                <a:solidFill>
                  <a:srgbClr val="6B747B"/>
                </a:solidFill>
                <a:latin typeface="Calibri"/>
                <a:ea typeface="Calibri"/>
                <a:cs typeface="Calibri"/>
                <a:sym typeface="Calibri"/>
              </a:rPr>
              <a:t>   ·   </a:t>
            </a:r>
            <a:r>
              <a:rPr b="0" i="0" lang="en-US" sz="1500" u="none" cap="none" strike="noStrike">
                <a:solidFill>
                  <a:srgbClr val="3A434C"/>
                </a:solidFill>
                <a:latin typeface="Calibri"/>
                <a:ea typeface="Calibri"/>
                <a:cs typeface="Calibri"/>
                <a:sym typeface="Calibri"/>
              </a:rPr>
              <a:t>Mojtaba Nayyeri</a:t>
            </a:r>
            <a:r>
              <a:rPr b="1" baseline="30000" i="0" lang="en-US" sz="1500" u="none" cap="none" strike="noStrike">
                <a:solidFill>
                  <a:srgbClr val="0B6E4F"/>
                </a:solidFill>
                <a:latin typeface="Calibri"/>
                <a:ea typeface="Calibri"/>
                <a:cs typeface="Calibri"/>
                <a:sym typeface="Calibri"/>
              </a:rPr>
              <a:t>1</a:t>
            </a:r>
            <a:r>
              <a:rPr b="0" i="0" lang="en-US" sz="1500" u="none" cap="none" strike="noStrike">
                <a:solidFill>
                  <a:srgbClr val="6B747B"/>
                </a:solidFill>
                <a:latin typeface="Calibri"/>
                <a:ea typeface="Calibri"/>
                <a:cs typeface="Calibri"/>
                <a:sym typeface="Calibri"/>
              </a:rPr>
              <a:t>   ·   </a:t>
            </a:r>
            <a:r>
              <a:rPr b="0" i="0" lang="en-US" sz="1500" u="none" cap="none" strike="noStrike">
                <a:solidFill>
                  <a:srgbClr val="3A434C"/>
                </a:solidFill>
                <a:latin typeface="Calibri"/>
                <a:ea typeface="Calibri"/>
                <a:cs typeface="Calibri"/>
                <a:sym typeface="Calibri"/>
              </a:rPr>
              <a:t>Athish A Yogi</a:t>
            </a:r>
            <a:r>
              <a:rPr b="1" baseline="30000" i="0" lang="en-US" sz="1500" u="none" cap="none" strike="noStrike">
                <a:solidFill>
                  <a:srgbClr val="0B6E4F"/>
                </a:solidFill>
                <a:latin typeface="Calibri"/>
                <a:ea typeface="Calibri"/>
                <a:cs typeface="Calibri"/>
                <a:sym typeface="Calibri"/>
              </a:rPr>
              <a:t>1</a:t>
            </a:r>
            <a:endParaRPr/>
          </a:p>
          <a:p>
            <a:pPr indent="0" lvl="0" marL="0" marR="0" rtl="0" algn="l">
              <a:lnSpc>
                <a:spcPct val="153333"/>
              </a:lnSpc>
              <a:spcBef>
                <a:spcPts val="0"/>
              </a:spcBef>
              <a:spcAft>
                <a:spcPts val="0"/>
              </a:spcAft>
              <a:buNone/>
            </a:pPr>
            <a:r>
              <a:rPr b="0" i="0" lang="en-US" sz="1500" u="none" cap="none" strike="noStrike">
                <a:solidFill>
                  <a:srgbClr val="3A434C"/>
                </a:solidFill>
                <a:latin typeface="Calibri"/>
                <a:ea typeface="Calibri"/>
                <a:cs typeface="Calibri"/>
                <a:sym typeface="Calibri"/>
              </a:rPr>
              <a:t>Ratan Bahadur Thapa</a:t>
            </a:r>
            <a:r>
              <a:rPr b="1" baseline="30000" i="0" lang="en-US" sz="1500" u="none" cap="none" strike="noStrike">
                <a:solidFill>
                  <a:srgbClr val="0B6E4F"/>
                </a:solidFill>
                <a:latin typeface="Calibri"/>
                <a:ea typeface="Calibri"/>
                <a:cs typeface="Calibri"/>
                <a:sym typeface="Calibri"/>
              </a:rPr>
              <a:t>1</a:t>
            </a:r>
            <a:r>
              <a:rPr b="0" i="0" lang="en-US" sz="1500" u="none" cap="none" strike="noStrike">
                <a:solidFill>
                  <a:srgbClr val="6B747B"/>
                </a:solidFill>
                <a:latin typeface="Calibri"/>
                <a:ea typeface="Calibri"/>
                <a:cs typeface="Calibri"/>
                <a:sym typeface="Calibri"/>
              </a:rPr>
              <a:t>   ·   </a:t>
            </a:r>
            <a:r>
              <a:rPr b="0" i="0" lang="en-US" sz="1500" u="none" cap="none" strike="noStrike">
                <a:solidFill>
                  <a:srgbClr val="3A434C"/>
                </a:solidFill>
                <a:latin typeface="Calibri"/>
                <a:ea typeface="Calibri"/>
                <a:cs typeface="Calibri"/>
                <a:sym typeface="Calibri"/>
              </a:rPr>
              <a:t>Hans-Michael Tautenhahn</a:t>
            </a:r>
            <a:r>
              <a:rPr b="1" baseline="30000" i="0" lang="en-US" sz="1500" u="none" cap="none" strike="noStrike">
                <a:solidFill>
                  <a:srgbClr val="0B6E4F"/>
                </a:solidFill>
                <a:latin typeface="Calibri"/>
                <a:ea typeface="Calibri"/>
                <a:cs typeface="Calibri"/>
                <a:sym typeface="Calibri"/>
              </a:rPr>
              <a:t>3</a:t>
            </a:r>
            <a:endParaRPr/>
          </a:p>
          <a:p>
            <a:pPr indent="0" lvl="0" marL="0" marR="0" rtl="0" algn="l">
              <a:lnSpc>
                <a:spcPct val="153333"/>
              </a:lnSpc>
              <a:spcBef>
                <a:spcPts val="0"/>
              </a:spcBef>
              <a:spcAft>
                <a:spcPts val="0"/>
              </a:spcAft>
              <a:buNone/>
            </a:pPr>
            <a:r>
              <a:rPr b="0" i="0" lang="en-US" sz="1500" u="none" cap="none" strike="noStrike">
                <a:solidFill>
                  <a:srgbClr val="3A434C"/>
                </a:solidFill>
                <a:latin typeface="Calibri"/>
                <a:ea typeface="Calibri"/>
                <a:cs typeface="Calibri"/>
                <a:sym typeface="Calibri"/>
              </a:rPr>
              <a:t>Anton Schnurpel</a:t>
            </a:r>
            <a:r>
              <a:rPr b="1" baseline="30000" i="0" lang="en-US" sz="1500" u="none" cap="none" strike="noStrike">
                <a:solidFill>
                  <a:srgbClr val="0B6E4F"/>
                </a:solidFill>
                <a:latin typeface="Calibri"/>
                <a:ea typeface="Calibri"/>
                <a:cs typeface="Calibri"/>
                <a:sym typeface="Calibri"/>
              </a:rPr>
              <a:t>3</a:t>
            </a:r>
            <a:r>
              <a:rPr b="0" i="0" lang="en-US" sz="1500" u="none" cap="none" strike="noStrike">
                <a:solidFill>
                  <a:srgbClr val="6B747B"/>
                </a:solidFill>
                <a:latin typeface="Calibri"/>
                <a:ea typeface="Calibri"/>
                <a:cs typeface="Calibri"/>
                <a:sym typeface="Calibri"/>
              </a:rPr>
              <a:t>   ·   </a:t>
            </a:r>
            <a:r>
              <a:rPr b="0" i="0" lang="en-US" sz="1500" u="none" cap="none" strike="noStrike">
                <a:solidFill>
                  <a:srgbClr val="3A434C"/>
                </a:solidFill>
                <a:latin typeface="Calibri"/>
                <a:ea typeface="Calibri"/>
                <a:cs typeface="Calibri"/>
                <a:sym typeface="Calibri"/>
              </a:rPr>
              <a:t>Steffen Staab</a:t>
            </a:r>
            <a:r>
              <a:rPr b="1" baseline="30000" i="0" lang="en-US" sz="1500" u="none" cap="none" strike="noStrike">
                <a:solidFill>
                  <a:srgbClr val="0B6E4F"/>
                </a:solidFill>
                <a:latin typeface="Calibri"/>
                <a:ea typeface="Calibri"/>
                <a:cs typeface="Calibri"/>
                <a:sym typeface="Calibri"/>
              </a:rPr>
              <a:t>1,2</a:t>
            </a:r>
            <a:endParaRPr/>
          </a:p>
        </p:txBody>
      </p:sp>
      <p:sp>
        <p:nvSpPr>
          <p:cNvPr id="68" name="Google Shape;68;p1"/>
          <p:cNvSpPr txBox="1"/>
          <p:nvPr/>
        </p:nvSpPr>
        <p:spPr>
          <a:xfrm>
            <a:off x="795528" y="4919472"/>
            <a:ext cx="6949500" cy="73140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None/>
            </a:pPr>
            <a:r>
              <a:rPr b="1" baseline="30000" i="0" lang="en-US" sz="1200" u="none" cap="none" strike="noStrike">
                <a:solidFill>
                  <a:srgbClr val="0B6E4F"/>
                </a:solidFill>
                <a:latin typeface="Calibri"/>
                <a:ea typeface="Calibri"/>
                <a:cs typeface="Calibri"/>
                <a:sym typeface="Calibri"/>
              </a:rPr>
              <a:t>1</a:t>
            </a:r>
            <a:r>
              <a:rPr b="0" i="0" lang="en-US" sz="1200" u="none" cap="none" strike="noStrike">
                <a:solidFill>
                  <a:srgbClr val="5B6770"/>
                </a:solidFill>
                <a:latin typeface="Calibri"/>
                <a:ea typeface="Calibri"/>
                <a:cs typeface="Calibri"/>
                <a:sym typeface="Calibri"/>
              </a:rPr>
              <a:t> Institute for Artificial Intelligence, University of Stuttgart, Germany</a:t>
            </a:r>
            <a:endParaRPr/>
          </a:p>
          <a:p>
            <a:pPr indent="0" lvl="0" marL="0" marR="0" rtl="0" algn="l">
              <a:lnSpc>
                <a:spcPct val="141666"/>
              </a:lnSpc>
              <a:spcBef>
                <a:spcPts val="0"/>
              </a:spcBef>
              <a:spcAft>
                <a:spcPts val="0"/>
              </a:spcAft>
              <a:buNone/>
            </a:pPr>
            <a:r>
              <a:rPr b="1" baseline="30000" i="0" lang="en-US" sz="1200" u="none" cap="none" strike="noStrike">
                <a:solidFill>
                  <a:srgbClr val="0B6E4F"/>
                </a:solidFill>
                <a:latin typeface="Calibri"/>
                <a:ea typeface="Calibri"/>
                <a:cs typeface="Calibri"/>
                <a:sym typeface="Calibri"/>
              </a:rPr>
              <a:t>2</a:t>
            </a:r>
            <a:r>
              <a:rPr b="0" i="0" lang="en-US" sz="1200" u="none" cap="none" strike="noStrike">
                <a:solidFill>
                  <a:srgbClr val="5B6770"/>
                </a:solidFill>
                <a:latin typeface="Calibri"/>
                <a:ea typeface="Calibri"/>
                <a:cs typeface="Calibri"/>
                <a:sym typeface="Calibri"/>
              </a:rPr>
              <a:t> University of Southampton, United Kingdom</a:t>
            </a:r>
            <a:endParaRPr/>
          </a:p>
          <a:p>
            <a:pPr indent="0" lvl="0" marL="0" marR="0" rtl="0" algn="l">
              <a:lnSpc>
                <a:spcPct val="141666"/>
              </a:lnSpc>
              <a:spcBef>
                <a:spcPts val="0"/>
              </a:spcBef>
              <a:spcAft>
                <a:spcPts val="0"/>
              </a:spcAft>
              <a:buNone/>
            </a:pPr>
            <a:r>
              <a:rPr b="1" baseline="30000" i="0" lang="en-US" sz="1200" u="none" cap="none" strike="noStrike">
                <a:solidFill>
                  <a:srgbClr val="0B6E4F"/>
                </a:solidFill>
                <a:latin typeface="Calibri"/>
                <a:ea typeface="Calibri"/>
                <a:cs typeface="Calibri"/>
                <a:sym typeface="Calibri"/>
              </a:rPr>
              <a:t>3</a:t>
            </a:r>
            <a:r>
              <a:rPr b="0" i="0" lang="en-US" sz="1200" u="none" cap="none" strike="noStrike">
                <a:solidFill>
                  <a:srgbClr val="5B6770"/>
                </a:solidFill>
                <a:latin typeface="Calibri"/>
                <a:ea typeface="Calibri"/>
                <a:cs typeface="Calibri"/>
                <a:sym typeface="Calibri"/>
              </a:rPr>
              <a:t> Universitätsklinikum Leipzig, Germany</a:t>
            </a:r>
            <a:endParaRPr/>
          </a:p>
        </p:txBody>
      </p:sp>
      <p:sp>
        <p:nvSpPr>
          <p:cNvPr id="69" name="Google Shape;69;p1"/>
          <p:cNvSpPr/>
          <p:nvPr/>
        </p:nvSpPr>
        <p:spPr>
          <a:xfrm>
            <a:off x="10015194" y="2150512"/>
            <a:ext cx="768000" cy="274200"/>
          </a:xfrm>
          <a:prstGeom prst="roundRect">
            <a:avLst>
              <a:gd fmla="val 12000" name="adj"/>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50" u="none" cap="none" strike="noStrike">
                <a:solidFill>
                  <a:srgbClr val="FFFFFF"/>
                </a:solidFill>
                <a:latin typeface="Consolas"/>
                <a:ea typeface="Consolas"/>
                <a:cs typeface="Consolas"/>
                <a:sym typeface="Consolas"/>
              </a:rPr>
              <a:t>RIGOR</a:t>
            </a:r>
            <a:endParaRPr/>
          </a:p>
        </p:txBody>
      </p:sp>
      <p:sp>
        <p:nvSpPr>
          <p:cNvPr id="70" name="Google Shape;70;p1"/>
          <p:cNvSpPr txBox="1"/>
          <p:nvPr/>
        </p:nvSpPr>
        <p:spPr>
          <a:xfrm>
            <a:off x="8549640" y="5779008"/>
            <a:ext cx="3108900" cy="567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None/>
            </a:pPr>
            <a:r>
              <a:rPr b="1" i="0" lang="en-US" sz="1400" u="none" cap="none" strike="noStrike">
                <a:solidFill>
                  <a:srgbClr val="0B6E4F"/>
                </a:solidFill>
                <a:latin typeface="Consolas"/>
                <a:ea typeface="Consolas"/>
                <a:cs typeface="Consolas"/>
                <a:sym typeface="Consolas"/>
              </a:rPr>
              <a:t>ISWC 2026</a:t>
            </a:r>
            <a:endParaRPr/>
          </a:p>
          <a:p>
            <a:pPr indent="0" lvl="0" marL="0" marR="0" rtl="0" algn="l">
              <a:lnSpc>
                <a:spcPct val="153846"/>
              </a:lnSpc>
              <a:spcBef>
                <a:spcPts val="0"/>
              </a:spcBef>
              <a:spcAft>
                <a:spcPts val="0"/>
              </a:spcAft>
              <a:buNone/>
            </a:pPr>
            <a:r>
              <a:rPr b="0" i="0" lang="en-US" sz="1300" u="none" cap="none" strike="noStrike">
                <a:solidFill>
                  <a:srgbClr val="1F2328"/>
                </a:solidFill>
                <a:latin typeface="Calibri"/>
                <a:ea typeface="Calibri"/>
                <a:cs typeface="Calibri"/>
                <a:sym typeface="Calibri"/>
              </a:rPr>
              <a:t>Bari, Italy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 name="Shape 75"/>
        <p:cNvGrpSpPr/>
        <p:nvPr/>
      </p:nvGrpSpPr>
      <p:grpSpPr>
        <a:xfrm>
          <a:off x="0" y="0"/>
          <a:ext cx="0" cy="0"/>
          <a:chOff x="0" y="0"/>
          <a:chExt cx="0" cy="0"/>
        </a:xfrm>
      </p:grpSpPr>
      <p:sp>
        <p:nvSpPr>
          <p:cNvPr id="76" name="Google Shape;76;p2"/>
          <p:cNvSpPr txBox="1"/>
          <p:nvPr/>
        </p:nvSpPr>
        <p:spPr>
          <a:xfrm>
            <a:off x="804672" y="521207"/>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MOTIVATION  /  ILLUSTRATIVE CLINICAL EXAMPLE</a:t>
            </a:r>
            <a:endParaRPr b="0" i="0" sz="1400" u="none" cap="none" strike="noStrike">
              <a:solidFill>
                <a:srgbClr val="000000"/>
              </a:solidFill>
              <a:latin typeface="Arial"/>
              <a:ea typeface="Arial"/>
              <a:cs typeface="Arial"/>
              <a:sym typeface="Arial"/>
            </a:endParaRPr>
          </a:p>
        </p:txBody>
      </p:sp>
      <p:sp>
        <p:nvSpPr>
          <p:cNvPr id="77" name="Google Shape;77;p2"/>
          <p:cNvSpPr txBox="1"/>
          <p:nvPr/>
        </p:nvSpPr>
        <p:spPr>
          <a:xfrm>
            <a:off x="804672" y="932688"/>
            <a:ext cx="10762500" cy="89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A database can tell us how data is stored.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Can it tell us what the data means?</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804672" y="2048256"/>
            <a:ext cx="5486400" cy="3273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 name="Google Shape;79;p2"/>
          <p:cNvSpPr txBox="1"/>
          <p:nvPr/>
        </p:nvSpPr>
        <p:spPr>
          <a:xfrm>
            <a:off x="1069848" y="2276856"/>
            <a:ext cx="4928700" cy="274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500" u="none" cap="none" strike="noStrike">
                <a:solidFill>
                  <a:srgbClr val="5B6770"/>
                </a:solidFill>
                <a:latin typeface="Consolas"/>
                <a:ea typeface="Consolas"/>
                <a:cs typeface="Consolas"/>
                <a:sym typeface="Consolas"/>
              </a:rPr>
              <a:t>RELATIONAL SCHEMA · EXCERPT</a:t>
            </a:r>
            <a:endParaRPr b="0" i="0" sz="1400" u="none" cap="none" strike="noStrike">
              <a:solidFill>
                <a:srgbClr val="000000"/>
              </a:solidFill>
              <a:latin typeface="Arial"/>
              <a:ea typeface="Arial"/>
              <a:cs typeface="Arial"/>
              <a:sym typeface="Arial"/>
            </a:endParaRPr>
          </a:p>
        </p:txBody>
      </p:sp>
      <p:sp>
        <p:nvSpPr>
          <p:cNvPr id="80" name="Google Shape;80;p2"/>
          <p:cNvSpPr txBox="1"/>
          <p:nvPr/>
        </p:nvSpPr>
        <p:spPr>
          <a:xfrm>
            <a:off x="6665976" y="2176272"/>
            <a:ext cx="4809600" cy="292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WHAT WE STILL NEED TO UNDERSTAND</a:t>
            </a:r>
            <a:endParaRPr b="0" i="0" sz="1400" u="none" cap="none" strike="noStrike">
              <a:solidFill>
                <a:srgbClr val="000000"/>
              </a:solidFill>
              <a:latin typeface="Arial"/>
              <a:ea typeface="Arial"/>
              <a:cs typeface="Arial"/>
              <a:sym typeface="Arial"/>
            </a:endParaRPr>
          </a:p>
        </p:txBody>
      </p:sp>
      <p:sp>
        <p:nvSpPr>
          <p:cNvPr id="81" name="Google Shape;81;p2"/>
          <p:cNvSpPr/>
          <p:nvPr/>
        </p:nvSpPr>
        <p:spPr>
          <a:xfrm>
            <a:off x="6684264" y="2642616"/>
            <a:ext cx="4718400" cy="795600"/>
          </a:xfrm>
          <a:prstGeom prst="roundRect">
            <a:avLst>
              <a:gd fmla="val 10000" name="adj"/>
            </a:avLst>
          </a:prstGeom>
          <a:solidFill>
            <a:srgbClr val="F3F5F4"/>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2"/>
          <p:cNvSpPr/>
          <p:nvPr/>
        </p:nvSpPr>
        <p:spPr>
          <a:xfrm>
            <a:off x="6858000" y="2880360"/>
            <a:ext cx="310800" cy="310800"/>
          </a:xfrm>
          <a:prstGeom prst="ellipse">
            <a:avLst/>
          </a:prstGeom>
          <a:solidFill>
            <a:srgbClr val="E9EEEB"/>
          </a:solidFill>
          <a:ln cap="flat" cmpd="sng" w="127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 name="Google Shape;83;p2"/>
          <p:cNvSpPr txBox="1"/>
          <p:nvPr/>
        </p:nvSpPr>
        <p:spPr>
          <a:xfrm>
            <a:off x="6858354" y="2916582"/>
            <a:ext cx="3108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2F6B78"/>
                </a:solidFill>
                <a:latin typeface="Consolas"/>
                <a:ea typeface="Consolas"/>
                <a:cs typeface="Consolas"/>
                <a:sym typeface="Consolas"/>
              </a:rPr>
              <a:t>01</a:t>
            </a:r>
            <a:endParaRPr b="0" i="0" sz="1400" u="none" cap="none" strike="noStrike">
              <a:solidFill>
                <a:srgbClr val="000000"/>
              </a:solidFill>
              <a:latin typeface="Arial"/>
              <a:ea typeface="Arial"/>
              <a:cs typeface="Arial"/>
              <a:sym typeface="Arial"/>
            </a:endParaRPr>
          </a:p>
        </p:txBody>
      </p:sp>
      <p:sp>
        <p:nvSpPr>
          <p:cNvPr id="84" name="Google Shape;84;p2"/>
          <p:cNvSpPr txBox="1"/>
          <p:nvPr/>
        </p:nvSpPr>
        <p:spPr>
          <a:xfrm>
            <a:off x="7324344" y="2761488"/>
            <a:ext cx="1408200" cy="255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patient_id</a:t>
            </a:r>
            <a:endParaRPr b="0" i="0" sz="1400" u="none" cap="none" strike="noStrike">
              <a:solidFill>
                <a:srgbClr val="000000"/>
              </a:solidFill>
              <a:latin typeface="Arial"/>
              <a:ea typeface="Arial"/>
              <a:cs typeface="Arial"/>
              <a:sym typeface="Arial"/>
            </a:endParaRPr>
          </a:p>
        </p:txBody>
      </p:sp>
      <p:sp>
        <p:nvSpPr>
          <p:cNvPr id="85" name="Google Shape;85;p2"/>
          <p:cNvSpPr txBox="1"/>
          <p:nvPr/>
        </p:nvSpPr>
        <p:spPr>
          <a:xfrm>
            <a:off x="8677656" y="2752344"/>
            <a:ext cx="2596800" cy="446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1F2328"/>
                </a:solidFill>
                <a:latin typeface="Calibri"/>
                <a:ea typeface="Calibri"/>
                <a:cs typeface="Calibri"/>
                <a:sym typeface="Calibri"/>
              </a:rPr>
              <a:t>How do we represent the </a:t>
            </a:r>
            <a:r>
              <a:rPr b="1" i="0" lang="en-US" sz="1450" u="none" cap="none" strike="noStrike">
                <a:solidFill>
                  <a:srgbClr val="1F2328"/>
                </a:solidFill>
                <a:latin typeface="Calibri"/>
                <a:ea typeface="Calibri"/>
                <a:cs typeface="Calibri"/>
                <a:sym typeface="Calibri"/>
              </a:rPr>
              <a:t>link</a:t>
            </a:r>
            <a:endParaRPr b="1" i="0" sz="1400" u="none" cap="none" strike="noStrike">
              <a:solidFill>
                <a:srgbClr val="000000"/>
              </a:solidFill>
            </a:endParaRPr>
          </a:p>
          <a:p>
            <a:pPr indent="0" lvl="0" marL="0" marR="0" rtl="0" algn="l">
              <a:lnSpc>
                <a:spcPct val="100000"/>
              </a:lnSpc>
              <a:spcBef>
                <a:spcPts val="0"/>
              </a:spcBef>
              <a:spcAft>
                <a:spcPts val="0"/>
              </a:spcAft>
              <a:buNone/>
            </a:pPr>
            <a:r>
              <a:rPr b="0" i="0" lang="en-US" sz="1450" u="none" cap="none" strike="noStrike">
                <a:solidFill>
                  <a:srgbClr val="1F2328"/>
                </a:solidFill>
                <a:latin typeface="Calibri"/>
                <a:ea typeface="Calibri"/>
                <a:cs typeface="Calibri"/>
                <a:sym typeface="Calibri"/>
              </a:rPr>
              <a:t>from an </a:t>
            </a:r>
            <a:r>
              <a:rPr b="1" i="0" lang="en-US" sz="1450" u="none" cap="none" strike="noStrike">
                <a:solidFill>
                  <a:srgbClr val="1F2328"/>
                </a:solidFill>
                <a:latin typeface="Calibri"/>
                <a:ea typeface="Calibri"/>
                <a:cs typeface="Calibri"/>
                <a:sym typeface="Calibri"/>
              </a:rPr>
              <a:t>admission</a:t>
            </a:r>
            <a:r>
              <a:rPr b="0" i="0" lang="en-US" sz="1450" u="none" cap="none" strike="noStrike">
                <a:solidFill>
                  <a:srgbClr val="1F2328"/>
                </a:solidFill>
                <a:latin typeface="Calibri"/>
                <a:ea typeface="Calibri"/>
                <a:cs typeface="Calibri"/>
                <a:sym typeface="Calibri"/>
              </a:rPr>
              <a:t> to its </a:t>
            </a:r>
            <a:r>
              <a:rPr b="1" i="0" lang="en-US" sz="1450" u="none" cap="none" strike="noStrike">
                <a:solidFill>
                  <a:srgbClr val="1F2328"/>
                </a:solidFill>
                <a:latin typeface="Calibri"/>
                <a:ea typeface="Calibri"/>
                <a:cs typeface="Calibri"/>
                <a:sym typeface="Calibri"/>
              </a:rPr>
              <a:t>patient</a:t>
            </a:r>
            <a:r>
              <a:rPr b="0" i="0" lang="en-US" sz="1450" u="none" cap="none" strike="noStrike">
                <a:solidFill>
                  <a:srgbClr val="1F2328"/>
                </a:solidFill>
                <a:latin typeface="Calibri"/>
                <a:ea typeface="Calibri"/>
                <a:cs typeface="Calibri"/>
                <a:sym typeface="Calibri"/>
              </a:rPr>
              <a:t>?</a:t>
            </a:r>
            <a:endParaRPr/>
          </a:p>
        </p:txBody>
      </p:sp>
      <p:sp>
        <p:nvSpPr>
          <p:cNvPr id="86" name="Google Shape;86;p2"/>
          <p:cNvSpPr/>
          <p:nvPr/>
        </p:nvSpPr>
        <p:spPr>
          <a:xfrm>
            <a:off x="6684264" y="3557016"/>
            <a:ext cx="4718400" cy="795600"/>
          </a:xfrm>
          <a:prstGeom prst="roundRect">
            <a:avLst>
              <a:gd fmla="val 10000" name="adj"/>
            </a:avLst>
          </a:prstGeom>
          <a:solidFill>
            <a:srgbClr val="F3F5F4"/>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2"/>
          <p:cNvSpPr/>
          <p:nvPr/>
        </p:nvSpPr>
        <p:spPr>
          <a:xfrm>
            <a:off x="6858000" y="3794760"/>
            <a:ext cx="310800" cy="310800"/>
          </a:xfrm>
          <a:prstGeom prst="ellipse">
            <a:avLst/>
          </a:prstGeom>
          <a:solidFill>
            <a:srgbClr val="E9EEEB"/>
          </a:solidFill>
          <a:ln cap="flat" cmpd="sng" w="127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2"/>
          <p:cNvSpPr txBox="1"/>
          <p:nvPr/>
        </p:nvSpPr>
        <p:spPr>
          <a:xfrm>
            <a:off x="6858354" y="3830982"/>
            <a:ext cx="3108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2F6B78"/>
                </a:solidFill>
                <a:latin typeface="Consolas"/>
                <a:ea typeface="Consolas"/>
                <a:cs typeface="Consolas"/>
                <a:sym typeface="Consolas"/>
              </a:rPr>
              <a:t>02</a:t>
            </a:r>
            <a:endParaRPr b="0" i="0" sz="1400" u="none" cap="none" strike="noStrike">
              <a:solidFill>
                <a:srgbClr val="000000"/>
              </a:solidFill>
              <a:latin typeface="Arial"/>
              <a:ea typeface="Arial"/>
              <a:cs typeface="Arial"/>
              <a:sym typeface="Arial"/>
            </a:endParaRPr>
          </a:p>
        </p:txBody>
      </p:sp>
      <p:sp>
        <p:nvSpPr>
          <p:cNvPr id="89" name="Google Shape;89;p2"/>
          <p:cNvSpPr txBox="1"/>
          <p:nvPr/>
        </p:nvSpPr>
        <p:spPr>
          <a:xfrm>
            <a:off x="7324344" y="3675888"/>
            <a:ext cx="1408200" cy="255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BM_DEP</a:t>
            </a:r>
            <a:endParaRPr b="0" i="0" sz="1400" u="none" cap="none" strike="noStrike">
              <a:solidFill>
                <a:srgbClr val="000000"/>
              </a:solidFill>
              <a:latin typeface="Arial"/>
              <a:ea typeface="Arial"/>
              <a:cs typeface="Arial"/>
              <a:sym typeface="Arial"/>
            </a:endParaRPr>
          </a:p>
        </p:txBody>
      </p:sp>
      <p:sp>
        <p:nvSpPr>
          <p:cNvPr id="90" name="Google Shape;90;p2"/>
          <p:cNvSpPr txBox="1"/>
          <p:nvPr/>
        </p:nvSpPr>
        <p:spPr>
          <a:xfrm>
            <a:off x="8695944" y="3639312"/>
            <a:ext cx="2514600" cy="46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328"/>
                </a:solidFill>
                <a:latin typeface="Calibri"/>
                <a:ea typeface="Calibri"/>
                <a:cs typeface="Calibri"/>
                <a:sym typeface="Calibri"/>
              </a:rPr>
              <a:t>Which </a:t>
            </a:r>
            <a:r>
              <a:rPr b="1" i="0" lang="en-US" sz="1500" u="none" cap="none" strike="noStrike">
                <a:solidFill>
                  <a:srgbClr val="1F2328"/>
                </a:solidFill>
                <a:latin typeface="Calibri"/>
                <a:ea typeface="Calibri"/>
                <a:cs typeface="Calibri"/>
                <a:sym typeface="Calibri"/>
              </a:rPr>
              <a:t>clinical</a:t>
            </a:r>
            <a:r>
              <a:rPr b="0" i="0" lang="en-US" sz="1500" u="none" cap="none" strike="noStrike">
                <a:solidFill>
                  <a:srgbClr val="1F2328"/>
                </a:solidFill>
                <a:latin typeface="Calibri"/>
                <a:ea typeface="Calibri"/>
                <a:cs typeface="Calibri"/>
                <a:sym typeface="Calibri"/>
              </a:rPr>
              <a:t> </a:t>
            </a:r>
            <a:r>
              <a:rPr b="1" i="0" lang="en-US" sz="1500" u="none" cap="none" strike="noStrike">
                <a:solidFill>
                  <a:srgbClr val="1F2328"/>
                </a:solidFill>
                <a:latin typeface="Calibri"/>
                <a:ea typeface="Calibri"/>
                <a:cs typeface="Calibri"/>
                <a:sym typeface="Calibri"/>
              </a:rPr>
              <a:t>concept</a:t>
            </a:r>
            <a:endParaRPr b="1" i="0" sz="1400" u="none" cap="none" strike="noStrike">
              <a:solidFill>
                <a:srgbClr val="000000"/>
              </a:solidFil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328"/>
                </a:solidFill>
                <a:latin typeface="Calibri"/>
                <a:ea typeface="Calibri"/>
                <a:cs typeface="Calibri"/>
                <a:sym typeface="Calibri"/>
              </a:rPr>
              <a:t>does this </a:t>
            </a:r>
            <a:r>
              <a:rPr b="1" i="0" lang="en-US" sz="1500" u="none" cap="none" strike="noStrike">
                <a:solidFill>
                  <a:srgbClr val="1F2328"/>
                </a:solidFill>
                <a:latin typeface="Calibri"/>
                <a:ea typeface="Calibri"/>
                <a:cs typeface="Calibri"/>
                <a:sym typeface="Calibri"/>
              </a:rPr>
              <a:t>abbreviation</a:t>
            </a:r>
            <a:r>
              <a:rPr b="0" i="0" lang="en-US" sz="1500" u="none" cap="none" strike="noStrike">
                <a:solidFill>
                  <a:srgbClr val="1F2328"/>
                </a:solidFill>
                <a:latin typeface="Calibri"/>
                <a:ea typeface="Calibri"/>
                <a:cs typeface="Calibri"/>
                <a:sym typeface="Calibri"/>
              </a:rPr>
              <a:t> </a:t>
            </a:r>
            <a:r>
              <a:rPr b="1" i="0" lang="en-US" sz="1500" u="none" cap="none" strike="noStrike">
                <a:solidFill>
                  <a:srgbClr val="1F2328"/>
                </a:solidFill>
                <a:latin typeface="Calibri"/>
                <a:ea typeface="Calibri"/>
                <a:cs typeface="Calibri"/>
                <a:sym typeface="Calibri"/>
              </a:rPr>
              <a:t>mean</a:t>
            </a:r>
            <a:r>
              <a:rPr b="0" i="0" lang="en-US" sz="1500" u="none" cap="none" strike="noStrike">
                <a:solidFill>
                  <a:srgbClr val="1F2328"/>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1" name="Google Shape;91;p2"/>
          <p:cNvSpPr/>
          <p:nvPr/>
        </p:nvSpPr>
        <p:spPr>
          <a:xfrm>
            <a:off x="6684264" y="4471416"/>
            <a:ext cx="4718400" cy="795600"/>
          </a:xfrm>
          <a:prstGeom prst="roundRect">
            <a:avLst>
              <a:gd fmla="val 10000" name="adj"/>
            </a:avLst>
          </a:prstGeom>
          <a:solidFill>
            <a:srgbClr val="F3F5F4"/>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 name="Google Shape;92;p2"/>
          <p:cNvSpPr/>
          <p:nvPr/>
        </p:nvSpPr>
        <p:spPr>
          <a:xfrm>
            <a:off x="6858000" y="4709160"/>
            <a:ext cx="310800" cy="310800"/>
          </a:xfrm>
          <a:prstGeom prst="ellipse">
            <a:avLst/>
          </a:prstGeom>
          <a:solidFill>
            <a:srgbClr val="E9EEEB"/>
          </a:solidFill>
          <a:ln cap="flat" cmpd="sng" w="127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2"/>
          <p:cNvSpPr txBox="1"/>
          <p:nvPr/>
        </p:nvSpPr>
        <p:spPr>
          <a:xfrm>
            <a:off x="6858354" y="4745382"/>
            <a:ext cx="3108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2F6B78"/>
                </a:solidFill>
                <a:latin typeface="Consolas"/>
                <a:ea typeface="Consolas"/>
                <a:cs typeface="Consolas"/>
                <a:sym typeface="Consolas"/>
              </a:rPr>
              <a:t>03</a:t>
            </a:r>
            <a:endParaRPr b="0" i="0" sz="1400" u="none" cap="none" strike="noStrike">
              <a:solidFill>
                <a:srgbClr val="000000"/>
              </a:solidFill>
              <a:latin typeface="Arial"/>
              <a:ea typeface="Arial"/>
              <a:cs typeface="Arial"/>
              <a:sym typeface="Arial"/>
            </a:endParaRPr>
          </a:p>
        </p:txBody>
      </p:sp>
      <p:sp>
        <p:nvSpPr>
          <p:cNvPr id="94" name="Google Shape;94;p2"/>
          <p:cNvSpPr txBox="1"/>
          <p:nvPr/>
        </p:nvSpPr>
        <p:spPr>
          <a:xfrm>
            <a:off x="7324344" y="4590288"/>
            <a:ext cx="1408200" cy="255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ecog_stage</a:t>
            </a:r>
            <a:endParaRPr b="0" i="0" sz="1400" u="none" cap="none" strike="noStrike">
              <a:solidFill>
                <a:srgbClr val="000000"/>
              </a:solidFill>
              <a:latin typeface="Arial"/>
              <a:ea typeface="Arial"/>
              <a:cs typeface="Arial"/>
              <a:sym typeface="Arial"/>
            </a:endParaRPr>
          </a:p>
        </p:txBody>
      </p:sp>
      <p:sp>
        <p:nvSpPr>
          <p:cNvPr id="95" name="Google Shape;95;p2"/>
          <p:cNvSpPr txBox="1"/>
          <p:nvPr/>
        </p:nvSpPr>
        <p:spPr>
          <a:xfrm>
            <a:off x="8695944" y="4553712"/>
            <a:ext cx="2514600" cy="46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328"/>
                </a:solidFill>
                <a:latin typeface="Calibri"/>
                <a:ea typeface="Calibri"/>
                <a:cs typeface="Calibri"/>
                <a:sym typeface="Calibri"/>
              </a:rPr>
              <a:t>What do the </a:t>
            </a:r>
            <a:r>
              <a:rPr b="1" i="0" lang="en-US" sz="1500" u="none" cap="none" strike="noStrike">
                <a:solidFill>
                  <a:srgbClr val="1F2328"/>
                </a:solidFill>
                <a:latin typeface="Calibri"/>
                <a:ea typeface="Calibri"/>
                <a:cs typeface="Calibri"/>
                <a:sym typeface="Calibri"/>
              </a:rPr>
              <a:t>encoded</a:t>
            </a:r>
            <a:endParaRPr b="1" i="0" sz="1400" u="none" cap="none" strike="noStrike">
              <a:solidFill>
                <a:srgbClr val="000000"/>
              </a:solidFil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328"/>
                </a:solidFill>
                <a:latin typeface="Calibri"/>
                <a:ea typeface="Calibri"/>
                <a:cs typeface="Calibri"/>
                <a:sym typeface="Calibri"/>
              </a:rPr>
              <a:t>score </a:t>
            </a:r>
            <a:r>
              <a:rPr b="1" i="0" lang="en-US" sz="1500" u="none" cap="none" strike="noStrike">
                <a:solidFill>
                  <a:srgbClr val="1F2328"/>
                </a:solidFill>
                <a:latin typeface="Calibri"/>
                <a:ea typeface="Calibri"/>
                <a:cs typeface="Calibri"/>
                <a:sym typeface="Calibri"/>
              </a:rPr>
              <a:t>values</a:t>
            </a:r>
            <a:r>
              <a:rPr b="0" i="0" lang="en-US" sz="1500" u="none" cap="none" strike="noStrike">
                <a:solidFill>
                  <a:srgbClr val="1F2328"/>
                </a:solidFill>
                <a:latin typeface="Calibri"/>
                <a:ea typeface="Calibri"/>
                <a:cs typeface="Calibri"/>
                <a:sym typeface="Calibri"/>
              </a:rPr>
              <a:t> </a:t>
            </a:r>
            <a:r>
              <a:rPr b="1" i="0" lang="en-US" sz="1500" u="none" cap="none" strike="noStrike">
                <a:solidFill>
                  <a:srgbClr val="1F2328"/>
                </a:solidFill>
                <a:latin typeface="Calibri"/>
                <a:ea typeface="Calibri"/>
                <a:cs typeface="Calibri"/>
                <a:sym typeface="Calibri"/>
              </a:rPr>
              <a:t>mean</a:t>
            </a:r>
            <a:r>
              <a:rPr b="0" i="0" lang="en-US" sz="1500" u="none" cap="none" strike="noStrike">
                <a:solidFill>
                  <a:srgbClr val="1F2328"/>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6" name="Google Shape;96;p2"/>
          <p:cNvSpPr txBox="1"/>
          <p:nvPr/>
        </p:nvSpPr>
        <p:spPr>
          <a:xfrm>
            <a:off x="804672" y="5632704"/>
            <a:ext cx="10588800" cy="329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F2328"/>
                </a:solidFill>
                <a:latin typeface="Calibri"/>
                <a:ea typeface="Calibri"/>
                <a:cs typeface="Calibri"/>
                <a:sym typeface="Calibri"/>
              </a:rPr>
              <a:t>Those meanings matter for ontology-based access, knowledge graphs and integration.</a:t>
            </a:r>
            <a:endParaRPr b="0" i="0" sz="1400" u="none" cap="none" strike="noStrike">
              <a:solidFill>
                <a:srgbClr val="000000"/>
              </a:solidFill>
              <a:latin typeface="Arial"/>
              <a:ea typeface="Arial"/>
              <a:cs typeface="Arial"/>
              <a:sym typeface="Arial"/>
            </a:endParaRPr>
          </a:p>
        </p:txBody>
      </p:sp>
      <p:sp>
        <p:nvSpPr>
          <p:cNvPr id="97" name="Google Shape;97;p2"/>
          <p:cNvSpPr/>
          <p:nvPr/>
        </p:nvSpPr>
        <p:spPr>
          <a:xfrm>
            <a:off x="1051560" y="3023122"/>
            <a:ext cx="1883700" cy="1673400"/>
          </a:xfrm>
          <a:prstGeom prst="roundRect">
            <a:avLst>
              <a:gd fmla="val 16667" name="adj"/>
            </a:avLst>
          </a:prstGeom>
          <a:solidFill>
            <a:srgbClr val="E9EEE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8" name="Google Shape;98;p2"/>
          <p:cNvSpPr txBox="1"/>
          <p:nvPr/>
        </p:nvSpPr>
        <p:spPr>
          <a:xfrm>
            <a:off x="1197864" y="3132850"/>
            <a:ext cx="16551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900" u="none" cap="none" strike="noStrike">
                <a:solidFill>
                  <a:srgbClr val="1F2328"/>
                </a:solidFill>
                <a:latin typeface="Calibri"/>
                <a:ea typeface="Calibri"/>
                <a:cs typeface="Calibri"/>
                <a:sym typeface="Calibri"/>
              </a:rPr>
              <a:t>PatientData</a:t>
            </a:r>
            <a:endParaRPr/>
          </a:p>
        </p:txBody>
      </p:sp>
      <p:cxnSp>
        <p:nvCxnSpPr>
          <p:cNvPr id="99" name="Google Shape;99;p2"/>
          <p:cNvCxnSpPr/>
          <p:nvPr/>
        </p:nvCxnSpPr>
        <p:spPr>
          <a:xfrm>
            <a:off x="1188720" y="3516898"/>
            <a:ext cx="1609200" cy="0"/>
          </a:xfrm>
          <a:prstGeom prst="straightConnector1">
            <a:avLst/>
          </a:prstGeom>
          <a:noFill/>
          <a:ln cap="flat" cmpd="sng" w="12700">
            <a:solidFill>
              <a:srgbClr val="8E989E"/>
            </a:solidFill>
            <a:prstDash val="solid"/>
            <a:round/>
            <a:headEnd len="sm" w="sm" type="none"/>
            <a:tailEnd len="sm" w="sm" type="none"/>
          </a:ln>
          <a:effectLst>
            <a:outerShdw blurRad="40000" rotWithShape="0" dir="5400000" dist="20000">
              <a:srgbClr val="000000">
                <a:alpha val="38040"/>
              </a:srgbClr>
            </a:outerShdw>
          </a:effectLst>
        </p:spPr>
      </p:cxnSp>
      <p:sp>
        <p:nvSpPr>
          <p:cNvPr id="100" name="Google Shape;100;p2"/>
          <p:cNvSpPr txBox="1"/>
          <p:nvPr/>
        </p:nvSpPr>
        <p:spPr>
          <a:xfrm>
            <a:off x="1197864" y="3626626"/>
            <a:ext cx="10974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patient_id</a:t>
            </a:r>
            <a:endParaRPr/>
          </a:p>
        </p:txBody>
      </p:sp>
      <p:sp>
        <p:nvSpPr>
          <p:cNvPr id="101" name="Google Shape;101;p2"/>
          <p:cNvSpPr txBox="1"/>
          <p:nvPr/>
        </p:nvSpPr>
        <p:spPr>
          <a:xfrm>
            <a:off x="2468880" y="3626626"/>
            <a:ext cx="301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PK</a:t>
            </a:r>
            <a:endParaRPr/>
          </a:p>
        </p:txBody>
      </p:sp>
      <p:cxnSp>
        <p:nvCxnSpPr>
          <p:cNvPr id="102" name="Google Shape;102;p2"/>
          <p:cNvCxnSpPr/>
          <p:nvPr/>
        </p:nvCxnSpPr>
        <p:spPr>
          <a:xfrm rot="10800000">
            <a:off x="2943287" y="3763786"/>
            <a:ext cx="466200" cy="0"/>
          </a:xfrm>
          <a:prstGeom prst="straightConnector1">
            <a:avLst/>
          </a:prstGeom>
          <a:noFill/>
          <a:ln cap="flat" cmpd="sng" w="31750">
            <a:solidFill>
              <a:srgbClr val="3A7D8C"/>
            </a:solidFill>
            <a:prstDash val="solid"/>
            <a:round/>
            <a:headEnd len="sm" w="sm" type="none"/>
            <a:tailEnd len="sm" w="sm" type="none"/>
          </a:ln>
          <a:effectLst>
            <a:outerShdw blurRad="40000" rotWithShape="0" dir="5400000" dist="20000">
              <a:srgbClr val="000000">
                <a:alpha val="38040"/>
              </a:srgbClr>
            </a:outerShdw>
          </a:effectLst>
        </p:spPr>
      </p:cxnSp>
      <p:sp>
        <p:nvSpPr>
          <p:cNvPr id="103" name="Google Shape;103;p2"/>
          <p:cNvSpPr/>
          <p:nvPr/>
        </p:nvSpPr>
        <p:spPr>
          <a:xfrm rot="-5400000">
            <a:off x="2825568" y="3690610"/>
            <a:ext cx="155400" cy="146400"/>
          </a:xfrm>
          <a:prstGeom prst="triangle">
            <a:avLst>
              <a:gd fmla="val 50000" name="adj"/>
            </a:avLst>
          </a:prstGeom>
          <a:solidFill>
            <a:srgbClr val="3A7D8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 name="Google Shape;104;p2"/>
          <p:cNvSpPr txBox="1"/>
          <p:nvPr/>
        </p:nvSpPr>
        <p:spPr>
          <a:xfrm>
            <a:off x="1097280" y="4892040"/>
            <a:ext cx="4937700" cy="20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320" u="none" cap="none" strike="noStrike">
                <a:solidFill>
                  <a:srgbClr val="1F2328"/>
                </a:solidFill>
                <a:latin typeface="Calibri"/>
                <a:ea typeface="Calibri"/>
                <a:cs typeface="Calibri"/>
                <a:sym typeface="Calibri"/>
              </a:rPr>
              <a:t>The FK links an </a:t>
            </a:r>
            <a:r>
              <a:rPr b="1" i="0" lang="en-US" sz="1320" u="none" cap="none" strike="noStrike">
                <a:solidFill>
                  <a:srgbClr val="1F2328"/>
                </a:solidFill>
                <a:latin typeface="Calibri"/>
                <a:ea typeface="Calibri"/>
                <a:cs typeface="Calibri"/>
                <a:sym typeface="Calibri"/>
              </a:rPr>
              <a:t>admission</a:t>
            </a:r>
            <a:r>
              <a:rPr b="0" i="0" lang="en-US" sz="1320" u="none" cap="none" strike="noStrike">
                <a:solidFill>
                  <a:srgbClr val="1F2328"/>
                </a:solidFill>
                <a:latin typeface="Calibri"/>
                <a:ea typeface="Calibri"/>
                <a:cs typeface="Calibri"/>
                <a:sym typeface="Calibri"/>
              </a:rPr>
              <a:t> to a </a:t>
            </a:r>
            <a:r>
              <a:rPr b="1" i="0" lang="en-US" sz="1320" u="none" cap="none" strike="noStrike">
                <a:solidFill>
                  <a:srgbClr val="1F2328"/>
                </a:solidFill>
                <a:latin typeface="Calibri"/>
                <a:ea typeface="Calibri"/>
                <a:cs typeface="Calibri"/>
                <a:sym typeface="Calibri"/>
              </a:rPr>
              <a:t>patient</a:t>
            </a:r>
            <a:r>
              <a:rPr b="0" i="0" lang="en-US" sz="1320" u="none" cap="none" strike="noStrike">
                <a:solidFill>
                  <a:srgbClr val="1F2328"/>
                </a:solidFill>
                <a:latin typeface="Calibri"/>
                <a:ea typeface="Calibri"/>
                <a:cs typeface="Calibri"/>
                <a:sym typeface="Calibri"/>
              </a:rPr>
              <a:t>.</a:t>
            </a:r>
            <a:endParaRPr/>
          </a:p>
        </p:txBody>
      </p:sp>
      <p:sp>
        <p:nvSpPr>
          <p:cNvPr id="105" name="Google Shape;105;p2"/>
          <p:cNvSpPr txBox="1"/>
          <p:nvPr/>
        </p:nvSpPr>
        <p:spPr>
          <a:xfrm>
            <a:off x="1197864" y="3974098"/>
            <a:ext cx="1106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age</a:t>
            </a:r>
            <a:endParaRPr/>
          </a:p>
        </p:txBody>
      </p:sp>
      <p:sp>
        <p:nvSpPr>
          <p:cNvPr id="106" name="Google Shape;106;p2"/>
          <p:cNvSpPr txBox="1"/>
          <p:nvPr/>
        </p:nvSpPr>
        <p:spPr>
          <a:xfrm>
            <a:off x="2441448" y="3974098"/>
            <a:ext cx="420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50" u="none" cap="none" strike="noStrike">
                <a:solidFill>
                  <a:srgbClr val="5B6770"/>
                </a:solidFill>
                <a:latin typeface="Calibri"/>
                <a:ea typeface="Calibri"/>
                <a:cs typeface="Calibri"/>
                <a:sym typeface="Calibri"/>
              </a:rPr>
              <a:t>INT</a:t>
            </a:r>
            <a:endParaRPr/>
          </a:p>
        </p:txBody>
      </p:sp>
      <p:sp>
        <p:nvSpPr>
          <p:cNvPr id="107" name="Google Shape;107;p2"/>
          <p:cNvSpPr txBox="1"/>
          <p:nvPr/>
        </p:nvSpPr>
        <p:spPr>
          <a:xfrm>
            <a:off x="1197864" y="4321570"/>
            <a:ext cx="1106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gender</a:t>
            </a:r>
            <a:endParaRPr/>
          </a:p>
        </p:txBody>
      </p:sp>
      <p:sp>
        <p:nvSpPr>
          <p:cNvPr id="108" name="Google Shape;108;p2"/>
          <p:cNvSpPr txBox="1"/>
          <p:nvPr/>
        </p:nvSpPr>
        <p:spPr>
          <a:xfrm>
            <a:off x="2441448" y="4321570"/>
            <a:ext cx="420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50" u="none" cap="none" strike="noStrike">
                <a:solidFill>
                  <a:srgbClr val="5B6770"/>
                </a:solidFill>
                <a:latin typeface="Calibri"/>
                <a:ea typeface="Calibri"/>
                <a:cs typeface="Calibri"/>
                <a:sym typeface="Calibri"/>
              </a:rPr>
              <a:t>TEXT</a:t>
            </a:r>
            <a:endParaRPr/>
          </a:p>
        </p:txBody>
      </p:sp>
      <p:sp>
        <p:nvSpPr>
          <p:cNvPr id="109" name="Google Shape;109;p2"/>
          <p:cNvSpPr/>
          <p:nvPr/>
        </p:nvSpPr>
        <p:spPr>
          <a:xfrm>
            <a:off x="3422401" y="2739218"/>
            <a:ext cx="2317800" cy="1876500"/>
          </a:xfrm>
          <a:prstGeom prst="roundRect">
            <a:avLst>
              <a:gd fmla="val 9000" name="adj"/>
            </a:avLst>
          </a:prstGeom>
          <a:solidFill>
            <a:srgbClr val="E9EEEB"/>
          </a:solidFill>
          <a:ln>
            <a:noFill/>
          </a:ln>
          <a:effectLst>
            <a:outerShdw blurRad="66830" rotWithShape="0" algn="t" dir="5400000" dist="22277">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28"/>
              <a:buFont typeface="Arial"/>
              <a:buNone/>
            </a:pPr>
            <a:r>
              <a:t/>
            </a:r>
            <a:endParaRPr b="0" i="0" sz="1228" u="none" cap="none" strike="noStrike">
              <a:solidFill>
                <a:srgbClr val="000000"/>
              </a:solidFill>
              <a:latin typeface="Arial"/>
              <a:ea typeface="Arial"/>
              <a:cs typeface="Arial"/>
              <a:sym typeface="Arial"/>
            </a:endParaRPr>
          </a:p>
        </p:txBody>
      </p:sp>
      <p:sp>
        <p:nvSpPr>
          <p:cNvPr id="110" name="Google Shape;110;p2"/>
          <p:cNvSpPr txBox="1"/>
          <p:nvPr/>
        </p:nvSpPr>
        <p:spPr>
          <a:xfrm>
            <a:off x="3566754" y="2835453"/>
            <a:ext cx="20448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42"/>
              <a:buFont typeface="Arial"/>
              <a:buNone/>
            </a:pPr>
            <a:r>
              <a:rPr b="1" i="0" lang="en-US" sz="1900" u="none" cap="none" strike="noStrike">
                <a:solidFill>
                  <a:srgbClr val="1F2328"/>
                </a:solidFill>
                <a:latin typeface="Calibri"/>
                <a:ea typeface="Calibri"/>
                <a:cs typeface="Calibri"/>
                <a:sym typeface="Calibri"/>
              </a:rPr>
              <a:t>admission</a:t>
            </a:r>
            <a:endParaRPr b="0" i="0" sz="1900" u="none" cap="none" strike="noStrike">
              <a:solidFill>
                <a:srgbClr val="000000"/>
              </a:solidFill>
              <a:latin typeface="Arial"/>
              <a:ea typeface="Arial"/>
              <a:cs typeface="Arial"/>
              <a:sym typeface="Arial"/>
            </a:endParaRPr>
          </a:p>
        </p:txBody>
      </p:sp>
      <p:sp>
        <p:nvSpPr>
          <p:cNvPr id="111" name="Google Shape;111;p2"/>
          <p:cNvSpPr/>
          <p:nvPr/>
        </p:nvSpPr>
        <p:spPr>
          <a:xfrm>
            <a:off x="3566754" y="3316628"/>
            <a:ext cx="1403400" cy="25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16"/>
              <a:buFont typeface="Arial"/>
              <a:buNone/>
            </a:pPr>
            <a:r>
              <a:rPr b="1" i="0" lang="en-US" sz="1500" u="none" cap="none" strike="noStrike">
                <a:solidFill>
                  <a:srgbClr val="0B6E4F"/>
                </a:solidFill>
                <a:latin typeface="Calibri"/>
                <a:ea typeface="Calibri"/>
                <a:cs typeface="Calibri"/>
                <a:sym typeface="Calibri"/>
              </a:rPr>
              <a:t>admission_id</a:t>
            </a:r>
            <a:endParaRPr b="0" i="0" sz="1500" u="none" cap="none" strike="noStrike">
              <a:solidFill>
                <a:srgbClr val="000000"/>
              </a:solidFill>
              <a:latin typeface="Arial"/>
              <a:ea typeface="Arial"/>
              <a:cs typeface="Arial"/>
              <a:sym typeface="Arial"/>
            </a:endParaRPr>
          </a:p>
        </p:txBody>
      </p:sp>
      <p:sp>
        <p:nvSpPr>
          <p:cNvPr id="112" name="Google Shape;112;p2"/>
          <p:cNvSpPr/>
          <p:nvPr/>
        </p:nvSpPr>
        <p:spPr>
          <a:xfrm>
            <a:off x="3566754" y="3621373"/>
            <a:ext cx="1403400" cy="25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16"/>
              <a:buFont typeface="Arial"/>
              <a:buNone/>
            </a:pPr>
            <a:r>
              <a:rPr b="1" i="0" lang="en-US" sz="1500" u="none" cap="none" strike="noStrike">
                <a:solidFill>
                  <a:srgbClr val="0B6E4F"/>
                </a:solidFill>
                <a:latin typeface="Calibri"/>
                <a:ea typeface="Calibri"/>
                <a:cs typeface="Calibri"/>
                <a:sym typeface="Calibri"/>
              </a:rPr>
              <a:t>patient_id</a:t>
            </a:r>
            <a:endParaRPr b="0" i="0" sz="1500" u="none" cap="none" strike="noStrike">
              <a:solidFill>
                <a:srgbClr val="000000"/>
              </a:solidFill>
              <a:latin typeface="Arial"/>
              <a:ea typeface="Arial"/>
              <a:cs typeface="Arial"/>
              <a:sym typeface="Arial"/>
            </a:endParaRPr>
          </a:p>
        </p:txBody>
      </p:sp>
      <p:sp>
        <p:nvSpPr>
          <p:cNvPr id="113" name="Google Shape;113;p2"/>
          <p:cNvSpPr/>
          <p:nvPr/>
        </p:nvSpPr>
        <p:spPr>
          <a:xfrm>
            <a:off x="4938104" y="3316628"/>
            <a:ext cx="657600" cy="25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28"/>
              <a:buFont typeface="Arial"/>
              <a:buNone/>
            </a:pPr>
            <a:r>
              <a:rPr b="0" i="0" lang="en-US" u="none" cap="none" strike="noStrike">
                <a:solidFill>
                  <a:srgbClr val="5B6770"/>
                </a:solidFill>
                <a:latin typeface="Calibri"/>
                <a:ea typeface="Calibri"/>
                <a:cs typeface="Calibri"/>
                <a:sym typeface="Calibri"/>
              </a:rPr>
              <a:t>PK</a:t>
            </a:r>
            <a:endParaRPr b="0" i="0" u="none" cap="none" strike="noStrike">
              <a:solidFill>
                <a:srgbClr val="000000"/>
              </a:solidFill>
              <a:latin typeface="Arial"/>
              <a:ea typeface="Arial"/>
              <a:cs typeface="Arial"/>
              <a:sym typeface="Arial"/>
            </a:endParaRPr>
          </a:p>
        </p:txBody>
      </p:sp>
      <p:sp>
        <p:nvSpPr>
          <p:cNvPr id="114" name="Google Shape;114;p2"/>
          <p:cNvSpPr/>
          <p:nvPr/>
        </p:nvSpPr>
        <p:spPr>
          <a:xfrm>
            <a:off x="4938104" y="3621373"/>
            <a:ext cx="657600" cy="25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28"/>
              <a:buFont typeface="Arial"/>
              <a:buNone/>
            </a:pPr>
            <a:r>
              <a:rPr b="0" i="0" lang="en-US" u="none" cap="none" strike="noStrike">
                <a:solidFill>
                  <a:srgbClr val="5B6770"/>
                </a:solidFill>
                <a:latin typeface="Calibri"/>
                <a:ea typeface="Calibri"/>
                <a:cs typeface="Calibri"/>
                <a:sym typeface="Calibri"/>
              </a:rPr>
              <a:t>FK</a:t>
            </a:r>
            <a:endParaRPr b="0" i="0" u="none" cap="none" strike="noStrike">
              <a:solidFill>
                <a:srgbClr val="000000"/>
              </a:solidFill>
              <a:latin typeface="Arial"/>
              <a:ea typeface="Arial"/>
              <a:cs typeface="Arial"/>
              <a:sym typeface="Arial"/>
            </a:endParaRPr>
          </a:p>
        </p:txBody>
      </p:sp>
      <p:sp>
        <p:nvSpPr>
          <p:cNvPr id="115" name="Google Shape;115;p2"/>
          <p:cNvSpPr/>
          <p:nvPr/>
        </p:nvSpPr>
        <p:spPr>
          <a:xfrm>
            <a:off x="3566754" y="3926117"/>
            <a:ext cx="1403400" cy="25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16"/>
              <a:buFont typeface="Arial"/>
              <a:buNone/>
            </a:pPr>
            <a:r>
              <a:rPr b="1" i="0" lang="en-US" sz="1500" u="none" cap="none" strike="noStrike">
                <a:solidFill>
                  <a:srgbClr val="0B6E4F"/>
                </a:solidFill>
                <a:latin typeface="Calibri"/>
                <a:ea typeface="Calibri"/>
                <a:cs typeface="Calibri"/>
                <a:sym typeface="Calibri"/>
              </a:rPr>
              <a:t>BM_DEP</a:t>
            </a:r>
            <a:endParaRPr b="0" i="0" sz="1500" u="none" cap="none" strike="noStrike">
              <a:solidFill>
                <a:srgbClr val="000000"/>
              </a:solidFill>
              <a:latin typeface="Arial"/>
              <a:ea typeface="Arial"/>
              <a:cs typeface="Arial"/>
              <a:sym typeface="Arial"/>
            </a:endParaRPr>
          </a:p>
        </p:txBody>
      </p:sp>
      <p:sp>
        <p:nvSpPr>
          <p:cNvPr id="116" name="Google Shape;116;p2"/>
          <p:cNvSpPr/>
          <p:nvPr/>
        </p:nvSpPr>
        <p:spPr>
          <a:xfrm>
            <a:off x="4938104" y="3926117"/>
            <a:ext cx="657600" cy="25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28"/>
              <a:buFont typeface="Arial"/>
              <a:buNone/>
            </a:pPr>
            <a:r>
              <a:rPr b="0" i="0" lang="en-US" u="none" cap="none" strike="noStrike">
                <a:solidFill>
                  <a:srgbClr val="5B6770"/>
                </a:solidFill>
                <a:latin typeface="Calibri"/>
                <a:ea typeface="Calibri"/>
                <a:cs typeface="Calibri"/>
                <a:sym typeface="Calibri"/>
              </a:rPr>
              <a:t>INT</a:t>
            </a:r>
            <a:endParaRPr b="0" i="0" u="none" cap="none" strike="noStrike">
              <a:solidFill>
                <a:srgbClr val="000000"/>
              </a:solidFill>
              <a:latin typeface="Arial"/>
              <a:ea typeface="Arial"/>
              <a:cs typeface="Arial"/>
              <a:sym typeface="Arial"/>
            </a:endParaRPr>
          </a:p>
        </p:txBody>
      </p:sp>
      <p:sp>
        <p:nvSpPr>
          <p:cNvPr id="117" name="Google Shape;117;p2"/>
          <p:cNvSpPr/>
          <p:nvPr/>
        </p:nvSpPr>
        <p:spPr>
          <a:xfrm>
            <a:off x="3566754" y="4230861"/>
            <a:ext cx="1403400" cy="25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16"/>
              <a:buFont typeface="Arial"/>
              <a:buNone/>
            </a:pPr>
            <a:r>
              <a:rPr b="1" i="0" lang="en-US" sz="1500" u="none" cap="none" strike="noStrike">
                <a:solidFill>
                  <a:srgbClr val="0B6E4F"/>
                </a:solidFill>
                <a:latin typeface="Calibri"/>
                <a:ea typeface="Calibri"/>
                <a:cs typeface="Calibri"/>
                <a:sym typeface="Calibri"/>
              </a:rPr>
              <a:t>ecog_stage</a:t>
            </a:r>
            <a:endParaRPr b="0" i="0" sz="1500" u="none" cap="none" strike="noStrike">
              <a:solidFill>
                <a:srgbClr val="000000"/>
              </a:solidFill>
              <a:latin typeface="Arial"/>
              <a:ea typeface="Arial"/>
              <a:cs typeface="Arial"/>
              <a:sym typeface="Arial"/>
            </a:endParaRPr>
          </a:p>
        </p:txBody>
      </p:sp>
      <p:sp>
        <p:nvSpPr>
          <p:cNvPr id="118" name="Google Shape;118;p2"/>
          <p:cNvSpPr/>
          <p:nvPr/>
        </p:nvSpPr>
        <p:spPr>
          <a:xfrm>
            <a:off x="4938104" y="4230861"/>
            <a:ext cx="657600" cy="25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28"/>
              <a:buFont typeface="Arial"/>
              <a:buNone/>
            </a:pPr>
            <a:r>
              <a:rPr b="0" i="0" lang="en-US" u="none" cap="none" strike="noStrike">
                <a:solidFill>
                  <a:srgbClr val="5B6770"/>
                </a:solidFill>
                <a:latin typeface="Calibri"/>
                <a:ea typeface="Calibri"/>
                <a:cs typeface="Calibri"/>
                <a:sym typeface="Calibri"/>
              </a:rPr>
              <a:t>INT</a:t>
            </a:r>
            <a:endParaRPr b="0" i="0" u="none" cap="none" strike="noStrike">
              <a:solidFill>
                <a:srgbClr val="000000"/>
              </a:solidFill>
              <a:latin typeface="Arial"/>
              <a:ea typeface="Arial"/>
              <a:cs typeface="Arial"/>
              <a:sym typeface="Arial"/>
            </a:endParaRPr>
          </a:p>
        </p:txBody>
      </p:sp>
      <p:cxnSp>
        <p:nvCxnSpPr>
          <p:cNvPr id="119" name="Google Shape;119;p2"/>
          <p:cNvCxnSpPr/>
          <p:nvPr/>
        </p:nvCxnSpPr>
        <p:spPr>
          <a:xfrm flipH="1" rot="10800000">
            <a:off x="3463857" y="3261622"/>
            <a:ext cx="2144400" cy="300"/>
          </a:xfrm>
          <a:prstGeom prst="straightConnector1">
            <a:avLst/>
          </a:prstGeom>
          <a:noFill/>
          <a:ln cap="flat" cmpd="sng" w="12700">
            <a:solidFill>
              <a:srgbClr val="8E989E"/>
            </a:solidFill>
            <a:prstDash val="solid"/>
            <a:round/>
            <a:headEnd len="sm" w="sm" type="none"/>
            <a:tailEnd len="sm" w="sm" type="none"/>
          </a:ln>
          <a:effectLst>
            <a:outerShdw blurRad="40000" rotWithShape="0" dir="5400000" dist="20000">
              <a:srgbClr val="000000">
                <a:alpha val="38040"/>
              </a:srgbClr>
            </a:outerShdw>
          </a:effectLst>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h4e1cd23050cdd6e6_1_287"/>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126" name="Google Shape;126;h4e1cd23050cdd6e6_1_287"/>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127" name="Google Shape;127;h4e1cd23050cdd6e6_1_287"/>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h4e1cd23050cdd6e6_1_287"/>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129" name="Google Shape;129;h4e1cd23050cdd6e6_1_287"/>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 name="Google Shape;130;h4e1cd23050cdd6e6_1_287"/>
          <p:cNvSpPr/>
          <p:nvPr/>
        </p:nvSpPr>
        <p:spPr>
          <a:xfrm>
            <a:off x="4754880" y="2057400"/>
            <a:ext cx="6656700" cy="4453200"/>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h4e1cd23050cdd6e6_1_287"/>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132" name="Google Shape;132;h4e1cd23050cdd6e6_1_287"/>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h4e1cd23050cdd6e6_1_287"/>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134" name="Google Shape;134;h4e1cd23050cdd6e6_1_287"/>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135" name="Google Shape;135;h4e1cd23050cdd6e6_1_287"/>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136" name="Google Shape;136;h4e1cd23050cdd6e6_1_287"/>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137" name="Google Shape;137;h4e1cd23050cdd6e6_1_287"/>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138" name="Google Shape;138;h4e1cd23050cdd6e6_1_287"/>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139" name="Google Shape;139;h4e1cd23050cdd6e6_1_287"/>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140" name="Google Shape;140;h4e1cd23050cdd6e6_1_287"/>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141" name="Google Shape;141;h4e1cd23050cdd6e6_1_287"/>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142" name="Google Shape;142;h4e1cd23050cdd6e6_1_287"/>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143" name="Google Shape;143;h4e1cd23050cdd6e6_1_287"/>
          <p:cNvSpPr/>
          <p:nvPr/>
        </p:nvSpPr>
        <p:spPr>
          <a:xfrm>
            <a:off x="4983480" y="3200400"/>
            <a:ext cx="6217800" cy="3200400"/>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h4e1cd23050cdd6e6_1_8"/>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150" name="Google Shape;150;h4e1cd23050cdd6e6_1_8"/>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151" name="Google Shape;151;h4e1cd23050cdd6e6_1_8"/>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 name="Google Shape;152;h4e1cd23050cdd6e6_1_8"/>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153" name="Google Shape;153;h4e1cd23050cdd6e6_1_8"/>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 name="Google Shape;154;h4e1cd23050cdd6e6_1_8"/>
          <p:cNvSpPr/>
          <p:nvPr/>
        </p:nvSpPr>
        <p:spPr>
          <a:xfrm>
            <a:off x="4754880" y="2057400"/>
            <a:ext cx="6656700" cy="4453200"/>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h4e1cd23050cdd6e6_1_8"/>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156" name="Google Shape;156;h4e1cd23050cdd6e6_1_8"/>
          <p:cNvSpPr/>
          <p:nvPr/>
        </p:nvSpPr>
        <p:spPr>
          <a:xfrm>
            <a:off x="5093208" y="2633472"/>
            <a:ext cx="21030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 name="Google Shape;157;h4e1cd23050cdd6e6_1_8"/>
          <p:cNvSpPr txBox="1"/>
          <p:nvPr/>
        </p:nvSpPr>
        <p:spPr>
          <a:xfrm>
            <a:off x="5248656" y="2743200"/>
            <a:ext cx="17466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158" name="Google Shape;158;h4e1cd23050cdd6e6_1_8"/>
          <p:cNvSpPr/>
          <p:nvPr/>
        </p:nvSpPr>
        <p:spPr>
          <a:xfrm>
            <a:off x="9253728" y="2633472"/>
            <a:ext cx="18288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h4e1cd23050cdd6e6_1_8"/>
          <p:cNvSpPr txBox="1"/>
          <p:nvPr/>
        </p:nvSpPr>
        <p:spPr>
          <a:xfrm>
            <a:off x="9354312" y="2743200"/>
            <a:ext cx="164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160" name="Google Shape;160;h4e1cd23050cdd6e6_1_8"/>
          <p:cNvCxnSpPr/>
          <p:nvPr/>
        </p:nvCxnSpPr>
        <p:spPr>
          <a:xfrm>
            <a:off x="7278624" y="2871216"/>
            <a:ext cx="1865400" cy="0"/>
          </a:xfrm>
          <a:prstGeom prst="straightConnector1">
            <a:avLst/>
          </a:prstGeom>
          <a:noFill/>
          <a:ln cap="flat" cmpd="sng" w="31750">
            <a:solidFill>
              <a:srgbClr val="0B6E4F"/>
            </a:solidFill>
            <a:prstDash val="solid"/>
            <a:miter lim="0"/>
            <a:headEnd len="sm" w="sm" type="none"/>
            <a:tailEnd len="med" w="med" type="triangle"/>
          </a:ln>
        </p:spPr>
      </p:cxnSp>
      <p:sp>
        <p:nvSpPr>
          <p:cNvPr id="161" name="Google Shape;161;h4e1cd23050cdd6e6_1_8"/>
          <p:cNvSpPr/>
          <p:nvPr/>
        </p:nvSpPr>
        <p:spPr>
          <a:xfrm>
            <a:off x="7388352" y="2487168"/>
            <a:ext cx="1591200" cy="27420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 name="Google Shape;162;h4e1cd23050cdd6e6_1_8"/>
          <p:cNvSpPr txBox="1"/>
          <p:nvPr/>
        </p:nvSpPr>
        <p:spPr>
          <a:xfrm>
            <a:off x="7278624" y="2514600"/>
            <a:ext cx="17832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163" name="Google Shape;163;h4e1cd23050cdd6e6_1_8"/>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h4e1cd23050cdd6e6_1_8"/>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165" name="Google Shape;165;h4e1cd23050cdd6e6_1_8"/>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166" name="Google Shape;166;h4e1cd23050cdd6e6_1_8"/>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167" name="Google Shape;167;h4e1cd23050cdd6e6_1_8"/>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168" name="Google Shape;168;h4e1cd23050cdd6e6_1_8"/>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169" name="Google Shape;169;h4e1cd23050cdd6e6_1_8"/>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170" name="Google Shape;170;h4e1cd23050cdd6e6_1_8"/>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171" name="Google Shape;171;h4e1cd23050cdd6e6_1_8"/>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172" name="Google Shape;172;h4e1cd23050cdd6e6_1_8"/>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173" name="Google Shape;173;h4e1cd23050cdd6e6_1_8"/>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174" name="Google Shape;174;h4e1cd23050cdd6e6_1_8"/>
          <p:cNvSpPr/>
          <p:nvPr/>
        </p:nvSpPr>
        <p:spPr>
          <a:xfrm>
            <a:off x="4983480" y="3200400"/>
            <a:ext cx="6217800" cy="3200400"/>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h4e1cd23050cdd6e6_1_8"/>
          <p:cNvSpPr txBox="1"/>
          <p:nvPr/>
        </p:nvSpPr>
        <p:spPr>
          <a:xfrm>
            <a:off x="4983480" y="326440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Class:</a:t>
            </a:r>
            <a:r>
              <a:rPr b="0" i="0" lang="en-US" sz="1050" u="none" cap="none" strike="noStrike">
                <a:solidFill>
                  <a:srgbClr val="1F2328"/>
                </a:solidFill>
                <a:latin typeface="Consolas"/>
                <a:ea typeface="Consolas"/>
                <a:cs typeface="Consolas"/>
                <a:sym typeface="Consolas"/>
              </a:rPr>
              <a:t> Admission</a:t>
            </a:r>
            <a:endParaRPr b="0" i="0" sz="1050" u="none" cap="none" strike="noStrike">
              <a:solidFill>
                <a:srgbClr val="000000"/>
              </a:solidFill>
              <a:latin typeface="Arial"/>
              <a:ea typeface="Arial"/>
              <a:cs typeface="Arial"/>
              <a:sym typeface="Arial"/>
            </a:endParaRPr>
          </a:p>
        </p:txBody>
      </p:sp>
      <p:sp>
        <p:nvSpPr>
          <p:cNvPr id="176" name="Google Shape;176;h4e1cd23050cdd6e6_1_8"/>
          <p:cNvSpPr txBox="1"/>
          <p:nvPr/>
        </p:nvSpPr>
        <p:spPr>
          <a:xfrm>
            <a:off x="4983480" y="342611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SubClassOf:</a:t>
            </a:r>
            <a:endParaRPr b="0" i="0" sz="1050" u="none" cap="none" strike="noStrike">
              <a:solidFill>
                <a:srgbClr val="000000"/>
              </a:solidFill>
              <a:latin typeface="Arial"/>
              <a:ea typeface="Arial"/>
              <a:cs typeface="Arial"/>
              <a:sym typeface="Arial"/>
            </a:endParaRPr>
          </a:p>
        </p:txBody>
      </p:sp>
      <p:sp>
        <p:nvSpPr>
          <p:cNvPr id="177" name="Google Shape;177;h4e1cd23050cdd6e6_1_8"/>
          <p:cNvSpPr txBox="1"/>
          <p:nvPr/>
        </p:nvSpPr>
        <p:spPr>
          <a:xfrm>
            <a:off x="4983480" y="358781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admission_id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178" name="Google Shape;178;h4e1cd23050cdd6e6_1_8"/>
          <p:cNvSpPr txBox="1"/>
          <p:nvPr/>
        </p:nvSpPr>
        <p:spPr>
          <a:xfrm>
            <a:off x="4983480" y="374952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1F2328"/>
                </a:solidFill>
                <a:highlight>
                  <a:srgbClr val="FFE599"/>
                </a:highlight>
                <a:latin typeface="Consolas"/>
                <a:ea typeface="Consolas"/>
                <a:cs typeface="Consolas"/>
                <a:sym typeface="Consolas"/>
              </a:rPr>
              <a:t>hasPatientData </a:t>
            </a:r>
            <a:r>
              <a:rPr b="1" i="0" lang="en-US" sz="1050" u="none" cap="none" strike="noStrike">
                <a:solidFill>
                  <a:srgbClr val="0B6E4F"/>
                </a:solidFill>
                <a:highlight>
                  <a:srgbClr val="FFE599"/>
                </a:highlight>
                <a:latin typeface="Consolas"/>
                <a:ea typeface="Consolas"/>
                <a:cs typeface="Consolas"/>
                <a:sym typeface="Consolas"/>
              </a:rPr>
              <a:t>some</a:t>
            </a:r>
            <a:r>
              <a:rPr b="0" i="0" lang="en-US" sz="1050" u="none" cap="none" strike="noStrike">
                <a:solidFill>
                  <a:srgbClr val="1F2328"/>
                </a:solidFill>
                <a:highlight>
                  <a:srgbClr val="FFE599"/>
                </a:highlight>
                <a:latin typeface="Consolas"/>
                <a:ea typeface="Consolas"/>
                <a:cs typeface="Consolas"/>
                <a:sym typeface="Consolas"/>
              </a:rPr>
              <a:t> PatientData,</a:t>
            </a:r>
            <a:endParaRPr b="0" i="0" sz="1050" u="none" cap="none" strike="noStrike">
              <a:solidFill>
                <a:srgbClr val="000000"/>
              </a:solidFill>
              <a:latin typeface="Arial"/>
              <a:ea typeface="Arial"/>
              <a:cs typeface="Arial"/>
              <a:sym typeface="Arial"/>
            </a:endParaRPr>
          </a:p>
        </p:txBody>
      </p:sp>
      <p:sp>
        <p:nvSpPr>
          <p:cNvPr id="179" name="Google Shape;179;h4e1cd23050cdd6e6_1_8"/>
          <p:cNvSpPr/>
          <p:nvPr/>
        </p:nvSpPr>
        <p:spPr>
          <a:xfrm>
            <a:off x="9399912" y="374952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180" name="Google Shape;180;h4e1cd23050cdd6e6_1_8"/>
          <p:cNvSpPr txBox="1"/>
          <p:nvPr/>
        </p:nvSpPr>
        <p:spPr>
          <a:xfrm>
            <a:off x="4983480" y="391122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BM_DEP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181" name="Google Shape;181;h4e1cd23050cdd6e6_1_8"/>
          <p:cNvSpPr txBox="1"/>
          <p:nvPr/>
        </p:nvSpPr>
        <p:spPr>
          <a:xfrm>
            <a:off x="4983480" y="4072930"/>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ecog_stage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endParaRPr b="0" i="0" sz="1050" u="none" cap="none" strike="noStrike">
              <a:solidFill>
                <a:srgbClr val="000000"/>
              </a:solidFill>
              <a:latin typeface="Arial"/>
              <a:ea typeface="Arial"/>
              <a:cs typeface="Arial"/>
              <a:sym typeface="Arial"/>
            </a:endParaRPr>
          </a:p>
        </p:txBody>
      </p:sp>
      <p:sp>
        <p:nvSpPr>
          <p:cNvPr id="182" name="Google Shape;182;h4e1cd23050cdd6e6_1_8"/>
          <p:cNvSpPr txBox="1"/>
          <p:nvPr/>
        </p:nvSpPr>
        <p:spPr>
          <a:xfrm>
            <a:off x="4983480" y="439633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admission_id</a:t>
            </a:r>
            <a:endParaRPr b="0" i="0" sz="1050" u="none" cap="none" strike="noStrike">
              <a:solidFill>
                <a:srgbClr val="000000"/>
              </a:solidFill>
              <a:latin typeface="Arial"/>
              <a:ea typeface="Arial"/>
              <a:cs typeface="Arial"/>
              <a:sym typeface="Arial"/>
            </a:endParaRPr>
          </a:p>
        </p:txBody>
      </p:sp>
      <p:sp>
        <p:nvSpPr>
          <p:cNvPr id="183" name="Google Shape;183;h4e1cd23050cdd6e6_1_8"/>
          <p:cNvSpPr txBox="1"/>
          <p:nvPr/>
        </p:nvSpPr>
        <p:spPr>
          <a:xfrm>
            <a:off x="4983480" y="4558043"/>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highlight>
                  <a:srgbClr val="FFE599"/>
                </a:highlight>
                <a:latin typeface="Consolas"/>
                <a:ea typeface="Consolas"/>
                <a:cs typeface="Consolas"/>
                <a:sym typeface="Consolas"/>
              </a:rPr>
              <a:t>ObjectProperty:</a:t>
            </a:r>
            <a:r>
              <a:rPr b="0" i="0" lang="en-US" sz="1050" u="none" cap="none" strike="noStrike">
                <a:solidFill>
                  <a:srgbClr val="1F2328"/>
                </a:solidFill>
                <a:highlight>
                  <a:srgbClr val="FFE599"/>
                </a:highlight>
                <a:latin typeface="Consolas"/>
                <a:ea typeface="Consolas"/>
                <a:cs typeface="Consolas"/>
                <a:sym typeface="Consolas"/>
              </a:rPr>
              <a:t> hasPatientData</a:t>
            </a:r>
            <a:endParaRPr b="0" i="0" sz="1050" u="none" cap="none" strike="noStrike">
              <a:solidFill>
                <a:srgbClr val="000000"/>
              </a:solidFill>
              <a:latin typeface="Arial"/>
              <a:ea typeface="Arial"/>
              <a:cs typeface="Arial"/>
              <a:sym typeface="Arial"/>
            </a:endParaRPr>
          </a:p>
        </p:txBody>
      </p:sp>
      <p:sp>
        <p:nvSpPr>
          <p:cNvPr id="184" name="Google Shape;184;h4e1cd23050cdd6e6_1_8"/>
          <p:cNvSpPr/>
          <p:nvPr/>
        </p:nvSpPr>
        <p:spPr>
          <a:xfrm>
            <a:off x="9399912" y="4558043"/>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185" name="Google Shape;185;h4e1cd23050cdd6e6_1_8"/>
          <p:cNvSpPr txBox="1"/>
          <p:nvPr/>
        </p:nvSpPr>
        <p:spPr>
          <a:xfrm>
            <a:off x="4983480" y="471974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BM_DEP</a:t>
            </a:r>
            <a:endParaRPr b="0" i="0" sz="1050" u="none" cap="none" strike="noStrike">
              <a:solidFill>
                <a:srgbClr val="000000"/>
              </a:solidFill>
              <a:latin typeface="Arial"/>
              <a:ea typeface="Arial"/>
              <a:cs typeface="Arial"/>
              <a:sym typeface="Arial"/>
            </a:endParaRPr>
          </a:p>
        </p:txBody>
      </p:sp>
      <p:sp>
        <p:nvSpPr>
          <p:cNvPr id="186" name="Google Shape;186;h4e1cd23050cdd6e6_1_8"/>
          <p:cNvSpPr txBox="1"/>
          <p:nvPr/>
        </p:nvSpPr>
        <p:spPr>
          <a:xfrm>
            <a:off x="4983480" y="488145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187" name="Google Shape;187;h4e1cd23050cdd6e6_1_8"/>
          <p:cNvSpPr txBox="1"/>
          <p:nvPr/>
        </p:nvSpPr>
        <p:spPr>
          <a:xfrm>
            <a:off x="4983480" y="536656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highlight>
                  <a:srgbClr val="FFE599"/>
                </a:highlight>
                <a:latin typeface="Consolas"/>
                <a:ea typeface="Consolas"/>
                <a:cs typeface="Consolas"/>
                <a:sym typeface="Consolas"/>
              </a:rPr>
              <a:t>prov:wasDerivedFrom</a:t>
            </a:r>
            <a:r>
              <a:rPr b="0" i="0" lang="en-US" sz="1050" u="none" cap="none" strike="noStrike">
                <a:solidFill>
                  <a:srgbClr val="1F2328"/>
                </a:solidFill>
                <a:highlight>
                  <a:srgbClr val="FFE599"/>
                </a:highlight>
                <a:latin typeface="Consolas"/>
                <a:ea typeface="Consolas"/>
                <a:cs typeface="Consolas"/>
                <a:sym typeface="Consolas"/>
              </a:rPr>
              <a:t> </a:t>
            </a:r>
            <a:r>
              <a:rPr b="0" i="0" lang="en-US" sz="1050" u="none" cap="none" strike="noStrike">
                <a:solidFill>
                  <a:srgbClr val="2F6B78"/>
                </a:solidFill>
                <a:highlight>
                  <a:srgbClr val="FFE599"/>
                </a:highlight>
                <a:latin typeface="Consolas"/>
                <a:ea typeface="Consolas"/>
                <a:cs typeface="Consolas"/>
                <a:sym typeface="Consolas"/>
              </a:rPr>
              <a:t>admission:BM_DEP</a:t>
            </a:r>
            <a:endParaRPr b="0" i="0" sz="1050" u="none" cap="none" strike="noStrike">
              <a:solidFill>
                <a:srgbClr val="000000"/>
              </a:solidFill>
              <a:latin typeface="Arial"/>
              <a:ea typeface="Arial"/>
              <a:cs typeface="Arial"/>
              <a:sym typeface="Arial"/>
            </a:endParaRPr>
          </a:p>
        </p:txBody>
      </p:sp>
      <p:sp>
        <p:nvSpPr>
          <p:cNvPr id="188" name="Google Shape;188;h4e1cd23050cdd6e6_1_8"/>
          <p:cNvSpPr/>
          <p:nvPr/>
        </p:nvSpPr>
        <p:spPr>
          <a:xfrm>
            <a:off x="9399912" y="5366565"/>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
        <p:nvSpPr>
          <p:cNvPr id="189" name="Google Shape;189;h4e1cd23050cdd6e6_1_8"/>
          <p:cNvSpPr txBox="1"/>
          <p:nvPr/>
        </p:nvSpPr>
        <p:spPr>
          <a:xfrm>
            <a:off x="4983480" y="5528269"/>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ecog_stage</a:t>
            </a:r>
            <a:endParaRPr b="0" i="0" sz="1050" u="none" cap="none" strike="noStrike">
              <a:solidFill>
                <a:srgbClr val="000000"/>
              </a:solidFill>
              <a:latin typeface="Arial"/>
              <a:ea typeface="Arial"/>
              <a:cs typeface="Arial"/>
              <a:sym typeface="Arial"/>
            </a:endParaRPr>
          </a:p>
        </p:txBody>
      </p:sp>
      <p:sp>
        <p:nvSpPr>
          <p:cNvPr id="190" name="Google Shape;190;h4e1cd23050cdd6e6_1_8"/>
          <p:cNvSpPr txBox="1"/>
          <p:nvPr/>
        </p:nvSpPr>
        <p:spPr>
          <a:xfrm>
            <a:off x="4983480" y="5689974"/>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191" name="Google Shape;191;h4e1cd23050cdd6e6_1_8"/>
          <p:cNvSpPr txBox="1"/>
          <p:nvPr/>
        </p:nvSpPr>
        <p:spPr>
          <a:xfrm>
            <a:off x="4983480" y="617508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highlight>
                  <a:srgbClr val="FFE599"/>
                </a:highlight>
                <a:latin typeface="Consolas"/>
                <a:ea typeface="Consolas"/>
                <a:cs typeface="Consolas"/>
                <a:sym typeface="Consolas"/>
              </a:rPr>
              <a:t>prov:wasDerivedFrom</a:t>
            </a:r>
            <a:r>
              <a:rPr b="0" i="0" lang="en-US" sz="1050" u="none" cap="none" strike="noStrike">
                <a:solidFill>
                  <a:srgbClr val="1F2328"/>
                </a:solidFill>
                <a:highlight>
                  <a:srgbClr val="FFE599"/>
                </a:highlight>
                <a:latin typeface="Consolas"/>
                <a:ea typeface="Consolas"/>
                <a:cs typeface="Consolas"/>
                <a:sym typeface="Consolas"/>
              </a:rPr>
              <a:t> </a:t>
            </a:r>
            <a:r>
              <a:rPr b="0" i="0" lang="en-US" sz="1050" u="none" cap="none" strike="noStrike">
                <a:solidFill>
                  <a:srgbClr val="2F6B78"/>
                </a:solidFill>
                <a:highlight>
                  <a:srgbClr val="FFE599"/>
                </a:highlight>
                <a:latin typeface="Consolas"/>
                <a:ea typeface="Consolas"/>
                <a:cs typeface="Consolas"/>
                <a:sym typeface="Consolas"/>
              </a:rPr>
              <a:t>admission:ecog_stage</a:t>
            </a:r>
            <a:endParaRPr b="0" i="0" sz="1050" u="none" cap="none" strike="noStrike">
              <a:solidFill>
                <a:srgbClr val="000000"/>
              </a:solidFill>
              <a:latin typeface="Arial"/>
              <a:ea typeface="Arial"/>
              <a:cs typeface="Arial"/>
              <a:sym typeface="Arial"/>
            </a:endParaRPr>
          </a:p>
        </p:txBody>
      </p:sp>
      <p:sp>
        <p:nvSpPr>
          <p:cNvPr id="192" name="Google Shape;192;h4e1cd23050cdd6e6_1_8"/>
          <p:cNvSpPr/>
          <p:nvPr/>
        </p:nvSpPr>
        <p:spPr>
          <a:xfrm>
            <a:off x="9399912" y="6175087"/>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h4e1cd23050cdd6e6_1_56"/>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199" name="Google Shape;199;h4e1cd23050cdd6e6_1_56"/>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200" name="Google Shape;200;h4e1cd23050cdd6e6_1_56"/>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h4e1cd23050cdd6e6_1_56"/>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202" name="Google Shape;202;h4e1cd23050cdd6e6_1_56"/>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3" name="Google Shape;203;h4e1cd23050cdd6e6_1_56"/>
          <p:cNvSpPr/>
          <p:nvPr/>
        </p:nvSpPr>
        <p:spPr>
          <a:xfrm>
            <a:off x="4754880" y="2057400"/>
            <a:ext cx="6656700" cy="4453200"/>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4" name="Google Shape;204;h4e1cd23050cdd6e6_1_56"/>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205" name="Google Shape;205;h4e1cd23050cdd6e6_1_56"/>
          <p:cNvSpPr/>
          <p:nvPr/>
        </p:nvSpPr>
        <p:spPr>
          <a:xfrm>
            <a:off x="5093208" y="2633472"/>
            <a:ext cx="21030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6" name="Google Shape;206;h4e1cd23050cdd6e6_1_56"/>
          <p:cNvSpPr txBox="1"/>
          <p:nvPr/>
        </p:nvSpPr>
        <p:spPr>
          <a:xfrm>
            <a:off x="5248656" y="2743200"/>
            <a:ext cx="17466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207" name="Google Shape;207;h4e1cd23050cdd6e6_1_56"/>
          <p:cNvSpPr/>
          <p:nvPr/>
        </p:nvSpPr>
        <p:spPr>
          <a:xfrm>
            <a:off x="9253728" y="2633472"/>
            <a:ext cx="18288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h4e1cd23050cdd6e6_1_56"/>
          <p:cNvSpPr txBox="1"/>
          <p:nvPr/>
        </p:nvSpPr>
        <p:spPr>
          <a:xfrm>
            <a:off x="9354312" y="2743200"/>
            <a:ext cx="164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209" name="Google Shape;209;h4e1cd23050cdd6e6_1_56"/>
          <p:cNvCxnSpPr/>
          <p:nvPr/>
        </p:nvCxnSpPr>
        <p:spPr>
          <a:xfrm>
            <a:off x="7278624" y="2871216"/>
            <a:ext cx="1865400" cy="0"/>
          </a:xfrm>
          <a:prstGeom prst="straightConnector1">
            <a:avLst/>
          </a:prstGeom>
          <a:noFill/>
          <a:ln cap="flat" cmpd="sng" w="31750">
            <a:solidFill>
              <a:srgbClr val="0B6E4F"/>
            </a:solidFill>
            <a:prstDash val="solid"/>
            <a:miter lim="0"/>
            <a:headEnd len="sm" w="sm" type="none"/>
            <a:tailEnd len="med" w="med" type="triangle"/>
          </a:ln>
        </p:spPr>
      </p:cxnSp>
      <p:sp>
        <p:nvSpPr>
          <p:cNvPr id="210" name="Google Shape;210;h4e1cd23050cdd6e6_1_56"/>
          <p:cNvSpPr/>
          <p:nvPr/>
        </p:nvSpPr>
        <p:spPr>
          <a:xfrm>
            <a:off x="7388352" y="2487168"/>
            <a:ext cx="1591200" cy="27420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h4e1cd23050cdd6e6_1_56"/>
          <p:cNvSpPr txBox="1"/>
          <p:nvPr/>
        </p:nvSpPr>
        <p:spPr>
          <a:xfrm>
            <a:off x="7278624" y="2514600"/>
            <a:ext cx="17832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212" name="Google Shape;212;h4e1cd23050cdd6e6_1_56"/>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h4e1cd23050cdd6e6_1_56"/>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214" name="Google Shape;214;h4e1cd23050cdd6e6_1_56"/>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215" name="Google Shape;215;h4e1cd23050cdd6e6_1_56"/>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216" name="Google Shape;216;h4e1cd23050cdd6e6_1_56"/>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217" name="Google Shape;217;h4e1cd23050cdd6e6_1_56"/>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218" name="Google Shape;218;h4e1cd23050cdd6e6_1_56"/>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219" name="Google Shape;219;h4e1cd23050cdd6e6_1_56"/>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220" name="Google Shape;220;h4e1cd23050cdd6e6_1_56"/>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221" name="Google Shape;221;h4e1cd23050cdd6e6_1_56"/>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222" name="Google Shape;222;h4e1cd23050cdd6e6_1_56"/>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223" name="Google Shape;223;h4e1cd23050cdd6e6_1_56"/>
          <p:cNvSpPr/>
          <p:nvPr/>
        </p:nvSpPr>
        <p:spPr>
          <a:xfrm>
            <a:off x="4983480" y="3200400"/>
            <a:ext cx="6217800" cy="3200400"/>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h4e1cd23050cdd6e6_1_56"/>
          <p:cNvSpPr txBox="1"/>
          <p:nvPr/>
        </p:nvSpPr>
        <p:spPr>
          <a:xfrm>
            <a:off x="4983480" y="326440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Class:</a:t>
            </a:r>
            <a:r>
              <a:rPr b="0" i="0" lang="en-US" sz="1050" u="none" cap="none" strike="noStrike">
                <a:solidFill>
                  <a:srgbClr val="1F2328"/>
                </a:solidFill>
                <a:latin typeface="Consolas"/>
                <a:ea typeface="Consolas"/>
                <a:cs typeface="Consolas"/>
                <a:sym typeface="Consolas"/>
              </a:rPr>
              <a:t> Admission</a:t>
            </a:r>
            <a:endParaRPr b="0" i="0" sz="1050" u="none" cap="none" strike="noStrike">
              <a:solidFill>
                <a:srgbClr val="000000"/>
              </a:solidFill>
              <a:latin typeface="Arial"/>
              <a:ea typeface="Arial"/>
              <a:cs typeface="Arial"/>
              <a:sym typeface="Arial"/>
            </a:endParaRPr>
          </a:p>
        </p:txBody>
      </p:sp>
      <p:sp>
        <p:nvSpPr>
          <p:cNvPr id="225" name="Google Shape;225;h4e1cd23050cdd6e6_1_56"/>
          <p:cNvSpPr txBox="1"/>
          <p:nvPr/>
        </p:nvSpPr>
        <p:spPr>
          <a:xfrm>
            <a:off x="4983480" y="342611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SubClassOf:</a:t>
            </a:r>
            <a:endParaRPr b="0" i="0" sz="1050" u="none" cap="none" strike="noStrike">
              <a:solidFill>
                <a:srgbClr val="000000"/>
              </a:solidFill>
              <a:latin typeface="Arial"/>
              <a:ea typeface="Arial"/>
              <a:cs typeface="Arial"/>
              <a:sym typeface="Arial"/>
            </a:endParaRPr>
          </a:p>
        </p:txBody>
      </p:sp>
      <p:sp>
        <p:nvSpPr>
          <p:cNvPr id="226" name="Google Shape;226;h4e1cd23050cdd6e6_1_56"/>
          <p:cNvSpPr txBox="1"/>
          <p:nvPr/>
        </p:nvSpPr>
        <p:spPr>
          <a:xfrm>
            <a:off x="4983480" y="358781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admission_id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27" name="Google Shape;227;h4e1cd23050cdd6e6_1_56"/>
          <p:cNvSpPr txBox="1"/>
          <p:nvPr/>
        </p:nvSpPr>
        <p:spPr>
          <a:xfrm>
            <a:off x="4983480" y="374952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hasPatientData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PatientData,</a:t>
            </a:r>
            <a:endParaRPr b="0" i="0" sz="1050" u="none" cap="none" strike="noStrike">
              <a:solidFill>
                <a:srgbClr val="000000"/>
              </a:solidFill>
              <a:latin typeface="Arial"/>
              <a:ea typeface="Arial"/>
              <a:cs typeface="Arial"/>
              <a:sym typeface="Arial"/>
            </a:endParaRPr>
          </a:p>
        </p:txBody>
      </p:sp>
      <p:sp>
        <p:nvSpPr>
          <p:cNvPr id="228" name="Google Shape;228;h4e1cd23050cdd6e6_1_56"/>
          <p:cNvSpPr/>
          <p:nvPr/>
        </p:nvSpPr>
        <p:spPr>
          <a:xfrm>
            <a:off x="9399912" y="374952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229" name="Google Shape;229;h4e1cd23050cdd6e6_1_56"/>
          <p:cNvSpPr txBox="1"/>
          <p:nvPr/>
        </p:nvSpPr>
        <p:spPr>
          <a:xfrm>
            <a:off x="4983480" y="391122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BM_DEP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30" name="Google Shape;230;h4e1cd23050cdd6e6_1_56"/>
          <p:cNvSpPr txBox="1"/>
          <p:nvPr/>
        </p:nvSpPr>
        <p:spPr>
          <a:xfrm>
            <a:off x="4983480" y="4072930"/>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ecog_stage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endParaRPr b="0" i="0" sz="1050" u="none" cap="none" strike="noStrike">
              <a:solidFill>
                <a:srgbClr val="000000"/>
              </a:solidFill>
              <a:latin typeface="Arial"/>
              <a:ea typeface="Arial"/>
              <a:cs typeface="Arial"/>
              <a:sym typeface="Arial"/>
            </a:endParaRPr>
          </a:p>
        </p:txBody>
      </p:sp>
      <p:sp>
        <p:nvSpPr>
          <p:cNvPr id="231" name="Google Shape;231;h4e1cd23050cdd6e6_1_56"/>
          <p:cNvSpPr txBox="1"/>
          <p:nvPr/>
        </p:nvSpPr>
        <p:spPr>
          <a:xfrm>
            <a:off x="4983480" y="439633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admission_id</a:t>
            </a:r>
            <a:endParaRPr b="0" i="0" sz="1050" u="none" cap="none" strike="noStrike">
              <a:solidFill>
                <a:srgbClr val="000000"/>
              </a:solidFill>
              <a:latin typeface="Arial"/>
              <a:ea typeface="Arial"/>
              <a:cs typeface="Arial"/>
              <a:sym typeface="Arial"/>
            </a:endParaRPr>
          </a:p>
        </p:txBody>
      </p:sp>
      <p:sp>
        <p:nvSpPr>
          <p:cNvPr id="232" name="Google Shape;232;h4e1cd23050cdd6e6_1_56"/>
          <p:cNvSpPr txBox="1"/>
          <p:nvPr/>
        </p:nvSpPr>
        <p:spPr>
          <a:xfrm>
            <a:off x="4983480" y="4558043"/>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ObjectProperty:</a:t>
            </a:r>
            <a:r>
              <a:rPr b="0" i="0" lang="en-US" sz="1050" u="none" cap="none" strike="noStrike">
                <a:solidFill>
                  <a:srgbClr val="1F2328"/>
                </a:solidFill>
                <a:latin typeface="Consolas"/>
                <a:ea typeface="Consolas"/>
                <a:cs typeface="Consolas"/>
                <a:sym typeface="Consolas"/>
              </a:rPr>
              <a:t> hasPatientData</a:t>
            </a:r>
            <a:endParaRPr b="0" i="0" sz="1050" u="none" cap="none" strike="noStrike">
              <a:solidFill>
                <a:srgbClr val="000000"/>
              </a:solidFill>
              <a:latin typeface="Arial"/>
              <a:ea typeface="Arial"/>
              <a:cs typeface="Arial"/>
              <a:sym typeface="Arial"/>
            </a:endParaRPr>
          </a:p>
        </p:txBody>
      </p:sp>
      <p:sp>
        <p:nvSpPr>
          <p:cNvPr id="233" name="Google Shape;233;h4e1cd23050cdd6e6_1_56"/>
          <p:cNvSpPr/>
          <p:nvPr/>
        </p:nvSpPr>
        <p:spPr>
          <a:xfrm>
            <a:off x="9399912" y="4558043"/>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234" name="Google Shape;234;h4e1cd23050cdd6e6_1_56"/>
          <p:cNvSpPr txBox="1"/>
          <p:nvPr/>
        </p:nvSpPr>
        <p:spPr>
          <a:xfrm>
            <a:off x="4983480" y="471974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BM_DEP</a:t>
            </a:r>
            <a:endParaRPr b="0" i="0" sz="1050" u="none" cap="none" strike="noStrike">
              <a:solidFill>
                <a:srgbClr val="000000"/>
              </a:solidFill>
              <a:latin typeface="Arial"/>
              <a:ea typeface="Arial"/>
              <a:cs typeface="Arial"/>
              <a:sym typeface="Arial"/>
            </a:endParaRPr>
          </a:p>
        </p:txBody>
      </p:sp>
      <p:sp>
        <p:nvSpPr>
          <p:cNvPr id="235" name="Google Shape;235;h4e1cd23050cdd6e6_1_56"/>
          <p:cNvSpPr txBox="1"/>
          <p:nvPr/>
        </p:nvSpPr>
        <p:spPr>
          <a:xfrm>
            <a:off x="4983480" y="488145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236" name="Google Shape;236;h4e1cd23050cdd6e6_1_56"/>
          <p:cNvSpPr txBox="1"/>
          <p:nvPr/>
        </p:nvSpPr>
        <p:spPr>
          <a:xfrm>
            <a:off x="4983480" y="504315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highlight>
                  <a:srgbClr val="FFE599"/>
                </a:highlight>
                <a:latin typeface="Consolas"/>
                <a:ea typeface="Consolas"/>
                <a:cs typeface="Consolas"/>
                <a:sym typeface="Consolas"/>
              </a:rPr>
              <a:t>rdfs:label</a:t>
            </a:r>
            <a:r>
              <a:rPr b="0" i="0" lang="en-US" sz="1050" u="none" cap="none" strike="noStrike">
                <a:solidFill>
                  <a:srgbClr val="1F2328"/>
                </a:solidFill>
                <a:highlight>
                  <a:srgbClr val="FFE599"/>
                </a:highlight>
                <a:latin typeface="Consolas"/>
                <a:ea typeface="Consolas"/>
                <a:cs typeface="Consolas"/>
                <a:sym typeface="Consolas"/>
              </a:rPr>
              <a:t> </a:t>
            </a:r>
            <a:r>
              <a:rPr b="0" i="0" lang="en-US" sz="1050" u="none" cap="none" strike="noStrike">
                <a:solidFill>
                  <a:srgbClr val="A3401E"/>
                </a:solidFill>
                <a:highlight>
                  <a:srgbClr val="FFE599"/>
                </a:highlight>
                <a:latin typeface="Consolas"/>
                <a:ea typeface="Consolas"/>
                <a:cs typeface="Consolas"/>
                <a:sym typeface="Consolas"/>
              </a:rPr>
              <a:t>"Bone Marrow Depression"@en</a:t>
            </a:r>
            <a:r>
              <a:rPr b="0" i="0" lang="en-US" sz="1050" u="none" cap="none" strike="noStrike">
                <a:solidFill>
                  <a:srgbClr val="1F2328"/>
                </a:solidFill>
                <a:highlight>
                  <a:srgbClr val="FFE599"/>
                </a:highlight>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37" name="Google Shape;237;h4e1cd23050cdd6e6_1_56"/>
          <p:cNvSpPr/>
          <p:nvPr/>
        </p:nvSpPr>
        <p:spPr>
          <a:xfrm>
            <a:off x="9399912" y="5043156"/>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238" name="Google Shape;238;h4e1cd23050cdd6e6_1_56"/>
          <p:cNvSpPr txBox="1"/>
          <p:nvPr/>
        </p:nvSpPr>
        <p:spPr>
          <a:xfrm>
            <a:off x="4983480" y="536656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admission:BM_DEP</a:t>
            </a:r>
            <a:endParaRPr b="0" i="0" sz="1050" u="none" cap="none" strike="noStrike">
              <a:solidFill>
                <a:srgbClr val="000000"/>
              </a:solidFill>
              <a:latin typeface="Arial"/>
              <a:ea typeface="Arial"/>
              <a:cs typeface="Arial"/>
              <a:sym typeface="Arial"/>
            </a:endParaRPr>
          </a:p>
        </p:txBody>
      </p:sp>
      <p:sp>
        <p:nvSpPr>
          <p:cNvPr id="239" name="Google Shape;239;h4e1cd23050cdd6e6_1_56"/>
          <p:cNvSpPr/>
          <p:nvPr/>
        </p:nvSpPr>
        <p:spPr>
          <a:xfrm>
            <a:off x="9399912" y="5366565"/>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
        <p:nvSpPr>
          <p:cNvPr id="240" name="Google Shape;240;h4e1cd23050cdd6e6_1_56"/>
          <p:cNvSpPr txBox="1"/>
          <p:nvPr/>
        </p:nvSpPr>
        <p:spPr>
          <a:xfrm>
            <a:off x="4983480" y="5528269"/>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ecog_stage</a:t>
            </a:r>
            <a:endParaRPr b="0" i="0" sz="1050" u="none" cap="none" strike="noStrike">
              <a:solidFill>
                <a:srgbClr val="000000"/>
              </a:solidFill>
              <a:latin typeface="Arial"/>
              <a:ea typeface="Arial"/>
              <a:cs typeface="Arial"/>
              <a:sym typeface="Arial"/>
            </a:endParaRPr>
          </a:p>
        </p:txBody>
      </p:sp>
      <p:sp>
        <p:nvSpPr>
          <p:cNvPr id="241" name="Google Shape;241;h4e1cd23050cdd6e6_1_56"/>
          <p:cNvSpPr txBox="1"/>
          <p:nvPr/>
        </p:nvSpPr>
        <p:spPr>
          <a:xfrm>
            <a:off x="4983480" y="5689974"/>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242" name="Google Shape;242;h4e1cd23050cdd6e6_1_56"/>
          <p:cNvSpPr txBox="1"/>
          <p:nvPr/>
        </p:nvSpPr>
        <p:spPr>
          <a:xfrm>
            <a:off x="4983480" y="585167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highlight>
                  <a:srgbClr val="FFE599"/>
                </a:highlight>
                <a:latin typeface="Consolas"/>
                <a:ea typeface="Consolas"/>
                <a:cs typeface="Consolas"/>
                <a:sym typeface="Consolas"/>
              </a:rPr>
              <a:t>rdfs:label</a:t>
            </a:r>
            <a:r>
              <a:rPr b="0" i="0" lang="en-US" sz="1050" u="none" cap="none" strike="noStrike">
                <a:solidFill>
                  <a:srgbClr val="1F2328"/>
                </a:solidFill>
                <a:highlight>
                  <a:srgbClr val="FFE599"/>
                </a:highlight>
                <a:latin typeface="Consolas"/>
                <a:ea typeface="Consolas"/>
                <a:cs typeface="Consolas"/>
                <a:sym typeface="Consolas"/>
              </a:rPr>
              <a:t> </a:t>
            </a:r>
            <a:r>
              <a:rPr b="0" i="0" lang="en-US" sz="1050" u="none" cap="none" strike="noStrike">
                <a:solidFill>
                  <a:srgbClr val="A3401E"/>
                </a:solidFill>
                <a:highlight>
                  <a:srgbClr val="FFE599"/>
                </a:highlight>
                <a:latin typeface="Consolas"/>
                <a:ea typeface="Consolas"/>
                <a:cs typeface="Consolas"/>
                <a:sym typeface="Consolas"/>
              </a:rPr>
              <a:t>"ECOG Performance Status"@en</a:t>
            </a:r>
            <a:r>
              <a:rPr b="0" i="0" lang="en-US" sz="1050" u="none" cap="none" strike="noStrike">
                <a:solidFill>
                  <a:srgbClr val="1F2328"/>
                </a:solidFill>
                <a:highlight>
                  <a:srgbClr val="FFE599"/>
                </a:highlight>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43" name="Google Shape;243;h4e1cd23050cdd6e6_1_56"/>
          <p:cNvSpPr/>
          <p:nvPr/>
        </p:nvSpPr>
        <p:spPr>
          <a:xfrm>
            <a:off x="9399912" y="5851678"/>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244" name="Google Shape;244;h4e1cd23050cdd6e6_1_56"/>
          <p:cNvSpPr txBox="1"/>
          <p:nvPr/>
        </p:nvSpPr>
        <p:spPr>
          <a:xfrm>
            <a:off x="4983480" y="617508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admission:ecog_stage</a:t>
            </a:r>
            <a:endParaRPr b="0" i="0" sz="1050" u="none" cap="none" strike="noStrike">
              <a:solidFill>
                <a:srgbClr val="000000"/>
              </a:solidFill>
              <a:latin typeface="Arial"/>
              <a:ea typeface="Arial"/>
              <a:cs typeface="Arial"/>
              <a:sym typeface="Arial"/>
            </a:endParaRPr>
          </a:p>
        </p:txBody>
      </p:sp>
      <p:sp>
        <p:nvSpPr>
          <p:cNvPr id="245" name="Google Shape;245;h4e1cd23050cdd6e6_1_56"/>
          <p:cNvSpPr/>
          <p:nvPr/>
        </p:nvSpPr>
        <p:spPr>
          <a:xfrm>
            <a:off x="9399912" y="6175087"/>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sp>
        <p:nvSpPr>
          <p:cNvPr id="251" name="Google Shape;251;h4e1cd23050cdd6e6_1_108"/>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252" name="Google Shape;252;h4e1cd23050cdd6e6_1_108"/>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253" name="Google Shape;253;h4e1cd23050cdd6e6_1_108"/>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4" name="Google Shape;254;h4e1cd23050cdd6e6_1_108"/>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255" name="Google Shape;255;h4e1cd23050cdd6e6_1_108"/>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h4e1cd23050cdd6e6_1_108"/>
          <p:cNvSpPr/>
          <p:nvPr/>
        </p:nvSpPr>
        <p:spPr>
          <a:xfrm>
            <a:off x="4754880" y="2057400"/>
            <a:ext cx="6656700" cy="4453200"/>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7" name="Google Shape;257;h4e1cd23050cdd6e6_1_108"/>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258" name="Google Shape;258;h4e1cd23050cdd6e6_1_108"/>
          <p:cNvSpPr/>
          <p:nvPr/>
        </p:nvSpPr>
        <p:spPr>
          <a:xfrm>
            <a:off x="5093208" y="2633472"/>
            <a:ext cx="21030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h4e1cd23050cdd6e6_1_108"/>
          <p:cNvSpPr txBox="1"/>
          <p:nvPr/>
        </p:nvSpPr>
        <p:spPr>
          <a:xfrm>
            <a:off x="5248656" y="2743200"/>
            <a:ext cx="17466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260" name="Google Shape;260;h4e1cd23050cdd6e6_1_108"/>
          <p:cNvSpPr/>
          <p:nvPr/>
        </p:nvSpPr>
        <p:spPr>
          <a:xfrm>
            <a:off x="9253728" y="2633472"/>
            <a:ext cx="18288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h4e1cd23050cdd6e6_1_108"/>
          <p:cNvSpPr txBox="1"/>
          <p:nvPr/>
        </p:nvSpPr>
        <p:spPr>
          <a:xfrm>
            <a:off x="9354312" y="2743200"/>
            <a:ext cx="164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262" name="Google Shape;262;h4e1cd23050cdd6e6_1_108"/>
          <p:cNvCxnSpPr/>
          <p:nvPr/>
        </p:nvCxnSpPr>
        <p:spPr>
          <a:xfrm>
            <a:off x="7278624" y="2871216"/>
            <a:ext cx="1865400" cy="0"/>
          </a:xfrm>
          <a:prstGeom prst="straightConnector1">
            <a:avLst/>
          </a:prstGeom>
          <a:noFill/>
          <a:ln cap="flat" cmpd="sng" w="31750">
            <a:solidFill>
              <a:srgbClr val="0B6E4F"/>
            </a:solidFill>
            <a:prstDash val="solid"/>
            <a:miter lim="0"/>
            <a:headEnd len="sm" w="sm" type="none"/>
            <a:tailEnd len="med" w="med" type="triangle"/>
          </a:ln>
        </p:spPr>
      </p:cxnSp>
      <p:sp>
        <p:nvSpPr>
          <p:cNvPr id="263" name="Google Shape;263;h4e1cd23050cdd6e6_1_108"/>
          <p:cNvSpPr/>
          <p:nvPr/>
        </p:nvSpPr>
        <p:spPr>
          <a:xfrm>
            <a:off x="7388352" y="2487168"/>
            <a:ext cx="1591200" cy="27420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 name="Google Shape;264;h4e1cd23050cdd6e6_1_108"/>
          <p:cNvSpPr txBox="1"/>
          <p:nvPr/>
        </p:nvSpPr>
        <p:spPr>
          <a:xfrm>
            <a:off x="7278624" y="2514600"/>
            <a:ext cx="17832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265" name="Google Shape;265;h4e1cd23050cdd6e6_1_108"/>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h4e1cd23050cdd6e6_1_108"/>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267" name="Google Shape;267;h4e1cd23050cdd6e6_1_108"/>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268" name="Google Shape;268;h4e1cd23050cdd6e6_1_108"/>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269" name="Google Shape;269;h4e1cd23050cdd6e6_1_108"/>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270" name="Google Shape;270;h4e1cd23050cdd6e6_1_108"/>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271" name="Google Shape;271;h4e1cd23050cdd6e6_1_108"/>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272" name="Google Shape;272;h4e1cd23050cdd6e6_1_108"/>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273" name="Google Shape;273;h4e1cd23050cdd6e6_1_108"/>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274" name="Google Shape;274;h4e1cd23050cdd6e6_1_108"/>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275" name="Google Shape;275;h4e1cd23050cdd6e6_1_108"/>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276" name="Google Shape;276;h4e1cd23050cdd6e6_1_108"/>
          <p:cNvSpPr/>
          <p:nvPr/>
        </p:nvSpPr>
        <p:spPr>
          <a:xfrm>
            <a:off x="4983480" y="3200400"/>
            <a:ext cx="6217800" cy="3200400"/>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h4e1cd23050cdd6e6_1_108"/>
          <p:cNvSpPr txBox="1"/>
          <p:nvPr/>
        </p:nvSpPr>
        <p:spPr>
          <a:xfrm>
            <a:off x="4983480" y="326440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Class:</a:t>
            </a:r>
            <a:r>
              <a:rPr b="0" i="0" lang="en-US" sz="1050" u="none" cap="none" strike="noStrike">
                <a:solidFill>
                  <a:srgbClr val="1F2328"/>
                </a:solidFill>
                <a:latin typeface="Consolas"/>
                <a:ea typeface="Consolas"/>
                <a:cs typeface="Consolas"/>
                <a:sym typeface="Consolas"/>
              </a:rPr>
              <a:t> Admission</a:t>
            </a:r>
            <a:endParaRPr b="0" i="0" sz="1050" u="none" cap="none" strike="noStrike">
              <a:solidFill>
                <a:srgbClr val="000000"/>
              </a:solidFill>
              <a:latin typeface="Arial"/>
              <a:ea typeface="Arial"/>
              <a:cs typeface="Arial"/>
              <a:sym typeface="Arial"/>
            </a:endParaRPr>
          </a:p>
        </p:txBody>
      </p:sp>
      <p:sp>
        <p:nvSpPr>
          <p:cNvPr id="278" name="Google Shape;278;h4e1cd23050cdd6e6_1_108"/>
          <p:cNvSpPr txBox="1"/>
          <p:nvPr/>
        </p:nvSpPr>
        <p:spPr>
          <a:xfrm>
            <a:off x="4983480" y="342611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SubClassOf:</a:t>
            </a:r>
            <a:endParaRPr b="0" i="0" sz="1050" u="none" cap="none" strike="noStrike">
              <a:solidFill>
                <a:srgbClr val="000000"/>
              </a:solidFill>
              <a:latin typeface="Arial"/>
              <a:ea typeface="Arial"/>
              <a:cs typeface="Arial"/>
              <a:sym typeface="Arial"/>
            </a:endParaRPr>
          </a:p>
        </p:txBody>
      </p:sp>
      <p:sp>
        <p:nvSpPr>
          <p:cNvPr id="279" name="Google Shape;279;h4e1cd23050cdd6e6_1_108"/>
          <p:cNvSpPr txBox="1"/>
          <p:nvPr/>
        </p:nvSpPr>
        <p:spPr>
          <a:xfrm>
            <a:off x="4983480" y="358781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admission_id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80" name="Google Shape;280;h4e1cd23050cdd6e6_1_108"/>
          <p:cNvSpPr txBox="1"/>
          <p:nvPr/>
        </p:nvSpPr>
        <p:spPr>
          <a:xfrm>
            <a:off x="4983480" y="374952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hasPatientData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PatientData,</a:t>
            </a:r>
            <a:endParaRPr b="0" i="0" sz="1050" u="none" cap="none" strike="noStrike">
              <a:solidFill>
                <a:srgbClr val="000000"/>
              </a:solidFill>
              <a:latin typeface="Arial"/>
              <a:ea typeface="Arial"/>
              <a:cs typeface="Arial"/>
              <a:sym typeface="Arial"/>
            </a:endParaRPr>
          </a:p>
        </p:txBody>
      </p:sp>
      <p:sp>
        <p:nvSpPr>
          <p:cNvPr id="281" name="Google Shape;281;h4e1cd23050cdd6e6_1_108"/>
          <p:cNvSpPr/>
          <p:nvPr/>
        </p:nvSpPr>
        <p:spPr>
          <a:xfrm>
            <a:off x="9399912" y="374952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282" name="Google Shape;282;h4e1cd23050cdd6e6_1_108"/>
          <p:cNvSpPr txBox="1"/>
          <p:nvPr/>
        </p:nvSpPr>
        <p:spPr>
          <a:xfrm>
            <a:off x="4983480" y="391122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BM_DEP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83" name="Google Shape;283;h4e1cd23050cdd6e6_1_108"/>
          <p:cNvSpPr txBox="1"/>
          <p:nvPr/>
        </p:nvSpPr>
        <p:spPr>
          <a:xfrm>
            <a:off x="4983480" y="4072930"/>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ecog_stage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endParaRPr b="0" i="0" sz="1050" u="none" cap="none" strike="noStrike">
              <a:solidFill>
                <a:srgbClr val="000000"/>
              </a:solidFill>
              <a:latin typeface="Arial"/>
              <a:ea typeface="Arial"/>
              <a:cs typeface="Arial"/>
              <a:sym typeface="Arial"/>
            </a:endParaRPr>
          </a:p>
        </p:txBody>
      </p:sp>
      <p:sp>
        <p:nvSpPr>
          <p:cNvPr id="284" name="Google Shape;284;h4e1cd23050cdd6e6_1_108"/>
          <p:cNvSpPr txBox="1"/>
          <p:nvPr/>
        </p:nvSpPr>
        <p:spPr>
          <a:xfrm>
            <a:off x="4983480" y="439633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admission_id</a:t>
            </a:r>
            <a:endParaRPr b="0" i="0" sz="1050" u="none" cap="none" strike="noStrike">
              <a:solidFill>
                <a:srgbClr val="000000"/>
              </a:solidFill>
              <a:latin typeface="Arial"/>
              <a:ea typeface="Arial"/>
              <a:cs typeface="Arial"/>
              <a:sym typeface="Arial"/>
            </a:endParaRPr>
          </a:p>
        </p:txBody>
      </p:sp>
      <p:sp>
        <p:nvSpPr>
          <p:cNvPr id="285" name="Google Shape;285;h4e1cd23050cdd6e6_1_108"/>
          <p:cNvSpPr txBox="1"/>
          <p:nvPr/>
        </p:nvSpPr>
        <p:spPr>
          <a:xfrm>
            <a:off x="4983480" y="4558043"/>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ObjectProperty:</a:t>
            </a:r>
            <a:r>
              <a:rPr b="0" i="0" lang="en-US" sz="1050" u="none" cap="none" strike="noStrike">
                <a:solidFill>
                  <a:srgbClr val="1F2328"/>
                </a:solidFill>
                <a:latin typeface="Consolas"/>
                <a:ea typeface="Consolas"/>
                <a:cs typeface="Consolas"/>
                <a:sym typeface="Consolas"/>
              </a:rPr>
              <a:t> hasPatientData</a:t>
            </a:r>
            <a:endParaRPr b="0" i="0" sz="1050" u="none" cap="none" strike="noStrike">
              <a:solidFill>
                <a:srgbClr val="000000"/>
              </a:solidFill>
              <a:latin typeface="Arial"/>
              <a:ea typeface="Arial"/>
              <a:cs typeface="Arial"/>
              <a:sym typeface="Arial"/>
            </a:endParaRPr>
          </a:p>
        </p:txBody>
      </p:sp>
      <p:sp>
        <p:nvSpPr>
          <p:cNvPr id="286" name="Google Shape;286;h4e1cd23050cdd6e6_1_108"/>
          <p:cNvSpPr/>
          <p:nvPr/>
        </p:nvSpPr>
        <p:spPr>
          <a:xfrm>
            <a:off x="9399912" y="4558043"/>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287" name="Google Shape;287;h4e1cd23050cdd6e6_1_108"/>
          <p:cNvSpPr txBox="1"/>
          <p:nvPr/>
        </p:nvSpPr>
        <p:spPr>
          <a:xfrm>
            <a:off x="4983480" y="471974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BM_DEP</a:t>
            </a:r>
            <a:endParaRPr b="0" i="0" sz="1050" u="none" cap="none" strike="noStrike">
              <a:solidFill>
                <a:srgbClr val="000000"/>
              </a:solidFill>
              <a:latin typeface="Arial"/>
              <a:ea typeface="Arial"/>
              <a:cs typeface="Arial"/>
              <a:sym typeface="Arial"/>
            </a:endParaRPr>
          </a:p>
        </p:txBody>
      </p:sp>
      <p:sp>
        <p:nvSpPr>
          <p:cNvPr id="288" name="Google Shape;288;h4e1cd23050cdd6e6_1_108"/>
          <p:cNvSpPr txBox="1"/>
          <p:nvPr/>
        </p:nvSpPr>
        <p:spPr>
          <a:xfrm>
            <a:off x="4983480" y="488145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289" name="Google Shape;289;h4e1cd23050cdd6e6_1_108"/>
          <p:cNvSpPr txBox="1"/>
          <p:nvPr/>
        </p:nvSpPr>
        <p:spPr>
          <a:xfrm>
            <a:off x="4983480" y="504315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rdfs:label</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A3401E"/>
                </a:solidFill>
                <a:latin typeface="Consolas"/>
                <a:ea typeface="Consolas"/>
                <a:cs typeface="Consolas"/>
                <a:sym typeface="Consolas"/>
              </a:rPr>
              <a:t>"Bone Marrow Depression"@en</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90" name="Google Shape;290;h4e1cd23050cdd6e6_1_108"/>
          <p:cNvSpPr/>
          <p:nvPr/>
        </p:nvSpPr>
        <p:spPr>
          <a:xfrm>
            <a:off x="9399912" y="5043156"/>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291" name="Google Shape;291;h4e1cd23050cdd6e6_1_108"/>
          <p:cNvSpPr txBox="1"/>
          <p:nvPr/>
        </p:nvSpPr>
        <p:spPr>
          <a:xfrm>
            <a:off x="4983480" y="520486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highlight>
                  <a:srgbClr val="FFE599"/>
                </a:highlight>
                <a:latin typeface="Consolas"/>
                <a:ea typeface="Consolas"/>
                <a:cs typeface="Consolas"/>
                <a:sym typeface="Consolas"/>
              </a:rPr>
              <a:t>skos:relatedMatch</a:t>
            </a:r>
            <a:r>
              <a:rPr b="0" i="0" lang="en-US" sz="1050" u="none" cap="none" strike="noStrike">
                <a:solidFill>
                  <a:srgbClr val="1F2328"/>
                </a:solidFill>
                <a:highlight>
                  <a:srgbClr val="FFE599"/>
                </a:highlight>
                <a:latin typeface="Consolas"/>
                <a:ea typeface="Consolas"/>
                <a:cs typeface="Consolas"/>
                <a:sym typeface="Consolas"/>
              </a:rPr>
              <a:t> </a:t>
            </a:r>
            <a:r>
              <a:rPr b="0" i="0" lang="en-US" sz="1050" u="none" cap="none" strike="noStrike">
                <a:solidFill>
                  <a:srgbClr val="2F6B78"/>
                </a:solidFill>
                <a:highlight>
                  <a:srgbClr val="FFE599"/>
                </a:highlight>
                <a:latin typeface="Consolas"/>
                <a:ea typeface="Consolas"/>
                <a:cs typeface="Consolas"/>
                <a:sym typeface="Consolas"/>
              </a:rPr>
              <a:t>obo:DOID_4961</a:t>
            </a:r>
            <a:r>
              <a:rPr b="0" i="0" lang="en-US" sz="1050" u="none" cap="none" strike="noStrike">
                <a:solidFill>
                  <a:srgbClr val="1F2328"/>
                </a:solidFill>
                <a:highlight>
                  <a:srgbClr val="FFE599"/>
                </a:highlight>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92" name="Google Shape;292;h4e1cd23050cdd6e6_1_108"/>
          <p:cNvSpPr/>
          <p:nvPr/>
        </p:nvSpPr>
        <p:spPr>
          <a:xfrm>
            <a:off x="9399912" y="520486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0B6E4F"/>
                </a:solidFill>
                <a:latin typeface="Calibri"/>
                <a:ea typeface="Calibri"/>
                <a:cs typeface="Calibri"/>
                <a:sym typeface="Calibri"/>
              </a:rPr>
              <a:t>← Disease Ontology</a:t>
            </a:r>
            <a:endParaRPr/>
          </a:p>
        </p:txBody>
      </p:sp>
      <p:sp>
        <p:nvSpPr>
          <p:cNvPr id="293" name="Google Shape;293;h4e1cd23050cdd6e6_1_108"/>
          <p:cNvSpPr txBox="1"/>
          <p:nvPr/>
        </p:nvSpPr>
        <p:spPr>
          <a:xfrm>
            <a:off x="4983480" y="536656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admission:BM_DEP</a:t>
            </a:r>
            <a:endParaRPr b="0" i="0" sz="1050" u="none" cap="none" strike="noStrike">
              <a:solidFill>
                <a:srgbClr val="000000"/>
              </a:solidFill>
              <a:latin typeface="Arial"/>
              <a:ea typeface="Arial"/>
              <a:cs typeface="Arial"/>
              <a:sym typeface="Arial"/>
            </a:endParaRPr>
          </a:p>
        </p:txBody>
      </p:sp>
      <p:sp>
        <p:nvSpPr>
          <p:cNvPr id="294" name="Google Shape;294;h4e1cd23050cdd6e6_1_108"/>
          <p:cNvSpPr/>
          <p:nvPr/>
        </p:nvSpPr>
        <p:spPr>
          <a:xfrm>
            <a:off x="9399912" y="5366565"/>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
        <p:nvSpPr>
          <p:cNvPr id="295" name="Google Shape;295;h4e1cd23050cdd6e6_1_108"/>
          <p:cNvSpPr txBox="1"/>
          <p:nvPr/>
        </p:nvSpPr>
        <p:spPr>
          <a:xfrm>
            <a:off x="4983480" y="5528269"/>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ecog_stage</a:t>
            </a:r>
            <a:endParaRPr b="0" i="0" sz="1050" u="none" cap="none" strike="noStrike">
              <a:solidFill>
                <a:srgbClr val="000000"/>
              </a:solidFill>
              <a:latin typeface="Arial"/>
              <a:ea typeface="Arial"/>
              <a:cs typeface="Arial"/>
              <a:sym typeface="Arial"/>
            </a:endParaRPr>
          </a:p>
        </p:txBody>
      </p:sp>
      <p:sp>
        <p:nvSpPr>
          <p:cNvPr id="296" name="Google Shape;296;h4e1cd23050cdd6e6_1_108"/>
          <p:cNvSpPr txBox="1"/>
          <p:nvPr/>
        </p:nvSpPr>
        <p:spPr>
          <a:xfrm>
            <a:off x="4983480" y="5689974"/>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297" name="Google Shape;297;h4e1cd23050cdd6e6_1_108"/>
          <p:cNvSpPr txBox="1"/>
          <p:nvPr/>
        </p:nvSpPr>
        <p:spPr>
          <a:xfrm>
            <a:off x="4983480" y="585167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rdfs:label</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A3401E"/>
                </a:solidFill>
                <a:latin typeface="Consolas"/>
                <a:ea typeface="Consolas"/>
                <a:cs typeface="Consolas"/>
                <a:sym typeface="Consolas"/>
              </a:rPr>
              <a:t>"ECOG Performance Status"@en</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98" name="Google Shape;298;h4e1cd23050cdd6e6_1_108"/>
          <p:cNvSpPr/>
          <p:nvPr/>
        </p:nvSpPr>
        <p:spPr>
          <a:xfrm>
            <a:off x="9399912" y="5851678"/>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299" name="Google Shape;299;h4e1cd23050cdd6e6_1_108"/>
          <p:cNvSpPr txBox="1"/>
          <p:nvPr/>
        </p:nvSpPr>
        <p:spPr>
          <a:xfrm>
            <a:off x="4983480" y="617508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admission:ecog_stage</a:t>
            </a:r>
            <a:endParaRPr b="0" i="0" sz="1050" u="none" cap="none" strike="noStrike">
              <a:solidFill>
                <a:srgbClr val="000000"/>
              </a:solidFill>
              <a:latin typeface="Arial"/>
              <a:ea typeface="Arial"/>
              <a:cs typeface="Arial"/>
              <a:sym typeface="Arial"/>
            </a:endParaRPr>
          </a:p>
        </p:txBody>
      </p:sp>
      <p:sp>
        <p:nvSpPr>
          <p:cNvPr id="300" name="Google Shape;300;h4e1cd23050cdd6e6_1_108"/>
          <p:cNvSpPr/>
          <p:nvPr/>
        </p:nvSpPr>
        <p:spPr>
          <a:xfrm>
            <a:off x="9399912" y="6175087"/>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h4e1cd23050cdd6e6_1_162"/>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307" name="Google Shape;307;h4e1cd23050cdd6e6_1_162"/>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308" name="Google Shape;308;h4e1cd23050cdd6e6_1_162"/>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h4e1cd23050cdd6e6_1_162"/>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310" name="Google Shape;310;h4e1cd23050cdd6e6_1_162"/>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1" name="Google Shape;311;h4e1cd23050cdd6e6_1_162"/>
          <p:cNvSpPr/>
          <p:nvPr/>
        </p:nvSpPr>
        <p:spPr>
          <a:xfrm>
            <a:off x="4754880" y="2057400"/>
            <a:ext cx="6656700" cy="4453200"/>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2" name="Google Shape;312;h4e1cd23050cdd6e6_1_162"/>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313" name="Google Shape;313;h4e1cd23050cdd6e6_1_162"/>
          <p:cNvSpPr/>
          <p:nvPr/>
        </p:nvSpPr>
        <p:spPr>
          <a:xfrm>
            <a:off x="5093208" y="2633472"/>
            <a:ext cx="21030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4" name="Google Shape;314;h4e1cd23050cdd6e6_1_162"/>
          <p:cNvSpPr txBox="1"/>
          <p:nvPr/>
        </p:nvSpPr>
        <p:spPr>
          <a:xfrm>
            <a:off x="5248656" y="2743200"/>
            <a:ext cx="17466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315" name="Google Shape;315;h4e1cd23050cdd6e6_1_162"/>
          <p:cNvSpPr/>
          <p:nvPr/>
        </p:nvSpPr>
        <p:spPr>
          <a:xfrm>
            <a:off x="9253728" y="2633472"/>
            <a:ext cx="18288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6" name="Google Shape;316;h4e1cd23050cdd6e6_1_162"/>
          <p:cNvSpPr txBox="1"/>
          <p:nvPr/>
        </p:nvSpPr>
        <p:spPr>
          <a:xfrm>
            <a:off x="9354312" y="2743200"/>
            <a:ext cx="164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317" name="Google Shape;317;h4e1cd23050cdd6e6_1_162"/>
          <p:cNvCxnSpPr/>
          <p:nvPr/>
        </p:nvCxnSpPr>
        <p:spPr>
          <a:xfrm>
            <a:off x="7278624" y="2871216"/>
            <a:ext cx="1865400" cy="0"/>
          </a:xfrm>
          <a:prstGeom prst="straightConnector1">
            <a:avLst/>
          </a:prstGeom>
          <a:noFill/>
          <a:ln cap="flat" cmpd="sng" w="31750">
            <a:solidFill>
              <a:srgbClr val="0B6E4F"/>
            </a:solidFill>
            <a:prstDash val="solid"/>
            <a:miter lim="0"/>
            <a:headEnd len="sm" w="sm" type="none"/>
            <a:tailEnd len="med" w="med" type="triangle"/>
          </a:ln>
        </p:spPr>
      </p:cxnSp>
      <p:sp>
        <p:nvSpPr>
          <p:cNvPr id="318" name="Google Shape;318;h4e1cd23050cdd6e6_1_162"/>
          <p:cNvSpPr/>
          <p:nvPr/>
        </p:nvSpPr>
        <p:spPr>
          <a:xfrm>
            <a:off x="7388352" y="2487168"/>
            <a:ext cx="1591200" cy="27420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9" name="Google Shape;319;h4e1cd23050cdd6e6_1_162"/>
          <p:cNvSpPr txBox="1"/>
          <p:nvPr/>
        </p:nvSpPr>
        <p:spPr>
          <a:xfrm>
            <a:off x="7278624" y="2514600"/>
            <a:ext cx="17832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320" name="Google Shape;320;h4e1cd23050cdd6e6_1_162"/>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h4e1cd23050cdd6e6_1_162"/>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322" name="Google Shape;322;h4e1cd23050cdd6e6_1_162"/>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323" name="Google Shape;323;h4e1cd23050cdd6e6_1_162"/>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324" name="Google Shape;324;h4e1cd23050cdd6e6_1_162"/>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325" name="Google Shape;325;h4e1cd23050cdd6e6_1_162"/>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326" name="Google Shape;326;h4e1cd23050cdd6e6_1_162"/>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327" name="Google Shape;327;h4e1cd23050cdd6e6_1_162"/>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328" name="Google Shape;328;h4e1cd23050cdd6e6_1_162"/>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29" name="Google Shape;329;h4e1cd23050cdd6e6_1_162"/>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330" name="Google Shape;330;h4e1cd23050cdd6e6_1_162"/>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31" name="Google Shape;331;h4e1cd23050cdd6e6_1_162"/>
          <p:cNvSpPr/>
          <p:nvPr/>
        </p:nvSpPr>
        <p:spPr>
          <a:xfrm>
            <a:off x="4983480" y="3200400"/>
            <a:ext cx="6217800" cy="3200400"/>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h4e1cd23050cdd6e6_1_162"/>
          <p:cNvSpPr txBox="1"/>
          <p:nvPr/>
        </p:nvSpPr>
        <p:spPr>
          <a:xfrm>
            <a:off x="4983480" y="326440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Class:</a:t>
            </a:r>
            <a:r>
              <a:rPr b="0" i="0" lang="en-US" sz="1050" u="none" cap="none" strike="noStrike">
                <a:solidFill>
                  <a:srgbClr val="1F2328"/>
                </a:solidFill>
                <a:latin typeface="Consolas"/>
                <a:ea typeface="Consolas"/>
                <a:cs typeface="Consolas"/>
                <a:sym typeface="Consolas"/>
              </a:rPr>
              <a:t> Admission</a:t>
            </a:r>
            <a:endParaRPr b="0" i="0" sz="1050" u="none" cap="none" strike="noStrike">
              <a:solidFill>
                <a:srgbClr val="000000"/>
              </a:solidFill>
              <a:latin typeface="Arial"/>
              <a:ea typeface="Arial"/>
              <a:cs typeface="Arial"/>
              <a:sym typeface="Arial"/>
            </a:endParaRPr>
          </a:p>
        </p:txBody>
      </p:sp>
      <p:sp>
        <p:nvSpPr>
          <p:cNvPr id="333" name="Google Shape;333;h4e1cd23050cdd6e6_1_162"/>
          <p:cNvSpPr txBox="1"/>
          <p:nvPr/>
        </p:nvSpPr>
        <p:spPr>
          <a:xfrm>
            <a:off x="4983480" y="342611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SubClassOf:</a:t>
            </a:r>
            <a:endParaRPr b="0" i="0" sz="1050" u="none" cap="none" strike="noStrike">
              <a:solidFill>
                <a:srgbClr val="000000"/>
              </a:solidFill>
              <a:latin typeface="Arial"/>
              <a:ea typeface="Arial"/>
              <a:cs typeface="Arial"/>
              <a:sym typeface="Arial"/>
            </a:endParaRPr>
          </a:p>
        </p:txBody>
      </p:sp>
      <p:sp>
        <p:nvSpPr>
          <p:cNvPr id="334" name="Google Shape;334;h4e1cd23050cdd6e6_1_162"/>
          <p:cNvSpPr txBox="1"/>
          <p:nvPr/>
        </p:nvSpPr>
        <p:spPr>
          <a:xfrm>
            <a:off x="4983480" y="358781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admission_id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35" name="Google Shape;335;h4e1cd23050cdd6e6_1_162"/>
          <p:cNvSpPr txBox="1"/>
          <p:nvPr/>
        </p:nvSpPr>
        <p:spPr>
          <a:xfrm>
            <a:off x="4983480" y="374952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hasPatientData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PatientData,</a:t>
            </a:r>
            <a:endParaRPr b="0" i="0" sz="1050" u="none" cap="none" strike="noStrike">
              <a:solidFill>
                <a:srgbClr val="000000"/>
              </a:solidFill>
              <a:latin typeface="Arial"/>
              <a:ea typeface="Arial"/>
              <a:cs typeface="Arial"/>
              <a:sym typeface="Arial"/>
            </a:endParaRPr>
          </a:p>
        </p:txBody>
      </p:sp>
      <p:sp>
        <p:nvSpPr>
          <p:cNvPr id="336" name="Google Shape;336;h4e1cd23050cdd6e6_1_162"/>
          <p:cNvSpPr/>
          <p:nvPr/>
        </p:nvSpPr>
        <p:spPr>
          <a:xfrm>
            <a:off x="9399912" y="374952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337" name="Google Shape;337;h4e1cd23050cdd6e6_1_162"/>
          <p:cNvSpPr txBox="1"/>
          <p:nvPr/>
        </p:nvSpPr>
        <p:spPr>
          <a:xfrm>
            <a:off x="4983480" y="391122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BM_DEP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38" name="Google Shape;338;h4e1cd23050cdd6e6_1_162"/>
          <p:cNvSpPr txBox="1"/>
          <p:nvPr/>
        </p:nvSpPr>
        <p:spPr>
          <a:xfrm>
            <a:off x="4983480" y="4072930"/>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ecog_stage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endParaRPr b="0" i="0" sz="1050" u="none" cap="none" strike="noStrike">
              <a:solidFill>
                <a:srgbClr val="000000"/>
              </a:solidFill>
              <a:latin typeface="Arial"/>
              <a:ea typeface="Arial"/>
              <a:cs typeface="Arial"/>
              <a:sym typeface="Arial"/>
            </a:endParaRPr>
          </a:p>
        </p:txBody>
      </p:sp>
      <p:sp>
        <p:nvSpPr>
          <p:cNvPr id="339" name="Google Shape;339;h4e1cd23050cdd6e6_1_162"/>
          <p:cNvSpPr txBox="1"/>
          <p:nvPr/>
        </p:nvSpPr>
        <p:spPr>
          <a:xfrm>
            <a:off x="4983480" y="439633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admission_id</a:t>
            </a:r>
            <a:endParaRPr b="0" i="0" sz="1050" u="none" cap="none" strike="noStrike">
              <a:solidFill>
                <a:srgbClr val="000000"/>
              </a:solidFill>
              <a:latin typeface="Arial"/>
              <a:ea typeface="Arial"/>
              <a:cs typeface="Arial"/>
              <a:sym typeface="Arial"/>
            </a:endParaRPr>
          </a:p>
        </p:txBody>
      </p:sp>
      <p:sp>
        <p:nvSpPr>
          <p:cNvPr id="340" name="Google Shape;340;h4e1cd23050cdd6e6_1_162"/>
          <p:cNvSpPr txBox="1"/>
          <p:nvPr/>
        </p:nvSpPr>
        <p:spPr>
          <a:xfrm>
            <a:off x="4983480" y="4558043"/>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ObjectProperty:</a:t>
            </a:r>
            <a:r>
              <a:rPr b="0" i="0" lang="en-US" sz="1050" u="none" cap="none" strike="noStrike">
                <a:solidFill>
                  <a:srgbClr val="1F2328"/>
                </a:solidFill>
                <a:latin typeface="Consolas"/>
                <a:ea typeface="Consolas"/>
                <a:cs typeface="Consolas"/>
                <a:sym typeface="Consolas"/>
              </a:rPr>
              <a:t> hasPatientData</a:t>
            </a:r>
            <a:endParaRPr b="0" i="0" sz="1050" u="none" cap="none" strike="noStrike">
              <a:solidFill>
                <a:srgbClr val="000000"/>
              </a:solidFill>
              <a:latin typeface="Arial"/>
              <a:ea typeface="Arial"/>
              <a:cs typeface="Arial"/>
              <a:sym typeface="Arial"/>
            </a:endParaRPr>
          </a:p>
        </p:txBody>
      </p:sp>
      <p:sp>
        <p:nvSpPr>
          <p:cNvPr id="341" name="Google Shape;341;h4e1cd23050cdd6e6_1_162"/>
          <p:cNvSpPr/>
          <p:nvPr/>
        </p:nvSpPr>
        <p:spPr>
          <a:xfrm>
            <a:off x="9399912" y="4558043"/>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342" name="Google Shape;342;h4e1cd23050cdd6e6_1_162"/>
          <p:cNvSpPr txBox="1"/>
          <p:nvPr/>
        </p:nvSpPr>
        <p:spPr>
          <a:xfrm>
            <a:off x="4983480" y="471974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BM_DEP</a:t>
            </a:r>
            <a:endParaRPr b="0" i="0" sz="1050" u="none" cap="none" strike="noStrike">
              <a:solidFill>
                <a:srgbClr val="000000"/>
              </a:solidFill>
              <a:latin typeface="Arial"/>
              <a:ea typeface="Arial"/>
              <a:cs typeface="Arial"/>
              <a:sym typeface="Arial"/>
            </a:endParaRPr>
          </a:p>
        </p:txBody>
      </p:sp>
      <p:sp>
        <p:nvSpPr>
          <p:cNvPr id="343" name="Google Shape;343;h4e1cd23050cdd6e6_1_162"/>
          <p:cNvSpPr txBox="1"/>
          <p:nvPr/>
        </p:nvSpPr>
        <p:spPr>
          <a:xfrm>
            <a:off x="4983480" y="488145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344" name="Google Shape;344;h4e1cd23050cdd6e6_1_162"/>
          <p:cNvSpPr txBox="1"/>
          <p:nvPr/>
        </p:nvSpPr>
        <p:spPr>
          <a:xfrm>
            <a:off x="4983480" y="504315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rdfs:label</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A3401E"/>
                </a:solidFill>
                <a:latin typeface="Consolas"/>
                <a:ea typeface="Consolas"/>
                <a:cs typeface="Consolas"/>
                <a:sym typeface="Consolas"/>
              </a:rPr>
              <a:t>"Bone Marrow Depression"@en</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45" name="Google Shape;345;h4e1cd23050cdd6e6_1_162"/>
          <p:cNvSpPr/>
          <p:nvPr/>
        </p:nvSpPr>
        <p:spPr>
          <a:xfrm>
            <a:off x="9399912" y="5043156"/>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346" name="Google Shape;346;h4e1cd23050cdd6e6_1_162"/>
          <p:cNvSpPr txBox="1"/>
          <p:nvPr/>
        </p:nvSpPr>
        <p:spPr>
          <a:xfrm>
            <a:off x="4983480" y="520486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skos:relatedMatch</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obo:DOID_4961</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47" name="Google Shape;347;h4e1cd23050cdd6e6_1_162"/>
          <p:cNvSpPr/>
          <p:nvPr/>
        </p:nvSpPr>
        <p:spPr>
          <a:xfrm>
            <a:off x="9399912" y="520486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0B6E4F"/>
                </a:solidFill>
                <a:latin typeface="Calibri"/>
                <a:ea typeface="Calibri"/>
                <a:cs typeface="Calibri"/>
                <a:sym typeface="Calibri"/>
              </a:rPr>
              <a:t>← Disease Ontology</a:t>
            </a:r>
            <a:endParaRPr/>
          </a:p>
        </p:txBody>
      </p:sp>
      <p:sp>
        <p:nvSpPr>
          <p:cNvPr id="348" name="Google Shape;348;h4e1cd23050cdd6e6_1_162"/>
          <p:cNvSpPr txBox="1"/>
          <p:nvPr/>
        </p:nvSpPr>
        <p:spPr>
          <a:xfrm>
            <a:off x="4983480" y="536656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admission:BM_DEP</a:t>
            </a:r>
            <a:endParaRPr b="0" i="0" sz="1050" u="none" cap="none" strike="noStrike">
              <a:solidFill>
                <a:srgbClr val="000000"/>
              </a:solidFill>
              <a:latin typeface="Arial"/>
              <a:ea typeface="Arial"/>
              <a:cs typeface="Arial"/>
              <a:sym typeface="Arial"/>
            </a:endParaRPr>
          </a:p>
        </p:txBody>
      </p:sp>
      <p:sp>
        <p:nvSpPr>
          <p:cNvPr id="349" name="Google Shape;349;h4e1cd23050cdd6e6_1_162"/>
          <p:cNvSpPr/>
          <p:nvPr/>
        </p:nvSpPr>
        <p:spPr>
          <a:xfrm>
            <a:off x="9399912" y="5366565"/>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
        <p:nvSpPr>
          <p:cNvPr id="350" name="Google Shape;350;h4e1cd23050cdd6e6_1_162"/>
          <p:cNvSpPr txBox="1"/>
          <p:nvPr/>
        </p:nvSpPr>
        <p:spPr>
          <a:xfrm>
            <a:off x="4983480" y="5528269"/>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ecog_stage</a:t>
            </a:r>
            <a:endParaRPr b="0" i="0" sz="1050" u="none" cap="none" strike="noStrike">
              <a:solidFill>
                <a:srgbClr val="000000"/>
              </a:solidFill>
              <a:latin typeface="Arial"/>
              <a:ea typeface="Arial"/>
              <a:cs typeface="Arial"/>
              <a:sym typeface="Arial"/>
            </a:endParaRPr>
          </a:p>
        </p:txBody>
      </p:sp>
      <p:sp>
        <p:nvSpPr>
          <p:cNvPr id="351" name="Google Shape;351;h4e1cd23050cdd6e6_1_162"/>
          <p:cNvSpPr txBox="1"/>
          <p:nvPr/>
        </p:nvSpPr>
        <p:spPr>
          <a:xfrm>
            <a:off x="4983480" y="5689974"/>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352" name="Google Shape;352;h4e1cd23050cdd6e6_1_162"/>
          <p:cNvSpPr txBox="1"/>
          <p:nvPr/>
        </p:nvSpPr>
        <p:spPr>
          <a:xfrm>
            <a:off x="4983480" y="585167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rdfs:label</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A3401E"/>
                </a:solidFill>
                <a:latin typeface="Consolas"/>
                <a:ea typeface="Consolas"/>
                <a:cs typeface="Consolas"/>
                <a:sym typeface="Consolas"/>
              </a:rPr>
              <a:t>"ECOG Performance Status"@en</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53" name="Google Shape;353;h4e1cd23050cdd6e6_1_162"/>
          <p:cNvSpPr/>
          <p:nvPr/>
        </p:nvSpPr>
        <p:spPr>
          <a:xfrm>
            <a:off x="9399912" y="5851678"/>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354" name="Google Shape;354;h4e1cd23050cdd6e6_1_162"/>
          <p:cNvSpPr txBox="1"/>
          <p:nvPr/>
        </p:nvSpPr>
        <p:spPr>
          <a:xfrm>
            <a:off x="4983480" y="6013383"/>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highlight>
                  <a:srgbClr val="FFE599"/>
                </a:highlight>
                <a:latin typeface="Consolas"/>
                <a:ea typeface="Consolas"/>
                <a:cs typeface="Consolas"/>
                <a:sym typeface="Consolas"/>
              </a:rPr>
              <a:t>rdfs:comment</a:t>
            </a:r>
            <a:r>
              <a:rPr b="0" i="0" lang="en-US" sz="1050" u="none" cap="none" strike="noStrike">
                <a:solidFill>
                  <a:srgbClr val="1F2328"/>
                </a:solidFill>
                <a:highlight>
                  <a:srgbClr val="FFE599"/>
                </a:highlight>
                <a:latin typeface="Consolas"/>
                <a:ea typeface="Consolas"/>
                <a:cs typeface="Consolas"/>
                <a:sym typeface="Consolas"/>
              </a:rPr>
              <a:t> </a:t>
            </a:r>
            <a:r>
              <a:rPr b="0" i="0" lang="en-US" sz="1050" u="none" cap="none" strike="noStrike">
                <a:solidFill>
                  <a:srgbClr val="A3401E"/>
                </a:solidFill>
                <a:highlight>
                  <a:srgbClr val="FFE599"/>
                </a:highlight>
                <a:latin typeface="Consolas"/>
                <a:ea typeface="Consolas"/>
                <a:cs typeface="Consolas"/>
                <a:sym typeface="Consolas"/>
              </a:rPr>
              <a:t>"0 = fully active … 5 = dead"@en</a:t>
            </a:r>
            <a:r>
              <a:rPr b="0" i="0" lang="en-US" sz="1050" u="none" cap="none" strike="noStrike">
                <a:solidFill>
                  <a:srgbClr val="1F2328"/>
                </a:solidFill>
                <a:highlight>
                  <a:srgbClr val="FFE599"/>
                </a:highlight>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55" name="Google Shape;355;h4e1cd23050cdd6e6_1_162"/>
          <p:cNvSpPr txBox="1"/>
          <p:nvPr/>
        </p:nvSpPr>
        <p:spPr>
          <a:xfrm>
            <a:off x="4983480" y="617508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admission:ecog_stage</a:t>
            </a:r>
            <a:endParaRPr b="0" i="0" sz="1050" u="none" cap="none" strike="noStrike">
              <a:solidFill>
                <a:srgbClr val="000000"/>
              </a:solidFill>
              <a:latin typeface="Arial"/>
              <a:ea typeface="Arial"/>
              <a:cs typeface="Arial"/>
              <a:sym typeface="Arial"/>
            </a:endParaRPr>
          </a:p>
        </p:txBody>
      </p:sp>
      <p:sp>
        <p:nvSpPr>
          <p:cNvPr id="356" name="Google Shape;356;h4e1cd23050cdd6e6_1_162"/>
          <p:cNvSpPr/>
          <p:nvPr/>
        </p:nvSpPr>
        <p:spPr>
          <a:xfrm>
            <a:off x="9399912" y="6175087"/>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h4e1cd23050cdd6e6_1_220"/>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363" name="Google Shape;363;h4e1cd23050cdd6e6_1_220"/>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364" name="Google Shape;364;h4e1cd23050cdd6e6_1_220"/>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5" name="Google Shape;365;h4e1cd23050cdd6e6_1_220"/>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366" name="Google Shape;366;h4e1cd23050cdd6e6_1_220"/>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h4e1cd23050cdd6e6_1_220"/>
          <p:cNvSpPr/>
          <p:nvPr/>
        </p:nvSpPr>
        <p:spPr>
          <a:xfrm>
            <a:off x="4754880" y="2057400"/>
            <a:ext cx="6656700" cy="4453200"/>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8" name="Google Shape;368;h4e1cd23050cdd6e6_1_220"/>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369" name="Google Shape;369;h4e1cd23050cdd6e6_1_220"/>
          <p:cNvSpPr/>
          <p:nvPr/>
        </p:nvSpPr>
        <p:spPr>
          <a:xfrm>
            <a:off x="5093208" y="2633472"/>
            <a:ext cx="21030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0" name="Google Shape;370;h4e1cd23050cdd6e6_1_220"/>
          <p:cNvSpPr txBox="1"/>
          <p:nvPr/>
        </p:nvSpPr>
        <p:spPr>
          <a:xfrm>
            <a:off x="5248656" y="2743200"/>
            <a:ext cx="17466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371" name="Google Shape;371;h4e1cd23050cdd6e6_1_220"/>
          <p:cNvSpPr/>
          <p:nvPr/>
        </p:nvSpPr>
        <p:spPr>
          <a:xfrm>
            <a:off x="9253728" y="2633472"/>
            <a:ext cx="18288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2" name="Google Shape;372;h4e1cd23050cdd6e6_1_220"/>
          <p:cNvSpPr txBox="1"/>
          <p:nvPr/>
        </p:nvSpPr>
        <p:spPr>
          <a:xfrm>
            <a:off x="9354312" y="2743200"/>
            <a:ext cx="164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373" name="Google Shape;373;h4e1cd23050cdd6e6_1_220"/>
          <p:cNvCxnSpPr/>
          <p:nvPr/>
        </p:nvCxnSpPr>
        <p:spPr>
          <a:xfrm>
            <a:off x="7278624" y="2871216"/>
            <a:ext cx="1865400" cy="0"/>
          </a:xfrm>
          <a:prstGeom prst="straightConnector1">
            <a:avLst/>
          </a:prstGeom>
          <a:noFill/>
          <a:ln cap="flat" cmpd="sng" w="31750">
            <a:solidFill>
              <a:srgbClr val="0B6E4F"/>
            </a:solidFill>
            <a:prstDash val="solid"/>
            <a:miter lim="0"/>
            <a:headEnd len="sm" w="sm" type="none"/>
            <a:tailEnd len="med" w="med" type="triangle"/>
          </a:ln>
        </p:spPr>
      </p:cxnSp>
      <p:sp>
        <p:nvSpPr>
          <p:cNvPr id="374" name="Google Shape;374;h4e1cd23050cdd6e6_1_220"/>
          <p:cNvSpPr/>
          <p:nvPr/>
        </p:nvSpPr>
        <p:spPr>
          <a:xfrm>
            <a:off x="7388352" y="2487168"/>
            <a:ext cx="1591200" cy="27420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5" name="Google Shape;375;h4e1cd23050cdd6e6_1_220"/>
          <p:cNvSpPr txBox="1"/>
          <p:nvPr/>
        </p:nvSpPr>
        <p:spPr>
          <a:xfrm>
            <a:off x="7278624" y="2514600"/>
            <a:ext cx="17832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376" name="Google Shape;376;h4e1cd23050cdd6e6_1_220"/>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h4e1cd23050cdd6e6_1_220"/>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378" name="Google Shape;378;h4e1cd23050cdd6e6_1_220"/>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379" name="Google Shape;379;h4e1cd23050cdd6e6_1_220"/>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380" name="Google Shape;380;h4e1cd23050cdd6e6_1_220"/>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381" name="Google Shape;381;h4e1cd23050cdd6e6_1_220"/>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382" name="Google Shape;382;h4e1cd23050cdd6e6_1_220"/>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383" name="Google Shape;383;h4e1cd23050cdd6e6_1_220"/>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384" name="Google Shape;384;h4e1cd23050cdd6e6_1_220"/>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85" name="Google Shape;385;h4e1cd23050cdd6e6_1_220"/>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386" name="Google Shape;386;h4e1cd23050cdd6e6_1_220"/>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87" name="Google Shape;387;h4e1cd23050cdd6e6_1_220"/>
          <p:cNvSpPr/>
          <p:nvPr/>
        </p:nvSpPr>
        <p:spPr>
          <a:xfrm>
            <a:off x="4983480" y="3200400"/>
            <a:ext cx="6217800" cy="3200400"/>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h4e1cd23050cdd6e6_1_220"/>
          <p:cNvSpPr/>
          <p:nvPr/>
        </p:nvSpPr>
        <p:spPr>
          <a:xfrm>
            <a:off x="804672" y="5084064"/>
            <a:ext cx="2971800" cy="14721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h4e1cd23050cdd6e6_1_220"/>
          <p:cNvSpPr/>
          <p:nvPr/>
        </p:nvSpPr>
        <p:spPr>
          <a:xfrm>
            <a:off x="1005840" y="5193792"/>
            <a:ext cx="2606100" cy="126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0B6E4F"/>
                </a:solidFill>
                <a:latin typeface="Consolas"/>
                <a:ea typeface="Consolas"/>
                <a:cs typeface="Consolas"/>
                <a:sym typeface="Consolas"/>
              </a:rPr>
              <a:t>WHAT THIS ENABLES</a:t>
            </a:r>
            <a:endParaRPr b="1" i="0" sz="1150" u="none" cap="none" strike="noStrike">
              <a:solidFill>
                <a:srgbClr val="0B6E4F"/>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t/>
            </a:r>
            <a:endParaRPr b="1" i="0" sz="1150" u="none" cap="none" strike="noStrike">
              <a:solidFill>
                <a:srgbClr val="0B6E4F"/>
              </a:solidFill>
              <a:latin typeface="Consolas"/>
              <a:ea typeface="Consolas"/>
              <a:cs typeface="Consolas"/>
              <a:sym typeface="Consolas"/>
            </a:endParaRPr>
          </a:p>
          <a:p>
            <a:pPr indent="0" lvl="0" marL="0" marR="0" rtl="0" algn="l">
              <a:lnSpc>
                <a:spcPct val="100000"/>
              </a:lnSpc>
              <a:spcBef>
                <a:spcPts val="300"/>
              </a:spcBef>
              <a:spcAft>
                <a:spcPts val="0"/>
              </a:spcAft>
              <a:buClr>
                <a:srgbClr val="000000"/>
              </a:buClr>
              <a:buSzPts val="1400"/>
              <a:buFont typeface="Arial"/>
              <a:buNone/>
            </a:pPr>
            <a:r>
              <a:rPr b="0" i="0" lang="en-US" sz="1400" u="none" cap="none" strike="noStrike">
                <a:solidFill>
                  <a:srgbClr val="1F2328"/>
                </a:solidFill>
                <a:latin typeface="Calibri"/>
                <a:ea typeface="Calibri"/>
                <a:cs typeface="Calibri"/>
                <a:sym typeface="Calibri"/>
              </a:rPr>
              <a:t>Ontology-based data access (OBDA)</a:t>
            </a:r>
            <a:endParaRPr b="0" i="0" sz="1400" u="none" cap="none" strike="noStrike">
              <a:solidFill>
                <a:srgbClr val="1F2328"/>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0" i="0" lang="en-US" sz="1400" u="none" cap="none" strike="noStrike">
                <a:solidFill>
                  <a:srgbClr val="1F2328"/>
                </a:solidFill>
                <a:latin typeface="Calibri"/>
                <a:ea typeface="Calibri"/>
                <a:cs typeface="Calibri"/>
                <a:sym typeface="Calibri"/>
              </a:rPr>
              <a:t>Knowledge graph population</a:t>
            </a:r>
            <a:endParaRPr b="0" i="0" sz="1400" u="none" cap="none" strike="noStrike">
              <a:solidFill>
                <a:srgbClr val="1F2328"/>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0" i="0" lang="en-US" sz="1400" u="none" cap="none" strike="noStrike">
                <a:solidFill>
                  <a:srgbClr val="1F2328"/>
                </a:solidFill>
                <a:latin typeface="Calibri"/>
                <a:ea typeface="Calibri"/>
                <a:cs typeface="Calibri"/>
                <a:sym typeface="Calibri"/>
              </a:rPr>
              <a:t>Semantic data integration</a:t>
            </a:r>
            <a:endParaRPr b="0" i="0" sz="1400" u="none" cap="none" strike="noStrike">
              <a:solidFill>
                <a:srgbClr val="1F2328"/>
              </a:solidFill>
              <a:latin typeface="Calibri"/>
              <a:ea typeface="Calibri"/>
              <a:cs typeface="Calibri"/>
              <a:sym typeface="Calibri"/>
            </a:endParaRPr>
          </a:p>
        </p:txBody>
      </p:sp>
      <p:sp>
        <p:nvSpPr>
          <p:cNvPr id="390" name="Google Shape;390;h4e1cd23050cdd6e6_1_220"/>
          <p:cNvSpPr txBox="1"/>
          <p:nvPr/>
        </p:nvSpPr>
        <p:spPr>
          <a:xfrm>
            <a:off x="4983480" y="326440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Class:</a:t>
            </a:r>
            <a:r>
              <a:rPr b="0" i="0" lang="en-US" sz="1050" u="none" cap="none" strike="noStrike">
                <a:solidFill>
                  <a:srgbClr val="1F2328"/>
                </a:solidFill>
                <a:latin typeface="Consolas"/>
                <a:ea typeface="Consolas"/>
                <a:cs typeface="Consolas"/>
                <a:sym typeface="Consolas"/>
              </a:rPr>
              <a:t> Admission</a:t>
            </a:r>
            <a:endParaRPr b="0" i="0" sz="1050" u="none" cap="none" strike="noStrike">
              <a:solidFill>
                <a:srgbClr val="000000"/>
              </a:solidFill>
              <a:latin typeface="Arial"/>
              <a:ea typeface="Arial"/>
              <a:cs typeface="Arial"/>
              <a:sym typeface="Arial"/>
            </a:endParaRPr>
          </a:p>
        </p:txBody>
      </p:sp>
      <p:sp>
        <p:nvSpPr>
          <p:cNvPr id="391" name="Google Shape;391;h4e1cd23050cdd6e6_1_220"/>
          <p:cNvSpPr txBox="1"/>
          <p:nvPr/>
        </p:nvSpPr>
        <p:spPr>
          <a:xfrm>
            <a:off x="4983480" y="342611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SubClassOf:</a:t>
            </a:r>
            <a:endParaRPr b="0" i="0" sz="1050" u="none" cap="none" strike="noStrike">
              <a:solidFill>
                <a:srgbClr val="000000"/>
              </a:solidFill>
              <a:latin typeface="Arial"/>
              <a:ea typeface="Arial"/>
              <a:cs typeface="Arial"/>
              <a:sym typeface="Arial"/>
            </a:endParaRPr>
          </a:p>
        </p:txBody>
      </p:sp>
      <p:sp>
        <p:nvSpPr>
          <p:cNvPr id="392" name="Google Shape;392;h4e1cd23050cdd6e6_1_220"/>
          <p:cNvSpPr txBox="1"/>
          <p:nvPr/>
        </p:nvSpPr>
        <p:spPr>
          <a:xfrm>
            <a:off x="4983480" y="358781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admission_id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93" name="Google Shape;393;h4e1cd23050cdd6e6_1_220"/>
          <p:cNvSpPr txBox="1"/>
          <p:nvPr/>
        </p:nvSpPr>
        <p:spPr>
          <a:xfrm>
            <a:off x="4983480" y="374952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hasPatientData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PatientData,</a:t>
            </a:r>
            <a:endParaRPr b="0" i="0" sz="1050" u="none" cap="none" strike="noStrike">
              <a:solidFill>
                <a:srgbClr val="000000"/>
              </a:solidFill>
              <a:latin typeface="Arial"/>
              <a:ea typeface="Arial"/>
              <a:cs typeface="Arial"/>
              <a:sym typeface="Arial"/>
            </a:endParaRPr>
          </a:p>
        </p:txBody>
      </p:sp>
      <p:sp>
        <p:nvSpPr>
          <p:cNvPr id="394" name="Google Shape;394;h4e1cd23050cdd6e6_1_220"/>
          <p:cNvSpPr/>
          <p:nvPr/>
        </p:nvSpPr>
        <p:spPr>
          <a:xfrm>
            <a:off x="9399912" y="374952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395" name="Google Shape;395;h4e1cd23050cdd6e6_1_220"/>
          <p:cNvSpPr txBox="1"/>
          <p:nvPr/>
        </p:nvSpPr>
        <p:spPr>
          <a:xfrm>
            <a:off x="4983480" y="391122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BM_DEP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96" name="Google Shape;396;h4e1cd23050cdd6e6_1_220"/>
          <p:cNvSpPr txBox="1"/>
          <p:nvPr/>
        </p:nvSpPr>
        <p:spPr>
          <a:xfrm>
            <a:off x="4983480" y="4072930"/>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ecog_stage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endParaRPr b="0" i="0" sz="1050" u="none" cap="none" strike="noStrike">
              <a:solidFill>
                <a:srgbClr val="000000"/>
              </a:solidFill>
              <a:latin typeface="Arial"/>
              <a:ea typeface="Arial"/>
              <a:cs typeface="Arial"/>
              <a:sym typeface="Arial"/>
            </a:endParaRPr>
          </a:p>
        </p:txBody>
      </p:sp>
      <p:sp>
        <p:nvSpPr>
          <p:cNvPr id="397" name="Google Shape;397;h4e1cd23050cdd6e6_1_220"/>
          <p:cNvSpPr txBox="1"/>
          <p:nvPr/>
        </p:nvSpPr>
        <p:spPr>
          <a:xfrm>
            <a:off x="4983480" y="439633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admission_id</a:t>
            </a:r>
            <a:endParaRPr b="0" i="0" sz="1050" u="none" cap="none" strike="noStrike">
              <a:solidFill>
                <a:srgbClr val="000000"/>
              </a:solidFill>
              <a:latin typeface="Arial"/>
              <a:ea typeface="Arial"/>
              <a:cs typeface="Arial"/>
              <a:sym typeface="Arial"/>
            </a:endParaRPr>
          </a:p>
        </p:txBody>
      </p:sp>
      <p:sp>
        <p:nvSpPr>
          <p:cNvPr id="398" name="Google Shape;398;h4e1cd23050cdd6e6_1_220"/>
          <p:cNvSpPr txBox="1"/>
          <p:nvPr/>
        </p:nvSpPr>
        <p:spPr>
          <a:xfrm>
            <a:off x="4983480" y="4558043"/>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ObjectProperty:</a:t>
            </a:r>
            <a:r>
              <a:rPr b="0" i="0" lang="en-US" sz="1050" u="none" cap="none" strike="noStrike">
                <a:solidFill>
                  <a:srgbClr val="1F2328"/>
                </a:solidFill>
                <a:latin typeface="Consolas"/>
                <a:ea typeface="Consolas"/>
                <a:cs typeface="Consolas"/>
                <a:sym typeface="Consolas"/>
              </a:rPr>
              <a:t> hasPatientData</a:t>
            </a:r>
            <a:endParaRPr b="0" i="0" sz="1050" u="none" cap="none" strike="noStrike">
              <a:solidFill>
                <a:srgbClr val="000000"/>
              </a:solidFill>
              <a:latin typeface="Arial"/>
              <a:ea typeface="Arial"/>
              <a:cs typeface="Arial"/>
              <a:sym typeface="Arial"/>
            </a:endParaRPr>
          </a:p>
        </p:txBody>
      </p:sp>
      <p:sp>
        <p:nvSpPr>
          <p:cNvPr id="399" name="Google Shape;399;h4e1cd23050cdd6e6_1_220"/>
          <p:cNvSpPr/>
          <p:nvPr/>
        </p:nvSpPr>
        <p:spPr>
          <a:xfrm>
            <a:off x="9399912" y="4558043"/>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400" name="Google Shape;400;h4e1cd23050cdd6e6_1_220"/>
          <p:cNvSpPr txBox="1"/>
          <p:nvPr/>
        </p:nvSpPr>
        <p:spPr>
          <a:xfrm>
            <a:off x="4983480" y="471974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BM_DEP</a:t>
            </a:r>
            <a:endParaRPr b="0" i="0" sz="1050" u="none" cap="none" strike="noStrike">
              <a:solidFill>
                <a:srgbClr val="000000"/>
              </a:solidFill>
              <a:latin typeface="Arial"/>
              <a:ea typeface="Arial"/>
              <a:cs typeface="Arial"/>
              <a:sym typeface="Arial"/>
            </a:endParaRPr>
          </a:p>
        </p:txBody>
      </p:sp>
      <p:sp>
        <p:nvSpPr>
          <p:cNvPr id="401" name="Google Shape;401;h4e1cd23050cdd6e6_1_220"/>
          <p:cNvSpPr txBox="1"/>
          <p:nvPr/>
        </p:nvSpPr>
        <p:spPr>
          <a:xfrm>
            <a:off x="4983480" y="488145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402" name="Google Shape;402;h4e1cd23050cdd6e6_1_220"/>
          <p:cNvSpPr txBox="1"/>
          <p:nvPr/>
        </p:nvSpPr>
        <p:spPr>
          <a:xfrm>
            <a:off x="4983480" y="504315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rdfs:label</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A3401E"/>
                </a:solidFill>
                <a:latin typeface="Consolas"/>
                <a:ea typeface="Consolas"/>
                <a:cs typeface="Consolas"/>
                <a:sym typeface="Consolas"/>
              </a:rPr>
              <a:t>"Bone Marrow Depression"@en</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403" name="Google Shape;403;h4e1cd23050cdd6e6_1_220"/>
          <p:cNvSpPr/>
          <p:nvPr/>
        </p:nvSpPr>
        <p:spPr>
          <a:xfrm>
            <a:off x="9399912" y="5043156"/>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404" name="Google Shape;404;h4e1cd23050cdd6e6_1_220"/>
          <p:cNvSpPr txBox="1"/>
          <p:nvPr/>
        </p:nvSpPr>
        <p:spPr>
          <a:xfrm>
            <a:off x="4983480" y="520486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skos:relatedMatch</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obo:DOID_4961</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405" name="Google Shape;405;h4e1cd23050cdd6e6_1_220"/>
          <p:cNvSpPr/>
          <p:nvPr/>
        </p:nvSpPr>
        <p:spPr>
          <a:xfrm>
            <a:off x="9399912" y="520486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0B6E4F"/>
                </a:solidFill>
                <a:latin typeface="Calibri"/>
                <a:ea typeface="Calibri"/>
                <a:cs typeface="Calibri"/>
                <a:sym typeface="Calibri"/>
              </a:rPr>
              <a:t>← Disease Ontology</a:t>
            </a:r>
            <a:endParaRPr/>
          </a:p>
        </p:txBody>
      </p:sp>
      <p:sp>
        <p:nvSpPr>
          <p:cNvPr id="406" name="Google Shape;406;h4e1cd23050cdd6e6_1_220"/>
          <p:cNvSpPr txBox="1"/>
          <p:nvPr/>
        </p:nvSpPr>
        <p:spPr>
          <a:xfrm>
            <a:off x="4983480" y="536656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admission:BM_DEP</a:t>
            </a:r>
            <a:endParaRPr b="0" i="0" sz="1050" u="none" cap="none" strike="noStrike">
              <a:solidFill>
                <a:srgbClr val="000000"/>
              </a:solidFill>
              <a:latin typeface="Arial"/>
              <a:ea typeface="Arial"/>
              <a:cs typeface="Arial"/>
              <a:sym typeface="Arial"/>
            </a:endParaRPr>
          </a:p>
        </p:txBody>
      </p:sp>
      <p:sp>
        <p:nvSpPr>
          <p:cNvPr id="407" name="Google Shape;407;h4e1cd23050cdd6e6_1_220"/>
          <p:cNvSpPr/>
          <p:nvPr/>
        </p:nvSpPr>
        <p:spPr>
          <a:xfrm>
            <a:off x="9399912" y="5366565"/>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
        <p:nvSpPr>
          <p:cNvPr id="408" name="Google Shape;408;h4e1cd23050cdd6e6_1_220"/>
          <p:cNvSpPr txBox="1"/>
          <p:nvPr/>
        </p:nvSpPr>
        <p:spPr>
          <a:xfrm>
            <a:off x="4983480" y="5528269"/>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ecog_stage</a:t>
            </a:r>
            <a:endParaRPr b="0" i="0" sz="1050" u="none" cap="none" strike="noStrike">
              <a:solidFill>
                <a:srgbClr val="000000"/>
              </a:solidFill>
              <a:latin typeface="Arial"/>
              <a:ea typeface="Arial"/>
              <a:cs typeface="Arial"/>
              <a:sym typeface="Arial"/>
            </a:endParaRPr>
          </a:p>
        </p:txBody>
      </p:sp>
      <p:sp>
        <p:nvSpPr>
          <p:cNvPr id="409" name="Google Shape;409;h4e1cd23050cdd6e6_1_220"/>
          <p:cNvSpPr txBox="1"/>
          <p:nvPr/>
        </p:nvSpPr>
        <p:spPr>
          <a:xfrm>
            <a:off x="4983480" y="5689974"/>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410" name="Google Shape;410;h4e1cd23050cdd6e6_1_220"/>
          <p:cNvSpPr txBox="1"/>
          <p:nvPr/>
        </p:nvSpPr>
        <p:spPr>
          <a:xfrm>
            <a:off x="4983480" y="585167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rdfs:label</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A3401E"/>
                </a:solidFill>
                <a:latin typeface="Consolas"/>
                <a:ea typeface="Consolas"/>
                <a:cs typeface="Consolas"/>
                <a:sym typeface="Consolas"/>
              </a:rPr>
              <a:t>"ECOG Performance Status"@en</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411" name="Google Shape;411;h4e1cd23050cdd6e6_1_220"/>
          <p:cNvSpPr/>
          <p:nvPr/>
        </p:nvSpPr>
        <p:spPr>
          <a:xfrm>
            <a:off x="9399912" y="5851678"/>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412" name="Google Shape;412;h4e1cd23050cdd6e6_1_220"/>
          <p:cNvSpPr txBox="1"/>
          <p:nvPr/>
        </p:nvSpPr>
        <p:spPr>
          <a:xfrm>
            <a:off x="4983480" y="6013383"/>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rdfs:comment</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A3401E"/>
                </a:solidFill>
                <a:latin typeface="Consolas"/>
                <a:ea typeface="Consolas"/>
                <a:cs typeface="Consolas"/>
                <a:sym typeface="Consolas"/>
              </a:rPr>
              <a:t>"0 = fully active … 5 = dead"@en</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413" name="Google Shape;413;h4e1cd23050cdd6e6_1_220"/>
          <p:cNvSpPr txBox="1"/>
          <p:nvPr/>
        </p:nvSpPr>
        <p:spPr>
          <a:xfrm>
            <a:off x="4983480" y="617508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admission:ecog_stage</a:t>
            </a:r>
            <a:endParaRPr b="0" i="0" sz="1050" u="none" cap="none" strike="noStrike">
              <a:solidFill>
                <a:srgbClr val="000000"/>
              </a:solidFill>
              <a:latin typeface="Arial"/>
              <a:ea typeface="Arial"/>
              <a:cs typeface="Arial"/>
              <a:sym typeface="Arial"/>
            </a:endParaRPr>
          </a:p>
        </p:txBody>
      </p:sp>
      <p:sp>
        <p:nvSpPr>
          <p:cNvPr id="414" name="Google Shape;414;h4e1cd23050cdd6e6_1_220"/>
          <p:cNvSpPr/>
          <p:nvPr/>
        </p:nvSpPr>
        <p:spPr>
          <a:xfrm>
            <a:off x="9399912" y="6175087"/>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4"/>
          <p:cNvSpPr txBox="1"/>
          <p:nvPr/>
        </p:nvSpPr>
        <p:spPr>
          <a:xfrm>
            <a:off x="804672" y="521207"/>
            <a:ext cx="106071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THE RESEARCH GAP</a:t>
            </a:r>
            <a:endParaRPr b="0" i="0" sz="1400" u="none" cap="none" strike="noStrike">
              <a:solidFill>
                <a:srgbClr val="000000"/>
              </a:solidFill>
              <a:latin typeface="Arial"/>
              <a:ea typeface="Arial"/>
              <a:cs typeface="Arial"/>
              <a:sym typeface="Arial"/>
            </a:endParaRPr>
          </a:p>
        </p:txBody>
      </p:sp>
      <p:sp>
        <p:nvSpPr>
          <p:cNvPr id="421" name="Google Shape;421;p4"/>
          <p:cNvSpPr txBox="1"/>
          <p:nvPr/>
        </p:nvSpPr>
        <p:spPr>
          <a:xfrm>
            <a:off x="804672" y="960120"/>
            <a:ext cx="10689300" cy="71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Two partial solutions. Neither solves the whole problem.</a:t>
            </a:r>
            <a:endParaRPr b="0" i="0" sz="1400" u="none" cap="none" strike="noStrike">
              <a:solidFill>
                <a:srgbClr val="000000"/>
              </a:solidFill>
              <a:latin typeface="Arial"/>
              <a:ea typeface="Arial"/>
              <a:cs typeface="Arial"/>
              <a:sym typeface="Arial"/>
            </a:endParaRPr>
          </a:p>
        </p:txBody>
      </p:sp>
      <p:sp>
        <p:nvSpPr>
          <p:cNvPr id="422" name="Google Shape;422;p4"/>
          <p:cNvSpPr/>
          <p:nvPr/>
        </p:nvSpPr>
        <p:spPr>
          <a:xfrm>
            <a:off x="804672" y="1920240"/>
            <a:ext cx="5148000" cy="2523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3" name="Google Shape;423;p4"/>
          <p:cNvSpPr/>
          <p:nvPr/>
        </p:nvSpPr>
        <p:spPr>
          <a:xfrm>
            <a:off x="804672" y="1920240"/>
            <a:ext cx="51480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4" name="Google Shape;424;p4"/>
          <p:cNvSpPr txBox="1"/>
          <p:nvPr/>
        </p:nvSpPr>
        <p:spPr>
          <a:xfrm>
            <a:off x="1069848" y="2130552"/>
            <a:ext cx="46542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0B6E4F"/>
                </a:solidFill>
                <a:latin typeface="Consolas"/>
                <a:ea typeface="Consolas"/>
                <a:cs typeface="Consolas"/>
                <a:sym typeface="Consolas"/>
              </a:rPr>
              <a:t>SCHEMA-FIRST RULES</a:t>
            </a:r>
            <a:endParaRPr b="0" i="0" sz="1400" u="none" cap="none" strike="noStrike">
              <a:solidFill>
                <a:srgbClr val="000000"/>
              </a:solidFill>
              <a:latin typeface="Arial"/>
              <a:ea typeface="Arial"/>
              <a:cs typeface="Arial"/>
              <a:sym typeface="Arial"/>
            </a:endParaRPr>
          </a:p>
        </p:txBody>
      </p:sp>
      <p:sp>
        <p:nvSpPr>
          <p:cNvPr id="425" name="Google Shape;425;p4"/>
          <p:cNvSpPr txBox="1"/>
          <p:nvPr/>
        </p:nvSpPr>
        <p:spPr>
          <a:xfrm>
            <a:off x="1069848" y="2587752"/>
            <a:ext cx="4645200" cy="32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Preserve the structure</a:t>
            </a:r>
            <a:endParaRPr b="0" i="0" sz="1400" u="none" cap="none" strike="noStrike">
              <a:solidFill>
                <a:srgbClr val="000000"/>
              </a:solidFill>
              <a:latin typeface="Arial"/>
              <a:ea typeface="Arial"/>
              <a:cs typeface="Arial"/>
              <a:sym typeface="Arial"/>
            </a:endParaRPr>
          </a:p>
        </p:txBody>
      </p:sp>
      <p:sp>
        <p:nvSpPr>
          <p:cNvPr id="426" name="Google Shape;426;p4"/>
          <p:cNvSpPr txBox="1"/>
          <p:nvPr/>
        </p:nvSpPr>
        <p:spPr>
          <a:xfrm>
            <a:off x="1069848" y="3072384"/>
            <a:ext cx="4526400" cy="539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F2328"/>
                </a:solidFill>
                <a:latin typeface="Calibri"/>
                <a:ea typeface="Calibri"/>
                <a:cs typeface="Calibri"/>
                <a:sym typeface="Calibri"/>
              </a:rPr>
              <a:t>Tables, columns and foreign keys can be mapped systematically.</a:t>
            </a:r>
            <a:endParaRPr b="0" i="0" sz="1400" u="none" cap="none" strike="noStrike">
              <a:solidFill>
                <a:srgbClr val="000000"/>
              </a:solidFill>
              <a:latin typeface="Arial"/>
              <a:ea typeface="Arial"/>
              <a:cs typeface="Arial"/>
              <a:sym typeface="Arial"/>
            </a:endParaRPr>
          </a:p>
        </p:txBody>
      </p:sp>
      <p:sp>
        <p:nvSpPr>
          <p:cNvPr id="427" name="Google Shape;427;p4"/>
          <p:cNvSpPr txBox="1"/>
          <p:nvPr/>
        </p:nvSpPr>
        <p:spPr>
          <a:xfrm>
            <a:off x="1069848" y="3895344"/>
            <a:ext cx="46176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But implicit </a:t>
            </a:r>
            <a:r>
              <a:rPr b="1" i="0" lang="en-US" sz="1600" u="none" cap="none" strike="noStrike">
                <a:solidFill>
                  <a:srgbClr val="5B6770"/>
                </a:solidFill>
                <a:latin typeface="Calibri"/>
                <a:ea typeface="Calibri"/>
                <a:cs typeface="Calibri"/>
                <a:sym typeface="Calibri"/>
              </a:rPr>
              <a:t>domain semantics</a:t>
            </a:r>
            <a:r>
              <a:rPr b="0" i="0" lang="en-US" sz="1600" u="none" cap="none" strike="noStrike">
                <a:solidFill>
                  <a:srgbClr val="5B6770"/>
                </a:solidFill>
                <a:latin typeface="Calibri"/>
                <a:ea typeface="Calibri"/>
                <a:cs typeface="Calibri"/>
                <a:sym typeface="Calibri"/>
              </a:rPr>
              <a:t> remain </a:t>
            </a:r>
            <a:r>
              <a:rPr b="1" i="0" lang="en-US" sz="1600" u="none" cap="none" strike="noStrike">
                <a:solidFill>
                  <a:srgbClr val="5B6770"/>
                </a:solidFill>
                <a:latin typeface="Calibri"/>
                <a:ea typeface="Calibri"/>
                <a:cs typeface="Calibri"/>
                <a:sym typeface="Calibri"/>
              </a:rPr>
              <a:t>missing</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428" name="Google Shape;428;p4"/>
          <p:cNvSpPr/>
          <p:nvPr/>
        </p:nvSpPr>
        <p:spPr>
          <a:xfrm>
            <a:off x="6208776" y="1920240"/>
            <a:ext cx="5184600" cy="2523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p4"/>
          <p:cNvSpPr/>
          <p:nvPr/>
        </p:nvSpPr>
        <p:spPr>
          <a:xfrm>
            <a:off x="6208776" y="1920240"/>
            <a:ext cx="5184600" cy="63900"/>
          </a:xfrm>
          <a:prstGeom prst="rect">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p4"/>
          <p:cNvSpPr txBox="1"/>
          <p:nvPr/>
        </p:nvSpPr>
        <p:spPr>
          <a:xfrm>
            <a:off x="6473952" y="2130552"/>
            <a:ext cx="46452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2F6B78"/>
                </a:solidFill>
                <a:latin typeface="Consolas"/>
                <a:ea typeface="Consolas"/>
                <a:cs typeface="Consolas"/>
                <a:sym typeface="Consolas"/>
              </a:rPr>
              <a:t>LLM-FIRST GENERATION</a:t>
            </a:r>
            <a:endParaRPr b="0" i="0" sz="1400" u="none" cap="none" strike="noStrike">
              <a:solidFill>
                <a:srgbClr val="000000"/>
              </a:solidFill>
              <a:latin typeface="Arial"/>
              <a:ea typeface="Arial"/>
              <a:cs typeface="Arial"/>
              <a:sym typeface="Arial"/>
            </a:endParaRPr>
          </a:p>
        </p:txBody>
      </p:sp>
      <p:sp>
        <p:nvSpPr>
          <p:cNvPr id="431" name="Google Shape;431;p4"/>
          <p:cNvSpPr txBox="1"/>
          <p:nvPr/>
        </p:nvSpPr>
        <p:spPr>
          <a:xfrm>
            <a:off x="6473952" y="2587752"/>
            <a:ext cx="4608600" cy="32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Suggest the meaning</a:t>
            </a:r>
            <a:endParaRPr b="0" i="0" sz="1400" u="none" cap="none" strike="noStrike">
              <a:solidFill>
                <a:srgbClr val="000000"/>
              </a:solidFill>
              <a:latin typeface="Arial"/>
              <a:ea typeface="Arial"/>
              <a:cs typeface="Arial"/>
              <a:sym typeface="Arial"/>
            </a:endParaRPr>
          </a:p>
        </p:txBody>
      </p:sp>
      <p:sp>
        <p:nvSpPr>
          <p:cNvPr id="432" name="Google Shape;432;p4"/>
          <p:cNvSpPr txBox="1"/>
          <p:nvPr/>
        </p:nvSpPr>
        <p:spPr>
          <a:xfrm>
            <a:off x="6473952" y="3072384"/>
            <a:ext cx="4553700" cy="539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F2328"/>
                </a:solidFill>
                <a:latin typeface="Calibri"/>
                <a:ea typeface="Calibri"/>
                <a:cs typeface="Calibri"/>
                <a:sym typeface="Calibri"/>
              </a:rPr>
              <a:t>Labels, concepts and plausible relationships can be proposed.</a:t>
            </a:r>
            <a:endParaRPr b="0" i="0" sz="1400" u="none" cap="none" strike="noStrike">
              <a:solidFill>
                <a:srgbClr val="000000"/>
              </a:solidFill>
              <a:latin typeface="Arial"/>
              <a:ea typeface="Arial"/>
              <a:cs typeface="Arial"/>
              <a:sym typeface="Arial"/>
            </a:endParaRPr>
          </a:p>
        </p:txBody>
      </p:sp>
      <p:sp>
        <p:nvSpPr>
          <p:cNvPr id="433" name="Google Shape;433;p4"/>
          <p:cNvSpPr txBox="1"/>
          <p:nvPr/>
        </p:nvSpPr>
        <p:spPr>
          <a:xfrm>
            <a:off x="6473952" y="3895344"/>
            <a:ext cx="46635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But elements may be </a:t>
            </a:r>
            <a:r>
              <a:rPr b="1" i="0" lang="en-US" sz="1600" u="none" cap="none" strike="noStrike">
                <a:solidFill>
                  <a:srgbClr val="5B6770"/>
                </a:solidFill>
                <a:latin typeface="Calibri"/>
                <a:ea typeface="Calibri"/>
                <a:cs typeface="Calibri"/>
                <a:sym typeface="Calibri"/>
              </a:rPr>
              <a:t>omitted</a:t>
            </a:r>
            <a:r>
              <a:rPr b="0" i="0" lang="en-US" sz="1600" u="none" cap="none" strike="noStrike">
                <a:solidFill>
                  <a:srgbClr val="5B6770"/>
                </a:solidFill>
                <a:latin typeface="Calibri"/>
                <a:ea typeface="Calibri"/>
                <a:cs typeface="Calibri"/>
                <a:sym typeface="Calibri"/>
              </a:rPr>
              <a:t> or modeled incorrectly.</a:t>
            </a:r>
            <a:endParaRPr b="0" i="0" sz="1400" u="none" cap="none" strike="noStrike">
              <a:solidFill>
                <a:srgbClr val="000000"/>
              </a:solidFill>
              <a:latin typeface="Arial"/>
              <a:ea typeface="Arial"/>
              <a:cs typeface="Arial"/>
              <a:sym typeface="Arial"/>
            </a:endParaRPr>
          </a:p>
        </p:txBody>
      </p:sp>
      <p:sp>
        <p:nvSpPr>
          <p:cNvPr id="434" name="Google Shape;434;p4"/>
          <p:cNvSpPr/>
          <p:nvPr/>
        </p:nvSpPr>
        <p:spPr>
          <a:xfrm>
            <a:off x="813785" y="5405605"/>
            <a:ext cx="10588800" cy="9600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5" name="Google Shape;435;p4"/>
          <p:cNvSpPr txBox="1"/>
          <p:nvPr/>
        </p:nvSpPr>
        <p:spPr>
          <a:xfrm>
            <a:off x="1078972" y="5778499"/>
            <a:ext cx="20391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0B6E4F"/>
                </a:solidFill>
                <a:latin typeface="Consolas"/>
                <a:ea typeface="Consolas"/>
                <a:cs typeface="Consolas"/>
                <a:sym typeface="Consolas"/>
              </a:rPr>
              <a:t>OUR QUESTION</a:t>
            </a:r>
            <a:endParaRPr b="0" i="0" sz="1400" u="none" cap="none" strike="noStrike">
              <a:solidFill>
                <a:srgbClr val="000000"/>
              </a:solidFill>
              <a:latin typeface="Arial"/>
              <a:ea typeface="Arial"/>
              <a:cs typeface="Arial"/>
              <a:sym typeface="Arial"/>
            </a:endParaRPr>
          </a:p>
        </p:txBody>
      </p:sp>
      <p:sp>
        <p:nvSpPr>
          <p:cNvPr id="436" name="Google Shape;436;p4"/>
          <p:cNvSpPr txBox="1"/>
          <p:nvPr/>
        </p:nvSpPr>
        <p:spPr>
          <a:xfrm>
            <a:off x="2935230" y="5747064"/>
            <a:ext cx="8156400" cy="277200"/>
          </a:xfrm>
          <a:prstGeom prst="rect">
            <a:avLst/>
          </a:prstGeom>
          <a:noFill/>
          <a:ln>
            <a:noFill/>
          </a:ln>
        </p:spPr>
        <p:txBody>
          <a:bodyPr anchorCtr="0" anchor="ctr" bIns="0" lIns="0" spcFirstLastPara="1" rIns="0" wrap="square" tIns="0">
            <a:spAutoFit/>
          </a:bodyPr>
          <a:lstStyle/>
          <a:p>
            <a:pPr indent="0" lvl="0" marL="0" marR="0" rtl="0" algn="l">
              <a:lnSpc>
                <a:spcPct val="107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Can we preserve schema fidelity </a:t>
            </a:r>
            <a:r>
              <a:rPr b="1" i="0" lang="en-US" sz="1800" u="none" cap="none" strike="noStrike">
                <a:solidFill>
                  <a:srgbClr val="0B6E4F"/>
                </a:solidFill>
                <a:latin typeface="Calibri"/>
                <a:ea typeface="Calibri"/>
                <a:cs typeface="Calibri"/>
                <a:sym typeface="Calibri"/>
              </a:rPr>
              <a:t>and</a:t>
            </a:r>
            <a:r>
              <a:rPr b="1" i="0" lang="en-US" sz="1800" u="none" cap="none" strike="noStrike">
                <a:solidFill>
                  <a:srgbClr val="1F2328"/>
                </a:solidFill>
                <a:latin typeface="Calibri"/>
                <a:ea typeface="Calibri"/>
                <a:cs typeface="Calibri"/>
                <a:sym typeface="Calibri"/>
              </a:rPr>
              <a:t> add domain semantics</a:t>
            </a:r>
            <a:r>
              <a:rPr b="1" lang="en-US" sz="1800">
                <a:solidFill>
                  <a:srgbClr val="1F2328"/>
                </a:solidFill>
                <a:latin typeface="Calibri"/>
                <a:ea typeface="Calibri"/>
                <a:cs typeface="Calibri"/>
                <a:sym typeface="Calibri"/>
              </a:rPr>
              <a:t> </a:t>
            </a:r>
            <a:r>
              <a:rPr b="1" i="0" lang="en-US" sz="1800" u="none" cap="none" strike="noStrike">
                <a:solidFill>
                  <a:srgbClr val="1F2328"/>
                </a:solidFill>
                <a:latin typeface="Calibri"/>
                <a:ea typeface="Calibri"/>
                <a:cs typeface="Calibri"/>
                <a:sym typeface="Calibri"/>
              </a:rPr>
              <a:t>across the full database?</a:t>
            </a:r>
            <a:endParaRPr b="0" i="0" sz="1400" u="none" cap="none" strike="noStrike">
              <a:solidFill>
                <a:srgbClr val="000000"/>
              </a:solidFill>
              <a:latin typeface="Arial"/>
              <a:ea typeface="Arial"/>
              <a:cs typeface="Arial"/>
              <a:sym typeface="Arial"/>
            </a:endParaRPr>
          </a:p>
        </p:txBody>
      </p:sp>
      <p:sp>
        <p:nvSpPr>
          <p:cNvPr id="437" name="Google Shape;437;p4"/>
          <p:cNvSpPr/>
          <p:nvPr/>
        </p:nvSpPr>
        <p:spPr>
          <a:xfrm>
            <a:off x="959083" y="4526280"/>
            <a:ext cx="50748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00" u="none" cap="none" strike="noStrike">
                <a:solidFill>
                  <a:srgbClr val="5B6770"/>
                </a:solidFill>
                <a:latin typeface="Calibri"/>
                <a:ea typeface="Calibri"/>
                <a:cs typeface="Calibri"/>
                <a:sym typeface="Calibri"/>
              </a:rPr>
              <a:t>W3C Direct Mapping</a:t>
            </a:r>
            <a:r>
              <a:rPr b="0" i="0" lang="en-US" sz="1000" u="none" cap="none" strike="noStrike">
                <a:solidFill>
                  <a:srgbClr val="5B6770"/>
                </a:solidFill>
                <a:latin typeface="Calibri"/>
                <a:ea typeface="Calibri"/>
                <a:cs typeface="Calibri"/>
                <a:sym typeface="Calibri"/>
              </a:rPr>
              <a:t> [Arenas et al. 2012; Sequeda et al. 2012]  ·  </a:t>
            </a:r>
            <a:r>
              <a:rPr b="1" i="0" lang="en-US" sz="1000" u="none" cap="none" strike="noStrike">
                <a:solidFill>
                  <a:srgbClr val="5B6770"/>
                </a:solidFill>
                <a:latin typeface="Calibri"/>
                <a:ea typeface="Calibri"/>
                <a:cs typeface="Calibri"/>
                <a:sym typeface="Calibri"/>
              </a:rPr>
              <a:t>BootOX</a:t>
            </a:r>
            <a:r>
              <a:rPr b="0" i="0" lang="en-US" sz="1000" u="none" cap="none" strike="noStrike">
                <a:solidFill>
                  <a:srgbClr val="5B6770"/>
                </a:solidFill>
                <a:latin typeface="Calibri"/>
                <a:ea typeface="Calibri"/>
                <a:cs typeface="Calibri"/>
                <a:sym typeface="Calibri"/>
              </a:rPr>
              <a:t> [Jiménez‑Ruiz et al., ISWC 2015]  ·  </a:t>
            </a:r>
            <a:r>
              <a:rPr b="1" i="0" lang="en-US" sz="1000" u="none" cap="none" strike="noStrike">
                <a:solidFill>
                  <a:srgbClr val="5B6770"/>
                </a:solidFill>
                <a:latin typeface="Calibri"/>
                <a:ea typeface="Calibri"/>
                <a:cs typeface="Calibri"/>
                <a:sym typeface="Calibri"/>
              </a:rPr>
              <a:t>Ben Mahria et al.</a:t>
            </a:r>
            <a:r>
              <a:rPr b="0" i="0" lang="en-US" sz="1000" u="none" cap="none" strike="noStrike">
                <a:solidFill>
                  <a:srgbClr val="5B6770"/>
                </a:solidFill>
                <a:latin typeface="Calibri"/>
                <a:ea typeface="Calibri"/>
                <a:cs typeface="Calibri"/>
                <a:sym typeface="Calibri"/>
              </a:rPr>
              <a:t> [J. Big Data 2021]  </a:t>
            </a:r>
            <a:endParaRPr/>
          </a:p>
        </p:txBody>
      </p:sp>
      <p:sp>
        <p:nvSpPr>
          <p:cNvPr id="438" name="Google Shape;438;p4"/>
          <p:cNvSpPr/>
          <p:nvPr/>
        </p:nvSpPr>
        <p:spPr>
          <a:xfrm>
            <a:off x="6363187" y="4526280"/>
            <a:ext cx="5111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00" u="none" cap="none" strike="noStrike">
                <a:solidFill>
                  <a:srgbClr val="5B6770"/>
                </a:solidFill>
                <a:latin typeface="Calibri"/>
                <a:ea typeface="Calibri"/>
                <a:cs typeface="Calibri"/>
                <a:sym typeface="Calibri"/>
              </a:rPr>
              <a:t>LLMs4OL</a:t>
            </a:r>
            <a:r>
              <a:rPr b="0" i="0" lang="en-US" sz="1000" u="none" cap="none" strike="noStrike">
                <a:solidFill>
                  <a:srgbClr val="5B6770"/>
                </a:solidFill>
                <a:latin typeface="Calibri"/>
                <a:ea typeface="Calibri"/>
                <a:cs typeface="Calibri"/>
                <a:sym typeface="Calibri"/>
              </a:rPr>
              <a:t> [Babaei Giglou et al., ISWC 2023]  ·  </a:t>
            </a:r>
            <a:r>
              <a:rPr b="1" i="0" lang="en-US" sz="1000" u="none" cap="none" strike="noStrike">
                <a:solidFill>
                  <a:srgbClr val="5B6770"/>
                </a:solidFill>
                <a:latin typeface="Calibri"/>
                <a:ea typeface="Calibri"/>
                <a:cs typeface="Calibri"/>
                <a:sym typeface="Calibri"/>
              </a:rPr>
              <a:t>Mateiu &amp; Groza</a:t>
            </a:r>
            <a:r>
              <a:rPr b="0" i="0" lang="en-US" sz="1000" u="none" cap="none" strike="noStrike">
                <a:solidFill>
                  <a:srgbClr val="5B6770"/>
                </a:solidFill>
                <a:latin typeface="Calibri"/>
                <a:ea typeface="Calibri"/>
                <a:cs typeface="Calibri"/>
                <a:sym typeface="Calibri"/>
              </a:rPr>
              <a:t> [SYNASC 2023]  ·  </a:t>
            </a:r>
            <a:r>
              <a:rPr b="1" i="0" lang="en-US" sz="1000" u="none" cap="none" strike="noStrike">
                <a:solidFill>
                  <a:srgbClr val="5B6770"/>
                </a:solidFill>
                <a:latin typeface="Calibri"/>
                <a:ea typeface="Calibri"/>
                <a:cs typeface="Calibri"/>
                <a:sym typeface="Calibri"/>
              </a:rPr>
              <a:t>OntoGenix</a:t>
            </a:r>
            <a:r>
              <a:rPr b="0" i="0" lang="en-US" sz="1000" u="none" cap="none" strike="noStrike">
                <a:solidFill>
                  <a:srgbClr val="5B6770"/>
                </a:solidFill>
                <a:latin typeface="Calibri"/>
                <a:ea typeface="Calibri"/>
                <a:cs typeface="Calibri"/>
                <a:sym typeface="Calibri"/>
              </a:rPr>
              <a:t> [Val‑Calvo et al., IP&amp;M 2025]  ·  </a:t>
            </a:r>
            <a:r>
              <a:rPr b="1" i="0" lang="en-US" sz="1000" u="none" cap="none" strike="noStrike">
                <a:solidFill>
                  <a:srgbClr val="5B6770"/>
                </a:solidFill>
                <a:latin typeface="Calibri"/>
                <a:ea typeface="Calibri"/>
                <a:cs typeface="Calibri"/>
                <a:sym typeface="Calibri"/>
              </a:rPr>
              <a:t>LLM4VKG</a:t>
            </a:r>
            <a:r>
              <a:rPr b="0" i="0" lang="en-US" sz="1000" u="none" cap="none" strike="noStrike">
                <a:solidFill>
                  <a:srgbClr val="5B6770"/>
                </a:solidFill>
                <a:latin typeface="Calibri"/>
                <a:ea typeface="Calibri"/>
                <a:cs typeface="Calibri"/>
                <a:sym typeface="Calibri"/>
              </a:rPr>
              <a:t> [Xiao et al., IJCAI 2025]</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5"/>
          <p:cNvSpPr txBox="1"/>
          <p:nvPr/>
        </p:nvSpPr>
        <p:spPr>
          <a:xfrm>
            <a:off x="822960" y="521207"/>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OUR ANSWER  /  RIGOR</a:t>
            </a:r>
            <a:endParaRPr b="0" i="0" sz="1400" u="none" cap="none" strike="noStrike">
              <a:solidFill>
                <a:srgbClr val="000000"/>
              </a:solidFill>
              <a:latin typeface="Arial"/>
              <a:ea typeface="Arial"/>
              <a:cs typeface="Arial"/>
              <a:sym typeface="Arial"/>
            </a:endParaRPr>
          </a:p>
        </p:txBody>
      </p:sp>
      <p:sp>
        <p:nvSpPr>
          <p:cNvPr id="445" name="Google Shape;445;p5"/>
          <p:cNvSpPr txBox="1"/>
          <p:nvPr/>
        </p:nvSpPr>
        <p:spPr>
          <a:xfrm>
            <a:off x="804672" y="978408"/>
            <a:ext cx="10625400" cy="667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Build the ontology one table at a time.</a:t>
            </a:r>
            <a:endParaRPr b="0" i="0" sz="1400" u="none" cap="none" strike="noStrike">
              <a:solidFill>
                <a:srgbClr val="000000"/>
              </a:solidFill>
              <a:latin typeface="Arial"/>
              <a:ea typeface="Arial"/>
              <a:cs typeface="Arial"/>
              <a:sym typeface="Arial"/>
            </a:endParaRPr>
          </a:p>
        </p:txBody>
      </p:sp>
      <p:sp>
        <p:nvSpPr>
          <p:cNvPr id="446" name="Google Shape;446;p5"/>
          <p:cNvSpPr txBox="1"/>
          <p:nvPr/>
        </p:nvSpPr>
        <p:spPr>
          <a:xfrm>
            <a:off x="804672" y="1673352"/>
            <a:ext cx="10634400" cy="429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3A434C"/>
                </a:solidFill>
                <a:latin typeface="Calibri"/>
                <a:ea typeface="Calibri"/>
                <a:cs typeface="Calibri"/>
                <a:sym typeface="Calibri"/>
              </a:rPr>
              <a:t>We will construct the answer to our admission example, together.</a:t>
            </a:r>
            <a:endParaRPr b="0" i="0" sz="1400" u="none" cap="none" strike="noStrike">
              <a:solidFill>
                <a:srgbClr val="000000"/>
              </a:solidFill>
              <a:latin typeface="Arial"/>
              <a:ea typeface="Arial"/>
              <a:cs typeface="Arial"/>
              <a:sym typeface="Arial"/>
            </a:endParaRPr>
          </a:p>
        </p:txBody>
      </p:sp>
      <p:sp>
        <p:nvSpPr>
          <p:cNvPr id="447" name="Google Shape;447;p5"/>
          <p:cNvSpPr/>
          <p:nvPr/>
        </p:nvSpPr>
        <p:spPr>
          <a:xfrm>
            <a:off x="813825" y="2178050"/>
            <a:ext cx="3026700" cy="27945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8" name="Google Shape;448;p5"/>
          <p:cNvSpPr txBox="1"/>
          <p:nvPr/>
        </p:nvSpPr>
        <p:spPr>
          <a:xfrm>
            <a:off x="1033279" y="2437210"/>
            <a:ext cx="2606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WHAT WE HAVE</a:t>
            </a:r>
            <a:endParaRPr b="0" i="0" sz="1400" u="none" cap="none" strike="noStrike">
              <a:solidFill>
                <a:srgbClr val="000000"/>
              </a:solidFill>
              <a:latin typeface="Arial"/>
              <a:ea typeface="Arial"/>
              <a:cs typeface="Arial"/>
              <a:sym typeface="Arial"/>
            </a:endParaRPr>
          </a:p>
        </p:txBody>
      </p:sp>
      <p:sp>
        <p:nvSpPr>
          <p:cNvPr id="449" name="Google Shape;449;p5"/>
          <p:cNvSpPr/>
          <p:nvPr/>
        </p:nvSpPr>
        <p:spPr>
          <a:xfrm>
            <a:off x="4123944" y="3282696"/>
            <a:ext cx="557700" cy="457200"/>
          </a:xfrm>
          <a:prstGeom prst="rightArrow">
            <a:avLst>
              <a:gd fmla="val 50000" name="adj1"/>
              <a:gd fmla="val 50000" name="adj2"/>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0" name="Google Shape;450;p5"/>
          <p:cNvSpPr/>
          <p:nvPr/>
        </p:nvSpPr>
        <p:spPr>
          <a:xfrm>
            <a:off x="5020050" y="2178050"/>
            <a:ext cx="6391800" cy="2794500"/>
          </a:xfrm>
          <a:prstGeom prst="roundRect">
            <a:avLst>
              <a:gd fmla="val 10000"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1" name="Google Shape;451;p5"/>
          <p:cNvSpPr txBox="1"/>
          <p:nvPr/>
        </p:nvSpPr>
        <p:spPr>
          <a:xfrm>
            <a:off x="5257800" y="2400150"/>
            <a:ext cx="5843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WHAT WE WANT</a:t>
            </a:r>
            <a:endParaRPr b="0" i="0" sz="1400" u="none" cap="none" strike="noStrike">
              <a:solidFill>
                <a:srgbClr val="000000"/>
              </a:solidFill>
              <a:latin typeface="Arial"/>
              <a:ea typeface="Arial"/>
              <a:cs typeface="Arial"/>
              <a:sym typeface="Arial"/>
            </a:endParaRPr>
          </a:p>
        </p:txBody>
      </p:sp>
      <p:sp>
        <p:nvSpPr>
          <p:cNvPr id="452" name="Google Shape;452;p5"/>
          <p:cNvSpPr/>
          <p:nvPr/>
        </p:nvSpPr>
        <p:spPr>
          <a:xfrm>
            <a:off x="5266944" y="3063240"/>
            <a:ext cx="2157900" cy="493800"/>
          </a:xfrm>
          <a:prstGeom prst="roundRect">
            <a:avLst>
              <a:gd fmla="val 10000" name="adj"/>
            </a:avLst>
          </a:prstGeom>
          <a:solidFill>
            <a:srgbClr val="E9EEEB"/>
          </a:solidFill>
          <a:ln cap="flat" cmpd="sng" w="127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3" name="Google Shape;453;p5"/>
          <p:cNvSpPr txBox="1"/>
          <p:nvPr/>
        </p:nvSpPr>
        <p:spPr>
          <a:xfrm>
            <a:off x="5468112" y="3182112"/>
            <a:ext cx="1783200" cy="219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454" name="Google Shape;454;p5"/>
          <p:cNvSpPr/>
          <p:nvPr/>
        </p:nvSpPr>
        <p:spPr>
          <a:xfrm>
            <a:off x="9189720" y="3063240"/>
            <a:ext cx="1938600" cy="493800"/>
          </a:xfrm>
          <a:prstGeom prst="roundRect">
            <a:avLst>
              <a:gd fmla="val 10000" name="adj"/>
            </a:avLst>
          </a:prstGeom>
          <a:solidFill>
            <a:srgbClr val="E9EEEB"/>
          </a:solidFill>
          <a:ln cap="flat" cmpd="sng" w="127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5" name="Google Shape;455;p5"/>
          <p:cNvSpPr txBox="1"/>
          <p:nvPr/>
        </p:nvSpPr>
        <p:spPr>
          <a:xfrm>
            <a:off x="9317736" y="3182112"/>
            <a:ext cx="1682400" cy="219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456" name="Google Shape;456;p5"/>
          <p:cNvCxnSpPr/>
          <p:nvPr/>
        </p:nvCxnSpPr>
        <p:spPr>
          <a:xfrm>
            <a:off x="7452360" y="3310128"/>
            <a:ext cx="1664100" cy="0"/>
          </a:xfrm>
          <a:prstGeom prst="straightConnector1">
            <a:avLst/>
          </a:prstGeom>
          <a:noFill/>
          <a:ln cap="flat" cmpd="sng" w="30475">
            <a:solidFill>
              <a:srgbClr val="0B6E4F"/>
            </a:solidFill>
            <a:prstDash val="solid"/>
            <a:miter lim="80"/>
            <a:headEnd len="sm" w="sm" type="none"/>
            <a:tailEnd len="med" w="med" type="triangle"/>
          </a:ln>
        </p:spPr>
      </p:cxnSp>
      <p:sp>
        <p:nvSpPr>
          <p:cNvPr id="457" name="Google Shape;457;p5"/>
          <p:cNvSpPr txBox="1"/>
          <p:nvPr/>
        </p:nvSpPr>
        <p:spPr>
          <a:xfrm>
            <a:off x="7579313" y="2980944"/>
            <a:ext cx="18105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458" name="Google Shape;458;p5"/>
          <p:cNvSpPr txBox="1"/>
          <p:nvPr/>
        </p:nvSpPr>
        <p:spPr>
          <a:xfrm>
            <a:off x="5330952" y="3785615"/>
            <a:ext cx="5586900" cy="265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F2328"/>
                </a:solidFill>
                <a:latin typeface="Calibri"/>
                <a:ea typeface="Calibri"/>
                <a:cs typeface="Calibri"/>
                <a:sym typeface="Calibri"/>
              </a:rPr>
              <a:t>+ meaningful labels   + encoded values</a:t>
            </a:r>
            <a:endParaRPr b="0" i="0" sz="1400" u="none" cap="none" strike="noStrike">
              <a:solidFill>
                <a:srgbClr val="000000"/>
              </a:solidFill>
              <a:latin typeface="Arial"/>
              <a:ea typeface="Arial"/>
              <a:cs typeface="Arial"/>
              <a:sym typeface="Arial"/>
            </a:endParaRPr>
          </a:p>
        </p:txBody>
      </p:sp>
      <p:sp>
        <p:nvSpPr>
          <p:cNvPr id="459" name="Google Shape;459;p5"/>
          <p:cNvSpPr txBox="1"/>
          <p:nvPr/>
        </p:nvSpPr>
        <p:spPr>
          <a:xfrm>
            <a:off x="5330952" y="4151376"/>
            <a:ext cx="5586900" cy="634800"/>
          </a:xfrm>
          <a:prstGeom prst="rect">
            <a:avLst/>
          </a:prstGeom>
          <a:noFill/>
          <a:ln>
            <a:noFill/>
          </a:ln>
        </p:spPr>
        <p:txBody>
          <a:bodyPr anchorCtr="0" anchor="ctr" bIns="0" lIns="0" spcFirstLastPara="1" rIns="0" wrap="square" tIns="0">
            <a:spAutoFit/>
          </a:bodyPr>
          <a:lstStyle/>
          <a:p>
            <a:pPr indent="0" lvl="0" marL="0" marR="0" rtl="0" algn="l">
              <a:lnSpc>
                <a:spcPct val="150000"/>
              </a:lnSpc>
              <a:spcBef>
                <a:spcPts val="0"/>
              </a:spcBef>
              <a:spcAft>
                <a:spcPts val="0"/>
              </a:spcAft>
              <a:buClr>
                <a:srgbClr val="000000"/>
              </a:buClr>
              <a:buSzPts val="1650"/>
              <a:buFont typeface="Arial"/>
              <a:buNone/>
            </a:pPr>
            <a:r>
              <a:rPr b="0" i="0" lang="en-US" sz="1650" u="none" cap="none" strike="noStrike">
                <a:solidFill>
                  <a:srgbClr val="3A434C"/>
                </a:solidFill>
                <a:latin typeface="Calibri"/>
                <a:ea typeface="Calibri"/>
                <a:cs typeface="Calibri"/>
                <a:sym typeface="Calibri"/>
              </a:rPr>
              <a:t>+ provenance   </a:t>
            </a:r>
            <a:r>
              <a:rPr lang="en-US" sz="1650">
                <a:solidFill>
                  <a:srgbClr val="3A434C"/>
                </a:solidFill>
                <a:latin typeface="Calibri"/>
                <a:ea typeface="Calibri"/>
                <a:cs typeface="Calibri"/>
                <a:sym typeface="Calibri"/>
              </a:rPr>
              <a:t>+ logical axioms (hierarchy, disjointness) </a:t>
            </a:r>
            <a:endParaRPr sz="1650">
              <a:solidFill>
                <a:srgbClr val="3A434C"/>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650"/>
              <a:buFont typeface="Arial"/>
              <a:buNone/>
            </a:pPr>
            <a:r>
              <a:rPr lang="en-US" sz="1650">
                <a:solidFill>
                  <a:srgbClr val="3A434C"/>
                </a:solidFill>
                <a:latin typeface="Calibri"/>
                <a:ea typeface="Calibri"/>
                <a:cs typeface="Calibri"/>
                <a:sym typeface="Calibri"/>
              </a:rPr>
              <a:t>+ links to standard vocabularies</a:t>
            </a:r>
            <a:endParaRPr b="0" i="0" sz="1400" u="none" cap="none" strike="noStrike">
              <a:solidFill>
                <a:srgbClr val="000000"/>
              </a:solidFill>
              <a:latin typeface="Arial"/>
              <a:ea typeface="Arial"/>
              <a:cs typeface="Arial"/>
              <a:sym typeface="Arial"/>
            </a:endParaRPr>
          </a:p>
        </p:txBody>
      </p:sp>
      <p:sp>
        <p:nvSpPr>
          <p:cNvPr id="460" name="Google Shape;460;p5"/>
          <p:cNvSpPr txBox="1"/>
          <p:nvPr/>
        </p:nvSpPr>
        <p:spPr>
          <a:xfrm>
            <a:off x="859536" y="5020056"/>
            <a:ext cx="10460700" cy="429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We need to preserve structure, discover meaning, and prevent mistakes, at database scale.</a:t>
            </a:r>
            <a:endParaRPr b="0" i="0" sz="1400" u="none" cap="none" strike="noStrike">
              <a:solidFill>
                <a:srgbClr val="000000"/>
              </a:solidFill>
              <a:latin typeface="Arial"/>
              <a:ea typeface="Arial"/>
              <a:cs typeface="Arial"/>
              <a:sym typeface="Arial"/>
            </a:endParaRPr>
          </a:p>
        </p:txBody>
      </p:sp>
      <p:sp>
        <p:nvSpPr>
          <p:cNvPr id="461" name="Google Shape;461;p5"/>
          <p:cNvSpPr/>
          <p:nvPr/>
        </p:nvSpPr>
        <p:spPr>
          <a:xfrm>
            <a:off x="80467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2" name="Google Shape;462;p5"/>
          <p:cNvSpPr txBox="1"/>
          <p:nvPr/>
        </p:nvSpPr>
        <p:spPr>
          <a:xfrm>
            <a:off x="85953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463" name="Google Shape;463;p5"/>
          <p:cNvSpPr/>
          <p:nvPr/>
        </p:nvSpPr>
        <p:spPr>
          <a:xfrm>
            <a:off x="2642615"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4" name="Google Shape;464;p5"/>
          <p:cNvSpPr txBox="1"/>
          <p:nvPr/>
        </p:nvSpPr>
        <p:spPr>
          <a:xfrm>
            <a:off x="2697479"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465" name="Google Shape;465;p5"/>
          <p:cNvSpPr/>
          <p:nvPr/>
        </p:nvSpPr>
        <p:spPr>
          <a:xfrm>
            <a:off x="4480559"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6" name="Google Shape;466;p5"/>
          <p:cNvSpPr txBox="1"/>
          <p:nvPr/>
        </p:nvSpPr>
        <p:spPr>
          <a:xfrm>
            <a:off x="4535423"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467" name="Google Shape;467;p5"/>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8" name="Google Shape;468;p5"/>
          <p:cNvSpPr txBox="1"/>
          <p:nvPr/>
        </p:nvSpPr>
        <p:spPr>
          <a:xfrm>
            <a:off x="6373367"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469" name="Google Shape;469;p5"/>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p5"/>
          <p:cNvSpPr txBox="1"/>
          <p:nvPr/>
        </p:nvSpPr>
        <p:spPr>
          <a:xfrm>
            <a:off x="8211312"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471" name="Google Shape;471;p5"/>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2" name="Google Shape;472;p5"/>
          <p:cNvSpPr txBox="1"/>
          <p:nvPr/>
        </p:nvSpPr>
        <p:spPr>
          <a:xfrm>
            <a:off x="1004925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473" name="Google Shape;473;p5"/>
          <p:cNvSpPr/>
          <p:nvPr/>
        </p:nvSpPr>
        <p:spPr>
          <a:xfrm>
            <a:off x="1005789" y="2825521"/>
            <a:ext cx="2642700" cy="17922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
          <p:cNvSpPr txBox="1"/>
          <p:nvPr/>
        </p:nvSpPr>
        <p:spPr>
          <a:xfrm>
            <a:off x="1170381" y="2935250"/>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475" name="Google Shape;475;p5"/>
          <p:cNvCxnSpPr/>
          <p:nvPr/>
        </p:nvCxnSpPr>
        <p:spPr>
          <a:xfrm>
            <a:off x="1170381" y="3355874"/>
            <a:ext cx="2313300" cy="0"/>
          </a:xfrm>
          <a:prstGeom prst="straightConnector1">
            <a:avLst/>
          </a:prstGeom>
          <a:noFill/>
          <a:ln cap="flat" cmpd="sng" w="19050">
            <a:solidFill>
              <a:srgbClr val="8E989E"/>
            </a:solidFill>
            <a:prstDash val="solid"/>
            <a:miter lim="80"/>
            <a:headEnd len="sm" w="sm" type="none"/>
            <a:tailEnd len="sm" w="sm" type="none"/>
          </a:ln>
        </p:spPr>
      </p:cxnSp>
      <p:sp>
        <p:nvSpPr>
          <p:cNvPr id="476" name="Google Shape;476;p5"/>
          <p:cNvSpPr/>
          <p:nvPr/>
        </p:nvSpPr>
        <p:spPr>
          <a:xfrm>
            <a:off x="1170381" y="3483889"/>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patient_id</a:t>
            </a:r>
            <a:endParaRPr/>
          </a:p>
        </p:txBody>
      </p:sp>
      <p:sp>
        <p:nvSpPr>
          <p:cNvPr id="477" name="Google Shape;477;p5"/>
          <p:cNvSpPr/>
          <p:nvPr/>
        </p:nvSpPr>
        <p:spPr>
          <a:xfrm>
            <a:off x="2734005" y="3483889"/>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FK</a:t>
            </a:r>
            <a:endParaRPr/>
          </a:p>
        </p:txBody>
      </p:sp>
      <p:sp>
        <p:nvSpPr>
          <p:cNvPr id="478" name="Google Shape;478;p5"/>
          <p:cNvSpPr/>
          <p:nvPr/>
        </p:nvSpPr>
        <p:spPr>
          <a:xfrm>
            <a:off x="1170381" y="383136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BM_DEP</a:t>
            </a:r>
            <a:endParaRPr/>
          </a:p>
        </p:txBody>
      </p:sp>
      <p:sp>
        <p:nvSpPr>
          <p:cNvPr id="479" name="Google Shape;479;p5"/>
          <p:cNvSpPr/>
          <p:nvPr/>
        </p:nvSpPr>
        <p:spPr>
          <a:xfrm>
            <a:off x="2734005" y="383136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INT</a:t>
            </a:r>
            <a:endParaRPr/>
          </a:p>
        </p:txBody>
      </p:sp>
      <p:sp>
        <p:nvSpPr>
          <p:cNvPr id="480" name="Google Shape;480;p5"/>
          <p:cNvSpPr/>
          <p:nvPr/>
        </p:nvSpPr>
        <p:spPr>
          <a:xfrm>
            <a:off x="1170381" y="417883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ecog_stage</a:t>
            </a:r>
            <a:endParaRPr/>
          </a:p>
        </p:txBody>
      </p:sp>
      <p:sp>
        <p:nvSpPr>
          <p:cNvPr id="481" name="Google Shape;481;p5"/>
          <p:cNvSpPr/>
          <p:nvPr/>
        </p:nvSpPr>
        <p:spPr>
          <a:xfrm>
            <a:off x="2734005" y="417883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INT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6" name="Shape 486"/>
        <p:cNvGrpSpPr/>
        <p:nvPr/>
      </p:nvGrpSpPr>
      <p:grpSpPr>
        <a:xfrm>
          <a:off x="0" y="0"/>
          <a:ext cx="0" cy="0"/>
          <a:chOff x="0" y="0"/>
          <a:chExt cx="0" cy="0"/>
        </a:xfrm>
      </p:grpSpPr>
      <p:sp>
        <p:nvSpPr>
          <p:cNvPr id="487" name="Google Shape;487;p6"/>
          <p:cNvSpPr txBox="1"/>
          <p:nvPr/>
        </p:nvSpPr>
        <p:spPr>
          <a:xfrm>
            <a:off x="795528" y="448056"/>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1 / ORDER</a:t>
            </a:r>
            <a:endParaRPr b="0" i="0" sz="1400" u="none" cap="none" strike="noStrike">
              <a:solidFill>
                <a:srgbClr val="000000"/>
              </a:solidFill>
              <a:latin typeface="Arial"/>
              <a:ea typeface="Arial"/>
              <a:cs typeface="Arial"/>
              <a:sym typeface="Arial"/>
            </a:endParaRPr>
          </a:p>
        </p:txBody>
      </p:sp>
      <p:sp>
        <p:nvSpPr>
          <p:cNvPr id="488" name="Google Shape;488;p6"/>
          <p:cNvSpPr txBox="1"/>
          <p:nvPr/>
        </p:nvSpPr>
        <p:spPr>
          <a:xfrm>
            <a:off x="795528" y="850392"/>
            <a:ext cx="1083570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To understand this table, build its parent first.</a:t>
            </a:r>
            <a:endParaRPr b="0" i="0" sz="1400" u="none" cap="none" strike="noStrike">
              <a:solidFill>
                <a:srgbClr val="000000"/>
              </a:solidFill>
              <a:latin typeface="Arial"/>
              <a:ea typeface="Arial"/>
              <a:cs typeface="Arial"/>
              <a:sym typeface="Arial"/>
            </a:endParaRPr>
          </a:p>
        </p:txBody>
      </p:sp>
      <p:sp>
        <p:nvSpPr>
          <p:cNvPr id="489" name="Google Shape;489;p6"/>
          <p:cNvSpPr txBox="1"/>
          <p:nvPr/>
        </p:nvSpPr>
        <p:spPr>
          <a:xfrm>
            <a:off x="795528" y="1609344"/>
            <a:ext cx="10607100" cy="347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We follow foreign-key dependencies, so known concepts are available when needed.</a:t>
            </a:r>
            <a:endParaRPr b="0" i="0" sz="1400" u="none" cap="none" strike="noStrike">
              <a:solidFill>
                <a:srgbClr val="000000"/>
              </a:solidFill>
              <a:latin typeface="Arial"/>
              <a:ea typeface="Arial"/>
              <a:cs typeface="Arial"/>
              <a:sym typeface="Arial"/>
            </a:endParaRPr>
          </a:p>
        </p:txBody>
      </p:sp>
      <p:sp>
        <p:nvSpPr>
          <p:cNvPr id="490" name="Google Shape;490;p6"/>
          <p:cNvSpPr/>
          <p:nvPr/>
        </p:nvSpPr>
        <p:spPr>
          <a:xfrm>
            <a:off x="822960" y="2130552"/>
            <a:ext cx="4910400" cy="25695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1" name="Google Shape;491;p6"/>
          <p:cNvSpPr txBox="1"/>
          <p:nvPr/>
        </p:nvSpPr>
        <p:spPr>
          <a:xfrm>
            <a:off x="1069848" y="2313432"/>
            <a:ext cx="4480500" cy="283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DATABASE DEPENDENCIES</a:t>
            </a:r>
            <a:endParaRPr b="0" i="0" sz="1400" u="none" cap="none" strike="noStrike">
              <a:solidFill>
                <a:srgbClr val="000000"/>
              </a:solidFill>
              <a:latin typeface="Arial"/>
              <a:ea typeface="Arial"/>
              <a:cs typeface="Arial"/>
              <a:sym typeface="Arial"/>
            </a:endParaRPr>
          </a:p>
        </p:txBody>
      </p:sp>
      <p:sp>
        <p:nvSpPr>
          <p:cNvPr id="492" name="Google Shape;492;p6"/>
          <p:cNvSpPr/>
          <p:nvPr/>
        </p:nvSpPr>
        <p:spPr>
          <a:xfrm>
            <a:off x="1143000" y="2816352"/>
            <a:ext cx="1874400" cy="850500"/>
          </a:xfrm>
          <a:prstGeom prst="roundRect">
            <a:avLst>
              <a:gd fmla="val 10000" name="adj"/>
            </a:avLst>
          </a:prstGeom>
          <a:solidFill>
            <a:srgbClr val="E6F2EC"/>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3" name="Google Shape;493;p6"/>
          <p:cNvSpPr txBox="1"/>
          <p:nvPr/>
        </p:nvSpPr>
        <p:spPr>
          <a:xfrm>
            <a:off x="1280160" y="2944368"/>
            <a:ext cx="1609200" cy="237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sp>
        <p:nvSpPr>
          <p:cNvPr id="494" name="Google Shape;494;p6"/>
          <p:cNvSpPr txBox="1"/>
          <p:nvPr/>
        </p:nvSpPr>
        <p:spPr>
          <a:xfrm>
            <a:off x="1280160" y="3227832"/>
            <a:ext cx="16734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No FKs</a:t>
            </a:r>
            <a:endParaRPr b="0" i="0" sz="1400" u="none" cap="none" strike="noStrike">
              <a:solidFill>
                <a:srgbClr val="000000"/>
              </a:solidFill>
              <a:latin typeface="Arial"/>
              <a:ea typeface="Arial"/>
              <a:cs typeface="Arial"/>
              <a:sym typeface="Arial"/>
            </a:endParaRPr>
          </a:p>
        </p:txBody>
      </p:sp>
      <p:sp>
        <p:nvSpPr>
          <p:cNvPr id="495" name="Google Shape;495;p6"/>
          <p:cNvSpPr/>
          <p:nvPr/>
        </p:nvSpPr>
        <p:spPr>
          <a:xfrm>
            <a:off x="3758184" y="2816352"/>
            <a:ext cx="1710000" cy="850500"/>
          </a:xfrm>
          <a:prstGeom prst="roundRect">
            <a:avLst>
              <a:gd fmla="val 10000" name="adj"/>
            </a:avLst>
          </a:prstGeom>
          <a:solidFill>
            <a:srgbClr val="F3F5F4"/>
          </a:solidFill>
          <a:ln cap="flat" cmpd="sng" w="12700">
            <a:solidFill>
              <a:srgbClr val="2F6B7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6" name="Google Shape;496;p6"/>
          <p:cNvSpPr txBox="1"/>
          <p:nvPr/>
        </p:nvSpPr>
        <p:spPr>
          <a:xfrm>
            <a:off x="3904487" y="2944368"/>
            <a:ext cx="1444800"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497" name="Google Shape;497;p6"/>
          <p:cNvSpPr txBox="1"/>
          <p:nvPr/>
        </p:nvSpPr>
        <p:spPr>
          <a:xfrm>
            <a:off x="3895344" y="3227832"/>
            <a:ext cx="14997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0" i="0" lang="en-US" sz="1400" u="none" cap="none" strike="noStrike">
                <a:solidFill>
                  <a:srgbClr val="5B6770"/>
                </a:solidFill>
                <a:latin typeface="Consolas"/>
                <a:ea typeface="Consolas"/>
                <a:cs typeface="Consolas"/>
                <a:sym typeface="Consolas"/>
              </a:rPr>
              <a:t>patient_id FK</a:t>
            </a:r>
            <a:endParaRPr b="0" i="0" sz="1400" u="none" cap="none" strike="noStrike">
              <a:solidFill>
                <a:srgbClr val="000000"/>
              </a:solidFill>
              <a:latin typeface="Arial"/>
              <a:ea typeface="Arial"/>
              <a:cs typeface="Arial"/>
              <a:sym typeface="Arial"/>
            </a:endParaRPr>
          </a:p>
        </p:txBody>
      </p:sp>
      <p:cxnSp>
        <p:nvCxnSpPr>
          <p:cNvPr id="498" name="Google Shape;498;p6"/>
          <p:cNvCxnSpPr/>
          <p:nvPr/>
        </p:nvCxnSpPr>
        <p:spPr>
          <a:xfrm rot="10800000">
            <a:off x="3099876" y="3255264"/>
            <a:ext cx="594300" cy="0"/>
          </a:xfrm>
          <a:prstGeom prst="straightConnector1">
            <a:avLst/>
          </a:prstGeom>
          <a:noFill/>
          <a:ln cap="flat" cmpd="sng" w="30475">
            <a:solidFill>
              <a:srgbClr val="3A7D8C"/>
            </a:solidFill>
            <a:prstDash val="solid"/>
            <a:miter lim="80"/>
            <a:headEnd len="sm" w="sm" type="none"/>
            <a:tailEnd len="med" w="med" type="triangle"/>
          </a:ln>
        </p:spPr>
      </p:cxnSp>
      <p:sp>
        <p:nvSpPr>
          <p:cNvPr id="499" name="Google Shape;499;p6"/>
          <p:cNvSpPr txBox="1"/>
          <p:nvPr/>
        </p:nvSpPr>
        <p:spPr>
          <a:xfrm>
            <a:off x="2350008" y="3877056"/>
            <a:ext cx="1874400" cy="283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 points to parent</a:t>
            </a:r>
            <a:endParaRPr b="0" i="0" sz="1400" u="none" cap="none" strike="noStrike">
              <a:solidFill>
                <a:srgbClr val="000000"/>
              </a:solidFill>
              <a:latin typeface="Arial"/>
              <a:ea typeface="Arial"/>
              <a:cs typeface="Arial"/>
              <a:sym typeface="Arial"/>
            </a:endParaRPr>
          </a:p>
        </p:txBody>
      </p:sp>
      <p:sp>
        <p:nvSpPr>
          <p:cNvPr id="500" name="Google Shape;500;p6"/>
          <p:cNvSpPr/>
          <p:nvPr/>
        </p:nvSpPr>
        <p:spPr>
          <a:xfrm>
            <a:off x="5961888" y="2130552"/>
            <a:ext cx="5376600" cy="25695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1" name="Google Shape;501;p6"/>
          <p:cNvSpPr txBox="1"/>
          <p:nvPr/>
        </p:nvSpPr>
        <p:spPr>
          <a:xfrm>
            <a:off x="6208776" y="2313432"/>
            <a:ext cx="4837200" cy="283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PROCESSING ORDER  /  OUTPUT</a:t>
            </a:r>
            <a:endParaRPr b="0" i="0" sz="1400" u="none" cap="none" strike="noStrike">
              <a:solidFill>
                <a:srgbClr val="000000"/>
              </a:solidFill>
              <a:latin typeface="Arial"/>
              <a:ea typeface="Arial"/>
              <a:cs typeface="Arial"/>
              <a:sym typeface="Arial"/>
            </a:endParaRPr>
          </a:p>
        </p:txBody>
      </p:sp>
      <p:sp>
        <p:nvSpPr>
          <p:cNvPr id="502" name="Google Shape;502;p6"/>
          <p:cNvSpPr/>
          <p:nvPr/>
        </p:nvSpPr>
        <p:spPr>
          <a:xfrm>
            <a:off x="6300216" y="2807208"/>
            <a:ext cx="1902000" cy="1051500"/>
          </a:xfrm>
          <a:prstGeom prst="roundRect">
            <a:avLst>
              <a:gd fmla="val 10000" name="adj"/>
            </a:avLst>
          </a:prstGeom>
          <a:solidFill>
            <a:srgbClr val="E6F2EC"/>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3" name="Google Shape;503;p6"/>
          <p:cNvSpPr txBox="1"/>
          <p:nvPr/>
        </p:nvSpPr>
        <p:spPr>
          <a:xfrm>
            <a:off x="6455664" y="2971800"/>
            <a:ext cx="1554600" cy="2376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t = 1</a:t>
            </a:r>
            <a:endParaRPr b="0" i="0" sz="1400" u="none" cap="none" strike="noStrike">
              <a:solidFill>
                <a:srgbClr val="000000"/>
              </a:solidFill>
              <a:latin typeface="Arial"/>
              <a:ea typeface="Arial"/>
              <a:cs typeface="Arial"/>
              <a:sym typeface="Arial"/>
            </a:endParaRPr>
          </a:p>
        </p:txBody>
      </p:sp>
      <p:sp>
        <p:nvSpPr>
          <p:cNvPr id="504" name="Google Shape;504;p6"/>
          <p:cNvSpPr txBox="1"/>
          <p:nvPr/>
        </p:nvSpPr>
        <p:spPr>
          <a:xfrm>
            <a:off x="6446520" y="3255264"/>
            <a:ext cx="1563600"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505" name="Google Shape;505;p6"/>
          <p:cNvCxnSpPr/>
          <p:nvPr/>
        </p:nvCxnSpPr>
        <p:spPr>
          <a:xfrm>
            <a:off x="8311896" y="3310128"/>
            <a:ext cx="420600" cy="0"/>
          </a:xfrm>
          <a:prstGeom prst="straightConnector1">
            <a:avLst/>
          </a:prstGeom>
          <a:noFill/>
          <a:ln cap="flat" cmpd="sng" w="31750">
            <a:solidFill>
              <a:srgbClr val="0B6E4F"/>
            </a:solidFill>
            <a:prstDash val="solid"/>
            <a:miter lim="80"/>
            <a:headEnd len="sm" w="sm" type="none"/>
            <a:tailEnd len="med" w="med" type="triangle"/>
          </a:ln>
        </p:spPr>
      </p:cxnSp>
      <p:sp>
        <p:nvSpPr>
          <p:cNvPr id="506" name="Google Shape;506;p6"/>
          <p:cNvSpPr/>
          <p:nvPr/>
        </p:nvSpPr>
        <p:spPr>
          <a:xfrm>
            <a:off x="8833104" y="2807208"/>
            <a:ext cx="2112300" cy="1051500"/>
          </a:xfrm>
          <a:prstGeom prst="roundRect">
            <a:avLst>
              <a:gd fmla="val 10000" name="adj"/>
            </a:avLst>
          </a:prstGeom>
          <a:solidFill>
            <a:srgbClr val="F3F5F4"/>
          </a:solidFill>
          <a:ln cap="flat" cmpd="sng" w="12700">
            <a:solidFill>
              <a:srgbClr val="2F6B7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7" name="Google Shape;507;p6"/>
          <p:cNvSpPr txBox="1"/>
          <p:nvPr/>
        </p:nvSpPr>
        <p:spPr>
          <a:xfrm>
            <a:off x="8988552" y="2971800"/>
            <a:ext cx="1764900" cy="2376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2F6B78"/>
                </a:solidFill>
                <a:latin typeface="Consolas"/>
                <a:ea typeface="Consolas"/>
                <a:cs typeface="Consolas"/>
                <a:sym typeface="Consolas"/>
              </a:rPr>
              <a:t>t = 2</a:t>
            </a:r>
            <a:endParaRPr b="0" i="0" sz="1400" u="none" cap="none" strike="noStrike">
              <a:solidFill>
                <a:srgbClr val="000000"/>
              </a:solidFill>
              <a:latin typeface="Arial"/>
              <a:ea typeface="Arial"/>
              <a:cs typeface="Arial"/>
              <a:sym typeface="Arial"/>
            </a:endParaRPr>
          </a:p>
        </p:txBody>
      </p:sp>
      <p:sp>
        <p:nvSpPr>
          <p:cNvPr id="508" name="Google Shape;508;p6"/>
          <p:cNvSpPr txBox="1"/>
          <p:nvPr/>
        </p:nvSpPr>
        <p:spPr>
          <a:xfrm>
            <a:off x="8988552" y="3255264"/>
            <a:ext cx="1764900"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509" name="Google Shape;509;p6"/>
          <p:cNvSpPr txBox="1"/>
          <p:nvPr/>
        </p:nvSpPr>
        <p:spPr>
          <a:xfrm>
            <a:off x="6190488" y="4133087"/>
            <a:ext cx="4882800" cy="384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Before generating Admission, PatientData already exists in the core ontology.</a:t>
            </a:r>
            <a:endParaRPr b="0" i="0" sz="1400" u="none" cap="none" strike="noStrike">
              <a:solidFill>
                <a:srgbClr val="000000"/>
              </a:solidFill>
              <a:latin typeface="Arial"/>
              <a:ea typeface="Arial"/>
              <a:cs typeface="Arial"/>
              <a:sym typeface="Arial"/>
            </a:endParaRPr>
          </a:p>
        </p:txBody>
      </p:sp>
      <p:sp>
        <p:nvSpPr>
          <p:cNvPr id="510" name="Google Shape;510;p6"/>
          <p:cNvSpPr/>
          <p:nvPr/>
        </p:nvSpPr>
        <p:spPr>
          <a:xfrm>
            <a:off x="822960" y="4956048"/>
            <a:ext cx="10515600" cy="4755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1" name="Google Shape;511;p6"/>
          <p:cNvSpPr txBox="1"/>
          <p:nvPr/>
        </p:nvSpPr>
        <p:spPr>
          <a:xfrm>
            <a:off x="1014984" y="5056632"/>
            <a:ext cx="10168200" cy="231000"/>
          </a:xfrm>
          <a:prstGeom prst="rect">
            <a:avLst/>
          </a:prstGeom>
          <a:noFill/>
          <a:ln>
            <a:noFill/>
          </a:ln>
        </p:spPr>
        <p:txBody>
          <a:bodyPr anchorCtr="0" anchor="ctr" bIns="0" lIns="0" spcFirstLastPara="1" rIns="0" wrap="square" tIns="0">
            <a:spAutoFit/>
          </a:bodyPr>
          <a:lstStyle/>
          <a:p>
            <a:pPr indent="0" lvl="0" marL="0" marR="0" rtl="0" algn="l">
              <a:lnSpc>
                <a:spcPct val="107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WHY IT MATTERS   </a:t>
            </a:r>
            <a:r>
              <a:rPr b="0" i="0" lang="en-US" sz="1500" u="none" cap="none" strike="noStrike">
                <a:solidFill>
                  <a:srgbClr val="1F2328"/>
                </a:solidFill>
                <a:latin typeface="Calibri"/>
                <a:ea typeface="Calibri"/>
                <a:cs typeface="Calibri"/>
                <a:sym typeface="Calibri"/>
              </a:rPr>
              <a:t>The next fragment can </a:t>
            </a:r>
            <a:r>
              <a:rPr b="1" i="0" lang="en-US" sz="1500" u="none" cap="none" strike="noStrike">
                <a:solidFill>
                  <a:srgbClr val="1F2328"/>
                </a:solidFill>
                <a:latin typeface="Calibri"/>
                <a:ea typeface="Calibri"/>
                <a:cs typeface="Calibri"/>
                <a:sym typeface="Calibri"/>
              </a:rPr>
              <a:t>reuse</a:t>
            </a:r>
            <a:r>
              <a:rPr b="0" i="0" lang="en-US" sz="1500" u="none" cap="none" strike="noStrike">
                <a:solidFill>
                  <a:srgbClr val="1F2328"/>
                </a:solidFill>
                <a:latin typeface="Calibri"/>
                <a:ea typeface="Calibri"/>
                <a:cs typeface="Calibri"/>
                <a:sym typeface="Calibri"/>
              </a:rPr>
              <a:t> known </a:t>
            </a:r>
            <a:r>
              <a:rPr b="1" i="0" lang="en-US" sz="1500" u="none" cap="none" strike="noStrike">
                <a:solidFill>
                  <a:srgbClr val="1F2328"/>
                </a:solidFill>
                <a:latin typeface="Calibri"/>
                <a:ea typeface="Calibri"/>
                <a:cs typeface="Calibri"/>
                <a:sym typeface="Calibri"/>
              </a:rPr>
              <a:t>classes</a:t>
            </a:r>
            <a:r>
              <a:rPr b="0" i="0" lang="en-US" sz="1500" u="none" cap="none" strike="noStrike">
                <a:solidFill>
                  <a:srgbClr val="1F2328"/>
                </a:solidFill>
                <a:latin typeface="Calibri"/>
                <a:ea typeface="Calibri"/>
                <a:cs typeface="Calibri"/>
                <a:sym typeface="Calibri"/>
              </a:rPr>
              <a:t> and </a:t>
            </a:r>
            <a:r>
              <a:rPr b="1" i="0" lang="en-US" sz="1500" u="none" cap="none" strike="noStrike">
                <a:solidFill>
                  <a:srgbClr val="1F2328"/>
                </a:solidFill>
                <a:latin typeface="Calibri"/>
                <a:ea typeface="Calibri"/>
                <a:cs typeface="Calibri"/>
                <a:sym typeface="Calibri"/>
              </a:rPr>
              <a:t>IRIs</a:t>
            </a:r>
            <a:r>
              <a:rPr b="0" i="0" lang="en-US" sz="1500" u="none" cap="none" strike="noStrike">
                <a:solidFill>
                  <a:srgbClr val="1F2328"/>
                </a:solidFill>
                <a:latin typeface="Calibri"/>
                <a:ea typeface="Calibri"/>
                <a:cs typeface="Calibri"/>
                <a:sym typeface="Calibri"/>
              </a:rPr>
              <a:t> instead of inventing duplicates.</a:t>
            </a:r>
            <a:endParaRPr b="0" i="0" sz="1400" u="none" cap="none" strike="noStrike">
              <a:solidFill>
                <a:srgbClr val="000000"/>
              </a:solidFill>
              <a:latin typeface="Arial"/>
              <a:ea typeface="Arial"/>
              <a:cs typeface="Arial"/>
              <a:sym typeface="Arial"/>
            </a:endParaRPr>
          </a:p>
        </p:txBody>
      </p:sp>
      <p:sp>
        <p:nvSpPr>
          <p:cNvPr id="512" name="Google Shape;512;p6"/>
          <p:cNvSpPr/>
          <p:nvPr/>
        </p:nvSpPr>
        <p:spPr>
          <a:xfrm>
            <a:off x="804672"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3" name="Google Shape;513;p6"/>
          <p:cNvSpPr txBox="1"/>
          <p:nvPr/>
        </p:nvSpPr>
        <p:spPr>
          <a:xfrm>
            <a:off x="85953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514" name="Google Shape;514;p6"/>
          <p:cNvSpPr/>
          <p:nvPr/>
        </p:nvSpPr>
        <p:spPr>
          <a:xfrm>
            <a:off x="2642615"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5" name="Google Shape;515;p6"/>
          <p:cNvSpPr txBox="1"/>
          <p:nvPr/>
        </p:nvSpPr>
        <p:spPr>
          <a:xfrm>
            <a:off x="2697479"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516" name="Google Shape;516;p6"/>
          <p:cNvSpPr/>
          <p:nvPr/>
        </p:nvSpPr>
        <p:spPr>
          <a:xfrm>
            <a:off x="4480559"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7" name="Google Shape;517;p6"/>
          <p:cNvSpPr txBox="1"/>
          <p:nvPr/>
        </p:nvSpPr>
        <p:spPr>
          <a:xfrm>
            <a:off x="4535423"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518" name="Google Shape;518;p6"/>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9" name="Google Shape;519;p6"/>
          <p:cNvSpPr txBox="1"/>
          <p:nvPr/>
        </p:nvSpPr>
        <p:spPr>
          <a:xfrm>
            <a:off x="6373367"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520" name="Google Shape;520;p6"/>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1" name="Google Shape;521;p6"/>
          <p:cNvSpPr txBox="1"/>
          <p:nvPr/>
        </p:nvSpPr>
        <p:spPr>
          <a:xfrm>
            <a:off x="8211312"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522" name="Google Shape;522;p6"/>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3" name="Google Shape;523;p6"/>
          <p:cNvSpPr txBox="1"/>
          <p:nvPr/>
        </p:nvSpPr>
        <p:spPr>
          <a:xfrm>
            <a:off x="1004925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8" name="Shape 528"/>
        <p:cNvGrpSpPr/>
        <p:nvPr/>
      </p:nvGrpSpPr>
      <p:grpSpPr>
        <a:xfrm>
          <a:off x="0" y="0"/>
          <a:ext cx="0" cy="0"/>
          <a:chOff x="0" y="0"/>
          <a:chExt cx="0" cy="0"/>
        </a:xfrm>
      </p:grpSpPr>
      <p:sp>
        <p:nvSpPr>
          <p:cNvPr id="529" name="Google Shape;529;p7"/>
          <p:cNvSpPr txBox="1"/>
          <p:nvPr/>
        </p:nvSpPr>
        <p:spPr>
          <a:xfrm>
            <a:off x="795528" y="448056"/>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2 / SEED</a:t>
            </a:r>
            <a:endParaRPr b="0" i="0" sz="1400" u="none" cap="none" strike="noStrike">
              <a:solidFill>
                <a:srgbClr val="000000"/>
              </a:solidFill>
              <a:latin typeface="Arial"/>
              <a:ea typeface="Arial"/>
              <a:cs typeface="Arial"/>
              <a:sym typeface="Arial"/>
            </a:endParaRPr>
          </a:p>
        </p:txBody>
      </p:sp>
      <p:sp>
        <p:nvSpPr>
          <p:cNvPr id="530" name="Google Shape;530;p7"/>
          <p:cNvSpPr txBox="1"/>
          <p:nvPr/>
        </p:nvSpPr>
        <p:spPr>
          <a:xfrm>
            <a:off x="795528" y="850392"/>
            <a:ext cx="1083570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Guarantee schema coverage before LLM enrichment.</a:t>
            </a:r>
            <a:endParaRPr b="0" i="0" sz="1400" u="none" cap="none" strike="noStrike">
              <a:solidFill>
                <a:srgbClr val="000000"/>
              </a:solidFill>
              <a:latin typeface="Arial"/>
              <a:ea typeface="Arial"/>
              <a:cs typeface="Arial"/>
              <a:sym typeface="Arial"/>
            </a:endParaRPr>
          </a:p>
        </p:txBody>
      </p:sp>
      <p:sp>
        <p:nvSpPr>
          <p:cNvPr id="531" name="Google Shape;531;p7"/>
          <p:cNvSpPr txBox="1"/>
          <p:nvPr/>
        </p:nvSpPr>
        <p:spPr>
          <a:xfrm>
            <a:off x="795528" y="1367865"/>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Direct Mapping (DMᵣ) represents every column in the table before generation.</a:t>
            </a:r>
            <a:endParaRPr b="0" i="0" sz="1400" u="none" cap="none" strike="noStrike">
              <a:solidFill>
                <a:srgbClr val="000000"/>
              </a:solidFill>
              <a:latin typeface="Arial"/>
              <a:ea typeface="Arial"/>
              <a:cs typeface="Arial"/>
              <a:sym typeface="Arial"/>
            </a:endParaRPr>
          </a:p>
        </p:txBody>
      </p:sp>
      <p:sp>
        <p:nvSpPr>
          <p:cNvPr id="532" name="Google Shape;532;p7"/>
          <p:cNvSpPr/>
          <p:nvPr/>
        </p:nvSpPr>
        <p:spPr>
          <a:xfrm>
            <a:off x="813825" y="1758475"/>
            <a:ext cx="3684900" cy="32964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7"/>
          <p:cNvSpPr txBox="1"/>
          <p:nvPr/>
        </p:nvSpPr>
        <p:spPr>
          <a:xfrm>
            <a:off x="1024115" y="1972592"/>
            <a:ext cx="3264300" cy="277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800" u="none" cap="none" strike="noStrike">
                <a:solidFill>
                  <a:srgbClr val="0B6E4F"/>
                </a:solidFill>
                <a:latin typeface="Consolas"/>
                <a:ea typeface="Consolas"/>
                <a:cs typeface="Consolas"/>
                <a:sym typeface="Consolas"/>
              </a:rPr>
              <a:t>INPUT  </a:t>
            </a:r>
            <a:endParaRPr b="0" i="0" sz="1800" u="none" cap="none" strike="noStrike">
              <a:solidFill>
                <a:srgbClr val="000000"/>
              </a:solidFill>
              <a:latin typeface="Arial"/>
              <a:ea typeface="Arial"/>
              <a:cs typeface="Arial"/>
              <a:sym typeface="Arial"/>
            </a:endParaRPr>
          </a:p>
        </p:txBody>
      </p:sp>
      <p:sp>
        <p:nvSpPr>
          <p:cNvPr id="534" name="Google Shape;534;p7"/>
          <p:cNvSpPr/>
          <p:nvPr/>
        </p:nvSpPr>
        <p:spPr>
          <a:xfrm>
            <a:off x="4672584" y="2965489"/>
            <a:ext cx="612600" cy="475500"/>
          </a:xfrm>
          <a:prstGeom prst="rightArrow">
            <a:avLst>
              <a:gd fmla="val 50000" name="adj1"/>
              <a:gd fmla="val 50000" name="adj2"/>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5" name="Google Shape;535;p7"/>
          <p:cNvSpPr/>
          <p:nvPr/>
        </p:nvSpPr>
        <p:spPr>
          <a:xfrm>
            <a:off x="5458975" y="1758474"/>
            <a:ext cx="5879700" cy="3296400"/>
          </a:xfrm>
          <a:prstGeom prst="roundRect">
            <a:avLst>
              <a:gd fmla="val 10000" name="adj"/>
            </a:avLst>
          </a:prstGeom>
          <a:solidFill>
            <a:srgbClr val="FFFFFF"/>
          </a:solidFill>
          <a:ln cap="flat" cmpd="sng" w="1905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6" name="Google Shape;536;p7"/>
          <p:cNvSpPr txBox="1"/>
          <p:nvPr/>
        </p:nvSpPr>
        <p:spPr>
          <a:xfrm>
            <a:off x="5669280" y="1913929"/>
            <a:ext cx="5321700" cy="277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800" u="none" cap="none" strike="noStrike">
                <a:solidFill>
                  <a:srgbClr val="0B6E4F"/>
                </a:solidFill>
                <a:latin typeface="Consolas"/>
                <a:ea typeface="Consolas"/>
                <a:cs typeface="Consolas"/>
                <a:sym typeface="Consolas"/>
              </a:rPr>
              <a:t>OUTPUT  /  DM</a:t>
            </a:r>
            <a:r>
              <a:rPr b="1" baseline="-25000" i="0" lang="en-US" sz="1800" u="none" cap="none" strike="noStrike">
                <a:solidFill>
                  <a:srgbClr val="0B6E4F"/>
                </a:solidFill>
                <a:latin typeface="Consolas"/>
                <a:ea typeface="Consolas"/>
                <a:cs typeface="Consolas"/>
                <a:sym typeface="Consolas"/>
              </a:rPr>
              <a:t>r</a:t>
            </a:r>
            <a:r>
              <a:rPr b="1" i="0" lang="en-US" sz="1800" u="none" cap="none" strike="noStrike">
                <a:solidFill>
                  <a:srgbClr val="0B6E4F"/>
                </a:solidFill>
                <a:latin typeface="Consolas"/>
                <a:ea typeface="Consolas"/>
                <a:cs typeface="Consolas"/>
                <a:sym typeface="Consolas"/>
              </a:rPr>
              <a:t> </a:t>
            </a:r>
            <a:endParaRPr b="0" i="0" sz="1800" u="none" cap="none" strike="noStrike">
              <a:solidFill>
                <a:srgbClr val="000000"/>
              </a:solidFill>
              <a:latin typeface="Arial"/>
              <a:ea typeface="Arial"/>
              <a:cs typeface="Arial"/>
              <a:sym typeface="Arial"/>
            </a:endParaRPr>
          </a:p>
        </p:txBody>
      </p:sp>
      <p:sp>
        <p:nvSpPr>
          <p:cNvPr id="537" name="Google Shape;537;p7"/>
          <p:cNvSpPr/>
          <p:nvPr/>
        </p:nvSpPr>
        <p:spPr>
          <a:xfrm>
            <a:off x="822960" y="5166360"/>
            <a:ext cx="10515600" cy="3657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8" name="Google Shape;538;p7"/>
          <p:cNvSpPr txBox="1"/>
          <p:nvPr/>
        </p:nvSpPr>
        <p:spPr>
          <a:xfrm>
            <a:off x="1024128" y="5248656"/>
            <a:ext cx="101316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0B6E4F"/>
                </a:solidFill>
                <a:latin typeface="Calibri"/>
                <a:ea typeface="Calibri"/>
                <a:cs typeface="Calibri"/>
                <a:sym typeface="Calibri"/>
              </a:rPr>
              <a:t>GUARANTEE   Every schema column is represented in the deterministic seed.</a:t>
            </a:r>
            <a:endParaRPr b="0" i="0" sz="1400" u="none" cap="none" strike="noStrike">
              <a:solidFill>
                <a:srgbClr val="000000"/>
              </a:solidFill>
              <a:latin typeface="Arial"/>
              <a:ea typeface="Arial"/>
              <a:cs typeface="Arial"/>
              <a:sym typeface="Arial"/>
            </a:endParaRPr>
          </a:p>
        </p:txBody>
      </p:sp>
      <p:sp>
        <p:nvSpPr>
          <p:cNvPr id="539" name="Google Shape;539;p7"/>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0" name="Google Shape;540;p7"/>
          <p:cNvSpPr txBox="1"/>
          <p:nvPr/>
        </p:nvSpPr>
        <p:spPr>
          <a:xfrm>
            <a:off x="85953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541" name="Google Shape;541;p7"/>
          <p:cNvSpPr/>
          <p:nvPr/>
        </p:nvSpPr>
        <p:spPr>
          <a:xfrm>
            <a:off x="2642615"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2" name="Google Shape;542;p7"/>
          <p:cNvSpPr txBox="1"/>
          <p:nvPr/>
        </p:nvSpPr>
        <p:spPr>
          <a:xfrm>
            <a:off x="2697479"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543" name="Google Shape;543;p7"/>
          <p:cNvSpPr/>
          <p:nvPr/>
        </p:nvSpPr>
        <p:spPr>
          <a:xfrm>
            <a:off x="4480559"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4" name="Google Shape;544;p7"/>
          <p:cNvSpPr txBox="1"/>
          <p:nvPr/>
        </p:nvSpPr>
        <p:spPr>
          <a:xfrm>
            <a:off x="4535423"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545" name="Google Shape;545;p7"/>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6" name="Google Shape;546;p7"/>
          <p:cNvSpPr txBox="1"/>
          <p:nvPr/>
        </p:nvSpPr>
        <p:spPr>
          <a:xfrm>
            <a:off x="6373367"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547" name="Google Shape;547;p7"/>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8" name="Google Shape;548;p7"/>
          <p:cNvSpPr txBox="1"/>
          <p:nvPr/>
        </p:nvSpPr>
        <p:spPr>
          <a:xfrm>
            <a:off x="8211312"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549" name="Google Shape;549;p7"/>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0" name="Google Shape;550;p7"/>
          <p:cNvSpPr txBox="1"/>
          <p:nvPr/>
        </p:nvSpPr>
        <p:spPr>
          <a:xfrm>
            <a:off x="1004925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descr="OWL Manchester Syntax excerpt" id="551" name="Google Shape;551;p7"/>
          <p:cNvSpPr/>
          <p:nvPr/>
        </p:nvSpPr>
        <p:spPr>
          <a:xfrm>
            <a:off x="5733300" y="2307300"/>
            <a:ext cx="5266800" cy="2651700"/>
          </a:xfrm>
          <a:prstGeom prst="roundRect">
            <a:avLst>
              <a:gd fmla="val 5000" name="adj"/>
            </a:avLst>
          </a:prstGeom>
          <a:solidFill>
            <a:srgbClr val="F6F8FA"/>
          </a:solidFill>
          <a:ln cap="flat" cmpd="sng" w="9525">
            <a:solidFill>
              <a:srgbClr val="D0D7DE"/>
            </a:solidFill>
            <a:prstDash val="solid"/>
            <a:round/>
            <a:headEnd len="sm" w="sm" type="none"/>
            <a:tailEnd len="sm" w="sm" type="none"/>
          </a:ln>
        </p:spPr>
        <p:txBody>
          <a:bodyPr anchorCtr="0" anchor="t" bIns="54850" lIns="109725" spcFirstLastPara="1" rIns="109725" wrap="square" tIns="73150">
            <a:noAutofit/>
          </a:bodyPr>
          <a:lstStyle/>
          <a:p>
            <a:pPr indent="0" lvl="0" marL="0" marR="0" rtl="0" algn="l">
              <a:lnSpc>
                <a:spcPct val="114285"/>
              </a:lnSpc>
              <a:spcBef>
                <a:spcPts val="0"/>
              </a:spcBef>
              <a:spcAft>
                <a:spcPts val="0"/>
              </a:spcAft>
              <a:buNone/>
            </a:pPr>
            <a:r>
              <a:rPr b="1" i="0" lang="en-US" sz="1400" u="none" cap="none" strike="noStrike">
                <a:solidFill>
                  <a:srgbClr val="0B6E4F"/>
                </a:solidFill>
                <a:latin typeface="Consolas"/>
                <a:ea typeface="Consolas"/>
                <a:cs typeface="Consolas"/>
                <a:sym typeface="Consolas"/>
              </a:rPr>
              <a:t>Class:</a:t>
            </a:r>
            <a:r>
              <a:rPr b="0" i="0" lang="en-US" sz="1400" u="none" cap="none" strike="noStrike">
                <a:solidFill>
                  <a:srgbClr val="1F2328"/>
                </a:solidFill>
                <a:latin typeface="Consolas"/>
                <a:ea typeface="Consolas"/>
                <a:cs typeface="Consolas"/>
                <a:sym typeface="Consolas"/>
              </a:rPr>
              <a:t> Admission</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0"/>
              </a:spcBef>
              <a:spcAft>
                <a:spcPts val="0"/>
              </a:spcAft>
              <a:buNone/>
            </a:pPr>
            <a:r>
              <a:rPr b="0" i="0" lang="en-US" sz="1400" u="none" cap="none" strike="noStrike">
                <a:solidFill>
                  <a:srgbClr val="1F2328"/>
                </a:solidFill>
                <a:latin typeface="Consolas"/>
                <a:ea typeface="Consolas"/>
                <a:cs typeface="Consolas"/>
                <a:sym typeface="Consolas"/>
              </a:rPr>
              <a:t>  </a:t>
            </a:r>
            <a:r>
              <a:rPr b="1" i="0" lang="en-US" sz="1400" u="none" cap="none" strike="noStrike">
                <a:solidFill>
                  <a:srgbClr val="0B6E4F"/>
                </a:solidFill>
                <a:latin typeface="Consolas"/>
                <a:ea typeface="Consolas"/>
                <a:cs typeface="Consolas"/>
                <a:sym typeface="Consolas"/>
              </a:rPr>
              <a:t>SubClassOf:</a:t>
            </a:r>
            <a:endParaRPr b="1" i="0" sz="1400" u="none" cap="none" strike="noStrike">
              <a:solidFill>
                <a:srgbClr val="0B6E4F"/>
              </a:solidFill>
              <a:latin typeface="Consolas"/>
              <a:ea typeface="Consolas"/>
              <a:cs typeface="Consolas"/>
              <a:sym typeface="Consolas"/>
            </a:endParaRPr>
          </a:p>
          <a:p>
            <a:pPr indent="0" lvl="0" marL="0" rtl="0" algn="l">
              <a:lnSpc>
                <a:spcPct val="114285"/>
              </a:lnSpc>
              <a:spcBef>
                <a:spcPts val="0"/>
              </a:spcBef>
              <a:spcAft>
                <a:spcPts val="0"/>
              </a:spcAft>
              <a:buNone/>
            </a:pPr>
            <a:r>
              <a:rPr lang="en-US">
                <a:solidFill>
                  <a:srgbClr val="1F2328"/>
                </a:solidFill>
                <a:latin typeface="Consolas"/>
                <a:ea typeface="Consolas"/>
                <a:cs typeface="Consolas"/>
                <a:sym typeface="Consolas"/>
              </a:rPr>
              <a:t>    admission_id </a:t>
            </a:r>
            <a:r>
              <a:rPr b="1" lang="en-US">
                <a:solidFill>
                  <a:srgbClr val="0B6E4F"/>
                </a:solidFill>
                <a:latin typeface="Consolas"/>
                <a:ea typeface="Consolas"/>
                <a:cs typeface="Consolas"/>
                <a:sym typeface="Consolas"/>
              </a:rPr>
              <a:t>some</a:t>
            </a:r>
            <a:r>
              <a:rPr lang="en-US">
                <a:solidFill>
                  <a:srgbClr val="1F2328"/>
                </a:solidFill>
                <a:latin typeface="Consolas"/>
                <a:ea typeface="Consolas"/>
                <a:cs typeface="Consolas"/>
                <a:sym typeface="Consolas"/>
              </a:rPr>
              <a:t> </a:t>
            </a:r>
            <a:r>
              <a:rPr lang="en-US">
                <a:solidFill>
                  <a:srgbClr val="6F42C1"/>
                </a:solidFill>
                <a:latin typeface="Consolas"/>
                <a:ea typeface="Consolas"/>
                <a:cs typeface="Consolas"/>
                <a:sym typeface="Consolas"/>
              </a:rPr>
              <a:t>xsd:integer</a:t>
            </a:r>
            <a:r>
              <a:rPr lang="en-US">
                <a:solidFill>
                  <a:srgbClr val="1F2328"/>
                </a:solidFill>
                <a:latin typeface="Consolas"/>
                <a:ea typeface="Consolas"/>
                <a:cs typeface="Consolas"/>
                <a:sym typeface="Consolas"/>
              </a:rPr>
              <a:t>,</a:t>
            </a:r>
            <a:endParaRPr b="1">
              <a:solidFill>
                <a:srgbClr val="0B6E4F"/>
              </a:solidFill>
              <a:latin typeface="Consolas"/>
              <a:ea typeface="Consolas"/>
              <a:cs typeface="Consolas"/>
              <a:sym typeface="Consolas"/>
            </a:endParaRPr>
          </a:p>
          <a:p>
            <a:pPr indent="0" lvl="0" marL="0" marR="0" rtl="0" algn="l">
              <a:lnSpc>
                <a:spcPct val="114285"/>
              </a:lnSpc>
              <a:spcBef>
                <a:spcPts val="0"/>
              </a:spcBef>
              <a:spcAft>
                <a:spcPts val="0"/>
              </a:spcAft>
              <a:buNone/>
            </a:pPr>
            <a:r>
              <a:rPr b="0" i="0" lang="en-US" sz="1400" u="none" cap="none" strike="noStrike">
                <a:solidFill>
                  <a:srgbClr val="1F2328"/>
                </a:solidFill>
                <a:latin typeface="Consolas"/>
                <a:ea typeface="Consolas"/>
                <a:cs typeface="Consolas"/>
                <a:sym typeface="Consolas"/>
              </a:rPr>
              <a:t>    patient_id </a:t>
            </a:r>
            <a:r>
              <a:rPr b="1" i="0" lang="en-US" sz="1400" u="none" cap="none" strike="noStrike">
                <a:solidFill>
                  <a:srgbClr val="0B6E4F"/>
                </a:solidFill>
                <a:latin typeface="Consolas"/>
                <a:ea typeface="Consolas"/>
                <a:cs typeface="Consolas"/>
                <a:sym typeface="Consolas"/>
              </a:rPr>
              <a:t>some</a:t>
            </a:r>
            <a:r>
              <a:rPr b="0" i="0" lang="en-US" sz="1400" u="none" cap="none" strike="noStrike">
                <a:solidFill>
                  <a:srgbClr val="1F2328"/>
                </a:solidFill>
                <a:latin typeface="Consolas"/>
                <a:ea typeface="Consolas"/>
                <a:cs typeface="Consolas"/>
                <a:sym typeface="Consolas"/>
              </a:rPr>
              <a:t> PatientData,</a:t>
            </a:r>
            <a:r>
              <a:rPr b="0" i="1" lang="en-US" sz="1200" u="none" cap="none" strike="noStrike">
                <a:solidFill>
                  <a:srgbClr val="5B6770"/>
                </a:solidFill>
                <a:latin typeface="Calibri"/>
                <a:ea typeface="Calibri"/>
                <a:cs typeface="Calibri"/>
                <a:sym typeface="Calibri"/>
              </a:rPr>
              <a:t>	            ← each has a patient</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0"/>
              </a:spcBef>
              <a:spcAft>
                <a:spcPts val="0"/>
              </a:spcAft>
              <a:buNone/>
            </a:pPr>
            <a:r>
              <a:rPr b="0" i="0" lang="en-US" sz="1400" u="none" cap="none" strike="noStrike">
                <a:solidFill>
                  <a:srgbClr val="1F2328"/>
                </a:solidFill>
                <a:latin typeface="Consolas"/>
                <a:ea typeface="Consolas"/>
                <a:cs typeface="Consolas"/>
                <a:sym typeface="Consolas"/>
              </a:rPr>
              <a:t>    BM_DEP </a:t>
            </a:r>
            <a:r>
              <a:rPr b="1" i="0" lang="en-US" sz="1400" u="none" cap="none" strike="noStrike">
                <a:solidFill>
                  <a:srgbClr val="0B6E4F"/>
                </a:solidFill>
                <a:latin typeface="Consolas"/>
                <a:ea typeface="Consolas"/>
                <a:cs typeface="Consolas"/>
                <a:sym typeface="Consolas"/>
              </a:rPr>
              <a:t>only</a:t>
            </a:r>
            <a:r>
              <a:rPr b="0" i="0" lang="en-US" sz="1400" u="none" cap="none" strike="noStrike">
                <a:solidFill>
                  <a:srgbClr val="1F2328"/>
                </a:solidFill>
                <a:latin typeface="Consolas"/>
                <a:ea typeface="Consolas"/>
                <a:cs typeface="Consolas"/>
                <a:sym typeface="Consolas"/>
              </a:rPr>
              <a:t> </a:t>
            </a:r>
            <a:r>
              <a:rPr b="0" i="0" lang="en-US" sz="1400" u="none" cap="none" strike="noStrike">
                <a:solidFill>
                  <a:srgbClr val="6F42C1"/>
                </a:solidFill>
                <a:latin typeface="Consolas"/>
                <a:ea typeface="Consolas"/>
                <a:cs typeface="Consolas"/>
                <a:sym typeface="Consolas"/>
              </a:rPr>
              <a:t>xsd:integer</a:t>
            </a:r>
            <a:r>
              <a:rPr b="0" i="0" lang="en-US" sz="1400" u="none" cap="none" strike="noStrike">
                <a:solidFill>
                  <a:srgbClr val="1F2328"/>
                </a:solidFill>
                <a:latin typeface="Consolas"/>
                <a:ea typeface="Consolas"/>
                <a:cs typeface="Consolas"/>
                <a:sym typeface="Consolas"/>
              </a:rPr>
              <a:t>,</a:t>
            </a:r>
            <a:r>
              <a:rPr b="0" i="1" lang="en-US" sz="1200" u="none" cap="none" strike="noStrike">
                <a:solidFill>
                  <a:srgbClr val="5B6770"/>
                </a:solidFill>
                <a:latin typeface="Calibri"/>
                <a:ea typeface="Calibri"/>
                <a:cs typeface="Calibri"/>
                <a:sym typeface="Calibri"/>
              </a:rPr>
              <a:t>	                     ← if present, an integer</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0"/>
              </a:spcBef>
              <a:spcAft>
                <a:spcPts val="0"/>
              </a:spcAft>
              <a:buNone/>
            </a:pPr>
            <a:r>
              <a:rPr b="0" i="0" lang="en-US" sz="1400" u="none" cap="none" strike="noStrike">
                <a:solidFill>
                  <a:srgbClr val="1F2328"/>
                </a:solidFill>
                <a:latin typeface="Consolas"/>
                <a:ea typeface="Consolas"/>
                <a:cs typeface="Consolas"/>
                <a:sym typeface="Consolas"/>
              </a:rPr>
              <a:t>    ecog_stage </a:t>
            </a:r>
            <a:r>
              <a:rPr b="1" i="0" lang="en-US" sz="1400" u="none" cap="none" strike="noStrike">
                <a:solidFill>
                  <a:srgbClr val="0B6E4F"/>
                </a:solidFill>
                <a:latin typeface="Consolas"/>
                <a:ea typeface="Consolas"/>
                <a:cs typeface="Consolas"/>
                <a:sym typeface="Consolas"/>
              </a:rPr>
              <a:t>only</a:t>
            </a:r>
            <a:r>
              <a:rPr b="0" i="0" lang="en-US" sz="1400" u="none" cap="none" strike="noStrike">
                <a:solidFill>
                  <a:srgbClr val="1F2328"/>
                </a:solidFill>
                <a:latin typeface="Consolas"/>
                <a:ea typeface="Consolas"/>
                <a:cs typeface="Consolas"/>
                <a:sym typeface="Consolas"/>
              </a:rPr>
              <a:t> </a:t>
            </a:r>
            <a:r>
              <a:rPr b="0" i="0" lang="en-US" sz="1400" u="none" cap="none" strike="noStrike">
                <a:solidFill>
                  <a:srgbClr val="6F42C1"/>
                </a:solidFill>
                <a:latin typeface="Consolas"/>
                <a:ea typeface="Consolas"/>
                <a:cs typeface="Consolas"/>
                <a:sym typeface="Consolas"/>
              </a:rPr>
              <a:t>xsd:integer</a:t>
            </a:r>
            <a:endParaRPr b="0" i="0" sz="1400" u="none" cap="none" strike="noStrike">
              <a:solidFill>
                <a:srgbClr val="000000"/>
              </a:solidFill>
              <a:latin typeface="Arial"/>
              <a:ea typeface="Arial"/>
              <a:cs typeface="Arial"/>
              <a:sym typeface="Arial"/>
            </a:endParaRPr>
          </a:p>
          <a:p>
            <a:pPr indent="0" lvl="0" marL="0" rtl="0" algn="l">
              <a:lnSpc>
                <a:spcPct val="114285"/>
              </a:lnSpc>
              <a:spcBef>
                <a:spcPts val="0"/>
              </a:spcBef>
              <a:spcAft>
                <a:spcPts val="0"/>
              </a:spcAft>
              <a:buNone/>
            </a:pPr>
            <a:r>
              <a:rPr b="1" lang="en-US">
                <a:solidFill>
                  <a:srgbClr val="0B6E4F"/>
                </a:solidFill>
                <a:latin typeface="Consolas"/>
                <a:ea typeface="Consolas"/>
                <a:cs typeface="Consolas"/>
                <a:sym typeface="Consolas"/>
              </a:rPr>
              <a:t>DataProperty:</a:t>
            </a:r>
            <a:r>
              <a:rPr lang="en-US">
                <a:solidFill>
                  <a:srgbClr val="1F2328"/>
                </a:solidFill>
                <a:latin typeface="Consolas"/>
                <a:ea typeface="Consolas"/>
                <a:cs typeface="Consolas"/>
                <a:sym typeface="Consolas"/>
              </a:rPr>
              <a:t> admission_id</a:t>
            </a:r>
            <a:endParaRPr b="1">
              <a:solidFill>
                <a:srgbClr val="0B6E4F"/>
              </a:solidFill>
              <a:latin typeface="Consolas"/>
              <a:ea typeface="Consolas"/>
              <a:cs typeface="Consolas"/>
              <a:sym typeface="Consolas"/>
            </a:endParaRPr>
          </a:p>
          <a:p>
            <a:pPr indent="0" lvl="0" marL="0" marR="0" rtl="0" algn="l">
              <a:lnSpc>
                <a:spcPct val="114285"/>
              </a:lnSpc>
              <a:spcBef>
                <a:spcPts val="0"/>
              </a:spcBef>
              <a:spcAft>
                <a:spcPts val="0"/>
              </a:spcAft>
              <a:buNone/>
            </a:pPr>
            <a:r>
              <a:rPr b="1" i="0" lang="en-US" sz="1400" u="none" cap="none" strike="noStrike">
                <a:solidFill>
                  <a:srgbClr val="0B6E4F"/>
                </a:solidFill>
                <a:latin typeface="Consolas"/>
                <a:ea typeface="Consolas"/>
                <a:cs typeface="Consolas"/>
                <a:sym typeface="Consolas"/>
              </a:rPr>
              <a:t>ObjectProperty:</a:t>
            </a:r>
            <a:r>
              <a:rPr b="0" i="0" lang="en-US" sz="1400" u="none" cap="none" strike="noStrike">
                <a:solidFill>
                  <a:srgbClr val="1F2328"/>
                </a:solidFill>
                <a:latin typeface="Consolas"/>
                <a:ea typeface="Consolas"/>
                <a:cs typeface="Consolas"/>
                <a:sym typeface="Consolas"/>
              </a:rPr>
              <a:t> patient_id</a:t>
            </a:r>
            <a:r>
              <a:rPr b="0" i="1" lang="en-US" sz="1200" u="none" cap="none" strike="noStrike">
                <a:solidFill>
                  <a:srgbClr val="5B6770"/>
                </a:solidFill>
                <a:latin typeface="Calibri"/>
                <a:ea typeface="Calibri"/>
                <a:cs typeface="Calibri"/>
                <a:sym typeface="Calibri"/>
              </a:rPr>
              <a:t>	                    ← the FK becomes a link</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0"/>
              </a:spcBef>
              <a:spcAft>
                <a:spcPts val="0"/>
              </a:spcAft>
              <a:buNone/>
            </a:pPr>
            <a:r>
              <a:rPr b="1" i="0" lang="en-US" sz="1400" u="none" cap="none" strike="noStrike">
                <a:solidFill>
                  <a:srgbClr val="0B6E4F"/>
                </a:solidFill>
                <a:latin typeface="Consolas"/>
                <a:ea typeface="Consolas"/>
                <a:cs typeface="Consolas"/>
                <a:sym typeface="Consolas"/>
              </a:rPr>
              <a:t>DataProperty:</a:t>
            </a:r>
            <a:r>
              <a:rPr b="0" i="0" lang="en-US" sz="1400" u="none" cap="none" strike="noStrike">
                <a:solidFill>
                  <a:srgbClr val="1F2328"/>
                </a:solidFill>
                <a:latin typeface="Consolas"/>
                <a:ea typeface="Consolas"/>
                <a:cs typeface="Consolas"/>
                <a:sym typeface="Consolas"/>
              </a:rPr>
              <a:t> BM_DEP</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0"/>
              </a:spcBef>
              <a:spcAft>
                <a:spcPts val="0"/>
              </a:spcAft>
              <a:buNone/>
            </a:pPr>
            <a:r>
              <a:rPr b="1" i="0" lang="en-US" sz="1400" u="none" cap="none" strike="noStrike">
                <a:solidFill>
                  <a:srgbClr val="0B6E4F"/>
                </a:solidFill>
                <a:latin typeface="Consolas"/>
                <a:ea typeface="Consolas"/>
                <a:cs typeface="Consolas"/>
                <a:sym typeface="Consolas"/>
              </a:rPr>
              <a:t>DataProperty:</a:t>
            </a:r>
            <a:r>
              <a:rPr b="0" i="0" lang="en-US" sz="1400" u="none" cap="none" strike="noStrike">
                <a:solidFill>
                  <a:srgbClr val="1F2328"/>
                </a:solidFill>
                <a:latin typeface="Consolas"/>
                <a:ea typeface="Consolas"/>
                <a:cs typeface="Consolas"/>
                <a:sym typeface="Consolas"/>
              </a:rPr>
              <a:t> ecog_stage</a:t>
            </a:r>
            <a:endParaRPr b="0" i="0" sz="1400" u="none" cap="none" strike="noStrike">
              <a:solidFill>
                <a:srgbClr val="000000"/>
              </a:solidFill>
              <a:latin typeface="Arial"/>
              <a:ea typeface="Arial"/>
              <a:cs typeface="Arial"/>
              <a:sym typeface="Arial"/>
            </a:endParaRPr>
          </a:p>
        </p:txBody>
      </p:sp>
      <p:sp>
        <p:nvSpPr>
          <p:cNvPr id="552" name="Google Shape;552;p7"/>
          <p:cNvSpPr/>
          <p:nvPr/>
        </p:nvSpPr>
        <p:spPr>
          <a:xfrm>
            <a:off x="1005800" y="2608194"/>
            <a:ext cx="2696700" cy="17922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p7"/>
          <p:cNvSpPr txBox="1"/>
          <p:nvPr/>
        </p:nvSpPr>
        <p:spPr>
          <a:xfrm>
            <a:off x="1170381" y="2645475"/>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554" name="Google Shape;554;p7"/>
          <p:cNvCxnSpPr/>
          <p:nvPr/>
        </p:nvCxnSpPr>
        <p:spPr>
          <a:xfrm>
            <a:off x="1170381" y="3066099"/>
            <a:ext cx="2313300" cy="0"/>
          </a:xfrm>
          <a:prstGeom prst="straightConnector1">
            <a:avLst/>
          </a:prstGeom>
          <a:noFill/>
          <a:ln cap="flat" cmpd="sng" w="19050">
            <a:solidFill>
              <a:srgbClr val="8E989E"/>
            </a:solidFill>
            <a:prstDash val="solid"/>
            <a:miter lim="80"/>
            <a:headEnd len="sm" w="sm" type="none"/>
            <a:tailEnd len="sm" w="sm" type="none"/>
          </a:ln>
        </p:spPr>
      </p:cxnSp>
      <p:sp>
        <p:nvSpPr>
          <p:cNvPr id="555" name="Google Shape;555;p7"/>
          <p:cNvSpPr/>
          <p:nvPr/>
        </p:nvSpPr>
        <p:spPr>
          <a:xfrm>
            <a:off x="1170381" y="3194115"/>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patient_id</a:t>
            </a:r>
            <a:endParaRPr/>
          </a:p>
        </p:txBody>
      </p:sp>
      <p:sp>
        <p:nvSpPr>
          <p:cNvPr id="556" name="Google Shape;556;p7"/>
          <p:cNvSpPr/>
          <p:nvPr/>
        </p:nvSpPr>
        <p:spPr>
          <a:xfrm>
            <a:off x="1769877" y="3242803"/>
            <a:ext cx="1861800" cy="475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FK → PatientData</a:t>
            </a:r>
            <a:endParaRPr b="0" i="0" sz="1400" u="none" cap="none" strike="noStrike">
              <a:solidFill>
                <a:srgbClr val="5B6770"/>
              </a:solidFill>
              <a:latin typeface="Calibri"/>
              <a:ea typeface="Calibri"/>
              <a:cs typeface="Calibri"/>
              <a:sym typeface="Calibri"/>
            </a:endParaRPr>
          </a:p>
          <a:p>
            <a:pPr indent="0" lvl="0" marL="0" marR="0" rtl="0" algn="r">
              <a:lnSpc>
                <a:spcPct val="100000"/>
              </a:lnSpc>
              <a:spcBef>
                <a:spcPts val="0"/>
              </a:spcBef>
              <a:spcAft>
                <a:spcPts val="0"/>
              </a:spcAft>
              <a:buNone/>
            </a:pPr>
            <a:r>
              <a:t/>
            </a:r>
            <a:endParaRPr>
              <a:solidFill>
                <a:srgbClr val="5B6770"/>
              </a:solidFill>
              <a:latin typeface="Calibri"/>
              <a:ea typeface="Calibri"/>
              <a:cs typeface="Calibri"/>
              <a:sym typeface="Calibri"/>
            </a:endParaRPr>
          </a:p>
        </p:txBody>
      </p:sp>
      <p:sp>
        <p:nvSpPr>
          <p:cNvPr id="557" name="Google Shape;557;p7"/>
          <p:cNvSpPr/>
          <p:nvPr/>
        </p:nvSpPr>
        <p:spPr>
          <a:xfrm>
            <a:off x="1170381" y="3541587"/>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BM_DEP</a:t>
            </a:r>
            <a:endParaRPr/>
          </a:p>
        </p:txBody>
      </p:sp>
      <p:sp>
        <p:nvSpPr>
          <p:cNvPr id="558" name="Google Shape;558;p7"/>
          <p:cNvSpPr/>
          <p:nvPr/>
        </p:nvSpPr>
        <p:spPr>
          <a:xfrm>
            <a:off x="2734005" y="3541587"/>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INT</a:t>
            </a:r>
            <a:endParaRPr/>
          </a:p>
        </p:txBody>
      </p:sp>
      <p:sp>
        <p:nvSpPr>
          <p:cNvPr id="559" name="Google Shape;559;p7"/>
          <p:cNvSpPr/>
          <p:nvPr/>
        </p:nvSpPr>
        <p:spPr>
          <a:xfrm>
            <a:off x="1170381" y="3889059"/>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ecog_stage</a:t>
            </a:r>
            <a:endParaRPr/>
          </a:p>
        </p:txBody>
      </p:sp>
      <p:sp>
        <p:nvSpPr>
          <p:cNvPr id="560" name="Google Shape;560;p7"/>
          <p:cNvSpPr/>
          <p:nvPr/>
        </p:nvSpPr>
        <p:spPr>
          <a:xfrm>
            <a:off x="2734005" y="3889059"/>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INT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5" name="Shape 565"/>
        <p:cNvGrpSpPr/>
        <p:nvPr/>
      </p:nvGrpSpPr>
      <p:grpSpPr>
        <a:xfrm>
          <a:off x="0" y="0"/>
          <a:ext cx="0" cy="0"/>
          <a:chOff x="0" y="0"/>
          <a:chExt cx="0" cy="0"/>
        </a:xfrm>
      </p:grpSpPr>
      <p:sp>
        <p:nvSpPr>
          <p:cNvPr id="566" name="Google Shape;566;h2627160d5792b11b_0_504"/>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3 / RETRIEVE</a:t>
            </a:r>
            <a:endParaRPr b="0" i="0" sz="1400" u="none" cap="none" strike="noStrike">
              <a:solidFill>
                <a:srgbClr val="000000"/>
              </a:solidFill>
              <a:latin typeface="Arial"/>
              <a:ea typeface="Arial"/>
              <a:cs typeface="Arial"/>
              <a:sym typeface="Arial"/>
            </a:endParaRPr>
          </a:p>
        </p:txBody>
      </p:sp>
      <p:sp>
        <p:nvSpPr>
          <p:cNvPr id="567" name="Google Shape;567;h2627160d5792b11b_0_504"/>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draft is structurally faithful. But what does it mean?</a:t>
            </a:r>
            <a:endParaRPr b="0" i="0" sz="1400" u="none" cap="none" strike="noStrike">
              <a:solidFill>
                <a:srgbClr val="000000"/>
              </a:solidFill>
              <a:latin typeface="Arial"/>
              <a:ea typeface="Arial"/>
              <a:cs typeface="Arial"/>
              <a:sym typeface="Arial"/>
            </a:endParaRPr>
          </a:p>
        </p:txBody>
      </p:sp>
      <p:sp>
        <p:nvSpPr>
          <p:cNvPr id="568" name="Google Shape;568;h2627160d5792b11b_0_504"/>
          <p:cNvSpPr txBox="1"/>
          <p:nvPr/>
        </p:nvSpPr>
        <p:spPr>
          <a:xfrm>
            <a:off x="795528" y="1397241"/>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RIGOR gathers a </a:t>
            </a:r>
            <a:r>
              <a:rPr b="1" i="0" lang="en-US" sz="1600" u="none" cap="none" strike="noStrike">
                <a:solidFill>
                  <a:srgbClr val="5B6770"/>
                </a:solidFill>
                <a:latin typeface="Calibri"/>
                <a:ea typeface="Calibri"/>
                <a:cs typeface="Calibri"/>
                <a:sym typeface="Calibri"/>
              </a:rPr>
              <a:t>context</a:t>
            </a:r>
            <a:r>
              <a:rPr b="0" i="0" lang="en-US" sz="1600" u="none" cap="none" strike="noStrike">
                <a:solidFill>
                  <a:srgbClr val="5B6770"/>
                </a:solidFill>
                <a:latin typeface="Calibri"/>
                <a:ea typeface="Calibri"/>
                <a:cs typeface="Calibri"/>
                <a:sym typeface="Calibri"/>
              </a:rPr>
              <a:t> package from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complementary </a:t>
            </a:r>
            <a:r>
              <a:rPr b="1" i="0" lang="en-US" sz="1600" u="none" cap="none" strike="noStrike">
                <a:solidFill>
                  <a:srgbClr val="5B6770"/>
                </a:solidFill>
                <a:latin typeface="Calibri"/>
                <a:ea typeface="Calibri"/>
                <a:cs typeface="Calibri"/>
                <a:sym typeface="Calibri"/>
              </a:rPr>
              <a:t>sources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569" name="Google Shape;569;h2627160d5792b11b_0_504"/>
          <p:cNvSpPr/>
          <p:nvPr/>
        </p:nvSpPr>
        <p:spPr>
          <a:xfrm>
            <a:off x="822960" y="1796560"/>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0" name="Google Shape;570;h2627160d5792b11b_0_504"/>
          <p:cNvSpPr/>
          <p:nvPr/>
        </p:nvSpPr>
        <p:spPr>
          <a:xfrm>
            <a:off x="822960" y="1796560"/>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1" name="Google Shape;571;h2627160d5792b11b_0_504"/>
          <p:cNvSpPr txBox="1"/>
          <p:nvPr/>
        </p:nvSpPr>
        <p:spPr>
          <a:xfrm>
            <a:off x="1005840" y="223075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1  DOCUMENTATION</a:t>
            </a:r>
            <a:endParaRPr b="0" i="0" sz="1400" u="none" cap="none" strike="noStrike">
              <a:solidFill>
                <a:srgbClr val="000000"/>
              </a:solidFill>
              <a:latin typeface="Arial"/>
              <a:ea typeface="Arial"/>
              <a:cs typeface="Arial"/>
              <a:sym typeface="Arial"/>
            </a:endParaRPr>
          </a:p>
        </p:txBody>
      </p:sp>
      <p:sp>
        <p:nvSpPr>
          <p:cNvPr id="572" name="Google Shape;572;h2627160d5792b11b_0_504"/>
          <p:cNvSpPr txBox="1"/>
          <p:nvPr/>
        </p:nvSpPr>
        <p:spPr>
          <a:xfrm>
            <a:off x="1005840" y="2830775"/>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do column names mean?</a:t>
            </a:r>
            <a:endParaRPr b="0" i="0" sz="1400" u="none" cap="none" strike="noStrike">
              <a:solidFill>
                <a:srgbClr val="000000"/>
              </a:solidFill>
              <a:latin typeface="Arial"/>
              <a:ea typeface="Arial"/>
              <a:cs typeface="Arial"/>
              <a:sym typeface="Arial"/>
            </a:endParaRPr>
          </a:p>
        </p:txBody>
      </p:sp>
      <p:sp>
        <p:nvSpPr>
          <p:cNvPr id="573" name="Google Shape;573;h2627160d5792b11b_0_504"/>
          <p:cNvSpPr/>
          <p:nvPr/>
        </p:nvSpPr>
        <p:spPr>
          <a:xfrm>
            <a:off x="996696" y="3224627"/>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4" name="Google Shape;574;h2627160d5792b11b_0_504"/>
          <p:cNvSpPr txBox="1"/>
          <p:nvPr/>
        </p:nvSpPr>
        <p:spPr>
          <a:xfrm>
            <a:off x="1124700" y="3258737"/>
            <a:ext cx="2706600" cy="4821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1520"/>
              <a:buFont typeface="Arial"/>
              <a:buNone/>
            </a:pPr>
            <a:r>
              <a:rPr b="1" lang="en-US" sz="1520">
                <a:solidFill>
                  <a:srgbClr val="0B6E4F"/>
                </a:solidFill>
                <a:latin typeface="Consolas"/>
                <a:ea typeface="Consolas"/>
                <a:cs typeface="Consolas"/>
                <a:sym typeface="Consolas"/>
              </a:rPr>
              <a:t>BM_DEP</a:t>
            </a:r>
            <a:r>
              <a:rPr b="0" i="0" lang="en-US" sz="1520" u="none" cap="none" strike="noStrike">
                <a:solidFill>
                  <a:srgbClr val="1F2328"/>
                </a:solidFill>
                <a:latin typeface="Calibri"/>
                <a:ea typeface="Calibri"/>
                <a:cs typeface="Calibri"/>
                <a:sym typeface="Calibri"/>
              </a:rPr>
              <a:t>→ Bone Marrow</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Depression</a:t>
            </a:r>
            <a:endParaRPr b="0" i="0" sz="1400" u="none" cap="none" strike="noStrike">
              <a:solidFill>
                <a:srgbClr val="000000"/>
              </a:solidFill>
              <a:latin typeface="Arial"/>
              <a:ea typeface="Arial"/>
              <a:cs typeface="Arial"/>
              <a:sym typeface="Arial"/>
            </a:endParaRPr>
          </a:p>
        </p:txBody>
      </p:sp>
      <p:sp>
        <p:nvSpPr>
          <p:cNvPr id="575" name="Google Shape;575;h2627160d5792b11b_0_504"/>
          <p:cNvSpPr txBox="1"/>
          <p:nvPr/>
        </p:nvSpPr>
        <p:spPr>
          <a:xfrm>
            <a:off x="1005840" y="3872248"/>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Defines cryptic names</a:t>
            </a:r>
            <a:endParaRPr b="0" i="0" sz="1400" u="none" cap="none" strike="noStrike">
              <a:solidFill>
                <a:srgbClr val="000000"/>
              </a:solidFill>
              <a:latin typeface="Arial"/>
              <a:ea typeface="Arial"/>
              <a:cs typeface="Arial"/>
              <a:sym typeface="Arial"/>
            </a:endParaRPr>
          </a:p>
        </p:txBody>
      </p:sp>
      <p:sp>
        <p:nvSpPr>
          <p:cNvPr id="576" name="Google Shape;576;h2627160d5792b11b_0_504"/>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7" name="Google Shape;577;h2627160d5792b11b_0_504"/>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578" name="Google Shape;578;h2627160d5792b11b_0_504"/>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9" name="Google Shape;579;h2627160d5792b11b_0_504"/>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580" name="Google Shape;580;h2627160d5792b11b_0_504"/>
          <p:cNvSpPr/>
          <p:nvPr/>
        </p:nvSpPr>
        <p:spPr>
          <a:xfrm>
            <a:off x="4480559"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1" name="Google Shape;581;h2627160d5792b11b_0_504"/>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582" name="Google Shape;582;h2627160d5792b11b_0_504"/>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3" name="Google Shape;583;h2627160d5792b11b_0_504"/>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584" name="Google Shape;584;h2627160d5792b11b_0_504"/>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5" name="Google Shape;585;h2627160d5792b11b_0_504"/>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586" name="Google Shape;586;h2627160d5792b11b_0_504"/>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7" name="Google Shape;587;h2627160d5792b11b_0_504"/>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pic>
        <p:nvPicPr>
          <p:cNvPr id="588" name="Google Shape;588;h2627160d5792b11b_0_504" title="Ontology Taxonomy Documentation Icons.png"/>
          <p:cNvPicPr preferRelativeResize="0"/>
          <p:nvPr/>
        </p:nvPicPr>
        <p:blipFill rotWithShape="1">
          <a:blip r:embed="rId3">
            <a:alphaModFix/>
          </a:blip>
          <a:srcRect b="14185" l="36225" r="31825" t="16211"/>
          <a:stretch/>
        </p:blipFill>
        <p:spPr>
          <a:xfrm>
            <a:off x="2873021" y="1879752"/>
            <a:ext cx="1086331" cy="789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3" name="Shape 593"/>
        <p:cNvGrpSpPr/>
        <p:nvPr/>
      </p:nvGrpSpPr>
      <p:grpSpPr>
        <a:xfrm>
          <a:off x="0" y="0"/>
          <a:ext cx="0" cy="0"/>
          <a:chOff x="0" y="0"/>
          <a:chExt cx="0" cy="0"/>
        </a:xfrm>
      </p:grpSpPr>
      <p:sp>
        <p:nvSpPr>
          <p:cNvPr id="594" name="Google Shape;594;h2627160d5792b11b_0_550"/>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3 / RETRIEVE</a:t>
            </a:r>
            <a:endParaRPr b="0" i="0" sz="1400" u="none" cap="none" strike="noStrike">
              <a:solidFill>
                <a:srgbClr val="000000"/>
              </a:solidFill>
              <a:latin typeface="Arial"/>
              <a:ea typeface="Arial"/>
              <a:cs typeface="Arial"/>
              <a:sym typeface="Arial"/>
            </a:endParaRPr>
          </a:p>
        </p:txBody>
      </p:sp>
      <p:sp>
        <p:nvSpPr>
          <p:cNvPr id="595" name="Google Shape;595;h2627160d5792b11b_0_550"/>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draft is structurally faithful. But what does it mean?</a:t>
            </a:r>
            <a:endParaRPr b="0" i="0" sz="1400" u="none" cap="none" strike="noStrike">
              <a:solidFill>
                <a:srgbClr val="000000"/>
              </a:solidFill>
              <a:latin typeface="Arial"/>
              <a:ea typeface="Arial"/>
              <a:cs typeface="Arial"/>
              <a:sym typeface="Arial"/>
            </a:endParaRPr>
          </a:p>
        </p:txBody>
      </p:sp>
      <p:sp>
        <p:nvSpPr>
          <p:cNvPr id="596" name="Google Shape;596;h2627160d5792b11b_0_550"/>
          <p:cNvSpPr txBox="1"/>
          <p:nvPr/>
        </p:nvSpPr>
        <p:spPr>
          <a:xfrm>
            <a:off x="795528" y="1397241"/>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RIGOR gathers a </a:t>
            </a:r>
            <a:r>
              <a:rPr b="1" i="0" lang="en-US" sz="1600" u="none" cap="none" strike="noStrike">
                <a:solidFill>
                  <a:srgbClr val="5B6770"/>
                </a:solidFill>
                <a:latin typeface="Calibri"/>
                <a:ea typeface="Calibri"/>
                <a:cs typeface="Calibri"/>
                <a:sym typeface="Calibri"/>
              </a:rPr>
              <a:t>context</a:t>
            </a:r>
            <a:r>
              <a:rPr b="0" i="0" lang="en-US" sz="1600" u="none" cap="none" strike="noStrike">
                <a:solidFill>
                  <a:srgbClr val="5B6770"/>
                </a:solidFill>
                <a:latin typeface="Calibri"/>
                <a:ea typeface="Calibri"/>
                <a:cs typeface="Calibri"/>
                <a:sym typeface="Calibri"/>
              </a:rPr>
              <a:t> package from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complementary </a:t>
            </a:r>
            <a:r>
              <a:rPr b="1" i="0" lang="en-US" sz="1600" u="none" cap="none" strike="noStrike">
                <a:solidFill>
                  <a:srgbClr val="5B6770"/>
                </a:solidFill>
                <a:latin typeface="Calibri"/>
                <a:ea typeface="Calibri"/>
                <a:cs typeface="Calibri"/>
                <a:sym typeface="Calibri"/>
              </a:rPr>
              <a:t>sources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597" name="Google Shape;597;h2627160d5792b11b_0_550"/>
          <p:cNvSpPr/>
          <p:nvPr/>
        </p:nvSpPr>
        <p:spPr>
          <a:xfrm>
            <a:off x="822960" y="1796560"/>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8" name="Google Shape;598;h2627160d5792b11b_0_550"/>
          <p:cNvSpPr/>
          <p:nvPr/>
        </p:nvSpPr>
        <p:spPr>
          <a:xfrm>
            <a:off x="822960" y="1796560"/>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9" name="Google Shape;599;h2627160d5792b11b_0_550"/>
          <p:cNvSpPr txBox="1"/>
          <p:nvPr/>
        </p:nvSpPr>
        <p:spPr>
          <a:xfrm>
            <a:off x="1005840" y="223075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1  DOCUMENTATION</a:t>
            </a:r>
            <a:endParaRPr b="0" i="0" sz="1400" u="none" cap="none" strike="noStrike">
              <a:solidFill>
                <a:srgbClr val="000000"/>
              </a:solidFill>
              <a:latin typeface="Arial"/>
              <a:ea typeface="Arial"/>
              <a:cs typeface="Arial"/>
              <a:sym typeface="Arial"/>
            </a:endParaRPr>
          </a:p>
        </p:txBody>
      </p:sp>
      <p:sp>
        <p:nvSpPr>
          <p:cNvPr id="600" name="Google Shape;600;h2627160d5792b11b_0_550"/>
          <p:cNvSpPr txBox="1"/>
          <p:nvPr/>
        </p:nvSpPr>
        <p:spPr>
          <a:xfrm>
            <a:off x="1005840" y="2830775"/>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do column names mean?</a:t>
            </a:r>
            <a:endParaRPr b="0" i="0" sz="1400" u="none" cap="none" strike="noStrike">
              <a:solidFill>
                <a:srgbClr val="000000"/>
              </a:solidFill>
              <a:latin typeface="Arial"/>
              <a:ea typeface="Arial"/>
              <a:cs typeface="Arial"/>
              <a:sym typeface="Arial"/>
            </a:endParaRPr>
          </a:p>
        </p:txBody>
      </p:sp>
      <p:sp>
        <p:nvSpPr>
          <p:cNvPr id="601" name="Google Shape;601;h2627160d5792b11b_0_550"/>
          <p:cNvSpPr/>
          <p:nvPr/>
        </p:nvSpPr>
        <p:spPr>
          <a:xfrm>
            <a:off x="996696" y="3224627"/>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2" name="Google Shape;602;h2627160d5792b11b_0_550"/>
          <p:cNvSpPr txBox="1"/>
          <p:nvPr/>
        </p:nvSpPr>
        <p:spPr>
          <a:xfrm>
            <a:off x="1124700" y="3258737"/>
            <a:ext cx="2706600" cy="4821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1520"/>
              <a:buFont typeface="Arial"/>
              <a:buNone/>
            </a:pPr>
            <a:r>
              <a:rPr b="1" lang="en-US" sz="1520">
                <a:solidFill>
                  <a:srgbClr val="0B6E4F"/>
                </a:solidFill>
                <a:latin typeface="Consolas"/>
                <a:ea typeface="Consolas"/>
                <a:cs typeface="Consolas"/>
                <a:sym typeface="Consolas"/>
              </a:rPr>
              <a:t>BM_DEP</a:t>
            </a:r>
            <a:r>
              <a:rPr b="0" i="0" lang="en-US" sz="1520" u="none" cap="none" strike="noStrike">
                <a:solidFill>
                  <a:srgbClr val="1F2328"/>
                </a:solidFill>
                <a:latin typeface="Calibri"/>
                <a:ea typeface="Calibri"/>
                <a:cs typeface="Calibri"/>
                <a:sym typeface="Calibri"/>
              </a:rPr>
              <a:t>→ Bone Marrow</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Depression</a:t>
            </a:r>
            <a:endParaRPr b="0" i="0" sz="1400" u="none" cap="none" strike="noStrike">
              <a:solidFill>
                <a:srgbClr val="000000"/>
              </a:solidFill>
              <a:latin typeface="Arial"/>
              <a:ea typeface="Arial"/>
              <a:cs typeface="Arial"/>
              <a:sym typeface="Arial"/>
            </a:endParaRPr>
          </a:p>
        </p:txBody>
      </p:sp>
      <p:sp>
        <p:nvSpPr>
          <p:cNvPr id="603" name="Google Shape;603;h2627160d5792b11b_0_550"/>
          <p:cNvSpPr txBox="1"/>
          <p:nvPr/>
        </p:nvSpPr>
        <p:spPr>
          <a:xfrm>
            <a:off x="1005840" y="3872248"/>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Defines cryptic names</a:t>
            </a:r>
            <a:endParaRPr b="0" i="0" sz="1400" u="none" cap="none" strike="noStrike">
              <a:solidFill>
                <a:srgbClr val="000000"/>
              </a:solidFill>
              <a:latin typeface="Arial"/>
              <a:ea typeface="Arial"/>
              <a:cs typeface="Arial"/>
              <a:sym typeface="Arial"/>
            </a:endParaRPr>
          </a:p>
        </p:txBody>
      </p:sp>
      <p:sp>
        <p:nvSpPr>
          <p:cNvPr id="604" name="Google Shape;604;h2627160d5792b11b_0_550"/>
          <p:cNvSpPr/>
          <p:nvPr/>
        </p:nvSpPr>
        <p:spPr>
          <a:xfrm>
            <a:off x="4416550" y="1796569"/>
            <a:ext cx="38241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5" name="Google Shape;605;h2627160d5792b11b_0_550"/>
          <p:cNvSpPr/>
          <p:nvPr/>
        </p:nvSpPr>
        <p:spPr>
          <a:xfrm>
            <a:off x="4416550" y="1796569"/>
            <a:ext cx="3824100" cy="639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6" name="Google Shape;606;h2627160d5792b11b_0_550"/>
          <p:cNvSpPr txBox="1"/>
          <p:nvPr/>
        </p:nvSpPr>
        <p:spPr>
          <a:xfrm>
            <a:off x="4627251" y="2230768"/>
            <a:ext cx="345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2  EXTERNAL ONTOLOGIES</a:t>
            </a:r>
            <a:endParaRPr b="0" i="0" sz="1400" u="none" cap="none" strike="noStrike">
              <a:solidFill>
                <a:srgbClr val="000000"/>
              </a:solidFill>
              <a:latin typeface="Arial"/>
              <a:ea typeface="Arial"/>
              <a:cs typeface="Arial"/>
              <a:sym typeface="Arial"/>
            </a:endParaRPr>
          </a:p>
        </p:txBody>
      </p:sp>
      <p:sp>
        <p:nvSpPr>
          <p:cNvPr id="607" name="Google Shape;607;h2627160d5792b11b_0_550"/>
          <p:cNvSpPr txBox="1"/>
          <p:nvPr/>
        </p:nvSpPr>
        <p:spPr>
          <a:xfrm>
            <a:off x="4627251" y="2830784"/>
            <a:ext cx="34449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Which domain concepts exist?</a:t>
            </a:r>
            <a:endParaRPr b="0" i="0" sz="1400" u="none" cap="none" strike="noStrike">
              <a:solidFill>
                <a:srgbClr val="000000"/>
              </a:solidFill>
              <a:latin typeface="Arial"/>
              <a:ea typeface="Arial"/>
              <a:cs typeface="Arial"/>
              <a:sym typeface="Arial"/>
            </a:endParaRPr>
          </a:p>
        </p:txBody>
      </p:sp>
      <p:sp>
        <p:nvSpPr>
          <p:cNvPr id="608" name="Google Shape;608;h2627160d5792b11b_0_550"/>
          <p:cNvSpPr/>
          <p:nvPr/>
        </p:nvSpPr>
        <p:spPr>
          <a:xfrm>
            <a:off x="4616716" y="3224636"/>
            <a:ext cx="34134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9" name="Google Shape;609;h2627160d5792b11b_0_550"/>
          <p:cNvSpPr txBox="1"/>
          <p:nvPr/>
        </p:nvSpPr>
        <p:spPr>
          <a:xfrm>
            <a:off x="4764206" y="3261212"/>
            <a:ext cx="3118200" cy="479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ICD-10 · </a:t>
            </a:r>
            <a:r>
              <a:rPr b="1" i="0" lang="en-US" sz="1520" u="none" cap="none" strike="noStrike">
                <a:solidFill>
                  <a:srgbClr val="1F2328"/>
                </a:solidFill>
                <a:latin typeface="Calibri"/>
                <a:ea typeface="Calibri"/>
                <a:cs typeface="Calibri"/>
                <a:sym typeface="Calibri"/>
              </a:rPr>
              <a:t>Disease Ontology</a:t>
            </a:r>
            <a:endParaRPr b="1" i="0" sz="1400" u="none" cap="none" strike="noStrike">
              <a:solidFill>
                <a:srgbClr val="000000"/>
              </a:solidFill>
            </a:endParaRPr>
          </a:p>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Cell and nutrition ontologies</a:t>
            </a:r>
            <a:endParaRPr b="0" i="0" sz="1400" u="none" cap="none" strike="noStrike">
              <a:solidFill>
                <a:srgbClr val="000000"/>
              </a:solidFill>
              <a:latin typeface="Arial"/>
              <a:ea typeface="Arial"/>
              <a:cs typeface="Arial"/>
              <a:sym typeface="Arial"/>
            </a:endParaRPr>
          </a:p>
        </p:txBody>
      </p:sp>
      <p:sp>
        <p:nvSpPr>
          <p:cNvPr id="610" name="Google Shape;610;h2627160d5792b11b_0_550"/>
          <p:cNvSpPr txBox="1"/>
          <p:nvPr/>
        </p:nvSpPr>
        <p:spPr>
          <a:xfrm>
            <a:off x="4627251" y="3826537"/>
            <a:ext cx="33924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Suggests established concepts</a:t>
            </a:r>
            <a:endParaRPr b="0" i="0" sz="1400" u="none" cap="none" strike="noStrike">
              <a:solidFill>
                <a:srgbClr val="000000"/>
              </a:solidFill>
              <a:latin typeface="Arial"/>
              <a:ea typeface="Arial"/>
              <a:cs typeface="Arial"/>
              <a:sym typeface="Arial"/>
            </a:endParaRPr>
          </a:p>
        </p:txBody>
      </p:sp>
      <p:sp>
        <p:nvSpPr>
          <p:cNvPr id="611" name="Google Shape;611;h2627160d5792b11b_0_550"/>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2" name="Google Shape;612;h2627160d5792b11b_0_550"/>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613" name="Google Shape;613;h2627160d5792b11b_0_550"/>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4" name="Google Shape;614;h2627160d5792b11b_0_550"/>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615" name="Google Shape;615;h2627160d5792b11b_0_550"/>
          <p:cNvSpPr/>
          <p:nvPr/>
        </p:nvSpPr>
        <p:spPr>
          <a:xfrm>
            <a:off x="4480559"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6" name="Google Shape;616;h2627160d5792b11b_0_550"/>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617" name="Google Shape;617;h2627160d5792b11b_0_550"/>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8" name="Google Shape;618;h2627160d5792b11b_0_550"/>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619" name="Google Shape;619;h2627160d5792b11b_0_550"/>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0" name="Google Shape;620;h2627160d5792b11b_0_550"/>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621" name="Google Shape;621;h2627160d5792b11b_0_550"/>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2" name="Google Shape;622;h2627160d5792b11b_0_550"/>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pic>
        <p:nvPicPr>
          <p:cNvPr id="623" name="Google Shape;623;h2627160d5792b11b_0_550" title="Ontology Taxonomy Documentation Icons.png"/>
          <p:cNvPicPr preferRelativeResize="0"/>
          <p:nvPr/>
        </p:nvPicPr>
        <p:blipFill rotWithShape="1">
          <a:blip r:embed="rId3">
            <a:alphaModFix/>
          </a:blip>
          <a:srcRect b="14185" l="36225" r="31825" t="16211"/>
          <a:stretch/>
        </p:blipFill>
        <p:spPr>
          <a:xfrm>
            <a:off x="2873021" y="1879752"/>
            <a:ext cx="1086331" cy="789275"/>
          </a:xfrm>
          <a:prstGeom prst="rect">
            <a:avLst/>
          </a:prstGeom>
          <a:noFill/>
          <a:ln>
            <a:noFill/>
          </a:ln>
        </p:spPr>
      </p:pic>
      <p:pic>
        <p:nvPicPr>
          <p:cNvPr id="624" name="Google Shape;624;h2627160d5792b11b_0_550" title="Ontology Taxonomy Documentation Icons.png"/>
          <p:cNvPicPr preferRelativeResize="0"/>
          <p:nvPr/>
        </p:nvPicPr>
        <p:blipFill rotWithShape="1">
          <a:blip r:embed="rId3">
            <a:alphaModFix/>
          </a:blip>
          <a:srcRect b="14185" l="2070" r="65981" t="16211"/>
          <a:stretch/>
        </p:blipFill>
        <p:spPr>
          <a:xfrm>
            <a:off x="7073705" y="1927465"/>
            <a:ext cx="1086326" cy="789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9" name="Shape 629"/>
        <p:cNvGrpSpPr/>
        <p:nvPr/>
      </p:nvGrpSpPr>
      <p:grpSpPr>
        <a:xfrm>
          <a:off x="0" y="0"/>
          <a:ext cx="0" cy="0"/>
          <a:chOff x="0" y="0"/>
          <a:chExt cx="0" cy="0"/>
        </a:xfrm>
      </p:grpSpPr>
      <p:sp>
        <p:nvSpPr>
          <p:cNvPr id="630" name="Google Shape;630;h2627160d5792b11b_0_595"/>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3 / RETRIEVE</a:t>
            </a:r>
            <a:endParaRPr b="0" i="0" sz="1400" u="none" cap="none" strike="noStrike">
              <a:solidFill>
                <a:srgbClr val="000000"/>
              </a:solidFill>
              <a:latin typeface="Arial"/>
              <a:ea typeface="Arial"/>
              <a:cs typeface="Arial"/>
              <a:sym typeface="Arial"/>
            </a:endParaRPr>
          </a:p>
        </p:txBody>
      </p:sp>
      <p:sp>
        <p:nvSpPr>
          <p:cNvPr id="631" name="Google Shape;631;h2627160d5792b11b_0_595"/>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draft is structurally faithful. But what does it mean?</a:t>
            </a:r>
            <a:endParaRPr b="0" i="0" sz="1400" u="none" cap="none" strike="noStrike">
              <a:solidFill>
                <a:srgbClr val="000000"/>
              </a:solidFill>
              <a:latin typeface="Arial"/>
              <a:ea typeface="Arial"/>
              <a:cs typeface="Arial"/>
              <a:sym typeface="Arial"/>
            </a:endParaRPr>
          </a:p>
        </p:txBody>
      </p:sp>
      <p:sp>
        <p:nvSpPr>
          <p:cNvPr id="632" name="Google Shape;632;h2627160d5792b11b_0_595"/>
          <p:cNvSpPr txBox="1"/>
          <p:nvPr/>
        </p:nvSpPr>
        <p:spPr>
          <a:xfrm>
            <a:off x="795528" y="1397241"/>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RIGOR gathers a </a:t>
            </a:r>
            <a:r>
              <a:rPr b="1" i="0" lang="en-US" sz="1600" u="none" cap="none" strike="noStrike">
                <a:solidFill>
                  <a:srgbClr val="5B6770"/>
                </a:solidFill>
                <a:latin typeface="Calibri"/>
                <a:ea typeface="Calibri"/>
                <a:cs typeface="Calibri"/>
                <a:sym typeface="Calibri"/>
              </a:rPr>
              <a:t>context</a:t>
            </a:r>
            <a:r>
              <a:rPr b="0" i="0" lang="en-US" sz="1600" u="none" cap="none" strike="noStrike">
                <a:solidFill>
                  <a:srgbClr val="5B6770"/>
                </a:solidFill>
                <a:latin typeface="Calibri"/>
                <a:ea typeface="Calibri"/>
                <a:cs typeface="Calibri"/>
                <a:sym typeface="Calibri"/>
              </a:rPr>
              <a:t> package from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complementary </a:t>
            </a:r>
            <a:r>
              <a:rPr b="1" i="0" lang="en-US" sz="1600" u="none" cap="none" strike="noStrike">
                <a:solidFill>
                  <a:srgbClr val="5B6770"/>
                </a:solidFill>
                <a:latin typeface="Calibri"/>
                <a:ea typeface="Calibri"/>
                <a:cs typeface="Calibri"/>
                <a:sym typeface="Calibri"/>
              </a:rPr>
              <a:t>sources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633" name="Google Shape;633;h2627160d5792b11b_0_595"/>
          <p:cNvSpPr/>
          <p:nvPr/>
        </p:nvSpPr>
        <p:spPr>
          <a:xfrm>
            <a:off x="822960" y="1796560"/>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4" name="Google Shape;634;h2627160d5792b11b_0_595"/>
          <p:cNvSpPr/>
          <p:nvPr/>
        </p:nvSpPr>
        <p:spPr>
          <a:xfrm>
            <a:off x="822960" y="1796560"/>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5" name="Google Shape;635;h2627160d5792b11b_0_595"/>
          <p:cNvSpPr txBox="1"/>
          <p:nvPr/>
        </p:nvSpPr>
        <p:spPr>
          <a:xfrm>
            <a:off x="1005840" y="223075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1  DOCUMENTATION</a:t>
            </a:r>
            <a:endParaRPr b="0" i="0" sz="1400" u="none" cap="none" strike="noStrike">
              <a:solidFill>
                <a:srgbClr val="000000"/>
              </a:solidFill>
              <a:latin typeface="Arial"/>
              <a:ea typeface="Arial"/>
              <a:cs typeface="Arial"/>
              <a:sym typeface="Arial"/>
            </a:endParaRPr>
          </a:p>
        </p:txBody>
      </p:sp>
      <p:sp>
        <p:nvSpPr>
          <p:cNvPr id="636" name="Google Shape;636;h2627160d5792b11b_0_595"/>
          <p:cNvSpPr txBox="1"/>
          <p:nvPr/>
        </p:nvSpPr>
        <p:spPr>
          <a:xfrm>
            <a:off x="1005840" y="2830775"/>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do column names mean?</a:t>
            </a:r>
            <a:endParaRPr b="0" i="0" sz="1400" u="none" cap="none" strike="noStrike">
              <a:solidFill>
                <a:srgbClr val="000000"/>
              </a:solidFill>
              <a:latin typeface="Arial"/>
              <a:ea typeface="Arial"/>
              <a:cs typeface="Arial"/>
              <a:sym typeface="Arial"/>
            </a:endParaRPr>
          </a:p>
        </p:txBody>
      </p:sp>
      <p:sp>
        <p:nvSpPr>
          <p:cNvPr id="637" name="Google Shape;637;h2627160d5792b11b_0_595"/>
          <p:cNvSpPr/>
          <p:nvPr/>
        </p:nvSpPr>
        <p:spPr>
          <a:xfrm>
            <a:off x="996696" y="3224627"/>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8" name="Google Shape;638;h2627160d5792b11b_0_595"/>
          <p:cNvSpPr txBox="1"/>
          <p:nvPr/>
        </p:nvSpPr>
        <p:spPr>
          <a:xfrm>
            <a:off x="1124700" y="3258737"/>
            <a:ext cx="2706600" cy="4821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1520"/>
              <a:buFont typeface="Arial"/>
              <a:buNone/>
            </a:pPr>
            <a:r>
              <a:rPr b="1" lang="en-US" sz="1520">
                <a:solidFill>
                  <a:srgbClr val="0B6E4F"/>
                </a:solidFill>
                <a:latin typeface="Consolas"/>
                <a:ea typeface="Consolas"/>
                <a:cs typeface="Consolas"/>
                <a:sym typeface="Consolas"/>
              </a:rPr>
              <a:t>BM_DEP</a:t>
            </a:r>
            <a:r>
              <a:rPr b="0" i="0" lang="en-US" sz="1520" u="none" cap="none" strike="noStrike">
                <a:solidFill>
                  <a:srgbClr val="1F2328"/>
                </a:solidFill>
                <a:latin typeface="Calibri"/>
                <a:ea typeface="Calibri"/>
                <a:cs typeface="Calibri"/>
                <a:sym typeface="Calibri"/>
              </a:rPr>
              <a:t>→ Bone Marrow</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Depression</a:t>
            </a:r>
            <a:endParaRPr b="0" i="0" sz="1400" u="none" cap="none" strike="noStrike">
              <a:solidFill>
                <a:srgbClr val="000000"/>
              </a:solidFill>
              <a:latin typeface="Arial"/>
              <a:ea typeface="Arial"/>
              <a:cs typeface="Arial"/>
              <a:sym typeface="Arial"/>
            </a:endParaRPr>
          </a:p>
        </p:txBody>
      </p:sp>
      <p:sp>
        <p:nvSpPr>
          <p:cNvPr id="639" name="Google Shape;639;h2627160d5792b11b_0_595"/>
          <p:cNvSpPr txBox="1"/>
          <p:nvPr/>
        </p:nvSpPr>
        <p:spPr>
          <a:xfrm>
            <a:off x="1005840" y="3872248"/>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Defines cryptic names</a:t>
            </a:r>
            <a:endParaRPr b="0" i="0" sz="1400" u="none" cap="none" strike="noStrike">
              <a:solidFill>
                <a:srgbClr val="000000"/>
              </a:solidFill>
              <a:latin typeface="Arial"/>
              <a:ea typeface="Arial"/>
              <a:cs typeface="Arial"/>
              <a:sym typeface="Arial"/>
            </a:endParaRPr>
          </a:p>
        </p:txBody>
      </p:sp>
      <p:sp>
        <p:nvSpPr>
          <p:cNvPr id="640" name="Google Shape;640;h2627160d5792b11b_0_595"/>
          <p:cNvSpPr/>
          <p:nvPr/>
        </p:nvSpPr>
        <p:spPr>
          <a:xfrm>
            <a:off x="4416550" y="1796569"/>
            <a:ext cx="38241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1" name="Google Shape;641;h2627160d5792b11b_0_595"/>
          <p:cNvSpPr/>
          <p:nvPr/>
        </p:nvSpPr>
        <p:spPr>
          <a:xfrm>
            <a:off x="4416550" y="1796569"/>
            <a:ext cx="3824100" cy="639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2" name="Google Shape;642;h2627160d5792b11b_0_595"/>
          <p:cNvSpPr txBox="1"/>
          <p:nvPr/>
        </p:nvSpPr>
        <p:spPr>
          <a:xfrm>
            <a:off x="4627251" y="2230768"/>
            <a:ext cx="345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2  EXTERNAL ONTOLOGIES</a:t>
            </a:r>
            <a:endParaRPr b="0" i="0" sz="1400" u="none" cap="none" strike="noStrike">
              <a:solidFill>
                <a:srgbClr val="000000"/>
              </a:solidFill>
              <a:latin typeface="Arial"/>
              <a:ea typeface="Arial"/>
              <a:cs typeface="Arial"/>
              <a:sym typeface="Arial"/>
            </a:endParaRPr>
          </a:p>
        </p:txBody>
      </p:sp>
      <p:sp>
        <p:nvSpPr>
          <p:cNvPr id="643" name="Google Shape;643;h2627160d5792b11b_0_595"/>
          <p:cNvSpPr txBox="1"/>
          <p:nvPr/>
        </p:nvSpPr>
        <p:spPr>
          <a:xfrm>
            <a:off x="4627251" y="2830784"/>
            <a:ext cx="34449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Which domain concepts exist?</a:t>
            </a:r>
            <a:endParaRPr b="0" i="0" sz="1400" u="none" cap="none" strike="noStrike">
              <a:solidFill>
                <a:srgbClr val="000000"/>
              </a:solidFill>
              <a:latin typeface="Arial"/>
              <a:ea typeface="Arial"/>
              <a:cs typeface="Arial"/>
              <a:sym typeface="Arial"/>
            </a:endParaRPr>
          </a:p>
        </p:txBody>
      </p:sp>
      <p:sp>
        <p:nvSpPr>
          <p:cNvPr id="644" name="Google Shape;644;h2627160d5792b11b_0_595"/>
          <p:cNvSpPr/>
          <p:nvPr/>
        </p:nvSpPr>
        <p:spPr>
          <a:xfrm>
            <a:off x="4616716" y="3224636"/>
            <a:ext cx="34134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5" name="Google Shape;645;h2627160d5792b11b_0_595"/>
          <p:cNvSpPr txBox="1"/>
          <p:nvPr/>
        </p:nvSpPr>
        <p:spPr>
          <a:xfrm>
            <a:off x="4764206" y="3261212"/>
            <a:ext cx="3118200" cy="479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ICD-10 · </a:t>
            </a:r>
            <a:r>
              <a:rPr b="1" i="0" lang="en-US" sz="1520" u="none" cap="none" strike="noStrike">
                <a:solidFill>
                  <a:srgbClr val="1F2328"/>
                </a:solidFill>
                <a:latin typeface="Calibri"/>
                <a:ea typeface="Calibri"/>
                <a:cs typeface="Calibri"/>
                <a:sym typeface="Calibri"/>
              </a:rPr>
              <a:t>Disease Ontology</a:t>
            </a:r>
            <a:endParaRPr b="1" i="0" sz="1400" u="none" cap="none" strike="noStrike">
              <a:solidFill>
                <a:srgbClr val="000000"/>
              </a:solidFill>
            </a:endParaRPr>
          </a:p>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Cell and nutrition ontologies</a:t>
            </a:r>
            <a:endParaRPr b="0" i="0" sz="1400" u="none" cap="none" strike="noStrike">
              <a:solidFill>
                <a:srgbClr val="000000"/>
              </a:solidFill>
              <a:latin typeface="Arial"/>
              <a:ea typeface="Arial"/>
              <a:cs typeface="Arial"/>
              <a:sym typeface="Arial"/>
            </a:endParaRPr>
          </a:p>
        </p:txBody>
      </p:sp>
      <p:sp>
        <p:nvSpPr>
          <p:cNvPr id="646" name="Google Shape;646;h2627160d5792b11b_0_595"/>
          <p:cNvSpPr txBox="1"/>
          <p:nvPr/>
        </p:nvSpPr>
        <p:spPr>
          <a:xfrm>
            <a:off x="4627251" y="3826537"/>
            <a:ext cx="33924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Suggests established concepts</a:t>
            </a:r>
            <a:endParaRPr b="0" i="0" sz="1400" u="none" cap="none" strike="noStrike">
              <a:solidFill>
                <a:srgbClr val="000000"/>
              </a:solidFill>
              <a:latin typeface="Arial"/>
              <a:ea typeface="Arial"/>
              <a:cs typeface="Arial"/>
              <a:sym typeface="Arial"/>
            </a:endParaRPr>
          </a:p>
        </p:txBody>
      </p:sp>
      <p:sp>
        <p:nvSpPr>
          <p:cNvPr id="647" name="Google Shape;647;h2627160d5792b11b_0_595"/>
          <p:cNvSpPr/>
          <p:nvPr/>
        </p:nvSpPr>
        <p:spPr>
          <a:xfrm>
            <a:off x="8481494" y="1799623"/>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h2627160d5792b11b_0_595"/>
          <p:cNvSpPr/>
          <p:nvPr/>
        </p:nvSpPr>
        <p:spPr>
          <a:xfrm>
            <a:off x="8481494" y="1799623"/>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9" name="Google Shape;649;h2627160d5792b11b_0_595"/>
          <p:cNvSpPr txBox="1"/>
          <p:nvPr/>
        </p:nvSpPr>
        <p:spPr>
          <a:xfrm>
            <a:off x="8664373" y="2233822"/>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3  GROWING CORE</a:t>
            </a:r>
            <a:endParaRPr b="0" i="0" sz="1400" u="none" cap="none" strike="noStrike">
              <a:solidFill>
                <a:srgbClr val="000000"/>
              </a:solidFill>
              <a:latin typeface="Arial"/>
              <a:ea typeface="Arial"/>
              <a:cs typeface="Arial"/>
              <a:sym typeface="Arial"/>
            </a:endParaRPr>
          </a:p>
        </p:txBody>
      </p:sp>
      <p:sp>
        <p:nvSpPr>
          <p:cNvPr id="650" name="Google Shape;650;h2627160d5792b11b_0_595"/>
          <p:cNvSpPr txBox="1"/>
          <p:nvPr/>
        </p:nvSpPr>
        <p:spPr>
          <a:xfrm>
            <a:off x="8664373" y="2833838"/>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have we already defined?</a:t>
            </a:r>
            <a:endParaRPr b="0" i="0" sz="1400" u="none" cap="none" strike="noStrike">
              <a:solidFill>
                <a:srgbClr val="000000"/>
              </a:solidFill>
              <a:latin typeface="Arial"/>
              <a:ea typeface="Arial"/>
              <a:cs typeface="Arial"/>
              <a:sym typeface="Arial"/>
            </a:endParaRPr>
          </a:p>
        </p:txBody>
      </p:sp>
      <p:sp>
        <p:nvSpPr>
          <p:cNvPr id="651" name="Google Shape;651;h2627160d5792b11b_0_595"/>
          <p:cNvSpPr/>
          <p:nvPr/>
        </p:nvSpPr>
        <p:spPr>
          <a:xfrm>
            <a:off x="8655229" y="3227690"/>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2" name="Google Shape;652;h2627160d5792b11b_0_595"/>
          <p:cNvSpPr txBox="1"/>
          <p:nvPr/>
        </p:nvSpPr>
        <p:spPr>
          <a:xfrm>
            <a:off x="8783246" y="3264266"/>
            <a:ext cx="2706600" cy="479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PatientData + previously</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accepted ontology terms</a:t>
            </a:r>
            <a:endParaRPr b="0" i="0" sz="1400" u="none" cap="none" strike="noStrike">
              <a:solidFill>
                <a:srgbClr val="000000"/>
              </a:solidFill>
              <a:latin typeface="Arial"/>
              <a:ea typeface="Arial"/>
              <a:cs typeface="Arial"/>
              <a:sym typeface="Arial"/>
            </a:endParaRPr>
          </a:p>
        </p:txBody>
      </p:sp>
      <p:sp>
        <p:nvSpPr>
          <p:cNvPr id="653" name="Google Shape;653;h2627160d5792b11b_0_595"/>
          <p:cNvSpPr txBox="1"/>
          <p:nvPr/>
        </p:nvSpPr>
        <p:spPr>
          <a:xfrm>
            <a:off x="8664373" y="3829591"/>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Reuses established concepts</a:t>
            </a:r>
            <a:endParaRPr b="0" i="0" sz="1400" u="none" cap="none" strike="noStrike">
              <a:solidFill>
                <a:srgbClr val="000000"/>
              </a:solidFill>
              <a:latin typeface="Arial"/>
              <a:ea typeface="Arial"/>
              <a:cs typeface="Arial"/>
              <a:sym typeface="Arial"/>
            </a:endParaRPr>
          </a:p>
        </p:txBody>
      </p:sp>
      <p:sp>
        <p:nvSpPr>
          <p:cNvPr id="654" name="Google Shape;654;h2627160d5792b11b_0_595"/>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5" name="Google Shape;655;h2627160d5792b11b_0_595"/>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656" name="Google Shape;656;h2627160d5792b11b_0_595"/>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7" name="Google Shape;657;h2627160d5792b11b_0_595"/>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658" name="Google Shape;658;h2627160d5792b11b_0_595"/>
          <p:cNvSpPr/>
          <p:nvPr/>
        </p:nvSpPr>
        <p:spPr>
          <a:xfrm>
            <a:off x="4480559"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9" name="Google Shape;659;h2627160d5792b11b_0_595"/>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660" name="Google Shape;660;h2627160d5792b11b_0_595"/>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1" name="Google Shape;661;h2627160d5792b11b_0_595"/>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662" name="Google Shape;662;h2627160d5792b11b_0_595"/>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3" name="Google Shape;663;h2627160d5792b11b_0_595"/>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664" name="Google Shape;664;h2627160d5792b11b_0_595"/>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5" name="Google Shape;665;h2627160d5792b11b_0_595"/>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pic>
        <p:nvPicPr>
          <p:cNvPr id="666" name="Google Shape;666;h2627160d5792b11b_0_595" title="Ontology Taxonomy Documentation Icons.png"/>
          <p:cNvPicPr preferRelativeResize="0"/>
          <p:nvPr/>
        </p:nvPicPr>
        <p:blipFill rotWithShape="1">
          <a:blip r:embed="rId3">
            <a:alphaModFix/>
          </a:blip>
          <a:srcRect b="14185" l="36225" r="31825" t="16211"/>
          <a:stretch/>
        </p:blipFill>
        <p:spPr>
          <a:xfrm>
            <a:off x="2873021" y="1879752"/>
            <a:ext cx="1086331" cy="789275"/>
          </a:xfrm>
          <a:prstGeom prst="rect">
            <a:avLst/>
          </a:prstGeom>
          <a:noFill/>
          <a:ln>
            <a:noFill/>
          </a:ln>
        </p:spPr>
      </p:pic>
      <p:pic>
        <p:nvPicPr>
          <p:cNvPr id="667" name="Google Shape;667;h2627160d5792b11b_0_595" title="Ontology Taxonomy Documentation Icons.png"/>
          <p:cNvPicPr preferRelativeResize="0"/>
          <p:nvPr/>
        </p:nvPicPr>
        <p:blipFill rotWithShape="1">
          <a:blip r:embed="rId3">
            <a:alphaModFix/>
          </a:blip>
          <a:srcRect b="14185" l="2070" r="65981" t="16211"/>
          <a:stretch/>
        </p:blipFill>
        <p:spPr>
          <a:xfrm>
            <a:off x="7073705" y="1927465"/>
            <a:ext cx="1086326" cy="789275"/>
          </a:xfrm>
          <a:prstGeom prst="rect">
            <a:avLst/>
          </a:prstGeom>
          <a:noFill/>
          <a:ln>
            <a:noFill/>
          </a:ln>
        </p:spPr>
      </p:pic>
      <p:pic>
        <p:nvPicPr>
          <p:cNvPr id="668" name="Google Shape;668;h2627160d5792b11b_0_595" title="Ontology Taxonomy Documentation Icons.png"/>
          <p:cNvPicPr preferRelativeResize="0"/>
          <p:nvPr/>
        </p:nvPicPr>
        <p:blipFill rotWithShape="1">
          <a:blip r:embed="rId3">
            <a:alphaModFix/>
          </a:blip>
          <a:srcRect b="7505" l="70326" r="314" t="10116"/>
          <a:stretch/>
        </p:blipFill>
        <p:spPr>
          <a:xfrm>
            <a:off x="10404324" y="1857240"/>
            <a:ext cx="998298" cy="934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3" name="Shape 673"/>
        <p:cNvGrpSpPr/>
        <p:nvPr/>
      </p:nvGrpSpPr>
      <p:grpSpPr>
        <a:xfrm>
          <a:off x="0" y="0"/>
          <a:ext cx="0" cy="0"/>
          <a:chOff x="0" y="0"/>
          <a:chExt cx="0" cy="0"/>
        </a:xfrm>
      </p:grpSpPr>
      <p:sp>
        <p:nvSpPr>
          <p:cNvPr id="674" name="Google Shape;674;h2627160d5792b11b_0_640"/>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3 / RETRIEVE</a:t>
            </a:r>
            <a:endParaRPr b="0" i="0" sz="1400" u="none" cap="none" strike="noStrike">
              <a:solidFill>
                <a:srgbClr val="000000"/>
              </a:solidFill>
              <a:latin typeface="Arial"/>
              <a:ea typeface="Arial"/>
              <a:cs typeface="Arial"/>
              <a:sym typeface="Arial"/>
            </a:endParaRPr>
          </a:p>
        </p:txBody>
      </p:sp>
      <p:sp>
        <p:nvSpPr>
          <p:cNvPr id="675" name="Google Shape;675;h2627160d5792b11b_0_640"/>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draft is structurally faithful. But what does it mean?</a:t>
            </a:r>
            <a:endParaRPr b="0" i="0" sz="1400" u="none" cap="none" strike="noStrike">
              <a:solidFill>
                <a:srgbClr val="000000"/>
              </a:solidFill>
              <a:latin typeface="Arial"/>
              <a:ea typeface="Arial"/>
              <a:cs typeface="Arial"/>
              <a:sym typeface="Arial"/>
            </a:endParaRPr>
          </a:p>
        </p:txBody>
      </p:sp>
      <p:sp>
        <p:nvSpPr>
          <p:cNvPr id="676" name="Google Shape;676;h2627160d5792b11b_0_640"/>
          <p:cNvSpPr txBox="1"/>
          <p:nvPr/>
        </p:nvSpPr>
        <p:spPr>
          <a:xfrm>
            <a:off x="795528" y="1397241"/>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RIGOR gathers a </a:t>
            </a:r>
            <a:r>
              <a:rPr b="1" i="0" lang="en-US" sz="1600" u="none" cap="none" strike="noStrike">
                <a:solidFill>
                  <a:srgbClr val="5B6770"/>
                </a:solidFill>
                <a:latin typeface="Calibri"/>
                <a:ea typeface="Calibri"/>
                <a:cs typeface="Calibri"/>
                <a:sym typeface="Calibri"/>
              </a:rPr>
              <a:t>context</a:t>
            </a:r>
            <a:r>
              <a:rPr b="0" i="0" lang="en-US" sz="1600" u="none" cap="none" strike="noStrike">
                <a:solidFill>
                  <a:srgbClr val="5B6770"/>
                </a:solidFill>
                <a:latin typeface="Calibri"/>
                <a:ea typeface="Calibri"/>
                <a:cs typeface="Calibri"/>
                <a:sym typeface="Calibri"/>
              </a:rPr>
              <a:t> package from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complementary </a:t>
            </a:r>
            <a:r>
              <a:rPr b="1" i="0" lang="en-US" sz="1600" u="none" cap="none" strike="noStrike">
                <a:solidFill>
                  <a:srgbClr val="5B6770"/>
                </a:solidFill>
                <a:latin typeface="Calibri"/>
                <a:ea typeface="Calibri"/>
                <a:cs typeface="Calibri"/>
                <a:sym typeface="Calibri"/>
              </a:rPr>
              <a:t>sources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677" name="Google Shape;677;h2627160d5792b11b_0_640"/>
          <p:cNvSpPr/>
          <p:nvPr/>
        </p:nvSpPr>
        <p:spPr>
          <a:xfrm>
            <a:off x="822960" y="1796560"/>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8" name="Google Shape;678;h2627160d5792b11b_0_640"/>
          <p:cNvSpPr/>
          <p:nvPr/>
        </p:nvSpPr>
        <p:spPr>
          <a:xfrm>
            <a:off x="822960" y="1796560"/>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9" name="Google Shape;679;h2627160d5792b11b_0_640"/>
          <p:cNvSpPr txBox="1"/>
          <p:nvPr/>
        </p:nvSpPr>
        <p:spPr>
          <a:xfrm>
            <a:off x="1005840" y="223075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1  DOCUMENTATION</a:t>
            </a:r>
            <a:endParaRPr b="0" i="0" sz="1400" u="none" cap="none" strike="noStrike">
              <a:solidFill>
                <a:srgbClr val="000000"/>
              </a:solidFill>
              <a:latin typeface="Arial"/>
              <a:ea typeface="Arial"/>
              <a:cs typeface="Arial"/>
              <a:sym typeface="Arial"/>
            </a:endParaRPr>
          </a:p>
        </p:txBody>
      </p:sp>
      <p:sp>
        <p:nvSpPr>
          <p:cNvPr id="680" name="Google Shape;680;h2627160d5792b11b_0_640"/>
          <p:cNvSpPr txBox="1"/>
          <p:nvPr/>
        </p:nvSpPr>
        <p:spPr>
          <a:xfrm>
            <a:off x="1005840" y="2830775"/>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do column names mean?</a:t>
            </a:r>
            <a:endParaRPr b="0" i="0" sz="1400" u="none" cap="none" strike="noStrike">
              <a:solidFill>
                <a:srgbClr val="000000"/>
              </a:solidFill>
              <a:latin typeface="Arial"/>
              <a:ea typeface="Arial"/>
              <a:cs typeface="Arial"/>
              <a:sym typeface="Arial"/>
            </a:endParaRPr>
          </a:p>
        </p:txBody>
      </p:sp>
      <p:sp>
        <p:nvSpPr>
          <p:cNvPr id="681" name="Google Shape;681;h2627160d5792b11b_0_640"/>
          <p:cNvSpPr/>
          <p:nvPr/>
        </p:nvSpPr>
        <p:spPr>
          <a:xfrm>
            <a:off x="996696" y="3224627"/>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2" name="Google Shape;682;h2627160d5792b11b_0_640"/>
          <p:cNvSpPr txBox="1"/>
          <p:nvPr/>
        </p:nvSpPr>
        <p:spPr>
          <a:xfrm>
            <a:off x="1124700" y="3258737"/>
            <a:ext cx="2706600" cy="4821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1520"/>
              <a:buFont typeface="Arial"/>
              <a:buNone/>
            </a:pPr>
            <a:r>
              <a:rPr b="1" lang="en-US" sz="1520">
                <a:solidFill>
                  <a:srgbClr val="0B6E4F"/>
                </a:solidFill>
                <a:latin typeface="Consolas"/>
                <a:ea typeface="Consolas"/>
                <a:cs typeface="Consolas"/>
                <a:sym typeface="Consolas"/>
              </a:rPr>
              <a:t>BM_DEP</a:t>
            </a:r>
            <a:r>
              <a:rPr b="0" i="0" lang="en-US" sz="1520" u="none" cap="none" strike="noStrike">
                <a:solidFill>
                  <a:srgbClr val="1F2328"/>
                </a:solidFill>
                <a:latin typeface="Calibri"/>
                <a:ea typeface="Calibri"/>
                <a:cs typeface="Calibri"/>
                <a:sym typeface="Calibri"/>
              </a:rPr>
              <a:t>→ Bone Marrow</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Depression</a:t>
            </a:r>
            <a:endParaRPr b="0" i="0" sz="1400" u="none" cap="none" strike="noStrike">
              <a:solidFill>
                <a:srgbClr val="000000"/>
              </a:solidFill>
              <a:latin typeface="Arial"/>
              <a:ea typeface="Arial"/>
              <a:cs typeface="Arial"/>
              <a:sym typeface="Arial"/>
            </a:endParaRPr>
          </a:p>
        </p:txBody>
      </p:sp>
      <p:sp>
        <p:nvSpPr>
          <p:cNvPr id="683" name="Google Shape;683;h2627160d5792b11b_0_640"/>
          <p:cNvSpPr txBox="1"/>
          <p:nvPr/>
        </p:nvSpPr>
        <p:spPr>
          <a:xfrm>
            <a:off x="1005840" y="3872248"/>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Defines cryptic names</a:t>
            </a:r>
            <a:endParaRPr b="0" i="0" sz="1400" u="none" cap="none" strike="noStrike">
              <a:solidFill>
                <a:srgbClr val="000000"/>
              </a:solidFill>
              <a:latin typeface="Arial"/>
              <a:ea typeface="Arial"/>
              <a:cs typeface="Arial"/>
              <a:sym typeface="Arial"/>
            </a:endParaRPr>
          </a:p>
        </p:txBody>
      </p:sp>
      <p:sp>
        <p:nvSpPr>
          <p:cNvPr id="684" name="Google Shape;684;h2627160d5792b11b_0_640"/>
          <p:cNvSpPr/>
          <p:nvPr/>
        </p:nvSpPr>
        <p:spPr>
          <a:xfrm>
            <a:off x="4416550" y="1796569"/>
            <a:ext cx="38241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5" name="Google Shape;685;h2627160d5792b11b_0_640"/>
          <p:cNvSpPr/>
          <p:nvPr/>
        </p:nvSpPr>
        <p:spPr>
          <a:xfrm>
            <a:off x="4416550" y="1796569"/>
            <a:ext cx="3824100" cy="639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6" name="Google Shape;686;h2627160d5792b11b_0_640"/>
          <p:cNvSpPr txBox="1"/>
          <p:nvPr/>
        </p:nvSpPr>
        <p:spPr>
          <a:xfrm>
            <a:off x="4627251" y="2230768"/>
            <a:ext cx="345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2  EXTERNAL ONTOLOGIES</a:t>
            </a:r>
            <a:endParaRPr b="0" i="0" sz="1400" u="none" cap="none" strike="noStrike">
              <a:solidFill>
                <a:srgbClr val="000000"/>
              </a:solidFill>
              <a:latin typeface="Arial"/>
              <a:ea typeface="Arial"/>
              <a:cs typeface="Arial"/>
              <a:sym typeface="Arial"/>
            </a:endParaRPr>
          </a:p>
        </p:txBody>
      </p:sp>
      <p:sp>
        <p:nvSpPr>
          <p:cNvPr id="687" name="Google Shape;687;h2627160d5792b11b_0_640"/>
          <p:cNvSpPr txBox="1"/>
          <p:nvPr/>
        </p:nvSpPr>
        <p:spPr>
          <a:xfrm>
            <a:off x="4627251" y="2830784"/>
            <a:ext cx="34449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Which domain concepts exist?</a:t>
            </a:r>
            <a:endParaRPr b="0" i="0" sz="1400" u="none" cap="none" strike="noStrike">
              <a:solidFill>
                <a:srgbClr val="000000"/>
              </a:solidFill>
              <a:latin typeface="Arial"/>
              <a:ea typeface="Arial"/>
              <a:cs typeface="Arial"/>
              <a:sym typeface="Arial"/>
            </a:endParaRPr>
          </a:p>
        </p:txBody>
      </p:sp>
      <p:sp>
        <p:nvSpPr>
          <p:cNvPr id="688" name="Google Shape;688;h2627160d5792b11b_0_640"/>
          <p:cNvSpPr/>
          <p:nvPr/>
        </p:nvSpPr>
        <p:spPr>
          <a:xfrm>
            <a:off x="4616716" y="3224636"/>
            <a:ext cx="34134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9" name="Google Shape;689;h2627160d5792b11b_0_640"/>
          <p:cNvSpPr txBox="1"/>
          <p:nvPr/>
        </p:nvSpPr>
        <p:spPr>
          <a:xfrm>
            <a:off x="4764206" y="3261212"/>
            <a:ext cx="3118200" cy="479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ICD-10 · </a:t>
            </a:r>
            <a:r>
              <a:rPr b="1" i="0" lang="en-US" sz="1520" u="none" cap="none" strike="noStrike">
                <a:solidFill>
                  <a:srgbClr val="1F2328"/>
                </a:solidFill>
                <a:latin typeface="Calibri"/>
                <a:ea typeface="Calibri"/>
                <a:cs typeface="Calibri"/>
                <a:sym typeface="Calibri"/>
              </a:rPr>
              <a:t>Disease Ontology</a:t>
            </a:r>
            <a:endParaRPr b="1" i="0" sz="1400" u="none" cap="none" strike="noStrike">
              <a:solidFill>
                <a:srgbClr val="000000"/>
              </a:solidFill>
            </a:endParaRPr>
          </a:p>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Cell and nutrition ontologies</a:t>
            </a:r>
            <a:endParaRPr b="0" i="0" sz="1400" u="none" cap="none" strike="noStrike">
              <a:solidFill>
                <a:srgbClr val="000000"/>
              </a:solidFill>
              <a:latin typeface="Arial"/>
              <a:ea typeface="Arial"/>
              <a:cs typeface="Arial"/>
              <a:sym typeface="Arial"/>
            </a:endParaRPr>
          </a:p>
        </p:txBody>
      </p:sp>
      <p:sp>
        <p:nvSpPr>
          <p:cNvPr id="690" name="Google Shape;690;h2627160d5792b11b_0_640"/>
          <p:cNvSpPr txBox="1"/>
          <p:nvPr/>
        </p:nvSpPr>
        <p:spPr>
          <a:xfrm>
            <a:off x="4627251" y="3826537"/>
            <a:ext cx="33924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Suggests established concepts</a:t>
            </a:r>
            <a:endParaRPr b="0" i="0" sz="1400" u="none" cap="none" strike="noStrike">
              <a:solidFill>
                <a:srgbClr val="000000"/>
              </a:solidFill>
              <a:latin typeface="Arial"/>
              <a:ea typeface="Arial"/>
              <a:cs typeface="Arial"/>
              <a:sym typeface="Arial"/>
            </a:endParaRPr>
          </a:p>
        </p:txBody>
      </p:sp>
      <p:sp>
        <p:nvSpPr>
          <p:cNvPr id="691" name="Google Shape;691;h2627160d5792b11b_0_640"/>
          <p:cNvSpPr/>
          <p:nvPr/>
        </p:nvSpPr>
        <p:spPr>
          <a:xfrm>
            <a:off x="8481494" y="1799623"/>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2" name="Google Shape;692;h2627160d5792b11b_0_640"/>
          <p:cNvSpPr/>
          <p:nvPr/>
        </p:nvSpPr>
        <p:spPr>
          <a:xfrm>
            <a:off x="8481494" y="1799623"/>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3" name="Google Shape;693;h2627160d5792b11b_0_640"/>
          <p:cNvSpPr txBox="1"/>
          <p:nvPr/>
        </p:nvSpPr>
        <p:spPr>
          <a:xfrm>
            <a:off x="8664373" y="2233822"/>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3  GROWING CORE</a:t>
            </a:r>
            <a:endParaRPr b="0" i="0" sz="1400" u="none" cap="none" strike="noStrike">
              <a:solidFill>
                <a:srgbClr val="000000"/>
              </a:solidFill>
              <a:latin typeface="Arial"/>
              <a:ea typeface="Arial"/>
              <a:cs typeface="Arial"/>
              <a:sym typeface="Arial"/>
            </a:endParaRPr>
          </a:p>
        </p:txBody>
      </p:sp>
      <p:sp>
        <p:nvSpPr>
          <p:cNvPr id="694" name="Google Shape;694;h2627160d5792b11b_0_640"/>
          <p:cNvSpPr txBox="1"/>
          <p:nvPr/>
        </p:nvSpPr>
        <p:spPr>
          <a:xfrm>
            <a:off x="8664373" y="2833838"/>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have we already defined?</a:t>
            </a:r>
            <a:endParaRPr b="0" i="0" sz="1400" u="none" cap="none" strike="noStrike">
              <a:solidFill>
                <a:srgbClr val="000000"/>
              </a:solidFill>
              <a:latin typeface="Arial"/>
              <a:ea typeface="Arial"/>
              <a:cs typeface="Arial"/>
              <a:sym typeface="Arial"/>
            </a:endParaRPr>
          </a:p>
        </p:txBody>
      </p:sp>
      <p:sp>
        <p:nvSpPr>
          <p:cNvPr id="695" name="Google Shape;695;h2627160d5792b11b_0_640"/>
          <p:cNvSpPr/>
          <p:nvPr/>
        </p:nvSpPr>
        <p:spPr>
          <a:xfrm>
            <a:off x="8655229" y="3227690"/>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6" name="Google Shape;696;h2627160d5792b11b_0_640"/>
          <p:cNvSpPr txBox="1"/>
          <p:nvPr/>
        </p:nvSpPr>
        <p:spPr>
          <a:xfrm>
            <a:off x="8783246" y="3264266"/>
            <a:ext cx="2706600" cy="479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PatientData + previously</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accepted ontology terms</a:t>
            </a:r>
            <a:endParaRPr b="0" i="0" sz="1400" u="none" cap="none" strike="noStrike">
              <a:solidFill>
                <a:srgbClr val="000000"/>
              </a:solidFill>
              <a:latin typeface="Arial"/>
              <a:ea typeface="Arial"/>
              <a:cs typeface="Arial"/>
              <a:sym typeface="Arial"/>
            </a:endParaRPr>
          </a:p>
        </p:txBody>
      </p:sp>
      <p:sp>
        <p:nvSpPr>
          <p:cNvPr id="697" name="Google Shape;697;h2627160d5792b11b_0_640"/>
          <p:cNvSpPr txBox="1"/>
          <p:nvPr/>
        </p:nvSpPr>
        <p:spPr>
          <a:xfrm>
            <a:off x="8664373" y="3829591"/>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Reuses established concepts</a:t>
            </a:r>
            <a:endParaRPr b="0" i="0" sz="1400" u="none" cap="none" strike="noStrike">
              <a:solidFill>
                <a:srgbClr val="000000"/>
              </a:solidFill>
              <a:latin typeface="Arial"/>
              <a:ea typeface="Arial"/>
              <a:cs typeface="Arial"/>
              <a:sym typeface="Arial"/>
            </a:endParaRPr>
          </a:p>
        </p:txBody>
      </p:sp>
      <p:sp>
        <p:nvSpPr>
          <p:cNvPr id="698" name="Google Shape;698;h2627160d5792b11b_0_640"/>
          <p:cNvSpPr/>
          <p:nvPr/>
        </p:nvSpPr>
        <p:spPr>
          <a:xfrm>
            <a:off x="1085653" y="4491796"/>
            <a:ext cx="10470000" cy="10281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9" name="Google Shape;699;h2627160d5792b11b_0_640"/>
          <p:cNvSpPr txBox="1"/>
          <p:nvPr/>
        </p:nvSpPr>
        <p:spPr>
          <a:xfrm>
            <a:off x="1311199" y="4649295"/>
            <a:ext cx="10076700" cy="739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0B6E4F"/>
                </a:solidFill>
                <a:latin typeface="Calibri"/>
                <a:ea typeface="Calibri"/>
                <a:cs typeface="Calibri"/>
                <a:sym typeface="Calibri"/>
              </a:rPr>
              <a:t>ONE RETRIEVAL QUERY PER TABLE   </a:t>
            </a:r>
            <a:r>
              <a:rPr b="1" i="0" lang="en-US" sz="1550" u="none" cap="none" strike="noStrike">
                <a:solidFill>
                  <a:srgbClr val="1F2328"/>
                </a:solidFill>
                <a:latin typeface="Calibri"/>
                <a:ea typeface="Calibri"/>
                <a:cs typeface="Calibri"/>
                <a:sym typeface="Calibri"/>
              </a:rPr>
              <a:t>table</a:t>
            </a:r>
            <a:r>
              <a:rPr b="0" i="0" lang="en-US" sz="1550" u="none" cap="none" strike="noStrike">
                <a:solidFill>
                  <a:srgbClr val="1F2328"/>
                </a:solidFill>
                <a:latin typeface="Calibri"/>
                <a:ea typeface="Calibri"/>
                <a:cs typeface="Calibri"/>
                <a:sym typeface="Calibri"/>
              </a:rPr>
              <a:t> + </a:t>
            </a:r>
            <a:r>
              <a:rPr b="1" i="0" lang="en-US" sz="1550" u="none" cap="none" strike="noStrike">
                <a:solidFill>
                  <a:srgbClr val="1F2328"/>
                </a:solidFill>
                <a:latin typeface="Calibri"/>
                <a:ea typeface="Calibri"/>
                <a:cs typeface="Calibri"/>
                <a:sym typeface="Calibri"/>
              </a:rPr>
              <a:t>columns</a:t>
            </a:r>
            <a:r>
              <a:rPr b="0" i="0" lang="en-US" sz="1550" u="none" cap="none" strike="noStrike">
                <a:solidFill>
                  <a:srgbClr val="1F2328"/>
                </a:solidFill>
                <a:latin typeface="Calibri"/>
                <a:ea typeface="Calibri"/>
                <a:cs typeface="Calibri"/>
                <a:sym typeface="Calibri"/>
              </a:rPr>
              <a:t> + </a:t>
            </a:r>
            <a:r>
              <a:rPr b="1" i="0" lang="en-US" sz="1550" u="none" cap="none" strike="noStrike">
                <a:solidFill>
                  <a:srgbClr val="1F2328"/>
                </a:solidFill>
                <a:latin typeface="Calibri"/>
                <a:ea typeface="Calibri"/>
                <a:cs typeface="Calibri"/>
                <a:sym typeface="Calibri"/>
              </a:rPr>
              <a:t>FK targets </a:t>
            </a:r>
            <a:r>
              <a:rPr b="0" i="0" lang="en-US" sz="1550" u="none" cap="none" strike="noStrike">
                <a:solidFill>
                  <a:srgbClr val="1F2328"/>
                </a:solidFill>
                <a:latin typeface="Calibri"/>
                <a:ea typeface="Calibri"/>
                <a:cs typeface="Calibri"/>
                <a:sym typeface="Calibri"/>
              </a:rPr>
              <a:t> →  top-</a:t>
            </a:r>
            <a:r>
              <a:rPr lang="en-US" sz="1550">
                <a:solidFill>
                  <a:srgbClr val="1F2328"/>
                </a:solidFill>
                <a:latin typeface="Calibri"/>
                <a:ea typeface="Calibri"/>
                <a:cs typeface="Calibri"/>
                <a:sym typeface="Calibri"/>
              </a:rPr>
              <a:t>K</a:t>
            </a:r>
            <a:r>
              <a:rPr b="0" i="0" lang="en-US" sz="1550" u="none" cap="none" strike="noStrike">
                <a:solidFill>
                  <a:srgbClr val="1F2328"/>
                </a:solidFill>
                <a:latin typeface="Calibri"/>
                <a:ea typeface="Calibri"/>
                <a:cs typeface="Calibri"/>
                <a:sym typeface="Calibri"/>
              </a:rPr>
              <a:t> per </a:t>
            </a:r>
            <a:r>
              <a:rPr b="1" i="0" lang="en-US" sz="1550" u="none" cap="none" strike="noStrike">
                <a:solidFill>
                  <a:srgbClr val="1F2328"/>
                </a:solidFill>
                <a:latin typeface="Calibri"/>
                <a:ea typeface="Calibri"/>
                <a:cs typeface="Calibri"/>
                <a:sym typeface="Calibri"/>
              </a:rPr>
              <a:t>source</a:t>
            </a:r>
            <a:endParaRPr b="1" i="0" sz="1550" u="none" cap="none" strike="noStrike">
              <a:solidFill>
                <a:srgbClr val="1F2328"/>
              </a:solidFill>
              <a:latin typeface="Calibri"/>
              <a:ea typeface="Calibri"/>
              <a:cs typeface="Calibri"/>
              <a:sym typeface="Calibri"/>
            </a:endParaRPr>
          </a:p>
          <a:p>
            <a:pPr indent="0" lvl="0" marL="0" marR="0" rtl="0" algn="l">
              <a:lnSpc>
                <a:spcPct val="105000"/>
              </a:lnSpc>
              <a:spcBef>
                <a:spcPts val="0"/>
              </a:spcBef>
              <a:spcAft>
                <a:spcPts val="0"/>
              </a:spcAft>
              <a:buClr>
                <a:srgbClr val="000000"/>
              </a:buClr>
              <a:buSzPts val="1550"/>
              <a:buFont typeface="Arial"/>
              <a:buNone/>
            </a:pPr>
            <a:r>
              <a:t/>
            </a:r>
            <a:endParaRPr i="1" sz="1550">
              <a:solidFill>
                <a:srgbClr val="1F2328"/>
              </a:solidFill>
              <a:latin typeface="Calibri"/>
              <a:ea typeface="Calibri"/>
              <a:cs typeface="Calibri"/>
              <a:sym typeface="Calibri"/>
            </a:endParaRPr>
          </a:p>
          <a:p>
            <a:pPr indent="0" lvl="0" marL="0" marR="0" rtl="0" algn="l">
              <a:lnSpc>
                <a:spcPct val="105000"/>
              </a:lnSpc>
              <a:spcBef>
                <a:spcPts val="0"/>
              </a:spcBef>
              <a:spcAft>
                <a:spcPts val="0"/>
              </a:spcAft>
              <a:buClr>
                <a:srgbClr val="000000"/>
              </a:buClr>
              <a:buSzPts val="1550"/>
              <a:buFont typeface="Arial"/>
              <a:buNone/>
            </a:pPr>
            <a:r>
              <a:rPr i="1" lang="en-US" sz="1550">
                <a:solidFill>
                  <a:srgbClr val="1F2328"/>
                </a:solidFill>
                <a:latin typeface="Calibri"/>
                <a:ea typeface="Calibri"/>
                <a:cs typeface="Calibri"/>
                <a:sym typeface="Calibri"/>
              </a:rPr>
              <a:t>(e.g.,  </a:t>
            </a:r>
            <a:r>
              <a:rPr b="1" i="1" lang="en-US" sz="1520">
                <a:solidFill>
                  <a:srgbClr val="0B6E4F"/>
                </a:solidFill>
                <a:latin typeface="Consolas"/>
                <a:ea typeface="Consolas"/>
                <a:cs typeface="Consolas"/>
                <a:sym typeface="Consolas"/>
              </a:rPr>
              <a:t>BM_DEP admission → query: admission + patient_id,BM_DEP, ecog_stage+ PatientData</a:t>
            </a:r>
            <a:r>
              <a:rPr i="1" lang="en-US" sz="1550">
                <a:solidFill>
                  <a:srgbClr val="1F2328"/>
                </a:solidFill>
                <a:latin typeface="Calibri"/>
                <a:ea typeface="Calibri"/>
                <a:cs typeface="Calibri"/>
                <a:sym typeface="Calibri"/>
              </a:rPr>
              <a:t>)</a:t>
            </a:r>
            <a:endParaRPr i="1" sz="1550">
              <a:solidFill>
                <a:srgbClr val="1F2328"/>
              </a:solidFill>
              <a:latin typeface="Calibri"/>
              <a:ea typeface="Calibri"/>
              <a:cs typeface="Calibri"/>
              <a:sym typeface="Calibri"/>
            </a:endParaRPr>
          </a:p>
        </p:txBody>
      </p:sp>
      <p:sp>
        <p:nvSpPr>
          <p:cNvPr id="700" name="Google Shape;700;h2627160d5792b11b_0_640"/>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1" name="Google Shape;701;h2627160d5792b11b_0_640"/>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702" name="Google Shape;702;h2627160d5792b11b_0_640"/>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3" name="Google Shape;703;h2627160d5792b11b_0_640"/>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704" name="Google Shape;704;h2627160d5792b11b_0_640"/>
          <p:cNvSpPr/>
          <p:nvPr/>
        </p:nvSpPr>
        <p:spPr>
          <a:xfrm>
            <a:off x="4480559"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5" name="Google Shape;705;h2627160d5792b11b_0_640"/>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706" name="Google Shape;706;h2627160d5792b11b_0_640"/>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7" name="Google Shape;707;h2627160d5792b11b_0_640"/>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708" name="Google Shape;708;h2627160d5792b11b_0_640"/>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9" name="Google Shape;709;h2627160d5792b11b_0_640"/>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710" name="Google Shape;710;h2627160d5792b11b_0_640"/>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1" name="Google Shape;711;h2627160d5792b11b_0_640"/>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pic>
        <p:nvPicPr>
          <p:cNvPr id="712" name="Google Shape;712;h2627160d5792b11b_0_640" title="Ontology Taxonomy Documentation Icons.png"/>
          <p:cNvPicPr preferRelativeResize="0"/>
          <p:nvPr/>
        </p:nvPicPr>
        <p:blipFill rotWithShape="1">
          <a:blip r:embed="rId3">
            <a:alphaModFix/>
          </a:blip>
          <a:srcRect b="14185" l="36225" r="31825" t="16211"/>
          <a:stretch/>
        </p:blipFill>
        <p:spPr>
          <a:xfrm>
            <a:off x="2873021" y="1879752"/>
            <a:ext cx="1086331" cy="789275"/>
          </a:xfrm>
          <a:prstGeom prst="rect">
            <a:avLst/>
          </a:prstGeom>
          <a:noFill/>
          <a:ln>
            <a:noFill/>
          </a:ln>
        </p:spPr>
      </p:pic>
      <p:pic>
        <p:nvPicPr>
          <p:cNvPr id="713" name="Google Shape;713;h2627160d5792b11b_0_640" title="Ontology Taxonomy Documentation Icons.png"/>
          <p:cNvPicPr preferRelativeResize="0"/>
          <p:nvPr/>
        </p:nvPicPr>
        <p:blipFill rotWithShape="1">
          <a:blip r:embed="rId3">
            <a:alphaModFix/>
          </a:blip>
          <a:srcRect b="14185" l="2070" r="65981" t="16211"/>
          <a:stretch/>
        </p:blipFill>
        <p:spPr>
          <a:xfrm>
            <a:off x="7073705" y="1927465"/>
            <a:ext cx="1086326" cy="789275"/>
          </a:xfrm>
          <a:prstGeom prst="rect">
            <a:avLst/>
          </a:prstGeom>
          <a:noFill/>
          <a:ln>
            <a:noFill/>
          </a:ln>
        </p:spPr>
      </p:pic>
      <p:pic>
        <p:nvPicPr>
          <p:cNvPr id="714" name="Google Shape;714;h2627160d5792b11b_0_640" title="Ontology Taxonomy Documentation Icons.png"/>
          <p:cNvPicPr preferRelativeResize="0"/>
          <p:nvPr/>
        </p:nvPicPr>
        <p:blipFill rotWithShape="1">
          <a:blip r:embed="rId3">
            <a:alphaModFix/>
          </a:blip>
          <a:srcRect b="7505" l="70326" r="314" t="10116"/>
          <a:stretch/>
        </p:blipFill>
        <p:spPr>
          <a:xfrm>
            <a:off x="10404324" y="1857240"/>
            <a:ext cx="998298" cy="934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9" name="Shape 719"/>
        <p:cNvGrpSpPr/>
        <p:nvPr/>
      </p:nvGrpSpPr>
      <p:grpSpPr>
        <a:xfrm>
          <a:off x="0" y="0"/>
          <a:ext cx="0" cy="0"/>
          <a:chOff x="0" y="0"/>
          <a:chExt cx="0" cy="0"/>
        </a:xfrm>
      </p:grpSpPr>
      <p:sp>
        <p:nvSpPr>
          <p:cNvPr id="720" name="Google Shape;720;h3b1f15762288d989_1_155"/>
          <p:cNvSpPr txBox="1"/>
          <p:nvPr/>
        </p:nvSpPr>
        <p:spPr>
          <a:xfrm>
            <a:off x="804672" y="448056"/>
            <a:ext cx="107169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4 / GENERATE</a:t>
            </a:r>
            <a:endParaRPr b="0" i="0" sz="1400" u="none" cap="none" strike="noStrike">
              <a:solidFill>
                <a:srgbClr val="000000"/>
              </a:solidFill>
              <a:latin typeface="Arial"/>
              <a:ea typeface="Arial"/>
              <a:cs typeface="Arial"/>
              <a:sym typeface="Arial"/>
            </a:endParaRPr>
          </a:p>
        </p:txBody>
      </p:sp>
      <p:sp>
        <p:nvSpPr>
          <p:cNvPr id="721" name="Google Shape;721;h3b1f15762288d989_1_155"/>
          <p:cNvSpPr txBox="1"/>
          <p:nvPr/>
        </p:nvSpPr>
        <p:spPr>
          <a:xfrm>
            <a:off x="804672" y="859536"/>
            <a:ext cx="10716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LLM enriches a schema-grounded draft.</a:t>
            </a:r>
            <a:endParaRPr b="0" i="0" sz="1400" u="none" cap="none" strike="noStrike">
              <a:solidFill>
                <a:srgbClr val="000000"/>
              </a:solidFill>
              <a:latin typeface="Arial"/>
              <a:ea typeface="Arial"/>
              <a:cs typeface="Arial"/>
              <a:sym typeface="Arial"/>
            </a:endParaRPr>
          </a:p>
        </p:txBody>
      </p:sp>
      <p:sp>
        <p:nvSpPr>
          <p:cNvPr id="722" name="Google Shape;722;h3b1f15762288d989_1_155"/>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3" name="Google Shape;723;h3b1f15762288d989_1_155"/>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724" name="Google Shape;724;h3b1f15762288d989_1_155"/>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5" name="Google Shape;725;h3b1f15762288d989_1_155"/>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726" name="Google Shape;726;h3b1f15762288d989_1_155"/>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7" name="Google Shape;727;h3b1f15762288d989_1_155"/>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728" name="Google Shape;728;h3b1f15762288d989_1_155"/>
          <p:cNvSpPr/>
          <p:nvPr/>
        </p:nvSpPr>
        <p:spPr>
          <a:xfrm>
            <a:off x="6318503" y="5797296"/>
            <a:ext cx="1645800" cy="310800"/>
          </a:xfrm>
          <a:prstGeom prst="roundRect">
            <a:avLst>
              <a:gd fmla="val 10000" name="adj"/>
            </a:avLst>
          </a:prstGeom>
          <a:solidFill>
            <a:srgbClr val="0B6E4F"/>
          </a:solidFill>
          <a:ln cap="flat" cmpd="sng" w="127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9" name="Google Shape;729;h3b1f15762288d989_1_155"/>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730" name="Google Shape;730;h3b1f15762288d989_1_155"/>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1" name="Google Shape;731;h3b1f15762288d989_1_155"/>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732" name="Google Shape;732;h3b1f15762288d989_1_155"/>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3" name="Google Shape;733;h3b1f15762288d989_1_155"/>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734" name="Google Shape;734;h3b1f15762288d989_1_155"/>
          <p:cNvSpPr/>
          <p:nvPr/>
        </p:nvSpPr>
        <p:spPr>
          <a:xfrm>
            <a:off x="505750" y="1847088"/>
            <a:ext cx="3241800" cy="3749100"/>
          </a:xfrm>
          <a:prstGeom prst="roundRect">
            <a:avLst>
              <a:gd fmla="val 9800" name="adj"/>
            </a:avLst>
          </a:prstGeom>
          <a:solidFill>
            <a:srgbClr val="FFFFFF"/>
          </a:solidFill>
          <a:ln cap="flat" cmpd="sng" w="1395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h3b1f15762288d989_1_155"/>
          <p:cNvSpPr txBox="1"/>
          <p:nvPr/>
        </p:nvSpPr>
        <p:spPr>
          <a:xfrm>
            <a:off x="716065" y="1965960"/>
            <a:ext cx="28761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A434C"/>
                </a:solidFill>
                <a:latin typeface="Consolas"/>
                <a:ea typeface="Consolas"/>
                <a:cs typeface="Consolas"/>
                <a:sym typeface="Consolas"/>
              </a:rPr>
              <a:t>BEFORE  /  DIRECT MAPPING</a:t>
            </a:r>
            <a:endParaRPr b="0" i="0" sz="1400" u="none" cap="none" strike="noStrike">
              <a:solidFill>
                <a:srgbClr val="000000"/>
              </a:solidFill>
              <a:latin typeface="Arial"/>
              <a:ea typeface="Arial"/>
              <a:cs typeface="Arial"/>
              <a:sym typeface="Arial"/>
            </a:endParaRPr>
          </a:p>
        </p:txBody>
      </p:sp>
      <p:sp>
        <p:nvSpPr>
          <p:cNvPr id="736" name="Google Shape;736;h3b1f15762288d989_1_155"/>
          <p:cNvSpPr/>
          <p:nvPr/>
        </p:nvSpPr>
        <p:spPr>
          <a:xfrm>
            <a:off x="4736600" y="1847088"/>
            <a:ext cx="6785100" cy="3749100"/>
          </a:xfrm>
          <a:prstGeom prst="roundRect">
            <a:avLst>
              <a:gd fmla="val 7282" name="adj"/>
            </a:avLst>
          </a:prstGeom>
          <a:solidFill>
            <a:srgbClr val="F3F5F4"/>
          </a:solidFill>
          <a:ln cap="flat" cmpd="sng" w="13950">
            <a:solidFill>
              <a:srgbClr val="3A7D8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h3b1f15762288d989_1_155"/>
          <p:cNvSpPr/>
          <p:nvPr/>
        </p:nvSpPr>
        <p:spPr>
          <a:xfrm>
            <a:off x="652054" y="2249424"/>
            <a:ext cx="2949300" cy="3237000"/>
          </a:xfrm>
          <a:prstGeom prst="roundRect">
            <a:avLst>
              <a:gd fmla="val 474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8" name="Google Shape;738;h3b1f15762288d989_1_155"/>
          <p:cNvSpPr/>
          <p:nvPr/>
        </p:nvSpPr>
        <p:spPr>
          <a:xfrm>
            <a:off x="4948400" y="2249425"/>
            <a:ext cx="6326400" cy="3237000"/>
          </a:xfrm>
          <a:prstGeom prst="roundRect">
            <a:avLst>
              <a:gd fmla="val 5554"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9" name="Google Shape;739;h3b1f15762288d989_1_155"/>
          <p:cNvSpPr txBox="1"/>
          <p:nvPr/>
        </p:nvSpPr>
        <p:spPr>
          <a:xfrm>
            <a:off x="652054" y="2322576"/>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Class:</a:t>
            </a:r>
            <a:r>
              <a:rPr b="0" i="0" lang="en-US" sz="1100" u="none" cap="none" strike="noStrike">
                <a:solidFill>
                  <a:srgbClr val="1F2328"/>
                </a:solidFill>
                <a:latin typeface="Consolas"/>
                <a:ea typeface="Consolas"/>
                <a:cs typeface="Consolas"/>
                <a:sym typeface="Consolas"/>
              </a:rPr>
              <a:t> Admission</a:t>
            </a:r>
            <a:endParaRPr b="0" i="0" sz="1100" u="none" cap="none" strike="noStrike">
              <a:solidFill>
                <a:srgbClr val="000000"/>
              </a:solidFill>
              <a:latin typeface="Arial"/>
              <a:ea typeface="Arial"/>
              <a:cs typeface="Arial"/>
              <a:sym typeface="Arial"/>
            </a:endParaRPr>
          </a:p>
        </p:txBody>
      </p:sp>
      <p:sp>
        <p:nvSpPr>
          <p:cNvPr id="740" name="Google Shape;740;h3b1f15762288d989_1_155"/>
          <p:cNvSpPr txBox="1"/>
          <p:nvPr/>
        </p:nvSpPr>
        <p:spPr>
          <a:xfrm>
            <a:off x="5038352" y="2322576"/>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Class:</a:t>
            </a:r>
            <a:r>
              <a:rPr b="0" i="0" lang="en-US" sz="1100" u="none" cap="none" strike="noStrike">
                <a:solidFill>
                  <a:srgbClr val="1F2328"/>
                </a:solidFill>
                <a:latin typeface="Consolas"/>
                <a:ea typeface="Consolas"/>
                <a:cs typeface="Consolas"/>
                <a:sym typeface="Consolas"/>
              </a:rPr>
              <a:t> Admission</a:t>
            </a:r>
            <a:endParaRPr b="0" i="0" sz="1100" u="none" cap="none" strike="noStrike">
              <a:solidFill>
                <a:srgbClr val="000000"/>
              </a:solidFill>
              <a:latin typeface="Arial"/>
              <a:ea typeface="Arial"/>
              <a:cs typeface="Arial"/>
              <a:sym typeface="Arial"/>
            </a:endParaRPr>
          </a:p>
        </p:txBody>
      </p:sp>
      <p:sp>
        <p:nvSpPr>
          <p:cNvPr id="741" name="Google Shape;741;h3b1f15762288d989_1_155"/>
          <p:cNvSpPr txBox="1"/>
          <p:nvPr/>
        </p:nvSpPr>
        <p:spPr>
          <a:xfrm>
            <a:off x="652054" y="2485242"/>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SubClassOf:</a:t>
            </a:r>
            <a:endParaRPr b="0" i="0" sz="1100" u="none" cap="none" strike="noStrike">
              <a:solidFill>
                <a:srgbClr val="000000"/>
              </a:solidFill>
              <a:latin typeface="Arial"/>
              <a:ea typeface="Arial"/>
              <a:cs typeface="Arial"/>
              <a:sym typeface="Arial"/>
            </a:endParaRPr>
          </a:p>
        </p:txBody>
      </p:sp>
      <p:sp>
        <p:nvSpPr>
          <p:cNvPr id="742" name="Google Shape;742;h3b1f15762288d989_1_155"/>
          <p:cNvSpPr txBox="1"/>
          <p:nvPr/>
        </p:nvSpPr>
        <p:spPr>
          <a:xfrm>
            <a:off x="5038352" y="2485242"/>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SubClassOf:</a:t>
            </a:r>
            <a:endParaRPr b="0" i="0" sz="1100" u="none" cap="none" strike="noStrike">
              <a:solidFill>
                <a:srgbClr val="000000"/>
              </a:solidFill>
              <a:latin typeface="Arial"/>
              <a:ea typeface="Arial"/>
              <a:cs typeface="Arial"/>
              <a:sym typeface="Arial"/>
            </a:endParaRPr>
          </a:p>
        </p:txBody>
      </p:sp>
      <p:sp>
        <p:nvSpPr>
          <p:cNvPr id="743" name="Google Shape;743;h3b1f15762288d989_1_155"/>
          <p:cNvSpPr txBox="1"/>
          <p:nvPr/>
        </p:nvSpPr>
        <p:spPr>
          <a:xfrm>
            <a:off x="652054" y="2647909"/>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admission_id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44" name="Google Shape;744;h3b1f15762288d989_1_155"/>
          <p:cNvSpPr txBox="1"/>
          <p:nvPr/>
        </p:nvSpPr>
        <p:spPr>
          <a:xfrm>
            <a:off x="5038352" y="2647909"/>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admission_id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45" name="Google Shape;745;h3b1f15762288d989_1_155"/>
          <p:cNvSpPr txBox="1"/>
          <p:nvPr/>
        </p:nvSpPr>
        <p:spPr>
          <a:xfrm>
            <a:off x="652054" y="2810576"/>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patient_id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PatientData,</a:t>
            </a:r>
            <a:endParaRPr b="0" i="0" sz="1100" u="none" cap="none" strike="noStrike">
              <a:solidFill>
                <a:srgbClr val="000000"/>
              </a:solidFill>
              <a:latin typeface="Arial"/>
              <a:ea typeface="Arial"/>
              <a:cs typeface="Arial"/>
              <a:sym typeface="Arial"/>
            </a:endParaRPr>
          </a:p>
        </p:txBody>
      </p:sp>
      <p:sp>
        <p:nvSpPr>
          <p:cNvPr id="746" name="Google Shape;746;h3b1f15762288d989_1_155"/>
          <p:cNvSpPr txBox="1"/>
          <p:nvPr/>
        </p:nvSpPr>
        <p:spPr>
          <a:xfrm>
            <a:off x="5038100" y="2805813"/>
            <a:ext cx="5093400" cy="172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lang="en-US" sz="1100">
                <a:solidFill>
                  <a:srgbClr val="1F2328"/>
                </a:solidFill>
                <a:latin typeface="Consolas"/>
                <a:ea typeface="Consolas"/>
                <a:cs typeface="Consolas"/>
                <a:sym typeface="Consolas"/>
              </a:rPr>
              <a:t>patient_id</a:t>
            </a: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PatientData,</a:t>
            </a:r>
            <a:endParaRPr b="0" i="0" sz="1100" u="none" cap="none" strike="noStrike">
              <a:solidFill>
                <a:srgbClr val="000000"/>
              </a:solidFill>
              <a:latin typeface="Arial"/>
              <a:ea typeface="Arial"/>
              <a:cs typeface="Arial"/>
              <a:sym typeface="Arial"/>
            </a:endParaRPr>
          </a:p>
        </p:txBody>
      </p:sp>
      <p:sp>
        <p:nvSpPr>
          <p:cNvPr id="747" name="Google Shape;747;h3b1f15762288d989_1_155"/>
          <p:cNvSpPr txBox="1"/>
          <p:nvPr/>
        </p:nvSpPr>
        <p:spPr>
          <a:xfrm>
            <a:off x="652054" y="2973243"/>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BM_DEP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48" name="Google Shape;748;h3b1f15762288d989_1_155"/>
          <p:cNvSpPr txBox="1"/>
          <p:nvPr/>
        </p:nvSpPr>
        <p:spPr>
          <a:xfrm>
            <a:off x="5038352" y="2973243"/>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BM_DEP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49" name="Google Shape;749;h3b1f15762288d989_1_155"/>
          <p:cNvSpPr txBox="1"/>
          <p:nvPr/>
        </p:nvSpPr>
        <p:spPr>
          <a:xfrm>
            <a:off x="652054" y="3135910"/>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ecog_stage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endParaRPr b="0" i="0" sz="1100" u="none" cap="none" strike="noStrike">
              <a:solidFill>
                <a:srgbClr val="000000"/>
              </a:solidFill>
              <a:latin typeface="Arial"/>
              <a:ea typeface="Arial"/>
              <a:cs typeface="Arial"/>
              <a:sym typeface="Arial"/>
            </a:endParaRPr>
          </a:p>
        </p:txBody>
      </p:sp>
      <p:sp>
        <p:nvSpPr>
          <p:cNvPr id="750" name="Google Shape;750;h3b1f15762288d989_1_155"/>
          <p:cNvSpPr txBox="1"/>
          <p:nvPr/>
        </p:nvSpPr>
        <p:spPr>
          <a:xfrm>
            <a:off x="5038352" y="3135910"/>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ecog_stage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endParaRPr b="0" i="0" sz="1100" u="none" cap="none" strike="noStrike">
              <a:solidFill>
                <a:srgbClr val="000000"/>
              </a:solidFill>
              <a:latin typeface="Arial"/>
              <a:ea typeface="Arial"/>
              <a:cs typeface="Arial"/>
              <a:sym typeface="Arial"/>
            </a:endParaRPr>
          </a:p>
        </p:txBody>
      </p:sp>
      <p:sp>
        <p:nvSpPr>
          <p:cNvPr id="751" name="Google Shape;751;h3b1f15762288d989_1_155"/>
          <p:cNvSpPr txBox="1"/>
          <p:nvPr/>
        </p:nvSpPr>
        <p:spPr>
          <a:xfrm>
            <a:off x="652054" y="3461244"/>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admission_id</a:t>
            </a:r>
            <a:endParaRPr b="0" i="0" sz="1100" u="none" cap="none" strike="noStrike">
              <a:solidFill>
                <a:srgbClr val="000000"/>
              </a:solidFill>
              <a:latin typeface="Arial"/>
              <a:ea typeface="Arial"/>
              <a:cs typeface="Arial"/>
              <a:sym typeface="Arial"/>
            </a:endParaRPr>
          </a:p>
        </p:txBody>
      </p:sp>
      <p:sp>
        <p:nvSpPr>
          <p:cNvPr id="752" name="Google Shape;752;h3b1f15762288d989_1_155"/>
          <p:cNvSpPr txBox="1"/>
          <p:nvPr/>
        </p:nvSpPr>
        <p:spPr>
          <a:xfrm>
            <a:off x="5038352" y="3461244"/>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admission_id</a:t>
            </a:r>
            <a:endParaRPr b="0" i="0" sz="1100" u="none" cap="none" strike="noStrike">
              <a:solidFill>
                <a:srgbClr val="000000"/>
              </a:solidFill>
              <a:latin typeface="Arial"/>
              <a:ea typeface="Arial"/>
              <a:cs typeface="Arial"/>
              <a:sym typeface="Arial"/>
            </a:endParaRPr>
          </a:p>
        </p:txBody>
      </p:sp>
      <p:sp>
        <p:nvSpPr>
          <p:cNvPr id="753" name="Google Shape;753;h3b1f15762288d989_1_155"/>
          <p:cNvSpPr txBox="1"/>
          <p:nvPr/>
        </p:nvSpPr>
        <p:spPr>
          <a:xfrm>
            <a:off x="652054" y="3623911"/>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ObjectProperty:</a:t>
            </a:r>
            <a:r>
              <a:rPr b="0" i="0" lang="en-US" sz="1100" u="none" cap="none" strike="noStrike">
                <a:solidFill>
                  <a:srgbClr val="1F2328"/>
                </a:solidFill>
                <a:latin typeface="Consolas"/>
                <a:ea typeface="Consolas"/>
                <a:cs typeface="Consolas"/>
                <a:sym typeface="Consolas"/>
              </a:rPr>
              <a:t> patient_id</a:t>
            </a:r>
            <a:endParaRPr b="0" i="0" sz="1100" u="none" cap="none" strike="noStrike">
              <a:solidFill>
                <a:srgbClr val="000000"/>
              </a:solidFill>
              <a:latin typeface="Arial"/>
              <a:ea typeface="Arial"/>
              <a:cs typeface="Arial"/>
              <a:sym typeface="Arial"/>
            </a:endParaRPr>
          </a:p>
        </p:txBody>
      </p:sp>
      <p:sp>
        <p:nvSpPr>
          <p:cNvPr id="754" name="Google Shape;754;h3b1f15762288d989_1_155"/>
          <p:cNvSpPr txBox="1"/>
          <p:nvPr/>
        </p:nvSpPr>
        <p:spPr>
          <a:xfrm>
            <a:off x="5038349" y="3623900"/>
            <a:ext cx="3859800" cy="172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ObjectProperty:</a:t>
            </a:r>
            <a:r>
              <a:rPr b="0" i="0" lang="en-US" sz="1100" u="none" cap="none" strike="noStrike">
                <a:solidFill>
                  <a:srgbClr val="1F2328"/>
                </a:solidFill>
                <a:latin typeface="Consolas"/>
                <a:ea typeface="Consolas"/>
                <a:cs typeface="Consolas"/>
                <a:sym typeface="Consolas"/>
              </a:rPr>
              <a:t> </a:t>
            </a:r>
            <a:r>
              <a:rPr lang="en-US" sz="1100">
                <a:solidFill>
                  <a:srgbClr val="1F2328"/>
                </a:solidFill>
                <a:latin typeface="Consolas"/>
                <a:ea typeface="Consolas"/>
                <a:cs typeface="Consolas"/>
                <a:sym typeface="Consolas"/>
              </a:rPr>
              <a:t>patient_id</a:t>
            </a:r>
            <a:endParaRPr b="0" i="0" sz="1100" u="none" cap="none" strike="noStrike">
              <a:solidFill>
                <a:srgbClr val="000000"/>
              </a:solidFill>
              <a:latin typeface="Arial"/>
              <a:ea typeface="Arial"/>
              <a:cs typeface="Arial"/>
              <a:sym typeface="Arial"/>
            </a:endParaRPr>
          </a:p>
        </p:txBody>
      </p:sp>
      <p:sp>
        <p:nvSpPr>
          <p:cNvPr id="755" name="Google Shape;755;h3b1f15762288d989_1_155"/>
          <p:cNvSpPr txBox="1"/>
          <p:nvPr/>
        </p:nvSpPr>
        <p:spPr>
          <a:xfrm>
            <a:off x="652054" y="3786578"/>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BM_DEP</a:t>
            </a:r>
            <a:endParaRPr b="0" i="0" sz="1100" u="none" cap="none" strike="noStrike">
              <a:solidFill>
                <a:srgbClr val="000000"/>
              </a:solidFill>
              <a:latin typeface="Arial"/>
              <a:ea typeface="Arial"/>
              <a:cs typeface="Arial"/>
              <a:sym typeface="Arial"/>
            </a:endParaRPr>
          </a:p>
        </p:txBody>
      </p:sp>
      <p:sp>
        <p:nvSpPr>
          <p:cNvPr id="756" name="Google Shape;756;h3b1f15762288d989_1_155"/>
          <p:cNvSpPr txBox="1"/>
          <p:nvPr/>
        </p:nvSpPr>
        <p:spPr>
          <a:xfrm>
            <a:off x="5038352" y="3786578"/>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BM_DEP</a:t>
            </a:r>
            <a:endParaRPr b="0" i="0" sz="1100" u="none" cap="none" strike="noStrike">
              <a:solidFill>
                <a:srgbClr val="000000"/>
              </a:solidFill>
              <a:latin typeface="Arial"/>
              <a:ea typeface="Arial"/>
              <a:cs typeface="Arial"/>
              <a:sym typeface="Arial"/>
            </a:endParaRPr>
          </a:p>
        </p:txBody>
      </p:sp>
      <p:sp>
        <p:nvSpPr>
          <p:cNvPr id="757" name="Google Shape;757;h3b1f15762288d989_1_155"/>
          <p:cNvSpPr txBox="1"/>
          <p:nvPr/>
        </p:nvSpPr>
        <p:spPr>
          <a:xfrm>
            <a:off x="652054" y="4599913"/>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ecog_stage</a:t>
            </a:r>
            <a:endParaRPr b="0" i="0" sz="1100" u="none" cap="none" strike="noStrike">
              <a:solidFill>
                <a:srgbClr val="000000"/>
              </a:solidFill>
              <a:latin typeface="Arial"/>
              <a:ea typeface="Arial"/>
              <a:cs typeface="Arial"/>
              <a:sym typeface="Arial"/>
            </a:endParaRPr>
          </a:p>
        </p:txBody>
      </p:sp>
      <p:sp>
        <p:nvSpPr>
          <p:cNvPr id="758" name="Google Shape;758;h3b1f15762288d989_1_155"/>
          <p:cNvSpPr txBox="1"/>
          <p:nvPr/>
        </p:nvSpPr>
        <p:spPr>
          <a:xfrm>
            <a:off x="5038352" y="4599913"/>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ecog_stage</a:t>
            </a:r>
            <a:endParaRPr b="0" i="0" sz="1100" u="none" cap="none" strike="noStrike">
              <a:solidFill>
                <a:srgbClr val="000000"/>
              </a:solidFill>
              <a:latin typeface="Arial"/>
              <a:ea typeface="Arial"/>
              <a:cs typeface="Arial"/>
              <a:sym typeface="Arial"/>
            </a:endParaRPr>
          </a:p>
        </p:txBody>
      </p:sp>
      <p:sp>
        <p:nvSpPr>
          <p:cNvPr id="759" name="Google Shape;759;h3b1f15762288d989_1_155"/>
          <p:cNvSpPr txBox="1"/>
          <p:nvPr/>
        </p:nvSpPr>
        <p:spPr>
          <a:xfrm>
            <a:off x="804672" y="1422410"/>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We prompt the </a:t>
            </a:r>
            <a:r>
              <a:rPr b="1" i="1" lang="en-US" sz="1600" u="none" cap="none" strike="noStrike">
                <a:solidFill>
                  <a:srgbClr val="3A434C"/>
                </a:solidFill>
                <a:latin typeface="Calibri"/>
                <a:ea typeface="Calibri"/>
                <a:cs typeface="Calibri"/>
                <a:sym typeface="Calibri"/>
              </a:rPr>
              <a:t>Gen-LLM</a:t>
            </a:r>
            <a:r>
              <a:rPr b="0" i="0" lang="en-US" sz="1600" u="none" cap="none" strike="noStrike">
                <a:solidFill>
                  <a:srgbClr val="3A434C"/>
                </a:solidFill>
                <a:latin typeface="Calibri"/>
                <a:ea typeface="Calibri"/>
                <a:cs typeface="Calibri"/>
                <a:sym typeface="Calibri"/>
              </a:rPr>
              <a:t> with the </a:t>
            </a:r>
            <a:r>
              <a:rPr b="1" i="0" lang="en-US" sz="1600" u="none" cap="none" strike="noStrike">
                <a:solidFill>
                  <a:srgbClr val="3A434C"/>
                </a:solidFill>
                <a:latin typeface="Calibri"/>
                <a:ea typeface="Calibri"/>
                <a:cs typeface="Calibri"/>
                <a:sym typeface="Calibri"/>
              </a:rPr>
              <a:t>direct mapping</a:t>
            </a:r>
            <a:r>
              <a:rPr b="0" i="0" lang="en-US" sz="1600" u="none" cap="none" strike="noStrike">
                <a:solidFill>
                  <a:srgbClr val="3A434C"/>
                </a:solidFill>
                <a:latin typeface="Calibri"/>
                <a:ea typeface="Calibri"/>
                <a:cs typeface="Calibri"/>
                <a:sym typeface="Calibri"/>
              </a:rPr>
              <a:t>, the </a:t>
            </a:r>
            <a:r>
              <a:rPr b="1" i="0" lang="en-US" sz="1600" u="none" cap="none" strike="noStrike">
                <a:solidFill>
                  <a:srgbClr val="3A434C"/>
                </a:solidFill>
                <a:latin typeface="Calibri"/>
                <a:ea typeface="Calibri"/>
                <a:cs typeface="Calibri"/>
                <a:sym typeface="Calibri"/>
              </a:rPr>
              <a:t>retrieved context</a:t>
            </a:r>
            <a:r>
              <a:rPr b="0" i="0" lang="en-US" sz="1600" u="none" cap="none" strike="noStrike">
                <a:solidFill>
                  <a:srgbClr val="3A434C"/>
                </a:solidFill>
                <a:latin typeface="Calibri"/>
                <a:ea typeface="Calibri"/>
                <a:cs typeface="Calibri"/>
                <a:sym typeface="Calibri"/>
              </a:rPr>
              <a:t>, and </a:t>
            </a:r>
            <a:r>
              <a:rPr b="1" i="0" lang="en-US" sz="1600" u="none" cap="none" strike="noStrike">
                <a:solidFill>
                  <a:srgbClr val="3A434C"/>
                </a:solidFill>
                <a:latin typeface="Calibri"/>
                <a:ea typeface="Calibri"/>
                <a:cs typeface="Calibri"/>
                <a:sym typeface="Calibri"/>
              </a:rPr>
              <a:t>semantic enrichment instructions</a:t>
            </a:r>
            <a:r>
              <a:rPr b="0" i="0" lang="en-US" sz="1600" u="none" cap="none" strike="noStrike">
                <a:solidFill>
                  <a:srgbClr val="3A434C"/>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4" name="Shape 764"/>
        <p:cNvGrpSpPr/>
        <p:nvPr/>
      </p:nvGrpSpPr>
      <p:grpSpPr>
        <a:xfrm>
          <a:off x="0" y="0"/>
          <a:ext cx="0" cy="0"/>
          <a:chOff x="0" y="0"/>
          <a:chExt cx="0" cy="0"/>
        </a:xfrm>
      </p:grpSpPr>
      <p:sp>
        <p:nvSpPr>
          <p:cNvPr id="765" name="Google Shape;765;h4e1cd23050cdd6e6_1_329"/>
          <p:cNvSpPr txBox="1"/>
          <p:nvPr/>
        </p:nvSpPr>
        <p:spPr>
          <a:xfrm>
            <a:off x="804672" y="448056"/>
            <a:ext cx="107169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4 / GENERATE</a:t>
            </a:r>
            <a:endParaRPr b="0" i="0" sz="1400" u="none" cap="none" strike="noStrike">
              <a:solidFill>
                <a:srgbClr val="000000"/>
              </a:solidFill>
              <a:latin typeface="Arial"/>
              <a:ea typeface="Arial"/>
              <a:cs typeface="Arial"/>
              <a:sym typeface="Arial"/>
            </a:endParaRPr>
          </a:p>
        </p:txBody>
      </p:sp>
      <p:sp>
        <p:nvSpPr>
          <p:cNvPr id="766" name="Google Shape;766;h4e1cd23050cdd6e6_1_329"/>
          <p:cNvSpPr txBox="1"/>
          <p:nvPr/>
        </p:nvSpPr>
        <p:spPr>
          <a:xfrm>
            <a:off x="804672" y="859536"/>
            <a:ext cx="10716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LLM enriches a schema-grounded draft.</a:t>
            </a:r>
            <a:endParaRPr b="0" i="0" sz="1400" u="none" cap="none" strike="noStrike">
              <a:solidFill>
                <a:srgbClr val="000000"/>
              </a:solidFill>
              <a:latin typeface="Arial"/>
              <a:ea typeface="Arial"/>
              <a:cs typeface="Arial"/>
              <a:sym typeface="Arial"/>
            </a:endParaRPr>
          </a:p>
        </p:txBody>
      </p:sp>
      <p:sp>
        <p:nvSpPr>
          <p:cNvPr id="767" name="Google Shape;767;h4e1cd23050cdd6e6_1_329"/>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8" name="Google Shape;768;h4e1cd23050cdd6e6_1_329"/>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769" name="Google Shape;769;h4e1cd23050cdd6e6_1_329"/>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0" name="Google Shape;770;h4e1cd23050cdd6e6_1_329"/>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771" name="Google Shape;771;h4e1cd23050cdd6e6_1_329"/>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2" name="Google Shape;772;h4e1cd23050cdd6e6_1_329"/>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773" name="Google Shape;773;h4e1cd23050cdd6e6_1_329"/>
          <p:cNvSpPr/>
          <p:nvPr/>
        </p:nvSpPr>
        <p:spPr>
          <a:xfrm>
            <a:off x="6318503" y="5797296"/>
            <a:ext cx="1645800" cy="310800"/>
          </a:xfrm>
          <a:prstGeom prst="roundRect">
            <a:avLst>
              <a:gd fmla="val 10000" name="adj"/>
            </a:avLst>
          </a:prstGeom>
          <a:solidFill>
            <a:srgbClr val="0B6E4F"/>
          </a:solidFill>
          <a:ln cap="flat" cmpd="sng" w="127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4" name="Google Shape;774;h4e1cd23050cdd6e6_1_329"/>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775" name="Google Shape;775;h4e1cd23050cdd6e6_1_329"/>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6" name="Google Shape;776;h4e1cd23050cdd6e6_1_329"/>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777" name="Google Shape;777;h4e1cd23050cdd6e6_1_329"/>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8" name="Google Shape;778;h4e1cd23050cdd6e6_1_329"/>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779" name="Google Shape;779;h4e1cd23050cdd6e6_1_329"/>
          <p:cNvSpPr/>
          <p:nvPr/>
        </p:nvSpPr>
        <p:spPr>
          <a:xfrm>
            <a:off x="505750" y="1847088"/>
            <a:ext cx="3241800" cy="3749100"/>
          </a:xfrm>
          <a:prstGeom prst="roundRect">
            <a:avLst>
              <a:gd fmla="val 9800" name="adj"/>
            </a:avLst>
          </a:prstGeom>
          <a:solidFill>
            <a:srgbClr val="FFFFFF"/>
          </a:solidFill>
          <a:ln cap="flat" cmpd="sng" w="1395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h4e1cd23050cdd6e6_1_329"/>
          <p:cNvSpPr txBox="1"/>
          <p:nvPr/>
        </p:nvSpPr>
        <p:spPr>
          <a:xfrm>
            <a:off x="716065" y="1965960"/>
            <a:ext cx="28761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A434C"/>
                </a:solidFill>
                <a:latin typeface="Consolas"/>
                <a:ea typeface="Consolas"/>
                <a:cs typeface="Consolas"/>
                <a:sym typeface="Consolas"/>
              </a:rPr>
              <a:t>BEFORE  /  DIRECT MAPPING</a:t>
            </a:r>
            <a:endParaRPr b="0" i="0" sz="1400" u="none" cap="none" strike="noStrike">
              <a:solidFill>
                <a:srgbClr val="000000"/>
              </a:solidFill>
              <a:latin typeface="Arial"/>
              <a:ea typeface="Arial"/>
              <a:cs typeface="Arial"/>
              <a:sym typeface="Arial"/>
            </a:endParaRPr>
          </a:p>
        </p:txBody>
      </p:sp>
      <p:sp>
        <p:nvSpPr>
          <p:cNvPr id="781" name="Google Shape;781;h4e1cd23050cdd6e6_1_329"/>
          <p:cNvSpPr txBox="1"/>
          <p:nvPr/>
        </p:nvSpPr>
        <p:spPr>
          <a:xfrm>
            <a:off x="3858768" y="3831336"/>
            <a:ext cx="832200" cy="184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B6E4F"/>
                </a:solidFill>
                <a:latin typeface="Consolas"/>
                <a:ea typeface="Consolas"/>
                <a:cs typeface="Consolas"/>
                <a:sym typeface="Consolas"/>
              </a:rPr>
              <a:t>Gen-LLM</a:t>
            </a:r>
            <a:endParaRPr b="0" i="0" sz="1400" u="none" cap="none" strike="noStrike">
              <a:solidFill>
                <a:srgbClr val="000000"/>
              </a:solidFill>
              <a:latin typeface="Arial"/>
              <a:ea typeface="Arial"/>
              <a:cs typeface="Arial"/>
              <a:sym typeface="Arial"/>
            </a:endParaRPr>
          </a:p>
        </p:txBody>
      </p:sp>
      <p:sp>
        <p:nvSpPr>
          <p:cNvPr id="782" name="Google Shape;782;h4e1cd23050cdd6e6_1_329"/>
          <p:cNvSpPr/>
          <p:nvPr/>
        </p:nvSpPr>
        <p:spPr>
          <a:xfrm>
            <a:off x="4736600" y="1847088"/>
            <a:ext cx="6785100" cy="3749100"/>
          </a:xfrm>
          <a:prstGeom prst="roundRect">
            <a:avLst>
              <a:gd fmla="val 7282" name="adj"/>
            </a:avLst>
          </a:prstGeom>
          <a:solidFill>
            <a:srgbClr val="F3F5F4"/>
          </a:solidFill>
          <a:ln cap="flat" cmpd="sng" w="13950">
            <a:solidFill>
              <a:srgbClr val="3A7D8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h4e1cd23050cdd6e6_1_329"/>
          <p:cNvSpPr txBox="1"/>
          <p:nvPr/>
        </p:nvSpPr>
        <p:spPr>
          <a:xfrm>
            <a:off x="5079717" y="1965960"/>
            <a:ext cx="6016800" cy="223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2F6B78"/>
                </a:solidFill>
                <a:latin typeface="Consolas"/>
                <a:ea typeface="Consolas"/>
                <a:cs typeface="Consolas"/>
                <a:sym typeface="Consolas"/>
              </a:rPr>
              <a:t>AFTER  /  ENRICHED ΔOᵣ (delta ontology)</a:t>
            </a:r>
            <a:endParaRPr b="0" i="0" sz="1400" u="none" cap="none" strike="noStrike">
              <a:solidFill>
                <a:srgbClr val="000000"/>
              </a:solidFill>
              <a:latin typeface="Arial"/>
              <a:ea typeface="Arial"/>
              <a:cs typeface="Arial"/>
              <a:sym typeface="Arial"/>
            </a:endParaRPr>
          </a:p>
        </p:txBody>
      </p:sp>
      <p:sp>
        <p:nvSpPr>
          <p:cNvPr id="784" name="Google Shape;784;h4e1cd23050cdd6e6_1_329"/>
          <p:cNvSpPr/>
          <p:nvPr/>
        </p:nvSpPr>
        <p:spPr>
          <a:xfrm>
            <a:off x="4037163" y="3419856"/>
            <a:ext cx="429600" cy="384000"/>
          </a:xfrm>
          <a:prstGeom prst="rightArrow">
            <a:avLst>
              <a:gd fmla="val 50000" name="adj1"/>
              <a:gd fmla="val 50000" name="adj2"/>
            </a:avLst>
          </a:prstGeom>
          <a:solidFill>
            <a:srgbClr val="0B6E4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h4e1cd23050cdd6e6_1_329"/>
          <p:cNvSpPr/>
          <p:nvPr/>
        </p:nvSpPr>
        <p:spPr>
          <a:xfrm>
            <a:off x="652054" y="2249424"/>
            <a:ext cx="2949300" cy="3237000"/>
          </a:xfrm>
          <a:prstGeom prst="roundRect">
            <a:avLst>
              <a:gd fmla="val 474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6" name="Google Shape;786;h4e1cd23050cdd6e6_1_329"/>
          <p:cNvSpPr/>
          <p:nvPr/>
        </p:nvSpPr>
        <p:spPr>
          <a:xfrm>
            <a:off x="4948400" y="2249425"/>
            <a:ext cx="6326400" cy="3237000"/>
          </a:xfrm>
          <a:prstGeom prst="roundRect">
            <a:avLst>
              <a:gd fmla="val 5554"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7" name="Google Shape;787;h4e1cd23050cdd6e6_1_329"/>
          <p:cNvSpPr txBox="1"/>
          <p:nvPr/>
        </p:nvSpPr>
        <p:spPr>
          <a:xfrm>
            <a:off x="652054" y="2322576"/>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Class:</a:t>
            </a:r>
            <a:r>
              <a:rPr b="0" i="0" lang="en-US" sz="1100" u="none" cap="none" strike="noStrike">
                <a:solidFill>
                  <a:srgbClr val="1F2328"/>
                </a:solidFill>
                <a:latin typeface="Consolas"/>
                <a:ea typeface="Consolas"/>
                <a:cs typeface="Consolas"/>
                <a:sym typeface="Consolas"/>
              </a:rPr>
              <a:t> Admission</a:t>
            </a:r>
            <a:endParaRPr b="0" i="0" sz="1100" u="none" cap="none" strike="noStrike">
              <a:solidFill>
                <a:srgbClr val="000000"/>
              </a:solidFill>
              <a:latin typeface="Arial"/>
              <a:ea typeface="Arial"/>
              <a:cs typeface="Arial"/>
              <a:sym typeface="Arial"/>
            </a:endParaRPr>
          </a:p>
        </p:txBody>
      </p:sp>
      <p:sp>
        <p:nvSpPr>
          <p:cNvPr id="788" name="Google Shape;788;h4e1cd23050cdd6e6_1_329"/>
          <p:cNvSpPr txBox="1"/>
          <p:nvPr/>
        </p:nvSpPr>
        <p:spPr>
          <a:xfrm>
            <a:off x="5038352" y="2322576"/>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Class:</a:t>
            </a:r>
            <a:r>
              <a:rPr b="0" i="0" lang="en-US" sz="1100" u="none" cap="none" strike="noStrike">
                <a:solidFill>
                  <a:srgbClr val="1F2328"/>
                </a:solidFill>
                <a:latin typeface="Consolas"/>
                <a:ea typeface="Consolas"/>
                <a:cs typeface="Consolas"/>
                <a:sym typeface="Consolas"/>
              </a:rPr>
              <a:t> Admission</a:t>
            </a:r>
            <a:endParaRPr b="0" i="0" sz="1100" u="none" cap="none" strike="noStrike">
              <a:solidFill>
                <a:srgbClr val="000000"/>
              </a:solidFill>
              <a:latin typeface="Arial"/>
              <a:ea typeface="Arial"/>
              <a:cs typeface="Arial"/>
              <a:sym typeface="Arial"/>
            </a:endParaRPr>
          </a:p>
        </p:txBody>
      </p:sp>
      <p:sp>
        <p:nvSpPr>
          <p:cNvPr id="789" name="Google Shape;789;h4e1cd23050cdd6e6_1_329"/>
          <p:cNvSpPr txBox="1"/>
          <p:nvPr/>
        </p:nvSpPr>
        <p:spPr>
          <a:xfrm>
            <a:off x="652054" y="2485242"/>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SubClassOf:</a:t>
            </a:r>
            <a:endParaRPr b="0" i="0" sz="1100" u="none" cap="none" strike="noStrike">
              <a:solidFill>
                <a:srgbClr val="000000"/>
              </a:solidFill>
              <a:latin typeface="Arial"/>
              <a:ea typeface="Arial"/>
              <a:cs typeface="Arial"/>
              <a:sym typeface="Arial"/>
            </a:endParaRPr>
          </a:p>
        </p:txBody>
      </p:sp>
      <p:sp>
        <p:nvSpPr>
          <p:cNvPr id="790" name="Google Shape;790;h4e1cd23050cdd6e6_1_329"/>
          <p:cNvSpPr txBox="1"/>
          <p:nvPr/>
        </p:nvSpPr>
        <p:spPr>
          <a:xfrm>
            <a:off x="5038352" y="2485242"/>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SubClassOf:</a:t>
            </a:r>
            <a:endParaRPr b="0" i="0" sz="1100" u="none" cap="none" strike="noStrike">
              <a:solidFill>
                <a:srgbClr val="000000"/>
              </a:solidFill>
              <a:latin typeface="Arial"/>
              <a:ea typeface="Arial"/>
              <a:cs typeface="Arial"/>
              <a:sym typeface="Arial"/>
            </a:endParaRPr>
          </a:p>
        </p:txBody>
      </p:sp>
      <p:sp>
        <p:nvSpPr>
          <p:cNvPr id="791" name="Google Shape;791;h4e1cd23050cdd6e6_1_329"/>
          <p:cNvSpPr txBox="1"/>
          <p:nvPr/>
        </p:nvSpPr>
        <p:spPr>
          <a:xfrm>
            <a:off x="652054" y="2647909"/>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admission_id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92" name="Google Shape;792;h4e1cd23050cdd6e6_1_329"/>
          <p:cNvSpPr txBox="1"/>
          <p:nvPr/>
        </p:nvSpPr>
        <p:spPr>
          <a:xfrm>
            <a:off x="5038352" y="2647909"/>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admission_id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93" name="Google Shape;793;h4e1cd23050cdd6e6_1_329"/>
          <p:cNvSpPr txBox="1"/>
          <p:nvPr/>
        </p:nvSpPr>
        <p:spPr>
          <a:xfrm>
            <a:off x="652054" y="2810576"/>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patient_id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PatientData,</a:t>
            </a:r>
            <a:endParaRPr b="0" i="0" sz="1100" u="none" cap="none" strike="noStrike">
              <a:solidFill>
                <a:srgbClr val="000000"/>
              </a:solidFill>
              <a:latin typeface="Arial"/>
              <a:ea typeface="Arial"/>
              <a:cs typeface="Arial"/>
              <a:sym typeface="Arial"/>
            </a:endParaRPr>
          </a:p>
        </p:txBody>
      </p:sp>
      <p:sp>
        <p:nvSpPr>
          <p:cNvPr id="794" name="Google Shape;794;h4e1cd23050cdd6e6_1_329"/>
          <p:cNvSpPr/>
          <p:nvPr/>
        </p:nvSpPr>
        <p:spPr>
          <a:xfrm>
            <a:off x="5464452" y="2815148"/>
            <a:ext cx="11301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5" name="Google Shape;795;h4e1cd23050cdd6e6_1_329"/>
          <p:cNvSpPr txBox="1"/>
          <p:nvPr/>
        </p:nvSpPr>
        <p:spPr>
          <a:xfrm>
            <a:off x="5038352" y="2810576"/>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hasPatientData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PatientData,</a:t>
            </a:r>
            <a:endParaRPr b="0" i="0" sz="1100" u="none" cap="none" strike="noStrike">
              <a:solidFill>
                <a:srgbClr val="000000"/>
              </a:solidFill>
              <a:latin typeface="Arial"/>
              <a:ea typeface="Arial"/>
              <a:cs typeface="Arial"/>
              <a:sym typeface="Arial"/>
            </a:endParaRPr>
          </a:p>
        </p:txBody>
      </p:sp>
      <p:sp>
        <p:nvSpPr>
          <p:cNvPr id="796" name="Google Shape;796;h4e1cd23050cdd6e6_1_329"/>
          <p:cNvSpPr/>
          <p:nvPr/>
        </p:nvSpPr>
        <p:spPr>
          <a:xfrm>
            <a:off x="10177532" y="2819720"/>
            <a:ext cx="987600" cy="144300"/>
          </a:xfrm>
          <a:prstGeom prst="roundRect">
            <a:avLst>
              <a:gd fmla="val 9000" name="adj"/>
            </a:avLst>
          </a:prstGeom>
          <a:solidFill>
            <a:srgbClr val="FFFFFF"/>
          </a:solidFill>
          <a:ln cap="flat" cmpd="sng" w="9525">
            <a:solidFill>
              <a:srgbClr val="5B677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5B6770"/>
                </a:solidFill>
                <a:latin typeface="Consolas"/>
                <a:ea typeface="Consolas"/>
                <a:cs typeface="Consolas"/>
                <a:sym typeface="Consolas"/>
              </a:rPr>
              <a:t>SCHEMA</a:t>
            </a:r>
            <a:endParaRPr/>
          </a:p>
        </p:txBody>
      </p:sp>
      <p:sp>
        <p:nvSpPr>
          <p:cNvPr id="797" name="Google Shape;797;h4e1cd23050cdd6e6_1_329"/>
          <p:cNvSpPr txBox="1"/>
          <p:nvPr/>
        </p:nvSpPr>
        <p:spPr>
          <a:xfrm>
            <a:off x="652054" y="2973243"/>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BM_DEP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98" name="Google Shape;798;h4e1cd23050cdd6e6_1_329"/>
          <p:cNvSpPr txBox="1"/>
          <p:nvPr/>
        </p:nvSpPr>
        <p:spPr>
          <a:xfrm>
            <a:off x="5038352" y="2973243"/>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BM_DEP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99" name="Google Shape;799;h4e1cd23050cdd6e6_1_329"/>
          <p:cNvSpPr txBox="1"/>
          <p:nvPr/>
        </p:nvSpPr>
        <p:spPr>
          <a:xfrm>
            <a:off x="652054" y="3135910"/>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ecog_stage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endParaRPr b="0" i="0" sz="1100" u="none" cap="none" strike="noStrike">
              <a:solidFill>
                <a:srgbClr val="000000"/>
              </a:solidFill>
              <a:latin typeface="Arial"/>
              <a:ea typeface="Arial"/>
              <a:cs typeface="Arial"/>
              <a:sym typeface="Arial"/>
            </a:endParaRPr>
          </a:p>
        </p:txBody>
      </p:sp>
      <p:sp>
        <p:nvSpPr>
          <p:cNvPr id="800" name="Google Shape;800;h4e1cd23050cdd6e6_1_329"/>
          <p:cNvSpPr txBox="1"/>
          <p:nvPr/>
        </p:nvSpPr>
        <p:spPr>
          <a:xfrm>
            <a:off x="5038352" y="3135910"/>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ecog_stage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endParaRPr b="0" i="0" sz="1100" u="none" cap="none" strike="noStrike">
              <a:solidFill>
                <a:srgbClr val="000000"/>
              </a:solidFill>
              <a:latin typeface="Arial"/>
              <a:ea typeface="Arial"/>
              <a:cs typeface="Arial"/>
              <a:sym typeface="Arial"/>
            </a:endParaRPr>
          </a:p>
        </p:txBody>
      </p:sp>
      <p:sp>
        <p:nvSpPr>
          <p:cNvPr id="801" name="Google Shape;801;h4e1cd23050cdd6e6_1_329"/>
          <p:cNvSpPr txBox="1"/>
          <p:nvPr/>
        </p:nvSpPr>
        <p:spPr>
          <a:xfrm>
            <a:off x="652054" y="3461244"/>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admission_id</a:t>
            </a:r>
            <a:endParaRPr b="0" i="0" sz="1100" u="none" cap="none" strike="noStrike">
              <a:solidFill>
                <a:srgbClr val="000000"/>
              </a:solidFill>
              <a:latin typeface="Arial"/>
              <a:ea typeface="Arial"/>
              <a:cs typeface="Arial"/>
              <a:sym typeface="Arial"/>
            </a:endParaRPr>
          </a:p>
        </p:txBody>
      </p:sp>
      <p:sp>
        <p:nvSpPr>
          <p:cNvPr id="802" name="Google Shape;802;h4e1cd23050cdd6e6_1_329"/>
          <p:cNvSpPr txBox="1"/>
          <p:nvPr/>
        </p:nvSpPr>
        <p:spPr>
          <a:xfrm>
            <a:off x="5038352" y="3461244"/>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admission_id</a:t>
            </a:r>
            <a:endParaRPr b="0" i="0" sz="1100" u="none" cap="none" strike="noStrike">
              <a:solidFill>
                <a:srgbClr val="000000"/>
              </a:solidFill>
              <a:latin typeface="Arial"/>
              <a:ea typeface="Arial"/>
              <a:cs typeface="Arial"/>
              <a:sym typeface="Arial"/>
            </a:endParaRPr>
          </a:p>
        </p:txBody>
      </p:sp>
      <p:sp>
        <p:nvSpPr>
          <p:cNvPr id="803" name="Google Shape;803;h4e1cd23050cdd6e6_1_329"/>
          <p:cNvSpPr txBox="1"/>
          <p:nvPr/>
        </p:nvSpPr>
        <p:spPr>
          <a:xfrm>
            <a:off x="652054" y="3623911"/>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ObjectProperty:</a:t>
            </a:r>
            <a:r>
              <a:rPr b="0" i="0" lang="en-US" sz="1100" u="none" cap="none" strike="noStrike">
                <a:solidFill>
                  <a:srgbClr val="1F2328"/>
                </a:solidFill>
                <a:latin typeface="Consolas"/>
                <a:ea typeface="Consolas"/>
                <a:cs typeface="Consolas"/>
                <a:sym typeface="Consolas"/>
              </a:rPr>
              <a:t> patient_id</a:t>
            </a:r>
            <a:endParaRPr b="0" i="0" sz="1100" u="none" cap="none" strike="noStrike">
              <a:solidFill>
                <a:srgbClr val="000000"/>
              </a:solidFill>
              <a:latin typeface="Arial"/>
              <a:ea typeface="Arial"/>
              <a:cs typeface="Arial"/>
              <a:sym typeface="Arial"/>
            </a:endParaRPr>
          </a:p>
        </p:txBody>
      </p:sp>
      <p:sp>
        <p:nvSpPr>
          <p:cNvPr id="804" name="Google Shape;804;h4e1cd23050cdd6e6_1_329"/>
          <p:cNvSpPr/>
          <p:nvPr/>
        </p:nvSpPr>
        <p:spPr>
          <a:xfrm>
            <a:off x="6386136" y="3628483"/>
            <a:ext cx="11301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5" name="Google Shape;805;h4e1cd23050cdd6e6_1_329"/>
          <p:cNvSpPr txBox="1"/>
          <p:nvPr/>
        </p:nvSpPr>
        <p:spPr>
          <a:xfrm>
            <a:off x="5038352" y="3623911"/>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ObjectProperty:</a:t>
            </a:r>
            <a:r>
              <a:rPr b="0" i="0" lang="en-US" sz="1100" u="none" cap="none" strike="noStrike">
                <a:solidFill>
                  <a:srgbClr val="1F2328"/>
                </a:solidFill>
                <a:latin typeface="Consolas"/>
                <a:ea typeface="Consolas"/>
                <a:cs typeface="Consolas"/>
                <a:sym typeface="Consolas"/>
              </a:rPr>
              <a:t> hasPatientData</a:t>
            </a:r>
            <a:endParaRPr b="0" i="0" sz="1100" u="none" cap="none" strike="noStrike">
              <a:solidFill>
                <a:srgbClr val="000000"/>
              </a:solidFill>
              <a:latin typeface="Arial"/>
              <a:ea typeface="Arial"/>
              <a:cs typeface="Arial"/>
              <a:sym typeface="Arial"/>
            </a:endParaRPr>
          </a:p>
        </p:txBody>
      </p:sp>
      <p:sp>
        <p:nvSpPr>
          <p:cNvPr id="806" name="Google Shape;806;h4e1cd23050cdd6e6_1_329"/>
          <p:cNvSpPr/>
          <p:nvPr/>
        </p:nvSpPr>
        <p:spPr>
          <a:xfrm>
            <a:off x="10177532" y="3633055"/>
            <a:ext cx="987600" cy="144300"/>
          </a:xfrm>
          <a:prstGeom prst="roundRect">
            <a:avLst>
              <a:gd fmla="val 9000" name="adj"/>
            </a:avLst>
          </a:prstGeom>
          <a:solidFill>
            <a:srgbClr val="FFFFFF"/>
          </a:solidFill>
          <a:ln cap="flat" cmpd="sng" w="9525">
            <a:solidFill>
              <a:srgbClr val="5B677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5B6770"/>
                </a:solidFill>
                <a:latin typeface="Consolas"/>
                <a:ea typeface="Consolas"/>
                <a:cs typeface="Consolas"/>
                <a:sym typeface="Consolas"/>
              </a:rPr>
              <a:t>SCHEMA</a:t>
            </a:r>
            <a:endParaRPr/>
          </a:p>
        </p:txBody>
      </p:sp>
      <p:sp>
        <p:nvSpPr>
          <p:cNvPr id="807" name="Google Shape;807;h4e1cd23050cdd6e6_1_329"/>
          <p:cNvSpPr txBox="1"/>
          <p:nvPr/>
        </p:nvSpPr>
        <p:spPr>
          <a:xfrm>
            <a:off x="652054" y="3786578"/>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BM_DEP</a:t>
            </a:r>
            <a:endParaRPr b="0" i="0" sz="1100" u="none" cap="none" strike="noStrike">
              <a:solidFill>
                <a:srgbClr val="000000"/>
              </a:solidFill>
              <a:latin typeface="Arial"/>
              <a:ea typeface="Arial"/>
              <a:cs typeface="Arial"/>
              <a:sym typeface="Arial"/>
            </a:endParaRPr>
          </a:p>
        </p:txBody>
      </p:sp>
      <p:sp>
        <p:nvSpPr>
          <p:cNvPr id="808" name="Google Shape;808;h4e1cd23050cdd6e6_1_329"/>
          <p:cNvSpPr txBox="1"/>
          <p:nvPr/>
        </p:nvSpPr>
        <p:spPr>
          <a:xfrm>
            <a:off x="5038352" y="3786578"/>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BM_DEP</a:t>
            </a:r>
            <a:endParaRPr b="0" i="0" sz="1100" u="none" cap="none" strike="noStrike">
              <a:solidFill>
                <a:srgbClr val="000000"/>
              </a:solidFill>
              <a:latin typeface="Arial"/>
              <a:ea typeface="Arial"/>
              <a:cs typeface="Arial"/>
              <a:sym typeface="Arial"/>
            </a:endParaRPr>
          </a:p>
        </p:txBody>
      </p:sp>
      <p:sp>
        <p:nvSpPr>
          <p:cNvPr id="809" name="Google Shape;809;h4e1cd23050cdd6e6_1_329"/>
          <p:cNvSpPr/>
          <p:nvPr/>
        </p:nvSpPr>
        <p:spPr>
          <a:xfrm>
            <a:off x="5093216" y="3953817"/>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0" name="Google Shape;810;h4e1cd23050cdd6e6_1_329"/>
          <p:cNvSpPr/>
          <p:nvPr/>
        </p:nvSpPr>
        <p:spPr>
          <a:xfrm>
            <a:off x="5093216" y="3953817"/>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1" name="Google Shape;811;h4e1cd23050cdd6e6_1_329"/>
          <p:cNvSpPr txBox="1"/>
          <p:nvPr/>
        </p:nvSpPr>
        <p:spPr>
          <a:xfrm>
            <a:off x="5038352" y="3949245"/>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Annotations:</a:t>
            </a:r>
            <a:endParaRPr b="0" i="0" sz="1100" u="none" cap="none" strike="noStrike">
              <a:solidFill>
                <a:srgbClr val="000000"/>
              </a:solidFill>
              <a:latin typeface="Arial"/>
              <a:ea typeface="Arial"/>
              <a:cs typeface="Arial"/>
              <a:sym typeface="Arial"/>
            </a:endParaRPr>
          </a:p>
        </p:txBody>
      </p:sp>
      <p:sp>
        <p:nvSpPr>
          <p:cNvPr id="812" name="Google Shape;812;h4e1cd23050cdd6e6_1_329"/>
          <p:cNvSpPr/>
          <p:nvPr/>
        </p:nvSpPr>
        <p:spPr>
          <a:xfrm>
            <a:off x="5093216" y="4116484"/>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3" name="Google Shape;813;h4e1cd23050cdd6e6_1_329"/>
          <p:cNvSpPr/>
          <p:nvPr/>
        </p:nvSpPr>
        <p:spPr>
          <a:xfrm>
            <a:off x="5093216" y="4116484"/>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4" name="Google Shape;814;h4e1cd23050cdd6e6_1_329"/>
          <p:cNvSpPr txBox="1"/>
          <p:nvPr/>
        </p:nvSpPr>
        <p:spPr>
          <a:xfrm>
            <a:off x="5038352" y="4111912"/>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rdfs:label</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A3401E"/>
                </a:solidFill>
                <a:latin typeface="Consolas"/>
                <a:ea typeface="Consolas"/>
                <a:cs typeface="Consolas"/>
                <a:sym typeface="Consolas"/>
              </a:rPr>
              <a:t>"Bone Marrow Depression"@en</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815" name="Google Shape;815;h4e1cd23050cdd6e6_1_329"/>
          <p:cNvSpPr/>
          <p:nvPr/>
        </p:nvSpPr>
        <p:spPr>
          <a:xfrm>
            <a:off x="10177532" y="4121056"/>
            <a:ext cx="987600" cy="144300"/>
          </a:xfrm>
          <a:prstGeom prst="roundRect">
            <a:avLst>
              <a:gd fmla="val 9000" name="adj"/>
            </a:avLst>
          </a:prstGeom>
          <a:solidFill>
            <a:srgbClr val="FFFFFF"/>
          </a:solidFill>
          <a:ln cap="flat" cmpd="sng" w="9525">
            <a:solidFill>
              <a:srgbClr val="2F6B78"/>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2F6B78"/>
                </a:solidFill>
                <a:latin typeface="Consolas"/>
                <a:ea typeface="Consolas"/>
                <a:cs typeface="Consolas"/>
                <a:sym typeface="Consolas"/>
              </a:rPr>
              <a:t>DOCS</a:t>
            </a:r>
            <a:endParaRPr/>
          </a:p>
        </p:txBody>
      </p:sp>
      <p:sp>
        <p:nvSpPr>
          <p:cNvPr id="816" name="Google Shape;816;h4e1cd23050cdd6e6_1_329"/>
          <p:cNvSpPr/>
          <p:nvPr/>
        </p:nvSpPr>
        <p:spPr>
          <a:xfrm>
            <a:off x="5093216" y="4279151"/>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7" name="Google Shape;817;h4e1cd23050cdd6e6_1_329"/>
          <p:cNvSpPr/>
          <p:nvPr/>
        </p:nvSpPr>
        <p:spPr>
          <a:xfrm>
            <a:off x="5093216" y="4279151"/>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8" name="Google Shape;818;h4e1cd23050cdd6e6_1_329"/>
          <p:cNvSpPr txBox="1"/>
          <p:nvPr/>
        </p:nvSpPr>
        <p:spPr>
          <a:xfrm>
            <a:off x="5038352" y="4274579"/>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skos:relatedMatch</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2F6B78"/>
                </a:solidFill>
                <a:latin typeface="Consolas"/>
                <a:ea typeface="Consolas"/>
                <a:cs typeface="Consolas"/>
                <a:sym typeface="Consolas"/>
              </a:rPr>
              <a:t>obo:DOID_4961</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819" name="Google Shape;819;h4e1cd23050cdd6e6_1_329"/>
          <p:cNvSpPr/>
          <p:nvPr/>
        </p:nvSpPr>
        <p:spPr>
          <a:xfrm>
            <a:off x="10177532" y="4283723"/>
            <a:ext cx="987600" cy="144300"/>
          </a:xfrm>
          <a:prstGeom prst="roundRect">
            <a:avLst>
              <a:gd fmla="val 9000" name="adj"/>
            </a:avLst>
          </a:prstGeom>
          <a:solidFill>
            <a:srgbClr val="FFFFFF"/>
          </a:solidFill>
          <a:ln cap="flat" cmpd="sng" w="9525">
            <a:solidFill>
              <a:srgbClr val="0B6E4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0B6E4F"/>
                </a:solidFill>
                <a:latin typeface="Consolas"/>
                <a:ea typeface="Consolas"/>
                <a:cs typeface="Consolas"/>
                <a:sym typeface="Consolas"/>
              </a:rPr>
              <a:t>ONTOLOGY</a:t>
            </a:r>
            <a:endParaRPr/>
          </a:p>
        </p:txBody>
      </p:sp>
      <p:sp>
        <p:nvSpPr>
          <p:cNvPr id="820" name="Google Shape;820;h4e1cd23050cdd6e6_1_329"/>
          <p:cNvSpPr/>
          <p:nvPr/>
        </p:nvSpPr>
        <p:spPr>
          <a:xfrm>
            <a:off x="5093216" y="4441818"/>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1" name="Google Shape;821;h4e1cd23050cdd6e6_1_329"/>
          <p:cNvSpPr/>
          <p:nvPr/>
        </p:nvSpPr>
        <p:spPr>
          <a:xfrm>
            <a:off x="5093216" y="4441818"/>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2" name="Google Shape;822;h4e1cd23050cdd6e6_1_329"/>
          <p:cNvSpPr txBox="1"/>
          <p:nvPr/>
        </p:nvSpPr>
        <p:spPr>
          <a:xfrm>
            <a:off x="5038352" y="4437246"/>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prov:wasDerivedFrom</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2F6B78"/>
                </a:solidFill>
                <a:latin typeface="Consolas"/>
                <a:ea typeface="Consolas"/>
                <a:cs typeface="Consolas"/>
                <a:sym typeface="Consolas"/>
              </a:rPr>
              <a:t>admission:BM_DEP</a:t>
            </a:r>
            <a:endParaRPr b="0" i="0" sz="1100" u="none" cap="none" strike="noStrike">
              <a:solidFill>
                <a:srgbClr val="000000"/>
              </a:solidFill>
              <a:latin typeface="Arial"/>
              <a:ea typeface="Arial"/>
              <a:cs typeface="Arial"/>
              <a:sym typeface="Arial"/>
            </a:endParaRPr>
          </a:p>
        </p:txBody>
      </p:sp>
      <p:sp>
        <p:nvSpPr>
          <p:cNvPr id="823" name="Google Shape;823;h4e1cd23050cdd6e6_1_329"/>
          <p:cNvSpPr/>
          <p:nvPr/>
        </p:nvSpPr>
        <p:spPr>
          <a:xfrm>
            <a:off x="10177532" y="4446390"/>
            <a:ext cx="987600" cy="144300"/>
          </a:xfrm>
          <a:prstGeom prst="roundRect">
            <a:avLst>
              <a:gd fmla="val 9000" name="adj"/>
            </a:avLst>
          </a:prstGeom>
          <a:solidFill>
            <a:srgbClr val="FFFFFF"/>
          </a:solidFill>
          <a:ln cap="flat" cmpd="sng" w="9525">
            <a:solidFill>
              <a:srgbClr val="5B677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5B6770"/>
                </a:solidFill>
                <a:latin typeface="Consolas"/>
                <a:ea typeface="Consolas"/>
                <a:cs typeface="Consolas"/>
                <a:sym typeface="Consolas"/>
              </a:rPr>
              <a:t>SCHEMA</a:t>
            </a:r>
            <a:endParaRPr/>
          </a:p>
        </p:txBody>
      </p:sp>
      <p:sp>
        <p:nvSpPr>
          <p:cNvPr id="824" name="Google Shape;824;h4e1cd23050cdd6e6_1_329"/>
          <p:cNvSpPr txBox="1"/>
          <p:nvPr/>
        </p:nvSpPr>
        <p:spPr>
          <a:xfrm>
            <a:off x="652054" y="4599913"/>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ecog_stage</a:t>
            </a:r>
            <a:endParaRPr b="0" i="0" sz="1100" u="none" cap="none" strike="noStrike">
              <a:solidFill>
                <a:srgbClr val="000000"/>
              </a:solidFill>
              <a:latin typeface="Arial"/>
              <a:ea typeface="Arial"/>
              <a:cs typeface="Arial"/>
              <a:sym typeface="Arial"/>
            </a:endParaRPr>
          </a:p>
        </p:txBody>
      </p:sp>
      <p:sp>
        <p:nvSpPr>
          <p:cNvPr id="825" name="Google Shape;825;h4e1cd23050cdd6e6_1_329"/>
          <p:cNvSpPr txBox="1"/>
          <p:nvPr/>
        </p:nvSpPr>
        <p:spPr>
          <a:xfrm>
            <a:off x="5038352" y="4599913"/>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ecog_stage</a:t>
            </a:r>
            <a:endParaRPr b="0" i="0" sz="1100" u="none" cap="none" strike="noStrike">
              <a:solidFill>
                <a:srgbClr val="000000"/>
              </a:solidFill>
              <a:latin typeface="Arial"/>
              <a:ea typeface="Arial"/>
              <a:cs typeface="Arial"/>
              <a:sym typeface="Arial"/>
            </a:endParaRPr>
          </a:p>
        </p:txBody>
      </p:sp>
      <p:sp>
        <p:nvSpPr>
          <p:cNvPr id="826" name="Google Shape;826;h4e1cd23050cdd6e6_1_329"/>
          <p:cNvSpPr/>
          <p:nvPr/>
        </p:nvSpPr>
        <p:spPr>
          <a:xfrm>
            <a:off x="5093216" y="4767152"/>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7" name="Google Shape;827;h4e1cd23050cdd6e6_1_329"/>
          <p:cNvSpPr/>
          <p:nvPr/>
        </p:nvSpPr>
        <p:spPr>
          <a:xfrm>
            <a:off x="5093216" y="4767152"/>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8" name="Google Shape;828;h4e1cd23050cdd6e6_1_329"/>
          <p:cNvSpPr txBox="1"/>
          <p:nvPr/>
        </p:nvSpPr>
        <p:spPr>
          <a:xfrm>
            <a:off x="5038352" y="4762580"/>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Annotations:</a:t>
            </a:r>
            <a:endParaRPr b="0" i="0" sz="1100" u="none" cap="none" strike="noStrike">
              <a:solidFill>
                <a:srgbClr val="000000"/>
              </a:solidFill>
              <a:latin typeface="Arial"/>
              <a:ea typeface="Arial"/>
              <a:cs typeface="Arial"/>
              <a:sym typeface="Arial"/>
            </a:endParaRPr>
          </a:p>
        </p:txBody>
      </p:sp>
      <p:sp>
        <p:nvSpPr>
          <p:cNvPr id="829" name="Google Shape;829;h4e1cd23050cdd6e6_1_329"/>
          <p:cNvSpPr/>
          <p:nvPr/>
        </p:nvSpPr>
        <p:spPr>
          <a:xfrm>
            <a:off x="5093216" y="4929819"/>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0" name="Google Shape;830;h4e1cd23050cdd6e6_1_329"/>
          <p:cNvSpPr/>
          <p:nvPr/>
        </p:nvSpPr>
        <p:spPr>
          <a:xfrm>
            <a:off x="5093216" y="4929819"/>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1" name="Google Shape;831;h4e1cd23050cdd6e6_1_329"/>
          <p:cNvSpPr txBox="1"/>
          <p:nvPr/>
        </p:nvSpPr>
        <p:spPr>
          <a:xfrm>
            <a:off x="5038352" y="4925247"/>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rdfs:label</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A3401E"/>
                </a:solidFill>
                <a:latin typeface="Consolas"/>
                <a:ea typeface="Consolas"/>
                <a:cs typeface="Consolas"/>
                <a:sym typeface="Consolas"/>
              </a:rPr>
              <a:t>"ECOG Performance Status"@en</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832" name="Google Shape;832;h4e1cd23050cdd6e6_1_329"/>
          <p:cNvSpPr/>
          <p:nvPr/>
        </p:nvSpPr>
        <p:spPr>
          <a:xfrm>
            <a:off x="10177532" y="4934391"/>
            <a:ext cx="987600" cy="144300"/>
          </a:xfrm>
          <a:prstGeom prst="roundRect">
            <a:avLst>
              <a:gd fmla="val 9000" name="adj"/>
            </a:avLst>
          </a:prstGeom>
          <a:solidFill>
            <a:srgbClr val="FFFFFF"/>
          </a:solidFill>
          <a:ln cap="flat" cmpd="sng" w="9525">
            <a:solidFill>
              <a:srgbClr val="2F6B78"/>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2F6B78"/>
                </a:solidFill>
                <a:latin typeface="Consolas"/>
                <a:ea typeface="Consolas"/>
                <a:cs typeface="Consolas"/>
                <a:sym typeface="Consolas"/>
              </a:rPr>
              <a:t>DOCS</a:t>
            </a:r>
            <a:endParaRPr/>
          </a:p>
        </p:txBody>
      </p:sp>
      <p:sp>
        <p:nvSpPr>
          <p:cNvPr id="833" name="Google Shape;833;h4e1cd23050cdd6e6_1_329"/>
          <p:cNvSpPr/>
          <p:nvPr/>
        </p:nvSpPr>
        <p:spPr>
          <a:xfrm>
            <a:off x="5093216" y="5092486"/>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4" name="Google Shape;834;h4e1cd23050cdd6e6_1_329"/>
          <p:cNvSpPr/>
          <p:nvPr/>
        </p:nvSpPr>
        <p:spPr>
          <a:xfrm>
            <a:off x="5093216" y="5092486"/>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5" name="Google Shape;835;h4e1cd23050cdd6e6_1_329"/>
          <p:cNvSpPr txBox="1"/>
          <p:nvPr/>
        </p:nvSpPr>
        <p:spPr>
          <a:xfrm>
            <a:off x="5038352" y="5087914"/>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rdfs:comment</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A3401E"/>
                </a:solidFill>
                <a:latin typeface="Consolas"/>
                <a:ea typeface="Consolas"/>
                <a:cs typeface="Consolas"/>
                <a:sym typeface="Consolas"/>
              </a:rPr>
              <a:t>"0 = fully active … 5 = dead"@en</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836" name="Google Shape;836;h4e1cd23050cdd6e6_1_329"/>
          <p:cNvSpPr/>
          <p:nvPr/>
        </p:nvSpPr>
        <p:spPr>
          <a:xfrm>
            <a:off x="10177532" y="5097058"/>
            <a:ext cx="987600" cy="144300"/>
          </a:xfrm>
          <a:prstGeom prst="roundRect">
            <a:avLst>
              <a:gd fmla="val 9000" name="adj"/>
            </a:avLst>
          </a:prstGeom>
          <a:solidFill>
            <a:srgbClr val="FFFFFF"/>
          </a:solidFill>
          <a:ln cap="flat" cmpd="sng" w="9525">
            <a:solidFill>
              <a:srgbClr val="6F42C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6F42C1"/>
                </a:solidFill>
                <a:latin typeface="Consolas"/>
                <a:ea typeface="Consolas"/>
                <a:cs typeface="Consolas"/>
                <a:sym typeface="Consolas"/>
              </a:rPr>
              <a:t>LLM</a:t>
            </a:r>
            <a:endParaRPr/>
          </a:p>
        </p:txBody>
      </p:sp>
      <p:sp>
        <p:nvSpPr>
          <p:cNvPr id="837" name="Google Shape;837;h4e1cd23050cdd6e6_1_329"/>
          <p:cNvSpPr/>
          <p:nvPr/>
        </p:nvSpPr>
        <p:spPr>
          <a:xfrm>
            <a:off x="5093216" y="5255153"/>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8" name="Google Shape;838;h4e1cd23050cdd6e6_1_329"/>
          <p:cNvSpPr/>
          <p:nvPr/>
        </p:nvSpPr>
        <p:spPr>
          <a:xfrm>
            <a:off x="5093216" y="5255153"/>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9" name="Google Shape;839;h4e1cd23050cdd6e6_1_329"/>
          <p:cNvSpPr txBox="1"/>
          <p:nvPr/>
        </p:nvSpPr>
        <p:spPr>
          <a:xfrm>
            <a:off x="5038352" y="5250581"/>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prov:wasDerivedFrom</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2F6B78"/>
                </a:solidFill>
                <a:latin typeface="Consolas"/>
                <a:ea typeface="Consolas"/>
                <a:cs typeface="Consolas"/>
                <a:sym typeface="Consolas"/>
              </a:rPr>
              <a:t>admission:ecog_stage</a:t>
            </a:r>
            <a:endParaRPr b="0" i="0" sz="1100" u="none" cap="none" strike="noStrike">
              <a:solidFill>
                <a:srgbClr val="000000"/>
              </a:solidFill>
              <a:latin typeface="Arial"/>
              <a:ea typeface="Arial"/>
              <a:cs typeface="Arial"/>
              <a:sym typeface="Arial"/>
            </a:endParaRPr>
          </a:p>
        </p:txBody>
      </p:sp>
      <p:sp>
        <p:nvSpPr>
          <p:cNvPr id="840" name="Google Shape;840;h4e1cd23050cdd6e6_1_329"/>
          <p:cNvSpPr/>
          <p:nvPr/>
        </p:nvSpPr>
        <p:spPr>
          <a:xfrm>
            <a:off x="10177532" y="5259725"/>
            <a:ext cx="987600" cy="144300"/>
          </a:xfrm>
          <a:prstGeom prst="roundRect">
            <a:avLst>
              <a:gd fmla="val 9000" name="adj"/>
            </a:avLst>
          </a:prstGeom>
          <a:solidFill>
            <a:srgbClr val="FFFFFF"/>
          </a:solidFill>
          <a:ln cap="flat" cmpd="sng" w="9525">
            <a:solidFill>
              <a:srgbClr val="5B677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5B6770"/>
                </a:solidFill>
                <a:latin typeface="Consolas"/>
                <a:ea typeface="Consolas"/>
                <a:cs typeface="Consolas"/>
                <a:sym typeface="Consolas"/>
              </a:rPr>
              <a:t>SCHEMA</a:t>
            </a:r>
            <a:endParaRPr/>
          </a:p>
        </p:txBody>
      </p:sp>
      <p:sp>
        <p:nvSpPr>
          <p:cNvPr id="841" name="Google Shape;841;h4e1cd23050cdd6e6_1_329"/>
          <p:cNvSpPr txBox="1"/>
          <p:nvPr/>
        </p:nvSpPr>
        <p:spPr>
          <a:xfrm>
            <a:off x="804672" y="1422410"/>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We prompt the </a:t>
            </a:r>
            <a:r>
              <a:rPr b="1" i="1" lang="en-US" sz="1600" u="none" cap="none" strike="noStrike">
                <a:solidFill>
                  <a:srgbClr val="3A434C"/>
                </a:solidFill>
                <a:latin typeface="Calibri"/>
                <a:ea typeface="Calibri"/>
                <a:cs typeface="Calibri"/>
                <a:sym typeface="Calibri"/>
              </a:rPr>
              <a:t>Gen-LLM</a:t>
            </a:r>
            <a:r>
              <a:rPr b="0" i="0" lang="en-US" sz="1600" u="none" cap="none" strike="noStrike">
                <a:solidFill>
                  <a:srgbClr val="3A434C"/>
                </a:solidFill>
                <a:latin typeface="Calibri"/>
                <a:ea typeface="Calibri"/>
                <a:cs typeface="Calibri"/>
                <a:sym typeface="Calibri"/>
              </a:rPr>
              <a:t> with the </a:t>
            </a:r>
            <a:r>
              <a:rPr b="1" i="0" lang="en-US" sz="1600" u="none" cap="none" strike="noStrike">
                <a:solidFill>
                  <a:srgbClr val="3A434C"/>
                </a:solidFill>
                <a:latin typeface="Calibri"/>
                <a:ea typeface="Calibri"/>
                <a:cs typeface="Calibri"/>
                <a:sym typeface="Calibri"/>
              </a:rPr>
              <a:t>direct mapping</a:t>
            </a:r>
            <a:r>
              <a:rPr b="0" i="0" lang="en-US" sz="1600" u="none" cap="none" strike="noStrike">
                <a:solidFill>
                  <a:srgbClr val="3A434C"/>
                </a:solidFill>
                <a:latin typeface="Calibri"/>
                <a:ea typeface="Calibri"/>
                <a:cs typeface="Calibri"/>
                <a:sym typeface="Calibri"/>
              </a:rPr>
              <a:t>, the </a:t>
            </a:r>
            <a:r>
              <a:rPr b="1" i="0" lang="en-US" sz="1600" u="none" cap="none" strike="noStrike">
                <a:solidFill>
                  <a:srgbClr val="3A434C"/>
                </a:solidFill>
                <a:latin typeface="Calibri"/>
                <a:ea typeface="Calibri"/>
                <a:cs typeface="Calibri"/>
                <a:sym typeface="Calibri"/>
              </a:rPr>
              <a:t>retrieved context</a:t>
            </a:r>
            <a:r>
              <a:rPr b="0" i="0" lang="en-US" sz="1600" u="none" cap="none" strike="noStrike">
                <a:solidFill>
                  <a:srgbClr val="3A434C"/>
                </a:solidFill>
                <a:latin typeface="Calibri"/>
                <a:ea typeface="Calibri"/>
                <a:cs typeface="Calibri"/>
                <a:sym typeface="Calibri"/>
              </a:rPr>
              <a:t>, and </a:t>
            </a:r>
            <a:r>
              <a:rPr b="1" i="0" lang="en-US" sz="1600" u="none" cap="none" strike="noStrike">
                <a:solidFill>
                  <a:srgbClr val="3A434C"/>
                </a:solidFill>
                <a:latin typeface="Calibri"/>
                <a:ea typeface="Calibri"/>
                <a:cs typeface="Calibri"/>
                <a:sym typeface="Calibri"/>
              </a:rPr>
              <a:t>semantic enrichment instructions</a:t>
            </a:r>
            <a:r>
              <a:rPr b="0" i="0" lang="en-US" sz="1600" u="none" cap="none" strike="noStrike">
                <a:solidFill>
                  <a:srgbClr val="3A434C"/>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pic>
        <p:nvPicPr>
          <p:cNvPr id="842" name="Google Shape;842;h4e1cd23050cdd6e6_1_329" title="LLM Neural Brain Icon.png"/>
          <p:cNvPicPr preferRelativeResize="0"/>
          <p:nvPr/>
        </p:nvPicPr>
        <p:blipFill rotWithShape="1">
          <a:blip r:embed="rId3">
            <a:alphaModFix/>
          </a:blip>
          <a:srcRect b="14226" l="16398" r="17214" t="12218"/>
          <a:stretch/>
        </p:blipFill>
        <p:spPr>
          <a:xfrm>
            <a:off x="3919850" y="4107423"/>
            <a:ext cx="644449" cy="6036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7" name="Shape 847"/>
        <p:cNvGrpSpPr/>
        <p:nvPr/>
      </p:nvGrpSpPr>
      <p:grpSpPr>
        <a:xfrm>
          <a:off x="0" y="0"/>
          <a:ext cx="0" cy="0"/>
          <a:chOff x="0" y="0"/>
          <a:chExt cx="0" cy="0"/>
        </a:xfrm>
      </p:grpSpPr>
      <p:sp>
        <p:nvSpPr>
          <p:cNvPr id="848" name="Google Shape;848;h3b1f15762288d989_2_37"/>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5 / VALIDATE</a:t>
            </a:r>
            <a:endParaRPr b="0" i="0" sz="1400" u="none" cap="none" strike="noStrike">
              <a:solidFill>
                <a:srgbClr val="000000"/>
              </a:solidFill>
              <a:latin typeface="Arial"/>
              <a:ea typeface="Arial"/>
              <a:cs typeface="Arial"/>
              <a:sym typeface="Arial"/>
            </a:endParaRPr>
          </a:p>
        </p:txBody>
      </p:sp>
      <p:sp>
        <p:nvSpPr>
          <p:cNvPr id="849" name="Google Shape;849;h3b1f15762288d989_2_37"/>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Why validate? Plausible fragments can still break the ontology.</a:t>
            </a:r>
            <a:endParaRPr b="0" i="0" sz="1400" u="none" cap="none" strike="noStrike">
              <a:solidFill>
                <a:srgbClr val="000000"/>
              </a:solidFill>
              <a:latin typeface="Arial"/>
              <a:ea typeface="Arial"/>
              <a:cs typeface="Arial"/>
              <a:sym typeface="Arial"/>
            </a:endParaRPr>
          </a:p>
        </p:txBody>
      </p:sp>
      <p:sp>
        <p:nvSpPr>
          <p:cNvPr id="850" name="Google Shape;850;h3b1f15762288d989_2_37"/>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1" name="Google Shape;851;h3b1f15762288d989_2_37"/>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852" name="Google Shape;852;h3b1f15762288d989_2_37"/>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3" name="Google Shape;853;h3b1f15762288d989_2_37"/>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854" name="Google Shape;854;h3b1f15762288d989_2_37"/>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5" name="Google Shape;855;h3b1f15762288d989_2_37"/>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856" name="Google Shape;856;h3b1f15762288d989_2_37"/>
          <p:cNvSpPr/>
          <p:nvPr/>
        </p:nvSpPr>
        <p:spPr>
          <a:xfrm>
            <a:off x="6318503"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7" name="Google Shape;857;h3b1f15762288d989_2_37"/>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858" name="Google Shape;858;h3b1f15762288d989_2_37"/>
          <p:cNvSpPr/>
          <p:nvPr/>
        </p:nvSpPr>
        <p:spPr>
          <a:xfrm>
            <a:off x="8156448"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9" name="Google Shape;859;h3b1f15762288d989_2_37"/>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860" name="Google Shape;860;h3b1f15762288d989_2_37"/>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1" name="Google Shape;861;h3b1f15762288d989_2_37"/>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862" name="Google Shape;862;h3b1f15762288d989_2_37"/>
          <p:cNvSpPr/>
          <p:nvPr/>
        </p:nvSpPr>
        <p:spPr>
          <a:xfrm>
            <a:off x="690625" y="1765393"/>
            <a:ext cx="5193900" cy="2469000"/>
          </a:xfrm>
          <a:prstGeom prst="roundRect">
            <a:avLst>
              <a:gd fmla="val 16667" name="adj"/>
            </a:avLst>
          </a:prstGeom>
          <a:solidFill>
            <a:srgbClr val="FFFFFF"/>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3" name="Google Shape;863;h3b1f15762288d989_2_37"/>
          <p:cNvSpPr txBox="1"/>
          <p:nvPr/>
        </p:nvSpPr>
        <p:spPr>
          <a:xfrm>
            <a:off x="919225" y="194827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u="none" cap="none" strike="noStrike">
                <a:solidFill>
                  <a:srgbClr val="0B6E4F"/>
                </a:solidFill>
                <a:latin typeface="Consolas"/>
                <a:ea typeface="Consolas"/>
                <a:cs typeface="Consolas"/>
                <a:sym typeface="Consolas"/>
              </a:rPr>
              <a:t>STRUCTURAL ERROR · GRAPH CHECKS</a:t>
            </a:r>
            <a:endParaRPr/>
          </a:p>
        </p:txBody>
      </p:sp>
      <p:sp>
        <p:nvSpPr>
          <p:cNvPr id="864" name="Google Shape;864;h3b1f15762288d989_2_37"/>
          <p:cNvSpPr txBox="1"/>
          <p:nvPr/>
        </p:nvSpPr>
        <p:spPr>
          <a:xfrm>
            <a:off x="919225" y="245119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30" u="none" cap="none" strike="noStrike">
                <a:solidFill>
                  <a:srgbClr val="5B6770"/>
                </a:solidFill>
                <a:latin typeface="Calibri"/>
                <a:ea typeface="Calibri"/>
                <a:cs typeface="Calibri"/>
                <a:sym typeface="Calibri"/>
              </a:rPr>
              <a:t>Later table </a:t>
            </a:r>
            <a:r>
              <a:rPr b="1" lang="en-US" sz="1540">
                <a:solidFill>
                  <a:srgbClr val="0B6E4F"/>
                </a:solidFill>
                <a:latin typeface="Consolas"/>
                <a:ea typeface="Consolas"/>
                <a:cs typeface="Consolas"/>
                <a:sym typeface="Consolas"/>
              </a:rPr>
              <a:t>lab_result</a:t>
            </a:r>
            <a:r>
              <a:rPr b="0" i="0" lang="en-US" sz="1430" u="none" cap="none" strike="noStrike">
                <a:solidFill>
                  <a:srgbClr val="5B6770"/>
                </a:solidFill>
                <a:latin typeface="Calibri"/>
                <a:ea typeface="Calibri"/>
                <a:cs typeface="Calibri"/>
                <a:sym typeface="Calibri"/>
              </a:rPr>
              <a:t> </a:t>
            </a:r>
            <a:r>
              <a:rPr b="1" i="0" lang="en-US" sz="1430" u="none" cap="none" strike="noStrike">
                <a:solidFill>
                  <a:srgbClr val="5B6770"/>
                </a:solidFill>
                <a:latin typeface="Calibri"/>
                <a:ea typeface="Calibri"/>
                <a:cs typeface="Calibri"/>
                <a:sym typeface="Calibri"/>
              </a:rPr>
              <a:t>reuses</a:t>
            </a:r>
            <a:r>
              <a:rPr b="0" i="0" lang="en-US" sz="1430" u="none" cap="none" strike="noStrike">
                <a:solidFill>
                  <a:srgbClr val="5B6770"/>
                </a:solidFill>
                <a:latin typeface="Calibri"/>
                <a:ea typeface="Calibri"/>
                <a:cs typeface="Calibri"/>
                <a:sym typeface="Calibri"/>
              </a:rPr>
              <a:t> a core property:</a:t>
            </a:r>
            <a:endParaRPr/>
          </a:p>
        </p:txBody>
      </p:sp>
      <p:sp>
        <p:nvSpPr>
          <p:cNvPr id="865" name="Google Shape;865;h3b1f15762288d989_2_37"/>
          <p:cNvSpPr/>
          <p:nvPr/>
        </p:nvSpPr>
        <p:spPr>
          <a:xfrm>
            <a:off x="919225" y="2807809"/>
            <a:ext cx="4572000" cy="375000"/>
          </a:xfrm>
          <a:prstGeom prst="rect">
            <a:avLst/>
          </a:prstGeom>
          <a:solidFill>
            <a:srgbClr val="FBE9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6" name="Google Shape;866;h3b1f15762288d989_2_37"/>
          <p:cNvSpPr txBox="1"/>
          <p:nvPr/>
        </p:nvSpPr>
        <p:spPr>
          <a:xfrm>
            <a:off x="1056385" y="2891519"/>
            <a:ext cx="42429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23A1E"/>
                </a:solidFill>
                <a:latin typeface="Consolas"/>
                <a:ea typeface="Consolas"/>
                <a:cs typeface="Consolas"/>
                <a:sym typeface="Consolas"/>
              </a:rPr>
              <a:t>ObjectProperty:</a:t>
            </a:r>
            <a:r>
              <a:rPr b="0" i="0" lang="en-US" sz="1200" u="none" cap="none" strike="noStrike">
                <a:solidFill>
                  <a:srgbClr val="B23A1E"/>
                </a:solidFill>
                <a:latin typeface="Consolas"/>
                <a:ea typeface="Consolas"/>
                <a:cs typeface="Consolas"/>
                <a:sym typeface="Consolas"/>
              </a:rPr>
              <a:t> hasPatientData  </a:t>
            </a:r>
            <a:r>
              <a:rPr b="1" i="0" lang="en-US" sz="1200" u="none" cap="none" strike="noStrike">
                <a:solidFill>
                  <a:srgbClr val="B23A1E"/>
                </a:solidFill>
                <a:latin typeface="Consolas"/>
                <a:ea typeface="Consolas"/>
                <a:cs typeface="Consolas"/>
                <a:sym typeface="Consolas"/>
              </a:rPr>
              <a:t>Domain:</a:t>
            </a:r>
            <a:r>
              <a:rPr b="0" i="0" lang="en-US" sz="1200" u="none" cap="none" strike="noStrike">
                <a:solidFill>
                  <a:srgbClr val="B23A1E"/>
                </a:solidFill>
                <a:latin typeface="Consolas"/>
                <a:ea typeface="Consolas"/>
                <a:cs typeface="Consolas"/>
                <a:sym typeface="Consolas"/>
              </a:rPr>
              <a:t> LabResult</a:t>
            </a:r>
            <a:endParaRPr/>
          </a:p>
        </p:txBody>
      </p:sp>
      <p:sp>
        <p:nvSpPr>
          <p:cNvPr id="867" name="Google Shape;867;h3b1f15762288d989_2_37"/>
          <p:cNvSpPr txBox="1"/>
          <p:nvPr/>
        </p:nvSpPr>
        <p:spPr>
          <a:xfrm>
            <a:off x="919225" y="3457409"/>
            <a:ext cx="4572000" cy="646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1F2328"/>
                </a:solidFill>
                <a:latin typeface="Calibri"/>
                <a:ea typeface="Calibri"/>
                <a:cs typeface="Calibri"/>
                <a:sym typeface="Calibri"/>
              </a:rPr>
              <a:t>Merged with </a:t>
            </a:r>
            <a:r>
              <a:rPr b="1" lang="en-US">
                <a:solidFill>
                  <a:srgbClr val="0B6E4F"/>
                </a:solidFill>
                <a:latin typeface="Consolas"/>
                <a:ea typeface="Consolas"/>
                <a:cs typeface="Consolas"/>
                <a:sym typeface="Consolas"/>
              </a:rPr>
              <a:t>PatientData Domain: Admission</a:t>
            </a:r>
            <a:r>
              <a:rPr b="0" i="0" lang="en-US" u="none" cap="none" strike="noStrike">
                <a:solidFill>
                  <a:srgbClr val="1F2328"/>
                </a:solidFill>
                <a:latin typeface="Calibri"/>
                <a:ea typeface="Calibri"/>
                <a:cs typeface="Calibri"/>
                <a:sym typeface="Calibri"/>
              </a:rPr>
              <a:t>, OWL infers that every lab result is an admission (pitfall P19). Graph checks allow </a:t>
            </a:r>
            <a:r>
              <a:rPr b="1" i="0" lang="en-US" u="none" cap="none" strike="noStrike">
                <a:solidFill>
                  <a:srgbClr val="1F2328"/>
                </a:solidFill>
                <a:latin typeface="Calibri"/>
                <a:ea typeface="Calibri"/>
                <a:cs typeface="Calibri"/>
                <a:sym typeface="Calibri"/>
              </a:rPr>
              <a:t>one domain per property</a:t>
            </a:r>
            <a:r>
              <a:rPr b="0" i="0" lang="en-US" u="none" cap="none" strike="noStrike">
                <a:solidFill>
                  <a:srgbClr val="1F2328"/>
                </a:solidFill>
                <a:latin typeface="Calibri"/>
                <a:ea typeface="Calibri"/>
                <a:cs typeface="Calibri"/>
                <a:sym typeface="Calibri"/>
              </a:rPr>
              <a:t>.</a:t>
            </a:r>
            <a:endParaRPr/>
          </a:p>
        </p:txBody>
      </p:sp>
      <p:pic>
        <p:nvPicPr>
          <p:cNvPr id="868" name="Google Shape;868;h3b1f15762288d989_2_37" title="graph_checks_icon.png"/>
          <p:cNvPicPr preferRelativeResize="0"/>
          <p:nvPr/>
        </p:nvPicPr>
        <p:blipFill rotWithShape="1">
          <a:blip r:embed="rId3">
            <a:alphaModFix/>
          </a:blip>
          <a:srcRect b="19469" l="4324" r="13635" t="18031"/>
          <a:stretch/>
        </p:blipFill>
        <p:spPr>
          <a:xfrm>
            <a:off x="4682434" y="1948275"/>
            <a:ext cx="981848" cy="7479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3" name="Shape 873"/>
        <p:cNvGrpSpPr/>
        <p:nvPr/>
      </p:nvGrpSpPr>
      <p:grpSpPr>
        <a:xfrm>
          <a:off x="0" y="0"/>
          <a:ext cx="0" cy="0"/>
          <a:chOff x="0" y="0"/>
          <a:chExt cx="0" cy="0"/>
        </a:xfrm>
      </p:grpSpPr>
      <p:sp>
        <p:nvSpPr>
          <p:cNvPr id="874" name="Google Shape;874;h3b1f15762288d989_2_79"/>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5 / VALIDATE</a:t>
            </a:r>
            <a:endParaRPr b="0" i="0" sz="1400" u="none" cap="none" strike="noStrike">
              <a:solidFill>
                <a:srgbClr val="000000"/>
              </a:solidFill>
              <a:latin typeface="Arial"/>
              <a:ea typeface="Arial"/>
              <a:cs typeface="Arial"/>
              <a:sym typeface="Arial"/>
            </a:endParaRPr>
          </a:p>
        </p:txBody>
      </p:sp>
      <p:sp>
        <p:nvSpPr>
          <p:cNvPr id="875" name="Google Shape;875;h3b1f15762288d989_2_79"/>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Why validate? Plausible fragments can still break the ontology.</a:t>
            </a:r>
            <a:endParaRPr b="0" i="0" sz="1400" u="none" cap="none" strike="noStrike">
              <a:solidFill>
                <a:srgbClr val="000000"/>
              </a:solidFill>
              <a:latin typeface="Arial"/>
              <a:ea typeface="Arial"/>
              <a:cs typeface="Arial"/>
              <a:sym typeface="Arial"/>
            </a:endParaRPr>
          </a:p>
        </p:txBody>
      </p:sp>
      <p:sp>
        <p:nvSpPr>
          <p:cNvPr id="876" name="Google Shape;876;h3b1f15762288d989_2_79"/>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7" name="Google Shape;877;h3b1f15762288d989_2_79"/>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878" name="Google Shape;878;h3b1f15762288d989_2_79"/>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9" name="Google Shape;879;h3b1f15762288d989_2_79"/>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880" name="Google Shape;880;h3b1f15762288d989_2_79"/>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1" name="Google Shape;881;h3b1f15762288d989_2_79"/>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882" name="Google Shape;882;h3b1f15762288d989_2_79"/>
          <p:cNvSpPr/>
          <p:nvPr/>
        </p:nvSpPr>
        <p:spPr>
          <a:xfrm>
            <a:off x="6318503"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3" name="Google Shape;883;h3b1f15762288d989_2_79"/>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884" name="Google Shape;884;h3b1f15762288d989_2_79"/>
          <p:cNvSpPr/>
          <p:nvPr/>
        </p:nvSpPr>
        <p:spPr>
          <a:xfrm>
            <a:off x="8156448"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5" name="Google Shape;885;h3b1f15762288d989_2_79"/>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886" name="Google Shape;886;h3b1f15762288d989_2_79"/>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7" name="Google Shape;887;h3b1f15762288d989_2_79"/>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888" name="Google Shape;888;h3b1f15762288d989_2_79"/>
          <p:cNvSpPr/>
          <p:nvPr/>
        </p:nvSpPr>
        <p:spPr>
          <a:xfrm>
            <a:off x="690625" y="1765393"/>
            <a:ext cx="5193900" cy="2469000"/>
          </a:xfrm>
          <a:prstGeom prst="roundRect">
            <a:avLst>
              <a:gd fmla="val 16667" name="adj"/>
            </a:avLst>
          </a:prstGeom>
          <a:solidFill>
            <a:srgbClr val="FFFFFF"/>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9" name="Google Shape;889;h3b1f15762288d989_2_79"/>
          <p:cNvSpPr txBox="1"/>
          <p:nvPr/>
        </p:nvSpPr>
        <p:spPr>
          <a:xfrm>
            <a:off x="919225" y="194827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u="none" cap="none" strike="noStrike">
                <a:solidFill>
                  <a:srgbClr val="0B6E4F"/>
                </a:solidFill>
                <a:latin typeface="Consolas"/>
                <a:ea typeface="Consolas"/>
                <a:cs typeface="Consolas"/>
                <a:sym typeface="Consolas"/>
              </a:rPr>
              <a:t>STRUCTURAL ERROR · GRAPH CHECKS</a:t>
            </a:r>
            <a:endParaRPr/>
          </a:p>
        </p:txBody>
      </p:sp>
      <p:sp>
        <p:nvSpPr>
          <p:cNvPr id="890" name="Google Shape;890;h3b1f15762288d989_2_79"/>
          <p:cNvSpPr txBox="1"/>
          <p:nvPr/>
        </p:nvSpPr>
        <p:spPr>
          <a:xfrm>
            <a:off x="919225" y="245119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30" u="none" cap="none" strike="noStrike">
                <a:solidFill>
                  <a:srgbClr val="5B6770"/>
                </a:solidFill>
                <a:latin typeface="Calibri"/>
                <a:ea typeface="Calibri"/>
                <a:cs typeface="Calibri"/>
                <a:sym typeface="Calibri"/>
              </a:rPr>
              <a:t>Later table </a:t>
            </a:r>
            <a:r>
              <a:rPr b="1" lang="en-US" sz="1540">
                <a:solidFill>
                  <a:srgbClr val="0B6E4F"/>
                </a:solidFill>
                <a:latin typeface="Consolas"/>
                <a:ea typeface="Consolas"/>
                <a:cs typeface="Consolas"/>
                <a:sym typeface="Consolas"/>
              </a:rPr>
              <a:t>lab_result</a:t>
            </a:r>
            <a:r>
              <a:rPr b="0" i="0" lang="en-US" sz="1430" u="none" cap="none" strike="noStrike">
                <a:solidFill>
                  <a:srgbClr val="5B6770"/>
                </a:solidFill>
                <a:latin typeface="Calibri"/>
                <a:ea typeface="Calibri"/>
                <a:cs typeface="Calibri"/>
                <a:sym typeface="Calibri"/>
              </a:rPr>
              <a:t> </a:t>
            </a:r>
            <a:r>
              <a:rPr b="1" i="0" lang="en-US" sz="1430" u="none" cap="none" strike="noStrike">
                <a:solidFill>
                  <a:srgbClr val="5B6770"/>
                </a:solidFill>
                <a:latin typeface="Calibri"/>
                <a:ea typeface="Calibri"/>
                <a:cs typeface="Calibri"/>
                <a:sym typeface="Calibri"/>
              </a:rPr>
              <a:t>reuses</a:t>
            </a:r>
            <a:r>
              <a:rPr b="0" i="0" lang="en-US" sz="1430" u="none" cap="none" strike="noStrike">
                <a:solidFill>
                  <a:srgbClr val="5B6770"/>
                </a:solidFill>
                <a:latin typeface="Calibri"/>
                <a:ea typeface="Calibri"/>
                <a:cs typeface="Calibri"/>
                <a:sym typeface="Calibri"/>
              </a:rPr>
              <a:t> a core property:</a:t>
            </a:r>
            <a:endParaRPr/>
          </a:p>
        </p:txBody>
      </p:sp>
      <p:sp>
        <p:nvSpPr>
          <p:cNvPr id="891" name="Google Shape;891;h3b1f15762288d989_2_79"/>
          <p:cNvSpPr/>
          <p:nvPr/>
        </p:nvSpPr>
        <p:spPr>
          <a:xfrm>
            <a:off x="919225" y="2807809"/>
            <a:ext cx="4572000" cy="375000"/>
          </a:xfrm>
          <a:prstGeom prst="rect">
            <a:avLst/>
          </a:prstGeom>
          <a:solidFill>
            <a:srgbClr val="FBE9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2" name="Google Shape;892;h3b1f15762288d989_2_79"/>
          <p:cNvSpPr txBox="1"/>
          <p:nvPr/>
        </p:nvSpPr>
        <p:spPr>
          <a:xfrm>
            <a:off x="1056385" y="2891519"/>
            <a:ext cx="42429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23A1E"/>
                </a:solidFill>
                <a:latin typeface="Consolas"/>
                <a:ea typeface="Consolas"/>
                <a:cs typeface="Consolas"/>
                <a:sym typeface="Consolas"/>
              </a:rPr>
              <a:t>ObjectProperty:</a:t>
            </a:r>
            <a:r>
              <a:rPr b="0" i="0" lang="en-US" sz="1200" u="none" cap="none" strike="noStrike">
                <a:solidFill>
                  <a:srgbClr val="B23A1E"/>
                </a:solidFill>
                <a:latin typeface="Consolas"/>
                <a:ea typeface="Consolas"/>
                <a:cs typeface="Consolas"/>
                <a:sym typeface="Consolas"/>
              </a:rPr>
              <a:t> hasPatientData  </a:t>
            </a:r>
            <a:r>
              <a:rPr b="1" i="0" lang="en-US" sz="1200" u="none" cap="none" strike="noStrike">
                <a:solidFill>
                  <a:srgbClr val="B23A1E"/>
                </a:solidFill>
                <a:latin typeface="Consolas"/>
                <a:ea typeface="Consolas"/>
                <a:cs typeface="Consolas"/>
                <a:sym typeface="Consolas"/>
              </a:rPr>
              <a:t>Domain:</a:t>
            </a:r>
            <a:r>
              <a:rPr b="0" i="0" lang="en-US" sz="1200" u="none" cap="none" strike="noStrike">
                <a:solidFill>
                  <a:srgbClr val="B23A1E"/>
                </a:solidFill>
                <a:latin typeface="Consolas"/>
                <a:ea typeface="Consolas"/>
                <a:cs typeface="Consolas"/>
                <a:sym typeface="Consolas"/>
              </a:rPr>
              <a:t> LabResult</a:t>
            </a:r>
            <a:endParaRPr/>
          </a:p>
        </p:txBody>
      </p:sp>
      <p:sp>
        <p:nvSpPr>
          <p:cNvPr id="893" name="Google Shape;893;h3b1f15762288d989_2_79"/>
          <p:cNvSpPr txBox="1"/>
          <p:nvPr/>
        </p:nvSpPr>
        <p:spPr>
          <a:xfrm>
            <a:off x="919225" y="3457409"/>
            <a:ext cx="4572000" cy="646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1F2328"/>
                </a:solidFill>
                <a:latin typeface="Calibri"/>
                <a:ea typeface="Calibri"/>
                <a:cs typeface="Calibri"/>
                <a:sym typeface="Calibri"/>
              </a:rPr>
              <a:t>Merged with </a:t>
            </a:r>
            <a:r>
              <a:rPr b="1" lang="en-US">
                <a:solidFill>
                  <a:srgbClr val="0B6E4F"/>
                </a:solidFill>
                <a:latin typeface="Consolas"/>
                <a:ea typeface="Consolas"/>
                <a:cs typeface="Consolas"/>
                <a:sym typeface="Consolas"/>
              </a:rPr>
              <a:t>PatientData Domain: Admission</a:t>
            </a:r>
            <a:r>
              <a:rPr b="0" i="0" lang="en-US" u="none" cap="none" strike="noStrike">
                <a:solidFill>
                  <a:srgbClr val="1F2328"/>
                </a:solidFill>
                <a:latin typeface="Calibri"/>
                <a:ea typeface="Calibri"/>
                <a:cs typeface="Calibri"/>
                <a:sym typeface="Calibri"/>
              </a:rPr>
              <a:t>, OWL infers that every lab result is an admission (pitfall P19). Graph checks allow </a:t>
            </a:r>
            <a:r>
              <a:rPr b="1" i="0" lang="en-US" u="none" cap="none" strike="noStrike">
                <a:solidFill>
                  <a:srgbClr val="1F2328"/>
                </a:solidFill>
                <a:latin typeface="Calibri"/>
                <a:ea typeface="Calibri"/>
                <a:cs typeface="Calibri"/>
                <a:sym typeface="Calibri"/>
              </a:rPr>
              <a:t>one domain per property</a:t>
            </a:r>
            <a:r>
              <a:rPr b="0" i="0" lang="en-US" u="none" cap="none" strike="noStrike">
                <a:solidFill>
                  <a:srgbClr val="1F2328"/>
                </a:solidFill>
                <a:latin typeface="Calibri"/>
                <a:ea typeface="Calibri"/>
                <a:cs typeface="Calibri"/>
                <a:sym typeface="Calibri"/>
              </a:rPr>
              <a:t>.</a:t>
            </a:r>
            <a:endParaRPr/>
          </a:p>
        </p:txBody>
      </p:sp>
      <p:pic>
        <p:nvPicPr>
          <p:cNvPr id="894" name="Google Shape;894;h3b1f15762288d989_2_79" title="graph_checks_icon.png"/>
          <p:cNvPicPr preferRelativeResize="0"/>
          <p:nvPr/>
        </p:nvPicPr>
        <p:blipFill rotWithShape="1">
          <a:blip r:embed="rId3">
            <a:alphaModFix/>
          </a:blip>
          <a:srcRect b="19469" l="4324" r="13635" t="18031"/>
          <a:stretch/>
        </p:blipFill>
        <p:spPr>
          <a:xfrm>
            <a:off x="4682434" y="1948275"/>
            <a:ext cx="981848" cy="747949"/>
          </a:xfrm>
          <a:prstGeom prst="rect">
            <a:avLst/>
          </a:prstGeom>
          <a:noFill/>
          <a:ln>
            <a:noFill/>
          </a:ln>
        </p:spPr>
      </p:pic>
      <p:sp>
        <p:nvSpPr>
          <p:cNvPr id="895" name="Google Shape;895;h3b1f15762288d989_2_79"/>
          <p:cNvSpPr/>
          <p:nvPr/>
        </p:nvSpPr>
        <p:spPr>
          <a:xfrm>
            <a:off x="6062420" y="1765393"/>
            <a:ext cx="5193900" cy="2469000"/>
          </a:xfrm>
          <a:prstGeom prst="roundRect">
            <a:avLst>
              <a:gd fmla="val 16667" name="adj"/>
            </a:avLst>
          </a:prstGeom>
          <a:solidFill>
            <a:srgbClr val="FFFFFF"/>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6" name="Google Shape;896;h3b1f15762288d989_2_79"/>
          <p:cNvSpPr txBox="1"/>
          <p:nvPr/>
        </p:nvSpPr>
        <p:spPr>
          <a:xfrm>
            <a:off x="6291020" y="1948273"/>
            <a:ext cx="46269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0B6E4F"/>
                </a:solidFill>
                <a:latin typeface="Consolas"/>
                <a:ea typeface="Consolas"/>
                <a:cs typeface="Consolas"/>
                <a:sym typeface="Consolas"/>
              </a:rPr>
              <a:t>SEMANTIC ERROR · JUDGE-LLM</a:t>
            </a:r>
            <a:endParaRPr/>
          </a:p>
        </p:txBody>
      </p:sp>
      <p:sp>
        <p:nvSpPr>
          <p:cNvPr id="897" name="Google Shape;897;h3b1f15762288d989_2_79"/>
          <p:cNvSpPr txBox="1"/>
          <p:nvPr/>
        </p:nvSpPr>
        <p:spPr>
          <a:xfrm>
            <a:off x="6300164" y="2451193"/>
            <a:ext cx="46176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5B6770"/>
                </a:solidFill>
                <a:latin typeface="Calibri"/>
                <a:ea typeface="Calibri"/>
                <a:cs typeface="Calibri"/>
                <a:sym typeface="Calibri"/>
              </a:rPr>
              <a:t>Generated link for </a:t>
            </a:r>
            <a:r>
              <a:rPr b="1" lang="en-US">
                <a:solidFill>
                  <a:srgbClr val="0B6E4F"/>
                </a:solidFill>
                <a:latin typeface="Consolas"/>
                <a:ea typeface="Consolas"/>
                <a:cs typeface="Consolas"/>
                <a:sym typeface="Consolas"/>
              </a:rPr>
              <a:t>admission</a:t>
            </a:r>
            <a:r>
              <a:rPr b="0" i="0" lang="en-US" u="none" cap="none" strike="noStrike">
                <a:solidFill>
                  <a:srgbClr val="5B6770"/>
                </a:solidFill>
                <a:latin typeface="Calibri"/>
                <a:ea typeface="Calibri"/>
                <a:cs typeface="Calibri"/>
                <a:sym typeface="Calibri"/>
              </a:rPr>
              <a:t>:</a:t>
            </a:r>
            <a:endParaRPr/>
          </a:p>
        </p:txBody>
      </p:sp>
      <p:sp>
        <p:nvSpPr>
          <p:cNvPr id="898" name="Google Shape;898;h3b1f15762288d989_2_79"/>
          <p:cNvSpPr/>
          <p:nvPr/>
        </p:nvSpPr>
        <p:spPr>
          <a:xfrm>
            <a:off x="6300164" y="2807809"/>
            <a:ext cx="4563000" cy="375000"/>
          </a:xfrm>
          <a:prstGeom prst="rect">
            <a:avLst/>
          </a:prstGeom>
          <a:solidFill>
            <a:srgbClr val="FBE9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9" name="Google Shape;899;h3b1f15762288d989_2_79"/>
          <p:cNvSpPr txBox="1"/>
          <p:nvPr/>
        </p:nvSpPr>
        <p:spPr>
          <a:xfrm>
            <a:off x="6373316" y="2891519"/>
            <a:ext cx="44349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23A1E"/>
                </a:solidFill>
                <a:latin typeface="Consolas"/>
                <a:ea typeface="Consolas"/>
                <a:cs typeface="Consolas"/>
                <a:sym typeface="Consolas"/>
              </a:rPr>
              <a:t>ObjectProperty:</a:t>
            </a:r>
            <a:r>
              <a:rPr b="0" i="0" lang="en-US" sz="1200" u="none" cap="none" strike="noStrike">
                <a:solidFill>
                  <a:srgbClr val="B23A1E"/>
                </a:solidFill>
                <a:latin typeface="Consolas"/>
                <a:ea typeface="Consolas"/>
                <a:cs typeface="Consolas"/>
                <a:sym typeface="Consolas"/>
              </a:rPr>
              <a:t> hasPatient  </a:t>
            </a:r>
            <a:r>
              <a:rPr b="1" i="0" lang="en-US" sz="1200" u="none" cap="none" strike="noStrike">
                <a:solidFill>
                  <a:srgbClr val="B23A1E"/>
                </a:solidFill>
                <a:latin typeface="Consolas"/>
                <a:ea typeface="Consolas"/>
                <a:cs typeface="Consolas"/>
                <a:sym typeface="Consolas"/>
              </a:rPr>
              <a:t>Range:</a:t>
            </a:r>
            <a:r>
              <a:rPr b="0" i="0" lang="en-US" sz="1200" u="none" cap="none" strike="noStrike">
                <a:solidFill>
                  <a:srgbClr val="B23A1E"/>
                </a:solidFill>
                <a:latin typeface="Consolas"/>
                <a:ea typeface="Consolas"/>
                <a:cs typeface="Consolas"/>
                <a:sym typeface="Consolas"/>
              </a:rPr>
              <a:t> Patient</a:t>
            </a:r>
            <a:endParaRPr/>
          </a:p>
        </p:txBody>
      </p:sp>
      <p:sp>
        <p:nvSpPr>
          <p:cNvPr id="900" name="Google Shape;900;h3b1f15762288d989_2_79"/>
          <p:cNvSpPr txBox="1"/>
          <p:nvPr/>
        </p:nvSpPr>
        <p:spPr>
          <a:xfrm>
            <a:off x="6300164" y="3445625"/>
            <a:ext cx="4572000" cy="646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1F2328"/>
                </a:solidFill>
                <a:latin typeface="Calibri"/>
                <a:ea typeface="Calibri"/>
                <a:cs typeface="Calibri"/>
                <a:sym typeface="Calibri"/>
              </a:rPr>
              <a:t>Valid OWL, but the </a:t>
            </a:r>
            <a:r>
              <a:rPr b="1" i="0" lang="en-US" u="none" cap="none" strike="noStrike">
                <a:solidFill>
                  <a:srgbClr val="1F2328"/>
                </a:solidFill>
                <a:latin typeface="Calibri"/>
                <a:ea typeface="Calibri"/>
                <a:cs typeface="Calibri"/>
                <a:sym typeface="Calibri"/>
              </a:rPr>
              <a:t>core ontology</a:t>
            </a:r>
            <a:r>
              <a:rPr b="0" i="0" lang="en-US" u="none" cap="none" strike="noStrike">
                <a:solidFill>
                  <a:srgbClr val="1F2328"/>
                </a:solidFill>
                <a:latin typeface="Calibri"/>
                <a:ea typeface="Calibri"/>
                <a:cs typeface="Calibri"/>
                <a:sym typeface="Calibri"/>
              </a:rPr>
              <a:t> already has </a:t>
            </a:r>
            <a:r>
              <a:rPr b="1" lang="en-US">
                <a:solidFill>
                  <a:srgbClr val="0B6E4F"/>
                </a:solidFill>
                <a:latin typeface="Consolas"/>
                <a:ea typeface="Consolas"/>
                <a:cs typeface="Consolas"/>
                <a:sym typeface="Consolas"/>
              </a:rPr>
              <a:t>PatientData</a:t>
            </a:r>
            <a:r>
              <a:rPr b="0" i="0" lang="en-US" u="none" cap="none" strike="noStrike">
                <a:solidFill>
                  <a:srgbClr val="1F2328"/>
                </a:solidFill>
                <a:latin typeface="Calibri"/>
                <a:ea typeface="Calibri"/>
                <a:cs typeface="Calibri"/>
                <a:sym typeface="Calibri"/>
              </a:rPr>
              <a:t>, now </a:t>
            </a:r>
            <a:r>
              <a:rPr b="1" i="0" lang="en-US" u="none" cap="none" strike="noStrike">
                <a:solidFill>
                  <a:srgbClr val="1F2328"/>
                </a:solidFill>
                <a:latin typeface="Calibri"/>
                <a:ea typeface="Calibri"/>
                <a:cs typeface="Calibri"/>
                <a:sym typeface="Calibri"/>
              </a:rPr>
              <a:t>two classes</a:t>
            </a:r>
            <a:r>
              <a:rPr b="0" i="0" lang="en-US" u="none" cap="none" strike="noStrike">
                <a:solidFill>
                  <a:srgbClr val="1F2328"/>
                </a:solidFill>
                <a:latin typeface="Calibri"/>
                <a:ea typeface="Calibri"/>
                <a:cs typeface="Calibri"/>
                <a:sym typeface="Calibri"/>
              </a:rPr>
              <a:t> mean the </a:t>
            </a:r>
            <a:r>
              <a:rPr b="1" i="0" lang="en-US" u="none" cap="none" strike="noStrike">
                <a:solidFill>
                  <a:srgbClr val="1F2328"/>
                </a:solidFill>
                <a:latin typeface="Calibri"/>
                <a:ea typeface="Calibri"/>
                <a:cs typeface="Calibri"/>
                <a:sym typeface="Calibri"/>
              </a:rPr>
              <a:t>same thing</a:t>
            </a:r>
            <a:r>
              <a:rPr b="0" i="0" lang="en-US" u="none" cap="none" strike="noStrike">
                <a:solidFill>
                  <a:srgbClr val="1F2328"/>
                </a:solidFill>
                <a:latin typeface="Calibri"/>
                <a:ea typeface="Calibri"/>
                <a:cs typeface="Calibri"/>
                <a:sym typeface="Calibri"/>
              </a:rPr>
              <a:t>. The </a:t>
            </a:r>
            <a:r>
              <a:rPr b="1" lang="en-US">
                <a:solidFill>
                  <a:srgbClr val="0B6E4F"/>
                </a:solidFill>
                <a:latin typeface="Consolas"/>
                <a:ea typeface="Consolas"/>
                <a:cs typeface="Consolas"/>
                <a:sym typeface="Consolas"/>
              </a:rPr>
              <a:t>JUDGE-LLM</a:t>
            </a:r>
            <a:r>
              <a:rPr b="0" i="0" lang="en-US" u="none" cap="none" strike="noStrike">
                <a:solidFill>
                  <a:srgbClr val="1F2328"/>
                </a:solidFill>
                <a:latin typeface="Calibri"/>
                <a:ea typeface="Calibri"/>
                <a:cs typeface="Calibri"/>
                <a:sym typeface="Calibri"/>
              </a:rPr>
              <a:t> sees the core and asks to </a:t>
            </a:r>
            <a:r>
              <a:rPr b="1" i="0" lang="en-US" u="none" cap="none" strike="noStrike">
                <a:solidFill>
                  <a:srgbClr val="1F2328"/>
                </a:solidFill>
                <a:latin typeface="Calibri"/>
                <a:ea typeface="Calibri"/>
                <a:cs typeface="Calibri"/>
                <a:sym typeface="Calibri"/>
              </a:rPr>
              <a:t>reuse</a:t>
            </a:r>
            <a:r>
              <a:rPr b="0" i="0" lang="en-US" u="none" cap="none" strike="noStrike">
                <a:solidFill>
                  <a:srgbClr val="1F2328"/>
                </a:solidFill>
                <a:latin typeface="Calibri"/>
                <a:ea typeface="Calibri"/>
                <a:cs typeface="Calibri"/>
                <a:sym typeface="Calibri"/>
              </a:rPr>
              <a:t> it.</a:t>
            </a:r>
            <a:endParaRPr/>
          </a:p>
        </p:txBody>
      </p:sp>
      <p:pic>
        <p:nvPicPr>
          <p:cNvPr id="901" name="Google Shape;901;h3b1f15762288d989_2_79" title="judge_llm_icon.png"/>
          <p:cNvPicPr preferRelativeResize="0"/>
          <p:nvPr/>
        </p:nvPicPr>
        <p:blipFill rotWithShape="1">
          <a:blip r:embed="rId4">
            <a:alphaModFix/>
          </a:blip>
          <a:srcRect b="12651" l="17110" r="7384" t="12532"/>
          <a:stretch/>
        </p:blipFill>
        <p:spPr>
          <a:xfrm>
            <a:off x="9918570" y="1807675"/>
            <a:ext cx="944597" cy="9358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6" name="Shape 906"/>
        <p:cNvGrpSpPr/>
        <p:nvPr/>
      </p:nvGrpSpPr>
      <p:grpSpPr>
        <a:xfrm>
          <a:off x="0" y="0"/>
          <a:ext cx="0" cy="0"/>
          <a:chOff x="0" y="0"/>
          <a:chExt cx="0" cy="0"/>
        </a:xfrm>
      </p:grpSpPr>
      <p:sp>
        <p:nvSpPr>
          <p:cNvPr id="907" name="Google Shape;907;h3b1f15762288d989_2_114"/>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5 / VALIDATE</a:t>
            </a:r>
            <a:endParaRPr b="0" i="0" sz="1400" u="none" cap="none" strike="noStrike">
              <a:solidFill>
                <a:srgbClr val="000000"/>
              </a:solidFill>
              <a:latin typeface="Arial"/>
              <a:ea typeface="Arial"/>
              <a:cs typeface="Arial"/>
              <a:sym typeface="Arial"/>
            </a:endParaRPr>
          </a:p>
        </p:txBody>
      </p:sp>
      <p:sp>
        <p:nvSpPr>
          <p:cNvPr id="908" name="Google Shape;908;h3b1f15762288d989_2_114"/>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Why validate? Plausible fragments can still break the ontology.</a:t>
            </a:r>
            <a:endParaRPr b="0" i="0" sz="1400" u="none" cap="none" strike="noStrike">
              <a:solidFill>
                <a:srgbClr val="000000"/>
              </a:solidFill>
              <a:latin typeface="Arial"/>
              <a:ea typeface="Arial"/>
              <a:cs typeface="Arial"/>
              <a:sym typeface="Arial"/>
            </a:endParaRPr>
          </a:p>
        </p:txBody>
      </p:sp>
      <p:sp>
        <p:nvSpPr>
          <p:cNvPr id="909" name="Google Shape;909;h3b1f15762288d989_2_114"/>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0" name="Google Shape;910;h3b1f15762288d989_2_114"/>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911" name="Google Shape;911;h3b1f15762288d989_2_114"/>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h3b1f15762288d989_2_114"/>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913" name="Google Shape;913;h3b1f15762288d989_2_114"/>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4" name="Google Shape;914;h3b1f15762288d989_2_114"/>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915" name="Google Shape;915;h3b1f15762288d989_2_114"/>
          <p:cNvSpPr/>
          <p:nvPr/>
        </p:nvSpPr>
        <p:spPr>
          <a:xfrm>
            <a:off x="6318503"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6" name="Google Shape;916;h3b1f15762288d989_2_114"/>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917" name="Google Shape;917;h3b1f15762288d989_2_114"/>
          <p:cNvSpPr/>
          <p:nvPr/>
        </p:nvSpPr>
        <p:spPr>
          <a:xfrm>
            <a:off x="8156448"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8" name="Google Shape;918;h3b1f15762288d989_2_114"/>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919" name="Google Shape;919;h3b1f15762288d989_2_114"/>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0" name="Google Shape;920;h3b1f15762288d989_2_114"/>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921" name="Google Shape;921;h3b1f15762288d989_2_114"/>
          <p:cNvSpPr/>
          <p:nvPr/>
        </p:nvSpPr>
        <p:spPr>
          <a:xfrm>
            <a:off x="690625" y="1765393"/>
            <a:ext cx="5193900" cy="2469000"/>
          </a:xfrm>
          <a:prstGeom prst="roundRect">
            <a:avLst>
              <a:gd fmla="val 16667" name="adj"/>
            </a:avLst>
          </a:prstGeom>
          <a:solidFill>
            <a:srgbClr val="FFFFFF"/>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2" name="Google Shape;922;h3b1f15762288d989_2_114"/>
          <p:cNvSpPr txBox="1"/>
          <p:nvPr/>
        </p:nvSpPr>
        <p:spPr>
          <a:xfrm>
            <a:off x="919225" y="194827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u="none" cap="none" strike="noStrike">
                <a:solidFill>
                  <a:srgbClr val="0B6E4F"/>
                </a:solidFill>
                <a:latin typeface="Consolas"/>
                <a:ea typeface="Consolas"/>
                <a:cs typeface="Consolas"/>
                <a:sym typeface="Consolas"/>
              </a:rPr>
              <a:t>STRUCTURAL ERROR · GRAPH CHECKS</a:t>
            </a:r>
            <a:endParaRPr/>
          </a:p>
        </p:txBody>
      </p:sp>
      <p:sp>
        <p:nvSpPr>
          <p:cNvPr id="923" name="Google Shape;923;h3b1f15762288d989_2_114"/>
          <p:cNvSpPr txBox="1"/>
          <p:nvPr/>
        </p:nvSpPr>
        <p:spPr>
          <a:xfrm>
            <a:off x="919225" y="245119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30" u="none" cap="none" strike="noStrike">
                <a:solidFill>
                  <a:srgbClr val="5B6770"/>
                </a:solidFill>
                <a:latin typeface="Calibri"/>
                <a:ea typeface="Calibri"/>
                <a:cs typeface="Calibri"/>
                <a:sym typeface="Calibri"/>
              </a:rPr>
              <a:t>Later table </a:t>
            </a:r>
            <a:r>
              <a:rPr b="1" lang="en-US" sz="1540">
                <a:solidFill>
                  <a:srgbClr val="0B6E4F"/>
                </a:solidFill>
                <a:latin typeface="Consolas"/>
                <a:ea typeface="Consolas"/>
                <a:cs typeface="Consolas"/>
                <a:sym typeface="Consolas"/>
              </a:rPr>
              <a:t>lab_result</a:t>
            </a:r>
            <a:r>
              <a:rPr b="0" i="0" lang="en-US" sz="1430" u="none" cap="none" strike="noStrike">
                <a:solidFill>
                  <a:srgbClr val="5B6770"/>
                </a:solidFill>
                <a:latin typeface="Calibri"/>
                <a:ea typeface="Calibri"/>
                <a:cs typeface="Calibri"/>
                <a:sym typeface="Calibri"/>
              </a:rPr>
              <a:t> </a:t>
            </a:r>
            <a:r>
              <a:rPr b="1" i="0" lang="en-US" sz="1430" u="none" cap="none" strike="noStrike">
                <a:solidFill>
                  <a:srgbClr val="5B6770"/>
                </a:solidFill>
                <a:latin typeface="Calibri"/>
                <a:ea typeface="Calibri"/>
                <a:cs typeface="Calibri"/>
                <a:sym typeface="Calibri"/>
              </a:rPr>
              <a:t>reuses</a:t>
            </a:r>
            <a:r>
              <a:rPr b="0" i="0" lang="en-US" sz="1430" u="none" cap="none" strike="noStrike">
                <a:solidFill>
                  <a:srgbClr val="5B6770"/>
                </a:solidFill>
                <a:latin typeface="Calibri"/>
                <a:ea typeface="Calibri"/>
                <a:cs typeface="Calibri"/>
                <a:sym typeface="Calibri"/>
              </a:rPr>
              <a:t> a core property:</a:t>
            </a:r>
            <a:endParaRPr/>
          </a:p>
        </p:txBody>
      </p:sp>
      <p:sp>
        <p:nvSpPr>
          <p:cNvPr id="924" name="Google Shape;924;h3b1f15762288d989_2_114"/>
          <p:cNvSpPr/>
          <p:nvPr/>
        </p:nvSpPr>
        <p:spPr>
          <a:xfrm>
            <a:off x="919225" y="2807809"/>
            <a:ext cx="4572000" cy="375000"/>
          </a:xfrm>
          <a:prstGeom prst="rect">
            <a:avLst/>
          </a:prstGeom>
          <a:solidFill>
            <a:srgbClr val="FBE9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5" name="Google Shape;925;h3b1f15762288d989_2_114"/>
          <p:cNvSpPr txBox="1"/>
          <p:nvPr/>
        </p:nvSpPr>
        <p:spPr>
          <a:xfrm>
            <a:off x="1056385" y="2891519"/>
            <a:ext cx="42429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23A1E"/>
                </a:solidFill>
                <a:latin typeface="Consolas"/>
                <a:ea typeface="Consolas"/>
                <a:cs typeface="Consolas"/>
                <a:sym typeface="Consolas"/>
              </a:rPr>
              <a:t>ObjectProperty:</a:t>
            </a:r>
            <a:r>
              <a:rPr b="0" i="0" lang="en-US" sz="1200" u="none" cap="none" strike="noStrike">
                <a:solidFill>
                  <a:srgbClr val="B23A1E"/>
                </a:solidFill>
                <a:latin typeface="Consolas"/>
                <a:ea typeface="Consolas"/>
                <a:cs typeface="Consolas"/>
                <a:sym typeface="Consolas"/>
              </a:rPr>
              <a:t> hasPatientData  </a:t>
            </a:r>
            <a:r>
              <a:rPr b="1" i="0" lang="en-US" sz="1200" u="none" cap="none" strike="noStrike">
                <a:solidFill>
                  <a:srgbClr val="B23A1E"/>
                </a:solidFill>
                <a:latin typeface="Consolas"/>
                <a:ea typeface="Consolas"/>
                <a:cs typeface="Consolas"/>
                <a:sym typeface="Consolas"/>
              </a:rPr>
              <a:t>Domain:</a:t>
            </a:r>
            <a:r>
              <a:rPr b="0" i="0" lang="en-US" sz="1200" u="none" cap="none" strike="noStrike">
                <a:solidFill>
                  <a:srgbClr val="B23A1E"/>
                </a:solidFill>
                <a:latin typeface="Consolas"/>
                <a:ea typeface="Consolas"/>
                <a:cs typeface="Consolas"/>
                <a:sym typeface="Consolas"/>
              </a:rPr>
              <a:t> LabResult</a:t>
            </a:r>
            <a:endParaRPr/>
          </a:p>
        </p:txBody>
      </p:sp>
      <p:sp>
        <p:nvSpPr>
          <p:cNvPr id="926" name="Google Shape;926;h3b1f15762288d989_2_114"/>
          <p:cNvSpPr txBox="1"/>
          <p:nvPr/>
        </p:nvSpPr>
        <p:spPr>
          <a:xfrm>
            <a:off x="919225" y="3457409"/>
            <a:ext cx="4572000" cy="646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1F2328"/>
                </a:solidFill>
                <a:latin typeface="Calibri"/>
                <a:ea typeface="Calibri"/>
                <a:cs typeface="Calibri"/>
                <a:sym typeface="Calibri"/>
              </a:rPr>
              <a:t>Merged with </a:t>
            </a:r>
            <a:r>
              <a:rPr b="1" lang="en-US">
                <a:solidFill>
                  <a:srgbClr val="0B6E4F"/>
                </a:solidFill>
                <a:latin typeface="Consolas"/>
                <a:ea typeface="Consolas"/>
                <a:cs typeface="Consolas"/>
                <a:sym typeface="Consolas"/>
              </a:rPr>
              <a:t>PatientData Domain: Admission</a:t>
            </a:r>
            <a:r>
              <a:rPr b="0" i="0" lang="en-US" u="none" cap="none" strike="noStrike">
                <a:solidFill>
                  <a:srgbClr val="1F2328"/>
                </a:solidFill>
                <a:latin typeface="Calibri"/>
                <a:ea typeface="Calibri"/>
                <a:cs typeface="Calibri"/>
                <a:sym typeface="Calibri"/>
              </a:rPr>
              <a:t>, OWL infers that every lab result is an admission (pitfall P19). Graph checks allow </a:t>
            </a:r>
            <a:r>
              <a:rPr b="1" i="0" lang="en-US" u="none" cap="none" strike="noStrike">
                <a:solidFill>
                  <a:srgbClr val="1F2328"/>
                </a:solidFill>
                <a:latin typeface="Calibri"/>
                <a:ea typeface="Calibri"/>
                <a:cs typeface="Calibri"/>
                <a:sym typeface="Calibri"/>
              </a:rPr>
              <a:t>one domain per property</a:t>
            </a:r>
            <a:r>
              <a:rPr b="0" i="0" lang="en-US" u="none" cap="none" strike="noStrike">
                <a:solidFill>
                  <a:srgbClr val="1F2328"/>
                </a:solidFill>
                <a:latin typeface="Calibri"/>
                <a:ea typeface="Calibri"/>
                <a:cs typeface="Calibri"/>
                <a:sym typeface="Calibri"/>
              </a:rPr>
              <a:t>.</a:t>
            </a:r>
            <a:endParaRPr/>
          </a:p>
        </p:txBody>
      </p:sp>
      <p:sp>
        <p:nvSpPr>
          <p:cNvPr id="927" name="Google Shape;927;h3b1f15762288d989_2_114"/>
          <p:cNvSpPr/>
          <p:nvPr/>
        </p:nvSpPr>
        <p:spPr>
          <a:xfrm>
            <a:off x="841248" y="4718304"/>
            <a:ext cx="10515600" cy="658500"/>
          </a:xfrm>
          <a:prstGeom prst="roundRect">
            <a:avLst>
              <a:gd fmla="val 16667" name="adj"/>
            </a:avLst>
          </a:prstGeom>
          <a:solidFill>
            <a:srgbClr val="E6F2EC"/>
          </a:solidFill>
          <a:ln cap="flat" cmpd="sng" w="9525">
            <a:solidFill>
              <a:srgbClr val="B7D7C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8" name="Google Shape;928;h3b1f15762288d989_2_114"/>
          <p:cNvSpPr txBox="1"/>
          <p:nvPr/>
        </p:nvSpPr>
        <p:spPr>
          <a:xfrm>
            <a:off x="1024128" y="4800600"/>
            <a:ext cx="99852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B6E4F"/>
                </a:solidFill>
                <a:latin typeface="Calibri"/>
                <a:ea typeface="Calibri"/>
                <a:cs typeface="Calibri"/>
                <a:sym typeface="Calibri"/>
              </a:rPr>
              <a:t>CORRECTION   </a:t>
            </a:r>
            <a:r>
              <a:rPr b="1" i="0" lang="en-US" sz="1200" u="none" cap="none" strike="noStrike">
                <a:solidFill>
                  <a:srgbClr val="0B6E4F"/>
                </a:solidFill>
                <a:latin typeface="Consolas"/>
                <a:ea typeface="Consolas"/>
                <a:cs typeface="Consolas"/>
                <a:sym typeface="Consolas"/>
              </a:rPr>
              <a:t>ObjectProperty:</a:t>
            </a:r>
            <a:r>
              <a:rPr b="0" i="0" lang="en-US" sz="1200" u="none" cap="none" strike="noStrike">
                <a:solidFill>
                  <a:srgbClr val="1F2328"/>
                </a:solidFill>
                <a:latin typeface="Consolas"/>
                <a:ea typeface="Consolas"/>
                <a:cs typeface="Consolas"/>
                <a:sym typeface="Consolas"/>
              </a:rPr>
              <a:t> hasPatientData  </a:t>
            </a:r>
            <a:r>
              <a:rPr b="1" i="0" lang="en-US" sz="1200" u="none" cap="none" strike="noStrike">
                <a:solidFill>
                  <a:srgbClr val="0B6E4F"/>
                </a:solidFill>
                <a:latin typeface="Consolas"/>
                <a:ea typeface="Consolas"/>
                <a:cs typeface="Consolas"/>
                <a:sym typeface="Consolas"/>
              </a:rPr>
              <a:t>Range:</a:t>
            </a:r>
            <a:r>
              <a:rPr b="0" i="0" lang="en-US" sz="1200" u="none" cap="none" strike="noStrike">
                <a:solidFill>
                  <a:srgbClr val="1F2328"/>
                </a:solidFill>
                <a:latin typeface="Consolas"/>
                <a:ea typeface="Consolas"/>
                <a:cs typeface="Consolas"/>
                <a:sym typeface="Consolas"/>
              </a:rPr>
              <a:t> PatientData</a:t>
            </a:r>
            <a:r>
              <a:rPr b="0" i="0" lang="en-US" sz="1300" u="none" cap="none" strike="noStrike">
                <a:solidFill>
                  <a:srgbClr val="5B6770"/>
                </a:solidFill>
                <a:latin typeface="Calibri"/>
                <a:ea typeface="Calibri"/>
                <a:cs typeface="Calibri"/>
                <a:sym typeface="Calibri"/>
              </a:rPr>
              <a:t>    |    </a:t>
            </a:r>
            <a:r>
              <a:rPr b="1" i="0" lang="en-US" sz="1200" u="none" cap="none" strike="noStrike">
                <a:solidFill>
                  <a:srgbClr val="0B6E4F"/>
                </a:solidFill>
                <a:latin typeface="Consolas"/>
                <a:ea typeface="Consolas"/>
                <a:cs typeface="Consolas"/>
                <a:sym typeface="Consolas"/>
              </a:rPr>
              <a:t>ObjectProperty:</a:t>
            </a:r>
            <a:r>
              <a:rPr b="0" i="0" lang="en-US" sz="1200" u="none" cap="none" strike="noStrike">
                <a:solidFill>
                  <a:srgbClr val="1F2328"/>
                </a:solidFill>
                <a:latin typeface="Consolas"/>
                <a:ea typeface="Consolas"/>
                <a:cs typeface="Consolas"/>
                <a:sym typeface="Consolas"/>
              </a:rPr>
              <a:t> labResultOf  </a:t>
            </a:r>
            <a:r>
              <a:rPr b="1" i="0" lang="en-US" sz="1200" u="none" cap="none" strike="noStrike">
                <a:solidFill>
                  <a:srgbClr val="0B6E4F"/>
                </a:solidFill>
                <a:latin typeface="Consolas"/>
                <a:ea typeface="Consolas"/>
                <a:cs typeface="Consolas"/>
                <a:sym typeface="Consolas"/>
              </a:rPr>
              <a:t>Domain:</a:t>
            </a:r>
            <a:r>
              <a:rPr b="0" i="0" lang="en-US" sz="1200" u="none" cap="none" strike="noStrike">
                <a:solidFill>
                  <a:srgbClr val="1F2328"/>
                </a:solidFill>
                <a:latin typeface="Consolas"/>
                <a:ea typeface="Consolas"/>
                <a:cs typeface="Consolas"/>
                <a:sym typeface="Consolas"/>
              </a:rPr>
              <a:t> LabResult</a:t>
            </a:r>
            <a:endParaRPr/>
          </a:p>
        </p:txBody>
      </p:sp>
      <p:sp>
        <p:nvSpPr>
          <p:cNvPr id="929" name="Google Shape;929;h3b1f15762288d989_2_114"/>
          <p:cNvSpPr txBox="1"/>
          <p:nvPr/>
        </p:nvSpPr>
        <p:spPr>
          <a:xfrm>
            <a:off x="1024128" y="5120640"/>
            <a:ext cx="10021800" cy="189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30" u="none" cap="none" strike="noStrike">
                <a:solidFill>
                  <a:srgbClr val="5B6770"/>
                </a:solidFill>
                <a:latin typeface="Calibri"/>
                <a:ea typeface="Calibri"/>
                <a:cs typeface="Calibri"/>
                <a:sym typeface="Calibri"/>
              </a:rPr>
              <a:t>Issues → generator correction (up to 2 retries) → graph validation → accepted fragment or fallback</a:t>
            </a:r>
            <a:endParaRPr/>
          </a:p>
        </p:txBody>
      </p:sp>
      <p:pic>
        <p:nvPicPr>
          <p:cNvPr id="930" name="Google Shape;930;h3b1f15762288d989_2_114" title="graph_checks_icon.png"/>
          <p:cNvPicPr preferRelativeResize="0"/>
          <p:nvPr/>
        </p:nvPicPr>
        <p:blipFill rotWithShape="1">
          <a:blip r:embed="rId3">
            <a:alphaModFix/>
          </a:blip>
          <a:srcRect b="19469" l="4324" r="13635" t="18031"/>
          <a:stretch/>
        </p:blipFill>
        <p:spPr>
          <a:xfrm>
            <a:off x="4682434" y="1948275"/>
            <a:ext cx="981848" cy="747949"/>
          </a:xfrm>
          <a:prstGeom prst="rect">
            <a:avLst/>
          </a:prstGeom>
          <a:noFill/>
          <a:ln>
            <a:noFill/>
          </a:ln>
        </p:spPr>
      </p:pic>
      <p:sp>
        <p:nvSpPr>
          <p:cNvPr id="931" name="Google Shape;931;h3b1f15762288d989_2_114"/>
          <p:cNvSpPr/>
          <p:nvPr/>
        </p:nvSpPr>
        <p:spPr>
          <a:xfrm>
            <a:off x="6062420" y="1765393"/>
            <a:ext cx="5193900" cy="2469000"/>
          </a:xfrm>
          <a:prstGeom prst="roundRect">
            <a:avLst>
              <a:gd fmla="val 16667" name="adj"/>
            </a:avLst>
          </a:prstGeom>
          <a:solidFill>
            <a:srgbClr val="FFFFFF"/>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32" name="Google Shape;932;h3b1f15762288d989_2_114"/>
          <p:cNvSpPr txBox="1"/>
          <p:nvPr/>
        </p:nvSpPr>
        <p:spPr>
          <a:xfrm>
            <a:off x="6291020" y="1948273"/>
            <a:ext cx="46269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0B6E4F"/>
                </a:solidFill>
                <a:latin typeface="Consolas"/>
                <a:ea typeface="Consolas"/>
                <a:cs typeface="Consolas"/>
                <a:sym typeface="Consolas"/>
              </a:rPr>
              <a:t>SEMANTIC ERROR · JUDGE-LLM</a:t>
            </a:r>
            <a:endParaRPr/>
          </a:p>
        </p:txBody>
      </p:sp>
      <p:sp>
        <p:nvSpPr>
          <p:cNvPr id="933" name="Google Shape;933;h3b1f15762288d989_2_114"/>
          <p:cNvSpPr txBox="1"/>
          <p:nvPr/>
        </p:nvSpPr>
        <p:spPr>
          <a:xfrm>
            <a:off x="6300164" y="2451193"/>
            <a:ext cx="46176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5B6770"/>
                </a:solidFill>
                <a:latin typeface="Calibri"/>
                <a:ea typeface="Calibri"/>
                <a:cs typeface="Calibri"/>
                <a:sym typeface="Calibri"/>
              </a:rPr>
              <a:t>Generated link for </a:t>
            </a:r>
            <a:r>
              <a:rPr b="1" lang="en-US">
                <a:solidFill>
                  <a:srgbClr val="0B6E4F"/>
                </a:solidFill>
                <a:latin typeface="Consolas"/>
                <a:ea typeface="Consolas"/>
                <a:cs typeface="Consolas"/>
                <a:sym typeface="Consolas"/>
              </a:rPr>
              <a:t>admission</a:t>
            </a:r>
            <a:r>
              <a:rPr b="0" i="0" lang="en-US" u="none" cap="none" strike="noStrike">
                <a:solidFill>
                  <a:srgbClr val="5B6770"/>
                </a:solidFill>
                <a:latin typeface="Calibri"/>
                <a:ea typeface="Calibri"/>
                <a:cs typeface="Calibri"/>
                <a:sym typeface="Calibri"/>
              </a:rPr>
              <a:t>:</a:t>
            </a:r>
            <a:endParaRPr/>
          </a:p>
        </p:txBody>
      </p:sp>
      <p:sp>
        <p:nvSpPr>
          <p:cNvPr id="934" name="Google Shape;934;h3b1f15762288d989_2_114"/>
          <p:cNvSpPr/>
          <p:nvPr/>
        </p:nvSpPr>
        <p:spPr>
          <a:xfrm>
            <a:off x="6300164" y="2807809"/>
            <a:ext cx="4563000" cy="375000"/>
          </a:xfrm>
          <a:prstGeom prst="rect">
            <a:avLst/>
          </a:prstGeom>
          <a:solidFill>
            <a:srgbClr val="FBE9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35" name="Google Shape;935;h3b1f15762288d989_2_114"/>
          <p:cNvSpPr txBox="1"/>
          <p:nvPr/>
        </p:nvSpPr>
        <p:spPr>
          <a:xfrm>
            <a:off x="6373316" y="2891519"/>
            <a:ext cx="44349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23A1E"/>
                </a:solidFill>
                <a:latin typeface="Consolas"/>
                <a:ea typeface="Consolas"/>
                <a:cs typeface="Consolas"/>
                <a:sym typeface="Consolas"/>
              </a:rPr>
              <a:t>ObjectProperty:</a:t>
            </a:r>
            <a:r>
              <a:rPr b="0" i="0" lang="en-US" sz="1200" u="none" cap="none" strike="noStrike">
                <a:solidFill>
                  <a:srgbClr val="B23A1E"/>
                </a:solidFill>
                <a:latin typeface="Consolas"/>
                <a:ea typeface="Consolas"/>
                <a:cs typeface="Consolas"/>
                <a:sym typeface="Consolas"/>
              </a:rPr>
              <a:t> hasPatient  </a:t>
            </a:r>
            <a:r>
              <a:rPr b="1" i="0" lang="en-US" sz="1200" u="none" cap="none" strike="noStrike">
                <a:solidFill>
                  <a:srgbClr val="B23A1E"/>
                </a:solidFill>
                <a:latin typeface="Consolas"/>
                <a:ea typeface="Consolas"/>
                <a:cs typeface="Consolas"/>
                <a:sym typeface="Consolas"/>
              </a:rPr>
              <a:t>Range:</a:t>
            </a:r>
            <a:r>
              <a:rPr b="0" i="0" lang="en-US" sz="1200" u="none" cap="none" strike="noStrike">
                <a:solidFill>
                  <a:srgbClr val="B23A1E"/>
                </a:solidFill>
                <a:latin typeface="Consolas"/>
                <a:ea typeface="Consolas"/>
                <a:cs typeface="Consolas"/>
                <a:sym typeface="Consolas"/>
              </a:rPr>
              <a:t> Patient</a:t>
            </a:r>
            <a:endParaRPr/>
          </a:p>
        </p:txBody>
      </p:sp>
      <p:sp>
        <p:nvSpPr>
          <p:cNvPr id="936" name="Google Shape;936;h3b1f15762288d989_2_114"/>
          <p:cNvSpPr txBox="1"/>
          <p:nvPr/>
        </p:nvSpPr>
        <p:spPr>
          <a:xfrm>
            <a:off x="6300164" y="3445625"/>
            <a:ext cx="4572000" cy="646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1F2328"/>
                </a:solidFill>
                <a:latin typeface="Calibri"/>
                <a:ea typeface="Calibri"/>
                <a:cs typeface="Calibri"/>
                <a:sym typeface="Calibri"/>
              </a:rPr>
              <a:t>Valid OWL, but the </a:t>
            </a:r>
            <a:r>
              <a:rPr b="1" i="0" lang="en-US" u="none" cap="none" strike="noStrike">
                <a:solidFill>
                  <a:srgbClr val="1F2328"/>
                </a:solidFill>
                <a:latin typeface="Calibri"/>
                <a:ea typeface="Calibri"/>
                <a:cs typeface="Calibri"/>
                <a:sym typeface="Calibri"/>
              </a:rPr>
              <a:t>core ontology</a:t>
            </a:r>
            <a:r>
              <a:rPr b="0" i="0" lang="en-US" u="none" cap="none" strike="noStrike">
                <a:solidFill>
                  <a:srgbClr val="1F2328"/>
                </a:solidFill>
                <a:latin typeface="Calibri"/>
                <a:ea typeface="Calibri"/>
                <a:cs typeface="Calibri"/>
                <a:sym typeface="Calibri"/>
              </a:rPr>
              <a:t> already has </a:t>
            </a:r>
            <a:r>
              <a:rPr b="1" lang="en-US">
                <a:solidFill>
                  <a:srgbClr val="0B6E4F"/>
                </a:solidFill>
                <a:latin typeface="Consolas"/>
                <a:ea typeface="Consolas"/>
                <a:cs typeface="Consolas"/>
                <a:sym typeface="Consolas"/>
              </a:rPr>
              <a:t>PatientData</a:t>
            </a:r>
            <a:r>
              <a:rPr b="0" i="0" lang="en-US" u="none" cap="none" strike="noStrike">
                <a:solidFill>
                  <a:srgbClr val="1F2328"/>
                </a:solidFill>
                <a:latin typeface="Calibri"/>
                <a:ea typeface="Calibri"/>
                <a:cs typeface="Calibri"/>
                <a:sym typeface="Calibri"/>
              </a:rPr>
              <a:t>, now </a:t>
            </a:r>
            <a:r>
              <a:rPr b="1" i="0" lang="en-US" u="none" cap="none" strike="noStrike">
                <a:solidFill>
                  <a:srgbClr val="1F2328"/>
                </a:solidFill>
                <a:latin typeface="Calibri"/>
                <a:ea typeface="Calibri"/>
                <a:cs typeface="Calibri"/>
                <a:sym typeface="Calibri"/>
              </a:rPr>
              <a:t>two classes</a:t>
            </a:r>
            <a:r>
              <a:rPr b="0" i="0" lang="en-US" u="none" cap="none" strike="noStrike">
                <a:solidFill>
                  <a:srgbClr val="1F2328"/>
                </a:solidFill>
                <a:latin typeface="Calibri"/>
                <a:ea typeface="Calibri"/>
                <a:cs typeface="Calibri"/>
                <a:sym typeface="Calibri"/>
              </a:rPr>
              <a:t> mean the </a:t>
            </a:r>
            <a:r>
              <a:rPr b="1" i="0" lang="en-US" u="none" cap="none" strike="noStrike">
                <a:solidFill>
                  <a:srgbClr val="1F2328"/>
                </a:solidFill>
                <a:latin typeface="Calibri"/>
                <a:ea typeface="Calibri"/>
                <a:cs typeface="Calibri"/>
                <a:sym typeface="Calibri"/>
              </a:rPr>
              <a:t>same thing</a:t>
            </a:r>
            <a:r>
              <a:rPr b="0" i="0" lang="en-US" u="none" cap="none" strike="noStrike">
                <a:solidFill>
                  <a:srgbClr val="1F2328"/>
                </a:solidFill>
                <a:latin typeface="Calibri"/>
                <a:ea typeface="Calibri"/>
                <a:cs typeface="Calibri"/>
                <a:sym typeface="Calibri"/>
              </a:rPr>
              <a:t>. The </a:t>
            </a:r>
            <a:r>
              <a:rPr b="1" lang="en-US">
                <a:solidFill>
                  <a:srgbClr val="0B6E4F"/>
                </a:solidFill>
                <a:latin typeface="Consolas"/>
                <a:ea typeface="Consolas"/>
                <a:cs typeface="Consolas"/>
                <a:sym typeface="Consolas"/>
              </a:rPr>
              <a:t>JUDGE-LLM</a:t>
            </a:r>
            <a:r>
              <a:rPr b="0" i="0" lang="en-US" u="none" cap="none" strike="noStrike">
                <a:solidFill>
                  <a:srgbClr val="1F2328"/>
                </a:solidFill>
                <a:latin typeface="Calibri"/>
                <a:ea typeface="Calibri"/>
                <a:cs typeface="Calibri"/>
                <a:sym typeface="Calibri"/>
              </a:rPr>
              <a:t> sees the core and asks to </a:t>
            </a:r>
            <a:r>
              <a:rPr b="1" i="0" lang="en-US" u="none" cap="none" strike="noStrike">
                <a:solidFill>
                  <a:srgbClr val="1F2328"/>
                </a:solidFill>
                <a:latin typeface="Calibri"/>
                <a:ea typeface="Calibri"/>
                <a:cs typeface="Calibri"/>
                <a:sym typeface="Calibri"/>
              </a:rPr>
              <a:t>reuse</a:t>
            </a:r>
            <a:r>
              <a:rPr b="0" i="0" lang="en-US" u="none" cap="none" strike="noStrike">
                <a:solidFill>
                  <a:srgbClr val="1F2328"/>
                </a:solidFill>
                <a:latin typeface="Calibri"/>
                <a:ea typeface="Calibri"/>
                <a:cs typeface="Calibri"/>
                <a:sym typeface="Calibri"/>
              </a:rPr>
              <a:t> it.</a:t>
            </a:r>
            <a:endParaRPr/>
          </a:p>
        </p:txBody>
      </p:sp>
      <p:pic>
        <p:nvPicPr>
          <p:cNvPr id="937" name="Google Shape;937;h3b1f15762288d989_2_114" title="judge_llm_icon.png"/>
          <p:cNvPicPr preferRelativeResize="0"/>
          <p:nvPr/>
        </p:nvPicPr>
        <p:blipFill rotWithShape="1">
          <a:blip r:embed="rId4">
            <a:alphaModFix/>
          </a:blip>
          <a:srcRect b="12651" l="17110" r="7384" t="12532"/>
          <a:stretch/>
        </p:blipFill>
        <p:spPr>
          <a:xfrm>
            <a:off x="9918570" y="1807675"/>
            <a:ext cx="944597" cy="9358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2" name="Shape 942"/>
        <p:cNvGrpSpPr/>
        <p:nvPr/>
      </p:nvGrpSpPr>
      <p:grpSpPr>
        <a:xfrm>
          <a:off x="0" y="0"/>
          <a:ext cx="0" cy="0"/>
          <a:chOff x="0" y="0"/>
          <a:chExt cx="0" cy="0"/>
        </a:xfrm>
      </p:grpSpPr>
      <p:sp>
        <p:nvSpPr>
          <p:cNvPr id="943" name="Google Shape;943;p11"/>
          <p:cNvSpPr txBox="1"/>
          <p:nvPr/>
        </p:nvSpPr>
        <p:spPr>
          <a:xfrm>
            <a:off x="795528" y="448056"/>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6 / MERGE</a:t>
            </a:r>
            <a:endParaRPr b="0" i="0" sz="1400" u="none" cap="none" strike="noStrike">
              <a:solidFill>
                <a:srgbClr val="000000"/>
              </a:solidFill>
              <a:latin typeface="Arial"/>
              <a:ea typeface="Arial"/>
              <a:cs typeface="Arial"/>
              <a:sym typeface="Arial"/>
            </a:endParaRPr>
          </a:p>
        </p:txBody>
      </p:sp>
      <p:sp>
        <p:nvSpPr>
          <p:cNvPr id="944" name="Google Shape;944;p11"/>
          <p:cNvSpPr txBox="1"/>
          <p:nvPr/>
        </p:nvSpPr>
        <p:spPr>
          <a:xfrm>
            <a:off x="795528" y="850392"/>
            <a:ext cx="1083570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ontology we built now helps build the next part.</a:t>
            </a:r>
            <a:endParaRPr b="0" i="0" sz="1400" u="none" cap="none" strike="noStrike">
              <a:solidFill>
                <a:srgbClr val="000000"/>
              </a:solidFill>
              <a:latin typeface="Arial"/>
              <a:ea typeface="Arial"/>
              <a:cs typeface="Arial"/>
              <a:sym typeface="Arial"/>
            </a:endParaRPr>
          </a:p>
        </p:txBody>
      </p:sp>
      <p:sp>
        <p:nvSpPr>
          <p:cNvPr id="945" name="Google Shape;945;p11"/>
          <p:cNvSpPr txBox="1"/>
          <p:nvPr/>
        </p:nvSpPr>
        <p:spPr>
          <a:xfrm>
            <a:off x="795528" y="1609344"/>
            <a:ext cx="10607100" cy="347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Integrate the refined fragment; use the expanded core as retrieval context.</a:t>
            </a:r>
            <a:endParaRPr b="0" i="0" sz="1400" u="none" cap="none" strike="noStrike">
              <a:solidFill>
                <a:srgbClr val="000000"/>
              </a:solidFill>
              <a:latin typeface="Arial"/>
              <a:ea typeface="Arial"/>
              <a:cs typeface="Arial"/>
              <a:sym typeface="Arial"/>
            </a:endParaRPr>
          </a:p>
        </p:txBody>
      </p:sp>
      <p:sp>
        <p:nvSpPr>
          <p:cNvPr id="946" name="Google Shape;946;p11"/>
          <p:cNvSpPr/>
          <p:nvPr/>
        </p:nvSpPr>
        <p:spPr>
          <a:xfrm>
            <a:off x="813816" y="2139696"/>
            <a:ext cx="3017400" cy="25419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7" name="Google Shape;947;p11"/>
          <p:cNvSpPr txBox="1"/>
          <p:nvPr/>
        </p:nvSpPr>
        <p:spPr>
          <a:xfrm>
            <a:off x="1069848" y="2304288"/>
            <a:ext cx="2578500" cy="301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EXISTING CORE  O₁</a:t>
            </a:r>
            <a:endParaRPr b="0" i="0" sz="1400" u="none" cap="none" strike="noStrike">
              <a:solidFill>
                <a:srgbClr val="000000"/>
              </a:solidFill>
              <a:latin typeface="Arial"/>
              <a:ea typeface="Arial"/>
              <a:cs typeface="Arial"/>
              <a:sym typeface="Arial"/>
            </a:endParaRPr>
          </a:p>
        </p:txBody>
      </p:sp>
      <p:sp>
        <p:nvSpPr>
          <p:cNvPr id="948" name="Google Shape;948;p11"/>
          <p:cNvSpPr/>
          <p:nvPr/>
        </p:nvSpPr>
        <p:spPr>
          <a:xfrm>
            <a:off x="1408176" y="3017520"/>
            <a:ext cx="1847100" cy="630900"/>
          </a:xfrm>
          <a:prstGeom prst="roundRect">
            <a:avLst>
              <a:gd fmla="val 10000" name="adj"/>
            </a:avLst>
          </a:prstGeom>
          <a:solidFill>
            <a:srgbClr val="E6F2EC"/>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9" name="Google Shape;949;p11"/>
          <p:cNvSpPr txBox="1"/>
          <p:nvPr/>
        </p:nvSpPr>
        <p:spPr>
          <a:xfrm>
            <a:off x="1563624" y="3182112"/>
            <a:ext cx="1536300" cy="237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sp>
        <p:nvSpPr>
          <p:cNvPr id="950" name="Google Shape;950;p11"/>
          <p:cNvSpPr txBox="1"/>
          <p:nvPr/>
        </p:nvSpPr>
        <p:spPr>
          <a:xfrm>
            <a:off x="1380744" y="4005072"/>
            <a:ext cx="2030100" cy="2742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already validated</a:t>
            </a:r>
            <a:endParaRPr b="0" i="0" sz="1400" u="none" cap="none" strike="noStrike">
              <a:solidFill>
                <a:srgbClr val="000000"/>
              </a:solidFill>
              <a:latin typeface="Arial"/>
              <a:ea typeface="Arial"/>
              <a:cs typeface="Arial"/>
              <a:sym typeface="Arial"/>
            </a:endParaRPr>
          </a:p>
        </p:txBody>
      </p:sp>
      <p:sp>
        <p:nvSpPr>
          <p:cNvPr id="951" name="Google Shape;951;p11"/>
          <p:cNvSpPr txBox="1"/>
          <p:nvPr/>
        </p:nvSpPr>
        <p:spPr>
          <a:xfrm>
            <a:off x="3968496" y="3108960"/>
            <a:ext cx="365700" cy="52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rgbClr val="0B6E4F"/>
                </a:solidFill>
                <a:latin typeface="Cambria"/>
                <a:ea typeface="Cambria"/>
                <a:cs typeface="Cambria"/>
                <a:sym typeface="Cambria"/>
              </a:rPr>
              <a:t>+</a:t>
            </a:r>
            <a:endParaRPr b="0" i="0" sz="1400" u="none" cap="none" strike="noStrike">
              <a:solidFill>
                <a:srgbClr val="000000"/>
              </a:solidFill>
              <a:latin typeface="Arial"/>
              <a:ea typeface="Arial"/>
              <a:cs typeface="Arial"/>
              <a:sym typeface="Arial"/>
            </a:endParaRPr>
          </a:p>
        </p:txBody>
      </p:sp>
      <p:sp>
        <p:nvSpPr>
          <p:cNvPr id="952" name="Google Shape;952;p11"/>
          <p:cNvSpPr/>
          <p:nvPr/>
        </p:nvSpPr>
        <p:spPr>
          <a:xfrm>
            <a:off x="4471416" y="2139696"/>
            <a:ext cx="2944500" cy="2541900"/>
          </a:xfrm>
          <a:prstGeom prst="roundRect">
            <a:avLst>
              <a:gd fmla="val 10000" name="adj"/>
            </a:avLst>
          </a:prstGeom>
          <a:solidFill>
            <a:srgbClr val="FFFFFF"/>
          </a:solidFill>
          <a:ln cap="flat" cmpd="sng" w="12700">
            <a:solidFill>
              <a:srgbClr val="2F6B7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3" name="Google Shape;953;p11"/>
          <p:cNvSpPr txBox="1"/>
          <p:nvPr/>
        </p:nvSpPr>
        <p:spPr>
          <a:xfrm>
            <a:off x="4700016" y="2304288"/>
            <a:ext cx="2551200" cy="301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REFINED DELTA  ΔOadmission</a:t>
            </a:r>
            <a:endParaRPr b="0" i="0" sz="1400" u="none" cap="none" strike="noStrike">
              <a:solidFill>
                <a:srgbClr val="000000"/>
              </a:solidFill>
              <a:latin typeface="Arial"/>
              <a:ea typeface="Arial"/>
              <a:cs typeface="Arial"/>
              <a:sym typeface="Arial"/>
            </a:endParaRPr>
          </a:p>
        </p:txBody>
      </p:sp>
      <p:sp>
        <p:nvSpPr>
          <p:cNvPr id="954" name="Google Shape;954;p11"/>
          <p:cNvSpPr/>
          <p:nvPr/>
        </p:nvSpPr>
        <p:spPr>
          <a:xfrm>
            <a:off x="4956048" y="3017520"/>
            <a:ext cx="1956900" cy="630900"/>
          </a:xfrm>
          <a:prstGeom prst="roundRect">
            <a:avLst>
              <a:gd fmla="val 10000" name="adj"/>
            </a:avLst>
          </a:prstGeom>
          <a:solidFill>
            <a:srgbClr val="F3F5F4"/>
          </a:solidFill>
          <a:ln cap="flat" cmpd="sng" w="12700">
            <a:solidFill>
              <a:srgbClr val="2F6B7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5" name="Google Shape;955;p11"/>
          <p:cNvSpPr txBox="1"/>
          <p:nvPr/>
        </p:nvSpPr>
        <p:spPr>
          <a:xfrm>
            <a:off x="5175504" y="3172968"/>
            <a:ext cx="1563600" cy="237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956" name="Google Shape;956;p11"/>
          <p:cNvSpPr txBox="1"/>
          <p:nvPr/>
        </p:nvSpPr>
        <p:spPr>
          <a:xfrm>
            <a:off x="4645152" y="3968496"/>
            <a:ext cx="2633400" cy="3108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Relations · labels · provenance</a:t>
            </a:r>
            <a:endParaRPr b="0" i="0" sz="1400" u="none" cap="none" strike="noStrike">
              <a:solidFill>
                <a:srgbClr val="000000"/>
              </a:solidFill>
              <a:latin typeface="Arial"/>
              <a:ea typeface="Arial"/>
              <a:cs typeface="Arial"/>
              <a:sym typeface="Arial"/>
            </a:endParaRPr>
          </a:p>
        </p:txBody>
      </p:sp>
      <p:cxnSp>
        <p:nvCxnSpPr>
          <p:cNvPr id="957" name="Google Shape;957;p11"/>
          <p:cNvCxnSpPr/>
          <p:nvPr/>
        </p:nvCxnSpPr>
        <p:spPr>
          <a:xfrm>
            <a:off x="7552944" y="3310128"/>
            <a:ext cx="502800" cy="0"/>
          </a:xfrm>
          <a:prstGeom prst="straightConnector1">
            <a:avLst/>
          </a:prstGeom>
          <a:noFill/>
          <a:ln cap="flat" cmpd="sng" w="31750">
            <a:solidFill>
              <a:srgbClr val="0B6E4F"/>
            </a:solidFill>
            <a:prstDash val="solid"/>
            <a:miter lim="80"/>
            <a:headEnd len="sm" w="sm" type="none"/>
            <a:tailEnd len="med" w="med" type="triangle"/>
          </a:ln>
        </p:spPr>
      </p:cxnSp>
      <p:sp>
        <p:nvSpPr>
          <p:cNvPr id="958" name="Google Shape;958;p11"/>
          <p:cNvSpPr/>
          <p:nvPr/>
        </p:nvSpPr>
        <p:spPr>
          <a:xfrm>
            <a:off x="8220456" y="2139696"/>
            <a:ext cx="3191400" cy="2541900"/>
          </a:xfrm>
          <a:prstGeom prst="roundRect">
            <a:avLst>
              <a:gd fmla="val 10000" name="adj"/>
            </a:avLst>
          </a:prstGeom>
          <a:solidFill>
            <a:srgbClr val="FFFFFF"/>
          </a:solidFill>
          <a:ln cap="flat" cmpd="sng" w="1777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9" name="Google Shape;959;p11"/>
          <p:cNvSpPr txBox="1"/>
          <p:nvPr/>
        </p:nvSpPr>
        <p:spPr>
          <a:xfrm>
            <a:off x="8476488" y="2304288"/>
            <a:ext cx="2724900" cy="301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EXPANDED CORE  O₂</a:t>
            </a:r>
            <a:endParaRPr b="0" i="0" sz="1400" u="none" cap="none" strike="noStrike">
              <a:solidFill>
                <a:srgbClr val="000000"/>
              </a:solidFill>
              <a:latin typeface="Arial"/>
              <a:ea typeface="Arial"/>
              <a:cs typeface="Arial"/>
              <a:sym typeface="Arial"/>
            </a:endParaRPr>
          </a:p>
        </p:txBody>
      </p:sp>
      <p:sp>
        <p:nvSpPr>
          <p:cNvPr id="960" name="Google Shape;960;p11"/>
          <p:cNvSpPr/>
          <p:nvPr/>
        </p:nvSpPr>
        <p:spPr>
          <a:xfrm>
            <a:off x="8375904" y="2926080"/>
            <a:ext cx="1234500" cy="521100"/>
          </a:xfrm>
          <a:prstGeom prst="roundRect">
            <a:avLst>
              <a:gd fmla="val 10000" name="adj"/>
            </a:avLst>
          </a:prstGeom>
          <a:solidFill>
            <a:srgbClr val="E6F2EC"/>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1" name="Google Shape;961;p11"/>
          <p:cNvSpPr txBox="1"/>
          <p:nvPr/>
        </p:nvSpPr>
        <p:spPr>
          <a:xfrm>
            <a:off x="8485632" y="3072384"/>
            <a:ext cx="10332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962" name="Google Shape;962;p11"/>
          <p:cNvSpPr/>
          <p:nvPr/>
        </p:nvSpPr>
        <p:spPr>
          <a:xfrm>
            <a:off x="10003536" y="2926080"/>
            <a:ext cx="1271100" cy="521100"/>
          </a:xfrm>
          <a:prstGeom prst="roundRect">
            <a:avLst>
              <a:gd fmla="val 10000" name="adj"/>
            </a:avLst>
          </a:prstGeom>
          <a:solidFill>
            <a:srgbClr val="E6F2EC"/>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3" name="Google Shape;963;p11"/>
          <p:cNvSpPr txBox="1"/>
          <p:nvPr/>
        </p:nvSpPr>
        <p:spPr>
          <a:xfrm>
            <a:off x="10094976" y="3072384"/>
            <a:ext cx="11064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964" name="Google Shape;964;p11"/>
          <p:cNvCxnSpPr/>
          <p:nvPr/>
        </p:nvCxnSpPr>
        <p:spPr>
          <a:xfrm>
            <a:off x="9637776" y="3182112"/>
            <a:ext cx="320100" cy="0"/>
          </a:xfrm>
          <a:prstGeom prst="straightConnector1">
            <a:avLst/>
          </a:prstGeom>
          <a:noFill/>
          <a:ln cap="flat" cmpd="sng" w="29200">
            <a:solidFill>
              <a:srgbClr val="3A7D8C"/>
            </a:solidFill>
            <a:prstDash val="solid"/>
            <a:miter lim="80"/>
            <a:headEnd len="sm" w="sm" type="none"/>
            <a:tailEnd len="med" w="med" type="triangle"/>
          </a:ln>
        </p:spPr>
      </p:cxnSp>
      <p:sp>
        <p:nvSpPr>
          <p:cNvPr id="965" name="Google Shape;965;p11"/>
          <p:cNvSpPr txBox="1"/>
          <p:nvPr/>
        </p:nvSpPr>
        <p:spPr>
          <a:xfrm>
            <a:off x="9473184" y="3547872"/>
            <a:ext cx="1609200" cy="2469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2F6B78"/>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966" name="Google Shape;966;p11"/>
          <p:cNvSpPr txBox="1"/>
          <p:nvPr/>
        </p:nvSpPr>
        <p:spPr>
          <a:xfrm>
            <a:off x="8513064" y="4151376"/>
            <a:ext cx="2697600" cy="274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 enriched annotations</a:t>
            </a:r>
            <a:endParaRPr b="0" i="0" sz="1400" u="none" cap="none" strike="noStrike">
              <a:solidFill>
                <a:srgbClr val="000000"/>
              </a:solidFill>
              <a:latin typeface="Arial"/>
              <a:ea typeface="Arial"/>
              <a:cs typeface="Arial"/>
              <a:sym typeface="Arial"/>
            </a:endParaRPr>
          </a:p>
        </p:txBody>
      </p:sp>
      <p:sp>
        <p:nvSpPr>
          <p:cNvPr id="967" name="Google Shape;967;p11"/>
          <p:cNvSpPr/>
          <p:nvPr/>
        </p:nvSpPr>
        <p:spPr>
          <a:xfrm>
            <a:off x="822960" y="4892040"/>
            <a:ext cx="10561200" cy="5943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8" name="Google Shape;968;p11"/>
          <p:cNvSpPr txBox="1"/>
          <p:nvPr/>
        </p:nvSpPr>
        <p:spPr>
          <a:xfrm>
            <a:off x="1024128" y="5038344"/>
            <a:ext cx="10131600" cy="265200"/>
          </a:xfrm>
          <a:prstGeom prst="rect">
            <a:avLst/>
          </a:prstGeom>
          <a:noFill/>
          <a:ln>
            <a:noFill/>
          </a:ln>
        </p:spPr>
        <p:txBody>
          <a:bodyPr anchorCtr="0" anchor="ctr" bIns="0" lIns="0" spcFirstLastPara="1" rIns="0" wrap="square" tIns="0">
            <a:spAutoFit/>
          </a:bodyPr>
          <a:lstStyle/>
          <a:p>
            <a:pPr indent="0" lvl="0" marL="0" marR="0" rtl="0" algn="l">
              <a:lnSpc>
                <a:spcPct val="107000"/>
              </a:lnSpc>
              <a:spcBef>
                <a:spcPts val="0"/>
              </a:spcBef>
              <a:spcAft>
                <a:spcPts val="0"/>
              </a:spcAft>
              <a:buClr>
                <a:srgbClr val="000000"/>
              </a:buClr>
              <a:buSzPts val="1600"/>
              <a:buFont typeface="Arial"/>
              <a:buNone/>
            </a:pPr>
            <a:r>
              <a:rPr b="1" i="0" lang="en-US" sz="1600" u="none" cap="none" strike="noStrike">
                <a:solidFill>
                  <a:srgbClr val="0B6E4F"/>
                </a:solidFill>
                <a:latin typeface="Calibri"/>
                <a:ea typeface="Calibri"/>
                <a:cs typeface="Calibri"/>
                <a:sym typeface="Calibri"/>
              </a:rPr>
              <a:t>THE LOOP   </a:t>
            </a:r>
            <a:r>
              <a:rPr b="0" i="0" lang="en-US" sz="1600" u="none" cap="none" strike="noStrike">
                <a:solidFill>
                  <a:srgbClr val="1F2328"/>
                </a:solidFill>
                <a:latin typeface="Calibri"/>
                <a:ea typeface="Calibri"/>
                <a:cs typeface="Calibri"/>
                <a:sym typeface="Calibri"/>
              </a:rPr>
              <a:t>O₂ becomes a retrieval source for the next table → a coherent ontology grows.</a:t>
            </a:r>
            <a:endParaRPr b="0" i="0" sz="1400" u="none" cap="none" strike="noStrike">
              <a:solidFill>
                <a:srgbClr val="000000"/>
              </a:solidFill>
              <a:latin typeface="Arial"/>
              <a:ea typeface="Arial"/>
              <a:cs typeface="Arial"/>
              <a:sym typeface="Arial"/>
            </a:endParaRPr>
          </a:p>
        </p:txBody>
      </p:sp>
      <p:sp>
        <p:nvSpPr>
          <p:cNvPr id="969" name="Google Shape;969;p11"/>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0" name="Google Shape;970;p11"/>
          <p:cNvSpPr txBox="1"/>
          <p:nvPr/>
        </p:nvSpPr>
        <p:spPr>
          <a:xfrm>
            <a:off x="85953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971" name="Google Shape;971;p11"/>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2" name="Google Shape;972;p11"/>
          <p:cNvSpPr txBox="1"/>
          <p:nvPr/>
        </p:nvSpPr>
        <p:spPr>
          <a:xfrm>
            <a:off x="2697479"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973" name="Google Shape;973;p11"/>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4" name="Google Shape;974;p11"/>
          <p:cNvSpPr txBox="1"/>
          <p:nvPr/>
        </p:nvSpPr>
        <p:spPr>
          <a:xfrm>
            <a:off x="4535423"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975" name="Google Shape;975;p11"/>
          <p:cNvSpPr/>
          <p:nvPr/>
        </p:nvSpPr>
        <p:spPr>
          <a:xfrm>
            <a:off x="6318503"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6" name="Google Shape;976;p11"/>
          <p:cNvSpPr txBox="1"/>
          <p:nvPr/>
        </p:nvSpPr>
        <p:spPr>
          <a:xfrm>
            <a:off x="6373367"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977" name="Google Shape;977;p11"/>
          <p:cNvSpPr/>
          <p:nvPr/>
        </p:nvSpPr>
        <p:spPr>
          <a:xfrm>
            <a:off x="8156448"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8" name="Google Shape;978;p11"/>
          <p:cNvSpPr txBox="1"/>
          <p:nvPr/>
        </p:nvSpPr>
        <p:spPr>
          <a:xfrm>
            <a:off x="8211312"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979" name="Google Shape;979;p11"/>
          <p:cNvSpPr/>
          <p:nvPr/>
        </p:nvSpPr>
        <p:spPr>
          <a:xfrm>
            <a:off x="9994392"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0" name="Google Shape;980;p11"/>
          <p:cNvSpPr txBox="1"/>
          <p:nvPr/>
        </p:nvSpPr>
        <p:spPr>
          <a:xfrm>
            <a:off x="1004925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5" name="Shape 985"/>
        <p:cNvGrpSpPr/>
        <p:nvPr/>
      </p:nvGrpSpPr>
      <p:grpSpPr>
        <a:xfrm>
          <a:off x="0" y="0"/>
          <a:ext cx="0" cy="0"/>
          <a:chOff x="0" y="0"/>
          <a:chExt cx="0" cy="0"/>
        </a:xfrm>
      </p:grpSpPr>
      <p:cxnSp>
        <p:nvCxnSpPr>
          <p:cNvPr id="986" name="Google Shape;986;p17"/>
          <p:cNvCxnSpPr/>
          <p:nvPr/>
        </p:nvCxnSpPr>
        <p:spPr>
          <a:xfrm>
            <a:off x="7261490" y="3782975"/>
            <a:ext cx="228600" cy="0"/>
          </a:xfrm>
          <a:prstGeom prst="straightConnector1">
            <a:avLst/>
          </a:prstGeom>
          <a:noFill/>
          <a:ln cap="flat" cmpd="sng" w="26650">
            <a:solidFill>
              <a:srgbClr val="3A7D8C"/>
            </a:solidFill>
            <a:prstDash val="solid"/>
            <a:miter lim="80"/>
            <a:headEnd len="sm" w="sm" type="none"/>
            <a:tailEnd len="sm" w="sm" type="none"/>
          </a:ln>
        </p:spPr>
      </p:cxnSp>
      <p:cxnSp>
        <p:nvCxnSpPr>
          <p:cNvPr id="987" name="Google Shape;987;p17"/>
          <p:cNvCxnSpPr/>
          <p:nvPr/>
        </p:nvCxnSpPr>
        <p:spPr>
          <a:xfrm>
            <a:off x="7071140" y="3304363"/>
            <a:ext cx="146400" cy="0"/>
          </a:xfrm>
          <a:prstGeom prst="straightConnector1">
            <a:avLst/>
          </a:prstGeom>
          <a:noFill/>
          <a:ln cap="flat" cmpd="sng" w="26650">
            <a:solidFill>
              <a:srgbClr val="3A7D8C"/>
            </a:solidFill>
            <a:prstDash val="solid"/>
            <a:miter lim="80"/>
            <a:headEnd len="sm" w="sm" type="none"/>
            <a:tailEnd len="sm" w="sm" type="none"/>
          </a:ln>
        </p:spPr>
      </p:cxnSp>
      <p:sp>
        <p:nvSpPr>
          <p:cNvPr id="988" name="Google Shape;988;p17"/>
          <p:cNvSpPr txBox="1"/>
          <p:nvPr/>
        </p:nvSpPr>
        <p:spPr>
          <a:xfrm>
            <a:off x="512064" y="320040"/>
            <a:ext cx="6675000" cy="301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989" name="Google Shape;989;p17"/>
          <p:cNvSpPr txBox="1"/>
          <p:nvPr/>
        </p:nvSpPr>
        <p:spPr>
          <a:xfrm>
            <a:off x="512064" y="685800"/>
            <a:ext cx="10881300" cy="47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6. Integrate and reuse the growing core</a:t>
            </a:r>
            <a:endParaRPr b="0" i="0" sz="1400" u="none" cap="none" strike="noStrike">
              <a:solidFill>
                <a:srgbClr val="000000"/>
              </a:solidFill>
              <a:latin typeface="Arial"/>
              <a:ea typeface="Arial"/>
              <a:cs typeface="Arial"/>
              <a:sym typeface="Arial"/>
            </a:endParaRPr>
          </a:p>
        </p:txBody>
      </p:sp>
      <p:sp>
        <p:nvSpPr>
          <p:cNvPr id="990" name="Google Shape;990;p17"/>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The growing core feeds the next generation iteration.</a:t>
            </a:r>
            <a:endParaRPr b="0" i="0" sz="1400" u="none" cap="none" strike="noStrike">
              <a:solidFill>
                <a:srgbClr val="000000"/>
              </a:solidFill>
              <a:latin typeface="Arial"/>
              <a:ea typeface="Arial"/>
              <a:cs typeface="Arial"/>
              <a:sym typeface="Arial"/>
            </a:endParaRPr>
          </a:p>
        </p:txBody>
      </p:sp>
      <p:sp>
        <p:nvSpPr>
          <p:cNvPr id="991" name="Google Shape;991;p17"/>
          <p:cNvSpPr/>
          <p:nvPr/>
        </p:nvSpPr>
        <p:spPr>
          <a:xfrm>
            <a:off x="9692640"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2" name="Google Shape;992;p17"/>
          <p:cNvSpPr/>
          <p:nvPr/>
        </p:nvSpPr>
        <p:spPr>
          <a:xfrm>
            <a:off x="10049256"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p17"/>
          <p:cNvSpPr/>
          <p:nvPr/>
        </p:nvSpPr>
        <p:spPr>
          <a:xfrm>
            <a:off x="10405872"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4" name="Google Shape;994;p17"/>
          <p:cNvSpPr/>
          <p:nvPr/>
        </p:nvSpPr>
        <p:spPr>
          <a:xfrm>
            <a:off x="10762488"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5" name="Google Shape;995;p17"/>
          <p:cNvSpPr/>
          <p:nvPr/>
        </p:nvSpPr>
        <p:spPr>
          <a:xfrm>
            <a:off x="11119104"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6" name="Google Shape;996;p17"/>
          <p:cNvSpPr/>
          <p:nvPr/>
        </p:nvSpPr>
        <p:spPr>
          <a:xfrm>
            <a:off x="11475720"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p17"/>
          <p:cNvSpPr txBox="1"/>
          <p:nvPr/>
        </p:nvSpPr>
        <p:spPr>
          <a:xfrm>
            <a:off x="10917936" y="6519672"/>
            <a:ext cx="804600" cy="1830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6 / 6</a:t>
            </a:r>
            <a:endParaRPr b="0" i="0" sz="1400" u="none" cap="none" strike="noStrike">
              <a:solidFill>
                <a:srgbClr val="000000"/>
              </a:solidFill>
              <a:latin typeface="Arial"/>
              <a:ea typeface="Arial"/>
              <a:cs typeface="Arial"/>
              <a:sym typeface="Arial"/>
            </a:endParaRPr>
          </a:p>
        </p:txBody>
      </p:sp>
      <p:cxnSp>
        <p:nvCxnSpPr>
          <p:cNvPr id="998" name="Google Shape;998;p17"/>
          <p:cNvCxnSpPr/>
          <p:nvPr/>
        </p:nvCxnSpPr>
        <p:spPr>
          <a:xfrm>
            <a:off x="1577684" y="3507531"/>
            <a:ext cx="164700" cy="0"/>
          </a:xfrm>
          <a:prstGeom prst="straightConnector1">
            <a:avLst/>
          </a:prstGeom>
          <a:noFill/>
          <a:ln cap="flat" cmpd="sng" w="38100">
            <a:solidFill>
              <a:srgbClr val="3A7D8C"/>
            </a:solidFill>
            <a:prstDash val="solid"/>
            <a:miter lim="80"/>
            <a:headEnd len="sm" w="sm" type="none"/>
            <a:tailEnd len="sm" w="sm" type="none"/>
          </a:ln>
        </p:spPr>
      </p:cxnSp>
      <p:sp>
        <p:nvSpPr>
          <p:cNvPr id="999" name="Google Shape;999;p17"/>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0" name="Google Shape;1000;p17"/>
          <p:cNvCxnSpPr/>
          <p:nvPr/>
        </p:nvCxnSpPr>
        <p:spPr>
          <a:xfrm>
            <a:off x="3369671" y="3446462"/>
            <a:ext cx="100500" cy="0"/>
          </a:xfrm>
          <a:prstGeom prst="straightConnector1">
            <a:avLst/>
          </a:prstGeom>
          <a:noFill/>
          <a:ln cap="flat" cmpd="sng" w="29200">
            <a:solidFill>
              <a:srgbClr val="3A7D8C"/>
            </a:solidFill>
            <a:prstDash val="solid"/>
            <a:miter lim="80"/>
            <a:headEnd len="sm" w="sm" type="none"/>
            <a:tailEnd len="sm" w="sm" type="none"/>
          </a:ln>
        </p:spPr>
      </p:cxnSp>
      <p:cxnSp>
        <p:nvCxnSpPr>
          <p:cNvPr id="1001" name="Google Shape;1001;p17"/>
          <p:cNvCxnSpPr/>
          <p:nvPr/>
        </p:nvCxnSpPr>
        <p:spPr>
          <a:xfrm rot="10800000">
            <a:off x="3456647" y="2186248"/>
            <a:ext cx="0" cy="1271100"/>
          </a:xfrm>
          <a:prstGeom prst="straightConnector1">
            <a:avLst/>
          </a:prstGeom>
          <a:noFill/>
          <a:ln cap="flat" cmpd="sng" w="29200">
            <a:solidFill>
              <a:srgbClr val="3A7D8C"/>
            </a:solidFill>
            <a:prstDash val="solid"/>
            <a:miter lim="80"/>
            <a:headEnd len="sm" w="sm" type="none"/>
            <a:tailEnd len="sm" w="sm" type="none"/>
          </a:ln>
        </p:spPr>
      </p:cxnSp>
      <p:cxnSp>
        <p:nvCxnSpPr>
          <p:cNvPr id="1002" name="Google Shape;1002;p17"/>
          <p:cNvCxnSpPr/>
          <p:nvPr/>
        </p:nvCxnSpPr>
        <p:spPr>
          <a:xfrm>
            <a:off x="3456647" y="2199939"/>
            <a:ext cx="265200" cy="0"/>
          </a:xfrm>
          <a:prstGeom prst="straightConnector1">
            <a:avLst/>
          </a:prstGeom>
          <a:noFill/>
          <a:ln cap="flat" cmpd="sng" w="29200">
            <a:solidFill>
              <a:srgbClr val="3A7D8C"/>
            </a:solidFill>
            <a:prstDash val="solid"/>
            <a:miter lim="80"/>
            <a:headEnd len="sm" w="sm" type="none"/>
            <a:tailEnd len="sm" w="sm" type="none"/>
          </a:ln>
        </p:spPr>
      </p:cxnSp>
      <p:sp>
        <p:nvSpPr>
          <p:cNvPr id="1003" name="Google Shape;1003;p17"/>
          <p:cNvSpPr/>
          <p:nvPr/>
        </p:nvSpPr>
        <p:spPr>
          <a:xfrm rot="5400000">
            <a:off x="3918081" y="213593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4" name="Google Shape;1004;p17"/>
          <p:cNvCxnSpPr/>
          <p:nvPr/>
        </p:nvCxnSpPr>
        <p:spPr>
          <a:xfrm>
            <a:off x="3356063"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05" name="Google Shape;1005;p17"/>
          <p:cNvCxnSpPr/>
          <p:nvPr/>
        </p:nvCxnSpPr>
        <p:spPr>
          <a:xfrm rot="10800000">
            <a:off x="3537528" y="3283708"/>
            <a:ext cx="0" cy="310800"/>
          </a:xfrm>
          <a:prstGeom prst="straightConnector1">
            <a:avLst/>
          </a:prstGeom>
          <a:noFill/>
          <a:ln cap="flat" cmpd="sng" w="26650">
            <a:solidFill>
              <a:srgbClr val="3A7D8C"/>
            </a:solidFill>
            <a:prstDash val="solid"/>
            <a:miter lim="80"/>
            <a:headEnd len="sm" w="sm" type="none"/>
            <a:tailEnd len="sm" w="sm" type="none"/>
          </a:ln>
        </p:spPr>
      </p:cxnSp>
      <p:cxnSp>
        <p:nvCxnSpPr>
          <p:cNvPr id="1006" name="Google Shape;1006;p17"/>
          <p:cNvCxnSpPr/>
          <p:nvPr/>
        </p:nvCxnSpPr>
        <p:spPr>
          <a:xfrm>
            <a:off x="3537528" y="3297219"/>
            <a:ext cx="255900" cy="0"/>
          </a:xfrm>
          <a:prstGeom prst="straightConnector1">
            <a:avLst/>
          </a:prstGeom>
          <a:noFill/>
          <a:ln cap="flat" cmpd="sng" w="26650">
            <a:solidFill>
              <a:srgbClr val="3A7D8C"/>
            </a:solidFill>
            <a:prstDash val="solid"/>
            <a:miter lim="80"/>
            <a:headEnd len="sm" w="sm" type="none"/>
            <a:tailEnd len="sm" w="sm" type="none"/>
          </a:ln>
        </p:spPr>
      </p:cxnSp>
      <p:sp>
        <p:nvSpPr>
          <p:cNvPr id="1007" name="Google Shape;1007;p17"/>
          <p:cNvSpPr/>
          <p:nvPr/>
        </p:nvSpPr>
        <p:spPr>
          <a:xfrm rot="5400000">
            <a:off x="3729467" y="323321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8" name="Google Shape;1008;p17"/>
          <p:cNvCxnSpPr/>
          <p:nvPr/>
        </p:nvCxnSpPr>
        <p:spPr>
          <a:xfrm>
            <a:off x="3356063"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09" name="Google Shape;1009;p17"/>
          <p:cNvCxnSpPr/>
          <p:nvPr/>
        </p:nvCxnSpPr>
        <p:spPr>
          <a:xfrm>
            <a:off x="3537528" y="3992163"/>
            <a:ext cx="255900" cy="0"/>
          </a:xfrm>
          <a:prstGeom prst="straightConnector1">
            <a:avLst/>
          </a:prstGeom>
          <a:noFill/>
          <a:ln cap="flat" cmpd="sng" w="26650">
            <a:solidFill>
              <a:srgbClr val="3A7D8C"/>
            </a:solidFill>
            <a:prstDash val="solid"/>
            <a:miter lim="80"/>
            <a:headEnd len="sm" w="sm" type="none"/>
            <a:tailEnd len="sm" w="sm" type="none"/>
          </a:ln>
        </p:spPr>
      </p:cxnSp>
      <p:sp>
        <p:nvSpPr>
          <p:cNvPr id="1010" name="Google Shape;1010;p17"/>
          <p:cNvSpPr/>
          <p:nvPr/>
        </p:nvSpPr>
        <p:spPr>
          <a:xfrm rot="5400000">
            <a:off x="3729467" y="3928154"/>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11" name="Google Shape;1011;p17"/>
          <p:cNvCxnSpPr/>
          <p:nvPr/>
        </p:nvCxnSpPr>
        <p:spPr>
          <a:xfrm>
            <a:off x="3418656"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12" name="Google Shape;1012;p17"/>
          <p:cNvCxnSpPr/>
          <p:nvPr/>
        </p:nvCxnSpPr>
        <p:spPr>
          <a:xfrm>
            <a:off x="3537528" y="3594508"/>
            <a:ext cx="0" cy="1079100"/>
          </a:xfrm>
          <a:prstGeom prst="straightConnector1">
            <a:avLst/>
          </a:prstGeom>
          <a:noFill/>
          <a:ln cap="flat" cmpd="sng" w="26650">
            <a:solidFill>
              <a:srgbClr val="3A7D8C"/>
            </a:solidFill>
            <a:prstDash val="solid"/>
            <a:miter lim="80"/>
            <a:headEnd len="sm" w="sm" type="none"/>
            <a:tailEnd len="sm" w="sm" type="none"/>
          </a:ln>
        </p:spPr>
      </p:cxnSp>
      <p:cxnSp>
        <p:nvCxnSpPr>
          <p:cNvPr id="1013" name="Google Shape;1013;p17"/>
          <p:cNvCxnSpPr/>
          <p:nvPr/>
        </p:nvCxnSpPr>
        <p:spPr>
          <a:xfrm>
            <a:off x="3537528" y="4659893"/>
            <a:ext cx="255900" cy="0"/>
          </a:xfrm>
          <a:prstGeom prst="straightConnector1">
            <a:avLst/>
          </a:prstGeom>
          <a:noFill/>
          <a:ln cap="flat" cmpd="sng" w="26650">
            <a:solidFill>
              <a:srgbClr val="3A7D8C"/>
            </a:solidFill>
            <a:prstDash val="solid"/>
            <a:miter lim="80"/>
            <a:headEnd len="sm" w="sm" type="none"/>
            <a:tailEnd len="sm" w="sm" type="none"/>
          </a:ln>
        </p:spPr>
      </p:cxnSp>
      <p:sp>
        <p:nvSpPr>
          <p:cNvPr id="1014" name="Google Shape;1014;p17"/>
          <p:cNvSpPr/>
          <p:nvPr/>
        </p:nvSpPr>
        <p:spPr>
          <a:xfrm rot="5400000">
            <a:off x="3729467" y="459588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15" name="Google Shape;1015;p17"/>
          <p:cNvCxnSpPr/>
          <p:nvPr/>
        </p:nvCxnSpPr>
        <p:spPr>
          <a:xfrm>
            <a:off x="6340837" y="2181651"/>
            <a:ext cx="1874400" cy="0"/>
          </a:xfrm>
          <a:prstGeom prst="straightConnector1">
            <a:avLst/>
          </a:prstGeom>
          <a:noFill/>
          <a:ln cap="flat" cmpd="sng" w="29200">
            <a:solidFill>
              <a:srgbClr val="3A7D8C"/>
            </a:solidFill>
            <a:prstDash val="solid"/>
            <a:miter lim="80"/>
            <a:headEnd len="sm" w="sm" type="none"/>
            <a:tailEnd len="sm" w="sm" type="none"/>
          </a:ln>
        </p:spPr>
      </p:cxnSp>
      <p:cxnSp>
        <p:nvCxnSpPr>
          <p:cNvPr id="1016" name="Google Shape;1016;p17"/>
          <p:cNvCxnSpPr/>
          <p:nvPr/>
        </p:nvCxnSpPr>
        <p:spPr>
          <a:xfrm>
            <a:off x="8200117" y="2181651"/>
            <a:ext cx="0" cy="1134000"/>
          </a:xfrm>
          <a:prstGeom prst="straightConnector1">
            <a:avLst/>
          </a:prstGeom>
          <a:noFill/>
          <a:ln cap="flat" cmpd="sng" w="29200">
            <a:solidFill>
              <a:srgbClr val="3A7D8C"/>
            </a:solidFill>
            <a:prstDash val="solid"/>
            <a:miter lim="80"/>
            <a:headEnd len="sm" w="sm" type="none"/>
            <a:tailEnd len="sm" w="sm" type="none"/>
          </a:ln>
        </p:spPr>
      </p:cxnSp>
      <p:sp>
        <p:nvSpPr>
          <p:cNvPr id="1017" name="Google Shape;1017;p17"/>
          <p:cNvSpPr/>
          <p:nvPr/>
        </p:nvSpPr>
        <p:spPr>
          <a:xfrm rot="10800000">
            <a:off x="8136025" y="325141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18" name="Google Shape;1018;p17"/>
          <p:cNvCxnSpPr/>
          <p:nvPr/>
        </p:nvCxnSpPr>
        <p:spPr>
          <a:xfrm>
            <a:off x="7129603" y="3304363"/>
            <a:ext cx="146400" cy="0"/>
          </a:xfrm>
          <a:prstGeom prst="straightConnector1">
            <a:avLst/>
          </a:prstGeom>
          <a:noFill/>
          <a:ln cap="flat" cmpd="sng" w="26650">
            <a:solidFill>
              <a:srgbClr val="3A7D8C"/>
            </a:solidFill>
            <a:prstDash val="solid"/>
            <a:miter lim="80"/>
            <a:headEnd len="sm" w="sm" type="none"/>
            <a:tailEnd len="sm" w="sm" type="none"/>
          </a:ln>
        </p:spPr>
      </p:cxnSp>
      <p:cxnSp>
        <p:nvCxnSpPr>
          <p:cNvPr id="1019" name="Google Shape;1019;p17"/>
          <p:cNvCxnSpPr/>
          <p:nvPr/>
        </p:nvCxnSpPr>
        <p:spPr>
          <a:xfrm>
            <a:off x="7264000" y="3297219"/>
            <a:ext cx="0" cy="448200"/>
          </a:xfrm>
          <a:prstGeom prst="straightConnector1">
            <a:avLst/>
          </a:prstGeom>
          <a:noFill/>
          <a:ln cap="flat" cmpd="sng" w="26650">
            <a:solidFill>
              <a:srgbClr val="3A7D8C"/>
            </a:solidFill>
            <a:prstDash val="solid"/>
            <a:miter lim="80"/>
            <a:headEnd len="sm" w="sm" type="none"/>
            <a:tailEnd len="sm" w="sm" type="none"/>
          </a:ln>
        </p:spPr>
      </p:cxnSp>
      <p:sp>
        <p:nvSpPr>
          <p:cNvPr id="1020" name="Google Shape;1020;p17"/>
          <p:cNvSpPr/>
          <p:nvPr/>
        </p:nvSpPr>
        <p:spPr>
          <a:xfrm rot="5400000">
            <a:off x="7462823" y="3718917"/>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21" name="Google Shape;1021;p17"/>
          <p:cNvCxnSpPr/>
          <p:nvPr/>
        </p:nvCxnSpPr>
        <p:spPr>
          <a:xfrm>
            <a:off x="7129603" y="4693870"/>
            <a:ext cx="146400" cy="0"/>
          </a:xfrm>
          <a:prstGeom prst="straightConnector1">
            <a:avLst/>
          </a:prstGeom>
          <a:noFill/>
          <a:ln cap="flat" cmpd="sng" w="26650">
            <a:solidFill>
              <a:srgbClr val="3A7D8C"/>
            </a:solidFill>
            <a:prstDash val="solid"/>
            <a:miter lim="80"/>
            <a:headEnd len="sm" w="sm" type="none"/>
            <a:tailEnd len="sm" w="sm" type="none"/>
          </a:ln>
        </p:spPr>
      </p:cxnSp>
      <p:cxnSp>
        <p:nvCxnSpPr>
          <p:cNvPr id="1022" name="Google Shape;1022;p17"/>
          <p:cNvCxnSpPr/>
          <p:nvPr/>
        </p:nvCxnSpPr>
        <p:spPr>
          <a:xfrm rot="10800000">
            <a:off x="7264000" y="3745251"/>
            <a:ext cx="0" cy="951000"/>
          </a:xfrm>
          <a:prstGeom prst="straightConnector1">
            <a:avLst/>
          </a:prstGeom>
          <a:noFill/>
          <a:ln cap="flat" cmpd="sng" w="26650">
            <a:solidFill>
              <a:srgbClr val="3A7D8C"/>
            </a:solidFill>
            <a:prstDash val="solid"/>
            <a:miter lim="80"/>
            <a:headEnd len="sm" w="sm" type="none"/>
            <a:tailEnd len="sm" w="sm" type="none"/>
          </a:ln>
        </p:spPr>
      </p:cxnSp>
      <p:cxnSp>
        <p:nvCxnSpPr>
          <p:cNvPr id="1023" name="Google Shape;1023;p17"/>
          <p:cNvCxnSpPr/>
          <p:nvPr/>
        </p:nvCxnSpPr>
        <p:spPr>
          <a:xfrm>
            <a:off x="8931637" y="3795662"/>
            <a:ext cx="868800" cy="0"/>
          </a:xfrm>
          <a:prstGeom prst="straightConnector1">
            <a:avLst/>
          </a:prstGeom>
          <a:noFill/>
          <a:ln cap="flat" cmpd="sng" w="38100">
            <a:solidFill>
              <a:srgbClr val="0B6E4F"/>
            </a:solidFill>
            <a:prstDash val="solid"/>
            <a:miter lim="80"/>
            <a:headEnd len="sm" w="sm" type="none"/>
            <a:tailEnd len="sm" w="sm" type="none"/>
          </a:ln>
        </p:spPr>
      </p:cxnSp>
      <p:sp>
        <p:nvSpPr>
          <p:cNvPr id="1024" name="Google Shape;1024;p17"/>
          <p:cNvSpPr/>
          <p:nvPr/>
        </p:nvSpPr>
        <p:spPr>
          <a:xfrm rot="5400000">
            <a:off x="9736225" y="3731654"/>
            <a:ext cx="128100" cy="128100"/>
          </a:xfrm>
          <a:prstGeom prst="triangle">
            <a:avLst>
              <a:gd fmla="val 50000" name="adj"/>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25" name="Google Shape;1025;p17"/>
          <p:cNvCxnSpPr/>
          <p:nvPr/>
        </p:nvCxnSpPr>
        <p:spPr>
          <a:xfrm>
            <a:off x="10957129" y="4344302"/>
            <a:ext cx="0" cy="438900"/>
          </a:xfrm>
          <a:prstGeom prst="straightConnector1">
            <a:avLst/>
          </a:prstGeom>
          <a:noFill/>
          <a:ln cap="flat" cmpd="sng" w="33000">
            <a:solidFill>
              <a:srgbClr val="177A55"/>
            </a:solidFill>
            <a:prstDash val="solid"/>
            <a:miter lim="80"/>
            <a:headEnd len="sm" w="sm" type="none"/>
            <a:tailEnd len="sm" w="sm" type="none"/>
          </a:ln>
        </p:spPr>
      </p:cxnSp>
      <p:sp>
        <p:nvSpPr>
          <p:cNvPr id="1026" name="Google Shape;1026;p17"/>
          <p:cNvSpPr/>
          <p:nvPr/>
        </p:nvSpPr>
        <p:spPr>
          <a:xfrm rot="10800000">
            <a:off x="10893037" y="4719121"/>
            <a:ext cx="128100" cy="128100"/>
          </a:xfrm>
          <a:prstGeom prst="triangle">
            <a:avLst>
              <a:gd fmla="val 50000" name="adj"/>
            </a:avLst>
          </a:prstGeom>
          <a:solidFill>
            <a:srgbClr val="177A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27" name="Google Shape;1027;p17"/>
          <p:cNvCxnSpPr/>
          <p:nvPr/>
        </p:nvCxnSpPr>
        <p:spPr>
          <a:xfrm>
            <a:off x="10903962" y="5616919"/>
            <a:ext cx="0" cy="365700"/>
          </a:xfrm>
          <a:prstGeom prst="straightConnector1">
            <a:avLst/>
          </a:prstGeom>
          <a:noFill/>
          <a:ln cap="flat" cmpd="sng" w="31750">
            <a:solidFill>
              <a:srgbClr val="177A55"/>
            </a:solidFill>
            <a:prstDash val="solid"/>
            <a:miter lim="80"/>
            <a:headEnd len="sm" w="sm" type="none"/>
            <a:tailEnd len="sm" w="sm" type="none"/>
          </a:ln>
        </p:spPr>
      </p:cxnSp>
      <p:cxnSp>
        <p:nvCxnSpPr>
          <p:cNvPr id="1028" name="Google Shape;1028;p17"/>
          <p:cNvCxnSpPr/>
          <p:nvPr/>
        </p:nvCxnSpPr>
        <p:spPr>
          <a:xfrm rot="10800000">
            <a:off x="8964019" y="5982679"/>
            <a:ext cx="1956900" cy="0"/>
          </a:xfrm>
          <a:prstGeom prst="straightConnector1">
            <a:avLst/>
          </a:prstGeom>
          <a:noFill/>
          <a:ln cap="flat" cmpd="sng" w="31750">
            <a:solidFill>
              <a:srgbClr val="177A55"/>
            </a:solidFill>
            <a:prstDash val="solid"/>
            <a:miter lim="80"/>
            <a:headEnd len="sm" w="sm" type="none"/>
            <a:tailEnd len="sm" w="sm" type="none"/>
          </a:ln>
        </p:spPr>
      </p:cxnSp>
      <p:cxnSp>
        <p:nvCxnSpPr>
          <p:cNvPr id="1029" name="Google Shape;1029;p17"/>
          <p:cNvCxnSpPr/>
          <p:nvPr/>
        </p:nvCxnSpPr>
        <p:spPr>
          <a:xfrm rot="10800000">
            <a:off x="5512146" y="5203449"/>
            <a:ext cx="0" cy="795600"/>
          </a:xfrm>
          <a:prstGeom prst="straightConnector1">
            <a:avLst/>
          </a:prstGeom>
          <a:noFill/>
          <a:ln cap="flat" cmpd="sng" w="31750">
            <a:solidFill>
              <a:srgbClr val="177A55"/>
            </a:solidFill>
            <a:prstDash val="solid"/>
            <a:miter lim="80"/>
            <a:headEnd len="sm" w="sm" type="none"/>
            <a:tailEnd len="sm" w="sm" type="none"/>
          </a:ln>
        </p:spPr>
      </p:cxnSp>
      <p:sp>
        <p:nvSpPr>
          <p:cNvPr id="1030" name="Google Shape;1030;p17"/>
          <p:cNvSpPr/>
          <p:nvPr/>
        </p:nvSpPr>
        <p:spPr>
          <a:xfrm>
            <a:off x="407252" y="2958891"/>
            <a:ext cx="1170300" cy="1134000"/>
          </a:xfrm>
          <a:prstGeom prst="roundRect">
            <a:avLst>
              <a:gd fmla="val 16667" name="adj"/>
            </a:avLst>
          </a:prstGeom>
          <a:solidFill>
            <a:srgbClr val="FFFFFF"/>
          </a:solidFill>
          <a:ln cap="flat" cmpd="sng" w="15225">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1" name="Google Shape;1031;p17"/>
          <p:cNvSpPr/>
          <p:nvPr/>
        </p:nvSpPr>
        <p:spPr>
          <a:xfrm>
            <a:off x="526124"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2" name="Google Shape;1032;p17"/>
          <p:cNvCxnSpPr/>
          <p:nvPr/>
        </p:nvCxnSpPr>
        <p:spPr>
          <a:xfrm>
            <a:off x="567272"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3" name="Google Shape;1033;p17"/>
          <p:cNvCxnSpPr/>
          <p:nvPr/>
        </p:nvCxnSpPr>
        <p:spPr>
          <a:xfrm>
            <a:off x="567272"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34" name="Google Shape;1034;p17"/>
          <p:cNvSpPr/>
          <p:nvPr/>
        </p:nvSpPr>
        <p:spPr>
          <a:xfrm>
            <a:off x="837020"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5" name="Google Shape;1035;p17"/>
          <p:cNvCxnSpPr/>
          <p:nvPr/>
        </p:nvCxnSpPr>
        <p:spPr>
          <a:xfrm>
            <a:off x="878168"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6" name="Google Shape;1036;p17"/>
          <p:cNvCxnSpPr/>
          <p:nvPr/>
        </p:nvCxnSpPr>
        <p:spPr>
          <a:xfrm>
            <a:off x="878168"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37" name="Google Shape;1037;p17"/>
          <p:cNvSpPr/>
          <p:nvPr/>
        </p:nvSpPr>
        <p:spPr>
          <a:xfrm>
            <a:off x="1147916"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8" name="Google Shape;1038;p17"/>
          <p:cNvCxnSpPr/>
          <p:nvPr/>
        </p:nvCxnSpPr>
        <p:spPr>
          <a:xfrm>
            <a:off x="1189064"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9" name="Google Shape;1039;p17"/>
          <p:cNvCxnSpPr/>
          <p:nvPr/>
        </p:nvCxnSpPr>
        <p:spPr>
          <a:xfrm>
            <a:off x="1189064"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40" name="Google Shape;1040;p17"/>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041" name="Google Shape;1041;p17"/>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042" name="Google Shape;1042;p17"/>
          <p:cNvSpPr/>
          <p:nvPr/>
        </p:nvSpPr>
        <p:spPr>
          <a:xfrm>
            <a:off x="4043884" y="1825035"/>
            <a:ext cx="2103000" cy="7590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3" name="Google Shape;1043;p17"/>
          <p:cNvSpPr txBox="1"/>
          <p:nvPr/>
        </p:nvSpPr>
        <p:spPr>
          <a:xfrm>
            <a:off x="4117036" y="1590575"/>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(b)</a:t>
            </a:r>
            <a:endParaRPr b="0" i="0" sz="1400" u="none" cap="none" strike="noStrike">
              <a:solidFill>
                <a:srgbClr val="000000"/>
              </a:solidFill>
              <a:latin typeface="Arial"/>
              <a:ea typeface="Arial"/>
              <a:cs typeface="Arial"/>
              <a:sym typeface="Arial"/>
            </a:endParaRPr>
          </a:p>
        </p:txBody>
      </p:sp>
      <p:sp>
        <p:nvSpPr>
          <p:cNvPr id="1044" name="Google Shape;1044;p17"/>
          <p:cNvSpPr txBox="1"/>
          <p:nvPr/>
        </p:nvSpPr>
        <p:spPr>
          <a:xfrm>
            <a:off x="4126180" y="1943907"/>
            <a:ext cx="19386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045" name="Google Shape;1045;p17"/>
          <p:cNvSpPr txBox="1"/>
          <p:nvPr/>
        </p:nvSpPr>
        <p:spPr>
          <a:xfrm>
            <a:off x="4135323" y="2218227"/>
            <a:ext cx="19203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OWL seed DMᵣ</a:t>
            </a:r>
            <a:endParaRPr b="0" i="0" sz="1400" u="none" cap="none" strike="noStrike">
              <a:solidFill>
                <a:srgbClr val="000000"/>
              </a:solidFill>
              <a:latin typeface="Arial"/>
              <a:ea typeface="Arial"/>
              <a:cs typeface="Arial"/>
              <a:sym typeface="Arial"/>
            </a:endParaRPr>
          </a:p>
        </p:txBody>
      </p:sp>
      <p:sp>
        <p:nvSpPr>
          <p:cNvPr id="1046" name="Google Shape;1046;p17"/>
          <p:cNvSpPr/>
          <p:nvPr/>
        </p:nvSpPr>
        <p:spPr>
          <a:xfrm>
            <a:off x="3897579" y="2739445"/>
            <a:ext cx="3218700" cy="2508300"/>
          </a:xfrm>
          <a:prstGeom prst="roundRect">
            <a:avLst>
              <a:gd fmla="val 8766" name="adj"/>
            </a:avLst>
          </a:prstGeom>
          <a:solidFill>
            <a:srgbClr val="FFFFFF"/>
          </a:solidFill>
          <a:ln cap="flat" cmpd="sng" w="15225">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7" name="Google Shape;1047;p17"/>
          <p:cNvSpPr txBox="1"/>
          <p:nvPr/>
        </p:nvSpPr>
        <p:spPr>
          <a:xfrm>
            <a:off x="4025596" y="2776011"/>
            <a:ext cx="29901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RETRIEVAL  •  top-k per source</a:t>
            </a:r>
            <a:endParaRPr b="0" i="0" sz="1400" u="none" cap="none" strike="noStrike">
              <a:solidFill>
                <a:srgbClr val="000000"/>
              </a:solidFill>
              <a:latin typeface="Arial"/>
              <a:ea typeface="Arial"/>
              <a:cs typeface="Arial"/>
              <a:sym typeface="Arial"/>
            </a:endParaRPr>
          </a:p>
        </p:txBody>
      </p:sp>
      <p:sp>
        <p:nvSpPr>
          <p:cNvPr id="1048" name="Google Shape;1048;p17"/>
          <p:cNvSpPr/>
          <p:nvPr/>
        </p:nvSpPr>
        <p:spPr>
          <a:xfrm>
            <a:off x="4043884" y="3059475"/>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9" name="Google Shape;1049;p17"/>
          <p:cNvSpPr txBox="1"/>
          <p:nvPr/>
        </p:nvSpPr>
        <p:spPr>
          <a:xfrm>
            <a:off x="4144468" y="3115627"/>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(c)</a:t>
            </a:r>
            <a:endParaRPr b="0" i="0" sz="1400" u="none" cap="none" strike="noStrike">
              <a:solidFill>
                <a:srgbClr val="000000"/>
              </a:solidFill>
              <a:latin typeface="Arial"/>
              <a:ea typeface="Arial"/>
              <a:cs typeface="Arial"/>
              <a:sym typeface="Arial"/>
            </a:endParaRPr>
          </a:p>
        </p:txBody>
      </p:sp>
      <p:sp>
        <p:nvSpPr>
          <p:cNvPr id="1050" name="Google Shape;1050;p17"/>
          <p:cNvSpPr txBox="1"/>
          <p:nvPr/>
        </p:nvSpPr>
        <p:spPr>
          <a:xfrm>
            <a:off x="4491940" y="3109413"/>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External ontologies</a:t>
            </a:r>
            <a:endParaRPr b="0" i="0" sz="1400" u="none" cap="none" strike="noStrike">
              <a:solidFill>
                <a:srgbClr val="000000"/>
              </a:solidFill>
              <a:latin typeface="Arial"/>
              <a:ea typeface="Arial"/>
              <a:cs typeface="Arial"/>
              <a:sym typeface="Arial"/>
            </a:endParaRPr>
          </a:p>
        </p:txBody>
      </p:sp>
      <p:sp>
        <p:nvSpPr>
          <p:cNvPr id="1051" name="Google Shape;1051;p17"/>
          <p:cNvSpPr txBox="1"/>
          <p:nvPr/>
        </p:nvSpPr>
        <p:spPr>
          <a:xfrm>
            <a:off x="4491940" y="3379515"/>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Domain alignments</a:t>
            </a:r>
            <a:endParaRPr b="0" i="0" sz="1400" u="none" cap="none" strike="noStrike">
              <a:solidFill>
                <a:srgbClr val="000000"/>
              </a:solidFill>
              <a:latin typeface="Arial"/>
              <a:ea typeface="Arial"/>
              <a:cs typeface="Arial"/>
              <a:sym typeface="Arial"/>
            </a:endParaRPr>
          </a:p>
        </p:txBody>
      </p:sp>
      <p:sp>
        <p:nvSpPr>
          <p:cNvPr id="1052" name="Google Shape;1052;p17"/>
          <p:cNvSpPr/>
          <p:nvPr/>
        </p:nvSpPr>
        <p:spPr>
          <a:xfrm>
            <a:off x="4043884" y="3763563"/>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3" name="Google Shape;1053;p17"/>
          <p:cNvSpPr txBox="1"/>
          <p:nvPr/>
        </p:nvSpPr>
        <p:spPr>
          <a:xfrm>
            <a:off x="4144468" y="3819715"/>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(d)</a:t>
            </a:r>
            <a:endParaRPr b="0" i="0" sz="1400" u="none" cap="none" strike="noStrike">
              <a:solidFill>
                <a:srgbClr val="000000"/>
              </a:solidFill>
              <a:latin typeface="Arial"/>
              <a:ea typeface="Arial"/>
              <a:cs typeface="Arial"/>
              <a:sym typeface="Arial"/>
            </a:endParaRPr>
          </a:p>
        </p:txBody>
      </p:sp>
      <p:sp>
        <p:nvSpPr>
          <p:cNvPr id="1054" name="Google Shape;1054;p17"/>
          <p:cNvSpPr txBox="1"/>
          <p:nvPr/>
        </p:nvSpPr>
        <p:spPr>
          <a:xfrm>
            <a:off x="4491940" y="3813501"/>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Documentation</a:t>
            </a:r>
            <a:endParaRPr b="0" i="0" sz="1400" u="none" cap="none" strike="noStrike">
              <a:solidFill>
                <a:srgbClr val="000000"/>
              </a:solidFill>
              <a:latin typeface="Arial"/>
              <a:ea typeface="Arial"/>
              <a:cs typeface="Arial"/>
              <a:sym typeface="Arial"/>
            </a:endParaRPr>
          </a:p>
        </p:txBody>
      </p:sp>
      <p:sp>
        <p:nvSpPr>
          <p:cNvPr id="1055" name="Google Shape;1055;p17"/>
          <p:cNvSpPr txBox="1"/>
          <p:nvPr/>
        </p:nvSpPr>
        <p:spPr>
          <a:xfrm>
            <a:off x="4491940" y="4083603"/>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Cryptic fields and codes</a:t>
            </a:r>
            <a:endParaRPr b="0" i="0" sz="1400" u="none" cap="none" strike="noStrike">
              <a:solidFill>
                <a:srgbClr val="000000"/>
              </a:solidFill>
              <a:latin typeface="Arial"/>
              <a:ea typeface="Arial"/>
              <a:cs typeface="Arial"/>
              <a:sym typeface="Arial"/>
            </a:endParaRPr>
          </a:p>
        </p:txBody>
      </p:sp>
      <p:sp>
        <p:nvSpPr>
          <p:cNvPr id="1056" name="Google Shape;1056;p17"/>
          <p:cNvSpPr/>
          <p:nvPr/>
        </p:nvSpPr>
        <p:spPr>
          <a:xfrm>
            <a:off x="4043884" y="4467651"/>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7" name="Google Shape;1057;p17"/>
          <p:cNvSpPr txBox="1"/>
          <p:nvPr/>
        </p:nvSpPr>
        <p:spPr>
          <a:xfrm>
            <a:off x="4144468" y="4523803"/>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(e)</a:t>
            </a:r>
            <a:endParaRPr b="0" i="0" sz="1400" u="none" cap="none" strike="noStrike">
              <a:solidFill>
                <a:srgbClr val="000000"/>
              </a:solidFill>
              <a:latin typeface="Arial"/>
              <a:ea typeface="Arial"/>
              <a:cs typeface="Arial"/>
              <a:sym typeface="Arial"/>
            </a:endParaRPr>
          </a:p>
        </p:txBody>
      </p:sp>
      <p:sp>
        <p:nvSpPr>
          <p:cNvPr id="1058" name="Google Shape;1058;p17"/>
          <p:cNvSpPr txBox="1"/>
          <p:nvPr/>
        </p:nvSpPr>
        <p:spPr>
          <a:xfrm>
            <a:off x="4491940" y="4517589"/>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Growing core ontology</a:t>
            </a:r>
            <a:endParaRPr b="0" i="0" sz="1400" u="none" cap="none" strike="noStrike">
              <a:solidFill>
                <a:srgbClr val="000000"/>
              </a:solidFill>
              <a:latin typeface="Arial"/>
              <a:ea typeface="Arial"/>
              <a:cs typeface="Arial"/>
              <a:sym typeface="Arial"/>
            </a:endParaRPr>
          </a:p>
        </p:txBody>
      </p:sp>
      <p:sp>
        <p:nvSpPr>
          <p:cNvPr id="1059" name="Google Shape;1059;p17"/>
          <p:cNvSpPr txBox="1"/>
          <p:nvPr/>
        </p:nvSpPr>
        <p:spPr>
          <a:xfrm>
            <a:off x="4491940" y="4787691"/>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Reuse validated IRIs</a:t>
            </a:r>
            <a:endParaRPr b="0" i="0" sz="1400" u="none" cap="none" strike="noStrike">
              <a:solidFill>
                <a:srgbClr val="000000"/>
              </a:solidFill>
              <a:latin typeface="Arial"/>
              <a:ea typeface="Arial"/>
              <a:cs typeface="Arial"/>
              <a:sym typeface="Arial"/>
            </a:endParaRPr>
          </a:p>
        </p:txBody>
      </p:sp>
      <p:sp>
        <p:nvSpPr>
          <p:cNvPr id="1060" name="Google Shape;1060;p17"/>
          <p:cNvSpPr/>
          <p:nvPr/>
        </p:nvSpPr>
        <p:spPr>
          <a:xfrm>
            <a:off x="7596625" y="3402475"/>
            <a:ext cx="1335000" cy="13215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1" name="Google Shape;1061;p17"/>
          <p:cNvSpPr txBox="1"/>
          <p:nvPr/>
        </p:nvSpPr>
        <p:spPr>
          <a:xfrm>
            <a:off x="7669765" y="3192158"/>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(f)</a:t>
            </a:r>
            <a:endParaRPr b="0" i="0" sz="1400" u="none" cap="none" strike="noStrike">
              <a:solidFill>
                <a:srgbClr val="000000"/>
              </a:solidFill>
              <a:latin typeface="Arial"/>
              <a:ea typeface="Arial"/>
              <a:cs typeface="Arial"/>
              <a:sym typeface="Arial"/>
            </a:endParaRPr>
          </a:p>
        </p:txBody>
      </p:sp>
      <p:sp>
        <p:nvSpPr>
          <p:cNvPr id="1062" name="Google Shape;1062;p17"/>
          <p:cNvSpPr txBox="1"/>
          <p:nvPr/>
        </p:nvSpPr>
        <p:spPr>
          <a:xfrm>
            <a:off x="7678909" y="3521341"/>
            <a:ext cx="11703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Gen-LLM</a:t>
            </a:r>
            <a:endParaRPr b="0" i="0" sz="1400" u="none" cap="none" strike="noStrike">
              <a:solidFill>
                <a:srgbClr val="000000"/>
              </a:solidFill>
              <a:latin typeface="Arial"/>
              <a:ea typeface="Arial"/>
              <a:cs typeface="Arial"/>
              <a:sym typeface="Arial"/>
            </a:endParaRPr>
          </a:p>
        </p:txBody>
      </p:sp>
      <p:sp>
        <p:nvSpPr>
          <p:cNvPr id="1063" name="Google Shape;1063;p17"/>
          <p:cNvSpPr txBox="1"/>
          <p:nvPr/>
        </p:nvSpPr>
        <p:spPr>
          <a:xfrm>
            <a:off x="7688053" y="3795661"/>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creates ΔOᵣ</a:t>
            </a:r>
            <a:endParaRPr b="0" i="0" sz="1400" u="none" cap="none" strike="noStrike">
              <a:solidFill>
                <a:srgbClr val="000000"/>
              </a:solidFill>
              <a:latin typeface="Arial"/>
              <a:ea typeface="Arial"/>
              <a:cs typeface="Arial"/>
              <a:sym typeface="Arial"/>
            </a:endParaRPr>
          </a:p>
        </p:txBody>
      </p:sp>
      <p:sp>
        <p:nvSpPr>
          <p:cNvPr id="1064" name="Google Shape;1064;p17"/>
          <p:cNvSpPr txBox="1"/>
          <p:nvPr/>
        </p:nvSpPr>
        <p:spPr>
          <a:xfrm>
            <a:off x="9032221" y="3384182"/>
            <a:ext cx="7131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(g) ΔOᵣ</a:t>
            </a:r>
            <a:endParaRPr b="0" i="0" sz="1400" u="none" cap="none" strike="noStrike">
              <a:solidFill>
                <a:srgbClr val="000000"/>
              </a:solidFill>
              <a:latin typeface="Arial"/>
              <a:ea typeface="Arial"/>
              <a:cs typeface="Arial"/>
              <a:sym typeface="Arial"/>
            </a:endParaRPr>
          </a:p>
        </p:txBody>
      </p:sp>
      <p:sp>
        <p:nvSpPr>
          <p:cNvPr id="1065" name="Google Shape;1065;p17"/>
          <p:cNvSpPr/>
          <p:nvPr/>
        </p:nvSpPr>
        <p:spPr>
          <a:xfrm>
            <a:off x="9859849" y="3237878"/>
            <a:ext cx="2121300" cy="11157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6" name="Google Shape;1066;p17"/>
          <p:cNvSpPr txBox="1"/>
          <p:nvPr/>
        </p:nvSpPr>
        <p:spPr>
          <a:xfrm>
            <a:off x="9933001" y="3027566"/>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(h)</a:t>
            </a:r>
            <a:endParaRPr b="0" i="0" sz="1400" u="none" cap="none" strike="noStrike">
              <a:solidFill>
                <a:srgbClr val="000000"/>
              </a:solidFill>
              <a:latin typeface="Arial"/>
              <a:ea typeface="Arial"/>
              <a:cs typeface="Arial"/>
              <a:sym typeface="Arial"/>
            </a:endParaRPr>
          </a:p>
        </p:txBody>
      </p:sp>
      <p:sp>
        <p:nvSpPr>
          <p:cNvPr id="1067" name="Google Shape;1067;p17"/>
          <p:cNvSpPr txBox="1"/>
          <p:nvPr/>
        </p:nvSpPr>
        <p:spPr>
          <a:xfrm>
            <a:off x="9942145" y="3272233"/>
            <a:ext cx="19569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Validate + refine</a:t>
            </a:r>
            <a:endParaRPr b="0" i="0" sz="1400" u="none" cap="none" strike="noStrike">
              <a:solidFill>
                <a:srgbClr val="000000"/>
              </a:solidFill>
              <a:latin typeface="Arial"/>
              <a:ea typeface="Arial"/>
              <a:cs typeface="Arial"/>
              <a:sym typeface="Arial"/>
            </a:endParaRPr>
          </a:p>
        </p:txBody>
      </p:sp>
      <p:sp>
        <p:nvSpPr>
          <p:cNvPr id="1068" name="Google Shape;1068;p17"/>
          <p:cNvSpPr txBox="1"/>
          <p:nvPr/>
        </p:nvSpPr>
        <p:spPr>
          <a:xfrm>
            <a:off x="9951289" y="3546553"/>
            <a:ext cx="1938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Judge-LLM + rules</a:t>
            </a:r>
            <a:endParaRPr b="0" i="0" sz="1400" u="none" cap="none" strike="noStrike">
              <a:solidFill>
                <a:srgbClr val="000000"/>
              </a:solidFill>
              <a:latin typeface="Arial"/>
              <a:ea typeface="Arial"/>
              <a:cs typeface="Arial"/>
              <a:sym typeface="Arial"/>
            </a:endParaRPr>
          </a:p>
        </p:txBody>
      </p:sp>
      <p:sp>
        <p:nvSpPr>
          <p:cNvPr id="1069" name="Google Shape;1069;p17"/>
          <p:cNvSpPr/>
          <p:nvPr/>
        </p:nvSpPr>
        <p:spPr>
          <a:xfrm>
            <a:off x="9896425" y="4854652"/>
            <a:ext cx="2084700" cy="786300"/>
          </a:xfrm>
          <a:prstGeom prst="roundRect">
            <a:avLst>
              <a:gd fmla="val 16667" name="adj"/>
            </a:avLst>
          </a:prstGeom>
          <a:solidFill>
            <a:srgbClr val="DDE5E1"/>
          </a:solidFill>
          <a:ln cap="flat" cmpd="sng" w="292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0" name="Google Shape;1070;p17"/>
          <p:cNvSpPr txBox="1"/>
          <p:nvPr/>
        </p:nvSpPr>
        <p:spPr>
          <a:xfrm>
            <a:off x="9969577" y="4609123"/>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(i)</a:t>
            </a:r>
            <a:endParaRPr b="0" i="0" sz="1400" u="none" cap="none" strike="noStrike">
              <a:solidFill>
                <a:srgbClr val="000000"/>
              </a:solidFill>
              <a:latin typeface="Arial"/>
              <a:ea typeface="Arial"/>
              <a:cs typeface="Arial"/>
              <a:sym typeface="Arial"/>
            </a:endParaRPr>
          </a:p>
        </p:txBody>
      </p:sp>
      <p:sp>
        <p:nvSpPr>
          <p:cNvPr id="1071" name="Google Shape;1071;p17"/>
          <p:cNvSpPr txBox="1"/>
          <p:nvPr/>
        </p:nvSpPr>
        <p:spPr>
          <a:xfrm>
            <a:off x="9978721" y="4973523"/>
            <a:ext cx="19203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Integrate ΔOᵣ</a:t>
            </a:r>
            <a:endParaRPr b="0" i="0" sz="1400" u="none" cap="none" strike="noStrike">
              <a:solidFill>
                <a:srgbClr val="000000"/>
              </a:solidFill>
              <a:latin typeface="Arial"/>
              <a:ea typeface="Arial"/>
              <a:cs typeface="Arial"/>
              <a:sym typeface="Arial"/>
            </a:endParaRPr>
          </a:p>
        </p:txBody>
      </p:sp>
      <p:sp>
        <p:nvSpPr>
          <p:cNvPr id="1072" name="Google Shape;1072;p17"/>
          <p:cNvSpPr txBox="1"/>
          <p:nvPr/>
        </p:nvSpPr>
        <p:spPr>
          <a:xfrm>
            <a:off x="9987865" y="5247843"/>
            <a:ext cx="190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Core Oₜ</a:t>
            </a:r>
            <a:endParaRPr b="0" i="0" sz="1400" u="none" cap="none" strike="noStrike">
              <a:solidFill>
                <a:srgbClr val="000000"/>
              </a:solidFill>
              <a:latin typeface="Arial"/>
              <a:ea typeface="Arial"/>
              <a:cs typeface="Arial"/>
              <a:sym typeface="Arial"/>
            </a:endParaRPr>
          </a:p>
        </p:txBody>
      </p:sp>
      <p:sp>
        <p:nvSpPr>
          <p:cNvPr id="1073" name="Google Shape;1073;p17"/>
          <p:cNvSpPr txBox="1"/>
          <p:nvPr/>
        </p:nvSpPr>
        <p:spPr>
          <a:xfrm>
            <a:off x="9194034" y="5750441"/>
            <a:ext cx="1737300" cy="192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50"/>
              <a:buFont typeface="Arial"/>
              <a:buNone/>
            </a:pPr>
            <a:r>
              <a:rPr b="1" i="0" lang="en-US" sz="1250" u="none" cap="none" strike="noStrike">
                <a:solidFill>
                  <a:srgbClr val="177A55"/>
                </a:solidFill>
                <a:latin typeface="Calibri"/>
                <a:ea typeface="Calibri"/>
                <a:cs typeface="Calibri"/>
                <a:sym typeface="Calibri"/>
              </a:rPr>
              <a:t>Oₜ </a:t>
            </a:r>
            <a:endParaRPr b="0" i="0" sz="1400" u="none" cap="none" strike="noStrike">
              <a:solidFill>
                <a:srgbClr val="000000"/>
              </a:solidFill>
              <a:latin typeface="Arial"/>
              <a:ea typeface="Arial"/>
              <a:cs typeface="Arial"/>
              <a:sym typeface="Arial"/>
            </a:endParaRPr>
          </a:p>
        </p:txBody>
      </p:sp>
      <p:sp>
        <p:nvSpPr>
          <p:cNvPr id="1074" name="Google Shape;1074;p17"/>
          <p:cNvSpPr/>
          <p:nvPr/>
        </p:nvSpPr>
        <p:spPr>
          <a:xfrm>
            <a:off x="5429812" y="5214785"/>
            <a:ext cx="164700" cy="146400"/>
          </a:xfrm>
          <a:prstGeom prst="triangle">
            <a:avLst>
              <a:gd fmla="val 50000" name="adj"/>
            </a:avLst>
          </a:prstGeom>
          <a:solidFill>
            <a:srgbClr val="177A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75" name="Google Shape;1075;p17"/>
          <p:cNvCxnSpPr/>
          <p:nvPr/>
        </p:nvCxnSpPr>
        <p:spPr>
          <a:xfrm>
            <a:off x="3280056" y="3446462"/>
            <a:ext cx="100500" cy="0"/>
          </a:xfrm>
          <a:prstGeom prst="straightConnector1">
            <a:avLst/>
          </a:prstGeom>
          <a:noFill/>
          <a:ln cap="flat" cmpd="sng" w="29200">
            <a:solidFill>
              <a:srgbClr val="3A7D8C"/>
            </a:solidFill>
            <a:prstDash val="solid"/>
            <a:miter lim="80"/>
            <a:headEnd len="sm" w="sm" type="none"/>
            <a:tailEnd len="sm" w="sm" type="none"/>
          </a:ln>
        </p:spPr>
      </p:cxnSp>
      <p:sp>
        <p:nvSpPr>
          <p:cNvPr id="1076" name="Google Shape;1076;p17"/>
          <p:cNvSpPr/>
          <p:nvPr/>
        </p:nvSpPr>
        <p:spPr>
          <a:xfrm>
            <a:off x="1838868" y="3160059"/>
            <a:ext cx="1444800" cy="6948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7" name="Google Shape;1077;p17"/>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078" name="Google Shape;1078;p17"/>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cxnSp>
        <p:nvCxnSpPr>
          <p:cNvPr id="1079" name="Google Shape;1079;p17"/>
          <p:cNvCxnSpPr/>
          <p:nvPr/>
        </p:nvCxnSpPr>
        <p:spPr>
          <a:xfrm>
            <a:off x="3276349"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80" name="Google Shape;1080;p17"/>
          <p:cNvCxnSpPr/>
          <p:nvPr/>
        </p:nvCxnSpPr>
        <p:spPr>
          <a:xfrm>
            <a:off x="3657665" y="2199459"/>
            <a:ext cx="265200" cy="0"/>
          </a:xfrm>
          <a:prstGeom prst="straightConnector1">
            <a:avLst/>
          </a:prstGeom>
          <a:noFill/>
          <a:ln cap="flat" cmpd="sng" w="29200">
            <a:solidFill>
              <a:srgbClr val="3A7D8C"/>
            </a:solidFill>
            <a:prstDash val="solid"/>
            <a:miter lim="80"/>
            <a:headEnd len="sm" w="sm" type="none"/>
            <a:tailEnd len="sm" w="sm" type="none"/>
          </a:ln>
        </p:spPr>
      </p:cxnSp>
      <p:cxnSp>
        <p:nvCxnSpPr>
          <p:cNvPr id="1081" name="Google Shape;1081;p17"/>
          <p:cNvCxnSpPr/>
          <p:nvPr/>
        </p:nvCxnSpPr>
        <p:spPr>
          <a:xfrm>
            <a:off x="6144772" y="2181631"/>
            <a:ext cx="1874400" cy="0"/>
          </a:xfrm>
          <a:prstGeom prst="straightConnector1">
            <a:avLst/>
          </a:prstGeom>
          <a:noFill/>
          <a:ln cap="flat" cmpd="sng" w="29200">
            <a:solidFill>
              <a:srgbClr val="3A7D8C"/>
            </a:solidFill>
            <a:prstDash val="solid"/>
            <a:miter lim="80"/>
            <a:headEnd len="sm" w="sm" type="none"/>
            <a:tailEnd len="sm" w="sm" type="none"/>
          </a:ln>
        </p:spPr>
      </p:cxnSp>
      <p:cxnSp>
        <p:nvCxnSpPr>
          <p:cNvPr id="1082" name="Google Shape;1082;p17"/>
          <p:cNvCxnSpPr/>
          <p:nvPr/>
        </p:nvCxnSpPr>
        <p:spPr>
          <a:xfrm rot="10800000">
            <a:off x="7017019" y="5982679"/>
            <a:ext cx="1956900" cy="0"/>
          </a:xfrm>
          <a:prstGeom prst="straightConnector1">
            <a:avLst/>
          </a:prstGeom>
          <a:noFill/>
          <a:ln cap="flat" cmpd="sng" w="31750">
            <a:solidFill>
              <a:srgbClr val="177A55"/>
            </a:solidFill>
            <a:prstDash val="solid"/>
            <a:miter lim="80"/>
            <a:headEnd len="sm" w="sm" type="none"/>
            <a:tailEnd len="sm" w="sm" type="none"/>
          </a:ln>
        </p:spPr>
      </p:cxnSp>
      <p:cxnSp>
        <p:nvCxnSpPr>
          <p:cNvPr id="1083" name="Google Shape;1083;p17"/>
          <p:cNvCxnSpPr/>
          <p:nvPr/>
        </p:nvCxnSpPr>
        <p:spPr>
          <a:xfrm rot="10800000">
            <a:off x="5504959" y="5982679"/>
            <a:ext cx="1956900" cy="0"/>
          </a:xfrm>
          <a:prstGeom prst="straightConnector1">
            <a:avLst/>
          </a:prstGeom>
          <a:noFill/>
          <a:ln cap="flat" cmpd="sng" w="31750">
            <a:solidFill>
              <a:srgbClr val="177A55"/>
            </a:solidFill>
            <a:prstDash val="solid"/>
            <a:miter lim="80"/>
            <a:headEnd len="sm" w="sm" type="none"/>
            <a:tailEnd len="sm" w="sm" type="none"/>
          </a:ln>
        </p:spPr>
      </p:cxnSp>
      <p:pic>
        <p:nvPicPr>
          <p:cNvPr id="1084" name="Google Shape;1084;p17" title="graph_checks_icon.png"/>
          <p:cNvPicPr preferRelativeResize="0"/>
          <p:nvPr/>
        </p:nvPicPr>
        <p:blipFill rotWithShape="1">
          <a:blip r:embed="rId3">
            <a:alphaModFix/>
          </a:blip>
          <a:srcRect b="19469" l="4324" r="13635" t="18031"/>
          <a:stretch/>
        </p:blipFill>
        <p:spPr>
          <a:xfrm>
            <a:off x="11109875" y="3858152"/>
            <a:ext cx="528134" cy="402300"/>
          </a:xfrm>
          <a:prstGeom prst="rect">
            <a:avLst/>
          </a:prstGeom>
          <a:noFill/>
          <a:ln>
            <a:noFill/>
          </a:ln>
        </p:spPr>
      </p:pic>
      <p:pic>
        <p:nvPicPr>
          <p:cNvPr id="1085" name="Google Shape;1085;p17" title="judge_llm_icon.png"/>
          <p:cNvPicPr preferRelativeResize="0"/>
          <p:nvPr/>
        </p:nvPicPr>
        <p:blipFill rotWithShape="1">
          <a:blip r:embed="rId4">
            <a:alphaModFix/>
          </a:blip>
          <a:srcRect b="12651" l="17110" r="7384" t="12532"/>
          <a:stretch/>
        </p:blipFill>
        <p:spPr>
          <a:xfrm>
            <a:off x="10278909" y="3774189"/>
            <a:ext cx="528124" cy="523220"/>
          </a:xfrm>
          <a:prstGeom prst="rect">
            <a:avLst/>
          </a:prstGeom>
          <a:noFill/>
          <a:ln>
            <a:noFill/>
          </a:ln>
        </p:spPr>
      </p:pic>
      <p:pic>
        <p:nvPicPr>
          <p:cNvPr id="1086" name="Google Shape;1086;p17" title="Ontology Taxonomy Documentation Icons.png"/>
          <p:cNvPicPr preferRelativeResize="0"/>
          <p:nvPr/>
        </p:nvPicPr>
        <p:blipFill rotWithShape="1">
          <a:blip r:embed="rId5">
            <a:alphaModFix/>
          </a:blip>
          <a:srcRect b="14185" l="36225" r="31825" t="16211"/>
          <a:stretch/>
        </p:blipFill>
        <p:spPr>
          <a:xfrm>
            <a:off x="6431317" y="3822390"/>
            <a:ext cx="594806" cy="475499"/>
          </a:xfrm>
          <a:prstGeom prst="rect">
            <a:avLst/>
          </a:prstGeom>
          <a:noFill/>
          <a:ln>
            <a:noFill/>
          </a:ln>
        </p:spPr>
      </p:pic>
      <p:pic>
        <p:nvPicPr>
          <p:cNvPr id="1087" name="Google Shape;1087;p17" title="Ontology Taxonomy Documentation Icons.png"/>
          <p:cNvPicPr preferRelativeResize="0"/>
          <p:nvPr/>
        </p:nvPicPr>
        <p:blipFill rotWithShape="1">
          <a:blip r:embed="rId5">
            <a:alphaModFix/>
          </a:blip>
          <a:srcRect b="14185" l="2070" r="65981" t="16211"/>
          <a:stretch/>
        </p:blipFill>
        <p:spPr>
          <a:xfrm>
            <a:off x="6385539" y="3137260"/>
            <a:ext cx="594801" cy="432155"/>
          </a:xfrm>
          <a:prstGeom prst="rect">
            <a:avLst/>
          </a:prstGeom>
          <a:noFill/>
          <a:ln>
            <a:noFill/>
          </a:ln>
        </p:spPr>
      </p:pic>
      <p:pic>
        <p:nvPicPr>
          <p:cNvPr id="1088" name="Google Shape;1088;p17" title="Ontology Taxonomy Documentation Icons.png"/>
          <p:cNvPicPr preferRelativeResize="0"/>
          <p:nvPr/>
        </p:nvPicPr>
        <p:blipFill rotWithShape="1">
          <a:blip r:embed="rId5">
            <a:alphaModFix/>
          </a:blip>
          <a:srcRect b="7505" l="70326" r="314" t="10116"/>
          <a:stretch/>
        </p:blipFill>
        <p:spPr>
          <a:xfrm>
            <a:off x="6452911" y="4535008"/>
            <a:ext cx="528123" cy="494162"/>
          </a:xfrm>
          <a:prstGeom prst="rect">
            <a:avLst/>
          </a:prstGeom>
          <a:noFill/>
          <a:ln>
            <a:noFill/>
          </a:ln>
        </p:spPr>
      </p:pic>
      <p:pic>
        <p:nvPicPr>
          <p:cNvPr id="1089" name="Google Shape;1089;p17" title="LLM Neural Brain Icon.png"/>
          <p:cNvPicPr preferRelativeResize="0"/>
          <p:nvPr/>
        </p:nvPicPr>
        <p:blipFill rotWithShape="1">
          <a:blip r:embed="rId6">
            <a:alphaModFix/>
          </a:blip>
          <a:srcRect b="14226" l="16398" r="17214" t="12218"/>
          <a:stretch/>
        </p:blipFill>
        <p:spPr>
          <a:xfrm>
            <a:off x="7941825" y="4070998"/>
            <a:ext cx="644449" cy="6036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4" name="Shape 1094"/>
        <p:cNvGrpSpPr/>
        <p:nvPr/>
      </p:nvGrpSpPr>
      <p:grpSpPr>
        <a:xfrm>
          <a:off x="0" y="0"/>
          <a:ext cx="0" cy="0"/>
          <a:chOff x="0" y="0"/>
          <a:chExt cx="0" cy="0"/>
        </a:xfrm>
      </p:grpSpPr>
      <p:sp>
        <p:nvSpPr>
          <p:cNvPr id="1095" name="Google Shape;1095;p18"/>
          <p:cNvSpPr txBox="1"/>
          <p:nvPr/>
        </p:nvSpPr>
        <p:spPr>
          <a:xfrm>
            <a:off x="795528" y="448056"/>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TESTING THE PIPELINE</a:t>
            </a:r>
            <a:endParaRPr b="0" i="0" sz="1400" u="none" cap="none" strike="noStrike">
              <a:solidFill>
                <a:srgbClr val="000000"/>
              </a:solidFill>
              <a:latin typeface="Arial"/>
              <a:ea typeface="Arial"/>
              <a:cs typeface="Arial"/>
              <a:sym typeface="Arial"/>
            </a:endParaRPr>
          </a:p>
        </p:txBody>
      </p:sp>
      <p:sp>
        <p:nvSpPr>
          <p:cNvPr id="1096" name="Google Shape;1096;p18"/>
          <p:cNvSpPr txBox="1"/>
          <p:nvPr/>
        </p:nvSpPr>
        <p:spPr>
          <a:xfrm>
            <a:off x="795528" y="850392"/>
            <a:ext cx="1083570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Does the method work beyond our running example?</a:t>
            </a:r>
            <a:endParaRPr b="0" i="0" sz="1400" u="none" cap="none" strike="noStrike">
              <a:solidFill>
                <a:srgbClr val="000000"/>
              </a:solidFill>
              <a:latin typeface="Arial"/>
              <a:ea typeface="Arial"/>
              <a:cs typeface="Arial"/>
              <a:sym typeface="Arial"/>
            </a:endParaRPr>
          </a:p>
        </p:txBody>
      </p:sp>
      <p:sp>
        <p:nvSpPr>
          <p:cNvPr id="1097" name="Google Shape;1097;p18"/>
          <p:cNvSpPr txBox="1"/>
          <p:nvPr/>
        </p:nvSpPr>
        <p:spPr>
          <a:xfrm>
            <a:off x="795528" y="1609344"/>
            <a:ext cx="10607100" cy="347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Three databases, three generator models, four methods, evaluated from complementary angles.</a:t>
            </a:r>
            <a:endParaRPr b="0" i="0" sz="1400" u="none" cap="none" strike="noStrike">
              <a:solidFill>
                <a:srgbClr val="000000"/>
              </a:solidFill>
              <a:latin typeface="Arial"/>
              <a:ea typeface="Arial"/>
              <a:cs typeface="Arial"/>
              <a:sym typeface="Arial"/>
            </a:endParaRPr>
          </a:p>
        </p:txBody>
      </p:sp>
      <p:sp>
        <p:nvSpPr>
          <p:cNvPr id="1098" name="Google Shape;1098;p18"/>
          <p:cNvSpPr/>
          <p:nvPr/>
        </p:nvSpPr>
        <p:spPr>
          <a:xfrm>
            <a:off x="832104" y="2121408"/>
            <a:ext cx="3410700" cy="12069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9" name="Google Shape;1099;p18"/>
          <p:cNvSpPr/>
          <p:nvPr/>
        </p:nvSpPr>
        <p:spPr>
          <a:xfrm>
            <a:off x="832104" y="2121408"/>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0" name="Google Shape;1100;p18"/>
          <p:cNvSpPr txBox="1"/>
          <p:nvPr/>
        </p:nvSpPr>
        <p:spPr>
          <a:xfrm>
            <a:off x="1024128" y="2304288"/>
            <a:ext cx="3035700" cy="292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LIVER CANCER</a:t>
            </a:r>
            <a:endParaRPr b="0" i="0" sz="1400" u="none" cap="none" strike="noStrike">
              <a:solidFill>
                <a:srgbClr val="000000"/>
              </a:solidFill>
              <a:latin typeface="Arial"/>
              <a:ea typeface="Arial"/>
              <a:cs typeface="Arial"/>
              <a:sym typeface="Arial"/>
            </a:endParaRPr>
          </a:p>
        </p:txBody>
      </p:sp>
      <p:sp>
        <p:nvSpPr>
          <p:cNvPr id="1101" name="Google Shape;1101;p18"/>
          <p:cNvSpPr txBox="1"/>
          <p:nvPr/>
        </p:nvSpPr>
        <p:spPr>
          <a:xfrm>
            <a:off x="1024128" y="2670048"/>
            <a:ext cx="3026700" cy="265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16 tables  ·  350 columns</a:t>
            </a:r>
            <a:endParaRPr b="0" i="0" sz="1400" u="none" cap="none" strike="noStrike">
              <a:solidFill>
                <a:srgbClr val="000000"/>
              </a:solidFill>
              <a:latin typeface="Arial"/>
              <a:ea typeface="Arial"/>
              <a:cs typeface="Arial"/>
              <a:sym typeface="Arial"/>
            </a:endParaRPr>
          </a:p>
        </p:txBody>
      </p:sp>
      <p:sp>
        <p:nvSpPr>
          <p:cNvPr id="1102" name="Google Shape;1102;p18"/>
          <p:cNvSpPr txBox="1"/>
          <p:nvPr/>
        </p:nvSpPr>
        <p:spPr>
          <a:xfrm>
            <a:off x="1024128" y="2962656"/>
            <a:ext cx="2999100" cy="274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specialist clinical registry</a:t>
            </a:r>
            <a:endParaRPr b="0" i="0" sz="1400" u="none" cap="none" strike="noStrike">
              <a:solidFill>
                <a:srgbClr val="000000"/>
              </a:solidFill>
              <a:latin typeface="Arial"/>
              <a:ea typeface="Arial"/>
              <a:cs typeface="Arial"/>
              <a:sym typeface="Arial"/>
            </a:endParaRPr>
          </a:p>
        </p:txBody>
      </p:sp>
      <p:sp>
        <p:nvSpPr>
          <p:cNvPr id="1103" name="Google Shape;1103;p18"/>
          <p:cNvSpPr/>
          <p:nvPr/>
        </p:nvSpPr>
        <p:spPr>
          <a:xfrm>
            <a:off x="4489704" y="2121408"/>
            <a:ext cx="3410700" cy="12069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4" name="Google Shape;1104;p18"/>
          <p:cNvSpPr/>
          <p:nvPr/>
        </p:nvSpPr>
        <p:spPr>
          <a:xfrm>
            <a:off x="4489704" y="2121408"/>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5" name="Google Shape;1105;p18"/>
          <p:cNvSpPr txBox="1"/>
          <p:nvPr/>
        </p:nvSpPr>
        <p:spPr>
          <a:xfrm>
            <a:off x="4681728" y="2304288"/>
            <a:ext cx="3035700" cy="292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eICU-CRD</a:t>
            </a:r>
            <a:endParaRPr b="0" i="0" sz="1400" u="none" cap="none" strike="noStrike">
              <a:solidFill>
                <a:srgbClr val="000000"/>
              </a:solidFill>
              <a:latin typeface="Arial"/>
              <a:ea typeface="Arial"/>
              <a:cs typeface="Arial"/>
              <a:sym typeface="Arial"/>
            </a:endParaRPr>
          </a:p>
        </p:txBody>
      </p:sp>
      <p:sp>
        <p:nvSpPr>
          <p:cNvPr id="1106" name="Google Shape;1106;p18"/>
          <p:cNvSpPr txBox="1"/>
          <p:nvPr/>
        </p:nvSpPr>
        <p:spPr>
          <a:xfrm>
            <a:off x="4681728" y="2670048"/>
            <a:ext cx="3026700" cy="265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31 tables  ·  559 columns</a:t>
            </a:r>
            <a:endParaRPr b="0" i="0" sz="1400" u="none" cap="none" strike="noStrike">
              <a:solidFill>
                <a:srgbClr val="000000"/>
              </a:solidFill>
              <a:latin typeface="Arial"/>
              <a:ea typeface="Arial"/>
              <a:cs typeface="Arial"/>
              <a:sym typeface="Arial"/>
            </a:endParaRPr>
          </a:p>
        </p:txBody>
      </p:sp>
      <p:sp>
        <p:nvSpPr>
          <p:cNvPr id="1107" name="Google Shape;1107;p18"/>
          <p:cNvSpPr txBox="1"/>
          <p:nvPr/>
        </p:nvSpPr>
        <p:spPr>
          <a:xfrm>
            <a:off x="4681728" y="2962656"/>
            <a:ext cx="2999100" cy="274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large ICU schema</a:t>
            </a:r>
            <a:endParaRPr b="0" i="0" sz="1400" u="none" cap="none" strike="noStrike">
              <a:solidFill>
                <a:srgbClr val="000000"/>
              </a:solidFill>
              <a:latin typeface="Arial"/>
              <a:ea typeface="Arial"/>
              <a:cs typeface="Arial"/>
              <a:sym typeface="Arial"/>
            </a:endParaRPr>
          </a:p>
        </p:txBody>
      </p:sp>
      <p:sp>
        <p:nvSpPr>
          <p:cNvPr id="1108" name="Google Shape;1108;p18"/>
          <p:cNvSpPr/>
          <p:nvPr/>
        </p:nvSpPr>
        <p:spPr>
          <a:xfrm>
            <a:off x="8147304" y="2121408"/>
            <a:ext cx="3410700" cy="12069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9" name="Google Shape;1109;p18"/>
          <p:cNvSpPr/>
          <p:nvPr/>
        </p:nvSpPr>
        <p:spPr>
          <a:xfrm>
            <a:off x="8147304" y="2121408"/>
            <a:ext cx="3410700" cy="594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0" name="Google Shape;1110;p18"/>
          <p:cNvSpPr txBox="1"/>
          <p:nvPr/>
        </p:nvSpPr>
        <p:spPr>
          <a:xfrm>
            <a:off x="8339328" y="2304288"/>
            <a:ext cx="3035700" cy="292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CHINOOK</a:t>
            </a:r>
            <a:endParaRPr b="0" i="0" sz="1400" u="none" cap="none" strike="noStrike">
              <a:solidFill>
                <a:srgbClr val="000000"/>
              </a:solidFill>
              <a:latin typeface="Arial"/>
              <a:ea typeface="Arial"/>
              <a:cs typeface="Arial"/>
              <a:sym typeface="Arial"/>
            </a:endParaRPr>
          </a:p>
        </p:txBody>
      </p:sp>
      <p:sp>
        <p:nvSpPr>
          <p:cNvPr id="1111" name="Google Shape;1111;p18"/>
          <p:cNvSpPr txBox="1"/>
          <p:nvPr/>
        </p:nvSpPr>
        <p:spPr>
          <a:xfrm>
            <a:off x="8339328" y="2670048"/>
            <a:ext cx="3026700" cy="265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11 tables  ·  67 columns</a:t>
            </a:r>
            <a:endParaRPr b="0" i="0" sz="1400" u="none" cap="none" strike="noStrike">
              <a:solidFill>
                <a:srgbClr val="000000"/>
              </a:solidFill>
              <a:latin typeface="Arial"/>
              <a:ea typeface="Arial"/>
              <a:cs typeface="Arial"/>
              <a:sym typeface="Arial"/>
            </a:endParaRPr>
          </a:p>
        </p:txBody>
      </p:sp>
      <p:sp>
        <p:nvSpPr>
          <p:cNvPr id="1112" name="Google Shape;1112;p18"/>
          <p:cNvSpPr txBox="1"/>
          <p:nvPr/>
        </p:nvSpPr>
        <p:spPr>
          <a:xfrm>
            <a:off x="8339328" y="2962656"/>
            <a:ext cx="2999100" cy="274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music store · second domain</a:t>
            </a:r>
            <a:endParaRPr b="0" i="0" sz="1400" u="none" cap="none" strike="noStrike">
              <a:solidFill>
                <a:srgbClr val="000000"/>
              </a:solidFill>
              <a:latin typeface="Arial"/>
              <a:ea typeface="Arial"/>
              <a:cs typeface="Arial"/>
              <a:sym typeface="Arial"/>
            </a:endParaRPr>
          </a:p>
        </p:txBody>
      </p:sp>
      <p:sp>
        <p:nvSpPr>
          <p:cNvPr id="1113" name="Google Shape;1113;p18"/>
          <p:cNvSpPr txBox="1"/>
          <p:nvPr/>
        </p:nvSpPr>
        <p:spPr>
          <a:xfrm>
            <a:off x="832104" y="3575304"/>
            <a:ext cx="9875400" cy="283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FOUR WAYS TO GENERATE AN ONTOLOGY</a:t>
            </a:r>
            <a:endParaRPr b="0" i="0" sz="1400" u="none" cap="none" strike="noStrike">
              <a:solidFill>
                <a:srgbClr val="000000"/>
              </a:solidFill>
              <a:latin typeface="Arial"/>
              <a:ea typeface="Arial"/>
              <a:cs typeface="Arial"/>
              <a:sym typeface="Arial"/>
            </a:endParaRPr>
          </a:p>
        </p:txBody>
      </p:sp>
      <p:sp>
        <p:nvSpPr>
          <p:cNvPr id="1114" name="Google Shape;1114;p18"/>
          <p:cNvSpPr/>
          <p:nvPr/>
        </p:nvSpPr>
        <p:spPr>
          <a:xfrm>
            <a:off x="832104" y="3950208"/>
            <a:ext cx="2541900" cy="96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5" name="Google Shape;1115;p18"/>
          <p:cNvSpPr/>
          <p:nvPr/>
        </p:nvSpPr>
        <p:spPr>
          <a:xfrm>
            <a:off x="960120" y="4123944"/>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6" name="Google Shape;1116;p18"/>
          <p:cNvSpPr txBox="1"/>
          <p:nvPr/>
        </p:nvSpPr>
        <p:spPr>
          <a:xfrm>
            <a:off x="1028700" y="4187952"/>
            <a:ext cx="219600" cy="2196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1</a:t>
            </a:r>
            <a:endParaRPr b="0" i="0" sz="1400" u="none" cap="none" strike="noStrike">
              <a:solidFill>
                <a:srgbClr val="000000"/>
              </a:solidFill>
              <a:latin typeface="Arial"/>
              <a:ea typeface="Arial"/>
              <a:cs typeface="Arial"/>
              <a:sym typeface="Arial"/>
            </a:endParaRPr>
          </a:p>
        </p:txBody>
      </p:sp>
      <p:sp>
        <p:nvSpPr>
          <p:cNvPr id="1117" name="Google Shape;1117;p18"/>
          <p:cNvSpPr txBox="1"/>
          <p:nvPr/>
        </p:nvSpPr>
        <p:spPr>
          <a:xfrm>
            <a:off x="1344168" y="4096512"/>
            <a:ext cx="1902000" cy="237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118" name="Google Shape;1118;p18"/>
          <p:cNvSpPr txBox="1"/>
          <p:nvPr/>
        </p:nvSpPr>
        <p:spPr>
          <a:xfrm>
            <a:off x="996696" y="4453128"/>
            <a:ext cx="2222100" cy="283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Deterministic</a:t>
            </a:r>
            <a:endParaRPr b="0" i="0" sz="1400" u="none" cap="none" strike="noStrike">
              <a:solidFill>
                <a:srgbClr val="000000"/>
              </a:solidFill>
              <a:latin typeface="Arial"/>
              <a:ea typeface="Arial"/>
              <a:cs typeface="Arial"/>
              <a:sym typeface="Arial"/>
            </a:endParaRPr>
          </a:p>
        </p:txBody>
      </p:sp>
      <p:cxnSp>
        <p:nvCxnSpPr>
          <p:cNvPr id="1119" name="Google Shape;1119;p18"/>
          <p:cNvCxnSpPr/>
          <p:nvPr/>
        </p:nvCxnSpPr>
        <p:spPr>
          <a:xfrm>
            <a:off x="3401568" y="4453128"/>
            <a:ext cx="192000" cy="0"/>
          </a:xfrm>
          <a:prstGeom prst="straightConnector1">
            <a:avLst/>
          </a:prstGeom>
          <a:noFill/>
          <a:ln cap="flat" cmpd="sng" w="17775">
            <a:solidFill>
              <a:srgbClr val="0B6E4F"/>
            </a:solidFill>
            <a:prstDash val="solid"/>
            <a:miter lim="80"/>
            <a:headEnd len="sm" w="sm" type="none"/>
            <a:tailEnd len="med" w="med" type="triangle"/>
          </a:ln>
        </p:spPr>
      </p:cxnSp>
      <p:sp>
        <p:nvSpPr>
          <p:cNvPr id="1120" name="Google Shape;1120;p18"/>
          <p:cNvSpPr/>
          <p:nvPr/>
        </p:nvSpPr>
        <p:spPr>
          <a:xfrm>
            <a:off x="3630168" y="3950208"/>
            <a:ext cx="2541900" cy="96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1" name="Google Shape;1121;p18"/>
          <p:cNvSpPr/>
          <p:nvPr/>
        </p:nvSpPr>
        <p:spPr>
          <a:xfrm>
            <a:off x="3758184" y="4123944"/>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2" name="Google Shape;1122;p18"/>
          <p:cNvSpPr txBox="1"/>
          <p:nvPr/>
        </p:nvSpPr>
        <p:spPr>
          <a:xfrm>
            <a:off x="3826763" y="4187952"/>
            <a:ext cx="219600" cy="2196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2</a:t>
            </a:r>
            <a:endParaRPr b="0" i="0" sz="1400" u="none" cap="none" strike="noStrike">
              <a:solidFill>
                <a:srgbClr val="000000"/>
              </a:solidFill>
              <a:latin typeface="Arial"/>
              <a:ea typeface="Arial"/>
              <a:cs typeface="Arial"/>
              <a:sym typeface="Arial"/>
            </a:endParaRPr>
          </a:p>
        </p:txBody>
      </p:sp>
      <p:sp>
        <p:nvSpPr>
          <p:cNvPr id="1123" name="Google Shape;1123;p18"/>
          <p:cNvSpPr txBox="1"/>
          <p:nvPr/>
        </p:nvSpPr>
        <p:spPr>
          <a:xfrm>
            <a:off x="4142232" y="4096512"/>
            <a:ext cx="1902000" cy="237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LLM baseline</a:t>
            </a:r>
            <a:endParaRPr b="0" i="0" sz="1400" u="none" cap="none" strike="noStrike">
              <a:solidFill>
                <a:srgbClr val="000000"/>
              </a:solidFill>
              <a:latin typeface="Arial"/>
              <a:ea typeface="Arial"/>
              <a:cs typeface="Arial"/>
              <a:sym typeface="Arial"/>
            </a:endParaRPr>
          </a:p>
        </p:txBody>
      </p:sp>
      <p:sp>
        <p:nvSpPr>
          <p:cNvPr id="1124" name="Google Shape;1124;p18"/>
          <p:cNvSpPr txBox="1"/>
          <p:nvPr/>
        </p:nvSpPr>
        <p:spPr>
          <a:xfrm>
            <a:off x="3794760" y="4453128"/>
            <a:ext cx="2222100" cy="283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Table only</a:t>
            </a:r>
            <a:endParaRPr b="0" i="0" sz="1400" u="none" cap="none" strike="noStrike">
              <a:solidFill>
                <a:srgbClr val="000000"/>
              </a:solidFill>
              <a:latin typeface="Arial"/>
              <a:ea typeface="Arial"/>
              <a:cs typeface="Arial"/>
              <a:sym typeface="Arial"/>
            </a:endParaRPr>
          </a:p>
        </p:txBody>
      </p:sp>
      <p:cxnSp>
        <p:nvCxnSpPr>
          <p:cNvPr id="1125" name="Google Shape;1125;p18"/>
          <p:cNvCxnSpPr/>
          <p:nvPr/>
        </p:nvCxnSpPr>
        <p:spPr>
          <a:xfrm>
            <a:off x="6199632" y="4453128"/>
            <a:ext cx="192000" cy="0"/>
          </a:xfrm>
          <a:prstGeom prst="straightConnector1">
            <a:avLst/>
          </a:prstGeom>
          <a:noFill/>
          <a:ln cap="flat" cmpd="sng" w="17775">
            <a:solidFill>
              <a:srgbClr val="0B6E4F"/>
            </a:solidFill>
            <a:prstDash val="solid"/>
            <a:miter lim="80"/>
            <a:headEnd len="sm" w="sm" type="none"/>
            <a:tailEnd len="med" w="med" type="triangle"/>
          </a:ln>
        </p:spPr>
      </p:cxnSp>
      <p:sp>
        <p:nvSpPr>
          <p:cNvPr id="1126" name="Google Shape;1126;p18"/>
          <p:cNvSpPr/>
          <p:nvPr/>
        </p:nvSpPr>
        <p:spPr>
          <a:xfrm>
            <a:off x="6428232" y="3950208"/>
            <a:ext cx="2541900" cy="96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7" name="Google Shape;1127;p18"/>
          <p:cNvSpPr/>
          <p:nvPr/>
        </p:nvSpPr>
        <p:spPr>
          <a:xfrm>
            <a:off x="6556248" y="4123944"/>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8" name="Google Shape;1128;p18"/>
          <p:cNvSpPr txBox="1"/>
          <p:nvPr/>
        </p:nvSpPr>
        <p:spPr>
          <a:xfrm>
            <a:off x="6624828" y="4187952"/>
            <a:ext cx="219600" cy="2196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3</a:t>
            </a:r>
            <a:endParaRPr b="0" i="0" sz="1400" u="none" cap="none" strike="noStrike">
              <a:solidFill>
                <a:srgbClr val="000000"/>
              </a:solidFill>
              <a:latin typeface="Arial"/>
              <a:ea typeface="Arial"/>
              <a:cs typeface="Arial"/>
              <a:sym typeface="Arial"/>
            </a:endParaRPr>
          </a:p>
        </p:txBody>
      </p:sp>
      <p:sp>
        <p:nvSpPr>
          <p:cNvPr id="1129" name="Google Shape;1129;p18"/>
          <p:cNvSpPr txBox="1"/>
          <p:nvPr/>
        </p:nvSpPr>
        <p:spPr>
          <a:xfrm>
            <a:off x="6940296" y="4096512"/>
            <a:ext cx="1902000" cy="237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Non-Iterative</a:t>
            </a:r>
            <a:endParaRPr b="0" i="0" sz="1400" u="none" cap="none" strike="noStrike">
              <a:solidFill>
                <a:srgbClr val="000000"/>
              </a:solidFill>
              <a:latin typeface="Arial"/>
              <a:ea typeface="Arial"/>
              <a:cs typeface="Arial"/>
              <a:sym typeface="Arial"/>
            </a:endParaRPr>
          </a:p>
        </p:txBody>
      </p:sp>
      <p:sp>
        <p:nvSpPr>
          <p:cNvPr id="1130" name="Google Shape;1130;p18"/>
          <p:cNvSpPr txBox="1"/>
          <p:nvPr/>
        </p:nvSpPr>
        <p:spPr>
          <a:xfrm>
            <a:off x="6592824" y="4453128"/>
            <a:ext cx="2222100" cy="283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One-pass RAG</a:t>
            </a:r>
            <a:endParaRPr b="0" i="0" sz="1400" u="none" cap="none" strike="noStrike">
              <a:solidFill>
                <a:srgbClr val="000000"/>
              </a:solidFill>
              <a:latin typeface="Arial"/>
              <a:ea typeface="Arial"/>
              <a:cs typeface="Arial"/>
              <a:sym typeface="Arial"/>
            </a:endParaRPr>
          </a:p>
        </p:txBody>
      </p:sp>
      <p:cxnSp>
        <p:nvCxnSpPr>
          <p:cNvPr id="1131" name="Google Shape;1131;p18"/>
          <p:cNvCxnSpPr/>
          <p:nvPr/>
        </p:nvCxnSpPr>
        <p:spPr>
          <a:xfrm>
            <a:off x="8997696" y="4453128"/>
            <a:ext cx="192000" cy="0"/>
          </a:xfrm>
          <a:prstGeom prst="straightConnector1">
            <a:avLst/>
          </a:prstGeom>
          <a:noFill/>
          <a:ln cap="flat" cmpd="sng" w="17775">
            <a:solidFill>
              <a:srgbClr val="0B6E4F"/>
            </a:solidFill>
            <a:prstDash val="solid"/>
            <a:miter lim="80"/>
            <a:headEnd len="sm" w="sm" type="none"/>
            <a:tailEnd len="med" w="med" type="triangle"/>
          </a:ln>
        </p:spPr>
      </p:cxnSp>
      <p:sp>
        <p:nvSpPr>
          <p:cNvPr id="1132" name="Google Shape;1132;p18"/>
          <p:cNvSpPr/>
          <p:nvPr/>
        </p:nvSpPr>
        <p:spPr>
          <a:xfrm>
            <a:off x="9226296" y="3950208"/>
            <a:ext cx="2541900" cy="960000"/>
          </a:xfrm>
          <a:prstGeom prst="roundRect">
            <a:avLst>
              <a:gd fmla="val 10000" name="adj"/>
            </a:avLst>
          </a:prstGeom>
          <a:solidFill>
            <a:srgbClr val="E6F2EC"/>
          </a:solidFill>
          <a:ln cap="flat" cmpd="sng" w="152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3" name="Google Shape;1133;p18"/>
          <p:cNvSpPr/>
          <p:nvPr/>
        </p:nvSpPr>
        <p:spPr>
          <a:xfrm>
            <a:off x="9354312" y="4123944"/>
            <a:ext cx="310800" cy="310800"/>
          </a:xfrm>
          <a:prstGeom prst="ellipse">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4" name="Google Shape;1134;p18"/>
          <p:cNvSpPr txBox="1"/>
          <p:nvPr/>
        </p:nvSpPr>
        <p:spPr>
          <a:xfrm>
            <a:off x="9422892" y="4187952"/>
            <a:ext cx="219600" cy="2196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a:t>
            </a:r>
            <a:endParaRPr b="0" i="0" sz="1400" u="none" cap="none" strike="noStrike">
              <a:solidFill>
                <a:srgbClr val="000000"/>
              </a:solidFill>
              <a:latin typeface="Arial"/>
              <a:ea typeface="Arial"/>
              <a:cs typeface="Arial"/>
              <a:sym typeface="Arial"/>
            </a:endParaRPr>
          </a:p>
        </p:txBody>
      </p:sp>
      <p:sp>
        <p:nvSpPr>
          <p:cNvPr id="1135" name="Google Shape;1135;p18"/>
          <p:cNvSpPr txBox="1"/>
          <p:nvPr/>
        </p:nvSpPr>
        <p:spPr>
          <a:xfrm>
            <a:off x="9738360" y="4096512"/>
            <a:ext cx="1902000" cy="237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RIGOR</a:t>
            </a:r>
            <a:endParaRPr b="0" i="0" sz="1400" u="none" cap="none" strike="noStrike">
              <a:solidFill>
                <a:srgbClr val="000000"/>
              </a:solidFill>
              <a:latin typeface="Arial"/>
              <a:ea typeface="Arial"/>
              <a:cs typeface="Arial"/>
              <a:sym typeface="Arial"/>
            </a:endParaRPr>
          </a:p>
        </p:txBody>
      </p:sp>
      <p:sp>
        <p:nvSpPr>
          <p:cNvPr id="1136" name="Google Shape;1136;p18"/>
          <p:cNvSpPr txBox="1"/>
          <p:nvPr/>
        </p:nvSpPr>
        <p:spPr>
          <a:xfrm>
            <a:off x="9390888" y="4453128"/>
            <a:ext cx="2222100" cy="283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Ground + grow + check</a:t>
            </a:r>
            <a:endParaRPr b="0" i="0" sz="1400" u="none" cap="none" strike="noStrike">
              <a:solidFill>
                <a:srgbClr val="000000"/>
              </a:solidFill>
              <a:latin typeface="Arial"/>
              <a:ea typeface="Arial"/>
              <a:cs typeface="Arial"/>
              <a:sym typeface="Arial"/>
            </a:endParaRPr>
          </a:p>
        </p:txBody>
      </p:sp>
      <p:sp>
        <p:nvSpPr>
          <p:cNvPr id="1137" name="Google Shape;1137;p18"/>
          <p:cNvSpPr/>
          <p:nvPr/>
        </p:nvSpPr>
        <p:spPr>
          <a:xfrm>
            <a:off x="841248" y="5166360"/>
            <a:ext cx="10460700" cy="5394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8" name="Google Shape;1138;p18"/>
          <p:cNvSpPr txBox="1"/>
          <p:nvPr/>
        </p:nvSpPr>
        <p:spPr>
          <a:xfrm>
            <a:off x="1033271" y="5312664"/>
            <a:ext cx="10076700" cy="255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0B6E4F"/>
                </a:solidFill>
                <a:latin typeface="Calibri"/>
                <a:ea typeface="Calibri"/>
                <a:cs typeface="Calibri"/>
                <a:sym typeface="Calibri"/>
              </a:rPr>
              <a:t>30 ONTOLOGIES   </a:t>
            </a:r>
            <a:r>
              <a:rPr b="0" i="0" lang="en-US" sz="1550" u="none" cap="none" strike="noStrike">
                <a:solidFill>
                  <a:srgbClr val="1F2328"/>
                </a:solidFill>
                <a:latin typeface="Calibri"/>
                <a:ea typeface="Calibri"/>
                <a:cs typeface="Calibri"/>
                <a:sym typeface="Calibri"/>
              </a:rPr>
              <a:t>quality checks  ·  independent evaluation judge (GPT-5.4)  ·  10 human experts  ·  BURR benchmark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3" name="Shape 1143"/>
        <p:cNvGrpSpPr/>
        <p:nvPr/>
      </p:nvGrpSpPr>
      <p:grpSpPr>
        <a:xfrm>
          <a:off x="0" y="0"/>
          <a:ext cx="0" cy="0"/>
          <a:chOff x="0" y="0"/>
          <a:chExt cx="0" cy="0"/>
        </a:xfrm>
      </p:grpSpPr>
      <p:sp>
        <p:nvSpPr>
          <p:cNvPr id="1144" name="Google Shape;1144;p20"/>
          <p:cNvSpPr txBox="1"/>
          <p:nvPr/>
        </p:nvSpPr>
        <p:spPr>
          <a:xfrm>
            <a:off x="777240" y="347472"/>
            <a:ext cx="100584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onsolas"/>
                <a:ea typeface="Consolas"/>
                <a:cs typeface="Consolas"/>
                <a:sym typeface="Consolas"/>
              </a:rPr>
              <a:t>RESULT 1  /  MEANING AND STRUCTURE</a:t>
            </a:r>
            <a:endParaRPr/>
          </a:p>
        </p:txBody>
      </p:sp>
      <p:sp>
        <p:nvSpPr>
          <p:cNvPr id="1145" name="Google Shape;1145;p20"/>
          <p:cNvSpPr txBox="1"/>
          <p:nvPr/>
        </p:nvSpPr>
        <p:spPr>
          <a:xfrm>
            <a:off x="777240" y="768096"/>
            <a:ext cx="10881300" cy="53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1F2328"/>
                </a:solidFill>
                <a:latin typeface="Cambria"/>
                <a:ea typeface="Cambria"/>
                <a:cs typeface="Cambria"/>
                <a:sym typeface="Cambria"/>
              </a:rPr>
              <a:t>Only RIGOR adds meaning without losing structure.</a:t>
            </a:r>
            <a:endParaRPr/>
          </a:p>
        </p:txBody>
      </p:sp>
      <p:sp>
        <p:nvSpPr>
          <p:cNvPr id="1146" name="Google Shape;1146;p20"/>
          <p:cNvSpPr txBox="1"/>
          <p:nvPr/>
        </p:nvSpPr>
        <p:spPr>
          <a:xfrm>
            <a:off x="777240" y="1371600"/>
            <a:ext cx="10789800" cy="34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What the generated ontologies contain  ·  3 databases × 3 LLMs  ·  Direct Mapping: one ontology per database</a:t>
            </a:r>
            <a:endParaRPr/>
          </a:p>
        </p:txBody>
      </p:sp>
      <p:sp>
        <p:nvSpPr>
          <p:cNvPr id="1147" name="Google Shape;1147;p20"/>
          <p:cNvSpPr txBox="1"/>
          <p:nvPr/>
        </p:nvSpPr>
        <p:spPr>
          <a:xfrm>
            <a:off x="960120" y="5193792"/>
            <a:ext cx="10268700" cy="329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B6E4F"/>
                </a:solidFill>
                <a:latin typeface="Calibri"/>
                <a:ea typeface="Calibri"/>
                <a:cs typeface="Calibri"/>
                <a:sym typeface="Calibri"/>
              </a:rPr>
              <a:t>MODELING PITFALLS (OOPS!)   </a:t>
            </a:r>
            <a:r>
              <a:rPr b="0" i="0" lang="en-US" sz="1400" u="none" cap="none" strike="noStrike">
                <a:solidFill>
                  <a:srgbClr val="1F2328"/>
                </a:solidFill>
                <a:latin typeface="Calibri"/>
                <a:ea typeface="Calibri"/>
                <a:cs typeface="Calibri"/>
                <a:sym typeface="Calibri"/>
              </a:rPr>
              <a:t>Fewer than every other method in 9/9 like-for-like runs  ·  zero on Chinook with all three LLMs</a:t>
            </a:r>
            <a:endParaRPr/>
          </a:p>
        </p:txBody>
      </p:sp>
      <p:sp>
        <p:nvSpPr>
          <p:cNvPr id="1148" name="Google Shape;1148;p20"/>
          <p:cNvSpPr txBox="1"/>
          <p:nvPr/>
        </p:nvSpPr>
        <p:spPr>
          <a:xfrm>
            <a:off x="850392" y="5897880"/>
            <a:ext cx="10789800" cy="246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5B6770"/>
                </a:solidFill>
                <a:latin typeface="Calibri"/>
                <a:ea typeface="Calibri"/>
                <a:cs typeface="Calibri"/>
                <a:sym typeface="Calibri"/>
              </a:rPr>
              <a:t>Coverage = embedding-based proxy (cosine ≥ 0.55); Direct Mapping is complete by construction. Like-for-like = same database and same LLM.</a:t>
            </a:r>
            <a:endParaRPr/>
          </a:p>
        </p:txBody>
      </p:sp>
      <p:sp>
        <p:nvSpPr>
          <p:cNvPr id="1149" name="Google Shape;1149;p20"/>
          <p:cNvSpPr txBox="1"/>
          <p:nvPr/>
        </p:nvSpPr>
        <p:spPr>
          <a:xfrm>
            <a:off x="850392" y="6172200"/>
            <a:ext cx="107898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5B6770"/>
                </a:solidFill>
                <a:latin typeface="Calibri"/>
                <a:ea typeface="Calibri"/>
                <a:cs typeface="Calibri"/>
                <a:sym typeface="Calibri"/>
              </a:rPr>
              <a:t>Sources: paper Tables 7 (pitfalls), 8 (labels, SubClassOf, provenance), 9 (coverage). Raw pitfall counts: backup slide B1.</a:t>
            </a:r>
            <a:endParaRPr/>
          </a:p>
        </p:txBody>
      </p:sp>
      <p:sp>
        <p:nvSpPr>
          <p:cNvPr id="1150" name="Google Shape;1150;p20"/>
          <p:cNvSpPr txBox="1"/>
          <p:nvPr/>
        </p:nvSpPr>
        <p:spPr>
          <a:xfrm>
            <a:off x="960120" y="1901952"/>
            <a:ext cx="21030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METHOD</a:t>
            </a:r>
            <a:endParaRPr/>
          </a:p>
        </p:txBody>
      </p:sp>
      <p:sp>
        <p:nvSpPr>
          <p:cNvPr id="1151" name="Google Shape;1151;p20"/>
          <p:cNvSpPr txBox="1"/>
          <p:nvPr/>
        </p:nvSpPr>
        <p:spPr>
          <a:xfrm>
            <a:off x="960120" y="2148840"/>
            <a:ext cx="21030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2" name="Google Shape;1152;p20"/>
          <p:cNvSpPr txBox="1"/>
          <p:nvPr/>
        </p:nvSpPr>
        <p:spPr>
          <a:xfrm>
            <a:off x="3246120" y="1901952"/>
            <a:ext cx="39318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COLUMNS KEPT</a:t>
            </a:r>
            <a:endParaRPr/>
          </a:p>
        </p:txBody>
      </p:sp>
      <p:sp>
        <p:nvSpPr>
          <p:cNvPr id="1153" name="Google Shape;1153;p20"/>
          <p:cNvSpPr txBox="1"/>
          <p:nvPr/>
        </p:nvSpPr>
        <p:spPr>
          <a:xfrm>
            <a:off x="3246120" y="2148840"/>
            <a:ext cx="39318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final schema coverage, range over the runs</a:t>
            </a:r>
            <a:endParaRPr/>
          </a:p>
        </p:txBody>
      </p:sp>
      <p:sp>
        <p:nvSpPr>
          <p:cNvPr id="1154" name="Google Shape;1154;p20"/>
          <p:cNvSpPr txBox="1"/>
          <p:nvPr/>
        </p:nvSpPr>
        <p:spPr>
          <a:xfrm>
            <a:off x="7543800" y="1901952"/>
            <a:ext cx="19203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LABELS &amp; COMMENTS</a:t>
            </a:r>
            <a:endParaRPr/>
          </a:p>
        </p:txBody>
      </p:sp>
      <p:sp>
        <p:nvSpPr>
          <p:cNvPr id="1155" name="Google Shape;1155;p20"/>
          <p:cNvSpPr txBox="1"/>
          <p:nvPr/>
        </p:nvSpPr>
        <p:spPr>
          <a:xfrm>
            <a:off x="7543800" y="2148840"/>
            <a:ext cx="19203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runs that have them</a:t>
            </a:r>
            <a:endParaRPr/>
          </a:p>
        </p:txBody>
      </p:sp>
      <p:sp>
        <p:nvSpPr>
          <p:cNvPr id="1156" name="Google Shape;1156;p20"/>
          <p:cNvSpPr txBox="1"/>
          <p:nvPr/>
        </p:nvSpPr>
        <p:spPr>
          <a:xfrm>
            <a:off x="9555480" y="1901952"/>
            <a:ext cx="19203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HIERARCHY + PROVENANCE</a:t>
            </a:r>
            <a:endParaRPr/>
          </a:p>
        </p:txBody>
      </p:sp>
      <p:sp>
        <p:nvSpPr>
          <p:cNvPr id="1157" name="Google Shape;1157;p20"/>
          <p:cNvSpPr txBox="1"/>
          <p:nvPr/>
        </p:nvSpPr>
        <p:spPr>
          <a:xfrm>
            <a:off x="9555480" y="2148840"/>
            <a:ext cx="19203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runs that have them</a:t>
            </a:r>
            <a:endParaRPr/>
          </a:p>
        </p:txBody>
      </p:sp>
      <p:sp>
        <p:nvSpPr>
          <p:cNvPr id="1158" name="Google Shape;1158;p20"/>
          <p:cNvSpPr/>
          <p:nvPr/>
        </p:nvSpPr>
        <p:spPr>
          <a:xfrm>
            <a:off x="822960" y="2487168"/>
            <a:ext cx="10542900" cy="11100"/>
          </a:xfrm>
          <a:prstGeom prst="rect">
            <a:avLst/>
          </a:prstGeom>
          <a:solidFill>
            <a:srgbClr val="9AA3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9" name="Google Shape;1159;p20"/>
          <p:cNvSpPr txBox="1"/>
          <p:nvPr/>
        </p:nvSpPr>
        <p:spPr>
          <a:xfrm>
            <a:off x="960120" y="2688336"/>
            <a:ext cx="21945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1F2328"/>
                </a:solidFill>
                <a:latin typeface="Calibri"/>
                <a:ea typeface="Calibri"/>
                <a:cs typeface="Calibri"/>
                <a:sym typeface="Calibri"/>
              </a:rPr>
              <a:t>Direct Mapping</a:t>
            </a:r>
            <a:endParaRPr/>
          </a:p>
        </p:txBody>
      </p:sp>
      <p:sp>
        <p:nvSpPr>
          <p:cNvPr id="1160" name="Google Shape;1160;p20"/>
          <p:cNvSpPr txBox="1"/>
          <p:nvPr/>
        </p:nvSpPr>
        <p:spPr>
          <a:xfrm>
            <a:off x="3246120" y="2688336"/>
            <a:ext cx="10515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0.78–0.99</a:t>
            </a:r>
            <a:endParaRPr/>
          </a:p>
        </p:txBody>
      </p:sp>
      <p:sp>
        <p:nvSpPr>
          <p:cNvPr id="1161" name="Google Shape;1161;p20"/>
          <p:cNvSpPr/>
          <p:nvPr/>
        </p:nvSpPr>
        <p:spPr>
          <a:xfrm>
            <a:off x="4343400" y="2788920"/>
            <a:ext cx="2514600" cy="109800"/>
          </a:xfrm>
          <a:prstGeom prst="roundRect">
            <a:avLst>
              <a:gd fmla="val 12000" name="adj"/>
            </a:avLst>
          </a:prstGeom>
          <a:solidFill>
            <a:srgbClr val="EEF1E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coverage 0.78–0.99" id="1162" name="Google Shape;1162;p20"/>
          <p:cNvSpPr/>
          <p:nvPr/>
        </p:nvSpPr>
        <p:spPr>
          <a:xfrm>
            <a:off x="6304788" y="2788920"/>
            <a:ext cx="528000" cy="109800"/>
          </a:xfrm>
          <a:prstGeom prst="roundRect">
            <a:avLst>
              <a:gd fmla="val 12000" name="adj"/>
            </a:avLst>
          </a:prstGeom>
          <a:solidFill>
            <a:srgbClr val="8E989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absent" id="1163" name="Google Shape;1163;p20"/>
          <p:cNvSpPr/>
          <p:nvPr/>
        </p:nvSpPr>
        <p:spPr>
          <a:xfrm>
            <a:off x="7543800" y="2761488"/>
            <a:ext cx="164700" cy="164700"/>
          </a:xfrm>
          <a:prstGeom prst="ellipse">
            <a:avLst/>
          </a:prstGeom>
          <a:solidFill>
            <a:srgbClr val="FFFFFF"/>
          </a:solidFill>
          <a:ln cap="flat" cmpd="sng" w="9525">
            <a:solidFill>
              <a:srgbClr val="6B747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4" name="Google Shape;1164;p20"/>
          <p:cNvSpPr txBox="1"/>
          <p:nvPr/>
        </p:nvSpPr>
        <p:spPr>
          <a:xfrm>
            <a:off x="7818120" y="2688336"/>
            <a:ext cx="12801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6B747B"/>
                </a:solidFill>
                <a:latin typeface="Calibri"/>
                <a:ea typeface="Calibri"/>
                <a:cs typeface="Calibri"/>
                <a:sym typeface="Calibri"/>
              </a:rPr>
              <a:t>0 / 3</a:t>
            </a:r>
            <a:endParaRPr/>
          </a:p>
        </p:txBody>
      </p:sp>
      <p:sp>
        <p:nvSpPr>
          <p:cNvPr descr="absent" id="1165" name="Google Shape;1165;p20"/>
          <p:cNvSpPr/>
          <p:nvPr/>
        </p:nvSpPr>
        <p:spPr>
          <a:xfrm>
            <a:off x="9555480" y="2761488"/>
            <a:ext cx="164700" cy="164700"/>
          </a:xfrm>
          <a:prstGeom prst="ellipse">
            <a:avLst/>
          </a:prstGeom>
          <a:solidFill>
            <a:srgbClr val="FFFFFF"/>
          </a:solidFill>
          <a:ln cap="flat" cmpd="sng" w="9525">
            <a:solidFill>
              <a:srgbClr val="6B747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6" name="Google Shape;1166;p20"/>
          <p:cNvSpPr txBox="1"/>
          <p:nvPr/>
        </p:nvSpPr>
        <p:spPr>
          <a:xfrm>
            <a:off x="9829800" y="2688336"/>
            <a:ext cx="12801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6B747B"/>
                </a:solidFill>
                <a:latin typeface="Calibri"/>
                <a:ea typeface="Calibri"/>
                <a:cs typeface="Calibri"/>
                <a:sym typeface="Calibri"/>
              </a:rPr>
              <a:t>0 / 3</a:t>
            </a:r>
            <a:endParaRPr/>
          </a:p>
        </p:txBody>
      </p:sp>
      <p:sp>
        <p:nvSpPr>
          <p:cNvPr id="1167" name="Google Shape;1167;p20"/>
          <p:cNvSpPr/>
          <p:nvPr/>
        </p:nvSpPr>
        <p:spPr>
          <a:xfrm>
            <a:off x="822960" y="3127248"/>
            <a:ext cx="10542900" cy="9000"/>
          </a:xfrm>
          <a:prstGeom prst="rect">
            <a:avLst/>
          </a:prstGeom>
          <a:solidFill>
            <a:srgbClr val="D9DED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8" name="Google Shape;1168;p20"/>
          <p:cNvSpPr txBox="1"/>
          <p:nvPr/>
        </p:nvSpPr>
        <p:spPr>
          <a:xfrm>
            <a:off x="960120" y="3255264"/>
            <a:ext cx="21945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1F2328"/>
                </a:solidFill>
                <a:latin typeface="Calibri"/>
                <a:ea typeface="Calibri"/>
                <a:cs typeface="Calibri"/>
                <a:sym typeface="Calibri"/>
              </a:rPr>
              <a:t>LLM baseline</a:t>
            </a:r>
            <a:endParaRPr/>
          </a:p>
        </p:txBody>
      </p:sp>
      <p:sp>
        <p:nvSpPr>
          <p:cNvPr id="1169" name="Google Shape;1169;p20"/>
          <p:cNvSpPr txBox="1"/>
          <p:nvPr/>
        </p:nvSpPr>
        <p:spPr>
          <a:xfrm>
            <a:off x="3246120" y="3255264"/>
            <a:ext cx="10515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0.31–1.00</a:t>
            </a:r>
            <a:endParaRPr/>
          </a:p>
        </p:txBody>
      </p:sp>
      <p:sp>
        <p:nvSpPr>
          <p:cNvPr id="1170" name="Google Shape;1170;p20"/>
          <p:cNvSpPr/>
          <p:nvPr/>
        </p:nvSpPr>
        <p:spPr>
          <a:xfrm>
            <a:off x="4343400" y="3355848"/>
            <a:ext cx="2514600" cy="109800"/>
          </a:xfrm>
          <a:prstGeom prst="roundRect">
            <a:avLst>
              <a:gd fmla="val 12000" name="adj"/>
            </a:avLst>
          </a:prstGeom>
          <a:solidFill>
            <a:srgbClr val="EEF1E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coverage 0.31–1.00" id="1171" name="Google Shape;1171;p20"/>
          <p:cNvSpPr/>
          <p:nvPr/>
        </p:nvSpPr>
        <p:spPr>
          <a:xfrm>
            <a:off x="5122926" y="3355848"/>
            <a:ext cx="1735200" cy="109800"/>
          </a:xfrm>
          <a:prstGeom prst="roundRect">
            <a:avLst>
              <a:gd fmla="val 12000" name="adj"/>
            </a:avLst>
          </a:prstGeom>
          <a:solidFill>
            <a:srgbClr val="8E989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absent" id="1172" name="Google Shape;1172;p20"/>
          <p:cNvSpPr/>
          <p:nvPr/>
        </p:nvSpPr>
        <p:spPr>
          <a:xfrm>
            <a:off x="7543800" y="3328416"/>
            <a:ext cx="164700" cy="164700"/>
          </a:xfrm>
          <a:prstGeom prst="ellipse">
            <a:avLst/>
          </a:prstGeom>
          <a:solidFill>
            <a:srgbClr val="FFFFFF"/>
          </a:solidFill>
          <a:ln cap="flat" cmpd="sng" w="9525">
            <a:solidFill>
              <a:srgbClr val="6B747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73" name="Google Shape;1173;p20"/>
          <p:cNvSpPr txBox="1"/>
          <p:nvPr/>
        </p:nvSpPr>
        <p:spPr>
          <a:xfrm>
            <a:off x="7818120" y="3255264"/>
            <a:ext cx="12801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6B747B"/>
                </a:solidFill>
                <a:latin typeface="Calibri"/>
                <a:ea typeface="Calibri"/>
                <a:cs typeface="Calibri"/>
                <a:sym typeface="Calibri"/>
              </a:rPr>
              <a:t>0 / 9</a:t>
            </a:r>
            <a:endParaRPr/>
          </a:p>
        </p:txBody>
      </p:sp>
      <p:sp>
        <p:nvSpPr>
          <p:cNvPr descr="absent" id="1174" name="Google Shape;1174;p20"/>
          <p:cNvSpPr/>
          <p:nvPr/>
        </p:nvSpPr>
        <p:spPr>
          <a:xfrm>
            <a:off x="9555480" y="3328416"/>
            <a:ext cx="164700" cy="164700"/>
          </a:xfrm>
          <a:prstGeom prst="ellipse">
            <a:avLst/>
          </a:prstGeom>
          <a:solidFill>
            <a:srgbClr val="FFFFFF"/>
          </a:solidFill>
          <a:ln cap="flat" cmpd="sng" w="9525">
            <a:solidFill>
              <a:srgbClr val="6B747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75" name="Google Shape;1175;p20"/>
          <p:cNvSpPr txBox="1"/>
          <p:nvPr/>
        </p:nvSpPr>
        <p:spPr>
          <a:xfrm>
            <a:off x="9829800" y="3255264"/>
            <a:ext cx="12801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6B747B"/>
                </a:solidFill>
                <a:latin typeface="Calibri"/>
                <a:ea typeface="Calibri"/>
                <a:cs typeface="Calibri"/>
                <a:sym typeface="Calibri"/>
              </a:rPr>
              <a:t>0 / 9</a:t>
            </a:r>
            <a:endParaRPr/>
          </a:p>
        </p:txBody>
      </p:sp>
      <p:sp>
        <p:nvSpPr>
          <p:cNvPr id="1176" name="Google Shape;1176;p20"/>
          <p:cNvSpPr/>
          <p:nvPr/>
        </p:nvSpPr>
        <p:spPr>
          <a:xfrm>
            <a:off x="822960" y="3694176"/>
            <a:ext cx="10542900" cy="9000"/>
          </a:xfrm>
          <a:prstGeom prst="rect">
            <a:avLst/>
          </a:prstGeom>
          <a:solidFill>
            <a:srgbClr val="D9DED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77" name="Google Shape;1177;p20"/>
          <p:cNvSpPr txBox="1"/>
          <p:nvPr/>
        </p:nvSpPr>
        <p:spPr>
          <a:xfrm>
            <a:off x="960120" y="3822191"/>
            <a:ext cx="21945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1F2328"/>
                </a:solidFill>
                <a:latin typeface="Calibri"/>
                <a:ea typeface="Calibri"/>
                <a:cs typeface="Calibri"/>
                <a:sym typeface="Calibri"/>
              </a:rPr>
              <a:t>Non-Iterative</a:t>
            </a:r>
            <a:endParaRPr/>
          </a:p>
        </p:txBody>
      </p:sp>
      <p:sp>
        <p:nvSpPr>
          <p:cNvPr id="1178" name="Google Shape;1178;p20"/>
          <p:cNvSpPr txBox="1"/>
          <p:nvPr/>
        </p:nvSpPr>
        <p:spPr>
          <a:xfrm>
            <a:off x="3246120" y="3822191"/>
            <a:ext cx="10515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B23A1E"/>
                </a:solidFill>
                <a:latin typeface="Calibri"/>
                <a:ea typeface="Calibri"/>
                <a:cs typeface="Calibri"/>
                <a:sym typeface="Calibri"/>
              </a:rPr>
              <a:t>0.06–0.78</a:t>
            </a:r>
            <a:endParaRPr/>
          </a:p>
        </p:txBody>
      </p:sp>
      <p:sp>
        <p:nvSpPr>
          <p:cNvPr id="1179" name="Google Shape;1179;p20"/>
          <p:cNvSpPr/>
          <p:nvPr/>
        </p:nvSpPr>
        <p:spPr>
          <a:xfrm>
            <a:off x="4343400" y="3922776"/>
            <a:ext cx="2514600" cy="109800"/>
          </a:xfrm>
          <a:prstGeom prst="roundRect">
            <a:avLst>
              <a:gd fmla="val 12000" name="adj"/>
            </a:avLst>
          </a:prstGeom>
          <a:solidFill>
            <a:srgbClr val="EEF1E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coverage 0.06–0.78" id="1180" name="Google Shape;1180;p20"/>
          <p:cNvSpPr/>
          <p:nvPr/>
        </p:nvSpPr>
        <p:spPr>
          <a:xfrm>
            <a:off x="4494276" y="3922776"/>
            <a:ext cx="1810500" cy="109800"/>
          </a:xfrm>
          <a:prstGeom prst="roundRect">
            <a:avLst>
              <a:gd fmla="val 12000" name="adj"/>
            </a:avLst>
          </a:prstGeom>
          <a:solidFill>
            <a:srgbClr val="B23A1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present" id="1181" name="Google Shape;1181;p20"/>
          <p:cNvSpPr/>
          <p:nvPr/>
        </p:nvSpPr>
        <p:spPr>
          <a:xfrm>
            <a:off x="7543800" y="3895344"/>
            <a:ext cx="164700" cy="164700"/>
          </a:xfrm>
          <a:prstGeom prst="ellipse">
            <a:avLst/>
          </a:prstGeom>
          <a:solidFill>
            <a:srgbClr val="0B6E4F"/>
          </a:solidFill>
          <a:ln cap="flat" cmpd="sng" w="9525">
            <a:solidFill>
              <a:srgbClr val="0B6E4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2" name="Google Shape;1182;p20"/>
          <p:cNvSpPr txBox="1"/>
          <p:nvPr/>
        </p:nvSpPr>
        <p:spPr>
          <a:xfrm>
            <a:off x="7818120" y="3822191"/>
            <a:ext cx="12801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9 / 9</a:t>
            </a:r>
            <a:endParaRPr/>
          </a:p>
        </p:txBody>
      </p:sp>
      <p:sp>
        <p:nvSpPr>
          <p:cNvPr descr="absent" id="1183" name="Google Shape;1183;p20"/>
          <p:cNvSpPr/>
          <p:nvPr/>
        </p:nvSpPr>
        <p:spPr>
          <a:xfrm>
            <a:off x="9555480" y="3895344"/>
            <a:ext cx="164700" cy="164700"/>
          </a:xfrm>
          <a:prstGeom prst="ellipse">
            <a:avLst/>
          </a:prstGeom>
          <a:solidFill>
            <a:srgbClr val="FFFFFF"/>
          </a:solidFill>
          <a:ln cap="flat" cmpd="sng" w="9525">
            <a:solidFill>
              <a:srgbClr val="6B747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4" name="Google Shape;1184;p20"/>
          <p:cNvSpPr txBox="1"/>
          <p:nvPr/>
        </p:nvSpPr>
        <p:spPr>
          <a:xfrm>
            <a:off x="9829800" y="3822191"/>
            <a:ext cx="12801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6B747B"/>
                </a:solidFill>
                <a:latin typeface="Calibri"/>
                <a:ea typeface="Calibri"/>
                <a:cs typeface="Calibri"/>
                <a:sym typeface="Calibri"/>
              </a:rPr>
              <a:t>0 / 9</a:t>
            </a:r>
            <a:endParaRPr/>
          </a:p>
        </p:txBody>
      </p:sp>
      <p:sp>
        <p:nvSpPr>
          <p:cNvPr id="1185" name="Google Shape;1185;p20"/>
          <p:cNvSpPr/>
          <p:nvPr/>
        </p:nvSpPr>
        <p:spPr>
          <a:xfrm>
            <a:off x="822960" y="4297680"/>
            <a:ext cx="10542900" cy="493800"/>
          </a:xfrm>
          <a:prstGeom prst="roundRect">
            <a:avLst>
              <a:gd fmla="val 12000" name="adj"/>
            </a:avLst>
          </a:prstGeom>
          <a:solidFill>
            <a:srgbClr val="E6F2E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6" name="Google Shape;1186;p20"/>
          <p:cNvSpPr txBox="1"/>
          <p:nvPr/>
        </p:nvSpPr>
        <p:spPr>
          <a:xfrm>
            <a:off x="960120" y="4389120"/>
            <a:ext cx="21945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B6E4F"/>
                </a:solidFill>
                <a:latin typeface="Calibri"/>
                <a:ea typeface="Calibri"/>
                <a:cs typeface="Calibri"/>
                <a:sym typeface="Calibri"/>
              </a:rPr>
              <a:t>RIGOR</a:t>
            </a:r>
            <a:endParaRPr/>
          </a:p>
        </p:txBody>
      </p:sp>
      <p:sp>
        <p:nvSpPr>
          <p:cNvPr id="1187" name="Google Shape;1187;p20"/>
          <p:cNvSpPr txBox="1"/>
          <p:nvPr/>
        </p:nvSpPr>
        <p:spPr>
          <a:xfrm>
            <a:off x="3246120" y="4389120"/>
            <a:ext cx="10515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0.77–1.00</a:t>
            </a:r>
            <a:endParaRPr/>
          </a:p>
        </p:txBody>
      </p:sp>
      <p:sp>
        <p:nvSpPr>
          <p:cNvPr id="1188" name="Google Shape;1188;p20"/>
          <p:cNvSpPr/>
          <p:nvPr/>
        </p:nvSpPr>
        <p:spPr>
          <a:xfrm>
            <a:off x="4343400" y="4489704"/>
            <a:ext cx="2514600" cy="109800"/>
          </a:xfrm>
          <a:prstGeom prst="roundRect">
            <a:avLst>
              <a:gd fmla="val 12000" name="adj"/>
            </a:avLst>
          </a:prstGeom>
          <a:solidFill>
            <a:srgbClr val="EEF1E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coverage 0.77–1.00" id="1189" name="Google Shape;1189;p20"/>
          <p:cNvSpPr/>
          <p:nvPr/>
        </p:nvSpPr>
        <p:spPr>
          <a:xfrm>
            <a:off x="6279642" y="4489704"/>
            <a:ext cx="578400" cy="109800"/>
          </a:xfrm>
          <a:prstGeom prst="roundRect">
            <a:avLst>
              <a:gd fmla="val 12000" name="adj"/>
            </a:avLst>
          </a:prstGeom>
          <a:solidFill>
            <a:srgbClr val="0B6E4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present" id="1190" name="Google Shape;1190;p20"/>
          <p:cNvSpPr/>
          <p:nvPr/>
        </p:nvSpPr>
        <p:spPr>
          <a:xfrm>
            <a:off x="7543800" y="4462272"/>
            <a:ext cx="164700" cy="164700"/>
          </a:xfrm>
          <a:prstGeom prst="ellipse">
            <a:avLst/>
          </a:prstGeom>
          <a:solidFill>
            <a:srgbClr val="0B6E4F"/>
          </a:solidFill>
          <a:ln cap="flat" cmpd="sng" w="9525">
            <a:solidFill>
              <a:srgbClr val="0B6E4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1" name="Google Shape;1191;p20"/>
          <p:cNvSpPr txBox="1"/>
          <p:nvPr/>
        </p:nvSpPr>
        <p:spPr>
          <a:xfrm>
            <a:off x="7818120" y="4389120"/>
            <a:ext cx="12801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9 / 9</a:t>
            </a:r>
            <a:endParaRPr/>
          </a:p>
        </p:txBody>
      </p:sp>
      <p:sp>
        <p:nvSpPr>
          <p:cNvPr descr="present" id="1192" name="Google Shape;1192;p20"/>
          <p:cNvSpPr/>
          <p:nvPr/>
        </p:nvSpPr>
        <p:spPr>
          <a:xfrm>
            <a:off x="9555480" y="4462272"/>
            <a:ext cx="164700" cy="164700"/>
          </a:xfrm>
          <a:prstGeom prst="ellipse">
            <a:avLst/>
          </a:prstGeom>
          <a:solidFill>
            <a:srgbClr val="0B6E4F"/>
          </a:solidFill>
          <a:ln cap="flat" cmpd="sng" w="9525">
            <a:solidFill>
              <a:srgbClr val="0B6E4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3" name="Google Shape;1193;p20"/>
          <p:cNvSpPr txBox="1"/>
          <p:nvPr/>
        </p:nvSpPr>
        <p:spPr>
          <a:xfrm>
            <a:off x="9829800" y="4389120"/>
            <a:ext cx="12801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9 / 9</a:t>
            </a:r>
            <a:endParaRPr/>
          </a:p>
        </p:txBody>
      </p:sp>
      <p:sp>
        <p:nvSpPr>
          <p:cNvPr id="1194" name="Google Shape;1194;p20"/>
          <p:cNvSpPr/>
          <p:nvPr/>
        </p:nvSpPr>
        <p:spPr>
          <a:xfrm>
            <a:off x="822960" y="4846319"/>
            <a:ext cx="10542900" cy="11100"/>
          </a:xfrm>
          <a:prstGeom prst="rect">
            <a:avLst/>
          </a:prstGeom>
          <a:solidFill>
            <a:srgbClr val="9AA3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5" name="Google Shape;1195;p20"/>
          <p:cNvSpPr txBox="1"/>
          <p:nvPr/>
        </p:nvSpPr>
        <p:spPr>
          <a:xfrm>
            <a:off x="4114800" y="4873751"/>
            <a:ext cx="457200" cy="18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0</a:t>
            </a:r>
            <a:endParaRPr/>
          </a:p>
        </p:txBody>
      </p:sp>
      <p:sp>
        <p:nvSpPr>
          <p:cNvPr id="1196" name="Google Shape;1196;p20"/>
          <p:cNvSpPr txBox="1"/>
          <p:nvPr/>
        </p:nvSpPr>
        <p:spPr>
          <a:xfrm>
            <a:off x="5372100" y="4873751"/>
            <a:ext cx="457200" cy="18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0.5</a:t>
            </a:r>
            <a:endParaRPr/>
          </a:p>
        </p:txBody>
      </p:sp>
      <p:sp>
        <p:nvSpPr>
          <p:cNvPr id="1197" name="Google Shape;1197;p20"/>
          <p:cNvSpPr txBox="1"/>
          <p:nvPr/>
        </p:nvSpPr>
        <p:spPr>
          <a:xfrm>
            <a:off x="6629400" y="4873751"/>
            <a:ext cx="457200" cy="18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1</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2" name="Shape 1202"/>
        <p:cNvGrpSpPr/>
        <p:nvPr/>
      </p:nvGrpSpPr>
      <p:grpSpPr>
        <a:xfrm>
          <a:off x="0" y="0"/>
          <a:ext cx="0" cy="0"/>
          <a:chOff x="0" y="0"/>
          <a:chExt cx="0" cy="0"/>
        </a:xfrm>
      </p:grpSpPr>
      <p:sp>
        <p:nvSpPr>
          <p:cNvPr id="1203" name="Google Shape;1203;p21"/>
          <p:cNvSpPr txBox="1"/>
          <p:nvPr/>
        </p:nvSpPr>
        <p:spPr>
          <a:xfrm>
            <a:off x="804672" y="512064"/>
            <a:ext cx="107532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RESULT 2  /  EXTERNAL BENCHMARK</a:t>
            </a:r>
            <a:endParaRPr b="0" i="0" sz="1400" u="none" cap="none" strike="noStrike">
              <a:solidFill>
                <a:srgbClr val="000000"/>
              </a:solidFill>
              <a:latin typeface="Arial"/>
              <a:ea typeface="Arial"/>
              <a:cs typeface="Arial"/>
              <a:sym typeface="Arial"/>
            </a:endParaRPr>
          </a:p>
        </p:txBody>
      </p:sp>
      <p:sp>
        <p:nvSpPr>
          <p:cNvPr id="1204" name="Google Shape;1204;p21"/>
          <p:cNvSpPr txBox="1"/>
          <p:nvPr/>
        </p:nvSpPr>
        <p:spPr>
          <a:xfrm>
            <a:off x="804672" y="914400"/>
            <a:ext cx="10762500" cy="667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RIGOR keeps the link to the data.</a:t>
            </a:r>
            <a:endParaRPr b="0" i="0" sz="1400" u="none" cap="none" strike="noStrike">
              <a:solidFill>
                <a:srgbClr val="000000"/>
              </a:solidFill>
              <a:latin typeface="Arial"/>
              <a:ea typeface="Arial"/>
              <a:cs typeface="Arial"/>
              <a:sym typeface="Arial"/>
            </a:endParaRPr>
          </a:p>
        </p:txBody>
      </p:sp>
      <p:sp>
        <p:nvSpPr>
          <p:cNvPr id="1205" name="Google Shape;1205;p21"/>
          <p:cNvSpPr txBox="1"/>
          <p:nvPr/>
        </p:nvSpPr>
        <p:spPr>
          <a:xfrm>
            <a:off x="822960" y="1645920"/>
            <a:ext cx="10680300" cy="329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BURR benchmark (Laskowski et al., 2025)  ·  ISWC scenario  ·  highest F1 among the compared ontology-learning systems</a:t>
            </a:r>
            <a:endParaRPr b="0" i="0" sz="1400" u="none" cap="none" strike="noStrike">
              <a:solidFill>
                <a:srgbClr val="000000"/>
              </a:solidFill>
              <a:latin typeface="Arial"/>
              <a:ea typeface="Arial"/>
              <a:cs typeface="Arial"/>
              <a:sym typeface="Arial"/>
            </a:endParaRPr>
          </a:p>
        </p:txBody>
      </p:sp>
      <p:sp>
        <p:nvSpPr>
          <p:cNvPr id="1206" name="Google Shape;1206;p21"/>
          <p:cNvSpPr/>
          <p:nvPr/>
        </p:nvSpPr>
        <p:spPr>
          <a:xfrm>
            <a:off x="5870448" y="2139696"/>
            <a:ext cx="5468100" cy="3063300"/>
          </a:xfrm>
          <a:prstGeom prst="roundRect">
            <a:avLst>
              <a:gd fmla="val 16667" name="adj"/>
            </a:avLst>
          </a:prstGeom>
          <a:solidFill>
            <a:srgbClr val="FFFFFF"/>
          </a:solidFill>
          <a:ln cap="flat" cmpd="sng" w="1077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07" name="Google Shape;1207;p21"/>
          <p:cNvSpPr txBox="1"/>
          <p:nvPr/>
        </p:nvSpPr>
        <p:spPr>
          <a:xfrm>
            <a:off x="6099048" y="2322576"/>
            <a:ext cx="1828800" cy="329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SYSTEM</a:t>
            </a:r>
            <a:endParaRPr/>
          </a:p>
        </p:txBody>
      </p:sp>
      <p:sp>
        <p:nvSpPr>
          <p:cNvPr id="1208" name="Google Shape;1208;p21"/>
          <p:cNvSpPr txBox="1"/>
          <p:nvPr/>
        </p:nvSpPr>
        <p:spPr>
          <a:xfrm>
            <a:off x="8156447" y="2322576"/>
            <a:ext cx="1051500" cy="329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CLASSES</a:t>
            </a:r>
            <a:endParaRPr/>
          </a:p>
        </p:txBody>
      </p:sp>
      <p:sp>
        <p:nvSpPr>
          <p:cNvPr id="1209" name="Google Shape;1209;p21"/>
          <p:cNvSpPr txBox="1"/>
          <p:nvPr/>
        </p:nvSpPr>
        <p:spPr>
          <a:xfrm>
            <a:off x="9208008" y="2322576"/>
            <a:ext cx="1051500" cy="329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RELATIONS</a:t>
            </a:r>
            <a:endParaRPr/>
          </a:p>
        </p:txBody>
      </p:sp>
      <p:sp>
        <p:nvSpPr>
          <p:cNvPr id="1210" name="Google Shape;1210;p21"/>
          <p:cNvSpPr txBox="1"/>
          <p:nvPr/>
        </p:nvSpPr>
        <p:spPr>
          <a:xfrm>
            <a:off x="10259567" y="2322576"/>
            <a:ext cx="1051500" cy="329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ATTRIBUTES</a:t>
            </a:r>
            <a:endParaRPr/>
          </a:p>
        </p:txBody>
      </p:sp>
      <p:cxnSp>
        <p:nvCxnSpPr>
          <p:cNvPr id="1211" name="Google Shape;1211;p21"/>
          <p:cNvCxnSpPr/>
          <p:nvPr/>
        </p:nvCxnSpPr>
        <p:spPr>
          <a:xfrm>
            <a:off x="6071616" y="2761488"/>
            <a:ext cx="5065800" cy="0"/>
          </a:xfrm>
          <a:prstGeom prst="straightConnector1">
            <a:avLst/>
          </a:prstGeom>
          <a:noFill/>
          <a:ln cap="flat" cmpd="sng" w="13950">
            <a:solidFill>
              <a:srgbClr val="D9DEDB"/>
            </a:solidFill>
            <a:prstDash val="solid"/>
            <a:round/>
            <a:headEnd len="sm" w="sm" type="none"/>
            <a:tailEnd len="sm" w="sm" type="none"/>
          </a:ln>
          <a:effectLst>
            <a:outerShdw blurRad="40000" rotWithShape="0" dir="5400000" dist="20000">
              <a:srgbClr val="000000">
                <a:alpha val="38040"/>
              </a:srgbClr>
            </a:outerShdw>
          </a:effectLst>
        </p:spPr>
      </p:cxnSp>
      <p:sp>
        <p:nvSpPr>
          <p:cNvPr id="1212" name="Google Shape;1212;p21"/>
          <p:cNvSpPr txBox="1"/>
          <p:nvPr/>
        </p:nvSpPr>
        <p:spPr>
          <a:xfrm>
            <a:off x="6117336" y="2798064"/>
            <a:ext cx="2011800" cy="274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39" u="none" cap="none" strike="noStrike">
                <a:solidFill>
                  <a:srgbClr val="3A434C"/>
                </a:solidFill>
                <a:latin typeface="Calibri"/>
                <a:ea typeface="Calibri"/>
                <a:cs typeface="Calibri"/>
                <a:sym typeface="Calibri"/>
              </a:rPr>
              <a:t>W3C-Mapper / Ontop</a:t>
            </a:r>
            <a:endParaRPr/>
          </a:p>
        </p:txBody>
      </p:sp>
      <p:sp>
        <p:nvSpPr>
          <p:cNvPr id="1213" name="Google Shape;1213;p21"/>
          <p:cNvSpPr txBox="1"/>
          <p:nvPr/>
        </p:nvSpPr>
        <p:spPr>
          <a:xfrm>
            <a:off x="6117336" y="3054096"/>
            <a:ext cx="1828800" cy="20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130" u="none" cap="none" strike="noStrike">
                <a:solidFill>
                  <a:srgbClr val="5B6770"/>
                </a:solidFill>
                <a:latin typeface="Calibri"/>
                <a:ea typeface="Calibri"/>
                <a:cs typeface="Calibri"/>
                <a:sym typeface="Calibri"/>
              </a:rPr>
              <a:t>rule-based</a:t>
            </a:r>
            <a:endParaRPr/>
          </a:p>
        </p:txBody>
      </p:sp>
      <p:sp>
        <p:nvSpPr>
          <p:cNvPr id="1214" name="Google Shape;1214;p21"/>
          <p:cNvSpPr txBox="1"/>
          <p:nvPr/>
        </p:nvSpPr>
        <p:spPr>
          <a:xfrm>
            <a:off x="8202167" y="2857500"/>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0.53</a:t>
            </a:r>
            <a:endParaRPr/>
          </a:p>
        </p:txBody>
      </p:sp>
      <p:sp>
        <p:nvSpPr>
          <p:cNvPr id="1215" name="Google Shape;1215;p21"/>
          <p:cNvSpPr txBox="1"/>
          <p:nvPr/>
        </p:nvSpPr>
        <p:spPr>
          <a:xfrm>
            <a:off x="9253728" y="2857500"/>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0.11</a:t>
            </a:r>
            <a:endParaRPr/>
          </a:p>
        </p:txBody>
      </p:sp>
      <p:sp>
        <p:nvSpPr>
          <p:cNvPr id="1216" name="Google Shape;1216;p21"/>
          <p:cNvSpPr txBox="1"/>
          <p:nvPr/>
        </p:nvSpPr>
        <p:spPr>
          <a:xfrm>
            <a:off x="10305288" y="2857500"/>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0.39</a:t>
            </a:r>
            <a:endParaRPr/>
          </a:p>
        </p:txBody>
      </p:sp>
      <p:sp>
        <p:nvSpPr>
          <p:cNvPr id="1217" name="Google Shape;1217;p21"/>
          <p:cNvSpPr txBox="1"/>
          <p:nvPr/>
        </p:nvSpPr>
        <p:spPr>
          <a:xfrm>
            <a:off x="6117336" y="3355848"/>
            <a:ext cx="2011800" cy="274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39" u="none" cap="none" strike="noStrike">
                <a:solidFill>
                  <a:srgbClr val="3A434C"/>
                </a:solidFill>
                <a:latin typeface="Calibri"/>
                <a:ea typeface="Calibri"/>
                <a:cs typeface="Calibri"/>
                <a:sym typeface="Calibri"/>
              </a:rPr>
              <a:t>RDB2Onto</a:t>
            </a:r>
            <a:endParaRPr/>
          </a:p>
        </p:txBody>
      </p:sp>
      <p:sp>
        <p:nvSpPr>
          <p:cNvPr id="1218" name="Google Shape;1218;p21"/>
          <p:cNvSpPr txBox="1"/>
          <p:nvPr/>
        </p:nvSpPr>
        <p:spPr>
          <a:xfrm>
            <a:off x="6117336" y="3611880"/>
            <a:ext cx="1828800" cy="20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130" u="none" cap="none" strike="noStrike">
                <a:solidFill>
                  <a:srgbClr val="5B6770"/>
                </a:solidFill>
                <a:latin typeface="Calibri"/>
                <a:ea typeface="Calibri"/>
                <a:cs typeface="Calibri"/>
                <a:sym typeface="Calibri"/>
              </a:rPr>
              <a:t>rule-based</a:t>
            </a:r>
            <a:endParaRPr/>
          </a:p>
        </p:txBody>
      </p:sp>
      <p:sp>
        <p:nvSpPr>
          <p:cNvPr id="1219" name="Google Shape;1219;p21"/>
          <p:cNvSpPr txBox="1"/>
          <p:nvPr/>
        </p:nvSpPr>
        <p:spPr>
          <a:xfrm>
            <a:off x="8202167" y="3415284"/>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0.67</a:t>
            </a:r>
            <a:endParaRPr/>
          </a:p>
        </p:txBody>
      </p:sp>
      <p:sp>
        <p:nvSpPr>
          <p:cNvPr id="1220" name="Google Shape;1220;p21"/>
          <p:cNvSpPr txBox="1"/>
          <p:nvPr/>
        </p:nvSpPr>
        <p:spPr>
          <a:xfrm>
            <a:off x="9253728" y="3415284"/>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0.62</a:t>
            </a:r>
            <a:endParaRPr/>
          </a:p>
        </p:txBody>
      </p:sp>
      <p:sp>
        <p:nvSpPr>
          <p:cNvPr id="1221" name="Google Shape;1221;p21"/>
          <p:cNvSpPr txBox="1"/>
          <p:nvPr/>
        </p:nvSpPr>
        <p:spPr>
          <a:xfrm>
            <a:off x="10305288" y="3415284"/>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0.44</a:t>
            </a:r>
            <a:endParaRPr/>
          </a:p>
        </p:txBody>
      </p:sp>
      <p:sp>
        <p:nvSpPr>
          <p:cNvPr id="1222" name="Google Shape;1222;p21"/>
          <p:cNvSpPr txBox="1"/>
          <p:nvPr/>
        </p:nvSpPr>
        <p:spPr>
          <a:xfrm>
            <a:off x="6117336" y="3913632"/>
            <a:ext cx="2011800" cy="274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39" u="none" cap="none" strike="noStrike">
                <a:solidFill>
                  <a:srgbClr val="3A434C"/>
                </a:solidFill>
                <a:latin typeface="Calibri"/>
                <a:ea typeface="Calibri"/>
                <a:cs typeface="Calibri"/>
                <a:sym typeface="Calibri"/>
              </a:rPr>
              <a:t>OntoGenix</a:t>
            </a:r>
            <a:endParaRPr/>
          </a:p>
        </p:txBody>
      </p:sp>
      <p:sp>
        <p:nvSpPr>
          <p:cNvPr id="1223" name="Google Shape;1223;p21"/>
          <p:cNvSpPr txBox="1"/>
          <p:nvPr/>
        </p:nvSpPr>
        <p:spPr>
          <a:xfrm>
            <a:off x="6117336" y="4169664"/>
            <a:ext cx="1828800" cy="20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130" u="none" cap="none" strike="noStrike">
                <a:solidFill>
                  <a:srgbClr val="5B6770"/>
                </a:solidFill>
                <a:latin typeface="Calibri"/>
                <a:ea typeface="Calibri"/>
                <a:cs typeface="Calibri"/>
                <a:sym typeface="Calibri"/>
              </a:rPr>
              <a:t>LLM-based</a:t>
            </a:r>
            <a:endParaRPr/>
          </a:p>
        </p:txBody>
      </p:sp>
      <p:sp>
        <p:nvSpPr>
          <p:cNvPr id="1224" name="Google Shape;1224;p21"/>
          <p:cNvSpPr txBox="1"/>
          <p:nvPr/>
        </p:nvSpPr>
        <p:spPr>
          <a:xfrm>
            <a:off x="8202167" y="3973068"/>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0.58</a:t>
            </a:r>
            <a:endParaRPr/>
          </a:p>
        </p:txBody>
      </p:sp>
      <p:sp>
        <p:nvSpPr>
          <p:cNvPr id="1225" name="Google Shape;1225;p21"/>
          <p:cNvSpPr txBox="1"/>
          <p:nvPr/>
        </p:nvSpPr>
        <p:spPr>
          <a:xfrm>
            <a:off x="9253728" y="3973068"/>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0.35</a:t>
            </a:r>
            <a:endParaRPr/>
          </a:p>
        </p:txBody>
      </p:sp>
      <p:sp>
        <p:nvSpPr>
          <p:cNvPr id="1226" name="Google Shape;1226;p21"/>
          <p:cNvSpPr txBox="1"/>
          <p:nvPr/>
        </p:nvSpPr>
        <p:spPr>
          <a:xfrm>
            <a:off x="10305288" y="3973068"/>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0.44</a:t>
            </a:r>
            <a:endParaRPr/>
          </a:p>
        </p:txBody>
      </p:sp>
      <p:sp>
        <p:nvSpPr>
          <p:cNvPr id="1227" name="Google Shape;1227;p21"/>
          <p:cNvSpPr/>
          <p:nvPr/>
        </p:nvSpPr>
        <p:spPr>
          <a:xfrm>
            <a:off x="5980176" y="4507992"/>
            <a:ext cx="5248800" cy="512100"/>
          </a:xfrm>
          <a:prstGeom prst="rect">
            <a:avLst/>
          </a:prstGeom>
          <a:solidFill>
            <a:srgbClr val="E9EEEB"/>
          </a:solidFill>
          <a:ln cap="flat" cmpd="sng" w="9525">
            <a:solidFill>
              <a:srgbClr val="3A7D8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28" name="Google Shape;1228;p21"/>
          <p:cNvSpPr txBox="1"/>
          <p:nvPr/>
        </p:nvSpPr>
        <p:spPr>
          <a:xfrm>
            <a:off x="6117336" y="4471416"/>
            <a:ext cx="2011800" cy="274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F2328"/>
                </a:solidFill>
                <a:latin typeface="Calibri"/>
                <a:ea typeface="Calibri"/>
                <a:cs typeface="Calibri"/>
                <a:sym typeface="Calibri"/>
              </a:rPr>
              <a:t>RIGOR</a:t>
            </a:r>
            <a:endParaRPr/>
          </a:p>
        </p:txBody>
      </p:sp>
      <p:sp>
        <p:nvSpPr>
          <p:cNvPr id="1229" name="Google Shape;1229;p21"/>
          <p:cNvSpPr txBox="1"/>
          <p:nvPr/>
        </p:nvSpPr>
        <p:spPr>
          <a:xfrm>
            <a:off x="6117336" y="4727448"/>
            <a:ext cx="1828800" cy="20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130" u="none" cap="none" strike="noStrike">
                <a:solidFill>
                  <a:srgbClr val="2F6B78"/>
                </a:solidFill>
                <a:latin typeface="Calibri"/>
                <a:ea typeface="Calibri"/>
                <a:cs typeface="Calibri"/>
                <a:sym typeface="Calibri"/>
              </a:rPr>
              <a:t>LLM + rules</a:t>
            </a:r>
            <a:endParaRPr/>
          </a:p>
        </p:txBody>
      </p:sp>
      <p:sp>
        <p:nvSpPr>
          <p:cNvPr id="1230" name="Google Shape;1230;p21"/>
          <p:cNvSpPr txBox="1"/>
          <p:nvPr/>
        </p:nvSpPr>
        <p:spPr>
          <a:xfrm>
            <a:off x="8202167" y="4530852"/>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000" u="none" cap="none" strike="noStrike">
                <a:solidFill>
                  <a:srgbClr val="1F2328"/>
                </a:solidFill>
                <a:latin typeface="Calibri"/>
                <a:ea typeface="Calibri"/>
                <a:cs typeface="Calibri"/>
                <a:sym typeface="Calibri"/>
              </a:rPr>
              <a:t>0.73</a:t>
            </a:r>
            <a:endParaRPr/>
          </a:p>
        </p:txBody>
      </p:sp>
      <p:sp>
        <p:nvSpPr>
          <p:cNvPr id="1231" name="Google Shape;1231;p21"/>
          <p:cNvSpPr txBox="1"/>
          <p:nvPr/>
        </p:nvSpPr>
        <p:spPr>
          <a:xfrm>
            <a:off x="9253728" y="4530852"/>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000" u="none" cap="none" strike="noStrike">
                <a:solidFill>
                  <a:srgbClr val="1F2328"/>
                </a:solidFill>
                <a:latin typeface="Calibri"/>
                <a:ea typeface="Calibri"/>
                <a:cs typeface="Calibri"/>
                <a:sym typeface="Calibri"/>
              </a:rPr>
              <a:t>0.67</a:t>
            </a:r>
            <a:endParaRPr/>
          </a:p>
        </p:txBody>
      </p:sp>
      <p:sp>
        <p:nvSpPr>
          <p:cNvPr id="1232" name="Google Shape;1232;p21"/>
          <p:cNvSpPr txBox="1"/>
          <p:nvPr/>
        </p:nvSpPr>
        <p:spPr>
          <a:xfrm>
            <a:off x="10305288" y="4530852"/>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000" u="none" cap="none" strike="noStrike">
                <a:solidFill>
                  <a:srgbClr val="1F2328"/>
                </a:solidFill>
                <a:latin typeface="Calibri"/>
                <a:ea typeface="Calibri"/>
                <a:cs typeface="Calibri"/>
                <a:sym typeface="Calibri"/>
              </a:rPr>
              <a:t>0.52</a:t>
            </a:r>
            <a:endParaRPr/>
          </a:p>
        </p:txBody>
      </p:sp>
      <p:sp>
        <p:nvSpPr>
          <p:cNvPr id="1233" name="Google Shape;1233;p21"/>
          <p:cNvSpPr/>
          <p:nvPr/>
        </p:nvSpPr>
        <p:spPr>
          <a:xfrm>
            <a:off x="841248" y="2139696"/>
            <a:ext cx="4846200" cy="3063300"/>
          </a:xfrm>
          <a:prstGeom prst="roundRect">
            <a:avLst>
              <a:gd fmla="val 12000" name="adj"/>
            </a:avLst>
          </a:prstGeom>
          <a:solidFill>
            <a:srgbClr val="F3F5F4"/>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4" name="Google Shape;1234;p21"/>
          <p:cNvSpPr txBox="1"/>
          <p:nvPr/>
        </p:nvSpPr>
        <p:spPr>
          <a:xfrm>
            <a:off x="1069848" y="2322576"/>
            <a:ext cx="43890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WHAT BURR CHECKS</a:t>
            </a:r>
            <a:endParaRPr/>
          </a:p>
        </p:txBody>
      </p:sp>
      <p:sp>
        <p:nvSpPr>
          <p:cNvPr id="1235" name="Google Shape;1235;p21"/>
          <p:cNvSpPr txBox="1"/>
          <p:nvPr/>
        </p:nvSpPr>
        <p:spPr>
          <a:xfrm>
            <a:off x="1069848" y="2651760"/>
            <a:ext cx="4389000" cy="31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Every ontology element must map back to the database.</a:t>
            </a:r>
            <a:endParaRPr/>
          </a:p>
        </p:txBody>
      </p:sp>
      <p:sp>
        <p:nvSpPr>
          <p:cNvPr id="1236" name="Google Shape;1236;p21"/>
          <p:cNvSpPr txBox="1"/>
          <p:nvPr/>
        </p:nvSpPr>
        <p:spPr>
          <a:xfrm>
            <a:off x="1069848" y="3090672"/>
            <a:ext cx="10059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2F6B78"/>
                </a:solidFill>
                <a:latin typeface="Consolas"/>
                <a:ea typeface="Consolas"/>
                <a:cs typeface="Consolas"/>
                <a:sym typeface="Consolas"/>
              </a:rPr>
              <a:t>CLASSES</a:t>
            </a:r>
            <a:endParaRPr/>
          </a:p>
        </p:txBody>
      </p:sp>
      <p:sp>
        <p:nvSpPr>
          <p:cNvPr descr="database element" id="1237" name="Google Shape;1237;p21"/>
          <p:cNvSpPr/>
          <p:nvPr/>
        </p:nvSpPr>
        <p:spPr>
          <a:xfrm>
            <a:off x="2075688" y="3090672"/>
            <a:ext cx="12984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person</a:t>
            </a:r>
            <a:endParaRPr/>
          </a:p>
        </p:txBody>
      </p:sp>
      <p:sp>
        <p:nvSpPr>
          <p:cNvPr id="1238" name="Google Shape;1238;p21"/>
          <p:cNvSpPr txBox="1"/>
          <p:nvPr/>
        </p:nvSpPr>
        <p:spPr>
          <a:xfrm>
            <a:off x="3392424" y="3090672"/>
            <a:ext cx="23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a:t>
            </a:r>
            <a:endParaRPr/>
          </a:p>
        </p:txBody>
      </p:sp>
      <p:sp>
        <p:nvSpPr>
          <p:cNvPr descr="ontology element" id="1239" name="Google Shape;1239;p21"/>
          <p:cNvSpPr/>
          <p:nvPr/>
        </p:nvSpPr>
        <p:spPr>
          <a:xfrm>
            <a:off x="3648456" y="3090672"/>
            <a:ext cx="18561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Class: </a:t>
            </a:r>
            <a:r>
              <a:rPr b="0" i="0" lang="en-US" sz="1050" u="none" cap="none" strike="noStrike">
                <a:solidFill>
                  <a:srgbClr val="1F2328"/>
                </a:solidFill>
                <a:latin typeface="Consolas"/>
                <a:ea typeface="Consolas"/>
                <a:cs typeface="Consolas"/>
                <a:sym typeface="Consolas"/>
              </a:rPr>
              <a:t>Person</a:t>
            </a:r>
            <a:endParaRPr/>
          </a:p>
        </p:txBody>
      </p:sp>
      <p:sp>
        <p:nvSpPr>
          <p:cNvPr id="1240" name="Google Shape;1240;p21"/>
          <p:cNvSpPr txBox="1"/>
          <p:nvPr/>
        </p:nvSpPr>
        <p:spPr>
          <a:xfrm>
            <a:off x="1069848" y="3511296"/>
            <a:ext cx="10059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2F6B78"/>
                </a:solidFill>
                <a:latin typeface="Consolas"/>
                <a:ea typeface="Consolas"/>
                <a:cs typeface="Consolas"/>
                <a:sym typeface="Consolas"/>
              </a:rPr>
              <a:t>RELATIONS</a:t>
            </a:r>
            <a:endParaRPr/>
          </a:p>
        </p:txBody>
      </p:sp>
      <p:sp>
        <p:nvSpPr>
          <p:cNvPr descr="database element" id="1241" name="Google Shape;1241;p21"/>
          <p:cNvSpPr/>
          <p:nvPr/>
        </p:nvSpPr>
        <p:spPr>
          <a:xfrm>
            <a:off x="2075688" y="3511296"/>
            <a:ext cx="12984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paper.author_id</a:t>
            </a:r>
            <a:endParaRPr/>
          </a:p>
        </p:txBody>
      </p:sp>
      <p:sp>
        <p:nvSpPr>
          <p:cNvPr id="1242" name="Google Shape;1242;p21"/>
          <p:cNvSpPr txBox="1"/>
          <p:nvPr/>
        </p:nvSpPr>
        <p:spPr>
          <a:xfrm>
            <a:off x="3392424" y="3511296"/>
            <a:ext cx="23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a:t>
            </a:r>
            <a:endParaRPr/>
          </a:p>
        </p:txBody>
      </p:sp>
      <p:sp>
        <p:nvSpPr>
          <p:cNvPr descr="ontology element" id="1243" name="Google Shape;1243;p21"/>
          <p:cNvSpPr/>
          <p:nvPr/>
        </p:nvSpPr>
        <p:spPr>
          <a:xfrm>
            <a:off x="3648456" y="3511296"/>
            <a:ext cx="18561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ObjectProperty: </a:t>
            </a:r>
            <a:r>
              <a:rPr b="0" i="0" lang="en-US" sz="1050" u="none" cap="none" strike="noStrike">
                <a:solidFill>
                  <a:srgbClr val="1F2328"/>
                </a:solidFill>
                <a:latin typeface="Consolas"/>
                <a:ea typeface="Consolas"/>
                <a:cs typeface="Consolas"/>
                <a:sym typeface="Consolas"/>
              </a:rPr>
              <a:t>author</a:t>
            </a:r>
            <a:endParaRPr/>
          </a:p>
        </p:txBody>
      </p:sp>
      <p:sp>
        <p:nvSpPr>
          <p:cNvPr id="1244" name="Google Shape;1244;p21"/>
          <p:cNvSpPr txBox="1"/>
          <p:nvPr/>
        </p:nvSpPr>
        <p:spPr>
          <a:xfrm>
            <a:off x="1069848" y="3931920"/>
            <a:ext cx="10059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2F6B78"/>
                </a:solidFill>
                <a:latin typeface="Consolas"/>
                <a:ea typeface="Consolas"/>
                <a:cs typeface="Consolas"/>
                <a:sym typeface="Consolas"/>
              </a:rPr>
              <a:t>ATTRIBUTES</a:t>
            </a:r>
            <a:endParaRPr/>
          </a:p>
        </p:txBody>
      </p:sp>
      <p:sp>
        <p:nvSpPr>
          <p:cNvPr descr="database element" id="1245" name="Google Shape;1245;p21"/>
          <p:cNvSpPr/>
          <p:nvPr/>
        </p:nvSpPr>
        <p:spPr>
          <a:xfrm>
            <a:off x="2075688" y="3931920"/>
            <a:ext cx="12984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person.name</a:t>
            </a:r>
            <a:endParaRPr/>
          </a:p>
        </p:txBody>
      </p:sp>
      <p:sp>
        <p:nvSpPr>
          <p:cNvPr id="1246" name="Google Shape;1246;p21"/>
          <p:cNvSpPr txBox="1"/>
          <p:nvPr/>
        </p:nvSpPr>
        <p:spPr>
          <a:xfrm>
            <a:off x="3392424" y="3931920"/>
            <a:ext cx="23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a:t>
            </a:r>
            <a:endParaRPr/>
          </a:p>
        </p:txBody>
      </p:sp>
      <p:sp>
        <p:nvSpPr>
          <p:cNvPr descr="ontology element" id="1247" name="Google Shape;1247;p21"/>
          <p:cNvSpPr/>
          <p:nvPr/>
        </p:nvSpPr>
        <p:spPr>
          <a:xfrm>
            <a:off x="3648456" y="3931920"/>
            <a:ext cx="18561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 </a:t>
            </a:r>
            <a:r>
              <a:rPr b="0" i="0" lang="en-US" sz="1050" u="none" cap="none" strike="noStrike">
                <a:solidFill>
                  <a:srgbClr val="1F2328"/>
                </a:solidFill>
                <a:latin typeface="Consolas"/>
                <a:ea typeface="Consolas"/>
                <a:cs typeface="Consolas"/>
                <a:sym typeface="Consolas"/>
              </a:rPr>
              <a:t>name</a:t>
            </a:r>
            <a:endParaRPr/>
          </a:p>
        </p:txBody>
      </p:sp>
      <p:sp>
        <p:nvSpPr>
          <p:cNvPr id="1248" name="Google Shape;1248;p21"/>
          <p:cNvSpPr txBox="1"/>
          <p:nvPr/>
        </p:nvSpPr>
        <p:spPr>
          <a:xfrm>
            <a:off x="1069848" y="4352544"/>
            <a:ext cx="4389000" cy="58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3A434C"/>
                </a:solidFill>
                <a:latin typeface="Calibri"/>
                <a:ea typeface="Calibri"/>
                <a:cs typeface="Calibri"/>
                <a:sym typeface="Calibri"/>
              </a:rPr>
              <a:t>Elements match when they map to the same database elements, whatever their names. F1 per element type.</a:t>
            </a:r>
            <a:endParaRPr/>
          </a:p>
        </p:txBody>
      </p:sp>
      <p:sp>
        <p:nvSpPr>
          <p:cNvPr id="1249" name="Google Shape;1249;p21"/>
          <p:cNvSpPr txBox="1"/>
          <p:nvPr/>
        </p:nvSpPr>
        <p:spPr>
          <a:xfrm>
            <a:off x="1069848" y="4974336"/>
            <a:ext cx="4389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Illustrative elements  ·  ISWC gold mapping: D2RQ example by Bizer &amp; Seaborne</a:t>
            </a:r>
            <a:endParaRPr/>
          </a:p>
        </p:txBody>
      </p:sp>
      <p:sp>
        <p:nvSpPr>
          <p:cNvPr id="1250" name="Google Shape;1250;p21"/>
          <p:cNvSpPr txBox="1"/>
          <p:nvPr/>
        </p:nvSpPr>
        <p:spPr>
          <a:xfrm>
            <a:off x="850392" y="5413248"/>
            <a:ext cx="10488300" cy="24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One scenario  ·  9 tables · 46 columns · 11 FKs  ·  RIGOR with Claude  ·  its prov:wasDerivedFrom links exported as a D2RQ mapping  ·  Source: paper Table 13</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5" name="Shape 1255"/>
        <p:cNvGrpSpPr/>
        <p:nvPr/>
      </p:nvGrpSpPr>
      <p:grpSpPr>
        <a:xfrm>
          <a:off x="0" y="0"/>
          <a:ext cx="0" cy="0"/>
          <a:chOff x="0" y="0"/>
          <a:chExt cx="0" cy="0"/>
        </a:xfrm>
      </p:grpSpPr>
      <p:sp>
        <p:nvSpPr>
          <p:cNvPr id="1256" name="Google Shape;1256;p19"/>
          <p:cNvSpPr txBox="1"/>
          <p:nvPr/>
        </p:nvSpPr>
        <p:spPr>
          <a:xfrm>
            <a:off x="804672" y="512064"/>
            <a:ext cx="108813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RESULT 3  /  HUMAN AND LLM EVALUATION</a:t>
            </a:r>
            <a:endParaRPr b="0" i="0" sz="1400" u="none" cap="none" strike="noStrike">
              <a:solidFill>
                <a:srgbClr val="000000"/>
              </a:solidFill>
              <a:latin typeface="Arial"/>
              <a:ea typeface="Arial"/>
              <a:cs typeface="Arial"/>
              <a:sym typeface="Arial"/>
            </a:endParaRPr>
          </a:p>
        </p:txBody>
      </p:sp>
      <p:sp>
        <p:nvSpPr>
          <p:cNvPr id="1257" name="Google Shape;1257;p19"/>
          <p:cNvSpPr txBox="1"/>
          <p:nvPr/>
        </p:nvSpPr>
        <p:spPr>
          <a:xfrm>
            <a:off x="804672" y="914400"/>
            <a:ext cx="10789800" cy="658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Experts prefer RIGOR's ontologies.</a:t>
            </a:r>
            <a:endParaRPr b="0" i="0" sz="1400" u="none" cap="none" strike="noStrike">
              <a:solidFill>
                <a:srgbClr val="000000"/>
              </a:solidFill>
              <a:latin typeface="Arial"/>
              <a:ea typeface="Arial"/>
              <a:cs typeface="Arial"/>
              <a:sym typeface="Arial"/>
            </a:endParaRPr>
          </a:p>
        </p:txBody>
      </p:sp>
      <p:sp>
        <p:nvSpPr>
          <p:cNvPr id="1258" name="Google Shape;1258;p19"/>
          <p:cNvSpPr/>
          <p:nvPr/>
        </p:nvSpPr>
        <p:spPr>
          <a:xfrm>
            <a:off x="822960" y="1911095"/>
            <a:ext cx="3877200" cy="3346800"/>
          </a:xfrm>
          <a:prstGeom prst="roundRect">
            <a:avLst>
              <a:gd fmla="val 10000" name="adj"/>
            </a:avLst>
          </a:prstGeom>
          <a:solidFill>
            <a:srgbClr val="F3F5F4"/>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9" name="Google Shape;1259;p19"/>
          <p:cNvSpPr txBox="1"/>
          <p:nvPr/>
        </p:nvSpPr>
        <p:spPr>
          <a:xfrm>
            <a:off x="1069848" y="2139696"/>
            <a:ext cx="3291900" cy="969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6300"/>
              <a:buFont typeface="Arial"/>
              <a:buNone/>
            </a:pPr>
            <a:r>
              <a:rPr b="1" i="0" lang="en-US" sz="6300" u="none" cap="none" strike="noStrike">
                <a:solidFill>
                  <a:srgbClr val="1F2328"/>
                </a:solidFill>
                <a:latin typeface="Cambria"/>
                <a:ea typeface="Cambria"/>
                <a:cs typeface="Cambria"/>
                <a:sym typeface="Cambria"/>
              </a:rPr>
              <a:t>70%</a:t>
            </a:r>
            <a:endParaRPr b="0" i="0" sz="1400" u="none" cap="none" strike="noStrike">
              <a:solidFill>
                <a:srgbClr val="000000"/>
              </a:solidFill>
              <a:latin typeface="Arial"/>
              <a:ea typeface="Arial"/>
              <a:cs typeface="Arial"/>
              <a:sym typeface="Arial"/>
            </a:endParaRPr>
          </a:p>
        </p:txBody>
      </p:sp>
      <p:sp>
        <p:nvSpPr>
          <p:cNvPr id="1260" name="Google Shape;1260;p19"/>
          <p:cNvSpPr txBox="1"/>
          <p:nvPr/>
        </p:nvSpPr>
        <p:spPr>
          <a:xfrm>
            <a:off x="1088136" y="3191256"/>
            <a:ext cx="3026700" cy="420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B6E4F"/>
                </a:solidFill>
                <a:latin typeface="Cambria"/>
                <a:ea typeface="Cambria"/>
                <a:cs typeface="Cambria"/>
                <a:sym typeface="Cambria"/>
              </a:rPr>
              <a:t>28 of 40</a:t>
            </a:r>
            <a:endParaRPr b="0" i="0" sz="1400" u="none" cap="none" strike="noStrike">
              <a:solidFill>
                <a:srgbClr val="000000"/>
              </a:solidFill>
              <a:latin typeface="Arial"/>
              <a:ea typeface="Arial"/>
              <a:cs typeface="Arial"/>
              <a:sym typeface="Arial"/>
            </a:endParaRPr>
          </a:p>
        </p:txBody>
      </p:sp>
      <p:sp>
        <p:nvSpPr>
          <p:cNvPr id="1261" name="Google Shape;1261;p19"/>
          <p:cNvSpPr txBox="1"/>
          <p:nvPr/>
        </p:nvSpPr>
        <p:spPr>
          <a:xfrm>
            <a:off x="1088136" y="3721608"/>
            <a:ext cx="3154800" cy="52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3A434C"/>
                </a:solidFill>
                <a:latin typeface="Calibri"/>
                <a:ea typeface="Calibri"/>
                <a:cs typeface="Calibri"/>
                <a:sym typeface="Calibri"/>
              </a:rPr>
              <a:t>first-place expert rankings</a:t>
            </a:r>
            <a:endParaRPr b="0" i="0" sz="1400" u="none" cap="none" strike="noStrike">
              <a:solidFill>
                <a:srgbClr val="000000"/>
              </a:solidFill>
              <a:latin typeface="Arial"/>
              <a:ea typeface="Arial"/>
              <a:cs typeface="Arial"/>
              <a:sym typeface="Arial"/>
            </a:endParaRPr>
          </a:p>
        </p:txBody>
      </p:sp>
      <p:sp>
        <p:nvSpPr>
          <p:cNvPr id="1262" name="Google Shape;1262;p19"/>
          <p:cNvSpPr txBox="1"/>
          <p:nvPr/>
        </p:nvSpPr>
        <p:spPr>
          <a:xfrm>
            <a:off x="1088136" y="4700016"/>
            <a:ext cx="3182100" cy="292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10 experts · 4 medical tables</a:t>
            </a:r>
            <a:endParaRPr b="0" i="0" sz="1400" u="none" cap="none" strike="noStrike">
              <a:solidFill>
                <a:srgbClr val="000000"/>
              </a:solidFill>
              <a:latin typeface="Arial"/>
              <a:ea typeface="Arial"/>
              <a:cs typeface="Arial"/>
              <a:sym typeface="Arial"/>
            </a:endParaRPr>
          </a:p>
        </p:txBody>
      </p:sp>
      <p:sp>
        <p:nvSpPr>
          <p:cNvPr id="1263" name="Google Shape;1263;p19"/>
          <p:cNvSpPr/>
          <p:nvPr/>
        </p:nvSpPr>
        <p:spPr>
          <a:xfrm>
            <a:off x="4983480" y="1911095"/>
            <a:ext cx="6373500" cy="3346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4" name="Google Shape;1264;p19"/>
          <p:cNvSpPr txBox="1"/>
          <p:nvPr/>
        </p:nvSpPr>
        <p:spPr>
          <a:xfrm>
            <a:off x="5230368" y="2130552"/>
            <a:ext cx="5815500" cy="292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FIRST PLACE, ACROSS 40 BLIND EXPERT RANKINGS</a:t>
            </a:r>
            <a:endParaRPr b="0" i="0" sz="1400" u="none" cap="none" strike="noStrike">
              <a:solidFill>
                <a:srgbClr val="000000"/>
              </a:solidFill>
              <a:latin typeface="Arial"/>
              <a:ea typeface="Arial"/>
              <a:cs typeface="Arial"/>
              <a:sym typeface="Arial"/>
            </a:endParaRPr>
          </a:p>
        </p:txBody>
      </p:sp>
      <p:sp>
        <p:nvSpPr>
          <p:cNvPr id="1265" name="Google Shape;1265;p19"/>
          <p:cNvSpPr txBox="1"/>
          <p:nvPr/>
        </p:nvSpPr>
        <p:spPr>
          <a:xfrm>
            <a:off x="5248656" y="2642616"/>
            <a:ext cx="1856100" cy="246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3A434C"/>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266" name="Google Shape;1266;p19"/>
          <p:cNvSpPr/>
          <p:nvPr/>
        </p:nvSpPr>
        <p:spPr>
          <a:xfrm>
            <a:off x="7178040" y="2706624"/>
            <a:ext cx="3154800" cy="1554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7" name="Google Shape;1267;p19"/>
          <p:cNvSpPr/>
          <p:nvPr/>
        </p:nvSpPr>
        <p:spPr>
          <a:xfrm>
            <a:off x="7178040" y="2706624"/>
            <a:ext cx="394200" cy="155400"/>
          </a:xfrm>
          <a:prstGeom prst="roundRect">
            <a:avLst>
              <a:gd fmla="val 1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8" name="Google Shape;1268;p19"/>
          <p:cNvSpPr txBox="1"/>
          <p:nvPr/>
        </p:nvSpPr>
        <p:spPr>
          <a:xfrm>
            <a:off x="10424160" y="2633472"/>
            <a:ext cx="658500" cy="228600"/>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Clr>
                <a:srgbClr val="000000"/>
              </a:buClr>
              <a:buSzPts val="1400"/>
              <a:buFont typeface="Arial"/>
              <a:buNone/>
            </a:pPr>
            <a:r>
              <a:rPr b="1" i="0" lang="en-US" sz="1400" u="none" cap="none" strike="noStrike">
                <a:solidFill>
                  <a:srgbClr val="3A434C"/>
                </a:solidFill>
                <a:latin typeface="Consolas"/>
                <a:ea typeface="Consolas"/>
                <a:cs typeface="Consolas"/>
                <a:sym typeface="Consolas"/>
              </a:rPr>
              <a:t>5/40</a:t>
            </a:r>
            <a:endParaRPr b="0" i="0" sz="1400" u="none" cap="none" strike="noStrike">
              <a:solidFill>
                <a:srgbClr val="000000"/>
              </a:solidFill>
              <a:latin typeface="Arial"/>
              <a:ea typeface="Arial"/>
              <a:cs typeface="Arial"/>
              <a:sym typeface="Arial"/>
            </a:endParaRPr>
          </a:p>
        </p:txBody>
      </p:sp>
      <p:sp>
        <p:nvSpPr>
          <p:cNvPr id="1269" name="Google Shape;1269;p19"/>
          <p:cNvSpPr txBox="1"/>
          <p:nvPr/>
        </p:nvSpPr>
        <p:spPr>
          <a:xfrm>
            <a:off x="5248656" y="3191256"/>
            <a:ext cx="1856100" cy="246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3A434C"/>
                </a:solidFill>
                <a:latin typeface="Calibri"/>
                <a:ea typeface="Calibri"/>
                <a:cs typeface="Calibri"/>
                <a:sym typeface="Calibri"/>
              </a:rPr>
              <a:t>LLM baseline</a:t>
            </a:r>
            <a:endParaRPr b="0" i="0" sz="1400" u="none" cap="none" strike="noStrike">
              <a:solidFill>
                <a:srgbClr val="000000"/>
              </a:solidFill>
              <a:latin typeface="Arial"/>
              <a:ea typeface="Arial"/>
              <a:cs typeface="Arial"/>
              <a:sym typeface="Arial"/>
            </a:endParaRPr>
          </a:p>
        </p:txBody>
      </p:sp>
      <p:sp>
        <p:nvSpPr>
          <p:cNvPr id="1270" name="Google Shape;1270;p19"/>
          <p:cNvSpPr/>
          <p:nvPr/>
        </p:nvSpPr>
        <p:spPr>
          <a:xfrm>
            <a:off x="7178040" y="3255264"/>
            <a:ext cx="3154800" cy="1554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1" name="Google Shape;1271;p19"/>
          <p:cNvSpPr/>
          <p:nvPr/>
        </p:nvSpPr>
        <p:spPr>
          <a:xfrm>
            <a:off x="7178040" y="3255264"/>
            <a:ext cx="394200" cy="155400"/>
          </a:xfrm>
          <a:prstGeom prst="roundRect">
            <a:avLst>
              <a:gd fmla="val 1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2" name="Google Shape;1272;p19"/>
          <p:cNvSpPr txBox="1"/>
          <p:nvPr/>
        </p:nvSpPr>
        <p:spPr>
          <a:xfrm>
            <a:off x="10424160" y="3182112"/>
            <a:ext cx="658500" cy="228600"/>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Clr>
                <a:srgbClr val="000000"/>
              </a:buClr>
              <a:buSzPts val="1400"/>
              <a:buFont typeface="Arial"/>
              <a:buNone/>
            </a:pPr>
            <a:r>
              <a:rPr b="1" i="0" lang="en-US" sz="1400" u="none" cap="none" strike="noStrike">
                <a:solidFill>
                  <a:srgbClr val="3A434C"/>
                </a:solidFill>
                <a:latin typeface="Consolas"/>
                <a:ea typeface="Consolas"/>
                <a:cs typeface="Consolas"/>
                <a:sym typeface="Consolas"/>
              </a:rPr>
              <a:t>5/40</a:t>
            </a:r>
            <a:endParaRPr b="0" i="0" sz="1400" u="none" cap="none" strike="noStrike">
              <a:solidFill>
                <a:srgbClr val="000000"/>
              </a:solidFill>
              <a:latin typeface="Arial"/>
              <a:ea typeface="Arial"/>
              <a:cs typeface="Arial"/>
              <a:sym typeface="Arial"/>
            </a:endParaRPr>
          </a:p>
        </p:txBody>
      </p:sp>
      <p:sp>
        <p:nvSpPr>
          <p:cNvPr id="1273" name="Google Shape;1273;p19"/>
          <p:cNvSpPr txBox="1"/>
          <p:nvPr/>
        </p:nvSpPr>
        <p:spPr>
          <a:xfrm>
            <a:off x="5248656" y="3739896"/>
            <a:ext cx="1856100" cy="246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3A434C"/>
                </a:solidFill>
                <a:latin typeface="Calibri"/>
                <a:ea typeface="Calibri"/>
                <a:cs typeface="Calibri"/>
                <a:sym typeface="Calibri"/>
              </a:rPr>
              <a:t>Non-Iterative</a:t>
            </a:r>
            <a:endParaRPr b="0" i="0" sz="1400" u="none" cap="none" strike="noStrike">
              <a:solidFill>
                <a:srgbClr val="000000"/>
              </a:solidFill>
              <a:latin typeface="Arial"/>
              <a:ea typeface="Arial"/>
              <a:cs typeface="Arial"/>
              <a:sym typeface="Arial"/>
            </a:endParaRPr>
          </a:p>
        </p:txBody>
      </p:sp>
      <p:sp>
        <p:nvSpPr>
          <p:cNvPr id="1274" name="Google Shape;1274;p19"/>
          <p:cNvSpPr/>
          <p:nvPr/>
        </p:nvSpPr>
        <p:spPr>
          <a:xfrm>
            <a:off x="7178040" y="3803904"/>
            <a:ext cx="3154800" cy="1554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5" name="Google Shape;1275;p19"/>
          <p:cNvSpPr/>
          <p:nvPr/>
        </p:nvSpPr>
        <p:spPr>
          <a:xfrm>
            <a:off x="7178040" y="3803904"/>
            <a:ext cx="157800" cy="155400"/>
          </a:xfrm>
          <a:prstGeom prst="roundRect">
            <a:avLst>
              <a:gd fmla="val 1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6" name="Google Shape;1276;p19"/>
          <p:cNvSpPr txBox="1"/>
          <p:nvPr/>
        </p:nvSpPr>
        <p:spPr>
          <a:xfrm>
            <a:off x="10424160" y="3730752"/>
            <a:ext cx="658500" cy="228600"/>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Clr>
                <a:srgbClr val="000000"/>
              </a:buClr>
              <a:buSzPts val="1400"/>
              <a:buFont typeface="Arial"/>
              <a:buNone/>
            </a:pPr>
            <a:r>
              <a:rPr b="1" i="0" lang="en-US" sz="1400" u="none" cap="none" strike="noStrike">
                <a:solidFill>
                  <a:srgbClr val="3A434C"/>
                </a:solidFill>
                <a:latin typeface="Consolas"/>
                <a:ea typeface="Consolas"/>
                <a:cs typeface="Consolas"/>
                <a:sym typeface="Consolas"/>
              </a:rPr>
              <a:t>2/40</a:t>
            </a:r>
            <a:endParaRPr b="0" i="0" sz="1400" u="none" cap="none" strike="noStrike">
              <a:solidFill>
                <a:srgbClr val="000000"/>
              </a:solidFill>
              <a:latin typeface="Arial"/>
              <a:ea typeface="Arial"/>
              <a:cs typeface="Arial"/>
              <a:sym typeface="Arial"/>
            </a:endParaRPr>
          </a:p>
        </p:txBody>
      </p:sp>
      <p:sp>
        <p:nvSpPr>
          <p:cNvPr id="1277" name="Google Shape;1277;p19"/>
          <p:cNvSpPr txBox="1"/>
          <p:nvPr/>
        </p:nvSpPr>
        <p:spPr>
          <a:xfrm>
            <a:off x="5248656" y="4288536"/>
            <a:ext cx="1856100" cy="246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RIGOR</a:t>
            </a:r>
            <a:endParaRPr b="0" i="0" sz="1400" u="none" cap="none" strike="noStrike">
              <a:solidFill>
                <a:srgbClr val="000000"/>
              </a:solidFill>
              <a:latin typeface="Arial"/>
              <a:ea typeface="Arial"/>
              <a:cs typeface="Arial"/>
              <a:sym typeface="Arial"/>
            </a:endParaRPr>
          </a:p>
        </p:txBody>
      </p:sp>
      <p:sp>
        <p:nvSpPr>
          <p:cNvPr id="1278" name="Google Shape;1278;p19"/>
          <p:cNvSpPr/>
          <p:nvPr/>
        </p:nvSpPr>
        <p:spPr>
          <a:xfrm>
            <a:off x="7178040" y="4352544"/>
            <a:ext cx="3154800" cy="1554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9" name="Google Shape;1279;p19"/>
          <p:cNvSpPr/>
          <p:nvPr/>
        </p:nvSpPr>
        <p:spPr>
          <a:xfrm>
            <a:off x="7178040" y="4352544"/>
            <a:ext cx="2208300" cy="155400"/>
          </a:xfrm>
          <a:prstGeom prst="roundRect">
            <a:avLst>
              <a:gd fmla="val 10000" name="adj"/>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0" name="Google Shape;1280;p19"/>
          <p:cNvSpPr txBox="1"/>
          <p:nvPr/>
        </p:nvSpPr>
        <p:spPr>
          <a:xfrm>
            <a:off x="10424160" y="4279392"/>
            <a:ext cx="658500" cy="228600"/>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Clr>
                <a:srgbClr val="000000"/>
              </a:buClr>
              <a:buSzPts val="1400"/>
              <a:buFont typeface="Arial"/>
              <a:buNone/>
            </a:pPr>
            <a:r>
              <a:rPr b="1" i="0" lang="en-US" sz="1400" u="none" cap="none" strike="noStrike">
                <a:solidFill>
                  <a:srgbClr val="1F2328"/>
                </a:solidFill>
                <a:latin typeface="Consolas"/>
                <a:ea typeface="Consolas"/>
                <a:cs typeface="Consolas"/>
                <a:sym typeface="Consolas"/>
              </a:rPr>
              <a:t>28/40</a:t>
            </a:r>
            <a:endParaRPr b="0" i="0" sz="1400" u="none" cap="none" strike="noStrike">
              <a:solidFill>
                <a:srgbClr val="000000"/>
              </a:solidFill>
              <a:latin typeface="Arial"/>
              <a:ea typeface="Arial"/>
              <a:cs typeface="Arial"/>
              <a:sym typeface="Arial"/>
            </a:endParaRPr>
          </a:p>
        </p:txBody>
      </p:sp>
      <p:sp>
        <p:nvSpPr>
          <p:cNvPr id="1281" name="Google Shape;1281;p19"/>
          <p:cNvSpPr txBox="1"/>
          <p:nvPr/>
        </p:nvSpPr>
        <p:spPr>
          <a:xfrm>
            <a:off x="5257800" y="4773168"/>
            <a:ext cx="5586900" cy="292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Expert agreement: Kendall’s W = 0.39–0.72</a:t>
            </a:r>
            <a:endParaRPr b="0" i="0" sz="1400" u="none" cap="none" strike="noStrike">
              <a:solidFill>
                <a:srgbClr val="000000"/>
              </a:solidFill>
              <a:latin typeface="Arial"/>
              <a:ea typeface="Arial"/>
              <a:cs typeface="Arial"/>
              <a:sym typeface="Arial"/>
            </a:endParaRPr>
          </a:p>
        </p:txBody>
      </p:sp>
      <p:sp>
        <p:nvSpPr>
          <p:cNvPr id="1282" name="Google Shape;1282;p19"/>
          <p:cNvSpPr/>
          <p:nvPr/>
        </p:nvSpPr>
        <p:spPr>
          <a:xfrm>
            <a:off x="832104" y="5504688"/>
            <a:ext cx="10506600" cy="3933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3" name="Google Shape;1283;p19"/>
          <p:cNvSpPr txBox="1"/>
          <p:nvPr/>
        </p:nvSpPr>
        <p:spPr>
          <a:xfrm>
            <a:off x="1033271" y="5596128"/>
            <a:ext cx="10095000" cy="274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0B6E4F"/>
                </a:solidFill>
                <a:latin typeface="Calibri"/>
                <a:ea typeface="Calibri"/>
                <a:cs typeface="Calibri"/>
                <a:sym typeface="Calibri"/>
              </a:rPr>
              <a:t>INDEPENDENT LLM JUDGE   </a:t>
            </a:r>
            <a:r>
              <a:rPr b="0" i="0" lang="en-US" sz="1550" u="none" cap="none" strike="noStrike">
                <a:solidFill>
                  <a:srgbClr val="1F2328"/>
                </a:solidFill>
                <a:latin typeface="Calibri"/>
                <a:ea typeface="Calibri"/>
                <a:cs typeface="Calibri"/>
                <a:sym typeface="Calibri"/>
              </a:rPr>
              <a:t>RIGOR ranked 1st for 58/58 tables · 290 competency questions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8" name="Shape 1288"/>
        <p:cNvGrpSpPr/>
        <p:nvPr/>
      </p:nvGrpSpPr>
      <p:grpSpPr>
        <a:xfrm>
          <a:off x="0" y="0"/>
          <a:ext cx="0" cy="0"/>
          <a:chOff x="0" y="0"/>
          <a:chExt cx="0" cy="0"/>
        </a:xfrm>
      </p:grpSpPr>
      <p:sp>
        <p:nvSpPr>
          <p:cNvPr id="1289" name="Google Shape;1289;p22"/>
          <p:cNvSpPr txBox="1"/>
          <p:nvPr/>
        </p:nvSpPr>
        <p:spPr>
          <a:xfrm>
            <a:off x="813816" y="493776"/>
            <a:ext cx="106071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FUTURE WORK  /  FROM SCHEMAS TO INSTANCES</a:t>
            </a:r>
            <a:endParaRPr b="0" i="0" sz="1400" u="none" cap="none" strike="noStrike">
              <a:solidFill>
                <a:srgbClr val="000000"/>
              </a:solidFill>
              <a:latin typeface="Arial"/>
              <a:ea typeface="Arial"/>
              <a:cs typeface="Arial"/>
              <a:sym typeface="Arial"/>
            </a:endParaRPr>
          </a:p>
        </p:txBody>
      </p:sp>
      <p:sp>
        <p:nvSpPr>
          <p:cNvPr id="1290" name="Google Shape;1290;p22"/>
          <p:cNvSpPr txBox="1"/>
          <p:nvPr/>
        </p:nvSpPr>
        <p:spPr>
          <a:xfrm>
            <a:off x="813816" y="923544"/>
            <a:ext cx="10698600" cy="6402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Next: let the data speak.</a:t>
            </a:r>
            <a:endParaRPr b="0" i="0" sz="1400" u="none" cap="none" strike="noStrike">
              <a:solidFill>
                <a:srgbClr val="000000"/>
              </a:solidFill>
              <a:latin typeface="Arial"/>
              <a:ea typeface="Arial"/>
              <a:cs typeface="Arial"/>
              <a:sym typeface="Arial"/>
            </a:endParaRPr>
          </a:p>
        </p:txBody>
      </p:sp>
      <p:sp>
        <p:nvSpPr>
          <p:cNvPr id="1291" name="Google Shape;1291;p22"/>
          <p:cNvSpPr txBox="1"/>
          <p:nvPr/>
        </p:nvSpPr>
        <p:spPr>
          <a:xfrm>
            <a:off x="822960" y="1709928"/>
            <a:ext cx="10332600" cy="3291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rgbClr val="000000"/>
              </a:buClr>
              <a:buSzPts val="1700"/>
              <a:buFont typeface="Arial"/>
              <a:buNone/>
            </a:pPr>
            <a:r>
              <a:rPr b="0" i="0" lang="en-US" sz="1700" u="none" cap="none" strike="noStrike">
                <a:solidFill>
                  <a:srgbClr val="5B6770"/>
                </a:solidFill>
                <a:latin typeface="Calibri"/>
                <a:ea typeface="Calibri"/>
                <a:cs typeface="Calibri"/>
                <a:sym typeface="Calibri"/>
              </a:rPr>
              <a:t>Today RIGOR reads schemas and documentation. Instance data could propose new knowledge, for experts to review.</a:t>
            </a:r>
            <a:endParaRPr b="0" i="0" sz="1400" u="none" cap="none" strike="noStrike">
              <a:solidFill>
                <a:srgbClr val="000000"/>
              </a:solidFill>
              <a:latin typeface="Arial"/>
              <a:ea typeface="Arial"/>
              <a:cs typeface="Arial"/>
              <a:sym typeface="Arial"/>
            </a:endParaRPr>
          </a:p>
        </p:txBody>
      </p:sp>
      <p:sp>
        <p:nvSpPr>
          <p:cNvPr id="1292" name="Google Shape;1292;p22"/>
          <p:cNvSpPr/>
          <p:nvPr/>
        </p:nvSpPr>
        <p:spPr>
          <a:xfrm>
            <a:off x="822960" y="2194560"/>
            <a:ext cx="3017400" cy="29628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3" name="Google Shape;1293;p22"/>
          <p:cNvSpPr/>
          <p:nvPr/>
        </p:nvSpPr>
        <p:spPr>
          <a:xfrm>
            <a:off x="4224528" y="2194560"/>
            <a:ext cx="2788800" cy="29628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4" name="Google Shape;1294;p22"/>
          <p:cNvSpPr/>
          <p:nvPr/>
        </p:nvSpPr>
        <p:spPr>
          <a:xfrm>
            <a:off x="7397496" y="2194560"/>
            <a:ext cx="3941100" cy="29628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5" name="Google Shape;1295;p22"/>
          <p:cNvSpPr/>
          <p:nvPr/>
        </p:nvSpPr>
        <p:spPr>
          <a:xfrm>
            <a:off x="3877048" y="3456425"/>
            <a:ext cx="429600" cy="384000"/>
          </a:xfrm>
          <a:prstGeom prst="rightArrow">
            <a:avLst>
              <a:gd fmla="val 50000" name="adj1"/>
              <a:gd fmla="val 50000" name="adj2"/>
            </a:avLst>
          </a:prstGeom>
          <a:solidFill>
            <a:srgbClr val="0B6E4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6" name="Google Shape;1296;p22"/>
          <p:cNvSpPr/>
          <p:nvPr/>
        </p:nvSpPr>
        <p:spPr>
          <a:xfrm>
            <a:off x="7050025" y="3456425"/>
            <a:ext cx="429600" cy="384000"/>
          </a:xfrm>
          <a:prstGeom prst="rightArrow">
            <a:avLst>
              <a:gd fmla="val 50000" name="adj1"/>
              <a:gd fmla="val 50000" name="adj2"/>
            </a:avLst>
          </a:prstGeom>
          <a:solidFill>
            <a:srgbClr val="0B6E4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7" name="Google Shape;1297;p22"/>
          <p:cNvSpPr txBox="1"/>
          <p:nvPr/>
        </p:nvSpPr>
        <p:spPr>
          <a:xfrm>
            <a:off x="1024128" y="2359152"/>
            <a:ext cx="26517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1  INSTANCES</a:t>
            </a:r>
            <a:endParaRPr/>
          </a:p>
        </p:txBody>
      </p:sp>
      <p:sp>
        <p:nvSpPr>
          <p:cNvPr id="1298" name="Google Shape;1298;p22"/>
          <p:cNvSpPr txBox="1"/>
          <p:nvPr/>
        </p:nvSpPr>
        <p:spPr>
          <a:xfrm>
            <a:off x="1024128" y="2651760"/>
            <a:ext cx="26517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5B6770"/>
                </a:solidFill>
                <a:latin typeface="Calibri"/>
                <a:ea typeface="Calibri"/>
                <a:cs typeface="Calibri"/>
                <a:sym typeface="Calibri"/>
              </a:rPr>
              <a:t>What patient rows show</a:t>
            </a:r>
            <a:endParaRPr/>
          </a:p>
        </p:txBody>
      </p:sp>
      <p:sp>
        <p:nvSpPr>
          <p:cNvPr id="1299" name="Google Shape;1299;p22"/>
          <p:cNvSpPr/>
          <p:nvPr/>
        </p:nvSpPr>
        <p:spPr>
          <a:xfrm>
            <a:off x="960120" y="3017520"/>
            <a:ext cx="2743200" cy="246900"/>
          </a:xfrm>
          <a:prstGeom prst="roundRect">
            <a:avLst>
              <a:gd fmla="val 12000" name="adj"/>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None/>
            </a:pPr>
            <a:r>
              <a:rPr b="1" i="0" lang="en-US" sz="950" u="none" cap="none" strike="noStrike">
                <a:solidFill>
                  <a:srgbClr val="5B6770"/>
                </a:solidFill>
                <a:latin typeface="Consolas"/>
                <a:ea typeface="Consolas"/>
                <a:cs typeface="Consolas"/>
                <a:sym typeface="Consolas"/>
              </a:rPr>
              <a:t>PATIENT	CISPLATIN	BM_DEP AFTER</a:t>
            </a:r>
            <a:endParaRPr/>
          </a:p>
        </p:txBody>
      </p:sp>
      <p:sp>
        <p:nvSpPr>
          <p:cNvPr id="1300" name="Google Shape;1300;p22"/>
          <p:cNvSpPr/>
          <p:nvPr/>
        </p:nvSpPr>
        <p:spPr>
          <a:xfrm>
            <a:off x="960120" y="3291839"/>
            <a:ext cx="2743200" cy="246900"/>
          </a:xfrm>
          <a:prstGeom prst="roundRect">
            <a:avLst>
              <a:gd fmla="val 12000" name="adj"/>
            </a:avLst>
          </a:prstGeom>
          <a:solidFill>
            <a:srgbClr val="E6F2EC"/>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P01	yes	1</a:t>
            </a:r>
            <a:endParaRPr/>
          </a:p>
        </p:txBody>
      </p:sp>
      <p:sp>
        <p:nvSpPr>
          <p:cNvPr id="1301" name="Google Shape;1301;p22"/>
          <p:cNvSpPr/>
          <p:nvPr/>
        </p:nvSpPr>
        <p:spPr>
          <a:xfrm>
            <a:off x="960120" y="3566160"/>
            <a:ext cx="2743200" cy="246900"/>
          </a:xfrm>
          <a:prstGeom prst="roundRect">
            <a:avLst>
              <a:gd fmla="val 12000" name="adj"/>
            </a:avLst>
          </a:prstGeom>
          <a:solidFill>
            <a:srgbClr val="E6F2EC"/>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P02	yes	1</a:t>
            </a:r>
            <a:endParaRPr/>
          </a:p>
        </p:txBody>
      </p:sp>
      <p:sp>
        <p:nvSpPr>
          <p:cNvPr id="1302" name="Google Shape;1302;p22"/>
          <p:cNvSpPr/>
          <p:nvPr/>
        </p:nvSpPr>
        <p:spPr>
          <a:xfrm>
            <a:off x="960120" y="3840479"/>
            <a:ext cx="2743200" cy="246900"/>
          </a:xfrm>
          <a:prstGeom prst="roundRect">
            <a:avLst>
              <a:gd fmla="val 12000" name="adj"/>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P03	no	0</a:t>
            </a:r>
            <a:endParaRPr/>
          </a:p>
        </p:txBody>
      </p:sp>
      <p:sp>
        <p:nvSpPr>
          <p:cNvPr id="1303" name="Google Shape;1303;p22"/>
          <p:cNvSpPr/>
          <p:nvPr/>
        </p:nvSpPr>
        <p:spPr>
          <a:xfrm>
            <a:off x="960120" y="4114800"/>
            <a:ext cx="2743200" cy="246900"/>
          </a:xfrm>
          <a:prstGeom prst="roundRect">
            <a:avLst>
              <a:gd fmla="val 12000" name="adj"/>
            </a:avLst>
          </a:prstGeom>
          <a:solidFill>
            <a:srgbClr val="E6F2EC"/>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P04	yes	1</a:t>
            </a:r>
            <a:endParaRPr/>
          </a:p>
        </p:txBody>
      </p:sp>
      <p:sp>
        <p:nvSpPr>
          <p:cNvPr id="1304" name="Google Shape;1304;p22"/>
          <p:cNvSpPr/>
          <p:nvPr/>
        </p:nvSpPr>
        <p:spPr>
          <a:xfrm>
            <a:off x="960120" y="4389120"/>
            <a:ext cx="2743200" cy="246900"/>
          </a:xfrm>
          <a:prstGeom prst="roundRect">
            <a:avLst>
              <a:gd fmla="val 12000" name="adj"/>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P05	no	0</a:t>
            </a:r>
            <a:endParaRPr/>
          </a:p>
        </p:txBody>
      </p:sp>
      <p:sp>
        <p:nvSpPr>
          <p:cNvPr id="1305" name="Google Shape;1305;p22"/>
          <p:cNvSpPr txBox="1"/>
          <p:nvPr/>
        </p:nvSpPr>
        <p:spPr>
          <a:xfrm>
            <a:off x="1024128" y="4736592"/>
            <a:ext cx="26517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5B6770"/>
                </a:solidFill>
                <a:latin typeface="Calibri"/>
                <a:ea typeface="Calibri"/>
                <a:cs typeface="Calibri"/>
                <a:sym typeface="Calibri"/>
              </a:rPr>
              <a:t>Synthetic illustration. Rows also reveal codes: BM_DEP is only 0 or 1.</a:t>
            </a:r>
            <a:endParaRPr/>
          </a:p>
        </p:txBody>
      </p:sp>
      <p:sp>
        <p:nvSpPr>
          <p:cNvPr id="1306" name="Google Shape;1306;p22"/>
          <p:cNvSpPr txBox="1"/>
          <p:nvPr/>
        </p:nvSpPr>
        <p:spPr>
          <a:xfrm>
            <a:off x="4425696" y="2359152"/>
            <a:ext cx="24231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2  + DOCUMENTATION</a:t>
            </a:r>
            <a:endParaRPr/>
          </a:p>
        </p:txBody>
      </p:sp>
      <p:sp>
        <p:nvSpPr>
          <p:cNvPr id="1307" name="Google Shape;1307;p22"/>
          <p:cNvSpPr txBox="1"/>
          <p:nvPr/>
        </p:nvSpPr>
        <p:spPr>
          <a:xfrm>
            <a:off x="4425696" y="2651760"/>
            <a:ext cx="24231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5B6770"/>
                </a:solidFill>
                <a:latin typeface="Calibri"/>
                <a:ea typeface="Calibri"/>
                <a:cs typeface="Calibri"/>
                <a:sym typeface="Calibri"/>
              </a:rPr>
              <a:t>What the drug label says</a:t>
            </a:r>
            <a:endParaRPr/>
          </a:p>
        </p:txBody>
      </p:sp>
      <p:sp>
        <p:nvSpPr>
          <p:cNvPr id="1308" name="Google Shape;1308;p22"/>
          <p:cNvSpPr/>
          <p:nvPr/>
        </p:nvSpPr>
        <p:spPr>
          <a:xfrm>
            <a:off x="4389120" y="3017520"/>
            <a:ext cx="2459700" cy="1115700"/>
          </a:xfrm>
          <a:prstGeom prst="roundRect">
            <a:avLst>
              <a:gd fmla="val 12000" name="adj"/>
            </a:avLst>
          </a:prstGeom>
          <a:solidFill>
            <a:srgbClr val="F3F5F4"/>
          </a:solidFill>
          <a:ln>
            <a:noFill/>
          </a:ln>
        </p:spPr>
        <p:txBody>
          <a:bodyPr anchorCtr="0" anchor="ctr" bIns="0" lIns="128000" spcFirstLastPara="1" rIns="128000" wrap="square" tIns="0">
            <a:noAutofit/>
          </a:bodyPr>
          <a:lstStyle/>
          <a:p>
            <a:pPr indent="0" lvl="0" marL="0" marR="0" rtl="0" algn="l">
              <a:lnSpc>
                <a:spcPct val="100000"/>
              </a:lnSpc>
              <a:spcBef>
                <a:spcPts val="0"/>
              </a:spcBef>
              <a:spcAft>
                <a:spcPts val="0"/>
              </a:spcAft>
              <a:buNone/>
            </a:pPr>
            <a:r>
              <a:rPr b="0" i="1" lang="en-US" sz="1400" u="none" cap="none" strike="noStrike">
                <a:solidFill>
                  <a:srgbClr val="1F2328"/>
                </a:solidFill>
                <a:latin typeface="Calibri"/>
                <a:ea typeface="Calibri"/>
                <a:cs typeface="Calibri"/>
                <a:sym typeface="Calibri"/>
              </a:rPr>
              <a:t>Myelosuppression (bone-marrow suppression) is a documented adverse reaction of cisplatin.</a:t>
            </a:r>
            <a:endParaRPr/>
          </a:p>
        </p:txBody>
      </p:sp>
      <p:sp>
        <p:nvSpPr>
          <p:cNvPr id="1309" name="Google Shape;1309;p22"/>
          <p:cNvSpPr txBox="1"/>
          <p:nvPr/>
        </p:nvSpPr>
        <p:spPr>
          <a:xfrm>
            <a:off x="4425696" y="4169664"/>
            <a:ext cx="24231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Cisplatin drug label, paraphrased</a:t>
            </a:r>
            <a:endParaRPr/>
          </a:p>
        </p:txBody>
      </p:sp>
      <p:sp>
        <p:nvSpPr>
          <p:cNvPr id="1310" name="Google Shape;1310;p22"/>
          <p:cNvSpPr txBox="1"/>
          <p:nvPr/>
        </p:nvSpPr>
        <p:spPr>
          <a:xfrm>
            <a:off x="4425696" y="4480560"/>
            <a:ext cx="24231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3A434C"/>
                </a:solidFill>
                <a:latin typeface="Calibri"/>
                <a:ea typeface="Calibri"/>
                <a:cs typeface="Calibri"/>
                <a:sym typeface="Calibri"/>
              </a:rPr>
              <a:t>Timing is evidence too: BM_DEP is recorded after the first cycle.</a:t>
            </a:r>
            <a:endParaRPr/>
          </a:p>
        </p:txBody>
      </p:sp>
      <p:sp>
        <p:nvSpPr>
          <p:cNvPr id="1311" name="Google Shape;1311;p22"/>
          <p:cNvSpPr txBox="1"/>
          <p:nvPr/>
        </p:nvSpPr>
        <p:spPr>
          <a:xfrm>
            <a:off x="7598664" y="2359152"/>
            <a:ext cx="35754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0B6E4F"/>
                </a:solidFill>
                <a:latin typeface="Consolas"/>
                <a:ea typeface="Consolas"/>
                <a:cs typeface="Consolas"/>
                <a:sym typeface="Consolas"/>
              </a:rPr>
              <a:t>3  CANDIDATE KNOWLEDGE</a:t>
            </a:r>
            <a:endParaRPr/>
          </a:p>
        </p:txBody>
      </p:sp>
      <p:sp>
        <p:nvSpPr>
          <p:cNvPr id="1312" name="Google Shape;1312;p22"/>
          <p:cNvSpPr txBox="1"/>
          <p:nvPr/>
        </p:nvSpPr>
        <p:spPr>
          <a:xfrm>
            <a:off x="7598664" y="2651760"/>
            <a:ext cx="35754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5B6770"/>
                </a:solidFill>
                <a:latin typeface="Calibri"/>
                <a:ea typeface="Calibri"/>
                <a:cs typeface="Calibri"/>
                <a:sym typeface="Calibri"/>
              </a:rPr>
              <a:t>A reviewable hypothesis, not a fact</a:t>
            </a:r>
            <a:endParaRPr/>
          </a:p>
        </p:txBody>
      </p:sp>
      <p:sp>
        <p:nvSpPr>
          <p:cNvPr descr="OWL Manchester Syntax excerpt" id="1313" name="Google Shape;1313;p22"/>
          <p:cNvSpPr/>
          <p:nvPr/>
        </p:nvSpPr>
        <p:spPr>
          <a:xfrm>
            <a:off x="7534656" y="2962656"/>
            <a:ext cx="3666600" cy="1575000"/>
          </a:xfrm>
          <a:prstGeom prst="roundRect">
            <a:avLst>
              <a:gd fmla="val 5000" name="adj"/>
            </a:avLst>
          </a:prstGeom>
          <a:solidFill>
            <a:srgbClr val="F6F8FA"/>
          </a:solidFill>
          <a:ln cap="flat" cmpd="sng" w="9525">
            <a:solidFill>
              <a:srgbClr val="D0D7DE"/>
            </a:solidFill>
            <a:prstDash val="solid"/>
            <a:round/>
            <a:headEnd len="sm" w="sm" type="none"/>
            <a:tailEnd len="sm" w="sm" type="none"/>
          </a:ln>
        </p:spPr>
        <p:txBody>
          <a:bodyPr anchorCtr="0" anchor="t" bIns="54850" lIns="91425" spcFirstLastPara="1" rIns="91425" wrap="square" tIns="73150">
            <a:noAutofit/>
          </a:bodyPr>
          <a:lstStyle/>
          <a:p>
            <a:pPr indent="0" lvl="0" marL="0" marR="0" rtl="0" algn="l">
              <a:lnSpc>
                <a:spcPct val="113636"/>
              </a:lnSpc>
              <a:spcBef>
                <a:spcPts val="0"/>
              </a:spcBef>
              <a:spcAft>
                <a:spcPts val="0"/>
              </a:spcAft>
              <a:buNone/>
            </a:pPr>
            <a:r>
              <a:rPr b="1" i="0" lang="en-US" sz="1100" u="none" cap="none" strike="noStrike">
                <a:solidFill>
                  <a:srgbClr val="0B6E4F"/>
                </a:solidFill>
                <a:latin typeface="Consolas"/>
                <a:ea typeface="Consolas"/>
                <a:cs typeface="Consolas"/>
                <a:sym typeface="Consolas"/>
              </a:rPr>
              <a:t>Individual:</a:t>
            </a:r>
            <a:r>
              <a:rPr b="0" i="0" lang="en-US" sz="1100" u="none" cap="none" strike="noStrike">
                <a:solidFill>
                  <a:srgbClr val="1F2328"/>
                </a:solidFill>
                <a:latin typeface="Consolas"/>
                <a:ea typeface="Consolas"/>
                <a:cs typeface="Consolas"/>
                <a:sym typeface="Consolas"/>
              </a:rPr>
              <a:t> cisplatin_bmdep</a:t>
            </a:r>
            <a:endParaRPr b="0" i="0" sz="1100" u="none" cap="none" strike="noStrike">
              <a:solidFill>
                <a:srgbClr val="000000"/>
              </a:solidFill>
              <a:latin typeface="Arial"/>
              <a:ea typeface="Arial"/>
              <a:cs typeface="Arial"/>
              <a:sym typeface="Arial"/>
            </a:endParaRPr>
          </a:p>
          <a:p>
            <a:pPr indent="0" lvl="0" marL="0" marR="0" rtl="0" algn="l">
              <a:lnSpc>
                <a:spcPct val="113636"/>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Types:</a:t>
            </a:r>
            <a:r>
              <a:rPr b="0" i="0" lang="en-US" sz="1100" u="none" cap="none" strike="noStrike">
                <a:solidFill>
                  <a:srgbClr val="1F2328"/>
                </a:solidFill>
                <a:latin typeface="Consolas"/>
                <a:ea typeface="Consolas"/>
                <a:cs typeface="Consolas"/>
                <a:sym typeface="Consolas"/>
              </a:rPr>
              <a:t> CandidateAssociation</a:t>
            </a:r>
            <a:endParaRPr b="0" i="0" sz="1100" u="none" cap="none" strike="noStrike">
              <a:solidFill>
                <a:srgbClr val="000000"/>
              </a:solidFill>
              <a:latin typeface="Arial"/>
              <a:ea typeface="Arial"/>
              <a:cs typeface="Arial"/>
              <a:sym typeface="Arial"/>
            </a:endParaRPr>
          </a:p>
          <a:p>
            <a:pPr indent="0" lvl="0" marL="0" marR="0" rtl="0" algn="l">
              <a:lnSpc>
                <a:spcPct val="113636"/>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Facts:</a:t>
            </a:r>
            <a:endParaRPr b="0" i="0" sz="1100" u="none" cap="none" strike="noStrike">
              <a:solidFill>
                <a:srgbClr val="000000"/>
              </a:solidFill>
              <a:latin typeface="Arial"/>
              <a:ea typeface="Arial"/>
              <a:cs typeface="Arial"/>
              <a:sym typeface="Arial"/>
            </a:endParaRPr>
          </a:p>
          <a:p>
            <a:pPr indent="0" lvl="0" marL="0" marR="0" rtl="0" algn="l">
              <a:lnSpc>
                <a:spcPct val="113636"/>
              </a:lnSpc>
              <a:spcBef>
                <a:spcPts val="0"/>
              </a:spcBef>
              <a:spcAft>
                <a:spcPts val="0"/>
              </a:spcAft>
              <a:buNone/>
            </a:pPr>
            <a:r>
              <a:rPr b="0" i="0" lang="en-US" sz="1100" u="none" cap="none" strike="noStrike">
                <a:solidFill>
                  <a:srgbClr val="1F2328"/>
                </a:solidFill>
                <a:latin typeface="Consolas"/>
                <a:ea typeface="Consolas"/>
                <a:cs typeface="Consolas"/>
                <a:sym typeface="Consolas"/>
              </a:rPr>
              <a:t>    hasDrug Cisplatin,</a:t>
            </a:r>
            <a:endParaRPr b="0" i="0" sz="1100" u="none" cap="none" strike="noStrike">
              <a:solidFill>
                <a:srgbClr val="000000"/>
              </a:solidFill>
              <a:latin typeface="Arial"/>
              <a:ea typeface="Arial"/>
              <a:cs typeface="Arial"/>
              <a:sym typeface="Arial"/>
            </a:endParaRPr>
          </a:p>
          <a:p>
            <a:pPr indent="0" lvl="0" marL="0" marR="0" rtl="0" algn="l">
              <a:lnSpc>
                <a:spcPct val="113636"/>
              </a:lnSpc>
              <a:spcBef>
                <a:spcPts val="0"/>
              </a:spcBef>
              <a:spcAft>
                <a:spcPts val="0"/>
              </a:spcAft>
              <a:buNone/>
            </a:pPr>
            <a:r>
              <a:rPr b="0" i="0" lang="en-US" sz="1100" u="none" cap="none" strike="noStrike">
                <a:solidFill>
                  <a:srgbClr val="1F2328"/>
                </a:solidFill>
                <a:latin typeface="Consolas"/>
                <a:ea typeface="Consolas"/>
                <a:cs typeface="Consolas"/>
                <a:sym typeface="Consolas"/>
              </a:rPr>
              <a:t>    hasCondition BoneMarrowDepression,</a:t>
            </a:r>
            <a:endParaRPr b="0" i="0" sz="1100" u="none" cap="none" strike="noStrike">
              <a:solidFill>
                <a:srgbClr val="000000"/>
              </a:solidFill>
              <a:latin typeface="Arial"/>
              <a:ea typeface="Arial"/>
              <a:cs typeface="Arial"/>
              <a:sym typeface="Arial"/>
            </a:endParaRPr>
          </a:p>
          <a:p>
            <a:pPr indent="0" lvl="0" marL="0" marR="0" rtl="0" algn="l">
              <a:lnSpc>
                <a:spcPct val="113636"/>
              </a:lnSpc>
              <a:spcBef>
                <a:spcPts val="0"/>
              </a:spcBef>
              <a:spcAft>
                <a:spcPts val="0"/>
              </a:spcAft>
              <a:buNone/>
            </a:pPr>
            <a:r>
              <a:rPr b="0" i="0" lang="en-US" sz="1100" u="none" cap="none" strike="noStrike">
                <a:solidFill>
                  <a:srgbClr val="1F2328"/>
                </a:solidFill>
                <a:latin typeface="Consolas"/>
                <a:ea typeface="Consolas"/>
                <a:cs typeface="Consolas"/>
                <a:sym typeface="Consolas"/>
              </a:rPr>
              <a:t>    status </a:t>
            </a:r>
            <a:r>
              <a:rPr b="0" i="0" lang="en-US" sz="1100" u="none" cap="none" strike="noStrike">
                <a:solidFill>
                  <a:srgbClr val="A3401E"/>
                </a:solidFill>
                <a:latin typeface="Consolas"/>
                <a:ea typeface="Consolas"/>
                <a:cs typeface="Consolas"/>
                <a:sym typeface="Consolas"/>
              </a:rPr>
              <a:t>"needs expert review"</a:t>
            </a:r>
            <a:endParaRPr b="0" i="0" sz="1100" u="none" cap="none" strike="noStrike">
              <a:solidFill>
                <a:srgbClr val="000000"/>
              </a:solidFill>
              <a:latin typeface="Arial"/>
              <a:ea typeface="Arial"/>
              <a:cs typeface="Arial"/>
              <a:sym typeface="Arial"/>
            </a:endParaRPr>
          </a:p>
          <a:p>
            <a:pPr indent="0" lvl="0" marL="0" marR="0" rtl="0" algn="l">
              <a:lnSpc>
                <a:spcPct val="113636"/>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Annotations:</a:t>
            </a:r>
            <a:endParaRPr b="0" i="0" sz="1100" u="none" cap="none" strike="noStrike">
              <a:solidFill>
                <a:srgbClr val="000000"/>
              </a:solidFill>
              <a:latin typeface="Arial"/>
              <a:ea typeface="Arial"/>
              <a:cs typeface="Arial"/>
              <a:sym typeface="Arial"/>
            </a:endParaRPr>
          </a:p>
          <a:p>
            <a:pPr indent="0" lvl="0" marL="0" marR="0" rtl="0" algn="l">
              <a:lnSpc>
                <a:spcPct val="113636"/>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prov:wasDerivedFrom</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2F6B78"/>
                </a:solidFill>
                <a:latin typeface="Consolas"/>
                <a:ea typeface="Consolas"/>
                <a:cs typeface="Consolas"/>
                <a:sym typeface="Consolas"/>
              </a:rPr>
              <a:t>src:BM_DEP</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13636"/>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prov:wasDerivedFrom</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2F6B78"/>
                </a:solidFill>
                <a:latin typeface="Consolas"/>
                <a:ea typeface="Consolas"/>
                <a:cs typeface="Consolas"/>
                <a:sym typeface="Consolas"/>
              </a:rPr>
              <a:t>doc:cisplatin_label</a:t>
            </a:r>
            <a:endParaRPr b="0" i="0" sz="1100" u="none" cap="none" strike="noStrike">
              <a:solidFill>
                <a:srgbClr val="000000"/>
              </a:solidFill>
              <a:latin typeface="Arial"/>
              <a:ea typeface="Arial"/>
              <a:cs typeface="Arial"/>
              <a:sym typeface="Arial"/>
            </a:endParaRPr>
          </a:p>
        </p:txBody>
      </p:sp>
      <p:sp>
        <p:nvSpPr>
          <p:cNvPr id="1314" name="Google Shape;1314;p22"/>
          <p:cNvSpPr txBox="1"/>
          <p:nvPr/>
        </p:nvSpPr>
        <p:spPr>
          <a:xfrm>
            <a:off x="7598664" y="4626864"/>
            <a:ext cx="3575400" cy="47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B23A1E"/>
                </a:solidFill>
                <a:latin typeface="Calibri"/>
                <a:ea typeface="Calibri"/>
                <a:cs typeface="Calibri"/>
                <a:sym typeface="Calibri"/>
              </a:rPr>
              <a:t>No causes axiom. </a:t>
            </a:r>
            <a:r>
              <a:rPr b="0" i="0" lang="en-US" sz="1100" u="none" cap="none" strike="noStrike">
                <a:solidFill>
                  <a:srgbClr val="3A434C"/>
                </a:solidFill>
                <a:latin typeface="Calibri"/>
                <a:ea typeface="Calibri"/>
                <a:cs typeface="Calibri"/>
                <a:sym typeface="Calibri"/>
              </a:rPr>
              <a:t>Co-administered gemcitabine, radiotherapy or cirrhosis can also suppress the marrow.</a:t>
            </a:r>
            <a:endParaRPr/>
          </a:p>
        </p:txBody>
      </p:sp>
      <p:sp>
        <p:nvSpPr>
          <p:cNvPr id="1315" name="Google Shape;1315;p22"/>
          <p:cNvSpPr/>
          <p:nvPr/>
        </p:nvSpPr>
        <p:spPr>
          <a:xfrm>
            <a:off x="822960" y="5340096"/>
            <a:ext cx="10515600" cy="420600"/>
          </a:xfrm>
          <a:prstGeom prst="roundRect">
            <a:avLst>
              <a:gd fmla="val 12000" name="adj"/>
            </a:avLst>
          </a:prstGeom>
          <a:solidFill>
            <a:srgbClr val="E6F2EC"/>
          </a:solidFill>
          <a:ln>
            <a:noFill/>
          </a:ln>
        </p:spPr>
        <p:txBody>
          <a:bodyPr anchorCtr="0" anchor="ctr" bIns="0" lIns="182875" spcFirstLastPara="1" rIns="182875" wrap="square" tIns="0">
            <a:noAutofit/>
          </a:bodyPr>
          <a:lstStyle/>
          <a:p>
            <a:pPr indent="0" lvl="0" marL="0" marR="0" rtl="0" algn="l">
              <a:lnSpc>
                <a:spcPct val="100000"/>
              </a:lnSpc>
              <a:spcBef>
                <a:spcPts val="0"/>
              </a:spcBef>
              <a:spcAft>
                <a:spcPts val="0"/>
              </a:spcAft>
              <a:buNone/>
            </a:pPr>
            <a:r>
              <a:rPr b="1" i="0" lang="en-US" sz="1250" u="none" cap="none" strike="noStrike">
                <a:solidFill>
                  <a:srgbClr val="0B6E4F"/>
                </a:solidFill>
                <a:latin typeface="Calibri"/>
                <a:ea typeface="Calibri"/>
                <a:cs typeface="Calibri"/>
                <a:sym typeface="Calibri"/>
              </a:rPr>
              <a:t>ALSO NEXT   </a:t>
            </a:r>
            <a:r>
              <a:rPr b="0" i="0" lang="en-US" sz="1250" u="none" cap="none" strike="noStrike">
                <a:solidFill>
                  <a:srgbClr val="1F2328"/>
                </a:solidFill>
                <a:latin typeface="Calibri"/>
                <a:ea typeface="Calibri"/>
                <a:cs typeface="Calibri"/>
                <a:sym typeface="Calibri"/>
              </a:rPr>
              <a:t>Validator and reasoner feedback inside the loop, to catch residual P19  ·  aggregate statistics only, so patient data stays in the hospital</a:t>
            </a:r>
            <a:endParaRPr/>
          </a:p>
        </p:txBody>
      </p:sp>
      <p:sp>
        <p:nvSpPr>
          <p:cNvPr id="1316" name="Google Shape;1316;p22"/>
          <p:cNvSpPr txBox="1"/>
          <p:nvPr/>
        </p:nvSpPr>
        <p:spPr>
          <a:xfrm>
            <a:off x="850392" y="5870448"/>
            <a:ext cx="104883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Instance rows are synthetic. Future directions follow paper Section 5 (instance-level signals, tool feedback, symbolic reasoning).</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1" name="Shape 1321"/>
        <p:cNvGrpSpPr/>
        <p:nvPr/>
      </p:nvGrpSpPr>
      <p:grpSpPr>
        <a:xfrm>
          <a:off x="0" y="0"/>
          <a:ext cx="0" cy="0"/>
          <a:chOff x="0" y="0"/>
          <a:chExt cx="0" cy="0"/>
        </a:xfrm>
      </p:grpSpPr>
      <p:sp>
        <p:nvSpPr>
          <p:cNvPr id="1322" name="Google Shape;1322;p23"/>
          <p:cNvSpPr/>
          <p:nvPr/>
        </p:nvSpPr>
        <p:spPr>
          <a:xfrm>
            <a:off x="841253" y="2432325"/>
            <a:ext cx="4239000" cy="3621000"/>
          </a:xfrm>
          <a:prstGeom prst="roundRect">
            <a:avLst>
              <a:gd fmla="val 4068" name="adj"/>
            </a:avLst>
          </a:prstGeom>
          <a:solidFill>
            <a:srgbClr val="F3F5F4"/>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23" name="Google Shape;1323;p23"/>
          <p:cNvSpPr txBox="1"/>
          <p:nvPr/>
        </p:nvSpPr>
        <p:spPr>
          <a:xfrm>
            <a:off x="813816" y="466344"/>
            <a:ext cx="10515600" cy="310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B6E4F"/>
                </a:solidFill>
                <a:latin typeface="Consolas"/>
                <a:ea typeface="Consolas"/>
                <a:cs typeface="Consolas"/>
                <a:sym typeface="Consolas"/>
              </a:rPr>
              <a:t>RIGOR  /  ISWC 2026</a:t>
            </a:r>
            <a:endParaRPr/>
          </a:p>
        </p:txBody>
      </p:sp>
      <p:sp>
        <p:nvSpPr>
          <p:cNvPr id="1324" name="Google Shape;1324;p23"/>
          <p:cNvSpPr txBox="1"/>
          <p:nvPr/>
        </p:nvSpPr>
        <p:spPr>
          <a:xfrm>
            <a:off x="813816" y="914400"/>
            <a:ext cx="6766500" cy="759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4600" u="none" cap="none" strike="noStrike">
                <a:solidFill>
                  <a:srgbClr val="1F2328"/>
                </a:solidFill>
                <a:latin typeface="Cambria"/>
                <a:ea typeface="Cambria"/>
                <a:cs typeface="Cambria"/>
                <a:sym typeface="Cambria"/>
              </a:rPr>
              <a:t>Thank you.</a:t>
            </a:r>
            <a:endParaRPr/>
          </a:p>
        </p:txBody>
      </p:sp>
      <p:sp>
        <p:nvSpPr>
          <p:cNvPr id="1325" name="Google Shape;1325;p23"/>
          <p:cNvSpPr txBox="1"/>
          <p:nvPr/>
        </p:nvSpPr>
        <p:spPr>
          <a:xfrm>
            <a:off x="841248" y="1773936"/>
            <a:ext cx="6949500" cy="493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2600" u="none" cap="none" strike="noStrike">
                <a:solidFill>
                  <a:srgbClr val="2F6B78"/>
                </a:solidFill>
                <a:latin typeface="Cambria"/>
                <a:ea typeface="Cambria"/>
                <a:cs typeface="Cambria"/>
                <a:sym typeface="Cambria"/>
              </a:rPr>
              <a:t>Questions?</a:t>
            </a:r>
            <a:endParaRPr/>
          </a:p>
        </p:txBody>
      </p:sp>
      <p:sp>
        <p:nvSpPr>
          <p:cNvPr id="1326" name="Google Shape;1326;p23"/>
          <p:cNvSpPr txBox="1"/>
          <p:nvPr/>
        </p:nvSpPr>
        <p:spPr>
          <a:xfrm>
            <a:off x="1054695" y="2684051"/>
            <a:ext cx="6537900" cy="223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2F6B78"/>
                </a:solidFill>
                <a:latin typeface="Consolas"/>
                <a:ea typeface="Consolas"/>
                <a:cs typeface="Consolas"/>
                <a:sym typeface="Consolas"/>
              </a:rPr>
              <a:t>FROM A DATABASE SCHEMA TO AN ONTOLOGY</a:t>
            </a:r>
            <a:endParaRPr/>
          </a:p>
        </p:txBody>
      </p:sp>
      <p:sp>
        <p:nvSpPr>
          <p:cNvPr id="1327" name="Google Shape;1327;p23"/>
          <p:cNvSpPr/>
          <p:nvPr/>
        </p:nvSpPr>
        <p:spPr>
          <a:xfrm>
            <a:off x="5272625" y="2432325"/>
            <a:ext cx="3968100" cy="3621000"/>
          </a:xfrm>
          <a:prstGeom prst="roundRect">
            <a:avLst>
              <a:gd fmla="val 4068" name="adj"/>
            </a:avLst>
          </a:prstGeom>
          <a:solidFill>
            <a:srgbClr val="F3F5F4"/>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28" name="Google Shape;1328;p23"/>
          <p:cNvSpPr txBox="1"/>
          <p:nvPr/>
        </p:nvSpPr>
        <p:spPr>
          <a:xfrm>
            <a:off x="5478424" y="2718594"/>
            <a:ext cx="27249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2F6B78"/>
                </a:solidFill>
                <a:latin typeface="Consolas"/>
                <a:ea typeface="Consolas"/>
                <a:cs typeface="Consolas"/>
                <a:sym typeface="Consolas"/>
              </a:rPr>
              <a:t>PAPER + OPEN SOURCE</a:t>
            </a:r>
            <a:endParaRPr/>
          </a:p>
        </p:txBody>
      </p:sp>
      <p:pic>
        <p:nvPicPr>
          <p:cNvPr descr="QR code: https://arxiv.org/abs/2506.01232 (paper)" id="1329" name="Google Shape;1329;p23"/>
          <p:cNvPicPr preferRelativeResize="0"/>
          <p:nvPr/>
        </p:nvPicPr>
        <p:blipFill rotWithShape="1">
          <a:blip r:embed="rId3">
            <a:alphaModFix/>
          </a:blip>
          <a:srcRect b="0" l="0" r="0" t="0"/>
          <a:stretch/>
        </p:blipFill>
        <p:spPr>
          <a:xfrm>
            <a:off x="5533288" y="3187578"/>
            <a:ext cx="1316736" cy="1316736"/>
          </a:xfrm>
          <a:prstGeom prst="rect">
            <a:avLst/>
          </a:prstGeom>
          <a:noFill/>
          <a:ln>
            <a:noFill/>
          </a:ln>
        </p:spPr>
      </p:pic>
      <p:sp>
        <p:nvSpPr>
          <p:cNvPr id="1330" name="Google Shape;1330;p23"/>
          <p:cNvSpPr txBox="1"/>
          <p:nvPr/>
        </p:nvSpPr>
        <p:spPr>
          <a:xfrm>
            <a:off x="5487568" y="4577466"/>
            <a:ext cx="14082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1F2328"/>
                </a:solidFill>
                <a:latin typeface="Calibri"/>
                <a:ea typeface="Calibri"/>
                <a:cs typeface="Calibri"/>
                <a:sym typeface="Calibri"/>
              </a:rPr>
              <a:t>Paper</a:t>
            </a:r>
            <a:endParaRPr/>
          </a:p>
        </p:txBody>
      </p:sp>
      <p:pic>
        <p:nvPicPr>
          <p:cNvPr descr="QR code: https://github.com/NadeenAhmad/RIGOR (code)" id="1331" name="Google Shape;1331;p23"/>
          <p:cNvPicPr preferRelativeResize="0"/>
          <p:nvPr/>
        </p:nvPicPr>
        <p:blipFill rotWithShape="1">
          <a:blip r:embed="rId4">
            <a:alphaModFix/>
          </a:blip>
          <a:srcRect b="0" l="0" r="0" t="0"/>
          <a:stretch/>
        </p:blipFill>
        <p:spPr>
          <a:xfrm>
            <a:off x="7087768" y="3187578"/>
            <a:ext cx="1316736" cy="1316736"/>
          </a:xfrm>
          <a:prstGeom prst="rect">
            <a:avLst/>
          </a:prstGeom>
          <a:noFill/>
          <a:ln>
            <a:noFill/>
          </a:ln>
        </p:spPr>
      </p:pic>
      <p:sp>
        <p:nvSpPr>
          <p:cNvPr id="1332" name="Google Shape;1332;p23"/>
          <p:cNvSpPr txBox="1"/>
          <p:nvPr/>
        </p:nvSpPr>
        <p:spPr>
          <a:xfrm>
            <a:off x="7042047" y="4577466"/>
            <a:ext cx="14082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1F2328"/>
                </a:solidFill>
                <a:latin typeface="Calibri"/>
                <a:ea typeface="Calibri"/>
                <a:cs typeface="Calibri"/>
                <a:sym typeface="Calibri"/>
              </a:rPr>
              <a:t>GitHub</a:t>
            </a:r>
            <a:endParaRPr/>
          </a:p>
        </p:txBody>
      </p:sp>
      <p:cxnSp>
        <p:nvCxnSpPr>
          <p:cNvPr id="1333" name="Google Shape;1333;p23"/>
          <p:cNvCxnSpPr/>
          <p:nvPr/>
        </p:nvCxnSpPr>
        <p:spPr>
          <a:xfrm>
            <a:off x="728404" y="6217936"/>
            <a:ext cx="10488300" cy="0"/>
          </a:xfrm>
          <a:prstGeom prst="straightConnector1">
            <a:avLst/>
          </a:prstGeom>
          <a:noFill/>
          <a:ln cap="flat" cmpd="sng" w="12700">
            <a:solidFill>
              <a:srgbClr val="D9DEDB"/>
            </a:solidFill>
            <a:prstDash val="solid"/>
            <a:round/>
            <a:headEnd len="sm" w="sm" type="none"/>
            <a:tailEnd len="sm" w="sm" type="none"/>
          </a:ln>
          <a:effectLst>
            <a:outerShdw blurRad="40000" rotWithShape="0" dir="5400000" dist="20000">
              <a:srgbClr val="000000">
                <a:alpha val="38040"/>
              </a:srgbClr>
            </a:outerShdw>
          </a:effectLst>
        </p:spPr>
      </p:cxnSp>
      <p:sp>
        <p:nvSpPr>
          <p:cNvPr id="1334" name="Google Shape;1334;p23"/>
          <p:cNvSpPr txBox="1"/>
          <p:nvPr/>
        </p:nvSpPr>
        <p:spPr>
          <a:xfrm>
            <a:off x="5478423" y="5120452"/>
            <a:ext cx="8778300" cy="261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1700">
                <a:solidFill>
                  <a:srgbClr val="1F2328"/>
                </a:solidFill>
                <a:latin typeface="Calibri"/>
                <a:ea typeface="Calibri"/>
                <a:cs typeface="Calibri"/>
                <a:sym typeface="Calibri"/>
              </a:rPr>
              <a:t>📬 </a:t>
            </a:r>
            <a:r>
              <a:rPr b="0" i="0" lang="en-US" sz="1700" u="none" cap="none" strike="noStrike">
                <a:solidFill>
                  <a:srgbClr val="1F2328"/>
                </a:solidFill>
                <a:latin typeface="Calibri"/>
                <a:ea typeface="Calibri"/>
                <a:cs typeface="Calibri"/>
                <a:sym typeface="Calibri"/>
              </a:rPr>
              <a:t>nadeen.fathallah@ki.uni-stuttgart.de</a:t>
            </a:r>
            <a:endParaRPr/>
          </a:p>
        </p:txBody>
      </p:sp>
      <p:sp>
        <p:nvSpPr>
          <p:cNvPr id="1335" name="Google Shape;1335;p23"/>
          <p:cNvSpPr txBox="1"/>
          <p:nvPr/>
        </p:nvSpPr>
        <p:spPr>
          <a:xfrm>
            <a:off x="9314620" y="6327664"/>
            <a:ext cx="1883700" cy="1956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70" u="none" cap="none" strike="noStrike">
                <a:solidFill>
                  <a:srgbClr val="5B6770"/>
                </a:solidFill>
                <a:latin typeface="Calibri"/>
                <a:ea typeface="Calibri"/>
                <a:cs typeface="Calibri"/>
                <a:sym typeface="Calibri"/>
              </a:rPr>
              <a:t>ISWC 2026 · Bari</a:t>
            </a:r>
            <a:endParaRPr/>
          </a:p>
        </p:txBody>
      </p:sp>
      <p:pic>
        <p:nvPicPr>
          <p:cNvPr descr="A relational table whose highlighted row is mapped by RIGOR to a node of an ontology graph" id="1336" name="Google Shape;1336;p23"/>
          <p:cNvPicPr preferRelativeResize="0"/>
          <p:nvPr/>
        </p:nvPicPr>
        <p:blipFill rotWithShape="1">
          <a:blip r:embed="rId5">
            <a:alphaModFix/>
          </a:blip>
          <a:srcRect b="0" l="0" r="0" t="0"/>
          <a:stretch/>
        </p:blipFill>
        <p:spPr>
          <a:xfrm>
            <a:off x="1197051" y="2777505"/>
            <a:ext cx="3428999" cy="3066584"/>
          </a:xfrm>
          <a:prstGeom prst="rect">
            <a:avLst/>
          </a:prstGeom>
          <a:noFill/>
          <a:ln>
            <a:noFill/>
          </a:ln>
        </p:spPr>
      </p:pic>
      <p:sp>
        <p:nvSpPr>
          <p:cNvPr id="1337" name="Google Shape;1337;p23"/>
          <p:cNvSpPr txBox="1"/>
          <p:nvPr/>
        </p:nvSpPr>
        <p:spPr>
          <a:xfrm>
            <a:off x="1085225" y="5671014"/>
            <a:ext cx="1828800" cy="2001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300"/>
              <a:buFont typeface="Arial"/>
              <a:buNone/>
            </a:pPr>
            <a:r>
              <a:rPr b="1" i="0" lang="en-US" sz="1300" u="none" cap="none" strike="noStrike">
                <a:solidFill>
                  <a:srgbClr val="1F2328"/>
                </a:solidFill>
                <a:latin typeface="Consolas"/>
                <a:ea typeface="Consolas"/>
                <a:cs typeface="Consolas"/>
                <a:sym typeface="Consolas"/>
              </a:rPr>
              <a:t>relational database</a:t>
            </a:r>
            <a:endParaRPr b="0" i="0" sz="1300" u="none" cap="none" strike="noStrike">
              <a:solidFill>
                <a:srgbClr val="1F2328"/>
              </a:solidFill>
              <a:latin typeface="Arial"/>
              <a:ea typeface="Arial"/>
              <a:cs typeface="Arial"/>
              <a:sym typeface="Arial"/>
            </a:endParaRPr>
          </a:p>
        </p:txBody>
      </p:sp>
      <p:sp>
        <p:nvSpPr>
          <p:cNvPr id="1338" name="Google Shape;1338;p23"/>
          <p:cNvSpPr txBox="1"/>
          <p:nvPr/>
        </p:nvSpPr>
        <p:spPr>
          <a:xfrm>
            <a:off x="2971175" y="5671014"/>
            <a:ext cx="1828800" cy="2001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300"/>
              <a:buFont typeface="Arial"/>
              <a:buNone/>
            </a:pPr>
            <a:r>
              <a:rPr b="1" i="0" lang="en-US" sz="1300" u="none" cap="none" strike="noStrike">
                <a:solidFill>
                  <a:srgbClr val="1F2328"/>
                </a:solidFill>
                <a:latin typeface="Consolas"/>
                <a:ea typeface="Consolas"/>
                <a:cs typeface="Consolas"/>
                <a:sym typeface="Consolas"/>
              </a:rPr>
              <a:t>ontology</a:t>
            </a:r>
            <a:endParaRPr b="0" i="0" sz="1300" u="none" cap="none" strike="noStrike">
              <a:solidFill>
                <a:srgbClr val="1F2328"/>
              </a:solidFill>
              <a:latin typeface="Arial"/>
              <a:ea typeface="Arial"/>
              <a:cs typeface="Arial"/>
              <a:sym typeface="Arial"/>
            </a:endParaRPr>
          </a:p>
        </p:txBody>
      </p:sp>
      <p:sp>
        <p:nvSpPr>
          <p:cNvPr id="1339" name="Google Shape;1339;p23"/>
          <p:cNvSpPr/>
          <p:nvPr/>
        </p:nvSpPr>
        <p:spPr>
          <a:xfrm>
            <a:off x="2784678" y="3602137"/>
            <a:ext cx="768000" cy="274200"/>
          </a:xfrm>
          <a:prstGeom prst="roundRect">
            <a:avLst>
              <a:gd fmla="val 12000" name="adj"/>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50" u="none" cap="none" strike="noStrike">
                <a:solidFill>
                  <a:srgbClr val="FFFFFF"/>
                </a:solidFill>
                <a:latin typeface="Consolas"/>
                <a:ea typeface="Consolas"/>
                <a:cs typeface="Consolas"/>
                <a:sym typeface="Consolas"/>
              </a:rPr>
              <a:t>RIGOR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3" name="Shape 1343"/>
        <p:cNvGrpSpPr/>
        <p:nvPr/>
      </p:nvGrpSpPr>
      <p:grpSpPr>
        <a:xfrm>
          <a:off x="0" y="0"/>
          <a:ext cx="0" cy="0"/>
          <a:chOff x="0" y="0"/>
          <a:chExt cx="0" cy="0"/>
        </a:xfrm>
      </p:grpSpPr>
      <p:sp>
        <p:nvSpPr>
          <p:cNvPr id="1344" name="Google Shape;1344;p27"/>
          <p:cNvSpPr txBox="1"/>
          <p:nvPr/>
        </p:nvSpPr>
        <p:spPr>
          <a:xfrm>
            <a:off x="777240" y="347472"/>
            <a:ext cx="100584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onsolas"/>
                <a:ea typeface="Consolas"/>
                <a:cs typeface="Consolas"/>
                <a:sym typeface="Consolas"/>
              </a:rPr>
              <a:t>BACKUP  /  B1</a:t>
            </a:r>
            <a:endParaRPr/>
          </a:p>
        </p:txBody>
      </p:sp>
      <p:sp>
        <p:nvSpPr>
          <p:cNvPr id="1345" name="Google Shape;1345;p27"/>
          <p:cNvSpPr txBox="1"/>
          <p:nvPr/>
        </p:nvSpPr>
        <p:spPr>
          <a:xfrm>
            <a:off x="777240" y="768096"/>
            <a:ext cx="10881300" cy="53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1F2328"/>
                </a:solidFill>
                <a:latin typeface="Cambria"/>
                <a:ea typeface="Cambria"/>
                <a:cs typeface="Cambria"/>
                <a:sym typeface="Cambria"/>
              </a:rPr>
              <a:t>Raw OOPS! pitfall counts (paper Table 7).</a:t>
            </a:r>
            <a:endParaRPr/>
          </a:p>
        </p:txBody>
      </p:sp>
      <p:sp>
        <p:nvSpPr>
          <p:cNvPr id="1346" name="Google Shape;1346;p27"/>
          <p:cNvSpPr txBox="1"/>
          <p:nvPr/>
        </p:nvSpPr>
        <p:spPr>
          <a:xfrm>
            <a:off x="777240" y="1371600"/>
            <a:ext cx="10789800" cy="34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OOPS! findings per ontology (lower is better) · Same dataset and generator model in each comparison</a:t>
            </a:r>
            <a:endParaRPr/>
          </a:p>
        </p:txBody>
      </p:sp>
      <p:sp>
        <p:nvSpPr>
          <p:cNvPr id="1347" name="Google Shape;1347;p27"/>
          <p:cNvSpPr/>
          <p:nvPr/>
        </p:nvSpPr>
        <p:spPr>
          <a:xfrm>
            <a:off x="822960" y="1874519"/>
            <a:ext cx="2514600" cy="475500"/>
          </a:xfrm>
          <a:prstGeom prst="rect">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48" name="Google Shape;1348;p27"/>
          <p:cNvSpPr txBox="1"/>
          <p:nvPr/>
        </p:nvSpPr>
        <p:spPr>
          <a:xfrm>
            <a:off x="969264" y="1984248"/>
            <a:ext cx="2258700" cy="237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2F6B78"/>
                </a:solidFill>
                <a:latin typeface="Calibri"/>
                <a:ea typeface="Calibri"/>
                <a:cs typeface="Calibri"/>
                <a:sym typeface="Calibri"/>
              </a:rPr>
              <a:t>METHOD</a:t>
            </a:r>
            <a:endParaRPr/>
          </a:p>
        </p:txBody>
      </p:sp>
      <p:sp>
        <p:nvSpPr>
          <p:cNvPr id="1349" name="Google Shape;1349;p27"/>
          <p:cNvSpPr/>
          <p:nvPr/>
        </p:nvSpPr>
        <p:spPr>
          <a:xfrm>
            <a:off x="3474720" y="1874519"/>
            <a:ext cx="2606100" cy="475500"/>
          </a:xfrm>
          <a:prstGeom prst="rect">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0" name="Google Shape;1350;p27"/>
          <p:cNvSpPr txBox="1"/>
          <p:nvPr/>
        </p:nvSpPr>
        <p:spPr>
          <a:xfrm>
            <a:off x="3621024" y="1984248"/>
            <a:ext cx="2349900" cy="237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2F6B78"/>
                </a:solidFill>
                <a:latin typeface="Calibri"/>
                <a:ea typeface="Calibri"/>
                <a:cs typeface="Calibri"/>
                <a:sym typeface="Calibri"/>
              </a:rPr>
              <a:t>LIVER CANCER</a:t>
            </a:r>
            <a:endParaRPr/>
          </a:p>
        </p:txBody>
      </p:sp>
      <p:sp>
        <p:nvSpPr>
          <p:cNvPr id="1351" name="Google Shape;1351;p27"/>
          <p:cNvSpPr txBox="1"/>
          <p:nvPr/>
        </p:nvSpPr>
        <p:spPr>
          <a:xfrm>
            <a:off x="3621024" y="2212848"/>
            <a:ext cx="2349900" cy="18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16 tables</a:t>
            </a:r>
            <a:endParaRPr/>
          </a:p>
        </p:txBody>
      </p:sp>
      <p:sp>
        <p:nvSpPr>
          <p:cNvPr id="1352" name="Google Shape;1352;p27"/>
          <p:cNvSpPr/>
          <p:nvPr/>
        </p:nvSpPr>
        <p:spPr>
          <a:xfrm>
            <a:off x="6217920" y="1874519"/>
            <a:ext cx="2606100" cy="475500"/>
          </a:xfrm>
          <a:prstGeom prst="rect">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3" name="Google Shape;1353;p27"/>
          <p:cNvSpPr txBox="1"/>
          <p:nvPr/>
        </p:nvSpPr>
        <p:spPr>
          <a:xfrm>
            <a:off x="6364224" y="1984248"/>
            <a:ext cx="2349900" cy="237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2F6B78"/>
                </a:solidFill>
                <a:latin typeface="Calibri"/>
                <a:ea typeface="Calibri"/>
                <a:cs typeface="Calibri"/>
                <a:sym typeface="Calibri"/>
              </a:rPr>
              <a:t>eICU-CRD</a:t>
            </a:r>
            <a:endParaRPr/>
          </a:p>
        </p:txBody>
      </p:sp>
      <p:sp>
        <p:nvSpPr>
          <p:cNvPr id="1354" name="Google Shape;1354;p27"/>
          <p:cNvSpPr txBox="1"/>
          <p:nvPr/>
        </p:nvSpPr>
        <p:spPr>
          <a:xfrm>
            <a:off x="6364224" y="2212848"/>
            <a:ext cx="2349900" cy="18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31 tables</a:t>
            </a:r>
            <a:endParaRPr/>
          </a:p>
        </p:txBody>
      </p:sp>
      <p:sp>
        <p:nvSpPr>
          <p:cNvPr id="1355" name="Google Shape;1355;p27"/>
          <p:cNvSpPr/>
          <p:nvPr/>
        </p:nvSpPr>
        <p:spPr>
          <a:xfrm>
            <a:off x="8961120" y="1874519"/>
            <a:ext cx="2423100" cy="475500"/>
          </a:xfrm>
          <a:prstGeom prst="rect">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6" name="Google Shape;1356;p27"/>
          <p:cNvSpPr txBox="1"/>
          <p:nvPr/>
        </p:nvSpPr>
        <p:spPr>
          <a:xfrm>
            <a:off x="9107424" y="1984248"/>
            <a:ext cx="2167200" cy="237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2F6B78"/>
                </a:solidFill>
                <a:latin typeface="Calibri"/>
                <a:ea typeface="Calibri"/>
                <a:cs typeface="Calibri"/>
                <a:sym typeface="Calibri"/>
              </a:rPr>
              <a:t>CHINOOK</a:t>
            </a:r>
            <a:endParaRPr/>
          </a:p>
        </p:txBody>
      </p:sp>
      <p:sp>
        <p:nvSpPr>
          <p:cNvPr id="1357" name="Google Shape;1357;p27"/>
          <p:cNvSpPr txBox="1"/>
          <p:nvPr/>
        </p:nvSpPr>
        <p:spPr>
          <a:xfrm>
            <a:off x="9107424" y="2212848"/>
            <a:ext cx="2167200" cy="18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11 tables</a:t>
            </a:r>
            <a:endParaRPr/>
          </a:p>
        </p:txBody>
      </p:sp>
      <p:sp>
        <p:nvSpPr>
          <p:cNvPr id="1358" name="Google Shape;1358;p27"/>
          <p:cNvSpPr/>
          <p:nvPr/>
        </p:nvSpPr>
        <p:spPr>
          <a:xfrm>
            <a:off x="822960" y="2432304"/>
            <a:ext cx="2514600" cy="603600"/>
          </a:xfrm>
          <a:prstGeom prst="roundRect">
            <a:avLst>
              <a:gd fmla="val 16667" name="adj"/>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9" name="Google Shape;1359;p27"/>
          <p:cNvSpPr txBox="1"/>
          <p:nvPr/>
        </p:nvSpPr>
        <p:spPr>
          <a:xfrm>
            <a:off x="996696" y="2578608"/>
            <a:ext cx="22404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1F2328"/>
                </a:solidFill>
                <a:latin typeface="Calibri"/>
                <a:ea typeface="Calibri"/>
                <a:cs typeface="Calibri"/>
                <a:sym typeface="Calibri"/>
              </a:rPr>
              <a:t>Direct Mapping</a:t>
            </a:r>
            <a:endParaRPr/>
          </a:p>
        </p:txBody>
      </p:sp>
      <p:sp>
        <p:nvSpPr>
          <p:cNvPr id="1360" name="Google Shape;1360;p27"/>
          <p:cNvSpPr/>
          <p:nvPr/>
        </p:nvSpPr>
        <p:spPr>
          <a:xfrm>
            <a:off x="3474720" y="2432304"/>
            <a:ext cx="2606100" cy="603600"/>
          </a:xfrm>
          <a:prstGeom prst="roundRect">
            <a:avLst>
              <a:gd fmla="val 16667" name="adj"/>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1" name="Google Shape;1361;p27"/>
          <p:cNvSpPr txBox="1"/>
          <p:nvPr/>
        </p:nvSpPr>
        <p:spPr>
          <a:xfrm>
            <a:off x="3611879" y="2569464"/>
            <a:ext cx="2368200" cy="329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900" u="none" cap="none" strike="noStrike">
                <a:solidFill>
                  <a:srgbClr val="1F2328"/>
                </a:solidFill>
                <a:latin typeface="Calibri"/>
                <a:ea typeface="Calibri"/>
                <a:cs typeface="Calibri"/>
                <a:sym typeface="Calibri"/>
              </a:rPr>
              <a:t>731</a:t>
            </a:r>
            <a:endParaRPr/>
          </a:p>
        </p:txBody>
      </p:sp>
      <p:sp>
        <p:nvSpPr>
          <p:cNvPr id="1362" name="Google Shape;1362;p27"/>
          <p:cNvSpPr/>
          <p:nvPr/>
        </p:nvSpPr>
        <p:spPr>
          <a:xfrm>
            <a:off x="6217920" y="2432304"/>
            <a:ext cx="2606100" cy="603600"/>
          </a:xfrm>
          <a:prstGeom prst="roundRect">
            <a:avLst>
              <a:gd fmla="val 16667" name="adj"/>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3" name="Google Shape;1363;p27"/>
          <p:cNvSpPr txBox="1"/>
          <p:nvPr/>
        </p:nvSpPr>
        <p:spPr>
          <a:xfrm>
            <a:off x="6355080" y="2569464"/>
            <a:ext cx="2368200" cy="329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900" u="none" cap="none" strike="noStrike">
                <a:solidFill>
                  <a:srgbClr val="1F2328"/>
                </a:solidFill>
                <a:latin typeface="Calibri"/>
                <a:ea typeface="Calibri"/>
                <a:cs typeface="Calibri"/>
                <a:sym typeface="Calibri"/>
              </a:rPr>
              <a:t>665</a:t>
            </a:r>
            <a:endParaRPr/>
          </a:p>
        </p:txBody>
      </p:sp>
      <p:sp>
        <p:nvSpPr>
          <p:cNvPr id="1364" name="Google Shape;1364;p27"/>
          <p:cNvSpPr/>
          <p:nvPr/>
        </p:nvSpPr>
        <p:spPr>
          <a:xfrm>
            <a:off x="8961120" y="2432304"/>
            <a:ext cx="2423100" cy="603600"/>
          </a:xfrm>
          <a:prstGeom prst="roundRect">
            <a:avLst>
              <a:gd fmla="val 16667" name="adj"/>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5" name="Google Shape;1365;p27"/>
          <p:cNvSpPr txBox="1"/>
          <p:nvPr/>
        </p:nvSpPr>
        <p:spPr>
          <a:xfrm>
            <a:off x="9098280" y="2569464"/>
            <a:ext cx="2185500" cy="329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900" u="none" cap="none" strike="noStrike">
                <a:solidFill>
                  <a:srgbClr val="1F2328"/>
                </a:solidFill>
                <a:latin typeface="Calibri"/>
                <a:ea typeface="Calibri"/>
                <a:cs typeface="Calibri"/>
                <a:sym typeface="Calibri"/>
              </a:rPr>
              <a:t>102</a:t>
            </a:r>
            <a:endParaRPr/>
          </a:p>
        </p:txBody>
      </p:sp>
      <p:sp>
        <p:nvSpPr>
          <p:cNvPr id="1366" name="Google Shape;1366;p27"/>
          <p:cNvSpPr/>
          <p:nvPr/>
        </p:nvSpPr>
        <p:spPr>
          <a:xfrm>
            <a:off x="822960" y="3090672"/>
            <a:ext cx="2514600" cy="603600"/>
          </a:xfrm>
          <a:prstGeom prst="roundRect">
            <a:avLst>
              <a:gd fmla="val 16667" name="adj"/>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7" name="Google Shape;1367;p27"/>
          <p:cNvSpPr txBox="1"/>
          <p:nvPr/>
        </p:nvSpPr>
        <p:spPr>
          <a:xfrm>
            <a:off x="996696" y="3236976"/>
            <a:ext cx="22404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1F2328"/>
                </a:solidFill>
                <a:latin typeface="Calibri"/>
                <a:ea typeface="Calibri"/>
                <a:cs typeface="Calibri"/>
                <a:sym typeface="Calibri"/>
              </a:rPr>
              <a:t>LLM baseline</a:t>
            </a:r>
            <a:endParaRPr/>
          </a:p>
        </p:txBody>
      </p:sp>
      <p:sp>
        <p:nvSpPr>
          <p:cNvPr id="1368" name="Google Shape;1368;p27"/>
          <p:cNvSpPr/>
          <p:nvPr/>
        </p:nvSpPr>
        <p:spPr>
          <a:xfrm>
            <a:off x="3474720" y="3090672"/>
            <a:ext cx="2606100" cy="603600"/>
          </a:xfrm>
          <a:prstGeom prst="roundRect">
            <a:avLst>
              <a:gd fmla="val 16667" name="adj"/>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9" name="Google Shape;1369;p27"/>
          <p:cNvSpPr txBox="1"/>
          <p:nvPr/>
        </p:nvSpPr>
        <p:spPr>
          <a:xfrm>
            <a:off x="3611879" y="3227832"/>
            <a:ext cx="2368200" cy="329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900" u="none" cap="none" strike="noStrike">
                <a:solidFill>
                  <a:srgbClr val="1F2328"/>
                </a:solidFill>
                <a:latin typeface="Calibri"/>
                <a:ea typeface="Calibri"/>
                <a:cs typeface="Calibri"/>
                <a:sym typeface="Calibri"/>
              </a:rPr>
              <a:t>422 / 397 / 403</a:t>
            </a:r>
            <a:endParaRPr/>
          </a:p>
        </p:txBody>
      </p:sp>
      <p:sp>
        <p:nvSpPr>
          <p:cNvPr id="1370" name="Google Shape;1370;p27"/>
          <p:cNvSpPr/>
          <p:nvPr/>
        </p:nvSpPr>
        <p:spPr>
          <a:xfrm>
            <a:off x="6217920" y="3090672"/>
            <a:ext cx="2606100" cy="603600"/>
          </a:xfrm>
          <a:prstGeom prst="roundRect">
            <a:avLst>
              <a:gd fmla="val 16667" name="adj"/>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1" name="Google Shape;1371;p27"/>
          <p:cNvSpPr txBox="1"/>
          <p:nvPr/>
        </p:nvSpPr>
        <p:spPr>
          <a:xfrm>
            <a:off x="6355080" y="3227832"/>
            <a:ext cx="2368200" cy="329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900" u="none" cap="none" strike="noStrike">
                <a:solidFill>
                  <a:srgbClr val="1F2328"/>
                </a:solidFill>
                <a:latin typeface="Calibri"/>
                <a:ea typeface="Calibri"/>
                <a:cs typeface="Calibri"/>
                <a:sym typeface="Calibri"/>
              </a:rPr>
              <a:t>434 / 440 / 421</a:t>
            </a:r>
            <a:endParaRPr/>
          </a:p>
        </p:txBody>
      </p:sp>
      <p:sp>
        <p:nvSpPr>
          <p:cNvPr id="1372" name="Google Shape;1372;p27"/>
          <p:cNvSpPr/>
          <p:nvPr/>
        </p:nvSpPr>
        <p:spPr>
          <a:xfrm>
            <a:off x="8961120" y="3090672"/>
            <a:ext cx="2423100" cy="603600"/>
          </a:xfrm>
          <a:prstGeom prst="roundRect">
            <a:avLst>
              <a:gd fmla="val 16667" name="adj"/>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3" name="Google Shape;1373;p27"/>
          <p:cNvSpPr txBox="1"/>
          <p:nvPr/>
        </p:nvSpPr>
        <p:spPr>
          <a:xfrm>
            <a:off x="9098280" y="3227832"/>
            <a:ext cx="2185500" cy="329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900" u="none" cap="none" strike="noStrike">
                <a:solidFill>
                  <a:srgbClr val="1F2328"/>
                </a:solidFill>
                <a:latin typeface="Calibri"/>
                <a:ea typeface="Calibri"/>
                <a:cs typeface="Calibri"/>
                <a:sym typeface="Calibri"/>
              </a:rPr>
              <a:t>95 / 74 / 81</a:t>
            </a:r>
            <a:endParaRPr/>
          </a:p>
        </p:txBody>
      </p:sp>
      <p:sp>
        <p:nvSpPr>
          <p:cNvPr id="1374" name="Google Shape;1374;p27"/>
          <p:cNvSpPr/>
          <p:nvPr/>
        </p:nvSpPr>
        <p:spPr>
          <a:xfrm>
            <a:off x="822960" y="3749039"/>
            <a:ext cx="2514600" cy="603600"/>
          </a:xfrm>
          <a:prstGeom prst="roundRect">
            <a:avLst>
              <a:gd fmla="val 16667" name="adj"/>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5" name="Google Shape;1375;p27"/>
          <p:cNvSpPr txBox="1"/>
          <p:nvPr/>
        </p:nvSpPr>
        <p:spPr>
          <a:xfrm>
            <a:off x="996696" y="3895344"/>
            <a:ext cx="22404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1F2328"/>
                </a:solidFill>
                <a:latin typeface="Calibri"/>
                <a:ea typeface="Calibri"/>
                <a:cs typeface="Calibri"/>
                <a:sym typeface="Calibri"/>
              </a:rPr>
              <a:t>Non-Iterative</a:t>
            </a:r>
            <a:endParaRPr/>
          </a:p>
        </p:txBody>
      </p:sp>
      <p:sp>
        <p:nvSpPr>
          <p:cNvPr id="1376" name="Google Shape;1376;p27"/>
          <p:cNvSpPr/>
          <p:nvPr/>
        </p:nvSpPr>
        <p:spPr>
          <a:xfrm>
            <a:off x="3474720" y="3749039"/>
            <a:ext cx="2606100" cy="603600"/>
          </a:xfrm>
          <a:prstGeom prst="roundRect">
            <a:avLst>
              <a:gd fmla="val 16667" name="adj"/>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7" name="Google Shape;1377;p27"/>
          <p:cNvSpPr txBox="1"/>
          <p:nvPr/>
        </p:nvSpPr>
        <p:spPr>
          <a:xfrm>
            <a:off x="3611879" y="3886200"/>
            <a:ext cx="2368200" cy="329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800" u="none" cap="none" strike="noStrike">
                <a:solidFill>
                  <a:srgbClr val="1F2328"/>
                </a:solidFill>
                <a:latin typeface="Calibri"/>
                <a:ea typeface="Calibri"/>
                <a:cs typeface="Calibri"/>
                <a:sym typeface="Calibri"/>
              </a:rPr>
              <a:t>29 / 61 / 18</a:t>
            </a:r>
            <a:endParaRPr/>
          </a:p>
        </p:txBody>
      </p:sp>
      <p:sp>
        <p:nvSpPr>
          <p:cNvPr id="1378" name="Google Shape;1378;p27"/>
          <p:cNvSpPr/>
          <p:nvPr/>
        </p:nvSpPr>
        <p:spPr>
          <a:xfrm>
            <a:off x="6217920" y="3749039"/>
            <a:ext cx="2606100" cy="603600"/>
          </a:xfrm>
          <a:prstGeom prst="roundRect">
            <a:avLst>
              <a:gd fmla="val 16667" name="adj"/>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9" name="Google Shape;1379;p27"/>
          <p:cNvSpPr txBox="1"/>
          <p:nvPr/>
        </p:nvSpPr>
        <p:spPr>
          <a:xfrm>
            <a:off x="6355080" y="3886200"/>
            <a:ext cx="2368200" cy="329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800" u="none" cap="none" strike="noStrike">
                <a:solidFill>
                  <a:srgbClr val="1F2328"/>
                </a:solidFill>
                <a:latin typeface="Calibri"/>
                <a:ea typeface="Calibri"/>
                <a:cs typeface="Calibri"/>
                <a:sym typeface="Calibri"/>
              </a:rPr>
              <a:t>39 / 220 / 27</a:t>
            </a:r>
            <a:endParaRPr/>
          </a:p>
        </p:txBody>
      </p:sp>
      <p:sp>
        <p:nvSpPr>
          <p:cNvPr id="1380" name="Google Shape;1380;p27"/>
          <p:cNvSpPr/>
          <p:nvPr/>
        </p:nvSpPr>
        <p:spPr>
          <a:xfrm>
            <a:off x="8961120" y="3749039"/>
            <a:ext cx="2423100" cy="603600"/>
          </a:xfrm>
          <a:prstGeom prst="roundRect">
            <a:avLst>
              <a:gd fmla="val 16667" name="adj"/>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81" name="Google Shape;1381;p27"/>
          <p:cNvSpPr txBox="1"/>
          <p:nvPr/>
        </p:nvSpPr>
        <p:spPr>
          <a:xfrm>
            <a:off x="9098280" y="3886200"/>
            <a:ext cx="2185500" cy="329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800" u="none" cap="none" strike="noStrike">
                <a:solidFill>
                  <a:srgbClr val="1F2328"/>
                </a:solidFill>
                <a:latin typeface="Calibri"/>
                <a:ea typeface="Calibri"/>
                <a:cs typeface="Calibri"/>
                <a:sym typeface="Calibri"/>
              </a:rPr>
              <a:t>24 / 35 / 14</a:t>
            </a:r>
            <a:endParaRPr/>
          </a:p>
        </p:txBody>
      </p:sp>
      <p:sp>
        <p:nvSpPr>
          <p:cNvPr id="1382" name="Google Shape;1382;p27"/>
          <p:cNvSpPr/>
          <p:nvPr/>
        </p:nvSpPr>
        <p:spPr>
          <a:xfrm>
            <a:off x="822960" y="4407408"/>
            <a:ext cx="2514600" cy="603600"/>
          </a:xfrm>
          <a:prstGeom prst="roundRect">
            <a:avLst>
              <a:gd fmla="val 16667" name="adj"/>
            </a:avLst>
          </a:prstGeom>
          <a:solidFill>
            <a:srgbClr val="E9EEEB"/>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83" name="Google Shape;1383;p27"/>
          <p:cNvSpPr txBox="1"/>
          <p:nvPr/>
        </p:nvSpPr>
        <p:spPr>
          <a:xfrm>
            <a:off x="996696" y="4553712"/>
            <a:ext cx="22404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0B6E4F"/>
                </a:solidFill>
                <a:latin typeface="Calibri"/>
                <a:ea typeface="Calibri"/>
                <a:cs typeface="Calibri"/>
                <a:sym typeface="Calibri"/>
              </a:rPr>
              <a:t>RIGOR</a:t>
            </a:r>
            <a:endParaRPr/>
          </a:p>
        </p:txBody>
      </p:sp>
      <p:sp>
        <p:nvSpPr>
          <p:cNvPr id="1384" name="Google Shape;1384;p27"/>
          <p:cNvSpPr/>
          <p:nvPr/>
        </p:nvSpPr>
        <p:spPr>
          <a:xfrm>
            <a:off x="3474720" y="4407408"/>
            <a:ext cx="2606100" cy="603600"/>
          </a:xfrm>
          <a:prstGeom prst="roundRect">
            <a:avLst>
              <a:gd fmla="val 16667" name="adj"/>
            </a:avLst>
          </a:prstGeom>
          <a:solidFill>
            <a:srgbClr val="E9EEEB"/>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85" name="Google Shape;1385;p27"/>
          <p:cNvSpPr txBox="1"/>
          <p:nvPr/>
        </p:nvSpPr>
        <p:spPr>
          <a:xfrm>
            <a:off x="3611879" y="4544568"/>
            <a:ext cx="2368200" cy="329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800" u="none" cap="none" strike="noStrike">
                <a:solidFill>
                  <a:srgbClr val="0B6E4F"/>
                </a:solidFill>
                <a:latin typeface="Calibri"/>
                <a:ea typeface="Calibri"/>
                <a:cs typeface="Calibri"/>
                <a:sym typeface="Calibri"/>
              </a:rPr>
              <a:t>20 / 23 / 3</a:t>
            </a:r>
            <a:endParaRPr/>
          </a:p>
        </p:txBody>
      </p:sp>
      <p:sp>
        <p:nvSpPr>
          <p:cNvPr id="1386" name="Google Shape;1386;p27"/>
          <p:cNvSpPr/>
          <p:nvPr/>
        </p:nvSpPr>
        <p:spPr>
          <a:xfrm>
            <a:off x="6217920" y="4407408"/>
            <a:ext cx="2606100" cy="603600"/>
          </a:xfrm>
          <a:prstGeom prst="roundRect">
            <a:avLst>
              <a:gd fmla="val 16667" name="adj"/>
            </a:avLst>
          </a:prstGeom>
          <a:solidFill>
            <a:srgbClr val="E9EEEB"/>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87" name="Google Shape;1387;p27"/>
          <p:cNvSpPr txBox="1"/>
          <p:nvPr/>
        </p:nvSpPr>
        <p:spPr>
          <a:xfrm>
            <a:off x="6355080" y="4544568"/>
            <a:ext cx="2368200" cy="329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800" u="none" cap="none" strike="noStrike">
                <a:solidFill>
                  <a:srgbClr val="0B6E4F"/>
                </a:solidFill>
                <a:latin typeface="Calibri"/>
                <a:ea typeface="Calibri"/>
                <a:cs typeface="Calibri"/>
                <a:sym typeface="Calibri"/>
              </a:rPr>
              <a:t>2 / 2 / 26</a:t>
            </a:r>
            <a:endParaRPr/>
          </a:p>
        </p:txBody>
      </p:sp>
      <p:sp>
        <p:nvSpPr>
          <p:cNvPr id="1388" name="Google Shape;1388;p27"/>
          <p:cNvSpPr/>
          <p:nvPr/>
        </p:nvSpPr>
        <p:spPr>
          <a:xfrm>
            <a:off x="8961120" y="4407408"/>
            <a:ext cx="2423100" cy="603600"/>
          </a:xfrm>
          <a:prstGeom prst="roundRect">
            <a:avLst>
              <a:gd fmla="val 16667" name="adj"/>
            </a:avLst>
          </a:prstGeom>
          <a:solidFill>
            <a:srgbClr val="E9EEEB"/>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89" name="Google Shape;1389;p27"/>
          <p:cNvSpPr txBox="1"/>
          <p:nvPr/>
        </p:nvSpPr>
        <p:spPr>
          <a:xfrm>
            <a:off x="9098280" y="4544568"/>
            <a:ext cx="2185500" cy="329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800" u="none" cap="none" strike="noStrike">
                <a:solidFill>
                  <a:srgbClr val="0B6E4F"/>
                </a:solidFill>
                <a:latin typeface="Calibri"/>
                <a:ea typeface="Calibri"/>
                <a:cs typeface="Calibri"/>
                <a:sym typeface="Calibri"/>
              </a:rPr>
              <a:t>0 / 0 / 0</a:t>
            </a:r>
            <a:endParaRPr/>
          </a:p>
        </p:txBody>
      </p:sp>
      <p:sp>
        <p:nvSpPr>
          <p:cNvPr id="1390" name="Google Shape;1390;p27"/>
          <p:cNvSpPr/>
          <p:nvPr/>
        </p:nvSpPr>
        <p:spPr>
          <a:xfrm>
            <a:off x="822960" y="5221224"/>
            <a:ext cx="10561200" cy="530400"/>
          </a:xfrm>
          <a:prstGeom prst="roundRect">
            <a:avLst>
              <a:gd fmla="val 16667" name="adj"/>
            </a:avLst>
          </a:prstGeom>
          <a:solidFill>
            <a:srgbClr val="FFFFFF"/>
          </a:solidFill>
          <a:ln cap="flat" cmpd="sng" w="952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91" name="Google Shape;1391;p27"/>
          <p:cNvSpPr txBox="1"/>
          <p:nvPr/>
        </p:nvSpPr>
        <p:spPr>
          <a:xfrm>
            <a:off x="1024128" y="5340096"/>
            <a:ext cx="10149900" cy="329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1F2328"/>
                </a:solidFill>
                <a:latin typeface="Calibri"/>
                <a:ea typeface="Calibri"/>
                <a:cs typeface="Calibri"/>
                <a:sym typeface="Calibri"/>
              </a:rPr>
              <a:t>RIGOR improves on Non-Iterative in 9/9 matched runs; Chinook has zero findings in all 3.</a:t>
            </a:r>
            <a:endParaRPr/>
          </a:p>
        </p:txBody>
      </p:sp>
      <p:sp>
        <p:nvSpPr>
          <p:cNvPr id="1392" name="Google Shape;1392;p27"/>
          <p:cNvSpPr txBox="1"/>
          <p:nvPr/>
        </p:nvSpPr>
        <p:spPr>
          <a:xfrm>
            <a:off x="850392" y="5925312"/>
            <a:ext cx="10789800" cy="246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5B6770"/>
                </a:solidFill>
                <a:latin typeface="Calibri"/>
                <a:ea typeface="Calibri"/>
                <a:cs typeface="Calibri"/>
                <a:sym typeface="Calibri"/>
              </a:rPr>
              <a:t>Numbers in each LLM cell: Claude / Mistral / DeepSeek. Direct Mapping uses no LLM.</a:t>
            </a:r>
            <a:endParaRPr/>
          </a:p>
        </p:txBody>
      </p:sp>
      <p:sp>
        <p:nvSpPr>
          <p:cNvPr id="1393" name="Google Shape;1393;p27"/>
          <p:cNvSpPr txBox="1"/>
          <p:nvPr/>
        </p:nvSpPr>
        <p:spPr>
          <a:xfrm>
            <a:off x="850392" y="6208776"/>
            <a:ext cx="107898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5B6770"/>
                </a:solidFill>
                <a:latin typeface="Calibri"/>
                <a:ea typeface="Calibri"/>
                <a:cs typeface="Calibri"/>
                <a:sym typeface="Calibri"/>
              </a:rPr>
              <a:t>Interpret carefully: many findings concern missing annotations; critical P19 remains in 3/9 RIGOR runs. Source: Table 7.</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7" name="Shape 1397"/>
        <p:cNvGrpSpPr/>
        <p:nvPr/>
      </p:nvGrpSpPr>
      <p:grpSpPr>
        <a:xfrm>
          <a:off x="0" y="0"/>
          <a:ext cx="0" cy="0"/>
          <a:chOff x="0" y="0"/>
          <a:chExt cx="0" cy="0"/>
        </a:xfrm>
      </p:grpSpPr>
      <p:sp>
        <p:nvSpPr>
          <p:cNvPr id="1398" name="Google Shape;1398;p28"/>
          <p:cNvSpPr txBox="1"/>
          <p:nvPr/>
        </p:nvSpPr>
        <p:spPr>
          <a:xfrm>
            <a:off x="777240" y="347472"/>
            <a:ext cx="100584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onsolas"/>
                <a:ea typeface="Consolas"/>
                <a:cs typeface="Consolas"/>
                <a:sym typeface="Consolas"/>
              </a:rPr>
              <a:t>BACKUP  /  B2</a:t>
            </a:r>
            <a:endParaRPr/>
          </a:p>
        </p:txBody>
      </p:sp>
      <p:sp>
        <p:nvSpPr>
          <p:cNvPr id="1399" name="Google Shape;1399;p28"/>
          <p:cNvSpPr txBox="1"/>
          <p:nvPr/>
        </p:nvSpPr>
        <p:spPr>
          <a:xfrm>
            <a:off x="777240" y="768096"/>
            <a:ext cx="10881300" cy="53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1F2328"/>
                </a:solidFill>
                <a:latin typeface="Cambria"/>
                <a:ea typeface="Cambria"/>
                <a:cs typeface="Cambria"/>
                <a:sym typeface="Cambria"/>
              </a:rPr>
              <a:t>Experts score RIGOR highest on average in both databases.</a:t>
            </a:r>
            <a:endParaRPr/>
          </a:p>
        </p:txBody>
      </p:sp>
      <p:sp>
        <p:nvSpPr>
          <p:cNvPr id="1400" name="Google Shape;1400;p28"/>
          <p:cNvSpPr txBox="1"/>
          <p:nvPr/>
        </p:nvSpPr>
        <p:spPr>
          <a:xfrm>
            <a:off x="777240" y="1371600"/>
            <a:ext cx="10789800" cy="34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Human expert scores (0–5) per quality dimension  ·  10 experts, 2 tables per database  ·  best value per row in bold</a:t>
            </a:r>
            <a:endParaRPr/>
          </a:p>
        </p:txBody>
      </p:sp>
      <p:sp>
        <p:nvSpPr>
          <p:cNvPr id="1401" name="Google Shape;1401;p28"/>
          <p:cNvSpPr txBox="1"/>
          <p:nvPr/>
        </p:nvSpPr>
        <p:spPr>
          <a:xfrm>
            <a:off x="822960" y="1874519"/>
            <a:ext cx="51207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onsolas"/>
                <a:ea typeface="Consolas"/>
                <a:cs typeface="Consolas"/>
                <a:sym typeface="Consolas"/>
              </a:rPr>
              <a:t>Liver cancer</a:t>
            </a:r>
            <a:endParaRPr/>
          </a:p>
        </p:txBody>
      </p:sp>
      <p:sp>
        <p:nvSpPr>
          <p:cNvPr id="1402" name="Google Shape;1402;p28"/>
          <p:cNvSpPr/>
          <p:nvPr/>
        </p:nvSpPr>
        <p:spPr>
          <a:xfrm>
            <a:off x="822960" y="2596896"/>
            <a:ext cx="5139000" cy="9000"/>
          </a:xfrm>
          <a:prstGeom prst="rect">
            <a:avLst/>
          </a:prstGeom>
          <a:solidFill>
            <a:srgbClr val="D9DED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03" name="Google Shape;1403;p28"/>
          <p:cNvSpPr txBox="1"/>
          <p:nvPr/>
        </p:nvSpPr>
        <p:spPr>
          <a:xfrm>
            <a:off x="822960" y="2212848"/>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DIMENSION</a:t>
            </a:r>
            <a:endParaRPr/>
          </a:p>
        </p:txBody>
      </p:sp>
      <p:sp>
        <p:nvSpPr>
          <p:cNvPr id="1404" name="Google Shape;1404;p28"/>
          <p:cNvSpPr txBox="1"/>
          <p:nvPr/>
        </p:nvSpPr>
        <p:spPr>
          <a:xfrm>
            <a:off x="2377440" y="2212848"/>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DIRECT MAP.</a:t>
            </a:r>
            <a:endParaRPr/>
          </a:p>
        </p:txBody>
      </p:sp>
      <p:sp>
        <p:nvSpPr>
          <p:cNvPr id="1405" name="Google Shape;1405;p28"/>
          <p:cNvSpPr txBox="1"/>
          <p:nvPr/>
        </p:nvSpPr>
        <p:spPr>
          <a:xfrm>
            <a:off x="3273552" y="2212848"/>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LLM BASELINE</a:t>
            </a:r>
            <a:endParaRPr/>
          </a:p>
        </p:txBody>
      </p:sp>
      <p:sp>
        <p:nvSpPr>
          <p:cNvPr id="1406" name="Google Shape;1406;p28"/>
          <p:cNvSpPr txBox="1"/>
          <p:nvPr/>
        </p:nvSpPr>
        <p:spPr>
          <a:xfrm>
            <a:off x="4169664" y="2212848"/>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NON-ITER.</a:t>
            </a:r>
            <a:endParaRPr/>
          </a:p>
        </p:txBody>
      </p:sp>
      <p:sp>
        <p:nvSpPr>
          <p:cNvPr id="1407" name="Google Shape;1407;p28"/>
          <p:cNvSpPr txBox="1"/>
          <p:nvPr/>
        </p:nvSpPr>
        <p:spPr>
          <a:xfrm>
            <a:off x="5065776" y="2212848"/>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RIGOR</a:t>
            </a:r>
            <a:endParaRPr/>
          </a:p>
        </p:txBody>
      </p:sp>
      <p:sp>
        <p:nvSpPr>
          <p:cNvPr id="1408" name="Google Shape;1408;p28"/>
          <p:cNvSpPr txBox="1"/>
          <p:nvPr/>
        </p:nvSpPr>
        <p:spPr>
          <a:xfrm>
            <a:off x="822960" y="2615184"/>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Accuracy</a:t>
            </a:r>
            <a:endParaRPr/>
          </a:p>
        </p:txBody>
      </p:sp>
      <p:sp>
        <p:nvSpPr>
          <p:cNvPr id="1409" name="Google Shape;1409;p28"/>
          <p:cNvSpPr txBox="1"/>
          <p:nvPr/>
        </p:nvSpPr>
        <p:spPr>
          <a:xfrm>
            <a:off x="2377440" y="2615184"/>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3.75</a:t>
            </a:r>
            <a:endParaRPr/>
          </a:p>
        </p:txBody>
      </p:sp>
      <p:sp>
        <p:nvSpPr>
          <p:cNvPr id="1410" name="Google Shape;1410;p28"/>
          <p:cNvSpPr txBox="1"/>
          <p:nvPr/>
        </p:nvSpPr>
        <p:spPr>
          <a:xfrm>
            <a:off x="3273552" y="2615184"/>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3.30</a:t>
            </a:r>
            <a:endParaRPr/>
          </a:p>
        </p:txBody>
      </p:sp>
      <p:sp>
        <p:nvSpPr>
          <p:cNvPr id="1411" name="Google Shape;1411;p28"/>
          <p:cNvSpPr txBox="1"/>
          <p:nvPr/>
        </p:nvSpPr>
        <p:spPr>
          <a:xfrm>
            <a:off x="4169664" y="2615184"/>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2.35</a:t>
            </a:r>
            <a:endParaRPr/>
          </a:p>
        </p:txBody>
      </p:sp>
      <p:sp>
        <p:nvSpPr>
          <p:cNvPr id="1412" name="Google Shape;1412;p28"/>
          <p:cNvSpPr txBox="1"/>
          <p:nvPr/>
        </p:nvSpPr>
        <p:spPr>
          <a:xfrm>
            <a:off x="5065776" y="2615184"/>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3.75</a:t>
            </a:r>
            <a:endParaRPr/>
          </a:p>
        </p:txBody>
      </p:sp>
      <p:sp>
        <p:nvSpPr>
          <p:cNvPr id="1413" name="Google Shape;1413;p28"/>
          <p:cNvSpPr/>
          <p:nvPr/>
        </p:nvSpPr>
        <p:spPr>
          <a:xfrm>
            <a:off x="822960" y="2999232"/>
            <a:ext cx="5139000" cy="384000"/>
          </a:xfrm>
          <a:prstGeom prst="rect">
            <a:avLst/>
          </a:prstGeom>
          <a:solidFill>
            <a:srgbClr val="F3F5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14" name="Google Shape;1414;p28"/>
          <p:cNvSpPr txBox="1"/>
          <p:nvPr/>
        </p:nvSpPr>
        <p:spPr>
          <a:xfrm>
            <a:off x="822960" y="2999232"/>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Completeness</a:t>
            </a:r>
            <a:endParaRPr/>
          </a:p>
        </p:txBody>
      </p:sp>
      <p:sp>
        <p:nvSpPr>
          <p:cNvPr id="1415" name="Google Shape;1415;p28"/>
          <p:cNvSpPr txBox="1"/>
          <p:nvPr/>
        </p:nvSpPr>
        <p:spPr>
          <a:xfrm>
            <a:off x="2377440" y="2999232"/>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2.75</a:t>
            </a:r>
            <a:endParaRPr/>
          </a:p>
        </p:txBody>
      </p:sp>
      <p:sp>
        <p:nvSpPr>
          <p:cNvPr id="1416" name="Google Shape;1416;p28"/>
          <p:cNvSpPr txBox="1"/>
          <p:nvPr/>
        </p:nvSpPr>
        <p:spPr>
          <a:xfrm>
            <a:off x="3273552" y="2999232"/>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3.00</a:t>
            </a:r>
            <a:endParaRPr/>
          </a:p>
        </p:txBody>
      </p:sp>
      <p:sp>
        <p:nvSpPr>
          <p:cNvPr id="1417" name="Google Shape;1417;p28"/>
          <p:cNvSpPr txBox="1"/>
          <p:nvPr/>
        </p:nvSpPr>
        <p:spPr>
          <a:xfrm>
            <a:off x="4169664" y="2999232"/>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2.25</a:t>
            </a:r>
            <a:endParaRPr/>
          </a:p>
        </p:txBody>
      </p:sp>
      <p:sp>
        <p:nvSpPr>
          <p:cNvPr id="1418" name="Google Shape;1418;p28"/>
          <p:cNvSpPr txBox="1"/>
          <p:nvPr/>
        </p:nvSpPr>
        <p:spPr>
          <a:xfrm>
            <a:off x="5065776" y="2999232"/>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3.85</a:t>
            </a:r>
            <a:endParaRPr/>
          </a:p>
        </p:txBody>
      </p:sp>
      <p:sp>
        <p:nvSpPr>
          <p:cNvPr id="1419" name="Google Shape;1419;p28"/>
          <p:cNvSpPr txBox="1"/>
          <p:nvPr/>
        </p:nvSpPr>
        <p:spPr>
          <a:xfrm>
            <a:off x="822960" y="3383279"/>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Conciseness</a:t>
            </a:r>
            <a:endParaRPr/>
          </a:p>
        </p:txBody>
      </p:sp>
      <p:sp>
        <p:nvSpPr>
          <p:cNvPr id="1420" name="Google Shape;1420;p28"/>
          <p:cNvSpPr txBox="1"/>
          <p:nvPr/>
        </p:nvSpPr>
        <p:spPr>
          <a:xfrm>
            <a:off x="2377440" y="338327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4.05</a:t>
            </a:r>
            <a:endParaRPr/>
          </a:p>
        </p:txBody>
      </p:sp>
      <p:sp>
        <p:nvSpPr>
          <p:cNvPr id="1421" name="Google Shape;1421;p28"/>
          <p:cNvSpPr txBox="1"/>
          <p:nvPr/>
        </p:nvSpPr>
        <p:spPr>
          <a:xfrm>
            <a:off x="3273552" y="338327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3.65</a:t>
            </a:r>
            <a:endParaRPr/>
          </a:p>
        </p:txBody>
      </p:sp>
      <p:sp>
        <p:nvSpPr>
          <p:cNvPr id="1422" name="Google Shape;1422;p28"/>
          <p:cNvSpPr txBox="1"/>
          <p:nvPr/>
        </p:nvSpPr>
        <p:spPr>
          <a:xfrm>
            <a:off x="4169664" y="338327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2.95</a:t>
            </a:r>
            <a:endParaRPr/>
          </a:p>
        </p:txBody>
      </p:sp>
      <p:sp>
        <p:nvSpPr>
          <p:cNvPr id="1423" name="Google Shape;1423;p28"/>
          <p:cNvSpPr txBox="1"/>
          <p:nvPr/>
        </p:nvSpPr>
        <p:spPr>
          <a:xfrm>
            <a:off x="5065776" y="338327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3.60</a:t>
            </a:r>
            <a:endParaRPr/>
          </a:p>
        </p:txBody>
      </p:sp>
      <p:sp>
        <p:nvSpPr>
          <p:cNvPr id="1424" name="Google Shape;1424;p28"/>
          <p:cNvSpPr/>
          <p:nvPr/>
        </p:nvSpPr>
        <p:spPr>
          <a:xfrm>
            <a:off x="822960" y="3767327"/>
            <a:ext cx="5139000" cy="384000"/>
          </a:xfrm>
          <a:prstGeom prst="rect">
            <a:avLst/>
          </a:prstGeom>
          <a:solidFill>
            <a:srgbClr val="F3F5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5" name="Google Shape;1425;p28"/>
          <p:cNvSpPr txBox="1"/>
          <p:nvPr/>
        </p:nvSpPr>
        <p:spPr>
          <a:xfrm>
            <a:off x="822960" y="3767327"/>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Adaptability</a:t>
            </a:r>
            <a:endParaRPr/>
          </a:p>
        </p:txBody>
      </p:sp>
      <p:sp>
        <p:nvSpPr>
          <p:cNvPr id="1426" name="Google Shape;1426;p28"/>
          <p:cNvSpPr txBox="1"/>
          <p:nvPr/>
        </p:nvSpPr>
        <p:spPr>
          <a:xfrm>
            <a:off x="2377440" y="3767327"/>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2.10</a:t>
            </a:r>
            <a:endParaRPr/>
          </a:p>
        </p:txBody>
      </p:sp>
      <p:sp>
        <p:nvSpPr>
          <p:cNvPr id="1427" name="Google Shape;1427;p28"/>
          <p:cNvSpPr txBox="1"/>
          <p:nvPr/>
        </p:nvSpPr>
        <p:spPr>
          <a:xfrm>
            <a:off x="3273552" y="3767327"/>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1.95</a:t>
            </a:r>
            <a:endParaRPr/>
          </a:p>
        </p:txBody>
      </p:sp>
      <p:sp>
        <p:nvSpPr>
          <p:cNvPr id="1428" name="Google Shape;1428;p28"/>
          <p:cNvSpPr txBox="1"/>
          <p:nvPr/>
        </p:nvSpPr>
        <p:spPr>
          <a:xfrm>
            <a:off x="4169664" y="3767327"/>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1.55</a:t>
            </a:r>
            <a:endParaRPr/>
          </a:p>
        </p:txBody>
      </p:sp>
      <p:sp>
        <p:nvSpPr>
          <p:cNvPr id="1429" name="Google Shape;1429;p28"/>
          <p:cNvSpPr txBox="1"/>
          <p:nvPr/>
        </p:nvSpPr>
        <p:spPr>
          <a:xfrm>
            <a:off x="5065776" y="3767327"/>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2.10</a:t>
            </a:r>
            <a:endParaRPr/>
          </a:p>
        </p:txBody>
      </p:sp>
      <p:sp>
        <p:nvSpPr>
          <p:cNvPr id="1430" name="Google Shape;1430;p28"/>
          <p:cNvSpPr txBox="1"/>
          <p:nvPr/>
        </p:nvSpPr>
        <p:spPr>
          <a:xfrm>
            <a:off x="822960" y="4151375"/>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Clarity</a:t>
            </a:r>
            <a:endParaRPr/>
          </a:p>
        </p:txBody>
      </p:sp>
      <p:sp>
        <p:nvSpPr>
          <p:cNvPr id="1431" name="Google Shape;1431;p28"/>
          <p:cNvSpPr txBox="1"/>
          <p:nvPr/>
        </p:nvSpPr>
        <p:spPr>
          <a:xfrm>
            <a:off x="2377440" y="4151375"/>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2.50</a:t>
            </a:r>
            <a:endParaRPr/>
          </a:p>
        </p:txBody>
      </p:sp>
      <p:sp>
        <p:nvSpPr>
          <p:cNvPr id="1432" name="Google Shape;1432;p28"/>
          <p:cNvSpPr txBox="1"/>
          <p:nvPr/>
        </p:nvSpPr>
        <p:spPr>
          <a:xfrm>
            <a:off x="3273552" y="4151375"/>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2.45</a:t>
            </a:r>
            <a:endParaRPr/>
          </a:p>
        </p:txBody>
      </p:sp>
      <p:sp>
        <p:nvSpPr>
          <p:cNvPr id="1433" name="Google Shape;1433;p28"/>
          <p:cNvSpPr txBox="1"/>
          <p:nvPr/>
        </p:nvSpPr>
        <p:spPr>
          <a:xfrm>
            <a:off x="4169664" y="4151375"/>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2.90</a:t>
            </a:r>
            <a:endParaRPr/>
          </a:p>
        </p:txBody>
      </p:sp>
      <p:sp>
        <p:nvSpPr>
          <p:cNvPr id="1434" name="Google Shape;1434;p28"/>
          <p:cNvSpPr txBox="1"/>
          <p:nvPr/>
        </p:nvSpPr>
        <p:spPr>
          <a:xfrm>
            <a:off x="5065776" y="4151375"/>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3.90</a:t>
            </a:r>
            <a:endParaRPr/>
          </a:p>
        </p:txBody>
      </p:sp>
      <p:sp>
        <p:nvSpPr>
          <p:cNvPr id="1435" name="Google Shape;1435;p28"/>
          <p:cNvSpPr/>
          <p:nvPr/>
        </p:nvSpPr>
        <p:spPr>
          <a:xfrm>
            <a:off x="822960" y="4535423"/>
            <a:ext cx="5139000" cy="384000"/>
          </a:xfrm>
          <a:prstGeom prst="rect">
            <a:avLst/>
          </a:prstGeom>
          <a:solidFill>
            <a:srgbClr val="F3F5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6" name="Google Shape;1436;p28"/>
          <p:cNvSpPr txBox="1"/>
          <p:nvPr/>
        </p:nvSpPr>
        <p:spPr>
          <a:xfrm>
            <a:off x="822960" y="4535423"/>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Consistency</a:t>
            </a:r>
            <a:endParaRPr/>
          </a:p>
        </p:txBody>
      </p:sp>
      <p:sp>
        <p:nvSpPr>
          <p:cNvPr id="1437" name="Google Shape;1437;p28"/>
          <p:cNvSpPr txBox="1"/>
          <p:nvPr/>
        </p:nvSpPr>
        <p:spPr>
          <a:xfrm>
            <a:off x="2377440" y="4535423"/>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3.30</a:t>
            </a:r>
            <a:endParaRPr/>
          </a:p>
        </p:txBody>
      </p:sp>
      <p:sp>
        <p:nvSpPr>
          <p:cNvPr id="1438" name="Google Shape;1438;p28"/>
          <p:cNvSpPr txBox="1"/>
          <p:nvPr/>
        </p:nvSpPr>
        <p:spPr>
          <a:xfrm>
            <a:off x="3273552" y="4535423"/>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2.85</a:t>
            </a:r>
            <a:endParaRPr/>
          </a:p>
        </p:txBody>
      </p:sp>
      <p:sp>
        <p:nvSpPr>
          <p:cNvPr id="1439" name="Google Shape;1439;p28"/>
          <p:cNvSpPr txBox="1"/>
          <p:nvPr/>
        </p:nvSpPr>
        <p:spPr>
          <a:xfrm>
            <a:off x="4169664" y="4535423"/>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2.35</a:t>
            </a:r>
            <a:endParaRPr/>
          </a:p>
        </p:txBody>
      </p:sp>
      <p:sp>
        <p:nvSpPr>
          <p:cNvPr id="1440" name="Google Shape;1440;p28"/>
          <p:cNvSpPr txBox="1"/>
          <p:nvPr/>
        </p:nvSpPr>
        <p:spPr>
          <a:xfrm>
            <a:off x="5065776" y="4535423"/>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3.35</a:t>
            </a:r>
            <a:endParaRPr/>
          </a:p>
        </p:txBody>
      </p:sp>
      <p:sp>
        <p:nvSpPr>
          <p:cNvPr id="1441" name="Google Shape;1441;p28"/>
          <p:cNvSpPr txBox="1"/>
          <p:nvPr/>
        </p:nvSpPr>
        <p:spPr>
          <a:xfrm>
            <a:off x="822960" y="4919471"/>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Domain enrichment</a:t>
            </a:r>
            <a:endParaRPr/>
          </a:p>
        </p:txBody>
      </p:sp>
      <p:sp>
        <p:nvSpPr>
          <p:cNvPr id="1442" name="Google Shape;1442;p28"/>
          <p:cNvSpPr txBox="1"/>
          <p:nvPr/>
        </p:nvSpPr>
        <p:spPr>
          <a:xfrm>
            <a:off x="2377440" y="4919471"/>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2.20</a:t>
            </a:r>
            <a:endParaRPr/>
          </a:p>
        </p:txBody>
      </p:sp>
      <p:sp>
        <p:nvSpPr>
          <p:cNvPr id="1443" name="Google Shape;1443;p28"/>
          <p:cNvSpPr txBox="1"/>
          <p:nvPr/>
        </p:nvSpPr>
        <p:spPr>
          <a:xfrm>
            <a:off x="3273552" y="4919471"/>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2.00</a:t>
            </a:r>
            <a:endParaRPr/>
          </a:p>
        </p:txBody>
      </p:sp>
      <p:sp>
        <p:nvSpPr>
          <p:cNvPr id="1444" name="Google Shape;1444;p28"/>
          <p:cNvSpPr txBox="1"/>
          <p:nvPr/>
        </p:nvSpPr>
        <p:spPr>
          <a:xfrm>
            <a:off x="4169664" y="4919471"/>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2.35</a:t>
            </a:r>
            <a:endParaRPr/>
          </a:p>
        </p:txBody>
      </p:sp>
      <p:sp>
        <p:nvSpPr>
          <p:cNvPr id="1445" name="Google Shape;1445;p28"/>
          <p:cNvSpPr txBox="1"/>
          <p:nvPr/>
        </p:nvSpPr>
        <p:spPr>
          <a:xfrm>
            <a:off x="5065776" y="4919471"/>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3.50</a:t>
            </a:r>
            <a:endParaRPr/>
          </a:p>
        </p:txBody>
      </p:sp>
      <p:sp>
        <p:nvSpPr>
          <p:cNvPr id="1446" name="Google Shape;1446;p28"/>
          <p:cNvSpPr/>
          <p:nvPr/>
        </p:nvSpPr>
        <p:spPr>
          <a:xfrm>
            <a:off x="822960" y="5303519"/>
            <a:ext cx="5139000" cy="384000"/>
          </a:xfrm>
          <a:prstGeom prst="rect">
            <a:avLst/>
          </a:prstGeom>
          <a:solidFill>
            <a:srgbClr val="F3F5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47" name="Google Shape;1447;p28"/>
          <p:cNvSpPr txBox="1"/>
          <p:nvPr/>
        </p:nvSpPr>
        <p:spPr>
          <a:xfrm>
            <a:off x="822960" y="5303519"/>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Average</a:t>
            </a:r>
            <a:endParaRPr/>
          </a:p>
        </p:txBody>
      </p:sp>
      <p:sp>
        <p:nvSpPr>
          <p:cNvPr id="1448" name="Google Shape;1448;p28"/>
          <p:cNvSpPr txBox="1"/>
          <p:nvPr/>
        </p:nvSpPr>
        <p:spPr>
          <a:xfrm>
            <a:off x="2377440" y="530351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2.95</a:t>
            </a:r>
            <a:endParaRPr/>
          </a:p>
        </p:txBody>
      </p:sp>
      <p:sp>
        <p:nvSpPr>
          <p:cNvPr id="1449" name="Google Shape;1449;p28"/>
          <p:cNvSpPr txBox="1"/>
          <p:nvPr/>
        </p:nvSpPr>
        <p:spPr>
          <a:xfrm>
            <a:off x="3273552" y="530351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2.74</a:t>
            </a:r>
            <a:endParaRPr/>
          </a:p>
        </p:txBody>
      </p:sp>
      <p:sp>
        <p:nvSpPr>
          <p:cNvPr id="1450" name="Google Shape;1450;p28"/>
          <p:cNvSpPr txBox="1"/>
          <p:nvPr/>
        </p:nvSpPr>
        <p:spPr>
          <a:xfrm>
            <a:off x="4169664" y="530351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2.39</a:t>
            </a:r>
            <a:endParaRPr/>
          </a:p>
        </p:txBody>
      </p:sp>
      <p:sp>
        <p:nvSpPr>
          <p:cNvPr id="1451" name="Google Shape;1451;p28"/>
          <p:cNvSpPr txBox="1"/>
          <p:nvPr/>
        </p:nvSpPr>
        <p:spPr>
          <a:xfrm>
            <a:off x="5065776" y="530351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3.44</a:t>
            </a:r>
            <a:endParaRPr/>
          </a:p>
        </p:txBody>
      </p:sp>
      <p:sp>
        <p:nvSpPr>
          <p:cNvPr id="1452" name="Google Shape;1452;p28"/>
          <p:cNvSpPr txBox="1"/>
          <p:nvPr/>
        </p:nvSpPr>
        <p:spPr>
          <a:xfrm>
            <a:off x="6172200" y="1874519"/>
            <a:ext cx="51207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onsolas"/>
                <a:ea typeface="Consolas"/>
                <a:cs typeface="Consolas"/>
                <a:sym typeface="Consolas"/>
              </a:rPr>
              <a:t>eICU-CRD</a:t>
            </a:r>
            <a:endParaRPr/>
          </a:p>
        </p:txBody>
      </p:sp>
      <p:sp>
        <p:nvSpPr>
          <p:cNvPr id="1453" name="Google Shape;1453;p28"/>
          <p:cNvSpPr/>
          <p:nvPr/>
        </p:nvSpPr>
        <p:spPr>
          <a:xfrm>
            <a:off x="6172200" y="2596896"/>
            <a:ext cx="5139000" cy="9000"/>
          </a:xfrm>
          <a:prstGeom prst="rect">
            <a:avLst/>
          </a:prstGeom>
          <a:solidFill>
            <a:srgbClr val="D9DED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54" name="Google Shape;1454;p28"/>
          <p:cNvSpPr txBox="1"/>
          <p:nvPr/>
        </p:nvSpPr>
        <p:spPr>
          <a:xfrm>
            <a:off x="6172200" y="2212848"/>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DIMENSION</a:t>
            </a:r>
            <a:endParaRPr/>
          </a:p>
        </p:txBody>
      </p:sp>
      <p:sp>
        <p:nvSpPr>
          <p:cNvPr id="1455" name="Google Shape;1455;p28"/>
          <p:cNvSpPr txBox="1"/>
          <p:nvPr/>
        </p:nvSpPr>
        <p:spPr>
          <a:xfrm>
            <a:off x="7726679" y="2212848"/>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DIRECT MAP.</a:t>
            </a:r>
            <a:endParaRPr/>
          </a:p>
        </p:txBody>
      </p:sp>
      <p:sp>
        <p:nvSpPr>
          <p:cNvPr id="1456" name="Google Shape;1456;p28"/>
          <p:cNvSpPr txBox="1"/>
          <p:nvPr/>
        </p:nvSpPr>
        <p:spPr>
          <a:xfrm>
            <a:off x="8622792" y="2212848"/>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LLM BASELINE</a:t>
            </a:r>
            <a:endParaRPr/>
          </a:p>
        </p:txBody>
      </p:sp>
      <p:sp>
        <p:nvSpPr>
          <p:cNvPr id="1457" name="Google Shape;1457;p28"/>
          <p:cNvSpPr txBox="1"/>
          <p:nvPr/>
        </p:nvSpPr>
        <p:spPr>
          <a:xfrm>
            <a:off x="9518904" y="2212848"/>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NON-ITER.</a:t>
            </a:r>
            <a:endParaRPr/>
          </a:p>
        </p:txBody>
      </p:sp>
      <p:sp>
        <p:nvSpPr>
          <p:cNvPr id="1458" name="Google Shape;1458;p28"/>
          <p:cNvSpPr txBox="1"/>
          <p:nvPr/>
        </p:nvSpPr>
        <p:spPr>
          <a:xfrm>
            <a:off x="10415016" y="2212848"/>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RIGOR</a:t>
            </a:r>
            <a:endParaRPr/>
          </a:p>
        </p:txBody>
      </p:sp>
      <p:sp>
        <p:nvSpPr>
          <p:cNvPr id="1459" name="Google Shape;1459;p28"/>
          <p:cNvSpPr txBox="1"/>
          <p:nvPr/>
        </p:nvSpPr>
        <p:spPr>
          <a:xfrm>
            <a:off x="6172200" y="2615184"/>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Accuracy</a:t>
            </a:r>
            <a:endParaRPr/>
          </a:p>
        </p:txBody>
      </p:sp>
      <p:sp>
        <p:nvSpPr>
          <p:cNvPr id="1460" name="Google Shape;1460;p28"/>
          <p:cNvSpPr txBox="1"/>
          <p:nvPr/>
        </p:nvSpPr>
        <p:spPr>
          <a:xfrm>
            <a:off x="7726679" y="2615184"/>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3.05</a:t>
            </a:r>
            <a:endParaRPr/>
          </a:p>
        </p:txBody>
      </p:sp>
      <p:sp>
        <p:nvSpPr>
          <p:cNvPr id="1461" name="Google Shape;1461;p28"/>
          <p:cNvSpPr txBox="1"/>
          <p:nvPr/>
        </p:nvSpPr>
        <p:spPr>
          <a:xfrm>
            <a:off x="8622792" y="2615184"/>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3.90</a:t>
            </a:r>
            <a:endParaRPr/>
          </a:p>
        </p:txBody>
      </p:sp>
      <p:sp>
        <p:nvSpPr>
          <p:cNvPr id="1462" name="Google Shape;1462;p28"/>
          <p:cNvSpPr txBox="1"/>
          <p:nvPr/>
        </p:nvSpPr>
        <p:spPr>
          <a:xfrm>
            <a:off x="9518904" y="2615184"/>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0.85</a:t>
            </a:r>
            <a:endParaRPr/>
          </a:p>
        </p:txBody>
      </p:sp>
      <p:sp>
        <p:nvSpPr>
          <p:cNvPr id="1463" name="Google Shape;1463;p28"/>
          <p:cNvSpPr txBox="1"/>
          <p:nvPr/>
        </p:nvSpPr>
        <p:spPr>
          <a:xfrm>
            <a:off x="10415016" y="2615184"/>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4.00</a:t>
            </a:r>
            <a:endParaRPr/>
          </a:p>
        </p:txBody>
      </p:sp>
      <p:sp>
        <p:nvSpPr>
          <p:cNvPr id="1464" name="Google Shape;1464;p28"/>
          <p:cNvSpPr/>
          <p:nvPr/>
        </p:nvSpPr>
        <p:spPr>
          <a:xfrm>
            <a:off x="6172200" y="2999232"/>
            <a:ext cx="5139000" cy="384000"/>
          </a:xfrm>
          <a:prstGeom prst="rect">
            <a:avLst/>
          </a:prstGeom>
          <a:solidFill>
            <a:srgbClr val="F3F5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65" name="Google Shape;1465;p28"/>
          <p:cNvSpPr txBox="1"/>
          <p:nvPr/>
        </p:nvSpPr>
        <p:spPr>
          <a:xfrm>
            <a:off x="6172200" y="2999232"/>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Completeness</a:t>
            </a:r>
            <a:endParaRPr/>
          </a:p>
        </p:txBody>
      </p:sp>
      <p:sp>
        <p:nvSpPr>
          <p:cNvPr id="1466" name="Google Shape;1466;p28"/>
          <p:cNvSpPr txBox="1"/>
          <p:nvPr/>
        </p:nvSpPr>
        <p:spPr>
          <a:xfrm>
            <a:off x="7726679" y="2999232"/>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2.45</a:t>
            </a:r>
            <a:endParaRPr/>
          </a:p>
        </p:txBody>
      </p:sp>
      <p:sp>
        <p:nvSpPr>
          <p:cNvPr id="1467" name="Google Shape;1467;p28"/>
          <p:cNvSpPr txBox="1"/>
          <p:nvPr/>
        </p:nvSpPr>
        <p:spPr>
          <a:xfrm>
            <a:off x="8622792" y="2999232"/>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3.10</a:t>
            </a:r>
            <a:endParaRPr/>
          </a:p>
        </p:txBody>
      </p:sp>
      <p:sp>
        <p:nvSpPr>
          <p:cNvPr id="1468" name="Google Shape;1468;p28"/>
          <p:cNvSpPr txBox="1"/>
          <p:nvPr/>
        </p:nvSpPr>
        <p:spPr>
          <a:xfrm>
            <a:off x="9518904" y="2999232"/>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0.80</a:t>
            </a:r>
            <a:endParaRPr/>
          </a:p>
        </p:txBody>
      </p:sp>
      <p:sp>
        <p:nvSpPr>
          <p:cNvPr id="1469" name="Google Shape;1469;p28"/>
          <p:cNvSpPr txBox="1"/>
          <p:nvPr/>
        </p:nvSpPr>
        <p:spPr>
          <a:xfrm>
            <a:off x="10415016" y="2999232"/>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4.10</a:t>
            </a:r>
            <a:endParaRPr/>
          </a:p>
        </p:txBody>
      </p:sp>
      <p:sp>
        <p:nvSpPr>
          <p:cNvPr id="1470" name="Google Shape;1470;p28"/>
          <p:cNvSpPr txBox="1"/>
          <p:nvPr/>
        </p:nvSpPr>
        <p:spPr>
          <a:xfrm>
            <a:off x="6172200" y="3383279"/>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Conciseness</a:t>
            </a:r>
            <a:endParaRPr/>
          </a:p>
        </p:txBody>
      </p:sp>
      <p:sp>
        <p:nvSpPr>
          <p:cNvPr id="1471" name="Google Shape;1471;p28"/>
          <p:cNvSpPr txBox="1"/>
          <p:nvPr/>
        </p:nvSpPr>
        <p:spPr>
          <a:xfrm>
            <a:off x="7726679" y="338327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3.65</a:t>
            </a:r>
            <a:endParaRPr/>
          </a:p>
        </p:txBody>
      </p:sp>
      <p:sp>
        <p:nvSpPr>
          <p:cNvPr id="1472" name="Google Shape;1472;p28"/>
          <p:cNvSpPr txBox="1"/>
          <p:nvPr/>
        </p:nvSpPr>
        <p:spPr>
          <a:xfrm>
            <a:off x="8622792" y="338327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3.80</a:t>
            </a:r>
            <a:endParaRPr/>
          </a:p>
        </p:txBody>
      </p:sp>
      <p:sp>
        <p:nvSpPr>
          <p:cNvPr id="1473" name="Google Shape;1473;p28"/>
          <p:cNvSpPr txBox="1"/>
          <p:nvPr/>
        </p:nvSpPr>
        <p:spPr>
          <a:xfrm>
            <a:off x="9518904" y="338327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2.05</a:t>
            </a:r>
            <a:endParaRPr/>
          </a:p>
        </p:txBody>
      </p:sp>
      <p:sp>
        <p:nvSpPr>
          <p:cNvPr id="1474" name="Google Shape;1474;p28"/>
          <p:cNvSpPr txBox="1"/>
          <p:nvPr/>
        </p:nvSpPr>
        <p:spPr>
          <a:xfrm>
            <a:off x="10415016" y="338327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3.80</a:t>
            </a:r>
            <a:endParaRPr/>
          </a:p>
        </p:txBody>
      </p:sp>
      <p:sp>
        <p:nvSpPr>
          <p:cNvPr id="1475" name="Google Shape;1475;p28"/>
          <p:cNvSpPr/>
          <p:nvPr/>
        </p:nvSpPr>
        <p:spPr>
          <a:xfrm>
            <a:off x="6172200" y="3767327"/>
            <a:ext cx="5139000" cy="384000"/>
          </a:xfrm>
          <a:prstGeom prst="rect">
            <a:avLst/>
          </a:prstGeom>
          <a:solidFill>
            <a:srgbClr val="F3F5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76" name="Google Shape;1476;p28"/>
          <p:cNvSpPr txBox="1"/>
          <p:nvPr/>
        </p:nvSpPr>
        <p:spPr>
          <a:xfrm>
            <a:off x="6172200" y="3767327"/>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Adaptability</a:t>
            </a:r>
            <a:endParaRPr/>
          </a:p>
        </p:txBody>
      </p:sp>
      <p:sp>
        <p:nvSpPr>
          <p:cNvPr id="1477" name="Google Shape;1477;p28"/>
          <p:cNvSpPr txBox="1"/>
          <p:nvPr/>
        </p:nvSpPr>
        <p:spPr>
          <a:xfrm>
            <a:off x="7726679" y="3767327"/>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1.90</a:t>
            </a:r>
            <a:endParaRPr/>
          </a:p>
        </p:txBody>
      </p:sp>
      <p:sp>
        <p:nvSpPr>
          <p:cNvPr id="1478" name="Google Shape;1478;p28"/>
          <p:cNvSpPr txBox="1"/>
          <p:nvPr/>
        </p:nvSpPr>
        <p:spPr>
          <a:xfrm>
            <a:off x="8622792" y="3767327"/>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2.10</a:t>
            </a:r>
            <a:endParaRPr/>
          </a:p>
        </p:txBody>
      </p:sp>
      <p:sp>
        <p:nvSpPr>
          <p:cNvPr id="1479" name="Google Shape;1479;p28"/>
          <p:cNvSpPr txBox="1"/>
          <p:nvPr/>
        </p:nvSpPr>
        <p:spPr>
          <a:xfrm>
            <a:off x="9518904" y="3767327"/>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1.00</a:t>
            </a:r>
            <a:endParaRPr/>
          </a:p>
        </p:txBody>
      </p:sp>
      <p:sp>
        <p:nvSpPr>
          <p:cNvPr id="1480" name="Google Shape;1480;p28"/>
          <p:cNvSpPr txBox="1"/>
          <p:nvPr/>
        </p:nvSpPr>
        <p:spPr>
          <a:xfrm>
            <a:off x="10415016" y="3767327"/>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2.20</a:t>
            </a:r>
            <a:endParaRPr/>
          </a:p>
        </p:txBody>
      </p:sp>
      <p:sp>
        <p:nvSpPr>
          <p:cNvPr id="1481" name="Google Shape;1481;p28"/>
          <p:cNvSpPr txBox="1"/>
          <p:nvPr/>
        </p:nvSpPr>
        <p:spPr>
          <a:xfrm>
            <a:off x="6172200" y="4151375"/>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Clarity</a:t>
            </a:r>
            <a:endParaRPr/>
          </a:p>
        </p:txBody>
      </p:sp>
      <p:sp>
        <p:nvSpPr>
          <p:cNvPr id="1482" name="Google Shape;1482;p28"/>
          <p:cNvSpPr txBox="1"/>
          <p:nvPr/>
        </p:nvSpPr>
        <p:spPr>
          <a:xfrm>
            <a:off x="7726679" y="4151375"/>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2.55</a:t>
            </a:r>
            <a:endParaRPr/>
          </a:p>
        </p:txBody>
      </p:sp>
      <p:sp>
        <p:nvSpPr>
          <p:cNvPr id="1483" name="Google Shape;1483;p28"/>
          <p:cNvSpPr txBox="1"/>
          <p:nvPr/>
        </p:nvSpPr>
        <p:spPr>
          <a:xfrm>
            <a:off x="8622792" y="4151375"/>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2.75</a:t>
            </a:r>
            <a:endParaRPr/>
          </a:p>
        </p:txBody>
      </p:sp>
      <p:sp>
        <p:nvSpPr>
          <p:cNvPr id="1484" name="Google Shape;1484;p28"/>
          <p:cNvSpPr txBox="1"/>
          <p:nvPr/>
        </p:nvSpPr>
        <p:spPr>
          <a:xfrm>
            <a:off x="9518904" y="4151375"/>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1.50</a:t>
            </a:r>
            <a:endParaRPr/>
          </a:p>
        </p:txBody>
      </p:sp>
      <p:sp>
        <p:nvSpPr>
          <p:cNvPr id="1485" name="Google Shape;1485;p28"/>
          <p:cNvSpPr txBox="1"/>
          <p:nvPr/>
        </p:nvSpPr>
        <p:spPr>
          <a:xfrm>
            <a:off x="10415016" y="4151375"/>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4.10</a:t>
            </a:r>
            <a:endParaRPr/>
          </a:p>
        </p:txBody>
      </p:sp>
      <p:sp>
        <p:nvSpPr>
          <p:cNvPr id="1486" name="Google Shape;1486;p28"/>
          <p:cNvSpPr/>
          <p:nvPr/>
        </p:nvSpPr>
        <p:spPr>
          <a:xfrm>
            <a:off x="6172200" y="4535423"/>
            <a:ext cx="5139000" cy="384000"/>
          </a:xfrm>
          <a:prstGeom prst="rect">
            <a:avLst/>
          </a:prstGeom>
          <a:solidFill>
            <a:srgbClr val="F3F5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87" name="Google Shape;1487;p28"/>
          <p:cNvSpPr txBox="1"/>
          <p:nvPr/>
        </p:nvSpPr>
        <p:spPr>
          <a:xfrm>
            <a:off x="6172200" y="4535423"/>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Consistency</a:t>
            </a:r>
            <a:endParaRPr/>
          </a:p>
        </p:txBody>
      </p:sp>
      <p:sp>
        <p:nvSpPr>
          <p:cNvPr id="1488" name="Google Shape;1488;p28"/>
          <p:cNvSpPr txBox="1"/>
          <p:nvPr/>
        </p:nvSpPr>
        <p:spPr>
          <a:xfrm>
            <a:off x="7726679" y="4535423"/>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2.60</a:t>
            </a:r>
            <a:endParaRPr/>
          </a:p>
        </p:txBody>
      </p:sp>
      <p:sp>
        <p:nvSpPr>
          <p:cNvPr id="1489" name="Google Shape;1489;p28"/>
          <p:cNvSpPr txBox="1"/>
          <p:nvPr/>
        </p:nvSpPr>
        <p:spPr>
          <a:xfrm>
            <a:off x="8622792" y="4535423"/>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3.40</a:t>
            </a:r>
            <a:endParaRPr/>
          </a:p>
        </p:txBody>
      </p:sp>
      <p:sp>
        <p:nvSpPr>
          <p:cNvPr id="1490" name="Google Shape;1490;p28"/>
          <p:cNvSpPr txBox="1"/>
          <p:nvPr/>
        </p:nvSpPr>
        <p:spPr>
          <a:xfrm>
            <a:off x="9518904" y="4535423"/>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1.30</a:t>
            </a:r>
            <a:endParaRPr/>
          </a:p>
        </p:txBody>
      </p:sp>
      <p:sp>
        <p:nvSpPr>
          <p:cNvPr id="1491" name="Google Shape;1491;p28"/>
          <p:cNvSpPr txBox="1"/>
          <p:nvPr/>
        </p:nvSpPr>
        <p:spPr>
          <a:xfrm>
            <a:off x="10415016" y="4535423"/>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3.15</a:t>
            </a:r>
            <a:endParaRPr/>
          </a:p>
        </p:txBody>
      </p:sp>
      <p:sp>
        <p:nvSpPr>
          <p:cNvPr id="1492" name="Google Shape;1492;p28"/>
          <p:cNvSpPr txBox="1"/>
          <p:nvPr/>
        </p:nvSpPr>
        <p:spPr>
          <a:xfrm>
            <a:off x="6172200" y="4919471"/>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Domain enrichment</a:t>
            </a:r>
            <a:endParaRPr/>
          </a:p>
        </p:txBody>
      </p:sp>
      <p:sp>
        <p:nvSpPr>
          <p:cNvPr id="1493" name="Google Shape;1493;p28"/>
          <p:cNvSpPr txBox="1"/>
          <p:nvPr/>
        </p:nvSpPr>
        <p:spPr>
          <a:xfrm>
            <a:off x="7726679" y="4919471"/>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1.90</a:t>
            </a:r>
            <a:endParaRPr/>
          </a:p>
        </p:txBody>
      </p:sp>
      <p:sp>
        <p:nvSpPr>
          <p:cNvPr id="1494" name="Google Shape;1494;p28"/>
          <p:cNvSpPr txBox="1"/>
          <p:nvPr/>
        </p:nvSpPr>
        <p:spPr>
          <a:xfrm>
            <a:off x="8622792" y="4919471"/>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2.00</a:t>
            </a:r>
            <a:endParaRPr/>
          </a:p>
        </p:txBody>
      </p:sp>
      <p:sp>
        <p:nvSpPr>
          <p:cNvPr id="1495" name="Google Shape;1495;p28"/>
          <p:cNvSpPr txBox="1"/>
          <p:nvPr/>
        </p:nvSpPr>
        <p:spPr>
          <a:xfrm>
            <a:off x="9518904" y="4919471"/>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1.15</a:t>
            </a:r>
            <a:endParaRPr/>
          </a:p>
        </p:txBody>
      </p:sp>
      <p:sp>
        <p:nvSpPr>
          <p:cNvPr id="1496" name="Google Shape;1496;p28"/>
          <p:cNvSpPr txBox="1"/>
          <p:nvPr/>
        </p:nvSpPr>
        <p:spPr>
          <a:xfrm>
            <a:off x="10415016" y="4919471"/>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3.35</a:t>
            </a:r>
            <a:endParaRPr/>
          </a:p>
        </p:txBody>
      </p:sp>
      <p:sp>
        <p:nvSpPr>
          <p:cNvPr id="1497" name="Google Shape;1497;p28"/>
          <p:cNvSpPr/>
          <p:nvPr/>
        </p:nvSpPr>
        <p:spPr>
          <a:xfrm>
            <a:off x="6172200" y="5303519"/>
            <a:ext cx="5139000" cy="384000"/>
          </a:xfrm>
          <a:prstGeom prst="rect">
            <a:avLst/>
          </a:prstGeom>
          <a:solidFill>
            <a:srgbClr val="F3F5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98" name="Google Shape;1498;p28"/>
          <p:cNvSpPr txBox="1"/>
          <p:nvPr/>
        </p:nvSpPr>
        <p:spPr>
          <a:xfrm>
            <a:off x="6172200" y="5303519"/>
            <a:ext cx="1554600" cy="3840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Average</a:t>
            </a:r>
            <a:endParaRPr/>
          </a:p>
        </p:txBody>
      </p:sp>
      <p:sp>
        <p:nvSpPr>
          <p:cNvPr id="1499" name="Google Shape;1499;p28"/>
          <p:cNvSpPr txBox="1"/>
          <p:nvPr/>
        </p:nvSpPr>
        <p:spPr>
          <a:xfrm>
            <a:off x="7726679" y="530351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2.59</a:t>
            </a:r>
            <a:endParaRPr/>
          </a:p>
        </p:txBody>
      </p:sp>
      <p:sp>
        <p:nvSpPr>
          <p:cNvPr id="1500" name="Google Shape;1500;p28"/>
          <p:cNvSpPr txBox="1"/>
          <p:nvPr/>
        </p:nvSpPr>
        <p:spPr>
          <a:xfrm>
            <a:off x="8622792" y="530351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3.01</a:t>
            </a:r>
            <a:endParaRPr/>
          </a:p>
        </p:txBody>
      </p:sp>
      <p:sp>
        <p:nvSpPr>
          <p:cNvPr id="1501" name="Google Shape;1501;p28"/>
          <p:cNvSpPr txBox="1"/>
          <p:nvPr/>
        </p:nvSpPr>
        <p:spPr>
          <a:xfrm>
            <a:off x="9518904" y="530351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150" u="none" cap="none" strike="noStrike">
                <a:solidFill>
                  <a:srgbClr val="1F2328"/>
                </a:solidFill>
                <a:latin typeface="Calibri"/>
                <a:ea typeface="Calibri"/>
                <a:cs typeface="Calibri"/>
                <a:sym typeface="Calibri"/>
              </a:rPr>
              <a:t>1.24</a:t>
            </a:r>
            <a:endParaRPr/>
          </a:p>
        </p:txBody>
      </p:sp>
      <p:sp>
        <p:nvSpPr>
          <p:cNvPr id="1502" name="Google Shape;1502;p28"/>
          <p:cNvSpPr txBox="1"/>
          <p:nvPr/>
        </p:nvSpPr>
        <p:spPr>
          <a:xfrm>
            <a:off x="10415016" y="5303519"/>
            <a:ext cx="896100" cy="3840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3.53</a:t>
            </a:r>
            <a:endParaRPr/>
          </a:p>
        </p:txBody>
      </p:sp>
      <p:sp>
        <p:nvSpPr>
          <p:cNvPr id="1503" name="Google Shape;1503;p28"/>
          <p:cNvSpPr txBox="1"/>
          <p:nvPr/>
        </p:nvSpPr>
        <p:spPr>
          <a:xfrm>
            <a:off x="850392" y="6053328"/>
            <a:ext cx="104883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Where RIGOR is not best: Conciseness (Direct Mapping on liver cancer), Consistency (LLM baseline on eICU-CRD).  Source: paper Table 11; LLM-judge scores in Table 10.</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7" name="Shape 1507"/>
        <p:cNvGrpSpPr/>
        <p:nvPr/>
      </p:nvGrpSpPr>
      <p:grpSpPr>
        <a:xfrm>
          <a:off x="0" y="0"/>
          <a:ext cx="0" cy="0"/>
          <a:chOff x="0" y="0"/>
          <a:chExt cx="0" cy="0"/>
        </a:xfrm>
      </p:grpSpPr>
      <p:sp>
        <p:nvSpPr>
          <p:cNvPr id="1508" name="Google Shape;1508;p29"/>
          <p:cNvSpPr txBox="1"/>
          <p:nvPr/>
        </p:nvSpPr>
        <p:spPr>
          <a:xfrm>
            <a:off x="777240" y="347472"/>
            <a:ext cx="100584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onsolas"/>
                <a:ea typeface="Consolas"/>
                <a:cs typeface="Consolas"/>
                <a:sym typeface="Consolas"/>
              </a:rPr>
              <a:t>BACKUP  /  B3</a:t>
            </a:r>
            <a:endParaRPr/>
          </a:p>
        </p:txBody>
      </p:sp>
      <p:sp>
        <p:nvSpPr>
          <p:cNvPr id="1509" name="Google Shape;1509;p29"/>
          <p:cNvSpPr txBox="1"/>
          <p:nvPr/>
        </p:nvSpPr>
        <p:spPr>
          <a:xfrm>
            <a:off x="777240" y="768096"/>
            <a:ext cx="10881300" cy="53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1F2328"/>
                </a:solidFill>
                <a:latin typeface="Cambria"/>
                <a:ea typeface="Cambria"/>
                <a:cs typeface="Cambria"/>
                <a:sym typeface="Cambria"/>
              </a:rPr>
              <a:t>Full retrieval gives the best overall alignment, by a small margin.</a:t>
            </a:r>
            <a:endParaRPr/>
          </a:p>
        </p:txBody>
      </p:sp>
      <p:sp>
        <p:nvSpPr>
          <p:cNvPr id="1510" name="Google Shape;1510;p29"/>
          <p:cNvSpPr txBox="1"/>
          <p:nvPr/>
        </p:nvSpPr>
        <p:spPr>
          <a:xfrm>
            <a:off x="777240" y="1371600"/>
            <a:ext cx="10789800" cy="34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Retrieval ablation on Chinook with Claude  ·  F1 of alignment between the ontology and each resource (cosine ≥ 0.55)</a:t>
            </a:r>
            <a:endParaRPr/>
          </a:p>
        </p:txBody>
      </p:sp>
      <p:sp>
        <p:nvSpPr>
          <p:cNvPr id="1511" name="Google Shape;1511;p29"/>
          <p:cNvSpPr/>
          <p:nvPr/>
        </p:nvSpPr>
        <p:spPr>
          <a:xfrm>
            <a:off x="822960" y="2487168"/>
            <a:ext cx="10515600" cy="9000"/>
          </a:xfrm>
          <a:prstGeom prst="rect">
            <a:avLst/>
          </a:prstGeom>
          <a:solidFill>
            <a:srgbClr val="D9DED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12" name="Google Shape;1512;p29"/>
          <p:cNvSpPr txBox="1"/>
          <p:nvPr/>
        </p:nvSpPr>
        <p:spPr>
          <a:xfrm>
            <a:off x="822960" y="2011680"/>
            <a:ext cx="2834700" cy="4755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VARIANT</a:t>
            </a:r>
            <a:endParaRPr/>
          </a:p>
        </p:txBody>
      </p:sp>
      <p:sp>
        <p:nvSpPr>
          <p:cNvPr id="1513" name="Google Shape;1513;p29"/>
          <p:cNvSpPr txBox="1"/>
          <p:nvPr/>
        </p:nvSpPr>
        <p:spPr>
          <a:xfrm>
            <a:off x="3657600" y="2011680"/>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SCHEMA F1</a:t>
            </a:r>
            <a:endParaRPr/>
          </a:p>
        </p:txBody>
      </p:sp>
      <p:sp>
        <p:nvSpPr>
          <p:cNvPr id="1514" name="Google Shape;1514;p29"/>
          <p:cNvSpPr txBox="1"/>
          <p:nvPr/>
        </p:nvSpPr>
        <p:spPr>
          <a:xfrm>
            <a:off x="4937760" y="2011680"/>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EXTERNAL F1</a:t>
            </a:r>
            <a:endParaRPr/>
          </a:p>
        </p:txBody>
      </p:sp>
      <p:sp>
        <p:nvSpPr>
          <p:cNvPr id="1515" name="Google Shape;1515;p29"/>
          <p:cNvSpPr txBox="1"/>
          <p:nvPr/>
        </p:nvSpPr>
        <p:spPr>
          <a:xfrm>
            <a:off x="6217920" y="2011680"/>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DOCS F1</a:t>
            </a:r>
            <a:endParaRPr/>
          </a:p>
        </p:txBody>
      </p:sp>
      <p:sp>
        <p:nvSpPr>
          <p:cNvPr id="1516" name="Google Shape;1516;p29"/>
          <p:cNvSpPr txBox="1"/>
          <p:nvPr/>
        </p:nvSpPr>
        <p:spPr>
          <a:xfrm>
            <a:off x="7498080" y="2011680"/>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AVG P</a:t>
            </a:r>
            <a:endParaRPr/>
          </a:p>
        </p:txBody>
      </p:sp>
      <p:sp>
        <p:nvSpPr>
          <p:cNvPr id="1517" name="Google Shape;1517;p29"/>
          <p:cNvSpPr txBox="1"/>
          <p:nvPr/>
        </p:nvSpPr>
        <p:spPr>
          <a:xfrm>
            <a:off x="8778240" y="2011680"/>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AVG R</a:t>
            </a:r>
            <a:endParaRPr/>
          </a:p>
        </p:txBody>
      </p:sp>
      <p:sp>
        <p:nvSpPr>
          <p:cNvPr id="1518" name="Google Shape;1518;p29"/>
          <p:cNvSpPr txBox="1"/>
          <p:nvPr/>
        </p:nvSpPr>
        <p:spPr>
          <a:xfrm>
            <a:off x="10058400" y="2011680"/>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AVG F1</a:t>
            </a:r>
            <a:endParaRPr/>
          </a:p>
        </p:txBody>
      </p:sp>
      <p:sp>
        <p:nvSpPr>
          <p:cNvPr id="1519" name="Google Shape;1519;p29"/>
          <p:cNvSpPr txBox="1"/>
          <p:nvPr/>
        </p:nvSpPr>
        <p:spPr>
          <a:xfrm>
            <a:off x="822960" y="2505456"/>
            <a:ext cx="2834700" cy="4755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no retrieval</a:t>
            </a:r>
            <a:endParaRPr/>
          </a:p>
        </p:txBody>
      </p:sp>
      <p:sp>
        <p:nvSpPr>
          <p:cNvPr id="1520" name="Google Shape;1520;p29"/>
          <p:cNvSpPr txBox="1"/>
          <p:nvPr/>
        </p:nvSpPr>
        <p:spPr>
          <a:xfrm>
            <a:off x="3657600" y="2505456"/>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300" u="none" cap="none" strike="noStrike">
                <a:solidFill>
                  <a:srgbClr val="0B6E4F"/>
                </a:solidFill>
                <a:latin typeface="Calibri"/>
                <a:ea typeface="Calibri"/>
                <a:cs typeface="Calibri"/>
                <a:sym typeface="Calibri"/>
              </a:rPr>
              <a:t>1.000</a:t>
            </a:r>
            <a:endParaRPr/>
          </a:p>
        </p:txBody>
      </p:sp>
      <p:sp>
        <p:nvSpPr>
          <p:cNvPr id="1521" name="Google Shape;1521;p29"/>
          <p:cNvSpPr txBox="1"/>
          <p:nvPr/>
        </p:nvSpPr>
        <p:spPr>
          <a:xfrm>
            <a:off x="4937760" y="2505456"/>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0.033</a:t>
            </a:r>
            <a:endParaRPr/>
          </a:p>
        </p:txBody>
      </p:sp>
      <p:sp>
        <p:nvSpPr>
          <p:cNvPr id="1522" name="Google Shape;1522;p29"/>
          <p:cNvSpPr txBox="1"/>
          <p:nvPr/>
        </p:nvSpPr>
        <p:spPr>
          <a:xfrm>
            <a:off x="6217920" y="2505456"/>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0.919</a:t>
            </a:r>
            <a:endParaRPr/>
          </a:p>
        </p:txBody>
      </p:sp>
      <p:sp>
        <p:nvSpPr>
          <p:cNvPr id="1523" name="Google Shape;1523;p29"/>
          <p:cNvSpPr txBox="1"/>
          <p:nvPr/>
        </p:nvSpPr>
        <p:spPr>
          <a:xfrm>
            <a:off x="7498080" y="2505456"/>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300" u="none" cap="none" strike="noStrike">
                <a:solidFill>
                  <a:srgbClr val="0B6E4F"/>
                </a:solidFill>
                <a:latin typeface="Calibri"/>
                <a:ea typeface="Calibri"/>
                <a:cs typeface="Calibri"/>
                <a:sym typeface="Calibri"/>
              </a:rPr>
              <a:t>0.772</a:t>
            </a:r>
            <a:endParaRPr/>
          </a:p>
        </p:txBody>
      </p:sp>
      <p:sp>
        <p:nvSpPr>
          <p:cNvPr id="1524" name="Google Shape;1524;p29"/>
          <p:cNvSpPr txBox="1"/>
          <p:nvPr/>
        </p:nvSpPr>
        <p:spPr>
          <a:xfrm>
            <a:off x="8778240" y="2505456"/>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0.622</a:t>
            </a:r>
            <a:endParaRPr/>
          </a:p>
        </p:txBody>
      </p:sp>
      <p:sp>
        <p:nvSpPr>
          <p:cNvPr id="1525" name="Google Shape;1525;p29"/>
          <p:cNvSpPr txBox="1"/>
          <p:nvPr/>
        </p:nvSpPr>
        <p:spPr>
          <a:xfrm>
            <a:off x="10058400" y="2505456"/>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0.650</a:t>
            </a:r>
            <a:endParaRPr/>
          </a:p>
        </p:txBody>
      </p:sp>
      <p:sp>
        <p:nvSpPr>
          <p:cNvPr id="1526" name="Google Shape;1526;p29"/>
          <p:cNvSpPr/>
          <p:nvPr/>
        </p:nvSpPr>
        <p:spPr>
          <a:xfrm>
            <a:off x="822960" y="2980944"/>
            <a:ext cx="10515600" cy="475500"/>
          </a:xfrm>
          <a:prstGeom prst="rect">
            <a:avLst/>
          </a:prstGeom>
          <a:solidFill>
            <a:srgbClr val="F3F5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7" name="Google Shape;1527;p29"/>
          <p:cNvSpPr txBox="1"/>
          <p:nvPr/>
        </p:nvSpPr>
        <p:spPr>
          <a:xfrm>
            <a:off x="822960" y="2980944"/>
            <a:ext cx="2834700" cy="4755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only schema + core</a:t>
            </a:r>
            <a:endParaRPr/>
          </a:p>
        </p:txBody>
      </p:sp>
      <p:sp>
        <p:nvSpPr>
          <p:cNvPr id="1528" name="Google Shape;1528;p29"/>
          <p:cNvSpPr txBox="1"/>
          <p:nvPr/>
        </p:nvSpPr>
        <p:spPr>
          <a:xfrm>
            <a:off x="3657600" y="2980944"/>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0.997</a:t>
            </a:r>
            <a:endParaRPr/>
          </a:p>
        </p:txBody>
      </p:sp>
      <p:sp>
        <p:nvSpPr>
          <p:cNvPr id="1529" name="Google Shape;1529;p29"/>
          <p:cNvSpPr txBox="1"/>
          <p:nvPr/>
        </p:nvSpPr>
        <p:spPr>
          <a:xfrm>
            <a:off x="4937760" y="2980944"/>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0.033</a:t>
            </a:r>
            <a:endParaRPr/>
          </a:p>
        </p:txBody>
      </p:sp>
      <p:sp>
        <p:nvSpPr>
          <p:cNvPr id="1530" name="Google Shape;1530;p29"/>
          <p:cNvSpPr txBox="1"/>
          <p:nvPr/>
        </p:nvSpPr>
        <p:spPr>
          <a:xfrm>
            <a:off x="6217920" y="2980944"/>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0.916</a:t>
            </a:r>
            <a:endParaRPr/>
          </a:p>
        </p:txBody>
      </p:sp>
      <p:sp>
        <p:nvSpPr>
          <p:cNvPr id="1531" name="Google Shape;1531;p29"/>
          <p:cNvSpPr txBox="1"/>
          <p:nvPr/>
        </p:nvSpPr>
        <p:spPr>
          <a:xfrm>
            <a:off x="7498080" y="2980944"/>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0.758</a:t>
            </a:r>
            <a:endParaRPr/>
          </a:p>
        </p:txBody>
      </p:sp>
      <p:sp>
        <p:nvSpPr>
          <p:cNvPr id="1532" name="Google Shape;1532;p29"/>
          <p:cNvSpPr txBox="1"/>
          <p:nvPr/>
        </p:nvSpPr>
        <p:spPr>
          <a:xfrm>
            <a:off x="8778240" y="2980944"/>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0.622</a:t>
            </a:r>
            <a:endParaRPr/>
          </a:p>
        </p:txBody>
      </p:sp>
      <p:sp>
        <p:nvSpPr>
          <p:cNvPr id="1533" name="Google Shape;1533;p29"/>
          <p:cNvSpPr txBox="1"/>
          <p:nvPr/>
        </p:nvSpPr>
        <p:spPr>
          <a:xfrm>
            <a:off x="10058400" y="2980944"/>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0.648</a:t>
            </a:r>
            <a:endParaRPr/>
          </a:p>
        </p:txBody>
      </p:sp>
      <p:sp>
        <p:nvSpPr>
          <p:cNvPr id="1534" name="Google Shape;1534;p29"/>
          <p:cNvSpPr txBox="1"/>
          <p:nvPr/>
        </p:nvSpPr>
        <p:spPr>
          <a:xfrm>
            <a:off x="822960" y="3456432"/>
            <a:ext cx="2834700" cy="4755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only external ontologies</a:t>
            </a:r>
            <a:endParaRPr/>
          </a:p>
        </p:txBody>
      </p:sp>
      <p:sp>
        <p:nvSpPr>
          <p:cNvPr id="1535" name="Google Shape;1535;p29"/>
          <p:cNvSpPr txBox="1"/>
          <p:nvPr/>
        </p:nvSpPr>
        <p:spPr>
          <a:xfrm>
            <a:off x="3657600" y="3456432"/>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300" u="none" cap="none" strike="noStrike">
                <a:solidFill>
                  <a:srgbClr val="0B6E4F"/>
                </a:solidFill>
                <a:latin typeface="Calibri"/>
                <a:ea typeface="Calibri"/>
                <a:cs typeface="Calibri"/>
                <a:sym typeface="Calibri"/>
              </a:rPr>
              <a:t>1.000</a:t>
            </a:r>
            <a:endParaRPr/>
          </a:p>
        </p:txBody>
      </p:sp>
      <p:sp>
        <p:nvSpPr>
          <p:cNvPr id="1536" name="Google Shape;1536;p29"/>
          <p:cNvSpPr txBox="1"/>
          <p:nvPr/>
        </p:nvSpPr>
        <p:spPr>
          <a:xfrm>
            <a:off x="4937760" y="3456432"/>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0.033</a:t>
            </a:r>
            <a:endParaRPr/>
          </a:p>
        </p:txBody>
      </p:sp>
      <p:sp>
        <p:nvSpPr>
          <p:cNvPr id="1537" name="Google Shape;1537;p29"/>
          <p:cNvSpPr txBox="1"/>
          <p:nvPr/>
        </p:nvSpPr>
        <p:spPr>
          <a:xfrm>
            <a:off x="6217920" y="3456432"/>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0.919</a:t>
            </a:r>
            <a:endParaRPr/>
          </a:p>
        </p:txBody>
      </p:sp>
      <p:sp>
        <p:nvSpPr>
          <p:cNvPr id="1538" name="Google Shape;1538;p29"/>
          <p:cNvSpPr txBox="1"/>
          <p:nvPr/>
        </p:nvSpPr>
        <p:spPr>
          <a:xfrm>
            <a:off x="7498080" y="3456432"/>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0.763</a:t>
            </a:r>
            <a:endParaRPr/>
          </a:p>
        </p:txBody>
      </p:sp>
      <p:sp>
        <p:nvSpPr>
          <p:cNvPr id="1539" name="Google Shape;1539;p29"/>
          <p:cNvSpPr txBox="1"/>
          <p:nvPr/>
        </p:nvSpPr>
        <p:spPr>
          <a:xfrm>
            <a:off x="8778240" y="3456432"/>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0.622</a:t>
            </a:r>
            <a:endParaRPr/>
          </a:p>
        </p:txBody>
      </p:sp>
      <p:sp>
        <p:nvSpPr>
          <p:cNvPr id="1540" name="Google Shape;1540;p29"/>
          <p:cNvSpPr txBox="1"/>
          <p:nvPr/>
        </p:nvSpPr>
        <p:spPr>
          <a:xfrm>
            <a:off x="10058400" y="3456432"/>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0.650</a:t>
            </a:r>
            <a:endParaRPr/>
          </a:p>
        </p:txBody>
      </p:sp>
      <p:sp>
        <p:nvSpPr>
          <p:cNvPr id="1541" name="Google Shape;1541;p29"/>
          <p:cNvSpPr/>
          <p:nvPr/>
        </p:nvSpPr>
        <p:spPr>
          <a:xfrm>
            <a:off x="822960" y="3931920"/>
            <a:ext cx="10515600" cy="475500"/>
          </a:xfrm>
          <a:prstGeom prst="rect">
            <a:avLst/>
          </a:prstGeom>
          <a:solidFill>
            <a:srgbClr val="F3F5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42" name="Google Shape;1542;p29"/>
          <p:cNvSpPr txBox="1"/>
          <p:nvPr/>
        </p:nvSpPr>
        <p:spPr>
          <a:xfrm>
            <a:off x="822960" y="3931920"/>
            <a:ext cx="2834700" cy="4755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only documentation</a:t>
            </a:r>
            <a:endParaRPr/>
          </a:p>
        </p:txBody>
      </p:sp>
      <p:sp>
        <p:nvSpPr>
          <p:cNvPr id="1543" name="Google Shape;1543;p29"/>
          <p:cNvSpPr txBox="1"/>
          <p:nvPr/>
        </p:nvSpPr>
        <p:spPr>
          <a:xfrm>
            <a:off x="3657600" y="3931920"/>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300" u="none" cap="none" strike="noStrike">
                <a:solidFill>
                  <a:srgbClr val="0B6E4F"/>
                </a:solidFill>
                <a:latin typeface="Calibri"/>
                <a:ea typeface="Calibri"/>
                <a:cs typeface="Calibri"/>
                <a:sym typeface="Calibri"/>
              </a:rPr>
              <a:t>1.000</a:t>
            </a:r>
            <a:endParaRPr/>
          </a:p>
        </p:txBody>
      </p:sp>
      <p:sp>
        <p:nvSpPr>
          <p:cNvPr id="1544" name="Google Shape;1544;p29"/>
          <p:cNvSpPr txBox="1"/>
          <p:nvPr/>
        </p:nvSpPr>
        <p:spPr>
          <a:xfrm>
            <a:off x="4937760" y="3931920"/>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0.035</a:t>
            </a:r>
            <a:endParaRPr/>
          </a:p>
        </p:txBody>
      </p:sp>
      <p:sp>
        <p:nvSpPr>
          <p:cNvPr id="1545" name="Google Shape;1545;p29"/>
          <p:cNvSpPr txBox="1"/>
          <p:nvPr/>
        </p:nvSpPr>
        <p:spPr>
          <a:xfrm>
            <a:off x="6217920" y="3931920"/>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300" u="none" cap="none" strike="noStrike">
                <a:solidFill>
                  <a:srgbClr val="0B6E4F"/>
                </a:solidFill>
                <a:latin typeface="Calibri"/>
                <a:ea typeface="Calibri"/>
                <a:cs typeface="Calibri"/>
                <a:sym typeface="Calibri"/>
              </a:rPr>
              <a:t>0.921</a:t>
            </a:r>
            <a:endParaRPr/>
          </a:p>
        </p:txBody>
      </p:sp>
      <p:sp>
        <p:nvSpPr>
          <p:cNvPr id="1546" name="Google Shape;1546;p29"/>
          <p:cNvSpPr txBox="1"/>
          <p:nvPr/>
        </p:nvSpPr>
        <p:spPr>
          <a:xfrm>
            <a:off x="7498080" y="3931920"/>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0.769</a:t>
            </a:r>
            <a:endParaRPr/>
          </a:p>
        </p:txBody>
      </p:sp>
      <p:sp>
        <p:nvSpPr>
          <p:cNvPr id="1547" name="Google Shape;1547;p29"/>
          <p:cNvSpPr txBox="1"/>
          <p:nvPr/>
        </p:nvSpPr>
        <p:spPr>
          <a:xfrm>
            <a:off x="8778240" y="3931920"/>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0.624</a:t>
            </a:r>
            <a:endParaRPr/>
          </a:p>
        </p:txBody>
      </p:sp>
      <p:sp>
        <p:nvSpPr>
          <p:cNvPr id="1548" name="Google Shape;1548;p29"/>
          <p:cNvSpPr txBox="1"/>
          <p:nvPr/>
        </p:nvSpPr>
        <p:spPr>
          <a:xfrm>
            <a:off x="10058400" y="3931920"/>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0.652</a:t>
            </a:r>
            <a:endParaRPr/>
          </a:p>
        </p:txBody>
      </p:sp>
      <p:sp>
        <p:nvSpPr>
          <p:cNvPr id="1549" name="Google Shape;1549;p29"/>
          <p:cNvSpPr txBox="1"/>
          <p:nvPr/>
        </p:nvSpPr>
        <p:spPr>
          <a:xfrm>
            <a:off x="822960" y="4407408"/>
            <a:ext cx="2834700" cy="4755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full RIGOR</a:t>
            </a:r>
            <a:endParaRPr/>
          </a:p>
        </p:txBody>
      </p:sp>
      <p:sp>
        <p:nvSpPr>
          <p:cNvPr id="1550" name="Google Shape;1550;p29"/>
          <p:cNvSpPr txBox="1"/>
          <p:nvPr/>
        </p:nvSpPr>
        <p:spPr>
          <a:xfrm>
            <a:off x="3657600" y="4407408"/>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0.993</a:t>
            </a:r>
            <a:endParaRPr/>
          </a:p>
        </p:txBody>
      </p:sp>
      <p:sp>
        <p:nvSpPr>
          <p:cNvPr id="1551" name="Google Shape;1551;p29"/>
          <p:cNvSpPr txBox="1"/>
          <p:nvPr/>
        </p:nvSpPr>
        <p:spPr>
          <a:xfrm>
            <a:off x="4937760" y="4407408"/>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300" u="none" cap="none" strike="noStrike">
                <a:solidFill>
                  <a:srgbClr val="0B6E4F"/>
                </a:solidFill>
                <a:latin typeface="Calibri"/>
                <a:ea typeface="Calibri"/>
                <a:cs typeface="Calibri"/>
                <a:sym typeface="Calibri"/>
              </a:rPr>
              <a:t>0.059</a:t>
            </a:r>
            <a:endParaRPr/>
          </a:p>
        </p:txBody>
      </p:sp>
      <p:sp>
        <p:nvSpPr>
          <p:cNvPr id="1552" name="Google Shape;1552;p29"/>
          <p:cNvSpPr txBox="1"/>
          <p:nvPr/>
        </p:nvSpPr>
        <p:spPr>
          <a:xfrm>
            <a:off x="6217920" y="4407408"/>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0.914</a:t>
            </a:r>
            <a:endParaRPr/>
          </a:p>
        </p:txBody>
      </p:sp>
      <p:sp>
        <p:nvSpPr>
          <p:cNvPr id="1553" name="Google Shape;1553;p29"/>
          <p:cNvSpPr txBox="1"/>
          <p:nvPr/>
        </p:nvSpPr>
        <p:spPr>
          <a:xfrm>
            <a:off x="7498080" y="4407408"/>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300" u="none" cap="none" strike="noStrike">
                <a:solidFill>
                  <a:srgbClr val="1F2328"/>
                </a:solidFill>
                <a:latin typeface="Calibri"/>
                <a:ea typeface="Calibri"/>
                <a:cs typeface="Calibri"/>
                <a:sym typeface="Calibri"/>
              </a:rPr>
              <a:t>0.756</a:t>
            </a:r>
            <a:endParaRPr/>
          </a:p>
        </p:txBody>
      </p:sp>
      <p:sp>
        <p:nvSpPr>
          <p:cNvPr id="1554" name="Google Shape;1554;p29"/>
          <p:cNvSpPr txBox="1"/>
          <p:nvPr/>
        </p:nvSpPr>
        <p:spPr>
          <a:xfrm>
            <a:off x="8778240" y="4407408"/>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300" u="none" cap="none" strike="noStrike">
                <a:solidFill>
                  <a:srgbClr val="0B6E4F"/>
                </a:solidFill>
                <a:latin typeface="Calibri"/>
                <a:ea typeface="Calibri"/>
                <a:cs typeface="Calibri"/>
                <a:sym typeface="Calibri"/>
              </a:rPr>
              <a:t>0.630</a:t>
            </a:r>
            <a:endParaRPr/>
          </a:p>
        </p:txBody>
      </p:sp>
      <p:sp>
        <p:nvSpPr>
          <p:cNvPr id="1555" name="Google Shape;1555;p29"/>
          <p:cNvSpPr txBox="1"/>
          <p:nvPr/>
        </p:nvSpPr>
        <p:spPr>
          <a:xfrm>
            <a:off x="10058400" y="4407408"/>
            <a:ext cx="1280100" cy="4755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300" u="none" cap="none" strike="noStrike">
                <a:solidFill>
                  <a:srgbClr val="0B6E4F"/>
                </a:solidFill>
                <a:latin typeface="Calibri"/>
                <a:ea typeface="Calibri"/>
                <a:cs typeface="Calibri"/>
                <a:sym typeface="Calibri"/>
              </a:rPr>
              <a:t>0.655</a:t>
            </a:r>
            <a:endParaRPr/>
          </a:p>
        </p:txBody>
      </p:sp>
      <p:sp>
        <p:nvSpPr>
          <p:cNvPr id="1556" name="Google Shape;1556;p29"/>
          <p:cNvSpPr/>
          <p:nvPr/>
        </p:nvSpPr>
        <p:spPr>
          <a:xfrm>
            <a:off x="822960" y="5074920"/>
            <a:ext cx="10515600" cy="567000"/>
          </a:xfrm>
          <a:prstGeom prst="roundRect">
            <a:avLst>
              <a:gd fmla="val 12000" name="adj"/>
            </a:avLst>
          </a:prstGeom>
          <a:solidFill>
            <a:srgbClr val="E6F2EC"/>
          </a:solidFill>
          <a:ln>
            <a:noFill/>
          </a:ln>
        </p:spPr>
        <p:txBody>
          <a:bodyPr anchorCtr="0" anchor="ctr" bIns="0" lIns="182875" spcFirstLastPara="1" rIns="182875" wrap="square" tIns="0">
            <a:noAutofit/>
          </a:bodyPr>
          <a:lstStyle/>
          <a:p>
            <a:pPr indent="0" lvl="0" marL="0" marR="0" rtl="0" algn="l">
              <a:lnSpc>
                <a:spcPct val="100000"/>
              </a:lnSpc>
              <a:spcBef>
                <a:spcPts val="0"/>
              </a:spcBef>
              <a:spcAft>
                <a:spcPts val="0"/>
              </a:spcAft>
              <a:buNone/>
            </a:pPr>
            <a:r>
              <a:rPr b="1" i="0" lang="en-US" sz="1300" u="none" cap="none" strike="noStrike">
                <a:solidFill>
                  <a:srgbClr val="0B6E4F"/>
                </a:solidFill>
                <a:latin typeface="Calibri"/>
                <a:ea typeface="Calibri"/>
                <a:cs typeface="Calibri"/>
                <a:sym typeface="Calibri"/>
              </a:rPr>
              <a:t>Read with care: </a:t>
            </a:r>
            <a:r>
              <a:rPr b="0" i="0" lang="en-US" sz="1300" u="none" cap="none" strike="noStrike">
                <a:solidFill>
                  <a:srgbClr val="3A434C"/>
                </a:solidFill>
                <a:latin typeface="Calibri"/>
                <a:ea typeface="Calibri"/>
                <a:cs typeface="Calibri"/>
                <a:sym typeface="Calibri"/>
              </a:rPr>
              <a:t>schema alignment is saturated because every variant keeps the direct-mapping seed, and external-ontology F1 is low in absolute terms. Full RIGOR is best on external F1, average recall and average F1.</a:t>
            </a:r>
            <a:endParaRPr/>
          </a:p>
        </p:txBody>
      </p:sp>
      <p:sp>
        <p:nvSpPr>
          <p:cNvPr id="1557" name="Google Shape;1557;p29"/>
          <p:cNvSpPr txBox="1"/>
          <p:nvPr/>
        </p:nvSpPr>
        <p:spPr>
          <a:xfrm>
            <a:off x="850392" y="6053328"/>
            <a:ext cx="104883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Source: paper Table 14 (Chinook, Claude). One database and one model.</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1" name="Shape 1561"/>
        <p:cNvGrpSpPr/>
        <p:nvPr/>
      </p:nvGrpSpPr>
      <p:grpSpPr>
        <a:xfrm>
          <a:off x="0" y="0"/>
          <a:ext cx="0" cy="0"/>
          <a:chOff x="0" y="0"/>
          <a:chExt cx="0" cy="0"/>
        </a:xfrm>
      </p:grpSpPr>
      <p:sp>
        <p:nvSpPr>
          <p:cNvPr id="1562" name="Google Shape;1562;p30"/>
          <p:cNvSpPr txBox="1"/>
          <p:nvPr/>
        </p:nvSpPr>
        <p:spPr>
          <a:xfrm>
            <a:off x="777240" y="347472"/>
            <a:ext cx="100584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onsolas"/>
                <a:ea typeface="Consolas"/>
                <a:cs typeface="Consolas"/>
                <a:sym typeface="Consolas"/>
              </a:rPr>
              <a:t>BACKUP  /  B4</a:t>
            </a:r>
            <a:endParaRPr/>
          </a:p>
        </p:txBody>
      </p:sp>
      <p:sp>
        <p:nvSpPr>
          <p:cNvPr id="1563" name="Google Shape;1563;p30"/>
          <p:cNvSpPr txBox="1"/>
          <p:nvPr/>
        </p:nvSpPr>
        <p:spPr>
          <a:xfrm>
            <a:off x="777240" y="768096"/>
            <a:ext cx="10881300" cy="53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1F2328"/>
                </a:solidFill>
                <a:latin typeface="Cambria"/>
                <a:ea typeface="Cambria"/>
                <a:cs typeface="Cambria"/>
                <a:sym typeface="Cambria"/>
              </a:rPr>
              <a:t>All nine RIGOR runs together cost about 33 dollars.</a:t>
            </a:r>
            <a:endParaRPr/>
          </a:p>
        </p:txBody>
      </p:sp>
      <p:sp>
        <p:nvSpPr>
          <p:cNvPr id="1564" name="Google Shape;1564;p30"/>
          <p:cNvSpPr txBox="1"/>
          <p:nvPr/>
        </p:nvSpPr>
        <p:spPr>
          <a:xfrm>
            <a:off x="777240" y="1371600"/>
            <a:ext cx="10789800" cy="34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Generation cost and runtime per database and model, including Gen-LLM and Judge-LLM calls</a:t>
            </a:r>
            <a:endParaRPr/>
          </a:p>
        </p:txBody>
      </p:sp>
      <p:sp>
        <p:nvSpPr>
          <p:cNvPr id="1565" name="Google Shape;1565;p30"/>
          <p:cNvSpPr/>
          <p:nvPr/>
        </p:nvSpPr>
        <p:spPr>
          <a:xfrm>
            <a:off x="822960" y="2240279"/>
            <a:ext cx="10515600" cy="9000"/>
          </a:xfrm>
          <a:prstGeom prst="rect">
            <a:avLst/>
          </a:prstGeom>
          <a:solidFill>
            <a:srgbClr val="D9DED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66" name="Google Shape;1566;p30"/>
          <p:cNvSpPr txBox="1"/>
          <p:nvPr/>
        </p:nvSpPr>
        <p:spPr>
          <a:xfrm>
            <a:off x="822960" y="1874519"/>
            <a:ext cx="2103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DATABASE</a:t>
            </a:r>
            <a:endParaRPr/>
          </a:p>
        </p:txBody>
      </p:sp>
      <p:sp>
        <p:nvSpPr>
          <p:cNvPr id="1567" name="Google Shape;1567;p30"/>
          <p:cNvSpPr txBox="1"/>
          <p:nvPr/>
        </p:nvSpPr>
        <p:spPr>
          <a:xfrm>
            <a:off x="2926079" y="1874519"/>
            <a:ext cx="2469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MODEL</a:t>
            </a:r>
            <a:endParaRPr/>
          </a:p>
        </p:txBody>
      </p:sp>
      <p:sp>
        <p:nvSpPr>
          <p:cNvPr id="1568" name="Google Shape;1568;p30"/>
          <p:cNvSpPr txBox="1"/>
          <p:nvPr/>
        </p:nvSpPr>
        <p:spPr>
          <a:xfrm>
            <a:off x="5394960" y="1874519"/>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REQUESTS</a:t>
            </a:r>
            <a:endParaRPr/>
          </a:p>
        </p:txBody>
      </p:sp>
      <p:sp>
        <p:nvSpPr>
          <p:cNvPr id="1569" name="Google Shape;1569;p30"/>
          <p:cNvSpPr txBox="1"/>
          <p:nvPr/>
        </p:nvSpPr>
        <p:spPr>
          <a:xfrm>
            <a:off x="6766560" y="1874519"/>
            <a:ext cx="17373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TOKENS</a:t>
            </a:r>
            <a:endParaRPr/>
          </a:p>
        </p:txBody>
      </p:sp>
      <p:sp>
        <p:nvSpPr>
          <p:cNvPr id="1570" name="Google Shape;1570;p30"/>
          <p:cNvSpPr txBox="1"/>
          <p:nvPr/>
        </p:nvSpPr>
        <p:spPr>
          <a:xfrm>
            <a:off x="8503920" y="1874519"/>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COST (USD)</a:t>
            </a:r>
            <a:endParaRPr/>
          </a:p>
        </p:txBody>
      </p:sp>
      <p:sp>
        <p:nvSpPr>
          <p:cNvPr id="1571" name="Google Shape;1571;p30"/>
          <p:cNvSpPr txBox="1"/>
          <p:nvPr/>
        </p:nvSpPr>
        <p:spPr>
          <a:xfrm>
            <a:off x="9875520" y="1874519"/>
            <a:ext cx="14631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RUNTIME (MIN)</a:t>
            </a:r>
            <a:endParaRPr/>
          </a:p>
        </p:txBody>
      </p:sp>
      <p:sp>
        <p:nvSpPr>
          <p:cNvPr id="1572" name="Google Shape;1572;p30"/>
          <p:cNvSpPr txBox="1"/>
          <p:nvPr/>
        </p:nvSpPr>
        <p:spPr>
          <a:xfrm>
            <a:off x="822960" y="2258568"/>
            <a:ext cx="2103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eICU-CRD</a:t>
            </a:r>
            <a:endParaRPr/>
          </a:p>
        </p:txBody>
      </p:sp>
      <p:sp>
        <p:nvSpPr>
          <p:cNvPr id="1573" name="Google Shape;1573;p30"/>
          <p:cNvSpPr txBox="1"/>
          <p:nvPr/>
        </p:nvSpPr>
        <p:spPr>
          <a:xfrm>
            <a:off x="2926079" y="2258568"/>
            <a:ext cx="2469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Claude Opus 4.6</a:t>
            </a:r>
            <a:endParaRPr/>
          </a:p>
        </p:txBody>
      </p:sp>
      <p:sp>
        <p:nvSpPr>
          <p:cNvPr id="1574" name="Google Shape;1574;p30"/>
          <p:cNvSpPr txBox="1"/>
          <p:nvPr/>
        </p:nvSpPr>
        <p:spPr>
          <a:xfrm>
            <a:off x="5394960" y="2258568"/>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168</a:t>
            </a:r>
            <a:endParaRPr/>
          </a:p>
        </p:txBody>
      </p:sp>
      <p:sp>
        <p:nvSpPr>
          <p:cNvPr id="1575" name="Google Shape;1575;p30"/>
          <p:cNvSpPr txBox="1"/>
          <p:nvPr/>
        </p:nvSpPr>
        <p:spPr>
          <a:xfrm>
            <a:off x="6766560" y="2258568"/>
            <a:ext cx="17373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1,660,000</a:t>
            </a:r>
            <a:endParaRPr/>
          </a:p>
        </p:txBody>
      </p:sp>
      <p:sp>
        <p:nvSpPr>
          <p:cNvPr id="1576" name="Google Shape;1576;p30"/>
          <p:cNvSpPr txBox="1"/>
          <p:nvPr/>
        </p:nvSpPr>
        <p:spPr>
          <a:xfrm>
            <a:off x="8503920" y="2258568"/>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$21.30</a:t>
            </a:r>
            <a:endParaRPr/>
          </a:p>
        </p:txBody>
      </p:sp>
      <p:sp>
        <p:nvSpPr>
          <p:cNvPr id="1577" name="Google Shape;1577;p30"/>
          <p:cNvSpPr txBox="1"/>
          <p:nvPr/>
        </p:nvSpPr>
        <p:spPr>
          <a:xfrm>
            <a:off x="9875520" y="2258568"/>
            <a:ext cx="14631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182.4</a:t>
            </a:r>
            <a:endParaRPr/>
          </a:p>
        </p:txBody>
      </p:sp>
      <p:sp>
        <p:nvSpPr>
          <p:cNvPr id="1578" name="Google Shape;1578;p30"/>
          <p:cNvSpPr/>
          <p:nvPr/>
        </p:nvSpPr>
        <p:spPr>
          <a:xfrm>
            <a:off x="822960" y="2624327"/>
            <a:ext cx="10515600" cy="365700"/>
          </a:xfrm>
          <a:prstGeom prst="rect">
            <a:avLst/>
          </a:prstGeom>
          <a:solidFill>
            <a:srgbClr val="F3F5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9" name="Google Shape;1579;p30"/>
          <p:cNvSpPr txBox="1"/>
          <p:nvPr/>
        </p:nvSpPr>
        <p:spPr>
          <a:xfrm>
            <a:off x="822960" y="2624327"/>
            <a:ext cx="2103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eICU-CRD</a:t>
            </a:r>
            <a:endParaRPr/>
          </a:p>
        </p:txBody>
      </p:sp>
      <p:sp>
        <p:nvSpPr>
          <p:cNvPr id="1580" name="Google Shape;1580;p30"/>
          <p:cNvSpPr txBox="1"/>
          <p:nvPr/>
        </p:nvSpPr>
        <p:spPr>
          <a:xfrm>
            <a:off x="2926079" y="2624327"/>
            <a:ext cx="2469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Mistral-Small-24B</a:t>
            </a:r>
            <a:endParaRPr/>
          </a:p>
        </p:txBody>
      </p:sp>
      <p:sp>
        <p:nvSpPr>
          <p:cNvPr id="1581" name="Google Shape;1581;p30"/>
          <p:cNvSpPr txBox="1"/>
          <p:nvPr/>
        </p:nvSpPr>
        <p:spPr>
          <a:xfrm>
            <a:off x="5394960" y="2624327"/>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96</a:t>
            </a:r>
            <a:endParaRPr/>
          </a:p>
        </p:txBody>
      </p:sp>
      <p:sp>
        <p:nvSpPr>
          <p:cNvPr id="1582" name="Google Shape;1582;p30"/>
          <p:cNvSpPr txBox="1"/>
          <p:nvPr/>
        </p:nvSpPr>
        <p:spPr>
          <a:xfrm>
            <a:off x="6766560" y="2624327"/>
            <a:ext cx="17373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1,290,000</a:t>
            </a:r>
            <a:endParaRPr/>
          </a:p>
        </p:txBody>
      </p:sp>
      <p:sp>
        <p:nvSpPr>
          <p:cNvPr id="1583" name="Google Shape;1583;p30"/>
          <p:cNvSpPr txBox="1"/>
          <p:nvPr/>
        </p:nvSpPr>
        <p:spPr>
          <a:xfrm>
            <a:off x="8503920" y="2624327"/>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$0.08</a:t>
            </a:r>
            <a:endParaRPr/>
          </a:p>
        </p:txBody>
      </p:sp>
      <p:sp>
        <p:nvSpPr>
          <p:cNvPr id="1584" name="Google Shape;1584;p30"/>
          <p:cNvSpPr txBox="1"/>
          <p:nvPr/>
        </p:nvSpPr>
        <p:spPr>
          <a:xfrm>
            <a:off x="9875520" y="2624327"/>
            <a:ext cx="14631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188.4</a:t>
            </a:r>
            <a:endParaRPr/>
          </a:p>
        </p:txBody>
      </p:sp>
      <p:sp>
        <p:nvSpPr>
          <p:cNvPr id="1585" name="Google Shape;1585;p30"/>
          <p:cNvSpPr txBox="1"/>
          <p:nvPr/>
        </p:nvSpPr>
        <p:spPr>
          <a:xfrm>
            <a:off x="822960" y="2990088"/>
            <a:ext cx="2103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eICU-CRD</a:t>
            </a:r>
            <a:endParaRPr/>
          </a:p>
        </p:txBody>
      </p:sp>
      <p:sp>
        <p:nvSpPr>
          <p:cNvPr id="1586" name="Google Shape;1586;p30"/>
          <p:cNvSpPr txBox="1"/>
          <p:nvPr/>
        </p:nvSpPr>
        <p:spPr>
          <a:xfrm>
            <a:off x="2926079" y="2990088"/>
            <a:ext cx="2469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DeepSeek-V3</a:t>
            </a:r>
            <a:endParaRPr/>
          </a:p>
        </p:txBody>
      </p:sp>
      <p:sp>
        <p:nvSpPr>
          <p:cNvPr id="1587" name="Google Shape;1587;p30"/>
          <p:cNvSpPr txBox="1"/>
          <p:nvPr/>
        </p:nvSpPr>
        <p:spPr>
          <a:xfrm>
            <a:off x="5394960" y="2990088"/>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52</a:t>
            </a:r>
            <a:endParaRPr/>
          </a:p>
        </p:txBody>
      </p:sp>
      <p:sp>
        <p:nvSpPr>
          <p:cNvPr id="1588" name="Google Shape;1588;p30"/>
          <p:cNvSpPr txBox="1"/>
          <p:nvPr/>
        </p:nvSpPr>
        <p:spPr>
          <a:xfrm>
            <a:off x="6766560" y="2990088"/>
            <a:ext cx="17373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334,000</a:t>
            </a:r>
            <a:endParaRPr/>
          </a:p>
        </p:txBody>
      </p:sp>
      <p:sp>
        <p:nvSpPr>
          <p:cNvPr id="1589" name="Google Shape;1589;p30"/>
          <p:cNvSpPr txBox="1"/>
          <p:nvPr/>
        </p:nvSpPr>
        <p:spPr>
          <a:xfrm>
            <a:off x="8503920" y="2990088"/>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$0.18</a:t>
            </a:r>
            <a:endParaRPr/>
          </a:p>
        </p:txBody>
      </p:sp>
      <p:sp>
        <p:nvSpPr>
          <p:cNvPr id="1590" name="Google Shape;1590;p30"/>
          <p:cNvSpPr txBox="1"/>
          <p:nvPr/>
        </p:nvSpPr>
        <p:spPr>
          <a:xfrm>
            <a:off x="9875520" y="2990088"/>
            <a:ext cx="14631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20.6</a:t>
            </a:r>
            <a:endParaRPr/>
          </a:p>
        </p:txBody>
      </p:sp>
      <p:sp>
        <p:nvSpPr>
          <p:cNvPr id="1591" name="Google Shape;1591;p30"/>
          <p:cNvSpPr/>
          <p:nvPr/>
        </p:nvSpPr>
        <p:spPr>
          <a:xfrm>
            <a:off x="822960" y="3355848"/>
            <a:ext cx="10515600" cy="365700"/>
          </a:xfrm>
          <a:prstGeom prst="rect">
            <a:avLst/>
          </a:prstGeom>
          <a:solidFill>
            <a:srgbClr val="F3F5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92" name="Google Shape;1592;p30"/>
          <p:cNvSpPr txBox="1"/>
          <p:nvPr/>
        </p:nvSpPr>
        <p:spPr>
          <a:xfrm>
            <a:off x="822960" y="3355848"/>
            <a:ext cx="2103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Liver cancer</a:t>
            </a:r>
            <a:endParaRPr/>
          </a:p>
        </p:txBody>
      </p:sp>
      <p:sp>
        <p:nvSpPr>
          <p:cNvPr id="1593" name="Google Shape;1593;p30"/>
          <p:cNvSpPr txBox="1"/>
          <p:nvPr/>
        </p:nvSpPr>
        <p:spPr>
          <a:xfrm>
            <a:off x="2926079" y="3355848"/>
            <a:ext cx="2469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Claude Opus 4.6</a:t>
            </a:r>
            <a:endParaRPr/>
          </a:p>
        </p:txBody>
      </p:sp>
      <p:sp>
        <p:nvSpPr>
          <p:cNvPr id="1594" name="Google Shape;1594;p30"/>
          <p:cNvSpPr txBox="1"/>
          <p:nvPr/>
        </p:nvSpPr>
        <p:spPr>
          <a:xfrm>
            <a:off x="5394960" y="3355848"/>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70</a:t>
            </a:r>
            <a:endParaRPr/>
          </a:p>
        </p:txBody>
      </p:sp>
      <p:sp>
        <p:nvSpPr>
          <p:cNvPr id="1595" name="Google Shape;1595;p30"/>
          <p:cNvSpPr txBox="1"/>
          <p:nvPr/>
        </p:nvSpPr>
        <p:spPr>
          <a:xfrm>
            <a:off x="6766560" y="3355848"/>
            <a:ext cx="17373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731,000</a:t>
            </a:r>
            <a:endParaRPr/>
          </a:p>
        </p:txBody>
      </p:sp>
      <p:sp>
        <p:nvSpPr>
          <p:cNvPr id="1596" name="Google Shape;1596;p30"/>
          <p:cNvSpPr txBox="1"/>
          <p:nvPr/>
        </p:nvSpPr>
        <p:spPr>
          <a:xfrm>
            <a:off x="8503920" y="3355848"/>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$10.30</a:t>
            </a:r>
            <a:endParaRPr/>
          </a:p>
        </p:txBody>
      </p:sp>
      <p:sp>
        <p:nvSpPr>
          <p:cNvPr id="1597" name="Google Shape;1597;p30"/>
          <p:cNvSpPr txBox="1"/>
          <p:nvPr/>
        </p:nvSpPr>
        <p:spPr>
          <a:xfrm>
            <a:off x="9875520" y="3355848"/>
            <a:ext cx="14631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94.4</a:t>
            </a:r>
            <a:endParaRPr/>
          </a:p>
        </p:txBody>
      </p:sp>
      <p:sp>
        <p:nvSpPr>
          <p:cNvPr id="1598" name="Google Shape;1598;p30"/>
          <p:cNvSpPr txBox="1"/>
          <p:nvPr/>
        </p:nvSpPr>
        <p:spPr>
          <a:xfrm>
            <a:off x="822960" y="3721607"/>
            <a:ext cx="2103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Liver cancer</a:t>
            </a:r>
            <a:endParaRPr/>
          </a:p>
        </p:txBody>
      </p:sp>
      <p:sp>
        <p:nvSpPr>
          <p:cNvPr id="1599" name="Google Shape;1599;p30"/>
          <p:cNvSpPr txBox="1"/>
          <p:nvPr/>
        </p:nvSpPr>
        <p:spPr>
          <a:xfrm>
            <a:off x="2926079" y="3721607"/>
            <a:ext cx="2469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Mistral-Small-24B</a:t>
            </a:r>
            <a:endParaRPr/>
          </a:p>
        </p:txBody>
      </p:sp>
      <p:sp>
        <p:nvSpPr>
          <p:cNvPr id="1600" name="Google Shape;1600;p30"/>
          <p:cNvSpPr txBox="1"/>
          <p:nvPr/>
        </p:nvSpPr>
        <p:spPr>
          <a:xfrm>
            <a:off x="5394960" y="3721607"/>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34</a:t>
            </a:r>
            <a:endParaRPr/>
          </a:p>
        </p:txBody>
      </p:sp>
      <p:sp>
        <p:nvSpPr>
          <p:cNvPr id="1601" name="Google Shape;1601;p30"/>
          <p:cNvSpPr txBox="1"/>
          <p:nvPr/>
        </p:nvSpPr>
        <p:spPr>
          <a:xfrm>
            <a:off x="6766560" y="3721607"/>
            <a:ext cx="17373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246,000</a:t>
            </a:r>
            <a:endParaRPr/>
          </a:p>
        </p:txBody>
      </p:sp>
      <p:sp>
        <p:nvSpPr>
          <p:cNvPr id="1602" name="Google Shape;1602;p30"/>
          <p:cNvSpPr txBox="1"/>
          <p:nvPr/>
        </p:nvSpPr>
        <p:spPr>
          <a:xfrm>
            <a:off x="8503920" y="3721607"/>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$0.02</a:t>
            </a:r>
            <a:endParaRPr/>
          </a:p>
        </p:txBody>
      </p:sp>
      <p:sp>
        <p:nvSpPr>
          <p:cNvPr id="1603" name="Google Shape;1603;p30"/>
          <p:cNvSpPr txBox="1"/>
          <p:nvPr/>
        </p:nvSpPr>
        <p:spPr>
          <a:xfrm>
            <a:off x="9875520" y="3721607"/>
            <a:ext cx="14631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20.5</a:t>
            </a:r>
            <a:endParaRPr/>
          </a:p>
        </p:txBody>
      </p:sp>
      <p:sp>
        <p:nvSpPr>
          <p:cNvPr id="1604" name="Google Shape;1604;p30"/>
          <p:cNvSpPr/>
          <p:nvPr/>
        </p:nvSpPr>
        <p:spPr>
          <a:xfrm>
            <a:off x="822960" y="4087368"/>
            <a:ext cx="10515600" cy="365700"/>
          </a:xfrm>
          <a:prstGeom prst="rect">
            <a:avLst/>
          </a:prstGeom>
          <a:solidFill>
            <a:srgbClr val="F3F5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05" name="Google Shape;1605;p30"/>
          <p:cNvSpPr txBox="1"/>
          <p:nvPr/>
        </p:nvSpPr>
        <p:spPr>
          <a:xfrm>
            <a:off x="822960" y="4087368"/>
            <a:ext cx="2103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Liver cancer</a:t>
            </a:r>
            <a:endParaRPr/>
          </a:p>
        </p:txBody>
      </p:sp>
      <p:sp>
        <p:nvSpPr>
          <p:cNvPr id="1606" name="Google Shape;1606;p30"/>
          <p:cNvSpPr txBox="1"/>
          <p:nvPr/>
        </p:nvSpPr>
        <p:spPr>
          <a:xfrm>
            <a:off x="2926079" y="4087368"/>
            <a:ext cx="2469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DeepSeek-V3</a:t>
            </a:r>
            <a:endParaRPr/>
          </a:p>
        </p:txBody>
      </p:sp>
      <p:sp>
        <p:nvSpPr>
          <p:cNvPr id="1607" name="Google Shape;1607;p30"/>
          <p:cNvSpPr txBox="1"/>
          <p:nvPr/>
        </p:nvSpPr>
        <p:spPr>
          <a:xfrm>
            <a:off x="5394960" y="4087368"/>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33</a:t>
            </a:r>
            <a:endParaRPr/>
          </a:p>
        </p:txBody>
      </p:sp>
      <p:sp>
        <p:nvSpPr>
          <p:cNvPr id="1608" name="Google Shape;1608;p30"/>
          <p:cNvSpPr txBox="1"/>
          <p:nvPr/>
        </p:nvSpPr>
        <p:spPr>
          <a:xfrm>
            <a:off x="6766560" y="4087368"/>
            <a:ext cx="17373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142,000</a:t>
            </a:r>
            <a:endParaRPr/>
          </a:p>
        </p:txBody>
      </p:sp>
      <p:sp>
        <p:nvSpPr>
          <p:cNvPr id="1609" name="Google Shape;1609;p30"/>
          <p:cNvSpPr txBox="1"/>
          <p:nvPr/>
        </p:nvSpPr>
        <p:spPr>
          <a:xfrm>
            <a:off x="8503920" y="4087368"/>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$0.07</a:t>
            </a:r>
            <a:endParaRPr/>
          </a:p>
        </p:txBody>
      </p:sp>
      <p:sp>
        <p:nvSpPr>
          <p:cNvPr id="1610" name="Google Shape;1610;p30"/>
          <p:cNvSpPr txBox="1"/>
          <p:nvPr/>
        </p:nvSpPr>
        <p:spPr>
          <a:xfrm>
            <a:off x="9875520" y="4087368"/>
            <a:ext cx="14631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23.8</a:t>
            </a:r>
            <a:endParaRPr/>
          </a:p>
        </p:txBody>
      </p:sp>
      <p:sp>
        <p:nvSpPr>
          <p:cNvPr id="1611" name="Google Shape;1611;p30"/>
          <p:cNvSpPr txBox="1"/>
          <p:nvPr/>
        </p:nvSpPr>
        <p:spPr>
          <a:xfrm>
            <a:off x="822960" y="4453127"/>
            <a:ext cx="2103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Chinook</a:t>
            </a:r>
            <a:endParaRPr/>
          </a:p>
        </p:txBody>
      </p:sp>
      <p:sp>
        <p:nvSpPr>
          <p:cNvPr id="1612" name="Google Shape;1612;p30"/>
          <p:cNvSpPr txBox="1"/>
          <p:nvPr/>
        </p:nvSpPr>
        <p:spPr>
          <a:xfrm>
            <a:off x="2926079" y="4453127"/>
            <a:ext cx="2469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Claude Opus 4.6</a:t>
            </a:r>
            <a:endParaRPr/>
          </a:p>
        </p:txBody>
      </p:sp>
      <p:sp>
        <p:nvSpPr>
          <p:cNvPr id="1613" name="Google Shape;1613;p30"/>
          <p:cNvSpPr txBox="1"/>
          <p:nvPr/>
        </p:nvSpPr>
        <p:spPr>
          <a:xfrm>
            <a:off x="5394960" y="4453127"/>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24</a:t>
            </a:r>
            <a:endParaRPr/>
          </a:p>
        </p:txBody>
      </p:sp>
      <p:sp>
        <p:nvSpPr>
          <p:cNvPr id="1614" name="Google Shape;1614;p30"/>
          <p:cNvSpPr txBox="1"/>
          <p:nvPr/>
        </p:nvSpPr>
        <p:spPr>
          <a:xfrm>
            <a:off x="6766560" y="4453127"/>
            <a:ext cx="17373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119,000</a:t>
            </a:r>
            <a:endParaRPr/>
          </a:p>
        </p:txBody>
      </p:sp>
      <p:sp>
        <p:nvSpPr>
          <p:cNvPr id="1615" name="Google Shape;1615;p30"/>
          <p:cNvSpPr txBox="1"/>
          <p:nvPr/>
        </p:nvSpPr>
        <p:spPr>
          <a:xfrm>
            <a:off x="8503920" y="4453127"/>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$1.28</a:t>
            </a:r>
            <a:endParaRPr/>
          </a:p>
        </p:txBody>
      </p:sp>
      <p:sp>
        <p:nvSpPr>
          <p:cNvPr id="1616" name="Google Shape;1616;p30"/>
          <p:cNvSpPr txBox="1"/>
          <p:nvPr/>
        </p:nvSpPr>
        <p:spPr>
          <a:xfrm>
            <a:off x="9875520" y="4453127"/>
            <a:ext cx="14631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9.0</a:t>
            </a:r>
            <a:endParaRPr/>
          </a:p>
        </p:txBody>
      </p:sp>
      <p:sp>
        <p:nvSpPr>
          <p:cNvPr id="1617" name="Google Shape;1617;p30"/>
          <p:cNvSpPr/>
          <p:nvPr/>
        </p:nvSpPr>
        <p:spPr>
          <a:xfrm>
            <a:off x="822960" y="4818888"/>
            <a:ext cx="10515600" cy="365700"/>
          </a:xfrm>
          <a:prstGeom prst="rect">
            <a:avLst/>
          </a:prstGeom>
          <a:solidFill>
            <a:srgbClr val="F3F5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8" name="Google Shape;1618;p30"/>
          <p:cNvSpPr txBox="1"/>
          <p:nvPr/>
        </p:nvSpPr>
        <p:spPr>
          <a:xfrm>
            <a:off x="822960" y="4818888"/>
            <a:ext cx="2103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Chinook</a:t>
            </a:r>
            <a:endParaRPr/>
          </a:p>
        </p:txBody>
      </p:sp>
      <p:sp>
        <p:nvSpPr>
          <p:cNvPr id="1619" name="Google Shape;1619;p30"/>
          <p:cNvSpPr txBox="1"/>
          <p:nvPr/>
        </p:nvSpPr>
        <p:spPr>
          <a:xfrm>
            <a:off x="2926079" y="4818888"/>
            <a:ext cx="2469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Mistral-Small-24B</a:t>
            </a:r>
            <a:endParaRPr/>
          </a:p>
        </p:txBody>
      </p:sp>
      <p:sp>
        <p:nvSpPr>
          <p:cNvPr id="1620" name="Google Shape;1620;p30"/>
          <p:cNvSpPr txBox="1"/>
          <p:nvPr/>
        </p:nvSpPr>
        <p:spPr>
          <a:xfrm>
            <a:off x="5394960" y="4818888"/>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53</a:t>
            </a:r>
            <a:endParaRPr/>
          </a:p>
        </p:txBody>
      </p:sp>
      <p:sp>
        <p:nvSpPr>
          <p:cNvPr id="1621" name="Google Shape;1621;p30"/>
          <p:cNvSpPr txBox="1"/>
          <p:nvPr/>
        </p:nvSpPr>
        <p:spPr>
          <a:xfrm>
            <a:off x="6766560" y="4818888"/>
            <a:ext cx="17373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344,000</a:t>
            </a:r>
            <a:endParaRPr/>
          </a:p>
        </p:txBody>
      </p:sp>
      <p:sp>
        <p:nvSpPr>
          <p:cNvPr id="1622" name="Google Shape;1622;p30"/>
          <p:cNvSpPr txBox="1"/>
          <p:nvPr/>
        </p:nvSpPr>
        <p:spPr>
          <a:xfrm>
            <a:off x="8503920" y="4818888"/>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$0.02</a:t>
            </a:r>
            <a:endParaRPr/>
          </a:p>
        </p:txBody>
      </p:sp>
      <p:sp>
        <p:nvSpPr>
          <p:cNvPr id="1623" name="Google Shape;1623;p30"/>
          <p:cNvSpPr txBox="1"/>
          <p:nvPr/>
        </p:nvSpPr>
        <p:spPr>
          <a:xfrm>
            <a:off x="9875520" y="4818888"/>
            <a:ext cx="14631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65.0</a:t>
            </a:r>
            <a:endParaRPr/>
          </a:p>
        </p:txBody>
      </p:sp>
      <p:sp>
        <p:nvSpPr>
          <p:cNvPr id="1624" name="Google Shape;1624;p30"/>
          <p:cNvSpPr txBox="1"/>
          <p:nvPr/>
        </p:nvSpPr>
        <p:spPr>
          <a:xfrm>
            <a:off x="822960" y="5184648"/>
            <a:ext cx="2103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Chinook</a:t>
            </a:r>
            <a:endParaRPr/>
          </a:p>
        </p:txBody>
      </p:sp>
      <p:sp>
        <p:nvSpPr>
          <p:cNvPr id="1625" name="Google Shape;1625;p30"/>
          <p:cNvSpPr txBox="1"/>
          <p:nvPr/>
        </p:nvSpPr>
        <p:spPr>
          <a:xfrm>
            <a:off x="2926079" y="5184648"/>
            <a:ext cx="2469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DeepSeek-V3</a:t>
            </a:r>
            <a:endParaRPr/>
          </a:p>
        </p:txBody>
      </p:sp>
      <p:sp>
        <p:nvSpPr>
          <p:cNvPr id="1626" name="Google Shape;1626;p30"/>
          <p:cNvSpPr txBox="1"/>
          <p:nvPr/>
        </p:nvSpPr>
        <p:spPr>
          <a:xfrm>
            <a:off x="5394960" y="5184648"/>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22</a:t>
            </a:r>
            <a:endParaRPr/>
          </a:p>
        </p:txBody>
      </p:sp>
      <p:sp>
        <p:nvSpPr>
          <p:cNvPr id="1627" name="Google Shape;1627;p30"/>
          <p:cNvSpPr txBox="1"/>
          <p:nvPr/>
        </p:nvSpPr>
        <p:spPr>
          <a:xfrm>
            <a:off x="6766560" y="5184648"/>
            <a:ext cx="17373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71,000</a:t>
            </a:r>
            <a:endParaRPr/>
          </a:p>
        </p:txBody>
      </p:sp>
      <p:sp>
        <p:nvSpPr>
          <p:cNvPr id="1628" name="Google Shape;1628;p30"/>
          <p:cNvSpPr txBox="1"/>
          <p:nvPr/>
        </p:nvSpPr>
        <p:spPr>
          <a:xfrm>
            <a:off x="8503920" y="5184648"/>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$0.03</a:t>
            </a:r>
            <a:endParaRPr/>
          </a:p>
        </p:txBody>
      </p:sp>
      <p:sp>
        <p:nvSpPr>
          <p:cNvPr id="1629" name="Google Shape;1629;p30"/>
          <p:cNvSpPr txBox="1"/>
          <p:nvPr/>
        </p:nvSpPr>
        <p:spPr>
          <a:xfrm>
            <a:off x="9875520" y="5184648"/>
            <a:ext cx="14631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12.0</a:t>
            </a:r>
            <a:endParaRPr/>
          </a:p>
        </p:txBody>
      </p:sp>
      <p:sp>
        <p:nvSpPr>
          <p:cNvPr id="1630" name="Google Shape;1630;p30"/>
          <p:cNvSpPr/>
          <p:nvPr/>
        </p:nvSpPr>
        <p:spPr>
          <a:xfrm>
            <a:off x="822960" y="5550407"/>
            <a:ext cx="10515600" cy="365700"/>
          </a:xfrm>
          <a:prstGeom prst="rect">
            <a:avLst/>
          </a:prstGeom>
          <a:solidFill>
            <a:srgbClr val="F3F5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1" name="Google Shape;1631;p30"/>
          <p:cNvSpPr txBox="1"/>
          <p:nvPr/>
        </p:nvSpPr>
        <p:spPr>
          <a:xfrm>
            <a:off x="822960" y="5550407"/>
            <a:ext cx="2103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Total</a:t>
            </a:r>
            <a:endParaRPr/>
          </a:p>
        </p:txBody>
      </p:sp>
      <p:sp>
        <p:nvSpPr>
          <p:cNvPr id="1632" name="Google Shape;1632;p30"/>
          <p:cNvSpPr txBox="1"/>
          <p:nvPr/>
        </p:nvSpPr>
        <p:spPr>
          <a:xfrm>
            <a:off x="2926079" y="5550407"/>
            <a:ext cx="2469000" cy="365700"/>
          </a:xfrm>
          <a:prstGeom prst="rect">
            <a:avLst/>
          </a:prstGeom>
          <a:noFill/>
          <a:ln>
            <a:noFill/>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3" name="Google Shape;1633;p30"/>
          <p:cNvSpPr txBox="1"/>
          <p:nvPr/>
        </p:nvSpPr>
        <p:spPr>
          <a:xfrm>
            <a:off x="5394960" y="5550407"/>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552</a:t>
            </a:r>
            <a:endParaRPr/>
          </a:p>
        </p:txBody>
      </p:sp>
      <p:sp>
        <p:nvSpPr>
          <p:cNvPr id="1634" name="Google Shape;1634;p30"/>
          <p:cNvSpPr txBox="1"/>
          <p:nvPr/>
        </p:nvSpPr>
        <p:spPr>
          <a:xfrm>
            <a:off x="6766560" y="5550407"/>
            <a:ext cx="17373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4,937,000</a:t>
            </a:r>
            <a:endParaRPr/>
          </a:p>
        </p:txBody>
      </p:sp>
      <p:sp>
        <p:nvSpPr>
          <p:cNvPr id="1635" name="Google Shape;1635;p30"/>
          <p:cNvSpPr txBox="1"/>
          <p:nvPr/>
        </p:nvSpPr>
        <p:spPr>
          <a:xfrm>
            <a:off x="8503920" y="5550407"/>
            <a:ext cx="13716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$33.28</a:t>
            </a:r>
            <a:endParaRPr/>
          </a:p>
        </p:txBody>
      </p:sp>
      <p:sp>
        <p:nvSpPr>
          <p:cNvPr id="1636" name="Google Shape;1636;p30"/>
          <p:cNvSpPr txBox="1"/>
          <p:nvPr/>
        </p:nvSpPr>
        <p:spPr>
          <a:xfrm>
            <a:off x="9875520" y="5550407"/>
            <a:ext cx="1463100" cy="365700"/>
          </a:xfrm>
          <a:prstGeom prst="rect">
            <a:avLst/>
          </a:prstGeom>
          <a:noFill/>
          <a:ln>
            <a:noFill/>
          </a:ln>
        </p:spPr>
        <p:txBody>
          <a:bodyPr anchorCtr="0" anchor="ctr" bIns="0" lIns="73150" spcFirstLastPara="1" rIns="73150" wrap="square" tIns="0">
            <a:noAutofit/>
          </a:bodyPr>
          <a:lstStyle/>
          <a:p>
            <a:pPr indent="0" lvl="0" marL="0" marR="0" rtl="0" algn="r">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616.1</a:t>
            </a:r>
            <a:endParaRPr/>
          </a:p>
        </p:txBody>
      </p:sp>
      <p:sp>
        <p:nvSpPr>
          <p:cNvPr id="1637" name="Google Shape;1637;p30"/>
          <p:cNvSpPr txBox="1"/>
          <p:nvPr/>
        </p:nvSpPr>
        <p:spPr>
          <a:xfrm>
            <a:off x="850392" y="6053328"/>
            <a:ext cx="104883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Source: paper Table 15. Totals are summed from the nine rows; the paper's printed totals (651 requests, $34.28) also include runs not listed in the table.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1" name="Shape 1641"/>
        <p:cNvGrpSpPr/>
        <p:nvPr/>
      </p:nvGrpSpPr>
      <p:grpSpPr>
        <a:xfrm>
          <a:off x="0" y="0"/>
          <a:ext cx="0" cy="0"/>
          <a:chOff x="0" y="0"/>
          <a:chExt cx="0" cy="0"/>
        </a:xfrm>
      </p:grpSpPr>
      <p:sp>
        <p:nvSpPr>
          <p:cNvPr id="1642" name="Google Shape;1642;p31"/>
          <p:cNvSpPr txBox="1"/>
          <p:nvPr/>
        </p:nvSpPr>
        <p:spPr>
          <a:xfrm>
            <a:off x="777240" y="347472"/>
            <a:ext cx="100584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onsolas"/>
                <a:ea typeface="Consolas"/>
                <a:cs typeface="Consolas"/>
                <a:sym typeface="Consolas"/>
              </a:rPr>
              <a:t>BACKUP  /  B5</a:t>
            </a:r>
            <a:endParaRPr/>
          </a:p>
        </p:txBody>
      </p:sp>
      <p:sp>
        <p:nvSpPr>
          <p:cNvPr id="1643" name="Google Shape;1643;p31"/>
          <p:cNvSpPr txBox="1"/>
          <p:nvPr/>
        </p:nvSpPr>
        <p:spPr>
          <a:xfrm>
            <a:off x="777240" y="768096"/>
            <a:ext cx="10881300" cy="53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1F2328"/>
                </a:solidFill>
                <a:latin typeface="Cambria"/>
                <a:ea typeface="Cambria"/>
                <a:cs typeface="Cambria"/>
                <a:sym typeface="Cambria"/>
              </a:rPr>
              <a:t>Hard questions (1/2)</a:t>
            </a:r>
            <a:endParaRPr/>
          </a:p>
        </p:txBody>
      </p:sp>
      <p:sp>
        <p:nvSpPr>
          <p:cNvPr id="1644" name="Google Shape;1644;p31"/>
          <p:cNvSpPr txBox="1"/>
          <p:nvPr/>
        </p:nvSpPr>
        <p:spPr>
          <a:xfrm>
            <a:off x="777240" y="1371600"/>
            <a:ext cx="10789800" cy="34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Short, honest answers  ·  full versions in presentation/SPEECH.md</a:t>
            </a:r>
            <a:endParaRPr/>
          </a:p>
        </p:txBody>
      </p:sp>
      <p:sp>
        <p:nvSpPr>
          <p:cNvPr id="1645" name="Google Shape;1645;p31"/>
          <p:cNvSpPr/>
          <p:nvPr/>
        </p:nvSpPr>
        <p:spPr>
          <a:xfrm>
            <a:off x="822960" y="1810512"/>
            <a:ext cx="10515600" cy="768000"/>
          </a:xfrm>
          <a:prstGeom prst="roundRect">
            <a:avLst>
              <a:gd fmla="val 12000" name="adj"/>
            </a:avLst>
          </a:prstGeom>
          <a:solidFill>
            <a:srgbClr val="F3F5F4"/>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6" name="Google Shape;1646;p31"/>
          <p:cNvSpPr txBox="1"/>
          <p:nvPr/>
        </p:nvSpPr>
        <p:spPr>
          <a:xfrm>
            <a:off x="1005840" y="1874519"/>
            <a:ext cx="101499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50" u="none" cap="none" strike="noStrike">
                <a:solidFill>
                  <a:srgbClr val="1F2328"/>
                </a:solidFill>
                <a:latin typeface="Calibri"/>
                <a:ea typeface="Calibri"/>
                <a:cs typeface="Calibri"/>
                <a:sym typeface="Calibri"/>
              </a:rPr>
              <a:t>The Judge-LLM is the same model as the generator. Isn't that self-evaluation?</a:t>
            </a:r>
            <a:endParaRPr/>
          </a:p>
        </p:txBody>
      </p:sp>
      <p:sp>
        <p:nvSpPr>
          <p:cNvPr id="1647" name="Google Shape;1647;p31"/>
          <p:cNvSpPr txBox="1"/>
          <p:nvPr/>
        </p:nvSpPr>
        <p:spPr>
          <a:xfrm>
            <a:off x="1005840" y="2130552"/>
            <a:ext cx="10149900" cy="420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3A434C"/>
                </a:solidFill>
                <a:latin typeface="Calibri"/>
                <a:ea typeface="Calibri"/>
                <a:cs typeface="Calibri"/>
                <a:sym typeface="Calibri"/>
              </a:rPr>
              <a:t>Inside the loop, yes: the same model generates and judges, so RIGOR needs no second model. Two things do not depend on it. The rule-based graph checks are deterministic. And the evaluation used a different model family, GPT-5.4, plus ten human experts, who ranked RIGOR first in 70% of cases.</a:t>
            </a:r>
            <a:endParaRPr/>
          </a:p>
        </p:txBody>
      </p:sp>
      <p:sp>
        <p:nvSpPr>
          <p:cNvPr id="1648" name="Google Shape;1648;p31"/>
          <p:cNvSpPr/>
          <p:nvPr/>
        </p:nvSpPr>
        <p:spPr>
          <a:xfrm>
            <a:off x="822960" y="2651760"/>
            <a:ext cx="10515600" cy="768000"/>
          </a:xfrm>
          <a:prstGeom prst="roundRect">
            <a:avLst>
              <a:gd fmla="val 12000" name="adj"/>
            </a:avLst>
          </a:prstGeom>
          <a:solidFill>
            <a:srgbClr val="F3F5F4"/>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9" name="Google Shape;1649;p31"/>
          <p:cNvSpPr txBox="1"/>
          <p:nvPr/>
        </p:nvSpPr>
        <p:spPr>
          <a:xfrm>
            <a:off x="1005840" y="2715768"/>
            <a:ext cx="101499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50" u="none" cap="none" strike="noStrike">
                <a:solidFill>
                  <a:srgbClr val="1F2328"/>
                </a:solidFill>
                <a:latin typeface="Calibri"/>
                <a:ea typeface="Calibri"/>
                <a:cs typeface="Calibri"/>
                <a:sym typeface="Calibri"/>
              </a:rPr>
              <a:t>Is the Non-Iterative baseline a strawman?</a:t>
            </a:r>
            <a:endParaRPr/>
          </a:p>
        </p:txBody>
      </p:sp>
      <p:sp>
        <p:nvSpPr>
          <p:cNvPr id="1650" name="Google Shape;1650;p31"/>
          <p:cNvSpPr txBox="1"/>
          <p:nvPr/>
        </p:nvSpPr>
        <p:spPr>
          <a:xfrm>
            <a:off x="1005840" y="2971800"/>
            <a:ext cx="10149900" cy="420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3A434C"/>
                </a:solidFill>
                <a:latin typeface="Calibri"/>
                <a:ea typeface="Calibri"/>
                <a:cs typeface="Calibri"/>
                <a:sym typeface="Calibri"/>
              </a:rPr>
              <a:t>It receives the same retrieved context, but its prompt asks for less (labels and comments). Its biggest failure is dropping columns, down to 6%, which RIGOR prevents by construction with the seed. A prompt-matched ablation is a fair next experiment.</a:t>
            </a:r>
            <a:endParaRPr/>
          </a:p>
        </p:txBody>
      </p:sp>
      <p:sp>
        <p:nvSpPr>
          <p:cNvPr id="1651" name="Google Shape;1651;p31"/>
          <p:cNvSpPr/>
          <p:nvPr/>
        </p:nvSpPr>
        <p:spPr>
          <a:xfrm>
            <a:off x="822960" y="3493008"/>
            <a:ext cx="10515600" cy="768000"/>
          </a:xfrm>
          <a:prstGeom prst="roundRect">
            <a:avLst>
              <a:gd fmla="val 12000" name="adj"/>
            </a:avLst>
          </a:prstGeom>
          <a:solidFill>
            <a:srgbClr val="F3F5F4"/>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52" name="Google Shape;1652;p31"/>
          <p:cNvSpPr txBox="1"/>
          <p:nvPr/>
        </p:nvSpPr>
        <p:spPr>
          <a:xfrm>
            <a:off x="1005840" y="3557016"/>
            <a:ext cx="101499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50" u="none" cap="none" strike="noStrike">
                <a:solidFill>
                  <a:srgbClr val="1F2328"/>
                </a:solidFill>
                <a:latin typeface="Calibri"/>
                <a:ea typeface="Calibri"/>
                <a:cs typeface="Calibri"/>
                <a:sym typeface="Calibri"/>
              </a:rPr>
              <a:t>Could the LLM judge have position bias?</a:t>
            </a:r>
            <a:endParaRPr/>
          </a:p>
        </p:txBody>
      </p:sp>
      <p:sp>
        <p:nvSpPr>
          <p:cNvPr id="1653" name="Google Shape;1653;p31"/>
          <p:cNvSpPr txBox="1"/>
          <p:nvPr/>
        </p:nvSpPr>
        <p:spPr>
          <a:xfrm>
            <a:off x="1005840" y="3813048"/>
            <a:ext cx="10149900" cy="420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3A434C"/>
                </a:solidFill>
                <a:latin typeface="Calibri"/>
                <a:ea typeface="Calibri"/>
                <a:cs typeface="Calibri"/>
                <a:sym typeface="Calibri"/>
              </a:rPr>
              <a:t>Fragments were anonymized, but the order was fixed (paper Fig. 7), so we do not rely on the LLM judge alone. The human study points the same way: 28 of 40 first places, with significant agreement. Future runs should randomize the order.</a:t>
            </a:r>
            <a:endParaRPr/>
          </a:p>
        </p:txBody>
      </p:sp>
      <p:sp>
        <p:nvSpPr>
          <p:cNvPr id="1654" name="Google Shape;1654;p31"/>
          <p:cNvSpPr/>
          <p:nvPr/>
        </p:nvSpPr>
        <p:spPr>
          <a:xfrm>
            <a:off x="822960" y="4334256"/>
            <a:ext cx="10515600" cy="768000"/>
          </a:xfrm>
          <a:prstGeom prst="roundRect">
            <a:avLst>
              <a:gd fmla="val 12000" name="adj"/>
            </a:avLst>
          </a:prstGeom>
          <a:solidFill>
            <a:srgbClr val="F3F5F4"/>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55" name="Google Shape;1655;p31"/>
          <p:cNvSpPr txBox="1"/>
          <p:nvPr/>
        </p:nvSpPr>
        <p:spPr>
          <a:xfrm>
            <a:off x="1005840" y="4398264"/>
            <a:ext cx="101499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50" u="none" cap="none" strike="noStrike">
                <a:solidFill>
                  <a:srgbClr val="1F2328"/>
                </a:solidFill>
                <a:latin typeface="Calibri"/>
                <a:ea typeface="Calibri"/>
                <a:cs typeface="Calibri"/>
                <a:sym typeface="Calibri"/>
              </a:rPr>
              <a:t>Why do critical P19 pitfalls remain (multiple domains or ranges)?</a:t>
            </a:r>
            <a:endParaRPr/>
          </a:p>
        </p:txBody>
      </p:sp>
      <p:sp>
        <p:nvSpPr>
          <p:cNvPr id="1656" name="Google Shape;1656;p31"/>
          <p:cNvSpPr txBox="1"/>
          <p:nvPr/>
        </p:nvSpPr>
        <p:spPr>
          <a:xfrm>
            <a:off x="1005840" y="4654296"/>
            <a:ext cx="10149900" cy="420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3A434C"/>
                </a:solidFill>
                <a:latin typeface="Calibri"/>
                <a:ea typeface="Calibri"/>
                <a:cs typeface="Calibri"/>
                <a:sym typeface="Calibri"/>
              </a:rPr>
              <a:t>They appear in 3 of 9 runs. A likely source is the union merge: when a property such as a patient link is reused across tables, each table adds its own domain. Merge-time checks and validator feedback inside the loop are the planned fix.</a:t>
            </a:r>
            <a:endParaRPr/>
          </a:p>
        </p:txBody>
      </p:sp>
      <p:sp>
        <p:nvSpPr>
          <p:cNvPr id="1657" name="Google Shape;1657;p31"/>
          <p:cNvSpPr/>
          <p:nvPr/>
        </p:nvSpPr>
        <p:spPr>
          <a:xfrm>
            <a:off x="822960" y="5175504"/>
            <a:ext cx="10515600" cy="768000"/>
          </a:xfrm>
          <a:prstGeom prst="roundRect">
            <a:avLst>
              <a:gd fmla="val 12000" name="adj"/>
            </a:avLst>
          </a:prstGeom>
          <a:solidFill>
            <a:srgbClr val="F3F5F4"/>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58" name="Google Shape;1658;p31"/>
          <p:cNvSpPr txBox="1"/>
          <p:nvPr/>
        </p:nvSpPr>
        <p:spPr>
          <a:xfrm>
            <a:off x="1005840" y="5239512"/>
            <a:ext cx="101499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50" u="none" cap="none" strike="noStrike">
                <a:solidFill>
                  <a:srgbClr val="1F2328"/>
                </a:solidFill>
                <a:latin typeface="Calibri"/>
                <a:ea typeface="Calibri"/>
                <a:cs typeface="Calibri"/>
                <a:sym typeface="Calibri"/>
              </a:rPr>
              <a:t>Why only schemas and documentation, not the data?</a:t>
            </a:r>
            <a:endParaRPr/>
          </a:p>
        </p:txBody>
      </p:sp>
      <p:sp>
        <p:nvSpPr>
          <p:cNvPr id="1659" name="Google Shape;1659;p31"/>
          <p:cNvSpPr txBox="1"/>
          <p:nvPr/>
        </p:nvSpPr>
        <p:spPr>
          <a:xfrm>
            <a:off x="1005840" y="5495544"/>
            <a:ext cx="10149900" cy="420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3A434C"/>
                </a:solidFill>
                <a:latin typeface="Calibri"/>
                <a:ea typeface="Calibri"/>
                <a:cs typeface="Calibri"/>
                <a:sym typeface="Calibri"/>
              </a:rPr>
              <a:t>Portability and privacy. Clinical data often cannot leave the hospital, while schemas and documentation can. Instance-level signals, computed as aggregates, are our next step.</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3" name="Shape 1663"/>
        <p:cNvGrpSpPr/>
        <p:nvPr/>
      </p:nvGrpSpPr>
      <p:grpSpPr>
        <a:xfrm>
          <a:off x="0" y="0"/>
          <a:ext cx="0" cy="0"/>
          <a:chOff x="0" y="0"/>
          <a:chExt cx="0" cy="0"/>
        </a:xfrm>
      </p:grpSpPr>
      <p:sp>
        <p:nvSpPr>
          <p:cNvPr id="1664" name="Google Shape;1664;p32"/>
          <p:cNvSpPr txBox="1"/>
          <p:nvPr/>
        </p:nvSpPr>
        <p:spPr>
          <a:xfrm>
            <a:off x="777240" y="347472"/>
            <a:ext cx="100584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onsolas"/>
                <a:ea typeface="Consolas"/>
                <a:cs typeface="Consolas"/>
                <a:sym typeface="Consolas"/>
              </a:rPr>
              <a:t>BACKUP  /  B6</a:t>
            </a:r>
            <a:endParaRPr/>
          </a:p>
        </p:txBody>
      </p:sp>
      <p:sp>
        <p:nvSpPr>
          <p:cNvPr id="1665" name="Google Shape;1665;p32"/>
          <p:cNvSpPr txBox="1"/>
          <p:nvPr/>
        </p:nvSpPr>
        <p:spPr>
          <a:xfrm>
            <a:off x="777240" y="768096"/>
            <a:ext cx="10881300" cy="53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1F2328"/>
                </a:solidFill>
                <a:latin typeface="Cambria"/>
                <a:ea typeface="Cambria"/>
                <a:cs typeface="Cambria"/>
                <a:sym typeface="Cambria"/>
              </a:rPr>
              <a:t>Hard questions (2/2)</a:t>
            </a:r>
            <a:endParaRPr/>
          </a:p>
        </p:txBody>
      </p:sp>
      <p:sp>
        <p:nvSpPr>
          <p:cNvPr id="1666" name="Google Shape;1666;p32"/>
          <p:cNvSpPr txBox="1"/>
          <p:nvPr/>
        </p:nvSpPr>
        <p:spPr>
          <a:xfrm>
            <a:off x="777240" y="1371600"/>
            <a:ext cx="10789800" cy="34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Short, honest answers  ·  full versions in presentation/SPEECH.md</a:t>
            </a:r>
            <a:endParaRPr/>
          </a:p>
        </p:txBody>
      </p:sp>
      <p:sp>
        <p:nvSpPr>
          <p:cNvPr id="1667" name="Google Shape;1667;p32"/>
          <p:cNvSpPr/>
          <p:nvPr/>
        </p:nvSpPr>
        <p:spPr>
          <a:xfrm>
            <a:off x="822960" y="1810512"/>
            <a:ext cx="10515600" cy="768000"/>
          </a:xfrm>
          <a:prstGeom prst="roundRect">
            <a:avLst>
              <a:gd fmla="val 12000" name="adj"/>
            </a:avLst>
          </a:prstGeom>
          <a:solidFill>
            <a:srgbClr val="F3F5F4"/>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68" name="Google Shape;1668;p32"/>
          <p:cNvSpPr txBox="1"/>
          <p:nvPr/>
        </p:nvSpPr>
        <p:spPr>
          <a:xfrm>
            <a:off x="1005840" y="1874519"/>
            <a:ext cx="101499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50" u="none" cap="none" strike="noStrike">
                <a:solidFill>
                  <a:srgbClr val="1F2328"/>
                </a:solidFill>
                <a:latin typeface="Calibri"/>
                <a:ea typeface="Calibri"/>
                <a:cs typeface="Calibri"/>
                <a:sym typeface="Calibri"/>
              </a:rPr>
              <a:t>Column coverage drops to 0.77. Why?</a:t>
            </a:r>
            <a:endParaRPr/>
          </a:p>
        </p:txBody>
      </p:sp>
      <p:sp>
        <p:nvSpPr>
          <p:cNvPr id="1669" name="Google Shape;1669;p32"/>
          <p:cNvSpPr txBox="1"/>
          <p:nvPr/>
        </p:nvSpPr>
        <p:spPr>
          <a:xfrm>
            <a:off x="1005840" y="2130552"/>
            <a:ext cx="10149900" cy="420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3A434C"/>
                </a:solidFill>
                <a:latin typeface="Calibri"/>
                <a:ea typeface="Calibri"/>
                <a:cs typeface="Calibri"/>
                <a:sym typeface="Calibri"/>
              </a:rPr>
              <a:t>That is DeepSeek on eICU. The seed is complete by construction, but enrichment can drop columns, and coverage is an embedding-based proxy. Stronger per-fragment coverage checks are planned.</a:t>
            </a:r>
            <a:endParaRPr/>
          </a:p>
        </p:txBody>
      </p:sp>
      <p:sp>
        <p:nvSpPr>
          <p:cNvPr id="1670" name="Google Shape;1670;p32"/>
          <p:cNvSpPr/>
          <p:nvPr/>
        </p:nvSpPr>
        <p:spPr>
          <a:xfrm>
            <a:off x="822960" y="2651760"/>
            <a:ext cx="10515600" cy="768000"/>
          </a:xfrm>
          <a:prstGeom prst="roundRect">
            <a:avLst>
              <a:gd fmla="val 12000" name="adj"/>
            </a:avLst>
          </a:prstGeom>
          <a:solidFill>
            <a:srgbClr val="F3F5F4"/>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71" name="Google Shape;1671;p32"/>
          <p:cNvSpPr txBox="1"/>
          <p:nvPr/>
        </p:nvSpPr>
        <p:spPr>
          <a:xfrm>
            <a:off x="1005840" y="2715768"/>
            <a:ext cx="101499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50" u="none" cap="none" strike="noStrike">
                <a:solidFill>
                  <a:srgbClr val="1F2328"/>
                </a:solidFill>
                <a:latin typeface="Calibri"/>
                <a:ea typeface="Calibri"/>
                <a:cs typeface="Calibri"/>
                <a:sym typeface="Calibri"/>
              </a:rPr>
              <a:t>Could the LLMs have seen these databases in training?</a:t>
            </a:r>
            <a:endParaRPr/>
          </a:p>
        </p:txBody>
      </p:sp>
      <p:sp>
        <p:nvSpPr>
          <p:cNvPr id="1672" name="Google Shape;1672;p32"/>
          <p:cNvSpPr txBox="1"/>
          <p:nvPr/>
        </p:nvSpPr>
        <p:spPr>
          <a:xfrm>
            <a:off x="1005840" y="2971800"/>
            <a:ext cx="10149900" cy="420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3A434C"/>
                </a:solidFill>
                <a:latin typeface="Calibri"/>
                <a:ea typeface="Calibri"/>
                <a:cs typeface="Calibri"/>
                <a:sym typeface="Calibri"/>
              </a:rPr>
              <a:t>eICU and Chinook are public. The liver-cancer registry is private, so no model saw it, and the LLM judge still ranked RIGOR first on all 16 of its tables.</a:t>
            </a:r>
            <a:endParaRPr/>
          </a:p>
        </p:txBody>
      </p:sp>
      <p:sp>
        <p:nvSpPr>
          <p:cNvPr id="1673" name="Google Shape;1673;p32"/>
          <p:cNvSpPr/>
          <p:nvPr/>
        </p:nvSpPr>
        <p:spPr>
          <a:xfrm>
            <a:off x="822960" y="3493008"/>
            <a:ext cx="10515600" cy="768000"/>
          </a:xfrm>
          <a:prstGeom prst="roundRect">
            <a:avLst>
              <a:gd fmla="val 12000" name="adj"/>
            </a:avLst>
          </a:prstGeom>
          <a:solidFill>
            <a:srgbClr val="F3F5F4"/>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74" name="Google Shape;1674;p32"/>
          <p:cNvSpPr txBox="1"/>
          <p:nvPr/>
        </p:nvSpPr>
        <p:spPr>
          <a:xfrm>
            <a:off x="1005840" y="3557016"/>
            <a:ext cx="101499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50" u="none" cap="none" strike="noStrike">
                <a:solidFill>
                  <a:srgbClr val="1F2328"/>
                </a:solidFill>
                <a:latin typeface="Calibri"/>
                <a:ea typeface="Calibri"/>
                <a:cs typeface="Calibri"/>
                <a:sym typeface="Calibri"/>
              </a:rPr>
              <a:t>Are the external ontologies actually used?</a:t>
            </a:r>
            <a:endParaRPr/>
          </a:p>
        </p:txBody>
      </p:sp>
      <p:sp>
        <p:nvSpPr>
          <p:cNvPr id="1675" name="Google Shape;1675;p32"/>
          <p:cNvSpPr txBox="1"/>
          <p:nvPr/>
        </p:nvSpPr>
        <p:spPr>
          <a:xfrm>
            <a:off x="1005840" y="3813048"/>
            <a:ext cx="10149900" cy="420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3A434C"/>
                </a:solidFill>
                <a:latin typeface="Calibri"/>
                <a:ea typeface="Calibri"/>
                <a:cs typeface="Calibri"/>
                <a:sym typeface="Calibri"/>
              </a:rPr>
              <a:t>Retrieved external concepts are passed as context, and alignment axioms are added only on a good match. In the ablation, full RIGOR has the highest external-ontology alignment (F1 0.059 vs 0.033 without retrieval), though absolute values are small.</a:t>
            </a:r>
            <a:endParaRPr/>
          </a:p>
        </p:txBody>
      </p:sp>
      <p:sp>
        <p:nvSpPr>
          <p:cNvPr id="1676" name="Google Shape;1676;p32"/>
          <p:cNvSpPr/>
          <p:nvPr/>
        </p:nvSpPr>
        <p:spPr>
          <a:xfrm>
            <a:off x="822960" y="4334256"/>
            <a:ext cx="10515600" cy="768000"/>
          </a:xfrm>
          <a:prstGeom prst="roundRect">
            <a:avLst>
              <a:gd fmla="val 12000" name="adj"/>
            </a:avLst>
          </a:prstGeom>
          <a:solidFill>
            <a:srgbClr val="F3F5F4"/>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77" name="Google Shape;1677;p32"/>
          <p:cNvSpPr txBox="1"/>
          <p:nvPr/>
        </p:nvSpPr>
        <p:spPr>
          <a:xfrm>
            <a:off x="1005840" y="4398264"/>
            <a:ext cx="101499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50" u="none" cap="none" strike="noStrike">
                <a:solidFill>
                  <a:srgbClr val="1F2328"/>
                </a:solidFill>
                <a:latin typeface="Calibri"/>
                <a:ea typeface="Calibri"/>
                <a:cs typeface="Calibri"/>
                <a:sym typeface="Calibri"/>
              </a:rPr>
              <a:t>How does the traversal handle self-referencing foreign keys (Chinook Employee.ReportsTo)?</a:t>
            </a:r>
            <a:endParaRPr/>
          </a:p>
        </p:txBody>
      </p:sp>
      <p:sp>
        <p:nvSpPr>
          <p:cNvPr id="1678" name="Google Shape;1678;p32"/>
          <p:cNvSpPr txBox="1"/>
          <p:nvPr/>
        </p:nvSpPr>
        <p:spPr>
          <a:xfrm>
            <a:off x="1005840" y="4654296"/>
            <a:ext cx="10149900" cy="420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3A434C"/>
                </a:solidFill>
                <a:latin typeface="Calibri"/>
                <a:ea typeface="Calibri"/>
                <a:cs typeface="Calibri"/>
                <a:sym typeface="Calibri"/>
              </a:rPr>
              <a:t>A self-reference does not wait on another table, so it does not affect the order; it becomes an object property from the class to itself, which the prompt allows for meaningful recursive relations.</a:t>
            </a:r>
            <a:endParaRPr/>
          </a:p>
        </p:txBody>
      </p:sp>
      <p:sp>
        <p:nvSpPr>
          <p:cNvPr id="1679" name="Google Shape;1679;p32"/>
          <p:cNvSpPr/>
          <p:nvPr/>
        </p:nvSpPr>
        <p:spPr>
          <a:xfrm>
            <a:off x="822960" y="5175504"/>
            <a:ext cx="10515600" cy="768000"/>
          </a:xfrm>
          <a:prstGeom prst="roundRect">
            <a:avLst>
              <a:gd fmla="val 12000" name="adj"/>
            </a:avLst>
          </a:prstGeom>
          <a:solidFill>
            <a:srgbClr val="F3F5F4"/>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80" name="Google Shape;1680;p32"/>
          <p:cNvSpPr txBox="1"/>
          <p:nvPr/>
        </p:nvSpPr>
        <p:spPr>
          <a:xfrm>
            <a:off x="1005840" y="5239512"/>
            <a:ext cx="101499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50" u="none" cap="none" strike="noStrike">
                <a:solidFill>
                  <a:srgbClr val="1F2328"/>
                </a:solidFill>
                <a:latin typeface="Calibri"/>
                <a:ea typeface="Calibri"/>
                <a:cs typeface="Calibri"/>
                <a:sym typeface="Calibri"/>
              </a:rPr>
              <a:t>Why not compare with Gemini 2.5 Pro on BURR?</a:t>
            </a:r>
            <a:endParaRPr/>
          </a:p>
        </p:txBody>
      </p:sp>
      <p:sp>
        <p:nvSpPr>
          <p:cNvPr id="1681" name="Google Shape;1681;p32"/>
          <p:cNvSpPr txBox="1"/>
          <p:nvPr/>
        </p:nvSpPr>
        <p:spPr>
          <a:xfrm>
            <a:off x="1005840" y="5495544"/>
            <a:ext cx="10149900" cy="420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3A434C"/>
                </a:solidFill>
                <a:latin typeface="Calibri"/>
                <a:ea typeface="Calibri"/>
                <a:cs typeface="Calibri"/>
                <a:sym typeface="Calibri"/>
              </a:rPr>
              <a:t>In BURR it is a general-purpose LLM prompted to write the mapping directly: a mapping generator, not an ontology-learning system. Against it, RIGOR's class F1 is higher (.73 vs .65), relations are on par (.67 vs .68), attributes lower (.52 vs .56), and RIGOR also produces labels, hierarchy and provenance.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5" name="Shape 985"/>
        <p:cNvGrpSpPr/>
        <p:nvPr/>
      </p:nvGrpSpPr>
      <p:grpSpPr>
        <a:xfrm>
          <a:off x="0" y="0"/>
          <a:ext cx="0" cy="0"/>
          <a:chOff x="0" y="0"/>
          <a:chExt cx="0" cy="0"/>
        </a:xfrm>
      </p:grpSpPr>
      <p:sp>
        <p:nvSpPr>
          <p:cNvPr id="988" name="Google Shape;988;p17"/>
          <p:cNvSpPr txBox="1"/>
          <p:nvPr/>
        </p:nvSpPr>
        <p:spPr>
          <a:xfrm>
            <a:off x="512064" y="320040"/>
            <a:ext cx="6675000" cy="301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989" name="Google Shape;989;p17"/>
          <p:cNvSpPr txBox="1"/>
          <p:nvPr/>
        </p:nvSpPr>
        <p:spPr>
          <a:xfrm>
            <a:off x="512064" y="685800"/>
            <a:ext cx="10881300" cy="47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1. Follow the foreign keys</a:t>
            </a:r>
            <a:endParaRPr b="0" i="0" sz="1400" u="none" cap="none" strike="noStrike">
              <a:solidFill>
                <a:srgbClr val="000000"/>
              </a:solidFill>
              <a:latin typeface="Arial"/>
              <a:ea typeface="Arial"/>
              <a:cs typeface="Arial"/>
              <a:sym typeface="Arial"/>
            </a:endParaRPr>
          </a:p>
        </p:txBody>
      </p:sp>
      <p:sp>
        <p:nvSpPr>
          <p:cNvPr id="990" name="Google Shape;990;p17"/>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Start where the foreign-key dependencies begin.</a:t>
            </a:r>
            <a:endParaRPr b="0" i="0" sz="1400" u="none" cap="none" strike="noStrike">
              <a:solidFill>
                <a:srgbClr val="000000"/>
              </a:solidFill>
              <a:latin typeface="Arial"/>
              <a:ea typeface="Arial"/>
              <a:cs typeface="Arial"/>
              <a:sym typeface="Arial"/>
            </a:endParaRPr>
          </a:p>
        </p:txBody>
      </p:sp>
      <p:sp>
        <p:nvSpPr>
          <p:cNvPr id="991" name="Google Shape;991;p17"/>
          <p:cNvSpPr/>
          <p:nvPr/>
        </p:nvSpPr>
        <p:spPr>
          <a:xfrm>
            <a:off x="9692640"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2" name="Google Shape;992;p17"/>
          <p:cNvSpPr/>
          <p:nvPr/>
        </p:nvSpPr>
        <p:spPr>
          <a:xfrm>
            <a:off x="10049256" y="356616"/>
            <a:ext cx="274200" cy="63900"/>
          </a:xfrm>
          <a:prstGeom prst="rect">
            <a:avLst/>
          </a:prstGeom>
          <a:solidFill>
            <a:srgbClr val="D3DAD6"/>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p17"/>
          <p:cNvSpPr/>
          <p:nvPr/>
        </p:nvSpPr>
        <p:spPr>
          <a:xfrm>
            <a:off x="10405872" y="356616"/>
            <a:ext cx="274200" cy="63900"/>
          </a:xfrm>
          <a:prstGeom prst="rect">
            <a:avLst/>
          </a:prstGeom>
          <a:solidFill>
            <a:srgbClr val="D3DAD6"/>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4" name="Google Shape;994;p17"/>
          <p:cNvSpPr/>
          <p:nvPr/>
        </p:nvSpPr>
        <p:spPr>
          <a:xfrm>
            <a:off x="10762488" y="356616"/>
            <a:ext cx="274200" cy="63900"/>
          </a:xfrm>
          <a:prstGeom prst="rect">
            <a:avLst/>
          </a:prstGeom>
          <a:solidFill>
            <a:srgbClr val="D3DAD6"/>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5" name="Google Shape;995;p17"/>
          <p:cNvSpPr/>
          <p:nvPr/>
        </p:nvSpPr>
        <p:spPr>
          <a:xfrm>
            <a:off x="11119104" y="356616"/>
            <a:ext cx="274200" cy="63900"/>
          </a:xfrm>
          <a:prstGeom prst="rect">
            <a:avLst/>
          </a:prstGeom>
          <a:solidFill>
            <a:srgbClr val="D3DAD6"/>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6" name="Google Shape;996;p17"/>
          <p:cNvSpPr/>
          <p:nvPr/>
        </p:nvSpPr>
        <p:spPr>
          <a:xfrm>
            <a:off x="11475720" y="356616"/>
            <a:ext cx="274200" cy="63900"/>
          </a:xfrm>
          <a:prstGeom prst="rect">
            <a:avLst/>
          </a:prstGeom>
          <a:solidFill>
            <a:srgbClr val="D3DAD6"/>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p17"/>
          <p:cNvSpPr txBox="1"/>
          <p:nvPr/>
        </p:nvSpPr>
        <p:spPr>
          <a:xfrm>
            <a:off x="10917936" y="6519672"/>
            <a:ext cx="804600" cy="1830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1 / 6</a:t>
            </a:r>
            <a:endParaRPr b="0" i="0" sz="1400" u="none" cap="none" strike="noStrike">
              <a:solidFill>
                <a:srgbClr val="000000"/>
              </a:solidFill>
              <a:latin typeface="Arial"/>
              <a:ea typeface="Arial"/>
              <a:cs typeface="Arial"/>
              <a:sym typeface="Arial"/>
            </a:endParaRPr>
          </a:p>
        </p:txBody>
      </p:sp>
      <p:cxnSp>
        <p:nvCxnSpPr>
          <p:cNvPr id="998" name="Google Shape;998;p17"/>
          <p:cNvCxnSpPr/>
          <p:nvPr/>
        </p:nvCxnSpPr>
        <p:spPr>
          <a:xfrm>
            <a:off x="1577684" y="3507531"/>
            <a:ext cx="164700" cy="0"/>
          </a:xfrm>
          <a:prstGeom prst="straightConnector1">
            <a:avLst/>
          </a:prstGeom>
          <a:noFill/>
          <a:ln cap="flat" cmpd="sng" w="38100">
            <a:solidFill>
              <a:srgbClr val="3A7D8C"/>
            </a:solidFill>
            <a:prstDash val="solid"/>
            <a:miter lim="80"/>
            <a:headEnd len="sm" w="sm" type="none"/>
            <a:tailEnd len="sm" w="sm" type="none"/>
          </a:ln>
        </p:spPr>
      </p:cxnSp>
      <p:sp>
        <p:nvSpPr>
          <p:cNvPr id="999" name="Google Shape;999;p17"/>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0" name="Google Shape;1030;p17"/>
          <p:cNvSpPr/>
          <p:nvPr/>
        </p:nvSpPr>
        <p:spPr>
          <a:xfrm>
            <a:off x="407252" y="2958891"/>
            <a:ext cx="1170300" cy="1134000"/>
          </a:xfrm>
          <a:prstGeom prst="roundRect">
            <a:avLst>
              <a:gd fmla="val 16667" name="adj"/>
            </a:avLst>
          </a:prstGeom>
          <a:solidFill>
            <a:srgbClr val="FFFFFF"/>
          </a:solidFill>
          <a:ln cap="flat" cmpd="sng" w="292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1" name="Google Shape;1031;p17"/>
          <p:cNvSpPr/>
          <p:nvPr/>
        </p:nvSpPr>
        <p:spPr>
          <a:xfrm>
            <a:off x="526124"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2" name="Google Shape;1032;p17"/>
          <p:cNvCxnSpPr/>
          <p:nvPr/>
        </p:nvCxnSpPr>
        <p:spPr>
          <a:xfrm>
            <a:off x="567272"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3" name="Google Shape;1033;p17"/>
          <p:cNvCxnSpPr/>
          <p:nvPr/>
        </p:nvCxnSpPr>
        <p:spPr>
          <a:xfrm>
            <a:off x="567272"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34" name="Google Shape;1034;p17"/>
          <p:cNvSpPr/>
          <p:nvPr/>
        </p:nvSpPr>
        <p:spPr>
          <a:xfrm>
            <a:off x="837020"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5" name="Google Shape;1035;p17"/>
          <p:cNvCxnSpPr/>
          <p:nvPr/>
        </p:nvCxnSpPr>
        <p:spPr>
          <a:xfrm>
            <a:off x="878168"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6" name="Google Shape;1036;p17"/>
          <p:cNvCxnSpPr/>
          <p:nvPr/>
        </p:nvCxnSpPr>
        <p:spPr>
          <a:xfrm>
            <a:off x="878168"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37" name="Google Shape;1037;p17"/>
          <p:cNvSpPr/>
          <p:nvPr/>
        </p:nvSpPr>
        <p:spPr>
          <a:xfrm>
            <a:off x="1147916"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8" name="Google Shape;1038;p17"/>
          <p:cNvCxnSpPr/>
          <p:nvPr/>
        </p:nvCxnSpPr>
        <p:spPr>
          <a:xfrm>
            <a:off x="1189064"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9" name="Google Shape;1039;p17"/>
          <p:cNvCxnSpPr/>
          <p:nvPr/>
        </p:nvCxnSpPr>
        <p:spPr>
          <a:xfrm>
            <a:off x="1189064"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40" name="Google Shape;1040;p17"/>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041" name="Google Shape;1041;p17"/>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076" name="Google Shape;1076;p17"/>
          <p:cNvSpPr/>
          <p:nvPr/>
        </p:nvSpPr>
        <p:spPr>
          <a:xfrm>
            <a:off x="1838868" y="3160059"/>
            <a:ext cx="1444800" cy="694800"/>
          </a:xfrm>
          <a:prstGeom prst="roundRect">
            <a:avLst>
              <a:gd fmla="val 16667" name="adj"/>
            </a:avLst>
          </a:prstGeom>
          <a:solidFill>
            <a:srgbClr val="DDE5E1"/>
          </a:solidFill>
          <a:ln cap="flat" cmpd="sng" w="292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7" name="Google Shape;1077;p17"/>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078" name="Google Shape;1078;p17"/>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5" name="Shape 985"/>
        <p:cNvGrpSpPr/>
        <p:nvPr/>
      </p:nvGrpSpPr>
      <p:grpSpPr>
        <a:xfrm>
          <a:off x="0" y="0"/>
          <a:ext cx="0" cy="0"/>
          <a:chOff x="0" y="0"/>
          <a:chExt cx="0" cy="0"/>
        </a:xfrm>
      </p:grpSpPr>
      <p:sp>
        <p:nvSpPr>
          <p:cNvPr id="988" name="Google Shape;988;p17"/>
          <p:cNvSpPr txBox="1"/>
          <p:nvPr/>
        </p:nvSpPr>
        <p:spPr>
          <a:xfrm>
            <a:off x="512064" y="320040"/>
            <a:ext cx="6675000" cy="301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989" name="Google Shape;989;p17"/>
          <p:cNvSpPr txBox="1"/>
          <p:nvPr/>
        </p:nvSpPr>
        <p:spPr>
          <a:xfrm>
            <a:off x="512064" y="685800"/>
            <a:ext cx="10881300" cy="47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2. Anchor generation in the schema</a:t>
            </a:r>
            <a:endParaRPr b="0" i="0" sz="1400" u="none" cap="none" strike="noStrike">
              <a:solidFill>
                <a:srgbClr val="000000"/>
              </a:solidFill>
              <a:latin typeface="Arial"/>
              <a:ea typeface="Arial"/>
              <a:cs typeface="Arial"/>
              <a:sym typeface="Arial"/>
            </a:endParaRPr>
          </a:p>
        </p:txBody>
      </p:sp>
      <p:sp>
        <p:nvSpPr>
          <p:cNvPr id="990" name="Google Shape;990;p17"/>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The schema-grounded branch feeds the generation step.</a:t>
            </a:r>
            <a:endParaRPr b="0" i="0" sz="1400" u="none" cap="none" strike="noStrike">
              <a:solidFill>
                <a:srgbClr val="000000"/>
              </a:solidFill>
              <a:latin typeface="Arial"/>
              <a:ea typeface="Arial"/>
              <a:cs typeface="Arial"/>
              <a:sym typeface="Arial"/>
            </a:endParaRPr>
          </a:p>
        </p:txBody>
      </p:sp>
      <p:sp>
        <p:nvSpPr>
          <p:cNvPr id="991" name="Google Shape;991;p17"/>
          <p:cNvSpPr/>
          <p:nvPr/>
        </p:nvSpPr>
        <p:spPr>
          <a:xfrm>
            <a:off x="9692640"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2" name="Google Shape;992;p17"/>
          <p:cNvSpPr/>
          <p:nvPr/>
        </p:nvSpPr>
        <p:spPr>
          <a:xfrm>
            <a:off x="10049256"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p17"/>
          <p:cNvSpPr/>
          <p:nvPr/>
        </p:nvSpPr>
        <p:spPr>
          <a:xfrm>
            <a:off x="10405872" y="356616"/>
            <a:ext cx="274200" cy="63900"/>
          </a:xfrm>
          <a:prstGeom prst="rect">
            <a:avLst/>
          </a:prstGeom>
          <a:solidFill>
            <a:srgbClr val="D3DAD6"/>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4" name="Google Shape;994;p17"/>
          <p:cNvSpPr/>
          <p:nvPr/>
        </p:nvSpPr>
        <p:spPr>
          <a:xfrm>
            <a:off x="10762488" y="356616"/>
            <a:ext cx="274200" cy="63900"/>
          </a:xfrm>
          <a:prstGeom prst="rect">
            <a:avLst/>
          </a:prstGeom>
          <a:solidFill>
            <a:srgbClr val="D3DAD6"/>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5" name="Google Shape;995;p17"/>
          <p:cNvSpPr/>
          <p:nvPr/>
        </p:nvSpPr>
        <p:spPr>
          <a:xfrm>
            <a:off x="11119104" y="356616"/>
            <a:ext cx="274200" cy="63900"/>
          </a:xfrm>
          <a:prstGeom prst="rect">
            <a:avLst/>
          </a:prstGeom>
          <a:solidFill>
            <a:srgbClr val="D3DAD6"/>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6" name="Google Shape;996;p17"/>
          <p:cNvSpPr/>
          <p:nvPr/>
        </p:nvSpPr>
        <p:spPr>
          <a:xfrm>
            <a:off x="11475720" y="356616"/>
            <a:ext cx="274200" cy="63900"/>
          </a:xfrm>
          <a:prstGeom prst="rect">
            <a:avLst/>
          </a:prstGeom>
          <a:solidFill>
            <a:srgbClr val="D3DAD6"/>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p17"/>
          <p:cNvSpPr txBox="1"/>
          <p:nvPr/>
        </p:nvSpPr>
        <p:spPr>
          <a:xfrm>
            <a:off x="10917936" y="6519672"/>
            <a:ext cx="804600" cy="1830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2 / 6</a:t>
            </a:r>
            <a:endParaRPr b="0" i="0" sz="1400" u="none" cap="none" strike="noStrike">
              <a:solidFill>
                <a:srgbClr val="000000"/>
              </a:solidFill>
              <a:latin typeface="Arial"/>
              <a:ea typeface="Arial"/>
              <a:cs typeface="Arial"/>
              <a:sym typeface="Arial"/>
            </a:endParaRPr>
          </a:p>
        </p:txBody>
      </p:sp>
      <p:cxnSp>
        <p:nvCxnSpPr>
          <p:cNvPr id="998" name="Google Shape;998;p17"/>
          <p:cNvCxnSpPr/>
          <p:nvPr/>
        </p:nvCxnSpPr>
        <p:spPr>
          <a:xfrm>
            <a:off x="1577684" y="3507531"/>
            <a:ext cx="164700" cy="0"/>
          </a:xfrm>
          <a:prstGeom prst="straightConnector1">
            <a:avLst/>
          </a:prstGeom>
          <a:noFill/>
          <a:ln cap="flat" cmpd="sng" w="38100">
            <a:solidFill>
              <a:srgbClr val="3A7D8C"/>
            </a:solidFill>
            <a:prstDash val="solid"/>
            <a:miter lim="80"/>
            <a:headEnd len="sm" w="sm" type="none"/>
            <a:tailEnd len="sm" w="sm" type="none"/>
          </a:ln>
        </p:spPr>
      </p:cxnSp>
      <p:sp>
        <p:nvSpPr>
          <p:cNvPr id="999" name="Google Shape;999;p17"/>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0" name="Google Shape;1000;p17"/>
          <p:cNvCxnSpPr/>
          <p:nvPr/>
        </p:nvCxnSpPr>
        <p:spPr>
          <a:xfrm>
            <a:off x="3369671" y="3446462"/>
            <a:ext cx="100500" cy="0"/>
          </a:xfrm>
          <a:prstGeom prst="straightConnector1">
            <a:avLst/>
          </a:prstGeom>
          <a:noFill/>
          <a:ln cap="flat" cmpd="sng" w="29200">
            <a:solidFill>
              <a:srgbClr val="3A7D8C"/>
            </a:solidFill>
            <a:prstDash val="solid"/>
            <a:miter lim="80"/>
            <a:headEnd len="sm" w="sm" type="none"/>
            <a:tailEnd len="sm" w="sm" type="none"/>
          </a:ln>
        </p:spPr>
      </p:cxnSp>
      <p:cxnSp>
        <p:nvCxnSpPr>
          <p:cNvPr id="1001" name="Google Shape;1001;p17"/>
          <p:cNvCxnSpPr/>
          <p:nvPr/>
        </p:nvCxnSpPr>
        <p:spPr>
          <a:xfrm rot="10800000">
            <a:off x="3456647" y="2186248"/>
            <a:ext cx="0" cy="1271100"/>
          </a:xfrm>
          <a:prstGeom prst="straightConnector1">
            <a:avLst/>
          </a:prstGeom>
          <a:noFill/>
          <a:ln cap="flat" cmpd="sng" w="29200">
            <a:solidFill>
              <a:srgbClr val="3A7D8C"/>
            </a:solidFill>
            <a:prstDash val="solid"/>
            <a:miter lim="80"/>
            <a:headEnd len="sm" w="sm" type="none"/>
            <a:tailEnd len="sm" w="sm" type="none"/>
          </a:ln>
        </p:spPr>
      </p:cxnSp>
      <p:cxnSp>
        <p:nvCxnSpPr>
          <p:cNvPr id="1002" name="Google Shape;1002;p17"/>
          <p:cNvCxnSpPr/>
          <p:nvPr/>
        </p:nvCxnSpPr>
        <p:spPr>
          <a:xfrm>
            <a:off x="3456647" y="2199939"/>
            <a:ext cx="265200" cy="0"/>
          </a:xfrm>
          <a:prstGeom prst="straightConnector1">
            <a:avLst/>
          </a:prstGeom>
          <a:noFill/>
          <a:ln cap="flat" cmpd="sng" w="29200">
            <a:solidFill>
              <a:srgbClr val="3A7D8C"/>
            </a:solidFill>
            <a:prstDash val="solid"/>
            <a:miter lim="80"/>
            <a:headEnd len="sm" w="sm" type="none"/>
            <a:tailEnd len="sm" w="sm" type="none"/>
          </a:ln>
        </p:spPr>
      </p:cxnSp>
      <p:sp>
        <p:nvSpPr>
          <p:cNvPr id="1003" name="Google Shape;1003;p17"/>
          <p:cNvSpPr/>
          <p:nvPr/>
        </p:nvSpPr>
        <p:spPr>
          <a:xfrm rot="5400000">
            <a:off x="3918081" y="213593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0" name="Google Shape;1030;p17"/>
          <p:cNvSpPr/>
          <p:nvPr/>
        </p:nvSpPr>
        <p:spPr>
          <a:xfrm>
            <a:off x="407252" y="2958891"/>
            <a:ext cx="1170300" cy="1134000"/>
          </a:xfrm>
          <a:prstGeom prst="roundRect">
            <a:avLst>
              <a:gd fmla="val 16667" name="adj"/>
            </a:avLst>
          </a:prstGeom>
          <a:solidFill>
            <a:srgbClr val="FFFFFF"/>
          </a:solidFill>
          <a:ln cap="flat" cmpd="sng" w="15225">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1" name="Google Shape;1031;p17"/>
          <p:cNvSpPr/>
          <p:nvPr/>
        </p:nvSpPr>
        <p:spPr>
          <a:xfrm>
            <a:off x="526124"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2" name="Google Shape;1032;p17"/>
          <p:cNvCxnSpPr/>
          <p:nvPr/>
        </p:nvCxnSpPr>
        <p:spPr>
          <a:xfrm>
            <a:off x="567272"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3" name="Google Shape;1033;p17"/>
          <p:cNvCxnSpPr/>
          <p:nvPr/>
        </p:nvCxnSpPr>
        <p:spPr>
          <a:xfrm>
            <a:off x="567272"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34" name="Google Shape;1034;p17"/>
          <p:cNvSpPr/>
          <p:nvPr/>
        </p:nvSpPr>
        <p:spPr>
          <a:xfrm>
            <a:off x="837020"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5" name="Google Shape;1035;p17"/>
          <p:cNvCxnSpPr/>
          <p:nvPr/>
        </p:nvCxnSpPr>
        <p:spPr>
          <a:xfrm>
            <a:off x="878168"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6" name="Google Shape;1036;p17"/>
          <p:cNvCxnSpPr/>
          <p:nvPr/>
        </p:nvCxnSpPr>
        <p:spPr>
          <a:xfrm>
            <a:off x="878168"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37" name="Google Shape;1037;p17"/>
          <p:cNvSpPr/>
          <p:nvPr/>
        </p:nvSpPr>
        <p:spPr>
          <a:xfrm>
            <a:off x="1147916"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8" name="Google Shape;1038;p17"/>
          <p:cNvCxnSpPr/>
          <p:nvPr/>
        </p:nvCxnSpPr>
        <p:spPr>
          <a:xfrm>
            <a:off x="1189064"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9" name="Google Shape;1039;p17"/>
          <p:cNvCxnSpPr/>
          <p:nvPr/>
        </p:nvCxnSpPr>
        <p:spPr>
          <a:xfrm>
            <a:off x="1189064"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40" name="Google Shape;1040;p17"/>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041" name="Google Shape;1041;p17"/>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042" name="Google Shape;1042;p17"/>
          <p:cNvSpPr/>
          <p:nvPr/>
        </p:nvSpPr>
        <p:spPr>
          <a:xfrm>
            <a:off x="4043884" y="1825035"/>
            <a:ext cx="2103000" cy="759000"/>
          </a:xfrm>
          <a:prstGeom prst="roundRect">
            <a:avLst>
              <a:gd fmla="val 16667" name="adj"/>
            </a:avLst>
          </a:prstGeom>
          <a:solidFill>
            <a:srgbClr val="DDE5E1"/>
          </a:solidFill>
          <a:ln cap="flat" cmpd="sng" w="292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3" name="Google Shape;1043;p17"/>
          <p:cNvSpPr txBox="1"/>
          <p:nvPr/>
        </p:nvSpPr>
        <p:spPr>
          <a:xfrm>
            <a:off x="4117036" y="1590575"/>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(b)</a:t>
            </a:r>
            <a:endParaRPr b="0" i="0" sz="1400" u="none" cap="none" strike="noStrike">
              <a:solidFill>
                <a:srgbClr val="000000"/>
              </a:solidFill>
              <a:latin typeface="Arial"/>
              <a:ea typeface="Arial"/>
              <a:cs typeface="Arial"/>
              <a:sym typeface="Arial"/>
            </a:endParaRPr>
          </a:p>
        </p:txBody>
      </p:sp>
      <p:sp>
        <p:nvSpPr>
          <p:cNvPr id="1044" name="Google Shape;1044;p17"/>
          <p:cNvSpPr txBox="1"/>
          <p:nvPr/>
        </p:nvSpPr>
        <p:spPr>
          <a:xfrm>
            <a:off x="4126180" y="1943907"/>
            <a:ext cx="19386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045" name="Google Shape;1045;p17"/>
          <p:cNvSpPr txBox="1"/>
          <p:nvPr/>
        </p:nvSpPr>
        <p:spPr>
          <a:xfrm>
            <a:off x="4135323" y="2218227"/>
            <a:ext cx="19203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OWL seed DMᵣ</a:t>
            </a:r>
            <a:endParaRPr b="0" i="0" sz="1400" u="none" cap="none" strike="noStrike">
              <a:solidFill>
                <a:srgbClr val="000000"/>
              </a:solidFill>
              <a:latin typeface="Arial"/>
              <a:ea typeface="Arial"/>
              <a:cs typeface="Arial"/>
              <a:sym typeface="Arial"/>
            </a:endParaRPr>
          </a:p>
        </p:txBody>
      </p:sp>
      <p:cxnSp>
        <p:nvCxnSpPr>
          <p:cNvPr id="1075" name="Google Shape;1075;p17"/>
          <p:cNvCxnSpPr/>
          <p:nvPr/>
        </p:nvCxnSpPr>
        <p:spPr>
          <a:xfrm>
            <a:off x="3280056" y="3446462"/>
            <a:ext cx="100500" cy="0"/>
          </a:xfrm>
          <a:prstGeom prst="straightConnector1">
            <a:avLst/>
          </a:prstGeom>
          <a:noFill/>
          <a:ln cap="flat" cmpd="sng" w="29200">
            <a:solidFill>
              <a:srgbClr val="3A7D8C"/>
            </a:solidFill>
            <a:prstDash val="solid"/>
            <a:miter lim="80"/>
            <a:headEnd len="sm" w="sm" type="none"/>
            <a:tailEnd len="sm" w="sm" type="none"/>
          </a:ln>
        </p:spPr>
      </p:cxnSp>
      <p:sp>
        <p:nvSpPr>
          <p:cNvPr id="1076" name="Google Shape;1076;p17"/>
          <p:cNvSpPr/>
          <p:nvPr/>
        </p:nvSpPr>
        <p:spPr>
          <a:xfrm>
            <a:off x="1838868" y="3160059"/>
            <a:ext cx="1444800" cy="6948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7" name="Google Shape;1077;p17"/>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078" name="Google Shape;1078;p17"/>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cxnSp>
        <p:nvCxnSpPr>
          <p:cNvPr id="1080" name="Google Shape;1080;p17"/>
          <p:cNvCxnSpPr/>
          <p:nvPr/>
        </p:nvCxnSpPr>
        <p:spPr>
          <a:xfrm>
            <a:off x="3657665" y="2199459"/>
            <a:ext cx="265200" cy="0"/>
          </a:xfrm>
          <a:prstGeom prst="straightConnector1">
            <a:avLst/>
          </a:prstGeom>
          <a:noFill/>
          <a:ln cap="flat" cmpd="sng" w="29200">
            <a:solidFill>
              <a:srgbClr val="3A7D8C"/>
            </a:solidFill>
            <a:prstDash val="solid"/>
            <a:miter lim="80"/>
            <a:headEnd len="sm" w="sm" type="none"/>
            <a:tailEnd len="sm" w="sm" type="non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5" name="Shape 985"/>
        <p:cNvGrpSpPr/>
        <p:nvPr/>
      </p:nvGrpSpPr>
      <p:grpSpPr>
        <a:xfrm>
          <a:off x="0" y="0"/>
          <a:ext cx="0" cy="0"/>
          <a:chOff x="0" y="0"/>
          <a:chExt cx="0" cy="0"/>
        </a:xfrm>
      </p:grpSpPr>
      <p:sp>
        <p:nvSpPr>
          <p:cNvPr id="988" name="Google Shape;988;p17"/>
          <p:cNvSpPr txBox="1"/>
          <p:nvPr/>
        </p:nvSpPr>
        <p:spPr>
          <a:xfrm>
            <a:off x="512064" y="320040"/>
            <a:ext cx="6675000" cy="301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989" name="Google Shape;989;p17"/>
          <p:cNvSpPr txBox="1"/>
          <p:nvPr/>
        </p:nvSpPr>
        <p:spPr>
          <a:xfrm>
            <a:off x="512064" y="685800"/>
            <a:ext cx="10881300" cy="47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3. Retrieve the missing semantics</a:t>
            </a:r>
            <a:endParaRPr b="0" i="0" sz="1400" u="none" cap="none" strike="noStrike">
              <a:solidFill>
                <a:srgbClr val="000000"/>
              </a:solidFill>
              <a:latin typeface="Arial"/>
              <a:ea typeface="Arial"/>
              <a:cs typeface="Arial"/>
              <a:sym typeface="Arial"/>
            </a:endParaRPr>
          </a:p>
        </p:txBody>
      </p:sp>
      <p:sp>
        <p:nvSpPr>
          <p:cNvPr id="990" name="Google Shape;990;p17"/>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Context is retrieved independently from three sources.</a:t>
            </a:r>
            <a:endParaRPr b="0" i="0" sz="1400" u="none" cap="none" strike="noStrike">
              <a:solidFill>
                <a:srgbClr val="000000"/>
              </a:solidFill>
              <a:latin typeface="Arial"/>
              <a:ea typeface="Arial"/>
              <a:cs typeface="Arial"/>
              <a:sym typeface="Arial"/>
            </a:endParaRPr>
          </a:p>
        </p:txBody>
      </p:sp>
      <p:sp>
        <p:nvSpPr>
          <p:cNvPr id="991" name="Google Shape;991;p17"/>
          <p:cNvSpPr/>
          <p:nvPr/>
        </p:nvSpPr>
        <p:spPr>
          <a:xfrm>
            <a:off x="9692640"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2" name="Google Shape;992;p17"/>
          <p:cNvSpPr/>
          <p:nvPr/>
        </p:nvSpPr>
        <p:spPr>
          <a:xfrm>
            <a:off x="10049256"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p17"/>
          <p:cNvSpPr/>
          <p:nvPr/>
        </p:nvSpPr>
        <p:spPr>
          <a:xfrm>
            <a:off x="10405872"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4" name="Google Shape;994;p17"/>
          <p:cNvSpPr/>
          <p:nvPr/>
        </p:nvSpPr>
        <p:spPr>
          <a:xfrm>
            <a:off x="10762488" y="356616"/>
            <a:ext cx="274200" cy="63900"/>
          </a:xfrm>
          <a:prstGeom prst="rect">
            <a:avLst/>
          </a:prstGeom>
          <a:solidFill>
            <a:srgbClr val="D3DAD6"/>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5" name="Google Shape;995;p17"/>
          <p:cNvSpPr/>
          <p:nvPr/>
        </p:nvSpPr>
        <p:spPr>
          <a:xfrm>
            <a:off x="11119104" y="356616"/>
            <a:ext cx="274200" cy="63900"/>
          </a:xfrm>
          <a:prstGeom prst="rect">
            <a:avLst/>
          </a:prstGeom>
          <a:solidFill>
            <a:srgbClr val="D3DAD6"/>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6" name="Google Shape;996;p17"/>
          <p:cNvSpPr/>
          <p:nvPr/>
        </p:nvSpPr>
        <p:spPr>
          <a:xfrm>
            <a:off x="11475720" y="356616"/>
            <a:ext cx="274200" cy="63900"/>
          </a:xfrm>
          <a:prstGeom prst="rect">
            <a:avLst/>
          </a:prstGeom>
          <a:solidFill>
            <a:srgbClr val="D3DAD6"/>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p17"/>
          <p:cNvSpPr txBox="1"/>
          <p:nvPr/>
        </p:nvSpPr>
        <p:spPr>
          <a:xfrm>
            <a:off x="10917936" y="6519672"/>
            <a:ext cx="804600" cy="1830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3 / 6</a:t>
            </a:r>
            <a:endParaRPr b="0" i="0" sz="1400" u="none" cap="none" strike="noStrike">
              <a:solidFill>
                <a:srgbClr val="000000"/>
              </a:solidFill>
              <a:latin typeface="Arial"/>
              <a:ea typeface="Arial"/>
              <a:cs typeface="Arial"/>
              <a:sym typeface="Arial"/>
            </a:endParaRPr>
          </a:p>
        </p:txBody>
      </p:sp>
      <p:cxnSp>
        <p:nvCxnSpPr>
          <p:cNvPr id="998" name="Google Shape;998;p17"/>
          <p:cNvCxnSpPr/>
          <p:nvPr/>
        </p:nvCxnSpPr>
        <p:spPr>
          <a:xfrm>
            <a:off x="1577684" y="3507531"/>
            <a:ext cx="164700" cy="0"/>
          </a:xfrm>
          <a:prstGeom prst="straightConnector1">
            <a:avLst/>
          </a:prstGeom>
          <a:noFill/>
          <a:ln cap="flat" cmpd="sng" w="38100">
            <a:solidFill>
              <a:srgbClr val="3A7D8C"/>
            </a:solidFill>
            <a:prstDash val="solid"/>
            <a:miter lim="80"/>
            <a:headEnd len="sm" w="sm" type="none"/>
            <a:tailEnd len="sm" w="sm" type="none"/>
          </a:ln>
        </p:spPr>
      </p:cxnSp>
      <p:sp>
        <p:nvSpPr>
          <p:cNvPr id="999" name="Google Shape;999;p17"/>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0" name="Google Shape;1000;p17"/>
          <p:cNvCxnSpPr/>
          <p:nvPr/>
        </p:nvCxnSpPr>
        <p:spPr>
          <a:xfrm>
            <a:off x="3369671" y="3446462"/>
            <a:ext cx="100500" cy="0"/>
          </a:xfrm>
          <a:prstGeom prst="straightConnector1">
            <a:avLst/>
          </a:prstGeom>
          <a:noFill/>
          <a:ln cap="flat" cmpd="sng" w="29200">
            <a:solidFill>
              <a:srgbClr val="3A7D8C"/>
            </a:solidFill>
            <a:prstDash val="solid"/>
            <a:miter lim="80"/>
            <a:headEnd len="sm" w="sm" type="none"/>
            <a:tailEnd len="sm" w="sm" type="none"/>
          </a:ln>
        </p:spPr>
      </p:cxnSp>
      <p:cxnSp>
        <p:nvCxnSpPr>
          <p:cNvPr id="1001" name="Google Shape;1001;p17"/>
          <p:cNvCxnSpPr/>
          <p:nvPr/>
        </p:nvCxnSpPr>
        <p:spPr>
          <a:xfrm rot="10800000">
            <a:off x="3456647" y="2186248"/>
            <a:ext cx="0" cy="1271100"/>
          </a:xfrm>
          <a:prstGeom prst="straightConnector1">
            <a:avLst/>
          </a:prstGeom>
          <a:noFill/>
          <a:ln cap="flat" cmpd="sng" w="29200">
            <a:solidFill>
              <a:srgbClr val="3A7D8C"/>
            </a:solidFill>
            <a:prstDash val="solid"/>
            <a:miter lim="80"/>
            <a:headEnd len="sm" w="sm" type="none"/>
            <a:tailEnd len="sm" w="sm" type="none"/>
          </a:ln>
        </p:spPr>
      </p:cxnSp>
      <p:cxnSp>
        <p:nvCxnSpPr>
          <p:cNvPr id="1002" name="Google Shape;1002;p17"/>
          <p:cNvCxnSpPr/>
          <p:nvPr/>
        </p:nvCxnSpPr>
        <p:spPr>
          <a:xfrm>
            <a:off x="3456647" y="2199939"/>
            <a:ext cx="265200" cy="0"/>
          </a:xfrm>
          <a:prstGeom prst="straightConnector1">
            <a:avLst/>
          </a:prstGeom>
          <a:noFill/>
          <a:ln cap="flat" cmpd="sng" w="29200">
            <a:solidFill>
              <a:srgbClr val="3A7D8C"/>
            </a:solidFill>
            <a:prstDash val="solid"/>
            <a:miter lim="80"/>
            <a:headEnd len="sm" w="sm" type="none"/>
            <a:tailEnd len="sm" w="sm" type="none"/>
          </a:ln>
        </p:spPr>
      </p:cxnSp>
      <p:sp>
        <p:nvSpPr>
          <p:cNvPr id="1003" name="Google Shape;1003;p17"/>
          <p:cNvSpPr/>
          <p:nvPr/>
        </p:nvSpPr>
        <p:spPr>
          <a:xfrm rot="5400000">
            <a:off x="3918081" y="213593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4" name="Google Shape;1004;p17"/>
          <p:cNvCxnSpPr/>
          <p:nvPr/>
        </p:nvCxnSpPr>
        <p:spPr>
          <a:xfrm>
            <a:off x="3356063"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05" name="Google Shape;1005;p17"/>
          <p:cNvCxnSpPr/>
          <p:nvPr/>
        </p:nvCxnSpPr>
        <p:spPr>
          <a:xfrm rot="10800000">
            <a:off x="3537528" y="3283708"/>
            <a:ext cx="0" cy="310800"/>
          </a:xfrm>
          <a:prstGeom prst="straightConnector1">
            <a:avLst/>
          </a:prstGeom>
          <a:noFill/>
          <a:ln cap="flat" cmpd="sng" w="26650">
            <a:solidFill>
              <a:srgbClr val="3A7D8C"/>
            </a:solidFill>
            <a:prstDash val="solid"/>
            <a:miter lim="80"/>
            <a:headEnd len="sm" w="sm" type="none"/>
            <a:tailEnd len="sm" w="sm" type="none"/>
          </a:ln>
        </p:spPr>
      </p:cxnSp>
      <p:cxnSp>
        <p:nvCxnSpPr>
          <p:cNvPr id="1006" name="Google Shape;1006;p17"/>
          <p:cNvCxnSpPr/>
          <p:nvPr/>
        </p:nvCxnSpPr>
        <p:spPr>
          <a:xfrm>
            <a:off x="3537528" y="3297219"/>
            <a:ext cx="255900" cy="0"/>
          </a:xfrm>
          <a:prstGeom prst="straightConnector1">
            <a:avLst/>
          </a:prstGeom>
          <a:noFill/>
          <a:ln cap="flat" cmpd="sng" w="26650">
            <a:solidFill>
              <a:srgbClr val="3A7D8C"/>
            </a:solidFill>
            <a:prstDash val="solid"/>
            <a:miter lim="80"/>
            <a:headEnd len="sm" w="sm" type="none"/>
            <a:tailEnd len="sm" w="sm" type="none"/>
          </a:ln>
        </p:spPr>
      </p:cxnSp>
      <p:sp>
        <p:nvSpPr>
          <p:cNvPr id="1007" name="Google Shape;1007;p17"/>
          <p:cNvSpPr/>
          <p:nvPr/>
        </p:nvSpPr>
        <p:spPr>
          <a:xfrm rot="5400000">
            <a:off x="3729467" y="323321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8" name="Google Shape;1008;p17"/>
          <p:cNvCxnSpPr/>
          <p:nvPr/>
        </p:nvCxnSpPr>
        <p:spPr>
          <a:xfrm>
            <a:off x="3356063"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09" name="Google Shape;1009;p17"/>
          <p:cNvCxnSpPr/>
          <p:nvPr/>
        </p:nvCxnSpPr>
        <p:spPr>
          <a:xfrm>
            <a:off x="3537528" y="3992163"/>
            <a:ext cx="255900" cy="0"/>
          </a:xfrm>
          <a:prstGeom prst="straightConnector1">
            <a:avLst/>
          </a:prstGeom>
          <a:noFill/>
          <a:ln cap="flat" cmpd="sng" w="26650">
            <a:solidFill>
              <a:srgbClr val="3A7D8C"/>
            </a:solidFill>
            <a:prstDash val="solid"/>
            <a:miter lim="80"/>
            <a:headEnd len="sm" w="sm" type="none"/>
            <a:tailEnd len="sm" w="sm" type="none"/>
          </a:ln>
        </p:spPr>
      </p:cxnSp>
      <p:sp>
        <p:nvSpPr>
          <p:cNvPr id="1010" name="Google Shape;1010;p17"/>
          <p:cNvSpPr/>
          <p:nvPr/>
        </p:nvSpPr>
        <p:spPr>
          <a:xfrm rot="5400000">
            <a:off x="3729467" y="3928154"/>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11" name="Google Shape;1011;p17"/>
          <p:cNvCxnSpPr/>
          <p:nvPr/>
        </p:nvCxnSpPr>
        <p:spPr>
          <a:xfrm>
            <a:off x="3418656"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12" name="Google Shape;1012;p17"/>
          <p:cNvCxnSpPr/>
          <p:nvPr/>
        </p:nvCxnSpPr>
        <p:spPr>
          <a:xfrm>
            <a:off x="3537528" y="3594508"/>
            <a:ext cx="0" cy="1079100"/>
          </a:xfrm>
          <a:prstGeom prst="straightConnector1">
            <a:avLst/>
          </a:prstGeom>
          <a:noFill/>
          <a:ln cap="flat" cmpd="sng" w="26650">
            <a:solidFill>
              <a:srgbClr val="3A7D8C"/>
            </a:solidFill>
            <a:prstDash val="solid"/>
            <a:miter lim="80"/>
            <a:headEnd len="sm" w="sm" type="none"/>
            <a:tailEnd len="sm" w="sm" type="none"/>
          </a:ln>
        </p:spPr>
      </p:cxnSp>
      <p:cxnSp>
        <p:nvCxnSpPr>
          <p:cNvPr id="1013" name="Google Shape;1013;p17"/>
          <p:cNvCxnSpPr/>
          <p:nvPr/>
        </p:nvCxnSpPr>
        <p:spPr>
          <a:xfrm>
            <a:off x="3537528" y="4659893"/>
            <a:ext cx="255900" cy="0"/>
          </a:xfrm>
          <a:prstGeom prst="straightConnector1">
            <a:avLst/>
          </a:prstGeom>
          <a:noFill/>
          <a:ln cap="flat" cmpd="sng" w="26650">
            <a:solidFill>
              <a:srgbClr val="3A7D8C"/>
            </a:solidFill>
            <a:prstDash val="solid"/>
            <a:miter lim="80"/>
            <a:headEnd len="sm" w="sm" type="none"/>
            <a:tailEnd len="sm" w="sm" type="none"/>
          </a:ln>
        </p:spPr>
      </p:cxnSp>
      <p:sp>
        <p:nvSpPr>
          <p:cNvPr id="1014" name="Google Shape;1014;p17"/>
          <p:cNvSpPr/>
          <p:nvPr/>
        </p:nvSpPr>
        <p:spPr>
          <a:xfrm rot="5400000">
            <a:off x="3729467" y="459588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0" name="Google Shape;1030;p17"/>
          <p:cNvSpPr/>
          <p:nvPr/>
        </p:nvSpPr>
        <p:spPr>
          <a:xfrm>
            <a:off x="407252" y="2958891"/>
            <a:ext cx="1170300" cy="1134000"/>
          </a:xfrm>
          <a:prstGeom prst="roundRect">
            <a:avLst>
              <a:gd fmla="val 16667" name="adj"/>
            </a:avLst>
          </a:prstGeom>
          <a:solidFill>
            <a:srgbClr val="FFFFFF"/>
          </a:solidFill>
          <a:ln cap="flat" cmpd="sng" w="15225">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1" name="Google Shape;1031;p17"/>
          <p:cNvSpPr/>
          <p:nvPr/>
        </p:nvSpPr>
        <p:spPr>
          <a:xfrm>
            <a:off x="526124"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2" name="Google Shape;1032;p17"/>
          <p:cNvCxnSpPr/>
          <p:nvPr/>
        </p:nvCxnSpPr>
        <p:spPr>
          <a:xfrm>
            <a:off x="567272"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3" name="Google Shape;1033;p17"/>
          <p:cNvCxnSpPr/>
          <p:nvPr/>
        </p:nvCxnSpPr>
        <p:spPr>
          <a:xfrm>
            <a:off x="567272"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34" name="Google Shape;1034;p17"/>
          <p:cNvSpPr/>
          <p:nvPr/>
        </p:nvSpPr>
        <p:spPr>
          <a:xfrm>
            <a:off x="837020"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5" name="Google Shape;1035;p17"/>
          <p:cNvCxnSpPr/>
          <p:nvPr/>
        </p:nvCxnSpPr>
        <p:spPr>
          <a:xfrm>
            <a:off x="878168"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6" name="Google Shape;1036;p17"/>
          <p:cNvCxnSpPr/>
          <p:nvPr/>
        </p:nvCxnSpPr>
        <p:spPr>
          <a:xfrm>
            <a:off x="878168"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37" name="Google Shape;1037;p17"/>
          <p:cNvSpPr/>
          <p:nvPr/>
        </p:nvSpPr>
        <p:spPr>
          <a:xfrm>
            <a:off x="1147916"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8" name="Google Shape;1038;p17"/>
          <p:cNvCxnSpPr/>
          <p:nvPr/>
        </p:nvCxnSpPr>
        <p:spPr>
          <a:xfrm>
            <a:off x="1189064"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9" name="Google Shape;1039;p17"/>
          <p:cNvCxnSpPr/>
          <p:nvPr/>
        </p:nvCxnSpPr>
        <p:spPr>
          <a:xfrm>
            <a:off x="1189064"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40" name="Google Shape;1040;p17"/>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041" name="Google Shape;1041;p17"/>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042" name="Google Shape;1042;p17"/>
          <p:cNvSpPr/>
          <p:nvPr/>
        </p:nvSpPr>
        <p:spPr>
          <a:xfrm>
            <a:off x="4043884" y="1825035"/>
            <a:ext cx="2103000" cy="7590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3" name="Google Shape;1043;p17"/>
          <p:cNvSpPr txBox="1"/>
          <p:nvPr/>
        </p:nvSpPr>
        <p:spPr>
          <a:xfrm>
            <a:off x="4117036" y="1590575"/>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(b)</a:t>
            </a:r>
            <a:endParaRPr b="0" i="0" sz="1400" u="none" cap="none" strike="noStrike">
              <a:solidFill>
                <a:srgbClr val="000000"/>
              </a:solidFill>
              <a:latin typeface="Arial"/>
              <a:ea typeface="Arial"/>
              <a:cs typeface="Arial"/>
              <a:sym typeface="Arial"/>
            </a:endParaRPr>
          </a:p>
        </p:txBody>
      </p:sp>
      <p:sp>
        <p:nvSpPr>
          <p:cNvPr id="1044" name="Google Shape;1044;p17"/>
          <p:cNvSpPr txBox="1"/>
          <p:nvPr/>
        </p:nvSpPr>
        <p:spPr>
          <a:xfrm>
            <a:off x="4126180" y="1943907"/>
            <a:ext cx="19386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045" name="Google Shape;1045;p17"/>
          <p:cNvSpPr txBox="1"/>
          <p:nvPr/>
        </p:nvSpPr>
        <p:spPr>
          <a:xfrm>
            <a:off x="4135323" y="2218227"/>
            <a:ext cx="19203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OWL seed DMᵣ</a:t>
            </a:r>
            <a:endParaRPr b="0" i="0" sz="1400" u="none" cap="none" strike="noStrike">
              <a:solidFill>
                <a:srgbClr val="000000"/>
              </a:solidFill>
              <a:latin typeface="Arial"/>
              <a:ea typeface="Arial"/>
              <a:cs typeface="Arial"/>
              <a:sym typeface="Arial"/>
            </a:endParaRPr>
          </a:p>
        </p:txBody>
      </p:sp>
      <p:sp>
        <p:nvSpPr>
          <p:cNvPr id="1046" name="Google Shape;1046;p17"/>
          <p:cNvSpPr/>
          <p:nvPr/>
        </p:nvSpPr>
        <p:spPr>
          <a:xfrm>
            <a:off x="3897579" y="2739445"/>
            <a:ext cx="3218700" cy="2508300"/>
          </a:xfrm>
          <a:prstGeom prst="roundRect">
            <a:avLst>
              <a:gd fmla="val 8766" name="adj"/>
            </a:avLst>
          </a:prstGeom>
          <a:solidFill>
            <a:srgbClr val="FFFFFF"/>
          </a:solidFill>
          <a:ln cap="flat" cmpd="sng" w="292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7" name="Google Shape;1047;p17"/>
          <p:cNvSpPr txBox="1"/>
          <p:nvPr/>
        </p:nvSpPr>
        <p:spPr>
          <a:xfrm>
            <a:off x="4025596" y="2776011"/>
            <a:ext cx="29901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RETRIEVAL  •  top-k per source</a:t>
            </a:r>
            <a:endParaRPr b="0" i="0" sz="1400" u="none" cap="none" strike="noStrike">
              <a:solidFill>
                <a:srgbClr val="000000"/>
              </a:solidFill>
              <a:latin typeface="Arial"/>
              <a:ea typeface="Arial"/>
              <a:cs typeface="Arial"/>
              <a:sym typeface="Arial"/>
            </a:endParaRPr>
          </a:p>
        </p:txBody>
      </p:sp>
      <p:sp>
        <p:nvSpPr>
          <p:cNvPr id="1048" name="Google Shape;1048;p17"/>
          <p:cNvSpPr/>
          <p:nvPr/>
        </p:nvSpPr>
        <p:spPr>
          <a:xfrm>
            <a:off x="4043884" y="3059475"/>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9" name="Google Shape;1049;p17"/>
          <p:cNvSpPr txBox="1"/>
          <p:nvPr/>
        </p:nvSpPr>
        <p:spPr>
          <a:xfrm>
            <a:off x="4144468" y="3115627"/>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(c)</a:t>
            </a:r>
            <a:endParaRPr b="0" i="0" sz="1400" u="none" cap="none" strike="noStrike">
              <a:solidFill>
                <a:srgbClr val="000000"/>
              </a:solidFill>
              <a:latin typeface="Arial"/>
              <a:ea typeface="Arial"/>
              <a:cs typeface="Arial"/>
              <a:sym typeface="Arial"/>
            </a:endParaRPr>
          </a:p>
        </p:txBody>
      </p:sp>
      <p:sp>
        <p:nvSpPr>
          <p:cNvPr id="1050" name="Google Shape;1050;p17"/>
          <p:cNvSpPr txBox="1"/>
          <p:nvPr/>
        </p:nvSpPr>
        <p:spPr>
          <a:xfrm>
            <a:off x="4491940" y="3109413"/>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External ontologies</a:t>
            </a:r>
            <a:endParaRPr b="0" i="0" sz="1400" u="none" cap="none" strike="noStrike">
              <a:solidFill>
                <a:srgbClr val="000000"/>
              </a:solidFill>
              <a:latin typeface="Arial"/>
              <a:ea typeface="Arial"/>
              <a:cs typeface="Arial"/>
              <a:sym typeface="Arial"/>
            </a:endParaRPr>
          </a:p>
        </p:txBody>
      </p:sp>
      <p:sp>
        <p:nvSpPr>
          <p:cNvPr id="1051" name="Google Shape;1051;p17"/>
          <p:cNvSpPr txBox="1"/>
          <p:nvPr/>
        </p:nvSpPr>
        <p:spPr>
          <a:xfrm>
            <a:off x="4491940" y="3379515"/>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Domain alignments</a:t>
            </a:r>
            <a:endParaRPr b="0" i="0" sz="1400" u="none" cap="none" strike="noStrike">
              <a:solidFill>
                <a:srgbClr val="000000"/>
              </a:solidFill>
              <a:latin typeface="Arial"/>
              <a:ea typeface="Arial"/>
              <a:cs typeface="Arial"/>
              <a:sym typeface="Arial"/>
            </a:endParaRPr>
          </a:p>
        </p:txBody>
      </p:sp>
      <p:sp>
        <p:nvSpPr>
          <p:cNvPr id="1052" name="Google Shape;1052;p17"/>
          <p:cNvSpPr/>
          <p:nvPr/>
        </p:nvSpPr>
        <p:spPr>
          <a:xfrm>
            <a:off x="4043884" y="3763563"/>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3" name="Google Shape;1053;p17"/>
          <p:cNvSpPr txBox="1"/>
          <p:nvPr/>
        </p:nvSpPr>
        <p:spPr>
          <a:xfrm>
            <a:off x="4144468" y="3819715"/>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(d)</a:t>
            </a:r>
            <a:endParaRPr b="0" i="0" sz="1400" u="none" cap="none" strike="noStrike">
              <a:solidFill>
                <a:srgbClr val="000000"/>
              </a:solidFill>
              <a:latin typeface="Arial"/>
              <a:ea typeface="Arial"/>
              <a:cs typeface="Arial"/>
              <a:sym typeface="Arial"/>
            </a:endParaRPr>
          </a:p>
        </p:txBody>
      </p:sp>
      <p:sp>
        <p:nvSpPr>
          <p:cNvPr id="1054" name="Google Shape;1054;p17"/>
          <p:cNvSpPr txBox="1"/>
          <p:nvPr/>
        </p:nvSpPr>
        <p:spPr>
          <a:xfrm>
            <a:off x="4491940" y="3813501"/>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Documentation</a:t>
            </a:r>
            <a:endParaRPr b="0" i="0" sz="1400" u="none" cap="none" strike="noStrike">
              <a:solidFill>
                <a:srgbClr val="000000"/>
              </a:solidFill>
              <a:latin typeface="Arial"/>
              <a:ea typeface="Arial"/>
              <a:cs typeface="Arial"/>
              <a:sym typeface="Arial"/>
            </a:endParaRPr>
          </a:p>
        </p:txBody>
      </p:sp>
      <p:sp>
        <p:nvSpPr>
          <p:cNvPr id="1055" name="Google Shape;1055;p17"/>
          <p:cNvSpPr txBox="1"/>
          <p:nvPr/>
        </p:nvSpPr>
        <p:spPr>
          <a:xfrm>
            <a:off x="4491940" y="4083603"/>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Cryptic fields and codes</a:t>
            </a:r>
            <a:endParaRPr b="0" i="0" sz="1400" u="none" cap="none" strike="noStrike">
              <a:solidFill>
                <a:srgbClr val="000000"/>
              </a:solidFill>
              <a:latin typeface="Arial"/>
              <a:ea typeface="Arial"/>
              <a:cs typeface="Arial"/>
              <a:sym typeface="Arial"/>
            </a:endParaRPr>
          </a:p>
        </p:txBody>
      </p:sp>
      <p:sp>
        <p:nvSpPr>
          <p:cNvPr id="1056" name="Google Shape;1056;p17"/>
          <p:cNvSpPr/>
          <p:nvPr/>
        </p:nvSpPr>
        <p:spPr>
          <a:xfrm>
            <a:off x="4043884" y="4467651"/>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7" name="Google Shape;1057;p17"/>
          <p:cNvSpPr txBox="1"/>
          <p:nvPr/>
        </p:nvSpPr>
        <p:spPr>
          <a:xfrm>
            <a:off x="4144468" y="4523803"/>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(e)</a:t>
            </a:r>
            <a:endParaRPr b="0" i="0" sz="1400" u="none" cap="none" strike="noStrike">
              <a:solidFill>
                <a:srgbClr val="000000"/>
              </a:solidFill>
              <a:latin typeface="Arial"/>
              <a:ea typeface="Arial"/>
              <a:cs typeface="Arial"/>
              <a:sym typeface="Arial"/>
            </a:endParaRPr>
          </a:p>
        </p:txBody>
      </p:sp>
      <p:sp>
        <p:nvSpPr>
          <p:cNvPr id="1058" name="Google Shape;1058;p17"/>
          <p:cNvSpPr txBox="1"/>
          <p:nvPr/>
        </p:nvSpPr>
        <p:spPr>
          <a:xfrm>
            <a:off x="4491940" y="4517589"/>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Growing core ontology</a:t>
            </a:r>
            <a:endParaRPr b="0" i="0" sz="1400" u="none" cap="none" strike="noStrike">
              <a:solidFill>
                <a:srgbClr val="000000"/>
              </a:solidFill>
              <a:latin typeface="Arial"/>
              <a:ea typeface="Arial"/>
              <a:cs typeface="Arial"/>
              <a:sym typeface="Arial"/>
            </a:endParaRPr>
          </a:p>
        </p:txBody>
      </p:sp>
      <p:sp>
        <p:nvSpPr>
          <p:cNvPr id="1059" name="Google Shape;1059;p17"/>
          <p:cNvSpPr txBox="1"/>
          <p:nvPr/>
        </p:nvSpPr>
        <p:spPr>
          <a:xfrm>
            <a:off x="4491940" y="4787691"/>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Reuse validated IRIs</a:t>
            </a:r>
            <a:endParaRPr b="0" i="0" sz="1400" u="none" cap="none" strike="noStrike">
              <a:solidFill>
                <a:srgbClr val="000000"/>
              </a:solidFill>
              <a:latin typeface="Arial"/>
              <a:ea typeface="Arial"/>
              <a:cs typeface="Arial"/>
              <a:sym typeface="Arial"/>
            </a:endParaRPr>
          </a:p>
        </p:txBody>
      </p:sp>
      <p:cxnSp>
        <p:nvCxnSpPr>
          <p:cNvPr id="1075" name="Google Shape;1075;p17"/>
          <p:cNvCxnSpPr/>
          <p:nvPr/>
        </p:nvCxnSpPr>
        <p:spPr>
          <a:xfrm>
            <a:off x="3280056" y="3446462"/>
            <a:ext cx="100500" cy="0"/>
          </a:xfrm>
          <a:prstGeom prst="straightConnector1">
            <a:avLst/>
          </a:prstGeom>
          <a:noFill/>
          <a:ln cap="flat" cmpd="sng" w="29200">
            <a:solidFill>
              <a:srgbClr val="3A7D8C"/>
            </a:solidFill>
            <a:prstDash val="solid"/>
            <a:miter lim="80"/>
            <a:headEnd len="sm" w="sm" type="none"/>
            <a:tailEnd len="sm" w="sm" type="none"/>
          </a:ln>
        </p:spPr>
      </p:cxnSp>
      <p:sp>
        <p:nvSpPr>
          <p:cNvPr id="1076" name="Google Shape;1076;p17"/>
          <p:cNvSpPr/>
          <p:nvPr/>
        </p:nvSpPr>
        <p:spPr>
          <a:xfrm>
            <a:off x="1838868" y="3160059"/>
            <a:ext cx="1444800" cy="6948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7" name="Google Shape;1077;p17"/>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078" name="Google Shape;1078;p17"/>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cxnSp>
        <p:nvCxnSpPr>
          <p:cNvPr id="1079" name="Google Shape;1079;p17"/>
          <p:cNvCxnSpPr/>
          <p:nvPr/>
        </p:nvCxnSpPr>
        <p:spPr>
          <a:xfrm>
            <a:off x="3276349"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80" name="Google Shape;1080;p17"/>
          <p:cNvCxnSpPr/>
          <p:nvPr/>
        </p:nvCxnSpPr>
        <p:spPr>
          <a:xfrm>
            <a:off x="3657665" y="2199459"/>
            <a:ext cx="265200" cy="0"/>
          </a:xfrm>
          <a:prstGeom prst="straightConnector1">
            <a:avLst/>
          </a:prstGeom>
          <a:noFill/>
          <a:ln cap="flat" cmpd="sng" w="29200">
            <a:solidFill>
              <a:srgbClr val="3A7D8C"/>
            </a:solidFill>
            <a:prstDash val="solid"/>
            <a:miter lim="80"/>
            <a:headEnd len="sm" w="sm" type="none"/>
            <a:tailEnd len="sm" w="sm" type="none"/>
          </a:ln>
        </p:spPr>
      </p:cxnSp>
      <p:pic>
        <p:nvPicPr>
          <p:cNvPr id="1086" name="Google Shape;1086;p17" title="Ontology Taxonomy Documentation Icons.png"/>
          <p:cNvPicPr preferRelativeResize="0"/>
          <p:nvPr/>
        </p:nvPicPr>
        <p:blipFill rotWithShape="1">
          <a:blip r:embed="rId5">
            <a:alphaModFix/>
          </a:blip>
          <a:srcRect b="14185" l="36225" r="31825" t="16211"/>
          <a:stretch/>
        </p:blipFill>
        <p:spPr>
          <a:xfrm>
            <a:off x="6431317" y="3822390"/>
            <a:ext cx="594806" cy="475499"/>
          </a:xfrm>
          <a:prstGeom prst="rect">
            <a:avLst/>
          </a:prstGeom>
          <a:noFill/>
          <a:ln>
            <a:noFill/>
          </a:ln>
        </p:spPr>
      </p:pic>
      <p:pic>
        <p:nvPicPr>
          <p:cNvPr id="1087" name="Google Shape;1087;p17" title="Ontology Taxonomy Documentation Icons.png"/>
          <p:cNvPicPr preferRelativeResize="0"/>
          <p:nvPr/>
        </p:nvPicPr>
        <p:blipFill rotWithShape="1">
          <a:blip r:embed="rId5">
            <a:alphaModFix/>
          </a:blip>
          <a:srcRect b="14185" l="2070" r="65981" t="16211"/>
          <a:stretch/>
        </p:blipFill>
        <p:spPr>
          <a:xfrm>
            <a:off x="6385539" y="3137260"/>
            <a:ext cx="594801" cy="432155"/>
          </a:xfrm>
          <a:prstGeom prst="rect">
            <a:avLst/>
          </a:prstGeom>
          <a:noFill/>
          <a:ln>
            <a:noFill/>
          </a:ln>
        </p:spPr>
      </p:pic>
      <p:pic>
        <p:nvPicPr>
          <p:cNvPr id="1088" name="Google Shape;1088;p17" title="Ontology Taxonomy Documentation Icons.png"/>
          <p:cNvPicPr preferRelativeResize="0"/>
          <p:nvPr/>
        </p:nvPicPr>
        <p:blipFill rotWithShape="1">
          <a:blip r:embed="rId5">
            <a:alphaModFix/>
          </a:blip>
          <a:srcRect b="7505" l="70326" r="314" t="10116"/>
          <a:stretch/>
        </p:blipFill>
        <p:spPr>
          <a:xfrm>
            <a:off x="6452911" y="4535008"/>
            <a:ext cx="528123" cy="49416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5" name="Shape 985"/>
        <p:cNvGrpSpPr/>
        <p:nvPr/>
      </p:nvGrpSpPr>
      <p:grpSpPr>
        <a:xfrm>
          <a:off x="0" y="0"/>
          <a:ext cx="0" cy="0"/>
          <a:chOff x="0" y="0"/>
          <a:chExt cx="0" cy="0"/>
        </a:xfrm>
      </p:grpSpPr>
      <p:cxnSp>
        <p:nvCxnSpPr>
          <p:cNvPr id="986" name="Google Shape;986;p17"/>
          <p:cNvCxnSpPr/>
          <p:nvPr/>
        </p:nvCxnSpPr>
        <p:spPr>
          <a:xfrm>
            <a:off x="7261490" y="3782975"/>
            <a:ext cx="228600" cy="0"/>
          </a:xfrm>
          <a:prstGeom prst="straightConnector1">
            <a:avLst/>
          </a:prstGeom>
          <a:noFill/>
          <a:ln cap="flat" cmpd="sng" w="26650">
            <a:solidFill>
              <a:srgbClr val="3A7D8C"/>
            </a:solidFill>
            <a:prstDash val="solid"/>
            <a:miter lim="80"/>
            <a:headEnd len="sm" w="sm" type="none"/>
            <a:tailEnd len="sm" w="sm" type="none"/>
          </a:ln>
        </p:spPr>
      </p:cxnSp>
      <p:cxnSp>
        <p:nvCxnSpPr>
          <p:cNvPr id="987" name="Google Shape;987;p17"/>
          <p:cNvCxnSpPr/>
          <p:nvPr/>
        </p:nvCxnSpPr>
        <p:spPr>
          <a:xfrm>
            <a:off x="7071140" y="3304363"/>
            <a:ext cx="146400" cy="0"/>
          </a:xfrm>
          <a:prstGeom prst="straightConnector1">
            <a:avLst/>
          </a:prstGeom>
          <a:noFill/>
          <a:ln cap="flat" cmpd="sng" w="26650">
            <a:solidFill>
              <a:srgbClr val="3A7D8C"/>
            </a:solidFill>
            <a:prstDash val="solid"/>
            <a:miter lim="80"/>
            <a:headEnd len="sm" w="sm" type="none"/>
            <a:tailEnd len="sm" w="sm" type="none"/>
          </a:ln>
        </p:spPr>
      </p:cxnSp>
      <p:sp>
        <p:nvSpPr>
          <p:cNvPr id="988" name="Google Shape;988;p17"/>
          <p:cNvSpPr txBox="1"/>
          <p:nvPr/>
        </p:nvSpPr>
        <p:spPr>
          <a:xfrm>
            <a:off x="512064" y="320040"/>
            <a:ext cx="6675000" cy="301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989" name="Google Shape;989;p17"/>
          <p:cNvSpPr txBox="1"/>
          <p:nvPr/>
        </p:nvSpPr>
        <p:spPr>
          <a:xfrm>
            <a:off x="512064" y="685800"/>
            <a:ext cx="10881300" cy="47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4. Generate a delta ontology</a:t>
            </a:r>
            <a:endParaRPr b="0" i="0" sz="1400" u="none" cap="none" strike="noStrike">
              <a:solidFill>
                <a:srgbClr val="000000"/>
              </a:solidFill>
              <a:latin typeface="Arial"/>
              <a:ea typeface="Arial"/>
              <a:cs typeface="Arial"/>
              <a:sym typeface="Arial"/>
            </a:endParaRPr>
          </a:p>
        </p:txBody>
      </p:sp>
      <p:sp>
        <p:nvSpPr>
          <p:cNvPr id="990" name="Google Shape;990;p17"/>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The Gen-LLM receives the direct mapping and the retrieved context.</a:t>
            </a:r>
            <a:endParaRPr b="0" i="0" sz="1400" u="none" cap="none" strike="noStrike">
              <a:solidFill>
                <a:srgbClr val="000000"/>
              </a:solidFill>
              <a:latin typeface="Arial"/>
              <a:ea typeface="Arial"/>
              <a:cs typeface="Arial"/>
              <a:sym typeface="Arial"/>
            </a:endParaRPr>
          </a:p>
        </p:txBody>
      </p:sp>
      <p:sp>
        <p:nvSpPr>
          <p:cNvPr id="991" name="Google Shape;991;p17"/>
          <p:cNvSpPr/>
          <p:nvPr/>
        </p:nvSpPr>
        <p:spPr>
          <a:xfrm>
            <a:off x="9692640"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2" name="Google Shape;992;p17"/>
          <p:cNvSpPr/>
          <p:nvPr/>
        </p:nvSpPr>
        <p:spPr>
          <a:xfrm>
            <a:off x="10049256"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p17"/>
          <p:cNvSpPr/>
          <p:nvPr/>
        </p:nvSpPr>
        <p:spPr>
          <a:xfrm>
            <a:off x="10405872"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4" name="Google Shape;994;p17"/>
          <p:cNvSpPr/>
          <p:nvPr/>
        </p:nvSpPr>
        <p:spPr>
          <a:xfrm>
            <a:off x="10762488"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5" name="Google Shape;995;p17"/>
          <p:cNvSpPr/>
          <p:nvPr/>
        </p:nvSpPr>
        <p:spPr>
          <a:xfrm>
            <a:off x="11119104" y="356616"/>
            <a:ext cx="274200" cy="63900"/>
          </a:xfrm>
          <a:prstGeom prst="rect">
            <a:avLst/>
          </a:prstGeom>
          <a:solidFill>
            <a:srgbClr val="D3DAD6"/>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6" name="Google Shape;996;p17"/>
          <p:cNvSpPr/>
          <p:nvPr/>
        </p:nvSpPr>
        <p:spPr>
          <a:xfrm>
            <a:off x="11475720" y="356616"/>
            <a:ext cx="274200" cy="63900"/>
          </a:xfrm>
          <a:prstGeom prst="rect">
            <a:avLst/>
          </a:prstGeom>
          <a:solidFill>
            <a:srgbClr val="D3DAD6"/>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p17"/>
          <p:cNvSpPr txBox="1"/>
          <p:nvPr/>
        </p:nvSpPr>
        <p:spPr>
          <a:xfrm>
            <a:off x="10917936" y="6519672"/>
            <a:ext cx="804600" cy="1830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4 / 6</a:t>
            </a:r>
            <a:endParaRPr b="0" i="0" sz="1400" u="none" cap="none" strike="noStrike">
              <a:solidFill>
                <a:srgbClr val="000000"/>
              </a:solidFill>
              <a:latin typeface="Arial"/>
              <a:ea typeface="Arial"/>
              <a:cs typeface="Arial"/>
              <a:sym typeface="Arial"/>
            </a:endParaRPr>
          </a:p>
        </p:txBody>
      </p:sp>
      <p:cxnSp>
        <p:nvCxnSpPr>
          <p:cNvPr id="998" name="Google Shape;998;p17"/>
          <p:cNvCxnSpPr/>
          <p:nvPr/>
        </p:nvCxnSpPr>
        <p:spPr>
          <a:xfrm>
            <a:off x="1577684" y="3507531"/>
            <a:ext cx="164700" cy="0"/>
          </a:xfrm>
          <a:prstGeom prst="straightConnector1">
            <a:avLst/>
          </a:prstGeom>
          <a:noFill/>
          <a:ln cap="flat" cmpd="sng" w="38100">
            <a:solidFill>
              <a:srgbClr val="3A7D8C"/>
            </a:solidFill>
            <a:prstDash val="solid"/>
            <a:miter lim="80"/>
            <a:headEnd len="sm" w="sm" type="none"/>
            <a:tailEnd len="sm" w="sm" type="none"/>
          </a:ln>
        </p:spPr>
      </p:cxnSp>
      <p:sp>
        <p:nvSpPr>
          <p:cNvPr id="999" name="Google Shape;999;p17"/>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0" name="Google Shape;1000;p17"/>
          <p:cNvCxnSpPr/>
          <p:nvPr/>
        </p:nvCxnSpPr>
        <p:spPr>
          <a:xfrm>
            <a:off x="3369671" y="3446462"/>
            <a:ext cx="100500" cy="0"/>
          </a:xfrm>
          <a:prstGeom prst="straightConnector1">
            <a:avLst/>
          </a:prstGeom>
          <a:noFill/>
          <a:ln cap="flat" cmpd="sng" w="29200">
            <a:solidFill>
              <a:srgbClr val="3A7D8C"/>
            </a:solidFill>
            <a:prstDash val="solid"/>
            <a:miter lim="80"/>
            <a:headEnd len="sm" w="sm" type="none"/>
            <a:tailEnd len="sm" w="sm" type="none"/>
          </a:ln>
        </p:spPr>
      </p:cxnSp>
      <p:cxnSp>
        <p:nvCxnSpPr>
          <p:cNvPr id="1001" name="Google Shape;1001;p17"/>
          <p:cNvCxnSpPr/>
          <p:nvPr/>
        </p:nvCxnSpPr>
        <p:spPr>
          <a:xfrm rot="10800000">
            <a:off x="3456647" y="2186248"/>
            <a:ext cx="0" cy="1271100"/>
          </a:xfrm>
          <a:prstGeom prst="straightConnector1">
            <a:avLst/>
          </a:prstGeom>
          <a:noFill/>
          <a:ln cap="flat" cmpd="sng" w="29200">
            <a:solidFill>
              <a:srgbClr val="3A7D8C"/>
            </a:solidFill>
            <a:prstDash val="solid"/>
            <a:miter lim="80"/>
            <a:headEnd len="sm" w="sm" type="none"/>
            <a:tailEnd len="sm" w="sm" type="none"/>
          </a:ln>
        </p:spPr>
      </p:cxnSp>
      <p:cxnSp>
        <p:nvCxnSpPr>
          <p:cNvPr id="1002" name="Google Shape;1002;p17"/>
          <p:cNvCxnSpPr/>
          <p:nvPr/>
        </p:nvCxnSpPr>
        <p:spPr>
          <a:xfrm>
            <a:off x="3456647" y="2199939"/>
            <a:ext cx="265200" cy="0"/>
          </a:xfrm>
          <a:prstGeom prst="straightConnector1">
            <a:avLst/>
          </a:prstGeom>
          <a:noFill/>
          <a:ln cap="flat" cmpd="sng" w="29200">
            <a:solidFill>
              <a:srgbClr val="3A7D8C"/>
            </a:solidFill>
            <a:prstDash val="solid"/>
            <a:miter lim="80"/>
            <a:headEnd len="sm" w="sm" type="none"/>
            <a:tailEnd len="sm" w="sm" type="none"/>
          </a:ln>
        </p:spPr>
      </p:cxnSp>
      <p:sp>
        <p:nvSpPr>
          <p:cNvPr id="1003" name="Google Shape;1003;p17"/>
          <p:cNvSpPr/>
          <p:nvPr/>
        </p:nvSpPr>
        <p:spPr>
          <a:xfrm rot="5400000">
            <a:off x="3918081" y="213593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4" name="Google Shape;1004;p17"/>
          <p:cNvCxnSpPr/>
          <p:nvPr/>
        </p:nvCxnSpPr>
        <p:spPr>
          <a:xfrm>
            <a:off x="3356063"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05" name="Google Shape;1005;p17"/>
          <p:cNvCxnSpPr/>
          <p:nvPr/>
        </p:nvCxnSpPr>
        <p:spPr>
          <a:xfrm rot="10800000">
            <a:off x="3537528" y="3283708"/>
            <a:ext cx="0" cy="310800"/>
          </a:xfrm>
          <a:prstGeom prst="straightConnector1">
            <a:avLst/>
          </a:prstGeom>
          <a:noFill/>
          <a:ln cap="flat" cmpd="sng" w="26650">
            <a:solidFill>
              <a:srgbClr val="3A7D8C"/>
            </a:solidFill>
            <a:prstDash val="solid"/>
            <a:miter lim="80"/>
            <a:headEnd len="sm" w="sm" type="none"/>
            <a:tailEnd len="sm" w="sm" type="none"/>
          </a:ln>
        </p:spPr>
      </p:cxnSp>
      <p:cxnSp>
        <p:nvCxnSpPr>
          <p:cNvPr id="1006" name="Google Shape;1006;p17"/>
          <p:cNvCxnSpPr/>
          <p:nvPr/>
        </p:nvCxnSpPr>
        <p:spPr>
          <a:xfrm>
            <a:off x="3537528" y="3297219"/>
            <a:ext cx="255900" cy="0"/>
          </a:xfrm>
          <a:prstGeom prst="straightConnector1">
            <a:avLst/>
          </a:prstGeom>
          <a:noFill/>
          <a:ln cap="flat" cmpd="sng" w="26650">
            <a:solidFill>
              <a:srgbClr val="3A7D8C"/>
            </a:solidFill>
            <a:prstDash val="solid"/>
            <a:miter lim="80"/>
            <a:headEnd len="sm" w="sm" type="none"/>
            <a:tailEnd len="sm" w="sm" type="none"/>
          </a:ln>
        </p:spPr>
      </p:cxnSp>
      <p:sp>
        <p:nvSpPr>
          <p:cNvPr id="1007" name="Google Shape;1007;p17"/>
          <p:cNvSpPr/>
          <p:nvPr/>
        </p:nvSpPr>
        <p:spPr>
          <a:xfrm rot="5400000">
            <a:off x="3729467" y="323321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8" name="Google Shape;1008;p17"/>
          <p:cNvCxnSpPr/>
          <p:nvPr/>
        </p:nvCxnSpPr>
        <p:spPr>
          <a:xfrm>
            <a:off x="3356063"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09" name="Google Shape;1009;p17"/>
          <p:cNvCxnSpPr/>
          <p:nvPr/>
        </p:nvCxnSpPr>
        <p:spPr>
          <a:xfrm>
            <a:off x="3537528" y="3992163"/>
            <a:ext cx="255900" cy="0"/>
          </a:xfrm>
          <a:prstGeom prst="straightConnector1">
            <a:avLst/>
          </a:prstGeom>
          <a:noFill/>
          <a:ln cap="flat" cmpd="sng" w="26650">
            <a:solidFill>
              <a:srgbClr val="3A7D8C"/>
            </a:solidFill>
            <a:prstDash val="solid"/>
            <a:miter lim="80"/>
            <a:headEnd len="sm" w="sm" type="none"/>
            <a:tailEnd len="sm" w="sm" type="none"/>
          </a:ln>
        </p:spPr>
      </p:cxnSp>
      <p:sp>
        <p:nvSpPr>
          <p:cNvPr id="1010" name="Google Shape;1010;p17"/>
          <p:cNvSpPr/>
          <p:nvPr/>
        </p:nvSpPr>
        <p:spPr>
          <a:xfrm rot="5400000">
            <a:off x="3729467" y="3928154"/>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11" name="Google Shape;1011;p17"/>
          <p:cNvCxnSpPr/>
          <p:nvPr/>
        </p:nvCxnSpPr>
        <p:spPr>
          <a:xfrm>
            <a:off x="3418656"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12" name="Google Shape;1012;p17"/>
          <p:cNvCxnSpPr/>
          <p:nvPr/>
        </p:nvCxnSpPr>
        <p:spPr>
          <a:xfrm>
            <a:off x="3537528" y="3594508"/>
            <a:ext cx="0" cy="1079100"/>
          </a:xfrm>
          <a:prstGeom prst="straightConnector1">
            <a:avLst/>
          </a:prstGeom>
          <a:noFill/>
          <a:ln cap="flat" cmpd="sng" w="26650">
            <a:solidFill>
              <a:srgbClr val="3A7D8C"/>
            </a:solidFill>
            <a:prstDash val="solid"/>
            <a:miter lim="80"/>
            <a:headEnd len="sm" w="sm" type="none"/>
            <a:tailEnd len="sm" w="sm" type="none"/>
          </a:ln>
        </p:spPr>
      </p:cxnSp>
      <p:cxnSp>
        <p:nvCxnSpPr>
          <p:cNvPr id="1013" name="Google Shape;1013;p17"/>
          <p:cNvCxnSpPr/>
          <p:nvPr/>
        </p:nvCxnSpPr>
        <p:spPr>
          <a:xfrm>
            <a:off x="3537528" y="4659893"/>
            <a:ext cx="255900" cy="0"/>
          </a:xfrm>
          <a:prstGeom prst="straightConnector1">
            <a:avLst/>
          </a:prstGeom>
          <a:noFill/>
          <a:ln cap="flat" cmpd="sng" w="26650">
            <a:solidFill>
              <a:srgbClr val="3A7D8C"/>
            </a:solidFill>
            <a:prstDash val="solid"/>
            <a:miter lim="80"/>
            <a:headEnd len="sm" w="sm" type="none"/>
            <a:tailEnd len="sm" w="sm" type="none"/>
          </a:ln>
        </p:spPr>
      </p:cxnSp>
      <p:sp>
        <p:nvSpPr>
          <p:cNvPr id="1014" name="Google Shape;1014;p17"/>
          <p:cNvSpPr/>
          <p:nvPr/>
        </p:nvSpPr>
        <p:spPr>
          <a:xfrm rot="5400000">
            <a:off x="3729467" y="459588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15" name="Google Shape;1015;p17"/>
          <p:cNvCxnSpPr/>
          <p:nvPr/>
        </p:nvCxnSpPr>
        <p:spPr>
          <a:xfrm>
            <a:off x="6340837" y="2181651"/>
            <a:ext cx="1874400" cy="0"/>
          </a:xfrm>
          <a:prstGeom prst="straightConnector1">
            <a:avLst/>
          </a:prstGeom>
          <a:noFill/>
          <a:ln cap="flat" cmpd="sng" w="29200">
            <a:solidFill>
              <a:srgbClr val="3A7D8C"/>
            </a:solidFill>
            <a:prstDash val="solid"/>
            <a:miter lim="80"/>
            <a:headEnd len="sm" w="sm" type="none"/>
            <a:tailEnd len="sm" w="sm" type="none"/>
          </a:ln>
        </p:spPr>
      </p:cxnSp>
      <p:cxnSp>
        <p:nvCxnSpPr>
          <p:cNvPr id="1016" name="Google Shape;1016;p17"/>
          <p:cNvCxnSpPr/>
          <p:nvPr/>
        </p:nvCxnSpPr>
        <p:spPr>
          <a:xfrm>
            <a:off x="8200117" y="2181651"/>
            <a:ext cx="0" cy="1134000"/>
          </a:xfrm>
          <a:prstGeom prst="straightConnector1">
            <a:avLst/>
          </a:prstGeom>
          <a:noFill/>
          <a:ln cap="flat" cmpd="sng" w="29200">
            <a:solidFill>
              <a:srgbClr val="3A7D8C"/>
            </a:solidFill>
            <a:prstDash val="solid"/>
            <a:miter lim="80"/>
            <a:headEnd len="sm" w="sm" type="none"/>
            <a:tailEnd len="sm" w="sm" type="none"/>
          </a:ln>
        </p:spPr>
      </p:cxnSp>
      <p:sp>
        <p:nvSpPr>
          <p:cNvPr id="1017" name="Google Shape;1017;p17"/>
          <p:cNvSpPr/>
          <p:nvPr/>
        </p:nvSpPr>
        <p:spPr>
          <a:xfrm rot="10800000">
            <a:off x="8136025" y="325141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18" name="Google Shape;1018;p17"/>
          <p:cNvCxnSpPr/>
          <p:nvPr/>
        </p:nvCxnSpPr>
        <p:spPr>
          <a:xfrm>
            <a:off x="7129603" y="3304363"/>
            <a:ext cx="146400" cy="0"/>
          </a:xfrm>
          <a:prstGeom prst="straightConnector1">
            <a:avLst/>
          </a:prstGeom>
          <a:noFill/>
          <a:ln cap="flat" cmpd="sng" w="26650">
            <a:solidFill>
              <a:srgbClr val="3A7D8C"/>
            </a:solidFill>
            <a:prstDash val="solid"/>
            <a:miter lim="80"/>
            <a:headEnd len="sm" w="sm" type="none"/>
            <a:tailEnd len="sm" w="sm" type="none"/>
          </a:ln>
        </p:spPr>
      </p:cxnSp>
      <p:cxnSp>
        <p:nvCxnSpPr>
          <p:cNvPr id="1019" name="Google Shape;1019;p17"/>
          <p:cNvCxnSpPr/>
          <p:nvPr/>
        </p:nvCxnSpPr>
        <p:spPr>
          <a:xfrm>
            <a:off x="7264000" y="3297219"/>
            <a:ext cx="0" cy="448200"/>
          </a:xfrm>
          <a:prstGeom prst="straightConnector1">
            <a:avLst/>
          </a:prstGeom>
          <a:noFill/>
          <a:ln cap="flat" cmpd="sng" w="26650">
            <a:solidFill>
              <a:srgbClr val="3A7D8C"/>
            </a:solidFill>
            <a:prstDash val="solid"/>
            <a:miter lim="80"/>
            <a:headEnd len="sm" w="sm" type="none"/>
            <a:tailEnd len="sm" w="sm" type="none"/>
          </a:ln>
        </p:spPr>
      </p:cxnSp>
      <p:sp>
        <p:nvSpPr>
          <p:cNvPr id="1020" name="Google Shape;1020;p17"/>
          <p:cNvSpPr/>
          <p:nvPr/>
        </p:nvSpPr>
        <p:spPr>
          <a:xfrm rot="5400000">
            <a:off x="7462823" y="3718917"/>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21" name="Google Shape;1021;p17"/>
          <p:cNvCxnSpPr/>
          <p:nvPr/>
        </p:nvCxnSpPr>
        <p:spPr>
          <a:xfrm>
            <a:off x="7129603" y="4693870"/>
            <a:ext cx="146400" cy="0"/>
          </a:xfrm>
          <a:prstGeom prst="straightConnector1">
            <a:avLst/>
          </a:prstGeom>
          <a:noFill/>
          <a:ln cap="flat" cmpd="sng" w="26650">
            <a:solidFill>
              <a:srgbClr val="3A7D8C"/>
            </a:solidFill>
            <a:prstDash val="solid"/>
            <a:miter lim="80"/>
            <a:headEnd len="sm" w="sm" type="none"/>
            <a:tailEnd len="sm" w="sm" type="none"/>
          </a:ln>
        </p:spPr>
      </p:cxnSp>
      <p:cxnSp>
        <p:nvCxnSpPr>
          <p:cNvPr id="1022" name="Google Shape;1022;p17"/>
          <p:cNvCxnSpPr/>
          <p:nvPr/>
        </p:nvCxnSpPr>
        <p:spPr>
          <a:xfrm rot="10800000">
            <a:off x="7264000" y="3745251"/>
            <a:ext cx="0" cy="951000"/>
          </a:xfrm>
          <a:prstGeom prst="straightConnector1">
            <a:avLst/>
          </a:prstGeom>
          <a:noFill/>
          <a:ln cap="flat" cmpd="sng" w="26650">
            <a:solidFill>
              <a:srgbClr val="3A7D8C"/>
            </a:solidFill>
            <a:prstDash val="solid"/>
            <a:miter lim="80"/>
            <a:headEnd len="sm" w="sm" type="none"/>
            <a:tailEnd len="sm" w="sm" type="none"/>
          </a:ln>
        </p:spPr>
      </p:cxnSp>
      <p:cxnSp>
        <p:nvCxnSpPr>
          <p:cNvPr id="1023" name="Google Shape;1023;p17"/>
          <p:cNvCxnSpPr/>
          <p:nvPr/>
        </p:nvCxnSpPr>
        <p:spPr>
          <a:xfrm>
            <a:off x="8931637" y="3795662"/>
            <a:ext cx="868800" cy="0"/>
          </a:xfrm>
          <a:prstGeom prst="straightConnector1">
            <a:avLst/>
          </a:prstGeom>
          <a:noFill/>
          <a:ln cap="flat" cmpd="sng" w="38100">
            <a:solidFill>
              <a:srgbClr val="0B6E4F"/>
            </a:solidFill>
            <a:prstDash val="solid"/>
            <a:miter lim="80"/>
            <a:headEnd len="sm" w="sm" type="none"/>
            <a:tailEnd len="sm" w="sm" type="none"/>
          </a:ln>
        </p:spPr>
      </p:cxnSp>
      <p:sp>
        <p:nvSpPr>
          <p:cNvPr id="1024" name="Google Shape;1024;p17"/>
          <p:cNvSpPr/>
          <p:nvPr/>
        </p:nvSpPr>
        <p:spPr>
          <a:xfrm rot="5400000">
            <a:off x="9736225" y="3731654"/>
            <a:ext cx="128100" cy="128100"/>
          </a:xfrm>
          <a:prstGeom prst="triangle">
            <a:avLst>
              <a:gd fmla="val 50000" name="adj"/>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0" name="Google Shape;1030;p17"/>
          <p:cNvSpPr/>
          <p:nvPr/>
        </p:nvSpPr>
        <p:spPr>
          <a:xfrm>
            <a:off x="407252" y="2958891"/>
            <a:ext cx="1170300" cy="1134000"/>
          </a:xfrm>
          <a:prstGeom prst="roundRect">
            <a:avLst>
              <a:gd fmla="val 16667" name="adj"/>
            </a:avLst>
          </a:prstGeom>
          <a:solidFill>
            <a:srgbClr val="FFFFFF"/>
          </a:solidFill>
          <a:ln cap="flat" cmpd="sng" w="15225">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1" name="Google Shape;1031;p17"/>
          <p:cNvSpPr/>
          <p:nvPr/>
        </p:nvSpPr>
        <p:spPr>
          <a:xfrm>
            <a:off x="526124"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2" name="Google Shape;1032;p17"/>
          <p:cNvCxnSpPr/>
          <p:nvPr/>
        </p:nvCxnSpPr>
        <p:spPr>
          <a:xfrm>
            <a:off x="567272"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3" name="Google Shape;1033;p17"/>
          <p:cNvCxnSpPr/>
          <p:nvPr/>
        </p:nvCxnSpPr>
        <p:spPr>
          <a:xfrm>
            <a:off x="567272"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34" name="Google Shape;1034;p17"/>
          <p:cNvSpPr/>
          <p:nvPr/>
        </p:nvSpPr>
        <p:spPr>
          <a:xfrm>
            <a:off x="837020"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5" name="Google Shape;1035;p17"/>
          <p:cNvCxnSpPr/>
          <p:nvPr/>
        </p:nvCxnSpPr>
        <p:spPr>
          <a:xfrm>
            <a:off x="878168"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6" name="Google Shape;1036;p17"/>
          <p:cNvCxnSpPr/>
          <p:nvPr/>
        </p:nvCxnSpPr>
        <p:spPr>
          <a:xfrm>
            <a:off x="878168"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37" name="Google Shape;1037;p17"/>
          <p:cNvSpPr/>
          <p:nvPr/>
        </p:nvSpPr>
        <p:spPr>
          <a:xfrm>
            <a:off x="1147916"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8" name="Google Shape;1038;p17"/>
          <p:cNvCxnSpPr/>
          <p:nvPr/>
        </p:nvCxnSpPr>
        <p:spPr>
          <a:xfrm>
            <a:off x="1189064"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9" name="Google Shape;1039;p17"/>
          <p:cNvCxnSpPr/>
          <p:nvPr/>
        </p:nvCxnSpPr>
        <p:spPr>
          <a:xfrm>
            <a:off x="1189064"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40" name="Google Shape;1040;p17"/>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041" name="Google Shape;1041;p17"/>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042" name="Google Shape;1042;p17"/>
          <p:cNvSpPr/>
          <p:nvPr/>
        </p:nvSpPr>
        <p:spPr>
          <a:xfrm>
            <a:off x="4043884" y="1825035"/>
            <a:ext cx="2103000" cy="7590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3" name="Google Shape;1043;p17"/>
          <p:cNvSpPr txBox="1"/>
          <p:nvPr/>
        </p:nvSpPr>
        <p:spPr>
          <a:xfrm>
            <a:off x="4117036" y="1590575"/>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(b)</a:t>
            </a:r>
            <a:endParaRPr b="0" i="0" sz="1400" u="none" cap="none" strike="noStrike">
              <a:solidFill>
                <a:srgbClr val="000000"/>
              </a:solidFill>
              <a:latin typeface="Arial"/>
              <a:ea typeface="Arial"/>
              <a:cs typeface="Arial"/>
              <a:sym typeface="Arial"/>
            </a:endParaRPr>
          </a:p>
        </p:txBody>
      </p:sp>
      <p:sp>
        <p:nvSpPr>
          <p:cNvPr id="1044" name="Google Shape;1044;p17"/>
          <p:cNvSpPr txBox="1"/>
          <p:nvPr/>
        </p:nvSpPr>
        <p:spPr>
          <a:xfrm>
            <a:off x="4126180" y="1943907"/>
            <a:ext cx="19386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045" name="Google Shape;1045;p17"/>
          <p:cNvSpPr txBox="1"/>
          <p:nvPr/>
        </p:nvSpPr>
        <p:spPr>
          <a:xfrm>
            <a:off x="4135323" y="2218227"/>
            <a:ext cx="19203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OWL seed DMᵣ</a:t>
            </a:r>
            <a:endParaRPr b="0" i="0" sz="1400" u="none" cap="none" strike="noStrike">
              <a:solidFill>
                <a:srgbClr val="000000"/>
              </a:solidFill>
              <a:latin typeface="Arial"/>
              <a:ea typeface="Arial"/>
              <a:cs typeface="Arial"/>
              <a:sym typeface="Arial"/>
            </a:endParaRPr>
          </a:p>
        </p:txBody>
      </p:sp>
      <p:sp>
        <p:nvSpPr>
          <p:cNvPr id="1046" name="Google Shape;1046;p17"/>
          <p:cNvSpPr/>
          <p:nvPr/>
        </p:nvSpPr>
        <p:spPr>
          <a:xfrm>
            <a:off x="3897579" y="2739445"/>
            <a:ext cx="3218700" cy="2508300"/>
          </a:xfrm>
          <a:prstGeom prst="roundRect">
            <a:avLst>
              <a:gd fmla="val 8766" name="adj"/>
            </a:avLst>
          </a:prstGeom>
          <a:solidFill>
            <a:srgbClr val="FFFFFF"/>
          </a:solidFill>
          <a:ln cap="flat" cmpd="sng" w="15225">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7" name="Google Shape;1047;p17"/>
          <p:cNvSpPr txBox="1"/>
          <p:nvPr/>
        </p:nvSpPr>
        <p:spPr>
          <a:xfrm>
            <a:off x="4025596" y="2776011"/>
            <a:ext cx="29901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RETRIEVAL  •  top-k per source</a:t>
            </a:r>
            <a:endParaRPr b="0" i="0" sz="1400" u="none" cap="none" strike="noStrike">
              <a:solidFill>
                <a:srgbClr val="000000"/>
              </a:solidFill>
              <a:latin typeface="Arial"/>
              <a:ea typeface="Arial"/>
              <a:cs typeface="Arial"/>
              <a:sym typeface="Arial"/>
            </a:endParaRPr>
          </a:p>
        </p:txBody>
      </p:sp>
      <p:sp>
        <p:nvSpPr>
          <p:cNvPr id="1048" name="Google Shape;1048;p17"/>
          <p:cNvSpPr/>
          <p:nvPr/>
        </p:nvSpPr>
        <p:spPr>
          <a:xfrm>
            <a:off x="4043884" y="3059475"/>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9" name="Google Shape;1049;p17"/>
          <p:cNvSpPr txBox="1"/>
          <p:nvPr/>
        </p:nvSpPr>
        <p:spPr>
          <a:xfrm>
            <a:off x="4144468" y="3115627"/>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(c)</a:t>
            </a:r>
            <a:endParaRPr b="0" i="0" sz="1400" u="none" cap="none" strike="noStrike">
              <a:solidFill>
                <a:srgbClr val="000000"/>
              </a:solidFill>
              <a:latin typeface="Arial"/>
              <a:ea typeface="Arial"/>
              <a:cs typeface="Arial"/>
              <a:sym typeface="Arial"/>
            </a:endParaRPr>
          </a:p>
        </p:txBody>
      </p:sp>
      <p:sp>
        <p:nvSpPr>
          <p:cNvPr id="1050" name="Google Shape;1050;p17"/>
          <p:cNvSpPr txBox="1"/>
          <p:nvPr/>
        </p:nvSpPr>
        <p:spPr>
          <a:xfrm>
            <a:off x="4491940" y="3109413"/>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External ontologies</a:t>
            </a:r>
            <a:endParaRPr b="0" i="0" sz="1400" u="none" cap="none" strike="noStrike">
              <a:solidFill>
                <a:srgbClr val="000000"/>
              </a:solidFill>
              <a:latin typeface="Arial"/>
              <a:ea typeface="Arial"/>
              <a:cs typeface="Arial"/>
              <a:sym typeface="Arial"/>
            </a:endParaRPr>
          </a:p>
        </p:txBody>
      </p:sp>
      <p:sp>
        <p:nvSpPr>
          <p:cNvPr id="1051" name="Google Shape;1051;p17"/>
          <p:cNvSpPr txBox="1"/>
          <p:nvPr/>
        </p:nvSpPr>
        <p:spPr>
          <a:xfrm>
            <a:off x="4491940" y="3379515"/>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Domain alignments</a:t>
            </a:r>
            <a:endParaRPr b="0" i="0" sz="1400" u="none" cap="none" strike="noStrike">
              <a:solidFill>
                <a:srgbClr val="000000"/>
              </a:solidFill>
              <a:latin typeface="Arial"/>
              <a:ea typeface="Arial"/>
              <a:cs typeface="Arial"/>
              <a:sym typeface="Arial"/>
            </a:endParaRPr>
          </a:p>
        </p:txBody>
      </p:sp>
      <p:sp>
        <p:nvSpPr>
          <p:cNvPr id="1052" name="Google Shape;1052;p17"/>
          <p:cNvSpPr/>
          <p:nvPr/>
        </p:nvSpPr>
        <p:spPr>
          <a:xfrm>
            <a:off x="4043884" y="3763563"/>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3" name="Google Shape;1053;p17"/>
          <p:cNvSpPr txBox="1"/>
          <p:nvPr/>
        </p:nvSpPr>
        <p:spPr>
          <a:xfrm>
            <a:off x="4144468" y="3819715"/>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(d)</a:t>
            </a:r>
            <a:endParaRPr b="0" i="0" sz="1400" u="none" cap="none" strike="noStrike">
              <a:solidFill>
                <a:srgbClr val="000000"/>
              </a:solidFill>
              <a:latin typeface="Arial"/>
              <a:ea typeface="Arial"/>
              <a:cs typeface="Arial"/>
              <a:sym typeface="Arial"/>
            </a:endParaRPr>
          </a:p>
        </p:txBody>
      </p:sp>
      <p:sp>
        <p:nvSpPr>
          <p:cNvPr id="1054" name="Google Shape;1054;p17"/>
          <p:cNvSpPr txBox="1"/>
          <p:nvPr/>
        </p:nvSpPr>
        <p:spPr>
          <a:xfrm>
            <a:off x="4491940" y="3813501"/>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Documentation</a:t>
            </a:r>
            <a:endParaRPr b="0" i="0" sz="1400" u="none" cap="none" strike="noStrike">
              <a:solidFill>
                <a:srgbClr val="000000"/>
              </a:solidFill>
              <a:latin typeface="Arial"/>
              <a:ea typeface="Arial"/>
              <a:cs typeface="Arial"/>
              <a:sym typeface="Arial"/>
            </a:endParaRPr>
          </a:p>
        </p:txBody>
      </p:sp>
      <p:sp>
        <p:nvSpPr>
          <p:cNvPr id="1055" name="Google Shape;1055;p17"/>
          <p:cNvSpPr txBox="1"/>
          <p:nvPr/>
        </p:nvSpPr>
        <p:spPr>
          <a:xfrm>
            <a:off x="4491940" y="4083603"/>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Cryptic fields and codes</a:t>
            </a:r>
            <a:endParaRPr b="0" i="0" sz="1400" u="none" cap="none" strike="noStrike">
              <a:solidFill>
                <a:srgbClr val="000000"/>
              </a:solidFill>
              <a:latin typeface="Arial"/>
              <a:ea typeface="Arial"/>
              <a:cs typeface="Arial"/>
              <a:sym typeface="Arial"/>
            </a:endParaRPr>
          </a:p>
        </p:txBody>
      </p:sp>
      <p:sp>
        <p:nvSpPr>
          <p:cNvPr id="1056" name="Google Shape;1056;p17"/>
          <p:cNvSpPr/>
          <p:nvPr/>
        </p:nvSpPr>
        <p:spPr>
          <a:xfrm>
            <a:off x="4043884" y="4467651"/>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7" name="Google Shape;1057;p17"/>
          <p:cNvSpPr txBox="1"/>
          <p:nvPr/>
        </p:nvSpPr>
        <p:spPr>
          <a:xfrm>
            <a:off x="4144468" y="4523803"/>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(e)</a:t>
            </a:r>
            <a:endParaRPr b="0" i="0" sz="1400" u="none" cap="none" strike="noStrike">
              <a:solidFill>
                <a:srgbClr val="000000"/>
              </a:solidFill>
              <a:latin typeface="Arial"/>
              <a:ea typeface="Arial"/>
              <a:cs typeface="Arial"/>
              <a:sym typeface="Arial"/>
            </a:endParaRPr>
          </a:p>
        </p:txBody>
      </p:sp>
      <p:sp>
        <p:nvSpPr>
          <p:cNvPr id="1058" name="Google Shape;1058;p17"/>
          <p:cNvSpPr txBox="1"/>
          <p:nvPr/>
        </p:nvSpPr>
        <p:spPr>
          <a:xfrm>
            <a:off x="4491940" y="4517589"/>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Growing core ontology</a:t>
            </a:r>
            <a:endParaRPr b="0" i="0" sz="1400" u="none" cap="none" strike="noStrike">
              <a:solidFill>
                <a:srgbClr val="000000"/>
              </a:solidFill>
              <a:latin typeface="Arial"/>
              <a:ea typeface="Arial"/>
              <a:cs typeface="Arial"/>
              <a:sym typeface="Arial"/>
            </a:endParaRPr>
          </a:p>
        </p:txBody>
      </p:sp>
      <p:sp>
        <p:nvSpPr>
          <p:cNvPr id="1059" name="Google Shape;1059;p17"/>
          <p:cNvSpPr txBox="1"/>
          <p:nvPr/>
        </p:nvSpPr>
        <p:spPr>
          <a:xfrm>
            <a:off x="4491940" y="4787691"/>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Reuse validated IRIs</a:t>
            </a:r>
            <a:endParaRPr b="0" i="0" sz="1400" u="none" cap="none" strike="noStrike">
              <a:solidFill>
                <a:srgbClr val="000000"/>
              </a:solidFill>
              <a:latin typeface="Arial"/>
              <a:ea typeface="Arial"/>
              <a:cs typeface="Arial"/>
              <a:sym typeface="Arial"/>
            </a:endParaRPr>
          </a:p>
        </p:txBody>
      </p:sp>
      <p:sp>
        <p:nvSpPr>
          <p:cNvPr id="1060" name="Google Shape;1060;p17"/>
          <p:cNvSpPr/>
          <p:nvPr/>
        </p:nvSpPr>
        <p:spPr>
          <a:xfrm>
            <a:off x="7596625" y="3402475"/>
            <a:ext cx="1335000" cy="1321500"/>
          </a:xfrm>
          <a:prstGeom prst="roundRect">
            <a:avLst>
              <a:gd fmla="val 16667" name="adj"/>
            </a:avLst>
          </a:prstGeom>
          <a:solidFill>
            <a:srgbClr val="DDE5E1"/>
          </a:solidFill>
          <a:ln cap="flat" cmpd="sng" w="292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1" name="Google Shape;1061;p17"/>
          <p:cNvSpPr txBox="1"/>
          <p:nvPr/>
        </p:nvSpPr>
        <p:spPr>
          <a:xfrm>
            <a:off x="7669765" y="3192158"/>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(f)</a:t>
            </a:r>
            <a:endParaRPr b="0" i="0" sz="1400" u="none" cap="none" strike="noStrike">
              <a:solidFill>
                <a:srgbClr val="000000"/>
              </a:solidFill>
              <a:latin typeface="Arial"/>
              <a:ea typeface="Arial"/>
              <a:cs typeface="Arial"/>
              <a:sym typeface="Arial"/>
            </a:endParaRPr>
          </a:p>
        </p:txBody>
      </p:sp>
      <p:sp>
        <p:nvSpPr>
          <p:cNvPr id="1062" name="Google Shape;1062;p17"/>
          <p:cNvSpPr txBox="1"/>
          <p:nvPr/>
        </p:nvSpPr>
        <p:spPr>
          <a:xfrm>
            <a:off x="7678909" y="3521341"/>
            <a:ext cx="11703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Gen-LLM</a:t>
            </a:r>
            <a:endParaRPr b="0" i="0" sz="1400" u="none" cap="none" strike="noStrike">
              <a:solidFill>
                <a:srgbClr val="000000"/>
              </a:solidFill>
              <a:latin typeface="Arial"/>
              <a:ea typeface="Arial"/>
              <a:cs typeface="Arial"/>
              <a:sym typeface="Arial"/>
            </a:endParaRPr>
          </a:p>
        </p:txBody>
      </p:sp>
      <p:sp>
        <p:nvSpPr>
          <p:cNvPr id="1063" name="Google Shape;1063;p17"/>
          <p:cNvSpPr txBox="1"/>
          <p:nvPr/>
        </p:nvSpPr>
        <p:spPr>
          <a:xfrm>
            <a:off x="7688053" y="3795661"/>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creates ΔOᵣ</a:t>
            </a:r>
            <a:endParaRPr b="0" i="0" sz="1400" u="none" cap="none" strike="noStrike">
              <a:solidFill>
                <a:srgbClr val="000000"/>
              </a:solidFill>
              <a:latin typeface="Arial"/>
              <a:ea typeface="Arial"/>
              <a:cs typeface="Arial"/>
              <a:sym typeface="Arial"/>
            </a:endParaRPr>
          </a:p>
        </p:txBody>
      </p:sp>
      <p:sp>
        <p:nvSpPr>
          <p:cNvPr id="1064" name="Google Shape;1064;p17"/>
          <p:cNvSpPr txBox="1"/>
          <p:nvPr/>
        </p:nvSpPr>
        <p:spPr>
          <a:xfrm>
            <a:off x="9032221" y="3384182"/>
            <a:ext cx="7131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(g) ΔOᵣ</a:t>
            </a:r>
            <a:endParaRPr b="0" i="0" sz="1400" u="none" cap="none" strike="noStrike">
              <a:solidFill>
                <a:srgbClr val="000000"/>
              </a:solidFill>
              <a:latin typeface="Arial"/>
              <a:ea typeface="Arial"/>
              <a:cs typeface="Arial"/>
              <a:sym typeface="Arial"/>
            </a:endParaRPr>
          </a:p>
        </p:txBody>
      </p:sp>
      <p:cxnSp>
        <p:nvCxnSpPr>
          <p:cNvPr id="1075" name="Google Shape;1075;p17"/>
          <p:cNvCxnSpPr/>
          <p:nvPr/>
        </p:nvCxnSpPr>
        <p:spPr>
          <a:xfrm>
            <a:off x="3280056" y="3446462"/>
            <a:ext cx="100500" cy="0"/>
          </a:xfrm>
          <a:prstGeom prst="straightConnector1">
            <a:avLst/>
          </a:prstGeom>
          <a:noFill/>
          <a:ln cap="flat" cmpd="sng" w="29200">
            <a:solidFill>
              <a:srgbClr val="3A7D8C"/>
            </a:solidFill>
            <a:prstDash val="solid"/>
            <a:miter lim="80"/>
            <a:headEnd len="sm" w="sm" type="none"/>
            <a:tailEnd len="sm" w="sm" type="none"/>
          </a:ln>
        </p:spPr>
      </p:cxnSp>
      <p:sp>
        <p:nvSpPr>
          <p:cNvPr id="1076" name="Google Shape;1076;p17"/>
          <p:cNvSpPr/>
          <p:nvPr/>
        </p:nvSpPr>
        <p:spPr>
          <a:xfrm>
            <a:off x="1838868" y="3160059"/>
            <a:ext cx="1444800" cy="6948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7" name="Google Shape;1077;p17"/>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078" name="Google Shape;1078;p17"/>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cxnSp>
        <p:nvCxnSpPr>
          <p:cNvPr id="1079" name="Google Shape;1079;p17"/>
          <p:cNvCxnSpPr/>
          <p:nvPr/>
        </p:nvCxnSpPr>
        <p:spPr>
          <a:xfrm>
            <a:off x="3276349"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80" name="Google Shape;1080;p17"/>
          <p:cNvCxnSpPr/>
          <p:nvPr/>
        </p:nvCxnSpPr>
        <p:spPr>
          <a:xfrm>
            <a:off x="3657665" y="2199459"/>
            <a:ext cx="265200" cy="0"/>
          </a:xfrm>
          <a:prstGeom prst="straightConnector1">
            <a:avLst/>
          </a:prstGeom>
          <a:noFill/>
          <a:ln cap="flat" cmpd="sng" w="29200">
            <a:solidFill>
              <a:srgbClr val="3A7D8C"/>
            </a:solidFill>
            <a:prstDash val="solid"/>
            <a:miter lim="80"/>
            <a:headEnd len="sm" w="sm" type="none"/>
            <a:tailEnd len="sm" w="sm" type="none"/>
          </a:ln>
        </p:spPr>
      </p:cxnSp>
      <p:cxnSp>
        <p:nvCxnSpPr>
          <p:cNvPr id="1081" name="Google Shape;1081;p17"/>
          <p:cNvCxnSpPr/>
          <p:nvPr/>
        </p:nvCxnSpPr>
        <p:spPr>
          <a:xfrm>
            <a:off x="6144772" y="2181631"/>
            <a:ext cx="1874400" cy="0"/>
          </a:xfrm>
          <a:prstGeom prst="straightConnector1">
            <a:avLst/>
          </a:prstGeom>
          <a:noFill/>
          <a:ln cap="flat" cmpd="sng" w="29200">
            <a:solidFill>
              <a:srgbClr val="3A7D8C"/>
            </a:solidFill>
            <a:prstDash val="solid"/>
            <a:miter lim="80"/>
            <a:headEnd len="sm" w="sm" type="none"/>
            <a:tailEnd len="sm" w="sm" type="none"/>
          </a:ln>
        </p:spPr>
      </p:cxnSp>
      <p:pic>
        <p:nvPicPr>
          <p:cNvPr id="1086" name="Google Shape;1086;p17" title="Ontology Taxonomy Documentation Icons.png"/>
          <p:cNvPicPr preferRelativeResize="0"/>
          <p:nvPr/>
        </p:nvPicPr>
        <p:blipFill rotWithShape="1">
          <a:blip r:embed="rId5">
            <a:alphaModFix/>
          </a:blip>
          <a:srcRect b="14185" l="36225" r="31825" t="16211"/>
          <a:stretch/>
        </p:blipFill>
        <p:spPr>
          <a:xfrm>
            <a:off x="6431317" y="3822390"/>
            <a:ext cx="594806" cy="475499"/>
          </a:xfrm>
          <a:prstGeom prst="rect">
            <a:avLst/>
          </a:prstGeom>
          <a:noFill/>
          <a:ln>
            <a:noFill/>
          </a:ln>
        </p:spPr>
      </p:pic>
      <p:pic>
        <p:nvPicPr>
          <p:cNvPr id="1087" name="Google Shape;1087;p17" title="Ontology Taxonomy Documentation Icons.png"/>
          <p:cNvPicPr preferRelativeResize="0"/>
          <p:nvPr/>
        </p:nvPicPr>
        <p:blipFill rotWithShape="1">
          <a:blip r:embed="rId5">
            <a:alphaModFix/>
          </a:blip>
          <a:srcRect b="14185" l="2070" r="65981" t="16211"/>
          <a:stretch/>
        </p:blipFill>
        <p:spPr>
          <a:xfrm>
            <a:off x="6385539" y="3137260"/>
            <a:ext cx="594801" cy="432155"/>
          </a:xfrm>
          <a:prstGeom prst="rect">
            <a:avLst/>
          </a:prstGeom>
          <a:noFill/>
          <a:ln>
            <a:noFill/>
          </a:ln>
        </p:spPr>
      </p:pic>
      <p:pic>
        <p:nvPicPr>
          <p:cNvPr id="1088" name="Google Shape;1088;p17" title="Ontology Taxonomy Documentation Icons.png"/>
          <p:cNvPicPr preferRelativeResize="0"/>
          <p:nvPr/>
        </p:nvPicPr>
        <p:blipFill rotWithShape="1">
          <a:blip r:embed="rId5">
            <a:alphaModFix/>
          </a:blip>
          <a:srcRect b="7505" l="70326" r="314" t="10116"/>
          <a:stretch/>
        </p:blipFill>
        <p:spPr>
          <a:xfrm>
            <a:off x="6452911" y="4535008"/>
            <a:ext cx="528123" cy="494162"/>
          </a:xfrm>
          <a:prstGeom prst="rect">
            <a:avLst/>
          </a:prstGeom>
          <a:noFill/>
          <a:ln>
            <a:noFill/>
          </a:ln>
        </p:spPr>
      </p:pic>
      <p:pic>
        <p:nvPicPr>
          <p:cNvPr id="1089" name="Google Shape;1089;p17" title="LLM Neural Brain Icon.png"/>
          <p:cNvPicPr preferRelativeResize="0"/>
          <p:nvPr/>
        </p:nvPicPr>
        <p:blipFill rotWithShape="1">
          <a:blip r:embed="rId6">
            <a:alphaModFix/>
          </a:blip>
          <a:srcRect b="14226" l="16398" r="17214" t="12218"/>
          <a:stretch/>
        </p:blipFill>
        <p:spPr>
          <a:xfrm>
            <a:off x="7941825" y="4070998"/>
            <a:ext cx="644449" cy="60360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5" name="Shape 985"/>
        <p:cNvGrpSpPr/>
        <p:nvPr/>
      </p:nvGrpSpPr>
      <p:grpSpPr>
        <a:xfrm>
          <a:off x="0" y="0"/>
          <a:ext cx="0" cy="0"/>
          <a:chOff x="0" y="0"/>
          <a:chExt cx="0" cy="0"/>
        </a:xfrm>
      </p:grpSpPr>
      <p:cxnSp>
        <p:nvCxnSpPr>
          <p:cNvPr id="986" name="Google Shape;986;p17"/>
          <p:cNvCxnSpPr/>
          <p:nvPr/>
        </p:nvCxnSpPr>
        <p:spPr>
          <a:xfrm>
            <a:off x="7261490" y="3782975"/>
            <a:ext cx="228600" cy="0"/>
          </a:xfrm>
          <a:prstGeom prst="straightConnector1">
            <a:avLst/>
          </a:prstGeom>
          <a:noFill/>
          <a:ln cap="flat" cmpd="sng" w="26650">
            <a:solidFill>
              <a:srgbClr val="3A7D8C"/>
            </a:solidFill>
            <a:prstDash val="solid"/>
            <a:miter lim="80"/>
            <a:headEnd len="sm" w="sm" type="none"/>
            <a:tailEnd len="sm" w="sm" type="none"/>
          </a:ln>
        </p:spPr>
      </p:cxnSp>
      <p:cxnSp>
        <p:nvCxnSpPr>
          <p:cNvPr id="987" name="Google Shape;987;p17"/>
          <p:cNvCxnSpPr/>
          <p:nvPr/>
        </p:nvCxnSpPr>
        <p:spPr>
          <a:xfrm>
            <a:off x="7071140" y="3304363"/>
            <a:ext cx="146400" cy="0"/>
          </a:xfrm>
          <a:prstGeom prst="straightConnector1">
            <a:avLst/>
          </a:prstGeom>
          <a:noFill/>
          <a:ln cap="flat" cmpd="sng" w="26650">
            <a:solidFill>
              <a:srgbClr val="3A7D8C"/>
            </a:solidFill>
            <a:prstDash val="solid"/>
            <a:miter lim="80"/>
            <a:headEnd len="sm" w="sm" type="none"/>
            <a:tailEnd len="sm" w="sm" type="none"/>
          </a:ln>
        </p:spPr>
      </p:cxnSp>
      <p:sp>
        <p:nvSpPr>
          <p:cNvPr id="988" name="Google Shape;988;p17"/>
          <p:cNvSpPr txBox="1"/>
          <p:nvPr/>
        </p:nvSpPr>
        <p:spPr>
          <a:xfrm>
            <a:off x="512064" y="320040"/>
            <a:ext cx="6675000" cy="301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989" name="Google Shape;989;p17"/>
          <p:cNvSpPr txBox="1"/>
          <p:nvPr/>
        </p:nvSpPr>
        <p:spPr>
          <a:xfrm>
            <a:off x="512064" y="685800"/>
            <a:ext cx="10881300" cy="47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5. Validate before integration</a:t>
            </a:r>
            <a:endParaRPr b="0" i="0" sz="1400" u="none" cap="none" strike="noStrike">
              <a:solidFill>
                <a:srgbClr val="000000"/>
              </a:solidFill>
              <a:latin typeface="Arial"/>
              <a:ea typeface="Arial"/>
              <a:cs typeface="Arial"/>
              <a:sym typeface="Arial"/>
            </a:endParaRPr>
          </a:p>
        </p:txBody>
      </p:sp>
      <p:sp>
        <p:nvSpPr>
          <p:cNvPr id="990" name="Google Shape;990;p17"/>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Validate and refine each delta before it joins the core.</a:t>
            </a:r>
            <a:endParaRPr b="0" i="0" sz="1400" u="none" cap="none" strike="noStrike">
              <a:solidFill>
                <a:srgbClr val="000000"/>
              </a:solidFill>
              <a:latin typeface="Arial"/>
              <a:ea typeface="Arial"/>
              <a:cs typeface="Arial"/>
              <a:sym typeface="Arial"/>
            </a:endParaRPr>
          </a:p>
        </p:txBody>
      </p:sp>
      <p:sp>
        <p:nvSpPr>
          <p:cNvPr id="991" name="Google Shape;991;p17"/>
          <p:cNvSpPr/>
          <p:nvPr/>
        </p:nvSpPr>
        <p:spPr>
          <a:xfrm>
            <a:off x="9692640"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2" name="Google Shape;992;p17"/>
          <p:cNvSpPr/>
          <p:nvPr/>
        </p:nvSpPr>
        <p:spPr>
          <a:xfrm>
            <a:off x="10049256"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p17"/>
          <p:cNvSpPr/>
          <p:nvPr/>
        </p:nvSpPr>
        <p:spPr>
          <a:xfrm>
            <a:off x="10405872"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4" name="Google Shape;994;p17"/>
          <p:cNvSpPr/>
          <p:nvPr/>
        </p:nvSpPr>
        <p:spPr>
          <a:xfrm>
            <a:off x="10762488"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5" name="Google Shape;995;p17"/>
          <p:cNvSpPr/>
          <p:nvPr/>
        </p:nvSpPr>
        <p:spPr>
          <a:xfrm>
            <a:off x="11119104"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6" name="Google Shape;996;p17"/>
          <p:cNvSpPr/>
          <p:nvPr/>
        </p:nvSpPr>
        <p:spPr>
          <a:xfrm>
            <a:off x="11475720" y="356616"/>
            <a:ext cx="274200" cy="63900"/>
          </a:xfrm>
          <a:prstGeom prst="rect">
            <a:avLst/>
          </a:prstGeom>
          <a:solidFill>
            <a:srgbClr val="D3DAD6"/>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p17"/>
          <p:cNvSpPr txBox="1"/>
          <p:nvPr/>
        </p:nvSpPr>
        <p:spPr>
          <a:xfrm>
            <a:off x="10917936" y="6519672"/>
            <a:ext cx="804600" cy="1830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5 / 6</a:t>
            </a:r>
            <a:endParaRPr b="0" i="0" sz="1400" u="none" cap="none" strike="noStrike">
              <a:solidFill>
                <a:srgbClr val="000000"/>
              </a:solidFill>
              <a:latin typeface="Arial"/>
              <a:ea typeface="Arial"/>
              <a:cs typeface="Arial"/>
              <a:sym typeface="Arial"/>
            </a:endParaRPr>
          </a:p>
        </p:txBody>
      </p:sp>
      <p:cxnSp>
        <p:nvCxnSpPr>
          <p:cNvPr id="998" name="Google Shape;998;p17"/>
          <p:cNvCxnSpPr/>
          <p:nvPr/>
        </p:nvCxnSpPr>
        <p:spPr>
          <a:xfrm>
            <a:off x="1577684" y="3507531"/>
            <a:ext cx="164700" cy="0"/>
          </a:xfrm>
          <a:prstGeom prst="straightConnector1">
            <a:avLst/>
          </a:prstGeom>
          <a:noFill/>
          <a:ln cap="flat" cmpd="sng" w="38100">
            <a:solidFill>
              <a:srgbClr val="3A7D8C"/>
            </a:solidFill>
            <a:prstDash val="solid"/>
            <a:miter lim="80"/>
            <a:headEnd len="sm" w="sm" type="none"/>
            <a:tailEnd len="sm" w="sm" type="none"/>
          </a:ln>
        </p:spPr>
      </p:cxnSp>
      <p:sp>
        <p:nvSpPr>
          <p:cNvPr id="999" name="Google Shape;999;p17"/>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0" name="Google Shape;1000;p17"/>
          <p:cNvCxnSpPr/>
          <p:nvPr/>
        </p:nvCxnSpPr>
        <p:spPr>
          <a:xfrm>
            <a:off x="3369671" y="3446462"/>
            <a:ext cx="100500" cy="0"/>
          </a:xfrm>
          <a:prstGeom prst="straightConnector1">
            <a:avLst/>
          </a:prstGeom>
          <a:noFill/>
          <a:ln cap="flat" cmpd="sng" w="29200">
            <a:solidFill>
              <a:srgbClr val="3A7D8C"/>
            </a:solidFill>
            <a:prstDash val="solid"/>
            <a:miter lim="80"/>
            <a:headEnd len="sm" w="sm" type="none"/>
            <a:tailEnd len="sm" w="sm" type="none"/>
          </a:ln>
        </p:spPr>
      </p:cxnSp>
      <p:cxnSp>
        <p:nvCxnSpPr>
          <p:cNvPr id="1001" name="Google Shape;1001;p17"/>
          <p:cNvCxnSpPr/>
          <p:nvPr/>
        </p:nvCxnSpPr>
        <p:spPr>
          <a:xfrm rot="10800000">
            <a:off x="3456647" y="2186248"/>
            <a:ext cx="0" cy="1271100"/>
          </a:xfrm>
          <a:prstGeom prst="straightConnector1">
            <a:avLst/>
          </a:prstGeom>
          <a:noFill/>
          <a:ln cap="flat" cmpd="sng" w="29200">
            <a:solidFill>
              <a:srgbClr val="3A7D8C"/>
            </a:solidFill>
            <a:prstDash val="solid"/>
            <a:miter lim="80"/>
            <a:headEnd len="sm" w="sm" type="none"/>
            <a:tailEnd len="sm" w="sm" type="none"/>
          </a:ln>
        </p:spPr>
      </p:cxnSp>
      <p:cxnSp>
        <p:nvCxnSpPr>
          <p:cNvPr id="1002" name="Google Shape;1002;p17"/>
          <p:cNvCxnSpPr/>
          <p:nvPr/>
        </p:nvCxnSpPr>
        <p:spPr>
          <a:xfrm>
            <a:off x="3456647" y="2199939"/>
            <a:ext cx="265200" cy="0"/>
          </a:xfrm>
          <a:prstGeom prst="straightConnector1">
            <a:avLst/>
          </a:prstGeom>
          <a:noFill/>
          <a:ln cap="flat" cmpd="sng" w="29200">
            <a:solidFill>
              <a:srgbClr val="3A7D8C"/>
            </a:solidFill>
            <a:prstDash val="solid"/>
            <a:miter lim="80"/>
            <a:headEnd len="sm" w="sm" type="none"/>
            <a:tailEnd len="sm" w="sm" type="none"/>
          </a:ln>
        </p:spPr>
      </p:cxnSp>
      <p:sp>
        <p:nvSpPr>
          <p:cNvPr id="1003" name="Google Shape;1003;p17"/>
          <p:cNvSpPr/>
          <p:nvPr/>
        </p:nvSpPr>
        <p:spPr>
          <a:xfrm rot="5400000">
            <a:off x="3918081" y="213593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4" name="Google Shape;1004;p17"/>
          <p:cNvCxnSpPr/>
          <p:nvPr/>
        </p:nvCxnSpPr>
        <p:spPr>
          <a:xfrm>
            <a:off x="3356063"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05" name="Google Shape;1005;p17"/>
          <p:cNvCxnSpPr/>
          <p:nvPr/>
        </p:nvCxnSpPr>
        <p:spPr>
          <a:xfrm rot="10800000">
            <a:off x="3537528" y="3283708"/>
            <a:ext cx="0" cy="310800"/>
          </a:xfrm>
          <a:prstGeom prst="straightConnector1">
            <a:avLst/>
          </a:prstGeom>
          <a:noFill/>
          <a:ln cap="flat" cmpd="sng" w="26650">
            <a:solidFill>
              <a:srgbClr val="3A7D8C"/>
            </a:solidFill>
            <a:prstDash val="solid"/>
            <a:miter lim="80"/>
            <a:headEnd len="sm" w="sm" type="none"/>
            <a:tailEnd len="sm" w="sm" type="none"/>
          </a:ln>
        </p:spPr>
      </p:cxnSp>
      <p:cxnSp>
        <p:nvCxnSpPr>
          <p:cNvPr id="1006" name="Google Shape;1006;p17"/>
          <p:cNvCxnSpPr/>
          <p:nvPr/>
        </p:nvCxnSpPr>
        <p:spPr>
          <a:xfrm>
            <a:off x="3537528" y="3297219"/>
            <a:ext cx="255900" cy="0"/>
          </a:xfrm>
          <a:prstGeom prst="straightConnector1">
            <a:avLst/>
          </a:prstGeom>
          <a:noFill/>
          <a:ln cap="flat" cmpd="sng" w="26650">
            <a:solidFill>
              <a:srgbClr val="3A7D8C"/>
            </a:solidFill>
            <a:prstDash val="solid"/>
            <a:miter lim="80"/>
            <a:headEnd len="sm" w="sm" type="none"/>
            <a:tailEnd len="sm" w="sm" type="none"/>
          </a:ln>
        </p:spPr>
      </p:cxnSp>
      <p:sp>
        <p:nvSpPr>
          <p:cNvPr id="1007" name="Google Shape;1007;p17"/>
          <p:cNvSpPr/>
          <p:nvPr/>
        </p:nvSpPr>
        <p:spPr>
          <a:xfrm rot="5400000">
            <a:off x="3729467" y="323321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8" name="Google Shape;1008;p17"/>
          <p:cNvCxnSpPr/>
          <p:nvPr/>
        </p:nvCxnSpPr>
        <p:spPr>
          <a:xfrm>
            <a:off x="3356063"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09" name="Google Shape;1009;p17"/>
          <p:cNvCxnSpPr/>
          <p:nvPr/>
        </p:nvCxnSpPr>
        <p:spPr>
          <a:xfrm>
            <a:off x="3537528" y="3992163"/>
            <a:ext cx="255900" cy="0"/>
          </a:xfrm>
          <a:prstGeom prst="straightConnector1">
            <a:avLst/>
          </a:prstGeom>
          <a:noFill/>
          <a:ln cap="flat" cmpd="sng" w="26650">
            <a:solidFill>
              <a:srgbClr val="3A7D8C"/>
            </a:solidFill>
            <a:prstDash val="solid"/>
            <a:miter lim="80"/>
            <a:headEnd len="sm" w="sm" type="none"/>
            <a:tailEnd len="sm" w="sm" type="none"/>
          </a:ln>
        </p:spPr>
      </p:cxnSp>
      <p:sp>
        <p:nvSpPr>
          <p:cNvPr id="1010" name="Google Shape;1010;p17"/>
          <p:cNvSpPr/>
          <p:nvPr/>
        </p:nvSpPr>
        <p:spPr>
          <a:xfrm rot="5400000">
            <a:off x="3729467" y="3928154"/>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11" name="Google Shape;1011;p17"/>
          <p:cNvCxnSpPr/>
          <p:nvPr/>
        </p:nvCxnSpPr>
        <p:spPr>
          <a:xfrm>
            <a:off x="3418656"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12" name="Google Shape;1012;p17"/>
          <p:cNvCxnSpPr/>
          <p:nvPr/>
        </p:nvCxnSpPr>
        <p:spPr>
          <a:xfrm>
            <a:off x="3537528" y="3594508"/>
            <a:ext cx="0" cy="1079100"/>
          </a:xfrm>
          <a:prstGeom prst="straightConnector1">
            <a:avLst/>
          </a:prstGeom>
          <a:noFill/>
          <a:ln cap="flat" cmpd="sng" w="26650">
            <a:solidFill>
              <a:srgbClr val="3A7D8C"/>
            </a:solidFill>
            <a:prstDash val="solid"/>
            <a:miter lim="80"/>
            <a:headEnd len="sm" w="sm" type="none"/>
            <a:tailEnd len="sm" w="sm" type="none"/>
          </a:ln>
        </p:spPr>
      </p:cxnSp>
      <p:cxnSp>
        <p:nvCxnSpPr>
          <p:cNvPr id="1013" name="Google Shape;1013;p17"/>
          <p:cNvCxnSpPr/>
          <p:nvPr/>
        </p:nvCxnSpPr>
        <p:spPr>
          <a:xfrm>
            <a:off x="3537528" y="4659893"/>
            <a:ext cx="255900" cy="0"/>
          </a:xfrm>
          <a:prstGeom prst="straightConnector1">
            <a:avLst/>
          </a:prstGeom>
          <a:noFill/>
          <a:ln cap="flat" cmpd="sng" w="26650">
            <a:solidFill>
              <a:srgbClr val="3A7D8C"/>
            </a:solidFill>
            <a:prstDash val="solid"/>
            <a:miter lim="80"/>
            <a:headEnd len="sm" w="sm" type="none"/>
            <a:tailEnd len="sm" w="sm" type="none"/>
          </a:ln>
        </p:spPr>
      </p:cxnSp>
      <p:sp>
        <p:nvSpPr>
          <p:cNvPr id="1014" name="Google Shape;1014;p17"/>
          <p:cNvSpPr/>
          <p:nvPr/>
        </p:nvSpPr>
        <p:spPr>
          <a:xfrm rot="5400000">
            <a:off x="3729467" y="459588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15" name="Google Shape;1015;p17"/>
          <p:cNvCxnSpPr/>
          <p:nvPr/>
        </p:nvCxnSpPr>
        <p:spPr>
          <a:xfrm>
            <a:off x="6340837" y="2181651"/>
            <a:ext cx="1874400" cy="0"/>
          </a:xfrm>
          <a:prstGeom prst="straightConnector1">
            <a:avLst/>
          </a:prstGeom>
          <a:noFill/>
          <a:ln cap="flat" cmpd="sng" w="29200">
            <a:solidFill>
              <a:srgbClr val="3A7D8C"/>
            </a:solidFill>
            <a:prstDash val="solid"/>
            <a:miter lim="80"/>
            <a:headEnd len="sm" w="sm" type="none"/>
            <a:tailEnd len="sm" w="sm" type="none"/>
          </a:ln>
        </p:spPr>
      </p:cxnSp>
      <p:cxnSp>
        <p:nvCxnSpPr>
          <p:cNvPr id="1016" name="Google Shape;1016;p17"/>
          <p:cNvCxnSpPr/>
          <p:nvPr/>
        </p:nvCxnSpPr>
        <p:spPr>
          <a:xfrm>
            <a:off x="8200117" y="2181651"/>
            <a:ext cx="0" cy="1134000"/>
          </a:xfrm>
          <a:prstGeom prst="straightConnector1">
            <a:avLst/>
          </a:prstGeom>
          <a:noFill/>
          <a:ln cap="flat" cmpd="sng" w="29200">
            <a:solidFill>
              <a:srgbClr val="3A7D8C"/>
            </a:solidFill>
            <a:prstDash val="solid"/>
            <a:miter lim="80"/>
            <a:headEnd len="sm" w="sm" type="none"/>
            <a:tailEnd len="sm" w="sm" type="none"/>
          </a:ln>
        </p:spPr>
      </p:cxnSp>
      <p:sp>
        <p:nvSpPr>
          <p:cNvPr id="1017" name="Google Shape;1017;p17"/>
          <p:cNvSpPr/>
          <p:nvPr/>
        </p:nvSpPr>
        <p:spPr>
          <a:xfrm rot="10800000">
            <a:off x="8136025" y="325141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18" name="Google Shape;1018;p17"/>
          <p:cNvCxnSpPr/>
          <p:nvPr/>
        </p:nvCxnSpPr>
        <p:spPr>
          <a:xfrm>
            <a:off x="7129603" y="3304363"/>
            <a:ext cx="146400" cy="0"/>
          </a:xfrm>
          <a:prstGeom prst="straightConnector1">
            <a:avLst/>
          </a:prstGeom>
          <a:noFill/>
          <a:ln cap="flat" cmpd="sng" w="26650">
            <a:solidFill>
              <a:srgbClr val="3A7D8C"/>
            </a:solidFill>
            <a:prstDash val="solid"/>
            <a:miter lim="80"/>
            <a:headEnd len="sm" w="sm" type="none"/>
            <a:tailEnd len="sm" w="sm" type="none"/>
          </a:ln>
        </p:spPr>
      </p:cxnSp>
      <p:cxnSp>
        <p:nvCxnSpPr>
          <p:cNvPr id="1019" name="Google Shape;1019;p17"/>
          <p:cNvCxnSpPr/>
          <p:nvPr/>
        </p:nvCxnSpPr>
        <p:spPr>
          <a:xfrm>
            <a:off x="7264000" y="3297219"/>
            <a:ext cx="0" cy="448200"/>
          </a:xfrm>
          <a:prstGeom prst="straightConnector1">
            <a:avLst/>
          </a:prstGeom>
          <a:noFill/>
          <a:ln cap="flat" cmpd="sng" w="26650">
            <a:solidFill>
              <a:srgbClr val="3A7D8C"/>
            </a:solidFill>
            <a:prstDash val="solid"/>
            <a:miter lim="80"/>
            <a:headEnd len="sm" w="sm" type="none"/>
            <a:tailEnd len="sm" w="sm" type="none"/>
          </a:ln>
        </p:spPr>
      </p:cxnSp>
      <p:sp>
        <p:nvSpPr>
          <p:cNvPr id="1020" name="Google Shape;1020;p17"/>
          <p:cNvSpPr/>
          <p:nvPr/>
        </p:nvSpPr>
        <p:spPr>
          <a:xfrm rot="5400000">
            <a:off x="7462823" y="3718917"/>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21" name="Google Shape;1021;p17"/>
          <p:cNvCxnSpPr/>
          <p:nvPr/>
        </p:nvCxnSpPr>
        <p:spPr>
          <a:xfrm>
            <a:off x="7129603" y="4693870"/>
            <a:ext cx="146400" cy="0"/>
          </a:xfrm>
          <a:prstGeom prst="straightConnector1">
            <a:avLst/>
          </a:prstGeom>
          <a:noFill/>
          <a:ln cap="flat" cmpd="sng" w="26650">
            <a:solidFill>
              <a:srgbClr val="3A7D8C"/>
            </a:solidFill>
            <a:prstDash val="solid"/>
            <a:miter lim="80"/>
            <a:headEnd len="sm" w="sm" type="none"/>
            <a:tailEnd len="sm" w="sm" type="none"/>
          </a:ln>
        </p:spPr>
      </p:cxnSp>
      <p:cxnSp>
        <p:nvCxnSpPr>
          <p:cNvPr id="1022" name="Google Shape;1022;p17"/>
          <p:cNvCxnSpPr/>
          <p:nvPr/>
        </p:nvCxnSpPr>
        <p:spPr>
          <a:xfrm rot="10800000">
            <a:off x="7264000" y="3745251"/>
            <a:ext cx="0" cy="951000"/>
          </a:xfrm>
          <a:prstGeom prst="straightConnector1">
            <a:avLst/>
          </a:prstGeom>
          <a:noFill/>
          <a:ln cap="flat" cmpd="sng" w="26650">
            <a:solidFill>
              <a:srgbClr val="3A7D8C"/>
            </a:solidFill>
            <a:prstDash val="solid"/>
            <a:miter lim="80"/>
            <a:headEnd len="sm" w="sm" type="none"/>
            <a:tailEnd len="sm" w="sm" type="none"/>
          </a:ln>
        </p:spPr>
      </p:cxnSp>
      <p:cxnSp>
        <p:nvCxnSpPr>
          <p:cNvPr id="1023" name="Google Shape;1023;p17"/>
          <p:cNvCxnSpPr/>
          <p:nvPr/>
        </p:nvCxnSpPr>
        <p:spPr>
          <a:xfrm>
            <a:off x="8931637" y="3795662"/>
            <a:ext cx="868800" cy="0"/>
          </a:xfrm>
          <a:prstGeom prst="straightConnector1">
            <a:avLst/>
          </a:prstGeom>
          <a:noFill/>
          <a:ln cap="flat" cmpd="sng" w="38100">
            <a:solidFill>
              <a:srgbClr val="0B6E4F"/>
            </a:solidFill>
            <a:prstDash val="solid"/>
            <a:miter lim="80"/>
            <a:headEnd len="sm" w="sm" type="none"/>
            <a:tailEnd len="sm" w="sm" type="none"/>
          </a:ln>
        </p:spPr>
      </p:cxnSp>
      <p:sp>
        <p:nvSpPr>
          <p:cNvPr id="1024" name="Google Shape;1024;p17"/>
          <p:cNvSpPr/>
          <p:nvPr/>
        </p:nvSpPr>
        <p:spPr>
          <a:xfrm rot="5400000">
            <a:off x="9736225" y="3731654"/>
            <a:ext cx="128100" cy="128100"/>
          </a:xfrm>
          <a:prstGeom prst="triangle">
            <a:avLst>
              <a:gd fmla="val 50000" name="adj"/>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0" name="Google Shape;1030;p17"/>
          <p:cNvSpPr/>
          <p:nvPr/>
        </p:nvSpPr>
        <p:spPr>
          <a:xfrm>
            <a:off x="407252" y="2958891"/>
            <a:ext cx="1170300" cy="1134000"/>
          </a:xfrm>
          <a:prstGeom prst="roundRect">
            <a:avLst>
              <a:gd fmla="val 16667" name="adj"/>
            </a:avLst>
          </a:prstGeom>
          <a:solidFill>
            <a:srgbClr val="FFFFFF"/>
          </a:solidFill>
          <a:ln cap="flat" cmpd="sng" w="15225">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1" name="Google Shape;1031;p17"/>
          <p:cNvSpPr/>
          <p:nvPr/>
        </p:nvSpPr>
        <p:spPr>
          <a:xfrm>
            <a:off x="526124"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2" name="Google Shape;1032;p17"/>
          <p:cNvCxnSpPr/>
          <p:nvPr/>
        </p:nvCxnSpPr>
        <p:spPr>
          <a:xfrm>
            <a:off x="567272"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3" name="Google Shape;1033;p17"/>
          <p:cNvCxnSpPr/>
          <p:nvPr/>
        </p:nvCxnSpPr>
        <p:spPr>
          <a:xfrm>
            <a:off x="567272"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34" name="Google Shape;1034;p17"/>
          <p:cNvSpPr/>
          <p:nvPr/>
        </p:nvSpPr>
        <p:spPr>
          <a:xfrm>
            <a:off x="837020"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5" name="Google Shape;1035;p17"/>
          <p:cNvCxnSpPr/>
          <p:nvPr/>
        </p:nvCxnSpPr>
        <p:spPr>
          <a:xfrm>
            <a:off x="878168"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6" name="Google Shape;1036;p17"/>
          <p:cNvCxnSpPr/>
          <p:nvPr/>
        </p:nvCxnSpPr>
        <p:spPr>
          <a:xfrm>
            <a:off x="878168"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37" name="Google Shape;1037;p17"/>
          <p:cNvSpPr/>
          <p:nvPr/>
        </p:nvSpPr>
        <p:spPr>
          <a:xfrm>
            <a:off x="1147916"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8" name="Google Shape;1038;p17"/>
          <p:cNvCxnSpPr/>
          <p:nvPr/>
        </p:nvCxnSpPr>
        <p:spPr>
          <a:xfrm>
            <a:off x="1189064"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039" name="Google Shape;1039;p17"/>
          <p:cNvCxnSpPr/>
          <p:nvPr/>
        </p:nvCxnSpPr>
        <p:spPr>
          <a:xfrm>
            <a:off x="1189064"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040" name="Google Shape;1040;p17"/>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041" name="Google Shape;1041;p17"/>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042" name="Google Shape;1042;p17"/>
          <p:cNvSpPr/>
          <p:nvPr/>
        </p:nvSpPr>
        <p:spPr>
          <a:xfrm>
            <a:off x="4043884" y="1825035"/>
            <a:ext cx="2103000" cy="7590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3" name="Google Shape;1043;p17"/>
          <p:cNvSpPr txBox="1"/>
          <p:nvPr/>
        </p:nvSpPr>
        <p:spPr>
          <a:xfrm>
            <a:off x="4117036" y="1590575"/>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(b)</a:t>
            </a:r>
            <a:endParaRPr b="0" i="0" sz="1400" u="none" cap="none" strike="noStrike">
              <a:solidFill>
                <a:srgbClr val="000000"/>
              </a:solidFill>
              <a:latin typeface="Arial"/>
              <a:ea typeface="Arial"/>
              <a:cs typeface="Arial"/>
              <a:sym typeface="Arial"/>
            </a:endParaRPr>
          </a:p>
        </p:txBody>
      </p:sp>
      <p:sp>
        <p:nvSpPr>
          <p:cNvPr id="1044" name="Google Shape;1044;p17"/>
          <p:cNvSpPr txBox="1"/>
          <p:nvPr/>
        </p:nvSpPr>
        <p:spPr>
          <a:xfrm>
            <a:off x="4126180" y="1943907"/>
            <a:ext cx="19386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045" name="Google Shape;1045;p17"/>
          <p:cNvSpPr txBox="1"/>
          <p:nvPr/>
        </p:nvSpPr>
        <p:spPr>
          <a:xfrm>
            <a:off x="4135323" y="2218227"/>
            <a:ext cx="19203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OWL seed DMᵣ</a:t>
            </a:r>
            <a:endParaRPr b="0" i="0" sz="1400" u="none" cap="none" strike="noStrike">
              <a:solidFill>
                <a:srgbClr val="000000"/>
              </a:solidFill>
              <a:latin typeface="Arial"/>
              <a:ea typeface="Arial"/>
              <a:cs typeface="Arial"/>
              <a:sym typeface="Arial"/>
            </a:endParaRPr>
          </a:p>
        </p:txBody>
      </p:sp>
      <p:sp>
        <p:nvSpPr>
          <p:cNvPr id="1046" name="Google Shape;1046;p17"/>
          <p:cNvSpPr/>
          <p:nvPr/>
        </p:nvSpPr>
        <p:spPr>
          <a:xfrm>
            <a:off x="3897579" y="2739445"/>
            <a:ext cx="3218700" cy="2508300"/>
          </a:xfrm>
          <a:prstGeom prst="roundRect">
            <a:avLst>
              <a:gd fmla="val 8766" name="adj"/>
            </a:avLst>
          </a:prstGeom>
          <a:solidFill>
            <a:srgbClr val="FFFFFF"/>
          </a:solidFill>
          <a:ln cap="flat" cmpd="sng" w="15225">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7" name="Google Shape;1047;p17"/>
          <p:cNvSpPr txBox="1"/>
          <p:nvPr/>
        </p:nvSpPr>
        <p:spPr>
          <a:xfrm>
            <a:off x="4025596" y="2776011"/>
            <a:ext cx="29901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RETRIEVAL  •  top-k per source</a:t>
            </a:r>
            <a:endParaRPr b="0" i="0" sz="1400" u="none" cap="none" strike="noStrike">
              <a:solidFill>
                <a:srgbClr val="000000"/>
              </a:solidFill>
              <a:latin typeface="Arial"/>
              <a:ea typeface="Arial"/>
              <a:cs typeface="Arial"/>
              <a:sym typeface="Arial"/>
            </a:endParaRPr>
          </a:p>
        </p:txBody>
      </p:sp>
      <p:sp>
        <p:nvSpPr>
          <p:cNvPr id="1048" name="Google Shape;1048;p17"/>
          <p:cNvSpPr/>
          <p:nvPr/>
        </p:nvSpPr>
        <p:spPr>
          <a:xfrm>
            <a:off x="4043884" y="3059475"/>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9" name="Google Shape;1049;p17"/>
          <p:cNvSpPr txBox="1"/>
          <p:nvPr/>
        </p:nvSpPr>
        <p:spPr>
          <a:xfrm>
            <a:off x="4144468" y="3115627"/>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(c)</a:t>
            </a:r>
            <a:endParaRPr b="0" i="0" sz="1400" u="none" cap="none" strike="noStrike">
              <a:solidFill>
                <a:srgbClr val="000000"/>
              </a:solidFill>
              <a:latin typeface="Arial"/>
              <a:ea typeface="Arial"/>
              <a:cs typeface="Arial"/>
              <a:sym typeface="Arial"/>
            </a:endParaRPr>
          </a:p>
        </p:txBody>
      </p:sp>
      <p:sp>
        <p:nvSpPr>
          <p:cNvPr id="1050" name="Google Shape;1050;p17"/>
          <p:cNvSpPr txBox="1"/>
          <p:nvPr/>
        </p:nvSpPr>
        <p:spPr>
          <a:xfrm>
            <a:off x="4491940" y="3109413"/>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External ontologies</a:t>
            </a:r>
            <a:endParaRPr b="0" i="0" sz="1400" u="none" cap="none" strike="noStrike">
              <a:solidFill>
                <a:srgbClr val="000000"/>
              </a:solidFill>
              <a:latin typeface="Arial"/>
              <a:ea typeface="Arial"/>
              <a:cs typeface="Arial"/>
              <a:sym typeface="Arial"/>
            </a:endParaRPr>
          </a:p>
        </p:txBody>
      </p:sp>
      <p:sp>
        <p:nvSpPr>
          <p:cNvPr id="1051" name="Google Shape;1051;p17"/>
          <p:cNvSpPr txBox="1"/>
          <p:nvPr/>
        </p:nvSpPr>
        <p:spPr>
          <a:xfrm>
            <a:off x="4491940" y="3379515"/>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Domain alignments</a:t>
            </a:r>
            <a:endParaRPr b="0" i="0" sz="1400" u="none" cap="none" strike="noStrike">
              <a:solidFill>
                <a:srgbClr val="000000"/>
              </a:solidFill>
              <a:latin typeface="Arial"/>
              <a:ea typeface="Arial"/>
              <a:cs typeface="Arial"/>
              <a:sym typeface="Arial"/>
            </a:endParaRPr>
          </a:p>
        </p:txBody>
      </p:sp>
      <p:sp>
        <p:nvSpPr>
          <p:cNvPr id="1052" name="Google Shape;1052;p17"/>
          <p:cNvSpPr/>
          <p:nvPr/>
        </p:nvSpPr>
        <p:spPr>
          <a:xfrm>
            <a:off x="4043884" y="3763563"/>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3" name="Google Shape;1053;p17"/>
          <p:cNvSpPr txBox="1"/>
          <p:nvPr/>
        </p:nvSpPr>
        <p:spPr>
          <a:xfrm>
            <a:off x="4144468" y="3819715"/>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(d)</a:t>
            </a:r>
            <a:endParaRPr b="0" i="0" sz="1400" u="none" cap="none" strike="noStrike">
              <a:solidFill>
                <a:srgbClr val="000000"/>
              </a:solidFill>
              <a:latin typeface="Arial"/>
              <a:ea typeface="Arial"/>
              <a:cs typeface="Arial"/>
              <a:sym typeface="Arial"/>
            </a:endParaRPr>
          </a:p>
        </p:txBody>
      </p:sp>
      <p:sp>
        <p:nvSpPr>
          <p:cNvPr id="1054" name="Google Shape;1054;p17"/>
          <p:cNvSpPr txBox="1"/>
          <p:nvPr/>
        </p:nvSpPr>
        <p:spPr>
          <a:xfrm>
            <a:off x="4491940" y="3813501"/>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Documentation</a:t>
            </a:r>
            <a:endParaRPr b="0" i="0" sz="1400" u="none" cap="none" strike="noStrike">
              <a:solidFill>
                <a:srgbClr val="000000"/>
              </a:solidFill>
              <a:latin typeface="Arial"/>
              <a:ea typeface="Arial"/>
              <a:cs typeface="Arial"/>
              <a:sym typeface="Arial"/>
            </a:endParaRPr>
          </a:p>
        </p:txBody>
      </p:sp>
      <p:sp>
        <p:nvSpPr>
          <p:cNvPr id="1055" name="Google Shape;1055;p17"/>
          <p:cNvSpPr txBox="1"/>
          <p:nvPr/>
        </p:nvSpPr>
        <p:spPr>
          <a:xfrm>
            <a:off x="4491940" y="4083603"/>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Cryptic fields and codes</a:t>
            </a:r>
            <a:endParaRPr b="0" i="0" sz="1400" u="none" cap="none" strike="noStrike">
              <a:solidFill>
                <a:srgbClr val="000000"/>
              </a:solidFill>
              <a:latin typeface="Arial"/>
              <a:ea typeface="Arial"/>
              <a:cs typeface="Arial"/>
              <a:sym typeface="Arial"/>
            </a:endParaRPr>
          </a:p>
        </p:txBody>
      </p:sp>
      <p:sp>
        <p:nvSpPr>
          <p:cNvPr id="1056" name="Google Shape;1056;p17"/>
          <p:cNvSpPr/>
          <p:nvPr/>
        </p:nvSpPr>
        <p:spPr>
          <a:xfrm>
            <a:off x="4043884" y="4467651"/>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7" name="Google Shape;1057;p17"/>
          <p:cNvSpPr txBox="1"/>
          <p:nvPr/>
        </p:nvSpPr>
        <p:spPr>
          <a:xfrm>
            <a:off x="4144468" y="4523803"/>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(e)</a:t>
            </a:r>
            <a:endParaRPr b="0" i="0" sz="1400" u="none" cap="none" strike="noStrike">
              <a:solidFill>
                <a:srgbClr val="000000"/>
              </a:solidFill>
              <a:latin typeface="Arial"/>
              <a:ea typeface="Arial"/>
              <a:cs typeface="Arial"/>
              <a:sym typeface="Arial"/>
            </a:endParaRPr>
          </a:p>
        </p:txBody>
      </p:sp>
      <p:sp>
        <p:nvSpPr>
          <p:cNvPr id="1058" name="Google Shape;1058;p17"/>
          <p:cNvSpPr txBox="1"/>
          <p:nvPr/>
        </p:nvSpPr>
        <p:spPr>
          <a:xfrm>
            <a:off x="4491940" y="4517589"/>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Growing core ontology</a:t>
            </a:r>
            <a:endParaRPr b="0" i="0" sz="1400" u="none" cap="none" strike="noStrike">
              <a:solidFill>
                <a:srgbClr val="000000"/>
              </a:solidFill>
              <a:latin typeface="Arial"/>
              <a:ea typeface="Arial"/>
              <a:cs typeface="Arial"/>
              <a:sym typeface="Arial"/>
            </a:endParaRPr>
          </a:p>
        </p:txBody>
      </p:sp>
      <p:sp>
        <p:nvSpPr>
          <p:cNvPr id="1059" name="Google Shape;1059;p17"/>
          <p:cNvSpPr txBox="1"/>
          <p:nvPr/>
        </p:nvSpPr>
        <p:spPr>
          <a:xfrm>
            <a:off x="4491940" y="4787691"/>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Reuse validated IRIs</a:t>
            </a:r>
            <a:endParaRPr b="0" i="0" sz="1400" u="none" cap="none" strike="noStrike">
              <a:solidFill>
                <a:srgbClr val="000000"/>
              </a:solidFill>
              <a:latin typeface="Arial"/>
              <a:ea typeface="Arial"/>
              <a:cs typeface="Arial"/>
              <a:sym typeface="Arial"/>
            </a:endParaRPr>
          </a:p>
        </p:txBody>
      </p:sp>
      <p:sp>
        <p:nvSpPr>
          <p:cNvPr id="1060" name="Google Shape;1060;p17"/>
          <p:cNvSpPr/>
          <p:nvPr/>
        </p:nvSpPr>
        <p:spPr>
          <a:xfrm>
            <a:off x="7596625" y="3402475"/>
            <a:ext cx="1335000" cy="13215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1" name="Google Shape;1061;p17"/>
          <p:cNvSpPr txBox="1"/>
          <p:nvPr/>
        </p:nvSpPr>
        <p:spPr>
          <a:xfrm>
            <a:off x="7669765" y="3192158"/>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(f)</a:t>
            </a:r>
            <a:endParaRPr b="0" i="0" sz="1400" u="none" cap="none" strike="noStrike">
              <a:solidFill>
                <a:srgbClr val="000000"/>
              </a:solidFill>
              <a:latin typeface="Arial"/>
              <a:ea typeface="Arial"/>
              <a:cs typeface="Arial"/>
              <a:sym typeface="Arial"/>
            </a:endParaRPr>
          </a:p>
        </p:txBody>
      </p:sp>
      <p:sp>
        <p:nvSpPr>
          <p:cNvPr id="1062" name="Google Shape;1062;p17"/>
          <p:cNvSpPr txBox="1"/>
          <p:nvPr/>
        </p:nvSpPr>
        <p:spPr>
          <a:xfrm>
            <a:off x="7678909" y="3521341"/>
            <a:ext cx="11703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Gen-LLM</a:t>
            </a:r>
            <a:endParaRPr b="0" i="0" sz="1400" u="none" cap="none" strike="noStrike">
              <a:solidFill>
                <a:srgbClr val="000000"/>
              </a:solidFill>
              <a:latin typeface="Arial"/>
              <a:ea typeface="Arial"/>
              <a:cs typeface="Arial"/>
              <a:sym typeface="Arial"/>
            </a:endParaRPr>
          </a:p>
        </p:txBody>
      </p:sp>
      <p:sp>
        <p:nvSpPr>
          <p:cNvPr id="1063" name="Google Shape;1063;p17"/>
          <p:cNvSpPr txBox="1"/>
          <p:nvPr/>
        </p:nvSpPr>
        <p:spPr>
          <a:xfrm>
            <a:off x="7688053" y="3795661"/>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creates ΔOᵣ</a:t>
            </a:r>
            <a:endParaRPr b="0" i="0" sz="1400" u="none" cap="none" strike="noStrike">
              <a:solidFill>
                <a:srgbClr val="000000"/>
              </a:solidFill>
              <a:latin typeface="Arial"/>
              <a:ea typeface="Arial"/>
              <a:cs typeface="Arial"/>
              <a:sym typeface="Arial"/>
            </a:endParaRPr>
          </a:p>
        </p:txBody>
      </p:sp>
      <p:sp>
        <p:nvSpPr>
          <p:cNvPr id="1064" name="Google Shape;1064;p17"/>
          <p:cNvSpPr txBox="1"/>
          <p:nvPr/>
        </p:nvSpPr>
        <p:spPr>
          <a:xfrm>
            <a:off x="9032221" y="3384182"/>
            <a:ext cx="7131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(g) ΔOᵣ</a:t>
            </a:r>
            <a:endParaRPr b="0" i="0" sz="1400" u="none" cap="none" strike="noStrike">
              <a:solidFill>
                <a:srgbClr val="000000"/>
              </a:solidFill>
              <a:latin typeface="Arial"/>
              <a:ea typeface="Arial"/>
              <a:cs typeface="Arial"/>
              <a:sym typeface="Arial"/>
            </a:endParaRPr>
          </a:p>
        </p:txBody>
      </p:sp>
      <p:sp>
        <p:nvSpPr>
          <p:cNvPr id="1065" name="Google Shape;1065;p17"/>
          <p:cNvSpPr/>
          <p:nvPr/>
        </p:nvSpPr>
        <p:spPr>
          <a:xfrm>
            <a:off x="9859849" y="3237878"/>
            <a:ext cx="2121300" cy="1115700"/>
          </a:xfrm>
          <a:prstGeom prst="roundRect">
            <a:avLst>
              <a:gd fmla="val 16667" name="adj"/>
            </a:avLst>
          </a:prstGeom>
          <a:solidFill>
            <a:srgbClr val="DDE5E1"/>
          </a:solidFill>
          <a:ln cap="flat" cmpd="sng" w="292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6" name="Google Shape;1066;p17"/>
          <p:cNvSpPr txBox="1"/>
          <p:nvPr/>
        </p:nvSpPr>
        <p:spPr>
          <a:xfrm>
            <a:off x="9933001" y="3027566"/>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(h)</a:t>
            </a:r>
            <a:endParaRPr b="0" i="0" sz="1400" u="none" cap="none" strike="noStrike">
              <a:solidFill>
                <a:srgbClr val="000000"/>
              </a:solidFill>
              <a:latin typeface="Arial"/>
              <a:ea typeface="Arial"/>
              <a:cs typeface="Arial"/>
              <a:sym typeface="Arial"/>
            </a:endParaRPr>
          </a:p>
        </p:txBody>
      </p:sp>
      <p:sp>
        <p:nvSpPr>
          <p:cNvPr id="1067" name="Google Shape;1067;p17"/>
          <p:cNvSpPr txBox="1"/>
          <p:nvPr/>
        </p:nvSpPr>
        <p:spPr>
          <a:xfrm>
            <a:off x="9942145" y="3272233"/>
            <a:ext cx="19569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Validate + refine</a:t>
            </a:r>
            <a:endParaRPr b="0" i="0" sz="1400" u="none" cap="none" strike="noStrike">
              <a:solidFill>
                <a:srgbClr val="000000"/>
              </a:solidFill>
              <a:latin typeface="Arial"/>
              <a:ea typeface="Arial"/>
              <a:cs typeface="Arial"/>
              <a:sym typeface="Arial"/>
            </a:endParaRPr>
          </a:p>
        </p:txBody>
      </p:sp>
      <p:sp>
        <p:nvSpPr>
          <p:cNvPr id="1068" name="Google Shape;1068;p17"/>
          <p:cNvSpPr txBox="1"/>
          <p:nvPr/>
        </p:nvSpPr>
        <p:spPr>
          <a:xfrm>
            <a:off x="9951289" y="3546553"/>
            <a:ext cx="1938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Judge-LLM + rules</a:t>
            </a:r>
            <a:endParaRPr b="0" i="0" sz="1400" u="none" cap="none" strike="noStrike">
              <a:solidFill>
                <a:srgbClr val="000000"/>
              </a:solidFill>
              <a:latin typeface="Arial"/>
              <a:ea typeface="Arial"/>
              <a:cs typeface="Arial"/>
              <a:sym typeface="Arial"/>
            </a:endParaRPr>
          </a:p>
        </p:txBody>
      </p:sp>
      <p:cxnSp>
        <p:nvCxnSpPr>
          <p:cNvPr id="1075" name="Google Shape;1075;p17"/>
          <p:cNvCxnSpPr/>
          <p:nvPr/>
        </p:nvCxnSpPr>
        <p:spPr>
          <a:xfrm>
            <a:off x="3280056" y="3446462"/>
            <a:ext cx="100500" cy="0"/>
          </a:xfrm>
          <a:prstGeom prst="straightConnector1">
            <a:avLst/>
          </a:prstGeom>
          <a:noFill/>
          <a:ln cap="flat" cmpd="sng" w="29200">
            <a:solidFill>
              <a:srgbClr val="3A7D8C"/>
            </a:solidFill>
            <a:prstDash val="solid"/>
            <a:miter lim="80"/>
            <a:headEnd len="sm" w="sm" type="none"/>
            <a:tailEnd len="sm" w="sm" type="none"/>
          </a:ln>
        </p:spPr>
      </p:cxnSp>
      <p:sp>
        <p:nvSpPr>
          <p:cNvPr id="1076" name="Google Shape;1076;p17"/>
          <p:cNvSpPr/>
          <p:nvPr/>
        </p:nvSpPr>
        <p:spPr>
          <a:xfrm>
            <a:off x="1838868" y="3160059"/>
            <a:ext cx="1444800" cy="6948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7" name="Google Shape;1077;p17"/>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078" name="Google Shape;1078;p17"/>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cxnSp>
        <p:nvCxnSpPr>
          <p:cNvPr id="1079" name="Google Shape;1079;p17"/>
          <p:cNvCxnSpPr/>
          <p:nvPr/>
        </p:nvCxnSpPr>
        <p:spPr>
          <a:xfrm>
            <a:off x="3276349"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080" name="Google Shape;1080;p17"/>
          <p:cNvCxnSpPr/>
          <p:nvPr/>
        </p:nvCxnSpPr>
        <p:spPr>
          <a:xfrm>
            <a:off x="3657665" y="2199459"/>
            <a:ext cx="265200" cy="0"/>
          </a:xfrm>
          <a:prstGeom prst="straightConnector1">
            <a:avLst/>
          </a:prstGeom>
          <a:noFill/>
          <a:ln cap="flat" cmpd="sng" w="29200">
            <a:solidFill>
              <a:srgbClr val="3A7D8C"/>
            </a:solidFill>
            <a:prstDash val="solid"/>
            <a:miter lim="80"/>
            <a:headEnd len="sm" w="sm" type="none"/>
            <a:tailEnd len="sm" w="sm" type="none"/>
          </a:ln>
        </p:spPr>
      </p:cxnSp>
      <p:cxnSp>
        <p:nvCxnSpPr>
          <p:cNvPr id="1081" name="Google Shape;1081;p17"/>
          <p:cNvCxnSpPr/>
          <p:nvPr/>
        </p:nvCxnSpPr>
        <p:spPr>
          <a:xfrm>
            <a:off x="6144772" y="2181631"/>
            <a:ext cx="1874400" cy="0"/>
          </a:xfrm>
          <a:prstGeom prst="straightConnector1">
            <a:avLst/>
          </a:prstGeom>
          <a:noFill/>
          <a:ln cap="flat" cmpd="sng" w="29200">
            <a:solidFill>
              <a:srgbClr val="3A7D8C"/>
            </a:solidFill>
            <a:prstDash val="solid"/>
            <a:miter lim="80"/>
            <a:headEnd len="sm" w="sm" type="none"/>
            <a:tailEnd len="sm" w="sm" type="none"/>
          </a:ln>
        </p:spPr>
      </p:cxnSp>
      <p:pic>
        <p:nvPicPr>
          <p:cNvPr id="1084" name="Google Shape;1084;p17" title="graph_checks_icon.png"/>
          <p:cNvPicPr preferRelativeResize="0"/>
          <p:nvPr/>
        </p:nvPicPr>
        <p:blipFill rotWithShape="1">
          <a:blip r:embed="rId3">
            <a:alphaModFix/>
          </a:blip>
          <a:srcRect b="19469" l="4324" r="13635" t="18031"/>
          <a:stretch/>
        </p:blipFill>
        <p:spPr>
          <a:xfrm>
            <a:off x="11109875" y="3858152"/>
            <a:ext cx="528134" cy="402300"/>
          </a:xfrm>
          <a:prstGeom prst="rect">
            <a:avLst/>
          </a:prstGeom>
          <a:noFill/>
          <a:ln>
            <a:noFill/>
          </a:ln>
        </p:spPr>
      </p:pic>
      <p:pic>
        <p:nvPicPr>
          <p:cNvPr id="1085" name="Google Shape;1085;p17" title="judge_llm_icon.png"/>
          <p:cNvPicPr preferRelativeResize="0"/>
          <p:nvPr/>
        </p:nvPicPr>
        <p:blipFill rotWithShape="1">
          <a:blip r:embed="rId4">
            <a:alphaModFix/>
          </a:blip>
          <a:srcRect b="12651" l="17110" r="7384" t="12532"/>
          <a:stretch/>
        </p:blipFill>
        <p:spPr>
          <a:xfrm>
            <a:off x="10278909" y="3774189"/>
            <a:ext cx="528124" cy="523220"/>
          </a:xfrm>
          <a:prstGeom prst="rect">
            <a:avLst/>
          </a:prstGeom>
          <a:noFill/>
          <a:ln>
            <a:noFill/>
          </a:ln>
        </p:spPr>
      </p:pic>
      <p:pic>
        <p:nvPicPr>
          <p:cNvPr id="1086" name="Google Shape;1086;p17" title="Ontology Taxonomy Documentation Icons.png"/>
          <p:cNvPicPr preferRelativeResize="0"/>
          <p:nvPr/>
        </p:nvPicPr>
        <p:blipFill rotWithShape="1">
          <a:blip r:embed="rId5">
            <a:alphaModFix/>
          </a:blip>
          <a:srcRect b="14185" l="36225" r="31825" t="16211"/>
          <a:stretch/>
        </p:blipFill>
        <p:spPr>
          <a:xfrm>
            <a:off x="6431317" y="3822390"/>
            <a:ext cx="594806" cy="475499"/>
          </a:xfrm>
          <a:prstGeom prst="rect">
            <a:avLst/>
          </a:prstGeom>
          <a:noFill/>
          <a:ln>
            <a:noFill/>
          </a:ln>
        </p:spPr>
      </p:pic>
      <p:pic>
        <p:nvPicPr>
          <p:cNvPr id="1087" name="Google Shape;1087;p17" title="Ontology Taxonomy Documentation Icons.png"/>
          <p:cNvPicPr preferRelativeResize="0"/>
          <p:nvPr/>
        </p:nvPicPr>
        <p:blipFill rotWithShape="1">
          <a:blip r:embed="rId5">
            <a:alphaModFix/>
          </a:blip>
          <a:srcRect b="14185" l="2070" r="65981" t="16211"/>
          <a:stretch/>
        </p:blipFill>
        <p:spPr>
          <a:xfrm>
            <a:off x="6385539" y="3137260"/>
            <a:ext cx="594801" cy="432155"/>
          </a:xfrm>
          <a:prstGeom prst="rect">
            <a:avLst/>
          </a:prstGeom>
          <a:noFill/>
          <a:ln>
            <a:noFill/>
          </a:ln>
        </p:spPr>
      </p:pic>
      <p:pic>
        <p:nvPicPr>
          <p:cNvPr id="1088" name="Google Shape;1088;p17" title="Ontology Taxonomy Documentation Icons.png"/>
          <p:cNvPicPr preferRelativeResize="0"/>
          <p:nvPr/>
        </p:nvPicPr>
        <p:blipFill rotWithShape="1">
          <a:blip r:embed="rId5">
            <a:alphaModFix/>
          </a:blip>
          <a:srcRect b="7505" l="70326" r="314" t="10116"/>
          <a:stretch/>
        </p:blipFill>
        <p:spPr>
          <a:xfrm>
            <a:off x="6452911" y="4535008"/>
            <a:ext cx="528123" cy="494162"/>
          </a:xfrm>
          <a:prstGeom prst="rect">
            <a:avLst/>
          </a:prstGeom>
          <a:noFill/>
          <a:ln>
            <a:noFill/>
          </a:ln>
        </p:spPr>
      </p:pic>
      <p:pic>
        <p:nvPicPr>
          <p:cNvPr id="1089" name="Google Shape;1089;p17" title="LLM Neural Brain Icon.png"/>
          <p:cNvPicPr preferRelativeResize="0"/>
          <p:nvPr/>
        </p:nvPicPr>
        <p:blipFill rotWithShape="1">
          <a:blip r:embed="rId6">
            <a:alphaModFix/>
          </a:blip>
          <a:srcRect b="14226" l="16398" r="17214" t="12218"/>
          <a:stretch/>
        </p:blipFill>
        <p:spPr>
          <a:xfrm>
            <a:off x="7941825" y="4070998"/>
            <a:ext cx="644449" cy="6036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2026-10-26T00:50:16Z</dcterms:created>
</cp:coreProperties>
</file>