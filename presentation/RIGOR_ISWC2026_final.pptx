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Lst>
  <p:sldSz cy="6858000" cx="12192000"/>
  <p:notesSz cx="6858000" cy="12192000"/>
  <p:embeddedFontLst>
    <p:embeddedFont>
      <p:font typeface="IBM Plex Sans"/>
      <p:regular r:id="rId51"/>
      <p:bold r:id="rId52"/>
      <p:italic r:id="rId53"/>
      <p:boldItalic r:id="rId54"/>
    </p:embeddedFont>
    <p:embeddedFont>
      <p:font typeface="Inter"/>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9" roundtripDataSignature="AMtx7mg53m6TzstH0Sqnn3r9Y865WfRY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IBMPlexSans-regular.fntdata"/><Relationship Id="rId50" Type="http://schemas.openxmlformats.org/officeDocument/2006/relationships/slide" Target="slides/slide46.xml"/><Relationship Id="rId53" Type="http://schemas.openxmlformats.org/officeDocument/2006/relationships/font" Target="fonts/IBMPlexSans-italic.fntdata"/><Relationship Id="rId52" Type="http://schemas.openxmlformats.org/officeDocument/2006/relationships/font" Target="fonts/IBMPlexSans-bold.fntdata"/><Relationship Id="rId11" Type="http://schemas.openxmlformats.org/officeDocument/2006/relationships/slide" Target="slides/slide7.xml"/><Relationship Id="rId55" Type="http://schemas.openxmlformats.org/officeDocument/2006/relationships/font" Target="fonts/Inter-regular.fntdata"/><Relationship Id="rId10" Type="http://schemas.openxmlformats.org/officeDocument/2006/relationships/slide" Target="slides/slide6.xml"/><Relationship Id="rId54" Type="http://schemas.openxmlformats.org/officeDocument/2006/relationships/font" Target="fonts/IBMPlexSans-boldItalic.fntdata"/><Relationship Id="rId13" Type="http://schemas.openxmlformats.org/officeDocument/2006/relationships/slide" Target="slides/slide9.xml"/><Relationship Id="rId57" Type="http://schemas.openxmlformats.org/officeDocument/2006/relationships/font" Target="fonts/Inter-italic.fntdata"/><Relationship Id="rId12" Type="http://schemas.openxmlformats.org/officeDocument/2006/relationships/slide" Target="slides/slide8.xml"/><Relationship Id="rId56" Type="http://schemas.openxmlformats.org/officeDocument/2006/relationships/font" Target="fonts/Inter-bold.fntdata"/><Relationship Id="rId15" Type="http://schemas.openxmlformats.org/officeDocument/2006/relationships/slide" Target="slides/slide11.xml"/><Relationship Id="rId59" Type="http://customschemas.google.com/relationships/presentationmetadata" Target="metadata"/><Relationship Id="rId14" Type="http://schemas.openxmlformats.org/officeDocument/2006/relationships/slide" Target="slides/slide10.xml"/><Relationship Id="rId58" Type="http://schemas.openxmlformats.org/officeDocument/2006/relationships/font" Target="fonts/Inter-boldItalic.fnt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SLIDE 1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[0:25–0:55]  SLIDE 2  (54 words)</a:t>
            </a:r>
          </a:p>
          <a:p>
            <a:r>
              <a:rPr b="0" i="0" lang="en-US" sz="1200" u="none" cap="none" strike="noStrike">
                <a:solidFill>
                  <a:schemeClr val="dk1"/>
                </a:solidFill>
                <a:latin typeface="IBM Plex Sans"/>
                <a:ea typeface="IBM Plex Sans"/>
                <a:cs typeface="IBM Plex Sans"/>
                <a:sym typeface="IBM Plex Sans"/>
              </a:rPr>
              <a:t>Imagine you inherit this clinical database. An admission points to its patient through a foreign key. But how should an ontology represent that link? What does BM_DEP mean? What does an ECOG stage of three mean? The schema cannot tell us. Yet these meanings are exactly what ontology-based access, knowledge graphs and integration need.</a:t>
            </a:r>
          </a:p>
          <a:p/>
          <a:p>
            <a:r>
              <a:rPr b="0" i="0" lang="en-US" sz="1200" u="none" cap="none" strike="noStrike">
                <a:solidFill>
                  <a:schemeClr val="dk1"/>
                </a:solidFill>
                <a:latin typeface="IBM Plex Sans"/>
                <a:ea typeface="IBM Plex Sans"/>
                <a:cs typeface="IBM Plex Sans"/>
                <a:sym typeface="IBM Plex Sans"/>
              </a:rPr>
              <a:t>PRESENTER / POINTER: Point at the FK arrow, then the three questions on the right, top to bottom.</a:t>
            </a:r>
          </a:p>
          <a:p>
            <a:r>
              <a:rPr b="0" i="0" lang="en-US" sz="1200" u="none" cap="none" strike="noStrike">
                <a:solidFill>
                  <a:schemeClr val="dk1"/>
                </a:solidFill>
                <a:latin typeface="IBM Plex Sans"/>
                <a:ea typeface="IBM Plex Sans"/>
                <a:cs typeface="IBM Plex Sans"/>
                <a:sym typeface="IBM Plex Sans"/>
              </a:rPr>
              <a:t>AUDIENCE TAKEAWAY: The schema knows storage and links, not domain meaning.</a:t>
            </a:r>
          </a:p>
          <a:p>
            <a:r>
              <a:rPr b="0" i="0" lang="en-US" sz="1200" u="none" cap="none" strike="noStrike">
                <a:solidFill>
                  <a:schemeClr val="dk1"/>
                </a:solidFill>
                <a:latin typeface="IBM Plex Sans"/>
                <a:ea typeface="IBM Plex Sans"/>
                <a:cs typeface="IBM Plex Sans"/>
                <a:sym typeface="IBM Plex Sans"/>
              </a:rPr>
              <a:t>SOURCE AND SCOPE: Illustrative table assembled from examples in paper Sections 3.2 and 3.4.</a:t>
            </a:r>
          </a:p>
        </p:txBody>
      </p:sp>
      <p:sp>
        <p:nvSpPr>
          <p:cNvPr id="74" name="Google Shape;74;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4e1cd23050cdd6e6_1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h4e1cd23050cdd6e6_1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[0:55–1:01]  SLIDE 3 · REVEAL 1 OF 6  (10 words)</a:t>
            </a:r>
          </a:p>
          <a:p>
            <a:r>
              <a:rPr lang="en-US" sz="1200">
                <a:solidFill>
                  <a:schemeClr val="dk1"/>
                </a:solidFill>
                <a:latin typeface="Calibri"/>
                <a:ea typeface="Calibri"/>
                <a:cs typeface="Calibri"/>
                <a:sym typeface="Calibri"/>
              </a:rPr>
              <a:t>Here is what we want to build from this table.</a:t>
            </a:r>
          </a:p>
          <a:p/>
          <a:p>
            <a:r>
              <a:rPr lang="en-US" sz="1200">
                <a:solidFill>
                  <a:schemeClr val="dk1"/>
                </a:solidFill>
                <a:latin typeface="Calibri"/>
                <a:ea typeface="Calibri"/>
                <a:cs typeface="Calibri"/>
                <a:sym typeface="Calibri"/>
              </a:rPr>
              <a:t>PRESENTER / POINTER: Empty target. One breath, then click.</a:t>
            </a:r>
          </a:p>
        </p:txBody>
      </p:sp>
      <p:sp>
        <p:nvSpPr>
          <p:cNvPr id="123" name="Google Shape;123;h4e1cd23050cdd6e6_1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h4e1cd23050cdd6e6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h4e1cd23050cdd6e6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[1:01–1:15]  SLIDE 3 · REVEAL 2 OF 6  (24 words)</a:t>
            </a:r>
          </a:p>
          <a:p>
            <a:r>
              <a:rPr lang="en-US" sz="1200">
                <a:solidFill>
                  <a:schemeClr val="dk1"/>
                </a:solidFill>
                <a:latin typeface="Calibri"/>
                <a:ea typeface="Calibri"/>
                <a:cs typeface="Calibri"/>
                <a:sym typeface="Calibri"/>
              </a:rPr>
              <a:t>First, from the schema alone: admission becomes a class with a real relation to PatientData, and every property points back to its source column.</a:t>
            </a:r>
          </a:p>
          <a:p/>
          <a:p>
            <a:r>
              <a:rPr lang="en-US" sz="1200">
                <a:solidFill>
                  <a:schemeClr val="dk1"/>
                </a:solidFill>
                <a:latin typeface="Calibri"/>
                <a:ea typeface="Calibri"/>
                <a:cs typeface="Calibri"/>
                <a:sym typeface="Calibri"/>
              </a:rPr>
              <a:t>PRESENTER / POINTER: The class box and arrow, then the two 'source column' lines.</a:t>
            </a:r>
          </a:p>
        </p:txBody>
      </p:sp>
      <p:sp>
        <p:nvSpPr>
          <p:cNvPr id="147" name="Google Shape;147;h4e1cd23050cdd6e6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4e1cd23050cdd6e6_1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4e1cd23050cdd6e6_1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[1:15–1:21]  SLIDE 3 · REVEAL 3 OF 6  (11 words)</a:t>
            </a:r>
          </a:p>
          <a:p>
            <a:r>
              <a:rPr lang="en-US" sz="1200">
                <a:solidFill>
                  <a:schemeClr val="dk1"/>
                </a:solidFill>
                <a:latin typeface="Calibri"/>
                <a:ea typeface="Calibri"/>
                <a:cs typeface="Calibri"/>
                <a:sym typeface="Calibri"/>
              </a:rPr>
              <a:t>The documentation adds human-readable labels: Bone Marrow Depression, ECOG Performance Status.</a:t>
            </a:r>
          </a:p>
          <a:p/>
          <a:p>
            <a:r>
              <a:rPr lang="en-US" sz="1200">
                <a:solidFill>
                  <a:schemeClr val="dk1"/>
                </a:solidFill>
                <a:latin typeface="Calibri"/>
                <a:ea typeface="Calibri"/>
                <a:cs typeface="Calibri"/>
                <a:sym typeface="Calibri"/>
              </a:rPr>
              <a:t>PRESENTER / POINTER: The two highlighted labels.</a:t>
            </a:r>
          </a:p>
        </p:txBody>
      </p:sp>
      <p:sp>
        <p:nvSpPr>
          <p:cNvPr id="196" name="Google Shape;196;h4e1cd23050cdd6e6_1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4e1cd23050cdd6e6_1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4e1cd23050cdd6e6_1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[1:21–1:29]  SLIDE 3 · REVEAL 4 OF 6  (13 words)</a:t>
            </a:r>
          </a:p>
          <a:p>
            <a:r>
              <a:rPr lang="en-US" sz="1200">
                <a:solidFill>
                  <a:schemeClr val="dk1"/>
                </a:solidFill>
                <a:latin typeface="Calibri"/>
                <a:ea typeface="Calibri"/>
                <a:cs typeface="Calibri"/>
                <a:sym typeface="Calibri"/>
              </a:rPr>
              <a:t>A standard vocabulary links BM_DEP to bone marrow disease in the Disease Ontology.</a:t>
            </a:r>
          </a:p>
          <a:p/>
          <a:p>
            <a:r>
              <a:rPr lang="en-US" sz="1200">
                <a:solidFill>
                  <a:schemeClr val="dk1"/>
                </a:solidFill>
                <a:latin typeface="Calibri"/>
                <a:ea typeface="Calibri"/>
                <a:cs typeface="Calibri"/>
                <a:sym typeface="Calibri"/>
              </a:rPr>
              <a:t>PRESENTER / POINTER: The skos:relatedMatch line.</a:t>
            </a:r>
          </a:p>
        </p:txBody>
      </p:sp>
      <p:sp>
        <p:nvSpPr>
          <p:cNvPr id="249" name="Google Shape;249;h4e1cd23050cdd6e6_1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h4e1cd23050cdd6e6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h4e1cd23050cdd6e6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[1:29–1:38]  SLIDE 3 · REVEAL 5 OF 6  (16 words)</a:t>
            </a:r>
          </a:p>
          <a:p>
            <a:r>
              <a:rPr lang="en-US" sz="1200">
                <a:solidFill>
                  <a:schemeClr val="dk1"/>
                </a:solidFill>
                <a:latin typeface="Calibri"/>
                <a:ea typeface="Calibri"/>
                <a:cs typeface="Calibri"/>
                <a:sym typeface="Calibri"/>
              </a:rPr>
              <a:t>And a comment says what the ECOG codes mean, from zero, fully active, to five, dead.</a:t>
            </a:r>
          </a:p>
          <a:p/>
          <a:p>
            <a:r>
              <a:rPr lang="en-US" sz="1200">
                <a:solidFill>
                  <a:schemeClr val="dk1"/>
                </a:solidFill>
                <a:latin typeface="Calibri"/>
                <a:ea typeface="Calibri"/>
                <a:cs typeface="Calibri"/>
                <a:sym typeface="Calibri"/>
              </a:rPr>
              <a:t>PRESENTER / POINTER: The rdfs:comment line. Do not mention LLMs yet.</a:t>
            </a:r>
          </a:p>
        </p:txBody>
      </p:sp>
      <p:sp>
        <p:nvSpPr>
          <p:cNvPr id="304" name="Google Shape;304;h4e1cd23050cdd6e6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h4e1cd23050cdd6e6_1_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h4e1cd23050cdd6e6_1_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[1:38–1:48]  SLIDE 3 · REVEAL 6 OF 6  (18 words)</a:t>
            </a:r>
          </a:p>
          <a:p>
            <a:r>
              <a:rPr lang="en-US" sz="1200">
                <a:solidFill>
                  <a:schemeClr val="dk1"/>
                </a:solidFill>
                <a:latin typeface="Calibri"/>
                <a:ea typeface="Calibri"/>
                <a:cs typeface="Calibri"/>
                <a:sym typeface="Calibri"/>
              </a:rPr>
              <a:t>That is a usable semantic model. The challenge: add all this without losing a single column or link.</a:t>
            </a:r>
          </a:p>
          <a:p/>
          <a:p>
            <a:r>
              <a:rPr lang="en-US" sz="1200">
                <a:solidFill>
                  <a:schemeClr val="dk1"/>
                </a:solidFill>
                <a:latin typeface="Calibri"/>
                <a:ea typeface="Calibri"/>
                <a:cs typeface="Calibri"/>
                <a:sym typeface="Calibri"/>
              </a:rPr>
              <a:t>PRESENTER / POINTER: The 'What this enables' box, then pause.</a:t>
            </a:r>
          </a:p>
          <a:p>
            <a:r>
              <a:rPr lang="en-US" sz="1200">
                <a:solidFill>
                  <a:schemeClr val="dk1"/>
                </a:solidFill>
                <a:latin typeface="Calibri"/>
                <a:ea typeface="Calibri"/>
                <a:cs typeface="Calibri"/>
                <a:sym typeface="Calibri"/>
              </a:rPr>
              <a:t>AUDIENCE TAKEAWAY: A usable model combines schema, documentation and standard vocabularies, with provenance.</a:t>
            </a:r>
          </a:p>
          <a:p>
            <a:r>
              <a:rPr lang="en-US" sz="1200">
                <a:solidFill>
                  <a:schemeClr val="dk1"/>
                </a:solidFill>
                <a:latin typeface="Calibri"/>
                <a:ea typeface="Calibri"/>
                <a:cs typeface="Calibri"/>
                <a:sym typeface="Calibri"/>
              </a:rPr>
              <a:t>SOURCE AND SCOPE: Illustrative fragment, verified with the OWL API (presentation/excerpts/slide03_*.omn). obo:DOID_4961 = Disease Ontology 'bone marrow disease'; skos:relatedMatch, not exactMatch, because BM_DEP is a yes/no column, not the disease. Provenance is column-level (paper Section 3.2).</a:t>
            </a:r>
          </a:p>
        </p:txBody>
      </p:sp>
      <p:sp>
        <p:nvSpPr>
          <p:cNvPr id="360" name="Google Shape;360;h4e1cd23050cdd6e6_1_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[1:48–2:21]  SLIDE 4  (58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 domain meaning stays missing. LLMs can suggest the meaning: labels, concepts, relations. But they omit elements or model them incorrectly. So our question: can we keep schema fidelity and add domain semantics, across a whole database?</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418" name="Google Shape;418;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[2:21–2:37]  SLIDE 5  (28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Let's build our admission example together.</a:t>
            </a:r>
          </a:p>
          <a:p/>
          <a:p>
            <a:r>
              <a:rPr lang="en-US" sz="1200">
                <a:solidFill>
                  <a:schemeClr val="dk1"/>
                </a:solidFill>
                <a:latin typeface="Calibri"/>
                <a:ea typeface="Calibri"/>
                <a:cs typeface="Calibri"/>
                <a:sym typeface="Calibri"/>
              </a:rPr>
              <a:t>PRESENTER / POINTER: From 'what we have' to 'what we want', then sweep along the six steps.</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a:t>
            </a:r>
          </a:p>
        </p:txBody>
      </p:sp>
      <p:sp>
        <p:nvSpPr>
          <p:cNvPr id="442" name="Google Shape;442;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4" name="Google Shape;484;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[2:37–3:05]  SLIDE 6  (48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So when we reach admission, PatientData already exists, and we reuse it instead of inventing a duplicate.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485" name="Google Shape;485;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[3:05–3:41]  SLIDE 7  (63 words)</a:t>
            </a:r>
          </a:p>
          <a:p>
            <a:r>
              <a:rPr b="0" i="0" lang="en-US" sz="1200" u="none" cap="none" strike="noStrike">
                <a:solidFill>
                  <a:schemeClr val="dk1"/>
                </a:solidFill>
                <a:latin typeface="IBM Plex Sans"/>
                <a:ea typeface="IBM Plex Sans"/>
                <a:cs typeface="IBM Plex Sans"/>
                <a:sym typeface="IBM Plex Sans"/>
              </a:rPr>
              <a:t>Step two: seed. Before any LLM is involved, a deterministic direct mapping turns the table into OWL. Admission becomes a class. The foreign key becomes an object property, and every admission must have a patient. Each column becomes a data property with its XSD type. So every column is in the seed, by construction. The LLM's job is to enrich, not to invent.</a:t>
            </a:r>
          </a:p>
          <a:p/>
          <a:p>
            <a:r>
              <a:rPr b="0" i="0" lang="en-US" sz="1200" u="none" cap="none" strike="noStrike">
                <a:solidFill>
                  <a:schemeClr val="dk1"/>
                </a:solidFill>
                <a:latin typeface="IBM Plex Sans"/>
                <a:ea typeface="IBM Plex Sans"/>
                <a:cs typeface="IBM Plex Sans"/>
                <a:sym typeface="IBM Plex Sans"/>
              </a:rPr>
              <a:t>PRESENTER / POINTER: Read the glosses: 'each has a patient', 'the FK becomes a link'.</a:t>
            </a:r>
          </a:p>
          <a:p>
            <a:r>
              <a:rPr b="0" i="0" lang="en-US" sz="1200" u="none" cap="none" strike="noStrike">
                <a:solidFill>
                  <a:schemeClr val="dk1"/>
                </a:solidFill>
                <a:latin typeface="IBM Plex Sans"/>
                <a:ea typeface="IBM Plex Sans"/>
                <a:cs typeface="IBM Plex Sans"/>
                <a:sym typeface="IBM Plex Sans"/>
              </a:rPr>
              <a:t>IF RUNNING LATE, DROP: "The LLM's job is to enrich, not to invent."</a:t>
            </a:r>
          </a:p>
          <a:p>
            <a:r>
              <a:rPr b="0" i="0" lang="en-US" sz="1200" u="none" cap="none" strike="noStrike">
                <a:solidFill>
                  <a:schemeClr val="dk1"/>
                </a:solidFill>
                <a:latin typeface="IBM Plex Sans"/>
                <a:ea typeface="IBM Plex Sans"/>
                <a:cs typeface="IBM Plex Sans"/>
                <a:sym typeface="IBM Plex Sans"/>
              </a:rPr>
              <a:t>AUDIENCE TAKEAWAY: A deterministic seed guarantees coverage before the LLM starts.</a:t>
            </a:r>
          </a:p>
          <a:p>
            <a:r>
              <a:rPr b="0" i="0" lang="en-US" sz="1200" u="none" cap="none" strike="noStrike">
                <a:solidFill>
                  <a:schemeClr val="dk1"/>
                </a:solidFill>
                <a:latin typeface="IBM Plex Sans"/>
                <a:ea typeface="IBM Plex Sans"/>
                <a:cs typeface="IBM Plex Sans"/>
                <a:sym typeface="IBM Plex Sans"/>
              </a:rPr>
              <a:t>SOURCE AND SCOPE: Paper Section 3.2 (W3C Direct Mapping as specified by Sequeda et al., WWW 2012). The guarantee holds for the seed; final coverage is Result 2.</a:t>
            </a:r>
          </a:p>
        </p:txBody>
      </p:sp>
      <p:sp>
        <p:nvSpPr>
          <p:cNvPr id="527" name="Google Shape;52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h2627160d5792b11b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 name="Google Shape;563;h2627160d5792b11b_0_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[3:41–3:55]  SLIDE 8 · REVEAL 1 OF 4  (26 words)</a:t>
            </a:r>
          </a:p>
          <a:p>
            <a:r>
              <a:rPr lang="en-US" sz="1200">
                <a:solidFill>
                  <a:schemeClr val="dk1"/>
                </a:solidFill>
                <a:latin typeface="Calibri"/>
                <a:ea typeface="Calibri"/>
                <a:cs typeface="Calibri"/>
                <a:sym typeface="Calibri"/>
              </a:rPr>
              <a:t>The seed is faithful, but it does not say what BM_DEP means. So step three retrieves context from three sources. Documentation defines cryptic names, like BM_DEP.</a:t>
            </a:r>
          </a:p>
          <a:p/>
          <a:p>
            <a:r>
              <a:rPr lang="en-US" sz="1200">
                <a:solidFill>
                  <a:schemeClr val="dk1"/>
                </a:solidFill>
                <a:latin typeface="Calibri"/>
                <a:ea typeface="Calibri"/>
                <a:cs typeface="Calibri"/>
                <a:sym typeface="Calibri"/>
              </a:rPr>
              <a:t>PRESENTER / POINTER: Documentation card.</a:t>
            </a:r>
          </a:p>
        </p:txBody>
      </p:sp>
      <p:sp>
        <p:nvSpPr>
          <p:cNvPr id="564" name="Google Shape;564;h2627160d5792b11b_0_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2627160d5792b11b_0_5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h2627160d5792b11b_0_5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[3:55–4:01]  SLIDE 8 · REVEAL 2 OF 4  (9 words)</a:t>
            </a:r>
          </a:p>
          <a:p>
            <a:r>
              <a:rPr lang="en-US" sz="1200">
                <a:solidFill>
                  <a:schemeClr val="dk1"/>
                </a:solidFill>
                <a:latin typeface="Calibri"/>
                <a:ea typeface="Calibri"/>
                <a:cs typeface="Calibri"/>
                <a:sym typeface="Calibri"/>
              </a:rPr>
              <a:t>External ontologies, like the Disease Ontology, suggest established concepts.</a:t>
            </a:r>
          </a:p>
          <a:p/>
          <a:p>
            <a:r>
              <a:rPr lang="en-US" sz="1200">
                <a:solidFill>
                  <a:schemeClr val="dk1"/>
                </a:solidFill>
                <a:latin typeface="Calibri"/>
                <a:ea typeface="Calibri"/>
                <a:cs typeface="Calibri"/>
                <a:sym typeface="Calibri"/>
              </a:rPr>
              <a:t>PRESENTER / POINTER: External ontologies card.</a:t>
            </a:r>
          </a:p>
        </p:txBody>
      </p:sp>
      <p:sp>
        <p:nvSpPr>
          <p:cNvPr id="592" name="Google Shape;592;h2627160d5792b11b_0_5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h2627160d5792b11b_0_5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h2627160d5792b11b_0_5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[4:01–4:13]  SLIDE 8 · REVEAL 3 OF 4  (22 words)</a:t>
            </a:r>
          </a:p>
          <a:p>
            <a:r>
              <a:rPr lang="en-US" sz="1200">
                <a:solidFill>
                  <a:schemeClr val="dk1"/>
                </a:solidFill>
                <a:latin typeface="Calibri"/>
                <a:ea typeface="Calibri"/>
                <a:cs typeface="Calibri"/>
                <a:sym typeface="Calibri"/>
              </a:rPr>
              <a:t>And the third source is the distinctive one: the ontology we have built so far. Earlier tables become evidence for the next.</a:t>
            </a:r>
          </a:p>
          <a:p/>
          <a:p>
            <a:r>
              <a:rPr lang="en-US" sz="1200">
                <a:solidFill>
                  <a:schemeClr val="dk1"/>
                </a:solidFill>
                <a:latin typeface="Calibri"/>
                <a:ea typeface="Calibri"/>
                <a:cs typeface="Calibri"/>
                <a:sym typeface="Calibri"/>
              </a:rPr>
              <a:t>PRESENTER / POINTER: Growing core card; slow down here.</a:t>
            </a:r>
          </a:p>
        </p:txBody>
      </p:sp>
      <p:sp>
        <p:nvSpPr>
          <p:cNvPr id="628" name="Google Shape;628;h2627160d5792b11b_0_5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2627160d5792b11b_0_6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2627160d5792b11b_0_6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[4:13–4:24]  SLIDE 8 · REVEAL 4 OF 4  (19 words)</a:t>
            </a:r>
          </a:p>
          <a:p>
            <a:r>
              <a:rPr lang="en-US" sz="1200">
                <a:solidFill>
                  <a:schemeClr val="dk1"/>
                </a:solidFill>
                <a:latin typeface="Calibri"/>
                <a:ea typeface="Calibri"/>
                <a:cs typeface="Calibri"/>
                <a:sym typeface="Calibri"/>
              </a:rPr>
              <a:t>One query per table, built from its name, columns and foreign-key targets, retrieves the top matches from each source.</a:t>
            </a:r>
          </a:p>
          <a:p/>
          <a:p>
            <a:r>
              <a:rPr lang="en-US" sz="1200">
                <a:solidFill>
                  <a:schemeClr val="dk1"/>
                </a:solidFill>
                <a:latin typeface="Calibri"/>
                <a:ea typeface="Calibri"/>
                <a:cs typeface="Calibri"/>
                <a:sym typeface="Calibri"/>
              </a:rPr>
              <a:t>PRESENTER / POINTER: The query strip.</a:t>
            </a:r>
          </a:p>
          <a:p>
            <a:r>
              <a:rPr lang="en-US" sz="1200">
                <a:solidFill>
                  <a:schemeClr val="dk1"/>
                </a:solidFill>
                <a:latin typeface="Calibri"/>
                <a:ea typeface="Calibri"/>
                <a:cs typeface="Calibri"/>
                <a:sym typeface="Calibri"/>
              </a:rPr>
              <a:t>IF RUNNING LATE, DROP: "One query per table, built from its name, columns and foreign-key targets, retrieves the top matches from each source."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p:txBody>
      </p:sp>
      <p:sp>
        <p:nvSpPr>
          <p:cNvPr id="672" name="Google Shape;672;h2627160d5792b11b_0_6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h3b1f15762288d989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h3b1f15762288d989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[4:24–4:36]  SLIDE 9 · REVEAL 1 OF 2  (21 words)</a:t>
            </a:r>
          </a:p>
          <a:p>
            <a:r>
              <a:rPr b="0" i="0" lang="en-US" sz="1200" u="none" cap="none" strike="noStrike">
                <a:solidFill>
                  <a:schemeClr val="dk1"/>
                </a:solidFill>
                <a:latin typeface="IBM Plex Sans"/>
                <a:ea typeface="IBM Plex Sans"/>
                <a:cs typeface="IBM Plex Sans"/>
                <a:sym typeface="IBM Plex Sans"/>
              </a:rPr>
              <a:t>Step four: generate. We prompt the Gen-LLM with the direct mapping from step two, the retrieved context, and our enrichment instructions.</a:t>
            </a:r>
          </a:p>
          <a:p/>
          <a:p>
            <a:r>
              <a:rPr b="0" i="0" lang="en-US" sz="1200" u="none" cap="none" strike="noStrike">
                <a:solidFill>
                  <a:schemeClr val="dk1"/>
                </a:solidFill>
                <a:latin typeface="IBM Plex Sans"/>
                <a:ea typeface="IBM Plex Sans"/>
                <a:cs typeface="IBM Plex Sans"/>
                <a:sym typeface="IBM Plex Sans"/>
              </a:rPr>
              <a:t>PRESENTER / POINTER: The subtitle, then the BEFORE panel.</a:t>
            </a:r>
          </a:p>
        </p:txBody>
      </p:sp>
      <p:sp>
        <p:nvSpPr>
          <p:cNvPr id="718" name="Google Shape;718;h3b1f15762288d989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h4e1cd23050cdd6e6_1_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h4e1cd23050cdd6e6_1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[4:36–5:15]  SLIDE 9 · REVEAL 2 OF 2  (69 words)</a:t>
            </a:r>
          </a:p>
          <a:p>
            <a:r>
              <a:rPr b="0" i="0" lang="en-US" sz="1200" u="none" cap="none" strike="noStrike">
                <a:solidFill>
                  <a:schemeClr val="dk1"/>
                </a:solidFill>
                <a:latin typeface="IBM Plex Sans"/>
                <a:ea typeface="IBM Plex Sans"/>
                <a:cs typeface="IBM Plex Sans"/>
                <a:sym typeface="IBM Plex Sans"/>
              </a:rPr>
              <a:t>What comes back is a delta ontology: the same lines, with new ones filled into the gaps. The tags show where each addition came from. The foreign key becomes the named relation hasPatientData, and provenance links each property to its column: both from the schema. The labels come from the documentation, the link to bone marrow disease from the Disease Ontology, and the ECOG scale from the LLM itself.</a:t>
            </a:r>
          </a:p>
          <a:p/>
          <a:p>
            <a:r>
              <a:rPr b="0" i="0" lang="en-US" sz="1200" u="none" cap="none" strike="noStrike">
                <a:solidFill>
                  <a:schemeClr val="dk1"/>
                </a:solidFill>
                <a:latin typeface="IBM Plex Sans"/>
                <a:ea typeface="IBM Plex Sans"/>
                <a:cs typeface="IBM Plex Sans"/>
                <a:sym typeface="IBM Plex Sans"/>
              </a:rPr>
              <a:t>PRESENTER / POINTER: Left to right on one row, then down the highlighted lines and their tags.</a:t>
            </a:r>
          </a:p>
          <a:p>
            <a:r>
              <a:rPr b="0" i="0" lang="en-US" sz="1200" u="none" cap="none" strike="noStrike">
                <a:solidFill>
                  <a:schemeClr val="dk1"/>
                </a:solidFill>
                <a:latin typeface="IBM Plex Sans"/>
                <a:ea typeface="IBM Plex Sans"/>
                <a:cs typeface="IBM Plex Sans"/>
                <a:sym typeface="IBM Plex Sans"/>
              </a:rPr>
              <a:t>AUDIENCE TAKEAWAY: The LLM enriches a grounded draft, and every addition is traceable.</a:t>
            </a:r>
          </a:p>
          <a:p>
            <a:r>
              <a:rPr b="0" i="0" lang="en-US" sz="1200" u="none" cap="none" strike="noStrike">
                <a:solidFill>
                  <a:schemeClr val="dk1"/>
                </a:solidFill>
                <a:latin typeface="IBM Plex Sans"/>
                <a:ea typeface="IBM Plex Sans"/>
                <a:cs typeface="IBM Plex Sans"/>
                <a:sym typeface="IBM Plex Sans"/>
              </a:rPr>
              <a:t>SOURCE AND SCOPE: Paper Sections 3.2-3.4. Row-aligned BEFORE/AFTER, both verified with the OWL API.</a:t>
            </a:r>
          </a:p>
        </p:txBody>
      </p:sp>
      <p:sp>
        <p:nvSpPr>
          <p:cNvPr id="763" name="Google Shape;763;h4e1cd23050cdd6e6_1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h3b1f15762288d989_2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h3b1f15762288d989_2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[5:15–5:38]  SLIDE 10 · REVEAL 1 OF 3  (40 words)</a:t>
            </a:r>
          </a:p>
          <a:p>
            <a:r>
              <a:rPr b="0" i="0" lang="en-US" sz="1200" u="none" cap="none" strike="noStrike">
                <a:solidFill>
                  <a:schemeClr val="dk1"/>
                </a:solidFill>
                <a:latin typeface="IBM Plex Sans"/>
                <a:ea typeface="IBM Plex Sans"/>
                <a:cs typeface="IBM Plex Sans"/>
                <a:sym typeface="IBM Plex Sans"/>
              </a:rPr>
              <a:t>Step five: validate. Plausible fragments can still break the ontology. A later table, lab_result, reuses hasPatientData with a second domain. OWL would then infer that every lab result linked to patient data is an admission. Rule-based graph checks catch this.</a:t>
            </a:r>
          </a:p>
          <a:p/>
          <a:p>
            <a:r>
              <a:rPr b="0" i="0" lang="en-US" sz="1200" u="none" cap="none" strike="noStrike">
                <a:solidFill>
                  <a:schemeClr val="dk1"/>
                </a:solidFill>
                <a:latin typeface="IBM Plex Sans"/>
                <a:ea typeface="IBM Plex Sans"/>
                <a:cs typeface="IBM Plex Sans"/>
                <a:sym typeface="IBM Plex Sans"/>
              </a:rPr>
              <a:t>PRESENTER / POINTER: Structural card: the red line, then the explanation.</a:t>
            </a:r>
          </a:p>
        </p:txBody>
      </p:sp>
      <p:sp>
        <p:nvSpPr>
          <p:cNvPr id="846" name="Google Shape;846;h3b1f15762288d989_2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h3b1f15762288d989_2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1" name="Google Shape;871;h3b1f15762288d989_2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[5:38–6:01]  SLIDE 10 · REVEAL 2 OF 3  (40 words)</a:t>
            </a:r>
          </a:p>
          <a:p>
            <a:r>
              <a:rPr b="0" i="0" lang="en-US" sz="1200" u="none" cap="none" strike="noStrike">
                <a:solidFill>
                  <a:schemeClr val="dk1"/>
                </a:solidFill>
                <a:latin typeface="IBM Plex Sans"/>
                <a:ea typeface="IBM Plex Sans"/>
                <a:cs typeface="IBM Plex Sans"/>
                <a:sym typeface="IBM Plex Sans"/>
              </a:rPr>
              <a:t>Other errors are semantic. Here the model links admission to a new class, Patient, although the core already has PatientData. Valid OWL, but now two classes mean the same thing. The Judge-LLM sees the core and asks to reuse it.</a:t>
            </a:r>
          </a:p>
          <a:p/>
          <a:p>
            <a:r>
              <a:rPr b="0" i="0" lang="en-US" sz="1200" u="none" cap="none" strike="noStrike">
                <a:solidFill>
                  <a:schemeClr val="dk1"/>
                </a:solidFill>
                <a:latin typeface="IBM Plex Sans"/>
                <a:ea typeface="IBM Plex Sans"/>
                <a:cs typeface="IBM Plex Sans"/>
                <a:sym typeface="IBM Plex Sans"/>
              </a:rPr>
              <a:t>PRESENTER / POINTER: Semantic card.</a:t>
            </a:r>
          </a:p>
        </p:txBody>
      </p:sp>
      <p:sp>
        <p:nvSpPr>
          <p:cNvPr id="872" name="Google Shape;872;h3b1f15762288d989_2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h3b1f15762288d989_2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h3b1f15762288d989_2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[6:01–6:18]  SLIDE 10 · REVEAL 3 OF 3  (30 words)</a:t>
            </a:r>
          </a:p>
          <a:p>
            <a:r>
              <a:rPr b="0" i="0" lang="en-US" sz="1200" u="none" cap="none" strike="noStrike">
                <a:solidFill>
                  <a:schemeClr val="dk1"/>
                </a:solidFill>
                <a:latin typeface="IBM Plex Sans"/>
                <a:ea typeface="IBM Plex Sans"/>
                <a:cs typeface="IBM Plex Sans"/>
                <a:sym typeface="IBM Plex Sans"/>
              </a:rPr>
              <a:t>Failed fragments go back to the Gen-LLM, with up to two retries. If one still fails, the Judge-LLM picks the better of its last version and the plain direct mapping.</a:t>
            </a:r>
          </a:p>
          <a:p/>
          <a:p>
            <a:r>
              <a:rPr b="0" i="0" lang="en-US" sz="1200" u="none" cap="none" strike="noStrike">
                <a:solidFill>
                  <a:schemeClr val="dk1"/>
                </a:solidFill>
                <a:latin typeface="IBM Plex Sans"/>
                <a:ea typeface="IBM Plex Sans"/>
                <a:cs typeface="IBM Plex Sans"/>
                <a:sym typeface="IBM Plex Sans"/>
              </a:rPr>
              <a:t>PRESENTER / POINTER: The correction strip.</a:t>
            </a:r>
          </a:p>
          <a:p>
            <a:r>
              <a:rPr b="0" i="0" lang="en-US" sz="1200" u="none" cap="none" strike="noStrike">
                <a:solidFill>
                  <a:schemeClr val="dk1"/>
                </a:solidFill>
                <a:latin typeface="IBM Plex Sans"/>
                <a:ea typeface="IBM Plex Sans"/>
                <a:cs typeface="IBM Plex Sans"/>
                <a:sym typeface="IBM Plex Sans"/>
              </a:rPr>
              <a:t>AUDIENCE TAKEAWAY: Rules catch clashes in structure; the Judge catches clashes in meaning.</a:t>
            </a:r>
          </a:p>
          <a:p>
            <a:r>
              <a:rPr b="0" i="0" lang="en-US" sz="1200" u="none" cap="none" strike="noStrike">
                <a:solidFill>
                  <a:schemeClr val="dk1"/>
                </a:solidFill>
                <a:latin typeface="IBM Plex Sans"/>
                <a:ea typeface="IBM Plex Sans"/>
                <a:cs typeface="IBM Plex Sans"/>
                <a:sym typeface="IBM Plex Sans"/>
              </a:rPr>
              <a:t>SOURCE AND SCOPE: Paper Section 3.5 (Judge criterion 9: core ontology consistency; graph check: domain/range cardinality; retry budget k = 2). Two domains = OOPS! pitfall P19, still reported in 3 of 9 RIGOR runs (Table 7). Examples verified with the OWL API (presentation/excerpts/slide10_*.omn).</a:t>
            </a:r>
          </a:p>
          <a:p/>
          <a:p>
            <a:r>
              <a:rPr b="0" i="0" lang="en-US" sz="1200" u="none" cap="none" strike="noStrike">
                <a:solidFill>
                  <a:schemeClr val="dk1"/>
                </a:solidFill>
                <a:latin typeface="IBM Plex Sans"/>
                <a:ea typeface="IBM Plex Sans"/>
                <a:cs typeface="IBM Plex Sans"/>
                <a:sym typeface="IBM Plex Sans"/>
              </a:rPr>
              <a:t>IF ASKED: P19 is exactly the error that sometimes still slips through (3 of 9 runs); putting the validators inside the generation loop is our next step (slide 19).</a:t>
            </a:r>
          </a:p>
        </p:txBody>
      </p:sp>
      <p:sp>
        <p:nvSpPr>
          <p:cNvPr id="905" name="Google Shape;905;h3b1f15762288d989_2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[6:18–6:43]  SLIDE 11  (44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Each table builds on the ones before.</a:t>
            </a:r>
          </a:p>
          <a:p/>
          <a:p>
            <a:r>
              <a:rPr lang="en-US" sz="1200">
                <a:solidFill>
                  <a:schemeClr val="dk1"/>
                </a:solidFill>
                <a:latin typeface="Calibri"/>
                <a:ea typeface="Calibri"/>
                <a:cs typeface="Calibri"/>
                <a:sym typeface="Calibri"/>
              </a:rPr>
              <a:t>PRESENTER / POINTER: Core plus delta, then the loop strip.</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941" name="Google Shape;94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h4c5bf77df5a6a1aa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h4c5bf77df5a6a1aa_1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[6:43–6:54]  SLIDE 12 · REVEAL 1 OF 6  (18 words)</a:t>
            </a:r>
          </a:p>
          <a:p>
            <a:r>
              <a:rPr b="0" i="0" lang="en-US" sz="1200" u="none" cap="none" strike="noStrike">
                <a:solidFill>
                  <a:schemeClr val="dk1"/>
                </a:solidFill>
                <a:latin typeface="IBM Plex Sans"/>
                <a:ea typeface="IBM Plex Sans"/>
                <a:cs typeface="IBM Plex Sans"/>
                <a:sym typeface="IBM Plex Sans"/>
              </a:rPr>
              <a:t>Let me put the pieces together, as in the paper's Figure 1. First, the schema decides the order.</a:t>
            </a:r>
          </a:p>
          <a:p/>
          <a:p>
            <a:r>
              <a:rPr b="0" i="0" lang="en-US" sz="1200" u="none" cap="none" strike="noStrike">
                <a:solidFill>
                  <a:schemeClr val="dk1"/>
                </a:solidFill>
                <a:latin typeface="IBM Plex Sans"/>
                <a:ea typeface="IBM Plex Sans"/>
                <a:cs typeface="IBM Plex Sans"/>
                <a:sym typeface="IBM Plex Sans"/>
              </a:rPr>
              <a:t>PRESENTER / POINTER: Quick clicks from here. Reconnect, do not re-explain.</a:t>
            </a:r>
          </a:p>
        </p:txBody>
      </p:sp>
      <p:sp>
        <p:nvSpPr>
          <p:cNvPr id="984" name="Google Shape;984;h4c5bf77df5a6a1aa_1_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4c5bf77df5a6a1aa_1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h4c5bf77df5a6a1aa_1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[6:54–6:57]  SLIDE 12 · REVEAL 2 OF 6  (6 words)</a:t>
            </a:r>
          </a:p>
          <a:p>
            <a:r>
              <a:rPr b="0" i="0" lang="en-US" sz="1200" u="none" cap="none" strike="noStrike">
                <a:solidFill>
                  <a:schemeClr val="dk1"/>
                </a:solidFill>
                <a:latin typeface="IBM Plex Sans"/>
                <a:ea typeface="IBM Plex Sans"/>
                <a:cs typeface="IBM Plex Sans"/>
                <a:sym typeface="IBM Plex Sans"/>
              </a:rPr>
              <a:t>Each table gets its deterministic seed.</a:t>
            </a:r>
          </a:p>
          <a:p/>
          <a:p>
            <a:r>
              <a:rPr b="0" i="0" lang="en-US" sz="1200" u="none" cap="none" strike="noStrike">
                <a:solidFill>
                  <a:schemeClr val="dk1"/>
                </a:solidFill>
                <a:latin typeface="IBM Plex Sans"/>
                <a:ea typeface="IBM Plex Sans"/>
                <a:cs typeface="IBM Plex Sans"/>
                <a:sym typeface="IBM Plex Sans"/>
              </a:rPr>
              <a:t>PRESENTER / POINTER: Direct mapping box.</a:t>
            </a:r>
          </a:p>
        </p:txBody>
      </p:sp>
      <p:sp>
        <p:nvSpPr>
          <p:cNvPr id="1016" name="Google Shape;1016;h4c5bf77df5a6a1aa_1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h4c5bf77df5a6a1aa_1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h4c5bf77df5a6a1aa_1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[6:57–7:05]  SLIDE 12 · REVEAL 3 OF 6  (13 words)</a:t>
            </a:r>
          </a:p>
          <a:p>
            <a:r>
              <a:rPr b="0" i="0" lang="en-US" sz="1200" u="none" cap="none" strike="noStrike">
                <a:solidFill>
                  <a:schemeClr val="dk1"/>
                </a:solidFill>
                <a:latin typeface="IBM Plex Sans"/>
                <a:ea typeface="IBM Plex Sans"/>
                <a:cs typeface="IBM Plex Sans"/>
                <a:sym typeface="IBM Plex Sans"/>
              </a:rPr>
              <a:t>Three channels retrieve meaning: external ontologies, documentation, and the core built so far.</a:t>
            </a:r>
          </a:p>
          <a:p/>
          <a:p>
            <a:r>
              <a:rPr b="0" i="0" lang="en-US" sz="1200" u="none" cap="none" strike="noStrike">
                <a:solidFill>
                  <a:schemeClr val="dk1"/>
                </a:solidFill>
                <a:latin typeface="IBM Plex Sans"/>
                <a:ea typeface="IBM Plex Sans"/>
                <a:cs typeface="IBM Plex Sans"/>
                <a:sym typeface="IBM Plex Sans"/>
              </a:rPr>
              <a:t>PRESENTER / POINTER: The three retrieval boxes.</a:t>
            </a:r>
          </a:p>
        </p:txBody>
      </p:sp>
      <p:sp>
        <p:nvSpPr>
          <p:cNvPr id="1058" name="Google Shape;1058;h4c5bf77df5a6a1aa_1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h4c5bf77df5a6a1aa_1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8" name="Google Shape;1128;h4c5bf77df5a6a1aa_1_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[7:05–7:10]  SLIDE 12 · REVEAL 4 OF 6  (10 words)</a:t>
            </a:r>
          </a:p>
          <a:p>
            <a:r>
              <a:rPr b="0" i="0" lang="en-US" sz="1200" u="none" cap="none" strike="noStrike">
                <a:solidFill>
                  <a:schemeClr val="dk1"/>
                </a:solidFill>
                <a:latin typeface="IBM Plex Sans"/>
                <a:ea typeface="IBM Plex Sans"/>
                <a:cs typeface="IBM Plex Sans"/>
                <a:sym typeface="IBM Plex Sans"/>
              </a:rPr>
              <a:t>The Gen-LLM combines seed and context into a delta ontology.</a:t>
            </a:r>
          </a:p>
          <a:p/>
          <a:p>
            <a:r>
              <a:rPr b="0" i="0" lang="en-US" sz="1200" u="none" cap="none" strike="noStrike">
                <a:solidFill>
                  <a:schemeClr val="dk1"/>
                </a:solidFill>
                <a:latin typeface="IBM Plex Sans"/>
                <a:ea typeface="IBM Plex Sans"/>
                <a:cs typeface="IBM Plex Sans"/>
                <a:sym typeface="IBM Plex Sans"/>
              </a:rPr>
              <a:t>PRESENTER / POINTER: Gen-LLM.</a:t>
            </a:r>
          </a:p>
        </p:txBody>
      </p:sp>
      <p:sp>
        <p:nvSpPr>
          <p:cNvPr id="1129" name="Google Shape;1129;h4c5bf77df5a6a1aa_1_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h4c5bf77df5a6a1aa_1_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8" name="Google Shape;1218;h4c5bf77df5a6a1aa_1_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[7:10–7:14]  SLIDE 12 · REVEAL 5 OF 6  (6 words)</a:t>
            </a:r>
          </a:p>
          <a:p>
            <a:r>
              <a:rPr b="0" i="0" lang="en-US" sz="1200" u="none" cap="none" strike="noStrike">
                <a:solidFill>
                  <a:schemeClr val="dk1"/>
                </a:solidFill>
                <a:latin typeface="IBM Plex Sans"/>
                <a:ea typeface="IBM Plex Sans"/>
                <a:cs typeface="IBM Plex Sans"/>
                <a:sym typeface="IBM Plex Sans"/>
              </a:rPr>
              <a:t>A Judge-LLM and rules validate it.</a:t>
            </a:r>
          </a:p>
          <a:p/>
          <a:p>
            <a:r>
              <a:rPr b="0" i="0" lang="en-US" sz="1200" u="none" cap="none" strike="noStrike">
                <a:solidFill>
                  <a:schemeClr val="dk1"/>
                </a:solidFill>
                <a:latin typeface="IBM Plex Sans"/>
                <a:ea typeface="IBM Plex Sans"/>
                <a:cs typeface="IBM Plex Sans"/>
                <a:sym typeface="IBM Plex Sans"/>
              </a:rPr>
              <a:t>PRESENTER / POINTER: Validate + refine.</a:t>
            </a:r>
          </a:p>
        </p:txBody>
      </p:sp>
      <p:sp>
        <p:nvSpPr>
          <p:cNvPr id="1219" name="Google Shape;1219;h4c5bf77df5a6a1aa_1_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[7:14–7:22]  SLIDE 12 · REVEAL 6 OF 6  (14 words)</a:t>
            </a:r>
          </a:p>
          <a:p>
            <a:r>
              <a:rPr b="0" i="0" lang="en-US" sz="1200" u="none" cap="none" strike="noStrike">
                <a:solidFill>
                  <a:schemeClr val="dk1"/>
                </a:solidFill>
                <a:latin typeface="IBM Plex Sans"/>
                <a:ea typeface="IBM Plex Sans"/>
                <a:cs typeface="IBM Plex Sans"/>
                <a:sym typeface="IBM Plex Sans"/>
              </a:rPr>
              <a:t>And the merged core feeds retrieval for the next table. That loop is RIGOR.</a:t>
            </a:r>
          </a:p>
          <a:p/>
          <a:p>
            <a:r>
              <a:rPr b="0" i="0" lang="en-US" sz="1200" u="none" cap="none" strike="noStrike">
                <a:solidFill>
                  <a:schemeClr val="dk1"/>
                </a:solidFill>
                <a:latin typeface="IBM Plex Sans"/>
                <a:ea typeface="IBM Plex Sans"/>
                <a:cs typeface="IBM Plex Sans"/>
                <a:sym typeface="IBM Plex Sans"/>
              </a:rPr>
              <a:t>PRESENTER / POINTER: Trace the return arrow from (i) back to (e).</a:t>
            </a:r>
          </a:p>
          <a:p>
            <a:r>
              <a:rPr b="0" i="0" lang="en-US" sz="1200" u="none" cap="none" strike="noStrike">
                <a:solidFill>
                  <a:schemeClr val="dk1"/>
                </a:solidFill>
                <a:latin typeface="IBM Plex Sans"/>
                <a:ea typeface="IBM Plex Sans"/>
                <a:cs typeface="IBM Plex Sans"/>
                <a:sym typeface="IBM Plex Sans"/>
              </a:rPr>
              <a:t>AUDIENCE TAKEAWAY: Order, seed, retrieve, generate, validate, merge, loop.</a:t>
            </a:r>
          </a:p>
          <a:p>
            <a:r>
              <a:rPr b="0" i="0" lang="en-US" sz="1200" u="none" cap="none" strike="noStrike">
                <a:solidFill>
                  <a:schemeClr val="dk1"/>
                </a:solidFill>
                <a:latin typeface="IBM Plex Sans"/>
                <a:ea typeface="IBM Plex Sans"/>
                <a:cs typeface="IBM Plex Sans"/>
                <a:sym typeface="IBM Plex Sans"/>
              </a:rPr>
              <a:t>SOURCE AND SCOPE: Paper Fig. 1 (a)-(i).</a:t>
            </a:r>
          </a:p>
        </p:txBody>
      </p:sp>
      <p:sp>
        <p:nvSpPr>
          <p:cNvPr id="1315" name="Google Shape;1315;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h547f90b031e64a91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h547f90b031e64a91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[7:22–7:35]  SLIDE 13 · REVEAL 1 OF 7  (24 words)</a:t>
            </a:r>
          </a:p>
          <a:p>
            <a:r>
              <a:rPr lang="en-US" sz="1200">
                <a:solidFill>
                  <a:schemeClr val="dk1"/>
                </a:solidFill>
                <a:latin typeface="Calibri"/>
                <a:ea typeface="Calibri"/>
                <a:cs typeface="Calibri"/>
                <a:sym typeface="Calibri"/>
              </a:rPr>
              <a:t>Does this work beyond one example? We tested two medical databases: a private liver-cancer registry from Leipzig, and the large public eICU intensive-care database.</a:t>
            </a:r>
          </a:p>
          <a:p/>
          <a:p>
            <a:r>
              <a:rPr lang="en-US" sz="1200">
                <a:solidFill>
                  <a:schemeClr val="dk1"/>
                </a:solidFill>
                <a:latin typeface="Calibri"/>
                <a:ea typeface="Calibri"/>
                <a:cs typeface="Calibri"/>
                <a:sym typeface="Calibri"/>
              </a:rPr>
              <a:t>PRESENTER / POINTER: Liver Cancer, then eICU-CRD. Do not read the numbers.</a:t>
            </a:r>
          </a:p>
        </p:txBody>
      </p:sp>
      <p:sp>
        <p:nvSpPr>
          <p:cNvPr id="1424" name="Google Shape;1424;h547f90b031e64a91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5" name="Shape 1445"/>
        <p:cNvGrpSpPr/>
        <p:nvPr/>
      </p:nvGrpSpPr>
      <p:grpSpPr>
        <a:xfrm>
          <a:off x="0" y="0"/>
          <a:ext cx="0" cy="0"/>
          <a:chOff x="0" y="0"/>
          <a:chExt cx="0" cy="0"/>
        </a:xfrm>
      </p:grpSpPr>
      <p:sp>
        <p:nvSpPr>
          <p:cNvPr id="1446" name="Google Shape;1446;h547f90b031e64a91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7" name="Google Shape;1447;h547f90b031e64a91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[7:35–7:41]  SLIDE 13 · REVEAL 2 OF 7  (9 words)</a:t>
            </a:r>
          </a:p>
          <a:p>
            <a:r>
              <a:rPr lang="en-US" sz="1200">
                <a:solidFill>
                  <a:schemeClr val="dk1"/>
                </a:solidFill>
                <a:latin typeface="Calibri"/>
                <a:ea typeface="Calibri"/>
                <a:cs typeface="Calibri"/>
                <a:sym typeface="Calibri"/>
              </a:rPr>
              <a:t>And Chinook, a music store, as a second domain.</a:t>
            </a:r>
          </a:p>
          <a:p/>
          <a:p>
            <a:r>
              <a:rPr lang="en-US" sz="1200">
                <a:solidFill>
                  <a:schemeClr val="dk1"/>
                </a:solidFill>
                <a:latin typeface="Calibri"/>
                <a:ea typeface="Calibri"/>
                <a:cs typeface="Calibri"/>
                <a:sym typeface="Calibri"/>
              </a:rPr>
              <a:t>PRESENTER / POINTER: Chinook card.</a:t>
            </a:r>
          </a:p>
        </p:txBody>
      </p:sp>
      <p:sp>
        <p:nvSpPr>
          <p:cNvPr id="1448" name="Google Shape;1448;h547f90b031e64a91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h547f90b031e64a91_0_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h547f90b031e64a91_0_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[7:41–7:55]  SLIDE 13 · REVEAL 3 OF 7  (25 words)</a:t>
            </a:r>
          </a:p>
          <a:p>
            <a:r>
              <a:rPr lang="en-US" sz="1200">
                <a:solidFill>
                  <a:schemeClr val="dk1"/>
                </a:solidFill>
                <a:latin typeface="Calibri"/>
                <a:ea typeface="Calibri"/>
                <a:cs typeface="Calibri"/>
                <a:sym typeface="Calibri"/>
              </a:rPr>
              <a:t>We compare four methods: direct mapping; an LLM baseline that sees only the table; Non-Iterative RAG, which adds retrieval in a single pass; and RIGOR.</a:t>
            </a:r>
          </a:p>
          <a:p/>
          <a:p>
            <a:r>
              <a:rPr lang="en-US" sz="1200">
                <a:solidFill>
                  <a:schemeClr val="dk1"/>
                </a:solidFill>
                <a:latin typeface="Calibri"/>
                <a:ea typeface="Calibri"/>
                <a:cs typeface="Calibri"/>
                <a:sym typeface="Calibri"/>
              </a:rPr>
              <a:t>PRESENTER / POINTER: The four method cards, left to right.</a:t>
            </a:r>
          </a:p>
        </p:txBody>
      </p:sp>
      <p:sp>
        <p:nvSpPr>
          <p:cNvPr id="1481" name="Google Shape;1481;h547f90b031e64a91_0_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2" name="Shape 1532"/>
        <p:cNvGrpSpPr/>
        <p:nvPr/>
      </p:nvGrpSpPr>
      <p:grpSpPr>
        <a:xfrm>
          <a:off x="0" y="0"/>
          <a:ext cx="0" cy="0"/>
          <a:chOff x="0" y="0"/>
          <a:chExt cx="0" cy="0"/>
        </a:xfrm>
      </p:grpSpPr>
      <p:sp>
        <p:nvSpPr>
          <p:cNvPr id="1533" name="Google Shape;1533;h547f90b031e64a91_0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4" name="Google Shape;1534;h547f90b031e64a91_0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[7:55–8:06]  SLIDE 13 · REVEAL 4 OF 7  (19 words)</a:t>
            </a:r>
          </a:p>
          <a:p>
            <a:r>
              <a:rPr lang="en-US" sz="1200">
                <a:solidFill>
                  <a:schemeClr val="dk1"/>
                </a:solidFill>
                <a:latin typeface="Calibri"/>
                <a:ea typeface="Calibri"/>
                <a:cs typeface="Calibri"/>
                <a:sym typeface="Calibri"/>
              </a:rPr>
              <a:t>The three LLM methods each run with three models, Claude, Mistral and DeepSeek, on the three databases: twenty-seven ontologies.</a:t>
            </a:r>
          </a:p>
          <a:p/>
          <a:p>
            <a:r>
              <a:rPr lang="en-US" sz="1200">
                <a:solidFill>
                  <a:schemeClr val="dk1"/>
                </a:solidFill>
                <a:latin typeface="Calibri"/>
                <a:ea typeface="Calibri"/>
                <a:cs typeface="Calibri"/>
                <a:sym typeface="Calibri"/>
              </a:rPr>
              <a:t>PRESENTER / POINTER: The 27 line.</a:t>
            </a:r>
          </a:p>
        </p:txBody>
      </p:sp>
      <p:sp>
        <p:nvSpPr>
          <p:cNvPr id="1535" name="Google Shape;1535;h547f90b031e64a91_0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7" name="Shape 1587"/>
        <p:cNvGrpSpPr/>
        <p:nvPr/>
      </p:nvGrpSpPr>
      <p:grpSpPr>
        <a:xfrm>
          <a:off x="0" y="0"/>
          <a:ext cx="0" cy="0"/>
          <a:chOff x="0" y="0"/>
          <a:chExt cx="0" cy="0"/>
        </a:xfrm>
      </p:grpSpPr>
      <p:sp>
        <p:nvSpPr>
          <p:cNvPr id="1588" name="Google Shape;1588;h547f90b031e64a91_0_3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9" name="Google Shape;1589;h547f90b031e64a91_0_3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[8:06–8:08]  SLIDE 13 · REVEAL 5 OF 7  (4 words)</a:t>
            </a:r>
          </a:p>
          <a:p>
            <a:r>
              <a:rPr lang="en-US" sz="1200">
                <a:solidFill>
                  <a:schemeClr val="dk1"/>
                </a:solidFill>
                <a:latin typeface="Calibri"/>
                <a:ea typeface="Calibri"/>
                <a:cs typeface="Calibri"/>
                <a:sym typeface="Calibri"/>
              </a:rPr>
              <a:t>Plus three direct mappings,</a:t>
            </a:r>
          </a:p>
          <a:p/>
          <a:p>
            <a:r>
              <a:rPr lang="en-US" sz="1200">
                <a:solidFill>
                  <a:schemeClr val="dk1"/>
                </a:solidFill>
                <a:latin typeface="Calibri"/>
                <a:ea typeface="Calibri"/>
                <a:cs typeface="Calibri"/>
                <a:sym typeface="Calibri"/>
              </a:rPr>
              <a:t>PRESENTER / POINTER: The 3 line.</a:t>
            </a:r>
          </a:p>
        </p:txBody>
      </p:sp>
      <p:sp>
        <p:nvSpPr>
          <p:cNvPr id="1590" name="Google Shape;1590;h547f90b031e64a91_0_3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4" name="Shape 1644"/>
        <p:cNvGrpSpPr/>
        <p:nvPr/>
      </p:nvGrpSpPr>
      <p:grpSpPr>
        <a:xfrm>
          <a:off x="0" y="0"/>
          <a:ext cx="0" cy="0"/>
          <a:chOff x="0" y="0"/>
          <a:chExt cx="0" cy="0"/>
        </a:xfrm>
      </p:grpSpPr>
      <p:sp>
        <p:nvSpPr>
          <p:cNvPr id="1645" name="Google Shape;1645;h547f90b031e64a91_0_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6" name="Google Shape;1646;h547f90b031e64a91_0_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[8:08–8:10]  SLIDE 13 · REVEAL 6 OF 7  (4 words)</a:t>
            </a:r>
          </a:p>
          <a:p>
            <a:r>
              <a:rPr lang="en-US" sz="1200">
                <a:solidFill>
                  <a:schemeClr val="dk1"/>
                </a:solidFill>
                <a:latin typeface="Calibri"/>
                <a:ea typeface="Calibri"/>
                <a:cs typeface="Calibri"/>
                <a:sym typeface="Calibri"/>
              </a:rPr>
              <a:t>thirty ontologies in total.</a:t>
            </a:r>
          </a:p>
          <a:p/>
          <a:p>
            <a:r>
              <a:rPr lang="en-US" sz="1200">
                <a:solidFill>
                  <a:schemeClr val="dk1"/>
                </a:solidFill>
                <a:latin typeface="Calibri"/>
                <a:ea typeface="Calibri"/>
                <a:cs typeface="Calibri"/>
                <a:sym typeface="Calibri"/>
              </a:rPr>
              <a:t>PRESENTER / POINTER: The 30 line.</a:t>
            </a:r>
          </a:p>
        </p:txBody>
      </p:sp>
      <p:sp>
        <p:nvSpPr>
          <p:cNvPr id="1647" name="Google Shape;1647;h547f90b031e64a91_0_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2" name="Shape 1702"/>
        <p:cNvGrpSpPr/>
        <p:nvPr/>
      </p:nvGrpSpPr>
      <p:grpSpPr>
        <a:xfrm>
          <a:off x="0" y="0"/>
          <a:ext cx="0" cy="0"/>
          <a:chOff x="0" y="0"/>
          <a:chExt cx="0" cy="0"/>
        </a:xfrm>
      </p:grpSpPr>
      <p:sp>
        <p:nvSpPr>
          <p:cNvPr id="1703" name="Google Shape;1703;h547f90b031e64a91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4" name="Google Shape;1704;h547f90b031e64a91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[8:10–8:20]  SLIDE 13 · REVEAL 7 OF 7  (17 words)</a:t>
            </a:r>
          </a:p>
          <a:p>
            <a:r>
              <a:rPr lang="en-US" sz="1200">
                <a:solidFill>
                  <a:schemeClr val="dk1"/>
                </a:solidFill>
                <a:latin typeface="Calibri"/>
                <a:ea typeface="Calibri"/>
                <a:cs typeface="Calibri"/>
                <a:sym typeface="Calibri"/>
              </a:rPr>
              <a:t>We check them with automatic quality checks, an LLM judge, ten human experts, and the BURR benchmark.</a:t>
            </a:r>
          </a:p>
          <a:p/>
          <a:p>
            <a:r>
              <a:rPr lang="en-US" sz="1200">
                <a:solidFill>
                  <a:schemeClr val="dk1"/>
                </a:solidFill>
                <a:latin typeface="Calibri"/>
                <a:ea typeface="Calibri"/>
                <a:cs typeface="Calibri"/>
                <a:sym typeface="Calibri"/>
              </a:rPr>
              <a:t>PRESENTER / POINTER: The evaluation strip.</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 methods x 3 databases x 3 LLMs + 3 direct mappings. Models: Claude Opus 4.6, Mistral Small 24B, DeepSeek-Chat (paper footnotes 9-11).</a:t>
            </a:r>
          </a:p>
        </p:txBody>
      </p:sp>
      <p:sp>
        <p:nvSpPr>
          <p:cNvPr id="1705" name="Google Shape;1705;h547f90b031e64a91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h547f90b031e64a91_0_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9" name="Google Shape;1759;h547f90b031e64a91_0_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[8:20–8:53]  SLIDE 14  (54 words)</a:t>
            </a:r>
          </a:p>
          <a:p>
            <a:r>
              <a:rPr lang="en-US" sz="1200">
                <a:solidFill>
                  <a:schemeClr val="dk1"/>
                </a:solidFill>
                <a:latin typeface="Calibri"/>
                <a:ea typeface="Calibri"/>
                <a:cs typeface="Calibri"/>
                <a:sym typeface="Calibri"/>
              </a:rPr>
              <a:t>We go from the easiest check to the hardest. First, the basics: all thirty ontologies are valid and logically consistent. Modeling errors are another story. Direct mapping averages about five hundred OOPS! pitfalls per ontology, RIGOR eight. Same LLM, same database: Mistral on eICU makes two hundred twenty with Non-Iterative RAG, two with RIGOR. [pause]</a:t>
            </a:r>
          </a:p>
          <a:p/>
          <a:p>
            <a:r>
              <a:rPr lang="en-US" sz="1200">
                <a:solidFill>
                  <a:schemeClr val="dk1"/>
                </a:solidFill>
                <a:latin typeface="Calibri"/>
                <a:ea typeface="Calibri"/>
                <a:cs typeface="Calibri"/>
                <a:sym typeface="Calibri"/>
              </a:rPr>
              <a:t>PRESENTER / POINTER: One breath for validity; then the averages; then the Mistral eICU column.</a:t>
            </a:r>
          </a:p>
          <a:p>
            <a:r>
              <a:rPr lang="en-US" sz="1200">
                <a:solidFill>
                  <a:schemeClr val="dk1"/>
                </a:solidFill>
                <a:latin typeface="Calibri"/>
                <a:ea typeface="Calibri"/>
                <a:cs typeface="Calibri"/>
                <a:sym typeface="Calibri"/>
              </a:rPr>
              <a:t>AUDIENCE TAKEAWAY: Every ontology is valid; RIGOR's have far fewer modeling errors, with every LLM.</a:t>
            </a:r>
          </a:p>
          <a:p>
            <a:r>
              <a:rPr lang="en-US" sz="1200">
                <a:solidFill>
                  <a:schemeClr val="dk1"/>
                </a:solidFill>
                <a:latin typeface="Calibri"/>
                <a:ea typeface="Calibri"/>
                <a:cs typeface="Calibri"/>
                <a:sym typeface="Calibri"/>
              </a:rPr>
              <a:t>SOURCE AND SCOPE: Paper Sec. 4.6-4.7 (RDFLib, HermiT) and Table 7 (OOPS! totals per run). 72% of the other methods' pitfalls are P08, missing annotations.</a:t>
            </a:r>
          </a:p>
          <a:p/>
          <a:p>
            <a:r>
              <a:rPr lang="en-US" sz="1200">
                <a:solidFill>
                  <a:schemeClr val="dk1"/>
                </a:solidFill>
                <a:latin typeface="Calibri"/>
                <a:ea typeface="Calibri"/>
                <a:cs typeface="Calibri"/>
                <a:sym typeface="Calibri"/>
              </a:rPr>
              <a:t>IF ASKED ABOUT CRITICAL ERRORS: P19 (multiple domains or ranges) is the only pitfall OOPS! rates critical, and it is the second-domain error from the validation slide. Per ontology: Direct Mapping 15, LLM baseline 17, Non-Iterative RAG 5.4, RIGOR 2.8; zero in 6 of RIGOR's 9 ontologies (Table 7). RIGOR's prompt allows one domain and one range, and the graph check rejects a second.</a:t>
            </a:r>
          </a:p>
        </p:txBody>
      </p:sp>
      <p:sp>
        <p:nvSpPr>
          <p:cNvPr id="1760" name="Google Shape;1760;h547f90b031e64a91_0_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6" name="Shape 1826"/>
        <p:cNvGrpSpPr/>
        <p:nvPr/>
      </p:nvGrpSpPr>
      <p:grpSpPr>
        <a:xfrm>
          <a:off x="0" y="0"/>
          <a:ext cx="0" cy="0"/>
          <a:chOff x="0" y="0"/>
          <a:chExt cx="0" cy="0"/>
        </a:xfrm>
      </p:grpSpPr>
      <p:sp>
        <p:nvSpPr>
          <p:cNvPr id="1827" name="Google Shape;1827;h547f90b031e64a91_0_5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8" name="Google Shape;1828;h547f90b031e64a91_0_5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[8:53–9:12]  SLIDE 15 · REVEAL 1 OF 2  (34 words)</a:t>
            </a:r>
          </a:p>
          <a:p>
            <a:r>
              <a:rPr b="0" i="0" lang="en-US" sz="1200" u="none" cap="none" strike="noStrike">
                <a:solidFill>
                  <a:schemeClr val="dk1"/>
                </a:solidFill>
                <a:latin typeface="IBM Plex Sans"/>
                <a:ea typeface="IBM Plex Sans"/>
                <a:cs typeface="IBM Plex Sans"/>
                <a:sym typeface="IBM Plex Sans"/>
              </a:rPr>
              <a:t>Fewer errors, but is anything lost? On average, RIGOR covers ninety-three percent of the columns, as much as direct mapping. Non-Iterative RAG, with the same retrieved context but no seed, covers only a third.</a:t>
            </a:r>
          </a:p>
          <a:p/>
          <a:p>
            <a:r>
              <a:rPr b="0" i="0" lang="en-US" sz="1200" u="none" cap="none" strike="noStrike">
                <a:solidFill>
                  <a:schemeClr val="dk1"/>
                </a:solidFill>
                <a:latin typeface="IBM Plex Sans"/>
                <a:ea typeface="IBM Plex Sans"/>
                <a:cs typeface="IBM Plex Sans"/>
                <a:sym typeface="IBM Plex Sans"/>
              </a:rPr>
              <a:t>PRESENTER / POINTER: RIGOR's average next to Direct Mapping's, then the Non-Iterative RAG average.</a:t>
            </a:r>
          </a:p>
        </p:txBody>
      </p:sp>
      <p:sp>
        <p:nvSpPr>
          <p:cNvPr id="1829" name="Google Shape;1829;h547f90b031e64a91_0_5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h547f90b031e64a91_0_5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5" name="Google Shape;1895;h547f90b031e64a91_0_5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[9:12–9:27]  SLIDE 15 · REVEAL 2 OF 2  (23 words)</a:t>
            </a:r>
          </a:p>
          <a:p>
            <a:r>
              <a:rPr b="0" i="0" lang="en-US" sz="1200" u="none" cap="none" strike="noStrike">
                <a:solidFill>
                  <a:schemeClr val="dk1"/>
                </a:solidFill>
                <a:latin typeface="IBM Plex Sans"/>
                <a:ea typeface="IBM Plex Sans"/>
                <a:cs typeface="IBM Plex Sans"/>
                <a:sym typeface="IBM Plex Sans"/>
              </a:rPr>
              <a:t>And it swings with the LLM, from six to seventy-eight percent. With RIGOR, every LLM keeps at least seventy-seven percent, in every database. [pause]</a:t>
            </a:r>
          </a:p>
          <a:p/>
          <a:p>
            <a:r>
              <a:rPr b="0" i="0" lang="en-US" sz="1200" u="none" cap="none" strike="noStrike">
                <a:solidFill>
                  <a:schemeClr val="dk1"/>
                </a:solidFill>
                <a:latin typeface="IBM Plex Sans"/>
                <a:ea typeface="IBM Plex Sans"/>
                <a:cs typeface="IBM Plex Sans"/>
                <a:sym typeface="IBM Plex Sans"/>
              </a:rPr>
              <a:t>PRESENTER / POINTER: The outlined Non-Iterative RAG row, then the strip.</a:t>
            </a:r>
          </a:p>
          <a:p>
            <a:r>
              <a:rPr b="0" i="0" lang="en-US" sz="1200" u="none" cap="none" strike="noStrike">
                <a:solidFill>
                  <a:schemeClr val="dk1"/>
                </a:solidFill>
                <a:latin typeface="IBM Plex Sans"/>
                <a:ea typeface="IBM Plex Sans"/>
                <a:cs typeface="IBM Plex Sans"/>
                <a:sym typeface="IBM Plex Sans"/>
              </a:rPr>
              <a:t>AUDIENCE TAKEAWAY: RIGOR keeps the schema as well as Direct Mapping, with every LLM.</a:t>
            </a:r>
          </a:p>
          <a:p>
            <a:r>
              <a:rPr b="0" i="0" lang="en-US" sz="1200" u="none" cap="none" strike="noStrike">
                <a:solidFill>
                  <a:schemeClr val="dk1"/>
                </a:solidFill>
                <a:latin typeface="IBM Plex Sans"/>
                <a:ea typeface="IBM Plex Sans"/>
                <a:cs typeface="IBM Plex Sans"/>
                <a:sym typeface="IBM Plex Sans"/>
              </a:rPr>
              <a:t>SOURCE AND SCOPE: Paper Table 9 (column coverage per run; embedding similarity &gt;= 0.55, all-MiniLM-L6-v2).</a:t>
            </a:r>
          </a:p>
          <a:p/>
          <a:p>
            <a:r>
              <a:rPr b="0" i="0" lang="en-US" sz="1200" u="none" cap="none" strike="noStrike">
                <a:solidFill>
                  <a:schemeClr val="dk1"/>
                </a:solidFill>
                <a:latin typeface="IBM Plex Sans"/>
                <a:ea typeface="IBM Plex Sans"/>
                <a:cs typeface="IBM Plex Sans"/>
                <a:sym typeface="IBM Plex Sans"/>
              </a:rPr>
              <a:t>IF ASKED WHY Non-Iterative RAG DROPS BUT THE BASELINE DOES NOT: the baseline only translates the table, so it keeps column names. Non-Iterative RAG does everything in one pass with a lot of retrieved context and silently drops properties (e.g. 6 data properties for 350 Liver Cancer columns with Mistral, Table 8); nothing checks coverage. RIGOR starts from a seed with every column, works one table at a time, and its validator rejects fragments that drop a column.</a:t>
            </a:r>
          </a:p>
          <a:p/>
          <a:p>
            <a:r>
              <a:rPr b="0" i="0" lang="en-US" sz="1200" u="none" cap="none" strike="noStrike">
                <a:solidFill>
                  <a:schemeClr val="dk1"/>
                </a:solidFill>
                <a:latin typeface="IBM Plex Sans"/>
                <a:ea typeface="IBM Plex Sans"/>
                <a:cs typeface="IBM Plex Sans"/>
                <a:sym typeface="IBM Plex Sans"/>
              </a:rPr>
              <a:t>IF ASKED ABOUT MODEL SIZE AND COST: with RIGOR, Mistral Small 24B reaches 98% coverage (Claude 95%) for about $0.12 across the three databases, against about $33 with Claude (Tables 9, 15).</a:t>
            </a:r>
          </a:p>
        </p:txBody>
      </p:sp>
      <p:sp>
        <p:nvSpPr>
          <p:cNvPr id="1896" name="Google Shape;1896;h547f90b031e64a91_0_5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h547f90b031e64a91_0_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4" name="Google Shape;1964;h547f90b031e64a91_0_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[9:27–9:53]  SLIDE 16  (42 words)</a:t>
            </a:r>
          </a:p>
          <a:p>
            <a:r>
              <a:rPr lang="en-US" sz="1200">
                <a:solidFill>
                  <a:schemeClr val="dk1"/>
                </a:solidFill>
                <a:latin typeface="Calibri"/>
                <a:ea typeface="Calibri"/>
                <a:cs typeface="Calibri"/>
                <a:sym typeface="Calibri"/>
              </a:rPr>
              <a:t>Nothing is lost. Is meaning added? Direct mapping and the LLM baseline add no labels, provenance or hierarchy, in any run. Non-Iterative RAG adds labels, but no provenance and no hierarchy. Only RIGOR adds all three, with every LLM, in every database. [pause]</a:t>
            </a:r>
          </a:p>
          <a:p/>
          <a:p>
            <a:r>
              <a:rPr lang="en-US" sz="1200">
                <a:solidFill>
                  <a:schemeClr val="dk1"/>
                </a:solidFill>
                <a:latin typeface="Calibri"/>
                <a:ea typeface="Calibri"/>
                <a:cs typeface="Calibri"/>
                <a:sym typeface="Calibri"/>
              </a:rPr>
              <a:t>PRESENTER / POINTER: The red band first, then the three RIGOR rows.</a:t>
            </a:r>
          </a:p>
          <a:p>
            <a:r>
              <a:rPr lang="en-US" sz="1200">
                <a:solidFill>
                  <a:schemeClr val="dk1"/>
                </a:solidFill>
                <a:latin typeface="Calibri"/>
                <a:ea typeface="Calibri"/>
                <a:cs typeface="Calibri"/>
                <a:sym typeface="Calibri"/>
              </a:rPr>
              <a:t>IF RUNNING LATE, DROP: "Non-Iterative RAG adds labels, but no provenance and no hierarchy."</a:t>
            </a:r>
          </a:p>
          <a:p>
            <a:r>
              <a:rPr lang="en-US" sz="1200">
                <a:solidFill>
                  <a:schemeClr val="dk1"/>
                </a:solidFill>
                <a:latin typeface="Calibri"/>
                <a:ea typeface="Calibri"/>
                <a:cs typeface="Calibri"/>
                <a:sym typeface="Calibri"/>
              </a:rPr>
              <a:t>AUDIENCE TAKEAWAY: Only RIGOR adds labels, provenance and a class hierarchy, with every LLM.</a:t>
            </a:r>
          </a:p>
          <a:p>
            <a:r>
              <a:rPr lang="en-US" sz="1200">
                <a:solidFill>
                  <a:schemeClr val="dk1"/>
                </a:solidFill>
                <a:latin typeface="Calibri"/>
                <a:ea typeface="Calibri"/>
                <a:cs typeface="Calibri"/>
                <a:sym typeface="Calibri"/>
              </a:rPr>
              <a:t>SOURCE AND SCOPE: Paper Table 8. Hierarchy as inheritance richness (subclass axioms per class; OntoQA, Tartir et al. 2005; OntoMetrics, Lantow 2016), computed from Table 8 counts. Shading is within each database.</a:t>
            </a:r>
          </a:p>
          <a:p/>
          <a:p>
            <a:r>
              <a:rPr lang="en-US" sz="1200">
                <a:solidFill>
                  <a:schemeClr val="dk1"/>
                </a:solidFill>
                <a:latin typeface="Calibri"/>
                <a:ea typeface="Calibri"/>
                <a:cs typeface="Calibri"/>
                <a:sym typeface="Calibri"/>
              </a:rPr>
              <a:t>IF ASKED 'DOES CHINOOK NEED SO MANY SUBCLASSES?': count is not quality, so we report whether a hierarchy exists, and only RIGOR builds one. RIGOR's Chinook ontologies have zero OOPS! pitfalls and the judge ranks RIGOR first on all 11 Chinook tables; it does score RIGOR's conciseness lower there (2.59 vs 3.32 for the baseline, Table 10), so tighter hierarchies are future work.</a:t>
            </a:r>
          </a:p>
          <a:p/>
          <a:p>
            <a:r>
              <a:rPr lang="en-US" sz="1200">
                <a:solidFill>
                  <a:schemeClr val="dk1"/>
                </a:solidFill>
                <a:latin typeface="Calibri"/>
                <a:ea typeface="Calibri"/>
                <a:cs typeface="Calibri"/>
                <a:sym typeface="Calibri"/>
              </a:rPr>
              <a:t>DOMAIN PATTERN (notes only): inheritance richness is 0.10-0.70 on the clinical schemas and 2.1-4.1 on the music store; the LLM proposes more specializations in a familiar domain.</a:t>
            </a:r>
          </a:p>
        </p:txBody>
      </p:sp>
      <p:sp>
        <p:nvSpPr>
          <p:cNvPr id="1965" name="Google Shape;1965;h547f90b031e64a91_0_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4" name="Shape 2064"/>
        <p:cNvGrpSpPr/>
        <p:nvPr/>
      </p:nvGrpSpPr>
      <p:grpSpPr>
        <a:xfrm>
          <a:off x="0" y="0"/>
          <a:ext cx="0" cy="0"/>
          <a:chOff x="0" y="0"/>
          <a:chExt cx="0" cy="0"/>
        </a:xfrm>
      </p:grpSpPr>
      <p:sp>
        <p:nvSpPr>
          <p:cNvPr id="2065" name="Google Shape;2065;h547f90b031e64a91_0_7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6" name="Google Shape;2066;h547f90b031e64a91_0_7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[9:53–10:36]  SLIDE 17  (75 words)</a:t>
            </a:r>
          </a:p>
          <a:p>
            <a:r>
              <a:rPr b="0" i="0" lang="en-US" sz="1200" u="none" cap="none" strike="noStrike">
                <a:solidFill>
                  <a:schemeClr val="dk1"/>
                </a:solidFill>
                <a:latin typeface="IBM Plex Sans"/>
                <a:ea typeface="IBM Plex Sans"/>
                <a:cs typeface="IBM Plex Sans"/>
                <a:sym typeface="IBM Plex Sans"/>
              </a:rPr>
              <a:t>Meaning is added. But is the link back to the data still correct? BURR, an external benchmark, checks exactly this: every class, relation and attribute must map back to the right table, foreign key or column, scored with F1 against gold mappings. On BURR's ISWC scenario, RIGOR has the highest F1 on all three, ahead of rule-based and LLM-based systems. Against the LLM-based OntoGenix, relations nearly double, because foreign keys become named relations, like hasPatientData.</a:t>
            </a:r>
          </a:p>
          <a:p/>
          <a:p>
            <a:r>
              <a:rPr b="0" i="0" lang="en-US" sz="1200" u="none" cap="none" strike="noStrike">
                <a:solidFill>
                  <a:schemeClr val="dk1"/>
                </a:solidFill>
                <a:latin typeface="IBM Plex Sans"/>
                <a:ea typeface="IBM Plex Sans"/>
                <a:cs typeface="IBM Plex Sans"/>
                <a:sym typeface="IBM Plex Sans"/>
              </a:rPr>
              <a:t>PRESENTER / POINTER: Left card first, then land on the RIGOR row.</a:t>
            </a:r>
          </a:p>
          <a:p>
            <a:r>
              <a:rPr b="0" i="0" lang="en-US" sz="1200" u="none" cap="none" strike="noStrike">
                <a:solidFill>
                  <a:schemeClr val="dk1"/>
                </a:solidFill>
                <a:latin typeface="IBM Plex Sans"/>
                <a:ea typeface="IBM Plex Sans"/>
                <a:cs typeface="IBM Plex Sans"/>
                <a:sym typeface="IBM Plex Sans"/>
              </a:rPr>
              <a:t>IF RUNNING LATE, DROP: "scored with F1 against gold mappings"</a:t>
            </a:r>
          </a:p>
          <a:p>
            <a:r>
              <a:rPr b="0" i="0" lang="en-US" sz="1200" u="none" cap="none" strike="noStrike">
                <a:solidFill>
                  <a:schemeClr val="dk1"/>
                </a:solidFill>
                <a:latin typeface="IBM Plex Sans"/>
                <a:ea typeface="IBM Plex Sans"/>
                <a:cs typeface="IBM Plex Sans"/>
                <a:sym typeface="IBM Plex Sans"/>
              </a:rPr>
              <a:t>AUDIENCE TAKEAWAY: Semantic enrichment did not break the correspondence that OBDA and KG population need.</a:t>
            </a:r>
          </a:p>
          <a:p>
            <a:r>
              <a:rPr b="0" i="0" lang="en-US" sz="1200" u="none" cap="none" strike="noStrike">
                <a:solidFill>
                  <a:schemeClr val="dk1"/>
                </a:solidFill>
                <a:latin typeface="IBM Plex Sans"/>
                <a:ea typeface="IBM Plex Sans"/>
                <a:cs typeface="IBM Plex Sans"/>
                <a:sym typeface="IBM Plex Sans"/>
              </a:rPr>
              <a:t>SOURCE AND SCOPE: Paper Table 13. BURR = Laskowski et al., PACMMOD 2025; matching rule from BURR Section 4, Eq. 3. Left-card element names are illustrative. Relations: RIGOR 0.67, OntoGenix 0.35, best rule-based (RDB2Onto) 0.62.</a:t>
            </a:r>
          </a:p>
          <a:p/>
          <a:p>
            <a:r>
              <a:rPr b="0" i="0" lang="en-US" sz="1200" u="none" cap="none" strike="noStrike">
                <a:solidFill>
                  <a:schemeClr val="dk1"/>
                </a:solidFill>
                <a:latin typeface="IBM Plex Sans"/>
                <a:ea typeface="IBM Plex Sans"/>
                <a:cs typeface="IBM Plex Sans"/>
                <a:sym typeface="IBM Plex Sans"/>
              </a:rPr>
              <a:t>DO NOT SAY: 'BURR found LLMs trail rule-based systems'. BURR's results show Gemini 2.5 Pro ahead of the rule-based systems overall (rule-based systems win only on NPD).</a:t>
            </a:r>
          </a:p>
          <a:p/>
          <a:p>
            <a:r>
              <a:rPr b="0" i="0" lang="en-US" sz="1200" u="none" cap="none" strike="noStrike">
                <a:solidFill>
                  <a:schemeClr val="dk1"/>
                </a:solidFill>
                <a:latin typeface="IBM Plex Sans"/>
                <a:ea typeface="IBM Plex Sans"/>
                <a:cs typeface="IBM Plex Sans"/>
                <a:sym typeface="IBM Plex Sans"/>
              </a:rPr>
              <a:t>IF ASKED ABOUT GEMINI 2.5 PRO (BURR Table 3, ISWC .65 / .68 / .56): in BURR it is a general-purpose LLM prompted with few-shot examples and a checklist to write the D2RQ mapping directly. It is a mapping generator, not an ontology-learning system, so we compare with ontology-learning systems. Against it, RIGOR's class F1 is higher, relations are on par, attributes lower, and RIGOR also produces labels, hierarchy and provenance.</a:t>
            </a:r>
          </a:p>
        </p:txBody>
      </p:sp>
      <p:sp>
        <p:nvSpPr>
          <p:cNvPr id="2067" name="Google Shape;2067;h547f90b031e64a91_0_7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9" name="Shape 2119"/>
        <p:cNvGrpSpPr/>
        <p:nvPr/>
      </p:nvGrpSpPr>
      <p:grpSpPr>
        <a:xfrm>
          <a:off x="0" y="0"/>
          <a:ext cx="0" cy="0"/>
          <a:chOff x="0" y="0"/>
          <a:chExt cx="0" cy="0"/>
        </a:xfrm>
      </p:grpSpPr>
      <p:sp>
        <p:nvSpPr>
          <p:cNvPr id="2120" name="Google Shape;2120;h547f90b031e64a91_0_1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1" name="Google Shape;2121;h547f90b031e64a91_0_1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[10:36–11:28]  SLIDE 18  (84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dimensions and ranked them first to fourth. The LLM judge put RIGOR first in every ranking. [pause] The experts put RIGOR first in seventy percent of their rankings, with the highest average score. [pause] Direct mapping gives structure without meaning. LLMs alone give meaning without structure. RIGOR gives both.</a:t>
            </a:r>
          </a:p>
          <a:p/>
          <a:p>
            <a:r>
              <a:rPr lang="en-US" sz="1200">
                <a:solidFill>
                  <a:schemeClr val="dk1"/>
                </a:solidFill>
                <a:latin typeface="Calibri"/>
                <a:ea typeface="Calibri"/>
                <a:cs typeface="Calibri"/>
                <a:sym typeface="Calibri"/>
              </a:rPr>
              <a:t>PRESENTER / POINTER: The 'How they judged' box in one breath; then the two headlines.</a:t>
            </a:r>
          </a:p>
          <a:p>
            <a:r>
              <a:rPr lang="en-US" sz="1200">
                <a:solidFill>
                  <a:schemeClr val="dk1"/>
                </a:solidFill>
                <a:latin typeface="Calibri"/>
                <a:ea typeface="Calibri"/>
                <a:cs typeface="Calibri"/>
                <a:sym typeface="Calibri"/>
              </a:rPr>
              <a:t>IF RUNNING LATE, DROP: "with the highest average score"</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2122" name="Google Shape;2122;h547f90b031e64a91_0_1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h547f90b031e64a91_0_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h547f90b031e64a91_0_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[11:28–11:52]  SLIDE 19 · REVEAL 1 OF 2  (42 words)</a:t>
            </a:r>
          </a:p>
          <a:p>
            <a:r>
              <a:rPr lang="en-US" sz="1200">
                <a:solidFill>
                  <a:schemeClr val="dk1"/>
                </a:solidFill>
                <a:latin typeface="Calibri"/>
                <a:ea typeface="Calibri"/>
                <a:cs typeface="Calibri"/>
                <a:sym typeface="Calibri"/>
              </a:rPr>
              <a:t>Where next? First, the validators. RDFLib, the reasoner and OOPS! only checked our final ontologies; NeOn-GPT first proposed this stack of checks for evaluation. Next, they flag each error while RIGOR builds, and their feedback prompts the LLM to repair the ontology.</a:t>
            </a:r>
          </a:p>
          <a:p/>
          <a:p>
            <a:r>
              <a:rPr lang="en-US" sz="1200">
                <a:solidFill>
                  <a:schemeClr val="dk1"/>
                </a:solidFill>
                <a:latin typeface="Calibri"/>
                <a:ea typeface="Calibri"/>
                <a:cs typeface="Calibri"/>
                <a:sym typeface="Calibri"/>
              </a:rPr>
              <a:t>PRESENTER / POINTER: The sentence on the slide, then click.</a:t>
            </a:r>
          </a:p>
        </p:txBody>
      </p:sp>
      <p:sp>
        <p:nvSpPr>
          <p:cNvPr id="2171" name="Google Shape;2171;h547f90b031e64a91_0_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6" name="Shape 2176"/>
        <p:cNvGrpSpPr/>
        <p:nvPr/>
      </p:nvGrpSpPr>
      <p:grpSpPr>
        <a:xfrm>
          <a:off x="0" y="0"/>
          <a:ext cx="0" cy="0"/>
          <a:chOff x="0" y="0"/>
          <a:chExt cx="0" cy="0"/>
        </a:xfrm>
      </p:grpSpPr>
      <p:sp>
        <p:nvSpPr>
          <p:cNvPr id="2177" name="Google Shape;2177;h547f90b031e64a91_0_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8" name="Google Shape;2178;h547f90b031e64a91_0_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[11:52–12:07]  SLIDE 19 · REVEAL 2 OF 2  (25 words)</a:t>
            </a:r>
          </a:p>
          <a:p>
            <a:r>
              <a:rPr lang="en-US" sz="1200">
                <a:solidFill>
                  <a:schemeClr val="dk1"/>
                </a:solidFill>
                <a:latin typeface="Calibri"/>
                <a:ea typeface="Calibri"/>
                <a:cs typeface="Calibri"/>
                <a:sym typeface="Calibri"/>
              </a:rPr>
              <a:t>We have realized this loop in the RIGOR App, presented in yesterday's demo session. The code and a demo video are behind these QR codes.</a:t>
            </a:r>
          </a:p>
          <a:p/>
          <a:p>
            <a:r>
              <a:rPr lang="en-US" sz="1200">
                <a:solidFill>
                  <a:schemeClr val="dk1"/>
                </a:solidFill>
                <a:latin typeface="Calibri"/>
                <a:ea typeface="Calibri"/>
                <a:cs typeface="Calibri"/>
                <a:sym typeface="Calibri"/>
              </a:rPr>
              <a:t>PRESENTER / POINTER: Screenshot, then the two QR codes.</a:t>
            </a:r>
          </a:p>
          <a:p>
            <a:r>
              <a:rPr lang="en-US" sz="1200">
                <a:solidFill>
                  <a:schemeClr val="dk1"/>
                </a:solidFill>
                <a:latin typeface="Calibri"/>
                <a:ea typeface="Calibri"/>
                <a:cs typeface="Calibri"/>
                <a:sym typeface="Calibri"/>
              </a:rPr>
              <a:t>AUDIENCE TAKEAWAY: The evaluation checks move inside generation; the RIGOR App already does this.</a:t>
            </a:r>
          </a:p>
          <a:p>
            <a:r>
              <a:rPr lang="en-US" sz="1200">
                <a:solidFill>
                  <a:schemeClr val="dk1"/>
                </a:solidFill>
                <a:latin typeface="Calibri"/>
                <a:ea typeface="Calibri"/>
                <a:cs typeface="Calibri"/>
                <a:sym typeface="Calibri"/>
              </a:rPr>
              <a:t>SOURCE AND SCOPE: Evaluation stack from NeOn-GPT (Fathallah et al., ESWC 2024; paper ref. 10), extended in Extended NeOn-GPT (Semantic Web 17(4), 2026; ref. 9). RIGOR App: Fathallah, Nayyeri &amp; Staab, ISWC 2026 Demos.</a:t>
            </a:r>
          </a:p>
        </p:txBody>
      </p:sp>
      <p:sp>
        <p:nvSpPr>
          <p:cNvPr id="2179" name="Google Shape;2179;h547f90b031e64a91_0_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2" name="Shape 2192"/>
        <p:cNvGrpSpPr/>
        <p:nvPr/>
      </p:nvGrpSpPr>
      <p:grpSpPr>
        <a:xfrm>
          <a:off x="0" y="0"/>
          <a:ext cx="0" cy="0"/>
          <a:chOff x="0" y="0"/>
          <a:chExt cx="0" cy="0"/>
        </a:xfrm>
      </p:grpSpPr>
      <p:sp>
        <p:nvSpPr>
          <p:cNvPr id="2193" name="Google Shape;2193;h547f90b031e64a91_0_1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4" name="Google Shape;2194;h547f90b031e64a91_0_1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[12:07–12:27]  SLIDE 20 · REVEAL 1 OF 2  (35 words)</a:t>
            </a:r>
          </a:p>
          <a:p>
            <a:r>
              <a:rPr lang="en-US" sz="1200">
                <a:solidFill>
                  <a:schemeClr val="dk1"/>
                </a:solidFill>
                <a:latin typeface="Calibri"/>
                <a:ea typeface="Calibri"/>
                <a:cs typeface="Calibri"/>
                <a:sym typeface="Calibri"/>
              </a:rPr>
              <a:t>Second, let the data speak. Today RIGOR reads schemas and documentation, but instance data can propose new knowledge. Here, the treatment table says which admissions received cisplatin, and the admission table records bone marrow depression.</a:t>
            </a:r>
          </a:p>
          <a:p/>
          <a:p>
            <a:r>
              <a:rPr lang="en-US" sz="1200">
                <a:solidFill>
                  <a:schemeClr val="dk1"/>
                </a:solidFill>
                <a:latin typeface="Calibri"/>
                <a:ea typeface="Calibri"/>
                <a:cs typeface="Calibri"/>
                <a:sym typeface="Calibri"/>
              </a:rPr>
              <a:t>PRESENTER / POINTER: The two tables; A1 and A3 in both.</a:t>
            </a:r>
          </a:p>
        </p:txBody>
      </p:sp>
      <p:sp>
        <p:nvSpPr>
          <p:cNvPr id="2195" name="Google Shape;2195;h547f90b031e64a91_0_1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h547f90b031e64a91_0_13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h547f90b031e64a91_0_13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[12:27–12:53]  SLIDE 20 · REVEAL 2 OF 2  (46 words)</a:t>
            </a:r>
          </a:p>
          <a:p>
            <a:r>
              <a:rPr lang="en-US" sz="1200">
                <a:solidFill>
                  <a:schemeClr val="dk1"/>
                </a:solidFill>
                <a:latin typeface="Calibri"/>
                <a:ea typeface="Calibri"/>
                <a:cs typeface="Calibri"/>
                <a:sym typeface="Calibri"/>
              </a:rPr>
              <a:t>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2236" name="Google Shape;2236;h547f90b031e64a91_0_13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8" name="Google Shape;2308;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[12:53–13:25]  SLIDE 21  (57 words)</a:t>
            </a:r>
          </a:p>
          <a:p>
            <a:r>
              <a:rPr b="0" i="0" lang="en-US" sz="1200" u="none" cap="none" strike="noStrike">
                <a:solidFill>
                  <a:schemeClr val="dk1"/>
                </a:solidFill>
                <a:latin typeface="IBM Plex Sans"/>
                <a:ea typeface="IBM Plex Sans"/>
                <a:cs typeface="IBM Plex Sans"/>
                <a:sym typeface="IBM Plex Sans"/>
              </a:rP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rPr b="0" i="0" lang="en-US" sz="1200" u="none" cap="none" strike="noStrike">
                <a:solidFill>
                  <a:schemeClr val="dk1"/>
                </a:solidFill>
                <a:latin typeface="IBM Plex Sans"/>
                <a:ea typeface="IBM Plex Sans"/>
                <a:cs typeface="IBM Plex Sans"/>
                <a:sym typeface="IBM Plex Sans"/>
              </a:rPr>
              <a:t>PRESENTER / POINTER: Finish speaking by 13:30. Leave this slide up during questions.</a:t>
            </a:r>
          </a:p>
          <a:p>
            <a:r>
              <a:rPr b="0" i="0" lang="en-US" sz="1200" u="none" cap="none" strike="noStrike">
                <a:solidFill>
                  <a:schemeClr val="dk1"/>
                </a:solidFill>
                <a:latin typeface="IBM Plex Sans"/>
                <a:ea typeface="IBM Plex Sans"/>
                <a:cs typeface="IBM Plex Sans"/>
                <a:sym typeface="IBM Plex Sans"/>
              </a:rPr>
              <a:t>AUDIENCE TAKEAWAY: Grounded, retrieved, validated.</a:t>
            </a:r>
          </a:p>
          <a:p>
            <a:r>
              <a:rPr b="0" i="0" lang="en-US" sz="1200" u="none" cap="none" strike="noStrike">
                <a:solidFill>
                  <a:schemeClr val="dk1"/>
                </a:solidFill>
                <a:latin typeface="IBM Plex Sans"/>
                <a:ea typeface="IBM Plex Sans"/>
                <a:cs typeface="IBM Plex Sans"/>
                <a:sym typeface="IBM Plex Sans"/>
              </a:rPr>
              <a:t>SOURCE AND SCOPE: Recap of the paper; contact address on the slide.</a:t>
            </a:r>
          </a:p>
        </p:txBody>
      </p:sp>
      <p:sp>
        <p:nvSpPr>
          <p:cNvPr id="2309" name="Google Shape;2309;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p:nvPr/>
        </p:nvSpPr>
        <p:spPr>
          <a:xfrm>
            <a:off x="8092440" y="0"/>
            <a:ext cx="4099200" cy="6858000"/>
          </a:xfrm>
          <a:prstGeom prst="rect">
            <a:avLst/>
          </a:prstGeom>
          <a:solidFill>
            <a:srgbClr val="FAFBF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83667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 name="Google Shape;23;p1"/>
          <p:cNvSpPr/>
          <p:nvPr/>
        </p:nvSpPr>
        <p:spPr>
          <a:xfrm>
            <a:off x="86410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 name="Google Shape;24;p1"/>
          <p:cNvSpPr/>
          <p:nvPr/>
        </p:nvSpPr>
        <p:spPr>
          <a:xfrm>
            <a:off x="89154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 name="Google Shape;25;p1"/>
          <p:cNvSpPr/>
          <p:nvPr/>
        </p:nvSpPr>
        <p:spPr>
          <a:xfrm>
            <a:off x="91897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 name="Google Shape;26;p1"/>
          <p:cNvSpPr/>
          <p:nvPr/>
        </p:nvSpPr>
        <p:spPr>
          <a:xfrm>
            <a:off x="94640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 name="Google Shape;27;p1"/>
          <p:cNvSpPr/>
          <p:nvPr/>
        </p:nvSpPr>
        <p:spPr>
          <a:xfrm>
            <a:off x="97383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 name="Google Shape;28;p1"/>
          <p:cNvSpPr/>
          <p:nvPr/>
        </p:nvSpPr>
        <p:spPr>
          <a:xfrm>
            <a:off x="100126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 name="Google Shape;29;p1"/>
          <p:cNvSpPr/>
          <p:nvPr/>
        </p:nvSpPr>
        <p:spPr>
          <a:xfrm>
            <a:off x="102870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 name="Google Shape;30;p1"/>
          <p:cNvSpPr/>
          <p:nvPr/>
        </p:nvSpPr>
        <p:spPr>
          <a:xfrm>
            <a:off x="105613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 name="Google Shape;31;p1"/>
          <p:cNvSpPr/>
          <p:nvPr/>
        </p:nvSpPr>
        <p:spPr>
          <a:xfrm>
            <a:off x="108356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 name="Google Shape;32;p1"/>
          <p:cNvSpPr/>
          <p:nvPr/>
        </p:nvSpPr>
        <p:spPr>
          <a:xfrm>
            <a:off x="111099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 name="Google Shape;33;p1"/>
          <p:cNvSpPr/>
          <p:nvPr/>
        </p:nvSpPr>
        <p:spPr>
          <a:xfrm>
            <a:off x="113842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16586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 name="Google Shape;35;p1"/>
          <p:cNvSpPr/>
          <p:nvPr/>
        </p:nvSpPr>
        <p:spPr>
          <a:xfrm>
            <a:off x="119329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8092440" y="2743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 name="Google Shape;37;p1"/>
          <p:cNvSpPr/>
          <p:nvPr/>
        </p:nvSpPr>
        <p:spPr>
          <a:xfrm>
            <a:off x="8092440" y="5486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8092440" y="8229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 name="Google Shape;39;p1"/>
          <p:cNvSpPr/>
          <p:nvPr/>
        </p:nvSpPr>
        <p:spPr>
          <a:xfrm>
            <a:off x="8092440" y="109728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8092440" y="137160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 name="Google Shape;41;p1"/>
          <p:cNvSpPr/>
          <p:nvPr/>
        </p:nvSpPr>
        <p:spPr>
          <a:xfrm>
            <a:off x="8092440" y="16459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8092440" y="19202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 name="Google Shape;43;p1"/>
          <p:cNvSpPr/>
          <p:nvPr/>
        </p:nvSpPr>
        <p:spPr>
          <a:xfrm>
            <a:off x="8092440" y="219456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 name="Google Shape;44;p1"/>
          <p:cNvSpPr/>
          <p:nvPr/>
        </p:nvSpPr>
        <p:spPr>
          <a:xfrm>
            <a:off x="8092440" y="24688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 name="Google Shape;45;p1"/>
          <p:cNvSpPr/>
          <p:nvPr/>
        </p:nvSpPr>
        <p:spPr>
          <a:xfrm>
            <a:off x="8092440" y="27431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 name="Google Shape;46;p1"/>
          <p:cNvSpPr/>
          <p:nvPr/>
        </p:nvSpPr>
        <p:spPr>
          <a:xfrm>
            <a:off x="8092440" y="30175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 name="Google Shape;47;p1"/>
          <p:cNvSpPr/>
          <p:nvPr/>
        </p:nvSpPr>
        <p:spPr>
          <a:xfrm>
            <a:off x="8092440" y="32918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 name="Google Shape;48;p1"/>
          <p:cNvSpPr/>
          <p:nvPr/>
        </p:nvSpPr>
        <p:spPr>
          <a:xfrm>
            <a:off x="8092440" y="35661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 name="Google Shape;49;p1"/>
          <p:cNvSpPr/>
          <p:nvPr/>
        </p:nvSpPr>
        <p:spPr>
          <a:xfrm>
            <a:off x="8092440" y="38404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 name="Google Shape;50;p1"/>
          <p:cNvSpPr/>
          <p:nvPr/>
        </p:nvSpPr>
        <p:spPr>
          <a:xfrm>
            <a:off x="8092440" y="41147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 name="Google Shape;51;p1"/>
          <p:cNvSpPr/>
          <p:nvPr/>
        </p:nvSpPr>
        <p:spPr>
          <a:xfrm>
            <a:off x="8092440" y="43891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 name="Google Shape;52;p1"/>
          <p:cNvSpPr/>
          <p:nvPr/>
        </p:nvSpPr>
        <p:spPr>
          <a:xfrm>
            <a:off x="8092440" y="46634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 name="Google Shape;53;p1"/>
          <p:cNvSpPr/>
          <p:nvPr/>
        </p:nvSpPr>
        <p:spPr>
          <a:xfrm>
            <a:off x="8092440" y="49377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4" name="Google Shape;54;p1"/>
          <p:cNvSpPr/>
          <p:nvPr/>
        </p:nvSpPr>
        <p:spPr>
          <a:xfrm>
            <a:off x="8092440" y="52120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 name="Google Shape;55;p1"/>
          <p:cNvSpPr/>
          <p:nvPr/>
        </p:nvSpPr>
        <p:spPr>
          <a:xfrm>
            <a:off x="8092440" y="54863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 name="Google Shape;56;p1"/>
          <p:cNvSpPr/>
          <p:nvPr/>
        </p:nvSpPr>
        <p:spPr>
          <a:xfrm>
            <a:off x="8092440" y="57607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 name="Google Shape;57;p1"/>
          <p:cNvSpPr/>
          <p:nvPr/>
        </p:nvSpPr>
        <p:spPr>
          <a:xfrm>
            <a:off x="8092440" y="60350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 name="Google Shape;58;p1"/>
          <p:cNvSpPr/>
          <p:nvPr/>
        </p:nvSpPr>
        <p:spPr>
          <a:xfrm>
            <a:off x="8092440" y="63093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 name="Google Shape;59;p1"/>
          <p:cNvSpPr/>
          <p:nvPr/>
        </p:nvSpPr>
        <p:spPr>
          <a:xfrm>
            <a:off x="8092440" y="65836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 name="Google Shape;60;p1"/>
          <p:cNvSpPr txBox="1"/>
          <p:nvPr/>
        </p:nvSpPr>
        <p:spPr>
          <a:xfrm>
            <a:off x="795528" y="566928"/>
            <a:ext cx="67665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RESEARCH PAPER</a:t>
            </a:r>
            <a:endParaRPr b="0" i="0" sz="1400" u="none" cap="none" strike="noStrike">
              <a:solidFill>
                <a:srgbClr val="000000"/>
              </a:solidFill>
              <a:latin typeface="Arial"/>
              <a:ea typeface="Arial"/>
              <a:cs typeface="Arial"/>
              <a:sym typeface="Arial"/>
            </a:endParaRPr>
          </a:p>
        </p:txBody>
      </p:sp>
      <p:sp>
        <p:nvSpPr>
          <p:cNvPr id="61" name="Google Shape;61;p1"/>
          <p:cNvSpPr txBox="1"/>
          <p:nvPr/>
        </p:nvSpPr>
        <p:spPr>
          <a:xfrm>
            <a:off x="795528" y="1938528"/>
            <a:ext cx="6949500" cy="1481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Retrieval-Augmented</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Generation of Ontologies</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from Relational Databases</a:t>
            </a:r>
            <a:endParaRPr b="0" i="0" sz="3000" u="none" cap="none" strike="noStrike">
              <a:solidFill>
                <a:srgbClr val="000000"/>
              </a:solidFill>
              <a:latin typeface="Arial"/>
              <a:ea typeface="Arial"/>
              <a:cs typeface="Arial"/>
              <a:sym typeface="Arial"/>
            </a:endParaRPr>
          </a:p>
        </p:txBody>
      </p:sp>
      <p:sp>
        <p:nvSpPr>
          <p:cNvPr id="62" name="Google Shape;62;p1"/>
          <p:cNvSpPr txBox="1"/>
          <p:nvPr/>
        </p:nvSpPr>
        <p:spPr>
          <a:xfrm>
            <a:off x="795528" y="6053328"/>
            <a:ext cx="69495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5B6770"/>
                </a:solidFill>
                <a:latin typeface="Consolas"/>
                <a:ea typeface="Consolas"/>
                <a:cs typeface="Consolas"/>
                <a:sym typeface="Consolas"/>
              </a:rPr>
              <a:t>PAPER  </a:t>
            </a:r>
            <a:r>
              <a:rPr b="0" i="0" lang="en-US" sz="1250" u="none" cap="none" strike="noStrike">
                <a:solidFill>
                  <a:srgbClr val="2F6B78"/>
                </a:solidFill>
                <a:latin typeface="Consolas"/>
                <a:ea typeface="Consolas"/>
                <a:cs typeface="Consolas"/>
                <a:sym typeface="Consolas"/>
              </a:rPr>
              <a:t>arXiv:2506.01232</a:t>
            </a:r>
            <a:r>
              <a:rPr b="1" i="0" lang="en-US" sz="1250" u="none" cap="none" strike="noStrike">
                <a:solidFill>
                  <a:srgbClr val="5B6770"/>
                </a:solidFill>
                <a:latin typeface="Consolas"/>
                <a:ea typeface="Consolas"/>
                <a:cs typeface="Consolas"/>
                <a:sym typeface="Consolas"/>
              </a:rPr>
              <a:t>        CODE  </a:t>
            </a:r>
            <a:r>
              <a:rPr b="0" i="0" lang="en-US" sz="1250" u="none" cap="none" strike="noStrike">
                <a:solidFill>
                  <a:srgbClr val="2F6B78"/>
                </a:solidFill>
                <a:latin typeface="Consolas"/>
                <a:ea typeface="Consolas"/>
                <a:cs typeface="Consolas"/>
                <a:sym typeface="Consolas"/>
              </a:rPr>
              <a:t>github.com/NadeenAhmad/RIGOR</a:t>
            </a:r>
            <a:endParaRPr b="0" i="0" sz="1250" u="none" cap="none" strike="noStrike">
              <a:solidFill>
                <a:srgbClr val="1F2328"/>
              </a:solidFill>
              <a:latin typeface="Arial"/>
              <a:ea typeface="Arial"/>
              <a:cs typeface="Arial"/>
              <a:sym typeface="Arial"/>
            </a:endParaRPr>
          </a:p>
        </p:txBody>
      </p:sp>
      <p:pic>
        <p:nvPicPr>
          <p:cNvPr descr="A relational table whose highlighted row is mapped by RIGOR to a node of an ontology graph" id="63" name="Google Shape;63;p1"/>
          <p:cNvPicPr preferRelativeResize="0"/>
          <p:nvPr/>
        </p:nvPicPr>
        <p:blipFill rotWithShape="1">
          <a:blip r:embed="rId3">
            <a:alphaModFix/>
          </a:blip>
          <a:srcRect b="0" l="0" r="0" t="0"/>
          <a:stretch/>
        </p:blipFill>
        <p:spPr>
          <a:xfrm>
            <a:off x="8427567" y="1325880"/>
            <a:ext cx="3428999" cy="3066584"/>
          </a:xfrm>
          <a:prstGeom prst="rect">
            <a:avLst/>
          </a:prstGeom>
          <a:noFill/>
          <a:ln>
            <a:noFill/>
          </a:ln>
        </p:spPr>
      </p:pic>
      <p:sp>
        <p:nvSpPr>
          <p:cNvPr id="64" name="Google Shape;64;p1"/>
          <p:cNvSpPr txBox="1"/>
          <p:nvPr/>
        </p:nvSpPr>
        <p:spPr>
          <a:xfrm>
            <a:off x="823325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65" name="Google Shape;65;p1"/>
          <p:cNvSpPr txBox="1"/>
          <p:nvPr/>
        </p:nvSpPr>
        <p:spPr>
          <a:xfrm>
            <a:off x="1011920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66" name="Google Shape;66;p1"/>
          <p:cNvSpPr txBox="1"/>
          <p:nvPr/>
        </p:nvSpPr>
        <p:spPr>
          <a:xfrm>
            <a:off x="768096" y="987552"/>
            <a:ext cx="67665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5400" u="none" cap="none" strike="noStrike">
                <a:solidFill>
                  <a:srgbClr val="0B6E4F"/>
                </a:solidFill>
                <a:latin typeface="Cambria"/>
                <a:ea typeface="Cambria"/>
                <a:cs typeface="Cambria"/>
                <a:sym typeface="Cambria"/>
              </a:rPr>
              <a:t>RIGOR</a:t>
            </a:r>
            <a:endParaRPr/>
          </a:p>
        </p:txBody>
      </p:sp>
      <p:sp>
        <p:nvSpPr>
          <p:cNvPr id="67" name="Google Shape;67;p1"/>
          <p:cNvSpPr txBox="1"/>
          <p:nvPr/>
        </p:nvSpPr>
        <p:spPr>
          <a:xfrm>
            <a:off x="795528" y="3822191"/>
            <a:ext cx="6949500" cy="960000"/>
          </a:xfrm>
          <a:prstGeom prst="rect">
            <a:avLst/>
          </a:prstGeom>
          <a:noFill/>
          <a:ln>
            <a:noFill/>
          </a:ln>
        </p:spPr>
        <p:txBody>
          <a:bodyPr anchorCtr="0" anchor="t" bIns="0" lIns="0" spcFirstLastPara="1" rIns="0" wrap="square" tIns="0">
            <a:noAutofit/>
          </a:bodyPr>
          <a:lstStyle/>
          <a:p>
            <a:pPr indent="0" lvl="0" marL="0" marR="0" rtl="0" algn="l">
              <a:lnSpc>
                <a:spcPct val="153333"/>
              </a:lnSpc>
              <a:spcBef>
                <a:spcPts val="0"/>
              </a:spcBef>
              <a:spcAft>
                <a:spcPts val="0"/>
              </a:spcAft>
              <a:buNone/>
            </a:pPr>
            <a:r>
              <a:rPr b="1" i="0" lang="en-US" sz="1500" u="none" cap="none" strike="noStrike">
                <a:solidFill>
                  <a:srgbClr val="1F2328"/>
                </a:solidFill>
                <a:latin typeface="Calibri"/>
                <a:ea typeface="Calibri"/>
                <a:cs typeface="Calibri"/>
                <a:sym typeface="Calibri"/>
              </a:rPr>
              <a:t>Nadeen Fathallah</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Mojtaba Nayyeri</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Athish A Yogi</a:t>
            </a:r>
            <a:r>
              <a:rPr b="1" baseline="30000" i="0" lang="en-US" sz="1500" u="none" cap="none" strike="noStrike">
                <a:solidFill>
                  <a:srgbClr val="0B6E4F"/>
                </a:solidFill>
                <a:latin typeface="Calibri"/>
                <a:ea typeface="Calibri"/>
                <a:cs typeface="Calibri"/>
                <a:sym typeface="Calibri"/>
              </a:rPr>
              <a:t>1</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Ratan Bahadur Thapa</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Hans-Michael Tautenhahn</a:t>
            </a:r>
            <a:r>
              <a:rPr b="1" baseline="30000" i="0" lang="en-US" sz="1500" u="none" cap="none" strike="noStrike">
                <a:solidFill>
                  <a:srgbClr val="0B6E4F"/>
                </a:solidFill>
                <a:latin typeface="Calibri"/>
                <a:ea typeface="Calibri"/>
                <a:cs typeface="Calibri"/>
                <a:sym typeface="Calibri"/>
              </a:rPr>
              <a:t>3</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Anton Schnurpel</a:t>
            </a:r>
            <a:r>
              <a:rPr b="1" baseline="30000" i="0" lang="en-US" sz="1500" u="none" cap="none" strike="noStrike">
                <a:solidFill>
                  <a:srgbClr val="0B6E4F"/>
                </a:solidFill>
                <a:latin typeface="Calibri"/>
                <a:ea typeface="Calibri"/>
                <a:cs typeface="Calibri"/>
                <a:sym typeface="Calibri"/>
              </a:rPr>
              <a:t>3</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Steffen Staab</a:t>
            </a:r>
            <a:r>
              <a:rPr b="1" baseline="30000" i="0" lang="en-US" sz="1500" u="none" cap="none" strike="noStrike">
                <a:solidFill>
                  <a:srgbClr val="0B6E4F"/>
                </a:solidFill>
                <a:latin typeface="Calibri"/>
                <a:ea typeface="Calibri"/>
                <a:cs typeface="Calibri"/>
                <a:sym typeface="Calibri"/>
              </a:rPr>
              <a:t>1,2</a:t>
            </a:r>
            <a:endParaRPr/>
          </a:p>
        </p:txBody>
      </p:sp>
      <p:sp>
        <p:nvSpPr>
          <p:cNvPr id="68" name="Google Shape;68;p1"/>
          <p:cNvSpPr txBox="1"/>
          <p:nvPr/>
        </p:nvSpPr>
        <p:spPr>
          <a:xfrm>
            <a:off x="795528" y="4919472"/>
            <a:ext cx="6949500" cy="731400"/>
          </a:xfrm>
          <a:prstGeom prst="rect">
            <a:avLst/>
          </a:prstGeom>
          <a:noFill/>
          <a:ln>
            <a:noFill/>
          </a:ln>
        </p:spPr>
        <p:txBody>
          <a:bodyPr anchorCtr="0" anchor="t" bIns="0" lIns="0" spcFirstLastPara="1" rIns="0" wrap="square" tIns="0">
            <a:noAutofit/>
          </a:bodyPr>
          <a:lstStyle/>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1</a:t>
            </a:r>
            <a:r>
              <a:rPr b="0" i="0" lang="en-US" sz="1200" u="none" cap="none" strike="noStrike">
                <a:solidFill>
                  <a:srgbClr val="5B6770"/>
                </a:solidFill>
                <a:latin typeface="Calibri"/>
                <a:ea typeface="Calibri"/>
                <a:cs typeface="Calibri"/>
                <a:sym typeface="Calibri"/>
              </a:rPr>
              <a:t> Institute for Artificial Intelligence, University of Stuttgart, Germany</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2</a:t>
            </a:r>
            <a:r>
              <a:rPr b="0" i="0" lang="en-US" sz="1200" u="none" cap="none" strike="noStrike">
                <a:solidFill>
                  <a:srgbClr val="5B6770"/>
                </a:solidFill>
                <a:latin typeface="Calibri"/>
                <a:ea typeface="Calibri"/>
                <a:cs typeface="Calibri"/>
                <a:sym typeface="Calibri"/>
              </a:rPr>
              <a:t> University of Southampton, United Kingdom</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3</a:t>
            </a:r>
            <a:r>
              <a:rPr b="0" i="0" lang="en-US" sz="1200" u="none" cap="none" strike="noStrike">
                <a:solidFill>
                  <a:srgbClr val="5B6770"/>
                </a:solidFill>
                <a:latin typeface="Calibri"/>
                <a:ea typeface="Calibri"/>
                <a:cs typeface="Calibri"/>
                <a:sym typeface="Calibri"/>
              </a:rPr>
              <a:t> Universitätsklinikum Leipzig, Germany</a:t>
            </a:r>
            <a:endParaRPr/>
          </a:p>
        </p:txBody>
      </p:sp>
      <p:sp>
        <p:nvSpPr>
          <p:cNvPr id="69" name="Google Shape;69;p1"/>
          <p:cNvSpPr/>
          <p:nvPr/>
        </p:nvSpPr>
        <p:spPr>
          <a:xfrm>
            <a:off x="10015194" y="2150512"/>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
        <p:nvSpPr>
          <p:cNvPr id="70" name="Google Shape;70;p1"/>
          <p:cNvSpPr txBox="1"/>
          <p:nvPr/>
        </p:nvSpPr>
        <p:spPr>
          <a:xfrm>
            <a:off x="8549640" y="5779008"/>
            <a:ext cx="3108900" cy="5670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a:t>
            </a:r>
            <a:endParaRPr/>
          </a:p>
          <a:p>
            <a:pPr indent="0" lvl="0" marL="0" marR="0" rtl="0" algn="l">
              <a:lnSpc>
                <a:spcPct val="153846"/>
              </a:lnSpc>
              <a:spcBef>
                <a:spcPts val="0"/>
              </a:spcBef>
              <a:spcAft>
                <a:spcPts val="0"/>
              </a:spcAft>
              <a:buNone/>
            </a:pPr>
            <a:r>
              <a:rPr b="0" i="0" lang="en-US" sz="1300" u="none" cap="none" strike="noStrike">
                <a:solidFill>
                  <a:srgbClr val="1F2328"/>
                </a:solidFill>
                <a:latin typeface="Calibri"/>
                <a:ea typeface="Calibri"/>
                <a:cs typeface="Calibri"/>
                <a:sym typeface="Calibri"/>
              </a:rPr>
              <a:t>Bari, Italy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sp>
        <p:nvSpPr>
          <p:cNvPr id="76" name="Google Shape;76;p2"/>
          <p:cNvSpPr txBox="1"/>
          <p:nvPr/>
        </p:nvSpPr>
        <p:spPr>
          <a:xfrm>
            <a:off x="804672"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MOTIVATION  /  ILLUSTRATIVE CLINICAL EXAMPLE</a:t>
            </a:r>
            <a:endParaRPr b="0" i="0" sz="1400" u="none" cap="none" strike="noStrike">
              <a:solidFill>
                <a:srgbClr val="000000"/>
              </a:solidFill>
              <a:latin typeface="Arial"/>
              <a:ea typeface="Arial"/>
              <a:cs typeface="Arial"/>
              <a:sym typeface="Arial"/>
            </a:endParaRPr>
          </a:p>
        </p:txBody>
      </p:sp>
      <p:sp>
        <p:nvSpPr>
          <p:cNvPr id="77" name="Google Shape;77;p2"/>
          <p:cNvSpPr txBox="1"/>
          <p:nvPr/>
        </p:nvSpPr>
        <p:spPr>
          <a:xfrm>
            <a:off x="804672" y="932688"/>
            <a:ext cx="10762500" cy="89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A database can tell us how data is stored.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Can it tell us what the data means?</a:t>
            </a:r>
            <a:endParaRPr b="0" i="0" sz="1400" u="none" cap="none" strike="noStrike">
              <a:solidFill>
                <a:srgbClr val="000000"/>
              </a:solidFill>
              <a:latin typeface="Arial"/>
              <a:ea typeface="Arial"/>
              <a:cs typeface="Arial"/>
              <a:sym typeface="Arial"/>
            </a:endParaRPr>
          </a:p>
        </p:txBody>
      </p:sp>
      <p:sp>
        <p:nvSpPr>
          <p:cNvPr id="78" name="Google Shape;78;p2"/>
          <p:cNvSpPr/>
          <p:nvPr/>
        </p:nvSpPr>
        <p:spPr>
          <a:xfrm>
            <a:off x="804672" y="2048256"/>
            <a:ext cx="5486400" cy="327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 name="Google Shape;79;p2"/>
          <p:cNvSpPr txBox="1"/>
          <p:nvPr/>
        </p:nvSpPr>
        <p:spPr>
          <a:xfrm>
            <a:off x="1069848" y="2276856"/>
            <a:ext cx="49287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5B6770"/>
                </a:solidFill>
                <a:latin typeface="Consolas"/>
                <a:ea typeface="Consolas"/>
                <a:cs typeface="Consolas"/>
                <a:sym typeface="Consolas"/>
              </a:rPr>
              <a:t>RELATIONAL SCHEMA · EXCERPT</a:t>
            </a:r>
            <a:endParaRPr b="0" i="0" sz="1400" u="none" cap="none" strike="noStrike">
              <a:solidFill>
                <a:srgbClr val="000000"/>
              </a:solidFill>
              <a:latin typeface="Arial"/>
              <a:ea typeface="Arial"/>
              <a:cs typeface="Arial"/>
              <a:sym typeface="Arial"/>
            </a:endParaRPr>
          </a:p>
        </p:txBody>
      </p:sp>
      <p:sp>
        <p:nvSpPr>
          <p:cNvPr id="80" name="Google Shape;80;p2"/>
          <p:cNvSpPr txBox="1"/>
          <p:nvPr/>
        </p:nvSpPr>
        <p:spPr>
          <a:xfrm>
            <a:off x="6665976" y="2176272"/>
            <a:ext cx="4809600" cy="292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STILL NEED TO UNDERSTAND</a:t>
            </a:r>
            <a:endParaRPr b="0" i="0" sz="1400" u="none" cap="none" strike="noStrike">
              <a:solidFill>
                <a:srgbClr val="000000"/>
              </a:solidFill>
              <a:latin typeface="Arial"/>
              <a:ea typeface="Arial"/>
              <a:cs typeface="Arial"/>
              <a:sym typeface="Arial"/>
            </a:endParaRPr>
          </a:p>
        </p:txBody>
      </p:sp>
      <p:sp>
        <p:nvSpPr>
          <p:cNvPr id="81" name="Google Shape;81;p2"/>
          <p:cNvSpPr/>
          <p:nvPr/>
        </p:nvSpPr>
        <p:spPr>
          <a:xfrm>
            <a:off x="6684264" y="26426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 name="Google Shape;82;p2"/>
          <p:cNvSpPr/>
          <p:nvPr/>
        </p:nvSpPr>
        <p:spPr>
          <a:xfrm>
            <a:off x="6858000" y="28803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 name="Google Shape;83;p2"/>
          <p:cNvSpPr txBox="1"/>
          <p:nvPr/>
        </p:nvSpPr>
        <p:spPr>
          <a:xfrm>
            <a:off x="6858354" y="29165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01</a:t>
            </a:r>
            <a:endParaRPr b="0" i="0" sz="1400" u="none" cap="none" strike="noStrike">
              <a:solidFill>
                <a:srgbClr val="000000"/>
              </a:solidFill>
              <a:latin typeface="Arial"/>
              <a:ea typeface="Arial"/>
              <a:cs typeface="Arial"/>
              <a:sym typeface="Arial"/>
            </a:endParaRPr>
          </a:p>
        </p:txBody>
      </p:sp>
      <p:sp>
        <p:nvSpPr>
          <p:cNvPr id="84" name="Google Shape;84;p2"/>
          <p:cNvSpPr txBox="1"/>
          <p:nvPr/>
        </p:nvSpPr>
        <p:spPr>
          <a:xfrm>
            <a:off x="7324344" y="29024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patient_id</a:t>
            </a:r>
            <a:endParaRPr b="0" i="0" sz="1400" u="none" cap="none" strike="noStrike">
              <a:solidFill>
                <a:srgbClr val="000000"/>
              </a:solidFill>
              <a:latin typeface="Arial"/>
              <a:ea typeface="Arial"/>
              <a:cs typeface="Arial"/>
              <a:sym typeface="Arial"/>
            </a:endParaRPr>
          </a:p>
        </p:txBody>
      </p:sp>
      <p:sp>
        <p:nvSpPr>
          <p:cNvPr id="85" name="Google Shape;85;p2"/>
          <p:cNvSpPr txBox="1"/>
          <p:nvPr/>
        </p:nvSpPr>
        <p:spPr>
          <a:xfrm>
            <a:off x="8677656" y="2752344"/>
            <a:ext cx="25968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0" i="0" lang="en-US" sz="1450" u="none" cap="none" strike="noStrike">
                <a:solidFill>
                  <a:srgbClr val="1F2328"/>
                </a:solidFill>
                <a:latin typeface="Calibri"/>
                <a:ea typeface="Calibri"/>
                <a:cs typeface="Calibri"/>
                <a:sym typeface="Calibri"/>
              </a:rPr>
              <a:t>How do we represent the </a:t>
            </a:r>
            <a:r>
              <a:rPr b="1" i="0" lang="en-US" sz="1450" u="none" cap="none" strike="noStrike">
                <a:solidFill>
                  <a:srgbClr val="1F2328"/>
                </a:solidFill>
                <a:latin typeface="Calibri"/>
                <a:ea typeface="Calibri"/>
                <a:cs typeface="Calibri"/>
                <a:sym typeface="Calibri"/>
              </a:rPr>
              <a:t>link</a:t>
            </a:r>
            <a:endParaRPr b="1" i="0" sz="1400" u="none" cap="none" strike="noStrike">
              <a:solidFill>
                <a:srgbClr val="000000"/>
              </a:solidFill>
            </a:endParaRPr>
          </a:p>
          <a:p>
            <a:pPr indent="0" lvl="0" marL="0" marR="0" rtl="0" algn="l">
              <a:lnSpc>
                <a:spcPct val="100000"/>
              </a:lnSpc>
              <a:spcBef>
                <a:spcPts val="0"/>
              </a:spcBef>
              <a:spcAft>
                <a:spcPts val="0"/>
              </a:spcAft>
              <a:buNone/>
            </a:pPr>
            <a:r>
              <a:rPr b="0" i="0" lang="en-US" sz="1450" u="none" cap="none" strike="noStrike">
                <a:solidFill>
                  <a:srgbClr val="1F2328"/>
                </a:solidFill>
                <a:latin typeface="Calibri"/>
                <a:ea typeface="Calibri"/>
                <a:cs typeface="Calibri"/>
                <a:sym typeface="Calibri"/>
              </a:rPr>
              <a:t>from an </a:t>
            </a:r>
            <a:r>
              <a:rPr b="1" i="0" lang="en-US" sz="1450" u="none" cap="none" strike="noStrike">
                <a:solidFill>
                  <a:srgbClr val="1F2328"/>
                </a:solidFill>
                <a:latin typeface="Calibri"/>
                <a:ea typeface="Calibri"/>
                <a:cs typeface="Calibri"/>
                <a:sym typeface="Calibri"/>
              </a:rPr>
              <a:t>admission</a:t>
            </a:r>
            <a:r>
              <a:rPr b="0" i="0" lang="en-US" sz="1450" u="none" cap="none" strike="noStrike">
                <a:solidFill>
                  <a:srgbClr val="1F2328"/>
                </a:solidFill>
                <a:latin typeface="Calibri"/>
                <a:ea typeface="Calibri"/>
                <a:cs typeface="Calibri"/>
                <a:sym typeface="Calibri"/>
              </a:rPr>
              <a:t> to its </a:t>
            </a:r>
            <a:r>
              <a:rPr b="1" i="0" lang="en-US" sz="1450" u="none" cap="none" strike="noStrike">
                <a:solidFill>
                  <a:srgbClr val="1F2328"/>
                </a:solidFill>
                <a:latin typeface="Calibri"/>
                <a:ea typeface="Calibri"/>
                <a:cs typeface="Calibri"/>
                <a:sym typeface="Calibri"/>
              </a:rPr>
              <a:t>patient</a:t>
            </a:r>
            <a:r>
              <a:rPr b="0" i="0" lang="en-US" sz="1450" u="none" cap="none" strike="noStrike">
                <a:solidFill>
                  <a:srgbClr val="1F2328"/>
                </a:solidFill>
                <a:latin typeface="Calibri"/>
                <a:ea typeface="Calibri"/>
                <a:cs typeface="Calibri"/>
                <a:sym typeface="Calibri"/>
              </a:rPr>
              <a:t>?</a:t>
            </a:r>
            <a:endParaRPr/>
          </a:p>
        </p:txBody>
      </p:sp>
      <p:sp>
        <p:nvSpPr>
          <p:cNvPr id="86" name="Google Shape;86;p2"/>
          <p:cNvSpPr/>
          <p:nvPr/>
        </p:nvSpPr>
        <p:spPr>
          <a:xfrm>
            <a:off x="6684264" y="35570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 name="Google Shape;87;p2"/>
          <p:cNvSpPr/>
          <p:nvPr/>
        </p:nvSpPr>
        <p:spPr>
          <a:xfrm>
            <a:off x="6858000" y="37947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 name="Google Shape;88;p2"/>
          <p:cNvSpPr txBox="1"/>
          <p:nvPr/>
        </p:nvSpPr>
        <p:spPr>
          <a:xfrm>
            <a:off x="6858354" y="38309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02</a:t>
            </a:r>
            <a:endParaRPr b="0" i="0" sz="1400" u="none" cap="none" strike="noStrike">
              <a:solidFill>
                <a:srgbClr val="000000"/>
              </a:solidFill>
              <a:latin typeface="Arial"/>
              <a:ea typeface="Arial"/>
              <a:cs typeface="Arial"/>
              <a:sym typeface="Arial"/>
            </a:endParaRPr>
          </a:p>
        </p:txBody>
      </p:sp>
      <p:sp>
        <p:nvSpPr>
          <p:cNvPr id="89" name="Google Shape;89;p2"/>
          <p:cNvSpPr txBox="1"/>
          <p:nvPr/>
        </p:nvSpPr>
        <p:spPr>
          <a:xfrm>
            <a:off x="7324344" y="38168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BM_DEP</a:t>
            </a:r>
            <a:endParaRPr b="0" i="0" sz="1400" u="none" cap="none" strike="noStrike">
              <a:solidFill>
                <a:srgbClr val="000000"/>
              </a:solidFill>
              <a:latin typeface="Arial"/>
              <a:ea typeface="Arial"/>
              <a:cs typeface="Arial"/>
              <a:sym typeface="Arial"/>
            </a:endParaRPr>
          </a:p>
        </p:txBody>
      </p:sp>
      <p:sp>
        <p:nvSpPr>
          <p:cNvPr id="90" name="Google Shape;90;p2"/>
          <p:cNvSpPr txBox="1"/>
          <p:nvPr/>
        </p:nvSpPr>
        <p:spPr>
          <a:xfrm>
            <a:off x="8695944" y="36393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Which </a:t>
            </a:r>
            <a:r>
              <a:rPr b="1" i="0" lang="en-US" sz="1500" u="none" cap="none" strike="noStrike">
                <a:solidFill>
                  <a:srgbClr val="1F2328"/>
                </a:solidFill>
                <a:latin typeface="Calibri"/>
                <a:ea typeface="Calibri"/>
                <a:cs typeface="Calibri"/>
                <a:sym typeface="Calibri"/>
              </a:rPr>
              <a:t>clinical</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concept</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does this </a:t>
            </a:r>
            <a:r>
              <a:rPr b="1" i="0" lang="en-US" sz="1500" u="none" cap="none" strike="noStrike">
                <a:solidFill>
                  <a:srgbClr val="1F2328"/>
                </a:solidFill>
                <a:latin typeface="Calibri"/>
                <a:ea typeface="Calibri"/>
                <a:cs typeface="Calibri"/>
                <a:sym typeface="Calibri"/>
              </a:rPr>
              <a:t>abbreviation</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1" name="Google Shape;91;p2"/>
          <p:cNvSpPr/>
          <p:nvPr/>
        </p:nvSpPr>
        <p:spPr>
          <a:xfrm>
            <a:off x="6684264" y="44714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 name="Google Shape;92;p2"/>
          <p:cNvSpPr/>
          <p:nvPr/>
        </p:nvSpPr>
        <p:spPr>
          <a:xfrm>
            <a:off x="6858000" y="47091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2"/>
          <p:cNvSpPr txBox="1"/>
          <p:nvPr/>
        </p:nvSpPr>
        <p:spPr>
          <a:xfrm>
            <a:off x="6858354" y="47453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03</a:t>
            </a:r>
            <a:endParaRPr b="0" i="0" sz="1400" u="none" cap="none" strike="noStrike">
              <a:solidFill>
                <a:srgbClr val="000000"/>
              </a:solidFill>
              <a:latin typeface="Arial"/>
              <a:ea typeface="Arial"/>
              <a:cs typeface="Arial"/>
              <a:sym typeface="Arial"/>
            </a:endParaRPr>
          </a:p>
        </p:txBody>
      </p:sp>
      <p:sp>
        <p:nvSpPr>
          <p:cNvPr id="94" name="Google Shape;94;p2"/>
          <p:cNvSpPr txBox="1"/>
          <p:nvPr/>
        </p:nvSpPr>
        <p:spPr>
          <a:xfrm>
            <a:off x="7324344" y="47312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ecog_stage</a:t>
            </a:r>
            <a:endParaRPr b="0" i="0" sz="1400" u="none" cap="none" strike="noStrike">
              <a:solidFill>
                <a:srgbClr val="000000"/>
              </a:solidFill>
              <a:latin typeface="Arial"/>
              <a:ea typeface="Arial"/>
              <a:cs typeface="Arial"/>
              <a:sym typeface="Arial"/>
            </a:endParaRPr>
          </a:p>
        </p:txBody>
      </p:sp>
      <p:sp>
        <p:nvSpPr>
          <p:cNvPr id="95" name="Google Shape;95;p2"/>
          <p:cNvSpPr txBox="1"/>
          <p:nvPr/>
        </p:nvSpPr>
        <p:spPr>
          <a:xfrm>
            <a:off x="8695944" y="45537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What do the </a:t>
            </a:r>
            <a:r>
              <a:rPr b="1" i="0" lang="en-US" sz="1500" u="none" cap="none" strike="noStrike">
                <a:solidFill>
                  <a:srgbClr val="1F2328"/>
                </a:solidFill>
                <a:latin typeface="Calibri"/>
                <a:ea typeface="Calibri"/>
                <a:cs typeface="Calibri"/>
                <a:sym typeface="Calibri"/>
              </a:rPr>
              <a:t>encoded</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score </a:t>
            </a:r>
            <a:r>
              <a:rPr b="1" i="0" lang="en-US" sz="1500" u="none" cap="none" strike="noStrike">
                <a:solidFill>
                  <a:srgbClr val="1F2328"/>
                </a:solidFill>
                <a:latin typeface="Calibri"/>
                <a:ea typeface="Calibri"/>
                <a:cs typeface="Calibri"/>
                <a:sym typeface="Calibri"/>
              </a:rPr>
              <a:t>values</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 name="Google Shape;96;p2"/>
          <p:cNvSpPr txBox="1"/>
          <p:nvPr/>
        </p:nvSpPr>
        <p:spPr>
          <a:xfrm>
            <a:off x="804672" y="5632704"/>
            <a:ext cx="105888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b="0" i="0" sz="1400" u="none" cap="none" strike="noStrike">
              <a:solidFill>
                <a:srgbClr val="000000"/>
              </a:solidFill>
              <a:latin typeface="Arial"/>
              <a:ea typeface="Arial"/>
              <a:cs typeface="Arial"/>
              <a:sym typeface="Arial"/>
            </a:endParaRPr>
          </a:p>
        </p:txBody>
      </p:sp>
      <p:sp>
        <p:nvSpPr>
          <p:cNvPr id="97" name="Google Shape;97;p2"/>
          <p:cNvSpPr/>
          <p:nvPr/>
        </p:nvSpPr>
        <p:spPr>
          <a:xfrm>
            <a:off x="1051560" y="3023122"/>
            <a:ext cx="1883700" cy="1673400"/>
          </a:xfrm>
          <a:prstGeom prst="roundRect">
            <a:avLst>
              <a:gd fmla="val 16667" name="adj"/>
            </a:avLst>
          </a:prstGeom>
          <a:solidFill>
            <a:srgbClr val="E9EE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8" name="Google Shape;98;p2"/>
          <p:cNvSpPr txBox="1"/>
          <p:nvPr/>
        </p:nvSpPr>
        <p:spPr>
          <a:xfrm>
            <a:off x="1197864" y="3132850"/>
            <a:ext cx="16551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u="none" cap="none" strike="noStrike">
                <a:solidFill>
                  <a:srgbClr val="1F2328"/>
                </a:solidFill>
                <a:latin typeface="Calibri"/>
                <a:ea typeface="Calibri"/>
                <a:cs typeface="Calibri"/>
                <a:sym typeface="Calibri"/>
              </a:rPr>
              <a:t>PatientData</a:t>
            </a:r>
            <a:endParaRPr/>
          </a:p>
        </p:txBody>
      </p:sp>
      <p:cxnSp>
        <p:nvCxnSpPr>
          <p:cNvPr id="99" name="Google Shape;99;p2"/>
          <p:cNvCxnSpPr/>
          <p:nvPr/>
        </p:nvCxnSpPr>
        <p:spPr>
          <a:xfrm>
            <a:off x="1188720" y="3516898"/>
            <a:ext cx="1609200" cy="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00" name="Google Shape;100;p2"/>
          <p:cNvSpPr txBox="1"/>
          <p:nvPr/>
        </p:nvSpPr>
        <p:spPr>
          <a:xfrm>
            <a:off x="1197864" y="3626626"/>
            <a:ext cx="10974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patient_id</a:t>
            </a:r>
            <a:endParaRPr/>
          </a:p>
        </p:txBody>
      </p:sp>
      <p:sp>
        <p:nvSpPr>
          <p:cNvPr id="101" name="Google Shape;101;p2"/>
          <p:cNvSpPr txBox="1"/>
          <p:nvPr/>
        </p:nvSpPr>
        <p:spPr>
          <a:xfrm>
            <a:off x="2468880" y="3626626"/>
            <a:ext cx="301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PK</a:t>
            </a:r>
            <a:endParaRPr/>
          </a:p>
        </p:txBody>
      </p:sp>
      <p:cxnSp>
        <p:nvCxnSpPr>
          <p:cNvPr id="102" name="Google Shape;102;p2"/>
          <p:cNvCxnSpPr/>
          <p:nvPr/>
        </p:nvCxnSpPr>
        <p:spPr>
          <a:xfrm rot="10800000">
            <a:off x="2943287" y="3763786"/>
            <a:ext cx="466200" cy="0"/>
          </a:xfrm>
          <a:prstGeom prst="straightConnector1">
            <a:avLst/>
          </a:prstGeom>
          <a:noFill/>
          <a:ln cap="flat" cmpd="sng" w="31750">
            <a:solidFill>
              <a:srgbClr val="3A7D8C"/>
            </a:solidFill>
            <a:prstDash val="solid"/>
            <a:round/>
            <a:headEnd len="sm" w="sm" type="none"/>
            <a:tailEnd len="sm" w="sm" type="none"/>
          </a:ln>
          <a:effectLst>
            <a:outerShdw blurRad="40000" rotWithShape="0" dir="5400000" dist="20000">
              <a:srgbClr val="000000">
                <a:alpha val="38040"/>
              </a:srgbClr>
            </a:outerShdw>
          </a:effectLst>
        </p:spPr>
      </p:cxnSp>
      <p:sp>
        <p:nvSpPr>
          <p:cNvPr id="103" name="Google Shape;103;p2"/>
          <p:cNvSpPr/>
          <p:nvPr/>
        </p:nvSpPr>
        <p:spPr>
          <a:xfrm rot="-5400000">
            <a:off x="2825568" y="3690610"/>
            <a:ext cx="155400" cy="146400"/>
          </a:xfrm>
          <a:prstGeom prst="triangle">
            <a:avLst>
              <a:gd fmla="val 50000" name="adj"/>
            </a:avLst>
          </a:prstGeom>
          <a:solidFill>
            <a:srgbClr val="3A7D8C"/>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4" name="Google Shape;104;p2"/>
          <p:cNvSpPr txBox="1"/>
          <p:nvPr/>
        </p:nvSpPr>
        <p:spPr>
          <a:xfrm>
            <a:off x="1097280" y="4892040"/>
            <a:ext cx="4937700" cy="20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320" u="none" cap="none" strike="noStrike">
                <a:solidFill>
                  <a:srgbClr val="1F2328"/>
                </a:solidFill>
                <a:latin typeface="Calibri"/>
                <a:ea typeface="Calibri"/>
                <a:cs typeface="Calibri"/>
                <a:sym typeface="Calibri"/>
              </a:rPr>
              <a:t>The FK links an </a:t>
            </a:r>
            <a:r>
              <a:rPr b="1" i="0" lang="en-US" sz="1320" u="none" cap="none" strike="noStrike">
                <a:solidFill>
                  <a:srgbClr val="1F2328"/>
                </a:solidFill>
                <a:latin typeface="Calibri"/>
                <a:ea typeface="Calibri"/>
                <a:cs typeface="Calibri"/>
                <a:sym typeface="Calibri"/>
              </a:rPr>
              <a:t>admission</a:t>
            </a:r>
            <a:r>
              <a:rPr b="0" i="0" lang="en-US" sz="1320" u="none" cap="none" strike="noStrike">
                <a:solidFill>
                  <a:srgbClr val="1F2328"/>
                </a:solidFill>
                <a:latin typeface="Calibri"/>
                <a:ea typeface="Calibri"/>
                <a:cs typeface="Calibri"/>
                <a:sym typeface="Calibri"/>
              </a:rPr>
              <a:t> to a </a:t>
            </a:r>
            <a:r>
              <a:rPr b="1" i="0" lang="en-US" sz="1320" u="none" cap="none" strike="noStrike">
                <a:solidFill>
                  <a:srgbClr val="1F2328"/>
                </a:solidFill>
                <a:latin typeface="Calibri"/>
                <a:ea typeface="Calibri"/>
                <a:cs typeface="Calibri"/>
                <a:sym typeface="Calibri"/>
              </a:rPr>
              <a:t>patient</a:t>
            </a:r>
            <a:r>
              <a:rPr b="0" i="0" lang="en-US" sz="1320" u="none" cap="none" strike="noStrike">
                <a:solidFill>
                  <a:srgbClr val="1F2328"/>
                </a:solidFill>
                <a:latin typeface="Calibri"/>
                <a:ea typeface="Calibri"/>
                <a:cs typeface="Calibri"/>
                <a:sym typeface="Calibri"/>
              </a:rPr>
              <a:t>.</a:t>
            </a:r>
            <a:endParaRPr/>
          </a:p>
        </p:txBody>
      </p:sp>
      <p:sp>
        <p:nvSpPr>
          <p:cNvPr id="105" name="Google Shape;105;p2"/>
          <p:cNvSpPr txBox="1"/>
          <p:nvPr/>
        </p:nvSpPr>
        <p:spPr>
          <a:xfrm>
            <a:off x="1197864" y="3974098"/>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age</a:t>
            </a:r>
            <a:endParaRPr/>
          </a:p>
        </p:txBody>
      </p:sp>
      <p:sp>
        <p:nvSpPr>
          <p:cNvPr id="106" name="Google Shape;106;p2"/>
          <p:cNvSpPr txBox="1"/>
          <p:nvPr/>
        </p:nvSpPr>
        <p:spPr>
          <a:xfrm>
            <a:off x="2441448" y="3974098"/>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INT</a:t>
            </a:r>
            <a:endParaRPr/>
          </a:p>
        </p:txBody>
      </p:sp>
      <p:sp>
        <p:nvSpPr>
          <p:cNvPr id="107" name="Google Shape;107;p2"/>
          <p:cNvSpPr txBox="1"/>
          <p:nvPr/>
        </p:nvSpPr>
        <p:spPr>
          <a:xfrm>
            <a:off x="1197864" y="4321570"/>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gender</a:t>
            </a:r>
            <a:endParaRPr/>
          </a:p>
        </p:txBody>
      </p:sp>
      <p:sp>
        <p:nvSpPr>
          <p:cNvPr id="108" name="Google Shape;108;p2"/>
          <p:cNvSpPr txBox="1"/>
          <p:nvPr/>
        </p:nvSpPr>
        <p:spPr>
          <a:xfrm>
            <a:off x="2441448" y="4321570"/>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TEXT</a:t>
            </a:r>
            <a:endParaRPr/>
          </a:p>
        </p:txBody>
      </p:sp>
      <p:sp>
        <p:nvSpPr>
          <p:cNvPr id="109" name="Google Shape;109;p2"/>
          <p:cNvSpPr/>
          <p:nvPr/>
        </p:nvSpPr>
        <p:spPr>
          <a:xfrm>
            <a:off x="3422401" y="2739218"/>
            <a:ext cx="2317800" cy="1876500"/>
          </a:xfrm>
          <a:prstGeom prst="roundRect">
            <a:avLst>
              <a:gd fmla="val 9000" name="adj"/>
            </a:avLst>
          </a:prstGeom>
          <a:solidFill>
            <a:srgbClr val="E9EEEB"/>
          </a:solidFill>
          <a:ln>
            <a:noFill/>
          </a:ln>
          <a:effectLst>
            <a:outerShdw blurRad="66830" rotWithShape="0" algn="t" dir="5400000" dist="22277">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28"/>
              <a:buFont typeface="Arial"/>
              <a:buNone/>
            </a:pPr>
            <a:r>
              <a:t/>
            </a:r>
            <a:endParaRPr b="0" i="0" sz="1228" u="none" cap="none" strike="noStrike">
              <a:solidFill>
                <a:srgbClr val="000000"/>
              </a:solidFill>
              <a:latin typeface="Arial"/>
              <a:ea typeface="Arial"/>
              <a:cs typeface="Arial"/>
              <a:sym typeface="Arial"/>
            </a:endParaRPr>
          </a:p>
        </p:txBody>
      </p:sp>
      <p:sp>
        <p:nvSpPr>
          <p:cNvPr id="110" name="Google Shape;110;p2"/>
          <p:cNvSpPr txBox="1"/>
          <p:nvPr/>
        </p:nvSpPr>
        <p:spPr>
          <a:xfrm>
            <a:off x="3566754" y="2835453"/>
            <a:ext cx="20448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42"/>
              <a:buFont typeface="Arial"/>
              <a:buNone/>
            </a:pPr>
            <a:r>
              <a:rPr b="1" i="0" lang="en-US" sz="1900" u="none" cap="none" strike="noStrike">
                <a:solidFill>
                  <a:srgbClr val="1F2328"/>
                </a:solidFill>
                <a:latin typeface="Calibri"/>
                <a:ea typeface="Calibri"/>
                <a:cs typeface="Calibri"/>
                <a:sym typeface="Calibri"/>
              </a:rPr>
              <a:t>admission</a:t>
            </a:r>
            <a:endParaRPr b="0" i="0" sz="1900" u="none" cap="none" strike="noStrike">
              <a:solidFill>
                <a:srgbClr val="000000"/>
              </a:solidFill>
              <a:latin typeface="Arial"/>
              <a:ea typeface="Arial"/>
              <a:cs typeface="Arial"/>
              <a:sym typeface="Arial"/>
            </a:endParaRPr>
          </a:p>
        </p:txBody>
      </p:sp>
      <p:sp>
        <p:nvSpPr>
          <p:cNvPr id="111" name="Google Shape;111;p2"/>
          <p:cNvSpPr/>
          <p:nvPr/>
        </p:nvSpPr>
        <p:spPr>
          <a:xfrm>
            <a:off x="3566754" y="3316628"/>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admission_id</a:t>
            </a:r>
            <a:endParaRPr b="0" i="0" sz="1500" u="none" cap="none" strike="noStrike">
              <a:solidFill>
                <a:srgbClr val="000000"/>
              </a:solidFill>
              <a:latin typeface="Arial"/>
              <a:ea typeface="Arial"/>
              <a:cs typeface="Arial"/>
              <a:sym typeface="Arial"/>
            </a:endParaRPr>
          </a:p>
        </p:txBody>
      </p:sp>
      <p:sp>
        <p:nvSpPr>
          <p:cNvPr id="112" name="Google Shape;112;p2"/>
          <p:cNvSpPr/>
          <p:nvPr/>
        </p:nvSpPr>
        <p:spPr>
          <a:xfrm>
            <a:off x="3566754" y="3621373"/>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patient_id</a:t>
            </a:r>
            <a:endParaRPr b="0" i="0" sz="1500" u="none" cap="none" strike="noStrike">
              <a:solidFill>
                <a:srgbClr val="000000"/>
              </a:solidFill>
              <a:latin typeface="Arial"/>
              <a:ea typeface="Arial"/>
              <a:cs typeface="Arial"/>
              <a:sym typeface="Arial"/>
            </a:endParaRPr>
          </a:p>
        </p:txBody>
      </p:sp>
      <p:sp>
        <p:nvSpPr>
          <p:cNvPr id="113" name="Google Shape;113;p2"/>
          <p:cNvSpPr/>
          <p:nvPr/>
        </p:nvSpPr>
        <p:spPr>
          <a:xfrm>
            <a:off x="4938104" y="3316628"/>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PK</a:t>
            </a:r>
            <a:endParaRPr b="0" i="0" u="none" cap="none" strike="noStrike">
              <a:solidFill>
                <a:srgbClr val="000000"/>
              </a:solidFill>
              <a:latin typeface="Arial"/>
              <a:ea typeface="Arial"/>
              <a:cs typeface="Arial"/>
              <a:sym typeface="Arial"/>
            </a:endParaRPr>
          </a:p>
        </p:txBody>
      </p:sp>
      <p:sp>
        <p:nvSpPr>
          <p:cNvPr id="114" name="Google Shape;114;p2"/>
          <p:cNvSpPr/>
          <p:nvPr/>
        </p:nvSpPr>
        <p:spPr>
          <a:xfrm>
            <a:off x="4938104" y="3621373"/>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FK</a:t>
            </a:r>
            <a:endParaRPr b="0" i="0" u="none" cap="none" strike="noStrike">
              <a:solidFill>
                <a:srgbClr val="000000"/>
              </a:solidFill>
              <a:latin typeface="Arial"/>
              <a:ea typeface="Arial"/>
              <a:cs typeface="Arial"/>
              <a:sym typeface="Arial"/>
            </a:endParaRPr>
          </a:p>
        </p:txBody>
      </p:sp>
      <p:sp>
        <p:nvSpPr>
          <p:cNvPr id="115" name="Google Shape;115;p2"/>
          <p:cNvSpPr/>
          <p:nvPr/>
        </p:nvSpPr>
        <p:spPr>
          <a:xfrm>
            <a:off x="3566754" y="3926117"/>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BM_DEP</a:t>
            </a:r>
            <a:endParaRPr b="0" i="0" sz="1500" u="none" cap="none" strike="noStrike">
              <a:solidFill>
                <a:srgbClr val="000000"/>
              </a:solidFill>
              <a:latin typeface="Arial"/>
              <a:ea typeface="Arial"/>
              <a:cs typeface="Arial"/>
              <a:sym typeface="Arial"/>
            </a:endParaRPr>
          </a:p>
        </p:txBody>
      </p:sp>
      <p:sp>
        <p:nvSpPr>
          <p:cNvPr id="116" name="Google Shape;116;p2"/>
          <p:cNvSpPr/>
          <p:nvPr/>
        </p:nvSpPr>
        <p:spPr>
          <a:xfrm>
            <a:off x="4938104" y="3926117"/>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sp>
        <p:nvSpPr>
          <p:cNvPr id="117" name="Google Shape;117;p2"/>
          <p:cNvSpPr/>
          <p:nvPr/>
        </p:nvSpPr>
        <p:spPr>
          <a:xfrm>
            <a:off x="3566754" y="4230861"/>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ecog_stage</a:t>
            </a:r>
            <a:endParaRPr b="0" i="0" sz="1500" u="none" cap="none" strike="noStrike">
              <a:solidFill>
                <a:srgbClr val="000000"/>
              </a:solidFill>
              <a:latin typeface="Arial"/>
              <a:ea typeface="Arial"/>
              <a:cs typeface="Arial"/>
              <a:sym typeface="Arial"/>
            </a:endParaRPr>
          </a:p>
        </p:txBody>
      </p:sp>
      <p:sp>
        <p:nvSpPr>
          <p:cNvPr id="118" name="Google Shape;118;p2"/>
          <p:cNvSpPr/>
          <p:nvPr/>
        </p:nvSpPr>
        <p:spPr>
          <a:xfrm>
            <a:off x="4938104" y="4230861"/>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cxnSp>
        <p:nvCxnSpPr>
          <p:cNvPr id="119" name="Google Shape;119;p2"/>
          <p:cNvCxnSpPr/>
          <p:nvPr/>
        </p:nvCxnSpPr>
        <p:spPr>
          <a:xfrm flipH="1" rot="10800000">
            <a:off x="3463857" y="3261622"/>
            <a:ext cx="2144400" cy="30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20" name="Slide number 12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h4e1cd23050cdd6e6_1_287"/>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26" name="Google Shape;126;h4e1cd23050cdd6e6_1_287"/>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27" name="Google Shape;127;h4e1cd23050cdd6e6_1_287"/>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h4e1cd23050cdd6e6_1_287"/>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29" name="Google Shape;129;h4e1cd23050cdd6e6_1_287"/>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h4e1cd23050cdd6e6_1_287"/>
          <p:cNvSpPr/>
          <p:nvPr/>
        </p:nvSpPr>
        <p:spPr>
          <a:xfrm>
            <a:off x="4754880" y="2057400"/>
            <a:ext cx="6656700" cy="4453200"/>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 name="Google Shape;131;h4e1cd23050cdd6e6_1_287"/>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32" name="Google Shape;132;h4e1cd23050cdd6e6_1_287"/>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h4e1cd23050cdd6e6_1_287"/>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34" name="Google Shape;134;h4e1cd23050cdd6e6_1_287"/>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35" name="Google Shape;135;h4e1cd23050cdd6e6_1_287"/>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36" name="Google Shape;136;h4e1cd23050cdd6e6_1_287"/>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37" name="Google Shape;137;h4e1cd23050cdd6e6_1_287"/>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38" name="Google Shape;138;h4e1cd23050cdd6e6_1_287"/>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39" name="Google Shape;139;h4e1cd23050cdd6e6_1_287"/>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40" name="Google Shape;140;h4e1cd23050cdd6e6_1_287"/>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1" name="Google Shape;141;h4e1cd23050cdd6e6_1_287"/>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42" name="Google Shape;142;h4e1cd23050cdd6e6_1_287"/>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3" name="Google Shape;143;h4e1cd23050cdd6e6_1_287"/>
          <p:cNvSpPr/>
          <p:nvPr/>
        </p:nvSpPr>
        <p:spPr>
          <a:xfrm>
            <a:off x="4983480" y="3200400"/>
            <a:ext cx="6217800" cy="32004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Slide number 1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h4e1cd23050cdd6e6_1_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50" name="Google Shape;150;h4e1cd23050cdd6e6_1_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51" name="Google Shape;151;h4e1cd23050cdd6e6_1_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 name="Google Shape;152;h4e1cd23050cdd6e6_1_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53" name="Google Shape;153;h4e1cd23050cdd6e6_1_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 name="Google Shape;154;h4e1cd23050cdd6e6_1_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 name="Google Shape;155;h4e1cd23050cdd6e6_1_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56" name="Google Shape;156;h4e1cd23050cdd6e6_1_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 name="Google Shape;157;h4e1cd23050cdd6e6_1_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158" name="Google Shape;158;h4e1cd23050cdd6e6_1_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h4e1cd23050cdd6e6_1_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160" name="Google Shape;160;h4e1cd23050cdd6e6_1_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161" name="Google Shape;161;h4e1cd23050cdd6e6_1_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 name="Google Shape;162;h4e1cd23050cdd6e6_1_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163" name="Google Shape;163;h4e1cd23050cdd6e6_1_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h4e1cd23050cdd6e6_1_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65" name="Google Shape;165;h4e1cd23050cdd6e6_1_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66" name="Google Shape;166;h4e1cd23050cdd6e6_1_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67" name="Google Shape;167;h4e1cd23050cdd6e6_1_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68" name="Google Shape;168;h4e1cd23050cdd6e6_1_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69" name="Google Shape;169;h4e1cd23050cdd6e6_1_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70" name="Google Shape;170;h4e1cd23050cdd6e6_1_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71" name="Google Shape;171;h4e1cd23050cdd6e6_1_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2" name="Google Shape;172;h4e1cd23050cdd6e6_1_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73" name="Google Shape;173;h4e1cd23050cdd6e6_1_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4" name="Google Shape;174;h4e1cd23050cdd6e6_1_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h4e1cd23050cdd6e6_1_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176" name="Google Shape;176;h4e1cd23050cdd6e6_1_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177" name="Google Shape;177;h4e1cd23050cdd6e6_1_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78" name="Google Shape;178;h4e1cd23050cdd6e6_1_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1F2328"/>
                </a:solidFill>
                <a:highlight>
                  <a:srgbClr val="FFE599"/>
                </a:highlight>
                <a:latin typeface="Consolas"/>
                <a:ea typeface="Consolas"/>
                <a:cs typeface="Consolas"/>
                <a:sym typeface="Consolas"/>
              </a:rPr>
              <a:t>hasPatientData </a:t>
            </a:r>
            <a:r>
              <a:rPr b="1" i="0" lang="en-US" sz="1150" u="none" cap="none" strike="noStrike">
                <a:solidFill>
                  <a:srgbClr val="0B6E4F"/>
                </a:solidFill>
                <a:highlight>
                  <a:srgbClr val="FFE599"/>
                </a:highlight>
                <a:latin typeface="Consolas"/>
                <a:ea typeface="Consolas"/>
                <a:cs typeface="Consolas"/>
                <a:sym typeface="Consolas"/>
              </a:rPr>
              <a:t>some</a:t>
            </a:r>
            <a:r>
              <a:rPr b="0" i="0" lang="en-US" sz="1150" u="none" cap="none" strike="noStrike">
                <a:solidFill>
                  <a:srgbClr val="1F2328"/>
                </a:solidFill>
                <a:highlight>
                  <a:srgbClr val="FFE599"/>
                </a:highlight>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179" name="Google Shape;179;h4e1cd23050cdd6e6_1_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0" name="Google Shape;180;h4e1cd23050cdd6e6_1_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81" name="Google Shape;181;h4e1cd23050cdd6e6_1_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182" name="Google Shape;182;h4e1cd23050cdd6e6_1_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183" name="Google Shape;183;h4e1cd23050cdd6e6_1_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highlight>
                  <a:srgbClr val="FFE599"/>
                </a:highlight>
                <a:latin typeface="Consolas"/>
                <a:ea typeface="Consolas"/>
                <a:cs typeface="Consolas"/>
                <a:sym typeface="Consolas"/>
              </a:rPr>
              <a:t>ObjectProperty:</a:t>
            </a:r>
            <a:r>
              <a:rPr b="0" i="0" lang="en-US" sz="1150" u="none" cap="none" strike="noStrike">
                <a:solidFill>
                  <a:srgbClr val="1F2328"/>
                </a:solidFill>
                <a:highlight>
                  <a:srgbClr val="FFE599"/>
                </a:highlight>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184" name="Google Shape;184;h4e1cd23050cdd6e6_1_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5" name="Google Shape;185;h4e1cd23050cdd6e6_1_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186" name="Google Shape;186;h4e1cd23050cdd6e6_1_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87" name="Google Shape;187;h4e1cd23050cdd6e6_1_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188" name="Google Shape;188;h4e1cd23050cdd6e6_1_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89" name="Google Shape;189;h4e1cd23050cdd6e6_1_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190" name="Google Shape;190;h4e1cd23050cdd6e6_1_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91" name="Google Shape;191;h4e1cd23050cdd6e6_1_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192" name="Google Shape;192;h4e1cd23050cdd6e6_1_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93" name="Slide number 1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h4e1cd23050cdd6e6_1_56"/>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99" name="Google Shape;199;h4e1cd23050cdd6e6_1_56"/>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00" name="Google Shape;200;h4e1cd23050cdd6e6_1_56"/>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1" name="Google Shape;201;h4e1cd23050cdd6e6_1_56"/>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02" name="Google Shape;202;h4e1cd23050cdd6e6_1_56"/>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3" name="Google Shape;203;h4e1cd23050cdd6e6_1_56"/>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h4e1cd23050cdd6e6_1_56"/>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05" name="Google Shape;205;h4e1cd23050cdd6e6_1_56"/>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6" name="Google Shape;206;h4e1cd23050cdd6e6_1_56"/>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07" name="Google Shape;207;h4e1cd23050cdd6e6_1_56"/>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h4e1cd23050cdd6e6_1_56"/>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09" name="Google Shape;209;h4e1cd23050cdd6e6_1_56"/>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10" name="Google Shape;210;h4e1cd23050cdd6e6_1_56"/>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h4e1cd23050cdd6e6_1_56"/>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12" name="Google Shape;212;h4e1cd23050cdd6e6_1_56"/>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h4e1cd23050cdd6e6_1_56"/>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14" name="Google Shape;214;h4e1cd23050cdd6e6_1_56"/>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15" name="Google Shape;215;h4e1cd23050cdd6e6_1_56"/>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16" name="Google Shape;216;h4e1cd23050cdd6e6_1_56"/>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17" name="Google Shape;217;h4e1cd23050cdd6e6_1_56"/>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18" name="Google Shape;218;h4e1cd23050cdd6e6_1_56"/>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19" name="Google Shape;219;h4e1cd23050cdd6e6_1_56"/>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20" name="Google Shape;220;h4e1cd23050cdd6e6_1_56"/>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1" name="Google Shape;221;h4e1cd23050cdd6e6_1_56"/>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22" name="Google Shape;222;h4e1cd23050cdd6e6_1_56"/>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3" name="Google Shape;223;h4e1cd23050cdd6e6_1_56"/>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h4e1cd23050cdd6e6_1_56"/>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25" name="Google Shape;225;h4e1cd23050cdd6e6_1_56"/>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26" name="Google Shape;226;h4e1cd23050cdd6e6_1_56"/>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27" name="Google Shape;227;h4e1cd23050cdd6e6_1_56"/>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28" name="Google Shape;228;h4e1cd23050cdd6e6_1_56"/>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29" name="Google Shape;229;h4e1cd23050cdd6e6_1_56"/>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0" name="Google Shape;230;h4e1cd23050cdd6e6_1_56"/>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31" name="Google Shape;231;h4e1cd23050cdd6e6_1_56"/>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32" name="Google Shape;232;h4e1cd23050cdd6e6_1_56"/>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33" name="Google Shape;233;h4e1cd23050cdd6e6_1_56"/>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34" name="Google Shape;234;h4e1cd23050cdd6e6_1_56"/>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35" name="Google Shape;235;h4e1cd23050cdd6e6_1_56"/>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36" name="Google Shape;236;h4e1cd23050cdd6e6_1_56"/>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"Bone Marrow Depression"@en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7" name="Google Shape;237;h4e1cd23050cdd6e6_1_56"/>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38" name="Google Shape;238;h4e1cd23050cdd6e6_1_56"/>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39" name="Google Shape;239;h4e1cd23050cdd6e6_1_56"/>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0" name="Google Shape;240;h4e1cd23050cdd6e6_1_56"/>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41" name="Google Shape;241;h4e1cd23050cdd6e6_1_56"/>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42" name="Google Shape;242;h4e1cd23050cdd6e6_1_56"/>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"ECOG Performance Status"@en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43" name="Google Shape;243;h4e1cd23050cdd6e6_1_56"/>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44" name="Google Shape;244;h4e1cd23050cdd6e6_1_56"/>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245" name="Google Shape;245;h4e1cd23050cdd6e6_1_56"/>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6" name="Slide number 24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h4e1cd23050cdd6e6_1_10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252" name="Google Shape;252;h4e1cd23050cdd6e6_1_10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53" name="Google Shape;253;h4e1cd23050cdd6e6_1_10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4" name="Google Shape;254;h4e1cd23050cdd6e6_1_10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55" name="Google Shape;255;h4e1cd23050cdd6e6_1_10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h4e1cd23050cdd6e6_1_10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h4e1cd23050cdd6e6_1_10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58" name="Google Shape;258;h4e1cd23050cdd6e6_1_10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9" name="Google Shape;259;h4e1cd23050cdd6e6_1_10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60" name="Google Shape;260;h4e1cd23050cdd6e6_1_10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h4e1cd23050cdd6e6_1_10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62" name="Google Shape;262;h4e1cd23050cdd6e6_1_10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63" name="Google Shape;263;h4e1cd23050cdd6e6_1_10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4" name="Google Shape;264;h4e1cd23050cdd6e6_1_10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65" name="Google Shape;265;h4e1cd23050cdd6e6_1_10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h4e1cd23050cdd6e6_1_10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67" name="Google Shape;267;h4e1cd23050cdd6e6_1_10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68" name="Google Shape;268;h4e1cd23050cdd6e6_1_10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69" name="Google Shape;269;h4e1cd23050cdd6e6_1_10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70" name="Google Shape;270;h4e1cd23050cdd6e6_1_10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71" name="Google Shape;271;h4e1cd23050cdd6e6_1_10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72" name="Google Shape;272;h4e1cd23050cdd6e6_1_10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73" name="Google Shape;273;h4e1cd23050cdd6e6_1_10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4" name="Google Shape;274;h4e1cd23050cdd6e6_1_10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75" name="Google Shape;275;h4e1cd23050cdd6e6_1_10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6" name="Google Shape;276;h4e1cd23050cdd6e6_1_10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h4e1cd23050cdd6e6_1_10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78" name="Google Shape;278;h4e1cd23050cdd6e6_1_10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79" name="Google Shape;279;h4e1cd23050cdd6e6_1_10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0" name="Google Shape;280;h4e1cd23050cdd6e6_1_10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81" name="Google Shape;281;h4e1cd23050cdd6e6_1_10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2" name="Google Shape;282;h4e1cd23050cdd6e6_1_10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3" name="Google Shape;283;h4e1cd23050cdd6e6_1_10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84" name="Google Shape;284;h4e1cd23050cdd6e6_1_10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85" name="Google Shape;285;h4e1cd23050cdd6e6_1_10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86" name="Google Shape;286;h4e1cd23050cdd6e6_1_10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7" name="Google Shape;287;h4e1cd23050cdd6e6_1_10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88" name="Google Shape;288;h4e1cd23050cdd6e6_1_10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89" name="Google Shape;289;h4e1cd23050cdd6e6_1_108"/>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0" name="Google Shape;290;h4e1cd23050cdd6e6_1_108"/>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1" name="Google Shape;291;h4e1cd23050cdd6e6_1_108"/>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skos:relatedMatch</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obo:DOID_4961</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2" name="Google Shape;292;h4e1cd23050cdd6e6_1_108"/>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293" name="Google Shape;293;h4e1cd23050cdd6e6_1_10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94" name="Google Shape;294;h4e1cd23050cdd6e6_1_10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95" name="Google Shape;295;h4e1cd23050cdd6e6_1_10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96" name="Google Shape;296;h4e1cd23050cdd6e6_1_10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97" name="Google Shape;297;h4e1cd23050cdd6e6_1_108"/>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8" name="Google Shape;298;h4e1cd23050cdd6e6_1_108"/>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9" name="Google Shape;299;h4e1cd23050cdd6e6_1_10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00" name="Google Shape;300;h4e1cd23050cdd6e6_1_10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01" name="Slide number 30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h4e1cd23050cdd6e6_1_162"/>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07" name="Google Shape;307;h4e1cd23050cdd6e6_1_162"/>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08" name="Google Shape;308;h4e1cd23050cdd6e6_1_162"/>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h4e1cd23050cdd6e6_1_162"/>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10" name="Google Shape;310;h4e1cd23050cdd6e6_1_162"/>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h4e1cd23050cdd6e6_1_162"/>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h4e1cd23050cdd6e6_1_162"/>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13" name="Google Shape;313;h4e1cd23050cdd6e6_1_162"/>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4" name="Google Shape;314;h4e1cd23050cdd6e6_1_162"/>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15" name="Google Shape;315;h4e1cd23050cdd6e6_1_162"/>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h4e1cd23050cdd6e6_1_162"/>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17" name="Google Shape;317;h4e1cd23050cdd6e6_1_162"/>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18" name="Google Shape;318;h4e1cd23050cdd6e6_1_162"/>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9" name="Google Shape;319;h4e1cd23050cdd6e6_1_162"/>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20" name="Google Shape;320;h4e1cd23050cdd6e6_1_162"/>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h4e1cd23050cdd6e6_1_162"/>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22" name="Google Shape;322;h4e1cd23050cdd6e6_1_162"/>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23" name="Google Shape;323;h4e1cd23050cdd6e6_1_162"/>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24" name="Google Shape;324;h4e1cd23050cdd6e6_1_162"/>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25" name="Google Shape;325;h4e1cd23050cdd6e6_1_162"/>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26" name="Google Shape;326;h4e1cd23050cdd6e6_1_162"/>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27" name="Google Shape;327;h4e1cd23050cdd6e6_1_162"/>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28" name="Google Shape;328;h4e1cd23050cdd6e6_1_162"/>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29" name="Google Shape;329;h4e1cd23050cdd6e6_1_162"/>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30" name="Google Shape;330;h4e1cd23050cdd6e6_1_162"/>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31" name="Google Shape;331;h4e1cd23050cdd6e6_1_162"/>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h4e1cd23050cdd6e6_1_162"/>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33" name="Google Shape;333;h4e1cd23050cdd6e6_1_162"/>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34" name="Google Shape;334;h4e1cd23050cdd6e6_1_162"/>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5" name="Google Shape;335;h4e1cd23050cdd6e6_1_162"/>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36" name="Google Shape;336;h4e1cd23050cdd6e6_1_162"/>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37" name="Google Shape;337;h4e1cd23050cdd6e6_1_162"/>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8" name="Google Shape;338;h4e1cd23050cdd6e6_1_162"/>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39" name="Google Shape;339;h4e1cd23050cdd6e6_1_162"/>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40" name="Google Shape;340;h4e1cd23050cdd6e6_1_162"/>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41" name="Google Shape;341;h4e1cd23050cdd6e6_1_162"/>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42" name="Google Shape;342;h4e1cd23050cdd6e6_1_162"/>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343" name="Google Shape;343;h4e1cd23050cdd6e6_1_162"/>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44" name="Google Shape;344;h4e1cd23050cdd6e6_1_162"/>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5" name="Google Shape;345;h4e1cd23050cdd6e6_1_162"/>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46" name="Google Shape;346;h4e1cd23050cdd6e6_1_162"/>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7" name="Google Shape;347;h4e1cd23050cdd6e6_1_162"/>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348" name="Google Shape;348;h4e1cd23050cdd6e6_1_162"/>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349" name="Google Shape;349;h4e1cd23050cdd6e6_1_162"/>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0" name="Google Shape;350;h4e1cd23050cdd6e6_1_162"/>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351" name="Google Shape;351;h4e1cd23050cdd6e6_1_162"/>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52" name="Google Shape;352;h4e1cd23050cdd6e6_1_162"/>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3" name="Google Shape;353;h4e1cd23050cdd6e6_1_162"/>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54" name="Google Shape;354;h4e1cd23050cdd6e6_1_162"/>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rdfs:comment</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"0 = fully active … 5 = dead"@en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5" name="Google Shape;355;h4e1cd23050cdd6e6_1_162"/>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56" name="Google Shape;356;h4e1cd23050cdd6e6_1_162"/>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7" name="Slide number 3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h4e1cd23050cdd6e6_1_220"/>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63" name="Google Shape;363;h4e1cd23050cdd6e6_1_220"/>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64" name="Google Shape;364;h4e1cd23050cdd6e6_1_220"/>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5" name="Google Shape;365;h4e1cd23050cdd6e6_1_220"/>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66" name="Google Shape;366;h4e1cd23050cdd6e6_1_220"/>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7" name="Google Shape;367;h4e1cd23050cdd6e6_1_220"/>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h4e1cd23050cdd6e6_1_220"/>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69" name="Google Shape;369;h4e1cd23050cdd6e6_1_220"/>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0" name="Google Shape;370;h4e1cd23050cdd6e6_1_220"/>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71" name="Google Shape;371;h4e1cd23050cdd6e6_1_220"/>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2" name="Google Shape;372;h4e1cd23050cdd6e6_1_220"/>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73" name="Google Shape;373;h4e1cd23050cdd6e6_1_220"/>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74" name="Google Shape;374;h4e1cd23050cdd6e6_1_220"/>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5" name="Google Shape;375;h4e1cd23050cdd6e6_1_220"/>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76" name="Google Shape;376;h4e1cd23050cdd6e6_1_220"/>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h4e1cd23050cdd6e6_1_220"/>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78" name="Google Shape;378;h4e1cd23050cdd6e6_1_220"/>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79" name="Google Shape;379;h4e1cd23050cdd6e6_1_220"/>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80" name="Google Shape;380;h4e1cd23050cdd6e6_1_220"/>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81" name="Google Shape;381;h4e1cd23050cdd6e6_1_220"/>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82" name="Google Shape;382;h4e1cd23050cdd6e6_1_220"/>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83" name="Google Shape;383;h4e1cd23050cdd6e6_1_220"/>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84" name="Google Shape;384;h4e1cd23050cdd6e6_1_220"/>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5" name="Google Shape;385;h4e1cd23050cdd6e6_1_220"/>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86" name="Google Shape;386;h4e1cd23050cdd6e6_1_220"/>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7" name="Google Shape;387;h4e1cd23050cdd6e6_1_220"/>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h4e1cd23050cdd6e6_1_220"/>
          <p:cNvSpPr/>
          <p:nvPr/>
        </p:nvSpPr>
        <p:spPr>
          <a:xfrm>
            <a:off x="804672" y="5084064"/>
            <a:ext cx="2971800" cy="14950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9" name="Google Shape;389;h4e1cd23050cdd6e6_1_220"/>
          <p:cNvSpPr/>
          <p:nvPr/>
        </p:nvSpPr>
        <p:spPr>
          <a:xfrm>
            <a:off x="1005840" y="5193792"/>
            <a:ext cx="2606100" cy="1261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0B6E4F"/>
                </a:solidFill>
                <a:latin typeface="Consolas"/>
                <a:ea typeface="Consolas"/>
                <a:cs typeface="Consolas"/>
                <a:sym typeface="Consolas"/>
              </a:rPr>
              <a:t>WHAT THIS ENABLES</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0"/>
              </a:spcBef>
              <a:spcAft>
                <a:spcPts val="0"/>
              </a:spcAft>
              <a:buClr>
                <a:srgbClr val="000000"/>
              </a:buClr>
              <a:buSzPts val="1150"/>
              <a:buFont typeface="Arial"/>
              <a:buNone/>
            </a:pPr>
            <a:r>
              <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Ontology-based data access (OBDA)</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Knowledge graph population</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Semantic data integration</a:t>
            </a:r>
            <a:endParaRPr b="0" i="0" sz="1400" u="none" cap="none" strike="noStrike">
              <a:solidFill>
                <a:srgbClr val="1F2328"/>
              </a:solidFill>
              <a:latin typeface="Calibri"/>
              <a:ea typeface="Calibri"/>
              <a:cs typeface="Calibri"/>
              <a:sym typeface="Calibri"/>
            </a:endParaRPr>
          </a:p>
        </p:txBody>
      </p:sp>
      <p:sp>
        <p:nvSpPr>
          <p:cNvPr id="390" name="Google Shape;390;h4e1cd23050cdd6e6_1_220"/>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91" name="Google Shape;391;h4e1cd23050cdd6e6_1_220"/>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92" name="Google Shape;392;h4e1cd23050cdd6e6_1_220"/>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3" name="Google Shape;393;h4e1cd23050cdd6e6_1_220"/>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94" name="Google Shape;394;h4e1cd23050cdd6e6_1_220"/>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95" name="Google Shape;395;h4e1cd23050cdd6e6_1_220"/>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6" name="Google Shape;396;h4e1cd23050cdd6e6_1_220"/>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97" name="Google Shape;397;h4e1cd23050cdd6e6_1_220"/>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98" name="Google Shape;398;h4e1cd23050cdd6e6_1_220"/>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99" name="Google Shape;399;h4e1cd23050cdd6e6_1_220"/>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400" name="Google Shape;400;h4e1cd23050cdd6e6_1_220"/>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401" name="Google Shape;401;h4e1cd23050cdd6e6_1_220"/>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02" name="Google Shape;402;h4e1cd23050cdd6e6_1_220"/>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3" name="Google Shape;403;h4e1cd23050cdd6e6_1_220"/>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04" name="Google Shape;404;h4e1cd23050cdd6e6_1_220"/>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5" name="Google Shape;405;h4e1cd23050cdd6e6_1_220"/>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406" name="Google Shape;406;h4e1cd23050cdd6e6_1_220"/>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407" name="Google Shape;407;h4e1cd23050cdd6e6_1_220"/>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08" name="Google Shape;408;h4e1cd23050cdd6e6_1_220"/>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409" name="Google Shape;409;h4e1cd23050cdd6e6_1_220"/>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10" name="Google Shape;410;h4e1cd23050cdd6e6_1_220"/>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1" name="Google Shape;411;h4e1cd23050cdd6e6_1_220"/>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12" name="Google Shape;412;h4e1cd23050cdd6e6_1_220"/>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3" name="Google Shape;413;h4e1cd23050cdd6e6_1_220"/>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414" name="Google Shape;414;h4e1cd23050cdd6e6_1_220"/>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15" name="Slide number 4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4"/>
          <p:cNvSpPr txBox="1"/>
          <p:nvPr/>
        </p:nvSpPr>
        <p:spPr>
          <a:xfrm>
            <a:off x="804672" y="521207"/>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THE RESEARCH GAP</a:t>
            </a:r>
            <a:endParaRPr b="0" i="0" sz="1400" u="none" cap="none" strike="noStrike">
              <a:solidFill>
                <a:srgbClr val="000000"/>
              </a:solidFill>
              <a:latin typeface="Arial"/>
              <a:ea typeface="Arial"/>
              <a:cs typeface="Arial"/>
              <a:sym typeface="Arial"/>
            </a:endParaRPr>
          </a:p>
        </p:txBody>
      </p:sp>
      <p:sp>
        <p:nvSpPr>
          <p:cNvPr id="421" name="Google Shape;421;p4"/>
          <p:cNvSpPr txBox="1"/>
          <p:nvPr/>
        </p:nvSpPr>
        <p:spPr>
          <a:xfrm>
            <a:off x="804672" y="960120"/>
            <a:ext cx="10689300" cy="713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Two partial solutions. Neither solves the whole problem.</a:t>
            </a:r>
            <a:endParaRPr b="0" i="0" sz="1400" u="none" cap="none" strike="noStrike">
              <a:solidFill>
                <a:srgbClr val="000000"/>
              </a:solidFill>
              <a:latin typeface="Arial"/>
              <a:ea typeface="Arial"/>
              <a:cs typeface="Arial"/>
              <a:sym typeface="Arial"/>
            </a:endParaRPr>
          </a:p>
        </p:txBody>
      </p:sp>
      <p:sp>
        <p:nvSpPr>
          <p:cNvPr id="422" name="Google Shape;422;p4"/>
          <p:cNvSpPr/>
          <p:nvPr/>
        </p:nvSpPr>
        <p:spPr>
          <a:xfrm>
            <a:off x="804672" y="1920240"/>
            <a:ext cx="51480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4"/>
          <p:cNvSpPr/>
          <p:nvPr/>
        </p:nvSpPr>
        <p:spPr>
          <a:xfrm>
            <a:off x="804672" y="1920240"/>
            <a:ext cx="51480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4" name="Google Shape;424;p4"/>
          <p:cNvSpPr txBox="1"/>
          <p:nvPr/>
        </p:nvSpPr>
        <p:spPr>
          <a:xfrm>
            <a:off x="1069848" y="2130552"/>
            <a:ext cx="4654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SCHEMA-FIRST RULES</a:t>
            </a:r>
            <a:endParaRPr b="0" i="0" sz="1400" u="none" cap="none" strike="noStrike">
              <a:solidFill>
                <a:srgbClr val="000000"/>
              </a:solidFill>
              <a:latin typeface="Arial"/>
              <a:ea typeface="Arial"/>
              <a:cs typeface="Arial"/>
              <a:sym typeface="Arial"/>
            </a:endParaRPr>
          </a:p>
        </p:txBody>
      </p:sp>
      <p:sp>
        <p:nvSpPr>
          <p:cNvPr id="425" name="Google Shape;425;p4"/>
          <p:cNvSpPr txBox="1"/>
          <p:nvPr/>
        </p:nvSpPr>
        <p:spPr>
          <a:xfrm>
            <a:off x="1069848" y="2587752"/>
            <a:ext cx="46452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Preserve the structure</a:t>
            </a:r>
            <a:endParaRPr b="0" i="0" sz="1400" u="none" cap="none" strike="noStrike">
              <a:solidFill>
                <a:srgbClr val="000000"/>
              </a:solidFill>
              <a:latin typeface="Arial"/>
              <a:ea typeface="Arial"/>
              <a:cs typeface="Arial"/>
              <a:sym typeface="Arial"/>
            </a:endParaRPr>
          </a:p>
        </p:txBody>
      </p:sp>
      <p:sp>
        <p:nvSpPr>
          <p:cNvPr id="426" name="Google Shape;426;p4"/>
          <p:cNvSpPr txBox="1"/>
          <p:nvPr/>
        </p:nvSpPr>
        <p:spPr>
          <a:xfrm>
            <a:off x="1069848" y="3072384"/>
            <a:ext cx="45264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Tables, columns and foreign keys can be mapped systematically.</a:t>
            </a:r>
            <a:endParaRPr b="0" i="0" sz="1400" u="none" cap="none" strike="noStrike">
              <a:solidFill>
                <a:srgbClr val="000000"/>
              </a:solidFill>
              <a:latin typeface="Arial"/>
              <a:ea typeface="Arial"/>
              <a:cs typeface="Arial"/>
              <a:sym typeface="Arial"/>
            </a:endParaRPr>
          </a:p>
        </p:txBody>
      </p:sp>
      <p:sp>
        <p:nvSpPr>
          <p:cNvPr id="427" name="Google Shape;427;p4"/>
          <p:cNvSpPr txBox="1"/>
          <p:nvPr/>
        </p:nvSpPr>
        <p:spPr>
          <a:xfrm>
            <a:off x="1069848" y="3895344"/>
            <a:ext cx="4617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implicit </a:t>
            </a:r>
            <a:r>
              <a:rPr b="1" i="0" lang="en-US" sz="1600" u="none" cap="none" strike="noStrike">
                <a:solidFill>
                  <a:srgbClr val="5B6770"/>
                </a:solidFill>
                <a:latin typeface="Calibri"/>
                <a:ea typeface="Calibri"/>
                <a:cs typeface="Calibri"/>
                <a:sym typeface="Calibri"/>
              </a:rPr>
              <a:t>domain semantics</a:t>
            </a:r>
            <a:r>
              <a:rPr b="0" i="0" lang="en-US" sz="1600" u="none" cap="none" strike="noStrike">
                <a:solidFill>
                  <a:srgbClr val="5B6770"/>
                </a:solidFill>
                <a:latin typeface="Calibri"/>
                <a:ea typeface="Calibri"/>
                <a:cs typeface="Calibri"/>
                <a:sym typeface="Calibri"/>
              </a:rPr>
              <a:t> remain </a:t>
            </a:r>
            <a:r>
              <a:rPr b="1" i="0" lang="en-US" sz="1600" u="none" cap="none" strike="noStrike">
                <a:solidFill>
                  <a:srgbClr val="5B6770"/>
                </a:solidFill>
                <a:latin typeface="Calibri"/>
                <a:ea typeface="Calibri"/>
                <a:cs typeface="Calibri"/>
                <a:sym typeface="Calibri"/>
              </a:rPr>
              <a:t>missing</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428" name="Google Shape;428;p4"/>
          <p:cNvSpPr/>
          <p:nvPr/>
        </p:nvSpPr>
        <p:spPr>
          <a:xfrm>
            <a:off x="6208776" y="1920240"/>
            <a:ext cx="51846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4"/>
          <p:cNvSpPr/>
          <p:nvPr/>
        </p:nvSpPr>
        <p:spPr>
          <a:xfrm>
            <a:off x="6208776" y="1920240"/>
            <a:ext cx="5184600" cy="63900"/>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4"/>
          <p:cNvSpPr txBox="1"/>
          <p:nvPr/>
        </p:nvSpPr>
        <p:spPr>
          <a:xfrm>
            <a:off x="6473952" y="2130552"/>
            <a:ext cx="4645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2F6B78"/>
                </a:solidFill>
                <a:latin typeface="Consolas"/>
                <a:ea typeface="Consolas"/>
                <a:cs typeface="Consolas"/>
                <a:sym typeface="Consolas"/>
              </a:rPr>
              <a:t>LLM-FIRST GENERATION</a:t>
            </a:r>
            <a:endParaRPr b="0" i="0" sz="1400" u="none" cap="none" strike="noStrike">
              <a:solidFill>
                <a:srgbClr val="000000"/>
              </a:solidFill>
              <a:latin typeface="Arial"/>
              <a:ea typeface="Arial"/>
              <a:cs typeface="Arial"/>
              <a:sym typeface="Arial"/>
            </a:endParaRPr>
          </a:p>
        </p:txBody>
      </p:sp>
      <p:sp>
        <p:nvSpPr>
          <p:cNvPr id="431" name="Google Shape;431;p4"/>
          <p:cNvSpPr txBox="1"/>
          <p:nvPr/>
        </p:nvSpPr>
        <p:spPr>
          <a:xfrm>
            <a:off x="6473952" y="2587752"/>
            <a:ext cx="46086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Suggest the meaning</a:t>
            </a:r>
            <a:endParaRPr b="0" i="0" sz="1400" u="none" cap="none" strike="noStrike">
              <a:solidFill>
                <a:srgbClr val="000000"/>
              </a:solidFill>
              <a:latin typeface="Arial"/>
              <a:ea typeface="Arial"/>
              <a:cs typeface="Arial"/>
              <a:sym typeface="Arial"/>
            </a:endParaRPr>
          </a:p>
        </p:txBody>
      </p:sp>
      <p:sp>
        <p:nvSpPr>
          <p:cNvPr id="432" name="Google Shape;432;p4"/>
          <p:cNvSpPr txBox="1"/>
          <p:nvPr/>
        </p:nvSpPr>
        <p:spPr>
          <a:xfrm>
            <a:off x="6473952" y="3072384"/>
            <a:ext cx="45537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Labels, concepts and plausible relationships can be proposed.</a:t>
            </a:r>
            <a:endParaRPr b="0" i="0" sz="1400" u="none" cap="none" strike="noStrike">
              <a:solidFill>
                <a:srgbClr val="000000"/>
              </a:solidFill>
              <a:latin typeface="Arial"/>
              <a:ea typeface="Arial"/>
              <a:cs typeface="Arial"/>
              <a:sym typeface="Arial"/>
            </a:endParaRPr>
          </a:p>
        </p:txBody>
      </p:sp>
      <p:sp>
        <p:nvSpPr>
          <p:cNvPr id="433" name="Google Shape;433;p4"/>
          <p:cNvSpPr txBox="1"/>
          <p:nvPr/>
        </p:nvSpPr>
        <p:spPr>
          <a:xfrm>
            <a:off x="6473952" y="3895344"/>
            <a:ext cx="46635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elements may be </a:t>
            </a:r>
            <a:r>
              <a:rPr b="1" i="0" lang="en-US" sz="1600" u="none" cap="none" strike="noStrike">
                <a:solidFill>
                  <a:srgbClr val="5B6770"/>
                </a:solidFill>
                <a:latin typeface="Calibri"/>
                <a:ea typeface="Calibri"/>
                <a:cs typeface="Calibri"/>
                <a:sym typeface="Calibri"/>
              </a:rPr>
              <a:t>omitted</a:t>
            </a:r>
            <a:r>
              <a:rPr b="0" i="0" lang="en-US" sz="1600" u="none" cap="none" strike="noStrike">
                <a:solidFill>
                  <a:srgbClr val="5B6770"/>
                </a:solidFill>
                <a:latin typeface="Calibri"/>
                <a:ea typeface="Calibri"/>
                <a:cs typeface="Calibri"/>
                <a:sym typeface="Calibri"/>
              </a:rPr>
              <a:t> or modeled incorrectly.</a:t>
            </a:r>
            <a:endParaRPr b="0" i="0" sz="1400" u="none" cap="none" strike="noStrike">
              <a:solidFill>
                <a:srgbClr val="000000"/>
              </a:solidFill>
              <a:latin typeface="Arial"/>
              <a:ea typeface="Arial"/>
              <a:cs typeface="Arial"/>
              <a:sym typeface="Arial"/>
            </a:endParaRPr>
          </a:p>
        </p:txBody>
      </p:sp>
      <p:sp>
        <p:nvSpPr>
          <p:cNvPr id="434" name="Google Shape;434;p4"/>
          <p:cNvSpPr/>
          <p:nvPr/>
        </p:nvSpPr>
        <p:spPr>
          <a:xfrm>
            <a:off x="813785" y="5405605"/>
            <a:ext cx="10588800" cy="9600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4"/>
          <p:cNvSpPr txBox="1"/>
          <p:nvPr/>
        </p:nvSpPr>
        <p:spPr>
          <a:xfrm>
            <a:off x="1078972" y="5778499"/>
            <a:ext cx="20391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OUR QUESTION</a:t>
            </a:r>
            <a:endParaRPr b="0" i="0" sz="1400" u="none" cap="none" strike="noStrike">
              <a:solidFill>
                <a:srgbClr val="000000"/>
              </a:solidFill>
              <a:latin typeface="Arial"/>
              <a:ea typeface="Arial"/>
              <a:cs typeface="Arial"/>
              <a:sym typeface="Arial"/>
            </a:endParaRPr>
          </a:p>
        </p:txBody>
      </p:sp>
      <p:sp>
        <p:nvSpPr>
          <p:cNvPr id="436" name="Google Shape;436;p4"/>
          <p:cNvSpPr txBox="1"/>
          <p:nvPr/>
        </p:nvSpPr>
        <p:spPr>
          <a:xfrm>
            <a:off x="2935230" y="5747064"/>
            <a:ext cx="8156400" cy="2772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Can we preserve schema fidelity </a:t>
            </a:r>
            <a:r>
              <a:rPr b="1" i="0" lang="en-US" sz="1800" u="none" cap="none" strike="noStrike">
                <a:solidFill>
                  <a:srgbClr val="0B6E4F"/>
                </a:solidFill>
                <a:latin typeface="Calibri"/>
                <a:ea typeface="Calibri"/>
                <a:cs typeface="Calibri"/>
                <a:sym typeface="Calibri"/>
              </a:rPr>
              <a:t>and</a:t>
            </a:r>
            <a:r>
              <a:rPr b="1" i="0" lang="en-US" sz="1800" u="none" cap="none" strike="noStrike">
                <a:solidFill>
                  <a:srgbClr val="1F2328"/>
                </a:solidFill>
                <a:latin typeface="Calibri"/>
                <a:ea typeface="Calibri"/>
                <a:cs typeface="Calibri"/>
                <a:sym typeface="Calibri"/>
              </a:rPr>
              <a:t> add domain semantics</a:t>
            </a:r>
            <a:r>
              <a:rPr b="1" lang="en-US" sz="1800">
                <a:solidFill>
                  <a:srgbClr val="1F2328"/>
                </a:solidFill>
                <a:latin typeface="Calibri"/>
                <a:ea typeface="Calibri"/>
                <a:cs typeface="Calibri"/>
                <a:sym typeface="Calibri"/>
              </a:rPr>
              <a:t> </a:t>
            </a:r>
            <a:r>
              <a:rPr b="1" i="0" lang="en-US" sz="1800" u="none" cap="none" strike="noStrike">
                <a:solidFill>
                  <a:srgbClr val="1F2328"/>
                </a:solidFill>
                <a:latin typeface="Calibri"/>
                <a:ea typeface="Calibri"/>
                <a:cs typeface="Calibri"/>
                <a:sym typeface="Calibri"/>
              </a:rPr>
              <a:t>across the full database?</a:t>
            </a:r>
            <a:endParaRPr b="0" i="0" sz="1400" u="none" cap="none" strike="noStrike">
              <a:solidFill>
                <a:srgbClr val="000000"/>
              </a:solidFill>
              <a:latin typeface="Arial"/>
              <a:ea typeface="Arial"/>
              <a:cs typeface="Arial"/>
              <a:sym typeface="Arial"/>
            </a:endParaRPr>
          </a:p>
        </p:txBody>
      </p:sp>
      <p:sp>
        <p:nvSpPr>
          <p:cNvPr id="437" name="Google Shape;437;p4"/>
          <p:cNvSpPr/>
          <p:nvPr/>
        </p:nvSpPr>
        <p:spPr>
          <a:xfrm>
            <a:off x="959083" y="4526280"/>
            <a:ext cx="50748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W3C Direct Mapping</a:t>
            </a:r>
            <a:r>
              <a:rPr b="0" i="0" lang="en-US" sz="1000" u="none" cap="none" strike="noStrike">
                <a:solidFill>
                  <a:srgbClr val="5B6770"/>
                </a:solidFill>
                <a:latin typeface="Calibri"/>
                <a:ea typeface="Calibri"/>
                <a:cs typeface="Calibri"/>
                <a:sym typeface="Calibri"/>
              </a:rPr>
              <a:t> [Arenas et al. 2012; Sequeda et al. 2012]  ·  </a:t>
            </a:r>
            <a:r>
              <a:rPr b="1" i="0" lang="en-US" sz="1000" u="none" cap="none" strike="noStrike">
                <a:solidFill>
                  <a:srgbClr val="5B6770"/>
                </a:solidFill>
                <a:latin typeface="Calibri"/>
                <a:ea typeface="Calibri"/>
                <a:cs typeface="Calibri"/>
                <a:sym typeface="Calibri"/>
              </a:rPr>
              <a:t>BootOX</a:t>
            </a:r>
            <a:r>
              <a:rPr b="0" i="0" lang="en-US" sz="1000" u="none" cap="none" strike="noStrike">
                <a:solidFill>
                  <a:srgbClr val="5B6770"/>
                </a:solidFill>
                <a:latin typeface="Calibri"/>
                <a:ea typeface="Calibri"/>
                <a:cs typeface="Calibri"/>
                <a:sym typeface="Calibri"/>
              </a:rPr>
              <a:t> [Jiménez‑Ruiz et al., ISWC 2015]  ·  </a:t>
            </a:r>
            <a:r>
              <a:rPr b="1" i="0" lang="en-US" sz="1000" u="none" cap="none" strike="noStrike">
                <a:solidFill>
                  <a:srgbClr val="5B6770"/>
                </a:solidFill>
                <a:latin typeface="Calibri"/>
                <a:ea typeface="Calibri"/>
                <a:cs typeface="Calibri"/>
                <a:sym typeface="Calibri"/>
              </a:rPr>
              <a:t>Ben Mahria et al.</a:t>
            </a:r>
            <a:r>
              <a:rPr b="0" i="0" lang="en-US" sz="1000" u="none" cap="none" strike="noStrike">
                <a:solidFill>
                  <a:srgbClr val="5B6770"/>
                </a:solidFill>
                <a:latin typeface="Calibri"/>
                <a:ea typeface="Calibri"/>
                <a:cs typeface="Calibri"/>
                <a:sym typeface="Calibri"/>
              </a:rPr>
              <a:t> [J. Big Data 2021]  </a:t>
            </a:r>
            <a:endParaRPr/>
          </a:p>
        </p:txBody>
      </p:sp>
      <p:sp>
        <p:nvSpPr>
          <p:cNvPr id="438" name="Google Shape;438;p4"/>
          <p:cNvSpPr/>
          <p:nvPr/>
        </p:nvSpPr>
        <p:spPr>
          <a:xfrm>
            <a:off x="6363187" y="4526280"/>
            <a:ext cx="5111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LLMs4OL</a:t>
            </a:r>
            <a:r>
              <a:rPr b="0" i="0" lang="en-US" sz="1000" u="none" cap="none" strike="noStrike">
                <a:solidFill>
                  <a:srgbClr val="5B6770"/>
                </a:solidFill>
                <a:latin typeface="Calibri"/>
                <a:ea typeface="Calibri"/>
                <a:cs typeface="Calibri"/>
                <a:sym typeface="Calibri"/>
              </a:rPr>
              <a:t> [Babaei Giglou et al., ISWC 2023]  ·  </a:t>
            </a:r>
            <a:r>
              <a:rPr b="1" i="0" lang="en-US" sz="1000" u="none" cap="none" strike="noStrike">
                <a:solidFill>
                  <a:srgbClr val="5B6770"/>
                </a:solidFill>
                <a:latin typeface="Calibri"/>
                <a:ea typeface="Calibri"/>
                <a:cs typeface="Calibri"/>
                <a:sym typeface="Calibri"/>
              </a:rPr>
              <a:t>Mateiu &amp; Groza</a:t>
            </a:r>
            <a:r>
              <a:rPr b="0" i="0" lang="en-US" sz="1000" u="none" cap="none" strike="noStrike">
                <a:solidFill>
                  <a:srgbClr val="5B6770"/>
                </a:solidFill>
                <a:latin typeface="Calibri"/>
                <a:ea typeface="Calibri"/>
                <a:cs typeface="Calibri"/>
                <a:sym typeface="Calibri"/>
              </a:rPr>
              <a:t> [SYNASC 2023]  ·  </a:t>
            </a:r>
            <a:r>
              <a:rPr b="1" i="0" lang="en-US" sz="1000" u="none" cap="none" strike="noStrike">
                <a:solidFill>
                  <a:srgbClr val="5B6770"/>
                </a:solidFill>
                <a:latin typeface="Calibri"/>
                <a:ea typeface="Calibri"/>
                <a:cs typeface="Calibri"/>
                <a:sym typeface="Calibri"/>
              </a:rPr>
              <a:t>OntoGenix</a:t>
            </a:r>
            <a:r>
              <a:rPr b="0" i="0" lang="en-US" sz="1000" u="none" cap="none" strike="noStrike">
                <a:solidFill>
                  <a:srgbClr val="5B6770"/>
                </a:solidFill>
                <a:latin typeface="Calibri"/>
                <a:ea typeface="Calibri"/>
                <a:cs typeface="Calibri"/>
                <a:sym typeface="Calibri"/>
              </a:rPr>
              <a:t> [Val‑Calvo et al., IP&amp;M 2025]  ·  </a:t>
            </a:r>
            <a:r>
              <a:rPr b="1" i="0" lang="en-US" sz="1000" u="none" cap="none" strike="noStrike">
                <a:solidFill>
                  <a:srgbClr val="5B6770"/>
                </a:solidFill>
                <a:latin typeface="Calibri"/>
                <a:ea typeface="Calibri"/>
                <a:cs typeface="Calibri"/>
                <a:sym typeface="Calibri"/>
              </a:rPr>
              <a:t>LLM4VKG</a:t>
            </a:r>
            <a:r>
              <a:rPr b="0" i="0" lang="en-US" sz="1000" u="none" cap="none" strike="noStrike">
                <a:solidFill>
                  <a:srgbClr val="5B6770"/>
                </a:solidFill>
                <a:latin typeface="Calibri"/>
                <a:ea typeface="Calibri"/>
                <a:cs typeface="Calibri"/>
                <a:sym typeface="Calibri"/>
              </a:rPr>
              <a:t> [Xiao et al., IJCAI 2025]</a:t>
            </a:r>
            <a:endParaRPr/>
          </a:p>
        </p:txBody>
      </p:sp>
      <p:sp>
        <p:nvSpPr>
          <p:cNvPr id="439" name="Slide number 43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4</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5"/>
          <p:cNvSpPr txBox="1"/>
          <p:nvPr/>
        </p:nvSpPr>
        <p:spPr>
          <a:xfrm>
            <a:off x="822960"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OUR ANSWER  /  RIGOR</a:t>
            </a:r>
            <a:endParaRPr b="0" i="0" sz="1400" u="none" cap="none" strike="noStrike">
              <a:solidFill>
                <a:srgbClr val="000000"/>
              </a:solidFill>
              <a:latin typeface="Arial"/>
              <a:ea typeface="Arial"/>
              <a:cs typeface="Arial"/>
              <a:sym typeface="Arial"/>
            </a:endParaRPr>
          </a:p>
        </p:txBody>
      </p:sp>
      <p:sp>
        <p:nvSpPr>
          <p:cNvPr id="445" name="Google Shape;445;p5"/>
          <p:cNvSpPr txBox="1"/>
          <p:nvPr/>
        </p:nvSpPr>
        <p:spPr>
          <a:xfrm>
            <a:off x="804672" y="978408"/>
            <a:ext cx="10625400" cy="667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Build the ontology one table at a time.</a:t>
            </a:r>
            <a:endParaRPr b="0" i="0" sz="1400" u="none" cap="none" strike="noStrike">
              <a:solidFill>
                <a:srgbClr val="000000"/>
              </a:solidFill>
              <a:latin typeface="Arial"/>
              <a:ea typeface="Arial"/>
              <a:cs typeface="Arial"/>
              <a:sym typeface="Arial"/>
            </a:endParaRPr>
          </a:p>
        </p:txBody>
      </p:sp>
      <p:sp>
        <p:nvSpPr>
          <p:cNvPr id="446" name="Google Shape;446;p5"/>
          <p:cNvSpPr txBox="1"/>
          <p:nvPr/>
        </p:nvSpPr>
        <p:spPr>
          <a:xfrm>
            <a:off x="804672" y="1673352"/>
            <a:ext cx="106344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3A434C"/>
                </a:solidFill>
                <a:latin typeface="Calibri"/>
                <a:ea typeface="Calibri"/>
                <a:cs typeface="Calibri"/>
                <a:sym typeface="Calibri"/>
              </a:rPr>
              <a:t>We will construct the answer to our admission example, together.</a:t>
            </a:r>
            <a:endParaRPr b="0" i="0" sz="1400" u="none" cap="none" strike="noStrike">
              <a:solidFill>
                <a:srgbClr val="000000"/>
              </a:solidFill>
              <a:latin typeface="Arial"/>
              <a:ea typeface="Arial"/>
              <a:cs typeface="Arial"/>
              <a:sym typeface="Arial"/>
            </a:endParaRPr>
          </a:p>
        </p:txBody>
      </p:sp>
      <p:sp>
        <p:nvSpPr>
          <p:cNvPr id="447" name="Google Shape;447;p5"/>
          <p:cNvSpPr/>
          <p:nvPr/>
        </p:nvSpPr>
        <p:spPr>
          <a:xfrm>
            <a:off x="813825" y="2178050"/>
            <a:ext cx="3026700" cy="2794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8" name="Google Shape;448;p5"/>
          <p:cNvSpPr txBox="1"/>
          <p:nvPr/>
        </p:nvSpPr>
        <p:spPr>
          <a:xfrm>
            <a:off x="1033279" y="2437210"/>
            <a:ext cx="2606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HAVE</a:t>
            </a:r>
            <a:endParaRPr b="0" i="0" sz="1400" u="none" cap="none" strike="noStrike">
              <a:solidFill>
                <a:srgbClr val="000000"/>
              </a:solidFill>
              <a:latin typeface="Arial"/>
              <a:ea typeface="Arial"/>
              <a:cs typeface="Arial"/>
              <a:sym typeface="Arial"/>
            </a:endParaRPr>
          </a:p>
        </p:txBody>
      </p:sp>
      <p:sp>
        <p:nvSpPr>
          <p:cNvPr id="449" name="Google Shape;449;p5"/>
          <p:cNvSpPr/>
          <p:nvPr/>
        </p:nvSpPr>
        <p:spPr>
          <a:xfrm>
            <a:off x="4123944" y="3282696"/>
            <a:ext cx="557700"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0" name="Google Shape;450;p5"/>
          <p:cNvSpPr/>
          <p:nvPr/>
        </p:nvSpPr>
        <p:spPr>
          <a:xfrm>
            <a:off x="5020050" y="2178050"/>
            <a:ext cx="6391800" cy="2794500"/>
          </a:xfrm>
          <a:prstGeom prst="roundRect">
            <a:avLst>
              <a:gd fmla="val 10000"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1" name="Google Shape;451;p5"/>
          <p:cNvSpPr txBox="1"/>
          <p:nvPr/>
        </p:nvSpPr>
        <p:spPr>
          <a:xfrm>
            <a:off x="5257800" y="2400150"/>
            <a:ext cx="5843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WHAT WE WANT</a:t>
            </a:r>
            <a:endParaRPr b="0" i="0" sz="1400" u="none" cap="none" strike="noStrike">
              <a:solidFill>
                <a:srgbClr val="000000"/>
              </a:solidFill>
              <a:latin typeface="Arial"/>
              <a:ea typeface="Arial"/>
              <a:cs typeface="Arial"/>
              <a:sym typeface="Arial"/>
            </a:endParaRPr>
          </a:p>
        </p:txBody>
      </p:sp>
      <p:sp>
        <p:nvSpPr>
          <p:cNvPr id="452" name="Google Shape;452;p5"/>
          <p:cNvSpPr/>
          <p:nvPr/>
        </p:nvSpPr>
        <p:spPr>
          <a:xfrm>
            <a:off x="5266944" y="3063240"/>
            <a:ext cx="21579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3" name="Google Shape;453;p5"/>
          <p:cNvSpPr txBox="1"/>
          <p:nvPr/>
        </p:nvSpPr>
        <p:spPr>
          <a:xfrm>
            <a:off x="5468112" y="3182112"/>
            <a:ext cx="17832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54" name="Google Shape;454;p5"/>
          <p:cNvSpPr/>
          <p:nvPr/>
        </p:nvSpPr>
        <p:spPr>
          <a:xfrm>
            <a:off x="9189720" y="3063240"/>
            <a:ext cx="19386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5"/>
          <p:cNvSpPr txBox="1"/>
          <p:nvPr/>
        </p:nvSpPr>
        <p:spPr>
          <a:xfrm>
            <a:off x="9317736" y="3182112"/>
            <a:ext cx="16824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456" name="Google Shape;456;p5"/>
          <p:cNvCxnSpPr/>
          <p:nvPr/>
        </p:nvCxnSpPr>
        <p:spPr>
          <a:xfrm>
            <a:off x="7452360" y="3310128"/>
            <a:ext cx="1664100" cy="0"/>
          </a:xfrm>
          <a:prstGeom prst="straightConnector1">
            <a:avLst/>
          </a:prstGeom>
          <a:noFill/>
          <a:ln cap="flat" cmpd="sng" w="30475">
            <a:solidFill>
              <a:srgbClr val="0B6E4F"/>
            </a:solidFill>
            <a:prstDash val="solid"/>
            <a:miter lim="80"/>
            <a:headEnd len="sm" w="sm" type="none"/>
            <a:tailEnd len="med" w="med" type="triangle"/>
          </a:ln>
        </p:spPr>
      </p:cxnSp>
      <p:sp>
        <p:nvSpPr>
          <p:cNvPr id="457" name="Google Shape;457;p5"/>
          <p:cNvSpPr txBox="1"/>
          <p:nvPr/>
        </p:nvSpPr>
        <p:spPr>
          <a:xfrm>
            <a:off x="7579313" y="2980944"/>
            <a:ext cx="18105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458" name="Google Shape;458;p5"/>
          <p:cNvSpPr txBox="1"/>
          <p:nvPr/>
        </p:nvSpPr>
        <p:spPr>
          <a:xfrm>
            <a:off x="5330952" y="3785615"/>
            <a:ext cx="5586900" cy="265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 meaningful labels   + encoded values</a:t>
            </a:r>
            <a:endParaRPr b="0" i="0" sz="1400" u="none" cap="none" strike="noStrike">
              <a:solidFill>
                <a:srgbClr val="000000"/>
              </a:solidFill>
              <a:latin typeface="Arial"/>
              <a:ea typeface="Arial"/>
              <a:cs typeface="Arial"/>
              <a:sym typeface="Arial"/>
            </a:endParaRPr>
          </a:p>
        </p:txBody>
      </p:sp>
      <p:sp>
        <p:nvSpPr>
          <p:cNvPr id="459" name="Google Shape;459;p5"/>
          <p:cNvSpPr txBox="1"/>
          <p:nvPr/>
        </p:nvSpPr>
        <p:spPr>
          <a:xfrm>
            <a:off x="5330952" y="4151376"/>
            <a:ext cx="5586900" cy="634800"/>
          </a:xfrm>
          <a:prstGeom prst="rect">
            <a:avLst/>
          </a:prstGeom>
          <a:noFill/>
          <a:ln>
            <a:noFill/>
          </a:ln>
        </p:spPr>
        <p:txBody>
          <a:bodyPr anchorCtr="0" anchor="ctr" bIns="0" lIns="0" spcFirstLastPara="1" rIns="0" wrap="square" tIns="0">
            <a:spAutoFit/>
          </a:bodyPr>
          <a:lstStyle/>
          <a:p>
            <a:pPr indent="0" lvl="0" marL="0" marR="0" rtl="0" algn="l">
              <a:lnSpc>
                <a:spcPct val="150000"/>
              </a:lnSpc>
              <a:spcBef>
                <a:spcPts val="0"/>
              </a:spcBef>
              <a:spcAft>
                <a:spcPts val="0"/>
              </a:spcAft>
              <a:buClr>
                <a:srgbClr val="000000"/>
              </a:buClr>
              <a:buSzPts val="1650"/>
              <a:buFont typeface="Arial"/>
              <a:buNone/>
            </a:pPr>
            <a:r>
              <a:rPr b="0" i="0" lang="en-US" sz="1650" u="none" cap="none" strike="noStrike">
                <a:solidFill>
                  <a:srgbClr val="3A434C"/>
                </a:solidFill>
                <a:latin typeface="Calibri"/>
                <a:ea typeface="Calibri"/>
                <a:cs typeface="Calibri"/>
                <a:sym typeface="Calibri"/>
              </a:rPr>
              <a:t>+ provenance   </a:t>
            </a:r>
            <a:r>
              <a:rPr lang="en-US" sz="1650">
                <a:solidFill>
                  <a:srgbClr val="3A434C"/>
                </a:solidFill>
                <a:latin typeface="Calibri"/>
                <a:ea typeface="Calibri"/>
                <a:cs typeface="Calibri"/>
                <a:sym typeface="Calibri"/>
              </a:rPr>
              <a:t>+ logical axioms (hierarchy, disjointness) </a:t>
            </a:r>
            <a:endParaRPr sz="1650">
              <a:solidFill>
                <a:srgbClr val="3A434C"/>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1650"/>
              <a:buFont typeface="Arial"/>
              <a:buNone/>
            </a:pPr>
            <a:r>
              <a:rPr lang="en-US" sz="1650">
                <a:solidFill>
                  <a:srgbClr val="3A434C"/>
                </a:solidFill>
                <a:latin typeface="Calibri"/>
                <a:ea typeface="Calibri"/>
                <a:cs typeface="Calibri"/>
                <a:sym typeface="Calibri"/>
              </a:rPr>
              <a:t>+ links to standard vocabularies</a:t>
            </a:r>
            <a:endParaRPr b="0" i="0" sz="1400" u="none" cap="none" strike="noStrike">
              <a:solidFill>
                <a:srgbClr val="000000"/>
              </a:solidFill>
              <a:latin typeface="Arial"/>
              <a:ea typeface="Arial"/>
              <a:cs typeface="Arial"/>
              <a:sym typeface="Arial"/>
            </a:endParaRPr>
          </a:p>
        </p:txBody>
      </p:sp>
      <p:sp>
        <p:nvSpPr>
          <p:cNvPr id="460" name="Google Shape;460;p5"/>
          <p:cNvSpPr txBox="1"/>
          <p:nvPr/>
        </p:nvSpPr>
        <p:spPr>
          <a:xfrm>
            <a:off x="859536" y="5020056"/>
            <a:ext cx="104607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We need to preserve structure, discover meaning, and prevent mistakes, at database scale.</a:t>
            </a:r>
            <a:endParaRPr b="0" i="0" sz="1400" u="none" cap="none" strike="noStrike">
              <a:solidFill>
                <a:srgbClr val="000000"/>
              </a:solidFill>
              <a:latin typeface="Arial"/>
              <a:ea typeface="Arial"/>
              <a:cs typeface="Arial"/>
              <a:sym typeface="Arial"/>
            </a:endParaRPr>
          </a:p>
        </p:txBody>
      </p:sp>
      <p:sp>
        <p:nvSpPr>
          <p:cNvPr id="461" name="Google Shape;461;p5"/>
          <p:cNvSpPr/>
          <p:nvPr/>
        </p:nvSpPr>
        <p:spPr>
          <a:xfrm>
            <a:off x="80467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2" name="Google Shape;462;p5"/>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463" name="Google Shape;463;p5"/>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4" name="Google Shape;464;p5"/>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465" name="Google Shape;465;p5"/>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6" name="Google Shape;466;p5"/>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467" name="Google Shape;467;p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8" name="Google Shape;468;p5"/>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469" name="Google Shape;469;p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5"/>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471" name="Google Shape;471;p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2" name="Google Shape;472;p5"/>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473" name="Google Shape;473;p5"/>
          <p:cNvSpPr/>
          <p:nvPr/>
        </p:nvSpPr>
        <p:spPr>
          <a:xfrm>
            <a:off x="1005789" y="2825521"/>
            <a:ext cx="2642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p5"/>
          <p:cNvSpPr txBox="1"/>
          <p:nvPr/>
        </p:nvSpPr>
        <p:spPr>
          <a:xfrm>
            <a:off x="1170381" y="2935250"/>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475" name="Google Shape;475;p5"/>
          <p:cNvCxnSpPr/>
          <p:nvPr/>
        </p:nvCxnSpPr>
        <p:spPr>
          <a:xfrm>
            <a:off x="1170381" y="3355874"/>
            <a:ext cx="2313300" cy="0"/>
          </a:xfrm>
          <a:prstGeom prst="straightConnector1">
            <a:avLst/>
          </a:prstGeom>
          <a:noFill/>
          <a:ln cap="flat" cmpd="sng" w="19050">
            <a:solidFill>
              <a:srgbClr val="8E989E"/>
            </a:solidFill>
            <a:prstDash val="solid"/>
            <a:miter lim="80"/>
            <a:headEnd len="sm" w="sm" type="none"/>
            <a:tailEnd len="sm" w="sm" type="none"/>
          </a:ln>
        </p:spPr>
      </p:cxnSp>
      <p:sp>
        <p:nvSpPr>
          <p:cNvPr id="476" name="Google Shape;476;p5"/>
          <p:cNvSpPr/>
          <p:nvPr/>
        </p:nvSpPr>
        <p:spPr>
          <a:xfrm>
            <a:off x="1170381" y="348388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477" name="Google Shape;477;p5"/>
          <p:cNvSpPr/>
          <p:nvPr/>
        </p:nvSpPr>
        <p:spPr>
          <a:xfrm>
            <a:off x="2734005" y="348388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a:t>
            </a:r>
            <a:endParaRPr/>
          </a:p>
        </p:txBody>
      </p:sp>
      <p:sp>
        <p:nvSpPr>
          <p:cNvPr id="478" name="Google Shape;478;p5"/>
          <p:cNvSpPr/>
          <p:nvPr/>
        </p:nvSpPr>
        <p:spPr>
          <a:xfrm>
            <a:off x="1170381" y="383136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479" name="Google Shape;479;p5"/>
          <p:cNvSpPr/>
          <p:nvPr/>
        </p:nvSpPr>
        <p:spPr>
          <a:xfrm>
            <a:off x="2734005" y="383136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0" name="Google Shape;480;p5"/>
          <p:cNvSpPr/>
          <p:nvPr/>
        </p:nvSpPr>
        <p:spPr>
          <a:xfrm>
            <a:off x="1170381" y="417883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481" name="Google Shape;481;p5"/>
          <p:cNvSpPr/>
          <p:nvPr/>
        </p:nvSpPr>
        <p:spPr>
          <a:xfrm>
            <a:off x="2734005" y="417883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2" name="Slide number 48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5</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6" name="Shape 486"/>
        <p:cNvGrpSpPr/>
        <p:nvPr/>
      </p:nvGrpSpPr>
      <p:grpSpPr>
        <a:xfrm>
          <a:off x="0" y="0"/>
          <a:ext cx="0" cy="0"/>
          <a:chOff x="0" y="0"/>
          <a:chExt cx="0" cy="0"/>
        </a:xfrm>
      </p:grpSpPr>
      <p:sp>
        <p:nvSpPr>
          <p:cNvPr id="487" name="Google Shape;487;p6"/>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1 / ORDER</a:t>
            </a:r>
            <a:endParaRPr b="0" i="0" sz="1400" u="none" cap="none" strike="noStrike">
              <a:solidFill>
                <a:srgbClr val="000000"/>
              </a:solidFill>
              <a:latin typeface="Arial"/>
              <a:ea typeface="Arial"/>
              <a:cs typeface="Arial"/>
              <a:sym typeface="Arial"/>
            </a:endParaRPr>
          </a:p>
        </p:txBody>
      </p:sp>
      <p:sp>
        <p:nvSpPr>
          <p:cNvPr id="488" name="Google Shape;488;p6"/>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To understand this table, build its parent first.</a:t>
            </a:r>
            <a:endParaRPr b="0" i="0" sz="1400" u="none" cap="none" strike="noStrike">
              <a:solidFill>
                <a:srgbClr val="000000"/>
              </a:solidFill>
              <a:latin typeface="Arial"/>
              <a:ea typeface="Arial"/>
              <a:cs typeface="Arial"/>
              <a:sym typeface="Arial"/>
            </a:endParaRPr>
          </a:p>
        </p:txBody>
      </p:sp>
      <p:sp>
        <p:nvSpPr>
          <p:cNvPr id="489" name="Google Shape;489;p6"/>
          <p:cNvSpPr txBox="1"/>
          <p:nvPr/>
        </p:nvSpPr>
        <p:spPr>
          <a:xfrm>
            <a:off x="795528" y="1609344"/>
            <a:ext cx="10607100" cy="347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We follow foreign-key dependencies, so known concepts are available when needed.</a:t>
            </a:r>
            <a:endParaRPr b="0" i="0" sz="1400" u="none" cap="none" strike="noStrike">
              <a:solidFill>
                <a:srgbClr val="000000"/>
              </a:solidFill>
              <a:latin typeface="Arial"/>
              <a:ea typeface="Arial"/>
              <a:cs typeface="Arial"/>
              <a:sym typeface="Arial"/>
            </a:endParaRPr>
          </a:p>
        </p:txBody>
      </p:sp>
      <p:sp>
        <p:nvSpPr>
          <p:cNvPr id="490" name="Google Shape;490;p6"/>
          <p:cNvSpPr/>
          <p:nvPr/>
        </p:nvSpPr>
        <p:spPr>
          <a:xfrm>
            <a:off x="822960" y="2130552"/>
            <a:ext cx="49104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1" name="Google Shape;491;p6"/>
          <p:cNvSpPr txBox="1"/>
          <p:nvPr/>
        </p:nvSpPr>
        <p:spPr>
          <a:xfrm>
            <a:off x="1069848" y="2313432"/>
            <a:ext cx="44805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DATABASE DEPENDENCIES</a:t>
            </a:r>
            <a:endParaRPr b="0" i="0" sz="1400" u="none" cap="none" strike="noStrike">
              <a:solidFill>
                <a:srgbClr val="000000"/>
              </a:solidFill>
              <a:latin typeface="Arial"/>
              <a:ea typeface="Arial"/>
              <a:cs typeface="Arial"/>
              <a:sym typeface="Arial"/>
            </a:endParaRPr>
          </a:p>
        </p:txBody>
      </p:sp>
      <p:sp>
        <p:nvSpPr>
          <p:cNvPr id="492" name="Google Shape;492;p6"/>
          <p:cNvSpPr/>
          <p:nvPr/>
        </p:nvSpPr>
        <p:spPr>
          <a:xfrm>
            <a:off x="1143000" y="2816352"/>
            <a:ext cx="1874400" cy="850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3" name="Google Shape;493;p6"/>
          <p:cNvSpPr txBox="1"/>
          <p:nvPr/>
        </p:nvSpPr>
        <p:spPr>
          <a:xfrm>
            <a:off x="1280160" y="2944368"/>
            <a:ext cx="1609200" cy="237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494" name="Google Shape;494;p6"/>
          <p:cNvSpPr txBox="1"/>
          <p:nvPr/>
        </p:nvSpPr>
        <p:spPr>
          <a:xfrm>
            <a:off x="1280160" y="3227832"/>
            <a:ext cx="16734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No FKs</a:t>
            </a:r>
            <a:endParaRPr b="0" i="0" sz="1400" u="none" cap="none" strike="noStrike">
              <a:solidFill>
                <a:srgbClr val="000000"/>
              </a:solidFill>
              <a:latin typeface="Arial"/>
              <a:ea typeface="Arial"/>
              <a:cs typeface="Arial"/>
              <a:sym typeface="Arial"/>
            </a:endParaRPr>
          </a:p>
        </p:txBody>
      </p:sp>
      <p:sp>
        <p:nvSpPr>
          <p:cNvPr id="495" name="Google Shape;495;p6"/>
          <p:cNvSpPr/>
          <p:nvPr/>
        </p:nvSpPr>
        <p:spPr>
          <a:xfrm>
            <a:off x="3758184" y="2816352"/>
            <a:ext cx="1710000" cy="850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6" name="Google Shape;496;p6"/>
          <p:cNvSpPr txBox="1"/>
          <p:nvPr/>
        </p:nvSpPr>
        <p:spPr>
          <a:xfrm>
            <a:off x="3904487" y="2944368"/>
            <a:ext cx="14448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97" name="Google Shape;497;p6"/>
          <p:cNvSpPr txBox="1"/>
          <p:nvPr/>
        </p:nvSpPr>
        <p:spPr>
          <a:xfrm>
            <a:off x="3895344" y="3227832"/>
            <a:ext cx="14997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onsolas"/>
                <a:ea typeface="Consolas"/>
                <a:cs typeface="Consolas"/>
                <a:sym typeface="Consolas"/>
              </a:rPr>
              <a:t>patient_id FK</a:t>
            </a:r>
            <a:endParaRPr b="0" i="0" sz="1400" u="none" cap="none" strike="noStrike">
              <a:solidFill>
                <a:srgbClr val="000000"/>
              </a:solidFill>
              <a:latin typeface="Arial"/>
              <a:ea typeface="Arial"/>
              <a:cs typeface="Arial"/>
              <a:sym typeface="Arial"/>
            </a:endParaRPr>
          </a:p>
        </p:txBody>
      </p:sp>
      <p:cxnSp>
        <p:nvCxnSpPr>
          <p:cNvPr id="498" name="Google Shape;498;p6"/>
          <p:cNvCxnSpPr/>
          <p:nvPr/>
        </p:nvCxnSpPr>
        <p:spPr>
          <a:xfrm rot="10800000">
            <a:off x="3099876" y="3255264"/>
            <a:ext cx="594300" cy="0"/>
          </a:xfrm>
          <a:prstGeom prst="straightConnector1">
            <a:avLst/>
          </a:prstGeom>
          <a:noFill/>
          <a:ln cap="flat" cmpd="sng" w="30475">
            <a:solidFill>
              <a:srgbClr val="3A7D8C"/>
            </a:solidFill>
            <a:prstDash val="solid"/>
            <a:miter lim="80"/>
            <a:headEnd len="sm" w="sm" type="none"/>
            <a:tailEnd len="med" w="med" type="triangle"/>
          </a:ln>
        </p:spPr>
      </p:cxnSp>
      <p:sp>
        <p:nvSpPr>
          <p:cNvPr id="499" name="Google Shape;499;p6"/>
          <p:cNvSpPr txBox="1"/>
          <p:nvPr/>
        </p:nvSpPr>
        <p:spPr>
          <a:xfrm>
            <a:off x="2350008" y="3877056"/>
            <a:ext cx="1874400" cy="283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 points to parent</a:t>
            </a:r>
            <a:endParaRPr b="0" i="0" sz="1400" u="none" cap="none" strike="noStrike">
              <a:solidFill>
                <a:srgbClr val="000000"/>
              </a:solidFill>
              <a:latin typeface="Arial"/>
              <a:ea typeface="Arial"/>
              <a:cs typeface="Arial"/>
              <a:sym typeface="Arial"/>
            </a:endParaRPr>
          </a:p>
        </p:txBody>
      </p:sp>
      <p:sp>
        <p:nvSpPr>
          <p:cNvPr id="500" name="Google Shape;500;p6"/>
          <p:cNvSpPr/>
          <p:nvPr/>
        </p:nvSpPr>
        <p:spPr>
          <a:xfrm>
            <a:off x="5961888" y="2130552"/>
            <a:ext cx="53766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1" name="Google Shape;501;p6"/>
          <p:cNvSpPr txBox="1"/>
          <p:nvPr/>
        </p:nvSpPr>
        <p:spPr>
          <a:xfrm>
            <a:off x="6208776" y="2313432"/>
            <a:ext cx="48372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PROCESSING ORDER  /  OUTPUT</a:t>
            </a:r>
            <a:endParaRPr b="0" i="0" sz="1400" u="none" cap="none" strike="noStrike">
              <a:solidFill>
                <a:srgbClr val="000000"/>
              </a:solidFill>
              <a:latin typeface="Arial"/>
              <a:ea typeface="Arial"/>
              <a:cs typeface="Arial"/>
              <a:sym typeface="Arial"/>
            </a:endParaRPr>
          </a:p>
        </p:txBody>
      </p:sp>
      <p:sp>
        <p:nvSpPr>
          <p:cNvPr id="502" name="Google Shape;502;p6"/>
          <p:cNvSpPr/>
          <p:nvPr/>
        </p:nvSpPr>
        <p:spPr>
          <a:xfrm>
            <a:off x="6300216" y="2807208"/>
            <a:ext cx="1902000" cy="1051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3" name="Google Shape;503;p6"/>
          <p:cNvSpPr txBox="1"/>
          <p:nvPr/>
        </p:nvSpPr>
        <p:spPr>
          <a:xfrm>
            <a:off x="6455664" y="2971800"/>
            <a:ext cx="15546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 = 1</a:t>
            </a:r>
            <a:endParaRPr b="0" i="0" sz="1400" u="none" cap="none" strike="noStrike">
              <a:solidFill>
                <a:srgbClr val="000000"/>
              </a:solidFill>
              <a:latin typeface="Arial"/>
              <a:ea typeface="Arial"/>
              <a:cs typeface="Arial"/>
              <a:sym typeface="Arial"/>
            </a:endParaRPr>
          </a:p>
        </p:txBody>
      </p:sp>
      <p:sp>
        <p:nvSpPr>
          <p:cNvPr id="504" name="Google Shape;504;p6"/>
          <p:cNvSpPr txBox="1"/>
          <p:nvPr/>
        </p:nvSpPr>
        <p:spPr>
          <a:xfrm>
            <a:off x="6446520" y="3255264"/>
            <a:ext cx="15636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505" name="Google Shape;505;p6"/>
          <p:cNvCxnSpPr/>
          <p:nvPr/>
        </p:nvCxnSpPr>
        <p:spPr>
          <a:xfrm>
            <a:off x="8311896" y="3310128"/>
            <a:ext cx="420600" cy="0"/>
          </a:xfrm>
          <a:prstGeom prst="straightConnector1">
            <a:avLst/>
          </a:prstGeom>
          <a:noFill/>
          <a:ln cap="flat" cmpd="sng" w="31750">
            <a:solidFill>
              <a:srgbClr val="0B6E4F"/>
            </a:solidFill>
            <a:prstDash val="solid"/>
            <a:miter lim="80"/>
            <a:headEnd len="sm" w="sm" type="none"/>
            <a:tailEnd len="med" w="med" type="triangle"/>
          </a:ln>
        </p:spPr>
      </p:cxnSp>
      <p:sp>
        <p:nvSpPr>
          <p:cNvPr id="506" name="Google Shape;506;p6"/>
          <p:cNvSpPr/>
          <p:nvPr/>
        </p:nvSpPr>
        <p:spPr>
          <a:xfrm>
            <a:off x="8833104" y="2807208"/>
            <a:ext cx="2112300" cy="1051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7" name="Google Shape;507;p6"/>
          <p:cNvSpPr txBox="1"/>
          <p:nvPr/>
        </p:nvSpPr>
        <p:spPr>
          <a:xfrm>
            <a:off x="8988552" y="2971800"/>
            <a:ext cx="17649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t = 2</a:t>
            </a:r>
            <a:endParaRPr b="0" i="0" sz="1400" u="none" cap="none" strike="noStrike">
              <a:solidFill>
                <a:srgbClr val="000000"/>
              </a:solidFill>
              <a:latin typeface="Arial"/>
              <a:ea typeface="Arial"/>
              <a:cs typeface="Arial"/>
              <a:sym typeface="Arial"/>
            </a:endParaRPr>
          </a:p>
        </p:txBody>
      </p:sp>
      <p:sp>
        <p:nvSpPr>
          <p:cNvPr id="508" name="Google Shape;508;p6"/>
          <p:cNvSpPr txBox="1"/>
          <p:nvPr/>
        </p:nvSpPr>
        <p:spPr>
          <a:xfrm>
            <a:off x="8988552" y="3255264"/>
            <a:ext cx="17649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509" name="Google Shape;509;p6"/>
          <p:cNvSpPr txBox="1"/>
          <p:nvPr/>
        </p:nvSpPr>
        <p:spPr>
          <a:xfrm>
            <a:off x="6190488" y="4133087"/>
            <a:ext cx="4882800" cy="465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Before generating </a:t>
            </a:r>
            <a:r>
              <a:rPr b="1" lang="en-US" sz="1520">
                <a:solidFill>
                  <a:srgbClr val="0B6E4F"/>
                </a:solidFill>
                <a:latin typeface="Consolas"/>
                <a:ea typeface="Consolas"/>
                <a:cs typeface="Consolas"/>
                <a:sym typeface="Consolas"/>
              </a:rPr>
              <a:t>admission</a:t>
            </a:r>
            <a:r>
              <a:rPr b="1" i="0" lang="en-US" sz="1500" u="none" cap="none" strike="noStrike">
                <a:solidFill>
                  <a:srgbClr val="1F2328"/>
                </a:solidFill>
                <a:latin typeface="Calibri"/>
                <a:ea typeface="Calibri"/>
                <a:cs typeface="Calibri"/>
                <a:sym typeface="Calibri"/>
              </a:rPr>
              <a:t>, </a:t>
            </a:r>
            <a:r>
              <a:rPr b="1" lang="en-US" sz="1520">
                <a:solidFill>
                  <a:srgbClr val="0B6E4F"/>
                </a:solidFill>
                <a:latin typeface="Consolas"/>
                <a:ea typeface="Consolas"/>
                <a:cs typeface="Consolas"/>
                <a:sym typeface="Consolas"/>
              </a:rPr>
              <a:t>PatientData </a:t>
            </a:r>
            <a:r>
              <a:rPr b="1" i="0" lang="en-US" sz="1500" u="none" cap="none" strike="noStrike">
                <a:solidFill>
                  <a:srgbClr val="1F2328"/>
                </a:solidFill>
                <a:latin typeface="Calibri"/>
                <a:ea typeface="Calibri"/>
                <a:cs typeface="Calibri"/>
                <a:sym typeface="Calibri"/>
              </a:rPr>
              <a:t>already exists in the core ontology.</a:t>
            </a:r>
            <a:endParaRPr b="0" i="0" sz="1400" u="none" cap="none" strike="noStrike">
              <a:solidFill>
                <a:srgbClr val="000000"/>
              </a:solidFill>
              <a:latin typeface="Arial"/>
              <a:ea typeface="Arial"/>
              <a:cs typeface="Arial"/>
              <a:sym typeface="Arial"/>
            </a:endParaRPr>
          </a:p>
        </p:txBody>
      </p:sp>
      <p:sp>
        <p:nvSpPr>
          <p:cNvPr id="510" name="Google Shape;510;p6"/>
          <p:cNvSpPr/>
          <p:nvPr/>
        </p:nvSpPr>
        <p:spPr>
          <a:xfrm>
            <a:off x="822960" y="4956048"/>
            <a:ext cx="10515600" cy="4755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1" name="Google Shape;511;p6"/>
          <p:cNvSpPr txBox="1"/>
          <p:nvPr/>
        </p:nvSpPr>
        <p:spPr>
          <a:xfrm>
            <a:off x="1014984" y="5056632"/>
            <a:ext cx="10168200" cy="2310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WHY IT MATTERS   </a:t>
            </a:r>
            <a:r>
              <a:rPr b="0" i="0" lang="en-US" sz="1500" u="none" cap="none" strike="noStrike">
                <a:solidFill>
                  <a:srgbClr val="1F2328"/>
                </a:solidFill>
                <a:latin typeface="Calibri"/>
                <a:ea typeface="Calibri"/>
                <a:cs typeface="Calibri"/>
                <a:sym typeface="Calibri"/>
              </a:rPr>
              <a:t>The next fragment can </a:t>
            </a:r>
            <a:r>
              <a:rPr b="1" i="0" lang="en-US" sz="1500" u="none" cap="none" strike="noStrike">
                <a:solidFill>
                  <a:srgbClr val="1F2328"/>
                </a:solidFill>
                <a:latin typeface="Calibri"/>
                <a:ea typeface="Calibri"/>
                <a:cs typeface="Calibri"/>
                <a:sym typeface="Calibri"/>
              </a:rPr>
              <a:t>reuse</a:t>
            </a:r>
            <a:r>
              <a:rPr b="0" i="0" lang="en-US" sz="1500" u="none" cap="none" strike="noStrike">
                <a:solidFill>
                  <a:srgbClr val="1F2328"/>
                </a:solidFill>
                <a:latin typeface="Calibri"/>
                <a:ea typeface="Calibri"/>
                <a:cs typeface="Calibri"/>
                <a:sym typeface="Calibri"/>
              </a:rPr>
              <a:t> known </a:t>
            </a:r>
            <a:r>
              <a:rPr b="1" i="0" lang="en-US" sz="1500" u="none" cap="none" strike="noStrike">
                <a:solidFill>
                  <a:srgbClr val="1F2328"/>
                </a:solidFill>
                <a:latin typeface="Calibri"/>
                <a:ea typeface="Calibri"/>
                <a:cs typeface="Calibri"/>
                <a:sym typeface="Calibri"/>
              </a:rPr>
              <a:t>classes</a:t>
            </a:r>
            <a:r>
              <a:rPr b="0" i="0" lang="en-US" sz="1500" u="none" cap="none" strike="noStrike">
                <a:solidFill>
                  <a:srgbClr val="1F2328"/>
                </a:solidFill>
                <a:latin typeface="Calibri"/>
                <a:ea typeface="Calibri"/>
                <a:cs typeface="Calibri"/>
                <a:sym typeface="Calibri"/>
              </a:rPr>
              <a:t> and </a:t>
            </a:r>
            <a:r>
              <a:rPr b="1" i="0" lang="en-US" sz="1500" u="none" cap="none" strike="noStrike">
                <a:solidFill>
                  <a:srgbClr val="1F2328"/>
                </a:solidFill>
                <a:latin typeface="Calibri"/>
                <a:ea typeface="Calibri"/>
                <a:cs typeface="Calibri"/>
                <a:sym typeface="Calibri"/>
              </a:rPr>
              <a:t>IRIs</a:t>
            </a:r>
            <a:r>
              <a:rPr b="0" i="0" lang="en-US" sz="1500" u="none" cap="none" strike="noStrike">
                <a:solidFill>
                  <a:srgbClr val="1F2328"/>
                </a:solidFill>
                <a:latin typeface="Calibri"/>
                <a:ea typeface="Calibri"/>
                <a:cs typeface="Calibri"/>
                <a:sym typeface="Calibri"/>
              </a:rPr>
              <a:t> instead of inventing duplicates.</a:t>
            </a:r>
            <a:endParaRPr b="0" i="0" sz="1400" u="none" cap="none" strike="noStrike">
              <a:solidFill>
                <a:srgbClr val="000000"/>
              </a:solidFill>
              <a:latin typeface="Arial"/>
              <a:ea typeface="Arial"/>
              <a:cs typeface="Arial"/>
              <a:sym typeface="Arial"/>
            </a:endParaRPr>
          </a:p>
        </p:txBody>
      </p:sp>
      <p:sp>
        <p:nvSpPr>
          <p:cNvPr id="512" name="Google Shape;512;p6"/>
          <p:cNvSpPr/>
          <p:nvPr/>
        </p:nvSpPr>
        <p:spPr>
          <a:xfrm>
            <a:off x="80467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3" name="Google Shape;513;p6"/>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14" name="Google Shape;514;p6"/>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6"/>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16" name="Google Shape;516;p6"/>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7" name="Google Shape;517;p6"/>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18" name="Google Shape;518;p6"/>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9" name="Google Shape;519;p6"/>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20" name="Google Shape;520;p6"/>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1" name="Google Shape;521;p6"/>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22" name="Google Shape;522;p6"/>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3" name="Google Shape;523;p6"/>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524" name="Slide number 52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7"/>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2 / SEED</a:t>
            </a:r>
            <a:endParaRPr b="0" i="0" sz="1400" u="none" cap="none" strike="noStrike">
              <a:solidFill>
                <a:srgbClr val="000000"/>
              </a:solidFill>
              <a:latin typeface="Arial"/>
              <a:ea typeface="Arial"/>
              <a:cs typeface="Arial"/>
              <a:sym typeface="Arial"/>
            </a:endParaRPr>
          </a:p>
        </p:txBody>
      </p:sp>
      <p:sp>
        <p:nvSpPr>
          <p:cNvPr id="530" name="Google Shape;530;p7"/>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Guarantee schema coverage before LLM enrichment.</a:t>
            </a:r>
            <a:endParaRPr b="0" i="0" sz="1400" u="none" cap="none" strike="noStrike">
              <a:solidFill>
                <a:srgbClr val="000000"/>
              </a:solidFill>
              <a:latin typeface="Arial"/>
              <a:ea typeface="Arial"/>
              <a:cs typeface="Arial"/>
              <a:sym typeface="Arial"/>
            </a:endParaRPr>
          </a:p>
        </p:txBody>
      </p:sp>
      <p:sp>
        <p:nvSpPr>
          <p:cNvPr id="531" name="Google Shape;531;p7"/>
          <p:cNvSpPr txBox="1"/>
          <p:nvPr/>
        </p:nvSpPr>
        <p:spPr>
          <a:xfrm>
            <a:off x="795528" y="1367865"/>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Direct Mapping (DMᵣ) represents every column in the table before generation.</a:t>
            </a:r>
            <a:endParaRPr b="0" i="0" sz="1400" u="none" cap="none" strike="noStrike">
              <a:solidFill>
                <a:srgbClr val="000000"/>
              </a:solidFill>
              <a:latin typeface="Arial"/>
              <a:ea typeface="Arial"/>
              <a:cs typeface="Arial"/>
              <a:sym typeface="Arial"/>
            </a:endParaRPr>
          </a:p>
        </p:txBody>
      </p:sp>
      <p:sp>
        <p:nvSpPr>
          <p:cNvPr id="532" name="Google Shape;532;p7"/>
          <p:cNvSpPr/>
          <p:nvPr/>
        </p:nvSpPr>
        <p:spPr>
          <a:xfrm>
            <a:off x="813825" y="1758475"/>
            <a:ext cx="3684900" cy="32964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3" name="Google Shape;533;p7"/>
          <p:cNvSpPr txBox="1"/>
          <p:nvPr/>
        </p:nvSpPr>
        <p:spPr>
          <a:xfrm>
            <a:off x="1024115" y="1972592"/>
            <a:ext cx="32643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INPUT  </a:t>
            </a:r>
            <a:endParaRPr b="0" i="0" sz="1800" u="none" cap="none" strike="noStrike">
              <a:solidFill>
                <a:srgbClr val="000000"/>
              </a:solidFill>
              <a:latin typeface="Arial"/>
              <a:ea typeface="Arial"/>
              <a:cs typeface="Arial"/>
              <a:sym typeface="Arial"/>
            </a:endParaRPr>
          </a:p>
        </p:txBody>
      </p:sp>
      <p:sp>
        <p:nvSpPr>
          <p:cNvPr id="534" name="Google Shape;534;p7"/>
          <p:cNvSpPr/>
          <p:nvPr/>
        </p:nvSpPr>
        <p:spPr>
          <a:xfrm>
            <a:off x="4672584" y="2965489"/>
            <a:ext cx="612600" cy="4755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7"/>
          <p:cNvSpPr/>
          <p:nvPr/>
        </p:nvSpPr>
        <p:spPr>
          <a:xfrm>
            <a:off x="5458975" y="1758474"/>
            <a:ext cx="5879700" cy="3296400"/>
          </a:xfrm>
          <a:prstGeom prst="roundRect">
            <a:avLst>
              <a:gd fmla="val 10000" name="adj"/>
            </a:avLst>
          </a:prstGeom>
          <a:solidFill>
            <a:srgbClr val="FFFFFF"/>
          </a:solidFill>
          <a:ln cap="flat" cmpd="sng" w="1905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6" name="Google Shape;536;p7"/>
          <p:cNvSpPr txBox="1"/>
          <p:nvPr/>
        </p:nvSpPr>
        <p:spPr>
          <a:xfrm>
            <a:off x="5669280" y="1913929"/>
            <a:ext cx="53217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OUTPUT  /  DM</a:t>
            </a:r>
            <a:r>
              <a:rPr b="1" baseline="-25000" i="0" lang="en-US" sz="1800" u="none" cap="none" strike="noStrike">
                <a:solidFill>
                  <a:srgbClr val="0B6E4F"/>
                </a:solidFill>
                <a:latin typeface="Consolas"/>
                <a:ea typeface="Consolas"/>
                <a:cs typeface="Consolas"/>
                <a:sym typeface="Consolas"/>
              </a:rPr>
              <a:t>r</a:t>
            </a:r>
            <a:r>
              <a:rPr b="1" i="0" lang="en-US" sz="1800" u="none" cap="none" strike="noStrike">
                <a:solidFill>
                  <a:srgbClr val="0B6E4F"/>
                </a:solidFill>
                <a:latin typeface="Consolas"/>
                <a:ea typeface="Consolas"/>
                <a:cs typeface="Consolas"/>
                <a:sym typeface="Consolas"/>
              </a:rPr>
              <a:t> </a:t>
            </a:r>
            <a:endParaRPr b="0" i="0" sz="1800" u="none" cap="none" strike="noStrike">
              <a:solidFill>
                <a:srgbClr val="000000"/>
              </a:solidFill>
              <a:latin typeface="Arial"/>
              <a:ea typeface="Arial"/>
              <a:cs typeface="Arial"/>
              <a:sym typeface="Arial"/>
            </a:endParaRPr>
          </a:p>
        </p:txBody>
      </p:sp>
      <p:sp>
        <p:nvSpPr>
          <p:cNvPr id="537" name="Google Shape;537;p7"/>
          <p:cNvSpPr/>
          <p:nvPr/>
        </p:nvSpPr>
        <p:spPr>
          <a:xfrm>
            <a:off x="822960" y="5166360"/>
            <a:ext cx="10515600" cy="3657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8" name="Google Shape;538;p7"/>
          <p:cNvSpPr txBox="1"/>
          <p:nvPr/>
        </p:nvSpPr>
        <p:spPr>
          <a:xfrm>
            <a:off x="1024128" y="5248656"/>
            <a:ext cx="10131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GUARANTEE   Every schema column is represented in the deterministic seed.</a:t>
            </a:r>
            <a:endParaRPr b="0" i="0" sz="1400" u="none" cap="none" strike="noStrike">
              <a:solidFill>
                <a:srgbClr val="000000"/>
              </a:solidFill>
              <a:latin typeface="Arial"/>
              <a:ea typeface="Arial"/>
              <a:cs typeface="Arial"/>
              <a:sym typeface="Arial"/>
            </a:endParaRPr>
          </a:p>
        </p:txBody>
      </p:sp>
      <p:sp>
        <p:nvSpPr>
          <p:cNvPr id="539" name="Google Shape;539;p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0" name="Google Shape;540;p7"/>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41" name="Google Shape;541;p7"/>
          <p:cNvSpPr/>
          <p:nvPr/>
        </p:nvSpPr>
        <p:spPr>
          <a:xfrm>
            <a:off x="2642615"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2" name="Google Shape;542;p7"/>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43" name="Google Shape;543;p7"/>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4" name="Google Shape;544;p7"/>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45" name="Google Shape;545;p7"/>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6" name="Google Shape;546;p7"/>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47" name="Google Shape;547;p7"/>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8" name="Google Shape;548;p7"/>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49" name="Google Shape;549;p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0" name="Google Shape;550;p7"/>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descr="OWL Manchester Syntax excerpt" id="551" name="Google Shape;551;p7"/>
          <p:cNvSpPr/>
          <p:nvPr/>
        </p:nvSpPr>
        <p:spPr>
          <a:xfrm>
            <a:off x="5733300" y="2307300"/>
            <a:ext cx="5266800" cy="2651700"/>
          </a:xfrm>
          <a:prstGeom prst="roundRect">
            <a:avLst>
              <a:gd fmla="val 5000" name="adj"/>
            </a:avLst>
          </a:prstGeom>
          <a:solidFill>
            <a:srgbClr val="F6F8FA"/>
          </a:solidFill>
          <a:ln cap="flat" cmpd="sng" w="9525">
            <a:solidFill>
              <a:srgbClr val="D0D7DE"/>
            </a:solidFill>
            <a:prstDash val="solid"/>
            <a:round/>
            <a:headEnd len="sm" w="sm" type="none"/>
            <a:tailEnd len="sm" w="sm" type="none"/>
          </a:ln>
        </p:spPr>
        <p:txBody>
          <a:bodyPr anchorCtr="0" anchor="t" bIns="54850" lIns="109725" spcFirstLastPara="1" rIns="109725" wrap="square" tIns="73150">
            <a:noAutofit/>
          </a:bodyPr>
          <a:lstStyle/>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Class:</a:t>
            </a:r>
            <a:r>
              <a:rPr b="0" i="0" lang="en-US" sz="1400" u="none" cap="none" strike="noStrike">
                <a:solidFill>
                  <a:srgbClr val="1F2328"/>
                </a:solidFill>
                <a:latin typeface="Consolas"/>
                <a:ea typeface="Consolas"/>
                <a:cs typeface="Consolas"/>
                <a:sym typeface="Consolas"/>
              </a:rPr>
              <a:t> Admission</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a:t>
            </a:r>
            <a:r>
              <a:rPr b="1" i="0" lang="en-US" sz="1400" u="none" cap="none" strike="noStrike">
                <a:solidFill>
                  <a:srgbClr val="0B6E4F"/>
                </a:solidFill>
                <a:latin typeface="Consolas"/>
                <a:ea typeface="Consolas"/>
                <a:cs typeface="Consolas"/>
                <a:sym typeface="Consolas"/>
              </a:rPr>
              <a:t>SubClassOf:</a:t>
            </a:r>
            <a:endParaRPr b="1" i="0" sz="1400" u="none" cap="none" strike="noStrike">
              <a:solidFill>
                <a:srgbClr val="0B6E4F"/>
              </a:solidFill>
              <a:latin typeface="Consolas"/>
              <a:ea typeface="Consolas"/>
              <a:cs typeface="Consolas"/>
              <a:sym typeface="Consolas"/>
            </a:endParaRPr>
          </a:p>
          <a:p>
            <a:pPr indent="0" lvl="0" marL="0" rtl="0" algn="l">
              <a:lnSpc>
                <a:spcPct val="114285"/>
              </a:lnSpc>
              <a:spcBef>
                <a:spcPts val="0"/>
              </a:spcBef>
              <a:spcAft>
                <a:spcPts val="0"/>
              </a:spcAft>
              <a:buNone/>
            </a:pPr>
            <a:r>
              <a:rPr lang="en-US" sz="1400">
                <a:solidFill>
                  <a:srgbClr val="1F2328"/>
                </a:solidFill>
                <a:latin typeface="Consolas"/>
                <a:ea typeface="Consolas"/>
                <a:cs typeface="Consolas"/>
                <a:sym typeface="Consolas"/>
              </a:rPr>
              <a:t>    admission_id </a:t>
            </a:r>
            <a:r>
              <a:rPr b="1" lang="en-US" sz="1400">
                <a:solidFill>
                  <a:srgbClr val="0B6E4F"/>
                </a:solidFill>
                <a:latin typeface="Consolas"/>
                <a:ea typeface="Consolas"/>
                <a:cs typeface="Consolas"/>
                <a:sym typeface="Consolas"/>
              </a:rPr>
              <a:t>some</a:t>
            </a:r>
            <a:r>
              <a:rPr lang="en-US" sz="1400">
                <a:solidFill>
                  <a:srgbClr val="1F2328"/>
                </a:solidFill>
                <a:latin typeface="Consolas"/>
                <a:ea typeface="Consolas"/>
                <a:cs typeface="Consolas"/>
                <a:sym typeface="Consolas"/>
              </a:rPr>
              <a:t> </a:t>
            </a:r>
            <a:r>
              <a:rPr lang="en-US" sz="1400">
                <a:solidFill>
                  <a:srgbClr val="6F42C1"/>
                </a:solidFill>
                <a:latin typeface="Consolas"/>
                <a:ea typeface="Consolas"/>
                <a:cs typeface="Consolas"/>
                <a:sym typeface="Consolas"/>
              </a:rPr>
              <a:t>xsd:integer</a:t>
            </a:r>
            <a:r>
              <a:rPr lang="en-US" sz="1400">
                <a:solidFill>
                  <a:srgbClr val="1F2328"/>
                </a:solidFill>
                <a:latin typeface="Consolas"/>
                <a:ea typeface="Consolas"/>
                <a:cs typeface="Consolas"/>
                <a:sym typeface="Consolas"/>
              </a:rPr>
              <a:t>,</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patient_id </a:t>
            </a:r>
            <a:r>
              <a:rPr b="1" i="0" lang="en-US" sz="1400" u="none" cap="none" strike="noStrike">
                <a:solidFill>
                  <a:srgbClr val="0B6E4F"/>
                </a:solidFill>
                <a:latin typeface="Consolas"/>
                <a:ea typeface="Consolas"/>
                <a:cs typeface="Consolas"/>
                <a:sym typeface="Consolas"/>
              </a:rPr>
              <a:t>some</a:t>
            </a:r>
            <a:r>
              <a:rPr b="0" i="0" lang="en-US" sz="1400" u="none" cap="none" strike="noStrike">
                <a:solidFill>
                  <a:srgbClr val="1F2328"/>
                </a:solidFill>
                <a:latin typeface="Consolas"/>
                <a:ea typeface="Consolas"/>
                <a:cs typeface="Consolas"/>
                <a:sym typeface="Consolas"/>
              </a:rPr>
              <a:t> PatientData,</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BM_DEP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r>
              <a:rPr b="0" i="0" lang="en-US" sz="1400" u="none" cap="none" strike="noStrike">
                <a:solidFill>
                  <a:srgbClr val="1F2328"/>
                </a:solidFill>
                <a:latin typeface="Consolas"/>
                <a:ea typeface="Consolas"/>
                <a:cs typeface="Consolas"/>
                <a:sym typeface="Consolas"/>
              </a:rPr>
              <a:t>,</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ecog_stage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endParaRPr b="0" i="0" sz="1400" u="none" cap="none" strike="noStrike">
              <a:solidFill>
                <a:srgbClr val="000000"/>
              </a:solidFill>
              <a:latin typeface="Arial"/>
              <a:ea typeface="Arial"/>
              <a:cs typeface="Arial"/>
              <a:sym typeface="Arial"/>
            </a:endParaRPr>
          </a:p>
          <a:p>
            <a:pPr indent="0" lvl="0" marL="0" rtl="0" algn="l">
              <a:lnSpc>
                <a:spcPct val="114285"/>
              </a:lnSpc>
              <a:spcBef>
                <a:spcPts val="0"/>
              </a:spcBef>
              <a:spcAft>
                <a:spcPts val="0"/>
              </a:spcAft>
              <a:buNone/>
            </a:pPr>
            <a:r>
              <a:rPr b="1" lang="en-US" sz="1400">
                <a:solidFill>
                  <a:srgbClr val="0B6E4F"/>
                </a:solidFill>
                <a:latin typeface="Consolas"/>
                <a:ea typeface="Consolas"/>
                <a:cs typeface="Consolas"/>
                <a:sym typeface="Consolas"/>
              </a:rPr>
              <a:t>DataProperty:</a:t>
            </a:r>
            <a:r>
              <a:rPr lang="en-US" sz="1400">
                <a:solidFill>
                  <a:srgbClr val="1F2328"/>
                </a:solidFill>
                <a:latin typeface="Consolas"/>
                <a:ea typeface="Consolas"/>
                <a:cs typeface="Consolas"/>
                <a:sym typeface="Consolas"/>
              </a:rPr>
              <a:t> admission_id</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ObjectProperty:</a:t>
            </a:r>
            <a:r>
              <a:rPr b="0" i="0" lang="en-US" sz="1400" u="none" cap="none" strike="noStrike">
                <a:solidFill>
                  <a:srgbClr val="1F2328"/>
                </a:solidFill>
                <a:latin typeface="Consolas"/>
                <a:ea typeface="Consolas"/>
                <a:cs typeface="Consolas"/>
                <a:sym typeface="Consolas"/>
              </a:rPr>
              <a:t> patient_id</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BM_DEP</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ecog_stage</a:t>
            </a:r>
            <a:endParaRPr b="0" i="0" sz="1400" u="none" cap="none" strike="noStrike">
              <a:solidFill>
                <a:srgbClr val="000000"/>
              </a:solidFill>
              <a:latin typeface="Arial"/>
              <a:ea typeface="Arial"/>
              <a:cs typeface="Arial"/>
              <a:sym typeface="Arial"/>
            </a:endParaRPr>
          </a:p>
        </p:txBody>
      </p:sp>
      <p:sp>
        <p:nvSpPr>
          <p:cNvPr id="552" name="Google Shape;552;p7"/>
          <p:cNvSpPr/>
          <p:nvPr/>
        </p:nvSpPr>
        <p:spPr>
          <a:xfrm>
            <a:off x="1005800" y="2608194"/>
            <a:ext cx="2696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3" name="Google Shape;553;p7"/>
          <p:cNvSpPr txBox="1"/>
          <p:nvPr/>
        </p:nvSpPr>
        <p:spPr>
          <a:xfrm>
            <a:off x="1170381" y="2645475"/>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554" name="Google Shape;554;p7"/>
          <p:cNvCxnSpPr/>
          <p:nvPr/>
        </p:nvCxnSpPr>
        <p:spPr>
          <a:xfrm>
            <a:off x="1170381" y="3066099"/>
            <a:ext cx="2313300" cy="0"/>
          </a:xfrm>
          <a:prstGeom prst="straightConnector1">
            <a:avLst/>
          </a:prstGeom>
          <a:noFill/>
          <a:ln cap="flat" cmpd="sng" w="19050">
            <a:solidFill>
              <a:srgbClr val="8E989E"/>
            </a:solidFill>
            <a:prstDash val="solid"/>
            <a:miter lim="80"/>
            <a:headEnd len="sm" w="sm" type="none"/>
            <a:tailEnd len="sm" w="sm" type="none"/>
          </a:ln>
        </p:spPr>
      </p:cxnSp>
      <p:sp>
        <p:nvSpPr>
          <p:cNvPr id="555" name="Google Shape;555;p7"/>
          <p:cNvSpPr/>
          <p:nvPr/>
        </p:nvSpPr>
        <p:spPr>
          <a:xfrm>
            <a:off x="1170381" y="3194115"/>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556" name="Google Shape;556;p7"/>
          <p:cNvSpPr/>
          <p:nvPr/>
        </p:nvSpPr>
        <p:spPr>
          <a:xfrm>
            <a:off x="1769877" y="3242803"/>
            <a:ext cx="18618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 → PatientData</a:t>
            </a:r>
            <a:endParaRPr b="0" i="0" sz="1400" u="none" cap="none" strike="noStrike">
              <a:solidFill>
                <a:srgbClr val="5B6770"/>
              </a:solidFill>
              <a:latin typeface="Calibri"/>
              <a:ea typeface="Calibri"/>
              <a:cs typeface="Calibri"/>
              <a:sym typeface="Calibri"/>
            </a:endParaRPr>
          </a:p>
          <a:p>
            <a:pPr indent="0" lvl="0" marL="0" marR="0" rtl="0" algn="r">
              <a:lnSpc>
                <a:spcPct val="100000"/>
              </a:lnSpc>
              <a:spcBef>
                <a:spcPts val="0"/>
              </a:spcBef>
              <a:spcAft>
                <a:spcPts val="0"/>
              </a:spcAft>
              <a:buNone/>
            </a:pPr>
            <a:r>
              <a:t/>
            </a:r>
            <a:endParaRPr>
              <a:solidFill>
                <a:srgbClr val="5B6770"/>
              </a:solidFill>
              <a:latin typeface="Calibri"/>
              <a:ea typeface="Calibri"/>
              <a:cs typeface="Calibri"/>
              <a:sym typeface="Calibri"/>
            </a:endParaRPr>
          </a:p>
        </p:txBody>
      </p:sp>
      <p:sp>
        <p:nvSpPr>
          <p:cNvPr id="557" name="Google Shape;557;p7"/>
          <p:cNvSpPr/>
          <p:nvPr/>
        </p:nvSpPr>
        <p:spPr>
          <a:xfrm>
            <a:off x="1170381" y="3541587"/>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558" name="Google Shape;558;p7"/>
          <p:cNvSpPr/>
          <p:nvPr/>
        </p:nvSpPr>
        <p:spPr>
          <a:xfrm>
            <a:off x="2734005" y="3541587"/>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59" name="Google Shape;559;p7"/>
          <p:cNvSpPr/>
          <p:nvPr/>
        </p:nvSpPr>
        <p:spPr>
          <a:xfrm>
            <a:off x="1170381" y="388905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560" name="Google Shape;560;p7"/>
          <p:cNvSpPr/>
          <p:nvPr/>
        </p:nvSpPr>
        <p:spPr>
          <a:xfrm>
            <a:off x="2734005" y="388905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61" name="Gloss 561"/>
          <p:cNvSpPr txBox="1"/>
          <p:nvPr/>
        </p:nvSpPr>
        <p:spPr>
          <a:xfrm>
            <a:off x="8787255" y="3111965"/>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each has a patient</a:t>
            </a:r>
          </a:p>
        </p:txBody>
      </p:sp>
      <p:sp>
        <p:nvSpPr>
          <p:cNvPr id="562" name="Gloss 562"/>
          <p:cNvSpPr txBox="1"/>
          <p:nvPr/>
        </p:nvSpPr>
        <p:spPr>
          <a:xfrm>
            <a:off x="8787255" y="3355804"/>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if present, an integer</a:t>
            </a:r>
          </a:p>
        </p:txBody>
      </p:sp>
      <p:sp>
        <p:nvSpPr>
          <p:cNvPr id="563" name="Gloss 563"/>
          <p:cNvSpPr txBox="1"/>
          <p:nvPr/>
        </p:nvSpPr>
        <p:spPr>
          <a:xfrm>
            <a:off x="8787255" y="4087319"/>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the FK becomes a link</a:t>
            </a:r>
          </a:p>
        </p:txBody>
      </p:sp>
      <p:sp>
        <p:nvSpPr>
          <p:cNvPr id="564" name="Slide number 5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7</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h2627160d5792b11b_0_50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67" name="Google Shape;567;h2627160d5792b11b_0_50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68" name="Google Shape;568;h2627160d5792b11b_0_504"/>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69" name="Google Shape;569;h2627160d5792b11b_0_504"/>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0" name="Google Shape;570;h2627160d5792b11b_0_504"/>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h2627160d5792b11b_0_504"/>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572" name="Google Shape;572;h2627160d5792b11b_0_504"/>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573" name="Google Shape;573;h2627160d5792b11b_0_504"/>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4" name="Google Shape;574;h2627160d5792b11b_0_504"/>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575" name="Google Shape;575;h2627160d5792b11b_0_504"/>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576" name="Google Shape;576;h2627160d5792b11b_0_50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7" name="Google Shape;577;h2627160d5792b11b_0_50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78" name="Google Shape;578;h2627160d5792b11b_0_50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9" name="Google Shape;579;h2627160d5792b11b_0_50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80" name="Google Shape;580;h2627160d5792b11b_0_504"/>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1" name="Google Shape;581;h2627160d5792b11b_0_50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82" name="Google Shape;582;h2627160d5792b11b_0_504"/>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3" name="Google Shape;583;h2627160d5792b11b_0_50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84" name="Google Shape;584;h2627160d5792b11b_0_504"/>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5" name="Google Shape;585;h2627160d5792b11b_0_50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86" name="Google Shape;586;h2627160d5792b11b_0_50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7" name="Google Shape;587;h2627160d5792b11b_0_50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588" name="Google Shape;588;h2627160d5792b11b_0_504"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sp>
        <p:nvSpPr>
          <p:cNvPr id="589" name="Slide number 58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3" name="Shape 593"/>
        <p:cNvGrpSpPr/>
        <p:nvPr/>
      </p:nvGrpSpPr>
      <p:grpSpPr>
        <a:xfrm>
          <a:off x="0" y="0"/>
          <a:ext cx="0" cy="0"/>
          <a:chOff x="0" y="0"/>
          <a:chExt cx="0" cy="0"/>
        </a:xfrm>
      </p:grpSpPr>
      <p:sp>
        <p:nvSpPr>
          <p:cNvPr id="594" name="Google Shape;594;h2627160d5792b11b_0_55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95" name="Google Shape;595;h2627160d5792b11b_0_55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96" name="Google Shape;596;h2627160d5792b11b_0_55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97" name="Google Shape;597;h2627160d5792b11b_0_55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8" name="Google Shape;598;h2627160d5792b11b_0_55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9" name="Google Shape;599;h2627160d5792b11b_0_55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00" name="Google Shape;600;h2627160d5792b11b_0_55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01" name="Google Shape;601;h2627160d5792b11b_0_55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2" name="Google Shape;602;h2627160d5792b11b_0_55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03" name="Google Shape;603;h2627160d5792b11b_0_55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04" name="Google Shape;604;h2627160d5792b11b_0_55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5" name="Google Shape;605;h2627160d5792b11b_0_55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6" name="Google Shape;606;h2627160d5792b11b_0_55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07" name="Google Shape;607;h2627160d5792b11b_0_55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08" name="Google Shape;608;h2627160d5792b11b_0_55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9" name="Google Shape;609;h2627160d5792b11b_0_55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10" name="Google Shape;610;h2627160d5792b11b_0_55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1" name="Google Shape;611;h2627160d5792b11b_0_55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12" name="Google Shape;612;h2627160d5792b11b_0_55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3" name="Google Shape;613;h2627160d5792b11b_0_55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14" name="Google Shape;614;h2627160d5792b11b_0_55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5" name="Google Shape;615;h2627160d5792b11b_0_55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16" name="Google Shape;616;h2627160d5792b11b_0_55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7" name="Google Shape;617;h2627160d5792b11b_0_55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18" name="Google Shape;618;h2627160d5792b11b_0_55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9" name="Google Shape;619;h2627160d5792b11b_0_55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20" name="Google Shape;620;h2627160d5792b11b_0_55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1" name="Google Shape;621;h2627160d5792b11b_0_55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22" name="Google Shape;622;h2627160d5792b11b_0_55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23" name="Google Shape;623;h2627160d5792b11b_0_55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sp>
        <p:nvSpPr>
          <p:cNvPr id="624" name="Google Shape;624;h2627160d5792b11b_0_55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25" name="Slide number 62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9" name="Shape 629"/>
        <p:cNvGrpSpPr/>
        <p:nvPr/>
      </p:nvGrpSpPr>
      <p:grpSpPr>
        <a:xfrm>
          <a:off x="0" y="0"/>
          <a:ext cx="0" cy="0"/>
          <a:chOff x="0" y="0"/>
          <a:chExt cx="0" cy="0"/>
        </a:xfrm>
      </p:grpSpPr>
      <p:sp>
        <p:nvSpPr>
          <p:cNvPr id="630" name="Google Shape;630;h2627160d5792b11b_0_595"/>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31" name="Google Shape;631;h2627160d5792b11b_0_595"/>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32" name="Google Shape;632;h2627160d5792b11b_0_595"/>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33" name="Google Shape;633;h2627160d5792b11b_0_595"/>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4" name="Google Shape;634;h2627160d5792b11b_0_595"/>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5" name="Google Shape;635;h2627160d5792b11b_0_595"/>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36" name="Google Shape;636;h2627160d5792b11b_0_595"/>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37" name="Google Shape;637;h2627160d5792b11b_0_595"/>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8" name="Google Shape;638;h2627160d5792b11b_0_595"/>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39" name="Google Shape;639;h2627160d5792b11b_0_595"/>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40" name="Google Shape;640;h2627160d5792b11b_0_595"/>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1" name="Google Shape;641;h2627160d5792b11b_0_595"/>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2" name="Google Shape;642;h2627160d5792b11b_0_595"/>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43" name="Google Shape;643;h2627160d5792b11b_0_595"/>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44" name="Google Shape;644;h2627160d5792b11b_0_595"/>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5" name="Google Shape;645;h2627160d5792b11b_0_595"/>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46" name="Google Shape;646;h2627160d5792b11b_0_595"/>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7" name="Google Shape;647;h2627160d5792b11b_0_595"/>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h2627160d5792b11b_0_595"/>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49" name="Google Shape;649;h2627160d5792b11b_0_595"/>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50" name="Google Shape;650;h2627160d5792b11b_0_595"/>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1" name="Google Shape;651;h2627160d5792b11b_0_595"/>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52" name="Google Shape;652;h2627160d5792b11b_0_595"/>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53" name="Google Shape;653;h2627160d5792b11b_0_59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h2627160d5792b11b_0_59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55" name="Google Shape;655;h2627160d5792b11b_0_59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h2627160d5792b11b_0_59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57" name="Google Shape;657;h2627160d5792b11b_0_595"/>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8" name="Google Shape;658;h2627160d5792b11b_0_59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59" name="Google Shape;659;h2627160d5792b11b_0_59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0" name="Google Shape;660;h2627160d5792b11b_0_59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61" name="Google Shape;661;h2627160d5792b11b_0_59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2" name="Google Shape;662;h2627160d5792b11b_0_59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63" name="Google Shape;663;h2627160d5792b11b_0_59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4" name="Google Shape;664;h2627160d5792b11b_0_59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65" name="Google Shape;665;h2627160d5792b11b_0_595"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66" name="Google Shape;666;h2627160d5792b11b_0_595"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667" name="Google Shape;667;h2627160d5792b11b_0_595"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668" name="Google Shape;668;h2627160d5792b11b_0_595"/>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69" name="Slide number 6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h2627160d5792b11b_0_64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75" name="Google Shape;675;h2627160d5792b11b_0_64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76" name="Google Shape;676;h2627160d5792b11b_0_64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77" name="Google Shape;677;h2627160d5792b11b_0_64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8" name="Google Shape;678;h2627160d5792b11b_0_64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9" name="Google Shape;679;h2627160d5792b11b_0_64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80" name="Google Shape;680;h2627160d5792b11b_0_64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81" name="Google Shape;681;h2627160d5792b11b_0_64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2" name="Google Shape;682;h2627160d5792b11b_0_64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83" name="Google Shape;683;h2627160d5792b11b_0_64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84" name="Google Shape;684;h2627160d5792b11b_0_64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5" name="Google Shape;685;h2627160d5792b11b_0_64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6" name="Google Shape;686;h2627160d5792b11b_0_64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87" name="Google Shape;687;h2627160d5792b11b_0_64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88" name="Google Shape;688;h2627160d5792b11b_0_64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9" name="Google Shape;689;h2627160d5792b11b_0_64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90" name="Google Shape;690;h2627160d5792b11b_0_64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91" name="Google Shape;691;h2627160d5792b11b_0_640"/>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2" name="Google Shape;692;h2627160d5792b11b_0_640"/>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3" name="Google Shape;693;h2627160d5792b11b_0_640"/>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94" name="Google Shape;694;h2627160d5792b11b_0_640"/>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95" name="Google Shape;695;h2627160d5792b11b_0_640"/>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6" name="Google Shape;696;h2627160d5792b11b_0_640"/>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97" name="Google Shape;697;h2627160d5792b11b_0_640"/>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98" name="Google Shape;698;h2627160d5792b11b_0_640"/>
          <p:cNvSpPr/>
          <p:nvPr/>
        </p:nvSpPr>
        <p:spPr>
          <a:xfrm>
            <a:off x="1085653" y="4491796"/>
            <a:ext cx="10470000" cy="10281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9" name="Google Shape;699;h2627160d5792b11b_0_640"/>
          <p:cNvSpPr txBox="1"/>
          <p:nvPr/>
        </p:nvSpPr>
        <p:spPr>
          <a:xfrm>
            <a:off x="1311199" y="4649295"/>
            <a:ext cx="10076700" cy="739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ONE RETRIEVAL QUERY PER TABLE   </a:t>
            </a:r>
            <a:r>
              <a:rPr b="1" i="0" lang="en-US" sz="1550" u="none" cap="none" strike="noStrike">
                <a:solidFill>
                  <a:srgbClr val="1F2328"/>
                </a:solidFill>
                <a:latin typeface="Calibri"/>
                <a:ea typeface="Calibri"/>
                <a:cs typeface="Calibri"/>
                <a:sym typeface="Calibri"/>
              </a:rPr>
              <a:t>table</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columns</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FK targets </a:t>
            </a:r>
            <a:r>
              <a:rPr b="0" i="0" lang="en-US" sz="1550" u="none" cap="none" strike="noStrike">
                <a:solidFill>
                  <a:srgbClr val="1F2328"/>
                </a:solidFill>
                <a:latin typeface="Calibri"/>
                <a:ea typeface="Calibri"/>
                <a:cs typeface="Calibri"/>
                <a:sym typeface="Calibri"/>
              </a:rPr>
              <a:t> →  top-</a:t>
            </a:r>
            <a:r>
              <a:rPr lang="en-US" sz="1550">
                <a:solidFill>
                  <a:srgbClr val="1F2328"/>
                </a:solidFill>
                <a:latin typeface="Calibri"/>
                <a:ea typeface="Calibri"/>
                <a:cs typeface="Calibri"/>
                <a:sym typeface="Calibri"/>
              </a:rPr>
              <a:t>K</a:t>
            </a:r>
            <a:r>
              <a:rPr b="0" i="0" lang="en-US" sz="1550" u="none" cap="none" strike="noStrike">
                <a:solidFill>
                  <a:srgbClr val="1F2328"/>
                </a:solidFill>
                <a:latin typeface="Calibri"/>
                <a:ea typeface="Calibri"/>
                <a:cs typeface="Calibri"/>
                <a:sym typeface="Calibri"/>
              </a:rPr>
              <a:t> per </a:t>
            </a:r>
            <a:r>
              <a:rPr b="1" i="0" lang="en-US" sz="1550" u="none" cap="none" strike="noStrike">
                <a:solidFill>
                  <a:srgbClr val="1F2328"/>
                </a:solidFill>
                <a:latin typeface="Calibri"/>
                <a:ea typeface="Calibri"/>
                <a:cs typeface="Calibri"/>
                <a:sym typeface="Calibri"/>
              </a:rPr>
              <a:t>source</a:t>
            </a:r>
            <a:endParaRPr b="1" i="0" sz="1550" u="none" cap="none" strike="noStrike">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t/>
            </a:r>
            <a:endParaRPr i="1" sz="1550">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rPr i="1" lang="en-US" sz="1550">
                <a:solidFill>
                  <a:srgbClr val="1F2328"/>
                </a:solidFill>
                <a:latin typeface="Calibri"/>
                <a:ea typeface="Calibri"/>
                <a:cs typeface="Calibri"/>
                <a:sym typeface="Calibri"/>
              </a:rPr>
              <a:t>(e.g.,  </a:t>
            </a:r>
            <a:r>
              <a:rPr b="1" i="1" lang="en-US" sz="1520">
                <a:solidFill>
                  <a:srgbClr val="0B6E4F"/>
                </a:solidFill>
                <a:latin typeface="Consolas"/>
                <a:ea typeface="Consolas"/>
                <a:cs typeface="Consolas"/>
                <a:sym typeface="Consolas"/>
              </a:rPr>
              <a:t>admission → query: admission + patient_id,BM_DEP, ecog_stage+ PatientData</a:t>
            </a:r>
            <a:r>
              <a:rPr i="1" lang="en-US" sz="1550">
                <a:solidFill>
                  <a:srgbClr val="1F2328"/>
                </a:solidFill>
                <a:latin typeface="Calibri"/>
                <a:ea typeface="Calibri"/>
                <a:cs typeface="Calibri"/>
                <a:sym typeface="Calibri"/>
              </a:rPr>
              <a:t>)</a:t>
            </a:r>
            <a:endParaRPr i="1" sz="1550">
              <a:solidFill>
                <a:srgbClr val="1F2328"/>
              </a:solidFill>
              <a:latin typeface="Calibri"/>
              <a:ea typeface="Calibri"/>
              <a:cs typeface="Calibri"/>
              <a:sym typeface="Calibri"/>
            </a:endParaRPr>
          </a:p>
        </p:txBody>
      </p:sp>
      <p:sp>
        <p:nvSpPr>
          <p:cNvPr id="700" name="Google Shape;700;h2627160d5792b11b_0_64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1" name="Google Shape;701;h2627160d5792b11b_0_64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02" name="Google Shape;702;h2627160d5792b11b_0_64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3" name="Google Shape;703;h2627160d5792b11b_0_64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04" name="Google Shape;704;h2627160d5792b11b_0_64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h2627160d5792b11b_0_64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06" name="Google Shape;706;h2627160d5792b11b_0_64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7" name="Google Shape;707;h2627160d5792b11b_0_64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08" name="Google Shape;708;h2627160d5792b11b_0_64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9" name="Google Shape;709;h2627160d5792b11b_0_64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10" name="Google Shape;710;h2627160d5792b11b_0_64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1" name="Google Shape;711;h2627160d5792b11b_0_64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712" name="Google Shape;712;h2627160d5792b11b_0_64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713" name="Google Shape;713;h2627160d5792b11b_0_64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714" name="Google Shape;714;h2627160d5792b11b_0_640"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715" name="Slide number 7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sp>
        <p:nvSpPr>
          <p:cNvPr id="720" name="Google Shape;720;h3b1f15762288d989_1_155"/>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21" name="Google Shape;721;h3b1f15762288d989_1_155"/>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22" name="Google Shape;722;h3b1f15762288d989_1_15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3" name="Google Shape;723;h3b1f15762288d989_1_15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24" name="Google Shape;724;h3b1f15762288d989_1_15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5" name="Google Shape;725;h3b1f15762288d989_1_15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26" name="Google Shape;726;h3b1f15762288d989_1_155"/>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h3b1f15762288d989_1_15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28" name="Google Shape;728;h3b1f15762288d989_1_155"/>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9" name="Google Shape;729;h3b1f15762288d989_1_15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30" name="Google Shape;730;h3b1f15762288d989_1_15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1" name="Google Shape;731;h3b1f15762288d989_1_15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32" name="Google Shape;732;h3b1f15762288d989_1_15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3" name="Google Shape;733;h3b1f15762288d989_1_15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34" name="Google Shape;734;h3b1f15762288d989_1_155"/>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h3b1f15762288d989_1_155"/>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36" name="Google Shape;736;h3b1f15762288d989_1_155"/>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h3b1f15762288d989_1_155"/>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8" name="Google Shape;738;h3b1f15762288d989_1_155"/>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9" name="Google Shape;739;h3b1f15762288d989_1_155"/>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0" name="Google Shape;740;h3b1f15762288d989_1_155"/>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1" name="Google Shape;741;h3b1f15762288d989_1_155"/>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2" name="Google Shape;742;h3b1f15762288d989_1_155"/>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3" name="Google Shape;743;h3b1f15762288d989_1_155"/>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4" name="Google Shape;744;h3b1f15762288d989_1_155"/>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5" name="Google Shape;745;h3b1f15762288d989_1_155"/>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6" name="Google Shape;746;h3b1f15762288d989_1_155"/>
          <p:cNvSpPr txBox="1"/>
          <p:nvPr/>
        </p:nvSpPr>
        <p:spPr>
          <a:xfrm>
            <a:off x="5038100" y="2830700"/>
            <a:ext cx="50934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7" name="Google Shape;747;h3b1f15762288d989_1_155"/>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8" name="Google Shape;748;h3b1f15762288d989_1_155"/>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9" name="Google Shape;749;h3b1f15762288d989_1_155"/>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0" name="Google Shape;750;h3b1f15762288d989_1_155"/>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1" name="Google Shape;751;h3b1f15762288d989_1_155"/>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2" name="Google Shape;752;h3b1f15762288d989_1_155"/>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3" name="Google Shape;753;h3b1f15762288d989_1_155"/>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754" name="Google Shape;754;h3b1f15762288d989_1_155"/>
          <p:cNvSpPr txBox="1"/>
          <p:nvPr/>
        </p:nvSpPr>
        <p:spPr>
          <a:xfrm>
            <a:off x="5038349" y="3619531"/>
            <a:ext cx="38598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endParaRPr b="0" i="0" sz="1150" u="none" cap="none" strike="noStrike">
              <a:solidFill>
                <a:srgbClr val="000000"/>
              </a:solidFill>
              <a:latin typeface="Arial"/>
              <a:ea typeface="Arial"/>
              <a:cs typeface="Arial"/>
              <a:sym typeface="Arial"/>
            </a:endParaRPr>
          </a:p>
        </p:txBody>
      </p:sp>
      <p:sp>
        <p:nvSpPr>
          <p:cNvPr id="755" name="Google Shape;755;h3b1f15762288d989_1_155"/>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6" name="Google Shape;756;h3b1f15762288d989_1_155"/>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7" name="Google Shape;757;h3b1f15762288d989_1_155"/>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8" name="Google Shape;758;h3b1f15762288d989_1_155"/>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9" name="Google Shape;759;h3b1f15762288d989_1_155"/>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760" name="Slide number 76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4" name="Shape 764"/>
        <p:cNvGrpSpPr/>
        <p:nvPr/>
      </p:nvGrpSpPr>
      <p:grpSpPr>
        <a:xfrm>
          <a:off x="0" y="0"/>
          <a:ext cx="0" cy="0"/>
          <a:chOff x="0" y="0"/>
          <a:chExt cx="0" cy="0"/>
        </a:xfrm>
      </p:grpSpPr>
      <p:sp>
        <p:nvSpPr>
          <p:cNvPr id="765" name="Google Shape;765;h4e1cd23050cdd6e6_1_329"/>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66" name="Google Shape;766;h4e1cd23050cdd6e6_1_329"/>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67" name="Google Shape;767;h4e1cd23050cdd6e6_1_32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8" name="Google Shape;768;h4e1cd23050cdd6e6_1_32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69" name="Google Shape;769;h4e1cd23050cdd6e6_1_32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0" name="Google Shape;770;h4e1cd23050cdd6e6_1_32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71" name="Google Shape;771;h4e1cd23050cdd6e6_1_32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2" name="Google Shape;772;h4e1cd23050cdd6e6_1_32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73" name="Google Shape;773;h4e1cd23050cdd6e6_1_329"/>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4" name="Google Shape;774;h4e1cd23050cdd6e6_1_32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75" name="Google Shape;775;h4e1cd23050cdd6e6_1_329"/>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6" name="Google Shape;776;h4e1cd23050cdd6e6_1_32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77" name="Google Shape;777;h4e1cd23050cdd6e6_1_32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8" name="Google Shape;778;h4e1cd23050cdd6e6_1_32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79" name="Google Shape;779;h4e1cd23050cdd6e6_1_329"/>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h4e1cd23050cdd6e6_1_329"/>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81" name="Google Shape;781;h4e1cd23050cdd6e6_1_329"/>
          <p:cNvSpPr txBox="1"/>
          <p:nvPr/>
        </p:nvSpPr>
        <p:spPr>
          <a:xfrm>
            <a:off x="3858768" y="3841575"/>
            <a:ext cx="832200" cy="197814"/>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B6E4F"/>
                </a:solidFill>
                <a:latin typeface="Consolas"/>
                <a:ea typeface="Consolas"/>
                <a:cs typeface="Consolas"/>
                <a:sym typeface="Consolas"/>
              </a:rPr>
              <a:t>Gen-LLM</a:t>
            </a:r>
            <a:endParaRPr b="0" i="0" sz="1400" u="none" cap="none" strike="noStrike">
              <a:solidFill>
                <a:srgbClr val="000000"/>
              </a:solidFill>
              <a:latin typeface="Arial"/>
              <a:ea typeface="Arial"/>
              <a:cs typeface="Arial"/>
              <a:sym typeface="Arial"/>
            </a:endParaRPr>
          </a:p>
        </p:txBody>
      </p:sp>
      <p:sp>
        <p:nvSpPr>
          <p:cNvPr id="782" name="Google Shape;782;h4e1cd23050cdd6e6_1_329"/>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h4e1cd23050cdd6e6_1_329"/>
          <p:cNvSpPr txBox="1"/>
          <p:nvPr/>
        </p:nvSpPr>
        <p:spPr>
          <a:xfrm>
            <a:off x="5079717" y="1965960"/>
            <a:ext cx="60168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1" i="0" lang="en-US" sz="1450" u="none" cap="none" strike="noStrike">
                <a:solidFill>
                  <a:srgbClr val="2F6B78"/>
                </a:solidFill>
                <a:latin typeface="Consolas"/>
                <a:ea typeface="Consolas"/>
                <a:cs typeface="Consolas"/>
                <a:sym typeface="Consolas"/>
              </a:rPr>
              <a:t>AFTER  /  ENRICHED ΔOᵣ (delta ontology)</a:t>
            </a:r>
            <a:endParaRPr b="0" i="0" sz="1400" u="none" cap="none" strike="noStrike">
              <a:solidFill>
                <a:srgbClr val="000000"/>
              </a:solidFill>
              <a:latin typeface="Arial"/>
              <a:ea typeface="Arial"/>
              <a:cs typeface="Arial"/>
              <a:sym typeface="Arial"/>
            </a:endParaRPr>
          </a:p>
        </p:txBody>
      </p:sp>
      <p:sp>
        <p:nvSpPr>
          <p:cNvPr id="784" name="Google Shape;784;h4e1cd23050cdd6e6_1_329"/>
          <p:cNvSpPr/>
          <p:nvPr/>
        </p:nvSpPr>
        <p:spPr>
          <a:xfrm>
            <a:off x="4037163" y="3419856"/>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h4e1cd23050cdd6e6_1_329"/>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6" name="Google Shape;786;h4e1cd23050cdd6e6_1_329"/>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7" name="Google Shape;787;h4e1cd23050cdd6e6_1_329"/>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8" name="Google Shape;788;h4e1cd23050cdd6e6_1_329"/>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9" name="Google Shape;789;h4e1cd23050cdd6e6_1_329"/>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0" name="Google Shape;790;h4e1cd23050cdd6e6_1_329"/>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1" name="Google Shape;791;h4e1cd23050cdd6e6_1_329"/>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2" name="Google Shape;792;h4e1cd23050cdd6e6_1_329"/>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3" name="Google Shape;793;h4e1cd23050cdd6e6_1_329"/>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4" name="Google Shape;794;h4e1cd23050cdd6e6_1_329"/>
          <p:cNvSpPr/>
          <p:nvPr/>
        </p:nvSpPr>
        <p:spPr>
          <a:xfrm>
            <a:off x="5464452" y="2840692"/>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5" name="Google Shape;795;h4e1cd23050cdd6e6_1_329"/>
          <p:cNvSpPr txBox="1"/>
          <p:nvPr/>
        </p:nvSpPr>
        <p:spPr>
          <a:xfrm>
            <a:off x="5038352" y="2835798"/>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6" name="Google Shape;796;h4e1cd23050cdd6e6_1_329"/>
          <p:cNvSpPr/>
          <p:nvPr/>
        </p:nvSpPr>
        <p:spPr>
          <a:xfrm>
            <a:off x="10177532" y="2845586"/>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797" name="Google Shape;797;h4e1cd23050cdd6e6_1_329"/>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8" name="Google Shape;798;h4e1cd23050cdd6e6_1_329"/>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9" name="Google Shape;799;h4e1cd23050cdd6e6_1_329"/>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0" name="Google Shape;800;h4e1cd23050cdd6e6_1_329"/>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1" name="Google Shape;801;h4e1cd23050cdd6e6_1_329"/>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2" name="Google Shape;802;h4e1cd23050cdd6e6_1_329"/>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3" name="Google Shape;803;h4e1cd23050cdd6e6_1_329"/>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804" name="Google Shape;804;h4e1cd23050cdd6e6_1_329"/>
          <p:cNvSpPr/>
          <p:nvPr/>
        </p:nvSpPr>
        <p:spPr>
          <a:xfrm>
            <a:off x="6386136" y="3624436"/>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5" name="Google Shape;805;h4e1cd23050cdd6e6_1_329"/>
          <p:cNvSpPr txBox="1"/>
          <p:nvPr/>
        </p:nvSpPr>
        <p:spPr>
          <a:xfrm>
            <a:off x="5038352" y="361954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806" name="Google Shape;806;h4e1cd23050cdd6e6_1_329"/>
          <p:cNvSpPr/>
          <p:nvPr/>
        </p:nvSpPr>
        <p:spPr>
          <a:xfrm>
            <a:off x="10177532" y="3629330"/>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07" name="Google Shape;807;h4e1cd23050cdd6e6_1_329"/>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8" name="Google Shape;808;h4e1cd23050cdd6e6_1_329"/>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9" name="Google Shape;809;h4e1cd23050cdd6e6_1_329"/>
          <p:cNvSpPr/>
          <p:nvPr/>
        </p:nvSpPr>
        <p:spPr>
          <a:xfrm>
            <a:off x="5093216" y="397268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0" name="Google Shape;810;h4e1cd23050cdd6e6_1_329"/>
          <p:cNvSpPr/>
          <p:nvPr/>
        </p:nvSpPr>
        <p:spPr>
          <a:xfrm>
            <a:off x="5093216" y="397268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1" name="Google Shape;811;h4e1cd23050cdd6e6_1_329"/>
          <p:cNvSpPr txBox="1"/>
          <p:nvPr/>
        </p:nvSpPr>
        <p:spPr>
          <a:xfrm>
            <a:off x="5038352" y="396778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12" name="Google Shape;812;h4e1cd23050cdd6e6_1_329"/>
          <p:cNvSpPr/>
          <p:nvPr/>
        </p:nvSpPr>
        <p:spPr>
          <a:xfrm>
            <a:off x="5093216" y="4146804"/>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3" name="Google Shape;813;h4e1cd23050cdd6e6_1_329"/>
          <p:cNvSpPr/>
          <p:nvPr/>
        </p:nvSpPr>
        <p:spPr>
          <a:xfrm>
            <a:off x="5093216" y="4146804"/>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4" name="Google Shape;814;h4e1cd23050cdd6e6_1_329"/>
          <p:cNvSpPr txBox="1"/>
          <p:nvPr/>
        </p:nvSpPr>
        <p:spPr>
          <a:xfrm>
            <a:off x="5038352" y="414191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5" name="Google Shape;815;h4e1cd23050cdd6e6_1_329"/>
          <p:cNvSpPr/>
          <p:nvPr/>
        </p:nvSpPr>
        <p:spPr>
          <a:xfrm>
            <a:off x="10177532" y="4151698"/>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16" name="Google Shape;816;h4e1cd23050cdd6e6_1_329"/>
          <p:cNvSpPr/>
          <p:nvPr/>
        </p:nvSpPr>
        <p:spPr>
          <a:xfrm>
            <a:off x="5093216" y="432092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7" name="Google Shape;817;h4e1cd23050cdd6e6_1_329"/>
          <p:cNvSpPr/>
          <p:nvPr/>
        </p:nvSpPr>
        <p:spPr>
          <a:xfrm>
            <a:off x="5093216" y="432092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8" name="Google Shape;818;h4e1cd23050cdd6e6_1_329"/>
          <p:cNvSpPr txBox="1"/>
          <p:nvPr/>
        </p:nvSpPr>
        <p:spPr>
          <a:xfrm>
            <a:off x="5038352" y="43160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9" name="Google Shape;819;h4e1cd23050cdd6e6_1_329"/>
          <p:cNvSpPr/>
          <p:nvPr/>
        </p:nvSpPr>
        <p:spPr>
          <a:xfrm>
            <a:off x="10177532" y="4325820"/>
            <a:ext cx="987600" cy="154462"/>
          </a:xfrm>
          <a:prstGeom prst="roundRect">
            <a:avLst>
              <a:gd fmla="val 9000" name="adj"/>
            </a:avLst>
          </a:prstGeom>
          <a:solidFill>
            <a:srgbClr val="FFFFFF"/>
          </a:solidFill>
          <a:ln cap="flat" cmpd="sng" w="9525">
            <a:solidFill>
              <a:srgbClr val="0B6E4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0B6E4F"/>
                </a:solidFill>
                <a:latin typeface="Consolas"/>
                <a:ea typeface="Consolas"/>
                <a:cs typeface="Consolas"/>
                <a:sym typeface="Consolas"/>
              </a:rPr>
              <a:t>ONTOLOGY</a:t>
            </a:r>
            <a:endParaRPr/>
          </a:p>
        </p:txBody>
      </p:sp>
      <p:sp>
        <p:nvSpPr>
          <p:cNvPr id="820" name="Google Shape;820;h4e1cd23050cdd6e6_1_329"/>
          <p:cNvSpPr/>
          <p:nvPr/>
        </p:nvSpPr>
        <p:spPr>
          <a:xfrm>
            <a:off x="5093216" y="449504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1" name="Google Shape;821;h4e1cd23050cdd6e6_1_329"/>
          <p:cNvSpPr/>
          <p:nvPr/>
        </p:nvSpPr>
        <p:spPr>
          <a:xfrm>
            <a:off x="5093216" y="449504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2" name="Google Shape;822;h4e1cd23050cdd6e6_1_329"/>
          <p:cNvSpPr txBox="1"/>
          <p:nvPr/>
        </p:nvSpPr>
        <p:spPr>
          <a:xfrm>
            <a:off x="5038352" y="449015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823" name="Google Shape;823;h4e1cd23050cdd6e6_1_329"/>
          <p:cNvSpPr/>
          <p:nvPr/>
        </p:nvSpPr>
        <p:spPr>
          <a:xfrm>
            <a:off x="10177532" y="4499942"/>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24" name="Google Shape;824;h4e1cd23050cdd6e6_1_329"/>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5" name="Google Shape;825;h4e1cd23050cdd6e6_1_329"/>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6" name="Google Shape;826;h4e1cd23050cdd6e6_1_329"/>
          <p:cNvSpPr/>
          <p:nvPr/>
        </p:nvSpPr>
        <p:spPr>
          <a:xfrm>
            <a:off x="5093216" y="4843293"/>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7" name="Google Shape;827;h4e1cd23050cdd6e6_1_329"/>
          <p:cNvSpPr/>
          <p:nvPr/>
        </p:nvSpPr>
        <p:spPr>
          <a:xfrm>
            <a:off x="5093216" y="4843293"/>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8" name="Google Shape;828;h4e1cd23050cdd6e6_1_329"/>
          <p:cNvSpPr txBox="1"/>
          <p:nvPr/>
        </p:nvSpPr>
        <p:spPr>
          <a:xfrm>
            <a:off x="5038352" y="4838399"/>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29" name="Google Shape;829;h4e1cd23050cdd6e6_1_329"/>
          <p:cNvSpPr/>
          <p:nvPr/>
        </p:nvSpPr>
        <p:spPr>
          <a:xfrm>
            <a:off x="5093216" y="501741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0" name="Google Shape;830;h4e1cd23050cdd6e6_1_329"/>
          <p:cNvSpPr/>
          <p:nvPr/>
        </p:nvSpPr>
        <p:spPr>
          <a:xfrm>
            <a:off x="5093216" y="501741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1" name="Google Shape;831;h4e1cd23050cdd6e6_1_329"/>
          <p:cNvSpPr txBox="1"/>
          <p:nvPr/>
        </p:nvSpPr>
        <p:spPr>
          <a:xfrm>
            <a:off x="5038352" y="501252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2" name="Google Shape;832;h4e1cd23050cdd6e6_1_329"/>
          <p:cNvSpPr/>
          <p:nvPr/>
        </p:nvSpPr>
        <p:spPr>
          <a:xfrm>
            <a:off x="10177532" y="5022310"/>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33" name="Google Shape;833;h4e1cd23050cdd6e6_1_329"/>
          <p:cNvSpPr/>
          <p:nvPr/>
        </p:nvSpPr>
        <p:spPr>
          <a:xfrm>
            <a:off x="5093216" y="519153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4" name="Google Shape;834;h4e1cd23050cdd6e6_1_329"/>
          <p:cNvSpPr/>
          <p:nvPr/>
        </p:nvSpPr>
        <p:spPr>
          <a:xfrm>
            <a:off x="5093216" y="519153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5" name="Google Shape;835;h4e1cd23050cdd6e6_1_329"/>
          <p:cNvSpPr txBox="1"/>
          <p:nvPr/>
        </p:nvSpPr>
        <p:spPr>
          <a:xfrm>
            <a:off x="5038352" y="518664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6" name="Google Shape;836;h4e1cd23050cdd6e6_1_329"/>
          <p:cNvSpPr/>
          <p:nvPr/>
        </p:nvSpPr>
        <p:spPr>
          <a:xfrm>
            <a:off x="10177532" y="5196432"/>
            <a:ext cx="987600" cy="154462"/>
          </a:xfrm>
          <a:prstGeom prst="roundRect">
            <a:avLst>
              <a:gd fmla="val 9000" name="adj"/>
            </a:avLst>
          </a:prstGeom>
          <a:solidFill>
            <a:srgbClr val="FFFFFF"/>
          </a:solidFill>
          <a:ln cap="flat" cmpd="sng" w="9525">
            <a:solidFill>
              <a:srgbClr val="6F42C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6F42C1"/>
                </a:solidFill>
                <a:latin typeface="Consolas"/>
                <a:ea typeface="Consolas"/>
                <a:cs typeface="Consolas"/>
                <a:sym typeface="Consolas"/>
              </a:rPr>
              <a:t>LLM</a:t>
            </a:r>
            <a:endParaRPr/>
          </a:p>
        </p:txBody>
      </p:sp>
      <p:sp>
        <p:nvSpPr>
          <p:cNvPr id="837" name="Google Shape;837;h4e1cd23050cdd6e6_1_329"/>
          <p:cNvSpPr/>
          <p:nvPr/>
        </p:nvSpPr>
        <p:spPr>
          <a:xfrm>
            <a:off x="5093216" y="536566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8" name="Google Shape;838;h4e1cd23050cdd6e6_1_329"/>
          <p:cNvSpPr/>
          <p:nvPr/>
        </p:nvSpPr>
        <p:spPr>
          <a:xfrm>
            <a:off x="5093216" y="536566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9" name="Google Shape;839;h4e1cd23050cdd6e6_1_329"/>
          <p:cNvSpPr txBox="1"/>
          <p:nvPr/>
        </p:nvSpPr>
        <p:spPr>
          <a:xfrm>
            <a:off x="5038352" y="536076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840" name="Google Shape;840;h4e1cd23050cdd6e6_1_329"/>
          <p:cNvSpPr/>
          <p:nvPr/>
        </p:nvSpPr>
        <p:spPr>
          <a:xfrm>
            <a:off x="10177532" y="5370554"/>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41" name="Google Shape;841;h4e1cd23050cdd6e6_1_329"/>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pic>
        <p:nvPicPr>
          <p:cNvPr id="842" name="Google Shape;842;h4e1cd23050cdd6e6_1_329" title="LLM Neural Brain Icon.png"/>
          <p:cNvPicPr preferRelativeResize="0"/>
          <p:nvPr/>
        </p:nvPicPr>
        <p:blipFill rotWithShape="1">
          <a:blip r:embed="rId3">
            <a:alphaModFix/>
          </a:blip>
          <a:srcRect b="14226" l="16398" r="17214" t="12218"/>
          <a:stretch/>
        </p:blipFill>
        <p:spPr>
          <a:xfrm>
            <a:off x="3919850" y="4107423"/>
            <a:ext cx="644449" cy="603601"/>
          </a:xfrm>
          <a:prstGeom prst="rect">
            <a:avLst/>
          </a:prstGeom>
          <a:noFill/>
          <a:ln>
            <a:noFill/>
          </a:ln>
        </p:spPr>
      </p:pic>
      <p:sp>
        <p:nvSpPr>
          <p:cNvPr id="843" name="Slide number 84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7" name="Shape 847"/>
        <p:cNvGrpSpPr/>
        <p:nvPr/>
      </p:nvGrpSpPr>
      <p:grpSpPr>
        <a:xfrm>
          <a:off x="0" y="0"/>
          <a:ext cx="0" cy="0"/>
          <a:chOff x="0" y="0"/>
          <a:chExt cx="0" cy="0"/>
        </a:xfrm>
      </p:grpSpPr>
      <p:sp>
        <p:nvSpPr>
          <p:cNvPr id="848" name="Google Shape;848;h3b1f15762288d989_2_3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49" name="Google Shape;849;h3b1f15762288d989_2_3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50" name="Google Shape;850;h3b1f15762288d989_2_3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1" name="Google Shape;851;h3b1f15762288d989_2_37"/>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52" name="Google Shape;852;h3b1f15762288d989_2_37"/>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3" name="Google Shape;853;h3b1f15762288d989_2_37"/>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54" name="Google Shape;854;h3b1f15762288d989_2_37"/>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5" name="Google Shape;855;h3b1f15762288d989_2_37"/>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56" name="Google Shape;856;h3b1f15762288d989_2_37"/>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7" name="Google Shape;857;h3b1f15762288d989_2_37"/>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58" name="Google Shape;858;h3b1f15762288d989_2_37"/>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9" name="Google Shape;859;h3b1f15762288d989_2_37"/>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60" name="Google Shape;860;h3b1f15762288d989_2_3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1" name="Google Shape;861;h3b1f15762288d989_2_37"/>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62" name="Google Shape;862;h3b1f15762288d989_2_37"/>
          <p:cNvSpPr/>
          <p:nvPr/>
        </p:nvSpPr>
        <p:spPr>
          <a:xfrm>
            <a:off x="690625" y="1765393"/>
            <a:ext cx="5193900" cy="246900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3" name="Google Shape;863;h3b1f15762288d989_2_37"/>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64" name="Google Shape;864;h3b1f15762288d989_2_37"/>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65" name="Google Shape;865;h3b1f15762288d989_2_37"/>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h3b1f15762288d989_2_37"/>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67" name="Google Shape;867;h3b1f15762288d989_2_37"/>
          <p:cNvSpPr txBox="1"/>
          <p:nvPr/>
        </p:nvSpPr>
        <p:spPr>
          <a:xfrm>
            <a:off x="919225" y="3457409"/>
            <a:ext cx="4572000" cy="646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PatientData Domain: Admission</a:t>
            </a:r>
            <a:r>
              <a:rPr b="0" i="0" lang="en-US" u="none" cap="none" strike="noStrike">
                <a:solidFill>
                  <a:srgbClr val="1F2328"/>
                </a:solidFill>
                <a:latin typeface="Calibri"/>
                <a:ea typeface="Calibri"/>
                <a:cs typeface="Calibri"/>
                <a:sym typeface="Calibri"/>
              </a:rPr>
              <a:t>, OWL infers that every lab result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68" name="Google Shape;868;h3b1f15762288d989_2_37"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69" name="Slide number 8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3" name="Shape 873"/>
        <p:cNvGrpSpPr/>
        <p:nvPr/>
      </p:nvGrpSpPr>
      <p:grpSpPr>
        <a:xfrm>
          <a:off x="0" y="0"/>
          <a:ext cx="0" cy="0"/>
          <a:chOff x="0" y="0"/>
          <a:chExt cx="0" cy="0"/>
        </a:xfrm>
      </p:grpSpPr>
      <p:sp>
        <p:nvSpPr>
          <p:cNvPr id="874" name="Google Shape;874;h3b1f15762288d989_2_79"/>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75" name="Google Shape;875;h3b1f15762288d989_2_79"/>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76" name="Google Shape;876;h3b1f15762288d989_2_7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7" name="Google Shape;877;h3b1f15762288d989_2_7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78" name="Google Shape;878;h3b1f15762288d989_2_7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9" name="Google Shape;879;h3b1f15762288d989_2_7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80" name="Google Shape;880;h3b1f15762288d989_2_7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1" name="Google Shape;881;h3b1f15762288d989_2_7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82" name="Google Shape;882;h3b1f15762288d989_2_79"/>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3" name="Google Shape;883;h3b1f15762288d989_2_7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84" name="Google Shape;884;h3b1f15762288d989_2_79"/>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5" name="Google Shape;885;h3b1f15762288d989_2_7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86" name="Google Shape;886;h3b1f15762288d989_2_7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7" name="Google Shape;887;h3b1f15762288d989_2_7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88" name="Google Shape;888;h3b1f15762288d989_2_79"/>
          <p:cNvSpPr/>
          <p:nvPr/>
        </p:nvSpPr>
        <p:spPr>
          <a:xfrm>
            <a:off x="690625" y="1765393"/>
            <a:ext cx="5193900" cy="246900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9" name="Google Shape;889;h3b1f15762288d989_2_79"/>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90" name="Google Shape;890;h3b1f15762288d989_2_79"/>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91" name="Google Shape;891;h3b1f15762288d989_2_79"/>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2" name="Google Shape;892;h3b1f15762288d989_2_79"/>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93" name="Google Shape;893;h3b1f15762288d989_2_79"/>
          <p:cNvSpPr txBox="1"/>
          <p:nvPr/>
        </p:nvSpPr>
        <p:spPr>
          <a:xfrm>
            <a:off x="919225" y="3457409"/>
            <a:ext cx="4572000" cy="646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PatientData Domain: Admission</a:t>
            </a:r>
            <a:r>
              <a:rPr b="0" i="0" lang="en-US" u="none" cap="none" strike="noStrike">
                <a:solidFill>
                  <a:srgbClr val="1F2328"/>
                </a:solidFill>
                <a:latin typeface="Calibri"/>
                <a:ea typeface="Calibri"/>
                <a:cs typeface="Calibri"/>
                <a:sym typeface="Calibri"/>
              </a:rPr>
              <a:t>, OWL infers that every lab result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94" name="Google Shape;894;h3b1f15762288d989_2_79"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95" name="Google Shape;895;h3b1f15762288d989_2_79"/>
          <p:cNvSpPr/>
          <p:nvPr/>
        </p:nvSpPr>
        <p:spPr>
          <a:xfrm>
            <a:off x="6062420" y="1765393"/>
            <a:ext cx="5193900" cy="246900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6" name="Google Shape;896;h3b1f15762288d989_2_79"/>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897" name="Google Shape;897;h3b1f15762288d989_2_79"/>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898" name="Google Shape;898;h3b1f15762288d989_2_79"/>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9" name="Google Shape;899;h3b1f15762288d989_2_79"/>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00" name="Google Shape;900;h3b1f15762288d989_2_79"/>
          <p:cNvSpPr txBox="1"/>
          <p:nvPr/>
        </p:nvSpPr>
        <p:spPr>
          <a:xfrm>
            <a:off x="6300164" y="3445625"/>
            <a:ext cx="4572000" cy="646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01" name="Google Shape;901;h3b1f15762288d989_2_79"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02" name="Slide number 9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h3b1f15762288d989_2_11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908" name="Google Shape;908;h3b1f15762288d989_2_11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909" name="Google Shape;909;h3b1f15762288d989_2_11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0" name="Google Shape;910;h3b1f15762288d989_2_11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11" name="Google Shape;911;h3b1f15762288d989_2_11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h3b1f15762288d989_2_11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13" name="Google Shape;913;h3b1f15762288d989_2_114"/>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4" name="Google Shape;914;h3b1f15762288d989_2_11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15" name="Google Shape;915;h3b1f15762288d989_2_114"/>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6" name="Google Shape;916;h3b1f15762288d989_2_11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17" name="Google Shape;917;h3b1f15762288d989_2_114"/>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8" name="Google Shape;918;h3b1f15762288d989_2_11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19" name="Google Shape;919;h3b1f15762288d989_2_11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0" name="Google Shape;920;h3b1f15762288d989_2_11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21" name="Google Shape;921;h3b1f15762288d989_2_114"/>
          <p:cNvSpPr/>
          <p:nvPr/>
        </p:nvSpPr>
        <p:spPr>
          <a:xfrm>
            <a:off x="690625" y="1765393"/>
            <a:ext cx="5193900" cy="246900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2" name="Google Shape;922;h3b1f15762288d989_2_114"/>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923" name="Google Shape;923;h3b1f15762288d989_2_114"/>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924" name="Google Shape;924;h3b1f15762288d989_2_114"/>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5" name="Google Shape;925;h3b1f15762288d989_2_114"/>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926" name="Google Shape;926;h3b1f15762288d989_2_114"/>
          <p:cNvSpPr txBox="1"/>
          <p:nvPr/>
        </p:nvSpPr>
        <p:spPr>
          <a:xfrm>
            <a:off x="919225" y="3457409"/>
            <a:ext cx="4572000" cy="646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PatientData Domain: Admission</a:t>
            </a:r>
            <a:r>
              <a:rPr b="0" i="0" lang="en-US" u="none" cap="none" strike="noStrike">
                <a:solidFill>
                  <a:srgbClr val="1F2328"/>
                </a:solidFill>
                <a:latin typeface="Calibri"/>
                <a:ea typeface="Calibri"/>
                <a:cs typeface="Calibri"/>
                <a:sym typeface="Calibri"/>
              </a:rPr>
              <a:t>, OWL infers that every lab result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sp>
        <p:nvSpPr>
          <p:cNvPr id="927" name="Google Shape;927;h3b1f15762288d989_2_114"/>
          <p:cNvSpPr/>
          <p:nvPr/>
        </p:nvSpPr>
        <p:spPr>
          <a:xfrm>
            <a:off x="841248" y="4718304"/>
            <a:ext cx="10515600" cy="658500"/>
          </a:xfrm>
          <a:prstGeom prst="roundRect">
            <a:avLst>
              <a:gd fmla="val 16667" name="adj"/>
            </a:avLst>
          </a:prstGeom>
          <a:solidFill>
            <a:srgbClr val="E6F2EC"/>
          </a:solidFill>
          <a:ln cap="flat" cmpd="sng" w="9525">
            <a:solidFill>
              <a:srgbClr val="B7D7C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8" name="Google Shape;928;h3b1f15762288d989_2_114"/>
          <p:cNvSpPr txBox="1"/>
          <p:nvPr/>
        </p:nvSpPr>
        <p:spPr>
          <a:xfrm>
            <a:off x="625678" y="7018775"/>
            <a:ext cx="9985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CORRECTION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hasPatientData  </a:t>
            </a:r>
            <a:r>
              <a:rPr b="1" i="0" lang="en-US" sz="1200" u="none" cap="none" strike="noStrike">
                <a:solidFill>
                  <a:srgbClr val="0B6E4F"/>
                </a:solidFill>
                <a:latin typeface="Consolas"/>
                <a:ea typeface="Consolas"/>
                <a:cs typeface="Consolas"/>
                <a:sym typeface="Consolas"/>
              </a:rPr>
              <a:t>Range:</a:t>
            </a:r>
            <a:r>
              <a:rPr b="0" i="0" lang="en-US" sz="1200" u="none" cap="none" strike="noStrike">
                <a:solidFill>
                  <a:srgbClr val="1F2328"/>
                </a:solidFill>
                <a:latin typeface="Consolas"/>
                <a:ea typeface="Consolas"/>
                <a:cs typeface="Consolas"/>
                <a:sym typeface="Consolas"/>
              </a:rPr>
              <a:t> PatientData</a:t>
            </a:r>
            <a:r>
              <a:rPr b="0" i="0" lang="en-US" sz="1300" u="none" cap="none" strike="noStrike">
                <a:solidFill>
                  <a:srgbClr val="5B6770"/>
                </a:solidFill>
                <a:latin typeface="Calibri"/>
                <a:ea typeface="Calibri"/>
                <a:cs typeface="Calibri"/>
                <a:sym typeface="Calibri"/>
              </a:rPr>
              <a:t>    |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labResultOf  </a:t>
            </a:r>
            <a:r>
              <a:rPr b="1" i="0" lang="en-US" sz="1200" u="none" cap="none" strike="noStrike">
                <a:solidFill>
                  <a:srgbClr val="0B6E4F"/>
                </a:solidFill>
                <a:latin typeface="Consolas"/>
                <a:ea typeface="Consolas"/>
                <a:cs typeface="Consolas"/>
                <a:sym typeface="Consolas"/>
              </a:rPr>
              <a:t>Domain:</a:t>
            </a:r>
            <a:r>
              <a:rPr b="0" i="0" lang="en-US" sz="1200" u="none" cap="none" strike="noStrike">
                <a:solidFill>
                  <a:srgbClr val="1F2328"/>
                </a:solidFill>
                <a:latin typeface="Consolas"/>
                <a:ea typeface="Consolas"/>
                <a:cs typeface="Consolas"/>
                <a:sym typeface="Consolas"/>
              </a:rPr>
              <a:t> LabResult</a:t>
            </a:r>
            <a:endParaRPr/>
          </a:p>
        </p:txBody>
      </p:sp>
      <p:sp>
        <p:nvSpPr>
          <p:cNvPr id="929" name="Google Shape;929;h3b1f15762288d989_2_114"/>
          <p:cNvSpPr txBox="1"/>
          <p:nvPr/>
        </p:nvSpPr>
        <p:spPr>
          <a:xfrm>
            <a:off x="1169012" y="4827438"/>
            <a:ext cx="100218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500">
                <a:solidFill>
                  <a:srgbClr val="5B6770"/>
                </a:solidFill>
                <a:latin typeface="Calibri"/>
                <a:ea typeface="Calibri"/>
                <a:cs typeface="Calibri"/>
                <a:sym typeface="Calibri"/>
              </a:rPr>
              <a:t>Problems go back to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 (up to 2 retries). If it </a:t>
            </a:r>
            <a:r>
              <a:rPr b="1" lang="en-US" sz="1500">
                <a:solidFill>
                  <a:srgbClr val="5B6770"/>
                </a:solidFill>
                <a:latin typeface="Calibri"/>
                <a:ea typeface="Calibri"/>
                <a:cs typeface="Calibri"/>
                <a:sym typeface="Calibri"/>
              </a:rPr>
              <a:t>still fails</a:t>
            </a:r>
            <a:r>
              <a:rPr lang="en-US" sz="1500">
                <a:solidFill>
                  <a:srgbClr val="5B6770"/>
                </a:solidFill>
                <a:latin typeface="Calibri"/>
                <a:ea typeface="Calibri"/>
                <a:cs typeface="Calibri"/>
                <a:sym typeface="Calibri"/>
              </a:rPr>
              <a:t>, the </a:t>
            </a:r>
            <a:r>
              <a:rPr b="1" i="1" lang="en-US" sz="1500">
                <a:solidFill>
                  <a:srgbClr val="5B6770"/>
                </a:solidFill>
                <a:latin typeface="Calibri"/>
                <a:ea typeface="Calibri"/>
                <a:cs typeface="Calibri"/>
                <a:sym typeface="Calibri"/>
              </a:rPr>
              <a:t>Judge-LLM</a:t>
            </a:r>
            <a:r>
              <a:rPr lang="en-US" sz="1500">
                <a:solidFill>
                  <a:srgbClr val="5B6770"/>
                </a:solidFill>
                <a:latin typeface="Calibri"/>
                <a:ea typeface="Calibri"/>
                <a:cs typeface="Calibri"/>
                <a:sym typeface="Calibri"/>
              </a:rPr>
              <a:t> picks the better of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’s final version and the plain </a:t>
            </a:r>
            <a:r>
              <a:rPr b="1" i="1" lang="en-US" sz="1500">
                <a:solidFill>
                  <a:srgbClr val="5B6770"/>
                </a:solidFill>
                <a:latin typeface="Calibri"/>
                <a:ea typeface="Calibri"/>
                <a:cs typeface="Calibri"/>
                <a:sym typeface="Calibri"/>
              </a:rPr>
              <a:t>direct mapping</a:t>
            </a:r>
            <a:r>
              <a:rPr lang="en-US" sz="1500">
                <a:solidFill>
                  <a:srgbClr val="5B6770"/>
                </a:solidFill>
                <a:latin typeface="Calibri"/>
                <a:ea typeface="Calibri"/>
                <a:cs typeface="Calibri"/>
                <a:sym typeface="Calibri"/>
              </a:rPr>
              <a:t>.</a:t>
            </a:r>
            <a:endParaRPr sz="1500"/>
          </a:p>
        </p:txBody>
      </p:sp>
      <p:pic>
        <p:nvPicPr>
          <p:cNvPr id="930" name="Google Shape;930;h3b1f15762288d989_2_114"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931" name="Google Shape;931;h3b1f15762288d989_2_114"/>
          <p:cNvSpPr/>
          <p:nvPr/>
        </p:nvSpPr>
        <p:spPr>
          <a:xfrm>
            <a:off x="6062420" y="1765393"/>
            <a:ext cx="5193900" cy="246900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2" name="Google Shape;932;h3b1f15762288d989_2_114"/>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933" name="Google Shape;933;h3b1f15762288d989_2_114"/>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934" name="Google Shape;934;h3b1f15762288d989_2_114"/>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5" name="Google Shape;935;h3b1f15762288d989_2_114"/>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36" name="Google Shape;936;h3b1f15762288d989_2_114"/>
          <p:cNvSpPr txBox="1"/>
          <p:nvPr/>
        </p:nvSpPr>
        <p:spPr>
          <a:xfrm>
            <a:off x="6300164" y="3445625"/>
            <a:ext cx="4572000" cy="646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37" name="Google Shape;937;h3b1f15762288d989_2_114"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38" name="Slide number 93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2" name="Shape 942"/>
        <p:cNvGrpSpPr/>
        <p:nvPr/>
      </p:nvGrpSpPr>
      <p:grpSpPr>
        <a:xfrm>
          <a:off x="0" y="0"/>
          <a:ext cx="0" cy="0"/>
          <a:chOff x="0" y="0"/>
          <a:chExt cx="0" cy="0"/>
        </a:xfrm>
      </p:grpSpPr>
      <p:sp>
        <p:nvSpPr>
          <p:cNvPr id="943" name="Google Shape;943;p11"/>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6 / MERGE</a:t>
            </a:r>
            <a:endParaRPr b="0" i="0" sz="1400" u="none" cap="none" strike="noStrike">
              <a:solidFill>
                <a:srgbClr val="000000"/>
              </a:solidFill>
              <a:latin typeface="Arial"/>
              <a:ea typeface="Arial"/>
              <a:cs typeface="Arial"/>
              <a:sym typeface="Arial"/>
            </a:endParaRPr>
          </a:p>
        </p:txBody>
      </p:sp>
      <p:sp>
        <p:nvSpPr>
          <p:cNvPr id="944" name="Google Shape;944;p11"/>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ontology we built now helps build the next part.</a:t>
            </a:r>
            <a:endParaRPr b="0" i="0" sz="1400" u="none" cap="none" strike="noStrike">
              <a:solidFill>
                <a:srgbClr val="000000"/>
              </a:solidFill>
              <a:latin typeface="Arial"/>
              <a:ea typeface="Arial"/>
              <a:cs typeface="Arial"/>
              <a:sym typeface="Arial"/>
            </a:endParaRPr>
          </a:p>
        </p:txBody>
      </p:sp>
      <p:sp>
        <p:nvSpPr>
          <p:cNvPr id="945" name="Google Shape;945;p11"/>
          <p:cNvSpPr txBox="1"/>
          <p:nvPr/>
        </p:nvSpPr>
        <p:spPr>
          <a:xfrm>
            <a:off x="795528" y="1609344"/>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Integrate</a:t>
            </a:r>
            <a:r>
              <a:rPr b="0" i="0" lang="en-US" sz="1600" u="none" cap="none" strike="noStrike">
                <a:solidFill>
                  <a:srgbClr val="5B6770"/>
                </a:solidFill>
                <a:latin typeface="Calibri"/>
                <a:ea typeface="Calibri"/>
                <a:cs typeface="Calibri"/>
                <a:sym typeface="Calibri"/>
              </a:rPr>
              <a:t> the refined fragment; use the </a:t>
            </a:r>
            <a:r>
              <a:rPr b="1" i="0" lang="en-US" sz="1600" u="none" cap="none" strike="noStrike">
                <a:solidFill>
                  <a:srgbClr val="5B6770"/>
                </a:solidFill>
                <a:latin typeface="Calibri"/>
                <a:ea typeface="Calibri"/>
                <a:cs typeface="Calibri"/>
                <a:sym typeface="Calibri"/>
              </a:rPr>
              <a:t>expanded</a:t>
            </a:r>
            <a:r>
              <a:rPr b="0" i="0" lang="en-US" sz="1600" u="none" cap="none" strike="noStrike">
                <a:solidFill>
                  <a:srgbClr val="5B6770"/>
                </a:solidFill>
                <a:latin typeface="Calibri"/>
                <a:ea typeface="Calibri"/>
                <a:cs typeface="Calibri"/>
                <a:sym typeface="Calibri"/>
              </a:rPr>
              <a:t> core as retrieval context.</a:t>
            </a:r>
            <a:endParaRPr b="0" i="0" sz="1400" u="none" cap="none" strike="noStrike">
              <a:solidFill>
                <a:srgbClr val="000000"/>
              </a:solidFill>
              <a:latin typeface="Arial"/>
              <a:ea typeface="Arial"/>
              <a:cs typeface="Arial"/>
              <a:sym typeface="Arial"/>
            </a:endParaRPr>
          </a:p>
        </p:txBody>
      </p:sp>
      <p:sp>
        <p:nvSpPr>
          <p:cNvPr id="946" name="Google Shape;946;p11"/>
          <p:cNvSpPr/>
          <p:nvPr/>
        </p:nvSpPr>
        <p:spPr>
          <a:xfrm>
            <a:off x="524041" y="2139696"/>
            <a:ext cx="3017400" cy="25419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7" name="Google Shape;947;p11"/>
          <p:cNvSpPr txBox="1"/>
          <p:nvPr/>
        </p:nvSpPr>
        <p:spPr>
          <a:xfrm>
            <a:off x="780073" y="2304288"/>
            <a:ext cx="25785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EXISTING CORE  O₁</a:t>
            </a:r>
            <a:endParaRPr b="0" i="0" sz="1400" u="none" cap="none" strike="noStrike">
              <a:solidFill>
                <a:srgbClr val="000000"/>
              </a:solidFill>
              <a:latin typeface="Arial"/>
              <a:ea typeface="Arial"/>
              <a:cs typeface="Arial"/>
              <a:sym typeface="Arial"/>
            </a:endParaRPr>
          </a:p>
        </p:txBody>
      </p:sp>
      <p:sp>
        <p:nvSpPr>
          <p:cNvPr id="948" name="Google Shape;948;p11"/>
          <p:cNvSpPr/>
          <p:nvPr/>
        </p:nvSpPr>
        <p:spPr>
          <a:xfrm>
            <a:off x="1118401" y="3017520"/>
            <a:ext cx="1847100" cy="6309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9" name="Google Shape;949;p11"/>
          <p:cNvSpPr txBox="1"/>
          <p:nvPr/>
        </p:nvSpPr>
        <p:spPr>
          <a:xfrm>
            <a:off x="1442885" y="3182112"/>
            <a:ext cx="15363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950" name="Google Shape;950;p11"/>
          <p:cNvSpPr txBox="1"/>
          <p:nvPr/>
        </p:nvSpPr>
        <p:spPr>
          <a:xfrm>
            <a:off x="1090969" y="4005072"/>
            <a:ext cx="20301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already validated</a:t>
            </a:r>
            <a:endParaRPr b="0" i="0" sz="1400" u="none" cap="none" strike="noStrike">
              <a:solidFill>
                <a:srgbClr val="000000"/>
              </a:solidFill>
              <a:latin typeface="Arial"/>
              <a:ea typeface="Arial"/>
              <a:cs typeface="Arial"/>
              <a:sym typeface="Arial"/>
            </a:endParaRPr>
          </a:p>
        </p:txBody>
      </p:sp>
      <p:sp>
        <p:nvSpPr>
          <p:cNvPr id="951" name="Google Shape;951;p11"/>
          <p:cNvSpPr txBox="1"/>
          <p:nvPr/>
        </p:nvSpPr>
        <p:spPr>
          <a:xfrm>
            <a:off x="3678721" y="3108960"/>
            <a:ext cx="365700" cy="538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500"/>
              <a:buFont typeface="Arial"/>
              <a:buNone/>
            </a:pPr>
            <a:r>
              <a:rPr b="1" i="0" lang="en-US" sz="3500" u="none" cap="none" strike="noStrike">
                <a:solidFill>
                  <a:srgbClr val="0B6E4F"/>
                </a:solidFill>
                <a:latin typeface="Cambria"/>
                <a:ea typeface="Cambria"/>
                <a:cs typeface="Cambria"/>
                <a:sym typeface="Cambria"/>
              </a:rPr>
              <a:t>+</a:t>
            </a:r>
            <a:endParaRPr b="0" i="0" sz="1400" u="none" cap="none" strike="noStrike">
              <a:solidFill>
                <a:srgbClr val="000000"/>
              </a:solidFill>
              <a:latin typeface="Arial"/>
              <a:ea typeface="Arial"/>
              <a:cs typeface="Arial"/>
              <a:sym typeface="Arial"/>
            </a:endParaRPr>
          </a:p>
        </p:txBody>
      </p:sp>
      <p:sp>
        <p:nvSpPr>
          <p:cNvPr id="952" name="Google Shape;952;p11"/>
          <p:cNvSpPr/>
          <p:nvPr/>
        </p:nvSpPr>
        <p:spPr>
          <a:xfrm>
            <a:off x="4181641" y="2139696"/>
            <a:ext cx="2944500" cy="2541900"/>
          </a:xfrm>
          <a:prstGeom prst="roundRect">
            <a:avLst>
              <a:gd fmla="val 10000" name="adj"/>
            </a:avLst>
          </a:prstGeom>
          <a:solidFill>
            <a:srgbClr val="FFFFFF"/>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3" name="Google Shape;953;p11"/>
          <p:cNvSpPr txBox="1"/>
          <p:nvPr/>
        </p:nvSpPr>
        <p:spPr>
          <a:xfrm>
            <a:off x="4410241" y="2304288"/>
            <a:ext cx="25512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REFINED DELTA  ΔO</a:t>
            </a:r>
            <a:r>
              <a:rPr b="1" baseline="-25000" i="0" lang="en-US" sz="1520" u="none" cap="none" strike="noStrike">
                <a:solidFill>
                  <a:srgbClr val="2F6B78"/>
                </a:solidFill>
                <a:latin typeface="Consolas"/>
                <a:ea typeface="Consolas"/>
                <a:cs typeface="Consolas"/>
                <a:sym typeface="Consolas"/>
              </a:rPr>
              <a:t>admission</a:t>
            </a:r>
            <a:endParaRPr b="0" baseline="-25000" i="0" sz="1400" u="none" cap="none" strike="noStrike">
              <a:solidFill>
                <a:srgbClr val="000000"/>
              </a:solidFill>
              <a:latin typeface="Arial"/>
              <a:ea typeface="Arial"/>
              <a:cs typeface="Arial"/>
              <a:sym typeface="Arial"/>
            </a:endParaRPr>
          </a:p>
        </p:txBody>
      </p:sp>
      <p:sp>
        <p:nvSpPr>
          <p:cNvPr id="954" name="Google Shape;954;p11"/>
          <p:cNvSpPr/>
          <p:nvPr/>
        </p:nvSpPr>
        <p:spPr>
          <a:xfrm>
            <a:off x="4666273" y="3017520"/>
            <a:ext cx="1956900" cy="6309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5" name="Google Shape;955;p11"/>
          <p:cNvSpPr txBox="1"/>
          <p:nvPr/>
        </p:nvSpPr>
        <p:spPr>
          <a:xfrm>
            <a:off x="5054765" y="3172968"/>
            <a:ext cx="15636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56" name="Google Shape;956;p11"/>
          <p:cNvSpPr txBox="1"/>
          <p:nvPr/>
        </p:nvSpPr>
        <p:spPr>
          <a:xfrm>
            <a:off x="4355377" y="3968496"/>
            <a:ext cx="26334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Relations · labels · provenance</a:t>
            </a:r>
            <a:endParaRPr b="0" i="0" sz="1400" u="none" cap="none" strike="noStrike">
              <a:solidFill>
                <a:srgbClr val="000000"/>
              </a:solidFill>
              <a:latin typeface="Arial"/>
              <a:ea typeface="Arial"/>
              <a:cs typeface="Arial"/>
              <a:sym typeface="Arial"/>
            </a:endParaRPr>
          </a:p>
        </p:txBody>
      </p:sp>
      <p:cxnSp>
        <p:nvCxnSpPr>
          <p:cNvPr id="957" name="Google Shape;957;p11"/>
          <p:cNvCxnSpPr/>
          <p:nvPr/>
        </p:nvCxnSpPr>
        <p:spPr>
          <a:xfrm>
            <a:off x="7263169" y="3310128"/>
            <a:ext cx="502800" cy="0"/>
          </a:xfrm>
          <a:prstGeom prst="straightConnector1">
            <a:avLst/>
          </a:prstGeom>
          <a:noFill/>
          <a:ln cap="flat" cmpd="sng" w="31750">
            <a:solidFill>
              <a:srgbClr val="0B6E4F"/>
            </a:solidFill>
            <a:prstDash val="solid"/>
            <a:miter lim="80"/>
            <a:headEnd len="sm" w="sm" type="none"/>
            <a:tailEnd len="med" w="med" type="triangle"/>
          </a:ln>
        </p:spPr>
      </p:cxnSp>
      <p:sp>
        <p:nvSpPr>
          <p:cNvPr id="958" name="Google Shape;958;p11"/>
          <p:cNvSpPr/>
          <p:nvPr/>
        </p:nvSpPr>
        <p:spPr>
          <a:xfrm>
            <a:off x="7930675" y="2139700"/>
            <a:ext cx="3843900" cy="2541900"/>
          </a:xfrm>
          <a:prstGeom prst="roundRect">
            <a:avLst>
              <a:gd fmla="val 10000" name="adj"/>
            </a:avLst>
          </a:prstGeom>
          <a:solidFill>
            <a:srgbClr val="FFFFFF"/>
          </a:solidFill>
          <a:ln cap="flat" cmpd="sng" w="1777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9" name="Google Shape;959;p11"/>
          <p:cNvSpPr txBox="1"/>
          <p:nvPr/>
        </p:nvSpPr>
        <p:spPr>
          <a:xfrm>
            <a:off x="8186713" y="2304288"/>
            <a:ext cx="27249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EXPANDED CORE  O₂</a:t>
            </a:r>
            <a:endParaRPr b="0" i="0" sz="1400" u="none" cap="none" strike="noStrike">
              <a:solidFill>
                <a:srgbClr val="000000"/>
              </a:solidFill>
              <a:latin typeface="Arial"/>
              <a:ea typeface="Arial"/>
              <a:cs typeface="Arial"/>
              <a:sym typeface="Arial"/>
            </a:endParaRPr>
          </a:p>
        </p:txBody>
      </p:sp>
      <p:sp>
        <p:nvSpPr>
          <p:cNvPr id="960" name="Google Shape;960;p11"/>
          <p:cNvSpPr/>
          <p:nvPr/>
        </p:nvSpPr>
        <p:spPr>
          <a:xfrm>
            <a:off x="8025760" y="3107189"/>
            <a:ext cx="12345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1" name="Google Shape;961;p11"/>
          <p:cNvSpPr txBox="1"/>
          <p:nvPr/>
        </p:nvSpPr>
        <p:spPr>
          <a:xfrm>
            <a:off x="8025772" y="3277634"/>
            <a:ext cx="12345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62" name="Google Shape;962;p11"/>
          <p:cNvSpPr/>
          <p:nvPr/>
        </p:nvSpPr>
        <p:spPr>
          <a:xfrm>
            <a:off x="10426124" y="3083041"/>
            <a:ext cx="12711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3" name="Google Shape;963;p11"/>
          <p:cNvSpPr txBox="1"/>
          <p:nvPr/>
        </p:nvSpPr>
        <p:spPr>
          <a:xfrm>
            <a:off x="10413220" y="3253486"/>
            <a:ext cx="12711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964" name="Google Shape;964;p11"/>
          <p:cNvCxnSpPr/>
          <p:nvPr/>
        </p:nvCxnSpPr>
        <p:spPr>
          <a:xfrm flipH="1" rot="10800000">
            <a:off x="9336422" y="3408384"/>
            <a:ext cx="1033200" cy="3600"/>
          </a:xfrm>
          <a:prstGeom prst="straightConnector1">
            <a:avLst/>
          </a:prstGeom>
          <a:noFill/>
          <a:ln cap="flat" cmpd="sng" w="29200">
            <a:solidFill>
              <a:srgbClr val="3A7D8C"/>
            </a:solidFill>
            <a:prstDash val="solid"/>
            <a:miter lim="80"/>
            <a:headEnd len="sm" w="sm" type="none"/>
            <a:tailEnd len="med" w="med" type="triangle"/>
          </a:ln>
        </p:spPr>
      </p:cxnSp>
      <p:sp>
        <p:nvSpPr>
          <p:cNvPr id="965" name="Google Shape;965;p11"/>
          <p:cNvSpPr txBox="1"/>
          <p:nvPr/>
        </p:nvSpPr>
        <p:spPr>
          <a:xfrm>
            <a:off x="8991283" y="3158219"/>
            <a:ext cx="1609200" cy="153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000" u="none" cap="none" strike="noStrike">
                <a:solidFill>
                  <a:srgbClr val="2F6B78"/>
                </a:solidFill>
                <a:latin typeface="Consolas"/>
                <a:ea typeface="Consolas"/>
                <a:cs typeface="Consolas"/>
                <a:sym typeface="Consolas"/>
              </a:rPr>
              <a:t>hasPatientData</a:t>
            </a:r>
            <a:endParaRPr b="0" i="0" sz="1000" u="none" cap="none" strike="noStrike">
              <a:solidFill>
                <a:srgbClr val="000000"/>
              </a:solidFill>
              <a:latin typeface="Arial"/>
              <a:ea typeface="Arial"/>
              <a:cs typeface="Arial"/>
              <a:sym typeface="Arial"/>
            </a:endParaRPr>
          </a:p>
        </p:txBody>
      </p:sp>
      <p:sp>
        <p:nvSpPr>
          <p:cNvPr id="966" name="Google Shape;966;p11"/>
          <p:cNvSpPr txBox="1"/>
          <p:nvPr/>
        </p:nvSpPr>
        <p:spPr>
          <a:xfrm>
            <a:off x="8223289" y="4151376"/>
            <a:ext cx="2697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 enriched annotations</a:t>
            </a:r>
            <a:endParaRPr b="0" i="0" sz="1400" u="none" cap="none" strike="noStrike">
              <a:solidFill>
                <a:srgbClr val="000000"/>
              </a:solidFill>
              <a:latin typeface="Arial"/>
              <a:ea typeface="Arial"/>
              <a:cs typeface="Arial"/>
              <a:sym typeface="Arial"/>
            </a:endParaRPr>
          </a:p>
        </p:txBody>
      </p:sp>
      <p:sp>
        <p:nvSpPr>
          <p:cNvPr id="967" name="Google Shape;967;p11"/>
          <p:cNvSpPr/>
          <p:nvPr/>
        </p:nvSpPr>
        <p:spPr>
          <a:xfrm>
            <a:off x="822960" y="4892040"/>
            <a:ext cx="10561200" cy="5943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8" name="Google Shape;968;p11"/>
          <p:cNvSpPr txBox="1"/>
          <p:nvPr/>
        </p:nvSpPr>
        <p:spPr>
          <a:xfrm>
            <a:off x="1024128" y="5038344"/>
            <a:ext cx="10131600" cy="2463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600"/>
              <a:buFont typeface="Arial"/>
              <a:buNone/>
            </a:pPr>
            <a:r>
              <a:rPr b="1" i="0" lang="en-US" sz="1600" u="none" cap="none" strike="noStrike">
                <a:solidFill>
                  <a:srgbClr val="0B6E4F"/>
                </a:solidFill>
                <a:latin typeface="Calibri"/>
                <a:ea typeface="Calibri"/>
                <a:cs typeface="Calibri"/>
                <a:sym typeface="Calibri"/>
              </a:rPr>
              <a:t>THE LOOP   </a:t>
            </a:r>
            <a:r>
              <a:rPr b="0" i="0" lang="en-US" sz="1600" u="none" cap="none" strike="noStrike">
                <a:solidFill>
                  <a:srgbClr val="1F2328"/>
                </a:solidFill>
                <a:latin typeface="Calibri"/>
                <a:ea typeface="Calibri"/>
                <a:cs typeface="Calibri"/>
                <a:sym typeface="Calibri"/>
              </a:rPr>
              <a:t>O₂ becomes a retrieval source for the next table → a coherent ontology </a:t>
            </a:r>
            <a:r>
              <a:rPr b="1" i="0" lang="en-US" sz="1600" u="none" cap="none" strike="noStrike">
                <a:solidFill>
                  <a:srgbClr val="1F2328"/>
                </a:solidFill>
                <a:latin typeface="Calibri"/>
                <a:ea typeface="Calibri"/>
                <a:cs typeface="Calibri"/>
                <a:sym typeface="Calibri"/>
              </a:rPr>
              <a:t>grows</a:t>
            </a:r>
            <a:r>
              <a:rPr b="0" i="0" lang="en-US" sz="16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9" name="Google Shape;969;p11"/>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0" name="Google Shape;970;p11"/>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71" name="Google Shape;971;p11"/>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2" name="Google Shape;972;p11"/>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73" name="Google Shape;973;p11"/>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4" name="Google Shape;974;p11"/>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75" name="Google Shape;975;p11"/>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6" name="Google Shape;976;p11"/>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77" name="Google Shape;977;p11"/>
          <p:cNvSpPr/>
          <p:nvPr/>
        </p:nvSpPr>
        <p:spPr>
          <a:xfrm>
            <a:off x="8156448"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8" name="Google Shape;978;p11"/>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79" name="Google Shape;979;p11"/>
          <p:cNvSpPr/>
          <p:nvPr/>
        </p:nvSpPr>
        <p:spPr>
          <a:xfrm>
            <a:off x="999439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0" name="Google Shape;980;p11"/>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81" name="Slide number 98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11</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h4c5bf77df5a6a1aa_1_1"/>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987" name="Google Shape;987;h4c5bf77df5a6a1aa_1_1"/>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1. Follow the foreign keys</a:t>
            </a:r>
            <a:endParaRPr b="0" i="0" sz="1400" u="none" cap="none" strike="noStrike">
              <a:solidFill>
                <a:srgbClr val="000000"/>
              </a:solidFill>
              <a:latin typeface="Arial"/>
              <a:ea typeface="Arial"/>
              <a:cs typeface="Arial"/>
              <a:sym typeface="Arial"/>
            </a:endParaRPr>
          </a:p>
        </p:txBody>
      </p:sp>
      <p:sp>
        <p:nvSpPr>
          <p:cNvPr id="988" name="Google Shape;988;h4c5bf77df5a6a1aa_1_1"/>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Start where the foreign-key dependencies begin.</a:t>
            </a:r>
            <a:endParaRPr b="0" i="0" sz="1400" u="none" cap="none" strike="noStrike">
              <a:solidFill>
                <a:srgbClr val="000000"/>
              </a:solidFill>
              <a:latin typeface="Arial"/>
              <a:ea typeface="Arial"/>
              <a:cs typeface="Arial"/>
              <a:sym typeface="Arial"/>
            </a:endParaRPr>
          </a:p>
        </p:txBody>
      </p:sp>
      <p:sp>
        <p:nvSpPr>
          <p:cNvPr id="989" name="Google Shape;989;h4c5bf77df5a6a1aa_1_1"/>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0" name="Google Shape;990;h4c5bf77df5a6a1aa_1_1"/>
          <p:cNvSpPr/>
          <p:nvPr/>
        </p:nvSpPr>
        <p:spPr>
          <a:xfrm>
            <a:off x="10049256"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1" name="Google Shape;991;h4c5bf77df5a6a1aa_1_1"/>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2" name="Google Shape;992;h4c5bf77df5a6a1aa_1_1"/>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3" name="Google Shape;993;h4c5bf77df5a6a1aa_1_1"/>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4" name="Google Shape;994;h4c5bf77df5a6a1aa_1_1"/>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5" name="Google Shape;995;h4c5bf77df5a6a1aa_1_1"/>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1 / 6</a:t>
            </a:r>
            <a:endParaRPr b="0" i="0" sz="1100" u="none" cap="none" strike="noStrike">
              <a:solidFill>
                <a:srgbClr val="000000"/>
              </a:solidFill>
              <a:latin typeface="Arial"/>
              <a:ea typeface="Arial"/>
              <a:cs typeface="Arial"/>
              <a:sym typeface="Arial"/>
            </a:endParaRPr>
          </a:p>
        </p:txBody>
      </p:sp>
      <p:cxnSp>
        <p:nvCxnSpPr>
          <p:cNvPr id="996" name="Google Shape;996;h4c5bf77df5a6a1aa_1_1"/>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997" name="Google Shape;997;h4c5bf77df5a6a1aa_1_1"/>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8" name="Google Shape;998;h4c5bf77df5a6a1aa_1_1"/>
          <p:cNvSpPr/>
          <p:nvPr/>
        </p:nvSpPr>
        <p:spPr>
          <a:xfrm>
            <a:off x="407252" y="2958891"/>
            <a:ext cx="1170300" cy="1134000"/>
          </a:xfrm>
          <a:prstGeom prst="roundRect">
            <a:avLst>
              <a:gd fmla="val 16667"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9" name="Google Shape;999;h4c5bf77df5a6a1aa_1_1"/>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0" name="Google Shape;1000;h4c5bf77df5a6a1aa_1_1"/>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1" name="Google Shape;1001;h4c5bf77df5a6a1aa_1_1"/>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2" name="Google Shape;1002;h4c5bf77df5a6a1aa_1_1"/>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3" name="Google Shape;1003;h4c5bf77df5a6a1aa_1_1"/>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4" name="Google Shape;1004;h4c5bf77df5a6a1aa_1_1"/>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5" name="Google Shape;1005;h4c5bf77df5a6a1aa_1_1"/>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6" name="Google Shape;1006;h4c5bf77df5a6a1aa_1_1"/>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7" name="Google Shape;1007;h4c5bf77df5a6a1aa_1_1"/>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8" name="Google Shape;1008;h4c5bf77df5a6a1aa_1_1"/>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09" name="Google Shape;1009;h4c5bf77df5a6a1aa_1_1"/>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10" name="Google Shape;1010;h4c5bf77df5a6a1aa_1_1"/>
          <p:cNvSpPr/>
          <p:nvPr/>
        </p:nvSpPr>
        <p:spPr>
          <a:xfrm>
            <a:off x="1838868" y="3160059"/>
            <a:ext cx="1444800" cy="6948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11" name="Google Shape;1011;h4c5bf77df5a6a1aa_1_1"/>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12" name="Google Shape;1012;h4c5bf77df5a6a1aa_1_1"/>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sp>
        <p:nvSpPr>
          <p:cNvPr id="1013" name="Slide number 101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h4c5bf77df5a6a1aa_1_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19" name="Google Shape;1019;h4c5bf77df5a6a1aa_1_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2. Anchor generation in the schema</a:t>
            </a:r>
            <a:endParaRPr b="0" i="0" sz="1400" u="none" cap="none" strike="noStrike">
              <a:solidFill>
                <a:srgbClr val="000000"/>
              </a:solidFill>
              <a:latin typeface="Arial"/>
              <a:ea typeface="Arial"/>
              <a:cs typeface="Arial"/>
              <a:sym typeface="Arial"/>
            </a:endParaRPr>
          </a:p>
        </p:txBody>
      </p:sp>
      <p:sp>
        <p:nvSpPr>
          <p:cNvPr id="1020" name="Google Shape;1020;h4c5bf77df5a6a1aa_1_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schema-grounded branch feeds the generation step.</a:t>
            </a:r>
            <a:endParaRPr b="0" i="0" sz="1400" u="none" cap="none" strike="noStrike">
              <a:solidFill>
                <a:srgbClr val="000000"/>
              </a:solidFill>
              <a:latin typeface="Arial"/>
              <a:ea typeface="Arial"/>
              <a:cs typeface="Arial"/>
              <a:sym typeface="Arial"/>
            </a:endParaRPr>
          </a:p>
        </p:txBody>
      </p:sp>
      <p:sp>
        <p:nvSpPr>
          <p:cNvPr id="1021" name="Google Shape;1021;h4c5bf77df5a6a1aa_1_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2" name="Google Shape;1022;h4c5bf77df5a6a1aa_1_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3" name="Google Shape;1023;h4c5bf77df5a6a1aa_1_32"/>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4" name="Google Shape;1024;h4c5bf77df5a6a1aa_1_32"/>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5" name="Google Shape;1025;h4c5bf77df5a6a1aa_1_32"/>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6" name="Google Shape;1026;h4c5bf77df5a6a1aa_1_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7" name="Google Shape;1027;h4c5bf77df5a6a1aa_1_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2 / 6</a:t>
            </a:r>
            <a:endParaRPr b="0" i="0" sz="1100" u="none" cap="none" strike="noStrike">
              <a:solidFill>
                <a:srgbClr val="000000"/>
              </a:solidFill>
              <a:latin typeface="Arial"/>
              <a:ea typeface="Arial"/>
              <a:cs typeface="Arial"/>
              <a:sym typeface="Arial"/>
            </a:endParaRPr>
          </a:p>
        </p:txBody>
      </p:sp>
      <p:cxnSp>
        <p:nvCxnSpPr>
          <p:cNvPr id="1028" name="Google Shape;1028;h4c5bf77df5a6a1aa_1_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29" name="Google Shape;1029;h4c5bf77df5a6a1aa_1_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0" name="Google Shape;1030;h4c5bf77df5a6a1aa_1_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31" name="Google Shape;1031;h4c5bf77df5a6a1aa_1_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32" name="Google Shape;1032;h4c5bf77df5a6a1aa_1_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33" name="Google Shape;1033;h4c5bf77df5a6a1aa_1_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4" name="Google Shape;1034;h4c5bf77df5a6a1aa_1_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5" name="Google Shape;1035;h4c5bf77df5a6a1aa_1_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6" name="Google Shape;1036;h4c5bf77df5a6a1aa_1_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37" name="Google Shape;1037;h4c5bf77df5a6a1aa_1_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38" name="Google Shape;1038;h4c5bf77df5a6a1aa_1_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9" name="Google Shape;1039;h4c5bf77df5a6a1aa_1_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0" name="Google Shape;1040;h4c5bf77df5a6a1aa_1_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1" name="Google Shape;1041;h4c5bf77df5a6a1aa_1_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42" name="Google Shape;1042;h4c5bf77df5a6a1aa_1_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3" name="Google Shape;1043;h4c5bf77df5a6a1aa_1_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4" name="Google Shape;1044;h4c5bf77df5a6a1aa_1_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45" name="Google Shape;1045;h4c5bf77df5a6a1aa_1_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46" name="Google Shape;1046;h4c5bf77df5a6a1aa_1_32"/>
          <p:cNvSpPr/>
          <p:nvPr/>
        </p:nvSpPr>
        <p:spPr>
          <a:xfrm>
            <a:off x="4043884" y="1825035"/>
            <a:ext cx="2103000" cy="7590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7" name="Google Shape;1047;h4c5bf77df5a6a1aa_1_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048" name="Google Shape;1048;h4c5bf77df5a6a1aa_1_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049" name="Google Shape;1049;h4c5bf77df5a6a1aa_1_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cxnSp>
        <p:nvCxnSpPr>
          <p:cNvPr id="1050" name="Google Shape;1050;h4c5bf77df5a6a1aa_1_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051" name="Google Shape;1051;h4c5bf77df5a6a1aa_1_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2" name="Google Shape;1052;h4c5bf77df5a6a1aa_1_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53" name="Google Shape;1053;h4c5bf77df5a6a1aa_1_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054" name="Google Shape;1054;h4c5bf77df5a6a1aa_1_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sp>
        <p:nvSpPr>
          <p:cNvPr id="1055" name="Slide number 105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h4c5bf77df5a6a1aa_1_7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61" name="Google Shape;1061;h4c5bf77df5a6a1aa_1_7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3. Retrieve the missing semantics</a:t>
            </a:r>
            <a:endParaRPr b="0" i="0" sz="1400" u="none" cap="none" strike="noStrike">
              <a:solidFill>
                <a:srgbClr val="000000"/>
              </a:solidFill>
              <a:latin typeface="Arial"/>
              <a:ea typeface="Arial"/>
              <a:cs typeface="Arial"/>
              <a:sym typeface="Arial"/>
            </a:endParaRPr>
          </a:p>
        </p:txBody>
      </p:sp>
      <p:sp>
        <p:nvSpPr>
          <p:cNvPr id="1062" name="Google Shape;1062;h4c5bf77df5a6a1aa_1_7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Context is retrieved independently from three sources.</a:t>
            </a:r>
            <a:endParaRPr b="0" i="0" sz="1400" u="none" cap="none" strike="noStrike">
              <a:solidFill>
                <a:srgbClr val="000000"/>
              </a:solidFill>
              <a:latin typeface="Arial"/>
              <a:ea typeface="Arial"/>
              <a:cs typeface="Arial"/>
              <a:sym typeface="Arial"/>
            </a:endParaRPr>
          </a:p>
        </p:txBody>
      </p:sp>
      <p:sp>
        <p:nvSpPr>
          <p:cNvPr id="1063" name="Google Shape;1063;h4c5bf77df5a6a1aa_1_7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4" name="Google Shape;1064;h4c5bf77df5a6a1aa_1_7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5" name="Google Shape;1065;h4c5bf77df5a6a1aa_1_7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6" name="Google Shape;1066;h4c5bf77df5a6a1aa_1_73"/>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h4c5bf77df5a6a1aa_1_7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8" name="Google Shape;1068;h4c5bf77df5a6a1aa_1_7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9" name="Google Shape;1069;h4c5bf77df5a6a1aa_1_7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3 / 6</a:t>
            </a:r>
            <a:endParaRPr b="0" i="0" sz="1100" u="none" cap="none" strike="noStrike">
              <a:solidFill>
                <a:srgbClr val="000000"/>
              </a:solidFill>
              <a:latin typeface="Arial"/>
              <a:ea typeface="Arial"/>
              <a:cs typeface="Arial"/>
              <a:sym typeface="Arial"/>
            </a:endParaRPr>
          </a:p>
        </p:txBody>
      </p:sp>
      <p:cxnSp>
        <p:nvCxnSpPr>
          <p:cNvPr id="1070" name="Google Shape;1070;h4c5bf77df5a6a1aa_1_7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71" name="Google Shape;1071;h4c5bf77df5a6a1aa_1_7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2" name="Google Shape;1072;h4c5bf77df5a6a1aa_1_7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73" name="Google Shape;1073;h4c5bf77df5a6a1aa_1_7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74" name="Google Shape;1074;h4c5bf77df5a6a1aa_1_7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75" name="Google Shape;1075;h4c5bf77df5a6a1aa_1_7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6" name="Google Shape;1076;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77" name="Google Shape;1077;h4c5bf77df5a6a1aa_1_7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078" name="Google Shape;1078;h4c5bf77df5a6a1aa_1_7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079" name="Google Shape;1079;h4c5bf77df5a6a1aa_1_7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0" name="Google Shape;1080;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1" name="Google Shape;1081;h4c5bf77df5a6a1aa_1_7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2" name="Google Shape;1082;h4c5bf77df5a6a1aa_1_7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3" name="Google Shape;1083;h4c5bf77df5a6a1aa_1_7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4" name="Google Shape;1084;h4c5bf77df5a6a1aa_1_7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085" name="Google Shape;1085;h4c5bf77df5a6a1aa_1_7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6" name="Google Shape;1086;h4c5bf77df5a6a1aa_1_7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7" name="Google Shape;1087;h4c5bf77df5a6a1aa_1_7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8" name="Google Shape;1088;h4c5bf77df5a6a1aa_1_7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9" name="Google Shape;1089;h4c5bf77df5a6a1aa_1_7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0" name="Google Shape;1090;h4c5bf77df5a6a1aa_1_7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1" name="Google Shape;1091;h4c5bf77df5a6a1aa_1_7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2" name="Google Shape;1092;h4c5bf77df5a6a1aa_1_7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3" name="Google Shape;1093;h4c5bf77df5a6a1aa_1_7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4" name="Google Shape;1094;h4c5bf77df5a6a1aa_1_7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5" name="Google Shape;1095;h4c5bf77df5a6a1aa_1_7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6" name="Google Shape;1096;h4c5bf77df5a6a1aa_1_7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7" name="Google Shape;1097;h4c5bf77df5a6a1aa_1_7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98" name="Google Shape;1098;h4c5bf77df5a6a1aa_1_7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99" name="Google Shape;1099;h4c5bf77df5a6a1aa_1_7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0" name="Google Shape;1100;h4c5bf77df5a6a1aa_1_7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01" name="Google Shape;1101;h4c5bf77df5a6a1aa_1_7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02" name="Google Shape;1102;h4c5bf77df5a6a1aa_1_7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03" name="Google Shape;1103;h4c5bf77df5a6a1aa_1_73"/>
          <p:cNvSpPr/>
          <p:nvPr/>
        </p:nvSpPr>
        <p:spPr>
          <a:xfrm>
            <a:off x="3897579" y="2739445"/>
            <a:ext cx="3218700" cy="2508300"/>
          </a:xfrm>
          <a:prstGeom prst="roundRect">
            <a:avLst>
              <a:gd fmla="val 8766"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4" name="Google Shape;1104;h4c5bf77df5a6a1aa_1_7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05" name="Google Shape;1105;h4c5bf77df5a6a1aa_1_7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6" name="Google Shape;1106;h4c5bf77df5a6a1aa_1_7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07" name="Google Shape;1107;h4c5bf77df5a6a1aa_1_7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08" name="Google Shape;1108;h4c5bf77df5a6a1aa_1_7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09" name="Google Shape;1109;h4c5bf77df5a6a1aa_1_7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0" name="Google Shape;1110;h4c5bf77df5a6a1aa_1_7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11" name="Google Shape;1111;h4c5bf77df5a6a1aa_1_7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12" name="Google Shape;1112;h4c5bf77df5a6a1aa_1_7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13" name="Google Shape;1113;h4c5bf77df5a6a1aa_1_7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4" name="Google Shape;1114;h4c5bf77df5a6a1aa_1_7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15" name="Google Shape;1115;h4c5bf77df5a6a1aa_1_7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16" name="Google Shape;1116;h4c5bf77df5a6a1aa_1_7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cxnSp>
        <p:nvCxnSpPr>
          <p:cNvPr id="1117" name="Google Shape;1117;h4c5bf77df5a6a1aa_1_7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118" name="Google Shape;1118;h4c5bf77df5a6a1aa_1_7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9" name="Google Shape;1119;h4c5bf77df5a6a1aa_1_7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120" name="Google Shape;1120;h4c5bf77df5a6a1aa_1_7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121" name="Google Shape;1121;h4c5bf77df5a6a1aa_1_7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22" name="Google Shape;1122;h4c5bf77df5a6a1aa_1_7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pic>
        <p:nvPicPr>
          <p:cNvPr id="1123" name="Google Shape;1123;h4c5bf77df5a6a1aa_1_7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124" name="Google Shape;1124;h4c5bf77df5a6a1aa_1_7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125" name="Google Shape;1125;h4c5bf77df5a6a1aa_1_7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sp>
        <p:nvSpPr>
          <p:cNvPr id="1126" name="Slide number 11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cxnSp>
        <p:nvCxnSpPr>
          <p:cNvPr id="1131" name="Google Shape;1131;h4c5bf77df5a6a1aa_1_143"/>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132" name="Google Shape;1132;h4c5bf77df5a6a1aa_1_143"/>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133" name="Google Shape;1133;h4c5bf77df5a6a1aa_1_14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134" name="Google Shape;1134;h4c5bf77df5a6a1aa_1_14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4. Generate a delta ontology</a:t>
            </a:r>
            <a:endParaRPr b="0" i="0" sz="1400" u="none" cap="none" strike="noStrike">
              <a:solidFill>
                <a:srgbClr val="000000"/>
              </a:solidFill>
              <a:latin typeface="Arial"/>
              <a:ea typeface="Arial"/>
              <a:cs typeface="Arial"/>
              <a:sym typeface="Arial"/>
            </a:endParaRPr>
          </a:p>
        </p:txBody>
      </p:sp>
      <p:sp>
        <p:nvSpPr>
          <p:cNvPr id="1135" name="Google Shape;1135;h4c5bf77df5a6a1aa_1_14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Gen-LLM receives the direct mapping and the retrieved context.</a:t>
            </a:r>
            <a:endParaRPr b="0" i="0" sz="1400" u="none" cap="none" strike="noStrike">
              <a:solidFill>
                <a:srgbClr val="000000"/>
              </a:solidFill>
              <a:latin typeface="Arial"/>
              <a:ea typeface="Arial"/>
              <a:cs typeface="Arial"/>
              <a:sym typeface="Arial"/>
            </a:endParaRPr>
          </a:p>
        </p:txBody>
      </p:sp>
      <p:sp>
        <p:nvSpPr>
          <p:cNvPr id="1136" name="Google Shape;1136;h4c5bf77df5a6a1aa_1_14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7" name="Google Shape;1137;h4c5bf77df5a6a1aa_1_14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8" name="Google Shape;1138;h4c5bf77df5a6a1aa_1_14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9" name="Google Shape;1139;h4c5bf77df5a6a1aa_1_143"/>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0" name="Google Shape;1140;h4c5bf77df5a6a1aa_1_14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1" name="Google Shape;1141;h4c5bf77df5a6a1aa_1_14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2" name="Google Shape;1142;h4c5bf77df5a6a1aa_1_14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4 / 6</a:t>
            </a:r>
            <a:endParaRPr b="0" i="0" sz="1100" u="none" cap="none" strike="noStrike">
              <a:solidFill>
                <a:srgbClr val="000000"/>
              </a:solidFill>
              <a:latin typeface="Arial"/>
              <a:ea typeface="Arial"/>
              <a:cs typeface="Arial"/>
              <a:sym typeface="Arial"/>
            </a:endParaRPr>
          </a:p>
        </p:txBody>
      </p:sp>
      <p:cxnSp>
        <p:nvCxnSpPr>
          <p:cNvPr id="1143" name="Google Shape;1143;h4c5bf77df5a6a1aa_1_14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144" name="Google Shape;1144;h4c5bf77df5a6a1aa_1_14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5" name="Google Shape;1145;h4c5bf77df5a6a1aa_1_14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146" name="Google Shape;1146;h4c5bf77df5a6a1aa_1_14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147" name="Google Shape;1147;h4c5bf77df5a6a1aa_1_14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148" name="Google Shape;1148;h4c5bf77df5a6a1aa_1_14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9" name="Google Shape;1149;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0" name="Google Shape;1150;h4c5bf77df5a6a1aa_1_14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151" name="Google Shape;1151;h4c5bf77df5a6a1aa_1_14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152" name="Google Shape;1152;h4c5bf77df5a6a1aa_1_14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3" name="Google Shape;1153;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4" name="Google Shape;1154;h4c5bf77df5a6a1aa_1_14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5" name="Google Shape;1155;h4c5bf77df5a6a1aa_1_14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6" name="Google Shape;1156;h4c5bf77df5a6a1aa_1_14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7" name="Google Shape;1157;h4c5bf77df5a6a1aa_1_14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158" name="Google Shape;1158;h4c5bf77df5a6a1aa_1_14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9" name="Google Shape;1159;h4c5bf77df5a6a1aa_1_14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0" name="Google Shape;1160;h4c5bf77df5a6a1aa_1_143"/>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161" name="Google Shape;1161;h4c5bf77df5a6a1aa_1_143"/>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162" name="Google Shape;1162;h4c5bf77df5a6a1aa_1_143"/>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3" name="Google Shape;1163;h4c5bf77df5a6a1aa_1_143"/>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4" name="Google Shape;1164;h4c5bf77df5a6a1aa_1_143"/>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165" name="Google Shape;1165;h4c5bf77df5a6a1aa_1_143"/>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6" name="Google Shape;1166;h4c5bf77df5a6a1aa_1_143"/>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7" name="Google Shape;1167;h4c5bf77df5a6a1aa_1_143"/>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168" name="Google Shape;1168;h4c5bf77df5a6a1aa_1_143"/>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169" name="Google Shape;1169;h4c5bf77df5a6a1aa_1_143"/>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0" name="Google Shape;1170;h4c5bf77df5a6a1aa_1_14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1" name="Google Shape;1171;h4c5bf77df5a6a1aa_1_14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2" name="Google Shape;1172;h4c5bf77df5a6a1aa_1_14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3" name="Google Shape;1173;h4c5bf77df5a6a1aa_1_14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4" name="Google Shape;1174;h4c5bf77df5a6a1aa_1_14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5" name="Google Shape;1175;h4c5bf77df5a6a1aa_1_14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6" name="Google Shape;1176;h4c5bf77df5a6a1aa_1_14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7" name="Google Shape;1177;h4c5bf77df5a6a1aa_1_14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8" name="Google Shape;1178;h4c5bf77df5a6a1aa_1_14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9" name="Google Shape;1179;h4c5bf77df5a6a1aa_1_14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80" name="Google Shape;1180;h4c5bf77df5a6a1aa_1_14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181" name="Google Shape;1181;h4c5bf77df5a6a1aa_1_14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182" name="Google Shape;1182;h4c5bf77df5a6a1aa_1_14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3" name="Google Shape;1183;h4c5bf77df5a6a1aa_1_14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84" name="Google Shape;1184;h4c5bf77df5a6a1aa_1_14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85" name="Google Shape;1185;h4c5bf77df5a6a1aa_1_14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86" name="Google Shape;1186;h4c5bf77df5a6a1aa_1_143"/>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7" name="Google Shape;1187;h4c5bf77df5a6a1aa_1_14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88" name="Google Shape;1188;h4c5bf77df5a6a1aa_1_14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9" name="Google Shape;1189;h4c5bf77df5a6a1aa_1_14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90" name="Google Shape;1190;h4c5bf77df5a6a1aa_1_14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91" name="Google Shape;1191;h4c5bf77df5a6a1aa_1_14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92" name="Google Shape;1192;h4c5bf77df5a6a1aa_1_14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3" name="Google Shape;1193;h4c5bf77df5a6a1aa_1_14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94" name="Google Shape;1194;h4c5bf77df5a6a1aa_1_14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95" name="Google Shape;1195;h4c5bf77df5a6a1aa_1_14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96" name="Google Shape;1196;h4c5bf77df5a6a1aa_1_14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7" name="Google Shape;1197;h4c5bf77df5a6a1aa_1_14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98" name="Google Shape;1198;h4c5bf77df5a6a1aa_1_14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99" name="Google Shape;1199;h4c5bf77df5a6a1aa_1_14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00" name="Google Shape;1200;h4c5bf77df5a6a1aa_1_143"/>
          <p:cNvSpPr/>
          <p:nvPr/>
        </p:nvSpPr>
        <p:spPr>
          <a:xfrm>
            <a:off x="7596625" y="3402475"/>
            <a:ext cx="1335000" cy="13215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1" name="Google Shape;1201;h4c5bf77df5a6a1aa_1_143"/>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02" name="Google Shape;1202;h4c5bf77df5a6a1aa_1_143"/>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03" name="Google Shape;1203;h4c5bf77df5a6a1aa_1_143"/>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04" name="Google Shape;1204;h4c5bf77df5a6a1aa_1_143"/>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cxnSp>
        <p:nvCxnSpPr>
          <p:cNvPr id="1205" name="Google Shape;1205;h4c5bf77df5a6a1aa_1_14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206" name="Google Shape;1206;h4c5bf77df5a6a1aa_1_14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7" name="Google Shape;1207;h4c5bf77df5a6a1aa_1_14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208" name="Google Shape;1208;h4c5bf77df5a6a1aa_1_14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209" name="Google Shape;1209;h4c5bf77df5a6a1aa_1_14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10" name="Google Shape;1210;h4c5bf77df5a6a1aa_1_14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211" name="Google Shape;1211;h4c5bf77df5a6a1aa_1_143"/>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212" name="Google Shape;1212;h4c5bf77df5a6a1aa_1_14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213" name="Google Shape;1213;h4c5bf77df5a6a1aa_1_14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214" name="Google Shape;1214;h4c5bf77df5a6a1aa_1_14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pic>
        <p:nvPicPr>
          <p:cNvPr id="1215" name="Google Shape;1215;h4c5bf77df5a6a1aa_1_143" title="LLM Neural Brain Icon.png"/>
          <p:cNvPicPr preferRelativeResize="0"/>
          <p:nvPr/>
        </p:nvPicPr>
        <p:blipFill rotWithShape="1">
          <a:blip r:embed="rId4">
            <a:alphaModFix/>
          </a:blip>
          <a:srcRect b="14226" l="16398" r="17214" t="12218"/>
          <a:stretch/>
        </p:blipFill>
        <p:spPr>
          <a:xfrm>
            <a:off x="7941825" y="4070998"/>
            <a:ext cx="644449" cy="603601"/>
          </a:xfrm>
          <a:prstGeom prst="rect">
            <a:avLst/>
          </a:prstGeom>
          <a:noFill/>
          <a:ln>
            <a:noFill/>
          </a:ln>
        </p:spPr>
      </p:pic>
      <p:sp>
        <p:nvSpPr>
          <p:cNvPr id="1216" name="Slide number 121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0" name="Shape 1220"/>
        <p:cNvGrpSpPr/>
        <p:nvPr/>
      </p:nvGrpSpPr>
      <p:grpSpPr>
        <a:xfrm>
          <a:off x="0" y="0"/>
          <a:ext cx="0" cy="0"/>
          <a:chOff x="0" y="0"/>
          <a:chExt cx="0" cy="0"/>
        </a:xfrm>
      </p:grpSpPr>
      <p:cxnSp>
        <p:nvCxnSpPr>
          <p:cNvPr id="1221" name="Google Shape;1221;h4c5bf77df5a6a1aa_1_232"/>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222" name="Google Shape;1222;h4c5bf77df5a6a1aa_1_232"/>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223" name="Google Shape;1223;h4c5bf77df5a6a1aa_1_2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224" name="Google Shape;1224;h4c5bf77df5a6a1aa_1_2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5. Validate before integration</a:t>
            </a:r>
            <a:endParaRPr b="0" i="0" sz="1400" u="none" cap="none" strike="noStrike">
              <a:solidFill>
                <a:srgbClr val="000000"/>
              </a:solidFill>
              <a:latin typeface="Arial"/>
              <a:ea typeface="Arial"/>
              <a:cs typeface="Arial"/>
              <a:sym typeface="Arial"/>
            </a:endParaRPr>
          </a:p>
        </p:txBody>
      </p:sp>
      <p:sp>
        <p:nvSpPr>
          <p:cNvPr id="1225" name="Google Shape;1225;h4c5bf77df5a6a1aa_1_2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Validate and refine each delta before it joins the core.</a:t>
            </a:r>
            <a:endParaRPr b="0" i="0" sz="1400" u="none" cap="none" strike="noStrike">
              <a:solidFill>
                <a:srgbClr val="000000"/>
              </a:solidFill>
              <a:latin typeface="Arial"/>
              <a:ea typeface="Arial"/>
              <a:cs typeface="Arial"/>
              <a:sym typeface="Arial"/>
            </a:endParaRPr>
          </a:p>
        </p:txBody>
      </p:sp>
      <p:sp>
        <p:nvSpPr>
          <p:cNvPr id="1226" name="Google Shape;1226;h4c5bf77df5a6a1aa_1_2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7" name="Google Shape;1227;h4c5bf77df5a6a1aa_1_2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8" name="Google Shape;1228;h4c5bf77df5a6a1aa_1_232"/>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9" name="Google Shape;1229;h4c5bf77df5a6a1aa_1_232"/>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0" name="Google Shape;1230;h4c5bf77df5a6a1aa_1_232"/>
          <p:cNvSpPr/>
          <p:nvPr/>
        </p:nvSpPr>
        <p:spPr>
          <a:xfrm>
            <a:off x="11119104"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1" name="Google Shape;1231;h4c5bf77df5a6a1aa_1_2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2" name="Google Shape;1232;h4c5bf77df5a6a1aa_1_2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5 / 6</a:t>
            </a:r>
            <a:endParaRPr b="0" i="0" sz="1100" u="none" cap="none" strike="noStrike">
              <a:solidFill>
                <a:srgbClr val="000000"/>
              </a:solidFill>
              <a:latin typeface="Arial"/>
              <a:ea typeface="Arial"/>
              <a:cs typeface="Arial"/>
              <a:sym typeface="Arial"/>
            </a:endParaRPr>
          </a:p>
        </p:txBody>
      </p:sp>
      <p:cxnSp>
        <p:nvCxnSpPr>
          <p:cNvPr id="1233" name="Google Shape;1233;h4c5bf77df5a6a1aa_1_2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234" name="Google Shape;1234;h4c5bf77df5a6a1aa_1_2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5" name="Google Shape;1235;h4c5bf77df5a6a1aa_1_2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236" name="Google Shape;1236;h4c5bf77df5a6a1aa_1_2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237" name="Google Shape;1237;h4c5bf77df5a6a1aa_1_2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238" name="Google Shape;1238;h4c5bf77df5a6a1aa_1_2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9" name="Google Shape;1239;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0" name="Google Shape;1240;h4c5bf77df5a6a1aa_1_232"/>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241" name="Google Shape;1241;h4c5bf77df5a6a1aa_1_232"/>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242" name="Google Shape;1242;h4c5bf77df5a6a1aa_1_232"/>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3" name="Google Shape;1243;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4" name="Google Shape;1244;h4c5bf77df5a6a1aa_1_232"/>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5" name="Google Shape;1245;h4c5bf77df5a6a1aa_1_232"/>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6" name="Google Shape;1246;h4c5bf77df5a6a1aa_1_232"/>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7" name="Google Shape;1247;h4c5bf77df5a6a1aa_1_232"/>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248" name="Google Shape;1248;h4c5bf77df5a6a1aa_1_232"/>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9" name="Google Shape;1249;h4c5bf77df5a6a1aa_1_232"/>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0" name="Google Shape;1250;h4c5bf77df5a6a1aa_1_232"/>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251" name="Google Shape;1251;h4c5bf77df5a6a1aa_1_232"/>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252" name="Google Shape;1252;h4c5bf77df5a6a1aa_1_232"/>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3" name="Google Shape;1253;h4c5bf77df5a6a1aa_1_232"/>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4" name="Google Shape;1254;h4c5bf77df5a6a1aa_1_232"/>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255" name="Google Shape;1255;h4c5bf77df5a6a1aa_1_232"/>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6" name="Google Shape;1256;h4c5bf77df5a6a1aa_1_232"/>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7" name="Google Shape;1257;h4c5bf77df5a6a1aa_1_232"/>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258" name="Google Shape;1258;h4c5bf77df5a6a1aa_1_232"/>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259" name="Google Shape;1259;h4c5bf77df5a6a1aa_1_232"/>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0" name="Google Shape;1260;h4c5bf77df5a6a1aa_1_2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1" name="Google Shape;1261;h4c5bf77df5a6a1aa_1_2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2" name="Google Shape;1262;h4c5bf77df5a6a1aa_1_2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3" name="Google Shape;1263;h4c5bf77df5a6a1aa_1_2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4" name="Google Shape;1264;h4c5bf77df5a6a1aa_1_2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5" name="Google Shape;1265;h4c5bf77df5a6a1aa_1_2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6" name="Google Shape;1266;h4c5bf77df5a6a1aa_1_2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7" name="Google Shape;1267;h4c5bf77df5a6a1aa_1_2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8" name="Google Shape;1268;h4c5bf77df5a6a1aa_1_2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9" name="Google Shape;1269;h4c5bf77df5a6a1aa_1_2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70" name="Google Shape;1270;h4c5bf77df5a6a1aa_1_2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271" name="Google Shape;1271;h4c5bf77df5a6a1aa_1_2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272" name="Google Shape;1272;h4c5bf77df5a6a1aa_1_232"/>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3" name="Google Shape;1273;h4c5bf77df5a6a1aa_1_2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274" name="Google Shape;1274;h4c5bf77df5a6a1aa_1_2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275" name="Google Shape;1275;h4c5bf77df5a6a1aa_1_2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276" name="Google Shape;1276;h4c5bf77df5a6a1aa_1_232"/>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7" name="Google Shape;1277;h4c5bf77df5a6a1aa_1_232"/>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278" name="Google Shape;1278;h4c5bf77df5a6a1aa_1_232"/>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9" name="Google Shape;1279;h4c5bf77df5a6a1aa_1_232"/>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280" name="Google Shape;1280;h4c5bf77df5a6a1aa_1_232"/>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281" name="Google Shape;1281;h4c5bf77df5a6a1aa_1_232"/>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282" name="Google Shape;1282;h4c5bf77df5a6a1aa_1_232"/>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3" name="Google Shape;1283;h4c5bf77df5a6a1aa_1_232"/>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284" name="Google Shape;1284;h4c5bf77df5a6a1aa_1_232"/>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285" name="Google Shape;1285;h4c5bf77df5a6a1aa_1_232"/>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286" name="Google Shape;1286;h4c5bf77df5a6a1aa_1_232"/>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7" name="Google Shape;1287;h4c5bf77df5a6a1aa_1_232"/>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288" name="Google Shape;1288;h4c5bf77df5a6a1aa_1_232"/>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289" name="Google Shape;1289;h4c5bf77df5a6a1aa_1_232"/>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90" name="Google Shape;1290;h4c5bf77df5a6a1aa_1_232"/>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1" name="Google Shape;1291;h4c5bf77df5a6a1aa_1_232"/>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92" name="Google Shape;1292;h4c5bf77df5a6a1aa_1_232"/>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93" name="Google Shape;1293;h4c5bf77df5a6a1aa_1_232"/>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94" name="Google Shape;1294;h4c5bf77df5a6a1aa_1_232"/>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295" name="Google Shape;1295;h4c5bf77df5a6a1aa_1_232"/>
          <p:cNvSpPr/>
          <p:nvPr/>
        </p:nvSpPr>
        <p:spPr>
          <a:xfrm>
            <a:off x="9859849" y="3237878"/>
            <a:ext cx="2121300" cy="11157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6" name="Google Shape;1296;h4c5bf77df5a6a1aa_1_232"/>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297" name="Google Shape;1297;h4c5bf77df5a6a1aa_1_232"/>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298" name="Google Shape;1298;h4c5bf77df5a6a1aa_1_232"/>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cxnSp>
        <p:nvCxnSpPr>
          <p:cNvPr id="1299" name="Google Shape;1299;h4c5bf77df5a6a1aa_1_2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300" name="Google Shape;1300;h4c5bf77df5a6a1aa_1_2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1" name="Google Shape;1301;h4c5bf77df5a6a1aa_1_2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302" name="Google Shape;1302;h4c5bf77df5a6a1aa_1_2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303" name="Google Shape;1303;h4c5bf77df5a6a1aa_1_232"/>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304" name="Google Shape;1304;h4c5bf77df5a6a1aa_1_2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305" name="Google Shape;1305;h4c5bf77df5a6a1aa_1_232"/>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306" name="Google Shape;1306;h4c5bf77df5a6a1aa_1_232"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307" name="Google Shape;1307;h4c5bf77df5a6a1aa_1_232"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308" name="Google Shape;1308;h4c5bf77df5a6a1aa_1_232"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309" name="Google Shape;1309;h4c5bf77df5a6a1aa_1_232"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310" name="Google Shape;1310;h4c5bf77df5a6a1aa_1_232"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311" name="Google Shape;1311;h4c5bf77df5a6a1aa_1_232"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312" name="Slide number 131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6" name="Shape 1316"/>
        <p:cNvGrpSpPr/>
        <p:nvPr/>
      </p:nvGrpSpPr>
      <p:grpSpPr>
        <a:xfrm>
          <a:off x="0" y="0"/>
          <a:ext cx="0" cy="0"/>
          <a:chOff x="0" y="0"/>
          <a:chExt cx="0" cy="0"/>
        </a:xfrm>
      </p:grpSpPr>
      <p:cxnSp>
        <p:nvCxnSpPr>
          <p:cNvPr id="1317" name="Google Shape;1317;p17"/>
          <p:cNvCxnSpPr/>
          <p:nvPr/>
        </p:nvCxnSpPr>
        <p:spPr>
          <a:xfrm>
            <a:off x="7261490" y="3782975"/>
            <a:ext cx="228600" cy="0"/>
          </a:xfrm>
          <a:prstGeom prst="straightConnector1">
            <a:avLst/>
          </a:prstGeom>
          <a:noFill/>
          <a:ln cap="flat" cmpd="sng" w="26650">
            <a:solidFill>
              <a:srgbClr val="3A7D8C"/>
            </a:solidFill>
            <a:prstDash val="solid"/>
            <a:miter lim="80"/>
            <a:headEnd len="sm" w="sm" type="none"/>
            <a:tailEnd len="sm" w="sm" type="none"/>
          </a:ln>
        </p:spPr>
      </p:cxnSp>
      <p:cxnSp>
        <p:nvCxnSpPr>
          <p:cNvPr id="1318" name="Google Shape;1318;p17"/>
          <p:cNvCxnSpPr/>
          <p:nvPr/>
        </p:nvCxnSpPr>
        <p:spPr>
          <a:xfrm>
            <a:off x="7071140" y="3304363"/>
            <a:ext cx="146400" cy="0"/>
          </a:xfrm>
          <a:prstGeom prst="straightConnector1">
            <a:avLst/>
          </a:prstGeom>
          <a:noFill/>
          <a:ln cap="flat" cmpd="sng" w="26650">
            <a:solidFill>
              <a:srgbClr val="3A7D8C"/>
            </a:solidFill>
            <a:prstDash val="solid"/>
            <a:miter lim="80"/>
            <a:headEnd len="sm" w="sm" type="none"/>
            <a:tailEnd len="sm" w="sm" type="none"/>
          </a:ln>
        </p:spPr>
      </p:cxnSp>
      <p:sp>
        <p:nvSpPr>
          <p:cNvPr id="1319" name="Google Shape;1319;p17"/>
          <p:cNvSpPr txBox="1"/>
          <p:nvPr/>
        </p:nvSpPr>
        <p:spPr>
          <a:xfrm>
            <a:off x="512064" y="320040"/>
            <a:ext cx="6675000" cy="301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320" name="Google Shape;1320;p17"/>
          <p:cNvSpPr txBox="1"/>
          <p:nvPr/>
        </p:nvSpPr>
        <p:spPr>
          <a:xfrm>
            <a:off x="512064" y="685800"/>
            <a:ext cx="10881300" cy="475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6. Integrate and reuse the growing core</a:t>
            </a:r>
            <a:endParaRPr b="0" i="0" sz="1400" u="none" cap="none" strike="noStrike">
              <a:solidFill>
                <a:srgbClr val="000000"/>
              </a:solidFill>
              <a:latin typeface="Arial"/>
              <a:ea typeface="Arial"/>
              <a:cs typeface="Arial"/>
              <a:sym typeface="Arial"/>
            </a:endParaRPr>
          </a:p>
        </p:txBody>
      </p:sp>
      <p:sp>
        <p:nvSpPr>
          <p:cNvPr id="1321" name="Google Shape;1321;p17"/>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growing core feeds the next generation iteration.</a:t>
            </a:r>
            <a:endParaRPr b="0" i="0" sz="1400" u="none" cap="none" strike="noStrike">
              <a:solidFill>
                <a:srgbClr val="000000"/>
              </a:solidFill>
              <a:latin typeface="Arial"/>
              <a:ea typeface="Arial"/>
              <a:cs typeface="Arial"/>
              <a:sym typeface="Arial"/>
            </a:endParaRPr>
          </a:p>
        </p:txBody>
      </p:sp>
      <p:sp>
        <p:nvSpPr>
          <p:cNvPr id="1322" name="Google Shape;1322;p17"/>
          <p:cNvSpPr/>
          <p:nvPr/>
        </p:nvSpPr>
        <p:spPr>
          <a:xfrm>
            <a:off x="969264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3" name="Google Shape;1323;p17"/>
          <p:cNvSpPr/>
          <p:nvPr/>
        </p:nvSpPr>
        <p:spPr>
          <a:xfrm>
            <a:off x="10049256"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4" name="Google Shape;1324;p17"/>
          <p:cNvSpPr/>
          <p:nvPr/>
        </p:nvSpPr>
        <p:spPr>
          <a:xfrm>
            <a:off x="10405872"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5" name="Google Shape;1325;p17"/>
          <p:cNvSpPr/>
          <p:nvPr/>
        </p:nvSpPr>
        <p:spPr>
          <a:xfrm>
            <a:off x="10762488"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6" name="Google Shape;1326;p17"/>
          <p:cNvSpPr/>
          <p:nvPr/>
        </p:nvSpPr>
        <p:spPr>
          <a:xfrm>
            <a:off x="11119104"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7" name="Google Shape;1327;p17"/>
          <p:cNvSpPr/>
          <p:nvPr/>
        </p:nvSpPr>
        <p:spPr>
          <a:xfrm>
            <a:off x="1147572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8" name="Google Shape;1328;p17"/>
          <p:cNvSpPr txBox="1"/>
          <p:nvPr/>
        </p:nvSpPr>
        <p:spPr>
          <a:xfrm>
            <a:off x="10643688" y="640080"/>
            <a:ext cx="804600" cy="1830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6 / 6</a:t>
            </a:r>
            <a:endParaRPr b="0" i="0" sz="1100" u="none" cap="none" strike="noStrike">
              <a:solidFill>
                <a:srgbClr val="000000"/>
              </a:solidFill>
              <a:latin typeface="Arial"/>
              <a:ea typeface="Arial"/>
              <a:cs typeface="Arial"/>
              <a:sym typeface="Arial"/>
            </a:endParaRPr>
          </a:p>
        </p:txBody>
      </p:sp>
      <p:cxnSp>
        <p:nvCxnSpPr>
          <p:cNvPr id="1329" name="Google Shape;1329;p17"/>
          <p:cNvCxnSpPr/>
          <p:nvPr/>
        </p:nvCxnSpPr>
        <p:spPr>
          <a:xfrm>
            <a:off x="1577684" y="3507531"/>
            <a:ext cx="164700" cy="0"/>
          </a:xfrm>
          <a:prstGeom prst="straightConnector1">
            <a:avLst/>
          </a:prstGeom>
          <a:noFill/>
          <a:ln cap="flat" cmpd="sng" w="38100">
            <a:solidFill>
              <a:srgbClr val="3A7D8C"/>
            </a:solidFill>
            <a:prstDash val="solid"/>
            <a:miter lim="80"/>
            <a:headEnd len="sm" w="sm" type="none"/>
            <a:tailEnd len="sm" w="sm" type="none"/>
          </a:ln>
        </p:spPr>
      </p:cxnSp>
      <p:sp>
        <p:nvSpPr>
          <p:cNvPr id="1330" name="Google Shape;1330;p17"/>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1" name="Google Shape;1331;p17"/>
          <p:cNvCxnSpPr/>
          <p:nvPr/>
        </p:nvCxnSpPr>
        <p:spPr>
          <a:xfrm>
            <a:off x="3369671" y="3446462"/>
            <a:ext cx="100500" cy="0"/>
          </a:xfrm>
          <a:prstGeom prst="straightConnector1">
            <a:avLst/>
          </a:prstGeom>
          <a:noFill/>
          <a:ln cap="flat" cmpd="sng" w="29200">
            <a:solidFill>
              <a:srgbClr val="3A7D8C"/>
            </a:solidFill>
            <a:prstDash val="solid"/>
            <a:miter lim="80"/>
            <a:headEnd len="sm" w="sm" type="none"/>
            <a:tailEnd len="sm" w="sm" type="none"/>
          </a:ln>
        </p:spPr>
      </p:cxnSp>
      <p:cxnSp>
        <p:nvCxnSpPr>
          <p:cNvPr id="1332" name="Google Shape;1332;p17"/>
          <p:cNvCxnSpPr/>
          <p:nvPr/>
        </p:nvCxnSpPr>
        <p:spPr>
          <a:xfrm rot="10800000">
            <a:off x="3456647" y="2186248"/>
            <a:ext cx="0" cy="1271100"/>
          </a:xfrm>
          <a:prstGeom prst="straightConnector1">
            <a:avLst/>
          </a:prstGeom>
          <a:noFill/>
          <a:ln cap="flat" cmpd="sng" w="29200">
            <a:solidFill>
              <a:srgbClr val="3A7D8C"/>
            </a:solidFill>
            <a:prstDash val="solid"/>
            <a:miter lim="80"/>
            <a:headEnd len="sm" w="sm" type="none"/>
            <a:tailEnd len="sm" w="sm" type="none"/>
          </a:ln>
        </p:spPr>
      </p:cxnSp>
      <p:cxnSp>
        <p:nvCxnSpPr>
          <p:cNvPr id="1333" name="Google Shape;1333;p17"/>
          <p:cNvCxnSpPr/>
          <p:nvPr/>
        </p:nvCxnSpPr>
        <p:spPr>
          <a:xfrm>
            <a:off x="3456647" y="2199939"/>
            <a:ext cx="265200" cy="0"/>
          </a:xfrm>
          <a:prstGeom prst="straightConnector1">
            <a:avLst/>
          </a:prstGeom>
          <a:noFill/>
          <a:ln cap="flat" cmpd="sng" w="29200">
            <a:solidFill>
              <a:srgbClr val="3A7D8C"/>
            </a:solidFill>
            <a:prstDash val="solid"/>
            <a:miter lim="80"/>
            <a:headEnd len="sm" w="sm" type="none"/>
            <a:tailEnd len="sm" w="sm" type="none"/>
          </a:ln>
        </p:spPr>
      </p:cxnSp>
      <p:sp>
        <p:nvSpPr>
          <p:cNvPr id="1334" name="Google Shape;1334;p17"/>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5" name="Google Shape;1335;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36" name="Google Shape;1336;p17"/>
          <p:cNvCxnSpPr/>
          <p:nvPr/>
        </p:nvCxnSpPr>
        <p:spPr>
          <a:xfrm rot="10800000">
            <a:off x="3537528" y="3283708"/>
            <a:ext cx="0" cy="310800"/>
          </a:xfrm>
          <a:prstGeom prst="straightConnector1">
            <a:avLst/>
          </a:prstGeom>
          <a:noFill/>
          <a:ln cap="flat" cmpd="sng" w="26650">
            <a:solidFill>
              <a:srgbClr val="3A7D8C"/>
            </a:solidFill>
            <a:prstDash val="solid"/>
            <a:miter lim="80"/>
            <a:headEnd len="sm" w="sm" type="none"/>
            <a:tailEnd len="sm" w="sm" type="none"/>
          </a:ln>
        </p:spPr>
      </p:cxnSp>
      <p:cxnSp>
        <p:nvCxnSpPr>
          <p:cNvPr id="1337" name="Google Shape;1337;p17"/>
          <p:cNvCxnSpPr/>
          <p:nvPr/>
        </p:nvCxnSpPr>
        <p:spPr>
          <a:xfrm>
            <a:off x="3537528" y="3297219"/>
            <a:ext cx="255900" cy="0"/>
          </a:xfrm>
          <a:prstGeom prst="straightConnector1">
            <a:avLst/>
          </a:prstGeom>
          <a:noFill/>
          <a:ln cap="flat" cmpd="sng" w="26650">
            <a:solidFill>
              <a:srgbClr val="3A7D8C"/>
            </a:solidFill>
            <a:prstDash val="solid"/>
            <a:miter lim="80"/>
            <a:headEnd len="sm" w="sm" type="none"/>
            <a:tailEnd len="sm" w="sm" type="none"/>
          </a:ln>
        </p:spPr>
      </p:cxnSp>
      <p:sp>
        <p:nvSpPr>
          <p:cNvPr id="1338" name="Google Shape;1338;p17"/>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9" name="Google Shape;1339;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0" name="Google Shape;1340;p17"/>
          <p:cNvCxnSpPr/>
          <p:nvPr/>
        </p:nvCxnSpPr>
        <p:spPr>
          <a:xfrm>
            <a:off x="3537528" y="399216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1" name="Google Shape;1341;p17"/>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2" name="Google Shape;1342;p17"/>
          <p:cNvCxnSpPr/>
          <p:nvPr/>
        </p:nvCxnSpPr>
        <p:spPr>
          <a:xfrm>
            <a:off x="3418656"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3" name="Google Shape;1343;p17"/>
          <p:cNvCxnSpPr/>
          <p:nvPr/>
        </p:nvCxnSpPr>
        <p:spPr>
          <a:xfrm>
            <a:off x="3537528" y="3594508"/>
            <a:ext cx="0" cy="1079100"/>
          </a:xfrm>
          <a:prstGeom prst="straightConnector1">
            <a:avLst/>
          </a:prstGeom>
          <a:noFill/>
          <a:ln cap="flat" cmpd="sng" w="26650">
            <a:solidFill>
              <a:srgbClr val="3A7D8C"/>
            </a:solidFill>
            <a:prstDash val="solid"/>
            <a:miter lim="80"/>
            <a:headEnd len="sm" w="sm" type="none"/>
            <a:tailEnd len="sm" w="sm" type="none"/>
          </a:ln>
        </p:spPr>
      </p:cxnSp>
      <p:cxnSp>
        <p:nvCxnSpPr>
          <p:cNvPr id="1344" name="Google Shape;1344;p17"/>
          <p:cNvCxnSpPr/>
          <p:nvPr/>
        </p:nvCxnSpPr>
        <p:spPr>
          <a:xfrm>
            <a:off x="3537528" y="465989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5" name="Google Shape;1345;p17"/>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6" name="Google Shape;1346;p17"/>
          <p:cNvCxnSpPr/>
          <p:nvPr/>
        </p:nvCxnSpPr>
        <p:spPr>
          <a:xfrm>
            <a:off x="6340837" y="218165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347" name="Google Shape;1347;p17"/>
          <p:cNvCxnSpPr/>
          <p:nvPr/>
        </p:nvCxnSpPr>
        <p:spPr>
          <a:xfrm>
            <a:off x="8200117" y="2181651"/>
            <a:ext cx="0" cy="1134000"/>
          </a:xfrm>
          <a:prstGeom prst="straightConnector1">
            <a:avLst/>
          </a:prstGeom>
          <a:noFill/>
          <a:ln cap="flat" cmpd="sng" w="29200">
            <a:solidFill>
              <a:srgbClr val="3A7D8C"/>
            </a:solidFill>
            <a:prstDash val="solid"/>
            <a:miter lim="80"/>
            <a:headEnd len="sm" w="sm" type="none"/>
            <a:tailEnd len="sm" w="sm" type="none"/>
          </a:ln>
        </p:spPr>
      </p:cxnSp>
      <p:sp>
        <p:nvSpPr>
          <p:cNvPr id="1348" name="Google Shape;1348;p17"/>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9" name="Google Shape;1349;p17"/>
          <p:cNvCxnSpPr/>
          <p:nvPr/>
        </p:nvCxnSpPr>
        <p:spPr>
          <a:xfrm>
            <a:off x="7129603" y="3304363"/>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0" name="Google Shape;1350;p17"/>
          <p:cNvCxnSpPr/>
          <p:nvPr/>
        </p:nvCxnSpPr>
        <p:spPr>
          <a:xfrm>
            <a:off x="7264000" y="3297219"/>
            <a:ext cx="0" cy="448200"/>
          </a:xfrm>
          <a:prstGeom prst="straightConnector1">
            <a:avLst/>
          </a:prstGeom>
          <a:noFill/>
          <a:ln cap="flat" cmpd="sng" w="26650">
            <a:solidFill>
              <a:srgbClr val="3A7D8C"/>
            </a:solidFill>
            <a:prstDash val="solid"/>
            <a:miter lim="80"/>
            <a:headEnd len="sm" w="sm" type="none"/>
            <a:tailEnd len="sm" w="sm" type="none"/>
          </a:ln>
        </p:spPr>
      </p:cxnSp>
      <p:sp>
        <p:nvSpPr>
          <p:cNvPr id="1351" name="Google Shape;1351;p17"/>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2" name="Google Shape;1352;p17"/>
          <p:cNvCxnSpPr/>
          <p:nvPr/>
        </p:nvCxnSpPr>
        <p:spPr>
          <a:xfrm>
            <a:off x="7129603" y="4693870"/>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3" name="Google Shape;1353;p17"/>
          <p:cNvCxnSpPr/>
          <p:nvPr/>
        </p:nvCxnSpPr>
        <p:spPr>
          <a:xfrm rot="10800000">
            <a:off x="7264000" y="3745251"/>
            <a:ext cx="0" cy="951000"/>
          </a:xfrm>
          <a:prstGeom prst="straightConnector1">
            <a:avLst/>
          </a:prstGeom>
          <a:noFill/>
          <a:ln cap="flat" cmpd="sng" w="26650">
            <a:solidFill>
              <a:srgbClr val="3A7D8C"/>
            </a:solidFill>
            <a:prstDash val="solid"/>
            <a:miter lim="80"/>
            <a:headEnd len="sm" w="sm" type="none"/>
            <a:tailEnd len="sm" w="sm" type="none"/>
          </a:ln>
        </p:spPr>
      </p:cxnSp>
      <p:cxnSp>
        <p:nvCxnSpPr>
          <p:cNvPr id="1354" name="Google Shape;1354;p17"/>
          <p:cNvCxnSpPr/>
          <p:nvPr/>
        </p:nvCxnSpPr>
        <p:spPr>
          <a:xfrm>
            <a:off x="8931637" y="3795662"/>
            <a:ext cx="868800" cy="0"/>
          </a:xfrm>
          <a:prstGeom prst="straightConnector1">
            <a:avLst/>
          </a:prstGeom>
          <a:noFill/>
          <a:ln cap="flat" cmpd="sng" w="38100">
            <a:solidFill>
              <a:srgbClr val="0B6E4F"/>
            </a:solidFill>
            <a:prstDash val="solid"/>
            <a:miter lim="80"/>
            <a:headEnd len="sm" w="sm" type="none"/>
            <a:tailEnd len="sm" w="sm" type="none"/>
          </a:ln>
        </p:spPr>
      </p:cxnSp>
      <p:sp>
        <p:nvSpPr>
          <p:cNvPr id="1355" name="Google Shape;1355;p17"/>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6" name="Google Shape;1356;p17"/>
          <p:cNvCxnSpPr/>
          <p:nvPr/>
        </p:nvCxnSpPr>
        <p:spPr>
          <a:xfrm>
            <a:off x="10957129" y="4344302"/>
            <a:ext cx="0" cy="438900"/>
          </a:xfrm>
          <a:prstGeom prst="straightConnector1">
            <a:avLst/>
          </a:prstGeom>
          <a:noFill/>
          <a:ln cap="flat" cmpd="sng" w="33000">
            <a:solidFill>
              <a:srgbClr val="177A55"/>
            </a:solidFill>
            <a:prstDash val="solid"/>
            <a:miter lim="80"/>
            <a:headEnd len="sm" w="sm" type="none"/>
            <a:tailEnd len="sm" w="sm" type="none"/>
          </a:ln>
        </p:spPr>
      </p:cxnSp>
      <p:sp>
        <p:nvSpPr>
          <p:cNvPr id="1357" name="Google Shape;1357;p17"/>
          <p:cNvSpPr/>
          <p:nvPr/>
        </p:nvSpPr>
        <p:spPr>
          <a:xfrm rot="10800000">
            <a:off x="10893037" y="4719121"/>
            <a:ext cx="128100" cy="1281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8" name="Google Shape;1358;p17"/>
          <p:cNvCxnSpPr/>
          <p:nvPr/>
        </p:nvCxnSpPr>
        <p:spPr>
          <a:xfrm>
            <a:off x="10903962" y="5616919"/>
            <a:ext cx="0" cy="365700"/>
          </a:xfrm>
          <a:prstGeom prst="straightConnector1">
            <a:avLst/>
          </a:prstGeom>
          <a:noFill/>
          <a:ln cap="flat" cmpd="sng" w="31750">
            <a:solidFill>
              <a:srgbClr val="177A55"/>
            </a:solidFill>
            <a:prstDash val="solid"/>
            <a:miter lim="80"/>
            <a:headEnd len="sm" w="sm" type="none"/>
            <a:tailEnd len="sm" w="sm" type="none"/>
          </a:ln>
        </p:spPr>
      </p:cxnSp>
      <p:cxnSp>
        <p:nvCxnSpPr>
          <p:cNvPr id="1359" name="Google Shape;1359;p17"/>
          <p:cNvCxnSpPr/>
          <p:nvPr/>
        </p:nvCxnSpPr>
        <p:spPr>
          <a:xfrm rot="10800000">
            <a:off x="8964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360" name="Google Shape;1360;p17"/>
          <p:cNvCxnSpPr/>
          <p:nvPr/>
        </p:nvCxnSpPr>
        <p:spPr>
          <a:xfrm rot="10800000">
            <a:off x="5512146" y="5203449"/>
            <a:ext cx="0" cy="795600"/>
          </a:xfrm>
          <a:prstGeom prst="straightConnector1">
            <a:avLst/>
          </a:prstGeom>
          <a:noFill/>
          <a:ln cap="flat" cmpd="sng" w="31750">
            <a:solidFill>
              <a:srgbClr val="177A55"/>
            </a:solidFill>
            <a:prstDash val="solid"/>
            <a:miter lim="80"/>
            <a:headEnd len="sm" w="sm" type="none"/>
            <a:tailEnd len="sm" w="sm" type="none"/>
          </a:ln>
        </p:spPr>
      </p:cxnSp>
      <p:sp>
        <p:nvSpPr>
          <p:cNvPr id="1361" name="Google Shape;1361;p17"/>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2" name="Google Shape;1362;p17"/>
          <p:cNvSpPr/>
          <p:nvPr/>
        </p:nvSpPr>
        <p:spPr>
          <a:xfrm>
            <a:off x="526124"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3" name="Google Shape;1363;p17"/>
          <p:cNvCxnSpPr/>
          <p:nvPr/>
        </p:nvCxnSpPr>
        <p:spPr>
          <a:xfrm>
            <a:off x="567272"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4" name="Google Shape;1364;p17"/>
          <p:cNvCxnSpPr/>
          <p:nvPr/>
        </p:nvCxnSpPr>
        <p:spPr>
          <a:xfrm>
            <a:off x="567272"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5" name="Google Shape;1365;p17"/>
          <p:cNvSpPr/>
          <p:nvPr/>
        </p:nvSpPr>
        <p:spPr>
          <a:xfrm>
            <a:off x="837020"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6" name="Google Shape;1366;p17"/>
          <p:cNvCxnSpPr/>
          <p:nvPr/>
        </p:nvCxnSpPr>
        <p:spPr>
          <a:xfrm>
            <a:off x="878168"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7" name="Google Shape;1367;p17"/>
          <p:cNvCxnSpPr/>
          <p:nvPr/>
        </p:nvCxnSpPr>
        <p:spPr>
          <a:xfrm>
            <a:off x="878168"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8" name="Google Shape;1368;p17"/>
          <p:cNvSpPr/>
          <p:nvPr/>
        </p:nvSpPr>
        <p:spPr>
          <a:xfrm>
            <a:off x="1147916"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9" name="Google Shape;1369;p17"/>
          <p:cNvCxnSpPr/>
          <p:nvPr/>
        </p:nvCxnSpPr>
        <p:spPr>
          <a:xfrm>
            <a:off x="1189064"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70" name="Google Shape;1370;p17"/>
          <p:cNvCxnSpPr/>
          <p:nvPr/>
        </p:nvCxnSpPr>
        <p:spPr>
          <a:xfrm>
            <a:off x="1189064"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71" name="Google Shape;1371;p17"/>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372" name="Google Shape;1372;p17"/>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373" name="Google Shape;1373;p17"/>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4" name="Google Shape;1374;p17"/>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375" name="Google Shape;1375;p17"/>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376" name="Google Shape;1376;p17"/>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377" name="Google Shape;1377;p17"/>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8" name="Google Shape;1378;p17"/>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379" name="Google Shape;1379;p17"/>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0" name="Google Shape;1380;p17"/>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381" name="Google Shape;1381;p17"/>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382" name="Google Shape;1382;p17"/>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383" name="Google Shape;1383;p17"/>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4" name="Google Shape;1384;p17"/>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385" name="Google Shape;1385;p17"/>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386" name="Google Shape;1386;p17"/>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387" name="Google Shape;1387;p17"/>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8" name="Google Shape;1388;p17"/>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389" name="Google Shape;1389;p17"/>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390" name="Google Shape;1390;p17"/>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391" name="Google Shape;1391;p17"/>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2" name="Google Shape;1392;p17"/>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393" name="Google Shape;1393;p17"/>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394" name="Google Shape;1394;p17"/>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395" name="Google Shape;1395;p17"/>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396" name="Google Shape;1396;p17"/>
          <p:cNvSpPr/>
          <p:nvPr/>
        </p:nvSpPr>
        <p:spPr>
          <a:xfrm>
            <a:off x="9859849" y="3237878"/>
            <a:ext cx="2121300" cy="11157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7" name="Google Shape;1397;p17"/>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398" name="Google Shape;1398;p17"/>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399" name="Google Shape;1399;p17"/>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sp>
        <p:nvSpPr>
          <p:cNvPr id="1400" name="Google Shape;1400;p17"/>
          <p:cNvSpPr/>
          <p:nvPr/>
        </p:nvSpPr>
        <p:spPr>
          <a:xfrm>
            <a:off x="9896425" y="4854652"/>
            <a:ext cx="2084700" cy="786300"/>
          </a:xfrm>
          <a:prstGeom prst="roundRect">
            <a:avLst>
              <a:gd fmla="val 16667" name="adj"/>
            </a:avLst>
          </a:prstGeom>
          <a:solidFill>
            <a:srgbClr val="DDE5E1"/>
          </a:solidFill>
          <a:ln cap="flat" cmpd="sng" w="292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1" name="Google Shape;1401;p17"/>
          <p:cNvSpPr txBox="1"/>
          <p:nvPr/>
        </p:nvSpPr>
        <p:spPr>
          <a:xfrm>
            <a:off x="9969577" y="4609123"/>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(i)</a:t>
            </a:r>
            <a:endParaRPr b="0" i="0" sz="1400" u="none" cap="none" strike="noStrike">
              <a:solidFill>
                <a:srgbClr val="000000"/>
              </a:solidFill>
              <a:latin typeface="Arial"/>
              <a:ea typeface="Arial"/>
              <a:cs typeface="Arial"/>
              <a:sym typeface="Arial"/>
            </a:endParaRPr>
          </a:p>
        </p:txBody>
      </p:sp>
      <p:sp>
        <p:nvSpPr>
          <p:cNvPr id="1402" name="Google Shape;1402;p17"/>
          <p:cNvSpPr txBox="1"/>
          <p:nvPr/>
        </p:nvSpPr>
        <p:spPr>
          <a:xfrm>
            <a:off x="9978721" y="4973523"/>
            <a:ext cx="192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Integrate ΔOᵣ</a:t>
            </a:r>
            <a:endParaRPr b="0" i="0" sz="1400" u="none" cap="none" strike="noStrike">
              <a:solidFill>
                <a:srgbClr val="000000"/>
              </a:solidFill>
              <a:latin typeface="Arial"/>
              <a:ea typeface="Arial"/>
              <a:cs typeface="Arial"/>
              <a:sym typeface="Arial"/>
            </a:endParaRPr>
          </a:p>
        </p:txBody>
      </p:sp>
      <p:sp>
        <p:nvSpPr>
          <p:cNvPr id="1403" name="Google Shape;1403;p17"/>
          <p:cNvSpPr txBox="1"/>
          <p:nvPr/>
        </p:nvSpPr>
        <p:spPr>
          <a:xfrm>
            <a:off x="9987865" y="5247843"/>
            <a:ext cx="190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Core Oₜ</a:t>
            </a:r>
            <a:endParaRPr b="0" i="0" sz="1400" u="none" cap="none" strike="noStrike">
              <a:solidFill>
                <a:srgbClr val="000000"/>
              </a:solidFill>
              <a:latin typeface="Arial"/>
              <a:ea typeface="Arial"/>
              <a:cs typeface="Arial"/>
              <a:sym typeface="Arial"/>
            </a:endParaRPr>
          </a:p>
        </p:txBody>
      </p:sp>
      <p:sp>
        <p:nvSpPr>
          <p:cNvPr id="1404" name="Google Shape;1404;p17"/>
          <p:cNvSpPr txBox="1"/>
          <p:nvPr/>
        </p:nvSpPr>
        <p:spPr>
          <a:xfrm>
            <a:off x="9194034" y="5750441"/>
            <a:ext cx="1737300" cy="192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177A55"/>
                </a:solidFill>
                <a:latin typeface="Calibri"/>
                <a:ea typeface="Calibri"/>
                <a:cs typeface="Calibri"/>
                <a:sym typeface="Calibri"/>
              </a:rPr>
              <a:t>Oₜ </a:t>
            </a:r>
            <a:endParaRPr b="0" i="0" sz="1400" u="none" cap="none" strike="noStrike">
              <a:solidFill>
                <a:srgbClr val="000000"/>
              </a:solidFill>
              <a:latin typeface="Arial"/>
              <a:ea typeface="Arial"/>
              <a:cs typeface="Arial"/>
              <a:sym typeface="Arial"/>
            </a:endParaRPr>
          </a:p>
        </p:txBody>
      </p:sp>
      <p:sp>
        <p:nvSpPr>
          <p:cNvPr id="1405" name="Google Shape;1405;p17"/>
          <p:cNvSpPr/>
          <p:nvPr/>
        </p:nvSpPr>
        <p:spPr>
          <a:xfrm>
            <a:off x="5429812" y="5214785"/>
            <a:ext cx="164700" cy="1464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406" name="Google Shape;1406;p17"/>
          <p:cNvCxnSpPr/>
          <p:nvPr/>
        </p:nvCxnSpPr>
        <p:spPr>
          <a:xfrm>
            <a:off x="3280056" y="3446462"/>
            <a:ext cx="100500" cy="0"/>
          </a:xfrm>
          <a:prstGeom prst="straightConnector1">
            <a:avLst/>
          </a:prstGeom>
          <a:noFill/>
          <a:ln cap="flat" cmpd="sng" w="29200">
            <a:solidFill>
              <a:srgbClr val="3A7D8C"/>
            </a:solidFill>
            <a:prstDash val="solid"/>
            <a:miter lim="80"/>
            <a:headEnd len="sm" w="sm" type="none"/>
            <a:tailEnd len="sm" w="sm" type="none"/>
          </a:ln>
        </p:spPr>
      </p:cxnSp>
      <p:sp>
        <p:nvSpPr>
          <p:cNvPr id="1407" name="Google Shape;1407;p17"/>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8" name="Google Shape;1408;p17"/>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409" name="Google Shape;1409;p17"/>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410" name="Google Shape;1410;p17"/>
          <p:cNvCxnSpPr/>
          <p:nvPr/>
        </p:nvCxnSpPr>
        <p:spPr>
          <a:xfrm>
            <a:off x="3276349"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411" name="Google Shape;1411;p17"/>
          <p:cNvCxnSpPr/>
          <p:nvPr/>
        </p:nvCxnSpPr>
        <p:spPr>
          <a:xfrm>
            <a:off x="3657665" y="2199459"/>
            <a:ext cx="265200" cy="0"/>
          </a:xfrm>
          <a:prstGeom prst="straightConnector1">
            <a:avLst/>
          </a:prstGeom>
          <a:noFill/>
          <a:ln cap="flat" cmpd="sng" w="29200">
            <a:solidFill>
              <a:srgbClr val="3A7D8C"/>
            </a:solidFill>
            <a:prstDash val="solid"/>
            <a:miter lim="80"/>
            <a:headEnd len="sm" w="sm" type="none"/>
            <a:tailEnd len="sm" w="sm" type="none"/>
          </a:ln>
        </p:spPr>
      </p:cxnSp>
      <p:cxnSp>
        <p:nvCxnSpPr>
          <p:cNvPr id="1412" name="Google Shape;1412;p17"/>
          <p:cNvCxnSpPr/>
          <p:nvPr/>
        </p:nvCxnSpPr>
        <p:spPr>
          <a:xfrm>
            <a:off x="6144772" y="218163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413" name="Google Shape;1413;p17"/>
          <p:cNvCxnSpPr/>
          <p:nvPr/>
        </p:nvCxnSpPr>
        <p:spPr>
          <a:xfrm rot="10800000">
            <a:off x="7017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414" name="Google Shape;1414;p17"/>
          <p:cNvCxnSpPr/>
          <p:nvPr/>
        </p:nvCxnSpPr>
        <p:spPr>
          <a:xfrm rot="10800000">
            <a:off x="5504959" y="5982679"/>
            <a:ext cx="1956900" cy="0"/>
          </a:xfrm>
          <a:prstGeom prst="straightConnector1">
            <a:avLst/>
          </a:prstGeom>
          <a:noFill/>
          <a:ln cap="flat" cmpd="sng" w="31750">
            <a:solidFill>
              <a:srgbClr val="177A55"/>
            </a:solidFill>
            <a:prstDash val="solid"/>
            <a:miter lim="80"/>
            <a:headEnd len="sm" w="sm" type="none"/>
            <a:tailEnd len="sm" w="sm" type="none"/>
          </a:ln>
        </p:spPr>
      </p:cxnSp>
      <p:pic>
        <p:nvPicPr>
          <p:cNvPr id="1415" name="Google Shape;1415;p17"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416" name="Google Shape;1416;p17"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417" name="Google Shape;1417;p17"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418" name="Google Shape;1418;p17"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419" name="Google Shape;1419;p17"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420" name="Google Shape;1420;p17"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421" name="Slide number 142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5" name="Shape 1425"/>
        <p:cNvGrpSpPr/>
        <p:nvPr/>
      </p:nvGrpSpPr>
      <p:grpSpPr>
        <a:xfrm>
          <a:off x="0" y="0"/>
          <a:ext cx="0" cy="0"/>
          <a:chOff x="0" y="0"/>
          <a:chExt cx="0" cy="0"/>
        </a:xfrm>
      </p:grpSpPr>
      <p:sp>
        <p:nvSpPr>
          <p:cNvPr id="1426" name="Google Shape;1426;h547f90b031e64a91_0_11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27" name="Google Shape;1427;h547f90b031e64a91_0_11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28" name="Google Shape;1428;h547f90b031e64a91_0_11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29" name="Google Shape;1429;h547f90b031e64a91_0_11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0" name="Google Shape;1430;h547f90b031e64a91_0_11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1" name="Google Shape;1431;h547f90b031e64a91_0_11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32" name="Google Shape;1432;h547f90b031e64a91_0_11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33" name="Google Shape;1433;h547f90b031e64a91_0_11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34" name="Google Shape;1434;h547f90b031e64a91_0_11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5" name="Google Shape;1435;h547f90b031e64a91_0_11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6" name="Google Shape;1436;h547f90b031e64a91_0_11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37" name="Google Shape;1437;h547f90b031e64a91_0_11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38" name="Google Shape;1438;h547f90b031e64a91_0_11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39" name="Google Shape;1439;h547f90b031e64a91_0_11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440" name="Google Shape;1440;h547f90b031e64a91_0_11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41" name="Google Shape;1441;h547f90b031e64a91_0_11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42" name="Google Shape;1442;h547f90b031e64a91_0_11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43" name="Google Shape;1443;h547f90b031e64a91_0_11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4" name="Google Shape;1444;h547f90b031e64a91_0_11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45" name="Slide number 144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9" name="Shape 1449"/>
        <p:cNvGrpSpPr/>
        <p:nvPr/>
      </p:nvGrpSpPr>
      <p:grpSpPr>
        <a:xfrm>
          <a:off x="0" y="0"/>
          <a:ext cx="0" cy="0"/>
          <a:chOff x="0" y="0"/>
          <a:chExt cx="0" cy="0"/>
        </a:xfrm>
      </p:grpSpPr>
      <p:sp>
        <p:nvSpPr>
          <p:cNvPr id="1450" name="Google Shape;1450;h547f90b031e64a91_0_14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51" name="Google Shape;1451;h547f90b031e64a91_0_14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52" name="Google Shape;1452;h547f90b031e64a91_0_14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53" name="Google Shape;1453;h547f90b031e64a91_0_14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4" name="Google Shape;1454;h547f90b031e64a91_0_14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5" name="Google Shape;1455;h547f90b031e64a91_0_14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56" name="Google Shape;1456;h547f90b031e64a91_0_14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57" name="Google Shape;1457;h547f90b031e64a91_0_14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58" name="Google Shape;1458;h547f90b031e64a91_0_14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9" name="Google Shape;1459;h547f90b031e64a91_0_14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0" name="Google Shape;1460;h547f90b031e64a91_0_14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61" name="Google Shape;1461;h547f90b031e64a91_0_14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62" name="Google Shape;1462;h547f90b031e64a91_0_14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63" name="Google Shape;1463;h547f90b031e64a91_0_14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464" name="Google Shape;1464;h547f90b031e64a91_0_14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65" name="Google Shape;1465;h547f90b031e64a91_0_14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66" name="Google Shape;1466;h547f90b031e64a91_0_14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67" name="Google Shape;1467;h547f90b031e64a91_0_14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8" name="Google Shape;1468;h547f90b031e64a91_0_14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69" name="Google Shape;1469;h547f90b031e64a91_0_142"/>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0" name="Google Shape;1470;h547f90b031e64a91_0_142"/>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1" name="Google Shape;1471;h547f90b031e64a91_0_142"/>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72" name="Google Shape;1472;h547f90b031e64a91_0_142"/>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473" name="Google Shape;1473;h547f90b031e64a91_0_142"/>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474" name="Google Shape;1474;h547f90b031e64a91_0_142"/>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pic>
        <p:nvPicPr>
          <p:cNvPr id="1475" name="Google Shape;1475;h547f90b031e64a91_0_142" title="ChatGPT Image Oct 28, 2026, 02_33_01 PM-3.png"/>
          <p:cNvPicPr preferRelativeResize="0"/>
          <p:nvPr/>
        </p:nvPicPr>
        <p:blipFill>
          <a:blip r:embed="rId5">
            <a:alphaModFix/>
          </a:blip>
          <a:stretch>
            <a:fillRect/>
          </a:stretch>
        </p:blipFill>
        <p:spPr>
          <a:xfrm>
            <a:off x="10759640" y="1928292"/>
            <a:ext cx="830001" cy="830001"/>
          </a:xfrm>
          <a:prstGeom prst="rect">
            <a:avLst/>
          </a:prstGeom>
          <a:noFill/>
          <a:ln>
            <a:noFill/>
          </a:ln>
        </p:spPr>
      </p:pic>
      <p:sp>
        <p:nvSpPr>
          <p:cNvPr id="1476" name="Google Shape;1476;h547f90b031e64a91_0_142"/>
          <p:cNvSpPr/>
          <p:nvPr/>
        </p:nvSpPr>
        <p:spPr>
          <a:xfrm>
            <a:off x="8069900" y="1768850"/>
            <a:ext cx="36285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7" name="Google Shape;1477;h547f90b031e64a91_0_142"/>
          <p:cNvSpPr txBox="1"/>
          <p:nvPr/>
        </p:nvSpPr>
        <p:spPr>
          <a:xfrm>
            <a:off x="8069775" y="3710825"/>
            <a:ext cx="36285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Music</a:t>
            </a:r>
            <a:r>
              <a:rPr b="1" lang="en-US" sz="1600">
                <a:solidFill>
                  <a:srgbClr val="5B6770"/>
                </a:solidFill>
                <a:latin typeface="Calibri"/>
                <a:ea typeface="Calibri"/>
                <a:cs typeface="Calibri"/>
                <a:sym typeface="Calibri"/>
              </a:rPr>
              <a:t> Domain</a:t>
            </a:r>
            <a:endParaRPr b="0" i="0" sz="1400" u="none" cap="none" strike="noStrike">
              <a:solidFill>
                <a:srgbClr val="000000"/>
              </a:solidFill>
              <a:latin typeface="Arial"/>
              <a:ea typeface="Arial"/>
              <a:cs typeface="Arial"/>
              <a:sym typeface="Arial"/>
            </a:endParaRPr>
          </a:p>
        </p:txBody>
      </p:sp>
      <p:sp>
        <p:nvSpPr>
          <p:cNvPr id="1478" name="Slide number 147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h547f90b031e64a91_0_17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84" name="Google Shape;1484;h547f90b031e64a91_0_17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85" name="Google Shape;1485;h547f90b031e64a91_0_174"/>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86" name="Google Shape;1486;h547f90b031e64a91_0_174"/>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7" name="Google Shape;1487;h547f90b031e64a91_0_174"/>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8" name="Google Shape;1488;h547f90b031e64a91_0_174"/>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89" name="Google Shape;1489;h547f90b031e64a91_0_174"/>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90" name="Google Shape;1490;h547f90b031e64a91_0_174"/>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91" name="Google Shape;1491;h547f90b031e64a91_0_174"/>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2" name="Google Shape;1492;h547f90b031e64a91_0_174"/>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3" name="Google Shape;1493;h547f90b031e64a91_0_174"/>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94" name="Google Shape;1494;h547f90b031e64a91_0_174"/>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95" name="Google Shape;1495;h547f90b031e64a91_0_174"/>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96" name="Google Shape;1496;h547f90b031e64a91_0_174"/>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7" name="Google Shape;1497;h547f90b031e64a91_0_174"/>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8" name="Google Shape;1498;h547f90b031e64a91_0_174"/>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99" name="Google Shape;1499;h547f90b031e64a91_0_174"/>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00" name="Google Shape;1500;h547f90b031e64a91_0_174"/>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01" name="Google Shape;1501;h547f90b031e64a91_0_174"/>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02" name="Google Shape;1502;h547f90b031e64a91_0_174"/>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3" name="Google Shape;1503;h547f90b031e64a91_0_174"/>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4" name="Google Shape;1504;h547f90b031e64a91_0_174"/>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05" name="Google Shape;1505;h547f90b031e64a91_0_174"/>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06" name="Google Shape;1506;h547f90b031e64a91_0_174"/>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07" name="Google Shape;1507;h547f90b031e64a91_0_174"/>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8" name="Google Shape;1508;h547f90b031e64a91_0_174"/>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9" name="Google Shape;1509;h547f90b031e64a91_0_174"/>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10" name="Google Shape;1510;h547f90b031e64a91_0_174"/>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11" name="Google Shape;1511;h547f90b031e64a91_0_174"/>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12" name="Google Shape;1512;h547f90b031e64a91_0_174"/>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3" name="Google Shape;1513;h547f90b031e64a91_0_174"/>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4" name="Google Shape;1514;h547f90b031e64a91_0_174"/>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15" name="Google Shape;1515;h547f90b031e64a91_0_174"/>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16" name="Google Shape;1516;h547f90b031e64a91_0_174"/>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17" name="Google Shape;1517;h547f90b031e64a91_0_174"/>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8" name="Google Shape;1518;h547f90b031e64a91_0_174"/>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9" name="Google Shape;1519;h547f90b031e64a91_0_174"/>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20" name="Google Shape;1520;h547f90b031e64a91_0_174"/>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21" name="Google Shape;1521;h547f90b031e64a91_0_174"/>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22" name="Google Shape;1522;h547f90b031e64a91_0_174"/>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523" name="Google Shape;1523;h547f90b031e64a91_0_174"/>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24" name="Google Shape;1524;h547f90b031e64a91_0_174"/>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25" name="Google Shape;1525;h547f90b031e64a91_0_174"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26" name="Google Shape;1526;h547f90b031e64a91_0_174"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27" name="Google Shape;1527;h547f90b031e64a91_0_174"/>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[Goldberger et al. 2000]  </a:t>
            </a:r>
            <a:endParaRPr/>
          </a:p>
        </p:txBody>
      </p:sp>
      <p:sp>
        <p:nvSpPr>
          <p:cNvPr id="1528" name="Google Shape;1528;h547f90b031e64a91_0_174"/>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29" name="Google Shape;1529;h547f90b031e64a91_0_174"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30" name="Google Shape;1530;h547f90b031e64a91_0_174"/>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31" name="Google Shape;1531;h547f90b031e64a91_0_174"/>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32" name="Slide number 153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6" name="Shape 1536"/>
        <p:cNvGrpSpPr/>
        <p:nvPr/>
      </p:nvGrpSpPr>
      <p:grpSpPr>
        <a:xfrm>
          <a:off x="0" y="0"/>
          <a:ext cx="0" cy="0"/>
          <a:chOff x="0" y="0"/>
          <a:chExt cx="0" cy="0"/>
        </a:xfrm>
      </p:grpSpPr>
      <p:sp>
        <p:nvSpPr>
          <p:cNvPr id="1537" name="Google Shape;1537;h547f90b031e64a91_0_28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38" name="Google Shape;1538;h547f90b031e64a91_0_28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39" name="Google Shape;1539;h547f90b031e64a91_0_287"/>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40" name="Google Shape;1540;h547f90b031e64a91_0_287"/>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1" name="Google Shape;1541;h547f90b031e64a91_0_287"/>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2" name="Google Shape;1542;h547f90b031e64a91_0_287"/>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43" name="Google Shape;1543;h547f90b031e64a91_0_287"/>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44" name="Google Shape;1544;h547f90b031e64a91_0_287"/>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545" name="Google Shape;1545;h547f90b031e64a91_0_287"/>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6" name="Google Shape;1546;h547f90b031e64a91_0_287"/>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7" name="Google Shape;1547;h547f90b031e64a91_0_287"/>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548" name="Google Shape;1548;h547f90b031e64a91_0_287"/>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549" name="Google Shape;1549;h547f90b031e64a91_0_287"/>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550" name="Google Shape;1550;h547f90b031e64a91_0_287"/>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1" name="Google Shape;1551;h547f90b031e64a91_0_287"/>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2" name="Google Shape;1552;h547f90b031e64a91_0_287"/>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553" name="Google Shape;1553;h547f90b031e64a91_0_287"/>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54" name="Google Shape;1554;h547f90b031e64a91_0_287"/>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55" name="Google Shape;1555;h547f90b031e64a91_0_287"/>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56" name="Google Shape;1556;h547f90b031e64a91_0_287"/>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7" name="Google Shape;1557;h547f90b031e64a91_0_287"/>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8" name="Google Shape;1558;h547f90b031e64a91_0_287"/>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59" name="Google Shape;1559;h547f90b031e64a91_0_287"/>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60" name="Google Shape;1560;h547f90b031e64a91_0_287"/>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61" name="Google Shape;1561;h547f90b031e64a91_0_287"/>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2" name="Google Shape;1562;h547f90b031e64a91_0_287"/>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3" name="Google Shape;1563;h547f90b031e64a91_0_287"/>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64" name="Google Shape;1564;h547f90b031e64a91_0_287"/>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65" name="Google Shape;1565;h547f90b031e64a91_0_287"/>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66" name="Google Shape;1566;h547f90b031e64a91_0_287"/>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7" name="Google Shape;1567;h547f90b031e64a91_0_287"/>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8" name="Google Shape;1568;h547f90b031e64a91_0_287"/>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69" name="Google Shape;1569;h547f90b031e64a91_0_287"/>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70" name="Google Shape;1570;h547f90b031e64a91_0_287"/>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71" name="Google Shape;1571;h547f90b031e64a91_0_287"/>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2" name="Google Shape;1572;h547f90b031e64a91_0_287"/>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3" name="Google Shape;1573;h547f90b031e64a91_0_287"/>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74" name="Google Shape;1574;h547f90b031e64a91_0_287"/>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75" name="Google Shape;1575;h547f90b031e64a91_0_287"/>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76" name="Google Shape;1576;h547f90b031e64a91_0_287"/>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577" name="Google Shape;1577;h547f90b031e64a91_0_287"/>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78" name="Google Shape;1578;h547f90b031e64a91_0_287"/>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79" name="Google Shape;1579;h547f90b031e64a91_0_287"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80" name="Google Shape;1580;h547f90b031e64a91_0_287"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81" name="Google Shape;1581;h547f90b031e64a91_0_287"/>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[Goldberger et al. 2000]  </a:t>
            </a:r>
            <a:endParaRPr/>
          </a:p>
        </p:txBody>
      </p:sp>
      <p:sp>
        <p:nvSpPr>
          <p:cNvPr id="1582" name="Google Shape;1582;h547f90b031e64a91_0_287"/>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83" name="Google Shape;1583;h547f90b031e64a91_0_287"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84" name="Google Shape;1584;h547f90b031e64a91_0_287"/>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85" name="Google Shape;1585;h547f90b031e64a91_0_287"/>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86" name="Google Shape;1586;h547f90b031e64a91_0_287"/>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587" name="Slide number 158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1" name="Shape 1591"/>
        <p:cNvGrpSpPr/>
        <p:nvPr/>
      </p:nvGrpSpPr>
      <p:grpSpPr>
        <a:xfrm>
          <a:off x="0" y="0"/>
          <a:ext cx="0" cy="0"/>
          <a:chOff x="0" y="0"/>
          <a:chExt cx="0" cy="0"/>
        </a:xfrm>
      </p:grpSpPr>
      <p:sp>
        <p:nvSpPr>
          <p:cNvPr id="1592" name="Google Shape;1592;h547f90b031e64a91_0_341"/>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93" name="Google Shape;1593;h547f90b031e64a91_0_341"/>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94" name="Google Shape;1594;h547f90b031e64a91_0_341"/>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95" name="Google Shape;1595;h547f90b031e64a91_0_341"/>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6" name="Google Shape;1596;h547f90b031e64a91_0_341"/>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7" name="Google Shape;1597;h547f90b031e64a91_0_341"/>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98" name="Google Shape;1598;h547f90b031e64a91_0_341"/>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99" name="Google Shape;1599;h547f90b031e64a91_0_341"/>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00" name="Google Shape;1600;h547f90b031e64a91_0_341"/>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1" name="Google Shape;1601;h547f90b031e64a91_0_341"/>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2" name="Google Shape;1602;h547f90b031e64a91_0_341"/>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03" name="Google Shape;1603;h547f90b031e64a91_0_341"/>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04" name="Google Shape;1604;h547f90b031e64a91_0_341"/>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05" name="Google Shape;1605;h547f90b031e64a91_0_341"/>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6" name="Google Shape;1606;h547f90b031e64a91_0_341"/>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7" name="Google Shape;1607;h547f90b031e64a91_0_341"/>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08" name="Google Shape;1608;h547f90b031e64a91_0_341"/>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09" name="Google Shape;1609;h547f90b031e64a91_0_341"/>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10" name="Google Shape;1610;h547f90b031e64a91_0_341"/>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11" name="Google Shape;1611;h547f90b031e64a91_0_341"/>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2" name="Google Shape;1612;h547f90b031e64a91_0_341"/>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3" name="Google Shape;1613;h547f90b031e64a91_0_341"/>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14" name="Google Shape;1614;h547f90b031e64a91_0_341"/>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15" name="Google Shape;1615;h547f90b031e64a91_0_341"/>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16" name="Google Shape;1616;h547f90b031e64a91_0_341"/>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7" name="Google Shape;1617;h547f90b031e64a91_0_341"/>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8" name="Google Shape;1618;h547f90b031e64a91_0_341"/>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19" name="Google Shape;1619;h547f90b031e64a91_0_341"/>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20" name="Google Shape;1620;h547f90b031e64a91_0_341"/>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21" name="Google Shape;1621;h547f90b031e64a91_0_341"/>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2" name="Google Shape;1622;h547f90b031e64a91_0_341"/>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3" name="Google Shape;1623;h547f90b031e64a91_0_341"/>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24" name="Google Shape;1624;h547f90b031e64a91_0_341"/>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25" name="Google Shape;1625;h547f90b031e64a91_0_341"/>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26" name="Google Shape;1626;h547f90b031e64a91_0_341"/>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7" name="Google Shape;1627;h547f90b031e64a91_0_341"/>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8" name="Google Shape;1628;h547f90b031e64a91_0_341"/>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29" name="Google Shape;1629;h547f90b031e64a91_0_341"/>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30" name="Google Shape;1630;h547f90b031e64a91_0_341"/>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31" name="Google Shape;1631;h547f90b031e64a91_0_341"/>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632" name="Google Shape;1632;h547f90b031e64a91_0_341"/>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33" name="Google Shape;1633;h547f90b031e64a91_0_341"/>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34" name="Google Shape;1634;h547f90b031e64a91_0_341"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35" name="Google Shape;1635;h547f90b031e64a91_0_341"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36" name="Google Shape;1636;h547f90b031e64a91_0_341"/>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[Goldberger et al. 2000]  </a:t>
            </a:r>
            <a:endParaRPr/>
          </a:p>
        </p:txBody>
      </p:sp>
      <p:sp>
        <p:nvSpPr>
          <p:cNvPr id="1637" name="Google Shape;1637;h547f90b031e64a91_0_341"/>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38" name="Google Shape;1638;h547f90b031e64a91_0_341"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39" name="Google Shape;1639;h547f90b031e64a91_0_341"/>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40" name="Google Shape;1640;h547f90b031e64a91_0_341"/>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41" name="Google Shape;1641;h547f90b031e64a91_0_341"/>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42" name="Google Shape;1642;h547f90b031e64a91_0_341"/>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643" name="Google Shape;1643;h547f90b031e64a91_0_341"/>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644" name="Slide number 16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8" name="Shape 1648"/>
        <p:cNvGrpSpPr/>
        <p:nvPr/>
      </p:nvGrpSpPr>
      <p:grpSpPr>
        <a:xfrm>
          <a:off x="0" y="0"/>
          <a:ext cx="0" cy="0"/>
          <a:chOff x="0" y="0"/>
          <a:chExt cx="0" cy="0"/>
        </a:xfrm>
      </p:grpSpPr>
      <p:sp>
        <p:nvSpPr>
          <p:cNvPr id="1649" name="Google Shape;1649;h547f90b031e64a91_0_398"/>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650" name="Google Shape;1650;h547f90b031e64a91_0_398"/>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651" name="Google Shape;1651;h547f90b031e64a91_0_398"/>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652" name="Google Shape;1652;h547f90b031e64a91_0_398"/>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3" name="Google Shape;1653;h547f90b031e64a91_0_398"/>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4" name="Google Shape;1654;h547f90b031e64a91_0_398"/>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655" name="Google Shape;1655;h547f90b031e64a91_0_398"/>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656" name="Google Shape;1656;h547f90b031e64a91_0_398"/>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57" name="Google Shape;1657;h547f90b031e64a91_0_398"/>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8" name="Google Shape;1658;h547f90b031e64a91_0_398"/>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9" name="Google Shape;1659;h547f90b031e64a91_0_398"/>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60" name="Google Shape;1660;h547f90b031e64a91_0_398"/>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61" name="Google Shape;1661;h547f90b031e64a91_0_398"/>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62" name="Google Shape;1662;h547f90b031e64a91_0_398"/>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3" name="Google Shape;1663;h547f90b031e64a91_0_398"/>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4" name="Google Shape;1664;h547f90b031e64a91_0_398"/>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65" name="Google Shape;1665;h547f90b031e64a91_0_398"/>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66" name="Google Shape;1666;h547f90b031e64a91_0_398"/>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67" name="Google Shape;1667;h547f90b031e64a91_0_398"/>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68" name="Google Shape;1668;h547f90b031e64a91_0_398"/>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9" name="Google Shape;1669;h547f90b031e64a91_0_398"/>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0" name="Google Shape;1670;h547f90b031e64a91_0_398"/>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71" name="Google Shape;1671;h547f90b031e64a91_0_398"/>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72" name="Google Shape;1672;h547f90b031e64a91_0_398"/>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73" name="Google Shape;1673;h547f90b031e64a91_0_398"/>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4" name="Google Shape;1674;h547f90b031e64a91_0_398"/>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5" name="Google Shape;1675;h547f90b031e64a91_0_398"/>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76" name="Google Shape;1676;h547f90b031e64a91_0_398"/>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77" name="Google Shape;1677;h547f90b031e64a91_0_398"/>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78" name="Google Shape;1678;h547f90b031e64a91_0_398"/>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9" name="Google Shape;1679;h547f90b031e64a91_0_398"/>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0" name="Google Shape;1680;h547f90b031e64a91_0_398"/>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81" name="Google Shape;1681;h547f90b031e64a91_0_398"/>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82" name="Google Shape;1682;h547f90b031e64a91_0_398"/>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83" name="Google Shape;1683;h547f90b031e64a91_0_398"/>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4" name="Google Shape;1684;h547f90b031e64a91_0_398"/>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5" name="Google Shape;1685;h547f90b031e64a91_0_398"/>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86" name="Google Shape;1686;h547f90b031e64a91_0_398"/>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87" name="Google Shape;1687;h547f90b031e64a91_0_398"/>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88" name="Google Shape;1688;h547f90b031e64a91_0_398"/>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689" name="Google Shape;1689;h547f90b031e64a91_0_398"/>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90" name="Google Shape;1690;h547f90b031e64a91_0_398"/>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91" name="Google Shape;1691;h547f90b031e64a91_0_398"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92" name="Google Shape;1692;h547f90b031e64a91_0_398"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93" name="Google Shape;1693;h547f90b031e64a91_0_398"/>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[Goldberger et al. 2000]  </a:t>
            </a:r>
            <a:endParaRPr/>
          </a:p>
        </p:txBody>
      </p:sp>
      <p:sp>
        <p:nvSpPr>
          <p:cNvPr id="1694" name="Google Shape;1694;h547f90b031e64a91_0_398"/>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95" name="Google Shape;1695;h547f90b031e64a91_0_398"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96" name="Google Shape;1696;h547f90b031e64a91_0_398"/>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97" name="Google Shape;1697;h547f90b031e64a91_0_398"/>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98" name="Google Shape;1698;h547f90b031e64a91_0_398"/>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99" name="Google Shape;1699;h547f90b031e64a91_0_398"/>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700" name="Google Shape;1700;h547f90b031e64a91_0_398"/>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701" name="Google Shape;1701;h547f90b031e64a91_0_398"/>
          <p:cNvSpPr txBox="1"/>
          <p:nvPr/>
        </p:nvSpPr>
        <p:spPr>
          <a:xfrm>
            <a:off x="795524" y="645127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3+27 = 30 ONTOLOGIES   </a:t>
            </a:r>
            <a:endParaRPr b="0" i="0" sz="1400" u="none" cap="none" strike="noStrike">
              <a:solidFill>
                <a:srgbClr val="000000"/>
              </a:solidFill>
              <a:latin typeface="Arial"/>
              <a:ea typeface="Arial"/>
              <a:cs typeface="Arial"/>
              <a:sym typeface="Arial"/>
            </a:endParaRPr>
          </a:p>
        </p:txBody>
      </p:sp>
      <p:sp>
        <p:nvSpPr>
          <p:cNvPr id="1702" name="Slide number 17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6" name="Shape 1706"/>
        <p:cNvGrpSpPr/>
        <p:nvPr/>
      </p:nvGrpSpPr>
      <p:grpSpPr>
        <a:xfrm>
          <a:off x="0" y="0"/>
          <a:ext cx="0" cy="0"/>
          <a:chOff x="0" y="0"/>
          <a:chExt cx="0" cy="0"/>
        </a:xfrm>
      </p:grpSpPr>
      <p:sp>
        <p:nvSpPr>
          <p:cNvPr id="1707" name="Google Shape;1707;h547f90b031e64a91_0_56"/>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708" name="Google Shape;1708;h547f90b031e64a91_0_56"/>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709" name="Google Shape;1709;h547f90b031e64a91_0_56"/>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710" name="Google Shape;1710;h547f90b031e64a91_0_56"/>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1" name="Google Shape;1711;h547f90b031e64a91_0_56"/>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2" name="Google Shape;1712;h547f90b031e64a91_0_56"/>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713" name="Google Shape;1713;h547f90b031e64a91_0_56"/>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714" name="Google Shape;1714;h547f90b031e64a91_0_56"/>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715" name="Google Shape;1715;h547f90b031e64a91_0_56"/>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6" name="Google Shape;1716;h547f90b031e64a91_0_56"/>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7" name="Google Shape;1717;h547f90b031e64a91_0_56"/>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718" name="Google Shape;1718;h547f90b031e64a91_0_56"/>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719" name="Google Shape;1719;h547f90b031e64a91_0_56"/>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720" name="Google Shape;1720;h547f90b031e64a91_0_56"/>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1" name="Google Shape;1721;h547f90b031e64a91_0_56"/>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2" name="Google Shape;1722;h547f90b031e64a91_0_56"/>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723" name="Google Shape;1723;h547f90b031e64a91_0_56"/>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724" name="Google Shape;1724;h547f90b031e64a91_0_56"/>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725" name="Google Shape;1725;h547f90b031e64a91_0_56"/>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726" name="Google Shape;1726;h547f90b031e64a91_0_56"/>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7" name="Google Shape;1727;h547f90b031e64a91_0_56"/>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8" name="Google Shape;1728;h547f90b031e64a91_0_56"/>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729" name="Google Shape;1729;h547f90b031e64a91_0_56"/>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730" name="Google Shape;1730;h547f90b031e64a91_0_56"/>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731" name="Google Shape;1731;h547f90b031e64a91_0_56"/>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2" name="Google Shape;1732;h547f90b031e64a91_0_56"/>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3" name="Google Shape;1733;h547f90b031e64a91_0_56"/>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734" name="Google Shape;1734;h547f90b031e64a91_0_56"/>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735" name="Google Shape;1735;h547f90b031e64a91_0_56"/>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736" name="Google Shape;1736;h547f90b031e64a91_0_56"/>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7" name="Google Shape;1737;h547f90b031e64a91_0_56"/>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8" name="Google Shape;1738;h547f90b031e64a91_0_56"/>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739" name="Google Shape;1739;h547f90b031e64a91_0_56"/>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740" name="Google Shape;1740;h547f90b031e64a91_0_56"/>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741" name="Google Shape;1741;h547f90b031e64a91_0_56"/>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2" name="Google Shape;1742;h547f90b031e64a91_0_56"/>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3" name="Google Shape;1743;h547f90b031e64a91_0_56"/>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744" name="Google Shape;1744;h547f90b031e64a91_0_56"/>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745" name="Google Shape;1745;h547f90b031e64a91_0_56"/>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746" name="Google Shape;1746;h547f90b031e64a91_0_56"/>
          <p:cNvSpPr/>
          <p:nvPr/>
        </p:nvSpPr>
        <p:spPr>
          <a:xfrm>
            <a:off x="865650" y="5589725"/>
            <a:ext cx="10460700" cy="6858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7" name="Google Shape;1747;h547f90b031e64a91_0_56"/>
          <p:cNvSpPr txBox="1"/>
          <p:nvPr/>
        </p:nvSpPr>
        <p:spPr>
          <a:xfrm>
            <a:off x="1057646" y="5816618"/>
            <a:ext cx="100767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30 ONTOLOGIES   </a:t>
            </a:r>
            <a:r>
              <a:rPr lang="en-US" sz="1550">
                <a:solidFill>
                  <a:srgbClr val="1F2328"/>
                </a:solidFill>
                <a:latin typeface="Calibri"/>
                <a:ea typeface="Calibri"/>
                <a:cs typeface="Calibri"/>
                <a:sym typeface="Calibri"/>
              </a:rPr>
              <a:t>→ checked by quality checks · LLM-as-a-Judge (GPT-5.4) · 10 human experts · BURR benchmark [1] </a:t>
            </a:r>
            <a:endParaRPr b="0" i="0" sz="1400" u="none" cap="none" strike="noStrike">
              <a:solidFill>
                <a:srgbClr val="000000"/>
              </a:solidFill>
              <a:latin typeface="Arial"/>
              <a:ea typeface="Arial"/>
              <a:cs typeface="Arial"/>
              <a:sym typeface="Arial"/>
            </a:endParaRPr>
          </a:p>
        </p:txBody>
      </p:sp>
      <p:sp>
        <p:nvSpPr>
          <p:cNvPr id="1748" name="Google Shape;1748;h547f90b031e64a91_0_56"/>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[Goldberger et al. 2000]  </a:t>
            </a:r>
            <a:endParaRPr/>
          </a:p>
        </p:txBody>
      </p:sp>
      <p:sp>
        <p:nvSpPr>
          <p:cNvPr id="1749" name="Google Shape;1749;h547f90b031e64a91_0_56"/>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750" name="Google Shape;1750;h547f90b031e64a91_0_56"/>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751" name="Google Shape;1751;h547f90b031e64a91_0_56"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752" name="Google Shape;1752;h547f90b031e64a91_0_56"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753" name="Google Shape;1753;h547f90b031e64a91_0_56"/>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[Goldberger et al. 2000]  </a:t>
            </a:r>
            <a:endParaRPr/>
          </a:p>
        </p:txBody>
      </p:sp>
      <p:sp>
        <p:nvSpPr>
          <p:cNvPr id="1754" name="Google Shape;1754;h547f90b031e64a91_0_56"/>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755" name="Google Shape;1755;h547f90b031e64a91_0_56"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756" name="Google Shape;1756;h547f90b031e64a91_0_56"/>
          <p:cNvSpPr/>
          <p:nvPr/>
        </p:nvSpPr>
        <p:spPr>
          <a:xfrm>
            <a:off x="913950" y="648627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[1] BURR benchmark</a:t>
            </a:r>
            <a:r>
              <a:rPr b="1" lang="en-US" sz="1000">
                <a:solidFill>
                  <a:srgbClr val="5B6770"/>
                </a:solidFill>
                <a:latin typeface="Calibri"/>
                <a:ea typeface="Calibri"/>
                <a:cs typeface="Calibri"/>
                <a:sym typeface="Calibri"/>
              </a:rPr>
              <a:t> </a:t>
            </a:r>
            <a:r>
              <a:rPr lang="en-US" sz="1000">
                <a:solidFill>
                  <a:srgbClr val="5B6770"/>
                </a:solidFill>
                <a:latin typeface="Calibri"/>
                <a:ea typeface="Calibri"/>
                <a:cs typeface="Calibri"/>
                <a:sym typeface="Calibri"/>
              </a:rPr>
              <a:t>[Laskowski et al., PACMMOD 2025]</a:t>
            </a:r>
            <a:endParaRPr/>
          </a:p>
        </p:txBody>
      </p:sp>
      <p:sp>
        <p:nvSpPr>
          <p:cNvPr id="1757" name="Slide number 17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1  /  VALID, WITH FEWER ERRORS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Every ontology is valid. RIGOR's have far fewer modeling errors.</a:t>
            </a:r>
            <a:endParaRPr b="0" i="0" sz="1400" u="none" cap="none" strike="noStrike">
              <a:solidFill>
                <a:srgbClr val="000000"/>
              </a:solidFill>
              <a:latin typeface="Arial"/>
              <a:ea typeface="Arial"/>
              <a:cs typeface="Arial"/>
              <a:sym typeface="Arial"/>
            </a:endParaRPr>
          </a:p>
        </p:txBody>
      </p:sp>
      <p:sp>
        <p:nvSpPr>
          <p:cNvPr id="1764" name="Google Shape;1764;h547f90b031e64a91_0_458"/>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All 30 ontologies are</a:t>
            </a:r>
            <a:r>
              <a:rPr b="1" i="0" lang="en-US" sz="1600" u="none" cap="none" strike="noStrike">
                <a:solidFill>
                  <a:srgbClr val="3A434C"/>
                </a:solidFill>
                <a:latin typeface="Calibri"/>
                <a:ea typeface="Calibri"/>
                <a:cs typeface="Calibri"/>
                <a:sym typeface="Calibri"/>
              </a:rPr>
              <a:t> valid OW</a:t>
            </a:r>
            <a:r>
              <a:rPr b="1" lang="en-US" sz="1600">
                <a:solidFill>
                  <a:srgbClr val="3A434C"/>
                </a:solidFill>
                <a:latin typeface="Calibri"/>
                <a:ea typeface="Calibri"/>
                <a:cs typeface="Calibri"/>
                <a:sym typeface="Calibri"/>
              </a:rPr>
              <a:t>L</a:t>
            </a:r>
            <a:r>
              <a:rPr b="1" i="0" lang="en-US" sz="1600" u="none" cap="none" strike="noStrike">
                <a:solidFill>
                  <a:srgbClr val="3A434C"/>
                </a:solidFill>
                <a:latin typeface="Calibri"/>
                <a:ea typeface="Calibri"/>
                <a:cs typeface="Calibri"/>
                <a:sym typeface="Calibri"/>
              </a:rPr>
              <a:t>2DL </a:t>
            </a:r>
            <a:r>
              <a:rPr b="0" i="0" lang="en-US" sz="1600" u="none" cap="none" strike="noStrike">
                <a:solidFill>
                  <a:srgbClr val="3A434C"/>
                </a:solidFill>
                <a:latin typeface="Calibri"/>
                <a:ea typeface="Calibri"/>
                <a:cs typeface="Calibri"/>
                <a:sym typeface="Calibri"/>
              </a:rPr>
              <a:t>(RDFLib) and </a:t>
            </a:r>
            <a:r>
              <a:rPr b="1" i="0" lang="en-US" sz="1600" u="none" cap="none" strike="noStrike">
                <a:solidFill>
                  <a:srgbClr val="3A434C"/>
                </a:solidFill>
                <a:latin typeface="Calibri"/>
                <a:ea typeface="Calibri"/>
                <a:cs typeface="Calibri"/>
                <a:sym typeface="Calibri"/>
              </a:rPr>
              <a:t>logically consistent</a:t>
            </a:r>
            <a:r>
              <a:rPr b="0" i="0" lang="en-US" sz="1600" u="none" cap="none" strike="noStrike">
                <a:solidFill>
                  <a:srgbClr val="3A434C"/>
                </a:solidFill>
                <a:latin typeface="Calibri"/>
                <a:ea typeface="Calibri"/>
                <a:cs typeface="Calibri"/>
                <a:sym typeface="Calibri"/>
              </a:rPr>
              <a:t> (HermiT). So we look deeper.</a:t>
            </a:r>
            <a:endParaRPr/>
          </a:p>
        </p:txBody>
      </p:sp>
      <p:sp>
        <p:nvSpPr>
          <p:cNvPr id="1765" name="Google Shape;1765;h547f90b031e64a91_0_458"/>
          <p:cNvSpPr/>
          <p:nvPr/>
        </p:nvSpPr>
        <p:spPr>
          <a:xfrm>
            <a:off x="804672"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1  VALID, FEWER ERRORS</a:t>
            </a:r>
            <a:endParaRPr/>
          </a:p>
        </p:txBody>
      </p:sp>
      <p:sp>
        <p:nvSpPr>
          <p:cNvPr id="1766" name="Google Shape;1766;h547f90b031e64a91_0_458"/>
          <p:cNvSpPr/>
          <p:nvPr/>
        </p:nvSpPr>
        <p:spPr>
          <a:xfrm>
            <a:off x="293888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2  KEEPS THE SCHEMA</a:t>
            </a:r>
            <a:endParaRPr/>
          </a:p>
        </p:txBody>
      </p:sp>
      <p:sp>
        <p:nvSpPr>
          <p:cNvPr id="1767" name="Google Shape;1767;h547f90b031e64a91_0_458"/>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768" name="Google Shape;1768;h547f90b031e64a91_0_458"/>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769" name="Google Shape;1769;h547f90b031e64a91_0_458"/>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770" name="Google Shape;1770;h547f90b031e64a91_0_458"/>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1" name="Google Shape;1771;h547f90b031e64a91_0_458"/>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MODELING ERRORS FOUND BY OOPS!</a:t>
            </a:r>
            <a:endParaRPr/>
          </a:p>
        </p:txBody>
      </p:sp>
      <p:sp>
        <p:nvSpPr>
          <p:cNvPr id="1772" name="Google Shape;1772;h547f90b031e64a91_0_458"/>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pitfalls per ontology, fewer is better</a:t>
            </a:r>
            <a:endParaRPr/>
          </a:p>
        </p:txBody>
      </p:sp>
      <p:sp>
        <p:nvSpPr>
          <p:cNvPr id="1773" name="Google Shape;1773;h547f90b031e64a91_0_458"/>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774" name="Google Shape;1774;h547f90b031e64a91_0_458"/>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775" name="Google Shape;1775;h547f90b031e64a91_0_458"/>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776" name="Google Shape;1776;h547f90b031e64a91_0_458"/>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777" name="Google Shape;1777;h547f90b031e64a91_0_458"/>
          <p:cNvSpPr txBox="1"/>
          <p:nvPr/>
        </p:nvSpPr>
        <p:spPr>
          <a:xfrm>
            <a:off x="1078992" y="3699562"/>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778" name="Google Shape;1778;h547f90b031e64a91_0_458"/>
          <p:cNvSpPr/>
          <p:nvPr/>
        </p:nvSpPr>
        <p:spPr>
          <a:xfrm>
            <a:off x="2697479"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731</a:t>
            </a:r>
            <a:endParaRPr/>
          </a:p>
        </p:txBody>
      </p:sp>
      <p:sp>
        <p:nvSpPr>
          <p:cNvPr id="1779" name="Google Shape;1779;h547f90b031e64a91_0_458"/>
          <p:cNvSpPr/>
          <p:nvPr/>
        </p:nvSpPr>
        <p:spPr>
          <a:xfrm>
            <a:off x="5221223"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665</a:t>
            </a:r>
            <a:endParaRPr/>
          </a:p>
        </p:txBody>
      </p:sp>
      <p:sp>
        <p:nvSpPr>
          <p:cNvPr id="1780" name="Google Shape;1780;h547f90b031e64a91_0_458"/>
          <p:cNvSpPr/>
          <p:nvPr/>
        </p:nvSpPr>
        <p:spPr>
          <a:xfrm>
            <a:off x="7744967" y="3717850"/>
            <a:ext cx="24873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102</a:t>
            </a:r>
            <a:endParaRPr/>
          </a:p>
        </p:txBody>
      </p:sp>
      <p:sp>
        <p:nvSpPr>
          <p:cNvPr id="1781" name="Google Shape;1781;h547f90b031e64a91_0_458"/>
          <p:cNvSpPr txBox="1"/>
          <p:nvPr/>
        </p:nvSpPr>
        <p:spPr>
          <a:xfrm>
            <a:off x="10296144" y="3699562"/>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499</a:t>
            </a:r>
            <a:endParaRPr/>
          </a:p>
        </p:txBody>
      </p:sp>
      <p:sp>
        <p:nvSpPr>
          <p:cNvPr id="1782" name="Google Shape;1782;h547f90b031e64a91_0_458"/>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783" name="Google Shape;1783;h547f90b031e64a91_0_458"/>
          <p:cNvSpPr/>
          <p:nvPr/>
        </p:nvSpPr>
        <p:spPr>
          <a:xfrm>
            <a:off x="2697479"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422</a:t>
            </a:r>
            <a:endParaRPr/>
          </a:p>
        </p:txBody>
      </p:sp>
      <p:sp>
        <p:nvSpPr>
          <p:cNvPr id="1784" name="Google Shape;1784;h547f90b031e64a91_0_458"/>
          <p:cNvSpPr/>
          <p:nvPr/>
        </p:nvSpPr>
        <p:spPr>
          <a:xfrm>
            <a:off x="3538727"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397</a:t>
            </a:r>
            <a:endParaRPr/>
          </a:p>
        </p:txBody>
      </p:sp>
      <p:sp>
        <p:nvSpPr>
          <p:cNvPr id="1785" name="Google Shape;1785;h547f90b031e64a91_0_458"/>
          <p:cNvSpPr/>
          <p:nvPr/>
        </p:nvSpPr>
        <p:spPr>
          <a:xfrm>
            <a:off x="4379975"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403</a:t>
            </a:r>
            <a:endParaRPr/>
          </a:p>
        </p:txBody>
      </p:sp>
      <p:sp>
        <p:nvSpPr>
          <p:cNvPr id="1786" name="Google Shape;1786;h547f90b031e64a91_0_458"/>
          <p:cNvSpPr/>
          <p:nvPr/>
        </p:nvSpPr>
        <p:spPr>
          <a:xfrm>
            <a:off x="5221223"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434</a:t>
            </a:r>
            <a:endParaRPr/>
          </a:p>
        </p:txBody>
      </p:sp>
      <p:sp>
        <p:nvSpPr>
          <p:cNvPr id="1787" name="Google Shape;1787;h547f90b031e64a91_0_458"/>
          <p:cNvSpPr/>
          <p:nvPr/>
        </p:nvSpPr>
        <p:spPr>
          <a:xfrm>
            <a:off x="6062471"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440</a:t>
            </a:r>
            <a:endParaRPr/>
          </a:p>
        </p:txBody>
      </p:sp>
      <p:sp>
        <p:nvSpPr>
          <p:cNvPr id="1788" name="Google Shape;1788;h547f90b031e64a91_0_458"/>
          <p:cNvSpPr/>
          <p:nvPr/>
        </p:nvSpPr>
        <p:spPr>
          <a:xfrm>
            <a:off x="6903720"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421</a:t>
            </a:r>
            <a:endParaRPr/>
          </a:p>
        </p:txBody>
      </p:sp>
      <p:sp>
        <p:nvSpPr>
          <p:cNvPr id="1789" name="Google Shape;1789;h547f90b031e64a91_0_458"/>
          <p:cNvSpPr/>
          <p:nvPr/>
        </p:nvSpPr>
        <p:spPr>
          <a:xfrm>
            <a:off x="7744967"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95</a:t>
            </a:r>
            <a:endParaRPr/>
          </a:p>
        </p:txBody>
      </p:sp>
      <p:sp>
        <p:nvSpPr>
          <p:cNvPr id="1790" name="Google Shape;1790;h547f90b031e64a91_0_458"/>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a:t>
            </a:r>
            <a:endParaRPr/>
          </a:p>
        </p:txBody>
      </p:sp>
      <p:sp>
        <p:nvSpPr>
          <p:cNvPr id="1791" name="Google Shape;1791;h547f90b031e64a91_0_458"/>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81</a:t>
            </a:r>
            <a:endParaRPr/>
          </a:p>
        </p:txBody>
      </p:sp>
      <p:sp>
        <p:nvSpPr>
          <p:cNvPr id="1792" name="Google Shape;1792;h547f90b031e64a91_0_458"/>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307</a:t>
            </a:r>
            <a:endParaRPr/>
          </a:p>
        </p:txBody>
      </p:sp>
      <p:sp>
        <p:nvSpPr>
          <p:cNvPr id="1793" name="Google Shape;1793;h547f90b031e64a91_0_458"/>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794" name="Google Shape;1794;h547f90b031e64a91_0_458"/>
          <p:cNvSpPr/>
          <p:nvPr/>
        </p:nvSpPr>
        <p:spPr>
          <a:xfrm>
            <a:off x="2697479"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29</a:t>
            </a:r>
            <a:endParaRPr/>
          </a:p>
        </p:txBody>
      </p:sp>
      <p:sp>
        <p:nvSpPr>
          <p:cNvPr id="1795" name="Google Shape;1795;h547f90b031e64a91_0_458"/>
          <p:cNvSpPr/>
          <p:nvPr/>
        </p:nvSpPr>
        <p:spPr>
          <a:xfrm>
            <a:off x="353872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61</a:t>
            </a:r>
            <a:endParaRPr/>
          </a:p>
        </p:txBody>
      </p:sp>
      <p:sp>
        <p:nvSpPr>
          <p:cNvPr id="1796" name="Google Shape;1796;h547f90b031e64a91_0_458"/>
          <p:cNvSpPr/>
          <p:nvPr/>
        </p:nvSpPr>
        <p:spPr>
          <a:xfrm>
            <a:off x="4379975"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18</a:t>
            </a:r>
            <a:endParaRPr/>
          </a:p>
        </p:txBody>
      </p:sp>
      <p:sp>
        <p:nvSpPr>
          <p:cNvPr id="1797" name="Google Shape;1797;h547f90b031e64a91_0_458"/>
          <p:cNvSpPr/>
          <p:nvPr/>
        </p:nvSpPr>
        <p:spPr>
          <a:xfrm>
            <a:off x="5221223"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a:t>
            </a:r>
            <a:endParaRPr/>
          </a:p>
        </p:txBody>
      </p:sp>
      <p:sp>
        <p:nvSpPr>
          <p:cNvPr id="1798" name="Google Shape;1798;h547f90b031e64a91_0_458"/>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220</a:t>
            </a:r>
            <a:endParaRPr/>
          </a:p>
        </p:txBody>
      </p:sp>
      <p:sp>
        <p:nvSpPr>
          <p:cNvPr id="1799" name="Google Shape;1799;h547f90b031e64a91_0_458"/>
          <p:cNvSpPr/>
          <p:nvPr/>
        </p:nvSpPr>
        <p:spPr>
          <a:xfrm>
            <a:off x="6903720"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27</a:t>
            </a:r>
            <a:endParaRPr/>
          </a:p>
        </p:txBody>
      </p:sp>
      <p:sp>
        <p:nvSpPr>
          <p:cNvPr id="1800" name="Google Shape;1800;h547f90b031e64a91_0_458"/>
          <p:cNvSpPr/>
          <p:nvPr/>
        </p:nvSpPr>
        <p:spPr>
          <a:xfrm>
            <a:off x="7744967"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24</a:t>
            </a:r>
            <a:endParaRPr/>
          </a:p>
        </p:txBody>
      </p:sp>
      <p:sp>
        <p:nvSpPr>
          <p:cNvPr id="1801" name="Google Shape;1801;h547f90b031e64a91_0_458"/>
          <p:cNvSpPr/>
          <p:nvPr/>
        </p:nvSpPr>
        <p:spPr>
          <a:xfrm>
            <a:off x="8586216"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35</a:t>
            </a:r>
            <a:endParaRPr/>
          </a:p>
        </p:txBody>
      </p:sp>
      <p:sp>
        <p:nvSpPr>
          <p:cNvPr id="1802" name="Google Shape;1802;h547f90b031e64a91_0_458"/>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1803" name="Google Shape;1803;h547f90b031e64a91_0_458"/>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52</a:t>
            </a:r>
            <a:endParaRPr/>
          </a:p>
        </p:txBody>
      </p:sp>
      <p:sp>
        <p:nvSpPr>
          <p:cNvPr id="1804" name="Google Shape;1804;h547f90b031e64a91_0_458"/>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05" name="Google Shape;1805;h547f90b031e64a91_0_458"/>
          <p:cNvSpPr/>
          <p:nvPr/>
        </p:nvSpPr>
        <p:spPr>
          <a:xfrm>
            <a:off x="2697479"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20</a:t>
            </a:r>
            <a:endParaRPr/>
          </a:p>
        </p:txBody>
      </p:sp>
      <p:sp>
        <p:nvSpPr>
          <p:cNvPr id="1806" name="Google Shape;1806;h547f90b031e64a91_0_458"/>
          <p:cNvSpPr/>
          <p:nvPr/>
        </p:nvSpPr>
        <p:spPr>
          <a:xfrm>
            <a:off x="3538727"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23</a:t>
            </a:r>
            <a:endParaRPr/>
          </a:p>
        </p:txBody>
      </p:sp>
      <p:sp>
        <p:nvSpPr>
          <p:cNvPr id="1807" name="Google Shape;1807;h547f90b031e64a91_0_458"/>
          <p:cNvSpPr/>
          <p:nvPr/>
        </p:nvSpPr>
        <p:spPr>
          <a:xfrm>
            <a:off x="4379975"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a:t>
            </a:r>
            <a:endParaRPr/>
          </a:p>
        </p:txBody>
      </p:sp>
      <p:sp>
        <p:nvSpPr>
          <p:cNvPr id="1808" name="Google Shape;1808;h547f90b031e64a91_0_458"/>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09" name="Google Shape;1809;h547f90b031e64a91_0_458"/>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10" name="Google Shape;1810;h547f90b031e64a91_0_458"/>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26</a:t>
            </a:r>
            <a:endParaRPr/>
          </a:p>
        </p:txBody>
      </p:sp>
      <p:sp>
        <p:nvSpPr>
          <p:cNvPr id="1811" name="Google Shape;1811;h547f90b031e64a91_0_458"/>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2" name="Google Shape;1812;h547f90b031e64a91_0_458"/>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3" name="Google Shape;1813;h547f90b031e64a91_0_458"/>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4" name="Google Shape;1814;h547f90b031e64a91_0_458"/>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8</a:t>
            </a:r>
            <a:endParaRPr/>
          </a:p>
        </p:txBody>
      </p:sp>
      <p:sp>
        <p:nvSpPr>
          <p:cNvPr id="1815" name="Google Shape;1815;h547f90b031e64a91_0_458"/>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Same LLM, same database: </a:t>
            </a:r>
            <a:r>
              <a:rPr b="1" i="0" lang="en-US" sz="1400" u="none" cap="none" strike="noStrike">
                <a:solidFill>
                  <a:srgbClr val="B23A1E"/>
                </a:solidFill>
                <a:latin typeface="Calibri"/>
                <a:ea typeface="Calibri"/>
                <a:cs typeface="Calibri"/>
                <a:sym typeface="Calibri"/>
              </a:rPr>
              <a:t>Mistral on eICU, 220 without RIGOR</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2 with it.</a:t>
            </a:r>
            <a:r>
              <a:rPr b="0" i="0" lang="en-US" sz="1400" u="none" cap="none" strike="noStrike">
                <a:solidFill>
                  <a:srgbClr val="3A434C"/>
                </a:solidFill>
                <a:latin typeface="Calibri"/>
                <a:ea typeface="Calibri"/>
                <a:cs typeface="Calibri"/>
                <a:sym typeface="Calibri"/>
              </a:rPr>
              <a:t>  On Chinook, RIGOR has zero with every LLM.</a:t>
            </a:r>
            <a:endParaRPr/>
          </a:p>
        </p:txBody>
      </p:sp>
      <p:sp>
        <p:nvSpPr>
          <p:cNvPr id="1816" name="Google Shape;1816;h547f90b031e64a91_0_458"/>
          <p:cNvSpPr/>
          <p:nvPr/>
        </p:nvSpPr>
        <p:spPr>
          <a:xfrm>
            <a:off x="822950" y="6510550"/>
            <a:ext cx="50511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OPPS!</a:t>
            </a:r>
            <a:r>
              <a:rPr lang="en-US" sz="1000">
                <a:solidFill>
                  <a:srgbClr val="5B6770"/>
                </a:solidFill>
                <a:latin typeface="Calibri"/>
                <a:ea typeface="Calibri"/>
                <a:cs typeface="Calibri"/>
                <a:sym typeface="Calibri"/>
              </a:rPr>
              <a:t> [Poveda-Villalón et al., IJSWIS 2014]</a:t>
            </a:r>
            <a:r>
              <a:rPr b="0" i="0" lang="en-US" sz="1000" u="none" cap="none" strike="noStrike">
                <a:solidFill>
                  <a:srgbClr val="5B6770"/>
                </a:solidFill>
                <a:latin typeface="Calibri"/>
                <a:ea typeface="Calibri"/>
                <a:cs typeface="Calibri"/>
                <a:sym typeface="Calibri"/>
              </a:rPr>
              <a:t> </a:t>
            </a:r>
            <a:endParaRPr/>
          </a:p>
        </p:txBody>
      </p:sp>
      <p:sp>
        <p:nvSpPr>
          <p:cNvPr id="1817" name="Google Shape;1817;h547f90b031e64a91_0_458"/>
          <p:cNvSpPr txBox="1"/>
          <p:nvPr/>
        </p:nvSpPr>
        <p:spPr>
          <a:xfrm>
            <a:off x="2679191"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18" name="Google Shape;1818;h547f90b031e64a91_0_458"/>
          <p:cNvSpPr txBox="1"/>
          <p:nvPr/>
        </p:nvSpPr>
        <p:spPr>
          <a:xfrm>
            <a:off x="352043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19" name="Google Shape;1819;h547f90b031e64a91_0_458"/>
          <p:cNvSpPr txBox="1"/>
          <p:nvPr/>
        </p:nvSpPr>
        <p:spPr>
          <a:xfrm>
            <a:off x="436168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0" name="Google Shape;1820;h547f90b031e64a91_0_458"/>
          <p:cNvSpPr txBox="1"/>
          <p:nvPr/>
        </p:nvSpPr>
        <p:spPr>
          <a:xfrm>
            <a:off x="520293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1" name="Google Shape;1821;h547f90b031e64a91_0_458"/>
          <p:cNvSpPr txBox="1"/>
          <p:nvPr/>
        </p:nvSpPr>
        <p:spPr>
          <a:xfrm>
            <a:off x="6044183"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2" name="Google Shape;1822;h547f90b031e64a91_0_458"/>
          <p:cNvSpPr txBox="1"/>
          <p:nvPr/>
        </p:nvSpPr>
        <p:spPr>
          <a:xfrm>
            <a:off x="6885432"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3" name="Google Shape;1823;h547f90b031e64a91_0_458"/>
          <p:cNvSpPr txBox="1"/>
          <p:nvPr/>
        </p:nvSpPr>
        <p:spPr>
          <a:xfrm>
            <a:off x="772667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4" name="Google Shape;1824;h547f90b031e64a91_0_458"/>
          <p:cNvSpPr txBox="1"/>
          <p:nvPr/>
        </p:nvSpPr>
        <p:spPr>
          <a:xfrm>
            <a:off x="856792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5" name="Google Shape;1825;h547f90b031e64a91_0_458"/>
          <p:cNvSpPr txBox="1"/>
          <p:nvPr/>
        </p:nvSpPr>
        <p:spPr>
          <a:xfrm>
            <a:off x="940917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6" name="Slide number 18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0" name="Shape 1830"/>
        <p:cNvGrpSpPr/>
        <p:nvPr/>
      </p:nvGrpSpPr>
      <p:grpSpPr>
        <a:xfrm>
          <a:off x="0" y="0"/>
          <a:ext cx="0" cy="0"/>
          <a:chOff x="0" y="0"/>
          <a:chExt cx="0" cy="0"/>
        </a:xfrm>
      </p:grpSpPr>
      <p:sp>
        <p:nvSpPr>
          <p:cNvPr id="1831" name="Google Shape;1831;h547f90b031e64a91_0_526"/>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32" name="Google Shape;1832;h547f90b031e64a91_0_526"/>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833" name="Google Shape;1833;h547f90b031e64a91_0_526"/>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834" name="Google Shape;1834;h547f90b031e64a91_0_526"/>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835" name="Google Shape;1835;h547f90b031e64a91_0_526"/>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836" name="Google Shape;1836;h547f90b031e64a91_0_526"/>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837" name="Google Shape;1837;h547f90b031e64a91_0_526"/>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838" name="Google Shape;1838;h547f90b031e64a91_0_526"/>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9" name="Google Shape;1839;h547f90b031e64a91_0_526"/>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840" name="Google Shape;1840;h547f90b031e64a91_0_526"/>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841" name="Google Shape;1841;h547f90b031e64a91_0_526"/>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842" name="Google Shape;1842;h547f90b031e64a91_0_526"/>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3" name="Google Shape;1843;h547f90b031e64a91_0_526"/>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4" name="Google Shape;1844;h547f90b031e64a91_0_526"/>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5" name="Google Shape;1845;h547f90b031e64a91_0_526"/>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846" name="Google Shape;1846;h547f90b031e64a91_0_526"/>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7" name="Google Shape;1847;h547f90b031e64a91_0_526"/>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8" name="Google Shape;1848;h547f90b031e64a91_0_526"/>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9" name="Google Shape;1849;h547f90b031e64a91_0_526"/>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850" name="Google Shape;1850;h547f90b031e64a91_0_526"/>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51" name="Google Shape;1851;h547f90b031e64a91_0_526"/>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52" name="Google Shape;1852;h547f90b031e64a91_0_526"/>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53" name="Google Shape;1853;h547f90b031e64a91_0_526"/>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854" name="Google Shape;1854;h547f90b031e64a91_0_526"/>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855" name="Google Shape;1855;h547f90b031e64a91_0_526"/>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856" name="Google Shape;1856;h547f90b031e64a91_0_526"/>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857" name="Google Shape;1857;h547f90b031e64a91_0_526"/>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58" name="Google Shape;1858;h547f90b031e64a91_0_526"/>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859" name="Google Shape;1859;h547f90b031e64a91_0_526"/>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860" name="Google Shape;1860;h547f90b031e64a91_0_526"/>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861" name="Google Shape;1861;h547f90b031e64a91_0_526"/>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862" name="Google Shape;1862;h547f90b031e64a91_0_526"/>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863" name="Google Shape;1863;h547f90b031e64a91_0_526"/>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864" name="Google Shape;1864;h547f90b031e64a91_0_526"/>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865" name="Google Shape;1865;h547f90b031e64a91_0_526"/>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866" name="Google Shape;1866;h547f90b031e64a91_0_526"/>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867" name="Google Shape;1867;h547f90b031e64a91_0_526"/>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868" name="Google Shape;1868;h547f90b031e64a91_0_526"/>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869" name="Google Shape;1869;h547f90b031e64a91_0_526"/>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870" name="Google Shape;1870;h547f90b031e64a91_0_526"/>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871" name="Google Shape;1871;h547f90b031e64a91_0_526"/>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872" name="Google Shape;1872;h547f90b031e64a91_0_526"/>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873" name="Google Shape;1873;h547f90b031e64a91_0_526"/>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874" name="Google Shape;1874;h547f90b031e64a91_0_526"/>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875" name="Google Shape;1875;h547f90b031e64a91_0_526"/>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876" name="Google Shape;1876;h547f90b031e64a91_0_526"/>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877" name="Google Shape;1877;h547f90b031e64a91_0_526"/>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878" name="Google Shape;1878;h547f90b031e64a91_0_526"/>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879" name="Google Shape;1879;h547f90b031e64a91_0_526"/>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80" name="Google Shape;1880;h547f90b031e64a91_0_526"/>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881" name="Google Shape;1881;h547f90b031e64a91_0_526"/>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82" name="Google Shape;1882;h547f90b031e64a91_0_526"/>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883" name="Google Shape;1883;h547f90b031e64a91_0_526"/>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4" name="Google Shape;1884;h547f90b031e64a91_0_526"/>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885" name="Google Shape;1885;h547f90b031e64a91_0_526"/>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886" name="Google Shape;1886;h547f90b031e64a91_0_526"/>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7" name="Google Shape;1887;h547f90b031e64a91_0_526"/>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888" name="Google Shape;1888;h547f90b031e64a91_0_526"/>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89" name="Google Shape;1889;h547f90b031e64a91_0_526"/>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0" name="Google Shape;1890;h547f90b031e64a91_0_526"/>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1" name="Google Shape;1891;h547f90b031e64a91_0_526"/>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892" name="Google Shape;1892;h547f90b031e64a91_0_526"/>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a:t>
            </a:r>
            <a:endParaRPr/>
          </a:p>
        </p:txBody>
      </p:sp>
      <p:sp>
        <p:nvSpPr>
          <p:cNvPr id="1893" name="Slide number 18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7" name="Shape 1897"/>
        <p:cNvGrpSpPr/>
        <p:nvPr/>
      </p:nvGrpSpPr>
      <p:grpSpPr>
        <a:xfrm>
          <a:off x="0" y="0"/>
          <a:ext cx="0" cy="0"/>
          <a:chOff x="0" y="0"/>
          <a:chExt cx="0" cy="0"/>
        </a:xfrm>
      </p:grpSpPr>
      <p:sp>
        <p:nvSpPr>
          <p:cNvPr id="1898" name="Google Shape;1898;h547f90b031e64a91_0_59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99" name="Google Shape;1899;h547f90b031e64a91_0_59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900" name="Google Shape;1900;h547f90b031e64a91_0_59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01" name="Google Shape;1901;h547f90b031e64a91_0_593"/>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902" name="Google Shape;1902;h547f90b031e64a91_0_593"/>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903" name="Google Shape;1903;h547f90b031e64a91_0_59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04" name="Google Shape;1904;h547f90b031e64a91_0_59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05" name="Google Shape;1905;h547f90b031e64a91_0_59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6" name="Google Shape;1906;h547f90b031e64a91_0_59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907" name="Google Shape;1907;h547f90b031e64a91_0_593"/>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908" name="Google Shape;1908;h547f90b031e64a91_0_593"/>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09" name="Google Shape;1909;h547f90b031e64a91_0_593"/>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0" name="Google Shape;1910;h547f90b031e64a91_0_593"/>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1" name="Google Shape;1911;h547f90b031e64a91_0_593"/>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2" name="Google Shape;1912;h547f90b031e64a91_0_593"/>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13" name="Google Shape;1913;h547f90b031e64a91_0_593"/>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4" name="Google Shape;1914;h547f90b031e64a91_0_593"/>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5" name="Google Shape;1915;h547f90b031e64a91_0_593"/>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6" name="Google Shape;1916;h547f90b031e64a91_0_593"/>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17" name="Google Shape;1917;h547f90b031e64a91_0_593"/>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8" name="Google Shape;1918;h547f90b031e64a91_0_593"/>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9" name="Google Shape;1919;h547f90b031e64a91_0_593"/>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20" name="Google Shape;1920;h547f90b031e64a91_0_593"/>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21" name="Google Shape;1921;h547f90b031e64a91_0_593"/>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22" name="Google Shape;1922;h547f90b031e64a91_0_593"/>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923" name="Google Shape;1923;h547f90b031e64a91_0_593"/>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924" name="Google Shape;1924;h547f90b031e64a91_0_593"/>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25" name="Google Shape;1925;h547f90b031e64a91_0_593"/>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926" name="Google Shape;1926;h547f90b031e64a91_0_593"/>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27" name="Google Shape;1927;h547f90b031e64a91_0_593"/>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928" name="Google Shape;1928;h547f90b031e64a91_0_593"/>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929" name="Google Shape;1929;h547f90b031e64a91_0_593"/>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930" name="Google Shape;1930;h547f90b031e64a91_0_593"/>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931" name="Google Shape;1931;h547f90b031e64a91_0_593"/>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932" name="Google Shape;1932;h547f90b031e64a91_0_593"/>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933" name="Google Shape;1933;h547f90b031e64a91_0_593"/>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934" name="Google Shape;1934;h547f90b031e64a91_0_593"/>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935" name="Google Shape;1935;h547f90b031e64a91_0_593"/>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936" name="Google Shape;1936;h547f90b031e64a91_0_593"/>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937" name="Google Shape;1937;h547f90b031e64a91_0_593"/>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938" name="Google Shape;1938;h547f90b031e64a91_0_593"/>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939" name="Google Shape;1939;h547f90b031e64a91_0_593"/>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940" name="Google Shape;1940;h547f90b031e64a91_0_593"/>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941" name="Google Shape;1941;h547f90b031e64a91_0_593"/>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942" name="Google Shape;1942;h547f90b031e64a91_0_593"/>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943" name="Google Shape;1943;h547f90b031e64a91_0_593"/>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944" name="Google Shape;1944;h547f90b031e64a91_0_593"/>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945" name="Google Shape;1945;h547f90b031e64a91_0_593"/>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946" name="Google Shape;1946;h547f90b031e64a91_0_593"/>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47" name="Google Shape;1947;h547f90b031e64a91_0_593"/>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948" name="Google Shape;1948;h547f90b031e64a91_0_593"/>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949" name="Google Shape;1949;h547f90b031e64a91_0_593"/>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950" name="Google Shape;1950;h547f90b031e64a91_0_593"/>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1" name="Google Shape;1951;h547f90b031e64a91_0_593"/>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952" name="Google Shape;1952;h547f90b031e64a91_0_593"/>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953" name="Google Shape;1953;h547f90b031e64a91_0_593"/>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4" name="Google Shape;1954;h547f90b031e64a91_0_593"/>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955" name="Google Shape;1955;h547f90b031e64a91_0_593"/>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6" name="Google Shape;1956;h547f90b031e64a91_0_593"/>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7" name="Google Shape;1957;h547f90b031e64a91_0_593"/>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8" name="Google Shape;1958;h547f90b031e64a91_0_593"/>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959" name="Google Shape;1959;h547f90b031e64a91_0_59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lang="en-US">
                <a:solidFill>
                  <a:srgbClr val="B23A1E"/>
                </a:solidFill>
                <a:latin typeface="Calibri"/>
                <a:ea typeface="Calibri"/>
                <a:cs typeface="Calibri"/>
                <a:sym typeface="Calibri"/>
              </a:rPr>
              <a:t>Non-Iterative RAG </a:t>
            </a:r>
            <a:r>
              <a:rPr b="1" i="0" lang="en-US" sz="1400" u="none" cap="none" strike="noStrike">
                <a:solidFill>
                  <a:srgbClr val="B23A1E"/>
                </a:solidFill>
                <a:latin typeface="Calibri"/>
                <a:ea typeface="Calibri"/>
                <a:cs typeface="Calibri"/>
                <a:sym typeface="Calibri"/>
              </a:rPr>
              <a:t> 6–78%</a:t>
            </a:r>
            <a:r>
              <a:rPr lang="en-US">
                <a:solidFill>
                  <a:srgbClr val="3A434C"/>
                </a:solidFill>
                <a:latin typeface="Calibri"/>
                <a:ea typeface="Calibri"/>
                <a:cs typeface="Calibri"/>
                <a:sym typeface="Calibri"/>
              </a:rPr>
              <a:t>.</a:t>
            </a:r>
            <a:r>
              <a:rPr b="0" i="0" lang="en-US" sz="1400" u="none" cap="none" strike="noStrike">
                <a:solidFill>
                  <a:srgbClr val="3A434C"/>
                </a:solidFill>
                <a:latin typeface="Calibri"/>
                <a:ea typeface="Calibri"/>
                <a:cs typeface="Calibri"/>
                <a:sym typeface="Calibri"/>
              </a:rPr>
              <a:t>  With RIGOR: </a:t>
            </a:r>
            <a:r>
              <a:rPr b="1" i="0" lang="en-US" sz="1400" u="none" cap="none" strike="noStrike">
                <a:solidFill>
                  <a:srgbClr val="0B6E4F"/>
                </a:solidFill>
                <a:latin typeface="Calibri"/>
                <a:ea typeface="Calibri"/>
                <a:cs typeface="Calibri"/>
                <a:sym typeface="Calibri"/>
              </a:rPr>
              <a:t>≥ 77% for every LLM, in every database.</a:t>
            </a:r>
            <a:endParaRPr/>
          </a:p>
        </p:txBody>
      </p:sp>
      <p:sp>
        <p:nvSpPr>
          <p:cNvPr id="1960" name="Google Shape;1960;h547f90b031e64a91_0_593"/>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 </a:t>
            </a:r>
            <a:endParaRPr/>
          </a:p>
        </p:txBody>
      </p:sp>
      <p:sp>
        <p:nvSpPr>
          <p:cNvPr id="1961" name="Google Shape;1961;h547f90b031e64a91_0_593"/>
          <p:cNvSpPr/>
          <p:nvPr/>
        </p:nvSpPr>
        <p:spPr>
          <a:xfrm>
            <a:off x="971200" y="4782325"/>
            <a:ext cx="9881700" cy="420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2" name="Slide number 196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6" name="Shape 1966"/>
        <p:cNvGrpSpPr/>
        <p:nvPr/>
      </p:nvGrpSpPr>
      <p:grpSpPr>
        <a:xfrm>
          <a:off x="0" y="0"/>
          <a:ext cx="0" cy="0"/>
          <a:chOff x="0" y="0"/>
          <a:chExt cx="0" cy="0"/>
        </a:xfrm>
      </p:grpSpPr>
      <p:sp>
        <p:nvSpPr>
          <p:cNvPr id="1967" name="Google Shape;1967;h547f90b031e64a91_0_88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3  /  MEANING IS ADDED</a:t>
            </a:r>
            <a:endParaRPr b="0" i="0" sz="1400" u="none" cap="none" strike="noStrike">
              <a:solidFill>
                <a:srgbClr val="000000"/>
              </a:solidFill>
              <a:latin typeface="Arial"/>
              <a:ea typeface="Arial"/>
              <a:cs typeface="Arial"/>
              <a:sym typeface="Arial"/>
            </a:endParaRPr>
          </a:p>
        </p:txBody>
      </p:sp>
      <p:sp>
        <p:nvSpPr>
          <p:cNvPr id="1968" name="Google Shape;1968;h547f90b031e64a91_0_88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Meaning is added: labels, provenance and hierarchy.</a:t>
            </a:r>
            <a:endParaRPr b="0" i="0" sz="1400" u="none" cap="none" strike="noStrike">
              <a:solidFill>
                <a:srgbClr val="000000"/>
              </a:solidFill>
              <a:latin typeface="Arial"/>
              <a:ea typeface="Arial"/>
              <a:cs typeface="Arial"/>
              <a:sym typeface="Arial"/>
            </a:endParaRPr>
          </a:p>
        </p:txBody>
      </p:sp>
      <p:sp>
        <p:nvSpPr>
          <p:cNvPr id="1969" name="Google Shape;1969;h547f90b031e64a91_0_88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70" name="Google Shape;1970;h547f90b031e64a91_0_883"/>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1971" name="Google Shape;1971;h547f90b031e64a91_0_883"/>
          <p:cNvSpPr/>
          <p:nvPr/>
        </p:nvSpPr>
        <p:spPr>
          <a:xfrm>
            <a:off x="507309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3  ADDS MEANING</a:t>
            </a:r>
            <a:endParaRPr/>
          </a:p>
        </p:txBody>
      </p:sp>
      <p:sp>
        <p:nvSpPr>
          <p:cNvPr id="1972" name="Google Shape;1972;h547f90b031e64a91_0_88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73" name="Google Shape;1973;h547f90b031e64a91_0_88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74" name="Google Shape;1974;h547f90b031e64a91_0_88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5" name="Google Shape;1975;h547f90b031e64a91_0_88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ADDS MEANING</a:t>
            </a:r>
            <a:endParaRPr/>
          </a:p>
        </p:txBody>
      </p:sp>
      <p:sp>
        <p:nvSpPr>
          <p:cNvPr id="1976" name="Google Shape;1976;h547f90b031e64a91_0_883"/>
          <p:cNvSpPr txBox="1"/>
          <p:nvPr/>
        </p:nvSpPr>
        <p:spPr>
          <a:xfrm>
            <a:off x="3794760"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77" name="Google Shape;1977;h547f90b031e64a91_0_883"/>
          <p:cNvSpPr txBox="1"/>
          <p:nvPr/>
        </p:nvSpPr>
        <p:spPr>
          <a:xfrm>
            <a:off x="379476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78" name="Google Shape;1978;h547f90b031e64a91_0_883"/>
          <p:cNvSpPr txBox="1"/>
          <p:nvPr/>
        </p:nvSpPr>
        <p:spPr>
          <a:xfrm>
            <a:off x="454456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79" name="Google Shape;1979;h547f90b031e64a91_0_883"/>
          <p:cNvSpPr txBox="1"/>
          <p:nvPr/>
        </p:nvSpPr>
        <p:spPr>
          <a:xfrm>
            <a:off x="529437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0" name="Google Shape;1980;h547f90b031e64a91_0_883"/>
          <p:cNvSpPr txBox="1"/>
          <p:nvPr/>
        </p:nvSpPr>
        <p:spPr>
          <a:xfrm>
            <a:off x="6044184"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81" name="Google Shape;1981;h547f90b031e64a91_0_883"/>
          <p:cNvSpPr txBox="1"/>
          <p:nvPr/>
        </p:nvSpPr>
        <p:spPr>
          <a:xfrm>
            <a:off x="604418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2" name="Google Shape;1982;h547f90b031e64a91_0_883"/>
          <p:cNvSpPr txBox="1"/>
          <p:nvPr/>
        </p:nvSpPr>
        <p:spPr>
          <a:xfrm>
            <a:off x="6793992"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3" name="Google Shape;1983;h547f90b031e64a91_0_883"/>
          <p:cNvSpPr txBox="1"/>
          <p:nvPr/>
        </p:nvSpPr>
        <p:spPr>
          <a:xfrm>
            <a:off x="754380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4" name="Google Shape;1984;h547f90b031e64a91_0_883"/>
          <p:cNvSpPr txBox="1"/>
          <p:nvPr/>
        </p:nvSpPr>
        <p:spPr>
          <a:xfrm>
            <a:off x="8293608"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85" name="Google Shape;1985;h547f90b031e64a91_0_883"/>
          <p:cNvSpPr txBox="1"/>
          <p:nvPr/>
        </p:nvSpPr>
        <p:spPr>
          <a:xfrm>
            <a:off x="829360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6" name="Google Shape;1986;h547f90b031e64a91_0_883"/>
          <p:cNvSpPr txBox="1"/>
          <p:nvPr/>
        </p:nvSpPr>
        <p:spPr>
          <a:xfrm>
            <a:off x="904341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7" name="Google Shape;1987;h547f90b031e64a91_0_883"/>
          <p:cNvSpPr txBox="1"/>
          <p:nvPr/>
        </p:nvSpPr>
        <p:spPr>
          <a:xfrm>
            <a:off x="979322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8" name="Google Shape;1988;h547f90b031e64a91_0_883"/>
          <p:cNvSpPr txBox="1"/>
          <p:nvPr/>
        </p:nvSpPr>
        <p:spPr>
          <a:xfrm>
            <a:off x="10588752" y="3099816"/>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89" name="Google Shape;1989;h547f90b031e64a91_0_883"/>
          <p:cNvSpPr txBox="1"/>
          <p:nvPr/>
        </p:nvSpPr>
        <p:spPr>
          <a:xfrm>
            <a:off x="2514600" y="344728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90" name="Google Shape;1990;h547f90b031e64a91_0_883"/>
          <p:cNvSpPr txBox="1"/>
          <p:nvPr/>
        </p:nvSpPr>
        <p:spPr>
          <a:xfrm>
            <a:off x="2514600" y="363016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91" name="Google Shape;1991;h547f90b031e64a91_0_883"/>
          <p:cNvSpPr/>
          <p:nvPr/>
        </p:nvSpPr>
        <p:spPr>
          <a:xfrm>
            <a:off x="3813048" y="3456432"/>
            <a:ext cx="6711600" cy="3474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1200" u="none" cap="none" strike="noStrike">
                <a:solidFill>
                  <a:srgbClr val="1F2328"/>
                </a:solidFill>
                <a:latin typeface="Calibri"/>
                <a:ea typeface="Calibri"/>
                <a:cs typeface="Calibri"/>
                <a:sym typeface="Calibri"/>
              </a:rPr>
              <a:t>No labels, provenance or class hierarchy, in any run.</a:t>
            </a:r>
            <a:endParaRPr/>
          </a:p>
        </p:txBody>
      </p:sp>
      <p:sp>
        <p:nvSpPr>
          <p:cNvPr id="1992" name="Google Shape;1992;h547f90b031e64a91_0_883"/>
          <p:cNvSpPr txBox="1"/>
          <p:nvPr/>
        </p:nvSpPr>
        <p:spPr>
          <a:xfrm>
            <a:off x="1078992" y="3867912"/>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Labels &amp; comments</a:t>
            </a:r>
            <a:endParaRPr/>
          </a:p>
        </p:txBody>
      </p:sp>
      <p:sp>
        <p:nvSpPr>
          <p:cNvPr id="1993" name="Google Shape;1993;h547f90b031e64a91_0_883"/>
          <p:cNvSpPr txBox="1"/>
          <p:nvPr/>
        </p:nvSpPr>
        <p:spPr>
          <a:xfrm>
            <a:off x="2514600" y="38679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1994" name="Google Shape;1994;h547f90b031e64a91_0_883"/>
          <p:cNvSpPr/>
          <p:nvPr/>
        </p:nvSpPr>
        <p:spPr>
          <a:xfrm>
            <a:off x="3813048"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680</a:t>
            </a:r>
            <a:endParaRPr/>
          </a:p>
        </p:txBody>
      </p:sp>
      <p:sp>
        <p:nvSpPr>
          <p:cNvPr id="1995" name="Google Shape;1995;h547f90b031e64a91_0_883"/>
          <p:cNvSpPr/>
          <p:nvPr/>
        </p:nvSpPr>
        <p:spPr>
          <a:xfrm>
            <a:off x="4562856"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134</a:t>
            </a:r>
            <a:endParaRPr/>
          </a:p>
        </p:txBody>
      </p:sp>
      <p:sp>
        <p:nvSpPr>
          <p:cNvPr id="1996" name="Google Shape;1996;h547f90b031e64a91_0_883"/>
          <p:cNvSpPr/>
          <p:nvPr/>
        </p:nvSpPr>
        <p:spPr>
          <a:xfrm>
            <a:off x="5312664"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736</a:t>
            </a:r>
            <a:endParaRPr/>
          </a:p>
        </p:txBody>
      </p:sp>
      <p:sp>
        <p:nvSpPr>
          <p:cNvPr id="1997" name="Google Shape;1997;h547f90b031e64a91_0_883"/>
          <p:cNvSpPr/>
          <p:nvPr/>
        </p:nvSpPr>
        <p:spPr>
          <a:xfrm>
            <a:off x="6062472"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877</a:t>
            </a:r>
            <a:endParaRPr/>
          </a:p>
        </p:txBody>
      </p:sp>
      <p:sp>
        <p:nvSpPr>
          <p:cNvPr id="1998" name="Google Shape;1998;h547f90b031e64a91_0_883"/>
          <p:cNvSpPr/>
          <p:nvPr/>
        </p:nvSpPr>
        <p:spPr>
          <a:xfrm>
            <a:off x="6812279"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157</a:t>
            </a:r>
            <a:endParaRPr/>
          </a:p>
        </p:txBody>
      </p:sp>
      <p:sp>
        <p:nvSpPr>
          <p:cNvPr id="1999" name="Google Shape;1999;h547f90b031e64a91_0_883"/>
          <p:cNvSpPr/>
          <p:nvPr/>
        </p:nvSpPr>
        <p:spPr>
          <a:xfrm>
            <a:off x="7562088"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743</a:t>
            </a:r>
            <a:endParaRPr/>
          </a:p>
        </p:txBody>
      </p:sp>
      <p:sp>
        <p:nvSpPr>
          <p:cNvPr id="2000" name="Google Shape;2000;h547f90b031e64a91_0_883"/>
          <p:cNvSpPr/>
          <p:nvPr/>
        </p:nvSpPr>
        <p:spPr>
          <a:xfrm>
            <a:off x="8311896"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98</a:t>
            </a:r>
            <a:endParaRPr/>
          </a:p>
        </p:txBody>
      </p:sp>
      <p:sp>
        <p:nvSpPr>
          <p:cNvPr id="2001" name="Google Shape;2001;h547f90b031e64a91_0_883"/>
          <p:cNvSpPr/>
          <p:nvPr/>
        </p:nvSpPr>
        <p:spPr>
          <a:xfrm>
            <a:off x="9061704"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2002" name="Google Shape;2002;h547f90b031e64a91_0_883"/>
          <p:cNvSpPr/>
          <p:nvPr/>
        </p:nvSpPr>
        <p:spPr>
          <a:xfrm>
            <a:off x="9811512"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64</a:t>
            </a:r>
            <a:endParaRPr/>
          </a:p>
        </p:txBody>
      </p:sp>
      <p:sp>
        <p:nvSpPr>
          <p:cNvPr id="2003" name="Google Shape;2003;h547f90b031e64a91_0_883"/>
          <p:cNvSpPr txBox="1"/>
          <p:nvPr/>
        </p:nvSpPr>
        <p:spPr>
          <a:xfrm>
            <a:off x="10588752" y="38679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389</a:t>
            </a:r>
            <a:endParaRPr/>
          </a:p>
        </p:txBody>
      </p:sp>
      <p:sp>
        <p:nvSpPr>
          <p:cNvPr id="2004" name="Google Shape;2004;h547f90b031e64a91_0_883"/>
          <p:cNvSpPr txBox="1"/>
          <p:nvPr/>
        </p:nvSpPr>
        <p:spPr>
          <a:xfrm>
            <a:off x="2514600" y="4123944"/>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05" name="Google Shape;2005;h547f90b031e64a91_0_883"/>
          <p:cNvSpPr/>
          <p:nvPr/>
        </p:nvSpPr>
        <p:spPr>
          <a:xfrm>
            <a:off x="3813048"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1,029</a:t>
            </a:r>
            <a:endParaRPr/>
          </a:p>
        </p:txBody>
      </p:sp>
      <p:sp>
        <p:nvSpPr>
          <p:cNvPr id="2006" name="Google Shape;2006;h547f90b031e64a91_0_883"/>
          <p:cNvSpPr/>
          <p:nvPr/>
        </p:nvSpPr>
        <p:spPr>
          <a:xfrm>
            <a:off x="456285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1,137</a:t>
            </a:r>
            <a:endParaRPr/>
          </a:p>
        </p:txBody>
      </p:sp>
      <p:sp>
        <p:nvSpPr>
          <p:cNvPr id="2007" name="Google Shape;2007;h547f90b031e64a91_0_883"/>
          <p:cNvSpPr/>
          <p:nvPr/>
        </p:nvSpPr>
        <p:spPr>
          <a:xfrm>
            <a:off x="5312664"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341</a:t>
            </a:r>
            <a:endParaRPr/>
          </a:p>
        </p:txBody>
      </p:sp>
      <p:sp>
        <p:nvSpPr>
          <p:cNvPr id="2008" name="Google Shape;2008;h547f90b031e64a91_0_883"/>
          <p:cNvSpPr/>
          <p:nvPr/>
        </p:nvSpPr>
        <p:spPr>
          <a:xfrm>
            <a:off x="606247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1,291</a:t>
            </a:r>
            <a:endParaRPr/>
          </a:p>
        </p:txBody>
      </p:sp>
      <p:sp>
        <p:nvSpPr>
          <p:cNvPr id="2009" name="Google Shape;2009;h547f90b031e64a91_0_883"/>
          <p:cNvSpPr/>
          <p:nvPr/>
        </p:nvSpPr>
        <p:spPr>
          <a:xfrm>
            <a:off x="6812279"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1,684</a:t>
            </a:r>
            <a:endParaRPr/>
          </a:p>
        </p:txBody>
      </p:sp>
      <p:sp>
        <p:nvSpPr>
          <p:cNvPr id="2010" name="Google Shape;2010;h547f90b031e64a91_0_883"/>
          <p:cNvSpPr/>
          <p:nvPr/>
        </p:nvSpPr>
        <p:spPr>
          <a:xfrm>
            <a:off x="7562088"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435</a:t>
            </a:r>
            <a:endParaRPr/>
          </a:p>
        </p:txBody>
      </p:sp>
      <p:sp>
        <p:nvSpPr>
          <p:cNvPr id="2011" name="Google Shape;2011;h547f90b031e64a91_0_883"/>
          <p:cNvSpPr/>
          <p:nvPr/>
        </p:nvSpPr>
        <p:spPr>
          <a:xfrm>
            <a:off x="831189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357</a:t>
            </a:r>
            <a:endParaRPr/>
          </a:p>
        </p:txBody>
      </p:sp>
      <p:sp>
        <p:nvSpPr>
          <p:cNvPr id="2012" name="Google Shape;2012;h547f90b031e64a91_0_883"/>
          <p:cNvSpPr/>
          <p:nvPr/>
        </p:nvSpPr>
        <p:spPr>
          <a:xfrm>
            <a:off x="9061704"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362</a:t>
            </a:r>
            <a:endParaRPr/>
          </a:p>
        </p:txBody>
      </p:sp>
      <p:sp>
        <p:nvSpPr>
          <p:cNvPr id="2013" name="Google Shape;2013;h547f90b031e64a91_0_883"/>
          <p:cNvSpPr/>
          <p:nvPr/>
        </p:nvSpPr>
        <p:spPr>
          <a:xfrm>
            <a:off x="981151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359</a:t>
            </a:r>
            <a:endParaRPr/>
          </a:p>
        </p:txBody>
      </p:sp>
      <p:sp>
        <p:nvSpPr>
          <p:cNvPr id="2014" name="Google Shape;2014;h547f90b031e64a91_0_883"/>
          <p:cNvSpPr txBox="1"/>
          <p:nvPr/>
        </p:nvSpPr>
        <p:spPr>
          <a:xfrm>
            <a:off x="10588752" y="4123944"/>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777</a:t>
            </a:r>
            <a:endParaRPr/>
          </a:p>
        </p:txBody>
      </p:sp>
      <p:sp>
        <p:nvSpPr>
          <p:cNvPr id="2015" name="Google Shape;2015;h547f90b031e64a91_0_883"/>
          <p:cNvSpPr txBox="1"/>
          <p:nvPr/>
        </p:nvSpPr>
        <p:spPr>
          <a:xfrm>
            <a:off x="1078992" y="4425696"/>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Provenance links</a:t>
            </a:r>
            <a:endParaRPr/>
          </a:p>
        </p:txBody>
      </p:sp>
      <p:sp>
        <p:nvSpPr>
          <p:cNvPr id="2016" name="Google Shape;2016;h547f90b031e64a91_0_883"/>
          <p:cNvSpPr txBox="1"/>
          <p:nvPr/>
        </p:nvSpPr>
        <p:spPr>
          <a:xfrm>
            <a:off x="2514600" y="4425696"/>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17" name="Google Shape;2017;h547f90b031e64a91_0_883"/>
          <p:cNvSpPr/>
          <p:nvPr/>
        </p:nvSpPr>
        <p:spPr>
          <a:xfrm>
            <a:off x="381304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8" name="Google Shape;2018;h547f90b031e64a91_0_883"/>
          <p:cNvSpPr/>
          <p:nvPr/>
        </p:nvSpPr>
        <p:spPr>
          <a:xfrm>
            <a:off x="456285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9" name="Google Shape;2019;h547f90b031e64a91_0_883"/>
          <p:cNvSpPr/>
          <p:nvPr/>
        </p:nvSpPr>
        <p:spPr>
          <a:xfrm>
            <a:off x="531266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0" name="Google Shape;2020;h547f90b031e64a91_0_883"/>
          <p:cNvSpPr/>
          <p:nvPr/>
        </p:nvSpPr>
        <p:spPr>
          <a:xfrm>
            <a:off x="606247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1" name="Google Shape;2021;h547f90b031e64a91_0_883"/>
          <p:cNvSpPr/>
          <p:nvPr/>
        </p:nvSpPr>
        <p:spPr>
          <a:xfrm>
            <a:off x="6812279"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2" name="Google Shape;2022;h547f90b031e64a91_0_883"/>
          <p:cNvSpPr/>
          <p:nvPr/>
        </p:nvSpPr>
        <p:spPr>
          <a:xfrm>
            <a:off x="756208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3" name="Google Shape;2023;h547f90b031e64a91_0_883"/>
          <p:cNvSpPr/>
          <p:nvPr/>
        </p:nvSpPr>
        <p:spPr>
          <a:xfrm>
            <a:off x="831189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4" name="Google Shape;2024;h547f90b031e64a91_0_883"/>
          <p:cNvSpPr/>
          <p:nvPr/>
        </p:nvSpPr>
        <p:spPr>
          <a:xfrm>
            <a:off x="906170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5" name="Google Shape;2025;h547f90b031e64a91_0_883"/>
          <p:cNvSpPr/>
          <p:nvPr/>
        </p:nvSpPr>
        <p:spPr>
          <a:xfrm>
            <a:off x="981151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6" name="Google Shape;2026;h547f90b031e64a91_0_883"/>
          <p:cNvSpPr txBox="1"/>
          <p:nvPr/>
        </p:nvSpPr>
        <p:spPr>
          <a:xfrm>
            <a:off x="10588752" y="4425696"/>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0</a:t>
            </a:r>
            <a:endParaRPr/>
          </a:p>
        </p:txBody>
      </p:sp>
      <p:sp>
        <p:nvSpPr>
          <p:cNvPr id="2027" name="Google Shape;2027;h547f90b031e64a91_0_883"/>
          <p:cNvSpPr txBox="1"/>
          <p:nvPr/>
        </p:nvSpPr>
        <p:spPr>
          <a:xfrm>
            <a:off x="2514600" y="4681728"/>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28" name="Google Shape;2028;h547f90b031e64a91_0_883"/>
          <p:cNvSpPr/>
          <p:nvPr/>
        </p:nvSpPr>
        <p:spPr>
          <a:xfrm>
            <a:off x="3813048"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336</a:t>
            </a:r>
            <a:endParaRPr/>
          </a:p>
        </p:txBody>
      </p:sp>
      <p:sp>
        <p:nvSpPr>
          <p:cNvPr id="2029" name="Google Shape;2029;h547f90b031e64a91_0_883"/>
          <p:cNvSpPr/>
          <p:nvPr/>
        </p:nvSpPr>
        <p:spPr>
          <a:xfrm>
            <a:off x="456285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308</a:t>
            </a:r>
            <a:endParaRPr/>
          </a:p>
        </p:txBody>
      </p:sp>
      <p:sp>
        <p:nvSpPr>
          <p:cNvPr id="2030" name="Google Shape;2030;h547f90b031e64a91_0_883"/>
          <p:cNvSpPr/>
          <p:nvPr/>
        </p:nvSpPr>
        <p:spPr>
          <a:xfrm>
            <a:off x="5312664"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22</a:t>
            </a:r>
            <a:endParaRPr/>
          </a:p>
        </p:txBody>
      </p:sp>
      <p:sp>
        <p:nvSpPr>
          <p:cNvPr id="2031" name="Google Shape;2031;h547f90b031e64a91_0_883"/>
          <p:cNvSpPr/>
          <p:nvPr/>
        </p:nvSpPr>
        <p:spPr>
          <a:xfrm>
            <a:off x="606247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423</a:t>
            </a:r>
            <a:endParaRPr/>
          </a:p>
        </p:txBody>
      </p:sp>
      <p:sp>
        <p:nvSpPr>
          <p:cNvPr id="2032" name="Google Shape;2032;h547f90b031e64a91_0_883"/>
          <p:cNvSpPr/>
          <p:nvPr/>
        </p:nvSpPr>
        <p:spPr>
          <a:xfrm>
            <a:off x="6812279"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335</a:t>
            </a:r>
            <a:endParaRPr/>
          </a:p>
        </p:txBody>
      </p:sp>
      <p:sp>
        <p:nvSpPr>
          <p:cNvPr id="2033" name="Google Shape;2033;h547f90b031e64a91_0_883"/>
          <p:cNvSpPr/>
          <p:nvPr/>
        </p:nvSpPr>
        <p:spPr>
          <a:xfrm>
            <a:off x="7562088"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2034" name="Google Shape;2034;h547f90b031e64a91_0_883"/>
          <p:cNvSpPr/>
          <p:nvPr/>
        </p:nvSpPr>
        <p:spPr>
          <a:xfrm>
            <a:off x="831189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81</a:t>
            </a:r>
            <a:endParaRPr/>
          </a:p>
        </p:txBody>
      </p:sp>
      <p:sp>
        <p:nvSpPr>
          <p:cNvPr id="2035" name="Google Shape;2035;h547f90b031e64a91_0_883"/>
          <p:cNvSpPr/>
          <p:nvPr/>
        </p:nvSpPr>
        <p:spPr>
          <a:xfrm>
            <a:off x="9061704"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83</a:t>
            </a:r>
            <a:endParaRPr/>
          </a:p>
        </p:txBody>
      </p:sp>
      <p:sp>
        <p:nvSpPr>
          <p:cNvPr id="2036" name="Google Shape;2036;h547f90b031e64a91_0_883"/>
          <p:cNvSpPr/>
          <p:nvPr/>
        </p:nvSpPr>
        <p:spPr>
          <a:xfrm>
            <a:off x="981151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75</a:t>
            </a:r>
            <a:endParaRPr/>
          </a:p>
        </p:txBody>
      </p:sp>
      <p:sp>
        <p:nvSpPr>
          <p:cNvPr id="2037" name="Google Shape;2037;h547f90b031e64a91_0_883"/>
          <p:cNvSpPr txBox="1"/>
          <p:nvPr/>
        </p:nvSpPr>
        <p:spPr>
          <a:xfrm>
            <a:off x="10588752" y="4681728"/>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196</a:t>
            </a:r>
            <a:endParaRPr/>
          </a:p>
        </p:txBody>
      </p:sp>
      <p:sp>
        <p:nvSpPr>
          <p:cNvPr id="2038" name="Google Shape;2038;h547f90b031e64a91_0_883"/>
          <p:cNvSpPr txBox="1"/>
          <p:nvPr/>
        </p:nvSpPr>
        <p:spPr>
          <a:xfrm>
            <a:off x="1078992" y="5001768"/>
            <a:ext cx="1417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Class hierarchy</a:t>
            </a:r>
            <a:endParaRPr/>
          </a:p>
        </p:txBody>
      </p:sp>
      <p:sp>
        <p:nvSpPr>
          <p:cNvPr id="2039" name="Google Shape;2039;h547f90b031e64a91_0_883"/>
          <p:cNvSpPr txBox="1"/>
          <p:nvPr/>
        </p:nvSpPr>
        <p:spPr>
          <a:xfrm>
            <a:off x="1078992" y="5239512"/>
            <a:ext cx="14172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i="1" lang="en-US" sz="1050">
                <a:solidFill>
                  <a:srgbClr val="5B6770"/>
                </a:solidFill>
                <a:latin typeface="Calibri"/>
                <a:ea typeface="Calibri"/>
                <a:cs typeface="Calibri"/>
                <a:sym typeface="Calibri"/>
              </a:rPr>
              <a:t>(</a:t>
            </a:r>
            <a:r>
              <a:rPr b="0" i="1" lang="en-US" sz="1050" u="none" cap="none" strike="noStrike">
                <a:solidFill>
                  <a:srgbClr val="5B6770"/>
                </a:solidFill>
                <a:latin typeface="Calibri"/>
                <a:ea typeface="Calibri"/>
                <a:cs typeface="Calibri"/>
                <a:sym typeface="Calibri"/>
              </a:rPr>
              <a:t>inheritance richness)</a:t>
            </a:r>
            <a:endParaRPr/>
          </a:p>
        </p:txBody>
      </p:sp>
      <p:sp>
        <p:nvSpPr>
          <p:cNvPr id="2040" name="Google Shape;2040;h547f90b031e64a91_0_883"/>
          <p:cNvSpPr txBox="1"/>
          <p:nvPr/>
        </p:nvSpPr>
        <p:spPr>
          <a:xfrm>
            <a:off x="2514600" y="4983480"/>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41" name="Google Shape;2041;h547f90b031e64a91_0_883"/>
          <p:cNvSpPr/>
          <p:nvPr/>
        </p:nvSpPr>
        <p:spPr>
          <a:xfrm>
            <a:off x="381304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2" name="Google Shape;2042;h547f90b031e64a91_0_883"/>
          <p:cNvSpPr/>
          <p:nvPr/>
        </p:nvSpPr>
        <p:spPr>
          <a:xfrm>
            <a:off x="456285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3" name="Google Shape;2043;h547f90b031e64a91_0_883"/>
          <p:cNvSpPr/>
          <p:nvPr/>
        </p:nvSpPr>
        <p:spPr>
          <a:xfrm>
            <a:off x="531266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4" name="Google Shape;2044;h547f90b031e64a91_0_883"/>
          <p:cNvSpPr/>
          <p:nvPr/>
        </p:nvSpPr>
        <p:spPr>
          <a:xfrm>
            <a:off x="606247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5" name="Google Shape;2045;h547f90b031e64a91_0_883"/>
          <p:cNvSpPr/>
          <p:nvPr/>
        </p:nvSpPr>
        <p:spPr>
          <a:xfrm>
            <a:off x="6812279"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6" name="Google Shape;2046;h547f90b031e64a91_0_883"/>
          <p:cNvSpPr/>
          <p:nvPr/>
        </p:nvSpPr>
        <p:spPr>
          <a:xfrm>
            <a:off x="756208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7" name="Google Shape;2047;h547f90b031e64a91_0_883"/>
          <p:cNvSpPr/>
          <p:nvPr/>
        </p:nvSpPr>
        <p:spPr>
          <a:xfrm>
            <a:off x="831189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8" name="Google Shape;2048;h547f90b031e64a91_0_883"/>
          <p:cNvSpPr/>
          <p:nvPr/>
        </p:nvSpPr>
        <p:spPr>
          <a:xfrm>
            <a:off x="906170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9" name="Google Shape;2049;h547f90b031e64a91_0_883"/>
          <p:cNvSpPr/>
          <p:nvPr/>
        </p:nvSpPr>
        <p:spPr>
          <a:xfrm>
            <a:off x="981151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50" name="Google Shape;2050;h547f90b031e64a91_0_883"/>
          <p:cNvSpPr txBox="1"/>
          <p:nvPr/>
        </p:nvSpPr>
        <p:spPr>
          <a:xfrm>
            <a:off x="10588752" y="4983480"/>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50">
                <a:solidFill>
                  <a:srgbClr val="1F2328"/>
                </a:solidFill>
                <a:latin typeface="Calibri"/>
                <a:ea typeface="Calibri"/>
                <a:cs typeface="Calibri"/>
                <a:sym typeface="Calibri"/>
              </a:rPr>
              <a:t>0</a:t>
            </a:r>
            <a:endParaRPr/>
          </a:p>
        </p:txBody>
      </p:sp>
      <p:sp>
        <p:nvSpPr>
          <p:cNvPr id="2051" name="Google Shape;2051;h547f90b031e64a91_0_883"/>
          <p:cNvSpPr txBox="1"/>
          <p:nvPr/>
        </p:nvSpPr>
        <p:spPr>
          <a:xfrm>
            <a:off x="2514600" y="52395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52" name="Google Shape;2052;h547f90b031e64a91_0_883"/>
          <p:cNvSpPr/>
          <p:nvPr/>
        </p:nvSpPr>
        <p:spPr>
          <a:xfrm>
            <a:off x="3813048"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0.70</a:t>
            </a:r>
            <a:endParaRPr/>
          </a:p>
        </p:txBody>
      </p:sp>
      <p:sp>
        <p:nvSpPr>
          <p:cNvPr id="2053" name="Google Shape;2053;h547f90b031e64a91_0_883"/>
          <p:cNvSpPr/>
          <p:nvPr/>
        </p:nvSpPr>
        <p:spPr>
          <a:xfrm>
            <a:off x="456285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0.39</a:t>
            </a:r>
            <a:endParaRPr/>
          </a:p>
        </p:txBody>
      </p:sp>
      <p:sp>
        <p:nvSpPr>
          <p:cNvPr id="2054" name="Google Shape;2054;h547f90b031e64a91_0_883"/>
          <p:cNvSpPr/>
          <p:nvPr/>
        </p:nvSpPr>
        <p:spPr>
          <a:xfrm>
            <a:off x="5312664"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0.13</a:t>
            </a:r>
            <a:endParaRPr/>
          </a:p>
        </p:txBody>
      </p:sp>
      <p:sp>
        <p:nvSpPr>
          <p:cNvPr id="2055" name="Google Shape;2055;h547f90b031e64a91_0_883"/>
          <p:cNvSpPr/>
          <p:nvPr/>
        </p:nvSpPr>
        <p:spPr>
          <a:xfrm>
            <a:off x="606247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0.62</a:t>
            </a:r>
            <a:endParaRPr/>
          </a:p>
        </p:txBody>
      </p:sp>
      <p:sp>
        <p:nvSpPr>
          <p:cNvPr id="2056" name="Google Shape;2056;h547f90b031e64a91_0_883"/>
          <p:cNvSpPr/>
          <p:nvPr/>
        </p:nvSpPr>
        <p:spPr>
          <a:xfrm>
            <a:off x="6812279"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0.49</a:t>
            </a:r>
            <a:endParaRPr/>
          </a:p>
        </p:txBody>
      </p:sp>
      <p:sp>
        <p:nvSpPr>
          <p:cNvPr id="2057" name="Google Shape;2057;h547f90b031e64a91_0_883"/>
          <p:cNvSpPr/>
          <p:nvPr/>
        </p:nvSpPr>
        <p:spPr>
          <a:xfrm>
            <a:off x="7562088"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0.10</a:t>
            </a:r>
            <a:endParaRPr/>
          </a:p>
        </p:txBody>
      </p:sp>
      <p:sp>
        <p:nvSpPr>
          <p:cNvPr id="2058" name="Google Shape;2058;h547f90b031e64a91_0_883"/>
          <p:cNvSpPr/>
          <p:nvPr/>
        </p:nvSpPr>
        <p:spPr>
          <a:xfrm>
            <a:off x="831189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2.12</a:t>
            </a:r>
            <a:endParaRPr/>
          </a:p>
        </p:txBody>
      </p:sp>
      <p:sp>
        <p:nvSpPr>
          <p:cNvPr id="2059" name="Google Shape;2059;h547f90b031e64a91_0_883"/>
          <p:cNvSpPr/>
          <p:nvPr/>
        </p:nvSpPr>
        <p:spPr>
          <a:xfrm>
            <a:off x="9061704"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2.72</a:t>
            </a:r>
            <a:endParaRPr/>
          </a:p>
        </p:txBody>
      </p:sp>
      <p:sp>
        <p:nvSpPr>
          <p:cNvPr id="2060" name="Google Shape;2060;h547f90b031e64a91_0_883"/>
          <p:cNvSpPr/>
          <p:nvPr/>
        </p:nvSpPr>
        <p:spPr>
          <a:xfrm>
            <a:off x="981151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4.07</a:t>
            </a:r>
            <a:endParaRPr/>
          </a:p>
        </p:txBody>
      </p:sp>
      <p:sp>
        <p:nvSpPr>
          <p:cNvPr id="2061" name="Google Shape;2061;h547f90b031e64a91_0_883"/>
          <p:cNvSpPr txBox="1"/>
          <p:nvPr/>
        </p:nvSpPr>
        <p:spPr>
          <a:xfrm>
            <a:off x="10588752" y="52395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1.26</a:t>
            </a:r>
            <a:endParaRPr/>
          </a:p>
        </p:txBody>
      </p:sp>
      <p:sp>
        <p:nvSpPr>
          <p:cNvPr id="2062" name="Google Shape;2062;h547f90b031e64a91_0_88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Only RIGOR adds </a:t>
            </a:r>
            <a:r>
              <a:rPr b="1" i="0" lang="en-US" sz="1400" u="none" cap="none" strike="noStrike">
                <a:solidFill>
                  <a:srgbClr val="3A434C"/>
                </a:solidFill>
                <a:latin typeface="Calibri"/>
                <a:ea typeface="Calibri"/>
                <a:cs typeface="Calibri"/>
                <a:sym typeface="Calibri"/>
              </a:rPr>
              <a:t>labels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provenance</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1F2328"/>
                </a:solidFill>
                <a:latin typeface="Calibri"/>
                <a:ea typeface="Calibri"/>
                <a:cs typeface="Calibri"/>
                <a:sym typeface="Calibri"/>
              </a:rPr>
              <a:t>and</a:t>
            </a:r>
            <a:r>
              <a:rPr b="0" i="0" lang="en-US" sz="1400" u="none" cap="none" strike="noStrike">
                <a:solidFill>
                  <a:srgbClr val="3A434C"/>
                </a:solidFill>
                <a:latin typeface="Calibri"/>
                <a:ea typeface="Calibri"/>
                <a:cs typeface="Calibri"/>
                <a:sym typeface="Calibri"/>
              </a:rPr>
              <a:t> a </a:t>
            </a:r>
            <a:r>
              <a:rPr b="1" i="0" lang="en-US" sz="1400" u="none" cap="none" strike="noStrike">
                <a:solidFill>
                  <a:srgbClr val="3A434C"/>
                </a:solidFill>
                <a:latin typeface="Calibri"/>
                <a:ea typeface="Calibri"/>
                <a:cs typeface="Calibri"/>
                <a:sym typeface="Calibri"/>
              </a:rPr>
              <a:t>class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hierarchy</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with every LLM, in every database.</a:t>
            </a:r>
            <a:endParaRPr/>
          </a:p>
        </p:txBody>
      </p:sp>
      <p:sp>
        <p:nvSpPr>
          <p:cNvPr id="2063" name="Google Shape;2063;h547f90b031e64a91_0_883"/>
          <p:cNvSpPr txBox="1"/>
          <p:nvPr/>
        </p:nvSpPr>
        <p:spPr>
          <a:xfrm>
            <a:off x="822960" y="6345936"/>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Labels &amp; comments: annotation assertions; provenance: prov:wasDerivedFrom. </a:t>
            </a:r>
            <a:endParaRPr b="0" i="0" sz="1000" u="none" cap="none" strike="noStrike">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Hierarchy: inheritance richness, subclass axioms per class [</a:t>
            </a:r>
            <a:r>
              <a:rPr b="1" i="0" lang="en-US" sz="1000" u="none" cap="none" strike="noStrike">
                <a:solidFill>
                  <a:srgbClr val="5B6770"/>
                </a:solidFill>
                <a:latin typeface="Calibri"/>
                <a:ea typeface="Calibri"/>
                <a:cs typeface="Calibri"/>
                <a:sym typeface="Calibri"/>
              </a:rPr>
              <a:t>OntoQA:</a:t>
            </a:r>
            <a:r>
              <a:rPr b="0" i="0" lang="en-US" sz="1000" u="none" cap="none" strike="noStrike">
                <a:solidFill>
                  <a:srgbClr val="5B6770"/>
                </a:solidFill>
                <a:latin typeface="Calibri"/>
                <a:ea typeface="Calibri"/>
                <a:cs typeface="Calibri"/>
                <a:sym typeface="Calibri"/>
              </a:rPr>
              <a:t> Tartir et al., KADASH 2005; </a:t>
            </a:r>
            <a:r>
              <a:rPr b="1" i="0" lang="en-US" sz="1000" u="none" cap="none" strike="noStrike">
                <a:solidFill>
                  <a:srgbClr val="5B6770"/>
                </a:solidFill>
                <a:latin typeface="Calibri"/>
                <a:ea typeface="Calibri"/>
                <a:cs typeface="Calibri"/>
                <a:sym typeface="Calibri"/>
              </a:rPr>
              <a:t>OntoMetrics:</a:t>
            </a:r>
            <a:r>
              <a:rPr b="0" i="0" lang="en-US" sz="1000" u="none" cap="none" strike="noStrike">
                <a:solidFill>
                  <a:srgbClr val="5B6770"/>
                </a:solidFill>
                <a:latin typeface="Calibri"/>
                <a:ea typeface="Calibri"/>
                <a:cs typeface="Calibri"/>
                <a:sym typeface="Calibri"/>
              </a:rPr>
              <a:t> Lantow, KEOD 2016]</a:t>
            </a:r>
            <a:r>
              <a:rPr lang="en-US" sz="1000">
                <a:solidFill>
                  <a:srgbClr val="5B6770"/>
                </a:solidFill>
                <a:latin typeface="Calibri"/>
                <a:ea typeface="Calibri"/>
                <a:cs typeface="Calibri"/>
                <a:sym typeface="Calibri"/>
              </a:rPr>
              <a:t>.</a:t>
            </a:r>
            <a:endParaRPr/>
          </a:p>
        </p:txBody>
      </p:sp>
      <p:sp>
        <p:nvSpPr>
          <p:cNvPr id="2064" name="Slide number 20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16</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8" name="Shape 2068"/>
        <p:cNvGrpSpPr/>
        <p:nvPr/>
      </p:nvGrpSpPr>
      <p:grpSpPr>
        <a:xfrm>
          <a:off x="0" y="0"/>
          <a:ext cx="0" cy="0"/>
          <a:chOff x="0" y="0"/>
          <a:chExt cx="0" cy="0"/>
        </a:xfrm>
      </p:grpSpPr>
      <p:sp>
        <p:nvSpPr>
          <p:cNvPr id="2069" name="Google Shape;2069;h547f90b031e64a91_0_760"/>
          <p:cNvSpPr/>
          <p:nvPr/>
        </p:nvSpPr>
        <p:spPr>
          <a:xfrm>
            <a:off x="5870448" y="2523744"/>
            <a:ext cx="5468100" cy="3063300"/>
          </a:xfrm>
          <a:prstGeom prst="roundRect">
            <a:avLst>
              <a:gd fmla="val 8547" name="adj"/>
            </a:avLst>
          </a:prstGeom>
          <a:solidFill>
            <a:srgbClr val="FFFFFF"/>
          </a:solidFill>
          <a:ln cap="flat" cmpd="sng" w="10775">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h547f90b031e64a91_0_760"/>
          <p:cNvSpPr/>
          <p:nvPr/>
        </p:nvSpPr>
        <p:spPr>
          <a:xfrm>
            <a:off x="5963738" y="4809625"/>
            <a:ext cx="5240100" cy="575700"/>
          </a:xfrm>
          <a:prstGeom prst="roundRect">
            <a:avLst>
              <a:gd fmla="val 11282" name="adj"/>
            </a:avLst>
          </a:prstGeom>
          <a:solidFill>
            <a:srgbClr val="E9EEEB"/>
          </a:solidFill>
          <a:ln cap="flat" cmpd="sng" w="9525">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1" name="Google Shape;2071;h547f90b031e64a91_0_760"/>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4  /  EXTERNAL BENCHMARK</a:t>
            </a:r>
            <a:endParaRPr b="0" i="0" sz="1400" u="none" cap="none" strike="noStrike">
              <a:solidFill>
                <a:srgbClr val="000000"/>
              </a:solidFill>
              <a:latin typeface="Arial"/>
              <a:ea typeface="Arial"/>
              <a:cs typeface="Arial"/>
              <a:sym typeface="Arial"/>
            </a:endParaRPr>
          </a:p>
        </p:txBody>
      </p:sp>
      <p:sp>
        <p:nvSpPr>
          <p:cNvPr id="2072" name="Google Shape;2072;h547f90b031e64a91_0_760"/>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RIGOR keeps the link to the data.</a:t>
            </a:r>
            <a:endParaRPr b="0" i="0" sz="1400" u="none" cap="none" strike="noStrike">
              <a:solidFill>
                <a:srgbClr val="000000"/>
              </a:solidFill>
              <a:latin typeface="Arial"/>
              <a:ea typeface="Arial"/>
              <a:cs typeface="Arial"/>
              <a:sym typeface="Arial"/>
            </a:endParaRPr>
          </a:p>
        </p:txBody>
      </p:sp>
      <p:sp>
        <p:nvSpPr>
          <p:cNvPr id="2073" name="Google Shape;2073;h547f90b031e64a91_0_760"/>
          <p:cNvSpPr txBox="1"/>
          <p:nvPr/>
        </p:nvSpPr>
        <p:spPr>
          <a:xfrm>
            <a:off x="822960" y="1645920"/>
            <a:ext cx="106803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3A434C"/>
                </a:solidFill>
                <a:latin typeface="Calibri"/>
                <a:ea typeface="Calibri"/>
                <a:cs typeface="Calibri"/>
                <a:sym typeface="Calibri"/>
              </a:rPr>
              <a:t>BURR [Laskowski et al., PACMMOD 2025]  </a:t>
            </a:r>
            <a:endParaRPr b="1" i="0" sz="1400" u="none" cap="none" strike="noStrike">
              <a:solidFill>
                <a:srgbClr val="000000"/>
              </a:solidFill>
            </a:endParaRPr>
          </a:p>
        </p:txBody>
      </p:sp>
      <p:sp>
        <p:nvSpPr>
          <p:cNvPr id="2074" name="Google Shape;2074;h547f90b031e64a91_0_760"/>
          <p:cNvSpPr txBox="1"/>
          <p:nvPr/>
        </p:nvSpPr>
        <p:spPr>
          <a:xfrm>
            <a:off x="6099048" y="2706624"/>
            <a:ext cx="1828800" cy="17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SYSTEM</a:t>
            </a:r>
            <a:endParaRPr b="0" i="0" sz="1400" u="none" cap="none" strike="noStrike">
              <a:solidFill>
                <a:srgbClr val="000000"/>
              </a:solidFill>
              <a:latin typeface="Arial"/>
              <a:ea typeface="Arial"/>
              <a:cs typeface="Arial"/>
              <a:sym typeface="Arial"/>
            </a:endParaRPr>
          </a:p>
        </p:txBody>
      </p:sp>
      <p:sp>
        <p:nvSpPr>
          <p:cNvPr id="2075" name="Google Shape;2075;h547f90b031e64a91_0_760"/>
          <p:cNvSpPr txBox="1"/>
          <p:nvPr/>
        </p:nvSpPr>
        <p:spPr>
          <a:xfrm>
            <a:off x="815644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id="2076" name="Google Shape;2076;h547f90b031e64a91_0_760"/>
          <p:cNvSpPr txBox="1"/>
          <p:nvPr/>
        </p:nvSpPr>
        <p:spPr>
          <a:xfrm>
            <a:off x="9208008"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id="2077" name="Google Shape;2077;h547f90b031e64a91_0_760"/>
          <p:cNvSpPr txBox="1"/>
          <p:nvPr/>
        </p:nvSpPr>
        <p:spPr>
          <a:xfrm>
            <a:off x="1025956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cxnSp>
        <p:nvCxnSpPr>
          <p:cNvPr id="2078" name="Google Shape;2078;h547f90b031e64a91_0_760"/>
          <p:cNvCxnSpPr/>
          <p:nvPr/>
        </p:nvCxnSpPr>
        <p:spPr>
          <a:xfrm>
            <a:off x="6071616" y="3145536"/>
            <a:ext cx="5065800" cy="0"/>
          </a:xfrm>
          <a:prstGeom prst="straightConnector1">
            <a:avLst/>
          </a:prstGeom>
          <a:noFill/>
          <a:ln cap="flat" cmpd="sng" w="1395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079" name="Google Shape;2079;h547f90b031e64a91_0_760"/>
          <p:cNvSpPr txBox="1"/>
          <p:nvPr/>
        </p:nvSpPr>
        <p:spPr>
          <a:xfrm>
            <a:off x="6117336" y="3182112"/>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W3C-Mapper / Ontop</a:t>
            </a:r>
            <a:endParaRPr b="0" i="0" sz="1400" u="none" cap="none" strike="noStrike">
              <a:solidFill>
                <a:srgbClr val="000000"/>
              </a:solidFill>
              <a:latin typeface="Arial"/>
              <a:ea typeface="Arial"/>
              <a:cs typeface="Arial"/>
              <a:sym typeface="Arial"/>
            </a:endParaRPr>
          </a:p>
        </p:txBody>
      </p:sp>
      <p:sp>
        <p:nvSpPr>
          <p:cNvPr id="2080" name="Google Shape;2080;h547f90b031e64a91_0_760"/>
          <p:cNvSpPr txBox="1"/>
          <p:nvPr/>
        </p:nvSpPr>
        <p:spPr>
          <a:xfrm>
            <a:off x="6117336" y="3438144"/>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1" name="Google Shape;2081;h547f90b031e64a91_0_760"/>
          <p:cNvSpPr txBox="1"/>
          <p:nvPr/>
        </p:nvSpPr>
        <p:spPr>
          <a:xfrm>
            <a:off x="8202167"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0.53</a:t>
            </a:r>
            <a:endParaRPr b="0" i="0" sz="1400" u="none" cap="none" strike="noStrike">
              <a:solidFill>
                <a:srgbClr val="000000"/>
              </a:solidFill>
              <a:latin typeface="Arial"/>
              <a:ea typeface="Arial"/>
              <a:cs typeface="Arial"/>
              <a:sym typeface="Arial"/>
            </a:endParaRPr>
          </a:p>
        </p:txBody>
      </p:sp>
      <p:sp>
        <p:nvSpPr>
          <p:cNvPr id="2082" name="Google Shape;2082;h547f90b031e64a91_0_760"/>
          <p:cNvSpPr txBox="1"/>
          <p:nvPr/>
        </p:nvSpPr>
        <p:spPr>
          <a:xfrm>
            <a:off x="925372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0.11</a:t>
            </a:r>
            <a:endParaRPr b="0" i="0" sz="1400" u="none" cap="none" strike="noStrike">
              <a:solidFill>
                <a:srgbClr val="000000"/>
              </a:solidFill>
              <a:latin typeface="Arial"/>
              <a:ea typeface="Arial"/>
              <a:cs typeface="Arial"/>
              <a:sym typeface="Arial"/>
            </a:endParaRPr>
          </a:p>
        </p:txBody>
      </p:sp>
      <p:sp>
        <p:nvSpPr>
          <p:cNvPr id="2083" name="Google Shape;2083;h547f90b031e64a91_0_760"/>
          <p:cNvSpPr txBox="1"/>
          <p:nvPr/>
        </p:nvSpPr>
        <p:spPr>
          <a:xfrm>
            <a:off x="1030528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0.39</a:t>
            </a:r>
            <a:endParaRPr b="0" i="0" sz="1400" u="none" cap="none" strike="noStrike">
              <a:solidFill>
                <a:srgbClr val="000000"/>
              </a:solidFill>
              <a:latin typeface="Arial"/>
              <a:ea typeface="Arial"/>
              <a:cs typeface="Arial"/>
              <a:sym typeface="Arial"/>
            </a:endParaRPr>
          </a:p>
        </p:txBody>
      </p:sp>
      <p:sp>
        <p:nvSpPr>
          <p:cNvPr id="2084" name="Google Shape;2084;h547f90b031e64a91_0_760"/>
          <p:cNvSpPr txBox="1"/>
          <p:nvPr/>
        </p:nvSpPr>
        <p:spPr>
          <a:xfrm>
            <a:off x="6117336" y="3739896"/>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RDB2Onto</a:t>
            </a:r>
            <a:endParaRPr b="0" i="0" sz="1400" u="none" cap="none" strike="noStrike">
              <a:solidFill>
                <a:srgbClr val="000000"/>
              </a:solidFill>
              <a:latin typeface="Arial"/>
              <a:ea typeface="Arial"/>
              <a:cs typeface="Arial"/>
              <a:sym typeface="Arial"/>
            </a:endParaRPr>
          </a:p>
        </p:txBody>
      </p:sp>
      <p:sp>
        <p:nvSpPr>
          <p:cNvPr id="2085" name="Google Shape;2085;h547f90b031e64a91_0_760"/>
          <p:cNvSpPr txBox="1"/>
          <p:nvPr/>
        </p:nvSpPr>
        <p:spPr>
          <a:xfrm>
            <a:off x="6117336" y="3995928"/>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6" name="Google Shape;2086;h547f90b031e64a91_0_760"/>
          <p:cNvSpPr txBox="1"/>
          <p:nvPr/>
        </p:nvSpPr>
        <p:spPr>
          <a:xfrm>
            <a:off x="8202167"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0.67</a:t>
            </a:r>
            <a:endParaRPr b="0" i="1" sz="1400" u="sng" cap="none" strike="noStrike">
              <a:solidFill>
                <a:srgbClr val="000000"/>
              </a:solidFill>
              <a:latin typeface="Arial"/>
              <a:ea typeface="Arial"/>
              <a:cs typeface="Arial"/>
              <a:sym typeface="Arial"/>
            </a:endParaRPr>
          </a:p>
        </p:txBody>
      </p:sp>
      <p:sp>
        <p:nvSpPr>
          <p:cNvPr id="2087" name="Google Shape;2087;h547f90b031e64a91_0_760"/>
          <p:cNvSpPr txBox="1"/>
          <p:nvPr/>
        </p:nvSpPr>
        <p:spPr>
          <a:xfrm>
            <a:off x="925372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i="1" lang="en-US" sz="1839" u="sng" cap="none" strike="noStrike">
                <a:solidFill>
                  <a:srgbClr val="3A434C"/>
                </a:solidFill>
                <a:latin typeface="Calibri"/>
                <a:ea typeface="Calibri"/>
                <a:cs typeface="Calibri"/>
                <a:sym typeface="Calibri"/>
              </a:rPr>
              <a:t>0.62</a:t>
            </a:r>
            <a:endParaRPr i="1" sz="1400" u="sng" cap="none" strike="noStrike">
              <a:solidFill>
                <a:srgbClr val="000000"/>
              </a:solidFill>
            </a:endParaRPr>
          </a:p>
        </p:txBody>
      </p:sp>
      <p:sp>
        <p:nvSpPr>
          <p:cNvPr id="2088" name="Google Shape;2088;h547f90b031e64a91_0_760"/>
          <p:cNvSpPr txBox="1"/>
          <p:nvPr/>
        </p:nvSpPr>
        <p:spPr>
          <a:xfrm>
            <a:off x="1030528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89" name="Google Shape;2089;h547f90b031e64a91_0_760"/>
          <p:cNvSpPr txBox="1"/>
          <p:nvPr/>
        </p:nvSpPr>
        <p:spPr>
          <a:xfrm>
            <a:off x="6117336" y="4297680"/>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OntoGenix</a:t>
            </a:r>
            <a:endParaRPr b="0" i="0" sz="1400" u="none" cap="none" strike="noStrike">
              <a:solidFill>
                <a:srgbClr val="000000"/>
              </a:solidFill>
              <a:latin typeface="Arial"/>
              <a:ea typeface="Arial"/>
              <a:cs typeface="Arial"/>
              <a:sym typeface="Arial"/>
            </a:endParaRPr>
          </a:p>
        </p:txBody>
      </p:sp>
      <p:sp>
        <p:nvSpPr>
          <p:cNvPr id="2090" name="Google Shape;2090;h547f90b031e64a91_0_760"/>
          <p:cNvSpPr txBox="1"/>
          <p:nvPr/>
        </p:nvSpPr>
        <p:spPr>
          <a:xfrm>
            <a:off x="6117336" y="4553712"/>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LLM-based</a:t>
            </a:r>
            <a:endParaRPr b="0" i="0" sz="1400" u="none" cap="none" strike="noStrike">
              <a:solidFill>
                <a:srgbClr val="000000"/>
              </a:solidFill>
              <a:latin typeface="Arial"/>
              <a:ea typeface="Arial"/>
              <a:cs typeface="Arial"/>
              <a:sym typeface="Arial"/>
            </a:endParaRPr>
          </a:p>
        </p:txBody>
      </p:sp>
      <p:sp>
        <p:nvSpPr>
          <p:cNvPr id="2091" name="Google Shape;2091;h547f90b031e64a91_0_760"/>
          <p:cNvSpPr txBox="1"/>
          <p:nvPr/>
        </p:nvSpPr>
        <p:spPr>
          <a:xfrm>
            <a:off x="8202167"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0.58</a:t>
            </a:r>
            <a:endParaRPr b="0" i="0" sz="1400" u="none" cap="none" strike="noStrike">
              <a:solidFill>
                <a:srgbClr val="000000"/>
              </a:solidFill>
              <a:latin typeface="Arial"/>
              <a:ea typeface="Arial"/>
              <a:cs typeface="Arial"/>
              <a:sym typeface="Arial"/>
            </a:endParaRPr>
          </a:p>
        </p:txBody>
      </p:sp>
      <p:sp>
        <p:nvSpPr>
          <p:cNvPr id="2092" name="Google Shape;2092;h547f90b031e64a91_0_760"/>
          <p:cNvSpPr txBox="1"/>
          <p:nvPr/>
        </p:nvSpPr>
        <p:spPr>
          <a:xfrm>
            <a:off x="925372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0.35</a:t>
            </a:r>
            <a:endParaRPr b="0" i="0" sz="1400" u="none" cap="none" strike="noStrike">
              <a:solidFill>
                <a:srgbClr val="000000"/>
              </a:solidFill>
              <a:latin typeface="Arial"/>
              <a:ea typeface="Arial"/>
              <a:cs typeface="Arial"/>
              <a:sym typeface="Arial"/>
            </a:endParaRPr>
          </a:p>
        </p:txBody>
      </p:sp>
      <p:sp>
        <p:nvSpPr>
          <p:cNvPr id="2093" name="Google Shape;2093;h547f90b031e64a91_0_760"/>
          <p:cNvSpPr txBox="1"/>
          <p:nvPr/>
        </p:nvSpPr>
        <p:spPr>
          <a:xfrm>
            <a:off x="1030528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94" name="Google Shape;2094;h547f90b031e64a91_0_760"/>
          <p:cNvSpPr txBox="1"/>
          <p:nvPr/>
        </p:nvSpPr>
        <p:spPr>
          <a:xfrm>
            <a:off x="6117336" y="4855464"/>
            <a:ext cx="2011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2095" name="Google Shape;2095;h547f90b031e64a91_0_760"/>
          <p:cNvSpPr txBox="1"/>
          <p:nvPr/>
        </p:nvSpPr>
        <p:spPr>
          <a:xfrm>
            <a:off x="6117336" y="5111496"/>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2F6B78"/>
                </a:solidFill>
                <a:latin typeface="Calibri"/>
                <a:ea typeface="Calibri"/>
                <a:cs typeface="Calibri"/>
                <a:sym typeface="Calibri"/>
              </a:rPr>
              <a:t>LLM + rules</a:t>
            </a:r>
            <a:endParaRPr b="0" i="0" sz="1400" u="none" cap="none" strike="noStrike">
              <a:solidFill>
                <a:srgbClr val="000000"/>
              </a:solidFill>
              <a:latin typeface="Arial"/>
              <a:ea typeface="Arial"/>
              <a:cs typeface="Arial"/>
              <a:sym typeface="Arial"/>
            </a:endParaRPr>
          </a:p>
        </p:txBody>
      </p:sp>
      <p:sp>
        <p:nvSpPr>
          <p:cNvPr id="2096" name="Google Shape;2096;h547f90b031e64a91_0_760"/>
          <p:cNvSpPr txBox="1"/>
          <p:nvPr/>
        </p:nvSpPr>
        <p:spPr>
          <a:xfrm>
            <a:off x="8202167"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0.73</a:t>
            </a:r>
            <a:endParaRPr b="0" i="0" sz="1400" u="none" cap="none" strike="noStrike">
              <a:solidFill>
                <a:srgbClr val="000000"/>
              </a:solidFill>
              <a:latin typeface="Arial"/>
              <a:ea typeface="Arial"/>
              <a:cs typeface="Arial"/>
              <a:sym typeface="Arial"/>
            </a:endParaRPr>
          </a:p>
        </p:txBody>
      </p:sp>
      <p:sp>
        <p:nvSpPr>
          <p:cNvPr id="2097" name="Google Shape;2097;h547f90b031e64a91_0_760"/>
          <p:cNvSpPr txBox="1"/>
          <p:nvPr/>
        </p:nvSpPr>
        <p:spPr>
          <a:xfrm>
            <a:off x="925372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0.67</a:t>
            </a:r>
            <a:endParaRPr b="0" i="0" sz="1400" u="none" cap="none" strike="noStrike">
              <a:solidFill>
                <a:srgbClr val="000000"/>
              </a:solidFill>
              <a:latin typeface="Arial"/>
              <a:ea typeface="Arial"/>
              <a:cs typeface="Arial"/>
              <a:sym typeface="Arial"/>
            </a:endParaRPr>
          </a:p>
        </p:txBody>
      </p:sp>
      <p:sp>
        <p:nvSpPr>
          <p:cNvPr id="2098" name="Google Shape;2098;h547f90b031e64a91_0_760"/>
          <p:cNvSpPr txBox="1"/>
          <p:nvPr/>
        </p:nvSpPr>
        <p:spPr>
          <a:xfrm>
            <a:off x="1030528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0.52</a:t>
            </a:r>
            <a:endParaRPr b="0" i="0" sz="1400" u="none" cap="none" strike="noStrike">
              <a:solidFill>
                <a:srgbClr val="000000"/>
              </a:solidFill>
              <a:latin typeface="Arial"/>
              <a:ea typeface="Arial"/>
              <a:cs typeface="Arial"/>
              <a:sym typeface="Arial"/>
            </a:endParaRPr>
          </a:p>
        </p:txBody>
      </p:sp>
      <p:sp>
        <p:nvSpPr>
          <p:cNvPr id="2099" name="Google Shape;2099;h547f90b031e64a91_0_760"/>
          <p:cNvSpPr/>
          <p:nvPr/>
        </p:nvSpPr>
        <p:spPr>
          <a:xfrm>
            <a:off x="841248" y="2523744"/>
            <a:ext cx="4846200" cy="3063300"/>
          </a:xfrm>
          <a:prstGeom prst="roundRect">
            <a:avLst>
              <a:gd fmla="val 5966" name="adj"/>
            </a:avLst>
          </a:prstGeom>
          <a:solidFill>
            <a:srgbClr val="F3F5F4"/>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0" name="Google Shape;2100;h547f90b031e64a91_0_760"/>
          <p:cNvSpPr txBox="1"/>
          <p:nvPr/>
        </p:nvSpPr>
        <p:spPr>
          <a:xfrm>
            <a:off x="1069848" y="2706624"/>
            <a:ext cx="43890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2F6B78"/>
                </a:solidFill>
                <a:latin typeface="Consolas"/>
                <a:ea typeface="Consolas"/>
                <a:cs typeface="Consolas"/>
                <a:sym typeface="Consolas"/>
              </a:rPr>
              <a:t>WHAT BURR CHECKS</a:t>
            </a:r>
            <a:endParaRPr b="0" i="0" sz="1400" u="none" cap="none" strike="noStrike">
              <a:solidFill>
                <a:srgbClr val="000000"/>
              </a:solidFill>
              <a:latin typeface="Arial"/>
              <a:ea typeface="Arial"/>
              <a:cs typeface="Arial"/>
              <a:sym typeface="Arial"/>
            </a:endParaRPr>
          </a:p>
        </p:txBody>
      </p:sp>
      <p:sp>
        <p:nvSpPr>
          <p:cNvPr id="2101" name="Google Shape;2101;h547f90b031e64a91_0_760"/>
          <p:cNvSpPr txBox="1"/>
          <p:nvPr/>
        </p:nvSpPr>
        <p:spPr>
          <a:xfrm>
            <a:off x="1069848" y="3035808"/>
            <a:ext cx="4389000" cy="31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Every ontology element must map back to the database.</a:t>
            </a:r>
            <a:endParaRPr b="0" i="0" sz="1400" u="none" cap="none" strike="noStrike">
              <a:solidFill>
                <a:srgbClr val="000000"/>
              </a:solidFill>
              <a:latin typeface="Arial"/>
              <a:ea typeface="Arial"/>
              <a:cs typeface="Arial"/>
              <a:sym typeface="Arial"/>
            </a:endParaRPr>
          </a:p>
        </p:txBody>
      </p:sp>
      <p:sp>
        <p:nvSpPr>
          <p:cNvPr id="2102" name="Google Shape;2102;h547f90b031e64a91_0_760"/>
          <p:cNvSpPr txBox="1"/>
          <p:nvPr/>
        </p:nvSpPr>
        <p:spPr>
          <a:xfrm>
            <a:off x="1069848" y="3474720"/>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descr="database element" id="2103" name="Google Shape;2103;h547f90b031e64a91_0_760"/>
          <p:cNvSpPr/>
          <p:nvPr/>
        </p:nvSpPr>
        <p:spPr>
          <a:xfrm>
            <a:off x="2075688" y="3474720"/>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4" name="Google Shape;2104;h547f90b031e64a91_0_760"/>
          <p:cNvSpPr txBox="1"/>
          <p:nvPr/>
        </p:nvSpPr>
        <p:spPr>
          <a:xfrm>
            <a:off x="3392424" y="3474720"/>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5" name="Google Shape;2105;h547f90b031e64a91_0_760"/>
          <p:cNvSpPr/>
          <p:nvPr/>
        </p:nvSpPr>
        <p:spPr>
          <a:xfrm>
            <a:off x="3648456" y="3474720"/>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Class: </a:t>
            </a: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6" name="Google Shape;2106;h547f90b031e64a91_0_760"/>
          <p:cNvSpPr txBox="1"/>
          <p:nvPr/>
        </p:nvSpPr>
        <p:spPr>
          <a:xfrm>
            <a:off x="1069848" y="3895344"/>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descr="database element" id="2107" name="Google Shape;2107;h547f90b031e64a91_0_760"/>
          <p:cNvSpPr/>
          <p:nvPr/>
        </p:nvSpPr>
        <p:spPr>
          <a:xfrm>
            <a:off x="2075688" y="3895344"/>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paper.author_id</a:t>
            </a:r>
            <a:endParaRPr b="0" i="0" sz="1400" u="none" cap="none" strike="noStrike">
              <a:solidFill>
                <a:srgbClr val="000000"/>
              </a:solidFill>
              <a:latin typeface="Arial"/>
              <a:ea typeface="Arial"/>
              <a:cs typeface="Arial"/>
              <a:sym typeface="Arial"/>
            </a:endParaRPr>
          </a:p>
        </p:txBody>
      </p:sp>
      <p:sp>
        <p:nvSpPr>
          <p:cNvPr id="2108" name="Google Shape;2108;h547f90b031e64a91_0_760"/>
          <p:cNvSpPr txBox="1"/>
          <p:nvPr/>
        </p:nvSpPr>
        <p:spPr>
          <a:xfrm>
            <a:off x="3392424" y="3895344"/>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9" name="Google Shape;2109;h547f90b031e64a91_0_760"/>
          <p:cNvSpPr/>
          <p:nvPr/>
        </p:nvSpPr>
        <p:spPr>
          <a:xfrm>
            <a:off x="3648456" y="3895344"/>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ObjectProperty: </a:t>
            </a:r>
            <a:r>
              <a:rPr b="0" i="0" lang="en-US" sz="1050" u="none" cap="none" strike="noStrike">
                <a:solidFill>
                  <a:srgbClr val="1F2328"/>
                </a:solidFill>
                <a:latin typeface="Consolas"/>
                <a:ea typeface="Consolas"/>
                <a:cs typeface="Consolas"/>
                <a:sym typeface="Consolas"/>
              </a:rPr>
              <a:t>author</a:t>
            </a:r>
            <a:endParaRPr b="0" i="0" sz="1400" u="none" cap="none" strike="noStrike">
              <a:solidFill>
                <a:srgbClr val="000000"/>
              </a:solidFill>
              <a:latin typeface="Arial"/>
              <a:ea typeface="Arial"/>
              <a:cs typeface="Arial"/>
              <a:sym typeface="Arial"/>
            </a:endParaRPr>
          </a:p>
        </p:txBody>
      </p:sp>
      <p:sp>
        <p:nvSpPr>
          <p:cNvPr id="2110" name="Google Shape;2110;h547f90b031e64a91_0_760"/>
          <p:cNvSpPr txBox="1"/>
          <p:nvPr/>
        </p:nvSpPr>
        <p:spPr>
          <a:xfrm>
            <a:off x="1069848" y="4315968"/>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sp>
        <p:nvSpPr>
          <p:cNvPr descr="database element" id="2111" name="Google Shape;2111;h547f90b031e64a91_0_760"/>
          <p:cNvSpPr/>
          <p:nvPr/>
        </p:nvSpPr>
        <p:spPr>
          <a:xfrm>
            <a:off x="2075688" y="4315968"/>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person.name</a:t>
            </a:r>
            <a:endParaRPr b="0" i="0" sz="1400" u="none" cap="none" strike="noStrike">
              <a:solidFill>
                <a:srgbClr val="000000"/>
              </a:solidFill>
              <a:latin typeface="Arial"/>
              <a:ea typeface="Arial"/>
              <a:cs typeface="Arial"/>
              <a:sym typeface="Arial"/>
            </a:endParaRPr>
          </a:p>
        </p:txBody>
      </p:sp>
      <p:sp>
        <p:nvSpPr>
          <p:cNvPr id="2112" name="Google Shape;2112;h547f90b031e64a91_0_760"/>
          <p:cNvSpPr txBox="1"/>
          <p:nvPr/>
        </p:nvSpPr>
        <p:spPr>
          <a:xfrm>
            <a:off x="3392424" y="4315968"/>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13" name="Google Shape;2113;h547f90b031e64a91_0_760"/>
          <p:cNvSpPr/>
          <p:nvPr/>
        </p:nvSpPr>
        <p:spPr>
          <a:xfrm>
            <a:off x="3648456" y="4315968"/>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DataProperty: </a:t>
            </a:r>
            <a:r>
              <a:rPr b="0" i="0" lang="en-US" sz="1050" u="none" cap="none" strike="noStrike">
                <a:solidFill>
                  <a:srgbClr val="1F2328"/>
                </a:solidFill>
                <a:latin typeface="Consolas"/>
                <a:ea typeface="Consolas"/>
                <a:cs typeface="Consolas"/>
                <a:sym typeface="Consolas"/>
              </a:rPr>
              <a:t>name</a:t>
            </a:r>
            <a:endParaRPr b="0" i="0" sz="1400" u="none" cap="none" strike="noStrike">
              <a:solidFill>
                <a:srgbClr val="000000"/>
              </a:solidFill>
              <a:latin typeface="Arial"/>
              <a:ea typeface="Arial"/>
              <a:cs typeface="Arial"/>
              <a:sym typeface="Arial"/>
            </a:endParaRPr>
          </a:p>
        </p:txBody>
      </p:sp>
      <p:sp>
        <p:nvSpPr>
          <p:cNvPr id="2114" name="Google Shape;2114;h547f90b031e64a91_0_760"/>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15" name="Google Shape;2115;h547f90b031e64a91_0_760"/>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16" name="Google Shape;2116;h547f90b031e64a91_0_760"/>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17" name="Google Shape;2117;h547f90b031e64a91_0_760"/>
          <p:cNvSpPr/>
          <p:nvPr/>
        </p:nvSpPr>
        <p:spPr>
          <a:xfrm>
            <a:off x="720730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4  GOLD MAPPINGS</a:t>
            </a:r>
            <a:endParaRPr/>
          </a:p>
        </p:txBody>
      </p:sp>
      <p:sp>
        <p:nvSpPr>
          <p:cNvPr id="2118" name="Google Shape;2118;h547f90b031e64a91_0_760"/>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2119" name="Slide number 211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17</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3" name="Shape 2123"/>
        <p:cNvGrpSpPr/>
        <p:nvPr/>
      </p:nvGrpSpPr>
      <p:grpSpPr>
        <a:xfrm>
          <a:off x="0" y="0"/>
          <a:ext cx="0" cy="0"/>
          <a:chOff x="0" y="0"/>
          <a:chExt cx="0" cy="0"/>
        </a:xfrm>
      </p:grpSpPr>
      <p:sp>
        <p:nvSpPr>
          <p:cNvPr id="2124" name="Google Shape;2124;h547f90b031e64a91_0_1235"/>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2125" name="Google Shape;2125;h547f90b031e64a91_0_1235"/>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2126" name="Google Shape;2126;h547f90b031e64a91_0_1235"/>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Blind evaluation: nobody knew which ontology came from which method.</a:t>
            </a:r>
            <a:endParaRPr/>
          </a:p>
        </p:txBody>
      </p:sp>
      <p:sp>
        <p:nvSpPr>
          <p:cNvPr id="2127" name="Google Shape;2127;h547f90b031e64a91_0_1235"/>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28" name="Google Shape;2128;h547f90b031e64a91_0_1235"/>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29" name="Google Shape;2129;h547f90b031e64a91_0_1235"/>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30" name="Google Shape;2130;h547f90b031e64a91_0_1235"/>
          <p:cNvSpPr/>
          <p:nvPr/>
        </p:nvSpPr>
        <p:spPr>
          <a:xfrm>
            <a:off x="7207300"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4  GOLD MAPPINGS</a:t>
            </a:r>
            <a:endParaRPr/>
          </a:p>
        </p:txBody>
      </p:sp>
      <p:sp>
        <p:nvSpPr>
          <p:cNvPr id="2131" name="Google Shape;2131;h547f90b031e64a91_0_1235"/>
          <p:cNvSpPr/>
          <p:nvPr/>
        </p:nvSpPr>
        <p:spPr>
          <a:xfrm>
            <a:off x="934151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5  JUDGES</a:t>
            </a:r>
            <a:endParaRPr/>
          </a:p>
        </p:txBody>
      </p:sp>
      <p:sp>
        <p:nvSpPr>
          <p:cNvPr id="2132" name="Google Shape;2132;h547f90b031e64a91_0_1235"/>
          <p:cNvSpPr/>
          <p:nvPr/>
        </p:nvSpPr>
        <p:spPr>
          <a:xfrm>
            <a:off x="804672" y="2606040"/>
            <a:ext cx="10579500" cy="6585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i="0" lang="en-US" u="none" cap="none" strike="noStrike">
                <a:solidFill>
                  <a:srgbClr val="2F6B78"/>
                </a:solidFill>
                <a:latin typeface="Consolas"/>
                <a:ea typeface="Consolas"/>
                <a:cs typeface="Consolas"/>
                <a:sym typeface="Consolas"/>
              </a:rPr>
              <a:t>HOW THEY JUDGED   </a:t>
            </a:r>
            <a:r>
              <a:rPr b="0" i="0" lang="en-US" u="none" cap="none" strike="noStrike">
                <a:solidFill>
                  <a:srgbClr val="3A434C"/>
                </a:solidFill>
                <a:latin typeface="Calibri"/>
                <a:ea typeface="Calibri"/>
                <a:cs typeface="Calibri"/>
                <a:sym typeface="Calibri"/>
              </a:rPr>
              <a:t>For each table: its </a:t>
            </a:r>
            <a:r>
              <a:rPr b="1" i="0" lang="en-US" u="none" cap="none" strike="noStrike">
                <a:solidFill>
                  <a:srgbClr val="3A434C"/>
                </a:solidFill>
                <a:latin typeface="Calibri"/>
                <a:ea typeface="Calibri"/>
                <a:cs typeface="Calibri"/>
                <a:sym typeface="Calibri"/>
              </a:rPr>
              <a:t>schema</a:t>
            </a:r>
            <a:r>
              <a:rPr b="0" i="0" lang="en-US" u="none" cap="none" strike="noStrike">
                <a:solidFill>
                  <a:srgbClr val="3A434C"/>
                </a:solidFill>
                <a:latin typeface="Calibri"/>
                <a:ea typeface="Calibri"/>
                <a:cs typeface="Calibri"/>
                <a:sym typeface="Calibri"/>
              </a:rPr>
              <a:t>,  </a:t>
            </a:r>
            <a:r>
              <a:rPr b="1" i="0" lang="en-US" u="none" cap="none" strike="noStrike">
                <a:solidFill>
                  <a:srgbClr val="3A434C"/>
                </a:solidFill>
                <a:latin typeface="Calibri"/>
                <a:ea typeface="Calibri"/>
                <a:cs typeface="Calibri"/>
                <a:sym typeface="Calibri"/>
              </a:rPr>
              <a:t>5 competency questions</a:t>
            </a:r>
            <a:r>
              <a:rPr b="0" i="0" lang="en-US" u="none" cap="none" strike="noStrike">
                <a:solidFill>
                  <a:srgbClr val="3A434C"/>
                </a:solidFill>
                <a:latin typeface="Calibri"/>
                <a:ea typeface="Calibri"/>
                <a:cs typeface="Calibri"/>
                <a:sym typeface="Calibri"/>
              </a:rPr>
              <a:t> and </a:t>
            </a:r>
            <a:r>
              <a:rPr b="1" i="0" lang="en-US" u="none" cap="none" strike="noStrike">
                <a:solidFill>
                  <a:srgbClr val="3A434C"/>
                </a:solidFill>
                <a:latin typeface="Calibri"/>
                <a:ea typeface="Calibri"/>
                <a:cs typeface="Calibri"/>
                <a:sym typeface="Calibri"/>
              </a:rPr>
              <a:t>four anonymized ontologies</a:t>
            </a:r>
            <a:r>
              <a:rPr b="0" i="0" lang="en-US" u="none" cap="none" strike="noStrike">
                <a:solidFill>
                  <a:srgbClr val="3A434C"/>
                </a:solidFill>
                <a:latin typeface="Calibri"/>
                <a:ea typeface="Calibri"/>
                <a:cs typeface="Calibri"/>
                <a:sym typeface="Calibri"/>
              </a:rPr>
              <a:t>. Each </a:t>
            </a:r>
            <a:r>
              <a:rPr b="1" i="0" lang="en-US" u="none" cap="none" strike="noStrike">
                <a:solidFill>
                  <a:srgbClr val="3A434C"/>
                </a:solidFill>
                <a:latin typeface="Calibri"/>
                <a:ea typeface="Calibri"/>
                <a:cs typeface="Calibri"/>
                <a:sym typeface="Calibri"/>
              </a:rPr>
              <a:t>scored 0–5</a:t>
            </a:r>
            <a:r>
              <a:rPr b="0" i="0" lang="en-US" u="none" cap="none" strike="noStrike">
                <a:solidFill>
                  <a:srgbClr val="3A434C"/>
                </a:solidFill>
                <a:latin typeface="Calibri"/>
                <a:ea typeface="Calibri"/>
                <a:cs typeface="Calibri"/>
                <a:sym typeface="Calibri"/>
              </a:rPr>
              <a:t> on </a:t>
            </a:r>
            <a:r>
              <a:rPr b="1" i="1" lang="en-US" u="none" cap="none" strike="noStrike">
                <a:solidFill>
                  <a:srgbClr val="3A434C"/>
                </a:solidFill>
                <a:latin typeface="Calibri"/>
                <a:ea typeface="Calibri"/>
                <a:cs typeface="Calibri"/>
                <a:sym typeface="Calibri"/>
              </a:rPr>
              <a:t>accuracy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completeness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conciseness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adaptability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clarity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consistency</a:t>
            </a:r>
            <a:r>
              <a:rPr b="0" i="0" lang="en-US" u="none" cap="none" strike="noStrike">
                <a:solidFill>
                  <a:srgbClr val="3A434C"/>
                </a:solidFill>
                <a:latin typeface="Calibri"/>
                <a:ea typeface="Calibri"/>
                <a:cs typeface="Calibri"/>
                <a:sym typeface="Calibri"/>
              </a:rPr>
              <a:t> and </a:t>
            </a:r>
            <a:r>
              <a:rPr b="1" i="1" lang="en-US" u="none" cap="none" strike="noStrike">
                <a:solidFill>
                  <a:srgbClr val="3A434C"/>
                </a:solidFill>
                <a:latin typeface="Calibri"/>
                <a:ea typeface="Calibri"/>
                <a:cs typeface="Calibri"/>
                <a:sym typeface="Calibri"/>
              </a:rPr>
              <a:t>domain enrichment</a:t>
            </a:r>
            <a:r>
              <a:rPr b="0" i="0" lang="en-US" u="none" cap="none" strike="noStrike">
                <a:solidFill>
                  <a:srgbClr val="3A434C"/>
                </a:solidFill>
                <a:latin typeface="Calibri"/>
                <a:ea typeface="Calibri"/>
                <a:cs typeface="Calibri"/>
                <a:sym typeface="Calibri"/>
              </a:rPr>
              <a:t>, then ranked </a:t>
            </a:r>
            <a:r>
              <a:rPr b="1" i="0" lang="en-US" u="none" cap="none" strike="noStrike">
                <a:solidFill>
                  <a:srgbClr val="3A434C"/>
                </a:solidFill>
                <a:latin typeface="Calibri"/>
                <a:ea typeface="Calibri"/>
                <a:cs typeface="Calibri"/>
                <a:sym typeface="Calibri"/>
              </a:rPr>
              <a:t>1st–4th</a:t>
            </a:r>
            <a:r>
              <a:rPr b="0" i="0" lang="en-US" u="none" cap="none" strike="noStrike">
                <a:solidFill>
                  <a:srgbClr val="3A434C"/>
                </a:solidFill>
                <a:latin typeface="Calibri"/>
                <a:ea typeface="Calibri"/>
                <a:cs typeface="Calibri"/>
                <a:sym typeface="Calibri"/>
              </a:rPr>
              <a:t>.</a:t>
            </a:r>
            <a:endParaRPr/>
          </a:p>
        </p:txBody>
      </p:sp>
      <p:sp>
        <p:nvSpPr>
          <p:cNvPr id="2133" name="Google Shape;2133;h547f90b031e64a91_0_1235"/>
          <p:cNvSpPr/>
          <p:nvPr/>
        </p:nvSpPr>
        <p:spPr>
          <a:xfrm>
            <a:off x="1265694" y="3525525"/>
            <a:ext cx="47205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34" name="Google Shape;2134;h547f90b031e64a91_0_1235"/>
          <p:cNvSpPr txBox="1"/>
          <p:nvPr/>
        </p:nvSpPr>
        <p:spPr>
          <a:xfrm>
            <a:off x="1550583" y="3715451"/>
            <a:ext cx="54129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LLM-AS-A-JUDGE  ·  GPT-5.4</a:t>
            </a:r>
            <a:endParaRPr sz="1662"/>
          </a:p>
        </p:txBody>
      </p:sp>
      <p:sp>
        <p:nvSpPr>
          <p:cNvPr id="2135" name="Google Shape;2135;h547f90b031e64a91_0_1235"/>
          <p:cNvSpPr txBox="1"/>
          <p:nvPr/>
        </p:nvSpPr>
        <p:spPr>
          <a:xfrm>
            <a:off x="1550583" y="3981347"/>
            <a:ext cx="54129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100% of rankings put RIGOR 1st</a:t>
            </a:r>
            <a:endParaRPr b="1" sz="2077">
              <a:solidFill>
                <a:srgbClr val="0B6E4F"/>
              </a:solidFill>
              <a:latin typeface="Calibri"/>
              <a:ea typeface="Calibri"/>
              <a:cs typeface="Calibri"/>
              <a:sym typeface="Calibri"/>
            </a:endParaRPr>
          </a:p>
        </p:txBody>
      </p:sp>
      <p:sp>
        <p:nvSpPr>
          <p:cNvPr id="2136" name="Google Shape;2136;h547f90b031e64a91_0_1235"/>
          <p:cNvSpPr txBox="1"/>
          <p:nvPr/>
        </p:nvSpPr>
        <p:spPr>
          <a:xfrm>
            <a:off x="3069992"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37" name="Google Shape;2137;h547f90b031e64a91_0_1235"/>
          <p:cNvSpPr txBox="1"/>
          <p:nvPr/>
        </p:nvSpPr>
        <p:spPr>
          <a:xfrm>
            <a:off x="4361488"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38" name="Google Shape;2138;h547f90b031e64a91_0_1235"/>
          <p:cNvSpPr txBox="1"/>
          <p:nvPr/>
        </p:nvSpPr>
        <p:spPr>
          <a:xfrm>
            <a:off x="1503100"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39" name="Google Shape;2139;h547f90b031e64a91_0_1235"/>
          <p:cNvSpPr/>
          <p:nvPr/>
        </p:nvSpPr>
        <p:spPr>
          <a:xfrm>
            <a:off x="3088984"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2.05</a:t>
            </a:r>
            <a:endParaRPr sz="1662"/>
          </a:p>
        </p:txBody>
      </p:sp>
      <p:sp>
        <p:nvSpPr>
          <p:cNvPr id="2140" name="Google Shape;2140;h547f90b031e64a91_0_1235"/>
          <p:cNvSpPr/>
          <p:nvPr/>
        </p:nvSpPr>
        <p:spPr>
          <a:xfrm>
            <a:off x="4380481"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2.13</a:t>
            </a:r>
            <a:endParaRPr sz="1662"/>
          </a:p>
        </p:txBody>
      </p:sp>
      <p:sp>
        <p:nvSpPr>
          <p:cNvPr id="2141" name="Google Shape;2141;h547f90b031e64a91_0_1235"/>
          <p:cNvSpPr txBox="1"/>
          <p:nvPr/>
        </p:nvSpPr>
        <p:spPr>
          <a:xfrm>
            <a:off x="1503100"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42" name="Google Shape;2142;h547f90b031e64a91_0_1235"/>
          <p:cNvSpPr/>
          <p:nvPr/>
        </p:nvSpPr>
        <p:spPr>
          <a:xfrm>
            <a:off x="3088984" y="5044932"/>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1.38</a:t>
            </a:r>
            <a:endParaRPr sz="1662"/>
          </a:p>
        </p:txBody>
      </p:sp>
      <p:sp>
        <p:nvSpPr>
          <p:cNvPr id="2143" name="Google Shape;2143;h547f90b031e64a91_0_1235"/>
          <p:cNvSpPr/>
          <p:nvPr/>
        </p:nvSpPr>
        <p:spPr>
          <a:xfrm>
            <a:off x="4380481" y="5044932"/>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0.28</a:t>
            </a:r>
            <a:endParaRPr sz="1662"/>
          </a:p>
        </p:txBody>
      </p:sp>
      <p:sp>
        <p:nvSpPr>
          <p:cNvPr id="2144" name="Google Shape;2144;h547f90b031e64a91_0_1235"/>
          <p:cNvSpPr txBox="1"/>
          <p:nvPr/>
        </p:nvSpPr>
        <p:spPr>
          <a:xfrm>
            <a:off x="1503100"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45" name="Google Shape;2145;h547f90b031e64a91_0_1235"/>
          <p:cNvSpPr/>
          <p:nvPr/>
        </p:nvSpPr>
        <p:spPr>
          <a:xfrm>
            <a:off x="3088984" y="5348813"/>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1.89</a:t>
            </a:r>
            <a:endParaRPr sz="1662"/>
          </a:p>
        </p:txBody>
      </p:sp>
      <p:sp>
        <p:nvSpPr>
          <p:cNvPr id="2146" name="Google Shape;2146;h547f90b031e64a91_0_1235"/>
          <p:cNvSpPr/>
          <p:nvPr/>
        </p:nvSpPr>
        <p:spPr>
          <a:xfrm>
            <a:off x="4380481" y="5348813"/>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0.67</a:t>
            </a:r>
            <a:endParaRPr sz="1662"/>
          </a:p>
        </p:txBody>
      </p:sp>
      <p:sp>
        <p:nvSpPr>
          <p:cNvPr id="2147" name="Google Shape;2147;h547f90b031e64a91_0_1235"/>
          <p:cNvSpPr txBox="1"/>
          <p:nvPr/>
        </p:nvSpPr>
        <p:spPr>
          <a:xfrm>
            <a:off x="1503100"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48" name="Google Shape;2148;h547f90b031e64a91_0_1235"/>
          <p:cNvSpPr/>
          <p:nvPr/>
        </p:nvSpPr>
        <p:spPr>
          <a:xfrm>
            <a:off x="3088984"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3.93</a:t>
            </a:r>
            <a:endParaRPr sz="1662"/>
          </a:p>
        </p:txBody>
      </p:sp>
      <p:sp>
        <p:nvSpPr>
          <p:cNvPr id="2149" name="Google Shape;2149;h547f90b031e64a91_0_1235"/>
          <p:cNvSpPr/>
          <p:nvPr/>
        </p:nvSpPr>
        <p:spPr>
          <a:xfrm>
            <a:off x="4380481"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3.64</a:t>
            </a:r>
            <a:endParaRPr sz="1662"/>
          </a:p>
        </p:txBody>
      </p:sp>
      <p:sp>
        <p:nvSpPr>
          <p:cNvPr id="2150" name="Google Shape;2150;h547f90b031e64a91_0_1235"/>
          <p:cNvSpPr/>
          <p:nvPr/>
        </p:nvSpPr>
        <p:spPr>
          <a:xfrm>
            <a:off x="6381200" y="3525525"/>
            <a:ext cx="48621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51" name="Google Shape;2151;h547f90b031e64a91_0_1235"/>
          <p:cNvSpPr txBox="1"/>
          <p:nvPr/>
        </p:nvSpPr>
        <p:spPr>
          <a:xfrm>
            <a:off x="6666084" y="3715451"/>
            <a:ext cx="42924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10 ONTOLOGY EXPERTS</a:t>
            </a:r>
            <a:endParaRPr sz="1662"/>
          </a:p>
        </p:txBody>
      </p:sp>
      <p:sp>
        <p:nvSpPr>
          <p:cNvPr id="2152" name="Google Shape;2152;h547f90b031e64a91_0_1235"/>
          <p:cNvSpPr txBox="1"/>
          <p:nvPr/>
        </p:nvSpPr>
        <p:spPr>
          <a:xfrm>
            <a:off x="6666084" y="3981347"/>
            <a:ext cx="42924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70% of rankings put RIGOR 1st</a:t>
            </a:r>
            <a:endParaRPr b="1" sz="2077">
              <a:solidFill>
                <a:srgbClr val="0B6E4F"/>
              </a:solidFill>
              <a:latin typeface="Calibri"/>
              <a:ea typeface="Calibri"/>
              <a:cs typeface="Calibri"/>
              <a:sym typeface="Calibri"/>
            </a:endParaRPr>
          </a:p>
        </p:txBody>
      </p:sp>
      <p:sp>
        <p:nvSpPr>
          <p:cNvPr id="2153" name="Google Shape;2153;h547f90b031e64a91_0_1235"/>
          <p:cNvSpPr txBox="1"/>
          <p:nvPr/>
        </p:nvSpPr>
        <p:spPr>
          <a:xfrm>
            <a:off x="8185493"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54" name="Google Shape;2154;h547f90b031e64a91_0_1235"/>
          <p:cNvSpPr txBox="1"/>
          <p:nvPr/>
        </p:nvSpPr>
        <p:spPr>
          <a:xfrm>
            <a:off x="9590946"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55" name="Google Shape;2155;h547f90b031e64a91_0_1235"/>
          <p:cNvSpPr txBox="1"/>
          <p:nvPr/>
        </p:nvSpPr>
        <p:spPr>
          <a:xfrm>
            <a:off x="6618603"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56" name="Google Shape;2156;h547f90b031e64a91_0_1235"/>
          <p:cNvSpPr/>
          <p:nvPr/>
        </p:nvSpPr>
        <p:spPr>
          <a:xfrm>
            <a:off x="8204486"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2.95</a:t>
            </a:r>
            <a:endParaRPr sz="1662"/>
          </a:p>
        </p:txBody>
      </p:sp>
      <p:sp>
        <p:nvSpPr>
          <p:cNvPr id="2157" name="Google Shape;2157;h547f90b031e64a91_0_1235"/>
          <p:cNvSpPr/>
          <p:nvPr/>
        </p:nvSpPr>
        <p:spPr>
          <a:xfrm>
            <a:off x="9609939"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2.59</a:t>
            </a:r>
            <a:endParaRPr sz="1662"/>
          </a:p>
        </p:txBody>
      </p:sp>
      <p:sp>
        <p:nvSpPr>
          <p:cNvPr id="2158" name="Google Shape;2158;h547f90b031e64a91_0_1235"/>
          <p:cNvSpPr txBox="1"/>
          <p:nvPr/>
        </p:nvSpPr>
        <p:spPr>
          <a:xfrm>
            <a:off x="6618603"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59" name="Google Shape;2159;h547f90b031e64a91_0_1235"/>
          <p:cNvSpPr/>
          <p:nvPr/>
        </p:nvSpPr>
        <p:spPr>
          <a:xfrm>
            <a:off x="8204486" y="5044932"/>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2.74</a:t>
            </a:r>
            <a:endParaRPr sz="1662"/>
          </a:p>
        </p:txBody>
      </p:sp>
      <p:sp>
        <p:nvSpPr>
          <p:cNvPr id="2160" name="Google Shape;2160;h547f90b031e64a91_0_1235"/>
          <p:cNvSpPr/>
          <p:nvPr/>
        </p:nvSpPr>
        <p:spPr>
          <a:xfrm>
            <a:off x="9609939" y="5044932"/>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3.01</a:t>
            </a:r>
            <a:endParaRPr sz="1662"/>
          </a:p>
        </p:txBody>
      </p:sp>
      <p:sp>
        <p:nvSpPr>
          <p:cNvPr id="2161" name="Google Shape;2161;h547f90b031e64a91_0_1235"/>
          <p:cNvSpPr txBox="1"/>
          <p:nvPr/>
        </p:nvSpPr>
        <p:spPr>
          <a:xfrm>
            <a:off x="6618603"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62" name="Google Shape;2162;h547f90b031e64a91_0_1235"/>
          <p:cNvSpPr/>
          <p:nvPr/>
        </p:nvSpPr>
        <p:spPr>
          <a:xfrm>
            <a:off x="8204486" y="5348813"/>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2.39</a:t>
            </a:r>
            <a:endParaRPr sz="1662"/>
          </a:p>
        </p:txBody>
      </p:sp>
      <p:sp>
        <p:nvSpPr>
          <p:cNvPr id="2163" name="Google Shape;2163;h547f90b031e64a91_0_1235"/>
          <p:cNvSpPr/>
          <p:nvPr/>
        </p:nvSpPr>
        <p:spPr>
          <a:xfrm>
            <a:off x="9609939" y="5348813"/>
            <a:ext cx="1367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1.24</a:t>
            </a:r>
            <a:endParaRPr sz="1662"/>
          </a:p>
        </p:txBody>
      </p:sp>
      <p:sp>
        <p:nvSpPr>
          <p:cNvPr id="2164" name="Google Shape;2164;h547f90b031e64a91_0_1235"/>
          <p:cNvSpPr txBox="1"/>
          <p:nvPr/>
        </p:nvSpPr>
        <p:spPr>
          <a:xfrm>
            <a:off x="6618603"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65" name="Google Shape;2165;h547f90b031e64a91_0_1235"/>
          <p:cNvSpPr/>
          <p:nvPr/>
        </p:nvSpPr>
        <p:spPr>
          <a:xfrm>
            <a:off x="8204486" y="5652694"/>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3.44</a:t>
            </a:r>
            <a:endParaRPr sz="1662"/>
          </a:p>
        </p:txBody>
      </p:sp>
      <p:sp>
        <p:nvSpPr>
          <p:cNvPr id="2166" name="Google Shape;2166;h547f90b031e64a91_0_1235"/>
          <p:cNvSpPr/>
          <p:nvPr/>
        </p:nvSpPr>
        <p:spPr>
          <a:xfrm>
            <a:off x="9609939" y="5652694"/>
            <a:ext cx="1367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3.53</a:t>
            </a:r>
            <a:endParaRPr sz="1662"/>
          </a:p>
        </p:txBody>
      </p:sp>
      <p:sp>
        <p:nvSpPr>
          <p:cNvPr id="2167" name="Google Shape;2167;h547f90b031e64a91_0_1235"/>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5B6770"/>
                </a:solidFill>
                <a:latin typeface="Calibri"/>
                <a:ea typeface="Calibri"/>
                <a:cs typeface="Calibri"/>
                <a:sym typeface="Calibri"/>
              </a:rPr>
              <a:t>Quality dimensions: accuracy, completeness, conciseness, adaptability, clarity, consistency, </a:t>
            </a:r>
            <a:r>
              <a:rPr lang="en-US" sz="1000">
                <a:solidFill>
                  <a:srgbClr val="5B6770"/>
                </a:solidFill>
                <a:latin typeface="Calibri"/>
                <a:ea typeface="Calibri"/>
                <a:cs typeface="Calibri"/>
                <a:sym typeface="Calibri"/>
              </a:rPr>
              <a:t>domain enrichment </a:t>
            </a:r>
            <a:r>
              <a:rPr lang="en-US" sz="1000">
                <a:solidFill>
                  <a:srgbClr val="5B6770"/>
                </a:solidFill>
                <a:latin typeface="Calibri"/>
                <a:ea typeface="Calibri"/>
                <a:cs typeface="Calibri"/>
                <a:sym typeface="Calibri"/>
              </a:rPr>
              <a:t>[Vrandečić, Handbook on Ontologies 2009; OntoQA: Tartir et al., KADASH 2005].</a:t>
            </a:r>
            <a:endParaRPr/>
          </a:p>
        </p:txBody>
      </p:sp>
      <p:sp>
        <p:nvSpPr>
          <p:cNvPr id="2168" name="Slide number 216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18</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h547f90b031e64a91_0_992"/>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74" name="Google Shape;2174;h547f90b031e64a91_0_992"/>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Move the evaluation tools in the loop </a:t>
            </a:r>
            <a:endParaRPr b="0" i="0" sz="1400" u="none" cap="none" strike="noStrike">
              <a:solidFill>
                <a:srgbClr val="000000"/>
              </a:solidFill>
              <a:latin typeface="Arial"/>
              <a:ea typeface="Arial"/>
              <a:cs typeface="Arial"/>
              <a:sym typeface="Arial"/>
            </a:endParaRPr>
          </a:p>
        </p:txBody>
      </p:sp>
      <p:sp>
        <p:nvSpPr>
          <p:cNvPr id="2175" name="Google Shape;2175;h547f90b031e64a91_0_992"/>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FFFFFF"/>
                </a:solidFill>
                <a:latin typeface="Calibri"/>
                <a:ea typeface="Calibri"/>
                <a:cs typeface="Calibri"/>
                <a:sym typeface="Calibri"/>
              </a:rPr>
              <a:t>→ Live in our RIGOR App demo. </a:t>
            </a:r>
            <a:endParaRPr b="1" sz="1600">
              <a:solidFill>
                <a:srgbClr val="FFFFFF"/>
              </a:solidFill>
              <a:latin typeface="Calibri"/>
              <a:ea typeface="Calibri"/>
              <a:cs typeface="Calibri"/>
              <a:sym typeface="Calibri"/>
            </a:endParaRPr>
          </a:p>
        </p:txBody>
      </p:sp>
      <p:sp>
        <p:nvSpPr>
          <p:cNvPr id="2176" name="Slide number 217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0" name="Shape 2180"/>
        <p:cNvGrpSpPr/>
        <p:nvPr/>
      </p:nvGrpSpPr>
      <p:grpSpPr>
        <a:xfrm>
          <a:off x="0" y="0"/>
          <a:ext cx="0" cy="0"/>
          <a:chOff x="0" y="0"/>
          <a:chExt cx="0" cy="0"/>
        </a:xfrm>
      </p:grpSpPr>
      <p:sp>
        <p:nvSpPr>
          <p:cNvPr id="2181" name="Google Shape;2181;h547f90b031e64a91_0_999"/>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82" name="Google Shape;2182;h547f90b031e64a91_0_999"/>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a:t>
            </a:r>
            <a:r>
              <a:rPr b="1" lang="en-US" sz="3000">
                <a:solidFill>
                  <a:srgbClr val="1F2328"/>
                </a:solidFill>
                <a:latin typeface="Cambria"/>
                <a:ea typeface="Cambria"/>
                <a:cs typeface="Cambria"/>
                <a:sym typeface="Cambria"/>
              </a:rPr>
              <a:t> Move the evaluation tools in the loop</a:t>
            </a:r>
            <a:r>
              <a:rPr b="1" i="0" lang="en-US" sz="3000" u="none" cap="none" strike="noStrike">
                <a:solidFill>
                  <a:srgbClr val="1F2328"/>
                </a:solidFill>
                <a:latin typeface="Cambria"/>
                <a:ea typeface="Cambria"/>
                <a:cs typeface="Cambria"/>
                <a:sym typeface="Cambria"/>
              </a:rPr>
              <a:t> </a:t>
            </a:r>
            <a:endParaRPr b="0" i="0" sz="1400" u="none" cap="none" strike="noStrike">
              <a:solidFill>
                <a:srgbClr val="000000"/>
              </a:solidFill>
              <a:latin typeface="Arial"/>
              <a:ea typeface="Arial"/>
              <a:cs typeface="Arial"/>
              <a:sym typeface="Arial"/>
            </a:endParaRPr>
          </a:p>
        </p:txBody>
      </p:sp>
      <p:pic>
        <p:nvPicPr>
          <p:cNvPr id="2183" name="Google Shape;2183;h547f90b031e64a91_0_999" title="Rigor Ontology Validation Dashboard.png"/>
          <p:cNvPicPr preferRelativeResize="0"/>
          <p:nvPr/>
        </p:nvPicPr>
        <p:blipFill>
          <a:blip r:embed="rId3">
            <a:alphaModFix/>
          </a:blip>
          <a:stretch>
            <a:fillRect/>
          </a:stretch>
        </p:blipFill>
        <p:spPr>
          <a:xfrm>
            <a:off x="1780550" y="2887950"/>
            <a:ext cx="6194192" cy="3486085"/>
          </a:xfrm>
          <a:prstGeom prst="rect">
            <a:avLst/>
          </a:prstGeom>
          <a:noFill/>
          <a:ln>
            <a:noFill/>
          </a:ln>
          <a:effectLst>
            <a:outerShdw blurRad="48058" rotWithShape="0" algn="bl" dir="5400000" dist="16019">
              <a:srgbClr val="000000">
                <a:alpha val="50000"/>
              </a:srgbClr>
            </a:outerShdw>
          </a:effectLst>
        </p:spPr>
      </p:pic>
      <p:sp>
        <p:nvSpPr>
          <p:cNvPr id="2184" name="Google Shape;2184;h547f90b031e64a91_0_999"/>
          <p:cNvSpPr/>
          <p:nvPr/>
        </p:nvSpPr>
        <p:spPr>
          <a:xfrm>
            <a:off x="8400692" y="4723731"/>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demo video on YouTube" id="2185" name="Google Shape;2185;h547f90b031e64a91_0_999"/>
          <p:cNvPicPr preferRelativeResize="0"/>
          <p:nvPr/>
        </p:nvPicPr>
        <p:blipFill rotWithShape="1">
          <a:blip r:embed="rId4">
            <a:alphaModFix/>
          </a:blip>
          <a:srcRect b="0" l="0" r="0" t="0"/>
          <a:stretch/>
        </p:blipFill>
        <p:spPr>
          <a:xfrm>
            <a:off x="8454091" y="4777129"/>
            <a:ext cx="1185600" cy="1185600"/>
          </a:xfrm>
          <a:prstGeom prst="roundRect">
            <a:avLst>
              <a:gd fmla="val 3604" name="adj"/>
            </a:avLst>
          </a:prstGeom>
          <a:noFill/>
          <a:ln>
            <a:noFill/>
          </a:ln>
        </p:spPr>
      </p:pic>
      <p:sp>
        <p:nvSpPr>
          <p:cNvPr id="2186" name="Google Shape;2186;h547f90b031e64a91_0_999"/>
          <p:cNvSpPr/>
          <p:nvPr/>
        </p:nvSpPr>
        <p:spPr>
          <a:xfrm>
            <a:off x="8148069" y="6181496"/>
            <a:ext cx="17976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Watch the demo video</a:t>
            </a:r>
            <a:endParaRPr b="0" i="0" sz="1093" u="none" cap="none" strike="noStrike">
              <a:solidFill>
                <a:srgbClr val="0E193A"/>
              </a:solidFill>
              <a:latin typeface="Inter"/>
              <a:ea typeface="Inter"/>
              <a:cs typeface="Inter"/>
              <a:sym typeface="Inter"/>
            </a:endParaRPr>
          </a:p>
        </p:txBody>
      </p:sp>
      <p:sp>
        <p:nvSpPr>
          <p:cNvPr id="2187" name="Google Shape;2187;h547f90b031e64a91_0_999"/>
          <p:cNvSpPr/>
          <p:nvPr/>
        </p:nvSpPr>
        <p:spPr>
          <a:xfrm>
            <a:off x="8400671" y="2959033"/>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GitHub repository" id="2188" name="Google Shape;2188;h547f90b031e64a91_0_999"/>
          <p:cNvPicPr preferRelativeResize="0"/>
          <p:nvPr/>
        </p:nvPicPr>
        <p:blipFill rotWithShape="1">
          <a:blip r:embed="rId5">
            <a:alphaModFix/>
          </a:blip>
          <a:srcRect b="0" l="0" r="0" t="0"/>
          <a:stretch/>
        </p:blipFill>
        <p:spPr>
          <a:xfrm>
            <a:off x="8454069" y="3012431"/>
            <a:ext cx="1185600" cy="1185600"/>
          </a:xfrm>
          <a:prstGeom prst="roundRect">
            <a:avLst>
              <a:gd fmla="val 3604" name="adj"/>
            </a:avLst>
          </a:prstGeom>
          <a:noFill/>
          <a:ln>
            <a:noFill/>
          </a:ln>
        </p:spPr>
      </p:pic>
      <p:sp>
        <p:nvSpPr>
          <p:cNvPr id="2189" name="Google Shape;2189;h547f90b031e64a91_0_999"/>
          <p:cNvSpPr/>
          <p:nvPr/>
        </p:nvSpPr>
        <p:spPr>
          <a:xfrm>
            <a:off x="8309644" y="4416798"/>
            <a:ext cx="14742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Open source · MIT</a:t>
            </a:r>
            <a:endParaRPr b="0" i="0" sz="1093" u="none" cap="none" strike="noStrike">
              <a:solidFill>
                <a:srgbClr val="0E193A"/>
              </a:solidFill>
              <a:latin typeface="Inter"/>
              <a:ea typeface="Inter"/>
              <a:cs typeface="Inter"/>
              <a:sym typeface="Inter"/>
            </a:endParaRPr>
          </a:p>
        </p:txBody>
      </p:sp>
      <p:sp>
        <p:nvSpPr>
          <p:cNvPr id="2190" name="Google Shape;2190;h547f90b031e64a91_0_999"/>
          <p:cNvSpPr txBox="1"/>
          <p:nvPr/>
        </p:nvSpPr>
        <p:spPr>
          <a:xfrm>
            <a:off x="1780561" y="6375831"/>
            <a:ext cx="5283300" cy="310500"/>
          </a:xfrm>
          <a:prstGeom prst="rect">
            <a:avLst/>
          </a:prstGeom>
          <a:noFill/>
          <a:ln>
            <a:noFill/>
          </a:ln>
        </p:spPr>
        <p:txBody>
          <a:bodyPr anchorCtr="0" anchor="t" bIns="76875" lIns="76875" spcFirstLastPara="1" rIns="76875" wrap="square" tIns="76875">
            <a:spAutoFit/>
          </a:bodyPr>
          <a:lstStyle/>
          <a:p>
            <a:pPr indent="0" lvl="0" marL="0" rtl="0" algn="l">
              <a:spcBef>
                <a:spcPts val="0"/>
              </a:spcBef>
              <a:spcAft>
                <a:spcPts val="0"/>
              </a:spcAft>
              <a:buNone/>
            </a:pPr>
            <a:r>
              <a:rPr b="1" lang="en-US" sz="1009">
                <a:solidFill>
                  <a:srgbClr val="1F2328"/>
                </a:solidFill>
                <a:latin typeface="Calibri"/>
                <a:ea typeface="Calibri"/>
                <a:cs typeface="Calibri"/>
                <a:sym typeface="Calibri"/>
              </a:rPr>
              <a:t>RIGOR App</a:t>
            </a:r>
            <a:r>
              <a:rPr lang="en-US" sz="1009">
                <a:solidFill>
                  <a:srgbClr val="5B6770"/>
                </a:solidFill>
                <a:latin typeface="Calibri"/>
                <a:ea typeface="Calibri"/>
                <a:cs typeface="Calibri"/>
                <a:sym typeface="Calibri"/>
              </a:rPr>
              <a:t> [Fathallah, Nayyeri &amp; Staab, ISWC 2026 Demos].</a:t>
            </a:r>
            <a:endParaRPr sz="1009"/>
          </a:p>
        </p:txBody>
      </p:sp>
      <p:sp>
        <p:nvSpPr>
          <p:cNvPr id="2191" name="Google Shape;2191;h547f90b031e64a91_0_999"/>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3A434C"/>
                </a:solidFill>
                <a:latin typeface="Calibri"/>
                <a:ea typeface="Calibri"/>
                <a:cs typeface="Calibri"/>
                <a:sym typeface="Calibri"/>
              </a:rPr>
              <a:t>→ Live in our RIGOR App demo. </a:t>
            </a:r>
            <a:endParaRPr b="1" sz="1600">
              <a:solidFill>
                <a:srgbClr val="0B6E4F"/>
              </a:solidFill>
              <a:latin typeface="Calibri"/>
              <a:ea typeface="Calibri"/>
              <a:cs typeface="Calibri"/>
              <a:sym typeface="Calibri"/>
            </a:endParaRPr>
          </a:p>
        </p:txBody>
      </p:sp>
      <p:sp>
        <p:nvSpPr>
          <p:cNvPr id="2192" name="Slide number 219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6" name="Shape 2196"/>
        <p:cNvGrpSpPr/>
        <p:nvPr/>
      </p:nvGrpSpPr>
      <p:grpSpPr>
        <a:xfrm>
          <a:off x="0" y="0"/>
          <a:ext cx="0" cy="0"/>
          <a:chOff x="0" y="0"/>
          <a:chExt cx="0" cy="0"/>
        </a:xfrm>
      </p:grpSpPr>
      <p:sp>
        <p:nvSpPr>
          <p:cNvPr id="2197" name="Google Shape;2197;h547f90b031e64a91_0_1298"/>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198" name="Google Shape;2198;h547f90b031e64a91_0_1298"/>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199" name="Google Shape;2199;h547f90b031e64a91_0_1298"/>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00" name="Google Shape;2200;h547f90b031e64a91_0_1298"/>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1" name="Google Shape;2201;h547f90b031e64a91_0_1298"/>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02" name="Google Shape;2202;h547f90b031e64a91_0_1298"/>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03" name="Google Shape;2203;h547f90b031e64a91_0_1298"/>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4" name="Google Shape;2204;h547f90b031e64a91_0_1298"/>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05" name="Google Shape;2205;h547f90b031e64a91_0_1298"/>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6" name="Google Shape;2206;h547f90b031e64a91_0_1298"/>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07" name="Google Shape;2207;h547f90b031e64a91_0_1298"/>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08" name="Google Shape;2208;h547f90b031e64a91_0_1298"/>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9" name="Google Shape;2209;h547f90b031e64a91_0_1298"/>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10" name="Google Shape;2210;h547f90b031e64a91_0_1298"/>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1" name="Google Shape;2211;h547f90b031e64a91_0_1298"/>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12" name="Google Shape;2212;h547f90b031e64a91_0_1298"/>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13" name="Google Shape;2213;h547f90b031e64a91_0_1298"/>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4" name="Google Shape;2214;h547f90b031e64a91_0_1298"/>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15" name="Google Shape;2215;h547f90b031e64a91_0_1298"/>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6" name="Google Shape;2216;h547f90b031e64a91_0_1298"/>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7" name="Google Shape;2217;h547f90b031e64a91_0_1298"/>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18" name="Google Shape;2218;h547f90b031e64a91_0_1298"/>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9" name="Google Shape;2219;h547f90b031e64a91_0_1298"/>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20" name="Google Shape;2220;h547f90b031e64a91_0_1298"/>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21" name="Google Shape;2221;h547f90b031e64a91_0_1298"/>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22" name="Google Shape;2222;h547f90b031e64a91_0_1298"/>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3" name="Google Shape;2223;h547f90b031e64a91_0_1298"/>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24" name="Google Shape;2224;h547f90b031e64a91_0_1298"/>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25" name="Google Shape;2225;h547f90b031e64a91_0_1298"/>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26" name="Google Shape;2226;h547f90b031e64a91_0_1298"/>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27" name="Google Shape;2227;h547f90b031e64a91_0_1298"/>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28" name="Google Shape;2228;h547f90b031e64a91_0_1298"/>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29" name="Google Shape;2229;h547f90b031e64a91_0_1298"/>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0" name="Google Shape;2230;h547f90b031e64a91_0_1298"/>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31" name="Google Shape;2231;h547f90b031e64a91_0_1298"/>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32" name="Google Shape;2232;h547f90b031e64a91_0_1298"/>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33" name="Slide number 223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h547f90b031e64a91_0_1373"/>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239" name="Google Shape;2239;h547f90b031e64a91_0_1373"/>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240" name="Google Shape;2240;h547f90b031e64a91_0_1373"/>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41" name="Google Shape;2241;h547f90b031e64a91_0_1373"/>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2" name="Google Shape;2242;h547f90b031e64a91_0_1373"/>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43" name="Google Shape;2243;h547f90b031e64a91_0_1373"/>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44" name="Google Shape;2244;h547f90b031e64a91_0_1373"/>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5" name="Google Shape;2245;h547f90b031e64a91_0_1373"/>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46" name="Google Shape;2246;h547f90b031e64a91_0_1373"/>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7" name="Google Shape;2247;h547f90b031e64a91_0_1373"/>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48" name="Google Shape;2248;h547f90b031e64a91_0_1373"/>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49" name="Google Shape;2249;h547f90b031e64a91_0_1373"/>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0" name="Google Shape;2250;h547f90b031e64a91_0_1373"/>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51" name="Google Shape;2251;h547f90b031e64a91_0_1373"/>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2" name="Google Shape;2252;h547f90b031e64a91_0_1373"/>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53" name="Google Shape;2253;h547f90b031e64a91_0_1373"/>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54" name="Google Shape;2254;h547f90b031e64a91_0_1373"/>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5" name="Google Shape;2255;h547f90b031e64a91_0_1373"/>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56" name="Google Shape;2256;h547f90b031e64a91_0_1373"/>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7" name="Google Shape;2257;h547f90b031e64a91_0_1373"/>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8" name="Google Shape;2258;h547f90b031e64a91_0_1373"/>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59" name="Google Shape;2259;h547f90b031e64a91_0_1373"/>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0" name="Google Shape;2260;h547f90b031e64a91_0_1373"/>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61" name="Google Shape;2261;h547f90b031e64a91_0_1373"/>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62" name="Google Shape;2262;h547f90b031e64a91_0_1373"/>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63" name="Google Shape;2263;h547f90b031e64a91_0_1373"/>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4" name="Google Shape;2264;h547f90b031e64a91_0_1373"/>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65" name="Google Shape;2265;h547f90b031e64a91_0_1373"/>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66" name="Google Shape;2266;h547f90b031e64a91_0_1373"/>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67" name="Google Shape;2267;h547f90b031e64a91_0_1373"/>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68" name="Google Shape;2268;h547f90b031e64a91_0_1373"/>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69" name="Google Shape;2269;h547f90b031e64a91_0_1373"/>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70" name="Google Shape;2270;h547f90b031e64a91_0_1373"/>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1" name="Google Shape;2271;h547f90b031e64a91_0_1373"/>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72" name="Google Shape;2272;h547f90b031e64a91_0_1373"/>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73" name="Google Shape;2273;h547f90b031e64a91_0_1373"/>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74" name="Google Shape;2274;h547f90b031e64a91_0_1373"/>
          <p:cNvSpPr/>
          <p:nvPr/>
        </p:nvSpPr>
        <p:spPr>
          <a:xfrm>
            <a:off x="4379976" y="2304288"/>
            <a:ext cx="30174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5" name="Google Shape;2275;h547f90b031e64a91_0_1373"/>
          <p:cNvSpPr txBox="1"/>
          <p:nvPr/>
        </p:nvSpPr>
        <p:spPr>
          <a:xfrm>
            <a:off x="4608576" y="2468880"/>
            <a:ext cx="256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THE PATTERN</a:t>
            </a:r>
            <a:endParaRPr/>
          </a:p>
        </p:txBody>
      </p:sp>
      <p:sp>
        <p:nvSpPr>
          <p:cNvPr id="2276" name="Google Shape;2276;h547f90b031e64a91_0_1373"/>
          <p:cNvSpPr txBox="1"/>
          <p:nvPr/>
        </p:nvSpPr>
        <p:spPr>
          <a:xfrm>
            <a:off x="4608576" y="27432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what the joined rows show</a:t>
            </a:r>
            <a:endParaRPr/>
          </a:p>
        </p:txBody>
      </p:sp>
      <p:sp>
        <p:nvSpPr>
          <p:cNvPr id="2277" name="Google Shape;2277;h547f90b031e64a91_0_1373"/>
          <p:cNvSpPr txBox="1"/>
          <p:nvPr/>
        </p:nvSpPr>
        <p:spPr>
          <a:xfrm>
            <a:off x="4608576" y="3081528"/>
            <a:ext cx="25602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Every cisplatin admission has bone marrow depression.</a:t>
            </a:r>
            <a:endParaRPr/>
          </a:p>
        </p:txBody>
      </p:sp>
      <p:sp>
        <p:nvSpPr>
          <p:cNvPr id="2278" name="Google Shape;2278;h547f90b031e64a91_0_1373"/>
          <p:cNvSpPr txBox="1"/>
          <p:nvPr/>
        </p:nvSpPr>
        <p:spPr>
          <a:xfrm>
            <a:off x="4608576" y="3995928"/>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cisplatin</a:t>
            </a:r>
            <a:endParaRPr/>
          </a:p>
        </p:txBody>
      </p:sp>
      <p:sp>
        <p:nvSpPr>
          <p:cNvPr id="2279" name="Google Shape;2279;h547f90b031e64a91_0_1373"/>
          <p:cNvSpPr/>
          <p:nvPr/>
        </p:nvSpPr>
        <p:spPr>
          <a:xfrm>
            <a:off x="5797296" y="4087368"/>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0" name="Google Shape;2280;h547f90b031e64a91_0_1373"/>
          <p:cNvSpPr/>
          <p:nvPr/>
        </p:nvSpPr>
        <p:spPr>
          <a:xfrm>
            <a:off x="5797296" y="4087368"/>
            <a:ext cx="777300" cy="137100"/>
          </a:xfrm>
          <a:prstGeom prst="rect">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1" name="Google Shape;2281;h547f90b031e64a91_0_1373"/>
          <p:cNvSpPr txBox="1"/>
          <p:nvPr/>
        </p:nvSpPr>
        <p:spPr>
          <a:xfrm>
            <a:off x="6620256" y="3995928"/>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2 of 2</a:t>
            </a:r>
            <a:endParaRPr/>
          </a:p>
        </p:txBody>
      </p:sp>
      <p:sp>
        <p:nvSpPr>
          <p:cNvPr id="2282" name="Google Shape;2282;h547f90b031e64a91_0_1373"/>
          <p:cNvSpPr txBox="1"/>
          <p:nvPr/>
        </p:nvSpPr>
        <p:spPr>
          <a:xfrm>
            <a:off x="4608576" y="4398264"/>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other drugs</a:t>
            </a:r>
            <a:endParaRPr/>
          </a:p>
        </p:txBody>
      </p:sp>
      <p:sp>
        <p:nvSpPr>
          <p:cNvPr id="2283" name="Google Shape;2283;h547f90b031e64a91_0_1373"/>
          <p:cNvSpPr/>
          <p:nvPr/>
        </p:nvSpPr>
        <p:spPr>
          <a:xfrm>
            <a:off x="5797296" y="4489704"/>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4" name="Google Shape;2284;h547f90b031e64a91_0_1373"/>
          <p:cNvSpPr txBox="1"/>
          <p:nvPr/>
        </p:nvSpPr>
        <p:spPr>
          <a:xfrm>
            <a:off x="6620256" y="4398264"/>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3A434C"/>
                </a:solidFill>
                <a:latin typeface="Calibri"/>
                <a:ea typeface="Calibri"/>
                <a:cs typeface="Calibri"/>
                <a:sym typeface="Calibri"/>
              </a:rPr>
              <a:t>0 of 1</a:t>
            </a:r>
            <a:endParaRPr/>
          </a:p>
        </p:txBody>
      </p:sp>
      <p:sp>
        <p:nvSpPr>
          <p:cNvPr id="2285" name="Google Shape;2285;h547f90b031e64a91_0_1373"/>
          <p:cNvSpPr txBox="1"/>
          <p:nvPr/>
        </p:nvSpPr>
        <p:spPr>
          <a:xfrm>
            <a:off x="4608576" y="48006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admissions with BM_DEP = 1</a:t>
            </a:r>
            <a:endParaRPr/>
          </a:p>
        </p:txBody>
      </p:sp>
      <p:sp>
        <p:nvSpPr>
          <p:cNvPr id="2286" name="Google Shape;2286;h547f90b031e64a91_0_1373"/>
          <p:cNvSpPr/>
          <p:nvPr/>
        </p:nvSpPr>
        <p:spPr>
          <a:xfrm>
            <a:off x="7726679" y="2304288"/>
            <a:ext cx="36576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7" name="Google Shape;2287;h547f90b031e64a91_0_1373"/>
          <p:cNvSpPr txBox="1"/>
          <p:nvPr/>
        </p:nvSpPr>
        <p:spPr>
          <a:xfrm>
            <a:off x="7955279" y="2468880"/>
            <a:ext cx="3200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3  CANDIDATE KNOWLEDGE</a:t>
            </a:r>
            <a:endParaRPr/>
          </a:p>
        </p:txBody>
      </p:sp>
      <p:sp>
        <p:nvSpPr>
          <p:cNvPr id="2288" name="Google Shape;2288;h547f90b031e64a91_0_1373"/>
          <p:cNvSpPr txBox="1"/>
          <p:nvPr/>
        </p:nvSpPr>
        <p:spPr>
          <a:xfrm>
            <a:off x="7955279" y="2743200"/>
            <a:ext cx="3200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50" u="none" cap="none" strike="noStrike">
                <a:solidFill>
                  <a:srgbClr val="5B6770"/>
                </a:solidFill>
                <a:latin typeface="Calibri"/>
                <a:ea typeface="Calibri"/>
                <a:cs typeface="Calibri"/>
                <a:sym typeface="Calibri"/>
              </a:rPr>
              <a:t>A reviewable hypothesis</a:t>
            </a:r>
            <a:endParaRPr/>
          </a:p>
        </p:txBody>
      </p:sp>
      <p:sp>
        <p:nvSpPr>
          <p:cNvPr id="2289" name="Google Shape;2289;h547f90b031e64a91_0_1373"/>
          <p:cNvSpPr/>
          <p:nvPr/>
        </p:nvSpPr>
        <p:spPr>
          <a:xfrm>
            <a:off x="7863840" y="3108960"/>
            <a:ext cx="3383400" cy="19797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0" name="Google Shape;2290;h547f90b031e64a91_0_1373"/>
          <p:cNvSpPr txBox="1"/>
          <p:nvPr/>
        </p:nvSpPr>
        <p:spPr>
          <a:xfrm>
            <a:off x="7863840" y="31729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Individual:</a:t>
            </a:r>
            <a:r>
              <a:rPr b="0" i="0" lang="en-US" sz="1100" u="none" cap="none" strike="noStrike">
                <a:solidFill>
                  <a:srgbClr val="1F2328"/>
                </a:solidFill>
                <a:latin typeface="Consolas"/>
                <a:ea typeface="Consolas"/>
                <a:cs typeface="Consolas"/>
                <a:sym typeface="Consolas"/>
              </a:rPr>
              <a:t> cisplatin_bmdep</a:t>
            </a:r>
            <a:endParaRPr b="0" i="0" sz="1100" u="none" cap="none" strike="noStrike">
              <a:solidFill>
                <a:srgbClr val="000000"/>
              </a:solidFill>
              <a:latin typeface="Arial"/>
              <a:ea typeface="Arial"/>
              <a:cs typeface="Arial"/>
              <a:sym typeface="Arial"/>
            </a:endParaRPr>
          </a:p>
        </p:txBody>
      </p:sp>
      <p:sp>
        <p:nvSpPr>
          <p:cNvPr id="2291" name="Google Shape;2291;h547f90b031e64a91_0_1373"/>
          <p:cNvSpPr txBox="1"/>
          <p:nvPr/>
        </p:nvSpPr>
        <p:spPr>
          <a:xfrm>
            <a:off x="7863840" y="33787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Types:</a:t>
            </a:r>
            <a:r>
              <a:rPr b="0" i="0" lang="en-US" sz="1100" u="none" cap="none" strike="noStrike">
                <a:solidFill>
                  <a:srgbClr val="1F2328"/>
                </a:solidFill>
                <a:latin typeface="Consolas"/>
                <a:ea typeface="Consolas"/>
                <a:cs typeface="Consolas"/>
                <a:sym typeface="Consolas"/>
              </a:rPr>
              <a:t> CandidateAssociation</a:t>
            </a:r>
            <a:endParaRPr b="0" i="0" sz="1100" u="none" cap="none" strike="noStrike">
              <a:solidFill>
                <a:srgbClr val="000000"/>
              </a:solidFill>
              <a:latin typeface="Arial"/>
              <a:ea typeface="Arial"/>
              <a:cs typeface="Arial"/>
              <a:sym typeface="Arial"/>
            </a:endParaRPr>
          </a:p>
        </p:txBody>
      </p:sp>
      <p:sp>
        <p:nvSpPr>
          <p:cNvPr id="2292" name="Google Shape;2292;h547f90b031e64a91_0_1373"/>
          <p:cNvSpPr txBox="1"/>
          <p:nvPr/>
        </p:nvSpPr>
        <p:spPr>
          <a:xfrm>
            <a:off x="7863840" y="35844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Facts:</a:t>
            </a:r>
            <a:endParaRPr b="0" i="0" sz="1100" u="none" cap="none" strike="noStrike">
              <a:solidFill>
                <a:srgbClr val="000000"/>
              </a:solidFill>
              <a:latin typeface="Arial"/>
              <a:ea typeface="Arial"/>
              <a:cs typeface="Arial"/>
              <a:sym typeface="Arial"/>
            </a:endParaRPr>
          </a:p>
        </p:txBody>
      </p:sp>
      <p:sp>
        <p:nvSpPr>
          <p:cNvPr id="2293" name="Google Shape;2293;h547f90b031e64a91_0_1373"/>
          <p:cNvSpPr txBox="1"/>
          <p:nvPr/>
        </p:nvSpPr>
        <p:spPr>
          <a:xfrm>
            <a:off x="7863840" y="3790187"/>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hasDrug Cisplatin,</a:t>
            </a:r>
            <a:endParaRPr b="0" i="0" sz="1100" u="none" cap="none" strike="noStrike">
              <a:solidFill>
                <a:srgbClr val="000000"/>
              </a:solidFill>
              <a:latin typeface="Arial"/>
              <a:ea typeface="Arial"/>
              <a:cs typeface="Arial"/>
              <a:sym typeface="Arial"/>
            </a:endParaRPr>
          </a:p>
        </p:txBody>
      </p:sp>
      <p:sp>
        <p:nvSpPr>
          <p:cNvPr id="2294" name="Google Shape;2294;h547f90b031e64a91_0_1373"/>
          <p:cNvSpPr txBox="1"/>
          <p:nvPr/>
        </p:nvSpPr>
        <p:spPr>
          <a:xfrm>
            <a:off x="7863840" y="399592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hasCondition BoneMarrowDepression,</a:t>
            </a:r>
            <a:endParaRPr b="0" i="0" sz="1100" u="none" cap="none" strike="noStrike">
              <a:solidFill>
                <a:srgbClr val="000000"/>
              </a:solidFill>
              <a:latin typeface="Arial"/>
              <a:ea typeface="Arial"/>
              <a:cs typeface="Arial"/>
              <a:sym typeface="Arial"/>
            </a:endParaRPr>
          </a:p>
        </p:txBody>
      </p:sp>
      <p:sp>
        <p:nvSpPr>
          <p:cNvPr id="2295" name="Google Shape;2295;h547f90b031e64a91_0_1373"/>
          <p:cNvSpPr txBox="1"/>
          <p:nvPr/>
        </p:nvSpPr>
        <p:spPr>
          <a:xfrm>
            <a:off x="7863840" y="42016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status </a:t>
            </a:r>
            <a:r>
              <a:rPr b="0" i="0" lang="en-US" sz="1100" u="none" cap="none" strike="noStrike">
                <a:solidFill>
                  <a:srgbClr val="A3401E"/>
                </a:solidFill>
                <a:latin typeface="Consolas"/>
                <a:ea typeface="Consolas"/>
                <a:cs typeface="Consolas"/>
                <a:sym typeface="Consolas"/>
              </a:rPr>
              <a:t>"needs expert review"</a:t>
            </a:r>
            <a:endParaRPr b="0" i="0" sz="1100" u="none" cap="none" strike="noStrike">
              <a:solidFill>
                <a:srgbClr val="000000"/>
              </a:solidFill>
              <a:latin typeface="Arial"/>
              <a:ea typeface="Arial"/>
              <a:cs typeface="Arial"/>
              <a:sym typeface="Arial"/>
            </a:endParaRPr>
          </a:p>
        </p:txBody>
      </p:sp>
      <p:sp>
        <p:nvSpPr>
          <p:cNvPr id="2296" name="Google Shape;2296;h547f90b031e64a91_0_1373"/>
          <p:cNvSpPr txBox="1"/>
          <p:nvPr/>
        </p:nvSpPr>
        <p:spPr>
          <a:xfrm>
            <a:off x="7863840" y="44074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Annotations:</a:t>
            </a:r>
            <a:endParaRPr b="0" i="0" sz="1100" u="none" cap="none" strike="noStrike">
              <a:solidFill>
                <a:srgbClr val="000000"/>
              </a:solidFill>
              <a:latin typeface="Arial"/>
              <a:ea typeface="Arial"/>
              <a:cs typeface="Arial"/>
              <a:sym typeface="Arial"/>
            </a:endParaRPr>
          </a:p>
        </p:txBody>
      </p:sp>
      <p:sp>
        <p:nvSpPr>
          <p:cNvPr id="2297" name="Google Shape;2297;h547f90b031e64a91_0_1373"/>
          <p:cNvSpPr txBox="1"/>
          <p:nvPr/>
        </p:nvSpPr>
        <p:spPr>
          <a:xfrm>
            <a:off x="7863840" y="46131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treatment:drug</a:t>
            </a:r>
            <a:r>
              <a:rPr b="0" i="0" lang="en-US" sz="1100" u="none" cap="none" strike="noStrike">
                <a:solidFill>
                  <a:srgbClr val="1F2328"/>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p:txBody>
      </p:sp>
      <p:sp>
        <p:nvSpPr>
          <p:cNvPr id="2298" name="Google Shape;2298;h547f90b031e64a91_0_1373"/>
          <p:cNvSpPr txBox="1"/>
          <p:nvPr/>
        </p:nvSpPr>
        <p:spPr>
          <a:xfrm>
            <a:off x="7863840" y="481888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admission:BM_DEP</a:t>
            </a:r>
            <a:endParaRPr b="0" i="0" sz="1100" u="none" cap="none" strike="noStrike">
              <a:solidFill>
                <a:srgbClr val="000000"/>
              </a:solidFill>
              <a:latin typeface="Arial"/>
              <a:ea typeface="Arial"/>
              <a:cs typeface="Arial"/>
              <a:sym typeface="Arial"/>
            </a:endParaRPr>
          </a:p>
        </p:txBody>
      </p:sp>
      <p:sp>
        <p:nvSpPr>
          <p:cNvPr id="2299" name="Google Shape;2299;h547f90b031e64a91_0_1373"/>
          <p:cNvSpPr/>
          <p:nvPr/>
        </p:nvSpPr>
        <p:spPr>
          <a:xfrm>
            <a:off x="7863840" y="5193792"/>
            <a:ext cx="3383400" cy="548700"/>
          </a:xfrm>
          <a:prstGeom prst="roundRect">
            <a:avLst>
              <a:gd fmla="val 12000" name="adj"/>
            </a:avLst>
          </a:prstGeom>
          <a:solidFill>
            <a:srgbClr val="FFF7E8"/>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None/>
            </a:pPr>
            <a:r>
              <a:rPr b="1" i="0" lang="en-US" sz="1200" u="none" cap="none" strike="noStrike">
                <a:solidFill>
                  <a:srgbClr val="93600F"/>
                </a:solidFill>
                <a:latin typeface="Consolas"/>
                <a:ea typeface="Consolas"/>
                <a:cs typeface="Consolas"/>
                <a:sym typeface="Consolas"/>
              </a:rPr>
              <a:t>A PATTERN </a:t>
            </a:r>
            <a:r>
              <a:rPr b="1" lang="en-US" sz="1200">
                <a:solidFill>
                  <a:srgbClr val="93600F"/>
                </a:solidFill>
                <a:latin typeface="Consolas"/>
                <a:ea typeface="Consolas"/>
                <a:cs typeface="Consolas"/>
                <a:sym typeface="Consolas"/>
              </a:rPr>
              <a:t>→</a:t>
            </a:r>
            <a:r>
              <a:rPr b="1" i="0" lang="en-US" sz="1200" u="none" cap="none" strike="noStrike">
                <a:solidFill>
                  <a:srgbClr val="93600F"/>
                </a:solidFill>
                <a:latin typeface="Consolas"/>
                <a:ea typeface="Consolas"/>
                <a:cs typeface="Consolas"/>
                <a:sym typeface="Consolas"/>
              </a:rPr>
              <a:t> </a:t>
            </a:r>
            <a:r>
              <a:rPr b="0" i="0" lang="en-US" sz="1250" u="none" cap="none" strike="noStrike">
                <a:solidFill>
                  <a:srgbClr val="3A434C"/>
                </a:solidFill>
                <a:latin typeface="Calibri"/>
                <a:ea typeface="Calibri"/>
                <a:cs typeface="Calibri"/>
                <a:sym typeface="Calibri"/>
              </a:rPr>
              <a:t>an expert reviews it before it joins the ontology</a:t>
            </a:r>
            <a:endParaRPr/>
          </a:p>
        </p:txBody>
      </p:sp>
      <p:sp>
        <p:nvSpPr>
          <p:cNvPr id="2300" name="Google Shape;2300;h547f90b031e64a91_0_1373"/>
          <p:cNvSpPr/>
          <p:nvPr/>
        </p:nvSpPr>
        <p:spPr>
          <a:xfrm>
            <a:off x="4078224"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h547f90b031e64a91_0_1373"/>
          <p:cNvSpPr/>
          <p:nvPr/>
        </p:nvSpPr>
        <p:spPr>
          <a:xfrm>
            <a:off x="7424927"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h547f90b031e64a91_0_1373"/>
          <p:cNvSpPr/>
          <p:nvPr/>
        </p:nvSpPr>
        <p:spPr>
          <a:xfrm>
            <a:off x="1036700" y="36370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3" name="Google Shape;2303;h547f90b031e64a91_0_1373"/>
          <p:cNvSpPr/>
          <p:nvPr/>
        </p:nvSpPr>
        <p:spPr>
          <a:xfrm>
            <a:off x="1033275" y="40868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4" name="Google Shape;2304;h547f90b031e64a91_0_1373"/>
          <p:cNvSpPr/>
          <p:nvPr/>
        </p:nvSpPr>
        <p:spPr>
          <a:xfrm>
            <a:off x="1034988" y="50502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5" name="Google Shape;2305;h547f90b031e64a91_0_1373"/>
          <p:cNvSpPr/>
          <p:nvPr/>
        </p:nvSpPr>
        <p:spPr>
          <a:xfrm>
            <a:off x="1031563" y="55000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6" name="Slide number 230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0" name="Shape 2310"/>
        <p:cNvGrpSpPr/>
        <p:nvPr/>
      </p:nvGrpSpPr>
      <p:grpSpPr>
        <a:xfrm>
          <a:off x="0" y="0"/>
          <a:ext cx="0" cy="0"/>
          <a:chOff x="0" y="0"/>
          <a:chExt cx="0" cy="0"/>
        </a:xfrm>
      </p:grpSpPr>
      <p:sp>
        <p:nvSpPr>
          <p:cNvPr id="2311" name="Google Shape;2311;p23"/>
          <p:cNvSpPr/>
          <p:nvPr/>
        </p:nvSpPr>
        <p:spPr>
          <a:xfrm>
            <a:off x="841253" y="2432325"/>
            <a:ext cx="42390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2" name="Google Shape;2312;p23"/>
          <p:cNvSpPr txBox="1"/>
          <p:nvPr/>
        </p:nvSpPr>
        <p:spPr>
          <a:xfrm>
            <a:off x="813816" y="466344"/>
            <a:ext cx="10515600" cy="310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0B6E4F"/>
                </a:solidFill>
                <a:latin typeface="Consolas"/>
                <a:ea typeface="Consolas"/>
                <a:cs typeface="Consolas"/>
                <a:sym typeface="Consolas"/>
              </a:rPr>
              <a:t>RIGOR  /  ISWC 2026</a:t>
            </a:r>
            <a:endParaRPr/>
          </a:p>
        </p:txBody>
      </p:sp>
      <p:sp>
        <p:nvSpPr>
          <p:cNvPr id="2313" name="Google Shape;2313;p23"/>
          <p:cNvSpPr txBox="1"/>
          <p:nvPr/>
        </p:nvSpPr>
        <p:spPr>
          <a:xfrm>
            <a:off x="813816" y="914400"/>
            <a:ext cx="6766500" cy="759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4600" u="none" cap="none" strike="noStrike">
                <a:solidFill>
                  <a:srgbClr val="1F2328"/>
                </a:solidFill>
                <a:latin typeface="Cambria"/>
                <a:ea typeface="Cambria"/>
                <a:cs typeface="Cambria"/>
                <a:sym typeface="Cambria"/>
              </a:rPr>
              <a:t>Thank you.</a:t>
            </a:r>
            <a:endParaRPr/>
          </a:p>
        </p:txBody>
      </p:sp>
      <p:sp>
        <p:nvSpPr>
          <p:cNvPr id="2314" name="Google Shape;2314;p23"/>
          <p:cNvSpPr txBox="1"/>
          <p:nvPr/>
        </p:nvSpPr>
        <p:spPr>
          <a:xfrm>
            <a:off x="841248" y="1773936"/>
            <a:ext cx="6949500" cy="493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2600" u="none" cap="none" strike="noStrike">
                <a:solidFill>
                  <a:srgbClr val="2F6B78"/>
                </a:solidFill>
                <a:latin typeface="Cambria"/>
                <a:ea typeface="Cambria"/>
                <a:cs typeface="Cambria"/>
                <a:sym typeface="Cambria"/>
              </a:rPr>
              <a:t>Questions?</a:t>
            </a:r>
            <a:endParaRPr/>
          </a:p>
        </p:txBody>
      </p:sp>
      <p:sp>
        <p:nvSpPr>
          <p:cNvPr id="2315" name="Google Shape;2315;p23"/>
          <p:cNvSpPr txBox="1"/>
          <p:nvPr/>
        </p:nvSpPr>
        <p:spPr>
          <a:xfrm>
            <a:off x="1054695" y="2684051"/>
            <a:ext cx="65379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50" u="none" cap="none" strike="noStrike">
                <a:solidFill>
                  <a:srgbClr val="2F6B78"/>
                </a:solidFill>
                <a:latin typeface="Consolas"/>
                <a:ea typeface="Consolas"/>
                <a:cs typeface="Consolas"/>
                <a:sym typeface="Consolas"/>
              </a:rPr>
              <a:t>FROM A DATABASE SCHEMA TO AN ONTOLOGY</a:t>
            </a:r>
            <a:endParaRPr/>
          </a:p>
        </p:txBody>
      </p:sp>
      <p:sp>
        <p:nvSpPr>
          <p:cNvPr id="2316" name="Google Shape;2316;p23"/>
          <p:cNvSpPr/>
          <p:nvPr/>
        </p:nvSpPr>
        <p:spPr>
          <a:xfrm>
            <a:off x="5272625" y="2432325"/>
            <a:ext cx="39681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7" name="Google Shape;2317;p23"/>
          <p:cNvSpPr txBox="1"/>
          <p:nvPr/>
        </p:nvSpPr>
        <p:spPr>
          <a:xfrm>
            <a:off x="5478424" y="2718594"/>
            <a:ext cx="27249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2F6B78"/>
                </a:solidFill>
                <a:latin typeface="Consolas"/>
                <a:ea typeface="Consolas"/>
                <a:cs typeface="Consolas"/>
                <a:sym typeface="Consolas"/>
              </a:rPr>
              <a:t>PAPER + OPEN SOURCE</a:t>
            </a:r>
            <a:endParaRPr/>
          </a:p>
        </p:txBody>
      </p:sp>
      <p:pic>
        <p:nvPicPr>
          <p:cNvPr descr="QR code: https://arxiv.org/abs/2506.01232 (paper)" id="2318" name="Google Shape;2318;p23"/>
          <p:cNvPicPr preferRelativeResize="0"/>
          <p:nvPr/>
        </p:nvPicPr>
        <p:blipFill rotWithShape="1">
          <a:blip r:embed="rId3">
            <a:alphaModFix/>
          </a:blip>
          <a:srcRect b="0" l="0" r="0" t="0"/>
          <a:stretch/>
        </p:blipFill>
        <p:spPr>
          <a:xfrm>
            <a:off x="5533288" y="3187578"/>
            <a:ext cx="1316736" cy="1316736"/>
          </a:xfrm>
          <a:prstGeom prst="rect">
            <a:avLst/>
          </a:prstGeom>
          <a:noFill/>
          <a:ln>
            <a:noFill/>
          </a:ln>
        </p:spPr>
      </p:pic>
      <p:sp>
        <p:nvSpPr>
          <p:cNvPr id="2319" name="Google Shape;2319;p23"/>
          <p:cNvSpPr txBox="1"/>
          <p:nvPr/>
        </p:nvSpPr>
        <p:spPr>
          <a:xfrm>
            <a:off x="5487568"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Paper</a:t>
            </a:r>
            <a:endParaRPr/>
          </a:p>
        </p:txBody>
      </p:sp>
      <p:pic>
        <p:nvPicPr>
          <p:cNvPr descr="QR code: https://github.com/NadeenAhmad/RIGOR (code)" id="2320" name="Google Shape;2320;p23"/>
          <p:cNvPicPr preferRelativeResize="0"/>
          <p:nvPr/>
        </p:nvPicPr>
        <p:blipFill rotWithShape="1">
          <a:blip r:embed="rId4">
            <a:alphaModFix/>
          </a:blip>
          <a:srcRect b="0" l="0" r="0" t="0"/>
          <a:stretch/>
        </p:blipFill>
        <p:spPr>
          <a:xfrm>
            <a:off x="7087768" y="3187578"/>
            <a:ext cx="1316736" cy="1316736"/>
          </a:xfrm>
          <a:prstGeom prst="rect">
            <a:avLst/>
          </a:prstGeom>
          <a:noFill/>
          <a:ln>
            <a:noFill/>
          </a:ln>
        </p:spPr>
      </p:pic>
      <p:sp>
        <p:nvSpPr>
          <p:cNvPr id="2321" name="Google Shape;2321;p23"/>
          <p:cNvSpPr txBox="1"/>
          <p:nvPr/>
        </p:nvSpPr>
        <p:spPr>
          <a:xfrm>
            <a:off x="7042047"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GitHub</a:t>
            </a:r>
            <a:endParaRPr/>
          </a:p>
        </p:txBody>
      </p:sp>
      <p:cxnSp>
        <p:nvCxnSpPr>
          <p:cNvPr id="2322" name="Google Shape;2322;p23"/>
          <p:cNvCxnSpPr/>
          <p:nvPr/>
        </p:nvCxnSpPr>
        <p:spPr>
          <a:xfrm>
            <a:off x="728404" y="6217936"/>
            <a:ext cx="10488300" cy="0"/>
          </a:xfrm>
          <a:prstGeom prst="straightConnector1">
            <a:avLst/>
          </a:prstGeom>
          <a:noFill/>
          <a:ln cap="flat" cmpd="sng" w="1270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323" name="Google Shape;2323;p23"/>
          <p:cNvSpPr txBox="1"/>
          <p:nvPr/>
        </p:nvSpPr>
        <p:spPr>
          <a:xfrm>
            <a:off x="5478423" y="5120452"/>
            <a:ext cx="87783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700">
                <a:solidFill>
                  <a:srgbClr val="1F2328"/>
                </a:solidFill>
                <a:latin typeface="Calibri"/>
                <a:ea typeface="Calibri"/>
                <a:cs typeface="Calibri"/>
                <a:sym typeface="Calibri"/>
              </a:rPr>
              <a:t>📬 </a:t>
            </a:r>
            <a:r>
              <a:rPr b="0" i="0" lang="en-US" sz="1700" u="none" cap="none" strike="noStrike">
                <a:solidFill>
                  <a:srgbClr val="1F2328"/>
                </a:solidFill>
                <a:latin typeface="Calibri"/>
                <a:ea typeface="Calibri"/>
                <a:cs typeface="Calibri"/>
                <a:sym typeface="Calibri"/>
              </a:rPr>
              <a:t>nadeen.fathallah@ki.uni-stuttgart.de</a:t>
            </a:r>
            <a:endParaRPr/>
          </a:p>
        </p:txBody>
      </p:sp>
      <p:sp>
        <p:nvSpPr>
          <p:cNvPr id="2324" name="Google Shape;2324;p23"/>
          <p:cNvSpPr txBox="1"/>
          <p:nvPr/>
        </p:nvSpPr>
        <p:spPr>
          <a:xfrm>
            <a:off x="9314620" y="6327664"/>
            <a:ext cx="1883700" cy="195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0" i="0" lang="en-US" sz="1270" u="none" cap="none" strike="noStrike">
                <a:solidFill>
                  <a:srgbClr val="5B6770"/>
                </a:solidFill>
                <a:latin typeface="Calibri"/>
                <a:ea typeface="Calibri"/>
                <a:cs typeface="Calibri"/>
                <a:sym typeface="Calibri"/>
              </a:rPr>
              <a:t>ISWC 2026 · Bari</a:t>
            </a:r>
            <a:endParaRPr/>
          </a:p>
        </p:txBody>
      </p:sp>
      <p:pic>
        <p:nvPicPr>
          <p:cNvPr descr="A relational table whose highlighted row is mapped by RIGOR to a node of an ontology graph" id="2325" name="Google Shape;2325;p23"/>
          <p:cNvPicPr preferRelativeResize="0"/>
          <p:nvPr/>
        </p:nvPicPr>
        <p:blipFill rotWithShape="1">
          <a:blip r:embed="rId5">
            <a:alphaModFix/>
          </a:blip>
          <a:srcRect b="0" l="0" r="0" t="0"/>
          <a:stretch/>
        </p:blipFill>
        <p:spPr>
          <a:xfrm>
            <a:off x="1197051" y="2777505"/>
            <a:ext cx="3428999" cy="3066584"/>
          </a:xfrm>
          <a:prstGeom prst="rect">
            <a:avLst/>
          </a:prstGeom>
          <a:noFill/>
          <a:ln>
            <a:noFill/>
          </a:ln>
        </p:spPr>
      </p:pic>
      <p:sp>
        <p:nvSpPr>
          <p:cNvPr id="2326" name="Google Shape;2326;p23"/>
          <p:cNvSpPr txBox="1"/>
          <p:nvPr/>
        </p:nvSpPr>
        <p:spPr>
          <a:xfrm>
            <a:off x="108522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2327" name="Google Shape;2327;p23"/>
          <p:cNvSpPr txBox="1"/>
          <p:nvPr/>
        </p:nvSpPr>
        <p:spPr>
          <a:xfrm>
            <a:off x="297117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2328" name="Google Shape;2328;p23"/>
          <p:cNvSpPr/>
          <p:nvPr/>
        </p:nvSpPr>
        <p:spPr>
          <a:xfrm>
            <a:off x="2784678" y="3602137"/>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