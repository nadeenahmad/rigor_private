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Lst>
  <p:sldSz cy="6858000" cx="12192000"/>
  <p:notesSz cx="6858000" cy="12192000"/>
  <p:embeddedFontLst>
    <p:embeddedFont>
      <p:font typeface="IBM Plex Sans"/>
      <p:regular r:id="rId51"/>
      <p:bold r:id="rId52"/>
      <p:italic r:id="rId53"/>
      <p:boldItalic r:id="rId54"/>
    </p:embeddedFont>
    <p:embeddedFont>
      <p:font typeface="Inter"/>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g53m6TzstH0Sqnn3r9Y865WfRY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BMPlexSans-regular.fntdata"/><Relationship Id="rId50" Type="http://schemas.openxmlformats.org/officeDocument/2006/relationships/slide" Target="slides/slide46.xml"/><Relationship Id="rId53" Type="http://schemas.openxmlformats.org/officeDocument/2006/relationships/font" Target="fonts/IBMPlexSans-italic.fntdata"/><Relationship Id="rId52" Type="http://schemas.openxmlformats.org/officeDocument/2006/relationships/font" Target="fonts/IBMPlexSans-bold.fntdata"/><Relationship Id="rId11" Type="http://schemas.openxmlformats.org/officeDocument/2006/relationships/slide" Target="slides/slide7.xml"/><Relationship Id="rId55" Type="http://schemas.openxmlformats.org/officeDocument/2006/relationships/font" Target="fonts/Inter-regular.fntdata"/><Relationship Id="rId10" Type="http://schemas.openxmlformats.org/officeDocument/2006/relationships/slide" Target="slides/slide6.xml"/><Relationship Id="rId54" Type="http://schemas.openxmlformats.org/officeDocument/2006/relationships/font" Target="fonts/IBMPlexSans-boldItalic.fntdata"/><Relationship Id="rId13" Type="http://schemas.openxmlformats.org/officeDocument/2006/relationships/slide" Target="slides/slide9.xml"/><Relationship Id="rId57" Type="http://schemas.openxmlformats.org/officeDocument/2006/relationships/font" Target="fonts/Inter-italic.fntdata"/><Relationship Id="rId12" Type="http://schemas.openxmlformats.org/officeDocument/2006/relationships/slide" Target="slides/slide8.xml"/><Relationship Id="rId56" Type="http://schemas.openxmlformats.org/officeDocument/2006/relationships/font" Target="fonts/Inter-bold.fntdata"/><Relationship Id="rId15" Type="http://schemas.openxmlformats.org/officeDocument/2006/relationships/slide" Target="slides/slide11.xml"/><Relationship Id="rId59" Type="http://customschemas.google.com/relationships/presentationmetadata" Target="metadata"/><Relationship Id="rId14" Type="http://schemas.openxmlformats.org/officeDocument/2006/relationships/slide" Target="slides/slide10.xml"/><Relationship Id="rId58" Type="http://schemas.openxmlformats.org/officeDocument/2006/relationships/font" Target="fonts/Inter-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  <Relationship Id="rId60" Type="http://schemas.openxmlformats.org/officeDocument/2006/relationships/slide" Target="slides/slide47.xml"/>
  <Relationship Id="rId61" Type="http://schemas.openxmlformats.org/officeDocument/2006/relationships/slide" Target="slides/slide48.xml"/>
  <Relationship Id="rId62" Type="http://schemas.openxmlformats.org/officeDocument/2006/relationships/slide" Target="slides/slide49.xml"/>
  <Relationship Id="rId63" Type="http://schemas.openxmlformats.org/officeDocument/2006/relationships/slide" Target="slides/slide50.xml"/>
  <Relationship Id="rId64" Type="http://schemas.openxmlformats.org/officeDocument/2006/relationships/slide" Target="slides/slide51.xml"/>
  <Relationship Id="rId65" Type="http://schemas.openxmlformats.org/officeDocument/2006/relationships/slide" Target="slides/slide52.xml"/>
  <Relationship Id="rId66" Type="http://schemas.openxmlformats.org/officeDocument/2006/relationships/slide" Target="slides/slide53.xml"/>
  <Relationship Id="rId67" Type="http://schemas.openxmlformats.org/officeDocument/2006/relationships/slide" Target="slides/slide54.xml"/>
  <Relationship Id="rId68" Type="http://schemas.openxmlformats.org/officeDocument/2006/relationships/slide" Target="slides/slide55.xml"/>
  <Relationship Id="rId69" Type="http://schemas.openxmlformats.org/officeDocument/2006/relationships/slide" Target="slides/slide56.xml"/>
  <Relationship Id="rId70" Type="http://schemas.openxmlformats.org/officeDocument/2006/relationships/slide" Target="slides/slide57.xml"/>
  <Relationship Id="rId71" Type="http://schemas.openxmlformats.org/officeDocument/2006/relationships/slide" Target="slides/slide58.xml"/>
  <Relationship Id="rId72" Type="http://schemas.openxmlformats.org/officeDocument/2006/relationships/slide" Target="slides/slide59.xml"/>
  <Relationship Id="rId73" Type="http://schemas.openxmlformats.org/officeDocument/2006/relationships/slide" Target="slides/slide60.xml"/>
  <Relationship Id="rId74" Type="http://schemas.openxmlformats.org/officeDocument/2006/relationships/slide" Target="slides/slide6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IBM Plex Sans"/>
                <a:ea typeface="IBM Plex Sans"/>
                <a:cs typeface="IBM Plex Sans"/>
                <a:sym typeface="IBM Plex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[0:00–0:25]  SLIDE 1  (43 words)</a:t>
            </a:r>
          </a:p>
          <a:p>
            <a:r>
              <a:rPr lang="en-US" sz="1200">
                <a:solidFill>
                  <a:schemeClr val="dk1"/>
                </a:solidFill>
                <a:latin typeface="Calibri"/>
                <a:ea typeface="Calibri"/>
                <a:cs typeface="Calibri"/>
                <a:sym typeface="Calibri"/>
              </a:rPr>
              <a:t>Good morning. I'm Nadeen Fathallah, from the University of Stuttgart. Relational databases run hospitals, banks and governments. But their schemas tell us how data is stored, not what it means. This talk is about RIGOR: turning those schemas into rich OWL ontologies, automatically.</a:t>
            </a:r>
          </a:p>
          <a:p/>
          <a:p>
            <a:r>
              <a:rPr lang="en-US" sz="1200">
                <a:solidFill>
                  <a:schemeClr val="dk1"/>
                </a:solidFill>
                <a:latin typeface="Calibri"/>
                <a:ea typeface="Calibri"/>
                <a:cs typeface="Calibri"/>
                <a:sym typeface="Calibri"/>
              </a:rPr>
              <a:t>PRESENTER / POINTER: Calm, slow start. Do not read the author list.</a:t>
            </a:r>
          </a:p>
          <a:p>
            <a:r>
              <a:rPr lang="en-US" sz="1200">
                <a:solidFill>
                  <a:schemeClr val="dk1"/>
                </a:solidFill>
                <a:latin typeface="Calibri"/>
                <a:ea typeface="Calibri"/>
                <a:cs typeface="Calibri"/>
                <a:sym typeface="Calibri"/>
              </a:rPr>
              <a:t>AUDIENCE TAKEAWAY: Schemas store data, not meaning.</a:t>
            </a:r>
          </a:p>
          <a:p>
            <a:r>
              <a:rPr lang="en-US" sz="1200">
                <a:solidFill>
                  <a:schemeClr val="dk1"/>
                </a:solidFill>
                <a:latin typeface="Calibri"/>
                <a:ea typeface="Calibri"/>
                <a:cs typeface="Calibri"/>
                <a:sym typeface="Calibri"/>
              </a:rPr>
              <a:t>SOURCE AND SCOPE: Paper Section 1.</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[0:25–0:55]  SLIDE 2  (54 words)</a:t>
            </a:r>
          </a:p>
          <a:p>
            <a:r>
              <a:rPr b="0" i="0" lang="en-US" sz="1200" u="none" cap="none" strike="noStrike">
                <a:solidFill>
                  <a:schemeClr val="dk1"/>
                </a:solidFill>
                <a:latin typeface="IBM Plex Sans"/>
                <a:ea typeface="IBM Plex Sans"/>
                <a:cs typeface="IBM Plex Sans"/>
                <a:sym typeface="IBM Plex Sans"/>
              </a:rPr>
              <a:t>Imagine you inherit this clinical database. An admission points to its patient through a foreign key. But how should an ontology represent that link? What does BM_DEP mean? What does an ECOG stage of three mean? The schema cannot tell us. Yet these meanings are exactly what ontology-based access, knowledge graphs and integration need.</a:t>
            </a:r>
          </a:p>
          <a:p/>
          <a:p>
            <a:r>
              <a:rPr b="0" i="0" lang="en-US" sz="1200" u="none" cap="none" strike="noStrike">
                <a:solidFill>
                  <a:schemeClr val="dk1"/>
                </a:solidFill>
                <a:latin typeface="IBM Plex Sans"/>
                <a:ea typeface="IBM Plex Sans"/>
                <a:cs typeface="IBM Plex Sans"/>
                <a:sym typeface="IBM Plex Sans"/>
              </a:rPr>
              <a:t>PRESENTER / POINTER: Point at the FK arrow, then the three questions on the right, top to bottom.</a:t>
            </a:r>
          </a:p>
          <a:p>
            <a:r>
              <a:rPr b="0" i="0" lang="en-US" sz="1200" u="none" cap="none" strike="noStrike">
                <a:solidFill>
                  <a:schemeClr val="dk1"/>
                </a:solidFill>
                <a:latin typeface="IBM Plex Sans"/>
                <a:ea typeface="IBM Plex Sans"/>
                <a:cs typeface="IBM Plex Sans"/>
                <a:sym typeface="IBM Plex Sans"/>
              </a:rPr>
              <a:t>AUDIENCE TAKEAWAY: The schema knows storage and links, not domain meaning.</a:t>
            </a:r>
          </a:p>
          <a:p>
            <a:r>
              <a:rPr b="0" i="0" lang="en-US" sz="1200" u="none" cap="none" strike="noStrike">
                <a:solidFill>
                  <a:schemeClr val="dk1"/>
                </a:solidFill>
                <a:latin typeface="IBM Plex Sans"/>
                <a:ea typeface="IBM Plex Sans"/>
                <a:cs typeface="IBM Plex Sans"/>
                <a:sym typeface="IBM Plex Sans"/>
              </a:rPr>
              <a:t>SOURCE AND SCOPE: Illustrative table assembled from examples in paper Sections 3.2 and 3.4.</a:t>
            </a:r>
          </a:p>
        </p:txBody>
      </p:sp>
      <p:sp>
        <p:nvSpPr>
          <p:cNvPr id="74" name="Google Shape;74;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4e1cd23050cdd6e6_1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h4e1cd23050cdd6e6_1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[0:55–1:01]  SLIDE 3 · REVEAL 1 OF 6  (10 words)</a:t>
            </a:r>
          </a:p>
          <a:p>
            <a:r>
              <a:rPr lang="en-US" sz="1200">
                <a:solidFill>
                  <a:schemeClr val="dk1"/>
                </a:solidFill>
                <a:latin typeface="Calibri"/>
                <a:ea typeface="Calibri"/>
                <a:cs typeface="Calibri"/>
                <a:sym typeface="Calibri"/>
              </a:rPr>
              <a:t>Here is what we want to build from this table.</a:t>
            </a:r>
          </a:p>
          <a:p/>
          <a:p>
            <a:r>
              <a:rPr lang="en-US" sz="1200">
                <a:solidFill>
                  <a:schemeClr val="dk1"/>
                </a:solidFill>
                <a:latin typeface="Calibri"/>
                <a:ea typeface="Calibri"/>
                <a:cs typeface="Calibri"/>
                <a:sym typeface="Calibri"/>
              </a:rPr>
              <a:t>PRESENTER / POINTER: Empty target. One breath, then click.</a:t>
            </a:r>
          </a:p>
        </p:txBody>
      </p:sp>
      <p:sp>
        <p:nvSpPr>
          <p:cNvPr id="123" name="Google Shape;123;h4e1cd23050cdd6e6_1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4e1cd23050cdd6e6_1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h4e1cd23050cdd6e6_1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[1:01–1:15]  SLIDE 3 · REVEAL 2 OF 6  (24 words)</a:t>
            </a:r>
          </a:p>
          <a:p>
            <a:r>
              <a:rPr lang="en-US" sz="1200">
                <a:solidFill>
                  <a:schemeClr val="dk1"/>
                </a:solidFill>
                <a:latin typeface="Calibri"/>
                <a:ea typeface="Calibri"/>
                <a:cs typeface="Calibri"/>
                <a:sym typeface="Calibri"/>
              </a:rPr>
              <a:t>First, from the schema alone: admission becomes a class with a real relation to PatientData, and every property points back to its source column.</a:t>
            </a:r>
          </a:p>
          <a:p/>
          <a:p>
            <a:r>
              <a:rPr lang="en-US" sz="1200">
                <a:solidFill>
                  <a:schemeClr val="dk1"/>
                </a:solidFill>
                <a:latin typeface="Calibri"/>
                <a:ea typeface="Calibri"/>
                <a:cs typeface="Calibri"/>
                <a:sym typeface="Calibri"/>
              </a:rPr>
              <a:t>PRESENTER / POINTER: The class box and arrow, then the two 'source column' lines.</a:t>
            </a:r>
          </a:p>
        </p:txBody>
      </p:sp>
      <p:sp>
        <p:nvSpPr>
          <p:cNvPr id="147" name="Google Shape;147;h4e1cd23050cdd6e6_1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h4e1cd23050cdd6e6_1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h4e1cd23050cdd6e6_1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[1:15–1:21]  SLIDE 3 · REVEAL 3 OF 6  (11 words)</a:t>
            </a:r>
          </a:p>
          <a:p>
            <a:r>
              <a:rPr lang="en-US" sz="1200">
                <a:solidFill>
                  <a:schemeClr val="dk1"/>
                </a:solidFill>
                <a:latin typeface="Calibri"/>
                <a:ea typeface="Calibri"/>
                <a:cs typeface="Calibri"/>
                <a:sym typeface="Calibri"/>
              </a:rPr>
              <a:t>The documentation adds human-readable labels: Bone Marrow Depression, ECOG Performance Status.</a:t>
            </a:r>
          </a:p>
          <a:p/>
          <a:p>
            <a:r>
              <a:rPr lang="en-US" sz="1200">
                <a:solidFill>
                  <a:schemeClr val="dk1"/>
                </a:solidFill>
                <a:latin typeface="Calibri"/>
                <a:ea typeface="Calibri"/>
                <a:cs typeface="Calibri"/>
                <a:sym typeface="Calibri"/>
              </a:rPr>
              <a:t>PRESENTER / POINTER: The two highlighted labels.</a:t>
            </a:r>
          </a:p>
        </p:txBody>
      </p:sp>
      <p:sp>
        <p:nvSpPr>
          <p:cNvPr id="196" name="Google Shape;196;h4e1cd23050cdd6e6_1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4e1cd23050cdd6e6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h4e1cd23050cdd6e6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[1:21–1:29]  SLIDE 3 · REVEAL 4 OF 6  (13 words)</a:t>
            </a:r>
          </a:p>
          <a:p>
            <a:r>
              <a:rPr lang="en-US" sz="1200">
                <a:solidFill>
                  <a:schemeClr val="dk1"/>
                </a:solidFill>
                <a:latin typeface="Calibri"/>
                <a:ea typeface="Calibri"/>
                <a:cs typeface="Calibri"/>
                <a:sym typeface="Calibri"/>
              </a:rPr>
              <a:t>A standard vocabulary links BM_DEP to bone marrow disease in the Disease Ontology.</a:t>
            </a:r>
          </a:p>
          <a:p/>
          <a:p>
            <a:r>
              <a:rPr lang="en-US" sz="1200">
                <a:solidFill>
                  <a:schemeClr val="dk1"/>
                </a:solidFill>
                <a:latin typeface="Calibri"/>
                <a:ea typeface="Calibri"/>
                <a:cs typeface="Calibri"/>
                <a:sym typeface="Calibri"/>
              </a:rPr>
              <a:t>PRESENTER / POINTER: The skos:relatedMatch line.</a:t>
            </a:r>
          </a:p>
        </p:txBody>
      </p:sp>
      <p:sp>
        <p:nvSpPr>
          <p:cNvPr id="249" name="Google Shape;249;h4e1cd23050cdd6e6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4e1cd23050cdd6e6_1_1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4e1cd23050cdd6e6_1_1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[1:29–1:38]  SLIDE 3 · REVEAL 5 OF 6  (16 words)</a:t>
            </a:r>
          </a:p>
          <a:p>
            <a:r>
              <a:rPr lang="en-US" sz="1200">
                <a:solidFill>
                  <a:schemeClr val="dk1"/>
                </a:solidFill>
                <a:latin typeface="Calibri"/>
                <a:ea typeface="Calibri"/>
                <a:cs typeface="Calibri"/>
                <a:sym typeface="Calibri"/>
              </a:rPr>
              <a:t>And a comment says what the ECOG codes mean, from zero, fully active, to five, dead.</a:t>
            </a:r>
          </a:p>
          <a:p/>
          <a:p>
            <a:r>
              <a:rPr lang="en-US" sz="1200">
                <a:solidFill>
                  <a:schemeClr val="dk1"/>
                </a:solidFill>
                <a:latin typeface="Calibri"/>
                <a:ea typeface="Calibri"/>
                <a:cs typeface="Calibri"/>
                <a:sym typeface="Calibri"/>
              </a:rPr>
              <a:t>PRESENTER / POINTER: The rdfs:comment line. Do not mention LLMs yet.</a:t>
            </a:r>
          </a:p>
        </p:txBody>
      </p:sp>
      <p:sp>
        <p:nvSpPr>
          <p:cNvPr id="304" name="Google Shape;304;h4e1cd23050cdd6e6_1_1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4e1cd23050cdd6e6_1_2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4e1cd23050cdd6e6_1_2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[1:38–1:48]  SLIDE 3 · REVEAL 6 OF 6  (18 words)</a:t>
            </a:r>
          </a:p>
          <a:p>
            <a:r>
              <a:rPr lang="en-US" sz="1200">
                <a:solidFill>
                  <a:schemeClr val="dk1"/>
                </a:solidFill>
                <a:latin typeface="Calibri"/>
                <a:ea typeface="Calibri"/>
                <a:cs typeface="Calibri"/>
                <a:sym typeface="Calibri"/>
              </a:rPr>
              <a:t>That is a usable semantic model. The challenge: add all this without losing a single column or link.</a:t>
            </a:r>
          </a:p>
          <a:p/>
          <a:p>
            <a:r>
              <a:rPr lang="en-US" sz="1200">
                <a:solidFill>
                  <a:schemeClr val="dk1"/>
                </a:solidFill>
                <a:latin typeface="Calibri"/>
                <a:ea typeface="Calibri"/>
                <a:cs typeface="Calibri"/>
                <a:sym typeface="Calibri"/>
              </a:rPr>
              <a:t>PRESENTER / POINTER: The 'What this enables' box, then pause.</a:t>
            </a:r>
          </a:p>
          <a:p>
            <a:r>
              <a:rPr lang="en-US" sz="1200">
                <a:solidFill>
                  <a:schemeClr val="dk1"/>
                </a:solidFill>
                <a:latin typeface="Calibri"/>
                <a:ea typeface="Calibri"/>
                <a:cs typeface="Calibri"/>
                <a:sym typeface="Calibri"/>
              </a:rPr>
              <a:t>AUDIENCE TAKEAWAY: A usable model combines schema, documentation and standard vocabularies, with provenance.</a:t>
            </a:r>
          </a:p>
          <a:p>
            <a:r>
              <a:rPr lang="en-US" sz="1200">
                <a:solidFill>
                  <a:schemeClr val="dk1"/>
                </a:solidFill>
                <a:latin typeface="Calibri"/>
                <a:ea typeface="Calibri"/>
                <a:cs typeface="Calibri"/>
                <a:sym typeface="Calibri"/>
              </a:rPr>
              <a:t>SOURCE AND SCOPE: Illustrative fragment, verified with the OWL API (presentation/excerpts/slide03_*.omn). obo:DOID_4961 = Disease Ontology 'bone marrow disease'; skos:relatedMatch, not exactMatch, because BM_DEP is a yes/no column, not the disease. Provenance is column-level (paper Section 3.2).</a:t>
            </a:r>
          </a:p>
        </p:txBody>
      </p:sp>
      <p:sp>
        <p:nvSpPr>
          <p:cNvPr id="360" name="Google Shape;360;h4e1cd23050cdd6e6_1_2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7" name="Google Shape;417;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[1:48–2:21]  SLIDE 4  (58 words)</a:t>
            </a:r>
          </a:p>
          <a:p>
            <a:r>
              <a:rPr lang="en-US" sz="1200">
                <a:solidFill>
                  <a:schemeClr val="dk1"/>
                </a:solidFill>
                <a:latin typeface="Calibri"/>
                <a:ea typeface="Calibri"/>
                <a:cs typeface="Calibri"/>
                <a:sym typeface="Calibri"/>
              </a:rPr>
              <a:t>Existing work solves half of this. Schema-first rules, like direct mapping, preserve the structure: every table, column and foreign key. But the domain meaning stays missing. LLMs can suggest the meaning: labels, concepts, relations. But they omit elements or model them incorrectly. So our question: can we keep schema fidelity and add domain semantics, across a whole database?</a:t>
            </a:r>
          </a:p>
          <a:p/>
          <a:p>
            <a:r>
              <a:rPr lang="en-US" sz="1200">
                <a:solidFill>
                  <a:schemeClr val="dk1"/>
                </a:solidFill>
                <a:latin typeface="Calibri"/>
                <a:ea typeface="Calibri"/>
                <a:cs typeface="Calibri"/>
                <a:sym typeface="Calibri"/>
              </a:rPr>
              <a:t>PRESENTER / POINTER: Left card, right card, then land on the question.</a:t>
            </a:r>
          </a:p>
          <a:p>
            <a:r>
              <a:rPr lang="en-US" sz="1200">
                <a:solidFill>
                  <a:schemeClr val="dk1"/>
                </a:solidFill>
                <a:latin typeface="Calibri"/>
                <a:ea typeface="Calibri"/>
                <a:cs typeface="Calibri"/>
                <a:sym typeface="Calibri"/>
              </a:rPr>
              <a:t>AUDIENCE TAKEAWAY: Rules keep structure; LLMs suggest meaning; we need both.</a:t>
            </a:r>
          </a:p>
          <a:p>
            <a:r>
              <a:rPr lang="en-US" sz="1200">
                <a:solidFill>
                  <a:schemeClr val="dk1"/>
                </a:solidFill>
                <a:latin typeface="Calibri"/>
                <a:ea typeface="Calibri"/>
                <a:cs typeface="Calibri"/>
                <a:sym typeface="Calibri"/>
              </a:rPr>
              <a:t>SOURCE AND SCOPE: Paper Sections 1-2.</a:t>
            </a:r>
          </a:p>
        </p:txBody>
      </p:sp>
      <p:sp>
        <p:nvSpPr>
          <p:cNvPr id="418" name="Google Shape;418;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[2:21–2:37]  SLIDE 5  (28 words)</a:t>
            </a:r>
          </a:p>
          <a:p>
            <a:r>
              <a:rPr lang="en-US" sz="1200">
                <a:solidFill>
                  <a:schemeClr val="dk1"/>
                </a:solidFill>
                <a:latin typeface="Calibri"/>
                <a:ea typeface="Calibri"/>
                <a:cs typeface="Calibri"/>
                <a:sym typeface="Calibri"/>
              </a:rPr>
              <a:t>Our answer is RIGOR. It builds the ontology one table at a time, in six steps: order, seed, retrieve, generate, validate, merge. Let's build our admission example together.</a:t>
            </a:r>
          </a:p>
          <a:p/>
          <a:p>
            <a:r>
              <a:rPr lang="en-US" sz="1200">
                <a:solidFill>
                  <a:schemeClr val="dk1"/>
                </a:solidFill>
                <a:latin typeface="Calibri"/>
                <a:ea typeface="Calibri"/>
                <a:cs typeface="Calibri"/>
                <a:sym typeface="Calibri"/>
              </a:rPr>
              <a:t>PRESENTER / POINTER: From 'what we have' to 'what we want', then sweep along the six steps.</a:t>
            </a:r>
          </a:p>
          <a:p>
            <a:r>
              <a:rPr lang="en-US" sz="1200">
                <a:solidFill>
                  <a:schemeClr val="dk1"/>
                </a:solidFill>
                <a:latin typeface="Calibri"/>
                <a:ea typeface="Calibri"/>
                <a:cs typeface="Calibri"/>
                <a:sym typeface="Calibri"/>
              </a:rPr>
              <a:t>AUDIENCE TAKEAWAY: Six steps, one table at a time.</a:t>
            </a:r>
          </a:p>
          <a:p>
            <a:r>
              <a:rPr lang="en-US" sz="1200">
                <a:solidFill>
                  <a:schemeClr val="dk1"/>
                </a:solidFill>
                <a:latin typeface="Calibri"/>
                <a:ea typeface="Calibri"/>
                <a:cs typeface="Calibri"/>
                <a:sym typeface="Calibri"/>
              </a:rPr>
              <a:t>SOURCE AND SCOPE: Paper Section 3.1, Fig. 1.</a:t>
            </a:r>
          </a:p>
        </p:txBody>
      </p:sp>
      <p:sp>
        <p:nvSpPr>
          <p:cNvPr id="442" name="Google Shape;442;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[2:37–3:03]  SLIDE 6  (45 words)</a:t>
            </a:r>
          </a:p>
          <a:p>
            <a:r>
              <a:rPr lang="en-US" sz="1200">
                <a:solidFill>
                  <a:schemeClr val="dk1"/>
                </a:solidFill>
                <a:latin typeface="Calibri"/>
                <a:ea typeface="Calibri"/>
                <a:cs typeface="Calibri"/>
                <a:sym typeface="Calibri"/>
              </a:rPr>
              <a:t>Step one: order. Admission points to PatientData, so we build PatientData first. RIGOR follows the foreign keys breadth-first: a table waits until the tables it references are done. So when we reach admission, PatientData already exists, and we reuse it instead of inventing a duplicate.</a:t>
            </a:r>
          </a:p>
          <a:p/>
          <a:p>
            <a:r>
              <a:rPr lang="en-US" sz="1200">
                <a:solidFill>
                  <a:schemeClr val="dk1"/>
                </a:solidFill>
                <a:latin typeface="Calibri"/>
                <a:ea typeface="Calibri"/>
                <a:cs typeface="Calibri"/>
                <a:sym typeface="Calibri"/>
              </a:rPr>
              <a:t>PRESENTER / POINTER: Follow the FK arrow, then the processing order.</a:t>
            </a:r>
          </a:p>
          <a:p>
            <a:r>
              <a:rPr lang="en-US" sz="1200">
                <a:solidFill>
                  <a:schemeClr val="dk1"/>
                </a:solidFill>
                <a:latin typeface="Calibri"/>
                <a:ea typeface="Calibri"/>
                <a:cs typeface="Calibri"/>
                <a:sym typeface="Calibri"/>
              </a:rPr>
              <a:t>AUDIENCE TAKEAWAY: Parents first, so later tables reuse known classes.</a:t>
            </a:r>
          </a:p>
          <a:p>
            <a:r>
              <a:rPr lang="en-US" sz="1200">
                <a:solidFill>
                  <a:schemeClr val="dk1"/>
                </a:solidFill>
                <a:latin typeface="Calibri"/>
                <a:ea typeface="Calibri"/>
                <a:cs typeface="Calibri"/>
                <a:sym typeface="Calibri"/>
              </a:rPr>
              <a:t>SOURCE AND SCOPE: Paper Sections 3.1-3.2 (FK-guided breadth-first order).</a:t>
            </a:r>
          </a:p>
        </p:txBody>
      </p:sp>
      <p:sp>
        <p:nvSpPr>
          <p:cNvPr id="485" name="Google Shape;485;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[3:03–3:39]  SLIDE 7  (63 words)</a:t>
            </a:r>
          </a:p>
          <a:p>
            <a:r>
              <a:rPr b="0" i="0" lang="en-US" sz="1200" u="none" cap="none" strike="noStrike">
                <a:solidFill>
                  <a:schemeClr val="dk1"/>
                </a:solidFill>
                <a:latin typeface="IBM Plex Sans"/>
                <a:ea typeface="IBM Plex Sans"/>
                <a:cs typeface="IBM Plex Sans"/>
                <a:sym typeface="IBM Plex Sans"/>
              </a:rPr>
              <a:t>Step two: seed. Before any LLM is involved, a deterministic direct mapping turns the table into OWL. Admission becomes a class. The foreign key becomes an object property, and every admission must have a patient. Each column becomes a data property with its XSD type. So every column is in the seed, by construction. The LLM's job is to enrich, not to invent.</a:t>
            </a:r>
          </a:p>
          <a:p/>
          <a:p>
            <a:r>
              <a:rPr b="0" i="0" lang="en-US" sz="1200" u="none" cap="none" strike="noStrike">
                <a:solidFill>
                  <a:schemeClr val="dk1"/>
                </a:solidFill>
                <a:latin typeface="IBM Plex Sans"/>
                <a:ea typeface="IBM Plex Sans"/>
                <a:cs typeface="IBM Plex Sans"/>
                <a:sym typeface="IBM Plex Sans"/>
              </a:rPr>
              <a:t>PRESENTER / POINTER: Read the glosses: 'each has a patient', 'the FK becomes a link'.</a:t>
            </a:r>
          </a:p>
          <a:p>
            <a:r>
              <a:rPr b="0" i="0" lang="en-US" sz="1200" u="none" cap="none" strike="noStrike">
                <a:solidFill>
                  <a:schemeClr val="dk1"/>
                </a:solidFill>
                <a:latin typeface="IBM Plex Sans"/>
                <a:ea typeface="IBM Plex Sans"/>
                <a:cs typeface="IBM Plex Sans"/>
                <a:sym typeface="IBM Plex Sans"/>
              </a:rPr>
              <a:t>IF RUNNING LATE, DROP: "The LLM's job is to enrich, not to invent."</a:t>
            </a:r>
          </a:p>
          <a:p>
            <a:r>
              <a:rPr b="0" i="0" lang="en-US" sz="1200" u="none" cap="none" strike="noStrike">
                <a:solidFill>
                  <a:schemeClr val="dk1"/>
                </a:solidFill>
                <a:latin typeface="IBM Plex Sans"/>
                <a:ea typeface="IBM Plex Sans"/>
                <a:cs typeface="IBM Plex Sans"/>
                <a:sym typeface="IBM Plex Sans"/>
              </a:rPr>
              <a:t>AUDIENCE TAKEAWAY: A deterministic seed guarantees coverage before the LLM starts.</a:t>
            </a:r>
          </a:p>
          <a:p>
            <a:r>
              <a:rPr b="0" i="0" lang="en-US" sz="1200" u="none" cap="none" strike="noStrike">
                <a:solidFill>
                  <a:schemeClr val="dk1"/>
                </a:solidFill>
                <a:latin typeface="IBM Plex Sans"/>
                <a:ea typeface="IBM Plex Sans"/>
                <a:cs typeface="IBM Plex Sans"/>
                <a:sym typeface="IBM Plex Sans"/>
              </a:rPr>
              <a:t>SOURCE AND SCOPE: Paper Section 3.2 (W3C Direct Mapping as specified by Sequeda et al., WWW 2012). The guarantee holds for the seed; final coverage is Result 2.</a:t>
            </a:r>
          </a:p>
        </p:txBody>
      </p:sp>
      <p:sp>
        <p:nvSpPr>
          <p:cNvPr id="527" name="Google Shape;527;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2627160d5792b11b_0_5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h2627160d5792b11b_0_5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[3:39–3:54]  SLIDE 8 · REVEAL 1 OF 4  (26 words)</a:t>
            </a:r>
          </a:p>
          <a:p>
            <a:r>
              <a:rPr lang="en-US" sz="1200">
                <a:solidFill>
                  <a:schemeClr val="dk1"/>
                </a:solidFill>
                <a:latin typeface="Calibri"/>
                <a:ea typeface="Calibri"/>
                <a:cs typeface="Calibri"/>
                <a:sym typeface="Calibri"/>
              </a:rPr>
              <a:t>The seed is faithful, but it does not say what BM_DEP means. So step three retrieves context from three sources. Documentation defines cryptic names, like BM_DEP.</a:t>
            </a:r>
          </a:p>
          <a:p/>
          <a:p>
            <a:r>
              <a:rPr lang="en-US" sz="1200">
                <a:solidFill>
                  <a:schemeClr val="dk1"/>
                </a:solidFill>
                <a:latin typeface="Calibri"/>
                <a:ea typeface="Calibri"/>
                <a:cs typeface="Calibri"/>
                <a:sym typeface="Calibri"/>
              </a:rPr>
              <a:t>PRESENTER / POINTER: Documentation card.</a:t>
            </a:r>
          </a:p>
        </p:txBody>
      </p:sp>
      <p:sp>
        <p:nvSpPr>
          <p:cNvPr id="564" name="Google Shape;564;h2627160d5792b11b_0_5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h2627160d5792b11b_0_5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1" name="Google Shape;591;h2627160d5792b11b_0_5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[3:54–3:59]  SLIDE 8 · REVEAL 2 OF 4  (9 words)</a:t>
            </a:r>
          </a:p>
          <a:p>
            <a:r>
              <a:rPr lang="en-US" sz="1200">
                <a:solidFill>
                  <a:schemeClr val="dk1"/>
                </a:solidFill>
                <a:latin typeface="Calibri"/>
                <a:ea typeface="Calibri"/>
                <a:cs typeface="Calibri"/>
                <a:sym typeface="Calibri"/>
              </a:rPr>
              <a:t>External ontologies, like the Disease Ontology, suggest established concepts.</a:t>
            </a:r>
          </a:p>
          <a:p/>
          <a:p>
            <a:r>
              <a:rPr lang="en-US" sz="1200">
                <a:solidFill>
                  <a:schemeClr val="dk1"/>
                </a:solidFill>
                <a:latin typeface="Calibri"/>
                <a:ea typeface="Calibri"/>
                <a:cs typeface="Calibri"/>
                <a:sym typeface="Calibri"/>
              </a:rPr>
              <a:t>PRESENTER / POINTER: External ontologies card.</a:t>
            </a:r>
          </a:p>
        </p:txBody>
      </p:sp>
      <p:sp>
        <p:nvSpPr>
          <p:cNvPr id="592" name="Google Shape;592;h2627160d5792b11b_0_5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h2627160d5792b11b_0_5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h2627160d5792b11b_0_5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[3:59–4:11]  SLIDE 8 · REVEAL 3 OF 4  (22 words)</a:t>
            </a:r>
          </a:p>
          <a:p>
            <a:r>
              <a:rPr lang="en-US" sz="1200">
                <a:solidFill>
                  <a:schemeClr val="dk1"/>
                </a:solidFill>
                <a:latin typeface="Calibri"/>
                <a:ea typeface="Calibri"/>
                <a:cs typeface="Calibri"/>
                <a:sym typeface="Calibri"/>
              </a:rPr>
              <a:t>And the third source is the distinctive one: the ontology we have built so far. Earlier tables become evidence for the next.</a:t>
            </a:r>
          </a:p>
          <a:p/>
          <a:p>
            <a:r>
              <a:rPr lang="en-US" sz="1200">
                <a:solidFill>
                  <a:schemeClr val="dk1"/>
                </a:solidFill>
                <a:latin typeface="Calibri"/>
                <a:ea typeface="Calibri"/>
                <a:cs typeface="Calibri"/>
                <a:sym typeface="Calibri"/>
              </a:rPr>
              <a:t>PRESENTER / POINTER: Growing core card; slow down here.</a:t>
            </a:r>
          </a:p>
        </p:txBody>
      </p:sp>
      <p:sp>
        <p:nvSpPr>
          <p:cNvPr id="628" name="Google Shape;628;h2627160d5792b11b_0_5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h2627160d5792b11b_0_6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1" name="Google Shape;671;h2627160d5792b11b_0_6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[4:11–4:22]  SLIDE 8 · REVEAL 4 OF 4  (19 words)</a:t>
            </a:r>
          </a:p>
          <a:p>
            <a:r>
              <a:rPr lang="en-US" sz="1200">
                <a:solidFill>
                  <a:schemeClr val="dk1"/>
                </a:solidFill>
                <a:latin typeface="Calibri"/>
                <a:ea typeface="Calibri"/>
                <a:cs typeface="Calibri"/>
                <a:sym typeface="Calibri"/>
              </a:rPr>
              <a:t>One query per table, built from its name, columns and foreign-key targets, retrieves the top matches from each source.</a:t>
            </a:r>
          </a:p>
          <a:p/>
          <a:p>
            <a:r>
              <a:rPr lang="en-US" sz="1200">
                <a:solidFill>
                  <a:schemeClr val="dk1"/>
                </a:solidFill>
                <a:latin typeface="Calibri"/>
                <a:ea typeface="Calibri"/>
                <a:cs typeface="Calibri"/>
                <a:sym typeface="Calibri"/>
              </a:rPr>
              <a:t>PRESENTER / POINTER: The query strip.</a:t>
            </a:r>
          </a:p>
          <a:p>
            <a:r>
              <a:rPr lang="en-US" sz="1200">
                <a:solidFill>
                  <a:schemeClr val="dk1"/>
                </a:solidFill>
                <a:latin typeface="Calibri"/>
                <a:ea typeface="Calibri"/>
                <a:cs typeface="Calibri"/>
                <a:sym typeface="Calibri"/>
              </a:rPr>
              <a:t>IF RUNNING LATE, DROP: "One query per table, built from its name, columns and foreign-key targets, retrieves the top matches from each source."</a:t>
            </a:r>
          </a:p>
          <a:p>
            <a:r>
              <a:rPr lang="en-US" sz="1200">
                <a:solidFill>
                  <a:schemeClr val="dk1"/>
                </a:solidFill>
                <a:latin typeface="Calibri"/>
                <a:ea typeface="Calibri"/>
                <a:cs typeface="Calibri"/>
                <a:sym typeface="Calibri"/>
              </a:rPr>
              <a:t>AUDIENCE TAKEAWAY: Three sources supply meaning; the growing core is unique to RIGOR.</a:t>
            </a:r>
          </a:p>
          <a:p>
            <a:r>
              <a:rPr lang="en-US" sz="1200">
                <a:solidFill>
                  <a:schemeClr val="dk1"/>
                </a:solidFill>
                <a:latin typeface="Calibri"/>
                <a:ea typeface="Calibri"/>
                <a:cs typeface="Calibri"/>
                <a:sym typeface="Calibri"/>
              </a:rPr>
              <a:t>SOURCE AND SCOPE: Paper Section 3.3 (all-MiniLM-L6-v2, Faiss, k = 3 per source).</a:t>
            </a:r>
          </a:p>
        </p:txBody>
      </p:sp>
      <p:sp>
        <p:nvSpPr>
          <p:cNvPr id="672" name="Google Shape;672;h2627160d5792b11b_0_6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h3b1f15762288d989_1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7" name="Google Shape;717;h3b1f15762288d989_1_1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[4:22–4:34]  SLIDE 9 · REVEAL 1 OF 2  (21 words)</a:t>
            </a:r>
          </a:p>
          <a:p>
            <a:r>
              <a:rPr b="0" i="0" lang="en-US" sz="1200" u="none" cap="none" strike="noStrike">
                <a:solidFill>
                  <a:schemeClr val="dk1"/>
                </a:solidFill>
                <a:latin typeface="IBM Plex Sans"/>
                <a:ea typeface="IBM Plex Sans"/>
                <a:cs typeface="IBM Plex Sans"/>
                <a:sym typeface="IBM Plex Sans"/>
              </a:rPr>
              <a:t>Step four: generate. We prompt the Gen-LLM with the direct mapping from step two, the retrieved context, and our enrichment instructions.</a:t>
            </a:r>
          </a:p>
          <a:p/>
          <a:p>
            <a:r>
              <a:rPr b="0" i="0" lang="en-US" sz="1200" u="none" cap="none" strike="noStrike">
                <a:solidFill>
                  <a:schemeClr val="dk1"/>
                </a:solidFill>
                <a:latin typeface="IBM Plex Sans"/>
                <a:ea typeface="IBM Plex Sans"/>
                <a:cs typeface="IBM Plex Sans"/>
                <a:sym typeface="IBM Plex Sans"/>
              </a:rPr>
              <a:t>PRESENTER / POINTER: The subtitle, then the BEFORE panel.</a:t>
            </a:r>
          </a:p>
        </p:txBody>
      </p:sp>
      <p:sp>
        <p:nvSpPr>
          <p:cNvPr id="718" name="Google Shape;718;h3b1f15762288d989_1_1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h4e1cd23050cdd6e6_1_3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h4e1cd23050cdd6e6_1_3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[4:34–5:09]  SLIDE 9 · REVEAL 2 OF 2  (61 words)</a:t>
            </a:r>
          </a:p>
          <a:p>
            <a:r>
              <a:rPr b="0" i="0" lang="en-US" sz="1200" u="none" cap="none" strike="noStrike">
                <a:solidFill>
                  <a:schemeClr val="dk1"/>
                </a:solidFill>
                <a:latin typeface="IBM Plex Sans"/>
                <a:ea typeface="IBM Plex Sans"/>
                <a:cs typeface="IBM Plex Sans"/>
                <a:sym typeface="IBM Plex Sans"/>
              </a:rPr>
              <a:t>What comes back is a delta ontology: the same lines, with new ones filled into the gaps. The foreign key becomes the named relation hasPatientData, and provenance links each property to its column: both from the schema. The labels come from the documentation, the link to bone marrow disease from the Disease Ontology, and the ECOG scale from the LLM itself.</a:t>
            </a:r>
          </a:p>
          <a:p/>
          <a:p>
            <a:r>
              <a:rPr b="0" i="0" lang="en-US" sz="1200" u="none" cap="none" strike="noStrike">
                <a:solidFill>
                  <a:schemeClr val="dk1"/>
                </a:solidFill>
                <a:latin typeface="IBM Plex Sans"/>
                <a:ea typeface="IBM Plex Sans"/>
                <a:cs typeface="IBM Plex Sans"/>
                <a:sym typeface="IBM Plex Sans"/>
              </a:rPr>
              <a:t>PRESENTER / POINTER: Left to right on one row, then down the highlighted lines and their tags.</a:t>
            </a:r>
          </a:p>
          <a:p>
            <a:r>
              <a:rPr b="0" i="0" lang="en-US" sz="1200" u="none" cap="none" strike="noStrike">
                <a:solidFill>
                  <a:schemeClr val="dk1"/>
                </a:solidFill>
                <a:latin typeface="IBM Plex Sans"/>
                <a:ea typeface="IBM Plex Sans"/>
                <a:cs typeface="IBM Plex Sans"/>
                <a:sym typeface="IBM Plex Sans"/>
              </a:rPr>
              <a:t>AUDIENCE TAKEAWAY: The LLM enriches a grounded draft, and every addition is traceable.</a:t>
            </a:r>
          </a:p>
          <a:p>
            <a:r>
              <a:rPr b="0" i="0" lang="en-US" sz="1200" u="none" cap="none" strike="noStrike">
                <a:solidFill>
                  <a:schemeClr val="dk1"/>
                </a:solidFill>
                <a:latin typeface="IBM Plex Sans"/>
                <a:ea typeface="IBM Plex Sans"/>
                <a:cs typeface="IBM Plex Sans"/>
                <a:sym typeface="IBM Plex Sans"/>
              </a:rPr>
              <a:t>SOURCE AND SCOPE: Paper Sections 3.2-3.4. Row-aligned BEFORE/AFTER, both verified with the OWL API.</a:t>
            </a:r>
          </a:p>
        </p:txBody>
      </p:sp>
      <p:sp>
        <p:nvSpPr>
          <p:cNvPr id="763" name="Google Shape;763;h4e1cd23050cdd6e6_1_3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h3b1f15762288d989_2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5" name="Google Shape;845;h3b1f15762288d989_2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[5:09–5:41]  SLIDE 10 · REVEAL 1 OF 3  (55 words)</a:t>
            </a:r>
          </a:p>
          <a:p>
            <a:r>
              <a:rPr b="0" i="0" lang="en-US" sz="1200" u="none" cap="none" strike="noStrike">
                <a:solidFill>
                  <a:schemeClr val="dk1"/>
                </a:solidFill>
                <a:latin typeface="IBM Plex Sans"/>
                <a:ea typeface="IBM Plex Sans"/>
                <a:cs typeface="IBM Plex Sans"/>
                <a:sym typeface="IBM Plex Sans"/>
              </a:rPr>
              <a:t>Step five: validate. Plausible fragments can still break the ontology. First, a structural error. A later table, lab_result, reuses hasPatientData with a second domain, LabResult, while the core already says Admission. Merged, OWL infers that every lab result with patient data is an admission: OOPS! pitfall P19. Graph checks catch it: one domain per property.</a:t>
            </a:r>
          </a:p>
          <a:p/>
          <a:p>
            <a:r>
              <a:rPr b="0" i="0" lang="en-US" sz="1200" u="none" cap="none" strike="noStrike">
                <a:solidFill>
                  <a:schemeClr val="dk1"/>
                </a:solidFill>
                <a:latin typeface="IBM Plex Sans"/>
                <a:ea typeface="IBM Plex Sans"/>
                <a:cs typeface="IBM Plex Sans"/>
                <a:sym typeface="IBM Plex Sans"/>
              </a:rPr>
              <a:t>PRESENTER / POINTER: Structural card: the red line, the existing domain, then 'one domain per property'.</a:t>
            </a:r>
          </a:p>
        </p:txBody>
      </p:sp>
      <p:sp>
        <p:nvSpPr>
          <p:cNvPr id="846" name="Google Shape;846;h3b1f15762288d989_2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h3b1f15762288d989_2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h3b1f15762288d989_2_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[5:41–6:06]  SLIDE 10 · REVEAL 2 OF 3  (44 words)</a:t>
            </a:r>
          </a:p>
          <a:p>
            <a:r>
              <a:rPr b="0" i="0" lang="en-US" sz="1200" u="none" cap="none" strike="noStrike">
                <a:solidFill>
                  <a:schemeClr val="dk1"/>
                </a:solidFill>
                <a:latin typeface="IBM Plex Sans"/>
                <a:ea typeface="IBM Plex Sans"/>
                <a:cs typeface="IBM Plex Sans"/>
                <a:sym typeface="IBM Plex Sans"/>
              </a:rPr>
              <a:t>Second, a semantic error. For admission, the model generates hasPatient with range Patient, although the core already has PatientData. Valid OWL, but now two classes mean the same thing, and no rule sees that. The Judge-LLM sees the core and asks to reuse PatientData.</a:t>
            </a:r>
          </a:p>
          <a:p/>
          <a:p>
            <a:r>
              <a:rPr b="0" i="0" lang="en-US" sz="1200" u="none" cap="none" strike="noStrike">
                <a:solidFill>
                  <a:schemeClr val="dk1"/>
                </a:solidFill>
                <a:latin typeface="IBM Plex Sans"/>
                <a:ea typeface="IBM Plex Sans"/>
                <a:cs typeface="IBM Plex Sans"/>
                <a:sym typeface="IBM Plex Sans"/>
              </a:rPr>
              <a:t>PRESENTER / POINTER: Semantic card: the red line, then 'two classes, same thing'.</a:t>
            </a:r>
          </a:p>
        </p:txBody>
      </p:sp>
      <p:sp>
        <p:nvSpPr>
          <p:cNvPr id="872" name="Google Shape;872;h3b1f15762288d989_2_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h3b1f15762288d989_2_1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4" name="Google Shape;904;h3b1f15762288d989_2_1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[6:06–6:24]  SLIDE 10 · REVEAL 3 OF 3  (32 words)</a:t>
            </a:r>
          </a:p>
          <a:p>
            <a:r>
              <a:rPr b="0" i="0" lang="en-US" sz="1200" u="none" cap="none" strike="noStrike">
                <a:solidFill>
                  <a:schemeClr val="dk1"/>
                </a:solidFill>
                <a:latin typeface="IBM Plex Sans"/>
                <a:ea typeface="IBM Plex Sans"/>
                <a:cs typeface="IBM Plex Sans"/>
                <a:sym typeface="IBM Plex Sans"/>
              </a:rPr>
              <a:t>Either way, problems go back to the Gen-LLM, with up to two retries. If it still fails, the Judge-LLM keeps the better of the Gen-LLM's final version and the plain direct mapping.</a:t>
            </a:r>
          </a:p>
          <a:p/>
          <a:p>
            <a:r>
              <a:rPr b="0" i="0" lang="en-US" sz="1200" u="none" cap="none" strike="noStrike">
                <a:solidFill>
                  <a:schemeClr val="dk1"/>
                </a:solidFill>
                <a:latin typeface="IBM Plex Sans"/>
                <a:ea typeface="IBM Plex Sans"/>
                <a:cs typeface="IBM Plex Sans"/>
                <a:sym typeface="IBM Plex Sans"/>
              </a:rPr>
              <a:t>PRESENTER / POINTER: The strip.</a:t>
            </a:r>
          </a:p>
          <a:p>
            <a:r>
              <a:rPr b="0" i="0" lang="en-US" sz="1200" u="none" cap="none" strike="noStrike">
                <a:solidFill>
                  <a:schemeClr val="dk1"/>
                </a:solidFill>
                <a:latin typeface="IBM Plex Sans"/>
                <a:ea typeface="IBM Plex Sans"/>
                <a:cs typeface="IBM Plex Sans"/>
                <a:sym typeface="IBM Plex Sans"/>
              </a:rPr>
              <a:t>AUDIENCE TAKEAWAY: Rules catch clashes in structure; the Judge catches clashes in meaning.</a:t>
            </a:r>
          </a:p>
          <a:p>
            <a:r>
              <a:rPr b="0" i="0" lang="en-US" sz="1200" u="none" cap="none" strike="noStrike">
                <a:solidFill>
                  <a:schemeClr val="dk1"/>
                </a:solidFill>
                <a:latin typeface="IBM Plex Sans"/>
                <a:ea typeface="IBM Plex Sans"/>
                <a:cs typeface="IBM Plex Sans"/>
                <a:sym typeface="IBM Plex Sans"/>
              </a:rPr>
              <a:t>SOURCE AND SCOPE: Paper Section 3.5 (Judge criterion 9: core ontology consistency; graph check: domain/range cardinality; retry budget k = 2). Two domains = OOPS! pitfall P19, still reported in 3 of 9 RIGOR runs (Table 7). Examples verified with the OWL API (presentation/excerpts/slide10_*.omn).</a:t>
            </a:r>
          </a:p>
          <a:p/>
          <a:p>
            <a:r>
              <a:rPr b="0" i="0" lang="en-US" sz="1200" u="none" cap="none" strike="noStrike">
                <a:solidFill>
                  <a:schemeClr val="dk1"/>
                </a:solidFill>
                <a:latin typeface="IBM Plex Sans"/>
                <a:ea typeface="IBM Plex Sans"/>
                <a:cs typeface="IBM Plex Sans"/>
                <a:sym typeface="IBM Plex Sans"/>
              </a:rPr>
              <a:t>IF ASKED: P19 is exactly the error that sometimes still slips through (3 of 9 runs); putting the validators inside the generation loop is our next step (slide 19).</a:t>
            </a:r>
          </a:p>
        </p:txBody>
      </p:sp>
      <p:sp>
        <p:nvSpPr>
          <p:cNvPr id="905" name="Google Shape;905;h3b1f15762288d989_2_1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0" name="Google Shape;940;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[6:24–6:49]  SLIDE 11  (44 words)</a:t>
            </a:r>
          </a:p>
          <a:p>
            <a:r>
              <a:rPr lang="en-US" sz="1200">
                <a:solidFill>
                  <a:schemeClr val="dk1"/>
                </a:solidFill>
                <a:latin typeface="Calibri"/>
                <a:ea typeface="Calibri"/>
                <a:cs typeface="Calibri"/>
                <a:sym typeface="Calibri"/>
              </a:rPr>
              <a:t>Step six: merge. The validated delta joins the core ontology. Because RIGOR reuses identifiers, this is a simple union of axioms. And here is the loop: the expanded ontology becomes a retrieval source for the next table. Each table builds on the ones before.</a:t>
            </a:r>
          </a:p>
          <a:p/>
          <a:p>
            <a:r>
              <a:rPr lang="en-US" sz="1200">
                <a:solidFill>
                  <a:schemeClr val="dk1"/>
                </a:solidFill>
                <a:latin typeface="Calibri"/>
                <a:ea typeface="Calibri"/>
                <a:cs typeface="Calibri"/>
                <a:sym typeface="Calibri"/>
              </a:rPr>
              <a:t>PRESENTER / POINTER: Core plus delta, then the loop strip.</a:t>
            </a:r>
          </a:p>
          <a:p>
            <a:r>
              <a:rPr lang="en-US" sz="1200">
                <a:solidFill>
                  <a:schemeClr val="dk1"/>
                </a:solidFill>
                <a:latin typeface="Calibri"/>
                <a:ea typeface="Calibri"/>
                <a:cs typeface="Calibri"/>
                <a:sym typeface="Calibri"/>
              </a:rPr>
              <a:t>AUDIENCE TAKEAWAY: The ontology is both the output and the next input.</a:t>
            </a:r>
          </a:p>
          <a:p>
            <a:r>
              <a:rPr lang="en-US" sz="1200">
                <a:solidFill>
                  <a:schemeClr val="dk1"/>
                </a:solidFill>
                <a:latin typeface="Calibri"/>
                <a:ea typeface="Calibri"/>
                <a:cs typeface="Calibri"/>
                <a:sym typeface="Calibri"/>
              </a:rPr>
              <a:t>SOURCE AND SCOPE: Paper Section 3.6.</a:t>
            </a:r>
          </a:p>
        </p:txBody>
      </p:sp>
      <p:sp>
        <p:nvSpPr>
          <p:cNvPr id="941" name="Google Shape;941;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h4c5bf77df5a6a1aa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3" name="Google Shape;983;h4c5bf77df5a6a1aa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[6:49–6:59]  SLIDE 12 · REVEAL 1 OF 6  (18 words)</a:t>
            </a:r>
          </a:p>
          <a:p>
            <a:r>
              <a:rPr b="0" i="0" lang="en-US" sz="1200" u="none" cap="none" strike="noStrike">
                <a:solidFill>
                  <a:schemeClr val="dk1"/>
                </a:solidFill>
                <a:latin typeface="IBM Plex Sans"/>
                <a:ea typeface="IBM Plex Sans"/>
                <a:cs typeface="IBM Plex Sans"/>
                <a:sym typeface="IBM Plex Sans"/>
              </a:rPr>
              <a:t>Let me put the pieces together, as in the paper's Figure 1. First, the schema decides the order.</a:t>
            </a:r>
          </a:p>
          <a:p/>
          <a:p>
            <a:r>
              <a:rPr b="0" i="0" lang="en-US" sz="1200" u="none" cap="none" strike="noStrike">
                <a:solidFill>
                  <a:schemeClr val="dk1"/>
                </a:solidFill>
                <a:latin typeface="IBM Plex Sans"/>
                <a:ea typeface="IBM Plex Sans"/>
                <a:cs typeface="IBM Plex Sans"/>
                <a:sym typeface="IBM Plex Sans"/>
              </a:rPr>
              <a:t>PRESENTER / POINTER: Quick clicks from here. Reconnect, do not re-explain.</a:t>
            </a:r>
          </a:p>
        </p:txBody>
      </p:sp>
      <p:sp>
        <p:nvSpPr>
          <p:cNvPr id="984" name="Google Shape;984;h4c5bf77df5a6a1aa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h4c5bf77df5a6a1aa_1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5" name="Google Shape;1015;h4c5bf77df5a6a1aa_1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[6:59–7:03]  SLIDE 12 · REVEAL 2 OF 6  (6 words)</a:t>
            </a:r>
          </a:p>
          <a:p>
            <a:r>
              <a:rPr b="0" i="0" lang="en-US" sz="1200" u="none" cap="none" strike="noStrike">
                <a:solidFill>
                  <a:schemeClr val="dk1"/>
                </a:solidFill>
                <a:latin typeface="IBM Plex Sans"/>
                <a:ea typeface="IBM Plex Sans"/>
                <a:cs typeface="IBM Plex Sans"/>
                <a:sym typeface="IBM Plex Sans"/>
              </a:rPr>
              <a:t>Each table gets its deterministic seed.</a:t>
            </a:r>
          </a:p>
          <a:p/>
          <a:p>
            <a:r>
              <a:rPr b="0" i="0" lang="en-US" sz="1200" u="none" cap="none" strike="noStrike">
                <a:solidFill>
                  <a:schemeClr val="dk1"/>
                </a:solidFill>
                <a:latin typeface="IBM Plex Sans"/>
                <a:ea typeface="IBM Plex Sans"/>
                <a:cs typeface="IBM Plex Sans"/>
                <a:sym typeface="IBM Plex Sans"/>
              </a:rPr>
              <a:t>PRESENTER / POINTER: Direct mapping box.</a:t>
            </a:r>
          </a:p>
        </p:txBody>
      </p:sp>
      <p:sp>
        <p:nvSpPr>
          <p:cNvPr id="1016" name="Google Shape;1016;h4c5bf77df5a6a1aa_1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5" name="Shape 1055"/>
        <p:cNvGrpSpPr/>
        <p:nvPr/>
      </p:nvGrpSpPr>
      <p:grpSpPr>
        <a:xfrm>
          <a:off x="0" y="0"/>
          <a:ext cx="0" cy="0"/>
          <a:chOff x="0" y="0"/>
          <a:chExt cx="0" cy="0"/>
        </a:xfrm>
      </p:grpSpPr>
      <p:sp>
        <p:nvSpPr>
          <p:cNvPr id="1056" name="Google Shape;1056;h4c5bf77df5a6a1aa_1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7" name="Google Shape;1057;h4c5bf77df5a6a1aa_1_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[7:03–7:10]  SLIDE 12 · REVEAL 3 OF 6  (13 words)</a:t>
            </a:r>
          </a:p>
          <a:p>
            <a:r>
              <a:rPr b="0" i="0" lang="en-US" sz="1200" u="none" cap="none" strike="noStrike">
                <a:solidFill>
                  <a:schemeClr val="dk1"/>
                </a:solidFill>
                <a:latin typeface="IBM Plex Sans"/>
                <a:ea typeface="IBM Plex Sans"/>
                <a:cs typeface="IBM Plex Sans"/>
                <a:sym typeface="IBM Plex Sans"/>
              </a:rPr>
              <a:t>Three channels retrieve meaning: external ontologies, documentation, and the core built so far.</a:t>
            </a:r>
          </a:p>
          <a:p/>
          <a:p>
            <a:r>
              <a:rPr b="0" i="0" lang="en-US" sz="1200" u="none" cap="none" strike="noStrike">
                <a:solidFill>
                  <a:schemeClr val="dk1"/>
                </a:solidFill>
                <a:latin typeface="IBM Plex Sans"/>
                <a:ea typeface="IBM Plex Sans"/>
                <a:cs typeface="IBM Plex Sans"/>
                <a:sym typeface="IBM Plex Sans"/>
              </a:rPr>
              <a:t>PRESENTER / POINTER: The three retrieval boxes.</a:t>
            </a:r>
          </a:p>
        </p:txBody>
      </p:sp>
      <p:sp>
        <p:nvSpPr>
          <p:cNvPr id="1058" name="Google Shape;1058;h4c5bf77df5a6a1aa_1_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h4c5bf77df5a6a1aa_1_1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8" name="Google Shape;1128;h4c5bf77df5a6a1aa_1_14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[7:10–7:16]  SLIDE 12 · REVEAL 4 OF 6  (10 words)</a:t>
            </a:r>
          </a:p>
          <a:p>
            <a:r>
              <a:rPr b="0" i="0" lang="en-US" sz="1200" u="none" cap="none" strike="noStrike">
                <a:solidFill>
                  <a:schemeClr val="dk1"/>
                </a:solidFill>
                <a:latin typeface="IBM Plex Sans"/>
                <a:ea typeface="IBM Plex Sans"/>
                <a:cs typeface="IBM Plex Sans"/>
                <a:sym typeface="IBM Plex Sans"/>
              </a:rPr>
              <a:t>The Gen-LLM combines seed and context into a delta ontology.</a:t>
            </a:r>
          </a:p>
          <a:p/>
          <a:p>
            <a:r>
              <a:rPr b="0" i="0" lang="en-US" sz="1200" u="none" cap="none" strike="noStrike">
                <a:solidFill>
                  <a:schemeClr val="dk1"/>
                </a:solidFill>
                <a:latin typeface="IBM Plex Sans"/>
                <a:ea typeface="IBM Plex Sans"/>
                <a:cs typeface="IBM Plex Sans"/>
                <a:sym typeface="IBM Plex Sans"/>
              </a:rPr>
              <a:t>PRESENTER / POINTER: Gen-LLM.</a:t>
            </a:r>
          </a:p>
        </p:txBody>
      </p:sp>
      <p:sp>
        <p:nvSpPr>
          <p:cNvPr id="1129" name="Google Shape;1129;h4c5bf77df5a6a1aa_1_14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h4c5bf77df5a6a1aa_1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8" name="Google Shape;1218;h4c5bf77df5a6a1aa_1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[7:16–7:19]  SLIDE 12 · REVEAL 5 OF 6  (6 words)</a:t>
            </a:r>
          </a:p>
          <a:p>
            <a:r>
              <a:rPr b="0" i="0" lang="en-US" sz="1200" u="none" cap="none" strike="noStrike">
                <a:solidFill>
                  <a:schemeClr val="dk1"/>
                </a:solidFill>
                <a:latin typeface="IBM Plex Sans"/>
                <a:ea typeface="IBM Plex Sans"/>
                <a:cs typeface="IBM Plex Sans"/>
                <a:sym typeface="IBM Plex Sans"/>
              </a:rPr>
              <a:t>A Judge-LLM and rules validate it.</a:t>
            </a:r>
          </a:p>
          <a:p/>
          <a:p>
            <a:r>
              <a:rPr b="0" i="0" lang="en-US" sz="1200" u="none" cap="none" strike="noStrike">
                <a:solidFill>
                  <a:schemeClr val="dk1"/>
                </a:solidFill>
                <a:latin typeface="IBM Plex Sans"/>
                <a:ea typeface="IBM Plex Sans"/>
                <a:cs typeface="IBM Plex Sans"/>
                <a:sym typeface="IBM Plex Sans"/>
              </a:rPr>
              <a:t>PRESENTER / POINTER: Validate + refine.</a:t>
            </a:r>
          </a:p>
        </p:txBody>
      </p:sp>
      <p:sp>
        <p:nvSpPr>
          <p:cNvPr id="1219" name="Google Shape;1219;h4c5bf77df5a6a1aa_1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2" name="Shape 1312"/>
        <p:cNvGrpSpPr/>
        <p:nvPr/>
      </p:nvGrpSpPr>
      <p:grpSpPr>
        <a:xfrm>
          <a:off x="0" y="0"/>
          <a:ext cx="0" cy="0"/>
          <a:chOff x="0" y="0"/>
          <a:chExt cx="0" cy="0"/>
        </a:xfrm>
      </p:grpSpPr>
      <p:sp>
        <p:nvSpPr>
          <p:cNvPr id="1313" name="Google Shape;13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4" name="Google Shape;1314;p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[7:19–7:27]  SLIDE 12 · REVEAL 6 OF 6  (14 words)</a:t>
            </a:r>
          </a:p>
          <a:p>
            <a:r>
              <a:rPr b="0" i="0" lang="en-US" sz="1200" u="none" cap="none" strike="noStrike">
                <a:solidFill>
                  <a:schemeClr val="dk1"/>
                </a:solidFill>
                <a:latin typeface="IBM Plex Sans"/>
                <a:ea typeface="IBM Plex Sans"/>
                <a:cs typeface="IBM Plex Sans"/>
                <a:sym typeface="IBM Plex Sans"/>
              </a:rPr>
              <a:t>And the merged core feeds retrieval for the next table. That loop is RIGOR.</a:t>
            </a:r>
          </a:p>
          <a:p/>
          <a:p>
            <a:r>
              <a:rPr b="0" i="0" lang="en-US" sz="1200" u="none" cap="none" strike="noStrike">
                <a:solidFill>
                  <a:schemeClr val="dk1"/>
                </a:solidFill>
                <a:latin typeface="IBM Plex Sans"/>
                <a:ea typeface="IBM Plex Sans"/>
                <a:cs typeface="IBM Plex Sans"/>
                <a:sym typeface="IBM Plex Sans"/>
              </a:rPr>
              <a:t>PRESENTER / POINTER: Trace the return arrow from (i) back to (e).</a:t>
            </a:r>
          </a:p>
          <a:p>
            <a:r>
              <a:rPr b="0" i="0" lang="en-US" sz="1200" u="none" cap="none" strike="noStrike">
                <a:solidFill>
                  <a:schemeClr val="dk1"/>
                </a:solidFill>
                <a:latin typeface="IBM Plex Sans"/>
                <a:ea typeface="IBM Plex Sans"/>
                <a:cs typeface="IBM Plex Sans"/>
                <a:sym typeface="IBM Plex Sans"/>
              </a:rPr>
              <a:t>AUDIENCE TAKEAWAY: Order, seed, retrieve, generate, validate, merge, loop.</a:t>
            </a:r>
          </a:p>
          <a:p>
            <a:r>
              <a:rPr b="0" i="0" lang="en-US" sz="1200" u="none" cap="none" strike="noStrike">
                <a:solidFill>
                  <a:schemeClr val="dk1"/>
                </a:solidFill>
                <a:latin typeface="IBM Plex Sans"/>
                <a:ea typeface="IBM Plex Sans"/>
                <a:cs typeface="IBM Plex Sans"/>
                <a:sym typeface="IBM Plex Sans"/>
              </a:rPr>
              <a:t>SOURCE AND SCOPE: Paper Fig. 1 (a)-(i).</a:t>
            </a:r>
          </a:p>
        </p:txBody>
      </p:sp>
      <p:sp>
        <p:nvSpPr>
          <p:cNvPr id="1315" name="Google Shape;1315;p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h547f90b031e64a91_0_1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3" name="Google Shape;1423;h547f90b031e64a91_0_1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[7:27–7:41]  SLIDE 13 · REVEAL 1 OF 7  (24 words)</a:t>
            </a:r>
          </a:p>
          <a:p>
            <a:r>
              <a:rPr lang="en-US" sz="1200">
                <a:solidFill>
                  <a:schemeClr val="dk1"/>
                </a:solidFill>
                <a:latin typeface="Calibri"/>
                <a:ea typeface="Calibri"/>
                <a:cs typeface="Calibri"/>
                <a:sym typeface="Calibri"/>
              </a:rPr>
              <a:t>Does this work beyond one example? We tested two medical databases: a private liver-cancer registry from Leipzig, and the large public eICU intensive-care database.</a:t>
            </a:r>
          </a:p>
          <a:p/>
          <a:p>
            <a:r>
              <a:rPr lang="en-US" sz="1200">
                <a:solidFill>
                  <a:schemeClr val="dk1"/>
                </a:solidFill>
                <a:latin typeface="Calibri"/>
                <a:ea typeface="Calibri"/>
                <a:cs typeface="Calibri"/>
                <a:sym typeface="Calibri"/>
              </a:rPr>
              <a:t>PRESENTER / POINTER: Liver Cancer, then eICU-CRD. Do not read the numbers.</a:t>
            </a:r>
          </a:p>
        </p:txBody>
      </p:sp>
      <p:sp>
        <p:nvSpPr>
          <p:cNvPr id="1424" name="Google Shape;1424;h547f90b031e64a91_0_1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h547f90b031e64a91_0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7" name="Google Shape;1447;h547f90b031e64a91_0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[7:41–7:46]  SLIDE 13 · REVEAL 2 OF 7  (9 words)</a:t>
            </a:r>
          </a:p>
          <a:p>
            <a:r>
              <a:rPr lang="en-US" sz="1200">
                <a:solidFill>
                  <a:schemeClr val="dk1"/>
                </a:solidFill>
                <a:latin typeface="Calibri"/>
                <a:ea typeface="Calibri"/>
                <a:cs typeface="Calibri"/>
                <a:sym typeface="Calibri"/>
              </a:rPr>
              <a:t>And Chinook, a music store, as a second domain.</a:t>
            </a:r>
          </a:p>
          <a:p/>
          <a:p>
            <a:r>
              <a:rPr lang="en-US" sz="1200">
                <a:solidFill>
                  <a:schemeClr val="dk1"/>
                </a:solidFill>
                <a:latin typeface="Calibri"/>
                <a:ea typeface="Calibri"/>
                <a:cs typeface="Calibri"/>
                <a:sym typeface="Calibri"/>
              </a:rPr>
              <a:t>PRESENTER / POINTER: Chinook card.</a:t>
            </a:r>
          </a:p>
        </p:txBody>
      </p:sp>
      <p:sp>
        <p:nvSpPr>
          <p:cNvPr id="1448" name="Google Shape;1448;h547f90b031e64a91_0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h547f90b031e64a91_0_1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0" name="Google Shape;1480;h547f90b031e64a91_0_17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[7:46–8:01]  SLIDE 13 · REVEAL 3 OF 7  (25 words)</a:t>
            </a:r>
          </a:p>
          <a:p>
            <a:r>
              <a:rPr lang="en-US" sz="1200">
                <a:solidFill>
                  <a:schemeClr val="dk1"/>
                </a:solidFill>
                <a:latin typeface="Calibri"/>
                <a:ea typeface="Calibri"/>
                <a:cs typeface="Calibri"/>
                <a:sym typeface="Calibri"/>
              </a:rPr>
              <a:t>We compare four methods: direct mapping; an LLM baseline that sees only the table; Non-Iterative RAG, which adds retrieval in a single pass; and RIGOR.</a:t>
            </a:r>
          </a:p>
          <a:p/>
          <a:p>
            <a:r>
              <a:rPr lang="en-US" sz="1200">
                <a:solidFill>
                  <a:schemeClr val="dk1"/>
                </a:solidFill>
                <a:latin typeface="Calibri"/>
                <a:ea typeface="Calibri"/>
                <a:cs typeface="Calibri"/>
                <a:sym typeface="Calibri"/>
              </a:rPr>
              <a:t>PRESENTER / POINTER: The four method cards, left to right.</a:t>
            </a:r>
          </a:p>
        </p:txBody>
      </p:sp>
      <p:sp>
        <p:nvSpPr>
          <p:cNvPr id="1481" name="Google Shape;1481;h547f90b031e64a91_0_17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2" name="Shape 1532"/>
        <p:cNvGrpSpPr/>
        <p:nvPr/>
      </p:nvGrpSpPr>
      <p:grpSpPr>
        <a:xfrm>
          <a:off x="0" y="0"/>
          <a:ext cx="0" cy="0"/>
          <a:chOff x="0" y="0"/>
          <a:chExt cx="0" cy="0"/>
        </a:xfrm>
      </p:grpSpPr>
      <p:sp>
        <p:nvSpPr>
          <p:cNvPr id="1533" name="Google Shape;1533;h547f90b031e64a91_0_2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4" name="Google Shape;1534;h547f90b031e64a91_0_2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[8:01–8:11]  SLIDE 13 · REVEAL 4 OF 7  (19 words)</a:t>
            </a:r>
          </a:p>
          <a:p>
            <a:r>
              <a:rPr lang="en-US" sz="1200">
                <a:solidFill>
                  <a:schemeClr val="dk1"/>
                </a:solidFill>
                <a:latin typeface="Calibri"/>
                <a:ea typeface="Calibri"/>
                <a:cs typeface="Calibri"/>
                <a:sym typeface="Calibri"/>
              </a:rPr>
              <a:t>The three LLM methods each run with three models, Claude, Mistral and DeepSeek, on the three databases: twenty-seven ontologies.</a:t>
            </a:r>
          </a:p>
          <a:p/>
          <a:p>
            <a:r>
              <a:rPr lang="en-US" sz="1200">
                <a:solidFill>
                  <a:schemeClr val="dk1"/>
                </a:solidFill>
                <a:latin typeface="Calibri"/>
                <a:ea typeface="Calibri"/>
                <a:cs typeface="Calibri"/>
                <a:sym typeface="Calibri"/>
              </a:rPr>
              <a:t>PRESENTER / POINTER: The 27 line.</a:t>
            </a:r>
          </a:p>
        </p:txBody>
      </p:sp>
      <p:sp>
        <p:nvSpPr>
          <p:cNvPr id="1535" name="Google Shape;1535;h547f90b031e64a91_0_2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h547f90b031e64a91_0_3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9" name="Google Shape;1589;h547f90b031e64a91_0_3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[8:11–8:14]  SLIDE 13 · REVEAL 5 OF 7  (4 words)</a:t>
            </a:r>
          </a:p>
          <a:p>
            <a:r>
              <a:rPr lang="en-US" sz="1200">
                <a:solidFill>
                  <a:schemeClr val="dk1"/>
                </a:solidFill>
                <a:latin typeface="Calibri"/>
                <a:ea typeface="Calibri"/>
                <a:cs typeface="Calibri"/>
                <a:sym typeface="Calibri"/>
              </a:rPr>
              <a:t>Plus three direct mappings,</a:t>
            </a:r>
          </a:p>
          <a:p/>
          <a:p>
            <a:r>
              <a:rPr lang="en-US" sz="1200">
                <a:solidFill>
                  <a:schemeClr val="dk1"/>
                </a:solidFill>
                <a:latin typeface="Calibri"/>
                <a:ea typeface="Calibri"/>
                <a:cs typeface="Calibri"/>
                <a:sym typeface="Calibri"/>
              </a:rPr>
              <a:t>PRESENTER / POINTER: The 3 line.</a:t>
            </a:r>
          </a:p>
        </p:txBody>
      </p:sp>
      <p:sp>
        <p:nvSpPr>
          <p:cNvPr id="1590" name="Google Shape;1590;h547f90b031e64a91_0_3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h547f90b031e64a91_0_3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6" name="Google Shape;1646;h547f90b031e64a91_0_3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[8:14–8:16]  SLIDE 13 · REVEAL 6 OF 7  (4 words)</a:t>
            </a:r>
          </a:p>
          <a:p>
            <a:r>
              <a:rPr lang="en-US" sz="1200">
                <a:solidFill>
                  <a:schemeClr val="dk1"/>
                </a:solidFill>
                <a:latin typeface="Calibri"/>
                <a:ea typeface="Calibri"/>
                <a:cs typeface="Calibri"/>
                <a:sym typeface="Calibri"/>
              </a:rPr>
              <a:t>thirty ontologies in total.</a:t>
            </a:r>
          </a:p>
          <a:p/>
          <a:p>
            <a:r>
              <a:rPr lang="en-US" sz="1200">
                <a:solidFill>
                  <a:schemeClr val="dk1"/>
                </a:solidFill>
                <a:latin typeface="Calibri"/>
                <a:ea typeface="Calibri"/>
                <a:cs typeface="Calibri"/>
                <a:sym typeface="Calibri"/>
              </a:rPr>
              <a:t>PRESENTER / POINTER: The 30 line.</a:t>
            </a:r>
          </a:p>
        </p:txBody>
      </p:sp>
      <p:sp>
        <p:nvSpPr>
          <p:cNvPr id="1647" name="Google Shape;1647;h547f90b031e64a91_0_3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2" name="Shape 1702"/>
        <p:cNvGrpSpPr/>
        <p:nvPr/>
      </p:nvGrpSpPr>
      <p:grpSpPr>
        <a:xfrm>
          <a:off x="0" y="0"/>
          <a:ext cx="0" cy="0"/>
          <a:chOff x="0" y="0"/>
          <a:chExt cx="0" cy="0"/>
        </a:xfrm>
      </p:grpSpPr>
      <p:sp>
        <p:nvSpPr>
          <p:cNvPr id="1703" name="Google Shape;1703;h547f90b031e64a91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4" name="Google Shape;1704;h547f90b031e64a91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[8:16–8:26]  SLIDE 13 · REVEAL 7 OF 7  (17 words)</a:t>
            </a:r>
          </a:p>
          <a:p>
            <a:r>
              <a:rPr lang="en-US" sz="1200">
                <a:solidFill>
                  <a:schemeClr val="dk1"/>
                </a:solidFill>
                <a:latin typeface="Calibri"/>
                <a:ea typeface="Calibri"/>
                <a:cs typeface="Calibri"/>
                <a:sym typeface="Calibri"/>
              </a:rPr>
              <a:t>We check them with automatic quality checks, an LLM judge, ten human experts, and the BURR benchmark.</a:t>
            </a:r>
          </a:p>
          <a:p/>
          <a:p>
            <a:r>
              <a:rPr lang="en-US" sz="1200">
                <a:solidFill>
                  <a:schemeClr val="dk1"/>
                </a:solidFill>
                <a:latin typeface="Calibri"/>
                <a:ea typeface="Calibri"/>
                <a:cs typeface="Calibri"/>
                <a:sym typeface="Calibri"/>
              </a:rPr>
              <a:t>PRESENTER / POINTER: The evaluation strip.</a:t>
            </a:r>
          </a:p>
          <a:p>
            <a:r>
              <a:rPr lang="en-US" sz="1200">
                <a:solidFill>
                  <a:schemeClr val="dk1"/>
                </a:solidFill>
                <a:latin typeface="Calibri"/>
                <a:ea typeface="Calibri"/>
                <a:cs typeface="Calibri"/>
                <a:sym typeface="Calibri"/>
              </a:rPr>
              <a:t>AUDIENCE TAKEAWAY: Three databases, three LLMs, four methods, four kinds of evidence.</a:t>
            </a:r>
          </a:p>
          <a:p>
            <a:r>
              <a:rPr lang="en-US" sz="1200">
                <a:solidFill>
                  <a:schemeClr val="dk1"/>
                </a:solidFill>
                <a:latin typeface="Calibri"/>
                <a:ea typeface="Calibri"/>
                <a:cs typeface="Calibri"/>
                <a:sym typeface="Calibri"/>
              </a:rPr>
              <a:t>SOURCE AND SCOPE: Paper Sections 4.1-4.6. 30 ontologies = 3 LLM methods x 3 databases x 3 LLMs + 3 direct mappings. Models: Claude Opus 4.6, Mistral Small 24B, DeepSeek-Chat (paper footnotes 9-11).</a:t>
            </a:r>
          </a:p>
        </p:txBody>
      </p:sp>
      <p:sp>
        <p:nvSpPr>
          <p:cNvPr id="1705" name="Google Shape;1705;h547f90b031e64a91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h547f90b031e64a91_0_4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9" name="Google Shape;1759;h547f90b031e64a91_0_4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[8:26–9:00]  SLIDE 14  (56 words)</a:t>
            </a:r>
          </a:p>
          <a:p>
            <a:r>
              <a:rPr lang="en-US" sz="1200">
                <a:solidFill>
                  <a:schemeClr val="dk1"/>
                </a:solidFill>
                <a:latin typeface="Calibri"/>
                <a:ea typeface="Calibri"/>
                <a:cs typeface="Calibri"/>
                <a:sym typeface="Calibri"/>
              </a:rPr>
              <a:t>We go from the easiest check to the hardest. First, the basics: all thirty ontologies parse without errors and are logically consistent. Modeling errors are another story. Direct mapping averages about five hundred OOPS! pitfalls per ontology, RIGOR eight. Same LLM, same database: Mistral on eICU makes two hundred twenty with Non-Iterative RAG, two with RIGOR. [pause]</a:t>
            </a:r>
          </a:p>
          <a:p/>
          <a:p>
            <a:r>
              <a:rPr lang="en-US" sz="1200">
                <a:solidFill>
                  <a:schemeClr val="dk1"/>
                </a:solidFill>
                <a:latin typeface="Calibri"/>
                <a:ea typeface="Calibri"/>
                <a:cs typeface="Calibri"/>
                <a:sym typeface="Calibri"/>
              </a:rPr>
              <a:t>PRESENTER / POINTER: One breath for validity; then the averages; then the Mistral eICU column.</a:t>
            </a:r>
          </a:p>
          <a:p>
            <a:r>
              <a:rPr lang="en-US" sz="1200">
                <a:solidFill>
                  <a:schemeClr val="dk1"/>
                </a:solidFill>
                <a:latin typeface="Calibri"/>
                <a:ea typeface="Calibri"/>
                <a:cs typeface="Calibri"/>
                <a:sym typeface="Calibri"/>
              </a:rPr>
              <a:t>AUDIENCE TAKEAWAY: Every ontology is valid; RIGOR's have far fewer modeling errors, with every LLM.</a:t>
            </a:r>
          </a:p>
          <a:p>
            <a:r>
              <a:rPr lang="en-US" sz="1200">
                <a:solidFill>
                  <a:schemeClr val="dk1"/>
                </a:solidFill>
                <a:latin typeface="Calibri"/>
                <a:ea typeface="Calibri"/>
                <a:cs typeface="Calibri"/>
                <a:sym typeface="Calibri"/>
              </a:rPr>
              <a:t>SOURCE AND SCOPE: Paper Sec. 4.6-4.7 (RDFLib, HermiT) and Table 7 (OOPS! totals per run). 72% of the other methods' pitfalls are P08, missing annotations.</a:t>
            </a:r>
          </a:p>
          <a:p/>
          <a:p>
            <a:r>
              <a:rPr lang="en-US" sz="1200">
                <a:solidFill>
                  <a:schemeClr val="dk1"/>
                </a:solidFill>
                <a:latin typeface="Calibri"/>
                <a:ea typeface="Calibri"/>
                <a:cs typeface="Calibri"/>
                <a:sym typeface="Calibri"/>
              </a:rPr>
              <a:t>IF ASKED ABOUT CRITICAL ERRORS: P19 (multiple domains or ranges) is the only pitfall OOPS! rates critical, and it is the second-domain error from the validation slide. Per ontology: Direct Mapping 15, LLM baseline 17, Non-Iterative RAG 5.4, RIGOR 2.8; zero in 6 of RIGOR's 9 ontologies (Table 7). RIGOR's prompt allows one domain and one range, and the graph check rejects a second.</a:t>
            </a:r>
          </a:p>
        </p:txBody>
      </p:sp>
      <p:sp>
        <p:nvSpPr>
          <p:cNvPr id="1760" name="Google Shape;1760;h547f90b031e64a91_0_4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6" name="Shape 1826"/>
        <p:cNvGrpSpPr/>
        <p:nvPr/>
      </p:nvGrpSpPr>
      <p:grpSpPr>
        <a:xfrm>
          <a:off x="0" y="0"/>
          <a:ext cx="0" cy="0"/>
          <a:chOff x="0" y="0"/>
          <a:chExt cx="0" cy="0"/>
        </a:xfrm>
      </p:grpSpPr>
      <p:sp>
        <p:nvSpPr>
          <p:cNvPr id="1827" name="Google Shape;1827;h547f90b031e64a91_0_5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8" name="Google Shape;1828;h547f90b031e64a91_0_5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[9:00–9:19]  SLIDE 15 · REVEAL 1 OF 2  (34 words)</a:t>
            </a:r>
          </a:p>
          <a:p>
            <a:r>
              <a:rPr b="0" i="0" lang="en-US" sz="1200" u="none" cap="none" strike="noStrike">
                <a:solidFill>
                  <a:schemeClr val="dk1"/>
                </a:solidFill>
                <a:latin typeface="IBM Plex Sans"/>
                <a:ea typeface="IBM Plex Sans"/>
                <a:cs typeface="IBM Plex Sans"/>
                <a:sym typeface="IBM Plex Sans"/>
              </a:rPr>
              <a:t>Fewer errors, but is anything lost? On average, RIGOR covers ninety-three percent of the columns, as much as direct mapping. Non-Iterative RAG, with the same retrieved context but no seed, covers only a third.</a:t>
            </a:r>
          </a:p>
          <a:p/>
          <a:p>
            <a:r>
              <a:rPr b="0" i="0" lang="en-US" sz="1200" u="none" cap="none" strike="noStrike">
                <a:solidFill>
                  <a:schemeClr val="dk1"/>
                </a:solidFill>
                <a:latin typeface="IBM Plex Sans"/>
                <a:ea typeface="IBM Plex Sans"/>
                <a:cs typeface="IBM Plex Sans"/>
                <a:sym typeface="IBM Plex Sans"/>
              </a:rPr>
              <a:t>PRESENTER / POINTER: RIGOR's average next to Direct Mapping's, then the Non-Iterative RAG average.</a:t>
            </a:r>
          </a:p>
        </p:txBody>
      </p:sp>
      <p:sp>
        <p:nvSpPr>
          <p:cNvPr id="1829" name="Google Shape;1829;h547f90b031e64a91_0_5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3" name="Shape 1893"/>
        <p:cNvGrpSpPr/>
        <p:nvPr/>
      </p:nvGrpSpPr>
      <p:grpSpPr>
        <a:xfrm>
          <a:off x="0" y="0"/>
          <a:ext cx="0" cy="0"/>
          <a:chOff x="0" y="0"/>
          <a:chExt cx="0" cy="0"/>
        </a:xfrm>
      </p:grpSpPr>
      <p:sp>
        <p:nvSpPr>
          <p:cNvPr id="1894" name="Google Shape;1894;h547f90b031e64a91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5" name="Google Shape;1895;h547f90b031e64a91_0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[9:19–9:34]  SLIDE 15 · REVEAL 2 OF 2  (23 words)</a:t>
            </a:r>
          </a:p>
          <a:p>
            <a:r>
              <a:rPr b="0" i="0" lang="en-US" sz="1200" u="none" cap="none" strike="noStrike">
                <a:solidFill>
                  <a:schemeClr val="dk1"/>
                </a:solidFill>
                <a:latin typeface="IBM Plex Sans"/>
                <a:ea typeface="IBM Plex Sans"/>
                <a:cs typeface="IBM Plex Sans"/>
                <a:sym typeface="IBM Plex Sans"/>
              </a:rPr>
              <a:t>And it swings with the LLM, from six to seventy-eight percent. With RIGOR, every LLM keeps at least seventy-seven percent, in every database. [pause]</a:t>
            </a:r>
          </a:p>
          <a:p/>
          <a:p>
            <a:r>
              <a:rPr b="0" i="0" lang="en-US" sz="1200" u="none" cap="none" strike="noStrike">
                <a:solidFill>
                  <a:schemeClr val="dk1"/>
                </a:solidFill>
                <a:latin typeface="IBM Plex Sans"/>
                <a:ea typeface="IBM Plex Sans"/>
                <a:cs typeface="IBM Plex Sans"/>
                <a:sym typeface="IBM Plex Sans"/>
              </a:rPr>
              <a:t>PRESENTER / POINTER: The outlined Non-Iterative RAG row, then the strip.</a:t>
            </a:r>
          </a:p>
          <a:p>
            <a:r>
              <a:rPr b="0" i="0" lang="en-US" sz="1200" u="none" cap="none" strike="noStrike">
                <a:solidFill>
                  <a:schemeClr val="dk1"/>
                </a:solidFill>
                <a:latin typeface="IBM Plex Sans"/>
                <a:ea typeface="IBM Plex Sans"/>
                <a:cs typeface="IBM Plex Sans"/>
                <a:sym typeface="IBM Plex Sans"/>
              </a:rPr>
              <a:t>AUDIENCE TAKEAWAY: RIGOR keeps the schema as well as Direct Mapping, with every LLM.</a:t>
            </a:r>
          </a:p>
          <a:p>
            <a:r>
              <a:rPr b="0" i="0" lang="en-US" sz="1200" u="none" cap="none" strike="noStrike">
                <a:solidFill>
                  <a:schemeClr val="dk1"/>
                </a:solidFill>
                <a:latin typeface="IBM Plex Sans"/>
                <a:ea typeface="IBM Plex Sans"/>
                <a:cs typeface="IBM Plex Sans"/>
                <a:sym typeface="IBM Plex Sans"/>
              </a:rPr>
              <a:t>SOURCE AND SCOPE: Paper Table 9 (column coverage per run; embedding similarity &gt;= 0.55, all-MiniLM-L6-v2).</a:t>
            </a:r>
          </a:p>
          <a:p/>
          <a:p>
            <a:r>
              <a:rPr b="0" i="0" lang="en-US" sz="1200" u="none" cap="none" strike="noStrike">
                <a:solidFill>
                  <a:schemeClr val="dk1"/>
                </a:solidFill>
                <a:latin typeface="IBM Plex Sans"/>
                <a:ea typeface="IBM Plex Sans"/>
                <a:cs typeface="IBM Plex Sans"/>
                <a:sym typeface="IBM Plex Sans"/>
              </a:rPr>
              <a:t>IF ASKED WHY Non-Iterative RAG DROPS BUT THE BASELINE DOES NOT: the baseline only translates the table, so it keeps column names. Non-Iterative RAG does everything in one pass with a lot of retrieved context and silently drops properties (e.g. 6 data properties for 350 Liver Cancer columns with Mistral, Table 8); nothing checks coverage. RIGOR starts from a seed with every column, works one table at a time, and its validator rejects fragments that drop a column.</a:t>
            </a:r>
          </a:p>
          <a:p/>
          <a:p>
            <a:r>
              <a:rPr b="0" i="0" lang="en-US" sz="1200" u="none" cap="none" strike="noStrike">
                <a:solidFill>
                  <a:schemeClr val="dk1"/>
                </a:solidFill>
                <a:latin typeface="IBM Plex Sans"/>
                <a:ea typeface="IBM Plex Sans"/>
                <a:cs typeface="IBM Plex Sans"/>
                <a:sym typeface="IBM Plex Sans"/>
              </a:rPr>
              <a:t>IF ASKED ABOUT MODEL SIZE AND COST: with RIGOR, Mistral Small 24B reaches 98% coverage (Claude 95%) for about $0.12 across the three databases, against about $33 with Claude (Tables 9, 15).</a:t>
            </a:r>
          </a:p>
        </p:txBody>
      </p:sp>
      <p:sp>
        <p:nvSpPr>
          <p:cNvPr id="1896" name="Google Shape;1896;h547f90b031e64a91_0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h547f90b031e64a91_0_8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4" name="Google Shape;1964;h547f90b031e64a91_0_8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[9:34–10:00]  SLIDE 16  (42 words)</a:t>
            </a:r>
          </a:p>
          <a:p>
            <a:r>
              <a:rPr lang="en-US" sz="1200">
                <a:solidFill>
                  <a:schemeClr val="dk1"/>
                </a:solidFill>
                <a:latin typeface="Calibri"/>
                <a:ea typeface="Calibri"/>
                <a:cs typeface="Calibri"/>
                <a:sym typeface="Calibri"/>
              </a:rPr>
              <a:t>Nothing is lost. Is meaning added? Direct mapping and the LLM baseline add no labels, provenance or hierarchy, in any run. Non-Iterative RAG adds labels, but no provenance and no hierarchy. Only RIGOR adds all three, with every LLM, in every database. [pause]</a:t>
            </a:r>
          </a:p>
          <a:p/>
          <a:p>
            <a:r>
              <a:rPr lang="en-US" sz="1200">
                <a:solidFill>
                  <a:schemeClr val="dk1"/>
                </a:solidFill>
                <a:latin typeface="Calibri"/>
                <a:ea typeface="Calibri"/>
                <a:cs typeface="Calibri"/>
                <a:sym typeface="Calibri"/>
              </a:rPr>
              <a:t>PRESENTER / POINTER: The red band first, then the three RIGOR rows.</a:t>
            </a:r>
          </a:p>
          <a:p>
            <a:r>
              <a:rPr lang="en-US" sz="1200">
                <a:solidFill>
                  <a:schemeClr val="dk1"/>
                </a:solidFill>
                <a:latin typeface="Calibri"/>
                <a:ea typeface="Calibri"/>
                <a:cs typeface="Calibri"/>
                <a:sym typeface="Calibri"/>
              </a:rPr>
              <a:t>IF RUNNING LATE, DROP: "Non-Iterative RAG adds labels, but no provenance and no hierarchy."</a:t>
            </a:r>
          </a:p>
          <a:p>
            <a:r>
              <a:rPr lang="en-US" sz="1200">
                <a:solidFill>
                  <a:schemeClr val="dk1"/>
                </a:solidFill>
                <a:latin typeface="Calibri"/>
                <a:ea typeface="Calibri"/>
                <a:cs typeface="Calibri"/>
                <a:sym typeface="Calibri"/>
              </a:rPr>
              <a:t>AUDIENCE TAKEAWAY: Only RIGOR adds labels, provenance and a class hierarchy, with every LLM.</a:t>
            </a:r>
          </a:p>
          <a:p>
            <a:r>
              <a:rPr lang="en-US" sz="1200">
                <a:solidFill>
                  <a:schemeClr val="dk1"/>
                </a:solidFill>
                <a:latin typeface="Calibri"/>
                <a:ea typeface="Calibri"/>
                <a:cs typeface="Calibri"/>
                <a:sym typeface="Calibri"/>
              </a:rPr>
              <a:t>SOURCE AND SCOPE: Paper Table 8. Hierarchy as inheritance richness (subclass axioms per class; OntoQA, Tartir et al. 2005; OntoMetrics, Lantow 2016), computed from Table 8 counts. Shading is within each database.</a:t>
            </a:r>
          </a:p>
          <a:p/>
          <a:p>
            <a:r>
              <a:rPr lang="en-US" sz="1200">
                <a:solidFill>
                  <a:schemeClr val="dk1"/>
                </a:solidFill>
                <a:latin typeface="Calibri"/>
                <a:ea typeface="Calibri"/>
                <a:cs typeface="Calibri"/>
                <a:sym typeface="Calibri"/>
              </a:rPr>
              <a:t>IF ASKED 'DOES CHINOOK NEED SO MANY SUBCLASSES?': count is not quality, so we report whether a hierarchy exists, and only RIGOR builds one. RIGOR's Chinook ontologies have zero OOPS! pitfalls and the judge ranks RIGOR first on all 11 Chinook tables; it does score RIGOR's conciseness lower there (2.59 vs 3.32 for the baseline, Table 10), so tighter hierarchies are future work.</a:t>
            </a:r>
          </a:p>
          <a:p/>
          <a:p>
            <a:r>
              <a:rPr lang="en-US" sz="1200">
                <a:solidFill>
                  <a:schemeClr val="dk1"/>
                </a:solidFill>
                <a:latin typeface="Calibri"/>
                <a:ea typeface="Calibri"/>
                <a:cs typeface="Calibri"/>
                <a:sym typeface="Calibri"/>
              </a:rPr>
              <a:t>DOMAIN PATTERN (notes only): inheritance richness is 0.10-0.70 on the clinical schemas and 2.1-4.1 on the music store; the LLM proposes more specializations in a familiar domain.</a:t>
            </a:r>
          </a:p>
        </p:txBody>
      </p:sp>
      <p:sp>
        <p:nvSpPr>
          <p:cNvPr id="1965" name="Google Shape;1965;h547f90b031e64a91_0_8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h547f90b031e64a91_0_7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6" name="Google Shape;2066;h547f90b031e64a91_0_7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[10:00–10:43]  SLIDE 17  (75 words)</a:t>
            </a:r>
          </a:p>
          <a:p>
            <a:r>
              <a:rPr b="0" i="0" lang="en-US" sz="1200" u="none" cap="none" strike="noStrike">
                <a:solidFill>
                  <a:schemeClr val="dk1"/>
                </a:solidFill>
                <a:latin typeface="IBM Plex Sans"/>
                <a:ea typeface="IBM Plex Sans"/>
                <a:cs typeface="IBM Plex Sans"/>
                <a:sym typeface="IBM Plex Sans"/>
              </a:rPr>
              <a:t>Meaning is added. But is the link back to the data still correct? BURR, an external benchmark, checks exactly this: every class, relation and attribute must map back to the right table, foreign key or column, scored with F1 against gold mappings. On BURR's ISWC scenario, RIGOR has the highest F1 on all three, ahead of rule-based and LLM-based systems. Against the LLM-based OntoGenix, relations nearly double, because foreign keys become named relations, like hasPatientData.</a:t>
            </a:r>
          </a:p>
          <a:p/>
          <a:p>
            <a:r>
              <a:rPr b="0" i="0" lang="en-US" sz="1200" u="none" cap="none" strike="noStrike">
                <a:solidFill>
                  <a:schemeClr val="dk1"/>
                </a:solidFill>
                <a:latin typeface="IBM Plex Sans"/>
                <a:ea typeface="IBM Plex Sans"/>
                <a:cs typeface="IBM Plex Sans"/>
                <a:sym typeface="IBM Plex Sans"/>
              </a:rPr>
              <a:t>PRESENTER / POINTER: Left card first, then land on the RIGOR row.</a:t>
            </a:r>
          </a:p>
          <a:p>
            <a:r>
              <a:rPr b="0" i="0" lang="en-US" sz="1200" u="none" cap="none" strike="noStrike">
                <a:solidFill>
                  <a:schemeClr val="dk1"/>
                </a:solidFill>
                <a:latin typeface="IBM Plex Sans"/>
                <a:ea typeface="IBM Plex Sans"/>
                <a:cs typeface="IBM Plex Sans"/>
                <a:sym typeface="IBM Plex Sans"/>
              </a:rPr>
              <a:t>IF RUNNING LATE, DROP: "scored with F1 against gold mappings"</a:t>
            </a:r>
          </a:p>
          <a:p>
            <a:r>
              <a:rPr b="0" i="0" lang="en-US" sz="1200" u="none" cap="none" strike="noStrike">
                <a:solidFill>
                  <a:schemeClr val="dk1"/>
                </a:solidFill>
                <a:latin typeface="IBM Plex Sans"/>
                <a:ea typeface="IBM Plex Sans"/>
                <a:cs typeface="IBM Plex Sans"/>
                <a:sym typeface="IBM Plex Sans"/>
              </a:rPr>
              <a:t>AUDIENCE TAKEAWAY: Semantic enrichment did not break the correspondence that OBDA and KG population need.</a:t>
            </a:r>
          </a:p>
          <a:p>
            <a:r>
              <a:rPr b="0" i="0" lang="en-US" sz="1200" u="none" cap="none" strike="noStrike">
                <a:solidFill>
                  <a:schemeClr val="dk1"/>
                </a:solidFill>
                <a:latin typeface="IBM Plex Sans"/>
                <a:ea typeface="IBM Plex Sans"/>
                <a:cs typeface="IBM Plex Sans"/>
                <a:sym typeface="IBM Plex Sans"/>
              </a:rPr>
              <a:t>SOURCE AND SCOPE: Paper Table 13. BURR = Laskowski et al., PACMMOD 2025; matching rule from BURR Section 4, Eq. 3. Left-card element names are illustrative. Relations: RIGOR 0.67, OntoGenix 0.35, best rule-based (RDB2Onto) 0.62.</a:t>
            </a:r>
          </a:p>
          <a:p/>
          <a:p>
            <a:r>
              <a:rPr b="0" i="0" lang="en-US" sz="1200" u="none" cap="none" strike="noStrike">
                <a:solidFill>
                  <a:schemeClr val="dk1"/>
                </a:solidFill>
                <a:latin typeface="IBM Plex Sans"/>
                <a:ea typeface="IBM Plex Sans"/>
                <a:cs typeface="IBM Plex Sans"/>
                <a:sym typeface="IBM Plex Sans"/>
              </a:rPr>
              <a:t>DO NOT SAY: 'BURR found LLMs trail rule-based systems'. BURR's results show Gemini 2.5 Pro ahead of the rule-based systems overall (rule-based systems win only on NPD).</a:t>
            </a:r>
          </a:p>
          <a:p/>
          <a:p>
            <a:r>
              <a:rPr b="0" i="0" lang="en-US" sz="1200" u="none" cap="none" strike="noStrike">
                <a:solidFill>
                  <a:schemeClr val="dk1"/>
                </a:solidFill>
                <a:latin typeface="IBM Plex Sans"/>
                <a:ea typeface="IBM Plex Sans"/>
                <a:cs typeface="IBM Plex Sans"/>
                <a:sym typeface="IBM Plex Sans"/>
              </a:rPr>
              <a:t>IF ASKED ABOUT GEMINI 2.5 PRO (BURR Table 3, ISWC .65 / .68 / .56): in BURR it is a general-purpose LLM prompted with few-shot examples and a checklist to write the D2RQ mapping directly. It is a mapping generator, not an ontology-learning system, so we compare with ontology-learning systems. Against it, RIGOR's class F1 is higher, relations are on par, attributes lower, and RIGOR also produces labels, hierarchy and provenance.</a:t>
            </a:r>
          </a:p>
        </p:txBody>
      </p:sp>
      <p:sp>
        <p:nvSpPr>
          <p:cNvPr id="2067" name="Google Shape;2067;h547f90b031e64a91_0_7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9" name="Shape 2119"/>
        <p:cNvGrpSpPr/>
        <p:nvPr/>
      </p:nvGrpSpPr>
      <p:grpSpPr>
        <a:xfrm>
          <a:off x="0" y="0"/>
          <a:ext cx="0" cy="0"/>
          <a:chOff x="0" y="0"/>
          <a:chExt cx="0" cy="0"/>
        </a:xfrm>
      </p:grpSpPr>
      <p:sp>
        <p:nvSpPr>
          <p:cNvPr id="2120" name="Google Shape;2120;h547f90b031e64a91_0_1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1" name="Google Shape;2121;h547f90b031e64a91_0_1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[10:43–11:35]  SLIDE 18  (84 words)</a:t>
            </a:r>
          </a:p>
          <a:p>
            <a:r>
              <a:rPr lang="en-US" sz="1200">
                <a:solidFill>
                  <a:schemeClr val="dk1"/>
                </a:solidFill>
                <a:latin typeface="Calibri"/>
                <a:ea typeface="Calibri"/>
                <a:cs typeface="Calibri"/>
                <a:sym typeface="Calibri"/>
              </a:rPr>
              <a:t>Automatic checks agree. Do evaluators agree? For each table, an LLM judge and ten ontology experts saw the schema, five competency questions, the questions the ontology must answer, and four anonymized ontologies. They scored each on seven dimensions and ranked them first to fourth. The LLM judge put RIGOR first in every ranking. [pause] The experts put RIGOR first in seventy percent of their rankings, with the highest average score. [pause] Direct mapping gives structure without meaning. LLMs alone give meaning without structure. RIGOR gives both.</a:t>
            </a:r>
          </a:p>
          <a:p/>
          <a:p>
            <a:r>
              <a:rPr lang="en-US" sz="1200">
                <a:solidFill>
                  <a:schemeClr val="dk1"/>
                </a:solidFill>
                <a:latin typeface="Calibri"/>
                <a:ea typeface="Calibri"/>
                <a:cs typeface="Calibri"/>
                <a:sym typeface="Calibri"/>
              </a:rPr>
              <a:t>PRESENTER / POINTER: The 'How they judged' box in one breath; then the two headlines.</a:t>
            </a:r>
          </a:p>
          <a:p>
            <a:r>
              <a:rPr lang="en-US" sz="1200">
                <a:solidFill>
                  <a:schemeClr val="dk1"/>
                </a:solidFill>
                <a:latin typeface="Calibri"/>
                <a:ea typeface="Calibri"/>
                <a:cs typeface="Calibri"/>
                <a:sym typeface="Calibri"/>
              </a:rPr>
              <a:t>IF RUNNING LATE, DROP: "with the highest average score"</a:t>
            </a:r>
          </a:p>
          <a:p>
            <a:r>
              <a:rPr lang="en-US" sz="1200">
                <a:solidFill>
                  <a:schemeClr val="dk1"/>
                </a:solidFill>
                <a:latin typeface="Calibri"/>
                <a:ea typeface="Calibri"/>
                <a:cs typeface="Calibri"/>
                <a:sym typeface="Calibri"/>
              </a:rPr>
              <a:t>AUDIENCE TAKEAWAY: Judged blind against competency questions, an LLM judge and human experts both rank RIGOR first.</a:t>
            </a:r>
          </a:p>
          <a:p>
            <a:r>
              <a:rPr lang="en-US" sz="1200">
                <a:solidFill>
                  <a:schemeClr val="dk1"/>
                </a:solidFill>
                <a:latin typeface="Calibri"/>
                <a:ea typeface="Calibri"/>
                <a:cs typeface="Calibri"/>
                <a:sym typeface="Calibri"/>
              </a:rPr>
              <a:t>SOURCE AND SCOPE: Paper Sec. 4.2 and 4.6 (5 expert-verified CQs per table, 7 dimensions, ranking), Table 1 (judge scores and first places: 58 of 58 tables), Table 11 (expert scores), Table 12 (Kendall's W 0.39-0.72). Judge evaluated the Claude ontologies; experts 4 medical tables, 28 of 40 first places.</a:t>
            </a:r>
          </a:p>
          <a:p/>
          <a:p>
            <a:r>
              <a:rPr lang="en-US" sz="1200">
                <a:solidFill>
                  <a:schemeClr val="dk1"/>
                </a:solidFill>
                <a:latin typeface="Calibri"/>
                <a:ea typeface="Calibri"/>
                <a:cs typeface="Calibri"/>
                <a:sym typeface="Calibri"/>
              </a:rPr>
              <a:t>IF ASKED HOW MANY: the judge ranked RIGOR first on 58 of 58 tables (16 Liver Cancer, 31 eICU-CRD, 11 Chinook); the experts in 28 of 40 rankings (10 experts x 4 tables).</a:t>
            </a:r>
          </a:p>
        </p:txBody>
      </p:sp>
      <p:sp>
        <p:nvSpPr>
          <p:cNvPr id="2122" name="Google Shape;2122;h547f90b031e64a91_0_1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8" name="Shape 2168"/>
        <p:cNvGrpSpPr/>
        <p:nvPr/>
      </p:nvGrpSpPr>
      <p:grpSpPr>
        <a:xfrm>
          <a:off x="0" y="0"/>
          <a:ext cx="0" cy="0"/>
          <a:chOff x="0" y="0"/>
          <a:chExt cx="0" cy="0"/>
        </a:xfrm>
      </p:grpSpPr>
      <p:sp>
        <p:nvSpPr>
          <p:cNvPr id="2169" name="Google Shape;2169;h547f90b031e64a91_0_9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0" name="Google Shape;2170;h547f90b031e64a91_0_9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[11:35–11:59]  SLIDE 19 · REVEAL 1 OF 2  (42 words)</a:t>
            </a:r>
          </a:p>
          <a:p>
            <a:r>
              <a:rPr lang="en-US" sz="1200">
                <a:solidFill>
                  <a:schemeClr val="dk1"/>
                </a:solidFill>
                <a:latin typeface="Calibri"/>
                <a:ea typeface="Calibri"/>
                <a:cs typeface="Calibri"/>
                <a:sym typeface="Calibri"/>
              </a:rPr>
              <a:t>Where next? First, the validators. RDFLib, the reasoner and OOPS! only checked our final ontologies; NeOn-GPT first proposed this stack of checks for evaluation. Next, they flag each error while RIGOR builds, and their feedback prompts the LLM to repair the ontology.</a:t>
            </a:r>
          </a:p>
          <a:p/>
          <a:p>
            <a:r>
              <a:rPr lang="en-US" sz="1200">
                <a:solidFill>
                  <a:schemeClr val="dk1"/>
                </a:solidFill>
                <a:latin typeface="Calibri"/>
                <a:ea typeface="Calibri"/>
                <a:cs typeface="Calibri"/>
                <a:sym typeface="Calibri"/>
              </a:rPr>
              <a:t>PRESENTER / POINTER: The sentence on the slide, then click.</a:t>
            </a:r>
          </a:p>
        </p:txBody>
      </p:sp>
      <p:sp>
        <p:nvSpPr>
          <p:cNvPr id="2171" name="Google Shape;2171;h547f90b031e64a91_0_9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h547f90b031e64a91_0_9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8" name="Google Shape;2178;h547f90b031e64a91_0_9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[11:59–12:13]  SLIDE 19 · REVEAL 2 OF 2  (25 words)</a:t>
            </a:r>
          </a:p>
          <a:p>
            <a:r>
              <a:rPr lang="en-US" sz="1200">
                <a:solidFill>
                  <a:schemeClr val="dk1"/>
                </a:solidFill>
                <a:latin typeface="Calibri"/>
                <a:ea typeface="Calibri"/>
                <a:cs typeface="Calibri"/>
                <a:sym typeface="Calibri"/>
              </a:rPr>
              <a:t>We have realized this loop in the RIGOR App, presented in yesterday's demo session. The code and a demo video are behind these QR codes.</a:t>
            </a:r>
          </a:p>
          <a:p/>
          <a:p>
            <a:r>
              <a:rPr lang="en-US" sz="1200">
                <a:solidFill>
                  <a:schemeClr val="dk1"/>
                </a:solidFill>
                <a:latin typeface="Calibri"/>
                <a:ea typeface="Calibri"/>
                <a:cs typeface="Calibri"/>
                <a:sym typeface="Calibri"/>
              </a:rPr>
              <a:t>PRESENTER / POINTER: Screenshot, then the two QR codes.</a:t>
            </a:r>
          </a:p>
          <a:p>
            <a:r>
              <a:rPr lang="en-US" sz="1200">
                <a:solidFill>
                  <a:schemeClr val="dk1"/>
                </a:solidFill>
                <a:latin typeface="Calibri"/>
                <a:ea typeface="Calibri"/>
                <a:cs typeface="Calibri"/>
                <a:sym typeface="Calibri"/>
              </a:rPr>
              <a:t>AUDIENCE TAKEAWAY: The evaluation checks move inside generation; the RIGOR App already does this.</a:t>
            </a:r>
          </a:p>
          <a:p>
            <a:r>
              <a:rPr lang="en-US" sz="1200">
                <a:solidFill>
                  <a:schemeClr val="dk1"/>
                </a:solidFill>
                <a:latin typeface="Calibri"/>
                <a:ea typeface="Calibri"/>
                <a:cs typeface="Calibri"/>
                <a:sym typeface="Calibri"/>
              </a:rPr>
              <a:t>SOURCE AND SCOPE: Evaluation stack from NeOn-GPT (Fathallah et al., ESWC 2024; paper ref. 10), extended in Extended NeOn-GPT (Semantic Web 17(4), 2026; ref. 9). RIGOR App: Fathallah, Nayyeri &amp; Staab, ISWC 2026 Demos.</a:t>
            </a:r>
          </a:p>
        </p:txBody>
      </p:sp>
      <p:sp>
        <p:nvSpPr>
          <p:cNvPr id="2179" name="Google Shape;2179;h547f90b031e64a91_0_9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2" name="Shape 2192"/>
        <p:cNvGrpSpPr/>
        <p:nvPr/>
      </p:nvGrpSpPr>
      <p:grpSpPr>
        <a:xfrm>
          <a:off x="0" y="0"/>
          <a:ext cx="0" cy="0"/>
          <a:chOff x="0" y="0"/>
          <a:chExt cx="0" cy="0"/>
        </a:xfrm>
      </p:grpSpPr>
      <p:sp>
        <p:nvSpPr>
          <p:cNvPr id="2193" name="Google Shape;2193;h547f90b031e64a91_0_1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4" name="Google Shape;2194;h547f90b031e64a91_0_12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[12:13–12:33]  SLIDE 20 · REVEAL 1 OF 2  (35 words)</a:t>
            </a:r>
          </a:p>
          <a:p>
            <a:r>
              <a:rPr lang="en-US" sz="1200">
                <a:solidFill>
                  <a:schemeClr val="dk1"/>
                </a:solidFill>
                <a:latin typeface="Calibri"/>
                <a:ea typeface="Calibri"/>
                <a:cs typeface="Calibri"/>
                <a:sym typeface="Calibri"/>
              </a:rPr>
              <a:t>Second, let the data speak. Today RIGOR reads schemas and documentation, but instance data can propose new knowledge. Here, the treatment table says which admissions received cisplatin, and the admission table records bone marrow depression.</a:t>
            </a:r>
          </a:p>
          <a:p/>
          <a:p>
            <a:r>
              <a:rPr lang="en-US" sz="1200">
                <a:solidFill>
                  <a:schemeClr val="dk1"/>
                </a:solidFill>
                <a:latin typeface="Calibri"/>
                <a:ea typeface="Calibri"/>
                <a:cs typeface="Calibri"/>
                <a:sym typeface="Calibri"/>
              </a:rPr>
              <a:t>PRESENTER / POINTER: The two tables; A1 and A3 in both.</a:t>
            </a:r>
          </a:p>
        </p:txBody>
      </p:sp>
      <p:sp>
        <p:nvSpPr>
          <p:cNvPr id="2195" name="Google Shape;2195;h547f90b031e64a91_0_12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3" name="Shape 2233"/>
        <p:cNvGrpSpPr/>
        <p:nvPr/>
      </p:nvGrpSpPr>
      <p:grpSpPr>
        <a:xfrm>
          <a:off x="0" y="0"/>
          <a:ext cx="0" cy="0"/>
          <a:chOff x="0" y="0"/>
          <a:chExt cx="0" cy="0"/>
        </a:xfrm>
      </p:grpSpPr>
      <p:sp>
        <p:nvSpPr>
          <p:cNvPr id="2234" name="Google Shape;2234;h547f90b031e64a91_0_13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5" name="Google Shape;2235;h547f90b031e64a91_0_13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[12:33–13:00]  SLIDE 20 · REVEAL 2 OF 2  (46 words)</a:t>
            </a:r>
          </a:p>
          <a:p>
            <a:r>
              <a:rPr lang="en-US" sz="1200">
                <a:solidFill>
                  <a:schemeClr val="dk1"/>
                </a:solidFill>
                <a:latin typeface="Calibri"/>
                <a:ea typeface="Calibri"/>
                <a:cs typeface="Calibri"/>
                <a:sym typeface="Calibri"/>
              </a:rPr>
              <a:t>Joined on the admission id, every cisplatin admission has bone marrow depression. That link is not in the documentation, so RIGOR can propose it as candidate knowledge, with provenance to both columns. A pattern, not a cause: an expert reviews it before it joins the ontology.</a:t>
            </a:r>
          </a:p>
          <a:p/>
          <a:p>
            <a:r>
              <a:rPr lang="en-US" sz="1200">
                <a:solidFill>
                  <a:schemeClr val="dk1"/>
                </a:solidFill>
                <a:latin typeface="Calibri"/>
                <a:ea typeface="Calibri"/>
                <a:cs typeface="Calibri"/>
                <a:sym typeface="Calibri"/>
              </a:rPr>
              <a:t>PRESENTER / POINTER: The pattern bars, then the candidate code and its badge.</a:t>
            </a:r>
          </a:p>
          <a:p>
            <a:r>
              <a:rPr lang="en-US" sz="1200">
                <a:solidFill>
                  <a:schemeClr val="dk1"/>
                </a:solidFill>
                <a:latin typeface="Calibri"/>
                <a:ea typeface="Calibri"/>
                <a:cs typeface="Calibri"/>
                <a:sym typeface="Calibri"/>
              </a:rPr>
              <a:t>AUDIENCE TAKEAWAY: Instance data can propose new, reviewable knowledge that the documentation does not contain.</a:t>
            </a:r>
          </a:p>
          <a:p>
            <a:r>
              <a:rPr lang="en-US" sz="1200">
                <a:solidFill>
                  <a:schemeClr val="dk1"/>
                </a:solidFill>
                <a:latin typeface="Calibri"/>
                <a:ea typeface="Calibri"/>
                <a:cs typeface="Calibri"/>
                <a:sym typeface="Calibri"/>
              </a:rPr>
              <a:t>SOURCE AND SCOPE: Rows are synthetic. OWL verified (presentation/excerpts/slide22_future_candidate.omn): a typed individual with provenance, no causal axiom.</a:t>
            </a:r>
          </a:p>
          <a:p/>
          <a:p>
            <a:r>
              <a:rPr lang="en-US" sz="1200">
                <a:solidFill>
                  <a:schemeClr val="dk1"/>
                </a:solidFill>
                <a:latin typeface="Calibri"/>
                <a:ea typeface="Calibri"/>
                <a:cs typeface="Calibri"/>
                <a:sym typeface="Calibri"/>
              </a:rPr>
              <a:t>IF ASKED WHY NOT AN OWL CAUSAL AXIOM: OWL reasoning is deductive and open-world; it cannot derive causation from statistics, and 'Cisplatin SubClassOf causes some BoneMarrowDepression' would wrongly claim it for every case. Other treatments or conditions could explain the pattern.</a:t>
            </a:r>
          </a:p>
          <a:p/>
          <a:p>
            <a:r>
              <a:rPr lang="en-US" sz="1200">
                <a:solidFill>
                  <a:schemeClr val="dk1"/>
                </a:solidFill>
                <a:latin typeface="Calibri"/>
                <a:ea typeface="Calibri"/>
                <a:cs typeface="Calibri"/>
                <a:sym typeface="Calibri"/>
              </a:rPr>
              <a:t>IF ASKED ABOUT PRIVACY: only aggregate statistics (co-occurrence counts) need to leave the database, not patient rows.</a:t>
            </a:r>
          </a:p>
        </p:txBody>
      </p:sp>
      <p:sp>
        <p:nvSpPr>
          <p:cNvPr id="2236" name="Google Shape;2236;h547f90b031e64a91_0_13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8" name="Google Shape;2308;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b="0" i="0" lang="en-US" sz="1200" u="none" cap="none" strike="noStrike">
                <a:solidFill>
                  <a:schemeClr val="dk1"/>
                </a:solidFill>
                <a:latin typeface="IBM Plex Sans"/>
                <a:ea typeface="IBM Plex Sans"/>
                <a:cs typeface="IBM Plex Sans"/>
                <a:sym typeface="IBM Plex Sans"/>
              </a:rPr>
              <a:t>[13:00–13:32]  SLIDE 21  (57 words)</a:t>
            </a:r>
          </a:p>
          <a:p>
            <a:r>
              <a:rPr b="0" i="0" lang="en-US" sz="1200" u="none" cap="none" strike="noStrike">
                <a:solidFill>
                  <a:schemeClr val="dk1"/>
                </a:solidFill>
                <a:latin typeface="IBM Plex Sans"/>
                <a:ea typeface="IBM Plex Sans"/>
                <a:cs typeface="IBM Plex Sans"/>
                <a:sym typeface="IBM Plex Sans"/>
              </a:rPr>
              <a:t>To conclude. RIGOR anchors LLM generation in the database itself, grounds it in retrieved knowledge, and checks every step before the ontology grows. The result: meaning without losing structure, the link to the data intact, and ontologies that experts prefer. The paper and code are behind these QR codes. Thank you. I'm happy to take your questions.</a:t>
            </a:r>
          </a:p>
          <a:p/>
          <a:p>
            <a:r>
              <a:rPr b="0" i="0" lang="en-US" sz="1200" u="none" cap="none" strike="noStrike">
                <a:solidFill>
                  <a:schemeClr val="dk1"/>
                </a:solidFill>
                <a:latin typeface="IBM Plex Sans"/>
                <a:ea typeface="IBM Plex Sans"/>
                <a:cs typeface="IBM Plex Sans"/>
                <a:sym typeface="IBM Plex Sans"/>
              </a:rPr>
              <a:t>PRESENTER / POINTER: Finish speaking by 13:30. Leave this slide up during questions.</a:t>
            </a:r>
          </a:p>
          <a:p>
            <a:r>
              <a:rPr b="0" i="0" lang="en-US" sz="1200" u="none" cap="none" strike="noStrike">
                <a:solidFill>
                  <a:schemeClr val="dk1"/>
                </a:solidFill>
                <a:latin typeface="IBM Plex Sans"/>
                <a:ea typeface="IBM Plex Sans"/>
                <a:cs typeface="IBM Plex Sans"/>
                <a:sym typeface="IBM Plex Sans"/>
              </a:rPr>
              <a:t>AUDIENCE TAKEAWAY: Grounded, retrieved, validated.</a:t>
            </a:r>
          </a:p>
          <a:p>
            <a:r>
              <a:rPr b="0" i="0" lang="en-US" sz="1200" u="none" cap="none" strike="noStrike">
                <a:solidFill>
                  <a:schemeClr val="dk1"/>
                </a:solidFill>
                <a:latin typeface="IBM Plex Sans"/>
                <a:ea typeface="IBM Plex Sans"/>
                <a:cs typeface="IBM Plex Sans"/>
                <a:sym typeface="IBM Plex Sans"/>
              </a:rPr>
              <a:t>SOURCE AND SCOPE: Recap of the paper; contact address on the slide.</a:t>
            </a:r>
          </a:p>
        </p:txBody>
      </p:sp>
      <p:sp>
        <p:nvSpPr>
          <p:cNvPr id="2309" name="Google Shape;2309;p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 Could the LLM judge be biased?</a:t>
            </a:r>
          </a:p>
          <a:p/>
          <a:p>
            <a:r>
              <a:rPr lang="en-US" sz="1200">
                <a:solidFill>
                  <a:schemeClr val="dk1"/>
                </a:solidFill>
                <a:latin typeface="Calibri"/>
                <a:ea typeface="Calibri"/>
                <a:cs typeface="Calibri"/>
                <a:sym typeface="Calibri"/>
              </a:rPr>
              <a:t>SPOKEN ANSWER: Yes, LLM judges have known biases, so we never rely on the judge alone. Self-preference: the judge is GPT-5.4, a different family from all three generators. Verbosity: it scores seven dimensions, and it does mark RIGOR down on conciseness where RIGOR is long, on Chinook. Position: the fragments were anonymized, but the order was fixed, with RIGOR always last, for the judge and the experts; shuffled re-judging is the obvious next check. And the evidence without any LLM, OOPS! pitfalls and the BURR benchmark, points the same way as both judges.</a:t>
            </a:r>
          </a:p>
          <a:p/>
          <a:p>
            <a:r>
              <a:rPr lang="en-US" sz="1200">
                <a:solidFill>
                  <a:schemeClr val="dk1"/>
                </a:solidFill>
                <a:latin typeface="Calibri"/>
                <a:ea typeface="Calibri"/>
                <a:cs typeface="Calibri"/>
                <a:sym typeface="Calibri"/>
              </a:rPr>
              <a:t>ON THE SLIDE: Possibly, which is why it is never our only evidence: four independent checks point the same way.</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B2: How were the CQs used? Why not answer them in SPARQL?</a:t>
            </a:r>
          </a:p>
          <a:p/>
          <a:p>
            <a:r>
              <a:rPr lang="en-US" sz="1200">
                <a:solidFill>
                  <a:schemeClr val="dk1"/>
                </a:solidFill>
                <a:latin typeface="Calibri"/>
                <a:ea typeface="Calibri"/>
                <a:cs typeface="Calibri"/>
                <a:sym typeface="Calibri"/>
              </a:rPr>
              <a:t>SPOKEN ANSWER: Five competency questions per table, 290 in total, generated from the schema and verified by a domain expert. They were never shown to the generator, so they are an independent test. The judge and the experts read them next to the four anonymized fragments and asked: can this ontology answer them? We did not execute them as SPARQL for three reasons: the ontologies have no instance data, so every method would return empty; answerability would mostly test that columns are kept, which Result 2 already shows, not labels or value meanings; and writing over a thousand queries adds its own errors. With RIGOR's provenance mapping we can populate a knowledge graph and run them, and that is the natural next step.</a:t>
            </a:r>
          </a:p>
          <a:p/>
          <a:p>
            <a:r>
              <a:rPr lang="en-US" sz="1200">
                <a:solidFill>
                  <a:schemeClr val="dk1"/>
                </a:solidFill>
                <a:latin typeface="Calibri"/>
                <a:ea typeface="Calibri"/>
                <a:cs typeface="Calibri"/>
                <a:sym typeface="Calibri"/>
              </a:rPr>
              <a:t>ON THE SLIDE: As a shared yardstick for blind judging: what each table's ontology must be able to answer.</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B3: Who were the experts, and do they agree?</a:t>
            </a:r>
          </a:p>
          <a:p/>
          <a:p>
            <a:r>
              <a:rPr lang="en-US" sz="1200">
                <a:solidFill>
                  <a:schemeClr val="dk1"/>
                </a:solidFill>
                <a:latin typeface="Calibri"/>
                <a:ea typeface="Calibri"/>
                <a:cs typeface="Calibri"/>
                <a:sym typeface="Calibri"/>
              </a:rPr>
              <a:t>SPOKEN ANSWER: Ten experts in ontology engineering and knowledge representation. Four tables chosen for different modeling challenges, two per medical database. Per table they saw the schema, five CQs and four anonymized fragments, scored seven dimensions and ranked them. Agreement, Kendall's W, is between 0.39 and 0.72 and significant on every table. RIGOR was first in 14 of 20 rankings on each database. Four tables because each one is a long survey task; the LLM judge covered all 58.</a:t>
            </a:r>
          </a:p>
          <a:p/>
          <a:p>
            <a:r>
              <a:rPr lang="en-US" sz="1200">
                <a:solidFill>
                  <a:schemeClr val="dk1"/>
                </a:solidFill>
                <a:latin typeface="Calibri"/>
                <a:ea typeface="Calibri"/>
                <a:cs typeface="Calibri"/>
                <a:sym typeface="Calibri"/>
              </a:rPr>
              <a:t>ON THE SLIDE: Ten ontology engineers, blind, on four tables; agreement is significant on every table.</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B4: Which model did what?</a:t>
            </a:r>
          </a:p>
          <a:p/>
          <a:p>
            <a:r>
              <a:rPr lang="en-US" sz="1200">
                <a:solidFill>
                  <a:schemeClr val="dk1"/>
                </a:solidFill>
                <a:latin typeface="Calibri"/>
                <a:ea typeface="Calibri"/>
                <a:cs typeface="Calibri"/>
                <a:sym typeface="Calibri"/>
              </a:rPr>
              <a:t>SPOKEN ANSWER: Three generators, Claude, Mistral and DeepSeek, each used in all three LLM methods. Inside RIGOR the Judge-LLM is the generator's own model, but deterministic graph checks back it up. Documentation came from GPT-4o and was reviewed by domain experts; the CQs came from Mistral and were verified by an expert; the evaluation judge is GPT-5.4, a different family. On leakage: the liver-cancer registry is private, no model saw it, and RIGOR still ranked first on all 16 of its tables.</a:t>
            </a:r>
          </a:p>
          <a:p/>
          <a:p>
            <a:r>
              <a:rPr lang="en-US" sz="1200">
                <a:solidFill>
                  <a:schemeClr val="dk1"/>
                </a:solidFill>
                <a:latin typeface="Calibri"/>
                <a:ea typeface="Calibri"/>
                <a:cs typeface="Calibri"/>
                <a:sym typeface="Calibri"/>
              </a:rPr>
              <a:t>ON THE SLIDE: Generation, documentation, questions and judging are separated; no model grades its own work.</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B5: Why is coverage below 100%?</a:t>
            </a:r>
          </a:p>
          <a:p/>
          <a:p>
            <a:r>
              <a:rPr lang="en-US" sz="1200">
                <a:solidFill>
                  <a:schemeClr val="dk1"/>
                </a:solidFill>
                <a:latin typeface="Calibri"/>
                <a:ea typeface="Calibri"/>
                <a:cs typeface="Calibri"/>
                <a:sym typeface="Calibri"/>
              </a:rPr>
              <a:t>SPOKEN ANSWER: Two different stories. Direct Mapping on Chinook loses nothing: all ordinary columns have a property with the same name. The misses are key columns: primary keys become HasKey axioms, not properties, and foreign keys get new names like hasArtist, and the metric compares names. RIGOR with DeepSeek on eICU is a real omission: the final ontology has 197 data properties against 299 in the seed, because in the paper's pipeline only the validated delta is merged. The current RIGOR code merges the direct mapping first, so every column stays.</a:t>
            </a:r>
          </a:p>
          <a:p/>
          <a:p>
            <a:r>
              <a:rPr lang="en-US" sz="1200">
                <a:solidFill>
                  <a:schemeClr val="dk1"/>
                </a:solidFill>
                <a:latin typeface="Calibri"/>
                <a:ea typeface="Calibri"/>
                <a:cs typeface="Calibri"/>
                <a:sym typeface="Calibri"/>
              </a:rPr>
              <a:t>ON THE SLIDE: Two different reasons: a name-based metric for Direct Mapping, real omissions in one RIGOR run.</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B6: Aren't the OOPS! counts just missing labels?</a:t>
            </a:r>
          </a:p>
          <a:p/>
          <a:p>
            <a:r>
              <a:rPr lang="en-US" sz="1200">
                <a:solidFill>
                  <a:schemeClr val="dk1"/>
                </a:solidFill>
                <a:latin typeface="Calibri"/>
                <a:ea typeface="Calibri"/>
                <a:cs typeface="Calibri"/>
                <a:sym typeface="Calibri"/>
              </a:rPr>
              <a:t>SPOKEN ANSWER: Most of the other methods' pitfalls are indeed P08, missing annotations, about 72 percent. Remove P08 and RIGOR still has the fewest: 8 per ontology against 29 for the next method and 250 for direct mapping, whose rest is mostly missing domains and ranges. And for the only critical pitfall, P19, multiple domains or ranges, RIGOR has 2.8 per ontology and zero in six of nine.</a:t>
            </a:r>
          </a:p>
          <a:p/>
          <a:p>
            <a:r>
              <a:rPr lang="en-US" sz="1200">
                <a:solidFill>
                  <a:schemeClr val="dk1"/>
                </a:solidFill>
                <a:latin typeface="Calibri"/>
                <a:ea typeface="Calibri"/>
                <a:cs typeface="Calibri"/>
                <a:sym typeface="Calibri"/>
              </a:rPr>
              <a:t>ON THE SLIDE: No: without P08, RIGOR still has the fewest pitfalls, and the fewest critical ones.</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B7: Did you run an ablation?</a:t>
            </a:r>
          </a:p>
          <a:p/>
          <a:p>
            <a:r>
              <a:rPr lang="en-US" sz="1200">
                <a:solidFill>
                  <a:schemeClr val="dk1"/>
                </a:solidFill>
                <a:latin typeface="Calibri"/>
                <a:ea typeface="Calibri"/>
                <a:cs typeface="Calibri"/>
                <a:sym typeface="Calibri"/>
              </a:rPr>
              <a:t>SPOKEN ANSWER: Yes, for the three retrieval sources, on Chinook with Claude. Full RIGOR has the best average alignment and nearly doubles the alignment with external ontologies; documentation alone gives the best documentation alignment. The margins are small for two reasons: every variant keeps the direct-mapping seed, so schema alignment is saturated, and Chinook's names are self-explanatory, so retrieval matters less than on a clinical schema with names like BM_DEP.</a:t>
            </a:r>
          </a:p>
          <a:p/>
          <a:p>
            <a:r>
              <a:rPr lang="en-US" sz="1200">
                <a:solidFill>
                  <a:schemeClr val="dk1"/>
                </a:solidFill>
                <a:latin typeface="Calibri"/>
                <a:ea typeface="Calibri"/>
                <a:cs typeface="Calibri"/>
                <a:sym typeface="Calibri"/>
              </a:rPr>
              <a:t>ON THE SLIDE: Yes, for the retrieval sources: all sources together align best, but the margins are small.</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B8: Which part of RIGOR matters most?</a:t>
            </a:r>
          </a:p>
          <a:p/>
          <a:p>
            <a:r>
              <a:rPr lang="en-US" sz="1200">
                <a:solidFill>
                  <a:schemeClr val="dk1"/>
                </a:solidFill>
                <a:latin typeface="Calibri"/>
                <a:ea typeface="Calibri"/>
                <a:cs typeface="Calibri"/>
                <a:sym typeface="Calibri"/>
              </a:rPr>
              <a:t>SPOKEN ANSWER: The four methods form a ladder, each adding one capability. Adding retrieval in one pass adds labels but loses columns: coverage drops to a third. Adding the seed, the growing core and the checks brings coverage to 93 percent and cuts pitfalls from 52 to 8. Honestly, those three were added together, so their separate effects are not isolated; a leave-one-component-out ablation is future work.</a:t>
            </a:r>
          </a:p>
          <a:p/>
          <a:p>
            <a:r>
              <a:rPr lang="en-US" sz="1200">
                <a:solidFill>
                  <a:schemeClr val="dk1"/>
                </a:solidFill>
                <a:latin typeface="Calibri"/>
                <a:ea typeface="Calibri"/>
                <a:cs typeface="Calibri"/>
                <a:sym typeface="Calibri"/>
              </a:rPr>
              <a:t>ON THE SLIDE: Our four methods add one step at a time, so each step's effect is visible.</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B9: Why breadth-first foreign-key order?</a:t>
            </a:r>
          </a:p>
          <a:p/>
          <a:p>
            <a:r>
              <a:rPr lang="en-US" sz="1200">
                <a:solidFill>
                  <a:schemeClr val="dk1"/>
                </a:solidFill>
                <a:latin typeface="Calibri"/>
                <a:ea typeface="Calibri"/>
                <a:cs typeface="Calibri"/>
                <a:sym typeface="Calibri"/>
              </a:rPr>
              <a:t>SPOKEN ANSWER: Because a table should be generated after the tables it points to. When we reach Track, Album, Genre and MediaType already exist, so the LLM links to their IRIs and retrieves their labels instead of inventing duplicates. Breadth-first gives that order level by level, with alphabetical ties, so runs are reproducible. A self-reference like ReportsTo does not block anything and becomes a recursive relation. Any parents-first order would satisfy the dependency; we did not compare orders.</a:t>
            </a:r>
          </a:p>
          <a:p/>
          <a:p>
            <a:r>
              <a:rPr lang="en-US" sz="1200">
                <a:solidFill>
                  <a:schemeClr val="dk1"/>
                </a:solidFill>
                <a:latin typeface="Calibri"/>
                <a:ea typeface="Calibri"/>
                <a:cs typeface="Calibri"/>
                <a:sym typeface="Calibri"/>
              </a:rPr>
              <a:t>ON THE SLIDE: Parents before children, so every table can reuse the classes it points to.</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B10: What exactly does validation check?</a:t>
            </a:r>
          </a:p>
          <a:p/>
          <a:p>
            <a:r>
              <a:rPr lang="en-US" sz="1200">
                <a:solidFill>
                  <a:schemeClr val="dk1"/>
                </a:solidFill>
                <a:latin typeface="Calibri"/>
                <a:ea typeface="Calibri"/>
                <a:cs typeface="Calibri"/>
                <a:sym typeface="Calibri"/>
              </a:rPr>
              <a:t>SPOKEN ANSWER: Two stages. The Judge-LLM checks fourteen criteria in three severities: critical ones protect the structure, like one domain and one range per property and keeping the direct mapping's coverage; important ones cover labels, value meanings, reuse and safe disjointness; minor ones cover alignments and provenance. Then rules check type consistency, domains and ranges, XSD ranges and coverage on the parsed graph. Failures go back with the issues listed, up to two retries.</a:t>
            </a:r>
          </a:p>
          <a:p/>
          <a:p>
            <a:r>
              <a:rPr lang="en-US" sz="1200">
                <a:solidFill>
                  <a:schemeClr val="dk1"/>
                </a:solidFill>
                <a:latin typeface="Calibri"/>
                <a:ea typeface="Calibri"/>
                <a:cs typeface="Calibri"/>
                <a:sym typeface="Calibri"/>
              </a:rPr>
              <a:t>ON THE SLIDE: Fourteen Judge-LLM criteria in three severities, plus four deterministic graph checks.</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B11: Why these settings?</a:t>
            </a:r>
          </a:p>
          <a:p/>
          <a:p>
            <a:r>
              <a:rPr lang="en-US" sz="1200">
                <a:solidFill>
                  <a:schemeClr val="dk1"/>
                </a:solidFill>
                <a:latin typeface="Calibri"/>
                <a:ea typeface="Calibri"/>
                <a:cs typeface="Calibri"/>
                <a:sym typeface="Calibri"/>
              </a:rPr>
              <a:t>SPOKEN ANSWER: The seed guarantees coverage. MiniLM is strong on MTEB and cheap enough to re-index the core after every table. Three items per source give context without crowding out the seed and the instructions. The 0.55 threshold was tuned and matches prior work. Two retries because self-refinement gains fade after two rounds. Manchester syntax because experts can read it and LLMs generate it reliably.</a:t>
            </a:r>
          </a:p>
          <a:p/>
          <a:p>
            <a:r>
              <a:rPr lang="en-US" sz="1200">
                <a:solidFill>
                  <a:schemeClr val="dk1"/>
                </a:solidFill>
                <a:latin typeface="Calibri"/>
                <a:ea typeface="Calibri"/>
                <a:cs typeface="Calibri"/>
                <a:sym typeface="Calibri"/>
              </a:rPr>
              <a:t>ON THE SLIDE: Each setting trades context against noise; values follow the literature or a small tuning run.</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B12: What does it cost, and does it scale?</a:t>
            </a:r>
          </a:p>
          <a:p/>
          <a:p>
            <a:r>
              <a:rPr lang="en-US" sz="1200">
                <a:solidFill>
                  <a:schemeClr val="dk1"/>
                </a:solidFill>
                <a:latin typeface="Calibri"/>
                <a:ea typeface="Calibri"/>
                <a:cs typeface="Calibri"/>
                <a:sym typeface="Calibri"/>
              </a:rPr>
              <a:t>SPOKEN ANSWER: All nine RIGOR runs together cost about 34 dollars and 11 hours, most of it Claude. Mistral Small, a 24B open model, costs cents and still reaches 95 to 99 percent coverage. Cost grows with the number of tables: one prompt per table, and retrieval keeps each prompt bounded as the core grows. Only schema and documentation leave the hospital, and the small model can run on-premises.</a:t>
            </a:r>
          </a:p>
          <a:p/>
          <a:p>
            <a:r>
              <a:rPr lang="en-US" sz="1200">
                <a:solidFill>
                  <a:schemeClr val="dk1"/>
                </a:solidFill>
                <a:latin typeface="Calibri"/>
                <a:ea typeface="Calibri"/>
                <a:cs typeface="Calibri"/>
                <a:sym typeface="Calibri"/>
              </a:rPr>
              <a:t>ON THE SLIDE: All nine RIGOR runs: about $34 and 11 hours; the small open model costs cents.</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B13: BURR: setup, and why not compare with Gemini?</a:t>
            </a:r>
          </a:p>
          <a:p/>
          <a:p>
            <a:r>
              <a:rPr lang="en-US" sz="1200">
                <a:solidFill>
                  <a:schemeClr val="dk1"/>
                </a:solidFill>
                <a:latin typeface="Calibri"/>
                <a:ea typeface="Calibri"/>
                <a:cs typeface="Calibri"/>
                <a:sym typeface="Calibri"/>
              </a:rPr>
              <a:t>SPOKEN ANSWER: We used BURR's ISWC scenario. RIGOR's provenance annotations are exported as a D2RQ mapping and scored against the gold mapping. Gemini 2.5 Pro in BURR is a general LLM prompted to write the mapping directly: a mapping generator, not an ontology-learning system. Against it, RIGOR's classes are higher, relations on par, attributes lower, and RIGOR also builds labels, hierarchy and provenance.</a:t>
            </a:r>
          </a:p>
          <a:p/>
          <a:p>
            <a:r>
              <a:rPr lang="en-US" sz="1200">
                <a:solidFill>
                  <a:schemeClr val="dk1"/>
                </a:solidFill>
                <a:latin typeface="Calibri"/>
                <a:ea typeface="Calibri"/>
                <a:cs typeface="Calibri"/>
                <a:sym typeface="Calibri"/>
              </a:rPr>
              <a:t>ON THE SLIDE: ISWC scenario, mappings recovered from RIGOR's provenance; Gemini is a mapping generator.</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B14: What are the limitations?</a:t>
            </a:r>
          </a:p>
          <a:p/>
          <a:p>
            <a:r>
              <a:rPr lang="en-US" sz="1200">
                <a:solidFill>
                  <a:schemeClr val="dk1"/>
                </a:solidFill>
                <a:latin typeface="Calibri"/>
                <a:ea typeface="Calibri"/>
                <a:cs typeface="Calibri"/>
                <a:sym typeface="Calibri"/>
              </a:rPr>
              <a:t>SPOKEN ANSWER: Coverage can drop below the seed, which merging the direct mapping first fixes. A critical pitfall remains in three of nine runs, which validators in the loop address. Disjointness and external alignments are sparse. The evaluation used a fixed fragment order and four expert tables. The ablation covers one database and one LLM. And we work on schemas only, which is where instance data comes in.</a:t>
            </a:r>
          </a:p>
          <a:p/>
          <a:p>
            <a:r>
              <a:rPr lang="en-US" sz="1200">
                <a:solidFill>
                  <a:schemeClr val="dk1"/>
                </a:solidFill>
                <a:latin typeface="Calibri"/>
                <a:ea typeface="Calibri"/>
                <a:cs typeface="Calibri"/>
                <a:sym typeface="Calibri"/>
              </a:rPr>
              <a:t>ON THE SLIDE: What we know is missing, and what we would do about it.</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rPr lang="en-US" sz="1200">
                <a:solidFill>
                  <a:schemeClr val="dk1"/>
                </a:solidFill>
                <a:latin typeface="Calibri"/>
                <a:ea typeface="Calibri"/>
                <a:cs typeface="Calibri"/>
                <a:sym typeface="Calibri"/>
              </a:rPr>
              <a:t>BACKUP INDEX (not part of the timed talk).</a:t>
            </a:r>
          </a:p>
          <a:p/>
          <a:p>
            <a:r>
              <a:rPr lang="en-US" sz="1200">
                <a:solidFill>
                  <a:schemeClr val="dk1"/>
                </a:solidFill>
                <a:latin typeface="Calibri"/>
                <a:ea typeface="Calibri"/>
                <a:cs typeface="Calibri"/>
                <a:sym typeface="Calibri"/>
              </a:rPr>
              <a:t>Each question links to its backup slide; '↩ All questions' on every backup returns here. In slideshow mode the links work with a click.</a:t>
            </a:r>
          </a:p>
        </p:txBody>
      </p:sp>
      <p:sp>
        <p:nvSpPr>
          <p:cNvPr id="19" name="Google Shape;19;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FFFFF"/>
        </a:solidFill>
      </p:bgPr>
    </p:bg>
    <p:spTree>
      <p:nvGrpSpPr>
        <p:cNvPr id="12" name="Shape 12"/>
        <p:cNvGrpSpPr/>
        <p:nvPr/>
      </p:nvGrpSpPr>
      <p:grpSpPr>
        <a:xfrm>
          <a:off x="0" y="0"/>
          <a:ext cx="0" cy="0"/>
          <a:chOff x="0" y="0"/>
          <a:chExt cx="0" cy="0"/>
        </a:xfrm>
      </p:grpSpPr>
      <p:sp>
        <p:nvSpPr>
          <p:cNvPr id="13" name="Google Shape;13;p25"/>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F2328"/>
              </a:buClr>
              <a:buSzPts val="2800"/>
              <a:buFont typeface="Calibri"/>
              <a:buNone/>
              <a:defRPr sz="2800">
                <a:solidFill>
                  <a:srgbClr val="1F2328"/>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5"/>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F2328"/>
              </a:buClr>
              <a:buSzPts val="1600"/>
              <a:buNone/>
              <a:defRPr sz="1600">
                <a:solidFill>
                  <a:srgbClr val="1F2328"/>
                </a:solidFill>
                <a:latin typeface="Calibri"/>
                <a:ea typeface="Calibri"/>
                <a:cs typeface="Calibri"/>
                <a:sym typeface="Calibri"/>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12800" y="1153120"/>
            <a:ext cx="10566400" cy="3911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F2328"/>
              </a:buClr>
              <a:buSzPts val="2800"/>
              <a:buFont typeface="Calibri"/>
              <a:buNone/>
              <a:defRPr b="0" i="0" sz="2800" u="none" cap="none" strike="noStrike">
                <a:solidFill>
                  <a:srgbClr val="1F232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Calibri"/>
              <a:buNone/>
              <a:defRPr b="0" i="0" sz="18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F2328"/>
              </a:buClr>
              <a:buSzPts val="1600"/>
              <a:buFont typeface="Calibri"/>
              <a:buNone/>
              <a:defRPr b="0" i="0" sz="1600" u="none" cap="none" strike="noStrike">
                <a:solidFill>
                  <a:srgbClr val="1F2328"/>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Calibri"/>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Calibri"/>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Calibri"/>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0.png"/><Relationship Id="rId4"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8.xml"/><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 Id="rId6" Type="http://schemas.openxmlformats.org/officeDocument/2006/relationships/slide" Target="slide52.xml"/><Relationship Id="rId7" Type="http://schemas.openxmlformats.org/officeDocument/2006/relationships/slide" Target="slide53.xml"/><Relationship Id="rId8" Type="http://schemas.openxmlformats.org/officeDocument/2006/relationships/slide" Target="slide54.xml"/><Relationship Id="rId9" Type="http://schemas.openxmlformats.org/officeDocument/2006/relationships/slide" Target="slide55.xml"/><Relationship Id="rId10" Type="http://schemas.openxmlformats.org/officeDocument/2006/relationships/slide" Target="slide56.xml"/><Relationship Id="rId11" Type="http://schemas.openxmlformats.org/officeDocument/2006/relationships/slide" Target="slide57.xml"/><Relationship Id="rId12" Type="http://schemas.openxmlformats.org/officeDocument/2006/relationships/slide" Target="slide58.xml"/><Relationship Id="rId13" Type="http://schemas.openxmlformats.org/officeDocument/2006/relationships/slide" Target="slide59.xml"/><Relationship Id="rId14" Type="http://schemas.openxmlformats.org/officeDocument/2006/relationships/slide" Target="slide60.xml"/><Relationship Id="rId15" Type="http://schemas.openxmlformats.org/officeDocument/2006/relationships/slide" Target="slide61.xml"/><Relationship Id="rIdNotes" Type="http://schemas.openxmlformats.org/officeDocument/2006/relationships/notesSlide" Target="../notesSlides/notesSlide6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4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 Target="slide47.xml"/><Relationship Id="rIdNotes"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 name="Shape 20"/>
        <p:cNvGrpSpPr/>
        <p:nvPr/>
      </p:nvGrpSpPr>
      <p:grpSpPr>
        <a:xfrm>
          <a:off x="0" y="0"/>
          <a:ext cx="0" cy="0"/>
          <a:chOff x="0" y="0"/>
          <a:chExt cx="0" cy="0"/>
        </a:xfrm>
      </p:grpSpPr>
      <p:sp>
        <p:nvSpPr>
          <p:cNvPr id="21" name="Google Shape;21;p1"/>
          <p:cNvSpPr/>
          <p:nvPr/>
        </p:nvSpPr>
        <p:spPr>
          <a:xfrm>
            <a:off x="8092440" y="0"/>
            <a:ext cx="4099200" cy="6858000"/>
          </a:xfrm>
          <a:prstGeom prst="rect">
            <a:avLst/>
          </a:prstGeom>
          <a:solidFill>
            <a:srgbClr val="FAFBF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 name="Google Shape;22;p1"/>
          <p:cNvSpPr/>
          <p:nvPr/>
        </p:nvSpPr>
        <p:spPr>
          <a:xfrm>
            <a:off x="83667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86410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 name="Google Shape;24;p1"/>
          <p:cNvSpPr/>
          <p:nvPr/>
        </p:nvSpPr>
        <p:spPr>
          <a:xfrm>
            <a:off x="89154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 name="Google Shape;25;p1"/>
          <p:cNvSpPr/>
          <p:nvPr/>
        </p:nvSpPr>
        <p:spPr>
          <a:xfrm>
            <a:off x="91897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4640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97383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100126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 name="Google Shape;29;p1"/>
          <p:cNvSpPr/>
          <p:nvPr/>
        </p:nvSpPr>
        <p:spPr>
          <a:xfrm>
            <a:off x="102870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1"/>
          <p:cNvSpPr/>
          <p:nvPr/>
        </p:nvSpPr>
        <p:spPr>
          <a:xfrm>
            <a:off x="105613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1"/>
          <p:cNvSpPr/>
          <p:nvPr/>
        </p:nvSpPr>
        <p:spPr>
          <a:xfrm>
            <a:off x="1083564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1110996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1138428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1165860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 name="Google Shape;35;p1"/>
          <p:cNvSpPr/>
          <p:nvPr/>
        </p:nvSpPr>
        <p:spPr>
          <a:xfrm>
            <a:off x="11932920" y="0"/>
            <a:ext cx="6300" cy="68580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8092440" y="2743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8092440" y="5486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8092440" y="8229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 name="Google Shape;39;p1"/>
          <p:cNvSpPr/>
          <p:nvPr/>
        </p:nvSpPr>
        <p:spPr>
          <a:xfrm>
            <a:off x="8092440" y="109728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8092440" y="137160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8092440" y="164592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8092440" y="192024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 name="Google Shape;43;p1"/>
          <p:cNvSpPr/>
          <p:nvPr/>
        </p:nvSpPr>
        <p:spPr>
          <a:xfrm>
            <a:off x="8092440" y="2194560"/>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 name="Google Shape;44;p1"/>
          <p:cNvSpPr/>
          <p:nvPr/>
        </p:nvSpPr>
        <p:spPr>
          <a:xfrm>
            <a:off x="8092440" y="24688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8092440" y="27431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8092440" y="30175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8092440" y="32918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8092440" y="35661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8092440" y="38404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 name="Google Shape;50;p1"/>
          <p:cNvSpPr/>
          <p:nvPr/>
        </p:nvSpPr>
        <p:spPr>
          <a:xfrm>
            <a:off x="8092440" y="41147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 name="Google Shape;51;p1"/>
          <p:cNvSpPr/>
          <p:nvPr/>
        </p:nvSpPr>
        <p:spPr>
          <a:xfrm>
            <a:off x="8092440" y="43891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8092440" y="46634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8092440" y="49377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 name="Google Shape;54;p1"/>
          <p:cNvSpPr/>
          <p:nvPr/>
        </p:nvSpPr>
        <p:spPr>
          <a:xfrm>
            <a:off x="8092440" y="52120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 name="Google Shape;55;p1"/>
          <p:cNvSpPr/>
          <p:nvPr/>
        </p:nvSpPr>
        <p:spPr>
          <a:xfrm>
            <a:off x="8092440" y="548639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 name="Google Shape;56;p1"/>
          <p:cNvSpPr/>
          <p:nvPr/>
        </p:nvSpPr>
        <p:spPr>
          <a:xfrm>
            <a:off x="8092440" y="576071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 name="Google Shape;57;p1"/>
          <p:cNvSpPr/>
          <p:nvPr/>
        </p:nvSpPr>
        <p:spPr>
          <a:xfrm>
            <a:off x="8092440" y="603503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 name="Google Shape;58;p1"/>
          <p:cNvSpPr/>
          <p:nvPr/>
        </p:nvSpPr>
        <p:spPr>
          <a:xfrm>
            <a:off x="8092440" y="630935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 name="Google Shape;59;p1"/>
          <p:cNvSpPr/>
          <p:nvPr/>
        </p:nvSpPr>
        <p:spPr>
          <a:xfrm>
            <a:off x="8092440" y="6583679"/>
            <a:ext cx="4099200" cy="6300"/>
          </a:xfrm>
          <a:prstGeom prst="rect">
            <a:avLst/>
          </a:prstGeom>
          <a:solidFill>
            <a:srgbClr val="E6ECE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 name="Google Shape;60;p1"/>
          <p:cNvSpPr txBox="1"/>
          <p:nvPr/>
        </p:nvSpPr>
        <p:spPr>
          <a:xfrm>
            <a:off x="795528" y="566928"/>
            <a:ext cx="67665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RESEARCH PAPER</a:t>
            </a:r>
            <a:endParaRPr b="0" i="0" sz="1400" u="none" cap="none" strike="noStrike">
              <a:solidFill>
                <a:srgbClr val="000000"/>
              </a:solidFill>
              <a:latin typeface="Arial"/>
              <a:ea typeface="Arial"/>
              <a:cs typeface="Arial"/>
              <a:sym typeface="Arial"/>
            </a:endParaRPr>
          </a:p>
        </p:txBody>
      </p:sp>
      <p:sp>
        <p:nvSpPr>
          <p:cNvPr id="61" name="Google Shape;61;p1"/>
          <p:cNvSpPr txBox="1"/>
          <p:nvPr/>
        </p:nvSpPr>
        <p:spPr>
          <a:xfrm>
            <a:off x="795528" y="1938528"/>
            <a:ext cx="6949500" cy="1481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Retrieval-Augmented</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Generation of Ontologies</a:t>
            </a:r>
            <a:endParaRPr b="0" i="0" sz="3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from Relational Databases</a:t>
            </a:r>
            <a:endParaRPr b="0" i="0" sz="3000" u="none" cap="none" strike="noStrike">
              <a:solidFill>
                <a:srgbClr val="000000"/>
              </a:solidFill>
              <a:latin typeface="Arial"/>
              <a:ea typeface="Arial"/>
              <a:cs typeface="Arial"/>
              <a:sym typeface="Arial"/>
            </a:endParaRPr>
          </a:p>
        </p:txBody>
      </p:sp>
      <p:sp>
        <p:nvSpPr>
          <p:cNvPr id="62" name="Google Shape;62;p1"/>
          <p:cNvSpPr txBox="1"/>
          <p:nvPr/>
        </p:nvSpPr>
        <p:spPr>
          <a:xfrm>
            <a:off x="795528" y="6053328"/>
            <a:ext cx="69495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250"/>
              <a:buFont typeface="Arial"/>
              <a:buNone/>
            </a:pPr>
            <a:r>
              <a:rPr b="1" i="0" lang="en-US" sz="1250" u="none" cap="none" strike="noStrike">
                <a:solidFill>
                  <a:srgbClr val="5B6770"/>
                </a:solidFill>
                <a:latin typeface="Consolas"/>
                <a:ea typeface="Consolas"/>
                <a:cs typeface="Consolas"/>
                <a:sym typeface="Consolas"/>
              </a:rPr>
              <a:t>PAPER  </a:t>
            </a:r>
            <a:r>
              <a:rPr b="0" i="0" lang="en-US" sz="1250" u="none" cap="none" strike="noStrike">
                <a:solidFill>
                  <a:srgbClr val="2F6B78"/>
                </a:solidFill>
                <a:latin typeface="Consolas"/>
                <a:ea typeface="Consolas"/>
                <a:cs typeface="Consolas"/>
                <a:sym typeface="Consolas"/>
              </a:rPr>
              <a:t>arXiv:2506.01232</a:t>
            </a:r>
            <a:r>
              <a:rPr b="1" i="0" lang="en-US" sz="1250" u="none" cap="none" strike="noStrike">
                <a:solidFill>
                  <a:srgbClr val="5B6770"/>
                </a:solidFill>
                <a:latin typeface="Consolas"/>
                <a:ea typeface="Consolas"/>
                <a:cs typeface="Consolas"/>
                <a:sym typeface="Consolas"/>
              </a:rPr>
              <a:t>        CODE  </a:t>
            </a:r>
            <a:r>
              <a:rPr b="0" i="0" lang="en-US" sz="1250" u="none" cap="none" strike="noStrike">
                <a:solidFill>
                  <a:srgbClr val="2F6B78"/>
                </a:solidFill>
                <a:latin typeface="Consolas"/>
                <a:ea typeface="Consolas"/>
                <a:cs typeface="Consolas"/>
                <a:sym typeface="Consolas"/>
              </a:rPr>
              <a:t>github.com/NadeenAhmad/RIGOR</a:t>
            </a:r>
            <a:endParaRPr b="0" i="0" sz="1250" u="none" cap="none" strike="noStrike">
              <a:solidFill>
                <a:srgbClr val="1F2328"/>
              </a:solidFill>
              <a:latin typeface="Arial"/>
              <a:ea typeface="Arial"/>
              <a:cs typeface="Arial"/>
              <a:sym typeface="Arial"/>
            </a:endParaRPr>
          </a:p>
        </p:txBody>
      </p:sp>
      <p:pic>
        <p:nvPicPr>
          <p:cNvPr descr="A relational table whose highlighted row is mapped by RIGOR to a node of an ontology graph" id="63" name="Google Shape;63;p1"/>
          <p:cNvPicPr preferRelativeResize="0"/>
          <p:nvPr/>
        </p:nvPicPr>
        <p:blipFill rotWithShape="1">
          <a:blip r:embed="rId3">
            <a:alphaModFix/>
          </a:blip>
          <a:srcRect b="0" l="0" r="0" t="0"/>
          <a:stretch/>
        </p:blipFill>
        <p:spPr>
          <a:xfrm>
            <a:off x="8427567" y="1325880"/>
            <a:ext cx="3428999" cy="3066584"/>
          </a:xfrm>
          <a:prstGeom prst="rect">
            <a:avLst/>
          </a:prstGeom>
          <a:noFill/>
          <a:ln>
            <a:noFill/>
          </a:ln>
        </p:spPr>
      </p:pic>
      <p:sp>
        <p:nvSpPr>
          <p:cNvPr id="64" name="Google Shape;64;p1"/>
          <p:cNvSpPr txBox="1"/>
          <p:nvPr/>
        </p:nvSpPr>
        <p:spPr>
          <a:xfrm>
            <a:off x="823325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65" name="Google Shape;65;p1"/>
          <p:cNvSpPr txBox="1"/>
          <p:nvPr/>
        </p:nvSpPr>
        <p:spPr>
          <a:xfrm>
            <a:off x="10119207" y="4502193"/>
            <a:ext cx="1828800" cy="255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66" name="Google Shape;66;p1"/>
          <p:cNvSpPr txBox="1"/>
          <p:nvPr/>
        </p:nvSpPr>
        <p:spPr>
          <a:xfrm>
            <a:off x="768096" y="987552"/>
            <a:ext cx="6766500" cy="868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0B6E4F"/>
                </a:solidFill>
                <a:latin typeface="Cambria"/>
                <a:ea typeface="Cambria"/>
                <a:cs typeface="Cambria"/>
                <a:sym typeface="Cambria"/>
              </a:rPr>
              <a:t>RIGOR</a:t>
            </a:r>
            <a:endParaRPr/>
          </a:p>
        </p:txBody>
      </p:sp>
      <p:sp>
        <p:nvSpPr>
          <p:cNvPr id="67" name="Google Shape;67;p1"/>
          <p:cNvSpPr txBox="1"/>
          <p:nvPr/>
        </p:nvSpPr>
        <p:spPr>
          <a:xfrm>
            <a:off x="795528" y="3822191"/>
            <a:ext cx="6949500" cy="960000"/>
          </a:xfrm>
          <a:prstGeom prst="rect">
            <a:avLst/>
          </a:prstGeom>
          <a:noFill/>
          <a:ln>
            <a:noFill/>
          </a:ln>
        </p:spPr>
        <p:txBody>
          <a:bodyPr anchorCtr="0" anchor="t" bIns="0" lIns="0" spcFirstLastPara="1" rIns="0" wrap="square" tIns="0">
            <a:noAutofit/>
          </a:bodyPr>
          <a:lstStyle/>
          <a:p>
            <a:pPr indent="0" lvl="0" marL="0" marR="0" rtl="0" algn="l">
              <a:lnSpc>
                <a:spcPct val="153333"/>
              </a:lnSpc>
              <a:spcBef>
                <a:spcPts val="0"/>
              </a:spcBef>
              <a:spcAft>
                <a:spcPts val="0"/>
              </a:spcAft>
              <a:buNone/>
            </a:pPr>
            <a:r>
              <a:rPr b="1" i="0" lang="en-US" sz="1500" u="none" cap="none" strike="noStrike">
                <a:solidFill>
                  <a:srgbClr val="1F2328"/>
                </a:solidFill>
                <a:latin typeface="Calibri"/>
                <a:ea typeface="Calibri"/>
                <a:cs typeface="Calibri"/>
                <a:sym typeface="Calibri"/>
              </a:rPr>
              <a:t>Nadeen Fathallah</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Mojtaba Nayyeri</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Athish A Yogi</a:t>
            </a:r>
            <a:r>
              <a:rPr b="1" baseline="30000" i="0" lang="en-US" sz="1500" u="none" cap="none" strike="noStrike">
                <a:solidFill>
                  <a:srgbClr val="0B6E4F"/>
                </a:solidFill>
                <a:latin typeface="Calibri"/>
                <a:ea typeface="Calibri"/>
                <a:cs typeface="Calibri"/>
                <a:sym typeface="Calibri"/>
              </a:rPr>
              <a:t>1</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Ratan Bahadur Thapa</a:t>
            </a:r>
            <a:r>
              <a:rPr b="1" baseline="30000" i="0" lang="en-US" sz="1500" u="none" cap="none" strike="noStrike">
                <a:solidFill>
                  <a:srgbClr val="0B6E4F"/>
                </a:solidFill>
                <a:latin typeface="Calibri"/>
                <a:ea typeface="Calibri"/>
                <a:cs typeface="Calibri"/>
                <a:sym typeface="Calibri"/>
              </a:rPr>
              <a:t>1</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Hans-Michael Tautenhahn</a:t>
            </a:r>
            <a:r>
              <a:rPr b="1" baseline="30000" i="0" lang="en-US" sz="1500" u="none" cap="none" strike="noStrike">
                <a:solidFill>
                  <a:srgbClr val="0B6E4F"/>
                </a:solidFill>
                <a:latin typeface="Calibri"/>
                <a:ea typeface="Calibri"/>
                <a:cs typeface="Calibri"/>
                <a:sym typeface="Calibri"/>
              </a:rPr>
              <a:t>3</a:t>
            </a:r>
            <a:endParaRPr/>
          </a:p>
          <a:p>
            <a:pPr indent="0" lvl="0" marL="0" marR="0" rtl="0" algn="l">
              <a:lnSpc>
                <a:spcPct val="153333"/>
              </a:lnSpc>
              <a:spcBef>
                <a:spcPts val="0"/>
              </a:spcBef>
              <a:spcAft>
                <a:spcPts val="0"/>
              </a:spcAft>
              <a:buNone/>
            </a:pPr>
            <a:r>
              <a:rPr b="0" i="0" lang="en-US" sz="1500" u="none" cap="none" strike="noStrike">
                <a:solidFill>
                  <a:srgbClr val="3A434C"/>
                </a:solidFill>
                <a:latin typeface="Calibri"/>
                <a:ea typeface="Calibri"/>
                <a:cs typeface="Calibri"/>
                <a:sym typeface="Calibri"/>
              </a:rPr>
              <a:t>Anton Schnurpel</a:t>
            </a:r>
            <a:r>
              <a:rPr b="1" baseline="30000" i="0" lang="en-US" sz="1500" u="none" cap="none" strike="noStrike">
                <a:solidFill>
                  <a:srgbClr val="0B6E4F"/>
                </a:solidFill>
                <a:latin typeface="Calibri"/>
                <a:ea typeface="Calibri"/>
                <a:cs typeface="Calibri"/>
                <a:sym typeface="Calibri"/>
              </a:rPr>
              <a:t>3</a:t>
            </a:r>
            <a:r>
              <a:rPr b="0" i="0" lang="en-US" sz="1500" u="none" cap="none" strike="noStrike">
                <a:solidFill>
                  <a:srgbClr val="6B747B"/>
                </a:solidFill>
                <a:latin typeface="Calibri"/>
                <a:ea typeface="Calibri"/>
                <a:cs typeface="Calibri"/>
                <a:sym typeface="Calibri"/>
              </a:rPr>
              <a:t>   ·   </a:t>
            </a:r>
            <a:r>
              <a:rPr b="0" i="0" lang="en-US" sz="1500" u="none" cap="none" strike="noStrike">
                <a:solidFill>
                  <a:srgbClr val="3A434C"/>
                </a:solidFill>
                <a:latin typeface="Calibri"/>
                <a:ea typeface="Calibri"/>
                <a:cs typeface="Calibri"/>
                <a:sym typeface="Calibri"/>
              </a:rPr>
              <a:t>Steffen Staab</a:t>
            </a:r>
            <a:r>
              <a:rPr b="1" baseline="30000" i="0" lang="en-US" sz="1500" u="none" cap="none" strike="noStrike">
                <a:solidFill>
                  <a:srgbClr val="0B6E4F"/>
                </a:solidFill>
                <a:latin typeface="Calibri"/>
                <a:ea typeface="Calibri"/>
                <a:cs typeface="Calibri"/>
                <a:sym typeface="Calibri"/>
              </a:rPr>
              <a:t>1,2</a:t>
            </a:r>
            <a:endParaRPr/>
          </a:p>
        </p:txBody>
      </p:sp>
      <p:sp>
        <p:nvSpPr>
          <p:cNvPr id="68" name="Google Shape;68;p1"/>
          <p:cNvSpPr txBox="1"/>
          <p:nvPr/>
        </p:nvSpPr>
        <p:spPr>
          <a:xfrm>
            <a:off x="795528" y="4919472"/>
            <a:ext cx="6949500" cy="73140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1</a:t>
            </a:r>
            <a:r>
              <a:rPr b="0" i="0" lang="en-US" sz="1200" u="none" cap="none" strike="noStrike">
                <a:solidFill>
                  <a:srgbClr val="5B6770"/>
                </a:solidFill>
                <a:latin typeface="Calibri"/>
                <a:ea typeface="Calibri"/>
                <a:cs typeface="Calibri"/>
                <a:sym typeface="Calibri"/>
              </a:rPr>
              <a:t> Institute for Artificial Intelligence, University of Stuttgart, Germany</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2</a:t>
            </a:r>
            <a:r>
              <a:rPr b="0" i="0" lang="en-US" sz="1200" u="none" cap="none" strike="noStrike">
                <a:solidFill>
                  <a:srgbClr val="5B6770"/>
                </a:solidFill>
                <a:latin typeface="Calibri"/>
                <a:ea typeface="Calibri"/>
                <a:cs typeface="Calibri"/>
                <a:sym typeface="Calibri"/>
              </a:rPr>
              <a:t> University of Southampton, United Kingdom</a:t>
            </a:r>
            <a:endParaRPr/>
          </a:p>
          <a:p>
            <a:pPr indent="0" lvl="0" marL="0" marR="0" rtl="0" algn="l">
              <a:lnSpc>
                <a:spcPct val="141666"/>
              </a:lnSpc>
              <a:spcBef>
                <a:spcPts val="0"/>
              </a:spcBef>
              <a:spcAft>
                <a:spcPts val="0"/>
              </a:spcAft>
              <a:buNone/>
            </a:pPr>
            <a:r>
              <a:rPr b="1" baseline="30000" i="0" lang="en-US" sz="1200" u="none" cap="none" strike="noStrike">
                <a:solidFill>
                  <a:srgbClr val="0B6E4F"/>
                </a:solidFill>
                <a:latin typeface="Calibri"/>
                <a:ea typeface="Calibri"/>
                <a:cs typeface="Calibri"/>
                <a:sym typeface="Calibri"/>
              </a:rPr>
              <a:t>3</a:t>
            </a:r>
            <a:r>
              <a:rPr b="0" i="0" lang="en-US" sz="1200" u="none" cap="none" strike="noStrike">
                <a:solidFill>
                  <a:srgbClr val="5B6770"/>
                </a:solidFill>
                <a:latin typeface="Calibri"/>
                <a:ea typeface="Calibri"/>
                <a:cs typeface="Calibri"/>
                <a:sym typeface="Calibri"/>
              </a:rPr>
              <a:t> Universitätsklinikum Leipzig, Germany</a:t>
            </a:r>
            <a:endParaRPr/>
          </a:p>
        </p:txBody>
      </p:sp>
      <p:sp>
        <p:nvSpPr>
          <p:cNvPr id="69" name="Google Shape;69;p1"/>
          <p:cNvSpPr/>
          <p:nvPr/>
        </p:nvSpPr>
        <p:spPr>
          <a:xfrm>
            <a:off x="10015194" y="2150512"/>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
        <p:nvSpPr>
          <p:cNvPr id="70" name="Google Shape;70;p1"/>
          <p:cNvSpPr txBox="1"/>
          <p:nvPr/>
        </p:nvSpPr>
        <p:spPr>
          <a:xfrm>
            <a:off x="8549640" y="5779008"/>
            <a:ext cx="3108900" cy="5670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None/>
            </a:pPr>
            <a:r>
              <a:rPr b="1" i="0" lang="en-US" sz="1400" u="none" cap="none" strike="noStrike">
                <a:solidFill>
                  <a:srgbClr val="0B6E4F"/>
                </a:solidFill>
                <a:latin typeface="Consolas"/>
                <a:ea typeface="Consolas"/>
                <a:cs typeface="Consolas"/>
                <a:sym typeface="Consolas"/>
              </a:rPr>
              <a:t>ISWC 2026</a:t>
            </a:r>
            <a:endParaRPr/>
          </a:p>
          <a:p>
            <a:pPr indent="0" lvl="0" marL="0" marR="0" rtl="0" algn="l">
              <a:lnSpc>
                <a:spcPct val="153846"/>
              </a:lnSpc>
              <a:spcBef>
                <a:spcPts val="0"/>
              </a:spcBef>
              <a:spcAft>
                <a:spcPts val="0"/>
              </a:spcAft>
              <a:buNone/>
            </a:pPr>
            <a:r>
              <a:rPr b="0" i="0" lang="en-US" sz="1300" u="none" cap="none" strike="noStrike">
                <a:solidFill>
                  <a:srgbClr val="1F2328"/>
                </a:solidFill>
                <a:latin typeface="Calibri"/>
                <a:ea typeface="Calibri"/>
                <a:cs typeface="Calibri"/>
                <a:sym typeface="Calibri"/>
              </a:rPr>
              <a:t>Bari, Italy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 name="Shape 75"/>
        <p:cNvGrpSpPr/>
        <p:nvPr/>
      </p:nvGrpSpPr>
      <p:grpSpPr>
        <a:xfrm>
          <a:off x="0" y="0"/>
          <a:ext cx="0" cy="0"/>
          <a:chOff x="0" y="0"/>
          <a:chExt cx="0" cy="0"/>
        </a:xfrm>
      </p:grpSpPr>
      <p:sp>
        <p:nvSpPr>
          <p:cNvPr id="76" name="Google Shape;76;p2"/>
          <p:cNvSpPr txBox="1"/>
          <p:nvPr/>
        </p:nvSpPr>
        <p:spPr>
          <a:xfrm>
            <a:off x="804672"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MOTIVATION  /  ILLUSTRATIVE CLINICAL EXAMPLE</a:t>
            </a:r>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804672" y="932688"/>
            <a:ext cx="10762500" cy="896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A database can tell us how data is stored.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Can it tell us what the data means?</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804672" y="2048256"/>
            <a:ext cx="5486400" cy="327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 name="Google Shape;79;p2"/>
          <p:cNvSpPr txBox="1"/>
          <p:nvPr/>
        </p:nvSpPr>
        <p:spPr>
          <a:xfrm>
            <a:off x="1069848" y="2276856"/>
            <a:ext cx="4928700" cy="274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500" u="none" cap="none" strike="noStrike">
                <a:solidFill>
                  <a:srgbClr val="5B6770"/>
                </a:solidFill>
                <a:latin typeface="Consolas"/>
                <a:ea typeface="Consolas"/>
                <a:cs typeface="Consolas"/>
                <a:sym typeface="Consolas"/>
              </a:rPr>
              <a:t>RELATIONAL SCHEMA · EXCERPT</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6665976" y="2176272"/>
            <a:ext cx="4809600" cy="292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STILL NEED TO UNDERSTAND</a:t>
            </a:r>
            <a:endParaRPr b="0" i="0" sz="1400" u="none" cap="none" strike="noStrike">
              <a:solidFill>
                <a:srgbClr val="000000"/>
              </a:solidFill>
              <a:latin typeface="Arial"/>
              <a:ea typeface="Arial"/>
              <a:cs typeface="Arial"/>
              <a:sym typeface="Arial"/>
            </a:endParaRPr>
          </a:p>
        </p:txBody>
      </p:sp>
      <p:sp>
        <p:nvSpPr>
          <p:cNvPr id="81" name="Google Shape;81;p2"/>
          <p:cNvSpPr/>
          <p:nvPr/>
        </p:nvSpPr>
        <p:spPr>
          <a:xfrm>
            <a:off x="6684264" y="26426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 name="Google Shape;82;p2"/>
          <p:cNvSpPr/>
          <p:nvPr/>
        </p:nvSpPr>
        <p:spPr>
          <a:xfrm>
            <a:off x="6858000" y="28803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2"/>
          <p:cNvSpPr txBox="1"/>
          <p:nvPr/>
        </p:nvSpPr>
        <p:spPr>
          <a:xfrm>
            <a:off x="6858354" y="29165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01</a:t>
            </a:r>
            <a:endParaRPr b="0" i="0" sz="1400" u="none" cap="none" strike="noStrike">
              <a:solidFill>
                <a:srgbClr val="000000"/>
              </a:solidFill>
              <a:latin typeface="Arial"/>
              <a:ea typeface="Arial"/>
              <a:cs typeface="Arial"/>
              <a:sym typeface="Arial"/>
            </a:endParaRPr>
          </a:p>
        </p:txBody>
      </p:sp>
      <p:sp>
        <p:nvSpPr>
          <p:cNvPr id="84" name="Google Shape;84;p2"/>
          <p:cNvSpPr txBox="1"/>
          <p:nvPr/>
        </p:nvSpPr>
        <p:spPr>
          <a:xfrm>
            <a:off x="7324344" y="29024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patient_id</a:t>
            </a:r>
            <a:endParaRPr b="0" i="0" sz="1400" u="none" cap="none" strike="noStrike">
              <a:solidFill>
                <a:srgbClr val="000000"/>
              </a:solidFill>
              <a:latin typeface="Arial"/>
              <a:ea typeface="Arial"/>
              <a:cs typeface="Arial"/>
              <a:sym typeface="Arial"/>
            </a:endParaRPr>
          </a:p>
        </p:txBody>
      </p:sp>
      <p:sp>
        <p:nvSpPr>
          <p:cNvPr id="85" name="Google Shape;85;p2"/>
          <p:cNvSpPr txBox="1"/>
          <p:nvPr/>
        </p:nvSpPr>
        <p:spPr>
          <a:xfrm>
            <a:off x="8677656" y="2752344"/>
            <a:ext cx="25968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0" i="0" lang="en-US" sz="1450" u="none" cap="none" strike="noStrike">
                <a:solidFill>
                  <a:srgbClr val="1F2328"/>
                </a:solidFill>
                <a:latin typeface="Calibri"/>
                <a:ea typeface="Calibri"/>
                <a:cs typeface="Calibri"/>
                <a:sym typeface="Calibri"/>
              </a:rPr>
              <a:t>How do we represent the </a:t>
            </a:r>
            <a:r>
              <a:rPr b="1" i="0" lang="en-US" sz="1450" u="none" cap="none" strike="noStrike">
                <a:solidFill>
                  <a:srgbClr val="1F2328"/>
                </a:solidFill>
                <a:latin typeface="Calibri"/>
                <a:ea typeface="Calibri"/>
                <a:cs typeface="Calibri"/>
                <a:sym typeface="Calibri"/>
              </a:rPr>
              <a:t>link</a:t>
            </a:r>
            <a:endParaRPr b="1" i="0" sz="1400" u="none" cap="none" strike="noStrike">
              <a:solidFill>
                <a:srgbClr val="000000"/>
              </a:solidFill>
            </a:endParaRPr>
          </a:p>
          <a:p>
            <a:pPr indent="0" lvl="0" marL="0" marR="0" rtl="0" algn="l">
              <a:lnSpc>
                <a:spcPct val="100000"/>
              </a:lnSpc>
              <a:spcBef>
                <a:spcPts val="0"/>
              </a:spcBef>
              <a:spcAft>
                <a:spcPts val="0"/>
              </a:spcAft>
              <a:buNone/>
            </a:pPr>
            <a:r>
              <a:rPr b="0" i="0" lang="en-US" sz="1450" u="none" cap="none" strike="noStrike">
                <a:solidFill>
                  <a:srgbClr val="1F2328"/>
                </a:solidFill>
                <a:latin typeface="Calibri"/>
                <a:ea typeface="Calibri"/>
                <a:cs typeface="Calibri"/>
                <a:sym typeface="Calibri"/>
              </a:rPr>
              <a:t>from an </a:t>
            </a:r>
            <a:r>
              <a:rPr b="1" i="0" lang="en-US" sz="1450" u="none" cap="none" strike="noStrike">
                <a:solidFill>
                  <a:srgbClr val="1F2328"/>
                </a:solidFill>
                <a:latin typeface="Calibri"/>
                <a:ea typeface="Calibri"/>
                <a:cs typeface="Calibri"/>
                <a:sym typeface="Calibri"/>
              </a:rPr>
              <a:t>admission</a:t>
            </a:r>
            <a:r>
              <a:rPr b="0" i="0" lang="en-US" sz="1450" u="none" cap="none" strike="noStrike">
                <a:solidFill>
                  <a:srgbClr val="1F2328"/>
                </a:solidFill>
                <a:latin typeface="Calibri"/>
                <a:ea typeface="Calibri"/>
                <a:cs typeface="Calibri"/>
                <a:sym typeface="Calibri"/>
              </a:rPr>
              <a:t> to its </a:t>
            </a:r>
            <a:r>
              <a:rPr b="1" i="0" lang="en-US" sz="1450" u="none" cap="none" strike="noStrike">
                <a:solidFill>
                  <a:srgbClr val="1F2328"/>
                </a:solidFill>
                <a:latin typeface="Calibri"/>
                <a:ea typeface="Calibri"/>
                <a:cs typeface="Calibri"/>
                <a:sym typeface="Calibri"/>
              </a:rPr>
              <a:t>patient</a:t>
            </a:r>
            <a:r>
              <a:rPr b="0" i="0" lang="en-US" sz="1450" u="none" cap="none" strike="noStrike">
                <a:solidFill>
                  <a:srgbClr val="1F2328"/>
                </a:solidFill>
                <a:latin typeface="Calibri"/>
                <a:ea typeface="Calibri"/>
                <a:cs typeface="Calibri"/>
                <a:sym typeface="Calibri"/>
              </a:rPr>
              <a:t>?</a:t>
            </a:r>
            <a:endParaRPr/>
          </a:p>
        </p:txBody>
      </p:sp>
      <p:sp>
        <p:nvSpPr>
          <p:cNvPr id="86" name="Google Shape;86;p2"/>
          <p:cNvSpPr/>
          <p:nvPr/>
        </p:nvSpPr>
        <p:spPr>
          <a:xfrm>
            <a:off x="6684264" y="35570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2"/>
          <p:cNvSpPr/>
          <p:nvPr/>
        </p:nvSpPr>
        <p:spPr>
          <a:xfrm>
            <a:off x="6858000" y="37947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2"/>
          <p:cNvSpPr txBox="1"/>
          <p:nvPr/>
        </p:nvSpPr>
        <p:spPr>
          <a:xfrm>
            <a:off x="6858354" y="38309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02</a:t>
            </a:r>
            <a:endParaRPr b="0" i="0" sz="1400" u="none" cap="none" strike="noStrike">
              <a:solidFill>
                <a:srgbClr val="000000"/>
              </a:solidFill>
              <a:latin typeface="Arial"/>
              <a:ea typeface="Arial"/>
              <a:cs typeface="Arial"/>
              <a:sym typeface="Arial"/>
            </a:endParaRPr>
          </a:p>
        </p:txBody>
      </p:sp>
      <p:sp>
        <p:nvSpPr>
          <p:cNvPr id="89" name="Google Shape;89;p2"/>
          <p:cNvSpPr txBox="1"/>
          <p:nvPr/>
        </p:nvSpPr>
        <p:spPr>
          <a:xfrm>
            <a:off x="7324344" y="38168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BM_DEP</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8695944" y="36393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Which </a:t>
            </a:r>
            <a:r>
              <a:rPr b="1" i="0" lang="en-US" sz="1500" u="none" cap="none" strike="noStrike">
                <a:solidFill>
                  <a:srgbClr val="1F2328"/>
                </a:solidFill>
                <a:latin typeface="Calibri"/>
                <a:ea typeface="Calibri"/>
                <a:cs typeface="Calibri"/>
                <a:sym typeface="Calibri"/>
              </a:rPr>
              <a:t>clinical</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concept</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does this </a:t>
            </a:r>
            <a:r>
              <a:rPr b="1" i="0" lang="en-US" sz="1500" u="none" cap="none" strike="noStrike">
                <a:solidFill>
                  <a:srgbClr val="1F2328"/>
                </a:solidFill>
                <a:latin typeface="Calibri"/>
                <a:ea typeface="Calibri"/>
                <a:cs typeface="Calibri"/>
                <a:sym typeface="Calibri"/>
              </a:rPr>
              <a:t>abbreviation</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6684264" y="4471416"/>
            <a:ext cx="4718400" cy="795600"/>
          </a:xfrm>
          <a:prstGeom prst="roundRect">
            <a:avLst>
              <a:gd fmla="val 10000" name="adj"/>
            </a:avLst>
          </a:prstGeom>
          <a:solidFill>
            <a:srgbClr val="F3F5F4"/>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 name="Google Shape;92;p2"/>
          <p:cNvSpPr/>
          <p:nvPr/>
        </p:nvSpPr>
        <p:spPr>
          <a:xfrm>
            <a:off x="6858000" y="4709160"/>
            <a:ext cx="310800" cy="310800"/>
          </a:xfrm>
          <a:prstGeom prst="ellipse">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 name="Google Shape;93;p2"/>
          <p:cNvSpPr txBox="1"/>
          <p:nvPr/>
        </p:nvSpPr>
        <p:spPr>
          <a:xfrm>
            <a:off x="6858354" y="4745382"/>
            <a:ext cx="3108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03</a:t>
            </a:r>
            <a:endParaRPr b="0" i="0" sz="1400" u="none" cap="none" strike="noStrike">
              <a:solidFill>
                <a:srgbClr val="000000"/>
              </a:solidFill>
              <a:latin typeface="Arial"/>
              <a:ea typeface="Arial"/>
              <a:cs typeface="Arial"/>
              <a:sym typeface="Arial"/>
            </a:endParaRPr>
          </a:p>
        </p:txBody>
      </p:sp>
      <p:sp>
        <p:nvSpPr>
          <p:cNvPr id="94" name="Google Shape;94;p2"/>
          <p:cNvSpPr txBox="1"/>
          <p:nvPr/>
        </p:nvSpPr>
        <p:spPr>
          <a:xfrm>
            <a:off x="7324344" y="4731206"/>
            <a:ext cx="14082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ecog_stage</a:t>
            </a:r>
            <a:endParaRPr b="0" i="0" sz="1400" u="none" cap="none" strike="noStrike">
              <a:solidFill>
                <a:srgbClr val="000000"/>
              </a:solidFill>
              <a:latin typeface="Arial"/>
              <a:ea typeface="Arial"/>
              <a:cs typeface="Arial"/>
              <a:sym typeface="Arial"/>
            </a:endParaRPr>
          </a:p>
        </p:txBody>
      </p:sp>
      <p:sp>
        <p:nvSpPr>
          <p:cNvPr id="95" name="Google Shape;95;p2"/>
          <p:cNvSpPr txBox="1"/>
          <p:nvPr/>
        </p:nvSpPr>
        <p:spPr>
          <a:xfrm>
            <a:off x="8695944" y="4553712"/>
            <a:ext cx="25146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What do the </a:t>
            </a:r>
            <a:r>
              <a:rPr b="1" i="0" lang="en-US" sz="1500" u="none" cap="none" strike="noStrike">
                <a:solidFill>
                  <a:srgbClr val="1F2328"/>
                </a:solidFill>
                <a:latin typeface="Calibri"/>
                <a:ea typeface="Calibri"/>
                <a:cs typeface="Calibri"/>
                <a:sym typeface="Calibri"/>
              </a:rPr>
              <a:t>encoded</a:t>
            </a:r>
            <a:endParaRPr b="1" i="0" sz="14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score </a:t>
            </a:r>
            <a:r>
              <a:rPr b="1" i="0" lang="en-US" sz="1500" u="none" cap="none" strike="noStrike">
                <a:solidFill>
                  <a:srgbClr val="1F2328"/>
                </a:solidFill>
                <a:latin typeface="Calibri"/>
                <a:ea typeface="Calibri"/>
                <a:cs typeface="Calibri"/>
                <a:sym typeface="Calibri"/>
              </a:rPr>
              <a:t>values</a:t>
            </a:r>
            <a:r>
              <a:rPr b="0" i="0" lang="en-US" sz="1500" u="none" cap="none" strike="noStrike">
                <a:solidFill>
                  <a:srgbClr val="1F2328"/>
                </a:solidFill>
                <a:latin typeface="Calibri"/>
                <a:ea typeface="Calibri"/>
                <a:cs typeface="Calibri"/>
                <a:sym typeface="Calibri"/>
              </a:rPr>
              <a:t> </a:t>
            </a:r>
            <a:r>
              <a:rPr b="1" i="0" lang="en-US" sz="1500" u="none" cap="none" strike="noStrike">
                <a:solidFill>
                  <a:srgbClr val="1F2328"/>
                </a:solidFill>
                <a:latin typeface="Calibri"/>
                <a:ea typeface="Calibri"/>
                <a:cs typeface="Calibri"/>
                <a:sym typeface="Calibri"/>
              </a:rPr>
              <a:t>mean</a:t>
            </a:r>
            <a:r>
              <a:rPr b="0" i="0" lang="en-US" sz="15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 name="Google Shape;96;p2"/>
          <p:cNvSpPr txBox="1"/>
          <p:nvPr/>
        </p:nvSpPr>
        <p:spPr>
          <a:xfrm>
            <a:off x="804672" y="5632704"/>
            <a:ext cx="10588800" cy="329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2328"/>
                </a:solidFill>
                <a:latin typeface="Calibri"/>
                <a:ea typeface="Calibri"/>
                <a:cs typeface="Calibri"/>
                <a:sym typeface="Calibri"/>
              </a:rPr>
              <a:t>Those meanings matter for ontology-based access, knowledge graphs and integration.</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1051560" y="3023122"/>
            <a:ext cx="1883700" cy="1673400"/>
          </a:xfrm>
          <a:prstGeom prst="roundRect">
            <a:avLst>
              <a:gd fmla="val 16667" name="adj"/>
            </a:avLst>
          </a:prstGeom>
          <a:solidFill>
            <a:srgbClr val="E9EEE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8" name="Google Shape;98;p2"/>
          <p:cNvSpPr txBox="1"/>
          <p:nvPr/>
        </p:nvSpPr>
        <p:spPr>
          <a:xfrm>
            <a:off x="1197864" y="3132850"/>
            <a:ext cx="16551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900" u="none" cap="none" strike="noStrike">
                <a:solidFill>
                  <a:srgbClr val="1F2328"/>
                </a:solidFill>
                <a:latin typeface="Calibri"/>
                <a:ea typeface="Calibri"/>
                <a:cs typeface="Calibri"/>
                <a:sym typeface="Calibri"/>
              </a:rPr>
              <a:t>PatientData</a:t>
            </a:r>
            <a:endParaRPr/>
          </a:p>
        </p:txBody>
      </p:sp>
      <p:cxnSp>
        <p:nvCxnSpPr>
          <p:cNvPr id="99" name="Google Shape;99;p2"/>
          <p:cNvCxnSpPr/>
          <p:nvPr/>
        </p:nvCxnSpPr>
        <p:spPr>
          <a:xfrm>
            <a:off x="1188720" y="3516898"/>
            <a:ext cx="1609200" cy="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
        <p:nvSpPr>
          <p:cNvPr id="100" name="Google Shape;100;p2"/>
          <p:cNvSpPr txBox="1"/>
          <p:nvPr/>
        </p:nvSpPr>
        <p:spPr>
          <a:xfrm>
            <a:off x="1197864" y="3626626"/>
            <a:ext cx="10974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patient_id</a:t>
            </a:r>
            <a:endParaRPr/>
          </a:p>
        </p:txBody>
      </p:sp>
      <p:sp>
        <p:nvSpPr>
          <p:cNvPr id="101" name="Google Shape;101;p2"/>
          <p:cNvSpPr txBox="1"/>
          <p:nvPr/>
        </p:nvSpPr>
        <p:spPr>
          <a:xfrm>
            <a:off x="2468880" y="3626626"/>
            <a:ext cx="301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PK</a:t>
            </a:r>
            <a:endParaRPr/>
          </a:p>
        </p:txBody>
      </p:sp>
      <p:cxnSp>
        <p:nvCxnSpPr>
          <p:cNvPr id="102" name="Google Shape;102;p2"/>
          <p:cNvCxnSpPr/>
          <p:nvPr/>
        </p:nvCxnSpPr>
        <p:spPr>
          <a:xfrm rot="10800000">
            <a:off x="2943287" y="3763786"/>
            <a:ext cx="466200" cy="0"/>
          </a:xfrm>
          <a:prstGeom prst="straightConnector1">
            <a:avLst/>
          </a:prstGeom>
          <a:noFill/>
          <a:ln cap="flat" cmpd="sng" w="31750">
            <a:solidFill>
              <a:srgbClr val="3A7D8C"/>
            </a:solidFill>
            <a:prstDash val="solid"/>
            <a:round/>
            <a:headEnd len="sm" w="sm" type="none"/>
            <a:tailEnd len="sm" w="sm" type="none"/>
          </a:ln>
          <a:effectLst>
            <a:outerShdw blurRad="40000" rotWithShape="0" dir="5400000" dist="20000">
              <a:srgbClr val="000000">
                <a:alpha val="38040"/>
              </a:srgbClr>
            </a:outerShdw>
          </a:effectLst>
        </p:spPr>
      </p:cxnSp>
      <p:sp>
        <p:nvSpPr>
          <p:cNvPr id="103" name="Google Shape;103;p2"/>
          <p:cNvSpPr/>
          <p:nvPr/>
        </p:nvSpPr>
        <p:spPr>
          <a:xfrm rot="-5400000">
            <a:off x="2825568" y="3690610"/>
            <a:ext cx="155400" cy="146400"/>
          </a:xfrm>
          <a:prstGeom prst="triangle">
            <a:avLst>
              <a:gd fmla="val 50000" name="adj"/>
            </a:avLst>
          </a:prstGeom>
          <a:solidFill>
            <a:srgbClr val="3A7D8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04" name="Google Shape;104;p2"/>
          <p:cNvSpPr txBox="1"/>
          <p:nvPr/>
        </p:nvSpPr>
        <p:spPr>
          <a:xfrm>
            <a:off x="1097280" y="4892040"/>
            <a:ext cx="4937700" cy="20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320" u="none" cap="none" strike="noStrike">
                <a:solidFill>
                  <a:srgbClr val="1F2328"/>
                </a:solidFill>
                <a:latin typeface="Calibri"/>
                <a:ea typeface="Calibri"/>
                <a:cs typeface="Calibri"/>
                <a:sym typeface="Calibri"/>
              </a:rPr>
              <a:t>The FK links an </a:t>
            </a:r>
            <a:r>
              <a:rPr b="1" i="0" lang="en-US" sz="1320" u="none" cap="none" strike="noStrike">
                <a:solidFill>
                  <a:srgbClr val="1F2328"/>
                </a:solidFill>
                <a:latin typeface="Calibri"/>
                <a:ea typeface="Calibri"/>
                <a:cs typeface="Calibri"/>
                <a:sym typeface="Calibri"/>
              </a:rPr>
              <a:t>admission</a:t>
            </a:r>
            <a:r>
              <a:rPr b="0" i="0" lang="en-US" sz="1320" u="none" cap="none" strike="noStrike">
                <a:solidFill>
                  <a:srgbClr val="1F2328"/>
                </a:solidFill>
                <a:latin typeface="Calibri"/>
                <a:ea typeface="Calibri"/>
                <a:cs typeface="Calibri"/>
                <a:sym typeface="Calibri"/>
              </a:rPr>
              <a:t> to a </a:t>
            </a:r>
            <a:r>
              <a:rPr b="1" i="0" lang="en-US" sz="1320" u="none" cap="none" strike="noStrike">
                <a:solidFill>
                  <a:srgbClr val="1F2328"/>
                </a:solidFill>
                <a:latin typeface="Calibri"/>
                <a:ea typeface="Calibri"/>
                <a:cs typeface="Calibri"/>
                <a:sym typeface="Calibri"/>
              </a:rPr>
              <a:t>patient</a:t>
            </a:r>
            <a:r>
              <a:rPr b="0" i="0" lang="en-US" sz="1320" u="none" cap="none" strike="noStrike">
                <a:solidFill>
                  <a:srgbClr val="1F2328"/>
                </a:solidFill>
                <a:latin typeface="Calibri"/>
                <a:ea typeface="Calibri"/>
                <a:cs typeface="Calibri"/>
                <a:sym typeface="Calibri"/>
              </a:rPr>
              <a:t>.</a:t>
            </a:r>
            <a:endParaRPr/>
          </a:p>
        </p:txBody>
      </p:sp>
      <p:sp>
        <p:nvSpPr>
          <p:cNvPr id="105" name="Google Shape;105;p2"/>
          <p:cNvSpPr txBox="1"/>
          <p:nvPr/>
        </p:nvSpPr>
        <p:spPr>
          <a:xfrm>
            <a:off x="1197864" y="3974098"/>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age</a:t>
            </a:r>
            <a:endParaRPr/>
          </a:p>
        </p:txBody>
      </p:sp>
      <p:sp>
        <p:nvSpPr>
          <p:cNvPr id="106" name="Google Shape;106;p2"/>
          <p:cNvSpPr txBox="1"/>
          <p:nvPr/>
        </p:nvSpPr>
        <p:spPr>
          <a:xfrm>
            <a:off x="2441448" y="3974098"/>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INT</a:t>
            </a:r>
            <a:endParaRPr/>
          </a:p>
        </p:txBody>
      </p:sp>
      <p:sp>
        <p:nvSpPr>
          <p:cNvPr id="107" name="Google Shape;107;p2"/>
          <p:cNvSpPr txBox="1"/>
          <p:nvPr/>
        </p:nvSpPr>
        <p:spPr>
          <a:xfrm>
            <a:off x="1197864" y="4321570"/>
            <a:ext cx="11064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500" u="none" cap="none" strike="noStrike">
                <a:solidFill>
                  <a:srgbClr val="1F2328"/>
                </a:solidFill>
                <a:latin typeface="Calibri"/>
                <a:ea typeface="Calibri"/>
                <a:cs typeface="Calibri"/>
                <a:sym typeface="Calibri"/>
              </a:rPr>
              <a:t>gender</a:t>
            </a:r>
            <a:endParaRPr/>
          </a:p>
        </p:txBody>
      </p:sp>
      <p:sp>
        <p:nvSpPr>
          <p:cNvPr id="108" name="Google Shape;108;p2"/>
          <p:cNvSpPr txBox="1"/>
          <p:nvPr/>
        </p:nvSpPr>
        <p:spPr>
          <a:xfrm>
            <a:off x="2441448" y="4321570"/>
            <a:ext cx="420600" cy="207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350" u="none" cap="none" strike="noStrike">
                <a:solidFill>
                  <a:srgbClr val="5B6770"/>
                </a:solidFill>
                <a:latin typeface="Calibri"/>
                <a:ea typeface="Calibri"/>
                <a:cs typeface="Calibri"/>
                <a:sym typeface="Calibri"/>
              </a:rPr>
              <a:t>TEXT</a:t>
            </a:r>
            <a:endParaRPr/>
          </a:p>
        </p:txBody>
      </p:sp>
      <p:sp>
        <p:nvSpPr>
          <p:cNvPr id="109" name="Google Shape;109;p2"/>
          <p:cNvSpPr/>
          <p:nvPr/>
        </p:nvSpPr>
        <p:spPr>
          <a:xfrm>
            <a:off x="3422401" y="2739218"/>
            <a:ext cx="2317800" cy="1876500"/>
          </a:xfrm>
          <a:prstGeom prst="roundRect">
            <a:avLst>
              <a:gd fmla="val 9000" name="adj"/>
            </a:avLst>
          </a:prstGeom>
          <a:solidFill>
            <a:srgbClr val="E9EEEB"/>
          </a:solidFill>
          <a:ln>
            <a:noFill/>
          </a:ln>
          <a:effectLst>
            <a:outerShdw blurRad="66830" rotWithShape="0" algn="t" dir="5400000" dist="22277">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28"/>
              <a:buFont typeface="Arial"/>
              <a:buNone/>
            </a:pPr>
            <a:r>
              <a:t/>
            </a:r>
            <a:endParaRPr b="0" i="0" sz="1228" u="none" cap="none" strike="noStrike">
              <a:solidFill>
                <a:srgbClr val="000000"/>
              </a:solidFill>
              <a:latin typeface="Arial"/>
              <a:ea typeface="Arial"/>
              <a:cs typeface="Arial"/>
              <a:sym typeface="Arial"/>
            </a:endParaRPr>
          </a:p>
        </p:txBody>
      </p:sp>
      <p:sp>
        <p:nvSpPr>
          <p:cNvPr id="110" name="Google Shape;110;p2"/>
          <p:cNvSpPr txBox="1"/>
          <p:nvPr/>
        </p:nvSpPr>
        <p:spPr>
          <a:xfrm>
            <a:off x="3566754" y="2835453"/>
            <a:ext cx="2044800" cy="292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42"/>
              <a:buFont typeface="Arial"/>
              <a:buNone/>
            </a:pPr>
            <a:r>
              <a:rPr b="1" i="0" lang="en-US" sz="1900" u="none" cap="none" strike="noStrike">
                <a:solidFill>
                  <a:srgbClr val="1F2328"/>
                </a:solidFill>
                <a:latin typeface="Calibri"/>
                <a:ea typeface="Calibri"/>
                <a:cs typeface="Calibri"/>
                <a:sym typeface="Calibri"/>
              </a:rPr>
              <a:t>admission</a:t>
            </a:r>
            <a:endParaRPr b="0" i="0" sz="1900" u="none" cap="none" strike="noStrike">
              <a:solidFill>
                <a:srgbClr val="000000"/>
              </a:solidFill>
              <a:latin typeface="Arial"/>
              <a:ea typeface="Arial"/>
              <a:cs typeface="Arial"/>
              <a:sym typeface="Arial"/>
            </a:endParaRPr>
          </a:p>
        </p:txBody>
      </p:sp>
      <p:sp>
        <p:nvSpPr>
          <p:cNvPr id="111" name="Google Shape;111;p2"/>
          <p:cNvSpPr/>
          <p:nvPr/>
        </p:nvSpPr>
        <p:spPr>
          <a:xfrm>
            <a:off x="3566754" y="3316628"/>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admission_id</a:t>
            </a:r>
            <a:endParaRPr b="0" i="0" sz="1500" u="none" cap="none" strike="noStrike">
              <a:solidFill>
                <a:srgbClr val="000000"/>
              </a:solidFill>
              <a:latin typeface="Arial"/>
              <a:ea typeface="Arial"/>
              <a:cs typeface="Arial"/>
              <a:sym typeface="Arial"/>
            </a:endParaRPr>
          </a:p>
        </p:txBody>
      </p:sp>
      <p:sp>
        <p:nvSpPr>
          <p:cNvPr id="112" name="Google Shape;112;p2"/>
          <p:cNvSpPr/>
          <p:nvPr/>
        </p:nvSpPr>
        <p:spPr>
          <a:xfrm>
            <a:off x="3566754" y="3621373"/>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patient_id</a:t>
            </a:r>
            <a:endParaRPr b="0" i="0" sz="1500" u="none" cap="none" strike="noStrike">
              <a:solidFill>
                <a:srgbClr val="000000"/>
              </a:solidFill>
              <a:latin typeface="Arial"/>
              <a:ea typeface="Arial"/>
              <a:cs typeface="Arial"/>
              <a:sym typeface="Arial"/>
            </a:endParaRPr>
          </a:p>
        </p:txBody>
      </p:sp>
      <p:sp>
        <p:nvSpPr>
          <p:cNvPr id="113" name="Google Shape;113;p2"/>
          <p:cNvSpPr/>
          <p:nvPr/>
        </p:nvSpPr>
        <p:spPr>
          <a:xfrm>
            <a:off x="4938104" y="3316628"/>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PK</a:t>
            </a:r>
            <a:endParaRPr b="0" i="0" u="none" cap="none" strike="noStrike">
              <a:solidFill>
                <a:srgbClr val="000000"/>
              </a:solidFill>
              <a:latin typeface="Arial"/>
              <a:ea typeface="Arial"/>
              <a:cs typeface="Arial"/>
              <a:sym typeface="Arial"/>
            </a:endParaRPr>
          </a:p>
        </p:txBody>
      </p:sp>
      <p:sp>
        <p:nvSpPr>
          <p:cNvPr id="114" name="Google Shape;114;p2"/>
          <p:cNvSpPr/>
          <p:nvPr/>
        </p:nvSpPr>
        <p:spPr>
          <a:xfrm>
            <a:off x="4938104" y="3621373"/>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FK</a:t>
            </a:r>
            <a:endParaRPr b="0" i="0" u="none" cap="none" strike="noStrike">
              <a:solidFill>
                <a:srgbClr val="000000"/>
              </a:solidFill>
              <a:latin typeface="Arial"/>
              <a:ea typeface="Arial"/>
              <a:cs typeface="Arial"/>
              <a:sym typeface="Arial"/>
            </a:endParaRPr>
          </a:p>
        </p:txBody>
      </p:sp>
      <p:sp>
        <p:nvSpPr>
          <p:cNvPr id="115" name="Google Shape;115;p2"/>
          <p:cNvSpPr/>
          <p:nvPr/>
        </p:nvSpPr>
        <p:spPr>
          <a:xfrm>
            <a:off x="3566754" y="3926117"/>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BM_DEP</a:t>
            </a:r>
            <a:endParaRPr b="0" i="0" sz="1500" u="none" cap="none" strike="noStrike">
              <a:solidFill>
                <a:srgbClr val="000000"/>
              </a:solidFill>
              <a:latin typeface="Arial"/>
              <a:ea typeface="Arial"/>
              <a:cs typeface="Arial"/>
              <a:sym typeface="Arial"/>
            </a:endParaRPr>
          </a:p>
        </p:txBody>
      </p:sp>
      <p:sp>
        <p:nvSpPr>
          <p:cNvPr id="116" name="Google Shape;116;p2"/>
          <p:cNvSpPr/>
          <p:nvPr/>
        </p:nvSpPr>
        <p:spPr>
          <a:xfrm>
            <a:off x="4938104" y="3926117"/>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sp>
        <p:nvSpPr>
          <p:cNvPr id="117" name="Google Shape;117;p2"/>
          <p:cNvSpPr/>
          <p:nvPr/>
        </p:nvSpPr>
        <p:spPr>
          <a:xfrm>
            <a:off x="3566754" y="4230861"/>
            <a:ext cx="1403400" cy="256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16"/>
              <a:buFont typeface="Arial"/>
              <a:buNone/>
            </a:pPr>
            <a:r>
              <a:rPr b="1" i="0" lang="en-US" sz="1500" u="none" cap="none" strike="noStrike">
                <a:solidFill>
                  <a:srgbClr val="0B6E4F"/>
                </a:solidFill>
                <a:latin typeface="Calibri"/>
                <a:ea typeface="Calibri"/>
                <a:cs typeface="Calibri"/>
                <a:sym typeface="Calibri"/>
              </a:rPr>
              <a:t>ecog_stage</a:t>
            </a:r>
            <a:endParaRPr b="0" i="0" sz="1500" u="none" cap="none" strike="noStrike">
              <a:solidFill>
                <a:srgbClr val="000000"/>
              </a:solidFill>
              <a:latin typeface="Arial"/>
              <a:ea typeface="Arial"/>
              <a:cs typeface="Arial"/>
              <a:sym typeface="Arial"/>
            </a:endParaRPr>
          </a:p>
        </p:txBody>
      </p:sp>
      <p:sp>
        <p:nvSpPr>
          <p:cNvPr id="118" name="Google Shape;118;p2"/>
          <p:cNvSpPr/>
          <p:nvPr/>
        </p:nvSpPr>
        <p:spPr>
          <a:xfrm>
            <a:off x="4938104" y="4230861"/>
            <a:ext cx="657600" cy="256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228"/>
              <a:buFont typeface="Arial"/>
              <a:buNone/>
            </a:pPr>
            <a:r>
              <a:rPr b="0" i="0" lang="en-US" u="none" cap="none" strike="noStrike">
                <a:solidFill>
                  <a:srgbClr val="5B6770"/>
                </a:solidFill>
                <a:latin typeface="Calibri"/>
                <a:ea typeface="Calibri"/>
                <a:cs typeface="Calibri"/>
                <a:sym typeface="Calibri"/>
              </a:rPr>
              <a:t>INT</a:t>
            </a:r>
            <a:endParaRPr b="0" i="0" u="none" cap="none" strike="noStrike">
              <a:solidFill>
                <a:srgbClr val="000000"/>
              </a:solidFill>
              <a:latin typeface="Arial"/>
              <a:ea typeface="Arial"/>
              <a:cs typeface="Arial"/>
              <a:sym typeface="Arial"/>
            </a:endParaRPr>
          </a:p>
        </p:txBody>
      </p:sp>
      <p:cxnSp>
        <p:nvCxnSpPr>
          <p:cNvPr id="119" name="Google Shape;119;p2"/>
          <p:cNvCxnSpPr/>
          <p:nvPr/>
        </p:nvCxnSpPr>
        <p:spPr>
          <a:xfrm flipH="1" rot="10800000">
            <a:off x="3463857" y="3261622"/>
            <a:ext cx="2144400" cy="300"/>
          </a:xfrm>
          <a:prstGeom prst="straightConnector1">
            <a:avLst/>
          </a:prstGeom>
          <a:noFill/>
          <a:ln cap="flat" cmpd="sng" w="12700">
            <a:solidFill>
              <a:srgbClr val="8E989E"/>
            </a:solidFill>
            <a:prstDash val="solid"/>
            <a:round/>
            <a:headEnd len="sm" w="sm" type="none"/>
            <a:tailEnd len="sm" w="sm" type="none"/>
          </a:ln>
          <a:effectLst>
            <a:outerShdw blurRad="40000" rotWithShape="0" dir="5400000" dist="20000">
              <a:srgbClr val="000000">
                <a:alpha val="38040"/>
              </a:srgbClr>
            </a:outerShdw>
          </a:effectLst>
        </p:spPr>
      </p:cxnSp>
      <p:sp>
        <p:nvSpPr>
          <p:cNvPr id="120" name="Slide number 120"/>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2</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h4e1cd23050cdd6e6_1_287"/>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26" name="Google Shape;126;h4e1cd23050cdd6e6_1_287"/>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27" name="Google Shape;127;h4e1cd23050cdd6e6_1_287"/>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h4e1cd23050cdd6e6_1_287"/>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29" name="Google Shape;129;h4e1cd23050cdd6e6_1_287"/>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 name="Google Shape;130;h4e1cd23050cdd6e6_1_287"/>
          <p:cNvSpPr/>
          <p:nvPr/>
        </p:nvSpPr>
        <p:spPr>
          <a:xfrm>
            <a:off x="4754880" y="2057400"/>
            <a:ext cx="6656700" cy="4453200"/>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1" name="Google Shape;131;h4e1cd23050cdd6e6_1_287"/>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32" name="Google Shape;132;h4e1cd23050cdd6e6_1_287"/>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h4e1cd23050cdd6e6_1_287"/>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34" name="Google Shape;134;h4e1cd23050cdd6e6_1_287"/>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35" name="Google Shape;135;h4e1cd23050cdd6e6_1_287"/>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36" name="Google Shape;136;h4e1cd23050cdd6e6_1_287"/>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37" name="Google Shape;137;h4e1cd23050cdd6e6_1_287"/>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38" name="Google Shape;138;h4e1cd23050cdd6e6_1_287"/>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39" name="Google Shape;139;h4e1cd23050cdd6e6_1_287"/>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40" name="Google Shape;140;h4e1cd23050cdd6e6_1_287"/>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1" name="Google Shape;141;h4e1cd23050cdd6e6_1_287"/>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42" name="Google Shape;142;h4e1cd23050cdd6e6_1_287"/>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43" name="Google Shape;143;h4e1cd23050cdd6e6_1_287"/>
          <p:cNvSpPr/>
          <p:nvPr/>
        </p:nvSpPr>
        <p:spPr>
          <a:xfrm>
            <a:off x="4983480" y="3200400"/>
            <a:ext cx="6217800" cy="32004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Slide number 144"/>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sp>
        <p:nvSpPr>
          <p:cNvPr id="149" name="Google Shape;149;h4e1cd23050cdd6e6_1_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50" name="Google Shape;150;h4e1cd23050cdd6e6_1_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151" name="Google Shape;151;h4e1cd23050cdd6e6_1_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2" name="Google Shape;152;h4e1cd23050cdd6e6_1_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153" name="Google Shape;153;h4e1cd23050cdd6e6_1_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 name="Google Shape;154;h4e1cd23050cdd6e6_1_8"/>
          <p:cNvSpPr/>
          <p:nvPr/>
        </p:nvSpPr>
        <p:spPr>
          <a:xfrm>
            <a:off x="4754880" y="2057400"/>
            <a:ext cx="6656700" cy="4521708"/>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h4e1cd23050cdd6e6_1_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156" name="Google Shape;156;h4e1cd23050cdd6e6_1_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 name="Google Shape;157;h4e1cd23050cdd6e6_1_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158" name="Google Shape;158;h4e1cd23050cdd6e6_1_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h4e1cd23050cdd6e6_1_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160" name="Google Shape;160;h4e1cd23050cdd6e6_1_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161" name="Google Shape;161;h4e1cd23050cdd6e6_1_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 name="Google Shape;162;h4e1cd23050cdd6e6_1_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163" name="Google Shape;163;h4e1cd23050cdd6e6_1_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h4e1cd23050cdd6e6_1_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165" name="Google Shape;165;h4e1cd23050cdd6e6_1_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166" name="Google Shape;166;h4e1cd23050cdd6e6_1_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167" name="Google Shape;167;h4e1cd23050cdd6e6_1_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168" name="Google Shape;168;h4e1cd23050cdd6e6_1_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169" name="Google Shape;169;h4e1cd23050cdd6e6_1_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170" name="Google Shape;170;h4e1cd23050cdd6e6_1_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171" name="Google Shape;171;h4e1cd23050cdd6e6_1_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2" name="Google Shape;172;h4e1cd23050cdd6e6_1_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173" name="Google Shape;173;h4e1cd23050cdd6e6_1_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174" name="Google Shape;174;h4e1cd23050cdd6e6_1_8"/>
          <p:cNvSpPr/>
          <p:nvPr/>
        </p:nvSpPr>
        <p:spPr>
          <a:xfrm>
            <a:off x="4983480" y="3200400"/>
            <a:ext cx="6217800" cy="3305556"/>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h4e1cd23050cdd6e6_1_8"/>
          <p:cNvSpPr txBox="1"/>
          <p:nvPr/>
        </p:nvSpPr>
        <p:spPr>
          <a:xfrm>
            <a:off x="4983480" y="323697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176" name="Google Shape;176;h4e1cd23050cdd6e6_1_8"/>
          <p:cNvSpPr txBox="1"/>
          <p:nvPr/>
        </p:nvSpPr>
        <p:spPr>
          <a:xfrm>
            <a:off x="4983480" y="341006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177" name="Google Shape;177;h4e1cd23050cdd6e6_1_8"/>
          <p:cNvSpPr txBox="1"/>
          <p:nvPr/>
        </p:nvSpPr>
        <p:spPr>
          <a:xfrm>
            <a:off x="4983480" y="358315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178" name="Google Shape;178;h4e1cd23050cdd6e6_1_8"/>
          <p:cNvSpPr txBox="1"/>
          <p:nvPr/>
        </p:nvSpPr>
        <p:spPr>
          <a:xfrm>
            <a:off x="4983480" y="3756252"/>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1F2328"/>
                </a:solidFill>
                <a:highlight>
                  <a:srgbClr val="FFE599"/>
                </a:highlight>
                <a:latin typeface="Consolas"/>
                <a:ea typeface="Consolas"/>
                <a:cs typeface="Consolas"/>
                <a:sym typeface="Consolas"/>
              </a:rPr>
              <a:t>hasPatientData </a:t>
            </a:r>
            <a:r>
              <a:rPr b="1" i="0" lang="en-US" sz="1150" u="none" cap="none" strike="noStrike">
                <a:solidFill>
                  <a:srgbClr val="0B6E4F"/>
                </a:solidFill>
                <a:highlight>
                  <a:srgbClr val="FFE599"/>
                </a:highlight>
                <a:latin typeface="Consolas"/>
                <a:ea typeface="Consolas"/>
                <a:cs typeface="Consolas"/>
                <a:sym typeface="Consolas"/>
              </a:rPr>
              <a:t>some</a:t>
            </a:r>
            <a:r>
              <a:rPr b="0" i="0" lang="en-US" sz="1150" u="none" cap="none" strike="noStrike">
                <a:solidFill>
                  <a:srgbClr val="1F2328"/>
                </a:solidFill>
                <a:highlight>
                  <a:srgbClr val="FFE599"/>
                </a:highlight>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179" name="Google Shape;179;h4e1cd23050cdd6e6_1_8"/>
          <p:cNvSpPr/>
          <p:nvPr/>
        </p:nvSpPr>
        <p:spPr>
          <a:xfrm>
            <a:off x="9399912" y="3756252"/>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180" name="Google Shape;180;h4e1cd23050cdd6e6_1_8"/>
          <p:cNvSpPr txBox="1"/>
          <p:nvPr/>
        </p:nvSpPr>
        <p:spPr>
          <a:xfrm>
            <a:off x="4983480" y="392934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181" name="Google Shape;181;h4e1cd23050cdd6e6_1_8"/>
          <p:cNvSpPr txBox="1"/>
          <p:nvPr/>
        </p:nvSpPr>
        <p:spPr>
          <a:xfrm>
            <a:off x="4983480" y="41024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182" name="Google Shape;182;h4e1cd23050cdd6e6_1_8"/>
          <p:cNvSpPr txBox="1"/>
          <p:nvPr/>
        </p:nvSpPr>
        <p:spPr>
          <a:xfrm>
            <a:off x="4983480" y="4361751"/>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183" name="Google Shape;183;h4e1cd23050cdd6e6_1_8"/>
          <p:cNvSpPr txBox="1"/>
          <p:nvPr/>
        </p:nvSpPr>
        <p:spPr>
          <a:xfrm>
            <a:off x="4983480" y="453484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highlight>
                  <a:srgbClr val="FFE599"/>
                </a:highlight>
                <a:latin typeface="Consolas"/>
                <a:ea typeface="Consolas"/>
                <a:cs typeface="Consolas"/>
                <a:sym typeface="Consolas"/>
              </a:rPr>
              <a:t>ObjectProperty:</a:t>
            </a:r>
            <a:r>
              <a:rPr b="0" i="0" lang="en-US" sz="1150" u="none" cap="none" strike="noStrike">
                <a:solidFill>
                  <a:srgbClr val="1F2328"/>
                </a:solidFill>
                <a:highlight>
                  <a:srgbClr val="FFE599"/>
                </a:highlight>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184" name="Google Shape;184;h4e1cd23050cdd6e6_1_8"/>
          <p:cNvSpPr/>
          <p:nvPr/>
        </p:nvSpPr>
        <p:spPr>
          <a:xfrm>
            <a:off x="9399912" y="453484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185" name="Google Shape;185;h4e1cd23050cdd6e6_1_8"/>
          <p:cNvSpPr txBox="1"/>
          <p:nvPr/>
        </p:nvSpPr>
        <p:spPr>
          <a:xfrm>
            <a:off x="4983480" y="47079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186" name="Google Shape;186;h4e1cd23050cdd6e6_1_8"/>
          <p:cNvSpPr txBox="1"/>
          <p:nvPr/>
        </p:nvSpPr>
        <p:spPr>
          <a:xfrm>
            <a:off x="4983480" y="488102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187" name="Google Shape;187;h4e1cd23050cdd6e6_1_8"/>
          <p:cNvSpPr txBox="1"/>
          <p:nvPr/>
        </p:nvSpPr>
        <p:spPr>
          <a:xfrm>
            <a:off x="4983480" y="540030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prov:wasDerivedFrom</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2F6B78"/>
                </a:solidFill>
                <a:highlight>
                  <a:srgbClr val="FFE599"/>
                </a:highlight>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188" name="Google Shape;188;h4e1cd23050cdd6e6_1_8"/>
          <p:cNvSpPr/>
          <p:nvPr/>
        </p:nvSpPr>
        <p:spPr>
          <a:xfrm>
            <a:off x="9399912" y="540030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189" name="Google Shape;189;h4e1cd23050cdd6e6_1_8"/>
          <p:cNvSpPr txBox="1"/>
          <p:nvPr/>
        </p:nvSpPr>
        <p:spPr>
          <a:xfrm>
            <a:off x="4983480" y="557339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190" name="Google Shape;190;h4e1cd23050cdd6e6_1_8"/>
          <p:cNvSpPr txBox="1"/>
          <p:nvPr/>
        </p:nvSpPr>
        <p:spPr>
          <a:xfrm>
            <a:off x="4983480" y="574648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191" name="Google Shape;191;h4e1cd23050cdd6e6_1_8"/>
          <p:cNvSpPr txBox="1"/>
          <p:nvPr/>
        </p:nvSpPr>
        <p:spPr>
          <a:xfrm>
            <a:off x="4983480" y="626576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prov:wasDerivedFrom</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2F6B78"/>
                </a:solidFill>
                <a:highlight>
                  <a:srgbClr val="FFE599"/>
                </a:highlight>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192" name="Google Shape;192;h4e1cd23050cdd6e6_1_8"/>
          <p:cNvSpPr/>
          <p:nvPr/>
        </p:nvSpPr>
        <p:spPr>
          <a:xfrm>
            <a:off x="9399912" y="626576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193" name="Slide number 193"/>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h4e1cd23050cdd6e6_1_56"/>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199" name="Google Shape;199;h4e1cd23050cdd6e6_1_56"/>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00" name="Google Shape;200;h4e1cd23050cdd6e6_1_56"/>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1" name="Google Shape;201;h4e1cd23050cdd6e6_1_56"/>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02" name="Google Shape;202;h4e1cd23050cdd6e6_1_56"/>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3" name="Google Shape;203;h4e1cd23050cdd6e6_1_56"/>
          <p:cNvSpPr/>
          <p:nvPr/>
        </p:nvSpPr>
        <p:spPr>
          <a:xfrm>
            <a:off x="4754880" y="2057400"/>
            <a:ext cx="6656700" cy="4521708"/>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4" name="Google Shape;204;h4e1cd23050cdd6e6_1_56"/>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05" name="Google Shape;205;h4e1cd23050cdd6e6_1_56"/>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6" name="Google Shape;206;h4e1cd23050cdd6e6_1_56"/>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07" name="Google Shape;207;h4e1cd23050cdd6e6_1_56"/>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h4e1cd23050cdd6e6_1_56"/>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09" name="Google Shape;209;h4e1cd23050cdd6e6_1_56"/>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10" name="Google Shape;210;h4e1cd23050cdd6e6_1_56"/>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h4e1cd23050cdd6e6_1_56"/>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12" name="Google Shape;212;h4e1cd23050cdd6e6_1_56"/>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h4e1cd23050cdd6e6_1_56"/>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14" name="Google Shape;214;h4e1cd23050cdd6e6_1_56"/>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15" name="Google Shape;215;h4e1cd23050cdd6e6_1_56"/>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16" name="Google Shape;216;h4e1cd23050cdd6e6_1_56"/>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17" name="Google Shape;217;h4e1cd23050cdd6e6_1_56"/>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18" name="Google Shape;218;h4e1cd23050cdd6e6_1_56"/>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19" name="Google Shape;219;h4e1cd23050cdd6e6_1_56"/>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20" name="Google Shape;220;h4e1cd23050cdd6e6_1_56"/>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1" name="Google Shape;221;h4e1cd23050cdd6e6_1_56"/>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22" name="Google Shape;222;h4e1cd23050cdd6e6_1_56"/>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23" name="Google Shape;223;h4e1cd23050cdd6e6_1_56"/>
          <p:cNvSpPr/>
          <p:nvPr/>
        </p:nvSpPr>
        <p:spPr>
          <a:xfrm>
            <a:off x="4983480" y="3200400"/>
            <a:ext cx="6217800" cy="3305556"/>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h4e1cd23050cdd6e6_1_56"/>
          <p:cNvSpPr txBox="1"/>
          <p:nvPr/>
        </p:nvSpPr>
        <p:spPr>
          <a:xfrm>
            <a:off x="4983480" y="323697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225" name="Google Shape;225;h4e1cd23050cdd6e6_1_56"/>
          <p:cNvSpPr txBox="1"/>
          <p:nvPr/>
        </p:nvSpPr>
        <p:spPr>
          <a:xfrm>
            <a:off x="4983480" y="341006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226" name="Google Shape;226;h4e1cd23050cdd6e6_1_56"/>
          <p:cNvSpPr txBox="1"/>
          <p:nvPr/>
        </p:nvSpPr>
        <p:spPr>
          <a:xfrm>
            <a:off x="4983480" y="358315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27" name="Google Shape;227;h4e1cd23050cdd6e6_1_56"/>
          <p:cNvSpPr txBox="1"/>
          <p:nvPr/>
        </p:nvSpPr>
        <p:spPr>
          <a:xfrm>
            <a:off x="4983480" y="3756252"/>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hasPatientData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228" name="Google Shape;228;h4e1cd23050cdd6e6_1_56"/>
          <p:cNvSpPr/>
          <p:nvPr/>
        </p:nvSpPr>
        <p:spPr>
          <a:xfrm>
            <a:off x="9399912" y="3756252"/>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229" name="Google Shape;229;h4e1cd23050cdd6e6_1_56"/>
          <p:cNvSpPr txBox="1"/>
          <p:nvPr/>
        </p:nvSpPr>
        <p:spPr>
          <a:xfrm>
            <a:off x="4983480" y="392934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30" name="Google Shape;230;h4e1cd23050cdd6e6_1_56"/>
          <p:cNvSpPr txBox="1"/>
          <p:nvPr/>
        </p:nvSpPr>
        <p:spPr>
          <a:xfrm>
            <a:off x="4983480" y="41024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231" name="Google Shape;231;h4e1cd23050cdd6e6_1_56"/>
          <p:cNvSpPr txBox="1"/>
          <p:nvPr/>
        </p:nvSpPr>
        <p:spPr>
          <a:xfrm>
            <a:off x="4983480" y="4361751"/>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232" name="Google Shape;232;h4e1cd23050cdd6e6_1_56"/>
          <p:cNvSpPr txBox="1"/>
          <p:nvPr/>
        </p:nvSpPr>
        <p:spPr>
          <a:xfrm>
            <a:off x="4983480" y="453484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233" name="Google Shape;233;h4e1cd23050cdd6e6_1_56"/>
          <p:cNvSpPr/>
          <p:nvPr/>
        </p:nvSpPr>
        <p:spPr>
          <a:xfrm>
            <a:off x="9399912" y="453484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234" name="Google Shape;234;h4e1cd23050cdd6e6_1_56"/>
          <p:cNvSpPr txBox="1"/>
          <p:nvPr/>
        </p:nvSpPr>
        <p:spPr>
          <a:xfrm>
            <a:off x="4983480" y="47079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235" name="Google Shape;235;h4e1cd23050cdd6e6_1_56"/>
          <p:cNvSpPr txBox="1"/>
          <p:nvPr/>
        </p:nvSpPr>
        <p:spPr>
          <a:xfrm>
            <a:off x="4983480" y="488102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236" name="Google Shape;236;h4e1cd23050cdd6e6_1_56"/>
          <p:cNvSpPr txBox="1"/>
          <p:nvPr/>
        </p:nvSpPr>
        <p:spPr>
          <a:xfrm>
            <a:off x="4983480" y="505412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rdfs:label</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A3401E"/>
                </a:solidFill>
                <a:highlight>
                  <a:srgbClr val="FFE599"/>
                </a:highlight>
                <a:latin typeface="Consolas"/>
                <a:ea typeface="Consolas"/>
                <a:cs typeface="Consolas"/>
                <a:sym typeface="Consolas"/>
              </a:rPr>
              <a:t>"Bone Marrow Depression"@en</a:t>
            </a:r>
            <a:r>
              <a:rPr b="0" i="0" lang="en-US" sz="1150" u="none" cap="none" strike="noStrike">
                <a:solidFill>
                  <a:srgbClr val="1F2328"/>
                </a:solidFill>
                <a:highlight>
                  <a:srgbClr val="FFE599"/>
                </a:highlight>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37" name="Google Shape;237;h4e1cd23050cdd6e6_1_56"/>
          <p:cNvSpPr/>
          <p:nvPr/>
        </p:nvSpPr>
        <p:spPr>
          <a:xfrm>
            <a:off x="9399912" y="505412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238" name="Google Shape;238;h4e1cd23050cdd6e6_1_56"/>
          <p:cNvSpPr txBox="1"/>
          <p:nvPr/>
        </p:nvSpPr>
        <p:spPr>
          <a:xfrm>
            <a:off x="4983480" y="540030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239" name="Google Shape;239;h4e1cd23050cdd6e6_1_56"/>
          <p:cNvSpPr/>
          <p:nvPr/>
        </p:nvSpPr>
        <p:spPr>
          <a:xfrm>
            <a:off x="9399912" y="540030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240" name="Google Shape;240;h4e1cd23050cdd6e6_1_56"/>
          <p:cNvSpPr txBox="1"/>
          <p:nvPr/>
        </p:nvSpPr>
        <p:spPr>
          <a:xfrm>
            <a:off x="4983480" y="557339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241" name="Google Shape;241;h4e1cd23050cdd6e6_1_56"/>
          <p:cNvSpPr txBox="1"/>
          <p:nvPr/>
        </p:nvSpPr>
        <p:spPr>
          <a:xfrm>
            <a:off x="4983480" y="574648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242" name="Google Shape;242;h4e1cd23050cdd6e6_1_56"/>
          <p:cNvSpPr txBox="1"/>
          <p:nvPr/>
        </p:nvSpPr>
        <p:spPr>
          <a:xfrm>
            <a:off x="4983480" y="591958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rdfs:label</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A3401E"/>
                </a:solidFill>
                <a:highlight>
                  <a:srgbClr val="FFE599"/>
                </a:highlight>
                <a:latin typeface="Consolas"/>
                <a:ea typeface="Consolas"/>
                <a:cs typeface="Consolas"/>
                <a:sym typeface="Consolas"/>
              </a:rPr>
              <a:t>"ECOG Performance Status"@en</a:t>
            </a:r>
            <a:r>
              <a:rPr b="0" i="0" lang="en-US" sz="1150" u="none" cap="none" strike="noStrike">
                <a:solidFill>
                  <a:srgbClr val="1F2328"/>
                </a:solidFill>
                <a:highlight>
                  <a:srgbClr val="FFE599"/>
                </a:highlight>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43" name="Google Shape;243;h4e1cd23050cdd6e6_1_56"/>
          <p:cNvSpPr/>
          <p:nvPr/>
        </p:nvSpPr>
        <p:spPr>
          <a:xfrm>
            <a:off x="9399912" y="591958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244" name="Google Shape;244;h4e1cd23050cdd6e6_1_56"/>
          <p:cNvSpPr txBox="1"/>
          <p:nvPr/>
        </p:nvSpPr>
        <p:spPr>
          <a:xfrm>
            <a:off x="4983480" y="626576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245" name="Google Shape;245;h4e1cd23050cdd6e6_1_56"/>
          <p:cNvSpPr/>
          <p:nvPr/>
        </p:nvSpPr>
        <p:spPr>
          <a:xfrm>
            <a:off x="9399912" y="626576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246" name="Slide number 24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h4e1cd23050cdd6e6_1_108"/>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252" name="Google Shape;252;h4e1cd23050cdd6e6_1_108"/>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253" name="Google Shape;253;h4e1cd23050cdd6e6_1_108"/>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4" name="Google Shape;254;h4e1cd23050cdd6e6_1_108"/>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255" name="Google Shape;255;h4e1cd23050cdd6e6_1_108"/>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h4e1cd23050cdd6e6_1_108"/>
          <p:cNvSpPr/>
          <p:nvPr/>
        </p:nvSpPr>
        <p:spPr>
          <a:xfrm>
            <a:off x="4754880" y="2057400"/>
            <a:ext cx="6656700" cy="4521708"/>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7" name="Google Shape;257;h4e1cd23050cdd6e6_1_108"/>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258" name="Google Shape;258;h4e1cd23050cdd6e6_1_108"/>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h4e1cd23050cdd6e6_1_108"/>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260" name="Google Shape;260;h4e1cd23050cdd6e6_1_108"/>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h4e1cd23050cdd6e6_1_108"/>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262" name="Google Shape;262;h4e1cd23050cdd6e6_1_108"/>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263" name="Google Shape;263;h4e1cd23050cdd6e6_1_108"/>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4" name="Google Shape;264;h4e1cd23050cdd6e6_1_108"/>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265" name="Google Shape;265;h4e1cd23050cdd6e6_1_108"/>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h4e1cd23050cdd6e6_1_108"/>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267" name="Google Shape;267;h4e1cd23050cdd6e6_1_108"/>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268" name="Google Shape;268;h4e1cd23050cdd6e6_1_108"/>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269" name="Google Shape;269;h4e1cd23050cdd6e6_1_108"/>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270" name="Google Shape;270;h4e1cd23050cdd6e6_1_108"/>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271" name="Google Shape;271;h4e1cd23050cdd6e6_1_108"/>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272" name="Google Shape;272;h4e1cd23050cdd6e6_1_108"/>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273" name="Google Shape;273;h4e1cd23050cdd6e6_1_108"/>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4" name="Google Shape;274;h4e1cd23050cdd6e6_1_108"/>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275" name="Google Shape;275;h4e1cd23050cdd6e6_1_108"/>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276" name="Google Shape;276;h4e1cd23050cdd6e6_1_108"/>
          <p:cNvSpPr/>
          <p:nvPr/>
        </p:nvSpPr>
        <p:spPr>
          <a:xfrm>
            <a:off x="4983480" y="3200400"/>
            <a:ext cx="6217800" cy="3305556"/>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h4e1cd23050cdd6e6_1_108"/>
          <p:cNvSpPr txBox="1"/>
          <p:nvPr/>
        </p:nvSpPr>
        <p:spPr>
          <a:xfrm>
            <a:off x="4983480" y="323697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278" name="Google Shape;278;h4e1cd23050cdd6e6_1_108"/>
          <p:cNvSpPr txBox="1"/>
          <p:nvPr/>
        </p:nvSpPr>
        <p:spPr>
          <a:xfrm>
            <a:off x="4983480" y="341006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279" name="Google Shape;279;h4e1cd23050cdd6e6_1_108"/>
          <p:cNvSpPr txBox="1"/>
          <p:nvPr/>
        </p:nvSpPr>
        <p:spPr>
          <a:xfrm>
            <a:off x="4983480" y="358315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80" name="Google Shape;280;h4e1cd23050cdd6e6_1_108"/>
          <p:cNvSpPr txBox="1"/>
          <p:nvPr/>
        </p:nvSpPr>
        <p:spPr>
          <a:xfrm>
            <a:off x="4983480" y="3756252"/>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hasPatientData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281" name="Google Shape;281;h4e1cd23050cdd6e6_1_108"/>
          <p:cNvSpPr/>
          <p:nvPr/>
        </p:nvSpPr>
        <p:spPr>
          <a:xfrm>
            <a:off x="9399912" y="3756252"/>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282" name="Google Shape;282;h4e1cd23050cdd6e6_1_108"/>
          <p:cNvSpPr txBox="1"/>
          <p:nvPr/>
        </p:nvSpPr>
        <p:spPr>
          <a:xfrm>
            <a:off x="4983480" y="392934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83" name="Google Shape;283;h4e1cd23050cdd6e6_1_108"/>
          <p:cNvSpPr txBox="1"/>
          <p:nvPr/>
        </p:nvSpPr>
        <p:spPr>
          <a:xfrm>
            <a:off x="4983480" y="41024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284" name="Google Shape;284;h4e1cd23050cdd6e6_1_108"/>
          <p:cNvSpPr txBox="1"/>
          <p:nvPr/>
        </p:nvSpPr>
        <p:spPr>
          <a:xfrm>
            <a:off x="4983480" y="4361751"/>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285" name="Google Shape;285;h4e1cd23050cdd6e6_1_108"/>
          <p:cNvSpPr txBox="1"/>
          <p:nvPr/>
        </p:nvSpPr>
        <p:spPr>
          <a:xfrm>
            <a:off x="4983480" y="453484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286" name="Google Shape;286;h4e1cd23050cdd6e6_1_108"/>
          <p:cNvSpPr/>
          <p:nvPr/>
        </p:nvSpPr>
        <p:spPr>
          <a:xfrm>
            <a:off x="9399912" y="453484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287" name="Google Shape;287;h4e1cd23050cdd6e6_1_108"/>
          <p:cNvSpPr txBox="1"/>
          <p:nvPr/>
        </p:nvSpPr>
        <p:spPr>
          <a:xfrm>
            <a:off x="4983480" y="47079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288" name="Google Shape;288;h4e1cd23050cdd6e6_1_108"/>
          <p:cNvSpPr txBox="1"/>
          <p:nvPr/>
        </p:nvSpPr>
        <p:spPr>
          <a:xfrm>
            <a:off x="4983480" y="488102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289" name="Google Shape;289;h4e1cd23050cdd6e6_1_108"/>
          <p:cNvSpPr txBox="1"/>
          <p:nvPr/>
        </p:nvSpPr>
        <p:spPr>
          <a:xfrm>
            <a:off x="4983480" y="505412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"Bone Marrow Depression"@en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90" name="Google Shape;290;h4e1cd23050cdd6e6_1_108"/>
          <p:cNvSpPr/>
          <p:nvPr/>
        </p:nvSpPr>
        <p:spPr>
          <a:xfrm>
            <a:off x="9399912" y="505412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291" name="Google Shape;291;h4e1cd23050cdd6e6_1_108"/>
          <p:cNvSpPr txBox="1"/>
          <p:nvPr/>
        </p:nvSpPr>
        <p:spPr>
          <a:xfrm>
            <a:off x="4983480" y="522721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skos:relatedMatch</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2F6B78"/>
                </a:solidFill>
                <a:highlight>
                  <a:srgbClr val="FFE599"/>
                </a:highlight>
                <a:latin typeface="Consolas"/>
                <a:ea typeface="Consolas"/>
                <a:cs typeface="Consolas"/>
                <a:sym typeface="Consolas"/>
              </a:rPr>
              <a:t>obo:DOID_4961</a:t>
            </a:r>
            <a:r>
              <a:rPr b="0" i="0" lang="en-US" sz="1150" u="none" cap="none" strike="noStrike">
                <a:solidFill>
                  <a:srgbClr val="1F2328"/>
                </a:solidFill>
                <a:highlight>
                  <a:srgbClr val="FFE599"/>
                </a:highlight>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92" name="Google Shape;292;h4e1cd23050cdd6e6_1_108"/>
          <p:cNvSpPr/>
          <p:nvPr/>
        </p:nvSpPr>
        <p:spPr>
          <a:xfrm>
            <a:off x="9399912" y="5227213"/>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0B6E4F"/>
                </a:solidFill>
                <a:latin typeface="Calibri"/>
                <a:ea typeface="Calibri"/>
                <a:cs typeface="Calibri"/>
                <a:sym typeface="Calibri"/>
              </a:rPr>
              <a:t>← Disease Ontology</a:t>
            </a:r>
            <a:endParaRPr/>
          </a:p>
        </p:txBody>
      </p:sp>
      <p:sp>
        <p:nvSpPr>
          <p:cNvPr id="293" name="Google Shape;293;h4e1cd23050cdd6e6_1_108"/>
          <p:cNvSpPr txBox="1"/>
          <p:nvPr/>
        </p:nvSpPr>
        <p:spPr>
          <a:xfrm>
            <a:off x="4983480" y="540030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294" name="Google Shape;294;h4e1cd23050cdd6e6_1_108"/>
          <p:cNvSpPr/>
          <p:nvPr/>
        </p:nvSpPr>
        <p:spPr>
          <a:xfrm>
            <a:off x="9399912" y="540030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295" name="Google Shape;295;h4e1cd23050cdd6e6_1_108"/>
          <p:cNvSpPr txBox="1"/>
          <p:nvPr/>
        </p:nvSpPr>
        <p:spPr>
          <a:xfrm>
            <a:off x="4983480" y="557339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296" name="Google Shape;296;h4e1cd23050cdd6e6_1_108"/>
          <p:cNvSpPr txBox="1"/>
          <p:nvPr/>
        </p:nvSpPr>
        <p:spPr>
          <a:xfrm>
            <a:off x="4983480" y="574648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297" name="Google Shape;297;h4e1cd23050cdd6e6_1_108"/>
          <p:cNvSpPr txBox="1"/>
          <p:nvPr/>
        </p:nvSpPr>
        <p:spPr>
          <a:xfrm>
            <a:off x="4983480" y="591958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"ECOG Performance Status"@en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298" name="Google Shape;298;h4e1cd23050cdd6e6_1_108"/>
          <p:cNvSpPr/>
          <p:nvPr/>
        </p:nvSpPr>
        <p:spPr>
          <a:xfrm>
            <a:off x="9399912" y="591958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299" name="Google Shape;299;h4e1cd23050cdd6e6_1_108"/>
          <p:cNvSpPr txBox="1"/>
          <p:nvPr/>
        </p:nvSpPr>
        <p:spPr>
          <a:xfrm>
            <a:off x="4983480" y="626576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300" name="Google Shape;300;h4e1cd23050cdd6e6_1_108"/>
          <p:cNvSpPr/>
          <p:nvPr/>
        </p:nvSpPr>
        <p:spPr>
          <a:xfrm>
            <a:off x="9399912" y="626576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301" name="Slide number 301"/>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h4e1cd23050cdd6e6_1_162"/>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07" name="Google Shape;307;h4e1cd23050cdd6e6_1_162"/>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08" name="Google Shape;308;h4e1cd23050cdd6e6_1_162"/>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h4e1cd23050cdd6e6_1_162"/>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10" name="Google Shape;310;h4e1cd23050cdd6e6_1_162"/>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1" name="Google Shape;311;h4e1cd23050cdd6e6_1_162"/>
          <p:cNvSpPr/>
          <p:nvPr/>
        </p:nvSpPr>
        <p:spPr>
          <a:xfrm>
            <a:off x="4754880" y="2057400"/>
            <a:ext cx="6656700" cy="4521708"/>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h4e1cd23050cdd6e6_1_162"/>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13" name="Google Shape;313;h4e1cd23050cdd6e6_1_162"/>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4" name="Google Shape;314;h4e1cd23050cdd6e6_1_162"/>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15" name="Google Shape;315;h4e1cd23050cdd6e6_1_162"/>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6" name="Google Shape;316;h4e1cd23050cdd6e6_1_162"/>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17" name="Google Shape;317;h4e1cd23050cdd6e6_1_162"/>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18" name="Google Shape;318;h4e1cd23050cdd6e6_1_162"/>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h4e1cd23050cdd6e6_1_162"/>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20" name="Google Shape;320;h4e1cd23050cdd6e6_1_162"/>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h4e1cd23050cdd6e6_1_162"/>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22" name="Google Shape;322;h4e1cd23050cdd6e6_1_162"/>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23" name="Google Shape;323;h4e1cd23050cdd6e6_1_162"/>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24" name="Google Shape;324;h4e1cd23050cdd6e6_1_162"/>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25" name="Google Shape;325;h4e1cd23050cdd6e6_1_162"/>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26" name="Google Shape;326;h4e1cd23050cdd6e6_1_162"/>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27" name="Google Shape;327;h4e1cd23050cdd6e6_1_162"/>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28" name="Google Shape;328;h4e1cd23050cdd6e6_1_162"/>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29" name="Google Shape;329;h4e1cd23050cdd6e6_1_162"/>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30" name="Google Shape;330;h4e1cd23050cdd6e6_1_162"/>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31" name="Google Shape;331;h4e1cd23050cdd6e6_1_162"/>
          <p:cNvSpPr/>
          <p:nvPr/>
        </p:nvSpPr>
        <p:spPr>
          <a:xfrm>
            <a:off x="4983480" y="3200400"/>
            <a:ext cx="6217800" cy="3305556"/>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h4e1cd23050cdd6e6_1_162"/>
          <p:cNvSpPr txBox="1"/>
          <p:nvPr/>
        </p:nvSpPr>
        <p:spPr>
          <a:xfrm>
            <a:off x="4983480" y="323697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333" name="Google Shape;333;h4e1cd23050cdd6e6_1_162"/>
          <p:cNvSpPr txBox="1"/>
          <p:nvPr/>
        </p:nvSpPr>
        <p:spPr>
          <a:xfrm>
            <a:off x="4983480" y="341006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334" name="Google Shape;334;h4e1cd23050cdd6e6_1_162"/>
          <p:cNvSpPr txBox="1"/>
          <p:nvPr/>
        </p:nvSpPr>
        <p:spPr>
          <a:xfrm>
            <a:off x="4983480" y="358315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35" name="Google Shape;335;h4e1cd23050cdd6e6_1_162"/>
          <p:cNvSpPr txBox="1"/>
          <p:nvPr/>
        </p:nvSpPr>
        <p:spPr>
          <a:xfrm>
            <a:off x="4983480" y="3756252"/>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hasPatientData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336" name="Google Shape;336;h4e1cd23050cdd6e6_1_162"/>
          <p:cNvSpPr/>
          <p:nvPr/>
        </p:nvSpPr>
        <p:spPr>
          <a:xfrm>
            <a:off x="9399912" y="3756252"/>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337" name="Google Shape;337;h4e1cd23050cdd6e6_1_162"/>
          <p:cNvSpPr txBox="1"/>
          <p:nvPr/>
        </p:nvSpPr>
        <p:spPr>
          <a:xfrm>
            <a:off x="4983480" y="392934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38" name="Google Shape;338;h4e1cd23050cdd6e6_1_162"/>
          <p:cNvSpPr txBox="1"/>
          <p:nvPr/>
        </p:nvSpPr>
        <p:spPr>
          <a:xfrm>
            <a:off x="4983480" y="41024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339" name="Google Shape;339;h4e1cd23050cdd6e6_1_162"/>
          <p:cNvSpPr txBox="1"/>
          <p:nvPr/>
        </p:nvSpPr>
        <p:spPr>
          <a:xfrm>
            <a:off x="4983480" y="4361751"/>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340" name="Google Shape;340;h4e1cd23050cdd6e6_1_162"/>
          <p:cNvSpPr txBox="1"/>
          <p:nvPr/>
        </p:nvSpPr>
        <p:spPr>
          <a:xfrm>
            <a:off x="4983480" y="453484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341" name="Google Shape;341;h4e1cd23050cdd6e6_1_162"/>
          <p:cNvSpPr/>
          <p:nvPr/>
        </p:nvSpPr>
        <p:spPr>
          <a:xfrm>
            <a:off x="9399912" y="453484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342" name="Google Shape;342;h4e1cd23050cdd6e6_1_162"/>
          <p:cNvSpPr txBox="1"/>
          <p:nvPr/>
        </p:nvSpPr>
        <p:spPr>
          <a:xfrm>
            <a:off x="4983480" y="47079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343" name="Google Shape;343;h4e1cd23050cdd6e6_1_162"/>
          <p:cNvSpPr txBox="1"/>
          <p:nvPr/>
        </p:nvSpPr>
        <p:spPr>
          <a:xfrm>
            <a:off x="4983480" y="488102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344" name="Google Shape;344;h4e1cd23050cdd6e6_1_162"/>
          <p:cNvSpPr txBox="1"/>
          <p:nvPr/>
        </p:nvSpPr>
        <p:spPr>
          <a:xfrm>
            <a:off x="4983480" y="505412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"Bone Marrow Depression"@en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45" name="Google Shape;345;h4e1cd23050cdd6e6_1_162"/>
          <p:cNvSpPr/>
          <p:nvPr/>
        </p:nvSpPr>
        <p:spPr>
          <a:xfrm>
            <a:off x="9399912" y="505412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346" name="Google Shape;346;h4e1cd23050cdd6e6_1_162"/>
          <p:cNvSpPr txBox="1"/>
          <p:nvPr/>
        </p:nvSpPr>
        <p:spPr>
          <a:xfrm>
            <a:off x="4983480" y="522721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skos:relatedMatch</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obo:DOID_4961</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47" name="Google Shape;347;h4e1cd23050cdd6e6_1_162"/>
          <p:cNvSpPr/>
          <p:nvPr/>
        </p:nvSpPr>
        <p:spPr>
          <a:xfrm>
            <a:off x="9399912" y="5227213"/>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0B6E4F"/>
                </a:solidFill>
                <a:latin typeface="Calibri"/>
                <a:ea typeface="Calibri"/>
                <a:cs typeface="Calibri"/>
                <a:sym typeface="Calibri"/>
              </a:rPr>
              <a:t>← Disease Ontology</a:t>
            </a:r>
            <a:endParaRPr/>
          </a:p>
        </p:txBody>
      </p:sp>
      <p:sp>
        <p:nvSpPr>
          <p:cNvPr id="348" name="Google Shape;348;h4e1cd23050cdd6e6_1_162"/>
          <p:cNvSpPr txBox="1"/>
          <p:nvPr/>
        </p:nvSpPr>
        <p:spPr>
          <a:xfrm>
            <a:off x="4983480" y="540030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349" name="Google Shape;349;h4e1cd23050cdd6e6_1_162"/>
          <p:cNvSpPr/>
          <p:nvPr/>
        </p:nvSpPr>
        <p:spPr>
          <a:xfrm>
            <a:off x="9399912" y="540030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350" name="Google Shape;350;h4e1cd23050cdd6e6_1_162"/>
          <p:cNvSpPr txBox="1"/>
          <p:nvPr/>
        </p:nvSpPr>
        <p:spPr>
          <a:xfrm>
            <a:off x="4983480" y="557339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351" name="Google Shape;351;h4e1cd23050cdd6e6_1_162"/>
          <p:cNvSpPr txBox="1"/>
          <p:nvPr/>
        </p:nvSpPr>
        <p:spPr>
          <a:xfrm>
            <a:off x="4983480" y="574648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352" name="Google Shape;352;h4e1cd23050cdd6e6_1_162"/>
          <p:cNvSpPr txBox="1"/>
          <p:nvPr/>
        </p:nvSpPr>
        <p:spPr>
          <a:xfrm>
            <a:off x="4983480" y="591958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"ECOG Performance Status"@en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53" name="Google Shape;353;h4e1cd23050cdd6e6_1_162"/>
          <p:cNvSpPr/>
          <p:nvPr/>
        </p:nvSpPr>
        <p:spPr>
          <a:xfrm>
            <a:off x="9399912" y="591958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354" name="Google Shape;354;h4e1cd23050cdd6e6_1_162"/>
          <p:cNvSpPr txBox="1"/>
          <p:nvPr/>
        </p:nvSpPr>
        <p:spPr>
          <a:xfrm>
            <a:off x="4983480" y="609267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highlight>
                  <a:srgbClr val="FFE599"/>
                </a:highlight>
                <a:latin typeface="Consolas"/>
                <a:ea typeface="Consolas"/>
                <a:cs typeface="Consolas"/>
                <a:sym typeface="Consolas"/>
              </a:rPr>
              <a:t>rdfs:comment</a:t>
            </a:r>
            <a:r>
              <a:rPr b="0" i="0" lang="en-US" sz="1150" u="none" cap="none" strike="noStrike">
                <a:solidFill>
                  <a:srgbClr val="1F2328"/>
                </a:solidFill>
                <a:highlight>
                  <a:srgbClr val="FFE599"/>
                </a:highlight>
                <a:latin typeface="Consolas"/>
                <a:ea typeface="Consolas"/>
                <a:cs typeface="Consolas"/>
                <a:sym typeface="Consolas"/>
              </a:rPr>
              <a:t> </a:t>
            </a:r>
            <a:r>
              <a:rPr b="0" i="0" lang="en-US" sz="1150" u="none" cap="none" strike="noStrike">
                <a:solidFill>
                  <a:srgbClr val="A3401E"/>
                </a:solidFill>
                <a:highlight>
                  <a:srgbClr val="FFE599"/>
                </a:highlight>
                <a:latin typeface="Consolas"/>
                <a:ea typeface="Consolas"/>
                <a:cs typeface="Consolas"/>
                <a:sym typeface="Consolas"/>
              </a:rPr>
              <a:t>"0 = fully active … 5 = dead"@en</a:t>
            </a:r>
            <a:r>
              <a:rPr b="0" i="0" lang="en-US" sz="1150" u="none" cap="none" strike="noStrike">
                <a:solidFill>
                  <a:srgbClr val="1F2328"/>
                </a:solidFill>
                <a:highlight>
                  <a:srgbClr val="FFE599"/>
                </a:highlight>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55" name="Google Shape;355;h4e1cd23050cdd6e6_1_162"/>
          <p:cNvSpPr txBox="1"/>
          <p:nvPr/>
        </p:nvSpPr>
        <p:spPr>
          <a:xfrm>
            <a:off x="4983480" y="626576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356" name="Google Shape;356;h4e1cd23050cdd6e6_1_162"/>
          <p:cNvSpPr/>
          <p:nvPr/>
        </p:nvSpPr>
        <p:spPr>
          <a:xfrm>
            <a:off x="9399912" y="626576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357" name="Slide number 357"/>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h4e1cd23050cdd6e6_1_220"/>
          <p:cNvSpPr txBox="1"/>
          <p:nvPr/>
        </p:nvSpPr>
        <p:spPr>
          <a:xfrm>
            <a:off x="804672" y="521207"/>
            <a:ext cx="106986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WHAT WE WANT TO BUILD</a:t>
            </a:r>
            <a:endParaRPr b="0" i="0" sz="1400" u="none" cap="none" strike="noStrike">
              <a:solidFill>
                <a:srgbClr val="000000"/>
              </a:solidFill>
              <a:latin typeface="Arial"/>
              <a:ea typeface="Arial"/>
              <a:cs typeface="Arial"/>
              <a:sym typeface="Arial"/>
            </a:endParaRPr>
          </a:p>
        </p:txBody>
      </p:sp>
      <p:sp>
        <p:nvSpPr>
          <p:cNvPr id="363" name="Google Shape;363;h4e1cd23050cdd6e6_1_220"/>
          <p:cNvSpPr txBox="1"/>
          <p:nvPr/>
        </p:nvSpPr>
        <p:spPr>
          <a:xfrm>
            <a:off x="804672" y="923544"/>
            <a:ext cx="10789800" cy="954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Not just a cleaner schema.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A usable semantic model.</a:t>
            </a:r>
            <a:endParaRPr b="0" i="0" sz="1400" u="none" cap="none" strike="noStrike">
              <a:solidFill>
                <a:srgbClr val="000000"/>
              </a:solidFill>
              <a:latin typeface="Arial"/>
              <a:ea typeface="Arial"/>
              <a:cs typeface="Arial"/>
              <a:sym typeface="Arial"/>
            </a:endParaRPr>
          </a:p>
        </p:txBody>
      </p:sp>
      <p:sp>
        <p:nvSpPr>
          <p:cNvPr id="364" name="Google Shape;364;h4e1cd23050cdd6e6_1_220"/>
          <p:cNvSpPr/>
          <p:nvPr/>
        </p:nvSpPr>
        <p:spPr>
          <a:xfrm>
            <a:off x="804672" y="2057400"/>
            <a:ext cx="2971800" cy="28803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5" name="Google Shape;365;h4e1cd23050cdd6e6_1_220"/>
          <p:cNvSpPr txBox="1"/>
          <p:nvPr/>
        </p:nvSpPr>
        <p:spPr>
          <a:xfrm>
            <a:off x="1024128" y="2212848"/>
            <a:ext cx="25146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INPUT</a:t>
            </a:r>
            <a:endParaRPr b="0" i="0" sz="1400" u="none" cap="none" strike="noStrike">
              <a:solidFill>
                <a:srgbClr val="000000"/>
              </a:solidFill>
              <a:latin typeface="Arial"/>
              <a:ea typeface="Arial"/>
              <a:cs typeface="Arial"/>
              <a:sym typeface="Arial"/>
            </a:endParaRPr>
          </a:p>
        </p:txBody>
      </p:sp>
      <p:sp>
        <p:nvSpPr>
          <p:cNvPr id="366" name="Google Shape;366;h4e1cd23050cdd6e6_1_220"/>
          <p:cNvSpPr/>
          <p:nvPr/>
        </p:nvSpPr>
        <p:spPr>
          <a:xfrm>
            <a:off x="3977639" y="3291840"/>
            <a:ext cx="567000" cy="429900"/>
          </a:xfrm>
          <a:prstGeom prst="rightArrow">
            <a:avLst>
              <a:gd fmla="val 50000" name="adj1"/>
              <a:gd fmla="val 50000" name="adj2"/>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7" name="Google Shape;367;h4e1cd23050cdd6e6_1_220"/>
          <p:cNvSpPr/>
          <p:nvPr/>
        </p:nvSpPr>
        <p:spPr>
          <a:xfrm>
            <a:off x="4754880" y="2057400"/>
            <a:ext cx="6656700" cy="4521708"/>
          </a:xfrm>
          <a:prstGeom prst="roundRect">
            <a:avLst>
              <a:gd fmla="val 10000" name="adj"/>
            </a:avLst>
          </a:prstGeom>
          <a:solidFill>
            <a:srgbClr val="F3F5F4"/>
          </a:solidFill>
          <a:ln cap="flat" cmpd="sng" w="1777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8" name="Google Shape;368;h4e1cd23050cdd6e6_1_220"/>
          <p:cNvSpPr txBox="1"/>
          <p:nvPr/>
        </p:nvSpPr>
        <p:spPr>
          <a:xfrm>
            <a:off x="5038344" y="2212848"/>
            <a:ext cx="6044100" cy="2463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600"/>
              <a:buFont typeface="Arial"/>
              <a:buNone/>
            </a:pPr>
            <a:r>
              <a:rPr b="1" i="0" lang="en-US" sz="1600" u="none" cap="none" strike="noStrike">
                <a:solidFill>
                  <a:srgbClr val="2F6B78"/>
                </a:solidFill>
                <a:latin typeface="Consolas"/>
                <a:ea typeface="Consolas"/>
                <a:cs typeface="Consolas"/>
                <a:sym typeface="Consolas"/>
              </a:rPr>
              <a:t>TARGET</a:t>
            </a:r>
            <a:endParaRPr b="0" i="0" sz="1400" u="none" cap="none" strike="noStrike">
              <a:solidFill>
                <a:srgbClr val="000000"/>
              </a:solidFill>
              <a:latin typeface="Arial"/>
              <a:ea typeface="Arial"/>
              <a:cs typeface="Arial"/>
              <a:sym typeface="Arial"/>
            </a:endParaRPr>
          </a:p>
        </p:txBody>
      </p:sp>
      <p:sp>
        <p:nvSpPr>
          <p:cNvPr id="369" name="Google Shape;369;h4e1cd23050cdd6e6_1_220"/>
          <p:cNvSpPr/>
          <p:nvPr/>
        </p:nvSpPr>
        <p:spPr>
          <a:xfrm>
            <a:off x="5093208" y="2633472"/>
            <a:ext cx="21030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0" name="Google Shape;370;h4e1cd23050cdd6e6_1_220"/>
          <p:cNvSpPr txBox="1"/>
          <p:nvPr/>
        </p:nvSpPr>
        <p:spPr>
          <a:xfrm>
            <a:off x="5248656" y="2743200"/>
            <a:ext cx="1746600" cy="307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371" name="Google Shape;371;h4e1cd23050cdd6e6_1_220"/>
          <p:cNvSpPr/>
          <p:nvPr/>
        </p:nvSpPr>
        <p:spPr>
          <a:xfrm>
            <a:off x="9253728" y="2633472"/>
            <a:ext cx="1828800" cy="475500"/>
          </a:xfrm>
          <a:prstGeom prst="roundRect">
            <a:avLst>
              <a:gd fmla="val 10000" name="adj"/>
            </a:avLst>
          </a:prstGeom>
          <a:solidFill>
            <a:srgbClr val="E9EEEB"/>
          </a:solidFill>
          <a:ln cap="flat" cmpd="sng" w="127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2" name="Google Shape;372;h4e1cd23050cdd6e6_1_220"/>
          <p:cNvSpPr txBox="1"/>
          <p:nvPr/>
        </p:nvSpPr>
        <p:spPr>
          <a:xfrm>
            <a:off x="9354312" y="2743200"/>
            <a:ext cx="1645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373" name="Google Shape;373;h4e1cd23050cdd6e6_1_220"/>
          <p:cNvCxnSpPr/>
          <p:nvPr/>
        </p:nvCxnSpPr>
        <p:spPr>
          <a:xfrm>
            <a:off x="7278624" y="2871216"/>
            <a:ext cx="1865400" cy="0"/>
          </a:xfrm>
          <a:prstGeom prst="straightConnector1">
            <a:avLst/>
          </a:prstGeom>
          <a:noFill/>
          <a:ln cap="flat" cmpd="sng" w="31750">
            <a:solidFill>
              <a:srgbClr val="0B6E4F"/>
            </a:solidFill>
            <a:prstDash val="solid"/>
            <a:miter lim="0"/>
            <a:headEnd len="sm" w="sm" type="none"/>
            <a:tailEnd len="med" w="med" type="triangle"/>
          </a:ln>
        </p:spPr>
      </p:cxnSp>
      <p:sp>
        <p:nvSpPr>
          <p:cNvPr id="374" name="Google Shape;374;h4e1cd23050cdd6e6_1_220"/>
          <p:cNvSpPr/>
          <p:nvPr/>
        </p:nvSpPr>
        <p:spPr>
          <a:xfrm>
            <a:off x="7388352" y="2487168"/>
            <a:ext cx="1591200" cy="274200"/>
          </a:xfrm>
          <a:prstGeom prst="roundRect">
            <a:avLst>
              <a:gd fmla="val 10000" name="adj"/>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h4e1cd23050cdd6e6_1_220"/>
          <p:cNvSpPr txBox="1"/>
          <p:nvPr/>
        </p:nvSpPr>
        <p:spPr>
          <a:xfrm>
            <a:off x="7278624" y="2514600"/>
            <a:ext cx="17832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376" name="Google Shape;376;h4e1cd23050cdd6e6_1_220"/>
          <p:cNvSpPr/>
          <p:nvPr/>
        </p:nvSpPr>
        <p:spPr>
          <a:xfrm>
            <a:off x="969264" y="2615184"/>
            <a:ext cx="2642700" cy="21396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h4e1cd23050cdd6e6_1_220"/>
          <p:cNvSpPr txBox="1"/>
          <p:nvPr/>
        </p:nvSpPr>
        <p:spPr>
          <a:xfrm>
            <a:off x="1133856" y="2724912"/>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378" name="Google Shape;378;h4e1cd23050cdd6e6_1_220"/>
          <p:cNvCxnSpPr/>
          <p:nvPr/>
        </p:nvCxnSpPr>
        <p:spPr>
          <a:xfrm>
            <a:off x="1133856" y="3145536"/>
            <a:ext cx="2313300" cy="0"/>
          </a:xfrm>
          <a:prstGeom prst="straightConnector1">
            <a:avLst/>
          </a:prstGeom>
          <a:noFill/>
          <a:ln cap="flat" cmpd="sng" w="19050">
            <a:solidFill>
              <a:srgbClr val="8E989E"/>
            </a:solidFill>
            <a:prstDash val="solid"/>
            <a:miter lim="0"/>
            <a:headEnd len="sm" w="sm" type="none"/>
            <a:tailEnd len="sm" w="sm" type="none"/>
          </a:ln>
        </p:spPr>
      </p:cxnSp>
      <p:sp>
        <p:nvSpPr>
          <p:cNvPr id="379" name="Google Shape;379;h4e1cd23050cdd6e6_1_220"/>
          <p:cNvSpPr/>
          <p:nvPr/>
        </p:nvSpPr>
        <p:spPr>
          <a:xfrm>
            <a:off x="1133856" y="327355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admission_id</a:t>
            </a:r>
            <a:endParaRPr b="0" i="0" sz="1400" u="none" cap="none" strike="noStrike">
              <a:solidFill>
                <a:srgbClr val="000000"/>
              </a:solidFill>
              <a:latin typeface="Arial"/>
              <a:ea typeface="Arial"/>
              <a:cs typeface="Arial"/>
              <a:sym typeface="Arial"/>
            </a:endParaRPr>
          </a:p>
        </p:txBody>
      </p:sp>
      <p:sp>
        <p:nvSpPr>
          <p:cNvPr id="380" name="Google Shape;380;h4e1cd23050cdd6e6_1_220"/>
          <p:cNvSpPr/>
          <p:nvPr/>
        </p:nvSpPr>
        <p:spPr>
          <a:xfrm>
            <a:off x="1133856" y="362102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patient_id</a:t>
            </a:r>
            <a:endParaRPr b="0" i="0" sz="1400" u="none" cap="none" strike="noStrike">
              <a:solidFill>
                <a:srgbClr val="000000"/>
              </a:solidFill>
              <a:latin typeface="Arial"/>
              <a:ea typeface="Arial"/>
              <a:cs typeface="Arial"/>
              <a:sym typeface="Arial"/>
            </a:endParaRPr>
          </a:p>
        </p:txBody>
      </p:sp>
      <p:sp>
        <p:nvSpPr>
          <p:cNvPr id="381" name="Google Shape;381;h4e1cd23050cdd6e6_1_220"/>
          <p:cNvSpPr/>
          <p:nvPr/>
        </p:nvSpPr>
        <p:spPr>
          <a:xfrm>
            <a:off x="2697480" y="327355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PK</a:t>
            </a:r>
            <a:endParaRPr b="0" i="0" sz="1400" u="none" cap="none" strike="noStrike">
              <a:solidFill>
                <a:srgbClr val="000000"/>
              </a:solidFill>
              <a:latin typeface="Arial"/>
              <a:ea typeface="Arial"/>
              <a:cs typeface="Arial"/>
              <a:sym typeface="Arial"/>
            </a:endParaRPr>
          </a:p>
        </p:txBody>
      </p:sp>
      <p:sp>
        <p:nvSpPr>
          <p:cNvPr id="382" name="Google Shape;382;h4e1cd23050cdd6e6_1_220"/>
          <p:cNvSpPr/>
          <p:nvPr/>
        </p:nvSpPr>
        <p:spPr>
          <a:xfrm>
            <a:off x="2697480" y="362102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a:t>
            </a:r>
            <a:endParaRPr b="0" i="0" sz="1400" u="none" cap="none" strike="noStrike">
              <a:solidFill>
                <a:srgbClr val="000000"/>
              </a:solidFill>
              <a:latin typeface="Arial"/>
              <a:ea typeface="Arial"/>
              <a:cs typeface="Arial"/>
              <a:sym typeface="Arial"/>
            </a:endParaRPr>
          </a:p>
        </p:txBody>
      </p:sp>
      <p:sp>
        <p:nvSpPr>
          <p:cNvPr id="383" name="Google Shape;383;h4e1cd23050cdd6e6_1_220"/>
          <p:cNvSpPr/>
          <p:nvPr/>
        </p:nvSpPr>
        <p:spPr>
          <a:xfrm>
            <a:off x="1133856" y="3968496"/>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BM_DEP</a:t>
            </a:r>
            <a:endParaRPr b="0" i="0" sz="1400" u="none" cap="none" strike="noStrike">
              <a:solidFill>
                <a:srgbClr val="000000"/>
              </a:solidFill>
              <a:latin typeface="Arial"/>
              <a:ea typeface="Arial"/>
              <a:cs typeface="Arial"/>
              <a:sym typeface="Arial"/>
            </a:endParaRPr>
          </a:p>
        </p:txBody>
      </p:sp>
      <p:sp>
        <p:nvSpPr>
          <p:cNvPr id="384" name="Google Shape;384;h4e1cd23050cdd6e6_1_220"/>
          <p:cNvSpPr/>
          <p:nvPr/>
        </p:nvSpPr>
        <p:spPr>
          <a:xfrm>
            <a:off x="2697480" y="3968496"/>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5" name="Google Shape;385;h4e1cd23050cdd6e6_1_220"/>
          <p:cNvSpPr/>
          <p:nvPr/>
        </p:nvSpPr>
        <p:spPr>
          <a:xfrm>
            <a:off x="1133856" y="4315968"/>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ecog_stage</a:t>
            </a:r>
            <a:endParaRPr b="0" i="0" sz="1400" u="none" cap="none" strike="noStrike">
              <a:solidFill>
                <a:srgbClr val="000000"/>
              </a:solidFill>
              <a:latin typeface="Arial"/>
              <a:ea typeface="Arial"/>
              <a:cs typeface="Arial"/>
              <a:sym typeface="Arial"/>
            </a:endParaRPr>
          </a:p>
        </p:txBody>
      </p:sp>
      <p:sp>
        <p:nvSpPr>
          <p:cNvPr id="386" name="Google Shape;386;h4e1cd23050cdd6e6_1_220"/>
          <p:cNvSpPr/>
          <p:nvPr/>
        </p:nvSpPr>
        <p:spPr>
          <a:xfrm>
            <a:off x="2697480" y="4315968"/>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INT</a:t>
            </a:r>
            <a:endParaRPr b="0" i="0" sz="1400" u="none" cap="none" strike="noStrike">
              <a:solidFill>
                <a:srgbClr val="000000"/>
              </a:solidFill>
              <a:latin typeface="Arial"/>
              <a:ea typeface="Arial"/>
              <a:cs typeface="Arial"/>
              <a:sym typeface="Arial"/>
            </a:endParaRPr>
          </a:p>
        </p:txBody>
      </p:sp>
      <p:sp>
        <p:nvSpPr>
          <p:cNvPr id="387" name="Google Shape;387;h4e1cd23050cdd6e6_1_220"/>
          <p:cNvSpPr/>
          <p:nvPr/>
        </p:nvSpPr>
        <p:spPr>
          <a:xfrm>
            <a:off x="4983480" y="3200400"/>
            <a:ext cx="6217800" cy="3305556"/>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h4e1cd23050cdd6e6_1_220"/>
          <p:cNvSpPr/>
          <p:nvPr/>
        </p:nvSpPr>
        <p:spPr>
          <a:xfrm>
            <a:off x="804672" y="5084064"/>
            <a:ext cx="2971800" cy="1495044"/>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h4e1cd23050cdd6e6_1_220"/>
          <p:cNvSpPr/>
          <p:nvPr/>
        </p:nvSpPr>
        <p:spPr>
          <a:xfrm>
            <a:off x="1005840" y="5193792"/>
            <a:ext cx="2606100" cy="1261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0B6E4F"/>
                </a:solidFill>
                <a:latin typeface="Consolas"/>
                <a:ea typeface="Consolas"/>
                <a:cs typeface="Consolas"/>
                <a:sym typeface="Consolas"/>
              </a:rPr>
              <a:t>WHAT THIS ENABLES</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150"/>
              <a:buFont typeface="Arial"/>
              <a:buNone/>
            </a:pPr>
            <a:r>
              <a:t/>
            </a:r>
            <a:endParaRPr b="1" i="0" sz="1150" u="none" cap="none" strike="noStrike">
              <a:solidFill>
                <a:srgbClr val="0B6E4F"/>
              </a:solidFill>
              <a:latin typeface="Consolas"/>
              <a:ea typeface="Consolas"/>
              <a:cs typeface="Consolas"/>
              <a:sym typeface="Consolas"/>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Ontology-based data access (OBDA)</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Knowledge graph population</a:t>
            </a:r>
            <a:endParaRPr b="0" i="0" sz="1400" u="none" cap="none" strike="noStrike">
              <a:solidFill>
                <a:srgbClr val="1F2328"/>
              </a:solidFill>
              <a:latin typeface="Calibri"/>
              <a:ea typeface="Calibri"/>
              <a:cs typeface="Calibri"/>
              <a:sym typeface="Calibri"/>
            </a:endParaRPr>
          </a:p>
          <a:p>
            <a:pPr indent="0" lvl="0" marL="0" marR="0" rtl="0" algn="l">
              <a:lnSpc>
                <a:spcPct val="100000"/>
              </a:lnSpc>
              <a:spcBef>
                <a:spcPts val="300"/>
              </a:spcBef>
              <a:spcAft>
                <a:spcPts val="0"/>
              </a:spcAft>
              <a:buClr>
                <a:srgbClr val="000000"/>
              </a:buClr>
              <a:buSzPts val="1400"/>
              <a:buFont typeface="Arial"/>
              <a:buNone/>
            </a:pPr>
            <a:r>
              <a:rPr b="0" i="0" lang="en-US" sz="1400" u="none" cap="none" strike="noStrike">
                <a:solidFill>
                  <a:srgbClr val="1F2328"/>
                </a:solidFill>
                <a:latin typeface="Calibri"/>
                <a:ea typeface="Calibri"/>
                <a:cs typeface="Calibri"/>
                <a:sym typeface="Calibri"/>
              </a:rPr>
              <a:t>Semantic data integration</a:t>
            </a:r>
            <a:endParaRPr b="0" i="0" sz="1400" u="none" cap="none" strike="noStrike">
              <a:solidFill>
                <a:srgbClr val="1F2328"/>
              </a:solidFill>
              <a:latin typeface="Calibri"/>
              <a:ea typeface="Calibri"/>
              <a:cs typeface="Calibri"/>
              <a:sym typeface="Calibri"/>
            </a:endParaRPr>
          </a:p>
        </p:txBody>
      </p:sp>
      <p:sp>
        <p:nvSpPr>
          <p:cNvPr id="390" name="Google Shape;390;h4e1cd23050cdd6e6_1_220"/>
          <p:cNvSpPr txBox="1"/>
          <p:nvPr/>
        </p:nvSpPr>
        <p:spPr>
          <a:xfrm>
            <a:off x="4983480" y="323697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391" name="Google Shape;391;h4e1cd23050cdd6e6_1_220"/>
          <p:cNvSpPr txBox="1"/>
          <p:nvPr/>
        </p:nvSpPr>
        <p:spPr>
          <a:xfrm>
            <a:off x="4983480" y="341006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392" name="Google Shape;392;h4e1cd23050cdd6e6_1_220"/>
          <p:cNvSpPr txBox="1"/>
          <p:nvPr/>
        </p:nvSpPr>
        <p:spPr>
          <a:xfrm>
            <a:off x="4983480" y="358315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93" name="Google Shape;393;h4e1cd23050cdd6e6_1_220"/>
          <p:cNvSpPr txBox="1"/>
          <p:nvPr/>
        </p:nvSpPr>
        <p:spPr>
          <a:xfrm>
            <a:off x="4983480" y="3756252"/>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hasPatientData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394" name="Google Shape;394;h4e1cd23050cdd6e6_1_220"/>
          <p:cNvSpPr/>
          <p:nvPr/>
        </p:nvSpPr>
        <p:spPr>
          <a:xfrm>
            <a:off x="9399912" y="3756252"/>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395" name="Google Shape;395;h4e1cd23050cdd6e6_1_220"/>
          <p:cNvSpPr txBox="1"/>
          <p:nvPr/>
        </p:nvSpPr>
        <p:spPr>
          <a:xfrm>
            <a:off x="4983480" y="392934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396" name="Google Shape;396;h4e1cd23050cdd6e6_1_220"/>
          <p:cNvSpPr txBox="1"/>
          <p:nvPr/>
        </p:nvSpPr>
        <p:spPr>
          <a:xfrm>
            <a:off x="4983480" y="41024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397" name="Google Shape;397;h4e1cd23050cdd6e6_1_220"/>
          <p:cNvSpPr txBox="1"/>
          <p:nvPr/>
        </p:nvSpPr>
        <p:spPr>
          <a:xfrm>
            <a:off x="4983480" y="4361751"/>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398" name="Google Shape;398;h4e1cd23050cdd6e6_1_220"/>
          <p:cNvSpPr txBox="1"/>
          <p:nvPr/>
        </p:nvSpPr>
        <p:spPr>
          <a:xfrm>
            <a:off x="4983480" y="453484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399" name="Google Shape;399;h4e1cd23050cdd6e6_1_220"/>
          <p:cNvSpPr/>
          <p:nvPr/>
        </p:nvSpPr>
        <p:spPr>
          <a:xfrm>
            <a:off x="9399912" y="453484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schema (foreign key)</a:t>
            </a:r>
            <a:endParaRPr/>
          </a:p>
        </p:txBody>
      </p:sp>
      <p:sp>
        <p:nvSpPr>
          <p:cNvPr id="400" name="Google Shape;400;h4e1cd23050cdd6e6_1_220"/>
          <p:cNvSpPr txBox="1"/>
          <p:nvPr/>
        </p:nvSpPr>
        <p:spPr>
          <a:xfrm>
            <a:off x="4983480" y="470793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401" name="Google Shape;401;h4e1cd23050cdd6e6_1_220"/>
          <p:cNvSpPr txBox="1"/>
          <p:nvPr/>
        </p:nvSpPr>
        <p:spPr>
          <a:xfrm>
            <a:off x="4983480" y="4881028"/>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402" name="Google Shape;402;h4e1cd23050cdd6e6_1_220"/>
          <p:cNvSpPr txBox="1"/>
          <p:nvPr/>
        </p:nvSpPr>
        <p:spPr>
          <a:xfrm>
            <a:off x="4983480" y="505412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"Bone Marrow Depression"@en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403" name="Google Shape;403;h4e1cd23050cdd6e6_1_220"/>
          <p:cNvSpPr/>
          <p:nvPr/>
        </p:nvSpPr>
        <p:spPr>
          <a:xfrm>
            <a:off x="9399912" y="505412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404" name="Google Shape;404;h4e1cd23050cdd6e6_1_220"/>
          <p:cNvSpPr txBox="1"/>
          <p:nvPr/>
        </p:nvSpPr>
        <p:spPr>
          <a:xfrm>
            <a:off x="4983480" y="522721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skos:relatedMatch</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obo:DOID_4961</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405" name="Google Shape;405;h4e1cd23050cdd6e6_1_220"/>
          <p:cNvSpPr/>
          <p:nvPr/>
        </p:nvSpPr>
        <p:spPr>
          <a:xfrm>
            <a:off x="9399912" y="5227213"/>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0B6E4F"/>
                </a:solidFill>
                <a:latin typeface="Calibri"/>
                <a:ea typeface="Calibri"/>
                <a:cs typeface="Calibri"/>
                <a:sym typeface="Calibri"/>
              </a:rPr>
              <a:t>← Disease Ontology</a:t>
            </a:r>
            <a:endParaRPr/>
          </a:p>
        </p:txBody>
      </p:sp>
      <p:sp>
        <p:nvSpPr>
          <p:cNvPr id="406" name="Google Shape;406;h4e1cd23050cdd6e6_1_220"/>
          <p:cNvSpPr txBox="1"/>
          <p:nvPr/>
        </p:nvSpPr>
        <p:spPr>
          <a:xfrm>
            <a:off x="4983480" y="540030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407" name="Google Shape;407;h4e1cd23050cdd6e6_1_220"/>
          <p:cNvSpPr/>
          <p:nvPr/>
        </p:nvSpPr>
        <p:spPr>
          <a:xfrm>
            <a:off x="9399912" y="540030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408" name="Google Shape;408;h4e1cd23050cdd6e6_1_220"/>
          <p:cNvSpPr txBox="1"/>
          <p:nvPr/>
        </p:nvSpPr>
        <p:spPr>
          <a:xfrm>
            <a:off x="4983480" y="5573396"/>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409" name="Google Shape;409;h4e1cd23050cdd6e6_1_220"/>
          <p:cNvSpPr txBox="1"/>
          <p:nvPr/>
        </p:nvSpPr>
        <p:spPr>
          <a:xfrm>
            <a:off x="4983480" y="5746489"/>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410" name="Google Shape;410;h4e1cd23050cdd6e6_1_220"/>
          <p:cNvSpPr txBox="1"/>
          <p:nvPr/>
        </p:nvSpPr>
        <p:spPr>
          <a:xfrm>
            <a:off x="4983480" y="5919580"/>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"ECOG Performance Status"@en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411" name="Google Shape;411;h4e1cd23050cdd6e6_1_220"/>
          <p:cNvSpPr/>
          <p:nvPr/>
        </p:nvSpPr>
        <p:spPr>
          <a:xfrm>
            <a:off x="9399912" y="5919580"/>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2F6B78"/>
                </a:solidFill>
                <a:latin typeface="Calibri"/>
                <a:ea typeface="Calibri"/>
                <a:cs typeface="Calibri"/>
                <a:sym typeface="Calibri"/>
              </a:rPr>
              <a:t>← documentation</a:t>
            </a:r>
            <a:endParaRPr/>
          </a:p>
        </p:txBody>
      </p:sp>
      <p:sp>
        <p:nvSpPr>
          <p:cNvPr id="412" name="Google Shape;412;h4e1cd23050cdd6e6_1_220"/>
          <p:cNvSpPr txBox="1"/>
          <p:nvPr/>
        </p:nvSpPr>
        <p:spPr>
          <a:xfrm>
            <a:off x="4983480" y="6092673"/>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rdfs:comment</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"0 = fully active … 5 = dead"@en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413" name="Google Shape;413;h4e1cd23050cdd6e6_1_220"/>
          <p:cNvSpPr txBox="1"/>
          <p:nvPr/>
        </p:nvSpPr>
        <p:spPr>
          <a:xfrm>
            <a:off x="4983480" y="6265764"/>
            <a:ext cx="4480500" cy="173087"/>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414" name="Google Shape;414;h4e1cd23050cdd6e6_1_220"/>
          <p:cNvSpPr/>
          <p:nvPr/>
        </p:nvSpPr>
        <p:spPr>
          <a:xfrm>
            <a:off x="9399912" y="6265764"/>
            <a:ext cx="1600200" cy="173087"/>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 source column</a:t>
            </a:r>
            <a:endParaRPr/>
          </a:p>
        </p:txBody>
      </p:sp>
      <p:sp>
        <p:nvSpPr>
          <p:cNvPr id="415" name="Slide number 415"/>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3</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sp>
        <p:nvSpPr>
          <p:cNvPr id="420" name="Google Shape;420;p4"/>
          <p:cNvSpPr txBox="1"/>
          <p:nvPr/>
        </p:nvSpPr>
        <p:spPr>
          <a:xfrm>
            <a:off x="804672" y="521207"/>
            <a:ext cx="106071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THE RESEARCH GAP</a:t>
            </a:r>
            <a:endParaRPr b="0" i="0" sz="1400" u="none" cap="none" strike="noStrike">
              <a:solidFill>
                <a:srgbClr val="000000"/>
              </a:solidFill>
              <a:latin typeface="Arial"/>
              <a:ea typeface="Arial"/>
              <a:cs typeface="Arial"/>
              <a:sym typeface="Arial"/>
            </a:endParaRPr>
          </a:p>
        </p:txBody>
      </p:sp>
      <p:sp>
        <p:nvSpPr>
          <p:cNvPr id="421" name="Google Shape;421;p4"/>
          <p:cNvSpPr txBox="1"/>
          <p:nvPr/>
        </p:nvSpPr>
        <p:spPr>
          <a:xfrm>
            <a:off x="804672" y="960120"/>
            <a:ext cx="10689300" cy="713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Two partial solutions. Neither solves the whole problem.</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804672" y="1920240"/>
            <a:ext cx="51480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3" name="Google Shape;423;p4"/>
          <p:cNvSpPr/>
          <p:nvPr/>
        </p:nvSpPr>
        <p:spPr>
          <a:xfrm>
            <a:off x="804672" y="1920240"/>
            <a:ext cx="51480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4" name="Google Shape;424;p4"/>
          <p:cNvSpPr txBox="1"/>
          <p:nvPr/>
        </p:nvSpPr>
        <p:spPr>
          <a:xfrm>
            <a:off x="1069848" y="2130552"/>
            <a:ext cx="4654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SCHEMA-FIRST RULES</a:t>
            </a:r>
            <a:endParaRPr b="0" i="0" sz="1400" u="none" cap="none" strike="noStrike">
              <a:solidFill>
                <a:srgbClr val="000000"/>
              </a:solidFill>
              <a:latin typeface="Arial"/>
              <a:ea typeface="Arial"/>
              <a:cs typeface="Arial"/>
              <a:sym typeface="Arial"/>
            </a:endParaRPr>
          </a:p>
        </p:txBody>
      </p:sp>
      <p:sp>
        <p:nvSpPr>
          <p:cNvPr id="425" name="Google Shape;425;p4"/>
          <p:cNvSpPr txBox="1"/>
          <p:nvPr/>
        </p:nvSpPr>
        <p:spPr>
          <a:xfrm>
            <a:off x="1069848" y="2587752"/>
            <a:ext cx="46452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Preserve the structure</a:t>
            </a:r>
            <a:endParaRPr b="0" i="0" sz="1400" u="none" cap="none" strike="noStrike">
              <a:solidFill>
                <a:srgbClr val="000000"/>
              </a:solidFill>
              <a:latin typeface="Arial"/>
              <a:ea typeface="Arial"/>
              <a:cs typeface="Arial"/>
              <a:sym typeface="Arial"/>
            </a:endParaRPr>
          </a:p>
        </p:txBody>
      </p:sp>
      <p:sp>
        <p:nvSpPr>
          <p:cNvPr id="426" name="Google Shape;426;p4"/>
          <p:cNvSpPr txBox="1"/>
          <p:nvPr/>
        </p:nvSpPr>
        <p:spPr>
          <a:xfrm>
            <a:off x="1069848" y="3072384"/>
            <a:ext cx="45264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Tables, columns and foreign keys can be mapped systematically.</a:t>
            </a:r>
            <a:endParaRPr b="0" i="0" sz="1400" u="none" cap="none" strike="noStrike">
              <a:solidFill>
                <a:srgbClr val="000000"/>
              </a:solidFill>
              <a:latin typeface="Arial"/>
              <a:ea typeface="Arial"/>
              <a:cs typeface="Arial"/>
              <a:sym typeface="Arial"/>
            </a:endParaRPr>
          </a:p>
        </p:txBody>
      </p:sp>
      <p:sp>
        <p:nvSpPr>
          <p:cNvPr id="427" name="Google Shape;427;p4"/>
          <p:cNvSpPr txBox="1"/>
          <p:nvPr/>
        </p:nvSpPr>
        <p:spPr>
          <a:xfrm>
            <a:off x="1069848" y="3895344"/>
            <a:ext cx="46176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implicit </a:t>
            </a:r>
            <a:r>
              <a:rPr b="1" i="0" lang="en-US" sz="1600" u="none" cap="none" strike="noStrike">
                <a:solidFill>
                  <a:srgbClr val="5B6770"/>
                </a:solidFill>
                <a:latin typeface="Calibri"/>
                <a:ea typeface="Calibri"/>
                <a:cs typeface="Calibri"/>
                <a:sym typeface="Calibri"/>
              </a:rPr>
              <a:t>domain semantics</a:t>
            </a:r>
            <a:r>
              <a:rPr b="0" i="0" lang="en-US" sz="1600" u="none" cap="none" strike="noStrike">
                <a:solidFill>
                  <a:srgbClr val="5B6770"/>
                </a:solidFill>
                <a:latin typeface="Calibri"/>
                <a:ea typeface="Calibri"/>
                <a:cs typeface="Calibri"/>
                <a:sym typeface="Calibri"/>
              </a:rPr>
              <a:t> remain </a:t>
            </a:r>
            <a:r>
              <a:rPr b="1" i="0" lang="en-US" sz="1600" u="none" cap="none" strike="noStrike">
                <a:solidFill>
                  <a:srgbClr val="5B6770"/>
                </a:solidFill>
                <a:latin typeface="Calibri"/>
                <a:ea typeface="Calibri"/>
                <a:cs typeface="Calibri"/>
                <a:sym typeface="Calibri"/>
              </a:rPr>
              <a:t>missing</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6208776" y="1920240"/>
            <a:ext cx="5184600" cy="2523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29" name="Google Shape;429;p4"/>
          <p:cNvSpPr/>
          <p:nvPr/>
        </p:nvSpPr>
        <p:spPr>
          <a:xfrm>
            <a:off x="6208776" y="1920240"/>
            <a:ext cx="5184600" cy="63900"/>
          </a:xfrm>
          <a:prstGeom prst="rect">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0" name="Google Shape;430;p4"/>
          <p:cNvSpPr txBox="1"/>
          <p:nvPr/>
        </p:nvSpPr>
        <p:spPr>
          <a:xfrm>
            <a:off x="6473952" y="2130552"/>
            <a:ext cx="46452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2F6B78"/>
                </a:solidFill>
                <a:latin typeface="Consolas"/>
                <a:ea typeface="Consolas"/>
                <a:cs typeface="Consolas"/>
                <a:sym typeface="Consolas"/>
              </a:rPr>
              <a:t>LLM-FIRST GENERATION</a:t>
            </a:r>
            <a:endParaRPr b="0" i="0" sz="1400" u="none" cap="none" strike="noStrike">
              <a:solidFill>
                <a:srgbClr val="000000"/>
              </a:solidFill>
              <a:latin typeface="Arial"/>
              <a:ea typeface="Arial"/>
              <a:cs typeface="Arial"/>
              <a:sym typeface="Arial"/>
            </a:endParaRPr>
          </a:p>
        </p:txBody>
      </p:sp>
      <p:sp>
        <p:nvSpPr>
          <p:cNvPr id="431" name="Google Shape;431;p4"/>
          <p:cNvSpPr txBox="1"/>
          <p:nvPr/>
        </p:nvSpPr>
        <p:spPr>
          <a:xfrm>
            <a:off x="6473952" y="2587752"/>
            <a:ext cx="4608600" cy="32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Suggest the meaning</a:t>
            </a:r>
            <a:endParaRPr b="0" i="0" sz="1400" u="none" cap="none" strike="noStrike">
              <a:solidFill>
                <a:srgbClr val="000000"/>
              </a:solidFill>
              <a:latin typeface="Arial"/>
              <a:ea typeface="Arial"/>
              <a:cs typeface="Arial"/>
              <a:sym typeface="Arial"/>
            </a:endParaRPr>
          </a:p>
        </p:txBody>
      </p:sp>
      <p:sp>
        <p:nvSpPr>
          <p:cNvPr id="432" name="Google Shape;432;p4"/>
          <p:cNvSpPr txBox="1"/>
          <p:nvPr/>
        </p:nvSpPr>
        <p:spPr>
          <a:xfrm>
            <a:off x="6473952" y="3072384"/>
            <a:ext cx="4553700" cy="53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Labels, concepts and plausible relationships can be proposed.</a:t>
            </a:r>
            <a:endParaRPr b="0" i="0" sz="1400" u="none" cap="none" strike="noStrike">
              <a:solidFill>
                <a:srgbClr val="000000"/>
              </a:solidFill>
              <a:latin typeface="Arial"/>
              <a:ea typeface="Arial"/>
              <a:cs typeface="Arial"/>
              <a:sym typeface="Arial"/>
            </a:endParaRPr>
          </a:p>
        </p:txBody>
      </p:sp>
      <p:sp>
        <p:nvSpPr>
          <p:cNvPr id="433" name="Google Shape;433;p4"/>
          <p:cNvSpPr txBox="1"/>
          <p:nvPr/>
        </p:nvSpPr>
        <p:spPr>
          <a:xfrm>
            <a:off x="6473952" y="3895344"/>
            <a:ext cx="46635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But elements may be </a:t>
            </a:r>
            <a:r>
              <a:rPr b="1" i="0" lang="en-US" sz="1600" u="none" cap="none" strike="noStrike">
                <a:solidFill>
                  <a:srgbClr val="5B6770"/>
                </a:solidFill>
                <a:latin typeface="Calibri"/>
                <a:ea typeface="Calibri"/>
                <a:cs typeface="Calibri"/>
                <a:sym typeface="Calibri"/>
              </a:rPr>
              <a:t>omitted</a:t>
            </a:r>
            <a:r>
              <a:rPr b="0" i="0" lang="en-US" sz="1600" u="none" cap="none" strike="noStrike">
                <a:solidFill>
                  <a:srgbClr val="5B6770"/>
                </a:solidFill>
                <a:latin typeface="Calibri"/>
                <a:ea typeface="Calibri"/>
                <a:cs typeface="Calibri"/>
                <a:sym typeface="Calibri"/>
              </a:rPr>
              <a:t> or modeled incorrectly.</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813785" y="5405605"/>
            <a:ext cx="10588800" cy="9600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5" name="Google Shape;435;p4"/>
          <p:cNvSpPr txBox="1"/>
          <p:nvPr/>
        </p:nvSpPr>
        <p:spPr>
          <a:xfrm>
            <a:off x="1078972" y="5778499"/>
            <a:ext cx="20391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onsolas"/>
                <a:ea typeface="Consolas"/>
                <a:cs typeface="Consolas"/>
                <a:sym typeface="Consolas"/>
              </a:rPr>
              <a:t>OUR QUESTION</a:t>
            </a:r>
            <a:endParaRPr b="0" i="0" sz="1400" u="none" cap="none" strike="noStrike">
              <a:solidFill>
                <a:srgbClr val="000000"/>
              </a:solidFill>
              <a:latin typeface="Arial"/>
              <a:ea typeface="Arial"/>
              <a:cs typeface="Arial"/>
              <a:sym typeface="Arial"/>
            </a:endParaRPr>
          </a:p>
        </p:txBody>
      </p:sp>
      <p:sp>
        <p:nvSpPr>
          <p:cNvPr id="436" name="Google Shape;436;p4"/>
          <p:cNvSpPr txBox="1"/>
          <p:nvPr/>
        </p:nvSpPr>
        <p:spPr>
          <a:xfrm>
            <a:off x="2935230" y="5747064"/>
            <a:ext cx="8156400" cy="2772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Can we preserve schema fidelity </a:t>
            </a:r>
            <a:r>
              <a:rPr b="1" i="0" lang="en-US" sz="1800" u="none" cap="none" strike="noStrike">
                <a:solidFill>
                  <a:srgbClr val="0B6E4F"/>
                </a:solidFill>
                <a:latin typeface="Calibri"/>
                <a:ea typeface="Calibri"/>
                <a:cs typeface="Calibri"/>
                <a:sym typeface="Calibri"/>
              </a:rPr>
              <a:t>and</a:t>
            </a:r>
            <a:r>
              <a:rPr b="1" i="0" lang="en-US" sz="1800" u="none" cap="none" strike="noStrike">
                <a:solidFill>
                  <a:srgbClr val="1F2328"/>
                </a:solidFill>
                <a:latin typeface="Calibri"/>
                <a:ea typeface="Calibri"/>
                <a:cs typeface="Calibri"/>
                <a:sym typeface="Calibri"/>
              </a:rPr>
              <a:t> add domain semantics</a:t>
            </a:r>
            <a:r>
              <a:rPr b="1" lang="en-US" sz="1800">
                <a:solidFill>
                  <a:srgbClr val="1F2328"/>
                </a:solidFill>
                <a:latin typeface="Calibri"/>
                <a:ea typeface="Calibri"/>
                <a:cs typeface="Calibri"/>
                <a:sym typeface="Calibri"/>
              </a:rPr>
              <a:t> </a:t>
            </a:r>
            <a:r>
              <a:rPr b="1" i="0" lang="en-US" sz="1800" u="none" cap="none" strike="noStrike">
                <a:solidFill>
                  <a:srgbClr val="1F2328"/>
                </a:solidFill>
                <a:latin typeface="Calibri"/>
                <a:ea typeface="Calibri"/>
                <a:cs typeface="Calibri"/>
                <a:sym typeface="Calibri"/>
              </a:rPr>
              <a:t>across the full database?</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959083" y="4526280"/>
            <a:ext cx="50748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W3C Direct Mapping</a:t>
            </a:r>
            <a:r>
              <a:rPr b="0" i="0" lang="en-US" sz="1000" u="none" cap="none" strike="noStrike">
                <a:solidFill>
                  <a:srgbClr val="5B6770"/>
                </a:solidFill>
                <a:latin typeface="Calibri"/>
                <a:ea typeface="Calibri"/>
                <a:cs typeface="Calibri"/>
                <a:sym typeface="Calibri"/>
              </a:rPr>
              <a:t> [Arenas et al. 2012; Sequeda et al. 2012]  ·  </a:t>
            </a:r>
            <a:r>
              <a:rPr b="1" i="0" lang="en-US" sz="1000" u="none" cap="none" strike="noStrike">
                <a:solidFill>
                  <a:srgbClr val="5B6770"/>
                </a:solidFill>
                <a:latin typeface="Calibri"/>
                <a:ea typeface="Calibri"/>
                <a:cs typeface="Calibri"/>
                <a:sym typeface="Calibri"/>
              </a:rPr>
              <a:t>BootOX</a:t>
            </a:r>
            <a:r>
              <a:rPr b="0" i="0" lang="en-US" sz="1000" u="none" cap="none" strike="noStrike">
                <a:solidFill>
                  <a:srgbClr val="5B6770"/>
                </a:solidFill>
                <a:latin typeface="Calibri"/>
                <a:ea typeface="Calibri"/>
                <a:cs typeface="Calibri"/>
                <a:sym typeface="Calibri"/>
              </a:rPr>
              <a:t> [Jiménez‑Ruiz et al., ISWC 2015]  ·  </a:t>
            </a:r>
            <a:r>
              <a:rPr b="1" i="0" lang="en-US" sz="1000" u="none" cap="none" strike="noStrike">
                <a:solidFill>
                  <a:srgbClr val="5B6770"/>
                </a:solidFill>
                <a:latin typeface="Calibri"/>
                <a:ea typeface="Calibri"/>
                <a:cs typeface="Calibri"/>
                <a:sym typeface="Calibri"/>
              </a:rPr>
              <a:t>Ben Mahria et al.</a:t>
            </a:r>
            <a:r>
              <a:rPr b="0" i="0" lang="en-US" sz="1000" u="none" cap="none" strike="noStrike">
                <a:solidFill>
                  <a:srgbClr val="5B6770"/>
                </a:solidFill>
                <a:latin typeface="Calibri"/>
                <a:ea typeface="Calibri"/>
                <a:cs typeface="Calibri"/>
                <a:sym typeface="Calibri"/>
              </a:rPr>
              <a:t> [J. Big Data 2021]  </a:t>
            </a:r>
            <a:endParaRPr/>
          </a:p>
        </p:txBody>
      </p:sp>
      <p:sp>
        <p:nvSpPr>
          <p:cNvPr id="438" name="Google Shape;438;p4"/>
          <p:cNvSpPr/>
          <p:nvPr/>
        </p:nvSpPr>
        <p:spPr>
          <a:xfrm>
            <a:off x="6363187" y="4526280"/>
            <a:ext cx="51114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000" u="none" cap="none" strike="noStrike">
                <a:solidFill>
                  <a:srgbClr val="5B6770"/>
                </a:solidFill>
                <a:latin typeface="Calibri"/>
                <a:ea typeface="Calibri"/>
                <a:cs typeface="Calibri"/>
                <a:sym typeface="Calibri"/>
              </a:rPr>
              <a:t>LLMs4OL</a:t>
            </a:r>
            <a:r>
              <a:rPr b="0" i="0" lang="en-US" sz="1000" u="none" cap="none" strike="noStrike">
                <a:solidFill>
                  <a:srgbClr val="5B6770"/>
                </a:solidFill>
                <a:latin typeface="Calibri"/>
                <a:ea typeface="Calibri"/>
                <a:cs typeface="Calibri"/>
                <a:sym typeface="Calibri"/>
              </a:rPr>
              <a:t> [Babaei Giglou et al., ISWC 2023]  ·  </a:t>
            </a:r>
            <a:r>
              <a:rPr b="1" i="0" lang="en-US" sz="1000" u="none" cap="none" strike="noStrike">
                <a:solidFill>
                  <a:srgbClr val="5B6770"/>
                </a:solidFill>
                <a:latin typeface="Calibri"/>
                <a:ea typeface="Calibri"/>
                <a:cs typeface="Calibri"/>
                <a:sym typeface="Calibri"/>
              </a:rPr>
              <a:t>Mateiu &amp; Groza</a:t>
            </a:r>
            <a:r>
              <a:rPr b="0" i="0" lang="en-US" sz="1000" u="none" cap="none" strike="noStrike">
                <a:solidFill>
                  <a:srgbClr val="5B6770"/>
                </a:solidFill>
                <a:latin typeface="Calibri"/>
                <a:ea typeface="Calibri"/>
                <a:cs typeface="Calibri"/>
                <a:sym typeface="Calibri"/>
              </a:rPr>
              <a:t> [SYNASC 2023]  ·  </a:t>
            </a:r>
            <a:r>
              <a:rPr b="1" i="0" lang="en-US" sz="1000" u="none" cap="none" strike="noStrike">
                <a:solidFill>
                  <a:srgbClr val="5B6770"/>
                </a:solidFill>
                <a:latin typeface="Calibri"/>
                <a:ea typeface="Calibri"/>
                <a:cs typeface="Calibri"/>
                <a:sym typeface="Calibri"/>
              </a:rPr>
              <a:t>OntoGenix</a:t>
            </a:r>
            <a:r>
              <a:rPr b="0" i="0" lang="en-US" sz="1000" u="none" cap="none" strike="noStrike">
                <a:solidFill>
                  <a:srgbClr val="5B6770"/>
                </a:solidFill>
                <a:latin typeface="Calibri"/>
                <a:ea typeface="Calibri"/>
                <a:cs typeface="Calibri"/>
                <a:sym typeface="Calibri"/>
              </a:rPr>
              <a:t> [Val‑Calvo et al., IP&amp;M 2025]  ·  </a:t>
            </a:r>
            <a:r>
              <a:rPr b="1" i="0" lang="en-US" sz="1000" u="none" cap="none" strike="noStrike">
                <a:solidFill>
                  <a:srgbClr val="5B6770"/>
                </a:solidFill>
                <a:latin typeface="Calibri"/>
                <a:ea typeface="Calibri"/>
                <a:cs typeface="Calibri"/>
                <a:sym typeface="Calibri"/>
              </a:rPr>
              <a:t>LLM4VKG</a:t>
            </a:r>
            <a:r>
              <a:rPr b="0" i="0" lang="en-US" sz="1000" u="none" cap="none" strike="noStrike">
                <a:solidFill>
                  <a:srgbClr val="5B6770"/>
                </a:solidFill>
                <a:latin typeface="Calibri"/>
                <a:ea typeface="Calibri"/>
                <a:cs typeface="Calibri"/>
                <a:sym typeface="Calibri"/>
              </a:rPr>
              <a:t> [Xiao et al., IJCAI 2025]</a:t>
            </a:r>
            <a:endParaRPr/>
          </a:p>
        </p:txBody>
      </p:sp>
      <p:sp>
        <p:nvSpPr>
          <p:cNvPr id="439" name="Slide number 439"/>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4</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3" name="Shape 443"/>
        <p:cNvGrpSpPr/>
        <p:nvPr/>
      </p:nvGrpSpPr>
      <p:grpSpPr>
        <a:xfrm>
          <a:off x="0" y="0"/>
          <a:ext cx="0" cy="0"/>
          <a:chOff x="0" y="0"/>
          <a:chExt cx="0" cy="0"/>
        </a:xfrm>
      </p:grpSpPr>
      <p:sp>
        <p:nvSpPr>
          <p:cNvPr id="444" name="Google Shape;444;p5"/>
          <p:cNvSpPr txBox="1"/>
          <p:nvPr/>
        </p:nvSpPr>
        <p:spPr>
          <a:xfrm>
            <a:off x="822960" y="521207"/>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OUR ANSWER  /  RIGOR</a:t>
            </a:r>
            <a:endParaRPr b="0" i="0" sz="1400" u="none" cap="none" strike="noStrike">
              <a:solidFill>
                <a:srgbClr val="000000"/>
              </a:solidFill>
              <a:latin typeface="Arial"/>
              <a:ea typeface="Arial"/>
              <a:cs typeface="Arial"/>
              <a:sym typeface="Arial"/>
            </a:endParaRPr>
          </a:p>
        </p:txBody>
      </p:sp>
      <p:sp>
        <p:nvSpPr>
          <p:cNvPr id="445" name="Google Shape;445;p5"/>
          <p:cNvSpPr txBox="1"/>
          <p:nvPr/>
        </p:nvSpPr>
        <p:spPr>
          <a:xfrm>
            <a:off x="804672" y="978408"/>
            <a:ext cx="10625400" cy="667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100"/>
              <a:buFont typeface="Arial"/>
              <a:buNone/>
            </a:pPr>
            <a:r>
              <a:rPr b="1" i="0" lang="en-US" sz="3100" u="none" cap="none" strike="noStrike">
                <a:solidFill>
                  <a:srgbClr val="1F2328"/>
                </a:solidFill>
                <a:latin typeface="Cambria"/>
                <a:ea typeface="Cambria"/>
                <a:cs typeface="Cambria"/>
                <a:sym typeface="Cambria"/>
              </a:rPr>
              <a:t>Build the ontology one table at a time.</a:t>
            </a:r>
            <a:endParaRPr b="0" i="0" sz="1400" u="none" cap="none" strike="noStrike">
              <a:solidFill>
                <a:srgbClr val="000000"/>
              </a:solidFill>
              <a:latin typeface="Arial"/>
              <a:ea typeface="Arial"/>
              <a:cs typeface="Arial"/>
              <a:sym typeface="Arial"/>
            </a:endParaRPr>
          </a:p>
        </p:txBody>
      </p:sp>
      <p:sp>
        <p:nvSpPr>
          <p:cNvPr id="446" name="Google Shape;446;p5"/>
          <p:cNvSpPr txBox="1"/>
          <p:nvPr/>
        </p:nvSpPr>
        <p:spPr>
          <a:xfrm>
            <a:off x="804672" y="1673352"/>
            <a:ext cx="106344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0" i="0" lang="en-US" sz="1900" u="none" cap="none" strike="noStrike">
                <a:solidFill>
                  <a:srgbClr val="3A434C"/>
                </a:solidFill>
                <a:latin typeface="Calibri"/>
                <a:ea typeface="Calibri"/>
                <a:cs typeface="Calibri"/>
                <a:sym typeface="Calibri"/>
              </a:rPr>
              <a:t>We will construct the answer to our admission example, together.</a:t>
            </a:r>
            <a:endParaRPr b="0" i="0" sz="1400" u="none" cap="none" strike="noStrike">
              <a:solidFill>
                <a:srgbClr val="000000"/>
              </a:solidFill>
              <a:latin typeface="Arial"/>
              <a:ea typeface="Arial"/>
              <a:cs typeface="Arial"/>
              <a:sym typeface="Arial"/>
            </a:endParaRPr>
          </a:p>
        </p:txBody>
      </p:sp>
      <p:sp>
        <p:nvSpPr>
          <p:cNvPr id="447" name="Google Shape;447;p5"/>
          <p:cNvSpPr/>
          <p:nvPr/>
        </p:nvSpPr>
        <p:spPr>
          <a:xfrm>
            <a:off x="813825" y="2178050"/>
            <a:ext cx="3026700" cy="2794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8" name="Google Shape;448;p5"/>
          <p:cNvSpPr txBox="1"/>
          <p:nvPr/>
        </p:nvSpPr>
        <p:spPr>
          <a:xfrm>
            <a:off x="1033279" y="2437210"/>
            <a:ext cx="2606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5B6770"/>
                </a:solidFill>
                <a:latin typeface="Consolas"/>
                <a:ea typeface="Consolas"/>
                <a:cs typeface="Consolas"/>
                <a:sym typeface="Consolas"/>
              </a:rPr>
              <a:t>WHAT WE HAVE</a:t>
            </a:r>
            <a:endParaRPr b="0" i="0" sz="1400" u="none" cap="none" strike="noStrike">
              <a:solidFill>
                <a:srgbClr val="000000"/>
              </a:solidFill>
              <a:latin typeface="Arial"/>
              <a:ea typeface="Arial"/>
              <a:cs typeface="Arial"/>
              <a:sym typeface="Arial"/>
            </a:endParaRPr>
          </a:p>
        </p:txBody>
      </p:sp>
      <p:sp>
        <p:nvSpPr>
          <p:cNvPr id="449" name="Google Shape;449;p5"/>
          <p:cNvSpPr/>
          <p:nvPr/>
        </p:nvSpPr>
        <p:spPr>
          <a:xfrm>
            <a:off x="4123944" y="3282696"/>
            <a:ext cx="557700" cy="4572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0" name="Google Shape;450;p5"/>
          <p:cNvSpPr/>
          <p:nvPr/>
        </p:nvSpPr>
        <p:spPr>
          <a:xfrm>
            <a:off x="5020050" y="2178050"/>
            <a:ext cx="6391800" cy="2794500"/>
          </a:xfrm>
          <a:prstGeom prst="roundRect">
            <a:avLst>
              <a:gd fmla="val 10000"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1" name="Google Shape;451;p5"/>
          <p:cNvSpPr txBox="1"/>
          <p:nvPr/>
        </p:nvSpPr>
        <p:spPr>
          <a:xfrm>
            <a:off x="5257800" y="2400150"/>
            <a:ext cx="5843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WHAT WE WANT</a:t>
            </a:r>
            <a:endParaRPr b="0" i="0" sz="1400" u="none" cap="none" strike="noStrike">
              <a:solidFill>
                <a:srgbClr val="000000"/>
              </a:solidFill>
              <a:latin typeface="Arial"/>
              <a:ea typeface="Arial"/>
              <a:cs typeface="Arial"/>
              <a:sym typeface="Arial"/>
            </a:endParaRPr>
          </a:p>
        </p:txBody>
      </p:sp>
      <p:sp>
        <p:nvSpPr>
          <p:cNvPr id="452" name="Google Shape;452;p5"/>
          <p:cNvSpPr/>
          <p:nvPr/>
        </p:nvSpPr>
        <p:spPr>
          <a:xfrm>
            <a:off x="5266944" y="3063240"/>
            <a:ext cx="21579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3" name="Google Shape;453;p5"/>
          <p:cNvSpPr txBox="1"/>
          <p:nvPr/>
        </p:nvSpPr>
        <p:spPr>
          <a:xfrm>
            <a:off x="5468112" y="3182112"/>
            <a:ext cx="17832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54" name="Google Shape;454;p5"/>
          <p:cNvSpPr/>
          <p:nvPr/>
        </p:nvSpPr>
        <p:spPr>
          <a:xfrm>
            <a:off x="9189720" y="3063240"/>
            <a:ext cx="1938600" cy="493800"/>
          </a:xfrm>
          <a:prstGeom prst="roundRect">
            <a:avLst>
              <a:gd fmla="val 10000" name="adj"/>
            </a:avLst>
          </a:prstGeom>
          <a:solidFill>
            <a:srgbClr val="E9EEEB"/>
          </a:solidFill>
          <a:ln cap="flat" cmpd="sng" w="127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5" name="Google Shape;455;p5"/>
          <p:cNvSpPr txBox="1"/>
          <p:nvPr/>
        </p:nvSpPr>
        <p:spPr>
          <a:xfrm>
            <a:off x="9317736" y="3182112"/>
            <a:ext cx="1682400" cy="219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456" name="Google Shape;456;p5"/>
          <p:cNvCxnSpPr/>
          <p:nvPr/>
        </p:nvCxnSpPr>
        <p:spPr>
          <a:xfrm>
            <a:off x="7452360" y="3310128"/>
            <a:ext cx="1664100" cy="0"/>
          </a:xfrm>
          <a:prstGeom prst="straightConnector1">
            <a:avLst/>
          </a:prstGeom>
          <a:noFill/>
          <a:ln cap="flat" cmpd="sng" w="30475">
            <a:solidFill>
              <a:srgbClr val="0B6E4F"/>
            </a:solidFill>
            <a:prstDash val="solid"/>
            <a:miter lim="80"/>
            <a:headEnd len="sm" w="sm" type="none"/>
            <a:tailEnd len="med" w="med" type="triangle"/>
          </a:ln>
        </p:spPr>
      </p:cxnSp>
      <p:sp>
        <p:nvSpPr>
          <p:cNvPr id="457" name="Google Shape;457;p5"/>
          <p:cNvSpPr txBox="1"/>
          <p:nvPr/>
        </p:nvSpPr>
        <p:spPr>
          <a:xfrm>
            <a:off x="7579313" y="2980944"/>
            <a:ext cx="18105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hasPatientData</a:t>
            </a:r>
            <a:endParaRPr b="0" i="0" sz="1400" u="none" cap="none" strike="noStrike">
              <a:solidFill>
                <a:srgbClr val="000000"/>
              </a:solidFill>
              <a:latin typeface="Arial"/>
              <a:ea typeface="Arial"/>
              <a:cs typeface="Arial"/>
              <a:sym typeface="Arial"/>
            </a:endParaRPr>
          </a:p>
        </p:txBody>
      </p:sp>
      <p:sp>
        <p:nvSpPr>
          <p:cNvPr id="458" name="Google Shape;458;p5"/>
          <p:cNvSpPr txBox="1"/>
          <p:nvPr/>
        </p:nvSpPr>
        <p:spPr>
          <a:xfrm>
            <a:off x="5330952" y="3785615"/>
            <a:ext cx="5586900" cy="265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F2328"/>
                </a:solidFill>
                <a:latin typeface="Calibri"/>
                <a:ea typeface="Calibri"/>
                <a:cs typeface="Calibri"/>
                <a:sym typeface="Calibri"/>
              </a:rPr>
              <a:t>+ meaningful labels   + encoded values</a:t>
            </a:r>
            <a:endParaRPr b="0" i="0" sz="1400" u="none" cap="none" strike="noStrike">
              <a:solidFill>
                <a:srgbClr val="000000"/>
              </a:solidFill>
              <a:latin typeface="Arial"/>
              <a:ea typeface="Arial"/>
              <a:cs typeface="Arial"/>
              <a:sym typeface="Arial"/>
            </a:endParaRPr>
          </a:p>
        </p:txBody>
      </p:sp>
      <p:sp>
        <p:nvSpPr>
          <p:cNvPr id="459" name="Google Shape;459;p5"/>
          <p:cNvSpPr txBox="1"/>
          <p:nvPr/>
        </p:nvSpPr>
        <p:spPr>
          <a:xfrm>
            <a:off x="5330952" y="4151376"/>
            <a:ext cx="5586900" cy="634800"/>
          </a:xfrm>
          <a:prstGeom prst="rect">
            <a:avLst/>
          </a:prstGeom>
          <a:noFill/>
          <a:ln>
            <a:noFill/>
          </a:ln>
        </p:spPr>
        <p:txBody>
          <a:bodyPr anchorCtr="0" anchor="ctr" bIns="0" lIns="0" spcFirstLastPara="1" rIns="0" wrap="square" tIns="0">
            <a:spAutoFit/>
          </a:bodyPr>
          <a:lstStyle/>
          <a:p>
            <a:pPr indent="0" lvl="0" marL="0" marR="0" rtl="0" algn="l">
              <a:lnSpc>
                <a:spcPct val="150000"/>
              </a:lnSpc>
              <a:spcBef>
                <a:spcPts val="0"/>
              </a:spcBef>
              <a:spcAft>
                <a:spcPts val="0"/>
              </a:spcAft>
              <a:buClr>
                <a:srgbClr val="000000"/>
              </a:buClr>
              <a:buSzPts val="1650"/>
              <a:buFont typeface="Arial"/>
              <a:buNone/>
            </a:pPr>
            <a:r>
              <a:rPr b="0" i="0" lang="en-US" sz="1650" u="none" cap="none" strike="noStrike">
                <a:solidFill>
                  <a:srgbClr val="3A434C"/>
                </a:solidFill>
                <a:latin typeface="Calibri"/>
                <a:ea typeface="Calibri"/>
                <a:cs typeface="Calibri"/>
                <a:sym typeface="Calibri"/>
              </a:rPr>
              <a:t>+ provenance   </a:t>
            </a:r>
            <a:r>
              <a:rPr lang="en-US" sz="1650">
                <a:solidFill>
                  <a:srgbClr val="3A434C"/>
                </a:solidFill>
                <a:latin typeface="Calibri"/>
                <a:ea typeface="Calibri"/>
                <a:cs typeface="Calibri"/>
                <a:sym typeface="Calibri"/>
              </a:rPr>
              <a:t>+ logical axioms (hierarchy, disjointness) </a:t>
            </a:r>
            <a:endParaRPr sz="1650">
              <a:solidFill>
                <a:srgbClr val="3A434C"/>
              </a:solidFill>
              <a:latin typeface="Calibri"/>
              <a:ea typeface="Calibri"/>
              <a:cs typeface="Calibri"/>
              <a:sym typeface="Calibri"/>
            </a:endParaRPr>
          </a:p>
          <a:p>
            <a:pPr indent="0" lvl="0" marL="0" marR="0" rtl="0" algn="l">
              <a:lnSpc>
                <a:spcPct val="150000"/>
              </a:lnSpc>
              <a:spcBef>
                <a:spcPts val="0"/>
              </a:spcBef>
              <a:spcAft>
                <a:spcPts val="0"/>
              </a:spcAft>
              <a:buClr>
                <a:srgbClr val="000000"/>
              </a:buClr>
              <a:buSzPts val="1650"/>
              <a:buFont typeface="Arial"/>
              <a:buNone/>
            </a:pPr>
            <a:r>
              <a:rPr lang="en-US" sz="1650">
                <a:solidFill>
                  <a:srgbClr val="3A434C"/>
                </a:solidFill>
                <a:latin typeface="Calibri"/>
                <a:ea typeface="Calibri"/>
                <a:cs typeface="Calibri"/>
                <a:sym typeface="Calibri"/>
              </a:rPr>
              <a:t>+ links to standard vocabularies</a:t>
            </a:r>
            <a:endParaRPr b="0" i="0" sz="1400" u="none" cap="none" strike="noStrike">
              <a:solidFill>
                <a:srgbClr val="000000"/>
              </a:solidFill>
              <a:latin typeface="Arial"/>
              <a:ea typeface="Arial"/>
              <a:cs typeface="Arial"/>
              <a:sym typeface="Arial"/>
            </a:endParaRPr>
          </a:p>
        </p:txBody>
      </p:sp>
      <p:sp>
        <p:nvSpPr>
          <p:cNvPr id="460" name="Google Shape;460;p5"/>
          <p:cNvSpPr txBox="1"/>
          <p:nvPr/>
        </p:nvSpPr>
        <p:spPr>
          <a:xfrm>
            <a:off x="859536" y="5020056"/>
            <a:ext cx="10460700" cy="4299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We need to preserve structure, discover meaning, and prevent mistakes, at database scale.</a:t>
            </a:r>
            <a:endParaRPr b="0" i="0" sz="1400" u="none" cap="none" strike="noStrike">
              <a:solidFill>
                <a:srgbClr val="000000"/>
              </a:solidFill>
              <a:latin typeface="Arial"/>
              <a:ea typeface="Arial"/>
              <a:cs typeface="Arial"/>
              <a:sym typeface="Arial"/>
            </a:endParaRPr>
          </a:p>
        </p:txBody>
      </p:sp>
      <p:sp>
        <p:nvSpPr>
          <p:cNvPr id="461" name="Google Shape;461;p5"/>
          <p:cNvSpPr/>
          <p:nvPr/>
        </p:nvSpPr>
        <p:spPr>
          <a:xfrm>
            <a:off x="80467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2" name="Google Shape;462;p5"/>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463" name="Google Shape;463;p5"/>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4" name="Google Shape;464;p5"/>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465" name="Google Shape;465;p5"/>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6" name="Google Shape;466;p5"/>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467" name="Google Shape;467;p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8" name="Google Shape;468;p5"/>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469" name="Google Shape;469;p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0" name="Google Shape;470;p5"/>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471" name="Google Shape;471;p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5"/>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473" name="Google Shape;473;p5"/>
          <p:cNvSpPr/>
          <p:nvPr/>
        </p:nvSpPr>
        <p:spPr>
          <a:xfrm>
            <a:off x="1005789" y="2825521"/>
            <a:ext cx="2642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
          <p:cNvSpPr txBox="1"/>
          <p:nvPr/>
        </p:nvSpPr>
        <p:spPr>
          <a:xfrm>
            <a:off x="1170381" y="2935250"/>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475" name="Google Shape;475;p5"/>
          <p:cNvCxnSpPr/>
          <p:nvPr/>
        </p:nvCxnSpPr>
        <p:spPr>
          <a:xfrm>
            <a:off x="1170381" y="3355874"/>
            <a:ext cx="2313300" cy="0"/>
          </a:xfrm>
          <a:prstGeom prst="straightConnector1">
            <a:avLst/>
          </a:prstGeom>
          <a:noFill/>
          <a:ln cap="flat" cmpd="sng" w="19050">
            <a:solidFill>
              <a:srgbClr val="8E989E"/>
            </a:solidFill>
            <a:prstDash val="solid"/>
            <a:miter lim="80"/>
            <a:headEnd len="sm" w="sm" type="none"/>
            <a:tailEnd len="sm" w="sm" type="none"/>
          </a:ln>
        </p:spPr>
      </p:cxnSp>
      <p:sp>
        <p:nvSpPr>
          <p:cNvPr id="476" name="Google Shape;476;p5"/>
          <p:cNvSpPr/>
          <p:nvPr/>
        </p:nvSpPr>
        <p:spPr>
          <a:xfrm>
            <a:off x="1170381" y="348388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477" name="Google Shape;477;p5"/>
          <p:cNvSpPr/>
          <p:nvPr/>
        </p:nvSpPr>
        <p:spPr>
          <a:xfrm>
            <a:off x="2734005" y="348388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a:t>
            </a:r>
            <a:endParaRPr/>
          </a:p>
        </p:txBody>
      </p:sp>
      <p:sp>
        <p:nvSpPr>
          <p:cNvPr id="478" name="Google Shape;478;p5"/>
          <p:cNvSpPr/>
          <p:nvPr/>
        </p:nvSpPr>
        <p:spPr>
          <a:xfrm>
            <a:off x="1170381" y="3831362"/>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479" name="Google Shape;479;p5"/>
          <p:cNvSpPr/>
          <p:nvPr/>
        </p:nvSpPr>
        <p:spPr>
          <a:xfrm>
            <a:off x="2734005" y="3831362"/>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480" name="Google Shape;480;p5"/>
          <p:cNvSpPr/>
          <p:nvPr/>
        </p:nvSpPr>
        <p:spPr>
          <a:xfrm>
            <a:off x="1170381" y="4178834"/>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481" name="Google Shape;481;p5"/>
          <p:cNvSpPr/>
          <p:nvPr/>
        </p:nvSpPr>
        <p:spPr>
          <a:xfrm>
            <a:off x="2734005" y="4178834"/>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482" name="Slide number 48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5</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6"/>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1 / ORDER</a:t>
            </a:r>
            <a:endParaRPr b="0" i="0" sz="1400" u="none" cap="none" strike="noStrike">
              <a:solidFill>
                <a:srgbClr val="000000"/>
              </a:solidFill>
              <a:latin typeface="Arial"/>
              <a:ea typeface="Arial"/>
              <a:cs typeface="Arial"/>
              <a:sym typeface="Arial"/>
            </a:endParaRPr>
          </a:p>
        </p:txBody>
      </p:sp>
      <p:sp>
        <p:nvSpPr>
          <p:cNvPr id="488" name="Google Shape;488;p6"/>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To understand this table, build its parent first.</a:t>
            </a:r>
            <a:endParaRPr b="0" i="0" sz="1400" u="none" cap="none" strike="noStrike">
              <a:solidFill>
                <a:srgbClr val="000000"/>
              </a:solidFill>
              <a:latin typeface="Arial"/>
              <a:ea typeface="Arial"/>
              <a:cs typeface="Arial"/>
              <a:sym typeface="Arial"/>
            </a:endParaRPr>
          </a:p>
        </p:txBody>
      </p:sp>
      <p:sp>
        <p:nvSpPr>
          <p:cNvPr id="489" name="Google Shape;489;p6"/>
          <p:cNvSpPr txBox="1"/>
          <p:nvPr/>
        </p:nvSpPr>
        <p:spPr>
          <a:xfrm>
            <a:off x="795528" y="1609344"/>
            <a:ext cx="10607100" cy="347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We follow foreign-key dependencies, so known concepts are available when needed.</a:t>
            </a:r>
            <a:endParaRPr b="0" i="0" sz="1400" u="none" cap="none" strike="noStrike">
              <a:solidFill>
                <a:srgbClr val="000000"/>
              </a:solidFill>
              <a:latin typeface="Arial"/>
              <a:ea typeface="Arial"/>
              <a:cs typeface="Arial"/>
              <a:sym typeface="Arial"/>
            </a:endParaRPr>
          </a:p>
        </p:txBody>
      </p:sp>
      <p:sp>
        <p:nvSpPr>
          <p:cNvPr id="490" name="Google Shape;490;p6"/>
          <p:cNvSpPr/>
          <p:nvPr/>
        </p:nvSpPr>
        <p:spPr>
          <a:xfrm>
            <a:off x="822960" y="2130552"/>
            <a:ext cx="49104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1" name="Google Shape;491;p6"/>
          <p:cNvSpPr txBox="1"/>
          <p:nvPr/>
        </p:nvSpPr>
        <p:spPr>
          <a:xfrm>
            <a:off x="1069848" y="2313432"/>
            <a:ext cx="44805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DATABASE DEPENDENCIES</a:t>
            </a:r>
            <a:endParaRPr b="0" i="0" sz="1400" u="none" cap="none" strike="noStrike">
              <a:solidFill>
                <a:srgbClr val="000000"/>
              </a:solidFill>
              <a:latin typeface="Arial"/>
              <a:ea typeface="Arial"/>
              <a:cs typeface="Arial"/>
              <a:sym typeface="Arial"/>
            </a:endParaRPr>
          </a:p>
        </p:txBody>
      </p:sp>
      <p:sp>
        <p:nvSpPr>
          <p:cNvPr id="492" name="Google Shape;492;p6"/>
          <p:cNvSpPr/>
          <p:nvPr/>
        </p:nvSpPr>
        <p:spPr>
          <a:xfrm>
            <a:off x="1143000" y="2816352"/>
            <a:ext cx="1874400" cy="850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3" name="Google Shape;493;p6"/>
          <p:cNvSpPr txBox="1"/>
          <p:nvPr/>
        </p:nvSpPr>
        <p:spPr>
          <a:xfrm>
            <a:off x="1280160" y="2944368"/>
            <a:ext cx="1609200" cy="237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494" name="Google Shape;494;p6"/>
          <p:cNvSpPr txBox="1"/>
          <p:nvPr/>
        </p:nvSpPr>
        <p:spPr>
          <a:xfrm>
            <a:off x="1280160" y="3227832"/>
            <a:ext cx="16734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No FKs</a:t>
            </a:r>
            <a:endParaRPr b="0" i="0" sz="1400" u="none" cap="none" strike="noStrike">
              <a:solidFill>
                <a:srgbClr val="000000"/>
              </a:solidFill>
              <a:latin typeface="Arial"/>
              <a:ea typeface="Arial"/>
              <a:cs typeface="Arial"/>
              <a:sym typeface="Arial"/>
            </a:endParaRPr>
          </a:p>
        </p:txBody>
      </p:sp>
      <p:sp>
        <p:nvSpPr>
          <p:cNvPr id="495" name="Google Shape;495;p6"/>
          <p:cNvSpPr/>
          <p:nvPr/>
        </p:nvSpPr>
        <p:spPr>
          <a:xfrm>
            <a:off x="3758184" y="2816352"/>
            <a:ext cx="1710000" cy="850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96" name="Google Shape;496;p6"/>
          <p:cNvSpPr txBox="1"/>
          <p:nvPr/>
        </p:nvSpPr>
        <p:spPr>
          <a:xfrm>
            <a:off x="3904487" y="2944368"/>
            <a:ext cx="14448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497" name="Google Shape;497;p6"/>
          <p:cNvSpPr txBox="1"/>
          <p:nvPr/>
        </p:nvSpPr>
        <p:spPr>
          <a:xfrm>
            <a:off x="3895344" y="3227832"/>
            <a:ext cx="14997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onsolas"/>
                <a:ea typeface="Consolas"/>
                <a:cs typeface="Consolas"/>
                <a:sym typeface="Consolas"/>
              </a:rPr>
              <a:t>patient_id FK</a:t>
            </a:r>
            <a:endParaRPr b="0" i="0" sz="1400" u="none" cap="none" strike="noStrike">
              <a:solidFill>
                <a:srgbClr val="000000"/>
              </a:solidFill>
              <a:latin typeface="Arial"/>
              <a:ea typeface="Arial"/>
              <a:cs typeface="Arial"/>
              <a:sym typeface="Arial"/>
            </a:endParaRPr>
          </a:p>
        </p:txBody>
      </p:sp>
      <p:cxnSp>
        <p:nvCxnSpPr>
          <p:cNvPr id="498" name="Google Shape;498;p6"/>
          <p:cNvCxnSpPr/>
          <p:nvPr/>
        </p:nvCxnSpPr>
        <p:spPr>
          <a:xfrm rot="10800000">
            <a:off x="3099876" y="3255264"/>
            <a:ext cx="594300" cy="0"/>
          </a:xfrm>
          <a:prstGeom prst="straightConnector1">
            <a:avLst/>
          </a:prstGeom>
          <a:noFill/>
          <a:ln cap="flat" cmpd="sng" w="30475">
            <a:solidFill>
              <a:srgbClr val="3A7D8C"/>
            </a:solidFill>
            <a:prstDash val="solid"/>
            <a:miter lim="80"/>
            <a:headEnd len="sm" w="sm" type="none"/>
            <a:tailEnd len="med" w="med" type="triangle"/>
          </a:ln>
        </p:spPr>
      </p:cxnSp>
      <p:sp>
        <p:nvSpPr>
          <p:cNvPr id="499" name="Google Shape;499;p6"/>
          <p:cNvSpPr txBox="1"/>
          <p:nvPr/>
        </p:nvSpPr>
        <p:spPr>
          <a:xfrm>
            <a:off x="2350008" y="3877056"/>
            <a:ext cx="1874400" cy="283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FK points to parent</a:t>
            </a:r>
            <a:endParaRPr b="0" i="0" sz="1400" u="none" cap="none" strike="noStrike">
              <a:solidFill>
                <a:srgbClr val="000000"/>
              </a:solidFill>
              <a:latin typeface="Arial"/>
              <a:ea typeface="Arial"/>
              <a:cs typeface="Arial"/>
              <a:sym typeface="Arial"/>
            </a:endParaRPr>
          </a:p>
        </p:txBody>
      </p:sp>
      <p:sp>
        <p:nvSpPr>
          <p:cNvPr id="500" name="Google Shape;500;p6"/>
          <p:cNvSpPr/>
          <p:nvPr/>
        </p:nvSpPr>
        <p:spPr>
          <a:xfrm>
            <a:off x="5961888" y="2130552"/>
            <a:ext cx="5376600" cy="25695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p6"/>
          <p:cNvSpPr txBox="1"/>
          <p:nvPr/>
        </p:nvSpPr>
        <p:spPr>
          <a:xfrm>
            <a:off x="6208776" y="2313432"/>
            <a:ext cx="4837200" cy="283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PROCESSING ORDER  /  OUTPUT</a:t>
            </a:r>
            <a:endParaRPr b="0" i="0" sz="1400" u="none" cap="none" strike="noStrike">
              <a:solidFill>
                <a:srgbClr val="000000"/>
              </a:solidFill>
              <a:latin typeface="Arial"/>
              <a:ea typeface="Arial"/>
              <a:cs typeface="Arial"/>
              <a:sym typeface="Arial"/>
            </a:endParaRPr>
          </a:p>
        </p:txBody>
      </p:sp>
      <p:sp>
        <p:nvSpPr>
          <p:cNvPr id="502" name="Google Shape;502;p6"/>
          <p:cNvSpPr/>
          <p:nvPr/>
        </p:nvSpPr>
        <p:spPr>
          <a:xfrm>
            <a:off x="6300216" y="2807208"/>
            <a:ext cx="1902000" cy="10515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3" name="Google Shape;503;p6"/>
          <p:cNvSpPr txBox="1"/>
          <p:nvPr/>
        </p:nvSpPr>
        <p:spPr>
          <a:xfrm>
            <a:off x="6455664" y="2971800"/>
            <a:ext cx="15546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t = 1</a:t>
            </a:r>
            <a:endParaRPr b="0" i="0" sz="1400" u="none" cap="none" strike="noStrike">
              <a:solidFill>
                <a:srgbClr val="000000"/>
              </a:solidFill>
              <a:latin typeface="Arial"/>
              <a:ea typeface="Arial"/>
              <a:cs typeface="Arial"/>
              <a:sym typeface="Arial"/>
            </a:endParaRPr>
          </a:p>
        </p:txBody>
      </p:sp>
      <p:sp>
        <p:nvSpPr>
          <p:cNvPr id="504" name="Google Shape;504;p6"/>
          <p:cNvSpPr txBox="1"/>
          <p:nvPr/>
        </p:nvSpPr>
        <p:spPr>
          <a:xfrm>
            <a:off x="6446520" y="3255264"/>
            <a:ext cx="15636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505" name="Google Shape;505;p6"/>
          <p:cNvCxnSpPr/>
          <p:nvPr/>
        </p:nvCxnSpPr>
        <p:spPr>
          <a:xfrm>
            <a:off x="8311896" y="3310128"/>
            <a:ext cx="420600" cy="0"/>
          </a:xfrm>
          <a:prstGeom prst="straightConnector1">
            <a:avLst/>
          </a:prstGeom>
          <a:noFill/>
          <a:ln cap="flat" cmpd="sng" w="31750">
            <a:solidFill>
              <a:srgbClr val="0B6E4F"/>
            </a:solidFill>
            <a:prstDash val="solid"/>
            <a:miter lim="80"/>
            <a:headEnd len="sm" w="sm" type="none"/>
            <a:tailEnd len="med" w="med" type="triangle"/>
          </a:ln>
        </p:spPr>
      </p:cxnSp>
      <p:sp>
        <p:nvSpPr>
          <p:cNvPr id="506" name="Google Shape;506;p6"/>
          <p:cNvSpPr/>
          <p:nvPr/>
        </p:nvSpPr>
        <p:spPr>
          <a:xfrm>
            <a:off x="8833104" y="2807208"/>
            <a:ext cx="2112300" cy="10515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7" name="Google Shape;507;p6"/>
          <p:cNvSpPr txBox="1"/>
          <p:nvPr/>
        </p:nvSpPr>
        <p:spPr>
          <a:xfrm>
            <a:off x="8988552" y="2971800"/>
            <a:ext cx="1764900" cy="2376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2F6B78"/>
                </a:solidFill>
                <a:latin typeface="Consolas"/>
                <a:ea typeface="Consolas"/>
                <a:cs typeface="Consolas"/>
                <a:sym typeface="Consolas"/>
              </a:rPr>
              <a:t>t = 2</a:t>
            </a:r>
            <a:endParaRPr b="0" i="0" sz="1400" u="none" cap="none" strike="noStrike">
              <a:solidFill>
                <a:srgbClr val="000000"/>
              </a:solidFill>
              <a:latin typeface="Arial"/>
              <a:ea typeface="Arial"/>
              <a:cs typeface="Arial"/>
              <a:sym typeface="Arial"/>
            </a:endParaRPr>
          </a:p>
        </p:txBody>
      </p:sp>
      <p:sp>
        <p:nvSpPr>
          <p:cNvPr id="508" name="Google Shape;508;p6"/>
          <p:cNvSpPr txBox="1"/>
          <p:nvPr/>
        </p:nvSpPr>
        <p:spPr>
          <a:xfrm>
            <a:off x="8988552" y="3255264"/>
            <a:ext cx="1764900" cy="228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509" name="Google Shape;509;p6"/>
          <p:cNvSpPr txBox="1"/>
          <p:nvPr/>
        </p:nvSpPr>
        <p:spPr>
          <a:xfrm>
            <a:off x="6190488" y="4133087"/>
            <a:ext cx="4882800" cy="465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Before generating </a:t>
            </a:r>
            <a:r>
              <a:rPr b="1" lang="en-US" sz="1520">
                <a:solidFill>
                  <a:srgbClr val="0B6E4F"/>
                </a:solidFill>
                <a:latin typeface="Consolas"/>
                <a:ea typeface="Consolas"/>
                <a:cs typeface="Consolas"/>
                <a:sym typeface="Consolas"/>
              </a:rPr>
              <a:t>admission</a:t>
            </a:r>
            <a:r>
              <a:rPr b="1" i="0" lang="en-US" sz="1500" u="none" cap="none" strike="noStrike">
                <a:solidFill>
                  <a:srgbClr val="1F2328"/>
                </a:solidFill>
                <a:latin typeface="Calibri"/>
                <a:ea typeface="Calibri"/>
                <a:cs typeface="Calibri"/>
                <a:sym typeface="Calibri"/>
              </a:rPr>
              <a:t>, </a:t>
            </a:r>
            <a:r>
              <a:rPr b="1" lang="en-US" sz="1520">
                <a:solidFill>
                  <a:srgbClr val="0B6E4F"/>
                </a:solidFill>
                <a:latin typeface="Consolas"/>
                <a:ea typeface="Consolas"/>
                <a:cs typeface="Consolas"/>
                <a:sym typeface="Consolas"/>
              </a:rPr>
              <a:t>PatientData </a:t>
            </a:r>
            <a:r>
              <a:rPr b="1" i="0" lang="en-US" sz="1500" u="none" cap="none" strike="noStrike">
                <a:solidFill>
                  <a:srgbClr val="1F2328"/>
                </a:solidFill>
                <a:latin typeface="Calibri"/>
                <a:ea typeface="Calibri"/>
                <a:cs typeface="Calibri"/>
                <a:sym typeface="Calibri"/>
              </a:rPr>
              <a:t>already exists in the core ontology.</a:t>
            </a:r>
            <a:endParaRPr b="0" i="0" sz="1400" u="none" cap="none" strike="noStrike">
              <a:solidFill>
                <a:srgbClr val="000000"/>
              </a:solidFill>
              <a:latin typeface="Arial"/>
              <a:ea typeface="Arial"/>
              <a:cs typeface="Arial"/>
              <a:sym typeface="Arial"/>
            </a:endParaRPr>
          </a:p>
        </p:txBody>
      </p:sp>
      <p:sp>
        <p:nvSpPr>
          <p:cNvPr id="510" name="Google Shape;510;p6"/>
          <p:cNvSpPr/>
          <p:nvPr/>
        </p:nvSpPr>
        <p:spPr>
          <a:xfrm>
            <a:off x="822960" y="4956048"/>
            <a:ext cx="10515600" cy="4755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1" name="Google Shape;511;p6"/>
          <p:cNvSpPr txBox="1"/>
          <p:nvPr/>
        </p:nvSpPr>
        <p:spPr>
          <a:xfrm>
            <a:off x="1014984" y="5056632"/>
            <a:ext cx="10168200" cy="2310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500"/>
              <a:buFont typeface="Arial"/>
              <a:buNone/>
            </a:pPr>
            <a:r>
              <a:rPr b="1" i="0" lang="en-US" sz="1500" u="none" cap="none" strike="noStrike">
                <a:solidFill>
                  <a:srgbClr val="0B6E4F"/>
                </a:solidFill>
                <a:latin typeface="Calibri"/>
                <a:ea typeface="Calibri"/>
                <a:cs typeface="Calibri"/>
                <a:sym typeface="Calibri"/>
              </a:rPr>
              <a:t>WHY IT MATTERS   </a:t>
            </a:r>
            <a:r>
              <a:rPr b="0" i="0" lang="en-US" sz="1500" u="none" cap="none" strike="noStrike">
                <a:solidFill>
                  <a:srgbClr val="1F2328"/>
                </a:solidFill>
                <a:latin typeface="Calibri"/>
                <a:ea typeface="Calibri"/>
                <a:cs typeface="Calibri"/>
                <a:sym typeface="Calibri"/>
              </a:rPr>
              <a:t>The next fragment can </a:t>
            </a:r>
            <a:r>
              <a:rPr b="1" i="0" lang="en-US" sz="1500" u="none" cap="none" strike="noStrike">
                <a:solidFill>
                  <a:srgbClr val="1F2328"/>
                </a:solidFill>
                <a:latin typeface="Calibri"/>
                <a:ea typeface="Calibri"/>
                <a:cs typeface="Calibri"/>
                <a:sym typeface="Calibri"/>
              </a:rPr>
              <a:t>reuse</a:t>
            </a:r>
            <a:r>
              <a:rPr b="0" i="0" lang="en-US" sz="1500" u="none" cap="none" strike="noStrike">
                <a:solidFill>
                  <a:srgbClr val="1F2328"/>
                </a:solidFill>
                <a:latin typeface="Calibri"/>
                <a:ea typeface="Calibri"/>
                <a:cs typeface="Calibri"/>
                <a:sym typeface="Calibri"/>
              </a:rPr>
              <a:t> known </a:t>
            </a:r>
            <a:r>
              <a:rPr b="1" i="0" lang="en-US" sz="1500" u="none" cap="none" strike="noStrike">
                <a:solidFill>
                  <a:srgbClr val="1F2328"/>
                </a:solidFill>
                <a:latin typeface="Calibri"/>
                <a:ea typeface="Calibri"/>
                <a:cs typeface="Calibri"/>
                <a:sym typeface="Calibri"/>
              </a:rPr>
              <a:t>classes</a:t>
            </a:r>
            <a:r>
              <a:rPr b="0" i="0" lang="en-US" sz="1500" u="none" cap="none" strike="noStrike">
                <a:solidFill>
                  <a:srgbClr val="1F2328"/>
                </a:solidFill>
                <a:latin typeface="Calibri"/>
                <a:ea typeface="Calibri"/>
                <a:cs typeface="Calibri"/>
                <a:sym typeface="Calibri"/>
              </a:rPr>
              <a:t> and </a:t>
            </a:r>
            <a:r>
              <a:rPr b="1" i="0" lang="en-US" sz="1500" u="none" cap="none" strike="noStrike">
                <a:solidFill>
                  <a:srgbClr val="1F2328"/>
                </a:solidFill>
                <a:latin typeface="Calibri"/>
                <a:ea typeface="Calibri"/>
                <a:cs typeface="Calibri"/>
                <a:sym typeface="Calibri"/>
              </a:rPr>
              <a:t>IRIs</a:t>
            </a:r>
            <a:r>
              <a:rPr b="0" i="0" lang="en-US" sz="1500" u="none" cap="none" strike="noStrike">
                <a:solidFill>
                  <a:srgbClr val="1F2328"/>
                </a:solidFill>
                <a:latin typeface="Calibri"/>
                <a:ea typeface="Calibri"/>
                <a:cs typeface="Calibri"/>
                <a:sym typeface="Calibri"/>
              </a:rPr>
              <a:t> instead of inventing duplicates.</a:t>
            </a:r>
            <a:endParaRPr b="0" i="0" sz="1400" u="none" cap="none" strike="noStrike">
              <a:solidFill>
                <a:srgbClr val="000000"/>
              </a:solidFill>
              <a:latin typeface="Arial"/>
              <a:ea typeface="Arial"/>
              <a:cs typeface="Arial"/>
              <a:sym typeface="Arial"/>
            </a:endParaRPr>
          </a:p>
        </p:txBody>
      </p:sp>
      <p:sp>
        <p:nvSpPr>
          <p:cNvPr id="512" name="Google Shape;512;p6"/>
          <p:cNvSpPr/>
          <p:nvPr/>
        </p:nvSpPr>
        <p:spPr>
          <a:xfrm>
            <a:off x="80467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3" name="Google Shape;513;p6"/>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14" name="Google Shape;514;p6"/>
          <p:cNvSpPr/>
          <p:nvPr/>
        </p:nvSpPr>
        <p:spPr>
          <a:xfrm>
            <a:off x="2642615"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6"/>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16" name="Google Shape;516;p6"/>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7" name="Google Shape;517;p6"/>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18" name="Google Shape;518;p6"/>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6"/>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20" name="Google Shape;520;p6"/>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1" name="Google Shape;521;p6"/>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22" name="Google Shape;522;p6"/>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3" name="Google Shape;523;p6"/>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524" name="Slide number 524"/>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6</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7"/>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2 / SEED</a:t>
            </a:r>
            <a:endParaRPr b="0" i="0" sz="1400" u="none" cap="none" strike="noStrike">
              <a:solidFill>
                <a:srgbClr val="000000"/>
              </a:solidFill>
              <a:latin typeface="Arial"/>
              <a:ea typeface="Arial"/>
              <a:cs typeface="Arial"/>
              <a:sym typeface="Arial"/>
            </a:endParaRPr>
          </a:p>
        </p:txBody>
      </p:sp>
      <p:sp>
        <p:nvSpPr>
          <p:cNvPr id="530" name="Google Shape;530;p7"/>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Guarantee schema coverage before LLM enrichment.</a:t>
            </a:r>
            <a:endParaRPr b="0" i="0" sz="1400" u="none" cap="none" strike="noStrike">
              <a:solidFill>
                <a:srgbClr val="000000"/>
              </a:solidFill>
              <a:latin typeface="Arial"/>
              <a:ea typeface="Arial"/>
              <a:cs typeface="Arial"/>
              <a:sym typeface="Arial"/>
            </a:endParaRPr>
          </a:p>
        </p:txBody>
      </p:sp>
      <p:sp>
        <p:nvSpPr>
          <p:cNvPr id="531" name="Google Shape;531;p7"/>
          <p:cNvSpPr txBox="1"/>
          <p:nvPr/>
        </p:nvSpPr>
        <p:spPr>
          <a:xfrm>
            <a:off x="795528" y="1367865"/>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Direct Mapping (DMᵣ) represents every column in the table before generation.</a:t>
            </a:r>
            <a:endParaRPr b="0" i="0" sz="1400" u="none" cap="none" strike="noStrike">
              <a:solidFill>
                <a:srgbClr val="000000"/>
              </a:solidFill>
              <a:latin typeface="Arial"/>
              <a:ea typeface="Arial"/>
              <a:cs typeface="Arial"/>
              <a:sym typeface="Arial"/>
            </a:endParaRPr>
          </a:p>
        </p:txBody>
      </p:sp>
      <p:sp>
        <p:nvSpPr>
          <p:cNvPr id="532" name="Google Shape;532;p7"/>
          <p:cNvSpPr/>
          <p:nvPr/>
        </p:nvSpPr>
        <p:spPr>
          <a:xfrm>
            <a:off x="813825" y="1758475"/>
            <a:ext cx="3684900" cy="32964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3" name="Google Shape;533;p7"/>
          <p:cNvSpPr txBox="1"/>
          <p:nvPr/>
        </p:nvSpPr>
        <p:spPr>
          <a:xfrm>
            <a:off x="1024115" y="1972592"/>
            <a:ext cx="32643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INPUT  </a:t>
            </a:r>
            <a:endParaRPr b="0" i="0" sz="1800" u="none" cap="none" strike="noStrike">
              <a:solidFill>
                <a:srgbClr val="000000"/>
              </a:solidFill>
              <a:latin typeface="Arial"/>
              <a:ea typeface="Arial"/>
              <a:cs typeface="Arial"/>
              <a:sym typeface="Arial"/>
            </a:endParaRPr>
          </a:p>
        </p:txBody>
      </p:sp>
      <p:sp>
        <p:nvSpPr>
          <p:cNvPr id="534" name="Google Shape;534;p7"/>
          <p:cNvSpPr/>
          <p:nvPr/>
        </p:nvSpPr>
        <p:spPr>
          <a:xfrm>
            <a:off x="4672584" y="2965489"/>
            <a:ext cx="612600" cy="475500"/>
          </a:xfrm>
          <a:prstGeom prst="rightArrow">
            <a:avLst>
              <a:gd fmla="val 50000" name="adj1"/>
              <a:gd fmla="val 50000" name="adj2"/>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5" name="Google Shape;535;p7"/>
          <p:cNvSpPr/>
          <p:nvPr/>
        </p:nvSpPr>
        <p:spPr>
          <a:xfrm>
            <a:off x="5458975" y="1758474"/>
            <a:ext cx="5879700" cy="3296400"/>
          </a:xfrm>
          <a:prstGeom prst="roundRect">
            <a:avLst>
              <a:gd fmla="val 10000" name="adj"/>
            </a:avLst>
          </a:prstGeom>
          <a:solidFill>
            <a:srgbClr val="FFFFFF"/>
          </a:solidFill>
          <a:ln cap="flat" cmpd="sng" w="1905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6" name="Google Shape;536;p7"/>
          <p:cNvSpPr txBox="1"/>
          <p:nvPr/>
        </p:nvSpPr>
        <p:spPr>
          <a:xfrm>
            <a:off x="5669280" y="1913929"/>
            <a:ext cx="5321700" cy="2772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00"/>
              <a:buFont typeface="Arial"/>
              <a:buNone/>
            </a:pPr>
            <a:r>
              <a:rPr b="1" i="0" lang="en-US" sz="1800" u="none" cap="none" strike="noStrike">
                <a:solidFill>
                  <a:srgbClr val="0B6E4F"/>
                </a:solidFill>
                <a:latin typeface="Consolas"/>
                <a:ea typeface="Consolas"/>
                <a:cs typeface="Consolas"/>
                <a:sym typeface="Consolas"/>
              </a:rPr>
              <a:t>OUTPUT  /  DM</a:t>
            </a:r>
            <a:r>
              <a:rPr b="1" baseline="-25000" i="0" lang="en-US" sz="1800" u="none" cap="none" strike="noStrike">
                <a:solidFill>
                  <a:srgbClr val="0B6E4F"/>
                </a:solidFill>
                <a:latin typeface="Consolas"/>
                <a:ea typeface="Consolas"/>
                <a:cs typeface="Consolas"/>
                <a:sym typeface="Consolas"/>
              </a:rPr>
              <a:t>r</a:t>
            </a:r>
            <a:r>
              <a:rPr b="1" i="0" lang="en-US" sz="1800" u="none" cap="none" strike="noStrike">
                <a:solidFill>
                  <a:srgbClr val="0B6E4F"/>
                </a:solidFill>
                <a:latin typeface="Consolas"/>
                <a:ea typeface="Consolas"/>
                <a:cs typeface="Consolas"/>
                <a:sym typeface="Consolas"/>
              </a:rPr>
              <a:t> </a:t>
            </a:r>
            <a:endParaRPr b="0" i="0" sz="1800" u="none" cap="none" strike="noStrike">
              <a:solidFill>
                <a:srgbClr val="000000"/>
              </a:solidFill>
              <a:latin typeface="Arial"/>
              <a:ea typeface="Arial"/>
              <a:cs typeface="Arial"/>
              <a:sym typeface="Arial"/>
            </a:endParaRPr>
          </a:p>
        </p:txBody>
      </p:sp>
      <p:sp>
        <p:nvSpPr>
          <p:cNvPr id="537" name="Google Shape;537;p7"/>
          <p:cNvSpPr/>
          <p:nvPr/>
        </p:nvSpPr>
        <p:spPr>
          <a:xfrm>
            <a:off x="822960" y="5166360"/>
            <a:ext cx="10515600" cy="3657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8" name="Google Shape;538;p7"/>
          <p:cNvSpPr txBox="1"/>
          <p:nvPr/>
        </p:nvSpPr>
        <p:spPr>
          <a:xfrm>
            <a:off x="1024128" y="5248656"/>
            <a:ext cx="101316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GUARANTEE   Every schema column is represented in the deterministic seed.</a:t>
            </a:r>
            <a:endParaRPr b="0" i="0" sz="1400" u="none" cap="none" strike="noStrike">
              <a:solidFill>
                <a:srgbClr val="000000"/>
              </a:solidFill>
              <a:latin typeface="Arial"/>
              <a:ea typeface="Arial"/>
              <a:cs typeface="Arial"/>
              <a:sym typeface="Arial"/>
            </a:endParaRPr>
          </a:p>
        </p:txBody>
      </p:sp>
      <p:sp>
        <p:nvSpPr>
          <p:cNvPr id="539" name="Google Shape;539;p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0" name="Google Shape;540;p7"/>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41" name="Google Shape;541;p7"/>
          <p:cNvSpPr/>
          <p:nvPr/>
        </p:nvSpPr>
        <p:spPr>
          <a:xfrm>
            <a:off x="2642615"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2" name="Google Shape;542;p7"/>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43" name="Google Shape;543;p7"/>
          <p:cNvSpPr/>
          <p:nvPr/>
        </p:nvSpPr>
        <p:spPr>
          <a:xfrm>
            <a:off x="4480559"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p7"/>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45" name="Google Shape;545;p7"/>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6" name="Google Shape;546;p7"/>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47" name="Google Shape;547;p7"/>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8" name="Google Shape;548;p7"/>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49" name="Google Shape;549;p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p7"/>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descr="OWL Manchester Syntax excerpt" id="551" name="Google Shape;551;p7"/>
          <p:cNvSpPr/>
          <p:nvPr/>
        </p:nvSpPr>
        <p:spPr>
          <a:xfrm>
            <a:off x="5733300" y="2307300"/>
            <a:ext cx="5266800" cy="2651700"/>
          </a:xfrm>
          <a:prstGeom prst="roundRect">
            <a:avLst>
              <a:gd fmla="val 5000" name="adj"/>
            </a:avLst>
          </a:prstGeom>
          <a:solidFill>
            <a:srgbClr val="F6F8FA"/>
          </a:solidFill>
          <a:ln cap="flat" cmpd="sng" w="9525">
            <a:solidFill>
              <a:srgbClr val="D0D7DE"/>
            </a:solidFill>
            <a:prstDash val="solid"/>
            <a:round/>
            <a:headEnd len="sm" w="sm" type="none"/>
            <a:tailEnd len="sm" w="sm" type="none"/>
          </a:ln>
        </p:spPr>
        <p:txBody>
          <a:bodyPr anchorCtr="0" anchor="t" bIns="54850" lIns="109725" spcFirstLastPara="1" rIns="109725" wrap="square" tIns="73150">
            <a:noAutofit/>
          </a:bodyPr>
          <a:lstStyle/>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Class:</a:t>
            </a:r>
            <a:r>
              <a:rPr b="0" i="0" lang="en-US" sz="1400" u="none" cap="none" strike="noStrike">
                <a:solidFill>
                  <a:srgbClr val="1F2328"/>
                </a:solidFill>
                <a:latin typeface="Consolas"/>
                <a:ea typeface="Consolas"/>
                <a:cs typeface="Consolas"/>
                <a:sym typeface="Consolas"/>
              </a:rPr>
              <a:t> Admission</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a:t>
            </a:r>
            <a:r>
              <a:rPr b="1" i="0" lang="en-US" sz="1400" u="none" cap="none" strike="noStrike">
                <a:solidFill>
                  <a:srgbClr val="0B6E4F"/>
                </a:solidFill>
                <a:latin typeface="Consolas"/>
                <a:ea typeface="Consolas"/>
                <a:cs typeface="Consolas"/>
                <a:sym typeface="Consolas"/>
              </a:rPr>
              <a:t>SubClassOf:</a:t>
            </a:r>
            <a:endParaRPr b="1" i="0" sz="1400" u="none" cap="none" strike="noStrike">
              <a:solidFill>
                <a:srgbClr val="0B6E4F"/>
              </a:solidFill>
              <a:latin typeface="Consolas"/>
              <a:ea typeface="Consolas"/>
              <a:cs typeface="Consolas"/>
              <a:sym typeface="Consolas"/>
            </a:endParaRPr>
          </a:p>
          <a:p>
            <a:pPr indent="0" lvl="0" marL="0" rtl="0" algn="l">
              <a:lnSpc>
                <a:spcPct val="114285"/>
              </a:lnSpc>
              <a:spcBef>
                <a:spcPts val="0"/>
              </a:spcBef>
              <a:spcAft>
                <a:spcPts val="0"/>
              </a:spcAft>
              <a:buNone/>
            </a:pPr>
            <a:r>
              <a:rPr lang="en-US" sz="1400">
                <a:solidFill>
                  <a:srgbClr val="1F2328"/>
                </a:solidFill>
                <a:latin typeface="Consolas"/>
                <a:ea typeface="Consolas"/>
                <a:cs typeface="Consolas"/>
                <a:sym typeface="Consolas"/>
              </a:rPr>
              <a:t>    admission_id </a:t>
            </a:r>
            <a:r>
              <a:rPr b="1" lang="en-US" sz="1400">
                <a:solidFill>
                  <a:srgbClr val="0B6E4F"/>
                </a:solidFill>
                <a:latin typeface="Consolas"/>
                <a:ea typeface="Consolas"/>
                <a:cs typeface="Consolas"/>
                <a:sym typeface="Consolas"/>
              </a:rPr>
              <a:t>some</a:t>
            </a:r>
            <a:r>
              <a:rPr lang="en-US" sz="1400">
                <a:solidFill>
                  <a:srgbClr val="1F2328"/>
                </a:solidFill>
                <a:latin typeface="Consolas"/>
                <a:ea typeface="Consolas"/>
                <a:cs typeface="Consolas"/>
                <a:sym typeface="Consolas"/>
              </a:rPr>
              <a:t> </a:t>
            </a:r>
            <a:r>
              <a:rPr lang="en-US" sz="1400">
                <a:solidFill>
                  <a:srgbClr val="6F42C1"/>
                </a:solidFill>
                <a:latin typeface="Consolas"/>
                <a:ea typeface="Consolas"/>
                <a:cs typeface="Consolas"/>
                <a:sym typeface="Consolas"/>
              </a:rPr>
              <a:t>xsd:integer</a:t>
            </a:r>
            <a:r>
              <a:rPr lang="en-US" sz="1400">
                <a:solidFill>
                  <a:srgbClr val="1F2328"/>
                </a:solidFill>
                <a:latin typeface="Consolas"/>
                <a:ea typeface="Consolas"/>
                <a:cs typeface="Consolas"/>
                <a:sym typeface="Consolas"/>
              </a:rPr>
              <a:t>,</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patient_id </a:t>
            </a:r>
            <a:r>
              <a:rPr b="1" i="0" lang="en-US" sz="1400" u="none" cap="none" strike="noStrike">
                <a:solidFill>
                  <a:srgbClr val="0B6E4F"/>
                </a:solidFill>
                <a:latin typeface="Consolas"/>
                <a:ea typeface="Consolas"/>
                <a:cs typeface="Consolas"/>
                <a:sym typeface="Consolas"/>
              </a:rPr>
              <a:t>some</a:t>
            </a:r>
            <a:r>
              <a:rPr b="0" i="0" lang="en-US" sz="1400" u="none" cap="none" strike="noStrike">
                <a:solidFill>
                  <a:srgbClr val="1F2328"/>
                </a:solidFill>
                <a:latin typeface="Consolas"/>
                <a:ea typeface="Consolas"/>
                <a:cs typeface="Consolas"/>
                <a:sym typeface="Consolas"/>
              </a:rPr>
              <a:t> PatientData,</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BM_DEP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r>
              <a:rPr b="0" i="0" lang="en-US" sz="1400" u="none" cap="none" strike="noStrike">
                <a:solidFill>
                  <a:srgbClr val="1F2328"/>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0" i="0" lang="en-US" sz="1400" u="none" cap="none" strike="noStrike">
                <a:solidFill>
                  <a:srgbClr val="1F2328"/>
                </a:solidFill>
                <a:latin typeface="Consolas"/>
                <a:ea typeface="Consolas"/>
                <a:cs typeface="Consolas"/>
                <a:sym typeface="Consolas"/>
              </a:rPr>
              <a:t>    ecog_stage </a:t>
            </a:r>
            <a:r>
              <a:rPr b="1" i="0" lang="en-US" sz="1400" u="none" cap="none" strike="noStrike">
                <a:solidFill>
                  <a:srgbClr val="0B6E4F"/>
                </a:solidFill>
                <a:latin typeface="Consolas"/>
                <a:ea typeface="Consolas"/>
                <a:cs typeface="Consolas"/>
                <a:sym typeface="Consolas"/>
              </a:rPr>
              <a:t>only</a:t>
            </a:r>
            <a:r>
              <a:rPr b="0" i="0" lang="en-US" sz="1400" u="none" cap="none" strike="noStrike">
                <a:solidFill>
                  <a:srgbClr val="1F2328"/>
                </a:solidFill>
                <a:latin typeface="Consolas"/>
                <a:ea typeface="Consolas"/>
                <a:cs typeface="Consolas"/>
                <a:sym typeface="Consolas"/>
              </a:rPr>
              <a:t> </a:t>
            </a:r>
            <a:r>
              <a:rPr b="0" i="0" lang="en-US" sz="1400" u="none" cap="none" strike="noStrike">
                <a:solidFill>
                  <a:srgbClr val="6F42C1"/>
                </a:solidFill>
                <a:latin typeface="Consolas"/>
                <a:ea typeface="Consolas"/>
                <a:cs typeface="Consolas"/>
                <a:sym typeface="Consolas"/>
              </a:rPr>
              <a:t>xsd:integer</a:t>
            </a:r>
            <a:endParaRPr b="0" i="0" sz="1400" u="none" cap="none" strike="noStrike">
              <a:solidFill>
                <a:srgbClr val="000000"/>
              </a:solidFill>
              <a:latin typeface="Arial"/>
              <a:ea typeface="Arial"/>
              <a:cs typeface="Arial"/>
              <a:sym typeface="Arial"/>
            </a:endParaRPr>
          </a:p>
          <a:p>
            <a:pPr indent="0" lvl="0" marL="0" rtl="0" algn="l">
              <a:lnSpc>
                <a:spcPct val="114285"/>
              </a:lnSpc>
              <a:spcBef>
                <a:spcPts val="0"/>
              </a:spcBef>
              <a:spcAft>
                <a:spcPts val="0"/>
              </a:spcAft>
              <a:buNone/>
            </a:pPr>
            <a:r>
              <a:rPr b="1" lang="en-US" sz="1400">
                <a:solidFill>
                  <a:srgbClr val="0B6E4F"/>
                </a:solidFill>
                <a:latin typeface="Consolas"/>
                <a:ea typeface="Consolas"/>
                <a:cs typeface="Consolas"/>
                <a:sym typeface="Consolas"/>
              </a:rPr>
              <a:t>DataProperty:</a:t>
            </a:r>
            <a:r>
              <a:rPr lang="en-US" sz="1400">
                <a:solidFill>
                  <a:srgbClr val="1F2328"/>
                </a:solidFill>
                <a:latin typeface="Consolas"/>
                <a:ea typeface="Consolas"/>
                <a:cs typeface="Consolas"/>
                <a:sym typeface="Consolas"/>
              </a:rPr>
              <a:t> admission_id</a:t>
            </a:r>
            <a:endParaRPr b="1">
              <a:solidFill>
                <a:srgbClr val="0B6E4F"/>
              </a:solidFill>
              <a:latin typeface="Consolas"/>
              <a:ea typeface="Consolas"/>
              <a:cs typeface="Consolas"/>
              <a:sym typeface="Consolas"/>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ObjectProperty:</a:t>
            </a:r>
            <a:r>
              <a:rPr b="0" i="0" lang="en-US" sz="1400" u="none" cap="none" strike="noStrike">
                <a:solidFill>
                  <a:srgbClr val="1F2328"/>
                </a:solidFill>
                <a:latin typeface="Consolas"/>
                <a:ea typeface="Consolas"/>
                <a:cs typeface="Consolas"/>
                <a:sym typeface="Consolas"/>
              </a:rPr>
              <a:t> patient_id</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BM_DEP</a:t>
            </a:r>
            <a:endParaRPr b="0" i="0" sz="1400" u="none" cap="none" strike="noStrike">
              <a:solidFill>
                <a:srgbClr val="000000"/>
              </a:solidFill>
              <a:latin typeface="Arial"/>
              <a:ea typeface="Arial"/>
              <a:cs typeface="Arial"/>
              <a:sym typeface="Arial"/>
            </a:endParaRPr>
          </a:p>
          <a:p>
            <a:pPr indent="0" lvl="0" marL="0" marR="0" rtl="0" algn="l">
              <a:lnSpc>
                <a:spcPct val="114285"/>
              </a:lnSpc>
              <a:spcBef>
                <a:spcPts val="0"/>
              </a:spcBef>
              <a:spcAft>
                <a:spcPts val="0"/>
              </a:spcAft>
              <a:buNone/>
            </a:pPr>
            <a:r>
              <a:rPr b="1" i="0" lang="en-US" sz="1400" u="none" cap="none" strike="noStrike">
                <a:solidFill>
                  <a:srgbClr val="0B6E4F"/>
                </a:solidFill>
                <a:latin typeface="Consolas"/>
                <a:ea typeface="Consolas"/>
                <a:cs typeface="Consolas"/>
                <a:sym typeface="Consolas"/>
              </a:rPr>
              <a:t>DataProperty:</a:t>
            </a:r>
            <a:r>
              <a:rPr b="0" i="0" lang="en-US" sz="1400" u="none" cap="none" strike="noStrike">
                <a:solidFill>
                  <a:srgbClr val="1F2328"/>
                </a:solidFill>
                <a:latin typeface="Consolas"/>
                <a:ea typeface="Consolas"/>
                <a:cs typeface="Consolas"/>
                <a:sym typeface="Consolas"/>
              </a:rPr>
              <a:t> ecog_stage</a:t>
            </a:r>
            <a:endParaRPr b="0" i="0" sz="1400" u="none" cap="none" strike="noStrike">
              <a:solidFill>
                <a:srgbClr val="000000"/>
              </a:solidFill>
              <a:latin typeface="Arial"/>
              <a:ea typeface="Arial"/>
              <a:cs typeface="Arial"/>
              <a:sym typeface="Arial"/>
            </a:endParaRPr>
          </a:p>
        </p:txBody>
      </p:sp>
      <p:sp>
        <p:nvSpPr>
          <p:cNvPr id="552" name="Google Shape;552;p7"/>
          <p:cNvSpPr/>
          <p:nvPr/>
        </p:nvSpPr>
        <p:spPr>
          <a:xfrm>
            <a:off x="1005800" y="2608194"/>
            <a:ext cx="2696700" cy="179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7"/>
          <p:cNvSpPr txBox="1"/>
          <p:nvPr/>
        </p:nvSpPr>
        <p:spPr>
          <a:xfrm>
            <a:off x="1170381" y="2645475"/>
            <a:ext cx="2331600" cy="323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cxnSp>
        <p:nvCxnSpPr>
          <p:cNvPr id="554" name="Google Shape;554;p7"/>
          <p:cNvCxnSpPr/>
          <p:nvPr/>
        </p:nvCxnSpPr>
        <p:spPr>
          <a:xfrm>
            <a:off x="1170381" y="3066099"/>
            <a:ext cx="2313300" cy="0"/>
          </a:xfrm>
          <a:prstGeom prst="straightConnector1">
            <a:avLst/>
          </a:prstGeom>
          <a:noFill/>
          <a:ln cap="flat" cmpd="sng" w="19050">
            <a:solidFill>
              <a:srgbClr val="8E989E"/>
            </a:solidFill>
            <a:prstDash val="solid"/>
            <a:miter lim="80"/>
            <a:headEnd len="sm" w="sm" type="none"/>
            <a:tailEnd len="sm" w="sm" type="none"/>
          </a:ln>
        </p:spPr>
      </p:cxnSp>
      <p:sp>
        <p:nvSpPr>
          <p:cNvPr id="555" name="Google Shape;555;p7"/>
          <p:cNvSpPr/>
          <p:nvPr/>
        </p:nvSpPr>
        <p:spPr>
          <a:xfrm>
            <a:off x="1170381" y="3194115"/>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patient_id</a:t>
            </a:r>
            <a:endParaRPr/>
          </a:p>
        </p:txBody>
      </p:sp>
      <p:sp>
        <p:nvSpPr>
          <p:cNvPr id="556" name="Google Shape;556;p7"/>
          <p:cNvSpPr/>
          <p:nvPr/>
        </p:nvSpPr>
        <p:spPr>
          <a:xfrm>
            <a:off x="1769877" y="3242803"/>
            <a:ext cx="1861800" cy="475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FK → PatientData</a:t>
            </a:r>
            <a:endParaRPr b="0" i="0" sz="1400" u="none" cap="none" strike="noStrike">
              <a:solidFill>
                <a:srgbClr val="5B6770"/>
              </a:solidFill>
              <a:latin typeface="Calibri"/>
              <a:ea typeface="Calibri"/>
              <a:cs typeface="Calibri"/>
              <a:sym typeface="Calibri"/>
            </a:endParaRPr>
          </a:p>
          <a:p>
            <a:pPr indent="0" lvl="0" marL="0" marR="0" rtl="0" algn="r">
              <a:lnSpc>
                <a:spcPct val="100000"/>
              </a:lnSpc>
              <a:spcBef>
                <a:spcPts val="0"/>
              </a:spcBef>
              <a:spcAft>
                <a:spcPts val="0"/>
              </a:spcAft>
              <a:buNone/>
            </a:pPr>
            <a:r>
              <a:t/>
            </a:r>
            <a:endParaRPr>
              <a:solidFill>
                <a:srgbClr val="5B6770"/>
              </a:solidFill>
              <a:latin typeface="Calibri"/>
              <a:ea typeface="Calibri"/>
              <a:cs typeface="Calibri"/>
              <a:sym typeface="Calibri"/>
            </a:endParaRPr>
          </a:p>
        </p:txBody>
      </p:sp>
      <p:sp>
        <p:nvSpPr>
          <p:cNvPr id="557" name="Google Shape;557;p7"/>
          <p:cNvSpPr/>
          <p:nvPr/>
        </p:nvSpPr>
        <p:spPr>
          <a:xfrm>
            <a:off x="1170381" y="3541587"/>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BM_DEP</a:t>
            </a:r>
            <a:endParaRPr/>
          </a:p>
        </p:txBody>
      </p:sp>
      <p:sp>
        <p:nvSpPr>
          <p:cNvPr id="558" name="Google Shape;558;p7"/>
          <p:cNvSpPr/>
          <p:nvPr/>
        </p:nvSpPr>
        <p:spPr>
          <a:xfrm>
            <a:off x="2734005" y="3541587"/>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559" name="Google Shape;559;p7"/>
          <p:cNvSpPr/>
          <p:nvPr/>
        </p:nvSpPr>
        <p:spPr>
          <a:xfrm>
            <a:off x="1170381" y="3889059"/>
            <a:ext cx="1600200" cy="292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500" u="none" cap="none" strike="noStrike">
                <a:solidFill>
                  <a:srgbClr val="0B6E4F"/>
                </a:solidFill>
                <a:latin typeface="Calibri"/>
                <a:ea typeface="Calibri"/>
                <a:cs typeface="Calibri"/>
                <a:sym typeface="Calibri"/>
              </a:rPr>
              <a:t>ecog_stage</a:t>
            </a:r>
            <a:endParaRPr/>
          </a:p>
        </p:txBody>
      </p:sp>
      <p:sp>
        <p:nvSpPr>
          <p:cNvPr id="560" name="Google Shape;560;p7"/>
          <p:cNvSpPr/>
          <p:nvPr/>
        </p:nvSpPr>
        <p:spPr>
          <a:xfrm>
            <a:off x="2734005" y="3889059"/>
            <a:ext cx="749700" cy="2925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0" i="0" lang="en-US" sz="1400" u="none" cap="none" strike="noStrike">
                <a:solidFill>
                  <a:srgbClr val="5B6770"/>
                </a:solidFill>
                <a:latin typeface="Calibri"/>
                <a:ea typeface="Calibri"/>
                <a:cs typeface="Calibri"/>
                <a:sym typeface="Calibri"/>
              </a:rPr>
              <a:t>INT</a:t>
            </a:r>
            <a:endParaRPr/>
          </a:p>
        </p:txBody>
      </p:sp>
      <p:sp>
        <p:nvSpPr>
          <p:cNvPr id="561" name="Gloss 561"/>
          <p:cNvSpPr txBox="1"/>
          <p:nvPr/>
        </p:nvSpPr>
        <p:spPr>
          <a:xfrm>
            <a:off x="8787255" y="3111965"/>
            <a:ext cx="2103120" cy="243838"/>
          </a:xfrm>
          <a:prstGeom prst="rect">
            <a:avLst/>
          </a:prstGeom>
          <a:noFill/>
        </p:spPr>
        <p:txBody>
          <a:bodyPr wrap="none" lIns="0" tIns="0" rIns="0" bIns="0" anchor="ctr">
            <a:noAutofit/>
          </a:bodyPr>
          <a:lstStyle/>
          <a:p>
            <a:pPr algn="r"/>
            <a:r>
              <a:rPr b="0" i="1" lang="en-US" sz="1200" u="none" cap="none" strike="noStrike">
                <a:solidFill>
                  <a:srgbClr val="5B6770"/>
                </a:solidFill>
                <a:latin typeface="Calibri"/>
                <a:ea typeface="Calibri"/>
                <a:cs typeface="Calibri"/>
                <a:sym typeface="Calibri"/>
              </a:rPr>
              <a:t>← each has a patient</a:t>
            </a:r>
          </a:p>
        </p:txBody>
      </p:sp>
      <p:sp>
        <p:nvSpPr>
          <p:cNvPr id="562" name="Gloss 562"/>
          <p:cNvSpPr txBox="1"/>
          <p:nvPr/>
        </p:nvSpPr>
        <p:spPr>
          <a:xfrm>
            <a:off x="8787255" y="3355804"/>
            <a:ext cx="2103120" cy="243838"/>
          </a:xfrm>
          <a:prstGeom prst="rect">
            <a:avLst/>
          </a:prstGeom>
          <a:noFill/>
        </p:spPr>
        <p:txBody>
          <a:bodyPr wrap="none" lIns="0" tIns="0" rIns="0" bIns="0" anchor="ctr">
            <a:noAutofit/>
          </a:bodyPr>
          <a:lstStyle/>
          <a:p>
            <a:pPr algn="r"/>
            <a:r>
              <a:rPr b="0" i="1" lang="en-US" sz="1200" u="none" cap="none" strike="noStrike">
                <a:solidFill>
                  <a:srgbClr val="5B6770"/>
                </a:solidFill>
                <a:latin typeface="Calibri"/>
                <a:ea typeface="Calibri"/>
                <a:cs typeface="Calibri"/>
                <a:sym typeface="Calibri"/>
              </a:rPr>
              <a:t>← if present, an integer</a:t>
            </a:r>
          </a:p>
        </p:txBody>
      </p:sp>
      <p:sp>
        <p:nvSpPr>
          <p:cNvPr id="563" name="Gloss 563"/>
          <p:cNvSpPr txBox="1"/>
          <p:nvPr/>
        </p:nvSpPr>
        <p:spPr>
          <a:xfrm>
            <a:off x="8787255" y="4087319"/>
            <a:ext cx="2103120" cy="243838"/>
          </a:xfrm>
          <a:prstGeom prst="rect">
            <a:avLst/>
          </a:prstGeom>
          <a:noFill/>
        </p:spPr>
        <p:txBody>
          <a:bodyPr wrap="none" lIns="0" tIns="0" rIns="0" bIns="0" anchor="ctr">
            <a:noAutofit/>
          </a:bodyPr>
          <a:lstStyle/>
          <a:p>
            <a:pPr algn="r"/>
            <a:r>
              <a:rPr b="0" i="1" lang="en-US" sz="1200" u="none" cap="none" strike="noStrike">
                <a:solidFill>
                  <a:srgbClr val="5B6770"/>
                </a:solidFill>
                <a:latin typeface="Calibri"/>
                <a:ea typeface="Calibri"/>
                <a:cs typeface="Calibri"/>
                <a:sym typeface="Calibri"/>
              </a:rPr>
              <a:t>← the FK becomes a link</a:t>
            </a:r>
          </a:p>
        </p:txBody>
      </p:sp>
      <p:sp>
        <p:nvSpPr>
          <p:cNvPr id="564" name="Slide number 564"/>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7</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5" name="Shape 565"/>
        <p:cNvGrpSpPr/>
        <p:nvPr/>
      </p:nvGrpSpPr>
      <p:grpSpPr>
        <a:xfrm>
          <a:off x="0" y="0"/>
          <a:ext cx="0" cy="0"/>
          <a:chOff x="0" y="0"/>
          <a:chExt cx="0" cy="0"/>
        </a:xfrm>
      </p:grpSpPr>
      <p:sp>
        <p:nvSpPr>
          <p:cNvPr id="566" name="Google Shape;566;h2627160d5792b11b_0_50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67" name="Google Shape;567;h2627160d5792b11b_0_50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68" name="Google Shape;568;h2627160d5792b11b_0_504"/>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69" name="Google Shape;569;h2627160d5792b11b_0_504"/>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0" name="Google Shape;570;h2627160d5792b11b_0_504"/>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1" name="Google Shape;571;h2627160d5792b11b_0_504"/>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572" name="Google Shape;572;h2627160d5792b11b_0_504"/>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573" name="Google Shape;573;h2627160d5792b11b_0_504"/>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h2627160d5792b11b_0_504"/>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575" name="Google Shape;575;h2627160d5792b11b_0_504"/>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576" name="Google Shape;576;h2627160d5792b11b_0_50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h2627160d5792b11b_0_50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578" name="Google Shape;578;h2627160d5792b11b_0_50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9" name="Google Shape;579;h2627160d5792b11b_0_50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580" name="Google Shape;580;h2627160d5792b11b_0_504"/>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1" name="Google Shape;581;h2627160d5792b11b_0_50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582" name="Google Shape;582;h2627160d5792b11b_0_504"/>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3" name="Google Shape;583;h2627160d5792b11b_0_50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584" name="Google Shape;584;h2627160d5792b11b_0_504"/>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5" name="Google Shape;585;h2627160d5792b11b_0_50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586" name="Google Shape;586;h2627160d5792b11b_0_50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7" name="Google Shape;587;h2627160d5792b11b_0_50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588" name="Google Shape;588;h2627160d5792b11b_0_504"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sp>
        <p:nvSpPr>
          <p:cNvPr id="589" name="Slide number 589"/>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8</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3" name="Shape 593"/>
        <p:cNvGrpSpPr/>
        <p:nvPr/>
      </p:nvGrpSpPr>
      <p:grpSpPr>
        <a:xfrm>
          <a:off x="0" y="0"/>
          <a:ext cx="0" cy="0"/>
          <a:chOff x="0" y="0"/>
          <a:chExt cx="0" cy="0"/>
        </a:xfrm>
      </p:grpSpPr>
      <p:sp>
        <p:nvSpPr>
          <p:cNvPr id="594" name="Google Shape;594;h2627160d5792b11b_0_55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595" name="Google Shape;595;h2627160d5792b11b_0_55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596" name="Google Shape;596;h2627160d5792b11b_0_55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597" name="Google Shape;597;h2627160d5792b11b_0_55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8" name="Google Shape;598;h2627160d5792b11b_0_55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h2627160d5792b11b_0_55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00" name="Google Shape;600;h2627160d5792b11b_0_55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01" name="Google Shape;601;h2627160d5792b11b_0_55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2" name="Google Shape;602;h2627160d5792b11b_0_55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03" name="Google Shape;603;h2627160d5792b11b_0_55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04" name="Google Shape;604;h2627160d5792b11b_0_55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5" name="Google Shape;605;h2627160d5792b11b_0_55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6" name="Google Shape;606;h2627160d5792b11b_0_55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07" name="Google Shape;607;h2627160d5792b11b_0_55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08" name="Google Shape;608;h2627160d5792b11b_0_55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h2627160d5792b11b_0_55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10" name="Google Shape;610;h2627160d5792b11b_0_55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1" name="Google Shape;611;h2627160d5792b11b_0_55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12" name="Google Shape;612;h2627160d5792b11b_0_55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3" name="Google Shape;613;h2627160d5792b11b_0_55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14" name="Google Shape;614;h2627160d5792b11b_0_55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h2627160d5792b11b_0_55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16" name="Google Shape;616;h2627160d5792b11b_0_55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7" name="Google Shape;617;h2627160d5792b11b_0_55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18" name="Google Shape;618;h2627160d5792b11b_0_55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h2627160d5792b11b_0_55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20" name="Google Shape;620;h2627160d5792b11b_0_55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1" name="Google Shape;621;h2627160d5792b11b_0_55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22" name="Google Shape;622;h2627160d5792b11b_0_55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23" name="Google Shape;623;h2627160d5792b11b_0_55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sp>
        <p:nvSpPr>
          <p:cNvPr id="624" name="Google Shape;624;h2627160d5792b11b_0_550"/>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
        <p:nvSpPr>
          <p:cNvPr id="625" name="Slide number 625"/>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8</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9" name="Shape 629"/>
        <p:cNvGrpSpPr/>
        <p:nvPr/>
      </p:nvGrpSpPr>
      <p:grpSpPr>
        <a:xfrm>
          <a:off x="0" y="0"/>
          <a:ext cx="0" cy="0"/>
          <a:chOff x="0" y="0"/>
          <a:chExt cx="0" cy="0"/>
        </a:xfrm>
      </p:grpSpPr>
      <p:sp>
        <p:nvSpPr>
          <p:cNvPr id="630" name="Google Shape;630;h2627160d5792b11b_0_595"/>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31" name="Google Shape;631;h2627160d5792b11b_0_595"/>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32" name="Google Shape;632;h2627160d5792b11b_0_595"/>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33" name="Google Shape;633;h2627160d5792b11b_0_595"/>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h2627160d5792b11b_0_595"/>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h2627160d5792b11b_0_595"/>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36" name="Google Shape;636;h2627160d5792b11b_0_595"/>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37" name="Google Shape;637;h2627160d5792b11b_0_595"/>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8" name="Google Shape;638;h2627160d5792b11b_0_595"/>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39" name="Google Shape;639;h2627160d5792b11b_0_595"/>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40" name="Google Shape;640;h2627160d5792b11b_0_595"/>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h2627160d5792b11b_0_595"/>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h2627160d5792b11b_0_595"/>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43" name="Google Shape;643;h2627160d5792b11b_0_595"/>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44" name="Google Shape;644;h2627160d5792b11b_0_595"/>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5" name="Google Shape;645;h2627160d5792b11b_0_595"/>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46" name="Google Shape;646;h2627160d5792b11b_0_595"/>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7" name="Google Shape;647;h2627160d5792b11b_0_595"/>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h2627160d5792b11b_0_595"/>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49" name="Google Shape;649;h2627160d5792b11b_0_595"/>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50" name="Google Shape;650;h2627160d5792b11b_0_595"/>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1" name="Google Shape;651;h2627160d5792b11b_0_595"/>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52" name="Google Shape;652;h2627160d5792b11b_0_595"/>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53" name="Google Shape;653;h2627160d5792b11b_0_59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4" name="Google Shape;654;h2627160d5792b11b_0_59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655" name="Google Shape;655;h2627160d5792b11b_0_59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h2627160d5792b11b_0_59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657" name="Google Shape;657;h2627160d5792b11b_0_595"/>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h2627160d5792b11b_0_59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659" name="Google Shape;659;h2627160d5792b11b_0_595"/>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0" name="Google Shape;660;h2627160d5792b11b_0_59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661" name="Google Shape;661;h2627160d5792b11b_0_59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2" name="Google Shape;662;h2627160d5792b11b_0_59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663" name="Google Shape;663;h2627160d5792b11b_0_59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h2627160d5792b11b_0_59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665" name="Google Shape;665;h2627160d5792b11b_0_595"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666" name="Google Shape;666;h2627160d5792b11b_0_595"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667" name="Google Shape;667;h2627160d5792b11b_0_595"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
        <p:nvSpPr>
          <p:cNvPr id="668" name="Google Shape;668;h2627160d5792b11b_0_595"/>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
        <p:nvSpPr>
          <p:cNvPr id="669" name="Slide number 669"/>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8</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3" name="Shape 673"/>
        <p:cNvGrpSpPr/>
        <p:nvPr/>
      </p:nvGrpSpPr>
      <p:grpSpPr>
        <a:xfrm>
          <a:off x="0" y="0"/>
          <a:ext cx="0" cy="0"/>
          <a:chOff x="0" y="0"/>
          <a:chExt cx="0" cy="0"/>
        </a:xfrm>
      </p:grpSpPr>
      <p:sp>
        <p:nvSpPr>
          <p:cNvPr id="674" name="Google Shape;674;h2627160d5792b11b_0_640"/>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3 / RETRIEVE</a:t>
            </a:r>
            <a:endParaRPr b="0" i="0" sz="1400" u="none" cap="none" strike="noStrike">
              <a:solidFill>
                <a:srgbClr val="000000"/>
              </a:solidFill>
              <a:latin typeface="Arial"/>
              <a:ea typeface="Arial"/>
              <a:cs typeface="Arial"/>
              <a:sym typeface="Arial"/>
            </a:endParaRPr>
          </a:p>
        </p:txBody>
      </p:sp>
      <p:sp>
        <p:nvSpPr>
          <p:cNvPr id="675" name="Google Shape;675;h2627160d5792b11b_0_640"/>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draft is structurally faithful. But what does it mean?</a:t>
            </a:r>
            <a:endParaRPr b="0" i="0" sz="1400" u="none" cap="none" strike="noStrike">
              <a:solidFill>
                <a:srgbClr val="000000"/>
              </a:solidFill>
              <a:latin typeface="Arial"/>
              <a:ea typeface="Arial"/>
              <a:cs typeface="Arial"/>
              <a:sym typeface="Arial"/>
            </a:endParaRPr>
          </a:p>
        </p:txBody>
      </p:sp>
      <p:sp>
        <p:nvSpPr>
          <p:cNvPr id="676" name="Google Shape;676;h2627160d5792b11b_0_640"/>
          <p:cNvSpPr txBox="1"/>
          <p:nvPr/>
        </p:nvSpPr>
        <p:spPr>
          <a:xfrm>
            <a:off x="795528" y="1397241"/>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5B6770"/>
                </a:solidFill>
                <a:latin typeface="Calibri"/>
                <a:ea typeface="Calibri"/>
                <a:cs typeface="Calibri"/>
                <a:sym typeface="Calibri"/>
              </a:rPr>
              <a:t>RIGOR gathers a </a:t>
            </a:r>
            <a:r>
              <a:rPr b="1" i="0" lang="en-US" sz="1600" u="none" cap="none" strike="noStrike">
                <a:solidFill>
                  <a:srgbClr val="5B6770"/>
                </a:solidFill>
                <a:latin typeface="Calibri"/>
                <a:ea typeface="Calibri"/>
                <a:cs typeface="Calibri"/>
                <a:sym typeface="Calibri"/>
              </a:rPr>
              <a:t>context</a:t>
            </a:r>
            <a:r>
              <a:rPr b="0" i="0" lang="en-US" sz="1600" u="none" cap="none" strike="noStrike">
                <a:solidFill>
                  <a:srgbClr val="5B6770"/>
                </a:solidFill>
                <a:latin typeface="Calibri"/>
                <a:ea typeface="Calibri"/>
                <a:cs typeface="Calibri"/>
                <a:sym typeface="Calibri"/>
              </a:rPr>
              <a:t> package from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complementary </a:t>
            </a:r>
            <a:r>
              <a:rPr b="1" i="0" lang="en-US" sz="1600" u="none" cap="none" strike="noStrike">
                <a:solidFill>
                  <a:srgbClr val="5B6770"/>
                </a:solidFill>
                <a:latin typeface="Calibri"/>
                <a:ea typeface="Calibri"/>
                <a:cs typeface="Calibri"/>
                <a:sym typeface="Calibri"/>
              </a:rPr>
              <a:t>sources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677" name="Google Shape;677;h2627160d5792b11b_0_640"/>
          <p:cNvSpPr/>
          <p:nvPr/>
        </p:nvSpPr>
        <p:spPr>
          <a:xfrm>
            <a:off x="822960" y="1796560"/>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8" name="Google Shape;678;h2627160d5792b11b_0_640"/>
          <p:cNvSpPr/>
          <p:nvPr/>
        </p:nvSpPr>
        <p:spPr>
          <a:xfrm>
            <a:off x="822960" y="1796560"/>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h2627160d5792b11b_0_640"/>
          <p:cNvSpPr txBox="1"/>
          <p:nvPr/>
        </p:nvSpPr>
        <p:spPr>
          <a:xfrm>
            <a:off x="1005840" y="223075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1  DOCUMENTATION</a:t>
            </a:r>
            <a:endParaRPr b="0" i="0" sz="1400" u="none" cap="none" strike="noStrike">
              <a:solidFill>
                <a:srgbClr val="000000"/>
              </a:solidFill>
              <a:latin typeface="Arial"/>
              <a:ea typeface="Arial"/>
              <a:cs typeface="Arial"/>
              <a:sym typeface="Arial"/>
            </a:endParaRPr>
          </a:p>
        </p:txBody>
      </p:sp>
      <p:sp>
        <p:nvSpPr>
          <p:cNvPr id="680" name="Google Shape;680;h2627160d5792b11b_0_640"/>
          <p:cNvSpPr txBox="1"/>
          <p:nvPr/>
        </p:nvSpPr>
        <p:spPr>
          <a:xfrm>
            <a:off x="1005840" y="2830775"/>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do column names mean?</a:t>
            </a:r>
            <a:endParaRPr b="0" i="0" sz="1400" u="none" cap="none" strike="noStrike">
              <a:solidFill>
                <a:srgbClr val="000000"/>
              </a:solidFill>
              <a:latin typeface="Arial"/>
              <a:ea typeface="Arial"/>
              <a:cs typeface="Arial"/>
              <a:sym typeface="Arial"/>
            </a:endParaRPr>
          </a:p>
        </p:txBody>
      </p:sp>
      <p:sp>
        <p:nvSpPr>
          <p:cNvPr id="681" name="Google Shape;681;h2627160d5792b11b_0_640"/>
          <p:cNvSpPr/>
          <p:nvPr/>
        </p:nvSpPr>
        <p:spPr>
          <a:xfrm>
            <a:off x="996696" y="3224627"/>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2" name="Google Shape;682;h2627160d5792b11b_0_640"/>
          <p:cNvSpPr txBox="1"/>
          <p:nvPr/>
        </p:nvSpPr>
        <p:spPr>
          <a:xfrm>
            <a:off x="1124700" y="3258737"/>
            <a:ext cx="2706600" cy="4821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1520"/>
              <a:buFont typeface="Arial"/>
              <a:buNone/>
            </a:pPr>
            <a:r>
              <a:rPr b="1" lang="en-US" sz="1520">
                <a:solidFill>
                  <a:srgbClr val="0B6E4F"/>
                </a:solidFill>
                <a:latin typeface="Consolas"/>
                <a:ea typeface="Consolas"/>
                <a:cs typeface="Consolas"/>
                <a:sym typeface="Consolas"/>
              </a:rPr>
              <a:t>BM_DEP</a:t>
            </a:r>
            <a:r>
              <a:rPr b="0" i="0" lang="en-US" sz="1520" u="none" cap="none" strike="noStrike">
                <a:solidFill>
                  <a:srgbClr val="1F2328"/>
                </a:solidFill>
                <a:latin typeface="Calibri"/>
                <a:ea typeface="Calibri"/>
                <a:cs typeface="Calibri"/>
                <a:sym typeface="Calibri"/>
              </a:rPr>
              <a:t>→ Bone Marrow</a:t>
            </a:r>
            <a:endParaRPr b="0" i="0" sz="1400" u="none" cap="none" strike="noStrike">
              <a:solidFill>
                <a:srgbClr val="000000"/>
              </a:solidFill>
              <a:latin typeface="Arial"/>
              <a:ea typeface="Arial"/>
              <a:cs typeface="Arial"/>
              <a:sym typeface="Arial"/>
            </a:endParaRPr>
          </a:p>
          <a:p>
            <a:pPr indent="0" lvl="0" marL="0" marR="0" rtl="0" algn="l">
              <a:lnSpc>
                <a:spcPct val="106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Depression</a:t>
            </a:r>
            <a:endParaRPr b="0" i="0" sz="1400" u="none" cap="none" strike="noStrike">
              <a:solidFill>
                <a:srgbClr val="000000"/>
              </a:solidFill>
              <a:latin typeface="Arial"/>
              <a:ea typeface="Arial"/>
              <a:cs typeface="Arial"/>
              <a:sym typeface="Arial"/>
            </a:endParaRPr>
          </a:p>
        </p:txBody>
      </p:sp>
      <p:sp>
        <p:nvSpPr>
          <p:cNvPr id="683" name="Google Shape;683;h2627160d5792b11b_0_640"/>
          <p:cNvSpPr txBox="1"/>
          <p:nvPr/>
        </p:nvSpPr>
        <p:spPr>
          <a:xfrm>
            <a:off x="1005840" y="3872248"/>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6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Defines cryptic names</a:t>
            </a:r>
            <a:endParaRPr b="0" i="0" sz="1400" u="none" cap="none" strike="noStrike">
              <a:solidFill>
                <a:srgbClr val="000000"/>
              </a:solidFill>
              <a:latin typeface="Arial"/>
              <a:ea typeface="Arial"/>
              <a:cs typeface="Arial"/>
              <a:sym typeface="Arial"/>
            </a:endParaRPr>
          </a:p>
        </p:txBody>
      </p:sp>
      <p:sp>
        <p:nvSpPr>
          <p:cNvPr id="684" name="Google Shape;684;h2627160d5792b11b_0_640"/>
          <p:cNvSpPr/>
          <p:nvPr/>
        </p:nvSpPr>
        <p:spPr>
          <a:xfrm>
            <a:off x="4416550" y="1796569"/>
            <a:ext cx="38241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5" name="Google Shape;685;h2627160d5792b11b_0_640"/>
          <p:cNvSpPr/>
          <p:nvPr/>
        </p:nvSpPr>
        <p:spPr>
          <a:xfrm>
            <a:off x="4416550" y="1796569"/>
            <a:ext cx="3824100" cy="639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6" name="Google Shape;686;h2627160d5792b11b_0_640"/>
          <p:cNvSpPr txBox="1"/>
          <p:nvPr/>
        </p:nvSpPr>
        <p:spPr>
          <a:xfrm>
            <a:off x="4627251" y="2230768"/>
            <a:ext cx="345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2  EXTERNAL ONTOLOGIES</a:t>
            </a:r>
            <a:endParaRPr b="0" i="0" sz="1400" u="none" cap="none" strike="noStrike">
              <a:solidFill>
                <a:srgbClr val="000000"/>
              </a:solidFill>
              <a:latin typeface="Arial"/>
              <a:ea typeface="Arial"/>
              <a:cs typeface="Arial"/>
              <a:sym typeface="Arial"/>
            </a:endParaRPr>
          </a:p>
        </p:txBody>
      </p:sp>
      <p:sp>
        <p:nvSpPr>
          <p:cNvPr id="687" name="Google Shape;687;h2627160d5792b11b_0_640"/>
          <p:cNvSpPr txBox="1"/>
          <p:nvPr/>
        </p:nvSpPr>
        <p:spPr>
          <a:xfrm>
            <a:off x="4627251" y="2830784"/>
            <a:ext cx="34449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Which domain concepts exist?</a:t>
            </a:r>
            <a:endParaRPr b="0" i="0" sz="1400" u="none" cap="none" strike="noStrike">
              <a:solidFill>
                <a:srgbClr val="000000"/>
              </a:solidFill>
              <a:latin typeface="Arial"/>
              <a:ea typeface="Arial"/>
              <a:cs typeface="Arial"/>
              <a:sym typeface="Arial"/>
            </a:endParaRPr>
          </a:p>
        </p:txBody>
      </p:sp>
      <p:sp>
        <p:nvSpPr>
          <p:cNvPr id="688" name="Google Shape;688;h2627160d5792b11b_0_640"/>
          <p:cNvSpPr/>
          <p:nvPr/>
        </p:nvSpPr>
        <p:spPr>
          <a:xfrm>
            <a:off x="4616716" y="3224636"/>
            <a:ext cx="34134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9" name="Google Shape;689;h2627160d5792b11b_0_640"/>
          <p:cNvSpPr txBox="1"/>
          <p:nvPr/>
        </p:nvSpPr>
        <p:spPr>
          <a:xfrm>
            <a:off x="4764206" y="3261212"/>
            <a:ext cx="3118200" cy="473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00" u="none" cap="none" strike="noStrike">
                <a:solidFill>
                  <a:srgbClr val="1F2328"/>
                </a:solidFill>
                <a:latin typeface="Calibri"/>
                <a:ea typeface="Calibri"/>
                <a:cs typeface="Calibri"/>
                <a:sym typeface="Calibri"/>
              </a:rPr>
              <a:t>Disease Ontology</a:t>
            </a:r>
            <a:endParaRPr b="1" i="0" sz="1500" u="none" cap="none" strike="noStrike">
              <a:solidFill>
                <a:srgbClr val="000000"/>
              </a:solidFill>
            </a:endParaRPr>
          </a:p>
          <a:p>
            <a:pPr indent="0" lvl="0" marL="0" marR="0" rtl="0" algn="l">
              <a:lnSpc>
                <a:spcPct val="105000"/>
              </a:lnSpc>
              <a:spcBef>
                <a:spcPts val="0"/>
              </a:spcBef>
              <a:spcAft>
                <a:spcPts val="0"/>
              </a:spcAft>
              <a:buClr>
                <a:srgbClr val="000000"/>
              </a:buClr>
              <a:buSzPts val="1520"/>
              <a:buFont typeface="Arial"/>
              <a:buNone/>
            </a:pPr>
            <a:r>
              <a:rPr b="1" lang="en-US" sz="1500">
                <a:solidFill>
                  <a:srgbClr val="1F2328"/>
                </a:solidFill>
                <a:latin typeface="Calibri"/>
                <a:ea typeface="Calibri"/>
                <a:cs typeface="Calibri"/>
                <a:sym typeface="Calibri"/>
              </a:rPr>
              <a:t>Cell Ontology</a:t>
            </a:r>
            <a:endParaRPr b="1" i="0" sz="1500" u="none" cap="none" strike="noStrike">
              <a:solidFill>
                <a:srgbClr val="000000"/>
              </a:solidFill>
            </a:endParaRPr>
          </a:p>
        </p:txBody>
      </p:sp>
      <p:sp>
        <p:nvSpPr>
          <p:cNvPr id="690" name="Google Shape;690;h2627160d5792b11b_0_640"/>
          <p:cNvSpPr txBox="1"/>
          <p:nvPr/>
        </p:nvSpPr>
        <p:spPr>
          <a:xfrm>
            <a:off x="4627251" y="3826537"/>
            <a:ext cx="33924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Suggests established concepts</a:t>
            </a:r>
            <a:endParaRPr b="0" i="0" sz="1400" u="none" cap="none" strike="noStrike">
              <a:solidFill>
                <a:srgbClr val="000000"/>
              </a:solidFill>
              <a:latin typeface="Arial"/>
              <a:ea typeface="Arial"/>
              <a:cs typeface="Arial"/>
              <a:sym typeface="Arial"/>
            </a:endParaRPr>
          </a:p>
        </p:txBody>
      </p:sp>
      <p:sp>
        <p:nvSpPr>
          <p:cNvPr id="691" name="Google Shape;691;h2627160d5792b11b_0_640"/>
          <p:cNvSpPr/>
          <p:nvPr/>
        </p:nvSpPr>
        <p:spPr>
          <a:xfrm>
            <a:off x="8481494" y="1799623"/>
            <a:ext cx="3319200" cy="2514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2" name="Google Shape;692;h2627160d5792b11b_0_640"/>
          <p:cNvSpPr/>
          <p:nvPr/>
        </p:nvSpPr>
        <p:spPr>
          <a:xfrm>
            <a:off x="8481494" y="1799623"/>
            <a:ext cx="3319200" cy="639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3" name="Google Shape;693;h2627160d5792b11b_0_640"/>
          <p:cNvSpPr txBox="1"/>
          <p:nvPr/>
        </p:nvSpPr>
        <p:spPr>
          <a:xfrm>
            <a:off x="8664373" y="2233822"/>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3  GROWING CORE</a:t>
            </a:r>
            <a:endParaRPr b="0" i="0" sz="1400" u="none" cap="none" strike="noStrike">
              <a:solidFill>
                <a:srgbClr val="000000"/>
              </a:solidFill>
              <a:latin typeface="Arial"/>
              <a:ea typeface="Arial"/>
              <a:cs typeface="Arial"/>
              <a:sym typeface="Arial"/>
            </a:endParaRPr>
          </a:p>
        </p:txBody>
      </p:sp>
      <p:sp>
        <p:nvSpPr>
          <p:cNvPr id="694" name="Google Shape;694;h2627160d5792b11b_0_640"/>
          <p:cNvSpPr txBox="1"/>
          <p:nvPr/>
        </p:nvSpPr>
        <p:spPr>
          <a:xfrm>
            <a:off x="8664373" y="2833838"/>
            <a:ext cx="2990100" cy="26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729"/>
              <a:buFont typeface="Arial"/>
              <a:buNone/>
            </a:pPr>
            <a:r>
              <a:rPr b="1" i="0" lang="en-US" sz="1730" u="none" cap="none" strike="noStrike">
                <a:solidFill>
                  <a:srgbClr val="1F2328"/>
                </a:solidFill>
                <a:latin typeface="Calibri"/>
                <a:ea typeface="Calibri"/>
                <a:cs typeface="Calibri"/>
                <a:sym typeface="Calibri"/>
              </a:rPr>
              <a:t>What have we already defined?</a:t>
            </a:r>
            <a:endParaRPr b="0" i="0" sz="1400" u="none" cap="none" strike="noStrike">
              <a:solidFill>
                <a:srgbClr val="000000"/>
              </a:solidFill>
              <a:latin typeface="Arial"/>
              <a:ea typeface="Arial"/>
              <a:cs typeface="Arial"/>
              <a:sym typeface="Arial"/>
            </a:endParaRPr>
          </a:p>
        </p:txBody>
      </p:sp>
      <p:sp>
        <p:nvSpPr>
          <p:cNvPr id="695" name="Google Shape;695;h2627160d5792b11b_0_640"/>
          <p:cNvSpPr/>
          <p:nvPr/>
        </p:nvSpPr>
        <p:spPr>
          <a:xfrm>
            <a:off x="8655229" y="3227690"/>
            <a:ext cx="2962800" cy="557700"/>
          </a:xfrm>
          <a:prstGeom prst="roundRect">
            <a:avLst>
              <a:gd fmla="val 10000" name="adj"/>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6" name="Google Shape;696;h2627160d5792b11b_0_640"/>
          <p:cNvSpPr txBox="1"/>
          <p:nvPr/>
        </p:nvSpPr>
        <p:spPr>
          <a:xfrm>
            <a:off x="8783246" y="3264266"/>
            <a:ext cx="2706600" cy="479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PatientData + previously</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1F2328"/>
                </a:solidFill>
                <a:latin typeface="Calibri"/>
                <a:ea typeface="Calibri"/>
                <a:cs typeface="Calibri"/>
                <a:sym typeface="Calibri"/>
              </a:rPr>
              <a:t>accepted ontology terms</a:t>
            </a:r>
            <a:endParaRPr b="0" i="0" sz="1400" u="none" cap="none" strike="noStrike">
              <a:solidFill>
                <a:srgbClr val="000000"/>
              </a:solidFill>
              <a:latin typeface="Arial"/>
              <a:ea typeface="Arial"/>
              <a:cs typeface="Arial"/>
              <a:sym typeface="Arial"/>
            </a:endParaRPr>
          </a:p>
        </p:txBody>
      </p:sp>
      <p:sp>
        <p:nvSpPr>
          <p:cNvPr id="697" name="Google Shape;697;h2627160d5792b11b_0_640"/>
          <p:cNvSpPr txBox="1"/>
          <p:nvPr/>
        </p:nvSpPr>
        <p:spPr>
          <a:xfrm>
            <a:off x="8664373" y="3829591"/>
            <a:ext cx="29445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Reuses established concepts</a:t>
            </a:r>
            <a:endParaRPr b="0" i="0" sz="1400" u="none" cap="none" strike="noStrike">
              <a:solidFill>
                <a:srgbClr val="000000"/>
              </a:solidFill>
              <a:latin typeface="Arial"/>
              <a:ea typeface="Arial"/>
              <a:cs typeface="Arial"/>
              <a:sym typeface="Arial"/>
            </a:endParaRPr>
          </a:p>
        </p:txBody>
      </p:sp>
      <p:sp>
        <p:nvSpPr>
          <p:cNvPr id="698" name="Google Shape;698;h2627160d5792b11b_0_640"/>
          <p:cNvSpPr/>
          <p:nvPr/>
        </p:nvSpPr>
        <p:spPr>
          <a:xfrm>
            <a:off x="1085653" y="4491796"/>
            <a:ext cx="10470000" cy="10281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h2627160d5792b11b_0_640"/>
          <p:cNvSpPr txBox="1"/>
          <p:nvPr/>
        </p:nvSpPr>
        <p:spPr>
          <a:xfrm>
            <a:off x="1311199" y="4649295"/>
            <a:ext cx="10076700" cy="739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i="0" lang="en-US" sz="1550" u="none" cap="none" strike="noStrike">
                <a:solidFill>
                  <a:srgbClr val="0B6E4F"/>
                </a:solidFill>
                <a:latin typeface="Calibri"/>
                <a:ea typeface="Calibri"/>
                <a:cs typeface="Calibri"/>
                <a:sym typeface="Calibri"/>
              </a:rPr>
              <a:t>ONE RETRIEVAL QUERY PER TABLE   </a:t>
            </a:r>
            <a:r>
              <a:rPr b="1" i="0" lang="en-US" sz="1550" u="none" cap="none" strike="noStrike">
                <a:solidFill>
                  <a:srgbClr val="1F2328"/>
                </a:solidFill>
                <a:latin typeface="Calibri"/>
                <a:ea typeface="Calibri"/>
                <a:cs typeface="Calibri"/>
                <a:sym typeface="Calibri"/>
              </a:rPr>
              <a:t>table</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columns</a:t>
            </a:r>
            <a:r>
              <a:rPr b="0" i="0" lang="en-US" sz="1550" u="none" cap="none" strike="noStrike">
                <a:solidFill>
                  <a:srgbClr val="1F2328"/>
                </a:solidFill>
                <a:latin typeface="Calibri"/>
                <a:ea typeface="Calibri"/>
                <a:cs typeface="Calibri"/>
                <a:sym typeface="Calibri"/>
              </a:rPr>
              <a:t> + </a:t>
            </a:r>
            <a:r>
              <a:rPr b="1" i="0" lang="en-US" sz="1550" u="none" cap="none" strike="noStrike">
                <a:solidFill>
                  <a:srgbClr val="1F2328"/>
                </a:solidFill>
                <a:latin typeface="Calibri"/>
                <a:ea typeface="Calibri"/>
                <a:cs typeface="Calibri"/>
                <a:sym typeface="Calibri"/>
              </a:rPr>
              <a:t>FK targets </a:t>
            </a:r>
            <a:r>
              <a:rPr b="0" i="0" lang="en-US" sz="1550" u="none" cap="none" strike="noStrike">
                <a:solidFill>
                  <a:srgbClr val="1F2328"/>
                </a:solidFill>
                <a:latin typeface="Calibri"/>
                <a:ea typeface="Calibri"/>
                <a:cs typeface="Calibri"/>
                <a:sym typeface="Calibri"/>
              </a:rPr>
              <a:t> →  top-</a:t>
            </a:r>
            <a:r>
              <a:rPr lang="en-US" sz="1550">
                <a:solidFill>
                  <a:srgbClr val="1F2328"/>
                </a:solidFill>
                <a:latin typeface="Calibri"/>
                <a:ea typeface="Calibri"/>
                <a:cs typeface="Calibri"/>
                <a:sym typeface="Calibri"/>
              </a:rPr>
              <a:t>K</a:t>
            </a:r>
            <a:r>
              <a:rPr b="0" i="0" lang="en-US" sz="1550" u="none" cap="none" strike="noStrike">
                <a:solidFill>
                  <a:srgbClr val="1F2328"/>
                </a:solidFill>
                <a:latin typeface="Calibri"/>
                <a:ea typeface="Calibri"/>
                <a:cs typeface="Calibri"/>
                <a:sym typeface="Calibri"/>
              </a:rPr>
              <a:t> per </a:t>
            </a:r>
            <a:r>
              <a:rPr b="1" i="0" lang="en-US" sz="1550" u="none" cap="none" strike="noStrike">
                <a:solidFill>
                  <a:srgbClr val="1F2328"/>
                </a:solidFill>
                <a:latin typeface="Calibri"/>
                <a:ea typeface="Calibri"/>
                <a:cs typeface="Calibri"/>
                <a:sym typeface="Calibri"/>
              </a:rPr>
              <a:t>source</a:t>
            </a:r>
            <a:endParaRPr b="1" i="0" sz="1550" u="none" cap="none" strike="noStrike">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t/>
            </a:r>
            <a:endParaRPr i="1" sz="1550">
              <a:solidFill>
                <a:srgbClr val="1F2328"/>
              </a:solidFill>
              <a:latin typeface="Calibri"/>
              <a:ea typeface="Calibri"/>
              <a:cs typeface="Calibri"/>
              <a:sym typeface="Calibri"/>
            </a:endParaRPr>
          </a:p>
          <a:p>
            <a:pPr indent="0" lvl="0" marL="0" marR="0" rtl="0" algn="l">
              <a:lnSpc>
                <a:spcPct val="105000"/>
              </a:lnSpc>
              <a:spcBef>
                <a:spcPts val="0"/>
              </a:spcBef>
              <a:spcAft>
                <a:spcPts val="0"/>
              </a:spcAft>
              <a:buClr>
                <a:srgbClr val="000000"/>
              </a:buClr>
              <a:buSzPts val="1550"/>
              <a:buFont typeface="Arial"/>
              <a:buNone/>
            </a:pPr>
            <a:r>
              <a:rPr i="1" lang="en-US" sz="1550">
                <a:solidFill>
                  <a:srgbClr val="1F2328"/>
                </a:solidFill>
                <a:latin typeface="Calibri"/>
                <a:ea typeface="Calibri"/>
                <a:cs typeface="Calibri"/>
                <a:sym typeface="Calibri"/>
              </a:rPr>
              <a:t>(e.g.,  </a:t>
            </a:r>
            <a:r>
              <a:rPr b="1" i="1" lang="en-US" sz="1520">
                <a:solidFill>
                  <a:srgbClr val="0B6E4F"/>
                </a:solidFill>
                <a:latin typeface="Consolas"/>
                <a:ea typeface="Consolas"/>
                <a:cs typeface="Consolas"/>
                <a:sym typeface="Consolas"/>
              </a:rPr>
              <a:t>admission → query: admission + patient_id, BM_DEP, ecog_stage + PatientData</a:t>
            </a:r>
            <a:r>
              <a:rPr i="1" lang="en-US" sz="1550">
                <a:solidFill>
                  <a:srgbClr val="1F2328"/>
                </a:solidFill>
                <a:latin typeface="Calibri"/>
                <a:ea typeface="Calibri"/>
                <a:cs typeface="Calibri"/>
                <a:sym typeface="Calibri"/>
              </a:rPr>
              <a:t>)</a:t>
            </a:r>
            <a:endParaRPr i="1" sz="1550">
              <a:solidFill>
                <a:srgbClr val="1F2328"/>
              </a:solidFill>
              <a:latin typeface="Calibri"/>
              <a:ea typeface="Calibri"/>
              <a:cs typeface="Calibri"/>
              <a:sym typeface="Calibri"/>
            </a:endParaRPr>
          </a:p>
        </p:txBody>
      </p:sp>
      <p:sp>
        <p:nvSpPr>
          <p:cNvPr id="700" name="Google Shape;700;h2627160d5792b11b_0_640"/>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1" name="Google Shape;701;h2627160d5792b11b_0_640"/>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02" name="Google Shape;702;h2627160d5792b11b_0_640"/>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h2627160d5792b11b_0_640"/>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04" name="Google Shape;704;h2627160d5792b11b_0_640"/>
          <p:cNvSpPr/>
          <p:nvPr/>
        </p:nvSpPr>
        <p:spPr>
          <a:xfrm>
            <a:off x="4480559"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h2627160d5792b11b_0_640"/>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06" name="Google Shape;706;h2627160d5792b11b_0_640"/>
          <p:cNvSpPr/>
          <p:nvPr/>
        </p:nvSpPr>
        <p:spPr>
          <a:xfrm>
            <a:off x="6318503"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h2627160d5792b11b_0_640"/>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08" name="Google Shape;708;h2627160d5792b11b_0_640"/>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h2627160d5792b11b_0_640"/>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10" name="Google Shape;710;h2627160d5792b11b_0_640"/>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1" name="Google Shape;711;h2627160d5792b11b_0_640"/>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pic>
        <p:nvPicPr>
          <p:cNvPr id="712" name="Google Shape;712;h2627160d5792b11b_0_640" title="Ontology Taxonomy Documentation Icons.png"/>
          <p:cNvPicPr preferRelativeResize="0"/>
          <p:nvPr/>
        </p:nvPicPr>
        <p:blipFill rotWithShape="1">
          <a:blip r:embed="rId3">
            <a:alphaModFix/>
          </a:blip>
          <a:srcRect b="14185" l="36225" r="31825" t="16211"/>
          <a:stretch/>
        </p:blipFill>
        <p:spPr>
          <a:xfrm>
            <a:off x="2873021" y="1879752"/>
            <a:ext cx="1086331" cy="789275"/>
          </a:xfrm>
          <a:prstGeom prst="rect">
            <a:avLst/>
          </a:prstGeom>
          <a:noFill/>
          <a:ln>
            <a:noFill/>
          </a:ln>
        </p:spPr>
      </p:pic>
      <p:pic>
        <p:nvPicPr>
          <p:cNvPr id="713" name="Google Shape;713;h2627160d5792b11b_0_640" title="Ontology Taxonomy Documentation Icons.png"/>
          <p:cNvPicPr preferRelativeResize="0"/>
          <p:nvPr/>
        </p:nvPicPr>
        <p:blipFill rotWithShape="1">
          <a:blip r:embed="rId3">
            <a:alphaModFix/>
          </a:blip>
          <a:srcRect b="14185" l="2070" r="65981" t="16211"/>
          <a:stretch/>
        </p:blipFill>
        <p:spPr>
          <a:xfrm>
            <a:off x="7073705" y="1927465"/>
            <a:ext cx="1086326" cy="789275"/>
          </a:xfrm>
          <a:prstGeom prst="rect">
            <a:avLst/>
          </a:prstGeom>
          <a:noFill/>
          <a:ln>
            <a:noFill/>
          </a:ln>
        </p:spPr>
      </p:pic>
      <p:pic>
        <p:nvPicPr>
          <p:cNvPr id="714" name="Google Shape;714;h2627160d5792b11b_0_640" title="Ontology Taxonomy Documentation Icons.png"/>
          <p:cNvPicPr preferRelativeResize="0"/>
          <p:nvPr/>
        </p:nvPicPr>
        <p:blipFill rotWithShape="1">
          <a:blip r:embed="rId3">
            <a:alphaModFix/>
          </a:blip>
          <a:srcRect b="7505" l="70326" r="314" t="10116"/>
          <a:stretch/>
        </p:blipFill>
        <p:spPr>
          <a:xfrm>
            <a:off x="10404324" y="1857240"/>
            <a:ext cx="998298" cy="934100"/>
          </a:xfrm>
          <a:prstGeom prst="rect">
            <a:avLst/>
          </a:prstGeom>
          <a:noFill/>
          <a:ln>
            <a:noFill/>
          </a:ln>
        </p:spPr>
      </p:pic>
      <p:sp>
        <p:nvSpPr>
          <p:cNvPr id="715" name="Slide number 715"/>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8</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sp>
        <p:nvSpPr>
          <p:cNvPr id="720" name="Google Shape;720;h3b1f15762288d989_1_155"/>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21" name="Google Shape;721;h3b1f15762288d989_1_155"/>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22" name="Google Shape;722;h3b1f15762288d989_1_155"/>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3" name="Google Shape;723;h3b1f15762288d989_1_155"/>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24" name="Google Shape;724;h3b1f15762288d989_1_155"/>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5" name="Google Shape;725;h3b1f15762288d989_1_155"/>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26" name="Google Shape;726;h3b1f15762288d989_1_155"/>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7" name="Google Shape;727;h3b1f15762288d989_1_155"/>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28" name="Google Shape;728;h3b1f15762288d989_1_155"/>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9" name="Google Shape;729;h3b1f15762288d989_1_155"/>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30" name="Google Shape;730;h3b1f15762288d989_1_155"/>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1" name="Google Shape;731;h3b1f15762288d989_1_155"/>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32" name="Google Shape;732;h3b1f15762288d989_1_155"/>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3" name="Google Shape;733;h3b1f15762288d989_1_155"/>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34" name="Google Shape;734;h3b1f15762288d989_1_155"/>
          <p:cNvSpPr/>
          <p:nvPr/>
        </p:nvSpPr>
        <p:spPr>
          <a:xfrm>
            <a:off x="505750" y="1847088"/>
            <a:ext cx="3241800" cy="3826764"/>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h3b1f15762288d989_1_155"/>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36" name="Google Shape;736;h3b1f15762288d989_1_155"/>
          <p:cNvSpPr/>
          <p:nvPr/>
        </p:nvSpPr>
        <p:spPr>
          <a:xfrm>
            <a:off x="4736600" y="1847088"/>
            <a:ext cx="6785100" cy="3826764"/>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h3b1f15762288d989_1_155"/>
          <p:cNvSpPr/>
          <p:nvPr/>
        </p:nvSpPr>
        <p:spPr>
          <a:xfrm>
            <a:off x="652054" y="2249424"/>
            <a:ext cx="2949300" cy="3342132"/>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h3b1f15762288d989_1_155"/>
          <p:cNvSpPr/>
          <p:nvPr/>
        </p:nvSpPr>
        <p:spPr>
          <a:xfrm>
            <a:off x="4948400" y="2249425"/>
            <a:ext cx="6326400" cy="3342131"/>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9" name="Google Shape;739;h3b1f15762288d989_1_155"/>
          <p:cNvSpPr txBox="1"/>
          <p:nvPr/>
        </p:nvSpPr>
        <p:spPr>
          <a:xfrm>
            <a:off x="652054" y="2313432"/>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740" name="Google Shape;740;h3b1f15762288d989_1_155"/>
          <p:cNvSpPr txBox="1"/>
          <p:nvPr/>
        </p:nvSpPr>
        <p:spPr>
          <a:xfrm>
            <a:off x="5038352" y="2313432"/>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741" name="Google Shape;741;h3b1f15762288d989_1_155"/>
          <p:cNvSpPr txBox="1"/>
          <p:nvPr/>
        </p:nvSpPr>
        <p:spPr>
          <a:xfrm>
            <a:off x="652054" y="2487553"/>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742" name="Google Shape;742;h3b1f15762288d989_1_155"/>
          <p:cNvSpPr txBox="1"/>
          <p:nvPr/>
        </p:nvSpPr>
        <p:spPr>
          <a:xfrm>
            <a:off x="5038352" y="2487553"/>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743" name="Google Shape;743;h3b1f15762288d989_1_155"/>
          <p:cNvSpPr txBox="1"/>
          <p:nvPr/>
        </p:nvSpPr>
        <p:spPr>
          <a:xfrm>
            <a:off x="652054" y="2661676"/>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44" name="Google Shape;744;h3b1f15762288d989_1_155"/>
          <p:cNvSpPr txBox="1"/>
          <p:nvPr/>
        </p:nvSpPr>
        <p:spPr>
          <a:xfrm>
            <a:off x="5038352" y="2661676"/>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45" name="Google Shape;745;h3b1f15762288d989_1_155"/>
          <p:cNvSpPr txBox="1"/>
          <p:nvPr/>
        </p:nvSpPr>
        <p:spPr>
          <a:xfrm>
            <a:off x="652054" y="2835798"/>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patient_id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746" name="Google Shape;746;h3b1f15762288d989_1_155"/>
          <p:cNvSpPr txBox="1"/>
          <p:nvPr/>
        </p:nvSpPr>
        <p:spPr>
          <a:xfrm>
            <a:off x="5038100" y="2830700"/>
            <a:ext cx="5093400" cy="184969"/>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lang="en-US" sz="1150">
                <a:solidFill>
                  <a:srgbClr val="1F2328"/>
                </a:solidFill>
                <a:latin typeface="Consolas"/>
                <a:ea typeface="Consolas"/>
                <a:cs typeface="Consolas"/>
                <a:sym typeface="Consolas"/>
              </a:rPr>
              <a:t>patient_id</a:t>
            </a: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747" name="Google Shape;747;h3b1f15762288d989_1_155"/>
          <p:cNvSpPr txBox="1"/>
          <p:nvPr/>
        </p:nvSpPr>
        <p:spPr>
          <a:xfrm>
            <a:off x="652054" y="3009921"/>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48" name="Google Shape;748;h3b1f15762288d989_1_155"/>
          <p:cNvSpPr txBox="1"/>
          <p:nvPr/>
        </p:nvSpPr>
        <p:spPr>
          <a:xfrm>
            <a:off x="5038352" y="3009921"/>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49" name="Google Shape;749;h3b1f15762288d989_1_155"/>
          <p:cNvSpPr txBox="1"/>
          <p:nvPr/>
        </p:nvSpPr>
        <p:spPr>
          <a:xfrm>
            <a:off x="652054" y="3184043"/>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750" name="Google Shape;750;h3b1f15762288d989_1_155"/>
          <p:cNvSpPr txBox="1"/>
          <p:nvPr/>
        </p:nvSpPr>
        <p:spPr>
          <a:xfrm>
            <a:off x="5038352" y="3184043"/>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751" name="Google Shape;751;h3b1f15762288d989_1_155"/>
          <p:cNvSpPr txBox="1"/>
          <p:nvPr/>
        </p:nvSpPr>
        <p:spPr>
          <a:xfrm>
            <a:off x="652054" y="3445420"/>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752" name="Google Shape;752;h3b1f15762288d989_1_155"/>
          <p:cNvSpPr txBox="1"/>
          <p:nvPr/>
        </p:nvSpPr>
        <p:spPr>
          <a:xfrm>
            <a:off x="5038352" y="3445420"/>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753" name="Google Shape;753;h3b1f15762288d989_1_155"/>
          <p:cNvSpPr txBox="1"/>
          <p:nvPr/>
        </p:nvSpPr>
        <p:spPr>
          <a:xfrm>
            <a:off x="652054" y="3619542"/>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patient_id</a:t>
            </a:r>
            <a:endParaRPr b="0" i="0" sz="1150" u="none" cap="none" strike="noStrike">
              <a:solidFill>
                <a:srgbClr val="000000"/>
              </a:solidFill>
              <a:latin typeface="Arial"/>
              <a:ea typeface="Arial"/>
              <a:cs typeface="Arial"/>
              <a:sym typeface="Arial"/>
            </a:endParaRPr>
          </a:p>
        </p:txBody>
      </p:sp>
      <p:sp>
        <p:nvSpPr>
          <p:cNvPr id="754" name="Google Shape;754;h3b1f15762288d989_1_155"/>
          <p:cNvSpPr txBox="1"/>
          <p:nvPr/>
        </p:nvSpPr>
        <p:spPr>
          <a:xfrm>
            <a:off x="5038349" y="3619531"/>
            <a:ext cx="3859800" cy="184969"/>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a:t>
            </a:r>
            <a:r>
              <a:rPr lang="en-US" sz="1150">
                <a:solidFill>
                  <a:srgbClr val="1F2328"/>
                </a:solidFill>
                <a:latin typeface="Consolas"/>
                <a:ea typeface="Consolas"/>
                <a:cs typeface="Consolas"/>
                <a:sym typeface="Consolas"/>
              </a:rPr>
              <a:t>patient_id</a:t>
            </a:r>
            <a:endParaRPr b="0" i="0" sz="1150" u="none" cap="none" strike="noStrike">
              <a:solidFill>
                <a:srgbClr val="000000"/>
              </a:solidFill>
              <a:latin typeface="Arial"/>
              <a:ea typeface="Arial"/>
              <a:cs typeface="Arial"/>
              <a:sym typeface="Arial"/>
            </a:endParaRPr>
          </a:p>
        </p:txBody>
      </p:sp>
      <p:sp>
        <p:nvSpPr>
          <p:cNvPr id="755" name="Google Shape;755;h3b1f15762288d989_1_155"/>
          <p:cNvSpPr txBox="1"/>
          <p:nvPr/>
        </p:nvSpPr>
        <p:spPr>
          <a:xfrm>
            <a:off x="652054" y="3793665"/>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756" name="Google Shape;756;h3b1f15762288d989_1_155"/>
          <p:cNvSpPr txBox="1"/>
          <p:nvPr/>
        </p:nvSpPr>
        <p:spPr>
          <a:xfrm>
            <a:off x="5038352" y="3793665"/>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757" name="Google Shape;757;h3b1f15762288d989_1_155"/>
          <p:cNvSpPr txBox="1"/>
          <p:nvPr/>
        </p:nvSpPr>
        <p:spPr>
          <a:xfrm>
            <a:off x="652054" y="4664277"/>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758" name="Google Shape;758;h3b1f15762288d989_1_155"/>
          <p:cNvSpPr txBox="1"/>
          <p:nvPr/>
        </p:nvSpPr>
        <p:spPr>
          <a:xfrm>
            <a:off x="5038352" y="4664277"/>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759" name="Google Shape;759;h3b1f15762288d989_1_155"/>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760" name="Slide number 760"/>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9</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4" name="Shape 764"/>
        <p:cNvGrpSpPr/>
        <p:nvPr/>
      </p:nvGrpSpPr>
      <p:grpSpPr>
        <a:xfrm>
          <a:off x="0" y="0"/>
          <a:ext cx="0" cy="0"/>
          <a:chOff x="0" y="0"/>
          <a:chExt cx="0" cy="0"/>
        </a:xfrm>
      </p:grpSpPr>
      <p:sp>
        <p:nvSpPr>
          <p:cNvPr id="765" name="Google Shape;765;h4e1cd23050cdd6e6_1_329"/>
          <p:cNvSpPr txBox="1"/>
          <p:nvPr/>
        </p:nvSpPr>
        <p:spPr>
          <a:xfrm>
            <a:off x="804672" y="448056"/>
            <a:ext cx="107169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4 / GENERATE</a:t>
            </a:r>
            <a:endParaRPr b="0" i="0" sz="1400" u="none" cap="none" strike="noStrike">
              <a:solidFill>
                <a:srgbClr val="000000"/>
              </a:solidFill>
              <a:latin typeface="Arial"/>
              <a:ea typeface="Arial"/>
              <a:cs typeface="Arial"/>
              <a:sym typeface="Arial"/>
            </a:endParaRPr>
          </a:p>
        </p:txBody>
      </p:sp>
      <p:sp>
        <p:nvSpPr>
          <p:cNvPr id="766" name="Google Shape;766;h4e1cd23050cdd6e6_1_329"/>
          <p:cNvSpPr txBox="1"/>
          <p:nvPr/>
        </p:nvSpPr>
        <p:spPr>
          <a:xfrm>
            <a:off x="804672" y="859536"/>
            <a:ext cx="107169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LLM enriches a schema-grounded draft.</a:t>
            </a:r>
            <a:endParaRPr b="0" i="0" sz="1400" u="none" cap="none" strike="noStrike">
              <a:solidFill>
                <a:srgbClr val="000000"/>
              </a:solidFill>
              <a:latin typeface="Arial"/>
              <a:ea typeface="Arial"/>
              <a:cs typeface="Arial"/>
              <a:sym typeface="Arial"/>
            </a:endParaRPr>
          </a:p>
        </p:txBody>
      </p:sp>
      <p:sp>
        <p:nvSpPr>
          <p:cNvPr id="767" name="Google Shape;767;h4e1cd23050cdd6e6_1_32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8" name="Google Shape;768;h4e1cd23050cdd6e6_1_32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769" name="Google Shape;769;h4e1cd23050cdd6e6_1_32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0" name="Google Shape;770;h4e1cd23050cdd6e6_1_32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771" name="Google Shape;771;h4e1cd23050cdd6e6_1_32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2" name="Google Shape;772;h4e1cd23050cdd6e6_1_32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773" name="Google Shape;773;h4e1cd23050cdd6e6_1_329"/>
          <p:cNvSpPr/>
          <p:nvPr/>
        </p:nvSpPr>
        <p:spPr>
          <a:xfrm>
            <a:off x="6318503" y="5797296"/>
            <a:ext cx="1645800" cy="310800"/>
          </a:xfrm>
          <a:prstGeom prst="roundRect">
            <a:avLst>
              <a:gd fmla="val 10000" name="adj"/>
            </a:avLst>
          </a:prstGeom>
          <a:solidFill>
            <a:srgbClr val="0B6E4F"/>
          </a:solidFill>
          <a:ln cap="flat" cmpd="sng" w="127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4" name="Google Shape;774;h4e1cd23050cdd6e6_1_32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775" name="Google Shape;775;h4e1cd23050cdd6e6_1_329"/>
          <p:cNvSpPr/>
          <p:nvPr/>
        </p:nvSpPr>
        <p:spPr>
          <a:xfrm>
            <a:off x="8156448"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6" name="Google Shape;776;h4e1cd23050cdd6e6_1_32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777" name="Google Shape;777;h4e1cd23050cdd6e6_1_32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8" name="Google Shape;778;h4e1cd23050cdd6e6_1_32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779" name="Google Shape;779;h4e1cd23050cdd6e6_1_329"/>
          <p:cNvSpPr/>
          <p:nvPr/>
        </p:nvSpPr>
        <p:spPr>
          <a:xfrm>
            <a:off x="505750" y="1847088"/>
            <a:ext cx="3241800" cy="3826764"/>
          </a:xfrm>
          <a:prstGeom prst="roundRect">
            <a:avLst>
              <a:gd fmla="val 9800" name="adj"/>
            </a:avLst>
          </a:prstGeom>
          <a:solidFill>
            <a:srgbClr val="FFFFFF"/>
          </a:solidFill>
          <a:ln cap="flat" cmpd="sng" w="1395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h4e1cd23050cdd6e6_1_329"/>
          <p:cNvSpPr txBox="1"/>
          <p:nvPr/>
        </p:nvSpPr>
        <p:spPr>
          <a:xfrm>
            <a:off x="716065" y="1965960"/>
            <a:ext cx="28761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A434C"/>
                </a:solidFill>
                <a:latin typeface="Consolas"/>
                <a:ea typeface="Consolas"/>
                <a:cs typeface="Consolas"/>
                <a:sym typeface="Consolas"/>
              </a:rPr>
              <a:t>BEFORE  /  DIRECT MAPPING</a:t>
            </a:r>
            <a:endParaRPr b="0" i="0" sz="1400" u="none" cap="none" strike="noStrike">
              <a:solidFill>
                <a:srgbClr val="000000"/>
              </a:solidFill>
              <a:latin typeface="Arial"/>
              <a:ea typeface="Arial"/>
              <a:cs typeface="Arial"/>
              <a:sym typeface="Arial"/>
            </a:endParaRPr>
          </a:p>
        </p:txBody>
      </p:sp>
      <p:sp>
        <p:nvSpPr>
          <p:cNvPr id="781" name="Google Shape;781;h4e1cd23050cdd6e6_1_329"/>
          <p:cNvSpPr txBox="1"/>
          <p:nvPr/>
        </p:nvSpPr>
        <p:spPr>
          <a:xfrm>
            <a:off x="3858768" y="3841575"/>
            <a:ext cx="832200" cy="197814"/>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B6E4F"/>
                </a:solidFill>
                <a:latin typeface="Consolas"/>
                <a:ea typeface="Consolas"/>
                <a:cs typeface="Consolas"/>
                <a:sym typeface="Consolas"/>
              </a:rPr>
              <a:t>Gen-LLM</a:t>
            </a:r>
            <a:endParaRPr b="0" i="0" sz="1400" u="none" cap="none" strike="noStrike">
              <a:solidFill>
                <a:srgbClr val="000000"/>
              </a:solidFill>
              <a:latin typeface="Arial"/>
              <a:ea typeface="Arial"/>
              <a:cs typeface="Arial"/>
              <a:sym typeface="Arial"/>
            </a:endParaRPr>
          </a:p>
        </p:txBody>
      </p:sp>
      <p:sp>
        <p:nvSpPr>
          <p:cNvPr id="782" name="Google Shape;782;h4e1cd23050cdd6e6_1_329"/>
          <p:cNvSpPr/>
          <p:nvPr/>
        </p:nvSpPr>
        <p:spPr>
          <a:xfrm>
            <a:off x="4736600" y="1847088"/>
            <a:ext cx="6785100" cy="3826764"/>
          </a:xfrm>
          <a:prstGeom prst="roundRect">
            <a:avLst>
              <a:gd fmla="val 7282" name="adj"/>
            </a:avLst>
          </a:prstGeom>
          <a:solidFill>
            <a:srgbClr val="F3F5F4"/>
          </a:solidFill>
          <a:ln cap="flat" cmpd="sng" w="13950">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h4e1cd23050cdd6e6_1_329"/>
          <p:cNvSpPr txBox="1"/>
          <p:nvPr/>
        </p:nvSpPr>
        <p:spPr>
          <a:xfrm>
            <a:off x="5079717" y="1965960"/>
            <a:ext cx="60168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50"/>
              <a:buFont typeface="Arial"/>
              <a:buNone/>
            </a:pPr>
            <a:r>
              <a:rPr b="1" i="0" lang="en-US" sz="1450" u="none" cap="none" strike="noStrike">
                <a:solidFill>
                  <a:srgbClr val="2F6B78"/>
                </a:solidFill>
                <a:latin typeface="Consolas"/>
                <a:ea typeface="Consolas"/>
                <a:cs typeface="Consolas"/>
                <a:sym typeface="Consolas"/>
              </a:rPr>
              <a:t>AFTER  /  ENRICHED ΔOᵣ (delta ontology)</a:t>
            </a:r>
            <a:endParaRPr b="0" i="0" sz="1400" u="none" cap="none" strike="noStrike">
              <a:solidFill>
                <a:srgbClr val="000000"/>
              </a:solidFill>
              <a:latin typeface="Arial"/>
              <a:ea typeface="Arial"/>
              <a:cs typeface="Arial"/>
              <a:sym typeface="Arial"/>
            </a:endParaRPr>
          </a:p>
        </p:txBody>
      </p:sp>
      <p:sp>
        <p:nvSpPr>
          <p:cNvPr id="784" name="Google Shape;784;h4e1cd23050cdd6e6_1_329"/>
          <p:cNvSpPr/>
          <p:nvPr/>
        </p:nvSpPr>
        <p:spPr>
          <a:xfrm>
            <a:off x="4037163" y="3419856"/>
            <a:ext cx="429600" cy="384000"/>
          </a:xfrm>
          <a:prstGeom prst="rightArrow">
            <a:avLst>
              <a:gd fmla="val 50000" name="adj1"/>
              <a:gd fmla="val 50000" name="adj2"/>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5" name="Google Shape;785;h4e1cd23050cdd6e6_1_329"/>
          <p:cNvSpPr/>
          <p:nvPr/>
        </p:nvSpPr>
        <p:spPr>
          <a:xfrm>
            <a:off x="652054" y="2249424"/>
            <a:ext cx="2949300" cy="3342132"/>
          </a:xfrm>
          <a:prstGeom prst="roundRect">
            <a:avLst>
              <a:gd fmla="val 474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6" name="Google Shape;786;h4e1cd23050cdd6e6_1_329"/>
          <p:cNvSpPr/>
          <p:nvPr/>
        </p:nvSpPr>
        <p:spPr>
          <a:xfrm>
            <a:off x="4948400" y="2249425"/>
            <a:ext cx="6326400" cy="3342131"/>
          </a:xfrm>
          <a:prstGeom prst="roundRect">
            <a:avLst>
              <a:gd fmla="val 5554"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87" name="Google Shape;787;h4e1cd23050cdd6e6_1_329"/>
          <p:cNvSpPr txBox="1"/>
          <p:nvPr/>
        </p:nvSpPr>
        <p:spPr>
          <a:xfrm>
            <a:off x="652054" y="2313432"/>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788" name="Google Shape;788;h4e1cd23050cdd6e6_1_329"/>
          <p:cNvSpPr txBox="1"/>
          <p:nvPr/>
        </p:nvSpPr>
        <p:spPr>
          <a:xfrm>
            <a:off x="5038352" y="2313432"/>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Class:</a:t>
            </a:r>
            <a:r>
              <a:rPr b="0" i="0" lang="en-US" sz="1150" u="none" cap="none" strike="noStrike">
                <a:solidFill>
                  <a:srgbClr val="1F2328"/>
                </a:solidFill>
                <a:latin typeface="Consolas"/>
                <a:ea typeface="Consolas"/>
                <a:cs typeface="Consolas"/>
                <a:sym typeface="Consolas"/>
              </a:rPr>
              <a:t> Admission</a:t>
            </a:r>
            <a:endParaRPr b="0" i="0" sz="1150" u="none" cap="none" strike="noStrike">
              <a:solidFill>
                <a:srgbClr val="000000"/>
              </a:solidFill>
              <a:latin typeface="Arial"/>
              <a:ea typeface="Arial"/>
              <a:cs typeface="Arial"/>
              <a:sym typeface="Arial"/>
            </a:endParaRPr>
          </a:p>
        </p:txBody>
      </p:sp>
      <p:sp>
        <p:nvSpPr>
          <p:cNvPr id="789" name="Google Shape;789;h4e1cd23050cdd6e6_1_329"/>
          <p:cNvSpPr txBox="1"/>
          <p:nvPr/>
        </p:nvSpPr>
        <p:spPr>
          <a:xfrm>
            <a:off x="652054" y="2487553"/>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790" name="Google Shape;790;h4e1cd23050cdd6e6_1_329"/>
          <p:cNvSpPr txBox="1"/>
          <p:nvPr/>
        </p:nvSpPr>
        <p:spPr>
          <a:xfrm>
            <a:off x="5038352" y="2487553"/>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SubClassOf:</a:t>
            </a:r>
            <a:endParaRPr b="0" i="0" sz="1150" u="none" cap="none" strike="noStrike">
              <a:solidFill>
                <a:srgbClr val="000000"/>
              </a:solidFill>
              <a:latin typeface="Arial"/>
              <a:ea typeface="Arial"/>
              <a:cs typeface="Arial"/>
              <a:sym typeface="Arial"/>
            </a:endParaRPr>
          </a:p>
        </p:txBody>
      </p:sp>
      <p:sp>
        <p:nvSpPr>
          <p:cNvPr id="791" name="Google Shape;791;h4e1cd23050cdd6e6_1_329"/>
          <p:cNvSpPr txBox="1"/>
          <p:nvPr/>
        </p:nvSpPr>
        <p:spPr>
          <a:xfrm>
            <a:off x="652054" y="2661676"/>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92" name="Google Shape;792;h4e1cd23050cdd6e6_1_329"/>
          <p:cNvSpPr txBox="1"/>
          <p:nvPr/>
        </p:nvSpPr>
        <p:spPr>
          <a:xfrm>
            <a:off x="5038352" y="2661676"/>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admission_id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93" name="Google Shape;793;h4e1cd23050cdd6e6_1_329"/>
          <p:cNvSpPr txBox="1"/>
          <p:nvPr/>
        </p:nvSpPr>
        <p:spPr>
          <a:xfrm>
            <a:off x="652054" y="2835798"/>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patient_id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794" name="Google Shape;794;h4e1cd23050cdd6e6_1_329"/>
          <p:cNvSpPr/>
          <p:nvPr/>
        </p:nvSpPr>
        <p:spPr>
          <a:xfrm>
            <a:off x="5464452" y="2840692"/>
            <a:ext cx="11301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5" name="Google Shape;795;h4e1cd23050cdd6e6_1_329"/>
          <p:cNvSpPr txBox="1"/>
          <p:nvPr/>
        </p:nvSpPr>
        <p:spPr>
          <a:xfrm>
            <a:off x="5038352" y="2835798"/>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hasPatientData </a:t>
            </a:r>
            <a:r>
              <a:rPr b="1" i="0" lang="en-US" sz="1150" u="none" cap="none" strike="noStrike">
                <a:solidFill>
                  <a:srgbClr val="0B6E4F"/>
                </a:solidFill>
                <a:latin typeface="Consolas"/>
                <a:ea typeface="Consolas"/>
                <a:cs typeface="Consolas"/>
                <a:sym typeface="Consolas"/>
              </a:rPr>
              <a:t>some</a:t>
            </a:r>
            <a:r>
              <a:rPr b="0" i="0" lang="en-US" sz="1150" u="none" cap="none" strike="noStrike">
                <a:solidFill>
                  <a:srgbClr val="1F2328"/>
                </a:solidFill>
                <a:latin typeface="Consolas"/>
                <a:ea typeface="Consolas"/>
                <a:cs typeface="Consolas"/>
                <a:sym typeface="Consolas"/>
              </a:rPr>
              <a:t> PatientData,</a:t>
            </a:r>
            <a:endParaRPr b="0" i="0" sz="1150" u="none" cap="none" strike="noStrike">
              <a:solidFill>
                <a:srgbClr val="000000"/>
              </a:solidFill>
              <a:latin typeface="Arial"/>
              <a:ea typeface="Arial"/>
              <a:cs typeface="Arial"/>
              <a:sym typeface="Arial"/>
            </a:endParaRPr>
          </a:p>
        </p:txBody>
      </p:sp>
      <p:sp>
        <p:nvSpPr>
          <p:cNvPr id="796" name="Google Shape;796;h4e1cd23050cdd6e6_1_329"/>
          <p:cNvSpPr/>
          <p:nvPr/>
        </p:nvSpPr>
        <p:spPr>
          <a:xfrm>
            <a:off x="10177532" y="2845586"/>
            <a:ext cx="987600" cy="154462"/>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onsolas"/>
                <a:ea typeface="Consolas"/>
                <a:cs typeface="Consolas"/>
                <a:sym typeface="Consolas"/>
              </a:rPr>
              <a:t>SCHEMA</a:t>
            </a:r>
            <a:endParaRPr/>
          </a:p>
        </p:txBody>
      </p:sp>
      <p:sp>
        <p:nvSpPr>
          <p:cNvPr id="797" name="Google Shape;797;h4e1cd23050cdd6e6_1_329"/>
          <p:cNvSpPr txBox="1"/>
          <p:nvPr/>
        </p:nvSpPr>
        <p:spPr>
          <a:xfrm>
            <a:off x="652054" y="3009921"/>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98" name="Google Shape;798;h4e1cd23050cdd6e6_1_329"/>
          <p:cNvSpPr txBox="1"/>
          <p:nvPr/>
        </p:nvSpPr>
        <p:spPr>
          <a:xfrm>
            <a:off x="5038352" y="3009921"/>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BM_DEP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799" name="Google Shape;799;h4e1cd23050cdd6e6_1_329"/>
          <p:cNvSpPr txBox="1"/>
          <p:nvPr/>
        </p:nvSpPr>
        <p:spPr>
          <a:xfrm>
            <a:off x="652054" y="3184043"/>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800" name="Google Shape;800;h4e1cd23050cdd6e6_1_329"/>
          <p:cNvSpPr txBox="1"/>
          <p:nvPr/>
        </p:nvSpPr>
        <p:spPr>
          <a:xfrm>
            <a:off x="5038352" y="3184043"/>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ecog_stage </a:t>
            </a:r>
            <a:r>
              <a:rPr b="1" i="0" lang="en-US" sz="1150" u="none" cap="none" strike="noStrike">
                <a:solidFill>
                  <a:srgbClr val="0B6E4F"/>
                </a:solidFill>
                <a:latin typeface="Consolas"/>
                <a:ea typeface="Consolas"/>
                <a:cs typeface="Consolas"/>
                <a:sym typeface="Consolas"/>
              </a:rPr>
              <a:t>only</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6F42C1"/>
                </a:solidFill>
                <a:latin typeface="Consolas"/>
                <a:ea typeface="Consolas"/>
                <a:cs typeface="Consolas"/>
                <a:sym typeface="Consolas"/>
              </a:rPr>
              <a:t>xsd:integer</a:t>
            </a:r>
            <a:endParaRPr b="0" i="0" sz="1150" u="none" cap="none" strike="noStrike">
              <a:solidFill>
                <a:srgbClr val="000000"/>
              </a:solidFill>
              <a:latin typeface="Arial"/>
              <a:ea typeface="Arial"/>
              <a:cs typeface="Arial"/>
              <a:sym typeface="Arial"/>
            </a:endParaRPr>
          </a:p>
        </p:txBody>
      </p:sp>
      <p:sp>
        <p:nvSpPr>
          <p:cNvPr id="801" name="Google Shape;801;h4e1cd23050cdd6e6_1_329"/>
          <p:cNvSpPr txBox="1"/>
          <p:nvPr/>
        </p:nvSpPr>
        <p:spPr>
          <a:xfrm>
            <a:off x="652054" y="3445420"/>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802" name="Google Shape;802;h4e1cd23050cdd6e6_1_329"/>
          <p:cNvSpPr txBox="1"/>
          <p:nvPr/>
        </p:nvSpPr>
        <p:spPr>
          <a:xfrm>
            <a:off x="5038352" y="3445420"/>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admission_id</a:t>
            </a:r>
            <a:endParaRPr b="0" i="0" sz="1150" u="none" cap="none" strike="noStrike">
              <a:solidFill>
                <a:srgbClr val="000000"/>
              </a:solidFill>
              <a:latin typeface="Arial"/>
              <a:ea typeface="Arial"/>
              <a:cs typeface="Arial"/>
              <a:sym typeface="Arial"/>
            </a:endParaRPr>
          </a:p>
        </p:txBody>
      </p:sp>
      <p:sp>
        <p:nvSpPr>
          <p:cNvPr id="803" name="Google Shape;803;h4e1cd23050cdd6e6_1_329"/>
          <p:cNvSpPr txBox="1"/>
          <p:nvPr/>
        </p:nvSpPr>
        <p:spPr>
          <a:xfrm>
            <a:off x="652054" y="3619542"/>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patient_id</a:t>
            </a:r>
            <a:endParaRPr b="0" i="0" sz="1150" u="none" cap="none" strike="noStrike">
              <a:solidFill>
                <a:srgbClr val="000000"/>
              </a:solidFill>
              <a:latin typeface="Arial"/>
              <a:ea typeface="Arial"/>
              <a:cs typeface="Arial"/>
              <a:sym typeface="Arial"/>
            </a:endParaRPr>
          </a:p>
        </p:txBody>
      </p:sp>
      <p:sp>
        <p:nvSpPr>
          <p:cNvPr id="804" name="Google Shape;804;h4e1cd23050cdd6e6_1_329"/>
          <p:cNvSpPr/>
          <p:nvPr/>
        </p:nvSpPr>
        <p:spPr>
          <a:xfrm>
            <a:off x="6386136" y="3624436"/>
            <a:ext cx="11301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5" name="Google Shape;805;h4e1cd23050cdd6e6_1_329"/>
          <p:cNvSpPr txBox="1"/>
          <p:nvPr/>
        </p:nvSpPr>
        <p:spPr>
          <a:xfrm>
            <a:off x="5038352" y="3619542"/>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ObjectProperty:</a:t>
            </a:r>
            <a:r>
              <a:rPr b="0" i="0" lang="en-US" sz="1150" u="none" cap="none" strike="noStrike">
                <a:solidFill>
                  <a:srgbClr val="1F2328"/>
                </a:solidFill>
                <a:latin typeface="Consolas"/>
                <a:ea typeface="Consolas"/>
                <a:cs typeface="Consolas"/>
                <a:sym typeface="Consolas"/>
              </a:rPr>
              <a:t> hasPatientData</a:t>
            </a:r>
            <a:endParaRPr b="0" i="0" sz="1150" u="none" cap="none" strike="noStrike">
              <a:solidFill>
                <a:srgbClr val="000000"/>
              </a:solidFill>
              <a:latin typeface="Arial"/>
              <a:ea typeface="Arial"/>
              <a:cs typeface="Arial"/>
              <a:sym typeface="Arial"/>
            </a:endParaRPr>
          </a:p>
        </p:txBody>
      </p:sp>
      <p:sp>
        <p:nvSpPr>
          <p:cNvPr id="806" name="Google Shape;806;h4e1cd23050cdd6e6_1_329"/>
          <p:cNvSpPr/>
          <p:nvPr/>
        </p:nvSpPr>
        <p:spPr>
          <a:xfrm>
            <a:off x="10177532" y="3629330"/>
            <a:ext cx="987600" cy="154462"/>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onsolas"/>
                <a:ea typeface="Consolas"/>
                <a:cs typeface="Consolas"/>
                <a:sym typeface="Consolas"/>
              </a:rPr>
              <a:t>SCHEMA</a:t>
            </a:r>
            <a:endParaRPr/>
          </a:p>
        </p:txBody>
      </p:sp>
      <p:sp>
        <p:nvSpPr>
          <p:cNvPr id="807" name="Google Shape;807;h4e1cd23050cdd6e6_1_329"/>
          <p:cNvSpPr txBox="1"/>
          <p:nvPr/>
        </p:nvSpPr>
        <p:spPr>
          <a:xfrm>
            <a:off x="652054" y="3793665"/>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808" name="Google Shape;808;h4e1cd23050cdd6e6_1_329"/>
          <p:cNvSpPr txBox="1"/>
          <p:nvPr/>
        </p:nvSpPr>
        <p:spPr>
          <a:xfrm>
            <a:off x="5038352" y="3793665"/>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BM_DEP</a:t>
            </a:r>
            <a:endParaRPr b="0" i="0" sz="1150" u="none" cap="none" strike="noStrike">
              <a:solidFill>
                <a:srgbClr val="000000"/>
              </a:solidFill>
              <a:latin typeface="Arial"/>
              <a:ea typeface="Arial"/>
              <a:cs typeface="Arial"/>
              <a:sym typeface="Arial"/>
            </a:endParaRPr>
          </a:p>
        </p:txBody>
      </p:sp>
      <p:sp>
        <p:nvSpPr>
          <p:cNvPr id="809" name="Google Shape;809;h4e1cd23050cdd6e6_1_329"/>
          <p:cNvSpPr/>
          <p:nvPr/>
        </p:nvSpPr>
        <p:spPr>
          <a:xfrm>
            <a:off x="5093216" y="3972681"/>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0" name="Google Shape;810;h4e1cd23050cdd6e6_1_329"/>
          <p:cNvSpPr/>
          <p:nvPr/>
        </p:nvSpPr>
        <p:spPr>
          <a:xfrm>
            <a:off x="5093216" y="3972681"/>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1" name="Google Shape;811;h4e1cd23050cdd6e6_1_329"/>
          <p:cNvSpPr txBox="1"/>
          <p:nvPr/>
        </p:nvSpPr>
        <p:spPr>
          <a:xfrm>
            <a:off x="5038352" y="3967787"/>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812" name="Google Shape;812;h4e1cd23050cdd6e6_1_329"/>
          <p:cNvSpPr/>
          <p:nvPr/>
        </p:nvSpPr>
        <p:spPr>
          <a:xfrm>
            <a:off x="5093216" y="4146804"/>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3" name="Google Shape;813;h4e1cd23050cdd6e6_1_329"/>
          <p:cNvSpPr/>
          <p:nvPr/>
        </p:nvSpPr>
        <p:spPr>
          <a:xfrm>
            <a:off x="5093216" y="4146804"/>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4" name="Google Shape;814;h4e1cd23050cdd6e6_1_329"/>
          <p:cNvSpPr txBox="1"/>
          <p:nvPr/>
        </p:nvSpPr>
        <p:spPr>
          <a:xfrm>
            <a:off x="5038352" y="4141910"/>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"Bone Marrow Depression"@en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815" name="Google Shape;815;h4e1cd23050cdd6e6_1_329"/>
          <p:cNvSpPr/>
          <p:nvPr/>
        </p:nvSpPr>
        <p:spPr>
          <a:xfrm>
            <a:off x="10177532" y="4151698"/>
            <a:ext cx="987600" cy="154462"/>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DOCS</a:t>
            </a:r>
            <a:endParaRPr/>
          </a:p>
        </p:txBody>
      </p:sp>
      <p:sp>
        <p:nvSpPr>
          <p:cNvPr id="816" name="Google Shape;816;h4e1cd23050cdd6e6_1_329"/>
          <p:cNvSpPr/>
          <p:nvPr/>
        </p:nvSpPr>
        <p:spPr>
          <a:xfrm>
            <a:off x="5093216" y="4320926"/>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7" name="Google Shape;817;h4e1cd23050cdd6e6_1_329"/>
          <p:cNvSpPr/>
          <p:nvPr/>
        </p:nvSpPr>
        <p:spPr>
          <a:xfrm>
            <a:off x="5093216" y="4320926"/>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8" name="Google Shape;818;h4e1cd23050cdd6e6_1_329"/>
          <p:cNvSpPr txBox="1"/>
          <p:nvPr/>
        </p:nvSpPr>
        <p:spPr>
          <a:xfrm>
            <a:off x="5038352" y="4316032"/>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skos:relatedMatch</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obo:DOID_4961</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819" name="Google Shape;819;h4e1cd23050cdd6e6_1_329"/>
          <p:cNvSpPr/>
          <p:nvPr/>
        </p:nvSpPr>
        <p:spPr>
          <a:xfrm>
            <a:off x="10177532" y="4325820"/>
            <a:ext cx="987600" cy="154462"/>
          </a:xfrm>
          <a:prstGeom prst="roundRect">
            <a:avLst>
              <a:gd fmla="val 9000" name="adj"/>
            </a:avLst>
          </a:prstGeom>
          <a:solidFill>
            <a:srgbClr val="FFFFFF"/>
          </a:solidFill>
          <a:ln cap="flat" cmpd="sng" w="9525">
            <a:solidFill>
              <a:srgbClr val="0B6E4F"/>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0B6E4F"/>
                </a:solidFill>
                <a:latin typeface="Consolas"/>
                <a:ea typeface="Consolas"/>
                <a:cs typeface="Consolas"/>
                <a:sym typeface="Consolas"/>
              </a:rPr>
              <a:t>ONTOLOGY</a:t>
            </a:r>
            <a:endParaRPr/>
          </a:p>
        </p:txBody>
      </p:sp>
      <p:sp>
        <p:nvSpPr>
          <p:cNvPr id="820" name="Google Shape;820;h4e1cd23050cdd6e6_1_329"/>
          <p:cNvSpPr/>
          <p:nvPr/>
        </p:nvSpPr>
        <p:spPr>
          <a:xfrm>
            <a:off x="5093216" y="4495048"/>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1" name="Google Shape;821;h4e1cd23050cdd6e6_1_329"/>
          <p:cNvSpPr/>
          <p:nvPr/>
        </p:nvSpPr>
        <p:spPr>
          <a:xfrm>
            <a:off x="5093216" y="4495048"/>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2" name="Google Shape;822;h4e1cd23050cdd6e6_1_329"/>
          <p:cNvSpPr txBox="1"/>
          <p:nvPr/>
        </p:nvSpPr>
        <p:spPr>
          <a:xfrm>
            <a:off x="5038352" y="4490154"/>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admission:BM_DEP</a:t>
            </a:r>
            <a:endParaRPr b="0" i="0" sz="1150" u="none" cap="none" strike="noStrike">
              <a:solidFill>
                <a:srgbClr val="000000"/>
              </a:solidFill>
              <a:latin typeface="Arial"/>
              <a:ea typeface="Arial"/>
              <a:cs typeface="Arial"/>
              <a:sym typeface="Arial"/>
            </a:endParaRPr>
          </a:p>
        </p:txBody>
      </p:sp>
      <p:sp>
        <p:nvSpPr>
          <p:cNvPr id="823" name="Google Shape;823;h4e1cd23050cdd6e6_1_329"/>
          <p:cNvSpPr/>
          <p:nvPr/>
        </p:nvSpPr>
        <p:spPr>
          <a:xfrm>
            <a:off x="10177532" y="4499942"/>
            <a:ext cx="987600" cy="154462"/>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onsolas"/>
                <a:ea typeface="Consolas"/>
                <a:cs typeface="Consolas"/>
                <a:sym typeface="Consolas"/>
              </a:rPr>
              <a:t>SCHEMA</a:t>
            </a:r>
            <a:endParaRPr/>
          </a:p>
        </p:txBody>
      </p:sp>
      <p:sp>
        <p:nvSpPr>
          <p:cNvPr id="824" name="Google Shape;824;h4e1cd23050cdd6e6_1_329"/>
          <p:cNvSpPr txBox="1"/>
          <p:nvPr/>
        </p:nvSpPr>
        <p:spPr>
          <a:xfrm>
            <a:off x="652054" y="4664277"/>
            <a:ext cx="290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825" name="Google Shape;825;h4e1cd23050cdd6e6_1_329"/>
          <p:cNvSpPr txBox="1"/>
          <p:nvPr/>
        </p:nvSpPr>
        <p:spPr>
          <a:xfrm>
            <a:off x="5038352" y="4664277"/>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50" u="none" cap="none" strike="noStrike">
                <a:solidFill>
                  <a:srgbClr val="0B6E4F"/>
                </a:solidFill>
                <a:latin typeface="Consolas"/>
                <a:ea typeface="Consolas"/>
                <a:cs typeface="Consolas"/>
                <a:sym typeface="Consolas"/>
              </a:rPr>
              <a:t>DataProperty:</a:t>
            </a:r>
            <a:r>
              <a:rPr b="0" i="0" lang="en-US" sz="1150" u="none" cap="none" strike="noStrike">
                <a:solidFill>
                  <a:srgbClr val="1F2328"/>
                </a:solidFill>
                <a:latin typeface="Consolas"/>
                <a:ea typeface="Consolas"/>
                <a:cs typeface="Consolas"/>
                <a:sym typeface="Consolas"/>
              </a:rPr>
              <a:t> ecog_stage</a:t>
            </a:r>
            <a:endParaRPr b="0" i="0" sz="1150" u="none" cap="none" strike="noStrike">
              <a:solidFill>
                <a:srgbClr val="000000"/>
              </a:solidFill>
              <a:latin typeface="Arial"/>
              <a:ea typeface="Arial"/>
              <a:cs typeface="Arial"/>
              <a:sym typeface="Arial"/>
            </a:endParaRPr>
          </a:p>
        </p:txBody>
      </p:sp>
      <p:sp>
        <p:nvSpPr>
          <p:cNvPr id="826" name="Google Shape;826;h4e1cd23050cdd6e6_1_329"/>
          <p:cNvSpPr/>
          <p:nvPr/>
        </p:nvSpPr>
        <p:spPr>
          <a:xfrm>
            <a:off x="5093216" y="4843293"/>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7" name="Google Shape;827;h4e1cd23050cdd6e6_1_329"/>
          <p:cNvSpPr/>
          <p:nvPr/>
        </p:nvSpPr>
        <p:spPr>
          <a:xfrm>
            <a:off x="5093216" y="4843293"/>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8" name="Google Shape;828;h4e1cd23050cdd6e6_1_329"/>
          <p:cNvSpPr txBox="1"/>
          <p:nvPr/>
        </p:nvSpPr>
        <p:spPr>
          <a:xfrm>
            <a:off x="5038352" y="4838399"/>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1" i="0" lang="en-US" sz="1150" u="none" cap="none" strike="noStrike">
                <a:solidFill>
                  <a:srgbClr val="0B6E4F"/>
                </a:solidFill>
                <a:latin typeface="Consolas"/>
                <a:ea typeface="Consolas"/>
                <a:cs typeface="Consolas"/>
                <a:sym typeface="Consolas"/>
              </a:rPr>
              <a:t>Annotations:</a:t>
            </a:r>
            <a:endParaRPr b="0" i="0" sz="1150" u="none" cap="none" strike="noStrike">
              <a:solidFill>
                <a:srgbClr val="000000"/>
              </a:solidFill>
              <a:latin typeface="Arial"/>
              <a:ea typeface="Arial"/>
              <a:cs typeface="Arial"/>
              <a:sym typeface="Arial"/>
            </a:endParaRPr>
          </a:p>
        </p:txBody>
      </p:sp>
      <p:sp>
        <p:nvSpPr>
          <p:cNvPr id="829" name="Google Shape;829;h4e1cd23050cdd6e6_1_329"/>
          <p:cNvSpPr/>
          <p:nvPr/>
        </p:nvSpPr>
        <p:spPr>
          <a:xfrm>
            <a:off x="5093216" y="5017416"/>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0" name="Google Shape;830;h4e1cd23050cdd6e6_1_329"/>
          <p:cNvSpPr/>
          <p:nvPr/>
        </p:nvSpPr>
        <p:spPr>
          <a:xfrm>
            <a:off x="5093216" y="5017416"/>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1" name="Google Shape;831;h4e1cd23050cdd6e6_1_329"/>
          <p:cNvSpPr txBox="1"/>
          <p:nvPr/>
        </p:nvSpPr>
        <p:spPr>
          <a:xfrm>
            <a:off x="5038352" y="5012522"/>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rdfs:label</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"ECOG Performance Status"@en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832" name="Google Shape;832;h4e1cd23050cdd6e6_1_329"/>
          <p:cNvSpPr/>
          <p:nvPr/>
        </p:nvSpPr>
        <p:spPr>
          <a:xfrm>
            <a:off x="10177532" y="5022310"/>
            <a:ext cx="987600" cy="154462"/>
          </a:xfrm>
          <a:prstGeom prst="roundRect">
            <a:avLst>
              <a:gd fmla="val 9000" name="adj"/>
            </a:avLst>
          </a:prstGeom>
          <a:solidFill>
            <a:srgbClr val="FFFFFF"/>
          </a:solidFill>
          <a:ln cap="flat" cmpd="sng" w="9525">
            <a:solidFill>
              <a:srgbClr val="2F6B78"/>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2F6B78"/>
                </a:solidFill>
                <a:latin typeface="Consolas"/>
                <a:ea typeface="Consolas"/>
                <a:cs typeface="Consolas"/>
                <a:sym typeface="Consolas"/>
              </a:rPr>
              <a:t>DOCS</a:t>
            </a:r>
            <a:endParaRPr/>
          </a:p>
        </p:txBody>
      </p:sp>
      <p:sp>
        <p:nvSpPr>
          <p:cNvPr id="833" name="Google Shape;833;h4e1cd23050cdd6e6_1_329"/>
          <p:cNvSpPr/>
          <p:nvPr/>
        </p:nvSpPr>
        <p:spPr>
          <a:xfrm>
            <a:off x="5093216" y="5191538"/>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4" name="Google Shape;834;h4e1cd23050cdd6e6_1_329"/>
          <p:cNvSpPr/>
          <p:nvPr/>
        </p:nvSpPr>
        <p:spPr>
          <a:xfrm>
            <a:off x="5093216" y="5191538"/>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5" name="Google Shape;835;h4e1cd23050cdd6e6_1_329"/>
          <p:cNvSpPr txBox="1"/>
          <p:nvPr/>
        </p:nvSpPr>
        <p:spPr>
          <a:xfrm>
            <a:off x="5038352" y="5186644"/>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rdfs:comment</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A3401E"/>
                </a:solidFill>
                <a:latin typeface="Consolas"/>
                <a:ea typeface="Consolas"/>
                <a:cs typeface="Consolas"/>
                <a:sym typeface="Consolas"/>
              </a:rPr>
              <a:t>"0 = fully active … 5 = dead"@en</a:t>
            </a:r>
            <a:r>
              <a:rPr b="0" i="0" lang="en-US" sz="1150" u="none" cap="none" strike="noStrike">
                <a:solidFill>
                  <a:srgbClr val="1F2328"/>
                </a:solidFill>
                <a:latin typeface="Consolas"/>
                <a:ea typeface="Consolas"/>
                <a:cs typeface="Consolas"/>
                <a:sym typeface="Consolas"/>
              </a:rPr>
              <a:t>,</a:t>
            </a:r>
            <a:endParaRPr b="0" i="0" sz="1150" u="none" cap="none" strike="noStrike">
              <a:solidFill>
                <a:srgbClr val="000000"/>
              </a:solidFill>
              <a:latin typeface="Arial"/>
              <a:ea typeface="Arial"/>
              <a:cs typeface="Arial"/>
              <a:sym typeface="Arial"/>
            </a:endParaRPr>
          </a:p>
        </p:txBody>
      </p:sp>
      <p:sp>
        <p:nvSpPr>
          <p:cNvPr id="836" name="Google Shape;836;h4e1cd23050cdd6e6_1_329"/>
          <p:cNvSpPr/>
          <p:nvPr/>
        </p:nvSpPr>
        <p:spPr>
          <a:xfrm>
            <a:off x="10177532" y="5196432"/>
            <a:ext cx="987600" cy="154462"/>
          </a:xfrm>
          <a:prstGeom prst="roundRect">
            <a:avLst>
              <a:gd fmla="val 9000" name="adj"/>
            </a:avLst>
          </a:prstGeom>
          <a:solidFill>
            <a:srgbClr val="FFFFFF"/>
          </a:solidFill>
          <a:ln cap="flat" cmpd="sng" w="9525">
            <a:solidFill>
              <a:srgbClr val="6F42C1"/>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6F42C1"/>
                </a:solidFill>
                <a:latin typeface="Consolas"/>
                <a:ea typeface="Consolas"/>
                <a:cs typeface="Consolas"/>
                <a:sym typeface="Consolas"/>
              </a:rPr>
              <a:t>LLM</a:t>
            </a:r>
            <a:endParaRPr/>
          </a:p>
        </p:txBody>
      </p:sp>
      <p:sp>
        <p:nvSpPr>
          <p:cNvPr id="837" name="Google Shape;837;h4e1cd23050cdd6e6_1_329"/>
          <p:cNvSpPr/>
          <p:nvPr/>
        </p:nvSpPr>
        <p:spPr>
          <a:xfrm>
            <a:off x="5093216" y="5365661"/>
            <a:ext cx="6126600" cy="164417"/>
          </a:xfrm>
          <a:prstGeom prst="rect">
            <a:avLst/>
          </a:prstGeom>
          <a:solidFill>
            <a:srgbClr val="DCF2E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8" name="Google Shape;838;h4e1cd23050cdd6e6_1_329"/>
          <p:cNvSpPr/>
          <p:nvPr/>
        </p:nvSpPr>
        <p:spPr>
          <a:xfrm>
            <a:off x="5093216" y="5365661"/>
            <a:ext cx="36600" cy="164417"/>
          </a:xfrm>
          <a:prstGeom prst="rect">
            <a:avLst/>
          </a:prstGeom>
          <a:solidFill>
            <a:srgbClr val="0B6E4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9" name="Google Shape;839;h4e1cd23050cdd6e6_1_329"/>
          <p:cNvSpPr txBox="1"/>
          <p:nvPr/>
        </p:nvSpPr>
        <p:spPr>
          <a:xfrm>
            <a:off x="5038352" y="5360767"/>
            <a:ext cx="5093400" cy="174051"/>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5B6770"/>
                </a:solidFill>
                <a:latin typeface="Consolas"/>
                <a:ea typeface="Consolas"/>
                <a:cs typeface="Consolas"/>
                <a:sym typeface="Consolas"/>
              </a:rPr>
              <a:t>prov:wasDerivedFrom</a:t>
            </a:r>
            <a:r>
              <a:rPr b="0" i="0" lang="en-US" sz="1150" u="none" cap="none" strike="noStrike">
                <a:solidFill>
                  <a:srgbClr val="1F2328"/>
                </a:solidFill>
                <a:latin typeface="Consolas"/>
                <a:ea typeface="Consolas"/>
                <a:cs typeface="Consolas"/>
                <a:sym typeface="Consolas"/>
              </a:rPr>
              <a:t> </a:t>
            </a:r>
            <a:r>
              <a:rPr b="0" i="0" lang="en-US" sz="1150" u="none" cap="none" strike="noStrike">
                <a:solidFill>
                  <a:srgbClr val="2F6B78"/>
                </a:solidFill>
                <a:latin typeface="Consolas"/>
                <a:ea typeface="Consolas"/>
                <a:cs typeface="Consolas"/>
                <a:sym typeface="Consolas"/>
              </a:rPr>
              <a:t>admission:ecog_stage</a:t>
            </a:r>
            <a:endParaRPr b="0" i="0" sz="1150" u="none" cap="none" strike="noStrike">
              <a:solidFill>
                <a:srgbClr val="000000"/>
              </a:solidFill>
              <a:latin typeface="Arial"/>
              <a:ea typeface="Arial"/>
              <a:cs typeface="Arial"/>
              <a:sym typeface="Arial"/>
            </a:endParaRPr>
          </a:p>
        </p:txBody>
      </p:sp>
      <p:sp>
        <p:nvSpPr>
          <p:cNvPr id="840" name="Google Shape;840;h4e1cd23050cdd6e6_1_329"/>
          <p:cNvSpPr/>
          <p:nvPr/>
        </p:nvSpPr>
        <p:spPr>
          <a:xfrm>
            <a:off x="10177532" y="5370554"/>
            <a:ext cx="987600" cy="154462"/>
          </a:xfrm>
          <a:prstGeom prst="roundRect">
            <a:avLst>
              <a:gd fmla="val 9000" name="adj"/>
            </a:avLst>
          </a:prstGeom>
          <a:solidFill>
            <a:srgbClr val="FFFFFF"/>
          </a:solidFill>
          <a:ln cap="flat" cmpd="sng" w="9525">
            <a:solidFill>
              <a:srgbClr val="5B6770"/>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000" u="none" cap="none" strike="noStrike">
                <a:solidFill>
                  <a:srgbClr val="5B6770"/>
                </a:solidFill>
                <a:latin typeface="Consolas"/>
                <a:ea typeface="Consolas"/>
                <a:cs typeface="Consolas"/>
                <a:sym typeface="Consolas"/>
              </a:rPr>
              <a:t>SCHEMA</a:t>
            </a:r>
            <a:endParaRPr/>
          </a:p>
        </p:txBody>
      </p:sp>
      <p:sp>
        <p:nvSpPr>
          <p:cNvPr id="841" name="Google Shape;841;h4e1cd23050cdd6e6_1_329"/>
          <p:cNvSpPr txBox="1"/>
          <p:nvPr/>
        </p:nvSpPr>
        <p:spPr>
          <a:xfrm>
            <a:off x="804672" y="1422410"/>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We prompt the </a:t>
            </a:r>
            <a:r>
              <a:rPr b="1" i="1" lang="en-US" sz="1600" u="none" cap="none" strike="noStrike">
                <a:solidFill>
                  <a:srgbClr val="3A434C"/>
                </a:solidFill>
                <a:latin typeface="Calibri"/>
                <a:ea typeface="Calibri"/>
                <a:cs typeface="Calibri"/>
                <a:sym typeface="Calibri"/>
              </a:rPr>
              <a:t>Gen-LLM</a:t>
            </a:r>
            <a:r>
              <a:rPr b="0" i="0" lang="en-US" sz="1600" u="none" cap="none" strike="noStrike">
                <a:solidFill>
                  <a:srgbClr val="3A434C"/>
                </a:solidFill>
                <a:latin typeface="Calibri"/>
                <a:ea typeface="Calibri"/>
                <a:cs typeface="Calibri"/>
                <a:sym typeface="Calibri"/>
              </a:rPr>
              <a:t> with the </a:t>
            </a:r>
            <a:r>
              <a:rPr b="1" i="0" lang="en-US" sz="1600" u="none" cap="none" strike="noStrike">
                <a:solidFill>
                  <a:srgbClr val="3A434C"/>
                </a:solidFill>
                <a:latin typeface="Calibri"/>
                <a:ea typeface="Calibri"/>
                <a:cs typeface="Calibri"/>
                <a:sym typeface="Calibri"/>
              </a:rPr>
              <a:t>direct mapping</a:t>
            </a:r>
            <a:r>
              <a:rPr b="0" i="0" lang="en-US" sz="1600" u="none" cap="none" strike="noStrike">
                <a:solidFill>
                  <a:srgbClr val="3A434C"/>
                </a:solidFill>
                <a:latin typeface="Calibri"/>
                <a:ea typeface="Calibri"/>
                <a:cs typeface="Calibri"/>
                <a:sym typeface="Calibri"/>
              </a:rPr>
              <a:t>, the </a:t>
            </a:r>
            <a:r>
              <a:rPr b="1" i="0" lang="en-US" sz="1600" u="none" cap="none" strike="noStrike">
                <a:solidFill>
                  <a:srgbClr val="3A434C"/>
                </a:solidFill>
                <a:latin typeface="Calibri"/>
                <a:ea typeface="Calibri"/>
                <a:cs typeface="Calibri"/>
                <a:sym typeface="Calibri"/>
              </a:rPr>
              <a:t>retrieved context</a:t>
            </a:r>
            <a:r>
              <a:rPr b="0" i="0" lang="en-US" sz="1600" u="none" cap="none" strike="noStrike">
                <a:solidFill>
                  <a:srgbClr val="3A434C"/>
                </a:solidFill>
                <a:latin typeface="Calibri"/>
                <a:ea typeface="Calibri"/>
                <a:cs typeface="Calibri"/>
                <a:sym typeface="Calibri"/>
              </a:rPr>
              <a:t>, and </a:t>
            </a:r>
            <a:r>
              <a:rPr b="1" i="0" lang="en-US" sz="1600" u="none" cap="none" strike="noStrike">
                <a:solidFill>
                  <a:srgbClr val="3A434C"/>
                </a:solidFill>
                <a:latin typeface="Calibri"/>
                <a:ea typeface="Calibri"/>
                <a:cs typeface="Calibri"/>
                <a:sym typeface="Calibri"/>
              </a:rPr>
              <a:t>semantic enrichment instructions</a:t>
            </a:r>
            <a:r>
              <a:rPr b="0" i="0" lang="en-US" sz="1600" u="none" cap="none" strike="noStrike">
                <a:solidFill>
                  <a:srgbClr val="3A434C"/>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pic>
        <p:nvPicPr>
          <p:cNvPr id="842" name="Google Shape;842;h4e1cd23050cdd6e6_1_329" title="LLM Neural Brain Icon.png"/>
          <p:cNvPicPr preferRelativeResize="0"/>
          <p:nvPr/>
        </p:nvPicPr>
        <p:blipFill rotWithShape="1">
          <a:blip r:embed="rId3">
            <a:alphaModFix/>
          </a:blip>
          <a:srcRect b="14226" l="16398" r="17214" t="12218"/>
          <a:stretch/>
        </p:blipFill>
        <p:spPr>
          <a:xfrm>
            <a:off x="3919850" y="4107423"/>
            <a:ext cx="644449" cy="603601"/>
          </a:xfrm>
          <a:prstGeom prst="rect">
            <a:avLst/>
          </a:prstGeom>
          <a:noFill/>
          <a:ln>
            <a:noFill/>
          </a:ln>
        </p:spPr>
      </p:pic>
      <p:sp>
        <p:nvSpPr>
          <p:cNvPr id="843" name="Slide number 843"/>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9</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7" name="Shape 847"/>
        <p:cNvGrpSpPr/>
        <p:nvPr/>
      </p:nvGrpSpPr>
      <p:grpSpPr>
        <a:xfrm>
          <a:off x="0" y="0"/>
          <a:ext cx="0" cy="0"/>
          <a:chOff x="0" y="0"/>
          <a:chExt cx="0" cy="0"/>
        </a:xfrm>
      </p:grpSpPr>
      <p:sp>
        <p:nvSpPr>
          <p:cNvPr id="848" name="Google Shape;848;h3b1f15762288d989_2_37"/>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49" name="Google Shape;849;h3b1f15762288d989_2_37"/>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50" name="Google Shape;850;h3b1f15762288d989_2_37"/>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1" name="Google Shape;851;h3b1f15762288d989_2_37"/>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52" name="Google Shape;852;h3b1f15762288d989_2_37"/>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3" name="Google Shape;853;h3b1f15762288d989_2_37"/>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54" name="Google Shape;854;h3b1f15762288d989_2_37"/>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h3b1f15762288d989_2_37"/>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56" name="Google Shape;856;h3b1f15762288d989_2_37"/>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7" name="Google Shape;857;h3b1f15762288d989_2_37"/>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58" name="Google Shape;858;h3b1f15762288d989_2_37"/>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9" name="Google Shape;859;h3b1f15762288d989_2_37"/>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60" name="Google Shape;860;h3b1f15762288d989_2_37"/>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1" name="Google Shape;861;h3b1f15762288d989_2_37"/>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62" name="Google Shape;862;h3b1f15762288d989_2_37"/>
          <p:cNvSpPr/>
          <p:nvPr/>
        </p:nvSpPr>
        <p:spPr>
          <a:xfrm>
            <a:off x="690625" y="1765393"/>
            <a:ext cx="5193900" cy="265176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3" name="Google Shape;863;h3b1f15762288d989_2_37"/>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64" name="Google Shape;864;h3b1f15762288d989_2_37"/>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65" name="Google Shape;865;h3b1f15762288d989_2_37"/>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h3b1f15762288d989_2_37"/>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67" name="Google Shape;867;h3b1f15762288d989_2_37"/>
          <p:cNvSpPr txBox="1"/>
          <p:nvPr/>
        </p:nvSpPr>
        <p:spPr>
          <a:xfrm>
            <a:off x="919225" y="3457409"/>
            <a:ext cx="457200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hasPatientData Domain: Admission</a:t>
            </a:r>
            <a:r>
              <a:rPr b="0" i="0" lang="en-US" u="none" cap="none" strike="noStrike">
                <a:solidFill>
                  <a:srgbClr val="1F2328"/>
                </a:solidFill>
                <a:latin typeface="Calibri"/>
                <a:ea typeface="Calibri"/>
                <a:cs typeface="Calibri"/>
                <a:sym typeface="Calibri"/>
              </a:rPr>
              <a:t>, OWL infers that every lab result with patient data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68" name="Google Shape;868;h3b1f15762288d989_2_37"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869" name="Slide number 869"/>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10</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3" name="Shape 873"/>
        <p:cNvGrpSpPr/>
        <p:nvPr/>
      </p:nvGrpSpPr>
      <p:grpSpPr>
        <a:xfrm>
          <a:off x="0" y="0"/>
          <a:ext cx="0" cy="0"/>
          <a:chOff x="0" y="0"/>
          <a:chExt cx="0" cy="0"/>
        </a:xfrm>
      </p:grpSpPr>
      <p:sp>
        <p:nvSpPr>
          <p:cNvPr id="874" name="Google Shape;874;h3b1f15762288d989_2_79"/>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875" name="Google Shape;875;h3b1f15762288d989_2_79"/>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876" name="Google Shape;876;h3b1f15762288d989_2_79"/>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h3b1f15762288d989_2_79"/>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878" name="Google Shape;878;h3b1f15762288d989_2_79"/>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9" name="Google Shape;879;h3b1f15762288d989_2_79"/>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880" name="Google Shape;880;h3b1f15762288d989_2_79"/>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1" name="Google Shape;881;h3b1f15762288d989_2_79"/>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882" name="Google Shape;882;h3b1f15762288d989_2_79"/>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h3b1f15762288d989_2_79"/>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884" name="Google Shape;884;h3b1f15762288d989_2_79"/>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5" name="Google Shape;885;h3b1f15762288d989_2_79"/>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886" name="Google Shape;886;h3b1f15762288d989_2_79"/>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7" name="Google Shape;887;h3b1f15762288d989_2_79"/>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888" name="Google Shape;888;h3b1f15762288d989_2_79"/>
          <p:cNvSpPr/>
          <p:nvPr/>
        </p:nvSpPr>
        <p:spPr>
          <a:xfrm>
            <a:off x="690625" y="1765393"/>
            <a:ext cx="5193900" cy="265176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89" name="Google Shape;889;h3b1f15762288d989_2_79"/>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890" name="Google Shape;890;h3b1f15762288d989_2_79"/>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891" name="Google Shape;891;h3b1f15762288d989_2_79"/>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2" name="Google Shape;892;h3b1f15762288d989_2_79"/>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893" name="Google Shape;893;h3b1f15762288d989_2_79"/>
          <p:cNvSpPr txBox="1"/>
          <p:nvPr/>
        </p:nvSpPr>
        <p:spPr>
          <a:xfrm>
            <a:off x="919225" y="3457409"/>
            <a:ext cx="457200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hasPatientData Domain: Admission</a:t>
            </a:r>
            <a:r>
              <a:rPr b="0" i="0" lang="en-US" u="none" cap="none" strike="noStrike">
                <a:solidFill>
                  <a:srgbClr val="1F2328"/>
                </a:solidFill>
                <a:latin typeface="Calibri"/>
                <a:ea typeface="Calibri"/>
                <a:cs typeface="Calibri"/>
                <a:sym typeface="Calibri"/>
              </a:rPr>
              <a:t>, OWL infers that every lab result with patient data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pic>
        <p:nvPicPr>
          <p:cNvPr id="894" name="Google Shape;894;h3b1f15762288d989_2_79"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895" name="Google Shape;895;h3b1f15762288d989_2_79"/>
          <p:cNvSpPr/>
          <p:nvPr/>
        </p:nvSpPr>
        <p:spPr>
          <a:xfrm>
            <a:off x="6062420" y="1765393"/>
            <a:ext cx="5193900" cy="265176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6" name="Google Shape;896;h3b1f15762288d989_2_79"/>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897" name="Google Shape;897;h3b1f15762288d989_2_79"/>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898" name="Google Shape;898;h3b1f15762288d989_2_79"/>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99" name="Google Shape;899;h3b1f15762288d989_2_79"/>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00" name="Google Shape;900;h3b1f15762288d989_2_79"/>
          <p:cNvSpPr txBox="1"/>
          <p:nvPr/>
        </p:nvSpPr>
        <p:spPr>
          <a:xfrm>
            <a:off x="6300164" y="3445625"/>
            <a:ext cx="457200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01" name="Google Shape;901;h3b1f15762288d989_2_79"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
        <p:nvSpPr>
          <p:cNvPr id="902" name="Slide number 90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10</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6" name="Shape 906"/>
        <p:cNvGrpSpPr/>
        <p:nvPr/>
      </p:nvGrpSpPr>
      <p:grpSpPr>
        <a:xfrm>
          <a:off x="0" y="0"/>
          <a:ext cx="0" cy="0"/>
          <a:chOff x="0" y="0"/>
          <a:chExt cx="0" cy="0"/>
        </a:xfrm>
      </p:grpSpPr>
      <p:sp>
        <p:nvSpPr>
          <p:cNvPr id="907" name="Google Shape;907;h3b1f15762288d989_2_11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5 / VALIDATE</a:t>
            </a:r>
            <a:endParaRPr b="0" i="0" sz="1400" u="none" cap="none" strike="noStrike">
              <a:solidFill>
                <a:srgbClr val="000000"/>
              </a:solidFill>
              <a:latin typeface="Arial"/>
              <a:ea typeface="Arial"/>
              <a:cs typeface="Arial"/>
              <a:sym typeface="Arial"/>
            </a:endParaRPr>
          </a:p>
        </p:txBody>
      </p:sp>
      <p:sp>
        <p:nvSpPr>
          <p:cNvPr id="908" name="Google Shape;908;h3b1f15762288d989_2_11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Why validate? Plausible fragments can still break the ontology.</a:t>
            </a:r>
            <a:endParaRPr b="0" i="0" sz="1400" u="none" cap="none" strike="noStrike">
              <a:solidFill>
                <a:srgbClr val="000000"/>
              </a:solidFill>
              <a:latin typeface="Arial"/>
              <a:ea typeface="Arial"/>
              <a:cs typeface="Arial"/>
              <a:sym typeface="Arial"/>
            </a:endParaRPr>
          </a:p>
        </p:txBody>
      </p:sp>
      <p:sp>
        <p:nvSpPr>
          <p:cNvPr id="909" name="Google Shape;909;h3b1f15762288d989_2_114"/>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0" name="Google Shape;910;h3b1f15762288d989_2_114"/>
          <p:cNvSpPr txBox="1"/>
          <p:nvPr/>
        </p:nvSpPr>
        <p:spPr>
          <a:xfrm>
            <a:off x="85953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11" name="Google Shape;911;h3b1f15762288d989_2_114"/>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2" name="Google Shape;912;h3b1f15762288d989_2_114"/>
          <p:cNvSpPr txBox="1"/>
          <p:nvPr/>
        </p:nvSpPr>
        <p:spPr>
          <a:xfrm>
            <a:off x="2697479"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13" name="Google Shape;913;h3b1f15762288d989_2_114"/>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4" name="Google Shape;914;h3b1f15762288d989_2_114"/>
          <p:cNvSpPr txBox="1"/>
          <p:nvPr/>
        </p:nvSpPr>
        <p:spPr>
          <a:xfrm>
            <a:off x="4535423"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15" name="Google Shape;915;h3b1f15762288d989_2_114"/>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6" name="Google Shape;916;h3b1f15762288d989_2_114"/>
          <p:cNvSpPr txBox="1"/>
          <p:nvPr/>
        </p:nvSpPr>
        <p:spPr>
          <a:xfrm>
            <a:off x="6373367"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17" name="Google Shape;917;h3b1f15762288d989_2_114"/>
          <p:cNvSpPr/>
          <p:nvPr/>
        </p:nvSpPr>
        <p:spPr>
          <a:xfrm>
            <a:off x="8156448"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8" name="Google Shape;918;h3b1f15762288d989_2_114"/>
          <p:cNvSpPr txBox="1"/>
          <p:nvPr/>
        </p:nvSpPr>
        <p:spPr>
          <a:xfrm>
            <a:off x="8211312"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19" name="Google Shape;919;h3b1f15762288d989_2_114"/>
          <p:cNvSpPr/>
          <p:nvPr/>
        </p:nvSpPr>
        <p:spPr>
          <a:xfrm>
            <a:off x="9994392" y="5797296"/>
            <a:ext cx="1645800" cy="3108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0" name="Google Shape;920;h3b1f15762288d989_2_114"/>
          <p:cNvSpPr txBox="1"/>
          <p:nvPr/>
        </p:nvSpPr>
        <p:spPr>
          <a:xfrm>
            <a:off x="10049256" y="5833872"/>
            <a:ext cx="15270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6B747B"/>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921" name="Google Shape;921;h3b1f15762288d989_2_114"/>
          <p:cNvSpPr/>
          <p:nvPr/>
        </p:nvSpPr>
        <p:spPr>
          <a:xfrm>
            <a:off x="690625" y="1765393"/>
            <a:ext cx="5193900" cy="265176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2" name="Google Shape;922;h3b1f15762288d989_2_114"/>
          <p:cNvSpPr txBox="1"/>
          <p:nvPr/>
        </p:nvSpPr>
        <p:spPr>
          <a:xfrm>
            <a:off x="919225" y="194827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540" u="none" cap="none" strike="noStrike">
                <a:solidFill>
                  <a:srgbClr val="0B6E4F"/>
                </a:solidFill>
                <a:latin typeface="Consolas"/>
                <a:ea typeface="Consolas"/>
                <a:cs typeface="Consolas"/>
                <a:sym typeface="Consolas"/>
              </a:rPr>
              <a:t>STRUCTURAL ERROR · GRAPH CHECKS</a:t>
            </a:r>
            <a:endParaRPr/>
          </a:p>
        </p:txBody>
      </p:sp>
      <p:sp>
        <p:nvSpPr>
          <p:cNvPr id="923" name="Google Shape;923;h3b1f15762288d989_2_114"/>
          <p:cNvSpPr txBox="1"/>
          <p:nvPr/>
        </p:nvSpPr>
        <p:spPr>
          <a:xfrm>
            <a:off x="919225" y="2451193"/>
            <a:ext cx="457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1430" u="none" cap="none" strike="noStrike">
                <a:solidFill>
                  <a:srgbClr val="5B6770"/>
                </a:solidFill>
                <a:latin typeface="Calibri"/>
                <a:ea typeface="Calibri"/>
                <a:cs typeface="Calibri"/>
                <a:sym typeface="Calibri"/>
              </a:rPr>
              <a:t>Later table </a:t>
            </a:r>
            <a:r>
              <a:rPr b="1" lang="en-US" sz="1540">
                <a:solidFill>
                  <a:srgbClr val="0B6E4F"/>
                </a:solidFill>
                <a:latin typeface="Consolas"/>
                <a:ea typeface="Consolas"/>
                <a:cs typeface="Consolas"/>
                <a:sym typeface="Consolas"/>
              </a:rPr>
              <a:t>lab_result</a:t>
            </a:r>
            <a:r>
              <a:rPr b="0" i="0" lang="en-US" sz="1430" u="none" cap="none" strike="noStrike">
                <a:solidFill>
                  <a:srgbClr val="5B6770"/>
                </a:solidFill>
                <a:latin typeface="Calibri"/>
                <a:ea typeface="Calibri"/>
                <a:cs typeface="Calibri"/>
                <a:sym typeface="Calibri"/>
              </a:rPr>
              <a:t> </a:t>
            </a:r>
            <a:r>
              <a:rPr b="1" i="0" lang="en-US" sz="1430" u="none" cap="none" strike="noStrike">
                <a:solidFill>
                  <a:srgbClr val="5B6770"/>
                </a:solidFill>
                <a:latin typeface="Calibri"/>
                <a:ea typeface="Calibri"/>
                <a:cs typeface="Calibri"/>
                <a:sym typeface="Calibri"/>
              </a:rPr>
              <a:t>reuses</a:t>
            </a:r>
            <a:r>
              <a:rPr b="0" i="0" lang="en-US" sz="1430" u="none" cap="none" strike="noStrike">
                <a:solidFill>
                  <a:srgbClr val="5B6770"/>
                </a:solidFill>
                <a:latin typeface="Calibri"/>
                <a:ea typeface="Calibri"/>
                <a:cs typeface="Calibri"/>
                <a:sym typeface="Calibri"/>
              </a:rPr>
              <a:t> a core property:</a:t>
            </a:r>
            <a:endParaRPr/>
          </a:p>
        </p:txBody>
      </p:sp>
      <p:sp>
        <p:nvSpPr>
          <p:cNvPr id="924" name="Google Shape;924;h3b1f15762288d989_2_114"/>
          <p:cNvSpPr/>
          <p:nvPr/>
        </p:nvSpPr>
        <p:spPr>
          <a:xfrm>
            <a:off x="919225" y="2807809"/>
            <a:ext cx="4572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5" name="Google Shape;925;h3b1f15762288d989_2_114"/>
          <p:cNvSpPr txBox="1"/>
          <p:nvPr/>
        </p:nvSpPr>
        <p:spPr>
          <a:xfrm>
            <a:off x="1056385" y="2891519"/>
            <a:ext cx="4242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hasPatientData  </a:t>
            </a:r>
            <a:r>
              <a:rPr b="1" i="0" lang="en-US" sz="1200" u="none" cap="none" strike="noStrike">
                <a:solidFill>
                  <a:srgbClr val="B23A1E"/>
                </a:solidFill>
                <a:latin typeface="Consolas"/>
                <a:ea typeface="Consolas"/>
                <a:cs typeface="Consolas"/>
                <a:sym typeface="Consolas"/>
              </a:rPr>
              <a:t>Domain:</a:t>
            </a:r>
            <a:r>
              <a:rPr b="0" i="0" lang="en-US" sz="1200" u="none" cap="none" strike="noStrike">
                <a:solidFill>
                  <a:srgbClr val="B23A1E"/>
                </a:solidFill>
                <a:latin typeface="Consolas"/>
                <a:ea typeface="Consolas"/>
                <a:cs typeface="Consolas"/>
                <a:sym typeface="Consolas"/>
              </a:rPr>
              <a:t> LabResult</a:t>
            </a:r>
            <a:endParaRPr/>
          </a:p>
        </p:txBody>
      </p:sp>
      <p:sp>
        <p:nvSpPr>
          <p:cNvPr id="926" name="Google Shape;926;h3b1f15762288d989_2_114"/>
          <p:cNvSpPr txBox="1"/>
          <p:nvPr/>
        </p:nvSpPr>
        <p:spPr>
          <a:xfrm>
            <a:off x="919225" y="3457409"/>
            <a:ext cx="457200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Merged with </a:t>
            </a:r>
            <a:r>
              <a:rPr b="1" lang="en-US">
                <a:solidFill>
                  <a:srgbClr val="0B6E4F"/>
                </a:solidFill>
                <a:latin typeface="Consolas"/>
                <a:ea typeface="Consolas"/>
                <a:cs typeface="Consolas"/>
                <a:sym typeface="Consolas"/>
              </a:rPr>
              <a:t>hasPatientData Domain: Admission</a:t>
            </a:r>
            <a:r>
              <a:rPr b="0" i="0" lang="en-US" u="none" cap="none" strike="noStrike">
                <a:solidFill>
                  <a:srgbClr val="1F2328"/>
                </a:solidFill>
                <a:latin typeface="Calibri"/>
                <a:ea typeface="Calibri"/>
                <a:cs typeface="Calibri"/>
                <a:sym typeface="Calibri"/>
              </a:rPr>
              <a:t>, OWL infers that every lab result with patient data is an admission (pitfall P19). Graph checks allow </a:t>
            </a:r>
            <a:r>
              <a:rPr b="1" i="0" lang="en-US" u="none" cap="none" strike="noStrike">
                <a:solidFill>
                  <a:srgbClr val="1F2328"/>
                </a:solidFill>
                <a:latin typeface="Calibri"/>
                <a:ea typeface="Calibri"/>
                <a:cs typeface="Calibri"/>
                <a:sym typeface="Calibri"/>
              </a:rPr>
              <a:t>one domain per property</a:t>
            </a:r>
            <a:r>
              <a:rPr b="0" i="0" lang="en-US" u="none" cap="none" strike="noStrike">
                <a:solidFill>
                  <a:srgbClr val="1F2328"/>
                </a:solidFill>
                <a:latin typeface="Calibri"/>
                <a:ea typeface="Calibri"/>
                <a:cs typeface="Calibri"/>
                <a:sym typeface="Calibri"/>
              </a:rPr>
              <a:t>.</a:t>
            </a:r>
            <a:endParaRPr/>
          </a:p>
        </p:txBody>
      </p:sp>
      <p:sp>
        <p:nvSpPr>
          <p:cNvPr id="927" name="Google Shape;927;h3b1f15762288d989_2_114"/>
          <p:cNvSpPr/>
          <p:nvPr/>
        </p:nvSpPr>
        <p:spPr>
          <a:xfrm>
            <a:off x="841248" y="4718304"/>
            <a:ext cx="10515600" cy="658500"/>
          </a:xfrm>
          <a:prstGeom prst="roundRect">
            <a:avLst>
              <a:gd fmla="val 16667" name="adj"/>
            </a:avLst>
          </a:prstGeom>
          <a:solidFill>
            <a:srgbClr val="E6F2EC"/>
          </a:solidFill>
          <a:ln cap="flat" cmpd="sng" w="9525">
            <a:solidFill>
              <a:srgbClr val="B7D7C7"/>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28" name="Google Shape;928;h3b1f15762288d989_2_114"/>
          <p:cNvSpPr txBox="1"/>
          <p:nvPr/>
        </p:nvSpPr>
        <p:spPr>
          <a:xfrm>
            <a:off x="625678" y="7018775"/>
            <a:ext cx="9985200" cy="200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CORRECTION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hasPatientData  </a:t>
            </a:r>
            <a:r>
              <a:rPr b="1" i="0" lang="en-US" sz="1200" u="none" cap="none" strike="noStrike">
                <a:solidFill>
                  <a:srgbClr val="0B6E4F"/>
                </a:solidFill>
                <a:latin typeface="Consolas"/>
                <a:ea typeface="Consolas"/>
                <a:cs typeface="Consolas"/>
                <a:sym typeface="Consolas"/>
              </a:rPr>
              <a:t>Range:</a:t>
            </a:r>
            <a:r>
              <a:rPr b="0" i="0" lang="en-US" sz="1200" u="none" cap="none" strike="noStrike">
                <a:solidFill>
                  <a:srgbClr val="1F2328"/>
                </a:solidFill>
                <a:latin typeface="Consolas"/>
                <a:ea typeface="Consolas"/>
                <a:cs typeface="Consolas"/>
                <a:sym typeface="Consolas"/>
              </a:rPr>
              <a:t> PatientData</a:t>
            </a:r>
            <a:r>
              <a:rPr b="0" i="0" lang="en-US" sz="1300" u="none" cap="none" strike="noStrike">
                <a:solidFill>
                  <a:srgbClr val="5B6770"/>
                </a:solidFill>
                <a:latin typeface="Calibri"/>
                <a:ea typeface="Calibri"/>
                <a:cs typeface="Calibri"/>
                <a:sym typeface="Calibri"/>
              </a:rPr>
              <a:t>    |    </a:t>
            </a:r>
            <a:r>
              <a:rPr b="1" i="0" lang="en-US" sz="1200" u="none" cap="none" strike="noStrike">
                <a:solidFill>
                  <a:srgbClr val="0B6E4F"/>
                </a:solidFill>
                <a:latin typeface="Consolas"/>
                <a:ea typeface="Consolas"/>
                <a:cs typeface="Consolas"/>
                <a:sym typeface="Consolas"/>
              </a:rPr>
              <a:t>ObjectProperty:</a:t>
            </a:r>
            <a:r>
              <a:rPr b="0" i="0" lang="en-US" sz="1200" u="none" cap="none" strike="noStrike">
                <a:solidFill>
                  <a:srgbClr val="1F2328"/>
                </a:solidFill>
                <a:latin typeface="Consolas"/>
                <a:ea typeface="Consolas"/>
                <a:cs typeface="Consolas"/>
                <a:sym typeface="Consolas"/>
              </a:rPr>
              <a:t> labResultOf  </a:t>
            </a:r>
            <a:r>
              <a:rPr b="1" i="0" lang="en-US" sz="1200" u="none" cap="none" strike="noStrike">
                <a:solidFill>
                  <a:srgbClr val="0B6E4F"/>
                </a:solidFill>
                <a:latin typeface="Consolas"/>
                <a:ea typeface="Consolas"/>
                <a:cs typeface="Consolas"/>
                <a:sym typeface="Consolas"/>
              </a:rPr>
              <a:t>Domain:</a:t>
            </a:r>
            <a:r>
              <a:rPr b="0" i="0" lang="en-US" sz="1200" u="none" cap="none" strike="noStrike">
                <a:solidFill>
                  <a:srgbClr val="1F2328"/>
                </a:solidFill>
                <a:latin typeface="Consolas"/>
                <a:ea typeface="Consolas"/>
                <a:cs typeface="Consolas"/>
                <a:sym typeface="Consolas"/>
              </a:rPr>
              <a:t> LabResult</a:t>
            </a:r>
            <a:endParaRPr/>
          </a:p>
        </p:txBody>
      </p:sp>
      <p:sp>
        <p:nvSpPr>
          <p:cNvPr id="929" name="Google Shape;929;h3b1f15762288d989_2_114"/>
          <p:cNvSpPr txBox="1"/>
          <p:nvPr/>
        </p:nvSpPr>
        <p:spPr>
          <a:xfrm>
            <a:off x="1169012" y="4827438"/>
            <a:ext cx="10021800" cy="46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500">
                <a:solidFill>
                  <a:srgbClr val="5B6770"/>
                </a:solidFill>
                <a:latin typeface="Calibri"/>
                <a:ea typeface="Calibri"/>
                <a:cs typeface="Calibri"/>
                <a:sym typeface="Calibri"/>
              </a:rPr>
              <a:t>Problems go back to the </a:t>
            </a:r>
            <a:r>
              <a:rPr b="1" i="1" lang="en-US" sz="1500">
                <a:solidFill>
                  <a:srgbClr val="5B6770"/>
                </a:solidFill>
                <a:latin typeface="Calibri"/>
                <a:ea typeface="Calibri"/>
                <a:cs typeface="Calibri"/>
                <a:sym typeface="Calibri"/>
              </a:rPr>
              <a:t>Gen-LLM</a:t>
            </a:r>
            <a:r>
              <a:rPr lang="en-US" sz="1500">
                <a:solidFill>
                  <a:srgbClr val="5B6770"/>
                </a:solidFill>
                <a:latin typeface="Calibri"/>
                <a:ea typeface="Calibri"/>
                <a:cs typeface="Calibri"/>
                <a:sym typeface="Calibri"/>
              </a:rPr>
              <a:t> (up to 2 retries). If it </a:t>
            </a:r>
            <a:r>
              <a:rPr b="1" lang="en-US" sz="1500">
                <a:solidFill>
                  <a:srgbClr val="5B6770"/>
                </a:solidFill>
                <a:latin typeface="Calibri"/>
                <a:ea typeface="Calibri"/>
                <a:cs typeface="Calibri"/>
                <a:sym typeface="Calibri"/>
              </a:rPr>
              <a:t>still fails</a:t>
            </a:r>
            <a:r>
              <a:rPr lang="en-US" sz="1500">
                <a:solidFill>
                  <a:srgbClr val="5B6770"/>
                </a:solidFill>
                <a:latin typeface="Calibri"/>
                <a:ea typeface="Calibri"/>
                <a:cs typeface="Calibri"/>
                <a:sym typeface="Calibri"/>
              </a:rPr>
              <a:t>, the </a:t>
            </a:r>
            <a:r>
              <a:rPr b="1" i="1" lang="en-US" sz="1500">
                <a:solidFill>
                  <a:srgbClr val="5B6770"/>
                </a:solidFill>
                <a:latin typeface="Calibri"/>
                <a:ea typeface="Calibri"/>
                <a:cs typeface="Calibri"/>
                <a:sym typeface="Calibri"/>
              </a:rPr>
              <a:t>Judge-LLM</a:t>
            </a:r>
            <a:r>
              <a:rPr lang="en-US" sz="1500">
                <a:solidFill>
                  <a:srgbClr val="5B6770"/>
                </a:solidFill>
                <a:latin typeface="Calibri"/>
                <a:ea typeface="Calibri"/>
                <a:cs typeface="Calibri"/>
                <a:sym typeface="Calibri"/>
              </a:rPr>
              <a:t> picks the better of the </a:t>
            </a:r>
            <a:r>
              <a:rPr b="1" i="1" lang="en-US" sz="1500">
                <a:solidFill>
                  <a:srgbClr val="5B6770"/>
                </a:solidFill>
                <a:latin typeface="Calibri"/>
                <a:ea typeface="Calibri"/>
                <a:cs typeface="Calibri"/>
                <a:sym typeface="Calibri"/>
              </a:rPr>
              <a:t>Gen-LLM</a:t>
            </a:r>
            <a:r>
              <a:rPr lang="en-US" sz="1500">
                <a:solidFill>
                  <a:srgbClr val="5B6770"/>
                </a:solidFill>
                <a:latin typeface="Calibri"/>
                <a:ea typeface="Calibri"/>
                <a:cs typeface="Calibri"/>
                <a:sym typeface="Calibri"/>
              </a:rPr>
              <a:t>’s final version and the plain </a:t>
            </a:r>
            <a:r>
              <a:rPr b="1" i="1" lang="en-US" sz="1500">
                <a:solidFill>
                  <a:srgbClr val="5B6770"/>
                </a:solidFill>
                <a:latin typeface="Calibri"/>
                <a:ea typeface="Calibri"/>
                <a:cs typeface="Calibri"/>
                <a:sym typeface="Calibri"/>
              </a:rPr>
              <a:t>direct mapping</a:t>
            </a:r>
            <a:r>
              <a:rPr lang="en-US" sz="1500">
                <a:solidFill>
                  <a:srgbClr val="5B6770"/>
                </a:solidFill>
                <a:latin typeface="Calibri"/>
                <a:ea typeface="Calibri"/>
                <a:cs typeface="Calibri"/>
                <a:sym typeface="Calibri"/>
              </a:rPr>
              <a:t>.</a:t>
            </a:r>
            <a:endParaRPr sz="1500"/>
          </a:p>
        </p:txBody>
      </p:sp>
      <p:pic>
        <p:nvPicPr>
          <p:cNvPr id="930" name="Google Shape;930;h3b1f15762288d989_2_114" title="graph_checks_icon.png"/>
          <p:cNvPicPr preferRelativeResize="0"/>
          <p:nvPr/>
        </p:nvPicPr>
        <p:blipFill rotWithShape="1">
          <a:blip r:embed="rId3">
            <a:alphaModFix/>
          </a:blip>
          <a:srcRect b="19469" l="4324" r="13635" t="18031"/>
          <a:stretch/>
        </p:blipFill>
        <p:spPr>
          <a:xfrm>
            <a:off x="4682434" y="1948275"/>
            <a:ext cx="981848" cy="747949"/>
          </a:xfrm>
          <a:prstGeom prst="rect">
            <a:avLst/>
          </a:prstGeom>
          <a:noFill/>
          <a:ln>
            <a:noFill/>
          </a:ln>
        </p:spPr>
      </p:pic>
      <p:sp>
        <p:nvSpPr>
          <p:cNvPr id="931" name="Google Shape;931;h3b1f15762288d989_2_114"/>
          <p:cNvSpPr/>
          <p:nvPr/>
        </p:nvSpPr>
        <p:spPr>
          <a:xfrm>
            <a:off x="6062420" y="1765393"/>
            <a:ext cx="5193900" cy="2651760"/>
          </a:xfrm>
          <a:prstGeom prst="roundRect">
            <a:avLst>
              <a:gd fmla="val 16667" name="adj"/>
            </a:avLst>
          </a:prstGeom>
          <a:solidFill>
            <a:srgbClr val="FFFFFF"/>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2" name="Google Shape;932;h3b1f15762288d989_2_114"/>
          <p:cNvSpPr txBox="1"/>
          <p:nvPr/>
        </p:nvSpPr>
        <p:spPr>
          <a:xfrm>
            <a:off x="6291020" y="1948273"/>
            <a:ext cx="46269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600" u="none" cap="none" strike="noStrike">
                <a:solidFill>
                  <a:srgbClr val="0B6E4F"/>
                </a:solidFill>
                <a:latin typeface="Consolas"/>
                <a:ea typeface="Consolas"/>
                <a:cs typeface="Consolas"/>
                <a:sym typeface="Consolas"/>
              </a:rPr>
              <a:t>SEMANTIC ERROR · JUDGE-LLM</a:t>
            </a:r>
            <a:endParaRPr/>
          </a:p>
        </p:txBody>
      </p:sp>
      <p:sp>
        <p:nvSpPr>
          <p:cNvPr id="933" name="Google Shape;933;h3b1f15762288d989_2_114"/>
          <p:cNvSpPr txBox="1"/>
          <p:nvPr/>
        </p:nvSpPr>
        <p:spPr>
          <a:xfrm>
            <a:off x="6300164" y="2451193"/>
            <a:ext cx="46176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5B6770"/>
                </a:solidFill>
                <a:latin typeface="Calibri"/>
                <a:ea typeface="Calibri"/>
                <a:cs typeface="Calibri"/>
                <a:sym typeface="Calibri"/>
              </a:rPr>
              <a:t>Generated link for </a:t>
            </a:r>
            <a:r>
              <a:rPr b="1" lang="en-US">
                <a:solidFill>
                  <a:srgbClr val="0B6E4F"/>
                </a:solidFill>
                <a:latin typeface="Consolas"/>
                <a:ea typeface="Consolas"/>
                <a:cs typeface="Consolas"/>
                <a:sym typeface="Consolas"/>
              </a:rPr>
              <a:t>admission</a:t>
            </a:r>
            <a:r>
              <a:rPr b="0" i="0" lang="en-US" u="none" cap="none" strike="noStrike">
                <a:solidFill>
                  <a:srgbClr val="5B6770"/>
                </a:solidFill>
                <a:latin typeface="Calibri"/>
                <a:ea typeface="Calibri"/>
                <a:cs typeface="Calibri"/>
                <a:sym typeface="Calibri"/>
              </a:rPr>
              <a:t>:</a:t>
            </a:r>
            <a:endParaRPr/>
          </a:p>
        </p:txBody>
      </p:sp>
      <p:sp>
        <p:nvSpPr>
          <p:cNvPr id="934" name="Google Shape;934;h3b1f15762288d989_2_114"/>
          <p:cNvSpPr/>
          <p:nvPr/>
        </p:nvSpPr>
        <p:spPr>
          <a:xfrm>
            <a:off x="6300164" y="2807809"/>
            <a:ext cx="4563000" cy="375000"/>
          </a:xfrm>
          <a:prstGeom prst="rect">
            <a:avLst/>
          </a:prstGeom>
          <a:solidFill>
            <a:srgbClr val="FBE9E4"/>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935" name="Google Shape;935;h3b1f15762288d989_2_114"/>
          <p:cNvSpPr txBox="1"/>
          <p:nvPr/>
        </p:nvSpPr>
        <p:spPr>
          <a:xfrm>
            <a:off x="6373316" y="2891519"/>
            <a:ext cx="4434900" cy="184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B23A1E"/>
                </a:solidFill>
                <a:latin typeface="Consolas"/>
                <a:ea typeface="Consolas"/>
                <a:cs typeface="Consolas"/>
                <a:sym typeface="Consolas"/>
              </a:rPr>
              <a:t>ObjectProperty:</a:t>
            </a:r>
            <a:r>
              <a:rPr b="0" i="0" lang="en-US" sz="1200" u="none" cap="none" strike="noStrike">
                <a:solidFill>
                  <a:srgbClr val="B23A1E"/>
                </a:solidFill>
                <a:latin typeface="Consolas"/>
                <a:ea typeface="Consolas"/>
                <a:cs typeface="Consolas"/>
                <a:sym typeface="Consolas"/>
              </a:rPr>
              <a:t> hasPatient  </a:t>
            </a:r>
            <a:r>
              <a:rPr b="1" i="0" lang="en-US" sz="1200" u="none" cap="none" strike="noStrike">
                <a:solidFill>
                  <a:srgbClr val="B23A1E"/>
                </a:solidFill>
                <a:latin typeface="Consolas"/>
                <a:ea typeface="Consolas"/>
                <a:cs typeface="Consolas"/>
                <a:sym typeface="Consolas"/>
              </a:rPr>
              <a:t>Range:</a:t>
            </a:r>
            <a:r>
              <a:rPr b="0" i="0" lang="en-US" sz="1200" u="none" cap="none" strike="noStrike">
                <a:solidFill>
                  <a:srgbClr val="B23A1E"/>
                </a:solidFill>
                <a:latin typeface="Consolas"/>
                <a:ea typeface="Consolas"/>
                <a:cs typeface="Consolas"/>
                <a:sym typeface="Consolas"/>
              </a:rPr>
              <a:t> Patient</a:t>
            </a:r>
            <a:endParaRPr/>
          </a:p>
        </p:txBody>
      </p:sp>
      <p:sp>
        <p:nvSpPr>
          <p:cNvPr id="936" name="Google Shape;936;h3b1f15762288d989_2_114"/>
          <p:cNvSpPr txBox="1"/>
          <p:nvPr/>
        </p:nvSpPr>
        <p:spPr>
          <a:xfrm>
            <a:off x="6300164" y="3445625"/>
            <a:ext cx="4572000" cy="82296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u="none" cap="none" strike="noStrike">
                <a:solidFill>
                  <a:srgbClr val="1F2328"/>
                </a:solidFill>
                <a:latin typeface="Calibri"/>
                <a:ea typeface="Calibri"/>
                <a:cs typeface="Calibri"/>
                <a:sym typeface="Calibri"/>
              </a:rPr>
              <a:t>Valid OWL, but the </a:t>
            </a:r>
            <a:r>
              <a:rPr b="1" i="0" lang="en-US" u="none" cap="none" strike="noStrike">
                <a:solidFill>
                  <a:srgbClr val="1F2328"/>
                </a:solidFill>
                <a:latin typeface="Calibri"/>
                <a:ea typeface="Calibri"/>
                <a:cs typeface="Calibri"/>
                <a:sym typeface="Calibri"/>
              </a:rPr>
              <a:t>core ontology</a:t>
            </a:r>
            <a:r>
              <a:rPr b="0" i="0" lang="en-US" u="none" cap="none" strike="noStrike">
                <a:solidFill>
                  <a:srgbClr val="1F2328"/>
                </a:solidFill>
                <a:latin typeface="Calibri"/>
                <a:ea typeface="Calibri"/>
                <a:cs typeface="Calibri"/>
                <a:sym typeface="Calibri"/>
              </a:rPr>
              <a:t> already has </a:t>
            </a:r>
            <a:r>
              <a:rPr b="1" lang="en-US">
                <a:solidFill>
                  <a:srgbClr val="0B6E4F"/>
                </a:solidFill>
                <a:latin typeface="Consolas"/>
                <a:ea typeface="Consolas"/>
                <a:cs typeface="Consolas"/>
                <a:sym typeface="Consolas"/>
              </a:rPr>
              <a:t>PatientData</a:t>
            </a:r>
            <a:r>
              <a:rPr b="0" i="0" lang="en-US" u="none" cap="none" strike="noStrike">
                <a:solidFill>
                  <a:srgbClr val="1F2328"/>
                </a:solidFill>
                <a:latin typeface="Calibri"/>
                <a:ea typeface="Calibri"/>
                <a:cs typeface="Calibri"/>
                <a:sym typeface="Calibri"/>
              </a:rPr>
              <a:t>; now </a:t>
            </a:r>
            <a:r>
              <a:rPr b="1" i="0" lang="en-US" u="none" cap="none" strike="noStrike">
                <a:solidFill>
                  <a:srgbClr val="1F2328"/>
                </a:solidFill>
                <a:latin typeface="Calibri"/>
                <a:ea typeface="Calibri"/>
                <a:cs typeface="Calibri"/>
                <a:sym typeface="Calibri"/>
              </a:rPr>
              <a:t>two classes</a:t>
            </a:r>
            <a:r>
              <a:rPr b="0" i="0" lang="en-US" u="none" cap="none" strike="noStrike">
                <a:solidFill>
                  <a:srgbClr val="1F2328"/>
                </a:solidFill>
                <a:latin typeface="Calibri"/>
                <a:ea typeface="Calibri"/>
                <a:cs typeface="Calibri"/>
                <a:sym typeface="Calibri"/>
              </a:rPr>
              <a:t> mean the </a:t>
            </a:r>
            <a:r>
              <a:rPr b="1" i="0" lang="en-US" u="none" cap="none" strike="noStrike">
                <a:solidFill>
                  <a:srgbClr val="1F2328"/>
                </a:solidFill>
                <a:latin typeface="Calibri"/>
                <a:ea typeface="Calibri"/>
                <a:cs typeface="Calibri"/>
                <a:sym typeface="Calibri"/>
              </a:rPr>
              <a:t>same thing</a:t>
            </a:r>
            <a:r>
              <a:rPr b="0" i="0" lang="en-US" u="none" cap="none" strike="noStrike">
                <a:solidFill>
                  <a:srgbClr val="1F2328"/>
                </a:solidFill>
                <a:latin typeface="Calibri"/>
                <a:ea typeface="Calibri"/>
                <a:cs typeface="Calibri"/>
                <a:sym typeface="Calibri"/>
              </a:rPr>
              <a:t>. The </a:t>
            </a:r>
            <a:r>
              <a:rPr b="1" lang="en-US">
                <a:solidFill>
                  <a:srgbClr val="0B6E4F"/>
                </a:solidFill>
                <a:latin typeface="Consolas"/>
                <a:ea typeface="Consolas"/>
                <a:cs typeface="Consolas"/>
                <a:sym typeface="Consolas"/>
              </a:rPr>
              <a:t>JUDGE-LLM</a:t>
            </a:r>
            <a:r>
              <a:rPr b="0" i="0" lang="en-US" u="none" cap="none" strike="noStrike">
                <a:solidFill>
                  <a:srgbClr val="1F2328"/>
                </a:solidFill>
                <a:latin typeface="Calibri"/>
                <a:ea typeface="Calibri"/>
                <a:cs typeface="Calibri"/>
                <a:sym typeface="Calibri"/>
              </a:rPr>
              <a:t> sees the core and asks to </a:t>
            </a:r>
            <a:r>
              <a:rPr b="1" i="0" lang="en-US" u="none" cap="none" strike="noStrike">
                <a:solidFill>
                  <a:srgbClr val="1F2328"/>
                </a:solidFill>
                <a:latin typeface="Calibri"/>
                <a:ea typeface="Calibri"/>
                <a:cs typeface="Calibri"/>
                <a:sym typeface="Calibri"/>
              </a:rPr>
              <a:t>reuse</a:t>
            </a:r>
            <a:r>
              <a:rPr b="0" i="0" lang="en-US" u="none" cap="none" strike="noStrike">
                <a:solidFill>
                  <a:srgbClr val="1F2328"/>
                </a:solidFill>
                <a:latin typeface="Calibri"/>
                <a:ea typeface="Calibri"/>
                <a:cs typeface="Calibri"/>
                <a:sym typeface="Calibri"/>
              </a:rPr>
              <a:t> it.</a:t>
            </a:r>
            <a:endParaRPr/>
          </a:p>
        </p:txBody>
      </p:sp>
      <p:pic>
        <p:nvPicPr>
          <p:cNvPr id="937" name="Google Shape;937;h3b1f15762288d989_2_114" title="judge_llm_icon.png"/>
          <p:cNvPicPr preferRelativeResize="0"/>
          <p:nvPr/>
        </p:nvPicPr>
        <p:blipFill rotWithShape="1">
          <a:blip r:embed="rId4">
            <a:alphaModFix/>
          </a:blip>
          <a:srcRect b="12651" l="17110" r="7384" t="12532"/>
          <a:stretch/>
        </p:blipFill>
        <p:spPr>
          <a:xfrm>
            <a:off x="9918570" y="1807675"/>
            <a:ext cx="944597" cy="935849"/>
          </a:xfrm>
          <a:prstGeom prst="rect">
            <a:avLst/>
          </a:prstGeom>
          <a:noFill/>
          <a:ln>
            <a:noFill/>
          </a:ln>
        </p:spPr>
      </p:pic>
      <p:sp>
        <p:nvSpPr>
          <p:cNvPr id="938" name="Slide number 938"/>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10</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2" name="Shape 942"/>
        <p:cNvGrpSpPr/>
        <p:nvPr/>
      </p:nvGrpSpPr>
      <p:grpSpPr>
        <a:xfrm>
          <a:off x="0" y="0"/>
          <a:ext cx="0" cy="0"/>
          <a:chOff x="0" y="0"/>
          <a:chExt cx="0" cy="0"/>
        </a:xfrm>
      </p:grpSpPr>
      <p:sp>
        <p:nvSpPr>
          <p:cNvPr id="943" name="Google Shape;943;p11"/>
          <p:cNvSpPr txBox="1"/>
          <p:nvPr/>
        </p:nvSpPr>
        <p:spPr>
          <a:xfrm>
            <a:off x="795528" y="448056"/>
            <a:ext cx="10789800" cy="3108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STEP 6 / MERGE</a:t>
            </a:r>
            <a:endParaRPr b="0" i="0" sz="1400" u="none" cap="none" strike="noStrike">
              <a:solidFill>
                <a:srgbClr val="000000"/>
              </a:solidFill>
              <a:latin typeface="Arial"/>
              <a:ea typeface="Arial"/>
              <a:cs typeface="Arial"/>
              <a:sym typeface="Arial"/>
            </a:endParaRPr>
          </a:p>
        </p:txBody>
      </p:sp>
      <p:sp>
        <p:nvSpPr>
          <p:cNvPr id="944" name="Google Shape;944;p11"/>
          <p:cNvSpPr txBox="1"/>
          <p:nvPr/>
        </p:nvSpPr>
        <p:spPr>
          <a:xfrm>
            <a:off x="795528" y="850392"/>
            <a:ext cx="10835700" cy="685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The ontology we built now helps build the next part.</a:t>
            </a:r>
            <a:endParaRPr b="0" i="0" sz="1400" u="none" cap="none" strike="noStrike">
              <a:solidFill>
                <a:srgbClr val="000000"/>
              </a:solidFill>
              <a:latin typeface="Arial"/>
              <a:ea typeface="Arial"/>
              <a:cs typeface="Arial"/>
              <a:sym typeface="Arial"/>
            </a:endParaRPr>
          </a:p>
        </p:txBody>
      </p:sp>
      <p:sp>
        <p:nvSpPr>
          <p:cNvPr id="945" name="Google Shape;945;p11"/>
          <p:cNvSpPr txBox="1"/>
          <p:nvPr/>
        </p:nvSpPr>
        <p:spPr>
          <a:xfrm>
            <a:off x="795528" y="1609344"/>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Integrate</a:t>
            </a:r>
            <a:r>
              <a:rPr b="0" i="0" lang="en-US" sz="1600" u="none" cap="none" strike="noStrike">
                <a:solidFill>
                  <a:srgbClr val="5B6770"/>
                </a:solidFill>
                <a:latin typeface="Calibri"/>
                <a:ea typeface="Calibri"/>
                <a:cs typeface="Calibri"/>
                <a:sym typeface="Calibri"/>
              </a:rPr>
              <a:t> the refined fragment; use the </a:t>
            </a:r>
            <a:r>
              <a:rPr b="1" i="0" lang="en-US" sz="1600" u="none" cap="none" strike="noStrike">
                <a:solidFill>
                  <a:srgbClr val="5B6770"/>
                </a:solidFill>
                <a:latin typeface="Calibri"/>
                <a:ea typeface="Calibri"/>
                <a:cs typeface="Calibri"/>
                <a:sym typeface="Calibri"/>
              </a:rPr>
              <a:t>expanded</a:t>
            </a:r>
            <a:r>
              <a:rPr b="0" i="0" lang="en-US" sz="1600" u="none" cap="none" strike="noStrike">
                <a:solidFill>
                  <a:srgbClr val="5B6770"/>
                </a:solidFill>
                <a:latin typeface="Calibri"/>
                <a:ea typeface="Calibri"/>
                <a:cs typeface="Calibri"/>
                <a:sym typeface="Calibri"/>
              </a:rPr>
              <a:t> core as retrieval context.</a:t>
            </a:r>
            <a:endParaRPr b="0" i="0" sz="1400" u="none" cap="none" strike="noStrike">
              <a:solidFill>
                <a:srgbClr val="000000"/>
              </a:solidFill>
              <a:latin typeface="Arial"/>
              <a:ea typeface="Arial"/>
              <a:cs typeface="Arial"/>
              <a:sym typeface="Arial"/>
            </a:endParaRPr>
          </a:p>
        </p:txBody>
      </p:sp>
      <p:sp>
        <p:nvSpPr>
          <p:cNvPr id="946" name="Google Shape;946;p11"/>
          <p:cNvSpPr/>
          <p:nvPr/>
        </p:nvSpPr>
        <p:spPr>
          <a:xfrm>
            <a:off x="524041" y="2139696"/>
            <a:ext cx="3017400" cy="25419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p11"/>
          <p:cNvSpPr txBox="1"/>
          <p:nvPr/>
        </p:nvSpPr>
        <p:spPr>
          <a:xfrm>
            <a:off x="780073" y="2304288"/>
            <a:ext cx="25785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EXISTING CORE  O₁</a:t>
            </a:r>
            <a:endParaRPr b="0" i="0" sz="1400" u="none" cap="none" strike="noStrike">
              <a:solidFill>
                <a:srgbClr val="000000"/>
              </a:solidFill>
              <a:latin typeface="Arial"/>
              <a:ea typeface="Arial"/>
              <a:cs typeface="Arial"/>
              <a:sym typeface="Arial"/>
            </a:endParaRPr>
          </a:p>
        </p:txBody>
      </p:sp>
      <p:sp>
        <p:nvSpPr>
          <p:cNvPr id="948" name="Google Shape;948;p11"/>
          <p:cNvSpPr/>
          <p:nvPr/>
        </p:nvSpPr>
        <p:spPr>
          <a:xfrm>
            <a:off x="1118401" y="3017520"/>
            <a:ext cx="1847100" cy="6309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p11"/>
          <p:cNvSpPr txBox="1"/>
          <p:nvPr/>
        </p:nvSpPr>
        <p:spPr>
          <a:xfrm>
            <a:off x="1442885" y="3182112"/>
            <a:ext cx="15363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sp>
        <p:nvSpPr>
          <p:cNvPr id="950" name="Google Shape;950;p11"/>
          <p:cNvSpPr txBox="1"/>
          <p:nvPr/>
        </p:nvSpPr>
        <p:spPr>
          <a:xfrm>
            <a:off x="1090969" y="4005072"/>
            <a:ext cx="20301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already validated</a:t>
            </a:r>
            <a:endParaRPr b="0" i="0" sz="1400" u="none" cap="none" strike="noStrike">
              <a:solidFill>
                <a:srgbClr val="000000"/>
              </a:solidFill>
              <a:latin typeface="Arial"/>
              <a:ea typeface="Arial"/>
              <a:cs typeface="Arial"/>
              <a:sym typeface="Arial"/>
            </a:endParaRPr>
          </a:p>
        </p:txBody>
      </p:sp>
      <p:sp>
        <p:nvSpPr>
          <p:cNvPr id="951" name="Google Shape;951;p11"/>
          <p:cNvSpPr txBox="1"/>
          <p:nvPr/>
        </p:nvSpPr>
        <p:spPr>
          <a:xfrm>
            <a:off x="3678721" y="3108960"/>
            <a:ext cx="365700" cy="538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3500"/>
              <a:buFont typeface="Arial"/>
              <a:buNone/>
            </a:pPr>
            <a:r>
              <a:rPr b="1" i="0" lang="en-US" sz="3500" u="none" cap="none" strike="noStrike">
                <a:solidFill>
                  <a:srgbClr val="0B6E4F"/>
                </a:solidFill>
                <a:latin typeface="Cambria"/>
                <a:ea typeface="Cambria"/>
                <a:cs typeface="Cambria"/>
                <a:sym typeface="Cambria"/>
              </a:rPr>
              <a:t>+</a:t>
            </a:r>
            <a:endParaRPr b="0" i="0" sz="1400" u="none" cap="none" strike="noStrike">
              <a:solidFill>
                <a:srgbClr val="000000"/>
              </a:solidFill>
              <a:latin typeface="Arial"/>
              <a:ea typeface="Arial"/>
              <a:cs typeface="Arial"/>
              <a:sym typeface="Arial"/>
            </a:endParaRPr>
          </a:p>
        </p:txBody>
      </p:sp>
      <p:sp>
        <p:nvSpPr>
          <p:cNvPr id="952" name="Google Shape;952;p11"/>
          <p:cNvSpPr/>
          <p:nvPr/>
        </p:nvSpPr>
        <p:spPr>
          <a:xfrm>
            <a:off x="4181641" y="2139696"/>
            <a:ext cx="2944500" cy="2541900"/>
          </a:xfrm>
          <a:prstGeom prst="roundRect">
            <a:avLst>
              <a:gd fmla="val 10000" name="adj"/>
            </a:avLst>
          </a:prstGeom>
          <a:solidFill>
            <a:srgbClr val="FFFFFF"/>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11"/>
          <p:cNvSpPr txBox="1"/>
          <p:nvPr/>
        </p:nvSpPr>
        <p:spPr>
          <a:xfrm>
            <a:off x="4410241" y="2304288"/>
            <a:ext cx="25512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REFINED DELTA  ΔO</a:t>
            </a:r>
            <a:r>
              <a:rPr b="1" baseline="-25000" i="0" lang="en-US" sz="1520" u="none" cap="none" strike="noStrike">
                <a:solidFill>
                  <a:srgbClr val="2F6B78"/>
                </a:solidFill>
                <a:latin typeface="Consolas"/>
                <a:ea typeface="Consolas"/>
                <a:cs typeface="Consolas"/>
                <a:sym typeface="Consolas"/>
              </a:rPr>
              <a:t>admission</a:t>
            </a:r>
            <a:endParaRPr b="0" baseline="-25000" i="0" sz="1400" u="none" cap="none" strike="noStrike">
              <a:solidFill>
                <a:srgbClr val="000000"/>
              </a:solidFill>
              <a:latin typeface="Arial"/>
              <a:ea typeface="Arial"/>
              <a:cs typeface="Arial"/>
              <a:sym typeface="Arial"/>
            </a:endParaRPr>
          </a:p>
        </p:txBody>
      </p:sp>
      <p:sp>
        <p:nvSpPr>
          <p:cNvPr id="954" name="Google Shape;954;p11"/>
          <p:cNvSpPr/>
          <p:nvPr/>
        </p:nvSpPr>
        <p:spPr>
          <a:xfrm>
            <a:off x="4666273" y="3017520"/>
            <a:ext cx="1956900" cy="630900"/>
          </a:xfrm>
          <a:prstGeom prst="roundRect">
            <a:avLst>
              <a:gd fmla="val 10000" name="adj"/>
            </a:avLst>
          </a:prstGeom>
          <a:solidFill>
            <a:srgbClr val="F3F5F4"/>
          </a:solidFill>
          <a:ln cap="flat" cmpd="sng" w="12700">
            <a:solidFill>
              <a:srgbClr val="2F6B78"/>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5" name="Google Shape;955;p11"/>
          <p:cNvSpPr txBox="1"/>
          <p:nvPr/>
        </p:nvSpPr>
        <p:spPr>
          <a:xfrm>
            <a:off x="5054765" y="3172968"/>
            <a:ext cx="15636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56" name="Google Shape;956;p11"/>
          <p:cNvSpPr txBox="1"/>
          <p:nvPr/>
        </p:nvSpPr>
        <p:spPr>
          <a:xfrm>
            <a:off x="4355377" y="3968496"/>
            <a:ext cx="26334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Relations · labels · provenance</a:t>
            </a:r>
            <a:endParaRPr b="0" i="0" sz="1400" u="none" cap="none" strike="noStrike">
              <a:solidFill>
                <a:srgbClr val="000000"/>
              </a:solidFill>
              <a:latin typeface="Arial"/>
              <a:ea typeface="Arial"/>
              <a:cs typeface="Arial"/>
              <a:sym typeface="Arial"/>
            </a:endParaRPr>
          </a:p>
        </p:txBody>
      </p:sp>
      <p:cxnSp>
        <p:nvCxnSpPr>
          <p:cNvPr id="957" name="Google Shape;957;p11"/>
          <p:cNvCxnSpPr/>
          <p:nvPr/>
        </p:nvCxnSpPr>
        <p:spPr>
          <a:xfrm>
            <a:off x="7263169" y="3310128"/>
            <a:ext cx="502800" cy="0"/>
          </a:xfrm>
          <a:prstGeom prst="straightConnector1">
            <a:avLst/>
          </a:prstGeom>
          <a:noFill/>
          <a:ln cap="flat" cmpd="sng" w="31750">
            <a:solidFill>
              <a:srgbClr val="0B6E4F"/>
            </a:solidFill>
            <a:prstDash val="solid"/>
            <a:miter lim="80"/>
            <a:headEnd len="sm" w="sm" type="none"/>
            <a:tailEnd len="med" w="med" type="triangle"/>
          </a:ln>
        </p:spPr>
      </p:cxnSp>
      <p:sp>
        <p:nvSpPr>
          <p:cNvPr id="958" name="Google Shape;958;p11"/>
          <p:cNvSpPr/>
          <p:nvPr/>
        </p:nvSpPr>
        <p:spPr>
          <a:xfrm>
            <a:off x="7930675" y="2139700"/>
            <a:ext cx="3843900" cy="2541900"/>
          </a:xfrm>
          <a:prstGeom prst="roundRect">
            <a:avLst>
              <a:gd fmla="val 10000" name="adj"/>
            </a:avLst>
          </a:prstGeom>
          <a:solidFill>
            <a:srgbClr val="FFFFFF"/>
          </a:solidFill>
          <a:ln cap="flat" cmpd="sng" w="1777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9" name="Google Shape;959;p11"/>
          <p:cNvSpPr txBox="1"/>
          <p:nvPr/>
        </p:nvSpPr>
        <p:spPr>
          <a:xfrm>
            <a:off x="8186713" y="2304288"/>
            <a:ext cx="27249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EXPANDED CORE  O₂</a:t>
            </a:r>
            <a:endParaRPr b="0" i="0" sz="1400" u="none" cap="none" strike="noStrike">
              <a:solidFill>
                <a:srgbClr val="000000"/>
              </a:solidFill>
              <a:latin typeface="Arial"/>
              <a:ea typeface="Arial"/>
              <a:cs typeface="Arial"/>
              <a:sym typeface="Arial"/>
            </a:endParaRPr>
          </a:p>
        </p:txBody>
      </p:sp>
      <p:sp>
        <p:nvSpPr>
          <p:cNvPr id="960" name="Google Shape;960;p11"/>
          <p:cNvSpPr/>
          <p:nvPr/>
        </p:nvSpPr>
        <p:spPr>
          <a:xfrm>
            <a:off x="8025760" y="3107189"/>
            <a:ext cx="12345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1" name="Google Shape;961;p11"/>
          <p:cNvSpPr txBox="1"/>
          <p:nvPr/>
        </p:nvSpPr>
        <p:spPr>
          <a:xfrm>
            <a:off x="8025772" y="3277634"/>
            <a:ext cx="12345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Admission</a:t>
            </a:r>
            <a:endParaRPr b="0" i="0" sz="1400" u="none" cap="none" strike="noStrike">
              <a:solidFill>
                <a:srgbClr val="000000"/>
              </a:solidFill>
              <a:latin typeface="Arial"/>
              <a:ea typeface="Arial"/>
              <a:cs typeface="Arial"/>
              <a:sym typeface="Arial"/>
            </a:endParaRPr>
          </a:p>
        </p:txBody>
      </p:sp>
      <p:sp>
        <p:nvSpPr>
          <p:cNvPr id="962" name="Google Shape;962;p11"/>
          <p:cNvSpPr/>
          <p:nvPr/>
        </p:nvSpPr>
        <p:spPr>
          <a:xfrm>
            <a:off x="10426124" y="3083041"/>
            <a:ext cx="1271100" cy="521100"/>
          </a:xfrm>
          <a:prstGeom prst="roundRect">
            <a:avLst>
              <a:gd fmla="val 10000" name="adj"/>
            </a:avLst>
          </a:prstGeom>
          <a:solidFill>
            <a:srgbClr val="E6F2EC"/>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3" name="Google Shape;963;p11"/>
          <p:cNvSpPr txBox="1"/>
          <p:nvPr/>
        </p:nvSpPr>
        <p:spPr>
          <a:xfrm>
            <a:off x="10413220" y="3253486"/>
            <a:ext cx="12711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PatientData</a:t>
            </a:r>
            <a:endParaRPr b="0" i="0" sz="1400" u="none" cap="none" strike="noStrike">
              <a:solidFill>
                <a:srgbClr val="000000"/>
              </a:solidFill>
              <a:latin typeface="Arial"/>
              <a:ea typeface="Arial"/>
              <a:cs typeface="Arial"/>
              <a:sym typeface="Arial"/>
            </a:endParaRPr>
          </a:p>
        </p:txBody>
      </p:sp>
      <p:cxnSp>
        <p:nvCxnSpPr>
          <p:cNvPr id="964" name="Google Shape;964;p11"/>
          <p:cNvCxnSpPr/>
          <p:nvPr/>
        </p:nvCxnSpPr>
        <p:spPr>
          <a:xfrm flipH="1" rot="10800000">
            <a:off x="9336422" y="3408384"/>
            <a:ext cx="1033200" cy="3600"/>
          </a:xfrm>
          <a:prstGeom prst="straightConnector1">
            <a:avLst/>
          </a:prstGeom>
          <a:noFill/>
          <a:ln cap="flat" cmpd="sng" w="29200">
            <a:solidFill>
              <a:srgbClr val="3A7D8C"/>
            </a:solidFill>
            <a:prstDash val="solid"/>
            <a:miter lim="80"/>
            <a:headEnd len="sm" w="sm" type="none"/>
            <a:tailEnd len="med" w="med" type="triangle"/>
          </a:ln>
        </p:spPr>
      </p:cxnSp>
      <p:sp>
        <p:nvSpPr>
          <p:cNvPr id="965" name="Google Shape;965;p11"/>
          <p:cNvSpPr txBox="1"/>
          <p:nvPr/>
        </p:nvSpPr>
        <p:spPr>
          <a:xfrm>
            <a:off x="8991283" y="3158219"/>
            <a:ext cx="1609200" cy="1539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000" u="none" cap="none" strike="noStrike">
                <a:solidFill>
                  <a:srgbClr val="2F6B78"/>
                </a:solidFill>
                <a:latin typeface="Consolas"/>
                <a:ea typeface="Consolas"/>
                <a:cs typeface="Consolas"/>
                <a:sym typeface="Consolas"/>
              </a:rPr>
              <a:t>hasPatientData</a:t>
            </a:r>
            <a:endParaRPr b="0" i="0" sz="1000" u="none" cap="none" strike="noStrike">
              <a:solidFill>
                <a:srgbClr val="000000"/>
              </a:solidFill>
              <a:latin typeface="Arial"/>
              <a:ea typeface="Arial"/>
              <a:cs typeface="Arial"/>
              <a:sym typeface="Arial"/>
            </a:endParaRPr>
          </a:p>
        </p:txBody>
      </p:sp>
      <p:sp>
        <p:nvSpPr>
          <p:cNvPr id="966" name="Google Shape;966;p11"/>
          <p:cNvSpPr txBox="1"/>
          <p:nvPr/>
        </p:nvSpPr>
        <p:spPr>
          <a:xfrm>
            <a:off x="8223289" y="4151376"/>
            <a:ext cx="26976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0" i="0" lang="en-US" sz="1550" u="none" cap="none" strike="noStrike">
                <a:solidFill>
                  <a:srgbClr val="5B6770"/>
                </a:solidFill>
                <a:latin typeface="Calibri"/>
                <a:ea typeface="Calibri"/>
                <a:cs typeface="Calibri"/>
                <a:sym typeface="Calibri"/>
              </a:rPr>
              <a:t>+ enriched annotations</a:t>
            </a:r>
            <a:endParaRPr b="0" i="0" sz="1400" u="none" cap="none" strike="noStrike">
              <a:solidFill>
                <a:srgbClr val="000000"/>
              </a:solidFill>
              <a:latin typeface="Arial"/>
              <a:ea typeface="Arial"/>
              <a:cs typeface="Arial"/>
              <a:sym typeface="Arial"/>
            </a:endParaRPr>
          </a:p>
        </p:txBody>
      </p:sp>
      <p:sp>
        <p:nvSpPr>
          <p:cNvPr id="967" name="Google Shape;967;p11"/>
          <p:cNvSpPr/>
          <p:nvPr/>
        </p:nvSpPr>
        <p:spPr>
          <a:xfrm>
            <a:off x="822960" y="4892040"/>
            <a:ext cx="10561200" cy="5943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11"/>
          <p:cNvSpPr txBox="1"/>
          <p:nvPr/>
        </p:nvSpPr>
        <p:spPr>
          <a:xfrm>
            <a:off x="1024128" y="5038344"/>
            <a:ext cx="10131600" cy="246300"/>
          </a:xfrm>
          <a:prstGeom prst="rect">
            <a:avLst/>
          </a:prstGeom>
          <a:noFill/>
          <a:ln>
            <a:noFill/>
          </a:ln>
        </p:spPr>
        <p:txBody>
          <a:bodyPr anchorCtr="0" anchor="ctr" bIns="0" lIns="0" spcFirstLastPara="1" rIns="0" wrap="square" tIns="0">
            <a:spAutoFit/>
          </a:bodyPr>
          <a:lstStyle/>
          <a:p>
            <a:pPr indent="0" lvl="0" marL="0" marR="0" rtl="0" algn="l">
              <a:lnSpc>
                <a:spcPct val="107000"/>
              </a:lnSpc>
              <a:spcBef>
                <a:spcPts val="0"/>
              </a:spcBef>
              <a:spcAft>
                <a:spcPts val="0"/>
              </a:spcAft>
              <a:buClr>
                <a:srgbClr val="000000"/>
              </a:buClr>
              <a:buSzPts val="1600"/>
              <a:buFont typeface="Arial"/>
              <a:buNone/>
            </a:pPr>
            <a:r>
              <a:rPr b="1" i="0" lang="en-US" sz="1600" u="none" cap="none" strike="noStrike">
                <a:solidFill>
                  <a:srgbClr val="0B6E4F"/>
                </a:solidFill>
                <a:latin typeface="Calibri"/>
                <a:ea typeface="Calibri"/>
                <a:cs typeface="Calibri"/>
                <a:sym typeface="Calibri"/>
              </a:rPr>
              <a:t>THE LOOP   </a:t>
            </a:r>
            <a:r>
              <a:rPr b="0" i="0" lang="en-US" sz="1600" u="none" cap="none" strike="noStrike">
                <a:solidFill>
                  <a:srgbClr val="1F2328"/>
                </a:solidFill>
                <a:latin typeface="Calibri"/>
                <a:ea typeface="Calibri"/>
                <a:cs typeface="Calibri"/>
                <a:sym typeface="Calibri"/>
              </a:rPr>
              <a:t>O₂ becomes a retrieval source for the next table → a coherent ontology </a:t>
            </a:r>
            <a:r>
              <a:rPr b="1" i="0" lang="en-US" sz="1600" u="none" cap="none" strike="noStrike">
                <a:solidFill>
                  <a:srgbClr val="1F2328"/>
                </a:solidFill>
                <a:latin typeface="Calibri"/>
                <a:ea typeface="Calibri"/>
                <a:cs typeface="Calibri"/>
                <a:sym typeface="Calibri"/>
              </a:rPr>
              <a:t>grows</a:t>
            </a:r>
            <a:r>
              <a:rPr b="0" i="0" lang="en-US" sz="1600" u="none" cap="none" strike="noStrike">
                <a:solidFill>
                  <a:srgbClr val="1F2328"/>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969" name="Google Shape;969;p11"/>
          <p:cNvSpPr/>
          <p:nvPr/>
        </p:nvSpPr>
        <p:spPr>
          <a:xfrm>
            <a:off x="804672"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11"/>
          <p:cNvSpPr txBox="1"/>
          <p:nvPr/>
        </p:nvSpPr>
        <p:spPr>
          <a:xfrm>
            <a:off x="85953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1  ORDER</a:t>
            </a:r>
            <a:endParaRPr b="0" i="0" sz="1400" u="none" cap="none" strike="noStrike">
              <a:solidFill>
                <a:srgbClr val="000000"/>
              </a:solidFill>
              <a:latin typeface="Arial"/>
              <a:ea typeface="Arial"/>
              <a:cs typeface="Arial"/>
              <a:sym typeface="Arial"/>
            </a:endParaRPr>
          </a:p>
        </p:txBody>
      </p:sp>
      <p:sp>
        <p:nvSpPr>
          <p:cNvPr id="971" name="Google Shape;971;p11"/>
          <p:cNvSpPr/>
          <p:nvPr/>
        </p:nvSpPr>
        <p:spPr>
          <a:xfrm>
            <a:off x="2642615"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11"/>
          <p:cNvSpPr txBox="1"/>
          <p:nvPr/>
        </p:nvSpPr>
        <p:spPr>
          <a:xfrm>
            <a:off x="2697479"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2  SEED</a:t>
            </a:r>
            <a:endParaRPr b="0" i="0" sz="1400" u="none" cap="none" strike="noStrike">
              <a:solidFill>
                <a:srgbClr val="000000"/>
              </a:solidFill>
              <a:latin typeface="Arial"/>
              <a:ea typeface="Arial"/>
              <a:cs typeface="Arial"/>
              <a:sym typeface="Arial"/>
            </a:endParaRPr>
          </a:p>
        </p:txBody>
      </p:sp>
      <p:sp>
        <p:nvSpPr>
          <p:cNvPr id="973" name="Google Shape;973;p11"/>
          <p:cNvSpPr/>
          <p:nvPr/>
        </p:nvSpPr>
        <p:spPr>
          <a:xfrm>
            <a:off x="4480559"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4" name="Google Shape;974;p11"/>
          <p:cNvSpPr txBox="1"/>
          <p:nvPr/>
        </p:nvSpPr>
        <p:spPr>
          <a:xfrm>
            <a:off x="4535423"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3  RETRIEVE</a:t>
            </a:r>
            <a:endParaRPr b="0" i="0" sz="1400" u="none" cap="none" strike="noStrike">
              <a:solidFill>
                <a:srgbClr val="000000"/>
              </a:solidFill>
              <a:latin typeface="Arial"/>
              <a:ea typeface="Arial"/>
              <a:cs typeface="Arial"/>
              <a:sym typeface="Arial"/>
            </a:endParaRPr>
          </a:p>
        </p:txBody>
      </p:sp>
      <p:sp>
        <p:nvSpPr>
          <p:cNvPr id="975" name="Google Shape;975;p11"/>
          <p:cNvSpPr/>
          <p:nvPr/>
        </p:nvSpPr>
        <p:spPr>
          <a:xfrm>
            <a:off x="6318503"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6" name="Google Shape;976;p11"/>
          <p:cNvSpPr txBox="1"/>
          <p:nvPr/>
        </p:nvSpPr>
        <p:spPr>
          <a:xfrm>
            <a:off x="6373367"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4  GENERATE</a:t>
            </a:r>
            <a:endParaRPr b="0" i="0" sz="1400" u="none" cap="none" strike="noStrike">
              <a:solidFill>
                <a:srgbClr val="000000"/>
              </a:solidFill>
              <a:latin typeface="Arial"/>
              <a:ea typeface="Arial"/>
              <a:cs typeface="Arial"/>
              <a:sym typeface="Arial"/>
            </a:endParaRPr>
          </a:p>
        </p:txBody>
      </p:sp>
      <p:sp>
        <p:nvSpPr>
          <p:cNvPr id="977" name="Google Shape;977;p11"/>
          <p:cNvSpPr/>
          <p:nvPr/>
        </p:nvSpPr>
        <p:spPr>
          <a:xfrm>
            <a:off x="8156448" y="5797296"/>
            <a:ext cx="1645800" cy="310800"/>
          </a:xfrm>
          <a:prstGeom prst="roundRect">
            <a:avLst>
              <a:gd fmla="val 10000" name="adj"/>
            </a:avLst>
          </a:prstGeom>
          <a:solidFill>
            <a:srgbClr val="E6F2EC"/>
          </a:solidFill>
          <a:ln cap="flat" cmpd="sng" w="12700">
            <a:solidFill>
              <a:srgbClr val="E6F2E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8" name="Google Shape;978;p11"/>
          <p:cNvSpPr txBox="1"/>
          <p:nvPr/>
        </p:nvSpPr>
        <p:spPr>
          <a:xfrm>
            <a:off x="8211312"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5  VALIDATE</a:t>
            </a:r>
            <a:endParaRPr b="0" i="0" sz="1400" u="none" cap="none" strike="noStrike">
              <a:solidFill>
                <a:srgbClr val="000000"/>
              </a:solidFill>
              <a:latin typeface="Arial"/>
              <a:ea typeface="Arial"/>
              <a:cs typeface="Arial"/>
              <a:sym typeface="Arial"/>
            </a:endParaRPr>
          </a:p>
        </p:txBody>
      </p:sp>
      <p:sp>
        <p:nvSpPr>
          <p:cNvPr id="979" name="Google Shape;979;p11"/>
          <p:cNvSpPr/>
          <p:nvPr/>
        </p:nvSpPr>
        <p:spPr>
          <a:xfrm>
            <a:off x="9994392" y="5797296"/>
            <a:ext cx="1645800" cy="310800"/>
          </a:xfrm>
          <a:prstGeom prst="roundRect">
            <a:avLst>
              <a:gd fmla="val 10000" name="adj"/>
            </a:avLst>
          </a:prstGeom>
          <a:solidFill>
            <a:srgbClr val="0B6E4F"/>
          </a:solidFill>
          <a:ln cap="flat" cmpd="sng" w="127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0" name="Google Shape;980;p11"/>
          <p:cNvSpPr txBox="1"/>
          <p:nvPr/>
        </p:nvSpPr>
        <p:spPr>
          <a:xfrm>
            <a:off x="10049256" y="5833872"/>
            <a:ext cx="1527000" cy="2469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6  MERGE</a:t>
            </a:r>
            <a:endParaRPr b="0" i="0" sz="1400" u="none" cap="none" strike="noStrike">
              <a:solidFill>
                <a:srgbClr val="000000"/>
              </a:solidFill>
              <a:latin typeface="Arial"/>
              <a:ea typeface="Arial"/>
              <a:cs typeface="Arial"/>
              <a:sym typeface="Arial"/>
            </a:endParaRPr>
          </a:p>
        </p:txBody>
      </p:sp>
      <p:sp>
        <p:nvSpPr>
          <p:cNvPr id="981" name="Slide number 981"/>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11</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5" name="Shape 985"/>
        <p:cNvGrpSpPr/>
        <p:nvPr/>
      </p:nvGrpSpPr>
      <p:grpSpPr>
        <a:xfrm>
          <a:off x="0" y="0"/>
          <a:ext cx="0" cy="0"/>
          <a:chOff x="0" y="0"/>
          <a:chExt cx="0" cy="0"/>
        </a:xfrm>
      </p:grpSpPr>
      <p:sp>
        <p:nvSpPr>
          <p:cNvPr id="986" name="Google Shape;986;h4c5bf77df5a6a1aa_1_1"/>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987" name="Google Shape;987;h4c5bf77df5a6a1aa_1_1"/>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1. Follow the foreign keys</a:t>
            </a:r>
            <a:endParaRPr b="0" i="0" sz="1400" u="none" cap="none" strike="noStrike">
              <a:solidFill>
                <a:srgbClr val="000000"/>
              </a:solidFill>
              <a:latin typeface="Arial"/>
              <a:ea typeface="Arial"/>
              <a:cs typeface="Arial"/>
              <a:sym typeface="Arial"/>
            </a:endParaRPr>
          </a:p>
        </p:txBody>
      </p:sp>
      <p:sp>
        <p:nvSpPr>
          <p:cNvPr id="988" name="Google Shape;988;h4c5bf77df5a6a1aa_1_1"/>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Start where the foreign-key dependencies begin.</a:t>
            </a:r>
            <a:endParaRPr b="0" i="0" sz="1400" u="none" cap="none" strike="noStrike">
              <a:solidFill>
                <a:srgbClr val="000000"/>
              </a:solidFill>
              <a:latin typeface="Arial"/>
              <a:ea typeface="Arial"/>
              <a:cs typeface="Arial"/>
              <a:sym typeface="Arial"/>
            </a:endParaRPr>
          </a:p>
        </p:txBody>
      </p:sp>
      <p:sp>
        <p:nvSpPr>
          <p:cNvPr id="989" name="Google Shape;989;h4c5bf77df5a6a1aa_1_1"/>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0" name="Google Shape;990;h4c5bf77df5a6a1aa_1_1"/>
          <p:cNvSpPr/>
          <p:nvPr/>
        </p:nvSpPr>
        <p:spPr>
          <a:xfrm>
            <a:off x="10049256"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h4c5bf77df5a6a1aa_1_1"/>
          <p:cNvSpPr/>
          <p:nvPr/>
        </p:nvSpPr>
        <p:spPr>
          <a:xfrm>
            <a:off x="10405872"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2" name="Google Shape;992;h4c5bf77df5a6a1aa_1_1"/>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3" name="Google Shape;993;h4c5bf77df5a6a1aa_1_1"/>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h4c5bf77df5a6a1aa_1_1"/>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5" name="Google Shape;995;h4c5bf77df5a6a1aa_1_1"/>
          <p:cNvSpPr txBox="1"/>
          <p:nvPr/>
        </p:nvSpPr>
        <p:spPr>
          <a:xfrm>
            <a:off x="10643688" y="640080"/>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1 / 6</a:t>
            </a:r>
            <a:endParaRPr b="0" i="0" sz="1100" u="none" cap="none" strike="noStrike">
              <a:solidFill>
                <a:srgbClr val="000000"/>
              </a:solidFill>
              <a:latin typeface="Arial"/>
              <a:ea typeface="Arial"/>
              <a:cs typeface="Arial"/>
              <a:sym typeface="Arial"/>
            </a:endParaRPr>
          </a:p>
        </p:txBody>
      </p:sp>
      <p:cxnSp>
        <p:nvCxnSpPr>
          <p:cNvPr id="996" name="Google Shape;996;h4c5bf77df5a6a1aa_1_1"/>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997" name="Google Shape;997;h4c5bf77df5a6a1aa_1_1"/>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8" name="Google Shape;998;h4c5bf77df5a6a1aa_1_1"/>
          <p:cNvSpPr/>
          <p:nvPr/>
        </p:nvSpPr>
        <p:spPr>
          <a:xfrm>
            <a:off x="407252" y="2958891"/>
            <a:ext cx="1170300" cy="1134000"/>
          </a:xfrm>
          <a:prstGeom prst="roundRect">
            <a:avLst>
              <a:gd fmla="val 16667" name="adj"/>
            </a:avLst>
          </a:prstGeom>
          <a:solidFill>
            <a:srgbClr val="FFFFFF"/>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9" name="Google Shape;999;h4c5bf77df5a6a1aa_1_1"/>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0" name="Google Shape;1000;h4c5bf77df5a6a1aa_1_1"/>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1" name="Google Shape;1001;h4c5bf77df5a6a1aa_1_1"/>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2" name="Google Shape;1002;h4c5bf77df5a6a1aa_1_1"/>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3" name="Google Shape;1003;h4c5bf77df5a6a1aa_1_1"/>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4" name="Google Shape;1004;h4c5bf77df5a6a1aa_1_1"/>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5" name="Google Shape;1005;h4c5bf77df5a6a1aa_1_1"/>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06" name="Google Shape;1006;h4c5bf77df5a6a1aa_1_1"/>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07" name="Google Shape;1007;h4c5bf77df5a6a1aa_1_1"/>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08" name="Google Shape;1008;h4c5bf77df5a6a1aa_1_1"/>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09" name="Google Shape;1009;h4c5bf77df5a6a1aa_1_1"/>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10" name="Google Shape;1010;h4c5bf77df5a6a1aa_1_1"/>
          <p:cNvSpPr/>
          <p:nvPr/>
        </p:nvSpPr>
        <p:spPr>
          <a:xfrm>
            <a:off x="1838868" y="3160059"/>
            <a:ext cx="1444800" cy="6948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1" name="Google Shape;1011;h4c5bf77df5a6a1aa_1_1"/>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12" name="Google Shape;1012;h4c5bf77df5a6a1aa_1_1"/>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sp>
        <p:nvSpPr>
          <p:cNvPr id="1013" name="Slide number 1013"/>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7" name="Shape 1017"/>
        <p:cNvGrpSpPr/>
        <p:nvPr/>
      </p:nvGrpSpPr>
      <p:grpSpPr>
        <a:xfrm>
          <a:off x="0" y="0"/>
          <a:ext cx="0" cy="0"/>
          <a:chOff x="0" y="0"/>
          <a:chExt cx="0" cy="0"/>
        </a:xfrm>
      </p:grpSpPr>
      <p:sp>
        <p:nvSpPr>
          <p:cNvPr id="1018" name="Google Shape;1018;h4c5bf77df5a6a1aa_1_32"/>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019" name="Google Shape;1019;h4c5bf77df5a6a1aa_1_32"/>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2. Anchor generation in the schema</a:t>
            </a:r>
            <a:endParaRPr b="0" i="0" sz="1400" u="none" cap="none" strike="noStrike">
              <a:solidFill>
                <a:srgbClr val="000000"/>
              </a:solidFill>
              <a:latin typeface="Arial"/>
              <a:ea typeface="Arial"/>
              <a:cs typeface="Arial"/>
              <a:sym typeface="Arial"/>
            </a:endParaRPr>
          </a:p>
        </p:txBody>
      </p:sp>
      <p:sp>
        <p:nvSpPr>
          <p:cNvPr id="1020" name="Google Shape;1020;h4c5bf77df5a6a1aa_1_32"/>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schema-grounded branch feeds the generation step.</a:t>
            </a:r>
            <a:endParaRPr b="0" i="0" sz="1400" u="none" cap="none" strike="noStrike">
              <a:solidFill>
                <a:srgbClr val="000000"/>
              </a:solidFill>
              <a:latin typeface="Arial"/>
              <a:ea typeface="Arial"/>
              <a:cs typeface="Arial"/>
              <a:sym typeface="Arial"/>
            </a:endParaRPr>
          </a:p>
        </p:txBody>
      </p:sp>
      <p:sp>
        <p:nvSpPr>
          <p:cNvPr id="1021" name="Google Shape;1021;h4c5bf77df5a6a1aa_1_32"/>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h4c5bf77df5a6a1aa_1_32"/>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3" name="Google Shape;1023;h4c5bf77df5a6a1aa_1_32"/>
          <p:cNvSpPr/>
          <p:nvPr/>
        </p:nvSpPr>
        <p:spPr>
          <a:xfrm>
            <a:off x="10405872"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4" name="Google Shape;1024;h4c5bf77df5a6a1aa_1_32"/>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5" name="Google Shape;1025;h4c5bf77df5a6a1aa_1_32"/>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6" name="Google Shape;1026;h4c5bf77df5a6a1aa_1_32"/>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7" name="Google Shape;1027;h4c5bf77df5a6a1aa_1_32"/>
          <p:cNvSpPr txBox="1"/>
          <p:nvPr/>
        </p:nvSpPr>
        <p:spPr>
          <a:xfrm>
            <a:off x="10643688" y="640080"/>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2 / 6</a:t>
            </a:r>
            <a:endParaRPr b="0" i="0" sz="1100" u="none" cap="none" strike="noStrike">
              <a:solidFill>
                <a:srgbClr val="000000"/>
              </a:solidFill>
              <a:latin typeface="Arial"/>
              <a:ea typeface="Arial"/>
              <a:cs typeface="Arial"/>
              <a:sym typeface="Arial"/>
            </a:endParaRPr>
          </a:p>
        </p:txBody>
      </p:sp>
      <p:cxnSp>
        <p:nvCxnSpPr>
          <p:cNvPr id="1028" name="Google Shape;1028;h4c5bf77df5a6a1aa_1_32"/>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029" name="Google Shape;1029;h4c5bf77df5a6a1aa_1_32"/>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0" name="Google Shape;1030;h4c5bf77df5a6a1aa_1_32"/>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031" name="Google Shape;1031;h4c5bf77df5a6a1aa_1_32"/>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032" name="Google Shape;1032;h4c5bf77df5a6a1aa_1_32"/>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033" name="Google Shape;1033;h4c5bf77df5a6a1aa_1_32"/>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4" name="Google Shape;1034;h4c5bf77df5a6a1aa_1_32"/>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5" name="Google Shape;1035;h4c5bf77df5a6a1aa_1_32"/>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6" name="Google Shape;1036;h4c5bf77df5a6a1aa_1_32"/>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37" name="Google Shape;1037;h4c5bf77df5a6a1aa_1_32"/>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38" name="Google Shape;1038;h4c5bf77df5a6a1aa_1_32"/>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39" name="Google Shape;1039;h4c5bf77df5a6a1aa_1_32"/>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40" name="Google Shape;1040;h4c5bf77df5a6a1aa_1_32"/>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41" name="Google Shape;1041;h4c5bf77df5a6a1aa_1_32"/>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42" name="Google Shape;1042;h4c5bf77df5a6a1aa_1_32"/>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43" name="Google Shape;1043;h4c5bf77df5a6a1aa_1_32"/>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44" name="Google Shape;1044;h4c5bf77df5a6a1aa_1_32"/>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45" name="Google Shape;1045;h4c5bf77df5a6a1aa_1_32"/>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46" name="Google Shape;1046;h4c5bf77df5a6a1aa_1_32"/>
          <p:cNvSpPr/>
          <p:nvPr/>
        </p:nvSpPr>
        <p:spPr>
          <a:xfrm>
            <a:off x="4043884" y="1825035"/>
            <a:ext cx="2103000" cy="7590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7" name="Google Shape;1047;h4c5bf77df5a6a1aa_1_32"/>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048" name="Google Shape;1048;h4c5bf77df5a6a1aa_1_32"/>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049" name="Google Shape;1049;h4c5bf77df5a6a1aa_1_32"/>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cxnSp>
        <p:nvCxnSpPr>
          <p:cNvPr id="1050" name="Google Shape;1050;h4c5bf77df5a6a1aa_1_32"/>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051" name="Google Shape;1051;h4c5bf77df5a6a1aa_1_32"/>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52" name="Google Shape;1052;h4c5bf77df5a6a1aa_1_32"/>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053" name="Google Shape;1053;h4c5bf77df5a6a1aa_1_32"/>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054" name="Google Shape;1054;h4c5bf77df5a6a1aa_1_32"/>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sp>
        <p:nvSpPr>
          <p:cNvPr id="1055" name="Slide number 1055"/>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9" name="Shape 1059"/>
        <p:cNvGrpSpPr/>
        <p:nvPr/>
      </p:nvGrpSpPr>
      <p:grpSpPr>
        <a:xfrm>
          <a:off x="0" y="0"/>
          <a:ext cx="0" cy="0"/>
          <a:chOff x="0" y="0"/>
          <a:chExt cx="0" cy="0"/>
        </a:xfrm>
      </p:grpSpPr>
      <p:sp>
        <p:nvSpPr>
          <p:cNvPr id="1060" name="Google Shape;1060;h4c5bf77df5a6a1aa_1_73"/>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061" name="Google Shape;1061;h4c5bf77df5a6a1aa_1_73"/>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3. Retrieve the missing semantics</a:t>
            </a:r>
            <a:endParaRPr b="0" i="0" sz="1400" u="none" cap="none" strike="noStrike">
              <a:solidFill>
                <a:srgbClr val="000000"/>
              </a:solidFill>
              <a:latin typeface="Arial"/>
              <a:ea typeface="Arial"/>
              <a:cs typeface="Arial"/>
              <a:sym typeface="Arial"/>
            </a:endParaRPr>
          </a:p>
        </p:txBody>
      </p:sp>
      <p:sp>
        <p:nvSpPr>
          <p:cNvPr id="1062" name="Google Shape;1062;h4c5bf77df5a6a1aa_1_73"/>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Context is retrieved independently from three sources.</a:t>
            </a:r>
            <a:endParaRPr b="0" i="0" sz="1400" u="none" cap="none" strike="noStrike">
              <a:solidFill>
                <a:srgbClr val="000000"/>
              </a:solidFill>
              <a:latin typeface="Arial"/>
              <a:ea typeface="Arial"/>
              <a:cs typeface="Arial"/>
              <a:sym typeface="Arial"/>
            </a:endParaRPr>
          </a:p>
        </p:txBody>
      </p:sp>
      <p:sp>
        <p:nvSpPr>
          <p:cNvPr id="1063" name="Google Shape;1063;h4c5bf77df5a6a1aa_1_73"/>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4" name="Google Shape;1064;h4c5bf77df5a6a1aa_1_73"/>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5" name="Google Shape;1065;h4c5bf77df5a6a1aa_1_73"/>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h4c5bf77df5a6a1aa_1_73"/>
          <p:cNvSpPr/>
          <p:nvPr/>
        </p:nvSpPr>
        <p:spPr>
          <a:xfrm>
            <a:off x="10762488"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7" name="Google Shape;1067;h4c5bf77df5a6a1aa_1_73"/>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8" name="Google Shape;1068;h4c5bf77df5a6a1aa_1_73"/>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9" name="Google Shape;1069;h4c5bf77df5a6a1aa_1_73"/>
          <p:cNvSpPr txBox="1"/>
          <p:nvPr/>
        </p:nvSpPr>
        <p:spPr>
          <a:xfrm>
            <a:off x="10643688" y="640080"/>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3 / 6</a:t>
            </a:r>
            <a:endParaRPr b="0" i="0" sz="1100" u="none" cap="none" strike="noStrike">
              <a:solidFill>
                <a:srgbClr val="000000"/>
              </a:solidFill>
              <a:latin typeface="Arial"/>
              <a:ea typeface="Arial"/>
              <a:cs typeface="Arial"/>
              <a:sym typeface="Arial"/>
            </a:endParaRPr>
          </a:p>
        </p:txBody>
      </p:sp>
      <p:cxnSp>
        <p:nvCxnSpPr>
          <p:cNvPr id="1070" name="Google Shape;1070;h4c5bf77df5a6a1aa_1_73"/>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071" name="Google Shape;1071;h4c5bf77df5a6a1aa_1_73"/>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72" name="Google Shape;1072;h4c5bf77df5a6a1aa_1_73"/>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073" name="Google Shape;1073;h4c5bf77df5a6a1aa_1_73"/>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074" name="Google Shape;1074;h4c5bf77df5a6a1aa_1_73"/>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075" name="Google Shape;1075;h4c5bf77df5a6a1aa_1_73"/>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76" name="Google Shape;1076;h4c5bf77df5a6a1aa_1_7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77" name="Google Shape;1077;h4c5bf77df5a6a1aa_1_73"/>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078" name="Google Shape;1078;h4c5bf77df5a6a1aa_1_73"/>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079" name="Google Shape;1079;h4c5bf77df5a6a1aa_1_73"/>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0" name="Google Shape;1080;h4c5bf77df5a6a1aa_1_7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81" name="Google Shape;1081;h4c5bf77df5a6a1aa_1_73"/>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082" name="Google Shape;1082;h4c5bf77df5a6a1aa_1_73"/>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3" name="Google Shape;1083;h4c5bf77df5a6a1aa_1_73"/>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084" name="Google Shape;1084;h4c5bf77df5a6a1aa_1_73"/>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085" name="Google Shape;1085;h4c5bf77df5a6a1aa_1_73"/>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086" name="Google Shape;1086;h4c5bf77df5a6a1aa_1_73"/>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7" name="Google Shape;1087;h4c5bf77df5a6a1aa_1_73"/>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88" name="Google Shape;1088;h4c5bf77df5a6a1aa_1_73"/>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89" name="Google Shape;1089;h4c5bf77df5a6a1aa_1_73"/>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0" name="Google Shape;1090;h4c5bf77df5a6a1aa_1_73"/>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1" name="Google Shape;1091;h4c5bf77df5a6a1aa_1_73"/>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92" name="Google Shape;1092;h4c5bf77df5a6a1aa_1_73"/>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3" name="Google Shape;1093;h4c5bf77df5a6a1aa_1_73"/>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4" name="Google Shape;1094;h4c5bf77df5a6a1aa_1_73"/>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095" name="Google Shape;1095;h4c5bf77df5a6a1aa_1_73"/>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096" name="Google Shape;1096;h4c5bf77df5a6a1aa_1_73"/>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097" name="Google Shape;1097;h4c5bf77df5a6a1aa_1_73"/>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098" name="Google Shape;1098;h4c5bf77df5a6a1aa_1_73"/>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099" name="Google Shape;1099;h4c5bf77df5a6a1aa_1_73"/>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0" name="Google Shape;1100;h4c5bf77df5a6a1aa_1_73"/>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101" name="Google Shape;1101;h4c5bf77df5a6a1aa_1_73"/>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102" name="Google Shape;1102;h4c5bf77df5a6a1aa_1_73"/>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103" name="Google Shape;1103;h4c5bf77df5a6a1aa_1_73"/>
          <p:cNvSpPr/>
          <p:nvPr/>
        </p:nvSpPr>
        <p:spPr>
          <a:xfrm>
            <a:off x="3897579" y="2739445"/>
            <a:ext cx="3218700" cy="2508300"/>
          </a:xfrm>
          <a:prstGeom prst="roundRect">
            <a:avLst>
              <a:gd fmla="val 8766" name="adj"/>
            </a:avLst>
          </a:prstGeom>
          <a:solidFill>
            <a:srgbClr val="FFFFFF"/>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4" name="Google Shape;1104;h4c5bf77df5a6a1aa_1_73"/>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105" name="Google Shape;1105;h4c5bf77df5a6a1aa_1_73"/>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06" name="Google Shape;1106;h4c5bf77df5a6a1aa_1_73"/>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107" name="Google Shape;1107;h4c5bf77df5a6a1aa_1_73"/>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108" name="Google Shape;1108;h4c5bf77df5a6a1aa_1_73"/>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109" name="Google Shape;1109;h4c5bf77df5a6a1aa_1_73"/>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0" name="Google Shape;1110;h4c5bf77df5a6a1aa_1_73"/>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111" name="Google Shape;1111;h4c5bf77df5a6a1aa_1_73"/>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112" name="Google Shape;1112;h4c5bf77df5a6a1aa_1_73"/>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113" name="Google Shape;1113;h4c5bf77df5a6a1aa_1_73"/>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4" name="Google Shape;1114;h4c5bf77df5a6a1aa_1_73"/>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115" name="Google Shape;1115;h4c5bf77df5a6a1aa_1_73"/>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116" name="Google Shape;1116;h4c5bf77df5a6a1aa_1_73"/>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cxnSp>
        <p:nvCxnSpPr>
          <p:cNvPr id="1117" name="Google Shape;1117;h4c5bf77df5a6a1aa_1_73"/>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118" name="Google Shape;1118;h4c5bf77df5a6a1aa_1_73"/>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19" name="Google Shape;1119;h4c5bf77df5a6a1aa_1_73"/>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120" name="Google Shape;1120;h4c5bf77df5a6a1aa_1_73"/>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121" name="Google Shape;1121;h4c5bf77df5a6a1aa_1_73"/>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22" name="Google Shape;1122;h4c5bf77df5a6a1aa_1_73"/>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pic>
        <p:nvPicPr>
          <p:cNvPr id="1123" name="Google Shape;1123;h4c5bf77df5a6a1aa_1_73" title="Ontology Taxonomy Documentation Icons.png"/>
          <p:cNvPicPr preferRelativeResize="0"/>
          <p:nvPr/>
        </p:nvPicPr>
        <p:blipFill rotWithShape="1">
          <a:blip r:embed="rId3">
            <a:alphaModFix/>
          </a:blip>
          <a:srcRect b="14185" l="36225" r="31825" t="16211"/>
          <a:stretch/>
        </p:blipFill>
        <p:spPr>
          <a:xfrm>
            <a:off x="6431317" y="3822390"/>
            <a:ext cx="594806" cy="475499"/>
          </a:xfrm>
          <a:prstGeom prst="rect">
            <a:avLst/>
          </a:prstGeom>
          <a:noFill/>
          <a:ln>
            <a:noFill/>
          </a:ln>
        </p:spPr>
      </p:pic>
      <p:pic>
        <p:nvPicPr>
          <p:cNvPr id="1124" name="Google Shape;1124;h4c5bf77df5a6a1aa_1_73" title="Ontology Taxonomy Documentation Icons.png"/>
          <p:cNvPicPr preferRelativeResize="0"/>
          <p:nvPr/>
        </p:nvPicPr>
        <p:blipFill rotWithShape="1">
          <a:blip r:embed="rId3">
            <a:alphaModFix/>
          </a:blip>
          <a:srcRect b="14185" l="2070" r="65981" t="16211"/>
          <a:stretch/>
        </p:blipFill>
        <p:spPr>
          <a:xfrm>
            <a:off x="6385539" y="3137260"/>
            <a:ext cx="594801" cy="432155"/>
          </a:xfrm>
          <a:prstGeom prst="rect">
            <a:avLst/>
          </a:prstGeom>
          <a:noFill/>
          <a:ln>
            <a:noFill/>
          </a:ln>
        </p:spPr>
      </p:pic>
      <p:pic>
        <p:nvPicPr>
          <p:cNvPr id="1125" name="Google Shape;1125;h4c5bf77df5a6a1aa_1_73" title="Ontology Taxonomy Documentation Icons.png"/>
          <p:cNvPicPr preferRelativeResize="0"/>
          <p:nvPr/>
        </p:nvPicPr>
        <p:blipFill rotWithShape="1">
          <a:blip r:embed="rId3">
            <a:alphaModFix/>
          </a:blip>
          <a:srcRect b="7505" l="70326" r="314" t="10116"/>
          <a:stretch/>
        </p:blipFill>
        <p:spPr>
          <a:xfrm>
            <a:off x="6452911" y="4535008"/>
            <a:ext cx="528123" cy="494162"/>
          </a:xfrm>
          <a:prstGeom prst="rect">
            <a:avLst/>
          </a:prstGeom>
          <a:noFill/>
          <a:ln>
            <a:noFill/>
          </a:ln>
        </p:spPr>
      </p:pic>
      <p:sp>
        <p:nvSpPr>
          <p:cNvPr id="1126" name="Slide number 112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0" name="Shape 1130"/>
        <p:cNvGrpSpPr/>
        <p:nvPr/>
      </p:nvGrpSpPr>
      <p:grpSpPr>
        <a:xfrm>
          <a:off x="0" y="0"/>
          <a:ext cx="0" cy="0"/>
          <a:chOff x="0" y="0"/>
          <a:chExt cx="0" cy="0"/>
        </a:xfrm>
      </p:grpSpPr>
      <p:cxnSp>
        <p:nvCxnSpPr>
          <p:cNvPr id="1131" name="Google Shape;1131;h4c5bf77df5a6a1aa_1_143"/>
          <p:cNvCxnSpPr/>
          <p:nvPr/>
        </p:nvCxnSpPr>
        <p:spPr>
          <a:xfrm>
            <a:off x="7261490" y="3782975"/>
            <a:ext cx="228600" cy="0"/>
          </a:xfrm>
          <a:prstGeom prst="straightConnector1">
            <a:avLst/>
          </a:prstGeom>
          <a:noFill/>
          <a:ln cap="flat" cmpd="sng" w="26650">
            <a:solidFill>
              <a:srgbClr val="3A7D8C"/>
            </a:solidFill>
            <a:prstDash val="solid"/>
            <a:miter lim="0"/>
            <a:headEnd len="sm" w="sm" type="none"/>
            <a:tailEnd len="sm" w="sm" type="none"/>
          </a:ln>
        </p:spPr>
      </p:cxnSp>
      <p:cxnSp>
        <p:nvCxnSpPr>
          <p:cNvPr id="1132" name="Google Shape;1132;h4c5bf77df5a6a1aa_1_143"/>
          <p:cNvCxnSpPr/>
          <p:nvPr/>
        </p:nvCxnSpPr>
        <p:spPr>
          <a:xfrm>
            <a:off x="7071140" y="3304363"/>
            <a:ext cx="146400" cy="0"/>
          </a:xfrm>
          <a:prstGeom prst="straightConnector1">
            <a:avLst/>
          </a:prstGeom>
          <a:noFill/>
          <a:ln cap="flat" cmpd="sng" w="26650">
            <a:solidFill>
              <a:srgbClr val="3A7D8C"/>
            </a:solidFill>
            <a:prstDash val="solid"/>
            <a:miter lim="0"/>
            <a:headEnd len="sm" w="sm" type="none"/>
            <a:tailEnd len="sm" w="sm" type="none"/>
          </a:ln>
        </p:spPr>
      </p:cxnSp>
      <p:sp>
        <p:nvSpPr>
          <p:cNvPr id="1133" name="Google Shape;1133;h4c5bf77df5a6a1aa_1_143"/>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134" name="Google Shape;1134;h4c5bf77df5a6a1aa_1_143"/>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4. Generate a delta ontology</a:t>
            </a:r>
            <a:endParaRPr b="0" i="0" sz="1400" u="none" cap="none" strike="noStrike">
              <a:solidFill>
                <a:srgbClr val="000000"/>
              </a:solidFill>
              <a:latin typeface="Arial"/>
              <a:ea typeface="Arial"/>
              <a:cs typeface="Arial"/>
              <a:sym typeface="Arial"/>
            </a:endParaRPr>
          </a:p>
        </p:txBody>
      </p:sp>
      <p:sp>
        <p:nvSpPr>
          <p:cNvPr id="1135" name="Google Shape;1135;h4c5bf77df5a6a1aa_1_143"/>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Gen-LLM receives the direct mapping and the retrieved context.</a:t>
            </a:r>
            <a:endParaRPr b="0" i="0" sz="1400" u="none" cap="none" strike="noStrike">
              <a:solidFill>
                <a:srgbClr val="000000"/>
              </a:solidFill>
              <a:latin typeface="Arial"/>
              <a:ea typeface="Arial"/>
              <a:cs typeface="Arial"/>
              <a:sym typeface="Arial"/>
            </a:endParaRPr>
          </a:p>
        </p:txBody>
      </p:sp>
      <p:sp>
        <p:nvSpPr>
          <p:cNvPr id="1136" name="Google Shape;1136;h4c5bf77df5a6a1aa_1_143"/>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7" name="Google Shape;1137;h4c5bf77df5a6a1aa_1_143"/>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8" name="Google Shape;1138;h4c5bf77df5a6a1aa_1_143"/>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39" name="Google Shape;1139;h4c5bf77df5a6a1aa_1_143"/>
          <p:cNvSpPr/>
          <p:nvPr/>
        </p:nvSpPr>
        <p:spPr>
          <a:xfrm>
            <a:off x="10762488"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0" name="Google Shape;1140;h4c5bf77df5a6a1aa_1_143"/>
          <p:cNvSpPr/>
          <p:nvPr/>
        </p:nvSpPr>
        <p:spPr>
          <a:xfrm>
            <a:off x="11119104"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1" name="Google Shape;1141;h4c5bf77df5a6a1aa_1_143"/>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42" name="Google Shape;1142;h4c5bf77df5a6a1aa_1_143"/>
          <p:cNvSpPr txBox="1"/>
          <p:nvPr/>
        </p:nvSpPr>
        <p:spPr>
          <a:xfrm>
            <a:off x="10643688" y="640080"/>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4 / 6</a:t>
            </a:r>
            <a:endParaRPr b="0" i="0" sz="1100" u="none" cap="none" strike="noStrike">
              <a:solidFill>
                <a:srgbClr val="000000"/>
              </a:solidFill>
              <a:latin typeface="Arial"/>
              <a:ea typeface="Arial"/>
              <a:cs typeface="Arial"/>
              <a:sym typeface="Arial"/>
            </a:endParaRPr>
          </a:p>
        </p:txBody>
      </p:sp>
      <p:cxnSp>
        <p:nvCxnSpPr>
          <p:cNvPr id="1143" name="Google Shape;1143;h4c5bf77df5a6a1aa_1_143"/>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144" name="Google Shape;1144;h4c5bf77df5a6a1aa_1_143"/>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45" name="Google Shape;1145;h4c5bf77df5a6a1aa_1_143"/>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146" name="Google Shape;1146;h4c5bf77df5a6a1aa_1_143"/>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147" name="Google Shape;1147;h4c5bf77df5a6a1aa_1_143"/>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148" name="Google Shape;1148;h4c5bf77df5a6a1aa_1_143"/>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49" name="Google Shape;1149;h4c5bf77df5a6a1aa_1_14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0" name="Google Shape;1150;h4c5bf77df5a6a1aa_1_143"/>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151" name="Google Shape;1151;h4c5bf77df5a6a1aa_1_143"/>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152" name="Google Shape;1152;h4c5bf77df5a6a1aa_1_143"/>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53" name="Google Shape;1153;h4c5bf77df5a6a1aa_1_143"/>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4" name="Google Shape;1154;h4c5bf77df5a6a1aa_1_143"/>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155" name="Google Shape;1155;h4c5bf77df5a6a1aa_1_143"/>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56" name="Google Shape;1156;h4c5bf77df5a6a1aa_1_143"/>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157" name="Google Shape;1157;h4c5bf77df5a6a1aa_1_143"/>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158" name="Google Shape;1158;h4c5bf77df5a6a1aa_1_143"/>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159" name="Google Shape;1159;h4c5bf77df5a6a1aa_1_143"/>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0" name="Google Shape;1160;h4c5bf77df5a6a1aa_1_143"/>
          <p:cNvCxnSpPr/>
          <p:nvPr/>
        </p:nvCxnSpPr>
        <p:spPr>
          <a:xfrm>
            <a:off x="6340837" y="2181651"/>
            <a:ext cx="1874400" cy="0"/>
          </a:xfrm>
          <a:prstGeom prst="straightConnector1">
            <a:avLst/>
          </a:prstGeom>
          <a:noFill/>
          <a:ln cap="flat" cmpd="sng" w="29200">
            <a:solidFill>
              <a:srgbClr val="3A7D8C"/>
            </a:solidFill>
            <a:prstDash val="solid"/>
            <a:miter lim="0"/>
            <a:headEnd len="sm" w="sm" type="none"/>
            <a:tailEnd len="sm" w="sm" type="none"/>
          </a:ln>
        </p:spPr>
      </p:cxnSp>
      <p:cxnSp>
        <p:nvCxnSpPr>
          <p:cNvPr id="1161" name="Google Shape;1161;h4c5bf77df5a6a1aa_1_143"/>
          <p:cNvCxnSpPr/>
          <p:nvPr/>
        </p:nvCxnSpPr>
        <p:spPr>
          <a:xfrm>
            <a:off x="8200117" y="2181651"/>
            <a:ext cx="0" cy="1134000"/>
          </a:xfrm>
          <a:prstGeom prst="straightConnector1">
            <a:avLst/>
          </a:prstGeom>
          <a:noFill/>
          <a:ln cap="flat" cmpd="sng" w="29200">
            <a:solidFill>
              <a:srgbClr val="3A7D8C"/>
            </a:solidFill>
            <a:prstDash val="solid"/>
            <a:miter lim="0"/>
            <a:headEnd len="sm" w="sm" type="none"/>
            <a:tailEnd len="sm" w="sm" type="none"/>
          </a:ln>
        </p:spPr>
      </p:cxnSp>
      <p:sp>
        <p:nvSpPr>
          <p:cNvPr id="1162" name="Google Shape;1162;h4c5bf77df5a6a1aa_1_143"/>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3" name="Google Shape;1163;h4c5bf77df5a6a1aa_1_143"/>
          <p:cNvCxnSpPr/>
          <p:nvPr/>
        </p:nvCxnSpPr>
        <p:spPr>
          <a:xfrm>
            <a:off x="7129603" y="3304363"/>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164" name="Google Shape;1164;h4c5bf77df5a6a1aa_1_143"/>
          <p:cNvCxnSpPr/>
          <p:nvPr/>
        </p:nvCxnSpPr>
        <p:spPr>
          <a:xfrm>
            <a:off x="7264000" y="3297219"/>
            <a:ext cx="0" cy="448200"/>
          </a:xfrm>
          <a:prstGeom prst="straightConnector1">
            <a:avLst/>
          </a:prstGeom>
          <a:noFill/>
          <a:ln cap="flat" cmpd="sng" w="26650">
            <a:solidFill>
              <a:srgbClr val="3A7D8C"/>
            </a:solidFill>
            <a:prstDash val="solid"/>
            <a:miter lim="0"/>
            <a:headEnd len="sm" w="sm" type="none"/>
            <a:tailEnd len="sm" w="sm" type="none"/>
          </a:ln>
        </p:spPr>
      </p:cxnSp>
      <p:sp>
        <p:nvSpPr>
          <p:cNvPr id="1165" name="Google Shape;1165;h4c5bf77df5a6a1aa_1_143"/>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66" name="Google Shape;1166;h4c5bf77df5a6a1aa_1_143"/>
          <p:cNvCxnSpPr/>
          <p:nvPr/>
        </p:nvCxnSpPr>
        <p:spPr>
          <a:xfrm>
            <a:off x="7129603" y="4693870"/>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167" name="Google Shape;1167;h4c5bf77df5a6a1aa_1_143"/>
          <p:cNvCxnSpPr/>
          <p:nvPr/>
        </p:nvCxnSpPr>
        <p:spPr>
          <a:xfrm rot="10800000">
            <a:off x="7264000" y="3745251"/>
            <a:ext cx="0" cy="951000"/>
          </a:xfrm>
          <a:prstGeom prst="straightConnector1">
            <a:avLst/>
          </a:prstGeom>
          <a:noFill/>
          <a:ln cap="flat" cmpd="sng" w="26650">
            <a:solidFill>
              <a:srgbClr val="3A7D8C"/>
            </a:solidFill>
            <a:prstDash val="solid"/>
            <a:miter lim="0"/>
            <a:headEnd len="sm" w="sm" type="none"/>
            <a:tailEnd len="sm" w="sm" type="none"/>
          </a:ln>
        </p:spPr>
      </p:cxnSp>
      <p:cxnSp>
        <p:nvCxnSpPr>
          <p:cNvPr id="1168" name="Google Shape;1168;h4c5bf77df5a6a1aa_1_143"/>
          <p:cNvCxnSpPr/>
          <p:nvPr/>
        </p:nvCxnSpPr>
        <p:spPr>
          <a:xfrm>
            <a:off x="8931637" y="3795662"/>
            <a:ext cx="868800" cy="0"/>
          </a:xfrm>
          <a:prstGeom prst="straightConnector1">
            <a:avLst/>
          </a:prstGeom>
          <a:noFill/>
          <a:ln cap="flat" cmpd="sng" w="38100">
            <a:solidFill>
              <a:srgbClr val="0B6E4F"/>
            </a:solidFill>
            <a:prstDash val="solid"/>
            <a:miter lim="0"/>
            <a:headEnd len="sm" w="sm" type="none"/>
            <a:tailEnd len="sm" w="sm" type="none"/>
          </a:ln>
        </p:spPr>
      </p:cxnSp>
      <p:sp>
        <p:nvSpPr>
          <p:cNvPr id="1169" name="Google Shape;1169;h4c5bf77df5a6a1aa_1_143"/>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0" name="Google Shape;1170;h4c5bf77df5a6a1aa_1_143"/>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71" name="Google Shape;1171;h4c5bf77df5a6a1aa_1_143"/>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2" name="Google Shape;1172;h4c5bf77df5a6a1aa_1_143"/>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3" name="Google Shape;1173;h4c5bf77df5a6a1aa_1_143"/>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74" name="Google Shape;1174;h4c5bf77df5a6a1aa_1_143"/>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5" name="Google Shape;1175;h4c5bf77df5a6a1aa_1_143"/>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6" name="Google Shape;1176;h4c5bf77df5a6a1aa_1_143"/>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77" name="Google Shape;1177;h4c5bf77df5a6a1aa_1_143"/>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178" name="Google Shape;1178;h4c5bf77df5a6a1aa_1_143"/>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179" name="Google Shape;1179;h4c5bf77df5a6a1aa_1_143"/>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180" name="Google Shape;1180;h4c5bf77df5a6a1aa_1_143"/>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181" name="Google Shape;1181;h4c5bf77df5a6a1aa_1_143"/>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182" name="Google Shape;1182;h4c5bf77df5a6a1aa_1_143"/>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3" name="Google Shape;1183;h4c5bf77df5a6a1aa_1_143"/>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184" name="Google Shape;1184;h4c5bf77df5a6a1aa_1_143"/>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185" name="Google Shape;1185;h4c5bf77df5a6a1aa_1_143"/>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186" name="Google Shape;1186;h4c5bf77df5a6a1aa_1_143"/>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7" name="Google Shape;1187;h4c5bf77df5a6a1aa_1_143"/>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188" name="Google Shape;1188;h4c5bf77df5a6a1aa_1_143"/>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89" name="Google Shape;1189;h4c5bf77df5a6a1aa_1_143"/>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190" name="Google Shape;1190;h4c5bf77df5a6a1aa_1_143"/>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191" name="Google Shape;1191;h4c5bf77df5a6a1aa_1_143"/>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192" name="Google Shape;1192;h4c5bf77df5a6a1aa_1_143"/>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3" name="Google Shape;1193;h4c5bf77df5a6a1aa_1_143"/>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194" name="Google Shape;1194;h4c5bf77df5a6a1aa_1_143"/>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195" name="Google Shape;1195;h4c5bf77df5a6a1aa_1_143"/>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196" name="Google Shape;1196;h4c5bf77df5a6a1aa_1_143"/>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97" name="Google Shape;1197;h4c5bf77df5a6a1aa_1_143"/>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198" name="Google Shape;1198;h4c5bf77df5a6a1aa_1_143"/>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199" name="Google Shape;1199;h4c5bf77df5a6a1aa_1_143"/>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200" name="Google Shape;1200;h4c5bf77df5a6a1aa_1_143"/>
          <p:cNvSpPr/>
          <p:nvPr/>
        </p:nvSpPr>
        <p:spPr>
          <a:xfrm>
            <a:off x="7596625" y="3402475"/>
            <a:ext cx="1335000" cy="13215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1" name="Google Shape;1201;h4c5bf77df5a6a1aa_1_143"/>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202" name="Google Shape;1202;h4c5bf77df5a6a1aa_1_143"/>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203" name="Google Shape;1203;h4c5bf77df5a6a1aa_1_143"/>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204" name="Google Shape;1204;h4c5bf77df5a6a1aa_1_143"/>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cxnSp>
        <p:nvCxnSpPr>
          <p:cNvPr id="1205" name="Google Shape;1205;h4c5bf77df5a6a1aa_1_143"/>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206" name="Google Shape;1206;h4c5bf77df5a6a1aa_1_143"/>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07" name="Google Shape;1207;h4c5bf77df5a6a1aa_1_143"/>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208" name="Google Shape;1208;h4c5bf77df5a6a1aa_1_143"/>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209" name="Google Shape;1209;h4c5bf77df5a6a1aa_1_143"/>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10" name="Google Shape;1210;h4c5bf77df5a6a1aa_1_143"/>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cxnSp>
        <p:nvCxnSpPr>
          <p:cNvPr id="1211" name="Google Shape;1211;h4c5bf77df5a6a1aa_1_143"/>
          <p:cNvCxnSpPr/>
          <p:nvPr/>
        </p:nvCxnSpPr>
        <p:spPr>
          <a:xfrm>
            <a:off x="6144772" y="2181631"/>
            <a:ext cx="1874400" cy="0"/>
          </a:xfrm>
          <a:prstGeom prst="straightConnector1">
            <a:avLst/>
          </a:prstGeom>
          <a:noFill/>
          <a:ln cap="flat" cmpd="sng" w="29200">
            <a:solidFill>
              <a:srgbClr val="3A7D8C"/>
            </a:solidFill>
            <a:prstDash val="solid"/>
            <a:miter lim="0"/>
            <a:headEnd len="sm" w="sm" type="none"/>
            <a:tailEnd len="sm" w="sm" type="none"/>
          </a:ln>
        </p:spPr>
      </p:cxnSp>
      <p:pic>
        <p:nvPicPr>
          <p:cNvPr id="1212" name="Google Shape;1212;h4c5bf77df5a6a1aa_1_143" title="Ontology Taxonomy Documentation Icons.png"/>
          <p:cNvPicPr preferRelativeResize="0"/>
          <p:nvPr/>
        </p:nvPicPr>
        <p:blipFill rotWithShape="1">
          <a:blip r:embed="rId3">
            <a:alphaModFix/>
          </a:blip>
          <a:srcRect b="14185" l="36225" r="31825" t="16211"/>
          <a:stretch/>
        </p:blipFill>
        <p:spPr>
          <a:xfrm>
            <a:off x="6431317" y="3822390"/>
            <a:ext cx="594806" cy="475499"/>
          </a:xfrm>
          <a:prstGeom prst="rect">
            <a:avLst/>
          </a:prstGeom>
          <a:noFill/>
          <a:ln>
            <a:noFill/>
          </a:ln>
        </p:spPr>
      </p:pic>
      <p:pic>
        <p:nvPicPr>
          <p:cNvPr id="1213" name="Google Shape;1213;h4c5bf77df5a6a1aa_1_143" title="Ontology Taxonomy Documentation Icons.png"/>
          <p:cNvPicPr preferRelativeResize="0"/>
          <p:nvPr/>
        </p:nvPicPr>
        <p:blipFill rotWithShape="1">
          <a:blip r:embed="rId3">
            <a:alphaModFix/>
          </a:blip>
          <a:srcRect b="14185" l="2070" r="65981" t="16211"/>
          <a:stretch/>
        </p:blipFill>
        <p:spPr>
          <a:xfrm>
            <a:off x="6385539" y="3137260"/>
            <a:ext cx="594801" cy="432155"/>
          </a:xfrm>
          <a:prstGeom prst="rect">
            <a:avLst/>
          </a:prstGeom>
          <a:noFill/>
          <a:ln>
            <a:noFill/>
          </a:ln>
        </p:spPr>
      </p:pic>
      <p:pic>
        <p:nvPicPr>
          <p:cNvPr id="1214" name="Google Shape;1214;h4c5bf77df5a6a1aa_1_143" title="Ontology Taxonomy Documentation Icons.png"/>
          <p:cNvPicPr preferRelativeResize="0"/>
          <p:nvPr/>
        </p:nvPicPr>
        <p:blipFill rotWithShape="1">
          <a:blip r:embed="rId3">
            <a:alphaModFix/>
          </a:blip>
          <a:srcRect b="7505" l="70326" r="314" t="10116"/>
          <a:stretch/>
        </p:blipFill>
        <p:spPr>
          <a:xfrm>
            <a:off x="6452911" y="4535008"/>
            <a:ext cx="528123" cy="494162"/>
          </a:xfrm>
          <a:prstGeom prst="rect">
            <a:avLst/>
          </a:prstGeom>
          <a:noFill/>
          <a:ln>
            <a:noFill/>
          </a:ln>
        </p:spPr>
      </p:pic>
      <p:pic>
        <p:nvPicPr>
          <p:cNvPr id="1215" name="Google Shape;1215;h4c5bf77df5a6a1aa_1_143" title="LLM Neural Brain Icon.png"/>
          <p:cNvPicPr preferRelativeResize="0"/>
          <p:nvPr/>
        </p:nvPicPr>
        <p:blipFill rotWithShape="1">
          <a:blip r:embed="rId4">
            <a:alphaModFix/>
          </a:blip>
          <a:srcRect b="14226" l="16398" r="17214" t="12218"/>
          <a:stretch/>
        </p:blipFill>
        <p:spPr>
          <a:xfrm>
            <a:off x="7941825" y="4070998"/>
            <a:ext cx="644449" cy="603601"/>
          </a:xfrm>
          <a:prstGeom prst="rect">
            <a:avLst/>
          </a:prstGeom>
          <a:noFill/>
          <a:ln>
            <a:noFill/>
          </a:ln>
        </p:spPr>
      </p:pic>
      <p:sp>
        <p:nvSpPr>
          <p:cNvPr id="1216" name="Slide number 121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0" name="Shape 1220"/>
        <p:cNvGrpSpPr/>
        <p:nvPr/>
      </p:nvGrpSpPr>
      <p:grpSpPr>
        <a:xfrm>
          <a:off x="0" y="0"/>
          <a:ext cx="0" cy="0"/>
          <a:chOff x="0" y="0"/>
          <a:chExt cx="0" cy="0"/>
        </a:xfrm>
      </p:grpSpPr>
      <p:cxnSp>
        <p:nvCxnSpPr>
          <p:cNvPr id="1221" name="Google Shape;1221;h4c5bf77df5a6a1aa_1_232"/>
          <p:cNvCxnSpPr/>
          <p:nvPr/>
        </p:nvCxnSpPr>
        <p:spPr>
          <a:xfrm>
            <a:off x="7261490" y="3782975"/>
            <a:ext cx="228600" cy="0"/>
          </a:xfrm>
          <a:prstGeom prst="straightConnector1">
            <a:avLst/>
          </a:prstGeom>
          <a:noFill/>
          <a:ln cap="flat" cmpd="sng" w="26650">
            <a:solidFill>
              <a:srgbClr val="3A7D8C"/>
            </a:solidFill>
            <a:prstDash val="solid"/>
            <a:miter lim="0"/>
            <a:headEnd len="sm" w="sm" type="none"/>
            <a:tailEnd len="sm" w="sm" type="none"/>
          </a:ln>
        </p:spPr>
      </p:cxnSp>
      <p:cxnSp>
        <p:nvCxnSpPr>
          <p:cNvPr id="1222" name="Google Shape;1222;h4c5bf77df5a6a1aa_1_232"/>
          <p:cNvCxnSpPr/>
          <p:nvPr/>
        </p:nvCxnSpPr>
        <p:spPr>
          <a:xfrm>
            <a:off x="7071140" y="3304363"/>
            <a:ext cx="146400" cy="0"/>
          </a:xfrm>
          <a:prstGeom prst="straightConnector1">
            <a:avLst/>
          </a:prstGeom>
          <a:noFill/>
          <a:ln cap="flat" cmpd="sng" w="26650">
            <a:solidFill>
              <a:srgbClr val="3A7D8C"/>
            </a:solidFill>
            <a:prstDash val="solid"/>
            <a:miter lim="0"/>
            <a:headEnd len="sm" w="sm" type="none"/>
            <a:tailEnd len="sm" w="sm" type="none"/>
          </a:ln>
        </p:spPr>
      </p:cxnSp>
      <p:sp>
        <p:nvSpPr>
          <p:cNvPr id="1223" name="Google Shape;1223;h4c5bf77df5a6a1aa_1_232"/>
          <p:cNvSpPr txBox="1"/>
          <p:nvPr/>
        </p:nvSpPr>
        <p:spPr>
          <a:xfrm>
            <a:off x="512064" y="320040"/>
            <a:ext cx="66750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224" name="Google Shape;1224;h4c5bf77df5a6a1aa_1_232"/>
          <p:cNvSpPr txBox="1"/>
          <p:nvPr/>
        </p:nvSpPr>
        <p:spPr>
          <a:xfrm>
            <a:off x="512064" y="685800"/>
            <a:ext cx="10881300" cy="446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5. Validate before integration</a:t>
            </a:r>
            <a:endParaRPr b="0" i="0" sz="1400" u="none" cap="none" strike="noStrike">
              <a:solidFill>
                <a:srgbClr val="000000"/>
              </a:solidFill>
              <a:latin typeface="Arial"/>
              <a:ea typeface="Arial"/>
              <a:cs typeface="Arial"/>
              <a:sym typeface="Arial"/>
            </a:endParaRPr>
          </a:p>
        </p:txBody>
      </p:sp>
      <p:sp>
        <p:nvSpPr>
          <p:cNvPr id="1225" name="Google Shape;1225;h4c5bf77df5a6a1aa_1_232"/>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Validate and refine each delta before it joins the core.</a:t>
            </a:r>
            <a:endParaRPr b="0" i="0" sz="1400" u="none" cap="none" strike="noStrike">
              <a:solidFill>
                <a:srgbClr val="000000"/>
              </a:solidFill>
              <a:latin typeface="Arial"/>
              <a:ea typeface="Arial"/>
              <a:cs typeface="Arial"/>
              <a:sym typeface="Arial"/>
            </a:endParaRPr>
          </a:p>
        </p:txBody>
      </p:sp>
      <p:sp>
        <p:nvSpPr>
          <p:cNvPr id="1226" name="Google Shape;1226;h4c5bf77df5a6a1aa_1_232"/>
          <p:cNvSpPr/>
          <p:nvPr/>
        </p:nvSpPr>
        <p:spPr>
          <a:xfrm>
            <a:off x="9692640"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7" name="Google Shape;1227;h4c5bf77df5a6a1aa_1_232"/>
          <p:cNvSpPr/>
          <p:nvPr/>
        </p:nvSpPr>
        <p:spPr>
          <a:xfrm>
            <a:off x="10049256"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8" name="Google Shape;1228;h4c5bf77df5a6a1aa_1_232"/>
          <p:cNvSpPr/>
          <p:nvPr/>
        </p:nvSpPr>
        <p:spPr>
          <a:xfrm>
            <a:off x="10405872"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29" name="Google Shape;1229;h4c5bf77df5a6a1aa_1_232"/>
          <p:cNvSpPr/>
          <p:nvPr/>
        </p:nvSpPr>
        <p:spPr>
          <a:xfrm>
            <a:off x="10762488"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0" name="Google Shape;1230;h4c5bf77df5a6a1aa_1_232"/>
          <p:cNvSpPr/>
          <p:nvPr/>
        </p:nvSpPr>
        <p:spPr>
          <a:xfrm>
            <a:off x="11119104" y="356616"/>
            <a:ext cx="274200" cy="63900"/>
          </a:xfrm>
          <a:prstGeom prst="rect">
            <a:avLst/>
          </a:prstGeom>
          <a:solidFill>
            <a:srgbClr val="0B6E4F"/>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1" name="Google Shape;1231;h4c5bf77df5a6a1aa_1_232"/>
          <p:cNvSpPr/>
          <p:nvPr/>
        </p:nvSpPr>
        <p:spPr>
          <a:xfrm>
            <a:off x="11475720" y="356616"/>
            <a:ext cx="274200" cy="63900"/>
          </a:xfrm>
          <a:prstGeom prst="rect">
            <a:avLst/>
          </a:prstGeom>
          <a:solidFill>
            <a:srgbClr val="D3DAD6"/>
          </a:solidFill>
          <a:ln cap="flat" cmpd="sng" w="9525">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32" name="Google Shape;1232;h4c5bf77df5a6a1aa_1_232"/>
          <p:cNvSpPr txBox="1"/>
          <p:nvPr/>
        </p:nvSpPr>
        <p:spPr>
          <a:xfrm>
            <a:off x="10643688" y="640080"/>
            <a:ext cx="804600" cy="2154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5 / 6</a:t>
            </a:r>
            <a:endParaRPr b="0" i="0" sz="1100" u="none" cap="none" strike="noStrike">
              <a:solidFill>
                <a:srgbClr val="000000"/>
              </a:solidFill>
              <a:latin typeface="Arial"/>
              <a:ea typeface="Arial"/>
              <a:cs typeface="Arial"/>
              <a:sym typeface="Arial"/>
            </a:endParaRPr>
          </a:p>
        </p:txBody>
      </p:sp>
      <p:cxnSp>
        <p:nvCxnSpPr>
          <p:cNvPr id="1233" name="Google Shape;1233;h4c5bf77df5a6a1aa_1_232"/>
          <p:cNvCxnSpPr/>
          <p:nvPr/>
        </p:nvCxnSpPr>
        <p:spPr>
          <a:xfrm>
            <a:off x="1577684" y="3507531"/>
            <a:ext cx="164700" cy="0"/>
          </a:xfrm>
          <a:prstGeom prst="straightConnector1">
            <a:avLst/>
          </a:prstGeom>
          <a:noFill/>
          <a:ln cap="flat" cmpd="sng" w="38100">
            <a:solidFill>
              <a:srgbClr val="3A7D8C"/>
            </a:solidFill>
            <a:prstDash val="solid"/>
            <a:miter lim="0"/>
            <a:headEnd len="sm" w="sm" type="none"/>
            <a:tailEnd len="sm" w="sm" type="none"/>
          </a:ln>
        </p:spPr>
      </p:cxnSp>
      <p:sp>
        <p:nvSpPr>
          <p:cNvPr id="1234" name="Google Shape;1234;h4c5bf77df5a6a1aa_1_232"/>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35" name="Google Shape;1235;h4c5bf77df5a6a1aa_1_232"/>
          <p:cNvCxnSpPr/>
          <p:nvPr/>
        </p:nvCxnSpPr>
        <p:spPr>
          <a:xfrm>
            <a:off x="3369671" y="3446462"/>
            <a:ext cx="100500" cy="0"/>
          </a:xfrm>
          <a:prstGeom prst="straightConnector1">
            <a:avLst/>
          </a:prstGeom>
          <a:noFill/>
          <a:ln cap="flat" cmpd="sng" w="29200">
            <a:solidFill>
              <a:srgbClr val="3A7D8C"/>
            </a:solidFill>
            <a:prstDash val="solid"/>
            <a:miter lim="0"/>
            <a:headEnd len="sm" w="sm" type="none"/>
            <a:tailEnd len="sm" w="sm" type="none"/>
          </a:ln>
        </p:spPr>
      </p:cxnSp>
      <p:cxnSp>
        <p:nvCxnSpPr>
          <p:cNvPr id="1236" name="Google Shape;1236;h4c5bf77df5a6a1aa_1_232"/>
          <p:cNvCxnSpPr/>
          <p:nvPr/>
        </p:nvCxnSpPr>
        <p:spPr>
          <a:xfrm rot="10800000">
            <a:off x="3456647" y="2186248"/>
            <a:ext cx="0" cy="1271100"/>
          </a:xfrm>
          <a:prstGeom prst="straightConnector1">
            <a:avLst/>
          </a:prstGeom>
          <a:noFill/>
          <a:ln cap="flat" cmpd="sng" w="29200">
            <a:solidFill>
              <a:srgbClr val="3A7D8C"/>
            </a:solidFill>
            <a:prstDash val="solid"/>
            <a:miter lim="0"/>
            <a:headEnd len="sm" w="sm" type="none"/>
            <a:tailEnd len="sm" w="sm" type="none"/>
          </a:ln>
        </p:spPr>
      </p:cxnSp>
      <p:cxnSp>
        <p:nvCxnSpPr>
          <p:cNvPr id="1237" name="Google Shape;1237;h4c5bf77df5a6a1aa_1_232"/>
          <p:cNvCxnSpPr/>
          <p:nvPr/>
        </p:nvCxnSpPr>
        <p:spPr>
          <a:xfrm>
            <a:off x="3456647" y="2199939"/>
            <a:ext cx="265200" cy="0"/>
          </a:xfrm>
          <a:prstGeom prst="straightConnector1">
            <a:avLst/>
          </a:prstGeom>
          <a:noFill/>
          <a:ln cap="flat" cmpd="sng" w="29200">
            <a:solidFill>
              <a:srgbClr val="3A7D8C"/>
            </a:solidFill>
            <a:prstDash val="solid"/>
            <a:miter lim="0"/>
            <a:headEnd len="sm" w="sm" type="none"/>
            <a:tailEnd len="sm" w="sm" type="none"/>
          </a:ln>
        </p:spPr>
      </p:cxnSp>
      <p:sp>
        <p:nvSpPr>
          <p:cNvPr id="1238" name="Google Shape;1238;h4c5bf77df5a6a1aa_1_232"/>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39" name="Google Shape;1239;h4c5bf77df5a6a1aa_1_232"/>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0" name="Google Shape;1240;h4c5bf77df5a6a1aa_1_232"/>
          <p:cNvCxnSpPr/>
          <p:nvPr/>
        </p:nvCxnSpPr>
        <p:spPr>
          <a:xfrm rot="10800000">
            <a:off x="3537528" y="3283708"/>
            <a:ext cx="0" cy="310800"/>
          </a:xfrm>
          <a:prstGeom prst="straightConnector1">
            <a:avLst/>
          </a:prstGeom>
          <a:noFill/>
          <a:ln cap="flat" cmpd="sng" w="26650">
            <a:solidFill>
              <a:srgbClr val="3A7D8C"/>
            </a:solidFill>
            <a:prstDash val="solid"/>
            <a:miter lim="0"/>
            <a:headEnd len="sm" w="sm" type="none"/>
            <a:tailEnd len="sm" w="sm" type="none"/>
          </a:ln>
        </p:spPr>
      </p:cxnSp>
      <p:cxnSp>
        <p:nvCxnSpPr>
          <p:cNvPr id="1241" name="Google Shape;1241;h4c5bf77df5a6a1aa_1_232"/>
          <p:cNvCxnSpPr/>
          <p:nvPr/>
        </p:nvCxnSpPr>
        <p:spPr>
          <a:xfrm>
            <a:off x="3537528" y="3297219"/>
            <a:ext cx="255900" cy="0"/>
          </a:xfrm>
          <a:prstGeom prst="straightConnector1">
            <a:avLst/>
          </a:prstGeom>
          <a:noFill/>
          <a:ln cap="flat" cmpd="sng" w="26650">
            <a:solidFill>
              <a:srgbClr val="3A7D8C"/>
            </a:solidFill>
            <a:prstDash val="solid"/>
            <a:miter lim="0"/>
            <a:headEnd len="sm" w="sm" type="none"/>
            <a:tailEnd len="sm" w="sm" type="none"/>
          </a:ln>
        </p:spPr>
      </p:cxnSp>
      <p:sp>
        <p:nvSpPr>
          <p:cNvPr id="1242" name="Google Shape;1242;h4c5bf77df5a6a1aa_1_232"/>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3" name="Google Shape;1243;h4c5bf77df5a6a1aa_1_232"/>
          <p:cNvCxnSpPr/>
          <p:nvPr/>
        </p:nvCxnSpPr>
        <p:spPr>
          <a:xfrm>
            <a:off x="3356063"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4" name="Google Shape;1244;h4c5bf77df5a6a1aa_1_232"/>
          <p:cNvCxnSpPr/>
          <p:nvPr/>
        </p:nvCxnSpPr>
        <p:spPr>
          <a:xfrm>
            <a:off x="3537528" y="3992163"/>
            <a:ext cx="255900" cy="0"/>
          </a:xfrm>
          <a:prstGeom prst="straightConnector1">
            <a:avLst/>
          </a:prstGeom>
          <a:noFill/>
          <a:ln cap="flat" cmpd="sng" w="26650">
            <a:solidFill>
              <a:srgbClr val="3A7D8C"/>
            </a:solidFill>
            <a:prstDash val="solid"/>
            <a:miter lim="0"/>
            <a:headEnd len="sm" w="sm" type="none"/>
            <a:tailEnd len="sm" w="sm" type="none"/>
          </a:ln>
        </p:spPr>
      </p:cxnSp>
      <p:sp>
        <p:nvSpPr>
          <p:cNvPr id="1245" name="Google Shape;1245;h4c5bf77df5a6a1aa_1_232"/>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46" name="Google Shape;1246;h4c5bf77df5a6a1aa_1_232"/>
          <p:cNvCxnSpPr/>
          <p:nvPr/>
        </p:nvCxnSpPr>
        <p:spPr>
          <a:xfrm>
            <a:off x="3418656"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247" name="Google Shape;1247;h4c5bf77df5a6a1aa_1_232"/>
          <p:cNvCxnSpPr/>
          <p:nvPr/>
        </p:nvCxnSpPr>
        <p:spPr>
          <a:xfrm>
            <a:off x="3537528" y="3594508"/>
            <a:ext cx="0" cy="1079100"/>
          </a:xfrm>
          <a:prstGeom prst="straightConnector1">
            <a:avLst/>
          </a:prstGeom>
          <a:noFill/>
          <a:ln cap="flat" cmpd="sng" w="26650">
            <a:solidFill>
              <a:srgbClr val="3A7D8C"/>
            </a:solidFill>
            <a:prstDash val="solid"/>
            <a:miter lim="0"/>
            <a:headEnd len="sm" w="sm" type="none"/>
            <a:tailEnd len="sm" w="sm" type="none"/>
          </a:ln>
        </p:spPr>
      </p:cxnSp>
      <p:cxnSp>
        <p:nvCxnSpPr>
          <p:cNvPr id="1248" name="Google Shape;1248;h4c5bf77df5a6a1aa_1_232"/>
          <p:cNvCxnSpPr/>
          <p:nvPr/>
        </p:nvCxnSpPr>
        <p:spPr>
          <a:xfrm>
            <a:off x="3537528" y="4659893"/>
            <a:ext cx="255900" cy="0"/>
          </a:xfrm>
          <a:prstGeom prst="straightConnector1">
            <a:avLst/>
          </a:prstGeom>
          <a:noFill/>
          <a:ln cap="flat" cmpd="sng" w="26650">
            <a:solidFill>
              <a:srgbClr val="3A7D8C"/>
            </a:solidFill>
            <a:prstDash val="solid"/>
            <a:miter lim="0"/>
            <a:headEnd len="sm" w="sm" type="none"/>
            <a:tailEnd len="sm" w="sm" type="none"/>
          </a:ln>
        </p:spPr>
      </p:cxnSp>
      <p:sp>
        <p:nvSpPr>
          <p:cNvPr id="1249" name="Google Shape;1249;h4c5bf77df5a6a1aa_1_232"/>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0" name="Google Shape;1250;h4c5bf77df5a6a1aa_1_232"/>
          <p:cNvCxnSpPr/>
          <p:nvPr/>
        </p:nvCxnSpPr>
        <p:spPr>
          <a:xfrm>
            <a:off x="6340837" y="2181651"/>
            <a:ext cx="1874400" cy="0"/>
          </a:xfrm>
          <a:prstGeom prst="straightConnector1">
            <a:avLst/>
          </a:prstGeom>
          <a:noFill/>
          <a:ln cap="flat" cmpd="sng" w="29200">
            <a:solidFill>
              <a:srgbClr val="3A7D8C"/>
            </a:solidFill>
            <a:prstDash val="solid"/>
            <a:miter lim="0"/>
            <a:headEnd len="sm" w="sm" type="none"/>
            <a:tailEnd len="sm" w="sm" type="none"/>
          </a:ln>
        </p:spPr>
      </p:cxnSp>
      <p:cxnSp>
        <p:nvCxnSpPr>
          <p:cNvPr id="1251" name="Google Shape;1251;h4c5bf77df5a6a1aa_1_232"/>
          <p:cNvCxnSpPr/>
          <p:nvPr/>
        </p:nvCxnSpPr>
        <p:spPr>
          <a:xfrm>
            <a:off x="8200117" y="2181651"/>
            <a:ext cx="0" cy="1134000"/>
          </a:xfrm>
          <a:prstGeom prst="straightConnector1">
            <a:avLst/>
          </a:prstGeom>
          <a:noFill/>
          <a:ln cap="flat" cmpd="sng" w="29200">
            <a:solidFill>
              <a:srgbClr val="3A7D8C"/>
            </a:solidFill>
            <a:prstDash val="solid"/>
            <a:miter lim="0"/>
            <a:headEnd len="sm" w="sm" type="none"/>
            <a:tailEnd len="sm" w="sm" type="none"/>
          </a:ln>
        </p:spPr>
      </p:cxnSp>
      <p:sp>
        <p:nvSpPr>
          <p:cNvPr id="1252" name="Google Shape;1252;h4c5bf77df5a6a1aa_1_232"/>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3" name="Google Shape;1253;h4c5bf77df5a6a1aa_1_232"/>
          <p:cNvCxnSpPr/>
          <p:nvPr/>
        </p:nvCxnSpPr>
        <p:spPr>
          <a:xfrm>
            <a:off x="7129603" y="3304363"/>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254" name="Google Shape;1254;h4c5bf77df5a6a1aa_1_232"/>
          <p:cNvCxnSpPr/>
          <p:nvPr/>
        </p:nvCxnSpPr>
        <p:spPr>
          <a:xfrm>
            <a:off x="7264000" y="3297219"/>
            <a:ext cx="0" cy="448200"/>
          </a:xfrm>
          <a:prstGeom prst="straightConnector1">
            <a:avLst/>
          </a:prstGeom>
          <a:noFill/>
          <a:ln cap="flat" cmpd="sng" w="26650">
            <a:solidFill>
              <a:srgbClr val="3A7D8C"/>
            </a:solidFill>
            <a:prstDash val="solid"/>
            <a:miter lim="0"/>
            <a:headEnd len="sm" w="sm" type="none"/>
            <a:tailEnd len="sm" w="sm" type="none"/>
          </a:ln>
        </p:spPr>
      </p:cxnSp>
      <p:sp>
        <p:nvSpPr>
          <p:cNvPr id="1255" name="Google Shape;1255;h4c5bf77df5a6a1aa_1_232"/>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56" name="Google Shape;1256;h4c5bf77df5a6a1aa_1_232"/>
          <p:cNvCxnSpPr/>
          <p:nvPr/>
        </p:nvCxnSpPr>
        <p:spPr>
          <a:xfrm>
            <a:off x="7129603" y="4693870"/>
            <a:ext cx="146400" cy="0"/>
          </a:xfrm>
          <a:prstGeom prst="straightConnector1">
            <a:avLst/>
          </a:prstGeom>
          <a:noFill/>
          <a:ln cap="flat" cmpd="sng" w="26650">
            <a:solidFill>
              <a:srgbClr val="3A7D8C"/>
            </a:solidFill>
            <a:prstDash val="solid"/>
            <a:miter lim="0"/>
            <a:headEnd len="sm" w="sm" type="none"/>
            <a:tailEnd len="sm" w="sm" type="none"/>
          </a:ln>
        </p:spPr>
      </p:cxnSp>
      <p:cxnSp>
        <p:nvCxnSpPr>
          <p:cNvPr id="1257" name="Google Shape;1257;h4c5bf77df5a6a1aa_1_232"/>
          <p:cNvCxnSpPr/>
          <p:nvPr/>
        </p:nvCxnSpPr>
        <p:spPr>
          <a:xfrm rot="10800000">
            <a:off x="7264000" y="3745251"/>
            <a:ext cx="0" cy="951000"/>
          </a:xfrm>
          <a:prstGeom prst="straightConnector1">
            <a:avLst/>
          </a:prstGeom>
          <a:noFill/>
          <a:ln cap="flat" cmpd="sng" w="26650">
            <a:solidFill>
              <a:srgbClr val="3A7D8C"/>
            </a:solidFill>
            <a:prstDash val="solid"/>
            <a:miter lim="0"/>
            <a:headEnd len="sm" w="sm" type="none"/>
            <a:tailEnd len="sm" w="sm" type="none"/>
          </a:ln>
        </p:spPr>
      </p:cxnSp>
      <p:cxnSp>
        <p:nvCxnSpPr>
          <p:cNvPr id="1258" name="Google Shape;1258;h4c5bf77df5a6a1aa_1_232"/>
          <p:cNvCxnSpPr/>
          <p:nvPr/>
        </p:nvCxnSpPr>
        <p:spPr>
          <a:xfrm>
            <a:off x="8931637" y="3795662"/>
            <a:ext cx="868800" cy="0"/>
          </a:xfrm>
          <a:prstGeom prst="straightConnector1">
            <a:avLst/>
          </a:prstGeom>
          <a:noFill/>
          <a:ln cap="flat" cmpd="sng" w="38100">
            <a:solidFill>
              <a:srgbClr val="0B6E4F"/>
            </a:solidFill>
            <a:prstDash val="solid"/>
            <a:miter lim="0"/>
            <a:headEnd len="sm" w="sm" type="none"/>
            <a:tailEnd len="sm" w="sm" type="none"/>
          </a:ln>
        </p:spPr>
      </p:cxnSp>
      <p:sp>
        <p:nvSpPr>
          <p:cNvPr id="1259" name="Google Shape;1259;h4c5bf77df5a6a1aa_1_232"/>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0" name="Google Shape;1260;h4c5bf77df5a6a1aa_1_232"/>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61" name="Google Shape;1261;h4c5bf77df5a6a1aa_1_232"/>
          <p:cNvSpPr/>
          <p:nvPr/>
        </p:nvSpPr>
        <p:spPr>
          <a:xfrm>
            <a:off x="526124"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2" name="Google Shape;1262;h4c5bf77df5a6a1aa_1_232"/>
          <p:cNvCxnSpPr/>
          <p:nvPr/>
        </p:nvCxnSpPr>
        <p:spPr>
          <a:xfrm>
            <a:off x="567272"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3" name="Google Shape;1263;h4c5bf77df5a6a1aa_1_232"/>
          <p:cNvCxnSpPr/>
          <p:nvPr/>
        </p:nvCxnSpPr>
        <p:spPr>
          <a:xfrm>
            <a:off x="567272"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64" name="Google Shape;1264;h4c5bf77df5a6a1aa_1_232"/>
          <p:cNvSpPr/>
          <p:nvPr/>
        </p:nvSpPr>
        <p:spPr>
          <a:xfrm>
            <a:off x="837020"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5" name="Google Shape;1265;h4c5bf77df5a6a1aa_1_232"/>
          <p:cNvCxnSpPr/>
          <p:nvPr/>
        </p:nvCxnSpPr>
        <p:spPr>
          <a:xfrm>
            <a:off x="878168"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6" name="Google Shape;1266;h4c5bf77df5a6a1aa_1_232"/>
          <p:cNvCxnSpPr/>
          <p:nvPr/>
        </p:nvCxnSpPr>
        <p:spPr>
          <a:xfrm>
            <a:off x="878168"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67" name="Google Shape;1267;h4c5bf77df5a6a1aa_1_232"/>
          <p:cNvSpPr/>
          <p:nvPr/>
        </p:nvSpPr>
        <p:spPr>
          <a:xfrm>
            <a:off x="1147916" y="3123483"/>
            <a:ext cx="255900" cy="402300"/>
          </a:xfrm>
          <a:prstGeom prst="rect">
            <a:avLst/>
          </a:prstGeom>
          <a:solidFill>
            <a:srgbClr val="DDE5E1"/>
          </a:solidFill>
          <a:ln cap="flat" cmpd="sng" w="10150">
            <a:solidFill>
              <a:srgbClr val="177A55"/>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268" name="Google Shape;1268;h4c5bf77df5a6a1aa_1_232"/>
          <p:cNvCxnSpPr/>
          <p:nvPr/>
        </p:nvCxnSpPr>
        <p:spPr>
          <a:xfrm>
            <a:off x="1189064" y="3242355"/>
            <a:ext cx="169200" cy="0"/>
          </a:xfrm>
          <a:prstGeom prst="straightConnector1">
            <a:avLst/>
          </a:prstGeom>
          <a:noFill/>
          <a:ln cap="flat" cmpd="sng" w="9525">
            <a:solidFill>
              <a:srgbClr val="8E989E"/>
            </a:solidFill>
            <a:prstDash val="solid"/>
            <a:miter lim="0"/>
            <a:headEnd len="sm" w="sm" type="none"/>
            <a:tailEnd len="sm" w="sm" type="none"/>
          </a:ln>
        </p:spPr>
      </p:cxnSp>
      <p:cxnSp>
        <p:nvCxnSpPr>
          <p:cNvPr id="1269" name="Google Shape;1269;h4c5bf77df5a6a1aa_1_232"/>
          <p:cNvCxnSpPr/>
          <p:nvPr/>
        </p:nvCxnSpPr>
        <p:spPr>
          <a:xfrm>
            <a:off x="1189064" y="3324651"/>
            <a:ext cx="169200" cy="0"/>
          </a:xfrm>
          <a:prstGeom prst="straightConnector1">
            <a:avLst/>
          </a:prstGeom>
          <a:noFill/>
          <a:ln cap="flat" cmpd="sng" w="9525">
            <a:solidFill>
              <a:srgbClr val="8E989E"/>
            </a:solidFill>
            <a:prstDash val="solid"/>
            <a:miter lim="0"/>
            <a:headEnd len="sm" w="sm" type="none"/>
            <a:tailEnd len="sm" w="sm" type="none"/>
          </a:ln>
        </p:spPr>
      </p:cxnSp>
      <p:sp>
        <p:nvSpPr>
          <p:cNvPr id="1270" name="Google Shape;1270;h4c5bf77df5a6a1aa_1_232"/>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271" name="Google Shape;1271;h4c5bf77df5a6a1aa_1_232"/>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272" name="Google Shape;1272;h4c5bf77df5a6a1aa_1_232"/>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3" name="Google Shape;1273;h4c5bf77df5a6a1aa_1_232"/>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274" name="Google Shape;1274;h4c5bf77df5a6a1aa_1_232"/>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275" name="Google Shape;1275;h4c5bf77df5a6a1aa_1_232"/>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276" name="Google Shape;1276;h4c5bf77df5a6a1aa_1_232"/>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7" name="Google Shape;1277;h4c5bf77df5a6a1aa_1_232"/>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278" name="Google Shape;1278;h4c5bf77df5a6a1aa_1_232"/>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79" name="Google Shape;1279;h4c5bf77df5a6a1aa_1_232"/>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280" name="Google Shape;1280;h4c5bf77df5a6a1aa_1_232"/>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281" name="Google Shape;1281;h4c5bf77df5a6a1aa_1_232"/>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282" name="Google Shape;1282;h4c5bf77df5a6a1aa_1_232"/>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3" name="Google Shape;1283;h4c5bf77df5a6a1aa_1_232"/>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284" name="Google Shape;1284;h4c5bf77df5a6a1aa_1_232"/>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285" name="Google Shape;1285;h4c5bf77df5a6a1aa_1_232"/>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286" name="Google Shape;1286;h4c5bf77df5a6a1aa_1_232"/>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7" name="Google Shape;1287;h4c5bf77df5a6a1aa_1_232"/>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288" name="Google Shape;1288;h4c5bf77df5a6a1aa_1_232"/>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289" name="Google Shape;1289;h4c5bf77df5a6a1aa_1_232"/>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290" name="Google Shape;1290;h4c5bf77df5a6a1aa_1_232"/>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1" name="Google Shape;1291;h4c5bf77df5a6a1aa_1_232"/>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292" name="Google Shape;1292;h4c5bf77df5a6a1aa_1_232"/>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293" name="Google Shape;1293;h4c5bf77df5a6a1aa_1_232"/>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294" name="Google Shape;1294;h4c5bf77df5a6a1aa_1_232"/>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295" name="Google Shape;1295;h4c5bf77df5a6a1aa_1_232"/>
          <p:cNvSpPr/>
          <p:nvPr/>
        </p:nvSpPr>
        <p:spPr>
          <a:xfrm>
            <a:off x="9859849" y="3237878"/>
            <a:ext cx="2121300" cy="1115700"/>
          </a:xfrm>
          <a:prstGeom prst="roundRect">
            <a:avLst>
              <a:gd fmla="val 16667" name="adj"/>
            </a:avLst>
          </a:prstGeom>
          <a:solidFill>
            <a:srgbClr val="DDE5E1"/>
          </a:solidFill>
          <a:ln cap="flat" cmpd="sng" w="29200">
            <a:solidFill>
              <a:srgbClr val="0B6E4F"/>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6" name="Google Shape;1296;h4c5bf77df5a6a1aa_1_232"/>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297" name="Google Shape;1297;h4c5bf77df5a6a1aa_1_232"/>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298" name="Google Shape;1298;h4c5bf77df5a6a1aa_1_232"/>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cxnSp>
        <p:nvCxnSpPr>
          <p:cNvPr id="1299" name="Google Shape;1299;h4c5bf77df5a6a1aa_1_232"/>
          <p:cNvCxnSpPr/>
          <p:nvPr/>
        </p:nvCxnSpPr>
        <p:spPr>
          <a:xfrm>
            <a:off x="3280056" y="3446462"/>
            <a:ext cx="100500" cy="0"/>
          </a:xfrm>
          <a:prstGeom prst="straightConnector1">
            <a:avLst/>
          </a:prstGeom>
          <a:noFill/>
          <a:ln cap="flat" cmpd="sng" w="29200">
            <a:solidFill>
              <a:srgbClr val="3A7D8C"/>
            </a:solidFill>
            <a:prstDash val="solid"/>
            <a:miter lim="0"/>
            <a:headEnd len="sm" w="sm" type="none"/>
            <a:tailEnd len="sm" w="sm" type="none"/>
          </a:ln>
        </p:spPr>
      </p:cxnSp>
      <p:sp>
        <p:nvSpPr>
          <p:cNvPr id="1300" name="Google Shape;1300;h4c5bf77df5a6a1aa_1_232"/>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01" name="Google Shape;1301;h4c5bf77df5a6a1aa_1_232"/>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302" name="Google Shape;1302;h4c5bf77df5a6a1aa_1_232"/>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303" name="Google Shape;1303;h4c5bf77df5a6a1aa_1_232"/>
          <p:cNvCxnSpPr/>
          <p:nvPr/>
        </p:nvCxnSpPr>
        <p:spPr>
          <a:xfrm>
            <a:off x="3276349" y="3608115"/>
            <a:ext cx="118800" cy="0"/>
          </a:xfrm>
          <a:prstGeom prst="straightConnector1">
            <a:avLst/>
          </a:prstGeom>
          <a:noFill/>
          <a:ln cap="flat" cmpd="sng" w="26650">
            <a:solidFill>
              <a:srgbClr val="3A7D8C"/>
            </a:solidFill>
            <a:prstDash val="solid"/>
            <a:miter lim="0"/>
            <a:headEnd len="sm" w="sm" type="none"/>
            <a:tailEnd len="sm" w="sm" type="none"/>
          </a:ln>
        </p:spPr>
      </p:cxnSp>
      <p:cxnSp>
        <p:nvCxnSpPr>
          <p:cNvPr id="1304" name="Google Shape;1304;h4c5bf77df5a6a1aa_1_232"/>
          <p:cNvCxnSpPr/>
          <p:nvPr/>
        </p:nvCxnSpPr>
        <p:spPr>
          <a:xfrm>
            <a:off x="3657665" y="2199459"/>
            <a:ext cx="265200" cy="0"/>
          </a:xfrm>
          <a:prstGeom prst="straightConnector1">
            <a:avLst/>
          </a:prstGeom>
          <a:noFill/>
          <a:ln cap="flat" cmpd="sng" w="29200">
            <a:solidFill>
              <a:srgbClr val="3A7D8C"/>
            </a:solidFill>
            <a:prstDash val="solid"/>
            <a:miter lim="0"/>
            <a:headEnd len="sm" w="sm" type="none"/>
            <a:tailEnd len="sm" w="sm" type="none"/>
          </a:ln>
        </p:spPr>
      </p:cxnSp>
      <p:cxnSp>
        <p:nvCxnSpPr>
          <p:cNvPr id="1305" name="Google Shape;1305;h4c5bf77df5a6a1aa_1_232"/>
          <p:cNvCxnSpPr/>
          <p:nvPr/>
        </p:nvCxnSpPr>
        <p:spPr>
          <a:xfrm>
            <a:off x="6144772" y="2181631"/>
            <a:ext cx="1874400" cy="0"/>
          </a:xfrm>
          <a:prstGeom prst="straightConnector1">
            <a:avLst/>
          </a:prstGeom>
          <a:noFill/>
          <a:ln cap="flat" cmpd="sng" w="29200">
            <a:solidFill>
              <a:srgbClr val="3A7D8C"/>
            </a:solidFill>
            <a:prstDash val="solid"/>
            <a:miter lim="0"/>
            <a:headEnd len="sm" w="sm" type="none"/>
            <a:tailEnd len="sm" w="sm" type="none"/>
          </a:ln>
        </p:spPr>
      </p:cxnSp>
      <p:pic>
        <p:nvPicPr>
          <p:cNvPr id="1306" name="Google Shape;1306;h4c5bf77df5a6a1aa_1_232"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307" name="Google Shape;1307;h4c5bf77df5a6a1aa_1_232"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308" name="Google Shape;1308;h4c5bf77df5a6a1aa_1_232"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309" name="Google Shape;1309;h4c5bf77df5a6a1aa_1_232"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310" name="Google Shape;1310;h4c5bf77df5a6a1aa_1_232"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311" name="Google Shape;1311;h4c5bf77df5a6a1aa_1_232"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
        <p:nvSpPr>
          <p:cNvPr id="1312" name="Slide number 131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6" name="Shape 1316"/>
        <p:cNvGrpSpPr/>
        <p:nvPr/>
      </p:nvGrpSpPr>
      <p:grpSpPr>
        <a:xfrm>
          <a:off x="0" y="0"/>
          <a:ext cx="0" cy="0"/>
          <a:chOff x="0" y="0"/>
          <a:chExt cx="0" cy="0"/>
        </a:xfrm>
      </p:grpSpPr>
      <p:cxnSp>
        <p:nvCxnSpPr>
          <p:cNvPr id="1317" name="Google Shape;1317;p17"/>
          <p:cNvCxnSpPr/>
          <p:nvPr/>
        </p:nvCxnSpPr>
        <p:spPr>
          <a:xfrm>
            <a:off x="7261490" y="3782975"/>
            <a:ext cx="228600" cy="0"/>
          </a:xfrm>
          <a:prstGeom prst="straightConnector1">
            <a:avLst/>
          </a:prstGeom>
          <a:noFill/>
          <a:ln cap="flat" cmpd="sng" w="26650">
            <a:solidFill>
              <a:srgbClr val="3A7D8C"/>
            </a:solidFill>
            <a:prstDash val="solid"/>
            <a:miter lim="80"/>
            <a:headEnd len="sm" w="sm" type="none"/>
            <a:tailEnd len="sm" w="sm" type="none"/>
          </a:ln>
        </p:spPr>
      </p:cxnSp>
      <p:cxnSp>
        <p:nvCxnSpPr>
          <p:cNvPr id="1318" name="Google Shape;1318;p17"/>
          <p:cNvCxnSpPr/>
          <p:nvPr/>
        </p:nvCxnSpPr>
        <p:spPr>
          <a:xfrm>
            <a:off x="7071140" y="3304363"/>
            <a:ext cx="146400" cy="0"/>
          </a:xfrm>
          <a:prstGeom prst="straightConnector1">
            <a:avLst/>
          </a:prstGeom>
          <a:noFill/>
          <a:ln cap="flat" cmpd="sng" w="26650">
            <a:solidFill>
              <a:srgbClr val="3A7D8C"/>
            </a:solidFill>
            <a:prstDash val="solid"/>
            <a:miter lim="80"/>
            <a:headEnd len="sm" w="sm" type="none"/>
            <a:tailEnd len="sm" w="sm" type="none"/>
          </a:ln>
        </p:spPr>
      </p:cxnSp>
      <p:sp>
        <p:nvSpPr>
          <p:cNvPr id="1319" name="Google Shape;1319;p17"/>
          <p:cNvSpPr txBox="1"/>
          <p:nvPr/>
        </p:nvSpPr>
        <p:spPr>
          <a:xfrm>
            <a:off x="512064" y="320040"/>
            <a:ext cx="6675000" cy="301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RIGOR  /  REASSEMBLING THE ARCHITECTURE</a:t>
            </a:r>
            <a:endParaRPr b="0" i="0" sz="1400" u="none" cap="none" strike="noStrike">
              <a:solidFill>
                <a:srgbClr val="000000"/>
              </a:solidFill>
              <a:latin typeface="Consolas"/>
              <a:ea typeface="Consolas"/>
              <a:cs typeface="Consolas"/>
              <a:sym typeface="Consolas"/>
            </a:endParaRPr>
          </a:p>
        </p:txBody>
      </p:sp>
      <p:sp>
        <p:nvSpPr>
          <p:cNvPr id="1320" name="Google Shape;1320;p17"/>
          <p:cNvSpPr txBox="1"/>
          <p:nvPr/>
        </p:nvSpPr>
        <p:spPr>
          <a:xfrm>
            <a:off x="512064" y="685800"/>
            <a:ext cx="10881300" cy="4755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6. Integrate and reuse the growing core</a:t>
            </a:r>
            <a:endParaRPr b="0" i="0" sz="1400" u="none" cap="none" strike="noStrike">
              <a:solidFill>
                <a:srgbClr val="000000"/>
              </a:solidFill>
              <a:latin typeface="Arial"/>
              <a:ea typeface="Arial"/>
              <a:cs typeface="Arial"/>
              <a:sym typeface="Arial"/>
            </a:endParaRPr>
          </a:p>
        </p:txBody>
      </p:sp>
      <p:sp>
        <p:nvSpPr>
          <p:cNvPr id="1321" name="Google Shape;1321;p17"/>
          <p:cNvSpPr txBox="1"/>
          <p:nvPr/>
        </p:nvSpPr>
        <p:spPr>
          <a:xfrm>
            <a:off x="512064" y="1271016"/>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3A434C"/>
                </a:solidFill>
                <a:latin typeface="Calibri"/>
                <a:ea typeface="Calibri"/>
                <a:cs typeface="Calibri"/>
                <a:sym typeface="Calibri"/>
              </a:rPr>
              <a:t> The growing core feeds the next generation iteration.</a:t>
            </a:r>
            <a:endParaRPr b="0" i="0" sz="1400" u="none" cap="none" strike="noStrike">
              <a:solidFill>
                <a:srgbClr val="000000"/>
              </a:solidFill>
              <a:latin typeface="Arial"/>
              <a:ea typeface="Arial"/>
              <a:cs typeface="Arial"/>
              <a:sym typeface="Arial"/>
            </a:endParaRPr>
          </a:p>
        </p:txBody>
      </p:sp>
      <p:sp>
        <p:nvSpPr>
          <p:cNvPr id="1322" name="Google Shape;1322;p17"/>
          <p:cNvSpPr/>
          <p:nvPr/>
        </p:nvSpPr>
        <p:spPr>
          <a:xfrm>
            <a:off x="969264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3" name="Google Shape;1323;p17"/>
          <p:cNvSpPr/>
          <p:nvPr/>
        </p:nvSpPr>
        <p:spPr>
          <a:xfrm>
            <a:off x="10049256"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4" name="Google Shape;1324;p17"/>
          <p:cNvSpPr/>
          <p:nvPr/>
        </p:nvSpPr>
        <p:spPr>
          <a:xfrm>
            <a:off x="10405872"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5" name="Google Shape;1325;p17"/>
          <p:cNvSpPr/>
          <p:nvPr/>
        </p:nvSpPr>
        <p:spPr>
          <a:xfrm>
            <a:off x="10762488"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6" name="Google Shape;1326;p17"/>
          <p:cNvSpPr/>
          <p:nvPr/>
        </p:nvSpPr>
        <p:spPr>
          <a:xfrm>
            <a:off x="11119104"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7" name="Google Shape;1327;p17"/>
          <p:cNvSpPr/>
          <p:nvPr/>
        </p:nvSpPr>
        <p:spPr>
          <a:xfrm>
            <a:off x="11475720" y="356616"/>
            <a:ext cx="274200" cy="63900"/>
          </a:xfrm>
          <a:prstGeom prst="rect">
            <a:avLst/>
          </a:prstGeom>
          <a:solidFill>
            <a:srgbClr val="0B6E4F"/>
          </a:solidFill>
          <a:ln cap="flat" cmpd="sng" w="95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28" name="Google Shape;1328;p17"/>
          <p:cNvSpPr txBox="1"/>
          <p:nvPr/>
        </p:nvSpPr>
        <p:spPr>
          <a:xfrm>
            <a:off x="10643688" y="640080"/>
            <a:ext cx="804600" cy="1830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Clr>
                <a:srgbClr val="000000"/>
              </a:buClr>
              <a:buSzPts val="1400"/>
              <a:buFont typeface="Arial"/>
              <a:buNone/>
            </a:pPr>
            <a:r>
              <a:rPr b="0" i="0" lang="en-US" sz="1100" u="none" cap="none" strike="noStrike">
                <a:solidFill>
                  <a:srgbClr val="3A434C"/>
                </a:solidFill>
                <a:latin typeface="Calibri"/>
                <a:ea typeface="Calibri"/>
                <a:cs typeface="Calibri"/>
                <a:sym typeface="Calibri"/>
              </a:rPr>
              <a:t>6 / 6</a:t>
            </a:r>
            <a:endParaRPr b="0" i="0" sz="1100" u="none" cap="none" strike="noStrike">
              <a:solidFill>
                <a:srgbClr val="000000"/>
              </a:solidFill>
              <a:latin typeface="Arial"/>
              <a:ea typeface="Arial"/>
              <a:cs typeface="Arial"/>
              <a:sym typeface="Arial"/>
            </a:endParaRPr>
          </a:p>
        </p:txBody>
      </p:sp>
      <p:cxnSp>
        <p:nvCxnSpPr>
          <p:cNvPr id="1329" name="Google Shape;1329;p17"/>
          <p:cNvCxnSpPr/>
          <p:nvPr/>
        </p:nvCxnSpPr>
        <p:spPr>
          <a:xfrm>
            <a:off x="1577684" y="3507531"/>
            <a:ext cx="164700" cy="0"/>
          </a:xfrm>
          <a:prstGeom prst="straightConnector1">
            <a:avLst/>
          </a:prstGeom>
          <a:noFill/>
          <a:ln cap="flat" cmpd="sng" w="38100">
            <a:solidFill>
              <a:srgbClr val="3A7D8C"/>
            </a:solidFill>
            <a:prstDash val="solid"/>
            <a:miter lim="80"/>
            <a:headEnd len="sm" w="sm" type="none"/>
            <a:tailEnd len="sm" w="sm" type="none"/>
          </a:ln>
        </p:spPr>
      </p:cxnSp>
      <p:sp>
        <p:nvSpPr>
          <p:cNvPr id="1330" name="Google Shape;1330;p17"/>
          <p:cNvSpPr/>
          <p:nvPr/>
        </p:nvSpPr>
        <p:spPr>
          <a:xfrm rot="5400000">
            <a:off x="1678184" y="3443523"/>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1" name="Google Shape;1331;p17"/>
          <p:cNvCxnSpPr/>
          <p:nvPr/>
        </p:nvCxnSpPr>
        <p:spPr>
          <a:xfrm>
            <a:off x="3369671" y="3446462"/>
            <a:ext cx="100500" cy="0"/>
          </a:xfrm>
          <a:prstGeom prst="straightConnector1">
            <a:avLst/>
          </a:prstGeom>
          <a:noFill/>
          <a:ln cap="flat" cmpd="sng" w="29200">
            <a:solidFill>
              <a:srgbClr val="3A7D8C"/>
            </a:solidFill>
            <a:prstDash val="solid"/>
            <a:miter lim="80"/>
            <a:headEnd len="sm" w="sm" type="none"/>
            <a:tailEnd len="sm" w="sm" type="none"/>
          </a:ln>
        </p:spPr>
      </p:cxnSp>
      <p:cxnSp>
        <p:nvCxnSpPr>
          <p:cNvPr id="1332" name="Google Shape;1332;p17"/>
          <p:cNvCxnSpPr/>
          <p:nvPr/>
        </p:nvCxnSpPr>
        <p:spPr>
          <a:xfrm rot="10800000">
            <a:off x="3456647" y="2186248"/>
            <a:ext cx="0" cy="1271100"/>
          </a:xfrm>
          <a:prstGeom prst="straightConnector1">
            <a:avLst/>
          </a:prstGeom>
          <a:noFill/>
          <a:ln cap="flat" cmpd="sng" w="29200">
            <a:solidFill>
              <a:srgbClr val="3A7D8C"/>
            </a:solidFill>
            <a:prstDash val="solid"/>
            <a:miter lim="80"/>
            <a:headEnd len="sm" w="sm" type="none"/>
            <a:tailEnd len="sm" w="sm" type="none"/>
          </a:ln>
        </p:spPr>
      </p:cxnSp>
      <p:cxnSp>
        <p:nvCxnSpPr>
          <p:cNvPr id="1333" name="Google Shape;1333;p17"/>
          <p:cNvCxnSpPr/>
          <p:nvPr/>
        </p:nvCxnSpPr>
        <p:spPr>
          <a:xfrm>
            <a:off x="3456647" y="2199939"/>
            <a:ext cx="265200" cy="0"/>
          </a:xfrm>
          <a:prstGeom prst="straightConnector1">
            <a:avLst/>
          </a:prstGeom>
          <a:noFill/>
          <a:ln cap="flat" cmpd="sng" w="29200">
            <a:solidFill>
              <a:srgbClr val="3A7D8C"/>
            </a:solidFill>
            <a:prstDash val="solid"/>
            <a:miter lim="80"/>
            <a:headEnd len="sm" w="sm" type="none"/>
            <a:tailEnd len="sm" w="sm" type="none"/>
          </a:ln>
        </p:spPr>
      </p:cxnSp>
      <p:sp>
        <p:nvSpPr>
          <p:cNvPr id="1334" name="Google Shape;1334;p17"/>
          <p:cNvSpPr/>
          <p:nvPr/>
        </p:nvSpPr>
        <p:spPr>
          <a:xfrm rot="5400000">
            <a:off x="3918081" y="213593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5" name="Google Shape;1335;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36" name="Google Shape;1336;p17"/>
          <p:cNvCxnSpPr/>
          <p:nvPr/>
        </p:nvCxnSpPr>
        <p:spPr>
          <a:xfrm rot="10800000">
            <a:off x="3537528" y="3283708"/>
            <a:ext cx="0" cy="310800"/>
          </a:xfrm>
          <a:prstGeom prst="straightConnector1">
            <a:avLst/>
          </a:prstGeom>
          <a:noFill/>
          <a:ln cap="flat" cmpd="sng" w="26650">
            <a:solidFill>
              <a:srgbClr val="3A7D8C"/>
            </a:solidFill>
            <a:prstDash val="solid"/>
            <a:miter lim="80"/>
            <a:headEnd len="sm" w="sm" type="none"/>
            <a:tailEnd len="sm" w="sm" type="none"/>
          </a:ln>
        </p:spPr>
      </p:cxnSp>
      <p:cxnSp>
        <p:nvCxnSpPr>
          <p:cNvPr id="1337" name="Google Shape;1337;p17"/>
          <p:cNvCxnSpPr/>
          <p:nvPr/>
        </p:nvCxnSpPr>
        <p:spPr>
          <a:xfrm>
            <a:off x="3537528" y="3297219"/>
            <a:ext cx="255900" cy="0"/>
          </a:xfrm>
          <a:prstGeom prst="straightConnector1">
            <a:avLst/>
          </a:prstGeom>
          <a:noFill/>
          <a:ln cap="flat" cmpd="sng" w="26650">
            <a:solidFill>
              <a:srgbClr val="3A7D8C"/>
            </a:solidFill>
            <a:prstDash val="solid"/>
            <a:miter lim="80"/>
            <a:headEnd len="sm" w="sm" type="none"/>
            <a:tailEnd len="sm" w="sm" type="none"/>
          </a:ln>
        </p:spPr>
      </p:cxnSp>
      <p:sp>
        <p:nvSpPr>
          <p:cNvPr id="1338" name="Google Shape;1338;p17"/>
          <p:cNvSpPr/>
          <p:nvPr/>
        </p:nvSpPr>
        <p:spPr>
          <a:xfrm rot="5400000">
            <a:off x="3729467" y="3233211"/>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39" name="Google Shape;1339;p17"/>
          <p:cNvCxnSpPr/>
          <p:nvPr/>
        </p:nvCxnSpPr>
        <p:spPr>
          <a:xfrm>
            <a:off x="3356063"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40" name="Google Shape;1340;p17"/>
          <p:cNvCxnSpPr/>
          <p:nvPr/>
        </p:nvCxnSpPr>
        <p:spPr>
          <a:xfrm>
            <a:off x="3537528" y="3992163"/>
            <a:ext cx="255900" cy="0"/>
          </a:xfrm>
          <a:prstGeom prst="straightConnector1">
            <a:avLst/>
          </a:prstGeom>
          <a:noFill/>
          <a:ln cap="flat" cmpd="sng" w="26650">
            <a:solidFill>
              <a:srgbClr val="3A7D8C"/>
            </a:solidFill>
            <a:prstDash val="solid"/>
            <a:miter lim="80"/>
            <a:headEnd len="sm" w="sm" type="none"/>
            <a:tailEnd len="sm" w="sm" type="none"/>
          </a:ln>
        </p:spPr>
      </p:cxnSp>
      <p:sp>
        <p:nvSpPr>
          <p:cNvPr id="1341" name="Google Shape;1341;p17"/>
          <p:cNvSpPr/>
          <p:nvPr/>
        </p:nvSpPr>
        <p:spPr>
          <a:xfrm rot="5400000">
            <a:off x="3729467" y="3928154"/>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2" name="Google Shape;1342;p17"/>
          <p:cNvCxnSpPr/>
          <p:nvPr/>
        </p:nvCxnSpPr>
        <p:spPr>
          <a:xfrm>
            <a:off x="3418656"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343" name="Google Shape;1343;p17"/>
          <p:cNvCxnSpPr/>
          <p:nvPr/>
        </p:nvCxnSpPr>
        <p:spPr>
          <a:xfrm>
            <a:off x="3537528" y="3594508"/>
            <a:ext cx="0" cy="1079100"/>
          </a:xfrm>
          <a:prstGeom prst="straightConnector1">
            <a:avLst/>
          </a:prstGeom>
          <a:noFill/>
          <a:ln cap="flat" cmpd="sng" w="26650">
            <a:solidFill>
              <a:srgbClr val="3A7D8C"/>
            </a:solidFill>
            <a:prstDash val="solid"/>
            <a:miter lim="80"/>
            <a:headEnd len="sm" w="sm" type="none"/>
            <a:tailEnd len="sm" w="sm" type="none"/>
          </a:ln>
        </p:spPr>
      </p:cxnSp>
      <p:cxnSp>
        <p:nvCxnSpPr>
          <p:cNvPr id="1344" name="Google Shape;1344;p17"/>
          <p:cNvCxnSpPr/>
          <p:nvPr/>
        </p:nvCxnSpPr>
        <p:spPr>
          <a:xfrm>
            <a:off x="3537528" y="4659893"/>
            <a:ext cx="255900" cy="0"/>
          </a:xfrm>
          <a:prstGeom prst="straightConnector1">
            <a:avLst/>
          </a:prstGeom>
          <a:noFill/>
          <a:ln cap="flat" cmpd="sng" w="26650">
            <a:solidFill>
              <a:srgbClr val="3A7D8C"/>
            </a:solidFill>
            <a:prstDash val="solid"/>
            <a:miter lim="80"/>
            <a:headEnd len="sm" w="sm" type="none"/>
            <a:tailEnd len="sm" w="sm" type="none"/>
          </a:ln>
        </p:spPr>
      </p:cxnSp>
      <p:sp>
        <p:nvSpPr>
          <p:cNvPr id="1345" name="Google Shape;1345;p17"/>
          <p:cNvSpPr/>
          <p:nvPr/>
        </p:nvSpPr>
        <p:spPr>
          <a:xfrm rot="5400000">
            <a:off x="3729467" y="459588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6" name="Google Shape;1346;p17"/>
          <p:cNvCxnSpPr/>
          <p:nvPr/>
        </p:nvCxnSpPr>
        <p:spPr>
          <a:xfrm>
            <a:off x="6340837" y="218165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347" name="Google Shape;1347;p17"/>
          <p:cNvCxnSpPr/>
          <p:nvPr/>
        </p:nvCxnSpPr>
        <p:spPr>
          <a:xfrm>
            <a:off x="8200117" y="2181651"/>
            <a:ext cx="0" cy="1134000"/>
          </a:xfrm>
          <a:prstGeom prst="straightConnector1">
            <a:avLst/>
          </a:prstGeom>
          <a:noFill/>
          <a:ln cap="flat" cmpd="sng" w="29200">
            <a:solidFill>
              <a:srgbClr val="3A7D8C"/>
            </a:solidFill>
            <a:prstDash val="solid"/>
            <a:miter lim="80"/>
            <a:headEnd len="sm" w="sm" type="none"/>
            <a:tailEnd len="sm" w="sm" type="none"/>
          </a:ln>
        </p:spPr>
      </p:cxnSp>
      <p:sp>
        <p:nvSpPr>
          <p:cNvPr id="1348" name="Google Shape;1348;p17"/>
          <p:cNvSpPr/>
          <p:nvPr/>
        </p:nvSpPr>
        <p:spPr>
          <a:xfrm rot="10800000">
            <a:off x="8136025" y="3251415"/>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49" name="Google Shape;1349;p17"/>
          <p:cNvCxnSpPr/>
          <p:nvPr/>
        </p:nvCxnSpPr>
        <p:spPr>
          <a:xfrm>
            <a:off x="7129603" y="3304363"/>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350" name="Google Shape;1350;p17"/>
          <p:cNvCxnSpPr/>
          <p:nvPr/>
        </p:nvCxnSpPr>
        <p:spPr>
          <a:xfrm>
            <a:off x="7264000" y="3297219"/>
            <a:ext cx="0" cy="448200"/>
          </a:xfrm>
          <a:prstGeom prst="straightConnector1">
            <a:avLst/>
          </a:prstGeom>
          <a:noFill/>
          <a:ln cap="flat" cmpd="sng" w="26650">
            <a:solidFill>
              <a:srgbClr val="3A7D8C"/>
            </a:solidFill>
            <a:prstDash val="solid"/>
            <a:miter lim="80"/>
            <a:headEnd len="sm" w="sm" type="none"/>
            <a:tailEnd len="sm" w="sm" type="none"/>
          </a:ln>
        </p:spPr>
      </p:cxnSp>
      <p:sp>
        <p:nvSpPr>
          <p:cNvPr id="1351" name="Google Shape;1351;p17"/>
          <p:cNvSpPr/>
          <p:nvPr/>
        </p:nvSpPr>
        <p:spPr>
          <a:xfrm rot="5400000">
            <a:off x="7462823" y="3718917"/>
            <a:ext cx="128100" cy="128100"/>
          </a:xfrm>
          <a:prstGeom prst="triangle">
            <a:avLst>
              <a:gd fmla="val 50000" name="adj"/>
            </a:avLst>
          </a:prstGeom>
          <a:solidFill>
            <a:srgbClr val="3A7D8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2" name="Google Shape;1352;p17"/>
          <p:cNvCxnSpPr/>
          <p:nvPr/>
        </p:nvCxnSpPr>
        <p:spPr>
          <a:xfrm>
            <a:off x="7129603" y="4693870"/>
            <a:ext cx="146400" cy="0"/>
          </a:xfrm>
          <a:prstGeom prst="straightConnector1">
            <a:avLst/>
          </a:prstGeom>
          <a:noFill/>
          <a:ln cap="flat" cmpd="sng" w="26650">
            <a:solidFill>
              <a:srgbClr val="3A7D8C"/>
            </a:solidFill>
            <a:prstDash val="solid"/>
            <a:miter lim="80"/>
            <a:headEnd len="sm" w="sm" type="none"/>
            <a:tailEnd len="sm" w="sm" type="none"/>
          </a:ln>
        </p:spPr>
      </p:cxnSp>
      <p:cxnSp>
        <p:nvCxnSpPr>
          <p:cNvPr id="1353" name="Google Shape;1353;p17"/>
          <p:cNvCxnSpPr/>
          <p:nvPr/>
        </p:nvCxnSpPr>
        <p:spPr>
          <a:xfrm rot="10800000">
            <a:off x="7264000" y="3745251"/>
            <a:ext cx="0" cy="951000"/>
          </a:xfrm>
          <a:prstGeom prst="straightConnector1">
            <a:avLst/>
          </a:prstGeom>
          <a:noFill/>
          <a:ln cap="flat" cmpd="sng" w="26650">
            <a:solidFill>
              <a:srgbClr val="3A7D8C"/>
            </a:solidFill>
            <a:prstDash val="solid"/>
            <a:miter lim="80"/>
            <a:headEnd len="sm" w="sm" type="none"/>
            <a:tailEnd len="sm" w="sm" type="none"/>
          </a:ln>
        </p:spPr>
      </p:cxnSp>
      <p:cxnSp>
        <p:nvCxnSpPr>
          <p:cNvPr id="1354" name="Google Shape;1354;p17"/>
          <p:cNvCxnSpPr/>
          <p:nvPr/>
        </p:nvCxnSpPr>
        <p:spPr>
          <a:xfrm>
            <a:off x="8931637" y="3795662"/>
            <a:ext cx="868800" cy="0"/>
          </a:xfrm>
          <a:prstGeom prst="straightConnector1">
            <a:avLst/>
          </a:prstGeom>
          <a:noFill/>
          <a:ln cap="flat" cmpd="sng" w="38100">
            <a:solidFill>
              <a:srgbClr val="0B6E4F"/>
            </a:solidFill>
            <a:prstDash val="solid"/>
            <a:miter lim="80"/>
            <a:headEnd len="sm" w="sm" type="none"/>
            <a:tailEnd len="sm" w="sm" type="none"/>
          </a:ln>
        </p:spPr>
      </p:cxnSp>
      <p:sp>
        <p:nvSpPr>
          <p:cNvPr id="1355" name="Google Shape;1355;p17"/>
          <p:cNvSpPr/>
          <p:nvPr/>
        </p:nvSpPr>
        <p:spPr>
          <a:xfrm rot="5400000">
            <a:off x="9736225" y="3731654"/>
            <a:ext cx="128100" cy="128100"/>
          </a:xfrm>
          <a:prstGeom prst="triangle">
            <a:avLst>
              <a:gd fmla="val 50000" name="adj"/>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6" name="Google Shape;1356;p17"/>
          <p:cNvCxnSpPr/>
          <p:nvPr/>
        </p:nvCxnSpPr>
        <p:spPr>
          <a:xfrm>
            <a:off x="10957129" y="4344302"/>
            <a:ext cx="0" cy="438900"/>
          </a:xfrm>
          <a:prstGeom prst="straightConnector1">
            <a:avLst/>
          </a:prstGeom>
          <a:noFill/>
          <a:ln cap="flat" cmpd="sng" w="33000">
            <a:solidFill>
              <a:srgbClr val="177A55"/>
            </a:solidFill>
            <a:prstDash val="solid"/>
            <a:miter lim="80"/>
            <a:headEnd len="sm" w="sm" type="none"/>
            <a:tailEnd len="sm" w="sm" type="none"/>
          </a:ln>
        </p:spPr>
      </p:cxnSp>
      <p:sp>
        <p:nvSpPr>
          <p:cNvPr id="1357" name="Google Shape;1357;p17"/>
          <p:cNvSpPr/>
          <p:nvPr/>
        </p:nvSpPr>
        <p:spPr>
          <a:xfrm rot="10800000">
            <a:off x="10893037" y="4719121"/>
            <a:ext cx="128100" cy="1281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58" name="Google Shape;1358;p17"/>
          <p:cNvCxnSpPr/>
          <p:nvPr/>
        </p:nvCxnSpPr>
        <p:spPr>
          <a:xfrm>
            <a:off x="10903962" y="5616919"/>
            <a:ext cx="0" cy="365700"/>
          </a:xfrm>
          <a:prstGeom prst="straightConnector1">
            <a:avLst/>
          </a:prstGeom>
          <a:noFill/>
          <a:ln cap="flat" cmpd="sng" w="31750">
            <a:solidFill>
              <a:srgbClr val="177A55"/>
            </a:solidFill>
            <a:prstDash val="solid"/>
            <a:miter lim="80"/>
            <a:headEnd len="sm" w="sm" type="none"/>
            <a:tailEnd len="sm" w="sm" type="none"/>
          </a:ln>
        </p:spPr>
      </p:cxnSp>
      <p:cxnSp>
        <p:nvCxnSpPr>
          <p:cNvPr id="1359" name="Google Shape;1359;p17"/>
          <p:cNvCxnSpPr/>
          <p:nvPr/>
        </p:nvCxnSpPr>
        <p:spPr>
          <a:xfrm rot="10800000">
            <a:off x="8964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360" name="Google Shape;1360;p17"/>
          <p:cNvCxnSpPr/>
          <p:nvPr/>
        </p:nvCxnSpPr>
        <p:spPr>
          <a:xfrm rot="10800000">
            <a:off x="5512146" y="5203449"/>
            <a:ext cx="0" cy="795600"/>
          </a:xfrm>
          <a:prstGeom prst="straightConnector1">
            <a:avLst/>
          </a:prstGeom>
          <a:noFill/>
          <a:ln cap="flat" cmpd="sng" w="31750">
            <a:solidFill>
              <a:srgbClr val="177A55"/>
            </a:solidFill>
            <a:prstDash val="solid"/>
            <a:miter lim="80"/>
            <a:headEnd len="sm" w="sm" type="none"/>
            <a:tailEnd len="sm" w="sm" type="none"/>
          </a:ln>
        </p:spPr>
      </p:cxnSp>
      <p:sp>
        <p:nvSpPr>
          <p:cNvPr id="1361" name="Google Shape;1361;p17"/>
          <p:cNvSpPr/>
          <p:nvPr/>
        </p:nvSpPr>
        <p:spPr>
          <a:xfrm>
            <a:off x="407252" y="2958891"/>
            <a:ext cx="1170300" cy="1134000"/>
          </a:xfrm>
          <a:prstGeom prst="roundRect">
            <a:avLst>
              <a:gd fmla="val 16667"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62" name="Google Shape;1362;p17"/>
          <p:cNvSpPr/>
          <p:nvPr/>
        </p:nvSpPr>
        <p:spPr>
          <a:xfrm>
            <a:off x="526124"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3" name="Google Shape;1363;p17"/>
          <p:cNvCxnSpPr/>
          <p:nvPr/>
        </p:nvCxnSpPr>
        <p:spPr>
          <a:xfrm>
            <a:off x="567272"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64" name="Google Shape;1364;p17"/>
          <p:cNvCxnSpPr/>
          <p:nvPr/>
        </p:nvCxnSpPr>
        <p:spPr>
          <a:xfrm>
            <a:off x="567272"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65" name="Google Shape;1365;p17"/>
          <p:cNvSpPr/>
          <p:nvPr/>
        </p:nvSpPr>
        <p:spPr>
          <a:xfrm>
            <a:off x="837020"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6" name="Google Shape;1366;p17"/>
          <p:cNvCxnSpPr/>
          <p:nvPr/>
        </p:nvCxnSpPr>
        <p:spPr>
          <a:xfrm>
            <a:off x="878168"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67" name="Google Shape;1367;p17"/>
          <p:cNvCxnSpPr/>
          <p:nvPr/>
        </p:nvCxnSpPr>
        <p:spPr>
          <a:xfrm>
            <a:off x="878168"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68" name="Google Shape;1368;p17"/>
          <p:cNvSpPr/>
          <p:nvPr/>
        </p:nvSpPr>
        <p:spPr>
          <a:xfrm>
            <a:off x="1147916" y="3123483"/>
            <a:ext cx="255900" cy="402300"/>
          </a:xfrm>
          <a:prstGeom prst="rect">
            <a:avLst/>
          </a:prstGeom>
          <a:solidFill>
            <a:srgbClr val="DDE5E1"/>
          </a:solidFill>
          <a:ln cap="flat" cmpd="sng" w="10150">
            <a:solidFill>
              <a:srgbClr val="177A5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369" name="Google Shape;1369;p17"/>
          <p:cNvCxnSpPr/>
          <p:nvPr/>
        </p:nvCxnSpPr>
        <p:spPr>
          <a:xfrm>
            <a:off x="1189064" y="3242355"/>
            <a:ext cx="169200" cy="0"/>
          </a:xfrm>
          <a:prstGeom prst="straightConnector1">
            <a:avLst/>
          </a:prstGeom>
          <a:noFill/>
          <a:ln cap="flat" cmpd="sng" w="9525">
            <a:solidFill>
              <a:srgbClr val="8E989E"/>
            </a:solidFill>
            <a:prstDash val="solid"/>
            <a:miter lim="80"/>
            <a:headEnd len="sm" w="sm" type="none"/>
            <a:tailEnd len="sm" w="sm" type="none"/>
          </a:ln>
        </p:spPr>
      </p:cxnSp>
      <p:cxnSp>
        <p:nvCxnSpPr>
          <p:cNvPr id="1370" name="Google Shape;1370;p17"/>
          <p:cNvCxnSpPr/>
          <p:nvPr/>
        </p:nvCxnSpPr>
        <p:spPr>
          <a:xfrm>
            <a:off x="1189064" y="3324651"/>
            <a:ext cx="169200" cy="0"/>
          </a:xfrm>
          <a:prstGeom prst="straightConnector1">
            <a:avLst/>
          </a:prstGeom>
          <a:noFill/>
          <a:ln cap="flat" cmpd="sng" w="9525">
            <a:solidFill>
              <a:srgbClr val="8E989E"/>
            </a:solidFill>
            <a:prstDash val="solid"/>
            <a:miter lim="80"/>
            <a:headEnd len="sm" w="sm" type="none"/>
            <a:tailEnd len="sm" w="sm" type="none"/>
          </a:ln>
        </p:spPr>
      </p:cxnSp>
      <p:sp>
        <p:nvSpPr>
          <p:cNvPr id="1371" name="Google Shape;1371;p17"/>
          <p:cNvSpPr txBox="1"/>
          <p:nvPr/>
        </p:nvSpPr>
        <p:spPr>
          <a:xfrm>
            <a:off x="416396" y="3617258"/>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1F2328"/>
                </a:solidFill>
                <a:latin typeface="Calibri"/>
                <a:ea typeface="Calibri"/>
                <a:cs typeface="Calibri"/>
                <a:sym typeface="Calibri"/>
              </a:rPr>
              <a:t>Schema S</a:t>
            </a:r>
            <a:endParaRPr b="0" i="0" sz="1400" u="none" cap="none" strike="noStrike">
              <a:solidFill>
                <a:srgbClr val="000000"/>
              </a:solidFill>
              <a:latin typeface="Arial"/>
              <a:ea typeface="Arial"/>
              <a:cs typeface="Arial"/>
              <a:sym typeface="Arial"/>
            </a:endParaRPr>
          </a:p>
        </p:txBody>
      </p:sp>
      <p:sp>
        <p:nvSpPr>
          <p:cNvPr id="1372" name="Google Shape;1372;p17"/>
          <p:cNvSpPr txBox="1"/>
          <p:nvPr/>
        </p:nvSpPr>
        <p:spPr>
          <a:xfrm>
            <a:off x="1275932" y="2748579"/>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(a)</a:t>
            </a:r>
            <a:endParaRPr b="0" i="0" sz="1400" u="none" cap="none" strike="noStrike">
              <a:solidFill>
                <a:srgbClr val="000000"/>
              </a:solidFill>
              <a:latin typeface="Arial"/>
              <a:ea typeface="Arial"/>
              <a:cs typeface="Arial"/>
              <a:sym typeface="Arial"/>
            </a:endParaRPr>
          </a:p>
        </p:txBody>
      </p:sp>
      <p:sp>
        <p:nvSpPr>
          <p:cNvPr id="1373" name="Google Shape;1373;p17"/>
          <p:cNvSpPr/>
          <p:nvPr/>
        </p:nvSpPr>
        <p:spPr>
          <a:xfrm>
            <a:off x="4043884" y="1825035"/>
            <a:ext cx="2103000" cy="7590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4" name="Google Shape;1374;p17"/>
          <p:cNvSpPr txBox="1"/>
          <p:nvPr/>
        </p:nvSpPr>
        <p:spPr>
          <a:xfrm>
            <a:off x="4117036" y="1590575"/>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(b)</a:t>
            </a:r>
            <a:endParaRPr b="0" i="0" sz="1400" u="none" cap="none" strike="noStrike">
              <a:solidFill>
                <a:srgbClr val="000000"/>
              </a:solidFill>
              <a:latin typeface="Arial"/>
              <a:ea typeface="Arial"/>
              <a:cs typeface="Arial"/>
              <a:sym typeface="Arial"/>
            </a:endParaRPr>
          </a:p>
        </p:txBody>
      </p:sp>
      <p:sp>
        <p:nvSpPr>
          <p:cNvPr id="1375" name="Google Shape;1375;p17"/>
          <p:cNvSpPr txBox="1"/>
          <p:nvPr/>
        </p:nvSpPr>
        <p:spPr>
          <a:xfrm>
            <a:off x="4126180" y="1943907"/>
            <a:ext cx="19386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376" name="Google Shape;1376;p17"/>
          <p:cNvSpPr txBox="1"/>
          <p:nvPr/>
        </p:nvSpPr>
        <p:spPr>
          <a:xfrm>
            <a:off x="4135323" y="2218227"/>
            <a:ext cx="19203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OWL seed DMᵣ</a:t>
            </a:r>
            <a:endParaRPr b="0" i="0" sz="1400" u="none" cap="none" strike="noStrike">
              <a:solidFill>
                <a:srgbClr val="000000"/>
              </a:solidFill>
              <a:latin typeface="Arial"/>
              <a:ea typeface="Arial"/>
              <a:cs typeface="Arial"/>
              <a:sym typeface="Arial"/>
            </a:endParaRPr>
          </a:p>
        </p:txBody>
      </p:sp>
      <p:sp>
        <p:nvSpPr>
          <p:cNvPr id="1377" name="Google Shape;1377;p17"/>
          <p:cNvSpPr/>
          <p:nvPr/>
        </p:nvSpPr>
        <p:spPr>
          <a:xfrm>
            <a:off x="3897579" y="2739445"/>
            <a:ext cx="3218700" cy="2508300"/>
          </a:xfrm>
          <a:prstGeom prst="roundRect">
            <a:avLst>
              <a:gd fmla="val 8766" name="adj"/>
            </a:avLst>
          </a:prstGeom>
          <a:solidFill>
            <a:srgbClr val="FFFFFF"/>
          </a:solidFill>
          <a:ln cap="flat" cmpd="sng" w="15225">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78" name="Google Shape;1378;p17"/>
          <p:cNvSpPr txBox="1"/>
          <p:nvPr/>
        </p:nvSpPr>
        <p:spPr>
          <a:xfrm>
            <a:off x="4025596" y="2776011"/>
            <a:ext cx="29901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RETRIEVAL  •  top-k per source</a:t>
            </a:r>
            <a:endParaRPr b="0" i="0" sz="1400" u="none" cap="none" strike="noStrike">
              <a:solidFill>
                <a:srgbClr val="000000"/>
              </a:solidFill>
              <a:latin typeface="Arial"/>
              <a:ea typeface="Arial"/>
              <a:cs typeface="Arial"/>
              <a:sym typeface="Arial"/>
            </a:endParaRPr>
          </a:p>
        </p:txBody>
      </p:sp>
      <p:sp>
        <p:nvSpPr>
          <p:cNvPr id="1379" name="Google Shape;1379;p17"/>
          <p:cNvSpPr/>
          <p:nvPr/>
        </p:nvSpPr>
        <p:spPr>
          <a:xfrm>
            <a:off x="4043884" y="3059475"/>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0" name="Google Shape;1380;p17"/>
          <p:cNvSpPr txBox="1"/>
          <p:nvPr/>
        </p:nvSpPr>
        <p:spPr>
          <a:xfrm>
            <a:off x="4144468" y="3115627"/>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(c)</a:t>
            </a:r>
            <a:endParaRPr b="0" i="0" sz="1400" u="none" cap="none" strike="noStrike">
              <a:solidFill>
                <a:srgbClr val="000000"/>
              </a:solidFill>
              <a:latin typeface="Arial"/>
              <a:ea typeface="Arial"/>
              <a:cs typeface="Arial"/>
              <a:sym typeface="Arial"/>
            </a:endParaRPr>
          </a:p>
        </p:txBody>
      </p:sp>
      <p:sp>
        <p:nvSpPr>
          <p:cNvPr id="1381" name="Google Shape;1381;p17"/>
          <p:cNvSpPr txBox="1"/>
          <p:nvPr/>
        </p:nvSpPr>
        <p:spPr>
          <a:xfrm>
            <a:off x="4491940" y="3109413"/>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External ontologies</a:t>
            </a:r>
            <a:endParaRPr b="0" i="0" sz="1400" u="none" cap="none" strike="noStrike">
              <a:solidFill>
                <a:srgbClr val="000000"/>
              </a:solidFill>
              <a:latin typeface="Arial"/>
              <a:ea typeface="Arial"/>
              <a:cs typeface="Arial"/>
              <a:sym typeface="Arial"/>
            </a:endParaRPr>
          </a:p>
        </p:txBody>
      </p:sp>
      <p:sp>
        <p:nvSpPr>
          <p:cNvPr id="1382" name="Google Shape;1382;p17"/>
          <p:cNvSpPr txBox="1"/>
          <p:nvPr/>
        </p:nvSpPr>
        <p:spPr>
          <a:xfrm>
            <a:off x="4491940" y="3379515"/>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Domain alignments</a:t>
            </a:r>
            <a:endParaRPr b="0" i="0" sz="1400" u="none" cap="none" strike="noStrike">
              <a:solidFill>
                <a:srgbClr val="000000"/>
              </a:solidFill>
              <a:latin typeface="Arial"/>
              <a:ea typeface="Arial"/>
              <a:cs typeface="Arial"/>
              <a:sym typeface="Arial"/>
            </a:endParaRPr>
          </a:p>
        </p:txBody>
      </p:sp>
      <p:sp>
        <p:nvSpPr>
          <p:cNvPr id="1383" name="Google Shape;1383;p17"/>
          <p:cNvSpPr/>
          <p:nvPr/>
        </p:nvSpPr>
        <p:spPr>
          <a:xfrm>
            <a:off x="4043884" y="3763563"/>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4" name="Google Shape;1384;p17"/>
          <p:cNvSpPr txBox="1"/>
          <p:nvPr/>
        </p:nvSpPr>
        <p:spPr>
          <a:xfrm>
            <a:off x="4144468" y="3819715"/>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(d)</a:t>
            </a:r>
            <a:endParaRPr b="0" i="0" sz="1400" u="none" cap="none" strike="noStrike">
              <a:solidFill>
                <a:srgbClr val="000000"/>
              </a:solidFill>
              <a:latin typeface="Arial"/>
              <a:ea typeface="Arial"/>
              <a:cs typeface="Arial"/>
              <a:sym typeface="Arial"/>
            </a:endParaRPr>
          </a:p>
        </p:txBody>
      </p:sp>
      <p:sp>
        <p:nvSpPr>
          <p:cNvPr id="1385" name="Google Shape;1385;p17"/>
          <p:cNvSpPr txBox="1"/>
          <p:nvPr/>
        </p:nvSpPr>
        <p:spPr>
          <a:xfrm>
            <a:off x="4491940" y="3813501"/>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Documentation</a:t>
            </a:r>
            <a:endParaRPr b="0" i="0" sz="1400" u="none" cap="none" strike="noStrike">
              <a:solidFill>
                <a:srgbClr val="000000"/>
              </a:solidFill>
              <a:latin typeface="Arial"/>
              <a:ea typeface="Arial"/>
              <a:cs typeface="Arial"/>
              <a:sym typeface="Arial"/>
            </a:endParaRPr>
          </a:p>
        </p:txBody>
      </p:sp>
      <p:sp>
        <p:nvSpPr>
          <p:cNvPr id="1386" name="Google Shape;1386;p17"/>
          <p:cNvSpPr txBox="1"/>
          <p:nvPr/>
        </p:nvSpPr>
        <p:spPr>
          <a:xfrm>
            <a:off x="4491940" y="4083603"/>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Cryptic fields and codes</a:t>
            </a:r>
            <a:endParaRPr b="0" i="0" sz="1400" u="none" cap="none" strike="noStrike">
              <a:solidFill>
                <a:srgbClr val="000000"/>
              </a:solidFill>
              <a:latin typeface="Arial"/>
              <a:ea typeface="Arial"/>
              <a:cs typeface="Arial"/>
              <a:sym typeface="Arial"/>
            </a:endParaRPr>
          </a:p>
        </p:txBody>
      </p:sp>
      <p:sp>
        <p:nvSpPr>
          <p:cNvPr id="1387" name="Google Shape;1387;p17"/>
          <p:cNvSpPr/>
          <p:nvPr/>
        </p:nvSpPr>
        <p:spPr>
          <a:xfrm>
            <a:off x="4043884" y="4467651"/>
            <a:ext cx="2980800" cy="603600"/>
          </a:xfrm>
          <a:prstGeom prst="roundRect">
            <a:avLst>
              <a:gd fmla="val 16667" name="adj"/>
            </a:avLst>
          </a:prstGeom>
          <a:solidFill>
            <a:srgbClr val="F3F5F4"/>
          </a:solidFill>
          <a:ln cap="flat" cmpd="sng" w="15225">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88" name="Google Shape;1388;p17"/>
          <p:cNvSpPr txBox="1"/>
          <p:nvPr/>
        </p:nvSpPr>
        <p:spPr>
          <a:xfrm>
            <a:off x="4144468" y="4523803"/>
            <a:ext cx="3657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(e)</a:t>
            </a:r>
            <a:endParaRPr b="0" i="0" sz="1400" u="none" cap="none" strike="noStrike">
              <a:solidFill>
                <a:srgbClr val="000000"/>
              </a:solidFill>
              <a:latin typeface="Arial"/>
              <a:ea typeface="Arial"/>
              <a:cs typeface="Arial"/>
              <a:sym typeface="Arial"/>
            </a:endParaRPr>
          </a:p>
        </p:txBody>
      </p:sp>
      <p:sp>
        <p:nvSpPr>
          <p:cNvPr id="1389" name="Google Shape;1389;p17"/>
          <p:cNvSpPr txBox="1"/>
          <p:nvPr/>
        </p:nvSpPr>
        <p:spPr>
          <a:xfrm>
            <a:off x="4491940" y="4517589"/>
            <a:ext cx="2404800" cy="231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1F2328"/>
                </a:solidFill>
                <a:latin typeface="Calibri"/>
                <a:ea typeface="Calibri"/>
                <a:cs typeface="Calibri"/>
                <a:sym typeface="Calibri"/>
              </a:rPr>
              <a:t>Growing core ontology</a:t>
            </a:r>
            <a:endParaRPr b="0" i="0" sz="1400" u="none" cap="none" strike="noStrike">
              <a:solidFill>
                <a:srgbClr val="000000"/>
              </a:solidFill>
              <a:latin typeface="Arial"/>
              <a:ea typeface="Arial"/>
              <a:cs typeface="Arial"/>
              <a:sym typeface="Arial"/>
            </a:endParaRPr>
          </a:p>
        </p:txBody>
      </p:sp>
      <p:sp>
        <p:nvSpPr>
          <p:cNvPr id="1390" name="Google Shape;1390;p17"/>
          <p:cNvSpPr txBox="1"/>
          <p:nvPr/>
        </p:nvSpPr>
        <p:spPr>
          <a:xfrm>
            <a:off x="4491940" y="4787691"/>
            <a:ext cx="24048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Reuse validated IRIs</a:t>
            </a:r>
            <a:endParaRPr b="0" i="0" sz="1400" u="none" cap="none" strike="noStrike">
              <a:solidFill>
                <a:srgbClr val="000000"/>
              </a:solidFill>
              <a:latin typeface="Arial"/>
              <a:ea typeface="Arial"/>
              <a:cs typeface="Arial"/>
              <a:sym typeface="Arial"/>
            </a:endParaRPr>
          </a:p>
        </p:txBody>
      </p:sp>
      <p:sp>
        <p:nvSpPr>
          <p:cNvPr id="1391" name="Google Shape;1391;p17"/>
          <p:cNvSpPr/>
          <p:nvPr/>
        </p:nvSpPr>
        <p:spPr>
          <a:xfrm>
            <a:off x="7596625" y="3402475"/>
            <a:ext cx="1335000" cy="13215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2" name="Google Shape;1392;p17"/>
          <p:cNvSpPr txBox="1"/>
          <p:nvPr/>
        </p:nvSpPr>
        <p:spPr>
          <a:xfrm>
            <a:off x="7669765" y="3192158"/>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(f)</a:t>
            </a:r>
            <a:endParaRPr b="0" i="0" sz="1400" u="none" cap="none" strike="noStrike">
              <a:solidFill>
                <a:srgbClr val="000000"/>
              </a:solidFill>
              <a:latin typeface="Arial"/>
              <a:ea typeface="Arial"/>
              <a:cs typeface="Arial"/>
              <a:sym typeface="Arial"/>
            </a:endParaRPr>
          </a:p>
        </p:txBody>
      </p:sp>
      <p:sp>
        <p:nvSpPr>
          <p:cNvPr id="1393" name="Google Shape;1393;p17"/>
          <p:cNvSpPr txBox="1"/>
          <p:nvPr/>
        </p:nvSpPr>
        <p:spPr>
          <a:xfrm>
            <a:off x="7678909" y="3521341"/>
            <a:ext cx="117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Gen-LLM</a:t>
            </a:r>
            <a:endParaRPr b="0" i="0" sz="1400" u="none" cap="none" strike="noStrike">
              <a:solidFill>
                <a:srgbClr val="000000"/>
              </a:solidFill>
              <a:latin typeface="Arial"/>
              <a:ea typeface="Arial"/>
              <a:cs typeface="Arial"/>
              <a:sym typeface="Arial"/>
            </a:endParaRPr>
          </a:p>
        </p:txBody>
      </p:sp>
      <p:sp>
        <p:nvSpPr>
          <p:cNvPr id="1394" name="Google Shape;1394;p17"/>
          <p:cNvSpPr txBox="1"/>
          <p:nvPr/>
        </p:nvSpPr>
        <p:spPr>
          <a:xfrm>
            <a:off x="7688053" y="3795661"/>
            <a:ext cx="115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creates ΔOᵣ</a:t>
            </a:r>
            <a:endParaRPr b="0" i="0" sz="1400" u="none" cap="none" strike="noStrike">
              <a:solidFill>
                <a:srgbClr val="000000"/>
              </a:solidFill>
              <a:latin typeface="Arial"/>
              <a:ea typeface="Arial"/>
              <a:cs typeface="Arial"/>
              <a:sym typeface="Arial"/>
            </a:endParaRPr>
          </a:p>
        </p:txBody>
      </p:sp>
      <p:sp>
        <p:nvSpPr>
          <p:cNvPr id="1395" name="Google Shape;1395;p17"/>
          <p:cNvSpPr txBox="1"/>
          <p:nvPr/>
        </p:nvSpPr>
        <p:spPr>
          <a:xfrm>
            <a:off x="9032221" y="3384182"/>
            <a:ext cx="7131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(g) ΔOᵣ</a:t>
            </a:r>
            <a:endParaRPr b="0" i="0" sz="1400" u="none" cap="none" strike="noStrike">
              <a:solidFill>
                <a:srgbClr val="000000"/>
              </a:solidFill>
              <a:latin typeface="Arial"/>
              <a:ea typeface="Arial"/>
              <a:cs typeface="Arial"/>
              <a:sym typeface="Arial"/>
            </a:endParaRPr>
          </a:p>
        </p:txBody>
      </p:sp>
      <p:sp>
        <p:nvSpPr>
          <p:cNvPr id="1396" name="Google Shape;1396;p17"/>
          <p:cNvSpPr/>
          <p:nvPr/>
        </p:nvSpPr>
        <p:spPr>
          <a:xfrm>
            <a:off x="9859849" y="3237878"/>
            <a:ext cx="2121300" cy="11157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97" name="Google Shape;1397;p17"/>
          <p:cNvSpPr txBox="1"/>
          <p:nvPr/>
        </p:nvSpPr>
        <p:spPr>
          <a:xfrm>
            <a:off x="9933001" y="3027566"/>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A434C"/>
                </a:solidFill>
                <a:latin typeface="Calibri"/>
                <a:ea typeface="Calibri"/>
                <a:cs typeface="Calibri"/>
                <a:sym typeface="Calibri"/>
              </a:rPr>
              <a:t>(h)</a:t>
            </a:r>
            <a:endParaRPr b="0" i="0" sz="1400" u="none" cap="none" strike="noStrike">
              <a:solidFill>
                <a:srgbClr val="000000"/>
              </a:solidFill>
              <a:latin typeface="Arial"/>
              <a:ea typeface="Arial"/>
              <a:cs typeface="Arial"/>
              <a:sym typeface="Arial"/>
            </a:endParaRPr>
          </a:p>
        </p:txBody>
      </p:sp>
      <p:sp>
        <p:nvSpPr>
          <p:cNvPr id="1398" name="Google Shape;1398;p17"/>
          <p:cNvSpPr txBox="1"/>
          <p:nvPr/>
        </p:nvSpPr>
        <p:spPr>
          <a:xfrm>
            <a:off x="9942145" y="3272233"/>
            <a:ext cx="19569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Validate + refine</a:t>
            </a:r>
            <a:endParaRPr b="0" i="0" sz="1400" u="none" cap="none" strike="noStrike">
              <a:solidFill>
                <a:srgbClr val="000000"/>
              </a:solidFill>
              <a:latin typeface="Arial"/>
              <a:ea typeface="Arial"/>
              <a:cs typeface="Arial"/>
              <a:sym typeface="Arial"/>
            </a:endParaRPr>
          </a:p>
        </p:txBody>
      </p:sp>
      <p:sp>
        <p:nvSpPr>
          <p:cNvPr id="1399" name="Google Shape;1399;p17"/>
          <p:cNvSpPr txBox="1"/>
          <p:nvPr/>
        </p:nvSpPr>
        <p:spPr>
          <a:xfrm>
            <a:off x="9951289" y="3546553"/>
            <a:ext cx="19386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Judge-LLM + rules</a:t>
            </a:r>
            <a:endParaRPr b="0" i="0" sz="1400" u="none" cap="none" strike="noStrike">
              <a:solidFill>
                <a:srgbClr val="000000"/>
              </a:solidFill>
              <a:latin typeface="Arial"/>
              <a:ea typeface="Arial"/>
              <a:cs typeface="Arial"/>
              <a:sym typeface="Arial"/>
            </a:endParaRPr>
          </a:p>
        </p:txBody>
      </p:sp>
      <p:sp>
        <p:nvSpPr>
          <p:cNvPr id="1400" name="Google Shape;1400;p17"/>
          <p:cNvSpPr/>
          <p:nvPr/>
        </p:nvSpPr>
        <p:spPr>
          <a:xfrm>
            <a:off x="9896425" y="4854652"/>
            <a:ext cx="2084700" cy="786300"/>
          </a:xfrm>
          <a:prstGeom prst="roundRect">
            <a:avLst>
              <a:gd fmla="val 16667" name="adj"/>
            </a:avLst>
          </a:prstGeom>
          <a:solidFill>
            <a:srgbClr val="DDE5E1"/>
          </a:solidFill>
          <a:ln cap="flat" cmpd="sng" w="29200">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1" name="Google Shape;1401;p17"/>
          <p:cNvSpPr txBox="1"/>
          <p:nvPr/>
        </p:nvSpPr>
        <p:spPr>
          <a:xfrm>
            <a:off x="9969577" y="4609123"/>
            <a:ext cx="3840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B6E4F"/>
                </a:solidFill>
                <a:latin typeface="Calibri"/>
                <a:ea typeface="Calibri"/>
                <a:cs typeface="Calibri"/>
                <a:sym typeface="Calibri"/>
              </a:rPr>
              <a:t>(i)</a:t>
            </a:r>
            <a:endParaRPr b="0" i="0" sz="1400" u="none" cap="none" strike="noStrike">
              <a:solidFill>
                <a:srgbClr val="000000"/>
              </a:solidFill>
              <a:latin typeface="Arial"/>
              <a:ea typeface="Arial"/>
              <a:cs typeface="Arial"/>
              <a:sym typeface="Arial"/>
            </a:endParaRPr>
          </a:p>
        </p:txBody>
      </p:sp>
      <p:sp>
        <p:nvSpPr>
          <p:cNvPr id="1402" name="Google Shape;1402;p17"/>
          <p:cNvSpPr txBox="1"/>
          <p:nvPr/>
        </p:nvSpPr>
        <p:spPr>
          <a:xfrm>
            <a:off x="9978721" y="4973523"/>
            <a:ext cx="19203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Integrate ΔOᵣ</a:t>
            </a:r>
            <a:endParaRPr b="0" i="0" sz="1400" u="none" cap="none" strike="noStrike">
              <a:solidFill>
                <a:srgbClr val="000000"/>
              </a:solidFill>
              <a:latin typeface="Arial"/>
              <a:ea typeface="Arial"/>
              <a:cs typeface="Arial"/>
              <a:sym typeface="Arial"/>
            </a:endParaRPr>
          </a:p>
        </p:txBody>
      </p:sp>
      <p:sp>
        <p:nvSpPr>
          <p:cNvPr id="1403" name="Google Shape;1403;p17"/>
          <p:cNvSpPr txBox="1"/>
          <p:nvPr/>
        </p:nvSpPr>
        <p:spPr>
          <a:xfrm>
            <a:off x="9987865" y="5247843"/>
            <a:ext cx="19020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Core Oₜ</a:t>
            </a:r>
            <a:endParaRPr b="0" i="0" sz="1400" u="none" cap="none" strike="noStrike">
              <a:solidFill>
                <a:srgbClr val="000000"/>
              </a:solidFill>
              <a:latin typeface="Arial"/>
              <a:ea typeface="Arial"/>
              <a:cs typeface="Arial"/>
              <a:sym typeface="Arial"/>
            </a:endParaRPr>
          </a:p>
        </p:txBody>
      </p:sp>
      <p:sp>
        <p:nvSpPr>
          <p:cNvPr id="1404" name="Google Shape;1404;p17"/>
          <p:cNvSpPr txBox="1"/>
          <p:nvPr/>
        </p:nvSpPr>
        <p:spPr>
          <a:xfrm>
            <a:off x="9194034" y="5750441"/>
            <a:ext cx="1737300" cy="192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250"/>
              <a:buFont typeface="Arial"/>
              <a:buNone/>
            </a:pPr>
            <a:r>
              <a:rPr b="1" i="0" lang="en-US" sz="1250" u="none" cap="none" strike="noStrike">
                <a:solidFill>
                  <a:srgbClr val="177A55"/>
                </a:solidFill>
                <a:latin typeface="Calibri"/>
                <a:ea typeface="Calibri"/>
                <a:cs typeface="Calibri"/>
                <a:sym typeface="Calibri"/>
              </a:rPr>
              <a:t>Oₜ </a:t>
            </a:r>
            <a:endParaRPr b="0" i="0" sz="1400" u="none" cap="none" strike="noStrike">
              <a:solidFill>
                <a:srgbClr val="000000"/>
              </a:solidFill>
              <a:latin typeface="Arial"/>
              <a:ea typeface="Arial"/>
              <a:cs typeface="Arial"/>
              <a:sym typeface="Arial"/>
            </a:endParaRPr>
          </a:p>
        </p:txBody>
      </p:sp>
      <p:sp>
        <p:nvSpPr>
          <p:cNvPr id="1405" name="Google Shape;1405;p17"/>
          <p:cNvSpPr/>
          <p:nvPr/>
        </p:nvSpPr>
        <p:spPr>
          <a:xfrm>
            <a:off x="5429812" y="5214785"/>
            <a:ext cx="164700" cy="146400"/>
          </a:xfrm>
          <a:prstGeom prst="triangle">
            <a:avLst>
              <a:gd fmla="val 50000" name="adj"/>
            </a:avLst>
          </a:prstGeom>
          <a:solidFill>
            <a:srgbClr val="177A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cxnSp>
        <p:nvCxnSpPr>
          <p:cNvPr id="1406" name="Google Shape;1406;p17"/>
          <p:cNvCxnSpPr/>
          <p:nvPr/>
        </p:nvCxnSpPr>
        <p:spPr>
          <a:xfrm>
            <a:off x="3280056" y="3446462"/>
            <a:ext cx="100500" cy="0"/>
          </a:xfrm>
          <a:prstGeom prst="straightConnector1">
            <a:avLst/>
          </a:prstGeom>
          <a:noFill/>
          <a:ln cap="flat" cmpd="sng" w="29200">
            <a:solidFill>
              <a:srgbClr val="3A7D8C"/>
            </a:solidFill>
            <a:prstDash val="solid"/>
            <a:miter lim="80"/>
            <a:headEnd len="sm" w="sm" type="none"/>
            <a:tailEnd len="sm" w="sm" type="none"/>
          </a:ln>
        </p:spPr>
      </p:cxnSp>
      <p:sp>
        <p:nvSpPr>
          <p:cNvPr id="1407" name="Google Shape;1407;p17"/>
          <p:cNvSpPr/>
          <p:nvPr/>
        </p:nvSpPr>
        <p:spPr>
          <a:xfrm>
            <a:off x="1838868" y="3160059"/>
            <a:ext cx="1444800" cy="694800"/>
          </a:xfrm>
          <a:prstGeom prst="roundRect">
            <a:avLst>
              <a:gd fmla="val 16667" name="adj"/>
            </a:avLst>
          </a:prstGeom>
          <a:solidFill>
            <a:srgbClr val="F3F5F4"/>
          </a:solidFill>
          <a:ln cap="flat" cmpd="sng" w="16500">
            <a:solidFill>
              <a:srgbClr val="3A7D8C"/>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08" name="Google Shape;1408;p17"/>
          <p:cNvSpPr txBox="1"/>
          <p:nvPr/>
        </p:nvSpPr>
        <p:spPr>
          <a:xfrm>
            <a:off x="1921164" y="3278931"/>
            <a:ext cx="1280100" cy="2385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550"/>
              <a:buFont typeface="Arial"/>
              <a:buNone/>
            </a:pPr>
            <a:r>
              <a:rPr b="1" i="0" lang="en-US" sz="1550" u="none" cap="none" strike="noStrike">
                <a:solidFill>
                  <a:srgbClr val="1F2328"/>
                </a:solidFill>
                <a:latin typeface="Calibri"/>
                <a:ea typeface="Calibri"/>
                <a:cs typeface="Calibri"/>
                <a:sym typeface="Calibri"/>
              </a:rPr>
              <a:t>Iterate</a:t>
            </a:r>
            <a:endParaRPr b="0" i="0" sz="1400" u="none" cap="none" strike="noStrike">
              <a:solidFill>
                <a:srgbClr val="000000"/>
              </a:solidFill>
              <a:latin typeface="Arial"/>
              <a:ea typeface="Arial"/>
              <a:cs typeface="Arial"/>
              <a:sym typeface="Arial"/>
            </a:endParaRPr>
          </a:p>
        </p:txBody>
      </p:sp>
      <p:sp>
        <p:nvSpPr>
          <p:cNvPr id="1409" name="Google Shape;1409;p17"/>
          <p:cNvSpPr txBox="1"/>
          <p:nvPr/>
        </p:nvSpPr>
        <p:spPr>
          <a:xfrm>
            <a:off x="1930308" y="3553251"/>
            <a:ext cx="1261800" cy="215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3A434C"/>
                </a:solidFill>
                <a:latin typeface="Calibri"/>
                <a:ea typeface="Calibri"/>
                <a:cs typeface="Calibri"/>
                <a:sym typeface="Calibri"/>
              </a:rPr>
              <a:t>FK-BFS</a:t>
            </a:r>
            <a:endParaRPr b="0" i="0" sz="1400" u="none" cap="none" strike="noStrike">
              <a:solidFill>
                <a:srgbClr val="000000"/>
              </a:solidFill>
              <a:latin typeface="Arial"/>
              <a:ea typeface="Arial"/>
              <a:cs typeface="Arial"/>
              <a:sym typeface="Arial"/>
            </a:endParaRPr>
          </a:p>
        </p:txBody>
      </p:sp>
      <p:cxnSp>
        <p:nvCxnSpPr>
          <p:cNvPr id="1410" name="Google Shape;1410;p17"/>
          <p:cNvCxnSpPr/>
          <p:nvPr/>
        </p:nvCxnSpPr>
        <p:spPr>
          <a:xfrm>
            <a:off x="3276349" y="3608115"/>
            <a:ext cx="118800" cy="0"/>
          </a:xfrm>
          <a:prstGeom prst="straightConnector1">
            <a:avLst/>
          </a:prstGeom>
          <a:noFill/>
          <a:ln cap="flat" cmpd="sng" w="26650">
            <a:solidFill>
              <a:srgbClr val="3A7D8C"/>
            </a:solidFill>
            <a:prstDash val="solid"/>
            <a:miter lim="80"/>
            <a:headEnd len="sm" w="sm" type="none"/>
            <a:tailEnd len="sm" w="sm" type="none"/>
          </a:ln>
        </p:spPr>
      </p:cxnSp>
      <p:cxnSp>
        <p:nvCxnSpPr>
          <p:cNvPr id="1411" name="Google Shape;1411;p17"/>
          <p:cNvCxnSpPr/>
          <p:nvPr/>
        </p:nvCxnSpPr>
        <p:spPr>
          <a:xfrm>
            <a:off x="3657665" y="2199459"/>
            <a:ext cx="265200" cy="0"/>
          </a:xfrm>
          <a:prstGeom prst="straightConnector1">
            <a:avLst/>
          </a:prstGeom>
          <a:noFill/>
          <a:ln cap="flat" cmpd="sng" w="29200">
            <a:solidFill>
              <a:srgbClr val="3A7D8C"/>
            </a:solidFill>
            <a:prstDash val="solid"/>
            <a:miter lim="80"/>
            <a:headEnd len="sm" w="sm" type="none"/>
            <a:tailEnd len="sm" w="sm" type="none"/>
          </a:ln>
        </p:spPr>
      </p:cxnSp>
      <p:cxnSp>
        <p:nvCxnSpPr>
          <p:cNvPr id="1412" name="Google Shape;1412;p17"/>
          <p:cNvCxnSpPr/>
          <p:nvPr/>
        </p:nvCxnSpPr>
        <p:spPr>
          <a:xfrm>
            <a:off x="6144772" y="2181631"/>
            <a:ext cx="1874400" cy="0"/>
          </a:xfrm>
          <a:prstGeom prst="straightConnector1">
            <a:avLst/>
          </a:prstGeom>
          <a:noFill/>
          <a:ln cap="flat" cmpd="sng" w="29200">
            <a:solidFill>
              <a:srgbClr val="3A7D8C"/>
            </a:solidFill>
            <a:prstDash val="solid"/>
            <a:miter lim="80"/>
            <a:headEnd len="sm" w="sm" type="none"/>
            <a:tailEnd len="sm" w="sm" type="none"/>
          </a:ln>
        </p:spPr>
      </p:cxnSp>
      <p:cxnSp>
        <p:nvCxnSpPr>
          <p:cNvPr id="1413" name="Google Shape;1413;p17"/>
          <p:cNvCxnSpPr/>
          <p:nvPr/>
        </p:nvCxnSpPr>
        <p:spPr>
          <a:xfrm rot="10800000">
            <a:off x="7017019" y="5982679"/>
            <a:ext cx="1956900" cy="0"/>
          </a:xfrm>
          <a:prstGeom prst="straightConnector1">
            <a:avLst/>
          </a:prstGeom>
          <a:noFill/>
          <a:ln cap="flat" cmpd="sng" w="31750">
            <a:solidFill>
              <a:srgbClr val="177A55"/>
            </a:solidFill>
            <a:prstDash val="solid"/>
            <a:miter lim="80"/>
            <a:headEnd len="sm" w="sm" type="none"/>
            <a:tailEnd len="sm" w="sm" type="none"/>
          </a:ln>
        </p:spPr>
      </p:cxnSp>
      <p:cxnSp>
        <p:nvCxnSpPr>
          <p:cNvPr id="1414" name="Google Shape;1414;p17"/>
          <p:cNvCxnSpPr/>
          <p:nvPr/>
        </p:nvCxnSpPr>
        <p:spPr>
          <a:xfrm rot="10800000">
            <a:off x="5504959" y="5982679"/>
            <a:ext cx="1956900" cy="0"/>
          </a:xfrm>
          <a:prstGeom prst="straightConnector1">
            <a:avLst/>
          </a:prstGeom>
          <a:noFill/>
          <a:ln cap="flat" cmpd="sng" w="31750">
            <a:solidFill>
              <a:srgbClr val="177A55"/>
            </a:solidFill>
            <a:prstDash val="solid"/>
            <a:miter lim="80"/>
            <a:headEnd len="sm" w="sm" type="none"/>
            <a:tailEnd len="sm" w="sm" type="none"/>
          </a:ln>
        </p:spPr>
      </p:cxnSp>
      <p:pic>
        <p:nvPicPr>
          <p:cNvPr id="1415" name="Google Shape;1415;p17" title="graph_checks_icon.png"/>
          <p:cNvPicPr preferRelativeResize="0"/>
          <p:nvPr/>
        </p:nvPicPr>
        <p:blipFill rotWithShape="1">
          <a:blip r:embed="rId3">
            <a:alphaModFix/>
          </a:blip>
          <a:srcRect b="19469" l="4324" r="13635" t="18031"/>
          <a:stretch/>
        </p:blipFill>
        <p:spPr>
          <a:xfrm>
            <a:off x="11109875" y="3858152"/>
            <a:ext cx="528134" cy="402300"/>
          </a:xfrm>
          <a:prstGeom prst="rect">
            <a:avLst/>
          </a:prstGeom>
          <a:noFill/>
          <a:ln>
            <a:noFill/>
          </a:ln>
        </p:spPr>
      </p:pic>
      <p:pic>
        <p:nvPicPr>
          <p:cNvPr id="1416" name="Google Shape;1416;p17" title="judge_llm_icon.png"/>
          <p:cNvPicPr preferRelativeResize="0"/>
          <p:nvPr/>
        </p:nvPicPr>
        <p:blipFill rotWithShape="1">
          <a:blip r:embed="rId4">
            <a:alphaModFix/>
          </a:blip>
          <a:srcRect b="12651" l="17110" r="7384" t="12532"/>
          <a:stretch/>
        </p:blipFill>
        <p:spPr>
          <a:xfrm>
            <a:off x="10278909" y="3774189"/>
            <a:ext cx="528124" cy="523220"/>
          </a:xfrm>
          <a:prstGeom prst="rect">
            <a:avLst/>
          </a:prstGeom>
          <a:noFill/>
          <a:ln>
            <a:noFill/>
          </a:ln>
        </p:spPr>
      </p:pic>
      <p:pic>
        <p:nvPicPr>
          <p:cNvPr id="1417" name="Google Shape;1417;p17" title="Ontology Taxonomy Documentation Icons.png"/>
          <p:cNvPicPr preferRelativeResize="0"/>
          <p:nvPr/>
        </p:nvPicPr>
        <p:blipFill rotWithShape="1">
          <a:blip r:embed="rId5">
            <a:alphaModFix/>
          </a:blip>
          <a:srcRect b="14185" l="36225" r="31825" t="16211"/>
          <a:stretch/>
        </p:blipFill>
        <p:spPr>
          <a:xfrm>
            <a:off x="6431317" y="3822390"/>
            <a:ext cx="594806" cy="475499"/>
          </a:xfrm>
          <a:prstGeom prst="rect">
            <a:avLst/>
          </a:prstGeom>
          <a:noFill/>
          <a:ln>
            <a:noFill/>
          </a:ln>
        </p:spPr>
      </p:pic>
      <p:pic>
        <p:nvPicPr>
          <p:cNvPr id="1418" name="Google Shape;1418;p17" title="Ontology Taxonomy Documentation Icons.png"/>
          <p:cNvPicPr preferRelativeResize="0"/>
          <p:nvPr/>
        </p:nvPicPr>
        <p:blipFill rotWithShape="1">
          <a:blip r:embed="rId5">
            <a:alphaModFix/>
          </a:blip>
          <a:srcRect b="14185" l="2070" r="65981" t="16211"/>
          <a:stretch/>
        </p:blipFill>
        <p:spPr>
          <a:xfrm>
            <a:off x="6385539" y="3137260"/>
            <a:ext cx="594801" cy="432155"/>
          </a:xfrm>
          <a:prstGeom prst="rect">
            <a:avLst/>
          </a:prstGeom>
          <a:noFill/>
          <a:ln>
            <a:noFill/>
          </a:ln>
        </p:spPr>
      </p:pic>
      <p:pic>
        <p:nvPicPr>
          <p:cNvPr id="1419" name="Google Shape;1419;p17" title="Ontology Taxonomy Documentation Icons.png"/>
          <p:cNvPicPr preferRelativeResize="0"/>
          <p:nvPr/>
        </p:nvPicPr>
        <p:blipFill rotWithShape="1">
          <a:blip r:embed="rId5">
            <a:alphaModFix/>
          </a:blip>
          <a:srcRect b="7505" l="70326" r="314" t="10116"/>
          <a:stretch/>
        </p:blipFill>
        <p:spPr>
          <a:xfrm>
            <a:off x="6452911" y="4535008"/>
            <a:ext cx="528123" cy="494162"/>
          </a:xfrm>
          <a:prstGeom prst="rect">
            <a:avLst/>
          </a:prstGeom>
          <a:noFill/>
          <a:ln>
            <a:noFill/>
          </a:ln>
        </p:spPr>
      </p:pic>
      <p:pic>
        <p:nvPicPr>
          <p:cNvPr id="1420" name="Google Shape;1420;p17" title="LLM Neural Brain Icon.png"/>
          <p:cNvPicPr preferRelativeResize="0"/>
          <p:nvPr/>
        </p:nvPicPr>
        <p:blipFill rotWithShape="1">
          <a:blip r:embed="rId6">
            <a:alphaModFix/>
          </a:blip>
          <a:srcRect b="14226" l="16398" r="17214" t="12218"/>
          <a:stretch/>
        </p:blipFill>
        <p:spPr>
          <a:xfrm>
            <a:off x="7941825" y="4070998"/>
            <a:ext cx="644449" cy="603601"/>
          </a:xfrm>
          <a:prstGeom prst="rect">
            <a:avLst/>
          </a:prstGeom>
          <a:noFill/>
          <a:ln>
            <a:noFill/>
          </a:ln>
        </p:spPr>
      </p:pic>
      <p:sp>
        <p:nvSpPr>
          <p:cNvPr id="1421" name="Slide number 1421"/>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12</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5" name="Shape 1425"/>
        <p:cNvGrpSpPr/>
        <p:nvPr/>
      </p:nvGrpSpPr>
      <p:grpSpPr>
        <a:xfrm>
          <a:off x="0" y="0"/>
          <a:ext cx="0" cy="0"/>
          <a:chOff x="0" y="0"/>
          <a:chExt cx="0" cy="0"/>
        </a:xfrm>
      </p:grpSpPr>
      <p:sp>
        <p:nvSpPr>
          <p:cNvPr id="1426" name="Google Shape;1426;h547f90b031e64a91_0_112"/>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27" name="Google Shape;1427;h547f90b031e64a91_0_112"/>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28" name="Google Shape;1428;h547f90b031e64a91_0_112"/>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29" name="Google Shape;1429;h547f90b031e64a91_0_112"/>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0" name="Google Shape;1430;h547f90b031e64a91_0_112"/>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1" name="Google Shape;1431;h547f90b031e64a91_0_112"/>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32" name="Google Shape;1432;h547f90b031e64a91_0_112"/>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33" name="Google Shape;1433;h547f90b031e64a91_0_112"/>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34" name="Google Shape;1434;h547f90b031e64a91_0_112"/>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5" name="Google Shape;1435;h547f90b031e64a91_0_112"/>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6" name="Google Shape;1436;h547f90b031e64a91_0_112"/>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37" name="Google Shape;1437;h547f90b031e64a91_0_112"/>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38" name="Google Shape;1438;h547f90b031e64a91_0_112"/>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39" name="Google Shape;1439;h547f90b031e64a91_0_112"/>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440" name="Google Shape;1440;h547f90b031e64a91_0_112"/>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441" name="Google Shape;1441;h547f90b031e64a91_0_112"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442" name="Google Shape;1442;h547f90b031e64a91_0_112" title="ChatGPT Image Oct 28, 2026, 02_32_59 PM-1.png"/>
          <p:cNvPicPr preferRelativeResize="0"/>
          <p:nvPr/>
        </p:nvPicPr>
        <p:blipFill>
          <a:blip r:embed="rId4">
            <a:alphaModFix/>
          </a:blip>
          <a:stretch>
            <a:fillRect/>
          </a:stretch>
        </p:blipFill>
        <p:spPr>
          <a:xfrm>
            <a:off x="3508704" y="1925173"/>
            <a:ext cx="685800" cy="685800"/>
          </a:xfrm>
          <a:prstGeom prst="rect">
            <a:avLst/>
          </a:prstGeom>
          <a:noFill/>
          <a:ln>
            <a:noFill/>
          </a:ln>
        </p:spPr>
      </p:pic>
      <p:sp>
        <p:nvSpPr>
          <p:cNvPr id="1443" name="Google Shape;1443;h547f90b031e64a91_0_112"/>
          <p:cNvSpPr/>
          <p:nvPr/>
        </p:nvSpPr>
        <p:spPr>
          <a:xfrm>
            <a:off x="706925" y="1768850"/>
            <a:ext cx="72924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44" name="Google Shape;1444;h547f90b031e64a91_0_112"/>
          <p:cNvSpPr txBox="1"/>
          <p:nvPr/>
        </p:nvSpPr>
        <p:spPr>
          <a:xfrm>
            <a:off x="624725" y="3710825"/>
            <a:ext cx="73578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Medical Domain</a:t>
            </a:r>
            <a:endParaRPr b="0" i="0" sz="1400" u="none" cap="none" strike="noStrike">
              <a:solidFill>
                <a:srgbClr val="000000"/>
              </a:solidFill>
              <a:latin typeface="Arial"/>
              <a:ea typeface="Arial"/>
              <a:cs typeface="Arial"/>
              <a:sym typeface="Arial"/>
            </a:endParaRPr>
          </a:p>
        </p:txBody>
      </p:sp>
      <p:sp>
        <p:nvSpPr>
          <p:cNvPr id="1445" name="Slide number 1445"/>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9" name="Shape 1449"/>
        <p:cNvGrpSpPr/>
        <p:nvPr/>
      </p:nvGrpSpPr>
      <p:grpSpPr>
        <a:xfrm>
          <a:off x="0" y="0"/>
          <a:ext cx="0" cy="0"/>
          <a:chOff x="0" y="0"/>
          <a:chExt cx="0" cy="0"/>
        </a:xfrm>
      </p:grpSpPr>
      <p:sp>
        <p:nvSpPr>
          <p:cNvPr id="1450" name="Google Shape;1450;h547f90b031e64a91_0_142"/>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51" name="Google Shape;1451;h547f90b031e64a91_0_142"/>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52" name="Google Shape;1452;h547f90b031e64a91_0_142"/>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53" name="Google Shape;1453;h547f90b031e64a91_0_142"/>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4" name="Google Shape;1454;h547f90b031e64a91_0_142"/>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5" name="Google Shape;1455;h547f90b031e64a91_0_142"/>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56" name="Google Shape;1456;h547f90b031e64a91_0_142"/>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57" name="Google Shape;1457;h547f90b031e64a91_0_142"/>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58" name="Google Shape;1458;h547f90b031e64a91_0_142"/>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59" name="Google Shape;1459;h547f90b031e64a91_0_142"/>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0" name="Google Shape;1460;h547f90b031e64a91_0_142"/>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61" name="Google Shape;1461;h547f90b031e64a91_0_142"/>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62" name="Google Shape;1462;h547f90b031e64a91_0_142"/>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63" name="Google Shape;1463;h547f90b031e64a91_0_142"/>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464" name="Google Shape;1464;h547f90b031e64a91_0_142"/>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465" name="Google Shape;1465;h547f90b031e64a91_0_142"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466" name="Google Shape;1466;h547f90b031e64a91_0_142" title="ChatGPT Image Oct 28, 2026, 02_32_59 PM-1.png"/>
          <p:cNvPicPr preferRelativeResize="0"/>
          <p:nvPr/>
        </p:nvPicPr>
        <p:blipFill>
          <a:blip r:embed="rId4">
            <a:alphaModFix/>
          </a:blip>
          <a:stretch>
            <a:fillRect/>
          </a:stretch>
        </p:blipFill>
        <p:spPr>
          <a:xfrm>
            <a:off x="3508704" y="1925173"/>
            <a:ext cx="685800" cy="685800"/>
          </a:xfrm>
          <a:prstGeom prst="rect">
            <a:avLst/>
          </a:prstGeom>
          <a:noFill/>
          <a:ln>
            <a:noFill/>
          </a:ln>
        </p:spPr>
      </p:pic>
      <p:sp>
        <p:nvSpPr>
          <p:cNvPr id="1467" name="Google Shape;1467;h547f90b031e64a91_0_142"/>
          <p:cNvSpPr/>
          <p:nvPr/>
        </p:nvSpPr>
        <p:spPr>
          <a:xfrm>
            <a:off x="706925" y="1768850"/>
            <a:ext cx="72924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68" name="Google Shape;1468;h547f90b031e64a91_0_142"/>
          <p:cNvSpPr txBox="1"/>
          <p:nvPr/>
        </p:nvSpPr>
        <p:spPr>
          <a:xfrm>
            <a:off x="624725" y="3710825"/>
            <a:ext cx="73578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Medical Domain</a:t>
            </a:r>
            <a:endParaRPr b="0" i="0" sz="1400" u="none" cap="none" strike="noStrike">
              <a:solidFill>
                <a:srgbClr val="000000"/>
              </a:solidFill>
              <a:latin typeface="Arial"/>
              <a:ea typeface="Arial"/>
              <a:cs typeface="Arial"/>
              <a:sym typeface="Arial"/>
            </a:endParaRPr>
          </a:p>
        </p:txBody>
      </p:sp>
      <p:sp>
        <p:nvSpPr>
          <p:cNvPr id="1469" name="Google Shape;1469;h547f90b031e64a91_0_142"/>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0" name="Google Shape;1470;h547f90b031e64a91_0_142"/>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1" name="Google Shape;1471;h547f90b031e64a91_0_142"/>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472" name="Google Shape;1472;h547f90b031e64a91_0_142"/>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473" name="Google Shape;1473;h547f90b031e64a91_0_142"/>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474" name="Google Shape;1474;h547f90b031e64a91_0_142"/>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pic>
        <p:nvPicPr>
          <p:cNvPr id="1475" name="Google Shape;1475;h547f90b031e64a91_0_142" title="ChatGPT Image Oct 28, 2026, 02_33_01 PM-3.png"/>
          <p:cNvPicPr preferRelativeResize="0"/>
          <p:nvPr/>
        </p:nvPicPr>
        <p:blipFill>
          <a:blip r:embed="rId5">
            <a:alphaModFix/>
          </a:blip>
          <a:stretch>
            <a:fillRect/>
          </a:stretch>
        </p:blipFill>
        <p:spPr>
          <a:xfrm>
            <a:off x="10759640" y="1928292"/>
            <a:ext cx="830001" cy="830001"/>
          </a:xfrm>
          <a:prstGeom prst="rect">
            <a:avLst/>
          </a:prstGeom>
          <a:noFill/>
          <a:ln>
            <a:noFill/>
          </a:ln>
        </p:spPr>
      </p:pic>
      <p:sp>
        <p:nvSpPr>
          <p:cNvPr id="1476" name="Google Shape;1476;h547f90b031e64a91_0_142"/>
          <p:cNvSpPr/>
          <p:nvPr/>
        </p:nvSpPr>
        <p:spPr>
          <a:xfrm>
            <a:off x="8069900" y="1768850"/>
            <a:ext cx="3628500" cy="1817400"/>
          </a:xfrm>
          <a:prstGeom prst="roundRect">
            <a:avLst>
              <a:gd fmla="val 10000" name="adj"/>
            </a:avLst>
          </a:prstGeom>
          <a:noFill/>
          <a:ln cap="flat" cmpd="sng" w="12700">
            <a:solidFill>
              <a:schemeClr val="accent4"/>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77" name="Google Shape;1477;h547f90b031e64a91_0_142"/>
          <p:cNvSpPr txBox="1"/>
          <p:nvPr/>
        </p:nvSpPr>
        <p:spPr>
          <a:xfrm>
            <a:off x="8069775" y="3710825"/>
            <a:ext cx="36285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600"/>
              <a:buFont typeface="Arial"/>
              <a:buNone/>
            </a:pPr>
            <a:r>
              <a:rPr b="1" lang="en-US" sz="1600">
                <a:solidFill>
                  <a:srgbClr val="5B6770"/>
                </a:solidFill>
                <a:latin typeface="Calibri"/>
                <a:ea typeface="Calibri"/>
                <a:cs typeface="Calibri"/>
                <a:sym typeface="Calibri"/>
              </a:rPr>
              <a:t>Music</a:t>
            </a:r>
            <a:r>
              <a:rPr b="1" lang="en-US" sz="1600">
                <a:solidFill>
                  <a:srgbClr val="5B6770"/>
                </a:solidFill>
                <a:latin typeface="Calibri"/>
                <a:ea typeface="Calibri"/>
                <a:cs typeface="Calibri"/>
                <a:sym typeface="Calibri"/>
              </a:rPr>
              <a:t> Domain</a:t>
            </a:r>
            <a:endParaRPr b="0" i="0" sz="1400" u="none" cap="none" strike="noStrike">
              <a:solidFill>
                <a:srgbClr val="000000"/>
              </a:solidFill>
              <a:latin typeface="Arial"/>
              <a:ea typeface="Arial"/>
              <a:cs typeface="Arial"/>
              <a:sym typeface="Arial"/>
            </a:endParaRPr>
          </a:p>
        </p:txBody>
      </p:sp>
      <p:sp>
        <p:nvSpPr>
          <p:cNvPr id="1478" name="Slide number 1478"/>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sp>
        <p:nvSpPr>
          <p:cNvPr id="1483" name="Google Shape;1483;h547f90b031e64a91_0_174"/>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484" name="Google Shape;1484;h547f90b031e64a91_0_174"/>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485" name="Google Shape;1485;h547f90b031e64a91_0_174"/>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486" name="Google Shape;1486;h547f90b031e64a91_0_174"/>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7" name="Google Shape;1487;h547f90b031e64a91_0_174"/>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88" name="Google Shape;1488;h547f90b031e64a91_0_174"/>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489" name="Google Shape;1489;h547f90b031e64a91_0_174"/>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490" name="Google Shape;1490;h547f90b031e64a91_0_174"/>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491" name="Google Shape;1491;h547f90b031e64a91_0_174"/>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2" name="Google Shape;1492;h547f90b031e64a91_0_174"/>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3" name="Google Shape;1493;h547f90b031e64a91_0_174"/>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494" name="Google Shape;1494;h547f90b031e64a91_0_174"/>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495" name="Google Shape;1495;h547f90b031e64a91_0_174"/>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496" name="Google Shape;1496;h547f90b031e64a91_0_174"/>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7" name="Google Shape;1497;h547f90b031e64a91_0_174"/>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98" name="Google Shape;1498;h547f90b031e64a91_0_174"/>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499" name="Google Shape;1499;h547f90b031e64a91_0_174"/>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500" name="Google Shape;1500;h547f90b031e64a91_0_174"/>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501" name="Google Shape;1501;h547f90b031e64a91_0_174"/>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502" name="Google Shape;1502;h547f90b031e64a91_0_174"/>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3" name="Google Shape;1503;h547f90b031e64a91_0_174"/>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4" name="Google Shape;1504;h547f90b031e64a91_0_174"/>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505" name="Google Shape;1505;h547f90b031e64a91_0_174"/>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506" name="Google Shape;1506;h547f90b031e64a91_0_174"/>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507" name="Google Shape;1507;h547f90b031e64a91_0_174"/>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8" name="Google Shape;1508;h547f90b031e64a91_0_174"/>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09" name="Google Shape;1509;h547f90b031e64a91_0_174"/>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510" name="Google Shape;1510;h547f90b031e64a91_0_174"/>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511" name="Google Shape;1511;h547f90b031e64a91_0_174"/>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512" name="Google Shape;1512;h547f90b031e64a91_0_174"/>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3" name="Google Shape;1513;h547f90b031e64a91_0_174"/>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4" name="Google Shape;1514;h547f90b031e64a91_0_174"/>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515" name="Google Shape;1515;h547f90b031e64a91_0_174"/>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516" name="Google Shape;1516;h547f90b031e64a91_0_174"/>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517" name="Google Shape;1517;h547f90b031e64a91_0_174"/>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8" name="Google Shape;1518;h547f90b031e64a91_0_174"/>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19" name="Google Shape;1519;h547f90b031e64a91_0_174"/>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520" name="Google Shape;1520;h547f90b031e64a91_0_174"/>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521" name="Google Shape;1521;h547f90b031e64a91_0_174"/>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522" name="Google Shape;1522;h547f90b031e64a91_0_174"/>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523" name="Google Shape;1523;h547f90b031e64a91_0_174"/>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524" name="Google Shape;1524;h547f90b031e64a91_0_174"/>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525" name="Google Shape;1525;h547f90b031e64a91_0_174"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526" name="Google Shape;1526;h547f90b031e64a91_0_174"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527" name="Google Shape;1527;h547f90b031e64a91_0_174"/>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[Sequeda et al., WWW 2012]  </a:t>
            </a:r>
            <a:endParaRPr/>
          </a:p>
        </p:txBody>
      </p:sp>
      <p:sp>
        <p:nvSpPr>
          <p:cNvPr id="1528" name="Google Shape;1528;h547f90b031e64a91_0_174"/>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529" name="Google Shape;1529;h547f90b031e64a91_0_174"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530" name="Google Shape;1530;h547f90b031e64a91_0_174"/>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531" name="Google Shape;1531;h547f90b031e64a91_0_174"/>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532" name="Slide number 153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36" name="Shape 1536"/>
        <p:cNvGrpSpPr/>
        <p:nvPr/>
      </p:nvGrpSpPr>
      <p:grpSpPr>
        <a:xfrm>
          <a:off x="0" y="0"/>
          <a:ext cx="0" cy="0"/>
          <a:chOff x="0" y="0"/>
          <a:chExt cx="0" cy="0"/>
        </a:xfrm>
      </p:grpSpPr>
      <p:sp>
        <p:nvSpPr>
          <p:cNvPr id="1537" name="Google Shape;1537;h547f90b031e64a91_0_287"/>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538" name="Google Shape;1538;h547f90b031e64a91_0_287"/>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539" name="Google Shape;1539;h547f90b031e64a91_0_287"/>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40" name="Google Shape;1540;h547f90b031e64a91_0_287"/>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1" name="Google Shape;1541;h547f90b031e64a91_0_287"/>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2" name="Google Shape;1542;h547f90b031e64a91_0_287"/>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543" name="Google Shape;1543;h547f90b031e64a91_0_287"/>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544" name="Google Shape;1544;h547f90b031e64a91_0_287"/>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545" name="Google Shape;1545;h547f90b031e64a91_0_287"/>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6" name="Google Shape;1546;h547f90b031e64a91_0_287"/>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47" name="Google Shape;1547;h547f90b031e64a91_0_287"/>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548" name="Google Shape;1548;h547f90b031e64a91_0_287"/>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549" name="Google Shape;1549;h547f90b031e64a91_0_287"/>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550" name="Google Shape;1550;h547f90b031e64a91_0_287"/>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1" name="Google Shape;1551;h547f90b031e64a91_0_287"/>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2" name="Google Shape;1552;h547f90b031e64a91_0_287"/>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553" name="Google Shape;1553;h547f90b031e64a91_0_287"/>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554" name="Google Shape;1554;h547f90b031e64a91_0_287"/>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555" name="Google Shape;1555;h547f90b031e64a91_0_287"/>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556" name="Google Shape;1556;h547f90b031e64a91_0_287"/>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7" name="Google Shape;1557;h547f90b031e64a91_0_287"/>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8" name="Google Shape;1558;h547f90b031e64a91_0_287"/>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559" name="Google Shape;1559;h547f90b031e64a91_0_287"/>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560" name="Google Shape;1560;h547f90b031e64a91_0_287"/>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561" name="Google Shape;1561;h547f90b031e64a91_0_287"/>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2" name="Google Shape;1562;h547f90b031e64a91_0_287"/>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3" name="Google Shape;1563;h547f90b031e64a91_0_287"/>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564" name="Google Shape;1564;h547f90b031e64a91_0_287"/>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565" name="Google Shape;1565;h547f90b031e64a91_0_287"/>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566" name="Google Shape;1566;h547f90b031e64a91_0_287"/>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7" name="Google Shape;1567;h547f90b031e64a91_0_287"/>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8" name="Google Shape;1568;h547f90b031e64a91_0_287"/>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569" name="Google Shape;1569;h547f90b031e64a91_0_287"/>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570" name="Google Shape;1570;h547f90b031e64a91_0_287"/>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571" name="Google Shape;1571;h547f90b031e64a91_0_287"/>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2" name="Google Shape;1572;h547f90b031e64a91_0_287"/>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73" name="Google Shape;1573;h547f90b031e64a91_0_287"/>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574" name="Google Shape;1574;h547f90b031e64a91_0_287"/>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575" name="Google Shape;1575;h547f90b031e64a91_0_287"/>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576" name="Google Shape;1576;h547f90b031e64a91_0_287"/>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577" name="Google Shape;1577;h547f90b031e64a91_0_287"/>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578" name="Google Shape;1578;h547f90b031e64a91_0_287"/>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579" name="Google Shape;1579;h547f90b031e64a91_0_287"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580" name="Google Shape;1580;h547f90b031e64a91_0_287"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581" name="Google Shape;1581;h547f90b031e64a91_0_287"/>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[Sequeda et al., WWW 2012]  </a:t>
            </a:r>
            <a:endParaRPr/>
          </a:p>
        </p:txBody>
      </p:sp>
      <p:sp>
        <p:nvSpPr>
          <p:cNvPr id="1582" name="Google Shape;1582;h547f90b031e64a91_0_287"/>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583" name="Google Shape;1583;h547f90b031e64a91_0_287"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584" name="Google Shape;1584;h547f90b031e64a91_0_287"/>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585" name="Google Shape;1585;h547f90b031e64a91_0_287"/>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586" name="Google Shape;1586;h547f90b031e64a91_0_287"/>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LLMS</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
        <p:nvSpPr>
          <p:cNvPr id="1587" name="Slide number 1587"/>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91" name="Shape 1591"/>
        <p:cNvGrpSpPr/>
        <p:nvPr/>
      </p:nvGrpSpPr>
      <p:grpSpPr>
        <a:xfrm>
          <a:off x="0" y="0"/>
          <a:ext cx="0" cy="0"/>
          <a:chOff x="0" y="0"/>
          <a:chExt cx="0" cy="0"/>
        </a:xfrm>
      </p:grpSpPr>
      <p:sp>
        <p:nvSpPr>
          <p:cNvPr id="1592" name="Google Shape;1592;h547f90b031e64a91_0_341"/>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593" name="Google Shape;1593;h547f90b031e64a91_0_341"/>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594" name="Google Shape;1594;h547f90b031e64a91_0_341"/>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595" name="Google Shape;1595;h547f90b031e64a91_0_341"/>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6" name="Google Shape;1596;h547f90b031e64a91_0_341"/>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7" name="Google Shape;1597;h547f90b031e64a91_0_341"/>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598" name="Google Shape;1598;h547f90b031e64a91_0_341"/>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599" name="Google Shape;1599;h547f90b031e64a91_0_341"/>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600" name="Google Shape;1600;h547f90b031e64a91_0_341"/>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1" name="Google Shape;1601;h547f90b031e64a91_0_341"/>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2" name="Google Shape;1602;h547f90b031e64a91_0_341"/>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603" name="Google Shape;1603;h547f90b031e64a91_0_341"/>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604" name="Google Shape;1604;h547f90b031e64a91_0_341"/>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605" name="Google Shape;1605;h547f90b031e64a91_0_341"/>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6" name="Google Shape;1606;h547f90b031e64a91_0_341"/>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7" name="Google Shape;1607;h547f90b031e64a91_0_341"/>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608" name="Google Shape;1608;h547f90b031e64a91_0_341"/>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609" name="Google Shape;1609;h547f90b031e64a91_0_341"/>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610" name="Google Shape;1610;h547f90b031e64a91_0_341"/>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611" name="Google Shape;1611;h547f90b031e64a91_0_341"/>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2" name="Google Shape;1612;h547f90b031e64a91_0_341"/>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3" name="Google Shape;1613;h547f90b031e64a91_0_341"/>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614" name="Google Shape;1614;h547f90b031e64a91_0_341"/>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615" name="Google Shape;1615;h547f90b031e64a91_0_341"/>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616" name="Google Shape;1616;h547f90b031e64a91_0_341"/>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7" name="Google Shape;1617;h547f90b031e64a91_0_341"/>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8" name="Google Shape;1618;h547f90b031e64a91_0_341"/>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619" name="Google Shape;1619;h547f90b031e64a91_0_341"/>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620" name="Google Shape;1620;h547f90b031e64a91_0_341"/>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621" name="Google Shape;1621;h547f90b031e64a91_0_341"/>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2" name="Google Shape;1622;h547f90b031e64a91_0_341"/>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3" name="Google Shape;1623;h547f90b031e64a91_0_341"/>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624" name="Google Shape;1624;h547f90b031e64a91_0_341"/>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625" name="Google Shape;1625;h547f90b031e64a91_0_341"/>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626" name="Google Shape;1626;h547f90b031e64a91_0_341"/>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7" name="Google Shape;1627;h547f90b031e64a91_0_341"/>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28" name="Google Shape;1628;h547f90b031e64a91_0_341"/>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629" name="Google Shape;1629;h547f90b031e64a91_0_341"/>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630" name="Google Shape;1630;h547f90b031e64a91_0_341"/>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631" name="Google Shape;1631;h547f90b031e64a91_0_341"/>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632" name="Google Shape;1632;h547f90b031e64a91_0_341"/>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633" name="Google Shape;1633;h547f90b031e64a91_0_341"/>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634" name="Google Shape;1634;h547f90b031e64a91_0_341"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635" name="Google Shape;1635;h547f90b031e64a91_0_341"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636" name="Google Shape;1636;h547f90b031e64a91_0_341"/>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[Sequeda et al., WWW 2012]  </a:t>
            </a:r>
            <a:endParaRPr/>
          </a:p>
        </p:txBody>
      </p:sp>
      <p:sp>
        <p:nvSpPr>
          <p:cNvPr id="1637" name="Google Shape;1637;h547f90b031e64a91_0_341"/>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638" name="Google Shape;1638;h547f90b031e64a91_0_341"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639" name="Google Shape;1639;h547f90b031e64a91_0_341"/>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640" name="Google Shape;1640;h547f90b031e64a91_0_341"/>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641" name="Google Shape;1641;h547f90b031e64a91_0_341"/>
          <p:cNvSpPr txBox="1"/>
          <p:nvPr/>
        </p:nvSpPr>
        <p:spPr>
          <a:xfrm>
            <a:off x="-1775" y="5847825"/>
            <a:ext cx="4593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42" name="Google Shape;1642;h547f90b031e64a91_0_341"/>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LLMS</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
        <p:nvSpPr>
          <p:cNvPr id="1643" name="Google Shape;1643;h547f90b031e64a91_0_341"/>
          <p:cNvSpPr txBox="1"/>
          <p:nvPr/>
        </p:nvSpPr>
        <p:spPr>
          <a:xfrm>
            <a:off x="-305322" y="5877625"/>
            <a:ext cx="56625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1</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DATABASES</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3 ONTOLOGIES   </a:t>
            </a:r>
            <a:endParaRPr b="0" i="0" sz="1400" u="none" cap="none" strike="noStrike">
              <a:solidFill>
                <a:srgbClr val="000000"/>
              </a:solidFill>
              <a:latin typeface="Arial"/>
              <a:ea typeface="Arial"/>
              <a:cs typeface="Arial"/>
              <a:sym typeface="Arial"/>
            </a:endParaRPr>
          </a:p>
        </p:txBody>
      </p:sp>
      <p:sp>
        <p:nvSpPr>
          <p:cNvPr id="1644" name="Slide number 1644"/>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8" name="Shape 1648"/>
        <p:cNvGrpSpPr/>
        <p:nvPr/>
      </p:nvGrpSpPr>
      <p:grpSpPr>
        <a:xfrm>
          <a:off x="0" y="0"/>
          <a:ext cx="0" cy="0"/>
          <a:chOff x="0" y="0"/>
          <a:chExt cx="0" cy="0"/>
        </a:xfrm>
      </p:grpSpPr>
      <p:sp>
        <p:nvSpPr>
          <p:cNvPr id="1649" name="Google Shape;1649;h547f90b031e64a91_0_398"/>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650" name="Google Shape;1650;h547f90b031e64a91_0_398"/>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651" name="Google Shape;1651;h547f90b031e64a91_0_398"/>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652" name="Google Shape;1652;h547f90b031e64a91_0_398"/>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3" name="Google Shape;1653;h547f90b031e64a91_0_398"/>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4" name="Google Shape;1654;h547f90b031e64a91_0_398"/>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655" name="Google Shape;1655;h547f90b031e64a91_0_398"/>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656" name="Google Shape;1656;h547f90b031e64a91_0_398"/>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657" name="Google Shape;1657;h547f90b031e64a91_0_398"/>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8" name="Google Shape;1658;h547f90b031e64a91_0_398"/>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59" name="Google Shape;1659;h547f90b031e64a91_0_398"/>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660" name="Google Shape;1660;h547f90b031e64a91_0_398"/>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661" name="Google Shape;1661;h547f90b031e64a91_0_398"/>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662" name="Google Shape;1662;h547f90b031e64a91_0_398"/>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3" name="Google Shape;1663;h547f90b031e64a91_0_398"/>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4" name="Google Shape;1664;h547f90b031e64a91_0_398"/>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665" name="Google Shape;1665;h547f90b031e64a91_0_398"/>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666" name="Google Shape;1666;h547f90b031e64a91_0_398"/>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667" name="Google Shape;1667;h547f90b031e64a91_0_398"/>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668" name="Google Shape;1668;h547f90b031e64a91_0_398"/>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69" name="Google Shape;1669;h547f90b031e64a91_0_398"/>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0" name="Google Shape;1670;h547f90b031e64a91_0_398"/>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671" name="Google Shape;1671;h547f90b031e64a91_0_398"/>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672" name="Google Shape;1672;h547f90b031e64a91_0_398"/>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673" name="Google Shape;1673;h547f90b031e64a91_0_398"/>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4" name="Google Shape;1674;h547f90b031e64a91_0_398"/>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5" name="Google Shape;1675;h547f90b031e64a91_0_398"/>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676" name="Google Shape;1676;h547f90b031e64a91_0_398"/>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677" name="Google Shape;1677;h547f90b031e64a91_0_398"/>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678" name="Google Shape;1678;h547f90b031e64a91_0_398"/>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79" name="Google Shape;1679;h547f90b031e64a91_0_398"/>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0" name="Google Shape;1680;h547f90b031e64a91_0_398"/>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681" name="Google Shape;1681;h547f90b031e64a91_0_398"/>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682" name="Google Shape;1682;h547f90b031e64a91_0_398"/>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683" name="Google Shape;1683;h547f90b031e64a91_0_398"/>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4" name="Google Shape;1684;h547f90b031e64a91_0_398"/>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5" name="Google Shape;1685;h547f90b031e64a91_0_398"/>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686" name="Google Shape;1686;h547f90b031e64a91_0_398"/>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687" name="Google Shape;1687;h547f90b031e64a91_0_398"/>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688" name="Google Shape;1688;h547f90b031e64a91_0_398"/>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689" name="Google Shape;1689;h547f90b031e64a91_0_398"/>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690" name="Google Shape;1690;h547f90b031e64a91_0_398"/>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691" name="Google Shape;1691;h547f90b031e64a91_0_398"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692" name="Google Shape;1692;h547f90b031e64a91_0_398"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693" name="Google Shape;1693;h547f90b031e64a91_0_398"/>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[Sequeda et al., WWW 2012]  </a:t>
            </a:r>
            <a:endParaRPr/>
          </a:p>
        </p:txBody>
      </p:sp>
      <p:sp>
        <p:nvSpPr>
          <p:cNvPr id="1694" name="Google Shape;1694;h547f90b031e64a91_0_398"/>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695" name="Google Shape;1695;h547f90b031e64a91_0_398"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696" name="Google Shape;1696;h547f90b031e64a91_0_398"/>
          <p:cNvSpPr/>
          <p:nvPr/>
        </p:nvSpPr>
        <p:spPr>
          <a:xfrm>
            <a:off x="3508989" y="3842176"/>
            <a:ext cx="8389200" cy="1573500"/>
          </a:xfrm>
          <a:prstGeom prst="roundRect">
            <a:avLst>
              <a:gd fmla="val 10000" name="adj"/>
            </a:avLst>
          </a:prstGeom>
          <a:noFill/>
          <a:ln cap="flat" cmpd="sng" w="29375">
            <a:solidFill>
              <a:schemeClr val="accent4"/>
            </a:solidFill>
            <a:prstDash val="solid"/>
            <a:miter lim="80"/>
            <a:headEnd len="sm" w="sm" type="none"/>
            <a:tailEnd len="sm" w="sm" type="none"/>
          </a:ln>
        </p:spPr>
        <p:txBody>
          <a:bodyPr anchorCtr="0" anchor="ctr" bIns="105675" lIns="211375" spcFirstLastPara="1" rIns="211375" wrap="square" tIns="105675">
            <a:noAutofit/>
          </a:bodyPr>
          <a:lstStyle/>
          <a:p>
            <a:pPr indent="0" lvl="0" marL="0" marR="0" rtl="0" algn="ctr">
              <a:lnSpc>
                <a:spcPct val="100000"/>
              </a:lnSpc>
              <a:spcBef>
                <a:spcPts val="0"/>
              </a:spcBef>
              <a:spcAft>
                <a:spcPts val="0"/>
              </a:spcAft>
              <a:buClr>
                <a:srgbClr val="000000"/>
              </a:buClr>
              <a:buSzPts val="4162"/>
              <a:buFont typeface="Arial"/>
              <a:buNone/>
            </a:pPr>
            <a:r>
              <a:t/>
            </a:r>
            <a:endParaRPr b="0" i="0" sz="4162" u="none" cap="none" strike="noStrike">
              <a:solidFill>
                <a:schemeClr val="dk1"/>
              </a:solidFill>
              <a:latin typeface="Calibri"/>
              <a:ea typeface="Calibri"/>
              <a:cs typeface="Calibri"/>
              <a:sym typeface="Calibri"/>
            </a:endParaRPr>
          </a:p>
        </p:txBody>
      </p:sp>
      <p:sp>
        <p:nvSpPr>
          <p:cNvPr id="1697" name="Google Shape;1697;h547f90b031e64a91_0_398"/>
          <p:cNvSpPr txBox="1"/>
          <p:nvPr/>
        </p:nvSpPr>
        <p:spPr>
          <a:xfrm>
            <a:off x="3508700" y="5523488"/>
            <a:ext cx="8389200" cy="2463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3699"/>
              <a:buFont typeface="Arial"/>
              <a:buNone/>
            </a:pPr>
            <a:r>
              <a:rPr b="1" lang="en-US" sz="1600">
                <a:solidFill>
                  <a:srgbClr val="5B6770"/>
                </a:solidFill>
                <a:latin typeface="Calibri"/>
                <a:ea typeface="Calibri"/>
                <a:cs typeface="Calibri"/>
                <a:sym typeface="Calibri"/>
              </a:rPr>
              <a:t>LLM-based Methods</a:t>
            </a:r>
            <a:endParaRPr b="0" i="0" sz="1600" u="none" cap="none" strike="noStrike">
              <a:solidFill>
                <a:srgbClr val="000000"/>
              </a:solidFill>
              <a:latin typeface="Arial"/>
              <a:ea typeface="Arial"/>
              <a:cs typeface="Arial"/>
              <a:sym typeface="Arial"/>
            </a:endParaRPr>
          </a:p>
        </p:txBody>
      </p:sp>
      <p:sp>
        <p:nvSpPr>
          <p:cNvPr id="1698" name="Google Shape;1698;h547f90b031e64a91_0_398"/>
          <p:cNvSpPr txBox="1"/>
          <p:nvPr/>
        </p:nvSpPr>
        <p:spPr>
          <a:xfrm>
            <a:off x="-1775" y="5847825"/>
            <a:ext cx="4593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699" name="Google Shape;1699;h547f90b031e64a91_0_398"/>
          <p:cNvSpPr txBox="1"/>
          <p:nvPr/>
        </p:nvSpPr>
        <p:spPr>
          <a:xfrm>
            <a:off x="3508699" y="587762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3 </a:t>
            </a:r>
            <a:r>
              <a:rPr b="1" lang="en-US" sz="1550">
                <a:solidFill>
                  <a:srgbClr val="1F2328"/>
                </a:solidFill>
                <a:latin typeface="Calibri"/>
                <a:ea typeface="Calibri"/>
                <a:cs typeface="Calibri"/>
                <a:sym typeface="Calibri"/>
              </a:rPr>
              <a:t>LLM</a:t>
            </a:r>
            <a:r>
              <a:rPr lang="en-US" sz="1550">
                <a:solidFill>
                  <a:srgbClr val="1F2328"/>
                </a:solidFill>
                <a:latin typeface="Calibri"/>
                <a:ea typeface="Calibri"/>
                <a:cs typeface="Calibri"/>
                <a:sym typeface="Calibri"/>
              </a:rPr>
              <a:t> </a:t>
            </a:r>
            <a:r>
              <a:rPr b="1" lang="en-US" sz="1550">
                <a:solidFill>
                  <a:srgbClr val="1F2328"/>
                </a:solidFill>
                <a:latin typeface="Calibri"/>
                <a:ea typeface="Calibri"/>
                <a:cs typeface="Calibri"/>
                <a:sym typeface="Calibri"/>
              </a:rPr>
              <a:t>METHODS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DATABASES</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LLMS</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27 ONTOLOGIES   </a:t>
            </a:r>
            <a:endParaRPr b="0" i="0" sz="1400" u="none" cap="none" strike="noStrike">
              <a:solidFill>
                <a:srgbClr val="000000"/>
              </a:solidFill>
              <a:latin typeface="Arial"/>
              <a:ea typeface="Arial"/>
              <a:cs typeface="Arial"/>
              <a:sym typeface="Arial"/>
            </a:endParaRPr>
          </a:p>
        </p:txBody>
      </p:sp>
      <p:sp>
        <p:nvSpPr>
          <p:cNvPr id="1700" name="Google Shape;1700;h547f90b031e64a91_0_398"/>
          <p:cNvSpPr txBox="1"/>
          <p:nvPr/>
        </p:nvSpPr>
        <p:spPr>
          <a:xfrm>
            <a:off x="-305322" y="5877625"/>
            <a:ext cx="56625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lang="en-US" sz="1550">
                <a:solidFill>
                  <a:srgbClr val="1F2328"/>
                </a:solidFill>
                <a:latin typeface="Calibri"/>
                <a:ea typeface="Calibri"/>
                <a:cs typeface="Calibri"/>
                <a:sym typeface="Calibri"/>
              </a:rPr>
              <a:t>1 </a:t>
            </a:r>
            <a:r>
              <a:rPr b="1" lang="en-US" sz="1550">
                <a:solidFill>
                  <a:srgbClr val="1F2328"/>
                </a:solidFill>
                <a:latin typeface="Calibri"/>
                <a:ea typeface="Calibri"/>
                <a:cs typeface="Calibri"/>
                <a:sym typeface="Calibri"/>
              </a:rPr>
              <a:t>METHOD</a:t>
            </a:r>
            <a:r>
              <a:rPr lang="en-US" sz="1550">
                <a:solidFill>
                  <a:srgbClr val="1F2328"/>
                </a:solidFill>
                <a:latin typeface="Calibri"/>
                <a:ea typeface="Calibri"/>
                <a:cs typeface="Calibri"/>
                <a:sym typeface="Calibri"/>
              </a:rPr>
              <a:t> × 3 </a:t>
            </a:r>
            <a:r>
              <a:rPr b="1" lang="en-US" sz="1550">
                <a:solidFill>
                  <a:srgbClr val="1F2328"/>
                </a:solidFill>
                <a:latin typeface="Calibri"/>
                <a:ea typeface="Calibri"/>
                <a:cs typeface="Calibri"/>
                <a:sym typeface="Calibri"/>
              </a:rPr>
              <a:t>DATABASES</a:t>
            </a:r>
            <a:r>
              <a:rPr lang="en-US" sz="1550">
                <a:solidFill>
                  <a:srgbClr val="1F2328"/>
                </a:solidFill>
                <a:latin typeface="Calibri"/>
                <a:ea typeface="Calibri"/>
                <a:cs typeface="Calibri"/>
                <a:sym typeface="Calibri"/>
              </a:rPr>
              <a:t> </a:t>
            </a:r>
            <a:r>
              <a:rPr b="1" lang="en-US" sz="1550">
                <a:solidFill>
                  <a:srgbClr val="0B6E4F"/>
                </a:solidFill>
                <a:latin typeface="Calibri"/>
                <a:ea typeface="Calibri"/>
                <a:cs typeface="Calibri"/>
                <a:sym typeface="Calibri"/>
              </a:rPr>
              <a:t>= 3 ONTOLOGIES   </a:t>
            </a:r>
            <a:endParaRPr b="0" i="0" sz="1400" u="none" cap="none" strike="noStrike">
              <a:solidFill>
                <a:srgbClr val="000000"/>
              </a:solidFill>
              <a:latin typeface="Arial"/>
              <a:ea typeface="Arial"/>
              <a:cs typeface="Arial"/>
              <a:sym typeface="Arial"/>
            </a:endParaRPr>
          </a:p>
        </p:txBody>
      </p:sp>
      <p:sp>
        <p:nvSpPr>
          <p:cNvPr id="1701" name="Google Shape;1701;h547f90b031e64a91_0_398"/>
          <p:cNvSpPr txBox="1"/>
          <p:nvPr/>
        </p:nvSpPr>
        <p:spPr>
          <a:xfrm>
            <a:off x="795524" y="6451275"/>
            <a:ext cx="8445900" cy="238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3+27 = 30 ONTOLOGIES   </a:t>
            </a:r>
            <a:endParaRPr b="0" i="0" sz="1400" u="none" cap="none" strike="noStrike">
              <a:solidFill>
                <a:srgbClr val="000000"/>
              </a:solidFill>
              <a:latin typeface="Arial"/>
              <a:ea typeface="Arial"/>
              <a:cs typeface="Arial"/>
              <a:sym typeface="Arial"/>
            </a:endParaRPr>
          </a:p>
        </p:txBody>
      </p:sp>
      <p:sp>
        <p:nvSpPr>
          <p:cNvPr id="1702" name="Slide number 170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6" name="Shape 1706"/>
        <p:cNvGrpSpPr/>
        <p:nvPr/>
      </p:nvGrpSpPr>
      <p:grpSpPr>
        <a:xfrm>
          <a:off x="0" y="0"/>
          <a:ext cx="0" cy="0"/>
          <a:chOff x="0" y="0"/>
          <a:chExt cx="0" cy="0"/>
        </a:xfrm>
      </p:grpSpPr>
      <p:sp>
        <p:nvSpPr>
          <p:cNvPr id="1707" name="Google Shape;1707;h547f90b031e64a91_0_56"/>
          <p:cNvSpPr txBox="1"/>
          <p:nvPr/>
        </p:nvSpPr>
        <p:spPr>
          <a:xfrm>
            <a:off x="795528" y="448056"/>
            <a:ext cx="107898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lang="en-US">
                <a:solidFill>
                  <a:srgbClr val="0B6E4F"/>
                </a:solidFill>
                <a:latin typeface="Consolas"/>
                <a:ea typeface="Consolas"/>
                <a:cs typeface="Consolas"/>
                <a:sym typeface="Consolas"/>
              </a:rPr>
              <a:t>EVALUATION</a:t>
            </a:r>
            <a:endParaRPr b="0" i="0" sz="1400" u="none" cap="none" strike="noStrike">
              <a:solidFill>
                <a:srgbClr val="000000"/>
              </a:solidFill>
              <a:latin typeface="Arial"/>
              <a:ea typeface="Arial"/>
              <a:cs typeface="Arial"/>
              <a:sym typeface="Arial"/>
            </a:endParaRPr>
          </a:p>
        </p:txBody>
      </p:sp>
      <p:sp>
        <p:nvSpPr>
          <p:cNvPr id="1708" name="Google Shape;1708;h547f90b031e64a91_0_56"/>
          <p:cNvSpPr txBox="1"/>
          <p:nvPr/>
        </p:nvSpPr>
        <p:spPr>
          <a:xfrm>
            <a:off x="795528" y="850392"/>
            <a:ext cx="10835700" cy="431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F2328"/>
                </a:solidFill>
                <a:latin typeface="Cambria"/>
                <a:ea typeface="Cambria"/>
                <a:cs typeface="Cambria"/>
                <a:sym typeface="Cambria"/>
              </a:rPr>
              <a:t>Does the method work beyond our running example?</a:t>
            </a:r>
            <a:endParaRPr b="0" i="0" sz="1400" u="none" cap="none" strike="noStrike">
              <a:solidFill>
                <a:srgbClr val="000000"/>
              </a:solidFill>
              <a:latin typeface="Arial"/>
              <a:ea typeface="Arial"/>
              <a:cs typeface="Arial"/>
              <a:sym typeface="Arial"/>
            </a:endParaRPr>
          </a:p>
        </p:txBody>
      </p:sp>
      <p:sp>
        <p:nvSpPr>
          <p:cNvPr id="1709" name="Google Shape;1709;h547f90b031e64a91_0_56"/>
          <p:cNvSpPr txBox="1"/>
          <p:nvPr/>
        </p:nvSpPr>
        <p:spPr>
          <a:xfrm>
            <a:off x="795528" y="1397967"/>
            <a:ext cx="106071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databases, </a:t>
            </a:r>
            <a:r>
              <a:rPr b="1" i="0" lang="en-US" sz="1600" u="none" cap="none" strike="noStrike">
                <a:solidFill>
                  <a:srgbClr val="5B6770"/>
                </a:solidFill>
                <a:latin typeface="Calibri"/>
                <a:ea typeface="Calibri"/>
                <a:cs typeface="Calibri"/>
                <a:sym typeface="Calibri"/>
              </a:rPr>
              <a:t>three</a:t>
            </a:r>
            <a:r>
              <a:rPr b="0" i="0" lang="en-US" sz="1600" u="none" cap="none" strike="noStrike">
                <a:solidFill>
                  <a:srgbClr val="5B6770"/>
                </a:solidFill>
                <a:latin typeface="Calibri"/>
                <a:ea typeface="Calibri"/>
                <a:cs typeface="Calibri"/>
                <a:sym typeface="Calibri"/>
              </a:rPr>
              <a:t> generator models, </a:t>
            </a:r>
            <a:r>
              <a:rPr b="1" i="0" lang="en-US" sz="1600" u="none" cap="none" strike="noStrike">
                <a:solidFill>
                  <a:srgbClr val="5B6770"/>
                </a:solidFill>
                <a:latin typeface="Calibri"/>
                <a:ea typeface="Calibri"/>
                <a:cs typeface="Calibri"/>
                <a:sym typeface="Calibri"/>
              </a:rPr>
              <a:t>four</a:t>
            </a:r>
            <a:r>
              <a:rPr b="0" i="0" lang="en-US" sz="1600" u="none" cap="none" strike="noStrike">
                <a:solidFill>
                  <a:srgbClr val="5B6770"/>
                </a:solidFill>
                <a:latin typeface="Calibri"/>
                <a:ea typeface="Calibri"/>
                <a:cs typeface="Calibri"/>
                <a:sym typeface="Calibri"/>
              </a:rPr>
              <a:t> methods, evaluated from complementary </a:t>
            </a:r>
            <a:r>
              <a:rPr b="1" i="0" lang="en-US" sz="1600" u="none" cap="none" strike="noStrike">
                <a:solidFill>
                  <a:srgbClr val="5B6770"/>
                </a:solidFill>
                <a:latin typeface="Calibri"/>
                <a:ea typeface="Calibri"/>
                <a:cs typeface="Calibri"/>
                <a:sym typeface="Calibri"/>
              </a:rPr>
              <a:t>angles</a:t>
            </a:r>
            <a:r>
              <a:rPr b="0" i="0" lang="en-US" sz="16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id="1710" name="Google Shape;1710;h547f90b031e64a91_0_56"/>
          <p:cNvSpPr/>
          <p:nvPr/>
        </p:nvSpPr>
        <p:spPr>
          <a:xfrm>
            <a:off x="8321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1" name="Google Shape;1711;h547f90b031e64a91_0_56"/>
          <p:cNvSpPr/>
          <p:nvPr/>
        </p:nvSpPr>
        <p:spPr>
          <a:xfrm>
            <a:off x="8321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2" name="Google Shape;1712;h547f90b031e64a91_0_56"/>
          <p:cNvSpPr txBox="1"/>
          <p:nvPr/>
        </p:nvSpPr>
        <p:spPr>
          <a:xfrm>
            <a:off x="10241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LIVER CANCER</a:t>
            </a:r>
            <a:endParaRPr b="0" i="0" sz="1400" u="none" cap="none" strike="noStrike">
              <a:solidFill>
                <a:srgbClr val="000000"/>
              </a:solidFill>
              <a:latin typeface="Arial"/>
              <a:ea typeface="Arial"/>
              <a:cs typeface="Arial"/>
              <a:sym typeface="Arial"/>
            </a:endParaRPr>
          </a:p>
        </p:txBody>
      </p:sp>
      <p:sp>
        <p:nvSpPr>
          <p:cNvPr id="1713" name="Google Shape;1713;h547f90b031e64a91_0_56"/>
          <p:cNvSpPr txBox="1"/>
          <p:nvPr/>
        </p:nvSpPr>
        <p:spPr>
          <a:xfrm>
            <a:off x="10241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16 tables  ·  350 columns</a:t>
            </a:r>
            <a:endParaRPr b="0" i="0" sz="1400" u="none" cap="none" strike="noStrike">
              <a:solidFill>
                <a:srgbClr val="000000"/>
              </a:solidFill>
              <a:latin typeface="Arial"/>
              <a:ea typeface="Arial"/>
              <a:cs typeface="Arial"/>
              <a:sym typeface="Arial"/>
            </a:endParaRPr>
          </a:p>
        </p:txBody>
      </p:sp>
      <p:sp>
        <p:nvSpPr>
          <p:cNvPr id="1714" name="Google Shape;1714;h547f90b031e64a91_0_56"/>
          <p:cNvSpPr txBox="1"/>
          <p:nvPr/>
        </p:nvSpPr>
        <p:spPr>
          <a:xfrm>
            <a:off x="10241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specialist clinical registry </a:t>
            </a:r>
            <a:endParaRPr b="0" i="0" sz="1400" u="none" cap="none" strike="noStrike">
              <a:solidFill>
                <a:srgbClr val="000000"/>
              </a:solidFill>
              <a:latin typeface="Arial"/>
              <a:ea typeface="Arial"/>
              <a:cs typeface="Arial"/>
              <a:sym typeface="Arial"/>
            </a:endParaRPr>
          </a:p>
        </p:txBody>
      </p:sp>
      <p:sp>
        <p:nvSpPr>
          <p:cNvPr id="1715" name="Google Shape;1715;h547f90b031e64a91_0_56"/>
          <p:cNvSpPr/>
          <p:nvPr/>
        </p:nvSpPr>
        <p:spPr>
          <a:xfrm>
            <a:off x="44897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6" name="Google Shape;1716;h547f90b031e64a91_0_56"/>
          <p:cNvSpPr/>
          <p:nvPr/>
        </p:nvSpPr>
        <p:spPr>
          <a:xfrm>
            <a:off x="4489704" y="1910031"/>
            <a:ext cx="3410700" cy="59400"/>
          </a:xfrm>
          <a:prstGeom prst="rect">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17" name="Google Shape;1717;h547f90b031e64a91_0_56"/>
          <p:cNvSpPr txBox="1"/>
          <p:nvPr/>
        </p:nvSpPr>
        <p:spPr>
          <a:xfrm>
            <a:off x="46817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eICU-CRD</a:t>
            </a:r>
            <a:endParaRPr b="0" i="0" sz="1400" u="none" cap="none" strike="noStrike">
              <a:solidFill>
                <a:srgbClr val="000000"/>
              </a:solidFill>
              <a:latin typeface="Arial"/>
              <a:ea typeface="Arial"/>
              <a:cs typeface="Arial"/>
              <a:sym typeface="Arial"/>
            </a:endParaRPr>
          </a:p>
        </p:txBody>
      </p:sp>
      <p:sp>
        <p:nvSpPr>
          <p:cNvPr id="1718" name="Google Shape;1718;h547f90b031e64a91_0_56"/>
          <p:cNvSpPr txBox="1"/>
          <p:nvPr/>
        </p:nvSpPr>
        <p:spPr>
          <a:xfrm>
            <a:off x="46817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31 tables  ·  559 columns</a:t>
            </a:r>
            <a:endParaRPr b="0" i="0" sz="1400" u="none" cap="none" strike="noStrike">
              <a:solidFill>
                <a:srgbClr val="000000"/>
              </a:solidFill>
              <a:latin typeface="Arial"/>
              <a:ea typeface="Arial"/>
              <a:cs typeface="Arial"/>
              <a:sym typeface="Arial"/>
            </a:endParaRPr>
          </a:p>
        </p:txBody>
      </p:sp>
      <p:sp>
        <p:nvSpPr>
          <p:cNvPr id="1719" name="Google Shape;1719;h547f90b031e64a91_0_56"/>
          <p:cNvSpPr txBox="1"/>
          <p:nvPr/>
        </p:nvSpPr>
        <p:spPr>
          <a:xfrm>
            <a:off x="4681728" y="2751279"/>
            <a:ext cx="2999100" cy="4797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large ICU schema </a:t>
            </a:r>
            <a:endParaRPr/>
          </a:p>
          <a:p>
            <a:pPr indent="0" lvl="0" marL="0" marR="0" rtl="0" algn="l">
              <a:lnSpc>
                <a:spcPct val="105000"/>
              </a:lnSpc>
              <a:spcBef>
                <a:spcPts val="0"/>
              </a:spcBef>
              <a:spcAft>
                <a:spcPts val="0"/>
              </a:spcAft>
              <a:buClr>
                <a:srgbClr val="000000"/>
              </a:buClr>
              <a:buSzPts val="1520"/>
              <a:buFont typeface="Arial"/>
              <a:buNone/>
            </a:pPr>
            <a:r>
              <a:t/>
            </a:r>
            <a:endParaRPr sz="1520">
              <a:solidFill>
                <a:srgbClr val="5B6770"/>
              </a:solidFill>
              <a:latin typeface="Calibri"/>
              <a:ea typeface="Calibri"/>
              <a:cs typeface="Calibri"/>
              <a:sym typeface="Calibri"/>
            </a:endParaRPr>
          </a:p>
        </p:txBody>
      </p:sp>
      <p:sp>
        <p:nvSpPr>
          <p:cNvPr id="1720" name="Google Shape;1720;h547f90b031e64a91_0_56"/>
          <p:cNvSpPr/>
          <p:nvPr/>
        </p:nvSpPr>
        <p:spPr>
          <a:xfrm>
            <a:off x="8147300" y="1910021"/>
            <a:ext cx="3410700" cy="15000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1" name="Google Shape;1721;h547f90b031e64a91_0_56"/>
          <p:cNvSpPr/>
          <p:nvPr/>
        </p:nvSpPr>
        <p:spPr>
          <a:xfrm>
            <a:off x="8147304" y="1910031"/>
            <a:ext cx="3410700" cy="59400"/>
          </a:xfrm>
          <a:prstGeom prst="rect">
            <a:avLst/>
          </a:prstGeom>
          <a:solidFill>
            <a:srgbClr val="2F6B7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2" name="Google Shape;1722;h547f90b031e64a91_0_56"/>
          <p:cNvSpPr txBox="1"/>
          <p:nvPr/>
        </p:nvSpPr>
        <p:spPr>
          <a:xfrm>
            <a:off x="8339328" y="2092911"/>
            <a:ext cx="30357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2F6B78"/>
                </a:solidFill>
                <a:latin typeface="Consolas"/>
                <a:ea typeface="Consolas"/>
                <a:cs typeface="Consolas"/>
                <a:sym typeface="Consolas"/>
              </a:rPr>
              <a:t>CHINOOK</a:t>
            </a:r>
            <a:endParaRPr b="0" i="0" sz="1400" u="none" cap="none" strike="noStrike">
              <a:solidFill>
                <a:srgbClr val="000000"/>
              </a:solidFill>
              <a:latin typeface="Arial"/>
              <a:ea typeface="Arial"/>
              <a:cs typeface="Arial"/>
              <a:sym typeface="Arial"/>
            </a:endParaRPr>
          </a:p>
        </p:txBody>
      </p:sp>
      <p:sp>
        <p:nvSpPr>
          <p:cNvPr id="1723" name="Google Shape;1723;h547f90b031e64a91_0_56"/>
          <p:cNvSpPr txBox="1"/>
          <p:nvPr/>
        </p:nvSpPr>
        <p:spPr>
          <a:xfrm>
            <a:off x="8339328" y="2458671"/>
            <a:ext cx="3026700" cy="2817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29"/>
              <a:buFont typeface="Arial"/>
              <a:buNone/>
            </a:pPr>
            <a:r>
              <a:rPr b="1" i="0" lang="en-US" sz="1830" u="none" cap="none" strike="noStrike">
                <a:solidFill>
                  <a:srgbClr val="1F2328"/>
                </a:solidFill>
                <a:latin typeface="Calibri"/>
                <a:ea typeface="Calibri"/>
                <a:cs typeface="Calibri"/>
                <a:sym typeface="Calibri"/>
              </a:rPr>
              <a:t>11 tables  ·  67 columns</a:t>
            </a:r>
            <a:endParaRPr b="0" i="0" sz="1400" u="none" cap="none" strike="noStrike">
              <a:solidFill>
                <a:srgbClr val="000000"/>
              </a:solidFill>
              <a:latin typeface="Arial"/>
              <a:ea typeface="Arial"/>
              <a:cs typeface="Arial"/>
              <a:sym typeface="Arial"/>
            </a:endParaRPr>
          </a:p>
        </p:txBody>
      </p:sp>
      <p:sp>
        <p:nvSpPr>
          <p:cNvPr id="1724" name="Google Shape;1724;h547f90b031e64a91_0_56"/>
          <p:cNvSpPr txBox="1"/>
          <p:nvPr/>
        </p:nvSpPr>
        <p:spPr>
          <a:xfrm>
            <a:off x="8339328" y="2751279"/>
            <a:ext cx="2999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music store </a:t>
            </a:r>
            <a:endParaRPr b="0" i="0" sz="1400" u="none" cap="none" strike="noStrike">
              <a:solidFill>
                <a:srgbClr val="000000"/>
              </a:solidFill>
              <a:latin typeface="Arial"/>
              <a:ea typeface="Arial"/>
              <a:cs typeface="Arial"/>
              <a:sym typeface="Arial"/>
            </a:endParaRPr>
          </a:p>
        </p:txBody>
      </p:sp>
      <p:sp>
        <p:nvSpPr>
          <p:cNvPr id="1725" name="Google Shape;1725;h547f90b031e64a91_0_56"/>
          <p:cNvSpPr txBox="1"/>
          <p:nvPr/>
        </p:nvSpPr>
        <p:spPr>
          <a:xfrm>
            <a:off x="832104" y="3557110"/>
            <a:ext cx="98754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1" i="0" lang="en-US" sz="1520" u="none" cap="none" strike="noStrike">
                <a:solidFill>
                  <a:srgbClr val="0B6E4F"/>
                </a:solidFill>
                <a:latin typeface="Consolas"/>
                <a:ea typeface="Consolas"/>
                <a:cs typeface="Consolas"/>
                <a:sym typeface="Consolas"/>
              </a:rPr>
              <a:t>FOUR </a:t>
            </a:r>
            <a:r>
              <a:rPr b="1" lang="en-US" sz="1520">
                <a:solidFill>
                  <a:srgbClr val="0B6E4F"/>
                </a:solidFill>
                <a:latin typeface="Consolas"/>
                <a:ea typeface="Consolas"/>
                <a:cs typeface="Consolas"/>
                <a:sym typeface="Consolas"/>
              </a:rPr>
              <a:t>METHODS</a:t>
            </a:r>
            <a:r>
              <a:rPr b="1" i="0" lang="en-US" sz="1520" u="none" cap="none" strike="noStrike">
                <a:solidFill>
                  <a:srgbClr val="0B6E4F"/>
                </a:solidFill>
                <a:latin typeface="Consolas"/>
                <a:ea typeface="Consolas"/>
                <a:cs typeface="Consolas"/>
                <a:sym typeface="Consolas"/>
              </a:rPr>
              <a:t> TO GENERATE AN ONTOLOGY F</a:t>
            </a:r>
            <a:r>
              <a:rPr b="1" lang="en-US" sz="1520">
                <a:solidFill>
                  <a:srgbClr val="0B6E4F"/>
                </a:solidFill>
                <a:latin typeface="Consolas"/>
                <a:ea typeface="Consolas"/>
                <a:cs typeface="Consolas"/>
                <a:sym typeface="Consolas"/>
              </a:rPr>
              <a:t>ROM A RELATIONAL DATABASE SCHEMA</a:t>
            </a:r>
            <a:endParaRPr b="0" i="0" sz="1400" u="none" cap="none" strike="noStrike">
              <a:solidFill>
                <a:srgbClr val="000000"/>
              </a:solidFill>
              <a:latin typeface="Arial"/>
              <a:ea typeface="Arial"/>
              <a:cs typeface="Arial"/>
              <a:sym typeface="Arial"/>
            </a:endParaRPr>
          </a:p>
        </p:txBody>
      </p:sp>
      <p:sp>
        <p:nvSpPr>
          <p:cNvPr id="1726" name="Google Shape;1726;h547f90b031e64a91_0_56"/>
          <p:cNvSpPr/>
          <p:nvPr/>
        </p:nvSpPr>
        <p:spPr>
          <a:xfrm>
            <a:off x="832100"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7" name="Google Shape;1727;h547f90b031e64a91_0_56"/>
          <p:cNvSpPr/>
          <p:nvPr/>
        </p:nvSpPr>
        <p:spPr>
          <a:xfrm>
            <a:off x="960120"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28" name="Google Shape;1728;h547f90b031e64a91_0_56"/>
          <p:cNvSpPr txBox="1"/>
          <p:nvPr/>
        </p:nvSpPr>
        <p:spPr>
          <a:xfrm>
            <a:off x="1009650"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1</a:t>
            </a:r>
            <a:endParaRPr b="0" i="0" sz="1400" u="none" cap="none" strike="noStrike">
              <a:solidFill>
                <a:srgbClr val="000000"/>
              </a:solidFill>
              <a:latin typeface="Arial"/>
              <a:ea typeface="Arial"/>
              <a:cs typeface="Arial"/>
              <a:sym typeface="Arial"/>
            </a:endParaRPr>
          </a:p>
        </p:txBody>
      </p:sp>
      <p:sp>
        <p:nvSpPr>
          <p:cNvPr id="1729" name="Google Shape;1729;h547f90b031e64a91_0_56"/>
          <p:cNvSpPr txBox="1"/>
          <p:nvPr/>
        </p:nvSpPr>
        <p:spPr>
          <a:xfrm>
            <a:off x="1344168"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Direct Mapping</a:t>
            </a:r>
            <a:endParaRPr b="0" i="0" sz="1400" u="none" cap="none" strike="noStrike">
              <a:solidFill>
                <a:srgbClr val="000000"/>
              </a:solidFill>
              <a:latin typeface="Arial"/>
              <a:ea typeface="Arial"/>
              <a:cs typeface="Arial"/>
              <a:sym typeface="Arial"/>
            </a:endParaRPr>
          </a:p>
        </p:txBody>
      </p:sp>
      <p:sp>
        <p:nvSpPr>
          <p:cNvPr id="1730" name="Google Shape;1730;h547f90b031e64a91_0_56"/>
          <p:cNvSpPr txBox="1"/>
          <p:nvPr/>
        </p:nvSpPr>
        <p:spPr>
          <a:xfrm>
            <a:off x="996696"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Deterministic</a:t>
            </a:r>
            <a:endParaRPr b="0" i="0" sz="1400" u="none" cap="none" strike="noStrike">
              <a:solidFill>
                <a:srgbClr val="000000"/>
              </a:solidFill>
              <a:latin typeface="Arial"/>
              <a:ea typeface="Arial"/>
              <a:cs typeface="Arial"/>
              <a:sym typeface="Arial"/>
            </a:endParaRPr>
          </a:p>
        </p:txBody>
      </p:sp>
      <p:sp>
        <p:nvSpPr>
          <p:cNvPr id="1731" name="Google Shape;1731;h547f90b031e64a91_0_56"/>
          <p:cNvSpPr/>
          <p:nvPr/>
        </p:nvSpPr>
        <p:spPr>
          <a:xfrm>
            <a:off x="3630167"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2" name="Google Shape;1732;h547f90b031e64a91_0_56"/>
          <p:cNvSpPr/>
          <p:nvPr/>
        </p:nvSpPr>
        <p:spPr>
          <a:xfrm>
            <a:off x="3758184"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3" name="Google Shape;1733;h547f90b031e64a91_0_56"/>
          <p:cNvSpPr txBox="1"/>
          <p:nvPr/>
        </p:nvSpPr>
        <p:spPr>
          <a:xfrm>
            <a:off x="3807713"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2</a:t>
            </a:r>
            <a:endParaRPr b="0" i="0" sz="1400" u="none" cap="none" strike="noStrike">
              <a:solidFill>
                <a:srgbClr val="000000"/>
              </a:solidFill>
              <a:latin typeface="Arial"/>
              <a:ea typeface="Arial"/>
              <a:cs typeface="Arial"/>
              <a:sym typeface="Arial"/>
            </a:endParaRPr>
          </a:p>
        </p:txBody>
      </p:sp>
      <p:sp>
        <p:nvSpPr>
          <p:cNvPr id="1734" name="Google Shape;1734;h547f90b031e64a91_0_56"/>
          <p:cNvSpPr txBox="1"/>
          <p:nvPr/>
        </p:nvSpPr>
        <p:spPr>
          <a:xfrm>
            <a:off x="4142232"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LLM baseline</a:t>
            </a:r>
            <a:endParaRPr b="0" i="0" sz="1400" u="none" cap="none" strike="noStrike">
              <a:solidFill>
                <a:srgbClr val="000000"/>
              </a:solidFill>
              <a:latin typeface="Arial"/>
              <a:ea typeface="Arial"/>
              <a:cs typeface="Arial"/>
              <a:sym typeface="Arial"/>
            </a:endParaRPr>
          </a:p>
        </p:txBody>
      </p:sp>
      <p:sp>
        <p:nvSpPr>
          <p:cNvPr id="1735" name="Google Shape;1735;h547f90b031e64a91_0_56"/>
          <p:cNvSpPr txBox="1"/>
          <p:nvPr/>
        </p:nvSpPr>
        <p:spPr>
          <a:xfrm>
            <a:off x="3794760"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Table only</a:t>
            </a:r>
            <a:endParaRPr b="0" i="0" sz="1400" u="none" cap="none" strike="noStrike">
              <a:solidFill>
                <a:srgbClr val="000000"/>
              </a:solidFill>
              <a:latin typeface="Arial"/>
              <a:ea typeface="Arial"/>
              <a:cs typeface="Arial"/>
              <a:sym typeface="Arial"/>
            </a:endParaRPr>
          </a:p>
        </p:txBody>
      </p:sp>
      <p:sp>
        <p:nvSpPr>
          <p:cNvPr id="1736" name="Google Shape;1736;h547f90b031e64a91_0_56"/>
          <p:cNvSpPr/>
          <p:nvPr/>
        </p:nvSpPr>
        <p:spPr>
          <a:xfrm>
            <a:off x="6428233" y="3932023"/>
            <a:ext cx="2541900" cy="1362600"/>
          </a:xfrm>
          <a:prstGeom prst="roundRect">
            <a:avLst>
              <a:gd fmla="val 10000" name="adj"/>
            </a:avLst>
          </a:prstGeom>
          <a:solidFill>
            <a:srgbClr val="FFFFFF"/>
          </a:solidFill>
          <a:ln cap="flat" cmpd="sng" w="12700">
            <a:solidFill>
              <a:srgbClr val="D9DEDB"/>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7" name="Google Shape;1737;h547f90b031e64a91_0_56"/>
          <p:cNvSpPr/>
          <p:nvPr/>
        </p:nvSpPr>
        <p:spPr>
          <a:xfrm>
            <a:off x="6556248" y="4054950"/>
            <a:ext cx="310800" cy="310800"/>
          </a:xfrm>
          <a:prstGeom prst="ellipse">
            <a:avLst/>
          </a:prstGeom>
          <a:solidFill>
            <a:srgbClr val="F3F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38" name="Google Shape;1738;h547f90b031e64a91_0_56"/>
          <p:cNvSpPr txBox="1"/>
          <p:nvPr/>
        </p:nvSpPr>
        <p:spPr>
          <a:xfrm>
            <a:off x="6605778" y="4094810"/>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5B6770"/>
                </a:solidFill>
                <a:latin typeface="Consolas"/>
                <a:ea typeface="Consolas"/>
                <a:cs typeface="Consolas"/>
                <a:sym typeface="Consolas"/>
              </a:rPr>
              <a:t>3</a:t>
            </a:r>
            <a:endParaRPr b="0" i="0" sz="1400" u="none" cap="none" strike="noStrike">
              <a:solidFill>
                <a:srgbClr val="000000"/>
              </a:solidFill>
              <a:latin typeface="Arial"/>
              <a:ea typeface="Arial"/>
              <a:cs typeface="Arial"/>
              <a:sym typeface="Arial"/>
            </a:endParaRPr>
          </a:p>
        </p:txBody>
      </p:sp>
      <p:sp>
        <p:nvSpPr>
          <p:cNvPr id="1739" name="Google Shape;1739;h547f90b031e64a91_0_56"/>
          <p:cNvSpPr txBox="1"/>
          <p:nvPr/>
        </p:nvSpPr>
        <p:spPr>
          <a:xfrm>
            <a:off x="6940296"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lang="en-US" sz="1540">
                <a:solidFill>
                  <a:srgbClr val="1F2328"/>
                </a:solidFill>
                <a:latin typeface="Calibri"/>
                <a:ea typeface="Calibri"/>
                <a:cs typeface="Calibri"/>
                <a:sym typeface="Calibri"/>
              </a:rPr>
              <a:t>Non-Iterative RAG </a:t>
            </a:r>
            <a:endParaRPr b="0" i="0" sz="1400" u="none" cap="none" strike="noStrike">
              <a:solidFill>
                <a:srgbClr val="000000"/>
              </a:solidFill>
              <a:latin typeface="Arial"/>
              <a:ea typeface="Arial"/>
              <a:cs typeface="Arial"/>
              <a:sym typeface="Arial"/>
            </a:endParaRPr>
          </a:p>
        </p:txBody>
      </p:sp>
      <p:sp>
        <p:nvSpPr>
          <p:cNvPr id="1740" name="Google Shape;1740;h547f90b031e64a91_0_56"/>
          <p:cNvSpPr txBox="1"/>
          <p:nvPr/>
        </p:nvSpPr>
        <p:spPr>
          <a:xfrm>
            <a:off x="6592824"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One-pass RAG</a:t>
            </a:r>
            <a:endParaRPr b="0" i="0" sz="1400" u="none" cap="none" strike="noStrike">
              <a:solidFill>
                <a:srgbClr val="000000"/>
              </a:solidFill>
              <a:latin typeface="Arial"/>
              <a:ea typeface="Arial"/>
              <a:cs typeface="Arial"/>
              <a:sym typeface="Arial"/>
            </a:endParaRPr>
          </a:p>
        </p:txBody>
      </p:sp>
      <p:sp>
        <p:nvSpPr>
          <p:cNvPr id="1741" name="Google Shape;1741;h547f90b031e64a91_0_56"/>
          <p:cNvSpPr/>
          <p:nvPr/>
        </p:nvSpPr>
        <p:spPr>
          <a:xfrm>
            <a:off x="9226300" y="3932023"/>
            <a:ext cx="2541900" cy="1362600"/>
          </a:xfrm>
          <a:prstGeom prst="roundRect">
            <a:avLst>
              <a:gd fmla="val 10000" name="adj"/>
            </a:avLst>
          </a:prstGeom>
          <a:solidFill>
            <a:srgbClr val="E6F2EC"/>
          </a:solidFill>
          <a:ln cap="flat" cmpd="sng" w="15225">
            <a:solidFill>
              <a:srgbClr val="0B6E4F"/>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2" name="Google Shape;1742;h547f90b031e64a91_0_56"/>
          <p:cNvSpPr/>
          <p:nvPr/>
        </p:nvSpPr>
        <p:spPr>
          <a:xfrm>
            <a:off x="9354137" y="4074600"/>
            <a:ext cx="310800" cy="310800"/>
          </a:xfrm>
          <a:prstGeom prst="ellipse">
            <a:avLst/>
          </a:prstGeom>
          <a:solidFill>
            <a:srgbClr val="0B6E4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3" name="Google Shape;1743;h547f90b031e64a91_0_56"/>
          <p:cNvSpPr txBox="1"/>
          <p:nvPr/>
        </p:nvSpPr>
        <p:spPr>
          <a:xfrm>
            <a:off x="9395967" y="4122308"/>
            <a:ext cx="219600" cy="2154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400"/>
              <a:buFont typeface="Arial"/>
              <a:buNone/>
            </a:pPr>
            <a:r>
              <a:rPr b="1" i="0" lang="en-US" sz="1400" u="none" cap="none" strike="noStrike">
                <a:solidFill>
                  <a:srgbClr val="FFFFFF"/>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1744" name="Google Shape;1744;h547f90b031e64a91_0_56"/>
          <p:cNvSpPr txBox="1"/>
          <p:nvPr/>
        </p:nvSpPr>
        <p:spPr>
          <a:xfrm>
            <a:off x="9738360" y="4078318"/>
            <a:ext cx="1902000" cy="23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540"/>
              <a:buFont typeface="Arial"/>
              <a:buNone/>
            </a:pPr>
            <a:r>
              <a:rPr b="1" i="0" lang="en-US" sz="154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1745" name="Google Shape;1745;h547f90b031e64a91_0_56"/>
          <p:cNvSpPr txBox="1"/>
          <p:nvPr/>
        </p:nvSpPr>
        <p:spPr>
          <a:xfrm>
            <a:off x="9390888" y="4434934"/>
            <a:ext cx="2222100" cy="2340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20"/>
              <a:buFont typeface="Arial"/>
              <a:buNone/>
            </a:pPr>
            <a:r>
              <a:rPr b="0" i="0" lang="en-US" sz="1520" u="none" cap="none" strike="noStrike">
                <a:solidFill>
                  <a:srgbClr val="5B6770"/>
                </a:solidFill>
                <a:latin typeface="Calibri"/>
                <a:ea typeface="Calibri"/>
                <a:cs typeface="Calibri"/>
                <a:sym typeface="Calibri"/>
              </a:rPr>
              <a:t>Ground + grow + check</a:t>
            </a:r>
            <a:endParaRPr b="0" i="0" sz="1400" u="none" cap="none" strike="noStrike">
              <a:solidFill>
                <a:srgbClr val="000000"/>
              </a:solidFill>
              <a:latin typeface="Arial"/>
              <a:ea typeface="Arial"/>
              <a:cs typeface="Arial"/>
              <a:sym typeface="Arial"/>
            </a:endParaRPr>
          </a:p>
        </p:txBody>
      </p:sp>
      <p:sp>
        <p:nvSpPr>
          <p:cNvPr id="1746" name="Google Shape;1746;h547f90b031e64a91_0_56"/>
          <p:cNvSpPr/>
          <p:nvPr/>
        </p:nvSpPr>
        <p:spPr>
          <a:xfrm>
            <a:off x="865650" y="5589725"/>
            <a:ext cx="10460700" cy="685800"/>
          </a:xfrm>
          <a:prstGeom prst="roundRect">
            <a:avLst>
              <a:gd fmla="val 10000" name="adj"/>
            </a:avLst>
          </a:prstGeom>
          <a:solidFill>
            <a:srgbClr val="E6F2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747" name="Google Shape;1747;h547f90b031e64a91_0_56"/>
          <p:cNvSpPr txBox="1"/>
          <p:nvPr/>
        </p:nvSpPr>
        <p:spPr>
          <a:xfrm>
            <a:off x="1057646" y="5816618"/>
            <a:ext cx="10076700" cy="238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550"/>
              <a:buFont typeface="Arial"/>
              <a:buNone/>
            </a:pPr>
            <a:r>
              <a:rPr b="1" lang="en-US" sz="1550">
                <a:solidFill>
                  <a:srgbClr val="0B6E4F"/>
                </a:solidFill>
                <a:latin typeface="Calibri"/>
                <a:ea typeface="Calibri"/>
                <a:cs typeface="Calibri"/>
                <a:sym typeface="Calibri"/>
              </a:rPr>
              <a:t>30 ONTOLOGIES   </a:t>
            </a:r>
            <a:r>
              <a:rPr lang="en-US" sz="1550">
                <a:solidFill>
                  <a:srgbClr val="1F2328"/>
                </a:solidFill>
                <a:latin typeface="Calibri"/>
                <a:ea typeface="Calibri"/>
                <a:cs typeface="Calibri"/>
                <a:sym typeface="Calibri"/>
              </a:rPr>
              <a:t>→ checked by quality checks · LLM-as-a-Judge (GPT-5.4) · 10 human experts · BURR benchmark [1] </a:t>
            </a:r>
            <a:endParaRPr b="0" i="0" sz="1400" u="none" cap="none" strike="noStrike">
              <a:solidFill>
                <a:srgbClr val="000000"/>
              </a:solidFill>
              <a:latin typeface="Arial"/>
              <a:ea typeface="Arial"/>
              <a:cs typeface="Arial"/>
              <a:sym typeface="Arial"/>
            </a:endParaRPr>
          </a:p>
        </p:txBody>
      </p:sp>
      <p:sp>
        <p:nvSpPr>
          <p:cNvPr id="1748" name="Google Shape;1748;h547f90b031e64a91_0_56"/>
          <p:cNvSpPr/>
          <p:nvPr/>
        </p:nvSpPr>
        <p:spPr>
          <a:xfrm>
            <a:off x="4694403" y="3180217"/>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PhysioNet </a:t>
            </a:r>
            <a:r>
              <a:rPr b="0" i="0" lang="en-US" sz="1000" u="none" cap="none" strike="noStrike">
                <a:solidFill>
                  <a:srgbClr val="5B6770"/>
                </a:solidFill>
                <a:latin typeface="Calibri"/>
                <a:ea typeface="Calibri"/>
                <a:cs typeface="Calibri"/>
                <a:sym typeface="Calibri"/>
              </a:rPr>
              <a:t>[Pollard et al., Sci. Data 2018]  </a:t>
            </a:r>
            <a:endParaRPr/>
          </a:p>
        </p:txBody>
      </p:sp>
      <p:sp>
        <p:nvSpPr>
          <p:cNvPr id="1749" name="Google Shape;1749;h547f90b031e64a91_0_56"/>
          <p:cNvSpPr/>
          <p:nvPr/>
        </p:nvSpPr>
        <p:spPr>
          <a:xfrm>
            <a:off x="8325528" y="318719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Chinook Database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Rocha n.d.; accessed 2026]</a:t>
            </a:r>
            <a:r>
              <a:rPr b="0" i="0" lang="en-US" sz="1000" u="none" cap="none" strike="noStrike">
                <a:solidFill>
                  <a:srgbClr val="5B6770"/>
                </a:solidFill>
                <a:latin typeface="Calibri"/>
                <a:ea typeface="Calibri"/>
                <a:cs typeface="Calibri"/>
                <a:sym typeface="Calibri"/>
              </a:rPr>
              <a:t> </a:t>
            </a:r>
            <a:endParaRPr/>
          </a:p>
        </p:txBody>
      </p:sp>
      <p:sp>
        <p:nvSpPr>
          <p:cNvPr id="1750" name="Google Shape;1750;h547f90b031e64a91_0_56"/>
          <p:cNvSpPr/>
          <p:nvPr/>
        </p:nvSpPr>
        <p:spPr>
          <a:xfrm>
            <a:off x="960128" y="3211330"/>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Universitätsklinikum Leipzig</a:t>
            </a:r>
            <a:endParaRPr b="1" sz="1000">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a:p>
        </p:txBody>
      </p:sp>
      <p:pic>
        <p:nvPicPr>
          <p:cNvPr id="1751" name="Google Shape;1751;h547f90b031e64a91_0_56" title="ChatGPT Image Oct 28, 2026, 02_33_00 PM-2.png"/>
          <p:cNvPicPr preferRelativeResize="0"/>
          <p:nvPr/>
        </p:nvPicPr>
        <p:blipFill>
          <a:blip r:embed="rId3">
            <a:alphaModFix/>
          </a:blip>
          <a:stretch>
            <a:fillRect/>
          </a:stretch>
        </p:blipFill>
        <p:spPr>
          <a:xfrm>
            <a:off x="7070399" y="1910023"/>
            <a:ext cx="830001" cy="830001"/>
          </a:xfrm>
          <a:prstGeom prst="rect">
            <a:avLst/>
          </a:prstGeom>
          <a:noFill/>
          <a:ln>
            <a:noFill/>
          </a:ln>
        </p:spPr>
      </p:pic>
      <p:pic>
        <p:nvPicPr>
          <p:cNvPr id="1752" name="Google Shape;1752;h547f90b031e64a91_0_56" title="ChatGPT Image Oct 28, 2026, 02_33_01 PM-3.png"/>
          <p:cNvPicPr preferRelativeResize="0"/>
          <p:nvPr/>
        </p:nvPicPr>
        <p:blipFill>
          <a:blip r:embed="rId4">
            <a:alphaModFix/>
          </a:blip>
          <a:stretch>
            <a:fillRect/>
          </a:stretch>
        </p:blipFill>
        <p:spPr>
          <a:xfrm>
            <a:off x="10759640" y="1928292"/>
            <a:ext cx="830001" cy="830001"/>
          </a:xfrm>
          <a:prstGeom prst="rect">
            <a:avLst/>
          </a:prstGeom>
          <a:noFill/>
          <a:ln>
            <a:noFill/>
          </a:ln>
        </p:spPr>
      </p:pic>
      <p:sp>
        <p:nvSpPr>
          <p:cNvPr id="1753" name="Google Shape;1753;h547f90b031e64a91_0_56"/>
          <p:cNvSpPr/>
          <p:nvPr/>
        </p:nvSpPr>
        <p:spPr>
          <a:xfrm>
            <a:off x="913950" y="4899249"/>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Direct Mapping </a:t>
            </a:r>
            <a:r>
              <a:rPr b="0" i="0" lang="en-US" sz="1000" u="none" cap="none" strike="noStrike">
                <a:solidFill>
                  <a:srgbClr val="5B6770"/>
                </a:solidFill>
                <a:latin typeface="Calibri"/>
                <a:ea typeface="Calibri"/>
                <a:cs typeface="Calibri"/>
                <a:sym typeface="Calibri"/>
              </a:rPr>
              <a:t>[Sequeda et al., WWW 2012]  </a:t>
            </a:r>
            <a:endParaRPr/>
          </a:p>
        </p:txBody>
      </p:sp>
      <p:sp>
        <p:nvSpPr>
          <p:cNvPr id="1754" name="Google Shape;1754;h547f90b031e64a91_0_56"/>
          <p:cNvSpPr/>
          <p:nvPr/>
        </p:nvSpPr>
        <p:spPr>
          <a:xfrm>
            <a:off x="3758175" y="4899277"/>
            <a:ext cx="2319900" cy="215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Ontology engineering with large language models </a:t>
            </a:r>
            <a:r>
              <a:rPr b="0" i="0" lang="en-US" sz="1000" u="none" cap="none" strike="noStrike">
                <a:solidFill>
                  <a:srgbClr val="5B6770"/>
                </a:solidFill>
                <a:latin typeface="Calibri"/>
                <a:ea typeface="Calibri"/>
                <a:cs typeface="Calibri"/>
                <a:sym typeface="Calibri"/>
              </a:rPr>
              <a:t>[</a:t>
            </a:r>
            <a:r>
              <a:rPr lang="en-US" sz="1000">
                <a:solidFill>
                  <a:srgbClr val="5B6770"/>
                </a:solidFill>
                <a:latin typeface="Calibri"/>
                <a:ea typeface="Calibri"/>
                <a:cs typeface="Calibri"/>
                <a:sym typeface="Calibri"/>
              </a:rPr>
              <a:t>Mateiu &amp; Groza, SYNASC 2023]</a:t>
            </a:r>
            <a:r>
              <a:rPr b="0" i="0" lang="en-US" sz="1000" u="none" cap="none" strike="noStrike">
                <a:solidFill>
                  <a:srgbClr val="5B6770"/>
                </a:solidFill>
                <a:latin typeface="Calibri"/>
                <a:ea typeface="Calibri"/>
                <a:cs typeface="Calibri"/>
                <a:sym typeface="Calibri"/>
              </a:rPr>
              <a:t>  </a:t>
            </a:r>
            <a:endParaRPr/>
          </a:p>
        </p:txBody>
      </p:sp>
      <p:pic>
        <p:nvPicPr>
          <p:cNvPr id="1755" name="Google Shape;1755;h547f90b031e64a91_0_56" title="ChatGPT Image Oct 28, 2026, 02_32_59 PM-1.png"/>
          <p:cNvPicPr preferRelativeResize="0"/>
          <p:nvPr/>
        </p:nvPicPr>
        <p:blipFill>
          <a:blip r:embed="rId5">
            <a:alphaModFix/>
          </a:blip>
          <a:stretch>
            <a:fillRect/>
          </a:stretch>
        </p:blipFill>
        <p:spPr>
          <a:xfrm>
            <a:off x="3508704" y="1925173"/>
            <a:ext cx="685800" cy="685800"/>
          </a:xfrm>
          <a:prstGeom prst="rect">
            <a:avLst/>
          </a:prstGeom>
          <a:noFill/>
          <a:ln>
            <a:noFill/>
          </a:ln>
        </p:spPr>
      </p:pic>
      <p:sp>
        <p:nvSpPr>
          <p:cNvPr id="1756" name="Google Shape;1756;h547f90b031e64a91_0_56"/>
          <p:cNvSpPr/>
          <p:nvPr/>
        </p:nvSpPr>
        <p:spPr>
          <a:xfrm>
            <a:off x="913950" y="6486274"/>
            <a:ext cx="3026700" cy="15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[1] BURR benchmark</a:t>
            </a:r>
            <a:r>
              <a:rPr b="1" lang="en-US" sz="1000">
                <a:solidFill>
                  <a:srgbClr val="5B6770"/>
                </a:solidFill>
                <a:latin typeface="Calibri"/>
                <a:ea typeface="Calibri"/>
                <a:cs typeface="Calibri"/>
                <a:sym typeface="Calibri"/>
              </a:rPr>
              <a:t> </a:t>
            </a:r>
            <a:r>
              <a:rPr lang="en-US" sz="1000">
                <a:solidFill>
                  <a:srgbClr val="5B6770"/>
                </a:solidFill>
                <a:latin typeface="Calibri"/>
                <a:ea typeface="Calibri"/>
                <a:cs typeface="Calibri"/>
                <a:sym typeface="Calibri"/>
              </a:rPr>
              <a:t>[Laskowski et al., PACMMOD 2025]</a:t>
            </a:r>
            <a:endParaRPr/>
          </a:p>
        </p:txBody>
      </p:sp>
      <p:sp>
        <p:nvSpPr>
          <p:cNvPr id="1757" name="Slide number 1757"/>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13</a:t>
            </a: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1  /  VALID, WITH FEWER ERRORS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Every ontology is valid. RIGOR's have far fewer modeling errors.</a:t>
            </a:r>
            <a:endParaRPr b="0" i="0" sz="1400" u="none" cap="none" strike="noStrike">
              <a:solidFill>
                <a:srgbClr val="000000"/>
              </a:solidFill>
              <a:latin typeface="Arial"/>
              <a:ea typeface="Arial"/>
              <a:cs typeface="Arial"/>
              <a:sym typeface="Arial"/>
            </a:endParaRPr>
          </a:p>
        </p:txBody>
      </p:sp>
      <p:sp>
        <p:nvSpPr>
          <p:cNvPr id="1764" name="Google Shape;1764;h547f90b031e64a91_0_458"/>
          <p:cNvSpPr txBox="1"/>
          <p:nvPr/>
        </p:nvSpPr>
        <p:spPr>
          <a:xfrm>
            <a:off x="822960" y="1645920"/>
            <a:ext cx="106803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3A434C"/>
                </a:solidFill>
                <a:latin typeface="Calibri"/>
                <a:ea typeface="Calibri"/>
                <a:cs typeface="Calibri"/>
                <a:sym typeface="Calibri"/>
              </a:rPr>
              <a:t>All 30 ontologies</a:t>
            </a:r>
            <a:r>
              <a:rPr b="1" i="0" lang="en-US" sz="1600" u="none" cap="none" strike="noStrike">
                <a:solidFill>
                  <a:srgbClr val="3A434C"/>
                </a:solidFill>
                <a:latin typeface="Calibri"/>
                <a:ea typeface="Calibri"/>
                <a:cs typeface="Calibri"/>
                <a:sym typeface="Calibri"/>
              </a:rPr>
              <a:t> parse without errors </a:t>
            </a:r>
            <a:r>
              <a:rPr b="1" lang="en-US" sz="1600">
                <a:solidFill>
                  <a:srgbClr val="3A434C"/>
                </a:solidFill>
                <a:latin typeface="Calibri"/>
                <a:ea typeface="Calibri"/>
                <a:cs typeface="Calibri"/>
                <a:sym typeface="Calibri"/>
              </a:rPr>
              <a:t/>
            </a:r>
            <a:r>
              <a:rPr b="1" i="0" lang="en-US" sz="1600" u="none" cap="none" strike="noStrike">
                <a:solidFill>
                  <a:srgbClr val="3A434C"/>
                </a:solidFill>
                <a:latin typeface="Calibri"/>
                <a:ea typeface="Calibri"/>
                <a:cs typeface="Calibri"/>
                <a:sym typeface="Calibri"/>
              </a:rPr>
              <a:t/>
            </a:r>
            <a:r>
              <a:rPr b="0" i="0" lang="en-US" sz="1600" u="none" cap="none" strike="noStrike">
                <a:solidFill>
                  <a:srgbClr val="3A434C"/>
                </a:solidFill>
                <a:latin typeface="Calibri"/>
                <a:ea typeface="Calibri"/>
                <a:cs typeface="Calibri"/>
                <a:sym typeface="Calibri"/>
              </a:rPr>
              <a:t>(RDFLib) and are </a:t>
            </a:r>
            <a:r>
              <a:rPr b="1" i="0" lang="en-US" sz="1600" u="none" cap="none" strike="noStrike">
                <a:solidFill>
                  <a:srgbClr val="3A434C"/>
                </a:solidFill>
                <a:latin typeface="Calibri"/>
                <a:ea typeface="Calibri"/>
                <a:cs typeface="Calibri"/>
                <a:sym typeface="Calibri"/>
              </a:rPr>
              <a:t>logically consistent</a:t>
            </a:r>
            <a:r>
              <a:rPr b="0" i="0" lang="en-US" sz="1600" u="none" cap="none" strike="noStrike">
                <a:solidFill>
                  <a:srgbClr val="3A434C"/>
                </a:solidFill>
                <a:latin typeface="Calibri"/>
                <a:ea typeface="Calibri"/>
                <a:cs typeface="Calibri"/>
                <a:sym typeface="Calibri"/>
              </a:rPr>
              <a:t> (HermiT). So we look deeper.</a:t>
            </a:r>
            <a:endParaRPr/>
          </a:p>
        </p:txBody>
      </p:sp>
      <p:sp>
        <p:nvSpPr>
          <p:cNvPr id="1765" name="Google Shape;1765;h547f90b031e64a91_0_458"/>
          <p:cNvSpPr/>
          <p:nvPr/>
        </p:nvSpPr>
        <p:spPr>
          <a:xfrm>
            <a:off x="804672"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1  VALID, FEWER ERRORS</a:t>
            </a:r>
            <a:endParaRPr/>
          </a:p>
        </p:txBody>
      </p:sp>
      <p:sp>
        <p:nvSpPr>
          <p:cNvPr id="1766" name="Google Shape;1766;h547f90b031e64a91_0_458"/>
          <p:cNvSpPr/>
          <p:nvPr/>
        </p:nvSpPr>
        <p:spPr>
          <a:xfrm>
            <a:off x="293888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2  KEEPS THE SCHEMA</a:t>
            </a:r>
            <a:endParaRPr/>
          </a:p>
        </p:txBody>
      </p:sp>
      <p:sp>
        <p:nvSpPr>
          <p:cNvPr id="1767" name="Google Shape;1767;h547f90b031e64a91_0_458"/>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3  ADDS MEANING</a:t>
            </a:r>
            <a:endParaRPr/>
          </a:p>
        </p:txBody>
      </p:sp>
      <p:sp>
        <p:nvSpPr>
          <p:cNvPr id="1768" name="Google Shape;1768;h547f90b031e64a91_0_458"/>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4  GOLD MAPPINGS</a:t>
            </a:r>
            <a:endParaRPr/>
          </a:p>
        </p:txBody>
      </p:sp>
      <p:sp>
        <p:nvSpPr>
          <p:cNvPr id="1769" name="Google Shape;1769;h547f90b031e64a91_0_458"/>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5  JUDGES</a:t>
            </a:r>
            <a:endParaRPr/>
          </a:p>
        </p:txBody>
      </p:sp>
      <p:sp>
        <p:nvSpPr>
          <p:cNvPr id="1770" name="Google Shape;1770;h547f90b031e64a91_0_458"/>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1" name="Google Shape;1771;h547f90b031e64a91_0_458"/>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MODELING ERRORS FOUND BY OOPS!</a:t>
            </a:r>
            <a:endParaRPr/>
          </a:p>
        </p:txBody>
      </p:sp>
      <p:sp>
        <p:nvSpPr>
          <p:cNvPr id="1772" name="Google Shape;1772;h547f90b031e64a91_0_458"/>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pitfalls per ontology, fewer is better</a:t>
            </a:r>
            <a:endParaRPr/>
          </a:p>
        </p:txBody>
      </p:sp>
      <p:sp>
        <p:nvSpPr>
          <p:cNvPr id="1773" name="Google Shape;1773;h547f90b031e64a91_0_458"/>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Liver Cancer</a:t>
            </a:r>
            <a:endParaRPr/>
          </a:p>
        </p:txBody>
      </p:sp>
      <p:sp>
        <p:nvSpPr>
          <p:cNvPr id="1774" name="Google Shape;1774;h547f90b031e64a91_0_458"/>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eICU-CRD</a:t>
            </a:r>
            <a:endParaRPr/>
          </a:p>
        </p:txBody>
      </p:sp>
      <p:sp>
        <p:nvSpPr>
          <p:cNvPr id="1775" name="Google Shape;1775;h547f90b031e64a91_0_458"/>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Chinook</a:t>
            </a:r>
            <a:endParaRPr/>
          </a:p>
        </p:txBody>
      </p:sp>
      <p:sp>
        <p:nvSpPr>
          <p:cNvPr id="1776" name="Google Shape;1776;h547f90b031e64a91_0_458"/>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5B6770"/>
                </a:solidFill>
                <a:latin typeface="Calibri"/>
                <a:ea typeface="Calibri"/>
                <a:cs typeface="Calibri"/>
                <a:sym typeface="Calibri"/>
              </a:rPr>
              <a:t>Avg</a:t>
            </a:r>
            <a:endParaRPr/>
          </a:p>
        </p:txBody>
      </p:sp>
      <p:sp>
        <p:nvSpPr>
          <p:cNvPr id="1777" name="Google Shape;1777;h547f90b031e64a91_0_458"/>
          <p:cNvSpPr txBox="1"/>
          <p:nvPr/>
        </p:nvSpPr>
        <p:spPr>
          <a:xfrm>
            <a:off x="1078992" y="3699562"/>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778" name="Google Shape;1778;h547f90b031e64a91_0_458"/>
          <p:cNvSpPr/>
          <p:nvPr/>
        </p:nvSpPr>
        <p:spPr>
          <a:xfrm>
            <a:off x="2697479" y="3717850"/>
            <a:ext cx="24873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731</a:t>
            </a:r>
            <a:endParaRPr/>
          </a:p>
        </p:txBody>
      </p:sp>
      <p:sp>
        <p:nvSpPr>
          <p:cNvPr id="1779" name="Google Shape;1779;h547f90b031e64a91_0_458"/>
          <p:cNvSpPr/>
          <p:nvPr/>
        </p:nvSpPr>
        <p:spPr>
          <a:xfrm>
            <a:off x="5221223" y="3717850"/>
            <a:ext cx="24873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665</a:t>
            </a:r>
            <a:endParaRPr/>
          </a:p>
        </p:txBody>
      </p:sp>
      <p:sp>
        <p:nvSpPr>
          <p:cNvPr id="1780" name="Google Shape;1780;h547f90b031e64a91_0_458"/>
          <p:cNvSpPr/>
          <p:nvPr/>
        </p:nvSpPr>
        <p:spPr>
          <a:xfrm>
            <a:off x="7744967" y="3717850"/>
            <a:ext cx="24873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102</a:t>
            </a:r>
            <a:endParaRPr/>
          </a:p>
        </p:txBody>
      </p:sp>
      <p:sp>
        <p:nvSpPr>
          <p:cNvPr id="1781" name="Google Shape;1781;h547f90b031e64a91_0_458"/>
          <p:cNvSpPr txBox="1"/>
          <p:nvPr/>
        </p:nvSpPr>
        <p:spPr>
          <a:xfrm>
            <a:off x="10296144" y="3699562"/>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499</a:t>
            </a:r>
            <a:endParaRPr/>
          </a:p>
        </p:txBody>
      </p:sp>
      <p:sp>
        <p:nvSpPr>
          <p:cNvPr id="1782" name="Google Shape;1782;h547f90b031e64a91_0_458"/>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783" name="Google Shape;1783;h547f90b031e64a91_0_458"/>
          <p:cNvSpPr/>
          <p:nvPr/>
        </p:nvSpPr>
        <p:spPr>
          <a:xfrm>
            <a:off x="2697479"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422</a:t>
            </a:r>
            <a:endParaRPr/>
          </a:p>
        </p:txBody>
      </p:sp>
      <p:sp>
        <p:nvSpPr>
          <p:cNvPr id="1784" name="Google Shape;1784;h547f90b031e64a91_0_458"/>
          <p:cNvSpPr/>
          <p:nvPr/>
        </p:nvSpPr>
        <p:spPr>
          <a:xfrm>
            <a:off x="3538727"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397</a:t>
            </a:r>
            <a:endParaRPr/>
          </a:p>
        </p:txBody>
      </p:sp>
      <p:sp>
        <p:nvSpPr>
          <p:cNvPr id="1785" name="Google Shape;1785;h547f90b031e64a91_0_458"/>
          <p:cNvSpPr/>
          <p:nvPr/>
        </p:nvSpPr>
        <p:spPr>
          <a:xfrm>
            <a:off x="4379975"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403</a:t>
            </a:r>
            <a:endParaRPr/>
          </a:p>
        </p:txBody>
      </p:sp>
      <p:sp>
        <p:nvSpPr>
          <p:cNvPr id="1786" name="Google Shape;1786;h547f90b031e64a91_0_458"/>
          <p:cNvSpPr/>
          <p:nvPr/>
        </p:nvSpPr>
        <p:spPr>
          <a:xfrm>
            <a:off x="5221223"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434</a:t>
            </a:r>
            <a:endParaRPr/>
          </a:p>
        </p:txBody>
      </p:sp>
      <p:sp>
        <p:nvSpPr>
          <p:cNvPr id="1787" name="Google Shape;1787;h547f90b031e64a91_0_458"/>
          <p:cNvSpPr/>
          <p:nvPr/>
        </p:nvSpPr>
        <p:spPr>
          <a:xfrm>
            <a:off x="6062471"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440</a:t>
            </a:r>
            <a:endParaRPr/>
          </a:p>
        </p:txBody>
      </p:sp>
      <p:sp>
        <p:nvSpPr>
          <p:cNvPr id="1788" name="Google Shape;1788;h547f90b031e64a91_0_458"/>
          <p:cNvSpPr/>
          <p:nvPr/>
        </p:nvSpPr>
        <p:spPr>
          <a:xfrm>
            <a:off x="6903720" y="43159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421</a:t>
            </a:r>
            <a:endParaRPr/>
          </a:p>
        </p:txBody>
      </p:sp>
      <p:sp>
        <p:nvSpPr>
          <p:cNvPr id="1789" name="Google Shape;1789;h547f90b031e64a91_0_458"/>
          <p:cNvSpPr/>
          <p:nvPr/>
        </p:nvSpPr>
        <p:spPr>
          <a:xfrm>
            <a:off x="7744967"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95</a:t>
            </a:r>
            <a:endParaRPr/>
          </a:p>
        </p:txBody>
      </p:sp>
      <p:sp>
        <p:nvSpPr>
          <p:cNvPr id="1790" name="Google Shape;1790;h547f90b031e64a91_0_458"/>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74</a:t>
            </a:r>
            <a:endParaRPr/>
          </a:p>
        </p:txBody>
      </p:sp>
      <p:sp>
        <p:nvSpPr>
          <p:cNvPr id="1791" name="Google Shape;1791;h547f90b031e64a91_0_458"/>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81</a:t>
            </a:r>
            <a:endParaRPr/>
          </a:p>
        </p:txBody>
      </p:sp>
      <p:sp>
        <p:nvSpPr>
          <p:cNvPr id="1792" name="Google Shape;1792;h547f90b031e64a91_0_458"/>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307</a:t>
            </a:r>
            <a:endParaRPr/>
          </a:p>
        </p:txBody>
      </p:sp>
      <p:sp>
        <p:nvSpPr>
          <p:cNvPr id="1793" name="Google Shape;1793;h547f90b031e64a91_0_458"/>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794" name="Google Shape;1794;h547f90b031e64a91_0_458"/>
          <p:cNvSpPr/>
          <p:nvPr/>
        </p:nvSpPr>
        <p:spPr>
          <a:xfrm>
            <a:off x="2697479"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29</a:t>
            </a:r>
            <a:endParaRPr/>
          </a:p>
        </p:txBody>
      </p:sp>
      <p:sp>
        <p:nvSpPr>
          <p:cNvPr id="1795" name="Google Shape;1795;h547f90b031e64a91_0_458"/>
          <p:cNvSpPr/>
          <p:nvPr/>
        </p:nvSpPr>
        <p:spPr>
          <a:xfrm>
            <a:off x="353872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61</a:t>
            </a:r>
            <a:endParaRPr/>
          </a:p>
        </p:txBody>
      </p:sp>
      <p:sp>
        <p:nvSpPr>
          <p:cNvPr id="1796" name="Google Shape;1796;h547f90b031e64a91_0_458"/>
          <p:cNvSpPr/>
          <p:nvPr/>
        </p:nvSpPr>
        <p:spPr>
          <a:xfrm>
            <a:off x="4379975"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18</a:t>
            </a:r>
            <a:endParaRPr/>
          </a:p>
        </p:txBody>
      </p:sp>
      <p:sp>
        <p:nvSpPr>
          <p:cNvPr id="1797" name="Google Shape;1797;h547f90b031e64a91_0_458"/>
          <p:cNvSpPr/>
          <p:nvPr/>
        </p:nvSpPr>
        <p:spPr>
          <a:xfrm>
            <a:off x="5221223"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39</a:t>
            </a:r>
            <a:endParaRPr/>
          </a:p>
        </p:txBody>
      </p:sp>
      <p:sp>
        <p:nvSpPr>
          <p:cNvPr id="1798" name="Google Shape;1798;h547f90b031e64a91_0_458"/>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220</a:t>
            </a:r>
            <a:endParaRPr/>
          </a:p>
        </p:txBody>
      </p:sp>
      <p:sp>
        <p:nvSpPr>
          <p:cNvPr id="1799" name="Google Shape;1799;h547f90b031e64a91_0_458"/>
          <p:cNvSpPr/>
          <p:nvPr/>
        </p:nvSpPr>
        <p:spPr>
          <a:xfrm>
            <a:off x="6903720"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27</a:t>
            </a:r>
            <a:endParaRPr/>
          </a:p>
        </p:txBody>
      </p:sp>
      <p:sp>
        <p:nvSpPr>
          <p:cNvPr id="1800" name="Google Shape;1800;h547f90b031e64a91_0_458"/>
          <p:cNvSpPr/>
          <p:nvPr/>
        </p:nvSpPr>
        <p:spPr>
          <a:xfrm>
            <a:off x="7744967"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24</a:t>
            </a:r>
            <a:endParaRPr/>
          </a:p>
        </p:txBody>
      </p:sp>
      <p:sp>
        <p:nvSpPr>
          <p:cNvPr id="1801" name="Google Shape;1801;h547f90b031e64a91_0_458"/>
          <p:cNvSpPr/>
          <p:nvPr/>
        </p:nvSpPr>
        <p:spPr>
          <a:xfrm>
            <a:off x="8586216"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35</a:t>
            </a:r>
            <a:endParaRPr/>
          </a:p>
        </p:txBody>
      </p:sp>
      <p:sp>
        <p:nvSpPr>
          <p:cNvPr id="1802" name="Google Shape;1802;h547f90b031e64a91_0_458"/>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14</a:t>
            </a:r>
            <a:endParaRPr/>
          </a:p>
        </p:txBody>
      </p:sp>
      <p:sp>
        <p:nvSpPr>
          <p:cNvPr id="1803" name="Google Shape;1803;h547f90b031e64a91_0_458"/>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52</a:t>
            </a:r>
            <a:endParaRPr/>
          </a:p>
        </p:txBody>
      </p:sp>
      <p:sp>
        <p:nvSpPr>
          <p:cNvPr id="1804" name="Google Shape;1804;h547f90b031e64a91_0_458"/>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805" name="Google Shape;1805;h547f90b031e64a91_0_458"/>
          <p:cNvSpPr/>
          <p:nvPr/>
        </p:nvSpPr>
        <p:spPr>
          <a:xfrm>
            <a:off x="2697479"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20</a:t>
            </a:r>
            <a:endParaRPr/>
          </a:p>
        </p:txBody>
      </p:sp>
      <p:sp>
        <p:nvSpPr>
          <p:cNvPr id="1806" name="Google Shape;1806;h547f90b031e64a91_0_458"/>
          <p:cNvSpPr/>
          <p:nvPr/>
        </p:nvSpPr>
        <p:spPr>
          <a:xfrm>
            <a:off x="3538727"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23</a:t>
            </a:r>
            <a:endParaRPr/>
          </a:p>
        </p:txBody>
      </p:sp>
      <p:sp>
        <p:nvSpPr>
          <p:cNvPr id="1807" name="Google Shape;1807;h547f90b031e64a91_0_458"/>
          <p:cNvSpPr/>
          <p:nvPr/>
        </p:nvSpPr>
        <p:spPr>
          <a:xfrm>
            <a:off x="4379975"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a:t>
            </a:r>
            <a:endParaRPr/>
          </a:p>
        </p:txBody>
      </p:sp>
      <p:sp>
        <p:nvSpPr>
          <p:cNvPr id="1808" name="Google Shape;1808;h547f90b031e64a91_0_458"/>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a:t>
            </a:r>
            <a:endParaRPr/>
          </a:p>
        </p:txBody>
      </p:sp>
      <p:sp>
        <p:nvSpPr>
          <p:cNvPr id="1809" name="Google Shape;1809;h547f90b031e64a91_0_458"/>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a:t>
            </a:r>
            <a:endParaRPr/>
          </a:p>
        </p:txBody>
      </p:sp>
      <p:sp>
        <p:nvSpPr>
          <p:cNvPr id="1810" name="Google Shape;1810;h547f90b031e64a91_0_458"/>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26</a:t>
            </a:r>
            <a:endParaRPr/>
          </a:p>
        </p:txBody>
      </p:sp>
      <p:sp>
        <p:nvSpPr>
          <p:cNvPr id="1811" name="Google Shape;1811;h547f90b031e64a91_0_458"/>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a:t>
            </a:r>
            <a:endParaRPr/>
          </a:p>
        </p:txBody>
      </p:sp>
      <p:sp>
        <p:nvSpPr>
          <p:cNvPr id="1812" name="Google Shape;1812;h547f90b031e64a91_0_458"/>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a:t>
            </a:r>
            <a:endParaRPr/>
          </a:p>
        </p:txBody>
      </p:sp>
      <p:sp>
        <p:nvSpPr>
          <p:cNvPr id="1813" name="Google Shape;1813;h547f90b031e64a91_0_458"/>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a:t>
            </a:r>
            <a:endParaRPr/>
          </a:p>
        </p:txBody>
      </p:sp>
      <p:sp>
        <p:nvSpPr>
          <p:cNvPr id="1814" name="Google Shape;1814;h547f90b031e64a91_0_458"/>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8</a:t>
            </a:r>
            <a:endParaRPr/>
          </a:p>
        </p:txBody>
      </p:sp>
      <p:sp>
        <p:nvSpPr>
          <p:cNvPr id="1815" name="Google Shape;1815;h547f90b031e64a91_0_458"/>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0" i="0" lang="en-US" sz="1400" u="none" cap="none" strike="noStrike">
                <a:solidFill>
                  <a:srgbClr val="3A434C"/>
                </a:solidFill>
                <a:latin typeface="Calibri"/>
                <a:ea typeface="Calibri"/>
                <a:cs typeface="Calibri"/>
                <a:sym typeface="Calibri"/>
              </a:rPr>
              <a:t>Same LLM, same database: </a:t>
            </a:r>
            <a:r>
              <a:rPr b="1" i="0" lang="en-US" sz="1400" u="none" cap="none" strike="noStrike">
                <a:solidFill>
                  <a:srgbClr val="B23A1E"/>
                </a:solidFill>
                <a:latin typeface="Calibri"/>
                <a:ea typeface="Calibri"/>
                <a:cs typeface="Calibri"/>
                <a:sym typeface="Calibri"/>
              </a:rPr>
              <a:t>Mistral on eICU, 220 with Non-Iterative RAG</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0B6E4F"/>
                </a:solidFill>
                <a:latin typeface="Calibri"/>
                <a:ea typeface="Calibri"/>
                <a:cs typeface="Calibri"/>
                <a:sym typeface="Calibri"/>
              </a:rPr>
              <a:t>2 with RIGOR.</a:t>
            </a:r>
            <a:r>
              <a:rPr b="0" i="0" lang="en-US" sz="1400" u="none" cap="none" strike="noStrike">
                <a:solidFill>
                  <a:srgbClr val="3A434C"/>
                </a:solidFill>
                <a:latin typeface="Calibri"/>
                <a:ea typeface="Calibri"/>
                <a:cs typeface="Calibri"/>
                <a:sym typeface="Calibri"/>
              </a:rPr>
              <a:t>  On Chinook, RIGOR has zero with every LLM.</a:t>
            </a:r>
            <a:endParaRPr/>
          </a:p>
        </p:txBody>
      </p:sp>
      <p:sp>
        <p:nvSpPr>
          <p:cNvPr id="1816" name="Google Shape;1816;h547f90b031e64a91_0_458"/>
          <p:cNvSpPr/>
          <p:nvPr/>
        </p:nvSpPr>
        <p:spPr>
          <a:xfrm>
            <a:off x="822950" y="6510550"/>
            <a:ext cx="50511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5B6770"/>
                </a:solidFill>
                <a:latin typeface="Calibri"/>
                <a:ea typeface="Calibri"/>
                <a:cs typeface="Calibri"/>
                <a:sym typeface="Calibri"/>
              </a:rPr>
              <a:t>OOPS!</a:t>
            </a:r>
            <a:r>
              <a:rPr lang="en-US" sz="1000">
                <a:solidFill>
                  <a:srgbClr val="5B6770"/>
                </a:solidFill>
                <a:latin typeface="Calibri"/>
                <a:ea typeface="Calibri"/>
                <a:cs typeface="Calibri"/>
                <a:sym typeface="Calibri"/>
              </a:rPr>
              <a:t> [Poveda-Villalón et al., IJSWIS 2014]</a:t>
            </a:r>
            <a:r>
              <a:rPr b="0" i="0" lang="en-US" sz="1000" u="none" cap="none" strike="noStrike">
                <a:solidFill>
                  <a:srgbClr val="5B6770"/>
                </a:solidFill>
                <a:latin typeface="Calibri"/>
                <a:ea typeface="Calibri"/>
                <a:cs typeface="Calibri"/>
                <a:sym typeface="Calibri"/>
              </a:rPr>
              <a:t> </a:t>
            </a:r>
            <a:endParaRPr/>
          </a:p>
        </p:txBody>
      </p:sp>
      <p:sp>
        <p:nvSpPr>
          <p:cNvPr id="1817" name="Google Shape;1817;h547f90b031e64a91_0_458"/>
          <p:cNvSpPr txBox="1"/>
          <p:nvPr/>
        </p:nvSpPr>
        <p:spPr>
          <a:xfrm>
            <a:off x="2679191"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18" name="Google Shape;1818;h547f90b031e64a91_0_458"/>
          <p:cNvSpPr txBox="1"/>
          <p:nvPr/>
        </p:nvSpPr>
        <p:spPr>
          <a:xfrm>
            <a:off x="3520439"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19" name="Google Shape;1819;h547f90b031e64a91_0_458"/>
          <p:cNvSpPr txBox="1"/>
          <p:nvPr/>
        </p:nvSpPr>
        <p:spPr>
          <a:xfrm>
            <a:off x="4361688"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20" name="Google Shape;1820;h547f90b031e64a91_0_458"/>
          <p:cNvSpPr txBox="1"/>
          <p:nvPr/>
        </p:nvSpPr>
        <p:spPr>
          <a:xfrm>
            <a:off x="5202936"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21" name="Google Shape;1821;h547f90b031e64a91_0_458"/>
          <p:cNvSpPr txBox="1"/>
          <p:nvPr/>
        </p:nvSpPr>
        <p:spPr>
          <a:xfrm>
            <a:off x="6044183"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22" name="Google Shape;1822;h547f90b031e64a91_0_458"/>
          <p:cNvSpPr txBox="1"/>
          <p:nvPr/>
        </p:nvSpPr>
        <p:spPr>
          <a:xfrm>
            <a:off x="6885432"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23" name="Google Shape;1823;h547f90b031e64a91_0_458"/>
          <p:cNvSpPr txBox="1"/>
          <p:nvPr/>
        </p:nvSpPr>
        <p:spPr>
          <a:xfrm>
            <a:off x="7726679"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24" name="Google Shape;1824;h547f90b031e64a91_0_458"/>
          <p:cNvSpPr txBox="1"/>
          <p:nvPr/>
        </p:nvSpPr>
        <p:spPr>
          <a:xfrm>
            <a:off x="8567928"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25" name="Google Shape;1825;h547f90b031e64a91_0_458"/>
          <p:cNvSpPr txBox="1"/>
          <p:nvPr/>
        </p:nvSpPr>
        <p:spPr>
          <a:xfrm>
            <a:off x="9409176" y="4128579"/>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26" name="Slide number 182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14</a:t>
            </a: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0" name="Shape 1830"/>
        <p:cNvGrpSpPr/>
        <p:nvPr/>
      </p:nvGrpSpPr>
      <p:grpSpPr>
        <a:xfrm>
          <a:off x="0" y="0"/>
          <a:ext cx="0" cy="0"/>
          <a:chOff x="0" y="0"/>
          <a:chExt cx="0" cy="0"/>
        </a:xfrm>
      </p:grpSpPr>
      <p:sp>
        <p:nvSpPr>
          <p:cNvPr id="1831" name="Google Shape;1831;h547f90b031e64a91_0_526"/>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2  /  NOTHING IS LOST</a:t>
            </a:r>
            <a:endParaRPr b="0" i="0" sz="1400" u="none" cap="none" strike="noStrike">
              <a:solidFill>
                <a:srgbClr val="000000"/>
              </a:solidFill>
              <a:latin typeface="Arial"/>
              <a:ea typeface="Arial"/>
              <a:cs typeface="Arial"/>
              <a:sym typeface="Arial"/>
            </a:endParaRPr>
          </a:p>
        </p:txBody>
      </p:sp>
      <p:sp>
        <p:nvSpPr>
          <p:cNvPr id="1832" name="Google Shape;1832;h547f90b031e64a91_0_526"/>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Nothing is lost: RIGOR keeps the schema.</a:t>
            </a:r>
            <a:endParaRPr b="0" i="0" sz="1400" u="none" cap="none" strike="noStrike">
              <a:solidFill>
                <a:srgbClr val="000000"/>
              </a:solidFill>
              <a:latin typeface="Arial"/>
              <a:ea typeface="Arial"/>
              <a:cs typeface="Arial"/>
              <a:sym typeface="Arial"/>
            </a:endParaRPr>
          </a:p>
        </p:txBody>
      </p:sp>
      <p:sp>
        <p:nvSpPr>
          <p:cNvPr id="1833" name="Google Shape;1833;h547f90b031e64a91_0_526"/>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1  VALID, FEWER ERRORS</a:t>
            </a:r>
            <a:endParaRPr/>
          </a:p>
        </p:txBody>
      </p:sp>
      <p:sp>
        <p:nvSpPr>
          <p:cNvPr id="1834" name="Google Shape;1834;h547f90b031e64a91_0_526"/>
          <p:cNvSpPr/>
          <p:nvPr/>
        </p:nvSpPr>
        <p:spPr>
          <a:xfrm>
            <a:off x="293888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2  KEEPS THE SCHEMA</a:t>
            </a:r>
            <a:endParaRPr/>
          </a:p>
        </p:txBody>
      </p:sp>
      <p:sp>
        <p:nvSpPr>
          <p:cNvPr id="1835" name="Google Shape;1835;h547f90b031e64a91_0_526"/>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3  ADDS MEANING</a:t>
            </a:r>
            <a:endParaRPr/>
          </a:p>
        </p:txBody>
      </p:sp>
      <p:sp>
        <p:nvSpPr>
          <p:cNvPr id="1836" name="Google Shape;1836;h547f90b031e64a91_0_526"/>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4  GOLD MAPPINGS</a:t>
            </a:r>
            <a:endParaRPr/>
          </a:p>
        </p:txBody>
      </p:sp>
      <p:sp>
        <p:nvSpPr>
          <p:cNvPr id="1837" name="Google Shape;1837;h547f90b031e64a91_0_526"/>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5  JUDGES</a:t>
            </a:r>
            <a:endParaRPr/>
          </a:p>
        </p:txBody>
      </p:sp>
      <p:sp>
        <p:nvSpPr>
          <p:cNvPr id="1838" name="Google Shape;1838;h547f90b031e64a91_0_526"/>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9" name="Google Shape;1839;h547f90b031e64a91_0_526"/>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KEEPS THE SCHEMA</a:t>
            </a:r>
            <a:endParaRPr/>
          </a:p>
        </p:txBody>
      </p:sp>
      <p:sp>
        <p:nvSpPr>
          <p:cNvPr id="1840" name="Google Shape;1840;h547f90b031e64a91_0_526"/>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columns covered, per ontology (%)</a:t>
            </a:r>
            <a:endParaRPr/>
          </a:p>
        </p:txBody>
      </p:sp>
      <p:sp>
        <p:nvSpPr>
          <p:cNvPr id="1841" name="Google Shape;1841;h547f90b031e64a91_0_526"/>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Liver Cancer</a:t>
            </a:r>
            <a:endParaRPr/>
          </a:p>
        </p:txBody>
      </p:sp>
      <p:sp>
        <p:nvSpPr>
          <p:cNvPr id="1842" name="Google Shape;1842;h547f90b031e64a91_0_526"/>
          <p:cNvSpPr txBox="1"/>
          <p:nvPr/>
        </p:nvSpPr>
        <p:spPr>
          <a:xfrm>
            <a:off x="2679191"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43" name="Google Shape;1843;h547f90b031e64a91_0_526"/>
          <p:cNvSpPr txBox="1"/>
          <p:nvPr/>
        </p:nvSpPr>
        <p:spPr>
          <a:xfrm>
            <a:off x="352043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44" name="Google Shape;1844;h547f90b031e64a91_0_526"/>
          <p:cNvSpPr txBox="1"/>
          <p:nvPr/>
        </p:nvSpPr>
        <p:spPr>
          <a:xfrm>
            <a:off x="436168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45" name="Google Shape;1845;h547f90b031e64a91_0_526"/>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eICU-CRD</a:t>
            </a:r>
            <a:endParaRPr/>
          </a:p>
        </p:txBody>
      </p:sp>
      <p:sp>
        <p:nvSpPr>
          <p:cNvPr id="1846" name="Google Shape;1846;h547f90b031e64a91_0_526"/>
          <p:cNvSpPr txBox="1"/>
          <p:nvPr/>
        </p:nvSpPr>
        <p:spPr>
          <a:xfrm>
            <a:off x="520293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47" name="Google Shape;1847;h547f90b031e64a91_0_526"/>
          <p:cNvSpPr txBox="1"/>
          <p:nvPr/>
        </p:nvSpPr>
        <p:spPr>
          <a:xfrm>
            <a:off x="6044183"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48" name="Google Shape;1848;h547f90b031e64a91_0_526"/>
          <p:cNvSpPr txBox="1"/>
          <p:nvPr/>
        </p:nvSpPr>
        <p:spPr>
          <a:xfrm>
            <a:off x="6885432"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49" name="Google Shape;1849;h547f90b031e64a91_0_526"/>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Chinook</a:t>
            </a:r>
            <a:endParaRPr/>
          </a:p>
        </p:txBody>
      </p:sp>
      <p:sp>
        <p:nvSpPr>
          <p:cNvPr id="1850" name="Google Shape;1850;h547f90b031e64a91_0_526"/>
          <p:cNvSpPr txBox="1"/>
          <p:nvPr/>
        </p:nvSpPr>
        <p:spPr>
          <a:xfrm>
            <a:off x="772667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851" name="Google Shape;1851;h547f90b031e64a91_0_526"/>
          <p:cNvSpPr txBox="1"/>
          <p:nvPr/>
        </p:nvSpPr>
        <p:spPr>
          <a:xfrm>
            <a:off x="856792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852" name="Google Shape;1852;h547f90b031e64a91_0_526"/>
          <p:cNvSpPr txBox="1"/>
          <p:nvPr/>
        </p:nvSpPr>
        <p:spPr>
          <a:xfrm>
            <a:off x="940917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853" name="Google Shape;1853;h547f90b031e64a91_0_526"/>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5B6770"/>
                </a:solidFill>
                <a:latin typeface="Calibri"/>
                <a:ea typeface="Calibri"/>
                <a:cs typeface="Calibri"/>
                <a:sym typeface="Calibri"/>
              </a:rPr>
              <a:t>Avg</a:t>
            </a:r>
            <a:endParaRPr/>
          </a:p>
        </p:txBody>
      </p:sp>
      <p:sp>
        <p:nvSpPr>
          <p:cNvPr id="1854" name="Google Shape;1854;h547f90b031e64a91_0_526"/>
          <p:cNvSpPr txBox="1"/>
          <p:nvPr/>
        </p:nvSpPr>
        <p:spPr>
          <a:xfrm>
            <a:off x="1078992" y="38404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855" name="Google Shape;1855;h547f90b031e64a91_0_526"/>
          <p:cNvSpPr/>
          <p:nvPr/>
        </p:nvSpPr>
        <p:spPr>
          <a:xfrm>
            <a:off x="2697479"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97</a:t>
            </a:r>
            <a:endParaRPr/>
          </a:p>
        </p:txBody>
      </p:sp>
      <p:sp>
        <p:nvSpPr>
          <p:cNvPr id="1856" name="Google Shape;1856;h547f90b031e64a91_0_526"/>
          <p:cNvSpPr/>
          <p:nvPr/>
        </p:nvSpPr>
        <p:spPr>
          <a:xfrm>
            <a:off x="5221223"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99</a:t>
            </a:r>
            <a:endParaRPr/>
          </a:p>
        </p:txBody>
      </p:sp>
      <p:sp>
        <p:nvSpPr>
          <p:cNvPr id="1857" name="Google Shape;1857;h547f90b031e64a91_0_526"/>
          <p:cNvSpPr/>
          <p:nvPr/>
        </p:nvSpPr>
        <p:spPr>
          <a:xfrm>
            <a:off x="7744967" y="3858768"/>
            <a:ext cx="24873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78</a:t>
            </a:r>
            <a:endParaRPr/>
          </a:p>
        </p:txBody>
      </p:sp>
      <p:sp>
        <p:nvSpPr>
          <p:cNvPr id="1858" name="Google Shape;1858;h547f90b031e64a91_0_526"/>
          <p:cNvSpPr txBox="1"/>
          <p:nvPr/>
        </p:nvSpPr>
        <p:spPr>
          <a:xfrm>
            <a:off x="10296144" y="38404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91%</a:t>
            </a:r>
            <a:endParaRPr/>
          </a:p>
        </p:txBody>
      </p:sp>
      <p:sp>
        <p:nvSpPr>
          <p:cNvPr id="1859" name="Google Shape;1859;h547f90b031e64a91_0_526"/>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860" name="Google Shape;1860;h547f90b031e64a91_0_526"/>
          <p:cNvSpPr/>
          <p:nvPr/>
        </p:nvSpPr>
        <p:spPr>
          <a:xfrm>
            <a:off x="2697479"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94</a:t>
            </a:r>
            <a:endParaRPr/>
          </a:p>
        </p:txBody>
      </p:sp>
      <p:sp>
        <p:nvSpPr>
          <p:cNvPr id="1861" name="Google Shape;1861;h547f90b031e64a91_0_526"/>
          <p:cNvSpPr/>
          <p:nvPr/>
        </p:nvSpPr>
        <p:spPr>
          <a:xfrm>
            <a:off x="3538727" y="43159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31</a:t>
            </a:r>
            <a:endParaRPr/>
          </a:p>
        </p:txBody>
      </p:sp>
      <p:sp>
        <p:nvSpPr>
          <p:cNvPr id="1862" name="Google Shape;1862;h547f90b031e64a91_0_526"/>
          <p:cNvSpPr/>
          <p:nvPr/>
        </p:nvSpPr>
        <p:spPr>
          <a:xfrm>
            <a:off x="4379975"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89</a:t>
            </a:r>
            <a:endParaRPr/>
          </a:p>
        </p:txBody>
      </p:sp>
      <p:sp>
        <p:nvSpPr>
          <p:cNvPr id="1863" name="Google Shape;1863;h547f90b031e64a91_0_526"/>
          <p:cNvSpPr/>
          <p:nvPr/>
        </p:nvSpPr>
        <p:spPr>
          <a:xfrm>
            <a:off x="5221223"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96</a:t>
            </a:r>
            <a:endParaRPr/>
          </a:p>
        </p:txBody>
      </p:sp>
      <p:sp>
        <p:nvSpPr>
          <p:cNvPr id="1864" name="Google Shape;1864;h547f90b031e64a91_0_526"/>
          <p:cNvSpPr/>
          <p:nvPr/>
        </p:nvSpPr>
        <p:spPr>
          <a:xfrm>
            <a:off x="6062471"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68</a:t>
            </a:r>
            <a:endParaRPr/>
          </a:p>
        </p:txBody>
      </p:sp>
      <p:sp>
        <p:nvSpPr>
          <p:cNvPr id="1865" name="Google Shape;1865;h547f90b031e64a91_0_526"/>
          <p:cNvSpPr/>
          <p:nvPr/>
        </p:nvSpPr>
        <p:spPr>
          <a:xfrm>
            <a:off x="6903720"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86</a:t>
            </a:r>
            <a:endParaRPr/>
          </a:p>
        </p:txBody>
      </p:sp>
      <p:sp>
        <p:nvSpPr>
          <p:cNvPr id="1866" name="Google Shape;1866;h547f90b031e64a91_0_526"/>
          <p:cNvSpPr/>
          <p:nvPr/>
        </p:nvSpPr>
        <p:spPr>
          <a:xfrm>
            <a:off x="7744967"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100</a:t>
            </a:r>
            <a:endParaRPr/>
          </a:p>
        </p:txBody>
      </p:sp>
      <p:sp>
        <p:nvSpPr>
          <p:cNvPr id="1867" name="Google Shape;1867;h547f90b031e64a91_0_526"/>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50</a:t>
            </a:r>
            <a:endParaRPr/>
          </a:p>
        </p:txBody>
      </p:sp>
      <p:sp>
        <p:nvSpPr>
          <p:cNvPr id="1868" name="Google Shape;1868;h547f90b031e64a91_0_526"/>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52</a:t>
            </a:r>
            <a:endParaRPr/>
          </a:p>
        </p:txBody>
      </p:sp>
      <p:sp>
        <p:nvSpPr>
          <p:cNvPr id="1869" name="Google Shape;1869;h547f90b031e64a91_0_526"/>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74%</a:t>
            </a:r>
            <a:endParaRPr/>
          </a:p>
        </p:txBody>
      </p:sp>
      <p:sp>
        <p:nvSpPr>
          <p:cNvPr id="1870" name="Google Shape;1870;h547f90b031e64a91_0_526"/>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871" name="Google Shape;1871;h547f90b031e64a91_0_526"/>
          <p:cNvSpPr/>
          <p:nvPr/>
        </p:nvSpPr>
        <p:spPr>
          <a:xfrm>
            <a:off x="2697479"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41</a:t>
            </a:r>
            <a:endParaRPr/>
          </a:p>
        </p:txBody>
      </p:sp>
      <p:sp>
        <p:nvSpPr>
          <p:cNvPr id="1872" name="Google Shape;1872;h547f90b031e64a91_0_526"/>
          <p:cNvSpPr/>
          <p:nvPr/>
        </p:nvSpPr>
        <p:spPr>
          <a:xfrm>
            <a:off x="3538727"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a:t>
            </a:r>
            <a:endParaRPr/>
          </a:p>
        </p:txBody>
      </p:sp>
      <p:sp>
        <p:nvSpPr>
          <p:cNvPr id="1873" name="Google Shape;1873;h547f90b031e64a91_0_526"/>
          <p:cNvSpPr/>
          <p:nvPr/>
        </p:nvSpPr>
        <p:spPr>
          <a:xfrm>
            <a:off x="4379975"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12</a:t>
            </a:r>
            <a:endParaRPr/>
          </a:p>
        </p:txBody>
      </p:sp>
      <p:sp>
        <p:nvSpPr>
          <p:cNvPr id="1874" name="Google Shape;1874;h547f90b031e64a91_0_526"/>
          <p:cNvSpPr/>
          <p:nvPr/>
        </p:nvSpPr>
        <p:spPr>
          <a:xfrm>
            <a:off x="5221223"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22</a:t>
            </a:r>
            <a:endParaRPr/>
          </a:p>
        </p:txBody>
      </p:sp>
      <p:sp>
        <p:nvSpPr>
          <p:cNvPr id="1875" name="Google Shape;1875;h547f90b031e64a91_0_526"/>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28</a:t>
            </a:r>
            <a:endParaRPr/>
          </a:p>
        </p:txBody>
      </p:sp>
      <p:sp>
        <p:nvSpPr>
          <p:cNvPr id="1876" name="Google Shape;1876;h547f90b031e64a91_0_526"/>
          <p:cNvSpPr/>
          <p:nvPr/>
        </p:nvSpPr>
        <p:spPr>
          <a:xfrm>
            <a:off x="6903720"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46</a:t>
            </a:r>
            <a:endParaRPr/>
          </a:p>
        </p:txBody>
      </p:sp>
      <p:sp>
        <p:nvSpPr>
          <p:cNvPr id="1877" name="Google Shape;1877;h547f90b031e64a91_0_526"/>
          <p:cNvSpPr/>
          <p:nvPr/>
        </p:nvSpPr>
        <p:spPr>
          <a:xfrm>
            <a:off x="774496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58</a:t>
            </a:r>
            <a:endParaRPr/>
          </a:p>
        </p:txBody>
      </p:sp>
      <p:sp>
        <p:nvSpPr>
          <p:cNvPr id="1878" name="Google Shape;1878;h547f90b031e64a91_0_526"/>
          <p:cNvSpPr/>
          <p:nvPr/>
        </p:nvSpPr>
        <p:spPr>
          <a:xfrm>
            <a:off x="8586216"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16</a:t>
            </a:r>
            <a:endParaRPr/>
          </a:p>
        </p:txBody>
      </p:sp>
      <p:sp>
        <p:nvSpPr>
          <p:cNvPr id="1879" name="Google Shape;1879;h547f90b031e64a91_0_526"/>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78</a:t>
            </a:r>
            <a:endParaRPr/>
          </a:p>
        </p:txBody>
      </p:sp>
      <p:sp>
        <p:nvSpPr>
          <p:cNvPr id="1880" name="Google Shape;1880;h547f90b031e64a91_0_526"/>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34%</a:t>
            </a:r>
            <a:endParaRPr/>
          </a:p>
        </p:txBody>
      </p:sp>
      <p:sp>
        <p:nvSpPr>
          <p:cNvPr id="1881" name="Google Shape;1881;h547f90b031e64a91_0_526"/>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882" name="Google Shape;1882;h547f90b031e64a91_0_526"/>
          <p:cNvSpPr/>
          <p:nvPr/>
        </p:nvSpPr>
        <p:spPr>
          <a:xfrm>
            <a:off x="2697479"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91</a:t>
            </a:r>
            <a:endParaRPr/>
          </a:p>
        </p:txBody>
      </p:sp>
      <p:sp>
        <p:nvSpPr>
          <p:cNvPr id="1883" name="Google Shape;1883;h547f90b031e64a91_0_526"/>
          <p:cNvSpPr/>
          <p:nvPr/>
        </p:nvSpPr>
        <p:spPr>
          <a:xfrm>
            <a:off x="353872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99</a:t>
            </a:r>
            <a:endParaRPr/>
          </a:p>
        </p:txBody>
      </p:sp>
      <p:sp>
        <p:nvSpPr>
          <p:cNvPr id="1884" name="Google Shape;1884;h547f90b031e64a91_0_526"/>
          <p:cNvSpPr/>
          <p:nvPr/>
        </p:nvSpPr>
        <p:spPr>
          <a:xfrm>
            <a:off x="4379975"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87</a:t>
            </a:r>
            <a:endParaRPr/>
          </a:p>
        </p:txBody>
      </p:sp>
      <p:sp>
        <p:nvSpPr>
          <p:cNvPr id="1885" name="Google Shape;1885;h547f90b031e64a91_0_526"/>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100</a:t>
            </a:r>
            <a:endParaRPr/>
          </a:p>
        </p:txBody>
      </p:sp>
      <p:sp>
        <p:nvSpPr>
          <p:cNvPr id="1886" name="Google Shape;1886;h547f90b031e64a91_0_526"/>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99</a:t>
            </a:r>
            <a:endParaRPr/>
          </a:p>
        </p:txBody>
      </p:sp>
      <p:sp>
        <p:nvSpPr>
          <p:cNvPr id="1887" name="Google Shape;1887;h547f90b031e64a91_0_526"/>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77</a:t>
            </a:r>
            <a:endParaRPr/>
          </a:p>
        </p:txBody>
      </p:sp>
      <p:sp>
        <p:nvSpPr>
          <p:cNvPr id="1888" name="Google Shape;1888;h547f90b031e64a91_0_526"/>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889" name="Google Shape;1889;h547f90b031e64a91_0_526"/>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890" name="Google Shape;1890;h547f90b031e64a91_0_526"/>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891" name="Google Shape;1891;h547f90b031e64a91_0_526"/>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93%</a:t>
            </a:r>
            <a:endParaRPr/>
          </a:p>
        </p:txBody>
      </p:sp>
      <p:sp>
        <p:nvSpPr>
          <p:cNvPr id="1892" name="Google Shape;1892;h547f90b031e64a91_0_526"/>
          <p:cNvSpPr txBox="1"/>
          <p:nvPr/>
        </p:nvSpPr>
        <p:spPr>
          <a:xfrm>
            <a:off x="822960" y="6382512"/>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Coverage: a column counts as covered when an ontology class or property name is similar to it (embedding similarity ≥ 0.55).</a:t>
            </a:r>
            <a:endParaRPr/>
          </a:p>
        </p:txBody>
      </p:sp>
      <p:sp>
        <p:nvSpPr>
          <p:cNvPr id="1893" name="Slide number 1893"/>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15</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7" name="Shape 1897"/>
        <p:cNvGrpSpPr/>
        <p:nvPr/>
      </p:nvGrpSpPr>
      <p:grpSpPr>
        <a:xfrm>
          <a:off x="0" y="0"/>
          <a:ext cx="0" cy="0"/>
          <a:chOff x="0" y="0"/>
          <a:chExt cx="0" cy="0"/>
        </a:xfrm>
      </p:grpSpPr>
      <p:sp>
        <p:nvSpPr>
          <p:cNvPr id="1898" name="Google Shape;1898;h547f90b031e64a91_0_593"/>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2  /  NOTHING IS LOST</a:t>
            </a:r>
            <a:endParaRPr b="0" i="0" sz="1400" u="none" cap="none" strike="noStrike">
              <a:solidFill>
                <a:srgbClr val="000000"/>
              </a:solidFill>
              <a:latin typeface="Arial"/>
              <a:ea typeface="Arial"/>
              <a:cs typeface="Arial"/>
              <a:sym typeface="Arial"/>
            </a:endParaRPr>
          </a:p>
        </p:txBody>
      </p:sp>
      <p:sp>
        <p:nvSpPr>
          <p:cNvPr id="1899" name="Google Shape;1899;h547f90b031e64a91_0_593"/>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Nothing is lost: RIGOR keeps the schema.</a:t>
            </a:r>
            <a:endParaRPr b="0" i="0" sz="1400" u="none" cap="none" strike="noStrike">
              <a:solidFill>
                <a:srgbClr val="000000"/>
              </a:solidFill>
              <a:latin typeface="Arial"/>
              <a:ea typeface="Arial"/>
              <a:cs typeface="Arial"/>
              <a:sym typeface="Arial"/>
            </a:endParaRPr>
          </a:p>
        </p:txBody>
      </p:sp>
      <p:sp>
        <p:nvSpPr>
          <p:cNvPr id="1900" name="Google Shape;1900;h547f90b031e64a91_0_593"/>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1  VALID, FEWER ERRORS</a:t>
            </a:r>
            <a:endParaRPr/>
          </a:p>
        </p:txBody>
      </p:sp>
      <p:sp>
        <p:nvSpPr>
          <p:cNvPr id="1901" name="Google Shape;1901;h547f90b031e64a91_0_593"/>
          <p:cNvSpPr/>
          <p:nvPr/>
        </p:nvSpPr>
        <p:spPr>
          <a:xfrm>
            <a:off x="293888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2  KEEPS THE SCHEMA</a:t>
            </a:r>
            <a:endParaRPr/>
          </a:p>
        </p:txBody>
      </p:sp>
      <p:sp>
        <p:nvSpPr>
          <p:cNvPr id="1902" name="Google Shape;1902;h547f90b031e64a91_0_593"/>
          <p:cNvSpPr/>
          <p:nvPr/>
        </p:nvSpPr>
        <p:spPr>
          <a:xfrm>
            <a:off x="5073091"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3  ADDS MEANING</a:t>
            </a:r>
            <a:endParaRPr/>
          </a:p>
        </p:txBody>
      </p:sp>
      <p:sp>
        <p:nvSpPr>
          <p:cNvPr id="1903" name="Google Shape;1903;h547f90b031e64a91_0_593"/>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4  GOLD MAPPINGS</a:t>
            </a:r>
            <a:endParaRPr/>
          </a:p>
        </p:txBody>
      </p:sp>
      <p:sp>
        <p:nvSpPr>
          <p:cNvPr id="1904" name="Google Shape;1904;h547f90b031e64a91_0_593"/>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5  JUDGES</a:t>
            </a:r>
            <a:endParaRPr/>
          </a:p>
        </p:txBody>
      </p:sp>
      <p:sp>
        <p:nvSpPr>
          <p:cNvPr id="1905" name="Google Shape;1905;h547f90b031e64a91_0_593"/>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06" name="Google Shape;1906;h547f90b031e64a91_0_593"/>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KEEPS THE SCHEMA</a:t>
            </a:r>
            <a:endParaRPr/>
          </a:p>
        </p:txBody>
      </p:sp>
      <p:sp>
        <p:nvSpPr>
          <p:cNvPr id="1907" name="Google Shape;1907;h547f90b031e64a91_0_593"/>
          <p:cNvSpPr txBox="1"/>
          <p:nvPr/>
        </p:nvSpPr>
        <p:spPr>
          <a:xfrm>
            <a:off x="1078992" y="3081528"/>
            <a:ext cx="10031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columns covered, per ontology (%)</a:t>
            </a:r>
            <a:endParaRPr/>
          </a:p>
        </p:txBody>
      </p:sp>
      <p:sp>
        <p:nvSpPr>
          <p:cNvPr id="1908" name="Google Shape;1908;h547f90b031e64a91_0_593"/>
          <p:cNvSpPr txBox="1"/>
          <p:nvPr/>
        </p:nvSpPr>
        <p:spPr>
          <a:xfrm>
            <a:off x="2679191"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Liver Cancer</a:t>
            </a:r>
            <a:endParaRPr/>
          </a:p>
        </p:txBody>
      </p:sp>
      <p:sp>
        <p:nvSpPr>
          <p:cNvPr id="1909" name="Google Shape;1909;h547f90b031e64a91_0_593"/>
          <p:cNvSpPr txBox="1"/>
          <p:nvPr/>
        </p:nvSpPr>
        <p:spPr>
          <a:xfrm>
            <a:off x="2679191"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10" name="Google Shape;1910;h547f90b031e64a91_0_593"/>
          <p:cNvSpPr txBox="1"/>
          <p:nvPr/>
        </p:nvSpPr>
        <p:spPr>
          <a:xfrm>
            <a:off x="352043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11" name="Google Shape;1911;h547f90b031e64a91_0_593"/>
          <p:cNvSpPr txBox="1"/>
          <p:nvPr/>
        </p:nvSpPr>
        <p:spPr>
          <a:xfrm>
            <a:off x="436168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12" name="Google Shape;1912;h547f90b031e64a91_0_593"/>
          <p:cNvSpPr txBox="1"/>
          <p:nvPr/>
        </p:nvSpPr>
        <p:spPr>
          <a:xfrm>
            <a:off x="5202936"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eICU-CRD</a:t>
            </a:r>
            <a:endParaRPr/>
          </a:p>
        </p:txBody>
      </p:sp>
      <p:sp>
        <p:nvSpPr>
          <p:cNvPr id="1913" name="Google Shape;1913;h547f90b031e64a91_0_593"/>
          <p:cNvSpPr txBox="1"/>
          <p:nvPr/>
        </p:nvSpPr>
        <p:spPr>
          <a:xfrm>
            <a:off x="520293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14" name="Google Shape;1914;h547f90b031e64a91_0_593"/>
          <p:cNvSpPr txBox="1"/>
          <p:nvPr/>
        </p:nvSpPr>
        <p:spPr>
          <a:xfrm>
            <a:off x="6044183"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15" name="Google Shape;1915;h547f90b031e64a91_0_593"/>
          <p:cNvSpPr txBox="1"/>
          <p:nvPr/>
        </p:nvSpPr>
        <p:spPr>
          <a:xfrm>
            <a:off x="6885432"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16" name="Google Shape;1916;h547f90b031e64a91_0_593"/>
          <p:cNvSpPr txBox="1"/>
          <p:nvPr/>
        </p:nvSpPr>
        <p:spPr>
          <a:xfrm>
            <a:off x="7726679" y="3383280"/>
            <a:ext cx="25236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Chinook</a:t>
            </a:r>
            <a:endParaRPr/>
          </a:p>
        </p:txBody>
      </p:sp>
      <p:sp>
        <p:nvSpPr>
          <p:cNvPr id="1917" name="Google Shape;1917;h547f90b031e64a91_0_593"/>
          <p:cNvSpPr txBox="1"/>
          <p:nvPr/>
        </p:nvSpPr>
        <p:spPr>
          <a:xfrm>
            <a:off x="7726679"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18" name="Google Shape;1918;h547f90b031e64a91_0_593"/>
          <p:cNvSpPr txBox="1"/>
          <p:nvPr/>
        </p:nvSpPr>
        <p:spPr>
          <a:xfrm>
            <a:off x="8567928"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19" name="Google Shape;1919;h547f90b031e64a91_0_593"/>
          <p:cNvSpPr txBox="1"/>
          <p:nvPr/>
        </p:nvSpPr>
        <p:spPr>
          <a:xfrm>
            <a:off x="9409176" y="3611880"/>
            <a:ext cx="8412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20" name="Google Shape;1920;h547f90b031e64a91_0_593"/>
          <p:cNvSpPr txBox="1"/>
          <p:nvPr/>
        </p:nvSpPr>
        <p:spPr>
          <a:xfrm>
            <a:off x="10296144" y="3493008"/>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5B6770"/>
                </a:solidFill>
                <a:latin typeface="Calibri"/>
                <a:ea typeface="Calibri"/>
                <a:cs typeface="Calibri"/>
                <a:sym typeface="Calibri"/>
              </a:rPr>
              <a:t>Avg</a:t>
            </a:r>
            <a:endParaRPr/>
          </a:p>
        </p:txBody>
      </p:sp>
      <p:sp>
        <p:nvSpPr>
          <p:cNvPr id="1921" name="Google Shape;1921;h547f90b031e64a91_0_593"/>
          <p:cNvSpPr txBox="1"/>
          <p:nvPr/>
        </p:nvSpPr>
        <p:spPr>
          <a:xfrm>
            <a:off x="1078992" y="38404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922" name="Google Shape;1922;h547f90b031e64a91_0_593"/>
          <p:cNvSpPr/>
          <p:nvPr/>
        </p:nvSpPr>
        <p:spPr>
          <a:xfrm>
            <a:off x="2697479"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97</a:t>
            </a:r>
            <a:endParaRPr/>
          </a:p>
        </p:txBody>
      </p:sp>
      <p:sp>
        <p:nvSpPr>
          <p:cNvPr id="1923" name="Google Shape;1923;h547f90b031e64a91_0_593"/>
          <p:cNvSpPr/>
          <p:nvPr/>
        </p:nvSpPr>
        <p:spPr>
          <a:xfrm>
            <a:off x="5221223" y="3858768"/>
            <a:ext cx="24873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99</a:t>
            </a:r>
            <a:endParaRPr/>
          </a:p>
        </p:txBody>
      </p:sp>
      <p:sp>
        <p:nvSpPr>
          <p:cNvPr id="1924" name="Google Shape;1924;h547f90b031e64a91_0_593"/>
          <p:cNvSpPr/>
          <p:nvPr/>
        </p:nvSpPr>
        <p:spPr>
          <a:xfrm>
            <a:off x="7744967" y="3858768"/>
            <a:ext cx="24873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78</a:t>
            </a:r>
            <a:endParaRPr/>
          </a:p>
        </p:txBody>
      </p:sp>
      <p:sp>
        <p:nvSpPr>
          <p:cNvPr id="1925" name="Google Shape;1925;h547f90b031e64a91_0_593"/>
          <p:cNvSpPr txBox="1"/>
          <p:nvPr/>
        </p:nvSpPr>
        <p:spPr>
          <a:xfrm>
            <a:off x="10296144" y="38404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91%</a:t>
            </a:r>
            <a:endParaRPr/>
          </a:p>
        </p:txBody>
      </p:sp>
      <p:sp>
        <p:nvSpPr>
          <p:cNvPr id="1926" name="Google Shape;1926;h547f90b031e64a91_0_593"/>
          <p:cNvSpPr txBox="1"/>
          <p:nvPr/>
        </p:nvSpPr>
        <p:spPr>
          <a:xfrm>
            <a:off x="1078992" y="42976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927" name="Google Shape;1927;h547f90b031e64a91_0_593"/>
          <p:cNvSpPr/>
          <p:nvPr/>
        </p:nvSpPr>
        <p:spPr>
          <a:xfrm>
            <a:off x="2697479"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94</a:t>
            </a:r>
            <a:endParaRPr/>
          </a:p>
        </p:txBody>
      </p:sp>
      <p:sp>
        <p:nvSpPr>
          <p:cNvPr id="1928" name="Google Shape;1928;h547f90b031e64a91_0_593"/>
          <p:cNvSpPr/>
          <p:nvPr/>
        </p:nvSpPr>
        <p:spPr>
          <a:xfrm>
            <a:off x="3538727" y="43159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31</a:t>
            </a:r>
            <a:endParaRPr/>
          </a:p>
        </p:txBody>
      </p:sp>
      <p:sp>
        <p:nvSpPr>
          <p:cNvPr id="1929" name="Google Shape;1929;h547f90b031e64a91_0_593"/>
          <p:cNvSpPr/>
          <p:nvPr/>
        </p:nvSpPr>
        <p:spPr>
          <a:xfrm>
            <a:off x="4379975"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89</a:t>
            </a:r>
            <a:endParaRPr/>
          </a:p>
        </p:txBody>
      </p:sp>
      <p:sp>
        <p:nvSpPr>
          <p:cNvPr id="1930" name="Google Shape;1930;h547f90b031e64a91_0_593"/>
          <p:cNvSpPr/>
          <p:nvPr/>
        </p:nvSpPr>
        <p:spPr>
          <a:xfrm>
            <a:off x="5221223"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96</a:t>
            </a:r>
            <a:endParaRPr/>
          </a:p>
        </p:txBody>
      </p:sp>
      <p:sp>
        <p:nvSpPr>
          <p:cNvPr id="1931" name="Google Shape;1931;h547f90b031e64a91_0_593"/>
          <p:cNvSpPr/>
          <p:nvPr/>
        </p:nvSpPr>
        <p:spPr>
          <a:xfrm>
            <a:off x="6062471"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68</a:t>
            </a:r>
            <a:endParaRPr/>
          </a:p>
        </p:txBody>
      </p:sp>
      <p:sp>
        <p:nvSpPr>
          <p:cNvPr id="1932" name="Google Shape;1932;h547f90b031e64a91_0_593"/>
          <p:cNvSpPr/>
          <p:nvPr/>
        </p:nvSpPr>
        <p:spPr>
          <a:xfrm>
            <a:off x="6903720" y="43159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86</a:t>
            </a:r>
            <a:endParaRPr/>
          </a:p>
        </p:txBody>
      </p:sp>
      <p:sp>
        <p:nvSpPr>
          <p:cNvPr id="1933" name="Google Shape;1933;h547f90b031e64a91_0_593"/>
          <p:cNvSpPr/>
          <p:nvPr/>
        </p:nvSpPr>
        <p:spPr>
          <a:xfrm>
            <a:off x="7744967" y="43159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100</a:t>
            </a:r>
            <a:endParaRPr/>
          </a:p>
        </p:txBody>
      </p:sp>
      <p:sp>
        <p:nvSpPr>
          <p:cNvPr id="1934" name="Google Shape;1934;h547f90b031e64a91_0_593"/>
          <p:cNvSpPr/>
          <p:nvPr/>
        </p:nvSpPr>
        <p:spPr>
          <a:xfrm>
            <a:off x="8586216"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50</a:t>
            </a:r>
            <a:endParaRPr/>
          </a:p>
        </p:txBody>
      </p:sp>
      <p:sp>
        <p:nvSpPr>
          <p:cNvPr id="1935" name="Google Shape;1935;h547f90b031e64a91_0_593"/>
          <p:cNvSpPr/>
          <p:nvPr/>
        </p:nvSpPr>
        <p:spPr>
          <a:xfrm>
            <a:off x="9427463" y="43159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52</a:t>
            </a:r>
            <a:endParaRPr/>
          </a:p>
        </p:txBody>
      </p:sp>
      <p:sp>
        <p:nvSpPr>
          <p:cNvPr id="1936" name="Google Shape;1936;h547f90b031e64a91_0_593"/>
          <p:cNvSpPr txBox="1"/>
          <p:nvPr/>
        </p:nvSpPr>
        <p:spPr>
          <a:xfrm>
            <a:off x="10296144" y="42976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74%</a:t>
            </a:r>
            <a:endParaRPr/>
          </a:p>
        </p:txBody>
      </p:sp>
      <p:sp>
        <p:nvSpPr>
          <p:cNvPr id="1937" name="Google Shape;1937;h547f90b031e64a91_0_593"/>
          <p:cNvSpPr txBox="1"/>
          <p:nvPr/>
        </p:nvSpPr>
        <p:spPr>
          <a:xfrm>
            <a:off x="1078992" y="47548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1200">
                <a:solidFill>
                  <a:srgbClr val="1F2328"/>
                </a:solidFill>
                <a:latin typeface="Calibri"/>
                <a:ea typeface="Calibri"/>
                <a:cs typeface="Calibri"/>
                <a:sym typeface="Calibri"/>
              </a:rPr>
              <a:t>Non-Iterative RAG </a:t>
            </a:r>
            <a:endParaRPr/>
          </a:p>
        </p:txBody>
      </p:sp>
      <p:sp>
        <p:nvSpPr>
          <p:cNvPr id="1938" name="Google Shape;1938;h547f90b031e64a91_0_593"/>
          <p:cNvSpPr/>
          <p:nvPr/>
        </p:nvSpPr>
        <p:spPr>
          <a:xfrm>
            <a:off x="2697479"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41</a:t>
            </a:r>
            <a:endParaRPr/>
          </a:p>
        </p:txBody>
      </p:sp>
      <p:sp>
        <p:nvSpPr>
          <p:cNvPr id="1939" name="Google Shape;1939;h547f90b031e64a91_0_593"/>
          <p:cNvSpPr/>
          <p:nvPr/>
        </p:nvSpPr>
        <p:spPr>
          <a:xfrm>
            <a:off x="3538727"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a:t>
            </a:r>
            <a:endParaRPr/>
          </a:p>
        </p:txBody>
      </p:sp>
      <p:sp>
        <p:nvSpPr>
          <p:cNvPr id="1940" name="Google Shape;1940;h547f90b031e64a91_0_593"/>
          <p:cNvSpPr/>
          <p:nvPr/>
        </p:nvSpPr>
        <p:spPr>
          <a:xfrm>
            <a:off x="4379975"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12</a:t>
            </a:r>
            <a:endParaRPr/>
          </a:p>
        </p:txBody>
      </p:sp>
      <p:sp>
        <p:nvSpPr>
          <p:cNvPr id="1941" name="Google Shape;1941;h547f90b031e64a91_0_593"/>
          <p:cNvSpPr/>
          <p:nvPr/>
        </p:nvSpPr>
        <p:spPr>
          <a:xfrm>
            <a:off x="5221223"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22</a:t>
            </a:r>
            <a:endParaRPr/>
          </a:p>
        </p:txBody>
      </p:sp>
      <p:sp>
        <p:nvSpPr>
          <p:cNvPr id="1942" name="Google Shape;1942;h547f90b031e64a91_0_593"/>
          <p:cNvSpPr/>
          <p:nvPr/>
        </p:nvSpPr>
        <p:spPr>
          <a:xfrm>
            <a:off x="6062471"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28</a:t>
            </a:r>
            <a:endParaRPr/>
          </a:p>
        </p:txBody>
      </p:sp>
      <p:sp>
        <p:nvSpPr>
          <p:cNvPr id="1943" name="Google Shape;1943;h547f90b031e64a91_0_593"/>
          <p:cNvSpPr/>
          <p:nvPr/>
        </p:nvSpPr>
        <p:spPr>
          <a:xfrm>
            <a:off x="6903720" y="4773168"/>
            <a:ext cx="804600" cy="420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46</a:t>
            </a:r>
            <a:endParaRPr/>
          </a:p>
        </p:txBody>
      </p:sp>
      <p:sp>
        <p:nvSpPr>
          <p:cNvPr id="1944" name="Google Shape;1944;h547f90b031e64a91_0_593"/>
          <p:cNvSpPr/>
          <p:nvPr/>
        </p:nvSpPr>
        <p:spPr>
          <a:xfrm>
            <a:off x="7744967" y="4773168"/>
            <a:ext cx="804600" cy="420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58</a:t>
            </a:r>
            <a:endParaRPr/>
          </a:p>
        </p:txBody>
      </p:sp>
      <p:sp>
        <p:nvSpPr>
          <p:cNvPr id="1945" name="Google Shape;1945;h547f90b031e64a91_0_593"/>
          <p:cNvSpPr/>
          <p:nvPr/>
        </p:nvSpPr>
        <p:spPr>
          <a:xfrm>
            <a:off x="8586216" y="4773168"/>
            <a:ext cx="804600" cy="420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16</a:t>
            </a:r>
            <a:endParaRPr/>
          </a:p>
        </p:txBody>
      </p:sp>
      <p:sp>
        <p:nvSpPr>
          <p:cNvPr id="1946" name="Google Shape;1946;h547f90b031e64a91_0_593"/>
          <p:cNvSpPr/>
          <p:nvPr/>
        </p:nvSpPr>
        <p:spPr>
          <a:xfrm>
            <a:off x="9427463" y="47731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78</a:t>
            </a:r>
            <a:endParaRPr/>
          </a:p>
        </p:txBody>
      </p:sp>
      <p:sp>
        <p:nvSpPr>
          <p:cNvPr id="1947" name="Google Shape;1947;h547f90b031e64a91_0_593"/>
          <p:cNvSpPr txBox="1"/>
          <p:nvPr/>
        </p:nvSpPr>
        <p:spPr>
          <a:xfrm>
            <a:off x="10296144" y="47548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34%</a:t>
            </a:r>
            <a:endParaRPr/>
          </a:p>
        </p:txBody>
      </p:sp>
      <p:sp>
        <p:nvSpPr>
          <p:cNvPr id="1948" name="Google Shape;1948;h547f90b031e64a91_0_593"/>
          <p:cNvSpPr txBox="1"/>
          <p:nvPr/>
        </p:nvSpPr>
        <p:spPr>
          <a:xfrm>
            <a:off x="1078992" y="5212080"/>
            <a:ext cx="16002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1949" name="Google Shape;1949;h547f90b031e64a91_0_593"/>
          <p:cNvSpPr/>
          <p:nvPr/>
        </p:nvSpPr>
        <p:spPr>
          <a:xfrm>
            <a:off x="2697479"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91</a:t>
            </a:r>
            <a:endParaRPr/>
          </a:p>
        </p:txBody>
      </p:sp>
      <p:sp>
        <p:nvSpPr>
          <p:cNvPr id="1950" name="Google Shape;1950;h547f90b031e64a91_0_593"/>
          <p:cNvSpPr/>
          <p:nvPr/>
        </p:nvSpPr>
        <p:spPr>
          <a:xfrm>
            <a:off x="353872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99</a:t>
            </a:r>
            <a:endParaRPr/>
          </a:p>
        </p:txBody>
      </p:sp>
      <p:sp>
        <p:nvSpPr>
          <p:cNvPr id="1951" name="Google Shape;1951;h547f90b031e64a91_0_593"/>
          <p:cNvSpPr/>
          <p:nvPr/>
        </p:nvSpPr>
        <p:spPr>
          <a:xfrm>
            <a:off x="4379975"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87</a:t>
            </a:r>
            <a:endParaRPr/>
          </a:p>
        </p:txBody>
      </p:sp>
      <p:sp>
        <p:nvSpPr>
          <p:cNvPr id="1952" name="Google Shape;1952;h547f90b031e64a91_0_593"/>
          <p:cNvSpPr/>
          <p:nvPr/>
        </p:nvSpPr>
        <p:spPr>
          <a:xfrm>
            <a:off x="522122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100</a:t>
            </a:r>
            <a:endParaRPr/>
          </a:p>
        </p:txBody>
      </p:sp>
      <p:sp>
        <p:nvSpPr>
          <p:cNvPr id="1953" name="Google Shape;1953;h547f90b031e64a91_0_593"/>
          <p:cNvSpPr/>
          <p:nvPr/>
        </p:nvSpPr>
        <p:spPr>
          <a:xfrm>
            <a:off x="6062471"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99</a:t>
            </a:r>
            <a:endParaRPr/>
          </a:p>
        </p:txBody>
      </p:sp>
      <p:sp>
        <p:nvSpPr>
          <p:cNvPr id="1954" name="Google Shape;1954;h547f90b031e64a91_0_593"/>
          <p:cNvSpPr/>
          <p:nvPr/>
        </p:nvSpPr>
        <p:spPr>
          <a:xfrm>
            <a:off x="6903720" y="5230368"/>
            <a:ext cx="804600" cy="420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77</a:t>
            </a:r>
            <a:endParaRPr/>
          </a:p>
        </p:txBody>
      </p:sp>
      <p:sp>
        <p:nvSpPr>
          <p:cNvPr id="1955" name="Google Shape;1955;h547f90b031e64a91_0_593"/>
          <p:cNvSpPr/>
          <p:nvPr/>
        </p:nvSpPr>
        <p:spPr>
          <a:xfrm>
            <a:off x="7744967"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956" name="Google Shape;1956;h547f90b031e64a91_0_593"/>
          <p:cNvSpPr/>
          <p:nvPr/>
        </p:nvSpPr>
        <p:spPr>
          <a:xfrm>
            <a:off x="8586216"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957" name="Google Shape;1957;h547f90b031e64a91_0_593"/>
          <p:cNvSpPr/>
          <p:nvPr/>
        </p:nvSpPr>
        <p:spPr>
          <a:xfrm>
            <a:off x="9427463" y="5230368"/>
            <a:ext cx="804600" cy="420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95</a:t>
            </a:r>
            <a:endParaRPr/>
          </a:p>
        </p:txBody>
      </p:sp>
      <p:sp>
        <p:nvSpPr>
          <p:cNvPr id="1958" name="Google Shape;1958;h547f90b031e64a91_0_593"/>
          <p:cNvSpPr txBox="1"/>
          <p:nvPr/>
        </p:nvSpPr>
        <p:spPr>
          <a:xfrm>
            <a:off x="10296144" y="5212080"/>
            <a:ext cx="6858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93%</a:t>
            </a:r>
            <a:endParaRPr/>
          </a:p>
        </p:txBody>
      </p:sp>
      <p:sp>
        <p:nvSpPr>
          <p:cNvPr id="1959" name="Google Shape;1959;h547f90b031e64a91_0_593"/>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1" lang="en-US">
                <a:solidFill>
                  <a:srgbClr val="B23A1E"/>
                </a:solidFill>
                <a:latin typeface="Calibri"/>
                <a:ea typeface="Calibri"/>
                <a:cs typeface="Calibri"/>
                <a:sym typeface="Calibri"/>
              </a:rPr>
              <a:t>Non-Iterative RAG </a:t>
            </a:r>
            <a:r>
              <a:rPr b="1" i="0" lang="en-US" sz="1400" u="none" cap="none" strike="noStrike">
                <a:solidFill>
                  <a:srgbClr val="B23A1E"/>
                </a:solidFill>
                <a:latin typeface="Calibri"/>
                <a:ea typeface="Calibri"/>
                <a:cs typeface="Calibri"/>
                <a:sym typeface="Calibri"/>
              </a:rPr>
              <a:t> 6–78%</a:t>
            </a:r>
            <a:r>
              <a:rPr lang="en-US">
                <a:solidFill>
                  <a:srgbClr val="3A434C"/>
                </a:solidFill>
                <a:latin typeface="Calibri"/>
                <a:ea typeface="Calibri"/>
                <a:cs typeface="Calibri"/>
                <a:sym typeface="Calibri"/>
              </a:rPr>
              <a:t>.</a:t>
            </a:r>
            <a:r>
              <a:rPr b="0" i="0" lang="en-US" sz="1400" u="none" cap="none" strike="noStrike">
                <a:solidFill>
                  <a:srgbClr val="3A434C"/>
                </a:solidFill>
                <a:latin typeface="Calibri"/>
                <a:ea typeface="Calibri"/>
                <a:cs typeface="Calibri"/>
                <a:sym typeface="Calibri"/>
              </a:rPr>
              <a:t>  With RIGOR: </a:t>
            </a:r>
            <a:r>
              <a:rPr b="1" i="0" lang="en-US" sz="1400" u="none" cap="none" strike="noStrike">
                <a:solidFill>
                  <a:srgbClr val="0B6E4F"/>
                </a:solidFill>
                <a:latin typeface="Calibri"/>
                <a:ea typeface="Calibri"/>
                <a:cs typeface="Calibri"/>
                <a:sym typeface="Calibri"/>
              </a:rPr>
              <a:t>≥ 77% for every LLM, in every database.</a:t>
            </a:r>
            <a:endParaRPr/>
          </a:p>
        </p:txBody>
      </p:sp>
      <p:sp>
        <p:nvSpPr>
          <p:cNvPr id="1960" name="Google Shape;1960;h547f90b031e64a91_0_593"/>
          <p:cNvSpPr txBox="1"/>
          <p:nvPr/>
        </p:nvSpPr>
        <p:spPr>
          <a:xfrm>
            <a:off x="822960" y="6382512"/>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Coverage: a column counts as covered when an ontology class or property name is similar to it (embedding similarity ≥ 0.55). </a:t>
            </a:r>
            <a:endParaRPr/>
          </a:p>
        </p:txBody>
      </p:sp>
      <p:sp>
        <p:nvSpPr>
          <p:cNvPr id="1961" name="Google Shape;1961;h547f90b031e64a91_0_593"/>
          <p:cNvSpPr/>
          <p:nvPr/>
        </p:nvSpPr>
        <p:spPr>
          <a:xfrm>
            <a:off x="971200" y="4782325"/>
            <a:ext cx="9881700" cy="42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62" name="Slide number 196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15</a:t>
            </a: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66" name="Shape 1966"/>
        <p:cNvGrpSpPr/>
        <p:nvPr/>
      </p:nvGrpSpPr>
      <p:grpSpPr>
        <a:xfrm>
          <a:off x="0" y="0"/>
          <a:ext cx="0" cy="0"/>
          <a:chOff x="0" y="0"/>
          <a:chExt cx="0" cy="0"/>
        </a:xfrm>
      </p:grpSpPr>
      <p:sp>
        <p:nvSpPr>
          <p:cNvPr id="1967" name="Google Shape;1967;h547f90b031e64a91_0_883"/>
          <p:cNvSpPr txBox="1"/>
          <p:nvPr/>
        </p:nvSpPr>
        <p:spPr>
          <a:xfrm>
            <a:off x="804672" y="512064"/>
            <a:ext cx="107532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RESULT 3  /  MEANING IS ADDED</a:t>
            </a:r>
            <a:endParaRPr b="0" i="0" sz="1400" u="none" cap="none" strike="noStrike">
              <a:solidFill>
                <a:srgbClr val="000000"/>
              </a:solidFill>
              <a:latin typeface="Arial"/>
              <a:ea typeface="Arial"/>
              <a:cs typeface="Arial"/>
              <a:sym typeface="Arial"/>
            </a:endParaRPr>
          </a:p>
        </p:txBody>
      </p:sp>
      <p:sp>
        <p:nvSpPr>
          <p:cNvPr id="1968" name="Google Shape;1968;h547f90b031e64a91_0_883"/>
          <p:cNvSpPr txBox="1"/>
          <p:nvPr/>
        </p:nvSpPr>
        <p:spPr>
          <a:xfrm>
            <a:off x="804672" y="914400"/>
            <a:ext cx="107625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Meaning is added: labels, provenance and hierarchy.</a:t>
            </a:r>
            <a:endParaRPr b="0" i="0" sz="1400" u="none" cap="none" strike="noStrike">
              <a:solidFill>
                <a:srgbClr val="000000"/>
              </a:solidFill>
              <a:latin typeface="Arial"/>
              <a:ea typeface="Arial"/>
              <a:cs typeface="Arial"/>
              <a:sym typeface="Arial"/>
            </a:endParaRPr>
          </a:p>
        </p:txBody>
      </p:sp>
      <p:sp>
        <p:nvSpPr>
          <p:cNvPr id="1969" name="Google Shape;1969;h547f90b031e64a91_0_883"/>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1  VALID, FEWER ERRORS</a:t>
            </a:r>
            <a:endParaRPr/>
          </a:p>
        </p:txBody>
      </p:sp>
      <p:sp>
        <p:nvSpPr>
          <p:cNvPr id="1970" name="Google Shape;1970;h547f90b031e64a91_0_883"/>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2  KEEPS THE SCHEMA</a:t>
            </a:r>
            <a:endParaRPr/>
          </a:p>
        </p:txBody>
      </p:sp>
      <p:sp>
        <p:nvSpPr>
          <p:cNvPr id="1971" name="Google Shape;1971;h547f90b031e64a91_0_883"/>
          <p:cNvSpPr/>
          <p:nvPr/>
        </p:nvSpPr>
        <p:spPr>
          <a:xfrm>
            <a:off x="5073091"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3  ADDS MEANING</a:t>
            </a:r>
            <a:endParaRPr/>
          </a:p>
        </p:txBody>
      </p:sp>
      <p:sp>
        <p:nvSpPr>
          <p:cNvPr id="1972" name="Google Shape;1972;h547f90b031e64a91_0_883"/>
          <p:cNvSpPr/>
          <p:nvPr/>
        </p:nvSpPr>
        <p:spPr>
          <a:xfrm>
            <a:off x="720730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4  GOLD MAPPINGS</a:t>
            </a:r>
            <a:endParaRPr/>
          </a:p>
        </p:txBody>
      </p:sp>
      <p:sp>
        <p:nvSpPr>
          <p:cNvPr id="1973" name="Google Shape;1973;h547f90b031e64a91_0_883"/>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5  JUDGES</a:t>
            </a:r>
            <a:endParaRPr/>
          </a:p>
        </p:txBody>
      </p:sp>
      <p:sp>
        <p:nvSpPr>
          <p:cNvPr id="1974" name="Google Shape;1974;h547f90b031e64a91_0_883"/>
          <p:cNvSpPr/>
          <p:nvPr/>
        </p:nvSpPr>
        <p:spPr>
          <a:xfrm>
            <a:off x="804672" y="2606040"/>
            <a:ext cx="10579500" cy="31548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5" name="Google Shape;1975;h547f90b031e64a91_0_883"/>
          <p:cNvSpPr txBox="1"/>
          <p:nvPr/>
        </p:nvSpPr>
        <p:spPr>
          <a:xfrm>
            <a:off x="1078992" y="2788920"/>
            <a:ext cx="100311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ADDS MEANING</a:t>
            </a:r>
            <a:endParaRPr/>
          </a:p>
        </p:txBody>
      </p:sp>
      <p:sp>
        <p:nvSpPr>
          <p:cNvPr id="1976" name="Google Shape;1976;h547f90b031e64a91_0_883"/>
          <p:cNvSpPr txBox="1"/>
          <p:nvPr/>
        </p:nvSpPr>
        <p:spPr>
          <a:xfrm>
            <a:off x="3794760"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Liver Cancer</a:t>
            </a:r>
            <a:endParaRPr/>
          </a:p>
        </p:txBody>
      </p:sp>
      <p:sp>
        <p:nvSpPr>
          <p:cNvPr id="1977" name="Google Shape;1977;h547f90b031e64a91_0_883"/>
          <p:cNvSpPr txBox="1"/>
          <p:nvPr/>
        </p:nvSpPr>
        <p:spPr>
          <a:xfrm>
            <a:off x="3794760"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78" name="Google Shape;1978;h547f90b031e64a91_0_883"/>
          <p:cNvSpPr txBox="1"/>
          <p:nvPr/>
        </p:nvSpPr>
        <p:spPr>
          <a:xfrm>
            <a:off x="4544568"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79" name="Google Shape;1979;h547f90b031e64a91_0_883"/>
          <p:cNvSpPr txBox="1"/>
          <p:nvPr/>
        </p:nvSpPr>
        <p:spPr>
          <a:xfrm>
            <a:off x="5294376"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80" name="Google Shape;1980;h547f90b031e64a91_0_883"/>
          <p:cNvSpPr txBox="1"/>
          <p:nvPr/>
        </p:nvSpPr>
        <p:spPr>
          <a:xfrm>
            <a:off x="6044184"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eICU-CRD</a:t>
            </a:r>
            <a:endParaRPr/>
          </a:p>
        </p:txBody>
      </p:sp>
      <p:sp>
        <p:nvSpPr>
          <p:cNvPr id="1981" name="Google Shape;1981;h547f90b031e64a91_0_883"/>
          <p:cNvSpPr txBox="1"/>
          <p:nvPr/>
        </p:nvSpPr>
        <p:spPr>
          <a:xfrm>
            <a:off x="6044184"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82" name="Google Shape;1982;h547f90b031e64a91_0_883"/>
          <p:cNvSpPr txBox="1"/>
          <p:nvPr/>
        </p:nvSpPr>
        <p:spPr>
          <a:xfrm>
            <a:off x="6793992"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83" name="Google Shape;1983;h547f90b031e64a91_0_883"/>
          <p:cNvSpPr txBox="1"/>
          <p:nvPr/>
        </p:nvSpPr>
        <p:spPr>
          <a:xfrm>
            <a:off x="7543800"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84" name="Google Shape;1984;h547f90b031e64a91_0_883"/>
          <p:cNvSpPr txBox="1"/>
          <p:nvPr/>
        </p:nvSpPr>
        <p:spPr>
          <a:xfrm>
            <a:off x="8293608" y="2990088"/>
            <a:ext cx="22494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Chinook</a:t>
            </a:r>
            <a:endParaRPr/>
          </a:p>
        </p:txBody>
      </p:sp>
      <p:sp>
        <p:nvSpPr>
          <p:cNvPr id="1985" name="Google Shape;1985;h547f90b031e64a91_0_883"/>
          <p:cNvSpPr txBox="1"/>
          <p:nvPr/>
        </p:nvSpPr>
        <p:spPr>
          <a:xfrm>
            <a:off x="8293608"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Claude</a:t>
            </a:r>
            <a:endParaRPr/>
          </a:p>
        </p:txBody>
      </p:sp>
      <p:sp>
        <p:nvSpPr>
          <p:cNvPr id="1986" name="Google Shape;1986;h547f90b031e64a91_0_883"/>
          <p:cNvSpPr txBox="1"/>
          <p:nvPr/>
        </p:nvSpPr>
        <p:spPr>
          <a:xfrm>
            <a:off x="9043416"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Mistral</a:t>
            </a:r>
            <a:endParaRPr/>
          </a:p>
        </p:txBody>
      </p:sp>
      <p:sp>
        <p:nvSpPr>
          <p:cNvPr id="1987" name="Google Shape;1987;h547f90b031e64a91_0_883"/>
          <p:cNvSpPr txBox="1"/>
          <p:nvPr/>
        </p:nvSpPr>
        <p:spPr>
          <a:xfrm>
            <a:off x="9793224" y="3218688"/>
            <a:ext cx="749700" cy="183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050" u="none" cap="none" strike="noStrike">
                <a:solidFill>
                  <a:srgbClr val="5B6770"/>
                </a:solidFill>
                <a:latin typeface="Calibri"/>
                <a:ea typeface="Calibri"/>
                <a:cs typeface="Calibri"/>
                <a:sym typeface="Calibri"/>
              </a:rPr>
              <a:t>DeepSeek</a:t>
            </a:r>
            <a:endParaRPr/>
          </a:p>
        </p:txBody>
      </p:sp>
      <p:sp>
        <p:nvSpPr>
          <p:cNvPr id="1988" name="Google Shape;1988;h547f90b031e64a91_0_883"/>
          <p:cNvSpPr txBox="1"/>
          <p:nvPr/>
        </p:nvSpPr>
        <p:spPr>
          <a:xfrm>
            <a:off x="10588752" y="3099816"/>
            <a:ext cx="685800" cy="237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5B6770"/>
                </a:solidFill>
                <a:latin typeface="Calibri"/>
                <a:ea typeface="Calibri"/>
                <a:cs typeface="Calibri"/>
                <a:sym typeface="Calibri"/>
              </a:rPr>
              <a:t>Avg</a:t>
            </a:r>
            <a:endParaRPr/>
          </a:p>
        </p:txBody>
      </p:sp>
      <p:sp>
        <p:nvSpPr>
          <p:cNvPr id="1989" name="Google Shape;1989;h547f90b031e64a91_0_883"/>
          <p:cNvSpPr txBox="1"/>
          <p:nvPr/>
        </p:nvSpPr>
        <p:spPr>
          <a:xfrm>
            <a:off x="2514600" y="3447288"/>
            <a:ext cx="1280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Direct Mapping</a:t>
            </a:r>
            <a:endParaRPr/>
          </a:p>
        </p:txBody>
      </p:sp>
      <p:sp>
        <p:nvSpPr>
          <p:cNvPr id="1990" name="Google Shape;1990;h547f90b031e64a91_0_883"/>
          <p:cNvSpPr txBox="1"/>
          <p:nvPr/>
        </p:nvSpPr>
        <p:spPr>
          <a:xfrm>
            <a:off x="2514600" y="3630168"/>
            <a:ext cx="1280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LLM baseline</a:t>
            </a:r>
            <a:endParaRPr/>
          </a:p>
        </p:txBody>
      </p:sp>
      <p:sp>
        <p:nvSpPr>
          <p:cNvPr id="1991" name="Google Shape;1991;h547f90b031e64a91_0_883"/>
          <p:cNvSpPr/>
          <p:nvPr/>
        </p:nvSpPr>
        <p:spPr>
          <a:xfrm>
            <a:off x="3813048" y="3456432"/>
            <a:ext cx="6711600" cy="3474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1" lang="en-US" sz="1200" u="none" cap="none" strike="noStrike">
                <a:solidFill>
                  <a:srgbClr val="1F2328"/>
                </a:solidFill>
                <a:latin typeface="Calibri"/>
                <a:ea typeface="Calibri"/>
                <a:cs typeface="Calibri"/>
                <a:sym typeface="Calibri"/>
              </a:rPr>
              <a:t>No labels, provenance or class hierarchy, in any run.</a:t>
            </a:r>
            <a:endParaRPr/>
          </a:p>
        </p:txBody>
      </p:sp>
      <p:sp>
        <p:nvSpPr>
          <p:cNvPr id="1992" name="Google Shape;1992;h547f90b031e64a91_0_883"/>
          <p:cNvSpPr txBox="1"/>
          <p:nvPr/>
        </p:nvSpPr>
        <p:spPr>
          <a:xfrm>
            <a:off x="1078992" y="3867912"/>
            <a:ext cx="1417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2F6B78"/>
                </a:solidFill>
                <a:latin typeface="Calibri"/>
                <a:ea typeface="Calibri"/>
                <a:cs typeface="Calibri"/>
                <a:sym typeface="Calibri"/>
              </a:rPr>
              <a:t>Labels &amp; comments</a:t>
            </a:r>
            <a:endParaRPr/>
          </a:p>
        </p:txBody>
      </p:sp>
      <p:sp>
        <p:nvSpPr>
          <p:cNvPr id="1993" name="Google Shape;1993;h547f90b031e64a91_0_883"/>
          <p:cNvSpPr txBox="1"/>
          <p:nvPr/>
        </p:nvSpPr>
        <p:spPr>
          <a:xfrm>
            <a:off x="2514600" y="3867912"/>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1994" name="Google Shape;1994;h547f90b031e64a91_0_883"/>
          <p:cNvSpPr/>
          <p:nvPr/>
        </p:nvSpPr>
        <p:spPr>
          <a:xfrm>
            <a:off x="3813048"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680</a:t>
            </a:r>
            <a:endParaRPr/>
          </a:p>
        </p:txBody>
      </p:sp>
      <p:sp>
        <p:nvSpPr>
          <p:cNvPr id="1995" name="Google Shape;1995;h547f90b031e64a91_0_883"/>
          <p:cNvSpPr/>
          <p:nvPr/>
        </p:nvSpPr>
        <p:spPr>
          <a:xfrm>
            <a:off x="4562856"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134</a:t>
            </a:r>
            <a:endParaRPr/>
          </a:p>
        </p:txBody>
      </p:sp>
      <p:sp>
        <p:nvSpPr>
          <p:cNvPr id="1996" name="Google Shape;1996;h547f90b031e64a91_0_883"/>
          <p:cNvSpPr/>
          <p:nvPr/>
        </p:nvSpPr>
        <p:spPr>
          <a:xfrm>
            <a:off x="5312664"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736</a:t>
            </a:r>
            <a:endParaRPr/>
          </a:p>
        </p:txBody>
      </p:sp>
      <p:sp>
        <p:nvSpPr>
          <p:cNvPr id="1997" name="Google Shape;1997;h547f90b031e64a91_0_883"/>
          <p:cNvSpPr/>
          <p:nvPr/>
        </p:nvSpPr>
        <p:spPr>
          <a:xfrm>
            <a:off x="6062472" y="38862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877</a:t>
            </a:r>
            <a:endParaRPr/>
          </a:p>
        </p:txBody>
      </p:sp>
      <p:sp>
        <p:nvSpPr>
          <p:cNvPr id="1998" name="Google Shape;1998;h547f90b031e64a91_0_883"/>
          <p:cNvSpPr/>
          <p:nvPr/>
        </p:nvSpPr>
        <p:spPr>
          <a:xfrm>
            <a:off x="6812279"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157</a:t>
            </a:r>
            <a:endParaRPr/>
          </a:p>
        </p:txBody>
      </p:sp>
      <p:sp>
        <p:nvSpPr>
          <p:cNvPr id="1999" name="Google Shape;1999;h547f90b031e64a91_0_883"/>
          <p:cNvSpPr/>
          <p:nvPr/>
        </p:nvSpPr>
        <p:spPr>
          <a:xfrm>
            <a:off x="7562088" y="3886200"/>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743</a:t>
            </a:r>
            <a:endParaRPr/>
          </a:p>
        </p:txBody>
      </p:sp>
      <p:sp>
        <p:nvSpPr>
          <p:cNvPr id="2000" name="Google Shape;2000;h547f90b031e64a91_0_883"/>
          <p:cNvSpPr/>
          <p:nvPr/>
        </p:nvSpPr>
        <p:spPr>
          <a:xfrm>
            <a:off x="8311896" y="3886200"/>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98</a:t>
            </a:r>
            <a:endParaRPr/>
          </a:p>
        </p:txBody>
      </p:sp>
      <p:sp>
        <p:nvSpPr>
          <p:cNvPr id="2001" name="Google Shape;2001;h547f90b031e64a91_0_883"/>
          <p:cNvSpPr/>
          <p:nvPr/>
        </p:nvSpPr>
        <p:spPr>
          <a:xfrm>
            <a:off x="9061704"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14</a:t>
            </a:r>
            <a:endParaRPr/>
          </a:p>
        </p:txBody>
      </p:sp>
      <p:sp>
        <p:nvSpPr>
          <p:cNvPr id="2002" name="Google Shape;2002;h547f90b031e64a91_0_883"/>
          <p:cNvSpPr/>
          <p:nvPr/>
        </p:nvSpPr>
        <p:spPr>
          <a:xfrm>
            <a:off x="9811512" y="38862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64</a:t>
            </a:r>
            <a:endParaRPr/>
          </a:p>
        </p:txBody>
      </p:sp>
      <p:sp>
        <p:nvSpPr>
          <p:cNvPr id="2003" name="Google Shape;2003;h547f90b031e64a91_0_883"/>
          <p:cNvSpPr txBox="1"/>
          <p:nvPr/>
        </p:nvSpPr>
        <p:spPr>
          <a:xfrm>
            <a:off x="10588752" y="3867912"/>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389</a:t>
            </a:r>
            <a:endParaRPr/>
          </a:p>
        </p:txBody>
      </p:sp>
      <p:sp>
        <p:nvSpPr>
          <p:cNvPr id="2004" name="Google Shape;2004;h547f90b031e64a91_0_883"/>
          <p:cNvSpPr txBox="1"/>
          <p:nvPr/>
        </p:nvSpPr>
        <p:spPr>
          <a:xfrm>
            <a:off x="2514600" y="4123944"/>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05" name="Google Shape;2005;h547f90b031e64a91_0_883"/>
          <p:cNvSpPr/>
          <p:nvPr/>
        </p:nvSpPr>
        <p:spPr>
          <a:xfrm>
            <a:off x="3813048"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1,029</a:t>
            </a:r>
            <a:endParaRPr/>
          </a:p>
        </p:txBody>
      </p:sp>
      <p:sp>
        <p:nvSpPr>
          <p:cNvPr id="2006" name="Google Shape;2006;h547f90b031e64a91_0_883"/>
          <p:cNvSpPr/>
          <p:nvPr/>
        </p:nvSpPr>
        <p:spPr>
          <a:xfrm>
            <a:off x="4562856"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1,137</a:t>
            </a:r>
            <a:endParaRPr/>
          </a:p>
        </p:txBody>
      </p:sp>
      <p:sp>
        <p:nvSpPr>
          <p:cNvPr id="2007" name="Google Shape;2007;h547f90b031e64a91_0_883"/>
          <p:cNvSpPr/>
          <p:nvPr/>
        </p:nvSpPr>
        <p:spPr>
          <a:xfrm>
            <a:off x="5312664" y="4142232"/>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341</a:t>
            </a:r>
            <a:endParaRPr/>
          </a:p>
        </p:txBody>
      </p:sp>
      <p:sp>
        <p:nvSpPr>
          <p:cNvPr id="2008" name="Google Shape;2008;h547f90b031e64a91_0_883"/>
          <p:cNvSpPr/>
          <p:nvPr/>
        </p:nvSpPr>
        <p:spPr>
          <a:xfrm>
            <a:off x="6062472"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1,291</a:t>
            </a:r>
            <a:endParaRPr/>
          </a:p>
        </p:txBody>
      </p:sp>
      <p:sp>
        <p:nvSpPr>
          <p:cNvPr id="2009" name="Google Shape;2009;h547f90b031e64a91_0_883"/>
          <p:cNvSpPr/>
          <p:nvPr/>
        </p:nvSpPr>
        <p:spPr>
          <a:xfrm>
            <a:off x="6812279"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1,684</a:t>
            </a:r>
            <a:endParaRPr/>
          </a:p>
        </p:txBody>
      </p:sp>
      <p:sp>
        <p:nvSpPr>
          <p:cNvPr id="2010" name="Google Shape;2010;h547f90b031e64a91_0_883"/>
          <p:cNvSpPr/>
          <p:nvPr/>
        </p:nvSpPr>
        <p:spPr>
          <a:xfrm>
            <a:off x="7562088" y="4142232"/>
            <a:ext cx="713100" cy="2196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435</a:t>
            </a:r>
            <a:endParaRPr/>
          </a:p>
        </p:txBody>
      </p:sp>
      <p:sp>
        <p:nvSpPr>
          <p:cNvPr id="2011" name="Google Shape;2011;h547f90b031e64a91_0_883"/>
          <p:cNvSpPr/>
          <p:nvPr/>
        </p:nvSpPr>
        <p:spPr>
          <a:xfrm>
            <a:off x="8311896"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357</a:t>
            </a:r>
            <a:endParaRPr/>
          </a:p>
        </p:txBody>
      </p:sp>
      <p:sp>
        <p:nvSpPr>
          <p:cNvPr id="2012" name="Google Shape;2012;h547f90b031e64a91_0_883"/>
          <p:cNvSpPr/>
          <p:nvPr/>
        </p:nvSpPr>
        <p:spPr>
          <a:xfrm>
            <a:off x="9061704"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362</a:t>
            </a:r>
            <a:endParaRPr/>
          </a:p>
        </p:txBody>
      </p:sp>
      <p:sp>
        <p:nvSpPr>
          <p:cNvPr id="2013" name="Google Shape;2013;h547f90b031e64a91_0_883"/>
          <p:cNvSpPr/>
          <p:nvPr/>
        </p:nvSpPr>
        <p:spPr>
          <a:xfrm>
            <a:off x="9811512" y="4142232"/>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359</a:t>
            </a:r>
            <a:endParaRPr/>
          </a:p>
        </p:txBody>
      </p:sp>
      <p:sp>
        <p:nvSpPr>
          <p:cNvPr id="2014" name="Google Shape;2014;h547f90b031e64a91_0_883"/>
          <p:cNvSpPr txBox="1"/>
          <p:nvPr/>
        </p:nvSpPr>
        <p:spPr>
          <a:xfrm>
            <a:off x="10588752" y="4123944"/>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777</a:t>
            </a:r>
            <a:endParaRPr/>
          </a:p>
        </p:txBody>
      </p:sp>
      <p:sp>
        <p:nvSpPr>
          <p:cNvPr id="2015" name="Google Shape;2015;h547f90b031e64a91_0_883"/>
          <p:cNvSpPr txBox="1"/>
          <p:nvPr/>
        </p:nvSpPr>
        <p:spPr>
          <a:xfrm>
            <a:off x="1078992" y="4425696"/>
            <a:ext cx="1417200" cy="512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2F6B78"/>
                </a:solidFill>
                <a:latin typeface="Calibri"/>
                <a:ea typeface="Calibri"/>
                <a:cs typeface="Calibri"/>
                <a:sym typeface="Calibri"/>
              </a:rPr>
              <a:t>Provenance links</a:t>
            </a:r>
            <a:endParaRPr/>
          </a:p>
        </p:txBody>
      </p:sp>
      <p:sp>
        <p:nvSpPr>
          <p:cNvPr id="2016" name="Google Shape;2016;h547f90b031e64a91_0_883"/>
          <p:cNvSpPr txBox="1"/>
          <p:nvPr/>
        </p:nvSpPr>
        <p:spPr>
          <a:xfrm>
            <a:off x="2514600" y="4425696"/>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2017" name="Google Shape;2017;h547f90b031e64a91_0_883"/>
          <p:cNvSpPr/>
          <p:nvPr/>
        </p:nvSpPr>
        <p:spPr>
          <a:xfrm>
            <a:off x="3813048"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18" name="Google Shape;2018;h547f90b031e64a91_0_883"/>
          <p:cNvSpPr/>
          <p:nvPr/>
        </p:nvSpPr>
        <p:spPr>
          <a:xfrm>
            <a:off x="4562856"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19" name="Google Shape;2019;h547f90b031e64a91_0_883"/>
          <p:cNvSpPr/>
          <p:nvPr/>
        </p:nvSpPr>
        <p:spPr>
          <a:xfrm>
            <a:off x="5312664"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0" name="Google Shape;2020;h547f90b031e64a91_0_883"/>
          <p:cNvSpPr/>
          <p:nvPr/>
        </p:nvSpPr>
        <p:spPr>
          <a:xfrm>
            <a:off x="6062472"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1" name="Google Shape;2021;h547f90b031e64a91_0_883"/>
          <p:cNvSpPr/>
          <p:nvPr/>
        </p:nvSpPr>
        <p:spPr>
          <a:xfrm>
            <a:off x="6812279"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2" name="Google Shape;2022;h547f90b031e64a91_0_883"/>
          <p:cNvSpPr/>
          <p:nvPr/>
        </p:nvSpPr>
        <p:spPr>
          <a:xfrm>
            <a:off x="7562088"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3" name="Google Shape;2023;h547f90b031e64a91_0_883"/>
          <p:cNvSpPr/>
          <p:nvPr/>
        </p:nvSpPr>
        <p:spPr>
          <a:xfrm>
            <a:off x="8311896"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4" name="Google Shape;2024;h547f90b031e64a91_0_883"/>
          <p:cNvSpPr/>
          <p:nvPr/>
        </p:nvSpPr>
        <p:spPr>
          <a:xfrm>
            <a:off x="9061704"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5" name="Google Shape;2025;h547f90b031e64a91_0_883"/>
          <p:cNvSpPr/>
          <p:nvPr/>
        </p:nvSpPr>
        <p:spPr>
          <a:xfrm>
            <a:off x="9811512" y="4443984"/>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0</a:t>
            </a:r>
            <a:endParaRPr/>
          </a:p>
        </p:txBody>
      </p:sp>
      <p:sp>
        <p:nvSpPr>
          <p:cNvPr id="2026" name="Google Shape;2026;h547f90b031e64a91_0_883"/>
          <p:cNvSpPr txBox="1"/>
          <p:nvPr/>
        </p:nvSpPr>
        <p:spPr>
          <a:xfrm>
            <a:off x="10588752" y="4425696"/>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250" u="none" cap="none" strike="noStrike">
                <a:solidFill>
                  <a:srgbClr val="1F2328"/>
                </a:solidFill>
                <a:latin typeface="Calibri"/>
                <a:ea typeface="Calibri"/>
                <a:cs typeface="Calibri"/>
                <a:sym typeface="Calibri"/>
              </a:rPr>
              <a:t>0</a:t>
            </a:r>
            <a:endParaRPr/>
          </a:p>
        </p:txBody>
      </p:sp>
      <p:sp>
        <p:nvSpPr>
          <p:cNvPr id="2027" name="Google Shape;2027;h547f90b031e64a91_0_883"/>
          <p:cNvSpPr txBox="1"/>
          <p:nvPr/>
        </p:nvSpPr>
        <p:spPr>
          <a:xfrm>
            <a:off x="2514600" y="4681728"/>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28" name="Google Shape;2028;h547f90b031e64a91_0_883"/>
          <p:cNvSpPr/>
          <p:nvPr/>
        </p:nvSpPr>
        <p:spPr>
          <a:xfrm>
            <a:off x="3813048"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336</a:t>
            </a:r>
            <a:endParaRPr/>
          </a:p>
        </p:txBody>
      </p:sp>
      <p:sp>
        <p:nvSpPr>
          <p:cNvPr id="2029" name="Google Shape;2029;h547f90b031e64a91_0_883"/>
          <p:cNvSpPr/>
          <p:nvPr/>
        </p:nvSpPr>
        <p:spPr>
          <a:xfrm>
            <a:off x="4562856"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308</a:t>
            </a:r>
            <a:endParaRPr/>
          </a:p>
        </p:txBody>
      </p:sp>
      <p:sp>
        <p:nvSpPr>
          <p:cNvPr id="2030" name="Google Shape;2030;h547f90b031e64a91_0_883"/>
          <p:cNvSpPr/>
          <p:nvPr/>
        </p:nvSpPr>
        <p:spPr>
          <a:xfrm>
            <a:off x="5312664" y="4700016"/>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22</a:t>
            </a:r>
            <a:endParaRPr/>
          </a:p>
        </p:txBody>
      </p:sp>
      <p:sp>
        <p:nvSpPr>
          <p:cNvPr id="2031" name="Google Shape;2031;h547f90b031e64a91_0_883"/>
          <p:cNvSpPr/>
          <p:nvPr/>
        </p:nvSpPr>
        <p:spPr>
          <a:xfrm>
            <a:off x="6062472"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423</a:t>
            </a:r>
            <a:endParaRPr/>
          </a:p>
        </p:txBody>
      </p:sp>
      <p:sp>
        <p:nvSpPr>
          <p:cNvPr id="2032" name="Google Shape;2032;h547f90b031e64a91_0_883"/>
          <p:cNvSpPr/>
          <p:nvPr/>
        </p:nvSpPr>
        <p:spPr>
          <a:xfrm>
            <a:off x="6812279"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335</a:t>
            </a:r>
            <a:endParaRPr/>
          </a:p>
        </p:txBody>
      </p:sp>
      <p:sp>
        <p:nvSpPr>
          <p:cNvPr id="2033" name="Google Shape;2033;h547f90b031e64a91_0_883"/>
          <p:cNvSpPr/>
          <p:nvPr/>
        </p:nvSpPr>
        <p:spPr>
          <a:xfrm>
            <a:off x="7562088" y="4700016"/>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99</a:t>
            </a:r>
            <a:endParaRPr/>
          </a:p>
        </p:txBody>
      </p:sp>
      <p:sp>
        <p:nvSpPr>
          <p:cNvPr id="2034" name="Google Shape;2034;h547f90b031e64a91_0_883"/>
          <p:cNvSpPr/>
          <p:nvPr/>
        </p:nvSpPr>
        <p:spPr>
          <a:xfrm>
            <a:off x="8311896"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81</a:t>
            </a:r>
            <a:endParaRPr/>
          </a:p>
        </p:txBody>
      </p:sp>
      <p:sp>
        <p:nvSpPr>
          <p:cNvPr id="2035" name="Google Shape;2035;h547f90b031e64a91_0_883"/>
          <p:cNvSpPr/>
          <p:nvPr/>
        </p:nvSpPr>
        <p:spPr>
          <a:xfrm>
            <a:off x="9061704"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83</a:t>
            </a:r>
            <a:endParaRPr/>
          </a:p>
        </p:txBody>
      </p:sp>
      <p:sp>
        <p:nvSpPr>
          <p:cNvPr id="2036" name="Google Shape;2036;h547f90b031e64a91_0_883"/>
          <p:cNvSpPr/>
          <p:nvPr/>
        </p:nvSpPr>
        <p:spPr>
          <a:xfrm>
            <a:off x="9811512" y="4700016"/>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75</a:t>
            </a:r>
            <a:endParaRPr/>
          </a:p>
        </p:txBody>
      </p:sp>
      <p:sp>
        <p:nvSpPr>
          <p:cNvPr id="2037" name="Google Shape;2037;h547f90b031e64a91_0_883"/>
          <p:cNvSpPr txBox="1"/>
          <p:nvPr/>
        </p:nvSpPr>
        <p:spPr>
          <a:xfrm>
            <a:off x="10588752" y="4681728"/>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196</a:t>
            </a:r>
            <a:endParaRPr/>
          </a:p>
        </p:txBody>
      </p:sp>
      <p:sp>
        <p:nvSpPr>
          <p:cNvPr id="2038" name="Google Shape;2038;h547f90b031e64a91_0_883"/>
          <p:cNvSpPr txBox="1"/>
          <p:nvPr/>
        </p:nvSpPr>
        <p:spPr>
          <a:xfrm>
            <a:off x="1078992" y="5001768"/>
            <a:ext cx="1417200" cy="237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2F6B78"/>
                </a:solidFill>
                <a:latin typeface="Calibri"/>
                <a:ea typeface="Calibri"/>
                <a:cs typeface="Calibri"/>
                <a:sym typeface="Calibri"/>
              </a:rPr>
              <a:t>Class hierarchy</a:t>
            </a:r>
            <a:endParaRPr/>
          </a:p>
        </p:txBody>
      </p:sp>
      <p:sp>
        <p:nvSpPr>
          <p:cNvPr id="2039" name="Google Shape;2039;h547f90b031e64a91_0_883"/>
          <p:cNvSpPr txBox="1"/>
          <p:nvPr/>
        </p:nvSpPr>
        <p:spPr>
          <a:xfrm>
            <a:off x="1078992" y="5239512"/>
            <a:ext cx="14172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1050">
                <a:solidFill>
                  <a:srgbClr val="5B6770"/>
                </a:solidFill>
                <a:latin typeface="Calibri"/>
                <a:ea typeface="Calibri"/>
                <a:cs typeface="Calibri"/>
                <a:sym typeface="Calibri"/>
              </a:rPr>
              <a:t>(</a:t>
            </a:r>
            <a:r>
              <a:rPr b="0" i="1" lang="en-US" sz="1050" u="none" cap="none" strike="noStrike">
                <a:solidFill>
                  <a:srgbClr val="5B6770"/>
                </a:solidFill>
                <a:latin typeface="Calibri"/>
                <a:ea typeface="Calibri"/>
                <a:cs typeface="Calibri"/>
                <a:sym typeface="Calibri"/>
              </a:rPr>
              <a:t>inheritance richness)</a:t>
            </a:r>
            <a:endParaRPr/>
          </a:p>
        </p:txBody>
      </p:sp>
      <p:sp>
        <p:nvSpPr>
          <p:cNvPr id="2040" name="Google Shape;2040;h547f90b031e64a91_0_883"/>
          <p:cNvSpPr txBox="1"/>
          <p:nvPr/>
        </p:nvSpPr>
        <p:spPr>
          <a:xfrm>
            <a:off x="2514600" y="4983480"/>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00" u="none" cap="none" strike="noStrike">
                <a:solidFill>
                  <a:srgbClr val="1F2328"/>
                </a:solidFill>
                <a:latin typeface="Calibri"/>
                <a:ea typeface="Calibri"/>
                <a:cs typeface="Calibri"/>
                <a:sym typeface="Calibri"/>
              </a:rPr>
              <a:t>Non-Iterative RAG</a:t>
            </a:r>
            <a:endParaRPr/>
          </a:p>
        </p:txBody>
      </p:sp>
      <p:sp>
        <p:nvSpPr>
          <p:cNvPr id="2041" name="Google Shape;2041;h547f90b031e64a91_0_883"/>
          <p:cNvSpPr/>
          <p:nvPr/>
        </p:nvSpPr>
        <p:spPr>
          <a:xfrm>
            <a:off x="3813048"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2" name="Google Shape;2042;h547f90b031e64a91_0_883"/>
          <p:cNvSpPr/>
          <p:nvPr/>
        </p:nvSpPr>
        <p:spPr>
          <a:xfrm>
            <a:off x="4562856"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3" name="Google Shape;2043;h547f90b031e64a91_0_883"/>
          <p:cNvSpPr/>
          <p:nvPr/>
        </p:nvSpPr>
        <p:spPr>
          <a:xfrm>
            <a:off x="5312664"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4" name="Google Shape;2044;h547f90b031e64a91_0_883"/>
          <p:cNvSpPr/>
          <p:nvPr/>
        </p:nvSpPr>
        <p:spPr>
          <a:xfrm>
            <a:off x="6062472"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5" name="Google Shape;2045;h547f90b031e64a91_0_883"/>
          <p:cNvSpPr/>
          <p:nvPr/>
        </p:nvSpPr>
        <p:spPr>
          <a:xfrm>
            <a:off x="6812279"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6" name="Google Shape;2046;h547f90b031e64a91_0_883"/>
          <p:cNvSpPr/>
          <p:nvPr/>
        </p:nvSpPr>
        <p:spPr>
          <a:xfrm>
            <a:off x="7562088"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7" name="Google Shape;2047;h547f90b031e64a91_0_883"/>
          <p:cNvSpPr/>
          <p:nvPr/>
        </p:nvSpPr>
        <p:spPr>
          <a:xfrm>
            <a:off x="8311896"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8" name="Google Shape;2048;h547f90b031e64a91_0_883"/>
          <p:cNvSpPr/>
          <p:nvPr/>
        </p:nvSpPr>
        <p:spPr>
          <a:xfrm>
            <a:off x="9061704"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49" name="Google Shape;2049;h547f90b031e64a91_0_883"/>
          <p:cNvSpPr/>
          <p:nvPr/>
        </p:nvSpPr>
        <p:spPr>
          <a:xfrm>
            <a:off x="9811512" y="5001768"/>
            <a:ext cx="713100" cy="2196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00">
                <a:solidFill>
                  <a:srgbClr val="1F2328"/>
                </a:solidFill>
                <a:latin typeface="Calibri"/>
                <a:ea typeface="Calibri"/>
                <a:cs typeface="Calibri"/>
                <a:sym typeface="Calibri"/>
              </a:rPr>
              <a:t>0</a:t>
            </a:r>
            <a:endParaRPr/>
          </a:p>
        </p:txBody>
      </p:sp>
      <p:sp>
        <p:nvSpPr>
          <p:cNvPr id="2050" name="Google Shape;2050;h547f90b031e64a91_0_883"/>
          <p:cNvSpPr txBox="1"/>
          <p:nvPr/>
        </p:nvSpPr>
        <p:spPr>
          <a:xfrm>
            <a:off x="10588752" y="4983480"/>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1250">
                <a:solidFill>
                  <a:srgbClr val="1F2328"/>
                </a:solidFill>
                <a:latin typeface="Calibri"/>
                <a:ea typeface="Calibri"/>
                <a:cs typeface="Calibri"/>
                <a:sym typeface="Calibri"/>
              </a:rPr>
              <a:t>0</a:t>
            </a:r>
            <a:endParaRPr/>
          </a:p>
        </p:txBody>
      </p:sp>
      <p:sp>
        <p:nvSpPr>
          <p:cNvPr id="2051" name="Google Shape;2051;h547f90b031e64a91_0_883"/>
          <p:cNvSpPr txBox="1"/>
          <p:nvPr/>
        </p:nvSpPr>
        <p:spPr>
          <a:xfrm>
            <a:off x="2514600" y="5239512"/>
            <a:ext cx="12801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RIGOR</a:t>
            </a:r>
            <a:endParaRPr/>
          </a:p>
        </p:txBody>
      </p:sp>
      <p:sp>
        <p:nvSpPr>
          <p:cNvPr id="2052" name="Google Shape;2052;h547f90b031e64a91_0_883"/>
          <p:cNvSpPr/>
          <p:nvPr/>
        </p:nvSpPr>
        <p:spPr>
          <a:xfrm>
            <a:off x="3813048"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0.70</a:t>
            </a:r>
            <a:endParaRPr/>
          </a:p>
        </p:txBody>
      </p:sp>
      <p:sp>
        <p:nvSpPr>
          <p:cNvPr id="2053" name="Google Shape;2053;h547f90b031e64a91_0_883"/>
          <p:cNvSpPr/>
          <p:nvPr/>
        </p:nvSpPr>
        <p:spPr>
          <a:xfrm>
            <a:off x="4562856"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0.39</a:t>
            </a:r>
            <a:endParaRPr/>
          </a:p>
        </p:txBody>
      </p:sp>
      <p:sp>
        <p:nvSpPr>
          <p:cNvPr id="2054" name="Google Shape;2054;h547f90b031e64a91_0_883"/>
          <p:cNvSpPr/>
          <p:nvPr/>
        </p:nvSpPr>
        <p:spPr>
          <a:xfrm>
            <a:off x="5312664" y="52578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0.13</a:t>
            </a:r>
            <a:endParaRPr/>
          </a:p>
        </p:txBody>
      </p:sp>
      <p:sp>
        <p:nvSpPr>
          <p:cNvPr id="2055" name="Google Shape;2055;h547f90b031e64a91_0_883"/>
          <p:cNvSpPr/>
          <p:nvPr/>
        </p:nvSpPr>
        <p:spPr>
          <a:xfrm>
            <a:off x="6062472"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0.62</a:t>
            </a:r>
            <a:endParaRPr/>
          </a:p>
        </p:txBody>
      </p:sp>
      <p:sp>
        <p:nvSpPr>
          <p:cNvPr id="2056" name="Google Shape;2056;h547f90b031e64a91_0_883"/>
          <p:cNvSpPr/>
          <p:nvPr/>
        </p:nvSpPr>
        <p:spPr>
          <a:xfrm>
            <a:off x="6812279"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0.49</a:t>
            </a:r>
            <a:endParaRPr/>
          </a:p>
        </p:txBody>
      </p:sp>
      <p:sp>
        <p:nvSpPr>
          <p:cNvPr id="2057" name="Google Shape;2057;h547f90b031e64a91_0_883"/>
          <p:cNvSpPr/>
          <p:nvPr/>
        </p:nvSpPr>
        <p:spPr>
          <a:xfrm>
            <a:off x="7562088" y="5257800"/>
            <a:ext cx="713100" cy="2196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0.10</a:t>
            </a:r>
            <a:endParaRPr/>
          </a:p>
        </p:txBody>
      </p:sp>
      <p:sp>
        <p:nvSpPr>
          <p:cNvPr id="2058" name="Google Shape;2058;h547f90b031e64a91_0_883"/>
          <p:cNvSpPr/>
          <p:nvPr/>
        </p:nvSpPr>
        <p:spPr>
          <a:xfrm>
            <a:off x="8311896"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2.12</a:t>
            </a:r>
            <a:endParaRPr/>
          </a:p>
        </p:txBody>
      </p:sp>
      <p:sp>
        <p:nvSpPr>
          <p:cNvPr id="2059" name="Google Shape;2059;h547f90b031e64a91_0_883"/>
          <p:cNvSpPr/>
          <p:nvPr/>
        </p:nvSpPr>
        <p:spPr>
          <a:xfrm>
            <a:off x="9061704" y="5257800"/>
            <a:ext cx="713100" cy="2196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2.72</a:t>
            </a:r>
            <a:endParaRPr/>
          </a:p>
        </p:txBody>
      </p:sp>
      <p:sp>
        <p:nvSpPr>
          <p:cNvPr id="2060" name="Google Shape;2060;h547f90b031e64a91_0_883"/>
          <p:cNvSpPr/>
          <p:nvPr/>
        </p:nvSpPr>
        <p:spPr>
          <a:xfrm>
            <a:off x="9811512" y="5257800"/>
            <a:ext cx="713100" cy="2196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00" u="none" cap="none" strike="noStrike">
                <a:solidFill>
                  <a:srgbClr val="1F2328"/>
                </a:solidFill>
                <a:latin typeface="Calibri"/>
                <a:ea typeface="Calibri"/>
                <a:cs typeface="Calibri"/>
                <a:sym typeface="Calibri"/>
              </a:rPr>
              <a:t>4.07</a:t>
            </a:r>
            <a:endParaRPr/>
          </a:p>
        </p:txBody>
      </p:sp>
      <p:sp>
        <p:nvSpPr>
          <p:cNvPr id="2061" name="Google Shape;2061;h547f90b031e64a91_0_883"/>
          <p:cNvSpPr txBox="1"/>
          <p:nvPr/>
        </p:nvSpPr>
        <p:spPr>
          <a:xfrm>
            <a:off x="10588752" y="5239512"/>
            <a:ext cx="685800" cy="2559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250" u="none" cap="none" strike="noStrike">
                <a:solidFill>
                  <a:srgbClr val="0B6E4F"/>
                </a:solidFill>
                <a:latin typeface="Calibri"/>
                <a:ea typeface="Calibri"/>
                <a:cs typeface="Calibri"/>
                <a:sym typeface="Calibri"/>
              </a:rPr>
              <a:t>1.26</a:t>
            </a:r>
            <a:endParaRPr/>
          </a:p>
        </p:txBody>
      </p:sp>
      <p:sp>
        <p:nvSpPr>
          <p:cNvPr id="2062" name="Google Shape;2062;h547f90b031e64a91_0_883"/>
          <p:cNvSpPr/>
          <p:nvPr/>
        </p:nvSpPr>
        <p:spPr>
          <a:xfrm>
            <a:off x="804672" y="5879592"/>
            <a:ext cx="10579500" cy="420600"/>
          </a:xfrm>
          <a:prstGeom prst="roundRect">
            <a:avLst>
              <a:gd fmla="val 12000" name="adj"/>
            </a:avLst>
          </a:prstGeom>
          <a:solidFill>
            <a:srgbClr val="E6F2EC"/>
          </a:solidFill>
          <a:ln>
            <a:noFill/>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0" i="0" lang="en-US" sz="1400" u="none" cap="none" strike="noStrike">
                <a:solidFill>
                  <a:srgbClr val="3A434C"/>
                </a:solidFill>
                <a:latin typeface="Calibri"/>
                <a:ea typeface="Calibri"/>
                <a:cs typeface="Calibri"/>
                <a:sym typeface="Calibri"/>
              </a:rPr>
              <a:t>Only RIGOR adds </a:t>
            </a:r>
            <a:r>
              <a:rPr b="1" i="0" lang="en-US" sz="1400" u="none" cap="none" strike="noStrike">
                <a:solidFill>
                  <a:srgbClr val="3A434C"/>
                </a:solidFill>
                <a:latin typeface="Calibri"/>
                <a:ea typeface="Calibri"/>
                <a:cs typeface="Calibri"/>
                <a:sym typeface="Calibri"/>
              </a:rPr>
              <a:t>labels</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3A434C"/>
                </a:solidFill>
                <a:latin typeface="Calibri"/>
                <a:ea typeface="Calibri"/>
                <a:cs typeface="Calibri"/>
                <a:sym typeface="Calibri"/>
              </a:rPr>
              <a:t>provenance</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1F2328"/>
                </a:solidFill>
                <a:latin typeface="Calibri"/>
                <a:ea typeface="Calibri"/>
                <a:cs typeface="Calibri"/>
                <a:sym typeface="Calibri"/>
              </a:rPr>
              <a:t>and</a:t>
            </a:r>
            <a:r>
              <a:rPr b="0" i="0" lang="en-US" sz="1400" u="none" cap="none" strike="noStrike">
                <a:solidFill>
                  <a:srgbClr val="3A434C"/>
                </a:solidFill>
                <a:latin typeface="Calibri"/>
                <a:ea typeface="Calibri"/>
                <a:cs typeface="Calibri"/>
                <a:sym typeface="Calibri"/>
              </a:rPr>
              <a:t> a </a:t>
            </a:r>
            <a:r>
              <a:rPr b="1" i="0" lang="en-US" sz="1400" u="none" cap="none" strike="noStrike">
                <a:solidFill>
                  <a:srgbClr val="3A434C"/>
                </a:solidFill>
                <a:latin typeface="Calibri"/>
                <a:ea typeface="Calibri"/>
                <a:cs typeface="Calibri"/>
                <a:sym typeface="Calibri"/>
              </a:rPr>
              <a:t>class</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3A434C"/>
                </a:solidFill>
                <a:latin typeface="Calibri"/>
                <a:ea typeface="Calibri"/>
                <a:cs typeface="Calibri"/>
                <a:sym typeface="Calibri"/>
              </a:rPr>
              <a:t>hierarchy</a:t>
            </a:r>
            <a:r>
              <a:rPr b="0" i="0" lang="en-US" sz="1400" u="none" cap="none" strike="noStrike">
                <a:solidFill>
                  <a:srgbClr val="3A434C"/>
                </a:solidFill>
                <a:latin typeface="Calibri"/>
                <a:ea typeface="Calibri"/>
                <a:cs typeface="Calibri"/>
                <a:sym typeface="Calibri"/>
              </a:rPr>
              <a:t>: </a:t>
            </a:r>
            <a:r>
              <a:rPr b="1" i="0" lang="en-US" sz="1400" u="none" cap="none" strike="noStrike">
                <a:solidFill>
                  <a:srgbClr val="0B6E4F"/>
                </a:solidFill>
                <a:latin typeface="Calibri"/>
                <a:ea typeface="Calibri"/>
                <a:cs typeface="Calibri"/>
                <a:sym typeface="Calibri"/>
              </a:rPr>
              <a:t>with every LLM, in every database.</a:t>
            </a:r>
            <a:endParaRPr/>
          </a:p>
        </p:txBody>
      </p:sp>
      <p:sp>
        <p:nvSpPr>
          <p:cNvPr id="2063" name="Google Shape;2063;h547f90b031e64a91_0_883"/>
          <p:cNvSpPr txBox="1"/>
          <p:nvPr/>
        </p:nvSpPr>
        <p:spPr>
          <a:xfrm>
            <a:off x="822960" y="6345936"/>
            <a:ext cx="106071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Labels &amp; comments: annotation assertions; provenance: prov:wasDerivedFrom. </a:t>
            </a:r>
            <a:endParaRPr b="0" i="0" sz="1000" u="none" cap="none" strike="noStrike">
              <a:solidFill>
                <a:srgbClr val="5B6770"/>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1000" u="none" cap="none" strike="noStrike">
                <a:solidFill>
                  <a:srgbClr val="5B6770"/>
                </a:solidFill>
                <a:latin typeface="Calibri"/>
                <a:ea typeface="Calibri"/>
                <a:cs typeface="Calibri"/>
                <a:sym typeface="Calibri"/>
              </a:rPr>
              <a:t>Hierarchy: inheritance richness, subclass axioms per class [</a:t>
            </a:r>
            <a:r>
              <a:rPr b="1" i="0" lang="en-US" sz="1000" u="none" cap="none" strike="noStrike">
                <a:solidFill>
                  <a:srgbClr val="5B6770"/>
                </a:solidFill>
                <a:latin typeface="Calibri"/>
                <a:ea typeface="Calibri"/>
                <a:cs typeface="Calibri"/>
                <a:sym typeface="Calibri"/>
              </a:rPr>
              <a:t>OntoQA:</a:t>
            </a:r>
            <a:r>
              <a:rPr b="0" i="0" lang="en-US" sz="1000" u="none" cap="none" strike="noStrike">
                <a:solidFill>
                  <a:srgbClr val="5B6770"/>
                </a:solidFill>
                <a:latin typeface="Calibri"/>
                <a:ea typeface="Calibri"/>
                <a:cs typeface="Calibri"/>
                <a:sym typeface="Calibri"/>
              </a:rPr>
              <a:t> Tartir et al., KADASH 2005; </a:t>
            </a:r>
            <a:r>
              <a:rPr b="1" i="0" lang="en-US" sz="1000" u="none" cap="none" strike="noStrike">
                <a:solidFill>
                  <a:srgbClr val="5B6770"/>
                </a:solidFill>
                <a:latin typeface="Calibri"/>
                <a:ea typeface="Calibri"/>
                <a:cs typeface="Calibri"/>
                <a:sym typeface="Calibri"/>
              </a:rPr>
              <a:t>OntoMetrics:</a:t>
            </a:r>
            <a:r>
              <a:rPr b="0" i="0" lang="en-US" sz="1000" u="none" cap="none" strike="noStrike">
                <a:solidFill>
                  <a:srgbClr val="5B6770"/>
                </a:solidFill>
                <a:latin typeface="Calibri"/>
                <a:ea typeface="Calibri"/>
                <a:cs typeface="Calibri"/>
                <a:sym typeface="Calibri"/>
              </a:rPr>
              <a:t> Lantow, KEOD 2016]</a:t>
            </a:r>
            <a:r>
              <a:rPr lang="en-US" sz="1000">
                <a:solidFill>
                  <a:srgbClr val="5B6770"/>
                </a:solidFill>
                <a:latin typeface="Calibri"/>
                <a:ea typeface="Calibri"/>
                <a:cs typeface="Calibri"/>
                <a:sym typeface="Calibri"/>
              </a:rPr>
              <a:t>.</a:t>
            </a:r>
            <a:endParaRPr/>
          </a:p>
        </p:txBody>
      </p:sp>
      <p:sp>
        <p:nvSpPr>
          <p:cNvPr id="2064" name="Slide number 2064"/>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16</a:t>
            </a: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68" name="Shape 2068"/>
        <p:cNvGrpSpPr/>
        <p:nvPr/>
      </p:nvGrpSpPr>
      <p:grpSpPr>
        <a:xfrm>
          <a:off x="0" y="0"/>
          <a:ext cx="0" cy="0"/>
          <a:chOff x="0" y="0"/>
          <a:chExt cx="0" cy="0"/>
        </a:xfrm>
      </p:grpSpPr>
      <p:sp>
        <p:nvSpPr>
          <p:cNvPr id="2069" name="Google Shape;2069;h547f90b031e64a91_0_760"/>
          <p:cNvSpPr/>
          <p:nvPr/>
        </p:nvSpPr>
        <p:spPr>
          <a:xfrm>
            <a:off x="5870448" y="2523744"/>
            <a:ext cx="5468100" cy="3063300"/>
          </a:xfrm>
          <a:prstGeom prst="roundRect">
            <a:avLst>
              <a:gd fmla="val 8547" name="adj"/>
            </a:avLst>
          </a:prstGeom>
          <a:solidFill>
            <a:srgbClr val="FFFFFF"/>
          </a:solidFill>
          <a:ln cap="flat" cmpd="sng" w="10775">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0" name="Google Shape;2070;h547f90b031e64a91_0_760"/>
          <p:cNvSpPr/>
          <p:nvPr/>
        </p:nvSpPr>
        <p:spPr>
          <a:xfrm>
            <a:off x="5963738" y="4809625"/>
            <a:ext cx="5240100" cy="575700"/>
          </a:xfrm>
          <a:prstGeom prst="roundRect">
            <a:avLst>
              <a:gd fmla="val 11282" name="adj"/>
            </a:avLst>
          </a:prstGeom>
          <a:solidFill>
            <a:srgbClr val="E9EEEB"/>
          </a:solidFill>
          <a:ln cap="flat" cmpd="sng" w="9525">
            <a:solidFill>
              <a:srgbClr val="3A7D8C"/>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71" name="Google Shape;2071;h547f90b031e64a91_0_760"/>
          <p:cNvSpPr txBox="1"/>
          <p:nvPr/>
        </p:nvSpPr>
        <p:spPr>
          <a:xfrm>
            <a:off x="804672" y="512064"/>
            <a:ext cx="10753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4  /  EXTERNAL BENCHMARK</a:t>
            </a:r>
            <a:endParaRPr b="0" i="0" sz="1400" u="none" cap="none" strike="noStrike">
              <a:solidFill>
                <a:srgbClr val="000000"/>
              </a:solidFill>
              <a:latin typeface="Arial"/>
              <a:ea typeface="Arial"/>
              <a:cs typeface="Arial"/>
              <a:sym typeface="Arial"/>
            </a:endParaRPr>
          </a:p>
        </p:txBody>
      </p:sp>
      <p:sp>
        <p:nvSpPr>
          <p:cNvPr id="2072" name="Google Shape;2072;h547f90b031e64a91_0_760"/>
          <p:cNvSpPr txBox="1"/>
          <p:nvPr/>
        </p:nvSpPr>
        <p:spPr>
          <a:xfrm>
            <a:off x="804672" y="914400"/>
            <a:ext cx="10762500" cy="44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RIGOR keeps the link to the data.</a:t>
            </a:r>
            <a:endParaRPr b="0" i="0" sz="1400" u="none" cap="none" strike="noStrike">
              <a:solidFill>
                <a:srgbClr val="000000"/>
              </a:solidFill>
              <a:latin typeface="Arial"/>
              <a:ea typeface="Arial"/>
              <a:cs typeface="Arial"/>
              <a:sym typeface="Arial"/>
            </a:endParaRPr>
          </a:p>
        </p:txBody>
      </p:sp>
      <p:sp>
        <p:nvSpPr>
          <p:cNvPr id="2073" name="Google Shape;2073;h547f90b031e64a91_0_760"/>
          <p:cNvSpPr txBox="1"/>
          <p:nvPr/>
        </p:nvSpPr>
        <p:spPr>
          <a:xfrm>
            <a:off x="822960" y="1645920"/>
            <a:ext cx="10680300" cy="246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3A434C"/>
                </a:solidFill>
                <a:latin typeface="Calibri"/>
                <a:ea typeface="Calibri"/>
                <a:cs typeface="Calibri"/>
                <a:sym typeface="Calibri"/>
              </a:rPr>
              <a:t>BURR [Laskowski et al., PACMMOD 2025]  </a:t>
            </a:r>
            <a:endParaRPr b="1" i="0" sz="1400" u="none" cap="none" strike="noStrike">
              <a:solidFill>
                <a:srgbClr val="000000"/>
              </a:solidFill>
            </a:endParaRPr>
          </a:p>
        </p:txBody>
      </p:sp>
      <p:sp>
        <p:nvSpPr>
          <p:cNvPr id="2074" name="Google Shape;2074;h547f90b031e64a91_0_760"/>
          <p:cNvSpPr txBox="1"/>
          <p:nvPr/>
        </p:nvSpPr>
        <p:spPr>
          <a:xfrm>
            <a:off x="6099048" y="2706624"/>
            <a:ext cx="1828800" cy="177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SYSTEM</a:t>
            </a:r>
            <a:endParaRPr b="0" i="0" sz="1400" u="none" cap="none" strike="noStrike">
              <a:solidFill>
                <a:srgbClr val="000000"/>
              </a:solidFill>
              <a:latin typeface="Arial"/>
              <a:ea typeface="Arial"/>
              <a:cs typeface="Arial"/>
              <a:sym typeface="Arial"/>
            </a:endParaRPr>
          </a:p>
        </p:txBody>
      </p:sp>
      <p:sp>
        <p:nvSpPr>
          <p:cNvPr id="2075" name="Google Shape;2075;h547f90b031e64a91_0_760"/>
          <p:cNvSpPr txBox="1"/>
          <p:nvPr/>
        </p:nvSpPr>
        <p:spPr>
          <a:xfrm>
            <a:off x="8156447"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CLASSES</a:t>
            </a:r>
            <a:endParaRPr b="0" i="0" sz="1400" u="none" cap="none" strike="noStrike">
              <a:solidFill>
                <a:srgbClr val="000000"/>
              </a:solidFill>
              <a:latin typeface="Arial"/>
              <a:ea typeface="Arial"/>
              <a:cs typeface="Arial"/>
              <a:sym typeface="Arial"/>
            </a:endParaRPr>
          </a:p>
        </p:txBody>
      </p:sp>
      <p:sp>
        <p:nvSpPr>
          <p:cNvPr id="2076" name="Google Shape;2076;h547f90b031e64a91_0_760"/>
          <p:cNvSpPr txBox="1"/>
          <p:nvPr/>
        </p:nvSpPr>
        <p:spPr>
          <a:xfrm>
            <a:off x="9208008"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RELATIONS</a:t>
            </a:r>
            <a:endParaRPr b="0" i="0" sz="1400" u="none" cap="none" strike="noStrike">
              <a:solidFill>
                <a:srgbClr val="000000"/>
              </a:solidFill>
              <a:latin typeface="Arial"/>
              <a:ea typeface="Arial"/>
              <a:cs typeface="Arial"/>
              <a:sym typeface="Arial"/>
            </a:endParaRPr>
          </a:p>
        </p:txBody>
      </p:sp>
      <p:sp>
        <p:nvSpPr>
          <p:cNvPr id="2077" name="Google Shape;2077;h547f90b031e64a91_0_760"/>
          <p:cNvSpPr txBox="1"/>
          <p:nvPr/>
        </p:nvSpPr>
        <p:spPr>
          <a:xfrm>
            <a:off x="10259567" y="2706624"/>
            <a:ext cx="1051500" cy="177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2F6B78"/>
                </a:solidFill>
                <a:latin typeface="Consolas"/>
                <a:ea typeface="Consolas"/>
                <a:cs typeface="Consolas"/>
                <a:sym typeface="Consolas"/>
              </a:rPr>
              <a:t>ATTRIBUTES</a:t>
            </a:r>
            <a:endParaRPr b="0" i="0" sz="1400" u="none" cap="none" strike="noStrike">
              <a:solidFill>
                <a:srgbClr val="000000"/>
              </a:solidFill>
              <a:latin typeface="Arial"/>
              <a:ea typeface="Arial"/>
              <a:cs typeface="Arial"/>
              <a:sym typeface="Arial"/>
            </a:endParaRPr>
          </a:p>
        </p:txBody>
      </p:sp>
      <p:cxnSp>
        <p:nvCxnSpPr>
          <p:cNvPr id="2078" name="Google Shape;2078;h547f90b031e64a91_0_760"/>
          <p:cNvCxnSpPr/>
          <p:nvPr/>
        </p:nvCxnSpPr>
        <p:spPr>
          <a:xfrm>
            <a:off x="6071616" y="3145536"/>
            <a:ext cx="5065800" cy="0"/>
          </a:xfrm>
          <a:prstGeom prst="straightConnector1">
            <a:avLst/>
          </a:prstGeom>
          <a:noFill/>
          <a:ln cap="flat" cmpd="sng" w="1395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2079" name="Google Shape;2079;h547f90b031e64a91_0_760"/>
          <p:cNvSpPr txBox="1"/>
          <p:nvPr/>
        </p:nvSpPr>
        <p:spPr>
          <a:xfrm>
            <a:off x="6117336" y="3182112"/>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W3C-Mapper / Ontop</a:t>
            </a:r>
            <a:endParaRPr b="0" i="0" sz="1400" u="none" cap="none" strike="noStrike">
              <a:solidFill>
                <a:srgbClr val="000000"/>
              </a:solidFill>
              <a:latin typeface="Arial"/>
              <a:ea typeface="Arial"/>
              <a:cs typeface="Arial"/>
              <a:sym typeface="Arial"/>
            </a:endParaRPr>
          </a:p>
        </p:txBody>
      </p:sp>
      <p:sp>
        <p:nvSpPr>
          <p:cNvPr id="2080" name="Google Shape;2080;h547f90b031e64a91_0_760"/>
          <p:cNvSpPr txBox="1"/>
          <p:nvPr/>
        </p:nvSpPr>
        <p:spPr>
          <a:xfrm>
            <a:off x="6117336" y="3438144"/>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200" u="none" cap="none" strike="noStrike">
                <a:solidFill>
                  <a:srgbClr val="5B6770"/>
                </a:solidFill>
                <a:latin typeface="Calibri"/>
                <a:ea typeface="Calibri"/>
                <a:cs typeface="Calibri"/>
                <a:sym typeface="Calibri"/>
              </a:rPr>
              <a:t>rule-based</a:t>
            </a:r>
            <a:endParaRPr b="0" i="0" sz="1400" u="none" cap="none" strike="noStrike">
              <a:solidFill>
                <a:srgbClr val="000000"/>
              </a:solidFill>
              <a:latin typeface="Arial"/>
              <a:ea typeface="Arial"/>
              <a:cs typeface="Arial"/>
              <a:sym typeface="Arial"/>
            </a:endParaRPr>
          </a:p>
        </p:txBody>
      </p:sp>
      <p:sp>
        <p:nvSpPr>
          <p:cNvPr id="2081" name="Google Shape;2081;h547f90b031e64a91_0_760"/>
          <p:cNvSpPr txBox="1"/>
          <p:nvPr/>
        </p:nvSpPr>
        <p:spPr>
          <a:xfrm>
            <a:off x="8202167"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0.53</a:t>
            </a:r>
            <a:endParaRPr b="0" i="0" sz="1400" u="none" cap="none" strike="noStrike">
              <a:solidFill>
                <a:srgbClr val="000000"/>
              </a:solidFill>
              <a:latin typeface="Arial"/>
              <a:ea typeface="Arial"/>
              <a:cs typeface="Arial"/>
              <a:sym typeface="Arial"/>
            </a:endParaRPr>
          </a:p>
        </p:txBody>
      </p:sp>
      <p:sp>
        <p:nvSpPr>
          <p:cNvPr id="2082" name="Google Shape;2082;h547f90b031e64a91_0_760"/>
          <p:cNvSpPr txBox="1"/>
          <p:nvPr/>
        </p:nvSpPr>
        <p:spPr>
          <a:xfrm>
            <a:off x="9253728"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0.11</a:t>
            </a:r>
            <a:endParaRPr b="0" i="0" sz="1400" u="none" cap="none" strike="noStrike">
              <a:solidFill>
                <a:srgbClr val="000000"/>
              </a:solidFill>
              <a:latin typeface="Arial"/>
              <a:ea typeface="Arial"/>
              <a:cs typeface="Arial"/>
              <a:sym typeface="Arial"/>
            </a:endParaRPr>
          </a:p>
        </p:txBody>
      </p:sp>
      <p:sp>
        <p:nvSpPr>
          <p:cNvPr id="2083" name="Google Shape;2083;h547f90b031e64a91_0_760"/>
          <p:cNvSpPr txBox="1"/>
          <p:nvPr/>
        </p:nvSpPr>
        <p:spPr>
          <a:xfrm>
            <a:off x="10305288" y="3241548"/>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0.39</a:t>
            </a:r>
            <a:endParaRPr b="0" i="0" sz="1400" u="none" cap="none" strike="noStrike">
              <a:solidFill>
                <a:srgbClr val="000000"/>
              </a:solidFill>
              <a:latin typeface="Arial"/>
              <a:ea typeface="Arial"/>
              <a:cs typeface="Arial"/>
              <a:sym typeface="Arial"/>
            </a:endParaRPr>
          </a:p>
        </p:txBody>
      </p:sp>
      <p:sp>
        <p:nvSpPr>
          <p:cNvPr id="2084" name="Google Shape;2084;h547f90b031e64a91_0_760"/>
          <p:cNvSpPr txBox="1"/>
          <p:nvPr/>
        </p:nvSpPr>
        <p:spPr>
          <a:xfrm>
            <a:off x="6117336" y="3739896"/>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RDB2Onto</a:t>
            </a:r>
            <a:endParaRPr b="0" i="0" sz="1400" u="none" cap="none" strike="noStrike">
              <a:solidFill>
                <a:srgbClr val="000000"/>
              </a:solidFill>
              <a:latin typeface="Arial"/>
              <a:ea typeface="Arial"/>
              <a:cs typeface="Arial"/>
              <a:sym typeface="Arial"/>
            </a:endParaRPr>
          </a:p>
        </p:txBody>
      </p:sp>
      <p:sp>
        <p:nvSpPr>
          <p:cNvPr id="2085" name="Google Shape;2085;h547f90b031e64a91_0_760"/>
          <p:cNvSpPr txBox="1"/>
          <p:nvPr/>
        </p:nvSpPr>
        <p:spPr>
          <a:xfrm>
            <a:off x="6117336" y="3995928"/>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200" u="none" cap="none" strike="noStrike">
                <a:solidFill>
                  <a:srgbClr val="5B6770"/>
                </a:solidFill>
                <a:latin typeface="Calibri"/>
                <a:ea typeface="Calibri"/>
                <a:cs typeface="Calibri"/>
                <a:sym typeface="Calibri"/>
              </a:rPr>
              <a:t>rule-based</a:t>
            </a:r>
            <a:endParaRPr b="0" i="0" sz="1400" u="none" cap="none" strike="noStrike">
              <a:solidFill>
                <a:srgbClr val="000000"/>
              </a:solidFill>
              <a:latin typeface="Arial"/>
              <a:ea typeface="Arial"/>
              <a:cs typeface="Arial"/>
              <a:sym typeface="Arial"/>
            </a:endParaRPr>
          </a:p>
        </p:txBody>
      </p:sp>
      <p:sp>
        <p:nvSpPr>
          <p:cNvPr id="2086" name="Google Shape;2086;h547f90b031e64a91_0_760"/>
          <p:cNvSpPr txBox="1"/>
          <p:nvPr/>
        </p:nvSpPr>
        <p:spPr>
          <a:xfrm>
            <a:off x="8202167"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0.67</a:t>
            </a:r>
            <a:endParaRPr b="0" i="1" sz="1400" u="sng" cap="none" strike="noStrike">
              <a:solidFill>
                <a:srgbClr val="000000"/>
              </a:solidFill>
              <a:latin typeface="Arial"/>
              <a:ea typeface="Arial"/>
              <a:cs typeface="Arial"/>
              <a:sym typeface="Arial"/>
            </a:endParaRPr>
          </a:p>
        </p:txBody>
      </p:sp>
      <p:sp>
        <p:nvSpPr>
          <p:cNvPr id="2087" name="Google Shape;2087;h547f90b031e64a91_0_760"/>
          <p:cNvSpPr txBox="1"/>
          <p:nvPr/>
        </p:nvSpPr>
        <p:spPr>
          <a:xfrm>
            <a:off x="9253728"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i="1" lang="en-US" sz="1839" u="sng" cap="none" strike="noStrike">
                <a:solidFill>
                  <a:srgbClr val="3A434C"/>
                </a:solidFill>
                <a:latin typeface="Calibri"/>
                <a:ea typeface="Calibri"/>
                <a:cs typeface="Calibri"/>
                <a:sym typeface="Calibri"/>
              </a:rPr>
              <a:t>0.62</a:t>
            </a:r>
            <a:endParaRPr i="1" sz="1400" u="sng" cap="none" strike="noStrike">
              <a:solidFill>
                <a:srgbClr val="000000"/>
              </a:solidFill>
            </a:endParaRPr>
          </a:p>
        </p:txBody>
      </p:sp>
      <p:sp>
        <p:nvSpPr>
          <p:cNvPr id="2088" name="Google Shape;2088;h547f90b031e64a91_0_760"/>
          <p:cNvSpPr txBox="1"/>
          <p:nvPr/>
        </p:nvSpPr>
        <p:spPr>
          <a:xfrm>
            <a:off x="10305288" y="3799332"/>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0.44</a:t>
            </a:r>
            <a:endParaRPr b="0" i="1" sz="1400" u="sng" cap="none" strike="noStrike">
              <a:solidFill>
                <a:srgbClr val="000000"/>
              </a:solidFill>
              <a:latin typeface="Arial"/>
              <a:ea typeface="Arial"/>
              <a:cs typeface="Arial"/>
              <a:sym typeface="Arial"/>
            </a:endParaRPr>
          </a:p>
        </p:txBody>
      </p:sp>
      <p:sp>
        <p:nvSpPr>
          <p:cNvPr id="2089" name="Google Shape;2089;h547f90b031e64a91_0_760"/>
          <p:cNvSpPr txBox="1"/>
          <p:nvPr/>
        </p:nvSpPr>
        <p:spPr>
          <a:xfrm>
            <a:off x="6117336" y="4297680"/>
            <a:ext cx="2011800" cy="2523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639"/>
              <a:buFont typeface="Arial"/>
              <a:buNone/>
            </a:pPr>
            <a:r>
              <a:rPr b="0" i="0" lang="en-US" sz="1639" u="none" cap="none" strike="noStrike">
                <a:solidFill>
                  <a:srgbClr val="3A434C"/>
                </a:solidFill>
                <a:latin typeface="Calibri"/>
                <a:ea typeface="Calibri"/>
                <a:cs typeface="Calibri"/>
                <a:sym typeface="Calibri"/>
              </a:rPr>
              <a:t>OntoGenix</a:t>
            </a:r>
            <a:endParaRPr b="0" i="0" sz="1400" u="none" cap="none" strike="noStrike">
              <a:solidFill>
                <a:srgbClr val="000000"/>
              </a:solidFill>
              <a:latin typeface="Arial"/>
              <a:ea typeface="Arial"/>
              <a:cs typeface="Arial"/>
              <a:sym typeface="Arial"/>
            </a:endParaRPr>
          </a:p>
        </p:txBody>
      </p:sp>
      <p:sp>
        <p:nvSpPr>
          <p:cNvPr id="2090" name="Google Shape;2090;h547f90b031e64a91_0_760"/>
          <p:cNvSpPr txBox="1"/>
          <p:nvPr/>
        </p:nvSpPr>
        <p:spPr>
          <a:xfrm>
            <a:off x="6117336" y="4553712"/>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200" u="none" cap="none" strike="noStrike">
                <a:solidFill>
                  <a:srgbClr val="5B6770"/>
                </a:solidFill>
                <a:latin typeface="Calibri"/>
                <a:ea typeface="Calibri"/>
                <a:cs typeface="Calibri"/>
                <a:sym typeface="Calibri"/>
              </a:rPr>
              <a:t>LLM-based</a:t>
            </a:r>
            <a:endParaRPr b="0" i="0" sz="1400" u="none" cap="none" strike="noStrike">
              <a:solidFill>
                <a:srgbClr val="000000"/>
              </a:solidFill>
              <a:latin typeface="Arial"/>
              <a:ea typeface="Arial"/>
              <a:cs typeface="Arial"/>
              <a:sym typeface="Arial"/>
            </a:endParaRPr>
          </a:p>
        </p:txBody>
      </p:sp>
      <p:sp>
        <p:nvSpPr>
          <p:cNvPr id="2091" name="Google Shape;2091;h547f90b031e64a91_0_760"/>
          <p:cNvSpPr txBox="1"/>
          <p:nvPr/>
        </p:nvSpPr>
        <p:spPr>
          <a:xfrm>
            <a:off x="8202167"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0.58</a:t>
            </a:r>
            <a:endParaRPr b="0" i="0" sz="1400" u="none" cap="none" strike="noStrike">
              <a:solidFill>
                <a:srgbClr val="000000"/>
              </a:solidFill>
              <a:latin typeface="Arial"/>
              <a:ea typeface="Arial"/>
              <a:cs typeface="Arial"/>
              <a:sym typeface="Arial"/>
            </a:endParaRPr>
          </a:p>
        </p:txBody>
      </p:sp>
      <p:sp>
        <p:nvSpPr>
          <p:cNvPr id="2092" name="Google Shape;2092;h547f90b031e64a91_0_760"/>
          <p:cNvSpPr txBox="1"/>
          <p:nvPr/>
        </p:nvSpPr>
        <p:spPr>
          <a:xfrm>
            <a:off x="9253728"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0" lang="en-US" sz="1839" u="none" cap="none" strike="noStrike">
                <a:solidFill>
                  <a:srgbClr val="3A434C"/>
                </a:solidFill>
                <a:latin typeface="Calibri"/>
                <a:ea typeface="Calibri"/>
                <a:cs typeface="Calibri"/>
                <a:sym typeface="Calibri"/>
              </a:rPr>
              <a:t>0.35</a:t>
            </a:r>
            <a:endParaRPr b="0" i="0" sz="1400" u="none" cap="none" strike="noStrike">
              <a:solidFill>
                <a:srgbClr val="000000"/>
              </a:solidFill>
              <a:latin typeface="Arial"/>
              <a:ea typeface="Arial"/>
              <a:cs typeface="Arial"/>
              <a:sym typeface="Arial"/>
            </a:endParaRPr>
          </a:p>
        </p:txBody>
      </p:sp>
      <p:sp>
        <p:nvSpPr>
          <p:cNvPr id="2093" name="Google Shape;2093;h547f90b031e64a91_0_760"/>
          <p:cNvSpPr txBox="1"/>
          <p:nvPr/>
        </p:nvSpPr>
        <p:spPr>
          <a:xfrm>
            <a:off x="10305288" y="4357116"/>
            <a:ext cx="960000" cy="2832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1839"/>
              <a:buFont typeface="Arial"/>
              <a:buNone/>
            </a:pPr>
            <a:r>
              <a:rPr b="0" i="1" lang="en-US" sz="1839" u="sng" cap="none" strike="noStrike">
                <a:solidFill>
                  <a:srgbClr val="3A434C"/>
                </a:solidFill>
                <a:latin typeface="Calibri"/>
                <a:ea typeface="Calibri"/>
                <a:cs typeface="Calibri"/>
                <a:sym typeface="Calibri"/>
              </a:rPr>
              <a:t>0.44</a:t>
            </a:r>
            <a:endParaRPr b="0" i="1" sz="1400" u="sng" cap="none" strike="noStrike">
              <a:solidFill>
                <a:srgbClr val="000000"/>
              </a:solidFill>
              <a:latin typeface="Arial"/>
              <a:ea typeface="Arial"/>
              <a:cs typeface="Arial"/>
              <a:sym typeface="Arial"/>
            </a:endParaRPr>
          </a:p>
        </p:txBody>
      </p:sp>
      <p:sp>
        <p:nvSpPr>
          <p:cNvPr id="2094" name="Google Shape;2094;h547f90b031e64a91_0_760"/>
          <p:cNvSpPr txBox="1"/>
          <p:nvPr/>
        </p:nvSpPr>
        <p:spPr>
          <a:xfrm>
            <a:off x="6117336" y="4855464"/>
            <a:ext cx="2011800" cy="27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F2328"/>
                </a:solidFill>
                <a:latin typeface="Calibri"/>
                <a:ea typeface="Calibri"/>
                <a:cs typeface="Calibri"/>
                <a:sym typeface="Calibri"/>
              </a:rPr>
              <a:t>RIGOR</a:t>
            </a:r>
            <a:endParaRPr b="0" i="0" sz="1400" u="none" cap="none" strike="noStrike">
              <a:solidFill>
                <a:srgbClr val="000000"/>
              </a:solidFill>
              <a:latin typeface="Arial"/>
              <a:ea typeface="Arial"/>
              <a:cs typeface="Arial"/>
              <a:sym typeface="Arial"/>
            </a:endParaRPr>
          </a:p>
        </p:txBody>
      </p:sp>
      <p:sp>
        <p:nvSpPr>
          <p:cNvPr id="2095" name="Google Shape;2095;h547f90b031e64a91_0_760"/>
          <p:cNvSpPr txBox="1"/>
          <p:nvPr/>
        </p:nvSpPr>
        <p:spPr>
          <a:xfrm>
            <a:off x="6117336" y="5111496"/>
            <a:ext cx="1828800" cy="174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130"/>
              <a:buFont typeface="Arial"/>
              <a:buNone/>
            </a:pPr>
            <a:r>
              <a:rPr b="0" i="0" lang="en-US" sz="1200" u="none" cap="none" strike="noStrike">
                <a:solidFill>
                  <a:srgbClr val="2F6B78"/>
                </a:solidFill>
                <a:latin typeface="Calibri"/>
                <a:ea typeface="Calibri"/>
                <a:cs typeface="Calibri"/>
                <a:sym typeface="Calibri"/>
              </a:rPr>
              <a:t>LLM + rules</a:t>
            </a:r>
            <a:endParaRPr b="0" i="0" sz="1400" u="none" cap="none" strike="noStrike">
              <a:solidFill>
                <a:srgbClr val="000000"/>
              </a:solidFill>
              <a:latin typeface="Arial"/>
              <a:ea typeface="Arial"/>
              <a:cs typeface="Arial"/>
              <a:sym typeface="Arial"/>
            </a:endParaRPr>
          </a:p>
        </p:txBody>
      </p:sp>
      <p:sp>
        <p:nvSpPr>
          <p:cNvPr id="2096" name="Google Shape;2096;h547f90b031e64a91_0_760"/>
          <p:cNvSpPr txBox="1"/>
          <p:nvPr/>
        </p:nvSpPr>
        <p:spPr>
          <a:xfrm>
            <a:off x="8202167"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0.73</a:t>
            </a:r>
            <a:endParaRPr b="0" i="0" sz="1400" u="none" cap="none" strike="noStrike">
              <a:solidFill>
                <a:srgbClr val="000000"/>
              </a:solidFill>
              <a:latin typeface="Arial"/>
              <a:ea typeface="Arial"/>
              <a:cs typeface="Arial"/>
              <a:sym typeface="Arial"/>
            </a:endParaRPr>
          </a:p>
        </p:txBody>
      </p:sp>
      <p:sp>
        <p:nvSpPr>
          <p:cNvPr id="2097" name="Google Shape;2097;h547f90b031e64a91_0_760"/>
          <p:cNvSpPr txBox="1"/>
          <p:nvPr/>
        </p:nvSpPr>
        <p:spPr>
          <a:xfrm>
            <a:off x="9253728"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0.67</a:t>
            </a:r>
            <a:endParaRPr b="0" i="0" sz="1400" u="none" cap="none" strike="noStrike">
              <a:solidFill>
                <a:srgbClr val="000000"/>
              </a:solidFill>
              <a:latin typeface="Arial"/>
              <a:ea typeface="Arial"/>
              <a:cs typeface="Arial"/>
              <a:sym typeface="Arial"/>
            </a:endParaRPr>
          </a:p>
        </p:txBody>
      </p:sp>
      <p:sp>
        <p:nvSpPr>
          <p:cNvPr id="2098" name="Google Shape;2098;h547f90b031e64a91_0_760"/>
          <p:cNvSpPr txBox="1"/>
          <p:nvPr/>
        </p:nvSpPr>
        <p:spPr>
          <a:xfrm>
            <a:off x="10305288" y="4914900"/>
            <a:ext cx="960000" cy="3078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1F2328"/>
                </a:solidFill>
                <a:latin typeface="Calibri"/>
                <a:ea typeface="Calibri"/>
                <a:cs typeface="Calibri"/>
                <a:sym typeface="Calibri"/>
              </a:rPr>
              <a:t>0.52</a:t>
            </a:r>
            <a:endParaRPr b="0" i="0" sz="1400" u="none" cap="none" strike="noStrike">
              <a:solidFill>
                <a:srgbClr val="000000"/>
              </a:solidFill>
              <a:latin typeface="Arial"/>
              <a:ea typeface="Arial"/>
              <a:cs typeface="Arial"/>
              <a:sym typeface="Arial"/>
            </a:endParaRPr>
          </a:p>
        </p:txBody>
      </p:sp>
      <p:sp>
        <p:nvSpPr>
          <p:cNvPr id="2099" name="Google Shape;2099;h547f90b031e64a91_0_760"/>
          <p:cNvSpPr/>
          <p:nvPr/>
        </p:nvSpPr>
        <p:spPr>
          <a:xfrm>
            <a:off x="841248" y="2523744"/>
            <a:ext cx="4846200" cy="3063300"/>
          </a:xfrm>
          <a:prstGeom prst="roundRect">
            <a:avLst>
              <a:gd fmla="val 5966" name="adj"/>
            </a:avLst>
          </a:prstGeom>
          <a:solidFill>
            <a:srgbClr val="F3F5F4"/>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0" name="Google Shape;2100;h547f90b031e64a91_0_760"/>
          <p:cNvSpPr txBox="1"/>
          <p:nvPr/>
        </p:nvSpPr>
        <p:spPr>
          <a:xfrm>
            <a:off x="1069848" y="2706624"/>
            <a:ext cx="43890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2F6B78"/>
                </a:solidFill>
                <a:latin typeface="Consolas"/>
                <a:ea typeface="Consolas"/>
                <a:cs typeface="Consolas"/>
                <a:sym typeface="Consolas"/>
              </a:rPr>
              <a:t>WHAT BURR CHECKS</a:t>
            </a:r>
            <a:endParaRPr b="0" i="0" sz="1400" u="none" cap="none" strike="noStrike">
              <a:solidFill>
                <a:srgbClr val="000000"/>
              </a:solidFill>
              <a:latin typeface="Arial"/>
              <a:ea typeface="Arial"/>
              <a:cs typeface="Arial"/>
              <a:sym typeface="Arial"/>
            </a:endParaRPr>
          </a:p>
        </p:txBody>
      </p:sp>
      <p:sp>
        <p:nvSpPr>
          <p:cNvPr id="2101" name="Google Shape;2101;h547f90b031e64a91_0_760"/>
          <p:cNvSpPr txBox="1"/>
          <p:nvPr/>
        </p:nvSpPr>
        <p:spPr>
          <a:xfrm>
            <a:off x="1069848" y="3035808"/>
            <a:ext cx="4389000" cy="31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1F2328"/>
                </a:solidFill>
                <a:latin typeface="Calibri"/>
                <a:ea typeface="Calibri"/>
                <a:cs typeface="Calibri"/>
                <a:sym typeface="Calibri"/>
              </a:rPr>
              <a:t>Every ontology element must map back to the database.</a:t>
            </a:r>
            <a:endParaRPr b="0" i="0" sz="1400" u="none" cap="none" strike="noStrike">
              <a:solidFill>
                <a:srgbClr val="000000"/>
              </a:solidFill>
              <a:latin typeface="Arial"/>
              <a:ea typeface="Arial"/>
              <a:cs typeface="Arial"/>
              <a:sym typeface="Arial"/>
            </a:endParaRPr>
          </a:p>
        </p:txBody>
      </p:sp>
      <p:sp>
        <p:nvSpPr>
          <p:cNvPr id="2102" name="Google Shape;2102;h547f90b031e64a91_0_760"/>
          <p:cNvSpPr txBox="1"/>
          <p:nvPr/>
        </p:nvSpPr>
        <p:spPr>
          <a:xfrm>
            <a:off x="1069848" y="3474720"/>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CLASSES</a:t>
            </a:r>
            <a:endParaRPr b="0" i="0" sz="1400" u="none" cap="none" strike="noStrike">
              <a:solidFill>
                <a:srgbClr val="000000"/>
              </a:solidFill>
              <a:latin typeface="Arial"/>
              <a:ea typeface="Arial"/>
              <a:cs typeface="Arial"/>
              <a:sym typeface="Arial"/>
            </a:endParaRPr>
          </a:p>
        </p:txBody>
      </p:sp>
      <p:sp>
        <p:nvSpPr>
          <p:cNvPr descr="database element" id="2103" name="Google Shape;2103;h547f90b031e64a91_0_760"/>
          <p:cNvSpPr/>
          <p:nvPr/>
        </p:nvSpPr>
        <p:spPr>
          <a:xfrm>
            <a:off x="2075688" y="3474720"/>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person</a:t>
            </a:r>
            <a:endParaRPr b="0" i="0" sz="1400" u="none" cap="none" strike="noStrike">
              <a:solidFill>
                <a:srgbClr val="000000"/>
              </a:solidFill>
              <a:latin typeface="Arial"/>
              <a:ea typeface="Arial"/>
              <a:cs typeface="Arial"/>
              <a:sym typeface="Arial"/>
            </a:endParaRPr>
          </a:p>
        </p:txBody>
      </p:sp>
      <p:sp>
        <p:nvSpPr>
          <p:cNvPr id="2104" name="Google Shape;2104;h547f90b031e64a91_0_760"/>
          <p:cNvSpPr txBox="1"/>
          <p:nvPr/>
        </p:nvSpPr>
        <p:spPr>
          <a:xfrm>
            <a:off x="3392424" y="3474720"/>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05" name="Google Shape;2105;h547f90b031e64a91_0_760"/>
          <p:cNvSpPr/>
          <p:nvPr/>
        </p:nvSpPr>
        <p:spPr>
          <a:xfrm>
            <a:off x="3648456" y="3474720"/>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Class: </a:t>
            </a:r>
            <a:r>
              <a:rPr b="0" i="0" lang="en-US" sz="1050" u="none" cap="none" strike="noStrike">
                <a:solidFill>
                  <a:srgbClr val="1F2328"/>
                </a:solidFill>
                <a:latin typeface="Consolas"/>
                <a:ea typeface="Consolas"/>
                <a:cs typeface="Consolas"/>
                <a:sym typeface="Consolas"/>
              </a:rPr>
              <a:t>Person</a:t>
            </a:r>
            <a:endParaRPr b="0" i="0" sz="1400" u="none" cap="none" strike="noStrike">
              <a:solidFill>
                <a:srgbClr val="000000"/>
              </a:solidFill>
              <a:latin typeface="Arial"/>
              <a:ea typeface="Arial"/>
              <a:cs typeface="Arial"/>
              <a:sym typeface="Arial"/>
            </a:endParaRPr>
          </a:p>
        </p:txBody>
      </p:sp>
      <p:sp>
        <p:nvSpPr>
          <p:cNvPr id="2106" name="Google Shape;2106;h547f90b031e64a91_0_760"/>
          <p:cNvSpPr txBox="1"/>
          <p:nvPr/>
        </p:nvSpPr>
        <p:spPr>
          <a:xfrm>
            <a:off x="1069848" y="3895344"/>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RELATIONS</a:t>
            </a:r>
            <a:endParaRPr b="0" i="0" sz="1400" u="none" cap="none" strike="noStrike">
              <a:solidFill>
                <a:srgbClr val="000000"/>
              </a:solidFill>
              <a:latin typeface="Arial"/>
              <a:ea typeface="Arial"/>
              <a:cs typeface="Arial"/>
              <a:sym typeface="Arial"/>
            </a:endParaRPr>
          </a:p>
        </p:txBody>
      </p:sp>
      <p:sp>
        <p:nvSpPr>
          <p:cNvPr descr="database element" id="2107" name="Google Shape;2107;h547f90b031e64a91_0_760"/>
          <p:cNvSpPr/>
          <p:nvPr/>
        </p:nvSpPr>
        <p:spPr>
          <a:xfrm>
            <a:off x="2075688" y="3895344"/>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paper.author_id</a:t>
            </a:r>
            <a:endParaRPr b="0" i="0" sz="1400" u="none" cap="none" strike="noStrike">
              <a:solidFill>
                <a:srgbClr val="000000"/>
              </a:solidFill>
              <a:latin typeface="Arial"/>
              <a:ea typeface="Arial"/>
              <a:cs typeface="Arial"/>
              <a:sym typeface="Arial"/>
            </a:endParaRPr>
          </a:p>
        </p:txBody>
      </p:sp>
      <p:sp>
        <p:nvSpPr>
          <p:cNvPr id="2108" name="Google Shape;2108;h547f90b031e64a91_0_760"/>
          <p:cNvSpPr txBox="1"/>
          <p:nvPr/>
        </p:nvSpPr>
        <p:spPr>
          <a:xfrm>
            <a:off x="3392424" y="3895344"/>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09" name="Google Shape;2109;h547f90b031e64a91_0_760"/>
          <p:cNvSpPr/>
          <p:nvPr/>
        </p:nvSpPr>
        <p:spPr>
          <a:xfrm>
            <a:off x="3648456" y="3895344"/>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ObjectProperty: </a:t>
            </a:r>
            <a:r>
              <a:rPr b="0" i="0" lang="en-US" sz="1050" u="none" cap="none" strike="noStrike">
                <a:solidFill>
                  <a:srgbClr val="1F2328"/>
                </a:solidFill>
                <a:latin typeface="Consolas"/>
                <a:ea typeface="Consolas"/>
                <a:cs typeface="Consolas"/>
                <a:sym typeface="Consolas"/>
              </a:rPr>
              <a:t>author</a:t>
            </a:r>
            <a:endParaRPr b="0" i="0" sz="1400" u="none" cap="none" strike="noStrike">
              <a:solidFill>
                <a:srgbClr val="000000"/>
              </a:solidFill>
              <a:latin typeface="Arial"/>
              <a:ea typeface="Arial"/>
              <a:cs typeface="Arial"/>
              <a:sym typeface="Arial"/>
            </a:endParaRPr>
          </a:p>
        </p:txBody>
      </p:sp>
      <p:sp>
        <p:nvSpPr>
          <p:cNvPr id="2110" name="Google Shape;2110;h547f90b031e64a91_0_760"/>
          <p:cNvSpPr txBox="1"/>
          <p:nvPr/>
        </p:nvSpPr>
        <p:spPr>
          <a:xfrm>
            <a:off x="1069848" y="4315968"/>
            <a:ext cx="1005900" cy="329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2F6B78"/>
                </a:solidFill>
                <a:latin typeface="Consolas"/>
                <a:ea typeface="Consolas"/>
                <a:cs typeface="Consolas"/>
                <a:sym typeface="Consolas"/>
              </a:rPr>
              <a:t>ATTRIBUTES</a:t>
            </a:r>
            <a:endParaRPr b="0" i="0" sz="1400" u="none" cap="none" strike="noStrike">
              <a:solidFill>
                <a:srgbClr val="000000"/>
              </a:solidFill>
              <a:latin typeface="Arial"/>
              <a:ea typeface="Arial"/>
              <a:cs typeface="Arial"/>
              <a:sym typeface="Arial"/>
            </a:endParaRPr>
          </a:p>
        </p:txBody>
      </p:sp>
      <p:sp>
        <p:nvSpPr>
          <p:cNvPr descr="database element" id="2111" name="Google Shape;2111;h547f90b031e64a91_0_760"/>
          <p:cNvSpPr/>
          <p:nvPr/>
        </p:nvSpPr>
        <p:spPr>
          <a:xfrm>
            <a:off x="2075688" y="4315968"/>
            <a:ext cx="12984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1F2328"/>
                </a:solidFill>
                <a:latin typeface="Consolas"/>
                <a:ea typeface="Consolas"/>
                <a:cs typeface="Consolas"/>
                <a:sym typeface="Consolas"/>
              </a:rPr>
              <a:t>person.name</a:t>
            </a:r>
            <a:endParaRPr b="0" i="0" sz="1400" u="none" cap="none" strike="noStrike">
              <a:solidFill>
                <a:srgbClr val="000000"/>
              </a:solidFill>
              <a:latin typeface="Arial"/>
              <a:ea typeface="Arial"/>
              <a:cs typeface="Arial"/>
              <a:sym typeface="Arial"/>
            </a:endParaRPr>
          </a:p>
        </p:txBody>
      </p:sp>
      <p:sp>
        <p:nvSpPr>
          <p:cNvPr id="2112" name="Google Shape;2112;h547f90b031e64a91_0_760"/>
          <p:cNvSpPr txBox="1"/>
          <p:nvPr/>
        </p:nvSpPr>
        <p:spPr>
          <a:xfrm>
            <a:off x="3392424" y="4315968"/>
            <a:ext cx="237600" cy="329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5B6770"/>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
        <p:nvSpPr>
          <p:cNvPr descr="ontology element" id="2113" name="Google Shape;2113;h547f90b031e64a91_0_760"/>
          <p:cNvSpPr/>
          <p:nvPr/>
        </p:nvSpPr>
        <p:spPr>
          <a:xfrm>
            <a:off x="3648456" y="4315968"/>
            <a:ext cx="1856100" cy="329100"/>
          </a:xfrm>
          <a:prstGeom prst="roundRect">
            <a:avLst>
              <a:gd fmla="val 12000" name="adj"/>
            </a:avLst>
          </a:prstGeom>
          <a:solidFill>
            <a:srgbClr val="FFFFFF"/>
          </a:solidFill>
          <a:ln cap="flat" cmpd="sng" w="9525">
            <a:solidFill>
              <a:srgbClr val="D0D7DE"/>
            </a:solidFill>
            <a:prstDash val="solid"/>
            <a:round/>
            <a:headEnd len="sm" w="sm" type="none"/>
            <a:tailEnd len="sm" w="sm" type="none"/>
          </a:ln>
        </p:spPr>
        <p:txBody>
          <a:bodyPr anchorCtr="0" anchor="ctr" bIns="0" lIns="73150" spcFirstLastPara="1" rIns="7315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US" sz="1050" u="none" cap="none" strike="noStrike">
                <a:solidFill>
                  <a:srgbClr val="0B6E4F"/>
                </a:solidFill>
                <a:latin typeface="Consolas"/>
                <a:ea typeface="Consolas"/>
                <a:cs typeface="Consolas"/>
                <a:sym typeface="Consolas"/>
              </a:rPr>
              <a:t>DataProperty: </a:t>
            </a:r>
            <a:r>
              <a:rPr b="0" i="0" lang="en-US" sz="1050" u="none" cap="none" strike="noStrike">
                <a:solidFill>
                  <a:srgbClr val="1F2328"/>
                </a:solidFill>
                <a:latin typeface="Consolas"/>
                <a:ea typeface="Consolas"/>
                <a:cs typeface="Consolas"/>
                <a:sym typeface="Consolas"/>
              </a:rPr>
              <a:t>name</a:t>
            </a:r>
            <a:endParaRPr b="0" i="0" sz="1400" u="none" cap="none" strike="noStrike">
              <a:solidFill>
                <a:srgbClr val="000000"/>
              </a:solidFill>
              <a:latin typeface="Arial"/>
              <a:ea typeface="Arial"/>
              <a:cs typeface="Arial"/>
              <a:sym typeface="Arial"/>
            </a:endParaRPr>
          </a:p>
        </p:txBody>
      </p:sp>
      <p:sp>
        <p:nvSpPr>
          <p:cNvPr id="2114" name="Google Shape;2114;h547f90b031e64a91_0_760"/>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1  VALID, FEWER ERRORS</a:t>
            </a:r>
            <a:endParaRPr/>
          </a:p>
        </p:txBody>
      </p:sp>
      <p:sp>
        <p:nvSpPr>
          <p:cNvPr id="2115" name="Google Shape;2115;h547f90b031e64a91_0_760"/>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2  KEEPS THE SCHEMA</a:t>
            </a:r>
            <a:endParaRPr/>
          </a:p>
        </p:txBody>
      </p:sp>
      <p:sp>
        <p:nvSpPr>
          <p:cNvPr id="2116" name="Google Shape;2116;h547f90b031e64a91_0_760"/>
          <p:cNvSpPr/>
          <p:nvPr/>
        </p:nvSpPr>
        <p:spPr>
          <a:xfrm>
            <a:off x="507309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3  ADDS MEANING</a:t>
            </a:r>
            <a:endParaRPr/>
          </a:p>
        </p:txBody>
      </p:sp>
      <p:sp>
        <p:nvSpPr>
          <p:cNvPr id="2117" name="Google Shape;2117;h547f90b031e64a91_0_760"/>
          <p:cNvSpPr/>
          <p:nvPr/>
        </p:nvSpPr>
        <p:spPr>
          <a:xfrm>
            <a:off x="7207300"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4  GOLD MAPPINGS</a:t>
            </a:r>
            <a:endParaRPr/>
          </a:p>
        </p:txBody>
      </p:sp>
      <p:sp>
        <p:nvSpPr>
          <p:cNvPr id="2118" name="Google Shape;2118;h547f90b031e64a91_0_760"/>
          <p:cNvSpPr/>
          <p:nvPr/>
        </p:nvSpPr>
        <p:spPr>
          <a:xfrm>
            <a:off x="9341510" y="2103120"/>
            <a:ext cx="2042700" cy="310800"/>
          </a:xfrm>
          <a:prstGeom prst="rect">
            <a:avLst/>
          </a:prstGeom>
          <a:solidFill>
            <a:srgbClr val="FFFFFF"/>
          </a:solidFill>
          <a:ln cap="flat" cmpd="sng" w="9525">
            <a:solidFill>
              <a:srgbClr val="D9DEDB"/>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6B747B"/>
                </a:solidFill>
                <a:latin typeface="Consolas"/>
                <a:ea typeface="Consolas"/>
                <a:cs typeface="Consolas"/>
                <a:sym typeface="Consolas"/>
              </a:rPr>
              <a:t>5  JUDGES</a:t>
            </a:r>
            <a:endParaRPr/>
          </a:p>
        </p:txBody>
      </p:sp>
      <p:sp>
        <p:nvSpPr>
          <p:cNvPr id="2119" name="Slide number 2119"/>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17</a:t>
            </a: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3" name="Shape 2123"/>
        <p:cNvGrpSpPr/>
        <p:nvPr/>
      </p:nvGrpSpPr>
      <p:grpSpPr>
        <a:xfrm>
          <a:off x="0" y="0"/>
          <a:ext cx="0" cy="0"/>
          <a:chOff x="0" y="0"/>
          <a:chExt cx="0" cy="0"/>
        </a:xfrm>
      </p:grpSpPr>
      <p:sp>
        <p:nvSpPr>
          <p:cNvPr id="2124" name="Google Shape;2124;h547f90b031e64a91_0_1235"/>
          <p:cNvSpPr txBox="1"/>
          <p:nvPr/>
        </p:nvSpPr>
        <p:spPr>
          <a:xfrm>
            <a:off x="804672" y="512064"/>
            <a:ext cx="107532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RESULT 5  /  LLM JUDGE AND HUMAN EXPERTS</a:t>
            </a:r>
            <a:endParaRPr b="0" i="0" sz="1400" u="none" cap="none" strike="noStrike">
              <a:solidFill>
                <a:srgbClr val="000000"/>
              </a:solidFill>
              <a:latin typeface="Arial"/>
              <a:ea typeface="Arial"/>
              <a:cs typeface="Arial"/>
              <a:sym typeface="Arial"/>
            </a:endParaRPr>
          </a:p>
        </p:txBody>
      </p:sp>
      <p:sp>
        <p:nvSpPr>
          <p:cNvPr id="2125" name="Google Shape;2125;h547f90b031e64a91_0_1235"/>
          <p:cNvSpPr txBox="1"/>
          <p:nvPr/>
        </p:nvSpPr>
        <p:spPr>
          <a:xfrm>
            <a:off x="804672" y="914400"/>
            <a:ext cx="10762500" cy="44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F2328"/>
                </a:solidFill>
                <a:latin typeface="Cambria"/>
                <a:ea typeface="Cambria"/>
                <a:cs typeface="Cambria"/>
                <a:sym typeface="Cambria"/>
              </a:rPr>
              <a:t>An LLM judge and human experts both rank RIGOR first.</a:t>
            </a:r>
            <a:endParaRPr b="0" i="0" sz="1400" u="none" cap="none" strike="noStrike">
              <a:solidFill>
                <a:srgbClr val="000000"/>
              </a:solidFill>
              <a:latin typeface="Arial"/>
              <a:ea typeface="Arial"/>
              <a:cs typeface="Arial"/>
              <a:sym typeface="Arial"/>
            </a:endParaRPr>
          </a:p>
        </p:txBody>
      </p:sp>
      <p:sp>
        <p:nvSpPr>
          <p:cNvPr id="2126" name="Google Shape;2126;h547f90b031e64a91_0_1235"/>
          <p:cNvSpPr txBox="1"/>
          <p:nvPr/>
        </p:nvSpPr>
        <p:spPr>
          <a:xfrm>
            <a:off x="822960" y="1645920"/>
            <a:ext cx="10680300" cy="329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600" u="none" cap="none" strike="noStrike">
                <a:solidFill>
                  <a:srgbClr val="3A434C"/>
                </a:solidFill>
                <a:latin typeface="Calibri"/>
                <a:ea typeface="Calibri"/>
                <a:cs typeface="Calibri"/>
                <a:sym typeface="Calibri"/>
              </a:rPr>
              <a:t>Blind evaluation: nobody knew which ontology came from which method.</a:t>
            </a:r>
            <a:endParaRPr/>
          </a:p>
        </p:txBody>
      </p:sp>
      <p:sp>
        <p:nvSpPr>
          <p:cNvPr id="2127" name="Google Shape;2127;h547f90b031e64a91_0_1235"/>
          <p:cNvSpPr/>
          <p:nvPr/>
        </p:nvSpPr>
        <p:spPr>
          <a:xfrm>
            <a:off x="804672"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1  VALID, FEWER ERRORS</a:t>
            </a:r>
            <a:endParaRPr/>
          </a:p>
        </p:txBody>
      </p:sp>
      <p:sp>
        <p:nvSpPr>
          <p:cNvPr id="2128" name="Google Shape;2128;h547f90b031e64a91_0_1235"/>
          <p:cNvSpPr/>
          <p:nvPr/>
        </p:nvSpPr>
        <p:spPr>
          <a:xfrm>
            <a:off x="293888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2  KEEPS THE SCHEMA</a:t>
            </a:r>
            <a:endParaRPr/>
          </a:p>
        </p:txBody>
      </p:sp>
      <p:sp>
        <p:nvSpPr>
          <p:cNvPr id="2129" name="Google Shape;2129;h547f90b031e64a91_0_1235"/>
          <p:cNvSpPr/>
          <p:nvPr/>
        </p:nvSpPr>
        <p:spPr>
          <a:xfrm>
            <a:off x="5073091"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3  ADDS MEANING</a:t>
            </a:r>
            <a:endParaRPr/>
          </a:p>
        </p:txBody>
      </p:sp>
      <p:sp>
        <p:nvSpPr>
          <p:cNvPr id="2130" name="Google Shape;2130;h547f90b031e64a91_0_1235"/>
          <p:cNvSpPr/>
          <p:nvPr/>
        </p:nvSpPr>
        <p:spPr>
          <a:xfrm>
            <a:off x="7207300" y="2103120"/>
            <a:ext cx="2042700" cy="310800"/>
          </a:xfrm>
          <a:prstGeom prst="rect">
            <a:avLst/>
          </a:prstGeom>
          <a:solidFill>
            <a:srgbClr val="E8F6E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4  GOLD MAPPINGS</a:t>
            </a:r>
            <a:endParaRPr/>
          </a:p>
        </p:txBody>
      </p:sp>
      <p:sp>
        <p:nvSpPr>
          <p:cNvPr id="2131" name="Google Shape;2131;h547f90b031e64a91_0_1235"/>
          <p:cNvSpPr/>
          <p:nvPr/>
        </p:nvSpPr>
        <p:spPr>
          <a:xfrm>
            <a:off x="9341510" y="2103120"/>
            <a:ext cx="2042700" cy="310800"/>
          </a:xfrm>
          <a:prstGeom prst="rect">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00" u="none" cap="none" strike="noStrike">
                <a:solidFill>
                  <a:srgbClr val="FFFFFF"/>
                </a:solidFill>
                <a:latin typeface="Consolas"/>
                <a:ea typeface="Consolas"/>
                <a:cs typeface="Consolas"/>
                <a:sym typeface="Consolas"/>
              </a:rPr>
              <a:t>5  JUDGES</a:t>
            </a:r>
            <a:endParaRPr/>
          </a:p>
        </p:txBody>
      </p:sp>
      <p:sp>
        <p:nvSpPr>
          <p:cNvPr id="2132" name="Google Shape;2132;h547f90b031e64a91_0_1235"/>
          <p:cNvSpPr/>
          <p:nvPr/>
        </p:nvSpPr>
        <p:spPr>
          <a:xfrm>
            <a:off x="804672" y="2606040"/>
            <a:ext cx="10579500" cy="6585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ctr" bIns="0" lIns="201150" spcFirstLastPara="1" rIns="201150" wrap="square" tIns="0">
            <a:noAutofit/>
          </a:bodyPr>
          <a:lstStyle/>
          <a:p>
            <a:pPr indent="0" lvl="0" marL="0" marR="0" rtl="0" algn="l">
              <a:lnSpc>
                <a:spcPct val="100000"/>
              </a:lnSpc>
              <a:spcBef>
                <a:spcPts val="0"/>
              </a:spcBef>
              <a:spcAft>
                <a:spcPts val="0"/>
              </a:spcAft>
              <a:buNone/>
            </a:pPr>
            <a:r>
              <a:rPr b="1" i="0" lang="en-US" u="none" cap="none" strike="noStrike">
                <a:solidFill>
                  <a:srgbClr val="2F6B78"/>
                </a:solidFill>
                <a:latin typeface="Consolas"/>
                <a:ea typeface="Consolas"/>
                <a:cs typeface="Consolas"/>
                <a:sym typeface="Consolas"/>
              </a:rPr>
              <a:t>HOW THEY JUDGED   </a:t>
            </a:r>
            <a:r>
              <a:rPr b="0" i="0" lang="en-US" u="none" cap="none" strike="noStrike">
                <a:solidFill>
                  <a:srgbClr val="3A434C"/>
                </a:solidFill>
                <a:latin typeface="Calibri"/>
                <a:ea typeface="Calibri"/>
                <a:cs typeface="Calibri"/>
                <a:sym typeface="Calibri"/>
              </a:rPr>
              <a:t>For each table: its </a:t>
            </a:r>
            <a:r>
              <a:rPr b="1" i="0" lang="en-US" u="none" cap="none" strike="noStrike">
                <a:solidFill>
                  <a:srgbClr val="3A434C"/>
                </a:solidFill>
                <a:latin typeface="Calibri"/>
                <a:ea typeface="Calibri"/>
                <a:cs typeface="Calibri"/>
                <a:sym typeface="Calibri"/>
              </a:rPr>
              <a:t>schema</a:t>
            </a:r>
            <a:r>
              <a:rPr b="0" i="0" lang="en-US" u="none" cap="none" strike="noStrike">
                <a:solidFill>
                  <a:srgbClr val="3A434C"/>
                </a:solidFill>
                <a:latin typeface="Calibri"/>
                <a:ea typeface="Calibri"/>
                <a:cs typeface="Calibri"/>
                <a:sym typeface="Calibri"/>
              </a:rPr>
              <a:t>,  </a:t>
            </a:r>
            <a:r>
              <a:rPr b="1" i="0" lang="en-US" u="none" cap="none" strike="noStrike">
                <a:solidFill>
                  <a:srgbClr val="3A434C"/>
                </a:solidFill>
                <a:latin typeface="Calibri"/>
                <a:ea typeface="Calibri"/>
                <a:cs typeface="Calibri"/>
                <a:sym typeface="Calibri"/>
              </a:rPr>
              <a:t>5 competency questions</a:t>
            </a:r>
            <a:r>
              <a:rPr b="0" i="0" lang="en-US" u="none" cap="none" strike="noStrike">
                <a:solidFill>
                  <a:srgbClr val="3A434C"/>
                </a:solidFill>
                <a:latin typeface="Calibri"/>
                <a:ea typeface="Calibri"/>
                <a:cs typeface="Calibri"/>
                <a:sym typeface="Calibri"/>
              </a:rPr>
              <a:t> and </a:t>
            </a:r>
            <a:r>
              <a:rPr b="1" i="0" lang="en-US" u="none" cap="none" strike="noStrike">
                <a:solidFill>
                  <a:srgbClr val="3A434C"/>
                </a:solidFill>
                <a:latin typeface="Calibri"/>
                <a:ea typeface="Calibri"/>
                <a:cs typeface="Calibri"/>
                <a:sym typeface="Calibri"/>
              </a:rPr>
              <a:t>four anonymized ontologies</a:t>
            </a:r>
            <a:r>
              <a:rPr b="0" i="0" lang="en-US" u="none" cap="none" strike="noStrike">
                <a:solidFill>
                  <a:srgbClr val="3A434C"/>
                </a:solidFill>
                <a:latin typeface="Calibri"/>
                <a:ea typeface="Calibri"/>
                <a:cs typeface="Calibri"/>
                <a:sym typeface="Calibri"/>
              </a:rPr>
              <a:t>. Each </a:t>
            </a:r>
            <a:r>
              <a:rPr b="1" i="0" lang="en-US" u="none" cap="none" strike="noStrike">
                <a:solidFill>
                  <a:srgbClr val="3A434C"/>
                </a:solidFill>
                <a:latin typeface="Calibri"/>
                <a:ea typeface="Calibri"/>
                <a:cs typeface="Calibri"/>
                <a:sym typeface="Calibri"/>
              </a:rPr>
              <a:t>scored 0–5</a:t>
            </a:r>
            <a:r>
              <a:rPr b="0" i="0" lang="en-US" u="none" cap="none" strike="noStrike">
                <a:solidFill>
                  <a:srgbClr val="3A434C"/>
                </a:solidFill>
                <a:latin typeface="Calibri"/>
                <a:ea typeface="Calibri"/>
                <a:cs typeface="Calibri"/>
                <a:sym typeface="Calibri"/>
              </a:rPr>
              <a:t> on </a:t>
            </a:r>
            <a:r>
              <a:rPr b="1" i="1" lang="en-US" u="none" cap="none" strike="noStrike">
                <a:solidFill>
                  <a:srgbClr val="3A434C"/>
                </a:solidFill>
                <a:latin typeface="Calibri"/>
                <a:ea typeface="Calibri"/>
                <a:cs typeface="Calibri"/>
                <a:sym typeface="Calibri"/>
              </a:rPr>
              <a:t>accuracy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completeness</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conciseness</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adaptability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clarity</a:t>
            </a:r>
            <a:r>
              <a:rPr b="0" i="0" lang="en-US" u="none" cap="none" strike="noStrike">
                <a:solidFill>
                  <a:srgbClr val="3A434C"/>
                </a:solidFill>
                <a:latin typeface="Calibri"/>
                <a:ea typeface="Calibri"/>
                <a:cs typeface="Calibri"/>
                <a:sym typeface="Calibri"/>
              </a:rPr>
              <a:t>, </a:t>
            </a:r>
            <a:r>
              <a:rPr b="1" i="1" lang="en-US" u="none" cap="none" strike="noStrike">
                <a:solidFill>
                  <a:srgbClr val="3A434C"/>
                </a:solidFill>
                <a:latin typeface="Calibri"/>
                <a:ea typeface="Calibri"/>
                <a:cs typeface="Calibri"/>
                <a:sym typeface="Calibri"/>
              </a:rPr>
              <a:t>consistency</a:t>
            </a:r>
            <a:r>
              <a:rPr b="0" i="0" lang="en-US" u="none" cap="none" strike="noStrike">
                <a:solidFill>
                  <a:srgbClr val="3A434C"/>
                </a:solidFill>
                <a:latin typeface="Calibri"/>
                <a:ea typeface="Calibri"/>
                <a:cs typeface="Calibri"/>
                <a:sym typeface="Calibri"/>
              </a:rPr>
              <a:t> and </a:t>
            </a:r>
            <a:r>
              <a:rPr b="1" i="1" lang="en-US" u="none" cap="none" strike="noStrike">
                <a:solidFill>
                  <a:srgbClr val="3A434C"/>
                </a:solidFill>
                <a:latin typeface="Calibri"/>
                <a:ea typeface="Calibri"/>
                <a:cs typeface="Calibri"/>
                <a:sym typeface="Calibri"/>
              </a:rPr>
              <a:t>domain enrichment</a:t>
            </a:r>
            <a:r>
              <a:rPr b="0" i="0" lang="en-US" u="none" cap="none" strike="noStrike">
                <a:solidFill>
                  <a:srgbClr val="3A434C"/>
                </a:solidFill>
                <a:latin typeface="Calibri"/>
                <a:ea typeface="Calibri"/>
                <a:cs typeface="Calibri"/>
                <a:sym typeface="Calibri"/>
              </a:rPr>
              <a:t>, then ranked </a:t>
            </a:r>
            <a:r>
              <a:rPr b="1" i="0" lang="en-US" u="none" cap="none" strike="noStrike">
                <a:solidFill>
                  <a:srgbClr val="3A434C"/>
                </a:solidFill>
                <a:latin typeface="Calibri"/>
                <a:ea typeface="Calibri"/>
                <a:cs typeface="Calibri"/>
                <a:sym typeface="Calibri"/>
              </a:rPr>
              <a:t>1st–4th</a:t>
            </a:r>
            <a:r>
              <a:rPr b="0" i="0" lang="en-US" u="none" cap="none" strike="noStrike">
                <a:solidFill>
                  <a:srgbClr val="3A434C"/>
                </a:solidFill>
                <a:latin typeface="Calibri"/>
                <a:ea typeface="Calibri"/>
                <a:cs typeface="Calibri"/>
                <a:sym typeface="Calibri"/>
              </a:rPr>
              <a:t>.</a:t>
            </a:r>
            <a:endParaRPr/>
          </a:p>
        </p:txBody>
      </p:sp>
      <p:sp>
        <p:nvSpPr>
          <p:cNvPr id="2133" name="Google Shape;2133;h547f90b031e64a91_0_1235"/>
          <p:cNvSpPr/>
          <p:nvPr/>
        </p:nvSpPr>
        <p:spPr>
          <a:xfrm>
            <a:off x="1265694" y="3525525"/>
            <a:ext cx="4720500" cy="2628000"/>
          </a:xfrm>
          <a:prstGeom prst="roundRect">
            <a:avLst>
              <a:gd fmla="val 12000" name="adj"/>
            </a:avLst>
          </a:prstGeom>
          <a:solidFill>
            <a:srgbClr val="F3F5F4"/>
          </a:solidFill>
          <a:ln cap="flat" cmpd="sng" w="9900">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54" u="none" cap="none" strike="noStrike">
              <a:solidFill>
                <a:srgbClr val="000000"/>
              </a:solidFill>
              <a:latin typeface="Arial"/>
              <a:ea typeface="Arial"/>
              <a:cs typeface="Arial"/>
              <a:sym typeface="Arial"/>
            </a:endParaRPr>
          </a:p>
        </p:txBody>
      </p:sp>
      <p:sp>
        <p:nvSpPr>
          <p:cNvPr id="2134" name="Google Shape;2134;h547f90b031e64a91_0_1235"/>
          <p:cNvSpPr txBox="1"/>
          <p:nvPr/>
        </p:nvSpPr>
        <p:spPr>
          <a:xfrm>
            <a:off x="1550583" y="3715451"/>
            <a:ext cx="5412900" cy="2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58" u="none" cap="none" strike="noStrike">
                <a:solidFill>
                  <a:srgbClr val="2F6B78"/>
                </a:solidFill>
                <a:latin typeface="Consolas"/>
                <a:ea typeface="Consolas"/>
                <a:cs typeface="Consolas"/>
                <a:sym typeface="Consolas"/>
              </a:rPr>
              <a:t>LLM-AS-A-JUDGE  ·  GPT-5.4</a:t>
            </a:r>
            <a:endParaRPr sz="1662"/>
          </a:p>
        </p:txBody>
      </p:sp>
      <p:sp>
        <p:nvSpPr>
          <p:cNvPr id="2135" name="Google Shape;2135;h547f90b031e64a91_0_1235"/>
          <p:cNvSpPr txBox="1"/>
          <p:nvPr/>
        </p:nvSpPr>
        <p:spPr>
          <a:xfrm>
            <a:off x="1550583" y="3981347"/>
            <a:ext cx="5412900" cy="37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077">
                <a:solidFill>
                  <a:srgbClr val="0B6E4F"/>
                </a:solidFill>
                <a:latin typeface="Calibri"/>
                <a:ea typeface="Calibri"/>
                <a:cs typeface="Calibri"/>
                <a:sym typeface="Calibri"/>
              </a:rPr>
              <a:t>100% of rankings put RIGOR 1st</a:t>
            </a:r>
            <a:endParaRPr b="1" sz="2077">
              <a:solidFill>
                <a:srgbClr val="0B6E4F"/>
              </a:solidFill>
              <a:latin typeface="Calibri"/>
              <a:ea typeface="Calibri"/>
              <a:cs typeface="Calibri"/>
              <a:sym typeface="Calibri"/>
            </a:endParaRPr>
          </a:p>
        </p:txBody>
      </p:sp>
      <p:sp>
        <p:nvSpPr>
          <p:cNvPr id="2136" name="Google Shape;2136;h547f90b031e64a91_0_1235"/>
          <p:cNvSpPr txBox="1"/>
          <p:nvPr/>
        </p:nvSpPr>
        <p:spPr>
          <a:xfrm>
            <a:off x="3069992" y="4456162"/>
            <a:ext cx="1291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Liver Cancer</a:t>
            </a:r>
            <a:endParaRPr sz="1662"/>
          </a:p>
        </p:txBody>
      </p:sp>
      <p:sp>
        <p:nvSpPr>
          <p:cNvPr id="2137" name="Google Shape;2137;h547f90b031e64a91_0_1235"/>
          <p:cNvSpPr txBox="1"/>
          <p:nvPr/>
        </p:nvSpPr>
        <p:spPr>
          <a:xfrm>
            <a:off x="4361488" y="4456162"/>
            <a:ext cx="1291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eICU-CRD</a:t>
            </a:r>
            <a:endParaRPr sz="1662"/>
          </a:p>
        </p:txBody>
      </p:sp>
      <p:sp>
        <p:nvSpPr>
          <p:cNvPr id="2138" name="Google Shape;2138;h547f90b031e64a91_0_1235"/>
          <p:cNvSpPr txBox="1"/>
          <p:nvPr/>
        </p:nvSpPr>
        <p:spPr>
          <a:xfrm>
            <a:off x="1503100" y="4722058"/>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Direct Mapping</a:t>
            </a:r>
            <a:endParaRPr sz="1662"/>
          </a:p>
        </p:txBody>
      </p:sp>
      <p:sp>
        <p:nvSpPr>
          <p:cNvPr id="2139" name="Google Shape;2139;h547f90b031e64a91_0_1235"/>
          <p:cNvSpPr/>
          <p:nvPr/>
        </p:nvSpPr>
        <p:spPr>
          <a:xfrm>
            <a:off x="3088984" y="4741050"/>
            <a:ext cx="1253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2.05</a:t>
            </a:r>
            <a:endParaRPr sz="1662"/>
          </a:p>
        </p:txBody>
      </p:sp>
      <p:sp>
        <p:nvSpPr>
          <p:cNvPr id="2140" name="Google Shape;2140;h547f90b031e64a91_0_1235"/>
          <p:cNvSpPr/>
          <p:nvPr/>
        </p:nvSpPr>
        <p:spPr>
          <a:xfrm>
            <a:off x="4380481" y="4741050"/>
            <a:ext cx="1253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2.13</a:t>
            </a:r>
            <a:endParaRPr sz="1662"/>
          </a:p>
        </p:txBody>
      </p:sp>
      <p:sp>
        <p:nvSpPr>
          <p:cNvPr id="2141" name="Google Shape;2141;h547f90b031e64a91_0_1235"/>
          <p:cNvSpPr txBox="1"/>
          <p:nvPr/>
        </p:nvSpPr>
        <p:spPr>
          <a:xfrm>
            <a:off x="1503100" y="5025939"/>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LLM baseline</a:t>
            </a:r>
            <a:endParaRPr sz="1662"/>
          </a:p>
        </p:txBody>
      </p:sp>
      <p:sp>
        <p:nvSpPr>
          <p:cNvPr id="2142" name="Google Shape;2142;h547f90b031e64a91_0_1235"/>
          <p:cNvSpPr/>
          <p:nvPr/>
        </p:nvSpPr>
        <p:spPr>
          <a:xfrm>
            <a:off x="3088984" y="5044932"/>
            <a:ext cx="1253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1.38</a:t>
            </a:r>
            <a:endParaRPr sz="1662"/>
          </a:p>
        </p:txBody>
      </p:sp>
      <p:sp>
        <p:nvSpPr>
          <p:cNvPr id="2143" name="Google Shape;2143;h547f90b031e64a91_0_1235"/>
          <p:cNvSpPr/>
          <p:nvPr/>
        </p:nvSpPr>
        <p:spPr>
          <a:xfrm>
            <a:off x="4380481" y="5044932"/>
            <a:ext cx="1253400" cy="2658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0.28</a:t>
            </a:r>
            <a:endParaRPr sz="1662"/>
          </a:p>
        </p:txBody>
      </p:sp>
      <p:sp>
        <p:nvSpPr>
          <p:cNvPr id="2144" name="Google Shape;2144;h547f90b031e64a91_0_1235"/>
          <p:cNvSpPr txBox="1"/>
          <p:nvPr/>
        </p:nvSpPr>
        <p:spPr>
          <a:xfrm>
            <a:off x="1503100" y="5329821"/>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Non-Iterative RAG</a:t>
            </a:r>
            <a:endParaRPr sz="1662"/>
          </a:p>
        </p:txBody>
      </p:sp>
      <p:sp>
        <p:nvSpPr>
          <p:cNvPr id="2145" name="Google Shape;2145;h547f90b031e64a91_0_1235"/>
          <p:cNvSpPr/>
          <p:nvPr/>
        </p:nvSpPr>
        <p:spPr>
          <a:xfrm>
            <a:off x="3088984" y="5348813"/>
            <a:ext cx="1253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1.89</a:t>
            </a:r>
            <a:endParaRPr sz="1662"/>
          </a:p>
        </p:txBody>
      </p:sp>
      <p:sp>
        <p:nvSpPr>
          <p:cNvPr id="2146" name="Google Shape;2146;h547f90b031e64a91_0_1235"/>
          <p:cNvSpPr/>
          <p:nvPr/>
        </p:nvSpPr>
        <p:spPr>
          <a:xfrm>
            <a:off x="4380481" y="5348813"/>
            <a:ext cx="1253400" cy="265800"/>
          </a:xfrm>
          <a:prstGeom prst="rect">
            <a:avLst/>
          </a:prstGeom>
          <a:solidFill>
            <a:srgbClr val="EDB8AC"/>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0.67</a:t>
            </a:r>
            <a:endParaRPr sz="1662"/>
          </a:p>
        </p:txBody>
      </p:sp>
      <p:sp>
        <p:nvSpPr>
          <p:cNvPr id="2147" name="Google Shape;2147;h547f90b031e64a91_0_1235"/>
          <p:cNvSpPr txBox="1"/>
          <p:nvPr/>
        </p:nvSpPr>
        <p:spPr>
          <a:xfrm>
            <a:off x="1503100" y="5633702"/>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4" u="none" cap="none" strike="noStrike">
                <a:solidFill>
                  <a:srgbClr val="0B6E4F"/>
                </a:solidFill>
                <a:latin typeface="Calibri"/>
                <a:ea typeface="Calibri"/>
                <a:cs typeface="Calibri"/>
                <a:sym typeface="Calibri"/>
              </a:rPr>
              <a:t>RIGOR</a:t>
            </a:r>
            <a:endParaRPr sz="1662"/>
          </a:p>
        </p:txBody>
      </p:sp>
      <p:sp>
        <p:nvSpPr>
          <p:cNvPr id="2148" name="Google Shape;2148;h547f90b031e64a91_0_1235"/>
          <p:cNvSpPr/>
          <p:nvPr/>
        </p:nvSpPr>
        <p:spPr>
          <a:xfrm>
            <a:off x="3088984" y="5652694"/>
            <a:ext cx="1253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3.93</a:t>
            </a:r>
            <a:endParaRPr sz="1662"/>
          </a:p>
        </p:txBody>
      </p:sp>
      <p:sp>
        <p:nvSpPr>
          <p:cNvPr id="2149" name="Google Shape;2149;h547f90b031e64a91_0_1235"/>
          <p:cNvSpPr/>
          <p:nvPr/>
        </p:nvSpPr>
        <p:spPr>
          <a:xfrm>
            <a:off x="4380481" y="5652694"/>
            <a:ext cx="1253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3.64</a:t>
            </a:r>
            <a:endParaRPr sz="1662"/>
          </a:p>
        </p:txBody>
      </p:sp>
      <p:sp>
        <p:nvSpPr>
          <p:cNvPr id="2150" name="Google Shape;2150;h547f90b031e64a91_0_1235"/>
          <p:cNvSpPr/>
          <p:nvPr/>
        </p:nvSpPr>
        <p:spPr>
          <a:xfrm>
            <a:off x="6381200" y="3525525"/>
            <a:ext cx="4862100" cy="2628000"/>
          </a:xfrm>
          <a:prstGeom prst="roundRect">
            <a:avLst>
              <a:gd fmla="val 12000" name="adj"/>
            </a:avLst>
          </a:prstGeom>
          <a:solidFill>
            <a:srgbClr val="F3F5F4"/>
          </a:solidFill>
          <a:ln cap="flat" cmpd="sng" w="9900">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54" u="none" cap="none" strike="noStrike">
              <a:solidFill>
                <a:srgbClr val="000000"/>
              </a:solidFill>
              <a:latin typeface="Arial"/>
              <a:ea typeface="Arial"/>
              <a:cs typeface="Arial"/>
              <a:sym typeface="Arial"/>
            </a:endParaRPr>
          </a:p>
        </p:txBody>
      </p:sp>
      <p:sp>
        <p:nvSpPr>
          <p:cNvPr id="2151" name="Google Shape;2151;h547f90b031e64a91_0_1235"/>
          <p:cNvSpPr txBox="1"/>
          <p:nvPr/>
        </p:nvSpPr>
        <p:spPr>
          <a:xfrm>
            <a:off x="6666084" y="3715451"/>
            <a:ext cx="4292400" cy="284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558" u="none" cap="none" strike="noStrike">
                <a:solidFill>
                  <a:srgbClr val="2F6B78"/>
                </a:solidFill>
                <a:latin typeface="Consolas"/>
                <a:ea typeface="Consolas"/>
                <a:cs typeface="Consolas"/>
                <a:sym typeface="Consolas"/>
              </a:rPr>
              <a:t>10 ONTOLOGY EXPERTS</a:t>
            </a:r>
            <a:endParaRPr sz="1662"/>
          </a:p>
        </p:txBody>
      </p:sp>
      <p:sp>
        <p:nvSpPr>
          <p:cNvPr id="2152" name="Google Shape;2152;h547f90b031e64a91_0_1235"/>
          <p:cNvSpPr txBox="1"/>
          <p:nvPr/>
        </p:nvSpPr>
        <p:spPr>
          <a:xfrm>
            <a:off x="6666084" y="3981347"/>
            <a:ext cx="4292400" cy="379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077">
                <a:solidFill>
                  <a:srgbClr val="0B6E4F"/>
                </a:solidFill>
                <a:latin typeface="Calibri"/>
                <a:ea typeface="Calibri"/>
                <a:cs typeface="Calibri"/>
                <a:sym typeface="Calibri"/>
              </a:rPr>
              <a:t>70% of rankings put RIGOR 1st</a:t>
            </a:r>
            <a:endParaRPr b="1" sz="2077">
              <a:solidFill>
                <a:srgbClr val="0B6E4F"/>
              </a:solidFill>
              <a:latin typeface="Calibri"/>
              <a:ea typeface="Calibri"/>
              <a:cs typeface="Calibri"/>
              <a:sym typeface="Calibri"/>
            </a:endParaRPr>
          </a:p>
        </p:txBody>
      </p:sp>
      <p:sp>
        <p:nvSpPr>
          <p:cNvPr id="2153" name="Google Shape;2153;h547f90b031e64a91_0_1235"/>
          <p:cNvSpPr txBox="1"/>
          <p:nvPr/>
        </p:nvSpPr>
        <p:spPr>
          <a:xfrm>
            <a:off x="8185493" y="4456162"/>
            <a:ext cx="1405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Liver Cancer</a:t>
            </a:r>
            <a:endParaRPr sz="1662"/>
          </a:p>
        </p:txBody>
      </p:sp>
      <p:sp>
        <p:nvSpPr>
          <p:cNvPr id="2154" name="Google Shape;2154;h547f90b031e64a91_0_1235"/>
          <p:cNvSpPr txBox="1"/>
          <p:nvPr/>
        </p:nvSpPr>
        <p:spPr>
          <a:xfrm>
            <a:off x="9590946" y="4456162"/>
            <a:ext cx="1405500" cy="228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eICU-CRD</a:t>
            </a:r>
            <a:endParaRPr sz="1662"/>
          </a:p>
        </p:txBody>
      </p:sp>
      <p:sp>
        <p:nvSpPr>
          <p:cNvPr id="2155" name="Google Shape;2155;h547f90b031e64a91_0_1235"/>
          <p:cNvSpPr txBox="1"/>
          <p:nvPr/>
        </p:nvSpPr>
        <p:spPr>
          <a:xfrm>
            <a:off x="6618603" y="4722058"/>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Direct Mapping</a:t>
            </a:r>
            <a:endParaRPr sz="1662"/>
          </a:p>
        </p:txBody>
      </p:sp>
      <p:sp>
        <p:nvSpPr>
          <p:cNvPr id="2156" name="Google Shape;2156;h547f90b031e64a91_0_1235"/>
          <p:cNvSpPr/>
          <p:nvPr/>
        </p:nvSpPr>
        <p:spPr>
          <a:xfrm>
            <a:off x="8204486" y="4741050"/>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2.95</a:t>
            </a:r>
            <a:endParaRPr sz="1662"/>
          </a:p>
        </p:txBody>
      </p:sp>
      <p:sp>
        <p:nvSpPr>
          <p:cNvPr id="2157" name="Google Shape;2157;h547f90b031e64a91_0_1235"/>
          <p:cNvSpPr/>
          <p:nvPr/>
        </p:nvSpPr>
        <p:spPr>
          <a:xfrm>
            <a:off x="9609939" y="4741050"/>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2.59</a:t>
            </a:r>
            <a:endParaRPr sz="1662"/>
          </a:p>
        </p:txBody>
      </p:sp>
      <p:sp>
        <p:nvSpPr>
          <p:cNvPr id="2158" name="Google Shape;2158;h547f90b031e64a91_0_1235"/>
          <p:cNvSpPr txBox="1"/>
          <p:nvPr/>
        </p:nvSpPr>
        <p:spPr>
          <a:xfrm>
            <a:off x="6618603" y="5025939"/>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LLM baseline</a:t>
            </a:r>
            <a:endParaRPr sz="1662"/>
          </a:p>
        </p:txBody>
      </p:sp>
      <p:sp>
        <p:nvSpPr>
          <p:cNvPr id="2159" name="Google Shape;2159;h547f90b031e64a91_0_1235"/>
          <p:cNvSpPr/>
          <p:nvPr/>
        </p:nvSpPr>
        <p:spPr>
          <a:xfrm>
            <a:off x="8204486" y="5044932"/>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2.74</a:t>
            </a:r>
            <a:endParaRPr sz="1662"/>
          </a:p>
        </p:txBody>
      </p:sp>
      <p:sp>
        <p:nvSpPr>
          <p:cNvPr id="2160" name="Google Shape;2160;h547f90b031e64a91_0_1235"/>
          <p:cNvSpPr/>
          <p:nvPr/>
        </p:nvSpPr>
        <p:spPr>
          <a:xfrm>
            <a:off x="9609939" y="5044932"/>
            <a:ext cx="1367400" cy="2658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3.01</a:t>
            </a:r>
            <a:endParaRPr sz="1662"/>
          </a:p>
        </p:txBody>
      </p:sp>
      <p:sp>
        <p:nvSpPr>
          <p:cNvPr id="2161" name="Google Shape;2161;h547f90b031e64a91_0_1235"/>
          <p:cNvSpPr txBox="1"/>
          <p:nvPr/>
        </p:nvSpPr>
        <p:spPr>
          <a:xfrm>
            <a:off x="6618603" y="5329821"/>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454" u="none" cap="none" strike="noStrike">
                <a:solidFill>
                  <a:srgbClr val="1F2328"/>
                </a:solidFill>
                <a:latin typeface="Calibri"/>
                <a:ea typeface="Calibri"/>
                <a:cs typeface="Calibri"/>
                <a:sym typeface="Calibri"/>
              </a:rPr>
              <a:t>Non-Iterative RAG</a:t>
            </a:r>
            <a:endParaRPr sz="1662"/>
          </a:p>
        </p:txBody>
      </p:sp>
      <p:sp>
        <p:nvSpPr>
          <p:cNvPr id="2162" name="Google Shape;2162;h547f90b031e64a91_0_1235"/>
          <p:cNvSpPr/>
          <p:nvPr/>
        </p:nvSpPr>
        <p:spPr>
          <a:xfrm>
            <a:off x="8204486" y="5348813"/>
            <a:ext cx="1367400" cy="265800"/>
          </a:xfrm>
          <a:prstGeom prst="rect">
            <a:avLst/>
          </a:prstGeom>
          <a:solidFill>
            <a:srgbClr val="F1F3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2.39</a:t>
            </a:r>
            <a:endParaRPr sz="1662"/>
          </a:p>
        </p:txBody>
      </p:sp>
      <p:sp>
        <p:nvSpPr>
          <p:cNvPr id="2163" name="Google Shape;2163;h547f90b031e64a91_0_1235"/>
          <p:cNvSpPr/>
          <p:nvPr/>
        </p:nvSpPr>
        <p:spPr>
          <a:xfrm>
            <a:off x="9609939" y="5348813"/>
            <a:ext cx="1367400" cy="265800"/>
          </a:xfrm>
          <a:prstGeom prst="rect">
            <a:avLst/>
          </a:prstGeom>
          <a:solidFill>
            <a:srgbClr val="F6DAD3"/>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i="0" lang="en-US" sz="1350" u="none" cap="none" strike="noStrike">
                <a:solidFill>
                  <a:srgbClr val="1F2328"/>
                </a:solidFill>
                <a:latin typeface="Calibri"/>
                <a:ea typeface="Calibri"/>
                <a:cs typeface="Calibri"/>
                <a:sym typeface="Calibri"/>
              </a:rPr>
              <a:t>1.24</a:t>
            </a:r>
            <a:endParaRPr sz="1662"/>
          </a:p>
        </p:txBody>
      </p:sp>
      <p:sp>
        <p:nvSpPr>
          <p:cNvPr id="2164" name="Google Shape;2164;h547f90b031e64a91_0_1235"/>
          <p:cNvSpPr txBox="1"/>
          <p:nvPr/>
        </p:nvSpPr>
        <p:spPr>
          <a:xfrm>
            <a:off x="6618603" y="5633702"/>
            <a:ext cx="1566900" cy="30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454" u="none" cap="none" strike="noStrike">
                <a:solidFill>
                  <a:srgbClr val="0B6E4F"/>
                </a:solidFill>
                <a:latin typeface="Calibri"/>
                <a:ea typeface="Calibri"/>
                <a:cs typeface="Calibri"/>
                <a:sym typeface="Calibri"/>
              </a:rPr>
              <a:t>RIGOR</a:t>
            </a:r>
            <a:endParaRPr sz="1662"/>
          </a:p>
        </p:txBody>
      </p:sp>
      <p:sp>
        <p:nvSpPr>
          <p:cNvPr id="2165" name="Google Shape;2165;h547f90b031e64a91_0_1235"/>
          <p:cNvSpPr/>
          <p:nvPr/>
        </p:nvSpPr>
        <p:spPr>
          <a:xfrm>
            <a:off x="8204486" y="5652694"/>
            <a:ext cx="1367400" cy="265800"/>
          </a:xfrm>
          <a:prstGeom prst="rect">
            <a:avLst/>
          </a:prstGeom>
          <a:solidFill>
            <a:srgbClr val="DDF0E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3.44</a:t>
            </a:r>
            <a:endParaRPr sz="1662"/>
          </a:p>
        </p:txBody>
      </p:sp>
      <p:sp>
        <p:nvSpPr>
          <p:cNvPr id="2166" name="Google Shape;2166;h547f90b031e64a91_0_1235"/>
          <p:cNvSpPr/>
          <p:nvPr/>
        </p:nvSpPr>
        <p:spPr>
          <a:xfrm>
            <a:off x="9609939" y="5652694"/>
            <a:ext cx="1367400" cy="265800"/>
          </a:xfrm>
          <a:prstGeom prst="rect">
            <a:avLst/>
          </a:prstGeom>
          <a:solidFill>
            <a:srgbClr val="BFE3C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350" u="none" cap="none" strike="noStrike">
                <a:solidFill>
                  <a:srgbClr val="1F2328"/>
                </a:solidFill>
                <a:latin typeface="Calibri"/>
                <a:ea typeface="Calibri"/>
                <a:cs typeface="Calibri"/>
                <a:sym typeface="Calibri"/>
              </a:rPr>
              <a:t>3.53</a:t>
            </a:r>
            <a:endParaRPr sz="1662"/>
          </a:p>
        </p:txBody>
      </p:sp>
      <p:sp>
        <p:nvSpPr>
          <p:cNvPr id="2167" name="Google Shape;2167;h547f90b031e64a91_0_1235"/>
          <p:cNvSpPr txBox="1"/>
          <p:nvPr/>
        </p:nvSpPr>
        <p:spPr>
          <a:xfrm>
            <a:off x="822960" y="6355080"/>
            <a:ext cx="1042416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5B6770"/>
                </a:solidFill>
                <a:latin typeface="Calibri"/>
                <a:ea typeface="Calibri"/>
                <a:cs typeface="Calibri"/>
                <a:sym typeface="Calibri"/>
              </a:rPr>
              <a:t>Quality dimensions: accuracy, completeness, conciseness, adaptability, clarity, consistency [Vrandečić, Handbook on Ontologies 2009]; </a:t>
            </a:r>
            <a:r>
              <a:rPr lang="en-US" sz="1000">
                <a:solidFill>
                  <a:srgbClr val="5B6770"/>
                </a:solidFill>
                <a:latin typeface="Calibri"/>
                <a:ea typeface="Calibri"/>
                <a:cs typeface="Calibri"/>
                <a:sym typeface="Calibri"/>
              </a:rPr>
              <a:t>domain enrichment, adapted from ontology enrichment </a:t>
            </a:r>
            <a:r>
              <a:rPr lang="en-US" sz="1000">
                <a:solidFill>
                  <a:srgbClr val="5B6770"/>
                </a:solidFill>
                <a:latin typeface="Calibri"/>
                <a:ea typeface="Calibri"/>
                <a:cs typeface="Calibri"/>
                <a:sym typeface="Calibri"/>
              </a:rPr>
              <a:t>[Petasis et al., LNCS 2011].</a:t>
            </a:r>
            <a:endParaRPr/>
          </a:p>
        </p:txBody>
      </p:sp>
      <p:sp>
        <p:nvSpPr>
          <p:cNvPr id="2168" name="Slide number 2168"/>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18</a:t>
            </a: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2" name="Shape 2172"/>
        <p:cNvGrpSpPr/>
        <p:nvPr/>
      </p:nvGrpSpPr>
      <p:grpSpPr>
        <a:xfrm>
          <a:off x="0" y="0"/>
          <a:ext cx="0" cy="0"/>
          <a:chOff x="0" y="0"/>
          <a:chExt cx="0" cy="0"/>
        </a:xfrm>
      </p:grpSpPr>
      <p:sp>
        <p:nvSpPr>
          <p:cNvPr id="2173" name="Google Shape;2173;h547f90b031e64a91_0_992"/>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a:t>
            </a:r>
            <a:endParaRPr b="0" i="0" sz="1400" u="none" cap="none" strike="noStrike">
              <a:solidFill>
                <a:srgbClr val="000000"/>
              </a:solidFill>
              <a:latin typeface="Arial"/>
              <a:ea typeface="Arial"/>
              <a:cs typeface="Arial"/>
              <a:sym typeface="Arial"/>
            </a:endParaRPr>
          </a:p>
        </p:txBody>
      </p:sp>
      <p:sp>
        <p:nvSpPr>
          <p:cNvPr id="2174" name="Google Shape;2174;h547f90b031e64a91_0_992"/>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Move the evaluation tools into the loop</a:t>
            </a:r>
            <a:endParaRPr b="0" i="0" sz="1400" u="none" cap="none" strike="noStrike">
              <a:solidFill>
                <a:srgbClr val="000000"/>
              </a:solidFill>
              <a:latin typeface="Arial"/>
              <a:ea typeface="Arial"/>
              <a:cs typeface="Arial"/>
              <a:sym typeface="Arial"/>
            </a:endParaRPr>
          </a:p>
        </p:txBody>
      </p:sp>
      <p:sp>
        <p:nvSpPr>
          <p:cNvPr id="2175" name="Google Shape;2175;h547f90b031e64a91_0_992"/>
          <p:cNvSpPr/>
          <p:nvPr/>
        </p:nvSpPr>
        <p:spPr>
          <a:xfrm>
            <a:off x="822950" y="1663525"/>
            <a:ext cx="10515600" cy="1022400"/>
          </a:xfrm>
          <a:prstGeom prst="roundRect">
            <a:avLst>
              <a:gd fmla="val 12000" name="adj"/>
            </a:avLst>
          </a:prstGeom>
          <a:noFill/>
          <a:ln>
            <a:noFill/>
          </a:ln>
        </p:spPr>
        <p:txBody>
          <a:bodyPr anchorCtr="0" anchor="ctr" bIns="0" lIns="182875" spcFirstLastPara="1" rIns="182875" wrap="square" tIns="0">
            <a:noAutofit/>
          </a:bodyPr>
          <a:lstStyle/>
          <a:p>
            <a:pPr indent="0" lvl="0" marL="0" rtl="0" algn="l">
              <a:spcBef>
                <a:spcPts val="0"/>
              </a:spcBef>
              <a:spcAft>
                <a:spcPts val="0"/>
              </a:spcAft>
              <a:buClr>
                <a:srgbClr val="000000"/>
              </a:buClr>
              <a:buSzPts val="1250"/>
              <a:buFont typeface="Arial"/>
              <a:buNone/>
            </a:pPr>
            <a:r>
              <a:rPr b="1" lang="en-US" sz="1600">
                <a:solidFill>
                  <a:srgbClr val="3A434C"/>
                </a:solidFill>
                <a:latin typeface="Calibri"/>
                <a:ea typeface="Calibri"/>
                <a:cs typeface="Calibri"/>
                <a:sym typeface="Calibri"/>
              </a:rPr>
              <a:t>RDFLib</a:t>
            </a:r>
            <a:r>
              <a:rPr lang="en-US" sz="1600">
                <a:solidFill>
                  <a:srgbClr val="3A434C"/>
                </a:solidFill>
                <a:latin typeface="Calibri"/>
                <a:ea typeface="Calibri"/>
                <a:cs typeface="Calibri"/>
                <a:sym typeface="Calibri"/>
              </a:rPr>
              <a:t>,</a:t>
            </a:r>
            <a:r>
              <a:rPr b="1" lang="en-US" sz="1600">
                <a:solidFill>
                  <a:srgbClr val="3A434C"/>
                </a:solidFill>
                <a:latin typeface="Calibri"/>
                <a:ea typeface="Calibri"/>
                <a:cs typeface="Calibri"/>
                <a:sym typeface="Calibri"/>
              </a:rPr>
              <a:t> </a:t>
            </a:r>
            <a:r>
              <a:rPr lang="en-US" sz="1600">
                <a:solidFill>
                  <a:srgbClr val="3A434C"/>
                </a:solidFill>
                <a:latin typeface="Calibri"/>
                <a:ea typeface="Calibri"/>
                <a:cs typeface="Calibri"/>
                <a:sym typeface="Calibri"/>
              </a:rPr>
              <a:t>the </a:t>
            </a:r>
            <a:r>
              <a:rPr b="1" lang="en-US" sz="1600">
                <a:solidFill>
                  <a:srgbClr val="3A434C"/>
                </a:solidFill>
                <a:latin typeface="Calibri"/>
                <a:ea typeface="Calibri"/>
                <a:cs typeface="Calibri"/>
                <a:sym typeface="Calibri"/>
              </a:rPr>
              <a:t>reasoner</a:t>
            </a:r>
            <a:r>
              <a:rPr lang="en-US" sz="1600">
                <a:solidFill>
                  <a:srgbClr val="3A434C"/>
                </a:solidFill>
                <a:latin typeface="Calibri"/>
                <a:ea typeface="Calibri"/>
                <a:cs typeface="Calibri"/>
                <a:sym typeface="Calibri"/>
              </a:rPr>
              <a:t> and </a:t>
            </a:r>
            <a:r>
              <a:rPr b="1" lang="en-US" sz="1600">
                <a:solidFill>
                  <a:srgbClr val="3A434C"/>
                </a:solidFill>
                <a:latin typeface="Calibri"/>
                <a:ea typeface="Calibri"/>
                <a:cs typeface="Calibri"/>
                <a:sym typeface="Calibri"/>
              </a:rPr>
              <a:t>OOPS! </a:t>
            </a:r>
            <a:r>
              <a:rPr lang="en-US" sz="1600">
                <a:solidFill>
                  <a:srgbClr val="3A434C"/>
                </a:solidFill>
                <a:latin typeface="Calibri"/>
                <a:ea typeface="Calibri"/>
                <a:cs typeface="Calibri"/>
                <a:sym typeface="Calibri"/>
              </a:rPr>
              <a:t>only checked our final ontologies. Next, they flag each error while </a:t>
            </a:r>
            <a:r>
              <a:rPr b="1" i="1" lang="en-US" sz="1600">
                <a:solidFill>
                  <a:srgbClr val="3A434C"/>
                </a:solidFill>
                <a:latin typeface="Calibri"/>
                <a:ea typeface="Calibri"/>
                <a:cs typeface="Calibri"/>
                <a:sym typeface="Calibri"/>
              </a:rPr>
              <a:t>RIGOR</a:t>
            </a:r>
            <a:r>
              <a:rPr lang="en-US" sz="1600">
                <a:solidFill>
                  <a:srgbClr val="3A434C"/>
                </a:solidFill>
                <a:latin typeface="Calibri"/>
                <a:ea typeface="Calibri"/>
                <a:cs typeface="Calibri"/>
                <a:sym typeface="Calibri"/>
              </a:rPr>
              <a:t> builds, and their </a:t>
            </a:r>
            <a:r>
              <a:rPr b="1" lang="en-US" sz="1600">
                <a:solidFill>
                  <a:srgbClr val="3A434C"/>
                </a:solidFill>
                <a:latin typeface="Calibri"/>
                <a:ea typeface="Calibri"/>
                <a:cs typeface="Calibri"/>
                <a:sym typeface="Calibri"/>
              </a:rPr>
              <a:t>feedback</a:t>
            </a:r>
            <a:r>
              <a:rPr lang="en-US" sz="1600">
                <a:solidFill>
                  <a:srgbClr val="3A434C"/>
                </a:solidFill>
                <a:latin typeface="Calibri"/>
                <a:ea typeface="Calibri"/>
                <a:cs typeface="Calibri"/>
                <a:sym typeface="Calibri"/>
              </a:rPr>
              <a:t> will be used to </a:t>
            </a:r>
            <a:r>
              <a:rPr b="1" lang="en-US" sz="1600">
                <a:solidFill>
                  <a:srgbClr val="3A434C"/>
                </a:solidFill>
                <a:latin typeface="Calibri"/>
                <a:ea typeface="Calibri"/>
                <a:cs typeface="Calibri"/>
                <a:sym typeface="Calibri"/>
              </a:rPr>
              <a:t>prompt the LLM</a:t>
            </a:r>
            <a:r>
              <a:rPr lang="en-US" sz="1600">
                <a:solidFill>
                  <a:srgbClr val="3A434C"/>
                </a:solidFill>
                <a:latin typeface="Calibri"/>
                <a:ea typeface="Calibri"/>
                <a:cs typeface="Calibri"/>
                <a:sym typeface="Calibri"/>
              </a:rPr>
              <a:t> to </a:t>
            </a:r>
            <a:r>
              <a:rPr b="1" lang="en-US" sz="1600">
                <a:solidFill>
                  <a:srgbClr val="3A434C"/>
                </a:solidFill>
                <a:latin typeface="Calibri"/>
                <a:ea typeface="Calibri"/>
                <a:cs typeface="Calibri"/>
                <a:sym typeface="Calibri"/>
              </a:rPr>
              <a:t>repair</a:t>
            </a:r>
            <a:r>
              <a:rPr lang="en-US" sz="1600">
                <a:solidFill>
                  <a:srgbClr val="3A434C"/>
                </a:solidFill>
                <a:latin typeface="Calibri"/>
                <a:ea typeface="Calibri"/>
                <a:cs typeface="Calibri"/>
                <a:sym typeface="Calibri"/>
              </a:rPr>
              <a:t> the ontology.    </a:t>
            </a:r>
            <a:r>
              <a:rPr i="1" lang="en-US" sz="1600">
                <a:solidFill>
                  <a:srgbClr val="FFFFFF"/>
                </a:solidFill>
                <a:latin typeface="Calibri"/>
                <a:ea typeface="Calibri"/>
                <a:cs typeface="Calibri"/>
                <a:sym typeface="Calibri"/>
              </a:rPr>
              <a:t>→ Live in our RIGOR App demo. </a:t>
            </a:r>
            <a:endParaRPr b="1" sz="1600">
              <a:solidFill>
                <a:srgbClr val="FFFFFF"/>
              </a:solidFill>
              <a:latin typeface="Calibri"/>
              <a:ea typeface="Calibri"/>
              <a:cs typeface="Calibri"/>
              <a:sym typeface="Calibri"/>
            </a:endParaRPr>
          </a:p>
        </p:txBody>
      </p:sp>
      <p:sp>
        <p:nvSpPr>
          <p:cNvPr id="2176" name="Slide number 217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19</a:t>
            </a: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0" name="Shape 2180"/>
        <p:cNvGrpSpPr/>
        <p:nvPr/>
      </p:nvGrpSpPr>
      <p:grpSpPr>
        <a:xfrm>
          <a:off x="0" y="0"/>
          <a:ext cx="0" cy="0"/>
          <a:chOff x="0" y="0"/>
          <a:chExt cx="0" cy="0"/>
        </a:xfrm>
      </p:grpSpPr>
      <p:sp>
        <p:nvSpPr>
          <p:cNvPr id="2181" name="Google Shape;2181;h547f90b031e64a91_0_999"/>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 </a:t>
            </a:r>
            <a:endParaRPr b="0" i="0" sz="1400" u="none" cap="none" strike="noStrike">
              <a:solidFill>
                <a:srgbClr val="000000"/>
              </a:solidFill>
              <a:latin typeface="Arial"/>
              <a:ea typeface="Arial"/>
              <a:cs typeface="Arial"/>
              <a:sym typeface="Arial"/>
            </a:endParaRPr>
          </a:p>
        </p:txBody>
      </p:sp>
      <p:sp>
        <p:nvSpPr>
          <p:cNvPr id="2182" name="Google Shape;2182;h547f90b031e64a91_0_999"/>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a:t>
            </a:r>
            <a:r>
              <a:rPr b="1" lang="en-US" sz="3000">
                <a:solidFill>
                  <a:srgbClr val="1F2328"/>
                </a:solidFill>
                <a:latin typeface="Cambria"/>
                <a:ea typeface="Cambria"/>
                <a:cs typeface="Cambria"/>
                <a:sym typeface="Cambria"/>
              </a:rPr>
              <a:t> Move the evaluation tools in the loop</a:t>
            </a:r>
            <a:r>
              <a:rPr b="1" i="0" lang="en-US" sz="3000" u="none" cap="none" strike="noStrike">
                <a:solidFill>
                  <a:srgbClr val="1F2328"/>
                </a:solidFill>
                <a:latin typeface="Cambria"/>
                <a:ea typeface="Cambria"/>
                <a:cs typeface="Cambria"/>
                <a:sym typeface="Cambria"/>
              </a:rPr>
              <a:t> </a:t>
            </a:r>
            <a:endParaRPr b="0" i="0" sz="1400" u="none" cap="none" strike="noStrike">
              <a:solidFill>
                <a:srgbClr val="000000"/>
              </a:solidFill>
              <a:latin typeface="Arial"/>
              <a:ea typeface="Arial"/>
              <a:cs typeface="Arial"/>
              <a:sym typeface="Arial"/>
            </a:endParaRPr>
          </a:p>
        </p:txBody>
      </p:sp>
      <p:pic>
        <p:nvPicPr>
          <p:cNvPr id="2183" name="Google Shape;2183;h547f90b031e64a91_0_999" title="Rigor Ontology Validation Dashboard.png"/>
          <p:cNvPicPr preferRelativeResize="0"/>
          <p:nvPr/>
        </p:nvPicPr>
        <p:blipFill>
          <a:blip r:embed="rId3">
            <a:alphaModFix/>
          </a:blip>
          <a:stretch>
            <a:fillRect/>
          </a:stretch>
        </p:blipFill>
        <p:spPr>
          <a:xfrm>
            <a:off x="1780550" y="2887950"/>
            <a:ext cx="6194192" cy="3486085"/>
          </a:xfrm>
          <a:prstGeom prst="rect">
            <a:avLst/>
          </a:prstGeom>
          <a:noFill/>
          <a:ln>
            <a:noFill/>
          </a:ln>
          <a:effectLst>
            <a:outerShdw blurRad="48058" rotWithShape="0" algn="bl" dir="5400000" dist="16019">
              <a:srgbClr val="000000">
                <a:alpha val="50000"/>
              </a:srgbClr>
            </a:outerShdw>
          </a:effectLst>
        </p:spPr>
      </p:pic>
      <p:sp>
        <p:nvSpPr>
          <p:cNvPr id="2184" name="Google Shape;2184;h547f90b031e64a91_0_999"/>
          <p:cNvSpPr/>
          <p:nvPr/>
        </p:nvSpPr>
        <p:spPr>
          <a:xfrm>
            <a:off x="8400692" y="4723731"/>
            <a:ext cx="1292100" cy="1292100"/>
          </a:xfrm>
          <a:prstGeom prst="roundRect">
            <a:avLst>
              <a:gd fmla="val 7438" name="adj"/>
            </a:avLst>
          </a:prstGeom>
          <a:gradFill>
            <a:gsLst>
              <a:gs pos="0">
                <a:srgbClr val="F4E3A6"/>
              </a:gs>
              <a:gs pos="55000">
                <a:srgbClr val="E2C266"/>
              </a:gs>
              <a:gs pos="100000">
                <a:srgbClr val="B8913A"/>
              </a:gs>
            </a:gsLst>
            <a:lin ang="3299893" scaled="0"/>
          </a:gradFill>
          <a:ln>
            <a:noFill/>
          </a:ln>
          <a:effectLst>
            <a:outerShdw blurRad="10680" rotWithShape="0" algn="bl">
              <a:srgbClr val="8A6A22"/>
            </a:outerShdw>
          </a:effectLst>
        </p:spPr>
        <p:txBody>
          <a:bodyPr anchorCtr="0" anchor="ctr" bIns="76875" lIns="76875" spcFirstLastPara="1" rIns="76875" wrap="square" tIns="76875">
            <a:noAutofit/>
          </a:bodyPr>
          <a:lstStyle/>
          <a:p>
            <a:pPr indent="0" lvl="0" marL="0" rtl="0" algn="l">
              <a:spcBef>
                <a:spcPts val="0"/>
              </a:spcBef>
              <a:spcAft>
                <a:spcPts val="0"/>
              </a:spcAft>
              <a:buNone/>
            </a:pPr>
            <a:r>
              <a:t/>
            </a:r>
            <a:endParaRPr/>
          </a:p>
        </p:txBody>
      </p:sp>
      <p:pic>
        <p:nvPicPr>
          <p:cNvPr descr="QR code linking to the RIGOR App demo video on YouTube" id="2185" name="Google Shape;2185;h547f90b031e64a91_0_999"/>
          <p:cNvPicPr preferRelativeResize="0"/>
          <p:nvPr/>
        </p:nvPicPr>
        <p:blipFill rotWithShape="1">
          <a:blip r:embed="rId4">
            <a:alphaModFix/>
          </a:blip>
          <a:srcRect b="0" l="0" r="0" t="0"/>
          <a:stretch/>
        </p:blipFill>
        <p:spPr>
          <a:xfrm>
            <a:off x="8454091" y="4777129"/>
            <a:ext cx="1185600" cy="1185600"/>
          </a:xfrm>
          <a:prstGeom prst="roundRect">
            <a:avLst>
              <a:gd fmla="val 3604" name="adj"/>
            </a:avLst>
          </a:prstGeom>
          <a:noFill/>
          <a:ln>
            <a:noFill/>
          </a:ln>
        </p:spPr>
      </p:pic>
      <p:sp>
        <p:nvSpPr>
          <p:cNvPr id="2186" name="Google Shape;2186;h547f90b031e64a91_0_999"/>
          <p:cNvSpPr/>
          <p:nvPr/>
        </p:nvSpPr>
        <p:spPr>
          <a:xfrm>
            <a:off x="8148069" y="6181496"/>
            <a:ext cx="1797600" cy="216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3F6FB"/>
              </a:buClr>
              <a:buSzPts val="1093"/>
              <a:buFont typeface="Inter"/>
              <a:buNone/>
            </a:pPr>
            <a:r>
              <a:rPr b="1" i="0" lang="en-US" sz="1093" u="none" cap="none" strike="noStrike">
                <a:solidFill>
                  <a:srgbClr val="0E193A"/>
                </a:solidFill>
                <a:latin typeface="Inter"/>
                <a:ea typeface="Inter"/>
                <a:cs typeface="Inter"/>
                <a:sym typeface="Inter"/>
              </a:rPr>
              <a:t>Watch the demo video</a:t>
            </a:r>
            <a:endParaRPr b="0" i="0" sz="1093" u="none" cap="none" strike="noStrike">
              <a:solidFill>
                <a:srgbClr val="0E193A"/>
              </a:solidFill>
              <a:latin typeface="Inter"/>
              <a:ea typeface="Inter"/>
              <a:cs typeface="Inter"/>
              <a:sym typeface="Inter"/>
            </a:endParaRPr>
          </a:p>
        </p:txBody>
      </p:sp>
      <p:sp>
        <p:nvSpPr>
          <p:cNvPr id="2187" name="Google Shape;2187;h547f90b031e64a91_0_999"/>
          <p:cNvSpPr/>
          <p:nvPr/>
        </p:nvSpPr>
        <p:spPr>
          <a:xfrm>
            <a:off x="8400671" y="2959033"/>
            <a:ext cx="1292100" cy="1292100"/>
          </a:xfrm>
          <a:prstGeom prst="roundRect">
            <a:avLst>
              <a:gd fmla="val 7438" name="adj"/>
            </a:avLst>
          </a:prstGeom>
          <a:gradFill>
            <a:gsLst>
              <a:gs pos="0">
                <a:srgbClr val="F4E3A6"/>
              </a:gs>
              <a:gs pos="55000">
                <a:srgbClr val="E2C266"/>
              </a:gs>
              <a:gs pos="100000">
                <a:srgbClr val="B8913A"/>
              </a:gs>
            </a:gsLst>
            <a:lin ang="3299893" scaled="0"/>
          </a:gradFill>
          <a:ln>
            <a:noFill/>
          </a:ln>
          <a:effectLst>
            <a:outerShdw blurRad="10680" rotWithShape="0" algn="bl">
              <a:srgbClr val="8A6A22"/>
            </a:outerShdw>
          </a:effectLst>
        </p:spPr>
        <p:txBody>
          <a:bodyPr anchorCtr="0" anchor="ctr" bIns="76875" lIns="76875" spcFirstLastPara="1" rIns="76875" wrap="square" tIns="76875">
            <a:noAutofit/>
          </a:bodyPr>
          <a:lstStyle/>
          <a:p>
            <a:pPr indent="0" lvl="0" marL="0" rtl="0" algn="l">
              <a:spcBef>
                <a:spcPts val="0"/>
              </a:spcBef>
              <a:spcAft>
                <a:spcPts val="0"/>
              </a:spcAft>
              <a:buNone/>
            </a:pPr>
            <a:r>
              <a:t/>
            </a:r>
            <a:endParaRPr/>
          </a:p>
        </p:txBody>
      </p:sp>
      <p:pic>
        <p:nvPicPr>
          <p:cNvPr descr="QR code linking to the RIGOR App GitHub repository" id="2188" name="Google Shape;2188;h547f90b031e64a91_0_999"/>
          <p:cNvPicPr preferRelativeResize="0"/>
          <p:nvPr/>
        </p:nvPicPr>
        <p:blipFill rotWithShape="1">
          <a:blip r:embed="rId5">
            <a:alphaModFix/>
          </a:blip>
          <a:srcRect b="0" l="0" r="0" t="0"/>
          <a:stretch/>
        </p:blipFill>
        <p:spPr>
          <a:xfrm>
            <a:off x="8454069" y="3012431"/>
            <a:ext cx="1185600" cy="1185600"/>
          </a:xfrm>
          <a:prstGeom prst="roundRect">
            <a:avLst>
              <a:gd fmla="val 3604" name="adj"/>
            </a:avLst>
          </a:prstGeom>
          <a:noFill/>
          <a:ln>
            <a:noFill/>
          </a:ln>
        </p:spPr>
      </p:pic>
      <p:sp>
        <p:nvSpPr>
          <p:cNvPr id="2189" name="Google Shape;2189;h547f90b031e64a91_0_999"/>
          <p:cNvSpPr/>
          <p:nvPr/>
        </p:nvSpPr>
        <p:spPr>
          <a:xfrm>
            <a:off x="8309644" y="4416798"/>
            <a:ext cx="1474200" cy="2160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F3F6FB"/>
              </a:buClr>
              <a:buSzPts val="1093"/>
              <a:buFont typeface="Inter"/>
              <a:buNone/>
            </a:pPr>
            <a:r>
              <a:rPr b="1" i="0" lang="en-US" sz="1093" u="none" cap="none" strike="noStrike">
                <a:solidFill>
                  <a:srgbClr val="0E193A"/>
                </a:solidFill>
                <a:latin typeface="Inter"/>
                <a:ea typeface="Inter"/>
                <a:cs typeface="Inter"/>
                <a:sym typeface="Inter"/>
              </a:rPr>
              <a:t>Open source · MIT</a:t>
            </a:r>
            <a:endParaRPr b="0" i="0" sz="1093" u="none" cap="none" strike="noStrike">
              <a:solidFill>
                <a:srgbClr val="0E193A"/>
              </a:solidFill>
              <a:latin typeface="Inter"/>
              <a:ea typeface="Inter"/>
              <a:cs typeface="Inter"/>
              <a:sym typeface="Inter"/>
            </a:endParaRPr>
          </a:p>
        </p:txBody>
      </p:sp>
      <p:sp>
        <p:nvSpPr>
          <p:cNvPr id="2190" name="Google Shape;2190;h547f90b031e64a91_0_999"/>
          <p:cNvSpPr txBox="1"/>
          <p:nvPr/>
        </p:nvSpPr>
        <p:spPr>
          <a:xfrm>
            <a:off x="1780561" y="6375831"/>
            <a:ext cx="5283300" cy="310500"/>
          </a:xfrm>
          <a:prstGeom prst="rect">
            <a:avLst/>
          </a:prstGeom>
          <a:noFill/>
          <a:ln>
            <a:noFill/>
          </a:ln>
        </p:spPr>
        <p:txBody>
          <a:bodyPr anchorCtr="0" anchor="t" bIns="76875" lIns="76875" spcFirstLastPara="1" rIns="76875" wrap="square" tIns="76875">
            <a:spAutoFit/>
          </a:bodyPr>
          <a:lstStyle/>
          <a:p>
            <a:pPr indent="0" lvl="0" marL="0" rtl="0" algn="l">
              <a:spcBef>
                <a:spcPts val="0"/>
              </a:spcBef>
              <a:spcAft>
                <a:spcPts val="0"/>
              </a:spcAft>
              <a:buNone/>
            </a:pPr>
            <a:r>
              <a:rPr b="1" lang="en-US" sz="1009">
                <a:solidFill>
                  <a:srgbClr val="1F2328"/>
                </a:solidFill>
                <a:latin typeface="Calibri"/>
                <a:ea typeface="Calibri"/>
                <a:cs typeface="Calibri"/>
                <a:sym typeface="Calibri"/>
              </a:rPr>
              <a:t>RIGOR App</a:t>
            </a:r>
            <a:r>
              <a:rPr lang="en-US" sz="1009">
                <a:solidFill>
                  <a:srgbClr val="5B6770"/>
                </a:solidFill>
                <a:latin typeface="Calibri"/>
                <a:ea typeface="Calibri"/>
                <a:cs typeface="Calibri"/>
                <a:sym typeface="Calibri"/>
              </a:rPr>
              <a:t> [Fathallah, Nayyeri &amp; Staab, ISWC 2026 Demos].</a:t>
            </a:r>
            <a:endParaRPr sz="1009"/>
          </a:p>
        </p:txBody>
      </p:sp>
      <p:sp>
        <p:nvSpPr>
          <p:cNvPr id="2191" name="Google Shape;2191;h547f90b031e64a91_0_999"/>
          <p:cNvSpPr/>
          <p:nvPr/>
        </p:nvSpPr>
        <p:spPr>
          <a:xfrm>
            <a:off x="822950" y="1663525"/>
            <a:ext cx="10515600" cy="1022400"/>
          </a:xfrm>
          <a:prstGeom prst="roundRect">
            <a:avLst>
              <a:gd fmla="val 12000" name="adj"/>
            </a:avLst>
          </a:prstGeom>
          <a:noFill/>
          <a:ln>
            <a:noFill/>
          </a:ln>
        </p:spPr>
        <p:txBody>
          <a:bodyPr anchorCtr="0" anchor="ctr" bIns="0" lIns="182875" spcFirstLastPara="1" rIns="182875" wrap="square" tIns="0">
            <a:noAutofit/>
          </a:bodyPr>
          <a:lstStyle/>
          <a:p>
            <a:pPr indent="0" lvl="0" marL="0" rtl="0" algn="l">
              <a:spcBef>
                <a:spcPts val="0"/>
              </a:spcBef>
              <a:spcAft>
                <a:spcPts val="0"/>
              </a:spcAft>
              <a:buClr>
                <a:srgbClr val="000000"/>
              </a:buClr>
              <a:buSzPts val="1250"/>
              <a:buFont typeface="Arial"/>
              <a:buNone/>
            </a:pPr>
            <a:r>
              <a:rPr b="1" lang="en-US" sz="1600">
                <a:solidFill>
                  <a:srgbClr val="3A434C"/>
                </a:solidFill>
                <a:latin typeface="Calibri"/>
                <a:ea typeface="Calibri"/>
                <a:cs typeface="Calibri"/>
                <a:sym typeface="Calibri"/>
              </a:rPr>
              <a:t>RDFLib</a:t>
            </a:r>
            <a:r>
              <a:rPr lang="en-US" sz="1600">
                <a:solidFill>
                  <a:srgbClr val="3A434C"/>
                </a:solidFill>
                <a:latin typeface="Calibri"/>
                <a:ea typeface="Calibri"/>
                <a:cs typeface="Calibri"/>
                <a:sym typeface="Calibri"/>
              </a:rPr>
              <a:t>,</a:t>
            </a:r>
            <a:r>
              <a:rPr b="1" lang="en-US" sz="1600">
                <a:solidFill>
                  <a:srgbClr val="3A434C"/>
                </a:solidFill>
                <a:latin typeface="Calibri"/>
                <a:ea typeface="Calibri"/>
                <a:cs typeface="Calibri"/>
                <a:sym typeface="Calibri"/>
              </a:rPr>
              <a:t> </a:t>
            </a:r>
            <a:r>
              <a:rPr lang="en-US" sz="1600">
                <a:solidFill>
                  <a:srgbClr val="3A434C"/>
                </a:solidFill>
                <a:latin typeface="Calibri"/>
                <a:ea typeface="Calibri"/>
                <a:cs typeface="Calibri"/>
                <a:sym typeface="Calibri"/>
              </a:rPr>
              <a:t>the </a:t>
            </a:r>
            <a:r>
              <a:rPr b="1" lang="en-US" sz="1600">
                <a:solidFill>
                  <a:srgbClr val="3A434C"/>
                </a:solidFill>
                <a:latin typeface="Calibri"/>
                <a:ea typeface="Calibri"/>
                <a:cs typeface="Calibri"/>
                <a:sym typeface="Calibri"/>
              </a:rPr>
              <a:t>reasoner</a:t>
            </a:r>
            <a:r>
              <a:rPr lang="en-US" sz="1600">
                <a:solidFill>
                  <a:srgbClr val="3A434C"/>
                </a:solidFill>
                <a:latin typeface="Calibri"/>
                <a:ea typeface="Calibri"/>
                <a:cs typeface="Calibri"/>
                <a:sym typeface="Calibri"/>
              </a:rPr>
              <a:t> and </a:t>
            </a:r>
            <a:r>
              <a:rPr b="1" lang="en-US" sz="1600">
                <a:solidFill>
                  <a:srgbClr val="3A434C"/>
                </a:solidFill>
                <a:latin typeface="Calibri"/>
                <a:ea typeface="Calibri"/>
                <a:cs typeface="Calibri"/>
                <a:sym typeface="Calibri"/>
              </a:rPr>
              <a:t>OOPS! </a:t>
            </a:r>
            <a:r>
              <a:rPr lang="en-US" sz="1600">
                <a:solidFill>
                  <a:srgbClr val="3A434C"/>
                </a:solidFill>
                <a:latin typeface="Calibri"/>
                <a:ea typeface="Calibri"/>
                <a:cs typeface="Calibri"/>
                <a:sym typeface="Calibri"/>
              </a:rPr>
              <a:t>only checked our final ontologies. Next, they flag each error while </a:t>
            </a:r>
            <a:r>
              <a:rPr b="1" i="1" lang="en-US" sz="1600">
                <a:solidFill>
                  <a:srgbClr val="3A434C"/>
                </a:solidFill>
                <a:latin typeface="Calibri"/>
                <a:ea typeface="Calibri"/>
                <a:cs typeface="Calibri"/>
                <a:sym typeface="Calibri"/>
              </a:rPr>
              <a:t>RIGOR</a:t>
            </a:r>
            <a:r>
              <a:rPr lang="en-US" sz="1600">
                <a:solidFill>
                  <a:srgbClr val="3A434C"/>
                </a:solidFill>
                <a:latin typeface="Calibri"/>
                <a:ea typeface="Calibri"/>
                <a:cs typeface="Calibri"/>
                <a:sym typeface="Calibri"/>
              </a:rPr>
              <a:t> builds, and their </a:t>
            </a:r>
            <a:r>
              <a:rPr b="1" lang="en-US" sz="1600">
                <a:solidFill>
                  <a:srgbClr val="3A434C"/>
                </a:solidFill>
                <a:latin typeface="Calibri"/>
                <a:ea typeface="Calibri"/>
                <a:cs typeface="Calibri"/>
                <a:sym typeface="Calibri"/>
              </a:rPr>
              <a:t>feedback</a:t>
            </a:r>
            <a:r>
              <a:rPr lang="en-US" sz="1600">
                <a:solidFill>
                  <a:srgbClr val="3A434C"/>
                </a:solidFill>
                <a:latin typeface="Calibri"/>
                <a:ea typeface="Calibri"/>
                <a:cs typeface="Calibri"/>
                <a:sym typeface="Calibri"/>
              </a:rPr>
              <a:t> will be used to </a:t>
            </a:r>
            <a:r>
              <a:rPr b="1" lang="en-US" sz="1600">
                <a:solidFill>
                  <a:srgbClr val="3A434C"/>
                </a:solidFill>
                <a:latin typeface="Calibri"/>
                <a:ea typeface="Calibri"/>
                <a:cs typeface="Calibri"/>
                <a:sym typeface="Calibri"/>
              </a:rPr>
              <a:t>prompt the LLM</a:t>
            </a:r>
            <a:r>
              <a:rPr lang="en-US" sz="1600">
                <a:solidFill>
                  <a:srgbClr val="3A434C"/>
                </a:solidFill>
                <a:latin typeface="Calibri"/>
                <a:ea typeface="Calibri"/>
                <a:cs typeface="Calibri"/>
                <a:sym typeface="Calibri"/>
              </a:rPr>
              <a:t> to </a:t>
            </a:r>
            <a:r>
              <a:rPr b="1" lang="en-US" sz="1600">
                <a:solidFill>
                  <a:srgbClr val="3A434C"/>
                </a:solidFill>
                <a:latin typeface="Calibri"/>
                <a:ea typeface="Calibri"/>
                <a:cs typeface="Calibri"/>
                <a:sym typeface="Calibri"/>
              </a:rPr>
              <a:t>repair</a:t>
            </a:r>
            <a:r>
              <a:rPr lang="en-US" sz="1600">
                <a:solidFill>
                  <a:srgbClr val="3A434C"/>
                </a:solidFill>
                <a:latin typeface="Calibri"/>
                <a:ea typeface="Calibri"/>
                <a:cs typeface="Calibri"/>
                <a:sym typeface="Calibri"/>
              </a:rPr>
              <a:t> the ontology.    </a:t>
            </a:r>
            <a:r>
              <a:rPr i="1" lang="en-US" sz="1600">
                <a:solidFill>
                  <a:srgbClr val="3A434C"/>
                </a:solidFill>
                <a:latin typeface="Calibri"/>
                <a:ea typeface="Calibri"/>
                <a:cs typeface="Calibri"/>
                <a:sym typeface="Calibri"/>
              </a:rPr>
              <a:t>→ Live in our RIGOR App demo. </a:t>
            </a:r>
            <a:endParaRPr b="1" sz="1600">
              <a:solidFill>
                <a:srgbClr val="0B6E4F"/>
              </a:solidFill>
              <a:latin typeface="Calibri"/>
              <a:ea typeface="Calibri"/>
              <a:cs typeface="Calibri"/>
              <a:sym typeface="Calibri"/>
            </a:endParaRPr>
          </a:p>
        </p:txBody>
      </p:sp>
      <p:sp>
        <p:nvSpPr>
          <p:cNvPr id="2192" name="Slide number 2192"/>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19</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6" name="Shape 2196"/>
        <p:cNvGrpSpPr/>
        <p:nvPr/>
      </p:nvGrpSpPr>
      <p:grpSpPr>
        <a:xfrm>
          <a:off x="0" y="0"/>
          <a:ext cx="0" cy="0"/>
          <a:chOff x="0" y="0"/>
          <a:chExt cx="0" cy="0"/>
        </a:xfrm>
      </p:grpSpPr>
      <p:sp>
        <p:nvSpPr>
          <p:cNvPr id="2197" name="Google Shape;2197;h547f90b031e64a91_0_1298"/>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a:t>
            </a:r>
            <a:endParaRPr b="0" i="0" sz="1400" u="none" cap="none" strike="noStrike">
              <a:solidFill>
                <a:srgbClr val="000000"/>
              </a:solidFill>
              <a:latin typeface="Arial"/>
              <a:ea typeface="Arial"/>
              <a:cs typeface="Arial"/>
              <a:sym typeface="Arial"/>
            </a:endParaRPr>
          </a:p>
        </p:txBody>
      </p:sp>
      <p:sp>
        <p:nvSpPr>
          <p:cNvPr id="2198" name="Google Shape;2198;h547f90b031e64a91_0_1298"/>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2199" name="Google Shape;2199;h547f90b031e64a91_0_1298"/>
          <p:cNvSpPr txBox="1"/>
          <p:nvPr/>
        </p:nvSpPr>
        <p:spPr>
          <a:xfrm>
            <a:off x="822960" y="1682496"/>
            <a:ext cx="10515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5B6770"/>
                </a:solidFill>
                <a:latin typeface="Calibri"/>
                <a:ea typeface="Calibri"/>
                <a:cs typeface="Calibri"/>
                <a:sym typeface="Calibri"/>
              </a:rPr>
              <a:t>Today </a:t>
            </a:r>
            <a:r>
              <a:rPr b="1" i="1" lang="en-US" sz="1650" u="none" cap="none" strike="noStrike">
                <a:solidFill>
                  <a:srgbClr val="3A434C"/>
                </a:solidFill>
                <a:latin typeface="Calibri"/>
                <a:ea typeface="Calibri"/>
                <a:cs typeface="Calibri"/>
                <a:sym typeface="Calibri"/>
              </a:rPr>
              <a:t>RIGOR</a:t>
            </a:r>
            <a:r>
              <a:rPr b="0" i="0" lang="en-US" sz="1650" u="none" cap="none" strike="noStrike">
                <a:solidFill>
                  <a:srgbClr val="5B6770"/>
                </a:solidFill>
                <a:latin typeface="Calibri"/>
                <a:ea typeface="Calibri"/>
                <a:cs typeface="Calibri"/>
                <a:sym typeface="Calibri"/>
              </a:rPr>
              <a:t> reads </a:t>
            </a:r>
            <a:r>
              <a:rPr b="1" i="0" lang="en-US" sz="1650" u="none" cap="none" strike="noStrike">
                <a:solidFill>
                  <a:srgbClr val="3A434C"/>
                </a:solidFill>
                <a:latin typeface="Calibri"/>
                <a:ea typeface="Calibri"/>
                <a:cs typeface="Calibri"/>
                <a:sym typeface="Calibri"/>
              </a:rPr>
              <a:t>schemas</a:t>
            </a:r>
            <a:r>
              <a:rPr b="0" i="0" lang="en-US" sz="1650" u="none" cap="none" strike="noStrike">
                <a:solidFill>
                  <a:srgbClr val="5B6770"/>
                </a:solidFill>
                <a:latin typeface="Calibri"/>
                <a:ea typeface="Calibri"/>
                <a:cs typeface="Calibri"/>
                <a:sym typeface="Calibri"/>
              </a:rPr>
              <a:t>. </a:t>
            </a:r>
            <a:r>
              <a:rPr b="1" i="0" lang="en-US" sz="1650" u="none" cap="none" strike="noStrike">
                <a:solidFill>
                  <a:srgbClr val="3A434C"/>
                </a:solidFill>
                <a:latin typeface="Calibri"/>
                <a:ea typeface="Calibri"/>
                <a:cs typeface="Calibri"/>
                <a:sym typeface="Calibri"/>
              </a:rPr>
              <a:t>Instance data</a:t>
            </a:r>
            <a:r>
              <a:rPr b="0" i="0" lang="en-US" sz="1650" u="none" cap="none" strike="noStrike">
                <a:solidFill>
                  <a:srgbClr val="5B6770"/>
                </a:solidFill>
                <a:latin typeface="Calibri"/>
                <a:ea typeface="Calibri"/>
                <a:cs typeface="Calibri"/>
                <a:sym typeface="Calibri"/>
              </a:rPr>
              <a:t> can propose </a:t>
            </a:r>
            <a:r>
              <a:rPr b="1" i="0" lang="en-US" sz="1650" u="none" cap="none" strike="noStrike">
                <a:solidFill>
                  <a:srgbClr val="3A434C"/>
                </a:solidFill>
                <a:latin typeface="Calibri"/>
                <a:ea typeface="Calibri"/>
                <a:cs typeface="Calibri"/>
                <a:sym typeface="Calibri"/>
              </a:rPr>
              <a:t>new knowledge</a:t>
            </a:r>
            <a:r>
              <a:rPr b="0" i="0" lang="en-US" sz="1650" u="none" cap="none" strike="noStrike">
                <a:solidFill>
                  <a:srgbClr val="5B6770"/>
                </a:solidFill>
                <a:latin typeface="Calibri"/>
                <a:ea typeface="Calibri"/>
                <a:cs typeface="Calibri"/>
                <a:sym typeface="Calibri"/>
              </a:rPr>
              <a:t>.</a:t>
            </a:r>
            <a:endParaRPr/>
          </a:p>
        </p:txBody>
      </p:sp>
      <p:sp>
        <p:nvSpPr>
          <p:cNvPr id="2200" name="Google Shape;2200;h547f90b031e64a91_0_1298"/>
          <p:cNvSpPr/>
          <p:nvPr/>
        </p:nvSpPr>
        <p:spPr>
          <a:xfrm>
            <a:off x="804672" y="2304288"/>
            <a:ext cx="32460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1" name="Google Shape;2201;h547f90b031e64a91_0_1298"/>
          <p:cNvSpPr txBox="1"/>
          <p:nvPr/>
        </p:nvSpPr>
        <p:spPr>
          <a:xfrm>
            <a:off x="1033271" y="2468880"/>
            <a:ext cx="27888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THE DATA</a:t>
            </a:r>
            <a:endParaRPr/>
          </a:p>
        </p:txBody>
      </p:sp>
      <p:sp>
        <p:nvSpPr>
          <p:cNvPr id="2202" name="Google Shape;2202;h547f90b031e64a91_0_1298"/>
          <p:cNvSpPr txBox="1"/>
          <p:nvPr/>
        </p:nvSpPr>
        <p:spPr>
          <a:xfrm>
            <a:off x="1033271" y="2743200"/>
            <a:ext cx="27888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two tables, joined on admission_id</a:t>
            </a:r>
            <a:endParaRPr/>
          </a:p>
        </p:txBody>
      </p:sp>
      <p:sp>
        <p:nvSpPr>
          <p:cNvPr id="2203" name="Google Shape;2203;h547f90b031e64a91_0_1298"/>
          <p:cNvSpPr/>
          <p:nvPr/>
        </p:nvSpPr>
        <p:spPr>
          <a:xfrm>
            <a:off x="941832" y="3054096"/>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4" name="Google Shape;2204;h547f90b031e64a91_0_1298"/>
          <p:cNvSpPr txBox="1"/>
          <p:nvPr/>
        </p:nvSpPr>
        <p:spPr>
          <a:xfrm>
            <a:off x="1078992" y="3081527"/>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treatment</a:t>
            </a:r>
            <a:endParaRPr/>
          </a:p>
        </p:txBody>
      </p:sp>
      <p:sp>
        <p:nvSpPr>
          <p:cNvPr id="2205" name="Google Shape;2205;h547f90b031e64a91_0_1298"/>
          <p:cNvSpPr/>
          <p:nvPr/>
        </p:nvSpPr>
        <p:spPr>
          <a:xfrm>
            <a:off x="1078992" y="3383279"/>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6" name="Google Shape;2206;h547f90b031e64a91_0_1298"/>
          <p:cNvSpPr txBox="1"/>
          <p:nvPr/>
        </p:nvSpPr>
        <p:spPr>
          <a:xfrm>
            <a:off x="1078992" y="3410712"/>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admission_id</a:t>
            </a:r>
            <a:r>
              <a:rPr b="0" i="0" lang="en-US" sz="1100" u="none" cap="none" strike="noStrike">
                <a:solidFill>
                  <a:srgbClr val="5B6770"/>
                </a:solidFill>
                <a:latin typeface="Calibri"/>
                <a:ea typeface="Calibri"/>
                <a:cs typeface="Calibri"/>
                <a:sym typeface="Calibri"/>
              </a:rPr>
              <a:t> FK</a:t>
            </a:r>
            <a:endParaRPr/>
          </a:p>
        </p:txBody>
      </p:sp>
      <p:sp>
        <p:nvSpPr>
          <p:cNvPr id="2207" name="Google Shape;2207;h547f90b031e64a91_0_1298"/>
          <p:cNvSpPr txBox="1"/>
          <p:nvPr/>
        </p:nvSpPr>
        <p:spPr>
          <a:xfrm>
            <a:off x="2130552" y="3410712"/>
            <a:ext cx="1463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drug</a:t>
            </a:r>
            <a:endParaRPr/>
          </a:p>
        </p:txBody>
      </p:sp>
      <p:sp>
        <p:nvSpPr>
          <p:cNvPr id="2208" name="Google Shape;2208;h547f90b031e64a91_0_1298"/>
          <p:cNvSpPr/>
          <p:nvPr/>
        </p:nvSpPr>
        <p:spPr>
          <a:xfrm>
            <a:off x="1014984" y="363931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09" name="Google Shape;2209;h547f90b031e64a91_0_1298"/>
          <p:cNvSpPr txBox="1"/>
          <p:nvPr/>
        </p:nvSpPr>
        <p:spPr>
          <a:xfrm>
            <a:off x="1078992" y="363931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10" name="Google Shape;2210;h547f90b031e64a91_0_1298"/>
          <p:cNvSpPr txBox="1"/>
          <p:nvPr/>
        </p:nvSpPr>
        <p:spPr>
          <a:xfrm>
            <a:off x="2130552" y="3639312"/>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11" name="Google Shape;2211;h547f90b031e64a91_0_1298"/>
          <p:cNvSpPr txBox="1"/>
          <p:nvPr/>
        </p:nvSpPr>
        <p:spPr>
          <a:xfrm>
            <a:off x="1078992" y="3863339"/>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12" name="Google Shape;2212;h547f90b031e64a91_0_1298"/>
          <p:cNvSpPr txBox="1"/>
          <p:nvPr/>
        </p:nvSpPr>
        <p:spPr>
          <a:xfrm>
            <a:off x="2130552" y="3863339"/>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nivolumab</a:t>
            </a:r>
            <a:endParaRPr/>
          </a:p>
        </p:txBody>
      </p:sp>
      <p:sp>
        <p:nvSpPr>
          <p:cNvPr id="2213" name="Google Shape;2213;h547f90b031e64a91_0_1298"/>
          <p:cNvSpPr/>
          <p:nvPr/>
        </p:nvSpPr>
        <p:spPr>
          <a:xfrm>
            <a:off x="1014984" y="4087368"/>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4" name="Google Shape;2214;h547f90b031e64a91_0_1298"/>
          <p:cNvSpPr txBox="1"/>
          <p:nvPr/>
        </p:nvSpPr>
        <p:spPr>
          <a:xfrm>
            <a:off x="1078992" y="4087368"/>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15" name="Google Shape;2215;h547f90b031e64a91_0_1298"/>
          <p:cNvSpPr txBox="1"/>
          <p:nvPr/>
        </p:nvSpPr>
        <p:spPr>
          <a:xfrm>
            <a:off x="2130552" y="4087368"/>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16" name="Google Shape;2216;h547f90b031e64a91_0_1298"/>
          <p:cNvSpPr/>
          <p:nvPr/>
        </p:nvSpPr>
        <p:spPr>
          <a:xfrm>
            <a:off x="941832" y="4457700"/>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7" name="Google Shape;2217;h547f90b031e64a91_0_1298"/>
          <p:cNvSpPr txBox="1"/>
          <p:nvPr/>
        </p:nvSpPr>
        <p:spPr>
          <a:xfrm>
            <a:off x="1078992" y="4485132"/>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admission</a:t>
            </a:r>
            <a:endParaRPr/>
          </a:p>
        </p:txBody>
      </p:sp>
      <p:sp>
        <p:nvSpPr>
          <p:cNvPr id="2218" name="Google Shape;2218;h547f90b031e64a91_0_1298"/>
          <p:cNvSpPr/>
          <p:nvPr/>
        </p:nvSpPr>
        <p:spPr>
          <a:xfrm>
            <a:off x="1078992" y="4786884"/>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19" name="Google Shape;2219;h547f90b031e64a91_0_1298"/>
          <p:cNvSpPr txBox="1"/>
          <p:nvPr/>
        </p:nvSpPr>
        <p:spPr>
          <a:xfrm>
            <a:off x="1078992" y="4814316"/>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admission_id</a:t>
            </a:r>
            <a:endParaRPr/>
          </a:p>
        </p:txBody>
      </p:sp>
      <p:sp>
        <p:nvSpPr>
          <p:cNvPr id="2220" name="Google Shape;2220;h547f90b031e64a91_0_1298"/>
          <p:cNvSpPr txBox="1"/>
          <p:nvPr/>
        </p:nvSpPr>
        <p:spPr>
          <a:xfrm>
            <a:off x="2130552" y="4814316"/>
            <a:ext cx="868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patient_id</a:t>
            </a:r>
            <a:endParaRPr/>
          </a:p>
        </p:txBody>
      </p:sp>
      <p:sp>
        <p:nvSpPr>
          <p:cNvPr id="2221" name="Google Shape;2221;h547f90b031e64a91_0_1298"/>
          <p:cNvSpPr txBox="1"/>
          <p:nvPr/>
        </p:nvSpPr>
        <p:spPr>
          <a:xfrm>
            <a:off x="2999232" y="4814316"/>
            <a:ext cx="731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BM_DEP</a:t>
            </a:r>
            <a:endParaRPr/>
          </a:p>
        </p:txBody>
      </p:sp>
      <p:sp>
        <p:nvSpPr>
          <p:cNvPr id="2222" name="Google Shape;2222;h547f90b031e64a91_0_1298"/>
          <p:cNvSpPr/>
          <p:nvPr/>
        </p:nvSpPr>
        <p:spPr>
          <a:xfrm>
            <a:off x="1014984" y="5042916"/>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23" name="Google Shape;2223;h547f90b031e64a91_0_1298"/>
          <p:cNvSpPr txBox="1"/>
          <p:nvPr/>
        </p:nvSpPr>
        <p:spPr>
          <a:xfrm>
            <a:off x="1078992" y="5042916"/>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24" name="Google Shape;2224;h547f90b031e64a91_0_1298"/>
          <p:cNvSpPr txBox="1"/>
          <p:nvPr/>
        </p:nvSpPr>
        <p:spPr>
          <a:xfrm>
            <a:off x="2130552" y="5042916"/>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P1</a:t>
            </a:r>
            <a:endParaRPr/>
          </a:p>
        </p:txBody>
      </p:sp>
      <p:sp>
        <p:nvSpPr>
          <p:cNvPr id="2225" name="Google Shape;2225;h547f90b031e64a91_0_1298"/>
          <p:cNvSpPr txBox="1"/>
          <p:nvPr/>
        </p:nvSpPr>
        <p:spPr>
          <a:xfrm>
            <a:off x="2999232" y="5042916"/>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26" name="Google Shape;2226;h547f90b031e64a91_0_1298"/>
          <p:cNvSpPr txBox="1"/>
          <p:nvPr/>
        </p:nvSpPr>
        <p:spPr>
          <a:xfrm>
            <a:off x="1078992" y="5266944"/>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27" name="Google Shape;2227;h547f90b031e64a91_0_1298"/>
          <p:cNvSpPr txBox="1"/>
          <p:nvPr/>
        </p:nvSpPr>
        <p:spPr>
          <a:xfrm>
            <a:off x="2130552" y="5266944"/>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P2</a:t>
            </a:r>
            <a:endParaRPr/>
          </a:p>
        </p:txBody>
      </p:sp>
      <p:sp>
        <p:nvSpPr>
          <p:cNvPr id="2228" name="Google Shape;2228;h547f90b031e64a91_0_1298"/>
          <p:cNvSpPr txBox="1"/>
          <p:nvPr/>
        </p:nvSpPr>
        <p:spPr>
          <a:xfrm>
            <a:off x="2999232" y="5266944"/>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0</a:t>
            </a:r>
            <a:endParaRPr/>
          </a:p>
        </p:txBody>
      </p:sp>
      <p:sp>
        <p:nvSpPr>
          <p:cNvPr id="2229" name="Google Shape;2229;h547f90b031e64a91_0_1298"/>
          <p:cNvSpPr/>
          <p:nvPr/>
        </p:nvSpPr>
        <p:spPr>
          <a:xfrm>
            <a:off x="1014984" y="549097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30" name="Google Shape;2230;h547f90b031e64a91_0_1298"/>
          <p:cNvSpPr txBox="1"/>
          <p:nvPr/>
        </p:nvSpPr>
        <p:spPr>
          <a:xfrm>
            <a:off x="1078992" y="549097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31" name="Google Shape;2231;h547f90b031e64a91_0_1298"/>
          <p:cNvSpPr txBox="1"/>
          <p:nvPr/>
        </p:nvSpPr>
        <p:spPr>
          <a:xfrm>
            <a:off x="2130552" y="5490972"/>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P3</a:t>
            </a:r>
            <a:endParaRPr/>
          </a:p>
        </p:txBody>
      </p:sp>
      <p:sp>
        <p:nvSpPr>
          <p:cNvPr id="2232" name="Google Shape;2232;h547f90b031e64a91_0_1298"/>
          <p:cNvSpPr txBox="1"/>
          <p:nvPr/>
        </p:nvSpPr>
        <p:spPr>
          <a:xfrm>
            <a:off x="2999232" y="5490972"/>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33" name="Slide number 2233"/>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20</a:t>
            </a: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7" name="Shape 2237"/>
        <p:cNvGrpSpPr/>
        <p:nvPr/>
      </p:nvGrpSpPr>
      <p:grpSpPr>
        <a:xfrm>
          <a:off x="0" y="0"/>
          <a:ext cx="0" cy="0"/>
          <a:chOff x="0" y="0"/>
          <a:chExt cx="0" cy="0"/>
        </a:xfrm>
      </p:grpSpPr>
      <p:sp>
        <p:nvSpPr>
          <p:cNvPr id="2238" name="Google Shape;2238;h547f90b031e64a91_0_1373"/>
          <p:cNvSpPr txBox="1"/>
          <p:nvPr/>
        </p:nvSpPr>
        <p:spPr>
          <a:xfrm>
            <a:off x="813816" y="493776"/>
            <a:ext cx="10607100" cy="2154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B6E4F"/>
                </a:solidFill>
                <a:latin typeface="Consolas"/>
                <a:ea typeface="Consolas"/>
                <a:cs typeface="Consolas"/>
                <a:sym typeface="Consolas"/>
              </a:rPr>
              <a:t>FUTURE WORK</a:t>
            </a:r>
            <a:endParaRPr b="0" i="0" sz="1400" u="none" cap="none" strike="noStrike">
              <a:solidFill>
                <a:srgbClr val="000000"/>
              </a:solidFill>
              <a:latin typeface="Arial"/>
              <a:ea typeface="Arial"/>
              <a:cs typeface="Arial"/>
              <a:sym typeface="Arial"/>
            </a:endParaRPr>
          </a:p>
        </p:txBody>
      </p:sp>
      <p:sp>
        <p:nvSpPr>
          <p:cNvPr id="2239" name="Google Shape;2239;h547f90b031e64a91_0_1373"/>
          <p:cNvSpPr txBox="1"/>
          <p:nvPr/>
        </p:nvSpPr>
        <p:spPr>
          <a:xfrm>
            <a:off x="813816" y="923544"/>
            <a:ext cx="10698600" cy="461700"/>
          </a:xfrm>
          <a:prstGeom prst="rect">
            <a:avLst/>
          </a:prstGeom>
          <a:noFill/>
          <a:ln>
            <a:noFill/>
          </a:ln>
        </p:spPr>
        <p:txBody>
          <a:bodyPr anchorCtr="0" anchor="t" bIns="0" lIns="0" spcFirstLastPara="1" rIns="0" wrap="square" tIns="0">
            <a:spAutoFit/>
          </a:bodyPr>
          <a:lstStyle/>
          <a:p>
            <a:pPr indent="0" lvl="0" marL="0" marR="0" rtl="0" algn="l">
              <a:lnSpc>
                <a:spcPct val="106000"/>
              </a:lnSpc>
              <a:spcBef>
                <a:spcPts val="0"/>
              </a:spcBef>
              <a:spcAft>
                <a:spcPts val="0"/>
              </a:spcAft>
              <a:buClr>
                <a:srgbClr val="000000"/>
              </a:buClr>
              <a:buSzPts val="3000"/>
              <a:buFont typeface="Arial"/>
              <a:buNone/>
            </a:pPr>
            <a:r>
              <a:rPr b="1" i="0" lang="en-US" sz="3000" u="none" cap="none" strike="noStrike">
                <a:solidFill>
                  <a:srgbClr val="1F2328"/>
                </a:solidFill>
                <a:latin typeface="Cambria"/>
                <a:ea typeface="Cambria"/>
                <a:cs typeface="Cambria"/>
                <a:sym typeface="Cambria"/>
              </a:rPr>
              <a:t>Next: let the data speak.</a:t>
            </a:r>
            <a:endParaRPr b="0" i="0" sz="1400" u="none" cap="none" strike="noStrike">
              <a:solidFill>
                <a:srgbClr val="000000"/>
              </a:solidFill>
              <a:latin typeface="Arial"/>
              <a:ea typeface="Arial"/>
              <a:cs typeface="Arial"/>
              <a:sym typeface="Arial"/>
            </a:endParaRPr>
          </a:p>
        </p:txBody>
      </p:sp>
      <p:sp>
        <p:nvSpPr>
          <p:cNvPr id="2240" name="Google Shape;2240;h547f90b031e64a91_0_1373"/>
          <p:cNvSpPr txBox="1"/>
          <p:nvPr/>
        </p:nvSpPr>
        <p:spPr>
          <a:xfrm>
            <a:off x="822960" y="1682496"/>
            <a:ext cx="105156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650" u="none" cap="none" strike="noStrike">
                <a:solidFill>
                  <a:srgbClr val="5B6770"/>
                </a:solidFill>
                <a:latin typeface="Calibri"/>
                <a:ea typeface="Calibri"/>
                <a:cs typeface="Calibri"/>
                <a:sym typeface="Calibri"/>
              </a:rPr>
              <a:t>Today </a:t>
            </a:r>
            <a:r>
              <a:rPr b="1" i="1" lang="en-US" sz="1650" u="none" cap="none" strike="noStrike">
                <a:solidFill>
                  <a:srgbClr val="3A434C"/>
                </a:solidFill>
                <a:latin typeface="Calibri"/>
                <a:ea typeface="Calibri"/>
                <a:cs typeface="Calibri"/>
                <a:sym typeface="Calibri"/>
              </a:rPr>
              <a:t>RIGOR</a:t>
            </a:r>
            <a:r>
              <a:rPr b="0" i="0" lang="en-US" sz="1650" u="none" cap="none" strike="noStrike">
                <a:solidFill>
                  <a:srgbClr val="5B6770"/>
                </a:solidFill>
                <a:latin typeface="Calibri"/>
                <a:ea typeface="Calibri"/>
                <a:cs typeface="Calibri"/>
                <a:sym typeface="Calibri"/>
              </a:rPr>
              <a:t> reads </a:t>
            </a:r>
            <a:r>
              <a:rPr b="1" i="0" lang="en-US" sz="1650" u="none" cap="none" strike="noStrike">
                <a:solidFill>
                  <a:srgbClr val="3A434C"/>
                </a:solidFill>
                <a:latin typeface="Calibri"/>
                <a:ea typeface="Calibri"/>
                <a:cs typeface="Calibri"/>
                <a:sym typeface="Calibri"/>
              </a:rPr>
              <a:t>schemas</a:t>
            </a:r>
            <a:r>
              <a:rPr b="0" i="0" lang="en-US" sz="1650" u="none" cap="none" strike="noStrike">
                <a:solidFill>
                  <a:srgbClr val="5B6770"/>
                </a:solidFill>
                <a:latin typeface="Calibri"/>
                <a:ea typeface="Calibri"/>
                <a:cs typeface="Calibri"/>
                <a:sym typeface="Calibri"/>
              </a:rPr>
              <a:t>. </a:t>
            </a:r>
            <a:r>
              <a:rPr b="1" i="0" lang="en-US" sz="1650" u="none" cap="none" strike="noStrike">
                <a:solidFill>
                  <a:srgbClr val="3A434C"/>
                </a:solidFill>
                <a:latin typeface="Calibri"/>
                <a:ea typeface="Calibri"/>
                <a:cs typeface="Calibri"/>
                <a:sym typeface="Calibri"/>
              </a:rPr>
              <a:t>Instance data</a:t>
            </a:r>
            <a:r>
              <a:rPr b="0" i="0" lang="en-US" sz="1650" u="none" cap="none" strike="noStrike">
                <a:solidFill>
                  <a:srgbClr val="5B6770"/>
                </a:solidFill>
                <a:latin typeface="Calibri"/>
                <a:ea typeface="Calibri"/>
                <a:cs typeface="Calibri"/>
                <a:sym typeface="Calibri"/>
              </a:rPr>
              <a:t> can propose </a:t>
            </a:r>
            <a:r>
              <a:rPr b="1" i="0" lang="en-US" sz="1650" u="none" cap="none" strike="noStrike">
                <a:solidFill>
                  <a:srgbClr val="3A434C"/>
                </a:solidFill>
                <a:latin typeface="Calibri"/>
                <a:ea typeface="Calibri"/>
                <a:cs typeface="Calibri"/>
                <a:sym typeface="Calibri"/>
              </a:rPr>
              <a:t>new knowledge</a:t>
            </a:r>
            <a:r>
              <a:rPr b="0" i="0" lang="en-US" sz="1650" u="none" cap="none" strike="noStrike">
                <a:solidFill>
                  <a:srgbClr val="5B6770"/>
                </a:solidFill>
                <a:latin typeface="Calibri"/>
                <a:ea typeface="Calibri"/>
                <a:cs typeface="Calibri"/>
                <a:sym typeface="Calibri"/>
              </a:rPr>
              <a:t>.</a:t>
            </a:r>
            <a:endParaRPr/>
          </a:p>
        </p:txBody>
      </p:sp>
      <p:sp>
        <p:nvSpPr>
          <p:cNvPr id="2241" name="Google Shape;2241;h547f90b031e64a91_0_1373"/>
          <p:cNvSpPr/>
          <p:nvPr/>
        </p:nvSpPr>
        <p:spPr>
          <a:xfrm>
            <a:off x="804672" y="2304288"/>
            <a:ext cx="32460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2" name="Google Shape;2242;h547f90b031e64a91_0_1373"/>
          <p:cNvSpPr txBox="1"/>
          <p:nvPr/>
        </p:nvSpPr>
        <p:spPr>
          <a:xfrm>
            <a:off x="1033271" y="2468880"/>
            <a:ext cx="27888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1  THE DATA</a:t>
            </a:r>
            <a:endParaRPr/>
          </a:p>
        </p:txBody>
      </p:sp>
      <p:sp>
        <p:nvSpPr>
          <p:cNvPr id="2243" name="Google Shape;2243;h547f90b031e64a91_0_1373"/>
          <p:cNvSpPr txBox="1"/>
          <p:nvPr/>
        </p:nvSpPr>
        <p:spPr>
          <a:xfrm>
            <a:off x="1033271" y="2743200"/>
            <a:ext cx="27888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two tables, joined on admission_id</a:t>
            </a:r>
            <a:endParaRPr/>
          </a:p>
        </p:txBody>
      </p:sp>
      <p:sp>
        <p:nvSpPr>
          <p:cNvPr id="2244" name="Google Shape;2244;h547f90b031e64a91_0_1373"/>
          <p:cNvSpPr/>
          <p:nvPr/>
        </p:nvSpPr>
        <p:spPr>
          <a:xfrm>
            <a:off x="941832" y="3054096"/>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5" name="Google Shape;2245;h547f90b031e64a91_0_1373"/>
          <p:cNvSpPr txBox="1"/>
          <p:nvPr/>
        </p:nvSpPr>
        <p:spPr>
          <a:xfrm>
            <a:off x="1078992" y="3081527"/>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treatment</a:t>
            </a:r>
            <a:endParaRPr/>
          </a:p>
        </p:txBody>
      </p:sp>
      <p:sp>
        <p:nvSpPr>
          <p:cNvPr id="2246" name="Google Shape;2246;h547f90b031e64a91_0_1373"/>
          <p:cNvSpPr/>
          <p:nvPr/>
        </p:nvSpPr>
        <p:spPr>
          <a:xfrm>
            <a:off x="1078992" y="3383279"/>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47" name="Google Shape;2247;h547f90b031e64a91_0_1373"/>
          <p:cNvSpPr txBox="1"/>
          <p:nvPr/>
        </p:nvSpPr>
        <p:spPr>
          <a:xfrm>
            <a:off x="1078992" y="3410712"/>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admission_id</a:t>
            </a:r>
            <a:r>
              <a:rPr b="0" i="0" lang="en-US" sz="1100" u="none" cap="none" strike="noStrike">
                <a:solidFill>
                  <a:srgbClr val="5B6770"/>
                </a:solidFill>
                <a:latin typeface="Calibri"/>
                <a:ea typeface="Calibri"/>
                <a:cs typeface="Calibri"/>
                <a:sym typeface="Calibri"/>
              </a:rPr>
              <a:t> FK</a:t>
            </a:r>
            <a:endParaRPr/>
          </a:p>
        </p:txBody>
      </p:sp>
      <p:sp>
        <p:nvSpPr>
          <p:cNvPr id="2248" name="Google Shape;2248;h547f90b031e64a91_0_1373"/>
          <p:cNvSpPr txBox="1"/>
          <p:nvPr/>
        </p:nvSpPr>
        <p:spPr>
          <a:xfrm>
            <a:off x="2130552" y="3410712"/>
            <a:ext cx="14631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drug</a:t>
            </a:r>
            <a:endParaRPr/>
          </a:p>
        </p:txBody>
      </p:sp>
      <p:sp>
        <p:nvSpPr>
          <p:cNvPr id="2249" name="Google Shape;2249;h547f90b031e64a91_0_1373"/>
          <p:cNvSpPr/>
          <p:nvPr/>
        </p:nvSpPr>
        <p:spPr>
          <a:xfrm>
            <a:off x="1014984" y="363931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0" name="Google Shape;2250;h547f90b031e64a91_0_1373"/>
          <p:cNvSpPr txBox="1"/>
          <p:nvPr/>
        </p:nvSpPr>
        <p:spPr>
          <a:xfrm>
            <a:off x="1078992" y="363931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51" name="Google Shape;2251;h547f90b031e64a91_0_1373"/>
          <p:cNvSpPr txBox="1"/>
          <p:nvPr/>
        </p:nvSpPr>
        <p:spPr>
          <a:xfrm>
            <a:off x="2130552" y="3639312"/>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52" name="Google Shape;2252;h547f90b031e64a91_0_1373"/>
          <p:cNvSpPr txBox="1"/>
          <p:nvPr/>
        </p:nvSpPr>
        <p:spPr>
          <a:xfrm>
            <a:off x="1078992" y="3863339"/>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53" name="Google Shape;2253;h547f90b031e64a91_0_1373"/>
          <p:cNvSpPr txBox="1"/>
          <p:nvPr/>
        </p:nvSpPr>
        <p:spPr>
          <a:xfrm>
            <a:off x="2130552" y="3863339"/>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nivolumab</a:t>
            </a:r>
            <a:endParaRPr/>
          </a:p>
        </p:txBody>
      </p:sp>
      <p:sp>
        <p:nvSpPr>
          <p:cNvPr id="2254" name="Google Shape;2254;h547f90b031e64a91_0_1373"/>
          <p:cNvSpPr/>
          <p:nvPr/>
        </p:nvSpPr>
        <p:spPr>
          <a:xfrm>
            <a:off x="1014984" y="4087368"/>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5" name="Google Shape;2255;h547f90b031e64a91_0_1373"/>
          <p:cNvSpPr txBox="1"/>
          <p:nvPr/>
        </p:nvSpPr>
        <p:spPr>
          <a:xfrm>
            <a:off x="1078992" y="4087368"/>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56" name="Google Shape;2256;h547f90b031e64a91_0_1373"/>
          <p:cNvSpPr txBox="1"/>
          <p:nvPr/>
        </p:nvSpPr>
        <p:spPr>
          <a:xfrm>
            <a:off x="2130552" y="4087368"/>
            <a:ext cx="14631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cisplatin</a:t>
            </a:r>
            <a:endParaRPr/>
          </a:p>
        </p:txBody>
      </p:sp>
      <p:sp>
        <p:nvSpPr>
          <p:cNvPr id="2257" name="Google Shape;2257;h547f90b031e64a91_0_1373"/>
          <p:cNvSpPr/>
          <p:nvPr/>
        </p:nvSpPr>
        <p:spPr>
          <a:xfrm>
            <a:off x="941832" y="4457700"/>
            <a:ext cx="2971800" cy="1312200"/>
          </a:xfrm>
          <a:prstGeom prst="roundRect">
            <a:avLst>
              <a:gd fmla="val 9000" name="adj"/>
            </a:avLst>
          </a:prstGeom>
          <a:solidFill>
            <a:srgbClr val="E9EEEB"/>
          </a:solidFill>
          <a:ln>
            <a:noFill/>
          </a:ln>
          <a:effectLst>
            <a:outerShdw blurRad="76200" rotWithShape="0" algn="t" dir="5400000" dist="25400">
              <a:srgbClr val="000000">
                <a:alpha val="16080"/>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58" name="Google Shape;2258;h547f90b031e64a91_0_1373"/>
          <p:cNvSpPr txBox="1"/>
          <p:nvPr/>
        </p:nvSpPr>
        <p:spPr>
          <a:xfrm>
            <a:off x="1078992" y="4485132"/>
            <a:ext cx="2697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admission</a:t>
            </a:r>
            <a:endParaRPr/>
          </a:p>
        </p:txBody>
      </p:sp>
      <p:sp>
        <p:nvSpPr>
          <p:cNvPr id="2259" name="Google Shape;2259;h547f90b031e64a91_0_1373"/>
          <p:cNvSpPr/>
          <p:nvPr/>
        </p:nvSpPr>
        <p:spPr>
          <a:xfrm>
            <a:off x="1078992" y="4786884"/>
            <a:ext cx="2697600" cy="11100"/>
          </a:xfrm>
          <a:prstGeom prst="rect">
            <a:avLst/>
          </a:prstGeom>
          <a:solidFill>
            <a:srgbClr val="9AA3A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0" name="Google Shape;2260;h547f90b031e64a91_0_1373"/>
          <p:cNvSpPr txBox="1"/>
          <p:nvPr/>
        </p:nvSpPr>
        <p:spPr>
          <a:xfrm>
            <a:off x="1078992" y="4814316"/>
            <a:ext cx="10515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admission_id</a:t>
            </a:r>
            <a:endParaRPr/>
          </a:p>
        </p:txBody>
      </p:sp>
      <p:sp>
        <p:nvSpPr>
          <p:cNvPr id="2261" name="Google Shape;2261;h547f90b031e64a91_0_1373"/>
          <p:cNvSpPr txBox="1"/>
          <p:nvPr/>
        </p:nvSpPr>
        <p:spPr>
          <a:xfrm>
            <a:off x="2130552" y="4814316"/>
            <a:ext cx="8688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patient_id</a:t>
            </a:r>
            <a:endParaRPr/>
          </a:p>
        </p:txBody>
      </p:sp>
      <p:sp>
        <p:nvSpPr>
          <p:cNvPr id="2262" name="Google Shape;2262;h547f90b031e64a91_0_1373"/>
          <p:cNvSpPr txBox="1"/>
          <p:nvPr/>
        </p:nvSpPr>
        <p:spPr>
          <a:xfrm>
            <a:off x="2999232" y="4814316"/>
            <a:ext cx="731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200" u="none" cap="none" strike="noStrike">
                <a:solidFill>
                  <a:srgbClr val="0B6E4F"/>
                </a:solidFill>
                <a:latin typeface="Calibri"/>
                <a:ea typeface="Calibri"/>
                <a:cs typeface="Calibri"/>
                <a:sym typeface="Calibri"/>
              </a:rPr>
              <a:t>BM_DEP</a:t>
            </a:r>
            <a:endParaRPr/>
          </a:p>
        </p:txBody>
      </p:sp>
      <p:sp>
        <p:nvSpPr>
          <p:cNvPr id="2263" name="Google Shape;2263;h547f90b031e64a91_0_1373"/>
          <p:cNvSpPr/>
          <p:nvPr/>
        </p:nvSpPr>
        <p:spPr>
          <a:xfrm>
            <a:off x="1014984" y="5042916"/>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64" name="Google Shape;2264;h547f90b031e64a91_0_1373"/>
          <p:cNvSpPr txBox="1"/>
          <p:nvPr/>
        </p:nvSpPr>
        <p:spPr>
          <a:xfrm>
            <a:off x="1078992" y="5042916"/>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A1</a:t>
            </a:r>
            <a:endParaRPr/>
          </a:p>
        </p:txBody>
      </p:sp>
      <p:sp>
        <p:nvSpPr>
          <p:cNvPr id="2265" name="Google Shape;2265;h547f90b031e64a91_0_1373"/>
          <p:cNvSpPr txBox="1"/>
          <p:nvPr/>
        </p:nvSpPr>
        <p:spPr>
          <a:xfrm>
            <a:off x="2130552" y="5042916"/>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P1</a:t>
            </a:r>
            <a:endParaRPr/>
          </a:p>
        </p:txBody>
      </p:sp>
      <p:sp>
        <p:nvSpPr>
          <p:cNvPr id="2266" name="Google Shape;2266;h547f90b031e64a91_0_1373"/>
          <p:cNvSpPr txBox="1"/>
          <p:nvPr/>
        </p:nvSpPr>
        <p:spPr>
          <a:xfrm>
            <a:off x="2999232" y="5042916"/>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67" name="Google Shape;2267;h547f90b031e64a91_0_1373"/>
          <p:cNvSpPr txBox="1"/>
          <p:nvPr/>
        </p:nvSpPr>
        <p:spPr>
          <a:xfrm>
            <a:off x="1078992" y="5266944"/>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A2</a:t>
            </a:r>
            <a:endParaRPr/>
          </a:p>
        </p:txBody>
      </p:sp>
      <p:sp>
        <p:nvSpPr>
          <p:cNvPr id="2268" name="Google Shape;2268;h547f90b031e64a91_0_1373"/>
          <p:cNvSpPr txBox="1"/>
          <p:nvPr/>
        </p:nvSpPr>
        <p:spPr>
          <a:xfrm>
            <a:off x="2130552" y="5266944"/>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P2</a:t>
            </a:r>
            <a:endParaRPr/>
          </a:p>
        </p:txBody>
      </p:sp>
      <p:sp>
        <p:nvSpPr>
          <p:cNvPr id="2269" name="Google Shape;2269;h547f90b031e64a91_0_1373"/>
          <p:cNvSpPr txBox="1"/>
          <p:nvPr/>
        </p:nvSpPr>
        <p:spPr>
          <a:xfrm>
            <a:off x="2999232" y="5266944"/>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0</a:t>
            </a:r>
            <a:endParaRPr/>
          </a:p>
        </p:txBody>
      </p:sp>
      <p:sp>
        <p:nvSpPr>
          <p:cNvPr id="2270" name="Google Shape;2270;h547f90b031e64a91_0_1373"/>
          <p:cNvSpPr/>
          <p:nvPr/>
        </p:nvSpPr>
        <p:spPr>
          <a:xfrm>
            <a:off x="1014984" y="5490972"/>
            <a:ext cx="2825400" cy="205800"/>
          </a:xfrm>
          <a:prstGeom prst="rect">
            <a:avLst/>
          </a:prstGeom>
          <a:solidFill>
            <a:srgbClr val="D7E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1" name="Google Shape;2271;h547f90b031e64a91_0_1373"/>
          <p:cNvSpPr txBox="1"/>
          <p:nvPr/>
        </p:nvSpPr>
        <p:spPr>
          <a:xfrm>
            <a:off x="1078992" y="5490972"/>
            <a:ext cx="10515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A3</a:t>
            </a:r>
            <a:endParaRPr/>
          </a:p>
        </p:txBody>
      </p:sp>
      <p:sp>
        <p:nvSpPr>
          <p:cNvPr id="2272" name="Google Shape;2272;h547f90b031e64a91_0_1373"/>
          <p:cNvSpPr txBox="1"/>
          <p:nvPr/>
        </p:nvSpPr>
        <p:spPr>
          <a:xfrm>
            <a:off x="2130552" y="5490972"/>
            <a:ext cx="8688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P3</a:t>
            </a:r>
            <a:endParaRPr/>
          </a:p>
        </p:txBody>
      </p:sp>
      <p:sp>
        <p:nvSpPr>
          <p:cNvPr id="2273" name="Google Shape;2273;h547f90b031e64a91_0_1373"/>
          <p:cNvSpPr txBox="1"/>
          <p:nvPr/>
        </p:nvSpPr>
        <p:spPr>
          <a:xfrm>
            <a:off x="2999232" y="5490972"/>
            <a:ext cx="731400" cy="205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250" u="none" cap="none" strike="noStrike">
                <a:solidFill>
                  <a:srgbClr val="1F2328"/>
                </a:solidFill>
                <a:latin typeface="Consolas"/>
                <a:ea typeface="Consolas"/>
                <a:cs typeface="Consolas"/>
                <a:sym typeface="Consolas"/>
              </a:rPr>
              <a:t>1</a:t>
            </a:r>
            <a:endParaRPr/>
          </a:p>
        </p:txBody>
      </p:sp>
      <p:sp>
        <p:nvSpPr>
          <p:cNvPr id="2274" name="Google Shape;2274;h547f90b031e64a91_0_1373"/>
          <p:cNvSpPr/>
          <p:nvPr/>
        </p:nvSpPr>
        <p:spPr>
          <a:xfrm>
            <a:off x="4379976" y="2304288"/>
            <a:ext cx="30174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75" name="Google Shape;2275;h547f90b031e64a91_0_1373"/>
          <p:cNvSpPr txBox="1"/>
          <p:nvPr/>
        </p:nvSpPr>
        <p:spPr>
          <a:xfrm>
            <a:off x="4608576" y="2468880"/>
            <a:ext cx="25602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2  THE PATTERN</a:t>
            </a:r>
            <a:endParaRPr/>
          </a:p>
        </p:txBody>
      </p:sp>
      <p:sp>
        <p:nvSpPr>
          <p:cNvPr id="2276" name="Google Shape;2276;h547f90b031e64a91_0_1373"/>
          <p:cNvSpPr txBox="1"/>
          <p:nvPr/>
        </p:nvSpPr>
        <p:spPr>
          <a:xfrm>
            <a:off x="4608576" y="2743200"/>
            <a:ext cx="2560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00" u="none" cap="none" strike="noStrike">
                <a:solidFill>
                  <a:srgbClr val="5B6770"/>
                </a:solidFill>
                <a:latin typeface="Calibri"/>
                <a:ea typeface="Calibri"/>
                <a:cs typeface="Calibri"/>
                <a:sym typeface="Calibri"/>
              </a:rPr>
              <a:t>what the joined rows show</a:t>
            </a:r>
            <a:endParaRPr/>
          </a:p>
        </p:txBody>
      </p:sp>
      <p:sp>
        <p:nvSpPr>
          <p:cNvPr id="2277" name="Google Shape;2277;h547f90b031e64a91_0_1373"/>
          <p:cNvSpPr txBox="1"/>
          <p:nvPr/>
        </p:nvSpPr>
        <p:spPr>
          <a:xfrm>
            <a:off x="4608576" y="3081528"/>
            <a:ext cx="2560200" cy="731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600" u="none" cap="none" strike="noStrike">
                <a:solidFill>
                  <a:srgbClr val="1F2328"/>
                </a:solidFill>
                <a:latin typeface="Calibri"/>
                <a:ea typeface="Calibri"/>
                <a:cs typeface="Calibri"/>
                <a:sym typeface="Calibri"/>
              </a:rPr>
              <a:t>Every cisplatin admission has bone marrow depression.</a:t>
            </a:r>
            <a:endParaRPr/>
          </a:p>
        </p:txBody>
      </p:sp>
      <p:sp>
        <p:nvSpPr>
          <p:cNvPr id="2278" name="Google Shape;2278;h547f90b031e64a91_0_1373"/>
          <p:cNvSpPr txBox="1"/>
          <p:nvPr/>
        </p:nvSpPr>
        <p:spPr>
          <a:xfrm>
            <a:off x="4608576" y="3995928"/>
            <a:ext cx="1188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onsolas"/>
                <a:ea typeface="Consolas"/>
                <a:cs typeface="Consolas"/>
                <a:sym typeface="Consolas"/>
              </a:rPr>
              <a:t>cisplatin</a:t>
            </a:r>
            <a:endParaRPr/>
          </a:p>
        </p:txBody>
      </p:sp>
      <p:sp>
        <p:nvSpPr>
          <p:cNvPr id="2279" name="Google Shape;2279;h547f90b031e64a91_0_1373"/>
          <p:cNvSpPr/>
          <p:nvPr/>
        </p:nvSpPr>
        <p:spPr>
          <a:xfrm>
            <a:off x="5797296" y="4087368"/>
            <a:ext cx="777300" cy="137100"/>
          </a:xfrm>
          <a:prstGeom prst="rect">
            <a:avLst/>
          </a:prstGeom>
          <a:solidFill>
            <a:srgbClr val="E1E6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0" name="Google Shape;2280;h547f90b031e64a91_0_1373"/>
          <p:cNvSpPr/>
          <p:nvPr/>
        </p:nvSpPr>
        <p:spPr>
          <a:xfrm>
            <a:off x="5797296" y="4087368"/>
            <a:ext cx="777300" cy="137100"/>
          </a:xfrm>
          <a:prstGeom prst="rect">
            <a:avLst/>
          </a:prstGeom>
          <a:solidFill>
            <a:srgbClr val="0B6E4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1" name="Google Shape;2281;h547f90b031e64a91_0_1373"/>
          <p:cNvSpPr txBox="1"/>
          <p:nvPr/>
        </p:nvSpPr>
        <p:spPr>
          <a:xfrm>
            <a:off x="6620256" y="3995928"/>
            <a:ext cx="685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0B6E4F"/>
                </a:solidFill>
                <a:latin typeface="Calibri"/>
                <a:ea typeface="Calibri"/>
                <a:cs typeface="Calibri"/>
                <a:sym typeface="Calibri"/>
              </a:rPr>
              <a:t>2 of 2</a:t>
            </a:r>
            <a:endParaRPr/>
          </a:p>
        </p:txBody>
      </p:sp>
      <p:sp>
        <p:nvSpPr>
          <p:cNvPr id="2282" name="Google Shape;2282;h547f90b031e64a91_0_1373"/>
          <p:cNvSpPr txBox="1"/>
          <p:nvPr/>
        </p:nvSpPr>
        <p:spPr>
          <a:xfrm>
            <a:off x="4608576" y="4398264"/>
            <a:ext cx="11886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en-US" sz="1300" u="none" cap="none" strike="noStrike">
                <a:solidFill>
                  <a:srgbClr val="1F2328"/>
                </a:solidFill>
                <a:latin typeface="Consolas"/>
                <a:ea typeface="Consolas"/>
                <a:cs typeface="Consolas"/>
                <a:sym typeface="Consolas"/>
              </a:rPr>
              <a:t>other drugs</a:t>
            </a:r>
            <a:endParaRPr/>
          </a:p>
        </p:txBody>
      </p:sp>
      <p:sp>
        <p:nvSpPr>
          <p:cNvPr id="2283" name="Google Shape;2283;h547f90b031e64a91_0_1373"/>
          <p:cNvSpPr/>
          <p:nvPr/>
        </p:nvSpPr>
        <p:spPr>
          <a:xfrm>
            <a:off x="5797296" y="4489704"/>
            <a:ext cx="777300" cy="137100"/>
          </a:xfrm>
          <a:prstGeom prst="rect">
            <a:avLst/>
          </a:prstGeom>
          <a:solidFill>
            <a:srgbClr val="E1E6E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4" name="Google Shape;2284;h547f90b031e64a91_0_1373"/>
          <p:cNvSpPr txBox="1"/>
          <p:nvPr/>
        </p:nvSpPr>
        <p:spPr>
          <a:xfrm>
            <a:off x="6620256" y="4398264"/>
            <a:ext cx="6858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3A434C"/>
                </a:solidFill>
                <a:latin typeface="Calibri"/>
                <a:ea typeface="Calibri"/>
                <a:cs typeface="Calibri"/>
                <a:sym typeface="Calibri"/>
              </a:rPr>
              <a:t>0 of 1</a:t>
            </a:r>
            <a:endParaRPr/>
          </a:p>
        </p:txBody>
      </p:sp>
      <p:sp>
        <p:nvSpPr>
          <p:cNvPr id="2285" name="Google Shape;2285;h547f90b031e64a91_0_1373"/>
          <p:cNvSpPr txBox="1"/>
          <p:nvPr/>
        </p:nvSpPr>
        <p:spPr>
          <a:xfrm>
            <a:off x="4608576" y="4800600"/>
            <a:ext cx="2560200" cy="237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100" u="none" cap="none" strike="noStrike">
                <a:solidFill>
                  <a:srgbClr val="5B6770"/>
                </a:solidFill>
                <a:latin typeface="Calibri"/>
                <a:ea typeface="Calibri"/>
                <a:cs typeface="Calibri"/>
                <a:sym typeface="Calibri"/>
              </a:rPr>
              <a:t>admissions with BM_DEP = 1</a:t>
            </a:r>
            <a:endParaRPr/>
          </a:p>
        </p:txBody>
      </p:sp>
      <p:sp>
        <p:nvSpPr>
          <p:cNvPr id="2286" name="Google Shape;2286;h547f90b031e64a91_0_1373"/>
          <p:cNvSpPr/>
          <p:nvPr/>
        </p:nvSpPr>
        <p:spPr>
          <a:xfrm>
            <a:off x="7726679" y="2304288"/>
            <a:ext cx="3657600" cy="3566100"/>
          </a:xfrm>
          <a:prstGeom prst="roundRect">
            <a:avLst>
              <a:gd fmla="val 12000" name="adj"/>
            </a:avLst>
          </a:prstGeom>
          <a:solidFill>
            <a:srgbClr val="FFFFFF"/>
          </a:solidFill>
          <a:ln cap="flat" cmpd="sng" w="9525">
            <a:solidFill>
              <a:srgbClr val="D9DEDB"/>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87" name="Google Shape;2287;h547f90b031e64a91_0_1373"/>
          <p:cNvSpPr txBox="1"/>
          <p:nvPr/>
        </p:nvSpPr>
        <p:spPr>
          <a:xfrm>
            <a:off x="7955279" y="2468880"/>
            <a:ext cx="3200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1300" u="none" cap="none" strike="noStrike">
                <a:solidFill>
                  <a:srgbClr val="2F6B78"/>
                </a:solidFill>
                <a:latin typeface="Consolas"/>
                <a:ea typeface="Consolas"/>
                <a:cs typeface="Consolas"/>
                <a:sym typeface="Consolas"/>
              </a:rPr>
              <a:t>3  CANDIDATE KNOWLEDGE</a:t>
            </a:r>
            <a:endParaRPr/>
          </a:p>
        </p:txBody>
      </p:sp>
      <p:sp>
        <p:nvSpPr>
          <p:cNvPr id="2288" name="Google Shape;2288;h547f90b031e64a91_0_1373"/>
          <p:cNvSpPr txBox="1"/>
          <p:nvPr/>
        </p:nvSpPr>
        <p:spPr>
          <a:xfrm>
            <a:off x="7955279" y="2743200"/>
            <a:ext cx="3200400" cy="25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1" lang="en-US" sz="1250" u="none" cap="none" strike="noStrike">
                <a:solidFill>
                  <a:srgbClr val="5B6770"/>
                </a:solidFill>
                <a:latin typeface="Calibri"/>
                <a:ea typeface="Calibri"/>
                <a:cs typeface="Calibri"/>
                <a:sym typeface="Calibri"/>
              </a:rPr>
              <a:t>A reviewable hypothesis</a:t>
            </a:r>
            <a:endParaRPr/>
          </a:p>
        </p:txBody>
      </p:sp>
      <p:sp>
        <p:nvSpPr>
          <p:cNvPr id="2289" name="Google Shape;2289;h547f90b031e64a91_0_1373"/>
          <p:cNvSpPr/>
          <p:nvPr/>
        </p:nvSpPr>
        <p:spPr>
          <a:xfrm>
            <a:off x="7863840" y="3108960"/>
            <a:ext cx="3383400" cy="1979700"/>
          </a:xfrm>
          <a:prstGeom prst="roundRect">
            <a:avLst>
              <a:gd fmla="val 9000" name="adj"/>
            </a:avLst>
          </a:prstGeom>
          <a:solidFill>
            <a:srgbClr val="F6F8FA"/>
          </a:solidFill>
          <a:ln cap="flat" cmpd="sng" w="9525">
            <a:solidFill>
              <a:srgbClr val="D0D7DE"/>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290" name="Google Shape;2290;h547f90b031e64a91_0_1373"/>
          <p:cNvSpPr txBox="1"/>
          <p:nvPr/>
        </p:nvSpPr>
        <p:spPr>
          <a:xfrm>
            <a:off x="7863840" y="317296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1" i="0" lang="en-US" sz="1100" u="none" cap="none" strike="noStrike">
                <a:solidFill>
                  <a:srgbClr val="0B6E4F"/>
                </a:solidFill>
                <a:latin typeface="Consolas"/>
                <a:ea typeface="Consolas"/>
                <a:cs typeface="Consolas"/>
                <a:sym typeface="Consolas"/>
              </a:rPr>
              <a:t>Individual:</a:t>
            </a:r>
            <a:r>
              <a:rPr b="0" i="0" lang="en-US" sz="1100" u="none" cap="none" strike="noStrike">
                <a:solidFill>
                  <a:srgbClr val="1F2328"/>
                </a:solidFill>
                <a:latin typeface="Consolas"/>
                <a:ea typeface="Consolas"/>
                <a:cs typeface="Consolas"/>
                <a:sym typeface="Consolas"/>
              </a:rPr>
              <a:t> cisplatin_bmdep</a:t>
            </a:r>
            <a:endParaRPr b="0" i="0" sz="1100" u="none" cap="none" strike="noStrike">
              <a:solidFill>
                <a:srgbClr val="000000"/>
              </a:solidFill>
              <a:latin typeface="Arial"/>
              <a:ea typeface="Arial"/>
              <a:cs typeface="Arial"/>
              <a:sym typeface="Arial"/>
            </a:endParaRPr>
          </a:p>
        </p:txBody>
      </p:sp>
      <p:sp>
        <p:nvSpPr>
          <p:cNvPr id="2291" name="Google Shape;2291;h547f90b031e64a91_0_1373"/>
          <p:cNvSpPr txBox="1"/>
          <p:nvPr/>
        </p:nvSpPr>
        <p:spPr>
          <a:xfrm>
            <a:off x="7863840" y="337870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Types:</a:t>
            </a:r>
            <a:r>
              <a:rPr b="0" i="0" lang="en-US" sz="1100" u="none" cap="none" strike="noStrike">
                <a:solidFill>
                  <a:srgbClr val="1F2328"/>
                </a:solidFill>
                <a:latin typeface="Consolas"/>
                <a:ea typeface="Consolas"/>
                <a:cs typeface="Consolas"/>
                <a:sym typeface="Consolas"/>
              </a:rPr>
              <a:t> CandidateAssociation</a:t>
            </a:r>
            <a:endParaRPr b="0" i="0" sz="1100" u="none" cap="none" strike="noStrike">
              <a:solidFill>
                <a:srgbClr val="000000"/>
              </a:solidFill>
              <a:latin typeface="Arial"/>
              <a:ea typeface="Arial"/>
              <a:cs typeface="Arial"/>
              <a:sym typeface="Arial"/>
            </a:endParaRPr>
          </a:p>
        </p:txBody>
      </p:sp>
      <p:sp>
        <p:nvSpPr>
          <p:cNvPr id="2292" name="Google Shape;2292;h547f90b031e64a91_0_1373"/>
          <p:cNvSpPr txBox="1"/>
          <p:nvPr/>
        </p:nvSpPr>
        <p:spPr>
          <a:xfrm>
            <a:off x="7863840" y="358444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Facts:</a:t>
            </a:r>
            <a:endParaRPr b="0" i="0" sz="1100" u="none" cap="none" strike="noStrike">
              <a:solidFill>
                <a:srgbClr val="000000"/>
              </a:solidFill>
              <a:latin typeface="Arial"/>
              <a:ea typeface="Arial"/>
              <a:cs typeface="Arial"/>
              <a:sym typeface="Arial"/>
            </a:endParaRPr>
          </a:p>
        </p:txBody>
      </p:sp>
      <p:sp>
        <p:nvSpPr>
          <p:cNvPr id="2293" name="Google Shape;2293;h547f90b031e64a91_0_1373"/>
          <p:cNvSpPr txBox="1"/>
          <p:nvPr/>
        </p:nvSpPr>
        <p:spPr>
          <a:xfrm>
            <a:off x="7863840" y="3790187"/>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hasDrug Cisplatin,</a:t>
            </a:r>
            <a:endParaRPr b="0" i="0" sz="1100" u="none" cap="none" strike="noStrike">
              <a:solidFill>
                <a:srgbClr val="000000"/>
              </a:solidFill>
              <a:latin typeface="Arial"/>
              <a:ea typeface="Arial"/>
              <a:cs typeface="Arial"/>
              <a:sym typeface="Arial"/>
            </a:endParaRPr>
          </a:p>
        </p:txBody>
      </p:sp>
      <p:sp>
        <p:nvSpPr>
          <p:cNvPr id="2294" name="Google Shape;2294;h547f90b031e64a91_0_1373"/>
          <p:cNvSpPr txBox="1"/>
          <p:nvPr/>
        </p:nvSpPr>
        <p:spPr>
          <a:xfrm>
            <a:off x="7863840" y="399592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hasCondition BoneMarrowDepression,</a:t>
            </a:r>
            <a:endParaRPr b="0" i="0" sz="1100" u="none" cap="none" strike="noStrike">
              <a:solidFill>
                <a:srgbClr val="000000"/>
              </a:solidFill>
              <a:latin typeface="Arial"/>
              <a:ea typeface="Arial"/>
              <a:cs typeface="Arial"/>
              <a:sym typeface="Arial"/>
            </a:endParaRPr>
          </a:p>
        </p:txBody>
      </p:sp>
      <p:sp>
        <p:nvSpPr>
          <p:cNvPr id="2295" name="Google Shape;2295;h547f90b031e64a91_0_1373"/>
          <p:cNvSpPr txBox="1"/>
          <p:nvPr/>
        </p:nvSpPr>
        <p:spPr>
          <a:xfrm>
            <a:off x="7863840" y="420166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status </a:t>
            </a:r>
            <a:r>
              <a:rPr b="0" i="0" lang="en-US" sz="1100" u="none" cap="none" strike="noStrike">
                <a:solidFill>
                  <a:srgbClr val="A3401E"/>
                </a:solidFill>
                <a:latin typeface="Consolas"/>
                <a:ea typeface="Consolas"/>
                <a:cs typeface="Consolas"/>
                <a:sym typeface="Consolas"/>
              </a:rPr>
              <a:t>"needs expert review"</a:t>
            </a:r>
            <a:endParaRPr b="0" i="0" sz="1100" u="none" cap="none" strike="noStrike">
              <a:solidFill>
                <a:srgbClr val="000000"/>
              </a:solidFill>
              <a:latin typeface="Arial"/>
              <a:ea typeface="Arial"/>
              <a:cs typeface="Arial"/>
              <a:sym typeface="Arial"/>
            </a:endParaRPr>
          </a:p>
        </p:txBody>
      </p:sp>
      <p:sp>
        <p:nvSpPr>
          <p:cNvPr id="2296" name="Google Shape;2296;h547f90b031e64a91_0_1373"/>
          <p:cNvSpPr txBox="1"/>
          <p:nvPr/>
        </p:nvSpPr>
        <p:spPr>
          <a:xfrm>
            <a:off x="7863840" y="440740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1" i="0" lang="en-US" sz="1100" u="none" cap="none" strike="noStrike">
                <a:solidFill>
                  <a:srgbClr val="0B6E4F"/>
                </a:solidFill>
                <a:latin typeface="Consolas"/>
                <a:ea typeface="Consolas"/>
                <a:cs typeface="Consolas"/>
                <a:sym typeface="Consolas"/>
              </a:rPr>
              <a:t>Annotations:</a:t>
            </a:r>
            <a:endParaRPr b="0" i="0" sz="1100" u="none" cap="none" strike="noStrike">
              <a:solidFill>
                <a:srgbClr val="000000"/>
              </a:solidFill>
              <a:latin typeface="Arial"/>
              <a:ea typeface="Arial"/>
              <a:cs typeface="Arial"/>
              <a:sym typeface="Arial"/>
            </a:endParaRPr>
          </a:p>
        </p:txBody>
      </p:sp>
      <p:sp>
        <p:nvSpPr>
          <p:cNvPr id="2297" name="Google Shape;2297;h547f90b031e64a91_0_1373"/>
          <p:cNvSpPr txBox="1"/>
          <p:nvPr/>
        </p:nvSpPr>
        <p:spPr>
          <a:xfrm>
            <a:off x="7863840" y="461314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treatment:drug</a:t>
            </a:r>
            <a:r>
              <a:rPr b="0" i="0" lang="en-US" sz="1100" u="none" cap="none" strike="noStrike">
                <a:solidFill>
                  <a:srgbClr val="1F2328"/>
                </a:solidFill>
                <a:latin typeface="Consolas"/>
                <a:ea typeface="Consolas"/>
                <a:cs typeface="Consolas"/>
                <a:sym typeface="Consolas"/>
              </a:rPr>
              <a:t>,</a:t>
            </a:r>
            <a:endParaRPr b="0" i="0" sz="1100" u="none" cap="none" strike="noStrike">
              <a:solidFill>
                <a:srgbClr val="000000"/>
              </a:solidFill>
              <a:latin typeface="Arial"/>
              <a:ea typeface="Arial"/>
              <a:cs typeface="Arial"/>
              <a:sym typeface="Arial"/>
            </a:endParaRPr>
          </a:p>
        </p:txBody>
      </p:sp>
      <p:sp>
        <p:nvSpPr>
          <p:cNvPr id="2298" name="Google Shape;2298;h547f90b031e64a91_0_1373"/>
          <p:cNvSpPr txBox="1"/>
          <p:nvPr/>
        </p:nvSpPr>
        <p:spPr>
          <a:xfrm>
            <a:off x="7863840" y="4818888"/>
            <a:ext cx="3337500" cy="205800"/>
          </a:xfrm>
          <a:prstGeom prst="rect">
            <a:avLst/>
          </a:prstGeom>
          <a:noFill/>
          <a:ln>
            <a:noFill/>
          </a:ln>
        </p:spPr>
        <p:txBody>
          <a:bodyPr anchorCtr="0" anchor="ctr" bIns="0" lIns="146300" spcFirstLastPara="1" rIns="0" wrap="square" tIns="0">
            <a:noAutofit/>
          </a:bodyPr>
          <a:lstStyle/>
          <a:p>
            <a:pPr indent="0" lvl="0" marL="0" marR="0" rtl="0" algn="l">
              <a:lnSpc>
                <a:spcPct val="100000"/>
              </a:lnSpc>
              <a:spcBef>
                <a:spcPts val="0"/>
              </a:spcBef>
              <a:spcAft>
                <a:spcPts val="0"/>
              </a:spcAft>
              <a:buNone/>
            </a:pP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5B6770"/>
                </a:solidFill>
                <a:latin typeface="Consolas"/>
                <a:ea typeface="Consolas"/>
                <a:cs typeface="Consolas"/>
                <a:sym typeface="Consolas"/>
              </a:rPr>
              <a:t>prov:wasDerivedFrom</a:t>
            </a:r>
            <a:r>
              <a:rPr b="0" i="0" lang="en-US" sz="1100" u="none" cap="none" strike="noStrike">
                <a:solidFill>
                  <a:srgbClr val="1F2328"/>
                </a:solidFill>
                <a:latin typeface="Consolas"/>
                <a:ea typeface="Consolas"/>
                <a:cs typeface="Consolas"/>
                <a:sym typeface="Consolas"/>
              </a:rPr>
              <a:t> </a:t>
            </a:r>
            <a:r>
              <a:rPr b="0" i="0" lang="en-US" sz="1100" u="none" cap="none" strike="noStrike">
                <a:solidFill>
                  <a:srgbClr val="2F6B78"/>
                </a:solidFill>
                <a:latin typeface="Consolas"/>
                <a:ea typeface="Consolas"/>
                <a:cs typeface="Consolas"/>
                <a:sym typeface="Consolas"/>
              </a:rPr>
              <a:t>admission:BM_DEP</a:t>
            </a:r>
            <a:endParaRPr b="0" i="0" sz="1100" u="none" cap="none" strike="noStrike">
              <a:solidFill>
                <a:srgbClr val="000000"/>
              </a:solidFill>
              <a:latin typeface="Arial"/>
              <a:ea typeface="Arial"/>
              <a:cs typeface="Arial"/>
              <a:sym typeface="Arial"/>
            </a:endParaRPr>
          </a:p>
        </p:txBody>
      </p:sp>
      <p:sp>
        <p:nvSpPr>
          <p:cNvPr id="2299" name="Google Shape;2299;h547f90b031e64a91_0_1373"/>
          <p:cNvSpPr/>
          <p:nvPr/>
        </p:nvSpPr>
        <p:spPr>
          <a:xfrm>
            <a:off x="7863840" y="5193792"/>
            <a:ext cx="3383400" cy="548700"/>
          </a:xfrm>
          <a:prstGeom prst="roundRect">
            <a:avLst>
              <a:gd fmla="val 12000" name="adj"/>
            </a:avLst>
          </a:prstGeom>
          <a:solidFill>
            <a:srgbClr val="FFF7E8"/>
          </a:solidFill>
          <a:ln>
            <a:noFill/>
          </a:ln>
        </p:spPr>
        <p:txBody>
          <a:bodyPr anchorCtr="0" anchor="ctr" bIns="0" lIns="91425" spcFirstLastPara="1" rIns="91425" wrap="square" tIns="0">
            <a:noAutofit/>
          </a:bodyPr>
          <a:lstStyle/>
          <a:p>
            <a:pPr indent="0" lvl="0" marL="0" marR="0" rtl="0" algn="ctr">
              <a:lnSpc>
                <a:spcPct val="100000"/>
              </a:lnSpc>
              <a:spcBef>
                <a:spcPts val="0"/>
              </a:spcBef>
              <a:spcAft>
                <a:spcPts val="0"/>
              </a:spcAft>
              <a:buNone/>
            </a:pPr>
            <a:r>
              <a:rPr b="1" i="0" lang="en-US" sz="1200" u="none" cap="none" strike="noStrike">
                <a:solidFill>
                  <a:srgbClr val="93600F"/>
                </a:solidFill>
                <a:latin typeface="Consolas"/>
                <a:ea typeface="Consolas"/>
                <a:cs typeface="Consolas"/>
                <a:sym typeface="Consolas"/>
              </a:rPr>
              <a:t>A PATTERN </a:t>
            </a:r>
            <a:r>
              <a:rPr b="1" lang="en-US" sz="1200">
                <a:solidFill>
                  <a:srgbClr val="93600F"/>
                </a:solidFill>
                <a:latin typeface="Consolas"/>
                <a:ea typeface="Consolas"/>
                <a:cs typeface="Consolas"/>
                <a:sym typeface="Consolas"/>
              </a:rPr>
              <a:t>→</a:t>
            </a:r>
            <a:r>
              <a:rPr b="1" i="0" lang="en-US" sz="1200" u="none" cap="none" strike="noStrike">
                <a:solidFill>
                  <a:srgbClr val="93600F"/>
                </a:solidFill>
                <a:latin typeface="Consolas"/>
                <a:ea typeface="Consolas"/>
                <a:cs typeface="Consolas"/>
                <a:sym typeface="Consolas"/>
              </a:rPr>
              <a:t> </a:t>
            </a:r>
            <a:r>
              <a:rPr b="0" i="0" lang="en-US" sz="1250" u="none" cap="none" strike="noStrike">
                <a:solidFill>
                  <a:srgbClr val="3A434C"/>
                </a:solidFill>
                <a:latin typeface="Calibri"/>
                <a:ea typeface="Calibri"/>
                <a:cs typeface="Calibri"/>
                <a:sym typeface="Calibri"/>
              </a:rPr>
              <a:t>an expert reviews it before it joins the ontology</a:t>
            </a:r>
            <a:endParaRPr/>
          </a:p>
        </p:txBody>
      </p:sp>
      <p:sp>
        <p:nvSpPr>
          <p:cNvPr id="2300" name="Google Shape;2300;h547f90b031e64a91_0_1373"/>
          <p:cNvSpPr/>
          <p:nvPr/>
        </p:nvSpPr>
        <p:spPr>
          <a:xfrm>
            <a:off x="4078224" y="3922776"/>
            <a:ext cx="274200" cy="329100"/>
          </a:xfrm>
          <a:prstGeom prst="rightArrow">
            <a:avLst>
              <a:gd fmla="val 50000" name="adj1"/>
              <a:gd fmla="val 50000" name="adj2"/>
            </a:avLst>
          </a:prstGeom>
          <a:solidFill>
            <a:srgbClr val="0B6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h547f90b031e64a91_0_1373"/>
          <p:cNvSpPr/>
          <p:nvPr/>
        </p:nvSpPr>
        <p:spPr>
          <a:xfrm>
            <a:off x="7424927" y="3922776"/>
            <a:ext cx="274200" cy="329100"/>
          </a:xfrm>
          <a:prstGeom prst="rightArrow">
            <a:avLst>
              <a:gd fmla="val 50000" name="adj1"/>
              <a:gd fmla="val 50000" name="adj2"/>
            </a:avLst>
          </a:prstGeom>
          <a:solidFill>
            <a:srgbClr val="0B6E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h547f90b031e64a91_0_1373"/>
          <p:cNvSpPr/>
          <p:nvPr/>
        </p:nvSpPr>
        <p:spPr>
          <a:xfrm>
            <a:off x="1036700" y="3637075"/>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3" name="Google Shape;2303;h547f90b031e64a91_0_1373"/>
          <p:cNvSpPr/>
          <p:nvPr/>
        </p:nvSpPr>
        <p:spPr>
          <a:xfrm>
            <a:off x="1033275" y="4086837"/>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4" name="Google Shape;2304;h547f90b031e64a91_0_1373"/>
          <p:cNvSpPr/>
          <p:nvPr/>
        </p:nvSpPr>
        <p:spPr>
          <a:xfrm>
            <a:off x="1034988" y="5050275"/>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5" name="Google Shape;2305;h547f90b031e64a91_0_1373"/>
          <p:cNvSpPr/>
          <p:nvPr/>
        </p:nvSpPr>
        <p:spPr>
          <a:xfrm>
            <a:off x="1031563" y="5500037"/>
            <a:ext cx="2788800" cy="2058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06" name="Slide number 2306"/>
          <p:cNvSpPr txBox="1"/>
          <p:nvPr/>
        </p:nvSpPr>
        <p:spPr>
          <a:xfrm>
            <a:off x="11430000" y="6473952"/>
            <a:ext cx="411480" cy="237744"/>
          </a:xfrm>
          <a:prstGeom prst="rect">
            <a:avLst/>
          </a:prstGeom>
          <a:noFill/>
        </p:spPr>
        <p:txBody>
          <a:bodyPr wrap="none" lIns="0" tIns="0" rIns="0" bIns="0" anchor="ctr">
            <a:noAutofit/>
          </a:bodyPr>
          <a:lstStyle/>
          <a:p>
            <a:pPr algn="r"/>
            <a:r>
              <a:rPr lang="en-US" sz="1100" b="0" dirty="0">
                <a:solidFill>
                  <a:srgbClr val="6B747B"/>
                </a:solidFill>
                <a:latin typeface="Consolas"/>
                <a:cs typeface="Consolas"/>
              </a:rPr>
              <a:t>20</a:t>
            </a: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0" name="Shape 2310"/>
        <p:cNvGrpSpPr/>
        <p:nvPr/>
      </p:nvGrpSpPr>
      <p:grpSpPr>
        <a:xfrm>
          <a:off x="0" y="0"/>
          <a:ext cx="0" cy="0"/>
          <a:chOff x="0" y="0"/>
          <a:chExt cx="0" cy="0"/>
        </a:xfrm>
      </p:grpSpPr>
      <p:sp>
        <p:nvSpPr>
          <p:cNvPr id="2311" name="Google Shape;2311;p23"/>
          <p:cNvSpPr/>
          <p:nvPr/>
        </p:nvSpPr>
        <p:spPr>
          <a:xfrm>
            <a:off x="841253" y="2432325"/>
            <a:ext cx="42390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2" name="Google Shape;2312;p23"/>
          <p:cNvSpPr txBox="1"/>
          <p:nvPr/>
        </p:nvSpPr>
        <p:spPr>
          <a:xfrm>
            <a:off x="813816" y="466344"/>
            <a:ext cx="10515600" cy="310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B6E4F"/>
                </a:solidFill>
                <a:latin typeface="Consolas"/>
                <a:ea typeface="Consolas"/>
                <a:cs typeface="Consolas"/>
                <a:sym typeface="Consolas"/>
              </a:rPr>
              <a:t>RIGOR  /  ISWC 2026</a:t>
            </a:r>
            <a:endParaRPr/>
          </a:p>
        </p:txBody>
      </p:sp>
      <p:sp>
        <p:nvSpPr>
          <p:cNvPr id="2313" name="Google Shape;2313;p23"/>
          <p:cNvSpPr txBox="1"/>
          <p:nvPr/>
        </p:nvSpPr>
        <p:spPr>
          <a:xfrm>
            <a:off x="813816" y="914400"/>
            <a:ext cx="6766500" cy="759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4600" u="none" cap="none" strike="noStrike">
                <a:solidFill>
                  <a:srgbClr val="1F2328"/>
                </a:solidFill>
                <a:latin typeface="Cambria"/>
                <a:ea typeface="Cambria"/>
                <a:cs typeface="Cambria"/>
                <a:sym typeface="Cambria"/>
              </a:rPr>
              <a:t>Thank you.</a:t>
            </a:r>
            <a:endParaRPr/>
          </a:p>
        </p:txBody>
      </p:sp>
      <p:sp>
        <p:nvSpPr>
          <p:cNvPr id="2314" name="Google Shape;2314;p23"/>
          <p:cNvSpPr txBox="1"/>
          <p:nvPr/>
        </p:nvSpPr>
        <p:spPr>
          <a:xfrm>
            <a:off x="841248" y="1773936"/>
            <a:ext cx="6949500" cy="493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600" u="none" cap="none" strike="noStrike">
                <a:solidFill>
                  <a:srgbClr val="2F6B78"/>
                </a:solidFill>
                <a:latin typeface="Cambria"/>
                <a:ea typeface="Cambria"/>
                <a:cs typeface="Cambria"/>
                <a:sym typeface="Cambria"/>
              </a:rPr>
              <a:t>Questions?</a:t>
            </a:r>
            <a:endParaRPr/>
          </a:p>
        </p:txBody>
      </p:sp>
      <p:sp>
        <p:nvSpPr>
          <p:cNvPr id="2315" name="Google Shape;2315;p23"/>
          <p:cNvSpPr txBox="1"/>
          <p:nvPr/>
        </p:nvSpPr>
        <p:spPr>
          <a:xfrm>
            <a:off x="1054695" y="2684051"/>
            <a:ext cx="6537900" cy="223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50" u="none" cap="none" strike="noStrike">
                <a:solidFill>
                  <a:srgbClr val="2F6B78"/>
                </a:solidFill>
                <a:latin typeface="Consolas"/>
                <a:ea typeface="Consolas"/>
                <a:cs typeface="Consolas"/>
                <a:sym typeface="Consolas"/>
              </a:rPr>
              <a:t>FROM A DATABASE SCHEMA TO AN ONTOLOGY</a:t>
            </a:r>
            <a:endParaRPr/>
          </a:p>
        </p:txBody>
      </p:sp>
      <p:sp>
        <p:nvSpPr>
          <p:cNvPr id="2316" name="Google Shape;2316;p23"/>
          <p:cNvSpPr/>
          <p:nvPr/>
        </p:nvSpPr>
        <p:spPr>
          <a:xfrm>
            <a:off x="5272625" y="2432325"/>
            <a:ext cx="3968100" cy="3621000"/>
          </a:xfrm>
          <a:prstGeom prst="roundRect">
            <a:avLst>
              <a:gd fmla="val 4068" name="adj"/>
            </a:avLst>
          </a:prstGeom>
          <a:solidFill>
            <a:srgbClr val="F3F5F4"/>
          </a:solidFill>
          <a:ln cap="flat" cmpd="sng" w="12700">
            <a:solidFill>
              <a:srgbClr val="D9DEDB"/>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17" name="Google Shape;2317;p23"/>
          <p:cNvSpPr txBox="1"/>
          <p:nvPr/>
        </p:nvSpPr>
        <p:spPr>
          <a:xfrm>
            <a:off x="5478424" y="2718594"/>
            <a:ext cx="2724900" cy="2154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2F6B78"/>
                </a:solidFill>
                <a:latin typeface="Consolas"/>
                <a:ea typeface="Consolas"/>
                <a:cs typeface="Consolas"/>
                <a:sym typeface="Consolas"/>
              </a:rPr>
              <a:t>PAPER + OPEN SOURCE</a:t>
            </a:r>
            <a:endParaRPr/>
          </a:p>
        </p:txBody>
      </p:sp>
      <p:pic>
        <p:nvPicPr>
          <p:cNvPr descr="QR code: https://arxiv.org/abs/2506.01232 (paper)" id="2318" name="Google Shape;2318;p23"/>
          <p:cNvPicPr preferRelativeResize="0"/>
          <p:nvPr/>
        </p:nvPicPr>
        <p:blipFill rotWithShape="1">
          <a:blip r:embed="rId3">
            <a:alphaModFix/>
          </a:blip>
          <a:srcRect b="0" l="0" r="0" t="0"/>
          <a:stretch/>
        </p:blipFill>
        <p:spPr>
          <a:xfrm>
            <a:off x="5533288" y="3187578"/>
            <a:ext cx="1316736" cy="1316736"/>
          </a:xfrm>
          <a:prstGeom prst="rect">
            <a:avLst/>
          </a:prstGeom>
          <a:noFill/>
          <a:ln>
            <a:noFill/>
          </a:ln>
        </p:spPr>
      </p:pic>
      <p:sp>
        <p:nvSpPr>
          <p:cNvPr id="2319" name="Google Shape;2319;p23"/>
          <p:cNvSpPr txBox="1"/>
          <p:nvPr/>
        </p:nvSpPr>
        <p:spPr>
          <a:xfrm>
            <a:off x="5487568"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Paper</a:t>
            </a:r>
            <a:endParaRPr/>
          </a:p>
        </p:txBody>
      </p:sp>
      <p:pic>
        <p:nvPicPr>
          <p:cNvPr descr="QR code: https://github.com/NadeenAhmad/RIGOR (code)" id="2320" name="Google Shape;2320;p23"/>
          <p:cNvPicPr preferRelativeResize="0"/>
          <p:nvPr/>
        </p:nvPicPr>
        <p:blipFill rotWithShape="1">
          <a:blip r:embed="rId4">
            <a:alphaModFix/>
          </a:blip>
          <a:srcRect b="0" l="0" r="0" t="0"/>
          <a:stretch/>
        </p:blipFill>
        <p:spPr>
          <a:xfrm>
            <a:off x="7087768" y="3187578"/>
            <a:ext cx="1316736" cy="1316736"/>
          </a:xfrm>
          <a:prstGeom prst="rect">
            <a:avLst/>
          </a:prstGeom>
          <a:noFill/>
          <a:ln>
            <a:noFill/>
          </a:ln>
        </p:spPr>
      </p:pic>
      <p:sp>
        <p:nvSpPr>
          <p:cNvPr id="2321" name="Google Shape;2321;p23"/>
          <p:cNvSpPr txBox="1"/>
          <p:nvPr/>
        </p:nvSpPr>
        <p:spPr>
          <a:xfrm>
            <a:off x="7042047" y="4577466"/>
            <a:ext cx="1408200" cy="2310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500" u="none" cap="none" strike="noStrike">
                <a:solidFill>
                  <a:srgbClr val="1F2328"/>
                </a:solidFill>
                <a:latin typeface="Calibri"/>
                <a:ea typeface="Calibri"/>
                <a:cs typeface="Calibri"/>
                <a:sym typeface="Calibri"/>
              </a:rPr>
              <a:t>GitHub</a:t>
            </a:r>
            <a:endParaRPr/>
          </a:p>
        </p:txBody>
      </p:sp>
      <p:cxnSp>
        <p:nvCxnSpPr>
          <p:cNvPr id="2322" name="Google Shape;2322;p23"/>
          <p:cNvCxnSpPr/>
          <p:nvPr/>
        </p:nvCxnSpPr>
        <p:spPr>
          <a:xfrm>
            <a:off x="728404" y="6217936"/>
            <a:ext cx="10488300" cy="0"/>
          </a:xfrm>
          <a:prstGeom prst="straightConnector1">
            <a:avLst/>
          </a:prstGeom>
          <a:noFill/>
          <a:ln cap="flat" cmpd="sng" w="12700">
            <a:solidFill>
              <a:srgbClr val="D9DEDB"/>
            </a:solidFill>
            <a:prstDash val="solid"/>
            <a:round/>
            <a:headEnd len="sm" w="sm" type="none"/>
            <a:tailEnd len="sm" w="sm" type="none"/>
          </a:ln>
          <a:effectLst>
            <a:outerShdw blurRad="40000" rotWithShape="0" dir="5400000" dist="20000">
              <a:srgbClr val="000000">
                <a:alpha val="38040"/>
              </a:srgbClr>
            </a:outerShdw>
          </a:effectLst>
        </p:spPr>
      </p:cxnSp>
      <p:sp>
        <p:nvSpPr>
          <p:cNvPr id="2323" name="Google Shape;2323;p23"/>
          <p:cNvSpPr txBox="1"/>
          <p:nvPr/>
        </p:nvSpPr>
        <p:spPr>
          <a:xfrm>
            <a:off x="5478423" y="5120452"/>
            <a:ext cx="8778300" cy="261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lang="en-US" sz="1700">
                <a:solidFill>
                  <a:srgbClr val="1F2328"/>
                </a:solidFill>
                <a:latin typeface="Calibri"/>
                <a:ea typeface="Calibri"/>
                <a:cs typeface="Calibri"/>
                <a:sym typeface="Calibri"/>
              </a:rPr>
              <a:t>📬 </a:t>
            </a:r>
            <a:r>
              <a:rPr b="0" i="0" lang="en-US" sz="1700" u="none" cap="none" strike="noStrike">
                <a:solidFill>
                  <a:srgbClr val="1F2328"/>
                </a:solidFill>
                <a:latin typeface="Calibri"/>
                <a:ea typeface="Calibri"/>
                <a:cs typeface="Calibri"/>
                <a:sym typeface="Calibri"/>
              </a:rPr>
              <a:t>nadeen.fathallah@ki.uni-stuttgart.de</a:t>
            </a:r>
            <a:endParaRPr/>
          </a:p>
        </p:txBody>
      </p:sp>
      <p:sp>
        <p:nvSpPr>
          <p:cNvPr id="2324" name="Google Shape;2324;p23"/>
          <p:cNvSpPr txBox="1"/>
          <p:nvPr/>
        </p:nvSpPr>
        <p:spPr>
          <a:xfrm>
            <a:off x="9314620" y="6327664"/>
            <a:ext cx="1883700" cy="1956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70" u="none" cap="none" strike="noStrike">
                <a:solidFill>
                  <a:srgbClr val="5B6770"/>
                </a:solidFill>
                <a:latin typeface="Calibri"/>
                <a:ea typeface="Calibri"/>
                <a:cs typeface="Calibri"/>
                <a:sym typeface="Calibri"/>
              </a:rPr>
              <a:t>ISWC 2026 · Bari</a:t>
            </a:r>
            <a:endParaRPr/>
          </a:p>
        </p:txBody>
      </p:sp>
      <p:pic>
        <p:nvPicPr>
          <p:cNvPr descr="A relational table whose highlighted row is mapped by RIGOR to a node of an ontology graph" id="2325" name="Google Shape;2325;p23"/>
          <p:cNvPicPr preferRelativeResize="0"/>
          <p:nvPr/>
        </p:nvPicPr>
        <p:blipFill rotWithShape="1">
          <a:blip r:embed="rId5">
            <a:alphaModFix/>
          </a:blip>
          <a:srcRect b="0" l="0" r="0" t="0"/>
          <a:stretch/>
        </p:blipFill>
        <p:spPr>
          <a:xfrm>
            <a:off x="1197051" y="2777505"/>
            <a:ext cx="3428999" cy="3066584"/>
          </a:xfrm>
          <a:prstGeom prst="rect">
            <a:avLst/>
          </a:prstGeom>
          <a:noFill/>
          <a:ln>
            <a:noFill/>
          </a:ln>
        </p:spPr>
      </p:pic>
      <p:sp>
        <p:nvSpPr>
          <p:cNvPr id="2326" name="Google Shape;2326;p23"/>
          <p:cNvSpPr txBox="1"/>
          <p:nvPr/>
        </p:nvSpPr>
        <p:spPr>
          <a:xfrm>
            <a:off x="108522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relational database</a:t>
            </a:r>
            <a:endParaRPr b="0" i="0" sz="1300" u="none" cap="none" strike="noStrike">
              <a:solidFill>
                <a:srgbClr val="1F2328"/>
              </a:solidFill>
              <a:latin typeface="Arial"/>
              <a:ea typeface="Arial"/>
              <a:cs typeface="Arial"/>
              <a:sym typeface="Arial"/>
            </a:endParaRPr>
          </a:p>
        </p:txBody>
      </p:sp>
      <p:sp>
        <p:nvSpPr>
          <p:cNvPr id="2327" name="Google Shape;2327;p23"/>
          <p:cNvSpPr txBox="1"/>
          <p:nvPr/>
        </p:nvSpPr>
        <p:spPr>
          <a:xfrm>
            <a:off x="2971175" y="5671014"/>
            <a:ext cx="1828800" cy="2001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Clr>
                <a:srgbClr val="000000"/>
              </a:buClr>
              <a:buSzPts val="1300"/>
              <a:buFont typeface="Arial"/>
              <a:buNone/>
            </a:pPr>
            <a:r>
              <a:rPr b="1" i="0" lang="en-US" sz="1300" u="none" cap="none" strike="noStrike">
                <a:solidFill>
                  <a:srgbClr val="1F2328"/>
                </a:solidFill>
                <a:latin typeface="Consolas"/>
                <a:ea typeface="Consolas"/>
                <a:cs typeface="Consolas"/>
                <a:sym typeface="Consolas"/>
              </a:rPr>
              <a:t>ontology</a:t>
            </a:r>
            <a:endParaRPr b="0" i="0" sz="1300" u="none" cap="none" strike="noStrike">
              <a:solidFill>
                <a:srgbClr val="1F2328"/>
              </a:solidFill>
              <a:latin typeface="Arial"/>
              <a:ea typeface="Arial"/>
              <a:cs typeface="Arial"/>
              <a:sym typeface="Arial"/>
            </a:endParaRPr>
          </a:p>
        </p:txBody>
      </p:sp>
      <p:sp>
        <p:nvSpPr>
          <p:cNvPr id="2328" name="Google Shape;2328;p23"/>
          <p:cNvSpPr/>
          <p:nvPr/>
        </p:nvSpPr>
        <p:spPr>
          <a:xfrm>
            <a:off x="2784678" y="3602137"/>
            <a:ext cx="768000" cy="274200"/>
          </a:xfrm>
          <a:prstGeom prst="roundRect">
            <a:avLst>
              <a:gd fmla="val 12000" name="adj"/>
            </a:avLst>
          </a:prstGeom>
          <a:solidFill>
            <a:srgbClr val="0B6E4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1150" u="none" cap="none" strike="noStrike">
                <a:solidFill>
                  <a:srgbClr val="FFFFFF"/>
                </a:solidFill>
                <a:latin typeface="Consolas"/>
                <a:ea typeface="Consolas"/>
                <a:cs typeface="Consolas"/>
                <a:sym typeface="Consolas"/>
              </a:rPr>
              <a:t>RIGOR</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  QUESTIONS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Questions we expect</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Click a question to jump to its answer; every answer links back here.</a:t>
            </a:r>
          </a:p>
        </p:txBody>
      </p:sp>
      <p:sp>
        <p:nvSpPr>
          <p:cNvPr id="1765" name="Card 1765"/>
          <p:cNvSpPr/>
          <p:nvPr/>
        </p:nvSpPr>
        <p:spPr>
          <a:xfrm>
            <a:off x="804672" y="2212848"/>
            <a:ext cx="5202936" cy="1874519"/>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4745736"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EVALUATION</a:t>
            </a:r>
          </a:p>
        </p:txBody>
      </p:sp>
      <p:sp>
        <p:nvSpPr>
          <p:cNvPr id="1767" name="Links 1767"/>
          <p:cNvSpPr txBox="1"/>
          <p:nvPr/>
        </p:nvSpPr>
        <p:spPr>
          <a:xfrm>
            <a:off x="1033271" y="2715768"/>
            <a:ext cx="4791456" cy="1280160"/>
          </a:xfrm>
          <a:prstGeom prst="rect">
            <a:avLst/>
          </a:prstGeom>
          <a:noFill/>
          <a:ln>
            <a:noFill/>
          </a:ln>
        </p:spPr>
        <p:txBody>
          <a:bodyPr wrap="square" lIns="0" tIns="0" rIns="0" bIns="0" anchor="t">
            <a:noAutofit/>
          </a:bodyPr>
          <a:lstStyle/>
          <a:p>
            <a:pPr algn="l" marL="0" indent="0">
              <a:spcBef>
                <a:spcPts val="0"/>
              </a:spcBef>
              <a:spcAft>
                <a:spcPts val="400"/>
              </a:spcAft>
              <a:buNone/>
            </a:pPr>
            <a:r>
              <a:rPr lang="en-US" sz="1200" b="1" i="0" dirty="0">
                <a:solidFill>
                  <a:srgbClr val="2F6B78"/>
                </a:solidFill>
                <a:latin typeface="Consolas"/>
                <a:cs typeface="Consolas"/>
                <a:hlinkClick r:id="rId2" action="ppaction://hlinksldjump"/>
              </a:rPr>
              <a:t xml:space="preserve">B1  </a:t>
            </a:r>
            <a:r>
              <a:rPr lang="en-US" sz="1300" b="0" i="0" dirty="0">
                <a:solidFill>
                  <a:srgbClr val="1F2328"/>
                </a:solidFill>
                <a:latin typeface="Calibri"/>
                <a:cs typeface="Calibri"/>
                <a:hlinkClick r:id="rId2" action="ppaction://hlinksldjump"/>
              </a:rPr>
              <a:t xml:space="preserve">Could the LLM judge be biased?</a:t>
            </a:r>
          </a:p>
          <a:p>
            <a:pPr algn="l" marL="0" indent="0">
              <a:spcBef>
                <a:spcPts val="0"/>
              </a:spcBef>
              <a:spcAft>
                <a:spcPts val="400"/>
              </a:spcAft>
              <a:buNone/>
            </a:pPr>
            <a:r>
              <a:rPr lang="en-US" sz="1200" b="1" i="0" dirty="0">
                <a:solidFill>
                  <a:srgbClr val="2F6B78"/>
                </a:solidFill>
                <a:latin typeface="Consolas"/>
                <a:cs typeface="Consolas"/>
                <a:hlinkClick r:id="rId3" action="ppaction://hlinksldjump"/>
              </a:rPr>
              <a:t xml:space="preserve">B2  </a:t>
            </a:r>
            <a:r>
              <a:rPr lang="en-US" sz="1300" b="0" i="0" dirty="0">
                <a:solidFill>
                  <a:srgbClr val="1F2328"/>
                </a:solidFill>
                <a:latin typeface="Calibri"/>
                <a:cs typeface="Calibri"/>
                <a:hlinkClick r:id="rId3" action="ppaction://hlinksldjump"/>
              </a:rPr>
              <a:t xml:space="preserve">How were the CQs used? Why not answer them in SPARQL?</a:t>
            </a:r>
          </a:p>
          <a:p>
            <a:pPr algn="l" marL="0" indent="0">
              <a:spcBef>
                <a:spcPts val="0"/>
              </a:spcBef>
              <a:spcAft>
                <a:spcPts val="400"/>
              </a:spcAft>
              <a:buNone/>
            </a:pPr>
            <a:r>
              <a:rPr lang="en-US" sz="1200" b="1" i="0" dirty="0">
                <a:solidFill>
                  <a:srgbClr val="2F6B78"/>
                </a:solidFill>
                <a:latin typeface="Consolas"/>
                <a:cs typeface="Consolas"/>
                <a:hlinkClick r:id="rId4" action="ppaction://hlinksldjump"/>
              </a:rPr>
              <a:t xml:space="preserve">B3  </a:t>
            </a:r>
            <a:r>
              <a:rPr lang="en-US" sz="1300" b="0" i="0" dirty="0">
                <a:solidFill>
                  <a:srgbClr val="1F2328"/>
                </a:solidFill>
                <a:latin typeface="Calibri"/>
                <a:cs typeface="Calibri"/>
                <a:hlinkClick r:id="rId4" action="ppaction://hlinksldjump"/>
              </a:rPr>
              <a:t xml:space="preserve">Who were the experts, and do they agree?</a:t>
            </a:r>
          </a:p>
          <a:p>
            <a:pPr algn="l" marL="0" indent="0">
              <a:spcBef>
                <a:spcPts val="0"/>
              </a:spcBef>
              <a:spcAft>
                <a:spcPts val="400"/>
              </a:spcAft>
              <a:buNone/>
            </a:pPr>
            <a:r>
              <a:rPr lang="en-US" sz="1200" b="1" i="0" dirty="0">
                <a:solidFill>
                  <a:srgbClr val="2F6B78"/>
                </a:solidFill>
                <a:latin typeface="Consolas"/>
                <a:cs typeface="Consolas"/>
                <a:hlinkClick r:id="rId5" action="ppaction://hlinksldjump"/>
              </a:rPr>
              <a:t xml:space="preserve">B4  </a:t>
            </a:r>
            <a:r>
              <a:rPr lang="en-US" sz="1300" b="0" i="0" dirty="0">
                <a:solidFill>
                  <a:srgbClr val="1F2328"/>
                </a:solidFill>
                <a:latin typeface="Calibri"/>
                <a:cs typeface="Calibri"/>
                <a:hlinkClick r:id="rId5" action="ppaction://hlinksldjump"/>
              </a:rPr>
              <a:t xml:space="preserve">Which model did what?</a:t>
            </a:r>
          </a:p>
        </p:txBody>
      </p:sp>
      <p:sp>
        <p:nvSpPr>
          <p:cNvPr id="1768" name="Card 1768"/>
          <p:cNvSpPr/>
          <p:nvPr/>
        </p:nvSpPr>
        <p:spPr>
          <a:xfrm>
            <a:off x="6181344" y="2212848"/>
            <a:ext cx="5202936" cy="1874519"/>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9" name="Card label 1769"/>
          <p:cNvSpPr txBox="1"/>
          <p:nvPr/>
        </p:nvSpPr>
        <p:spPr>
          <a:xfrm>
            <a:off x="6409944" y="2359152"/>
            <a:ext cx="4745736"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RESULTS</a:t>
            </a:r>
          </a:p>
        </p:txBody>
      </p:sp>
      <p:sp>
        <p:nvSpPr>
          <p:cNvPr id="1770" name="Links 1770"/>
          <p:cNvSpPr txBox="1"/>
          <p:nvPr/>
        </p:nvSpPr>
        <p:spPr>
          <a:xfrm>
            <a:off x="6409944" y="2715768"/>
            <a:ext cx="4791456" cy="1280160"/>
          </a:xfrm>
          <a:prstGeom prst="rect">
            <a:avLst/>
          </a:prstGeom>
          <a:noFill/>
          <a:ln>
            <a:noFill/>
          </a:ln>
        </p:spPr>
        <p:txBody>
          <a:bodyPr wrap="square" lIns="0" tIns="0" rIns="0" bIns="0" anchor="t">
            <a:noAutofit/>
          </a:bodyPr>
          <a:lstStyle/>
          <a:p>
            <a:pPr algn="l" marL="0" indent="0">
              <a:spcBef>
                <a:spcPts val="0"/>
              </a:spcBef>
              <a:spcAft>
                <a:spcPts val="400"/>
              </a:spcAft>
              <a:buNone/>
            </a:pPr>
            <a:r>
              <a:rPr lang="en-US" sz="1200" b="1" i="0" dirty="0">
                <a:solidFill>
                  <a:srgbClr val="2F6B78"/>
                </a:solidFill>
                <a:latin typeface="Consolas"/>
                <a:cs typeface="Consolas"/>
                <a:hlinkClick r:id="rId6" action="ppaction://hlinksldjump"/>
              </a:rPr>
              <a:t xml:space="preserve">B5  </a:t>
            </a:r>
            <a:r>
              <a:rPr lang="en-US" sz="1300" b="0" i="0" dirty="0">
                <a:solidFill>
                  <a:srgbClr val="1F2328"/>
                </a:solidFill>
                <a:latin typeface="Calibri"/>
                <a:cs typeface="Calibri"/>
                <a:hlinkClick r:id="rId6" action="ppaction://hlinksldjump"/>
              </a:rPr>
              <a:t xml:space="preserve">Why is coverage below 100%?</a:t>
            </a:r>
          </a:p>
          <a:p>
            <a:pPr algn="l" marL="0" indent="0">
              <a:spcBef>
                <a:spcPts val="0"/>
              </a:spcBef>
              <a:spcAft>
                <a:spcPts val="400"/>
              </a:spcAft>
              <a:buNone/>
            </a:pPr>
            <a:r>
              <a:rPr lang="en-US" sz="1200" b="1" i="0" dirty="0">
                <a:solidFill>
                  <a:srgbClr val="2F6B78"/>
                </a:solidFill>
                <a:latin typeface="Consolas"/>
                <a:cs typeface="Consolas"/>
                <a:hlinkClick r:id="rId7" action="ppaction://hlinksldjump"/>
              </a:rPr>
              <a:t xml:space="preserve">B6  </a:t>
            </a:r>
            <a:r>
              <a:rPr lang="en-US" sz="1300" b="0" i="0" dirty="0">
                <a:solidFill>
                  <a:srgbClr val="1F2328"/>
                </a:solidFill>
                <a:latin typeface="Calibri"/>
                <a:cs typeface="Calibri"/>
                <a:hlinkClick r:id="rId7" action="ppaction://hlinksldjump"/>
              </a:rPr>
              <a:t xml:space="preserve">Aren't the OOPS! counts just missing labels?</a:t>
            </a:r>
          </a:p>
          <a:p>
            <a:pPr algn="l" marL="0" indent="0">
              <a:spcBef>
                <a:spcPts val="0"/>
              </a:spcBef>
              <a:spcAft>
                <a:spcPts val="400"/>
              </a:spcAft>
              <a:buNone/>
            </a:pPr>
            <a:r>
              <a:rPr lang="en-US" sz="1200" b="1" i="0" dirty="0">
                <a:solidFill>
                  <a:srgbClr val="2F6B78"/>
                </a:solidFill>
                <a:latin typeface="Consolas"/>
                <a:cs typeface="Consolas"/>
                <a:hlinkClick r:id="rId8" action="ppaction://hlinksldjump"/>
              </a:rPr>
              <a:t xml:space="preserve">B7  </a:t>
            </a:r>
            <a:r>
              <a:rPr lang="en-US" sz="1300" b="0" i="0" dirty="0">
                <a:solidFill>
                  <a:srgbClr val="1F2328"/>
                </a:solidFill>
                <a:latin typeface="Calibri"/>
                <a:cs typeface="Calibri"/>
                <a:hlinkClick r:id="rId8" action="ppaction://hlinksldjump"/>
              </a:rPr>
              <a:t xml:space="preserve">Did you run an ablation?</a:t>
            </a:r>
          </a:p>
          <a:p>
            <a:pPr algn="l" marL="0" indent="0">
              <a:spcBef>
                <a:spcPts val="0"/>
              </a:spcBef>
              <a:spcAft>
                <a:spcPts val="400"/>
              </a:spcAft>
              <a:buNone/>
            </a:pPr>
            <a:r>
              <a:rPr lang="en-US" sz="1200" b="1" i="0" dirty="0">
                <a:solidFill>
                  <a:srgbClr val="2F6B78"/>
                </a:solidFill>
                <a:latin typeface="Consolas"/>
                <a:cs typeface="Consolas"/>
                <a:hlinkClick r:id="rId9" action="ppaction://hlinksldjump"/>
              </a:rPr>
              <a:t xml:space="preserve">B8  </a:t>
            </a:r>
            <a:r>
              <a:rPr lang="en-US" sz="1300" b="0" i="0" dirty="0">
                <a:solidFill>
                  <a:srgbClr val="1F2328"/>
                </a:solidFill>
                <a:latin typeface="Calibri"/>
                <a:cs typeface="Calibri"/>
                <a:hlinkClick r:id="rId9" action="ppaction://hlinksldjump"/>
              </a:rPr>
              <a:t xml:space="preserve">Which part of RIGOR matters most?</a:t>
            </a:r>
          </a:p>
        </p:txBody>
      </p:sp>
      <p:sp>
        <p:nvSpPr>
          <p:cNvPr id="1771" name="Card 1771"/>
          <p:cNvSpPr/>
          <p:nvPr/>
        </p:nvSpPr>
        <p:spPr>
          <a:xfrm>
            <a:off x="804672" y="4270248"/>
            <a:ext cx="5202936" cy="1874519"/>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2" name="Card label 1772"/>
          <p:cNvSpPr txBox="1"/>
          <p:nvPr/>
        </p:nvSpPr>
        <p:spPr>
          <a:xfrm>
            <a:off x="1033271" y="4416552"/>
            <a:ext cx="4745736"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METHOD</a:t>
            </a:r>
          </a:p>
        </p:txBody>
      </p:sp>
      <p:sp>
        <p:nvSpPr>
          <p:cNvPr id="1773" name="Links 1773"/>
          <p:cNvSpPr txBox="1"/>
          <p:nvPr/>
        </p:nvSpPr>
        <p:spPr>
          <a:xfrm>
            <a:off x="1033271" y="4773168"/>
            <a:ext cx="4791456" cy="1280160"/>
          </a:xfrm>
          <a:prstGeom prst="rect">
            <a:avLst/>
          </a:prstGeom>
          <a:noFill/>
          <a:ln>
            <a:noFill/>
          </a:ln>
        </p:spPr>
        <p:txBody>
          <a:bodyPr wrap="square" lIns="0" tIns="0" rIns="0" bIns="0" anchor="t">
            <a:noAutofit/>
          </a:bodyPr>
          <a:lstStyle/>
          <a:p>
            <a:pPr algn="l" marL="0" indent="0">
              <a:spcBef>
                <a:spcPts val="0"/>
              </a:spcBef>
              <a:spcAft>
                <a:spcPts val="400"/>
              </a:spcAft>
              <a:buNone/>
            </a:pPr>
            <a:r>
              <a:rPr lang="en-US" sz="1200" b="1" i="0" dirty="0">
                <a:solidFill>
                  <a:srgbClr val="2F6B78"/>
                </a:solidFill>
                <a:latin typeface="Consolas"/>
                <a:cs typeface="Consolas"/>
                <a:hlinkClick r:id="rId10" action="ppaction://hlinksldjump"/>
              </a:rPr>
              <a:t xml:space="preserve">B9  </a:t>
            </a:r>
            <a:r>
              <a:rPr lang="en-US" sz="1300" b="0" i="0" dirty="0">
                <a:solidFill>
                  <a:srgbClr val="1F2328"/>
                </a:solidFill>
                <a:latin typeface="Calibri"/>
                <a:cs typeface="Calibri"/>
                <a:hlinkClick r:id="rId10" action="ppaction://hlinksldjump"/>
              </a:rPr>
              <a:t xml:space="preserve">Why breadth-first foreign-key order?</a:t>
            </a:r>
          </a:p>
          <a:p>
            <a:pPr algn="l" marL="0" indent="0">
              <a:spcBef>
                <a:spcPts val="0"/>
              </a:spcBef>
              <a:spcAft>
                <a:spcPts val="400"/>
              </a:spcAft>
              <a:buNone/>
            </a:pPr>
            <a:r>
              <a:rPr lang="en-US" sz="1200" b="1" i="0" dirty="0">
                <a:solidFill>
                  <a:srgbClr val="2F6B78"/>
                </a:solidFill>
                <a:latin typeface="Consolas"/>
                <a:cs typeface="Consolas"/>
                <a:hlinkClick r:id="rId11" action="ppaction://hlinksldjump"/>
              </a:rPr>
              <a:t xml:space="preserve">B10  </a:t>
            </a:r>
            <a:r>
              <a:rPr lang="en-US" sz="1300" b="0" i="0" dirty="0">
                <a:solidFill>
                  <a:srgbClr val="1F2328"/>
                </a:solidFill>
                <a:latin typeface="Calibri"/>
                <a:cs typeface="Calibri"/>
                <a:hlinkClick r:id="rId11" action="ppaction://hlinksldjump"/>
              </a:rPr>
              <a:t xml:space="preserve">What exactly does validation check?</a:t>
            </a:r>
          </a:p>
          <a:p>
            <a:pPr algn="l" marL="0" indent="0">
              <a:spcBef>
                <a:spcPts val="0"/>
              </a:spcBef>
              <a:spcAft>
                <a:spcPts val="400"/>
              </a:spcAft>
              <a:buNone/>
            </a:pPr>
            <a:r>
              <a:rPr lang="en-US" sz="1200" b="1" i="0" dirty="0">
                <a:solidFill>
                  <a:srgbClr val="2F6B78"/>
                </a:solidFill>
                <a:latin typeface="Consolas"/>
                <a:cs typeface="Consolas"/>
                <a:hlinkClick r:id="rId12" action="ppaction://hlinksldjump"/>
              </a:rPr>
              <a:t xml:space="preserve">B11  </a:t>
            </a:r>
            <a:r>
              <a:rPr lang="en-US" sz="1300" b="0" i="0" dirty="0">
                <a:solidFill>
                  <a:srgbClr val="1F2328"/>
                </a:solidFill>
                <a:latin typeface="Calibri"/>
                <a:cs typeface="Calibri"/>
                <a:hlinkClick r:id="rId12" action="ppaction://hlinksldjump"/>
              </a:rPr>
              <a:t xml:space="preserve">Why these settings?</a:t>
            </a:r>
          </a:p>
        </p:txBody>
      </p:sp>
      <p:sp>
        <p:nvSpPr>
          <p:cNvPr id="1774" name="Card 1774"/>
          <p:cNvSpPr/>
          <p:nvPr/>
        </p:nvSpPr>
        <p:spPr>
          <a:xfrm>
            <a:off x="6181344" y="4270248"/>
            <a:ext cx="5202936" cy="1874519"/>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5" name="Card label 1775"/>
          <p:cNvSpPr txBox="1"/>
          <p:nvPr/>
        </p:nvSpPr>
        <p:spPr>
          <a:xfrm>
            <a:off x="6409944" y="4416552"/>
            <a:ext cx="4745736"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PRACTICE</a:t>
            </a:r>
          </a:p>
        </p:txBody>
      </p:sp>
      <p:sp>
        <p:nvSpPr>
          <p:cNvPr id="1776" name="Links 1776"/>
          <p:cNvSpPr txBox="1"/>
          <p:nvPr/>
        </p:nvSpPr>
        <p:spPr>
          <a:xfrm>
            <a:off x="6409944" y="4773168"/>
            <a:ext cx="4791456" cy="1280160"/>
          </a:xfrm>
          <a:prstGeom prst="rect">
            <a:avLst/>
          </a:prstGeom>
          <a:noFill/>
          <a:ln>
            <a:noFill/>
          </a:ln>
        </p:spPr>
        <p:txBody>
          <a:bodyPr wrap="square" lIns="0" tIns="0" rIns="0" bIns="0" anchor="t">
            <a:noAutofit/>
          </a:bodyPr>
          <a:lstStyle/>
          <a:p>
            <a:pPr algn="l" marL="0" indent="0">
              <a:spcBef>
                <a:spcPts val="0"/>
              </a:spcBef>
              <a:spcAft>
                <a:spcPts val="400"/>
              </a:spcAft>
              <a:buNone/>
            </a:pPr>
            <a:r>
              <a:rPr lang="en-US" sz="1200" b="1" i="0" dirty="0">
                <a:solidFill>
                  <a:srgbClr val="2F6B78"/>
                </a:solidFill>
                <a:latin typeface="Consolas"/>
                <a:cs typeface="Consolas"/>
                <a:hlinkClick r:id="rId13" action="ppaction://hlinksldjump"/>
              </a:rPr>
              <a:t xml:space="preserve">B12  </a:t>
            </a:r>
            <a:r>
              <a:rPr lang="en-US" sz="1300" b="0" i="0" dirty="0">
                <a:solidFill>
                  <a:srgbClr val="1F2328"/>
                </a:solidFill>
                <a:latin typeface="Calibri"/>
                <a:cs typeface="Calibri"/>
                <a:hlinkClick r:id="rId13" action="ppaction://hlinksldjump"/>
              </a:rPr>
              <a:t xml:space="preserve">What does it cost, and does it scale?</a:t>
            </a:r>
          </a:p>
          <a:p>
            <a:pPr algn="l" marL="0" indent="0">
              <a:spcBef>
                <a:spcPts val="0"/>
              </a:spcBef>
              <a:spcAft>
                <a:spcPts val="400"/>
              </a:spcAft>
              <a:buNone/>
            </a:pPr>
            <a:r>
              <a:rPr lang="en-US" sz="1200" b="1" i="0" dirty="0">
                <a:solidFill>
                  <a:srgbClr val="2F6B78"/>
                </a:solidFill>
                <a:latin typeface="Consolas"/>
                <a:cs typeface="Consolas"/>
                <a:hlinkClick r:id="rId14" action="ppaction://hlinksldjump"/>
              </a:rPr>
              <a:t xml:space="preserve">B13  </a:t>
            </a:r>
            <a:r>
              <a:rPr lang="en-US" sz="1300" b="0" i="0" dirty="0">
                <a:solidFill>
                  <a:srgbClr val="1F2328"/>
                </a:solidFill>
                <a:latin typeface="Calibri"/>
                <a:cs typeface="Calibri"/>
                <a:hlinkClick r:id="rId14" action="ppaction://hlinksldjump"/>
              </a:rPr>
              <a:t xml:space="preserve">BURR: setup, and why not compare with Gemini?</a:t>
            </a:r>
          </a:p>
          <a:p>
            <a:pPr algn="l" marL="0" indent="0">
              <a:spcBef>
                <a:spcPts val="0"/>
              </a:spcBef>
              <a:spcAft>
                <a:spcPts val="400"/>
              </a:spcAft>
              <a:buNone/>
            </a:pPr>
            <a:r>
              <a:rPr lang="en-US" sz="1200" b="1" i="0" dirty="0">
                <a:solidFill>
                  <a:srgbClr val="2F6B78"/>
                </a:solidFill>
                <a:latin typeface="Consolas"/>
                <a:cs typeface="Consolas"/>
                <a:hlinkClick r:id="rId15" action="ppaction://hlinksldjump"/>
              </a:rPr>
              <a:t xml:space="preserve">B14  </a:t>
            </a:r>
            <a:r>
              <a:rPr lang="en-US" sz="1300" b="0" i="0" dirty="0">
                <a:solidFill>
                  <a:srgbClr val="1F2328"/>
                </a:solidFill>
                <a:latin typeface="Calibri"/>
                <a:cs typeface="Calibri"/>
                <a:hlinkClick r:id="rId15" action="ppaction://hlinksldjump"/>
              </a:rPr>
              <a:t xml:space="preserve">What are the limitations?</a:t>
            </a:r>
          </a:p>
        </p:txBody>
      </p:sp>
      <p:sp>
        <p:nvSpPr>
          <p:cNvPr id="1777" name="Slide number 1777"/>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B0</a:t>
            </a: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  /  EVALUATION</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Could the LLM judge be biased?</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Possibly, which is why it is never our only evidence: four independent checks point the same way.</a:t>
            </a:r>
          </a:p>
        </p:txBody>
      </p:sp>
      <p:sp>
        <p:nvSpPr>
          <p:cNvPr id="1765" name="Cell 1765"/>
          <p:cNvSpPr txBox="1"/>
          <p:nvPr/>
        </p:nvSpPr>
        <p:spPr>
          <a:xfrm>
            <a:off x="877824" y="2212848"/>
            <a:ext cx="2002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BIAS</a:t>
            </a:r>
          </a:p>
        </p:txBody>
      </p:sp>
      <p:sp>
        <p:nvSpPr>
          <p:cNvPr id="1766" name="Cell 1766"/>
          <p:cNvSpPr txBox="1"/>
          <p:nvPr/>
        </p:nvSpPr>
        <p:spPr>
          <a:xfrm>
            <a:off x="3026664" y="2212848"/>
            <a:ext cx="4288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WHAT WE DID</a:t>
            </a:r>
          </a:p>
        </p:txBody>
      </p:sp>
      <p:sp>
        <p:nvSpPr>
          <p:cNvPr id="1767" name="Cell 1767"/>
          <p:cNvSpPr txBox="1"/>
          <p:nvPr/>
        </p:nvSpPr>
        <p:spPr>
          <a:xfrm>
            <a:off x="7461504" y="2212848"/>
            <a:ext cx="3849624"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WHAT REMAINS</a:t>
            </a:r>
          </a:p>
        </p:txBody>
      </p:sp>
      <p:sp>
        <p:nvSpPr>
          <p:cNvPr id="1768" name="Rule 1768"/>
          <p:cNvSpPr/>
          <p:nvPr/>
        </p:nvSpPr>
        <p:spPr>
          <a:xfrm>
            <a:off x="804672" y="2880360"/>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69" name="Cell 1769"/>
          <p:cNvSpPr txBox="1"/>
          <p:nvPr/>
        </p:nvSpPr>
        <p:spPr>
          <a:xfrm>
            <a:off x="877824" y="2889504"/>
            <a:ext cx="2002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Self-preference</a:t>
            </a:r>
          </a:p>
        </p:txBody>
      </p:sp>
      <p:sp>
        <p:nvSpPr>
          <p:cNvPr id="1770" name="Cell 1770"/>
          <p:cNvSpPr txBox="1"/>
          <p:nvPr/>
        </p:nvSpPr>
        <p:spPr>
          <a:xfrm>
            <a:off x="3026664" y="2889504"/>
            <a:ext cx="4288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Judge is GPT-5.4, a different model family from all three generators</a:t>
            </a:r>
          </a:p>
        </p:txBody>
      </p:sp>
      <p:sp>
        <p:nvSpPr>
          <p:cNvPr id="1771" name="Cell 1771"/>
          <p:cNvSpPr txBox="1"/>
          <p:nvPr/>
        </p:nvSpPr>
        <p:spPr>
          <a:xfrm>
            <a:off x="7461504" y="2889504"/>
            <a:ext cx="3849624"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Inside RIGOR, the Judge-LLM is the generator's own model (graph checks are model-free)</a:t>
            </a:r>
          </a:p>
        </p:txBody>
      </p:sp>
      <p:sp>
        <p:nvSpPr>
          <p:cNvPr id="1772" name="Row 1772"/>
          <p:cNvSpPr/>
          <p:nvPr/>
        </p:nvSpPr>
        <p:spPr>
          <a:xfrm>
            <a:off x="804672" y="3566160"/>
            <a:ext cx="10579608" cy="676656"/>
          </a:xfrm>
          <a:prstGeom prst="rect">
            <a:avLst/>
          </a:prstGeom>
          <a:solidFill>
            <a:srgbClr val="F3F5F4"/>
          </a:solidFill>
          <a:ln>
            <a:noFill/>
          </a:ln>
        </p:spPr>
        <p:txBody>
          <a:bodyPr wrap="square" lIns="0" tIns="0" rIns="0" bIns="0" anchor="t">
            <a:noAutofit/>
          </a:bodyPr>
          <a:lstStyle/>
          <a:p>
            <a:endParaRPr lang="en-US"/>
          </a:p>
        </p:txBody>
      </p:sp>
      <p:sp>
        <p:nvSpPr>
          <p:cNvPr id="1773" name="Cell 1773"/>
          <p:cNvSpPr txBox="1"/>
          <p:nvPr/>
        </p:nvSpPr>
        <p:spPr>
          <a:xfrm>
            <a:off x="877824" y="3566160"/>
            <a:ext cx="2002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Position</a:t>
            </a:r>
          </a:p>
        </p:txBody>
      </p:sp>
      <p:sp>
        <p:nvSpPr>
          <p:cNvPr id="1774" name="Cell 1774"/>
          <p:cNvSpPr txBox="1"/>
          <p:nvPr/>
        </p:nvSpPr>
        <p:spPr>
          <a:xfrm>
            <a:off x="3026664" y="3566160"/>
            <a:ext cx="4288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Fragments anonymized as A–D</a:t>
            </a:r>
          </a:p>
        </p:txBody>
      </p:sp>
      <p:sp>
        <p:nvSpPr>
          <p:cNvPr id="1775" name="Cell 1775"/>
          <p:cNvSpPr txBox="1"/>
          <p:nvPr/>
        </p:nvSpPr>
        <p:spPr>
          <a:xfrm>
            <a:off x="7461504" y="3566160"/>
            <a:ext cx="3849624"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B23A1E"/>
                </a:solidFill>
                <a:latin typeface="Calibri"/>
                <a:cs typeface="Calibri"/>
              </a:rPr>
              <a:t xml:space="preserve">Order was fixed (RIGOR always D), for judge and experts: re-judge with shuffled order</a:t>
            </a:r>
          </a:p>
        </p:txBody>
      </p:sp>
      <p:sp>
        <p:nvSpPr>
          <p:cNvPr id="1776" name="Cell 1776"/>
          <p:cNvSpPr txBox="1"/>
          <p:nvPr/>
        </p:nvSpPr>
        <p:spPr>
          <a:xfrm>
            <a:off x="877824" y="4242816"/>
            <a:ext cx="2002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Verbosity</a:t>
            </a:r>
          </a:p>
        </p:txBody>
      </p:sp>
      <p:sp>
        <p:nvSpPr>
          <p:cNvPr id="1777" name="Cell 1777"/>
          <p:cNvSpPr txBox="1"/>
          <p:nvPr/>
        </p:nvSpPr>
        <p:spPr>
          <a:xfrm>
            <a:off x="3026664" y="4242816"/>
            <a:ext cx="4288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Scored per dimension, not only ranked: the judge marks RIGOR down on conciseness where it is long (Chinook 2.59 vs 3.32)</a:t>
            </a:r>
          </a:p>
        </p:txBody>
      </p:sp>
      <p:sp>
        <p:nvSpPr>
          <p:cNvPr id="1778" name="Cell 1778"/>
          <p:cNvSpPr txBox="1"/>
          <p:nvPr/>
        </p:nvSpPr>
        <p:spPr>
          <a:xfrm>
            <a:off x="7461504" y="4242816"/>
            <a:ext cx="3849624"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Clarity and domain enrichment reward annotations by design</a:t>
            </a:r>
          </a:p>
        </p:txBody>
      </p:sp>
      <p:sp>
        <p:nvSpPr>
          <p:cNvPr id="1779" name="Row 1779"/>
          <p:cNvSpPr/>
          <p:nvPr/>
        </p:nvSpPr>
        <p:spPr>
          <a:xfrm>
            <a:off x="804672" y="4919472"/>
            <a:ext cx="10579608" cy="676656"/>
          </a:xfrm>
          <a:prstGeom prst="rect">
            <a:avLst/>
          </a:prstGeom>
          <a:solidFill>
            <a:srgbClr val="F3F5F4"/>
          </a:solidFill>
          <a:ln>
            <a:noFill/>
          </a:ln>
        </p:spPr>
        <p:txBody>
          <a:bodyPr wrap="square" lIns="0" tIns="0" rIns="0" bIns="0" anchor="t">
            <a:noAutofit/>
          </a:bodyPr>
          <a:lstStyle/>
          <a:p>
            <a:endParaRPr lang="en-US"/>
          </a:p>
        </p:txBody>
      </p:sp>
      <p:sp>
        <p:nvSpPr>
          <p:cNvPr id="1780" name="Cell 1780"/>
          <p:cNvSpPr txBox="1"/>
          <p:nvPr/>
        </p:nvSpPr>
        <p:spPr>
          <a:xfrm>
            <a:off x="877824" y="4919472"/>
            <a:ext cx="2002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Leniency</a:t>
            </a:r>
          </a:p>
        </p:txBody>
      </p:sp>
      <p:sp>
        <p:nvSpPr>
          <p:cNvPr id="1781" name="Cell 1781"/>
          <p:cNvSpPr txBox="1"/>
          <p:nvPr/>
        </p:nvSpPr>
        <p:spPr>
          <a:xfrm>
            <a:off x="3026664" y="4919472"/>
            <a:ext cx="4288536"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Ten human experts, blind, same rubric: RIGOR 1st in 70%, significant agreement</a:t>
            </a:r>
          </a:p>
        </p:txBody>
      </p:sp>
      <p:sp>
        <p:nvSpPr>
          <p:cNvPr id="1782" name="Cell 1782"/>
          <p:cNvSpPr txBox="1"/>
          <p:nvPr/>
        </p:nvSpPr>
        <p:spPr>
          <a:xfrm>
            <a:off x="7461504" y="4919472"/>
            <a:ext cx="3849624" cy="67665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Judge is harsher than experts on the LLM baseline (eICU 0.28 vs 3.01)</a:t>
            </a:r>
          </a:p>
        </p:txBody>
      </p:sp>
      <p:sp>
        <p:nvSpPr>
          <p:cNvPr id="1783" name="Strip 1783"/>
          <p:cNvSpPr/>
          <p:nvPr/>
        </p:nvSpPr>
        <p:spPr>
          <a:xfrm>
            <a:off x="804672" y="5760720"/>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0" i="0" dirty="0">
                <a:solidFill>
                  <a:srgbClr val="3A434C"/>
                </a:solidFill>
                <a:latin typeface="Calibri"/>
                <a:cs typeface="Calibri"/>
              </a:rPr>
              <a:t xml:space="preserve">No LLM involved: </a:t>
            </a:r>
            <a:r>
              <a:rPr lang="en-US" sz="1350" b="1" i="0" dirty="0">
                <a:solidFill>
                  <a:srgbClr val="0B6E4F"/>
                </a:solidFill>
                <a:latin typeface="Calibri"/>
                <a:cs typeface="Calibri"/>
              </a:rPr>
              <a:t xml:space="preserve">OOPS! pitfalls 8 vs 52–499, highest BURR F1 on all three. </a:t>
            </a:r>
            <a:r>
              <a:rPr lang="en-US" sz="1350" b="0" i="0" dirty="0">
                <a:solidFill>
                  <a:srgbClr val="3A434C"/>
                </a:solidFill>
                <a:latin typeface="Calibri"/>
                <a:cs typeface="Calibri"/>
              </a:rPr>
              <a:t xml:space="preserve">Both agree with the judges.</a:t>
            </a:r>
          </a:p>
        </p:txBody>
      </p:sp>
      <p:sp>
        <p:nvSpPr>
          <p:cNvPr id="1784" name="Source 1784"/>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4.4, 4.6, Tables 1, 7, 10–13; fragment order: Fig. 7 and expert_survey/METHOD_KEY.json.</a:t>
            </a:r>
          </a:p>
        </p:txBody>
      </p:sp>
      <p:sp>
        <p:nvSpPr>
          <p:cNvPr id="1785" name="Back link 1785"/>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86" name="Slide number 1786"/>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a:t>
            </a: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B2  /  EVALUATION</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How were the CQs used? Why not answer them in SPARQL?</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As a shared yardstick for blind judging: what each table's ontology must be able to answer.</a:t>
            </a:r>
          </a:p>
        </p:txBody>
      </p:sp>
      <p:sp>
        <p:nvSpPr>
          <p:cNvPr id="1765" name="Card 1765"/>
          <p:cNvSpPr/>
          <p:nvPr/>
        </p:nvSpPr>
        <p:spPr>
          <a:xfrm>
            <a:off x="804672" y="2212848"/>
            <a:ext cx="5166360" cy="338328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HOW WE USED THEM</a:t>
            </a:r>
          </a:p>
        </p:txBody>
      </p:sp>
      <p:sp>
        <p:nvSpPr>
          <p:cNvPr id="1767" name="Bullets 1767"/>
          <p:cNvSpPr txBox="1"/>
          <p:nvPr/>
        </p:nvSpPr>
        <p:spPr>
          <a:xfrm>
            <a:off x="1033271" y="2651760"/>
            <a:ext cx="4754880" cy="1828800"/>
          </a:xfrm>
          <a:prstGeom prst="rect">
            <a:avLst/>
          </a:prstGeom>
          <a:noFill/>
          <a:ln>
            <a:noFill/>
          </a:ln>
        </p:spPr>
        <p:txBody>
          <a:bodyPr wrap="square" lIns="0" tIns="0" rIns="0" bIns="0" anchor="t">
            <a:noAutofit/>
          </a:bodyPr>
          <a:lstStyle/>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5 per table, 290 in total</a:t>
            </a:r>
            <a:r>
              <a:rPr lang="en-US" sz="1250" b="0" i="0" dirty="0">
                <a:solidFill>
                  <a:srgbClr val="3A434C"/>
                </a:solidFill>
                <a:latin typeface="Calibri"/>
                <a:cs typeface="Calibri"/>
              </a:rPr>
              <a:t xml:space="preserve">, generated from the schema (Mistral Small 24B), verified by a domain expert</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Never shown to the generator</a:t>
            </a:r>
            <a:r>
              <a:rPr lang="en-US" sz="1250" b="0" i="0" dirty="0">
                <a:solidFill>
                  <a:srgbClr val="3A434C"/>
                </a:solidFill>
                <a:latin typeface="Calibri"/>
                <a:cs typeface="Calibri"/>
              </a:rPr>
              <a:t xml:space="preserve">, so they stay an independent test</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Given to judge and experts</a:t>
            </a:r>
            <a:r>
              <a:rPr lang="en-US" sz="1250" b="0" i="0" dirty="0">
                <a:solidFill>
                  <a:srgbClr val="3A434C"/>
                </a:solidFill>
                <a:latin typeface="Calibri"/>
                <a:cs typeface="Calibri"/>
              </a:rPr>
              <a:t xml:space="preserve"> with the schema and the four anonymized fragments: can this ontology answer them?</a:t>
            </a:r>
          </a:p>
        </p:txBody>
      </p:sp>
      <p:sp>
        <p:nvSpPr>
          <p:cNvPr id="1768" name="Example 1768"/>
          <p:cNvSpPr/>
          <p:nvPr/>
        </p:nvSpPr>
        <p:spPr>
          <a:xfrm>
            <a:off x="1033271" y="4617720"/>
            <a:ext cx="4709160" cy="822960"/>
          </a:xfrm>
          <a:prstGeom prst="roundRect">
            <a:avLst>
              <a:gd name="adj" fmla="val 8000"/>
            </a:avLst>
          </a:prstGeom>
          <a:solidFill>
            <a:srgbClr val="F3F5F4"/>
          </a:solidFill>
          <a:ln>
            <a:noFill/>
          </a:ln>
        </p:spPr>
        <p:txBody>
          <a:bodyPr wrap="square" lIns="109728" tIns="54864" rIns="109728" bIns="54864" anchor="t">
            <a:noAutofit/>
          </a:bodyPr>
          <a:lstStyle/>
          <a:p>
            <a:pPr algn="l" marL="0" indent="0">
              <a:spcBef>
                <a:spcPts val="0"/>
              </a:spcBef>
              <a:spcAft>
                <a:spcPts val="0"/>
              </a:spcAft>
              <a:buNone/>
            </a:pPr>
            <a:r>
              <a:rPr lang="en-US" sz="1100" b="0" i="1" dirty="0">
                <a:solidFill>
                  <a:srgbClr val="5B6770"/>
                </a:solidFill>
                <a:latin typeface="Calibri"/>
                <a:cs typeface="Calibri"/>
              </a:rPr>
              <a:t xml:space="preserve">Example (liver, general_aftercare)</a:t>
            </a:r>
          </a:p>
          <a:p>
            <a:pPr algn="l" marL="0" indent="0">
              <a:spcBef>
                <a:spcPts val="0"/>
              </a:spcBef>
              <a:spcAft>
                <a:spcPts val="0"/>
              </a:spcAft>
              <a:buNone/>
            </a:pPr>
            <a:r>
              <a:rPr lang="en-US" sz="1250" b="1" i="0" dirty="0">
                <a:solidFill>
                  <a:srgbClr val="1F2328"/>
                </a:solidFill>
                <a:latin typeface="Calibri"/>
                <a:cs typeface="Calibri"/>
              </a:rPr>
              <a:t xml:space="preserve">Which patients developed bile-duct stenosis after surgery, and what treatment was documented?</a:t>
            </a:r>
          </a:p>
        </p:txBody>
      </p:sp>
      <p:sp>
        <p:nvSpPr>
          <p:cNvPr id="1769" name="Card 1769"/>
          <p:cNvSpPr/>
          <p:nvPr/>
        </p:nvSpPr>
        <p:spPr>
          <a:xfrm>
            <a:off x="6217920" y="2212848"/>
            <a:ext cx="5166360" cy="338328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0" name="Card label 1770"/>
          <p:cNvSpPr txBox="1"/>
          <p:nvPr/>
        </p:nvSpPr>
        <p:spPr>
          <a:xfrm>
            <a:off x="6446520"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WHY NOT RUN THEM AS SPARQL (YET)</a:t>
            </a:r>
          </a:p>
        </p:txBody>
      </p:sp>
      <p:sp>
        <p:nvSpPr>
          <p:cNvPr id="1771" name="Bullets 1771"/>
          <p:cNvSpPr txBox="1"/>
          <p:nvPr/>
        </p:nvSpPr>
        <p:spPr>
          <a:xfrm>
            <a:off x="6446520" y="2651760"/>
            <a:ext cx="4754880" cy="2834640"/>
          </a:xfrm>
          <a:prstGeom prst="rect">
            <a:avLst/>
          </a:prstGeom>
          <a:noFill/>
          <a:ln>
            <a:noFill/>
          </a:ln>
        </p:spPr>
        <p:txBody>
          <a:bodyPr wrap="square" lIns="0" tIns="0" rIns="0" bIns="0" anchor="t">
            <a:noAutofit/>
          </a:bodyPr>
          <a:lstStyle/>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No instance data: </a:t>
            </a:r>
            <a:r>
              <a:rPr lang="en-US" sz="1250" b="0" i="0" dirty="0">
                <a:solidFill>
                  <a:srgbClr val="3A434C"/>
                </a:solidFill>
                <a:latin typeface="Calibri"/>
                <a:cs typeface="Calibri"/>
              </a:rPr>
              <a:t xml:space="preserve">the ontologies are schemas (TBox), so data questions return empty for every method</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It would test the wrong thing: </a:t>
            </a:r>
            <a:r>
              <a:rPr lang="en-US" sz="1250" b="0" i="0" dirty="0">
                <a:solidFill>
                  <a:srgbClr val="3A434C"/>
                </a:solidFill>
                <a:latin typeface="Calibri"/>
                <a:cs typeface="Calibri"/>
              </a:rPr>
              <a:t xml:space="preserve">answerability mostly checks that columns are kept (Result 2), not labels, value meanings or hierarchy</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A second error source: </a:t>
            </a:r>
            <a:r>
              <a:rPr lang="en-US" sz="1250" b="0" i="0" dirty="0">
                <a:solidFill>
                  <a:srgbClr val="3A434C"/>
                </a:solidFill>
                <a:latin typeface="Calibri"/>
                <a:cs typeface="Calibri"/>
              </a:rPr>
              <a:t xml:space="preserve">4 × 290 hand- or LLM-written queries</a:t>
            </a:r>
          </a:p>
        </p:txBody>
      </p:sp>
      <p:sp>
        <p:nvSpPr>
          <p:cNvPr id="1772" name="Strip 1772"/>
          <p:cNvSpPr/>
          <p:nvPr/>
        </p:nvSpPr>
        <p:spPr>
          <a:xfrm>
            <a:off x="804672" y="5760720"/>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Next: </a:t>
            </a:r>
            <a:r>
              <a:rPr lang="en-US" sz="1350" b="0" i="0" dirty="0">
                <a:solidFill>
                  <a:srgbClr val="3A434C"/>
                </a:solidFill>
                <a:latin typeface="Calibri"/>
                <a:cs typeface="Calibri"/>
              </a:rPr>
              <a:t xml:space="preserve">populate a KG through RIGOR's provenance mapping (already exported for BURR) and run the CQs as SPARQL.</a:t>
            </a:r>
          </a:p>
        </p:txBody>
      </p:sp>
      <p:sp>
        <p:nvSpPr>
          <p:cNvPr id="1773" name="Source 1773"/>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4.2, 4.6 (Strategies 6–7), App. Table 6; cqs/ in the RIGOR repository.</a:t>
            </a:r>
          </a:p>
        </p:txBody>
      </p:sp>
      <p:sp>
        <p:nvSpPr>
          <p:cNvPr id="1774" name="Back link 1774"/>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75" name="Slide number 1775"/>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B2</a:t>
            </a: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B3  /  EVALUATION</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Who were the experts, and do they agree?</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Ten ontology engineers, blind, on four tables; agreement is significant on every table.</a:t>
            </a:r>
          </a:p>
        </p:txBody>
      </p:sp>
      <p:sp>
        <p:nvSpPr>
          <p:cNvPr id="1765" name="Cell 1765"/>
          <p:cNvSpPr txBox="1"/>
          <p:nvPr/>
        </p:nvSpPr>
        <p:spPr>
          <a:xfrm>
            <a:off x="877824" y="2212848"/>
            <a:ext cx="1956815"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TABLE</a:t>
            </a:r>
          </a:p>
        </p:txBody>
      </p:sp>
      <p:sp>
        <p:nvSpPr>
          <p:cNvPr id="1766" name="Cell 1766"/>
          <p:cNvSpPr txBox="1"/>
          <p:nvPr/>
        </p:nvSpPr>
        <p:spPr>
          <a:xfrm>
            <a:off x="2980944" y="2212848"/>
            <a:ext cx="127101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DATABASE</a:t>
            </a:r>
          </a:p>
        </p:txBody>
      </p:sp>
      <p:sp>
        <p:nvSpPr>
          <p:cNvPr id="1767" name="Cell 1767"/>
          <p:cNvSpPr txBox="1"/>
          <p:nvPr/>
        </p:nvSpPr>
        <p:spPr>
          <a:xfrm>
            <a:off x="4398264" y="2212848"/>
            <a:ext cx="32369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WHY THIS TABLE</a:t>
            </a:r>
          </a:p>
        </p:txBody>
      </p:sp>
      <p:sp>
        <p:nvSpPr>
          <p:cNvPr id="1768" name="Cell 1768"/>
          <p:cNvSpPr txBox="1"/>
          <p:nvPr/>
        </p:nvSpPr>
        <p:spPr>
          <a:xfrm>
            <a:off x="7781544" y="2212848"/>
            <a:ext cx="95097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KENDALL'S W</a:t>
            </a:r>
          </a:p>
        </p:txBody>
      </p:sp>
      <p:sp>
        <p:nvSpPr>
          <p:cNvPr id="1769" name="Cell 1769"/>
          <p:cNvSpPr txBox="1"/>
          <p:nvPr/>
        </p:nvSpPr>
        <p:spPr>
          <a:xfrm>
            <a:off x="8878824" y="2212848"/>
            <a:ext cx="76809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P</a:t>
            </a:r>
          </a:p>
        </p:txBody>
      </p:sp>
      <p:sp>
        <p:nvSpPr>
          <p:cNvPr id="1770" name="Rule 1770"/>
          <p:cNvSpPr/>
          <p:nvPr/>
        </p:nvSpPr>
        <p:spPr>
          <a:xfrm>
            <a:off x="804672" y="2606040"/>
            <a:ext cx="8915400" cy="10972"/>
          </a:xfrm>
          <a:prstGeom prst="rect">
            <a:avLst/>
          </a:prstGeom>
          <a:solidFill>
            <a:srgbClr val="9AA3A9"/>
          </a:solidFill>
          <a:ln>
            <a:noFill/>
          </a:ln>
        </p:spPr>
        <p:txBody>
          <a:bodyPr wrap="square" lIns="0" tIns="0" rIns="0" bIns="0" anchor="t">
            <a:noAutofit/>
          </a:bodyPr>
          <a:lstStyle/>
          <a:p>
            <a:endParaRPr lang="en-US"/>
          </a:p>
        </p:txBody>
      </p:sp>
      <p:sp>
        <p:nvSpPr>
          <p:cNvPr id="1771" name="Cell 1771"/>
          <p:cNvSpPr txBox="1"/>
          <p:nvPr/>
        </p:nvSpPr>
        <p:spPr>
          <a:xfrm>
            <a:off x="877824" y="2615184"/>
            <a:ext cx="1956815"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1" i="0" dirty="0">
                <a:solidFill>
                  <a:srgbClr val="1F2328"/>
                </a:solidFill>
                <a:latin typeface="Calibri"/>
                <a:cs typeface="Calibri"/>
              </a:rPr>
              <a:t xml:space="preserve">general_aftercare</a:t>
            </a:r>
          </a:p>
        </p:txBody>
      </p:sp>
      <p:sp>
        <p:nvSpPr>
          <p:cNvPr id="1772" name="Cell 1772"/>
          <p:cNvSpPr txBox="1"/>
          <p:nvPr/>
        </p:nvSpPr>
        <p:spPr>
          <a:xfrm>
            <a:off x="2980944" y="2615184"/>
            <a:ext cx="127101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Liver</a:t>
            </a:r>
          </a:p>
        </p:txBody>
      </p:sp>
      <p:sp>
        <p:nvSpPr>
          <p:cNvPr id="1773" name="Cell 1773"/>
          <p:cNvSpPr txBox="1"/>
          <p:nvPr/>
        </p:nvSpPr>
        <p:spPr>
          <a:xfrm>
            <a:off x="4398264" y="2615184"/>
            <a:ext cx="32369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clinical follow-up, several foreign keys</a:t>
            </a:r>
          </a:p>
        </p:txBody>
      </p:sp>
      <p:sp>
        <p:nvSpPr>
          <p:cNvPr id="1774" name="Cell 1774"/>
          <p:cNvSpPr txBox="1"/>
          <p:nvPr/>
        </p:nvSpPr>
        <p:spPr>
          <a:xfrm>
            <a:off x="7781544" y="2615184"/>
            <a:ext cx="95097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0.59</a:t>
            </a:r>
          </a:p>
        </p:txBody>
      </p:sp>
      <p:sp>
        <p:nvSpPr>
          <p:cNvPr id="1775" name="Cell 1775"/>
          <p:cNvSpPr txBox="1"/>
          <p:nvPr/>
        </p:nvSpPr>
        <p:spPr>
          <a:xfrm>
            <a:off x="8878824" y="2615184"/>
            <a:ext cx="76809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&lt; 0.001</a:t>
            </a:r>
          </a:p>
        </p:txBody>
      </p:sp>
      <p:sp>
        <p:nvSpPr>
          <p:cNvPr id="1776" name="Row 1776"/>
          <p:cNvSpPr/>
          <p:nvPr/>
        </p:nvSpPr>
        <p:spPr>
          <a:xfrm>
            <a:off x="804672" y="3017520"/>
            <a:ext cx="8915400" cy="402336"/>
          </a:xfrm>
          <a:prstGeom prst="rect">
            <a:avLst/>
          </a:prstGeom>
          <a:solidFill>
            <a:srgbClr val="F3F5F4"/>
          </a:solidFill>
          <a:ln>
            <a:noFill/>
          </a:ln>
        </p:spPr>
        <p:txBody>
          <a:bodyPr wrap="square" lIns="0" tIns="0" rIns="0" bIns="0" anchor="t">
            <a:noAutofit/>
          </a:bodyPr>
          <a:lstStyle/>
          <a:p>
            <a:endParaRPr lang="en-US"/>
          </a:p>
        </p:txBody>
      </p:sp>
      <p:sp>
        <p:nvSpPr>
          <p:cNvPr id="1777" name="Cell 1777"/>
          <p:cNvSpPr txBox="1"/>
          <p:nvPr/>
        </p:nvSpPr>
        <p:spPr>
          <a:xfrm>
            <a:off x="877824" y="3017520"/>
            <a:ext cx="1956815"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1" i="0" dirty="0">
                <a:solidFill>
                  <a:srgbClr val="1F2328"/>
                </a:solidFill>
                <a:latin typeface="Calibri"/>
                <a:cs typeface="Calibri"/>
              </a:rPr>
              <a:t xml:space="preserve">complication</a:t>
            </a:r>
          </a:p>
        </p:txBody>
      </p:sp>
      <p:sp>
        <p:nvSpPr>
          <p:cNvPr id="1778" name="Cell 1778"/>
          <p:cNvSpPr txBox="1"/>
          <p:nvPr/>
        </p:nvSpPr>
        <p:spPr>
          <a:xfrm>
            <a:off x="2980944" y="3017520"/>
            <a:ext cx="127101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Liver</a:t>
            </a:r>
          </a:p>
        </p:txBody>
      </p:sp>
      <p:sp>
        <p:nvSpPr>
          <p:cNvPr id="1779" name="Cell 1779"/>
          <p:cNvSpPr txBox="1"/>
          <p:nvPr/>
        </p:nvSpPr>
        <p:spPr>
          <a:xfrm>
            <a:off x="4398264" y="3017520"/>
            <a:ext cx="32369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encoded severity grades, part-whole</a:t>
            </a:r>
          </a:p>
        </p:txBody>
      </p:sp>
      <p:sp>
        <p:nvSpPr>
          <p:cNvPr id="1780" name="Cell 1780"/>
          <p:cNvSpPr txBox="1"/>
          <p:nvPr/>
        </p:nvSpPr>
        <p:spPr>
          <a:xfrm>
            <a:off x="7781544" y="3017520"/>
            <a:ext cx="95097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0.39</a:t>
            </a:r>
          </a:p>
        </p:txBody>
      </p:sp>
      <p:sp>
        <p:nvSpPr>
          <p:cNvPr id="1781" name="Cell 1781"/>
          <p:cNvSpPr txBox="1"/>
          <p:nvPr/>
        </p:nvSpPr>
        <p:spPr>
          <a:xfrm>
            <a:off x="8878824" y="3017520"/>
            <a:ext cx="76809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&lt; 0.01</a:t>
            </a:r>
          </a:p>
        </p:txBody>
      </p:sp>
      <p:sp>
        <p:nvSpPr>
          <p:cNvPr id="1782" name="Cell 1782"/>
          <p:cNvSpPr txBox="1"/>
          <p:nvPr/>
        </p:nvSpPr>
        <p:spPr>
          <a:xfrm>
            <a:off x="877824" y="3419856"/>
            <a:ext cx="1956815"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1" i="0" dirty="0">
                <a:solidFill>
                  <a:srgbClr val="1F2328"/>
                </a:solidFill>
                <a:latin typeface="Calibri"/>
                <a:cs typeface="Calibri"/>
              </a:rPr>
              <a:t xml:space="preserve">hospital</a:t>
            </a:r>
          </a:p>
        </p:txBody>
      </p:sp>
      <p:sp>
        <p:nvSpPr>
          <p:cNvPr id="1783" name="Cell 1783"/>
          <p:cNvSpPr txBox="1"/>
          <p:nvPr/>
        </p:nvSpPr>
        <p:spPr>
          <a:xfrm>
            <a:off x="2980944" y="3419856"/>
            <a:ext cx="127101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eICU</a:t>
            </a:r>
          </a:p>
        </p:txBody>
      </p:sp>
      <p:sp>
        <p:nvSpPr>
          <p:cNvPr id="1784" name="Cell 1784"/>
          <p:cNvSpPr txBox="1"/>
          <p:nvPr/>
        </p:nvSpPr>
        <p:spPr>
          <a:xfrm>
            <a:off x="4398264" y="3419856"/>
            <a:ext cx="32369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compact administrative entity</a:t>
            </a:r>
          </a:p>
        </p:txBody>
      </p:sp>
      <p:sp>
        <p:nvSpPr>
          <p:cNvPr id="1785" name="Cell 1785"/>
          <p:cNvSpPr txBox="1"/>
          <p:nvPr/>
        </p:nvSpPr>
        <p:spPr>
          <a:xfrm>
            <a:off x="7781544" y="3419856"/>
            <a:ext cx="95097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0.59</a:t>
            </a:r>
          </a:p>
        </p:txBody>
      </p:sp>
      <p:sp>
        <p:nvSpPr>
          <p:cNvPr id="1786" name="Cell 1786"/>
          <p:cNvSpPr txBox="1"/>
          <p:nvPr/>
        </p:nvSpPr>
        <p:spPr>
          <a:xfrm>
            <a:off x="8878824" y="3419856"/>
            <a:ext cx="76809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&lt; 0.001</a:t>
            </a:r>
          </a:p>
        </p:txBody>
      </p:sp>
      <p:sp>
        <p:nvSpPr>
          <p:cNvPr id="1787" name="Row 1787"/>
          <p:cNvSpPr/>
          <p:nvPr/>
        </p:nvSpPr>
        <p:spPr>
          <a:xfrm>
            <a:off x="804672" y="3822191"/>
            <a:ext cx="8915400" cy="402336"/>
          </a:xfrm>
          <a:prstGeom prst="rect">
            <a:avLst/>
          </a:prstGeom>
          <a:solidFill>
            <a:srgbClr val="F3F5F4"/>
          </a:solidFill>
          <a:ln>
            <a:noFill/>
          </a:ln>
        </p:spPr>
        <p:txBody>
          <a:bodyPr wrap="square" lIns="0" tIns="0" rIns="0" bIns="0" anchor="t">
            <a:noAutofit/>
          </a:bodyPr>
          <a:lstStyle/>
          <a:p>
            <a:endParaRPr lang="en-US"/>
          </a:p>
        </p:txBody>
      </p:sp>
      <p:sp>
        <p:nvSpPr>
          <p:cNvPr id="1788" name="Cell 1788"/>
          <p:cNvSpPr txBox="1"/>
          <p:nvPr/>
        </p:nvSpPr>
        <p:spPr>
          <a:xfrm>
            <a:off x="877824" y="3822191"/>
            <a:ext cx="1956815"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1" i="0" dirty="0">
                <a:solidFill>
                  <a:srgbClr val="1F2328"/>
                </a:solidFill>
                <a:latin typeface="Calibri"/>
                <a:cs typeface="Calibri"/>
              </a:rPr>
              <a:t xml:space="preserve">patient</a:t>
            </a:r>
          </a:p>
        </p:txBody>
      </p:sp>
      <p:sp>
        <p:nvSpPr>
          <p:cNvPr id="1789" name="Cell 1789"/>
          <p:cNvSpPr txBox="1"/>
          <p:nvPr/>
        </p:nvSpPr>
        <p:spPr>
          <a:xfrm>
            <a:off x="2980944" y="3822191"/>
            <a:ext cx="127101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eICU</a:t>
            </a:r>
          </a:p>
        </p:txBody>
      </p:sp>
      <p:sp>
        <p:nvSpPr>
          <p:cNvPr id="1790" name="Cell 1790"/>
          <p:cNvSpPr txBox="1"/>
          <p:nvPr/>
        </p:nvSpPr>
        <p:spPr>
          <a:xfrm>
            <a:off x="4398264" y="3822191"/>
            <a:ext cx="32369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50" b="0" i="0" dirty="0">
                <a:solidFill>
                  <a:srgbClr val="1F2328"/>
                </a:solidFill>
                <a:latin typeface="Calibri"/>
                <a:cs typeface="Calibri"/>
              </a:rPr>
              <a:t xml:space="preserve">hub referenced by most tables</a:t>
            </a:r>
          </a:p>
        </p:txBody>
      </p:sp>
      <p:sp>
        <p:nvSpPr>
          <p:cNvPr id="1791" name="Cell 1791"/>
          <p:cNvSpPr txBox="1"/>
          <p:nvPr/>
        </p:nvSpPr>
        <p:spPr>
          <a:xfrm>
            <a:off x="7781544" y="3822191"/>
            <a:ext cx="95097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0.72</a:t>
            </a:r>
          </a:p>
        </p:txBody>
      </p:sp>
      <p:sp>
        <p:nvSpPr>
          <p:cNvPr id="1792" name="Cell 1792"/>
          <p:cNvSpPr txBox="1"/>
          <p:nvPr/>
        </p:nvSpPr>
        <p:spPr>
          <a:xfrm>
            <a:off x="8878824" y="3822191"/>
            <a:ext cx="768096" cy="402336"/>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250" b="0" i="0" dirty="0">
                <a:solidFill>
                  <a:srgbClr val="1F2328"/>
                </a:solidFill>
                <a:latin typeface="Calibri"/>
                <a:cs typeface="Calibri"/>
              </a:rPr>
              <a:t xml:space="preserve">&lt; 0.001</a:t>
            </a:r>
          </a:p>
        </p:txBody>
      </p:sp>
      <p:sp>
        <p:nvSpPr>
          <p:cNvPr id="1793" name="Card 1793"/>
          <p:cNvSpPr/>
          <p:nvPr/>
        </p:nvSpPr>
        <p:spPr>
          <a:xfrm>
            <a:off x="9921240" y="2212848"/>
            <a:ext cx="1463040" cy="2011680"/>
          </a:xfrm>
          <a:prstGeom prst="roundRect">
            <a:avLst>
              <a:gd name="adj" fmla="val 8000"/>
            </a:avLst>
          </a:prstGeom>
          <a:solidFill>
            <a:srgbClr val="E6F2EC"/>
          </a:solidFill>
          <a:ln w="9525">
            <a:solidFill>
              <a:srgbClr val="D9DEDB"/>
            </a:solidFill>
          </a:ln>
        </p:spPr>
        <p:txBody>
          <a:bodyPr wrap="square" lIns="0" tIns="0" rIns="0" bIns="0" anchor="t">
            <a:noAutofit/>
          </a:bodyPr>
          <a:lstStyle/>
          <a:p>
            <a:endParaRPr lang="en-US"/>
          </a:p>
        </p:txBody>
      </p:sp>
      <p:sp>
        <p:nvSpPr>
          <p:cNvPr id="1794" name="Card label 1794"/>
          <p:cNvSpPr txBox="1"/>
          <p:nvPr/>
        </p:nvSpPr>
        <p:spPr>
          <a:xfrm>
            <a:off x="10149840" y="2359152"/>
            <a:ext cx="100584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RIGOR 1ST</a:t>
            </a:r>
          </a:p>
        </p:txBody>
      </p:sp>
      <p:sp>
        <p:nvSpPr>
          <p:cNvPr id="1795" name="Firsts 1795"/>
          <p:cNvSpPr txBox="1"/>
          <p:nvPr/>
        </p:nvSpPr>
        <p:spPr>
          <a:xfrm>
            <a:off x="10012680" y="2651760"/>
            <a:ext cx="1280160" cy="1463040"/>
          </a:xfrm>
          <a:prstGeom prst="rect">
            <a:avLst/>
          </a:prstGeom>
          <a:noFill/>
          <a:ln>
            <a:noFill/>
          </a:ln>
        </p:spPr>
        <p:txBody>
          <a:bodyPr wrap="square" lIns="0" tIns="0" rIns="0" bIns="0" anchor="t">
            <a:noAutofit/>
          </a:bodyPr>
          <a:lstStyle/>
          <a:p>
            <a:pPr algn="ctr" marL="0" indent="0">
              <a:spcBef>
                <a:spcPts val="0"/>
              </a:spcBef>
              <a:spcAft>
                <a:spcPts val="200"/>
              </a:spcAft>
              <a:buNone/>
            </a:pPr>
            <a:r>
              <a:rPr lang="en-US" sz="2000" b="1" i="0" dirty="0">
                <a:solidFill>
                  <a:srgbClr val="0B6E4F"/>
                </a:solidFill>
                <a:latin typeface="Calibri"/>
                <a:cs typeface="Calibri"/>
              </a:rPr>
              <a:t xml:space="preserve">14 / 20</a:t>
            </a:r>
          </a:p>
          <a:p>
            <a:pPr algn="ctr" marL="0" indent="0">
              <a:spcBef>
                <a:spcPts val="0"/>
              </a:spcBef>
              <a:spcAft>
                <a:spcPts val="600"/>
              </a:spcAft>
              <a:buNone/>
            </a:pPr>
            <a:r>
              <a:rPr lang="en-US" sz="1150" b="0" i="0" dirty="0">
                <a:solidFill>
                  <a:srgbClr val="5B6770"/>
                </a:solidFill>
                <a:latin typeface="Calibri"/>
                <a:cs typeface="Calibri"/>
              </a:rPr>
              <a:t xml:space="preserve">liver</a:t>
            </a:r>
          </a:p>
          <a:p>
            <a:pPr algn="ctr" marL="0" indent="0">
              <a:spcBef>
                <a:spcPts val="0"/>
              </a:spcBef>
              <a:spcAft>
                <a:spcPts val="200"/>
              </a:spcAft>
              <a:buNone/>
            </a:pPr>
            <a:r>
              <a:rPr lang="en-US" sz="2000" b="1" i="0" dirty="0">
                <a:solidFill>
                  <a:srgbClr val="0B6E4F"/>
                </a:solidFill>
                <a:latin typeface="Calibri"/>
                <a:cs typeface="Calibri"/>
              </a:rPr>
              <a:t xml:space="preserve">14 / 20</a:t>
            </a:r>
          </a:p>
          <a:p>
            <a:pPr algn="ctr" marL="0" indent="0">
              <a:spcBef>
                <a:spcPts val="0"/>
              </a:spcBef>
              <a:spcAft>
                <a:spcPts val="0"/>
              </a:spcAft>
              <a:buNone/>
            </a:pPr>
            <a:r>
              <a:rPr lang="en-US" sz="1150" b="0" i="0" dirty="0">
                <a:solidFill>
                  <a:srgbClr val="5B6770"/>
                </a:solidFill>
                <a:latin typeface="Calibri"/>
                <a:cs typeface="Calibri"/>
              </a:rPr>
              <a:t xml:space="preserve">eICU</a:t>
            </a:r>
          </a:p>
        </p:txBody>
      </p:sp>
      <p:sp>
        <p:nvSpPr>
          <p:cNvPr id="1796" name="Bullets 1796"/>
          <p:cNvSpPr txBox="1"/>
          <p:nvPr/>
        </p:nvSpPr>
        <p:spPr>
          <a:xfrm>
            <a:off x="896112" y="4434840"/>
            <a:ext cx="10424160" cy="1188720"/>
          </a:xfrm>
          <a:prstGeom prst="rect">
            <a:avLst/>
          </a:prstGeom>
          <a:noFill/>
          <a:ln>
            <a:noFill/>
          </a:ln>
        </p:spPr>
        <p:txBody>
          <a:bodyPr wrap="square" lIns="0" tIns="0" rIns="0" bIns="0" anchor="t">
            <a:noAutofit/>
          </a:bodyPr>
          <a:lstStyle/>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Who: </a:t>
            </a:r>
            <a:r>
              <a:rPr lang="en-US" sz="1250" b="0" i="0" dirty="0">
                <a:solidFill>
                  <a:srgbClr val="3A434C"/>
                </a:solidFill>
                <a:latin typeface="Calibri"/>
                <a:cs typeface="Calibri"/>
              </a:rPr>
              <a:t xml:space="preserve">ten experts in ontology engineering and knowledge representation (profiles in paper Fig. 8)</a:t>
            </a:r>
          </a:p>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Task: </a:t>
            </a:r>
            <a:r>
              <a:rPr lang="en-US" sz="1250" b="0" i="0" dirty="0">
                <a:solidFill>
                  <a:srgbClr val="3A434C"/>
                </a:solidFill>
                <a:latin typeface="Calibri"/>
                <a:cs typeface="Calibri"/>
              </a:rPr>
              <a:t xml:space="preserve">per table, schema + 5 CQs + four anonymized fragments; score 7 dimensions 0–5, rank 1st–4th. Biggest RIGOR gains: clarity and domain enrichment</a:t>
            </a:r>
          </a:p>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Why 4 tables, Claude only: </a:t>
            </a:r>
            <a:r>
              <a:rPr lang="en-US" sz="1250" b="0" i="0" dirty="0">
                <a:solidFill>
                  <a:srgbClr val="3A434C"/>
                </a:solidFill>
                <a:latin typeface="Calibri"/>
                <a:cs typeface="Calibri"/>
              </a:rPr>
              <a:t xml:space="preserve">survey length (4 fragments × 7 scores + a ranking per table); the LLM judge covered all 58 tables</a:t>
            </a:r>
          </a:p>
        </p:txBody>
      </p:sp>
      <p:sp>
        <p:nvSpPr>
          <p:cNvPr id="1797" name="Source 1797"/>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4.6 (Strategy 7), Tables 1, 11, 12, Fig. 8.</a:t>
            </a:r>
          </a:p>
        </p:txBody>
      </p:sp>
      <p:sp>
        <p:nvSpPr>
          <p:cNvPr id="1798" name="Back link 1798"/>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9" name="Slide number 1799"/>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B3</a:t>
            </a: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B4  /  EVALUATION</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Which model did what?</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Generation, documentation, questions and judging are separated; no model grades its own work.</a:t>
            </a:r>
          </a:p>
        </p:txBody>
      </p:sp>
      <p:sp>
        <p:nvSpPr>
          <p:cNvPr id="1765" name="Cell 1765"/>
          <p:cNvSpPr txBox="1"/>
          <p:nvPr/>
        </p:nvSpPr>
        <p:spPr>
          <a:xfrm>
            <a:off x="877824" y="2212848"/>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ROLE</a:t>
            </a:r>
          </a:p>
        </p:txBody>
      </p:sp>
      <p:sp>
        <p:nvSpPr>
          <p:cNvPr id="1766" name="Cell 1766"/>
          <p:cNvSpPr txBox="1"/>
          <p:nvPr/>
        </p:nvSpPr>
        <p:spPr>
          <a:xfrm>
            <a:off x="3758184" y="2212848"/>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MODEL</a:t>
            </a:r>
          </a:p>
        </p:txBody>
      </p:sp>
      <p:sp>
        <p:nvSpPr>
          <p:cNvPr id="1767" name="Cell 1767"/>
          <p:cNvSpPr txBox="1"/>
          <p:nvPr/>
        </p:nvSpPr>
        <p:spPr>
          <a:xfrm>
            <a:off x="8055864" y="2212848"/>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SAFEGUARD</a:t>
            </a:r>
          </a:p>
        </p:txBody>
      </p:sp>
      <p:sp>
        <p:nvSpPr>
          <p:cNvPr id="1768" name="Rule 1768"/>
          <p:cNvSpPr/>
          <p:nvPr/>
        </p:nvSpPr>
        <p:spPr>
          <a:xfrm>
            <a:off x="804672" y="2606040"/>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69" name="Cell 1769"/>
          <p:cNvSpPr txBox="1"/>
          <p:nvPr/>
        </p:nvSpPr>
        <p:spPr>
          <a:xfrm>
            <a:off x="877824" y="2615184"/>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Ontology generation</a:t>
            </a:r>
          </a:p>
        </p:txBody>
      </p:sp>
      <p:sp>
        <p:nvSpPr>
          <p:cNvPr id="1770" name="Cell 1770"/>
          <p:cNvSpPr txBox="1"/>
          <p:nvPr/>
        </p:nvSpPr>
        <p:spPr>
          <a:xfrm>
            <a:off x="3758184" y="2615184"/>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Claude Opus 4.6 · Mistral Small 24B · DeepSeek-V3</a:t>
            </a:r>
          </a:p>
        </p:txBody>
      </p:sp>
      <p:sp>
        <p:nvSpPr>
          <p:cNvPr id="1771" name="Cell 1771"/>
          <p:cNvSpPr txBox="1"/>
          <p:nvPr/>
        </p:nvSpPr>
        <p:spPr>
          <a:xfrm>
            <a:off x="8055864" y="2615184"/>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same models for all three LLM methods</a:t>
            </a:r>
          </a:p>
        </p:txBody>
      </p:sp>
      <p:sp>
        <p:nvSpPr>
          <p:cNvPr id="1772" name="Row 1772"/>
          <p:cNvSpPr/>
          <p:nvPr/>
        </p:nvSpPr>
        <p:spPr>
          <a:xfrm>
            <a:off x="804672" y="3017520"/>
            <a:ext cx="10579608" cy="402336"/>
          </a:xfrm>
          <a:prstGeom prst="rect">
            <a:avLst/>
          </a:prstGeom>
          <a:solidFill>
            <a:srgbClr val="F3F5F4"/>
          </a:solidFill>
          <a:ln>
            <a:noFill/>
          </a:ln>
        </p:spPr>
        <p:txBody>
          <a:bodyPr wrap="square" lIns="0" tIns="0" rIns="0" bIns="0" anchor="t">
            <a:noAutofit/>
          </a:bodyPr>
          <a:lstStyle/>
          <a:p>
            <a:endParaRPr lang="en-US"/>
          </a:p>
        </p:txBody>
      </p:sp>
      <p:sp>
        <p:nvSpPr>
          <p:cNvPr id="1773" name="Cell 1773"/>
          <p:cNvSpPr txBox="1"/>
          <p:nvPr/>
        </p:nvSpPr>
        <p:spPr>
          <a:xfrm>
            <a:off x="877824" y="3017520"/>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Judge-LLM inside RIGOR</a:t>
            </a:r>
          </a:p>
        </p:txBody>
      </p:sp>
      <p:sp>
        <p:nvSpPr>
          <p:cNvPr id="1774" name="Cell 1774"/>
          <p:cNvSpPr txBox="1"/>
          <p:nvPr/>
        </p:nvSpPr>
        <p:spPr>
          <a:xfrm>
            <a:off x="3758184" y="3017520"/>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the generator's own model</a:t>
            </a:r>
          </a:p>
        </p:txBody>
      </p:sp>
      <p:sp>
        <p:nvSpPr>
          <p:cNvPr id="1775" name="Cell 1775"/>
          <p:cNvSpPr txBox="1"/>
          <p:nvPr/>
        </p:nvSpPr>
        <p:spPr>
          <a:xfrm>
            <a:off x="8055864" y="3017520"/>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plus deterministic graph checks</a:t>
            </a:r>
          </a:p>
        </p:txBody>
      </p:sp>
      <p:sp>
        <p:nvSpPr>
          <p:cNvPr id="1776" name="Cell 1776"/>
          <p:cNvSpPr txBox="1"/>
          <p:nvPr/>
        </p:nvSpPr>
        <p:spPr>
          <a:xfrm>
            <a:off x="877824" y="3419856"/>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Documentation</a:t>
            </a:r>
          </a:p>
        </p:txBody>
      </p:sp>
      <p:sp>
        <p:nvSpPr>
          <p:cNvPr id="1777" name="Cell 1777"/>
          <p:cNvSpPr txBox="1"/>
          <p:nvPr/>
        </p:nvSpPr>
        <p:spPr>
          <a:xfrm>
            <a:off x="3758184" y="3419856"/>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GPT-4o</a:t>
            </a:r>
          </a:p>
        </p:txBody>
      </p:sp>
      <p:sp>
        <p:nvSpPr>
          <p:cNvPr id="1778" name="Cell 1778"/>
          <p:cNvSpPr txBox="1"/>
          <p:nvPr/>
        </p:nvSpPr>
        <p:spPr>
          <a:xfrm>
            <a:off x="8055864" y="3419856"/>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reviewed by domain experts</a:t>
            </a:r>
          </a:p>
        </p:txBody>
      </p:sp>
      <p:sp>
        <p:nvSpPr>
          <p:cNvPr id="1779" name="Row 1779"/>
          <p:cNvSpPr/>
          <p:nvPr/>
        </p:nvSpPr>
        <p:spPr>
          <a:xfrm>
            <a:off x="804672" y="3822191"/>
            <a:ext cx="10579608" cy="402336"/>
          </a:xfrm>
          <a:prstGeom prst="rect">
            <a:avLst/>
          </a:prstGeom>
          <a:solidFill>
            <a:srgbClr val="F3F5F4"/>
          </a:solidFill>
          <a:ln>
            <a:noFill/>
          </a:ln>
        </p:spPr>
        <p:txBody>
          <a:bodyPr wrap="square" lIns="0" tIns="0" rIns="0" bIns="0" anchor="t">
            <a:noAutofit/>
          </a:bodyPr>
          <a:lstStyle/>
          <a:p>
            <a:endParaRPr lang="en-US"/>
          </a:p>
        </p:txBody>
      </p:sp>
      <p:sp>
        <p:nvSpPr>
          <p:cNvPr id="1780" name="Cell 1780"/>
          <p:cNvSpPr txBox="1"/>
          <p:nvPr/>
        </p:nvSpPr>
        <p:spPr>
          <a:xfrm>
            <a:off x="877824" y="3822191"/>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Competency questions</a:t>
            </a:r>
          </a:p>
        </p:txBody>
      </p:sp>
      <p:sp>
        <p:nvSpPr>
          <p:cNvPr id="1781" name="Cell 1781"/>
          <p:cNvSpPr txBox="1"/>
          <p:nvPr/>
        </p:nvSpPr>
        <p:spPr>
          <a:xfrm>
            <a:off x="3758184" y="3822191"/>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Mistral Small 24B</a:t>
            </a:r>
          </a:p>
        </p:txBody>
      </p:sp>
      <p:sp>
        <p:nvSpPr>
          <p:cNvPr id="1782" name="Cell 1782"/>
          <p:cNvSpPr txBox="1"/>
          <p:nvPr/>
        </p:nvSpPr>
        <p:spPr>
          <a:xfrm>
            <a:off x="8055864" y="3822191"/>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verified by a domain expert</a:t>
            </a:r>
          </a:p>
        </p:txBody>
      </p:sp>
      <p:sp>
        <p:nvSpPr>
          <p:cNvPr id="1783" name="Cell 1783"/>
          <p:cNvSpPr txBox="1"/>
          <p:nvPr/>
        </p:nvSpPr>
        <p:spPr>
          <a:xfrm>
            <a:off x="877824" y="4224528"/>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Evaluation judge</a:t>
            </a:r>
          </a:p>
        </p:txBody>
      </p:sp>
      <p:sp>
        <p:nvSpPr>
          <p:cNvPr id="1784" name="Cell 1784"/>
          <p:cNvSpPr txBox="1"/>
          <p:nvPr/>
        </p:nvSpPr>
        <p:spPr>
          <a:xfrm>
            <a:off x="3758184" y="4224528"/>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GPT-5.4</a:t>
            </a:r>
          </a:p>
        </p:txBody>
      </p:sp>
      <p:sp>
        <p:nvSpPr>
          <p:cNvPr id="1785" name="Cell 1785"/>
          <p:cNvSpPr txBox="1"/>
          <p:nvPr/>
        </p:nvSpPr>
        <p:spPr>
          <a:xfrm>
            <a:off x="8055864" y="4224528"/>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different family from every generator</a:t>
            </a:r>
          </a:p>
        </p:txBody>
      </p:sp>
      <p:sp>
        <p:nvSpPr>
          <p:cNvPr id="1786" name="Row 1786"/>
          <p:cNvSpPr/>
          <p:nvPr/>
        </p:nvSpPr>
        <p:spPr>
          <a:xfrm>
            <a:off x="804672" y="4626864"/>
            <a:ext cx="10579608" cy="402336"/>
          </a:xfrm>
          <a:prstGeom prst="rect">
            <a:avLst/>
          </a:prstGeom>
          <a:solidFill>
            <a:srgbClr val="F3F5F4"/>
          </a:solidFill>
          <a:ln>
            <a:noFill/>
          </a:ln>
        </p:spPr>
        <p:txBody>
          <a:bodyPr wrap="square" lIns="0" tIns="0" rIns="0" bIns="0" anchor="t">
            <a:noAutofit/>
          </a:bodyPr>
          <a:lstStyle/>
          <a:p>
            <a:endParaRPr lang="en-US"/>
          </a:p>
        </p:txBody>
      </p:sp>
      <p:sp>
        <p:nvSpPr>
          <p:cNvPr id="1787" name="Cell 1787"/>
          <p:cNvSpPr txBox="1"/>
          <p:nvPr/>
        </p:nvSpPr>
        <p:spPr>
          <a:xfrm>
            <a:off x="877824" y="4626864"/>
            <a:ext cx="273405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External ontologies</a:t>
            </a:r>
          </a:p>
        </p:txBody>
      </p:sp>
      <p:sp>
        <p:nvSpPr>
          <p:cNvPr id="1788" name="Cell 1788"/>
          <p:cNvSpPr txBox="1"/>
          <p:nvPr/>
        </p:nvSpPr>
        <p:spPr>
          <a:xfrm>
            <a:off x="3758184" y="4626864"/>
            <a:ext cx="4151376"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ICD-10, Disease, Cell, Nutrition · Music, Performed Music, DOREMUS</a:t>
            </a:r>
          </a:p>
        </p:txBody>
      </p:sp>
      <p:sp>
        <p:nvSpPr>
          <p:cNvPr id="1789" name="Cell 1789"/>
          <p:cNvSpPr txBox="1"/>
          <p:nvPr/>
        </p:nvSpPr>
        <p:spPr>
          <a:xfrm>
            <a:off x="8055864" y="4626864"/>
            <a:ext cx="3255264" cy="402336"/>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chosen by domain experts</a:t>
            </a:r>
          </a:p>
        </p:txBody>
      </p:sp>
      <p:sp>
        <p:nvSpPr>
          <p:cNvPr id="1790" name="Strip 1790"/>
          <p:cNvSpPr/>
          <p:nvPr/>
        </p:nvSpPr>
        <p:spPr>
          <a:xfrm>
            <a:off x="804672" y="5257800"/>
            <a:ext cx="10579608" cy="566928"/>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Data leakage: </a:t>
            </a:r>
            <a:r>
              <a:rPr lang="en-US" sz="1350" b="0" i="0" dirty="0">
                <a:solidFill>
                  <a:srgbClr val="3A434C"/>
                </a:solidFill>
                <a:latin typeface="Calibri"/>
                <a:cs typeface="Calibri"/>
              </a:rPr>
              <a:t xml:space="preserve">the liver-cancer registry is private, so no model has seen it, and the judge still ranked RIGOR first on all 16 of its tables.</a:t>
            </a:r>
          </a:p>
        </p:txBody>
      </p:sp>
      <p:sp>
        <p:nvSpPr>
          <p:cNvPr id="1791" name="Source 1791"/>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4.1, 4.3, 4.4, Tables 1, 4.</a:t>
            </a:r>
          </a:p>
        </p:txBody>
      </p:sp>
      <p:sp>
        <p:nvSpPr>
          <p:cNvPr id="1792" name="Back link 1792"/>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3" name="Slide number 1793"/>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B4</a:t>
            </a: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B5  /  RESULTS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Why is coverage below 100%?</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Two different reasons: a name-based metric for Direct Mapping, real omissions in one RIGOR run.</a:t>
            </a:r>
          </a:p>
        </p:txBody>
      </p:sp>
      <p:sp>
        <p:nvSpPr>
          <p:cNvPr id="1765" name="Card 1765"/>
          <p:cNvSpPr/>
          <p:nvPr/>
        </p:nvSpPr>
        <p:spPr>
          <a:xfrm>
            <a:off x="804672" y="2212848"/>
            <a:ext cx="5166360" cy="324612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DIRECT MAPPING ON CHINOOK: 78%</a:t>
            </a:r>
          </a:p>
        </p:txBody>
      </p:sp>
      <p:sp>
        <p:nvSpPr>
          <p:cNvPr id="1767" name="Bullets 1767"/>
          <p:cNvSpPr txBox="1"/>
          <p:nvPr/>
        </p:nvSpPr>
        <p:spPr>
          <a:xfrm>
            <a:off x="1033271" y="2651760"/>
            <a:ext cx="4754880" cy="2743200"/>
          </a:xfrm>
          <a:prstGeom prst="rect">
            <a:avLst/>
          </a:prstGeom>
          <a:noFill/>
          <a:ln>
            <a:noFill/>
          </a:ln>
        </p:spPr>
        <p:txBody>
          <a:bodyPr wrap="square" lIns="0" tIns="0" rIns="0" bIns="0" anchor="t">
            <a:noAutofit/>
          </a:bodyPr>
          <a:lstStyle/>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43 ordinary columns: </a:t>
            </a:r>
            <a:r>
              <a:rPr lang="en-US" sz="1250" b="0" i="0" dirty="0">
                <a:solidFill>
                  <a:srgbClr val="3A434C"/>
                </a:solidFill>
                <a:latin typeface="Calibri"/>
                <a:cs typeface="Calibri"/>
              </a:rPr>
              <a:t xml:space="preserve">a property with exactly the same name, so all are matched</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21 key columns: </a:t>
            </a:r>
            <a:r>
              <a:rPr lang="en-US" sz="1250" b="0" i="0" dirty="0">
                <a:solidFill>
                  <a:srgbClr val="3A434C"/>
                </a:solidFill>
                <a:latin typeface="Calibri"/>
                <a:cs typeface="Calibri"/>
              </a:rPr>
              <a:t xml:space="preserve">primary keys become HasKey axioms, not properties; foreign keys are renamed (ArtistId → hasArtist, ReportsTo → hasEmployee)</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The metric compares names, </a:t>
            </a:r>
            <a:r>
              <a:rPr lang="en-US" sz="1250" b="0" i="0" dirty="0">
                <a:solidFill>
                  <a:srgbClr val="3A434C"/>
                </a:solidFill>
                <a:latin typeface="Calibri"/>
                <a:cs typeface="Calibri"/>
              </a:rPr>
              <a:t xml:space="preserve">so most key columns fall below 0.55. Nothing was lost.</a:t>
            </a:r>
          </a:p>
        </p:txBody>
      </p:sp>
      <p:sp>
        <p:nvSpPr>
          <p:cNvPr id="1768" name="Card 1768"/>
          <p:cNvSpPr/>
          <p:nvPr/>
        </p:nvSpPr>
        <p:spPr>
          <a:xfrm>
            <a:off x="6217920" y="2212848"/>
            <a:ext cx="5166360" cy="324612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9" name="Card label 1769"/>
          <p:cNvSpPr txBox="1"/>
          <p:nvPr/>
        </p:nvSpPr>
        <p:spPr>
          <a:xfrm>
            <a:off x="6446520"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RIGOR WITH DEEPSEEK ON eICU: 77%</a:t>
            </a:r>
          </a:p>
        </p:txBody>
      </p:sp>
      <p:sp>
        <p:nvSpPr>
          <p:cNvPr id="1770" name="Bullets 1770"/>
          <p:cNvSpPr txBox="1"/>
          <p:nvPr/>
        </p:nvSpPr>
        <p:spPr>
          <a:xfrm>
            <a:off x="6446520" y="2651760"/>
            <a:ext cx="4754880" cy="2743200"/>
          </a:xfrm>
          <a:prstGeom prst="rect">
            <a:avLst/>
          </a:prstGeom>
          <a:noFill/>
          <a:ln>
            <a:noFill/>
          </a:ln>
        </p:spPr>
        <p:txBody>
          <a:bodyPr wrap="square" lIns="0" tIns="0" rIns="0" bIns="0" anchor="t">
            <a:noAutofit/>
          </a:bodyPr>
          <a:lstStyle/>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Real omissions: </a:t>
            </a:r>
            <a:r>
              <a:rPr lang="en-US" sz="1250" b="0" i="0" dirty="0">
                <a:solidFill>
                  <a:srgbClr val="3A434C"/>
                </a:solidFill>
                <a:latin typeface="Calibri"/>
                <a:cs typeface="Calibri"/>
              </a:rPr>
              <a:t xml:space="preserve">the final ontology has 197 data properties; the seed had 299</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Why: </a:t>
            </a:r>
            <a:r>
              <a:rPr lang="en-US" sz="1250" b="0" i="0" dirty="0">
                <a:solidFill>
                  <a:srgbClr val="3A434C"/>
                </a:solidFill>
                <a:latin typeface="Calibri"/>
                <a:cs typeface="Calibri"/>
              </a:rPr>
              <a:t xml:space="preserve">in the paper's pipeline only the validated delta is merged, so a delta that renames or drops seed properties loses columns</a:t>
            </a:r>
          </a:p>
          <a:p>
            <a:pPr algn="l" marL="228600" indent="-228600">
              <a:spcBef>
                <a:spcPts val="0"/>
              </a:spcBef>
              <a:spcAft>
                <a:spcPts val="500"/>
              </a:spcAft>
              <a:buFont typeface="Arial"/>
              <a:buChar char="•"/>
            </a:pPr>
            <a:r>
              <a:rPr lang="en-US" sz="1250" b="1" i="0" dirty="0">
                <a:solidFill>
                  <a:srgbClr val="1F2328"/>
                </a:solidFill>
                <a:latin typeface="Calibri"/>
                <a:cs typeface="Calibri"/>
              </a:rPr>
              <a:t xml:space="preserve">Fixed: </a:t>
            </a:r>
            <a:r>
              <a:rPr lang="en-US" sz="1250" b="0" i="0" dirty="0">
                <a:solidFill>
                  <a:srgbClr val="3A434C"/>
                </a:solidFill>
                <a:latin typeface="Calibri"/>
                <a:cs typeface="Calibri"/>
              </a:rPr>
              <a:t xml:space="preserve">the current RIGOR code merges the direct mapping into the core first, so every column stays</a:t>
            </a:r>
          </a:p>
        </p:txBody>
      </p:sp>
      <p:sp>
        <p:nvSpPr>
          <p:cNvPr id="1771" name="Strip 1771"/>
          <p:cNvSpPr/>
          <p:nvPr/>
        </p:nvSpPr>
        <p:spPr>
          <a:xfrm>
            <a:off x="804672" y="5669280"/>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Coverage: </a:t>
            </a:r>
            <a:r>
              <a:rPr lang="en-US" sz="1350" b="0" i="0" dirty="0">
                <a:solidFill>
                  <a:srgbClr val="3A434C"/>
                </a:solidFill>
                <a:latin typeface="Calibri"/>
                <a:cs typeface="Calibri"/>
              </a:rPr>
              <a:t xml:space="preserve">a column counts as covered when some ontology class or property name has embedding similarity ≥ 0.55 (all-MiniLM-L6-v2).</a:t>
            </a:r>
          </a:p>
        </p:txBody>
      </p:sp>
      <p:sp>
        <p:nvSpPr>
          <p:cNvPr id="1772" name="Source 1772"/>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Tables 8, 9, Algorithm 1 (line 22); output/generated_ontologies/direct_mapping_chinook.owl, app.py.</a:t>
            </a:r>
          </a:p>
        </p:txBody>
      </p:sp>
      <p:sp>
        <p:nvSpPr>
          <p:cNvPr id="1773" name="Back link 1773"/>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74" name="Slide number 1774"/>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B5</a:t>
            </a: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B6  /  RESULTS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Aren't the OOPS! counts just missing labels?</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No: without P08, RIGOR still has the fewest pitfalls, and the fewest critical ones.</a:t>
            </a:r>
          </a:p>
        </p:txBody>
      </p:sp>
      <p:sp>
        <p:nvSpPr>
          <p:cNvPr id="1765" name="Cell 1765"/>
          <p:cNvSpPr txBox="1"/>
          <p:nvPr/>
        </p:nvSpPr>
        <p:spPr>
          <a:xfrm>
            <a:off x="877824" y="2212848"/>
            <a:ext cx="277977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AVERAGE PER ONTOLOGY</a:t>
            </a:r>
          </a:p>
        </p:txBody>
      </p:sp>
      <p:sp>
        <p:nvSpPr>
          <p:cNvPr id="1766" name="Cell 1766"/>
          <p:cNvSpPr txBox="1"/>
          <p:nvPr/>
        </p:nvSpPr>
        <p:spPr>
          <a:xfrm>
            <a:off x="3803904" y="22128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ALL PITFALLS</a:t>
            </a:r>
          </a:p>
        </p:txBody>
      </p:sp>
      <p:sp>
        <p:nvSpPr>
          <p:cNvPr id="1767" name="Cell 1767"/>
          <p:cNvSpPr txBox="1"/>
          <p:nvPr/>
        </p:nvSpPr>
        <p:spPr>
          <a:xfrm>
            <a:off x="6364224" y="22128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WITHOUT P08</a:t>
            </a:r>
          </a:p>
        </p:txBody>
      </p:sp>
      <p:sp>
        <p:nvSpPr>
          <p:cNvPr id="1768" name="Cell 1768"/>
          <p:cNvSpPr txBox="1"/>
          <p:nvPr/>
        </p:nvSpPr>
        <p:spPr>
          <a:xfrm>
            <a:off x="8924544" y="2212848"/>
            <a:ext cx="238658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CRITICAL (P19)</a:t>
            </a:r>
          </a:p>
        </p:txBody>
      </p:sp>
      <p:sp>
        <p:nvSpPr>
          <p:cNvPr id="1769" name="Rule 1769"/>
          <p:cNvSpPr/>
          <p:nvPr/>
        </p:nvSpPr>
        <p:spPr>
          <a:xfrm>
            <a:off x="804672" y="2660904"/>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70" name="Cell 1770"/>
          <p:cNvSpPr txBox="1"/>
          <p:nvPr/>
        </p:nvSpPr>
        <p:spPr>
          <a:xfrm>
            <a:off x="877824" y="2670048"/>
            <a:ext cx="277977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400" b="0" i="0" dirty="0">
                <a:solidFill>
                  <a:srgbClr val="1F2328"/>
                </a:solidFill>
                <a:latin typeface="Calibri"/>
                <a:cs typeface="Calibri"/>
              </a:rPr>
              <a:t xml:space="preserve">Direct Mapping</a:t>
            </a:r>
          </a:p>
        </p:txBody>
      </p:sp>
      <p:sp>
        <p:nvSpPr>
          <p:cNvPr id="1771" name="Cell 1771"/>
          <p:cNvSpPr txBox="1"/>
          <p:nvPr/>
        </p:nvSpPr>
        <p:spPr>
          <a:xfrm>
            <a:off x="3803904" y="26700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499</a:t>
            </a:r>
          </a:p>
        </p:txBody>
      </p:sp>
      <p:sp>
        <p:nvSpPr>
          <p:cNvPr id="1772" name="Cell 1772"/>
          <p:cNvSpPr txBox="1"/>
          <p:nvPr/>
        </p:nvSpPr>
        <p:spPr>
          <a:xfrm>
            <a:off x="6364224" y="26700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250</a:t>
            </a:r>
          </a:p>
        </p:txBody>
      </p:sp>
      <p:sp>
        <p:nvSpPr>
          <p:cNvPr id="1773" name="Cell 1773"/>
          <p:cNvSpPr txBox="1"/>
          <p:nvPr/>
        </p:nvSpPr>
        <p:spPr>
          <a:xfrm>
            <a:off x="8924544" y="2670048"/>
            <a:ext cx="238658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15</a:t>
            </a:r>
          </a:p>
        </p:txBody>
      </p:sp>
      <p:sp>
        <p:nvSpPr>
          <p:cNvPr id="1774" name="Row 1774"/>
          <p:cNvSpPr/>
          <p:nvPr/>
        </p:nvSpPr>
        <p:spPr>
          <a:xfrm>
            <a:off x="804672" y="3127248"/>
            <a:ext cx="10579608" cy="457200"/>
          </a:xfrm>
          <a:prstGeom prst="rect">
            <a:avLst/>
          </a:prstGeom>
          <a:solidFill>
            <a:srgbClr val="F3F5F4"/>
          </a:solidFill>
          <a:ln>
            <a:noFill/>
          </a:ln>
        </p:spPr>
        <p:txBody>
          <a:bodyPr wrap="square" lIns="0" tIns="0" rIns="0" bIns="0" anchor="t">
            <a:noAutofit/>
          </a:bodyPr>
          <a:lstStyle/>
          <a:p>
            <a:endParaRPr lang="en-US"/>
          </a:p>
        </p:txBody>
      </p:sp>
      <p:sp>
        <p:nvSpPr>
          <p:cNvPr id="1775" name="Cell 1775"/>
          <p:cNvSpPr txBox="1"/>
          <p:nvPr/>
        </p:nvSpPr>
        <p:spPr>
          <a:xfrm>
            <a:off x="877824" y="3127248"/>
            <a:ext cx="277977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400" b="0" i="0" dirty="0">
                <a:solidFill>
                  <a:srgbClr val="1F2328"/>
                </a:solidFill>
                <a:latin typeface="Calibri"/>
                <a:cs typeface="Calibri"/>
              </a:rPr>
              <a:t xml:space="preserve">LLM baseline</a:t>
            </a:r>
          </a:p>
        </p:txBody>
      </p:sp>
      <p:sp>
        <p:nvSpPr>
          <p:cNvPr id="1776" name="Cell 1776"/>
          <p:cNvSpPr txBox="1"/>
          <p:nvPr/>
        </p:nvSpPr>
        <p:spPr>
          <a:xfrm>
            <a:off x="3803904" y="31272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307</a:t>
            </a:r>
          </a:p>
        </p:txBody>
      </p:sp>
      <p:sp>
        <p:nvSpPr>
          <p:cNvPr id="1777" name="Cell 1777"/>
          <p:cNvSpPr txBox="1"/>
          <p:nvPr/>
        </p:nvSpPr>
        <p:spPr>
          <a:xfrm>
            <a:off x="6364224" y="31272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34</a:t>
            </a:r>
          </a:p>
        </p:txBody>
      </p:sp>
      <p:sp>
        <p:nvSpPr>
          <p:cNvPr id="1778" name="Cell 1778"/>
          <p:cNvSpPr txBox="1"/>
          <p:nvPr/>
        </p:nvSpPr>
        <p:spPr>
          <a:xfrm>
            <a:off x="8924544" y="3127248"/>
            <a:ext cx="238658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17</a:t>
            </a:r>
          </a:p>
        </p:txBody>
      </p:sp>
      <p:sp>
        <p:nvSpPr>
          <p:cNvPr id="1779" name="Cell 1779"/>
          <p:cNvSpPr txBox="1"/>
          <p:nvPr/>
        </p:nvSpPr>
        <p:spPr>
          <a:xfrm>
            <a:off x="877824" y="3584448"/>
            <a:ext cx="277977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400" b="0" i="0" dirty="0">
                <a:solidFill>
                  <a:srgbClr val="1F2328"/>
                </a:solidFill>
                <a:latin typeface="Calibri"/>
                <a:cs typeface="Calibri"/>
              </a:rPr>
              <a:t xml:space="preserve">Non-Iterative RAG</a:t>
            </a:r>
          </a:p>
        </p:txBody>
      </p:sp>
      <p:sp>
        <p:nvSpPr>
          <p:cNvPr id="1780" name="Cell 1780"/>
          <p:cNvSpPr txBox="1"/>
          <p:nvPr/>
        </p:nvSpPr>
        <p:spPr>
          <a:xfrm>
            <a:off x="3803904" y="35844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52</a:t>
            </a:r>
          </a:p>
        </p:txBody>
      </p:sp>
      <p:sp>
        <p:nvSpPr>
          <p:cNvPr id="1781" name="Cell 1781"/>
          <p:cNvSpPr txBox="1"/>
          <p:nvPr/>
        </p:nvSpPr>
        <p:spPr>
          <a:xfrm>
            <a:off x="6364224" y="35844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29</a:t>
            </a:r>
          </a:p>
        </p:txBody>
      </p:sp>
      <p:sp>
        <p:nvSpPr>
          <p:cNvPr id="1782" name="Cell 1782"/>
          <p:cNvSpPr txBox="1"/>
          <p:nvPr/>
        </p:nvSpPr>
        <p:spPr>
          <a:xfrm>
            <a:off x="8924544" y="3584448"/>
            <a:ext cx="238658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0" i="0" dirty="0">
                <a:solidFill>
                  <a:srgbClr val="1F2328"/>
                </a:solidFill>
                <a:latin typeface="Calibri"/>
                <a:cs typeface="Calibri"/>
              </a:rPr>
              <a:t xml:space="preserve">5.4</a:t>
            </a:r>
          </a:p>
        </p:txBody>
      </p:sp>
      <p:sp>
        <p:nvSpPr>
          <p:cNvPr id="1783" name="Row 1783"/>
          <p:cNvSpPr/>
          <p:nvPr/>
        </p:nvSpPr>
        <p:spPr>
          <a:xfrm>
            <a:off x="804672" y="4041648"/>
            <a:ext cx="10579608" cy="457200"/>
          </a:xfrm>
          <a:prstGeom prst="rect">
            <a:avLst/>
          </a:prstGeom>
          <a:solidFill>
            <a:srgbClr val="E6F2EC"/>
          </a:solidFill>
          <a:ln>
            <a:noFill/>
          </a:ln>
        </p:spPr>
        <p:txBody>
          <a:bodyPr wrap="square" lIns="0" tIns="0" rIns="0" bIns="0" anchor="t">
            <a:noAutofit/>
          </a:bodyPr>
          <a:lstStyle/>
          <a:p>
            <a:endParaRPr lang="en-US"/>
          </a:p>
        </p:txBody>
      </p:sp>
      <p:sp>
        <p:nvSpPr>
          <p:cNvPr id="1784" name="Cell 1784"/>
          <p:cNvSpPr txBox="1"/>
          <p:nvPr/>
        </p:nvSpPr>
        <p:spPr>
          <a:xfrm>
            <a:off x="877824" y="4041648"/>
            <a:ext cx="277977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400" b="1" i="0" dirty="0">
                <a:solidFill>
                  <a:srgbClr val="0B6E4F"/>
                </a:solidFill>
                <a:latin typeface="Calibri"/>
                <a:cs typeface="Calibri"/>
              </a:rPr>
              <a:t xml:space="preserve">RIGOR</a:t>
            </a:r>
          </a:p>
        </p:txBody>
      </p:sp>
      <p:sp>
        <p:nvSpPr>
          <p:cNvPr id="1785" name="Cell 1785"/>
          <p:cNvSpPr txBox="1"/>
          <p:nvPr/>
        </p:nvSpPr>
        <p:spPr>
          <a:xfrm>
            <a:off x="3803904" y="40416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1" i="0" dirty="0">
                <a:solidFill>
                  <a:srgbClr val="0B6E4F"/>
                </a:solidFill>
                <a:latin typeface="Calibri"/>
                <a:cs typeface="Calibri"/>
              </a:rPr>
              <a:t xml:space="preserve">8</a:t>
            </a:r>
          </a:p>
        </p:txBody>
      </p:sp>
      <p:sp>
        <p:nvSpPr>
          <p:cNvPr id="1786" name="Cell 1786"/>
          <p:cNvSpPr txBox="1"/>
          <p:nvPr/>
        </p:nvSpPr>
        <p:spPr>
          <a:xfrm>
            <a:off x="6364224" y="4041648"/>
            <a:ext cx="2414015"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1" i="0" dirty="0">
                <a:solidFill>
                  <a:srgbClr val="0B6E4F"/>
                </a:solidFill>
                <a:latin typeface="Calibri"/>
                <a:cs typeface="Calibri"/>
              </a:rPr>
              <a:t xml:space="preserve">8</a:t>
            </a:r>
          </a:p>
        </p:txBody>
      </p:sp>
      <p:sp>
        <p:nvSpPr>
          <p:cNvPr id="1787" name="Cell 1787"/>
          <p:cNvSpPr txBox="1"/>
          <p:nvPr/>
        </p:nvSpPr>
        <p:spPr>
          <a:xfrm>
            <a:off x="8924544" y="4041648"/>
            <a:ext cx="238658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400" b="1" i="0" dirty="0">
                <a:solidFill>
                  <a:srgbClr val="0B6E4F"/>
                </a:solidFill>
                <a:latin typeface="Calibri"/>
                <a:cs typeface="Calibri"/>
              </a:rPr>
              <a:t xml:space="preserve">2.8</a:t>
            </a:r>
          </a:p>
        </p:txBody>
      </p:sp>
      <p:sp>
        <p:nvSpPr>
          <p:cNvPr id="1788" name="Bullets 1788"/>
          <p:cNvSpPr txBox="1"/>
          <p:nvPr/>
        </p:nvSpPr>
        <p:spPr>
          <a:xfrm>
            <a:off x="896112" y="4663440"/>
            <a:ext cx="10424160" cy="914400"/>
          </a:xfrm>
          <a:prstGeom prst="rect">
            <a:avLst/>
          </a:prstGeom>
          <a:noFill/>
          <a:ln>
            <a:noFill/>
          </a:ln>
        </p:spPr>
        <p:txBody>
          <a:bodyPr wrap="square" lIns="0" tIns="0" rIns="0" bIns="0" anchor="t">
            <a:noAutofit/>
          </a:bodyPr>
          <a:lstStyle/>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P08 = missing annotations: </a:t>
            </a:r>
            <a:r>
              <a:rPr lang="en-US" sz="1250" b="0" i="0" dirty="0">
                <a:solidFill>
                  <a:srgbClr val="3A434C"/>
                </a:solidFill>
                <a:latin typeface="Calibri"/>
                <a:cs typeface="Calibri"/>
              </a:rPr>
              <a:t xml:space="preserve">72% of the other methods' pitfalls. Without it, RIGOR still has the fewest, about 4 times fewer than the next method</a:t>
            </a:r>
          </a:p>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P19 = multiple domains or ranges, </a:t>
            </a:r>
            <a:r>
              <a:rPr lang="en-US" sz="1250" b="0" i="0" dirty="0">
                <a:solidFill>
                  <a:srgbClr val="3A434C"/>
                </a:solidFill>
                <a:latin typeface="Calibri"/>
                <a:cs typeface="Calibri"/>
              </a:rPr>
              <a:t xml:space="preserve">the only critical pitfall found: zero in 6 of RIGOR's 9 ontologies</a:t>
            </a:r>
          </a:p>
        </p:txBody>
      </p:sp>
      <p:sp>
        <p:nvSpPr>
          <p:cNvPr id="1789" name="Source 1789"/>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Table 7, averaged over 3 (Direct Mapping) or 9 ontologies; global pitfalls without counts (P10, P22) excluded.</a:t>
            </a:r>
          </a:p>
        </p:txBody>
      </p:sp>
      <p:sp>
        <p:nvSpPr>
          <p:cNvPr id="1790" name="Back link 1790"/>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1" name="Slide number 1791"/>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B6</a:t>
            </a: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B7  /  RESULTS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Did you run an ablation?</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Yes, for the retrieval sources: all sources together align best, but the margins are small.</a:t>
            </a:r>
          </a:p>
        </p:txBody>
      </p:sp>
      <p:sp>
        <p:nvSpPr>
          <p:cNvPr id="1765" name="Cell 1765"/>
          <p:cNvSpPr txBox="1"/>
          <p:nvPr/>
        </p:nvSpPr>
        <p:spPr>
          <a:xfrm>
            <a:off x="877824" y="2212848"/>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VARIANT (CHINOOK, CLAUDE)</a:t>
            </a:r>
          </a:p>
        </p:txBody>
      </p:sp>
      <p:sp>
        <p:nvSpPr>
          <p:cNvPr id="1766" name="Cell 1766"/>
          <p:cNvSpPr txBox="1"/>
          <p:nvPr/>
        </p:nvSpPr>
        <p:spPr>
          <a:xfrm>
            <a:off x="3986784" y="221284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SCHEMA</a:t>
            </a:r>
          </a:p>
        </p:txBody>
      </p:sp>
      <p:sp>
        <p:nvSpPr>
          <p:cNvPr id="1767" name="Cell 1767"/>
          <p:cNvSpPr txBox="1"/>
          <p:nvPr/>
        </p:nvSpPr>
        <p:spPr>
          <a:xfrm>
            <a:off x="5861304" y="221284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EXT. ONTOLOGIES</a:t>
            </a:r>
          </a:p>
        </p:txBody>
      </p:sp>
      <p:sp>
        <p:nvSpPr>
          <p:cNvPr id="1768" name="Cell 1768"/>
          <p:cNvSpPr txBox="1"/>
          <p:nvPr/>
        </p:nvSpPr>
        <p:spPr>
          <a:xfrm>
            <a:off x="7735823" y="221284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DOCUMENTATION</a:t>
            </a:r>
          </a:p>
        </p:txBody>
      </p:sp>
      <p:sp>
        <p:nvSpPr>
          <p:cNvPr id="1769" name="Cell 1769"/>
          <p:cNvSpPr txBox="1"/>
          <p:nvPr/>
        </p:nvSpPr>
        <p:spPr>
          <a:xfrm>
            <a:off x="9610344" y="2212848"/>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AVERAGE</a:t>
            </a:r>
          </a:p>
        </p:txBody>
      </p:sp>
      <p:sp>
        <p:nvSpPr>
          <p:cNvPr id="1770" name="Rule 1770"/>
          <p:cNvSpPr/>
          <p:nvPr/>
        </p:nvSpPr>
        <p:spPr>
          <a:xfrm>
            <a:off x="804672" y="2624328"/>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71" name="Cell 1771"/>
          <p:cNvSpPr txBox="1"/>
          <p:nvPr/>
        </p:nvSpPr>
        <p:spPr>
          <a:xfrm>
            <a:off x="877824" y="2633472"/>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50" b="0" i="0" dirty="0">
                <a:solidFill>
                  <a:srgbClr val="1F2328"/>
                </a:solidFill>
                <a:latin typeface="Calibri"/>
                <a:cs typeface="Calibri"/>
              </a:rPr>
              <a:t xml:space="preserve">No retrieval</a:t>
            </a:r>
          </a:p>
        </p:txBody>
      </p:sp>
      <p:sp>
        <p:nvSpPr>
          <p:cNvPr id="1772" name="Cell 1772"/>
          <p:cNvSpPr txBox="1"/>
          <p:nvPr/>
        </p:nvSpPr>
        <p:spPr>
          <a:xfrm>
            <a:off x="3986784" y="2633472"/>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1.000</a:t>
            </a:r>
          </a:p>
        </p:txBody>
      </p:sp>
      <p:sp>
        <p:nvSpPr>
          <p:cNvPr id="1773" name="Cell 1773"/>
          <p:cNvSpPr txBox="1"/>
          <p:nvPr/>
        </p:nvSpPr>
        <p:spPr>
          <a:xfrm>
            <a:off x="5861304" y="2633472"/>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0.033</a:t>
            </a:r>
          </a:p>
        </p:txBody>
      </p:sp>
      <p:sp>
        <p:nvSpPr>
          <p:cNvPr id="1774" name="Cell 1774"/>
          <p:cNvSpPr txBox="1"/>
          <p:nvPr/>
        </p:nvSpPr>
        <p:spPr>
          <a:xfrm>
            <a:off x="7735823" y="2633472"/>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0.919</a:t>
            </a:r>
          </a:p>
        </p:txBody>
      </p:sp>
      <p:sp>
        <p:nvSpPr>
          <p:cNvPr id="1775" name="Cell 1775"/>
          <p:cNvSpPr txBox="1"/>
          <p:nvPr/>
        </p:nvSpPr>
        <p:spPr>
          <a:xfrm>
            <a:off x="9610344" y="2633472"/>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0.651</a:t>
            </a:r>
          </a:p>
        </p:txBody>
      </p:sp>
      <p:sp>
        <p:nvSpPr>
          <p:cNvPr id="1776" name="Row 1776"/>
          <p:cNvSpPr/>
          <p:nvPr/>
        </p:nvSpPr>
        <p:spPr>
          <a:xfrm>
            <a:off x="804672" y="3054096"/>
            <a:ext cx="10579608" cy="420624"/>
          </a:xfrm>
          <a:prstGeom prst="rect">
            <a:avLst/>
          </a:prstGeom>
          <a:solidFill>
            <a:srgbClr val="F3F5F4"/>
          </a:solidFill>
          <a:ln>
            <a:noFill/>
          </a:ln>
        </p:spPr>
        <p:txBody>
          <a:bodyPr wrap="square" lIns="0" tIns="0" rIns="0" bIns="0" anchor="t">
            <a:noAutofit/>
          </a:bodyPr>
          <a:lstStyle/>
          <a:p>
            <a:endParaRPr lang="en-US"/>
          </a:p>
        </p:txBody>
      </p:sp>
      <p:sp>
        <p:nvSpPr>
          <p:cNvPr id="1777" name="Cell 1777"/>
          <p:cNvSpPr txBox="1"/>
          <p:nvPr/>
        </p:nvSpPr>
        <p:spPr>
          <a:xfrm>
            <a:off x="877824" y="3054096"/>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50" b="0" i="0" dirty="0">
                <a:solidFill>
                  <a:srgbClr val="1F2328"/>
                </a:solidFill>
                <a:latin typeface="Calibri"/>
                <a:cs typeface="Calibri"/>
              </a:rPr>
              <a:t xml:space="preserve">Schema + core only</a:t>
            </a:r>
          </a:p>
        </p:txBody>
      </p:sp>
      <p:sp>
        <p:nvSpPr>
          <p:cNvPr id="1778" name="Cell 1778"/>
          <p:cNvSpPr txBox="1"/>
          <p:nvPr/>
        </p:nvSpPr>
        <p:spPr>
          <a:xfrm>
            <a:off x="3986784" y="3054096"/>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0.997</a:t>
            </a:r>
          </a:p>
        </p:txBody>
      </p:sp>
      <p:sp>
        <p:nvSpPr>
          <p:cNvPr id="1779" name="Cell 1779"/>
          <p:cNvSpPr txBox="1"/>
          <p:nvPr/>
        </p:nvSpPr>
        <p:spPr>
          <a:xfrm>
            <a:off x="5861304" y="3054096"/>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0.033</a:t>
            </a:r>
          </a:p>
        </p:txBody>
      </p:sp>
      <p:sp>
        <p:nvSpPr>
          <p:cNvPr id="1780" name="Cell 1780"/>
          <p:cNvSpPr txBox="1"/>
          <p:nvPr/>
        </p:nvSpPr>
        <p:spPr>
          <a:xfrm>
            <a:off x="7735823" y="3054096"/>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0.916</a:t>
            </a:r>
          </a:p>
        </p:txBody>
      </p:sp>
      <p:sp>
        <p:nvSpPr>
          <p:cNvPr id="1781" name="Cell 1781"/>
          <p:cNvSpPr txBox="1"/>
          <p:nvPr/>
        </p:nvSpPr>
        <p:spPr>
          <a:xfrm>
            <a:off x="9610344" y="3054096"/>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0.648</a:t>
            </a:r>
          </a:p>
        </p:txBody>
      </p:sp>
      <p:sp>
        <p:nvSpPr>
          <p:cNvPr id="1782" name="Cell 1782"/>
          <p:cNvSpPr txBox="1"/>
          <p:nvPr/>
        </p:nvSpPr>
        <p:spPr>
          <a:xfrm>
            <a:off x="877824" y="3474720"/>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50" b="0" i="0" dirty="0">
                <a:solidFill>
                  <a:srgbClr val="1F2328"/>
                </a:solidFill>
                <a:latin typeface="Calibri"/>
                <a:cs typeface="Calibri"/>
              </a:rPr>
              <a:t xml:space="preserve">External ontologies only</a:t>
            </a:r>
          </a:p>
        </p:txBody>
      </p:sp>
      <p:sp>
        <p:nvSpPr>
          <p:cNvPr id="1783" name="Cell 1783"/>
          <p:cNvSpPr txBox="1"/>
          <p:nvPr/>
        </p:nvSpPr>
        <p:spPr>
          <a:xfrm>
            <a:off x="3986784" y="3474720"/>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1.000</a:t>
            </a:r>
          </a:p>
        </p:txBody>
      </p:sp>
      <p:sp>
        <p:nvSpPr>
          <p:cNvPr id="1784" name="Cell 1784"/>
          <p:cNvSpPr txBox="1"/>
          <p:nvPr/>
        </p:nvSpPr>
        <p:spPr>
          <a:xfrm>
            <a:off x="5861304" y="3474720"/>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0.033</a:t>
            </a:r>
          </a:p>
        </p:txBody>
      </p:sp>
      <p:sp>
        <p:nvSpPr>
          <p:cNvPr id="1785" name="Cell 1785"/>
          <p:cNvSpPr txBox="1"/>
          <p:nvPr/>
        </p:nvSpPr>
        <p:spPr>
          <a:xfrm>
            <a:off x="7735823" y="3474720"/>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0.919</a:t>
            </a:r>
          </a:p>
        </p:txBody>
      </p:sp>
      <p:sp>
        <p:nvSpPr>
          <p:cNvPr id="1786" name="Cell 1786"/>
          <p:cNvSpPr txBox="1"/>
          <p:nvPr/>
        </p:nvSpPr>
        <p:spPr>
          <a:xfrm>
            <a:off x="9610344" y="3474720"/>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0.651</a:t>
            </a:r>
          </a:p>
        </p:txBody>
      </p:sp>
      <p:sp>
        <p:nvSpPr>
          <p:cNvPr id="1787" name="Row 1787"/>
          <p:cNvSpPr/>
          <p:nvPr/>
        </p:nvSpPr>
        <p:spPr>
          <a:xfrm>
            <a:off x="804672" y="3895344"/>
            <a:ext cx="10579608" cy="420624"/>
          </a:xfrm>
          <a:prstGeom prst="rect">
            <a:avLst/>
          </a:prstGeom>
          <a:solidFill>
            <a:srgbClr val="F3F5F4"/>
          </a:solidFill>
          <a:ln>
            <a:noFill/>
          </a:ln>
        </p:spPr>
        <p:txBody>
          <a:bodyPr wrap="square" lIns="0" tIns="0" rIns="0" bIns="0" anchor="t">
            <a:noAutofit/>
          </a:bodyPr>
          <a:lstStyle/>
          <a:p>
            <a:endParaRPr lang="en-US"/>
          </a:p>
        </p:txBody>
      </p:sp>
      <p:sp>
        <p:nvSpPr>
          <p:cNvPr id="1788" name="Cell 1788"/>
          <p:cNvSpPr txBox="1"/>
          <p:nvPr/>
        </p:nvSpPr>
        <p:spPr>
          <a:xfrm>
            <a:off x="877824" y="3895344"/>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50" b="0" i="0" dirty="0">
                <a:solidFill>
                  <a:srgbClr val="1F2328"/>
                </a:solidFill>
                <a:latin typeface="Calibri"/>
                <a:cs typeface="Calibri"/>
              </a:rPr>
              <a:t xml:space="preserve">Documentation only</a:t>
            </a:r>
          </a:p>
        </p:txBody>
      </p:sp>
      <p:sp>
        <p:nvSpPr>
          <p:cNvPr id="1789" name="Cell 1789"/>
          <p:cNvSpPr txBox="1"/>
          <p:nvPr/>
        </p:nvSpPr>
        <p:spPr>
          <a:xfrm>
            <a:off x="3986784" y="3895344"/>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1.000</a:t>
            </a:r>
          </a:p>
        </p:txBody>
      </p:sp>
      <p:sp>
        <p:nvSpPr>
          <p:cNvPr id="1790" name="Cell 1790"/>
          <p:cNvSpPr txBox="1"/>
          <p:nvPr/>
        </p:nvSpPr>
        <p:spPr>
          <a:xfrm>
            <a:off x="5861304" y="3895344"/>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0.035</a:t>
            </a:r>
          </a:p>
        </p:txBody>
      </p:sp>
      <p:sp>
        <p:nvSpPr>
          <p:cNvPr id="1791" name="Cell 1791"/>
          <p:cNvSpPr txBox="1"/>
          <p:nvPr/>
        </p:nvSpPr>
        <p:spPr>
          <a:xfrm>
            <a:off x="7735823" y="3895344"/>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1" i="0" dirty="0">
                <a:solidFill>
                  <a:srgbClr val="0B6E4F"/>
                </a:solidFill>
                <a:latin typeface="Calibri"/>
                <a:cs typeface="Calibri"/>
              </a:rPr>
              <a:t xml:space="preserve">0.921</a:t>
            </a:r>
          </a:p>
        </p:txBody>
      </p:sp>
      <p:sp>
        <p:nvSpPr>
          <p:cNvPr id="1792" name="Cell 1792"/>
          <p:cNvSpPr txBox="1"/>
          <p:nvPr/>
        </p:nvSpPr>
        <p:spPr>
          <a:xfrm>
            <a:off x="9610344" y="3895344"/>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0.652</a:t>
            </a:r>
          </a:p>
        </p:txBody>
      </p:sp>
      <p:sp>
        <p:nvSpPr>
          <p:cNvPr id="1793" name="Row 1793"/>
          <p:cNvSpPr/>
          <p:nvPr/>
        </p:nvSpPr>
        <p:spPr>
          <a:xfrm>
            <a:off x="804672" y="4315968"/>
            <a:ext cx="10579608" cy="420624"/>
          </a:xfrm>
          <a:prstGeom prst="rect">
            <a:avLst/>
          </a:prstGeom>
          <a:solidFill>
            <a:srgbClr val="E6F2EC"/>
          </a:solidFill>
          <a:ln>
            <a:noFill/>
          </a:ln>
        </p:spPr>
        <p:txBody>
          <a:bodyPr wrap="square" lIns="0" tIns="0" rIns="0" bIns="0" anchor="t">
            <a:noAutofit/>
          </a:bodyPr>
          <a:lstStyle/>
          <a:p>
            <a:endParaRPr lang="en-US"/>
          </a:p>
        </p:txBody>
      </p:sp>
      <p:sp>
        <p:nvSpPr>
          <p:cNvPr id="1794" name="Cell 1794"/>
          <p:cNvSpPr txBox="1"/>
          <p:nvPr/>
        </p:nvSpPr>
        <p:spPr>
          <a:xfrm>
            <a:off x="877824" y="4315968"/>
            <a:ext cx="2962656"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Full RIGOR</a:t>
            </a:r>
          </a:p>
        </p:txBody>
      </p:sp>
      <p:sp>
        <p:nvSpPr>
          <p:cNvPr id="1795" name="Cell 1795"/>
          <p:cNvSpPr txBox="1"/>
          <p:nvPr/>
        </p:nvSpPr>
        <p:spPr>
          <a:xfrm>
            <a:off x="3986784" y="431596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0.993</a:t>
            </a:r>
          </a:p>
        </p:txBody>
      </p:sp>
      <p:sp>
        <p:nvSpPr>
          <p:cNvPr id="1796" name="Cell 1796"/>
          <p:cNvSpPr txBox="1"/>
          <p:nvPr/>
        </p:nvSpPr>
        <p:spPr>
          <a:xfrm>
            <a:off x="5861304" y="431596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1" i="0" dirty="0">
                <a:solidFill>
                  <a:srgbClr val="0B6E4F"/>
                </a:solidFill>
                <a:latin typeface="Calibri"/>
                <a:cs typeface="Calibri"/>
              </a:rPr>
              <a:t xml:space="preserve">0.059</a:t>
            </a:r>
          </a:p>
        </p:txBody>
      </p:sp>
      <p:sp>
        <p:nvSpPr>
          <p:cNvPr id="1797" name="Cell 1797"/>
          <p:cNvSpPr txBox="1"/>
          <p:nvPr/>
        </p:nvSpPr>
        <p:spPr>
          <a:xfrm>
            <a:off x="7735823" y="4315968"/>
            <a:ext cx="17282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0" i="0" dirty="0">
                <a:solidFill>
                  <a:srgbClr val="1F2328"/>
                </a:solidFill>
                <a:latin typeface="Calibri"/>
                <a:cs typeface="Calibri"/>
              </a:rPr>
              <a:t xml:space="preserve">0.914</a:t>
            </a:r>
          </a:p>
        </p:txBody>
      </p:sp>
      <p:sp>
        <p:nvSpPr>
          <p:cNvPr id="1798" name="Cell 1798"/>
          <p:cNvSpPr txBox="1"/>
          <p:nvPr/>
        </p:nvSpPr>
        <p:spPr>
          <a:xfrm>
            <a:off x="9610344" y="4315968"/>
            <a:ext cx="1700784"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50" b="1" i="0" dirty="0">
                <a:solidFill>
                  <a:srgbClr val="0B6E4F"/>
                </a:solidFill>
                <a:latin typeface="Calibri"/>
                <a:cs typeface="Calibri"/>
              </a:rPr>
              <a:t xml:space="preserve">0.655</a:t>
            </a:r>
          </a:p>
        </p:txBody>
      </p:sp>
      <p:sp>
        <p:nvSpPr>
          <p:cNvPr id="1799" name="Bullets 1799"/>
          <p:cNvSpPr txBox="1"/>
          <p:nvPr/>
        </p:nvSpPr>
        <p:spPr>
          <a:xfrm>
            <a:off x="896112" y="4892040"/>
            <a:ext cx="10424160" cy="731520"/>
          </a:xfrm>
          <a:prstGeom prst="rect">
            <a:avLst/>
          </a:prstGeom>
          <a:noFill/>
          <a:ln>
            <a:noFill/>
          </a:ln>
        </p:spPr>
        <p:txBody>
          <a:bodyPr wrap="square" lIns="0" tIns="0" rIns="0" bIns="0" anchor="t">
            <a:noAutofit/>
          </a:bodyPr>
          <a:lstStyle/>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Full RIGOR aligns best overall </a:t>
            </a:r>
            <a:r>
              <a:rPr lang="en-US" sz="1250" b="0" i="0" dirty="0">
                <a:solidFill>
                  <a:srgbClr val="3A434C"/>
                </a:solidFill>
                <a:latin typeface="Calibri"/>
                <a:cs typeface="Calibri"/>
              </a:rPr>
              <a:t xml:space="preserve">and nearly doubles external-ontology alignment; each source helps its own resource</a:t>
            </a:r>
          </a:p>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Why the margins are small: </a:t>
            </a:r>
            <a:r>
              <a:rPr lang="en-US" sz="1250" b="0" i="0" dirty="0">
                <a:solidFill>
                  <a:srgbClr val="3A434C"/>
                </a:solidFill>
                <a:latin typeface="Calibri"/>
                <a:cs typeface="Calibri"/>
              </a:rPr>
              <a:t xml:space="preserve">every variant keeps the direct-mapping seed, so schema alignment is saturated, and Chinook's names are self-explanatory</a:t>
            </a:r>
          </a:p>
        </p:txBody>
      </p:sp>
      <p:sp>
        <p:nvSpPr>
          <p:cNvPr id="1800" name="Source 1800"/>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4.8, Tables 5, 14. F1 of matches (cosine ≥ 0.55) between ontology elements and each resource.</a:t>
            </a:r>
          </a:p>
        </p:txBody>
      </p:sp>
      <p:sp>
        <p:nvSpPr>
          <p:cNvPr id="1801" name="Back link 1801"/>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802" name="Slide number 1802"/>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B7</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B8  /  RESULTS</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Which part of RIGOR matters most?</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Our four methods add one step at a time, so each step's effect is visible.</a:t>
            </a:r>
          </a:p>
        </p:txBody>
      </p:sp>
      <p:sp>
        <p:nvSpPr>
          <p:cNvPr id="1765" name="Cell 1765"/>
          <p:cNvSpPr txBox="1"/>
          <p:nvPr/>
        </p:nvSpPr>
        <p:spPr>
          <a:xfrm>
            <a:off x="877824" y="2212848"/>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ADDS ONE STEP EACH</a:t>
            </a:r>
          </a:p>
        </p:txBody>
      </p:sp>
      <p:sp>
        <p:nvSpPr>
          <p:cNvPr id="1766" name="Cell 1766"/>
          <p:cNvSpPr txBox="1"/>
          <p:nvPr/>
        </p:nvSpPr>
        <p:spPr>
          <a:xfrm>
            <a:off x="3666744" y="2212848"/>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DIRECT MAPPING</a:t>
            </a:r>
          </a:p>
        </p:txBody>
      </p:sp>
      <p:sp>
        <p:nvSpPr>
          <p:cNvPr id="1767" name="Cell 1767"/>
          <p:cNvSpPr txBox="1"/>
          <p:nvPr/>
        </p:nvSpPr>
        <p:spPr>
          <a:xfrm>
            <a:off x="5614416" y="2212848"/>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 LLM</a:t>
            </a:r>
          </a:p>
        </p:txBody>
      </p:sp>
      <p:sp>
        <p:nvSpPr>
          <p:cNvPr id="1768" name="Cell 1768"/>
          <p:cNvSpPr txBox="1"/>
          <p:nvPr/>
        </p:nvSpPr>
        <p:spPr>
          <a:xfrm>
            <a:off x="7562088" y="2212848"/>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 RETRIEVAL</a:t>
            </a:r>
          </a:p>
        </p:txBody>
      </p:sp>
      <p:sp>
        <p:nvSpPr>
          <p:cNvPr id="1769" name="Cell 1769"/>
          <p:cNvSpPr txBox="1"/>
          <p:nvPr/>
        </p:nvSpPr>
        <p:spPr>
          <a:xfrm>
            <a:off x="9509760" y="2212848"/>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 SEED, CORE, CHECKS</a:t>
            </a:r>
          </a:p>
        </p:txBody>
      </p:sp>
      <p:sp>
        <p:nvSpPr>
          <p:cNvPr id="1770" name="Rule 1770"/>
          <p:cNvSpPr/>
          <p:nvPr/>
        </p:nvSpPr>
        <p:spPr>
          <a:xfrm>
            <a:off x="804672" y="2587752"/>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71" name="Cell 1771"/>
          <p:cNvSpPr txBox="1"/>
          <p:nvPr/>
        </p:nvSpPr>
        <p:spPr>
          <a:xfrm>
            <a:off x="877824" y="2596896"/>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
            </a:r>
          </a:p>
        </p:txBody>
      </p:sp>
      <p:sp>
        <p:nvSpPr>
          <p:cNvPr id="1772" name="Cell 1772"/>
          <p:cNvSpPr txBox="1"/>
          <p:nvPr/>
        </p:nvSpPr>
        <p:spPr>
          <a:xfrm>
            <a:off x="3666744" y="259689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rules only</a:t>
            </a:r>
          </a:p>
        </p:txBody>
      </p:sp>
      <p:sp>
        <p:nvSpPr>
          <p:cNvPr id="1773" name="Cell 1773"/>
          <p:cNvSpPr txBox="1"/>
          <p:nvPr/>
        </p:nvSpPr>
        <p:spPr>
          <a:xfrm>
            <a:off x="5614416" y="259689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LLM baseline</a:t>
            </a:r>
          </a:p>
        </p:txBody>
      </p:sp>
      <p:sp>
        <p:nvSpPr>
          <p:cNvPr id="1774" name="Cell 1774"/>
          <p:cNvSpPr txBox="1"/>
          <p:nvPr/>
        </p:nvSpPr>
        <p:spPr>
          <a:xfrm>
            <a:off x="7562088" y="259689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Non-Iterative RAG</a:t>
            </a:r>
          </a:p>
        </p:txBody>
      </p:sp>
      <p:sp>
        <p:nvSpPr>
          <p:cNvPr id="1775" name="Cell 1775"/>
          <p:cNvSpPr txBox="1"/>
          <p:nvPr/>
        </p:nvSpPr>
        <p:spPr>
          <a:xfrm>
            <a:off x="9509760" y="259689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RIGOR</a:t>
            </a:r>
          </a:p>
        </p:txBody>
      </p:sp>
      <p:sp>
        <p:nvSpPr>
          <p:cNvPr id="1776" name="Row 1776"/>
          <p:cNvSpPr/>
          <p:nvPr/>
        </p:nvSpPr>
        <p:spPr>
          <a:xfrm>
            <a:off x="804672" y="2980944"/>
            <a:ext cx="10579608" cy="384048"/>
          </a:xfrm>
          <a:prstGeom prst="rect">
            <a:avLst/>
          </a:prstGeom>
          <a:solidFill>
            <a:srgbClr val="F3F5F4"/>
          </a:solidFill>
          <a:ln>
            <a:noFill/>
          </a:ln>
        </p:spPr>
        <p:txBody>
          <a:bodyPr wrap="square" lIns="0" tIns="0" rIns="0" bIns="0" anchor="t">
            <a:noAutofit/>
          </a:bodyPr>
          <a:lstStyle/>
          <a:p>
            <a:endParaRPr lang="en-US"/>
          </a:p>
        </p:txBody>
      </p:sp>
      <p:sp>
        <p:nvSpPr>
          <p:cNvPr id="1777" name="Cell 1777"/>
          <p:cNvSpPr txBox="1"/>
          <p:nvPr/>
        </p:nvSpPr>
        <p:spPr>
          <a:xfrm>
            <a:off x="877824" y="2980944"/>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Columns covered</a:t>
            </a:r>
          </a:p>
        </p:txBody>
      </p:sp>
      <p:sp>
        <p:nvSpPr>
          <p:cNvPr id="1778" name="Cell 1778"/>
          <p:cNvSpPr txBox="1"/>
          <p:nvPr/>
        </p:nvSpPr>
        <p:spPr>
          <a:xfrm>
            <a:off x="3666744" y="2980944"/>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91%</a:t>
            </a:r>
          </a:p>
        </p:txBody>
      </p:sp>
      <p:sp>
        <p:nvSpPr>
          <p:cNvPr id="1779" name="Cell 1779"/>
          <p:cNvSpPr txBox="1"/>
          <p:nvPr/>
        </p:nvSpPr>
        <p:spPr>
          <a:xfrm>
            <a:off x="5614416" y="2980944"/>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74%</a:t>
            </a:r>
          </a:p>
        </p:txBody>
      </p:sp>
      <p:sp>
        <p:nvSpPr>
          <p:cNvPr id="1780" name="Cell 1780"/>
          <p:cNvSpPr txBox="1"/>
          <p:nvPr/>
        </p:nvSpPr>
        <p:spPr>
          <a:xfrm>
            <a:off x="7562088" y="2980944"/>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B23A1E"/>
                </a:solidFill>
                <a:latin typeface="Calibri"/>
                <a:cs typeface="Calibri"/>
              </a:rPr>
              <a:t xml:space="preserve">34%</a:t>
            </a:r>
          </a:p>
        </p:txBody>
      </p:sp>
      <p:sp>
        <p:nvSpPr>
          <p:cNvPr id="1781" name="Cell 1781"/>
          <p:cNvSpPr txBox="1"/>
          <p:nvPr/>
        </p:nvSpPr>
        <p:spPr>
          <a:xfrm>
            <a:off x="9509760" y="2980944"/>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93%</a:t>
            </a:r>
          </a:p>
        </p:txBody>
      </p:sp>
      <p:sp>
        <p:nvSpPr>
          <p:cNvPr id="1782" name="Cell 1782"/>
          <p:cNvSpPr txBox="1"/>
          <p:nvPr/>
        </p:nvSpPr>
        <p:spPr>
          <a:xfrm>
            <a:off x="877824" y="3364991"/>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OOPS! pitfalls</a:t>
            </a:r>
          </a:p>
        </p:txBody>
      </p:sp>
      <p:sp>
        <p:nvSpPr>
          <p:cNvPr id="1783" name="Cell 1783"/>
          <p:cNvSpPr txBox="1"/>
          <p:nvPr/>
        </p:nvSpPr>
        <p:spPr>
          <a:xfrm>
            <a:off x="3666744" y="3364991"/>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499</a:t>
            </a:r>
          </a:p>
        </p:txBody>
      </p:sp>
      <p:sp>
        <p:nvSpPr>
          <p:cNvPr id="1784" name="Cell 1784"/>
          <p:cNvSpPr txBox="1"/>
          <p:nvPr/>
        </p:nvSpPr>
        <p:spPr>
          <a:xfrm>
            <a:off x="5614416" y="3364991"/>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307</a:t>
            </a:r>
          </a:p>
        </p:txBody>
      </p:sp>
      <p:sp>
        <p:nvSpPr>
          <p:cNvPr id="1785" name="Cell 1785"/>
          <p:cNvSpPr txBox="1"/>
          <p:nvPr/>
        </p:nvSpPr>
        <p:spPr>
          <a:xfrm>
            <a:off x="7562088" y="3364991"/>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52</a:t>
            </a:r>
          </a:p>
        </p:txBody>
      </p:sp>
      <p:sp>
        <p:nvSpPr>
          <p:cNvPr id="1786" name="Cell 1786"/>
          <p:cNvSpPr txBox="1"/>
          <p:nvPr/>
        </p:nvSpPr>
        <p:spPr>
          <a:xfrm>
            <a:off x="9509760" y="3364991"/>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8</a:t>
            </a:r>
          </a:p>
        </p:txBody>
      </p:sp>
      <p:sp>
        <p:nvSpPr>
          <p:cNvPr id="1787" name="Row 1787"/>
          <p:cNvSpPr/>
          <p:nvPr/>
        </p:nvSpPr>
        <p:spPr>
          <a:xfrm>
            <a:off x="804672" y="3749039"/>
            <a:ext cx="10579608" cy="384048"/>
          </a:xfrm>
          <a:prstGeom prst="rect">
            <a:avLst/>
          </a:prstGeom>
          <a:solidFill>
            <a:srgbClr val="F3F5F4"/>
          </a:solidFill>
          <a:ln>
            <a:noFill/>
          </a:ln>
        </p:spPr>
        <p:txBody>
          <a:bodyPr wrap="square" lIns="0" tIns="0" rIns="0" bIns="0" anchor="t">
            <a:noAutofit/>
          </a:bodyPr>
          <a:lstStyle/>
          <a:p>
            <a:endParaRPr lang="en-US"/>
          </a:p>
        </p:txBody>
      </p:sp>
      <p:sp>
        <p:nvSpPr>
          <p:cNvPr id="1788" name="Cell 1788"/>
          <p:cNvSpPr txBox="1"/>
          <p:nvPr/>
        </p:nvSpPr>
        <p:spPr>
          <a:xfrm>
            <a:off x="877824" y="3749039"/>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Labels &amp; comments</a:t>
            </a:r>
          </a:p>
        </p:txBody>
      </p:sp>
      <p:sp>
        <p:nvSpPr>
          <p:cNvPr id="1789" name="Cell 1789"/>
          <p:cNvSpPr txBox="1"/>
          <p:nvPr/>
        </p:nvSpPr>
        <p:spPr>
          <a:xfrm>
            <a:off x="3666744" y="3749039"/>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a:t>
            </a:r>
          </a:p>
        </p:txBody>
      </p:sp>
      <p:sp>
        <p:nvSpPr>
          <p:cNvPr id="1790" name="Cell 1790"/>
          <p:cNvSpPr txBox="1"/>
          <p:nvPr/>
        </p:nvSpPr>
        <p:spPr>
          <a:xfrm>
            <a:off x="5614416" y="3749039"/>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a:t>
            </a:r>
          </a:p>
        </p:txBody>
      </p:sp>
      <p:sp>
        <p:nvSpPr>
          <p:cNvPr id="1791" name="Cell 1791"/>
          <p:cNvSpPr txBox="1"/>
          <p:nvPr/>
        </p:nvSpPr>
        <p:spPr>
          <a:xfrm>
            <a:off x="7562088" y="3749039"/>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389</a:t>
            </a:r>
          </a:p>
        </p:txBody>
      </p:sp>
      <p:sp>
        <p:nvSpPr>
          <p:cNvPr id="1792" name="Cell 1792"/>
          <p:cNvSpPr txBox="1"/>
          <p:nvPr/>
        </p:nvSpPr>
        <p:spPr>
          <a:xfrm>
            <a:off x="9509760" y="3749039"/>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777</a:t>
            </a:r>
          </a:p>
        </p:txBody>
      </p:sp>
      <p:sp>
        <p:nvSpPr>
          <p:cNvPr id="1793" name="Cell 1793"/>
          <p:cNvSpPr txBox="1"/>
          <p:nvPr/>
        </p:nvSpPr>
        <p:spPr>
          <a:xfrm>
            <a:off x="877824" y="4133087"/>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Provenance links</a:t>
            </a:r>
          </a:p>
        </p:txBody>
      </p:sp>
      <p:sp>
        <p:nvSpPr>
          <p:cNvPr id="1794" name="Cell 1794"/>
          <p:cNvSpPr txBox="1"/>
          <p:nvPr/>
        </p:nvSpPr>
        <p:spPr>
          <a:xfrm>
            <a:off x="3666744" y="4133087"/>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a:t>
            </a:r>
          </a:p>
        </p:txBody>
      </p:sp>
      <p:sp>
        <p:nvSpPr>
          <p:cNvPr id="1795" name="Cell 1795"/>
          <p:cNvSpPr txBox="1"/>
          <p:nvPr/>
        </p:nvSpPr>
        <p:spPr>
          <a:xfrm>
            <a:off x="5614416" y="4133087"/>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a:t>
            </a:r>
          </a:p>
        </p:txBody>
      </p:sp>
      <p:sp>
        <p:nvSpPr>
          <p:cNvPr id="1796" name="Cell 1796"/>
          <p:cNvSpPr txBox="1"/>
          <p:nvPr/>
        </p:nvSpPr>
        <p:spPr>
          <a:xfrm>
            <a:off x="7562088" y="4133087"/>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a:t>
            </a:r>
          </a:p>
        </p:txBody>
      </p:sp>
      <p:sp>
        <p:nvSpPr>
          <p:cNvPr id="1797" name="Cell 1797"/>
          <p:cNvSpPr txBox="1"/>
          <p:nvPr/>
        </p:nvSpPr>
        <p:spPr>
          <a:xfrm>
            <a:off x="9509760" y="4133087"/>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196</a:t>
            </a:r>
          </a:p>
        </p:txBody>
      </p:sp>
      <p:sp>
        <p:nvSpPr>
          <p:cNvPr id="1798" name="Row 1798"/>
          <p:cNvSpPr/>
          <p:nvPr/>
        </p:nvSpPr>
        <p:spPr>
          <a:xfrm>
            <a:off x="804672" y="4517136"/>
            <a:ext cx="10579608" cy="384048"/>
          </a:xfrm>
          <a:prstGeom prst="rect">
            <a:avLst/>
          </a:prstGeom>
          <a:solidFill>
            <a:srgbClr val="F3F5F4"/>
          </a:solidFill>
          <a:ln>
            <a:noFill/>
          </a:ln>
        </p:spPr>
        <p:txBody>
          <a:bodyPr wrap="square" lIns="0" tIns="0" rIns="0" bIns="0" anchor="t">
            <a:noAutofit/>
          </a:bodyPr>
          <a:lstStyle/>
          <a:p>
            <a:endParaRPr lang="en-US"/>
          </a:p>
        </p:txBody>
      </p:sp>
      <p:sp>
        <p:nvSpPr>
          <p:cNvPr id="1799" name="Cell 1799"/>
          <p:cNvSpPr txBox="1"/>
          <p:nvPr/>
        </p:nvSpPr>
        <p:spPr>
          <a:xfrm>
            <a:off x="877824" y="4517136"/>
            <a:ext cx="2642615" cy="384048"/>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Judge: ranked 1st</a:t>
            </a:r>
          </a:p>
        </p:txBody>
      </p:sp>
      <p:sp>
        <p:nvSpPr>
          <p:cNvPr id="1800" name="Cell 1800"/>
          <p:cNvSpPr txBox="1"/>
          <p:nvPr/>
        </p:nvSpPr>
        <p:spPr>
          <a:xfrm>
            <a:off x="3666744" y="451713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 / 58</a:t>
            </a:r>
          </a:p>
        </p:txBody>
      </p:sp>
      <p:sp>
        <p:nvSpPr>
          <p:cNvPr id="1801" name="Cell 1801"/>
          <p:cNvSpPr txBox="1"/>
          <p:nvPr/>
        </p:nvSpPr>
        <p:spPr>
          <a:xfrm>
            <a:off x="5614416" y="451713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 / 58</a:t>
            </a:r>
          </a:p>
        </p:txBody>
      </p:sp>
      <p:sp>
        <p:nvSpPr>
          <p:cNvPr id="1802" name="Cell 1802"/>
          <p:cNvSpPr txBox="1"/>
          <p:nvPr/>
        </p:nvSpPr>
        <p:spPr>
          <a:xfrm>
            <a:off x="7562088" y="451713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 / 58</a:t>
            </a:r>
          </a:p>
        </p:txBody>
      </p:sp>
      <p:sp>
        <p:nvSpPr>
          <p:cNvPr id="1803" name="Cell 1803"/>
          <p:cNvSpPr txBox="1"/>
          <p:nvPr/>
        </p:nvSpPr>
        <p:spPr>
          <a:xfrm>
            <a:off x="9509760" y="4517136"/>
            <a:ext cx="1801368" cy="384048"/>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58 / 58</a:t>
            </a:r>
          </a:p>
        </p:txBody>
      </p:sp>
      <p:sp>
        <p:nvSpPr>
          <p:cNvPr id="1804" name="Strip 1804"/>
          <p:cNvSpPr/>
          <p:nvPr/>
        </p:nvSpPr>
        <p:spPr>
          <a:xfrm>
            <a:off x="804672" y="5074920"/>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Reading: </a:t>
            </a:r>
            <a:r>
              <a:rPr lang="en-US" sz="1350" b="0" i="0" dirty="0">
                <a:solidFill>
                  <a:srgbClr val="3A434C"/>
                </a:solidFill>
                <a:latin typeface="Calibri"/>
                <a:cs typeface="Calibri"/>
              </a:rPr>
              <a:t xml:space="preserve">retrieval adds labels but drops columns; the seed brings the columns back; the checks cut the errors.</a:t>
            </a:r>
          </a:p>
        </p:txBody>
      </p:sp>
      <p:sp>
        <p:nvSpPr>
          <p:cNvPr id="1805" name="Caveat 1805"/>
          <p:cNvSpPr txBox="1"/>
          <p:nvPr/>
        </p:nvSpPr>
        <p:spPr>
          <a:xfrm>
            <a:off x="822960" y="5623560"/>
            <a:ext cx="10515600" cy="54864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00" b="0" i="1" dirty="0">
                <a:solidFill>
                  <a:srgbClr val="5B6770"/>
                </a:solidFill>
                <a:latin typeface="Calibri"/>
                <a:cs typeface="Calibri"/>
              </a:rPr>
              <a:t xml:space="preserve">Not isolated: seed, growing core and validation were added together. A leave-one-component-out ablation is future work.</a:t>
            </a:r>
          </a:p>
        </p:txBody>
      </p:sp>
      <p:sp>
        <p:nvSpPr>
          <p:cNvPr id="1806" name="Source 1806"/>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4.5 (controlled spectrum, App. Table 3), Tables 1, 7, 8, 9; averages per ontology.</a:t>
            </a:r>
          </a:p>
        </p:txBody>
      </p:sp>
      <p:sp>
        <p:nvSpPr>
          <p:cNvPr id="1807" name="Back link 1807"/>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808" name="Slide number 1808"/>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B8</a:t>
            </a: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B9  /  METHOD</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Why breadth-first foreign-key order?</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Parents before children, so every table can reuse the classes it points to.</a:t>
            </a:r>
          </a:p>
        </p:txBody>
      </p:sp>
      <p:sp>
        <p:nvSpPr>
          <p:cNvPr id="1765" name="Card 1765"/>
          <p:cNvSpPr/>
          <p:nvPr/>
        </p:nvSpPr>
        <p:spPr>
          <a:xfrm>
            <a:off x="804672" y="2212848"/>
            <a:ext cx="5166360" cy="342900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CHINOOK, IN PROCESSING ORDER</a:t>
            </a:r>
          </a:p>
        </p:txBody>
      </p:sp>
      <p:sp>
        <p:nvSpPr>
          <p:cNvPr id="1767" name="Text 1767"/>
          <p:cNvSpPr txBox="1"/>
          <p:nvPr/>
        </p:nvSpPr>
        <p:spPr>
          <a:xfrm>
            <a:off x="1033271" y="2670048"/>
            <a:ext cx="1097280" cy="237744"/>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050" b="1" i="0" dirty="0">
                <a:solidFill>
                  <a:srgbClr val="5B6770"/>
                </a:solidFill>
                <a:latin typeface="Consolas"/>
                <a:cs typeface="Consolas"/>
              </a:rPr>
              <a:t xml:space="preserve">LEVEL 0</a:t>
            </a:r>
          </a:p>
        </p:txBody>
      </p:sp>
      <p:sp>
        <p:nvSpPr>
          <p:cNvPr id="1768" name="Text 1768"/>
          <p:cNvSpPr/>
          <p:nvPr/>
        </p:nvSpPr>
        <p:spPr>
          <a:xfrm>
            <a:off x="1033271" y="2971800"/>
            <a:ext cx="1097280" cy="365760"/>
          </a:xfrm>
          <a:prstGeom prst="roundRect">
            <a:avLst>
              <a:gd name="adj" fmla="val 8000"/>
            </a:avLst>
          </a:prstGeom>
          <a:solidFill>
            <a:srgbClr val="E6F2EC"/>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Artist</a:t>
            </a:r>
          </a:p>
        </p:txBody>
      </p:sp>
      <p:sp>
        <p:nvSpPr>
          <p:cNvPr id="1769" name="Text 1769"/>
          <p:cNvSpPr/>
          <p:nvPr/>
        </p:nvSpPr>
        <p:spPr>
          <a:xfrm>
            <a:off x="1033271" y="3429000"/>
            <a:ext cx="1097280" cy="365760"/>
          </a:xfrm>
          <a:prstGeom prst="roundRect">
            <a:avLst>
              <a:gd name="adj" fmla="val 8000"/>
            </a:avLst>
          </a:prstGeom>
          <a:solidFill>
            <a:srgbClr val="E6F2EC"/>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Employee</a:t>
            </a:r>
          </a:p>
        </p:txBody>
      </p:sp>
      <p:sp>
        <p:nvSpPr>
          <p:cNvPr id="1770" name="Text 1770"/>
          <p:cNvSpPr/>
          <p:nvPr/>
        </p:nvSpPr>
        <p:spPr>
          <a:xfrm>
            <a:off x="1033271" y="3886200"/>
            <a:ext cx="1097280" cy="365760"/>
          </a:xfrm>
          <a:prstGeom prst="roundRect">
            <a:avLst>
              <a:gd name="adj" fmla="val 8000"/>
            </a:avLst>
          </a:prstGeom>
          <a:solidFill>
            <a:srgbClr val="E6F2EC"/>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Genre</a:t>
            </a:r>
          </a:p>
        </p:txBody>
      </p:sp>
      <p:sp>
        <p:nvSpPr>
          <p:cNvPr id="1771" name="Text 1771"/>
          <p:cNvSpPr/>
          <p:nvPr/>
        </p:nvSpPr>
        <p:spPr>
          <a:xfrm>
            <a:off x="1033271" y="4343400"/>
            <a:ext cx="1097280" cy="365760"/>
          </a:xfrm>
          <a:prstGeom prst="roundRect">
            <a:avLst>
              <a:gd name="adj" fmla="val 8000"/>
            </a:avLst>
          </a:prstGeom>
          <a:solidFill>
            <a:srgbClr val="E6F2EC"/>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MediaType</a:t>
            </a:r>
          </a:p>
        </p:txBody>
      </p:sp>
      <p:sp>
        <p:nvSpPr>
          <p:cNvPr id="1772" name="Text 1772"/>
          <p:cNvSpPr/>
          <p:nvPr/>
        </p:nvSpPr>
        <p:spPr>
          <a:xfrm>
            <a:off x="1033271" y="4800600"/>
            <a:ext cx="1097280" cy="365760"/>
          </a:xfrm>
          <a:prstGeom prst="roundRect">
            <a:avLst>
              <a:gd name="adj" fmla="val 8000"/>
            </a:avLst>
          </a:prstGeom>
          <a:solidFill>
            <a:srgbClr val="E6F2EC"/>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Playlist</a:t>
            </a:r>
          </a:p>
        </p:txBody>
      </p:sp>
      <p:sp>
        <p:nvSpPr>
          <p:cNvPr id="1773" name="Text 1773"/>
          <p:cNvSpPr txBox="1"/>
          <p:nvPr/>
        </p:nvSpPr>
        <p:spPr>
          <a:xfrm>
            <a:off x="2249424" y="2670048"/>
            <a:ext cx="1097280" cy="237744"/>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050" b="1" i="0" dirty="0">
                <a:solidFill>
                  <a:srgbClr val="5B6770"/>
                </a:solidFill>
                <a:latin typeface="Consolas"/>
                <a:cs typeface="Consolas"/>
              </a:rPr>
              <a:t xml:space="preserve">LEVEL 1</a:t>
            </a:r>
          </a:p>
        </p:txBody>
      </p:sp>
      <p:sp>
        <p:nvSpPr>
          <p:cNvPr id="1774" name="Text 1774"/>
          <p:cNvSpPr/>
          <p:nvPr/>
        </p:nvSpPr>
        <p:spPr>
          <a:xfrm>
            <a:off x="2249424" y="29718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Album</a:t>
            </a:r>
          </a:p>
        </p:txBody>
      </p:sp>
      <p:sp>
        <p:nvSpPr>
          <p:cNvPr id="1775" name="Text 1775"/>
          <p:cNvSpPr/>
          <p:nvPr/>
        </p:nvSpPr>
        <p:spPr>
          <a:xfrm>
            <a:off x="2249424" y="34290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Customer</a:t>
            </a:r>
          </a:p>
        </p:txBody>
      </p:sp>
      <p:sp>
        <p:nvSpPr>
          <p:cNvPr id="1776" name="Text 1776"/>
          <p:cNvSpPr txBox="1"/>
          <p:nvPr/>
        </p:nvSpPr>
        <p:spPr>
          <a:xfrm>
            <a:off x="3465576" y="2670048"/>
            <a:ext cx="1097280" cy="237744"/>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050" b="1" i="0" dirty="0">
                <a:solidFill>
                  <a:srgbClr val="5B6770"/>
                </a:solidFill>
                <a:latin typeface="Consolas"/>
                <a:cs typeface="Consolas"/>
              </a:rPr>
              <a:t xml:space="preserve">LEVEL 2</a:t>
            </a:r>
          </a:p>
        </p:txBody>
      </p:sp>
      <p:sp>
        <p:nvSpPr>
          <p:cNvPr id="1777" name="Text 1777"/>
          <p:cNvSpPr/>
          <p:nvPr/>
        </p:nvSpPr>
        <p:spPr>
          <a:xfrm>
            <a:off x="3465576" y="29718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Track</a:t>
            </a:r>
          </a:p>
        </p:txBody>
      </p:sp>
      <p:sp>
        <p:nvSpPr>
          <p:cNvPr id="1778" name="Text 1778"/>
          <p:cNvSpPr/>
          <p:nvPr/>
        </p:nvSpPr>
        <p:spPr>
          <a:xfrm>
            <a:off x="3465576" y="34290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Invoice</a:t>
            </a:r>
          </a:p>
        </p:txBody>
      </p:sp>
      <p:sp>
        <p:nvSpPr>
          <p:cNvPr id="1779" name="Text 1779"/>
          <p:cNvSpPr txBox="1"/>
          <p:nvPr/>
        </p:nvSpPr>
        <p:spPr>
          <a:xfrm>
            <a:off x="4681728" y="2670048"/>
            <a:ext cx="1097280" cy="237744"/>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050" b="1" i="0" dirty="0">
                <a:solidFill>
                  <a:srgbClr val="5B6770"/>
                </a:solidFill>
                <a:latin typeface="Consolas"/>
                <a:cs typeface="Consolas"/>
              </a:rPr>
              <a:t xml:space="preserve">LEVEL 3</a:t>
            </a:r>
          </a:p>
        </p:txBody>
      </p:sp>
      <p:sp>
        <p:nvSpPr>
          <p:cNvPr id="1780" name="Text 1780"/>
          <p:cNvSpPr/>
          <p:nvPr/>
        </p:nvSpPr>
        <p:spPr>
          <a:xfrm>
            <a:off x="4681728" y="29718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InvoiceLine</a:t>
            </a:r>
          </a:p>
        </p:txBody>
      </p:sp>
      <p:sp>
        <p:nvSpPr>
          <p:cNvPr id="1781" name="Text 1781"/>
          <p:cNvSpPr/>
          <p:nvPr/>
        </p:nvSpPr>
        <p:spPr>
          <a:xfrm>
            <a:off x="4681728" y="3429000"/>
            <a:ext cx="1097280" cy="365760"/>
          </a:xfrm>
          <a:prstGeom prst="roundRect">
            <a:avLst>
              <a:gd name="adj" fmla="val 8000"/>
            </a:avLst>
          </a:prstGeom>
          <a:solidFill>
            <a:srgbClr val="F3F5F4"/>
          </a:solidFill>
          <a:ln w="9525">
            <a:solidFill>
              <a:srgbClr val="D9DEDB"/>
            </a:solidFill>
          </a:ln>
        </p:spPr>
        <p:txBody>
          <a:bodyPr wrap="square" lIns="0" tIns="0" rIns="0" bIns="0" anchor="ctr">
            <a:noAutofit/>
          </a:bodyPr>
          <a:lstStyle/>
          <a:p>
            <a:pPr algn="ctr" marL="0" indent="0">
              <a:spcBef>
                <a:spcPts val="0"/>
              </a:spcBef>
              <a:spcAft>
                <a:spcPts val="0"/>
              </a:spcAft>
              <a:buNone/>
            </a:pPr>
            <a:r>
              <a:rPr lang="en-US" sz="1150" b="1" i="0" dirty="0">
                <a:solidFill>
                  <a:srgbClr val="1F2328"/>
                </a:solidFill>
                <a:latin typeface="Calibri"/>
                <a:cs typeface="Calibri"/>
              </a:rPr>
              <a:t xml:space="preserve">PlaylistTrack</a:t>
            </a:r>
          </a:p>
        </p:txBody>
      </p:sp>
      <p:sp>
        <p:nvSpPr>
          <p:cNvPr id="1782" name="Text 1782"/>
          <p:cNvSpPr txBox="1"/>
          <p:nvPr/>
        </p:nvSpPr>
        <p:spPr>
          <a:xfrm>
            <a:off x="1033271" y="5230368"/>
            <a:ext cx="4754880" cy="32004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00" b="0" i="1" dirty="0">
                <a:solidFill>
                  <a:srgbClr val="3A434C"/>
                </a:solidFill>
                <a:latin typeface="Calibri"/>
                <a:cs typeface="Calibri"/>
              </a:rPr>
              <a:t xml:space="preserve">Track waits for Album, Genre and MediaType.</a:t>
            </a:r>
          </a:p>
        </p:txBody>
      </p:sp>
      <p:sp>
        <p:nvSpPr>
          <p:cNvPr id="1783" name="Card 1783"/>
          <p:cNvSpPr/>
          <p:nvPr/>
        </p:nvSpPr>
        <p:spPr>
          <a:xfrm>
            <a:off x="6217920" y="2212848"/>
            <a:ext cx="5166360" cy="342900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84" name="Card label 1784"/>
          <p:cNvSpPr txBox="1"/>
          <p:nvPr/>
        </p:nvSpPr>
        <p:spPr>
          <a:xfrm>
            <a:off x="6446520" y="2359152"/>
            <a:ext cx="470916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WHY</a:t>
            </a:r>
          </a:p>
        </p:txBody>
      </p:sp>
      <p:sp>
        <p:nvSpPr>
          <p:cNvPr id="1785" name="Bullets 1785"/>
          <p:cNvSpPr txBox="1"/>
          <p:nvPr/>
        </p:nvSpPr>
        <p:spPr>
          <a:xfrm>
            <a:off x="6446520" y="2651760"/>
            <a:ext cx="4754880" cy="2926080"/>
          </a:xfrm>
          <a:prstGeom prst="rect">
            <a:avLst/>
          </a:prstGeom>
          <a:noFill/>
          <a:ln>
            <a:noFill/>
          </a:ln>
        </p:spPr>
        <p:txBody>
          <a:bodyPr wrap="square" lIns="0" tIns="0" rIns="0" bIns="0" anchor="t">
            <a:noAutofit/>
          </a:bodyPr>
          <a:lstStyle/>
          <a:p>
            <a:pPr algn="l" marL="228600" indent="-228600">
              <a:spcBef>
                <a:spcPts val="0"/>
              </a:spcBef>
              <a:spcAft>
                <a:spcPts val="300"/>
              </a:spcAft>
              <a:buFont typeface="Arial"/>
              <a:buChar char="•"/>
            </a:pPr>
            <a:r>
              <a:rPr lang="en-US" sz="1200" b="1" i="0" dirty="0">
                <a:solidFill>
                  <a:srgbClr val="1F2328"/>
                </a:solidFill>
                <a:latin typeface="Calibri"/>
                <a:cs typeface="Calibri"/>
              </a:rPr>
              <a:t xml:space="preserve">Reuse: </a:t>
            </a:r>
            <a:r>
              <a:rPr lang="en-US" sz="1200" b="0" i="0" dirty="0">
                <a:solidFill>
                  <a:srgbClr val="3A434C"/>
                </a:solidFill>
                <a:latin typeface="Calibri"/>
                <a:cs typeface="Calibri"/>
              </a:rPr>
              <a:t xml:space="preserve">the classes a table points to already exist, so the LLM links to their IRIs instead of inventing new ones</a:t>
            </a:r>
          </a:p>
          <a:p>
            <a:pPr algn="l" marL="228600" indent="-228600">
              <a:spcBef>
                <a:spcPts val="0"/>
              </a:spcBef>
              <a:spcAft>
                <a:spcPts val="300"/>
              </a:spcAft>
              <a:buFont typeface="Arial"/>
              <a:buChar char="•"/>
            </a:pPr>
            <a:r>
              <a:rPr lang="en-US" sz="1200" b="1" i="0" dirty="0">
                <a:solidFill>
                  <a:srgbClr val="1F2328"/>
                </a:solidFill>
                <a:latin typeface="Calibri"/>
                <a:cs typeface="Calibri"/>
              </a:rPr>
              <a:t xml:space="preserve">Context: </a:t>
            </a:r>
            <a:r>
              <a:rPr lang="en-US" sz="1200" b="0" i="0" dirty="0">
                <a:solidFill>
                  <a:srgbClr val="3A434C"/>
                </a:solidFill>
                <a:latin typeface="Calibri"/>
                <a:cs typeface="Calibri"/>
              </a:rPr>
              <a:t xml:space="preserve">the parents' labels and comments are in the growing core, ready to retrieve</a:t>
            </a:r>
          </a:p>
          <a:p>
            <a:pPr algn="l" marL="228600" indent="-228600">
              <a:spcBef>
                <a:spcPts val="0"/>
              </a:spcBef>
              <a:spcAft>
                <a:spcPts val="300"/>
              </a:spcAft>
              <a:buFont typeface="Arial"/>
              <a:buChar char="•"/>
            </a:pPr>
            <a:r>
              <a:rPr lang="en-US" sz="1200" b="1" i="0" dirty="0">
                <a:solidFill>
                  <a:srgbClr val="1F2328"/>
                </a:solidFill>
                <a:latin typeface="Calibri"/>
                <a:cs typeface="Calibri"/>
              </a:rPr>
              <a:t xml:space="preserve">Reproducible: </a:t>
            </a:r>
            <a:r>
              <a:rPr lang="en-US" sz="1200" b="0" i="0" dirty="0">
                <a:solidFill>
                  <a:srgbClr val="3A434C"/>
                </a:solidFill>
                <a:latin typeface="Calibri"/>
                <a:cs typeface="Calibri"/>
              </a:rPr>
              <a:t xml:space="preserve">level by level, ties broken alphabetically</a:t>
            </a:r>
          </a:p>
          <a:p>
            <a:pPr algn="l" marL="228600" indent="-228600">
              <a:spcBef>
                <a:spcPts val="0"/>
              </a:spcBef>
              <a:spcAft>
                <a:spcPts val="300"/>
              </a:spcAft>
              <a:buFont typeface="Arial"/>
              <a:buChar char="•"/>
            </a:pPr>
            <a:r>
              <a:rPr lang="en-US" sz="1200" b="1" i="0" dirty="0">
                <a:solidFill>
                  <a:srgbClr val="1F2328"/>
                </a:solidFill>
                <a:latin typeface="Calibri"/>
                <a:cs typeface="Calibri"/>
              </a:rPr>
              <a:t xml:space="preserve">Cycles: </a:t>
            </a:r>
            <a:r>
              <a:rPr lang="en-US" sz="1200" b="0" i="0" dirty="0">
                <a:solidFill>
                  <a:srgbClr val="3A434C"/>
                </a:solidFill>
                <a:latin typeface="Calibri"/>
                <a:cs typeface="Calibri"/>
              </a:rPr>
              <a:t xml:space="preserve">a self-reference (Employee.ReportsTo) does not block the order and becomes a recursive relation; tables in a longer cycle are appended at the end</a:t>
            </a:r>
          </a:p>
        </p:txBody>
      </p:sp>
      <p:sp>
        <p:nvSpPr>
          <p:cNvPr id="1786" name="Strip 1786"/>
          <p:cNvSpPr/>
          <p:nvPr/>
        </p:nvSpPr>
        <p:spPr>
          <a:xfrm>
            <a:off x="804672" y="5779008"/>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Any parents-first order works; </a:t>
            </a:r>
            <a:r>
              <a:rPr lang="en-US" sz="1350" b="0" i="0" dirty="0">
                <a:solidFill>
                  <a:srgbClr val="3A434C"/>
                </a:solidFill>
                <a:latin typeface="Calibri"/>
                <a:cs typeface="Calibri"/>
              </a:rPr>
              <a:t xml:space="preserve">we chose breadth-first for level-by-level growth. We did not compare orders.</a:t>
            </a:r>
          </a:p>
        </p:txBody>
      </p:sp>
      <p:sp>
        <p:nvSpPr>
          <p:cNvPr id="1787" name="Source 1787"/>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3.1–3.2 (FK-BFS); app.py traverse_schema_fk_order; schema_chinook.json.</a:t>
            </a:r>
          </a:p>
        </p:txBody>
      </p:sp>
      <p:sp>
        <p:nvSpPr>
          <p:cNvPr id="1788" name="Back link 1788"/>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89" name="Slide number 1789"/>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B9</a:t>
            </a: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B10  /  METHOD</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What exactly does validation check?</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Fourteen Judge-LLM criteria in three severities, plus four deterministic graph checks.</a:t>
            </a:r>
          </a:p>
        </p:txBody>
      </p:sp>
      <p:sp>
        <p:nvSpPr>
          <p:cNvPr id="1765" name="Card 1765"/>
          <p:cNvSpPr/>
          <p:nvPr/>
        </p:nvSpPr>
        <p:spPr>
          <a:xfrm>
            <a:off x="804672" y="2212848"/>
            <a:ext cx="6675120" cy="347472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621792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JUDGE-LLM: 14 CRITERIA</a:t>
            </a:r>
          </a:p>
        </p:txBody>
      </p:sp>
      <p:sp>
        <p:nvSpPr>
          <p:cNvPr id="1767" name="Bullets 1767"/>
          <p:cNvSpPr txBox="1"/>
          <p:nvPr/>
        </p:nvSpPr>
        <p:spPr>
          <a:xfrm>
            <a:off x="1033271" y="2651760"/>
            <a:ext cx="6263640" cy="2971800"/>
          </a:xfrm>
          <a:prstGeom prst="rect">
            <a:avLst/>
          </a:prstGeom>
          <a:noFill/>
          <a:ln>
            <a:noFill/>
          </a:ln>
        </p:spPr>
        <p:txBody>
          <a:bodyPr wrap="square" lIns="0" tIns="0" rIns="0" bIns="0" anchor="t">
            <a:noAutofit/>
          </a:bodyPr>
          <a:lstStyle/>
          <a:p>
            <a:pPr algn="l" marL="228600" indent="-228600">
              <a:spcBef>
                <a:spcPts val="0"/>
              </a:spcBef>
              <a:spcAft>
                <a:spcPts val="400"/>
              </a:spcAft>
              <a:buFont typeface="Arial"/>
              <a:buChar char="•"/>
            </a:pPr>
            <a:r>
              <a:rPr lang="en-US" sz="1200" b="1" i="0" dirty="0">
                <a:solidFill>
                  <a:srgbClr val="1F2328"/>
                </a:solidFill>
                <a:latin typeface="Calibri"/>
                <a:cs typeface="Calibri"/>
              </a:rPr>
              <a:t xml:space="preserve">Critical: </a:t>
            </a:r>
            <a:r>
              <a:rPr lang="en-US" sz="1200" b="0" i="0" dirty="0">
                <a:solidFill>
                  <a:srgbClr val="3A434C"/>
                </a:solidFill>
                <a:latin typeface="Calibri"/>
                <a:cs typeface="Calibri"/>
              </a:rPr>
              <a:t xml:space="preserve">FK never a data property; no URI both object and data property; exactly one domain and range; valid XSD ranges; no self-loops unless recursive; keep the direct mapping's coverage and key restrictions</a:t>
            </a:r>
          </a:p>
          <a:p>
            <a:pPr algn="l" marL="228600" indent="-228600">
              <a:spcBef>
                <a:spcPts val="0"/>
              </a:spcBef>
              <a:spcAft>
                <a:spcPts val="400"/>
              </a:spcAft>
              <a:buFont typeface="Arial"/>
              <a:buChar char="•"/>
            </a:pPr>
            <a:r>
              <a:rPr lang="en-US" sz="1200" b="1" i="0" dirty="0">
                <a:solidFill>
                  <a:srgbClr val="1F2328"/>
                </a:solidFill>
                <a:latin typeface="Calibri"/>
                <a:cs typeface="Calibri"/>
              </a:rPr>
              <a:t xml:space="preserve">Important: </a:t>
            </a:r>
            <a:r>
              <a:rPr lang="en-US" sz="1200" b="0" i="0" dirty="0">
                <a:solidFill>
                  <a:srgbClr val="3A434C"/>
                </a:solidFill>
                <a:latin typeface="Calibri"/>
                <a:cs typeface="Calibri"/>
              </a:rPr>
              <a:t xml:space="preserve">English labels and comments; meanings of coded values; junction tables as relations; reuse core concepts; disjointness only when safe</a:t>
            </a:r>
          </a:p>
          <a:p>
            <a:pPr algn="l" marL="228600" indent="-228600">
              <a:spcBef>
                <a:spcPts val="0"/>
              </a:spcBef>
              <a:spcAft>
                <a:spcPts val="400"/>
              </a:spcAft>
              <a:buFont typeface="Arial"/>
              <a:buChar char="•"/>
            </a:pPr>
            <a:r>
              <a:rPr lang="en-US" sz="1200" b="1" i="0" dirty="0">
                <a:solidFill>
                  <a:srgbClr val="1F2328"/>
                </a:solidFill>
                <a:latin typeface="Calibri"/>
                <a:cs typeface="Calibri"/>
              </a:rPr>
              <a:t xml:space="preserve">Minor: </a:t>
            </a:r>
            <a:r>
              <a:rPr lang="en-US" sz="1200" b="0" i="0" dirty="0">
                <a:solidFill>
                  <a:srgbClr val="3A434C"/>
                </a:solidFill>
                <a:latin typeface="Calibri"/>
                <a:cs typeface="Calibri"/>
              </a:rPr>
              <a:t xml:space="preserve">external alignments; provenance on every element</a:t>
            </a:r>
          </a:p>
        </p:txBody>
      </p:sp>
      <p:sp>
        <p:nvSpPr>
          <p:cNvPr id="1768" name="Card 1768"/>
          <p:cNvSpPr/>
          <p:nvPr/>
        </p:nvSpPr>
        <p:spPr>
          <a:xfrm>
            <a:off x="7680960" y="2212848"/>
            <a:ext cx="3703320" cy="347472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9" name="Card label 1769"/>
          <p:cNvSpPr txBox="1"/>
          <p:nvPr/>
        </p:nvSpPr>
        <p:spPr>
          <a:xfrm>
            <a:off x="7909560" y="2359152"/>
            <a:ext cx="324612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GRAPH CHECKS (RULES)</a:t>
            </a:r>
          </a:p>
        </p:txBody>
      </p:sp>
      <p:sp>
        <p:nvSpPr>
          <p:cNvPr id="1770" name="Bullets 1770"/>
          <p:cNvSpPr txBox="1"/>
          <p:nvPr/>
        </p:nvSpPr>
        <p:spPr>
          <a:xfrm>
            <a:off x="7909560" y="2651760"/>
            <a:ext cx="3291840" cy="2971800"/>
          </a:xfrm>
          <a:prstGeom prst="rect">
            <a:avLst/>
          </a:prstGeom>
          <a:noFill/>
          <a:ln>
            <a:noFill/>
          </a:ln>
        </p:spPr>
        <p:txBody>
          <a:bodyPr wrap="square" lIns="0" tIns="0" rIns="0" bIns="0" anchor="t">
            <a:noAutofit/>
          </a:bodyPr>
          <a:lstStyle/>
          <a:p>
            <a:pPr algn="l" marL="228600" indent="-228600">
              <a:spcBef>
                <a:spcPts val="0"/>
              </a:spcBef>
              <a:spcAft>
                <a:spcPts val="500"/>
              </a:spcAft>
              <a:buFont typeface="Arial"/>
              <a:buChar char="•"/>
            </a:pPr>
            <a:r>
              <a:rPr lang="en-US" sz="1250" b="0" i="0" dirty="0">
                <a:solidFill>
                  <a:srgbClr val="3A434C"/>
                </a:solidFill>
                <a:latin typeface="Calibri"/>
                <a:cs typeface="Calibri"/>
              </a:rPr>
              <a:t xml:space="preserve">Type consistency</a:t>
            </a:r>
          </a:p>
          <a:p>
            <a:pPr algn="l" marL="228600" indent="-228600">
              <a:spcBef>
                <a:spcPts val="0"/>
              </a:spcBef>
              <a:spcAft>
                <a:spcPts val="500"/>
              </a:spcAft>
              <a:buFont typeface="Arial"/>
              <a:buChar char="•"/>
            </a:pPr>
            <a:r>
              <a:rPr lang="en-US" sz="1250" b="0" i="0" dirty="0">
                <a:solidFill>
                  <a:srgbClr val="3A434C"/>
                </a:solidFill>
                <a:latin typeface="Calibri"/>
                <a:cs typeface="Calibri"/>
              </a:rPr>
              <a:t xml:space="preserve">One domain and one range per property</a:t>
            </a:r>
          </a:p>
          <a:p>
            <a:pPr algn="l" marL="228600" indent="-228600">
              <a:spcBef>
                <a:spcPts val="0"/>
              </a:spcBef>
              <a:spcAft>
                <a:spcPts val="500"/>
              </a:spcAft>
              <a:buFont typeface="Arial"/>
              <a:buChar char="•"/>
            </a:pPr>
            <a:r>
              <a:rPr lang="en-US" sz="1250" b="0" i="0" dirty="0">
                <a:solidFill>
                  <a:srgbClr val="3A434C"/>
                </a:solidFill>
                <a:latin typeface="Calibri"/>
                <a:cs typeface="Calibri"/>
              </a:rPr>
              <a:t xml:space="preserve">XSD-only data ranges</a:t>
            </a:r>
          </a:p>
          <a:p>
            <a:pPr algn="l" marL="228600" indent="-228600">
              <a:spcBef>
                <a:spcPts val="0"/>
              </a:spcBef>
              <a:spcAft>
                <a:spcPts val="500"/>
              </a:spcAft>
              <a:buFont typeface="Arial"/>
              <a:buChar char="•"/>
            </a:pPr>
            <a:r>
              <a:rPr lang="en-US" sz="1250" b="0" i="0" dirty="0">
                <a:solidFill>
                  <a:srgbClr val="3A434C"/>
                </a:solidFill>
                <a:latin typeface="Calibri"/>
                <a:cs typeface="Calibri"/>
              </a:rPr>
              <a:t xml:space="preserve">Full schema coverage</a:t>
            </a:r>
          </a:p>
        </p:txBody>
      </p:sp>
      <p:sp>
        <p:nvSpPr>
          <p:cNvPr id="1771" name="Strip 1771"/>
          <p:cNvSpPr/>
          <p:nvPr/>
        </p:nvSpPr>
        <p:spPr>
          <a:xfrm>
            <a:off x="804672" y="5815584"/>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On failure: </a:t>
            </a:r>
            <a:r>
              <a:rPr lang="en-US" sz="1350" b="0" i="0" dirty="0">
                <a:solidFill>
                  <a:srgbClr val="3A434C"/>
                </a:solidFill>
                <a:latin typeface="Calibri"/>
                <a:cs typeface="Calibri"/>
              </a:rPr>
              <a:t xml:space="preserve">issues go back to the Gen-LLM (k = 2 retries); then the Judge-LLM keeps the better of its last version and the direct mapping.</a:t>
            </a:r>
          </a:p>
        </p:txBody>
      </p:sp>
      <p:sp>
        <p:nvSpPr>
          <p:cNvPr id="1772" name="Source 1772"/>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3.5, App. A.2 (Fig. 3), Algorithm 1.</a:t>
            </a:r>
          </a:p>
        </p:txBody>
      </p:sp>
      <p:sp>
        <p:nvSpPr>
          <p:cNvPr id="1773" name="Back link 1773"/>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74" name="Slide number 1774"/>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B10</a:t>
            </a: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B11  /  METHOD</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Why these settings?</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Each setting trades context against noise; values follow the literature or a small tuning run.</a:t>
            </a:r>
          </a:p>
        </p:txBody>
      </p:sp>
      <p:sp>
        <p:nvSpPr>
          <p:cNvPr id="1765" name="Cell 1765"/>
          <p:cNvSpPr txBox="1"/>
          <p:nvPr/>
        </p:nvSpPr>
        <p:spPr>
          <a:xfrm>
            <a:off x="877824" y="2212848"/>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CHOICE</a:t>
            </a:r>
          </a:p>
        </p:txBody>
      </p:sp>
      <p:sp>
        <p:nvSpPr>
          <p:cNvPr id="1766" name="Cell 1766"/>
          <p:cNvSpPr txBox="1"/>
          <p:nvPr/>
        </p:nvSpPr>
        <p:spPr>
          <a:xfrm>
            <a:off x="3255264" y="2212848"/>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VALUE</a:t>
            </a:r>
          </a:p>
        </p:txBody>
      </p:sp>
      <p:sp>
        <p:nvSpPr>
          <p:cNvPr id="1767" name="Cell 1767"/>
          <p:cNvSpPr txBox="1"/>
          <p:nvPr/>
        </p:nvSpPr>
        <p:spPr>
          <a:xfrm>
            <a:off x="6089904" y="2212848"/>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WHY</a:t>
            </a:r>
          </a:p>
        </p:txBody>
      </p:sp>
      <p:sp>
        <p:nvSpPr>
          <p:cNvPr id="1768" name="Rule 1768"/>
          <p:cNvSpPr/>
          <p:nvPr/>
        </p:nvSpPr>
        <p:spPr>
          <a:xfrm>
            <a:off x="804672" y="2642616"/>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69" name="Cell 1769"/>
          <p:cNvSpPr txBox="1"/>
          <p:nvPr/>
        </p:nvSpPr>
        <p:spPr>
          <a:xfrm>
            <a:off x="877824" y="2651760"/>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Seed</a:t>
            </a:r>
          </a:p>
        </p:txBody>
      </p:sp>
      <p:sp>
        <p:nvSpPr>
          <p:cNvPr id="1770" name="Cell 1770"/>
          <p:cNvSpPr txBox="1"/>
          <p:nvPr/>
        </p:nvSpPr>
        <p:spPr>
          <a:xfrm>
            <a:off x="3255264" y="2651760"/>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W3C Direct Mapping</a:t>
            </a:r>
          </a:p>
        </p:txBody>
      </p:sp>
      <p:sp>
        <p:nvSpPr>
          <p:cNvPr id="1771" name="Cell 1771"/>
          <p:cNvSpPr txBox="1"/>
          <p:nvPr/>
        </p:nvSpPr>
        <p:spPr>
          <a:xfrm>
            <a:off x="6089904" y="2651760"/>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every column is in the ontology before enrichment [Sequeda et al., WWW 2012]</a:t>
            </a:r>
          </a:p>
        </p:txBody>
      </p:sp>
      <p:sp>
        <p:nvSpPr>
          <p:cNvPr id="1772" name="Row 1772"/>
          <p:cNvSpPr/>
          <p:nvPr/>
        </p:nvSpPr>
        <p:spPr>
          <a:xfrm>
            <a:off x="804672" y="3090672"/>
            <a:ext cx="10579608" cy="438912"/>
          </a:xfrm>
          <a:prstGeom prst="rect">
            <a:avLst/>
          </a:prstGeom>
          <a:solidFill>
            <a:srgbClr val="F3F5F4"/>
          </a:solidFill>
          <a:ln>
            <a:noFill/>
          </a:ln>
        </p:spPr>
        <p:txBody>
          <a:bodyPr wrap="square" lIns="0" tIns="0" rIns="0" bIns="0" anchor="t">
            <a:noAutofit/>
          </a:bodyPr>
          <a:lstStyle/>
          <a:p>
            <a:endParaRPr lang="en-US"/>
          </a:p>
        </p:txBody>
      </p:sp>
      <p:sp>
        <p:nvSpPr>
          <p:cNvPr id="1773" name="Cell 1773"/>
          <p:cNvSpPr txBox="1"/>
          <p:nvPr/>
        </p:nvSpPr>
        <p:spPr>
          <a:xfrm>
            <a:off x="877824" y="3090672"/>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Order</a:t>
            </a:r>
          </a:p>
        </p:txBody>
      </p:sp>
      <p:sp>
        <p:nvSpPr>
          <p:cNvPr id="1774" name="Cell 1774"/>
          <p:cNvSpPr txBox="1"/>
          <p:nvPr/>
        </p:nvSpPr>
        <p:spPr>
          <a:xfrm>
            <a:off x="3255264" y="3090672"/>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foreign keys, breadth-first</a:t>
            </a:r>
          </a:p>
        </p:txBody>
      </p:sp>
      <p:sp>
        <p:nvSpPr>
          <p:cNvPr id="1775" name="Cell 1775"/>
          <p:cNvSpPr txBox="1"/>
          <p:nvPr/>
        </p:nvSpPr>
        <p:spPr>
          <a:xfrm>
            <a:off x="6089904" y="3090672"/>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parents before children (backup B9)</a:t>
            </a:r>
          </a:p>
        </p:txBody>
      </p:sp>
      <p:sp>
        <p:nvSpPr>
          <p:cNvPr id="1776" name="Cell 1776"/>
          <p:cNvSpPr txBox="1"/>
          <p:nvPr/>
        </p:nvSpPr>
        <p:spPr>
          <a:xfrm>
            <a:off x="877824" y="3529584"/>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Embeddings</a:t>
            </a:r>
          </a:p>
        </p:txBody>
      </p:sp>
      <p:sp>
        <p:nvSpPr>
          <p:cNvPr id="1777" name="Cell 1777"/>
          <p:cNvSpPr txBox="1"/>
          <p:nvPr/>
        </p:nvSpPr>
        <p:spPr>
          <a:xfrm>
            <a:off x="3255264" y="3529584"/>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all-MiniLM-L6-v2</a:t>
            </a:r>
          </a:p>
        </p:txBody>
      </p:sp>
      <p:sp>
        <p:nvSpPr>
          <p:cNvPr id="1778" name="Cell 1778"/>
          <p:cNvSpPr txBox="1"/>
          <p:nvPr/>
        </p:nvSpPr>
        <p:spPr>
          <a:xfrm>
            <a:off x="6089904" y="3529584"/>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strong on MTEB, light enough to re-index every iteration</a:t>
            </a:r>
          </a:p>
        </p:txBody>
      </p:sp>
      <p:sp>
        <p:nvSpPr>
          <p:cNvPr id="1779" name="Row 1779"/>
          <p:cNvSpPr/>
          <p:nvPr/>
        </p:nvSpPr>
        <p:spPr>
          <a:xfrm>
            <a:off x="804672" y="3968496"/>
            <a:ext cx="10579608" cy="438912"/>
          </a:xfrm>
          <a:prstGeom prst="rect">
            <a:avLst/>
          </a:prstGeom>
          <a:solidFill>
            <a:srgbClr val="F3F5F4"/>
          </a:solidFill>
          <a:ln>
            <a:noFill/>
          </a:ln>
        </p:spPr>
        <p:txBody>
          <a:bodyPr wrap="square" lIns="0" tIns="0" rIns="0" bIns="0" anchor="t">
            <a:noAutofit/>
          </a:bodyPr>
          <a:lstStyle/>
          <a:p>
            <a:endParaRPr lang="en-US"/>
          </a:p>
        </p:txBody>
      </p:sp>
      <p:sp>
        <p:nvSpPr>
          <p:cNvPr id="1780" name="Cell 1780"/>
          <p:cNvSpPr txBox="1"/>
          <p:nvPr/>
        </p:nvSpPr>
        <p:spPr>
          <a:xfrm>
            <a:off x="877824" y="3968496"/>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Retrieved items</a:t>
            </a:r>
          </a:p>
        </p:txBody>
      </p:sp>
      <p:sp>
        <p:nvSpPr>
          <p:cNvPr id="1781" name="Cell 1781"/>
          <p:cNvSpPr txBox="1"/>
          <p:nvPr/>
        </p:nvSpPr>
        <p:spPr>
          <a:xfrm>
            <a:off x="3255264" y="3968496"/>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k = 3 per source</a:t>
            </a:r>
          </a:p>
        </p:txBody>
      </p:sp>
      <p:sp>
        <p:nvSpPr>
          <p:cNvPr id="1782" name="Cell 1782"/>
          <p:cNvSpPr txBox="1"/>
          <p:nvPr/>
        </p:nvSpPr>
        <p:spPr>
          <a:xfrm>
            <a:off x="6089904" y="3968496"/>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enough context without crowding out the seed and instructions</a:t>
            </a:r>
          </a:p>
        </p:txBody>
      </p:sp>
      <p:sp>
        <p:nvSpPr>
          <p:cNvPr id="1783" name="Cell 1783"/>
          <p:cNvSpPr txBox="1"/>
          <p:nvPr/>
        </p:nvSpPr>
        <p:spPr>
          <a:xfrm>
            <a:off x="877824" y="4407408"/>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Match threshold</a:t>
            </a:r>
          </a:p>
        </p:txBody>
      </p:sp>
      <p:sp>
        <p:nvSpPr>
          <p:cNvPr id="1784" name="Cell 1784"/>
          <p:cNvSpPr txBox="1"/>
          <p:nvPr/>
        </p:nvSpPr>
        <p:spPr>
          <a:xfrm>
            <a:off x="3255264" y="4407408"/>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cosine ≥ 0.55</a:t>
            </a:r>
          </a:p>
        </p:txBody>
      </p:sp>
      <p:sp>
        <p:nvSpPr>
          <p:cNvPr id="1785" name="Cell 1785"/>
          <p:cNvSpPr txBox="1"/>
          <p:nvPr/>
        </p:nvSpPr>
        <p:spPr>
          <a:xfrm>
            <a:off x="6089904" y="4407408"/>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empirically tuned, as in prior work [Galli et al. 2024; Fathallah et al. 2024]</a:t>
            </a:r>
          </a:p>
        </p:txBody>
      </p:sp>
      <p:sp>
        <p:nvSpPr>
          <p:cNvPr id="1786" name="Row 1786"/>
          <p:cNvSpPr/>
          <p:nvPr/>
        </p:nvSpPr>
        <p:spPr>
          <a:xfrm>
            <a:off x="804672" y="4846320"/>
            <a:ext cx="10579608" cy="438912"/>
          </a:xfrm>
          <a:prstGeom prst="rect">
            <a:avLst/>
          </a:prstGeom>
          <a:solidFill>
            <a:srgbClr val="F3F5F4"/>
          </a:solidFill>
          <a:ln>
            <a:noFill/>
          </a:ln>
        </p:spPr>
        <p:txBody>
          <a:bodyPr wrap="square" lIns="0" tIns="0" rIns="0" bIns="0" anchor="t">
            <a:noAutofit/>
          </a:bodyPr>
          <a:lstStyle/>
          <a:p>
            <a:endParaRPr lang="en-US"/>
          </a:p>
        </p:txBody>
      </p:sp>
      <p:sp>
        <p:nvSpPr>
          <p:cNvPr id="1787" name="Cell 1787"/>
          <p:cNvSpPr txBox="1"/>
          <p:nvPr/>
        </p:nvSpPr>
        <p:spPr>
          <a:xfrm>
            <a:off x="877824" y="4846320"/>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Retries</a:t>
            </a:r>
          </a:p>
        </p:txBody>
      </p:sp>
      <p:sp>
        <p:nvSpPr>
          <p:cNvPr id="1788" name="Cell 1788"/>
          <p:cNvSpPr txBox="1"/>
          <p:nvPr/>
        </p:nvSpPr>
        <p:spPr>
          <a:xfrm>
            <a:off x="3255264" y="4846320"/>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k = 2</a:t>
            </a:r>
          </a:p>
        </p:txBody>
      </p:sp>
      <p:sp>
        <p:nvSpPr>
          <p:cNvPr id="1789" name="Cell 1789"/>
          <p:cNvSpPr txBox="1"/>
          <p:nvPr/>
        </p:nvSpPr>
        <p:spPr>
          <a:xfrm>
            <a:off x="6089904" y="4846320"/>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self-refinement gains fade after two rounds [Madaan et al. 2023; Shinn et al. 2023]</a:t>
            </a:r>
          </a:p>
        </p:txBody>
      </p:sp>
      <p:sp>
        <p:nvSpPr>
          <p:cNvPr id="1790" name="Cell 1790"/>
          <p:cNvSpPr txBox="1"/>
          <p:nvPr/>
        </p:nvSpPr>
        <p:spPr>
          <a:xfrm>
            <a:off x="877824" y="5285231"/>
            <a:ext cx="22311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1" i="0" dirty="0">
                <a:solidFill>
                  <a:srgbClr val="1F2328"/>
                </a:solidFill>
                <a:latin typeface="Calibri"/>
                <a:cs typeface="Calibri"/>
              </a:rPr>
              <a:t xml:space="preserve">Syntax</a:t>
            </a:r>
          </a:p>
        </p:txBody>
      </p:sp>
      <p:sp>
        <p:nvSpPr>
          <p:cNvPr id="1791" name="Cell 1791"/>
          <p:cNvSpPr txBox="1"/>
          <p:nvPr/>
        </p:nvSpPr>
        <p:spPr>
          <a:xfrm>
            <a:off x="3255264" y="5285231"/>
            <a:ext cx="2688336"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OWL 2 Manchester</a:t>
            </a:r>
          </a:p>
        </p:txBody>
      </p:sp>
      <p:sp>
        <p:nvSpPr>
          <p:cNvPr id="1792" name="Cell 1792"/>
          <p:cNvSpPr txBox="1"/>
          <p:nvPr/>
        </p:nvSpPr>
        <p:spPr>
          <a:xfrm>
            <a:off x="6089904" y="5285231"/>
            <a:ext cx="5221224" cy="438912"/>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200" b="0" i="0" dirty="0">
                <a:solidFill>
                  <a:srgbClr val="1F2328"/>
                </a:solidFill>
                <a:latin typeface="Calibri"/>
                <a:cs typeface="Calibri"/>
              </a:rPr>
              <a:t xml:space="preserve">readable for experts, generated reliably by LLMs</a:t>
            </a:r>
          </a:p>
        </p:txBody>
      </p:sp>
      <p:sp>
        <p:nvSpPr>
          <p:cNvPr id="1793" name="Source 1793"/>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3.2–3.5, 4.6.</a:t>
            </a:r>
          </a:p>
        </p:txBody>
      </p:sp>
      <p:sp>
        <p:nvSpPr>
          <p:cNvPr id="1794" name="Back link 1794"/>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5" name="Slide number 1795"/>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B11</a:t>
            </a: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B12  /  PRACTICE</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What does it cost, and does it scale?</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All nine RIGOR runs: about $34 and 11 hours; the small open model costs cents.</a:t>
            </a:r>
          </a:p>
        </p:txBody>
      </p:sp>
      <p:sp>
        <p:nvSpPr>
          <p:cNvPr id="1765" name="Cell 1765"/>
          <p:cNvSpPr txBox="1"/>
          <p:nvPr/>
        </p:nvSpPr>
        <p:spPr>
          <a:xfrm>
            <a:off x="877824" y="2212848"/>
            <a:ext cx="227685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DATABASE</a:t>
            </a:r>
          </a:p>
        </p:txBody>
      </p:sp>
      <p:sp>
        <p:nvSpPr>
          <p:cNvPr id="1766" name="Cell 1766"/>
          <p:cNvSpPr txBox="1"/>
          <p:nvPr/>
        </p:nvSpPr>
        <p:spPr>
          <a:xfrm>
            <a:off x="3300984" y="22128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CLAUDE OPUS 4.6</a:t>
            </a:r>
          </a:p>
        </p:txBody>
      </p:sp>
      <p:sp>
        <p:nvSpPr>
          <p:cNvPr id="1767" name="Cell 1767"/>
          <p:cNvSpPr txBox="1"/>
          <p:nvPr/>
        </p:nvSpPr>
        <p:spPr>
          <a:xfrm>
            <a:off x="6016752" y="22128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MISTRAL SMALL 24B</a:t>
            </a:r>
          </a:p>
        </p:txBody>
      </p:sp>
      <p:sp>
        <p:nvSpPr>
          <p:cNvPr id="1768" name="Cell 1768"/>
          <p:cNvSpPr txBox="1"/>
          <p:nvPr/>
        </p:nvSpPr>
        <p:spPr>
          <a:xfrm>
            <a:off x="8732520" y="2212848"/>
            <a:ext cx="2578608"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DEEPSEEK-V3</a:t>
            </a:r>
          </a:p>
        </p:txBody>
      </p:sp>
      <p:sp>
        <p:nvSpPr>
          <p:cNvPr id="1769" name="Rule 1769"/>
          <p:cNvSpPr/>
          <p:nvPr/>
        </p:nvSpPr>
        <p:spPr>
          <a:xfrm>
            <a:off x="804672" y="2660904"/>
            <a:ext cx="10579608" cy="10972"/>
          </a:xfrm>
          <a:prstGeom prst="rect">
            <a:avLst/>
          </a:prstGeom>
          <a:solidFill>
            <a:srgbClr val="9AA3A9"/>
          </a:solidFill>
          <a:ln>
            <a:noFill/>
          </a:ln>
        </p:spPr>
        <p:txBody>
          <a:bodyPr wrap="square" lIns="0" tIns="0" rIns="0" bIns="0" anchor="t">
            <a:noAutofit/>
          </a:bodyPr>
          <a:lstStyle/>
          <a:p>
            <a:endParaRPr lang="en-US"/>
          </a:p>
        </p:txBody>
      </p:sp>
      <p:sp>
        <p:nvSpPr>
          <p:cNvPr id="1770" name="Cell 1770"/>
          <p:cNvSpPr txBox="1"/>
          <p:nvPr/>
        </p:nvSpPr>
        <p:spPr>
          <a:xfrm>
            <a:off x="877824" y="2670048"/>
            <a:ext cx="227685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1" i="0" dirty="0">
                <a:solidFill>
                  <a:srgbClr val="1F2328"/>
                </a:solidFill>
                <a:latin typeface="Calibri"/>
                <a:cs typeface="Calibri"/>
              </a:rPr>
              <a:t xml:space="preserve">eICU-CRD · 31 tables</a:t>
            </a:r>
          </a:p>
        </p:txBody>
      </p:sp>
      <p:sp>
        <p:nvSpPr>
          <p:cNvPr id="1771" name="Cell 1771"/>
          <p:cNvSpPr txBox="1"/>
          <p:nvPr/>
        </p:nvSpPr>
        <p:spPr>
          <a:xfrm>
            <a:off x="3300984" y="26700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$21.30 · 182 min</a:t>
            </a:r>
          </a:p>
        </p:txBody>
      </p:sp>
      <p:sp>
        <p:nvSpPr>
          <p:cNvPr id="1772" name="Cell 1772"/>
          <p:cNvSpPr txBox="1"/>
          <p:nvPr/>
        </p:nvSpPr>
        <p:spPr>
          <a:xfrm>
            <a:off x="6016752" y="26700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$0.08 · 188 min</a:t>
            </a:r>
          </a:p>
        </p:txBody>
      </p:sp>
      <p:sp>
        <p:nvSpPr>
          <p:cNvPr id="1773" name="Cell 1773"/>
          <p:cNvSpPr txBox="1"/>
          <p:nvPr/>
        </p:nvSpPr>
        <p:spPr>
          <a:xfrm>
            <a:off x="8732520" y="2670048"/>
            <a:ext cx="2578608"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$0.18 · 21 min</a:t>
            </a:r>
          </a:p>
        </p:txBody>
      </p:sp>
      <p:sp>
        <p:nvSpPr>
          <p:cNvPr id="1774" name="Row 1774"/>
          <p:cNvSpPr/>
          <p:nvPr/>
        </p:nvSpPr>
        <p:spPr>
          <a:xfrm>
            <a:off x="804672" y="3127248"/>
            <a:ext cx="10579608" cy="457200"/>
          </a:xfrm>
          <a:prstGeom prst="rect">
            <a:avLst/>
          </a:prstGeom>
          <a:solidFill>
            <a:srgbClr val="F3F5F4"/>
          </a:solidFill>
          <a:ln>
            <a:noFill/>
          </a:ln>
        </p:spPr>
        <p:txBody>
          <a:bodyPr wrap="square" lIns="0" tIns="0" rIns="0" bIns="0" anchor="t">
            <a:noAutofit/>
          </a:bodyPr>
          <a:lstStyle/>
          <a:p>
            <a:endParaRPr lang="en-US"/>
          </a:p>
        </p:txBody>
      </p:sp>
      <p:sp>
        <p:nvSpPr>
          <p:cNvPr id="1775" name="Cell 1775"/>
          <p:cNvSpPr txBox="1"/>
          <p:nvPr/>
        </p:nvSpPr>
        <p:spPr>
          <a:xfrm>
            <a:off x="877824" y="3127248"/>
            <a:ext cx="227685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1" i="0" dirty="0">
                <a:solidFill>
                  <a:srgbClr val="1F2328"/>
                </a:solidFill>
                <a:latin typeface="Calibri"/>
                <a:cs typeface="Calibri"/>
              </a:rPr>
              <a:t xml:space="preserve">Liver Cancer · 16</a:t>
            </a:r>
          </a:p>
        </p:txBody>
      </p:sp>
      <p:sp>
        <p:nvSpPr>
          <p:cNvPr id="1776" name="Cell 1776"/>
          <p:cNvSpPr txBox="1"/>
          <p:nvPr/>
        </p:nvSpPr>
        <p:spPr>
          <a:xfrm>
            <a:off x="3300984" y="31272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$10.30 · 94 min</a:t>
            </a:r>
          </a:p>
        </p:txBody>
      </p:sp>
      <p:sp>
        <p:nvSpPr>
          <p:cNvPr id="1777" name="Cell 1777"/>
          <p:cNvSpPr txBox="1"/>
          <p:nvPr/>
        </p:nvSpPr>
        <p:spPr>
          <a:xfrm>
            <a:off x="6016752" y="31272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$0.02 · 21 min</a:t>
            </a:r>
          </a:p>
        </p:txBody>
      </p:sp>
      <p:sp>
        <p:nvSpPr>
          <p:cNvPr id="1778" name="Cell 1778"/>
          <p:cNvSpPr txBox="1"/>
          <p:nvPr/>
        </p:nvSpPr>
        <p:spPr>
          <a:xfrm>
            <a:off x="8732520" y="3127248"/>
            <a:ext cx="2578608"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$0.07 · 24 min</a:t>
            </a:r>
          </a:p>
        </p:txBody>
      </p:sp>
      <p:sp>
        <p:nvSpPr>
          <p:cNvPr id="1779" name="Cell 1779"/>
          <p:cNvSpPr txBox="1"/>
          <p:nvPr/>
        </p:nvSpPr>
        <p:spPr>
          <a:xfrm>
            <a:off x="877824" y="3584448"/>
            <a:ext cx="2276856" cy="457200"/>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1" i="0" dirty="0">
                <a:solidFill>
                  <a:srgbClr val="1F2328"/>
                </a:solidFill>
                <a:latin typeface="Calibri"/>
                <a:cs typeface="Calibri"/>
              </a:rPr>
              <a:t xml:space="preserve">Chinook · 11</a:t>
            </a:r>
          </a:p>
        </p:txBody>
      </p:sp>
      <p:sp>
        <p:nvSpPr>
          <p:cNvPr id="1780" name="Cell 1780"/>
          <p:cNvSpPr txBox="1"/>
          <p:nvPr/>
        </p:nvSpPr>
        <p:spPr>
          <a:xfrm>
            <a:off x="3300984" y="35844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$1.28 · 9 min</a:t>
            </a:r>
          </a:p>
        </p:txBody>
      </p:sp>
      <p:sp>
        <p:nvSpPr>
          <p:cNvPr id="1781" name="Cell 1781"/>
          <p:cNvSpPr txBox="1"/>
          <p:nvPr/>
        </p:nvSpPr>
        <p:spPr>
          <a:xfrm>
            <a:off x="6016752" y="3584448"/>
            <a:ext cx="2569464"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$0.02 · 65 min</a:t>
            </a:r>
          </a:p>
        </p:txBody>
      </p:sp>
      <p:sp>
        <p:nvSpPr>
          <p:cNvPr id="1782" name="Cell 1782"/>
          <p:cNvSpPr txBox="1"/>
          <p:nvPr/>
        </p:nvSpPr>
        <p:spPr>
          <a:xfrm>
            <a:off x="8732520" y="3584448"/>
            <a:ext cx="2578608" cy="457200"/>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$0.03 · 12 min</a:t>
            </a:r>
          </a:p>
        </p:txBody>
      </p:sp>
      <p:sp>
        <p:nvSpPr>
          <p:cNvPr id="1783" name="Strip 1783"/>
          <p:cNvSpPr/>
          <p:nvPr/>
        </p:nvSpPr>
        <p:spPr>
          <a:xfrm>
            <a:off x="804672" y="4087368"/>
            <a:ext cx="10579608" cy="420624"/>
          </a:xfrm>
          <a:prstGeom prst="roundRect">
            <a:avLst>
              <a:gd name="adj" fmla="val 8000"/>
            </a:avLst>
          </a:prstGeom>
          <a:solidFill>
            <a:srgbClr val="E6F2EC"/>
          </a:solidFill>
          <a:ln>
            <a:noFill/>
          </a:ln>
        </p:spPr>
        <p:txBody>
          <a:bodyPr wrap="square" lIns="201168" tIns="100584" rIns="201168" bIns="100584" anchor="ctr">
            <a:noAutofit/>
          </a:bodyPr>
          <a:lstStyle/>
          <a:p>
            <a:pPr algn="l" marL="0" indent="0">
              <a:spcBef>
                <a:spcPts val="0"/>
              </a:spcBef>
              <a:spcAft>
                <a:spcPts val="0"/>
              </a:spcAft>
              <a:buNone/>
            </a:pPr>
            <a:r>
              <a:rPr lang="en-US" sz="1350" b="1" i="0" dirty="0">
                <a:solidFill>
                  <a:srgbClr val="0B6E4F"/>
                </a:solidFill>
                <a:latin typeface="Calibri"/>
                <a:cs typeface="Calibri"/>
              </a:rPr>
              <a:t xml:space="preserve">All nine runs: </a:t>
            </a:r>
            <a:r>
              <a:rPr lang="en-US" sz="1350" b="0" i="0" dirty="0">
                <a:solidFill>
                  <a:srgbClr val="3A434C"/>
                </a:solidFill>
                <a:latin typeface="Calibri"/>
                <a:cs typeface="Calibri"/>
              </a:rPr>
              <a:t xml:space="preserve">651 requests · 5.3 M tokens · $34.28 · 11.4 hours</a:t>
            </a:r>
          </a:p>
        </p:txBody>
      </p:sp>
      <p:sp>
        <p:nvSpPr>
          <p:cNvPr id="1784" name="Bullets 1784"/>
          <p:cNvSpPr txBox="1"/>
          <p:nvPr/>
        </p:nvSpPr>
        <p:spPr>
          <a:xfrm>
            <a:off x="896112" y="4709160"/>
            <a:ext cx="10424160" cy="1005840"/>
          </a:xfrm>
          <a:prstGeom prst="rect">
            <a:avLst/>
          </a:prstGeom>
          <a:noFill/>
          <a:ln>
            <a:noFill/>
          </a:ln>
        </p:spPr>
        <p:txBody>
          <a:bodyPr wrap="square" lIns="0" tIns="0" rIns="0" bIns="0" anchor="t">
            <a:noAutofit/>
          </a:bodyPr>
          <a:lstStyle/>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Scales with the number of tables: </a:t>
            </a:r>
            <a:r>
              <a:rPr lang="en-US" sz="1250" b="0" i="0" dirty="0">
                <a:solidFill>
                  <a:srgbClr val="3A434C"/>
                </a:solidFill>
                <a:latin typeface="Calibri"/>
                <a:cs typeface="Calibri"/>
              </a:rPr>
              <a:t xml:space="preserve">one prompt per table, and k = 3 items per source keep each prompt bounded as the core grows</a:t>
            </a:r>
          </a:p>
          <a:p>
            <a:pPr algn="l" marL="228600" indent="-228600">
              <a:spcBef>
                <a:spcPts val="0"/>
              </a:spcBef>
              <a:spcAft>
                <a:spcPts val="300"/>
              </a:spcAft>
              <a:buFont typeface="Arial"/>
              <a:buChar char="•"/>
            </a:pPr>
            <a:r>
              <a:rPr lang="en-US" sz="1250" b="1" i="0" dirty="0">
                <a:solidFill>
                  <a:srgbClr val="1F2328"/>
                </a:solidFill>
                <a:latin typeface="Calibri"/>
                <a:cs typeface="Calibri"/>
              </a:rPr>
              <a:t xml:space="preserve">Privacy: </a:t>
            </a:r>
            <a:r>
              <a:rPr lang="en-US" sz="1250" b="0" i="0" dirty="0">
                <a:solidFill>
                  <a:srgbClr val="3A434C"/>
                </a:solidFill>
                <a:latin typeface="Calibri"/>
                <a:cs typeface="Calibri"/>
              </a:rPr>
              <a:t xml:space="preserve">only the schema and documentation are sent, never patient rows; Mistral Small 24B can run on-premises and reaches 95–99% coverage with RIGOR</a:t>
            </a:r>
          </a:p>
        </p:txBody>
      </p:sp>
      <p:sp>
        <p:nvSpPr>
          <p:cNvPr id="1785" name="Source 1785"/>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Table 15 (runtime includes Gen-LLM and Judge-LLM calls), Table 9.</a:t>
            </a:r>
          </a:p>
        </p:txBody>
      </p:sp>
      <p:sp>
        <p:nvSpPr>
          <p:cNvPr id="1786" name="Back link 1786"/>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87" name="Slide number 1787"/>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B12</a:t>
            </a: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B13  /  PRACTICE</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BURR: setup, and why not compare with Gemini?</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ISWC scenario, mappings recovered from RIGOR's provenance; Gemini is a mapping generator.</a:t>
            </a:r>
          </a:p>
        </p:txBody>
      </p:sp>
      <p:sp>
        <p:nvSpPr>
          <p:cNvPr id="1765" name="Card 1765"/>
          <p:cNvSpPr/>
          <p:nvPr/>
        </p:nvSpPr>
        <p:spPr>
          <a:xfrm>
            <a:off x="804672" y="2212848"/>
            <a:ext cx="4663440" cy="347472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4206240"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SETUP</a:t>
            </a:r>
          </a:p>
        </p:txBody>
      </p:sp>
      <p:sp>
        <p:nvSpPr>
          <p:cNvPr id="1767" name="Bullets 1767"/>
          <p:cNvSpPr txBox="1"/>
          <p:nvPr/>
        </p:nvSpPr>
        <p:spPr>
          <a:xfrm>
            <a:off x="1033271" y="2651760"/>
            <a:ext cx="4251960" cy="2971800"/>
          </a:xfrm>
          <a:prstGeom prst="rect">
            <a:avLst/>
          </a:prstGeom>
          <a:noFill/>
          <a:ln>
            <a:noFill/>
          </a:ln>
        </p:spPr>
        <p:txBody>
          <a:bodyPr wrap="square" lIns="0" tIns="0" rIns="0" bIns="0" anchor="t">
            <a:noAutofit/>
          </a:bodyPr>
          <a:lstStyle/>
          <a:p>
            <a:pPr algn="l" marL="228600" indent="-228600">
              <a:spcBef>
                <a:spcPts val="0"/>
              </a:spcBef>
              <a:spcAft>
                <a:spcPts val="400"/>
              </a:spcAft>
              <a:buFont typeface="Arial"/>
              <a:buChar char="•"/>
            </a:pPr>
            <a:r>
              <a:rPr lang="en-US" sz="1200" b="0" i="0" dirty="0">
                <a:solidFill>
                  <a:srgbClr val="3A434C"/>
                </a:solidFill>
                <a:latin typeface="Calibri"/>
                <a:cs typeface="Calibri"/>
              </a:rPr>
              <a:t xml:space="preserve">ISWC scenario: 9 tables, 46 columns, 11 foreign keys</a:t>
            </a:r>
          </a:p>
          <a:p>
            <a:pPr algn="l" marL="228600" indent="-228600">
              <a:spcBef>
                <a:spcPts val="0"/>
              </a:spcBef>
              <a:spcAft>
                <a:spcPts val="400"/>
              </a:spcAft>
              <a:buFont typeface="Arial"/>
              <a:buChar char="•"/>
            </a:pPr>
            <a:r>
              <a:rPr lang="en-US" sz="1200" b="0" i="0" dirty="0">
                <a:solidFill>
                  <a:srgbClr val="3A434C"/>
                </a:solidFill>
                <a:latin typeface="Calibri"/>
                <a:cs typeface="Calibri"/>
              </a:rPr>
              <a:t xml:space="preserve">RIGOR with Claude; documentation by GPT-5.4; SWRC and BIBO as external ontologies</a:t>
            </a:r>
          </a:p>
          <a:p>
            <a:pPr algn="l" marL="228600" indent="-228600">
              <a:spcBef>
                <a:spcPts val="0"/>
              </a:spcBef>
              <a:spcAft>
                <a:spcPts val="400"/>
              </a:spcAft>
              <a:buFont typeface="Arial"/>
              <a:buChar char="•"/>
            </a:pPr>
            <a:r>
              <a:rPr lang="en-US" sz="1200" b="1" i="0" dirty="0">
                <a:solidFill>
                  <a:srgbClr val="1F2328"/>
                </a:solidFill>
                <a:latin typeface="Calibri"/>
                <a:cs typeface="Calibri"/>
              </a:rPr>
              <a:t xml:space="preserve">Mappings come from provenance: </a:t>
            </a:r>
            <a:r>
              <a:rPr lang="en-US" sz="1200" b="0" i="0" dirty="0">
                <a:solidFill>
                  <a:srgbClr val="3A434C"/>
                </a:solidFill>
                <a:latin typeface="Calibri"/>
                <a:cs typeface="Calibri"/>
              </a:rPr>
              <a:t xml:space="preserve">prov:wasDerivedFrom exported as a D2RQ mapping</a:t>
            </a:r>
          </a:p>
          <a:p>
            <a:pPr algn="l" marL="228600" indent="-228600">
              <a:spcBef>
                <a:spcPts val="0"/>
              </a:spcBef>
              <a:spcAft>
                <a:spcPts val="400"/>
              </a:spcAft>
              <a:buFont typeface="Arial"/>
              <a:buChar char="•"/>
            </a:pPr>
            <a:r>
              <a:rPr lang="en-US" sz="1200" b="0" i="0" dirty="0">
                <a:solidFill>
                  <a:srgbClr val="3A434C"/>
                </a:solidFill>
                <a:latin typeface="Calibri"/>
                <a:cs typeface="Calibri"/>
              </a:rPr>
              <a:t xml:space="preserve">F1 against the gold mapping, per element type</a:t>
            </a:r>
          </a:p>
        </p:txBody>
      </p:sp>
      <p:sp>
        <p:nvSpPr>
          <p:cNvPr id="1768" name="Cell 1768"/>
          <p:cNvSpPr txBox="1"/>
          <p:nvPr/>
        </p:nvSpPr>
        <p:spPr>
          <a:xfrm>
            <a:off x="5742432" y="2212848"/>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100" b="1" i="0" dirty="0">
                <a:solidFill>
                  <a:srgbClr val="2F6B78"/>
                </a:solidFill>
                <a:latin typeface="Consolas"/>
                <a:cs typeface="Consolas"/>
              </a:rPr>
              <a:t xml:space="preserve">SYSTEM</a:t>
            </a:r>
          </a:p>
        </p:txBody>
      </p:sp>
      <p:sp>
        <p:nvSpPr>
          <p:cNvPr id="1769" name="Cell 1769"/>
          <p:cNvSpPr txBox="1"/>
          <p:nvPr/>
        </p:nvSpPr>
        <p:spPr>
          <a:xfrm>
            <a:off x="8074152" y="2212848"/>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CLASSES</a:t>
            </a:r>
          </a:p>
        </p:txBody>
      </p:sp>
      <p:sp>
        <p:nvSpPr>
          <p:cNvPr id="1770" name="Cell 1770"/>
          <p:cNvSpPr txBox="1"/>
          <p:nvPr/>
        </p:nvSpPr>
        <p:spPr>
          <a:xfrm>
            <a:off x="9171432" y="2212848"/>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RELATIONS</a:t>
            </a:r>
          </a:p>
        </p:txBody>
      </p:sp>
      <p:sp>
        <p:nvSpPr>
          <p:cNvPr id="1771" name="Cell 1771"/>
          <p:cNvSpPr txBox="1"/>
          <p:nvPr/>
        </p:nvSpPr>
        <p:spPr>
          <a:xfrm>
            <a:off x="10268711" y="2212848"/>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100" b="1" i="0" dirty="0">
                <a:solidFill>
                  <a:srgbClr val="2F6B78"/>
                </a:solidFill>
                <a:latin typeface="Consolas"/>
                <a:cs typeface="Consolas"/>
              </a:rPr>
              <a:t xml:space="preserve">ATTRIBUTES</a:t>
            </a:r>
          </a:p>
        </p:txBody>
      </p:sp>
      <p:sp>
        <p:nvSpPr>
          <p:cNvPr id="1772" name="Rule 1772"/>
          <p:cNvSpPr/>
          <p:nvPr/>
        </p:nvSpPr>
        <p:spPr>
          <a:xfrm>
            <a:off x="5669280" y="2624328"/>
            <a:ext cx="5715000" cy="10972"/>
          </a:xfrm>
          <a:prstGeom prst="rect">
            <a:avLst/>
          </a:prstGeom>
          <a:solidFill>
            <a:srgbClr val="9AA3A9"/>
          </a:solidFill>
          <a:ln>
            <a:noFill/>
          </a:ln>
        </p:spPr>
        <p:txBody>
          <a:bodyPr wrap="square" lIns="0" tIns="0" rIns="0" bIns="0" anchor="t">
            <a:noAutofit/>
          </a:bodyPr>
          <a:lstStyle/>
          <a:p>
            <a:endParaRPr lang="en-US"/>
          </a:p>
        </p:txBody>
      </p:sp>
      <p:sp>
        <p:nvSpPr>
          <p:cNvPr id="1773" name="Cell 1773"/>
          <p:cNvSpPr txBox="1"/>
          <p:nvPr/>
        </p:nvSpPr>
        <p:spPr>
          <a:xfrm>
            <a:off x="5742432" y="2633472"/>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W3C-Mapper / Ontop</a:t>
            </a:r>
          </a:p>
        </p:txBody>
      </p:sp>
      <p:sp>
        <p:nvSpPr>
          <p:cNvPr id="1774" name="Cell 1774"/>
          <p:cNvSpPr txBox="1"/>
          <p:nvPr/>
        </p:nvSpPr>
        <p:spPr>
          <a:xfrm>
            <a:off x="8074152" y="2633472"/>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0.53</a:t>
            </a:r>
          </a:p>
        </p:txBody>
      </p:sp>
      <p:sp>
        <p:nvSpPr>
          <p:cNvPr id="1775" name="Cell 1775"/>
          <p:cNvSpPr txBox="1"/>
          <p:nvPr/>
        </p:nvSpPr>
        <p:spPr>
          <a:xfrm>
            <a:off x="9171432" y="2633472"/>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0.11</a:t>
            </a:r>
          </a:p>
        </p:txBody>
      </p:sp>
      <p:sp>
        <p:nvSpPr>
          <p:cNvPr id="1776" name="Cell 1776"/>
          <p:cNvSpPr txBox="1"/>
          <p:nvPr/>
        </p:nvSpPr>
        <p:spPr>
          <a:xfrm>
            <a:off x="10268711" y="2633472"/>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0.39</a:t>
            </a:r>
          </a:p>
        </p:txBody>
      </p:sp>
      <p:sp>
        <p:nvSpPr>
          <p:cNvPr id="1777" name="Row 1777"/>
          <p:cNvSpPr/>
          <p:nvPr/>
        </p:nvSpPr>
        <p:spPr>
          <a:xfrm>
            <a:off x="5669280" y="3054096"/>
            <a:ext cx="5715000" cy="420624"/>
          </a:xfrm>
          <a:prstGeom prst="rect">
            <a:avLst/>
          </a:prstGeom>
          <a:solidFill>
            <a:srgbClr val="F3F5F4"/>
          </a:solidFill>
          <a:ln>
            <a:noFill/>
          </a:ln>
        </p:spPr>
        <p:txBody>
          <a:bodyPr wrap="square" lIns="0" tIns="0" rIns="0" bIns="0" anchor="t">
            <a:noAutofit/>
          </a:bodyPr>
          <a:lstStyle/>
          <a:p>
            <a:endParaRPr lang="en-US"/>
          </a:p>
        </p:txBody>
      </p:sp>
      <p:sp>
        <p:nvSpPr>
          <p:cNvPr id="1778" name="Cell 1778"/>
          <p:cNvSpPr txBox="1"/>
          <p:nvPr/>
        </p:nvSpPr>
        <p:spPr>
          <a:xfrm>
            <a:off x="5742432" y="3054096"/>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RDB2Onto</a:t>
            </a:r>
          </a:p>
        </p:txBody>
      </p:sp>
      <p:sp>
        <p:nvSpPr>
          <p:cNvPr id="1779" name="Cell 1779"/>
          <p:cNvSpPr txBox="1"/>
          <p:nvPr/>
        </p:nvSpPr>
        <p:spPr>
          <a:xfrm>
            <a:off x="8074152" y="3054096"/>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0.67</a:t>
            </a:r>
          </a:p>
        </p:txBody>
      </p:sp>
      <p:sp>
        <p:nvSpPr>
          <p:cNvPr id="1780" name="Cell 1780"/>
          <p:cNvSpPr txBox="1"/>
          <p:nvPr/>
        </p:nvSpPr>
        <p:spPr>
          <a:xfrm>
            <a:off x="9171432" y="3054096"/>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0.62</a:t>
            </a:r>
          </a:p>
        </p:txBody>
      </p:sp>
      <p:sp>
        <p:nvSpPr>
          <p:cNvPr id="1781" name="Cell 1781"/>
          <p:cNvSpPr txBox="1"/>
          <p:nvPr/>
        </p:nvSpPr>
        <p:spPr>
          <a:xfrm>
            <a:off x="10268711" y="3054096"/>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0.44</a:t>
            </a:r>
          </a:p>
        </p:txBody>
      </p:sp>
      <p:sp>
        <p:nvSpPr>
          <p:cNvPr id="1782" name="Cell 1782"/>
          <p:cNvSpPr txBox="1"/>
          <p:nvPr/>
        </p:nvSpPr>
        <p:spPr>
          <a:xfrm>
            <a:off x="5742432" y="3474720"/>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1F2328"/>
                </a:solidFill>
                <a:latin typeface="Calibri"/>
                <a:cs typeface="Calibri"/>
              </a:rPr>
              <a:t xml:space="preserve">OntoGenix</a:t>
            </a:r>
          </a:p>
        </p:txBody>
      </p:sp>
      <p:sp>
        <p:nvSpPr>
          <p:cNvPr id="1783" name="Cell 1783"/>
          <p:cNvSpPr txBox="1"/>
          <p:nvPr/>
        </p:nvSpPr>
        <p:spPr>
          <a:xfrm>
            <a:off x="8074152" y="3474720"/>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0.58</a:t>
            </a:r>
          </a:p>
        </p:txBody>
      </p:sp>
      <p:sp>
        <p:nvSpPr>
          <p:cNvPr id="1784" name="Cell 1784"/>
          <p:cNvSpPr txBox="1"/>
          <p:nvPr/>
        </p:nvSpPr>
        <p:spPr>
          <a:xfrm>
            <a:off x="9171432" y="3474720"/>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0.35</a:t>
            </a:r>
          </a:p>
        </p:txBody>
      </p:sp>
      <p:sp>
        <p:nvSpPr>
          <p:cNvPr id="1785" name="Cell 1785"/>
          <p:cNvSpPr txBox="1"/>
          <p:nvPr/>
        </p:nvSpPr>
        <p:spPr>
          <a:xfrm>
            <a:off x="10268711" y="3474720"/>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1F2328"/>
                </a:solidFill>
                <a:latin typeface="Calibri"/>
                <a:cs typeface="Calibri"/>
              </a:rPr>
              <a:t xml:space="preserve">0.44</a:t>
            </a:r>
          </a:p>
        </p:txBody>
      </p:sp>
      <p:sp>
        <p:nvSpPr>
          <p:cNvPr id="1786" name="Row 1786"/>
          <p:cNvSpPr/>
          <p:nvPr/>
        </p:nvSpPr>
        <p:spPr>
          <a:xfrm>
            <a:off x="5669280" y="3895344"/>
            <a:ext cx="5715000" cy="420624"/>
          </a:xfrm>
          <a:prstGeom prst="rect">
            <a:avLst/>
          </a:prstGeom>
          <a:solidFill>
            <a:srgbClr val="E6F2EC"/>
          </a:solidFill>
          <a:ln>
            <a:noFill/>
          </a:ln>
        </p:spPr>
        <p:txBody>
          <a:bodyPr wrap="square" lIns="0" tIns="0" rIns="0" bIns="0" anchor="t">
            <a:noAutofit/>
          </a:bodyPr>
          <a:lstStyle/>
          <a:p>
            <a:endParaRPr lang="en-US"/>
          </a:p>
        </p:txBody>
      </p:sp>
      <p:sp>
        <p:nvSpPr>
          <p:cNvPr id="1787" name="Cell 1787"/>
          <p:cNvSpPr txBox="1"/>
          <p:nvPr/>
        </p:nvSpPr>
        <p:spPr>
          <a:xfrm>
            <a:off x="5742432" y="3895344"/>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1" i="0" dirty="0">
                <a:solidFill>
                  <a:srgbClr val="0B6E4F"/>
                </a:solidFill>
                <a:latin typeface="Calibri"/>
                <a:cs typeface="Calibri"/>
              </a:rPr>
              <a:t xml:space="preserve">RIGOR</a:t>
            </a:r>
          </a:p>
        </p:txBody>
      </p:sp>
      <p:sp>
        <p:nvSpPr>
          <p:cNvPr id="1788" name="Cell 1788"/>
          <p:cNvSpPr txBox="1"/>
          <p:nvPr/>
        </p:nvSpPr>
        <p:spPr>
          <a:xfrm>
            <a:off x="8074152" y="3895344"/>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0.73</a:t>
            </a:r>
          </a:p>
        </p:txBody>
      </p:sp>
      <p:sp>
        <p:nvSpPr>
          <p:cNvPr id="1789" name="Cell 1789"/>
          <p:cNvSpPr txBox="1"/>
          <p:nvPr/>
        </p:nvSpPr>
        <p:spPr>
          <a:xfrm>
            <a:off x="9171432" y="3895344"/>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0.67</a:t>
            </a:r>
          </a:p>
        </p:txBody>
      </p:sp>
      <p:sp>
        <p:nvSpPr>
          <p:cNvPr id="1790" name="Cell 1790"/>
          <p:cNvSpPr txBox="1"/>
          <p:nvPr/>
        </p:nvSpPr>
        <p:spPr>
          <a:xfrm>
            <a:off x="10268711" y="3895344"/>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1" i="0" dirty="0">
                <a:solidFill>
                  <a:srgbClr val="0B6E4F"/>
                </a:solidFill>
                <a:latin typeface="Calibri"/>
                <a:cs typeface="Calibri"/>
              </a:rPr>
              <a:t xml:space="preserve">0.52</a:t>
            </a:r>
          </a:p>
        </p:txBody>
      </p:sp>
      <p:sp>
        <p:nvSpPr>
          <p:cNvPr id="1791" name="Cell 1791"/>
          <p:cNvSpPr txBox="1"/>
          <p:nvPr/>
        </p:nvSpPr>
        <p:spPr>
          <a:xfrm>
            <a:off x="5742432" y="4315968"/>
            <a:ext cx="2185415" cy="420624"/>
          </a:xfrm>
          <a:prstGeom prst="rect">
            <a:avLst/>
          </a:prstGeom>
          <a:noFill/>
          <a:ln>
            <a:noFill/>
          </a:ln>
        </p:spPr>
        <p:txBody>
          <a:bodyPr wrap="square" lIns="0" tIns="0" rIns="0" bIns="0" anchor="ctr">
            <a:noAutofit/>
          </a:bodyPr>
          <a:lstStyle/>
          <a:p>
            <a:pPr algn="l" marL="0" indent="0">
              <a:spcBef>
                <a:spcPts val="0"/>
              </a:spcBef>
              <a:spcAft>
                <a:spcPts val="0"/>
              </a:spcAft>
              <a:buNone/>
            </a:pPr>
            <a:r>
              <a:rPr lang="en-US" sz="1300" b="0" i="0" dirty="0">
                <a:solidFill>
                  <a:srgbClr val="5B6770"/>
                </a:solidFill>
                <a:latin typeface="Calibri"/>
                <a:cs typeface="Calibri"/>
              </a:rPr>
              <a:t xml:space="preserve">Gemini 2.5 Pro*</a:t>
            </a:r>
          </a:p>
        </p:txBody>
      </p:sp>
      <p:sp>
        <p:nvSpPr>
          <p:cNvPr id="1792" name="Cell 1792"/>
          <p:cNvSpPr txBox="1"/>
          <p:nvPr/>
        </p:nvSpPr>
        <p:spPr>
          <a:xfrm>
            <a:off x="8074152" y="4315968"/>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0.65</a:t>
            </a:r>
          </a:p>
        </p:txBody>
      </p:sp>
      <p:sp>
        <p:nvSpPr>
          <p:cNvPr id="1793" name="Cell 1793"/>
          <p:cNvSpPr txBox="1"/>
          <p:nvPr/>
        </p:nvSpPr>
        <p:spPr>
          <a:xfrm>
            <a:off x="9171432" y="4315968"/>
            <a:ext cx="95097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0.68</a:t>
            </a:r>
          </a:p>
        </p:txBody>
      </p:sp>
      <p:sp>
        <p:nvSpPr>
          <p:cNvPr id="1794" name="Cell 1794"/>
          <p:cNvSpPr txBox="1"/>
          <p:nvPr/>
        </p:nvSpPr>
        <p:spPr>
          <a:xfrm>
            <a:off x="10268711" y="4315968"/>
            <a:ext cx="1042416" cy="420624"/>
          </a:xfrm>
          <a:prstGeom prst="rect">
            <a:avLst/>
          </a:prstGeom>
          <a:noFill/>
          <a:ln>
            <a:noFill/>
          </a:ln>
        </p:spPr>
        <p:txBody>
          <a:bodyPr wrap="square" lIns="0" tIns="0" rIns="0" bIns="0" anchor="ctr">
            <a:noAutofit/>
          </a:bodyPr>
          <a:lstStyle/>
          <a:p>
            <a:pPr algn="ctr" marL="0" indent="0">
              <a:spcBef>
                <a:spcPts val="0"/>
              </a:spcBef>
              <a:spcAft>
                <a:spcPts val="0"/>
              </a:spcAft>
              <a:buNone/>
            </a:pPr>
            <a:r>
              <a:rPr lang="en-US" sz="1300" b="0" i="0" dirty="0">
                <a:solidFill>
                  <a:srgbClr val="5B6770"/>
                </a:solidFill>
                <a:latin typeface="Calibri"/>
                <a:cs typeface="Calibri"/>
              </a:rPr>
              <a:t xml:space="preserve">0.56</a:t>
            </a:r>
          </a:p>
        </p:txBody>
      </p:sp>
      <p:sp>
        <p:nvSpPr>
          <p:cNvPr id="1795" name="Footnote 1795"/>
          <p:cNvSpPr txBox="1"/>
          <p:nvPr/>
        </p:nvSpPr>
        <p:spPr>
          <a:xfrm>
            <a:off x="5669280" y="4846320"/>
            <a:ext cx="5715000" cy="77724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150" b="0" i="1" dirty="0">
                <a:solidFill>
                  <a:srgbClr val="5B6770"/>
                </a:solidFill>
                <a:latin typeface="Calibri"/>
                <a:cs typeface="Calibri"/>
              </a:rPr>
              <a:t xml:space="preserve">* In BURR, a general LLM prompted with examples to write the mapping directly: a mapping generator, not an ontology-learning system. RIGOR also builds labels, hierarchy and provenance.</a:t>
            </a:r>
          </a:p>
        </p:txBody>
      </p:sp>
      <p:sp>
        <p:nvSpPr>
          <p:cNvPr id="1796" name="Source 1796"/>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4.6 (Strategy 8), Table 13; Gemini: BURR [Laskowski et al., PACMMOD 2025], Table 3.</a:t>
            </a:r>
          </a:p>
        </p:txBody>
      </p:sp>
      <p:sp>
        <p:nvSpPr>
          <p:cNvPr id="1797" name="Back link 1797"/>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8" name="Slide number 1798"/>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B13</a:t>
            </a: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1" name="Shape 1761"/>
        <p:cNvGrpSpPr/>
        <p:nvPr/>
      </p:nvGrpSpPr>
      <p:grpSpPr>
        <a:xfrm>
          <a:off x="0" y="0"/>
          <a:ext cx="0" cy="0"/>
          <a:chOff x="0" y="0"/>
          <a:chExt cx="0" cy="0"/>
        </a:xfrm>
      </p:grpSpPr>
      <p:sp>
        <p:nvSpPr>
          <p:cNvPr id="1762" name="Google Shape;1762;h547f90b031e64a91_0_458"/>
          <p:cNvSpPr txBox="1"/>
          <p:nvPr/>
        </p:nvSpPr>
        <p:spPr>
          <a:xfrm>
            <a:off x="804672" y="512064"/>
            <a:ext cx="10753344"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B6E4F"/>
                </a:solidFill>
                <a:latin typeface="Consolas"/>
                <a:ea typeface="Consolas"/>
                <a:cs typeface="Consolas"/>
                <a:sym typeface="Consolas"/>
              </a:rPr>
              <a:t>BACKUP B14  /  PRACTICE</a:t>
            </a:r>
            <a:endParaRPr b="0" i="0" sz="1400" u="none" cap="none" strike="noStrike">
              <a:solidFill>
                <a:srgbClr val="000000"/>
              </a:solidFill>
              <a:latin typeface="Arial"/>
              <a:ea typeface="Arial"/>
              <a:cs typeface="Arial"/>
              <a:sym typeface="Arial"/>
            </a:endParaRPr>
          </a:p>
        </p:txBody>
      </p:sp>
      <p:sp>
        <p:nvSpPr>
          <p:cNvPr id="1763" name="Google Shape;1763;h547f90b031e64a91_0_458"/>
          <p:cNvSpPr txBox="1"/>
          <p:nvPr/>
        </p:nvSpPr>
        <p:spPr>
          <a:xfrm>
            <a:off x="804672" y="914400"/>
            <a:ext cx="10762488" cy="6675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1F2328"/>
                </a:solidFill>
                <a:latin typeface="Cambria"/>
                <a:ea typeface="Cambria"/>
                <a:cs typeface="Cambria"/>
                <a:sym typeface="Cambria"/>
              </a:rPr>
              <a:t>What are the limitations?</a:t>
            </a:r>
            <a:endParaRPr b="0" i="0" sz="1400" u="none" cap="none" strike="noStrike">
              <a:solidFill>
                <a:srgbClr val="000000"/>
              </a:solidFill>
              <a:latin typeface="Arial"/>
              <a:ea typeface="Arial"/>
              <a:cs typeface="Arial"/>
              <a:sym typeface="Arial"/>
            </a:endParaRPr>
          </a:p>
        </p:txBody>
      </p:sp>
      <p:sp>
        <p:nvSpPr>
          <p:cNvPr id="1764" name="Subtitle 1764"/>
          <p:cNvSpPr txBox="1"/>
          <p:nvPr/>
        </p:nvSpPr>
        <p:spPr>
          <a:xfrm>
            <a:off x="822960" y="1645920"/>
            <a:ext cx="10680192" cy="32918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600" b="0" i="0" dirty="0">
                <a:solidFill>
                  <a:srgbClr val="3A434C"/>
                </a:solidFill>
                <a:latin typeface="Calibri"/>
                <a:cs typeface="Calibri"/>
              </a:rPr>
              <a:t xml:space="preserve">What we know is missing, and what we would do about it.</a:t>
            </a:r>
          </a:p>
        </p:txBody>
      </p:sp>
      <p:sp>
        <p:nvSpPr>
          <p:cNvPr id="1765" name="Card 1765"/>
          <p:cNvSpPr/>
          <p:nvPr/>
        </p:nvSpPr>
        <p:spPr>
          <a:xfrm>
            <a:off x="804672" y="2212848"/>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66" name="Card label 1766"/>
          <p:cNvSpPr txBox="1"/>
          <p:nvPr/>
        </p:nvSpPr>
        <p:spPr>
          <a:xfrm>
            <a:off x="1033271" y="2359152"/>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COVERAGE 0.77–1.00</a:t>
            </a:r>
          </a:p>
        </p:txBody>
      </p:sp>
      <p:sp>
        <p:nvSpPr>
          <p:cNvPr id="1767" name="Text 1767"/>
          <p:cNvSpPr txBox="1"/>
          <p:nvPr/>
        </p:nvSpPr>
        <p:spPr>
          <a:xfrm>
            <a:off x="1033271" y="2715768"/>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A delta can drop seed properties.</a:t>
            </a:r>
          </a:p>
        </p:txBody>
      </p:sp>
      <p:sp>
        <p:nvSpPr>
          <p:cNvPr id="1768" name="Text 1768"/>
          <p:cNvSpPr txBox="1"/>
          <p:nvPr/>
        </p:nvSpPr>
        <p:spPr>
          <a:xfrm>
            <a:off x="1033271" y="3310128"/>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Merge the direct mapping first (RIGOR App).</a:t>
            </a:r>
          </a:p>
        </p:txBody>
      </p:sp>
      <p:sp>
        <p:nvSpPr>
          <p:cNvPr id="1769" name="Card 1769"/>
          <p:cNvSpPr/>
          <p:nvPr/>
        </p:nvSpPr>
        <p:spPr>
          <a:xfrm>
            <a:off x="4389120" y="2212848"/>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0" name="Card label 1770"/>
          <p:cNvSpPr txBox="1"/>
          <p:nvPr/>
        </p:nvSpPr>
        <p:spPr>
          <a:xfrm>
            <a:off x="4617720" y="2359152"/>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RESIDUAL P19</a:t>
            </a:r>
          </a:p>
        </p:txBody>
      </p:sp>
      <p:sp>
        <p:nvSpPr>
          <p:cNvPr id="1771" name="Text 1771"/>
          <p:cNvSpPr txBox="1"/>
          <p:nvPr/>
        </p:nvSpPr>
        <p:spPr>
          <a:xfrm>
            <a:off x="4617720" y="2715768"/>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Critical pitfall in 3 of 9 RIGOR runs.</a:t>
            </a:r>
          </a:p>
        </p:txBody>
      </p:sp>
      <p:sp>
        <p:nvSpPr>
          <p:cNvPr id="1772" name="Text 1772"/>
          <p:cNvSpPr txBox="1"/>
          <p:nvPr/>
        </p:nvSpPr>
        <p:spPr>
          <a:xfrm>
            <a:off x="4617720" y="3310128"/>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Validators inside the loop (RIGOR App).</a:t>
            </a:r>
          </a:p>
        </p:txBody>
      </p:sp>
      <p:sp>
        <p:nvSpPr>
          <p:cNvPr id="1773" name="Card 1773"/>
          <p:cNvSpPr/>
          <p:nvPr/>
        </p:nvSpPr>
        <p:spPr>
          <a:xfrm>
            <a:off x="7973568" y="2212848"/>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4" name="Card label 1774"/>
          <p:cNvSpPr txBox="1"/>
          <p:nvPr/>
        </p:nvSpPr>
        <p:spPr>
          <a:xfrm>
            <a:off x="8202168" y="2359152"/>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DISJOINTNESS, ALIGNMENTS</a:t>
            </a:r>
          </a:p>
        </p:txBody>
      </p:sp>
      <p:sp>
        <p:nvSpPr>
          <p:cNvPr id="1775" name="Text 1775"/>
          <p:cNvSpPr txBox="1"/>
          <p:nvPr/>
        </p:nvSpPr>
        <p:spPr>
          <a:xfrm>
            <a:off x="8202168" y="2715768"/>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13 disjointness axioms in one run; external F1 ≤ 0.06.</a:t>
            </a:r>
          </a:p>
        </p:txBody>
      </p:sp>
      <p:sp>
        <p:nvSpPr>
          <p:cNvPr id="1776" name="Text 1776"/>
          <p:cNvSpPr txBox="1"/>
          <p:nvPr/>
        </p:nvSpPr>
        <p:spPr>
          <a:xfrm>
            <a:off x="8202168" y="3310128"/>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Couple with a reasoner and entity linking.</a:t>
            </a:r>
          </a:p>
        </p:txBody>
      </p:sp>
      <p:sp>
        <p:nvSpPr>
          <p:cNvPr id="1777" name="Card 1777"/>
          <p:cNvSpPr/>
          <p:nvPr/>
        </p:nvSpPr>
        <p:spPr>
          <a:xfrm>
            <a:off x="804672" y="4105656"/>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78" name="Card label 1778"/>
          <p:cNvSpPr txBox="1"/>
          <p:nvPr/>
        </p:nvSpPr>
        <p:spPr>
          <a:xfrm>
            <a:off x="1033271" y="4251960"/>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EVALUATION DESIGN</a:t>
            </a:r>
          </a:p>
        </p:txBody>
      </p:sp>
      <p:sp>
        <p:nvSpPr>
          <p:cNvPr id="1779" name="Text 1779"/>
          <p:cNvSpPr txBox="1"/>
          <p:nvPr/>
        </p:nvSpPr>
        <p:spPr>
          <a:xfrm>
            <a:off x="1033271" y="4608576"/>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Fixed fragment order; experts on 4 tables, Claude only.</a:t>
            </a:r>
          </a:p>
        </p:txBody>
      </p:sp>
      <p:sp>
        <p:nvSpPr>
          <p:cNvPr id="1780" name="Text 1780"/>
          <p:cNvSpPr txBox="1"/>
          <p:nvPr/>
        </p:nvSpPr>
        <p:spPr>
          <a:xfrm>
            <a:off x="1033271" y="5202936"/>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Shuffled re-judging; more tables and models.</a:t>
            </a:r>
          </a:p>
        </p:txBody>
      </p:sp>
      <p:sp>
        <p:nvSpPr>
          <p:cNvPr id="1781" name="Card 1781"/>
          <p:cNvSpPr/>
          <p:nvPr/>
        </p:nvSpPr>
        <p:spPr>
          <a:xfrm>
            <a:off x="4389120" y="4105656"/>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82" name="Card label 1782"/>
          <p:cNvSpPr txBox="1"/>
          <p:nvPr/>
        </p:nvSpPr>
        <p:spPr>
          <a:xfrm>
            <a:off x="4617720" y="4251960"/>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ABLATION</a:t>
            </a:r>
          </a:p>
        </p:txBody>
      </p:sp>
      <p:sp>
        <p:nvSpPr>
          <p:cNvPr id="1783" name="Text 1783"/>
          <p:cNvSpPr txBox="1"/>
          <p:nvPr/>
        </p:nvSpPr>
        <p:spPr>
          <a:xfrm>
            <a:off x="4617720" y="4608576"/>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One database, one LLM; seed, core and checks not isolated.</a:t>
            </a:r>
          </a:p>
        </p:txBody>
      </p:sp>
      <p:sp>
        <p:nvSpPr>
          <p:cNvPr id="1784" name="Text 1784"/>
          <p:cNvSpPr txBox="1"/>
          <p:nvPr/>
        </p:nvSpPr>
        <p:spPr>
          <a:xfrm>
            <a:off x="4617720" y="5202936"/>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Leave-one-component-out on all databases.</a:t>
            </a:r>
          </a:p>
        </p:txBody>
      </p:sp>
      <p:sp>
        <p:nvSpPr>
          <p:cNvPr id="1785" name="Card 1785"/>
          <p:cNvSpPr/>
          <p:nvPr/>
        </p:nvSpPr>
        <p:spPr>
          <a:xfrm>
            <a:off x="7973568" y="4105656"/>
            <a:ext cx="3410712" cy="1691640"/>
          </a:xfrm>
          <a:prstGeom prst="roundRect">
            <a:avLst>
              <a:gd name="adj" fmla="val 8000"/>
            </a:avLst>
          </a:prstGeom>
          <a:solidFill>
            <a:srgbClr val="FFFFFF"/>
          </a:solidFill>
          <a:ln w="9525">
            <a:solidFill>
              <a:srgbClr val="D9DEDB"/>
            </a:solidFill>
          </a:ln>
        </p:spPr>
        <p:txBody>
          <a:bodyPr wrap="square" lIns="0" tIns="0" rIns="0" bIns="0" anchor="t">
            <a:noAutofit/>
          </a:bodyPr>
          <a:lstStyle/>
          <a:p>
            <a:endParaRPr lang="en-US"/>
          </a:p>
        </p:txBody>
      </p:sp>
      <p:sp>
        <p:nvSpPr>
          <p:cNvPr id="1786" name="Card label 1786"/>
          <p:cNvSpPr txBox="1"/>
          <p:nvPr/>
        </p:nvSpPr>
        <p:spPr>
          <a:xfrm>
            <a:off x="8202168" y="4251960"/>
            <a:ext cx="2953512" cy="2743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300" b="1" i="0" dirty="0">
                <a:solidFill>
                  <a:srgbClr val="2F6B78"/>
                </a:solidFill>
                <a:latin typeface="Consolas"/>
                <a:cs typeface="Consolas"/>
              </a:rPr>
              <a:t xml:space="preserve">SCHEMA ONLY</a:t>
            </a:r>
          </a:p>
        </p:txBody>
      </p:sp>
      <p:sp>
        <p:nvSpPr>
          <p:cNvPr id="1787" name="Text 1787"/>
          <p:cNvSpPr txBox="1"/>
          <p:nvPr/>
        </p:nvSpPr>
        <p:spPr>
          <a:xfrm>
            <a:off x="8202168" y="4608576"/>
            <a:ext cx="2953512" cy="59436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0" i="0" dirty="0">
                <a:solidFill>
                  <a:srgbClr val="1F2328"/>
                </a:solidFill>
                <a:latin typeface="Calibri"/>
                <a:cs typeface="Calibri"/>
              </a:rPr>
              <a:t xml:space="preserve">No instance data, so CQs are judged, not executed.</a:t>
            </a:r>
          </a:p>
        </p:txBody>
      </p:sp>
      <p:sp>
        <p:nvSpPr>
          <p:cNvPr id="1788" name="Text 1788"/>
          <p:cNvSpPr txBox="1"/>
          <p:nvPr/>
        </p:nvSpPr>
        <p:spPr>
          <a:xfrm>
            <a:off x="8202168" y="5202936"/>
            <a:ext cx="2953512" cy="502920"/>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250" b="1" i="0" dirty="0">
                <a:solidFill>
                  <a:srgbClr val="0B6E4F"/>
                </a:solidFill>
                <a:latin typeface="Calibri"/>
                <a:cs typeface="Calibri"/>
              </a:rPr>
              <a:t xml:space="preserve">→ Let the data speak (future work).</a:t>
            </a:r>
          </a:p>
        </p:txBody>
      </p:sp>
      <p:sp>
        <p:nvSpPr>
          <p:cNvPr id="1789" name="Source 1789"/>
          <p:cNvSpPr txBox="1"/>
          <p:nvPr/>
        </p:nvSpPr>
        <p:spPr>
          <a:xfrm>
            <a:off x="822960" y="6382512"/>
            <a:ext cx="9326880" cy="237744"/>
          </a:xfrm>
          <a:prstGeom prst="rect">
            <a:avLst/>
          </a:prstGeom>
          <a:noFill/>
          <a:ln>
            <a:noFill/>
          </a:ln>
        </p:spPr>
        <p:txBody>
          <a:bodyPr wrap="square" lIns="0" tIns="0" rIns="0" bIns="0" anchor="t">
            <a:noAutofit/>
          </a:bodyPr>
          <a:lstStyle/>
          <a:p>
            <a:pPr algn="l" marL="0" indent="0">
              <a:spcBef>
                <a:spcPts val="0"/>
              </a:spcBef>
              <a:spcAft>
                <a:spcPts val="0"/>
              </a:spcAft>
              <a:buNone/>
            </a:pPr>
            <a:r>
              <a:rPr lang="en-US" sz="1000" b="0" i="0" dirty="0">
                <a:solidFill>
                  <a:srgbClr val="5B6770"/>
                </a:solidFill>
                <a:latin typeface="Calibri"/>
                <a:cs typeface="Calibri"/>
              </a:rPr>
              <a:t xml:space="preserve">Paper Sec. 4.7–5, Tables 7–9, 14.</a:t>
            </a:r>
          </a:p>
        </p:txBody>
      </p:sp>
      <p:sp>
        <p:nvSpPr>
          <p:cNvPr id="1790" name="Back link 1790"/>
          <p:cNvSpPr txBox="1"/>
          <p:nvPr/>
        </p:nvSpPr>
        <p:spPr>
          <a:xfrm>
            <a:off x="9555480" y="6455664"/>
            <a:ext cx="178308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2F6B78"/>
                </a:solidFill>
                <a:latin typeface="Consolas"/>
                <a:cs typeface="Consolas"/>
                <a:hlinkClick r:id="rId2" action="ppaction://hlinksldjump"/>
              </a:rPr>
              <a:t xml:space="preserve">↩ All questions</a:t>
            </a:r>
          </a:p>
        </p:txBody>
      </p:sp>
      <p:sp>
        <p:nvSpPr>
          <p:cNvPr id="1791" name="Slide number 1791"/>
          <p:cNvSpPr txBox="1"/>
          <p:nvPr/>
        </p:nvSpPr>
        <p:spPr>
          <a:xfrm>
            <a:off x="11384280" y="6455664"/>
            <a:ext cx="457200" cy="256032"/>
          </a:xfrm>
          <a:prstGeom prst="rect">
            <a:avLst/>
          </a:prstGeom>
          <a:noFill/>
          <a:ln>
            <a:noFill/>
          </a:ln>
        </p:spPr>
        <p:txBody>
          <a:bodyPr wrap="square" lIns="0" tIns="0" rIns="0" bIns="0" anchor="t">
            <a:noAutofit/>
          </a:bodyPr>
          <a:lstStyle/>
          <a:p>
            <a:pPr algn="r" marL="0" indent="0">
              <a:spcBef>
                <a:spcPts val="0"/>
              </a:spcBef>
              <a:spcAft>
                <a:spcPts val="0"/>
              </a:spcAft>
              <a:buNone/>
            </a:pPr>
            <a:r>
              <a:rPr lang="en-US" sz="1100" b="0" i="0" dirty="0">
                <a:solidFill>
                  <a:srgbClr val="6B747B"/>
                </a:solidFill>
                <a:latin typeface="Consolas"/>
                <a:cs typeface="Consolas"/>
              </a:rPr>
              <a:t xml:space="preserve">B14</a:t>
            </a:r>
          </a:p>
        </p:txBody>
      </p:sp>
    </p:spTree>
  </p:cSld>
  <p:clrMapOvr>
    <a:masterClrMapping/>
  </p:clrMapOvr>
</p:sld>
</file>

<file path=ppt/theme/theme1.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IGOR · ISWC 2026 Talk">
  <a:themeElements>
    <a:clrScheme name="RIGOR · ISWC 2026 Talk">
      <a:dk1>
        <a:srgbClr val="111A28"/>
      </a:dk1>
      <a:lt1>
        <a:srgbClr val="F2F4F7"/>
      </a:lt1>
      <a:dk2>
        <a:srgbClr val="49515C"/>
      </a:dk2>
      <a:lt2>
        <a:srgbClr val="DCDEE2"/>
      </a:lt2>
      <a:accent1>
        <a:srgbClr val="2345C4"/>
      </a:accent1>
      <a:accent2>
        <a:srgbClr val="F4A261"/>
      </a:accent2>
      <a:accent3>
        <a:srgbClr val="B4561C"/>
      </a:accent3>
      <a:accent4>
        <a:srgbClr val="8FA5EB"/>
      </a:accent4>
      <a:accent5>
        <a:srgbClr val="8AA4FF"/>
      </a:accent5>
      <a:accent6>
        <a:srgbClr val="E9873A"/>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2026-10-26T00:50:16Z</dcterms:created>
</cp:coreProperties>
</file>